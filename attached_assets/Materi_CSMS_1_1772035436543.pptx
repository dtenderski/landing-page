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2" r:id="rId9"/>
    <p:sldId id="294" r:id="rId10"/>
    <p:sldId id="293" r:id="rId11"/>
    <p:sldId id="307" r:id="rId12"/>
    <p:sldId id="299" r:id="rId13"/>
    <p:sldId id="300" r:id="rId14"/>
    <p:sldId id="304" r:id="rId15"/>
    <p:sldId id="301" r:id="rId16"/>
    <p:sldId id="302" r:id="rId17"/>
    <p:sldId id="313" r:id="rId18"/>
    <p:sldId id="296" r:id="rId19"/>
    <p:sldId id="298" r:id="rId20"/>
    <p:sldId id="303" r:id="rId21"/>
    <p:sldId id="314" r:id="rId22"/>
  </p:sldIdLst>
  <p:sldSz cx="9906000" cy="6858000" type="A4"/>
  <p:notesSz cx="6997700" cy="92837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3399FF"/>
    <a:srgbClr val="996600"/>
    <a:srgbClr val="0066FF"/>
    <a:srgbClr val="339933"/>
    <a:srgbClr val="0000FF"/>
    <a:srgbClr val="FF33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09" autoAdjust="0"/>
    <p:restoredTop sz="99827" autoAdjust="0"/>
  </p:normalViewPr>
  <p:slideViewPr>
    <p:cSldViewPr>
      <p:cViewPr>
        <p:scale>
          <a:sx n="100" d="100"/>
          <a:sy n="100" d="100"/>
        </p:scale>
        <p:origin x="-672" y="-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>
              <a:defRPr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>
              <a:defRPr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>
              <a:defRPr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b="0" smtClean="0"/>
            </a:lvl1pPr>
          </a:lstStyle>
          <a:p>
            <a:pPr>
              <a:defRPr/>
            </a:pPr>
            <a:fld id="{F6BD08F5-2774-4CB9-98B8-3DC298F391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40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5838" y="696913"/>
            <a:ext cx="5026025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752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57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57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0" smtClean="0"/>
            </a:lvl1pPr>
          </a:lstStyle>
          <a:p>
            <a:pPr>
              <a:defRPr/>
            </a:pPr>
            <a:fld id="{024BEF7A-859D-4616-BF56-8A34FBBEFA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439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3050" y="1165225"/>
            <a:ext cx="460375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165225"/>
            <a:ext cx="460375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29500" y="44450"/>
            <a:ext cx="2476500" cy="6121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44450"/>
            <a:ext cx="7277100" cy="6121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4450"/>
            <a:ext cx="9906000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273050" y="1165225"/>
            <a:ext cx="9359900" cy="5000625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4450"/>
            <a:ext cx="9906000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73050" y="1165225"/>
            <a:ext cx="9359900" cy="5000625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0" y="44450"/>
            <a:ext cx="9906000" cy="612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7" descr="background2"/>
          <p:cNvPicPr>
            <a:picLocks noChangeAspect="1" noChangeArrowheads="1"/>
          </p:cNvPicPr>
          <p:nvPr/>
        </p:nvPicPr>
        <p:blipFill>
          <a:blip r:embed="rId16">
            <a:lum bright="6000"/>
          </a:blip>
          <a:srcRect/>
          <a:stretch>
            <a:fillRect/>
          </a:stretch>
        </p:blipFill>
        <p:spPr bwMode="auto">
          <a:xfrm>
            <a:off x="0" y="0"/>
            <a:ext cx="9906000" cy="6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44450"/>
            <a:ext cx="99060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smtClean="0"/>
              <a:t>FARE CLIC PER MODIFICARE LO STILE DEL TITOLO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3050" y="1165225"/>
            <a:ext cx="93599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</a:p>
        </p:txBody>
      </p:sp>
      <p:pic>
        <p:nvPicPr>
          <p:cNvPr id="3077" name="Picture 11" descr="new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0" y="6261100"/>
            <a:ext cx="9906000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1" descr="Deser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5400"/>
            <a:ext cx="9906000" cy="626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04850" y="476250"/>
            <a:ext cx="8420100" cy="1758950"/>
          </a:xfrm>
        </p:spPr>
        <p:txBody>
          <a:bodyPr/>
          <a:lstStyle/>
          <a:p>
            <a:pPr eaLnBrk="1" hangingPunct="1">
              <a:defRPr/>
            </a:pPr>
            <a:r>
              <a:rPr lang="en-US" sz="8000" smtClean="0"/>
              <a:t>C</a:t>
            </a:r>
            <a:r>
              <a:rPr lang="en-US" sz="6000" smtClean="0"/>
              <a:t>S</a:t>
            </a:r>
            <a:r>
              <a:rPr lang="en-US" sz="8000" smtClean="0"/>
              <a:t>M</a:t>
            </a:r>
            <a:r>
              <a:rPr lang="en-US" sz="6000" smtClean="0"/>
              <a:t>S </a:t>
            </a:r>
          </a:p>
        </p:txBody>
      </p:sp>
      <p:sp>
        <p:nvSpPr>
          <p:cNvPr id="410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136650" y="2852738"/>
            <a:ext cx="7681913" cy="711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3600" b="1" smtClean="0">
                <a:solidFill>
                  <a:srgbClr val="FFFF00"/>
                </a:solidFill>
              </a:rPr>
              <a:t>C</a:t>
            </a:r>
            <a:r>
              <a:rPr lang="en-US" sz="2800" smtClean="0">
                <a:solidFill>
                  <a:srgbClr val="FFFF00"/>
                </a:solidFill>
              </a:rPr>
              <a:t>ontractor </a:t>
            </a:r>
            <a:r>
              <a:rPr lang="en-US" sz="3600" b="1" smtClean="0">
                <a:solidFill>
                  <a:srgbClr val="FFFF00"/>
                </a:solidFill>
              </a:rPr>
              <a:t>S</a:t>
            </a:r>
            <a:r>
              <a:rPr lang="en-US" sz="2800" smtClean="0">
                <a:solidFill>
                  <a:srgbClr val="FFFF00"/>
                </a:solidFill>
              </a:rPr>
              <a:t>afety </a:t>
            </a:r>
            <a:r>
              <a:rPr lang="en-US" sz="3600" b="1" smtClean="0">
                <a:solidFill>
                  <a:srgbClr val="FFFF00"/>
                </a:solidFill>
              </a:rPr>
              <a:t>M</a:t>
            </a:r>
            <a:r>
              <a:rPr lang="en-US" sz="2800" smtClean="0">
                <a:solidFill>
                  <a:srgbClr val="FFFF00"/>
                </a:solidFill>
              </a:rPr>
              <a:t>anagement </a:t>
            </a:r>
            <a:r>
              <a:rPr lang="en-US" sz="3600" b="1" smtClean="0">
                <a:solidFill>
                  <a:srgbClr val="FFFF00"/>
                </a:solidFill>
              </a:rPr>
              <a:t>S</a:t>
            </a:r>
            <a:r>
              <a:rPr lang="en-US" sz="2800" smtClean="0">
                <a:solidFill>
                  <a:srgbClr val="FFFF00"/>
                </a:solidFill>
              </a:rPr>
              <a:t>ystem</a:t>
            </a:r>
          </a:p>
        </p:txBody>
      </p:sp>
      <p:sp>
        <p:nvSpPr>
          <p:cNvPr id="4101" name="Text Box 7"/>
          <p:cNvSpPr txBox="1">
            <a:spLocks noChangeArrowheads="1"/>
          </p:cNvSpPr>
          <p:nvPr/>
        </p:nvSpPr>
        <p:spPr bwMode="auto">
          <a:xfrm>
            <a:off x="5529263" y="5254625"/>
            <a:ext cx="3635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0">
                <a:solidFill>
                  <a:schemeClr val="bg1"/>
                </a:solidFill>
                <a:latin typeface="Britannic Bold" pitchFamily="34" charset="0"/>
              </a:rPr>
              <a:t>By. Bambang Cahyono, SKM, MK3</a:t>
            </a:r>
          </a:p>
        </p:txBody>
      </p:sp>
      <p:sp>
        <p:nvSpPr>
          <p:cNvPr id="4103" name="Text Box 10"/>
          <p:cNvSpPr txBox="1">
            <a:spLocks noChangeArrowheads="1"/>
          </p:cNvSpPr>
          <p:nvPr/>
        </p:nvSpPr>
        <p:spPr bwMode="auto">
          <a:xfrm>
            <a:off x="1065213" y="5734050"/>
            <a:ext cx="1438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0">
                <a:solidFill>
                  <a:schemeClr val="bg1"/>
                </a:solidFill>
                <a:latin typeface="Britannic Bold" pitchFamily="34" charset="0"/>
              </a:rPr>
              <a:t>March 2011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03263" y="908050"/>
            <a:ext cx="8643937" cy="8636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3600" smtClean="0"/>
              <a:t>C</a:t>
            </a:r>
            <a:r>
              <a:rPr lang="en-US" sz="2400" smtClean="0"/>
              <a:t>ontractor</a:t>
            </a:r>
            <a:r>
              <a:rPr lang="en-US" sz="4400" smtClean="0"/>
              <a:t> </a:t>
            </a:r>
            <a:r>
              <a:rPr lang="en-US" sz="3600" smtClean="0"/>
              <a:t>S</a:t>
            </a:r>
            <a:r>
              <a:rPr lang="en-US" sz="2400" smtClean="0"/>
              <a:t>afety</a:t>
            </a:r>
            <a:r>
              <a:rPr lang="en-US" sz="4400" smtClean="0"/>
              <a:t> </a:t>
            </a:r>
            <a:r>
              <a:rPr lang="en-US" sz="3600" smtClean="0"/>
              <a:t>M</a:t>
            </a:r>
            <a:r>
              <a:rPr lang="en-US" sz="2800" smtClean="0"/>
              <a:t>anagement</a:t>
            </a:r>
            <a:r>
              <a:rPr lang="en-US" sz="4400" smtClean="0"/>
              <a:t> </a:t>
            </a:r>
            <a:r>
              <a:rPr lang="en-US" sz="3600" smtClean="0"/>
              <a:t>S</a:t>
            </a:r>
            <a:r>
              <a:rPr lang="en-US" sz="2800" smtClean="0"/>
              <a:t>ystem</a:t>
            </a:r>
            <a:endParaRPr lang="en-US" sz="4400" smtClean="0"/>
          </a:p>
        </p:txBody>
      </p:sp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1639888" y="4652963"/>
            <a:ext cx="7816850" cy="1004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0" dirty="0"/>
              <a:t>References :</a:t>
            </a:r>
            <a:r>
              <a:rPr lang="en-US" b="0" dirty="0"/>
              <a:t> </a:t>
            </a:r>
          </a:p>
          <a:p>
            <a:pPr>
              <a:buFontTx/>
              <a:buChar char="•"/>
            </a:pPr>
            <a:r>
              <a:rPr lang="en-US" sz="1400" b="0" dirty="0"/>
              <a:t>BPMIGAS KPTS-13/BP00000/2006-S8 – Contractor Safety Management System</a:t>
            </a:r>
          </a:p>
          <a:p>
            <a:endParaRPr lang="en-US" sz="1400" b="0" dirty="0"/>
          </a:p>
          <a:p>
            <a:pPr>
              <a:buFontTx/>
              <a:buChar char="•"/>
            </a:pPr>
            <a:r>
              <a:rPr lang="en-US" sz="1400" b="0" dirty="0"/>
              <a:t>OGP 291/1999 HSE Management – Guidelines for Working Together in a Contract Environment</a:t>
            </a:r>
            <a:r>
              <a:rPr lang="en-US" b="0" dirty="0"/>
              <a:t> </a:t>
            </a:r>
          </a:p>
        </p:txBody>
      </p:sp>
      <p:sp>
        <p:nvSpPr>
          <p:cNvPr id="142341" name="Text Box 5"/>
          <p:cNvSpPr txBox="1">
            <a:spLocks noChangeArrowheads="1"/>
          </p:cNvSpPr>
          <p:nvPr/>
        </p:nvSpPr>
        <p:spPr bwMode="auto">
          <a:xfrm>
            <a:off x="703263" y="2276475"/>
            <a:ext cx="9202737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150000"/>
              <a:buFontTx/>
              <a:buChar char="•"/>
            </a:pPr>
            <a:r>
              <a:rPr lang="en-US" sz="2100" b="0">
                <a:latin typeface="Verdana" pitchFamily="34" charset="0"/>
              </a:rPr>
              <a:t>Sistem kontrol terhadap aspek pengelolaan Keselamatan,</a:t>
            </a:r>
          </a:p>
          <a:p>
            <a:r>
              <a:rPr lang="en-US" sz="2100" b="0">
                <a:latin typeface="Verdana" pitchFamily="34" charset="0"/>
              </a:rPr>
              <a:t>  Kesehatan Kerja dan Perlindungan Lingkungan bagi Kontraktor</a:t>
            </a:r>
          </a:p>
          <a:p>
            <a:r>
              <a:rPr lang="en-US" sz="2100" b="0">
                <a:latin typeface="Verdana" pitchFamily="34" charset="0"/>
              </a:rPr>
              <a:t>  yang bekerja di seluruh daerah operasi kontraktor KKS(Kontrak</a:t>
            </a:r>
          </a:p>
          <a:p>
            <a:r>
              <a:rPr lang="en-US" sz="2100" b="0">
                <a:latin typeface="Verdana" pitchFamily="34" charset="0"/>
              </a:rPr>
              <a:t>  Kerja sama)/JOB (Joint Operating Body)</a:t>
            </a:r>
          </a:p>
          <a:p>
            <a:endParaRPr lang="en-US" sz="2100" b="0">
              <a:latin typeface="Verdana" pitchFamily="34" charset="0"/>
            </a:endParaRPr>
          </a:p>
          <a:p>
            <a:pPr>
              <a:buClr>
                <a:srgbClr val="FF0000"/>
              </a:buClr>
              <a:buSzPct val="150000"/>
              <a:buFontTx/>
              <a:buChar char="•"/>
            </a:pPr>
            <a:r>
              <a:rPr lang="en-US" sz="2100" b="0">
                <a:latin typeface="Verdana" pitchFamily="34" charset="0"/>
              </a:rPr>
              <a:t>Part of bid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2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2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2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2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2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2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7" dur="2000"/>
                                        <p:tgtEl>
                                          <p:spTgt spid="142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2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2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404813"/>
            <a:ext cx="9417050" cy="8636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400" smtClean="0">
                <a:solidFill>
                  <a:srgbClr val="0000FF"/>
                </a:solidFill>
              </a:rPr>
              <a:t>CSMS</a:t>
            </a:r>
            <a:r>
              <a:rPr lang="en-US" smtClean="0">
                <a:solidFill>
                  <a:srgbClr val="0000FF"/>
                </a:solidFill>
              </a:rPr>
              <a:t> </a:t>
            </a:r>
            <a:r>
              <a:rPr lang="en-US" sz="2400" smtClean="0">
                <a:solidFill>
                  <a:srgbClr val="0000FF"/>
                </a:solidFill>
              </a:rPr>
              <a:t>O</a:t>
            </a:r>
            <a:r>
              <a:rPr lang="en-US" sz="2200" smtClean="0">
                <a:solidFill>
                  <a:srgbClr val="0000FF"/>
                </a:solidFill>
              </a:rPr>
              <a:t>bjectives</a:t>
            </a:r>
            <a:r>
              <a:rPr lang="en-US" smtClean="0">
                <a:solidFill>
                  <a:srgbClr val="0000FF"/>
                </a:solidFill>
              </a:rPr>
              <a:t>: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050" y="1844675"/>
            <a:ext cx="9359900" cy="4321175"/>
          </a:xfrm>
        </p:spPr>
        <p:txBody>
          <a:bodyPr/>
          <a:lstStyle/>
          <a:p>
            <a:pPr eaLnBrk="1" hangingPunct="1"/>
            <a:r>
              <a:rPr lang="en-US" sz="2100" smtClean="0"/>
              <a:t>Meningkatkan performance HSE di lingkungan kerja oleh perusahaan/client dan contractor dengan pengelolaan HSE Management System yang effective</a:t>
            </a:r>
          </a:p>
          <a:p>
            <a:pPr eaLnBrk="1" hangingPunct="1"/>
            <a:r>
              <a:rPr lang="en-US" sz="2100" smtClean="0"/>
              <a:t>Membantu Contractor dalam pengelolaan program – program HSE yang consistent sesuai dengan harapan dari perusahaan/Client  </a:t>
            </a:r>
          </a:p>
          <a:p>
            <a:pPr eaLnBrk="1" hangingPunct="1"/>
            <a:r>
              <a:rPr lang="en-US" sz="2100" smtClean="0"/>
              <a:t>Memfasilitasi gap antara HSE MS Contractor, sub-contractor dan contractor lain yang bekerja di area perusahaan/client.</a:t>
            </a: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631825" y="981075"/>
            <a:ext cx="266541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26" name="_s1029"/>
          <p:cNvSpPr>
            <a:spLocks noChangeArrowheads="1"/>
          </p:cNvSpPr>
          <p:nvPr/>
        </p:nvSpPr>
        <p:spPr bwMode="auto">
          <a:xfrm>
            <a:off x="4017963" y="2493963"/>
            <a:ext cx="1800225" cy="1728787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endParaRPr lang="en-US" b="0"/>
          </a:p>
        </p:txBody>
      </p:sp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04850" y="44450"/>
            <a:ext cx="9201150" cy="720725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3200" smtClean="0"/>
              <a:t>CSMS P</a:t>
            </a:r>
            <a:r>
              <a:rPr lang="en-US" sz="2200" smtClean="0"/>
              <a:t>urposes</a:t>
            </a:r>
          </a:p>
        </p:txBody>
      </p:sp>
      <p:sp>
        <p:nvSpPr>
          <p:cNvPr id="144411" name="Text Box 27"/>
          <p:cNvSpPr txBox="1">
            <a:spLocks noChangeArrowheads="1"/>
          </p:cNvSpPr>
          <p:nvPr/>
        </p:nvSpPr>
        <p:spPr bwMode="auto">
          <a:xfrm>
            <a:off x="4087813" y="3070225"/>
            <a:ext cx="16557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>
                <a:effectLst>
                  <a:outerShdw blurRad="38100" dist="38100" dir="2700000" algn="tl">
                    <a:srgbClr val="C0C0C0"/>
                  </a:outerShdw>
                </a:effectLst>
              </a:rPr>
              <a:t>CSMS</a:t>
            </a:r>
          </a:p>
        </p:txBody>
      </p:sp>
      <p:sp>
        <p:nvSpPr>
          <p:cNvPr id="144412" name="_s1029"/>
          <p:cNvSpPr>
            <a:spLocks noChangeArrowheads="1"/>
          </p:cNvSpPr>
          <p:nvPr/>
        </p:nvSpPr>
        <p:spPr bwMode="auto">
          <a:xfrm>
            <a:off x="4089400" y="4724400"/>
            <a:ext cx="1655763" cy="158591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endParaRPr lang="en-US" b="0"/>
          </a:p>
        </p:txBody>
      </p:sp>
      <p:sp>
        <p:nvSpPr>
          <p:cNvPr id="144413" name="_s1029"/>
          <p:cNvSpPr>
            <a:spLocks noChangeArrowheads="1"/>
          </p:cNvSpPr>
          <p:nvPr/>
        </p:nvSpPr>
        <p:spPr bwMode="auto">
          <a:xfrm>
            <a:off x="6537325" y="2565400"/>
            <a:ext cx="1584325" cy="1657350"/>
          </a:xfrm>
          <a:prstGeom prst="ellipse">
            <a:avLst/>
          </a:prstGeom>
          <a:solidFill>
            <a:srgbClr val="3399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endParaRPr lang="en-US" b="0"/>
          </a:p>
        </p:txBody>
      </p:sp>
      <p:sp>
        <p:nvSpPr>
          <p:cNvPr id="144414" name="_s1029"/>
          <p:cNvSpPr>
            <a:spLocks noChangeArrowheads="1"/>
          </p:cNvSpPr>
          <p:nvPr/>
        </p:nvSpPr>
        <p:spPr bwMode="auto">
          <a:xfrm>
            <a:off x="4089400" y="404813"/>
            <a:ext cx="1655763" cy="1439862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endParaRPr lang="en-US" b="0"/>
          </a:p>
        </p:txBody>
      </p:sp>
      <p:sp>
        <p:nvSpPr>
          <p:cNvPr id="144416" name="Text Box 32"/>
          <p:cNvSpPr txBox="1">
            <a:spLocks noChangeArrowheads="1"/>
          </p:cNvSpPr>
          <p:nvPr/>
        </p:nvSpPr>
        <p:spPr bwMode="auto">
          <a:xfrm>
            <a:off x="4305300" y="981075"/>
            <a:ext cx="1298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MAN</a:t>
            </a:r>
          </a:p>
        </p:txBody>
      </p:sp>
      <p:sp>
        <p:nvSpPr>
          <p:cNvPr id="144417" name="Text Box 33"/>
          <p:cNvSpPr txBox="1">
            <a:spLocks noChangeArrowheads="1"/>
          </p:cNvSpPr>
          <p:nvPr/>
        </p:nvSpPr>
        <p:spPr bwMode="auto">
          <a:xfrm>
            <a:off x="6610350" y="3105150"/>
            <a:ext cx="15113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ENVIRONMENT</a:t>
            </a:r>
          </a:p>
        </p:txBody>
      </p:sp>
      <p:sp>
        <p:nvSpPr>
          <p:cNvPr id="144420" name="Text Box 36"/>
          <p:cNvSpPr txBox="1">
            <a:spLocks noChangeArrowheads="1"/>
          </p:cNvSpPr>
          <p:nvPr/>
        </p:nvSpPr>
        <p:spPr bwMode="auto">
          <a:xfrm>
            <a:off x="4305300" y="5373688"/>
            <a:ext cx="1298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/>
              <a:t>ASSET</a:t>
            </a:r>
          </a:p>
        </p:txBody>
      </p:sp>
      <p:sp>
        <p:nvSpPr>
          <p:cNvPr id="144423" name="_s1029"/>
          <p:cNvSpPr>
            <a:spLocks noChangeArrowheads="1"/>
          </p:cNvSpPr>
          <p:nvPr/>
        </p:nvSpPr>
        <p:spPr bwMode="auto">
          <a:xfrm>
            <a:off x="1784350" y="2565400"/>
            <a:ext cx="1512888" cy="1584325"/>
          </a:xfrm>
          <a:prstGeom prst="ellipse">
            <a:avLst/>
          </a:prstGeom>
          <a:solidFill>
            <a:srgbClr val="F9B9A5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endParaRPr lang="en-US" b="0"/>
          </a:p>
        </p:txBody>
      </p:sp>
      <p:sp>
        <p:nvSpPr>
          <p:cNvPr id="144424" name="Text Box 40"/>
          <p:cNvSpPr txBox="1">
            <a:spLocks noChangeArrowheads="1"/>
          </p:cNvSpPr>
          <p:nvPr/>
        </p:nvSpPr>
        <p:spPr bwMode="auto">
          <a:xfrm>
            <a:off x="1928813" y="3033713"/>
            <a:ext cx="129698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rgbClr val="0000FF"/>
                </a:solidFill>
              </a:rPr>
              <a:t>REPUTATION</a:t>
            </a:r>
          </a:p>
        </p:txBody>
      </p:sp>
      <p:sp>
        <p:nvSpPr>
          <p:cNvPr id="144437" name="AutoShape 53"/>
          <p:cNvSpPr>
            <a:spLocks noChangeArrowheads="1"/>
          </p:cNvSpPr>
          <p:nvPr/>
        </p:nvSpPr>
        <p:spPr bwMode="auto">
          <a:xfrm>
            <a:off x="5889625" y="3070225"/>
            <a:ext cx="576263" cy="6477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439" name="AutoShape 55"/>
          <p:cNvSpPr>
            <a:spLocks noChangeArrowheads="1"/>
          </p:cNvSpPr>
          <p:nvPr/>
        </p:nvSpPr>
        <p:spPr bwMode="auto">
          <a:xfrm rot="10800000">
            <a:off x="3368675" y="3070225"/>
            <a:ext cx="576263" cy="6477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442" name="AutoShape 58"/>
          <p:cNvSpPr>
            <a:spLocks noChangeArrowheads="1"/>
          </p:cNvSpPr>
          <p:nvPr/>
        </p:nvSpPr>
        <p:spPr bwMode="auto">
          <a:xfrm rot="-5400000">
            <a:off x="4664075" y="1844676"/>
            <a:ext cx="504825" cy="6477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4443" name="AutoShape 59"/>
          <p:cNvSpPr>
            <a:spLocks noChangeArrowheads="1"/>
          </p:cNvSpPr>
          <p:nvPr/>
        </p:nvSpPr>
        <p:spPr bwMode="auto">
          <a:xfrm rot="5400000">
            <a:off x="4700588" y="4184650"/>
            <a:ext cx="431800" cy="6477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5" name="Line 62"/>
          <p:cNvSpPr>
            <a:spLocks noChangeShapeType="1"/>
          </p:cNvSpPr>
          <p:nvPr/>
        </p:nvSpPr>
        <p:spPr bwMode="auto">
          <a:xfrm>
            <a:off x="849313" y="620713"/>
            <a:ext cx="2879725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4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4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4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4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4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4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4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4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4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4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4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4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4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4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4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4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0" fill="hold"/>
                                        <p:tgtEl>
                                          <p:spTgt spid="144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0" fill="hold"/>
                                        <p:tgtEl>
                                          <p:spTgt spid="144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4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4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4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4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426" grpId="0" animBg="1"/>
      <p:bldP spid="144411" grpId="0"/>
      <p:bldP spid="144412" grpId="0" animBg="1"/>
      <p:bldP spid="144413" grpId="0" animBg="1"/>
      <p:bldP spid="144414" grpId="0" animBg="1"/>
      <p:bldP spid="144416" grpId="0"/>
      <p:bldP spid="144417" grpId="0"/>
      <p:bldP spid="144420" grpId="0"/>
      <p:bldP spid="144423" grpId="0" animBg="1"/>
      <p:bldP spid="144424" grpId="0"/>
      <p:bldP spid="144437" grpId="0" animBg="1"/>
      <p:bldP spid="144439" grpId="0" animBg="1"/>
      <p:bldP spid="144442" grpId="0" animBg="1"/>
      <p:bldP spid="1444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 smtClean="0"/>
              <a:t>CSMS Background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77825" y="1916113"/>
            <a:ext cx="8824913" cy="2843212"/>
            <a:chOff x="0" y="1158"/>
            <a:chExt cx="5558" cy="1791"/>
          </a:xfrm>
        </p:grpSpPr>
        <p:sp>
          <p:nvSpPr>
            <p:cNvPr id="8205" name="Line 5"/>
            <p:cNvSpPr>
              <a:spLocks noChangeShapeType="1"/>
            </p:cNvSpPr>
            <p:nvPr/>
          </p:nvSpPr>
          <p:spPr bwMode="auto">
            <a:xfrm>
              <a:off x="4611" y="1199"/>
              <a:ext cx="0" cy="17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206" name="Group 6"/>
            <p:cNvGrpSpPr>
              <a:grpSpLocks/>
            </p:cNvGrpSpPr>
            <p:nvPr/>
          </p:nvGrpSpPr>
          <p:grpSpPr bwMode="auto">
            <a:xfrm>
              <a:off x="0" y="1158"/>
              <a:ext cx="5558" cy="1726"/>
              <a:chOff x="0" y="1158"/>
              <a:chExt cx="5558" cy="1726"/>
            </a:xfrm>
          </p:grpSpPr>
          <p:grpSp>
            <p:nvGrpSpPr>
              <p:cNvPr id="8207" name="Group 7"/>
              <p:cNvGrpSpPr>
                <a:grpSpLocks/>
              </p:cNvGrpSpPr>
              <p:nvPr/>
            </p:nvGrpSpPr>
            <p:grpSpPr bwMode="auto">
              <a:xfrm>
                <a:off x="3556" y="1525"/>
                <a:ext cx="815" cy="1104"/>
                <a:chOff x="3556" y="1525"/>
                <a:chExt cx="815" cy="1104"/>
              </a:xfrm>
            </p:grpSpPr>
            <p:grpSp>
              <p:nvGrpSpPr>
                <p:cNvPr id="8249" name="Group 8"/>
                <p:cNvGrpSpPr>
                  <a:grpSpLocks/>
                </p:cNvGrpSpPr>
                <p:nvPr/>
              </p:nvGrpSpPr>
              <p:grpSpPr bwMode="auto">
                <a:xfrm>
                  <a:off x="3556" y="1525"/>
                  <a:ext cx="815" cy="1104"/>
                  <a:chOff x="3556" y="1525"/>
                  <a:chExt cx="815" cy="1104"/>
                </a:xfrm>
              </p:grpSpPr>
              <p:sp>
                <p:nvSpPr>
                  <p:cNvPr id="8251" name="AutoShape 9"/>
                  <p:cNvSpPr>
                    <a:spLocks noChangeArrowheads="1"/>
                  </p:cNvSpPr>
                  <p:nvPr/>
                </p:nvSpPr>
                <p:spPr bwMode="auto">
                  <a:xfrm>
                    <a:off x="3556" y="1525"/>
                    <a:ext cx="815" cy="1101"/>
                  </a:xfrm>
                  <a:prstGeom prst="cube">
                    <a:avLst>
                      <a:gd name="adj" fmla="val 8856"/>
                    </a:avLst>
                  </a:prstGeom>
                  <a:gradFill rotWithShape="0">
                    <a:gsLst>
                      <a:gs pos="0">
                        <a:srgbClr val="FFFF00"/>
                      </a:gs>
                      <a:gs pos="100000">
                        <a:srgbClr val="E0E000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252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82" y="1640"/>
                    <a:ext cx="731" cy="25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 eaLnBrk="0" hangingPunct="0">
                      <a:spcBef>
                        <a:spcPct val="50000"/>
                      </a:spcBef>
                    </a:pPr>
                    <a:r>
                      <a:rPr lang="en-US" sz="2000"/>
                      <a:t>Incident</a:t>
                    </a:r>
                    <a:endParaRPr lang="en-US" sz="2400" b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8253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34" y="1955"/>
                    <a:ext cx="599" cy="67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 eaLnBrk="0" hangingPunct="0">
                      <a:spcBef>
                        <a:spcPct val="50000"/>
                      </a:spcBef>
                    </a:pPr>
                    <a:r>
                      <a:rPr lang="en-US" sz="1400"/>
                      <a:t>Event</a:t>
                    </a:r>
                  </a:p>
                  <a:p>
                    <a:pPr algn="ctr" eaLnBrk="0" hangingPunct="0"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sz="1400"/>
                      <a:t>or</a:t>
                    </a:r>
                  </a:p>
                  <a:p>
                    <a:pPr algn="ctr" eaLnBrk="0" hangingPunct="0">
                      <a:spcBef>
                        <a:spcPct val="50000"/>
                      </a:spcBef>
                    </a:pPr>
                    <a:r>
                      <a:rPr lang="en-US" sz="1400"/>
                      <a:t>Near Miss</a:t>
                    </a:r>
                  </a:p>
                </p:txBody>
              </p:sp>
            </p:grpSp>
            <p:sp>
              <p:nvSpPr>
                <p:cNvPr id="8250" name="Line 12"/>
                <p:cNvSpPr>
                  <a:spLocks noChangeShapeType="1"/>
                </p:cNvSpPr>
                <p:nvPr/>
              </p:nvSpPr>
              <p:spPr bwMode="auto">
                <a:xfrm>
                  <a:off x="3556" y="1946"/>
                  <a:ext cx="73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208" name="Group 13"/>
              <p:cNvGrpSpPr>
                <a:grpSpLocks/>
              </p:cNvGrpSpPr>
              <p:nvPr/>
            </p:nvGrpSpPr>
            <p:grpSpPr bwMode="auto">
              <a:xfrm>
                <a:off x="2225" y="1522"/>
                <a:ext cx="1109" cy="1103"/>
                <a:chOff x="2225" y="2131"/>
                <a:chExt cx="1109" cy="1103"/>
              </a:xfrm>
            </p:grpSpPr>
            <p:grpSp>
              <p:nvGrpSpPr>
                <p:cNvPr id="8244" name="Group 14"/>
                <p:cNvGrpSpPr>
                  <a:grpSpLocks/>
                </p:cNvGrpSpPr>
                <p:nvPr/>
              </p:nvGrpSpPr>
              <p:grpSpPr bwMode="auto">
                <a:xfrm>
                  <a:off x="2225" y="2131"/>
                  <a:ext cx="1109" cy="1103"/>
                  <a:chOff x="2225" y="2131"/>
                  <a:chExt cx="1109" cy="1103"/>
                </a:xfrm>
              </p:grpSpPr>
              <p:sp>
                <p:nvSpPr>
                  <p:cNvPr id="8246" name="AutoShape 15"/>
                  <p:cNvSpPr>
                    <a:spLocks noChangeArrowheads="1"/>
                  </p:cNvSpPr>
                  <p:nvPr/>
                </p:nvSpPr>
                <p:spPr bwMode="auto">
                  <a:xfrm>
                    <a:off x="2383" y="2131"/>
                    <a:ext cx="881" cy="1101"/>
                  </a:xfrm>
                  <a:prstGeom prst="cube">
                    <a:avLst>
                      <a:gd name="adj" fmla="val 8856"/>
                    </a:avLst>
                  </a:prstGeom>
                  <a:gradFill rotWithShape="0">
                    <a:gsLst>
                      <a:gs pos="0">
                        <a:srgbClr val="FFFF00"/>
                      </a:gs>
                      <a:gs pos="100000">
                        <a:srgbClr val="FFFF3E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247" name="Text Box 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25" y="2173"/>
                    <a:ext cx="1109" cy="4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 eaLnBrk="0" hangingPunct="0">
                      <a:spcBef>
                        <a:spcPct val="50000"/>
                      </a:spcBef>
                    </a:pPr>
                    <a:r>
                      <a:rPr lang="en-US" sz="1800"/>
                      <a:t>Immediate Causes</a:t>
                    </a:r>
                    <a:endParaRPr lang="en-US" sz="2400" b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8248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24" y="2573"/>
                    <a:ext cx="937" cy="66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 eaLnBrk="0" hangingPunct="0">
                      <a:spcBef>
                        <a:spcPct val="50000"/>
                      </a:spcBef>
                    </a:pPr>
                    <a:r>
                      <a:rPr lang="en-US" sz="1400"/>
                      <a:t>Substandard Acts/Practices</a:t>
                    </a:r>
                  </a:p>
                  <a:p>
                    <a:pPr algn="ctr" eaLnBrk="0" hangingPunct="0">
                      <a:spcBef>
                        <a:spcPct val="50000"/>
                      </a:spcBef>
                    </a:pPr>
                    <a:r>
                      <a:rPr lang="en-US" sz="1400"/>
                      <a:t>Substandard Conditions</a:t>
                    </a:r>
                  </a:p>
                </p:txBody>
              </p:sp>
            </p:grpSp>
            <p:sp>
              <p:nvSpPr>
                <p:cNvPr id="8245" name="Line 18"/>
                <p:cNvSpPr>
                  <a:spLocks noChangeShapeType="1"/>
                </p:cNvSpPr>
                <p:nvPr/>
              </p:nvSpPr>
              <p:spPr bwMode="auto">
                <a:xfrm>
                  <a:off x="2383" y="2559"/>
                  <a:ext cx="80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209" name="Group 19"/>
              <p:cNvGrpSpPr>
                <a:grpSpLocks/>
              </p:cNvGrpSpPr>
              <p:nvPr/>
            </p:nvGrpSpPr>
            <p:grpSpPr bwMode="auto">
              <a:xfrm>
                <a:off x="1257" y="1512"/>
                <a:ext cx="838" cy="1104"/>
                <a:chOff x="1257" y="2121"/>
                <a:chExt cx="838" cy="1104"/>
              </a:xfrm>
            </p:grpSpPr>
            <p:grpSp>
              <p:nvGrpSpPr>
                <p:cNvPr id="8239" name="Group 20"/>
                <p:cNvGrpSpPr>
                  <a:grpSpLocks/>
                </p:cNvGrpSpPr>
                <p:nvPr/>
              </p:nvGrpSpPr>
              <p:grpSpPr bwMode="auto">
                <a:xfrm>
                  <a:off x="1257" y="2121"/>
                  <a:ext cx="838" cy="1104"/>
                  <a:chOff x="1257" y="2121"/>
                  <a:chExt cx="838" cy="1104"/>
                </a:xfrm>
              </p:grpSpPr>
              <p:sp>
                <p:nvSpPr>
                  <p:cNvPr id="8241" name="AutoShape 21"/>
                  <p:cNvSpPr>
                    <a:spLocks noChangeArrowheads="1"/>
                  </p:cNvSpPr>
                  <p:nvPr/>
                </p:nvSpPr>
                <p:spPr bwMode="auto">
                  <a:xfrm>
                    <a:off x="1280" y="2121"/>
                    <a:ext cx="815" cy="1101"/>
                  </a:xfrm>
                  <a:prstGeom prst="cube">
                    <a:avLst>
                      <a:gd name="adj" fmla="val 8856"/>
                    </a:avLst>
                  </a:prstGeom>
                  <a:gradFill rotWithShape="0">
                    <a:gsLst>
                      <a:gs pos="0">
                        <a:srgbClr val="FFFF00"/>
                      </a:gs>
                      <a:gs pos="100000">
                        <a:srgbClr val="FFFF7C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242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73" y="2166"/>
                    <a:ext cx="812" cy="4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 eaLnBrk="0" hangingPunct="0">
                      <a:spcBef>
                        <a:spcPct val="50000"/>
                      </a:spcBef>
                    </a:pPr>
                    <a:r>
                      <a:rPr lang="en-US" sz="1800"/>
                      <a:t>Basic Causes</a:t>
                    </a:r>
                    <a:endParaRPr lang="en-US" sz="2400" b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8243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7" y="2564"/>
                    <a:ext cx="788" cy="66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 eaLnBrk="0" hangingPunct="0">
                      <a:spcBef>
                        <a:spcPct val="50000"/>
                      </a:spcBef>
                    </a:pPr>
                    <a:r>
                      <a:rPr lang="en-US" sz="1400"/>
                      <a:t>Personal Factors</a:t>
                    </a:r>
                  </a:p>
                  <a:p>
                    <a:pPr algn="ctr" eaLnBrk="0" hangingPunct="0">
                      <a:spcBef>
                        <a:spcPct val="50000"/>
                      </a:spcBef>
                    </a:pPr>
                    <a:r>
                      <a:rPr lang="en-US" sz="1400"/>
                      <a:t>Job/System Factors</a:t>
                    </a:r>
                  </a:p>
                </p:txBody>
              </p:sp>
            </p:grpSp>
            <p:sp>
              <p:nvSpPr>
                <p:cNvPr id="8240" name="Line 24"/>
                <p:cNvSpPr>
                  <a:spLocks noChangeShapeType="1"/>
                </p:cNvSpPr>
                <p:nvPr/>
              </p:nvSpPr>
              <p:spPr bwMode="auto">
                <a:xfrm>
                  <a:off x="1280" y="2557"/>
                  <a:ext cx="73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210" name="Group 25"/>
              <p:cNvGrpSpPr>
                <a:grpSpLocks/>
              </p:cNvGrpSpPr>
              <p:nvPr/>
            </p:nvGrpSpPr>
            <p:grpSpPr bwMode="auto">
              <a:xfrm>
                <a:off x="0" y="1494"/>
                <a:ext cx="1011" cy="1102"/>
                <a:chOff x="0" y="2103"/>
                <a:chExt cx="1011" cy="1102"/>
              </a:xfrm>
            </p:grpSpPr>
            <p:grpSp>
              <p:nvGrpSpPr>
                <p:cNvPr id="8234" name="Group 26"/>
                <p:cNvGrpSpPr>
                  <a:grpSpLocks/>
                </p:cNvGrpSpPr>
                <p:nvPr/>
              </p:nvGrpSpPr>
              <p:grpSpPr bwMode="auto">
                <a:xfrm>
                  <a:off x="0" y="2103"/>
                  <a:ext cx="1011" cy="1102"/>
                  <a:chOff x="0" y="2103"/>
                  <a:chExt cx="1011" cy="1102"/>
                </a:xfrm>
              </p:grpSpPr>
              <p:sp>
                <p:nvSpPr>
                  <p:cNvPr id="8236" name="AutoShape 27"/>
                  <p:cNvSpPr>
                    <a:spLocks noChangeArrowheads="1"/>
                  </p:cNvSpPr>
                  <p:nvPr/>
                </p:nvSpPr>
                <p:spPr bwMode="auto">
                  <a:xfrm>
                    <a:off x="121" y="2103"/>
                    <a:ext cx="873" cy="1101"/>
                  </a:xfrm>
                  <a:prstGeom prst="cube">
                    <a:avLst>
                      <a:gd name="adj" fmla="val 8856"/>
                    </a:avLst>
                  </a:prstGeom>
                  <a:gradFill rotWithShape="0">
                    <a:gsLst>
                      <a:gs pos="0">
                        <a:srgbClr val="FFFF00"/>
                      </a:gs>
                      <a:gs pos="100000">
                        <a:srgbClr val="FFFFD1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237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6" y="2158"/>
                    <a:ext cx="812" cy="40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 eaLnBrk="0" hangingPunct="0">
                      <a:spcBef>
                        <a:spcPct val="50000"/>
                      </a:spcBef>
                    </a:pPr>
                    <a:r>
                      <a:rPr lang="en-US" sz="1800"/>
                      <a:t>Lack of Control</a:t>
                    </a:r>
                    <a:endParaRPr lang="en-US" sz="2400" b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8238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2530"/>
                    <a:ext cx="1011" cy="67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marL="339725" indent="-104775" eaLnBrk="0" hangingPunct="0">
                      <a:spcBef>
                        <a:spcPct val="50000"/>
                      </a:spcBef>
                    </a:pPr>
                    <a:r>
                      <a:rPr lang="en-US" sz="1400"/>
                      <a:t>Inadequate</a:t>
                    </a:r>
                  </a:p>
                  <a:p>
                    <a:pPr marL="339725" indent="-104775" eaLnBrk="0" hangingPunct="0">
                      <a:lnSpc>
                        <a:spcPct val="70000"/>
                      </a:lnSpc>
                      <a:spcBef>
                        <a:spcPct val="50000"/>
                      </a:spcBef>
                      <a:buFontTx/>
                      <a:buChar char="•"/>
                    </a:pPr>
                    <a:r>
                      <a:rPr lang="en-US" sz="1400"/>
                      <a:t>System</a:t>
                    </a:r>
                  </a:p>
                  <a:p>
                    <a:pPr marL="339725" indent="-104775" eaLnBrk="0" hangingPunct="0">
                      <a:lnSpc>
                        <a:spcPct val="70000"/>
                      </a:lnSpc>
                      <a:spcBef>
                        <a:spcPct val="50000"/>
                      </a:spcBef>
                      <a:buFontTx/>
                      <a:buChar char="•"/>
                    </a:pPr>
                    <a:r>
                      <a:rPr lang="en-US" sz="1400"/>
                      <a:t>Standard</a:t>
                    </a:r>
                  </a:p>
                  <a:p>
                    <a:pPr marL="339725" indent="-104775" eaLnBrk="0" hangingPunct="0">
                      <a:lnSpc>
                        <a:spcPct val="70000"/>
                      </a:lnSpc>
                      <a:spcBef>
                        <a:spcPct val="50000"/>
                      </a:spcBef>
                      <a:buFontTx/>
                      <a:buChar char="•"/>
                    </a:pPr>
                    <a:r>
                      <a:rPr lang="en-US" sz="1400"/>
                      <a:t>Compliance</a:t>
                    </a:r>
                  </a:p>
                </p:txBody>
              </p:sp>
            </p:grpSp>
            <p:sp>
              <p:nvSpPr>
                <p:cNvPr id="8235" name="Line 30"/>
                <p:cNvSpPr>
                  <a:spLocks noChangeShapeType="1"/>
                </p:cNvSpPr>
                <p:nvPr/>
              </p:nvSpPr>
              <p:spPr bwMode="auto">
                <a:xfrm>
                  <a:off x="113" y="2539"/>
                  <a:ext cx="80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211" name="Group 31"/>
              <p:cNvGrpSpPr>
                <a:grpSpLocks/>
              </p:cNvGrpSpPr>
              <p:nvPr/>
            </p:nvGrpSpPr>
            <p:grpSpPr bwMode="auto">
              <a:xfrm>
                <a:off x="2152" y="1701"/>
                <a:ext cx="210" cy="726"/>
                <a:chOff x="1042" y="2293"/>
                <a:chExt cx="210" cy="726"/>
              </a:xfrm>
            </p:grpSpPr>
            <p:sp>
              <p:nvSpPr>
                <p:cNvPr id="8231" name="AutoShape 32"/>
                <p:cNvSpPr>
                  <a:spLocks noChangeArrowheads="1"/>
                </p:cNvSpPr>
                <p:nvPr/>
              </p:nvSpPr>
              <p:spPr bwMode="auto">
                <a:xfrm rot="5400000">
                  <a:off x="1056" y="2281"/>
                  <a:ext cx="181" cy="205"/>
                </a:xfrm>
                <a:prstGeom prst="flowChartExtra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2" name="AutoShape 33"/>
                <p:cNvSpPr>
                  <a:spLocks noChangeArrowheads="1"/>
                </p:cNvSpPr>
                <p:nvPr/>
              </p:nvSpPr>
              <p:spPr bwMode="auto">
                <a:xfrm rot="5400000">
                  <a:off x="1054" y="2558"/>
                  <a:ext cx="181" cy="205"/>
                </a:xfrm>
                <a:prstGeom prst="flowChartExtra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3" name="AutoShape 34"/>
                <p:cNvSpPr>
                  <a:spLocks noChangeArrowheads="1"/>
                </p:cNvSpPr>
                <p:nvPr/>
              </p:nvSpPr>
              <p:spPr bwMode="auto">
                <a:xfrm rot="5400000">
                  <a:off x="1059" y="2826"/>
                  <a:ext cx="181" cy="205"/>
                </a:xfrm>
                <a:prstGeom prst="flowChartExtra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212" name="Group 35"/>
              <p:cNvGrpSpPr>
                <a:grpSpLocks/>
              </p:cNvGrpSpPr>
              <p:nvPr/>
            </p:nvGrpSpPr>
            <p:grpSpPr bwMode="auto">
              <a:xfrm>
                <a:off x="1040" y="1706"/>
                <a:ext cx="210" cy="726"/>
                <a:chOff x="1042" y="2293"/>
                <a:chExt cx="210" cy="726"/>
              </a:xfrm>
            </p:grpSpPr>
            <p:sp>
              <p:nvSpPr>
                <p:cNvPr id="8228" name="AutoShape 36"/>
                <p:cNvSpPr>
                  <a:spLocks noChangeArrowheads="1"/>
                </p:cNvSpPr>
                <p:nvPr/>
              </p:nvSpPr>
              <p:spPr bwMode="auto">
                <a:xfrm rot="5400000">
                  <a:off x="1056" y="2281"/>
                  <a:ext cx="181" cy="205"/>
                </a:xfrm>
                <a:prstGeom prst="flowChartExtra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9" name="AutoShape 37"/>
                <p:cNvSpPr>
                  <a:spLocks noChangeArrowheads="1"/>
                </p:cNvSpPr>
                <p:nvPr/>
              </p:nvSpPr>
              <p:spPr bwMode="auto">
                <a:xfrm rot="5400000">
                  <a:off x="1054" y="2558"/>
                  <a:ext cx="181" cy="205"/>
                </a:xfrm>
                <a:prstGeom prst="flowChartExtra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0" name="AutoShape 38"/>
                <p:cNvSpPr>
                  <a:spLocks noChangeArrowheads="1"/>
                </p:cNvSpPr>
                <p:nvPr/>
              </p:nvSpPr>
              <p:spPr bwMode="auto">
                <a:xfrm rot="5400000">
                  <a:off x="1059" y="2826"/>
                  <a:ext cx="181" cy="205"/>
                </a:xfrm>
                <a:prstGeom prst="flowChartExtra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213" name="Group 39"/>
              <p:cNvGrpSpPr>
                <a:grpSpLocks/>
              </p:cNvGrpSpPr>
              <p:nvPr/>
            </p:nvGrpSpPr>
            <p:grpSpPr bwMode="auto">
              <a:xfrm>
                <a:off x="3305" y="1720"/>
                <a:ext cx="210" cy="726"/>
                <a:chOff x="1042" y="2293"/>
                <a:chExt cx="210" cy="726"/>
              </a:xfrm>
            </p:grpSpPr>
            <p:sp>
              <p:nvSpPr>
                <p:cNvPr id="8225" name="AutoShape 40"/>
                <p:cNvSpPr>
                  <a:spLocks noChangeArrowheads="1"/>
                </p:cNvSpPr>
                <p:nvPr/>
              </p:nvSpPr>
              <p:spPr bwMode="auto">
                <a:xfrm rot="5400000">
                  <a:off x="1056" y="2281"/>
                  <a:ext cx="181" cy="205"/>
                </a:xfrm>
                <a:prstGeom prst="flowChartExtra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6" name="AutoShape 41"/>
                <p:cNvSpPr>
                  <a:spLocks noChangeArrowheads="1"/>
                </p:cNvSpPr>
                <p:nvPr/>
              </p:nvSpPr>
              <p:spPr bwMode="auto">
                <a:xfrm rot="5400000">
                  <a:off x="1054" y="2558"/>
                  <a:ext cx="181" cy="205"/>
                </a:xfrm>
                <a:prstGeom prst="flowChartExtra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7" name="AutoShape 42"/>
                <p:cNvSpPr>
                  <a:spLocks noChangeArrowheads="1"/>
                </p:cNvSpPr>
                <p:nvPr/>
              </p:nvSpPr>
              <p:spPr bwMode="auto">
                <a:xfrm rot="5400000">
                  <a:off x="1059" y="2826"/>
                  <a:ext cx="181" cy="205"/>
                </a:xfrm>
                <a:prstGeom prst="flowChartExtra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214" name="Group 43"/>
              <p:cNvGrpSpPr>
                <a:grpSpLocks/>
              </p:cNvGrpSpPr>
              <p:nvPr/>
            </p:nvGrpSpPr>
            <p:grpSpPr bwMode="auto">
              <a:xfrm>
                <a:off x="4397" y="1726"/>
                <a:ext cx="210" cy="726"/>
                <a:chOff x="1042" y="2293"/>
                <a:chExt cx="210" cy="726"/>
              </a:xfrm>
            </p:grpSpPr>
            <p:sp>
              <p:nvSpPr>
                <p:cNvPr id="8222" name="AutoShape 44"/>
                <p:cNvSpPr>
                  <a:spLocks noChangeArrowheads="1"/>
                </p:cNvSpPr>
                <p:nvPr/>
              </p:nvSpPr>
              <p:spPr bwMode="auto">
                <a:xfrm rot="5400000">
                  <a:off x="1056" y="2281"/>
                  <a:ext cx="181" cy="205"/>
                </a:xfrm>
                <a:prstGeom prst="flowChartExtra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3" name="AutoShape 45"/>
                <p:cNvSpPr>
                  <a:spLocks noChangeArrowheads="1"/>
                </p:cNvSpPr>
                <p:nvPr/>
              </p:nvSpPr>
              <p:spPr bwMode="auto">
                <a:xfrm rot="5400000">
                  <a:off x="1054" y="2558"/>
                  <a:ext cx="181" cy="205"/>
                </a:xfrm>
                <a:prstGeom prst="flowChartExtra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4" name="AutoShape 46"/>
                <p:cNvSpPr>
                  <a:spLocks noChangeArrowheads="1"/>
                </p:cNvSpPr>
                <p:nvPr/>
              </p:nvSpPr>
              <p:spPr bwMode="auto">
                <a:xfrm rot="5400000">
                  <a:off x="1059" y="2826"/>
                  <a:ext cx="181" cy="205"/>
                </a:xfrm>
                <a:prstGeom prst="flowChartExtra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215" name="Text Box 47"/>
              <p:cNvSpPr txBox="1">
                <a:spLocks noChangeArrowheads="1"/>
              </p:cNvSpPr>
              <p:nvPr/>
            </p:nvSpPr>
            <p:spPr bwMode="auto">
              <a:xfrm>
                <a:off x="4585" y="1158"/>
                <a:ext cx="190" cy="17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/>
                  <a:t>THRESHOLD</a:t>
                </a:r>
              </a:p>
              <a:p>
                <a:pPr algn="ctr" eaLnBrk="0" hangingPunct="0">
                  <a:spcBef>
                    <a:spcPct val="50000"/>
                  </a:spcBef>
                </a:pPr>
                <a:r>
                  <a:rPr lang="en-US"/>
                  <a:t>LIMIT</a:t>
                </a:r>
                <a:endParaRPr lang="en-US" sz="1600" b="0"/>
              </a:p>
            </p:txBody>
          </p:sp>
          <p:grpSp>
            <p:nvGrpSpPr>
              <p:cNvPr id="8216" name="Group 48"/>
              <p:cNvGrpSpPr>
                <a:grpSpLocks/>
              </p:cNvGrpSpPr>
              <p:nvPr/>
            </p:nvGrpSpPr>
            <p:grpSpPr bwMode="auto">
              <a:xfrm>
                <a:off x="4743" y="1520"/>
                <a:ext cx="815" cy="1113"/>
                <a:chOff x="4743" y="2129"/>
                <a:chExt cx="815" cy="1113"/>
              </a:xfrm>
            </p:grpSpPr>
            <p:grpSp>
              <p:nvGrpSpPr>
                <p:cNvPr id="8217" name="Group 49"/>
                <p:cNvGrpSpPr>
                  <a:grpSpLocks/>
                </p:cNvGrpSpPr>
                <p:nvPr/>
              </p:nvGrpSpPr>
              <p:grpSpPr bwMode="auto">
                <a:xfrm>
                  <a:off x="4743" y="2129"/>
                  <a:ext cx="815" cy="1101"/>
                  <a:chOff x="4710" y="2129"/>
                  <a:chExt cx="815" cy="1101"/>
                </a:xfrm>
              </p:grpSpPr>
              <p:sp>
                <p:nvSpPr>
                  <p:cNvPr id="8220" name="AutoShape 50"/>
                  <p:cNvSpPr>
                    <a:spLocks noChangeArrowheads="1"/>
                  </p:cNvSpPr>
                  <p:nvPr/>
                </p:nvSpPr>
                <p:spPr bwMode="auto">
                  <a:xfrm>
                    <a:off x="4710" y="2129"/>
                    <a:ext cx="815" cy="1101"/>
                  </a:xfrm>
                  <a:prstGeom prst="cube">
                    <a:avLst>
                      <a:gd name="adj" fmla="val 8856"/>
                    </a:avLst>
                  </a:prstGeom>
                  <a:gradFill rotWithShape="0">
                    <a:gsLst>
                      <a:gs pos="0">
                        <a:srgbClr val="FFFF00"/>
                      </a:gs>
                      <a:gs pos="100000">
                        <a:srgbClr val="C1C100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221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4710" y="2565"/>
                    <a:ext cx="739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218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4817" y="2260"/>
                  <a:ext cx="52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 sz="2000"/>
                    <a:t>Loss</a:t>
                  </a:r>
                  <a:endParaRPr lang="en-US" sz="2400" b="0">
                    <a:latin typeface="Times New Roman" pitchFamily="18" charset="0"/>
                  </a:endParaRPr>
                </a:p>
              </p:txBody>
            </p:sp>
            <p:sp>
              <p:nvSpPr>
                <p:cNvPr id="8219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4759" y="2581"/>
                  <a:ext cx="732" cy="66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 sz="1400"/>
                    <a:t>Unintended Harm</a:t>
                  </a:r>
                </a:p>
                <a:p>
                  <a:pPr algn="ctr" eaLnBrk="0" hangingPunct="0">
                    <a:lnSpc>
                      <a:spcPct val="60000"/>
                    </a:lnSpc>
                    <a:spcBef>
                      <a:spcPct val="50000"/>
                    </a:spcBef>
                  </a:pPr>
                  <a:r>
                    <a:rPr lang="en-US" sz="1400"/>
                    <a:t>or</a:t>
                  </a:r>
                </a:p>
                <a:p>
                  <a:pPr algn="ctr" eaLnBrk="0" hangingPunct="0">
                    <a:lnSpc>
                      <a:spcPct val="90000"/>
                    </a:lnSpc>
                    <a:spcBef>
                      <a:spcPct val="50000"/>
                    </a:spcBef>
                  </a:pPr>
                  <a:r>
                    <a:rPr lang="en-US" sz="1400"/>
                    <a:t>Damage</a:t>
                  </a:r>
                  <a:endParaRPr lang="en-US" sz="1600"/>
                </a:p>
              </p:txBody>
            </p:sp>
          </p:grpSp>
        </p:grpSp>
      </p:grpSp>
      <p:sp>
        <p:nvSpPr>
          <p:cNvPr id="147510" name="Text Box 54"/>
          <p:cNvSpPr txBox="1">
            <a:spLocks noChangeArrowheads="1"/>
          </p:cNvSpPr>
          <p:nvPr/>
        </p:nvSpPr>
        <p:spPr bwMode="auto">
          <a:xfrm>
            <a:off x="377825" y="4786313"/>
            <a:ext cx="155575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/>
              <a:t>Measurement of Control</a:t>
            </a:r>
            <a:endParaRPr lang="en-US" sz="1400"/>
          </a:p>
        </p:txBody>
      </p:sp>
      <p:sp>
        <p:nvSpPr>
          <p:cNvPr id="147511" name="Text Box 55"/>
          <p:cNvSpPr txBox="1">
            <a:spLocks noChangeArrowheads="1"/>
          </p:cNvSpPr>
          <p:nvPr/>
        </p:nvSpPr>
        <p:spPr bwMode="auto">
          <a:xfrm>
            <a:off x="3101975" y="4833938"/>
            <a:ext cx="1738313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/>
              <a:t>Measurement of Causes</a:t>
            </a:r>
            <a:endParaRPr lang="en-US" sz="1400"/>
          </a:p>
        </p:txBody>
      </p:sp>
      <p:sp>
        <p:nvSpPr>
          <p:cNvPr id="147512" name="Text Box 56"/>
          <p:cNvSpPr txBox="1">
            <a:spLocks noChangeArrowheads="1"/>
          </p:cNvSpPr>
          <p:nvPr/>
        </p:nvSpPr>
        <p:spPr bwMode="auto">
          <a:xfrm>
            <a:off x="6608763" y="4849813"/>
            <a:ext cx="18161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/>
              <a:t>Measurement of Consequence</a:t>
            </a:r>
            <a:endParaRPr lang="en-US" sz="1400"/>
          </a:p>
        </p:txBody>
      </p:sp>
      <p:sp>
        <p:nvSpPr>
          <p:cNvPr id="147513" name="Line 57"/>
          <p:cNvSpPr>
            <a:spLocks noChangeShapeType="1"/>
          </p:cNvSpPr>
          <p:nvPr/>
        </p:nvSpPr>
        <p:spPr bwMode="auto">
          <a:xfrm rot="10800000" flipV="1">
            <a:off x="2297113" y="5100638"/>
            <a:ext cx="860425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7514" name="Line 58"/>
          <p:cNvSpPr>
            <a:spLocks noChangeShapeType="1"/>
          </p:cNvSpPr>
          <p:nvPr/>
        </p:nvSpPr>
        <p:spPr bwMode="auto">
          <a:xfrm rot="10800000" flipV="1">
            <a:off x="5999163" y="5108575"/>
            <a:ext cx="6397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7515" name="Line 59"/>
          <p:cNvSpPr>
            <a:spLocks noChangeShapeType="1"/>
          </p:cNvSpPr>
          <p:nvPr/>
        </p:nvSpPr>
        <p:spPr bwMode="auto">
          <a:xfrm>
            <a:off x="8435975" y="5095875"/>
            <a:ext cx="704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7516" name="Line 60"/>
          <p:cNvSpPr>
            <a:spLocks noChangeShapeType="1"/>
          </p:cNvSpPr>
          <p:nvPr/>
        </p:nvSpPr>
        <p:spPr bwMode="auto">
          <a:xfrm>
            <a:off x="4792663" y="5106988"/>
            <a:ext cx="9191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7517" name="Text Box 61"/>
          <p:cNvSpPr txBox="1">
            <a:spLocks noChangeArrowheads="1"/>
          </p:cNvSpPr>
          <p:nvPr/>
        </p:nvSpPr>
        <p:spPr bwMode="auto">
          <a:xfrm>
            <a:off x="0" y="5716588"/>
            <a:ext cx="9906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/>
              <a:t>Sistem diatas sangat penting untuk mengetahui penyebab – penyebab dasar ...</a:t>
            </a:r>
          </a:p>
        </p:txBody>
      </p:sp>
      <p:sp>
        <p:nvSpPr>
          <p:cNvPr id="147518" name="WordArt 62"/>
          <p:cNvSpPr>
            <a:spLocks noChangeArrowheads="1" noChangeShapeType="1" noTextEdit="1"/>
          </p:cNvSpPr>
          <p:nvPr/>
        </p:nvSpPr>
        <p:spPr bwMode="auto">
          <a:xfrm>
            <a:off x="2214563" y="1233488"/>
            <a:ext cx="5762625" cy="323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000" kern="10">
                <a:ln w="9525">
                  <a:noFill/>
                  <a:round/>
                  <a:headEnd/>
                  <a:tailE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The Loss Caution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7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7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7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7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7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7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7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7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7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7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7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7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7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7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7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7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7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510" grpId="0"/>
      <p:bldP spid="147511" grpId="0"/>
      <p:bldP spid="147512" grpId="0"/>
      <p:bldP spid="147513" grpId="0" animBg="1"/>
      <p:bldP spid="147514" grpId="0" animBg="1"/>
      <p:bldP spid="147515" grpId="0" animBg="1"/>
      <p:bldP spid="147516" grpId="0" animBg="1"/>
      <p:bldP spid="1475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4450"/>
            <a:ext cx="9906000" cy="4318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u="sng" smtClean="0"/>
              <a:t>CSMS Background Continue…..</a:t>
            </a:r>
          </a:p>
        </p:txBody>
      </p:sp>
      <p:graphicFrame>
        <p:nvGraphicFramePr>
          <p:cNvPr id="102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847725" y="927100"/>
          <a:ext cx="7991475" cy="533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Chart" r:id="rId3" imgW="6096000" imgH="4067251" progId="MSGraph.Chart.8">
                  <p:embed followColorScheme="full"/>
                </p:oleObj>
              </mc:Choice>
              <mc:Fallback>
                <p:oleObj name="Chart" r:id="rId3" imgW="6096000" imgH="4067251" progId="MSGraph.Chart.8">
                  <p:embed followColorScheme="full"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725" y="927100"/>
                        <a:ext cx="7991475" cy="5332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86" name="Text Box 6"/>
          <p:cNvSpPr txBox="1">
            <a:spLocks noChangeArrowheads="1"/>
          </p:cNvSpPr>
          <p:nvPr/>
        </p:nvSpPr>
        <p:spPr bwMode="auto">
          <a:xfrm>
            <a:off x="1924050" y="669925"/>
            <a:ext cx="6629400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6" tIns="45718" rIns="91436" bIns="45718">
            <a:spAutoFit/>
          </a:bodyPr>
          <a:lstStyle/>
          <a:p>
            <a:pPr algn="ctr" eaLnBrk="0" hangingPunct="0"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</a:t>
            </a:r>
            <a:r>
              <a:rPr lang="en-US" sz="1800" i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TOTAL INJURY &amp; TRAFFIC ACCIDENT                       DATA 1995-2003 YTD</a:t>
            </a:r>
            <a:endParaRPr lang="en-US" sz="180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2" name="Rectangle 4"/>
          <p:cNvSpPr>
            <a:spLocks noGrp="1" noChangeArrowheads="1"/>
          </p:cNvSpPr>
          <p:nvPr>
            <p:ph type="title"/>
          </p:nvPr>
        </p:nvSpPr>
        <p:spPr>
          <a:xfrm>
            <a:off x="273050" y="44450"/>
            <a:ext cx="9632950" cy="8636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u="sng" smtClean="0"/>
              <a:t>CSMS Background Continue…..</a:t>
            </a:r>
          </a:p>
        </p:txBody>
      </p:sp>
      <p:graphicFrame>
        <p:nvGraphicFramePr>
          <p:cNvPr id="150759" name="Group 231"/>
          <p:cNvGraphicFramePr>
            <a:graphicFrameLocks noGrp="1"/>
          </p:cNvGraphicFramePr>
          <p:nvPr>
            <p:ph idx="1"/>
          </p:nvPr>
        </p:nvGraphicFramePr>
        <p:xfrm>
          <a:off x="417513" y="1125538"/>
          <a:ext cx="8783637" cy="4702176"/>
        </p:xfrm>
        <a:graphic>
          <a:graphicData uri="http://schemas.openxmlformats.org/drawingml/2006/table">
            <a:tbl>
              <a:tblPr/>
              <a:tblGrid>
                <a:gridCol w="3240087"/>
                <a:gridCol w="1439863"/>
                <a:gridCol w="1368425"/>
                <a:gridCol w="1366837"/>
                <a:gridCol w="1368425"/>
              </a:tblGrid>
              <a:tr h="4318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COMPANY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CONTRACTOR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1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Work Force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4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Man Hours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1,497,475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1,620,610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1,666,254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1,301,226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LTA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4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Medical Treatment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First Aid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Traffic Incident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Spillage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Rectangle 4"/>
          <p:cNvSpPr>
            <a:spLocks noChangeArrowheads="1"/>
          </p:cNvSpPr>
          <p:nvPr/>
        </p:nvSpPr>
        <p:spPr bwMode="auto">
          <a:xfrm>
            <a:off x="603250" y="1487488"/>
            <a:ext cx="44211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550" tIns="42863" rIns="82550" bIns="42863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2800" b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The Cause of Injuries</a:t>
            </a:r>
          </a:p>
        </p:txBody>
      </p:sp>
      <p:sp>
        <p:nvSpPr>
          <p:cNvPr id="156677" name="Line 5"/>
          <p:cNvSpPr>
            <a:spLocks noChangeShapeType="1"/>
          </p:cNvSpPr>
          <p:nvPr/>
        </p:nvSpPr>
        <p:spPr bwMode="auto">
          <a:xfrm>
            <a:off x="542925" y="2486025"/>
            <a:ext cx="76200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lgDash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6678" name="Rectangle 6"/>
          <p:cNvSpPr>
            <a:spLocks noChangeArrowheads="1"/>
          </p:cNvSpPr>
          <p:nvPr/>
        </p:nvSpPr>
        <p:spPr bwMode="auto">
          <a:xfrm>
            <a:off x="687388" y="2987675"/>
            <a:ext cx="491966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 eaLnBrk="0" hangingPunct="0"/>
            <a:r>
              <a:rPr lang="en-US" sz="2000">
                <a:solidFill>
                  <a:srgbClr val="FF0000"/>
                </a:solidFill>
                <a:latin typeface="Verdana" pitchFamily="34" charset="0"/>
              </a:rPr>
              <a:t>98%of Accident is due             to </a:t>
            </a:r>
          </a:p>
          <a:p>
            <a:pPr defTabSz="762000" eaLnBrk="0" hangingPunct="0"/>
            <a:r>
              <a:rPr lang="en-US" sz="2000">
                <a:solidFill>
                  <a:srgbClr val="FF0000"/>
                </a:solidFill>
                <a:latin typeface="Verdana" pitchFamily="34" charset="0"/>
              </a:rPr>
              <a:t>unsafe Acts.</a:t>
            </a:r>
          </a:p>
        </p:txBody>
      </p:sp>
      <p:pic>
        <p:nvPicPr>
          <p:cNvPr id="156680" name="Picture 8" descr="Iceberg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67288" y="765175"/>
            <a:ext cx="3946525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6681" name="Rectangle 9"/>
          <p:cNvSpPr>
            <a:spLocks noGrp="1" noChangeArrowheads="1"/>
          </p:cNvSpPr>
          <p:nvPr>
            <p:ph type="title"/>
          </p:nvPr>
        </p:nvSpPr>
        <p:spPr>
          <a:xfrm>
            <a:off x="0" y="44450"/>
            <a:ext cx="9906000" cy="6477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u="sng" smtClean="0"/>
              <a:t>CSMS Background Continue…..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5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6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6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/>
      <p:bldP spid="156677" grpId="0" animBg="1"/>
      <p:bldP spid="156678" grpId="0"/>
      <p:bldP spid="15668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61" descr="COVER BUKU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36875" y="333375"/>
            <a:ext cx="4206875" cy="580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ChangeArrowheads="1"/>
          </p:cNvSpPr>
          <p:nvPr/>
        </p:nvSpPr>
        <p:spPr bwMode="auto">
          <a:xfrm>
            <a:off x="1190625" y="5405438"/>
            <a:ext cx="7434263" cy="763587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1" name="Rectangle 5"/>
          <p:cNvSpPr>
            <a:spLocks noChangeArrowheads="1"/>
          </p:cNvSpPr>
          <p:nvPr/>
        </p:nvSpPr>
        <p:spPr bwMode="auto">
          <a:xfrm>
            <a:off x="1190625" y="303213"/>
            <a:ext cx="7434263" cy="58229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lIns="93678" tIns="46838" rIns="93678" bIns="46838" anchor="ctr"/>
          <a:lstStyle/>
          <a:p>
            <a:pPr defTabSz="819150" eaLnBrk="0" hangingPunct="0"/>
            <a:endParaRPr lang="en-US" sz="4600">
              <a:latin typeface="Arial Narrow" pitchFamily="34" charset="0"/>
            </a:endParaRPr>
          </a:p>
        </p:txBody>
      </p:sp>
      <p:sp>
        <p:nvSpPr>
          <p:cNvPr id="157702" name="AutoShape 6"/>
          <p:cNvSpPr>
            <a:spLocks noChangeArrowheads="1"/>
          </p:cNvSpPr>
          <p:nvPr/>
        </p:nvSpPr>
        <p:spPr bwMode="auto">
          <a:xfrm>
            <a:off x="1263650" y="2009775"/>
            <a:ext cx="1949450" cy="2392363"/>
          </a:xfrm>
          <a:prstGeom prst="irregularSeal2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3" name="Rectangle 7"/>
          <p:cNvSpPr>
            <a:spLocks noChangeArrowheads="1"/>
          </p:cNvSpPr>
          <p:nvPr/>
        </p:nvSpPr>
        <p:spPr bwMode="auto">
          <a:xfrm>
            <a:off x="1190625" y="260350"/>
            <a:ext cx="7434263" cy="1724025"/>
          </a:xfrm>
          <a:prstGeom prst="rect">
            <a:avLst/>
          </a:prstGeom>
          <a:solidFill>
            <a:srgbClr val="009900"/>
          </a:solidFill>
          <a:ln w="9525">
            <a:noFill/>
            <a:miter lim="800000"/>
            <a:headEnd/>
            <a:tailEnd/>
          </a:ln>
        </p:spPr>
        <p:txBody>
          <a:bodyPr wrap="none" lIns="93678" tIns="46838" rIns="93678" bIns="46838" anchor="ctr"/>
          <a:lstStyle/>
          <a:p>
            <a:pPr defTabSz="819150" eaLnBrk="0" hangingPunct="0"/>
            <a:endParaRPr lang="en-US" sz="4600">
              <a:latin typeface="Arial Narrow" pitchFamily="34" charset="0"/>
            </a:endParaRPr>
          </a:p>
        </p:txBody>
      </p:sp>
      <p:sp>
        <p:nvSpPr>
          <p:cNvPr id="157704" name="Text Box 8"/>
          <p:cNvSpPr txBox="1">
            <a:spLocks noChangeArrowheads="1"/>
          </p:cNvSpPr>
          <p:nvPr/>
        </p:nvSpPr>
        <p:spPr bwMode="auto">
          <a:xfrm>
            <a:off x="1387475" y="608013"/>
            <a:ext cx="4784725" cy="94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lIns="93678" tIns="46838" rIns="93678" bIns="46838">
            <a:spAutoFit/>
          </a:bodyPr>
          <a:lstStyle/>
          <a:p>
            <a:pPr defTabSz="819150" eaLnBrk="0" hangingPunct="0">
              <a:defRPr/>
            </a:pPr>
            <a:r>
              <a:rPr lang="en-US" sz="5600">
                <a:latin typeface="Arial Narrow" pitchFamily="34" charset="0"/>
              </a:rPr>
              <a:t>CSMS  Structure</a:t>
            </a:r>
          </a:p>
        </p:txBody>
      </p:sp>
      <p:grpSp>
        <p:nvGrpSpPr>
          <p:cNvPr id="12295" name="Group 9"/>
          <p:cNvGrpSpPr>
            <a:grpSpLocks/>
          </p:cNvGrpSpPr>
          <p:nvPr/>
        </p:nvGrpSpPr>
        <p:grpSpPr bwMode="auto">
          <a:xfrm>
            <a:off x="3259138" y="1839913"/>
            <a:ext cx="3360737" cy="3857625"/>
            <a:chOff x="2356" y="1581"/>
            <a:chExt cx="2566" cy="2482"/>
          </a:xfrm>
        </p:grpSpPr>
        <p:grpSp>
          <p:nvGrpSpPr>
            <p:cNvPr id="12857" name="Group 10"/>
            <p:cNvGrpSpPr>
              <a:grpSpLocks/>
            </p:cNvGrpSpPr>
            <p:nvPr/>
          </p:nvGrpSpPr>
          <p:grpSpPr bwMode="auto">
            <a:xfrm>
              <a:off x="2356" y="1581"/>
              <a:ext cx="2566" cy="2482"/>
              <a:chOff x="1991" y="1131"/>
              <a:chExt cx="2362" cy="2307"/>
            </a:xfrm>
          </p:grpSpPr>
          <p:sp>
            <p:nvSpPr>
              <p:cNvPr id="13090" name="Freeform 11"/>
              <p:cNvSpPr>
                <a:spLocks/>
              </p:cNvSpPr>
              <p:nvPr/>
            </p:nvSpPr>
            <p:spPr bwMode="auto">
              <a:xfrm>
                <a:off x="1991" y="1131"/>
                <a:ext cx="2362" cy="2307"/>
              </a:xfrm>
              <a:custGeom>
                <a:avLst/>
                <a:gdLst>
                  <a:gd name="T0" fmla="*/ 1708 w 2362"/>
                  <a:gd name="T1" fmla="*/ 129 h 2307"/>
                  <a:gd name="T2" fmla="*/ 1860 w 2362"/>
                  <a:gd name="T3" fmla="*/ 221 h 2307"/>
                  <a:gd name="T4" fmla="*/ 1994 w 2362"/>
                  <a:gd name="T5" fmla="*/ 330 h 2307"/>
                  <a:gd name="T6" fmla="*/ 2110 w 2362"/>
                  <a:gd name="T7" fmla="*/ 456 h 2307"/>
                  <a:gd name="T8" fmla="*/ 2205 w 2362"/>
                  <a:gd name="T9" fmla="*/ 596 h 2307"/>
                  <a:gd name="T10" fmla="*/ 2278 w 2362"/>
                  <a:gd name="T11" fmla="*/ 747 h 2307"/>
                  <a:gd name="T12" fmla="*/ 2329 w 2362"/>
                  <a:gd name="T13" fmla="*/ 905 h 2307"/>
                  <a:gd name="T14" fmla="*/ 2358 w 2362"/>
                  <a:gd name="T15" fmla="*/ 1072 h 2307"/>
                  <a:gd name="T16" fmla="*/ 2360 w 2362"/>
                  <a:gd name="T17" fmla="*/ 1239 h 2307"/>
                  <a:gd name="T18" fmla="*/ 2337 w 2362"/>
                  <a:gd name="T19" fmla="*/ 1409 h 2307"/>
                  <a:gd name="T20" fmla="*/ 2286 w 2362"/>
                  <a:gd name="T21" fmla="*/ 1577 h 2307"/>
                  <a:gd name="T22" fmla="*/ 2210 w 2362"/>
                  <a:gd name="T23" fmla="*/ 1735 h 2307"/>
                  <a:gd name="T24" fmla="*/ 2113 w 2362"/>
                  <a:gd name="T25" fmla="*/ 1877 h 2307"/>
                  <a:gd name="T26" fmla="*/ 1997 w 2362"/>
                  <a:gd name="T27" fmla="*/ 2000 h 2307"/>
                  <a:gd name="T28" fmla="*/ 1865 w 2362"/>
                  <a:gd name="T29" fmla="*/ 2105 h 2307"/>
                  <a:gd name="T30" fmla="*/ 1720 w 2362"/>
                  <a:gd name="T31" fmla="*/ 2188 h 2307"/>
                  <a:gd name="T32" fmla="*/ 1564 w 2362"/>
                  <a:gd name="T33" fmla="*/ 2250 h 2307"/>
                  <a:gd name="T34" fmla="*/ 1398 w 2362"/>
                  <a:gd name="T35" fmla="*/ 2290 h 2307"/>
                  <a:gd name="T36" fmla="*/ 1229 w 2362"/>
                  <a:gd name="T37" fmla="*/ 2307 h 2307"/>
                  <a:gd name="T38" fmla="*/ 1054 w 2362"/>
                  <a:gd name="T39" fmla="*/ 2297 h 2307"/>
                  <a:gd name="T40" fmla="*/ 881 w 2362"/>
                  <a:gd name="T41" fmla="*/ 2264 h 2307"/>
                  <a:gd name="T42" fmla="*/ 709 w 2362"/>
                  <a:gd name="T43" fmla="*/ 2202 h 2307"/>
                  <a:gd name="T44" fmla="*/ 552 w 2362"/>
                  <a:gd name="T45" fmla="*/ 2119 h 2307"/>
                  <a:gd name="T46" fmla="*/ 411 w 2362"/>
                  <a:gd name="T47" fmla="*/ 2014 h 2307"/>
                  <a:gd name="T48" fmla="*/ 289 w 2362"/>
                  <a:gd name="T49" fmla="*/ 1894 h 2307"/>
                  <a:gd name="T50" fmla="*/ 187 w 2362"/>
                  <a:gd name="T51" fmla="*/ 1759 h 2307"/>
                  <a:gd name="T52" fmla="*/ 107 w 2362"/>
                  <a:gd name="T53" fmla="*/ 1611 h 2307"/>
                  <a:gd name="T54" fmla="*/ 47 w 2362"/>
                  <a:gd name="T55" fmla="*/ 1455 h 2307"/>
                  <a:gd name="T56" fmla="*/ 11 w 2362"/>
                  <a:gd name="T57" fmla="*/ 1292 h 2307"/>
                  <a:gd name="T58" fmla="*/ 0 w 2362"/>
                  <a:gd name="T59" fmla="*/ 1124 h 2307"/>
                  <a:gd name="T60" fmla="*/ 15 w 2362"/>
                  <a:gd name="T61" fmla="*/ 954 h 2307"/>
                  <a:gd name="T62" fmla="*/ 56 w 2362"/>
                  <a:gd name="T63" fmla="*/ 785 h 2307"/>
                  <a:gd name="T64" fmla="*/ 124 w 2362"/>
                  <a:gd name="T65" fmla="*/ 623 h 2307"/>
                  <a:gd name="T66" fmla="*/ 215 w 2362"/>
                  <a:gd name="T67" fmla="*/ 475 h 2307"/>
                  <a:gd name="T68" fmla="*/ 325 w 2362"/>
                  <a:gd name="T69" fmla="*/ 345 h 2307"/>
                  <a:gd name="T70" fmla="*/ 452 w 2362"/>
                  <a:gd name="T71" fmla="*/ 235 h 2307"/>
                  <a:gd name="T72" fmla="*/ 592 w 2362"/>
                  <a:gd name="T73" fmla="*/ 144 h 2307"/>
                  <a:gd name="T74" fmla="*/ 746 w 2362"/>
                  <a:gd name="T75" fmla="*/ 75 h 2307"/>
                  <a:gd name="T76" fmla="*/ 908 w 2362"/>
                  <a:gd name="T77" fmla="*/ 27 h 2307"/>
                  <a:gd name="T78" fmla="*/ 1077 w 2362"/>
                  <a:gd name="T79" fmla="*/ 3 h 2307"/>
                  <a:gd name="T80" fmla="*/ 1248 w 2362"/>
                  <a:gd name="T81" fmla="*/ 3 h 2307"/>
                  <a:gd name="T82" fmla="*/ 1424 w 2362"/>
                  <a:gd name="T83" fmla="*/ 30 h 2307"/>
                  <a:gd name="T84" fmla="*/ 1597 w 2362"/>
                  <a:gd name="T85" fmla="*/ 81 h 230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62"/>
                  <a:gd name="T130" fmla="*/ 0 h 2307"/>
                  <a:gd name="T131" fmla="*/ 2362 w 2362"/>
                  <a:gd name="T132" fmla="*/ 2307 h 230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62" h="2307">
                    <a:moveTo>
                      <a:pt x="1597" y="81"/>
                    </a:moveTo>
                    <a:lnTo>
                      <a:pt x="1653" y="105"/>
                    </a:lnTo>
                    <a:lnTo>
                      <a:pt x="1708" y="129"/>
                    </a:lnTo>
                    <a:lnTo>
                      <a:pt x="1759" y="158"/>
                    </a:lnTo>
                    <a:lnTo>
                      <a:pt x="1810" y="188"/>
                    </a:lnTo>
                    <a:lnTo>
                      <a:pt x="1860" y="221"/>
                    </a:lnTo>
                    <a:lnTo>
                      <a:pt x="1907" y="257"/>
                    </a:lnTo>
                    <a:lnTo>
                      <a:pt x="1950" y="292"/>
                    </a:lnTo>
                    <a:lnTo>
                      <a:pt x="1994" y="330"/>
                    </a:lnTo>
                    <a:lnTo>
                      <a:pt x="2035" y="371"/>
                    </a:lnTo>
                    <a:lnTo>
                      <a:pt x="2073" y="413"/>
                    </a:lnTo>
                    <a:lnTo>
                      <a:pt x="2110" y="456"/>
                    </a:lnTo>
                    <a:lnTo>
                      <a:pt x="2144" y="501"/>
                    </a:lnTo>
                    <a:lnTo>
                      <a:pt x="2175" y="548"/>
                    </a:lnTo>
                    <a:lnTo>
                      <a:pt x="2205" y="596"/>
                    </a:lnTo>
                    <a:lnTo>
                      <a:pt x="2231" y="644"/>
                    </a:lnTo>
                    <a:lnTo>
                      <a:pt x="2255" y="696"/>
                    </a:lnTo>
                    <a:lnTo>
                      <a:pt x="2278" y="747"/>
                    </a:lnTo>
                    <a:lnTo>
                      <a:pt x="2298" y="798"/>
                    </a:lnTo>
                    <a:lnTo>
                      <a:pt x="2315" y="853"/>
                    </a:lnTo>
                    <a:lnTo>
                      <a:pt x="2329" y="905"/>
                    </a:lnTo>
                    <a:lnTo>
                      <a:pt x="2341" y="961"/>
                    </a:lnTo>
                    <a:lnTo>
                      <a:pt x="2350" y="1016"/>
                    </a:lnTo>
                    <a:lnTo>
                      <a:pt x="2358" y="1072"/>
                    </a:lnTo>
                    <a:lnTo>
                      <a:pt x="2361" y="1126"/>
                    </a:lnTo>
                    <a:lnTo>
                      <a:pt x="2362" y="1183"/>
                    </a:lnTo>
                    <a:lnTo>
                      <a:pt x="2360" y="1239"/>
                    </a:lnTo>
                    <a:lnTo>
                      <a:pt x="2355" y="1296"/>
                    </a:lnTo>
                    <a:lnTo>
                      <a:pt x="2347" y="1353"/>
                    </a:lnTo>
                    <a:lnTo>
                      <a:pt x="2337" y="1409"/>
                    </a:lnTo>
                    <a:lnTo>
                      <a:pt x="2322" y="1466"/>
                    </a:lnTo>
                    <a:lnTo>
                      <a:pt x="2306" y="1521"/>
                    </a:lnTo>
                    <a:lnTo>
                      <a:pt x="2286" y="1577"/>
                    </a:lnTo>
                    <a:lnTo>
                      <a:pt x="2263" y="1632"/>
                    </a:lnTo>
                    <a:lnTo>
                      <a:pt x="2237" y="1684"/>
                    </a:lnTo>
                    <a:lnTo>
                      <a:pt x="2210" y="1735"/>
                    </a:lnTo>
                    <a:lnTo>
                      <a:pt x="2179" y="1784"/>
                    </a:lnTo>
                    <a:lnTo>
                      <a:pt x="2147" y="1832"/>
                    </a:lnTo>
                    <a:lnTo>
                      <a:pt x="2113" y="1877"/>
                    </a:lnTo>
                    <a:lnTo>
                      <a:pt x="2075" y="1920"/>
                    </a:lnTo>
                    <a:lnTo>
                      <a:pt x="2037" y="1962"/>
                    </a:lnTo>
                    <a:lnTo>
                      <a:pt x="1997" y="2000"/>
                    </a:lnTo>
                    <a:lnTo>
                      <a:pt x="1954" y="2037"/>
                    </a:lnTo>
                    <a:lnTo>
                      <a:pt x="1910" y="2072"/>
                    </a:lnTo>
                    <a:lnTo>
                      <a:pt x="1865" y="2105"/>
                    </a:lnTo>
                    <a:lnTo>
                      <a:pt x="1817" y="2134"/>
                    </a:lnTo>
                    <a:lnTo>
                      <a:pt x="1770" y="2162"/>
                    </a:lnTo>
                    <a:lnTo>
                      <a:pt x="1720" y="2188"/>
                    </a:lnTo>
                    <a:lnTo>
                      <a:pt x="1669" y="2211"/>
                    </a:lnTo>
                    <a:lnTo>
                      <a:pt x="1616" y="2232"/>
                    </a:lnTo>
                    <a:lnTo>
                      <a:pt x="1564" y="2250"/>
                    </a:lnTo>
                    <a:lnTo>
                      <a:pt x="1509" y="2266"/>
                    </a:lnTo>
                    <a:lnTo>
                      <a:pt x="1453" y="2279"/>
                    </a:lnTo>
                    <a:lnTo>
                      <a:pt x="1398" y="2290"/>
                    </a:lnTo>
                    <a:lnTo>
                      <a:pt x="1341" y="2298"/>
                    </a:lnTo>
                    <a:lnTo>
                      <a:pt x="1285" y="2303"/>
                    </a:lnTo>
                    <a:lnTo>
                      <a:pt x="1229" y="2307"/>
                    </a:lnTo>
                    <a:lnTo>
                      <a:pt x="1170" y="2307"/>
                    </a:lnTo>
                    <a:lnTo>
                      <a:pt x="1113" y="2303"/>
                    </a:lnTo>
                    <a:lnTo>
                      <a:pt x="1054" y="2297"/>
                    </a:lnTo>
                    <a:lnTo>
                      <a:pt x="996" y="2290"/>
                    </a:lnTo>
                    <a:lnTo>
                      <a:pt x="938" y="2277"/>
                    </a:lnTo>
                    <a:lnTo>
                      <a:pt x="881" y="2264"/>
                    </a:lnTo>
                    <a:lnTo>
                      <a:pt x="823" y="2246"/>
                    </a:lnTo>
                    <a:lnTo>
                      <a:pt x="765" y="2225"/>
                    </a:lnTo>
                    <a:lnTo>
                      <a:pt x="709" y="2202"/>
                    </a:lnTo>
                    <a:lnTo>
                      <a:pt x="654" y="2176"/>
                    </a:lnTo>
                    <a:lnTo>
                      <a:pt x="603" y="2149"/>
                    </a:lnTo>
                    <a:lnTo>
                      <a:pt x="552" y="2119"/>
                    </a:lnTo>
                    <a:lnTo>
                      <a:pt x="502" y="2086"/>
                    </a:lnTo>
                    <a:lnTo>
                      <a:pt x="455" y="2050"/>
                    </a:lnTo>
                    <a:lnTo>
                      <a:pt x="411" y="2014"/>
                    </a:lnTo>
                    <a:lnTo>
                      <a:pt x="368" y="1976"/>
                    </a:lnTo>
                    <a:lnTo>
                      <a:pt x="327" y="1935"/>
                    </a:lnTo>
                    <a:lnTo>
                      <a:pt x="289" y="1894"/>
                    </a:lnTo>
                    <a:lnTo>
                      <a:pt x="252" y="1851"/>
                    </a:lnTo>
                    <a:lnTo>
                      <a:pt x="218" y="1805"/>
                    </a:lnTo>
                    <a:lnTo>
                      <a:pt x="187" y="1759"/>
                    </a:lnTo>
                    <a:lnTo>
                      <a:pt x="157" y="1711"/>
                    </a:lnTo>
                    <a:lnTo>
                      <a:pt x="131" y="1661"/>
                    </a:lnTo>
                    <a:lnTo>
                      <a:pt x="107" y="1611"/>
                    </a:lnTo>
                    <a:lnTo>
                      <a:pt x="84" y="1560"/>
                    </a:lnTo>
                    <a:lnTo>
                      <a:pt x="64" y="1509"/>
                    </a:lnTo>
                    <a:lnTo>
                      <a:pt x="47" y="1455"/>
                    </a:lnTo>
                    <a:lnTo>
                      <a:pt x="33" y="1402"/>
                    </a:lnTo>
                    <a:lnTo>
                      <a:pt x="20" y="1346"/>
                    </a:lnTo>
                    <a:lnTo>
                      <a:pt x="11" y="1292"/>
                    </a:lnTo>
                    <a:lnTo>
                      <a:pt x="4" y="1235"/>
                    </a:lnTo>
                    <a:lnTo>
                      <a:pt x="1" y="1181"/>
                    </a:lnTo>
                    <a:lnTo>
                      <a:pt x="0" y="1124"/>
                    </a:lnTo>
                    <a:lnTo>
                      <a:pt x="2" y="1067"/>
                    </a:lnTo>
                    <a:lnTo>
                      <a:pt x="7" y="1010"/>
                    </a:lnTo>
                    <a:lnTo>
                      <a:pt x="15" y="954"/>
                    </a:lnTo>
                    <a:lnTo>
                      <a:pt x="26" y="898"/>
                    </a:lnTo>
                    <a:lnTo>
                      <a:pt x="40" y="841"/>
                    </a:lnTo>
                    <a:lnTo>
                      <a:pt x="56" y="785"/>
                    </a:lnTo>
                    <a:lnTo>
                      <a:pt x="76" y="730"/>
                    </a:lnTo>
                    <a:lnTo>
                      <a:pt x="98" y="675"/>
                    </a:lnTo>
                    <a:lnTo>
                      <a:pt x="124" y="623"/>
                    </a:lnTo>
                    <a:lnTo>
                      <a:pt x="152" y="572"/>
                    </a:lnTo>
                    <a:lnTo>
                      <a:pt x="182" y="523"/>
                    </a:lnTo>
                    <a:lnTo>
                      <a:pt x="215" y="475"/>
                    </a:lnTo>
                    <a:lnTo>
                      <a:pt x="249" y="430"/>
                    </a:lnTo>
                    <a:lnTo>
                      <a:pt x="287" y="387"/>
                    </a:lnTo>
                    <a:lnTo>
                      <a:pt x="325" y="345"/>
                    </a:lnTo>
                    <a:lnTo>
                      <a:pt x="366" y="307"/>
                    </a:lnTo>
                    <a:lnTo>
                      <a:pt x="407" y="269"/>
                    </a:lnTo>
                    <a:lnTo>
                      <a:pt x="452" y="235"/>
                    </a:lnTo>
                    <a:lnTo>
                      <a:pt x="497" y="203"/>
                    </a:lnTo>
                    <a:lnTo>
                      <a:pt x="545" y="173"/>
                    </a:lnTo>
                    <a:lnTo>
                      <a:pt x="592" y="144"/>
                    </a:lnTo>
                    <a:lnTo>
                      <a:pt x="642" y="119"/>
                    </a:lnTo>
                    <a:lnTo>
                      <a:pt x="694" y="96"/>
                    </a:lnTo>
                    <a:lnTo>
                      <a:pt x="746" y="75"/>
                    </a:lnTo>
                    <a:lnTo>
                      <a:pt x="799" y="57"/>
                    </a:lnTo>
                    <a:lnTo>
                      <a:pt x="853" y="41"/>
                    </a:lnTo>
                    <a:lnTo>
                      <a:pt x="908" y="27"/>
                    </a:lnTo>
                    <a:lnTo>
                      <a:pt x="964" y="17"/>
                    </a:lnTo>
                    <a:lnTo>
                      <a:pt x="1020" y="9"/>
                    </a:lnTo>
                    <a:lnTo>
                      <a:pt x="1077" y="3"/>
                    </a:lnTo>
                    <a:lnTo>
                      <a:pt x="1133" y="0"/>
                    </a:lnTo>
                    <a:lnTo>
                      <a:pt x="1191" y="0"/>
                    </a:lnTo>
                    <a:lnTo>
                      <a:pt x="1248" y="3"/>
                    </a:lnTo>
                    <a:lnTo>
                      <a:pt x="1308" y="9"/>
                    </a:lnTo>
                    <a:lnTo>
                      <a:pt x="1366" y="17"/>
                    </a:lnTo>
                    <a:lnTo>
                      <a:pt x="1424" y="30"/>
                    </a:lnTo>
                    <a:lnTo>
                      <a:pt x="1481" y="43"/>
                    </a:lnTo>
                    <a:lnTo>
                      <a:pt x="1539" y="61"/>
                    </a:lnTo>
                    <a:lnTo>
                      <a:pt x="1597" y="81"/>
                    </a:lnTo>
                    <a:close/>
                  </a:path>
                </a:pathLst>
              </a:custGeom>
              <a:solidFill>
                <a:srgbClr val="CCCC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091" name="Freeform 12"/>
              <p:cNvSpPr>
                <a:spLocks/>
              </p:cNvSpPr>
              <p:nvPr/>
            </p:nvSpPr>
            <p:spPr bwMode="auto">
              <a:xfrm>
                <a:off x="3708" y="3026"/>
                <a:ext cx="153" cy="126"/>
              </a:xfrm>
              <a:custGeom>
                <a:avLst/>
                <a:gdLst>
                  <a:gd name="T0" fmla="*/ 0 w 153"/>
                  <a:gd name="T1" fmla="*/ 59 h 126"/>
                  <a:gd name="T2" fmla="*/ 153 w 153"/>
                  <a:gd name="T3" fmla="*/ 0 h 126"/>
                  <a:gd name="T4" fmla="*/ 60 w 153"/>
                  <a:gd name="T5" fmla="*/ 126 h 126"/>
                  <a:gd name="T6" fmla="*/ 0 w 153"/>
                  <a:gd name="T7" fmla="*/ 59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3"/>
                  <a:gd name="T13" fmla="*/ 0 h 126"/>
                  <a:gd name="T14" fmla="*/ 153 w 15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3" h="126">
                    <a:moveTo>
                      <a:pt x="0" y="59"/>
                    </a:moveTo>
                    <a:lnTo>
                      <a:pt x="153" y="0"/>
                    </a:lnTo>
                    <a:lnTo>
                      <a:pt x="60" y="126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092" name="Freeform 13"/>
              <p:cNvSpPr>
                <a:spLocks/>
              </p:cNvSpPr>
              <p:nvPr/>
            </p:nvSpPr>
            <p:spPr bwMode="auto">
              <a:xfrm>
                <a:off x="3707" y="3010"/>
                <a:ext cx="176" cy="83"/>
              </a:xfrm>
              <a:custGeom>
                <a:avLst/>
                <a:gdLst>
                  <a:gd name="T0" fmla="*/ 146 w 176"/>
                  <a:gd name="T1" fmla="*/ 15 h 83"/>
                  <a:gd name="T2" fmla="*/ 155 w 176"/>
                  <a:gd name="T3" fmla="*/ 24 h 83"/>
                  <a:gd name="T4" fmla="*/ 2 w 176"/>
                  <a:gd name="T5" fmla="*/ 83 h 83"/>
                  <a:gd name="T6" fmla="*/ 0 w 176"/>
                  <a:gd name="T7" fmla="*/ 68 h 83"/>
                  <a:gd name="T8" fmla="*/ 153 w 176"/>
                  <a:gd name="T9" fmla="*/ 9 h 83"/>
                  <a:gd name="T10" fmla="*/ 161 w 176"/>
                  <a:gd name="T11" fmla="*/ 20 h 83"/>
                  <a:gd name="T12" fmla="*/ 153 w 176"/>
                  <a:gd name="T13" fmla="*/ 9 h 83"/>
                  <a:gd name="T14" fmla="*/ 176 w 176"/>
                  <a:gd name="T15" fmla="*/ 0 h 83"/>
                  <a:gd name="T16" fmla="*/ 161 w 176"/>
                  <a:gd name="T17" fmla="*/ 20 h 83"/>
                  <a:gd name="T18" fmla="*/ 146 w 176"/>
                  <a:gd name="T19" fmla="*/ 15 h 8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6"/>
                  <a:gd name="T31" fmla="*/ 0 h 83"/>
                  <a:gd name="T32" fmla="*/ 176 w 176"/>
                  <a:gd name="T33" fmla="*/ 83 h 8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6" h="83">
                    <a:moveTo>
                      <a:pt x="146" y="15"/>
                    </a:moveTo>
                    <a:lnTo>
                      <a:pt x="155" y="24"/>
                    </a:lnTo>
                    <a:lnTo>
                      <a:pt x="2" y="83"/>
                    </a:lnTo>
                    <a:lnTo>
                      <a:pt x="0" y="68"/>
                    </a:lnTo>
                    <a:lnTo>
                      <a:pt x="153" y="9"/>
                    </a:lnTo>
                    <a:lnTo>
                      <a:pt x="161" y="20"/>
                    </a:lnTo>
                    <a:lnTo>
                      <a:pt x="153" y="9"/>
                    </a:lnTo>
                    <a:lnTo>
                      <a:pt x="176" y="0"/>
                    </a:lnTo>
                    <a:lnTo>
                      <a:pt x="161" y="20"/>
                    </a:lnTo>
                    <a:lnTo>
                      <a:pt x="146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093" name="Freeform 14"/>
              <p:cNvSpPr>
                <a:spLocks/>
              </p:cNvSpPr>
              <p:nvPr/>
            </p:nvSpPr>
            <p:spPr bwMode="auto">
              <a:xfrm>
                <a:off x="3760" y="3024"/>
                <a:ext cx="108" cy="142"/>
              </a:xfrm>
              <a:custGeom>
                <a:avLst/>
                <a:gdLst>
                  <a:gd name="T0" fmla="*/ 17 w 108"/>
                  <a:gd name="T1" fmla="*/ 122 h 142"/>
                  <a:gd name="T2" fmla="*/ 1 w 108"/>
                  <a:gd name="T3" fmla="*/ 126 h 142"/>
                  <a:gd name="T4" fmla="*/ 92 w 108"/>
                  <a:gd name="T5" fmla="*/ 0 h 142"/>
                  <a:gd name="T6" fmla="*/ 108 w 108"/>
                  <a:gd name="T7" fmla="*/ 6 h 142"/>
                  <a:gd name="T8" fmla="*/ 16 w 108"/>
                  <a:gd name="T9" fmla="*/ 132 h 142"/>
                  <a:gd name="T10" fmla="*/ 0 w 108"/>
                  <a:gd name="T11" fmla="*/ 134 h 142"/>
                  <a:gd name="T12" fmla="*/ 16 w 108"/>
                  <a:gd name="T13" fmla="*/ 132 h 142"/>
                  <a:gd name="T14" fmla="*/ 7 w 108"/>
                  <a:gd name="T15" fmla="*/ 142 h 142"/>
                  <a:gd name="T16" fmla="*/ 0 w 108"/>
                  <a:gd name="T17" fmla="*/ 134 h 142"/>
                  <a:gd name="T18" fmla="*/ 17 w 108"/>
                  <a:gd name="T19" fmla="*/ 122 h 1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8"/>
                  <a:gd name="T31" fmla="*/ 0 h 142"/>
                  <a:gd name="T32" fmla="*/ 108 w 108"/>
                  <a:gd name="T33" fmla="*/ 142 h 1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8" h="142">
                    <a:moveTo>
                      <a:pt x="17" y="122"/>
                    </a:moveTo>
                    <a:lnTo>
                      <a:pt x="1" y="126"/>
                    </a:lnTo>
                    <a:lnTo>
                      <a:pt x="92" y="0"/>
                    </a:lnTo>
                    <a:lnTo>
                      <a:pt x="108" y="6"/>
                    </a:lnTo>
                    <a:lnTo>
                      <a:pt x="16" y="132"/>
                    </a:lnTo>
                    <a:lnTo>
                      <a:pt x="0" y="134"/>
                    </a:lnTo>
                    <a:lnTo>
                      <a:pt x="16" y="132"/>
                    </a:lnTo>
                    <a:lnTo>
                      <a:pt x="7" y="142"/>
                    </a:lnTo>
                    <a:lnTo>
                      <a:pt x="0" y="134"/>
                    </a:lnTo>
                    <a:lnTo>
                      <a:pt x="17" y="1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094" name="Freeform 15"/>
              <p:cNvSpPr>
                <a:spLocks/>
              </p:cNvSpPr>
              <p:nvPr/>
            </p:nvSpPr>
            <p:spPr bwMode="auto">
              <a:xfrm>
                <a:off x="3691" y="3077"/>
                <a:ext cx="86" cy="81"/>
              </a:xfrm>
              <a:custGeom>
                <a:avLst/>
                <a:gdLst>
                  <a:gd name="T0" fmla="*/ 17 w 86"/>
                  <a:gd name="T1" fmla="*/ 16 h 81"/>
                  <a:gd name="T2" fmla="*/ 25 w 86"/>
                  <a:gd name="T3" fmla="*/ 1 h 81"/>
                  <a:gd name="T4" fmla="*/ 86 w 86"/>
                  <a:gd name="T5" fmla="*/ 68 h 81"/>
                  <a:gd name="T6" fmla="*/ 69 w 86"/>
                  <a:gd name="T7" fmla="*/ 81 h 81"/>
                  <a:gd name="T8" fmla="*/ 7 w 86"/>
                  <a:gd name="T9" fmla="*/ 13 h 81"/>
                  <a:gd name="T10" fmla="*/ 15 w 86"/>
                  <a:gd name="T11" fmla="*/ 0 h 81"/>
                  <a:gd name="T12" fmla="*/ 7 w 86"/>
                  <a:gd name="T13" fmla="*/ 13 h 81"/>
                  <a:gd name="T14" fmla="*/ 0 w 86"/>
                  <a:gd name="T15" fmla="*/ 5 h 81"/>
                  <a:gd name="T16" fmla="*/ 15 w 86"/>
                  <a:gd name="T17" fmla="*/ 0 h 81"/>
                  <a:gd name="T18" fmla="*/ 17 w 86"/>
                  <a:gd name="T19" fmla="*/ 16 h 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6"/>
                  <a:gd name="T31" fmla="*/ 0 h 81"/>
                  <a:gd name="T32" fmla="*/ 86 w 86"/>
                  <a:gd name="T33" fmla="*/ 81 h 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6" h="81">
                    <a:moveTo>
                      <a:pt x="17" y="16"/>
                    </a:moveTo>
                    <a:lnTo>
                      <a:pt x="25" y="1"/>
                    </a:lnTo>
                    <a:lnTo>
                      <a:pt x="86" y="68"/>
                    </a:lnTo>
                    <a:lnTo>
                      <a:pt x="69" y="81"/>
                    </a:lnTo>
                    <a:lnTo>
                      <a:pt x="7" y="13"/>
                    </a:lnTo>
                    <a:lnTo>
                      <a:pt x="15" y="0"/>
                    </a:lnTo>
                    <a:lnTo>
                      <a:pt x="7" y="13"/>
                    </a:lnTo>
                    <a:lnTo>
                      <a:pt x="0" y="5"/>
                    </a:lnTo>
                    <a:lnTo>
                      <a:pt x="15" y="0"/>
                    </a:lnTo>
                    <a:lnTo>
                      <a:pt x="17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095" name="Freeform 16"/>
              <p:cNvSpPr>
                <a:spLocks/>
              </p:cNvSpPr>
              <p:nvPr/>
            </p:nvSpPr>
            <p:spPr bwMode="auto">
              <a:xfrm>
                <a:off x="3807" y="3037"/>
                <a:ext cx="39" cy="37"/>
              </a:xfrm>
              <a:custGeom>
                <a:avLst/>
                <a:gdLst>
                  <a:gd name="T0" fmla="*/ 0 w 39"/>
                  <a:gd name="T1" fmla="*/ 14 h 37"/>
                  <a:gd name="T2" fmla="*/ 17 w 39"/>
                  <a:gd name="T3" fmla="*/ 0 h 37"/>
                  <a:gd name="T4" fmla="*/ 39 w 39"/>
                  <a:gd name="T5" fmla="*/ 24 h 37"/>
                  <a:gd name="T6" fmla="*/ 22 w 39"/>
                  <a:gd name="T7" fmla="*/ 37 h 37"/>
                  <a:gd name="T8" fmla="*/ 0 w 39"/>
                  <a:gd name="T9" fmla="*/ 14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9"/>
                  <a:gd name="T16" fmla="*/ 0 h 37"/>
                  <a:gd name="T17" fmla="*/ 39 w 39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9" h="37">
                    <a:moveTo>
                      <a:pt x="0" y="14"/>
                    </a:moveTo>
                    <a:lnTo>
                      <a:pt x="17" y="0"/>
                    </a:lnTo>
                    <a:lnTo>
                      <a:pt x="39" y="24"/>
                    </a:lnTo>
                    <a:lnTo>
                      <a:pt x="22" y="37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096" name="Freeform 17"/>
              <p:cNvSpPr>
                <a:spLocks/>
              </p:cNvSpPr>
              <p:nvPr/>
            </p:nvSpPr>
            <p:spPr bwMode="auto">
              <a:xfrm>
                <a:off x="3611" y="3052"/>
                <a:ext cx="215" cy="153"/>
              </a:xfrm>
              <a:custGeom>
                <a:avLst/>
                <a:gdLst>
                  <a:gd name="T0" fmla="*/ 0 w 215"/>
                  <a:gd name="T1" fmla="*/ 124 h 153"/>
                  <a:gd name="T2" fmla="*/ 0 w 215"/>
                  <a:gd name="T3" fmla="*/ 124 h 153"/>
                  <a:gd name="T4" fmla="*/ 53 w 215"/>
                  <a:gd name="T5" fmla="*/ 95 h 153"/>
                  <a:gd name="T6" fmla="*/ 101 w 215"/>
                  <a:gd name="T7" fmla="*/ 66 h 153"/>
                  <a:gd name="T8" fmla="*/ 149 w 215"/>
                  <a:gd name="T9" fmla="*/ 33 h 153"/>
                  <a:gd name="T10" fmla="*/ 193 w 215"/>
                  <a:gd name="T11" fmla="*/ 0 h 153"/>
                  <a:gd name="T12" fmla="*/ 215 w 215"/>
                  <a:gd name="T13" fmla="*/ 22 h 153"/>
                  <a:gd name="T14" fmla="*/ 168 w 215"/>
                  <a:gd name="T15" fmla="*/ 59 h 153"/>
                  <a:gd name="T16" fmla="*/ 119 w 215"/>
                  <a:gd name="T17" fmla="*/ 92 h 153"/>
                  <a:gd name="T18" fmla="*/ 66 w 215"/>
                  <a:gd name="T19" fmla="*/ 124 h 153"/>
                  <a:gd name="T20" fmla="*/ 11 w 215"/>
                  <a:gd name="T21" fmla="*/ 153 h 153"/>
                  <a:gd name="T22" fmla="*/ 0 w 215"/>
                  <a:gd name="T23" fmla="*/ 124 h 15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5"/>
                  <a:gd name="T37" fmla="*/ 0 h 153"/>
                  <a:gd name="T38" fmla="*/ 215 w 215"/>
                  <a:gd name="T39" fmla="*/ 153 h 15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5" h="153">
                    <a:moveTo>
                      <a:pt x="0" y="124"/>
                    </a:moveTo>
                    <a:lnTo>
                      <a:pt x="0" y="124"/>
                    </a:lnTo>
                    <a:lnTo>
                      <a:pt x="53" y="95"/>
                    </a:lnTo>
                    <a:lnTo>
                      <a:pt x="101" y="66"/>
                    </a:lnTo>
                    <a:lnTo>
                      <a:pt x="149" y="33"/>
                    </a:lnTo>
                    <a:lnTo>
                      <a:pt x="193" y="0"/>
                    </a:lnTo>
                    <a:lnTo>
                      <a:pt x="215" y="22"/>
                    </a:lnTo>
                    <a:lnTo>
                      <a:pt x="168" y="59"/>
                    </a:lnTo>
                    <a:lnTo>
                      <a:pt x="119" y="92"/>
                    </a:lnTo>
                    <a:lnTo>
                      <a:pt x="66" y="124"/>
                    </a:lnTo>
                    <a:lnTo>
                      <a:pt x="11" y="153"/>
                    </a:lnTo>
                    <a:lnTo>
                      <a:pt x="0" y="12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097" name="Freeform 18"/>
              <p:cNvSpPr>
                <a:spLocks/>
              </p:cNvSpPr>
              <p:nvPr/>
            </p:nvSpPr>
            <p:spPr bwMode="auto">
              <a:xfrm>
                <a:off x="3423" y="3174"/>
                <a:ext cx="197" cy="103"/>
              </a:xfrm>
              <a:custGeom>
                <a:avLst/>
                <a:gdLst>
                  <a:gd name="T0" fmla="*/ 1 w 197"/>
                  <a:gd name="T1" fmla="*/ 68 h 103"/>
                  <a:gd name="T2" fmla="*/ 24 w 197"/>
                  <a:gd name="T3" fmla="*/ 62 h 103"/>
                  <a:gd name="T4" fmla="*/ 47 w 197"/>
                  <a:gd name="T5" fmla="*/ 56 h 103"/>
                  <a:gd name="T6" fmla="*/ 70 w 197"/>
                  <a:gd name="T7" fmla="*/ 49 h 103"/>
                  <a:gd name="T8" fmla="*/ 93 w 197"/>
                  <a:gd name="T9" fmla="*/ 39 h 103"/>
                  <a:gd name="T10" fmla="*/ 116 w 197"/>
                  <a:gd name="T11" fmla="*/ 30 h 103"/>
                  <a:gd name="T12" fmla="*/ 140 w 197"/>
                  <a:gd name="T13" fmla="*/ 21 h 103"/>
                  <a:gd name="T14" fmla="*/ 163 w 197"/>
                  <a:gd name="T15" fmla="*/ 12 h 103"/>
                  <a:gd name="T16" fmla="*/ 185 w 197"/>
                  <a:gd name="T17" fmla="*/ 0 h 103"/>
                  <a:gd name="T18" fmla="*/ 197 w 197"/>
                  <a:gd name="T19" fmla="*/ 30 h 103"/>
                  <a:gd name="T20" fmla="*/ 173 w 197"/>
                  <a:gd name="T21" fmla="*/ 41 h 103"/>
                  <a:gd name="T22" fmla="*/ 148 w 197"/>
                  <a:gd name="T23" fmla="*/ 52 h 103"/>
                  <a:gd name="T24" fmla="*/ 123 w 197"/>
                  <a:gd name="T25" fmla="*/ 63 h 103"/>
                  <a:gd name="T26" fmla="*/ 99 w 197"/>
                  <a:gd name="T27" fmla="*/ 74 h 103"/>
                  <a:gd name="T28" fmla="*/ 74 w 197"/>
                  <a:gd name="T29" fmla="*/ 81 h 103"/>
                  <a:gd name="T30" fmla="*/ 50 w 197"/>
                  <a:gd name="T31" fmla="*/ 90 h 103"/>
                  <a:gd name="T32" fmla="*/ 26 w 197"/>
                  <a:gd name="T33" fmla="*/ 97 h 103"/>
                  <a:gd name="T34" fmla="*/ 0 w 197"/>
                  <a:gd name="T35" fmla="*/ 103 h 103"/>
                  <a:gd name="T36" fmla="*/ 1 w 197"/>
                  <a:gd name="T37" fmla="*/ 68 h 1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7"/>
                  <a:gd name="T58" fmla="*/ 0 h 103"/>
                  <a:gd name="T59" fmla="*/ 197 w 197"/>
                  <a:gd name="T60" fmla="*/ 103 h 1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7" h="103">
                    <a:moveTo>
                      <a:pt x="1" y="68"/>
                    </a:moveTo>
                    <a:lnTo>
                      <a:pt x="24" y="62"/>
                    </a:lnTo>
                    <a:lnTo>
                      <a:pt x="47" y="56"/>
                    </a:lnTo>
                    <a:lnTo>
                      <a:pt x="70" y="49"/>
                    </a:lnTo>
                    <a:lnTo>
                      <a:pt x="93" y="39"/>
                    </a:lnTo>
                    <a:lnTo>
                      <a:pt x="116" y="30"/>
                    </a:lnTo>
                    <a:lnTo>
                      <a:pt x="140" y="21"/>
                    </a:lnTo>
                    <a:lnTo>
                      <a:pt x="163" y="12"/>
                    </a:lnTo>
                    <a:lnTo>
                      <a:pt x="185" y="0"/>
                    </a:lnTo>
                    <a:lnTo>
                      <a:pt x="197" y="30"/>
                    </a:lnTo>
                    <a:lnTo>
                      <a:pt x="173" y="41"/>
                    </a:lnTo>
                    <a:lnTo>
                      <a:pt x="148" y="52"/>
                    </a:lnTo>
                    <a:lnTo>
                      <a:pt x="123" y="63"/>
                    </a:lnTo>
                    <a:lnTo>
                      <a:pt x="99" y="74"/>
                    </a:lnTo>
                    <a:lnTo>
                      <a:pt x="74" y="81"/>
                    </a:lnTo>
                    <a:lnTo>
                      <a:pt x="50" y="90"/>
                    </a:lnTo>
                    <a:lnTo>
                      <a:pt x="26" y="97"/>
                    </a:lnTo>
                    <a:lnTo>
                      <a:pt x="0" y="103"/>
                    </a:lnTo>
                    <a:lnTo>
                      <a:pt x="1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098" name="Freeform 19"/>
              <p:cNvSpPr>
                <a:spLocks/>
              </p:cNvSpPr>
              <p:nvPr/>
            </p:nvSpPr>
            <p:spPr bwMode="auto">
              <a:xfrm>
                <a:off x="3402" y="3241"/>
                <a:ext cx="22" cy="40"/>
              </a:xfrm>
              <a:custGeom>
                <a:avLst/>
                <a:gdLst>
                  <a:gd name="T0" fmla="*/ 21 w 22"/>
                  <a:gd name="T1" fmla="*/ 34 h 40"/>
                  <a:gd name="T2" fmla="*/ 0 w 22"/>
                  <a:gd name="T3" fmla="*/ 40 h 40"/>
                  <a:gd name="T4" fmla="*/ 1 w 22"/>
                  <a:gd name="T5" fmla="*/ 7 h 40"/>
                  <a:gd name="T6" fmla="*/ 22 w 22"/>
                  <a:gd name="T7" fmla="*/ 0 h 40"/>
                  <a:gd name="T8" fmla="*/ 21 w 22"/>
                  <a:gd name="T9" fmla="*/ 34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40"/>
                  <a:gd name="T17" fmla="*/ 22 w 22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40">
                    <a:moveTo>
                      <a:pt x="21" y="34"/>
                    </a:moveTo>
                    <a:lnTo>
                      <a:pt x="0" y="40"/>
                    </a:lnTo>
                    <a:lnTo>
                      <a:pt x="1" y="7"/>
                    </a:lnTo>
                    <a:lnTo>
                      <a:pt x="22" y="0"/>
                    </a:lnTo>
                    <a:lnTo>
                      <a:pt x="21" y="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099" name="Freeform 20"/>
              <p:cNvSpPr>
                <a:spLocks/>
              </p:cNvSpPr>
              <p:nvPr/>
            </p:nvSpPr>
            <p:spPr bwMode="auto">
              <a:xfrm>
                <a:off x="3708" y="3026"/>
                <a:ext cx="153" cy="126"/>
              </a:xfrm>
              <a:custGeom>
                <a:avLst/>
                <a:gdLst>
                  <a:gd name="T0" fmla="*/ 0 w 153"/>
                  <a:gd name="T1" fmla="*/ 59 h 126"/>
                  <a:gd name="T2" fmla="*/ 153 w 153"/>
                  <a:gd name="T3" fmla="*/ 0 h 126"/>
                  <a:gd name="T4" fmla="*/ 60 w 153"/>
                  <a:gd name="T5" fmla="*/ 126 h 126"/>
                  <a:gd name="T6" fmla="*/ 0 w 153"/>
                  <a:gd name="T7" fmla="*/ 59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3"/>
                  <a:gd name="T13" fmla="*/ 0 h 126"/>
                  <a:gd name="T14" fmla="*/ 153 w 15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3" h="126">
                    <a:moveTo>
                      <a:pt x="0" y="59"/>
                    </a:moveTo>
                    <a:lnTo>
                      <a:pt x="153" y="0"/>
                    </a:lnTo>
                    <a:lnTo>
                      <a:pt x="60" y="126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00" name="Freeform 21"/>
              <p:cNvSpPr>
                <a:spLocks/>
              </p:cNvSpPr>
              <p:nvPr/>
            </p:nvSpPr>
            <p:spPr bwMode="auto">
              <a:xfrm>
                <a:off x="3706" y="3018"/>
                <a:ext cx="167" cy="72"/>
              </a:xfrm>
              <a:custGeom>
                <a:avLst/>
                <a:gdLst>
                  <a:gd name="T0" fmla="*/ 150 w 167"/>
                  <a:gd name="T1" fmla="*/ 8 h 72"/>
                  <a:gd name="T2" fmla="*/ 154 w 167"/>
                  <a:gd name="T3" fmla="*/ 15 h 72"/>
                  <a:gd name="T4" fmla="*/ 1 w 167"/>
                  <a:gd name="T5" fmla="*/ 72 h 72"/>
                  <a:gd name="T6" fmla="*/ 0 w 167"/>
                  <a:gd name="T7" fmla="*/ 64 h 72"/>
                  <a:gd name="T8" fmla="*/ 153 w 167"/>
                  <a:gd name="T9" fmla="*/ 5 h 72"/>
                  <a:gd name="T10" fmla="*/ 158 w 167"/>
                  <a:gd name="T11" fmla="*/ 11 h 72"/>
                  <a:gd name="T12" fmla="*/ 153 w 167"/>
                  <a:gd name="T13" fmla="*/ 5 h 72"/>
                  <a:gd name="T14" fmla="*/ 167 w 167"/>
                  <a:gd name="T15" fmla="*/ 0 h 72"/>
                  <a:gd name="T16" fmla="*/ 158 w 167"/>
                  <a:gd name="T17" fmla="*/ 11 h 72"/>
                  <a:gd name="T18" fmla="*/ 150 w 167"/>
                  <a:gd name="T19" fmla="*/ 8 h 7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7"/>
                  <a:gd name="T31" fmla="*/ 0 h 72"/>
                  <a:gd name="T32" fmla="*/ 167 w 167"/>
                  <a:gd name="T33" fmla="*/ 72 h 7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7" h="72">
                    <a:moveTo>
                      <a:pt x="150" y="8"/>
                    </a:moveTo>
                    <a:lnTo>
                      <a:pt x="154" y="15"/>
                    </a:lnTo>
                    <a:lnTo>
                      <a:pt x="1" y="72"/>
                    </a:lnTo>
                    <a:lnTo>
                      <a:pt x="0" y="64"/>
                    </a:lnTo>
                    <a:lnTo>
                      <a:pt x="153" y="5"/>
                    </a:lnTo>
                    <a:lnTo>
                      <a:pt x="158" y="11"/>
                    </a:lnTo>
                    <a:lnTo>
                      <a:pt x="153" y="5"/>
                    </a:lnTo>
                    <a:lnTo>
                      <a:pt x="167" y="0"/>
                    </a:lnTo>
                    <a:lnTo>
                      <a:pt x="158" y="11"/>
                    </a:lnTo>
                    <a:lnTo>
                      <a:pt x="150" y="8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01" name="Freeform 22"/>
              <p:cNvSpPr>
                <a:spLocks/>
              </p:cNvSpPr>
              <p:nvPr/>
            </p:nvSpPr>
            <p:spPr bwMode="auto">
              <a:xfrm>
                <a:off x="3764" y="3024"/>
                <a:ext cx="102" cy="136"/>
              </a:xfrm>
              <a:custGeom>
                <a:avLst/>
                <a:gdLst>
                  <a:gd name="T0" fmla="*/ 10 w 102"/>
                  <a:gd name="T1" fmla="*/ 123 h 136"/>
                  <a:gd name="T2" fmla="*/ 1 w 102"/>
                  <a:gd name="T3" fmla="*/ 125 h 136"/>
                  <a:gd name="T4" fmla="*/ 93 w 102"/>
                  <a:gd name="T5" fmla="*/ 0 h 136"/>
                  <a:gd name="T6" fmla="*/ 102 w 102"/>
                  <a:gd name="T7" fmla="*/ 3 h 136"/>
                  <a:gd name="T8" fmla="*/ 9 w 102"/>
                  <a:gd name="T9" fmla="*/ 130 h 136"/>
                  <a:gd name="T10" fmla="*/ 0 w 102"/>
                  <a:gd name="T11" fmla="*/ 132 h 136"/>
                  <a:gd name="T12" fmla="*/ 9 w 102"/>
                  <a:gd name="T13" fmla="*/ 130 h 136"/>
                  <a:gd name="T14" fmla="*/ 4 w 102"/>
                  <a:gd name="T15" fmla="*/ 136 h 136"/>
                  <a:gd name="T16" fmla="*/ 0 w 102"/>
                  <a:gd name="T17" fmla="*/ 132 h 136"/>
                  <a:gd name="T18" fmla="*/ 10 w 102"/>
                  <a:gd name="T19" fmla="*/ 123 h 1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2"/>
                  <a:gd name="T31" fmla="*/ 0 h 136"/>
                  <a:gd name="T32" fmla="*/ 102 w 102"/>
                  <a:gd name="T33" fmla="*/ 136 h 1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2" h="136">
                    <a:moveTo>
                      <a:pt x="10" y="123"/>
                    </a:moveTo>
                    <a:lnTo>
                      <a:pt x="1" y="125"/>
                    </a:lnTo>
                    <a:lnTo>
                      <a:pt x="93" y="0"/>
                    </a:lnTo>
                    <a:lnTo>
                      <a:pt x="102" y="3"/>
                    </a:lnTo>
                    <a:lnTo>
                      <a:pt x="9" y="130"/>
                    </a:lnTo>
                    <a:lnTo>
                      <a:pt x="0" y="132"/>
                    </a:lnTo>
                    <a:lnTo>
                      <a:pt x="9" y="130"/>
                    </a:lnTo>
                    <a:lnTo>
                      <a:pt x="4" y="136"/>
                    </a:lnTo>
                    <a:lnTo>
                      <a:pt x="0" y="132"/>
                    </a:lnTo>
                    <a:lnTo>
                      <a:pt x="10" y="123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02" name="Freeform 23"/>
              <p:cNvSpPr>
                <a:spLocks/>
              </p:cNvSpPr>
              <p:nvPr/>
            </p:nvSpPr>
            <p:spPr bwMode="auto">
              <a:xfrm>
                <a:off x="3700" y="3080"/>
                <a:ext cx="71" cy="77"/>
              </a:xfrm>
              <a:custGeom>
                <a:avLst/>
                <a:gdLst>
                  <a:gd name="T0" fmla="*/ 8 w 71"/>
                  <a:gd name="T1" fmla="*/ 8 h 77"/>
                  <a:gd name="T2" fmla="*/ 13 w 71"/>
                  <a:gd name="T3" fmla="*/ 1 h 77"/>
                  <a:gd name="T4" fmla="*/ 71 w 71"/>
                  <a:gd name="T5" fmla="*/ 70 h 77"/>
                  <a:gd name="T6" fmla="*/ 63 w 71"/>
                  <a:gd name="T7" fmla="*/ 77 h 77"/>
                  <a:gd name="T8" fmla="*/ 3 w 71"/>
                  <a:gd name="T9" fmla="*/ 8 h 77"/>
                  <a:gd name="T10" fmla="*/ 6 w 71"/>
                  <a:gd name="T11" fmla="*/ 0 h 77"/>
                  <a:gd name="T12" fmla="*/ 3 w 71"/>
                  <a:gd name="T13" fmla="*/ 8 h 77"/>
                  <a:gd name="T14" fmla="*/ 0 w 71"/>
                  <a:gd name="T15" fmla="*/ 3 h 77"/>
                  <a:gd name="T16" fmla="*/ 6 w 71"/>
                  <a:gd name="T17" fmla="*/ 0 h 77"/>
                  <a:gd name="T18" fmla="*/ 8 w 71"/>
                  <a:gd name="T19" fmla="*/ 8 h 7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1"/>
                  <a:gd name="T31" fmla="*/ 0 h 77"/>
                  <a:gd name="T32" fmla="*/ 71 w 71"/>
                  <a:gd name="T33" fmla="*/ 77 h 7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1" h="77">
                    <a:moveTo>
                      <a:pt x="8" y="8"/>
                    </a:moveTo>
                    <a:lnTo>
                      <a:pt x="13" y="1"/>
                    </a:lnTo>
                    <a:lnTo>
                      <a:pt x="71" y="70"/>
                    </a:lnTo>
                    <a:lnTo>
                      <a:pt x="63" y="77"/>
                    </a:lnTo>
                    <a:lnTo>
                      <a:pt x="3" y="8"/>
                    </a:lnTo>
                    <a:lnTo>
                      <a:pt x="6" y="0"/>
                    </a:lnTo>
                    <a:lnTo>
                      <a:pt x="3" y="8"/>
                    </a:lnTo>
                    <a:lnTo>
                      <a:pt x="0" y="3"/>
                    </a:lnTo>
                    <a:lnTo>
                      <a:pt x="6" y="0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03" name="Freeform 24"/>
              <p:cNvSpPr>
                <a:spLocks/>
              </p:cNvSpPr>
              <p:nvPr/>
            </p:nvSpPr>
            <p:spPr bwMode="auto">
              <a:xfrm>
                <a:off x="3808" y="3039"/>
                <a:ext cx="34" cy="32"/>
              </a:xfrm>
              <a:custGeom>
                <a:avLst/>
                <a:gdLst>
                  <a:gd name="T0" fmla="*/ 0 w 34"/>
                  <a:gd name="T1" fmla="*/ 13 h 32"/>
                  <a:gd name="T2" fmla="*/ 16 w 34"/>
                  <a:gd name="T3" fmla="*/ 0 h 32"/>
                  <a:gd name="T4" fmla="*/ 34 w 34"/>
                  <a:gd name="T5" fmla="*/ 21 h 32"/>
                  <a:gd name="T6" fmla="*/ 18 w 34"/>
                  <a:gd name="T7" fmla="*/ 32 h 32"/>
                  <a:gd name="T8" fmla="*/ 0 w 34"/>
                  <a:gd name="T9" fmla="*/ 13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32"/>
                  <a:gd name="T17" fmla="*/ 34 w 34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32">
                    <a:moveTo>
                      <a:pt x="0" y="13"/>
                    </a:moveTo>
                    <a:lnTo>
                      <a:pt x="16" y="0"/>
                    </a:lnTo>
                    <a:lnTo>
                      <a:pt x="34" y="21"/>
                    </a:lnTo>
                    <a:lnTo>
                      <a:pt x="18" y="32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04" name="Freeform 25"/>
              <p:cNvSpPr>
                <a:spLocks/>
              </p:cNvSpPr>
              <p:nvPr/>
            </p:nvSpPr>
            <p:spPr bwMode="auto">
              <a:xfrm>
                <a:off x="3612" y="3053"/>
                <a:ext cx="213" cy="151"/>
              </a:xfrm>
              <a:custGeom>
                <a:avLst/>
                <a:gdLst>
                  <a:gd name="T0" fmla="*/ 0 w 213"/>
                  <a:gd name="T1" fmla="*/ 125 h 151"/>
                  <a:gd name="T2" fmla="*/ 0 w 213"/>
                  <a:gd name="T3" fmla="*/ 125 h 151"/>
                  <a:gd name="T4" fmla="*/ 52 w 213"/>
                  <a:gd name="T5" fmla="*/ 97 h 151"/>
                  <a:gd name="T6" fmla="*/ 102 w 213"/>
                  <a:gd name="T7" fmla="*/ 67 h 151"/>
                  <a:gd name="T8" fmla="*/ 149 w 213"/>
                  <a:gd name="T9" fmla="*/ 35 h 151"/>
                  <a:gd name="T10" fmla="*/ 194 w 213"/>
                  <a:gd name="T11" fmla="*/ 0 h 151"/>
                  <a:gd name="T12" fmla="*/ 213 w 213"/>
                  <a:gd name="T13" fmla="*/ 19 h 151"/>
                  <a:gd name="T14" fmla="*/ 165 w 213"/>
                  <a:gd name="T15" fmla="*/ 57 h 151"/>
                  <a:gd name="T16" fmla="*/ 117 w 213"/>
                  <a:gd name="T17" fmla="*/ 90 h 151"/>
                  <a:gd name="T18" fmla="*/ 64 w 213"/>
                  <a:gd name="T19" fmla="*/ 121 h 151"/>
                  <a:gd name="T20" fmla="*/ 9 w 213"/>
                  <a:gd name="T21" fmla="*/ 151 h 151"/>
                  <a:gd name="T22" fmla="*/ 0 w 213"/>
                  <a:gd name="T23" fmla="*/ 125 h 15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3"/>
                  <a:gd name="T37" fmla="*/ 0 h 151"/>
                  <a:gd name="T38" fmla="*/ 213 w 213"/>
                  <a:gd name="T39" fmla="*/ 151 h 15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3" h="151">
                    <a:moveTo>
                      <a:pt x="0" y="125"/>
                    </a:moveTo>
                    <a:lnTo>
                      <a:pt x="0" y="125"/>
                    </a:lnTo>
                    <a:lnTo>
                      <a:pt x="52" y="97"/>
                    </a:lnTo>
                    <a:lnTo>
                      <a:pt x="102" y="67"/>
                    </a:lnTo>
                    <a:lnTo>
                      <a:pt x="149" y="35"/>
                    </a:lnTo>
                    <a:lnTo>
                      <a:pt x="194" y="0"/>
                    </a:lnTo>
                    <a:lnTo>
                      <a:pt x="213" y="19"/>
                    </a:lnTo>
                    <a:lnTo>
                      <a:pt x="165" y="57"/>
                    </a:lnTo>
                    <a:lnTo>
                      <a:pt x="117" y="90"/>
                    </a:lnTo>
                    <a:lnTo>
                      <a:pt x="64" y="121"/>
                    </a:lnTo>
                    <a:lnTo>
                      <a:pt x="9" y="151"/>
                    </a:lnTo>
                    <a:lnTo>
                      <a:pt x="0" y="125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05" name="Freeform 26"/>
              <p:cNvSpPr>
                <a:spLocks/>
              </p:cNvSpPr>
              <p:nvPr/>
            </p:nvSpPr>
            <p:spPr bwMode="auto">
              <a:xfrm>
                <a:off x="3424" y="3175"/>
                <a:ext cx="194" cy="98"/>
              </a:xfrm>
              <a:custGeom>
                <a:avLst/>
                <a:gdLst>
                  <a:gd name="T0" fmla="*/ 0 w 194"/>
                  <a:gd name="T1" fmla="*/ 69 h 98"/>
                  <a:gd name="T2" fmla="*/ 23 w 194"/>
                  <a:gd name="T3" fmla="*/ 63 h 98"/>
                  <a:gd name="T4" fmla="*/ 47 w 194"/>
                  <a:gd name="T5" fmla="*/ 57 h 98"/>
                  <a:gd name="T6" fmla="*/ 70 w 194"/>
                  <a:gd name="T7" fmla="*/ 48 h 98"/>
                  <a:gd name="T8" fmla="*/ 93 w 194"/>
                  <a:gd name="T9" fmla="*/ 40 h 98"/>
                  <a:gd name="T10" fmla="*/ 116 w 194"/>
                  <a:gd name="T11" fmla="*/ 32 h 98"/>
                  <a:gd name="T12" fmla="*/ 139 w 194"/>
                  <a:gd name="T13" fmla="*/ 21 h 98"/>
                  <a:gd name="T14" fmla="*/ 162 w 194"/>
                  <a:gd name="T15" fmla="*/ 11 h 98"/>
                  <a:gd name="T16" fmla="*/ 185 w 194"/>
                  <a:gd name="T17" fmla="*/ 0 h 98"/>
                  <a:gd name="T18" fmla="*/ 194 w 194"/>
                  <a:gd name="T19" fmla="*/ 26 h 98"/>
                  <a:gd name="T20" fmla="*/ 170 w 194"/>
                  <a:gd name="T21" fmla="*/ 37 h 98"/>
                  <a:gd name="T22" fmla="*/ 147 w 194"/>
                  <a:gd name="T23" fmla="*/ 48 h 98"/>
                  <a:gd name="T24" fmla="*/ 121 w 194"/>
                  <a:gd name="T25" fmla="*/ 59 h 98"/>
                  <a:gd name="T26" fmla="*/ 96 w 194"/>
                  <a:gd name="T27" fmla="*/ 67 h 98"/>
                  <a:gd name="T28" fmla="*/ 73 w 194"/>
                  <a:gd name="T29" fmla="*/ 76 h 98"/>
                  <a:gd name="T30" fmla="*/ 47 w 194"/>
                  <a:gd name="T31" fmla="*/ 85 h 98"/>
                  <a:gd name="T32" fmla="*/ 24 w 194"/>
                  <a:gd name="T33" fmla="*/ 92 h 98"/>
                  <a:gd name="T34" fmla="*/ 0 w 194"/>
                  <a:gd name="T35" fmla="*/ 98 h 98"/>
                  <a:gd name="T36" fmla="*/ 0 w 194"/>
                  <a:gd name="T37" fmla="*/ 69 h 9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4"/>
                  <a:gd name="T58" fmla="*/ 0 h 98"/>
                  <a:gd name="T59" fmla="*/ 194 w 194"/>
                  <a:gd name="T60" fmla="*/ 98 h 9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4" h="98">
                    <a:moveTo>
                      <a:pt x="0" y="69"/>
                    </a:moveTo>
                    <a:lnTo>
                      <a:pt x="23" y="63"/>
                    </a:lnTo>
                    <a:lnTo>
                      <a:pt x="47" y="57"/>
                    </a:lnTo>
                    <a:lnTo>
                      <a:pt x="70" y="48"/>
                    </a:lnTo>
                    <a:lnTo>
                      <a:pt x="93" y="40"/>
                    </a:lnTo>
                    <a:lnTo>
                      <a:pt x="116" y="32"/>
                    </a:lnTo>
                    <a:lnTo>
                      <a:pt x="139" y="21"/>
                    </a:lnTo>
                    <a:lnTo>
                      <a:pt x="162" y="11"/>
                    </a:lnTo>
                    <a:lnTo>
                      <a:pt x="185" y="0"/>
                    </a:lnTo>
                    <a:lnTo>
                      <a:pt x="194" y="26"/>
                    </a:lnTo>
                    <a:lnTo>
                      <a:pt x="170" y="37"/>
                    </a:lnTo>
                    <a:lnTo>
                      <a:pt x="147" y="48"/>
                    </a:lnTo>
                    <a:lnTo>
                      <a:pt x="121" y="59"/>
                    </a:lnTo>
                    <a:lnTo>
                      <a:pt x="96" y="67"/>
                    </a:lnTo>
                    <a:lnTo>
                      <a:pt x="73" y="76"/>
                    </a:lnTo>
                    <a:lnTo>
                      <a:pt x="47" y="85"/>
                    </a:lnTo>
                    <a:lnTo>
                      <a:pt x="24" y="92"/>
                    </a:lnTo>
                    <a:lnTo>
                      <a:pt x="0" y="98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06" name="Freeform 27"/>
              <p:cNvSpPr>
                <a:spLocks/>
              </p:cNvSpPr>
              <p:nvPr/>
            </p:nvSpPr>
            <p:spPr bwMode="auto">
              <a:xfrm>
                <a:off x="3404" y="3242"/>
                <a:ext cx="18" cy="35"/>
              </a:xfrm>
              <a:custGeom>
                <a:avLst/>
                <a:gdLst>
                  <a:gd name="T0" fmla="*/ 18 w 18"/>
                  <a:gd name="T1" fmla="*/ 31 h 35"/>
                  <a:gd name="T2" fmla="*/ 0 w 18"/>
                  <a:gd name="T3" fmla="*/ 35 h 35"/>
                  <a:gd name="T4" fmla="*/ 0 w 18"/>
                  <a:gd name="T5" fmla="*/ 4 h 35"/>
                  <a:gd name="T6" fmla="*/ 18 w 18"/>
                  <a:gd name="T7" fmla="*/ 0 h 35"/>
                  <a:gd name="T8" fmla="*/ 18 w 18"/>
                  <a:gd name="T9" fmla="*/ 31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35"/>
                  <a:gd name="T17" fmla="*/ 18 w 18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35">
                    <a:moveTo>
                      <a:pt x="18" y="31"/>
                    </a:moveTo>
                    <a:lnTo>
                      <a:pt x="0" y="35"/>
                    </a:lnTo>
                    <a:lnTo>
                      <a:pt x="0" y="4"/>
                    </a:lnTo>
                    <a:lnTo>
                      <a:pt x="18" y="0"/>
                    </a:lnTo>
                    <a:lnTo>
                      <a:pt x="18" y="31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07" name="Freeform 28"/>
              <p:cNvSpPr>
                <a:spLocks/>
              </p:cNvSpPr>
              <p:nvPr/>
            </p:nvSpPr>
            <p:spPr bwMode="auto">
              <a:xfrm>
                <a:off x="3738" y="3001"/>
                <a:ext cx="152" cy="128"/>
              </a:xfrm>
              <a:custGeom>
                <a:avLst/>
                <a:gdLst>
                  <a:gd name="T0" fmla="*/ 0 w 152"/>
                  <a:gd name="T1" fmla="*/ 63 h 128"/>
                  <a:gd name="T2" fmla="*/ 152 w 152"/>
                  <a:gd name="T3" fmla="*/ 0 h 128"/>
                  <a:gd name="T4" fmla="*/ 66 w 152"/>
                  <a:gd name="T5" fmla="*/ 128 h 128"/>
                  <a:gd name="T6" fmla="*/ 0 w 152"/>
                  <a:gd name="T7" fmla="*/ 63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2"/>
                  <a:gd name="T13" fmla="*/ 0 h 128"/>
                  <a:gd name="T14" fmla="*/ 152 w 152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2" h="128">
                    <a:moveTo>
                      <a:pt x="0" y="63"/>
                    </a:moveTo>
                    <a:lnTo>
                      <a:pt x="152" y="0"/>
                    </a:lnTo>
                    <a:lnTo>
                      <a:pt x="66" y="128"/>
                    </a:lnTo>
                    <a:lnTo>
                      <a:pt x="0" y="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08" name="Freeform 29"/>
              <p:cNvSpPr>
                <a:spLocks/>
              </p:cNvSpPr>
              <p:nvPr/>
            </p:nvSpPr>
            <p:spPr bwMode="auto">
              <a:xfrm>
                <a:off x="3737" y="2985"/>
                <a:ext cx="174" cy="87"/>
              </a:xfrm>
              <a:custGeom>
                <a:avLst/>
                <a:gdLst>
                  <a:gd name="T0" fmla="*/ 145 w 174"/>
                  <a:gd name="T1" fmla="*/ 15 h 87"/>
                  <a:gd name="T2" fmla="*/ 155 w 174"/>
                  <a:gd name="T3" fmla="*/ 23 h 87"/>
                  <a:gd name="T4" fmla="*/ 3 w 174"/>
                  <a:gd name="T5" fmla="*/ 87 h 87"/>
                  <a:gd name="T6" fmla="*/ 0 w 174"/>
                  <a:gd name="T7" fmla="*/ 73 h 87"/>
                  <a:gd name="T8" fmla="*/ 151 w 174"/>
                  <a:gd name="T9" fmla="*/ 10 h 87"/>
                  <a:gd name="T10" fmla="*/ 161 w 174"/>
                  <a:gd name="T11" fmla="*/ 18 h 87"/>
                  <a:gd name="T12" fmla="*/ 151 w 174"/>
                  <a:gd name="T13" fmla="*/ 10 h 87"/>
                  <a:gd name="T14" fmla="*/ 174 w 174"/>
                  <a:gd name="T15" fmla="*/ 0 h 87"/>
                  <a:gd name="T16" fmla="*/ 161 w 174"/>
                  <a:gd name="T17" fmla="*/ 18 h 87"/>
                  <a:gd name="T18" fmla="*/ 145 w 174"/>
                  <a:gd name="T19" fmla="*/ 15 h 8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4"/>
                  <a:gd name="T31" fmla="*/ 0 h 87"/>
                  <a:gd name="T32" fmla="*/ 174 w 174"/>
                  <a:gd name="T33" fmla="*/ 87 h 8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4" h="87">
                    <a:moveTo>
                      <a:pt x="145" y="15"/>
                    </a:moveTo>
                    <a:lnTo>
                      <a:pt x="155" y="23"/>
                    </a:lnTo>
                    <a:lnTo>
                      <a:pt x="3" y="87"/>
                    </a:lnTo>
                    <a:lnTo>
                      <a:pt x="0" y="73"/>
                    </a:lnTo>
                    <a:lnTo>
                      <a:pt x="151" y="10"/>
                    </a:lnTo>
                    <a:lnTo>
                      <a:pt x="161" y="18"/>
                    </a:lnTo>
                    <a:lnTo>
                      <a:pt x="151" y="10"/>
                    </a:lnTo>
                    <a:lnTo>
                      <a:pt x="174" y="0"/>
                    </a:lnTo>
                    <a:lnTo>
                      <a:pt x="161" y="18"/>
                    </a:lnTo>
                    <a:lnTo>
                      <a:pt x="145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09" name="Freeform 30"/>
              <p:cNvSpPr>
                <a:spLocks/>
              </p:cNvSpPr>
              <p:nvPr/>
            </p:nvSpPr>
            <p:spPr bwMode="auto">
              <a:xfrm>
                <a:off x="3796" y="2999"/>
                <a:ext cx="102" cy="144"/>
              </a:xfrm>
              <a:custGeom>
                <a:avLst/>
                <a:gdLst>
                  <a:gd name="T0" fmla="*/ 17 w 102"/>
                  <a:gd name="T1" fmla="*/ 124 h 144"/>
                  <a:gd name="T2" fmla="*/ 0 w 102"/>
                  <a:gd name="T3" fmla="*/ 128 h 144"/>
                  <a:gd name="T4" fmla="*/ 86 w 102"/>
                  <a:gd name="T5" fmla="*/ 0 h 144"/>
                  <a:gd name="T6" fmla="*/ 102 w 102"/>
                  <a:gd name="T7" fmla="*/ 3 h 144"/>
                  <a:gd name="T8" fmla="*/ 16 w 102"/>
                  <a:gd name="T9" fmla="*/ 131 h 144"/>
                  <a:gd name="T10" fmla="*/ 0 w 102"/>
                  <a:gd name="T11" fmla="*/ 135 h 144"/>
                  <a:gd name="T12" fmla="*/ 16 w 102"/>
                  <a:gd name="T13" fmla="*/ 131 h 144"/>
                  <a:gd name="T14" fmla="*/ 8 w 102"/>
                  <a:gd name="T15" fmla="*/ 144 h 144"/>
                  <a:gd name="T16" fmla="*/ 0 w 102"/>
                  <a:gd name="T17" fmla="*/ 135 h 144"/>
                  <a:gd name="T18" fmla="*/ 17 w 102"/>
                  <a:gd name="T19" fmla="*/ 124 h 14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2"/>
                  <a:gd name="T31" fmla="*/ 0 h 144"/>
                  <a:gd name="T32" fmla="*/ 102 w 102"/>
                  <a:gd name="T33" fmla="*/ 144 h 14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2" h="144">
                    <a:moveTo>
                      <a:pt x="17" y="124"/>
                    </a:moveTo>
                    <a:lnTo>
                      <a:pt x="0" y="128"/>
                    </a:lnTo>
                    <a:lnTo>
                      <a:pt x="86" y="0"/>
                    </a:lnTo>
                    <a:lnTo>
                      <a:pt x="102" y="3"/>
                    </a:lnTo>
                    <a:lnTo>
                      <a:pt x="16" y="131"/>
                    </a:lnTo>
                    <a:lnTo>
                      <a:pt x="0" y="135"/>
                    </a:lnTo>
                    <a:lnTo>
                      <a:pt x="16" y="131"/>
                    </a:lnTo>
                    <a:lnTo>
                      <a:pt x="8" y="144"/>
                    </a:lnTo>
                    <a:lnTo>
                      <a:pt x="0" y="135"/>
                    </a:lnTo>
                    <a:lnTo>
                      <a:pt x="17" y="12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10" name="Freeform 31"/>
              <p:cNvSpPr>
                <a:spLocks/>
              </p:cNvSpPr>
              <p:nvPr/>
            </p:nvSpPr>
            <p:spPr bwMode="auto">
              <a:xfrm>
                <a:off x="3721" y="3055"/>
                <a:ext cx="89" cy="77"/>
              </a:xfrm>
              <a:custGeom>
                <a:avLst/>
                <a:gdLst>
                  <a:gd name="T0" fmla="*/ 18 w 89"/>
                  <a:gd name="T1" fmla="*/ 15 h 77"/>
                  <a:gd name="T2" fmla="*/ 25 w 89"/>
                  <a:gd name="T3" fmla="*/ 1 h 77"/>
                  <a:gd name="T4" fmla="*/ 89 w 89"/>
                  <a:gd name="T5" fmla="*/ 63 h 77"/>
                  <a:gd name="T6" fmla="*/ 72 w 89"/>
                  <a:gd name="T7" fmla="*/ 77 h 77"/>
                  <a:gd name="T8" fmla="*/ 8 w 89"/>
                  <a:gd name="T9" fmla="*/ 14 h 77"/>
                  <a:gd name="T10" fmla="*/ 15 w 89"/>
                  <a:gd name="T11" fmla="*/ 0 h 77"/>
                  <a:gd name="T12" fmla="*/ 8 w 89"/>
                  <a:gd name="T13" fmla="*/ 14 h 77"/>
                  <a:gd name="T14" fmla="*/ 0 w 89"/>
                  <a:gd name="T15" fmla="*/ 6 h 77"/>
                  <a:gd name="T16" fmla="*/ 15 w 89"/>
                  <a:gd name="T17" fmla="*/ 0 h 77"/>
                  <a:gd name="T18" fmla="*/ 18 w 89"/>
                  <a:gd name="T19" fmla="*/ 15 h 7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9"/>
                  <a:gd name="T31" fmla="*/ 0 h 77"/>
                  <a:gd name="T32" fmla="*/ 89 w 89"/>
                  <a:gd name="T33" fmla="*/ 77 h 7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9" h="77">
                    <a:moveTo>
                      <a:pt x="18" y="15"/>
                    </a:moveTo>
                    <a:lnTo>
                      <a:pt x="25" y="1"/>
                    </a:lnTo>
                    <a:lnTo>
                      <a:pt x="89" y="63"/>
                    </a:lnTo>
                    <a:lnTo>
                      <a:pt x="72" y="77"/>
                    </a:lnTo>
                    <a:lnTo>
                      <a:pt x="8" y="14"/>
                    </a:lnTo>
                    <a:lnTo>
                      <a:pt x="15" y="0"/>
                    </a:lnTo>
                    <a:lnTo>
                      <a:pt x="8" y="14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18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11" name="Freeform 32"/>
              <p:cNvSpPr>
                <a:spLocks/>
              </p:cNvSpPr>
              <p:nvPr/>
            </p:nvSpPr>
            <p:spPr bwMode="auto">
              <a:xfrm>
                <a:off x="3835" y="3013"/>
                <a:ext cx="42" cy="37"/>
              </a:xfrm>
              <a:custGeom>
                <a:avLst/>
                <a:gdLst>
                  <a:gd name="T0" fmla="*/ 0 w 42"/>
                  <a:gd name="T1" fmla="*/ 14 h 37"/>
                  <a:gd name="T2" fmla="*/ 18 w 42"/>
                  <a:gd name="T3" fmla="*/ 0 h 37"/>
                  <a:gd name="T4" fmla="*/ 42 w 42"/>
                  <a:gd name="T5" fmla="*/ 22 h 37"/>
                  <a:gd name="T6" fmla="*/ 24 w 42"/>
                  <a:gd name="T7" fmla="*/ 37 h 37"/>
                  <a:gd name="T8" fmla="*/ 0 w 42"/>
                  <a:gd name="T9" fmla="*/ 14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"/>
                  <a:gd name="T16" fmla="*/ 0 h 37"/>
                  <a:gd name="T17" fmla="*/ 42 w 42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" h="37">
                    <a:moveTo>
                      <a:pt x="0" y="14"/>
                    </a:moveTo>
                    <a:lnTo>
                      <a:pt x="18" y="0"/>
                    </a:lnTo>
                    <a:lnTo>
                      <a:pt x="42" y="22"/>
                    </a:lnTo>
                    <a:lnTo>
                      <a:pt x="24" y="37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12" name="Freeform 33"/>
              <p:cNvSpPr>
                <a:spLocks/>
              </p:cNvSpPr>
              <p:nvPr/>
            </p:nvSpPr>
            <p:spPr bwMode="auto">
              <a:xfrm>
                <a:off x="3645" y="3027"/>
                <a:ext cx="212" cy="159"/>
              </a:xfrm>
              <a:custGeom>
                <a:avLst/>
                <a:gdLst>
                  <a:gd name="T0" fmla="*/ 0 w 212"/>
                  <a:gd name="T1" fmla="*/ 131 h 159"/>
                  <a:gd name="T2" fmla="*/ 0 w 212"/>
                  <a:gd name="T3" fmla="*/ 131 h 159"/>
                  <a:gd name="T4" fmla="*/ 26 w 212"/>
                  <a:gd name="T5" fmla="*/ 116 h 159"/>
                  <a:gd name="T6" fmla="*/ 52 w 212"/>
                  <a:gd name="T7" fmla="*/ 102 h 159"/>
                  <a:gd name="T8" fmla="*/ 76 w 212"/>
                  <a:gd name="T9" fmla="*/ 86 h 159"/>
                  <a:gd name="T10" fmla="*/ 100 w 212"/>
                  <a:gd name="T11" fmla="*/ 70 h 159"/>
                  <a:gd name="T12" fmla="*/ 122 w 212"/>
                  <a:gd name="T13" fmla="*/ 53 h 159"/>
                  <a:gd name="T14" fmla="*/ 145 w 212"/>
                  <a:gd name="T15" fmla="*/ 36 h 159"/>
                  <a:gd name="T16" fmla="*/ 167 w 212"/>
                  <a:gd name="T17" fmla="*/ 19 h 159"/>
                  <a:gd name="T18" fmla="*/ 188 w 212"/>
                  <a:gd name="T19" fmla="*/ 0 h 159"/>
                  <a:gd name="T20" fmla="*/ 212 w 212"/>
                  <a:gd name="T21" fmla="*/ 22 h 159"/>
                  <a:gd name="T22" fmla="*/ 191 w 212"/>
                  <a:gd name="T23" fmla="*/ 41 h 159"/>
                  <a:gd name="T24" fmla="*/ 167 w 212"/>
                  <a:gd name="T25" fmla="*/ 59 h 159"/>
                  <a:gd name="T26" fmla="*/ 143 w 212"/>
                  <a:gd name="T27" fmla="*/ 77 h 159"/>
                  <a:gd name="T28" fmla="*/ 118 w 212"/>
                  <a:gd name="T29" fmla="*/ 94 h 159"/>
                  <a:gd name="T30" fmla="*/ 93 w 212"/>
                  <a:gd name="T31" fmla="*/ 113 h 159"/>
                  <a:gd name="T32" fmla="*/ 68 w 212"/>
                  <a:gd name="T33" fmla="*/ 129 h 159"/>
                  <a:gd name="T34" fmla="*/ 41 w 212"/>
                  <a:gd name="T35" fmla="*/ 144 h 159"/>
                  <a:gd name="T36" fmla="*/ 14 w 212"/>
                  <a:gd name="T37" fmla="*/ 159 h 159"/>
                  <a:gd name="T38" fmla="*/ 0 w 212"/>
                  <a:gd name="T39" fmla="*/ 131 h 15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2"/>
                  <a:gd name="T61" fmla="*/ 0 h 159"/>
                  <a:gd name="T62" fmla="*/ 212 w 212"/>
                  <a:gd name="T63" fmla="*/ 159 h 15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2" h="159">
                    <a:moveTo>
                      <a:pt x="0" y="131"/>
                    </a:moveTo>
                    <a:lnTo>
                      <a:pt x="0" y="131"/>
                    </a:lnTo>
                    <a:lnTo>
                      <a:pt x="26" y="116"/>
                    </a:lnTo>
                    <a:lnTo>
                      <a:pt x="52" y="102"/>
                    </a:lnTo>
                    <a:lnTo>
                      <a:pt x="76" y="86"/>
                    </a:lnTo>
                    <a:lnTo>
                      <a:pt x="100" y="70"/>
                    </a:lnTo>
                    <a:lnTo>
                      <a:pt x="122" y="53"/>
                    </a:lnTo>
                    <a:lnTo>
                      <a:pt x="145" y="36"/>
                    </a:lnTo>
                    <a:lnTo>
                      <a:pt x="167" y="19"/>
                    </a:lnTo>
                    <a:lnTo>
                      <a:pt x="188" y="0"/>
                    </a:lnTo>
                    <a:lnTo>
                      <a:pt x="212" y="22"/>
                    </a:lnTo>
                    <a:lnTo>
                      <a:pt x="191" y="41"/>
                    </a:lnTo>
                    <a:lnTo>
                      <a:pt x="167" y="59"/>
                    </a:lnTo>
                    <a:lnTo>
                      <a:pt x="143" y="77"/>
                    </a:lnTo>
                    <a:lnTo>
                      <a:pt x="118" y="94"/>
                    </a:lnTo>
                    <a:lnTo>
                      <a:pt x="93" y="113"/>
                    </a:lnTo>
                    <a:lnTo>
                      <a:pt x="68" y="129"/>
                    </a:lnTo>
                    <a:lnTo>
                      <a:pt x="41" y="144"/>
                    </a:lnTo>
                    <a:lnTo>
                      <a:pt x="14" y="159"/>
                    </a:lnTo>
                    <a:lnTo>
                      <a:pt x="0" y="1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13" name="Freeform 34"/>
              <p:cNvSpPr>
                <a:spLocks/>
              </p:cNvSpPr>
              <p:nvPr/>
            </p:nvSpPr>
            <p:spPr bwMode="auto">
              <a:xfrm>
                <a:off x="3459" y="3156"/>
                <a:ext cx="196" cy="111"/>
              </a:xfrm>
              <a:custGeom>
                <a:avLst/>
                <a:gdLst>
                  <a:gd name="T0" fmla="*/ 0 w 196"/>
                  <a:gd name="T1" fmla="*/ 77 h 111"/>
                  <a:gd name="T2" fmla="*/ 23 w 196"/>
                  <a:gd name="T3" fmla="*/ 69 h 111"/>
                  <a:gd name="T4" fmla="*/ 47 w 196"/>
                  <a:gd name="T5" fmla="*/ 61 h 111"/>
                  <a:gd name="T6" fmla="*/ 70 w 196"/>
                  <a:gd name="T7" fmla="*/ 53 h 111"/>
                  <a:gd name="T8" fmla="*/ 92 w 196"/>
                  <a:gd name="T9" fmla="*/ 42 h 111"/>
                  <a:gd name="T10" fmla="*/ 115 w 196"/>
                  <a:gd name="T11" fmla="*/ 33 h 111"/>
                  <a:gd name="T12" fmla="*/ 137 w 196"/>
                  <a:gd name="T13" fmla="*/ 22 h 111"/>
                  <a:gd name="T14" fmla="*/ 160 w 196"/>
                  <a:gd name="T15" fmla="*/ 10 h 111"/>
                  <a:gd name="T16" fmla="*/ 183 w 196"/>
                  <a:gd name="T17" fmla="*/ 0 h 111"/>
                  <a:gd name="T18" fmla="*/ 196 w 196"/>
                  <a:gd name="T19" fmla="*/ 28 h 111"/>
                  <a:gd name="T20" fmla="*/ 172 w 196"/>
                  <a:gd name="T21" fmla="*/ 40 h 111"/>
                  <a:gd name="T22" fmla="*/ 149 w 196"/>
                  <a:gd name="T23" fmla="*/ 53 h 111"/>
                  <a:gd name="T24" fmla="*/ 123 w 196"/>
                  <a:gd name="T25" fmla="*/ 64 h 111"/>
                  <a:gd name="T26" fmla="*/ 100 w 196"/>
                  <a:gd name="T27" fmla="*/ 74 h 111"/>
                  <a:gd name="T28" fmla="*/ 75 w 196"/>
                  <a:gd name="T29" fmla="*/ 85 h 111"/>
                  <a:gd name="T30" fmla="*/ 51 w 196"/>
                  <a:gd name="T31" fmla="*/ 94 h 111"/>
                  <a:gd name="T32" fmla="*/ 26 w 196"/>
                  <a:gd name="T33" fmla="*/ 102 h 111"/>
                  <a:gd name="T34" fmla="*/ 2 w 196"/>
                  <a:gd name="T35" fmla="*/ 111 h 111"/>
                  <a:gd name="T36" fmla="*/ 0 w 196"/>
                  <a:gd name="T37" fmla="*/ 77 h 11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6"/>
                  <a:gd name="T58" fmla="*/ 0 h 111"/>
                  <a:gd name="T59" fmla="*/ 196 w 196"/>
                  <a:gd name="T60" fmla="*/ 111 h 11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6" h="111">
                    <a:moveTo>
                      <a:pt x="0" y="77"/>
                    </a:moveTo>
                    <a:lnTo>
                      <a:pt x="23" y="69"/>
                    </a:lnTo>
                    <a:lnTo>
                      <a:pt x="47" y="61"/>
                    </a:lnTo>
                    <a:lnTo>
                      <a:pt x="70" y="53"/>
                    </a:lnTo>
                    <a:lnTo>
                      <a:pt x="92" y="42"/>
                    </a:lnTo>
                    <a:lnTo>
                      <a:pt x="115" y="33"/>
                    </a:lnTo>
                    <a:lnTo>
                      <a:pt x="137" y="22"/>
                    </a:lnTo>
                    <a:lnTo>
                      <a:pt x="160" y="10"/>
                    </a:lnTo>
                    <a:lnTo>
                      <a:pt x="183" y="0"/>
                    </a:lnTo>
                    <a:lnTo>
                      <a:pt x="196" y="28"/>
                    </a:lnTo>
                    <a:lnTo>
                      <a:pt x="172" y="40"/>
                    </a:lnTo>
                    <a:lnTo>
                      <a:pt x="149" y="53"/>
                    </a:lnTo>
                    <a:lnTo>
                      <a:pt x="123" y="64"/>
                    </a:lnTo>
                    <a:lnTo>
                      <a:pt x="100" y="74"/>
                    </a:lnTo>
                    <a:lnTo>
                      <a:pt x="75" y="85"/>
                    </a:lnTo>
                    <a:lnTo>
                      <a:pt x="51" y="94"/>
                    </a:lnTo>
                    <a:lnTo>
                      <a:pt x="26" y="102"/>
                    </a:lnTo>
                    <a:lnTo>
                      <a:pt x="2" y="111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14" name="Freeform 35"/>
              <p:cNvSpPr>
                <a:spLocks/>
              </p:cNvSpPr>
              <p:nvPr/>
            </p:nvSpPr>
            <p:spPr bwMode="auto">
              <a:xfrm>
                <a:off x="3437" y="3233"/>
                <a:ext cx="22" cy="40"/>
              </a:xfrm>
              <a:custGeom>
                <a:avLst/>
                <a:gdLst>
                  <a:gd name="T0" fmla="*/ 22 w 22"/>
                  <a:gd name="T1" fmla="*/ 34 h 40"/>
                  <a:gd name="T2" fmla="*/ 2 w 22"/>
                  <a:gd name="T3" fmla="*/ 40 h 40"/>
                  <a:gd name="T4" fmla="*/ 0 w 22"/>
                  <a:gd name="T5" fmla="*/ 6 h 40"/>
                  <a:gd name="T6" fmla="*/ 20 w 22"/>
                  <a:gd name="T7" fmla="*/ 0 h 40"/>
                  <a:gd name="T8" fmla="*/ 22 w 22"/>
                  <a:gd name="T9" fmla="*/ 34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40"/>
                  <a:gd name="T17" fmla="*/ 22 w 22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40">
                    <a:moveTo>
                      <a:pt x="22" y="34"/>
                    </a:moveTo>
                    <a:lnTo>
                      <a:pt x="2" y="40"/>
                    </a:lnTo>
                    <a:lnTo>
                      <a:pt x="0" y="6"/>
                    </a:lnTo>
                    <a:lnTo>
                      <a:pt x="20" y="0"/>
                    </a:lnTo>
                    <a:lnTo>
                      <a:pt x="22" y="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15" name="Freeform 36"/>
              <p:cNvSpPr>
                <a:spLocks/>
              </p:cNvSpPr>
              <p:nvPr/>
            </p:nvSpPr>
            <p:spPr bwMode="auto">
              <a:xfrm>
                <a:off x="3738" y="3001"/>
                <a:ext cx="152" cy="128"/>
              </a:xfrm>
              <a:custGeom>
                <a:avLst/>
                <a:gdLst>
                  <a:gd name="T0" fmla="*/ 0 w 152"/>
                  <a:gd name="T1" fmla="*/ 63 h 128"/>
                  <a:gd name="T2" fmla="*/ 152 w 152"/>
                  <a:gd name="T3" fmla="*/ 0 h 128"/>
                  <a:gd name="T4" fmla="*/ 66 w 152"/>
                  <a:gd name="T5" fmla="*/ 128 h 128"/>
                  <a:gd name="T6" fmla="*/ 0 w 152"/>
                  <a:gd name="T7" fmla="*/ 63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2"/>
                  <a:gd name="T13" fmla="*/ 0 h 128"/>
                  <a:gd name="T14" fmla="*/ 152 w 152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2" h="128">
                    <a:moveTo>
                      <a:pt x="0" y="63"/>
                    </a:moveTo>
                    <a:lnTo>
                      <a:pt x="152" y="0"/>
                    </a:lnTo>
                    <a:lnTo>
                      <a:pt x="66" y="128"/>
                    </a:lnTo>
                    <a:lnTo>
                      <a:pt x="0" y="63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16" name="Freeform 37"/>
              <p:cNvSpPr>
                <a:spLocks/>
              </p:cNvSpPr>
              <p:nvPr/>
            </p:nvSpPr>
            <p:spPr bwMode="auto">
              <a:xfrm>
                <a:off x="3735" y="2992"/>
                <a:ext cx="166" cy="79"/>
              </a:xfrm>
              <a:custGeom>
                <a:avLst/>
                <a:gdLst>
                  <a:gd name="T0" fmla="*/ 149 w 166"/>
                  <a:gd name="T1" fmla="*/ 9 h 79"/>
                  <a:gd name="T2" fmla="*/ 155 w 166"/>
                  <a:gd name="T3" fmla="*/ 14 h 79"/>
                  <a:gd name="T4" fmla="*/ 2 w 166"/>
                  <a:gd name="T5" fmla="*/ 79 h 79"/>
                  <a:gd name="T6" fmla="*/ 0 w 166"/>
                  <a:gd name="T7" fmla="*/ 72 h 79"/>
                  <a:gd name="T8" fmla="*/ 152 w 166"/>
                  <a:gd name="T9" fmla="*/ 7 h 79"/>
                  <a:gd name="T10" fmla="*/ 157 w 166"/>
                  <a:gd name="T11" fmla="*/ 12 h 79"/>
                  <a:gd name="T12" fmla="*/ 152 w 166"/>
                  <a:gd name="T13" fmla="*/ 7 h 79"/>
                  <a:gd name="T14" fmla="*/ 166 w 166"/>
                  <a:gd name="T15" fmla="*/ 0 h 79"/>
                  <a:gd name="T16" fmla="*/ 157 w 166"/>
                  <a:gd name="T17" fmla="*/ 12 h 79"/>
                  <a:gd name="T18" fmla="*/ 149 w 166"/>
                  <a:gd name="T19" fmla="*/ 9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6"/>
                  <a:gd name="T31" fmla="*/ 0 h 79"/>
                  <a:gd name="T32" fmla="*/ 166 w 166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6" h="79">
                    <a:moveTo>
                      <a:pt x="149" y="9"/>
                    </a:moveTo>
                    <a:lnTo>
                      <a:pt x="155" y="14"/>
                    </a:lnTo>
                    <a:lnTo>
                      <a:pt x="2" y="79"/>
                    </a:lnTo>
                    <a:lnTo>
                      <a:pt x="0" y="72"/>
                    </a:lnTo>
                    <a:lnTo>
                      <a:pt x="152" y="7"/>
                    </a:lnTo>
                    <a:lnTo>
                      <a:pt x="157" y="12"/>
                    </a:lnTo>
                    <a:lnTo>
                      <a:pt x="152" y="7"/>
                    </a:lnTo>
                    <a:lnTo>
                      <a:pt x="166" y="0"/>
                    </a:lnTo>
                    <a:lnTo>
                      <a:pt x="157" y="12"/>
                    </a:lnTo>
                    <a:lnTo>
                      <a:pt x="149" y="9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17" name="Freeform 38"/>
              <p:cNvSpPr>
                <a:spLocks/>
              </p:cNvSpPr>
              <p:nvPr/>
            </p:nvSpPr>
            <p:spPr bwMode="auto">
              <a:xfrm>
                <a:off x="3799" y="2996"/>
                <a:ext cx="95" cy="139"/>
              </a:xfrm>
              <a:custGeom>
                <a:avLst/>
                <a:gdLst>
                  <a:gd name="T0" fmla="*/ 10 w 95"/>
                  <a:gd name="T1" fmla="*/ 127 h 139"/>
                  <a:gd name="T2" fmla="*/ 0 w 95"/>
                  <a:gd name="T3" fmla="*/ 130 h 139"/>
                  <a:gd name="T4" fmla="*/ 87 w 95"/>
                  <a:gd name="T5" fmla="*/ 0 h 139"/>
                  <a:gd name="T6" fmla="*/ 95 w 95"/>
                  <a:gd name="T7" fmla="*/ 4 h 139"/>
                  <a:gd name="T8" fmla="*/ 9 w 95"/>
                  <a:gd name="T9" fmla="*/ 132 h 139"/>
                  <a:gd name="T10" fmla="*/ 0 w 95"/>
                  <a:gd name="T11" fmla="*/ 135 h 139"/>
                  <a:gd name="T12" fmla="*/ 9 w 95"/>
                  <a:gd name="T13" fmla="*/ 132 h 139"/>
                  <a:gd name="T14" fmla="*/ 5 w 95"/>
                  <a:gd name="T15" fmla="*/ 139 h 139"/>
                  <a:gd name="T16" fmla="*/ 0 w 95"/>
                  <a:gd name="T17" fmla="*/ 135 h 139"/>
                  <a:gd name="T18" fmla="*/ 10 w 95"/>
                  <a:gd name="T19" fmla="*/ 127 h 13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5"/>
                  <a:gd name="T31" fmla="*/ 0 h 139"/>
                  <a:gd name="T32" fmla="*/ 95 w 95"/>
                  <a:gd name="T33" fmla="*/ 139 h 13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5" h="139">
                    <a:moveTo>
                      <a:pt x="10" y="127"/>
                    </a:moveTo>
                    <a:lnTo>
                      <a:pt x="0" y="130"/>
                    </a:lnTo>
                    <a:lnTo>
                      <a:pt x="87" y="0"/>
                    </a:lnTo>
                    <a:lnTo>
                      <a:pt x="95" y="4"/>
                    </a:lnTo>
                    <a:lnTo>
                      <a:pt x="9" y="132"/>
                    </a:lnTo>
                    <a:lnTo>
                      <a:pt x="0" y="135"/>
                    </a:lnTo>
                    <a:lnTo>
                      <a:pt x="9" y="132"/>
                    </a:lnTo>
                    <a:lnTo>
                      <a:pt x="5" y="139"/>
                    </a:lnTo>
                    <a:lnTo>
                      <a:pt x="0" y="135"/>
                    </a:lnTo>
                    <a:lnTo>
                      <a:pt x="10" y="127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18" name="Freeform 39"/>
              <p:cNvSpPr>
                <a:spLocks/>
              </p:cNvSpPr>
              <p:nvPr/>
            </p:nvSpPr>
            <p:spPr bwMode="auto">
              <a:xfrm>
                <a:off x="3726" y="3062"/>
                <a:ext cx="79" cy="71"/>
              </a:xfrm>
              <a:custGeom>
                <a:avLst/>
                <a:gdLst>
                  <a:gd name="T0" fmla="*/ 11 w 79"/>
                  <a:gd name="T1" fmla="*/ 7 h 71"/>
                  <a:gd name="T2" fmla="*/ 14 w 79"/>
                  <a:gd name="T3" fmla="*/ 0 h 71"/>
                  <a:gd name="T4" fmla="*/ 79 w 79"/>
                  <a:gd name="T5" fmla="*/ 65 h 71"/>
                  <a:gd name="T6" fmla="*/ 70 w 79"/>
                  <a:gd name="T7" fmla="*/ 71 h 71"/>
                  <a:gd name="T8" fmla="*/ 4 w 79"/>
                  <a:gd name="T9" fmla="*/ 7 h 71"/>
                  <a:gd name="T10" fmla="*/ 8 w 79"/>
                  <a:gd name="T11" fmla="*/ 0 h 71"/>
                  <a:gd name="T12" fmla="*/ 4 w 79"/>
                  <a:gd name="T13" fmla="*/ 7 h 71"/>
                  <a:gd name="T14" fmla="*/ 0 w 79"/>
                  <a:gd name="T15" fmla="*/ 3 h 71"/>
                  <a:gd name="T16" fmla="*/ 8 w 79"/>
                  <a:gd name="T17" fmla="*/ 0 h 71"/>
                  <a:gd name="T18" fmla="*/ 11 w 79"/>
                  <a:gd name="T19" fmla="*/ 7 h 7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9"/>
                  <a:gd name="T31" fmla="*/ 0 h 71"/>
                  <a:gd name="T32" fmla="*/ 79 w 79"/>
                  <a:gd name="T33" fmla="*/ 71 h 7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9" h="71">
                    <a:moveTo>
                      <a:pt x="11" y="7"/>
                    </a:moveTo>
                    <a:lnTo>
                      <a:pt x="14" y="0"/>
                    </a:lnTo>
                    <a:lnTo>
                      <a:pt x="79" y="65"/>
                    </a:lnTo>
                    <a:lnTo>
                      <a:pt x="70" y="71"/>
                    </a:lnTo>
                    <a:lnTo>
                      <a:pt x="4" y="7"/>
                    </a:lnTo>
                    <a:lnTo>
                      <a:pt x="8" y="0"/>
                    </a:lnTo>
                    <a:lnTo>
                      <a:pt x="4" y="7"/>
                    </a:lnTo>
                    <a:lnTo>
                      <a:pt x="0" y="3"/>
                    </a:lnTo>
                    <a:lnTo>
                      <a:pt x="8" y="0"/>
                    </a:lnTo>
                    <a:lnTo>
                      <a:pt x="11" y="7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19" name="Freeform 40"/>
              <p:cNvSpPr>
                <a:spLocks/>
              </p:cNvSpPr>
              <p:nvPr/>
            </p:nvSpPr>
            <p:spPr bwMode="auto">
              <a:xfrm>
                <a:off x="3838" y="3018"/>
                <a:ext cx="35" cy="31"/>
              </a:xfrm>
              <a:custGeom>
                <a:avLst/>
                <a:gdLst>
                  <a:gd name="T0" fmla="*/ 0 w 35"/>
                  <a:gd name="T1" fmla="*/ 12 h 31"/>
                  <a:gd name="T2" fmla="*/ 13 w 35"/>
                  <a:gd name="T3" fmla="*/ 0 h 31"/>
                  <a:gd name="T4" fmla="*/ 35 w 35"/>
                  <a:gd name="T5" fmla="*/ 18 h 31"/>
                  <a:gd name="T6" fmla="*/ 20 w 35"/>
                  <a:gd name="T7" fmla="*/ 31 h 31"/>
                  <a:gd name="T8" fmla="*/ 0 w 35"/>
                  <a:gd name="T9" fmla="*/ 12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31"/>
                  <a:gd name="T17" fmla="*/ 35 w 35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31">
                    <a:moveTo>
                      <a:pt x="0" y="12"/>
                    </a:moveTo>
                    <a:lnTo>
                      <a:pt x="13" y="0"/>
                    </a:lnTo>
                    <a:lnTo>
                      <a:pt x="35" y="18"/>
                    </a:lnTo>
                    <a:lnTo>
                      <a:pt x="20" y="31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20" name="Freeform 41"/>
              <p:cNvSpPr>
                <a:spLocks/>
              </p:cNvSpPr>
              <p:nvPr/>
            </p:nvSpPr>
            <p:spPr bwMode="auto">
              <a:xfrm>
                <a:off x="3646" y="3030"/>
                <a:ext cx="209" cy="153"/>
              </a:xfrm>
              <a:custGeom>
                <a:avLst/>
                <a:gdLst>
                  <a:gd name="T0" fmla="*/ 0 w 209"/>
                  <a:gd name="T1" fmla="*/ 130 h 153"/>
                  <a:gd name="T2" fmla="*/ 0 w 209"/>
                  <a:gd name="T3" fmla="*/ 130 h 153"/>
                  <a:gd name="T4" fmla="*/ 26 w 209"/>
                  <a:gd name="T5" fmla="*/ 115 h 153"/>
                  <a:gd name="T6" fmla="*/ 52 w 209"/>
                  <a:gd name="T7" fmla="*/ 101 h 153"/>
                  <a:gd name="T8" fmla="*/ 76 w 209"/>
                  <a:gd name="T9" fmla="*/ 85 h 153"/>
                  <a:gd name="T10" fmla="*/ 100 w 209"/>
                  <a:gd name="T11" fmla="*/ 69 h 153"/>
                  <a:gd name="T12" fmla="*/ 124 w 209"/>
                  <a:gd name="T13" fmla="*/ 52 h 153"/>
                  <a:gd name="T14" fmla="*/ 147 w 209"/>
                  <a:gd name="T15" fmla="*/ 36 h 153"/>
                  <a:gd name="T16" fmla="*/ 168 w 209"/>
                  <a:gd name="T17" fmla="*/ 18 h 153"/>
                  <a:gd name="T18" fmla="*/ 190 w 209"/>
                  <a:gd name="T19" fmla="*/ 0 h 153"/>
                  <a:gd name="T20" fmla="*/ 209 w 209"/>
                  <a:gd name="T21" fmla="*/ 17 h 153"/>
                  <a:gd name="T22" fmla="*/ 187 w 209"/>
                  <a:gd name="T23" fmla="*/ 36 h 153"/>
                  <a:gd name="T24" fmla="*/ 164 w 209"/>
                  <a:gd name="T25" fmla="*/ 55 h 153"/>
                  <a:gd name="T26" fmla="*/ 140 w 209"/>
                  <a:gd name="T27" fmla="*/ 72 h 153"/>
                  <a:gd name="T28" fmla="*/ 116 w 209"/>
                  <a:gd name="T29" fmla="*/ 89 h 153"/>
                  <a:gd name="T30" fmla="*/ 91 w 209"/>
                  <a:gd name="T31" fmla="*/ 106 h 153"/>
                  <a:gd name="T32" fmla="*/ 65 w 209"/>
                  <a:gd name="T33" fmla="*/ 122 h 153"/>
                  <a:gd name="T34" fmla="*/ 39 w 209"/>
                  <a:gd name="T35" fmla="*/ 138 h 153"/>
                  <a:gd name="T36" fmla="*/ 12 w 209"/>
                  <a:gd name="T37" fmla="*/ 153 h 153"/>
                  <a:gd name="T38" fmla="*/ 0 w 209"/>
                  <a:gd name="T39" fmla="*/ 130 h 1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9"/>
                  <a:gd name="T61" fmla="*/ 0 h 153"/>
                  <a:gd name="T62" fmla="*/ 209 w 209"/>
                  <a:gd name="T63" fmla="*/ 153 h 1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9" h="153">
                    <a:moveTo>
                      <a:pt x="0" y="130"/>
                    </a:moveTo>
                    <a:lnTo>
                      <a:pt x="0" y="130"/>
                    </a:lnTo>
                    <a:lnTo>
                      <a:pt x="26" y="115"/>
                    </a:lnTo>
                    <a:lnTo>
                      <a:pt x="52" y="101"/>
                    </a:lnTo>
                    <a:lnTo>
                      <a:pt x="76" y="85"/>
                    </a:lnTo>
                    <a:lnTo>
                      <a:pt x="100" y="69"/>
                    </a:lnTo>
                    <a:lnTo>
                      <a:pt x="124" y="52"/>
                    </a:lnTo>
                    <a:lnTo>
                      <a:pt x="147" y="36"/>
                    </a:lnTo>
                    <a:lnTo>
                      <a:pt x="168" y="18"/>
                    </a:lnTo>
                    <a:lnTo>
                      <a:pt x="190" y="0"/>
                    </a:lnTo>
                    <a:lnTo>
                      <a:pt x="209" y="17"/>
                    </a:lnTo>
                    <a:lnTo>
                      <a:pt x="187" y="36"/>
                    </a:lnTo>
                    <a:lnTo>
                      <a:pt x="164" y="55"/>
                    </a:lnTo>
                    <a:lnTo>
                      <a:pt x="140" y="72"/>
                    </a:lnTo>
                    <a:lnTo>
                      <a:pt x="116" y="89"/>
                    </a:lnTo>
                    <a:lnTo>
                      <a:pt x="91" y="106"/>
                    </a:lnTo>
                    <a:lnTo>
                      <a:pt x="65" y="122"/>
                    </a:lnTo>
                    <a:lnTo>
                      <a:pt x="39" y="138"/>
                    </a:lnTo>
                    <a:lnTo>
                      <a:pt x="12" y="153"/>
                    </a:lnTo>
                    <a:lnTo>
                      <a:pt x="0" y="130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21" name="Freeform 42"/>
              <p:cNvSpPr>
                <a:spLocks/>
              </p:cNvSpPr>
              <p:nvPr/>
            </p:nvSpPr>
            <p:spPr bwMode="auto">
              <a:xfrm>
                <a:off x="3458" y="3159"/>
                <a:ext cx="195" cy="106"/>
              </a:xfrm>
              <a:custGeom>
                <a:avLst/>
                <a:gdLst>
                  <a:gd name="T0" fmla="*/ 0 w 195"/>
                  <a:gd name="T1" fmla="*/ 78 h 106"/>
                  <a:gd name="T2" fmla="*/ 23 w 195"/>
                  <a:gd name="T3" fmla="*/ 69 h 106"/>
                  <a:gd name="T4" fmla="*/ 47 w 195"/>
                  <a:gd name="T5" fmla="*/ 62 h 106"/>
                  <a:gd name="T6" fmla="*/ 70 w 195"/>
                  <a:gd name="T7" fmla="*/ 52 h 106"/>
                  <a:gd name="T8" fmla="*/ 93 w 195"/>
                  <a:gd name="T9" fmla="*/ 44 h 106"/>
                  <a:gd name="T10" fmla="*/ 116 w 195"/>
                  <a:gd name="T11" fmla="*/ 34 h 106"/>
                  <a:gd name="T12" fmla="*/ 138 w 195"/>
                  <a:gd name="T13" fmla="*/ 23 h 106"/>
                  <a:gd name="T14" fmla="*/ 161 w 195"/>
                  <a:gd name="T15" fmla="*/ 13 h 106"/>
                  <a:gd name="T16" fmla="*/ 183 w 195"/>
                  <a:gd name="T17" fmla="*/ 0 h 106"/>
                  <a:gd name="T18" fmla="*/ 195 w 195"/>
                  <a:gd name="T19" fmla="*/ 24 h 106"/>
                  <a:gd name="T20" fmla="*/ 171 w 195"/>
                  <a:gd name="T21" fmla="*/ 37 h 106"/>
                  <a:gd name="T22" fmla="*/ 148 w 195"/>
                  <a:gd name="T23" fmla="*/ 48 h 106"/>
                  <a:gd name="T24" fmla="*/ 122 w 195"/>
                  <a:gd name="T25" fmla="*/ 60 h 106"/>
                  <a:gd name="T26" fmla="*/ 99 w 195"/>
                  <a:gd name="T27" fmla="*/ 69 h 106"/>
                  <a:gd name="T28" fmla="*/ 75 w 195"/>
                  <a:gd name="T29" fmla="*/ 80 h 106"/>
                  <a:gd name="T30" fmla="*/ 52 w 195"/>
                  <a:gd name="T31" fmla="*/ 89 h 106"/>
                  <a:gd name="T32" fmla="*/ 26 w 195"/>
                  <a:gd name="T33" fmla="*/ 97 h 106"/>
                  <a:gd name="T34" fmla="*/ 3 w 195"/>
                  <a:gd name="T35" fmla="*/ 106 h 106"/>
                  <a:gd name="T36" fmla="*/ 0 w 195"/>
                  <a:gd name="T37" fmla="*/ 78 h 1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5"/>
                  <a:gd name="T58" fmla="*/ 0 h 106"/>
                  <a:gd name="T59" fmla="*/ 195 w 195"/>
                  <a:gd name="T60" fmla="*/ 106 h 1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5" h="106">
                    <a:moveTo>
                      <a:pt x="0" y="78"/>
                    </a:moveTo>
                    <a:lnTo>
                      <a:pt x="23" y="69"/>
                    </a:lnTo>
                    <a:lnTo>
                      <a:pt x="47" y="62"/>
                    </a:lnTo>
                    <a:lnTo>
                      <a:pt x="70" y="52"/>
                    </a:lnTo>
                    <a:lnTo>
                      <a:pt x="93" y="44"/>
                    </a:lnTo>
                    <a:lnTo>
                      <a:pt x="116" y="34"/>
                    </a:lnTo>
                    <a:lnTo>
                      <a:pt x="138" y="23"/>
                    </a:lnTo>
                    <a:lnTo>
                      <a:pt x="161" y="13"/>
                    </a:lnTo>
                    <a:lnTo>
                      <a:pt x="183" y="0"/>
                    </a:lnTo>
                    <a:lnTo>
                      <a:pt x="195" y="24"/>
                    </a:lnTo>
                    <a:lnTo>
                      <a:pt x="171" y="37"/>
                    </a:lnTo>
                    <a:lnTo>
                      <a:pt x="148" y="48"/>
                    </a:lnTo>
                    <a:lnTo>
                      <a:pt x="122" y="60"/>
                    </a:lnTo>
                    <a:lnTo>
                      <a:pt x="99" y="69"/>
                    </a:lnTo>
                    <a:lnTo>
                      <a:pt x="75" y="80"/>
                    </a:lnTo>
                    <a:lnTo>
                      <a:pt x="52" y="89"/>
                    </a:lnTo>
                    <a:lnTo>
                      <a:pt x="26" y="97"/>
                    </a:lnTo>
                    <a:lnTo>
                      <a:pt x="3" y="106"/>
                    </a:lnTo>
                    <a:lnTo>
                      <a:pt x="0" y="78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22" name="Freeform 43"/>
              <p:cNvSpPr>
                <a:spLocks/>
              </p:cNvSpPr>
              <p:nvPr/>
            </p:nvSpPr>
            <p:spPr bwMode="auto">
              <a:xfrm>
                <a:off x="3439" y="3235"/>
                <a:ext cx="20" cy="34"/>
              </a:xfrm>
              <a:custGeom>
                <a:avLst/>
                <a:gdLst>
                  <a:gd name="T0" fmla="*/ 20 w 20"/>
                  <a:gd name="T1" fmla="*/ 29 h 34"/>
                  <a:gd name="T2" fmla="*/ 2 w 20"/>
                  <a:gd name="T3" fmla="*/ 34 h 34"/>
                  <a:gd name="T4" fmla="*/ 0 w 20"/>
                  <a:gd name="T5" fmla="*/ 5 h 34"/>
                  <a:gd name="T6" fmla="*/ 18 w 20"/>
                  <a:gd name="T7" fmla="*/ 0 h 34"/>
                  <a:gd name="T8" fmla="*/ 20 w 20"/>
                  <a:gd name="T9" fmla="*/ 29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34"/>
                  <a:gd name="T17" fmla="*/ 20 w 2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34">
                    <a:moveTo>
                      <a:pt x="20" y="29"/>
                    </a:moveTo>
                    <a:lnTo>
                      <a:pt x="2" y="34"/>
                    </a:lnTo>
                    <a:lnTo>
                      <a:pt x="0" y="5"/>
                    </a:lnTo>
                    <a:lnTo>
                      <a:pt x="18" y="0"/>
                    </a:lnTo>
                    <a:lnTo>
                      <a:pt x="20" y="29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23" name="Freeform 44"/>
              <p:cNvSpPr>
                <a:spLocks/>
              </p:cNvSpPr>
              <p:nvPr/>
            </p:nvSpPr>
            <p:spPr bwMode="auto">
              <a:xfrm>
                <a:off x="3766" y="2973"/>
                <a:ext cx="151" cy="129"/>
              </a:xfrm>
              <a:custGeom>
                <a:avLst/>
                <a:gdLst>
                  <a:gd name="T0" fmla="*/ 0 w 151"/>
                  <a:gd name="T1" fmla="*/ 69 h 129"/>
                  <a:gd name="T2" fmla="*/ 151 w 151"/>
                  <a:gd name="T3" fmla="*/ 0 h 129"/>
                  <a:gd name="T4" fmla="*/ 72 w 151"/>
                  <a:gd name="T5" fmla="*/ 129 h 129"/>
                  <a:gd name="T6" fmla="*/ 0 w 151"/>
                  <a:gd name="T7" fmla="*/ 69 h 1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1"/>
                  <a:gd name="T13" fmla="*/ 0 h 129"/>
                  <a:gd name="T14" fmla="*/ 151 w 151"/>
                  <a:gd name="T15" fmla="*/ 129 h 1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1" h="129">
                    <a:moveTo>
                      <a:pt x="0" y="69"/>
                    </a:moveTo>
                    <a:lnTo>
                      <a:pt x="151" y="0"/>
                    </a:lnTo>
                    <a:lnTo>
                      <a:pt x="72" y="129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24" name="Freeform 45"/>
              <p:cNvSpPr>
                <a:spLocks/>
              </p:cNvSpPr>
              <p:nvPr/>
            </p:nvSpPr>
            <p:spPr bwMode="auto">
              <a:xfrm>
                <a:off x="3764" y="2956"/>
                <a:ext cx="174" cy="96"/>
              </a:xfrm>
              <a:custGeom>
                <a:avLst/>
                <a:gdLst>
                  <a:gd name="T0" fmla="*/ 146 w 174"/>
                  <a:gd name="T1" fmla="*/ 16 h 96"/>
                  <a:gd name="T2" fmla="*/ 156 w 174"/>
                  <a:gd name="T3" fmla="*/ 27 h 96"/>
                  <a:gd name="T4" fmla="*/ 5 w 174"/>
                  <a:gd name="T5" fmla="*/ 96 h 96"/>
                  <a:gd name="T6" fmla="*/ 0 w 174"/>
                  <a:gd name="T7" fmla="*/ 83 h 96"/>
                  <a:gd name="T8" fmla="*/ 151 w 174"/>
                  <a:gd name="T9" fmla="*/ 11 h 96"/>
                  <a:gd name="T10" fmla="*/ 161 w 174"/>
                  <a:gd name="T11" fmla="*/ 20 h 96"/>
                  <a:gd name="T12" fmla="*/ 151 w 174"/>
                  <a:gd name="T13" fmla="*/ 11 h 96"/>
                  <a:gd name="T14" fmla="*/ 174 w 174"/>
                  <a:gd name="T15" fmla="*/ 0 h 96"/>
                  <a:gd name="T16" fmla="*/ 161 w 174"/>
                  <a:gd name="T17" fmla="*/ 20 h 96"/>
                  <a:gd name="T18" fmla="*/ 146 w 174"/>
                  <a:gd name="T19" fmla="*/ 16 h 9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4"/>
                  <a:gd name="T31" fmla="*/ 0 h 96"/>
                  <a:gd name="T32" fmla="*/ 174 w 174"/>
                  <a:gd name="T33" fmla="*/ 96 h 9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4" h="96">
                    <a:moveTo>
                      <a:pt x="146" y="16"/>
                    </a:moveTo>
                    <a:lnTo>
                      <a:pt x="156" y="27"/>
                    </a:lnTo>
                    <a:lnTo>
                      <a:pt x="5" y="96"/>
                    </a:lnTo>
                    <a:lnTo>
                      <a:pt x="0" y="83"/>
                    </a:lnTo>
                    <a:lnTo>
                      <a:pt x="151" y="11"/>
                    </a:lnTo>
                    <a:lnTo>
                      <a:pt x="161" y="20"/>
                    </a:lnTo>
                    <a:lnTo>
                      <a:pt x="151" y="11"/>
                    </a:lnTo>
                    <a:lnTo>
                      <a:pt x="174" y="0"/>
                    </a:lnTo>
                    <a:lnTo>
                      <a:pt x="161" y="20"/>
                    </a:lnTo>
                    <a:lnTo>
                      <a:pt x="146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25" name="Freeform 46"/>
              <p:cNvSpPr>
                <a:spLocks/>
              </p:cNvSpPr>
              <p:nvPr/>
            </p:nvSpPr>
            <p:spPr bwMode="auto">
              <a:xfrm>
                <a:off x="3831" y="2971"/>
                <a:ext cx="94" cy="146"/>
              </a:xfrm>
              <a:custGeom>
                <a:avLst/>
                <a:gdLst>
                  <a:gd name="T0" fmla="*/ 16 w 94"/>
                  <a:gd name="T1" fmla="*/ 126 h 146"/>
                  <a:gd name="T2" fmla="*/ 0 w 94"/>
                  <a:gd name="T3" fmla="*/ 130 h 146"/>
                  <a:gd name="T4" fmla="*/ 78 w 94"/>
                  <a:gd name="T5" fmla="*/ 0 h 146"/>
                  <a:gd name="T6" fmla="*/ 94 w 94"/>
                  <a:gd name="T7" fmla="*/ 4 h 146"/>
                  <a:gd name="T8" fmla="*/ 16 w 94"/>
                  <a:gd name="T9" fmla="*/ 133 h 146"/>
                  <a:gd name="T10" fmla="*/ 0 w 94"/>
                  <a:gd name="T11" fmla="*/ 140 h 146"/>
                  <a:gd name="T12" fmla="*/ 16 w 94"/>
                  <a:gd name="T13" fmla="*/ 133 h 146"/>
                  <a:gd name="T14" fmla="*/ 9 w 94"/>
                  <a:gd name="T15" fmla="*/ 146 h 146"/>
                  <a:gd name="T16" fmla="*/ 0 w 94"/>
                  <a:gd name="T17" fmla="*/ 140 h 146"/>
                  <a:gd name="T18" fmla="*/ 16 w 94"/>
                  <a:gd name="T19" fmla="*/ 126 h 14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4"/>
                  <a:gd name="T31" fmla="*/ 0 h 146"/>
                  <a:gd name="T32" fmla="*/ 94 w 94"/>
                  <a:gd name="T33" fmla="*/ 146 h 14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4" h="146">
                    <a:moveTo>
                      <a:pt x="16" y="126"/>
                    </a:moveTo>
                    <a:lnTo>
                      <a:pt x="0" y="130"/>
                    </a:lnTo>
                    <a:lnTo>
                      <a:pt x="78" y="0"/>
                    </a:lnTo>
                    <a:lnTo>
                      <a:pt x="94" y="4"/>
                    </a:lnTo>
                    <a:lnTo>
                      <a:pt x="16" y="133"/>
                    </a:lnTo>
                    <a:lnTo>
                      <a:pt x="0" y="140"/>
                    </a:lnTo>
                    <a:lnTo>
                      <a:pt x="16" y="133"/>
                    </a:lnTo>
                    <a:lnTo>
                      <a:pt x="9" y="146"/>
                    </a:lnTo>
                    <a:lnTo>
                      <a:pt x="0" y="140"/>
                    </a:lnTo>
                    <a:lnTo>
                      <a:pt x="16" y="12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26" name="Freeform 47"/>
              <p:cNvSpPr>
                <a:spLocks/>
              </p:cNvSpPr>
              <p:nvPr/>
            </p:nvSpPr>
            <p:spPr bwMode="auto">
              <a:xfrm>
                <a:off x="3749" y="3036"/>
                <a:ext cx="94" cy="74"/>
              </a:xfrm>
              <a:custGeom>
                <a:avLst/>
                <a:gdLst>
                  <a:gd name="T0" fmla="*/ 19 w 94"/>
                  <a:gd name="T1" fmla="*/ 15 h 74"/>
                  <a:gd name="T2" fmla="*/ 24 w 94"/>
                  <a:gd name="T3" fmla="*/ 0 h 74"/>
                  <a:gd name="T4" fmla="*/ 94 w 94"/>
                  <a:gd name="T5" fmla="*/ 60 h 74"/>
                  <a:gd name="T6" fmla="*/ 78 w 94"/>
                  <a:gd name="T7" fmla="*/ 74 h 74"/>
                  <a:gd name="T8" fmla="*/ 9 w 94"/>
                  <a:gd name="T9" fmla="*/ 14 h 74"/>
                  <a:gd name="T10" fmla="*/ 14 w 94"/>
                  <a:gd name="T11" fmla="*/ 0 h 74"/>
                  <a:gd name="T12" fmla="*/ 9 w 94"/>
                  <a:gd name="T13" fmla="*/ 14 h 74"/>
                  <a:gd name="T14" fmla="*/ 0 w 94"/>
                  <a:gd name="T15" fmla="*/ 6 h 74"/>
                  <a:gd name="T16" fmla="*/ 14 w 94"/>
                  <a:gd name="T17" fmla="*/ 0 h 74"/>
                  <a:gd name="T18" fmla="*/ 19 w 94"/>
                  <a:gd name="T19" fmla="*/ 15 h 7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4"/>
                  <a:gd name="T31" fmla="*/ 0 h 74"/>
                  <a:gd name="T32" fmla="*/ 94 w 94"/>
                  <a:gd name="T33" fmla="*/ 74 h 7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4" h="74">
                    <a:moveTo>
                      <a:pt x="19" y="15"/>
                    </a:moveTo>
                    <a:lnTo>
                      <a:pt x="24" y="0"/>
                    </a:lnTo>
                    <a:lnTo>
                      <a:pt x="94" y="60"/>
                    </a:lnTo>
                    <a:lnTo>
                      <a:pt x="78" y="74"/>
                    </a:lnTo>
                    <a:lnTo>
                      <a:pt x="9" y="14"/>
                    </a:lnTo>
                    <a:lnTo>
                      <a:pt x="14" y="0"/>
                    </a:lnTo>
                    <a:lnTo>
                      <a:pt x="9" y="14"/>
                    </a:lnTo>
                    <a:lnTo>
                      <a:pt x="0" y="6"/>
                    </a:lnTo>
                    <a:lnTo>
                      <a:pt x="14" y="0"/>
                    </a:lnTo>
                    <a:lnTo>
                      <a:pt x="19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27" name="Freeform 48"/>
              <p:cNvSpPr>
                <a:spLocks/>
              </p:cNvSpPr>
              <p:nvPr/>
            </p:nvSpPr>
            <p:spPr bwMode="auto">
              <a:xfrm>
                <a:off x="3862" y="2989"/>
                <a:ext cx="42" cy="34"/>
              </a:xfrm>
              <a:custGeom>
                <a:avLst/>
                <a:gdLst>
                  <a:gd name="T0" fmla="*/ 0 w 42"/>
                  <a:gd name="T1" fmla="*/ 15 h 34"/>
                  <a:gd name="T2" fmla="*/ 16 w 42"/>
                  <a:gd name="T3" fmla="*/ 0 h 34"/>
                  <a:gd name="T4" fmla="*/ 42 w 42"/>
                  <a:gd name="T5" fmla="*/ 19 h 34"/>
                  <a:gd name="T6" fmla="*/ 26 w 42"/>
                  <a:gd name="T7" fmla="*/ 34 h 34"/>
                  <a:gd name="T8" fmla="*/ 0 w 42"/>
                  <a:gd name="T9" fmla="*/ 15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"/>
                  <a:gd name="T16" fmla="*/ 0 h 34"/>
                  <a:gd name="T17" fmla="*/ 42 w 42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" h="34">
                    <a:moveTo>
                      <a:pt x="0" y="15"/>
                    </a:moveTo>
                    <a:lnTo>
                      <a:pt x="16" y="0"/>
                    </a:lnTo>
                    <a:lnTo>
                      <a:pt x="42" y="19"/>
                    </a:lnTo>
                    <a:lnTo>
                      <a:pt x="26" y="34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28" name="Freeform 49"/>
              <p:cNvSpPr>
                <a:spLocks/>
              </p:cNvSpPr>
              <p:nvPr/>
            </p:nvSpPr>
            <p:spPr bwMode="auto">
              <a:xfrm>
                <a:off x="3680" y="3004"/>
                <a:ext cx="209" cy="166"/>
              </a:xfrm>
              <a:custGeom>
                <a:avLst/>
                <a:gdLst>
                  <a:gd name="T0" fmla="*/ 0 w 209"/>
                  <a:gd name="T1" fmla="*/ 138 h 166"/>
                  <a:gd name="T2" fmla="*/ 0 w 209"/>
                  <a:gd name="T3" fmla="*/ 138 h 166"/>
                  <a:gd name="T4" fmla="*/ 24 w 209"/>
                  <a:gd name="T5" fmla="*/ 122 h 166"/>
                  <a:gd name="T6" fmla="*/ 49 w 209"/>
                  <a:gd name="T7" fmla="*/ 106 h 166"/>
                  <a:gd name="T8" fmla="*/ 73 w 209"/>
                  <a:gd name="T9" fmla="*/ 90 h 166"/>
                  <a:gd name="T10" fmla="*/ 97 w 209"/>
                  <a:gd name="T11" fmla="*/ 73 h 166"/>
                  <a:gd name="T12" fmla="*/ 119 w 209"/>
                  <a:gd name="T13" fmla="*/ 57 h 166"/>
                  <a:gd name="T14" fmla="*/ 141 w 209"/>
                  <a:gd name="T15" fmla="*/ 38 h 166"/>
                  <a:gd name="T16" fmla="*/ 162 w 209"/>
                  <a:gd name="T17" fmla="*/ 19 h 166"/>
                  <a:gd name="T18" fmla="*/ 183 w 209"/>
                  <a:gd name="T19" fmla="*/ 0 h 166"/>
                  <a:gd name="T20" fmla="*/ 209 w 209"/>
                  <a:gd name="T21" fmla="*/ 20 h 166"/>
                  <a:gd name="T22" fmla="*/ 188 w 209"/>
                  <a:gd name="T23" fmla="*/ 39 h 166"/>
                  <a:gd name="T24" fmla="*/ 165 w 209"/>
                  <a:gd name="T25" fmla="*/ 60 h 166"/>
                  <a:gd name="T26" fmla="*/ 141 w 209"/>
                  <a:gd name="T27" fmla="*/ 79 h 166"/>
                  <a:gd name="T28" fmla="*/ 117 w 209"/>
                  <a:gd name="T29" fmla="*/ 97 h 166"/>
                  <a:gd name="T30" fmla="*/ 93 w 209"/>
                  <a:gd name="T31" fmla="*/ 114 h 166"/>
                  <a:gd name="T32" fmla="*/ 68 w 209"/>
                  <a:gd name="T33" fmla="*/ 132 h 166"/>
                  <a:gd name="T34" fmla="*/ 42 w 209"/>
                  <a:gd name="T35" fmla="*/ 148 h 166"/>
                  <a:gd name="T36" fmla="*/ 15 w 209"/>
                  <a:gd name="T37" fmla="*/ 166 h 166"/>
                  <a:gd name="T38" fmla="*/ 0 w 209"/>
                  <a:gd name="T39" fmla="*/ 138 h 16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9"/>
                  <a:gd name="T61" fmla="*/ 0 h 166"/>
                  <a:gd name="T62" fmla="*/ 209 w 209"/>
                  <a:gd name="T63" fmla="*/ 166 h 16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9" h="166">
                    <a:moveTo>
                      <a:pt x="0" y="138"/>
                    </a:moveTo>
                    <a:lnTo>
                      <a:pt x="0" y="138"/>
                    </a:lnTo>
                    <a:lnTo>
                      <a:pt x="24" y="122"/>
                    </a:lnTo>
                    <a:lnTo>
                      <a:pt x="49" y="106"/>
                    </a:lnTo>
                    <a:lnTo>
                      <a:pt x="73" y="90"/>
                    </a:lnTo>
                    <a:lnTo>
                      <a:pt x="97" y="73"/>
                    </a:lnTo>
                    <a:lnTo>
                      <a:pt x="119" y="57"/>
                    </a:lnTo>
                    <a:lnTo>
                      <a:pt x="141" y="38"/>
                    </a:lnTo>
                    <a:lnTo>
                      <a:pt x="162" y="19"/>
                    </a:lnTo>
                    <a:lnTo>
                      <a:pt x="183" y="0"/>
                    </a:lnTo>
                    <a:lnTo>
                      <a:pt x="209" y="20"/>
                    </a:lnTo>
                    <a:lnTo>
                      <a:pt x="188" y="39"/>
                    </a:lnTo>
                    <a:lnTo>
                      <a:pt x="165" y="60"/>
                    </a:lnTo>
                    <a:lnTo>
                      <a:pt x="141" y="79"/>
                    </a:lnTo>
                    <a:lnTo>
                      <a:pt x="117" y="97"/>
                    </a:lnTo>
                    <a:lnTo>
                      <a:pt x="93" y="114"/>
                    </a:lnTo>
                    <a:lnTo>
                      <a:pt x="68" y="132"/>
                    </a:lnTo>
                    <a:lnTo>
                      <a:pt x="42" y="148"/>
                    </a:lnTo>
                    <a:lnTo>
                      <a:pt x="15" y="166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29" name="Freeform 50"/>
              <p:cNvSpPr>
                <a:spLocks/>
              </p:cNvSpPr>
              <p:nvPr/>
            </p:nvSpPr>
            <p:spPr bwMode="auto">
              <a:xfrm>
                <a:off x="3495" y="3137"/>
                <a:ext cx="195" cy="117"/>
              </a:xfrm>
              <a:custGeom>
                <a:avLst/>
                <a:gdLst>
                  <a:gd name="T0" fmla="*/ 0 w 195"/>
                  <a:gd name="T1" fmla="*/ 84 h 117"/>
                  <a:gd name="T2" fmla="*/ 22 w 195"/>
                  <a:gd name="T3" fmla="*/ 76 h 117"/>
                  <a:gd name="T4" fmla="*/ 45 w 195"/>
                  <a:gd name="T5" fmla="*/ 67 h 117"/>
                  <a:gd name="T6" fmla="*/ 68 w 195"/>
                  <a:gd name="T7" fmla="*/ 58 h 117"/>
                  <a:gd name="T8" fmla="*/ 91 w 195"/>
                  <a:gd name="T9" fmla="*/ 47 h 117"/>
                  <a:gd name="T10" fmla="*/ 113 w 195"/>
                  <a:gd name="T11" fmla="*/ 37 h 117"/>
                  <a:gd name="T12" fmla="*/ 135 w 195"/>
                  <a:gd name="T13" fmla="*/ 25 h 117"/>
                  <a:gd name="T14" fmla="*/ 157 w 195"/>
                  <a:gd name="T15" fmla="*/ 13 h 117"/>
                  <a:gd name="T16" fmla="*/ 179 w 195"/>
                  <a:gd name="T17" fmla="*/ 0 h 117"/>
                  <a:gd name="T18" fmla="*/ 195 w 195"/>
                  <a:gd name="T19" fmla="*/ 28 h 117"/>
                  <a:gd name="T20" fmla="*/ 172 w 195"/>
                  <a:gd name="T21" fmla="*/ 42 h 117"/>
                  <a:gd name="T22" fmla="*/ 148 w 195"/>
                  <a:gd name="T23" fmla="*/ 54 h 117"/>
                  <a:gd name="T24" fmla="*/ 125 w 195"/>
                  <a:gd name="T25" fmla="*/ 67 h 117"/>
                  <a:gd name="T26" fmla="*/ 100 w 195"/>
                  <a:gd name="T27" fmla="*/ 80 h 117"/>
                  <a:gd name="T28" fmla="*/ 77 w 195"/>
                  <a:gd name="T29" fmla="*/ 89 h 117"/>
                  <a:gd name="T30" fmla="*/ 52 w 195"/>
                  <a:gd name="T31" fmla="*/ 100 h 117"/>
                  <a:gd name="T32" fmla="*/ 27 w 195"/>
                  <a:gd name="T33" fmla="*/ 108 h 117"/>
                  <a:gd name="T34" fmla="*/ 4 w 195"/>
                  <a:gd name="T35" fmla="*/ 117 h 117"/>
                  <a:gd name="T36" fmla="*/ 0 w 195"/>
                  <a:gd name="T37" fmla="*/ 84 h 11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5"/>
                  <a:gd name="T58" fmla="*/ 0 h 117"/>
                  <a:gd name="T59" fmla="*/ 195 w 195"/>
                  <a:gd name="T60" fmla="*/ 117 h 11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5" h="117">
                    <a:moveTo>
                      <a:pt x="0" y="84"/>
                    </a:moveTo>
                    <a:lnTo>
                      <a:pt x="22" y="76"/>
                    </a:lnTo>
                    <a:lnTo>
                      <a:pt x="45" y="67"/>
                    </a:lnTo>
                    <a:lnTo>
                      <a:pt x="68" y="58"/>
                    </a:lnTo>
                    <a:lnTo>
                      <a:pt x="91" y="47"/>
                    </a:lnTo>
                    <a:lnTo>
                      <a:pt x="113" y="37"/>
                    </a:lnTo>
                    <a:lnTo>
                      <a:pt x="135" y="25"/>
                    </a:lnTo>
                    <a:lnTo>
                      <a:pt x="157" y="13"/>
                    </a:lnTo>
                    <a:lnTo>
                      <a:pt x="179" y="0"/>
                    </a:lnTo>
                    <a:lnTo>
                      <a:pt x="195" y="28"/>
                    </a:lnTo>
                    <a:lnTo>
                      <a:pt x="172" y="42"/>
                    </a:lnTo>
                    <a:lnTo>
                      <a:pt x="148" y="54"/>
                    </a:lnTo>
                    <a:lnTo>
                      <a:pt x="125" y="67"/>
                    </a:lnTo>
                    <a:lnTo>
                      <a:pt x="100" y="80"/>
                    </a:lnTo>
                    <a:lnTo>
                      <a:pt x="77" y="89"/>
                    </a:lnTo>
                    <a:lnTo>
                      <a:pt x="52" y="100"/>
                    </a:lnTo>
                    <a:lnTo>
                      <a:pt x="27" y="108"/>
                    </a:lnTo>
                    <a:lnTo>
                      <a:pt x="4" y="117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30" name="Freeform 51"/>
              <p:cNvSpPr>
                <a:spLocks/>
              </p:cNvSpPr>
              <p:nvPr/>
            </p:nvSpPr>
            <p:spPr bwMode="auto">
              <a:xfrm>
                <a:off x="3472" y="3221"/>
                <a:ext cx="25" cy="40"/>
              </a:xfrm>
              <a:custGeom>
                <a:avLst/>
                <a:gdLst>
                  <a:gd name="T0" fmla="*/ 25 w 25"/>
                  <a:gd name="T1" fmla="*/ 34 h 40"/>
                  <a:gd name="T2" fmla="*/ 5 w 25"/>
                  <a:gd name="T3" fmla="*/ 40 h 40"/>
                  <a:gd name="T4" fmla="*/ 0 w 25"/>
                  <a:gd name="T5" fmla="*/ 6 h 40"/>
                  <a:gd name="T6" fmla="*/ 21 w 25"/>
                  <a:gd name="T7" fmla="*/ 0 h 40"/>
                  <a:gd name="T8" fmla="*/ 25 w 25"/>
                  <a:gd name="T9" fmla="*/ 34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40"/>
                  <a:gd name="T17" fmla="*/ 25 w 25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40">
                    <a:moveTo>
                      <a:pt x="25" y="34"/>
                    </a:moveTo>
                    <a:lnTo>
                      <a:pt x="5" y="40"/>
                    </a:lnTo>
                    <a:lnTo>
                      <a:pt x="0" y="6"/>
                    </a:lnTo>
                    <a:lnTo>
                      <a:pt x="21" y="0"/>
                    </a:lnTo>
                    <a:lnTo>
                      <a:pt x="25" y="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31" name="Freeform 52"/>
              <p:cNvSpPr>
                <a:spLocks/>
              </p:cNvSpPr>
              <p:nvPr/>
            </p:nvSpPr>
            <p:spPr bwMode="auto">
              <a:xfrm>
                <a:off x="3766" y="2973"/>
                <a:ext cx="151" cy="129"/>
              </a:xfrm>
              <a:custGeom>
                <a:avLst/>
                <a:gdLst>
                  <a:gd name="T0" fmla="*/ 0 w 151"/>
                  <a:gd name="T1" fmla="*/ 69 h 129"/>
                  <a:gd name="T2" fmla="*/ 151 w 151"/>
                  <a:gd name="T3" fmla="*/ 0 h 129"/>
                  <a:gd name="T4" fmla="*/ 72 w 151"/>
                  <a:gd name="T5" fmla="*/ 129 h 129"/>
                  <a:gd name="T6" fmla="*/ 0 w 151"/>
                  <a:gd name="T7" fmla="*/ 69 h 1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1"/>
                  <a:gd name="T13" fmla="*/ 0 h 129"/>
                  <a:gd name="T14" fmla="*/ 151 w 151"/>
                  <a:gd name="T15" fmla="*/ 129 h 1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1" h="129">
                    <a:moveTo>
                      <a:pt x="0" y="69"/>
                    </a:moveTo>
                    <a:lnTo>
                      <a:pt x="151" y="0"/>
                    </a:lnTo>
                    <a:lnTo>
                      <a:pt x="72" y="129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32" name="Freeform 53"/>
              <p:cNvSpPr>
                <a:spLocks/>
              </p:cNvSpPr>
              <p:nvPr/>
            </p:nvSpPr>
            <p:spPr bwMode="auto">
              <a:xfrm>
                <a:off x="3766" y="2964"/>
                <a:ext cx="165" cy="85"/>
              </a:xfrm>
              <a:custGeom>
                <a:avLst/>
                <a:gdLst>
                  <a:gd name="T0" fmla="*/ 148 w 165"/>
                  <a:gd name="T1" fmla="*/ 11 h 85"/>
                  <a:gd name="T2" fmla="*/ 153 w 165"/>
                  <a:gd name="T3" fmla="*/ 15 h 85"/>
                  <a:gd name="T4" fmla="*/ 3 w 165"/>
                  <a:gd name="T5" fmla="*/ 85 h 85"/>
                  <a:gd name="T6" fmla="*/ 0 w 165"/>
                  <a:gd name="T7" fmla="*/ 77 h 85"/>
                  <a:gd name="T8" fmla="*/ 151 w 165"/>
                  <a:gd name="T9" fmla="*/ 7 h 85"/>
                  <a:gd name="T10" fmla="*/ 156 w 165"/>
                  <a:gd name="T11" fmla="*/ 13 h 85"/>
                  <a:gd name="T12" fmla="*/ 151 w 165"/>
                  <a:gd name="T13" fmla="*/ 7 h 85"/>
                  <a:gd name="T14" fmla="*/ 165 w 165"/>
                  <a:gd name="T15" fmla="*/ 0 h 85"/>
                  <a:gd name="T16" fmla="*/ 156 w 165"/>
                  <a:gd name="T17" fmla="*/ 13 h 85"/>
                  <a:gd name="T18" fmla="*/ 148 w 165"/>
                  <a:gd name="T19" fmla="*/ 11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85"/>
                  <a:gd name="T32" fmla="*/ 165 w 165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85">
                    <a:moveTo>
                      <a:pt x="148" y="11"/>
                    </a:moveTo>
                    <a:lnTo>
                      <a:pt x="153" y="15"/>
                    </a:lnTo>
                    <a:lnTo>
                      <a:pt x="3" y="85"/>
                    </a:lnTo>
                    <a:lnTo>
                      <a:pt x="0" y="77"/>
                    </a:lnTo>
                    <a:lnTo>
                      <a:pt x="151" y="7"/>
                    </a:lnTo>
                    <a:lnTo>
                      <a:pt x="156" y="13"/>
                    </a:lnTo>
                    <a:lnTo>
                      <a:pt x="151" y="7"/>
                    </a:lnTo>
                    <a:lnTo>
                      <a:pt x="165" y="0"/>
                    </a:lnTo>
                    <a:lnTo>
                      <a:pt x="156" y="13"/>
                    </a:lnTo>
                    <a:lnTo>
                      <a:pt x="148" y="11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33" name="Freeform 54"/>
              <p:cNvSpPr>
                <a:spLocks/>
              </p:cNvSpPr>
              <p:nvPr/>
            </p:nvSpPr>
            <p:spPr bwMode="auto">
              <a:xfrm>
                <a:off x="3833" y="2973"/>
                <a:ext cx="88" cy="140"/>
              </a:xfrm>
              <a:custGeom>
                <a:avLst/>
                <a:gdLst>
                  <a:gd name="T0" fmla="*/ 11 w 88"/>
                  <a:gd name="T1" fmla="*/ 127 h 140"/>
                  <a:gd name="T2" fmla="*/ 0 w 88"/>
                  <a:gd name="T3" fmla="*/ 131 h 140"/>
                  <a:gd name="T4" fmla="*/ 78 w 88"/>
                  <a:gd name="T5" fmla="*/ 0 h 140"/>
                  <a:gd name="T6" fmla="*/ 88 w 88"/>
                  <a:gd name="T7" fmla="*/ 2 h 140"/>
                  <a:gd name="T8" fmla="*/ 9 w 88"/>
                  <a:gd name="T9" fmla="*/ 134 h 140"/>
                  <a:gd name="T10" fmla="*/ 0 w 88"/>
                  <a:gd name="T11" fmla="*/ 136 h 140"/>
                  <a:gd name="T12" fmla="*/ 9 w 88"/>
                  <a:gd name="T13" fmla="*/ 134 h 140"/>
                  <a:gd name="T14" fmla="*/ 5 w 88"/>
                  <a:gd name="T15" fmla="*/ 140 h 140"/>
                  <a:gd name="T16" fmla="*/ 0 w 88"/>
                  <a:gd name="T17" fmla="*/ 136 h 140"/>
                  <a:gd name="T18" fmla="*/ 11 w 88"/>
                  <a:gd name="T19" fmla="*/ 127 h 1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8"/>
                  <a:gd name="T31" fmla="*/ 0 h 140"/>
                  <a:gd name="T32" fmla="*/ 88 w 88"/>
                  <a:gd name="T33" fmla="*/ 140 h 1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8" h="140">
                    <a:moveTo>
                      <a:pt x="11" y="127"/>
                    </a:moveTo>
                    <a:lnTo>
                      <a:pt x="0" y="131"/>
                    </a:lnTo>
                    <a:lnTo>
                      <a:pt x="78" y="0"/>
                    </a:lnTo>
                    <a:lnTo>
                      <a:pt x="88" y="2"/>
                    </a:lnTo>
                    <a:lnTo>
                      <a:pt x="9" y="134"/>
                    </a:lnTo>
                    <a:lnTo>
                      <a:pt x="0" y="136"/>
                    </a:lnTo>
                    <a:lnTo>
                      <a:pt x="9" y="134"/>
                    </a:lnTo>
                    <a:lnTo>
                      <a:pt x="5" y="140"/>
                    </a:lnTo>
                    <a:lnTo>
                      <a:pt x="0" y="136"/>
                    </a:lnTo>
                    <a:lnTo>
                      <a:pt x="11" y="127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34" name="Freeform 55"/>
              <p:cNvSpPr>
                <a:spLocks/>
              </p:cNvSpPr>
              <p:nvPr/>
            </p:nvSpPr>
            <p:spPr bwMode="auto">
              <a:xfrm>
                <a:off x="3754" y="3039"/>
                <a:ext cx="86" cy="68"/>
              </a:xfrm>
              <a:custGeom>
                <a:avLst/>
                <a:gdLst>
                  <a:gd name="T0" fmla="*/ 12 w 86"/>
                  <a:gd name="T1" fmla="*/ 9 h 68"/>
                  <a:gd name="T2" fmla="*/ 15 w 86"/>
                  <a:gd name="T3" fmla="*/ 0 h 68"/>
                  <a:gd name="T4" fmla="*/ 86 w 86"/>
                  <a:gd name="T5" fmla="*/ 59 h 68"/>
                  <a:gd name="T6" fmla="*/ 77 w 86"/>
                  <a:gd name="T7" fmla="*/ 68 h 68"/>
                  <a:gd name="T8" fmla="*/ 5 w 86"/>
                  <a:gd name="T9" fmla="*/ 8 h 68"/>
                  <a:gd name="T10" fmla="*/ 10 w 86"/>
                  <a:gd name="T11" fmla="*/ 0 h 68"/>
                  <a:gd name="T12" fmla="*/ 5 w 86"/>
                  <a:gd name="T13" fmla="*/ 8 h 68"/>
                  <a:gd name="T14" fmla="*/ 0 w 86"/>
                  <a:gd name="T15" fmla="*/ 4 h 68"/>
                  <a:gd name="T16" fmla="*/ 10 w 86"/>
                  <a:gd name="T17" fmla="*/ 0 h 68"/>
                  <a:gd name="T18" fmla="*/ 12 w 86"/>
                  <a:gd name="T19" fmla="*/ 9 h 6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6"/>
                  <a:gd name="T31" fmla="*/ 0 h 68"/>
                  <a:gd name="T32" fmla="*/ 86 w 86"/>
                  <a:gd name="T33" fmla="*/ 68 h 6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6" h="68">
                    <a:moveTo>
                      <a:pt x="12" y="9"/>
                    </a:moveTo>
                    <a:lnTo>
                      <a:pt x="15" y="0"/>
                    </a:lnTo>
                    <a:lnTo>
                      <a:pt x="86" y="59"/>
                    </a:lnTo>
                    <a:lnTo>
                      <a:pt x="77" y="68"/>
                    </a:lnTo>
                    <a:lnTo>
                      <a:pt x="5" y="8"/>
                    </a:lnTo>
                    <a:lnTo>
                      <a:pt x="10" y="0"/>
                    </a:lnTo>
                    <a:lnTo>
                      <a:pt x="5" y="8"/>
                    </a:lnTo>
                    <a:lnTo>
                      <a:pt x="0" y="4"/>
                    </a:lnTo>
                    <a:lnTo>
                      <a:pt x="10" y="0"/>
                    </a:lnTo>
                    <a:lnTo>
                      <a:pt x="12" y="9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35" name="Freeform 56"/>
              <p:cNvSpPr>
                <a:spLocks/>
              </p:cNvSpPr>
              <p:nvPr/>
            </p:nvSpPr>
            <p:spPr bwMode="auto">
              <a:xfrm>
                <a:off x="3856" y="3003"/>
                <a:ext cx="35" cy="28"/>
              </a:xfrm>
              <a:custGeom>
                <a:avLst/>
                <a:gdLst>
                  <a:gd name="T0" fmla="*/ 0 w 35"/>
                  <a:gd name="T1" fmla="*/ 12 h 28"/>
                  <a:gd name="T2" fmla="*/ 14 w 35"/>
                  <a:gd name="T3" fmla="*/ 0 h 28"/>
                  <a:gd name="T4" fmla="*/ 35 w 35"/>
                  <a:gd name="T5" fmla="*/ 16 h 28"/>
                  <a:gd name="T6" fmla="*/ 21 w 35"/>
                  <a:gd name="T7" fmla="*/ 28 h 28"/>
                  <a:gd name="T8" fmla="*/ 0 w 35"/>
                  <a:gd name="T9" fmla="*/ 12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28"/>
                  <a:gd name="T17" fmla="*/ 35 w 35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28">
                    <a:moveTo>
                      <a:pt x="0" y="12"/>
                    </a:moveTo>
                    <a:lnTo>
                      <a:pt x="14" y="0"/>
                    </a:lnTo>
                    <a:lnTo>
                      <a:pt x="35" y="16"/>
                    </a:lnTo>
                    <a:lnTo>
                      <a:pt x="21" y="2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36" name="Freeform 57"/>
              <p:cNvSpPr>
                <a:spLocks/>
              </p:cNvSpPr>
              <p:nvPr/>
            </p:nvSpPr>
            <p:spPr bwMode="auto">
              <a:xfrm>
                <a:off x="3669" y="3015"/>
                <a:ext cx="206" cy="160"/>
              </a:xfrm>
              <a:custGeom>
                <a:avLst/>
                <a:gdLst>
                  <a:gd name="T0" fmla="*/ 0 w 206"/>
                  <a:gd name="T1" fmla="*/ 137 h 160"/>
                  <a:gd name="T2" fmla="*/ 0 w 206"/>
                  <a:gd name="T3" fmla="*/ 137 h 160"/>
                  <a:gd name="T4" fmla="*/ 26 w 206"/>
                  <a:gd name="T5" fmla="*/ 121 h 160"/>
                  <a:gd name="T6" fmla="*/ 51 w 206"/>
                  <a:gd name="T7" fmla="*/ 105 h 160"/>
                  <a:gd name="T8" fmla="*/ 75 w 206"/>
                  <a:gd name="T9" fmla="*/ 89 h 160"/>
                  <a:gd name="T10" fmla="*/ 98 w 206"/>
                  <a:gd name="T11" fmla="*/ 72 h 160"/>
                  <a:gd name="T12" fmla="*/ 121 w 206"/>
                  <a:gd name="T13" fmla="*/ 55 h 160"/>
                  <a:gd name="T14" fmla="*/ 143 w 206"/>
                  <a:gd name="T15" fmla="*/ 37 h 160"/>
                  <a:gd name="T16" fmla="*/ 164 w 206"/>
                  <a:gd name="T17" fmla="*/ 18 h 160"/>
                  <a:gd name="T18" fmla="*/ 184 w 206"/>
                  <a:gd name="T19" fmla="*/ 0 h 160"/>
                  <a:gd name="T20" fmla="*/ 206 w 206"/>
                  <a:gd name="T21" fmla="*/ 16 h 160"/>
                  <a:gd name="T22" fmla="*/ 184 w 206"/>
                  <a:gd name="T23" fmla="*/ 36 h 160"/>
                  <a:gd name="T24" fmla="*/ 162 w 206"/>
                  <a:gd name="T25" fmla="*/ 55 h 160"/>
                  <a:gd name="T26" fmla="*/ 140 w 206"/>
                  <a:gd name="T27" fmla="*/ 74 h 160"/>
                  <a:gd name="T28" fmla="*/ 114 w 206"/>
                  <a:gd name="T29" fmla="*/ 92 h 160"/>
                  <a:gd name="T30" fmla="*/ 91 w 206"/>
                  <a:gd name="T31" fmla="*/ 111 h 160"/>
                  <a:gd name="T32" fmla="*/ 66 w 206"/>
                  <a:gd name="T33" fmla="*/ 127 h 160"/>
                  <a:gd name="T34" fmla="*/ 40 w 206"/>
                  <a:gd name="T35" fmla="*/ 144 h 160"/>
                  <a:gd name="T36" fmla="*/ 14 w 206"/>
                  <a:gd name="T37" fmla="*/ 160 h 160"/>
                  <a:gd name="T38" fmla="*/ 0 w 206"/>
                  <a:gd name="T39" fmla="*/ 137 h 16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6"/>
                  <a:gd name="T61" fmla="*/ 0 h 160"/>
                  <a:gd name="T62" fmla="*/ 206 w 206"/>
                  <a:gd name="T63" fmla="*/ 160 h 16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6" h="160">
                    <a:moveTo>
                      <a:pt x="0" y="137"/>
                    </a:moveTo>
                    <a:lnTo>
                      <a:pt x="0" y="137"/>
                    </a:lnTo>
                    <a:lnTo>
                      <a:pt x="26" y="121"/>
                    </a:lnTo>
                    <a:lnTo>
                      <a:pt x="51" y="105"/>
                    </a:lnTo>
                    <a:lnTo>
                      <a:pt x="75" y="89"/>
                    </a:lnTo>
                    <a:lnTo>
                      <a:pt x="98" y="72"/>
                    </a:lnTo>
                    <a:lnTo>
                      <a:pt x="121" y="55"/>
                    </a:lnTo>
                    <a:lnTo>
                      <a:pt x="143" y="37"/>
                    </a:lnTo>
                    <a:lnTo>
                      <a:pt x="164" y="18"/>
                    </a:lnTo>
                    <a:lnTo>
                      <a:pt x="184" y="0"/>
                    </a:lnTo>
                    <a:lnTo>
                      <a:pt x="206" y="16"/>
                    </a:lnTo>
                    <a:lnTo>
                      <a:pt x="184" y="36"/>
                    </a:lnTo>
                    <a:lnTo>
                      <a:pt x="162" y="55"/>
                    </a:lnTo>
                    <a:lnTo>
                      <a:pt x="140" y="74"/>
                    </a:lnTo>
                    <a:lnTo>
                      <a:pt x="114" y="92"/>
                    </a:lnTo>
                    <a:lnTo>
                      <a:pt x="91" y="111"/>
                    </a:lnTo>
                    <a:lnTo>
                      <a:pt x="66" y="127"/>
                    </a:lnTo>
                    <a:lnTo>
                      <a:pt x="40" y="144"/>
                    </a:lnTo>
                    <a:lnTo>
                      <a:pt x="14" y="160"/>
                    </a:lnTo>
                    <a:lnTo>
                      <a:pt x="0" y="137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37" name="Freeform 58"/>
              <p:cNvSpPr>
                <a:spLocks/>
              </p:cNvSpPr>
              <p:nvPr/>
            </p:nvSpPr>
            <p:spPr bwMode="auto">
              <a:xfrm>
                <a:off x="3484" y="3151"/>
                <a:ext cx="193" cy="111"/>
              </a:xfrm>
              <a:custGeom>
                <a:avLst/>
                <a:gdLst>
                  <a:gd name="T0" fmla="*/ 0 w 193"/>
                  <a:gd name="T1" fmla="*/ 84 h 111"/>
                  <a:gd name="T2" fmla="*/ 22 w 193"/>
                  <a:gd name="T3" fmla="*/ 75 h 111"/>
                  <a:gd name="T4" fmla="*/ 45 w 193"/>
                  <a:gd name="T5" fmla="*/ 67 h 111"/>
                  <a:gd name="T6" fmla="*/ 68 w 193"/>
                  <a:gd name="T7" fmla="*/ 58 h 111"/>
                  <a:gd name="T8" fmla="*/ 91 w 193"/>
                  <a:gd name="T9" fmla="*/ 47 h 111"/>
                  <a:gd name="T10" fmla="*/ 113 w 193"/>
                  <a:gd name="T11" fmla="*/ 37 h 111"/>
                  <a:gd name="T12" fmla="*/ 136 w 193"/>
                  <a:gd name="T13" fmla="*/ 25 h 111"/>
                  <a:gd name="T14" fmla="*/ 157 w 193"/>
                  <a:gd name="T15" fmla="*/ 13 h 111"/>
                  <a:gd name="T16" fmla="*/ 180 w 193"/>
                  <a:gd name="T17" fmla="*/ 0 h 111"/>
                  <a:gd name="T18" fmla="*/ 193 w 193"/>
                  <a:gd name="T19" fmla="*/ 23 h 111"/>
                  <a:gd name="T20" fmla="*/ 171 w 193"/>
                  <a:gd name="T21" fmla="*/ 37 h 111"/>
                  <a:gd name="T22" fmla="*/ 146 w 193"/>
                  <a:gd name="T23" fmla="*/ 50 h 111"/>
                  <a:gd name="T24" fmla="*/ 122 w 193"/>
                  <a:gd name="T25" fmla="*/ 62 h 111"/>
                  <a:gd name="T26" fmla="*/ 98 w 193"/>
                  <a:gd name="T27" fmla="*/ 72 h 111"/>
                  <a:gd name="T28" fmla="*/ 75 w 193"/>
                  <a:gd name="T29" fmla="*/ 84 h 111"/>
                  <a:gd name="T30" fmla="*/ 51 w 193"/>
                  <a:gd name="T31" fmla="*/ 93 h 111"/>
                  <a:gd name="T32" fmla="*/ 28 w 193"/>
                  <a:gd name="T33" fmla="*/ 103 h 111"/>
                  <a:gd name="T34" fmla="*/ 3 w 193"/>
                  <a:gd name="T35" fmla="*/ 111 h 111"/>
                  <a:gd name="T36" fmla="*/ 0 w 193"/>
                  <a:gd name="T37" fmla="*/ 84 h 11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3"/>
                  <a:gd name="T58" fmla="*/ 0 h 111"/>
                  <a:gd name="T59" fmla="*/ 193 w 193"/>
                  <a:gd name="T60" fmla="*/ 111 h 11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3" h="111">
                    <a:moveTo>
                      <a:pt x="0" y="84"/>
                    </a:moveTo>
                    <a:lnTo>
                      <a:pt x="22" y="75"/>
                    </a:lnTo>
                    <a:lnTo>
                      <a:pt x="45" y="67"/>
                    </a:lnTo>
                    <a:lnTo>
                      <a:pt x="68" y="58"/>
                    </a:lnTo>
                    <a:lnTo>
                      <a:pt x="91" y="47"/>
                    </a:lnTo>
                    <a:lnTo>
                      <a:pt x="113" y="37"/>
                    </a:lnTo>
                    <a:lnTo>
                      <a:pt x="136" y="25"/>
                    </a:lnTo>
                    <a:lnTo>
                      <a:pt x="157" y="13"/>
                    </a:lnTo>
                    <a:lnTo>
                      <a:pt x="180" y="0"/>
                    </a:lnTo>
                    <a:lnTo>
                      <a:pt x="193" y="23"/>
                    </a:lnTo>
                    <a:lnTo>
                      <a:pt x="171" y="37"/>
                    </a:lnTo>
                    <a:lnTo>
                      <a:pt x="146" y="50"/>
                    </a:lnTo>
                    <a:lnTo>
                      <a:pt x="122" y="62"/>
                    </a:lnTo>
                    <a:lnTo>
                      <a:pt x="98" y="72"/>
                    </a:lnTo>
                    <a:lnTo>
                      <a:pt x="75" y="84"/>
                    </a:lnTo>
                    <a:lnTo>
                      <a:pt x="51" y="93"/>
                    </a:lnTo>
                    <a:lnTo>
                      <a:pt x="28" y="103"/>
                    </a:lnTo>
                    <a:lnTo>
                      <a:pt x="3" y="111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38" name="Freeform 59"/>
              <p:cNvSpPr>
                <a:spLocks/>
              </p:cNvSpPr>
              <p:nvPr/>
            </p:nvSpPr>
            <p:spPr bwMode="auto">
              <a:xfrm>
                <a:off x="3466" y="3235"/>
                <a:ext cx="21" cy="34"/>
              </a:xfrm>
              <a:custGeom>
                <a:avLst/>
                <a:gdLst>
                  <a:gd name="T0" fmla="*/ 21 w 21"/>
                  <a:gd name="T1" fmla="*/ 27 h 34"/>
                  <a:gd name="T2" fmla="*/ 3 w 21"/>
                  <a:gd name="T3" fmla="*/ 34 h 34"/>
                  <a:gd name="T4" fmla="*/ 0 w 21"/>
                  <a:gd name="T5" fmla="*/ 6 h 34"/>
                  <a:gd name="T6" fmla="*/ 18 w 21"/>
                  <a:gd name="T7" fmla="*/ 0 h 34"/>
                  <a:gd name="T8" fmla="*/ 21 w 21"/>
                  <a:gd name="T9" fmla="*/ 27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34"/>
                  <a:gd name="T17" fmla="*/ 21 w 21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34">
                    <a:moveTo>
                      <a:pt x="21" y="27"/>
                    </a:moveTo>
                    <a:lnTo>
                      <a:pt x="3" y="34"/>
                    </a:lnTo>
                    <a:lnTo>
                      <a:pt x="0" y="6"/>
                    </a:lnTo>
                    <a:lnTo>
                      <a:pt x="18" y="0"/>
                    </a:lnTo>
                    <a:lnTo>
                      <a:pt x="21" y="27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39" name="Freeform 60"/>
              <p:cNvSpPr>
                <a:spLocks/>
              </p:cNvSpPr>
              <p:nvPr/>
            </p:nvSpPr>
            <p:spPr bwMode="auto">
              <a:xfrm>
                <a:off x="3795" y="2946"/>
                <a:ext cx="147" cy="132"/>
              </a:xfrm>
              <a:custGeom>
                <a:avLst/>
                <a:gdLst>
                  <a:gd name="T0" fmla="*/ 0 w 147"/>
                  <a:gd name="T1" fmla="*/ 75 h 132"/>
                  <a:gd name="T2" fmla="*/ 147 w 147"/>
                  <a:gd name="T3" fmla="*/ 0 h 132"/>
                  <a:gd name="T4" fmla="*/ 75 w 147"/>
                  <a:gd name="T5" fmla="*/ 132 h 132"/>
                  <a:gd name="T6" fmla="*/ 0 w 147"/>
                  <a:gd name="T7" fmla="*/ 75 h 1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7"/>
                  <a:gd name="T13" fmla="*/ 0 h 132"/>
                  <a:gd name="T14" fmla="*/ 147 w 147"/>
                  <a:gd name="T15" fmla="*/ 132 h 1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7" h="132">
                    <a:moveTo>
                      <a:pt x="0" y="75"/>
                    </a:moveTo>
                    <a:lnTo>
                      <a:pt x="147" y="0"/>
                    </a:lnTo>
                    <a:lnTo>
                      <a:pt x="75" y="132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40" name="Freeform 61"/>
              <p:cNvSpPr>
                <a:spLocks/>
              </p:cNvSpPr>
              <p:nvPr/>
            </p:nvSpPr>
            <p:spPr bwMode="auto">
              <a:xfrm>
                <a:off x="3789" y="2929"/>
                <a:ext cx="169" cy="101"/>
              </a:xfrm>
              <a:custGeom>
                <a:avLst/>
                <a:gdLst>
                  <a:gd name="T0" fmla="*/ 143 w 169"/>
                  <a:gd name="T1" fmla="*/ 17 h 101"/>
                  <a:gd name="T2" fmla="*/ 155 w 169"/>
                  <a:gd name="T3" fmla="*/ 25 h 101"/>
                  <a:gd name="T4" fmla="*/ 6 w 169"/>
                  <a:gd name="T5" fmla="*/ 101 h 101"/>
                  <a:gd name="T6" fmla="*/ 0 w 169"/>
                  <a:gd name="T7" fmla="*/ 86 h 101"/>
                  <a:gd name="T8" fmla="*/ 148 w 169"/>
                  <a:gd name="T9" fmla="*/ 11 h 101"/>
                  <a:gd name="T10" fmla="*/ 159 w 169"/>
                  <a:gd name="T11" fmla="*/ 19 h 101"/>
                  <a:gd name="T12" fmla="*/ 148 w 169"/>
                  <a:gd name="T13" fmla="*/ 11 h 101"/>
                  <a:gd name="T14" fmla="*/ 169 w 169"/>
                  <a:gd name="T15" fmla="*/ 0 h 101"/>
                  <a:gd name="T16" fmla="*/ 159 w 169"/>
                  <a:gd name="T17" fmla="*/ 19 h 101"/>
                  <a:gd name="T18" fmla="*/ 143 w 169"/>
                  <a:gd name="T19" fmla="*/ 17 h 10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9"/>
                  <a:gd name="T31" fmla="*/ 0 h 101"/>
                  <a:gd name="T32" fmla="*/ 169 w 169"/>
                  <a:gd name="T33" fmla="*/ 101 h 10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9" h="101">
                    <a:moveTo>
                      <a:pt x="143" y="17"/>
                    </a:moveTo>
                    <a:lnTo>
                      <a:pt x="155" y="25"/>
                    </a:lnTo>
                    <a:lnTo>
                      <a:pt x="6" y="101"/>
                    </a:lnTo>
                    <a:lnTo>
                      <a:pt x="0" y="86"/>
                    </a:lnTo>
                    <a:lnTo>
                      <a:pt x="148" y="11"/>
                    </a:lnTo>
                    <a:lnTo>
                      <a:pt x="159" y="19"/>
                    </a:lnTo>
                    <a:lnTo>
                      <a:pt x="148" y="11"/>
                    </a:lnTo>
                    <a:lnTo>
                      <a:pt x="169" y="0"/>
                    </a:lnTo>
                    <a:lnTo>
                      <a:pt x="159" y="19"/>
                    </a:lnTo>
                    <a:lnTo>
                      <a:pt x="143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41" name="Freeform 62"/>
              <p:cNvSpPr>
                <a:spLocks/>
              </p:cNvSpPr>
              <p:nvPr/>
            </p:nvSpPr>
            <p:spPr bwMode="auto">
              <a:xfrm>
                <a:off x="3861" y="2946"/>
                <a:ext cx="89" cy="147"/>
              </a:xfrm>
              <a:custGeom>
                <a:avLst/>
                <a:gdLst>
                  <a:gd name="T0" fmla="*/ 16 w 89"/>
                  <a:gd name="T1" fmla="*/ 126 h 147"/>
                  <a:gd name="T2" fmla="*/ 0 w 89"/>
                  <a:gd name="T3" fmla="*/ 131 h 147"/>
                  <a:gd name="T4" fmla="*/ 73 w 89"/>
                  <a:gd name="T5" fmla="*/ 0 h 147"/>
                  <a:gd name="T6" fmla="*/ 89 w 89"/>
                  <a:gd name="T7" fmla="*/ 3 h 147"/>
                  <a:gd name="T8" fmla="*/ 16 w 89"/>
                  <a:gd name="T9" fmla="*/ 134 h 147"/>
                  <a:gd name="T10" fmla="*/ 1 w 89"/>
                  <a:gd name="T11" fmla="*/ 140 h 147"/>
                  <a:gd name="T12" fmla="*/ 16 w 89"/>
                  <a:gd name="T13" fmla="*/ 134 h 147"/>
                  <a:gd name="T14" fmla="*/ 11 w 89"/>
                  <a:gd name="T15" fmla="*/ 147 h 147"/>
                  <a:gd name="T16" fmla="*/ 1 w 89"/>
                  <a:gd name="T17" fmla="*/ 140 h 147"/>
                  <a:gd name="T18" fmla="*/ 16 w 89"/>
                  <a:gd name="T19" fmla="*/ 126 h 14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9"/>
                  <a:gd name="T31" fmla="*/ 0 h 147"/>
                  <a:gd name="T32" fmla="*/ 89 w 89"/>
                  <a:gd name="T33" fmla="*/ 147 h 14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9" h="147">
                    <a:moveTo>
                      <a:pt x="16" y="126"/>
                    </a:moveTo>
                    <a:lnTo>
                      <a:pt x="0" y="131"/>
                    </a:lnTo>
                    <a:lnTo>
                      <a:pt x="73" y="0"/>
                    </a:lnTo>
                    <a:lnTo>
                      <a:pt x="89" y="3"/>
                    </a:lnTo>
                    <a:lnTo>
                      <a:pt x="16" y="134"/>
                    </a:lnTo>
                    <a:lnTo>
                      <a:pt x="1" y="140"/>
                    </a:lnTo>
                    <a:lnTo>
                      <a:pt x="16" y="134"/>
                    </a:lnTo>
                    <a:lnTo>
                      <a:pt x="11" y="147"/>
                    </a:lnTo>
                    <a:lnTo>
                      <a:pt x="1" y="140"/>
                    </a:lnTo>
                    <a:lnTo>
                      <a:pt x="16" y="12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42" name="Freeform 63"/>
              <p:cNvSpPr>
                <a:spLocks/>
              </p:cNvSpPr>
              <p:nvPr/>
            </p:nvSpPr>
            <p:spPr bwMode="auto">
              <a:xfrm>
                <a:off x="3778" y="3015"/>
                <a:ext cx="99" cy="70"/>
              </a:xfrm>
              <a:custGeom>
                <a:avLst/>
                <a:gdLst>
                  <a:gd name="T0" fmla="*/ 19 w 99"/>
                  <a:gd name="T1" fmla="*/ 14 h 70"/>
                  <a:gd name="T2" fmla="*/ 23 w 99"/>
                  <a:gd name="T3" fmla="*/ 0 h 70"/>
                  <a:gd name="T4" fmla="*/ 99 w 99"/>
                  <a:gd name="T5" fmla="*/ 56 h 70"/>
                  <a:gd name="T6" fmla="*/ 84 w 99"/>
                  <a:gd name="T7" fmla="*/ 70 h 70"/>
                  <a:gd name="T8" fmla="*/ 8 w 99"/>
                  <a:gd name="T9" fmla="*/ 14 h 70"/>
                  <a:gd name="T10" fmla="*/ 14 w 99"/>
                  <a:gd name="T11" fmla="*/ 0 h 70"/>
                  <a:gd name="T12" fmla="*/ 8 w 99"/>
                  <a:gd name="T13" fmla="*/ 14 h 70"/>
                  <a:gd name="T14" fmla="*/ 0 w 99"/>
                  <a:gd name="T15" fmla="*/ 8 h 70"/>
                  <a:gd name="T16" fmla="*/ 14 w 99"/>
                  <a:gd name="T17" fmla="*/ 0 h 70"/>
                  <a:gd name="T18" fmla="*/ 19 w 99"/>
                  <a:gd name="T19" fmla="*/ 14 h 7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9"/>
                  <a:gd name="T31" fmla="*/ 0 h 70"/>
                  <a:gd name="T32" fmla="*/ 99 w 99"/>
                  <a:gd name="T33" fmla="*/ 70 h 7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9" h="70">
                    <a:moveTo>
                      <a:pt x="19" y="14"/>
                    </a:moveTo>
                    <a:lnTo>
                      <a:pt x="23" y="0"/>
                    </a:lnTo>
                    <a:lnTo>
                      <a:pt x="99" y="56"/>
                    </a:lnTo>
                    <a:lnTo>
                      <a:pt x="84" y="70"/>
                    </a:lnTo>
                    <a:lnTo>
                      <a:pt x="8" y="14"/>
                    </a:lnTo>
                    <a:lnTo>
                      <a:pt x="14" y="0"/>
                    </a:lnTo>
                    <a:lnTo>
                      <a:pt x="8" y="14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19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43" name="Freeform 64"/>
              <p:cNvSpPr>
                <a:spLocks/>
              </p:cNvSpPr>
              <p:nvPr/>
            </p:nvSpPr>
            <p:spPr bwMode="auto">
              <a:xfrm>
                <a:off x="3891" y="2963"/>
                <a:ext cx="44" cy="36"/>
              </a:xfrm>
              <a:custGeom>
                <a:avLst/>
                <a:gdLst>
                  <a:gd name="T0" fmla="*/ 0 w 44"/>
                  <a:gd name="T1" fmla="*/ 16 h 36"/>
                  <a:gd name="T2" fmla="*/ 16 w 44"/>
                  <a:gd name="T3" fmla="*/ 0 h 36"/>
                  <a:gd name="T4" fmla="*/ 44 w 44"/>
                  <a:gd name="T5" fmla="*/ 20 h 36"/>
                  <a:gd name="T6" fmla="*/ 28 w 44"/>
                  <a:gd name="T7" fmla="*/ 36 h 36"/>
                  <a:gd name="T8" fmla="*/ 0 w 44"/>
                  <a:gd name="T9" fmla="*/ 16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"/>
                  <a:gd name="T16" fmla="*/ 0 h 36"/>
                  <a:gd name="T17" fmla="*/ 44 w 44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" h="36">
                    <a:moveTo>
                      <a:pt x="0" y="16"/>
                    </a:moveTo>
                    <a:lnTo>
                      <a:pt x="16" y="0"/>
                    </a:lnTo>
                    <a:lnTo>
                      <a:pt x="44" y="20"/>
                    </a:lnTo>
                    <a:lnTo>
                      <a:pt x="28" y="36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44" name="Freeform 65"/>
              <p:cNvSpPr>
                <a:spLocks/>
              </p:cNvSpPr>
              <p:nvPr/>
            </p:nvSpPr>
            <p:spPr bwMode="auto">
              <a:xfrm>
                <a:off x="3709" y="2976"/>
                <a:ext cx="207" cy="171"/>
              </a:xfrm>
              <a:custGeom>
                <a:avLst/>
                <a:gdLst>
                  <a:gd name="T0" fmla="*/ 0 w 207"/>
                  <a:gd name="T1" fmla="*/ 144 h 171"/>
                  <a:gd name="T2" fmla="*/ 0 w 207"/>
                  <a:gd name="T3" fmla="*/ 144 h 171"/>
                  <a:gd name="T4" fmla="*/ 26 w 207"/>
                  <a:gd name="T5" fmla="*/ 127 h 171"/>
                  <a:gd name="T6" fmla="*/ 51 w 207"/>
                  <a:gd name="T7" fmla="*/ 110 h 171"/>
                  <a:gd name="T8" fmla="*/ 73 w 207"/>
                  <a:gd name="T9" fmla="*/ 93 h 171"/>
                  <a:gd name="T10" fmla="*/ 96 w 207"/>
                  <a:gd name="T11" fmla="*/ 76 h 171"/>
                  <a:gd name="T12" fmla="*/ 119 w 207"/>
                  <a:gd name="T13" fmla="*/ 58 h 171"/>
                  <a:gd name="T14" fmla="*/ 139 w 207"/>
                  <a:gd name="T15" fmla="*/ 40 h 171"/>
                  <a:gd name="T16" fmla="*/ 160 w 207"/>
                  <a:gd name="T17" fmla="*/ 19 h 171"/>
                  <a:gd name="T18" fmla="*/ 179 w 207"/>
                  <a:gd name="T19" fmla="*/ 0 h 171"/>
                  <a:gd name="T20" fmla="*/ 207 w 207"/>
                  <a:gd name="T21" fmla="*/ 19 h 171"/>
                  <a:gd name="T22" fmla="*/ 186 w 207"/>
                  <a:gd name="T23" fmla="*/ 40 h 171"/>
                  <a:gd name="T24" fmla="*/ 164 w 207"/>
                  <a:gd name="T25" fmla="*/ 60 h 171"/>
                  <a:gd name="T26" fmla="*/ 142 w 207"/>
                  <a:gd name="T27" fmla="*/ 80 h 171"/>
                  <a:gd name="T28" fmla="*/ 119 w 207"/>
                  <a:gd name="T29" fmla="*/ 100 h 171"/>
                  <a:gd name="T30" fmla="*/ 95 w 207"/>
                  <a:gd name="T31" fmla="*/ 118 h 171"/>
                  <a:gd name="T32" fmla="*/ 70 w 207"/>
                  <a:gd name="T33" fmla="*/ 137 h 171"/>
                  <a:gd name="T34" fmla="*/ 45 w 207"/>
                  <a:gd name="T35" fmla="*/ 153 h 171"/>
                  <a:gd name="T36" fmla="*/ 19 w 207"/>
                  <a:gd name="T37" fmla="*/ 171 h 171"/>
                  <a:gd name="T38" fmla="*/ 0 w 207"/>
                  <a:gd name="T39" fmla="*/ 144 h 17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7"/>
                  <a:gd name="T61" fmla="*/ 0 h 171"/>
                  <a:gd name="T62" fmla="*/ 207 w 207"/>
                  <a:gd name="T63" fmla="*/ 171 h 17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7" h="171">
                    <a:moveTo>
                      <a:pt x="0" y="144"/>
                    </a:moveTo>
                    <a:lnTo>
                      <a:pt x="0" y="144"/>
                    </a:lnTo>
                    <a:lnTo>
                      <a:pt x="26" y="127"/>
                    </a:lnTo>
                    <a:lnTo>
                      <a:pt x="51" y="110"/>
                    </a:lnTo>
                    <a:lnTo>
                      <a:pt x="73" y="93"/>
                    </a:lnTo>
                    <a:lnTo>
                      <a:pt x="96" y="76"/>
                    </a:lnTo>
                    <a:lnTo>
                      <a:pt x="119" y="58"/>
                    </a:lnTo>
                    <a:lnTo>
                      <a:pt x="139" y="40"/>
                    </a:lnTo>
                    <a:lnTo>
                      <a:pt x="160" y="19"/>
                    </a:lnTo>
                    <a:lnTo>
                      <a:pt x="179" y="0"/>
                    </a:lnTo>
                    <a:lnTo>
                      <a:pt x="207" y="19"/>
                    </a:lnTo>
                    <a:lnTo>
                      <a:pt x="186" y="40"/>
                    </a:lnTo>
                    <a:lnTo>
                      <a:pt x="164" y="60"/>
                    </a:lnTo>
                    <a:lnTo>
                      <a:pt x="142" y="80"/>
                    </a:lnTo>
                    <a:lnTo>
                      <a:pt x="119" y="100"/>
                    </a:lnTo>
                    <a:lnTo>
                      <a:pt x="95" y="118"/>
                    </a:lnTo>
                    <a:lnTo>
                      <a:pt x="70" y="137"/>
                    </a:lnTo>
                    <a:lnTo>
                      <a:pt x="45" y="153"/>
                    </a:lnTo>
                    <a:lnTo>
                      <a:pt x="19" y="171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45" name="Freeform 66"/>
              <p:cNvSpPr>
                <a:spLocks/>
              </p:cNvSpPr>
              <p:nvPr/>
            </p:nvSpPr>
            <p:spPr bwMode="auto">
              <a:xfrm>
                <a:off x="3531" y="3118"/>
                <a:ext cx="196" cy="123"/>
              </a:xfrm>
              <a:custGeom>
                <a:avLst/>
                <a:gdLst>
                  <a:gd name="T0" fmla="*/ 0 w 196"/>
                  <a:gd name="T1" fmla="*/ 92 h 123"/>
                  <a:gd name="T2" fmla="*/ 22 w 196"/>
                  <a:gd name="T3" fmla="*/ 81 h 123"/>
                  <a:gd name="T4" fmla="*/ 45 w 196"/>
                  <a:gd name="T5" fmla="*/ 73 h 123"/>
                  <a:gd name="T6" fmla="*/ 68 w 196"/>
                  <a:gd name="T7" fmla="*/ 62 h 123"/>
                  <a:gd name="T8" fmla="*/ 90 w 196"/>
                  <a:gd name="T9" fmla="*/ 52 h 123"/>
                  <a:gd name="T10" fmla="*/ 112 w 196"/>
                  <a:gd name="T11" fmla="*/ 40 h 123"/>
                  <a:gd name="T12" fmla="*/ 134 w 196"/>
                  <a:gd name="T13" fmla="*/ 27 h 123"/>
                  <a:gd name="T14" fmla="*/ 156 w 196"/>
                  <a:gd name="T15" fmla="*/ 15 h 123"/>
                  <a:gd name="T16" fmla="*/ 177 w 196"/>
                  <a:gd name="T17" fmla="*/ 0 h 123"/>
                  <a:gd name="T18" fmla="*/ 196 w 196"/>
                  <a:gd name="T19" fmla="*/ 27 h 123"/>
                  <a:gd name="T20" fmla="*/ 172 w 196"/>
                  <a:gd name="T21" fmla="*/ 42 h 123"/>
                  <a:gd name="T22" fmla="*/ 150 w 196"/>
                  <a:gd name="T23" fmla="*/ 56 h 123"/>
                  <a:gd name="T24" fmla="*/ 125 w 196"/>
                  <a:gd name="T25" fmla="*/ 68 h 123"/>
                  <a:gd name="T26" fmla="*/ 102 w 196"/>
                  <a:gd name="T27" fmla="*/ 81 h 123"/>
                  <a:gd name="T28" fmla="*/ 78 w 196"/>
                  <a:gd name="T29" fmla="*/ 93 h 123"/>
                  <a:gd name="T30" fmla="*/ 55 w 196"/>
                  <a:gd name="T31" fmla="*/ 103 h 123"/>
                  <a:gd name="T32" fmla="*/ 30 w 196"/>
                  <a:gd name="T33" fmla="*/ 115 h 123"/>
                  <a:gd name="T34" fmla="*/ 6 w 196"/>
                  <a:gd name="T35" fmla="*/ 123 h 123"/>
                  <a:gd name="T36" fmla="*/ 0 w 196"/>
                  <a:gd name="T37" fmla="*/ 92 h 12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6"/>
                  <a:gd name="T58" fmla="*/ 0 h 123"/>
                  <a:gd name="T59" fmla="*/ 196 w 196"/>
                  <a:gd name="T60" fmla="*/ 123 h 12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6" h="123">
                    <a:moveTo>
                      <a:pt x="0" y="92"/>
                    </a:moveTo>
                    <a:lnTo>
                      <a:pt x="22" y="81"/>
                    </a:lnTo>
                    <a:lnTo>
                      <a:pt x="45" y="73"/>
                    </a:lnTo>
                    <a:lnTo>
                      <a:pt x="68" y="62"/>
                    </a:lnTo>
                    <a:lnTo>
                      <a:pt x="90" y="52"/>
                    </a:lnTo>
                    <a:lnTo>
                      <a:pt x="112" y="40"/>
                    </a:lnTo>
                    <a:lnTo>
                      <a:pt x="134" y="27"/>
                    </a:lnTo>
                    <a:lnTo>
                      <a:pt x="156" y="15"/>
                    </a:lnTo>
                    <a:lnTo>
                      <a:pt x="177" y="0"/>
                    </a:lnTo>
                    <a:lnTo>
                      <a:pt x="196" y="27"/>
                    </a:lnTo>
                    <a:lnTo>
                      <a:pt x="172" y="42"/>
                    </a:lnTo>
                    <a:lnTo>
                      <a:pt x="150" y="56"/>
                    </a:lnTo>
                    <a:lnTo>
                      <a:pt x="125" y="68"/>
                    </a:lnTo>
                    <a:lnTo>
                      <a:pt x="102" y="81"/>
                    </a:lnTo>
                    <a:lnTo>
                      <a:pt x="78" y="93"/>
                    </a:lnTo>
                    <a:lnTo>
                      <a:pt x="55" y="103"/>
                    </a:lnTo>
                    <a:lnTo>
                      <a:pt x="30" y="115"/>
                    </a:lnTo>
                    <a:lnTo>
                      <a:pt x="6" y="123"/>
                    </a:lnTo>
                    <a:lnTo>
                      <a:pt x="0" y="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46" name="Freeform 67"/>
              <p:cNvSpPr>
                <a:spLocks/>
              </p:cNvSpPr>
              <p:nvPr/>
            </p:nvSpPr>
            <p:spPr bwMode="auto">
              <a:xfrm>
                <a:off x="3506" y="3207"/>
                <a:ext cx="28" cy="41"/>
              </a:xfrm>
              <a:custGeom>
                <a:avLst/>
                <a:gdLst>
                  <a:gd name="T0" fmla="*/ 28 w 28"/>
                  <a:gd name="T1" fmla="*/ 32 h 41"/>
                  <a:gd name="T2" fmla="*/ 7 w 28"/>
                  <a:gd name="T3" fmla="*/ 41 h 41"/>
                  <a:gd name="T4" fmla="*/ 0 w 28"/>
                  <a:gd name="T5" fmla="*/ 8 h 41"/>
                  <a:gd name="T6" fmla="*/ 21 w 28"/>
                  <a:gd name="T7" fmla="*/ 0 h 41"/>
                  <a:gd name="T8" fmla="*/ 28 w 28"/>
                  <a:gd name="T9" fmla="*/ 32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41"/>
                  <a:gd name="T17" fmla="*/ 28 w 28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41">
                    <a:moveTo>
                      <a:pt x="28" y="32"/>
                    </a:moveTo>
                    <a:lnTo>
                      <a:pt x="7" y="41"/>
                    </a:lnTo>
                    <a:lnTo>
                      <a:pt x="0" y="8"/>
                    </a:lnTo>
                    <a:lnTo>
                      <a:pt x="21" y="0"/>
                    </a:lnTo>
                    <a:lnTo>
                      <a:pt x="28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47" name="Freeform 68"/>
              <p:cNvSpPr>
                <a:spLocks/>
              </p:cNvSpPr>
              <p:nvPr/>
            </p:nvSpPr>
            <p:spPr bwMode="auto">
              <a:xfrm>
                <a:off x="3795" y="2946"/>
                <a:ext cx="147" cy="132"/>
              </a:xfrm>
              <a:custGeom>
                <a:avLst/>
                <a:gdLst>
                  <a:gd name="T0" fmla="*/ 0 w 147"/>
                  <a:gd name="T1" fmla="*/ 75 h 132"/>
                  <a:gd name="T2" fmla="*/ 147 w 147"/>
                  <a:gd name="T3" fmla="*/ 0 h 132"/>
                  <a:gd name="T4" fmla="*/ 75 w 147"/>
                  <a:gd name="T5" fmla="*/ 132 h 132"/>
                  <a:gd name="T6" fmla="*/ 0 w 147"/>
                  <a:gd name="T7" fmla="*/ 75 h 1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7"/>
                  <a:gd name="T13" fmla="*/ 0 h 132"/>
                  <a:gd name="T14" fmla="*/ 147 w 147"/>
                  <a:gd name="T15" fmla="*/ 132 h 1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7" h="132">
                    <a:moveTo>
                      <a:pt x="0" y="75"/>
                    </a:moveTo>
                    <a:lnTo>
                      <a:pt x="147" y="0"/>
                    </a:lnTo>
                    <a:lnTo>
                      <a:pt x="75" y="132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48" name="Freeform 69"/>
              <p:cNvSpPr>
                <a:spLocks/>
              </p:cNvSpPr>
              <p:nvPr/>
            </p:nvSpPr>
            <p:spPr bwMode="auto">
              <a:xfrm>
                <a:off x="3793" y="2936"/>
                <a:ext cx="160" cy="89"/>
              </a:xfrm>
              <a:custGeom>
                <a:avLst/>
                <a:gdLst>
                  <a:gd name="T0" fmla="*/ 144 w 160"/>
                  <a:gd name="T1" fmla="*/ 9 h 89"/>
                  <a:gd name="T2" fmla="*/ 152 w 160"/>
                  <a:gd name="T3" fmla="*/ 13 h 89"/>
                  <a:gd name="T4" fmla="*/ 3 w 160"/>
                  <a:gd name="T5" fmla="*/ 89 h 89"/>
                  <a:gd name="T6" fmla="*/ 0 w 160"/>
                  <a:gd name="T7" fmla="*/ 81 h 89"/>
                  <a:gd name="T8" fmla="*/ 146 w 160"/>
                  <a:gd name="T9" fmla="*/ 6 h 89"/>
                  <a:gd name="T10" fmla="*/ 155 w 160"/>
                  <a:gd name="T11" fmla="*/ 11 h 89"/>
                  <a:gd name="T12" fmla="*/ 146 w 160"/>
                  <a:gd name="T13" fmla="*/ 6 h 89"/>
                  <a:gd name="T14" fmla="*/ 160 w 160"/>
                  <a:gd name="T15" fmla="*/ 0 h 89"/>
                  <a:gd name="T16" fmla="*/ 155 w 160"/>
                  <a:gd name="T17" fmla="*/ 11 h 89"/>
                  <a:gd name="T18" fmla="*/ 144 w 160"/>
                  <a:gd name="T19" fmla="*/ 9 h 8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0"/>
                  <a:gd name="T31" fmla="*/ 0 h 89"/>
                  <a:gd name="T32" fmla="*/ 160 w 160"/>
                  <a:gd name="T33" fmla="*/ 89 h 8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0" h="89">
                    <a:moveTo>
                      <a:pt x="144" y="9"/>
                    </a:moveTo>
                    <a:lnTo>
                      <a:pt x="152" y="13"/>
                    </a:lnTo>
                    <a:lnTo>
                      <a:pt x="3" y="89"/>
                    </a:lnTo>
                    <a:lnTo>
                      <a:pt x="0" y="81"/>
                    </a:lnTo>
                    <a:lnTo>
                      <a:pt x="146" y="6"/>
                    </a:lnTo>
                    <a:lnTo>
                      <a:pt x="155" y="11"/>
                    </a:lnTo>
                    <a:lnTo>
                      <a:pt x="146" y="6"/>
                    </a:lnTo>
                    <a:lnTo>
                      <a:pt x="160" y="0"/>
                    </a:lnTo>
                    <a:lnTo>
                      <a:pt x="155" y="11"/>
                    </a:lnTo>
                    <a:lnTo>
                      <a:pt x="144" y="9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49" name="Freeform 70"/>
              <p:cNvSpPr>
                <a:spLocks/>
              </p:cNvSpPr>
              <p:nvPr/>
            </p:nvSpPr>
            <p:spPr bwMode="auto">
              <a:xfrm>
                <a:off x="3868" y="2945"/>
                <a:ext cx="83" cy="140"/>
              </a:xfrm>
              <a:custGeom>
                <a:avLst/>
                <a:gdLst>
                  <a:gd name="T0" fmla="*/ 9 w 83"/>
                  <a:gd name="T1" fmla="*/ 127 h 140"/>
                  <a:gd name="T2" fmla="*/ 0 w 83"/>
                  <a:gd name="T3" fmla="*/ 132 h 140"/>
                  <a:gd name="T4" fmla="*/ 72 w 83"/>
                  <a:gd name="T5" fmla="*/ 0 h 140"/>
                  <a:gd name="T6" fmla="*/ 83 w 83"/>
                  <a:gd name="T7" fmla="*/ 1 h 140"/>
                  <a:gd name="T8" fmla="*/ 9 w 83"/>
                  <a:gd name="T9" fmla="*/ 132 h 140"/>
                  <a:gd name="T10" fmla="*/ 0 w 83"/>
                  <a:gd name="T11" fmla="*/ 136 h 140"/>
                  <a:gd name="T12" fmla="*/ 9 w 83"/>
                  <a:gd name="T13" fmla="*/ 132 h 140"/>
                  <a:gd name="T14" fmla="*/ 5 w 83"/>
                  <a:gd name="T15" fmla="*/ 140 h 140"/>
                  <a:gd name="T16" fmla="*/ 0 w 83"/>
                  <a:gd name="T17" fmla="*/ 136 h 140"/>
                  <a:gd name="T18" fmla="*/ 9 w 83"/>
                  <a:gd name="T19" fmla="*/ 127 h 1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3"/>
                  <a:gd name="T31" fmla="*/ 0 h 140"/>
                  <a:gd name="T32" fmla="*/ 83 w 83"/>
                  <a:gd name="T33" fmla="*/ 140 h 1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3" h="140">
                    <a:moveTo>
                      <a:pt x="9" y="127"/>
                    </a:moveTo>
                    <a:lnTo>
                      <a:pt x="0" y="132"/>
                    </a:lnTo>
                    <a:lnTo>
                      <a:pt x="72" y="0"/>
                    </a:lnTo>
                    <a:lnTo>
                      <a:pt x="83" y="1"/>
                    </a:lnTo>
                    <a:lnTo>
                      <a:pt x="9" y="132"/>
                    </a:lnTo>
                    <a:lnTo>
                      <a:pt x="0" y="136"/>
                    </a:lnTo>
                    <a:lnTo>
                      <a:pt x="9" y="132"/>
                    </a:lnTo>
                    <a:lnTo>
                      <a:pt x="5" y="140"/>
                    </a:lnTo>
                    <a:lnTo>
                      <a:pt x="0" y="136"/>
                    </a:lnTo>
                    <a:lnTo>
                      <a:pt x="9" y="127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50" name="Freeform 71"/>
              <p:cNvSpPr>
                <a:spLocks/>
              </p:cNvSpPr>
              <p:nvPr/>
            </p:nvSpPr>
            <p:spPr bwMode="auto">
              <a:xfrm>
                <a:off x="3784" y="3017"/>
                <a:ext cx="90" cy="64"/>
              </a:xfrm>
              <a:custGeom>
                <a:avLst/>
                <a:gdLst>
                  <a:gd name="T0" fmla="*/ 12 w 90"/>
                  <a:gd name="T1" fmla="*/ 8 h 64"/>
                  <a:gd name="T2" fmla="*/ 15 w 90"/>
                  <a:gd name="T3" fmla="*/ 0 h 64"/>
                  <a:gd name="T4" fmla="*/ 90 w 90"/>
                  <a:gd name="T5" fmla="*/ 55 h 64"/>
                  <a:gd name="T6" fmla="*/ 82 w 90"/>
                  <a:gd name="T7" fmla="*/ 64 h 64"/>
                  <a:gd name="T8" fmla="*/ 6 w 90"/>
                  <a:gd name="T9" fmla="*/ 8 h 64"/>
                  <a:gd name="T10" fmla="*/ 9 w 90"/>
                  <a:gd name="T11" fmla="*/ 0 h 64"/>
                  <a:gd name="T12" fmla="*/ 6 w 90"/>
                  <a:gd name="T13" fmla="*/ 8 h 64"/>
                  <a:gd name="T14" fmla="*/ 0 w 90"/>
                  <a:gd name="T15" fmla="*/ 4 h 64"/>
                  <a:gd name="T16" fmla="*/ 9 w 90"/>
                  <a:gd name="T17" fmla="*/ 0 h 64"/>
                  <a:gd name="T18" fmla="*/ 12 w 90"/>
                  <a:gd name="T19" fmla="*/ 8 h 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0"/>
                  <a:gd name="T31" fmla="*/ 0 h 64"/>
                  <a:gd name="T32" fmla="*/ 90 w 90"/>
                  <a:gd name="T33" fmla="*/ 64 h 6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0" h="64">
                    <a:moveTo>
                      <a:pt x="12" y="8"/>
                    </a:moveTo>
                    <a:lnTo>
                      <a:pt x="15" y="0"/>
                    </a:lnTo>
                    <a:lnTo>
                      <a:pt x="90" y="55"/>
                    </a:lnTo>
                    <a:lnTo>
                      <a:pt x="82" y="64"/>
                    </a:lnTo>
                    <a:lnTo>
                      <a:pt x="6" y="8"/>
                    </a:lnTo>
                    <a:lnTo>
                      <a:pt x="9" y="0"/>
                    </a:lnTo>
                    <a:lnTo>
                      <a:pt x="6" y="8"/>
                    </a:lnTo>
                    <a:lnTo>
                      <a:pt x="0" y="4"/>
                    </a:lnTo>
                    <a:lnTo>
                      <a:pt x="9" y="0"/>
                    </a:lnTo>
                    <a:lnTo>
                      <a:pt x="12" y="8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51" name="Freeform 72"/>
              <p:cNvSpPr>
                <a:spLocks/>
              </p:cNvSpPr>
              <p:nvPr/>
            </p:nvSpPr>
            <p:spPr bwMode="auto">
              <a:xfrm>
                <a:off x="3894" y="2967"/>
                <a:ext cx="37" cy="28"/>
              </a:xfrm>
              <a:custGeom>
                <a:avLst/>
                <a:gdLst>
                  <a:gd name="T0" fmla="*/ 0 w 37"/>
                  <a:gd name="T1" fmla="*/ 12 h 28"/>
                  <a:gd name="T2" fmla="*/ 14 w 37"/>
                  <a:gd name="T3" fmla="*/ 0 h 28"/>
                  <a:gd name="T4" fmla="*/ 37 w 37"/>
                  <a:gd name="T5" fmla="*/ 16 h 28"/>
                  <a:gd name="T6" fmla="*/ 23 w 37"/>
                  <a:gd name="T7" fmla="*/ 28 h 28"/>
                  <a:gd name="T8" fmla="*/ 0 w 37"/>
                  <a:gd name="T9" fmla="*/ 12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28"/>
                  <a:gd name="T17" fmla="*/ 37 w 37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28">
                    <a:moveTo>
                      <a:pt x="0" y="12"/>
                    </a:moveTo>
                    <a:lnTo>
                      <a:pt x="14" y="0"/>
                    </a:lnTo>
                    <a:lnTo>
                      <a:pt x="37" y="16"/>
                    </a:lnTo>
                    <a:lnTo>
                      <a:pt x="23" y="2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52" name="Freeform 73"/>
              <p:cNvSpPr>
                <a:spLocks/>
              </p:cNvSpPr>
              <p:nvPr/>
            </p:nvSpPr>
            <p:spPr bwMode="auto">
              <a:xfrm>
                <a:off x="3713" y="2977"/>
                <a:ext cx="202" cy="168"/>
              </a:xfrm>
              <a:custGeom>
                <a:avLst/>
                <a:gdLst>
                  <a:gd name="T0" fmla="*/ 0 w 202"/>
                  <a:gd name="T1" fmla="*/ 146 h 168"/>
                  <a:gd name="T2" fmla="*/ 0 w 202"/>
                  <a:gd name="T3" fmla="*/ 146 h 168"/>
                  <a:gd name="T4" fmla="*/ 25 w 202"/>
                  <a:gd name="T5" fmla="*/ 128 h 168"/>
                  <a:gd name="T6" fmla="*/ 50 w 202"/>
                  <a:gd name="T7" fmla="*/ 111 h 168"/>
                  <a:gd name="T8" fmla="*/ 72 w 202"/>
                  <a:gd name="T9" fmla="*/ 94 h 168"/>
                  <a:gd name="T10" fmla="*/ 95 w 202"/>
                  <a:gd name="T11" fmla="*/ 76 h 168"/>
                  <a:gd name="T12" fmla="*/ 118 w 202"/>
                  <a:gd name="T13" fmla="*/ 58 h 168"/>
                  <a:gd name="T14" fmla="*/ 138 w 202"/>
                  <a:gd name="T15" fmla="*/ 40 h 168"/>
                  <a:gd name="T16" fmla="*/ 159 w 202"/>
                  <a:gd name="T17" fmla="*/ 21 h 168"/>
                  <a:gd name="T18" fmla="*/ 178 w 202"/>
                  <a:gd name="T19" fmla="*/ 0 h 168"/>
                  <a:gd name="T20" fmla="*/ 202 w 202"/>
                  <a:gd name="T21" fmla="*/ 16 h 168"/>
                  <a:gd name="T22" fmla="*/ 181 w 202"/>
                  <a:gd name="T23" fmla="*/ 37 h 168"/>
                  <a:gd name="T24" fmla="*/ 160 w 202"/>
                  <a:gd name="T25" fmla="*/ 57 h 168"/>
                  <a:gd name="T26" fmla="*/ 138 w 202"/>
                  <a:gd name="T27" fmla="*/ 76 h 168"/>
                  <a:gd name="T28" fmla="*/ 114 w 202"/>
                  <a:gd name="T29" fmla="*/ 96 h 168"/>
                  <a:gd name="T30" fmla="*/ 91 w 202"/>
                  <a:gd name="T31" fmla="*/ 115 h 168"/>
                  <a:gd name="T32" fmla="*/ 66 w 202"/>
                  <a:gd name="T33" fmla="*/ 133 h 168"/>
                  <a:gd name="T34" fmla="*/ 40 w 202"/>
                  <a:gd name="T35" fmla="*/ 151 h 168"/>
                  <a:gd name="T36" fmla="*/ 15 w 202"/>
                  <a:gd name="T37" fmla="*/ 168 h 168"/>
                  <a:gd name="T38" fmla="*/ 0 w 202"/>
                  <a:gd name="T39" fmla="*/ 146 h 1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2"/>
                  <a:gd name="T61" fmla="*/ 0 h 168"/>
                  <a:gd name="T62" fmla="*/ 202 w 202"/>
                  <a:gd name="T63" fmla="*/ 168 h 1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2" h="168">
                    <a:moveTo>
                      <a:pt x="0" y="146"/>
                    </a:moveTo>
                    <a:lnTo>
                      <a:pt x="0" y="146"/>
                    </a:lnTo>
                    <a:lnTo>
                      <a:pt x="25" y="128"/>
                    </a:lnTo>
                    <a:lnTo>
                      <a:pt x="50" y="111"/>
                    </a:lnTo>
                    <a:lnTo>
                      <a:pt x="72" y="94"/>
                    </a:lnTo>
                    <a:lnTo>
                      <a:pt x="95" y="76"/>
                    </a:lnTo>
                    <a:lnTo>
                      <a:pt x="118" y="58"/>
                    </a:lnTo>
                    <a:lnTo>
                      <a:pt x="138" y="40"/>
                    </a:lnTo>
                    <a:lnTo>
                      <a:pt x="159" y="21"/>
                    </a:lnTo>
                    <a:lnTo>
                      <a:pt x="178" y="0"/>
                    </a:lnTo>
                    <a:lnTo>
                      <a:pt x="202" y="16"/>
                    </a:lnTo>
                    <a:lnTo>
                      <a:pt x="181" y="37"/>
                    </a:lnTo>
                    <a:lnTo>
                      <a:pt x="160" y="57"/>
                    </a:lnTo>
                    <a:lnTo>
                      <a:pt x="138" y="76"/>
                    </a:lnTo>
                    <a:lnTo>
                      <a:pt x="114" y="96"/>
                    </a:lnTo>
                    <a:lnTo>
                      <a:pt x="91" y="115"/>
                    </a:lnTo>
                    <a:lnTo>
                      <a:pt x="66" y="133"/>
                    </a:lnTo>
                    <a:lnTo>
                      <a:pt x="40" y="151"/>
                    </a:lnTo>
                    <a:lnTo>
                      <a:pt x="15" y="168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53" name="Freeform 74"/>
              <p:cNvSpPr>
                <a:spLocks/>
              </p:cNvSpPr>
              <p:nvPr/>
            </p:nvSpPr>
            <p:spPr bwMode="auto">
              <a:xfrm>
                <a:off x="3530" y="3120"/>
                <a:ext cx="192" cy="119"/>
              </a:xfrm>
              <a:custGeom>
                <a:avLst/>
                <a:gdLst>
                  <a:gd name="T0" fmla="*/ 0 w 192"/>
                  <a:gd name="T1" fmla="*/ 92 h 119"/>
                  <a:gd name="T2" fmla="*/ 22 w 192"/>
                  <a:gd name="T3" fmla="*/ 83 h 119"/>
                  <a:gd name="T4" fmla="*/ 47 w 192"/>
                  <a:gd name="T5" fmla="*/ 73 h 119"/>
                  <a:gd name="T6" fmla="*/ 69 w 192"/>
                  <a:gd name="T7" fmla="*/ 62 h 119"/>
                  <a:gd name="T8" fmla="*/ 90 w 192"/>
                  <a:gd name="T9" fmla="*/ 53 h 119"/>
                  <a:gd name="T10" fmla="*/ 112 w 192"/>
                  <a:gd name="T11" fmla="*/ 40 h 119"/>
                  <a:gd name="T12" fmla="*/ 135 w 192"/>
                  <a:gd name="T13" fmla="*/ 27 h 119"/>
                  <a:gd name="T14" fmla="*/ 157 w 192"/>
                  <a:gd name="T15" fmla="*/ 14 h 119"/>
                  <a:gd name="T16" fmla="*/ 178 w 192"/>
                  <a:gd name="T17" fmla="*/ 0 h 119"/>
                  <a:gd name="T18" fmla="*/ 192 w 192"/>
                  <a:gd name="T19" fmla="*/ 23 h 119"/>
                  <a:gd name="T20" fmla="*/ 170 w 192"/>
                  <a:gd name="T21" fmla="*/ 38 h 119"/>
                  <a:gd name="T22" fmla="*/ 147 w 192"/>
                  <a:gd name="T23" fmla="*/ 52 h 119"/>
                  <a:gd name="T24" fmla="*/ 123 w 192"/>
                  <a:gd name="T25" fmla="*/ 63 h 119"/>
                  <a:gd name="T26" fmla="*/ 100 w 192"/>
                  <a:gd name="T27" fmla="*/ 77 h 119"/>
                  <a:gd name="T28" fmla="*/ 76 w 192"/>
                  <a:gd name="T29" fmla="*/ 89 h 119"/>
                  <a:gd name="T30" fmla="*/ 52 w 192"/>
                  <a:gd name="T31" fmla="*/ 99 h 119"/>
                  <a:gd name="T32" fmla="*/ 30 w 192"/>
                  <a:gd name="T33" fmla="*/ 108 h 119"/>
                  <a:gd name="T34" fmla="*/ 6 w 192"/>
                  <a:gd name="T35" fmla="*/ 119 h 119"/>
                  <a:gd name="T36" fmla="*/ 0 w 192"/>
                  <a:gd name="T37" fmla="*/ 92 h 11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2"/>
                  <a:gd name="T58" fmla="*/ 0 h 119"/>
                  <a:gd name="T59" fmla="*/ 192 w 192"/>
                  <a:gd name="T60" fmla="*/ 119 h 11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2" h="119">
                    <a:moveTo>
                      <a:pt x="0" y="92"/>
                    </a:moveTo>
                    <a:lnTo>
                      <a:pt x="22" y="83"/>
                    </a:lnTo>
                    <a:lnTo>
                      <a:pt x="47" y="73"/>
                    </a:lnTo>
                    <a:lnTo>
                      <a:pt x="69" y="62"/>
                    </a:lnTo>
                    <a:lnTo>
                      <a:pt x="90" y="53"/>
                    </a:lnTo>
                    <a:lnTo>
                      <a:pt x="112" y="40"/>
                    </a:lnTo>
                    <a:lnTo>
                      <a:pt x="135" y="27"/>
                    </a:lnTo>
                    <a:lnTo>
                      <a:pt x="157" y="14"/>
                    </a:lnTo>
                    <a:lnTo>
                      <a:pt x="178" y="0"/>
                    </a:lnTo>
                    <a:lnTo>
                      <a:pt x="192" y="23"/>
                    </a:lnTo>
                    <a:lnTo>
                      <a:pt x="170" y="38"/>
                    </a:lnTo>
                    <a:lnTo>
                      <a:pt x="147" y="52"/>
                    </a:lnTo>
                    <a:lnTo>
                      <a:pt x="123" y="63"/>
                    </a:lnTo>
                    <a:lnTo>
                      <a:pt x="100" y="77"/>
                    </a:lnTo>
                    <a:lnTo>
                      <a:pt x="76" y="89"/>
                    </a:lnTo>
                    <a:lnTo>
                      <a:pt x="52" y="99"/>
                    </a:lnTo>
                    <a:lnTo>
                      <a:pt x="30" y="108"/>
                    </a:lnTo>
                    <a:lnTo>
                      <a:pt x="6" y="119"/>
                    </a:lnTo>
                    <a:lnTo>
                      <a:pt x="0" y="92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54" name="Freeform 75"/>
              <p:cNvSpPr>
                <a:spLocks/>
              </p:cNvSpPr>
              <p:nvPr/>
            </p:nvSpPr>
            <p:spPr bwMode="auto">
              <a:xfrm>
                <a:off x="3513" y="3212"/>
                <a:ext cx="22" cy="32"/>
              </a:xfrm>
              <a:custGeom>
                <a:avLst/>
                <a:gdLst>
                  <a:gd name="T0" fmla="*/ 22 w 22"/>
                  <a:gd name="T1" fmla="*/ 26 h 32"/>
                  <a:gd name="T2" fmla="*/ 5 w 22"/>
                  <a:gd name="T3" fmla="*/ 32 h 32"/>
                  <a:gd name="T4" fmla="*/ 0 w 22"/>
                  <a:gd name="T5" fmla="*/ 7 h 32"/>
                  <a:gd name="T6" fmla="*/ 16 w 22"/>
                  <a:gd name="T7" fmla="*/ 0 h 32"/>
                  <a:gd name="T8" fmla="*/ 22 w 22"/>
                  <a:gd name="T9" fmla="*/ 26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32"/>
                  <a:gd name="T17" fmla="*/ 22 w 22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32">
                    <a:moveTo>
                      <a:pt x="22" y="26"/>
                    </a:moveTo>
                    <a:lnTo>
                      <a:pt x="5" y="32"/>
                    </a:lnTo>
                    <a:lnTo>
                      <a:pt x="0" y="7"/>
                    </a:lnTo>
                    <a:lnTo>
                      <a:pt x="16" y="0"/>
                    </a:lnTo>
                    <a:lnTo>
                      <a:pt x="22" y="26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55" name="Freeform 76"/>
              <p:cNvSpPr>
                <a:spLocks/>
              </p:cNvSpPr>
              <p:nvPr/>
            </p:nvSpPr>
            <p:spPr bwMode="auto">
              <a:xfrm>
                <a:off x="3818" y="2920"/>
                <a:ext cx="146" cy="133"/>
              </a:xfrm>
              <a:custGeom>
                <a:avLst/>
                <a:gdLst>
                  <a:gd name="T0" fmla="*/ 0 w 146"/>
                  <a:gd name="T1" fmla="*/ 81 h 133"/>
                  <a:gd name="T2" fmla="*/ 146 w 146"/>
                  <a:gd name="T3" fmla="*/ 0 h 133"/>
                  <a:gd name="T4" fmla="*/ 81 w 146"/>
                  <a:gd name="T5" fmla="*/ 133 h 133"/>
                  <a:gd name="T6" fmla="*/ 0 w 146"/>
                  <a:gd name="T7" fmla="*/ 81 h 1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6"/>
                  <a:gd name="T13" fmla="*/ 0 h 133"/>
                  <a:gd name="T14" fmla="*/ 146 w 146"/>
                  <a:gd name="T15" fmla="*/ 133 h 1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6" h="133">
                    <a:moveTo>
                      <a:pt x="0" y="81"/>
                    </a:moveTo>
                    <a:lnTo>
                      <a:pt x="146" y="0"/>
                    </a:lnTo>
                    <a:lnTo>
                      <a:pt x="81" y="133"/>
                    </a:lnTo>
                    <a:lnTo>
                      <a:pt x="0" y="8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56" name="Freeform 77"/>
              <p:cNvSpPr>
                <a:spLocks/>
              </p:cNvSpPr>
              <p:nvPr/>
            </p:nvSpPr>
            <p:spPr bwMode="auto">
              <a:xfrm>
                <a:off x="3816" y="2905"/>
                <a:ext cx="167" cy="105"/>
              </a:xfrm>
              <a:custGeom>
                <a:avLst/>
                <a:gdLst>
                  <a:gd name="T0" fmla="*/ 139 w 167"/>
                  <a:gd name="T1" fmla="*/ 17 h 105"/>
                  <a:gd name="T2" fmla="*/ 152 w 167"/>
                  <a:gd name="T3" fmla="*/ 24 h 105"/>
                  <a:gd name="T4" fmla="*/ 7 w 167"/>
                  <a:gd name="T5" fmla="*/ 105 h 105"/>
                  <a:gd name="T6" fmla="*/ 0 w 167"/>
                  <a:gd name="T7" fmla="*/ 91 h 105"/>
                  <a:gd name="T8" fmla="*/ 146 w 167"/>
                  <a:gd name="T9" fmla="*/ 10 h 105"/>
                  <a:gd name="T10" fmla="*/ 156 w 167"/>
                  <a:gd name="T11" fmla="*/ 19 h 105"/>
                  <a:gd name="T12" fmla="*/ 146 w 167"/>
                  <a:gd name="T13" fmla="*/ 10 h 105"/>
                  <a:gd name="T14" fmla="*/ 167 w 167"/>
                  <a:gd name="T15" fmla="*/ 0 h 105"/>
                  <a:gd name="T16" fmla="*/ 156 w 167"/>
                  <a:gd name="T17" fmla="*/ 19 h 105"/>
                  <a:gd name="T18" fmla="*/ 139 w 167"/>
                  <a:gd name="T19" fmla="*/ 17 h 10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7"/>
                  <a:gd name="T31" fmla="*/ 0 h 105"/>
                  <a:gd name="T32" fmla="*/ 167 w 167"/>
                  <a:gd name="T33" fmla="*/ 105 h 10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7" h="105">
                    <a:moveTo>
                      <a:pt x="139" y="17"/>
                    </a:moveTo>
                    <a:lnTo>
                      <a:pt x="152" y="24"/>
                    </a:lnTo>
                    <a:lnTo>
                      <a:pt x="7" y="105"/>
                    </a:lnTo>
                    <a:lnTo>
                      <a:pt x="0" y="91"/>
                    </a:lnTo>
                    <a:lnTo>
                      <a:pt x="146" y="10"/>
                    </a:lnTo>
                    <a:lnTo>
                      <a:pt x="156" y="19"/>
                    </a:lnTo>
                    <a:lnTo>
                      <a:pt x="146" y="10"/>
                    </a:lnTo>
                    <a:lnTo>
                      <a:pt x="167" y="0"/>
                    </a:lnTo>
                    <a:lnTo>
                      <a:pt x="156" y="19"/>
                    </a:lnTo>
                    <a:lnTo>
                      <a:pt x="139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57" name="Freeform 78"/>
              <p:cNvSpPr>
                <a:spLocks/>
              </p:cNvSpPr>
              <p:nvPr/>
            </p:nvSpPr>
            <p:spPr bwMode="auto">
              <a:xfrm>
                <a:off x="3890" y="2917"/>
                <a:ext cx="83" cy="149"/>
              </a:xfrm>
              <a:custGeom>
                <a:avLst/>
                <a:gdLst>
                  <a:gd name="T0" fmla="*/ 17 w 83"/>
                  <a:gd name="T1" fmla="*/ 129 h 149"/>
                  <a:gd name="T2" fmla="*/ 0 w 83"/>
                  <a:gd name="T3" fmla="*/ 134 h 149"/>
                  <a:gd name="T4" fmla="*/ 66 w 83"/>
                  <a:gd name="T5" fmla="*/ 0 h 149"/>
                  <a:gd name="T6" fmla="*/ 83 w 83"/>
                  <a:gd name="T7" fmla="*/ 3 h 149"/>
                  <a:gd name="T8" fmla="*/ 18 w 83"/>
                  <a:gd name="T9" fmla="*/ 136 h 149"/>
                  <a:gd name="T10" fmla="*/ 2 w 83"/>
                  <a:gd name="T11" fmla="*/ 143 h 149"/>
                  <a:gd name="T12" fmla="*/ 18 w 83"/>
                  <a:gd name="T13" fmla="*/ 136 h 149"/>
                  <a:gd name="T14" fmla="*/ 13 w 83"/>
                  <a:gd name="T15" fmla="*/ 149 h 149"/>
                  <a:gd name="T16" fmla="*/ 2 w 83"/>
                  <a:gd name="T17" fmla="*/ 143 h 149"/>
                  <a:gd name="T18" fmla="*/ 17 w 83"/>
                  <a:gd name="T19" fmla="*/ 129 h 14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3"/>
                  <a:gd name="T31" fmla="*/ 0 h 149"/>
                  <a:gd name="T32" fmla="*/ 83 w 83"/>
                  <a:gd name="T33" fmla="*/ 149 h 14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3" h="149">
                    <a:moveTo>
                      <a:pt x="17" y="129"/>
                    </a:moveTo>
                    <a:lnTo>
                      <a:pt x="0" y="134"/>
                    </a:lnTo>
                    <a:lnTo>
                      <a:pt x="66" y="0"/>
                    </a:lnTo>
                    <a:lnTo>
                      <a:pt x="83" y="3"/>
                    </a:lnTo>
                    <a:lnTo>
                      <a:pt x="18" y="136"/>
                    </a:lnTo>
                    <a:lnTo>
                      <a:pt x="2" y="143"/>
                    </a:lnTo>
                    <a:lnTo>
                      <a:pt x="18" y="136"/>
                    </a:lnTo>
                    <a:lnTo>
                      <a:pt x="13" y="149"/>
                    </a:lnTo>
                    <a:lnTo>
                      <a:pt x="2" y="143"/>
                    </a:lnTo>
                    <a:lnTo>
                      <a:pt x="17" y="1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58" name="Freeform 79"/>
              <p:cNvSpPr>
                <a:spLocks/>
              </p:cNvSpPr>
              <p:nvPr/>
            </p:nvSpPr>
            <p:spPr bwMode="auto">
              <a:xfrm>
                <a:off x="3800" y="2993"/>
                <a:ext cx="104" cy="65"/>
              </a:xfrm>
              <a:custGeom>
                <a:avLst/>
                <a:gdLst>
                  <a:gd name="T0" fmla="*/ 21 w 104"/>
                  <a:gd name="T1" fmla="*/ 14 h 65"/>
                  <a:gd name="T2" fmla="*/ 24 w 104"/>
                  <a:gd name="T3" fmla="*/ 0 h 65"/>
                  <a:gd name="T4" fmla="*/ 104 w 104"/>
                  <a:gd name="T5" fmla="*/ 52 h 65"/>
                  <a:gd name="T6" fmla="*/ 89 w 104"/>
                  <a:gd name="T7" fmla="*/ 65 h 65"/>
                  <a:gd name="T8" fmla="*/ 11 w 104"/>
                  <a:gd name="T9" fmla="*/ 14 h 65"/>
                  <a:gd name="T10" fmla="*/ 14 w 104"/>
                  <a:gd name="T11" fmla="*/ 0 h 65"/>
                  <a:gd name="T12" fmla="*/ 11 w 104"/>
                  <a:gd name="T13" fmla="*/ 14 h 65"/>
                  <a:gd name="T14" fmla="*/ 0 w 104"/>
                  <a:gd name="T15" fmla="*/ 8 h 65"/>
                  <a:gd name="T16" fmla="*/ 14 w 104"/>
                  <a:gd name="T17" fmla="*/ 0 h 65"/>
                  <a:gd name="T18" fmla="*/ 21 w 104"/>
                  <a:gd name="T19" fmla="*/ 14 h 6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4"/>
                  <a:gd name="T31" fmla="*/ 0 h 65"/>
                  <a:gd name="T32" fmla="*/ 104 w 104"/>
                  <a:gd name="T33" fmla="*/ 65 h 6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4" h="65">
                    <a:moveTo>
                      <a:pt x="21" y="14"/>
                    </a:moveTo>
                    <a:lnTo>
                      <a:pt x="24" y="0"/>
                    </a:lnTo>
                    <a:lnTo>
                      <a:pt x="104" y="52"/>
                    </a:lnTo>
                    <a:lnTo>
                      <a:pt x="89" y="65"/>
                    </a:lnTo>
                    <a:lnTo>
                      <a:pt x="11" y="14"/>
                    </a:lnTo>
                    <a:lnTo>
                      <a:pt x="14" y="0"/>
                    </a:lnTo>
                    <a:lnTo>
                      <a:pt x="11" y="14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21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59" name="Freeform 80"/>
              <p:cNvSpPr>
                <a:spLocks/>
              </p:cNvSpPr>
              <p:nvPr/>
            </p:nvSpPr>
            <p:spPr bwMode="auto">
              <a:xfrm>
                <a:off x="3902" y="2948"/>
                <a:ext cx="45" cy="31"/>
              </a:xfrm>
              <a:custGeom>
                <a:avLst/>
                <a:gdLst>
                  <a:gd name="T0" fmla="*/ 0 w 45"/>
                  <a:gd name="T1" fmla="*/ 15 h 31"/>
                  <a:gd name="T2" fmla="*/ 15 w 45"/>
                  <a:gd name="T3" fmla="*/ 0 h 31"/>
                  <a:gd name="T4" fmla="*/ 45 w 45"/>
                  <a:gd name="T5" fmla="*/ 15 h 31"/>
                  <a:gd name="T6" fmla="*/ 30 w 45"/>
                  <a:gd name="T7" fmla="*/ 31 h 31"/>
                  <a:gd name="T8" fmla="*/ 0 w 45"/>
                  <a:gd name="T9" fmla="*/ 15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31"/>
                  <a:gd name="T17" fmla="*/ 45 w 45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31">
                    <a:moveTo>
                      <a:pt x="0" y="15"/>
                    </a:moveTo>
                    <a:lnTo>
                      <a:pt x="15" y="0"/>
                    </a:lnTo>
                    <a:lnTo>
                      <a:pt x="45" y="15"/>
                    </a:lnTo>
                    <a:lnTo>
                      <a:pt x="30" y="31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60" name="Freeform 81"/>
              <p:cNvSpPr>
                <a:spLocks/>
              </p:cNvSpPr>
              <p:nvPr/>
            </p:nvSpPr>
            <p:spPr bwMode="auto">
              <a:xfrm>
                <a:off x="3739" y="2962"/>
                <a:ext cx="192" cy="164"/>
              </a:xfrm>
              <a:custGeom>
                <a:avLst/>
                <a:gdLst>
                  <a:gd name="T0" fmla="*/ 0 w 192"/>
                  <a:gd name="T1" fmla="*/ 138 h 164"/>
                  <a:gd name="T2" fmla="*/ 0 w 192"/>
                  <a:gd name="T3" fmla="*/ 138 h 164"/>
                  <a:gd name="T4" fmla="*/ 24 w 192"/>
                  <a:gd name="T5" fmla="*/ 121 h 164"/>
                  <a:gd name="T6" fmla="*/ 45 w 192"/>
                  <a:gd name="T7" fmla="*/ 106 h 164"/>
                  <a:gd name="T8" fmla="*/ 68 w 192"/>
                  <a:gd name="T9" fmla="*/ 89 h 164"/>
                  <a:gd name="T10" fmla="*/ 88 w 192"/>
                  <a:gd name="T11" fmla="*/ 72 h 164"/>
                  <a:gd name="T12" fmla="*/ 106 w 192"/>
                  <a:gd name="T13" fmla="*/ 55 h 164"/>
                  <a:gd name="T14" fmla="*/ 125 w 192"/>
                  <a:gd name="T15" fmla="*/ 39 h 164"/>
                  <a:gd name="T16" fmla="*/ 145 w 192"/>
                  <a:gd name="T17" fmla="*/ 21 h 164"/>
                  <a:gd name="T18" fmla="*/ 161 w 192"/>
                  <a:gd name="T19" fmla="*/ 0 h 164"/>
                  <a:gd name="T20" fmla="*/ 192 w 192"/>
                  <a:gd name="T21" fmla="*/ 17 h 164"/>
                  <a:gd name="T22" fmla="*/ 171 w 192"/>
                  <a:gd name="T23" fmla="*/ 38 h 164"/>
                  <a:gd name="T24" fmla="*/ 152 w 192"/>
                  <a:gd name="T25" fmla="*/ 58 h 164"/>
                  <a:gd name="T26" fmla="*/ 132 w 192"/>
                  <a:gd name="T27" fmla="*/ 75 h 164"/>
                  <a:gd name="T28" fmla="*/ 112 w 192"/>
                  <a:gd name="T29" fmla="*/ 94 h 164"/>
                  <a:gd name="T30" fmla="*/ 90 w 192"/>
                  <a:gd name="T31" fmla="*/ 111 h 164"/>
                  <a:gd name="T32" fmla="*/ 68 w 192"/>
                  <a:gd name="T33" fmla="*/ 130 h 164"/>
                  <a:gd name="T34" fmla="*/ 43 w 192"/>
                  <a:gd name="T35" fmla="*/ 146 h 164"/>
                  <a:gd name="T36" fmla="*/ 19 w 192"/>
                  <a:gd name="T37" fmla="*/ 164 h 164"/>
                  <a:gd name="T38" fmla="*/ 0 w 192"/>
                  <a:gd name="T39" fmla="*/ 138 h 16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92"/>
                  <a:gd name="T61" fmla="*/ 0 h 164"/>
                  <a:gd name="T62" fmla="*/ 192 w 192"/>
                  <a:gd name="T63" fmla="*/ 164 h 16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92" h="164">
                    <a:moveTo>
                      <a:pt x="0" y="138"/>
                    </a:moveTo>
                    <a:lnTo>
                      <a:pt x="0" y="138"/>
                    </a:lnTo>
                    <a:lnTo>
                      <a:pt x="24" y="121"/>
                    </a:lnTo>
                    <a:lnTo>
                      <a:pt x="45" y="106"/>
                    </a:lnTo>
                    <a:lnTo>
                      <a:pt x="68" y="89"/>
                    </a:lnTo>
                    <a:lnTo>
                      <a:pt x="88" y="72"/>
                    </a:lnTo>
                    <a:lnTo>
                      <a:pt x="106" y="55"/>
                    </a:lnTo>
                    <a:lnTo>
                      <a:pt x="125" y="39"/>
                    </a:lnTo>
                    <a:lnTo>
                      <a:pt x="145" y="21"/>
                    </a:lnTo>
                    <a:lnTo>
                      <a:pt x="161" y="0"/>
                    </a:lnTo>
                    <a:lnTo>
                      <a:pt x="192" y="17"/>
                    </a:lnTo>
                    <a:lnTo>
                      <a:pt x="171" y="38"/>
                    </a:lnTo>
                    <a:lnTo>
                      <a:pt x="152" y="58"/>
                    </a:lnTo>
                    <a:lnTo>
                      <a:pt x="132" y="75"/>
                    </a:lnTo>
                    <a:lnTo>
                      <a:pt x="112" y="94"/>
                    </a:lnTo>
                    <a:lnTo>
                      <a:pt x="90" y="111"/>
                    </a:lnTo>
                    <a:lnTo>
                      <a:pt x="68" y="130"/>
                    </a:lnTo>
                    <a:lnTo>
                      <a:pt x="43" y="146"/>
                    </a:lnTo>
                    <a:lnTo>
                      <a:pt x="19" y="164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61" name="Freeform 82"/>
              <p:cNvSpPr>
                <a:spLocks/>
              </p:cNvSpPr>
              <p:nvPr/>
            </p:nvSpPr>
            <p:spPr bwMode="auto">
              <a:xfrm>
                <a:off x="3559" y="3100"/>
                <a:ext cx="193" cy="128"/>
              </a:xfrm>
              <a:custGeom>
                <a:avLst/>
                <a:gdLst>
                  <a:gd name="T0" fmla="*/ 0 w 193"/>
                  <a:gd name="T1" fmla="*/ 98 h 128"/>
                  <a:gd name="T2" fmla="*/ 22 w 193"/>
                  <a:gd name="T3" fmla="*/ 87 h 128"/>
                  <a:gd name="T4" fmla="*/ 45 w 193"/>
                  <a:gd name="T5" fmla="*/ 77 h 128"/>
                  <a:gd name="T6" fmla="*/ 66 w 193"/>
                  <a:gd name="T7" fmla="*/ 65 h 128"/>
                  <a:gd name="T8" fmla="*/ 90 w 193"/>
                  <a:gd name="T9" fmla="*/ 54 h 128"/>
                  <a:gd name="T10" fmla="*/ 111 w 193"/>
                  <a:gd name="T11" fmla="*/ 42 h 128"/>
                  <a:gd name="T12" fmla="*/ 132 w 193"/>
                  <a:gd name="T13" fmla="*/ 28 h 128"/>
                  <a:gd name="T14" fmla="*/ 154 w 193"/>
                  <a:gd name="T15" fmla="*/ 13 h 128"/>
                  <a:gd name="T16" fmla="*/ 175 w 193"/>
                  <a:gd name="T17" fmla="*/ 0 h 128"/>
                  <a:gd name="T18" fmla="*/ 193 w 193"/>
                  <a:gd name="T19" fmla="*/ 25 h 128"/>
                  <a:gd name="T20" fmla="*/ 172 w 193"/>
                  <a:gd name="T21" fmla="*/ 41 h 128"/>
                  <a:gd name="T22" fmla="*/ 149 w 193"/>
                  <a:gd name="T23" fmla="*/ 56 h 128"/>
                  <a:gd name="T24" fmla="*/ 125 w 193"/>
                  <a:gd name="T25" fmla="*/ 68 h 128"/>
                  <a:gd name="T26" fmla="*/ 102 w 193"/>
                  <a:gd name="T27" fmla="*/ 82 h 128"/>
                  <a:gd name="T28" fmla="*/ 80 w 193"/>
                  <a:gd name="T29" fmla="*/ 94 h 128"/>
                  <a:gd name="T30" fmla="*/ 56 w 193"/>
                  <a:gd name="T31" fmla="*/ 107 h 128"/>
                  <a:gd name="T32" fmla="*/ 33 w 193"/>
                  <a:gd name="T33" fmla="*/ 119 h 128"/>
                  <a:gd name="T34" fmla="*/ 8 w 193"/>
                  <a:gd name="T35" fmla="*/ 128 h 128"/>
                  <a:gd name="T36" fmla="*/ 0 w 193"/>
                  <a:gd name="T37" fmla="*/ 98 h 12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3"/>
                  <a:gd name="T58" fmla="*/ 0 h 128"/>
                  <a:gd name="T59" fmla="*/ 193 w 193"/>
                  <a:gd name="T60" fmla="*/ 128 h 12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3" h="128">
                    <a:moveTo>
                      <a:pt x="0" y="98"/>
                    </a:moveTo>
                    <a:lnTo>
                      <a:pt x="22" y="87"/>
                    </a:lnTo>
                    <a:lnTo>
                      <a:pt x="45" y="77"/>
                    </a:lnTo>
                    <a:lnTo>
                      <a:pt x="66" y="65"/>
                    </a:lnTo>
                    <a:lnTo>
                      <a:pt x="90" y="54"/>
                    </a:lnTo>
                    <a:lnTo>
                      <a:pt x="111" y="42"/>
                    </a:lnTo>
                    <a:lnTo>
                      <a:pt x="132" y="28"/>
                    </a:lnTo>
                    <a:lnTo>
                      <a:pt x="154" y="13"/>
                    </a:lnTo>
                    <a:lnTo>
                      <a:pt x="175" y="0"/>
                    </a:lnTo>
                    <a:lnTo>
                      <a:pt x="193" y="25"/>
                    </a:lnTo>
                    <a:lnTo>
                      <a:pt x="172" y="41"/>
                    </a:lnTo>
                    <a:lnTo>
                      <a:pt x="149" y="56"/>
                    </a:lnTo>
                    <a:lnTo>
                      <a:pt x="125" y="68"/>
                    </a:lnTo>
                    <a:lnTo>
                      <a:pt x="102" y="82"/>
                    </a:lnTo>
                    <a:lnTo>
                      <a:pt x="80" y="94"/>
                    </a:lnTo>
                    <a:lnTo>
                      <a:pt x="56" y="107"/>
                    </a:lnTo>
                    <a:lnTo>
                      <a:pt x="33" y="119"/>
                    </a:lnTo>
                    <a:lnTo>
                      <a:pt x="8" y="128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62" name="Freeform 83"/>
              <p:cNvSpPr>
                <a:spLocks/>
              </p:cNvSpPr>
              <p:nvPr/>
            </p:nvSpPr>
            <p:spPr bwMode="auto">
              <a:xfrm>
                <a:off x="3540" y="3196"/>
                <a:ext cx="28" cy="40"/>
              </a:xfrm>
              <a:custGeom>
                <a:avLst/>
                <a:gdLst>
                  <a:gd name="T0" fmla="*/ 28 w 28"/>
                  <a:gd name="T1" fmla="*/ 31 h 40"/>
                  <a:gd name="T2" fmla="*/ 8 w 28"/>
                  <a:gd name="T3" fmla="*/ 40 h 40"/>
                  <a:gd name="T4" fmla="*/ 0 w 28"/>
                  <a:gd name="T5" fmla="*/ 9 h 40"/>
                  <a:gd name="T6" fmla="*/ 19 w 28"/>
                  <a:gd name="T7" fmla="*/ 0 h 40"/>
                  <a:gd name="T8" fmla="*/ 28 w 28"/>
                  <a:gd name="T9" fmla="*/ 31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40"/>
                  <a:gd name="T17" fmla="*/ 28 w 28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40">
                    <a:moveTo>
                      <a:pt x="28" y="31"/>
                    </a:moveTo>
                    <a:lnTo>
                      <a:pt x="8" y="40"/>
                    </a:lnTo>
                    <a:lnTo>
                      <a:pt x="0" y="9"/>
                    </a:lnTo>
                    <a:lnTo>
                      <a:pt x="19" y="0"/>
                    </a:lnTo>
                    <a:lnTo>
                      <a:pt x="28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63" name="Freeform 84"/>
              <p:cNvSpPr>
                <a:spLocks/>
              </p:cNvSpPr>
              <p:nvPr/>
            </p:nvSpPr>
            <p:spPr bwMode="auto">
              <a:xfrm>
                <a:off x="3818" y="2920"/>
                <a:ext cx="146" cy="133"/>
              </a:xfrm>
              <a:custGeom>
                <a:avLst/>
                <a:gdLst>
                  <a:gd name="T0" fmla="*/ 0 w 146"/>
                  <a:gd name="T1" fmla="*/ 81 h 133"/>
                  <a:gd name="T2" fmla="*/ 146 w 146"/>
                  <a:gd name="T3" fmla="*/ 0 h 133"/>
                  <a:gd name="T4" fmla="*/ 81 w 146"/>
                  <a:gd name="T5" fmla="*/ 133 h 133"/>
                  <a:gd name="T6" fmla="*/ 0 w 146"/>
                  <a:gd name="T7" fmla="*/ 81 h 1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6"/>
                  <a:gd name="T13" fmla="*/ 0 h 133"/>
                  <a:gd name="T14" fmla="*/ 146 w 146"/>
                  <a:gd name="T15" fmla="*/ 133 h 1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6" h="133">
                    <a:moveTo>
                      <a:pt x="0" y="81"/>
                    </a:moveTo>
                    <a:lnTo>
                      <a:pt x="146" y="0"/>
                    </a:lnTo>
                    <a:lnTo>
                      <a:pt x="81" y="133"/>
                    </a:lnTo>
                    <a:lnTo>
                      <a:pt x="0" y="81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64" name="Freeform 85"/>
              <p:cNvSpPr>
                <a:spLocks/>
              </p:cNvSpPr>
              <p:nvPr/>
            </p:nvSpPr>
            <p:spPr bwMode="auto">
              <a:xfrm>
                <a:off x="3814" y="2909"/>
                <a:ext cx="159" cy="97"/>
              </a:xfrm>
              <a:custGeom>
                <a:avLst/>
                <a:gdLst>
                  <a:gd name="T0" fmla="*/ 143 w 159"/>
                  <a:gd name="T1" fmla="*/ 11 h 97"/>
                  <a:gd name="T2" fmla="*/ 150 w 159"/>
                  <a:gd name="T3" fmla="*/ 15 h 97"/>
                  <a:gd name="T4" fmla="*/ 6 w 159"/>
                  <a:gd name="T5" fmla="*/ 97 h 97"/>
                  <a:gd name="T6" fmla="*/ 0 w 159"/>
                  <a:gd name="T7" fmla="*/ 90 h 97"/>
                  <a:gd name="T8" fmla="*/ 146 w 159"/>
                  <a:gd name="T9" fmla="*/ 8 h 97"/>
                  <a:gd name="T10" fmla="*/ 153 w 159"/>
                  <a:gd name="T11" fmla="*/ 11 h 97"/>
                  <a:gd name="T12" fmla="*/ 146 w 159"/>
                  <a:gd name="T13" fmla="*/ 8 h 97"/>
                  <a:gd name="T14" fmla="*/ 159 w 159"/>
                  <a:gd name="T15" fmla="*/ 0 h 97"/>
                  <a:gd name="T16" fmla="*/ 153 w 159"/>
                  <a:gd name="T17" fmla="*/ 11 h 97"/>
                  <a:gd name="T18" fmla="*/ 143 w 159"/>
                  <a:gd name="T19" fmla="*/ 11 h 9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59"/>
                  <a:gd name="T31" fmla="*/ 0 h 97"/>
                  <a:gd name="T32" fmla="*/ 159 w 159"/>
                  <a:gd name="T33" fmla="*/ 97 h 9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59" h="97">
                    <a:moveTo>
                      <a:pt x="143" y="11"/>
                    </a:moveTo>
                    <a:lnTo>
                      <a:pt x="150" y="15"/>
                    </a:lnTo>
                    <a:lnTo>
                      <a:pt x="6" y="97"/>
                    </a:lnTo>
                    <a:lnTo>
                      <a:pt x="0" y="90"/>
                    </a:lnTo>
                    <a:lnTo>
                      <a:pt x="146" y="8"/>
                    </a:lnTo>
                    <a:lnTo>
                      <a:pt x="153" y="11"/>
                    </a:lnTo>
                    <a:lnTo>
                      <a:pt x="146" y="8"/>
                    </a:lnTo>
                    <a:lnTo>
                      <a:pt x="159" y="0"/>
                    </a:lnTo>
                    <a:lnTo>
                      <a:pt x="153" y="11"/>
                    </a:lnTo>
                    <a:lnTo>
                      <a:pt x="143" y="11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65" name="Freeform 86"/>
              <p:cNvSpPr>
                <a:spLocks/>
              </p:cNvSpPr>
              <p:nvPr/>
            </p:nvSpPr>
            <p:spPr bwMode="auto">
              <a:xfrm>
                <a:off x="3893" y="2920"/>
                <a:ext cx="75" cy="140"/>
              </a:xfrm>
              <a:custGeom>
                <a:avLst/>
                <a:gdLst>
                  <a:gd name="T0" fmla="*/ 10 w 75"/>
                  <a:gd name="T1" fmla="*/ 127 h 140"/>
                  <a:gd name="T2" fmla="*/ 0 w 75"/>
                  <a:gd name="T3" fmla="*/ 131 h 140"/>
                  <a:gd name="T4" fmla="*/ 67 w 75"/>
                  <a:gd name="T5" fmla="*/ 0 h 140"/>
                  <a:gd name="T6" fmla="*/ 75 w 75"/>
                  <a:gd name="T7" fmla="*/ 1 h 140"/>
                  <a:gd name="T8" fmla="*/ 11 w 75"/>
                  <a:gd name="T9" fmla="*/ 133 h 140"/>
                  <a:gd name="T10" fmla="*/ 1 w 75"/>
                  <a:gd name="T11" fmla="*/ 136 h 140"/>
                  <a:gd name="T12" fmla="*/ 11 w 75"/>
                  <a:gd name="T13" fmla="*/ 133 h 140"/>
                  <a:gd name="T14" fmla="*/ 7 w 75"/>
                  <a:gd name="T15" fmla="*/ 140 h 140"/>
                  <a:gd name="T16" fmla="*/ 1 w 75"/>
                  <a:gd name="T17" fmla="*/ 136 h 140"/>
                  <a:gd name="T18" fmla="*/ 10 w 75"/>
                  <a:gd name="T19" fmla="*/ 127 h 1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5"/>
                  <a:gd name="T31" fmla="*/ 0 h 140"/>
                  <a:gd name="T32" fmla="*/ 75 w 75"/>
                  <a:gd name="T33" fmla="*/ 140 h 1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5" h="140">
                    <a:moveTo>
                      <a:pt x="10" y="127"/>
                    </a:moveTo>
                    <a:lnTo>
                      <a:pt x="0" y="131"/>
                    </a:lnTo>
                    <a:lnTo>
                      <a:pt x="67" y="0"/>
                    </a:lnTo>
                    <a:lnTo>
                      <a:pt x="75" y="1"/>
                    </a:lnTo>
                    <a:lnTo>
                      <a:pt x="11" y="133"/>
                    </a:lnTo>
                    <a:lnTo>
                      <a:pt x="1" y="136"/>
                    </a:lnTo>
                    <a:lnTo>
                      <a:pt x="11" y="133"/>
                    </a:lnTo>
                    <a:lnTo>
                      <a:pt x="7" y="140"/>
                    </a:lnTo>
                    <a:lnTo>
                      <a:pt x="1" y="136"/>
                    </a:lnTo>
                    <a:lnTo>
                      <a:pt x="10" y="127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66" name="Freeform 87"/>
              <p:cNvSpPr>
                <a:spLocks/>
              </p:cNvSpPr>
              <p:nvPr/>
            </p:nvSpPr>
            <p:spPr bwMode="auto">
              <a:xfrm>
                <a:off x="3807" y="2996"/>
                <a:ext cx="94" cy="60"/>
              </a:xfrm>
              <a:custGeom>
                <a:avLst/>
                <a:gdLst>
                  <a:gd name="T0" fmla="*/ 11 w 94"/>
                  <a:gd name="T1" fmla="*/ 8 h 60"/>
                  <a:gd name="T2" fmla="*/ 14 w 94"/>
                  <a:gd name="T3" fmla="*/ 0 h 60"/>
                  <a:gd name="T4" fmla="*/ 94 w 94"/>
                  <a:gd name="T5" fmla="*/ 52 h 60"/>
                  <a:gd name="T6" fmla="*/ 85 w 94"/>
                  <a:gd name="T7" fmla="*/ 60 h 60"/>
                  <a:gd name="T8" fmla="*/ 4 w 94"/>
                  <a:gd name="T9" fmla="*/ 9 h 60"/>
                  <a:gd name="T10" fmla="*/ 6 w 94"/>
                  <a:gd name="T11" fmla="*/ 2 h 60"/>
                  <a:gd name="T12" fmla="*/ 4 w 94"/>
                  <a:gd name="T13" fmla="*/ 9 h 60"/>
                  <a:gd name="T14" fmla="*/ 0 w 94"/>
                  <a:gd name="T15" fmla="*/ 6 h 60"/>
                  <a:gd name="T16" fmla="*/ 6 w 94"/>
                  <a:gd name="T17" fmla="*/ 2 h 60"/>
                  <a:gd name="T18" fmla="*/ 11 w 94"/>
                  <a:gd name="T19" fmla="*/ 8 h 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4"/>
                  <a:gd name="T31" fmla="*/ 0 h 60"/>
                  <a:gd name="T32" fmla="*/ 94 w 94"/>
                  <a:gd name="T33" fmla="*/ 60 h 6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4" h="60">
                    <a:moveTo>
                      <a:pt x="11" y="8"/>
                    </a:moveTo>
                    <a:lnTo>
                      <a:pt x="14" y="0"/>
                    </a:lnTo>
                    <a:lnTo>
                      <a:pt x="94" y="52"/>
                    </a:lnTo>
                    <a:lnTo>
                      <a:pt x="85" y="60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4" y="9"/>
                    </a:lnTo>
                    <a:lnTo>
                      <a:pt x="0" y="6"/>
                    </a:lnTo>
                    <a:lnTo>
                      <a:pt x="6" y="2"/>
                    </a:lnTo>
                    <a:lnTo>
                      <a:pt x="11" y="8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67" name="Freeform 88"/>
              <p:cNvSpPr>
                <a:spLocks/>
              </p:cNvSpPr>
              <p:nvPr/>
            </p:nvSpPr>
            <p:spPr bwMode="auto">
              <a:xfrm>
                <a:off x="3904" y="2952"/>
                <a:ext cx="37" cy="27"/>
              </a:xfrm>
              <a:custGeom>
                <a:avLst/>
                <a:gdLst>
                  <a:gd name="T0" fmla="*/ 0 w 37"/>
                  <a:gd name="T1" fmla="*/ 13 h 27"/>
                  <a:gd name="T2" fmla="*/ 13 w 37"/>
                  <a:gd name="T3" fmla="*/ 0 h 27"/>
                  <a:gd name="T4" fmla="*/ 37 w 37"/>
                  <a:gd name="T5" fmla="*/ 13 h 27"/>
                  <a:gd name="T6" fmla="*/ 25 w 37"/>
                  <a:gd name="T7" fmla="*/ 27 h 27"/>
                  <a:gd name="T8" fmla="*/ 0 w 37"/>
                  <a:gd name="T9" fmla="*/ 13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27"/>
                  <a:gd name="T17" fmla="*/ 37 w 37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27">
                    <a:moveTo>
                      <a:pt x="0" y="13"/>
                    </a:moveTo>
                    <a:lnTo>
                      <a:pt x="13" y="0"/>
                    </a:lnTo>
                    <a:lnTo>
                      <a:pt x="37" y="13"/>
                    </a:lnTo>
                    <a:lnTo>
                      <a:pt x="25" y="27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68" name="Freeform 89"/>
              <p:cNvSpPr>
                <a:spLocks/>
              </p:cNvSpPr>
              <p:nvPr/>
            </p:nvSpPr>
            <p:spPr bwMode="auto">
              <a:xfrm>
                <a:off x="3743" y="2964"/>
                <a:ext cx="187" cy="160"/>
              </a:xfrm>
              <a:custGeom>
                <a:avLst/>
                <a:gdLst>
                  <a:gd name="T0" fmla="*/ 0 w 187"/>
                  <a:gd name="T1" fmla="*/ 138 h 160"/>
                  <a:gd name="T2" fmla="*/ 0 w 187"/>
                  <a:gd name="T3" fmla="*/ 138 h 160"/>
                  <a:gd name="T4" fmla="*/ 23 w 187"/>
                  <a:gd name="T5" fmla="*/ 121 h 160"/>
                  <a:gd name="T6" fmla="*/ 47 w 187"/>
                  <a:gd name="T7" fmla="*/ 106 h 160"/>
                  <a:gd name="T8" fmla="*/ 66 w 187"/>
                  <a:gd name="T9" fmla="*/ 89 h 160"/>
                  <a:gd name="T10" fmla="*/ 88 w 187"/>
                  <a:gd name="T11" fmla="*/ 72 h 160"/>
                  <a:gd name="T12" fmla="*/ 108 w 187"/>
                  <a:gd name="T13" fmla="*/ 56 h 160"/>
                  <a:gd name="T14" fmla="*/ 126 w 187"/>
                  <a:gd name="T15" fmla="*/ 39 h 160"/>
                  <a:gd name="T16" fmla="*/ 145 w 187"/>
                  <a:gd name="T17" fmla="*/ 20 h 160"/>
                  <a:gd name="T18" fmla="*/ 163 w 187"/>
                  <a:gd name="T19" fmla="*/ 0 h 160"/>
                  <a:gd name="T20" fmla="*/ 187 w 187"/>
                  <a:gd name="T21" fmla="*/ 13 h 160"/>
                  <a:gd name="T22" fmla="*/ 167 w 187"/>
                  <a:gd name="T23" fmla="*/ 35 h 160"/>
                  <a:gd name="T24" fmla="*/ 148 w 187"/>
                  <a:gd name="T25" fmla="*/ 54 h 160"/>
                  <a:gd name="T26" fmla="*/ 128 w 187"/>
                  <a:gd name="T27" fmla="*/ 72 h 160"/>
                  <a:gd name="T28" fmla="*/ 106 w 187"/>
                  <a:gd name="T29" fmla="*/ 90 h 160"/>
                  <a:gd name="T30" fmla="*/ 85 w 187"/>
                  <a:gd name="T31" fmla="*/ 108 h 160"/>
                  <a:gd name="T32" fmla="*/ 64 w 187"/>
                  <a:gd name="T33" fmla="*/ 124 h 160"/>
                  <a:gd name="T34" fmla="*/ 40 w 187"/>
                  <a:gd name="T35" fmla="*/ 141 h 160"/>
                  <a:gd name="T36" fmla="*/ 15 w 187"/>
                  <a:gd name="T37" fmla="*/ 160 h 160"/>
                  <a:gd name="T38" fmla="*/ 0 w 187"/>
                  <a:gd name="T39" fmla="*/ 138 h 16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87"/>
                  <a:gd name="T61" fmla="*/ 0 h 160"/>
                  <a:gd name="T62" fmla="*/ 187 w 187"/>
                  <a:gd name="T63" fmla="*/ 160 h 16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87" h="160">
                    <a:moveTo>
                      <a:pt x="0" y="138"/>
                    </a:moveTo>
                    <a:lnTo>
                      <a:pt x="0" y="138"/>
                    </a:lnTo>
                    <a:lnTo>
                      <a:pt x="23" y="121"/>
                    </a:lnTo>
                    <a:lnTo>
                      <a:pt x="47" y="106"/>
                    </a:lnTo>
                    <a:lnTo>
                      <a:pt x="66" y="89"/>
                    </a:lnTo>
                    <a:lnTo>
                      <a:pt x="88" y="72"/>
                    </a:lnTo>
                    <a:lnTo>
                      <a:pt x="108" y="56"/>
                    </a:lnTo>
                    <a:lnTo>
                      <a:pt x="126" y="39"/>
                    </a:lnTo>
                    <a:lnTo>
                      <a:pt x="145" y="20"/>
                    </a:lnTo>
                    <a:lnTo>
                      <a:pt x="163" y="0"/>
                    </a:lnTo>
                    <a:lnTo>
                      <a:pt x="187" y="13"/>
                    </a:lnTo>
                    <a:lnTo>
                      <a:pt x="167" y="35"/>
                    </a:lnTo>
                    <a:lnTo>
                      <a:pt x="148" y="54"/>
                    </a:lnTo>
                    <a:lnTo>
                      <a:pt x="128" y="72"/>
                    </a:lnTo>
                    <a:lnTo>
                      <a:pt x="106" y="90"/>
                    </a:lnTo>
                    <a:lnTo>
                      <a:pt x="85" y="108"/>
                    </a:lnTo>
                    <a:lnTo>
                      <a:pt x="64" y="124"/>
                    </a:lnTo>
                    <a:lnTo>
                      <a:pt x="40" y="141"/>
                    </a:lnTo>
                    <a:lnTo>
                      <a:pt x="15" y="16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69" name="Freeform 90"/>
              <p:cNvSpPr>
                <a:spLocks/>
              </p:cNvSpPr>
              <p:nvPr/>
            </p:nvSpPr>
            <p:spPr bwMode="auto">
              <a:xfrm>
                <a:off x="3561" y="3101"/>
                <a:ext cx="191" cy="125"/>
              </a:xfrm>
              <a:custGeom>
                <a:avLst/>
                <a:gdLst>
                  <a:gd name="T0" fmla="*/ 0 w 191"/>
                  <a:gd name="T1" fmla="*/ 100 h 125"/>
                  <a:gd name="T2" fmla="*/ 22 w 191"/>
                  <a:gd name="T3" fmla="*/ 89 h 125"/>
                  <a:gd name="T4" fmla="*/ 45 w 191"/>
                  <a:gd name="T5" fmla="*/ 78 h 125"/>
                  <a:gd name="T6" fmla="*/ 67 w 191"/>
                  <a:gd name="T7" fmla="*/ 66 h 125"/>
                  <a:gd name="T8" fmla="*/ 89 w 191"/>
                  <a:gd name="T9" fmla="*/ 56 h 125"/>
                  <a:gd name="T10" fmla="*/ 111 w 191"/>
                  <a:gd name="T11" fmla="*/ 42 h 125"/>
                  <a:gd name="T12" fmla="*/ 132 w 191"/>
                  <a:gd name="T13" fmla="*/ 30 h 125"/>
                  <a:gd name="T14" fmla="*/ 155 w 191"/>
                  <a:gd name="T15" fmla="*/ 15 h 125"/>
                  <a:gd name="T16" fmla="*/ 176 w 191"/>
                  <a:gd name="T17" fmla="*/ 0 h 125"/>
                  <a:gd name="T18" fmla="*/ 191 w 191"/>
                  <a:gd name="T19" fmla="*/ 22 h 125"/>
                  <a:gd name="T20" fmla="*/ 170 w 191"/>
                  <a:gd name="T21" fmla="*/ 36 h 125"/>
                  <a:gd name="T22" fmla="*/ 147 w 191"/>
                  <a:gd name="T23" fmla="*/ 51 h 125"/>
                  <a:gd name="T24" fmla="*/ 125 w 191"/>
                  <a:gd name="T25" fmla="*/ 64 h 125"/>
                  <a:gd name="T26" fmla="*/ 100 w 191"/>
                  <a:gd name="T27" fmla="*/ 78 h 125"/>
                  <a:gd name="T28" fmla="*/ 77 w 191"/>
                  <a:gd name="T29" fmla="*/ 91 h 125"/>
                  <a:gd name="T30" fmla="*/ 54 w 191"/>
                  <a:gd name="T31" fmla="*/ 103 h 125"/>
                  <a:gd name="T32" fmla="*/ 31 w 191"/>
                  <a:gd name="T33" fmla="*/ 114 h 125"/>
                  <a:gd name="T34" fmla="*/ 6 w 191"/>
                  <a:gd name="T35" fmla="*/ 125 h 125"/>
                  <a:gd name="T36" fmla="*/ 0 w 191"/>
                  <a:gd name="T37" fmla="*/ 100 h 12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1"/>
                  <a:gd name="T58" fmla="*/ 0 h 125"/>
                  <a:gd name="T59" fmla="*/ 191 w 191"/>
                  <a:gd name="T60" fmla="*/ 125 h 12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1" h="125">
                    <a:moveTo>
                      <a:pt x="0" y="100"/>
                    </a:moveTo>
                    <a:lnTo>
                      <a:pt x="22" y="89"/>
                    </a:lnTo>
                    <a:lnTo>
                      <a:pt x="45" y="78"/>
                    </a:lnTo>
                    <a:lnTo>
                      <a:pt x="67" y="66"/>
                    </a:lnTo>
                    <a:lnTo>
                      <a:pt x="89" y="56"/>
                    </a:lnTo>
                    <a:lnTo>
                      <a:pt x="111" y="42"/>
                    </a:lnTo>
                    <a:lnTo>
                      <a:pt x="132" y="30"/>
                    </a:lnTo>
                    <a:lnTo>
                      <a:pt x="155" y="15"/>
                    </a:lnTo>
                    <a:lnTo>
                      <a:pt x="176" y="0"/>
                    </a:lnTo>
                    <a:lnTo>
                      <a:pt x="191" y="22"/>
                    </a:lnTo>
                    <a:lnTo>
                      <a:pt x="170" y="36"/>
                    </a:lnTo>
                    <a:lnTo>
                      <a:pt x="147" y="51"/>
                    </a:lnTo>
                    <a:lnTo>
                      <a:pt x="125" y="64"/>
                    </a:lnTo>
                    <a:lnTo>
                      <a:pt x="100" y="78"/>
                    </a:lnTo>
                    <a:lnTo>
                      <a:pt x="77" y="91"/>
                    </a:lnTo>
                    <a:lnTo>
                      <a:pt x="54" y="103"/>
                    </a:lnTo>
                    <a:lnTo>
                      <a:pt x="31" y="114"/>
                    </a:lnTo>
                    <a:lnTo>
                      <a:pt x="6" y="125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70" name="Freeform 91"/>
              <p:cNvSpPr>
                <a:spLocks/>
              </p:cNvSpPr>
              <p:nvPr/>
            </p:nvSpPr>
            <p:spPr bwMode="auto">
              <a:xfrm>
                <a:off x="3545" y="3199"/>
                <a:ext cx="22" cy="34"/>
              </a:xfrm>
              <a:custGeom>
                <a:avLst/>
                <a:gdLst>
                  <a:gd name="T0" fmla="*/ 22 w 22"/>
                  <a:gd name="T1" fmla="*/ 27 h 34"/>
                  <a:gd name="T2" fmla="*/ 5 w 22"/>
                  <a:gd name="T3" fmla="*/ 34 h 34"/>
                  <a:gd name="T4" fmla="*/ 0 w 22"/>
                  <a:gd name="T5" fmla="*/ 8 h 34"/>
                  <a:gd name="T6" fmla="*/ 16 w 22"/>
                  <a:gd name="T7" fmla="*/ 0 h 34"/>
                  <a:gd name="T8" fmla="*/ 22 w 22"/>
                  <a:gd name="T9" fmla="*/ 27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34"/>
                  <a:gd name="T17" fmla="*/ 22 w 22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34">
                    <a:moveTo>
                      <a:pt x="22" y="27"/>
                    </a:moveTo>
                    <a:lnTo>
                      <a:pt x="5" y="34"/>
                    </a:lnTo>
                    <a:lnTo>
                      <a:pt x="0" y="8"/>
                    </a:lnTo>
                    <a:lnTo>
                      <a:pt x="16" y="0"/>
                    </a:lnTo>
                    <a:lnTo>
                      <a:pt x="22" y="27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71" name="Freeform 92"/>
              <p:cNvSpPr>
                <a:spLocks/>
              </p:cNvSpPr>
              <p:nvPr/>
            </p:nvSpPr>
            <p:spPr bwMode="auto">
              <a:xfrm>
                <a:off x="4033" y="1825"/>
                <a:ext cx="102" cy="162"/>
              </a:xfrm>
              <a:custGeom>
                <a:avLst/>
                <a:gdLst>
                  <a:gd name="T0" fmla="*/ 22 w 102"/>
                  <a:gd name="T1" fmla="*/ 162 h 162"/>
                  <a:gd name="T2" fmla="*/ 0 w 102"/>
                  <a:gd name="T3" fmla="*/ 0 h 162"/>
                  <a:gd name="T4" fmla="*/ 102 w 102"/>
                  <a:gd name="T5" fmla="*/ 120 h 162"/>
                  <a:gd name="T6" fmla="*/ 22 w 102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2"/>
                  <a:gd name="T13" fmla="*/ 0 h 162"/>
                  <a:gd name="T14" fmla="*/ 102 w 102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2" h="162">
                    <a:moveTo>
                      <a:pt x="22" y="162"/>
                    </a:moveTo>
                    <a:lnTo>
                      <a:pt x="0" y="0"/>
                    </a:lnTo>
                    <a:lnTo>
                      <a:pt x="102" y="120"/>
                    </a:lnTo>
                    <a:lnTo>
                      <a:pt x="22" y="1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72" name="Freeform 93"/>
              <p:cNvSpPr>
                <a:spLocks/>
              </p:cNvSpPr>
              <p:nvPr/>
            </p:nvSpPr>
            <p:spPr bwMode="auto">
              <a:xfrm>
                <a:off x="4022" y="1801"/>
                <a:ext cx="40" cy="186"/>
              </a:xfrm>
              <a:custGeom>
                <a:avLst/>
                <a:gdLst>
                  <a:gd name="T0" fmla="*/ 6 w 40"/>
                  <a:gd name="T1" fmla="*/ 32 h 186"/>
                  <a:gd name="T2" fmla="*/ 19 w 40"/>
                  <a:gd name="T3" fmla="*/ 26 h 186"/>
                  <a:gd name="T4" fmla="*/ 40 w 40"/>
                  <a:gd name="T5" fmla="*/ 186 h 186"/>
                  <a:gd name="T6" fmla="*/ 24 w 40"/>
                  <a:gd name="T7" fmla="*/ 185 h 186"/>
                  <a:gd name="T8" fmla="*/ 3 w 40"/>
                  <a:gd name="T9" fmla="*/ 25 h 186"/>
                  <a:gd name="T10" fmla="*/ 14 w 40"/>
                  <a:gd name="T11" fmla="*/ 18 h 186"/>
                  <a:gd name="T12" fmla="*/ 3 w 40"/>
                  <a:gd name="T13" fmla="*/ 25 h 186"/>
                  <a:gd name="T14" fmla="*/ 0 w 40"/>
                  <a:gd name="T15" fmla="*/ 0 h 186"/>
                  <a:gd name="T16" fmla="*/ 14 w 40"/>
                  <a:gd name="T17" fmla="*/ 18 h 186"/>
                  <a:gd name="T18" fmla="*/ 6 w 40"/>
                  <a:gd name="T19" fmla="*/ 32 h 18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0"/>
                  <a:gd name="T31" fmla="*/ 0 h 186"/>
                  <a:gd name="T32" fmla="*/ 40 w 40"/>
                  <a:gd name="T33" fmla="*/ 186 h 18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0" h="186">
                    <a:moveTo>
                      <a:pt x="6" y="32"/>
                    </a:moveTo>
                    <a:lnTo>
                      <a:pt x="19" y="26"/>
                    </a:lnTo>
                    <a:lnTo>
                      <a:pt x="40" y="186"/>
                    </a:lnTo>
                    <a:lnTo>
                      <a:pt x="24" y="185"/>
                    </a:lnTo>
                    <a:lnTo>
                      <a:pt x="3" y="25"/>
                    </a:lnTo>
                    <a:lnTo>
                      <a:pt x="14" y="18"/>
                    </a:lnTo>
                    <a:lnTo>
                      <a:pt x="3" y="25"/>
                    </a:lnTo>
                    <a:lnTo>
                      <a:pt x="0" y="0"/>
                    </a:lnTo>
                    <a:lnTo>
                      <a:pt x="14" y="18"/>
                    </a:lnTo>
                    <a:lnTo>
                      <a:pt x="6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73" name="Freeform 94"/>
              <p:cNvSpPr>
                <a:spLocks/>
              </p:cNvSpPr>
              <p:nvPr/>
            </p:nvSpPr>
            <p:spPr bwMode="auto">
              <a:xfrm>
                <a:off x="4029" y="1818"/>
                <a:ext cx="120" cy="135"/>
              </a:xfrm>
              <a:custGeom>
                <a:avLst/>
                <a:gdLst>
                  <a:gd name="T0" fmla="*/ 102 w 120"/>
                  <a:gd name="T1" fmla="*/ 116 h 135"/>
                  <a:gd name="T2" fmla="*/ 102 w 120"/>
                  <a:gd name="T3" fmla="*/ 133 h 135"/>
                  <a:gd name="T4" fmla="*/ 0 w 120"/>
                  <a:gd name="T5" fmla="*/ 14 h 135"/>
                  <a:gd name="T6" fmla="*/ 9 w 120"/>
                  <a:gd name="T7" fmla="*/ 0 h 135"/>
                  <a:gd name="T8" fmla="*/ 109 w 120"/>
                  <a:gd name="T9" fmla="*/ 119 h 135"/>
                  <a:gd name="T10" fmla="*/ 109 w 120"/>
                  <a:gd name="T11" fmla="*/ 135 h 135"/>
                  <a:gd name="T12" fmla="*/ 109 w 120"/>
                  <a:gd name="T13" fmla="*/ 119 h 135"/>
                  <a:gd name="T14" fmla="*/ 120 w 120"/>
                  <a:gd name="T15" fmla="*/ 128 h 135"/>
                  <a:gd name="T16" fmla="*/ 109 w 120"/>
                  <a:gd name="T17" fmla="*/ 135 h 135"/>
                  <a:gd name="T18" fmla="*/ 102 w 120"/>
                  <a:gd name="T19" fmla="*/ 116 h 13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0"/>
                  <a:gd name="T31" fmla="*/ 0 h 135"/>
                  <a:gd name="T32" fmla="*/ 120 w 120"/>
                  <a:gd name="T33" fmla="*/ 135 h 13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0" h="135">
                    <a:moveTo>
                      <a:pt x="102" y="116"/>
                    </a:moveTo>
                    <a:lnTo>
                      <a:pt x="102" y="133"/>
                    </a:lnTo>
                    <a:lnTo>
                      <a:pt x="0" y="14"/>
                    </a:lnTo>
                    <a:lnTo>
                      <a:pt x="9" y="0"/>
                    </a:lnTo>
                    <a:lnTo>
                      <a:pt x="109" y="119"/>
                    </a:lnTo>
                    <a:lnTo>
                      <a:pt x="109" y="135"/>
                    </a:lnTo>
                    <a:lnTo>
                      <a:pt x="109" y="119"/>
                    </a:lnTo>
                    <a:lnTo>
                      <a:pt x="120" y="128"/>
                    </a:lnTo>
                    <a:lnTo>
                      <a:pt x="109" y="135"/>
                    </a:lnTo>
                    <a:lnTo>
                      <a:pt x="102" y="1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74" name="Freeform 95"/>
              <p:cNvSpPr>
                <a:spLocks/>
              </p:cNvSpPr>
              <p:nvPr/>
            </p:nvSpPr>
            <p:spPr bwMode="auto">
              <a:xfrm>
                <a:off x="4047" y="1935"/>
                <a:ext cx="93" cy="67"/>
              </a:xfrm>
              <a:custGeom>
                <a:avLst/>
                <a:gdLst>
                  <a:gd name="T0" fmla="*/ 16 w 93"/>
                  <a:gd name="T1" fmla="*/ 53 h 67"/>
                  <a:gd name="T2" fmla="*/ 4 w 93"/>
                  <a:gd name="T3" fmla="*/ 43 h 67"/>
                  <a:gd name="T4" fmla="*/ 85 w 93"/>
                  <a:gd name="T5" fmla="*/ 0 h 67"/>
                  <a:gd name="T6" fmla="*/ 93 w 93"/>
                  <a:gd name="T7" fmla="*/ 19 h 67"/>
                  <a:gd name="T8" fmla="*/ 13 w 93"/>
                  <a:gd name="T9" fmla="*/ 63 h 67"/>
                  <a:gd name="T10" fmla="*/ 0 w 93"/>
                  <a:gd name="T11" fmla="*/ 52 h 67"/>
                  <a:gd name="T12" fmla="*/ 13 w 93"/>
                  <a:gd name="T13" fmla="*/ 63 h 67"/>
                  <a:gd name="T14" fmla="*/ 2 w 93"/>
                  <a:gd name="T15" fmla="*/ 67 h 67"/>
                  <a:gd name="T16" fmla="*/ 0 w 93"/>
                  <a:gd name="T17" fmla="*/ 52 h 67"/>
                  <a:gd name="T18" fmla="*/ 16 w 93"/>
                  <a:gd name="T19" fmla="*/ 53 h 6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3"/>
                  <a:gd name="T31" fmla="*/ 0 h 67"/>
                  <a:gd name="T32" fmla="*/ 93 w 93"/>
                  <a:gd name="T33" fmla="*/ 67 h 6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3" h="67">
                    <a:moveTo>
                      <a:pt x="16" y="53"/>
                    </a:moveTo>
                    <a:lnTo>
                      <a:pt x="4" y="43"/>
                    </a:lnTo>
                    <a:lnTo>
                      <a:pt x="85" y="0"/>
                    </a:lnTo>
                    <a:lnTo>
                      <a:pt x="93" y="19"/>
                    </a:lnTo>
                    <a:lnTo>
                      <a:pt x="13" y="63"/>
                    </a:lnTo>
                    <a:lnTo>
                      <a:pt x="0" y="52"/>
                    </a:lnTo>
                    <a:lnTo>
                      <a:pt x="13" y="63"/>
                    </a:lnTo>
                    <a:lnTo>
                      <a:pt x="2" y="67"/>
                    </a:lnTo>
                    <a:lnTo>
                      <a:pt x="0" y="52"/>
                    </a:lnTo>
                    <a:lnTo>
                      <a:pt x="16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75" name="Freeform 96"/>
              <p:cNvSpPr>
                <a:spLocks/>
              </p:cNvSpPr>
              <p:nvPr/>
            </p:nvSpPr>
            <p:spPr bwMode="auto">
              <a:xfrm>
                <a:off x="4032" y="1845"/>
                <a:ext cx="39" cy="37"/>
              </a:xfrm>
              <a:custGeom>
                <a:avLst/>
                <a:gdLst>
                  <a:gd name="T0" fmla="*/ 11 w 39"/>
                  <a:gd name="T1" fmla="*/ 37 h 37"/>
                  <a:gd name="T2" fmla="*/ 0 w 39"/>
                  <a:gd name="T3" fmla="*/ 17 h 37"/>
                  <a:gd name="T4" fmla="*/ 28 w 39"/>
                  <a:gd name="T5" fmla="*/ 0 h 37"/>
                  <a:gd name="T6" fmla="*/ 39 w 39"/>
                  <a:gd name="T7" fmla="*/ 20 h 37"/>
                  <a:gd name="T8" fmla="*/ 11 w 39"/>
                  <a:gd name="T9" fmla="*/ 37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9"/>
                  <a:gd name="T16" fmla="*/ 0 h 37"/>
                  <a:gd name="T17" fmla="*/ 39 w 39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9" h="37">
                    <a:moveTo>
                      <a:pt x="11" y="37"/>
                    </a:moveTo>
                    <a:lnTo>
                      <a:pt x="0" y="17"/>
                    </a:lnTo>
                    <a:lnTo>
                      <a:pt x="28" y="0"/>
                    </a:lnTo>
                    <a:lnTo>
                      <a:pt x="39" y="20"/>
                    </a:lnTo>
                    <a:lnTo>
                      <a:pt x="11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76" name="Freeform 97"/>
              <p:cNvSpPr>
                <a:spLocks/>
              </p:cNvSpPr>
              <p:nvPr/>
            </p:nvSpPr>
            <p:spPr bwMode="auto">
              <a:xfrm>
                <a:off x="4046" y="1869"/>
                <a:ext cx="108" cy="231"/>
              </a:xfrm>
              <a:custGeom>
                <a:avLst/>
                <a:gdLst>
                  <a:gd name="T0" fmla="*/ 77 w 108"/>
                  <a:gd name="T1" fmla="*/ 231 h 231"/>
                  <a:gd name="T2" fmla="*/ 77 w 108"/>
                  <a:gd name="T3" fmla="*/ 231 h 231"/>
                  <a:gd name="T4" fmla="*/ 62 w 108"/>
                  <a:gd name="T5" fmla="*/ 176 h 231"/>
                  <a:gd name="T6" fmla="*/ 44 w 108"/>
                  <a:gd name="T7" fmla="*/ 120 h 231"/>
                  <a:gd name="T8" fmla="*/ 24 w 108"/>
                  <a:gd name="T9" fmla="*/ 68 h 231"/>
                  <a:gd name="T10" fmla="*/ 0 w 108"/>
                  <a:gd name="T11" fmla="*/ 16 h 231"/>
                  <a:gd name="T12" fmla="*/ 27 w 108"/>
                  <a:gd name="T13" fmla="*/ 0 h 231"/>
                  <a:gd name="T14" fmla="*/ 52 w 108"/>
                  <a:gd name="T15" fmla="*/ 55 h 231"/>
                  <a:gd name="T16" fmla="*/ 73 w 108"/>
                  <a:gd name="T17" fmla="*/ 110 h 231"/>
                  <a:gd name="T18" fmla="*/ 92 w 108"/>
                  <a:gd name="T19" fmla="*/ 168 h 231"/>
                  <a:gd name="T20" fmla="*/ 108 w 108"/>
                  <a:gd name="T21" fmla="*/ 228 h 231"/>
                  <a:gd name="T22" fmla="*/ 77 w 108"/>
                  <a:gd name="T23" fmla="*/ 231 h 23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08"/>
                  <a:gd name="T37" fmla="*/ 0 h 231"/>
                  <a:gd name="T38" fmla="*/ 108 w 108"/>
                  <a:gd name="T39" fmla="*/ 231 h 23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08" h="231">
                    <a:moveTo>
                      <a:pt x="77" y="231"/>
                    </a:moveTo>
                    <a:lnTo>
                      <a:pt x="77" y="231"/>
                    </a:lnTo>
                    <a:lnTo>
                      <a:pt x="62" y="176"/>
                    </a:lnTo>
                    <a:lnTo>
                      <a:pt x="44" y="120"/>
                    </a:lnTo>
                    <a:lnTo>
                      <a:pt x="24" y="68"/>
                    </a:lnTo>
                    <a:lnTo>
                      <a:pt x="0" y="16"/>
                    </a:lnTo>
                    <a:lnTo>
                      <a:pt x="27" y="0"/>
                    </a:lnTo>
                    <a:lnTo>
                      <a:pt x="52" y="55"/>
                    </a:lnTo>
                    <a:lnTo>
                      <a:pt x="73" y="110"/>
                    </a:lnTo>
                    <a:lnTo>
                      <a:pt x="92" y="168"/>
                    </a:lnTo>
                    <a:lnTo>
                      <a:pt x="108" y="228"/>
                    </a:lnTo>
                    <a:lnTo>
                      <a:pt x="77" y="2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77" name="Freeform 98"/>
              <p:cNvSpPr>
                <a:spLocks/>
              </p:cNvSpPr>
              <p:nvPr/>
            </p:nvSpPr>
            <p:spPr bwMode="auto">
              <a:xfrm>
                <a:off x="4127" y="2097"/>
                <a:ext cx="59" cy="206"/>
              </a:xfrm>
              <a:custGeom>
                <a:avLst/>
                <a:gdLst>
                  <a:gd name="T0" fmla="*/ 24 w 59"/>
                  <a:gd name="T1" fmla="*/ 199 h 206"/>
                  <a:gd name="T2" fmla="*/ 24 w 59"/>
                  <a:gd name="T3" fmla="*/ 174 h 206"/>
                  <a:gd name="T4" fmla="*/ 23 w 59"/>
                  <a:gd name="T5" fmla="*/ 151 h 206"/>
                  <a:gd name="T6" fmla="*/ 21 w 59"/>
                  <a:gd name="T7" fmla="*/ 127 h 206"/>
                  <a:gd name="T8" fmla="*/ 17 w 59"/>
                  <a:gd name="T9" fmla="*/ 103 h 206"/>
                  <a:gd name="T10" fmla="*/ 15 w 59"/>
                  <a:gd name="T11" fmla="*/ 78 h 206"/>
                  <a:gd name="T12" fmla="*/ 11 w 59"/>
                  <a:gd name="T13" fmla="*/ 54 h 206"/>
                  <a:gd name="T14" fmla="*/ 6 w 59"/>
                  <a:gd name="T15" fmla="*/ 30 h 206"/>
                  <a:gd name="T16" fmla="*/ 0 w 59"/>
                  <a:gd name="T17" fmla="*/ 4 h 206"/>
                  <a:gd name="T18" fmla="*/ 33 w 59"/>
                  <a:gd name="T19" fmla="*/ 0 h 206"/>
                  <a:gd name="T20" fmla="*/ 39 w 59"/>
                  <a:gd name="T21" fmla="*/ 26 h 206"/>
                  <a:gd name="T22" fmla="*/ 43 w 59"/>
                  <a:gd name="T23" fmla="*/ 53 h 206"/>
                  <a:gd name="T24" fmla="*/ 48 w 59"/>
                  <a:gd name="T25" fmla="*/ 79 h 206"/>
                  <a:gd name="T26" fmla="*/ 52 w 59"/>
                  <a:gd name="T27" fmla="*/ 105 h 206"/>
                  <a:gd name="T28" fmla="*/ 54 w 59"/>
                  <a:gd name="T29" fmla="*/ 130 h 206"/>
                  <a:gd name="T30" fmla="*/ 57 w 59"/>
                  <a:gd name="T31" fmla="*/ 155 h 206"/>
                  <a:gd name="T32" fmla="*/ 58 w 59"/>
                  <a:gd name="T33" fmla="*/ 182 h 206"/>
                  <a:gd name="T34" fmla="*/ 59 w 59"/>
                  <a:gd name="T35" fmla="*/ 206 h 206"/>
                  <a:gd name="T36" fmla="*/ 24 w 59"/>
                  <a:gd name="T37" fmla="*/ 199 h 2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9"/>
                  <a:gd name="T58" fmla="*/ 0 h 206"/>
                  <a:gd name="T59" fmla="*/ 59 w 59"/>
                  <a:gd name="T60" fmla="*/ 206 h 2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9" h="206">
                    <a:moveTo>
                      <a:pt x="24" y="199"/>
                    </a:moveTo>
                    <a:lnTo>
                      <a:pt x="24" y="174"/>
                    </a:lnTo>
                    <a:lnTo>
                      <a:pt x="23" y="151"/>
                    </a:lnTo>
                    <a:lnTo>
                      <a:pt x="21" y="127"/>
                    </a:lnTo>
                    <a:lnTo>
                      <a:pt x="17" y="103"/>
                    </a:lnTo>
                    <a:lnTo>
                      <a:pt x="15" y="78"/>
                    </a:lnTo>
                    <a:lnTo>
                      <a:pt x="11" y="54"/>
                    </a:lnTo>
                    <a:lnTo>
                      <a:pt x="6" y="30"/>
                    </a:lnTo>
                    <a:lnTo>
                      <a:pt x="0" y="4"/>
                    </a:lnTo>
                    <a:lnTo>
                      <a:pt x="33" y="0"/>
                    </a:lnTo>
                    <a:lnTo>
                      <a:pt x="39" y="26"/>
                    </a:lnTo>
                    <a:lnTo>
                      <a:pt x="43" y="53"/>
                    </a:lnTo>
                    <a:lnTo>
                      <a:pt x="48" y="79"/>
                    </a:lnTo>
                    <a:lnTo>
                      <a:pt x="52" y="105"/>
                    </a:lnTo>
                    <a:lnTo>
                      <a:pt x="54" y="130"/>
                    </a:lnTo>
                    <a:lnTo>
                      <a:pt x="57" y="155"/>
                    </a:lnTo>
                    <a:lnTo>
                      <a:pt x="58" y="182"/>
                    </a:lnTo>
                    <a:lnTo>
                      <a:pt x="59" y="206"/>
                    </a:lnTo>
                    <a:lnTo>
                      <a:pt x="24" y="19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78" name="Freeform 99"/>
              <p:cNvSpPr>
                <a:spLocks/>
              </p:cNvSpPr>
              <p:nvPr/>
            </p:nvSpPr>
            <p:spPr bwMode="auto">
              <a:xfrm>
                <a:off x="4154" y="2295"/>
                <a:ext cx="34" cy="31"/>
              </a:xfrm>
              <a:custGeom>
                <a:avLst/>
                <a:gdLst>
                  <a:gd name="T0" fmla="*/ 34 w 34"/>
                  <a:gd name="T1" fmla="*/ 8 h 31"/>
                  <a:gd name="T2" fmla="*/ 34 w 34"/>
                  <a:gd name="T3" fmla="*/ 31 h 31"/>
                  <a:gd name="T4" fmla="*/ 0 w 34"/>
                  <a:gd name="T5" fmla="*/ 22 h 31"/>
                  <a:gd name="T6" fmla="*/ 0 w 34"/>
                  <a:gd name="T7" fmla="*/ 0 h 31"/>
                  <a:gd name="T8" fmla="*/ 34 w 34"/>
                  <a:gd name="T9" fmla="*/ 8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31"/>
                  <a:gd name="T17" fmla="*/ 34 w 34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31">
                    <a:moveTo>
                      <a:pt x="34" y="8"/>
                    </a:moveTo>
                    <a:lnTo>
                      <a:pt x="34" y="31"/>
                    </a:lnTo>
                    <a:lnTo>
                      <a:pt x="0" y="22"/>
                    </a:lnTo>
                    <a:lnTo>
                      <a:pt x="0" y="0"/>
                    </a:lnTo>
                    <a:lnTo>
                      <a:pt x="34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79" name="Freeform 100"/>
              <p:cNvSpPr>
                <a:spLocks/>
              </p:cNvSpPr>
              <p:nvPr/>
            </p:nvSpPr>
            <p:spPr bwMode="auto">
              <a:xfrm>
                <a:off x="4033" y="1825"/>
                <a:ext cx="102" cy="162"/>
              </a:xfrm>
              <a:custGeom>
                <a:avLst/>
                <a:gdLst>
                  <a:gd name="T0" fmla="*/ 22 w 102"/>
                  <a:gd name="T1" fmla="*/ 162 h 162"/>
                  <a:gd name="T2" fmla="*/ 0 w 102"/>
                  <a:gd name="T3" fmla="*/ 0 h 162"/>
                  <a:gd name="T4" fmla="*/ 102 w 102"/>
                  <a:gd name="T5" fmla="*/ 120 h 162"/>
                  <a:gd name="T6" fmla="*/ 22 w 102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2"/>
                  <a:gd name="T13" fmla="*/ 0 h 162"/>
                  <a:gd name="T14" fmla="*/ 102 w 102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2" h="162">
                    <a:moveTo>
                      <a:pt x="22" y="162"/>
                    </a:moveTo>
                    <a:lnTo>
                      <a:pt x="0" y="0"/>
                    </a:lnTo>
                    <a:lnTo>
                      <a:pt x="102" y="120"/>
                    </a:lnTo>
                    <a:lnTo>
                      <a:pt x="22" y="162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80" name="Freeform 101"/>
              <p:cNvSpPr>
                <a:spLocks/>
              </p:cNvSpPr>
              <p:nvPr/>
            </p:nvSpPr>
            <p:spPr bwMode="auto">
              <a:xfrm>
                <a:off x="4026" y="1811"/>
                <a:ext cx="32" cy="176"/>
              </a:xfrm>
              <a:custGeom>
                <a:avLst/>
                <a:gdLst>
                  <a:gd name="T0" fmla="*/ 3 w 32"/>
                  <a:gd name="T1" fmla="*/ 18 h 176"/>
                  <a:gd name="T2" fmla="*/ 12 w 32"/>
                  <a:gd name="T3" fmla="*/ 15 h 176"/>
                  <a:gd name="T4" fmla="*/ 32 w 32"/>
                  <a:gd name="T5" fmla="*/ 176 h 176"/>
                  <a:gd name="T6" fmla="*/ 23 w 32"/>
                  <a:gd name="T7" fmla="*/ 176 h 176"/>
                  <a:gd name="T8" fmla="*/ 2 w 32"/>
                  <a:gd name="T9" fmla="*/ 14 h 176"/>
                  <a:gd name="T10" fmla="*/ 9 w 32"/>
                  <a:gd name="T11" fmla="*/ 10 h 176"/>
                  <a:gd name="T12" fmla="*/ 2 w 32"/>
                  <a:gd name="T13" fmla="*/ 14 h 176"/>
                  <a:gd name="T14" fmla="*/ 0 w 32"/>
                  <a:gd name="T15" fmla="*/ 0 h 176"/>
                  <a:gd name="T16" fmla="*/ 9 w 32"/>
                  <a:gd name="T17" fmla="*/ 10 h 176"/>
                  <a:gd name="T18" fmla="*/ 3 w 32"/>
                  <a:gd name="T19" fmla="*/ 18 h 1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"/>
                  <a:gd name="T31" fmla="*/ 0 h 176"/>
                  <a:gd name="T32" fmla="*/ 32 w 32"/>
                  <a:gd name="T33" fmla="*/ 176 h 1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" h="176">
                    <a:moveTo>
                      <a:pt x="3" y="18"/>
                    </a:moveTo>
                    <a:lnTo>
                      <a:pt x="12" y="15"/>
                    </a:lnTo>
                    <a:lnTo>
                      <a:pt x="32" y="176"/>
                    </a:lnTo>
                    <a:lnTo>
                      <a:pt x="23" y="176"/>
                    </a:lnTo>
                    <a:lnTo>
                      <a:pt x="2" y="14"/>
                    </a:lnTo>
                    <a:lnTo>
                      <a:pt x="9" y="10"/>
                    </a:lnTo>
                    <a:lnTo>
                      <a:pt x="2" y="14"/>
                    </a:lnTo>
                    <a:lnTo>
                      <a:pt x="0" y="0"/>
                    </a:lnTo>
                    <a:lnTo>
                      <a:pt x="9" y="10"/>
                    </a:lnTo>
                    <a:lnTo>
                      <a:pt x="3" y="18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81" name="Freeform 102"/>
              <p:cNvSpPr>
                <a:spLocks/>
              </p:cNvSpPr>
              <p:nvPr/>
            </p:nvSpPr>
            <p:spPr bwMode="auto">
              <a:xfrm>
                <a:off x="4030" y="1822"/>
                <a:ext cx="113" cy="129"/>
              </a:xfrm>
              <a:custGeom>
                <a:avLst/>
                <a:gdLst>
                  <a:gd name="T0" fmla="*/ 103 w 113"/>
                  <a:gd name="T1" fmla="*/ 118 h 129"/>
                  <a:gd name="T2" fmla="*/ 102 w 113"/>
                  <a:gd name="T3" fmla="*/ 126 h 129"/>
                  <a:gd name="T4" fmla="*/ 0 w 113"/>
                  <a:gd name="T5" fmla="*/ 7 h 129"/>
                  <a:gd name="T6" fmla="*/ 5 w 113"/>
                  <a:gd name="T7" fmla="*/ 0 h 129"/>
                  <a:gd name="T8" fmla="*/ 108 w 113"/>
                  <a:gd name="T9" fmla="*/ 120 h 129"/>
                  <a:gd name="T10" fmla="*/ 108 w 113"/>
                  <a:gd name="T11" fmla="*/ 129 h 129"/>
                  <a:gd name="T12" fmla="*/ 108 w 113"/>
                  <a:gd name="T13" fmla="*/ 120 h 129"/>
                  <a:gd name="T14" fmla="*/ 113 w 113"/>
                  <a:gd name="T15" fmla="*/ 125 h 129"/>
                  <a:gd name="T16" fmla="*/ 108 w 113"/>
                  <a:gd name="T17" fmla="*/ 129 h 129"/>
                  <a:gd name="T18" fmla="*/ 103 w 113"/>
                  <a:gd name="T19" fmla="*/ 118 h 12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3"/>
                  <a:gd name="T31" fmla="*/ 0 h 129"/>
                  <a:gd name="T32" fmla="*/ 113 w 113"/>
                  <a:gd name="T33" fmla="*/ 129 h 12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3" h="129">
                    <a:moveTo>
                      <a:pt x="103" y="118"/>
                    </a:moveTo>
                    <a:lnTo>
                      <a:pt x="102" y="126"/>
                    </a:lnTo>
                    <a:lnTo>
                      <a:pt x="0" y="7"/>
                    </a:lnTo>
                    <a:lnTo>
                      <a:pt x="5" y="0"/>
                    </a:lnTo>
                    <a:lnTo>
                      <a:pt x="108" y="120"/>
                    </a:lnTo>
                    <a:lnTo>
                      <a:pt x="108" y="129"/>
                    </a:lnTo>
                    <a:lnTo>
                      <a:pt x="108" y="120"/>
                    </a:lnTo>
                    <a:lnTo>
                      <a:pt x="113" y="125"/>
                    </a:lnTo>
                    <a:lnTo>
                      <a:pt x="108" y="129"/>
                    </a:lnTo>
                    <a:lnTo>
                      <a:pt x="103" y="118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82" name="Freeform 103"/>
              <p:cNvSpPr>
                <a:spLocks/>
              </p:cNvSpPr>
              <p:nvPr/>
            </p:nvSpPr>
            <p:spPr bwMode="auto">
              <a:xfrm>
                <a:off x="4053" y="1941"/>
                <a:ext cx="87" cy="54"/>
              </a:xfrm>
              <a:custGeom>
                <a:avLst/>
                <a:gdLst>
                  <a:gd name="T0" fmla="*/ 8 w 87"/>
                  <a:gd name="T1" fmla="*/ 46 h 54"/>
                  <a:gd name="T2" fmla="*/ 2 w 87"/>
                  <a:gd name="T3" fmla="*/ 41 h 54"/>
                  <a:gd name="T4" fmla="*/ 83 w 87"/>
                  <a:gd name="T5" fmla="*/ 0 h 54"/>
                  <a:gd name="T6" fmla="*/ 87 w 87"/>
                  <a:gd name="T7" fmla="*/ 10 h 54"/>
                  <a:gd name="T8" fmla="*/ 6 w 87"/>
                  <a:gd name="T9" fmla="*/ 51 h 54"/>
                  <a:gd name="T10" fmla="*/ 0 w 87"/>
                  <a:gd name="T11" fmla="*/ 46 h 54"/>
                  <a:gd name="T12" fmla="*/ 6 w 87"/>
                  <a:gd name="T13" fmla="*/ 51 h 54"/>
                  <a:gd name="T14" fmla="*/ 1 w 87"/>
                  <a:gd name="T15" fmla="*/ 54 h 54"/>
                  <a:gd name="T16" fmla="*/ 0 w 87"/>
                  <a:gd name="T17" fmla="*/ 46 h 54"/>
                  <a:gd name="T18" fmla="*/ 8 w 87"/>
                  <a:gd name="T19" fmla="*/ 46 h 5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7"/>
                  <a:gd name="T31" fmla="*/ 0 h 54"/>
                  <a:gd name="T32" fmla="*/ 87 w 87"/>
                  <a:gd name="T33" fmla="*/ 54 h 5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7" h="54">
                    <a:moveTo>
                      <a:pt x="8" y="46"/>
                    </a:moveTo>
                    <a:lnTo>
                      <a:pt x="2" y="41"/>
                    </a:lnTo>
                    <a:lnTo>
                      <a:pt x="83" y="0"/>
                    </a:lnTo>
                    <a:lnTo>
                      <a:pt x="87" y="10"/>
                    </a:lnTo>
                    <a:lnTo>
                      <a:pt x="6" y="51"/>
                    </a:lnTo>
                    <a:lnTo>
                      <a:pt x="0" y="46"/>
                    </a:lnTo>
                    <a:lnTo>
                      <a:pt x="6" y="51"/>
                    </a:lnTo>
                    <a:lnTo>
                      <a:pt x="1" y="54"/>
                    </a:lnTo>
                    <a:lnTo>
                      <a:pt x="0" y="46"/>
                    </a:lnTo>
                    <a:lnTo>
                      <a:pt x="8" y="46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83" name="Freeform 104"/>
              <p:cNvSpPr>
                <a:spLocks/>
              </p:cNvSpPr>
              <p:nvPr/>
            </p:nvSpPr>
            <p:spPr bwMode="auto">
              <a:xfrm>
                <a:off x="4036" y="1851"/>
                <a:ext cx="31" cy="31"/>
              </a:xfrm>
              <a:custGeom>
                <a:avLst/>
                <a:gdLst>
                  <a:gd name="T0" fmla="*/ 8 w 31"/>
                  <a:gd name="T1" fmla="*/ 31 h 31"/>
                  <a:gd name="T2" fmla="*/ 0 w 31"/>
                  <a:gd name="T3" fmla="*/ 14 h 31"/>
                  <a:gd name="T4" fmla="*/ 24 w 31"/>
                  <a:gd name="T5" fmla="*/ 0 h 31"/>
                  <a:gd name="T6" fmla="*/ 31 w 31"/>
                  <a:gd name="T7" fmla="*/ 17 h 31"/>
                  <a:gd name="T8" fmla="*/ 8 w 31"/>
                  <a:gd name="T9" fmla="*/ 31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31"/>
                  <a:gd name="T17" fmla="*/ 31 w 31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31">
                    <a:moveTo>
                      <a:pt x="8" y="31"/>
                    </a:moveTo>
                    <a:lnTo>
                      <a:pt x="0" y="14"/>
                    </a:lnTo>
                    <a:lnTo>
                      <a:pt x="24" y="0"/>
                    </a:lnTo>
                    <a:lnTo>
                      <a:pt x="31" y="17"/>
                    </a:lnTo>
                    <a:lnTo>
                      <a:pt x="8" y="31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84" name="Freeform 105"/>
              <p:cNvSpPr>
                <a:spLocks/>
              </p:cNvSpPr>
              <p:nvPr/>
            </p:nvSpPr>
            <p:spPr bwMode="auto">
              <a:xfrm>
                <a:off x="4049" y="1869"/>
                <a:ext cx="103" cy="231"/>
              </a:xfrm>
              <a:custGeom>
                <a:avLst/>
                <a:gdLst>
                  <a:gd name="T0" fmla="*/ 77 w 103"/>
                  <a:gd name="T1" fmla="*/ 231 h 231"/>
                  <a:gd name="T2" fmla="*/ 77 w 103"/>
                  <a:gd name="T3" fmla="*/ 231 h 231"/>
                  <a:gd name="T4" fmla="*/ 62 w 103"/>
                  <a:gd name="T5" fmla="*/ 173 h 231"/>
                  <a:gd name="T6" fmla="*/ 44 w 103"/>
                  <a:gd name="T7" fmla="*/ 119 h 231"/>
                  <a:gd name="T8" fmla="*/ 24 w 103"/>
                  <a:gd name="T9" fmla="*/ 66 h 231"/>
                  <a:gd name="T10" fmla="*/ 0 w 103"/>
                  <a:gd name="T11" fmla="*/ 14 h 231"/>
                  <a:gd name="T12" fmla="*/ 23 w 103"/>
                  <a:gd name="T13" fmla="*/ 0 h 231"/>
                  <a:gd name="T14" fmla="*/ 46 w 103"/>
                  <a:gd name="T15" fmla="*/ 55 h 231"/>
                  <a:gd name="T16" fmla="*/ 70 w 103"/>
                  <a:gd name="T17" fmla="*/ 110 h 231"/>
                  <a:gd name="T18" fmla="*/ 87 w 103"/>
                  <a:gd name="T19" fmla="*/ 168 h 231"/>
                  <a:gd name="T20" fmla="*/ 103 w 103"/>
                  <a:gd name="T21" fmla="*/ 228 h 231"/>
                  <a:gd name="T22" fmla="*/ 77 w 103"/>
                  <a:gd name="T23" fmla="*/ 231 h 23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03"/>
                  <a:gd name="T37" fmla="*/ 0 h 231"/>
                  <a:gd name="T38" fmla="*/ 103 w 103"/>
                  <a:gd name="T39" fmla="*/ 231 h 23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03" h="231">
                    <a:moveTo>
                      <a:pt x="77" y="231"/>
                    </a:moveTo>
                    <a:lnTo>
                      <a:pt x="77" y="231"/>
                    </a:lnTo>
                    <a:lnTo>
                      <a:pt x="62" y="173"/>
                    </a:lnTo>
                    <a:lnTo>
                      <a:pt x="44" y="119"/>
                    </a:lnTo>
                    <a:lnTo>
                      <a:pt x="24" y="66"/>
                    </a:lnTo>
                    <a:lnTo>
                      <a:pt x="0" y="14"/>
                    </a:lnTo>
                    <a:lnTo>
                      <a:pt x="23" y="0"/>
                    </a:lnTo>
                    <a:lnTo>
                      <a:pt x="46" y="55"/>
                    </a:lnTo>
                    <a:lnTo>
                      <a:pt x="70" y="110"/>
                    </a:lnTo>
                    <a:lnTo>
                      <a:pt x="87" y="168"/>
                    </a:lnTo>
                    <a:lnTo>
                      <a:pt x="103" y="228"/>
                    </a:lnTo>
                    <a:lnTo>
                      <a:pt x="77" y="231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85" name="Freeform 106"/>
              <p:cNvSpPr>
                <a:spLocks/>
              </p:cNvSpPr>
              <p:nvPr/>
            </p:nvSpPr>
            <p:spPr bwMode="auto">
              <a:xfrm>
                <a:off x="4129" y="2097"/>
                <a:ext cx="54" cy="205"/>
              </a:xfrm>
              <a:custGeom>
                <a:avLst/>
                <a:gdLst>
                  <a:gd name="T0" fmla="*/ 25 w 54"/>
                  <a:gd name="T1" fmla="*/ 199 h 205"/>
                  <a:gd name="T2" fmla="*/ 25 w 54"/>
                  <a:gd name="T3" fmla="*/ 174 h 205"/>
                  <a:gd name="T4" fmla="*/ 23 w 54"/>
                  <a:gd name="T5" fmla="*/ 151 h 205"/>
                  <a:gd name="T6" fmla="*/ 21 w 54"/>
                  <a:gd name="T7" fmla="*/ 126 h 205"/>
                  <a:gd name="T8" fmla="*/ 19 w 54"/>
                  <a:gd name="T9" fmla="*/ 101 h 205"/>
                  <a:gd name="T10" fmla="*/ 15 w 54"/>
                  <a:gd name="T11" fmla="*/ 78 h 205"/>
                  <a:gd name="T12" fmla="*/ 11 w 54"/>
                  <a:gd name="T13" fmla="*/ 52 h 205"/>
                  <a:gd name="T14" fmla="*/ 6 w 54"/>
                  <a:gd name="T15" fmla="*/ 28 h 205"/>
                  <a:gd name="T16" fmla="*/ 0 w 54"/>
                  <a:gd name="T17" fmla="*/ 3 h 205"/>
                  <a:gd name="T18" fmla="*/ 28 w 54"/>
                  <a:gd name="T19" fmla="*/ 0 h 205"/>
                  <a:gd name="T20" fmla="*/ 34 w 54"/>
                  <a:gd name="T21" fmla="*/ 26 h 205"/>
                  <a:gd name="T22" fmla="*/ 38 w 54"/>
                  <a:gd name="T23" fmla="*/ 52 h 205"/>
                  <a:gd name="T24" fmla="*/ 43 w 54"/>
                  <a:gd name="T25" fmla="*/ 79 h 205"/>
                  <a:gd name="T26" fmla="*/ 46 w 54"/>
                  <a:gd name="T27" fmla="*/ 104 h 205"/>
                  <a:gd name="T28" fmla="*/ 50 w 54"/>
                  <a:gd name="T29" fmla="*/ 129 h 205"/>
                  <a:gd name="T30" fmla="*/ 52 w 54"/>
                  <a:gd name="T31" fmla="*/ 155 h 205"/>
                  <a:gd name="T32" fmla="*/ 53 w 54"/>
                  <a:gd name="T33" fmla="*/ 179 h 205"/>
                  <a:gd name="T34" fmla="*/ 54 w 54"/>
                  <a:gd name="T35" fmla="*/ 205 h 205"/>
                  <a:gd name="T36" fmla="*/ 25 w 54"/>
                  <a:gd name="T37" fmla="*/ 199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4"/>
                  <a:gd name="T58" fmla="*/ 0 h 205"/>
                  <a:gd name="T59" fmla="*/ 54 w 54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4" h="205">
                    <a:moveTo>
                      <a:pt x="25" y="199"/>
                    </a:moveTo>
                    <a:lnTo>
                      <a:pt x="25" y="174"/>
                    </a:lnTo>
                    <a:lnTo>
                      <a:pt x="23" y="151"/>
                    </a:lnTo>
                    <a:lnTo>
                      <a:pt x="21" y="126"/>
                    </a:lnTo>
                    <a:lnTo>
                      <a:pt x="19" y="101"/>
                    </a:lnTo>
                    <a:lnTo>
                      <a:pt x="15" y="78"/>
                    </a:lnTo>
                    <a:lnTo>
                      <a:pt x="11" y="52"/>
                    </a:lnTo>
                    <a:lnTo>
                      <a:pt x="6" y="28"/>
                    </a:lnTo>
                    <a:lnTo>
                      <a:pt x="0" y="3"/>
                    </a:lnTo>
                    <a:lnTo>
                      <a:pt x="28" y="0"/>
                    </a:lnTo>
                    <a:lnTo>
                      <a:pt x="34" y="26"/>
                    </a:lnTo>
                    <a:lnTo>
                      <a:pt x="38" y="52"/>
                    </a:lnTo>
                    <a:lnTo>
                      <a:pt x="43" y="79"/>
                    </a:lnTo>
                    <a:lnTo>
                      <a:pt x="46" y="104"/>
                    </a:lnTo>
                    <a:lnTo>
                      <a:pt x="50" y="129"/>
                    </a:lnTo>
                    <a:lnTo>
                      <a:pt x="52" y="155"/>
                    </a:lnTo>
                    <a:lnTo>
                      <a:pt x="53" y="179"/>
                    </a:lnTo>
                    <a:lnTo>
                      <a:pt x="54" y="205"/>
                    </a:lnTo>
                    <a:lnTo>
                      <a:pt x="25" y="199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86" name="Freeform 107"/>
              <p:cNvSpPr>
                <a:spLocks/>
              </p:cNvSpPr>
              <p:nvPr/>
            </p:nvSpPr>
            <p:spPr bwMode="auto">
              <a:xfrm>
                <a:off x="4157" y="2297"/>
                <a:ext cx="28" cy="24"/>
              </a:xfrm>
              <a:custGeom>
                <a:avLst/>
                <a:gdLst>
                  <a:gd name="T0" fmla="*/ 28 w 28"/>
                  <a:gd name="T1" fmla="*/ 6 h 24"/>
                  <a:gd name="T2" fmla="*/ 28 w 28"/>
                  <a:gd name="T3" fmla="*/ 24 h 24"/>
                  <a:gd name="T4" fmla="*/ 0 w 28"/>
                  <a:gd name="T5" fmla="*/ 18 h 24"/>
                  <a:gd name="T6" fmla="*/ 0 w 28"/>
                  <a:gd name="T7" fmla="*/ 0 h 24"/>
                  <a:gd name="T8" fmla="*/ 28 w 28"/>
                  <a:gd name="T9" fmla="*/ 6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24"/>
                  <a:gd name="T17" fmla="*/ 28 w 28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24">
                    <a:moveTo>
                      <a:pt x="28" y="6"/>
                    </a:moveTo>
                    <a:lnTo>
                      <a:pt x="28" y="24"/>
                    </a:lnTo>
                    <a:lnTo>
                      <a:pt x="0" y="18"/>
                    </a:lnTo>
                    <a:lnTo>
                      <a:pt x="0" y="0"/>
                    </a:lnTo>
                    <a:lnTo>
                      <a:pt x="28" y="6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87" name="Freeform 108"/>
              <p:cNvSpPr>
                <a:spLocks/>
              </p:cNvSpPr>
              <p:nvPr/>
            </p:nvSpPr>
            <p:spPr bwMode="auto">
              <a:xfrm>
                <a:off x="4013" y="1791"/>
                <a:ext cx="106" cy="162"/>
              </a:xfrm>
              <a:custGeom>
                <a:avLst/>
                <a:gdLst>
                  <a:gd name="T0" fmla="*/ 28 w 106"/>
                  <a:gd name="T1" fmla="*/ 162 h 162"/>
                  <a:gd name="T2" fmla="*/ 0 w 106"/>
                  <a:gd name="T3" fmla="*/ 0 h 162"/>
                  <a:gd name="T4" fmla="*/ 106 w 106"/>
                  <a:gd name="T5" fmla="*/ 113 h 162"/>
                  <a:gd name="T6" fmla="*/ 28 w 106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6"/>
                  <a:gd name="T13" fmla="*/ 0 h 162"/>
                  <a:gd name="T14" fmla="*/ 106 w 106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6" h="162">
                    <a:moveTo>
                      <a:pt x="28" y="162"/>
                    </a:moveTo>
                    <a:lnTo>
                      <a:pt x="0" y="0"/>
                    </a:lnTo>
                    <a:lnTo>
                      <a:pt x="106" y="113"/>
                    </a:lnTo>
                    <a:lnTo>
                      <a:pt x="28" y="1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88" name="Freeform 109"/>
              <p:cNvSpPr>
                <a:spLocks/>
              </p:cNvSpPr>
              <p:nvPr/>
            </p:nvSpPr>
            <p:spPr bwMode="auto">
              <a:xfrm>
                <a:off x="4002" y="1766"/>
                <a:ext cx="46" cy="185"/>
              </a:xfrm>
              <a:custGeom>
                <a:avLst/>
                <a:gdLst>
                  <a:gd name="T0" fmla="*/ 7 w 46"/>
                  <a:gd name="T1" fmla="*/ 31 h 185"/>
                  <a:gd name="T2" fmla="*/ 18 w 46"/>
                  <a:gd name="T3" fmla="*/ 24 h 185"/>
                  <a:gd name="T4" fmla="*/ 46 w 46"/>
                  <a:gd name="T5" fmla="*/ 185 h 185"/>
                  <a:gd name="T6" fmla="*/ 31 w 46"/>
                  <a:gd name="T7" fmla="*/ 185 h 185"/>
                  <a:gd name="T8" fmla="*/ 5 w 46"/>
                  <a:gd name="T9" fmla="*/ 24 h 185"/>
                  <a:gd name="T10" fmla="*/ 15 w 46"/>
                  <a:gd name="T11" fmla="*/ 18 h 185"/>
                  <a:gd name="T12" fmla="*/ 5 w 46"/>
                  <a:gd name="T13" fmla="*/ 24 h 185"/>
                  <a:gd name="T14" fmla="*/ 0 w 46"/>
                  <a:gd name="T15" fmla="*/ 0 h 185"/>
                  <a:gd name="T16" fmla="*/ 15 w 46"/>
                  <a:gd name="T17" fmla="*/ 18 h 185"/>
                  <a:gd name="T18" fmla="*/ 7 w 46"/>
                  <a:gd name="T19" fmla="*/ 31 h 1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6"/>
                  <a:gd name="T31" fmla="*/ 0 h 185"/>
                  <a:gd name="T32" fmla="*/ 46 w 46"/>
                  <a:gd name="T33" fmla="*/ 185 h 1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6" h="185">
                    <a:moveTo>
                      <a:pt x="7" y="31"/>
                    </a:moveTo>
                    <a:lnTo>
                      <a:pt x="18" y="24"/>
                    </a:lnTo>
                    <a:lnTo>
                      <a:pt x="46" y="185"/>
                    </a:lnTo>
                    <a:lnTo>
                      <a:pt x="31" y="185"/>
                    </a:lnTo>
                    <a:lnTo>
                      <a:pt x="5" y="24"/>
                    </a:lnTo>
                    <a:lnTo>
                      <a:pt x="15" y="18"/>
                    </a:lnTo>
                    <a:lnTo>
                      <a:pt x="5" y="24"/>
                    </a:lnTo>
                    <a:lnTo>
                      <a:pt x="0" y="0"/>
                    </a:lnTo>
                    <a:lnTo>
                      <a:pt x="15" y="18"/>
                    </a:lnTo>
                    <a:lnTo>
                      <a:pt x="7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89" name="Freeform 110"/>
              <p:cNvSpPr>
                <a:spLocks/>
              </p:cNvSpPr>
              <p:nvPr/>
            </p:nvSpPr>
            <p:spPr bwMode="auto">
              <a:xfrm>
                <a:off x="4010" y="1784"/>
                <a:ext cx="123" cy="129"/>
              </a:xfrm>
              <a:custGeom>
                <a:avLst/>
                <a:gdLst>
                  <a:gd name="T0" fmla="*/ 104 w 123"/>
                  <a:gd name="T1" fmla="*/ 111 h 129"/>
                  <a:gd name="T2" fmla="*/ 104 w 123"/>
                  <a:gd name="T3" fmla="*/ 127 h 129"/>
                  <a:gd name="T4" fmla="*/ 0 w 123"/>
                  <a:gd name="T5" fmla="*/ 15 h 129"/>
                  <a:gd name="T6" fmla="*/ 6 w 123"/>
                  <a:gd name="T7" fmla="*/ 0 h 129"/>
                  <a:gd name="T8" fmla="*/ 112 w 123"/>
                  <a:gd name="T9" fmla="*/ 113 h 129"/>
                  <a:gd name="T10" fmla="*/ 112 w 123"/>
                  <a:gd name="T11" fmla="*/ 129 h 129"/>
                  <a:gd name="T12" fmla="*/ 112 w 123"/>
                  <a:gd name="T13" fmla="*/ 113 h 129"/>
                  <a:gd name="T14" fmla="*/ 123 w 123"/>
                  <a:gd name="T15" fmla="*/ 124 h 129"/>
                  <a:gd name="T16" fmla="*/ 112 w 123"/>
                  <a:gd name="T17" fmla="*/ 129 h 129"/>
                  <a:gd name="T18" fmla="*/ 104 w 123"/>
                  <a:gd name="T19" fmla="*/ 111 h 12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3"/>
                  <a:gd name="T31" fmla="*/ 0 h 129"/>
                  <a:gd name="T32" fmla="*/ 123 w 123"/>
                  <a:gd name="T33" fmla="*/ 129 h 12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3" h="129">
                    <a:moveTo>
                      <a:pt x="104" y="111"/>
                    </a:moveTo>
                    <a:lnTo>
                      <a:pt x="104" y="127"/>
                    </a:lnTo>
                    <a:lnTo>
                      <a:pt x="0" y="15"/>
                    </a:lnTo>
                    <a:lnTo>
                      <a:pt x="6" y="0"/>
                    </a:lnTo>
                    <a:lnTo>
                      <a:pt x="112" y="113"/>
                    </a:lnTo>
                    <a:lnTo>
                      <a:pt x="112" y="129"/>
                    </a:lnTo>
                    <a:lnTo>
                      <a:pt x="112" y="113"/>
                    </a:lnTo>
                    <a:lnTo>
                      <a:pt x="123" y="124"/>
                    </a:lnTo>
                    <a:lnTo>
                      <a:pt x="112" y="129"/>
                    </a:lnTo>
                    <a:lnTo>
                      <a:pt x="104" y="1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90" name="Freeform 111"/>
              <p:cNvSpPr>
                <a:spLocks/>
              </p:cNvSpPr>
              <p:nvPr/>
            </p:nvSpPr>
            <p:spPr bwMode="auto">
              <a:xfrm>
                <a:off x="4034" y="1895"/>
                <a:ext cx="89" cy="74"/>
              </a:xfrm>
              <a:custGeom>
                <a:avLst/>
                <a:gdLst>
                  <a:gd name="T0" fmla="*/ 15 w 89"/>
                  <a:gd name="T1" fmla="*/ 58 h 74"/>
                  <a:gd name="T2" fmla="*/ 2 w 89"/>
                  <a:gd name="T3" fmla="*/ 48 h 74"/>
                  <a:gd name="T4" fmla="*/ 82 w 89"/>
                  <a:gd name="T5" fmla="*/ 0 h 74"/>
                  <a:gd name="T6" fmla="*/ 89 w 89"/>
                  <a:gd name="T7" fmla="*/ 19 h 74"/>
                  <a:gd name="T8" fmla="*/ 11 w 89"/>
                  <a:gd name="T9" fmla="*/ 67 h 74"/>
                  <a:gd name="T10" fmla="*/ 0 w 89"/>
                  <a:gd name="T11" fmla="*/ 58 h 74"/>
                  <a:gd name="T12" fmla="*/ 11 w 89"/>
                  <a:gd name="T13" fmla="*/ 67 h 74"/>
                  <a:gd name="T14" fmla="*/ 2 w 89"/>
                  <a:gd name="T15" fmla="*/ 74 h 74"/>
                  <a:gd name="T16" fmla="*/ 0 w 89"/>
                  <a:gd name="T17" fmla="*/ 58 h 74"/>
                  <a:gd name="T18" fmla="*/ 15 w 89"/>
                  <a:gd name="T19" fmla="*/ 58 h 7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9"/>
                  <a:gd name="T31" fmla="*/ 0 h 74"/>
                  <a:gd name="T32" fmla="*/ 89 w 89"/>
                  <a:gd name="T33" fmla="*/ 74 h 7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9" h="74">
                    <a:moveTo>
                      <a:pt x="15" y="58"/>
                    </a:moveTo>
                    <a:lnTo>
                      <a:pt x="2" y="48"/>
                    </a:lnTo>
                    <a:lnTo>
                      <a:pt x="82" y="0"/>
                    </a:lnTo>
                    <a:lnTo>
                      <a:pt x="89" y="19"/>
                    </a:lnTo>
                    <a:lnTo>
                      <a:pt x="11" y="67"/>
                    </a:lnTo>
                    <a:lnTo>
                      <a:pt x="0" y="58"/>
                    </a:lnTo>
                    <a:lnTo>
                      <a:pt x="11" y="67"/>
                    </a:lnTo>
                    <a:lnTo>
                      <a:pt x="2" y="74"/>
                    </a:lnTo>
                    <a:lnTo>
                      <a:pt x="0" y="58"/>
                    </a:lnTo>
                    <a:lnTo>
                      <a:pt x="15" y="5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91" name="Freeform 112"/>
              <p:cNvSpPr>
                <a:spLocks/>
              </p:cNvSpPr>
              <p:nvPr/>
            </p:nvSpPr>
            <p:spPr bwMode="auto">
              <a:xfrm>
                <a:off x="4015" y="1812"/>
                <a:ext cx="36" cy="38"/>
              </a:xfrm>
              <a:custGeom>
                <a:avLst/>
                <a:gdLst>
                  <a:gd name="T0" fmla="*/ 10 w 36"/>
                  <a:gd name="T1" fmla="*/ 38 h 38"/>
                  <a:gd name="T2" fmla="*/ 0 w 36"/>
                  <a:gd name="T3" fmla="*/ 18 h 38"/>
                  <a:gd name="T4" fmla="*/ 26 w 36"/>
                  <a:gd name="T5" fmla="*/ 0 h 38"/>
                  <a:gd name="T6" fmla="*/ 36 w 36"/>
                  <a:gd name="T7" fmla="*/ 20 h 38"/>
                  <a:gd name="T8" fmla="*/ 10 w 36"/>
                  <a:gd name="T9" fmla="*/ 38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38"/>
                  <a:gd name="T17" fmla="*/ 36 w 36"/>
                  <a:gd name="T18" fmla="*/ 38 h 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38">
                    <a:moveTo>
                      <a:pt x="10" y="38"/>
                    </a:moveTo>
                    <a:lnTo>
                      <a:pt x="0" y="18"/>
                    </a:lnTo>
                    <a:lnTo>
                      <a:pt x="26" y="0"/>
                    </a:lnTo>
                    <a:lnTo>
                      <a:pt x="36" y="20"/>
                    </a:lnTo>
                    <a:lnTo>
                      <a:pt x="10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92" name="Freeform 113"/>
              <p:cNvSpPr>
                <a:spLocks/>
              </p:cNvSpPr>
              <p:nvPr/>
            </p:nvSpPr>
            <p:spPr bwMode="auto">
              <a:xfrm>
                <a:off x="4028" y="1832"/>
                <a:ext cx="115" cy="232"/>
              </a:xfrm>
              <a:custGeom>
                <a:avLst/>
                <a:gdLst>
                  <a:gd name="T0" fmla="*/ 83 w 115"/>
                  <a:gd name="T1" fmla="*/ 232 h 232"/>
                  <a:gd name="T2" fmla="*/ 83 w 115"/>
                  <a:gd name="T3" fmla="*/ 232 h 232"/>
                  <a:gd name="T4" fmla="*/ 76 w 115"/>
                  <a:gd name="T5" fmla="*/ 204 h 232"/>
                  <a:gd name="T6" fmla="*/ 66 w 115"/>
                  <a:gd name="T7" fmla="*/ 175 h 232"/>
                  <a:gd name="T8" fmla="*/ 57 w 115"/>
                  <a:gd name="T9" fmla="*/ 149 h 232"/>
                  <a:gd name="T10" fmla="*/ 47 w 115"/>
                  <a:gd name="T11" fmla="*/ 122 h 232"/>
                  <a:gd name="T12" fmla="*/ 36 w 115"/>
                  <a:gd name="T13" fmla="*/ 95 h 232"/>
                  <a:gd name="T14" fmla="*/ 25 w 115"/>
                  <a:gd name="T15" fmla="*/ 69 h 232"/>
                  <a:gd name="T16" fmla="*/ 13 w 115"/>
                  <a:gd name="T17" fmla="*/ 44 h 232"/>
                  <a:gd name="T18" fmla="*/ 0 w 115"/>
                  <a:gd name="T19" fmla="*/ 19 h 232"/>
                  <a:gd name="T20" fmla="*/ 26 w 115"/>
                  <a:gd name="T21" fmla="*/ 0 h 232"/>
                  <a:gd name="T22" fmla="*/ 39 w 115"/>
                  <a:gd name="T23" fmla="*/ 26 h 232"/>
                  <a:gd name="T24" fmla="*/ 51 w 115"/>
                  <a:gd name="T25" fmla="*/ 53 h 232"/>
                  <a:gd name="T26" fmla="*/ 64 w 115"/>
                  <a:gd name="T27" fmla="*/ 81 h 232"/>
                  <a:gd name="T28" fmla="*/ 76 w 115"/>
                  <a:gd name="T29" fmla="*/ 110 h 232"/>
                  <a:gd name="T30" fmla="*/ 88 w 115"/>
                  <a:gd name="T31" fmla="*/ 137 h 232"/>
                  <a:gd name="T32" fmla="*/ 97 w 115"/>
                  <a:gd name="T33" fmla="*/ 167 h 232"/>
                  <a:gd name="T34" fmla="*/ 107 w 115"/>
                  <a:gd name="T35" fmla="*/ 196 h 232"/>
                  <a:gd name="T36" fmla="*/ 115 w 115"/>
                  <a:gd name="T37" fmla="*/ 227 h 232"/>
                  <a:gd name="T38" fmla="*/ 83 w 115"/>
                  <a:gd name="T39" fmla="*/ 232 h 23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5"/>
                  <a:gd name="T61" fmla="*/ 0 h 232"/>
                  <a:gd name="T62" fmla="*/ 115 w 115"/>
                  <a:gd name="T63" fmla="*/ 232 h 23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5" h="232">
                    <a:moveTo>
                      <a:pt x="83" y="232"/>
                    </a:moveTo>
                    <a:lnTo>
                      <a:pt x="83" y="232"/>
                    </a:lnTo>
                    <a:lnTo>
                      <a:pt x="76" y="204"/>
                    </a:lnTo>
                    <a:lnTo>
                      <a:pt x="66" y="175"/>
                    </a:lnTo>
                    <a:lnTo>
                      <a:pt x="57" y="149"/>
                    </a:lnTo>
                    <a:lnTo>
                      <a:pt x="47" y="122"/>
                    </a:lnTo>
                    <a:lnTo>
                      <a:pt x="36" y="95"/>
                    </a:lnTo>
                    <a:lnTo>
                      <a:pt x="25" y="69"/>
                    </a:lnTo>
                    <a:lnTo>
                      <a:pt x="13" y="44"/>
                    </a:lnTo>
                    <a:lnTo>
                      <a:pt x="0" y="19"/>
                    </a:lnTo>
                    <a:lnTo>
                      <a:pt x="26" y="0"/>
                    </a:lnTo>
                    <a:lnTo>
                      <a:pt x="39" y="26"/>
                    </a:lnTo>
                    <a:lnTo>
                      <a:pt x="51" y="53"/>
                    </a:lnTo>
                    <a:lnTo>
                      <a:pt x="64" y="81"/>
                    </a:lnTo>
                    <a:lnTo>
                      <a:pt x="76" y="110"/>
                    </a:lnTo>
                    <a:lnTo>
                      <a:pt x="88" y="137"/>
                    </a:lnTo>
                    <a:lnTo>
                      <a:pt x="97" y="167"/>
                    </a:lnTo>
                    <a:lnTo>
                      <a:pt x="107" y="196"/>
                    </a:lnTo>
                    <a:lnTo>
                      <a:pt x="115" y="227"/>
                    </a:lnTo>
                    <a:lnTo>
                      <a:pt x="83" y="2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93" name="Freeform 114"/>
              <p:cNvSpPr>
                <a:spLocks/>
              </p:cNvSpPr>
              <p:nvPr/>
            </p:nvSpPr>
            <p:spPr bwMode="auto">
              <a:xfrm>
                <a:off x="4118" y="2060"/>
                <a:ext cx="65" cy="205"/>
              </a:xfrm>
              <a:custGeom>
                <a:avLst/>
                <a:gdLst>
                  <a:gd name="T0" fmla="*/ 32 w 65"/>
                  <a:gd name="T1" fmla="*/ 198 h 205"/>
                  <a:gd name="T2" fmla="*/ 30 w 65"/>
                  <a:gd name="T3" fmla="*/ 175 h 205"/>
                  <a:gd name="T4" fmla="*/ 26 w 65"/>
                  <a:gd name="T5" fmla="*/ 150 h 205"/>
                  <a:gd name="T6" fmla="*/ 24 w 65"/>
                  <a:gd name="T7" fmla="*/ 127 h 205"/>
                  <a:gd name="T8" fmla="*/ 20 w 65"/>
                  <a:gd name="T9" fmla="*/ 102 h 205"/>
                  <a:gd name="T10" fmla="*/ 16 w 65"/>
                  <a:gd name="T11" fmla="*/ 78 h 205"/>
                  <a:gd name="T12" fmla="*/ 10 w 65"/>
                  <a:gd name="T13" fmla="*/ 54 h 205"/>
                  <a:gd name="T14" fmla="*/ 5 w 65"/>
                  <a:gd name="T15" fmla="*/ 29 h 205"/>
                  <a:gd name="T16" fmla="*/ 0 w 65"/>
                  <a:gd name="T17" fmla="*/ 5 h 205"/>
                  <a:gd name="T18" fmla="*/ 30 w 65"/>
                  <a:gd name="T19" fmla="*/ 0 h 205"/>
                  <a:gd name="T20" fmla="*/ 37 w 65"/>
                  <a:gd name="T21" fmla="*/ 25 h 205"/>
                  <a:gd name="T22" fmla="*/ 42 w 65"/>
                  <a:gd name="T23" fmla="*/ 51 h 205"/>
                  <a:gd name="T24" fmla="*/ 48 w 65"/>
                  <a:gd name="T25" fmla="*/ 76 h 205"/>
                  <a:gd name="T26" fmla="*/ 52 w 65"/>
                  <a:gd name="T27" fmla="*/ 102 h 205"/>
                  <a:gd name="T28" fmla="*/ 57 w 65"/>
                  <a:gd name="T29" fmla="*/ 128 h 205"/>
                  <a:gd name="T30" fmla="*/ 61 w 65"/>
                  <a:gd name="T31" fmla="*/ 154 h 205"/>
                  <a:gd name="T32" fmla="*/ 63 w 65"/>
                  <a:gd name="T33" fmla="*/ 179 h 205"/>
                  <a:gd name="T34" fmla="*/ 65 w 65"/>
                  <a:gd name="T35" fmla="*/ 205 h 205"/>
                  <a:gd name="T36" fmla="*/ 32 w 65"/>
                  <a:gd name="T37" fmla="*/ 198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5"/>
                  <a:gd name="T58" fmla="*/ 0 h 205"/>
                  <a:gd name="T59" fmla="*/ 65 w 65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5" h="205">
                    <a:moveTo>
                      <a:pt x="32" y="198"/>
                    </a:moveTo>
                    <a:lnTo>
                      <a:pt x="30" y="175"/>
                    </a:lnTo>
                    <a:lnTo>
                      <a:pt x="26" y="150"/>
                    </a:lnTo>
                    <a:lnTo>
                      <a:pt x="24" y="127"/>
                    </a:lnTo>
                    <a:lnTo>
                      <a:pt x="20" y="102"/>
                    </a:lnTo>
                    <a:lnTo>
                      <a:pt x="16" y="78"/>
                    </a:lnTo>
                    <a:lnTo>
                      <a:pt x="10" y="54"/>
                    </a:lnTo>
                    <a:lnTo>
                      <a:pt x="5" y="29"/>
                    </a:lnTo>
                    <a:lnTo>
                      <a:pt x="0" y="5"/>
                    </a:lnTo>
                    <a:lnTo>
                      <a:pt x="30" y="0"/>
                    </a:lnTo>
                    <a:lnTo>
                      <a:pt x="37" y="25"/>
                    </a:lnTo>
                    <a:lnTo>
                      <a:pt x="42" y="51"/>
                    </a:lnTo>
                    <a:lnTo>
                      <a:pt x="48" y="76"/>
                    </a:lnTo>
                    <a:lnTo>
                      <a:pt x="52" y="102"/>
                    </a:lnTo>
                    <a:lnTo>
                      <a:pt x="57" y="128"/>
                    </a:lnTo>
                    <a:lnTo>
                      <a:pt x="61" y="154"/>
                    </a:lnTo>
                    <a:lnTo>
                      <a:pt x="63" y="179"/>
                    </a:lnTo>
                    <a:lnTo>
                      <a:pt x="65" y="205"/>
                    </a:lnTo>
                    <a:lnTo>
                      <a:pt x="32" y="1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94" name="Freeform 115"/>
              <p:cNvSpPr>
                <a:spLocks/>
              </p:cNvSpPr>
              <p:nvPr/>
            </p:nvSpPr>
            <p:spPr bwMode="auto">
              <a:xfrm>
                <a:off x="4154" y="2259"/>
                <a:ext cx="34" cy="28"/>
              </a:xfrm>
              <a:custGeom>
                <a:avLst/>
                <a:gdLst>
                  <a:gd name="T0" fmla="*/ 32 w 34"/>
                  <a:gd name="T1" fmla="*/ 7 h 28"/>
                  <a:gd name="T2" fmla="*/ 34 w 34"/>
                  <a:gd name="T3" fmla="*/ 28 h 28"/>
                  <a:gd name="T4" fmla="*/ 2 w 34"/>
                  <a:gd name="T5" fmla="*/ 23 h 28"/>
                  <a:gd name="T6" fmla="*/ 0 w 34"/>
                  <a:gd name="T7" fmla="*/ 0 h 28"/>
                  <a:gd name="T8" fmla="*/ 32 w 34"/>
                  <a:gd name="T9" fmla="*/ 7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28"/>
                  <a:gd name="T17" fmla="*/ 34 w 34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28">
                    <a:moveTo>
                      <a:pt x="32" y="7"/>
                    </a:moveTo>
                    <a:lnTo>
                      <a:pt x="34" y="28"/>
                    </a:lnTo>
                    <a:lnTo>
                      <a:pt x="2" y="23"/>
                    </a:lnTo>
                    <a:lnTo>
                      <a:pt x="0" y="0"/>
                    </a:lnTo>
                    <a:lnTo>
                      <a:pt x="32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95" name="Freeform 116"/>
              <p:cNvSpPr>
                <a:spLocks/>
              </p:cNvSpPr>
              <p:nvPr/>
            </p:nvSpPr>
            <p:spPr bwMode="auto">
              <a:xfrm>
                <a:off x="4013" y="1791"/>
                <a:ext cx="106" cy="162"/>
              </a:xfrm>
              <a:custGeom>
                <a:avLst/>
                <a:gdLst>
                  <a:gd name="T0" fmla="*/ 28 w 106"/>
                  <a:gd name="T1" fmla="*/ 162 h 162"/>
                  <a:gd name="T2" fmla="*/ 0 w 106"/>
                  <a:gd name="T3" fmla="*/ 0 h 162"/>
                  <a:gd name="T4" fmla="*/ 106 w 106"/>
                  <a:gd name="T5" fmla="*/ 113 h 162"/>
                  <a:gd name="T6" fmla="*/ 28 w 106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6"/>
                  <a:gd name="T13" fmla="*/ 0 h 162"/>
                  <a:gd name="T14" fmla="*/ 106 w 106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6" h="162">
                    <a:moveTo>
                      <a:pt x="28" y="162"/>
                    </a:moveTo>
                    <a:lnTo>
                      <a:pt x="0" y="0"/>
                    </a:lnTo>
                    <a:lnTo>
                      <a:pt x="106" y="113"/>
                    </a:lnTo>
                    <a:lnTo>
                      <a:pt x="28" y="162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96" name="Freeform 117"/>
              <p:cNvSpPr>
                <a:spLocks/>
              </p:cNvSpPr>
              <p:nvPr/>
            </p:nvSpPr>
            <p:spPr bwMode="auto">
              <a:xfrm>
                <a:off x="4005" y="1779"/>
                <a:ext cx="39" cy="175"/>
              </a:xfrm>
              <a:custGeom>
                <a:avLst/>
                <a:gdLst>
                  <a:gd name="T0" fmla="*/ 5 w 39"/>
                  <a:gd name="T1" fmla="*/ 18 h 175"/>
                  <a:gd name="T2" fmla="*/ 11 w 39"/>
                  <a:gd name="T3" fmla="*/ 12 h 175"/>
                  <a:gd name="T4" fmla="*/ 39 w 39"/>
                  <a:gd name="T5" fmla="*/ 174 h 175"/>
                  <a:gd name="T6" fmla="*/ 30 w 39"/>
                  <a:gd name="T7" fmla="*/ 175 h 175"/>
                  <a:gd name="T8" fmla="*/ 3 w 39"/>
                  <a:gd name="T9" fmla="*/ 15 h 175"/>
                  <a:gd name="T10" fmla="*/ 9 w 39"/>
                  <a:gd name="T11" fmla="*/ 9 h 175"/>
                  <a:gd name="T12" fmla="*/ 3 w 39"/>
                  <a:gd name="T13" fmla="*/ 15 h 175"/>
                  <a:gd name="T14" fmla="*/ 0 w 39"/>
                  <a:gd name="T15" fmla="*/ 0 h 175"/>
                  <a:gd name="T16" fmla="*/ 9 w 39"/>
                  <a:gd name="T17" fmla="*/ 9 h 175"/>
                  <a:gd name="T18" fmla="*/ 5 w 39"/>
                  <a:gd name="T19" fmla="*/ 18 h 1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9"/>
                  <a:gd name="T31" fmla="*/ 0 h 175"/>
                  <a:gd name="T32" fmla="*/ 39 w 39"/>
                  <a:gd name="T33" fmla="*/ 175 h 1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9" h="175">
                    <a:moveTo>
                      <a:pt x="5" y="18"/>
                    </a:moveTo>
                    <a:lnTo>
                      <a:pt x="11" y="12"/>
                    </a:lnTo>
                    <a:lnTo>
                      <a:pt x="39" y="174"/>
                    </a:lnTo>
                    <a:lnTo>
                      <a:pt x="30" y="175"/>
                    </a:lnTo>
                    <a:lnTo>
                      <a:pt x="3" y="15"/>
                    </a:lnTo>
                    <a:lnTo>
                      <a:pt x="9" y="9"/>
                    </a:lnTo>
                    <a:lnTo>
                      <a:pt x="3" y="15"/>
                    </a:lnTo>
                    <a:lnTo>
                      <a:pt x="0" y="0"/>
                    </a:lnTo>
                    <a:lnTo>
                      <a:pt x="9" y="9"/>
                    </a:lnTo>
                    <a:lnTo>
                      <a:pt x="5" y="18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97" name="Freeform 118"/>
              <p:cNvSpPr>
                <a:spLocks/>
              </p:cNvSpPr>
              <p:nvPr/>
            </p:nvSpPr>
            <p:spPr bwMode="auto">
              <a:xfrm>
                <a:off x="4010" y="1787"/>
                <a:ext cx="115" cy="123"/>
              </a:xfrm>
              <a:custGeom>
                <a:avLst/>
                <a:gdLst>
                  <a:gd name="T0" fmla="*/ 106 w 115"/>
                  <a:gd name="T1" fmla="*/ 113 h 123"/>
                  <a:gd name="T2" fmla="*/ 106 w 115"/>
                  <a:gd name="T3" fmla="*/ 122 h 123"/>
                  <a:gd name="T4" fmla="*/ 0 w 115"/>
                  <a:gd name="T5" fmla="*/ 9 h 123"/>
                  <a:gd name="T6" fmla="*/ 4 w 115"/>
                  <a:gd name="T7" fmla="*/ 0 h 123"/>
                  <a:gd name="T8" fmla="*/ 110 w 115"/>
                  <a:gd name="T9" fmla="*/ 114 h 123"/>
                  <a:gd name="T10" fmla="*/ 110 w 115"/>
                  <a:gd name="T11" fmla="*/ 123 h 123"/>
                  <a:gd name="T12" fmla="*/ 110 w 115"/>
                  <a:gd name="T13" fmla="*/ 114 h 123"/>
                  <a:gd name="T14" fmla="*/ 115 w 115"/>
                  <a:gd name="T15" fmla="*/ 120 h 123"/>
                  <a:gd name="T16" fmla="*/ 110 w 115"/>
                  <a:gd name="T17" fmla="*/ 123 h 123"/>
                  <a:gd name="T18" fmla="*/ 106 w 115"/>
                  <a:gd name="T19" fmla="*/ 113 h 12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5"/>
                  <a:gd name="T31" fmla="*/ 0 h 123"/>
                  <a:gd name="T32" fmla="*/ 115 w 115"/>
                  <a:gd name="T33" fmla="*/ 123 h 12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5" h="123">
                    <a:moveTo>
                      <a:pt x="106" y="113"/>
                    </a:moveTo>
                    <a:lnTo>
                      <a:pt x="106" y="122"/>
                    </a:lnTo>
                    <a:lnTo>
                      <a:pt x="0" y="9"/>
                    </a:lnTo>
                    <a:lnTo>
                      <a:pt x="4" y="0"/>
                    </a:lnTo>
                    <a:lnTo>
                      <a:pt x="110" y="114"/>
                    </a:lnTo>
                    <a:lnTo>
                      <a:pt x="110" y="123"/>
                    </a:lnTo>
                    <a:lnTo>
                      <a:pt x="110" y="114"/>
                    </a:lnTo>
                    <a:lnTo>
                      <a:pt x="115" y="120"/>
                    </a:lnTo>
                    <a:lnTo>
                      <a:pt x="110" y="123"/>
                    </a:lnTo>
                    <a:lnTo>
                      <a:pt x="106" y="113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98" name="Freeform 119"/>
              <p:cNvSpPr>
                <a:spLocks/>
              </p:cNvSpPr>
              <p:nvPr/>
            </p:nvSpPr>
            <p:spPr bwMode="auto">
              <a:xfrm>
                <a:off x="4038" y="1900"/>
                <a:ext cx="84" cy="63"/>
              </a:xfrm>
              <a:custGeom>
                <a:avLst/>
                <a:gdLst>
                  <a:gd name="T0" fmla="*/ 9 w 84"/>
                  <a:gd name="T1" fmla="*/ 55 h 63"/>
                  <a:gd name="T2" fmla="*/ 2 w 84"/>
                  <a:gd name="T3" fmla="*/ 48 h 63"/>
                  <a:gd name="T4" fmla="*/ 80 w 84"/>
                  <a:gd name="T5" fmla="*/ 0 h 63"/>
                  <a:gd name="T6" fmla="*/ 84 w 84"/>
                  <a:gd name="T7" fmla="*/ 11 h 63"/>
                  <a:gd name="T8" fmla="*/ 6 w 84"/>
                  <a:gd name="T9" fmla="*/ 60 h 63"/>
                  <a:gd name="T10" fmla="*/ 0 w 84"/>
                  <a:gd name="T11" fmla="*/ 55 h 63"/>
                  <a:gd name="T12" fmla="*/ 6 w 84"/>
                  <a:gd name="T13" fmla="*/ 60 h 63"/>
                  <a:gd name="T14" fmla="*/ 2 w 84"/>
                  <a:gd name="T15" fmla="*/ 63 h 63"/>
                  <a:gd name="T16" fmla="*/ 0 w 84"/>
                  <a:gd name="T17" fmla="*/ 55 h 63"/>
                  <a:gd name="T18" fmla="*/ 9 w 84"/>
                  <a:gd name="T19" fmla="*/ 55 h 6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4"/>
                  <a:gd name="T31" fmla="*/ 0 h 63"/>
                  <a:gd name="T32" fmla="*/ 84 w 84"/>
                  <a:gd name="T33" fmla="*/ 63 h 6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4" h="63">
                    <a:moveTo>
                      <a:pt x="9" y="55"/>
                    </a:moveTo>
                    <a:lnTo>
                      <a:pt x="2" y="48"/>
                    </a:lnTo>
                    <a:lnTo>
                      <a:pt x="80" y="0"/>
                    </a:lnTo>
                    <a:lnTo>
                      <a:pt x="84" y="11"/>
                    </a:lnTo>
                    <a:lnTo>
                      <a:pt x="6" y="60"/>
                    </a:lnTo>
                    <a:lnTo>
                      <a:pt x="0" y="55"/>
                    </a:lnTo>
                    <a:lnTo>
                      <a:pt x="6" y="60"/>
                    </a:lnTo>
                    <a:lnTo>
                      <a:pt x="2" y="63"/>
                    </a:lnTo>
                    <a:lnTo>
                      <a:pt x="0" y="55"/>
                    </a:lnTo>
                    <a:lnTo>
                      <a:pt x="9" y="55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199" name="Freeform 120"/>
              <p:cNvSpPr>
                <a:spLocks/>
              </p:cNvSpPr>
              <p:nvPr/>
            </p:nvSpPr>
            <p:spPr bwMode="auto">
              <a:xfrm>
                <a:off x="4022" y="1816"/>
                <a:ext cx="29" cy="33"/>
              </a:xfrm>
              <a:custGeom>
                <a:avLst/>
                <a:gdLst>
                  <a:gd name="T0" fmla="*/ 8 w 29"/>
                  <a:gd name="T1" fmla="*/ 33 h 33"/>
                  <a:gd name="T2" fmla="*/ 0 w 29"/>
                  <a:gd name="T3" fmla="*/ 16 h 33"/>
                  <a:gd name="T4" fmla="*/ 21 w 29"/>
                  <a:gd name="T5" fmla="*/ 0 h 33"/>
                  <a:gd name="T6" fmla="*/ 29 w 29"/>
                  <a:gd name="T7" fmla="*/ 17 h 33"/>
                  <a:gd name="T8" fmla="*/ 8 w 29"/>
                  <a:gd name="T9" fmla="*/ 33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33"/>
                  <a:gd name="T17" fmla="*/ 29 w 29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33">
                    <a:moveTo>
                      <a:pt x="8" y="33"/>
                    </a:moveTo>
                    <a:lnTo>
                      <a:pt x="0" y="16"/>
                    </a:lnTo>
                    <a:lnTo>
                      <a:pt x="21" y="0"/>
                    </a:lnTo>
                    <a:lnTo>
                      <a:pt x="29" y="17"/>
                    </a:lnTo>
                    <a:lnTo>
                      <a:pt x="8" y="33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00" name="Freeform 121"/>
              <p:cNvSpPr>
                <a:spLocks/>
              </p:cNvSpPr>
              <p:nvPr/>
            </p:nvSpPr>
            <p:spPr bwMode="auto">
              <a:xfrm>
                <a:off x="4030" y="1835"/>
                <a:ext cx="110" cy="228"/>
              </a:xfrm>
              <a:custGeom>
                <a:avLst/>
                <a:gdLst>
                  <a:gd name="T0" fmla="*/ 86 w 110"/>
                  <a:gd name="T1" fmla="*/ 228 h 228"/>
                  <a:gd name="T2" fmla="*/ 86 w 110"/>
                  <a:gd name="T3" fmla="*/ 228 h 228"/>
                  <a:gd name="T4" fmla="*/ 77 w 110"/>
                  <a:gd name="T5" fmla="*/ 200 h 228"/>
                  <a:gd name="T6" fmla="*/ 68 w 110"/>
                  <a:gd name="T7" fmla="*/ 172 h 228"/>
                  <a:gd name="T8" fmla="*/ 58 w 110"/>
                  <a:gd name="T9" fmla="*/ 144 h 228"/>
                  <a:gd name="T10" fmla="*/ 47 w 110"/>
                  <a:gd name="T11" fmla="*/ 117 h 228"/>
                  <a:gd name="T12" fmla="*/ 36 w 110"/>
                  <a:gd name="T13" fmla="*/ 91 h 228"/>
                  <a:gd name="T14" fmla="*/ 25 w 110"/>
                  <a:gd name="T15" fmla="*/ 65 h 228"/>
                  <a:gd name="T16" fmla="*/ 13 w 110"/>
                  <a:gd name="T17" fmla="*/ 40 h 228"/>
                  <a:gd name="T18" fmla="*/ 0 w 110"/>
                  <a:gd name="T19" fmla="*/ 15 h 228"/>
                  <a:gd name="T20" fmla="*/ 21 w 110"/>
                  <a:gd name="T21" fmla="*/ 0 h 228"/>
                  <a:gd name="T22" fmla="*/ 35 w 110"/>
                  <a:gd name="T23" fmla="*/ 26 h 228"/>
                  <a:gd name="T24" fmla="*/ 47 w 110"/>
                  <a:gd name="T25" fmla="*/ 54 h 228"/>
                  <a:gd name="T26" fmla="*/ 60 w 110"/>
                  <a:gd name="T27" fmla="*/ 80 h 228"/>
                  <a:gd name="T28" fmla="*/ 72 w 110"/>
                  <a:gd name="T29" fmla="*/ 107 h 228"/>
                  <a:gd name="T30" fmla="*/ 82 w 110"/>
                  <a:gd name="T31" fmla="*/ 135 h 228"/>
                  <a:gd name="T32" fmla="*/ 92 w 110"/>
                  <a:gd name="T33" fmla="*/ 164 h 228"/>
                  <a:gd name="T34" fmla="*/ 102 w 110"/>
                  <a:gd name="T35" fmla="*/ 193 h 228"/>
                  <a:gd name="T36" fmla="*/ 110 w 110"/>
                  <a:gd name="T37" fmla="*/ 221 h 228"/>
                  <a:gd name="T38" fmla="*/ 86 w 110"/>
                  <a:gd name="T39" fmla="*/ 228 h 22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0"/>
                  <a:gd name="T61" fmla="*/ 0 h 228"/>
                  <a:gd name="T62" fmla="*/ 110 w 110"/>
                  <a:gd name="T63" fmla="*/ 228 h 22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0" h="228">
                    <a:moveTo>
                      <a:pt x="86" y="228"/>
                    </a:moveTo>
                    <a:lnTo>
                      <a:pt x="86" y="228"/>
                    </a:lnTo>
                    <a:lnTo>
                      <a:pt x="77" y="200"/>
                    </a:lnTo>
                    <a:lnTo>
                      <a:pt x="68" y="172"/>
                    </a:lnTo>
                    <a:lnTo>
                      <a:pt x="58" y="144"/>
                    </a:lnTo>
                    <a:lnTo>
                      <a:pt x="47" y="117"/>
                    </a:lnTo>
                    <a:lnTo>
                      <a:pt x="36" y="91"/>
                    </a:lnTo>
                    <a:lnTo>
                      <a:pt x="25" y="65"/>
                    </a:lnTo>
                    <a:lnTo>
                      <a:pt x="13" y="40"/>
                    </a:lnTo>
                    <a:lnTo>
                      <a:pt x="0" y="15"/>
                    </a:lnTo>
                    <a:lnTo>
                      <a:pt x="21" y="0"/>
                    </a:lnTo>
                    <a:lnTo>
                      <a:pt x="35" y="26"/>
                    </a:lnTo>
                    <a:lnTo>
                      <a:pt x="47" y="54"/>
                    </a:lnTo>
                    <a:lnTo>
                      <a:pt x="60" y="80"/>
                    </a:lnTo>
                    <a:lnTo>
                      <a:pt x="72" y="107"/>
                    </a:lnTo>
                    <a:lnTo>
                      <a:pt x="82" y="135"/>
                    </a:lnTo>
                    <a:lnTo>
                      <a:pt x="92" y="164"/>
                    </a:lnTo>
                    <a:lnTo>
                      <a:pt x="102" y="193"/>
                    </a:lnTo>
                    <a:lnTo>
                      <a:pt x="110" y="221"/>
                    </a:lnTo>
                    <a:lnTo>
                      <a:pt x="86" y="228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01" name="Freeform 122"/>
              <p:cNvSpPr>
                <a:spLocks/>
              </p:cNvSpPr>
              <p:nvPr/>
            </p:nvSpPr>
            <p:spPr bwMode="auto">
              <a:xfrm>
                <a:off x="4121" y="2060"/>
                <a:ext cx="60" cy="205"/>
              </a:xfrm>
              <a:custGeom>
                <a:avLst/>
                <a:gdLst>
                  <a:gd name="T0" fmla="*/ 33 w 60"/>
                  <a:gd name="T1" fmla="*/ 201 h 205"/>
                  <a:gd name="T2" fmla="*/ 30 w 60"/>
                  <a:gd name="T3" fmla="*/ 177 h 205"/>
                  <a:gd name="T4" fmla="*/ 28 w 60"/>
                  <a:gd name="T5" fmla="*/ 152 h 205"/>
                  <a:gd name="T6" fmla="*/ 24 w 60"/>
                  <a:gd name="T7" fmla="*/ 128 h 205"/>
                  <a:gd name="T8" fmla="*/ 21 w 60"/>
                  <a:gd name="T9" fmla="*/ 103 h 205"/>
                  <a:gd name="T10" fmla="*/ 17 w 60"/>
                  <a:gd name="T11" fmla="*/ 79 h 205"/>
                  <a:gd name="T12" fmla="*/ 13 w 60"/>
                  <a:gd name="T13" fmla="*/ 55 h 205"/>
                  <a:gd name="T14" fmla="*/ 5 w 60"/>
                  <a:gd name="T15" fmla="*/ 29 h 205"/>
                  <a:gd name="T16" fmla="*/ 0 w 60"/>
                  <a:gd name="T17" fmla="*/ 5 h 205"/>
                  <a:gd name="T18" fmla="*/ 24 w 60"/>
                  <a:gd name="T19" fmla="*/ 0 h 205"/>
                  <a:gd name="T20" fmla="*/ 32 w 60"/>
                  <a:gd name="T21" fmla="*/ 25 h 205"/>
                  <a:gd name="T22" fmla="*/ 37 w 60"/>
                  <a:gd name="T23" fmla="*/ 51 h 205"/>
                  <a:gd name="T24" fmla="*/ 43 w 60"/>
                  <a:gd name="T25" fmla="*/ 79 h 205"/>
                  <a:gd name="T26" fmla="*/ 47 w 60"/>
                  <a:gd name="T27" fmla="*/ 103 h 205"/>
                  <a:gd name="T28" fmla="*/ 52 w 60"/>
                  <a:gd name="T29" fmla="*/ 129 h 205"/>
                  <a:gd name="T30" fmla="*/ 55 w 60"/>
                  <a:gd name="T31" fmla="*/ 156 h 205"/>
                  <a:gd name="T32" fmla="*/ 58 w 60"/>
                  <a:gd name="T33" fmla="*/ 180 h 205"/>
                  <a:gd name="T34" fmla="*/ 60 w 60"/>
                  <a:gd name="T35" fmla="*/ 205 h 205"/>
                  <a:gd name="T36" fmla="*/ 33 w 60"/>
                  <a:gd name="T37" fmla="*/ 201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0"/>
                  <a:gd name="T58" fmla="*/ 0 h 205"/>
                  <a:gd name="T59" fmla="*/ 60 w 60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0" h="205">
                    <a:moveTo>
                      <a:pt x="33" y="201"/>
                    </a:moveTo>
                    <a:lnTo>
                      <a:pt x="30" y="177"/>
                    </a:lnTo>
                    <a:lnTo>
                      <a:pt x="28" y="152"/>
                    </a:lnTo>
                    <a:lnTo>
                      <a:pt x="24" y="128"/>
                    </a:lnTo>
                    <a:lnTo>
                      <a:pt x="21" y="103"/>
                    </a:lnTo>
                    <a:lnTo>
                      <a:pt x="17" y="79"/>
                    </a:lnTo>
                    <a:lnTo>
                      <a:pt x="13" y="55"/>
                    </a:lnTo>
                    <a:lnTo>
                      <a:pt x="5" y="29"/>
                    </a:lnTo>
                    <a:lnTo>
                      <a:pt x="0" y="5"/>
                    </a:lnTo>
                    <a:lnTo>
                      <a:pt x="24" y="0"/>
                    </a:lnTo>
                    <a:lnTo>
                      <a:pt x="32" y="25"/>
                    </a:lnTo>
                    <a:lnTo>
                      <a:pt x="37" y="51"/>
                    </a:lnTo>
                    <a:lnTo>
                      <a:pt x="43" y="79"/>
                    </a:lnTo>
                    <a:lnTo>
                      <a:pt x="47" y="103"/>
                    </a:lnTo>
                    <a:lnTo>
                      <a:pt x="52" y="129"/>
                    </a:lnTo>
                    <a:lnTo>
                      <a:pt x="55" y="156"/>
                    </a:lnTo>
                    <a:lnTo>
                      <a:pt x="58" y="180"/>
                    </a:lnTo>
                    <a:lnTo>
                      <a:pt x="60" y="205"/>
                    </a:lnTo>
                    <a:lnTo>
                      <a:pt x="33" y="201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02" name="Freeform 123"/>
              <p:cNvSpPr>
                <a:spLocks/>
              </p:cNvSpPr>
              <p:nvPr/>
            </p:nvSpPr>
            <p:spPr bwMode="auto">
              <a:xfrm>
                <a:off x="4154" y="2263"/>
                <a:ext cx="30" cy="21"/>
              </a:xfrm>
              <a:custGeom>
                <a:avLst/>
                <a:gdLst>
                  <a:gd name="T0" fmla="*/ 29 w 30"/>
                  <a:gd name="T1" fmla="*/ 3 h 21"/>
                  <a:gd name="T2" fmla="*/ 30 w 30"/>
                  <a:gd name="T3" fmla="*/ 21 h 21"/>
                  <a:gd name="T4" fmla="*/ 1 w 30"/>
                  <a:gd name="T5" fmla="*/ 18 h 21"/>
                  <a:gd name="T6" fmla="*/ 0 w 30"/>
                  <a:gd name="T7" fmla="*/ 0 h 21"/>
                  <a:gd name="T8" fmla="*/ 29 w 30"/>
                  <a:gd name="T9" fmla="*/ 3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21"/>
                  <a:gd name="T17" fmla="*/ 30 w 30"/>
                  <a:gd name="T18" fmla="*/ 21 h 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21">
                    <a:moveTo>
                      <a:pt x="29" y="3"/>
                    </a:moveTo>
                    <a:lnTo>
                      <a:pt x="30" y="21"/>
                    </a:lnTo>
                    <a:lnTo>
                      <a:pt x="1" y="18"/>
                    </a:lnTo>
                    <a:lnTo>
                      <a:pt x="0" y="0"/>
                    </a:lnTo>
                    <a:lnTo>
                      <a:pt x="29" y="3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03" name="Freeform 124"/>
              <p:cNvSpPr>
                <a:spLocks/>
              </p:cNvSpPr>
              <p:nvPr/>
            </p:nvSpPr>
            <p:spPr bwMode="auto">
              <a:xfrm>
                <a:off x="3992" y="1759"/>
                <a:ext cx="108" cy="162"/>
              </a:xfrm>
              <a:custGeom>
                <a:avLst/>
                <a:gdLst>
                  <a:gd name="T0" fmla="*/ 34 w 108"/>
                  <a:gd name="T1" fmla="*/ 162 h 162"/>
                  <a:gd name="T2" fmla="*/ 0 w 108"/>
                  <a:gd name="T3" fmla="*/ 0 h 162"/>
                  <a:gd name="T4" fmla="*/ 108 w 108"/>
                  <a:gd name="T5" fmla="*/ 107 h 162"/>
                  <a:gd name="T6" fmla="*/ 34 w 108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8"/>
                  <a:gd name="T13" fmla="*/ 0 h 162"/>
                  <a:gd name="T14" fmla="*/ 108 w 108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8" h="162">
                    <a:moveTo>
                      <a:pt x="34" y="162"/>
                    </a:moveTo>
                    <a:lnTo>
                      <a:pt x="0" y="0"/>
                    </a:lnTo>
                    <a:lnTo>
                      <a:pt x="108" y="107"/>
                    </a:lnTo>
                    <a:lnTo>
                      <a:pt x="34" y="1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04" name="Freeform 125"/>
              <p:cNvSpPr>
                <a:spLocks/>
              </p:cNvSpPr>
              <p:nvPr/>
            </p:nvSpPr>
            <p:spPr bwMode="auto">
              <a:xfrm>
                <a:off x="3981" y="1735"/>
                <a:ext cx="53" cy="187"/>
              </a:xfrm>
              <a:custGeom>
                <a:avLst/>
                <a:gdLst>
                  <a:gd name="T0" fmla="*/ 8 w 53"/>
                  <a:gd name="T1" fmla="*/ 30 h 187"/>
                  <a:gd name="T2" fmla="*/ 20 w 53"/>
                  <a:gd name="T3" fmla="*/ 22 h 187"/>
                  <a:gd name="T4" fmla="*/ 53 w 53"/>
                  <a:gd name="T5" fmla="*/ 185 h 187"/>
                  <a:gd name="T6" fmla="*/ 38 w 53"/>
                  <a:gd name="T7" fmla="*/ 187 h 187"/>
                  <a:gd name="T8" fmla="*/ 4 w 53"/>
                  <a:gd name="T9" fmla="*/ 24 h 187"/>
                  <a:gd name="T10" fmla="*/ 16 w 53"/>
                  <a:gd name="T11" fmla="*/ 16 h 187"/>
                  <a:gd name="T12" fmla="*/ 4 w 53"/>
                  <a:gd name="T13" fmla="*/ 24 h 187"/>
                  <a:gd name="T14" fmla="*/ 0 w 53"/>
                  <a:gd name="T15" fmla="*/ 0 h 187"/>
                  <a:gd name="T16" fmla="*/ 16 w 53"/>
                  <a:gd name="T17" fmla="*/ 16 h 187"/>
                  <a:gd name="T18" fmla="*/ 8 w 53"/>
                  <a:gd name="T19" fmla="*/ 30 h 18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3"/>
                  <a:gd name="T31" fmla="*/ 0 h 187"/>
                  <a:gd name="T32" fmla="*/ 53 w 53"/>
                  <a:gd name="T33" fmla="*/ 187 h 18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3" h="187">
                    <a:moveTo>
                      <a:pt x="8" y="30"/>
                    </a:moveTo>
                    <a:lnTo>
                      <a:pt x="20" y="22"/>
                    </a:lnTo>
                    <a:lnTo>
                      <a:pt x="53" y="185"/>
                    </a:lnTo>
                    <a:lnTo>
                      <a:pt x="38" y="187"/>
                    </a:lnTo>
                    <a:lnTo>
                      <a:pt x="4" y="24"/>
                    </a:lnTo>
                    <a:lnTo>
                      <a:pt x="16" y="16"/>
                    </a:lnTo>
                    <a:lnTo>
                      <a:pt x="4" y="24"/>
                    </a:lnTo>
                    <a:lnTo>
                      <a:pt x="0" y="0"/>
                    </a:lnTo>
                    <a:lnTo>
                      <a:pt x="16" y="16"/>
                    </a:lnTo>
                    <a:lnTo>
                      <a:pt x="8" y="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05" name="Freeform 126"/>
              <p:cNvSpPr>
                <a:spLocks/>
              </p:cNvSpPr>
              <p:nvPr/>
            </p:nvSpPr>
            <p:spPr bwMode="auto">
              <a:xfrm>
                <a:off x="3987" y="1752"/>
                <a:ext cx="129" cy="126"/>
              </a:xfrm>
              <a:custGeom>
                <a:avLst/>
                <a:gdLst>
                  <a:gd name="T0" fmla="*/ 109 w 129"/>
                  <a:gd name="T1" fmla="*/ 107 h 126"/>
                  <a:gd name="T2" fmla="*/ 110 w 129"/>
                  <a:gd name="T3" fmla="*/ 124 h 126"/>
                  <a:gd name="T4" fmla="*/ 0 w 129"/>
                  <a:gd name="T5" fmla="*/ 15 h 126"/>
                  <a:gd name="T6" fmla="*/ 9 w 129"/>
                  <a:gd name="T7" fmla="*/ 0 h 126"/>
                  <a:gd name="T8" fmla="*/ 118 w 129"/>
                  <a:gd name="T9" fmla="*/ 109 h 126"/>
                  <a:gd name="T10" fmla="*/ 119 w 129"/>
                  <a:gd name="T11" fmla="*/ 126 h 126"/>
                  <a:gd name="T12" fmla="*/ 118 w 129"/>
                  <a:gd name="T13" fmla="*/ 109 h 126"/>
                  <a:gd name="T14" fmla="*/ 129 w 129"/>
                  <a:gd name="T15" fmla="*/ 117 h 126"/>
                  <a:gd name="T16" fmla="*/ 119 w 129"/>
                  <a:gd name="T17" fmla="*/ 126 h 126"/>
                  <a:gd name="T18" fmla="*/ 109 w 129"/>
                  <a:gd name="T19" fmla="*/ 107 h 12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9"/>
                  <a:gd name="T31" fmla="*/ 0 h 126"/>
                  <a:gd name="T32" fmla="*/ 129 w 129"/>
                  <a:gd name="T33" fmla="*/ 126 h 12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9" h="126">
                    <a:moveTo>
                      <a:pt x="109" y="107"/>
                    </a:moveTo>
                    <a:lnTo>
                      <a:pt x="110" y="124"/>
                    </a:lnTo>
                    <a:lnTo>
                      <a:pt x="0" y="15"/>
                    </a:lnTo>
                    <a:lnTo>
                      <a:pt x="9" y="0"/>
                    </a:lnTo>
                    <a:lnTo>
                      <a:pt x="118" y="109"/>
                    </a:lnTo>
                    <a:lnTo>
                      <a:pt x="119" y="126"/>
                    </a:lnTo>
                    <a:lnTo>
                      <a:pt x="118" y="109"/>
                    </a:lnTo>
                    <a:lnTo>
                      <a:pt x="129" y="117"/>
                    </a:lnTo>
                    <a:lnTo>
                      <a:pt x="119" y="126"/>
                    </a:lnTo>
                    <a:lnTo>
                      <a:pt x="109" y="10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06" name="Freeform 127"/>
              <p:cNvSpPr>
                <a:spLocks/>
              </p:cNvSpPr>
              <p:nvPr/>
            </p:nvSpPr>
            <p:spPr bwMode="auto">
              <a:xfrm>
                <a:off x="4018" y="1859"/>
                <a:ext cx="88" cy="79"/>
              </a:xfrm>
              <a:custGeom>
                <a:avLst/>
                <a:gdLst>
                  <a:gd name="T0" fmla="*/ 15 w 88"/>
                  <a:gd name="T1" fmla="*/ 63 h 79"/>
                  <a:gd name="T2" fmla="*/ 4 w 88"/>
                  <a:gd name="T3" fmla="*/ 53 h 79"/>
                  <a:gd name="T4" fmla="*/ 79 w 88"/>
                  <a:gd name="T5" fmla="*/ 0 h 79"/>
                  <a:gd name="T6" fmla="*/ 88 w 88"/>
                  <a:gd name="T7" fmla="*/ 19 h 79"/>
                  <a:gd name="T8" fmla="*/ 13 w 88"/>
                  <a:gd name="T9" fmla="*/ 72 h 79"/>
                  <a:gd name="T10" fmla="*/ 0 w 88"/>
                  <a:gd name="T11" fmla="*/ 63 h 79"/>
                  <a:gd name="T12" fmla="*/ 13 w 88"/>
                  <a:gd name="T13" fmla="*/ 72 h 79"/>
                  <a:gd name="T14" fmla="*/ 4 w 88"/>
                  <a:gd name="T15" fmla="*/ 79 h 79"/>
                  <a:gd name="T16" fmla="*/ 0 w 88"/>
                  <a:gd name="T17" fmla="*/ 63 h 79"/>
                  <a:gd name="T18" fmla="*/ 15 w 88"/>
                  <a:gd name="T19" fmla="*/ 63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8"/>
                  <a:gd name="T31" fmla="*/ 0 h 79"/>
                  <a:gd name="T32" fmla="*/ 88 w 88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8" h="79">
                    <a:moveTo>
                      <a:pt x="15" y="63"/>
                    </a:moveTo>
                    <a:lnTo>
                      <a:pt x="4" y="53"/>
                    </a:lnTo>
                    <a:lnTo>
                      <a:pt x="79" y="0"/>
                    </a:lnTo>
                    <a:lnTo>
                      <a:pt x="88" y="19"/>
                    </a:lnTo>
                    <a:lnTo>
                      <a:pt x="13" y="72"/>
                    </a:lnTo>
                    <a:lnTo>
                      <a:pt x="0" y="63"/>
                    </a:lnTo>
                    <a:lnTo>
                      <a:pt x="13" y="72"/>
                    </a:lnTo>
                    <a:lnTo>
                      <a:pt x="4" y="79"/>
                    </a:lnTo>
                    <a:lnTo>
                      <a:pt x="0" y="63"/>
                    </a:lnTo>
                    <a:lnTo>
                      <a:pt x="15" y="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07" name="Freeform 128"/>
              <p:cNvSpPr>
                <a:spLocks/>
              </p:cNvSpPr>
              <p:nvPr/>
            </p:nvSpPr>
            <p:spPr bwMode="auto">
              <a:xfrm>
                <a:off x="3995" y="1779"/>
                <a:ext cx="37" cy="39"/>
              </a:xfrm>
              <a:custGeom>
                <a:avLst/>
                <a:gdLst>
                  <a:gd name="T0" fmla="*/ 10 w 37"/>
                  <a:gd name="T1" fmla="*/ 39 h 39"/>
                  <a:gd name="T2" fmla="*/ 0 w 37"/>
                  <a:gd name="T3" fmla="*/ 20 h 39"/>
                  <a:gd name="T4" fmla="*/ 27 w 37"/>
                  <a:gd name="T5" fmla="*/ 0 h 39"/>
                  <a:gd name="T6" fmla="*/ 37 w 37"/>
                  <a:gd name="T7" fmla="*/ 19 h 39"/>
                  <a:gd name="T8" fmla="*/ 10 w 37"/>
                  <a:gd name="T9" fmla="*/ 39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39"/>
                  <a:gd name="T17" fmla="*/ 37 w 37"/>
                  <a:gd name="T18" fmla="*/ 39 h 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39">
                    <a:moveTo>
                      <a:pt x="10" y="39"/>
                    </a:moveTo>
                    <a:lnTo>
                      <a:pt x="0" y="20"/>
                    </a:lnTo>
                    <a:lnTo>
                      <a:pt x="27" y="0"/>
                    </a:lnTo>
                    <a:lnTo>
                      <a:pt x="37" y="19"/>
                    </a:lnTo>
                    <a:lnTo>
                      <a:pt x="10" y="3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08" name="Freeform 129"/>
              <p:cNvSpPr>
                <a:spLocks/>
              </p:cNvSpPr>
              <p:nvPr/>
            </p:nvSpPr>
            <p:spPr bwMode="auto">
              <a:xfrm>
                <a:off x="4011" y="1797"/>
                <a:ext cx="122" cy="231"/>
              </a:xfrm>
              <a:custGeom>
                <a:avLst/>
                <a:gdLst>
                  <a:gd name="T0" fmla="*/ 91 w 122"/>
                  <a:gd name="T1" fmla="*/ 231 h 231"/>
                  <a:gd name="T2" fmla="*/ 91 w 122"/>
                  <a:gd name="T3" fmla="*/ 231 h 231"/>
                  <a:gd name="T4" fmla="*/ 81 w 122"/>
                  <a:gd name="T5" fmla="*/ 203 h 231"/>
                  <a:gd name="T6" fmla="*/ 71 w 122"/>
                  <a:gd name="T7" fmla="*/ 175 h 231"/>
                  <a:gd name="T8" fmla="*/ 61 w 122"/>
                  <a:gd name="T9" fmla="*/ 148 h 231"/>
                  <a:gd name="T10" fmla="*/ 49 w 122"/>
                  <a:gd name="T11" fmla="*/ 120 h 231"/>
                  <a:gd name="T12" fmla="*/ 38 w 122"/>
                  <a:gd name="T13" fmla="*/ 96 h 231"/>
                  <a:gd name="T14" fmla="*/ 25 w 122"/>
                  <a:gd name="T15" fmla="*/ 70 h 231"/>
                  <a:gd name="T16" fmla="*/ 13 w 122"/>
                  <a:gd name="T17" fmla="*/ 45 h 231"/>
                  <a:gd name="T18" fmla="*/ 0 w 122"/>
                  <a:gd name="T19" fmla="*/ 21 h 231"/>
                  <a:gd name="T20" fmla="*/ 24 w 122"/>
                  <a:gd name="T21" fmla="*/ 0 h 231"/>
                  <a:gd name="T22" fmla="*/ 38 w 122"/>
                  <a:gd name="T23" fmla="*/ 25 h 231"/>
                  <a:gd name="T24" fmla="*/ 52 w 122"/>
                  <a:gd name="T25" fmla="*/ 52 h 231"/>
                  <a:gd name="T26" fmla="*/ 66 w 122"/>
                  <a:gd name="T27" fmla="*/ 79 h 231"/>
                  <a:gd name="T28" fmla="*/ 79 w 122"/>
                  <a:gd name="T29" fmla="*/ 108 h 231"/>
                  <a:gd name="T30" fmla="*/ 91 w 122"/>
                  <a:gd name="T31" fmla="*/ 134 h 231"/>
                  <a:gd name="T32" fmla="*/ 101 w 122"/>
                  <a:gd name="T33" fmla="*/ 163 h 231"/>
                  <a:gd name="T34" fmla="*/ 111 w 122"/>
                  <a:gd name="T35" fmla="*/ 192 h 231"/>
                  <a:gd name="T36" fmla="*/ 122 w 122"/>
                  <a:gd name="T37" fmla="*/ 222 h 231"/>
                  <a:gd name="T38" fmla="*/ 91 w 122"/>
                  <a:gd name="T39" fmla="*/ 231 h 23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2"/>
                  <a:gd name="T61" fmla="*/ 0 h 231"/>
                  <a:gd name="T62" fmla="*/ 122 w 122"/>
                  <a:gd name="T63" fmla="*/ 231 h 23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2" h="231">
                    <a:moveTo>
                      <a:pt x="91" y="231"/>
                    </a:moveTo>
                    <a:lnTo>
                      <a:pt x="91" y="231"/>
                    </a:lnTo>
                    <a:lnTo>
                      <a:pt x="81" y="203"/>
                    </a:lnTo>
                    <a:lnTo>
                      <a:pt x="71" y="175"/>
                    </a:lnTo>
                    <a:lnTo>
                      <a:pt x="61" y="148"/>
                    </a:lnTo>
                    <a:lnTo>
                      <a:pt x="49" y="120"/>
                    </a:lnTo>
                    <a:lnTo>
                      <a:pt x="38" y="96"/>
                    </a:lnTo>
                    <a:lnTo>
                      <a:pt x="25" y="70"/>
                    </a:lnTo>
                    <a:lnTo>
                      <a:pt x="13" y="45"/>
                    </a:lnTo>
                    <a:lnTo>
                      <a:pt x="0" y="21"/>
                    </a:lnTo>
                    <a:lnTo>
                      <a:pt x="24" y="0"/>
                    </a:lnTo>
                    <a:lnTo>
                      <a:pt x="38" y="25"/>
                    </a:lnTo>
                    <a:lnTo>
                      <a:pt x="52" y="52"/>
                    </a:lnTo>
                    <a:lnTo>
                      <a:pt x="66" y="79"/>
                    </a:lnTo>
                    <a:lnTo>
                      <a:pt x="79" y="108"/>
                    </a:lnTo>
                    <a:lnTo>
                      <a:pt x="91" y="134"/>
                    </a:lnTo>
                    <a:lnTo>
                      <a:pt x="101" y="163"/>
                    </a:lnTo>
                    <a:lnTo>
                      <a:pt x="111" y="192"/>
                    </a:lnTo>
                    <a:lnTo>
                      <a:pt x="122" y="222"/>
                    </a:lnTo>
                    <a:lnTo>
                      <a:pt x="91" y="2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09" name="Freeform 130"/>
              <p:cNvSpPr>
                <a:spLocks/>
              </p:cNvSpPr>
              <p:nvPr/>
            </p:nvSpPr>
            <p:spPr bwMode="auto">
              <a:xfrm>
                <a:off x="4107" y="2021"/>
                <a:ext cx="73" cy="206"/>
              </a:xfrm>
              <a:custGeom>
                <a:avLst/>
                <a:gdLst>
                  <a:gd name="T0" fmla="*/ 40 w 73"/>
                  <a:gd name="T1" fmla="*/ 202 h 206"/>
                  <a:gd name="T2" fmla="*/ 36 w 73"/>
                  <a:gd name="T3" fmla="*/ 179 h 206"/>
                  <a:gd name="T4" fmla="*/ 33 w 73"/>
                  <a:gd name="T5" fmla="*/ 154 h 206"/>
                  <a:gd name="T6" fmla="*/ 30 w 73"/>
                  <a:gd name="T7" fmla="*/ 130 h 206"/>
                  <a:gd name="T8" fmla="*/ 25 w 73"/>
                  <a:gd name="T9" fmla="*/ 106 h 206"/>
                  <a:gd name="T10" fmla="*/ 19 w 73"/>
                  <a:gd name="T11" fmla="*/ 82 h 206"/>
                  <a:gd name="T12" fmla="*/ 13 w 73"/>
                  <a:gd name="T13" fmla="*/ 58 h 206"/>
                  <a:gd name="T14" fmla="*/ 6 w 73"/>
                  <a:gd name="T15" fmla="*/ 34 h 206"/>
                  <a:gd name="T16" fmla="*/ 0 w 73"/>
                  <a:gd name="T17" fmla="*/ 9 h 206"/>
                  <a:gd name="T18" fmla="*/ 31 w 73"/>
                  <a:gd name="T19" fmla="*/ 0 h 206"/>
                  <a:gd name="T20" fmla="*/ 38 w 73"/>
                  <a:gd name="T21" fmla="*/ 26 h 206"/>
                  <a:gd name="T22" fmla="*/ 45 w 73"/>
                  <a:gd name="T23" fmla="*/ 51 h 206"/>
                  <a:gd name="T24" fmla="*/ 51 w 73"/>
                  <a:gd name="T25" fmla="*/ 79 h 206"/>
                  <a:gd name="T26" fmla="*/ 58 w 73"/>
                  <a:gd name="T27" fmla="*/ 104 h 206"/>
                  <a:gd name="T28" fmla="*/ 62 w 73"/>
                  <a:gd name="T29" fmla="*/ 129 h 206"/>
                  <a:gd name="T30" fmla="*/ 66 w 73"/>
                  <a:gd name="T31" fmla="*/ 155 h 206"/>
                  <a:gd name="T32" fmla="*/ 71 w 73"/>
                  <a:gd name="T33" fmla="*/ 181 h 206"/>
                  <a:gd name="T34" fmla="*/ 73 w 73"/>
                  <a:gd name="T35" fmla="*/ 206 h 206"/>
                  <a:gd name="T36" fmla="*/ 40 w 73"/>
                  <a:gd name="T37" fmla="*/ 202 h 2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3"/>
                  <a:gd name="T58" fmla="*/ 0 h 206"/>
                  <a:gd name="T59" fmla="*/ 73 w 73"/>
                  <a:gd name="T60" fmla="*/ 206 h 2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3" h="206">
                    <a:moveTo>
                      <a:pt x="40" y="202"/>
                    </a:moveTo>
                    <a:lnTo>
                      <a:pt x="36" y="179"/>
                    </a:lnTo>
                    <a:lnTo>
                      <a:pt x="33" y="154"/>
                    </a:lnTo>
                    <a:lnTo>
                      <a:pt x="30" y="130"/>
                    </a:lnTo>
                    <a:lnTo>
                      <a:pt x="25" y="106"/>
                    </a:lnTo>
                    <a:lnTo>
                      <a:pt x="19" y="82"/>
                    </a:lnTo>
                    <a:lnTo>
                      <a:pt x="13" y="58"/>
                    </a:lnTo>
                    <a:lnTo>
                      <a:pt x="6" y="34"/>
                    </a:lnTo>
                    <a:lnTo>
                      <a:pt x="0" y="9"/>
                    </a:lnTo>
                    <a:lnTo>
                      <a:pt x="31" y="0"/>
                    </a:lnTo>
                    <a:lnTo>
                      <a:pt x="38" y="26"/>
                    </a:lnTo>
                    <a:lnTo>
                      <a:pt x="45" y="51"/>
                    </a:lnTo>
                    <a:lnTo>
                      <a:pt x="51" y="79"/>
                    </a:lnTo>
                    <a:lnTo>
                      <a:pt x="58" y="104"/>
                    </a:lnTo>
                    <a:lnTo>
                      <a:pt x="62" y="129"/>
                    </a:lnTo>
                    <a:lnTo>
                      <a:pt x="66" y="155"/>
                    </a:lnTo>
                    <a:lnTo>
                      <a:pt x="71" y="181"/>
                    </a:lnTo>
                    <a:lnTo>
                      <a:pt x="73" y="206"/>
                    </a:lnTo>
                    <a:lnTo>
                      <a:pt x="40" y="20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10" name="Freeform 131"/>
              <p:cNvSpPr>
                <a:spLocks/>
              </p:cNvSpPr>
              <p:nvPr/>
            </p:nvSpPr>
            <p:spPr bwMode="auto">
              <a:xfrm>
                <a:off x="4149" y="2222"/>
                <a:ext cx="36" cy="27"/>
              </a:xfrm>
              <a:custGeom>
                <a:avLst/>
                <a:gdLst>
                  <a:gd name="T0" fmla="*/ 34 w 36"/>
                  <a:gd name="T1" fmla="*/ 3 h 27"/>
                  <a:gd name="T2" fmla="*/ 36 w 36"/>
                  <a:gd name="T3" fmla="*/ 27 h 27"/>
                  <a:gd name="T4" fmla="*/ 2 w 36"/>
                  <a:gd name="T5" fmla="*/ 23 h 27"/>
                  <a:gd name="T6" fmla="*/ 0 w 36"/>
                  <a:gd name="T7" fmla="*/ 0 h 27"/>
                  <a:gd name="T8" fmla="*/ 34 w 36"/>
                  <a:gd name="T9" fmla="*/ 3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27"/>
                  <a:gd name="T17" fmla="*/ 36 w 36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27">
                    <a:moveTo>
                      <a:pt x="34" y="3"/>
                    </a:moveTo>
                    <a:lnTo>
                      <a:pt x="36" y="27"/>
                    </a:lnTo>
                    <a:lnTo>
                      <a:pt x="2" y="23"/>
                    </a:lnTo>
                    <a:lnTo>
                      <a:pt x="0" y="0"/>
                    </a:lnTo>
                    <a:lnTo>
                      <a:pt x="34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11" name="Freeform 132"/>
              <p:cNvSpPr>
                <a:spLocks/>
              </p:cNvSpPr>
              <p:nvPr/>
            </p:nvSpPr>
            <p:spPr bwMode="auto">
              <a:xfrm>
                <a:off x="3992" y="1759"/>
                <a:ext cx="108" cy="162"/>
              </a:xfrm>
              <a:custGeom>
                <a:avLst/>
                <a:gdLst>
                  <a:gd name="T0" fmla="*/ 34 w 108"/>
                  <a:gd name="T1" fmla="*/ 162 h 162"/>
                  <a:gd name="T2" fmla="*/ 0 w 108"/>
                  <a:gd name="T3" fmla="*/ 0 h 162"/>
                  <a:gd name="T4" fmla="*/ 108 w 108"/>
                  <a:gd name="T5" fmla="*/ 107 h 162"/>
                  <a:gd name="T6" fmla="*/ 34 w 108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8"/>
                  <a:gd name="T13" fmla="*/ 0 h 162"/>
                  <a:gd name="T14" fmla="*/ 108 w 108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8" h="162">
                    <a:moveTo>
                      <a:pt x="34" y="162"/>
                    </a:moveTo>
                    <a:lnTo>
                      <a:pt x="0" y="0"/>
                    </a:lnTo>
                    <a:lnTo>
                      <a:pt x="108" y="107"/>
                    </a:lnTo>
                    <a:lnTo>
                      <a:pt x="34" y="16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12" name="Freeform 133"/>
              <p:cNvSpPr>
                <a:spLocks/>
              </p:cNvSpPr>
              <p:nvPr/>
            </p:nvSpPr>
            <p:spPr bwMode="auto">
              <a:xfrm>
                <a:off x="3986" y="1744"/>
                <a:ext cx="45" cy="175"/>
              </a:xfrm>
              <a:custGeom>
                <a:avLst/>
                <a:gdLst>
                  <a:gd name="T0" fmla="*/ 6 w 45"/>
                  <a:gd name="T1" fmla="*/ 19 h 175"/>
                  <a:gd name="T2" fmla="*/ 11 w 45"/>
                  <a:gd name="T3" fmla="*/ 14 h 175"/>
                  <a:gd name="T4" fmla="*/ 45 w 45"/>
                  <a:gd name="T5" fmla="*/ 173 h 175"/>
                  <a:gd name="T6" fmla="*/ 36 w 45"/>
                  <a:gd name="T7" fmla="*/ 175 h 175"/>
                  <a:gd name="T8" fmla="*/ 3 w 45"/>
                  <a:gd name="T9" fmla="*/ 15 h 175"/>
                  <a:gd name="T10" fmla="*/ 10 w 45"/>
                  <a:gd name="T11" fmla="*/ 11 h 175"/>
                  <a:gd name="T12" fmla="*/ 3 w 45"/>
                  <a:gd name="T13" fmla="*/ 15 h 175"/>
                  <a:gd name="T14" fmla="*/ 0 w 45"/>
                  <a:gd name="T15" fmla="*/ 0 h 175"/>
                  <a:gd name="T16" fmla="*/ 10 w 45"/>
                  <a:gd name="T17" fmla="*/ 11 h 175"/>
                  <a:gd name="T18" fmla="*/ 6 w 45"/>
                  <a:gd name="T19" fmla="*/ 19 h 1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5"/>
                  <a:gd name="T31" fmla="*/ 0 h 175"/>
                  <a:gd name="T32" fmla="*/ 45 w 45"/>
                  <a:gd name="T33" fmla="*/ 175 h 1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5" h="175">
                    <a:moveTo>
                      <a:pt x="6" y="19"/>
                    </a:moveTo>
                    <a:lnTo>
                      <a:pt x="11" y="14"/>
                    </a:lnTo>
                    <a:lnTo>
                      <a:pt x="45" y="173"/>
                    </a:lnTo>
                    <a:lnTo>
                      <a:pt x="36" y="175"/>
                    </a:lnTo>
                    <a:lnTo>
                      <a:pt x="3" y="15"/>
                    </a:lnTo>
                    <a:lnTo>
                      <a:pt x="10" y="11"/>
                    </a:lnTo>
                    <a:lnTo>
                      <a:pt x="3" y="15"/>
                    </a:lnTo>
                    <a:lnTo>
                      <a:pt x="0" y="0"/>
                    </a:lnTo>
                    <a:lnTo>
                      <a:pt x="10" y="11"/>
                    </a:lnTo>
                    <a:lnTo>
                      <a:pt x="6" y="19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13" name="Freeform 134"/>
              <p:cNvSpPr>
                <a:spLocks/>
              </p:cNvSpPr>
              <p:nvPr/>
            </p:nvSpPr>
            <p:spPr bwMode="auto">
              <a:xfrm>
                <a:off x="3989" y="1754"/>
                <a:ext cx="119" cy="118"/>
              </a:xfrm>
              <a:custGeom>
                <a:avLst/>
                <a:gdLst>
                  <a:gd name="T0" fmla="*/ 107 w 119"/>
                  <a:gd name="T1" fmla="*/ 106 h 118"/>
                  <a:gd name="T2" fmla="*/ 108 w 119"/>
                  <a:gd name="T3" fmla="*/ 115 h 118"/>
                  <a:gd name="T4" fmla="*/ 0 w 119"/>
                  <a:gd name="T5" fmla="*/ 9 h 118"/>
                  <a:gd name="T6" fmla="*/ 5 w 119"/>
                  <a:gd name="T7" fmla="*/ 0 h 118"/>
                  <a:gd name="T8" fmla="*/ 113 w 119"/>
                  <a:gd name="T9" fmla="*/ 107 h 118"/>
                  <a:gd name="T10" fmla="*/ 115 w 119"/>
                  <a:gd name="T11" fmla="*/ 118 h 118"/>
                  <a:gd name="T12" fmla="*/ 113 w 119"/>
                  <a:gd name="T13" fmla="*/ 107 h 118"/>
                  <a:gd name="T14" fmla="*/ 119 w 119"/>
                  <a:gd name="T15" fmla="*/ 113 h 118"/>
                  <a:gd name="T16" fmla="*/ 115 w 119"/>
                  <a:gd name="T17" fmla="*/ 118 h 118"/>
                  <a:gd name="T18" fmla="*/ 107 w 119"/>
                  <a:gd name="T19" fmla="*/ 106 h 1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9"/>
                  <a:gd name="T31" fmla="*/ 0 h 118"/>
                  <a:gd name="T32" fmla="*/ 119 w 119"/>
                  <a:gd name="T33" fmla="*/ 118 h 1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9" h="118">
                    <a:moveTo>
                      <a:pt x="107" y="106"/>
                    </a:moveTo>
                    <a:lnTo>
                      <a:pt x="108" y="115"/>
                    </a:lnTo>
                    <a:lnTo>
                      <a:pt x="0" y="9"/>
                    </a:lnTo>
                    <a:lnTo>
                      <a:pt x="5" y="0"/>
                    </a:lnTo>
                    <a:lnTo>
                      <a:pt x="113" y="107"/>
                    </a:lnTo>
                    <a:lnTo>
                      <a:pt x="115" y="118"/>
                    </a:lnTo>
                    <a:lnTo>
                      <a:pt x="113" y="107"/>
                    </a:lnTo>
                    <a:lnTo>
                      <a:pt x="119" y="113"/>
                    </a:lnTo>
                    <a:lnTo>
                      <a:pt x="115" y="118"/>
                    </a:lnTo>
                    <a:lnTo>
                      <a:pt x="107" y="106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14" name="Freeform 135"/>
              <p:cNvSpPr>
                <a:spLocks/>
              </p:cNvSpPr>
              <p:nvPr/>
            </p:nvSpPr>
            <p:spPr bwMode="auto">
              <a:xfrm>
                <a:off x="4022" y="1861"/>
                <a:ext cx="82" cy="68"/>
              </a:xfrm>
              <a:custGeom>
                <a:avLst/>
                <a:gdLst>
                  <a:gd name="T0" fmla="*/ 9 w 82"/>
                  <a:gd name="T1" fmla="*/ 60 h 68"/>
                  <a:gd name="T2" fmla="*/ 1 w 82"/>
                  <a:gd name="T3" fmla="*/ 53 h 68"/>
                  <a:gd name="T4" fmla="*/ 76 w 82"/>
                  <a:gd name="T5" fmla="*/ 0 h 68"/>
                  <a:gd name="T6" fmla="*/ 82 w 82"/>
                  <a:gd name="T7" fmla="*/ 12 h 68"/>
                  <a:gd name="T8" fmla="*/ 6 w 82"/>
                  <a:gd name="T9" fmla="*/ 65 h 68"/>
                  <a:gd name="T10" fmla="*/ 0 w 82"/>
                  <a:gd name="T11" fmla="*/ 60 h 68"/>
                  <a:gd name="T12" fmla="*/ 6 w 82"/>
                  <a:gd name="T13" fmla="*/ 65 h 68"/>
                  <a:gd name="T14" fmla="*/ 1 w 82"/>
                  <a:gd name="T15" fmla="*/ 68 h 68"/>
                  <a:gd name="T16" fmla="*/ 0 w 82"/>
                  <a:gd name="T17" fmla="*/ 60 h 68"/>
                  <a:gd name="T18" fmla="*/ 9 w 82"/>
                  <a:gd name="T19" fmla="*/ 60 h 6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2"/>
                  <a:gd name="T31" fmla="*/ 0 h 68"/>
                  <a:gd name="T32" fmla="*/ 82 w 82"/>
                  <a:gd name="T33" fmla="*/ 68 h 6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2" h="68">
                    <a:moveTo>
                      <a:pt x="9" y="60"/>
                    </a:moveTo>
                    <a:lnTo>
                      <a:pt x="1" y="53"/>
                    </a:lnTo>
                    <a:lnTo>
                      <a:pt x="76" y="0"/>
                    </a:lnTo>
                    <a:lnTo>
                      <a:pt x="82" y="12"/>
                    </a:lnTo>
                    <a:lnTo>
                      <a:pt x="6" y="65"/>
                    </a:lnTo>
                    <a:lnTo>
                      <a:pt x="0" y="60"/>
                    </a:lnTo>
                    <a:lnTo>
                      <a:pt x="6" y="65"/>
                    </a:lnTo>
                    <a:lnTo>
                      <a:pt x="1" y="68"/>
                    </a:lnTo>
                    <a:lnTo>
                      <a:pt x="0" y="60"/>
                    </a:lnTo>
                    <a:lnTo>
                      <a:pt x="9" y="6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15" name="Freeform 136"/>
              <p:cNvSpPr>
                <a:spLocks/>
              </p:cNvSpPr>
              <p:nvPr/>
            </p:nvSpPr>
            <p:spPr bwMode="auto">
              <a:xfrm>
                <a:off x="4009" y="1795"/>
                <a:ext cx="29" cy="32"/>
              </a:xfrm>
              <a:custGeom>
                <a:avLst/>
                <a:gdLst>
                  <a:gd name="T0" fmla="*/ 9 w 29"/>
                  <a:gd name="T1" fmla="*/ 32 h 32"/>
                  <a:gd name="T2" fmla="*/ 0 w 29"/>
                  <a:gd name="T3" fmla="*/ 16 h 32"/>
                  <a:gd name="T4" fmla="*/ 19 w 29"/>
                  <a:gd name="T5" fmla="*/ 0 h 32"/>
                  <a:gd name="T6" fmla="*/ 29 w 29"/>
                  <a:gd name="T7" fmla="*/ 15 h 32"/>
                  <a:gd name="T8" fmla="*/ 9 w 29"/>
                  <a:gd name="T9" fmla="*/ 3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32"/>
                  <a:gd name="T17" fmla="*/ 29 w 29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32">
                    <a:moveTo>
                      <a:pt x="9" y="32"/>
                    </a:moveTo>
                    <a:lnTo>
                      <a:pt x="0" y="16"/>
                    </a:lnTo>
                    <a:lnTo>
                      <a:pt x="19" y="0"/>
                    </a:lnTo>
                    <a:lnTo>
                      <a:pt x="29" y="15"/>
                    </a:lnTo>
                    <a:lnTo>
                      <a:pt x="9" y="3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16" name="Freeform 137"/>
              <p:cNvSpPr>
                <a:spLocks/>
              </p:cNvSpPr>
              <p:nvPr/>
            </p:nvSpPr>
            <p:spPr bwMode="auto">
              <a:xfrm>
                <a:off x="4019" y="1812"/>
                <a:ext cx="119" cy="228"/>
              </a:xfrm>
              <a:custGeom>
                <a:avLst/>
                <a:gdLst>
                  <a:gd name="T0" fmla="*/ 93 w 119"/>
                  <a:gd name="T1" fmla="*/ 228 h 228"/>
                  <a:gd name="T2" fmla="*/ 93 w 119"/>
                  <a:gd name="T3" fmla="*/ 228 h 228"/>
                  <a:gd name="T4" fmla="*/ 84 w 119"/>
                  <a:gd name="T5" fmla="*/ 198 h 228"/>
                  <a:gd name="T6" fmla="*/ 73 w 119"/>
                  <a:gd name="T7" fmla="*/ 172 h 228"/>
                  <a:gd name="T8" fmla="*/ 63 w 119"/>
                  <a:gd name="T9" fmla="*/ 144 h 228"/>
                  <a:gd name="T10" fmla="*/ 52 w 119"/>
                  <a:gd name="T11" fmla="*/ 117 h 228"/>
                  <a:gd name="T12" fmla="*/ 40 w 119"/>
                  <a:gd name="T13" fmla="*/ 92 h 228"/>
                  <a:gd name="T14" fmla="*/ 28 w 119"/>
                  <a:gd name="T15" fmla="*/ 66 h 228"/>
                  <a:gd name="T16" fmla="*/ 14 w 119"/>
                  <a:gd name="T17" fmla="*/ 41 h 228"/>
                  <a:gd name="T18" fmla="*/ 0 w 119"/>
                  <a:gd name="T19" fmla="*/ 18 h 228"/>
                  <a:gd name="T20" fmla="*/ 22 w 119"/>
                  <a:gd name="T21" fmla="*/ 0 h 228"/>
                  <a:gd name="T22" fmla="*/ 36 w 119"/>
                  <a:gd name="T23" fmla="*/ 25 h 228"/>
                  <a:gd name="T24" fmla="*/ 51 w 119"/>
                  <a:gd name="T25" fmla="*/ 52 h 228"/>
                  <a:gd name="T26" fmla="*/ 63 w 119"/>
                  <a:gd name="T27" fmla="*/ 78 h 228"/>
                  <a:gd name="T28" fmla="*/ 75 w 119"/>
                  <a:gd name="T29" fmla="*/ 107 h 228"/>
                  <a:gd name="T30" fmla="*/ 88 w 119"/>
                  <a:gd name="T31" fmla="*/ 133 h 228"/>
                  <a:gd name="T32" fmla="*/ 99 w 119"/>
                  <a:gd name="T33" fmla="*/ 163 h 228"/>
                  <a:gd name="T34" fmla="*/ 108 w 119"/>
                  <a:gd name="T35" fmla="*/ 190 h 228"/>
                  <a:gd name="T36" fmla="*/ 119 w 119"/>
                  <a:gd name="T37" fmla="*/ 220 h 228"/>
                  <a:gd name="T38" fmla="*/ 93 w 119"/>
                  <a:gd name="T39" fmla="*/ 228 h 22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9"/>
                  <a:gd name="T61" fmla="*/ 0 h 228"/>
                  <a:gd name="T62" fmla="*/ 119 w 119"/>
                  <a:gd name="T63" fmla="*/ 228 h 22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9" h="228">
                    <a:moveTo>
                      <a:pt x="93" y="228"/>
                    </a:moveTo>
                    <a:lnTo>
                      <a:pt x="93" y="228"/>
                    </a:lnTo>
                    <a:lnTo>
                      <a:pt x="84" y="198"/>
                    </a:lnTo>
                    <a:lnTo>
                      <a:pt x="73" y="172"/>
                    </a:lnTo>
                    <a:lnTo>
                      <a:pt x="63" y="144"/>
                    </a:lnTo>
                    <a:lnTo>
                      <a:pt x="52" y="117"/>
                    </a:lnTo>
                    <a:lnTo>
                      <a:pt x="40" y="92"/>
                    </a:lnTo>
                    <a:lnTo>
                      <a:pt x="28" y="66"/>
                    </a:lnTo>
                    <a:lnTo>
                      <a:pt x="14" y="41"/>
                    </a:lnTo>
                    <a:lnTo>
                      <a:pt x="0" y="18"/>
                    </a:lnTo>
                    <a:lnTo>
                      <a:pt x="22" y="0"/>
                    </a:lnTo>
                    <a:lnTo>
                      <a:pt x="36" y="25"/>
                    </a:lnTo>
                    <a:lnTo>
                      <a:pt x="51" y="52"/>
                    </a:lnTo>
                    <a:lnTo>
                      <a:pt x="63" y="78"/>
                    </a:lnTo>
                    <a:lnTo>
                      <a:pt x="75" y="107"/>
                    </a:lnTo>
                    <a:lnTo>
                      <a:pt x="88" y="133"/>
                    </a:lnTo>
                    <a:lnTo>
                      <a:pt x="99" y="163"/>
                    </a:lnTo>
                    <a:lnTo>
                      <a:pt x="108" y="190"/>
                    </a:lnTo>
                    <a:lnTo>
                      <a:pt x="119" y="220"/>
                    </a:lnTo>
                    <a:lnTo>
                      <a:pt x="93" y="228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17" name="Freeform 138"/>
              <p:cNvSpPr>
                <a:spLocks/>
              </p:cNvSpPr>
              <p:nvPr/>
            </p:nvSpPr>
            <p:spPr bwMode="auto">
              <a:xfrm>
                <a:off x="4116" y="2033"/>
                <a:ext cx="68" cy="205"/>
              </a:xfrm>
              <a:custGeom>
                <a:avLst/>
                <a:gdLst>
                  <a:gd name="T0" fmla="*/ 41 w 68"/>
                  <a:gd name="T1" fmla="*/ 203 h 205"/>
                  <a:gd name="T2" fmla="*/ 37 w 68"/>
                  <a:gd name="T3" fmla="*/ 179 h 205"/>
                  <a:gd name="T4" fmla="*/ 34 w 68"/>
                  <a:gd name="T5" fmla="*/ 154 h 205"/>
                  <a:gd name="T6" fmla="*/ 31 w 68"/>
                  <a:gd name="T7" fmla="*/ 129 h 205"/>
                  <a:gd name="T8" fmla="*/ 26 w 68"/>
                  <a:gd name="T9" fmla="*/ 106 h 205"/>
                  <a:gd name="T10" fmla="*/ 20 w 68"/>
                  <a:gd name="T11" fmla="*/ 81 h 205"/>
                  <a:gd name="T12" fmla="*/ 13 w 68"/>
                  <a:gd name="T13" fmla="*/ 56 h 205"/>
                  <a:gd name="T14" fmla="*/ 8 w 68"/>
                  <a:gd name="T15" fmla="*/ 32 h 205"/>
                  <a:gd name="T16" fmla="*/ 0 w 68"/>
                  <a:gd name="T17" fmla="*/ 7 h 205"/>
                  <a:gd name="T18" fmla="*/ 26 w 68"/>
                  <a:gd name="T19" fmla="*/ 0 h 205"/>
                  <a:gd name="T20" fmla="*/ 34 w 68"/>
                  <a:gd name="T21" fmla="*/ 26 h 205"/>
                  <a:gd name="T22" fmla="*/ 41 w 68"/>
                  <a:gd name="T23" fmla="*/ 51 h 205"/>
                  <a:gd name="T24" fmla="*/ 48 w 68"/>
                  <a:gd name="T25" fmla="*/ 79 h 205"/>
                  <a:gd name="T26" fmla="*/ 52 w 68"/>
                  <a:gd name="T27" fmla="*/ 103 h 205"/>
                  <a:gd name="T28" fmla="*/ 57 w 68"/>
                  <a:gd name="T29" fmla="*/ 129 h 205"/>
                  <a:gd name="T30" fmla="*/ 63 w 68"/>
                  <a:gd name="T31" fmla="*/ 156 h 205"/>
                  <a:gd name="T32" fmla="*/ 66 w 68"/>
                  <a:gd name="T33" fmla="*/ 180 h 205"/>
                  <a:gd name="T34" fmla="*/ 68 w 68"/>
                  <a:gd name="T35" fmla="*/ 205 h 205"/>
                  <a:gd name="T36" fmla="*/ 41 w 68"/>
                  <a:gd name="T37" fmla="*/ 203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8"/>
                  <a:gd name="T58" fmla="*/ 0 h 205"/>
                  <a:gd name="T59" fmla="*/ 68 w 68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8" h="205">
                    <a:moveTo>
                      <a:pt x="41" y="203"/>
                    </a:moveTo>
                    <a:lnTo>
                      <a:pt x="37" y="179"/>
                    </a:lnTo>
                    <a:lnTo>
                      <a:pt x="34" y="154"/>
                    </a:lnTo>
                    <a:lnTo>
                      <a:pt x="31" y="129"/>
                    </a:lnTo>
                    <a:lnTo>
                      <a:pt x="26" y="106"/>
                    </a:lnTo>
                    <a:lnTo>
                      <a:pt x="20" y="81"/>
                    </a:lnTo>
                    <a:lnTo>
                      <a:pt x="13" y="56"/>
                    </a:lnTo>
                    <a:lnTo>
                      <a:pt x="8" y="32"/>
                    </a:lnTo>
                    <a:lnTo>
                      <a:pt x="0" y="7"/>
                    </a:lnTo>
                    <a:lnTo>
                      <a:pt x="26" y="0"/>
                    </a:lnTo>
                    <a:lnTo>
                      <a:pt x="34" y="26"/>
                    </a:lnTo>
                    <a:lnTo>
                      <a:pt x="41" y="51"/>
                    </a:lnTo>
                    <a:lnTo>
                      <a:pt x="48" y="79"/>
                    </a:lnTo>
                    <a:lnTo>
                      <a:pt x="52" y="103"/>
                    </a:lnTo>
                    <a:lnTo>
                      <a:pt x="57" y="129"/>
                    </a:lnTo>
                    <a:lnTo>
                      <a:pt x="63" y="156"/>
                    </a:lnTo>
                    <a:lnTo>
                      <a:pt x="66" y="180"/>
                    </a:lnTo>
                    <a:lnTo>
                      <a:pt x="68" y="205"/>
                    </a:lnTo>
                    <a:lnTo>
                      <a:pt x="41" y="203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18" name="Freeform 139"/>
              <p:cNvSpPr>
                <a:spLocks/>
              </p:cNvSpPr>
              <p:nvPr/>
            </p:nvSpPr>
            <p:spPr bwMode="auto">
              <a:xfrm>
                <a:off x="4160" y="2235"/>
                <a:ext cx="29" cy="20"/>
              </a:xfrm>
              <a:custGeom>
                <a:avLst/>
                <a:gdLst>
                  <a:gd name="T0" fmla="*/ 27 w 29"/>
                  <a:gd name="T1" fmla="*/ 2 h 20"/>
                  <a:gd name="T2" fmla="*/ 29 w 29"/>
                  <a:gd name="T3" fmla="*/ 20 h 20"/>
                  <a:gd name="T4" fmla="*/ 3 w 29"/>
                  <a:gd name="T5" fmla="*/ 18 h 20"/>
                  <a:gd name="T6" fmla="*/ 0 w 29"/>
                  <a:gd name="T7" fmla="*/ 0 h 20"/>
                  <a:gd name="T8" fmla="*/ 27 w 29"/>
                  <a:gd name="T9" fmla="*/ 2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20"/>
                  <a:gd name="T17" fmla="*/ 29 w 29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20">
                    <a:moveTo>
                      <a:pt x="27" y="2"/>
                    </a:moveTo>
                    <a:lnTo>
                      <a:pt x="29" y="20"/>
                    </a:lnTo>
                    <a:lnTo>
                      <a:pt x="3" y="18"/>
                    </a:lnTo>
                    <a:lnTo>
                      <a:pt x="0" y="0"/>
                    </a:lnTo>
                    <a:lnTo>
                      <a:pt x="27" y="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19" name="Freeform 140"/>
              <p:cNvSpPr>
                <a:spLocks/>
              </p:cNvSpPr>
              <p:nvPr/>
            </p:nvSpPr>
            <p:spPr bwMode="auto">
              <a:xfrm>
                <a:off x="3968" y="1726"/>
                <a:ext cx="113" cy="163"/>
              </a:xfrm>
              <a:custGeom>
                <a:avLst/>
                <a:gdLst>
                  <a:gd name="T0" fmla="*/ 41 w 113"/>
                  <a:gd name="T1" fmla="*/ 163 h 163"/>
                  <a:gd name="T2" fmla="*/ 0 w 113"/>
                  <a:gd name="T3" fmla="*/ 0 h 163"/>
                  <a:gd name="T4" fmla="*/ 113 w 113"/>
                  <a:gd name="T5" fmla="*/ 102 h 163"/>
                  <a:gd name="T6" fmla="*/ 41 w 113"/>
                  <a:gd name="T7" fmla="*/ 163 h 1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3"/>
                  <a:gd name="T13" fmla="*/ 0 h 163"/>
                  <a:gd name="T14" fmla="*/ 113 w 113"/>
                  <a:gd name="T15" fmla="*/ 163 h 1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3" h="163">
                    <a:moveTo>
                      <a:pt x="41" y="163"/>
                    </a:moveTo>
                    <a:lnTo>
                      <a:pt x="0" y="0"/>
                    </a:lnTo>
                    <a:lnTo>
                      <a:pt x="113" y="102"/>
                    </a:lnTo>
                    <a:lnTo>
                      <a:pt x="41" y="1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20" name="Freeform 141"/>
              <p:cNvSpPr>
                <a:spLocks/>
              </p:cNvSpPr>
              <p:nvPr/>
            </p:nvSpPr>
            <p:spPr bwMode="auto">
              <a:xfrm>
                <a:off x="3956" y="1706"/>
                <a:ext cx="60" cy="185"/>
              </a:xfrm>
              <a:custGeom>
                <a:avLst/>
                <a:gdLst>
                  <a:gd name="T0" fmla="*/ 11 w 60"/>
                  <a:gd name="T1" fmla="*/ 29 h 185"/>
                  <a:gd name="T2" fmla="*/ 21 w 60"/>
                  <a:gd name="T3" fmla="*/ 20 h 185"/>
                  <a:gd name="T4" fmla="*/ 60 w 60"/>
                  <a:gd name="T5" fmla="*/ 182 h 185"/>
                  <a:gd name="T6" fmla="*/ 45 w 60"/>
                  <a:gd name="T7" fmla="*/ 185 h 185"/>
                  <a:gd name="T8" fmla="*/ 6 w 60"/>
                  <a:gd name="T9" fmla="*/ 23 h 185"/>
                  <a:gd name="T10" fmla="*/ 17 w 60"/>
                  <a:gd name="T11" fmla="*/ 15 h 185"/>
                  <a:gd name="T12" fmla="*/ 6 w 60"/>
                  <a:gd name="T13" fmla="*/ 23 h 185"/>
                  <a:gd name="T14" fmla="*/ 0 w 60"/>
                  <a:gd name="T15" fmla="*/ 0 h 185"/>
                  <a:gd name="T16" fmla="*/ 17 w 60"/>
                  <a:gd name="T17" fmla="*/ 15 h 185"/>
                  <a:gd name="T18" fmla="*/ 11 w 60"/>
                  <a:gd name="T19" fmla="*/ 29 h 1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0"/>
                  <a:gd name="T31" fmla="*/ 0 h 185"/>
                  <a:gd name="T32" fmla="*/ 60 w 60"/>
                  <a:gd name="T33" fmla="*/ 185 h 1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0" h="185">
                    <a:moveTo>
                      <a:pt x="11" y="29"/>
                    </a:moveTo>
                    <a:lnTo>
                      <a:pt x="21" y="20"/>
                    </a:lnTo>
                    <a:lnTo>
                      <a:pt x="60" y="182"/>
                    </a:lnTo>
                    <a:lnTo>
                      <a:pt x="45" y="185"/>
                    </a:lnTo>
                    <a:lnTo>
                      <a:pt x="6" y="23"/>
                    </a:lnTo>
                    <a:lnTo>
                      <a:pt x="17" y="15"/>
                    </a:lnTo>
                    <a:lnTo>
                      <a:pt x="6" y="23"/>
                    </a:lnTo>
                    <a:lnTo>
                      <a:pt x="0" y="0"/>
                    </a:lnTo>
                    <a:lnTo>
                      <a:pt x="17" y="15"/>
                    </a:lnTo>
                    <a:lnTo>
                      <a:pt x="11" y="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21" name="Freeform 142"/>
              <p:cNvSpPr>
                <a:spLocks/>
              </p:cNvSpPr>
              <p:nvPr/>
            </p:nvSpPr>
            <p:spPr bwMode="auto">
              <a:xfrm>
                <a:off x="3966" y="1722"/>
                <a:ext cx="127" cy="115"/>
              </a:xfrm>
              <a:custGeom>
                <a:avLst/>
                <a:gdLst>
                  <a:gd name="T0" fmla="*/ 108 w 127"/>
                  <a:gd name="T1" fmla="*/ 98 h 115"/>
                  <a:gd name="T2" fmla="*/ 110 w 127"/>
                  <a:gd name="T3" fmla="*/ 114 h 115"/>
                  <a:gd name="T4" fmla="*/ 0 w 127"/>
                  <a:gd name="T5" fmla="*/ 15 h 115"/>
                  <a:gd name="T6" fmla="*/ 5 w 127"/>
                  <a:gd name="T7" fmla="*/ 0 h 115"/>
                  <a:gd name="T8" fmla="*/ 116 w 127"/>
                  <a:gd name="T9" fmla="*/ 99 h 115"/>
                  <a:gd name="T10" fmla="*/ 119 w 127"/>
                  <a:gd name="T11" fmla="*/ 115 h 115"/>
                  <a:gd name="T12" fmla="*/ 116 w 127"/>
                  <a:gd name="T13" fmla="*/ 99 h 115"/>
                  <a:gd name="T14" fmla="*/ 127 w 127"/>
                  <a:gd name="T15" fmla="*/ 109 h 115"/>
                  <a:gd name="T16" fmla="*/ 119 w 127"/>
                  <a:gd name="T17" fmla="*/ 115 h 115"/>
                  <a:gd name="T18" fmla="*/ 108 w 127"/>
                  <a:gd name="T19" fmla="*/ 98 h 1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"/>
                  <a:gd name="T31" fmla="*/ 0 h 115"/>
                  <a:gd name="T32" fmla="*/ 127 w 127"/>
                  <a:gd name="T33" fmla="*/ 115 h 11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" h="115">
                    <a:moveTo>
                      <a:pt x="108" y="98"/>
                    </a:moveTo>
                    <a:lnTo>
                      <a:pt x="110" y="114"/>
                    </a:lnTo>
                    <a:lnTo>
                      <a:pt x="0" y="15"/>
                    </a:lnTo>
                    <a:lnTo>
                      <a:pt x="5" y="0"/>
                    </a:lnTo>
                    <a:lnTo>
                      <a:pt x="116" y="99"/>
                    </a:lnTo>
                    <a:lnTo>
                      <a:pt x="119" y="115"/>
                    </a:lnTo>
                    <a:lnTo>
                      <a:pt x="116" y="99"/>
                    </a:lnTo>
                    <a:lnTo>
                      <a:pt x="127" y="109"/>
                    </a:lnTo>
                    <a:lnTo>
                      <a:pt x="119" y="115"/>
                    </a:lnTo>
                    <a:lnTo>
                      <a:pt x="108" y="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22" name="Freeform 143"/>
              <p:cNvSpPr>
                <a:spLocks/>
              </p:cNvSpPr>
              <p:nvPr/>
            </p:nvSpPr>
            <p:spPr bwMode="auto">
              <a:xfrm>
                <a:off x="4002" y="1821"/>
                <a:ext cx="86" cy="85"/>
              </a:xfrm>
              <a:custGeom>
                <a:avLst/>
                <a:gdLst>
                  <a:gd name="T0" fmla="*/ 15 w 86"/>
                  <a:gd name="T1" fmla="*/ 68 h 85"/>
                  <a:gd name="T2" fmla="*/ 2 w 86"/>
                  <a:gd name="T3" fmla="*/ 60 h 85"/>
                  <a:gd name="T4" fmla="*/ 75 w 86"/>
                  <a:gd name="T5" fmla="*/ 0 h 85"/>
                  <a:gd name="T6" fmla="*/ 86 w 86"/>
                  <a:gd name="T7" fmla="*/ 17 h 85"/>
                  <a:gd name="T8" fmla="*/ 13 w 86"/>
                  <a:gd name="T9" fmla="*/ 78 h 85"/>
                  <a:gd name="T10" fmla="*/ 0 w 86"/>
                  <a:gd name="T11" fmla="*/ 70 h 85"/>
                  <a:gd name="T12" fmla="*/ 13 w 86"/>
                  <a:gd name="T13" fmla="*/ 78 h 85"/>
                  <a:gd name="T14" fmla="*/ 5 w 86"/>
                  <a:gd name="T15" fmla="*/ 85 h 85"/>
                  <a:gd name="T16" fmla="*/ 0 w 86"/>
                  <a:gd name="T17" fmla="*/ 70 h 85"/>
                  <a:gd name="T18" fmla="*/ 15 w 86"/>
                  <a:gd name="T19" fmla="*/ 68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6"/>
                  <a:gd name="T31" fmla="*/ 0 h 85"/>
                  <a:gd name="T32" fmla="*/ 86 w 86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6" h="85">
                    <a:moveTo>
                      <a:pt x="15" y="68"/>
                    </a:moveTo>
                    <a:lnTo>
                      <a:pt x="2" y="60"/>
                    </a:lnTo>
                    <a:lnTo>
                      <a:pt x="75" y="0"/>
                    </a:lnTo>
                    <a:lnTo>
                      <a:pt x="86" y="17"/>
                    </a:lnTo>
                    <a:lnTo>
                      <a:pt x="13" y="78"/>
                    </a:lnTo>
                    <a:lnTo>
                      <a:pt x="0" y="70"/>
                    </a:lnTo>
                    <a:lnTo>
                      <a:pt x="13" y="78"/>
                    </a:lnTo>
                    <a:lnTo>
                      <a:pt x="5" y="85"/>
                    </a:lnTo>
                    <a:lnTo>
                      <a:pt x="0" y="70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23" name="Freeform 144"/>
              <p:cNvSpPr>
                <a:spLocks/>
              </p:cNvSpPr>
              <p:nvPr/>
            </p:nvSpPr>
            <p:spPr bwMode="auto">
              <a:xfrm>
                <a:off x="3977" y="1743"/>
                <a:ext cx="35" cy="42"/>
              </a:xfrm>
              <a:custGeom>
                <a:avLst/>
                <a:gdLst>
                  <a:gd name="T0" fmla="*/ 11 w 35"/>
                  <a:gd name="T1" fmla="*/ 42 h 42"/>
                  <a:gd name="T2" fmla="*/ 0 w 35"/>
                  <a:gd name="T3" fmla="*/ 23 h 42"/>
                  <a:gd name="T4" fmla="*/ 23 w 35"/>
                  <a:gd name="T5" fmla="*/ 0 h 42"/>
                  <a:gd name="T6" fmla="*/ 35 w 35"/>
                  <a:gd name="T7" fmla="*/ 20 h 42"/>
                  <a:gd name="T8" fmla="*/ 11 w 35"/>
                  <a:gd name="T9" fmla="*/ 42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42"/>
                  <a:gd name="T17" fmla="*/ 35 w 35"/>
                  <a:gd name="T18" fmla="*/ 42 h 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42">
                    <a:moveTo>
                      <a:pt x="11" y="42"/>
                    </a:moveTo>
                    <a:lnTo>
                      <a:pt x="0" y="23"/>
                    </a:lnTo>
                    <a:lnTo>
                      <a:pt x="23" y="0"/>
                    </a:lnTo>
                    <a:lnTo>
                      <a:pt x="35" y="20"/>
                    </a:lnTo>
                    <a:lnTo>
                      <a:pt x="11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24" name="Freeform 145"/>
              <p:cNvSpPr>
                <a:spLocks/>
              </p:cNvSpPr>
              <p:nvPr/>
            </p:nvSpPr>
            <p:spPr bwMode="auto">
              <a:xfrm>
                <a:off x="3991" y="1762"/>
                <a:ext cx="129" cy="228"/>
              </a:xfrm>
              <a:custGeom>
                <a:avLst/>
                <a:gdLst>
                  <a:gd name="T0" fmla="*/ 99 w 129"/>
                  <a:gd name="T1" fmla="*/ 228 h 228"/>
                  <a:gd name="T2" fmla="*/ 99 w 129"/>
                  <a:gd name="T3" fmla="*/ 228 h 228"/>
                  <a:gd name="T4" fmla="*/ 88 w 129"/>
                  <a:gd name="T5" fmla="*/ 200 h 228"/>
                  <a:gd name="T6" fmla="*/ 78 w 129"/>
                  <a:gd name="T7" fmla="*/ 173 h 228"/>
                  <a:gd name="T8" fmla="*/ 67 w 129"/>
                  <a:gd name="T9" fmla="*/ 147 h 228"/>
                  <a:gd name="T10" fmla="*/ 54 w 129"/>
                  <a:gd name="T11" fmla="*/ 121 h 228"/>
                  <a:gd name="T12" fmla="*/ 40 w 129"/>
                  <a:gd name="T13" fmla="*/ 95 h 228"/>
                  <a:gd name="T14" fmla="*/ 27 w 129"/>
                  <a:gd name="T15" fmla="*/ 70 h 228"/>
                  <a:gd name="T16" fmla="*/ 13 w 129"/>
                  <a:gd name="T17" fmla="*/ 45 h 228"/>
                  <a:gd name="T18" fmla="*/ 0 w 129"/>
                  <a:gd name="T19" fmla="*/ 23 h 228"/>
                  <a:gd name="T20" fmla="*/ 23 w 129"/>
                  <a:gd name="T21" fmla="*/ 0 h 228"/>
                  <a:gd name="T22" fmla="*/ 39 w 129"/>
                  <a:gd name="T23" fmla="*/ 25 h 228"/>
                  <a:gd name="T24" fmla="*/ 54 w 129"/>
                  <a:gd name="T25" fmla="*/ 51 h 228"/>
                  <a:gd name="T26" fmla="*/ 69 w 129"/>
                  <a:gd name="T27" fmla="*/ 78 h 228"/>
                  <a:gd name="T28" fmla="*/ 82 w 129"/>
                  <a:gd name="T29" fmla="*/ 104 h 228"/>
                  <a:gd name="T30" fmla="*/ 94 w 129"/>
                  <a:gd name="T31" fmla="*/ 131 h 228"/>
                  <a:gd name="T32" fmla="*/ 107 w 129"/>
                  <a:gd name="T33" fmla="*/ 160 h 228"/>
                  <a:gd name="T34" fmla="*/ 118 w 129"/>
                  <a:gd name="T35" fmla="*/ 188 h 228"/>
                  <a:gd name="T36" fmla="*/ 129 w 129"/>
                  <a:gd name="T37" fmla="*/ 216 h 228"/>
                  <a:gd name="T38" fmla="*/ 99 w 129"/>
                  <a:gd name="T39" fmla="*/ 228 h 22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9"/>
                  <a:gd name="T61" fmla="*/ 0 h 228"/>
                  <a:gd name="T62" fmla="*/ 129 w 129"/>
                  <a:gd name="T63" fmla="*/ 228 h 22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9" h="228">
                    <a:moveTo>
                      <a:pt x="99" y="228"/>
                    </a:moveTo>
                    <a:lnTo>
                      <a:pt x="99" y="228"/>
                    </a:lnTo>
                    <a:lnTo>
                      <a:pt x="88" y="200"/>
                    </a:lnTo>
                    <a:lnTo>
                      <a:pt x="78" y="173"/>
                    </a:lnTo>
                    <a:lnTo>
                      <a:pt x="67" y="147"/>
                    </a:lnTo>
                    <a:lnTo>
                      <a:pt x="54" y="121"/>
                    </a:lnTo>
                    <a:lnTo>
                      <a:pt x="40" y="95"/>
                    </a:lnTo>
                    <a:lnTo>
                      <a:pt x="27" y="70"/>
                    </a:lnTo>
                    <a:lnTo>
                      <a:pt x="13" y="45"/>
                    </a:lnTo>
                    <a:lnTo>
                      <a:pt x="0" y="23"/>
                    </a:lnTo>
                    <a:lnTo>
                      <a:pt x="23" y="0"/>
                    </a:lnTo>
                    <a:lnTo>
                      <a:pt x="39" y="25"/>
                    </a:lnTo>
                    <a:lnTo>
                      <a:pt x="54" y="51"/>
                    </a:lnTo>
                    <a:lnTo>
                      <a:pt x="69" y="78"/>
                    </a:lnTo>
                    <a:lnTo>
                      <a:pt x="82" y="104"/>
                    </a:lnTo>
                    <a:lnTo>
                      <a:pt x="94" y="131"/>
                    </a:lnTo>
                    <a:lnTo>
                      <a:pt x="107" y="160"/>
                    </a:lnTo>
                    <a:lnTo>
                      <a:pt x="118" y="188"/>
                    </a:lnTo>
                    <a:lnTo>
                      <a:pt x="129" y="216"/>
                    </a:lnTo>
                    <a:lnTo>
                      <a:pt x="99" y="2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25" name="Freeform 146"/>
              <p:cNvSpPr>
                <a:spLocks/>
              </p:cNvSpPr>
              <p:nvPr/>
            </p:nvSpPr>
            <p:spPr bwMode="auto">
              <a:xfrm>
                <a:off x="4093" y="1983"/>
                <a:ext cx="80" cy="205"/>
              </a:xfrm>
              <a:custGeom>
                <a:avLst/>
                <a:gdLst>
                  <a:gd name="T0" fmla="*/ 47 w 80"/>
                  <a:gd name="T1" fmla="*/ 204 h 205"/>
                  <a:gd name="T2" fmla="*/ 44 w 80"/>
                  <a:gd name="T3" fmla="*/ 180 h 205"/>
                  <a:gd name="T4" fmla="*/ 40 w 80"/>
                  <a:gd name="T5" fmla="*/ 156 h 205"/>
                  <a:gd name="T6" fmla="*/ 35 w 80"/>
                  <a:gd name="T7" fmla="*/ 130 h 205"/>
                  <a:gd name="T8" fmla="*/ 30 w 80"/>
                  <a:gd name="T9" fmla="*/ 108 h 205"/>
                  <a:gd name="T10" fmla="*/ 24 w 80"/>
                  <a:gd name="T11" fmla="*/ 83 h 205"/>
                  <a:gd name="T12" fmla="*/ 16 w 80"/>
                  <a:gd name="T13" fmla="*/ 59 h 205"/>
                  <a:gd name="T14" fmla="*/ 9 w 80"/>
                  <a:gd name="T15" fmla="*/ 35 h 205"/>
                  <a:gd name="T16" fmla="*/ 0 w 80"/>
                  <a:gd name="T17" fmla="*/ 10 h 205"/>
                  <a:gd name="T18" fmla="*/ 31 w 80"/>
                  <a:gd name="T19" fmla="*/ 0 h 205"/>
                  <a:gd name="T20" fmla="*/ 40 w 80"/>
                  <a:gd name="T21" fmla="*/ 24 h 205"/>
                  <a:gd name="T22" fmla="*/ 46 w 80"/>
                  <a:gd name="T23" fmla="*/ 51 h 205"/>
                  <a:gd name="T24" fmla="*/ 55 w 80"/>
                  <a:gd name="T25" fmla="*/ 77 h 205"/>
                  <a:gd name="T26" fmla="*/ 61 w 80"/>
                  <a:gd name="T27" fmla="*/ 102 h 205"/>
                  <a:gd name="T28" fmla="*/ 67 w 80"/>
                  <a:gd name="T29" fmla="*/ 128 h 205"/>
                  <a:gd name="T30" fmla="*/ 73 w 80"/>
                  <a:gd name="T31" fmla="*/ 155 h 205"/>
                  <a:gd name="T32" fmla="*/ 77 w 80"/>
                  <a:gd name="T33" fmla="*/ 180 h 205"/>
                  <a:gd name="T34" fmla="*/ 80 w 80"/>
                  <a:gd name="T35" fmla="*/ 205 h 205"/>
                  <a:gd name="T36" fmla="*/ 47 w 80"/>
                  <a:gd name="T37" fmla="*/ 204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0"/>
                  <a:gd name="T58" fmla="*/ 0 h 205"/>
                  <a:gd name="T59" fmla="*/ 80 w 80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0" h="205">
                    <a:moveTo>
                      <a:pt x="47" y="204"/>
                    </a:moveTo>
                    <a:lnTo>
                      <a:pt x="44" y="180"/>
                    </a:lnTo>
                    <a:lnTo>
                      <a:pt x="40" y="156"/>
                    </a:lnTo>
                    <a:lnTo>
                      <a:pt x="35" y="130"/>
                    </a:lnTo>
                    <a:lnTo>
                      <a:pt x="30" y="108"/>
                    </a:lnTo>
                    <a:lnTo>
                      <a:pt x="24" y="83"/>
                    </a:lnTo>
                    <a:lnTo>
                      <a:pt x="16" y="59"/>
                    </a:lnTo>
                    <a:lnTo>
                      <a:pt x="9" y="35"/>
                    </a:lnTo>
                    <a:lnTo>
                      <a:pt x="0" y="10"/>
                    </a:lnTo>
                    <a:lnTo>
                      <a:pt x="31" y="0"/>
                    </a:lnTo>
                    <a:lnTo>
                      <a:pt x="40" y="24"/>
                    </a:lnTo>
                    <a:lnTo>
                      <a:pt x="46" y="51"/>
                    </a:lnTo>
                    <a:lnTo>
                      <a:pt x="55" y="77"/>
                    </a:lnTo>
                    <a:lnTo>
                      <a:pt x="61" y="102"/>
                    </a:lnTo>
                    <a:lnTo>
                      <a:pt x="67" y="128"/>
                    </a:lnTo>
                    <a:lnTo>
                      <a:pt x="73" y="155"/>
                    </a:lnTo>
                    <a:lnTo>
                      <a:pt x="77" y="180"/>
                    </a:lnTo>
                    <a:lnTo>
                      <a:pt x="80" y="205"/>
                    </a:lnTo>
                    <a:lnTo>
                      <a:pt x="47" y="20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26" name="Freeform 147"/>
              <p:cNvSpPr>
                <a:spLocks/>
              </p:cNvSpPr>
              <p:nvPr/>
            </p:nvSpPr>
            <p:spPr bwMode="auto">
              <a:xfrm>
                <a:off x="4143" y="2187"/>
                <a:ext cx="38" cy="22"/>
              </a:xfrm>
              <a:custGeom>
                <a:avLst/>
                <a:gdLst>
                  <a:gd name="T0" fmla="*/ 35 w 38"/>
                  <a:gd name="T1" fmla="*/ 1 h 22"/>
                  <a:gd name="T2" fmla="*/ 38 w 38"/>
                  <a:gd name="T3" fmla="*/ 22 h 22"/>
                  <a:gd name="T4" fmla="*/ 4 w 38"/>
                  <a:gd name="T5" fmla="*/ 21 h 22"/>
                  <a:gd name="T6" fmla="*/ 0 w 38"/>
                  <a:gd name="T7" fmla="*/ 0 h 22"/>
                  <a:gd name="T8" fmla="*/ 35 w 38"/>
                  <a:gd name="T9" fmla="*/ 1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22"/>
                  <a:gd name="T17" fmla="*/ 38 w 38"/>
                  <a:gd name="T18" fmla="*/ 22 h 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22">
                    <a:moveTo>
                      <a:pt x="35" y="1"/>
                    </a:moveTo>
                    <a:lnTo>
                      <a:pt x="38" y="22"/>
                    </a:lnTo>
                    <a:lnTo>
                      <a:pt x="4" y="21"/>
                    </a:lnTo>
                    <a:lnTo>
                      <a:pt x="0" y="0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27" name="Freeform 148"/>
              <p:cNvSpPr>
                <a:spLocks/>
              </p:cNvSpPr>
              <p:nvPr/>
            </p:nvSpPr>
            <p:spPr bwMode="auto">
              <a:xfrm>
                <a:off x="3968" y="1726"/>
                <a:ext cx="113" cy="163"/>
              </a:xfrm>
              <a:custGeom>
                <a:avLst/>
                <a:gdLst>
                  <a:gd name="T0" fmla="*/ 41 w 113"/>
                  <a:gd name="T1" fmla="*/ 163 h 163"/>
                  <a:gd name="T2" fmla="*/ 0 w 113"/>
                  <a:gd name="T3" fmla="*/ 0 h 163"/>
                  <a:gd name="T4" fmla="*/ 113 w 113"/>
                  <a:gd name="T5" fmla="*/ 102 h 163"/>
                  <a:gd name="T6" fmla="*/ 41 w 113"/>
                  <a:gd name="T7" fmla="*/ 163 h 1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3"/>
                  <a:gd name="T13" fmla="*/ 0 h 163"/>
                  <a:gd name="T14" fmla="*/ 113 w 113"/>
                  <a:gd name="T15" fmla="*/ 163 h 1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3" h="163">
                    <a:moveTo>
                      <a:pt x="41" y="163"/>
                    </a:moveTo>
                    <a:lnTo>
                      <a:pt x="0" y="0"/>
                    </a:lnTo>
                    <a:lnTo>
                      <a:pt x="113" y="102"/>
                    </a:lnTo>
                    <a:lnTo>
                      <a:pt x="41" y="163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28" name="Freeform 149"/>
              <p:cNvSpPr>
                <a:spLocks/>
              </p:cNvSpPr>
              <p:nvPr/>
            </p:nvSpPr>
            <p:spPr bwMode="auto">
              <a:xfrm>
                <a:off x="3962" y="1713"/>
                <a:ext cx="51" cy="176"/>
              </a:xfrm>
              <a:custGeom>
                <a:avLst/>
                <a:gdLst>
                  <a:gd name="T0" fmla="*/ 5 w 51"/>
                  <a:gd name="T1" fmla="*/ 19 h 176"/>
                  <a:gd name="T2" fmla="*/ 11 w 51"/>
                  <a:gd name="T3" fmla="*/ 13 h 176"/>
                  <a:gd name="T4" fmla="*/ 51 w 51"/>
                  <a:gd name="T5" fmla="*/ 175 h 176"/>
                  <a:gd name="T6" fmla="*/ 42 w 51"/>
                  <a:gd name="T7" fmla="*/ 176 h 176"/>
                  <a:gd name="T8" fmla="*/ 2 w 51"/>
                  <a:gd name="T9" fmla="*/ 14 h 176"/>
                  <a:gd name="T10" fmla="*/ 8 w 51"/>
                  <a:gd name="T11" fmla="*/ 9 h 176"/>
                  <a:gd name="T12" fmla="*/ 2 w 51"/>
                  <a:gd name="T13" fmla="*/ 14 h 176"/>
                  <a:gd name="T14" fmla="*/ 0 w 51"/>
                  <a:gd name="T15" fmla="*/ 0 h 176"/>
                  <a:gd name="T16" fmla="*/ 8 w 51"/>
                  <a:gd name="T17" fmla="*/ 9 h 176"/>
                  <a:gd name="T18" fmla="*/ 5 w 51"/>
                  <a:gd name="T19" fmla="*/ 19 h 1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1"/>
                  <a:gd name="T31" fmla="*/ 0 h 176"/>
                  <a:gd name="T32" fmla="*/ 51 w 51"/>
                  <a:gd name="T33" fmla="*/ 176 h 1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1" h="176">
                    <a:moveTo>
                      <a:pt x="5" y="19"/>
                    </a:moveTo>
                    <a:lnTo>
                      <a:pt x="11" y="13"/>
                    </a:lnTo>
                    <a:lnTo>
                      <a:pt x="51" y="175"/>
                    </a:lnTo>
                    <a:lnTo>
                      <a:pt x="42" y="176"/>
                    </a:lnTo>
                    <a:lnTo>
                      <a:pt x="2" y="14"/>
                    </a:lnTo>
                    <a:lnTo>
                      <a:pt x="8" y="9"/>
                    </a:lnTo>
                    <a:lnTo>
                      <a:pt x="2" y="14"/>
                    </a:lnTo>
                    <a:lnTo>
                      <a:pt x="0" y="0"/>
                    </a:lnTo>
                    <a:lnTo>
                      <a:pt x="8" y="9"/>
                    </a:lnTo>
                    <a:lnTo>
                      <a:pt x="5" y="19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29" name="Freeform 150"/>
              <p:cNvSpPr>
                <a:spLocks/>
              </p:cNvSpPr>
              <p:nvPr/>
            </p:nvSpPr>
            <p:spPr bwMode="auto">
              <a:xfrm>
                <a:off x="3969" y="1723"/>
                <a:ext cx="120" cy="110"/>
              </a:xfrm>
              <a:custGeom>
                <a:avLst/>
                <a:gdLst>
                  <a:gd name="T0" fmla="*/ 109 w 120"/>
                  <a:gd name="T1" fmla="*/ 99 h 110"/>
                  <a:gd name="T2" fmla="*/ 110 w 120"/>
                  <a:gd name="T3" fmla="*/ 110 h 110"/>
                  <a:gd name="T4" fmla="*/ 0 w 120"/>
                  <a:gd name="T5" fmla="*/ 9 h 110"/>
                  <a:gd name="T6" fmla="*/ 3 w 120"/>
                  <a:gd name="T7" fmla="*/ 0 h 110"/>
                  <a:gd name="T8" fmla="*/ 113 w 120"/>
                  <a:gd name="T9" fmla="*/ 102 h 110"/>
                  <a:gd name="T10" fmla="*/ 116 w 120"/>
                  <a:gd name="T11" fmla="*/ 110 h 110"/>
                  <a:gd name="T12" fmla="*/ 113 w 120"/>
                  <a:gd name="T13" fmla="*/ 102 h 110"/>
                  <a:gd name="T14" fmla="*/ 120 w 120"/>
                  <a:gd name="T15" fmla="*/ 106 h 110"/>
                  <a:gd name="T16" fmla="*/ 116 w 120"/>
                  <a:gd name="T17" fmla="*/ 110 h 110"/>
                  <a:gd name="T18" fmla="*/ 109 w 120"/>
                  <a:gd name="T19" fmla="*/ 99 h 1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0"/>
                  <a:gd name="T31" fmla="*/ 0 h 110"/>
                  <a:gd name="T32" fmla="*/ 120 w 120"/>
                  <a:gd name="T33" fmla="*/ 110 h 11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0" h="110">
                    <a:moveTo>
                      <a:pt x="109" y="99"/>
                    </a:moveTo>
                    <a:lnTo>
                      <a:pt x="110" y="110"/>
                    </a:lnTo>
                    <a:lnTo>
                      <a:pt x="0" y="9"/>
                    </a:lnTo>
                    <a:lnTo>
                      <a:pt x="3" y="0"/>
                    </a:lnTo>
                    <a:lnTo>
                      <a:pt x="113" y="102"/>
                    </a:lnTo>
                    <a:lnTo>
                      <a:pt x="116" y="110"/>
                    </a:lnTo>
                    <a:lnTo>
                      <a:pt x="113" y="102"/>
                    </a:lnTo>
                    <a:lnTo>
                      <a:pt x="120" y="106"/>
                    </a:lnTo>
                    <a:lnTo>
                      <a:pt x="116" y="110"/>
                    </a:lnTo>
                    <a:lnTo>
                      <a:pt x="109" y="99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30" name="Freeform 151"/>
              <p:cNvSpPr>
                <a:spLocks/>
              </p:cNvSpPr>
              <p:nvPr/>
            </p:nvSpPr>
            <p:spPr bwMode="auto">
              <a:xfrm>
                <a:off x="4008" y="1825"/>
                <a:ext cx="78" cy="75"/>
              </a:xfrm>
              <a:custGeom>
                <a:avLst/>
                <a:gdLst>
                  <a:gd name="T0" fmla="*/ 8 w 78"/>
                  <a:gd name="T1" fmla="*/ 64 h 75"/>
                  <a:gd name="T2" fmla="*/ 1 w 78"/>
                  <a:gd name="T3" fmla="*/ 59 h 75"/>
                  <a:gd name="T4" fmla="*/ 71 w 78"/>
                  <a:gd name="T5" fmla="*/ 0 h 75"/>
                  <a:gd name="T6" fmla="*/ 78 w 78"/>
                  <a:gd name="T7" fmla="*/ 10 h 75"/>
                  <a:gd name="T8" fmla="*/ 6 w 78"/>
                  <a:gd name="T9" fmla="*/ 71 h 75"/>
                  <a:gd name="T10" fmla="*/ 0 w 78"/>
                  <a:gd name="T11" fmla="*/ 66 h 75"/>
                  <a:gd name="T12" fmla="*/ 6 w 78"/>
                  <a:gd name="T13" fmla="*/ 71 h 75"/>
                  <a:gd name="T14" fmla="*/ 1 w 78"/>
                  <a:gd name="T15" fmla="*/ 75 h 75"/>
                  <a:gd name="T16" fmla="*/ 0 w 78"/>
                  <a:gd name="T17" fmla="*/ 66 h 75"/>
                  <a:gd name="T18" fmla="*/ 8 w 78"/>
                  <a:gd name="T19" fmla="*/ 64 h 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8"/>
                  <a:gd name="T31" fmla="*/ 0 h 75"/>
                  <a:gd name="T32" fmla="*/ 78 w 78"/>
                  <a:gd name="T33" fmla="*/ 75 h 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8" h="75">
                    <a:moveTo>
                      <a:pt x="8" y="64"/>
                    </a:moveTo>
                    <a:lnTo>
                      <a:pt x="1" y="59"/>
                    </a:lnTo>
                    <a:lnTo>
                      <a:pt x="71" y="0"/>
                    </a:lnTo>
                    <a:lnTo>
                      <a:pt x="78" y="10"/>
                    </a:lnTo>
                    <a:lnTo>
                      <a:pt x="6" y="71"/>
                    </a:lnTo>
                    <a:lnTo>
                      <a:pt x="0" y="66"/>
                    </a:lnTo>
                    <a:lnTo>
                      <a:pt x="6" y="71"/>
                    </a:lnTo>
                    <a:lnTo>
                      <a:pt x="1" y="75"/>
                    </a:lnTo>
                    <a:lnTo>
                      <a:pt x="0" y="66"/>
                    </a:lnTo>
                    <a:lnTo>
                      <a:pt x="8" y="64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31" name="Freeform 152"/>
              <p:cNvSpPr>
                <a:spLocks/>
              </p:cNvSpPr>
              <p:nvPr/>
            </p:nvSpPr>
            <p:spPr bwMode="auto">
              <a:xfrm>
                <a:off x="3981" y="1748"/>
                <a:ext cx="30" cy="36"/>
              </a:xfrm>
              <a:custGeom>
                <a:avLst/>
                <a:gdLst>
                  <a:gd name="T0" fmla="*/ 10 w 30"/>
                  <a:gd name="T1" fmla="*/ 36 h 36"/>
                  <a:gd name="T2" fmla="*/ 0 w 30"/>
                  <a:gd name="T3" fmla="*/ 19 h 36"/>
                  <a:gd name="T4" fmla="*/ 20 w 30"/>
                  <a:gd name="T5" fmla="*/ 0 h 36"/>
                  <a:gd name="T6" fmla="*/ 30 w 30"/>
                  <a:gd name="T7" fmla="*/ 17 h 36"/>
                  <a:gd name="T8" fmla="*/ 10 w 30"/>
                  <a:gd name="T9" fmla="*/ 36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6"/>
                  <a:gd name="T17" fmla="*/ 30 w 3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6">
                    <a:moveTo>
                      <a:pt x="10" y="36"/>
                    </a:moveTo>
                    <a:lnTo>
                      <a:pt x="0" y="19"/>
                    </a:lnTo>
                    <a:lnTo>
                      <a:pt x="20" y="0"/>
                    </a:lnTo>
                    <a:lnTo>
                      <a:pt x="30" y="17"/>
                    </a:lnTo>
                    <a:lnTo>
                      <a:pt x="10" y="36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32" name="Freeform 153"/>
              <p:cNvSpPr>
                <a:spLocks/>
              </p:cNvSpPr>
              <p:nvPr/>
            </p:nvSpPr>
            <p:spPr bwMode="auto">
              <a:xfrm>
                <a:off x="3993" y="1766"/>
                <a:ext cx="125" cy="224"/>
              </a:xfrm>
              <a:custGeom>
                <a:avLst/>
                <a:gdLst>
                  <a:gd name="T0" fmla="*/ 100 w 125"/>
                  <a:gd name="T1" fmla="*/ 224 h 224"/>
                  <a:gd name="T2" fmla="*/ 100 w 125"/>
                  <a:gd name="T3" fmla="*/ 224 h 224"/>
                  <a:gd name="T4" fmla="*/ 88 w 125"/>
                  <a:gd name="T5" fmla="*/ 196 h 224"/>
                  <a:gd name="T6" fmla="*/ 78 w 125"/>
                  <a:gd name="T7" fmla="*/ 169 h 224"/>
                  <a:gd name="T8" fmla="*/ 67 w 125"/>
                  <a:gd name="T9" fmla="*/ 143 h 224"/>
                  <a:gd name="T10" fmla="*/ 54 w 125"/>
                  <a:gd name="T11" fmla="*/ 117 h 224"/>
                  <a:gd name="T12" fmla="*/ 41 w 125"/>
                  <a:gd name="T13" fmla="*/ 91 h 224"/>
                  <a:gd name="T14" fmla="*/ 29 w 125"/>
                  <a:gd name="T15" fmla="*/ 66 h 224"/>
                  <a:gd name="T16" fmla="*/ 15 w 125"/>
                  <a:gd name="T17" fmla="*/ 43 h 224"/>
                  <a:gd name="T18" fmla="*/ 0 w 125"/>
                  <a:gd name="T19" fmla="*/ 19 h 224"/>
                  <a:gd name="T20" fmla="*/ 20 w 125"/>
                  <a:gd name="T21" fmla="*/ 0 h 224"/>
                  <a:gd name="T22" fmla="*/ 35 w 125"/>
                  <a:gd name="T23" fmla="*/ 24 h 224"/>
                  <a:gd name="T24" fmla="*/ 50 w 125"/>
                  <a:gd name="T25" fmla="*/ 49 h 224"/>
                  <a:gd name="T26" fmla="*/ 65 w 125"/>
                  <a:gd name="T27" fmla="*/ 77 h 224"/>
                  <a:gd name="T28" fmla="*/ 78 w 125"/>
                  <a:gd name="T29" fmla="*/ 103 h 224"/>
                  <a:gd name="T30" fmla="*/ 91 w 125"/>
                  <a:gd name="T31" fmla="*/ 130 h 224"/>
                  <a:gd name="T32" fmla="*/ 103 w 125"/>
                  <a:gd name="T33" fmla="*/ 158 h 224"/>
                  <a:gd name="T34" fmla="*/ 114 w 125"/>
                  <a:gd name="T35" fmla="*/ 187 h 224"/>
                  <a:gd name="T36" fmla="*/ 125 w 125"/>
                  <a:gd name="T37" fmla="*/ 216 h 224"/>
                  <a:gd name="T38" fmla="*/ 100 w 125"/>
                  <a:gd name="T39" fmla="*/ 224 h 22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5"/>
                  <a:gd name="T61" fmla="*/ 0 h 224"/>
                  <a:gd name="T62" fmla="*/ 125 w 125"/>
                  <a:gd name="T63" fmla="*/ 224 h 22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5" h="224">
                    <a:moveTo>
                      <a:pt x="100" y="224"/>
                    </a:moveTo>
                    <a:lnTo>
                      <a:pt x="100" y="224"/>
                    </a:lnTo>
                    <a:lnTo>
                      <a:pt x="88" y="196"/>
                    </a:lnTo>
                    <a:lnTo>
                      <a:pt x="78" y="169"/>
                    </a:lnTo>
                    <a:lnTo>
                      <a:pt x="67" y="143"/>
                    </a:lnTo>
                    <a:lnTo>
                      <a:pt x="54" y="117"/>
                    </a:lnTo>
                    <a:lnTo>
                      <a:pt x="41" y="91"/>
                    </a:lnTo>
                    <a:lnTo>
                      <a:pt x="29" y="66"/>
                    </a:lnTo>
                    <a:lnTo>
                      <a:pt x="15" y="43"/>
                    </a:lnTo>
                    <a:lnTo>
                      <a:pt x="0" y="19"/>
                    </a:lnTo>
                    <a:lnTo>
                      <a:pt x="20" y="0"/>
                    </a:lnTo>
                    <a:lnTo>
                      <a:pt x="35" y="24"/>
                    </a:lnTo>
                    <a:lnTo>
                      <a:pt x="50" y="49"/>
                    </a:lnTo>
                    <a:lnTo>
                      <a:pt x="65" y="77"/>
                    </a:lnTo>
                    <a:lnTo>
                      <a:pt x="78" y="103"/>
                    </a:lnTo>
                    <a:lnTo>
                      <a:pt x="91" y="130"/>
                    </a:lnTo>
                    <a:lnTo>
                      <a:pt x="103" y="158"/>
                    </a:lnTo>
                    <a:lnTo>
                      <a:pt x="114" y="187"/>
                    </a:lnTo>
                    <a:lnTo>
                      <a:pt x="125" y="216"/>
                    </a:lnTo>
                    <a:lnTo>
                      <a:pt x="100" y="224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33" name="Freeform 154"/>
              <p:cNvSpPr>
                <a:spLocks/>
              </p:cNvSpPr>
              <p:nvPr/>
            </p:nvSpPr>
            <p:spPr bwMode="auto">
              <a:xfrm>
                <a:off x="4096" y="1984"/>
                <a:ext cx="74" cy="204"/>
              </a:xfrm>
              <a:custGeom>
                <a:avLst/>
                <a:gdLst>
                  <a:gd name="T0" fmla="*/ 46 w 74"/>
                  <a:gd name="T1" fmla="*/ 203 h 204"/>
                  <a:gd name="T2" fmla="*/ 43 w 74"/>
                  <a:gd name="T3" fmla="*/ 179 h 204"/>
                  <a:gd name="T4" fmla="*/ 39 w 74"/>
                  <a:gd name="T5" fmla="*/ 155 h 204"/>
                  <a:gd name="T6" fmla="*/ 33 w 74"/>
                  <a:gd name="T7" fmla="*/ 129 h 204"/>
                  <a:gd name="T8" fmla="*/ 28 w 74"/>
                  <a:gd name="T9" fmla="*/ 107 h 204"/>
                  <a:gd name="T10" fmla="*/ 23 w 74"/>
                  <a:gd name="T11" fmla="*/ 82 h 204"/>
                  <a:gd name="T12" fmla="*/ 14 w 74"/>
                  <a:gd name="T13" fmla="*/ 57 h 204"/>
                  <a:gd name="T14" fmla="*/ 8 w 74"/>
                  <a:gd name="T15" fmla="*/ 34 h 204"/>
                  <a:gd name="T16" fmla="*/ 0 w 74"/>
                  <a:gd name="T17" fmla="*/ 8 h 204"/>
                  <a:gd name="T18" fmla="*/ 25 w 74"/>
                  <a:gd name="T19" fmla="*/ 0 h 204"/>
                  <a:gd name="T20" fmla="*/ 32 w 74"/>
                  <a:gd name="T21" fmla="*/ 25 h 204"/>
                  <a:gd name="T22" fmla="*/ 41 w 74"/>
                  <a:gd name="T23" fmla="*/ 51 h 204"/>
                  <a:gd name="T24" fmla="*/ 48 w 74"/>
                  <a:gd name="T25" fmla="*/ 78 h 204"/>
                  <a:gd name="T26" fmla="*/ 55 w 74"/>
                  <a:gd name="T27" fmla="*/ 102 h 204"/>
                  <a:gd name="T28" fmla="*/ 61 w 74"/>
                  <a:gd name="T29" fmla="*/ 129 h 204"/>
                  <a:gd name="T30" fmla="*/ 66 w 74"/>
                  <a:gd name="T31" fmla="*/ 155 h 204"/>
                  <a:gd name="T32" fmla="*/ 70 w 74"/>
                  <a:gd name="T33" fmla="*/ 179 h 204"/>
                  <a:gd name="T34" fmla="*/ 74 w 74"/>
                  <a:gd name="T35" fmla="*/ 204 h 204"/>
                  <a:gd name="T36" fmla="*/ 46 w 74"/>
                  <a:gd name="T37" fmla="*/ 203 h 2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4"/>
                  <a:gd name="T58" fmla="*/ 0 h 204"/>
                  <a:gd name="T59" fmla="*/ 74 w 74"/>
                  <a:gd name="T60" fmla="*/ 204 h 20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4" h="204">
                    <a:moveTo>
                      <a:pt x="46" y="203"/>
                    </a:moveTo>
                    <a:lnTo>
                      <a:pt x="43" y="179"/>
                    </a:lnTo>
                    <a:lnTo>
                      <a:pt x="39" y="155"/>
                    </a:lnTo>
                    <a:lnTo>
                      <a:pt x="33" y="129"/>
                    </a:lnTo>
                    <a:lnTo>
                      <a:pt x="28" y="107"/>
                    </a:lnTo>
                    <a:lnTo>
                      <a:pt x="23" y="82"/>
                    </a:lnTo>
                    <a:lnTo>
                      <a:pt x="14" y="57"/>
                    </a:lnTo>
                    <a:lnTo>
                      <a:pt x="8" y="34"/>
                    </a:lnTo>
                    <a:lnTo>
                      <a:pt x="0" y="8"/>
                    </a:lnTo>
                    <a:lnTo>
                      <a:pt x="25" y="0"/>
                    </a:lnTo>
                    <a:lnTo>
                      <a:pt x="32" y="25"/>
                    </a:lnTo>
                    <a:lnTo>
                      <a:pt x="41" y="51"/>
                    </a:lnTo>
                    <a:lnTo>
                      <a:pt x="48" y="78"/>
                    </a:lnTo>
                    <a:lnTo>
                      <a:pt x="55" y="102"/>
                    </a:lnTo>
                    <a:lnTo>
                      <a:pt x="61" y="129"/>
                    </a:lnTo>
                    <a:lnTo>
                      <a:pt x="66" y="155"/>
                    </a:lnTo>
                    <a:lnTo>
                      <a:pt x="70" y="179"/>
                    </a:lnTo>
                    <a:lnTo>
                      <a:pt x="74" y="204"/>
                    </a:lnTo>
                    <a:lnTo>
                      <a:pt x="46" y="203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34" name="Freeform 155"/>
              <p:cNvSpPr>
                <a:spLocks/>
              </p:cNvSpPr>
              <p:nvPr/>
            </p:nvSpPr>
            <p:spPr bwMode="auto">
              <a:xfrm>
                <a:off x="4147" y="2187"/>
                <a:ext cx="32" cy="19"/>
              </a:xfrm>
              <a:custGeom>
                <a:avLst/>
                <a:gdLst>
                  <a:gd name="T0" fmla="*/ 28 w 32"/>
                  <a:gd name="T1" fmla="*/ 1 h 19"/>
                  <a:gd name="T2" fmla="*/ 32 w 32"/>
                  <a:gd name="T3" fmla="*/ 19 h 19"/>
                  <a:gd name="T4" fmla="*/ 3 w 32"/>
                  <a:gd name="T5" fmla="*/ 18 h 19"/>
                  <a:gd name="T6" fmla="*/ 0 w 32"/>
                  <a:gd name="T7" fmla="*/ 0 h 19"/>
                  <a:gd name="T8" fmla="*/ 28 w 32"/>
                  <a:gd name="T9" fmla="*/ 1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19"/>
                  <a:gd name="T17" fmla="*/ 32 w 32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19">
                    <a:moveTo>
                      <a:pt x="28" y="1"/>
                    </a:moveTo>
                    <a:lnTo>
                      <a:pt x="32" y="19"/>
                    </a:lnTo>
                    <a:lnTo>
                      <a:pt x="3" y="18"/>
                    </a:lnTo>
                    <a:lnTo>
                      <a:pt x="0" y="0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35" name="Freeform 156"/>
              <p:cNvSpPr>
                <a:spLocks/>
              </p:cNvSpPr>
              <p:nvPr/>
            </p:nvSpPr>
            <p:spPr bwMode="auto">
              <a:xfrm>
                <a:off x="3949" y="1703"/>
                <a:ext cx="114" cy="160"/>
              </a:xfrm>
              <a:custGeom>
                <a:avLst/>
                <a:gdLst>
                  <a:gd name="T0" fmla="*/ 45 w 114"/>
                  <a:gd name="T1" fmla="*/ 160 h 160"/>
                  <a:gd name="T2" fmla="*/ 0 w 114"/>
                  <a:gd name="T3" fmla="*/ 0 h 160"/>
                  <a:gd name="T4" fmla="*/ 114 w 114"/>
                  <a:gd name="T5" fmla="*/ 94 h 160"/>
                  <a:gd name="T6" fmla="*/ 45 w 114"/>
                  <a:gd name="T7" fmla="*/ 160 h 1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4"/>
                  <a:gd name="T13" fmla="*/ 0 h 160"/>
                  <a:gd name="T14" fmla="*/ 114 w 114"/>
                  <a:gd name="T15" fmla="*/ 160 h 1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4" h="160">
                    <a:moveTo>
                      <a:pt x="45" y="160"/>
                    </a:moveTo>
                    <a:lnTo>
                      <a:pt x="0" y="0"/>
                    </a:lnTo>
                    <a:lnTo>
                      <a:pt x="114" y="94"/>
                    </a:lnTo>
                    <a:lnTo>
                      <a:pt x="45" y="16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36" name="Freeform 157"/>
              <p:cNvSpPr>
                <a:spLocks/>
              </p:cNvSpPr>
              <p:nvPr/>
            </p:nvSpPr>
            <p:spPr bwMode="auto">
              <a:xfrm>
                <a:off x="3934" y="1679"/>
                <a:ext cx="66" cy="183"/>
              </a:xfrm>
              <a:custGeom>
                <a:avLst/>
                <a:gdLst>
                  <a:gd name="T0" fmla="*/ 11 w 66"/>
                  <a:gd name="T1" fmla="*/ 31 h 183"/>
                  <a:gd name="T2" fmla="*/ 21 w 66"/>
                  <a:gd name="T3" fmla="*/ 21 h 183"/>
                  <a:gd name="T4" fmla="*/ 66 w 66"/>
                  <a:gd name="T5" fmla="*/ 180 h 183"/>
                  <a:gd name="T6" fmla="*/ 52 w 66"/>
                  <a:gd name="T7" fmla="*/ 183 h 183"/>
                  <a:gd name="T8" fmla="*/ 6 w 66"/>
                  <a:gd name="T9" fmla="*/ 24 h 183"/>
                  <a:gd name="T10" fmla="*/ 17 w 66"/>
                  <a:gd name="T11" fmla="*/ 15 h 183"/>
                  <a:gd name="T12" fmla="*/ 6 w 66"/>
                  <a:gd name="T13" fmla="*/ 24 h 183"/>
                  <a:gd name="T14" fmla="*/ 0 w 66"/>
                  <a:gd name="T15" fmla="*/ 0 h 183"/>
                  <a:gd name="T16" fmla="*/ 17 w 66"/>
                  <a:gd name="T17" fmla="*/ 15 h 183"/>
                  <a:gd name="T18" fmla="*/ 11 w 66"/>
                  <a:gd name="T19" fmla="*/ 31 h 18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6"/>
                  <a:gd name="T31" fmla="*/ 0 h 183"/>
                  <a:gd name="T32" fmla="*/ 66 w 66"/>
                  <a:gd name="T33" fmla="*/ 183 h 18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6" h="183">
                    <a:moveTo>
                      <a:pt x="11" y="31"/>
                    </a:moveTo>
                    <a:lnTo>
                      <a:pt x="21" y="21"/>
                    </a:lnTo>
                    <a:lnTo>
                      <a:pt x="66" y="180"/>
                    </a:lnTo>
                    <a:lnTo>
                      <a:pt x="52" y="183"/>
                    </a:lnTo>
                    <a:lnTo>
                      <a:pt x="6" y="24"/>
                    </a:lnTo>
                    <a:lnTo>
                      <a:pt x="17" y="15"/>
                    </a:lnTo>
                    <a:lnTo>
                      <a:pt x="6" y="24"/>
                    </a:lnTo>
                    <a:lnTo>
                      <a:pt x="0" y="0"/>
                    </a:lnTo>
                    <a:lnTo>
                      <a:pt x="17" y="15"/>
                    </a:lnTo>
                    <a:lnTo>
                      <a:pt x="11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37" name="Freeform 158"/>
              <p:cNvSpPr>
                <a:spLocks/>
              </p:cNvSpPr>
              <p:nvPr/>
            </p:nvSpPr>
            <p:spPr bwMode="auto">
              <a:xfrm>
                <a:off x="3945" y="1694"/>
                <a:ext cx="129" cy="110"/>
              </a:xfrm>
              <a:custGeom>
                <a:avLst/>
                <a:gdLst>
                  <a:gd name="T0" fmla="*/ 111 w 129"/>
                  <a:gd name="T1" fmla="*/ 93 h 110"/>
                  <a:gd name="T2" fmla="*/ 113 w 129"/>
                  <a:gd name="T3" fmla="*/ 110 h 110"/>
                  <a:gd name="T4" fmla="*/ 0 w 129"/>
                  <a:gd name="T5" fmla="*/ 17 h 110"/>
                  <a:gd name="T6" fmla="*/ 5 w 129"/>
                  <a:gd name="T7" fmla="*/ 0 h 110"/>
                  <a:gd name="T8" fmla="*/ 118 w 129"/>
                  <a:gd name="T9" fmla="*/ 94 h 110"/>
                  <a:gd name="T10" fmla="*/ 121 w 129"/>
                  <a:gd name="T11" fmla="*/ 110 h 110"/>
                  <a:gd name="T12" fmla="*/ 118 w 129"/>
                  <a:gd name="T13" fmla="*/ 94 h 110"/>
                  <a:gd name="T14" fmla="*/ 129 w 129"/>
                  <a:gd name="T15" fmla="*/ 103 h 110"/>
                  <a:gd name="T16" fmla="*/ 121 w 129"/>
                  <a:gd name="T17" fmla="*/ 110 h 110"/>
                  <a:gd name="T18" fmla="*/ 111 w 129"/>
                  <a:gd name="T19" fmla="*/ 93 h 1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9"/>
                  <a:gd name="T31" fmla="*/ 0 h 110"/>
                  <a:gd name="T32" fmla="*/ 129 w 129"/>
                  <a:gd name="T33" fmla="*/ 110 h 11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9" h="110">
                    <a:moveTo>
                      <a:pt x="111" y="93"/>
                    </a:moveTo>
                    <a:lnTo>
                      <a:pt x="113" y="110"/>
                    </a:lnTo>
                    <a:lnTo>
                      <a:pt x="0" y="17"/>
                    </a:lnTo>
                    <a:lnTo>
                      <a:pt x="5" y="0"/>
                    </a:lnTo>
                    <a:lnTo>
                      <a:pt x="118" y="94"/>
                    </a:lnTo>
                    <a:lnTo>
                      <a:pt x="121" y="110"/>
                    </a:lnTo>
                    <a:lnTo>
                      <a:pt x="118" y="94"/>
                    </a:lnTo>
                    <a:lnTo>
                      <a:pt x="129" y="103"/>
                    </a:lnTo>
                    <a:lnTo>
                      <a:pt x="121" y="110"/>
                    </a:lnTo>
                    <a:lnTo>
                      <a:pt x="111" y="9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38" name="Freeform 159"/>
              <p:cNvSpPr>
                <a:spLocks/>
              </p:cNvSpPr>
              <p:nvPr/>
            </p:nvSpPr>
            <p:spPr bwMode="auto">
              <a:xfrm>
                <a:off x="3987" y="1788"/>
                <a:ext cx="80" cy="90"/>
              </a:xfrm>
              <a:custGeom>
                <a:avLst/>
                <a:gdLst>
                  <a:gd name="T0" fmla="*/ 15 w 80"/>
                  <a:gd name="T1" fmla="*/ 71 h 90"/>
                  <a:gd name="T2" fmla="*/ 1 w 80"/>
                  <a:gd name="T3" fmla="*/ 65 h 90"/>
                  <a:gd name="T4" fmla="*/ 71 w 80"/>
                  <a:gd name="T5" fmla="*/ 0 h 90"/>
                  <a:gd name="T6" fmla="*/ 80 w 80"/>
                  <a:gd name="T7" fmla="*/ 17 h 90"/>
                  <a:gd name="T8" fmla="*/ 13 w 80"/>
                  <a:gd name="T9" fmla="*/ 82 h 90"/>
                  <a:gd name="T10" fmla="*/ 0 w 80"/>
                  <a:gd name="T11" fmla="*/ 75 h 90"/>
                  <a:gd name="T12" fmla="*/ 13 w 80"/>
                  <a:gd name="T13" fmla="*/ 82 h 90"/>
                  <a:gd name="T14" fmla="*/ 5 w 80"/>
                  <a:gd name="T15" fmla="*/ 90 h 90"/>
                  <a:gd name="T16" fmla="*/ 0 w 80"/>
                  <a:gd name="T17" fmla="*/ 75 h 90"/>
                  <a:gd name="T18" fmla="*/ 15 w 80"/>
                  <a:gd name="T19" fmla="*/ 71 h 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0"/>
                  <a:gd name="T31" fmla="*/ 0 h 90"/>
                  <a:gd name="T32" fmla="*/ 80 w 80"/>
                  <a:gd name="T33" fmla="*/ 90 h 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0" h="90">
                    <a:moveTo>
                      <a:pt x="15" y="71"/>
                    </a:moveTo>
                    <a:lnTo>
                      <a:pt x="1" y="65"/>
                    </a:lnTo>
                    <a:lnTo>
                      <a:pt x="71" y="0"/>
                    </a:lnTo>
                    <a:lnTo>
                      <a:pt x="80" y="17"/>
                    </a:lnTo>
                    <a:lnTo>
                      <a:pt x="13" y="82"/>
                    </a:lnTo>
                    <a:lnTo>
                      <a:pt x="0" y="75"/>
                    </a:lnTo>
                    <a:lnTo>
                      <a:pt x="13" y="82"/>
                    </a:lnTo>
                    <a:lnTo>
                      <a:pt x="5" y="90"/>
                    </a:lnTo>
                    <a:lnTo>
                      <a:pt x="0" y="75"/>
                    </a:lnTo>
                    <a:lnTo>
                      <a:pt x="15" y="7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39" name="Freeform 160"/>
              <p:cNvSpPr>
                <a:spLocks/>
              </p:cNvSpPr>
              <p:nvPr/>
            </p:nvSpPr>
            <p:spPr bwMode="auto">
              <a:xfrm>
                <a:off x="3964" y="1726"/>
                <a:ext cx="34" cy="45"/>
              </a:xfrm>
              <a:custGeom>
                <a:avLst/>
                <a:gdLst>
                  <a:gd name="T0" fmla="*/ 12 w 34"/>
                  <a:gd name="T1" fmla="*/ 45 h 45"/>
                  <a:gd name="T2" fmla="*/ 0 w 34"/>
                  <a:gd name="T3" fmla="*/ 26 h 45"/>
                  <a:gd name="T4" fmla="*/ 22 w 34"/>
                  <a:gd name="T5" fmla="*/ 0 h 45"/>
                  <a:gd name="T6" fmla="*/ 34 w 34"/>
                  <a:gd name="T7" fmla="*/ 20 h 45"/>
                  <a:gd name="T8" fmla="*/ 12 w 34"/>
                  <a:gd name="T9" fmla="*/ 45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45"/>
                  <a:gd name="T17" fmla="*/ 34 w 34"/>
                  <a:gd name="T18" fmla="*/ 45 h 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45">
                    <a:moveTo>
                      <a:pt x="12" y="45"/>
                    </a:moveTo>
                    <a:lnTo>
                      <a:pt x="0" y="26"/>
                    </a:lnTo>
                    <a:lnTo>
                      <a:pt x="22" y="0"/>
                    </a:lnTo>
                    <a:lnTo>
                      <a:pt x="34" y="20"/>
                    </a:lnTo>
                    <a:lnTo>
                      <a:pt x="12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40" name="Freeform 161"/>
              <p:cNvSpPr>
                <a:spLocks/>
              </p:cNvSpPr>
              <p:nvPr/>
            </p:nvSpPr>
            <p:spPr bwMode="auto">
              <a:xfrm>
                <a:off x="3976" y="1746"/>
                <a:ext cx="128" cy="213"/>
              </a:xfrm>
              <a:custGeom>
                <a:avLst/>
                <a:gdLst>
                  <a:gd name="T0" fmla="*/ 98 w 128"/>
                  <a:gd name="T1" fmla="*/ 213 h 213"/>
                  <a:gd name="T2" fmla="*/ 98 w 128"/>
                  <a:gd name="T3" fmla="*/ 213 h 213"/>
                  <a:gd name="T4" fmla="*/ 87 w 128"/>
                  <a:gd name="T5" fmla="*/ 185 h 213"/>
                  <a:gd name="T6" fmla="*/ 77 w 128"/>
                  <a:gd name="T7" fmla="*/ 160 h 213"/>
                  <a:gd name="T8" fmla="*/ 65 w 128"/>
                  <a:gd name="T9" fmla="*/ 137 h 213"/>
                  <a:gd name="T10" fmla="*/ 53 w 128"/>
                  <a:gd name="T11" fmla="*/ 112 h 213"/>
                  <a:gd name="T12" fmla="*/ 41 w 128"/>
                  <a:gd name="T13" fmla="*/ 89 h 213"/>
                  <a:gd name="T14" fmla="*/ 29 w 128"/>
                  <a:gd name="T15" fmla="*/ 69 h 213"/>
                  <a:gd name="T16" fmla="*/ 16 w 128"/>
                  <a:gd name="T17" fmla="*/ 45 h 213"/>
                  <a:gd name="T18" fmla="*/ 0 w 128"/>
                  <a:gd name="T19" fmla="*/ 24 h 213"/>
                  <a:gd name="T20" fmla="*/ 23 w 128"/>
                  <a:gd name="T21" fmla="*/ 0 h 213"/>
                  <a:gd name="T22" fmla="*/ 39 w 128"/>
                  <a:gd name="T23" fmla="*/ 23 h 213"/>
                  <a:gd name="T24" fmla="*/ 54 w 128"/>
                  <a:gd name="T25" fmla="*/ 47 h 213"/>
                  <a:gd name="T26" fmla="*/ 68 w 128"/>
                  <a:gd name="T27" fmla="*/ 70 h 213"/>
                  <a:gd name="T28" fmla="*/ 80 w 128"/>
                  <a:gd name="T29" fmla="*/ 95 h 213"/>
                  <a:gd name="T30" fmla="*/ 93 w 128"/>
                  <a:gd name="T31" fmla="*/ 120 h 213"/>
                  <a:gd name="T32" fmla="*/ 105 w 128"/>
                  <a:gd name="T33" fmla="*/ 146 h 213"/>
                  <a:gd name="T34" fmla="*/ 117 w 128"/>
                  <a:gd name="T35" fmla="*/ 173 h 213"/>
                  <a:gd name="T36" fmla="*/ 128 w 128"/>
                  <a:gd name="T37" fmla="*/ 200 h 213"/>
                  <a:gd name="T38" fmla="*/ 98 w 128"/>
                  <a:gd name="T39" fmla="*/ 213 h 21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8"/>
                  <a:gd name="T61" fmla="*/ 0 h 213"/>
                  <a:gd name="T62" fmla="*/ 128 w 128"/>
                  <a:gd name="T63" fmla="*/ 213 h 21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8" h="213">
                    <a:moveTo>
                      <a:pt x="98" y="213"/>
                    </a:moveTo>
                    <a:lnTo>
                      <a:pt x="98" y="213"/>
                    </a:lnTo>
                    <a:lnTo>
                      <a:pt x="87" y="185"/>
                    </a:lnTo>
                    <a:lnTo>
                      <a:pt x="77" y="160"/>
                    </a:lnTo>
                    <a:lnTo>
                      <a:pt x="65" y="137"/>
                    </a:lnTo>
                    <a:lnTo>
                      <a:pt x="53" y="112"/>
                    </a:lnTo>
                    <a:lnTo>
                      <a:pt x="41" y="89"/>
                    </a:lnTo>
                    <a:lnTo>
                      <a:pt x="29" y="69"/>
                    </a:lnTo>
                    <a:lnTo>
                      <a:pt x="16" y="45"/>
                    </a:lnTo>
                    <a:lnTo>
                      <a:pt x="0" y="24"/>
                    </a:lnTo>
                    <a:lnTo>
                      <a:pt x="23" y="0"/>
                    </a:lnTo>
                    <a:lnTo>
                      <a:pt x="39" y="23"/>
                    </a:lnTo>
                    <a:lnTo>
                      <a:pt x="54" y="47"/>
                    </a:lnTo>
                    <a:lnTo>
                      <a:pt x="68" y="70"/>
                    </a:lnTo>
                    <a:lnTo>
                      <a:pt x="80" y="95"/>
                    </a:lnTo>
                    <a:lnTo>
                      <a:pt x="93" y="120"/>
                    </a:lnTo>
                    <a:lnTo>
                      <a:pt x="105" y="146"/>
                    </a:lnTo>
                    <a:lnTo>
                      <a:pt x="117" y="173"/>
                    </a:lnTo>
                    <a:lnTo>
                      <a:pt x="128" y="200"/>
                    </a:lnTo>
                    <a:lnTo>
                      <a:pt x="98" y="2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41" name="Freeform 162"/>
              <p:cNvSpPr>
                <a:spLocks/>
              </p:cNvSpPr>
              <p:nvPr/>
            </p:nvSpPr>
            <p:spPr bwMode="auto">
              <a:xfrm>
                <a:off x="4079" y="1950"/>
                <a:ext cx="88" cy="204"/>
              </a:xfrm>
              <a:custGeom>
                <a:avLst/>
                <a:gdLst>
                  <a:gd name="T0" fmla="*/ 56 w 88"/>
                  <a:gd name="T1" fmla="*/ 204 h 204"/>
                  <a:gd name="T2" fmla="*/ 50 w 88"/>
                  <a:gd name="T3" fmla="*/ 180 h 204"/>
                  <a:gd name="T4" fmla="*/ 46 w 88"/>
                  <a:gd name="T5" fmla="*/ 156 h 204"/>
                  <a:gd name="T6" fmla="*/ 40 w 88"/>
                  <a:gd name="T7" fmla="*/ 131 h 204"/>
                  <a:gd name="T8" fmla="*/ 33 w 88"/>
                  <a:gd name="T9" fmla="*/ 107 h 204"/>
                  <a:gd name="T10" fmla="*/ 27 w 88"/>
                  <a:gd name="T11" fmla="*/ 84 h 204"/>
                  <a:gd name="T12" fmla="*/ 18 w 88"/>
                  <a:gd name="T13" fmla="*/ 60 h 204"/>
                  <a:gd name="T14" fmla="*/ 10 w 88"/>
                  <a:gd name="T15" fmla="*/ 36 h 204"/>
                  <a:gd name="T16" fmla="*/ 0 w 88"/>
                  <a:gd name="T17" fmla="*/ 10 h 204"/>
                  <a:gd name="T18" fmla="*/ 30 w 88"/>
                  <a:gd name="T19" fmla="*/ 0 h 204"/>
                  <a:gd name="T20" fmla="*/ 40 w 88"/>
                  <a:gd name="T21" fmla="*/ 24 h 204"/>
                  <a:gd name="T22" fmla="*/ 48 w 88"/>
                  <a:gd name="T23" fmla="*/ 49 h 204"/>
                  <a:gd name="T24" fmla="*/ 57 w 88"/>
                  <a:gd name="T25" fmla="*/ 74 h 204"/>
                  <a:gd name="T26" fmla="*/ 64 w 88"/>
                  <a:gd name="T27" fmla="*/ 101 h 204"/>
                  <a:gd name="T28" fmla="*/ 71 w 88"/>
                  <a:gd name="T29" fmla="*/ 126 h 204"/>
                  <a:gd name="T30" fmla="*/ 78 w 88"/>
                  <a:gd name="T31" fmla="*/ 152 h 204"/>
                  <a:gd name="T32" fmla="*/ 84 w 88"/>
                  <a:gd name="T33" fmla="*/ 178 h 204"/>
                  <a:gd name="T34" fmla="*/ 88 w 88"/>
                  <a:gd name="T35" fmla="*/ 203 h 204"/>
                  <a:gd name="T36" fmla="*/ 56 w 88"/>
                  <a:gd name="T37" fmla="*/ 204 h 2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8"/>
                  <a:gd name="T58" fmla="*/ 0 h 204"/>
                  <a:gd name="T59" fmla="*/ 88 w 88"/>
                  <a:gd name="T60" fmla="*/ 204 h 20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8" h="204">
                    <a:moveTo>
                      <a:pt x="56" y="204"/>
                    </a:moveTo>
                    <a:lnTo>
                      <a:pt x="50" y="180"/>
                    </a:lnTo>
                    <a:lnTo>
                      <a:pt x="46" y="156"/>
                    </a:lnTo>
                    <a:lnTo>
                      <a:pt x="40" y="131"/>
                    </a:lnTo>
                    <a:lnTo>
                      <a:pt x="33" y="107"/>
                    </a:lnTo>
                    <a:lnTo>
                      <a:pt x="27" y="84"/>
                    </a:lnTo>
                    <a:lnTo>
                      <a:pt x="18" y="60"/>
                    </a:lnTo>
                    <a:lnTo>
                      <a:pt x="10" y="36"/>
                    </a:lnTo>
                    <a:lnTo>
                      <a:pt x="0" y="10"/>
                    </a:lnTo>
                    <a:lnTo>
                      <a:pt x="30" y="0"/>
                    </a:lnTo>
                    <a:lnTo>
                      <a:pt x="40" y="24"/>
                    </a:lnTo>
                    <a:lnTo>
                      <a:pt x="48" y="49"/>
                    </a:lnTo>
                    <a:lnTo>
                      <a:pt x="57" y="74"/>
                    </a:lnTo>
                    <a:lnTo>
                      <a:pt x="64" y="101"/>
                    </a:lnTo>
                    <a:lnTo>
                      <a:pt x="71" y="126"/>
                    </a:lnTo>
                    <a:lnTo>
                      <a:pt x="78" y="152"/>
                    </a:lnTo>
                    <a:lnTo>
                      <a:pt x="84" y="178"/>
                    </a:lnTo>
                    <a:lnTo>
                      <a:pt x="88" y="203"/>
                    </a:lnTo>
                    <a:lnTo>
                      <a:pt x="56" y="20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42" name="Freeform 163"/>
              <p:cNvSpPr>
                <a:spLocks/>
              </p:cNvSpPr>
              <p:nvPr/>
            </p:nvSpPr>
            <p:spPr bwMode="auto">
              <a:xfrm>
                <a:off x="4139" y="2154"/>
                <a:ext cx="34" cy="22"/>
              </a:xfrm>
              <a:custGeom>
                <a:avLst/>
                <a:gdLst>
                  <a:gd name="T0" fmla="*/ 30 w 34"/>
                  <a:gd name="T1" fmla="*/ 0 h 22"/>
                  <a:gd name="T2" fmla="*/ 34 w 34"/>
                  <a:gd name="T3" fmla="*/ 21 h 22"/>
                  <a:gd name="T4" fmla="*/ 4 w 34"/>
                  <a:gd name="T5" fmla="*/ 22 h 22"/>
                  <a:gd name="T6" fmla="*/ 0 w 34"/>
                  <a:gd name="T7" fmla="*/ 1 h 22"/>
                  <a:gd name="T8" fmla="*/ 30 w 34"/>
                  <a:gd name="T9" fmla="*/ 0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22"/>
                  <a:gd name="T17" fmla="*/ 34 w 34"/>
                  <a:gd name="T18" fmla="*/ 22 h 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22">
                    <a:moveTo>
                      <a:pt x="30" y="0"/>
                    </a:moveTo>
                    <a:lnTo>
                      <a:pt x="34" y="21"/>
                    </a:lnTo>
                    <a:lnTo>
                      <a:pt x="4" y="22"/>
                    </a:lnTo>
                    <a:lnTo>
                      <a:pt x="0" y="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43" name="Freeform 164"/>
              <p:cNvSpPr>
                <a:spLocks/>
              </p:cNvSpPr>
              <p:nvPr/>
            </p:nvSpPr>
            <p:spPr bwMode="auto">
              <a:xfrm>
                <a:off x="3949" y="1703"/>
                <a:ext cx="114" cy="160"/>
              </a:xfrm>
              <a:custGeom>
                <a:avLst/>
                <a:gdLst>
                  <a:gd name="T0" fmla="*/ 45 w 114"/>
                  <a:gd name="T1" fmla="*/ 160 h 160"/>
                  <a:gd name="T2" fmla="*/ 0 w 114"/>
                  <a:gd name="T3" fmla="*/ 0 h 160"/>
                  <a:gd name="T4" fmla="*/ 114 w 114"/>
                  <a:gd name="T5" fmla="*/ 94 h 160"/>
                  <a:gd name="T6" fmla="*/ 45 w 114"/>
                  <a:gd name="T7" fmla="*/ 160 h 1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4"/>
                  <a:gd name="T13" fmla="*/ 0 h 160"/>
                  <a:gd name="T14" fmla="*/ 114 w 114"/>
                  <a:gd name="T15" fmla="*/ 160 h 1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4" h="160">
                    <a:moveTo>
                      <a:pt x="45" y="160"/>
                    </a:moveTo>
                    <a:lnTo>
                      <a:pt x="0" y="0"/>
                    </a:lnTo>
                    <a:lnTo>
                      <a:pt x="114" y="94"/>
                    </a:lnTo>
                    <a:lnTo>
                      <a:pt x="45" y="16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44" name="Freeform 165"/>
              <p:cNvSpPr>
                <a:spLocks/>
              </p:cNvSpPr>
              <p:nvPr/>
            </p:nvSpPr>
            <p:spPr bwMode="auto">
              <a:xfrm>
                <a:off x="3938" y="1688"/>
                <a:ext cx="59" cy="174"/>
              </a:xfrm>
              <a:custGeom>
                <a:avLst/>
                <a:gdLst>
                  <a:gd name="T0" fmla="*/ 7 w 59"/>
                  <a:gd name="T1" fmla="*/ 18 h 174"/>
                  <a:gd name="T2" fmla="*/ 13 w 59"/>
                  <a:gd name="T3" fmla="*/ 10 h 174"/>
                  <a:gd name="T4" fmla="*/ 59 w 59"/>
                  <a:gd name="T5" fmla="*/ 172 h 174"/>
                  <a:gd name="T6" fmla="*/ 50 w 59"/>
                  <a:gd name="T7" fmla="*/ 174 h 174"/>
                  <a:gd name="T8" fmla="*/ 4 w 59"/>
                  <a:gd name="T9" fmla="*/ 15 h 174"/>
                  <a:gd name="T10" fmla="*/ 11 w 59"/>
                  <a:gd name="T11" fmla="*/ 8 h 174"/>
                  <a:gd name="T12" fmla="*/ 4 w 59"/>
                  <a:gd name="T13" fmla="*/ 15 h 174"/>
                  <a:gd name="T14" fmla="*/ 0 w 59"/>
                  <a:gd name="T15" fmla="*/ 0 h 174"/>
                  <a:gd name="T16" fmla="*/ 11 w 59"/>
                  <a:gd name="T17" fmla="*/ 8 h 174"/>
                  <a:gd name="T18" fmla="*/ 7 w 59"/>
                  <a:gd name="T19" fmla="*/ 18 h 17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9"/>
                  <a:gd name="T31" fmla="*/ 0 h 174"/>
                  <a:gd name="T32" fmla="*/ 59 w 59"/>
                  <a:gd name="T33" fmla="*/ 174 h 17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" h="174">
                    <a:moveTo>
                      <a:pt x="7" y="18"/>
                    </a:moveTo>
                    <a:lnTo>
                      <a:pt x="13" y="10"/>
                    </a:lnTo>
                    <a:lnTo>
                      <a:pt x="59" y="172"/>
                    </a:lnTo>
                    <a:lnTo>
                      <a:pt x="50" y="174"/>
                    </a:lnTo>
                    <a:lnTo>
                      <a:pt x="4" y="15"/>
                    </a:lnTo>
                    <a:lnTo>
                      <a:pt x="11" y="8"/>
                    </a:lnTo>
                    <a:lnTo>
                      <a:pt x="4" y="15"/>
                    </a:lnTo>
                    <a:lnTo>
                      <a:pt x="0" y="0"/>
                    </a:lnTo>
                    <a:lnTo>
                      <a:pt x="11" y="8"/>
                    </a:lnTo>
                    <a:lnTo>
                      <a:pt x="7" y="18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45" name="Freeform 166"/>
              <p:cNvSpPr>
                <a:spLocks/>
              </p:cNvSpPr>
              <p:nvPr/>
            </p:nvSpPr>
            <p:spPr bwMode="auto">
              <a:xfrm>
                <a:off x="3945" y="1697"/>
                <a:ext cx="125" cy="103"/>
              </a:xfrm>
              <a:custGeom>
                <a:avLst/>
                <a:gdLst>
                  <a:gd name="T0" fmla="*/ 113 w 125"/>
                  <a:gd name="T1" fmla="*/ 92 h 103"/>
                  <a:gd name="T2" fmla="*/ 115 w 125"/>
                  <a:gd name="T3" fmla="*/ 103 h 103"/>
                  <a:gd name="T4" fmla="*/ 0 w 125"/>
                  <a:gd name="T5" fmla="*/ 9 h 103"/>
                  <a:gd name="T6" fmla="*/ 3 w 125"/>
                  <a:gd name="T7" fmla="*/ 0 h 103"/>
                  <a:gd name="T8" fmla="*/ 118 w 125"/>
                  <a:gd name="T9" fmla="*/ 94 h 103"/>
                  <a:gd name="T10" fmla="*/ 120 w 125"/>
                  <a:gd name="T11" fmla="*/ 103 h 103"/>
                  <a:gd name="T12" fmla="*/ 118 w 125"/>
                  <a:gd name="T13" fmla="*/ 94 h 103"/>
                  <a:gd name="T14" fmla="*/ 125 w 125"/>
                  <a:gd name="T15" fmla="*/ 99 h 103"/>
                  <a:gd name="T16" fmla="*/ 120 w 125"/>
                  <a:gd name="T17" fmla="*/ 103 h 103"/>
                  <a:gd name="T18" fmla="*/ 113 w 125"/>
                  <a:gd name="T19" fmla="*/ 92 h 10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5"/>
                  <a:gd name="T31" fmla="*/ 0 h 103"/>
                  <a:gd name="T32" fmla="*/ 125 w 125"/>
                  <a:gd name="T33" fmla="*/ 103 h 10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5" h="103">
                    <a:moveTo>
                      <a:pt x="113" y="92"/>
                    </a:moveTo>
                    <a:lnTo>
                      <a:pt x="115" y="103"/>
                    </a:lnTo>
                    <a:lnTo>
                      <a:pt x="0" y="9"/>
                    </a:lnTo>
                    <a:lnTo>
                      <a:pt x="3" y="0"/>
                    </a:lnTo>
                    <a:lnTo>
                      <a:pt x="118" y="94"/>
                    </a:lnTo>
                    <a:lnTo>
                      <a:pt x="120" y="103"/>
                    </a:lnTo>
                    <a:lnTo>
                      <a:pt x="118" y="94"/>
                    </a:lnTo>
                    <a:lnTo>
                      <a:pt x="125" y="99"/>
                    </a:lnTo>
                    <a:lnTo>
                      <a:pt x="120" y="103"/>
                    </a:lnTo>
                    <a:lnTo>
                      <a:pt x="113" y="92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46" name="Freeform 167"/>
              <p:cNvSpPr>
                <a:spLocks/>
              </p:cNvSpPr>
              <p:nvPr/>
            </p:nvSpPr>
            <p:spPr bwMode="auto">
              <a:xfrm>
                <a:off x="3991" y="1790"/>
                <a:ext cx="75" cy="82"/>
              </a:xfrm>
              <a:custGeom>
                <a:avLst/>
                <a:gdLst>
                  <a:gd name="T0" fmla="*/ 8 w 75"/>
                  <a:gd name="T1" fmla="*/ 70 h 82"/>
                  <a:gd name="T2" fmla="*/ 1 w 75"/>
                  <a:gd name="T3" fmla="*/ 67 h 82"/>
                  <a:gd name="T4" fmla="*/ 69 w 75"/>
                  <a:gd name="T5" fmla="*/ 0 h 82"/>
                  <a:gd name="T6" fmla="*/ 75 w 75"/>
                  <a:gd name="T7" fmla="*/ 11 h 82"/>
                  <a:gd name="T8" fmla="*/ 8 w 75"/>
                  <a:gd name="T9" fmla="*/ 77 h 82"/>
                  <a:gd name="T10" fmla="*/ 0 w 75"/>
                  <a:gd name="T11" fmla="*/ 73 h 82"/>
                  <a:gd name="T12" fmla="*/ 8 w 75"/>
                  <a:gd name="T13" fmla="*/ 77 h 82"/>
                  <a:gd name="T14" fmla="*/ 2 w 75"/>
                  <a:gd name="T15" fmla="*/ 82 h 82"/>
                  <a:gd name="T16" fmla="*/ 0 w 75"/>
                  <a:gd name="T17" fmla="*/ 73 h 82"/>
                  <a:gd name="T18" fmla="*/ 8 w 75"/>
                  <a:gd name="T19" fmla="*/ 70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5"/>
                  <a:gd name="T31" fmla="*/ 0 h 82"/>
                  <a:gd name="T32" fmla="*/ 75 w 75"/>
                  <a:gd name="T33" fmla="*/ 82 h 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5" h="82">
                    <a:moveTo>
                      <a:pt x="8" y="70"/>
                    </a:moveTo>
                    <a:lnTo>
                      <a:pt x="1" y="67"/>
                    </a:lnTo>
                    <a:lnTo>
                      <a:pt x="69" y="0"/>
                    </a:lnTo>
                    <a:lnTo>
                      <a:pt x="75" y="11"/>
                    </a:lnTo>
                    <a:lnTo>
                      <a:pt x="8" y="77"/>
                    </a:lnTo>
                    <a:lnTo>
                      <a:pt x="0" y="73"/>
                    </a:lnTo>
                    <a:lnTo>
                      <a:pt x="8" y="77"/>
                    </a:lnTo>
                    <a:lnTo>
                      <a:pt x="2" y="82"/>
                    </a:lnTo>
                    <a:lnTo>
                      <a:pt x="0" y="73"/>
                    </a:lnTo>
                    <a:lnTo>
                      <a:pt x="8" y="7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47" name="Freeform 168"/>
              <p:cNvSpPr>
                <a:spLocks/>
              </p:cNvSpPr>
              <p:nvPr/>
            </p:nvSpPr>
            <p:spPr bwMode="auto">
              <a:xfrm>
                <a:off x="3967" y="1732"/>
                <a:ext cx="30" cy="36"/>
              </a:xfrm>
              <a:custGeom>
                <a:avLst/>
                <a:gdLst>
                  <a:gd name="T0" fmla="*/ 11 w 30"/>
                  <a:gd name="T1" fmla="*/ 36 h 36"/>
                  <a:gd name="T2" fmla="*/ 0 w 30"/>
                  <a:gd name="T3" fmla="*/ 21 h 36"/>
                  <a:gd name="T4" fmla="*/ 20 w 30"/>
                  <a:gd name="T5" fmla="*/ 0 h 36"/>
                  <a:gd name="T6" fmla="*/ 30 w 30"/>
                  <a:gd name="T7" fmla="*/ 15 h 36"/>
                  <a:gd name="T8" fmla="*/ 11 w 30"/>
                  <a:gd name="T9" fmla="*/ 36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6"/>
                  <a:gd name="T17" fmla="*/ 30 w 3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6">
                    <a:moveTo>
                      <a:pt x="11" y="36"/>
                    </a:moveTo>
                    <a:lnTo>
                      <a:pt x="0" y="21"/>
                    </a:lnTo>
                    <a:lnTo>
                      <a:pt x="20" y="0"/>
                    </a:lnTo>
                    <a:lnTo>
                      <a:pt x="30" y="15"/>
                    </a:lnTo>
                    <a:lnTo>
                      <a:pt x="11" y="36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48" name="Freeform 169"/>
              <p:cNvSpPr>
                <a:spLocks/>
              </p:cNvSpPr>
              <p:nvPr/>
            </p:nvSpPr>
            <p:spPr bwMode="auto">
              <a:xfrm>
                <a:off x="3981" y="1748"/>
                <a:ext cx="123" cy="211"/>
              </a:xfrm>
              <a:custGeom>
                <a:avLst/>
                <a:gdLst>
                  <a:gd name="T0" fmla="*/ 98 w 123"/>
                  <a:gd name="T1" fmla="*/ 211 h 211"/>
                  <a:gd name="T2" fmla="*/ 98 w 123"/>
                  <a:gd name="T3" fmla="*/ 211 h 211"/>
                  <a:gd name="T4" fmla="*/ 88 w 123"/>
                  <a:gd name="T5" fmla="*/ 183 h 211"/>
                  <a:gd name="T6" fmla="*/ 77 w 123"/>
                  <a:gd name="T7" fmla="*/ 158 h 211"/>
                  <a:gd name="T8" fmla="*/ 65 w 123"/>
                  <a:gd name="T9" fmla="*/ 133 h 211"/>
                  <a:gd name="T10" fmla="*/ 53 w 123"/>
                  <a:gd name="T11" fmla="*/ 110 h 211"/>
                  <a:gd name="T12" fmla="*/ 41 w 123"/>
                  <a:gd name="T13" fmla="*/ 87 h 211"/>
                  <a:gd name="T14" fmla="*/ 29 w 123"/>
                  <a:gd name="T15" fmla="*/ 65 h 211"/>
                  <a:gd name="T16" fmla="*/ 15 w 123"/>
                  <a:gd name="T17" fmla="*/ 42 h 211"/>
                  <a:gd name="T18" fmla="*/ 0 w 123"/>
                  <a:gd name="T19" fmla="*/ 20 h 211"/>
                  <a:gd name="T20" fmla="*/ 18 w 123"/>
                  <a:gd name="T21" fmla="*/ 0 h 211"/>
                  <a:gd name="T22" fmla="*/ 34 w 123"/>
                  <a:gd name="T23" fmla="*/ 23 h 211"/>
                  <a:gd name="T24" fmla="*/ 49 w 123"/>
                  <a:gd name="T25" fmla="*/ 47 h 211"/>
                  <a:gd name="T26" fmla="*/ 63 w 123"/>
                  <a:gd name="T27" fmla="*/ 71 h 211"/>
                  <a:gd name="T28" fmla="*/ 75 w 123"/>
                  <a:gd name="T29" fmla="*/ 96 h 211"/>
                  <a:gd name="T30" fmla="*/ 88 w 123"/>
                  <a:gd name="T31" fmla="*/ 120 h 211"/>
                  <a:gd name="T32" fmla="*/ 100 w 123"/>
                  <a:gd name="T33" fmla="*/ 146 h 211"/>
                  <a:gd name="T34" fmla="*/ 112 w 123"/>
                  <a:gd name="T35" fmla="*/ 173 h 211"/>
                  <a:gd name="T36" fmla="*/ 123 w 123"/>
                  <a:gd name="T37" fmla="*/ 200 h 211"/>
                  <a:gd name="T38" fmla="*/ 98 w 123"/>
                  <a:gd name="T39" fmla="*/ 211 h 21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3"/>
                  <a:gd name="T61" fmla="*/ 0 h 211"/>
                  <a:gd name="T62" fmla="*/ 123 w 123"/>
                  <a:gd name="T63" fmla="*/ 211 h 21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3" h="211">
                    <a:moveTo>
                      <a:pt x="98" y="211"/>
                    </a:moveTo>
                    <a:lnTo>
                      <a:pt x="98" y="211"/>
                    </a:lnTo>
                    <a:lnTo>
                      <a:pt x="88" y="183"/>
                    </a:lnTo>
                    <a:lnTo>
                      <a:pt x="77" y="158"/>
                    </a:lnTo>
                    <a:lnTo>
                      <a:pt x="65" y="133"/>
                    </a:lnTo>
                    <a:lnTo>
                      <a:pt x="53" y="110"/>
                    </a:lnTo>
                    <a:lnTo>
                      <a:pt x="41" y="87"/>
                    </a:lnTo>
                    <a:lnTo>
                      <a:pt x="29" y="65"/>
                    </a:lnTo>
                    <a:lnTo>
                      <a:pt x="15" y="42"/>
                    </a:lnTo>
                    <a:lnTo>
                      <a:pt x="0" y="20"/>
                    </a:lnTo>
                    <a:lnTo>
                      <a:pt x="18" y="0"/>
                    </a:lnTo>
                    <a:lnTo>
                      <a:pt x="34" y="23"/>
                    </a:lnTo>
                    <a:lnTo>
                      <a:pt x="49" y="47"/>
                    </a:lnTo>
                    <a:lnTo>
                      <a:pt x="63" y="71"/>
                    </a:lnTo>
                    <a:lnTo>
                      <a:pt x="75" y="96"/>
                    </a:lnTo>
                    <a:lnTo>
                      <a:pt x="88" y="120"/>
                    </a:lnTo>
                    <a:lnTo>
                      <a:pt x="100" y="146"/>
                    </a:lnTo>
                    <a:lnTo>
                      <a:pt x="112" y="173"/>
                    </a:lnTo>
                    <a:lnTo>
                      <a:pt x="123" y="200"/>
                    </a:lnTo>
                    <a:lnTo>
                      <a:pt x="98" y="211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49" name="Freeform 170"/>
              <p:cNvSpPr>
                <a:spLocks/>
              </p:cNvSpPr>
              <p:nvPr/>
            </p:nvSpPr>
            <p:spPr bwMode="auto">
              <a:xfrm>
                <a:off x="4084" y="1951"/>
                <a:ext cx="81" cy="203"/>
              </a:xfrm>
              <a:custGeom>
                <a:avLst/>
                <a:gdLst>
                  <a:gd name="T0" fmla="*/ 55 w 81"/>
                  <a:gd name="T1" fmla="*/ 203 h 203"/>
                  <a:gd name="T2" fmla="*/ 51 w 81"/>
                  <a:gd name="T3" fmla="*/ 179 h 203"/>
                  <a:gd name="T4" fmla="*/ 44 w 81"/>
                  <a:gd name="T5" fmla="*/ 155 h 203"/>
                  <a:gd name="T6" fmla="*/ 39 w 81"/>
                  <a:gd name="T7" fmla="*/ 130 h 203"/>
                  <a:gd name="T8" fmla="*/ 33 w 81"/>
                  <a:gd name="T9" fmla="*/ 106 h 203"/>
                  <a:gd name="T10" fmla="*/ 25 w 81"/>
                  <a:gd name="T11" fmla="*/ 83 h 203"/>
                  <a:gd name="T12" fmla="*/ 18 w 81"/>
                  <a:gd name="T13" fmla="*/ 58 h 203"/>
                  <a:gd name="T14" fmla="*/ 9 w 81"/>
                  <a:gd name="T15" fmla="*/ 34 h 203"/>
                  <a:gd name="T16" fmla="*/ 0 w 81"/>
                  <a:gd name="T17" fmla="*/ 8 h 203"/>
                  <a:gd name="T18" fmla="*/ 23 w 81"/>
                  <a:gd name="T19" fmla="*/ 0 h 203"/>
                  <a:gd name="T20" fmla="*/ 33 w 81"/>
                  <a:gd name="T21" fmla="*/ 24 h 203"/>
                  <a:gd name="T22" fmla="*/ 41 w 81"/>
                  <a:gd name="T23" fmla="*/ 49 h 203"/>
                  <a:gd name="T24" fmla="*/ 51 w 81"/>
                  <a:gd name="T25" fmla="*/ 75 h 203"/>
                  <a:gd name="T26" fmla="*/ 58 w 81"/>
                  <a:gd name="T27" fmla="*/ 100 h 203"/>
                  <a:gd name="T28" fmla="*/ 65 w 81"/>
                  <a:gd name="T29" fmla="*/ 126 h 203"/>
                  <a:gd name="T30" fmla="*/ 70 w 81"/>
                  <a:gd name="T31" fmla="*/ 152 h 203"/>
                  <a:gd name="T32" fmla="*/ 76 w 81"/>
                  <a:gd name="T33" fmla="*/ 177 h 203"/>
                  <a:gd name="T34" fmla="*/ 81 w 81"/>
                  <a:gd name="T35" fmla="*/ 203 h 203"/>
                  <a:gd name="T36" fmla="*/ 55 w 81"/>
                  <a:gd name="T37" fmla="*/ 203 h 2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1"/>
                  <a:gd name="T58" fmla="*/ 0 h 203"/>
                  <a:gd name="T59" fmla="*/ 81 w 81"/>
                  <a:gd name="T60" fmla="*/ 203 h 2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1" h="203">
                    <a:moveTo>
                      <a:pt x="55" y="203"/>
                    </a:moveTo>
                    <a:lnTo>
                      <a:pt x="51" y="179"/>
                    </a:lnTo>
                    <a:lnTo>
                      <a:pt x="44" y="155"/>
                    </a:lnTo>
                    <a:lnTo>
                      <a:pt x="39" y="130"/>
                    </a:lnTo>
                    <a:lnTo>
                      <a:pt x="33" y="106"/>
                    </a:lnTo>
                    <a:lnTo>
                      <a:pt x="25" y="83"/>
                    </a:lnTo>
                    <a:lnTo>
                      <a:pt x="18" y="58"/>
                    </a:lnTo>
                    <a:lnTo>
                      <a:pt x="9" y="34"/>
                    </a:lnTo>
                    <a:lnTo>
                      <a:pt x="0" y="8"/>
                    </a:lnTo>
                    <a:lnTo>
                      <a:pt x="23" y="0"/>
                    </a:lnTo>
                    <a:lnTo>
                      <a:pt x="33" y="24"/>
                    </a:lnTo>
                    <a:lnTo>
                      <a:pt x="41" y="49"/>
                    </a:lnTo>
                    <a:lnTo>
                      <a:pt x="51" y="75"/>
                    </a:lnTo>
                    <a:lnTo>
                      <a:pt x="58" y="100"/>
                    </a:lnTo>
                    <a:lnTo>
                      <a:pt x="65" y="126"/>
                    </a:lnTo>
                    <a:lnTo>
                      <a:pt x="70" y="152"/>
                    </a:lnTo>
                    <a:lnTo>
                      <a:pt x="76" y="177"/>
                    </a:lnTo>
                    <a:lnTo>
                      <a:pt x="81" y="203"/>
                    </a:lnTo>
                    <a:lnTo>
                      <a:pt x="55" y="203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50" name="Freeform 171"/>
              <p:cNvSpPr>
                <a:spLocks/>
              </p:cNvSpPr>
              <p:nvPr/>
            </p:nvSpPr>
            <p:spPr bwMode="auto">
              <a:xfrm>
                <a:off x="4140" y="2154"/>
                <a:ext cx="30" cy="18"/>
              </a:xfrm>
              <a:custGeom>
                <a:avLst/>
                <a:gdLst>
                  <a:gd name="T0" fmla="*/ 27 w 30"/>
                  <a:gd name="T1" fmla="*/ 0 h 18"/>
                  <a:gd name="T2" fmla="*/ 30 w 30"/>
                  <a:gd name="T3" fmla="*/ 18 h 18"/>
                  <a:gd name="T4" fmla="*/ 3 w 30"/>
                  <a:gd name="T5" fmla="*/ 18 h 18"/>
                  <a:gd name="T6" fmla="*/ 0 w 30"/>
                  <a:gd name="T7" fmla="*/ 0 h 18"/>
                  <a:gd name="T8" fmla="*/ 27 w 30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18"/>
                  <a:gd name="T17" fmla="*/ 30 w 30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18">
                    <a:moveTo>
                      <a:pt x="27" y="0"/>
                    </a:moveTo>
                    <a:lnTo>
                      <a:pt x="30" y="18"/>
                    </a:lnTo>
                    <a:lnTo>
                      <a:pt x="3" y="18"/>
                    </a:lnTo>
                    <a:lnTo>
                      <a:pt x="0" y="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51" name="Freeform 172"/>
              <p:cNvSpPr>
                <a:spLocks/>
              </p:cNvSpPr>
              <p:nvPr/>
            </p:nvSpPr>
            <p:spPr bwMode="auto">
              <a:xfrm>
                <a:off x="2494" y="1402"/>
                <a:ext cx="158" cy="120"/>
              </a:xfrm>
              <a:custGeom>
                <a:avLst/>
                <a:gdLst>
                  <a:gd name="T0" fmla="*/ 158 w 158"/>
                  <a:gd name="T1" fmla="*/ 69 h 120"/>
                  <a:gd name="T2" fmla="*/ 0 w 158"/>
                  <a:gd name="T3" fmla="*/ 120 h 120"/>
                  <a:gd name="T4" fmla="*/ 102 w 158"/>
                  <a:gd name="T5" fmla="*/ 0 h 120"/>
                  <a:gd name="T6" fmla="*/ 158 w 158"/>
                  <a:gd name="T7" fmla="*/ 69 h 1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8"/>
                  <a:gd name="T13" fmla="*/ 0 h 120"/>
                  <a:gd name="T14" fmla="*/ 158 w 158"/>
                  <a:gd name="T15" fmla="*/ 120 h 1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8" h="120">
                    <a:moveTo>
                      <a:pt x="158" y="69"/>
                    </a:moveTo>
                    <a:lnTo>
                      <a:pt x="0" y="120"/>
                    </a:lnTo>
                    <a:lnTo>
                      <a:pt x="102" y="0"/>
                    </a:lnTo>
                    <a:lnTo>
                      <a:pt x="158" y="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52" name="Freeform 173"/>
              <p:cNvSpPr>
                <a:spLocks/>
              </p:cNvSpPr>
              <p:nvPr/>
            </p:nvSpPr>
            <p:spPr bwMode="auto">
              <a:xfrm>
                <a:off x="2472" y="1465"/>
                <a:ext cx="180" cy="72"/>
              </a:xfrm>
              <a:custGeom>
                <a:avLst/>
                <a:gdLst>
                  <a:gd name="T0" fmla="*/ 31 w 180"/>
                  <a:gd name="T1" fmla="*/ 62 h 72"/>
                  <a:gd name="T2" fmla="*/ 22 w 180"/>
                  <a:gd name="T3" fmla="*/ 51 h 72"/>
                  <a:gd name="T4" fmla="*/ 179 w 180"/>
                  <a:gd name="T5" fmla="*/ 0 h 72"/>
                  <a:gd name="T6" fmla="*/ 180 w 180"/>
                  <a:gd name="T7" fmla="*/ 14 h 72"/>
                  <a:gd name="T8" fmla="*/ 24 w 180"/>
                  <a:gd name="T9" fmla="*/ 66 h 72"/>
                  <a:gd name="T10" fmla="*/ 16 w 180"/>
                  <a:gd name="T11" fmla="*/ 54 h 72"/>
                  <a:gd name="T12" fmla="*/ 24 w 180"/>
                  <a:gd name="T13" fmla="*/ 66 h 72"/>
                  <a:gd name="T14" fmla="*/ 0 w 180"/>
                  <a:gd name="T15" fmla="*/ 72 h 72"/>
                  <a:gd name="T16" fmla="*/ 16 w 180"/>
                  <a:gd name="T17" fmla="*/ 54 h 72"/>
                  <a:gd name="T18" fmla="*/ 31 w 180"/>
                  <a:gd name="T19" fmla="*/ 62 h 7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80"/>
                  <a:gd name="T31" fmla="*/ 0 h 72"/>
                  <a:gd name="T32" fmla="*/ 180 w 180"/>
                  <a:gd name="T33" fmla="*/ 72 h 7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80" h="72">
                    <a:moveTo>
                      <a:pt x="31" y="62"/>
                    </a:moveTo>
                    <a:lnTo>
                      <a:pt x="22" y="51"/>
                    </a:lnTo>
                    <a:lnTo>
                      <a:pt x="179" y="0"/>
                    </a:lnTo>
                    <a:lnTo>
                      <a:pt x="180" y="14"/>
                    </a:lnTo>
                    <a:lnTo>
                      <a:pt x="24" y="66"/>
                    </a:lnTo>
                    <a:lnTo>
                      <a:pt x="16" y="54"/>
                    </a:lnTo>
                    <a:lnTo>
                      <a:pt x="24" y="66"/>
                    </a:lnTo>
                    <a:lnTo>
                      <a:pt x="0" y="72"/>
                    </a:lnTo>
                    <a:lnTo>
                      <a:pt x="16" y="54"/>
                    </a:lnTo>
                    <a:lnTo>
                      <a:pt x="31" y="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53" name="Freeform 174"/>
              <p:cNvSpPr>
                <a:spLocks/>
              </p:cNvSpPr>
              <p:nvPr/>
            </p:nvSpPr>
            <p:spPr bwMode="auto">
              <a:xfrm>
                <a:off x="2487" y="1388"/>
                <a:ext cx="115" cy="137"/>
              </a:xfrm>
              <a:custGeom>
                <a:avLst/>
                <a:gdLst>
                  <a:gd name="T0" fmla="*/ 97 w 115"/>
                  <a:gd name="T1" fmla="*/ 20 h 137"/>
                  <a:gd name="T2" fmla="*/ 114 w 115"/>
                  <a:gd name="T3" fmla="*/ 18 h 137"/>
                  <a:gd name="T4" fmla="*/ 15 w 115"/>
                  <a:gd name="T5" fmla="*/ 137 h 137"/>
                  <a:gd name="T6" fmla="*/ 0 w 115"/>
                  <a:gd name="T7" fmla="*/ 131 h 137"/>
                  <a:gd name="T8" fmla="*/ 99 w 115"/>
                  <a:gd name="T9" fmla="*/ 10 h 137"/>
                  <a:gd name="T10" fmla="*/ 115 w 115"/>
                  <a:gd name="T11" fmla="*/ 8 h 137"/>
                  <a:gd name="T12" fmla="*/ 99 w 115"/>
                  <a:gd name="T13" fmla="*/ 10 h 137"/>
                  <a:gd name="T14" fmla="*/ 109 w 115"/>
                  <a:gd name="T15" fmla="*/ 0 h 137"/>
                  <a:gd name="T16" fmla="*/ 115 w 115"/>
                  <a:gd name="T17" fmla="*/ 8 h 137"/>
                  <a:gd name="T18" fmla="*/ 97 w 115"/>
                  <a:gd name="T19" fmla="*/ 20 h 1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5"/>
                  <a:gd name="T31" fmla="*/ 0 h 137"/>
                  <a:gd name="T32" fmla="*/ 115 w 115"/>
                  <a:gd name="T33" fmla="*/ 137 h 13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5" h="137">
                    <a:moveTo>
                      <a:pt x="97" y="20"/>
                    </a:moveTo>
                    <a:lnTo>
                      <a:pt x="114" y="18"/>
                    </a:lnTo>
                    <a:lnTo>
                      <a:pt x="15" y="137"/>
                    </a:lnTo>
                    <a:lnTo>
                      <a:pt x="0" y="131"/>
                    </a:lnTo>
                    <a:lnTo>
                      <a:pt x="99" y="10"/>
                    </a:lnTo>
                    <a:lnTo>
                      <a:pt x="115" y="8"/>
                    </a:lnTo>
                    <a:lnTo>
                      <a:pt x="99" y="10"/>
                    </a:lnTo>
                    <a:lnTo>
                      <a:pt x="109" y="0"/>
                    </a:lnTo>
                    <a:lnTo>
                      <a:pt x="115" y="8"/>
                    </a:lnTo>
                    <a:lnTo>
                      <a:pt x="97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54" name="Freeform 175"/>
              <p:cNvSpPr>
                <a:spLocks/>
              </p:cNvSpPr>
              <p:nvPr/>
            </p:nvSpPr>
            <p:spPr bwMode="auto">
              <a:xfrm>
                <a:off x="2585" y="1397"/>
                <a:ext cx="80" cy="85"/>
              </a:xfrm>
              <a:custGeom>
                <a:avLst/>
                <a:gdLst>
                  <a:gd name="T0" fmla="*/ 64 w 80"/>
                  <a:gd name="T1" fmla="*/ 70 h 85"/>
                  <a:gd name="T2" fmla="*/ 57 w 80"/>
                  <a:gd name="T3" fmla="*/ 82 h 85"/>
                  <a:gd name="T4" fmla="*/ 0 w 80"/>
                  <a:gd name="T5" fmla="*/ 10 h 85"/>
                  <a:gd name="T6" fmla="*/ 18 w 80"/>
                  <a:gd name="T7" fmla="*/ 0 h 85"/>
                  <a:gd name="T8" fmla="*/ 75 w 80"/>
                  <a:gd name="T9" fmla="*/ 71 h 85"/>
                  <a:gd name="T10" fmla="*/ 66 w 80"/>
                  <a:gd name="T11" fmla="*/ 85 h 85"/>
                  <a:gd name="T12" fmla="*/ 75 w 80"/>
                  <a:gd name="T13" fmla="*/ 71 h 85"/>
                  <a:gd name="T14" fmla="*/ 80 w 80"/>
                  <a:gd name="T15" fmla="*/ 80 h 85"/>
                  <a:gd name="T16" fmla="*/ 66 w 80"/>
                  <a:gd name="T17" fmla="*/ 85 h 85"/>
                  <a:gd name="T18" fmla="*/ 64 w 80"/>
                  <a:gd name="T19" fmla="*/ 70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0"/>
                  <a:gd name="T31" fmla="*/ 0 h 85"/>
                  <a:gd name="T32" fmla="*/ 80 w 80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0" h="85">
                    <a:moveTo>
                      <a:pt x="64" y="70"/>
                    </a:moveTo>
                    <a:lnTo>
                      <a:pt x="57" y="82"/>
                    </a:lnTo>
                    <a:lnTo>
                      <a:pt x="0" y="10"/>
                    </a:lnTo>
                    <a:lnTo>
                      <a:pt x="18" y="0"/>
                    </a:lnTo>
                    <a:lnTo>
                      <a:pt x="75" y="71"/>
                    </a:lnTo>
                    <a:lnTo>
                      <a:pt x="66" y="85"/>
                    </a:lnTo>
                    <a:lnTo>
                      <a:pt x="75" y="71"/>
                    </a:lnTo>
                    <a:lnTo>
                      <a:pt x="80" y="80"/>
                    </a:lnTo>
                    <a:lnTo>
                      <a:pt x="66" y="85"/>
                    </a:lnTo>
                    <a:lnTo>
                      <a:pt x="64" y="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55" name="Freeform 176"/>
              <p:cNvSpPr>
                <a:spLocks/>
              </p:cNvSpPr>
              <p:nvPr/>
            </p:nvSpPr>
            <p:spPr bwMode="auto">
              <a:xfrm>
                <a:off x="2509" y="1475"/>
                <a:ext cx="40" cy="39"/>
              </a:xfrm>
              <a:custGeom>
                <a:avLst/>
                <a:gdLst>
                  <a:gd name="T0" fmla="*/ 40 w 40"/>
                  <a:gd name="T1" fmla="*/ 25 h 39"/>
                  <a:gd name="T2" fmla="*/ 22 w 40"/>
                  <a:gd name="T3" fmla="*/ 39 h 39"/>
                  <a:gd name="T4" fmla="*/ 0 w 40"/>
                  <a:gd name="T5" fmla="*/ 13 h 39"/>
                  <a:gd name="T6" fmla="*/ 19 w 40"/>
                  <a:gd name="T7" fmla="*/ 0 h 39"/>
                  <a:gd name="T8" fmla="*/ 40 w 40"/>
                  <a:gd name="T9" fmla="*/ 25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"/>
                  <a:gd name="T16" fmla="*/ 0 h 39"/>
                  <a:gd name="T17" fmla="*/ 40 w 40"/>
                  <a:gd name="T18" fmla="*/ 39 h 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" h="39">
                    <a:moveTo>
                      <a:pt x="40" y="25"/>
                    </a:moveTo>
                    <a:lnTo>
                      <a:pt x="22" y="39"/>
                    </a:lnTo>
                    <a:lnTo>
                      <a:pt x="0" y="13"/>
                    </a:lnTo>
                    <a:lnTo>
                      <a:pt x="19" y="0"/>
                    </a:lnTo>
                    <a:lnTo>
                      <a:pt x="4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56" name="Freeform 177"/>
              <p:cNvSpPr>
                <a:spLocks/>
              </p:cNvSpPr>
              <p:nvPr/>
            </p:nvSpPr>
            <p:spPr bwMode="auto">
              <a:xfrm>
                <a:off x="2531" y="1359"/>
                <a:ext cx="220" cy="143"/>
              </a:xfrm>
              <a:custGeom>
                <a:avLst/>
                <a:gdLst>
                  <a:gd name="T0" fmla="*/ 220 w 220"/>
                  <a:gd name="T1" fmla="*/ 30 h 143"/>
                  <a:gd name="T2" fmla="*/ 220 w 220"/>
                  <a:gd name="T3" fmla="*/ 30 h 143"/>
                  <a:gd name="T4" fmla="*/ 167 w 220"/>
                  <a:gd name="T5" fmla="*/ 54 h 143"/>
                  <a:gd name="T6" fmla="*/ 115 w 220"/>
                  <a:gd name="T7" fmla="*/ 82 h 143"/>
                  <a:gd name="T8" fmla="*/ 67 w 220"/>
                  <a:gd name="T9" fmla="*/ 111 h 143"/>
                  <a:gd name="T10" fmla="*/ 20 w 220"/>
                  <a:gd name="T11" fmla="*/ 143 h 143"/>
                  <a:gd name="T12" fmla="*/ 0 w 220"/>
                  <a:gd name="T13" fmla="*/ 119 h 143"/>
                  <a:gd name="T14" fmla="*/ 49 w 220"/>
                  <a:gd name="T15" fmla="*/ 85 h 143"/>
                  <a:gd name="T16" fmla="*/ 99 w 220"/>
                  <a:gd name="T17" fmla="*/ 54 h 143"/>
                  <a:gd name="T18" fmla="*/ 154 w 220"/>
                  <a:gd name="T19" fmla="*/ 25 h 143"/>
                  <a:gd name="T20" fmla="*/ 211 w 220"/>
                  <a:gd name="T21" fmla="*/ 0 h 143"/>
                  <a:gd name="T22" fmla="*/ 220 w 220"/>
                  <a:gd name="T23" fmla="*/ 30 h 14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20"/>
                  <a:gd name="T37" fmla="*/ 0 h 143"/>
                  <a:gd name="T38" fmla="*/ 220 w 220"/>
                  <a:gd name="T39" fmla="*/ 143 h 14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20" h="143">
                    <a:moveTo>
                      <a:pt x="220" y="30"/>
                    </a:moveTo>
                    <a:lnTo>
                      <a:pt x="220" y="30"/>
                    </a:lnTo>
                    <a:lnTo>
                      <a:pt x="167" y="54"/>
                    </a:lnTo>
                    <a:lnTo>
                      <a:pt x="115" y="82"/>
                    </a:lnTo>
                    <a:lnTo>
                      <a:pt x="67" y="111"/>
                    </a:lnTo>
                    <a:lnTo>
                      <a:pt x="20" y="143"/>
                    </a:lnTo>
                    <a:lnTo>
                      <a:pt x="0" y="119"/>
                    </a:lnTo>
                    <a:lnTo>
                      <a:pt x="49" y="85"/>
                    </a:lnTo>
                    <a:lnTo>
                      <a:pt x="99" y="54"/>
                    </a:lnTo>
                    <a:lnTo>
                      <a:pt x="154" y="25"/>
                    </a:lnTo>
                    <a:lnTo>
                      <a:pt x="211" y="0"/>
                    </a:lnTo>
                    <a:lnTo>
                      <a:pt x="220" y="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57" name="Freeform 178"/>
              <p:cNvSpPr>
                <a:spLocks/>
              </p:cNvSpPr>
              <p:nvPr/>
            </p:nvSpPr>
            <p:spPr bwMode="auto">
              <a:xfrm>
                <a:off x="2746" y="1297"/>
                <a:ext cx="199" cy="93"/>
              </a:xfrm>
              <a:custGeom>
                <a:avLst/>
                <a:gdLst>
                  <a:gd name="T0" fmla="*/ 197 w 199"/>
                  <a:gd name="T1" fmla="*/ 35 h 93"/>
                  <a:gd name="T2" fmla="*/ 174 w 199"/>
                  <a:gd name="T3" fmla="*/ 39 h 93"/>
                  <a:gd name="T4" fmla="*/ 151 w 199"/>
                  <a:gd name="T5" fmla="*/ 45 h 93"/>
                  <a:gd name="T6" fmla="*/ 128 w 199"/>
                  <a:gd name="T7" fmla="*/ 52 h 93"/>
                  <a:gd name="T8" fmla="*/ 104 w 199"/>
                  <a:gd name="T9" fmla="*/ 59 h 93"/>
                  <a:gd name="T10" fmla="*/ 81 w 199"/>
                  <a:gd name="T11" fmla="*/ 66 h 93"/>
                  <a:gd name="T12" fmla="*/ 57 w 199"/>
                  <a:gd name="T13" fmla="*/ 75 h 93"/>
                  <a:gd name="T14" fmla="*/ 34 w 199"/>
                  <a:gd name="T15" fmla="*/ 84 h 93"/>
                  <a:gd name="T16" fmla="*/ 10 w 199"/>
                  <a:gd name="T17" fmla="*/ 93 h 93"/>
                  <a:gd name="T18" fmla="*/ 0 w 199"/>
                  <a:gd name="T19" fmla="*/ 62 h 93"/>
                  <a:gd name="T20" fmla="*/ 25 w 199"/>
                  <a:gd name="T21" fmla="*/ 52 h 93"/>
                  <a:gd name="T22" fmla="*/ 50 w 199"/>
                  <a:gd name="T23" fmla="*/ 41 h 93"/>
                  <a:gd name="T24" fmla="*/ 75 w 199"/>
                  <a:gd name="T25" fmla="*/ 33 h 93"/>
                  <a:gd name="T26" fmla="*/ 100 w 199"/>
                  <a:gd name="T27" fmla="*/ 24 h 93"/>
                  <a:gd name="T28" fmla="*/ 126 w 199"/>
                  <a:gd name="T29" fmla="*/ 18 h 93"/>
                  <a:gd name="T30" fmla="*/ 149 w 199"/>
                  <a:gd name="T31" fmla="*/ 10 h 93"/>
                  <a:gd name="T32" fmla="*/ 176 w 199"/>
                  <a:gd name="T33" fmla="*/ 5 h 93"/>
                  <a:gd name="T34" fmla="*/ 199 w 199"/>
                  <a:gd name="T35" fmla="*/ 0 h 93"/>
                  <a:gd name="T36" fmla="*/ 197 w 199"/>
                  <a:gd name="T37" fmla="*/ 35 h 9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9"/>
                  <a:gd name="T58" fmla="*/ 0 h 93"/>
                  <a:gd name="T59" fmla="*/ 199 w 199"/>
                  <a:gd name="T60" fmla="*/ 93 h 9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9" h="93">
                    <a:moveTo>
                      <a:pt x="197" y="35"/>
                    </a:moveTo>
                    <a:lnTo>
                      <a:pt x="174" y="39"/>
                    </a:lnTo>
                    <a:lnTo>
                      <a:pt x="151" y="45"/>
                    </a:lnTo>
                    <a:lnTo>
                      <a:pt x="128" y="52"/>
                    </a:lnTo>
                    <a:lnTo>
                      <a:pt x="104" y="59"/>
                    </a:lnTo>
                    <a:lnTo>
                      <a:pt x="81" y="66"/>
                    </a:lnTo>
                    <a:lnTo>
                      <a:pt x="57" y="75"/>
                    </a:lnTo>
                    <a:lnTo>
                      <a:pt x="34" y="84"/>
                    </a:lnTo>
                    <a:lnTo>
                      <a:pt x="10" y="93"/>
                    </a:lnTo>
                    <a:lnTo>
                      <a:pt x="0" y="62"/>
                    </a:lnTo>
                    <a:lnTo>
                      <a:pt x="25" y="52"/>
                    </a:lnTo>
                    <a:lnTo>
                      <a:pt x="50" y="41"/>
                    </a:lnTo>
                    <a:lnTo>
                      <a:pt x="75" y="33"/>
                    </a:lnTo>
                    <a:lnTo>
                      <a:pt x="100" y="24"/>
                    </a:lnTo>
                    <a:lnTo>
                      <a:pt x="126" y="18"/>
                    </a:lnTo>
                    <a:lnTo>
                      <a:pt x="149" y="10"/>
                    </a:lnTo>
                    <a:lnTo>
                      <a:pt x="176" y="5"/>
                    </a:lnTo>
                    <a:lnTo>
                      <a:pt x="199" y="0"/>
                    </a:lnTo>
                    <a:lnTo>
                      <a:pt x="197" y="3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58" name="Freeform 179"/>
              <p:cNvSpPr>
                <a:spLocks/>
              </p:cNvSpPr>
              <p:nvPr/>
            </p:nvSpPr>
            <p:spPr bwMode="auto">
              <a:xfrm>
                <a:off x="2947" y="1291"/>
                <a:ext cx="25" cy="40"/>
              </a:xfrm>
              <a:custGeom>
                <a:avLst/>
                <a:gdLst>
                  <a:gd name="T0" fmla="*/ 3 w 25"/>
                  <a:gd name="T1" fmla="*/ 5 h 40"/>
                  <a:gd name="T2" fmla="*/ 25 w 25"/>
                  <a:gd name="T3" fmla="*/ 0 h 40"/>
                  <a:gd name="T4" fmla="*/ 22 w 25"/>
                  <a:gd name="T5" fmla="*/ 36 h 40"/>
                  <a:gd name="T6" fmla="*/ 0 w 25"/>
                  <a:gd name="T7" fmla="*/ 40 h 40"/>
                  <a:gd name="T8" fmla="*/ 3 w 25"/>
                  <a:gd name="T9" fmla="*/ 5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40"/>
                  <a:gd name="T17" fmla="*/ 25 w 25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40">
                    <a:moveTo>
                      <a:pt x="3" y="5"/>
                    </a:moveTo>
                    <a:lnTo>
                      <a:pt x="25" y="0"/>
                    </a:lnTo>
                    <a:lnTo>
                      <a:pt x="22" y="36"/>
                    </a:lnTo>
                    <a:lnTo>
                      <a:pt x="0" y="40"/>
                    </a:lnTo>
                    <a:lnTo>
                      <a:pt x="3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59" name="Freeform 180"/>
              <p:cNvSpPr>
                <a:spLocks/>
              </p:cNvSpPr>
              <p:nvPr/>
            </p:nvSpPr>
            <p:spPr bwMode="auto">
              <a:xfrm>
                <a:off x="2494" y="1402"/>
                <a:ext cx="158" cy="120"/>
              </a:xfrm>
              <a:custGeom>
                <a:avLst/>
                <a:gdLst>
                  <a:gd name="T0" fmla="*/ 158 w 158"/>
                  <a:gd name="T1" fmla="*/ 69 h 120"/>
                  <a:gd name="T2" fmla="*/ 0 w 158"/>
                  <a:gd name="T3" fmla="*/ 120 h 120"/>
                  <a:gd name="T4" fmla="*/ 102 w 158"/>
                  <a:gd name="T5" fmla="*/ 0 h 120"/>
                  <a:gd name="T6" fmla="*/ 158 w 158"/>
                  <a:gd name="T7" fmla="*/ 69 h 1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8"/>
                  <a:gd name="T13" fmla="*/ 0 h 120"/>
                  <a:gd name="T14" fmla="*/ 158 w 158"/>
                  <a:gd name="T15" fmla="*/ 120 h 1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8" h="120">
                    <a:moveTo>
                      <a:pt x="158" y="69"/>
                    </a:moveTo>
                    <a:lnTo>
                      <a:pt x="0" y="120"/>
                    </a:lnTo>
                    <a:lnTo>
                      <a:pt x="102" y="0"/>
                    </a:lnTo>
                    <a:lnTo>
                      <a:pt x="158" y="69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60" name="Freeform 181"/>
              <p:cNvSpPr>
                <a:spLocks/>
              </p:cNvSpPr>
              <p:nvPr/>
            </p:nvSpPr>
            <p:spPr bwMode="auto">
              <a:xfrm>
                <a:off x="2481" y="1469"/>
                <a:ext cx="168" cy="63"/>
              </a:xfrm>
              <a:custGeom>
                <a:avLst/>
                <a:gdLst>
                  <a:gd name="T0" fmla="*/ 18 w 168"/>
                  <a:gd name="T1" fmla="*/ 56 h 63"/>
                  <a:gd name="T2" fmla="*/ 13 w 168"/>
                  <a:gd name="T3" fmla="*/ 49 h 63"/>
                  <a:gd name="T4" fmla="*/ 167 w 168"/>
                  <a:gd name="T5" fmla="*/ 0 h 63"/>
                  <a:gd name="T6" fmla="*/ 168 w 168"/>
                  <a:gd name="T7" fmla="*/ 8 h 63"/>
                  <a:gd name="T8" fmla="*/ 15 w 168"/>
                  <a:gd name="T9" fmla="*/ 59 h 63"/>
                  <a:gd name="T10" fmla="*/ 10 w 168"/>
                  <a:gd name="T11" fmla="*/ 51 h 63"/>
                  <a:gd name="T12" fmla="*/ 15 w 168"/>
                  <a:gd name="T13" fmla="*/ 59 h 63"/>
                  <a:gd name="T14" fmla="*/ 0 w 168"/>
                  <a:gd name="T15" fmla="*/ 63 h 63"/>
                  <a:gd name="T16" fmla="*/ 10 w 168"/>
                  <a:gd name="T17" fmla="*/ 51 h 63"/>
                  <a:gd name="T18" fmla="*/ 18 w 168"/>
                  <a:gd name="T19" fmla="*/ 56 h 6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8"/>
                  <a:gd name="T31" fmla="*/ 0 h 63"/>
                  <a:gd name="T32" fmla="*/ 168 w 168"/>
                  <a:gd name="T33" fmla="*/ 63 h 6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8" h="63">
                    <a:moveTo>
                      <a:pt x="18" y="56"/>
                    </a:moveTo>
                    <a:lnTo>
                      <a:pt x="13" y="49"/>
                    </a:lnTo>
                    <a:lnTo>
                      <a:pt x="167" y="0"/>
                    </a:lnTo>
                    <a:lnTo>
                      <a:pt x="168" y="8"/>
                    </a:lnTo>
                    <a:lnTo>
                      <a:pt x="15" y="59"/>
                    </a:lnTo>
                    <a:lnTo>
                      <a:pt x="10" y="51"/>
                    </a:lnTo>
                    <a:lnTo>
                      <a:pt x="15" y="59"/>
                    </a:lnTo>
                    <a:lnTo>
                      <a:pt x="0" y="63"/>
                    </a:lnTo>
                    <a:lnTo>
                      <a:pt x="10" y="51"/>
                    </a:lnTo>
                    <a:lnTo>
                      <a:pt x="18" y="56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61" name="Freeform 182"/>
              <p:cNvSpPr>
                <a:spLocks/>
              </p:cNvSpPr>
              <p:nvPr/>
            </p:nvSpPr>
            <p:spPr bwMode="auto">
              <a:xfrm>
                <a:off x="2490" y="1393"/>
                <a:ext cx="109" cy="131"/>
              </a:xfrm>
              <a:custGeom>
                <a:avLst/>
                <a:gdLst>
                  <a:gd name="T0" fmla="*/ 99 w 109"/>
                  <a:gd name="T1" fmla="*/ 13 h 131"/>
                  <a:gd name="T2" fmla="*/ 108 w 109"/>
                  <a:gd name="T3" fmla="*/ 12 h 131"/>
                  <a:gd name="T4" fmla="*/ 8 w 109"/>
                  <a:gd name="T5" fmla="*/ 131 h 131"/>
                  <a:gd name="T6" fmla="*/ 0 w 109"/>
                  <a:gd name="T7" fmla="*/ 127 h 131"/>
                  <a:gd name="T8" fmla="*/ 101 w 109"/>
                  <a:gd name="T9" fmla="*/ 6 h 131"/>
                  <a:gd name="T10" fmla="*/ 109 w 109"/>
                  <a:gd name="T11" fmla="*/ 5 h 131"/>
                  <a:gd name="T12" fmla="*/ 101 w 109"/>
                  <a:gd name="T13" fmla="*/ 6 h 131"/>
                  <a:gd name="T14" fmla="*/ 105 w 109"/>
                  <a:gd name="T15" fmla="*/ 0 h 131"/>
                  <a:gd name="T16" fmla="*/ 109 w 109"/>
                  <a:gd name="T17" fmla="*/ 5 h 131"/>
                  <a:gd name="T18" fmla="*/ 99 w 109"/>
                  <a:gd name="T19" fmla="*/ 13 h 13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9"/>
                  <a:gd name="T31" fmla="*/ 0 h 131"/>
                  <a:gd name="T32" fmla="*/ 109 w 109"/>
                  <a:gd name="T33" fmla="*/ 131 h 13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9" h="131">
                    <a:moveTo>
                      <a:pt x="99" y="13"/>
                    </a:moveTo>
                    <a:lnTo>
                      <a:pt x="108" y="12"/>
                    </a:lnTo>
                    <a:lnTo>
                      <a:pt x="8" y="131"/>
                    </a:lnTo>
                    <a:lnTo>
                      <a:pt x="0" y="127"/>
                    </a:lnTo>
                    <a:lnTo>
                      <a:pt x="101" y="6"/>
                    </a:lnTo>
                    <a:lnTo>
                      <a:pt x="109" y="5"/>
                    </a:lnTo>
                    <a:lnTo>
                      <a:pt x="101" y="6"/>
                    </a:lnTo>
                    <a:lnTo>
                      <a:pt x="105" y="0"/>
                    </a:lnTo>
                    <a:lnTo>
                      <a:pt x="109" y="5"/>
                    </a:lnTo>
                    <a:lnTo>
                      <a:pt x="99" y="13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62" name="Freeform 183"/>
              <p:cNvSpPr>
                <a:spLocks/>
              </p:cNvSpPr>
              <p:nvPr/>
            </p:nvSpPr>
            <p:spPr bwMode="auto">
              <a:xfrm>
                <a:off x="2592" y="1397"/>
                <a:ext cx="69" cy="79"/>
              </a:xfrm>
              <a:custGeom>
                <a:avLst/>
                <a:gdLst>
                  <a:gd name="T0" fmla="*/ 61 w 69"/>
                  <a:gd name="T1" fmla="*/ 71 h 79"/>
                  <a:gd name="T2" fmla="*/ 55 w 69"/>
                  <a:gd name="T3" fmla="*/ 78 h 79"/>
                  <a:gd name="T4" fmla="*/ 0 w 69"/>
                  <a:gd name="T5" fmla="*/ 7 h 79"/>
                  <a:gd name="T6" fmla="*/ 8 w 69"/>
                  <a:gd name="T7" fmla="*/ 0 h 79"/>
                  <a:gd name="T8" fmla="*/ 66 w 69"/>
                  <a:gd name="T9" fmla="*/ 72 h 79"/>
                  <a:gd name="T10" fmla="*/ 61 w 69"/>
                  <a:gd name="T11" fmla="*/ 79 h 79"/>
                  <a:gd name="T12" fmla="*/ 66 w 69"/>
                  <a:gd name="T13" fmla="*/ 72 h 79"/>
                  <a:gd name="T14" fmla="*/ 69 w 69"/>
                  <a:gd name="T15" fmla="*/ 77 h 79"/>
                  <a:gd name="T16" fmla="*/ 61 w 69"/>
                  <a:gd name="T17" fmla="*/ 79 h 79"/>
                  <a:gd name="T18" fmla="*/ 61 w 69"/>
                  <a:gd name="T19" fmla="*/ 71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9"/>
                  <a:gd name="T31" fmla="*/ 0 h 79"/>
                  <a:gd name="T32" fmla="*/ 69 w 69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9" h="79">
                    <a:moveTo>
                      <a:pt x="61" y="71"/>
                    </a:moveTo>
                    <a:lnTo>
                      <a:pt x="55" y="78"/>
                    </a:lnTo>
                    <a:lnTo>
                      <a:pt x="0" y="7"/>
                    </a:lnTo>
                    <a:lnTo>
                      <a:pt x="8" y="0"/>
                    </a:lnTo>
                    <a:lnTo>
                      <a:pt x="66" y="72"/>
                    </a:lnTo>
                    <a:lnTo>
                      <a:pt x="61" y="79"/>
                    </a:lnTo>
                    <a:lnTo>
                      <a:pt x="66" y="72"/>
                    </a:lnTo>
                    <a:lnTo>
                      <a:pt x="69" y="77"/>
                    </a:lnTo>
                    <a:lnTo>
                      <a:pt x="61" y="79"/>
                    </a:lnTo>
                    <a:lnTo>
                      <a:pt x="61" y="71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63" name="Freeform 184"/>
              <p:cNvSpPr>
                <a:spLocks/>
              </p:cNvSpPr>
              <p:nvPr/>
            </p:nvSpPr>
            <p:spPr bwMode="auto">
              <a:xfrm>
                <a:off x="2517" y="1478"/>
                <a:ext cx="32" cy="32"/>
              </a:xfrm>
              <a:custGeom>
                <a:avLst/>
                <a:gdLst>
                  <a:gd name="T0" fmla="*/ 32 w 32"/>
                  <a:gd name="T1" fmla="*/ 21 h 32"/>
                  <a:gd name="T2" fmla="*/ 17 w 32"/>
                  <a:gd name="T3" fmla="*/ 32 h 32"/>
                  <a:gd name="T4" fmla="*/ 0 w 32"/>
                  <a:gd name="T5" fmla="*/ 10 h 32"/>
                  <a:gd name="T6" fmla="*/ 15 w 32"/>
                  <a:gd name="T7" fmla="*/ 0 h 32"/>
                  <a:gd name="T8" fmla="*/ 32 w 32"/>
                  <a:gd name="T9" fmla="*/ 21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32"/>
                  <a:gd name="T17" fmla="*/ 32 w 32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32">
                    <a:moveTo>
                      <a:pt x="32" y="21"/>
                    </a:moveTo>
                    <a:lnTo>
                      <a:pt x="17" y="32"/>
                    </a:lnTo>
                    <a:lnTo>
                      <a:pt x="0" y="10"/>
                    </a:lnTo>
                    <a:lnTo>
                      <a:pt x="15" y="0"/>
                    </a:lnTo>
                    <a:lnTo>
                      <a:pt x="32" y="21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64" name="Freeform 185"/>
              <p:cNvSpPr>
                <a:spLocks/>
              </p:cNvSpPr>
              <p:nvPr/>
            </p:nvSpPr>
            <p:spPr bwMode="auto">
              <a:xfrm>
                <a:off x="2534" y="1360"/>
                <a:ext cx="217" cy="140"/>
              </a:xfrm>
              <a:custGeom>
                <a:avLst/>
                <a:gdLst>
                  <a:gd name="T0" fmla="*/ 217 w 217"/>
                  <a:gd name="T1" fmla="*/ 25 h 140"/>
                  <a:gd name="T2" fmla="*/ 217 w 217"/>
                  <a:gd name="T3" fmla="*/ 25 h 140"/>
                  <a:gd name="T4" fmla="*/ 164 w 217"/>
                  <a:gd name="T5" fmla="*/ 50 h 140"/>
                  <a:gd name="T6" fmla="*/ 112 w 217"/>
                  <a:gd name="T7" fmla="*/ 78 h 140"/>
                  <a:gd name="T8" fmla="*/ 63 w 217"/>
                  <a:gd name="T9" fmla="*/ 108 h 140"/>
                  <a:gd name="T10" fmla="*/ 17 w 217"/>
                  <a:gd name="T11" fmla="*/ 140 h 140"/>
                  <a:gd name="T12" fmla="*/ 0 w 217"/>
                  <a:gd name="T13" fmla="*/ 119 h 140"/>
                  <a:gd name="T14" fmla="*/ 48 w 217"/>
                  <a:gd name="T15" fmla="*/ 86 h 140"/>
                  <a:gd name="T16" fmla="*/ 99 w 217"/>
                  <a:gd name="T17" fmla="*/ 55 h 140"/>
                  <a:gd name="T18" fmla="*/ 153 w 217"/>
                  <a:gd name="T19" fmla="*/ 27 h 140"/>
                  <a:gd name="T20" fmla="*/ 209 w 217"/>
                  <a:gd name="T21" fmla="*/ 0 h 140"/>
                  <a:gd name="T22" fmla="*/ 217 w 217"/>
                  <a:gd name="T23" fmla="*/ 25 h 14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7"/>
                  <a:gd name="T37" fmla="*/ 0 h 140"/>
                  <a:gd name="T38" fmla="*/ 217 w 217"/>
                  <a:gd name="T39" fmla="*/ 140 h 14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7" h="140">
                    <a:moveTo>
                      <a:pt x="217" y="25"/>
                    </a:moveTo>
                    <a:lnTo>
                      <a:pt x="217" y="25"/>
                    </a:lnTo>
                    <a:lnTo>
                      <a:pt x="164" y="50"/>
                    </a:lnTo>
                    <a:lnTo>
                      <a:pt x="112" y="78"/>
                    </a:lnTo>
                    <a:lnTo>
                      <a:pt x="63" y="108"/>
                    </a:lnTo>
                    <a:lnTo>
                      <a:pt x="17" y="140"/>
                    </a:lnTo>
                    <a:lnTo>
                      <a:pt x="0" y="119"/>
                    </a:lnTo>
                    <a:lnTo>
                      <a:pt x="48" y="86"/>
                    </a:lnTo>
                    <a:lnTo>
                      <a:pt x="99" y="55"/>
                    </a:lnTo>
                    <a:lnTo>
                      <a:pt x="153" y="27"/>
                    </a:lnTo>
                    <a:lnTo>
                      <a:pt x="209" y="0"/>
                    </a:lnTo>
                    <a:lnTo>
                      <a:pt x="217" y="25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65" name="Freeform 186"/>
              <p:cNvSpPr>
                <a:spLocks/>
              </p:cNvSpPr>
              <p:nvPr/>
            </p:nvSpPr>
            <p:spPr bwMode="auto">
              <a:xfrm>
                <a:off x="2748" y="1298"/>
                <a:ext cx="195" cy="87"/>
              </a:xfrm>
              <a:custGeom>
                <a:avLst/>
                <a:gdLst>
                  <a:gd name="T0" fmla="*/ 194 w 195"/>
                  <a:gd name="T1" fmla="*/ 29 h 87"/>
                  <a:gd name="T2" fmla="*/ 171 w 195"/>
                  <a:gd name="T3" fmla="*/ 33 h 87"/>
                  <a:gd name="T4" fmla="*/ 148 w 195"/>
                  <a:gd name="T5" fmla="*/ 38 h 87"/>
                  <a:gd name="T6" fmla="*/ 124 w 195"/>
                  <a:gd name="T7" fmla="*/ 45 h 87"/>
                  <a:gd name="T8" fmla="*/ 100 w 195"/>
                  <a:gd name="T9" fmla="*/ 52 h 87"/>
                  <a:gd name="T10" fmla="*/ 78 w 195"/>
                  <a:gd name="T11" fmla="*/ 60 h 87"/>
                  <a:gd name="T12" fmla="*/ 54 w 195"/>
                  <a:gd name="T13" fmla="*/ 68 h 87"/>
                  <a:gd name="T14" fmla="*/ 31 w 195"/>
                  <a:gd name="T15" fmla="*/ 77 h 87"/>
                  <a:gd name="T16" fmla="*/ 8 w 195"/>
                  <a:gd name="T17" fmla="*/ 87 h 87"/>
                  <a:gd name="T18" fmla="*/ 0 w 195"/>
                  <a:gd name="T19" fmla="*/ 61 h 87"/>
                  <a:gd name="T20" fmla="*/ 23 w 195"/>
                  <a:gd name="T21" fmla="*/ 51 h 87"/>
                  <a:gd name="T22" fmla="*/ 49 w 195"/>
                  <a:gd name="T23" fmla="*/ 42 h 87"/>
                  <a:gd name="T24" fmla="*/ 73 w 195"/>
                  <a:gd name="T25" fmla="*/ 33 h 87"/>
                  <a:gd name="T26" fmla="*/ 98 w 195"/>
                  <a:gd name="T27" fmla="*/ 24 h 87"/>
                  <a:gd name="T28" fmla="*/ 123 w 195"/>
                  <a:gd name="T29" fmla="*/ 18 h 87"/>
                  <a:gd name="T30" fmla="*/ 148 w 195"/>
                  <a:gd name="T31" fmla="*/ 9 h 87"/>
                  <a:gd name="T32" fmla="*/ 172 w 195"/>
                  <a:gd name="T33" fmla="*/ 5 h 87"/>
                  <a:gd name="T34" fmla="*/ 195 w 195"/>
                  <a:gd name="T35" fmla="*/ 0 h 87"/>
                  <a:gd name="T36" fmla="*/ 194 w 195"/>
                  <a:gd name="T37" fmla="*/ 29 h 8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5"/>
                  <a:gd name="T58" fmla="*/ 0 h 87"/>
                  <a:gd name="T59" fmla="*/ 195 w 195"/>
                  <a:gd name="T60" fmla="*/ 87 h 8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5" h="87">
                    <a:moveTo>
                      <a:pt x="194" y="29"/>
                    </a:moveTo>
                    <a:lnTo>
                      <a:pt x="171" y="33"/>
                    </a:lnTo>
                    <a:lnTo>
                      <a:pt x="148" y="38"/>
                    </a:lnTo>
                    <a:lnTo>
                      <a:pt x="124" y="45"/>
                    </a:lnTo>
                    <a:lnTo>
                      <a:pt x="100" y="52"/>
                    </a:lnTo>
                    <a:lnTo>
                      <a:pt x="78" y="60"/>
                    </a:lnTo>
                    <a:lnTo>
                      <a:pt x="54" y="68"/>
                    </a:lnTo>
                    <a:lnTo>
                      <a:pt x="31" y="77"/>
                    </a:lnTo>
                    <a:lnTo>
                      <a:pt x="8" y="87"/>
                    </a:lnTo>
                    <a:lnTo>
                      <a:pt x="0" y="61"/>
                    </a:lnTo>
                    <a:lnTo>
                      <a:pt x="23" y="51"/>
                    </a:lnTo>
                    <a:lnTo>
                      <a:pt x="49" y="42"/>
                    </a:lnTo>
                    <a:lnTo>
                      <a:pt x="73" y="33"/>
                    </a:lnTo>
                    <a:lnTo>
                      <a:pt x="98" y="24"/>
                    </a:lnTo>
                    <a:lnTo>
                      <a:pt x="123" y="18"/>
                    </a:lnTo>
                    <a:lnTo>
                      <a:pt x="148" y="9"/>
                    </a:lnTo>
                    <a:lnTo>
                      <a:pt x="172" y="5"/>
                    </a:lnTo>
                    <a:lnTo>
                      <a:pt x="195" y="0"/>
                    </a:lnTo>
                    <a:lnTo>
                      <a:pt x="194" y="29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66" name="Freeform 187"/>
              <p:cNvSpPr>
                <a:spLocks/>
              </p:cNvSpPr>
              <p:nvPr/>
            </p:nvSpPr>
            <p:spPr bwMode="auto">
              <a:xfrm>
                <a:off x="2945" y="1296"/>
                <a:ext cx="21" cy="32"/>
              </a:xfrm>
              <a:custGeom>
                <a:avLst/>
                <a:gdLst>
                  <a:gd name="T0" fmla="*/ 3 w 21"/>
                  <a:gd name="T1" fmla="*/ 3 h 32"/>
                  <a:gd name="T2" fmla="*/ 21 w 21"/>
                  <a:gd name="T3" fmla="*/ 0 h 32"/>
                  <a:gd name="T4" fmla="*/ 19 w 21"/>
                  <a:gd name="T5" fmla="*/ 29 h 32"/>
                  <a:gd name="T6" fmla="*/ 0 w 21"/>
                  <a:gd name="T7" fmla="*/ 32 h 32"/>
                  <a:gd name="T8" fmla="*/ 3 w 21"/>
                  <a:gd name="T9" fmla="*/ 3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32"/>
                  <a:gd name="T17" fmla="*/ 21 w 21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32">
                    <a:moveTo>
                      <a:pt x="3" y="3"/>
                    </a:moveTo>
                    <a:lnTo>
                      <a:pt x="21" y="0"/>
                    </a:lnTo>
                    <a:lnTo>
                      <a:pt x="19" y="29"/>
                    </a:lnTo>
                    <a:lnTo>
                      <a:pt x="0" y="32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67" name="Freeform 188"/>
              <p:cNvSpPr>
                <a:spLocks/>
              </p:cNvSpPr>
              <p:nvPr/>
            </p:nvSpPr>
            <p:spPr bwMode="auto">
              <a:xfrm>
                <a:off x="2466" y="1422"/>
                <a:ext cx="154" cy="123"/>
              </a:xfrm>
              <a:custGeom>
                <a:avLst/>
                <a:gdLst>
                  <a:gd name="T0" fmla="*/ 154 w 154"/>
                  <a:gd name="T1" fmla="*/ 67 h 123"/>
                  <a:gd name="T2" fmla="*/ 0 w 154"/>
                  <a:gd name="T3" fmla="*/ 123 h 123"/>
                  <a:gd name="T4" fmla="*/ 93 w 154"/>
                  <a:gd name="T5" fmla="*/ 0 h 123"/>
                  <a:gd name="T6" fmla="*/ 154 w 154"/>
                  <a:gd name="T7" fmla="*/ 67 h 1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123"/>
                  <a:gd name="T14" fmla="*/ 154 w 154"/>
                  <a:gd name="T15" fmla="*/ 123 h 1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123">
                    <a:moveTo>
                      <a:pt x="154" y="67"/>
                    </a:moveTo>
                    <a:lnTo>
                      <a:pt x="0" y="123"/>
                    </a:lnTo>
                    <a:lnTo>
                      <a:pt x="93" y="0"/>
                    </a:lnTo>
                    <a:lnTo>
                      <a:pt x="154" y="6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68" name="Freeform 189"/>
              <p:cNvSpPr>
                <a:spLocks/>
              </p:cNvSpPr>
              <p:nvPr/>
            </p:nvSpPr>
            <p:spPr bwMode="auto">
              <a:xfrm>
                <a:off x="2444" y="1483"/>
                <a:ext cx="178" cy="79"/>
              </a:xfrm>
              <a:custGeom>
                <a:avLst/>
                <a:gdLst>
                  <a:gd name="T0" fmla="*/ 31 w 178"/>
                  <a:gd name="T1" fmla="*/ 65 h 79"/>
                  <a:gd name="T2" fmla="*/ 22 w 178"/>
                  <a:gd name="T3" fmla="*/ 56 h 79"/>
                  <a:gd name="T4" fmla="*/ 176 w 178"/>
                  <a:gd name="T5" fmla="*/ 0 h 79"/>
                  <a:gd name="T6" fmla="*/ 178 w 178"/>
                  <a:gd name="T7" fmla="*/ 14 h 79"/>
                  <a:gd name="T8" fmla="*/ 24 w 178"/>
                  <a:gd name="T9" fmla="*/ 70 h 79"/>
                  <a:gd name="T10" fmla="*/ 15 w 178"/>
                  <a:gd name="T11" fmla="*/ 61 h 79"/>
                  <a:gd name="T12" fmla="*/ 24 w 178"/>
                  <a:gd name="T13" fmla="*/ 70 h 79"/>
                  <a:gd name="T14" fmla="*/ 0 w 178"/>
                  <a:gd name="T15" fmla="*/ 79 h 79"/>
                  <a:gd name="T16" fmla="*/ 15 w 178"/>
                  <a:gd name="T17" fmla="*/ 61 h 79"/>
                  <a:gd name="T18" fmla="*/ 31 w 178"/>
                  <a:gd name="T19" fmla="*/ 65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8"/>
                  <a:gd name="T31" fmla="*/ 0 h 79"/>
                  <a:gd name="T32" fmla="*/ 178 w 178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8" h="79">
                    <a:moveTo>
                      <a:pt x="31" y="65"/>
                    </a:moveTo>
                    <a:lnTo>
                      <a:pt x="22" y="56"/>
                    </a:lnTo>
                    <a:lnTo>
                      <a:pt x="176" y="0"/>
                    </a:lnTo>
                    <a:lnTo>
                      <a:pt x="178" y="14"/>
                    </a:lnTo>
                    <a:lnTo>
                      <a:pt x="24" y="70"/>
                    </a:lnTo>
                    <a:lnTo>
                      <a:pt x="15" y="61"/>
                    </a:lnTo>
                    <a:lnTo>
                      <a:pt x="24" y="70"/>
                    </a:lnTo>
                    <a:lnTo>
                      <a:pt x="0" y="79"/>
                    </a:lnTo>
                    <a:lnTo>
                      <a:pt x="15" y="61"/>
                    </a:lnTo>
                    <a:lnTo>
                      <a:pt x="31" y="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69" name="Freeform 190"/>
              <p:cNvSpPr>
                <a:spLocks/>
              </p:cNvSpPr>
              <p:nvPr/>
            </p:nvSpPr>
            <p:spPr bwMode="auto">
              <a:xfrm>
                <a:off x="2456" y="1410"/>
                <a:ext cx="110" cy="138"/>
              </a:xfrm>
              <a:custGeom>
                <a:avLst/>
                <a:gdLst>
                  <a:gd name="T0" fmla="*/ 93 w 110"/>
                  <a:gd name="T1" fmla="*/ 19 h 138"/>
                  <a:gd name="T2" fmla="*/ 109 w 110"/>
                  <a:gd name="T3" fmla="*/ 16 h 138"/>
                  <a:gd name="T4" fmla="*/ 16 w 110"/>
                  <a:gd name="T5" fmla="*/ 138 h 138"/>
                  <a:gd name="T6" fmla="*/ 0 w 110"/>
                  <a:gd name="T7" fmla="*/ 134 h 138"/>
                  <a:gd name="T8" fmla="*/ 94 w 110"/>
                  <a:gd name="T9" fmla="*/ 11 h 138"/>
                  <a:gd name="T10" fmla="*/ 110 w 110"/>
                  <a:gd name="T11" fmla="*/ 8 h 138"/>
                  <a:gd name="T12" fmla="*/ 94 w 110"/>
                  <a:gd name="T13" fmla="*/ 11 h 138"/>
                  <a:gd name="T14" fmla="*/ 104 w 110"/>
                  <a:gd name="T15" fmla="*/ 0 h 138"/>
                  <a:gd name="T16" fmla="*/ 110 w 110"/>
                  <a:gd name="T17" fmla="*/ 8 h 138"/>
                  <a:gd name="T18" fmla="*/ 93 w 110"/>
                  <a:gd name="T19" fmla="*/ 19 h 1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0"/>
                  <a:gd name="T31" fmla="*/ 0 h 138"/>
                  <a:gd name="T32" fmla="*/ 110 w 110"/>
                  <a:gd name="T33" fmla="*/ 138 h 13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0" h="138">
                    <a:moveTo>
                      <a:pt x="93" y="19"/>
                    </a:moveTo>
                    <a:lnTo>
                      <a:pt x="109" y="16"/>
                    </a:lnTo>
                    <a:lnTo>
                      <a:pt x="16" y="138"/>
                    </a:lnTo>
                    <a:lnTo>
                      <a:pt x="0" y="134"/>
                    </a:lnTo>
                    <a:lnTo>
                      <a:pt x="94" y="11"/>
                    </a:lnTo>
                    <a:lnTo>
                      <a:pt x="110" y="8"/>
                    </a:lnTo>
                    <a:lnTo>
                      <a:pt x="94" y="11"/>
                    </a:lnTo>
                    <a:lnTo>
                      <a:pt x="104" y="0"/>
                    </a:lnTo>
                    <a:lnTo>
                      <a:pt x="110" y="8"/>
                    </a:lnTo>
                    <a:lnTo>
                      <a:pt x="93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70" name="Freeform 191"/>
              <p:cNvSpPr>
                <a:spLocks/>
              </p:cNvSpPr>
              <p:nvPr/>
            </p:nvSpPr>
            <p:spPr bwMode="auto">
              <a:xfrm>
                <a:off x="2550" y="1418"/>
                <a:ext cx="87" cy="80"/>
              </a:xfrm>
              <a:custGeom>
                <a:avLst/>
                <a:gdLst>
                  <a:gd name="T0" fmla="*/ 68 w 87"/>
                  <a:gd name="T1" fmla="*/ 66 h 80"/>
                  <a:gd name="T2" fmla="*/ 61 w 87"/>
                  <a:gd name="T3" fmla="*/ 79 h 80"/>
                  <a:gd name="T4" fmla="*/ 0 w 87"/>
                  <a:gd name="T5" fmla="*/ 11 h 80"/>
                  <a:gd name="T6" fmla="*/ 17 w 87"/>
                  <a:gd name="T7" fmla="*/ 0 h 80"/>
                  <a:gd name="T8" fmla="*/ 78 w 87"/>
                  <a:gd name="T9" fmla="*/ 67 h 80"/>
                  <a:gd name="T10" fmla="*/ 72 w 87"/>
                  <a:gd name="T11" fmla="*/ 80 h 80"/>
                  <a:gd name="T12" fmla="*/ 78 w 87"/>
                  <a:gd name="T13" fmla="*/ 67 h 80"/>
                  <a:gd name="T14" fmla="*/ 87 w 87"/>
                  <a:gd name="T15" fmla="*/ 75 h 80"/>
                  <a:gd name="T16" fmla="*/ 72 w 87"/>
                  <a:gd name="T17" fmla="*/ 80 h 80"/>
                  <a:gd name="T18" fmla="*/ 68 w 87"/>
                  <a:gd name="T19" fmla="*/ 66 h 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7"/>
                  <a:gd name="T31" fmla="*/ 0 h 80"/>
                  <a:gd name="T32" fmla="*/ 87 w 87"/>
                  <a:gd name="T33" fmla="*/ 80 h 8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7" h="80">
                    <a:moveTo>
                      <a:pt x="68" y="66"/>
                    </a:moveTo>
                    <a:lnTo>
                      <a:pt x="61" y="79"/>
                    </a:lnTo>
                    <a:lnTo>
                      <a:pt x="0" y="11"/>
                    </a:lnTo>
                    <a:lnTo>
                      <a:pt x="17" y="0"/>
                    </a:lnTo>
                    <a:lnTo>
                      <a:pt x="78" y="67"/>
                    </a:lnTo>
                    <a:lnTo>
                      <a:pt x="72" y="80"/>
                    </a:lnTo>
                    <a:lnTo>
                      <a:pt x="78" y="67"/>
                    </a:lnTo>
                    <a:lnTo>
                      <a:pt x="87" y="75"/>
                    </a:lnTo>
                    <a:lnTo>
                      <a:pt x="72" y="80"/>
                    </a:lnTo>
                    <a:lnTo>
                      <a:pt x="68" y="6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71" name="Freeform 192"/>
              <p:cNvSpPr>
                <a:spLocks/>
              </p:cNvSpPr>
              <p:nvPr/>
            </p:nvSpPr>
            <p:spPr bwMode="auto">
              <a:xfrm>
                <a:off x="2478" y="1500"/>
                <a:ext cx="39" cy="36"/>
              </a:xfrm>
              <a:custGeom>
                <a:avLst/>
                <a:gdLst>
                  <a:gd name="T0" fmla="*/ 39 w 39"/>
                  <a:gd name="T1" fmla="*/ 22 h 36"/>
                  <a:gd name="T2" fmla="*/ 23 w 39"/>
                  <a:gd name="T3" fmla="*/ 36 h 36"/>
                  <a:gd name="T4" fmla="*/ 0 w 39"/>
                  <a:gd name="T5" fmla="*/ 14 h 36"/>
                  <a:gd name="T6" fmla="*/ 16 w 39"/>
                  <a:gd name="T7" fmla="*/ 0 h 36"/>
                  <a:gd name="T8" fmla="*/ 39 w 39"/>
                  <a:gd name="T9" fmla="*/ 22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9"/>
                  <a:gd name="T16" fmla="*/ 0 h 36"/>
                  <a:gd name="T17" fmla="*/ 39 w 3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9" h="36">
                    <a:moveTo>
                      <a:pt x="39" y="22"/>
                    </a:moveTo>
                    <a:lnTo>
                      <a:pt x="23" y="36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39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72" name="Freeform 193"/>
              <p:cNvSpPr>
                <a:spLocks/>
              </p:cNvSpPr>
              <p:nvPr/>
            </p:nvSpPr>
            <p:spPr bwMode="auto">
              <a:xfrm>
                <a:off x="2500" y="1373"/>
                <a:ext cx="217" cy="149"/>
              </a:xfrm>
              <a:custGeom>
                <a:avLst/>
                <a:gdLst>
                  <a:gd name="T0" fmla="*/ 217 w 217"/>
                  <a:gd name="T1" fmla="*/ 29 h 149"/>
                  <a:gd name="T2" fmla="*/ 217 w 217"/>
                  <a:gd name="T3" fmla="*/ 29 h 149"/>
                  <a:gd name="T4" fmla="*/ 191 w 217"/>
                  <a:gd name="T5" fmla="*/ 41 h 149"/>
                  <a:gd name="T6" fmla="*/ 164 w 217"/>
                  <a:gd name="T7" fmla="*/ 56 h 149"/>
                  <a:gd name="T8" fmla="*/ 140 w 217"/>
                  <a:gd name="T9" fmla="*/ 70 h 149"/>
                  <a:gd name="T10" fmla="*/ 115 w 217"/>
                  <a:gd name="T11" fmla="*/ 85 h 149"/>
                  <a:gd name="T12" fmla="*/ 92 w 217"/>
                  <a:gd name="T13" fmla="*/ 100 h 149"/>
                  <a:gd name="T14" fmla="*/ 67 w 217"/>
                  <a:gd name="T15" fmla="*/ 116 h 149"/>
                  <a:gd name="T16" fmla="*/ 45 w 217"/>
                  <a:gd name="T17" fmla="*/ 132 h 149"/>
                  <a:gd name="T18" fmla="*/ 22 w 217"/>
                  <a:gd name="T19" fmla="*/ 149 h 149"/>
                  <a:gd name="T20" fmla="*/ 0 w 217"/>
                  <a:gd name="T21" fmla="*/ 127 h 149"/>
                  <a:gd name="T22" fmla="*/ 22 w 217"/>
                  <a:gd name="T23" fmla="*/ 109 h 149"/>
                  <a:gd name="T24" fmla="*/ 47 w 217"/>
                  <a:gd name="T25" fmla="*/ 92 h 149"/>
                  <a:gd name="T26" fmla="*/ 73 w 217"/>
                  <a:gd name="T27" fmla="*/ 74 h 149"/>
                  <a:gd name="T28" fmla="*/ 98 w 217"/>
                  <a:gd name="T29" fmla="*/ 58 h 149"/>
                  <a:gd name="T30" fmla="*/ 123 w 217"/>
                  <a:gd name="T31" fmla="*/ 42 h 149"/>
                  <a:gd name="T32" fmla="*/ 149 w 217"/>
                  <a:gd name="T33" fmla="*/ 27 h 149"/>
                  <a:gd name="T34" fmla="*/ 177 w 217"/>
                  <a:gd name="T35" fmla="*/ 12 h 149"/>
                  <a:gd name="T36" fmla="*/ 205 w 217"/>
                  <a:gd name="T37" fmla="*/ 0 h 149"/>
                  <a:gd name="T38" fmla="*/ 217 w 217"/>
                  <a:gd name="T39" fmla="*/ 29 h 14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7"/>
                  <a:gd name="T61" fmla="*/ 0 h 149"/>
                  <a:gd name="T62" fmla="*/ 217 w 217"/>
                  <a:gd name="T63" fmla="*/ 149 h 14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7" h="149">
                    <a:moveTo>
                      <a:pt x="217" y="29"/>
                    </a:moveTo>
                    <a:lnTo>
                      <a:pt x="217" y="29"/>
                    </a:lnTo>
                    <a:lnTo>
                      <a:pt x="191" y="41"/>
                    </a:lnTo>
                    <a:lnTo>
                      <a:pt x="164" y="56"/>
                    </a:lnTo>
                    <a:lnTo>
                      <a:pt x="140" y="70"/>
                    </a:lnTo>
                    <a:lnTo>
                      <a:pt x="115" y="85"/>
                    </a:lnTo>
                    <a:lnTo>
                      <a:pt x="92" y="100"/>
                    </a:lnTo>
                    <a:lnTo>
                      <a:pt x="67" y="116"/>
                    </a:lnTo>
                    <a:lnTo>
                      <a:pt x="45" y="132"/>
                    </a:lnTo>
                    <a:lnTo>
                      <a:pt x="22" y="149"/>
                    </a:lnTo>
                    <a:lnTo>
                      <a:pt x="0" y="127"/>
                    </a:lnTo>
                    <a:lnTo>
                      <a:pt x="22" y="109"/>
                    </a:lnTo>
                    <a:lnTo>
                      <a:pt x="47" y="92"/>
                    </a:lnTo>
                    <a:lnTo>
                      <a:pt x="73" y="74"/>
                    </a:lnTo>
                    <a:lnTo>
                      <a:pt x="98" y="58"/>
                    </a:lnTo>
                    <a:lnTo>
                      <a:pt x="123" y="42"/>
                    </a:lnTo>
                    <a:lnTo>
                      <a:pt x="149" y="27"/>
                    </a:lnTo>
                    <a:lnTo>
                      <a:pt x="177" y="12"/>
                    </a:lnTo>
                    <a:lnTo>
                      <a:pt x="205" y="0"/>
                    </a:lnTo>
                    <a:lnTo>
                      <a:pt x="217" y="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73" name="Freeform 194"/>
              <p:cNvSpPr>
                <a:spLocks/>
              </p:cNvSpPr>
              <p:nvPr/>
            </p:nvSpPr>
            <p:spPr bwMode="auto">
              <a:xfrm>
                <a:off x="2710" y="1302"/>
                <a:ext cx="198" cy="103"/>
              </a:xfrm>
              <a:custGeom>
                <a:avLst/>
                <a:gdLst>
                  <a:gd name="T0" fmla="*/ 198 w 198"/>
                  <a:gd name="T1" fmla="*/ 35 h 103"/>
                  <a:gd name="T2" fmla="*/ 175 w 198"/>
                  <a:gd name="T3" fmla="*/ 41 h 103"/>
                  <a:gd name="T4" fmla="*/ 151 w 198"/>
                  <a:gd name="T5" fmla="*/ 48 h 103"/>
                  <a:gd name="T6" fmla="*/ 128 w 198"/>
                  <a:gd name="T7" fmla="*/ 56 h 103"/>
                  <a:gd name="T8" fmla="*/ 104 w 198"/>
                  <a:gd name="T9" fmla="*/ 64 h 103"/>
                  <a:gd name="T10" fmla="*/ 82 w 198"/>
                  <a:gd name="T11" fmla="*/ 72 h 103"/>
                  <a:gd name="T12" fmla="*/ 58 w 198"/>
                  <a:gd name="T13" fmla="*/ 82 h 103"/>
                  <a:gd name="T14" fmla="*/ 36 w 198"/>
                  <a:gd name="T15" fmla="*/ 91 h 103"/>
                  <a:gd name="T16" fmla="*/ 11 w 198"/>
                  <a:gd name="T17" fmla="*/ 103 h 103"/>
                  <a:gd name="T18" fmla="*/ 0 w 198"/>
                  <a:gd name="T19" fmla="*/ 73 h 103"/>
                  <a:gd name="T20" fmla="*/ 25 w 198"/>
                  <a:gd name="T21" fmla="*/ 62 h 103"/>
                  <a:gd name="T22" fmla="*/ 50 w 198"/>
                  <a:gd name="T23" fmla="*/ 50 h 103"/>
                  <a:gd name="T24" fmla="*/ 74 w 198"/>
                  <a:gd name="T25" fmla="*/ 41 h 103"/>
                  <a:gd name="T26" fmla="*/ 99 w 198"/>
                  <a:gd name="T27" fmla="*/ 32 h 103"/>
                  <a:gd name="T28" fmla="*/ 123 w 198"/>
                  <a:gd name="T29" fmla="*/ 23 h 103"/>
                  <a:gd name="T30" fmla="*/ 149 w 198"/>
                  <a:gd name="T31" fmla="*/ 15 h 103"/>
                  <a:gd name="T32" fmla="*/ 173 w 198"/>
                  <a:gd name="T33" fmla="*/ 7 h 103"/>
                  <a:gd name="T34" fmla="*/ 198 w 198"/>
                  <a:gd name="T35" fmla="*/ 0 h 103"/>
                  <a:gd name="T36" fmla="*/ 198 w 198"/>
                  <a:gd name="T37" fmla="*/ 35 h 1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8"/>
                  <a:gd name="T58" fmla="*/ 0 h 103"/>
                  <a:gd name="T59" fmla="*/ 198 w 198"/>
                  <a:gd name="T60" fmla="*/ 103 h 1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8" h="103">
                    <a:moveTo>
                      <a:pt x="198" y="35"/>
                    </a:moveTo>
                    <a:lnTo>
                      <a:pt x="175" y="41"/>
                    </a:lnTo>
                    <a:lnTo>
                      <a:pt x="151" y="48"/>
                    </a:lnTo>
                    <a:lnTo>
                      <a:pt x="128" y="56"/>
                    </a:lnTo>
                    <a:lnTo>
                      <a:pt x="104" y="64"/>
                    </a:lnTo>
                    <a:lnTo>
                      <a:pt x="82" y="72"/>
                    </a:lnTo>
                    <a:lnTo>
                      <a:pt x="58" y="82"/>
                    </a:lnTo>
                    <a:lnTo>
                      <a:pt x="36" y="91"/>
                    </a:lnTo>
                    <a:lnTo>
                      <a:pt x="11" y="103"/>
                    </a:lnTo>
                    <a:lnTo>
                      <a:pt x="0" y="73"/>
                    </a:lnTo>
                    <a:lnTo>
                      <a:pt x="25" y="62"/>
                    </a:lnTo>
                    <a:lnTo>
                      <a:pt x="50" y="50"/>
                    </a:lnTo>
                    <a:lnTo>
                      <a:pt x="74" y="41"/>
                    </a:lnTo>
                    <a:lnTo>
                      <a:pt x="99" y="32"/>
                    </a:lnTo>
                    <a:lnTo>
                      <a:pt x="123" y="23"/>
                    </a:lnTo>
                    <a:lnTo>
                      <a:pt x="149" y="15"/>
                    </a:lnTo>
                    <a:lnTo>
                      <a:pt x="173" y="7"/>
                    </a:lnTo>
                    <a:lnTo>
                      <a:pt x="198" y="0"/>
                    </a:lnTo>
                    <a:lnTo>
                      <a:pt x="198" y="3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74" name="Freeform 195"/>
              <p:cNvSpPr>
                <a:spLocks/>
              </p:cNvSpPr>
              <p:nvPr/>
            </p:nvSpPr>
            <p:spPr bwMode="auto">
              <a:xfrm>
                <a:off x="2910" y="1298"/>
                <a:ext cx="23" cy="40"/>
              </a:xfrm>
              <a:custGeom>
                <a:avLst/>
                <a:gdLst>
                  <a:gd name="T0" fmla="*/ 0 w 23"/>
                  <a:gd name="T1" fmla="*/ 5 h 40"/>
                  <a:gd name="T2" fmla="*/ 22 w 23"/>
                  <a:gd name="T3" fmla="*/ 0 h 40"/>
                  <a:gd name="T4" fmla="*/ 23 w 23"/>
                  <a:gd name="T5" fmla="*/ 34 h 40"/>
                  <a:gd name="T6" fmla="*/ 1 w 23"/>
                  <a:gd name="T7" fmla="*/ 40 h 40"/>
                  <a:gd name="T8" fmla="*/ 0 w 23"/>
                  <a:gd name="T9" fmla="*/ 5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40"/>
                  <a:gd name="T17" fmla="*/ 23 w 23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40">
                    <a:moveTo>
                      <a:pt x="0" y="5"/>
                    </a:moveTo>
                    <a:lnTo>
                      <a:pt x="22" y="0"/>
                    </a:lnTo>
                    <a:lnTo>
                      <a:pt x="23" y="34"/>
                    </a:lnTo>
                    <a:lnTo>
                      <a:pt x="1" y="4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75" name="Freeform 196"/>
              <p:cNvSpPr>
                <a:spLocks/>
              </p:cNvSpPr>
              <p:nvPr/>
            </p:nvSpPr>
            <p:spPr bwMode="auto">
              <a:xfrm>
                <a:off x="2466" y="1422"/>
                <a:ext cx="154" cy="123"/>
              </a:xfrm>
              <a:custGeom>
                <a:avLst/>
                <a:gdLst>
                  <a:gd name="T0" fmla="*/ 154 w 154"/>
                  <a:gd name="T1" fmla="*/ 67 h 123"/>
                  <a:gd name="T2" fmla="*/ 0 w 154"/>
                  <a:gd name="T3" fmla="*/ 123 h 123"/>
                  <a:gd name="T4" fmla="*/ 93 w 154"/>
                  <a:gd name="T5" fmla="*/ 0 h 123"/>
                  <a:gd name="T6" fmla="*/ 154 w 154"/>
                  <a:gd name="T7" fmla="*/ 67 h 1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123"/>
                  <a:gd name="T14" fmla="*/ 154 w 154"/>
                  <a:gd name="T15" fmla="*/ 123 h 1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123">
                    <a:moveTo>
                      <a:pt x="154" y="67"/>
                    </a:moveTo>
                    <a:lnTo>
                      <a:pt x="0" y="123"/>
                    </a:lnTo>
                    <a:lnTo>
                      <a:pt x="93" y="0"/>
                    </a:lnTo>
                    <a:lnTo>
                      <a:pt x="154" y="67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76" name="Freeform 197"/>
              <p:cNvSpPr>
                <a:spLocks/>
              </p:cNvSpPr>
              <p:nvPr/>
            </p:nvSpPr>
            <p:spPr bwMode="auto">
              <a:xfrm>
                <a:off x="2452" y="1486"/>
                <a:ext cx="169" cy="68"/>
              </a:xfrm>
              <a:custGeom>
                <a:avLst/>
                <a:gdLst>
                  <a:gd name="T0" fmla="*/ 17 w 169"/>
                  <a:gd name="T1" fmla="*/ 60 h 68"/>
                  <a:gd name="T2" fmla="*/ 10 w 169"/>
                  <a:gd name="T3" fmla="*/ 54 h 68"/>
                  <a:gd name="T4" fmla="*/ 166 w 169"/>
                  <a:gd name="T5" fmla="*/ 0 h 68"/>
                  <a:gd name="T6" fmla="*/ 169 w 169"/>
                  <a:gd name="T7" fmla="*/ 7 h 68"/>
                  <a:gd name="T8" fmla="*/ 14 w 169"/>
                  <a:gd name="T9" fmla="*/ 64 h 68"/>
                  <a:gd name="T10" fmla="*/ 8 w 169"/>
                  <a:gd name="T11" fmla="*/ 58 h 68"/>
                  <a:gd name="T12" fmla="*/ 14 w 169"/>
                  <a:gd name="T13" fmla="*/ 64 h 68"/>
                  <a:gd name="T14" fmla="*/ 0 w 169"/>
                  <a:gd name="T15" fmla="*/ 68 h 68"/>
                  <a:gd name="T16" fmla="*/ 8 w 169"/>
                  <a:gd name="T17" fmla="*/ 58 h 68"/>
                  <a:gd name="T18" fmla="*/ 17 w 169"/>
                  <a:gd name="T19" fmla="*/ 60 h 6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9"/>
                  <a:gd name="T31" fmla="*/ 0 h 68"/>
                  <a:gd name="T32" fmla="*/ 169 w 169"/>
                  <a:gd name="T33" fmla="*/ 68 h 6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9" h="68">
                    <a:moveTo>
                      <a:pt x="17" y="60"/>
                    </a:moveTo>
                    <a:lnTo>
                      <a:pt x="10" y="54"/>
                    </a:lnTo>
                    <a:lnTo>
                      <a:pt x="166" y="0"/>
                    </a:lnTo>
                    <a:lnTo>
                      <a:pt x="169" y="7"/>
                    </a:lnTo>
                    <a:lnTo>
                      <a:pt x="14" y="64"/>
                    </a:lnTo>
                    <a:lnTo>
                      <a:pt x="8" y="58"/>
                    </a:lnTo>
                    <a:lnTo>
                      <a:pt x="14" y="64"/>
                    </a:lnTo>
                    <a:lnTo>
                      <a:pt x="0" y="68"/>
                    </a:lnTo>
                    <a:lnTo>
                      <a:pt x="8" y="58"/>
                    </a:lnTo>
                    <a:lnTo>
                      <a:pt x="17" y="60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77" name="Freeform 198"/>
              <p:cNvSpPr>
                <a:spLocks/>
              </p:cNvSpPr>
              <p:nvPr/>
            </p:nvSpPr>
            <p:spPr bwMode="auto">
              <a:xfrm>
                <a:off x="2462" y="1415"/>
                <a:ext cx="102" cy="133"/>
              </a:xfrm>
              <a:custGeom>
                <a:avLst/>
                <a:gdLst>
                  <a:gd name="T0" fmla="*/ 91 w 102"/>
                  <a:gd name="T1" fmla="*/ 11 h 133"/>
                  <a:gd name="T2" fmla="*/ 102 w 102"/>
                  <a:gd name="T3" fmla="*/ 9 h 133"/>
                  <a:gd name="T4" fmla="*/ 8 w 102"/>
                  <a:gd name="T5" fmla="*/ 133 h 133"/>
                  <a:gd name="T6" fmla="*/ 0 w 102"/>
                  <a:gd name="T7" fmla="*/ 130 h 133"/>
                  <a:gd name="T8" fmla="*/ 93 w 102"/>
                  <a:gd name="T9" fmla="*/ 7 h 133"/>
                  <a:gd name="T10" fmla="*/ 102 w 102"/>
                  <a:gd name="T11" fmla="*/ 5 h 133"/>
                  <a:gd name="T12" fmla="*/ 93 w 102"/>
                  <a:gd name="T13" fmla="*/ 7 h 133"/>
                  <a:gd name="T14" fmla="*/ 98 w 102"/>
                  <a:gd name="T15" fmla="*/ 0 h 133"/>
                  <a:gd name="T16" fmla="*/ 102 w 102"/>
                  <a:gd name="T17" fmla="*/ 5 h 133"/>
                  <a:gd name="T18" fmla="*/ 91 w 102"/>
                  <a:gd name="T19" fmla="*/ 11 h 1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2"/>
                  <a:gd name="T31" fmla="*/ 0 h 133"/>
                  <a:gd name="T32" fmla="*/ 102 w 102"/>
                  <a:gd name="T33" fmla="*/ 133 h 13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2" h="133">
                    <a:moveTo>
                      <a:pt x="91" y="11"/>
                    </a:moveTo>
                    <a:lnTo>
                      <a:pt x="102" y="9"/>
                    </a:lnTo>
                    <a:lnTo>
                      <a:pt x="8" y="133"/>
                    </a:lnTo>
                    <a:lnTo>
                      <a:pt x="0" y="130"/>
                    </a:lnTo>
                    <a:lnTo>
                      <a:pt x="93" y="7"/>
                    </a:lnTo>
                    <a:lnTo>
                      <a:pt x="102" y="5"/>
                    </a:lnTo>
                    <a:lnTo>
                      <a:pt x="93" y="7"/>
                    </a:lnTo>
                    <a:lnTo>
                      <a:pt x="98" y="0"/>
                    </a:lnTo>
                    <a:lnTo>
                      <a:pt x="102" y="5"/>
                    </a:lnTo>
                    <a:lnTo>
                      <a:pt x="91" y="11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78" name="Freeform 199"/>
              <p:cNvSpPr>
                <a:spLocks/>
              </p:cNvSpPr>
              <p:nvPr/>
            </p:nvSpPr>
            <p:spPr bwMode="auto">
              <a:xfrm>
                <a:off x="2553" y="1421"/>
                <a:ext cx="77" cy="75"/>
              </a:xfrm>
              <a:custGeom>
                <a:avLst/>
                <a:gdLst>
                  <a:gd name="T0" fmla="*/ 67 w 77"/>
                  <a:gd name="T1" fmla="*/ 66 h 75"/>
                  <a:gd name="T2" fmla="*/ 62 w 77"/>
                  <a:gd name="T3" fmla="*/ 73 h 75"/>
                  <a:gd name="T4" fmla="*/ 0 w 77"/>
                  <a:gd name="T5" fmla="*/ 6 h 75"/>
                  <a:gd name="T6" fmla="*/ 11 w 77"/>
                  <a:gd name="T7" fmla="*/ 0 h 75"/>
                  <a:gd name="T8" fmla="*/ 73 w 77"/>
                  <a:gd name="T9" fmla="*/ 67 h 75"/>
                  <a:gd name="T10" fmla="*/ 69 w 77"/>
                  <a:gd name="T11" fmla="*/ 75 h 75"/>
                  <a:gd name="T12" fmla="*/ 73 w 77"/>
                  <a:gd name="T13" fmla="*/ 67 h 75"/>
                  <a:gd name="T14" fmla="*/ 77 w 77"/>
                  <a:gd name="T15" fmla="*/ 71 h 75"/>
                  <a:gd name="T16" fmla="*/ 69 w 77"/>
                  <a:gd name="T17" fmla="*/ 75 h 75"/>
                  <a:gd name="T18" fmla="*/ 67 w 77"/>
                  <a:gd name="T19" fmla="*/ 66 h 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7"/>
                  <a:gd name="T31" fmla="*/ 0 h 75"/>
                  <a:gd name="T32" fmla="*/ 77 w 77"/>
                  <a:gd name="T33" fmla="*/ 75 h 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7" h="75">
                    <a:moveTo>
                      <a:pt x="67" y="66"/>
                    </a:moveTo>
                    <a:lnTo>
                      <a:pt x="62" y="73"/>
                    </a:lnTo>
                    <a:lnTo>
                      <a:pt x="0" y="6"/>
                    </a:lnTo>
                    <a:lnTo>
                      <a:pt x="11" y="0"/>
                    </a:lnTo>
                    <a:lnTo>
                      <a:pt x="73" y="67"/>
                    </a:lnTo>
                    <a:lnTo>
                      <a:pt x="69" y="75"/>
                    </a:lnTo>
                    <a:lnTo>
                      <a:pt x="73" y="67"/>
                    </a:lnTo>
                    <a:lnTo>
                      <a:pt x="77" y="71"/>
                    </a:lnTo>
                    <a:lnTo>
                      <a:pt x="69" y="75"/>
                    </a:lnTo>
                    <a:lnTo>
                      <a:pt x="67" y="66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79" name="Freeform 200"/>
              <p:cNvSpPr>
                <a:spLocks/>
              </p:cNvSpPr>
              <p:nvPr/>
            </p:nvSpPr>
            <p:spPr bwMode="auto">
              <a:xfrm>
                <a:off x="2485" y="1501"/>
                <a:ext cx="35" cy="31"/>
              </a:xfrm>
              <a:custGeom>
                <a:avLst/>
                <a:gdLst>
                  <a:gd name="T0" fmla="*/ 35 w 35"/>
                  <a:gd name="T1" fmla="*/ 19 h 31"/>
                  <a:gd name="T2" fmla="*/ 20 w 35"/>
                  <a:gd name="T3" fmla="*/ 31 h 31"/>
                  <a:gd name="T4" fmla="*/ 0 w 35"/>
                  <a:gd name="T5" fmla="*/ 12 h 31"/>
                  <a:gd name="T6" fmla="*/ 16 w 35"/>
                  <a:gd name="T7" fmla="*/ 0 h 31"/>
                  <a:gd name="T8" fmla="*/ 35 w 35"/>
                  <a:gd name="T9" fmla="*/ 19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31"/>
                  <a:gd name="T17" fmla="*/ 35 w 35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31">
                    <a:moveTo>
                      <a:pt x="35" y="19"/>
                    </a:moveTo>
                    <a:lnTo>
                      <a:pt x="20" y="31"/>
                    </a:lnTo>
                    <a:lnTo>
                      <a:pt x="0" y="12"/>
                    </a:lnTo>
                    <a:lnTo>
                      <a:pt x="16" y="0"/>
                    </a:lnTo>
                    <a:lnTo>
                      <a:pt x="35" y="19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80" name="Freeform 201"/>
              <p:cNvSpPr>
                <a:spLocks/>
              </p:cNvSpPr>
              <p:nvPr/>
            </p:nvSpPr>
            <p:spPr bwMode="auto">
              <a:xfrm>
                <a:off x="2502" y="1376"/>
                <a:ext cx="214" cy="144"/>
              </a:xfrm>
              <a:custGeom>
                <a:avLst/>
                <a:gdLst>
                  <a:gd name="T0" fmla="*/ 214 w 214"/>
                  <a:gd name="T1" fmla="*/ 23 h 144"/>
                  <a:gd name="T2" fmla="*/ 214 w 214"/>
                  <a:gd name="T3" fmla="*/ 23 h 144"/>
                  <a:gd name="T4" fmla="*/ 186 w 214"/>
                  <a:gd name="T5" fmla="*/ 36 h 144"/>
                  <a:gd name="T6" fmla="*/ 161 w 214"/>
                  <a:gd name="T7" fmla="*/ 49 h 144"/>
                  <a:gd name="T8" fmla="*/ 136 w 214"/>
                  <a:gd name="T9" fmla="*/ 64 h 144"/>
                  <a:gd name="T10" fmla="*/ 112 w 214"/>
                  <a:gd name="T11" fmla="*/ 80 h 144"/>
                  <a:gd name="T12" fmla="*/ 87 w 214"/>
                  <a:gd name="T13" fmla="*/ 95 h 144"/>
                  <a:gd name="T14" fmla="*/ 63 w 214"/>
                  <a:gd name="T15" fmla="*/ 110 h 144"/>
                  <a:gd name="T16" fmla="*/ 41 w 214"/>
                  <a:gd name="T17" fmla="*/ 127 h 144"/>
                  <a:gd name="T18" fmla="*/ 19 w 214"/>
                  <a:gd name="T19" fmla="*/ 144 h 144"/>
                  <a:gd name="T20" fmla="*/ 0 w 214"/>
                  <a:gd name="T21" fmla="*/ 126 h 144"/>
                  <a:gd name="T22" fmla="*/ 22 w 214"/>
                  <a:gd name="T23" fmla="*/ 108 h 144"/>
                  <a:gd name="T24" fmla="*/ 48 w 214"/>
                  <a:gd name="T25" fmla="*/ 91 h 144"/>
                  <a:gd name="T26" fmla="*/ 73 w 214"/>
                  <a:gd name="T27" fmla="*/ 75 h 144"/>
                  <a:gd name="T28" fmla="*/ 97 w 214"/>
                  <a:gd name="T29" fmla="*/ 58 h 144"/>
                  <a:gd name="T30" fmla="*/ 123 w 214"/>
                  <a:gd name="T31" fmla="*/ 43 h 144"/>
                  <a:gd name="T32" fmla="*/ 150 w 214"/>
                  <a:gd name="T33" fmla="*/ 28 h 144"/>
                  <a:gd name="T34" fmla="*/ 176 w 214"/>
                  <a:gd name="T35" fmla="*/ 13 h 144"/>
                  <a:gd name="T36" fmla="*/ 203 w 214"/>
                  <a:gd name="T37" fmla="*/ 0 h 144"/>
                  <a:gd name="T38" fmla="*/ 214 w 214"/>
                  <a:gd name="T39" fmla="*/ 23 h 14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4"/>
                  <a:gd name="T61" fmla="*/ 0 h 144"/>
                  <a:gd name="T62" fmla="*/ 214 w 214"/>
                  <a:gd name="T63" fmla="*/ 144 h 14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4" h="144">
                    <a:moveTo>
                      <a:pt x="214" y="23"/>
                    </a:moveTo>
                    <a:lnTo>
                      <a:pt x="214" y="23"/>
                    </a:lnTo>
                    <a:lnTo>
                      <a:pt x="186" y="36"/>
                    </a:lnTo>
                    <a:lnTo>
                      <a:pt x="161" y="49"/>
                    </a:lnTo>
                    <a:lnTo>
                      <a:pt x="136" y="64"/>
                    </a:lnTo>
                    <a:lnTo>
                      <a:pt x="112" y="80"/>
                    </a:lnTo>
                    <a:lnTo>
                      <a:pt x="87" y="95"/>
                    </a:lnTo>
                    <a:lnTo>
                      <a:pt x="63" y="110"/>
                    </a:lnTo>
                    <a:lnTo>
                      <a:pt x="41" y="127"/>
                    </a:lnTo>
                    <a:lnTo>
                      <a:pt x="19" y="144"/>
                    </a:lnTo>
                    <a:lnTo>
                      <a:pt x="0" y="126"/>
                    </a:lnTo>
                    <a:lnTo>
                      <a:pt x="22" y="108"/>
                    </a:lnTo>
                    <a:lnTo>
                      <a:pt x="48" y="91"/>
                    </a:lnTo>
                    <a:lnTo>
                      <a:pt x="73" y="75"/>
                    </a:lnTo>
                    <a:lnTo>
                      <a:pt x="97" y="58"/>
                    </a:lnTo>
                    <a:lnTo>
                      <a:pt x="123" y="43"/>
                    </a:lnTo>
                    <a:lnTo>
                      <a:pt x="150" y="28"/>
                    </a:lnTo>
                    <a:lnTo>
                      <a:pt x="176" y="13"/>
                    </a:lnTo>
                    <a:lnTo>
                      <a:pt x="203" y="0"/>
                    </a:lnTo>
                    <a:lnTo>
                      <a:pt x="214" y="23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81" name="Freeform 202"/>
              <p:cNvSpPr>
                <a:spLocks/>
              </p:cNvSpPr>
              <p:nvPr/>
            </p:nvSpPr>
            <p:spPr bwMode="auto">
              <a:xfrm>
                <a:off x="2710" y="1309"/>
                <a:ext cx="198" cy="94"/>
              </a:xfrm>
              <a:custGeom>
                <a:avLst/>
                <a:gdLst>
                  <a:gd name="T0" fmla="*/ 198 w 198"/>
                  <a:gd name="T1" fmla="*/ 27 h 94"/>
                  <a:gd name="T2" fmla="*/ 176 w 198"/>
                  <a:gd name="T3" fmla="*/ 33 h 94"/>
                  <a:gd name="T4" fmla="*/ 151 w 198"/>
                  <a:gd name="T5" fmla="*/ 40 h 94"/>
                  <a:gd name="T6" fmla="*/ 128 w 198"/>
                  <a:gd name="T7" fmla="*/ 48 h 94"/>
                  <a:gd name="T8" fmla="*/ 104 w 198"/>
                  <a:gd name="T9" fmla="*/ 55 h 94"/>
                  <a:gd name="T10" fmla="*/ 80 w 198"/>
                  <a:gd name="T11" fmla="*/ 65 h 94"/>
                  <a:gd name="T12" fmla="*/ 57 w 198"/>
                  <a:gd name="T13" fmla="*/ 73 h 94"/>
                  <a:gd name="T14" fmla="*/ 35 w 198"/>
                  <a:gd name="T15" fmla="*/ 83 h 94"/>
                  <a:gd name="T16" fmla="*/ 11 w 198"/>
                  <a:gd name="T17" fmla="*/ 94 h 94"/>
                  <a:gd name="T18" fmla="*/ 0 w 198"/>
                  <a:gd name="T19" fmla="*/ 69 h 94"/>
                  <a:gd name="T20" fmla="*/ 25 w 198"/>
                  <a:gd name="T21" fmla="*/ 58 h 94"/>
                  <a:gd name="T22" fmla="*/ 50 w 198"/>
                  <a:gd name="T23" fmla="*/ 48 h 94"/>
                  <a:gd name="T24" fmla="*/ 75 w 198"/>
                  <a:gd name="T25" fmla="*/ 38 h 94"/>
                  <a:gd name="T26" fmla="*/ 99 w 198"/>
                  <a:gd name="T27" fmla="*/ 31 h 94"/>
                  <a:gd name="T28" fmla="*/ 123 w 198"/>
                  <a:gd name="T29" fmla="*/ 21 h 94"/>
                  <a:gd name="T30" fmla="*/ 149 w 198"/>
                  <a:gd name="T31" fmla="*/ 13 h 94"/>
                  <a:gd name="T32" fmla="*/ 173 w 198"/>
                  <a:gd name="T33" fmla="*/ 6 h 94"/>
                  <a:gd name="T34" fmla="*/ 197 w 198"/>
                  <a:gd name="T35" fmla="*/ 0 h 94"/>
                  <a:gd name="T36" fmla="*/ 198 w 198"/>
                  <a:gd name="T37" fmla="*/ 27 h 9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8"/>
                  <a:gd name="T58" fmla="*/ 0 h 94"/>
                  <a:gd name="T59" fmla="*/ 198 w 198"/>
                  <a:gd name="T60" fmla="*/ 94 h 9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8" h="94">
                    <a:moveTo>
                      <a:pt x="198" y="27"/>
                    </a:moveTo>
                    <a:lnTo>
                      <a:pt x="176" y="33"/>
                    </a:lnTo>
                    <a:lnTo>
                      <a:pt x="151" y="40"/>
                    </a:lnTo>
                    <a:lnTo>
                      <a:pt x="128" y="48"/>
                    </a:lnTo>
                    <a:lnTo>
                      <a:pt x="104" y="55"/>
                    </a:lnTo>
                    <a:lnTo>
                      <a:pt x="80" y="65"/>
                    </a:lnTo>
                    <a:lnTo>
                      <a:pt x="57" y="73"/>
                    </a:lnTo>
                    <a:lnTo>
                      <a:pt x="35" y="83"/>
                    </a:lnTo>
                    <a:lnTo>
                      <a:pt x="11" y="94"/>
                    </a:lnTo>
                    <a:lnTo>
                      <a:pt x="0" y="69"/>
                    </a:lnTo>
                    <a:lnTo>
                      <a:pt x="25" y="58"/>
                    </a:lnTo>
                    <a:lnTo>
                      <a:pt x="50" y="48"/>
                    </a:lnTo>
                    <a:lnTo>
                      <a:pt x="75" y="38"/>
                    </a:lnTo>
                    <a:lnTo>
                      <a:pt x="99" y="31"/>
                    </a:lnTo>
                    <a:lnTo>
                      <a:pt x="123" y="21"/>
                    </a:lnTo>
                    <a:lnTo>
                      <a:pt x="149" y="13"/>
                    </a:lnTo>
                    <a:lnTo>
                      <a:pt x="173" y="6"/>
                    </a:lnTo>
                    <a:lnTo>
                      <a:pt x="197" y="0"/>
                    </a:lnTo>
                    <a:lnTo>
                      <a:pt x="198" y="27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82" name="Freeform 203"/>
              <p:cNvSpPr>
                <a:spLocks/>
              </p:cNvSpPr>
              <p:nvPr/>
            </p:nvSpPr>
            <p:spPr bwMode="auto">
              <a:xfrm>
                <a:off x="2908" y="1302"/>
                <a:ext cx="19" cy="33"/>
              </a:xfrm>
              <a:custGeom>
                <a:avLst/>
                <a:gdLst>
                  <a:gd name="T0" fmla="*/ 0 w 19"/>
                  <a:gd name="T1" fmla="*/ 4 h 33"/>
                  <a:gd name="T2" fmla="*/ 18 w 19"/>
                  <a:gd name="T3" fmla="*/ 0 h 33"/>
                  <a:gd name="T4" fmla="*/ 19 w 19"/>
                  <a:gd name="T5" fmla="*/ 29 h 33"/>
                  <a:gd name="T6" fmla="*/ 1 w 19"/>
                  <a:gd name="T7" fmla="*/ 33 h 33"/>
                  <a:gd name="T8" fmla="*/ 0 w 19"/>
                  <a:gd name="T9" fmla="*/ 4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33"/>
                  <a:gd name="T17" fmla="*/ 19 w 19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33">
                    <a:moveTo>
                      <a:pt x="0" y="4"/>
                    </a:moveTo>
                    <a:lnTo>
                      <a:pt x="18" y="0"/>
                    </a:lnTo>
                    <a:lnTo>
                      <a:pt x="19" y="29"/>
                    </a:lnTo>
                    <a:lnTo>
                      <a:pt x="1" y="3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83" name="Freeform 204"/>
              <p:cNvSpPr>
                <a:spLocks/>
              </p:cNvSpPr>
              <p:nvPr/>
            </p:nvSpPr>
            <p:spPr bwMode="auto">
              <a:xfrm>
                <a:off x="2435" y="1447"/>
                <a:ext cx="154" cy="125"/>
              </a:xfrm>
              <a:custGeom>
                <a:avLst/>
                <a:gdLst>
                  <a:gd name="T0" fmla="*/ 154 w 154"/>
                  <a:gd name="T1" fmla="*/ 63 h 125"/>
                  <a:gd name="T2" fmla="*/ 0 w 154"/>
                  <a:gd name="T3" fmla="*/ 125 h 125"/>
                  <a:gd name="T4" fmla="*/ 87 w 154"/>
                  <a:gd name="T5" fmla="*/ 0 h 125"/>
                  <a:gd name="T6" fmla="*/ 154 w 154"/>
                  <a:gd name="T7" fmla="*/ 63 h 1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125"/>
                  <a:gd name="T14" fmla="*/ 154 w 154"/>
                  <a:gd name="T15" fmla="*/ 125 h 1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125">
                    <a:moveTo>
                      <a:pt x="154" y="63"/>
                    </a:moveTo>
                    <a:lnTo>
                      <a:pt x="0" y="125"/>
                    </a:lnTo>
                    <a:lnTo>
                      <a:pt x="87" y="0"/>
                    </a:lnTo>
                    <a:lnTo>
                      <a:pt x="154" y="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84" name="Freeform 205"/>
              <p:cNvSpPr>
                <a:spLocks/>
              </p:cNvSpPr>
              <p:nvPr/>
            </p:nvSpPr>
            <p:spPr bwMode="auto">
              <a:xfrm>
                <a:off x="2415" y="1502"/>
                <a:ext cx="177" cy="85"/>
              </a:xfrm>
              <a:custGeom>
                <a:avLst/>
                <a:gdLst>
                  <a:gd name="T0" fmla="*/ 30 w 177"/>
                  <a:gd name="T1" fmla="*/ 70 h 85"/>
                  <a:gd name="T2" fmla="*/ 20 w 177"/>
                  <a:gd name="T3" fmla="*/ 61 h 85"/>
                  <a:gd name="T4" fmla="*/ 172 w 177"/>
                  <a:gd name="T5" fmla="*/ 0 h 85"/>
                  <a:gd name="T6" fmla="*/ 177 w 177"/>
                  <a:gd name="T7" fmla="*/ 15 h 85"/>
                  <a:gd name="T8" fmla="*/ 24 w 177"/>
                  <a:gd name="T9" fmla="*/ 75 h 85"/>
                  <a:gd name="T10" fmla="*/ 14 w 177"/>
                  <a:gd name="T11" fmla="*/ 65 h 85"/>
                  <a:gd name="T12" fmla="*/ 24 w 177"/>
                  <a:gd name="T13" fmla="*/ 75 h 85"/>
                  <a:gd name="T14" fmla="*/ 0 w 177"/>
                  <a:gd name="T15" fmla="*/ 85 h 85"/>
                  <a:gd name="T16" fmla="*/ 14 w 177"/>
                  <a:gd name="T17" fmla="*/ 65 h 85"/>
                  <a:gd name="T18" fmla="*/ 30 w 177"/>
                  <a:gd name="T19" fmla="*/ 70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7"/>
                  <a:gd name="T31" fmla="*/ 0 h 85"/>
                  <a:gd name="T32" fmla="*/ 177 w 177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7" h="85">
                    <a:moveTo>
                      <a:pt x="30" y="70"/>
                    </a:moveTo>
                    <a:lnTo>
                      <a:pt x="20" y="61"/>
                    </a:lnTo>
                    <a:lnTo>
                      <a:pt x="172" y="0"/>
                    </a:lnTo>
                    <a:lnTo>
                      <a:pt x="177" y="15"/>
                    </a:lnTo>
                    <a:lnTo>
                      <a:pt x="24" y="75"/>
                    </a:lnTo>
                    <a:lnTo>
                      <a:pt x="14" y="65"/>
                    </a:lnTo>
                    <a:lnTo>
                      <a:pt x="24" y="75"/>
                    </a:lnTo>
                    <a:lnTo>
                      <a:pt x="0" y="85"/>
                    </a:lnTo>
                    <a:lnTo>
                      <a:pt x="14" y="65"/>
                    </a:lnTo>
                    <a:lnTo>
                      <a:pt x="30" y="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85" name="Freeform 206"/>
              <p:cNvSpPr>
                <a:spLocks/>
              </p:cNvSpPr>
              <p:nvPr/>
            </p:nvSpPr>
            <p:spPr bwMode="auto">
              <a:xfrm>
                <a:off x="2429" y="1434"/>
                <a:ext cx="102" cy="142"/>
              </a:xfrm>
              <a:custGeom>
                <a:avLst/>
                <a:gdLst>
                  <a:gd name="T0" fmla="*/ 85 w 102"/>
                  <a:gd name="T1" fmla="*/ 20 h 142"/>
                  <a:gd name="T2" fmla="*/ 102 w 102"/>
                  <a:gd name="T3" fmla="*/ 17 h 142"/>
                  <a:gd name="T4" fmla="*/ 15 w 102"/>
                  <a:gd name="T5" fmla="*/ 142 h 142"/>
                  <a:gd name="T6" fmla="*/ 0 w 102"/>
                  <a:gd name="T7" fmla="*/ 137 h 142"/>
                  <a:gd name="T8" fmla="*/ 86 w 102"/>
                  <a:gd name="T9" fmla="*/ 11 h 142"/>
                  <a:gd name="T10" fmla="*/ 102 w 102"/>
                  <a:gd name="T11" fmla="*/ 8 h 142"/>
                  <a:gd name="T12" fmla="*/ 86 w 102"/>
                  <a:gd name="T13" fmla="*/ 11 h 142"/>
                  <a:gd name="T14" fmla="*/ 93 w 102"/>
                  <a:gd name="T15" fmla="*/ 0 h 142"/>
                  <a:gd name="T16" fmla="*/ 102 w 102"/>
                  <a:gd name="T17" fmla="*/ 8 h 142"/>
                  <a:gd name="T18" fmla="*/ 85 w 102"/>
                  <a:gd name="T19" fmla="*/ 20 h 1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2"/>
                  <a:gd name="T31" fmla="*/ 0 h 142"/>
                  <a:gd name="T32" fmla="*/ 102 w 102"/>
                  <a:gd name="T33" fmla="*/ 142 h 1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2" h="142">
                    <a:moveTo>
                      <a:pt x="85" y="20"/>
                    </a:moveTo>
                    <a:lnTo>
                      <a:pt x="102" y="17"/>
                    </a:lnTo>
                    <a:lnTo>
                      <a:pt x="15" y="142"/>
                    </a:lnTo>
                    <a:lnTo>
                      <a:pt x="0" y="137"/>
                    </a:lnTo>
                    <a:lnTo>
                      <a:pt x="86" y="11"/>
                    </a:lnTo>
                    <a:lnTo>
                      <a:pt x="102" y="8"/>
                    </a:lnTo>
                    <a:lnTo>
                      <a:pt x="86" y="11"/>
                    </a:lnTo>
                    <a:lnTo>
                      <a:pt x="93" y="0"/>
                    </a:lnTo>
                    <a:lnTo>
                      <a:pt x="102" y="8"/>
                    </a:lnTo>
                    <a:lnTo>
                      <a:pt x="85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86" name="Freeform 207"/>
              <p:cNvSpPr>
                <a:spLocks/>
              </p:cNvSpPr>
              <p:nvPr/>
            </p:nvSpPr>
            <p:spPr bwMode="auto">
              <a:xfrm>
                <a:off x="2515" y="1441"/>
                <a:ext cx="91" cy="77"/>
              </a:xfrm>
              <a:custGeom>
                <a:avLst/>
                <a:gdLst>
                  <a:gd name="T0" fmla="*/ 72 w 91"/>
                  <a:gd name="T1" fmla="*/ 62 h 77"/>
                  <a:gd name="T2" fmla="*/ 66 w 91"/>
                  <a:gd name="T3" fmla="*/ 76 h 77"/>
                  <a:gd name="T4" fmla="*/ 0 w 91"/>
                  <a:gd name="T5" fmla="*/ 13 h 77"/>
                  <a:gd name="T6" fmla="*/ 16 w 91"/>
                  <a:gd name="T7" fmla="*/ 0 h 77"/>
                  <a:gd name="T8" fmla="*/ 83 w 91"/>
                  <a:gd name="T9" fmla="*/ 63 h 77"/>
                  <a:gd name="T10" fmla="*/ 77 w 91"/>
                  <a:gd name="T11" fmla="*/ 77 h 77"/>
                  <a:gd name="T12" fmla="*/ 83 w 91"/>
                  <a:gd name="T13" fmla="*/ 63 h 77"/>
                  <a:gd name="T14" fmla="*/ 91 w 91"/>
                  <a:gd name="T15" fmla="*/ 72 h 77"/>
                  <a:gd name="T16" fmla="*/ 77 w 91"/>
                  <a:gd name="T17" fmla="*/ 77 h 77"/>
                  <a:gd name="T18" fmla="*/ 72 w 91"/>
                  <a:gd name="T19" fmla="*/ 62 h 7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77"/>
                  <a:gd name="T32" fmla="*/ 91 w 91"/>
                  <a:gd name="T33" fmla="*/ 77 h 7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77">
                    <a:moveTo>
                      <a:pt x="72" y="62"/>
                    </a:moveTo>
                    <a:lnTo>
                      <a:pt x="66" y="76"/>
                    </a:lnTo>
                    <a:lnTo>
                      <a:pt x="0" y="13"/>
                    </a:lnTo>
                    <a:lnTo>
                      <a:pt x="16" y="0"/>
                    </a:lnTo>
                    <a:lnTo>
                      <a:pt x="83" y="63"/>
                    </a:lnTo>
                    <a:lnTo>
                      <a:pt x="77" y="77"/>
                    </a:lnTo>
                    <a:lnTo>
                      <a:pt x="83" y="63"/>
                    </a:lnTo>
                    <a:lnTo>
                      <a:pt x="91" y="72"/>
                    </a:lnTo>
                    <a:lnTo>
                      <a:pt x="77" y="77"/>
                    </a:lnTo>
                    <a:lnTo>
                      <a:pt x="72" y="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87" name="Freeform 208"/>
              <p:cNvSpPr>
                <a:spLocks/>
              </p:cNvSpPr>
              <p:nvPr/>
            </p:nvSpPr>
            <p:spPr bwMode="auto">
              <a:xfrm>
                <a:off x="2447" y="1524"/>
                <a:ext cx="43" cy="35"/>
              </a:xfrm>
              <a:custGeom>
                <a:avLst/>
                <a:gdLst>
                  <a:gd name="T0" fmla="*/ 43 w 43"/>
                  <a:gd name="T1" fmla="*/ 20 h 35"/>
                  <a:gd name="T2" fmla="*/ 25 w 43"/>
                  <a:gd name="T3" fmla="*/ 35 h 35"/>
                  <a:gd name="T4" fmla="*/ 0 w 43"/>
                  <a:gd name="T5" fmla="*/ 14 h 35"/>
                  <a:gd name="T6" fmla="*/ 19 w 43"/>
                  <a:gd name="T7" fmla="*/ 0 h 35"/>
                  <a:gd name="T8" fmla="*/ 43 w 43"/>
                  <a:gd name="T9" fmla="*/ 2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35"/>
                  <a:gd name="T17" fmla="*/ 43 w 43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35">
                    <a:moveTo>
                      <a:pt x="43" y="20"/>
                    </a:moveTo>
                    <a:lnTo>
                      <a:pt x="25" y="35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43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88" name="Freeform 209"/>
              <p:cNvSpPr>
                <a:spLocks/>
              </p:cNvSpPr>
              <p:nvPr/>
            </p:nvSpPr>
            <p:spPr bwMode="auto">
              <a:xfrm>
                <a:off x="2468" y="1391"/>
                <a:ext cx="215" cy="156"/>
              </a:xfrm>
              <a:custGeom>
                <a:avLst/>
                <a:gdLst>
                  <a:gd name="T0" fmla="*/ 215 w 215"/>
                  <a:gd name="T1" fmla="*/ 29 h 156"/>
                  <a:gd name="T2" fmla="*/ 215 w 215"/>
                  <a:gd name="T3" fmla="*/ 29 h 156"/>
                  <a:gd name="T4" fmla="*/ 189 w 215"/>
                  <a:gd name="T5" fmla="*/ 43 h 156"/>
                  <a:gd name="T6" fmla="*/ 162 w 215"/>
                  <a:gd name="T7" fmla="*/ 59 h 156"/>
                  <a:gd name="T8" fmla="*/ 138 w 215"/>
                  <a:gd name="T9" fmla="*/ 72 h 156"/>
                  <a:gd name="T10" fmla="*/ 114 w 215"/>
                  <a:gd name="T11" fmla="*/ 88 h 156"/>
                  <a:gd name="T12" fmla="*/ 91 w 215"/>
                  <a:gd name="T13" fmla="*/ 103 h 156"/>
                  <a:gd name="T14" fmla="*/ 68 w 215"/>
                  <a:gd name="T15" fmla="*/ 121 h 156"/>
                  <a:gd name="T16" fmla="*/ 47 w 215"/>
                  <a:gd name="T17" fmla="*/ 138 h 156"/>
                  <a:gd name="T18" fmla="*/ 24 w 215"/>
                  <a:gd name="T19" fmla="*/ 156 h 156"/>
                  <a:gd name="T20" fmla="*/ 0 w 215"/>
                  <a:gd name="T21" fmla="*/ 134 h 156"/>
                  <a:gd name="T22" fmla="*/ 22 w 215"/>
                  <a:gd name="T23" fmla="*/ 116 h 156"/>
                  <a:gd name="T24" fmla="*/ 45 w 215"/>
                  <a:gd name="T25" fmla="*/ 97 h 156"/>
                  <a:gd name="T26" fmla="*/ 70 w 215"/>
                  <a:gd name="T27" fmla="*/ 79 h 156"/>
                  <a:gd name="T28" fmla="*/ 95 w 215"/>
                  <a:gd name="T29" fmla="*/ 63 h 156"/>
                  <a:gd name="T30" fmla="*/ 119 w 215"/>
                  <a:gd name="T31" fmla="*/ 47 h 156"/>
                  <a:gd name="T32" fmla="*/ 146 w 215"/>
                  <a:gd name="T33" fmla="*/ 30 h 156"/>
                  <a:gd name="T34" fmla="*/ 172 w 215"/>
                  <a:gd name="T35" fmla="*/ 16 h 156"/>
                  <a:gd name="T36" fmla="*/ 201 w 215"/>
                  <a:gd name="T37" fmla="*/ 0 h 156"/>
                  <a:gd name="T38" fmla="*/ 215 w 215"/>
                  <a:gd name="T39" fmla="*/ 29 h 15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5"/>
                  <a:gd name="T61" fmla="*/ 0 h 156"/>
                  <a:gd name="T62" fmla="*/ 215 w 215"/>
                  <a:gd name="T63" fmla="*/ 156 h 15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5" h="156">
                    <a:moveTo>
                      <a:pt x="215" y="29"/>
                    </a:moveTo>
                    <a:lnTo>
                      <a:pt x="215" y="29"/>
                    </a:lnTo>
                    <a:lnTo>
                      <a:pt x="189" y="43"/>
                    </a:lnTo>
                    <a:lnTo>
                      <a:pt x="162" y="59"/>
                    </a:lnTo>
                    <a:lnTo>
                      <a:pt x="138" y="72"/>
                    </a:lnTo>
                    <a:lnTo>
                      <a:pt x="114" y="88"/>
                    </a:lnTo>
                    <a:lnTo>
                      <a:pt x="91" y="103"/>
                    </a:lnTo>
                    <a:lnTo>
                      <a:pt x="68" y="121"/>
                    </a:lnTo>
                    <a:lnTo>
                      <a:pt x="47" y="138"/>
                    </a:lnTo>
                    <a:lnTo>
                      <a:pt x="24" y="156"/>
                    </a:lnTo>
                    <a:lnTo>
                      <a:pt x="0" y="134"/>
                    </a:lnTo>
                    <a:lnTo>
                      <a:pt x="22" y="116"/>
                    </a:lnTo>
                    <a:lnTo>
                      <a:pt x="45" y="97"/>
                    </a:lnTo>
                    <a:lnTo>
                      <a:pt x="70" y="79"/>
                    </a:lnTo>
                    <a:lnTo>
                      <a:pt x="95" y="63"/>
                    </a:lnTo>
                    <a:lnTo>
                      <a:pt x="119" y="47"/>
                    </a:lnTo>
                    <a:lnTo>
                      <a:pt x="146" y="30"/>
                    </a:lnTo>
                    <a:lnTo>
                      <a:pt x="172" y="16"/>
                    </a:lnTo>
                    <a:lnTo>
                      <a:pt x="201" y="0"/>
                    </a:lnTo>
                    <a:lnTo>
                      <a:pt x="215" y="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89" name="Freeform 210"/>
              <p:cNvSpPr>
                <a:spLocks/>
              </p:cNvSpPr>
              <p:nvPr/>
            </p:nvSpPr>
            <p:spPr bwMode="auto">
              <a:xfrm>
                <a:off x="2673" y="1315"/>
                <a:ext cx="198" cy="107"/>
              </a:xfrm>
              <a:custGeom>
                <a:avLst/>
                <a:gdLst>
                  <a:gd name="T0" fmla="*/ 198 w 198"/>
                  <a:gd name="T1" fmla="*/ 33 h 107"/>
                  <a:gd name="T2" fmla="*/ 175 w 198"/>
                  <a:gd name="T3" fmla="*/ 41 h 107"/>
                  <a:gd name="T4" fmla="*/ 153 w 198"/>
                  <a:gd name="T5" fmla="*/ 48 h 107"/>
                  <a:gd name="T6" fmla="*/ 128 w 198"/>
                  <a:gd name="T7" fmla="*/ 57 h 107"/>
                  <a:gd name="T8" fmla="*/ 106 w 198"/>
                  <a:gd name="T9" fmla="*/ 65 h 107"/>
                  <a:gd name="T10" fmla="*/ 83 w 198"/>
                  <a:gd name="T11" fmla="*/ 74 h 107"/>
                  <a:gd name="T12" fmla="*/ 59 w 198"/>
                  <a:gd name="T13" fmla="*/ 85 h 107"/>
                  <a:gd name="T14" fmla="*/ 37 w 198"/>
                  <a:gd name="T15" fmla="*/ 95 h 107"/>
                  <a:gd name="T16" fmla="*/ 14 w 198"/>
                  <a:gd name="T17" fmla="*/ 107 h 107"/>
                  <a:gd name="T18" fmla="*/ 0 w 198"/>
                  <a:gd name="T19" fmla="*/ 79 h 107"/>
                  <a:gd name="T20" fmla="*/ 26 w 198"/>
                  <a:gd name="T21" fmla="*/ 66 h 107"/>
                  <a:gd name="T22" fmla="*/ 48 w 198"/>
                  <a:gd name="T23" fmla="*/ 54 h 107"/>
                  <a:gd name="T24" fmla="*/ 74 w 198"/>
                  <a:gd name="T25" fmla="*/ 44 h 107"/>
                  <a:gd name="T26" fmla="*/ 98 w 198"/>
                  <a:gd name="T27" fmla="*/ 33 h 107"/>
                  <a:gd name="T28" fmla="*/ 122 w 198"/>
                  <a:gd name="T29" fmla="*/ 25 h 107"/>
                  <a:gd name="T30" fmla="*/ 147 w 198"/>
                  <a:gd name="T31" fmla="*/ 16 h 107"/>
                  <a:gd name="T32" fmla="*/ 172 w 198"/>
                  <a:gd name="T33" fmla="*/ 6 h 107"/>
                  <a:gd name="T34" fmla="*/ 196 w 198"/>
                  <a:gd name="T35" fmla="*/ 0 h 107"/>
                  <a:gd name="T36" fmla="*/ 198 w 198"/>
                  <a:gd name="T37" fmla="*/ 33 h 10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8"/>
                  <a:gd name="T58" fmla="*/ 0 h 107"/>
                  <a:gd name="T59" fmla="*/ 198 w 198"/>
                  <a:gd name="T60" fmla="*/ 107 h 10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8" h="107">
                    <a:moveTo>
                      <a:pt x="198" y="33"/>
                    </a:moveTo>
                    <a:lnTo>
                      <a:pt x="175" y="41"/>
                    </a:lnTo>
                    <a:lnTo>
                      <a:pt x="153" y="48"/>
                    </a:lnTo>
                    <a:lnTo>
                      <a:pt x="128" y="57"/>
                    </a:lnTo>
                    <a:lnTo>
                      <a:pt x="106" y="65"/>
                    </a:lnTo>
                    <a:lnTo>
                      <a:pt x="83" y="74"/>
                    </a:lnTo>
                    <a:lnTo>
                      <a:pt x="59" y="85"/>
                    </a:lnTo>
                    <a:lnTo>
                      <a:pt x="37" y="95"/>
                    </a:lnTo>
                    <a:lnTo>
                      <a:pt x="14" y="107"/>
                    </a:lnTo>
                    <a:lnTo>
                      <a:pt x="0" y="79"/>
                    </a:lnTo>
                    <a:lnTo>
                      <a:pt x="26" y="66"/>
                    </a:lnTo>
                    <a:lnTo>
                      <a:pt x="48" y="54"/>
                    </a:lnTo>
                    <a:lnTo>
                      <a:pt x="74" y="44"/>
                    </a:lnTo>
                    <a:lnTo>
                      <a:pt x="98" y="33"/>
                    </a:lnTo>
                    <a:lnTo>
                      <a:pt x="122" y="25"/>
                    </a:lnTo>
                    <a:lnTo>
                      <a:pt x="147" y="16"/>
                    </a:lnTo>
                    <a:lnTo>
                      <a:pt x="172" y="6"/>
                    </a:lnTo>
                    <a:lnTo>
                      <a:pt x="196" y="0"/>
                    </a:lnTo>
                    <a:lnTo>
                      <a:pt x="198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90" name="Freeform 211"/>
              <p:cNvSpPr>
                <a:spLocks/>
              </p:cNvSpPr>
              <p:nvPr/>
            </p:nvSpPr>
            <p:spPr bwMode="auto">
              <a:xfrm>
                <a:off x="2872" y="1307"/>
                <a:ext cx="23" cy="41"/>
              </a:xfrm>
              <a:custGeom>
                <a:avLst/>
                <a:gdLst>
                  <a:gd name="T0" fmla="*/ 0 w 23"/>
                  <a:gd name="T1" fmla="*/ 7 h 41"/>
                  <a:gd name="T2" fmla="*/ 21 w 23"/>
                  <a:gd name="T3" fmla="*/ 0 h 41"/>
                  <a:gd name="T4" fmla="*/ 23 w 23"/>
                  <a:gd name="T5" fmla="*/ 35 h 41"/>
                  <a:gd name="T6" fmla="*/ 2 w 23"/>
                  <a:gd name="T7" fmla="*/ 41 h 41"/>
                  <a:gd name="T8" fmla="*/ 0 w 23"/>
                  <a:gd name="T9" fmla="*/ 7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41"/>
                  <a:gd name="T17" fmla="*/ 23 w 23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41">
                    <a:moveTo>
                      <a:pt x="0" y="7"/>
                    </a:moveTo>
                    <a:lnTo>
                      <a:pt x="21" y="0"/>
                    </a:lnTo>
                    <a:lnTo>
                      <a:pt x="23" y="35"/>
                    </a:lnTo>
                    <a:lnTo>
                      <a:pt x="2" y="41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91" name="Freeform 212"/>
              <p:cNvSpPr>
                <a:spLocks/>
              </p:cNvSpPr>
              <p:nvPr/>
            </p:nvSpPr>
            <p:spPr bwMode="auto">
              <a:xfrm>
                <a:off x="2435" y="1447"/>
                <a:ext cx="154" cy="125"/>
              </a:xfrm>
              <a:custGeom>
                <a:avLst/>
                <a:gdLst>
                  <a:gd name="T0" fmla="*/ 154 w 154"/>
                  <a:gd name="T1" fmla="*/ 63 h 125"/>
                  <a:gd name="T2" fmla="*/ 0 w 154"/>
                  <a:gd name="T3" fmla="*/ 125 h 125"/>
                  <a:gd name="T4" fmla="*/ 87 w 154"/>
                  <a:gd name="T5" fmla="*/ 0 h 125"/>
                  <a:gd name="T6" fmla="*/ 154 w 154"/>
                  <a:gd name="T7" fmla="*/ 63 h 1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125"/>
                  <a:gd name="T14" fmla="*/ 154 w 154"/>
                  <a:gd name="T15" fmla="*/ 125 h 1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125">
                    <a:moveTo>
                      <a:pt x="154" y="63"/>
                    </a:moveTo>
                    <a:lnTo>
                      <a:pt x="0" y="125"/>
                    </a:lnTo>
                    <a:lnTo>
                      <a:pt x="87" y="0"/>
                    </a:lnTo>
                    <a:lnTo>
                      <a:pt x="154" y="63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92" name="Freeform 213"/>
              <p:cNvSpPr>
                <a:spLocks/>
              </p:cNvSpPr>
              <p:nvPr/>
            </p:nvSpPr>
            <p:spPr bwMode="auto">
              <a:xfrm>
                <a:off x="2425" y="1507"/>
                <a:ext cx="165" cy="75"/>
              </a:xfrm>
              <a:custGeom>
                <a:avLst/>
                <a:gdLst>
                  <a:gd name="T0" fmla="*/ 16 w 165"/>
                  <a:gd name="T1" fmla="*/ 67 h 75"/>
                  <a:gd name="T2" fmla="*/ 12 w 165"/>
                  <a:gd name="T3" fmla="*/ 60 h 75"/>
                  <a:gd name="T4" fmla="*/ 164 w 165"/>
                  <a:gd name="T5" fmla="*/ 0 h 75"/>
                  <a:gd name="T6" fmla="*/ 165 w 165"/>
                  <a:gd name="T7" fmla="*/ 9 h 75"/>
                  <a:gd name="T8" fmla="*/ 14 w 165"/>
                  <a:gd name="T9" fmla="*/ 70 h 75"/>
                  <a:gd name="T10" fmla="*/ 9 w 165"/>
                  <a:gd name="T11" fmla="*/ 64 h 75"/>
                  <a:gd name="T12" fmla="*/ 14 w 165"/>
                  <a:gd name="T13" fmla="*/ 70 h 75"/>
                  <a:gd name="T14" fmla="*/ 0 w 165"/>
                  <a:gd name="T15" fmla="*/ 75 h 75"/>
                  <a:gd name="T16" fmla="*/ 9 w 165"/>
                  <a:gd name="T17" fmla="*/ 64 h 75"/>
                  <a:gd name="T18" fmla="*/ 16 w 165"/>
                  <a:gd name="T19" fmla="*/ 67 h 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75"/>
                  <a:gd name="T32" fmla="*/ 165 w 165"/>
                  <a:gd name="T33" fmla="*/ 75 h 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75">
                    <a:moveTo>
                      <a:pt x="16" y="67"/>
                    </a:moveTo>
                    <a:lnTo>
                      <a:pt x="12" y="60"/>
                    </a:lnTo>
                    <a:lnTo>
                      <a:pt x="164" y="0"/>
                    </a:lnTo>
                    <a:lnTo>
                      <a:pt x="165" y="9"/>
                    </a:lnTo>
                    <a:lnTo>
                      <a:pt x="14" y="70"/>
                    </a:lnTo>
                    <a:lnTo>
                      <a:pt x="9" y="64"/>
                    </a:lnTo>
                    <a:lnTo>
                      <a:pt x="14" y="70"/>
                    </a:lnTo>
                    <a:lnTo>
                      <a:pt x="0" y="75"/>
                    </a:lnTo>
                    <a:lnTo>
                      <a:pt x="9" y="64"/>
                    </a:lnTo>
                    <a:lnTo>
                      <a:pt x="16" y="67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93" name="Freeform 214"/>
              <p:cNvSpPr>
                <a:spLocks/>
              </p:cNvSpPr>
              <p:nvPr/>
            </p:nvSpPr>
            <p:spPr bwMode="auto">
              <a:xfrm>
                <a:off x="2434" y="1438"/>
                <a:ext cx="95" cy="134"/>
              </a:xfrm>
              <a:custGeom>
                <a:avLst/>
                <a:gdLst>
                  <a:gd name="T0" fmla="*/ 84 w 95"/>
                  <a:gd name="T1" fmla="*/ 13 h 134"/>
                  <a:gd name="T2" fmla="*/ 95 w 95"/>
                  <a:gd name="T3" fmla="*/ 8 h 134"/>
                  <a:gd name="T4" fmla="*/ 8 w 95"/>
                  <a:gd name="T5" fmla="*/ 134 h 134"/>
                  <a:gd name="T6" fmla="*/ 0 w 95"/>
                  <a:gd name="T7" fmla="*/ 132 h 134"/>
                  <a:gd name="T8" fmla="*/ 86 w 95"/>
                  <a:gd name="T9" fmla="*/ 6 h 134"/>
                  <a:gd name="T10" fmla="*/ 95 w 95"/>
                  <a:gd name="T11" fmla="*/ 4 h 134"/>
                  <a:gd name="T12" fmla="*/ 86 w 95"/>
                  <a:gd name="T13" fmla="*/ 6 h 134"/>
                  <a:gd name="T14" fmla="*/ 90 w 95"/>
                  <a:gd name="T15" fmla="*/ 0 h 134"/>
                  <a:gd name="T16" fmla="*/ 95 w 95"/>
                  <a:gd name="T17" fmla="*/ 4 h 134"/>
                  <a:gd name="T18" fmla="*/ 84 w 95"/>
                  <a:gd name="T19" fmla="*/ 13 h 13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5"/>
                  <a:gd name="T31" fmla="*/ 0 h 134"/>
                  <a:gd name="T32" fmla="*/ 95 w 95"/>
                  <a:gd name="T33" fmla="*/ 134 h 13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5" h="134">
                    <a:moveTo>
                      <a:pt x="84" y="13"/>
                    </a:moveTo>
                    <a:lnTo>
                      <a:pt x="95" y="8"/>
                    </a:lnTo>
                    <a:lnTo>
                      <a:pt x="8" y="134"/>
                    </a:lnTo>
                    <a:lnTo>
                      <a:pt x="0" y="132"/>
                    </a:lnTo>
                    <a:lnTo>
                      <a:pt x="86" y="6"/>
                    </a:lnTo>
                    <a:lnTo>
                      <a:pt x="95" y="4"/>
                    </a:lnTo>
                    <a:lnTo>
                      <a:pt x="86" y="6"/>
                    </a:lnTo>
                    <a:lnTo>
                      <a:pt x="90" y="0"/>
                    </a:lnTo>
                    <a:lnTo>
                      <a:pt x="95" y="4"/>
                    </a:lnTo>
                    <a:lnTo>
                      <a:pt x="84" y="13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94" name="Freeform 215"/>
              <p:cNvSpPr>
                <a:spLocks/>
              </p:cNvSpPr>
              <p:nvPr/>
            </p:nvSpPr>
            <p:spPr bwMode="auto">
              <a:xfrm>
                <a:off x="2519" y="1441"/>
                <a:ext cx="82" cy="73"/>
              </a:xfrm>
              <a:custGeom>
                <a:avLst/>
                <a:gdLst>
                  <a:gd name="T0" fmla="*/ 72 w 82"/>
                  <a:gd name="T1" fmla="*/ 63 h 73"/>
                  <a:gd name="T2" fmla="*/ 67 w 82"/>
                  <a:gd name="T3" fmla="*/ 72 h 73"/>
                  <a:gd name="T4" fmla="*/ 0 w 82"/>
                  <a:gd name="T5" fmla="*/ 8 h 73"/>
                  <a:gd name="T6" fmla="*/ 11 w 82"/>
                  <a:gd name="T7" fmla="*/ 0 h 73"/>
                  <a:gd name="T8" fmla="*/ 77 w 82"/>
                  <a:gd name="T9" fmla="*/ 63 h 73"/>
                  <a:gd name="T10" fmla="*/ 74 w 82"/>
                  <a:gd name="T11" fmla="*/ 73 h 73"/>
                  <a:gd name="T12" fmla="*/ 77 w 82"/>
                  <a:gd name="T13" fmla="*/ 63 h 73"/>
                  <a:gd name="T14" fmla="*/ 82 w 82"/>
                  <a:gd name="T15" fmla="*/ 68 h 73"/>
                  <a:gd name="T16" fmla="*/ 74 w 82"/>
                  <a:gd name="T17" fmla="*/ 73 h 73"/>
                  <a:gd name="T18" fmla="*/ 72 w 82"/>
                  <a:gd name="T19" fmla="*/ 63 h 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2"/>
                  <a:gd name="T31" fmla="*/ 0 h 73"/>
                  <a:gd name="T32" fmla="*/ 82 w 82"/>
                  <a:gd name="T33" fmla="*/ 73 h 7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2" h="73">
                    <a:moveTo>
                      <a:pt x="72" y="63"/>
                    </a:moveTo>
                    <a:lnTo>
                      <a:pt x="67" y="72"/>
                    </a:lnTo>
                    <a:lnTo>
                      <a:pt x="0" y="8"/>
                    </a:lnTo>
                    <a:lnTo>
                      <a:pt x="11" y="0"/>
                    </a:lnTo>
                    <a:lnTo>
                      <a:pt x="77" y="63"/>
                    </a:lnTo>
                    <a:lnTo>
                      <a:pt x="74" y="73"/>
                    </a:lnTo>
                    <a:lnTo>
                      <a:pt x="77" y="63"/>
                    </a:lnTo>
                    <a:lnTo>
                      <a:pt x="82" y="68"/>
                    </a:lnTo>
                    <a:lnTo>
                      <a:pt x="74" y="73"/>
                    </a:lnTo>
                    <a:lnTo>
                      <a:pt x="72" y="63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95" name="Freeform 216"/>
              <p:cNvSpPr>
                <a:spLocks/>
              </p:cNvSpPr>
              <p:nvPr/>
            </p:nvSpPr>
            <p:spPr bwMode="auto">
              <a:xfrm>
                <a:off x="2465" y="1517"/>
                <a:ext cx="35" cy="28"/>
              </a:xfrm>
              <a:custGeom>
                <a:avLst/>
                <a:gdLst>
                  <a:gd name="T0" fmla="*/ 35 w 35"/>
                  <a:gd name="T1" fmla="*/ 16 h 28"/>
                  <a:gd name="T2" fmla="*/ 21 w 35"/>
                  <a:gd name="T3" fmla="*/ 28 h 28"/>
                  <a:gd name="T4" fmla="*/ 0 w 35"/>
                  <a:gd name="T5" fmla="*/ 12 h 28"/>
                  <a:gd name="T6" fmla="*/ 15 w 35"/>
                  <a:gd name="T7" fmla="*/ 0 h 28"/>
                  <a:gd name="T8" fmla="*/ 35 w 35"/>
                  <a:gd name="T9" fmla="*/ 16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28"/>
                  <a:gd name="T17" fmla="*/ 35 w 35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28">
                    <a:moveTo>
                      <a:pt x="35" y="16"/>
                    </a:moveTo>
                    <a:lnTo>
                      <a:pt x="21" y="28"/>
                    </a:lnTo>
                    <a:lnTo>
                      <a:pt x="0" y="12"/>
                    </a:lnTo>
                    <a:lnTo>
                      <a:pt x="15" y="0"/>
                    </a:lnTo>
                    <a:lnTo>
                      <a:pt x="35" y="16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96" name="Freeform 217"/>
              <p:cNvSpPr>
                <a:spLocks/>
              </p:cNvSpPr>
              <p:nvPr/>
            </p:nvSpPr>
            <p:spPr bwMode="auto">
              <a:xfrm>
                <a:off x="2481" y="1382"/>
                <a:ext cx="212" cy="153"/>
              </a:xfrm>
              <a:custGeom>
                <a:avLst/>
                <a:gdLst>
                  <a:gd name="T0" fmla="*/ 212 w 212"/>
                  <a:gd name="T1" fmla="*/ 25 h 153"/>
                  <a:gd name="T2" fmla="*/ 212 w 212"/>
                  <a:gd name="T3" fmla="*/ 25 h 153"/>
                  <a:gd name="T4" fmla="*/ 184 w 212"/>
                  <a:gd name="T5" fmla="*/ 39 h 153"/>
                  <a:gd name="T6" fmla="*/ 160 w 212"/>
                  <a:gd name="T7" fmla="*/ 54 h 153"/>
                  <a:gd name="T8" fmla="*/ 134 w 212"/>
                  <a:gd name="T9" fmla="*/ 69 h 153"/>
                  <a:gd name="T10" fmla="*/ 111 w 212"/>
                  <a:gd name="T11" fmla="*/ 85 h 153"/>
                  <a:gd name="T12" fmla="*/ 88 w 212"/>
                  <a:gd name="T13" fmla="*/ 101 h 153"/>
                  <a:gd name="T14" fmla="*/ 64 w 212"/>
                  <a:gd name="T15" fmla="*/ 118 h 153"/>
                  <a:gd name="T16" fmla="*/ 42 w 212"/>
                  <a:gd name="T17" fmla="*/ 136 h 153"/>
                  <a:gd name="T18" fmla="*/ 21 w 212"/>
                  <a:gd name="T19" fmla="*/ 153 h 153"/>
                  <a:gd name="T20" fmla="*/ 0 w 212"/>
                  <a:gd name="T21" fmla="*/ 135 h 153"/>
                  <a:gd name="T22" fmla="*/ 23 w 212"/>
                  <a:gd name="T23" fmla="*/ 117 h 153"/>
                  <a:gd name="T24" fmla="*/ 47 w 212"/>
                  <a:gd name="T25" fmla="*/ 97 h 153"/>
                  <a:gd name="T26" fmla="*/ 70 w 212"/>
                  <a:gd name="T27" fmla="*/ 80 h 153"/>
                  <a:gd name="T28" fmla="*/ 95 w 212"/>
                  <a:gd name="T29" fmla="*/ 62 h 153"/>
                  <a:gd name="T30" fmla="*/ 119 w 212"/>
                  <a:gd name="T31" fmla="*/ 47 h 153"/>
                  <a:gd name="T32" fmla="*/ 146 w 212"/>
                  <a:gd name="T33" fmla="*/ 30 h 153"/>
                  <a:gd name="T34" fmla="*/ 172 w 212"/>
                  <a:gd name="T35" fmla="*/ 15 h 153"/>
                  <a:gd name="T36" fmla="*/ 198 w 212"/>
                  <a:gd name="T37" fmla="*/ 0 h 153"/>
                  <a:gd name="T38" fmla="*/ 212 w 212"/>
                  <a:gd name="T39" fmla="*/ 25 h 1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2"/>
                  <a:gd name="T61" fmla="*/ 0 h 153"/>
                  <a:gd name="T62" fmla="*/ 212 w 212"/>
                  <a:gd name="T63" fmla="*/ 153 h 1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2" h="153">
                    <a:moveTo>
                      <a:pt x="212" y="25"/>
                    </a:moveTo>
                    <a:lnTo>
                      <a:pt x="212" y="25"/>
                    </a:lnTo>
                    <a:lnTo>
                      <a:pt x="184" y="39"/>
                    </a:lnTo>
                    <a:lnTo>
                      <a:pt x="160" y="54"/>
                    </a:lnTo>
                    <a:lnTo>
                      <a:pt x="134" y="69"/>
                    </a:lnTo>
                    <a:lnTo>
                      <a:pt x="111" y="85"/>
                    </a:lnTo>
                    <a:lnTo>
                      <a:pt x="88" y="101"/>
                    </a:lnTo>
                    <a:lnTo>
                      <a:pt x="64" y="118"/>
                    </a:lnTo>
                    <a:lnTo>
                      <a:pt x="42" y="136"/>
                    </a:lnTo>
                    <a:lnTo>
                      <a:pt x="21" y="153"/>
                    </a:lnTo>
                    <a:lnTo>
                      <a:pt x="0" y="135"/>
                    </a:lnTo>
                    <a:lnTo>
                      <a:pt x="23" y="117"/>
                    </a:lnTo>
                    <a:lnTo>
                      <a:pt x="47" y="97"/>
                    </a:lnTo>
                    <a:lnTo>
                      <a:pt x="70" y="80"/>
                    </a:lnTo>
                    <a:lnTo>
                      <a:pt x="95" y="62"/>
                    </a:lnTo>
                    <a:lnTo>
                      <a:pt x="119" y="47"/>
                    </a:lnTo>
                    <a:lnTo>
                      <a:pt x="146" y="30"/>
                    </a:lnTo>
                    <a:lnTo>
                      <a:pt x="172" y="15"/>
                    </a:lnTo>
                    <a:lnTo>
                      <a:pt x="198" y="0"/>
                    </a:lnTo>
                    <a:lnTo>
                      <a:pt x="212" y="25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97" name="Freeform 218"/>
              <p:cNvSpPr>
                <a:spLocks/>
              </p:cNvSpPr>
              <p:nvPr/>
            </p:nvSpPr>
            <p:spPr bwMode="auto">
              <a:xfrm>
                <a:off x="2684" y="1309"/>
                <a:ext cx="197" cy="101"/>
              </a:xfrm>
              <a:custGeom>
                <a:avLst/>
                <a:gdLst>
                  <a:gd name="T0" fmla="*/ 197 w 197"/>
                  <a:gd name="T1" fmla="*/ 27 h 101"/>
                  <a:gd name="T2" fmla="*/ 175 w 197"/>
                  <a:gd name="T3" fmla="*/ 34 h 101"/>
                  <a:gd name="T4" fmla="*/ 151 w 197"/>
                  <a:gd name="T5" fmla="*/ 41 h 101"/>
                  <a:gd name="T6" fmla="*/ 128 w 197"/>
                  <a:gd name="T7" fmla="*/ 49 h 101"/>
                  <a:gd name="T8" fmla="*/ 104 w 197"/>
                  <a:gd name="T9" fmla="*/ 58 h 101"/>
                  <a:gd name="T10" fmla="*/ 81 w 197"/>
                  <a:gd name="T11" fmla="*/ 68 h 101"/>
                  <a:gd name="T12" fmla="*/ 57 w 197"/>
                  <a:gd name="T13" fmla="*/ 79 h 101"/>
                  <a:gd name="T14" fmla="*/ 36 w 197"/>
                  <a:gd name="T15" fmla="*/ 88 h 101"/>
                  <a:gd name="T16" fmla="*/ 12 w 197"/>
                  <a:gd name="T17" fmla="*/ 101 h 101"/>
                  <a:gd name="T18" fmla="*/ 0 w 197"/>
                  <a:gd name="T19" fmla="*/ 78 h 101"/>
                  <a:gd name="T20" fmla="*/ 24 w 197"/>
                  <a:gd name="T21" fmla="*/ 65 h 101"/>
                  <a:gd name="T22" fmla="*/ 49 w 197"/>
                  <a:gd name="T23" fmla="*/ 54 h 101"/>
                  <a:gd name="T24" fmla="*/ 73 w 197"/>
                  <a:gd name="T25" fmla="*/ 42 h 101"/>
                  <a:gd name="T26" fmla="*/ 97 w 197"/>
                  <a:gd name="T27" fmla="*/ 33 h 101"/>
                  <a:gd name="T28" fmla="*/ 123 w 197"/>
                  <a:gd name="T29" fmla="*/ 23 h 101"/>
                  <a:gd name="T30" fmla="*/ 147 w 197"/>
                  <a:gd name="T31" fmla="*/ 15 h 101"/>
                  <a:gd name="T32" fmla="*/ 172 w 197"/>
                  <a:gd name="T33" fmla="*/ 6 h 101"/>
                  <a:gd name="T34" fmla="*/ 196 w 197"/>
                  <a:gd name="T35" fmla="*/ 0 h 101"/>
                  <a:gd name="T36" fmla="*/ 197 w 197"/>
                  <a:gd name="T37" fmla="*/ 27 h 10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7"/>
                  <a:gd name="T58" fmla="*/ 0 h 101"/>
                  <a:gd name="T59" fmla="*/ 197 w 197"/>
                  <a:gd name="T60" fmla="*/ 101 h 10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7" h="101">
                    <a:moveTo>
                      <a:pt x="197" y="27"/>
                    </a:moveTo>
                    <a:lnTo>
                      <a:pt x="175" y="34"/>
                    </a:lnTo>
                    <a:lnTo>
                      <a:pt x="151" y="41"/>
                    </a:lnTo>
                    <a:lnTo>
                      <a:pt x="128" y="49"/>
                    </a:lnTo>
                    <a:lnTo>
                      <a:pt x="104" y="58"/>
                    </a:lnTo>
                    <a:lnTo>
                      <a:pt x="81" y="68"/>
                    </a:lnTo>
                    <a:lnTo>
                      <a:pt x="57" y="79"/>
                    </a:lnTo>
                    <a:lnTo>
                      <a:pt x="36" y="88"/>
                    </a:lnTo>
                    <a:lnTo>
                      <a:pt x="12" y="101"/>
                    </a:lnTo>
                    <a:lnTo>
                      <a:pt x="0" y="78"/>
                    </a:lnTo>
                    <a:lnTo>
                      <a:pt x="24" y="65"/>
                    </a:lnTo>
                    <a:lnTo>
                      <a:pt x="49" y="54"/>
                    </a:lnTo>
                    <a:lnTo>
                      <a:pt x="73" y="42"/>
                    </a:lnTo>
                    <a:lnTo>
                      <a:pt x="97" y="33"/>
                    </a:lnTo>
                    <a:lnTo>
                      <a:pt x="123" y="23"/>
                    </a:lnTo>
                    <a:lnTo>
                      <a:pt x="147" y="15"/>
                    </a:lnTo>
                    <a:lnTo>
                      <a:pt x="172" y="6"/>
                    </a:lnTo>
                    <a:lnTo>
                      <a:pt x="196" y="0"/>
                    </a:lnTo>
                    <a:lnTo>
                      <a:pt x="197" y="27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98" name="Freeform 219"/>
              <p:cNvSpPr>
                <a:spLocks/>
              </p:cNvSpPr>
              <p:nvPr/>
            </p:nvSpPr>
            <p:spPr bwMode="auto">
              <a:xfrm>
                <a:off x="2882" y="1301"/>
                <a:ext cx="20" cy="34"/>
              </a:xfrm>
              <a:custGeom>
                <a:avLst/>
                <a:gdLst>
                  <a:gd name="T0" fmla="*/ 0 w 20"/>
                  <a:gd name="T1" fmla="*/ 6 h 34"/>
                  <a:gd name="T2" fmla="*/ 19 w 20"/>
                  <a:gd name="T3" fmla="*/ 0 h 34"/>
                  <a:gd name="T4" fmla="*/ 20 w 20"/>
                  <a:gd name="T5" fmla="*/ 28 h 34"/>
                  <a:gd name="T6" fmla="*/ 1 w 20"/>
                  <a:gd name="T7" fmla="*/ 34 h 34"/>
                  <a:gd name="T8" fmla="*/ 0 w 20"/>
                  <a:gd name="T9" fmla="*/ 6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34"/>
                  <a:gd name="T17" fmla="*/ 20 w 2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34">
                    <a:moveTo>
                      <a:pt x="0" y="6"/>
                    </a:moveTo>
                    <a:lnTo>
                      <a:pt x="19" y="0"/>
                    </a:lnTo>
                    <a:lnTo>
                      <a:pt x="20" y="28"/>
                    </a:lnTo>
                    <a:lnTo>
                      <a:pt x="1" y="3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99" name="Freeform 220"/>
              <p:cNvSpPr>
                <a:spLocks/>
              </p:cNvSpPr>
              <p:nvPr/>
            </p:nvSpPr>
            <p:spPr bwMode="auto">
              <a:xfrm>
                <a:off x="2411" y="1471"/>
                <a:ext cx="151" cy="127"/>
              </a:xfrm>
              <a:custGeom>
                <a:avLst/>
                <a:gdLst>
                  <a:gd name="T0" fmla="*/ 151 w 151"/>
                  <a:gd name="T1" fmla="*/ 59 h 127"/>
                  <a:gd name="T2" fmla="*/ 0 w 151"/>
                  <a:gd name="T3" fmla="*/ 127 h 127"/>
                  <a:gd name="T4" fmla="*/ 79 w 151"/>
                  <a:gd name="T5" fmla="*/ 0 h 127"/>
                  <a:gd name="T6" fmla="*/ 151 w 151"/>
                  <a:gd name="T7" fmla="*/ 59 h 12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1"/>
                  <a:gd name="T13" fmla="*/ 0 h 127"/>
                  <a:gd name="T14" fmla="*/ 151 w 151"/>
                  <a:gd name="T15" fmla="*/ 127 h 12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1" h="127">
                    <a:moveTo>
                      <a:pt x="151" y="59"/>
                    </a:moveTo>
                    <a:lnTo>
                      <a:pt x="0" y="127"/>
                    </a:lnTo>
                    <a:lnTo>
                      <a:pt x="79" y="0"/>
                    </a:lnTo>
                    <a:lnTo>
                      <a:pt x="151" y="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00" name="Freeform 221"/>
              <p:cNvSpPr>
                <a:spLocks/>
              </p:cNvSpPr>
              <p:nvPr/>
            </p:nvSpPr>
            <p:spPr bwMode="auto">
              <a:xfrm>
                <a:off x="2390" y="1522"/>
                <a:ext cx="174" cy="91"/>
              </a:xfrm>
              <a:custGeom>
                <a:avLst/>
                <a:gdLst>
                  <a:gd name="T0" fmla="*/ 28 w 174"/>
                  <a:gd name="T1" fmla="*/ 76 h 91"/>
                  <a:gd name="T2" fmla="*/ 17 w 174"/>
                  <a:gd name="T3" fmla="*/ 68 h 91"/>
                  <a:gd name="T4" fmla="*/ 169 w 174"/>
                  <a:gd name="T5" fmla="*/ 0 h 91"/>
                  <a:gd name="T6" fmla="*/ 174 w 174"/>
                  <a:gd name="T7" fmla="*/ 15 h 91"/>
                  <a:gd name="T8" fmla="*/ 22 w 174"/>
                  <a:gd name="T9" fmla="*/ 81 h 91"/>
                  <a:gd name="T10" fmla="*/ 12 w 174"/>
                  <a:gd name="T11" fmla="*/ 72 h 91"/>
                  <a:gd name="T12" fmla="*/ 22 w 174"/>
                  <a:gd name="T13" fmla="*/ 81 h 91"/>
                  <a:gd name="T14" fmla="*/ 0 w 174"/>
                  <a:gd name="T15" fmla="*/ 91 h 91"/>
                  <a:gd name="T16" fmla="*/ 12 w 174"/>
                  <a:gd name="T17" fmla="*/ 72 h 91"/>
                  <a:gd name="T18" fmla="*/ 28 w 174"/>
                  <a:gd name="T19" fmla="*/ 76 h 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4"/>
                  <a:gd name="T31" fmla="*/ 0 h 91"/>
                  <a:gd name="T32" fmla="*/ 174 w 174"/>
                  <a:gd name="T33" fmla="*/ 91 h 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4" h="91">
                    <a:moveTo>
                      <a:pt x="28" y="76"/>
                    </a:moveTo>
                    <a:lnTo>
                      <a:pt x="17" y="68"/>
                    </a:lnTo>
                    <a:lnTo>
                      <a:pt x="169" y="0"/>
                    </a:lnTo>
                    <a:lnTo>
                      <a:pt x="174" y="15"/>
                    </a:lnTo>
                    <a:lnTo>
                      <a:pt x="22" y="81"/>
                    </a:lnTo>
                    <a:lnTo>
                      <a:pt x="12" y="72"/>
                    </a:lnTo>
                    <a:lnTo>
                      <a:pt x="22" y="81"/>
                    </a:lnTo>
                    <a:lnTo>
                      <a:pt x="0" y="91"/>
                    </a:lnTo>
                    <a:lnTo>
                      <a:pt x="12" y="72"/>
                    </a:lnTo>
                    <a:lnTo>
                      <a:pt x="28" y="7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01" name="Freeform 222"/>
              <p:cNvSpPr>
                <a:spLocks/>
              </p:cNvSpPr>
              <p:nvPr/>
            </p:nvSpPr>
            <p:spPr bwMode="auto">
              <a:xfrm>
                <a:off x="2398" y="1459"/>
                <a:ext cx="96" cy="142"/>
              </a:xfrm>
              <a:custGeom>
                <a:avLst/>
                <a:gdLst>
                  <a:gd name="T0" fmla="*/ 80 w 96"/>
                  <a:gd name="T1" fmla="*/ 20 h 142"/>
                  <a:gd name="T2" fmla="*/ 96 w 96"/>
                  <a:gd name="T3" fmla="*/ 16 h 142"/>
                  <a:gd name="T4" fmla="*/ 17 w 96"/>
                  <a:gd name="T5" fmla="*/ 142 h 142"/>
                  <a:gd name="T6" fmla="*/ 0 w 96"/>
                  <a:gd name="T7" fmla="*/ 139 h 142"/>
                  <a:gd name="T8" fmla="*/ 80 w 96"/>
                  <a:gd name="T9" fmla="*/ 13 h 142"/>
                  <a:gd name="T10" fmla="*/ 95 w 96"/>
                  <a:gd name="T11" fmla="*/ 8 h 142"/>
                  <a:gd name="T12" fmla="*/ 80 w 96"/>
                  <a:gd name="T13" fmla="*/ 13 h 142"/>
                  <a:gd name="T14" fmla="*/ 88 w 96"/>
                  <a:gd name="T15" fmla="*/ 0 h 142"/>
                  <a:gd name="T16" fmla="*/ 95 w 96"/>
                  <a:gd name="T17" fmla="*/ 8 h 142"/>
                  <a:gd name="T18" fmla="*/ 80 w 96"/>
                  <a:gd name="T19" fmla="*/ 20 h 1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6"/>
                  <a:gd name="T31" fmla="*/ 0 h 142"/>
                  <a:gd name="T32" fmla="*/ 96 w 96"/>
                  <a:gd name="T33" fmla="*/ 142 h 1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6" h="142">
                    <a:moveTo>
                      <a:pt x="80" y="20"/>
                    </a:moveTo>
                    <a:lnTo>
                      <a:pt x="96" y="16"/>
                    </a:lnTo>
                    <a:lnTo>
                      <a:pt x="17" y="142"/>
                    </a:lnTo>
                    <a:lnTo>
                      <a:pt x="0" y="139"/>
                    </a:lnTo>
                    <a:lnTo>
                      <a:pt x="80" y="13"/>
                    </a:lnTo>
                    <a:lnTo>
                      <a:pt x="95" y="8"/>
                    </a:lnTo>
                    <a:lnTo>
                      <a:pt x="80" y="13"/>
                    </a:lnTo>
                    <a:lnTo>
                      <a:pt x="88" y="0"/>
                    </a:lnTo>
                    <a:lnTo>
                      <a:pt x="95" y="8"/>
                    </a:lnTo>
                    <a:lnTo>
                      <a:pt x="80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02" name="Freeform 223"/>
              <p:cNvSpPr>
                <a:spLocks/>
              </p:cNvSpPr>
              <p:nvPr/>
            </p:nvSpPr>
            <p:spPr bwMode="auto">
              <a:xfrm>
                <a:off x="2484" y="1467"/>
                <a:ext cx="96" cy="72"/>
              </a:xfrm>
              <a:custGeom>
                <a:avLst/>
                <a:gdLst>
                  <a:gd name="T0" fmla="*/ 78 w 96"/>
                  <a:gd name="T1" fmla="*/ 57 h 72"/>
                  <a:gd name="T2" fmla="*/ 72 w 96"/>
                  <a:gd name="T3" fmla="*/ 71 h 72"/>
                  <a:gd name="T4" fmla="*/ 0 w 96"/>
                  <a:gd name="T5" fmla="*/ 12 h 72"/>
                  <a:gd name="T6" fmla="*/ 15 w 96"/>
                  <a:gd name="T7" fmla="*/ 0 h 72"/>
                  <a:gd name="T8" fmla="*/ 89 w 96"/>
                  <a:gd name="T9" fmla="*/ 60 h 72"/>
                  <a:gd name="T10" fmla="*/ 82 w 96"/>
                  <a:gd name="T11" fmla="*/ 72 h 72"/>
                  <a:gd name="T12" fmla="*/ 89 w 96"/>
                  <a:gd name="T13" fmla="*/ 60 h 72"/>
                  <a:gd name="T14" fmla="*/ 96 w 96"/>
                  <a:gd name="T15" fmla="*/ 66 h 72"/>
                  <a:gd name="T16" fmla="*/ 82 w 96"/>
                  <a:gd name="T17" fmla="*/ 72 h 72"/>
                  <a:gd name="T18" fmla="*/ 78 w 96"/>
                  <a:gd name="T19" fmla="*/ 57 h 7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6"/>
                  <a:gd name="T31" fmla="*/ 0 h 72"/>
                  <a:gd name="T32" fmla="*/ 96 w 96"/>
                  <a:gd name="T33" fmla="*/ 72 h 7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6" h="72">
                    <a:moveTo>
                      <a:pt x="78" y="57"/>
                    </a:moveTo>
                    <a:lnTo>
                      <a:pt x="72" y="71"/>
                    </a:lnTo>
                    <a:lnTo>
                      <a:pt x="0" y="12"/>
                    </a:lnTo>
                    <a:lnTo>
                      <a:pt x="15" y="0"/>
                    </a:lnTo>
                    <a:lnTo>
                      <a:pt x="89" y="60"/>
                    </a:lnTo>
                    <a:lnTo>
                      <a:pt x="82" y="72"/>
                    </a:lnTo>
                    <a:lnTo>
                      <a:pt x="89" y="60"/>
                    </a:lnTo>
                    <a:lnTo>
                      <a:pt x="96" y="66"/>
                    </a:lnTo>
                    <a:lnTo>
                      <a:pt x="82" y="72"/>
                    </a:lnTo>
                    <a:lnTo>
                      <a:pt x="78" y="5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03" name="Freeform 224"/>
              <p:cNvSpPr>
                <a:spLocks/>
              </p:cNvSpPr>
              <p:nvPr/>
            </p:nvSpPr>
            <p:spPr bwMode="auto">
              <a:xfrm>
                <a:off x="2418" y="1551"/>
                <a:ext cx="44" cy="35"/>
              </a:xfrm>
              <a:custGeom>
                <a:avLst/>
                <a:gdLst>
                  <a:gd name="T0" fmla="*/ 44 w 44"/>
                  <a:gd name="T1" fmla="*/ 21 h 35"/>
                  <a:gd name="T2" fmla="*/ 27 w 44"/>
                  <a:gd name="T3" fmla="*/ 35 h 35"/>
                  <a:gd name="T4" fmla="*/ 0 w 44"/>
                  <a:gd name="T5" fmla="*/ 16 h 35"/>
                  <a:gd name="T6" fmla="*/ 17 w 44"/>
                  <a:gd name="T7" fmla="*/ 0 h 35"/>
                  <a:gd name="T8" fmla="*/ 44 w 44"/>
                  <a:gd name="T9" fmla="*/ 21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"/>
                  <a:gd name="T16" fmla="*/ 0 h 35"/>
                  <a:gd name="T17" fmla="*/ 44 w 44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" h="35">
                    <a:moveTo>
                      <a:pt x="44" y="21"/>
                    </a:moveTo>
                    <a:lnTo>
                      <a:pt x="27" y="35"/>
                    </a:lnTo>
                    <a:lnTo>
                      <a:pt x="0" y="16"/>
                    </a:lnTo>
                    <a:lnTo>
                      <a:pt x="17" y="0"/>
                    </a:lnTo>
                    <a:lnTo>
                      <a:pt x="44" y="2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04" name="Freeform 225"/>
              <p:cNvSpPr>
                <a:spLocks/>
              </p:cNvSpPr>
              <p:nvPr/>
            </p:nvSpPr>
            <p:spPr bwMode="auto">
              <a:xfrm>
                <a:off x="2436" y="1407"/>
                <a:ext cx="213" cy="162"/>
              </a:xfrm>
              <a:custGeom>
                <a:avLst/>
                <a:gdLst>
                  <a:gd name="T0" fmla="*/ 213 w 213"/>
                  <a:gd name="T1" fmla="*/ 28 h 162"/>
                  <a:gd name="T2" fmla="*/ 213 w 213"/>
                  <a:gd name="T3" fmla="*/ 28 h 162"/>
                  <a:gd name="T4" fmla="*/ 188 w 213"/>
                  <a:gd name="T5" fmla="*/ 43 h 162"/>
                  <a:gd name="T6" fmla="*/ 161 w 213"/>
                  <a:gd name="T7" fmla="*/ 59 h 162"/>
                  <a:gd name="T8" fmla="*/ 139 w 213"/>
                  <a:gd name="T9" fmla="*/ 75 h 162"/>
                  <a:gd name="T10" fmla="*/ 114 w 213"/>
                  <a:gd name="T11" fmla="*/ 92 h 162"/>
                  <a:gd name="T12" fmla="*/ 91 w 213"/>
                  <a:gd name="T13" fmla="*/ 109 h 162"/>
                  <a:gd name="T14" fmla="*/ 69 w 213"/>
                  <a:gd name="T15" fmla="*/ 126 h 162"/>
                  <a:gd name="T16" fmla="*/ 48 w 213"/>
                  <a:gd name="T17" fmla="*/ 144 h 162"/>
                  <a:gd name="T18" fmla="*/ 26 w 213"/>
                  <a:gd name="T19" fmla="*/ 162 h 162"/>
                  <a:gd name="T20" fmla="*/ 0 w 213"/>
                  <a:gd name="T21" fmla="*/ 142 h 162"/>
                  <a:gd name="T22" fmla="*/ 21 w 213"/>
                  <a:gd name="T23" fmla="*/ 123 h 162"/>
                  <a:gd name="T24" fmla="*/ 44 w 213"/>
                  <a:gd name="T25" fmla="*/ 103 h 162"/>
                  <a:gd name="T26" fmla="*/ 68 w 213"/>
                  <a:gd name="T27" fmla="*/ 84 h 162"/>
                  <a:gd name="T28" fmla="*/ 93 w 213"/>
                  <a:gd name="T29" fmla="*/ 66 h 162"/>
                  <a:gd name="T30" fmla="*/ 117 w 213"/>
                  <a:gd name="T31" fmla="*/ 50 h 162"/>
                  <a:gd name="T32" fmla="*/ 144 w 213"/>
                  <a:gd name="T33" fmla="*/ 33 h 162"/>
                  <a:gd name="T34" fmla="*/ 170 w 213"/>
                  <a:gd name="T35" fmla="*/ 17 h 162"/>
                  <a:gd name="T36" fmla="*/ 196 w 213"/>
                  <a:gd name="T37" fmla="*/ 0 h 162"/>
                  <a:gd name="T38" fmla="*/ 213 w 213"/>
                  <a:gd name="T39" fmla="*/ 28 h 16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3"/>
                  <a:gd name="T61" fmla="*/ 0 h 162"/>
                  <a:gd name="T62" fmla="*/ 213 w 213"/>
                  <a:gd name="T63" fmla="*/ 162 h 16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3" h="162">
                    <a:moveTo>
                      <a:pt x="213" y="28"/>
                    </a:moveTo>
                    <a:lnTo>
                      <a:pt x="213" y="28"/>
                    </a:lnTo>
                    <a:lnTo>
                      <a:pt x="188" y="43"/>
                    </a:lnTo>
                    <a:lnTo>
                      <a:pt x="161" y="59"/>
                    </a:lnTo>
                    <a:lnTo>
                      <a:pt x="139" y="75"/>
                    </a:lnTo>
                    <a:lnTo>
                      <a:pt x="114" y="92"/>
                    </a:lnTo>
                    <a:lnTo>
                      <a:pt x="91" y="109"/>
                    </a:lnTo>
                    <a:lnTo>
                      <a:pt x="69" y="126"/>
                    </a:lnTo>
                    <a:lnTo>
                      <a:pt x="48" y="144"/>
                    </a:lnTo>
                    <a:lnTo>
                      <a:pt x="26" y="162"/>
                    </a:lnTo>
                    <a:lnTo>
                      <a:pt x="0" y="142"/>
                    </a:lnTo>
                    <a:lnTo>
                      <a:pt x="21" y="123"/>
                    </a:lnTo>
                    <a:lnTo>
                      <a:pt x="44" y="103"/>
                    </a:lnTo>
                    <a:lnTo>
                      <a:pt x="68" y="84"/>
                    </a:lnTo>
                    <a:lnTo>
                      <a:pt x="93" y="66"/>
                    </a:lnTo>
                    <a:lnTo>
                      <a:pt x="117" y="50"/>
                    </a:lnTo>
                    <a:lnTo>
                      <a:pt x="144" y="33"/>
                    </a:lnTo>
                    <a:lnTo>
                      <a:pt x="170" y="17"/>
                    </a:lnTo>
                    <a:lnTo>
                      <a:pt x="196" y="0"/>
                    </a:lnTo>
                    <a:lnTo>
                      <a:pt x="213" y="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05" name="Freeform 226"/>
              <p:cNvSpPr>
                <a:spLocks/>
              </p:cNvSpPr>
              <p:nvPr/>
            </p:nvSpPr>
            <p:spPr bwMode="auto">
              <a:xfrm>
                <a:off x="2637" y="1326"/>
                <a:ext cx="198" cy="113"/>
              </a:xfrm>
              <a:custGeom>
                <a:avLst/>
                <a:gdLst>
                  <a:gd name="T0" fmla="*/ 198 w 198"/>
                  <a:gd name="T1" fmla="*/ 32 h 113"/>
                  <a:gd name="T2" fmla="*/ 175 w 198"/>
                  <a:gd name="T3" fmla="*/ 40 h 113"/>
                  <a:gd name="T4" fmla="*/ 151 w 198"/>
                  <a:gd name="T5" fmla="*/ 48 h 113"/>
                  <a:gd name="T6" fmla="*/ 128 w 198"/>
                  <a:gd name="T7" fmla="*/ 58 h 113"/>
                  <a:gd name="T8" fmla="*/ 106 w 198"/>
                  <a:gd name="T9" fmla="*/ 67 h 113"/>
                  <a:gd name="T10" fmla="*/ 84 w 198"/>
                  <a:gd name="T11" fmla="*/ 78 h 113"/>
                  <a:gd name="T12" fmla="*/ 61 w 198"/>
                  <a:gd name="T13" fmla="*/ 88 h 113"/>
                  <a:gd name="T14" fmla="*/ 38 w 198"/>
                  <a:gd name="T15" fmla="*/ 100 h 113"/>
                  <a:gd name="T16" fmla="*/ 16 w 198"/>
                  <a:gd name="T17" fmla="*/ 113 h 113"/>
                  <a:gd name="T18" fmla="*/ 0 w 198"/>
                  <a:gd name="T19" fmla="*/ 86 h 113"/>
                  <a:gd name="T20" fmla="*/ 23 w 198"/>
                  <a:gd name="T21" fmla="*/ 72 h 113"/>
                  <a:gd name="T22" fmla="*/ 47 w 198"/>
                  <a:gd name="T23" fmla="*/ 62 h 113"/>
                  <a:gd name="T24" fmla="*/ 71 w 198"/>
                  <a:gd name="T25" fmla="*/ 49 h 113"/>
                  <a:gd name="T26" fmla="*/ 97 w 198"/>
                  <a:gd name="T27" fmla="*/ 38 h 113"/>
                  <a:gd name="T28" fmla="*/ 120 w 198"/>
                  <a:gd name="T29" fmla="*/ 26 h 113"/>
                  <a:gd name="T30" fmla="*/ 145 w 198"/>
                  <a:gd name="T31" fmla="*/ 18 h 113"/>
                  <a:gd name="T32" fmla="*/ 168 w 198"/>
                  <a:gd name="T33" fmla="*/ 8 h 113"/>
                  <a:gd name="T34" fmla="*/ 194 w 198"/>
                  <a:gd name="T35" fmla="*/ 0 h 113"/>
                  <a:gd name="T36" fmla="*/ 198 w 198"/>
                  <a:gd name="T37" fmla="*/ 32 h 11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8"/>
                  <a:gd name="T58" fmla="*/ 0 h 113"/>
                  <a:gd name="T59" fmla="*/ 198 w 198"/>
                  <a:gd name="T60" fmla="*/ 113 h 11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8" h="113">
                    <a:moveTo>
                      <a:pt x="198" y="32"/>
                    </a:moveTo>
                    <a:lnTo>
                      <a:pt x="175" y="40"/>
                    </a:lnTo>
                    <a:lnTo>
                      <a:pt x="151" y="48"/>
                    </a:lnTo>
                    <a:lnTo>
                      <a:pt x="128" y="58"/>
                    </a:lnTo>
                    <a:lnTo>
                      <a:pt x="106" y="67"/>
                    </a:lnTo>
                    <a:lnTo>
                      <a:pt x="84" y="78"/>
                    </a:lnTo>
                    <a:lnTo>
                      <a:pt x="61" y="88"/>
                    </a:lnTo>
                    <a:lnTo>
                      <a:pt x="38" y="100"/>
                    </a:lnTo>
                    <a:lnTo>
                      <a:pt x="16" y="113"/>
                    </a:lnTo>
                    <a:lnTo>
                      <a:pt x="0" y="86"/>
                    </a:lnTo>
                    <a:lnTo>
                      <a:pt x="23" y="72"/>
                    </a:lnTo>
                    <a:lnTo>
                      <a:pt x="47" y="62"/>
                    </a:lnTo>
                    <a:lnTo>
                      <a:pt x="71" y="49"/>
                    </a:lnTo>
                    <a:lnTo>
                      <a:pt x="97" y="38"/>
                    </a:lnTo>
                    <a:lnTo>
                      <a:pt x="120" y="26"/>
                    </a:lnTo>
                    <a:lnTo>
                      <a:pt x="145" y="18"/>
                    </a:lnTo>
                    <a:lnTo>
                      <a:pt x="168" y="8"/>
                    </a:lnTo>
                    <a:lnTo>
                      <a:pt x="194" y="0"/>
                    </a:lnTo>
                    <a:lnTo>
                      <a:pt x="198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06" name="Freeform 227"/>
              <p:cNvSpPr>
                <a:spLocks/>
              </p:cNvSpPr>
              <p:nvPr/>
            </p:nvSpPr>
            <p:spPr bwMode="auto">
              <a:xfrm>
                <a:off x="2833" y="1318"/>
                <a:ext cx="26" cy="39"/>
              </a:xfrm>
              <a:custGeom>
                <a:avLst/>
                <a:gdLst>
                  <a:gd name="T0" fmla="*/ 0 w 26"/>
                  <a:gd name="T1" fmla="*/ 7 h 39"/>
                  <a:gd name="T2" fmla="*/ 22 w 26"/>
                  <a:gd name="T3" fmla="*/ 0 h 39"/>
                  <a:gd name="T4" fmla="*/ 26 w 26"/>
                  <a:gd name="T5" fmla="*/ 32 h 39"/>
                  <a:gd name="T6" fmla="*/ 5 w 26"/>
                  <a:gd name="T7" fmla="*/ 39 h 39"/>
                  <a:gd name="T8" fmla="*/ 0 w 26"/>
                  <a:gd name="T9" fmla="*/ 7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39"/>
                  <a:gd name="T17" fmla="*/ 26 w 26"/>
                  <a:gd name="T18" fmla="*/ 39 h 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39">
                    <a:moveTo>
                      <a:pt x="0" y="7"/>
                    </a:moveTo>
                    <a:lnTo>
                      <a:pt x="22" y="0"/>
                    </a:lnTo>
                    <a:lnTo>
                      <a:pt x="26" y="32"/>
                    </a:lnTo>
                    <a:lnTo>
                      <a:pt x="5" y="3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07" name="Freeform 228"/>
              <p:cNvSpPr>
                <a:spLocks/>
              </p:cNvSpPr>
              <p:nvPr/>
            </p:nvSpPr>
            <p:spPr bwMode="auto">
              <a:xfrm>
                <a:off x="2411" y="1471"/>
                <a:ext cx="151" cy="127"/>
              </a:xfrm>
              <a:custGeom>
                <a:avLst/>
                <a:gdLst>
                  <a:gd name="T0" fmla="*/ 151 w 151"/>
                  <a:gd name="T1" fmla="*/ 59 h 127"/>
                  <a:gd name="T2" fmla="*/ 0 w 151"/>
                  <a:gd name="T3" fmla="*/ 127 h 127"/>
                  <a:gd name="T4" fmla="*/ 79 w 151"/>
                  <a:gd name="T5" fmla="*/ 0 h 127"/>
                  <a:gd name="T6" fmla="*/ 151 w 151"/>
                  <a:gd name="T7" fmla="*/ 59 h 12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1"/>
                  <a:gd name="T13" fmla="*/ 0 h 127"/>
                  <a:gd name="T14" fmla="*/ 151 w 151"/>
                  <a:gd name="T15" fmla="*/ 127 h 12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1" h="127">
                    <a:moveTo>
                      <a:pt x="151" y="59"/>
                    </a:moveTo>
                    <a:lnTo>
                      <a:pt x="0" y="127"/>
                    </a:lnTo>
                    <a:lnTo>
                      <a:pt x="79" y="0"/>
                    </a:lnTo>
                    <a:lnTo>
                      <a:pt x="151" y="59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08" name="Freeform 229"/>
              <p:cNvSpPr>
                <a:spLocks/>
              </p:cNvSpPr>
              <p:nvPr/>
            </p:nvSpPr>
            <p:spPr bwMode="auto">
              <a:xfrm>
                <a:off x="2398" y="1524"/>
                <a:ext cx="166" cy="82"/>
              </a:xfrm>
              <a:custGeom>
                <a:avLst/>
                <a:gdLst>
                  <a:gd name="T0" fmla="*/ 17 w 166"/>
                  <a:gd name="T1" fmla="*/ 73 h 82"/>
                  <a:gd name="T2" fmla="*/ 11 w 166"/>
                  <a:gd name="T3" fmla="*/ 67 h 82"/>
                  <a:gd name="T4" fmla="*/ 163 w 166"/>
                  <a:gd name="T5" fmla="*/ 0 h 82"/>
                  <a:gd name="T6" fmla="*/ 166 w 166"/>
                  <a:gd name="T7" fmla="*/ 8 h 82"/>
                  <a:gd name="T8" fmla="*/ 14 w 166"/>
                  <a:gd name="T9" fmla="*/ 76 h 82"/>
                  <a:gd name="T10" fmla="*/ 7 w 166"/>
                  <a:gd name="T11" fmla="*/ 71 h 82"/>
                  <a:gd name="T12" fmla="*/ 14 w 166"/>
                  <a:gd name="T13" fmla="*/ 76 h 82"/>
                  <a:gd name="T14" fmla="*/ 0 w 166"/>
                  <a:gd name="T15" fmla="*/ 82 h 82"/>
                  <a:gd name="T16" fmla="*/ 7 w 166"/>
                  <a:gd name="T17" fmla="*/ 71 h 82"/>
                  <a:gd name="T18" fmla="*/ 17 w 166"/>
                  <a:gd name="T19" fmla="*/ 73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6"/>
                  <a:gd name="T31" fmla="*/ 0 h 82"/>
                  <a:gd name="T32" fmla="*/ 166 w 166"/>
                  <a:gd name="T33" fmla="*/ 82 h 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6" h="82">
                    <a:moveTo>
                      <a:pt x="17" y="73"/>
                    </a:moveTo>
                    <a:lnTo>
                      <a:pt x="11" y="67"/>
                    </a:lnTo>
                    <a:lnTo>
                      <a:pt x="163" y="0"/>
                    </a:lnTo>
                    <a:lnTo>
                      <a:pt x="166" y="8"/>
                    </a:lnTo>
                    <a:lnTo>
                      <a:pt x="14" y="76"/>
                    </a:lnTo>
                    <a:lnTo>
                      <a:pt x="7" y="71"/>
                    </a:lnTo>
                    <a:lnTo>
                      <a:pt x="14" y="76"/>
                    </a:lnTo>
                    <a:lnTo>
                      <a:pt x="0" y="82"/>
                    </a:lnTo>
                    <a:lnTo>
                      <a:pt x="7" y="71"/>
                    </a:lnTo>
                    <a:lnTo>
                      <a:pt x="17" y="73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09" name="Freeform 230"/>
              <p:cNvSpPr>
                <a:spLocks/>
              </p:cNvSpPr>
              <p:nvPr/>
            </p:nvSpPr>
            <p:spPr bwMode="auto">
              <a:xfrm>
                <a:off x="2402" y="1462"/>
                <a:ext cx="91" cy="137"/>
              </a:xfrm>
              <a:custGeom>
                <a:avLst/>
                <a:gdLst>
                  <a:gd name="T0" fmla="*/ 81 w 91"/>
                  <a:gd name="T1" fmla="*/ 13 h 137"/>
                  <a:gd name="T2" fmla="*/ 91 w 91"/>
                  <a:gd name="T3" fmla="*/ 9 h 137"/>
                  <a:gd name="T4" fmla="*/ 10 w 91"/>
                  <a:gd name="T5" fmla="*/ 137 h 137"/>
                  <a:gd name="T6" fmla="*/ 0 w 91"/>
                  <a:gd name="T7" fmla="*/ 135 h 137"/>
                  <a:gd name="T8" fmla="*/ 81 w 91"/>
                  <a:gd name="T9" fmla="*/ 7 h 137"/>
                  <a:gd name="T10" fmla="*/ 91 w 91"/>
                  <a:gd name="T11" fmla="*/ 5 h 137"/>
                  <a:gd name="T12" fmla="*/ 81 w 91"/>
                  <a:gd name="T13" fmla="*/ 7 h 137"/>
                  <a:gd name="T14" fmla="*/ 86 w 91"/>
                  <a:gd name="T15" fmla="*/ 0 h 137"/>
                  <a:gd name="T16" fmla="*/ 91 w 91"/>
                  <a:gd name="T17" fmla="*/ 5 h 137"/>
                  <a:gd name="T18" fmla="*/ 81 w 91"/>
                  <a:gd name="T19" fmla="*/ 13 h 1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137"/>
                  <a:gd name="T32" fmla="*/ 91 w 91"/>
                  <a:gd name="T33" fmla="*/ 137 h 13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137">
                    <a:moveTo>
                      <a:pt x="81" y="13"/>
                    </a:moveTo>
                    <a:lnTo>
                      <a:pt x="91" y="9"/>
                    </a:lnTo>
                    <a:lnTo>
                      <a:pt x="10" y="137"/>
                    </a:lnTo>
                    <a:lnTo>
                      <a:pt x="0" y="135"/>
                    </a:lnTo>
                    <a:lnTo>
                      <a:pt x="81" y="7"/>
                    </a:lnTo>
                    <a:lnTo>
                      <a:pt x="91" y="5"/>
                    </a:lnTo>
                    <a:lnTo>
                      <a:pt x="81" y="7"/>
                    </a:lnTo>
                    <a:lnTo>
                      <a:pt x="86" y="0"/>
                    </a:lnTo>
                    <a:lnTo>
                      <a:pt x="91" y="5"/>
                    </a:lnTo>
                    <a:lnTo>
                      <a:pt x="81" y="13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10" name="Freeform 231"/>
              <p:cNvSpPr>
                <a:spLocks/>
              </p:cNvSpPr>
              <p:nvPr/>
            </p:nvSpPr>
            <p:spPr bwMode="auto">
              <a:xfrm>
                <a:off x="2486" y="1469"/>
                <a:ext cx="87" cy="66"/>
              </a:xfrm>
              <a:custGeom>
                <a:avLst/>
                <a:gdLst>
                  <a:gd name="T0" fmla="*/ 76 w 87"/>
                  <a:gd name="T1" fmla="*/ 58 h 66"/>
                  <a:gd name="T2" fmla="*/ 72 w 87"/>
                  <a:gd name="T3" fmla="*/ 66 h 66"/>
                  <a:gd name="T4" fmla="*/ 0 w 87"/>
                  <a:gd name="T5" fmla="*/ 6 h 66"/>
                  <a:gd name="T6" fmla="*/ 8 w 87"/>
                  <a:gd name="T7" fmla="*/ 0 h 66"/>
                  <a:gd name="T8" fmla="*/ 81 w 87"/>
                  <a:gd name="T9" fmla="*/ 58 h 66"/>
                  <a:gd name="T10" fmla="*/ 78 w 87"/>
                  <a:gd name="T11" fmla="*/ 66 h 66"/>
                  <a:gd name="T12" fmla="*/ 81 w 87"/>
                  <a:gd name="T13" fmla="*/ 58 h 66"/>
                  <a:gd name="T14" fmla="*/ 87 w 87"/>
                  <a:gd name="T15" fmla="*/ 63 h 66"/>
                  <a:gd name="T16" fmla="*/ 78 w 87"/>
                  <a:gd name="T17" fmla="*/ 66 h 66"/>
                  <a:gd name="T18" fmla="*/ 76 w 87"/>
                  <a:gd name="T19" fmla="*/ 58 h 6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7"/>
                  <a:gd name="T31" fmla="*/ 0 h 66"/>
                  <a:gd name="T32" fmla="*/ 87 w 87"/>
                  <a:gd name="T33" fmla="*/ 66 h 6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7" h="66">
                    <a:moveTo>
                      <a:pt x="76" y="58"/>
                    </a:moveTo>
                    <a:lnTo>
                      <a:pt x="72" y="66"/>
                    </a:lnTo>
                    <a:lnTo>
                      <a:pt x="0" y="6"/>
                    </a:lnTo>
                    <a:lnTo>
                      <a:pt x="8" y="0"/>
                    </a:lnTo>
                    <a:lnTo>
                      <a:pt x="81" y="58"/>
                    </a:lnTo>
                    <a:lnTo>
                      <a:pt x="78" y="66"/>
                    </a:lnTo>
                    <a:lnTo>
                      <a:pt x="81" y="58"/>
                    </a:lnTo>
                    <a:lnTo>
                      <a:pt x="87" y="63"/>
                    </a:lnTo>
                    <a:lnTo>
                      <a:pt x="78" y="66"/>
                    </a:lnTo>
                    <a:lnTo>
                      <a:pt x="76" y="58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11" name="Freeform 232"/>
              <p:cNvSpPr>
                <a:spLocks/>
              </p:cNvSpPr>
              <p:nvPr/>
            </p:nvSpPr>
            <p:spPr bwMode="auto">
              <a:xfrm>
                <a:off x="2423" y="1551"/>
                <a:ext cx="34" cy="30"/>
              </a:xfrm>
              <a:custGeom>
                <a:avLst/>
                <a:gdLst>
                  <a:gd name="T0" fmla="*/ 34 w 34"/>
                  <a:gd name="T1" fmla="*/ 17 h 30"/>
                  <a:gd name="T2" fmla="*/ 21 w 34"/>
                  <a:gd name="T3" fmla="*/ 30 h 30"/>
                  <a:gd name="T4" fmla="*/ 0 w 34"/>
                  <a:gd name="T5" fmla="*/ 13 h 30"/>
                  <a:gd name="T6" fmla="*/ 13 w 34"/>
                  <a:gd name="T7" fmla="*/ 0 h 30"/>
                  <a:gd name="T8" fmla="*/ 34 w 34"/>
                  <a:gd name="T9" fmla="*/ 17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30"/>
                  <a:gd name="T17" fmla="*/ 34 w 34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30">
                    <a:moveTo>
                      <a:pt x="34" y="17"/>
                    </a:moveTo>
                    <a:lnTo>
                      <a:pt x="21" y="30"/>
                    </a:lnTo>
                    <a:lnTo>
                      <a:pt x="0" y="13"/>
                    </a:lnTo>
                    <a:lnTo>
                      <a:pt x="13" y="0"/>
                    </a:lnTo>
                    <a:lnTo>
                      <a:pt x="34" y="17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12" name="Freeform 233"/>
              <p:cNvSpPr>
                <a:spLocks/>
              </p:cNvSpPr>
              <p:nvPr/>
            </p:nvSpPr>
            <p:spPr bwMode="auto">
              <a:xfrm>
                <a:off x="2442" y="1411"/>
                <a:ext cx="207" cy="157"/>
              </a:xfrm>
              <a:custGeom>
                <a:avLst/>
                <a:gdLst>
                  <a:gd name="T0" fmla="*/ 207 w 207"/>
                  <a:gd name="T1" fmla="*/ 24 h 157"/>
                  <a:gd name="T2" fmla="*/ 207 w 207"/>
                  <a:gd name="T3" fmla="*/ 24 h 157"/>
                  <a:gd name="T4" fmla="*/ 182 w 207"/>
                  <a:gd name="T5" fmla="*/ 39 h 157"/>
                  <a:gd name="T6" fmla="*/ 157 w 207"/>
                  <a:gd name="T7" fmla="*/ 54 h 157"/>
                  <a:gd name="T8" fmla="*/ 134 w 207"/>
                  <a:gd name="T9" fmla="*/ 70 h 157"/>
                  <a:gd name="T10" fmla="*/ 109 w 207"/>
                  <a:gd name="T11" fmla="*/ 87 h 157"/>
                  <a:gd name="T12" fmla="*/ 86 w 207"/>
                  <a:gd name="T13" fmla="*/ 104 h 157"/>
                  <a:gd name="T14" fmla="*/ 64 w 207"/>
                  <a:gd name="T15" fmla="*/ 121 h 157"/>
                  <a:gd name="T16" fmla="*/ 43 w 207"/>
                  <a:gd name="T17" fmla="*/ 139 h 157"/>
                  <a:gd name="T18" fmla="*/ 23 w 207"/>
                  <a:gd name="T19" fmla="*/ 157 h 157"/>
                  <a:gd name="T20" fmla="*/ 0 w 207"/>
                  <a:gd name="T21" fmla="*/ 140 h 157"/>
                  <a:gd name="T22" fmla="*/ 22 w 207"/>
                  <a:gd name="T23" fmla="*/ 121 h 157"/>
                  <a:gd name="T24" fmla="*/ 44 w 207"/>
                  <a:gd name="T25" fmla="*/ 104 h 157"/>
                  <a:gd name="T26" fmla="*/ 67 w 207"/>
                  <a:gd name="T27" fmla="*/ 85 h 157"/>
                  <a:gd name="T28" fmla="*/ 92 w 207"/>
                  <a:gd name="T29" fmla="*/ 66 h 157"/>
                  <a:gd name="T30" fmla="*/ 118 w 207"/>
                  <a:gd name="T31" fmla="*/ 48 h 157"/>
                  <a:gd name="T32" fmla="*/ 142 w 207"/>
                  <a:gd name="T33" fmla="*/ 31 h 157"/>
                  <a:gd name="T34" fmla="*/ 168 w 207"/>
                  <a:gd name="T35" fmla="*/ 16 h 157"/>
                  <a:gd name="T36" fmla="*/ 195 w 207"/>
                  <a:gd name="T37" fmla="*/ 0 h 157"/>
                  <a:gd name="T38" fmla="*/ 207 w 207"/>
                  <a:gd name="T39" fmla="*/ 24 h 15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7"/>
                  <a:gd name="T61" fmla="*/ 0 h 157"/>
                  <a:gd name="T62" fmla="*/ 207 w 207"/>
                  <a:gd name="T63" fmla="*/ 157 h 15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7" h="157">
                    <a:moveTo>
                      <a:pt x="207" y="24"/>
                    </a:moveTo>
                    <a:lnTo>
                      <a:pt x="207" y="24"/>
                    </a:lnTo>
                    <a:lnTo>
                      <a:pt x="182" y="39"/>
                    </a:lnTo>
                    <a:lnTo>
                      <a:pt x="157" y="54"/>
                    </a:lnTo>
                    <a:lnTo>
                      <a:pt x="134" y="70"/>
                    </a:lnTo>
                    <a:lnTo>
                      <a:pt x="109" y="87"/>
                    </a:lnTo>
                    <a:lnTo>
                      <a:pt x="86" y="104"/>
                    </a:lnTo>
                    <a:lnTo>
                      <a:pt x="64" y="121"/>
                    </a:lnTo>
                    <a:lnTo>
                      <a:pt x="43" y="139"/>
                    </a:lnTo>
                    <a:lnTo>
                      <a:pt x="23" y="157"/>
                    </a:lnTo>
                    <a:lnTo>
                      <a:pt x="0" y="140"/>
                    </a:lnTo>
                    <a:lnTo>
                      <a:pt x="22" y="121"/>
                    </a:lnTo>
                    <a:lnTo>
                      <a:pt x="44" y="104"/>
                    </a:lnTo>
                    <a:lnTo>
                      <a:pt x="67" y="85"/>
                    </a:lnTo>
                    <a:lnTo>
                      <a:pt x="92" y="66"/>
                    </a:lnTo>
                    <a:lnTo>
                      <a:pt x="118" y="48"/>
                    </a:lnTo>
                    <a:lnTo>
                      <a:pt x="142" y="31"/>
                    </a:lnTo>
                    <a:lnTo>
                      <a:pt x="168" y="16"/>
                    </a:lnTo>
                    <a:lnTo>
                      <a:pt x="195" y="0"/>
                    </a:lnTo>
                    <a:lnTo>
                      <a:pt x="207" y="24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13" name="Freeform 234"/>
              <p:cNvSpPr>
                <a:spLocks/>
              </p:cNvSpPr>
              <p:nvPr/>
            </p:nvSpPr>
            <p:spPr bwMode="auto">
              <a:xfrm>
                <a:off x="2639" y="1329"/>
                <a:ext cx="196" cy="108"/>
              </a:xfrm>
              <a:custGeom>
                <a:avLst/>
                <a:gdLst>
                  <a:gd name="T0" fmla="*/ 196 w 196"/>
                  <a:gd name="T1" fmla="*/ 27 h 108"/>
                  <a:gd name="T2" fmla="*/ 173 w 196"/>
                  <a:gd name="T3" fmla="*/ 35 h 108"/>
                  <a:gd name="T4" fmla="*/ 148 w 196"/>
                  <a:gd name="T5" fmla="*/ 44 h 108"/>
                  <a:gd name="T6" fmla="*/ 126 w 196"/>
                  <a:gd name="T7" fmla="*/ 53 h 108"/>
                  <a:gd name="T8" fmla="*/ 103 w 196"/>
                  <a:gd name="T9" fmla="*/ 63 h 108"/>
                  <a:gd name="T10" fmla="*/ 81 w 196"/>
                  <a:gd name="T11" fmla="*/ 73 h 108"/>
                  <a:gd name="T12" fmla="*/ 59 w 196"/>
                  <a:gd name="T13" fmla="*/ 84 h 108"/>
                  <a:gd name="T14" fmla="*/ 35 w 196"/>
                  <a:gd name="T15" fmla="*/ 97 h 108"/>
                  <a:gd name="T16" fmla="*/ 14 w 196"/>
                  <a:gd name="T17" fmla="*/ 108 h 108"/>
                  <a:gd name="T18" fmla="*/ 0 w 196"/>
                  <a:gd name="T19" fmla="*/ 85 h 108"/>
                  <a:gd name="T20" fmla="*/ 23 w 196"/>
                  <a:gd name="T21" fmla="*/ 73 h 108"/>
                  <a:gd name="T22" fmla="*/ 47 w 196"/>
                  <a:gd name="T23" fmla="*/ 61 h 108"/>
                  <a:gd name="T24" fmla="*/ 71 w 196"/>
                  <a:gd name="T25" fmla="*/ 48 h 108"/>
                  <a:gd name="T26" fmla="*/ 95 w 196"/>
                  <a:gd name="T27" fmla="*/ 37 h 108"/>
                  <a:gd name="T28" fmla="*/ 119 w 196"/>
                  <a:gd name="T29" fmla="*/ 27 h 108"/>
                  <a:gd name="T30" fmla="*/ 143 w 196"/>
                  <a:gd name="T31" fmla="*/ 18 h 108"/>
                  <a:gd name="T32" fmla="*/ 168 w 196"/>
                  <a:gd name="T33" fmla="*/ 8 h 108"/>
                  <a:gd name="T34" fmla="*/ 192 w 196"/>
                  <a:gd name="T35" fmla="*/ 0 h 108"/>
                  <a:gd name="T36" fmla="*/ 196 w 196"/>
                  <a:gd name="T37" fmla="*/ 27 h 10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6"/>
                  <a:gd name="T58" fmla="*/ 0 h 108"/>
                  <a:gd name="T59" fmla="*/ 196 w 196"/>
                  <a:gd name="T60" fmla="*/ 108 h 10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6" h="108">
                    <a:moveTo>
                      <a:pt x="196" y="27"/>
                    </a:moveTo>
                    <a:lnTo>
                      <a:pt x="173" y="35"/>
                    </a:lnTo>
                    <a:lnTo>
                      <a:pt x="148" y="44"/>
                    </a:lnTo>
                    <a:lnTo>
                      <a:pt x="126" y="53"/>
                    </a:lnTo>
                    <a:lnTo>
                      <a:pt x="103" y="63"/>
                    </a:lnTo>
                    <a:lnTo>
                      <a:pt x="81" y="73"/>
                    </a:lnTo>
                    <a:lnTo>
                      <a:pt x="59" y="84"/>
                    </a:lnTo>
                    <a:lnTo>
                      <a:pt x="35" y="97"/>
                    </a:lnTo>
                    <a:lnTo>
                      <a:pt x="14" y="108"/>
                    </a:lnTo>
                    <a:lnTo>
                      <a:pt x="0" y="85"/>
                    </a:lnTo>
                    <a:lnTo>
                      <a:pt x="23" y="73"/>
                    </a:lnTo>
                    <a:lnTo>
                      <a:pt x="47" y="61"/>
                    </a:lnTo>
                    <a:lnTo>
                      <a:pt x="71" y="48"/>
                    </a:lnTo>
                    <a:lnTo>
                      <a:pt x="95" y="37"/>
                    </a:lnTo>
                    <a:lnTo>
                      <a:pt x="119" y="27"/>
                    </a:lnTo>
                    <a:lnTo>
                      <a:pt x="143" y="18"/>
                    </a:lnTo>
                    <a:lnTo>
                      <a:pt x="168" y="8"/>
                    </a:lnTo>
                    <a:lnTo>
                      <a:pt x="192" y="0"/>
                    </a:lnTo>
                    <a:lnTo>
                      <a:pt x="196" y="27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14" name="Freeform 235"/>
              <p:cNvSpPr>
                <a:spLocks/>
              </p:cNvSpPr>
              <p:nvPr/>
            </p:nvSpPr>
            <p:spPr bwMode="auto">
              <a:xfrm>
                <a:off x="2834" y="1321"/>
                <a:ext cx="22" cy="34"/>
              </a:xfrm>
              <a:custGeom>
                <a:avLst/>
                <a:gdLst>
                  <a:gd name="T0" fmla="*/ 0 w 22"/>
                  <a:gd name="T1" fmla="*/ 8 h 34"/>
                  <a:gd name="T2" fmla="*/ 18 w 22"/>
                  <a:gd name="T3" fmla="*/ 0 h 34"/>
                  <a:gd name="T4" fmla="*/ 22 w 22"/>
                  <a:gd name="T5" fmla="*/ 27 h 34"/>
                  <a:gd name="T6" fmla="*/ 4 w 22"/>
                  <a:gd name="T7" fmla="*/ 34 h 34"/>
                  <a:gd name="T8" fmla="*/ 0 w 22"/>
                  <a:gd name="T9" fmla="*/ 8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34"/>
                  <a:gd name="T17" fmla="*/ 22 w 22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34">
                    <a:moveTo>
                      <a:pt x="0" y="8"/>
                    </a:moveTo>
                    <a:lnTo>
                      <a:pt x="18" y="0"/>
                    </a:lnTo>
                    <a:lnTo>
                      <a:pt x="22" y="27"/>
                    </a:lnTo>
                    <a:lnTo>
                      <a:pt x="4" y="34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15" name="Freeform 236"/>
              <p:cNvSpPr>
                <a:spLocks/>
              </p:cNvSpPr>
              <p:nvPr/>
            </p:nvSpPr>
            <p:spPr bwMode="auto">
              <a:xfrm>
                <a:off x="2387" y="1497"/>
                <a:ext cx="149" cy="128"/>
              </a:xfrm>
              <a:custGeom>
                <a:avLst/>
                <a:gdLst>
                  <a:gd name="T0" fmla="*/ 149 w 149"/>
                  <a:gd name="T1" fmla="*/ 54 h 128"/>
                  <a:gd name="T2" fmla="*/ 0 w 149"/>
                  <a:gd name="T3" fmla="*/ 128 h 128"/>
                  <a:gd name="T4" fmla="*/ 72 w 149"/>
                  <a:gd name="T5" fmla="*/ 0 h 128"/>
                  <a:gd name="T6" fmla="*/ 149 w 149"/>
                  <a:gd name="T7" fmla="*/ 54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9"/>
                  <a:gd name="T13" fmla="*/ 0 h 128"/>
                  <a:gd name="T14" fmla="*/ 149 w 149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9" h="128">
                    <a:moveTo>
                      <a:pt x="149" y="54"/>
                    </a:moveTo>
                    <a:lnTo>
                      <a:pt x="0" y="128"/>
                    </a:lnTo>
                    <a:lnTo>
                      <a:pt x="72" y="0"/>
                    </a:lnTo>
                    <a:lnTo>
                      <a:pt x="149" y="5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16" name="Freeform 237"/>
              <p:cNvSpPr>
                <a:spLocks/>
              </p:cNvSpPr>
              <p:nvPr/>
            </p:nvSpPr>
            <p:spPr bwMode="auto">
              <a:xfrm>
                <a:off x="2366" y="1543"/>
                <a:ext cx="172" cy="98"/>
              </a:xfrm>
              <a:custGeom>
                <a:avLst/>
                <a:gdLst>
                  <a:gd name="T0" fmla="*/ 28 w 172"/>
                  <a:gd name="T1" fmla="*/ 81 h 98"/>
                  <a:gd name="T2" fmla="*/ 17 w 172"/>
                  <a:gd name="T3" fmla="*/ 73 h 98"/>
                  <a:gd name="T4" fmla="*/ 167 w 172"/>
                  <a:gd name="T5" fmla="*/ 0 h 98"/>
                  <a:gd name="T6" fmla="*/ 172 w 172"/>
                  <a:gd name="T7" fmla="*/ 13 h 98"/>
                  <a:gd name="T8" fmla="*/ 23 w 172"/>
                  <a:gd name="T9" fmla="*/ 86 h 98"/>
                  <a:gd name="T10" fmla="*/ 11 w 172"/>
                  <a:gd name="T11" fmla="*/ 79 h 98"/>
                  <a:gd name="T12" fmla="*/ 23 w 172"/>
                  <a:gd name="T13" fmla="*/ 86 h 98"/>
                  <a:gd name="T14" fmla="*/ 0 w 172"/>
                  <a:gd name="T15" fmla="*/ 98 h 98"/>
                  <a:gd name="T16" fmla="*/ 11 w 172"/>
                  <a:gd name="T17" fmla="*/ 79 h 98"/>
                  <a:gd name="T18" fmla="*/ 28 w 172"/>
                  <a:gd name="T19" fmla="*/ 81 h 9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2"/>
                  <a:gd name="T31" fmla="*/ 0 h 98"/>
                  <a:gd name="T32" fmla="*/ 172 w 172"/>
                  <a:gd name="T33" fmla="*/ 98 h 9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2" h="98">
                    <a:moveTo>
                      <a:pt x="28" y="81"/>
                    </a:moveTo>
                    <a:lnTo>
                      <a:pt x="17" y="73"/>
                    </a:lnTo>
                    <a:lnTo>
                      <a:pt x="167" y="0"/>
                    </a:lnTo>
                    <a:lnTo>
                      <a:pt x="172" y="13"/>
                    </a:lnTo>
                    <a:lnTo>
                      <a:pt x="23" y="86"/>
                    </a:lnTo>
                    <a:lnTo>
                      <a:pt x="11" y="79"/>
                    </a:lnTo>
                    <a:lnTo>
                      <a:pt x="23" y="86"/>
                    </a:lnTo>
                    <a:lnTo>
                      <a:pt x="0" y="98"/>
                    </a:lnTo>
                    <a:lnTo>
                      <a:pt x="11" y="79"/>
                    </a:lnTo>
                    <a:lnTo>
                      <a:pt x="28" y="8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17" name="Freeform 238"/>
              <p:cNvSpPr>
                <a:spLocks/>
              </p:cNvSpPr>
              <p:nvPr/>
            </p:nvSpPr>
            <p:spPr bwMode="auto">
              <a:xfrm>
                <a:off x="2377" y="1482"/>
                <a:ext cx="91" cy="143"/>
              </a:xfrm>
              <a:custGeom>
                <a:avLst/>
                <a:gdLst>
                  <a:gd name="T0" fmla="*/ 74 w 91"/>
                  <a:gd name="T1" fmla="*/ 20 h 143"/>
                  <a:gd name="T2" fmla="*/ 91 w 91"/>
                  <a:gd name="T3" fmla="*/ 15 h 143"/>
                  <a:gd name="T4" fmla="*/ 17 w 91"/>
                  <a:gd name="T5" fmla="*/ 143 h 143"/>
                  <a:gd name="T6" fmla="*/ 0 w 91"/>
                  <a:gd name="T7" fmla="*/ 141 h 143"/>
                  <a:gd name="T8" fmla="*/ 73 w 91"/>
                  <a:gd name="T9" fmla="*/ 12 h 143"/>
                  <a:gd name="T10" fmla="*/ 89 w 91"/>
                  <a:gd name="T11" fmla="*/ 6 h 143"/>
                  <a:gd name="T12" fmla="*/ 73 w 91"/>
                  <a:gd name="T13" fmla="*/ 12 h 143"/>
                  <a:gd name="T14" fmla="*/ 79 w 91"/>
                  <a:gd name="T15" fmla="*/ 0 h 143"/>
                  <a:gd name="T16" fmla="*/ 89 w 91"/>
                  <a:gd name="T17" fmla="*/ 6 h 143"/>
                  <a:gd name="T18" fmla="*/ 74 w 91"/>
                  <a:gd name="T19" fmla="*/ 20 h 14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143"/>
                  <a:gd name="T32" fmla="*/ 91 w 91"/>
                  <a:gd name="T33" fmla="*/ 143 h 14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143">
                    <a:moveTo>
                      <a:pt x="74" y="20"/>
                    </a:moveTo>
                    <a:lnTo>
                      <a:pt x="91" y="15"/>
                    </a:lnTo>
                    <a:lnTo>
                      <a:pt x="17" y="143"/>
                    </a:lnTo>
                    <a:lnTo>
                      <a:pt x="0" y="141"/>
                    </a:lnTo>
                    <a:lnTo>
                      <a:pt x="73" y="12"/>
                    </a:lnTo>
                    <a:lnTo>
                      <a:pt x="89" y="6"/>
                    </a:lnTo>
                    <a:lnTo>
                      <a:pt x="73" y="12"/>
                    </a:lnTo>
                    <a:lnTo>
                      <a:pt x="79" y="0"/>
                    </a:lnTo>
                    <a:lnTo>
                      <a:pt x="89" y="6"/>
                    </a:lnTo>
                    <a:lnTo>
                      <a:pt x="74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18" name="Freeform 239"/>
              <p:cNvSpPr>
                <a:spLocks/>
              </p:cNvSpPr>
              <p:nvPr/>
            </p:nvSpPr>
            <p:spPr bwMode="auto">
              <a:xfrm>
                <a:off x="2453" y="1488"/>
                <a:ext cx="102" cy="69"/>
              </a:xfrm>
              <a:custGeom>
                <a:avLst/>
                <a:gdLst>
                  <a:gd name="T0" fmla="*/ 82 w 102"/>
                  <a:gd name="T1" fmla="*/ 57 h 69"/>
                  <a:gd name="T2" fmla="*/ 78 w 102"/>
                  <a:gd name="T3" fmla="*/ 69 h 69"/>
                  <a:gd name="T4" fmla="*/ 0 w 102"/>
                  <a:gd name="T5" fmla="*/ 14 h 69"/>
                  <a:gd name="T6" fmla="*/ 15 w 102"/>
                  <a:gd name="T7" fmla="*/ 0 h 69"/>
                  <a:gd name="T8" fmla="*/ 92 w 102"/>
                  <a:gd name="T9" fmla="*/ 57 h 69"/>
                  <a:gd name="T10" fmla="*/ 89 w 102"/>
                  <a:gd name="T11" fmla="*/ 68 h 69"/>
                  <a:gd name="T12" fmla="*/ 92 w 102"/>
                  <a:gd name="T13" fmla="*/ 57 h 69"/>
                  <a:gd name="T14" fmla="*/ 102 w 102"/>
                  <a:gd name="T15" fmla="*/ 62 h 69"/>
                  <a:gd name="T16" fmla="*/ 89 w 102"/>
                  <a:gd name="T17" fmla="*/ 68 h 69"/>
                  <a:gd name="T18" fmla="*/ 82 w 102"/>
                  <a:gd name="T19" fmla="*/ 57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2"/>
                  <a:gd name="T31" fmla="*/ 0 h 69"/>
                  <a:gd name="T32" fmla="*/ 102 w 102"/>
                  <a:gd name="T33" fmla="*/ 69 h 6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2" h="69">
                    <a:moveTo>
                      <a:pt x="82" y="57"/>
                    </a:moveTo>
                    <a:lnTo>
                      <a:pt x="78" y="69"/>
                    </a:lnTo>
                    <a:lnTo>
                      <a:pt x="0" y="14"/>
                    </a:lnTo>
                    <a:lnTo>
                      <a:pt x="15" y="0"/>
                    </a:lnTo>
                    <a:lnTo>
                      <a:pt x="92" y="57"/>
                    </a:lnTo>
                    <a:lnTo>
                      <a:pt x="89" y="68"/>
                    </a:lnTo>
                    <a:lnTo>
                      <a:pt x="92" y="57"/>
                    </a:lnTo>
                    <a:lnTo>
                      <a:pt x="102" y="62"/>
                    </a:lnTo>
                    <a:lnTo>
                      <a:pt x="89" y="68"/>
                    </a:lnTo>
                    <a:lnTo>
                      <a:pt x="82" y="5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19" name="Freeform 240"/>
              <p:cNvSpPr>
                <a:spLocks/>
              </p:cNvSpPr>
              <p:nvPr/>
            </p:nvSpPr>
            <p:spPr bwMode="auto">
              <a:xfrm>
                <a:off x="2405" y="1565"/>
                <a:ext cx="45" cy="33"/>
              </a:xfrm>
              <a:custGeom>
                <a:avLst/>
                <a:gdLst>
                  <a:gd name="T0" fmla="*/ 45 w 45"/>
                  <a:gd name="T1" fmla="*/ 17 h 33"/>
                  <a:gd name="T2" fmla="*/ 29 w 45"/>
                  <a:gd name="T3" fmla="*/ 33 h 33"/>
                  <a:gd name="T4" fmla="*/ 0 w 45"/>
                  <a:gd name="T5" fmla="*/ 16 h 33"/>
                  <a:gd name="T6" fmla="*/ 16 w 45"/>
                  <a:gd name="T7" fmla="*/ 0 h 33"/>
                  <a:gd name="T8" fmla="*/ 45 w 45"/>
                  <a:gd name="T9" fmla="*/ 17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33"/>
                  <a:gd name="T17" fmla="*/ 45 w 45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33">
                    <a:moveTo>
                      <a:pt x="45" y="17"/>
                    </a:moveTo>
                    <a:lnTo>
                      <a:pt x="29" y="33"/>
                    </a:lnTo>
                    <a:lnTo>
                      <a:pt x="0" y="16"/>
                    </a:lnTo>
                    <a:lnTo>
                      <a:pt x="16" y="0"/>
                    </a:lnTo>
                    <a:lnTo>
                      <a:pt x="45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20" name="Freeform 241"/>
              <p:cNvSpPr>
                <a:spLocks/>
              </p:cNvSpPr>
              <p:nvPr/>
            </p:nvSpPr>
            <p:spPr bwMode="auto">
              <a:xfrm>
                <a:off x="2423" y="1429"/>
                <a:ext cx="197" cy="156"/>
              </a:xfrm>
              <a:custGeom>
                <a:avLst/>
                <a:gdLst>
                  <a:gd name="T0" fmla="*/ 197 w 197"/>
                  <a:gd name="T1" fmla="*/ 26 h 156"/>
                  <a:gd name="T2" fmla="*/ 197 w 197"/>
                  <a:gd name="T3" fmla="*/ 26 h 156"/>
                  <a:gd name="T4" fmla="*/ 172 w 197"/>
                  <a:gd name="T5" fmla="*/ 42 h 156"/>
                  <a:gd name="T6" fmla="*/ 150 w 197"/>
                  <a:gd name="T7" fmla="*/ 57 h 156"/>
                  <a:gd name="T8" fmla="*/ 127 w 197"/>
                  <a:gd name="T9" fmla="*/ 73 h 156"/>
                  <a:gd name="T10" fmla="*/ 106 w 197"/>
                  <a:gd name="T11" fmla="*/ 88 h 156"/>
                  <a:gd name="T12" fmla="*/ 85 w 197"/>
                  <a:gd name="T13" fmla="*/ 104 h 156"/>
                  <a:gd name="T14" fmla="*/ 66 w 197"/>
                  <a:gd name="T15" fmla="*/ 120 h 156"/>
                  <a:gd name="T16" fmla="*/ 47 w 197"/>
                  <a:gd name="T17" fmla="*/ 137 h 156"/>
                  <a:gd name="T18" fmla="*/ 28 w 197"/>
                  <a:gd name="T19" fmla="*/ 156 h 156"/>
                  <a:gd name="T20" fmla="*/ 0 w 197"/>
                  <a:gd name="T21" fmla="*/ 138 h 156"/>
                  <a:gd name="T22" fmla="*/ 20 w 197"/>
                  <a:gd name="T23" fmla="*/ 118 h 156"/>
                  <a:gd name="T24" fmla="*/ 41 w 197"/>
                  <a:gd name="T25" fmla="*/ 100 h 156"/>
                  <a:gd name="T26" fmla="*/ 62 w 197"/>
                  <a:gd name="T27" fmla="*/ 83 h 156"/>
                  <a:gd name="T28" fmla="*/ 83 w 197"/>
                  <a:gd name="T29" fmla="*/ 65 h 156"/>
                  <a:gd name="T30" fmla="*/ 106 w 197"/>
                  <a:gd name="T31" fmla="*/ 48 h 156"/>
                  <a:gd name="T32" fmla="*/ 129 w 197"/>
                  <a:gd name="T33" fmla="*/ 32 h 156"/>
                  <a:gd name="T34" fmla="*/ 154 w 197"/>
                  <a:gd name="T35" fmla="*/ 17 h 156"/>
                  <a:gd name="T36" fmla="*/ 179 w 197"/>
                  <a:gd name="T37" fmla="*/ 0 h 156"/>
                  <a:gd name="T38" fmla="*/ 197 w 197"/>
                  <a:gd name="T39" fmla="*/ 26 h 15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97"/>
                  <a:gd name="T61" fmla="*/ 0 h 156"/>
                  <a:gd name="T62" fmla="*/ 197 w 197"/>
                  <a:gd name="T63" fmla="*/ 156 h 15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97" h="156">
                    <a:moveTo>
                      <a:pt x="197" y="26"/>
                    </a:moveTo>
                    <a:lnTo>
                      <a:pt x="197" y="26"/>
                    </a:lnTo>
                    <a:lnTo>
                      <a:pt x="172" y="42"/>
                    </a:lnTo>
                    <a:lnTo>
                      <a:pt x="150" y="57"/>
                    </a:lnTo>
                    <a:lnTo>
                      <a:pt x="127" y="73"/>
                    </a:lnTo>
                    <a:lnTo>
                      <a:pt x="106" y="88"/>
                    </a:lnTo>
                    <a:lnTo>
                      <a:pt x="85" y="104"/>
                    </a:lnTo>
                    <a:lnTo>
                      <a:pt x="66" y="120"/>
                    </a:lnTo>
                    <a:lnTo>
                      <a:pt x="47" y="137"/>
                    </a:lnTo>
                    <a:lnTo>
                      <a:pt x="28" y="156"/>
                    </a:lnTo>
                    <a:lnTo>
                      <a:pt x="0" y="138"/>
                    </a:lnTo>
                    <a:lnTo>
                      <a:pt x="20" y="118"/>
                    </a:lnTo>
                    <a:lnTo>
                      <a:pt x="41" y="100"/>
                    </a:lnTo>
                    <a:lnTo>
                      <a:pt x="62" y="83"/>
                    </a:lnTo>
                    <a:lnTo>
                      <a:pt x="83" y="65"/>
                    </a:lnTo>
                    <a:lnTo>
                      <a:pt x="106" y="48"/>
                    </a:lnTo>
                    <a:lnTo>
                      <a:pt x="129" y="32"/>
                    </a:lnTo>
                    <a:lnTo>
                      <a:pt x="154" y="17"/>
                    </a:lnTo>
                    <a:lnTo>
                      <a:pt x="179" y="0"/>
                    </a:lnTo>
                    <a:lnTo>
                      <a:pt x="197" y="2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21" name="Freeform 242"/>
              <p:cNvSpPr>
                <a:spLocks/>
              </p:cNvSpPr>
              <p:nvPr/>
            </p:nvSpPr>
            <p:spPr bwMode="auto">
              <a:xfrm>
                <a:off x="2608" y="1336"/>
                <a:ext cx="196" cy="120"/>
              </a:xfrm>
              <a:custGeom>
                <a:avLst/>
                <a:gdLst>
                  <a:gd name="T0" fmla="*/ 196 w 196"/>
                  <a:gd name="T1" fmla="*/ 32 h 120"/>
                  <a:gd name="T2" fmla="*/ 174 w 196"/>
                  <a:gd name="T3" fmla="*/ 41 h 120"/>
                  <a:gd name="T4" fmla="*/ 152 w 196"/>
                  <a:gd name="T5" fmla="*/ 49 h 120"/>
                  <a:gd name="T6" fmla="*/ 128 w 196"/>
                  <a:gd name="T7" fmla="*/ 60 h 120"/>
                  <a:gd name="T8" fmla="*/ 106 w 196"/>
                  <a:gd name="T9" fmla="*/ 71 h 120"/>
                  <a:gd name="T10" fmla="*/ 83 w 196"/>
                  <a:gd name="T11" fmla="*/ 83 h 120"/>
                  <a:gd name="T12" fmla="*/ 61 w 196"/>
                  <a:gd name="T13" fmla="*/ 94 h 120"/>
                  <a:gd name="T14" fmla="*/ 38 w 196"/>
                  <a:gd name="T15" fmla="*/ 107 h 120"/>
                  <a:gd name="T16" fmla="*/ 17 w 196"/>
                  <a:gd name="T17" fmla="*/ 120 h 120"/>
                  <a:gd name="T18" fmla="*/ 0 w 196"/>
                  <a:gd name="T19" fmla="*/ 94 h 120"/>
                  <a:gd name="T20" fmla="*/ 22 w 196"/>
                  <a:gd name="T21" fmla="*/ 79 h 120"/>
                  <a:gd name="T22" fmla="*/ 45 w 196"/>
                  <a:gd name="T23" fmla="*/ 67 h 120"/>
                  <a:gd name="T24" fmla="*/ 70 w 196"/>
                  <a:gd name="T25" fmla="*/ 54 h 120"/>
                  <a:gd name="T26" fmla="*/ 93 w 196"/>
                  <a:gd name="T27" fmla="*/ 42 h 120"/>
                  <a:gd name="T28" fmla="*/ 116 w 196"/>
                  <a:gd name="T29" fmla="*/ 31 h 120"/>
                  <a:gd name="T30" fmla="*/ 141 w 196"/>
                  <a:gd name="T31" fmla="*/ 20 h 120"/>
                  <a:gd name="T32" fmla="*/ 165 w 196"/>
                  <a:gd name="T33" fmla="*/ 9 h 120"/>
                  <a:gd name="T34" fmla="*/ 190 w 196"/>
                  <a:gd name="T35" fmla="*/ 0 h 120"/>
                  <a:gd name="T36" fmla="*/ 196 w 196"/>
                  <a:gd name="T37" fmla="*/ 32 h 12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6"/>
                  <a:gd name="T58" fmla="*/ 0 h 120"/>
                  <a:gd name="T59" fmla="*/ 196 w 196"/>
                  <a:gd name="T60" fmla="*/ 120 h 12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6" h="120">
                    <a:moveTo>
                      <a:pt x="196" y="32"/>
                    </a:moveTo>
                    <a:lnTo>
                      <a:pt x="174" y="41"/>
                    </a:lnTo>
                    <a:lnTo>
                      <a:pt x="152" y="49"/>
                    </a:lnTo>
                    <a:lnTo>
                      <a:pt x="128" y="60"/>
                    </a:lnTo>
                    <a:lnTo>
                      <a:pt x="106" y="71"/>
                    </a:lnTo>
                    <a:lnTo>
                      <a:pt x="83" y="83"/>
                    </a:lnTo>
                    <a:lnTo>
                      <a:pt x="61" y="94"/>
                    </a:lnTo>
                    <a:lnTo>
                      <a:pt x="38" y="107"/>
                    </a:lnTo>
                    <a:lnTo>
                      <a:pt x="17" y="120"/>
                    </a:lnTo>
                    <a:lnTo>
                      <a:pt x="0" y="94"/>
                    </a:lnTo>
                    <a:lnTo>
                      <a:pt x="22" y="79"/>
                    </a:lnTo>
                    <a:lnTo>
                      <a:pt x="45" y="67"/>
                    </a:lnTo>
                    <a:lnTo>
                      <a:pt x="70" y="54"/>
                    </a:lnTo>
                    <a:lnTo>
                      <a:pt x="93" y="42"/>
                    </a:lnTo>
                    <a:lnTo>
                      <a:pt x="116" y="31"/>
                    </a:lnTo>
                    <a:lnTo>
                      <a:pt x="141" y="20"/>
                    </a:lnTo>
                    <a:lnTo>
                      <a:pt x="165" y="9"/>
                    </a:lnTo>
                    <a:lnTo>
                      <a:pt x="190" y="0"/>
                    </a:lnTo>
                    <a:lnTo>
                      <a:pt x="196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22" name="Freeform 243"/>
              <p:cNvSpPr>
                <a:spLocks/>
              </p:cNvSpPr>
              <p:nvPr/>
            </p:nvSpPr>
            <p:spPr bwMode="auto">
              <a:xfrm>
                <a:off x="2799" y="1331"/>
                <a:ext cx="27" cy="37"/>
              </a:xfrm>
              <a:custGeom>
                <a:avLst/>
                <a:gdLst>
                  <a:gd name="T0" fmla="*/ 0 w 27"/>
                  <a:gd name="T1" fmla="*/ 9 h 37"/>
                  <a:gd name="T2" fmla="*/ 19 w 27"/>
                  <a:gd name="T3" fmla="*/ 0 h 37"/>
                  <a:gd name="T4" fmla="*/ 27 w 27"/>
                  <a:gd name="T5" fmla="*/ 31 h 37"/>
                  <a:gd name="T6" fmla="*/ 8 w 27"/>
                  <a:gd name="T7" fmla="*/ 37 h 37"/>
                  <a:gd name="T8" fmla="*/ 0 w 27"/>
                  <a:gd name="T9" fmla="*/ 9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37"/>
                  <a:gd name="T17" fmla="*/ 27 w 27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37">
                    <a:moveTo>
                      <a:pt x="0" y="9"/>
                    </a:moveTo>
                    <a:lnTo>
                      <a:pt x="19" y="0"/>
                    </a:lnTo>
                    <a:lnTo>
                      <a:pt x="27" y="31"/>
                    </a:lnTo>
                    <a:lnTo>
                      <a:pt x="8" y="37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23" name="Freeform 244"/>
              <p:cNvSpPr>
                <a:spLocks/>
              </p:cNvSpPr>
              <p:nvPr/>
            </p:nvSpPr>
            <p:spPr bwMode="auto">
              <a:xfrm>
                <a:off x="2387" y="1497"/>
                <a:ext cx="149" cy="128"/>
              </a:xfrm>
              <a:custGeom>
                <a:avLst/>
                <a:gdLst>
                  <a:gd name="T0" fmla="*/ 149 w 149"/>
                  <a:gd name="T1" fmla="*/ 54 h 128"/>
                  <a:gd name="T2" fmla="*/ 0 w 149"/>
                  <a:gd name="T3" fmla="*/ 128 h 128"/>
                  <a:gd name="T4" fmla="*/ 72 w 149"/>
                  <a:gd name="T5" fmla="*/ 0 h 128"/>
                  <a:gd name="T6" fmla="*/ 149 w 149"/>
                  <a:gd name="T7" fmla="*/ 54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9"/>
                  <a:gd name="T13" fmla="*/ 0 h 128"/>
                  <a:gd name="T14" fmla="*/ 149 w 149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9" h="128">
                    <a:moveTo>
                      <a:pt x="149" y="54"/>
                    </a:moveTo>
                    <a:lnTo>
                      <a:pt x="0" y="128"/>
                    </a:lnTo>
                    <a:lnTo>
                      <a:pt x="72" y="0"/>
                    </a:lnTo>
                    <a:lnTo>
                      <a:pt x="149" y="54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24" name="Freeform 245"/>
              <p:cNvSpPr>
                <a:spLocks/>
              </p:cNvSpPr>
              <p:nvPr/>
            </p:nvSpPr>
            <p:spPr bwMode="auto">
              <a:xfrm>
                <a:off x="2376" y="1545"/>
                <a:ext cx="163" cy="87"/>
              </a:xfrm>
              <a:custGeom>
                <a:avLst/>
                <a:gdLst>
                  <a:gd name="T0" fmla="*/ 16 w 163"/>
                  <a:gd name="T1" fmla="*/ 77 h 87"/>
                  <a:gd name="T2" fmla="*/ 9 w 163"/>
                  <a:gd name="T3" fmla="*/ 72 h 87"/>
                  <a:gd name="T4" fmla="*/ 159 w 163"/>
                  <a:gd name="T5" fmla="*/ 0 h 87"/>
                  <a:gd name="T6" fmla="*/ 163 w 163"/>
                  <a:gd name="T7" fmla="*/ 8 h 87"/>
                  <a:gd name="T8" fmla="*/ 14 w 163"/>
                  <a:gd name="T9" fmla="*/ 81 h 87"/>
                  <a:gd name="T10" fmla="*/ 6 w 163"/>
                  <a:gd name="T11" fmla="*/ 77 h 87"/>
                  <a:gd name="T12" fmla="*/ 14 w 163"/>
                  <a:gd name="T13" fmla="*/ 81 h 87"/>
                  <a:gd name="T14" fmla="*/ 0 w 163"/>
                  <a:gd name="T15" fmla="*/ 87 h 87"/>
                  <a:gd name="T16" fmla="*/ 6 w 163"/>
                  <a:gd name="T17" fmla="*/ 77 h 87"/>
                  <a:gd name="T18" fmla="*/ 16 w 163"/>
                  <a:gd name="T19" fmla="*/ 77 h 8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3"/>
                  <a:gd name="T31" fmla="*/ 0 h 87"/>
                  <a:gd name="T32" fmla="*/ 163 w 163"/>
                  <a:gd name="T33" fmla="*/ 87 h 8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3" h="87">
                    <a:moveTo>
                      <a:pt x="16" y="77"/>
                    </a:moveTo>
                    <a:lnTo>
                      <a:pt x="9" y="72"/>
                    </a:lnTo>
                    <a:lnTo>
                      <a:pt x="159" y="0"/>
                    </a:lnTo>
                    <a:lnTo>
                      <a:pt x="163" y="8"/>
                    </a:lnTo>
                    <a:lnTo>
                      <a:pt x="14" y="81"/>
                    </a:lnTo>
                    <a:lnTo>
                      <a:pt x="6" y="77"/>
                    </a:lnTo>
                    <a:lnTo>
                      <a:pt x="14" y="81"/>
                    </a:lnTo>
                    <a:lnTo>
                      <a:pt x="0" y="87"/>
                    </a:lnTo>
                    <a:lnTo>
                      <a:pt x="6" y="77"/>
                    </a:lnTo>
                    <a:lnTo>
                      <a:pt x="16" y="77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25" name="Freeform 246"/>
              <p:cNvSpPr>
                <a:spLocks/>
              </p:cNvSpPr>
              <p:nvPr/>
            </p:nvSpPr>
            <p:spPr bwMode="auto">
              <a:xfrm>
                <a:off x="2380" y="1486"/>
                <a:ext cx="82" cy="138"/>
              </a:xfrm>
              <a:custGeom>
                <a:avLst/>
                <a:gdLst>
                  <a:gd name="T0" fmla="*/ 72 w 82"/>
                  <a:gd name="T1" fmla="*/ 13 h 138"/>
                  <a:gd name="T2" fmla="*/ 82 w 82"/>
                  <a:gd name="T3" fmla="*/ 8 h 138"/>
                  <a:gd name="T4" fmla="*/ 9 w 82"/>
                  <a:gd name="T5" fmla="*/ 138 h 138"/>
                  <a:gd name="T6" fmla="*/ 0 w 82"/>
                  <a:gd name="T7" fmla="*/ 136 h 138"/>
                  <a:gd name="T8" fmla="*/ 72 w 82"/>
                  <a:gd name="T9" fmla="*/ 7 h 138"/>
                  <a:gd name="T10" fmla="*/ 81 w 82"/>
                  <a:gd name="T11" fmla="*/ 4 h 138"/>
                  <a:gd name="T12" fmla="*/ 72 w 82"/>
                  <a:gd name="T13" fmla="*/ 7 h 138"/>
                  <a:gd name="T14" fmla="*/ 76 w 82"/>
                  <a:gd name="T15" fmla="*/ 0 h 138"/>
                  <a:gd name="T16" fmla="*/ 81 w 82"/>
                  <a:gd name="T17" fmla="*/ 4 h 138"/>
                  <a:gd name="T18" fmla="*/ 72 w 82"/>
                  <a:gd name="T19" fmla="*/ 13 h 1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2"/>
                  <a:gd name="T31" fmla="*/ 0 h 138"/>
                  <a:gd name="T32" fmla="*/ 82 w 82"/>
                  <a:gd name="T33" fmla="*/ 138 h 13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2" h="138">
                    <a:moveTo>
                      <a:pt x="72" y="13"/>
                    </a:moveTo>
                    <a:lnTo>
                      <a:pt x="82" y="8"/>
                    </a:lnTo>
                    <a:lnTo>
                      <a:pt x="9" y="138"/>
                    </a:lnTo>
                    <a:lnTo>
                      <a:pt x="0" y="136"/>
                    </a:lnTo>
                    <a:lnTo>
                      <a:pt x="72" y="7"/>
                    </a:lnTo>
                    <a:lnTo>
                      <a:pt x="81" y="4"/>
                    </a:lnTo>
                    <a:lnTo>
                      <a:pt x="72" y="7"/>
                    </a:lnTo>
                    <a:lnTo>
                      <a:pt x="76" y="0"/>
                    </a:lnTo>
                    <a:lnTo>
                      <a:pt x="81" y="4"/>
                    </a:lnTo>
                    <a:lnTo>
                      <a:pt x="72" y="13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26" name="Freeform 247"/>
              <p:cNvSpPr>
                <a:spLocks/>
              </p:cNvSpPr>
              <p:nvPr/>
            </p:nvSpPr>
            <p:spPr bwMode="auto">
              <a:xfrm>
                <a:off x="2454" y="1491"/>
                <a:ext cx="92" cy="63"/>
              </a:xfrm>
              <a:custGeom>
                <a:avLst/>
                <a:gdLst>
                  <a:gd name="T0" fmla="*/ 80 w 92"/>
                  <a:gd name="T1" fmla="*/ 55 h 63"/>
                  <a:gd name="T2" fmla="*/ 77 w 92"/>
                  <a:gd name="T3" fmla="*/ 63 h 63"/>
                  <a:gd name="T4" fmla="*/ 0 w 92"/>
                  <a:gd name="T5" fmla="*/ 9 h 63"/>
                  <a:gd name="T6" fmla="*/ 8 w 92"/>
                  <a:gd name="T7" fmla="*/ 0 h 63"/>
                  <a:gd name="T8" fmla="*/ 88 w 92"/>
                  <a:gd name="T9" fmla="*/ 55 h 63"/>
                  <a:gd name="T10" fmla="*/ 83 w 92"/>
                  <a:gd name="T11" fmla="*/ 63 h 63"/>
                  <a:gd name="T12" fmla="*/ 88 w 92"/>
                  <a:gd name="T13" fmla="*/ 55 h 63"/>
                  <a:gd name="T14" fmla="*/ 92 w 92"/>
                  <a:gd name="T15" fmla="*/ 60 h 63"/>
                  <a:gd name="T16" fmla="*/ 83 w 92"/>
                  <a:gd name="T17" fmla="*/ 63 h 63"/>
                  <a:gd name="T18" fmla="*/ 80 w 92"/>
                  <a:gd name="T19" fmla="*/ 55 h 6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2"/>
                  <a:gd name="T31" fmla="*/ 0 h 63"/>
                  <a:gd name="T32" fmla="*/ 92 w 92"/>
                  <a:gd name="T33" fmla="*/ 63 h 6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2" h="63">
                    <a:moveTo>
                      <a:pt x="80" y="55"/>
                    </a:moveTo>
                    <a:lnTo>
                      <a:pt x="77" y="63"/>
                    </a:lnTo>
                    <a:lnTo>
                      <a:pt x="0" y="9"/>
                    </a:lnTo>
                    <a:lnTo>
                      <a:pt x="8" y="0"/>
                    </a:lnTo>
                    <a:lnTo>
                      <a:pt x="88" y="55"/>
                    </a:lnTo>
                    <a:lnTo>
                      <a:pt x="83" y="63"/>
                    </a:lnTo>
                    <a:lnTo>
                      <a:pt x="88" y="55"/>
                    </a:lnTo>
                    <a:lnTo>
                      <a:pt x="92" y="60"/>
                    </a:lnTo>
                    <a:lnTo>
                      <a:pt x="83" y="63"/>
                    </a:lnTo>
                    <a:lnTo>
                      <a:pt x="80" y="55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27" name="Freeform 248"/>
              <p:cNvSpPr>
                <a:spLocks/>
              </p:cNvSpPr>
              <p:nvPr/>
            </p:nvSpPr>
            <p:spPr bwMode="auto">
              <a:xfrm>
                <a:off x="2409" y="1567"/>
                <a:ext cx="38" cy="28"/>
              </a:xfrm>
              <a:custGeom>
                <a:avLst/>
                <a:gdLst>
                  <a:gd name="T0" fmla="*/ 38 w 38"/>
                  <a:gd name="T1" fmla="*/ 15 h 28"/>
                  <a:gd name="T2" fmla="*/ 25 w 38"/>
                  <a:gd name="T3" fmla="*/ 28 h 28"/>
                  <a:gd name="T4" fmla="*/ 0 w 38"/>
                  <a:gd name="T5" fmla="*/ 13 h 28"/>
                  <a:gd name="T6" fmla="*/ 14 w 38"/>
                  <a:gd name="T7" fmla="*/ 0 h 28"/>
                  <a:gd name="T8" fmla="*/ 38 w 38"/>
                  <a:gd name="T9" fmla="*/ 15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28"/>
                  <a:gd name="T17" fmla="*/ 38 w 38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28">
                    <a:moveTo>
                      <a:pt x="38" y="15"/>
                    </a:moveTo>
                    <a:lnTo>
                      <a:pt x="25" y="28"/>
                    </a:lnTo>
                    <a:lnTo>
                      <a:pt x="0" y="13"/>
                    </a:lnTo>
                    <a:lnTo>
                      <a:pt x="14" y="0"/>
                    </a:lnTo>
                    <a:lnTo>
                      <a:pt x="38" y="15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28" name="Freeform 249"/>
              <p:cNvSpPr>
                <a:spLocks/>
              </p:cNvSpPr>
              <p:nvPr/>
            </p:nvSpPr>
            <p:spPr bwMode="auto">
              <a:xfrm>
                <a:off x="2425" y="1429"/>
                <a:ext cx="193" cy="153"/>
              </a:xfrm>
              <a:custGeom>
                <a:avLst/>
                <a:gdLst>
                  <a:gd name="T0" fmla="*/ 193 w 193"/>
                  <a:gd name="T1" fmla="*/ 23 h 153"/>
                  <a:gd name="T2" fmla="*/ 193 w 193"/>
                  <a:gd name="T3" fmla="*/ 23 h 153"/>
                  <a:gd name="T4" fmla="*/ 169 w 193"/>
                  <a:gd name="T5" fmla="*/ 39 h 153"/>
                  <a:gd name="T6" fmla="*/ 144 w 193"/>
                  <a:gd name="T7" fmla="*/ 54 h 153"/>
                  <a:gd name="T8" fmla="*/ 123 w 193"/>
                  <a:gd name="T9" fmla="*/ 69 h 153"/>
                  <a:gd name="T10" fmla="*/ 102 w 193"/>
                  <a:gd name="T11" fmla="*/ 85 h 153"/>
                  <a:gd name="T12" fmla="*/ 83 w 193"/>
                  <a:gd name="T13" fmla="*/ 100 h 153"/>
                  <a:gd name="T14" fmla="*/ 62 w 193"/>
                  <a:gd name="T15" fmla="*/ 117 h 153"/>
                  <a:gd name="T16" fmla="*/ 43 w 193"/>
                  <a:gd name="T17" fmla="*/ 134 h 153"/>
                  <a:gd name="T18" fmla="*/ 24 w 193"/>
                  <a:gd name="T19" fmla="*/ 153 h 153"/>
                  <a:gd name="T20" fmla="*/ 0 w 193"/>
                  <a:gd name="T21" fmla="*/ 138 h 153"/>
                  <a:gd name="T22" fmla="*/ 20 w 193"/>
                  <a:gd name="T23" fmla="*/ 119 h 153"/>
                  <a:gd name="T24" fmla="*/ 41 w 193"/>
                  <a:gd name="T25" fmla="*/ 100 h 153"/>
                  <a:gd name="T26" fmla="*/ 61 w 193"/>
                  <a:gd name="T27" fmla="*/ 83 h 153"/>
                  <a:gd name="T28" fmla="*/ 83 w 193"/>
                  <a:gd name="T29" fmla="*/ 65 h 153"/>
                  <a:gd name="T30" fmla="*/ 106 w 193"/>
                  <a:gd name="T31" fmla="*/ 48 h 153"/>
                  <a:gd name="T32" fmla="*/ 129 w 193"/>
                  <a:gd name="T33" fmla="*/ 32 h 153"/>
                  <a:gd name="T34" fmla="*/ 153 w 193"/>
                  <a:gd name="T35" fmla="*/ 16 h 153"/>
                  <a:gd name="T36" fmla="*/ 178 w 193"/>
                  <a:gd name="T37" fmla="*/ 0 h 153"/>
                  <a:gd name="T38" fmla="*/ 193 w 193"/>
                  <a:gd name="T39" fmla="*/ 23 h 1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93"/>
                  <a:gd name="T61" fmla="*/ 0 h 153"/>
                  <a:gd name="T62" fmla="*/ 193 w 193"/>
                  <a:gd name="T63" fmla="*/ 153 h 1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93" h="153">
                    <a:moveTo>
                      <a:pt x="193" y="23"/>
                    </a:moveTo>
                    <a:lnTo>
                      <a:pt x="193" y="23"/>
                    </a:lnTo>
                    <a:lnTo>
                      <a:pt x="169" y="39"/>
                    </a:lnTo>
                    <a:lnTo>
                      <a:pt x="144" y="54"/>
                    </a:lnTo>
                    <a:lnTo>
                      <a:pt x="123" y="69"/>
                    </a:lnTo>
                    <a:lnTo>
                      <a:pt x="102" y="85"/>
                    </a:lnTo>
                    <a:lnTo>
                      <a:pt x="83" y="100"/>
                    </a:lnTo>
                    <a:lnTo>
                      <a:pt x="62" y="117"/>
                    </a:lnTo>
                    <a:lnTo>
                      <a:pt x="43" y="134"/>
                    </a:lnTo>
                    <a:lnTo>
                      <a:pt x="24" y="153"/>
                    </a:lnTo>
                    <a:lnTo>
                      <a:pt x="0" y="138"/>
                    </a:lnTo>
                    <a:lnTo>
                      <a:pt x="20" y="119"/>
                    </a:lnTo>
                    <a:lnTo>
                      <a:pt x="41" y="100"/>
                    </a:lnTo>
                    <a:lnTo>
                      <a:pt x="61" y="83"/>
                    </a:lnTo>
                    <a:lnTo>
                      <a:pt x="83" y="65"/>
                    </a:lnTo>
                    <a:lnTo>
                      <a:pt x="106" y="48"/>
                    </a:lnTo>
                    <a:lnTo>
                      <a:pt x="129" y="32"/>
                    </a:lnTo>
                    <a:lnTo>
                      <a:pt x="153" y="16"/>
                    </a:lnTo>
                    <a:lnTo>
                      <a:pt x="178" y="0"/>
                    </a:lnTo>
                    <a:lnTo>
                      <a:pt x="193" y="23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29" name="Freeform 250"/>
              <p:cNvSpPr>
                <a:spLocks/>
              </p:cNvSpPr>
              <p:nvPr/>
            </p:nvSpPr>
            <p:spPr bwMode="auto">
              <a:xfrm>
                <a:off x="2607" y="1340"/>
                <a:ext cx="196" cy="115"/>
              </a:xfrm>
              <a:custGeom>
                <a:avLst/>
                <a:gdLst>
                  <a:gd name="T0" fmla="*/ 196 w 196"/>
                  <a:gd name="T1" fmla="*/ 27 h 115"/>
                  <a:gd name="T2" fmla="*/ 173 w 196"/>
                  <a:gd name="T3" fmla="*/ 36 h 115"/>
                  <a:gd name="T4" fmla="*/ 149 w 196"/>
                  <a:gd name="T5" fmla="*/ 45 h 115"/>
                  <a:gd name="T6" fmla="*/ 127 w 196"/>
                  <a:gd name="T7" fmla="*/ 55 h 115"/>
                  <a:gd name="T8" fmla="*/ 104 w 196"/>
                  <a:gd name="T9" fmla="*/ 65 h 115"/>
                  <a:gd name="T10" fmla="*/ 81 w 196"/>
                  <a:gd name="T11" fmla="*/ 76 h 115"/>
                  <a:gd name="T12" fmla="*/ 58 w 196"/>
                  <a:gd name="T13" fmla="*/ 89 h 115"/>
                  <a:gd name="T14" fmla="*/ 36 w 196"/>
                  <a:gd name="T15" fmla="*/ 102 h 115"/>
                  <a:gd name="T16" fmla="*/ 13 w 196"/>
                  <a:gd name="T17" fmla="*/ 115 h 115"/>
                  <a:gd name="T18" fmla="*/ 0 w 196"/>
                  <a:gd name="T19" fmla="*/ 94 h 115"/>
                  <a:gd name="T20" fmla="*/ 22 w 196"/>
                  <a:gd name="T21" fmla="*/ 79 h 115"/>
                  <a:gd name="T22" fmla="*/ 46 w 196"/>
                  <a:gd name="T23" fmla="*/ 65 h 115"/>
                  <a:gd name="T24" fmla="*/ 69 w 196"/>
                  <a:gd name="T25" fmla="*/ 53 h 115"/>
                  <a:gd name="T26" fmla="*/ 93 w 196"/>
                  <a:gd name="T27" fmla="*/ 41 h 115"/>
                  <a:gd name="T28" fmla="*/ 117 w 196"/>
                  <a:gd name="T29" fmla="*/ 29 h 115"/>
                  <a:gd name="T30" fmla="*/ 142 w 196"/>
                  <a:gd name="T31" fmla="*/ 19 h 115"/>
                  <a:gd name="T32" fmla="*/ 165 w 196"/>
                  <a:gd name="T33" fmla="*/ 8 h 115"/>
                  <a:gd name="T34" fmla="*/ 191 w 196"/>
                  <a:gd name="T35" fmla="*/ 0 h 115"/>
                  <a:gd name="T36" fmla="*/ 196 w 196"/>
                  <a:gd name="T37" fmla="*/ 27 h 11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6"/>
                  <a:gd name="T58" fmla="*/ 0 h 115"/>
                  <a:gd name="T59" fmla="*/ 196 w 196"/>
                  <a:gd name="T60" fmla="*/ 115 h 11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6" h="115">
                    <a:moveTo>
                      <a:pt x="196" y="27"/>
                    </a:moveTo>
                    <a:lnTo>
                      <a:pt x="173" y="36"/>
                    </a:lnTo>
                    <a:lnTo>
                      <a:pt x="149" y="45"/>
                    </a:lnTo>
                    <a:lnTo>
                      <a:pt x="127" y="55"/>
                    </a:lnTo>
                    <a:lnTo>
                      <a:pt x="104" y="65"/>
                    </a:lnTo>
                    <a:lnTo>
                      <a:pt x="81" y="76"/>
                    </a:lnTo>
                    <a:lnTo>
                      <a:pt x="58" y="89"/>
                    </a:lnTo>
                    <a:lnTo>
                      <a:pt x="36" y="102"/>
                    </a:lnTo>
                    <a:lnTo>
                      <a:pt x="13" y="115"/>
                    </a:lnTo>
                    <a:lnTo>
                      <a:pt x="0" y="94"/>
                    </a:lnTo>
                    <a:lnTo>
                      <a:pt x="22" y="79"/>
                    </a:lnTo>
                    <a:lnTo>
                      <a:pt x="46" y="65"/>
                    </a:lnTo>
                    <a:lnTo>
                      <a:pt x="69" y="53"/>
                    </a:lnTo>
                    <a:lnTo>
                      <a:pt x="93" y="41"/>
                    </a:lnTo>
                    <a:lnTo>
                      <a:pt x="117" y="29"/>
                    </a:lnTo>
                    <a:lnTo>
                      <a:pt x="142" y="19"/>
                    </a:lnTo>
                    <a:lnTo>
                      <a:pt x="165" y="8"/>
                    </a:lnTo>
                    <a:lnTo>
                      <a:pt x="191" y="0"/>
                    </a:lnTo>
                    <a:lnTo>
                      <a:pt x="196" y="27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30" name="Freeform 251"/>
              <p:cNvSpPr>
                <a:spLocks/>
              </p:cNvSpPr>
              <p:nvPr/>
            </p:nvSpPr>
            <p:spPr bwMode="auto">
              <a:xfrm>
                <a:off x="2799" y="1333"/>
                <a:ext cx="24" cy="33"/>
              </a:xfrm>
              <a:custGeom>
                <a:avLst/>
                <a:gdLst>
                  <a:gd name="T0" fmla="*/ 0 w 24"/>
                  <a:gd name="T1" fmla="*/ 7 h 33"/>
                  <a:gd name="T2" fmla="*/ 18 w 24"/>
                  <a:gd name="T3" fmla="*/ 0 h 33"/>
                  <a:gd name="T4" fmla="*/ 24 w 24"/>
                  <a:gd name="T5" fmla="*/ 27 h 33"/>
                  <a:gd name="T6" fmla="*/ 5 w 24"/>
                  <a:gd name="T7" fmla="*/ 33 h 33"/>
                  <a:gd name="T8" fmla="*/ 0 w 24"/>
                  <a:gd name="T9" fmla="*/ 7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33"/>
                  <a:gd name="T17" fmla="*/ 24 w 24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33">
                    <a:moveTo>
                      <a:pt x="0" y="7"/>
                    </a:moveTo>
                    <a:lnTo>
                      <a:pt x="18" y="0"/>
                    </a:lnTo>
                    <a:lnTo>
                      <a:pt x="24" y="27"/>
                    </a:lnTo>
                    <a:lnTo>
                      <a:pt x="5" y="33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31" name="Freeform 252"/>
              <p:cNvSpPr>
                <a:spLocks/>
              </p:cNvSpPr>
              <p:nvPr/>
            </p:nvSpPr>
            <p:spPr bwMode="auto">
              <a:xfrm>
                <a:off x="2159" y="2599"/>
                <a:ext cx="99" cy="164"/>
              </a:xfrm>
              <a:custGeom>
                <a:avLst/>
                <a:gdLst>
                  <a:gd name="T0" fmla="*/ 81 w 99"/>
                  <a:gd name="T1" fmla="*/ 0 h 164"/>
                  <a:gd name="T2" fmla="*/ 99 w 99"/>
                  <a:gd name="T3" fmla="*/ 164 h 164"/>
                  <a:gd name="T4" fmla="*/ 0 w 99"/>
                  <a:gd name="T5" fmla="*/ 41 h 164"/>
                  <a:gd name="T6" fmla="*/ 81 w 99"/>
                  <a:gd name="T7" fmla="*/ 0 h 1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164"/>
                  <a:gd name="T14" fmla="*/ 99 w 99"/>
                  <a:gd name="T15" fmla="*/ 164 h 1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164">
                    <a:moveTo>
                      <a:pt x="81" y="0"/>
                    </a:moveTo>
                    <a:lnTo>
                      <a:pt x="99" y="164"/>
                    </a:lnTo>
                    <a:lnTo>
                      <a:pt x="0" y="41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32" name="Freeform 253"/>
              <p:cNvSpPr>
                <a:spLocks/>
              </p:cNvSpPr>
              <p:nvPr/>
            </p:nvSpPr>
            <p:spPr bwMode="auto">
              <a:xfrm>
                <a:off x="2231" y="2599"/>
                <a:ext cx="35" cy="188"/>
              </a:xfrm>
              <a:custGeom>
                <a:avLst/>
                <a:gdLst>
                  <a:gd name="T0" fmla="*/ 29 w 35"/>
                  <a:gd name="T1" fmla="*/ 156 h 188"/>
                  <a:gd name="T2" fmla="*/ 18 w 35"/>
                  <a:gd name="T3" fmla="*/ 162 h 188"/>
                  <a:gd name="T4" fmla="*/ 0 w 35"/>
                  <a:gd name="T5" fmla="*/ 0 h 188"/>
                  <a:gd name="T6" fmla="*/ 15 w 35"/>
                  <a:gd name="T7" fmla="*/ 2 h 188"/>
                  <a:gd name="T8" fmla="*/ 33 w 35"/>
                  <a:gd name="T9" fmla="*/ 164 h 188"/>
                  <a:gd name="T10" fmla="*/ 20 w 35"/>
                  <a:gd name="T11" fmla="*/ 170 h 188"/>
                  <a:gd name="T12" fmla="*/ 33 w 35"/>
                  <a:gd name="T13" fmla="*/ 164 h 188"/>
                  <a:gd name="T14" fmla="*/ 35 w 35"/>
                  <a:gd name="T15" fmla="*/ 188 h 188"/>
                  <a:gd name="T16" fmla="*/ 20 w 35"/>
                  <a:gd name="T17" fmla="*/ 170 h 188"/>
                  <a:gd name="T18" fmla="*/ 29 w 35"/>
                  <a:gd name="T19" fmla="*/ 156 h 1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5"/>
                  <a:gd name="T31" fmla="*/ 0 h 188"/>
                  <a:gd name="T32" fmla="*/ 35 w 35"/>
                  <a:gd name="T33" fmla="*/ 188 h 18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5" h="188">
                    <a:moveTo>
                      <a:pt x="29" y="156"/>
                    </a:moveTo>
                    <a:lnTo>
                      <a:pt x="18" y="162"/>
                    </a:lnTo>
                    <a:lnTo>
                      <a:pt x="0" y="0"/>
                    </a:lnTo>
                    <a:lnTo>
                      <a:pt x="15" y="2"/>
                    </a:lnTo>
                    <a:lnTo>
                      <a:pt x="33" y="164"/>
                    </a:lnTo>
                    <a:lnTo>
                      <a:pt x="20" y="170"/>
                    </a:lnTo>
                    <a:lnTo>
                      <a:pt x="33" y="164"/>
                    </a:lnTo>
                    <a:lnTo>
                      <a:pt x="35" y="188"/>
                    </a:lnTo>
                    <a:lnTo>
                      <a:pt x="20" y="170"/>
                    </a:lnTo>
                    <a:lnTo>
                      <a:pt x="29" y="15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33" name="Freeform 254"/>
              <p:cNvSpPr>
                <a:spLocks/>
              </p:cNvSpPr>
              <p:nvPr/>
            </p:nvSpPr>
            <p:spPr bwMode="auto">
              <a:xfrm>
                <a:off x="2144" y="2630"/>
                <a:ext cx="116" cy="138"/>
              </a:xfrm>
              <a:custGeom>
                <a:avLst/>
                <a:gdLst>
                  <a:gd name="T0" fmla="*/ 17 w 116"/>
                  <a:gd name="T1" fmla="*/ 19 h 138"/>
                  <a:gd name="T2" fmla="*/ 18 w 116"/>
                  <a:gd name="T3" fmla="*/ 2 h 138"/>
                  <a:gd name="T4" fmla="*/ 116 w 116"/>
                  <a:gd name="T5" fmla="*/ 125 h 138"/>
                  <a:gd name="T6" fmla="*/ 108 w 116"/>
                  <a:gd name="T7" fmla="*/ 138 h 138"/>
                  <a:gd name="T8" fmla="*/ 10 w 116"/>
                  <a:gd name="T9" fmla="*/ 16 h 138"/>
                  <a:gd name="T10" fmla="*/ 11 w 116"/>
                  <a:gd name="T11" fmla="*/ 0 h 138"/>
                  <a:gd name="T12" fmla="*/ 10 w 116"/>
                  <a:gd name="T13" fmla="*/ 16 h 138"/>
                  <a:gd name="T14" fmla="*/ 0 w 116"/>
                  <a:gd name="T15" fmla="*/ 4 h 138"/>
                  <a:gd name="T16" fmla="*/ 11 w 116"/>
                  <a:gd name="T17" fmla="*/ 0 h 138"/>
                  <a:gd name="T18" fmla="*/ 17 w 116"/>
                  <a:gd name="T19" fmla="*/ 19 h 1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6"/>
                  <a:gd name="T31" fmla="*/ 0 h 138"/>
                  <a:gd name="T32" fmla="*/ 116 w 116"/>
                  <a:gd name="T33" fmla="*/ 138 h 13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6" h="138">
                    <a:moveTo>
                      <a:pt x="17" y="19"/>
                    </a:moveTo>
                    <a:lnTo>
                      <a:pt x="18" y="2"/>
                    </a:lnTo>
                    <a:lnTo>
                      <a:pt x="116" y="125"/>
                    </a:lnTo>
                    <a:lnTo>
                      <a:pt x="108" y="138"/>
                    </a:lnTo>
                    <a:lnTo>
                      <a:pt x="10" y="16"/>
                    </a:lnTo>
                    <a:lnTo>
                      <a:pt x="11" y="0"/>
                    </a:lnTo>
                    <a:lnTo>
                      <a:pt x="10" y="16"/>
                    </a:lnTo>
                    <a:lnTo>
                      <a:pt x="0" y="4"/>
                    </a:lnTo>
                    <a:lnTo>
                      <a:pt x="11" y="0"/>
                    </a:lnTo>
                    <a:lnTo>
                      <a:pt x="17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34" name="Freeform 255"/>
              <p:cNvSpPr>
                <a:spLocks/>
              </p:cNvSpPr>
              <p:nvPr/>
            </p:nvSpPr>
            <p:spPr bwMode="auto">
              <a:xfrm>
                <a:off x="2150" y="2585"/>
                <a:ext cx="94" cy="64"/>
              </a:xfrm>
              <a:custGeom>
                <a:avLst/>
                <a:gdLst>
                  <a:gd name="T0" fmla="*/ 79 w 94"/>
                  <a:gd name="T1" fmla="*/ 13 h 64"/>
                  <a:gd name="T2" fmla="*/ 91 w 94"/>
                  <a:gd name="T3" fmla="*/ 24 h 64"/>
                  <a:gd name="T4" fmla="*/ 9 w 94"/>
                  <a:gd name="T5" fmla="*/ 64 h 64"/>
                  <a:gd name="T6" fmla="*/ 0 w 94"/>
                  <a:gd name="T7" fmla="*/ 45 h 64"/>
                  <a:gd name="T8" fmla="*/ 84 w 94"/>
                  <a:gd name="T9" fmla="*/ 4 h 64"/>
                  <a:gd name="T10" fmla="*/ 94 w 94"/>
                  <a:gd name="T11" fmla="*/ 15 h 64"/>
                  <a:gd name="T12" fmla="*/ 84 w 94"/>
                  <a:gd name="T13" fmla="*/ 4 h 64"/>
                  <a:gd name="T14" fmla="*/ 93 w 94"/>
                  <a:gd name="T15" fmla="*/ 0 h 64"/>
                  <a:gd name="T16" fmla="*/ 94 w 94"/>
                  <a:gd name="T17" fmla="*/ 15 h 64"/>
                  <a:gd name="T18" fmla="*/ 79 w 94"/>
                  <a:gd name="T19" fmla="*/ 13 h 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4"/>
                  <a:gd name="T31" fmla="*/ 0 h 64"/>
                  <a:gd name="T32" fmla="*/ 94 w 94"/>
                  <a:gd name="T33" fmla="*/ 64 h 6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4" h="64">
                    <a:moveTo>
                      <a:pt x="79" y="13"/>
                    </a:moveTo>
                    <a:lnTo>
                      <a:pt x="91" y="24"/>
                    </a:lnTo>
                    <a:lnTo>
                      <a:pt x="9" y="64"/>
                    </a:lnTo>
                    <a:lnTo>
                      <a:pt x="0" y="45"/>
                    </a:lnTo>
                    <a:lnTo>
                      <a:pt x="84" y="4"/>
                    </a:lnTo>
                    <a:lnTo>
                      <a:pt x="94" y="15"/>
                    </a:lnTo>
                    <a:lnTo>
                      <a:pt x="84" y="4"/>
                    </a:lnTo>
                    <a:lnTo>
                      <a:pt x="93" y="0"/>
                    </a:lnTo>
                    <a:lnTo>
                      <a:pt x="94" y="15"/>
                    </a:lnTo>
                    <a:lnTo>
                      <a:pt x="79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35" name="Freeform 256"/>
              <p:cNvSpPr>
                <a:spLocks/>
              </p:cNvSpPr>
              <p:nvPr/>
            </p:nvSpPr>
            <p:spPr bwMode="auto">
              <a:xfrm>
                <a:off x="2220" y="2704"/>
                <a:ext cx="36" cy="34"/>
              </a:xfrm>
              <a:custGeom>
                <a:avLst/>
                <a:gdLst>
                  <a:gd name="T0" fmla="*/ 28 w 36"/>
                  <a:gd name="T1" fmla="*/ 0 h 34"/>
                  <a:gd name="T2" fmla="*/ 36 w 36"/>
                  <a:gd name="T3" fmla="*/ 19 h 34"/>
                  <a:gd name="T4" fmla="*/ 7 w 36"/>
                  <a:gd name="T5" fmla="*/ 34 h 34"/>
                  <a:gd name="T6" fmla="*/ 0 w 36"/>
                  <a:gd name="T7" fmla="*/ 15 h 34"/>
                  <a:gd name="T8" fmla="*/ 28 w 36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34"/>
                  <a:gd name="T17" fmla="*/ 36 w 36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34">
                    <a:moveTo>
                      <a:pt x="28" y="0"/>
                    </a:moveTo>
                    <a:lnTo>
                      <a:pt x="36" y="19"/>
                    </a:lnTo>
                    <a:lnTo>
                      <a:pt x="7" y="34"/>
                    </a:lnTo>
                    <a:lnTo>
                      <a:pt x="0" y="15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36" name="Freeform 257"/>
              <p:cNvSpPr>
                <a:spLocks/>
              </p:cNvSpPr>
              <p:nvPr/>
            </p:nvSpPr>
            <p:spPr bwMode="auto">
              <a:xfrm>
                <a:off x="2142" y="2485"/>
                <a:ext cx="101" cy="233"/>
              </a:xfrm>
              <a:custGeom>
                <a:avLst/>
                <a:gdLst>
                  <a:gd name="T0" fmla="*/ 32 w 101"/>
                  <a:gd name="T1" fmla="*/ 0 h 233"/>
                  <a:gd name="T2" fmla="*/ 32 w 101"/>
                  <a:gd name="T3" fmla="*/ 0 h 233"/>
                  <a:gd name="T4" fmla="*/ 45 w 101"/>
                  <a:gd name="T5" fmla="*/ 56 h 233"/>
                  <a:gd name="T6" fmla="*/ 61 w 101"/>
                  <a:gd name="T7" fmla="*/ 112 h 233"/>
                  <a:gd name="T8" fmla="*/ 80 w 101"/>
                  <a:gd name="T9" fmla="*/ 165 h 233"/>
                  <a:gd name="T10" fmla="*/ 101 w 101"/>
                  <a:gd name="T11" fmla="*/ 217 h 233"/>
                  <a:gd name="T12" fmla="*/ 75 w 101"/>
                  <a:gd name="T13" fmla="*/ 233 h 233"/>
                  <a:gd name="T14" fmla="*/ 52 w 101"/>
                  <a:gd name="T15" fmla="*/ 178 h 233"/>
                  <a:gd name="T16" fmla="*/ 31 w 101"/>
                  <a:gd name="T17" fmla="*/ 122 h 233"/>
                  <a:gd name="T18" fmla="*/ 15 w 101"/>
                  <a:gd name="T19" fmla="*/ 63 h 233"/>
                  <a:gd name="T20" fmla="*/ 0 w 101"/>
                  <a:gd name="T21" fmla="*/ 3 h 233"/>
                  <a:gd name="T22" fmla="*/ 32 w 101"/>
                  <a:gd name="T23" fmla="*/ 0 h 23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01"/>
                  <a:gd name="T37" fmla="*/ 0 h 233"/>
                  <a:gd name="T38" fmla="*/ 101 w 101"/>
                  <a:gd name="T39" fmla="*/ 233 h 23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01" h="233">
                    <a:moveTo>
                      <a:pt x="32" y="0"/>
                    </a:moveTo>
                    <a:lnTo>
                      <a:pt x="32" y="0"/>
                    </a:lnTo>
                    <a:lnTo>
                      <a:pt x="45" y="56"/>
                    </a:lnTo>
                    <a:lnTo>
                      <a:pt x="61" y="112"/>
                    </a:lnTo>
                    <a:lnTo>
                      <a:pt x="80" y="165"/>
                    </a:lnTo>
                    <a:lnTo>
                      <a:pt x="101" y="217"/>
                    </a:lnTo>
                    <a:lnTo>
                      <a:pt x="75" y="233"/>
                    </a:lnTo>
                    <a:lnTo>
                      <a:pt x="52" y="178"/>
                    </a:lnTo>
                    <a:lnTo>
                      <a:pt x="31" y="122"/>
                    </a:lnTo>
                    <a:lnTo>
                      <a:pt x="15" y="63"/>
                    </a:lnTo>
                    <a:lnTo>
                      <a:pt x="0" y="3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37" name="Freeform 258"/>
              <p:cNvSpPr>
                <a:spLocks/>
              </p:cNvSpPr>
              <p:nvPr/>
            </p:nvSpPr>
            <p:spPr bwMode="auto">
              <a:xfrm>
                <a:off x="2117" y="2281"/>
                <a:ext cx="53" cy="206"/>
              </a:xfrm>
              <a:custGeom>
                <a:avLst/>
                <a:gdLst>
                  <a:gd name="T0" fmla="*/ 33 w 53"/>
                  <a:gd name="T1" fmla="*/ 9 h 206"/>
                  <a:gd name="T2" fmla="*/ 33 w 53"/>
                  <a:gd name="T3" fmla="*/ 33 h 206"/>
                  <a:gd name="T4" fmla="*/ 33 w 53"/>
                  <a:gd name="T5" fmla="*/ 56 h 206"/>
                  <a:gd name="T6" fmla="*/ 37 w 53"/>
                  <a:gd name="T7" fmla="*/ 80 h 206"/>
                  <a:gd name="T8" fmla="*/ 39 w 53"/>
                  <a:gd name="T9" fmla="*/ 104 h 206"/>
                  <a:gd name="T10" fmla="*/ 41 w 53"/>
                  <a:gd name="T11" fmla="*/ 129 h 206"/>
                  <a:gd name="T12" fmla="*/ 44 w 53"/>
                  <a:gd name="T13" fmla="*/ 152 h 206"/>
                  <a:gd name="T14" fmla="*/ 48 w 53"/>
                  <a:gd name="T15" fmla="*/ 179 h 206"/>
                  <a:gd name="T16" fmla="*/ 53 w 53"/>
                  <a:gd name="T17" fmla="*/ 204 h 206"/>
                  <a:gd name="T18" fmla="*/ 22 w 53"/>
                  <a:gd name="T19" fmla="*/ 206 h 206"/>
                  <a:gd name="T20" fmla="*/ 16 w 53"/>
                  <a:gd name="T21" fmla="*/ 180 h 206"/>
                  <a:gd name="T22" fmla="*/ 12 w 53"/>
                  <a:gd name="T23" fmla="*/ 155 h 206"/>
                  <a:gd name="T24" fmla="*/ 8 w 53"/>
                  <a:gd name="T25" fmla="*/ 127 h 206"/>
                  <a:gd name="T26" fmla="*/ 5 w 53"/>
                  <a:gd name="T27" fmla="*/ 101 h 206"/>
                  <a:gd name="T28" fmla="*/ 3 w 53"/>
                  <a:gd name="T29" fmla="*/ 76 h 206"/>
                  <a:gd name="T30" fmla="*/ 1 w 53"/>
                  <a:gd name="T31" fmla="*/ 50 h 206"/>
                  <a:gd name="T32" fmla="*/ 1 w 53"/>
                  <a:gd name="T33" fmla="*/ 24 h 206"/>
                  <a:gd name="T34" fmla="*/ 0 w 53"/>
                  <a:gd name="T35" fmla="*/ 0 h 206"/>
                  <a:gd name="T36" fmla="*/ 33 w 53"/>
                  <a:gd name="T37" fmla="*/ 9 h 2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3"/>
                  <a:gd name="T58" fmla="*/ 0 h 206"/>
                  <a:gd name="T59" fmla="*/ 53 w 53"/>
                  <a:gd name="T60" fmla="*/ 206 h 2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3" h="206">
                    <a:moveTo>
                      <a:pt x="33" y="9"/>
                    </a:moveTo>
                    <a:lnTo>
                      <a:pt x="33" y="33"/>
                    </a:lnTo>
                    <a:lnTo>
                      <a:pt x="33" y="56"/>
                    </a:lnTo>
                    <a:lnTo>
                      <a:pt x="37" y="80"/>
                    </a:lnTo>
                    <a:lnTo>
                      <a:pt x="39" y="104"/>
                    </a:lnTo>
                    <a:lnTo>
                      <a:pt x="41" y="129"/>
                    </a:lnTo>
                    <a:lnTo>
                      <a:pt x="44" y="152"/>
                    </a:lnTo>
                    <a:lnTo>
                      <a:pt x="48" y="179"/>
                    </a:lnTo>
                    <a:lnTo>
                      <a:pt x="53" y="204"/>
                    </a:lnTo>
                    <a:lnTo>
                      <a:pt x="22" y="206"/>
                    </a:lnTo>
                    <a:lnTo>
                      <a:pt x="16" y="180"/>
                    </a:lnTo>
                    <a:lnTo>
                      <a:pt x="12" y="155"/>
                    </a:lnTo>
                    <a:lnTo>
                      <a:pt x="8" y="127"/>
                    </a:lnTo>
                    <a:lnTo>
                      <a:pt x="5" y="101"/>
                    </a:lnTo>
                    <a:lnTo>
                      <a:pt x="3" y="76"/>
                    </a:lnTo>
                    <a:lnTo>
                      <a:pt x="1" y="50"/>
                    </a:lnTo>
                    <a:lnTo>
                      <a:pt x="1" y="24"/>
                    </a:lnTo>
                    <a:lnTo>
                      <a:pt x="0" y="0"/>
                    </a:lnTo>
                    <a:lnTo>
                      <a:pt x="33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38" name="Freeform 259"/>
              <p:cNvSpPr>
                <a:spLocks/>
              </p:cNvSpPr>
              <p:nvPr/>
            </p:nvSpPr>
            <p:spPr bwMode="auto">
              <a:xfrm>
                <a:off x="2115" y="2257"/>
                <a:ext cx="33" cy="32"/>
              </a:xfrm>
              <a:custGeom>
                <a:avLst/>
                <a:gdLst>
                  <a:gd name="T0" fmla="*/ 0 w 33"/>
                  <a:gd name="T1" fmla="*/ 22 h 32"/>
                  <a:gd name="T2" fmla="*/ 0 w 33"/>
                  <a:gd name="T3" fmla="*/ 0 h 32"/>
                  <a:gd name="T4" fmla="*/ 33 w 33"/>
                  <a:gd name="T5" fmla="*/ 11 h 32"/>
                  <a:gd name="T6" fmla="*/ 33 w 33"/>
                  <a:gd name="T7" fmla="*/ 32 h 32"/>
                  <a:gd name="T8" fmla="*/ 0 w 33"/>
                  <a:gd name="T9" fmla="*/ 2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"/>
                  <a:gd name="T16" fmla="*/ 0 h 32"/>
                  <a:gd name="T17" fmla="*/ 33 w 33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" h="32">
                    <a:moveTo>
                      <a:pt x="0" y="22"/>
                    </a:moveTo>
                    <a:lnTo>
                      <a:pt x="0" y="0"/>
                    </a:lnTo>
                    <a:lnTo>
                      <a:pt x="33" y="11"/>
                    </a:lnTo>
                    <a:lnTo>
                      <a:pt x="33" y="32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39" name="Freeform 260"/>
              <p:cNvSpPr>
                <a:spLocks/>
              </p:cNvSpPr>
              <p:nvPr/>
            </p:nvSpPr>
            <p:spPr bwMode="auto">
              <a:xfrm>
                <a:off x="2159" y="2599"/>
                <a:ext cx="99" cy="164"/>
              </a:xfrm>
              <a:custGeom>
                <a:avLst/>
                <a:gdLst>
                  <a:gd name="T0" fmla="*/ 81 w 99"/>
                  <a:gd name="T1" fmla="*/ 0 h 164"/>
                  <a:gd name="T2" fmla="*/ 99 w 99"/>
                  <a:gd name="T3" fmla="*/ 164 h 164"/>
                  <a:gd name="T4" fmla="*/ 0 w 99"/>
                  <a:gd name="T5" fmla="*/ 41 h 164"/>
                  <a:gd name="T6" fmla="*/ 81 w 99"/>
                  <a:gd name="T7" fmla="*/ 0 h 1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164"/>
                  <a:gd name="T14" fmla="*/ 99 w 99"/>
                  <a:gd name="T15" fmla="*/ 164 h 1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164">
                    <a:moveTo>
                      <a:pt x="81" y="0"/>
                    </a:moveTo>
                    <a:lnTo>
                      <a:pt x="99" y="164"/>
                    </a:lnTo>
                    <a:lnTo>
                      <a:pt x="0" y="41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40" name="Freeform 261"/>
              <p:cNvSpPr>
                <a:spLocks/>
              </p:cNvSpPr>
              <p:nvPr/>
            </p:nvSpPr>
            <p:spPr bwMode="auto">
              <a:xfrm>
                <a:off x="2235" y="2601"/>
                <a:ext cx="28" cy="178"/>
              </a:xfrm>
              <a:custGeom>
                <a:avLst/>
                <a:gdLst>
                  <a:gd name="T0" fmla="*/ 24 w 28"/>
                  <a:gd name="T1" fmla="*/ 158 h 178"/>
                  <a:gd name="T2" fmla="*/ 17 w 28"/>
                  <a:gd name="T3" fmla="*/ 162 h 178"/>
                  <a:gd name="T4" fmla="*/ 0 w 28"/>
                  <a:gd name="T5" fmla="*/ 0 h 178"/>
                  <a:gd name="T6" fmla="*/ 9 w 28"/>
                  <a:gd name="T7" fmla="*/ 1 h 178"/>
                  <a:gd name="T8" fmla="*/ 27 w 28"/>
                  <a:gd name="T9" fmla="*/ 163 h 178"/>
                  <a:gd name="T10" fmla="*/ 18 w 28"/>
                  <a:gd name="T11" fmla="*/ 165 h 178"/>
                  <a:gd name="T12" fmla="*/ 27 w 28"/>
                  <a:gd name="T13" fmla="*/ 163 h 178"/>
                  <a:gd name="T14" fmla="*/ 28 w 28"/>
                  <a:gd name="T15" fmla="*/ 178 h 178"/>
                  <a:gd name="T16" fmla="*/ 18 w 28"/>
                  <a:gd name="T17" fmla="*/ 165 h 178"/>
                  <a:gd name="T18" fmla="*/ 24 w 28"/>
                  <a:gd name="T19" fmla="*/ 158 h 17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178"/>
                  <a:gd name="T32" fmla="*/ 28 w 28"/>
                  <a:gd name="T33" fmla="*/ 178 h 17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178">
                    <a:moveTo>
                      <a:pt x="24" y="158"/>
                    </a:moveTo>
                    <a:lnTo>
                      <a:pt x="17" y="162"/>
                    </a:lnTo>
                    <a:lnTo>
                      <a:pt x="0" y="0"/>
                    </a:lnTo>
                    <a:lnTo>
                      <a:pt x="9" y="1"/>
                    </a:lnTo>
                    <a:lnTo>
                      <a:pt x="27" y="163"/>
                    </a:lnTo>
                    <a:lnTo>
                      <a:pt x="18" y="165"/>
                    </a:lnTo>
                    <a:lnTo>
                      <a:pt x="27" y="163"/>
                    </a:lnTo>
                    <a:lnTo>
                      <a:pt x="28" y="178"/>
                    </a:lnTo>
                    <a:lnTo>
                      <a:pt x="18" y="165"/>
                    </a:lnTo>
                    <a:lnTo>
                      <a:pt x="24" y="158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41" name="Freeform 262"/>
              <p:cNvSpPr>
                <a:spLocks/>
              </p:cNvSpPr>
              <p:nvPr/>
            </p:nvSpPr>
            <p:spPr bwMode="auto">
              <a:xfrm>
                <a:off x="2149" y="2633"/>
                <a:ext cx="111" cy="131"/>
              </a:xfrm>
              <a:custGeom>
                <a:avLst/>
                <a:gdLst>
                  <a:gd name="T0" fmla="*/ 11 w 111"/>
                  <a:gd name="T1" fmla="*/ 12 h 131"/>
                  <a:gd name="T2" fmla="*/ 11 w 111"/>
                  <a:gd name="T3" fmla="*/ 2 h 131"/>
                  <a:gd name="T4" fmla="*/ 111 w 111"/>
                  <a:gd name="T5" fmla="*/ 125 h 131"/>
                  <a:gd name="T6" fmla="*/ 105 w 111"/>
                  <a:gd name="T7" fmla="*/ 131 h 131"/>
                  <a:gd name="T8" fmla="*/ 6 w 111"/>
                  <a:gd name="T9" fmla="*/ 9 h 131"/>
                  <a:gd name="T10" fmla="*/ 6 w 111"/>
                  <a:gd name="T11" fmla="*/ 0 h 131"/>
                  <a:gd name="T12" fmla="*/ 6 w 111"/>
                  <a:gd name="T13" fmla="*/ 9 h 131"/>
                  <a:gd name="T14" fmla="*/ 0 w 111"/>
                  <a:gd name="T15" fmla="*/ 3 h 131"/>
                  <a:gd name="T16" fmla="*/ 6 w 111"/>
                  <a:gd name="T17" fmla="*/ 0 h 131"/>
                  <a:gd name="T18" fmla="*/ 11 w 111"/>
                  <a:gd name="T19" fmla="*/ 12 h 13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1"/>
                  <a:gd name="T31" fmla="*/ 0 h 131"/>
                  <a:gd name="T32" fmla="*/ 111 w 111"/>
                  <a:gd name="T33" fmla="*/ 131 h 13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1" h="131">
                    <a:moveTo>
                      <a:pt x="11" y="12"/>
                    </a:moveTo>
                    <a:lnTo>
                      <a:pt x="11" y="2"/>
                    </a:lnTo>
                    <a:lnTo>
                      <a:pt x="111" y="125"/>
                    </a:lnTo>
                    <a:lnTo>
                      <a:pt x="105" y="131"/>
                    </a:lnTo>
                    <a:lnTo>
                      <a:pt x="6" y="9"/>
                    </a:lnTo>
                    <a:lnTo>
                      <a:pt x="6" y="0"/>
                    </a:lnTo>
                    <a:lnTo>
                      <a:pt x="6" y="9"/>
                    </a:lnTo>
                    <a:lnTo>
                      <a:pt x="0" y="3"/>
                    </a:lnTo>
                    <a:lnTo>
                      <a:pt x="6" y="0"/>
                    </a:lnTo>
                    <a:lnTo>
                      <a:pt x="11" y="12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42" name="Freeform 263"/>
              <p:cNvSpPr>
                <a:spLocks/>
              </p:cNvSpPr>
              <p:nvPr/>
            </p:nvSpPr>
            <p:spPr bwMode="auto">
              <a:xfrm>
                <a:off x="2154" y="2593"/>
                <a:ext cx="88" cy="53"/>
              </a:xfrm>
              <a:custGeom>
                <a:avLst/>
                <a:gdLst>
                  <a:gd name="T0" fmla="*/ 80 w 88"/>
                  <a:gd name="T1" fmla="*/ 7 h 53"/>
                  <a:gd name="T2" fmla="*/ 86 w 88"/>
                  <a:gd name="T3" fmla="*/ 12 h 53"/>
                  <a:gd name="T4" fmla="*/ 4 w 88"/>
                  <a:gd name="T5" fmla="*/ 53 h 53"/>
                  <a:gd name="T6" fmla="*/ 0 w 88"/>
                  <a:gd name="T7" fmla="*/ 42 h 53"/>
                  <a:gd name="T8" fmla="*/ 82 w 88"/>
                  <a:gd name="T9" fmla="*/ 2 h 53"/>
                  <a:gd name="T10" fmla="*/ 88 w 88"/>
                  <a:gd name="T11" fmla="*/ 8 h 53"/>
                  <a:gd name="T12" fmla="*/ 82 w 88"/>
                  <a:gd name="T13" fmla="*/ 2 h 53"/>
                  <a:gd name="T14" fmla="*/ 87 w 88"/>
                  <a:gd name="T15" fmla="*/ 0 h 53"/>
                  <a:gd name="T16" fmla="*/ 88 w 88"/>
                  <a:gd name="T17" fmla="*/ 8 h 53"/>
                  <a:gd name="T18" fmla="*/ 80 w 88"/>
                  <a:gd name="T19" fmla="*/ 7 h 5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8"/>
                  <a:gd name="T31" fmla="*/ 0 h 53"/>
                  <a:gd name="T32" fmla="*/ 88 w 88"/>
                  <a:gd name="T33" fmla="*/ 53 h 5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8" h="53">
                    <a:moveTo>
                      <a:pt x="80" y="7"/>
                    </a:moveTo>
                    <a:lnTo>
                      <a:pt x="86" y="12"/>
                    </a:lnTo>
                    <a:lnTo>
                      <a:pt x="4" y="53"/>
                    </a:lnTo>
                    <a:lnTo>
                      <a:pt x="0" y="42"/>
                    </a:lnTo>
                    <a:lnTo>
                      <a:pt x="82" y="2"/>
                    </a:lnTo>
                    <a:lnTo>
                      <a:pt x="88" y="8"/>
                    </a:lnTo>
                    <a:lnTo>
                      <a:pt x="82" y="2"/>
                    </a:lnTo>
                    <a:lnTo>
                      <a:pt x="87" y="0"/>
                    </a:lnTo>
                    <a:lnTo>
                      <a:pt x="88" y="8"/>
                    </a:lnTo>
                    <a:lnTo>
                      <a:pt x="80" y="7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43" name="Freeform 264"/>
              <p:cNvSpPr>
                <a:spLocks/>
              </p:cNvSpPr>
              <p:nvPr/>
            </p:nvSpPr>
            <p:spPr bwMode="auto">
              <a:xfrm>
                <a:off x="2222" y="2703"/>
                <a:ext cx="31" cy="31"/>
              </a:xfrm>
              <a:custGeom>
                <a:avLst/>
                <a:gdLst>
                  <a:gd name="T0" fmla="*/ 21 w 31"/>
                  <a:gd name="T1" fmla="*/ 0 h 31"/>
                  <a:gd name="T2" fmla="*/ 31 w 31"/>
                  <a:gd name="T3" fmla="*/ 19 h 31"/>
                  <a:gd name="T4" fmla="*/ 6 w 31"/>
                  <a:gd name="T5" fmla="*/ 31 h 31"/>
                  <a:gd name="T6" fmla="*/ 0 w 31"/>
                  <a:gd name="T7" fmla="*/ 14 h 31"/>
                  <a:gd name="T8" fmla="*/ 21 w 31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31"/>
                  <a:gd name="T17" fmla="*/ 31 w 31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31">
                    <a:moveTo>
                      <a:pt x="21" y="0"/>
                    </a:moveTo>
                    <a:lnTo>
                      <a:pt x="31" y="19"/>
                    </a:lnTo>
                    <a:lnTo>
                      <a:pt x="6" y="31"/>
                    </a:lnTo>
                    <a:lnTo>
                      <a:pt x="0" y="14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44" name="Freeform 265"/>
              <p:cNvSpPr>
                <a:spLocks/>
              </p:cNvSpPr>
              <p:nvPr/>
            </p:nvSpPr>
            <p:spPr bwMode="auto">
              <a:xfrm>
                <a:off x="2144" y="2485"/>
                <a:ext cx="98" cy="233"/>
              </a:xfrm>
              <a:custGeom>
                <a:avLst/>
                <a:gdLst>
                  <a:gd name="T0" fmla="*/ 27 w 98"/>
                  <a:gd name="T1" fmla="*/ 0 h 233"/>
                  <a:gd name="T2" fmla="*/ 27 w 98"/>
                  <a:gd name="T3" fmla="*/ 0 h 233"/>
                  <a:gd name="T4" fmla="*/ 41 w 98"/>
                  <a:gd name="T5" fmla="*/ 56 h 233"/>
                  <a:gd name="T6" fmla="*/ 57 w 98"/>
                  <a:gd name="T7" fmla="*/ 113 h 233"/>
                  <a:gd name="T8" fmla="*/ 77 w 98"/>
                  <a:gd name="T9" fmla="*/ 166 h 233"/>
                  <a:gd name="T10" fmla="*/ 98 w 98"/>
                  <a:gd name="T11" fmla="*/ 219 h 233"/>
                  <a:gd name="T12" fmla="*/ 76 w 98"/>
                  <a:gd name="T13" fmla="*/ 233 h 233"/>
                  <a:gd name="T14" fmla="*/ 52 w 98"/>
                  <a:gd name="T15" fmla="*/ 177 h 233"/>
                  <a:gd name="T16" fmla="*/ 32 w 98"/>
                  <a:gd name="T17" fmla="*/ 120 h 233"/>
                  <a:gd name="T18" fmla="*/ 15 w 98"/>
                  <a:gd name="T19" fmla="*/ 63 h 233"/>
                  <a:gd name="T20" fmla="*/ 0 w 98"/>
                  <a:gd name="T21" fmla="*/ 2 h 233"/>
                  <a:gd name="T22" fmla="*/ 27 w 98"/>
                  <a:gd name="T23" fmla="*/ 0 h 23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98"/>
                  <a:gd name="T37" fmla="*/ 0 h 233"/>
                  <a:gd name="T38" fmla="*/ 98 w 98"/>
                  <a:gd name="T39" fmla="*/ 233 h 23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98" h="233">
                    <a:moveTo>
                      <a:pt x="27" y="0"/>
                    </a:moveTo>
                    <a:lnTo>
                      <a:pt x="27" y="0"/>
                    </a:lnTo>
                    <a:lnTo>
                      <a:pt x="41" y="56"/>
                    </a:lnTo>
                    <a:lnTo>
                      <a:pt x="57" y="113"/>
                    </a:lnTo>
                    <a:lnTo>
                      <a:pt x="77" y="166"/>
                    </a:lnTo>
                    <a:lnTo>
                      <a:pt x="98" y="219"/>
                    </a:lnTo>
                    <a:lnTo>
                      <a:pt x="76" y="233"/>
                    </a:lnTo>
                    <a:lnTo>
                      <a:pt x="52" y="177"/>
                    </a:lnTo>
                    <a:lnTo>
                      <a:pt x="32" y="120"/>
                    </a:lnTo>
                    <a:lnTo>
                      <a:pt x="15" y="63"/>
                    </a:lnTo>
                    <a:lnTo>
                      <a:pt x="0" y="2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45" name="Freeform 266"/>
              <p:cNvSpPr>
                <a:spLocks/>
              </p:cNvSpPr>
              <p:nvPr/>
            </p:nvSpPr>
            <p:spPr bwMode="auto">
              <a:xfrm>
                <a:off x="2118" y="2281"/>
                <a:ext cx="47" cy="205"/>
              </a:xfrm>
              <a:custGeom>
                <a:avLst/>
                <a:gdLst>
                  <a:gd name="T0" fmla="*/ 28 w 47"/>
                  <a:gd name="T1" fmla="*/ 6 h 205"/>
                  <a:gd name="T2" fmla="*/ 28 w 47"/>
                  <a:gd name="T3" fmla="*/ 31 h 205"/>
                  <a:gd name="T4" fmla="*/ 29 w 47"/>
                  <a:gd name="T5" fmla="*/ 54 h 205"/>
                  <a:gd name="T6" fmla="*/ 30 w 47"/>
                  <a:gd name="T7" fmla="*/ 79 h 205"/>
                  <a:gd name="T8" fmla="*/ 32 w 47"/>
                  <a:gd name="T9" fmla="*/ 103 h 205"/>
                  <a:gd name="T10" fmla="*/ 36 w 47"/>
                  <a:gd name="T11" fmla="*/ 127 h 205"/>
                  <a:gd name="T12" fmla="*/ 39 w 47"/>
                  <a:gd name="T13" fmla="*/ 152 h 205"/>
                  <a:gd name="T14" fmla="*/ 43 w 47"/>
                  <a:gd name="T15" fmla="*/ 177 h 205"/>
                  <a:gd name="T16" fmla="*/ 47 w 47"/>
                  <a:gd name="T17" fmla="*/ 203 h 205"/>
                  <a:gd name="T18" fmla="*/ 21 w 47"/>
                  <a:gd name="T19" fmla="*/ 205 h 205"/>
                  <a:gd name="T20" fmla="*/ 16 w 47"/>
                  <a:gd name="T21" fmla="*/ 179 h 205"/>
                  <a:gd name="T22" fmla="*/ 11 w 47"/>
                  <a:gd name="T23" fmla="*/ 152 h 205"/>
                  <a:gd name="T24" fmla="*/ 8 w 47"/>
                  <a:gd name="T25" fmla="*/ 126 h 205"/>
                  <a:gd name="T26" fmla="*/ 5 w 47"/>
                  <a:gd name="T27" fmla="*/ 100 h 205"/>
                  <a:gd name="T28" fmla="*/ 2 w 47"/>
                  <a:gd name="T29" fmla="*/ 76 h 205"/>
                  <a:gd name="T30" fmla="*/ 1 w 47"/>
                  <a:gd name="T31" fmla="*/ 50 h 205"/>
                  <a:gd name="T32" fmla="*/ 0 w 47"/>
                  <a:gd name="T33" fmla="*/ 24 h 205"/>
                  <a:gd name="T34" fmla="*/ 0 w 47"/>
                  <a:gd name="T35" fmla="*/ 0 h 205"/>
                  <a:gd name="T36" fmla="*/ 28 w 47"/>
                  <a:gd name="T37" fmla="*/ 6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7"/>
                  <a:gd name="T58" fmla="*/ 0 h 205"/>
                  <a:gd name="T59" fmla="*/ 47 w 47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7" h="205">
                    <a:moveTo>
                      <a:pt x="28" y="6"/>
                    </a:moveTo>
                    <a:lnTo>
                      <a:pt x="28" y="31"/>
                    </a:lnTo>
                    <a:lnTo>
                      <a:pt x="29" y="54"/>
                    </a:lnTo>
                    <a:lnTo>
                      <a:pt x="30" y="79"/>
                    </a:lnTo>
                    <a:lnTo>
                      <a:pt x="32" y="103"/>
                    </a:lnTo>
                    <a:lnTo>
                      <a:pt x="36" y="127"/>
                    </a:lnTo>
                    <a:lnTo>
                      <a:pt x="39" y="152"/>
                    </a:lnTo>
                    <a:lnTo>
                      <a:pt x="43" y="177"/>
                    </a:lnTo>
                    <a:lnTo>
                      <a:pt x="47" y="203"/>
                    </a:lnTo>
                    <a:lnTo>
                      <a:pt x="21" y="205"/>
                    </a:lnTo>
                    <a:lnTo>
                      <a:pt x="16" y="179"/>
                    </a:lnTo>
                    <a:lnTo>
                      <a:pt x="11" y="152"/>
                    </a:lnTo>
                    <a:lnTo>
                      <a:pt x="8" y="126"/>
                    </a:lnTo>
                    <a:lnTo>
                      <a:pt x="5" y="100"/>
                    </a:lnTo>
                    <a:lnTo>
                      <a:pt x="2" y="76"/>
                    </a:lnTo>
                    <a:lnTo>
                      <a:pt x="1" y="50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28" y="6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46" name="Freeform 267"/>
              <p:cNvSpPr>
                <a:spLocks/>
              </p:cNvSpPr>
              <p:nvPr/>
            </p:nvSpPr>
            <p:spPr bwMode="auto">
              <a:xfrm>
                <a:off x="2117" y="2263"/>
                <a:ext cx="27" cy="24"/>
              </a:xfrm>
              <a:custGeom>
                <a:avLst/>
                <a:gdLst>
                  <a:gd name="T0" fmla="*/ 0 w 27"/>
                  <a:gd name="T1" fmla="*/ 17 h 24"/>
                  <a:gd name="T2" fmla="*/ 0 w 27"/>
                  <a:gd name="T3" fmla="*/ 0 h 24"/>
                  <a:gd name="T4" fmla="*/ 27 w 27"/>
                  <a:gd name="T5" fmla="*/ 7 h 24"/>
                  <a:gd name="T6" fmla="*/ 27 w 27"/>
                  <a:gd name="T7" fmla="*/ 24 h 24"/>
                  <a:gd name="T8" fmla="*/ 0 w 27"/>
                  <a:gd name="T9" fmla="*/ 17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24"/>
                  <a:gd name="T17" fmla="*/ 27 w 27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24">
                    <a:moveTo>
                      <a:pt x="0" y="17"/>
                    </a:moveTo>
                    <a:lnTo>
                      <a:pt x="0" y="0"/>
                    </a:lnTo>
                    <a:lnTo>
                      <a:pt x="27" y="7"/>
                    </a:lnTo>
                    <a:lnTo>
                      <a:pt x="27" y="24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47" name="Freeform 268"/>
              <p:cNvSpPr>
                <a:spLocks/>
              </p:cNvSpPr>
              <p:nvPr/>
            </p:nvSpPr>
            <p:spPr bwMode="auto">
              <a:xfrm>
                <a:off x="2173" y="2631"/>
                <a:ext cx="102" cy="162"/>
              </a:xfrm>
              <a:custGeom>
                <a:avLst/>
                <a:gdLst>
                  <a:gd name="T0" fmla="*/ 80 w 102"/>
                  <a:gd name="T1" fmla="*/ 0 h 162"/>
                  <a:gd name="T2" fmla="*/ 102 w 102"/>
                  <a:gd name="T3" fmla="*/ 162 h 162"/>
                  <a:gd name="T4" fmla="*/ 0 w 102"/>
                  <a:gd name="T5" fmla="*/ 46 h 162"/>
                  <a:gd name="T6" fmla="*/ 80 w 102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2"/>
                  <a:gd name="T13" fmla="*/ 0 h 162"/>
                  <a:gd name="T14" fmla="*/ 102 w 102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2" h="162">
                    <a:moveTo>
                      <a:pt x="80" y="0"/>
                    </a:moveTo>
                    <a:lnTo>
                      <a:pt x="102" y="162"/>
                    </a:lnTo>
                    <a:lnTo>
                      <a:pt x="0" y="46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48" name="Freeform 269"/>
              <p:cNvSpPr>
                <a:spLocks/>
              </p:cNvSpPr>
              <p:nvPr/>
            </p:nvSpPr>
            <p:spPr bwMode="auto">
              <a:xfrm>
                <a:off x="2246" y="2633"/>
                <a:ext cx="42" cy="188"/>
              </a:xfrm>
              <a:custGeom>
                <a:avLst/>
                <a:gdLst>
                  <a:gd name="T0" fmla="*/ 35 w 42"/>
                  <a:gd name="T1" fmla="*/ 156 h 188"/>
                  <a:gd name="T2" fmla="*/ 23 w 42"/>
                  <a:gd name="T3" fmla="*/ 164 h 188"/>
                  <a:gd name="T4" fmla="*/ 0 w 42"/>
                  <a:gd name="T5" fmla="*/ 0 h 188"/>
                  <a:gd name="T6" fmla="*/ 14 w 42"/>
                  <a:gd name="T7" fmla="*/ 1 h 188"/>
                  <a:gd name="T8" fmla="*/ 39 w 42"/>
                  <a:gd name="T9" fmla="*/ 164 h 188"/>
                  <a:gd name="T10" fmla="*/ 27 w 42"/>
                  <a:gd name="T11" fmla="*/ 170 h 188"/>
                  <a:gd name="T12" fmla="*/ 39 w 42"/>
                  <a:gd name="T13" fmla="*/ 164 h 188"/>
                  <a:gd name="T14" fmla="*/ 42 w 42"/>
                  <a:gd name="T15" fmla="*/ 188 h 188"/>
                  <a:gd name="T16" fmla="*/ 27 w 42"/>
                  <a:gd name="T17" fmla="*/ 170 h 188"/>
                  <a:gd name="T18" fmla="*/ 35 w 42"/>
                  <a:gd name="T19" fmla="*/ 156 h 1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2"/>
                  <a:gd name="T31" fmla="*/ 0 h 188"/>
                  <a:gd name="T32" fmla="*/ 42 w 42"/>
                  <a:gd name="T33" fmla="*/ 188 h 18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2" h="188">
                    <a:moveTo>
                      <a:pt x="35" y="156"/>
                    </a:moveTo>
                    <a:lnTo>
                      <a:pt x="23" y="164"/>
                    </a:lnTo>
                    <a:lnTo>
                      <a:pt x="0" y="0"/>
                    </a:lnTo>
                    <a:lnTo>
                      <a:pt x="14" y="1"/>
                    </a:lnTo>
                    <a:lnTo>
                      <a:pt x="39" y="164"/>
                    </a:lnTo>
                    <a:lnTo>
                      <a:pt x="27" y="170"/>
                    </a:lnTo>
                    <a:lnTo>
                      <a:pt x="39" y="164"/>
                    </a:lnTo>
                    <a:lnTo>
                      <a:pt x="42" y="188"/>
                    </a:lnTo>
                    <a:lnTo>
                      <a:pt x="27" y="170"/>
                    </a:lnTo>
                    <a:lnTo>
                      <a:pt x="35" y="15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49" name="Freeform 270"/>
              <p:cNvSpPr>
                <a:spLocks/>
              </p:cNvSpPr>
              <p:nvPr/>
            </p:nvSpPr>
            <p:spPr bwMode="auto">
              <a:xfrm>
                <a:off x="2160" y="2670"/>
                <a:ext cx="121" cy="133"/>
              </a:xfrm>
              <a:custGeom>
                <a:avLst/>
                <a:gdLst>
                  <a:gd name="T0" fmla="*/ 18 w 121"/>
                  <a:gd name="T1" fmla="*/ 19 h 133"/>
                  <a:gd name="T2" fmla="*/ 18 w 121"/>
                  <a:gd name="T3" fmla="*/ 3 h 133"/>
                  <a:gd name="T4" fmla="*/ 121 w 121"/>
                  <a:gd name="T5" fmla="*/ 118 h 133"/>
                  <a:gd name="T6" fmla="*/ 112 w 121"/>
                  <a:gd name="T7" fmla="*/ 133 h 133"/>
                  <a:gd name="T8" fmla="*/ 10 w 121"/>
                  <a:gd name="T9" fmla="*/ 17 h 133"/>
                  <a:gd name="T10" fmla="*/ 10 w 121"/>
                  <a:gd name="T11" fmla="*/ 0 h 133"/>
                  <a:gd name="T12" fmla="*/ 10 w 121"/>
                  <a:gd name="T13" fmla="*/ 17 h 133"/>
                  <a:gd name="T14" fmla="*/ 0 w 121"/>
                  <a:gd name="T15" fmla="*/ 5 h 133"/>
                  <a:gd name="T16" fmla="*/ 10 w 121"/>
                  <a:gd name="T17" fmla="*/ 0 h 133"/>
                  <a:gd name="T18" fmla="*/ 18 w 121"/>
                  <a:gd name="T19" fmla="*/ 19 h 1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1"/>
                  <a:gd name="T31" fmla="*/ 0 h 133"/>
                  <a:gd name="T32" fmla="*/ 121 w 121"/>
                  <a:gd name="T33" fmla="*/ 133 h 13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1" h="133">
                    <a:moveTo>
                      <a:pt x="18" y="19"/>
                    </a:moveTo>
                    <a:lnTo>
                      <a:pt x="18" y="3"/>
                    </a:lnTo>
                    <a:lnTo>
                      <a:pt x="121" y="118"/>
                    </a:lnTo>
                    <a:lnTo>
                      <a:pt x="112" y="133"/>
                    </a:lnTo>
                    <a:lnTo>
                      <a:pt x="10" y="17"/>
                    </a:lnTo>
                    <a:lnTo>
                      <a:pt x="10" y="0"/>
                    </a:lnTo>
                    <a:lnTo>
                      <a:pt x="10" y="17"/>
                    </a:lnTo>
                    <a:lnTo>
                      <a:pt x="0" y="5"/>
                    </a:lnTo>
                    <a:lnTo>
                      <a:pt x="10" y="0"/>
                    </a:lnTo>
                    <a:lnTo>
                      <a:pt x="18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50" name="Freeform 271"/>
              <p:cNvSpPr>
                <a:spLocks/>
              </p:cNvSpPr>
              <p:nvPr/>
            </p:nvSpPr>
            <p:spPr bwMode="auto">
              <a:xfrm>
                <a:off x="2168" y="2617"/>
                <a:ext cx="89" cy="71"/>
              </a:xfrm>
              <a:custGeom>
                <a:avLst/>
                <a:gdLst>
                  <a:gd name="T0" fmla="*/ 75 w 89"/>
                  <a:gd name="T1" fmla="*/ 16 h 71"/>
                  <a:gd name="T2" fmla="*/ 87 w 89"/>
                  <a:gd name="T3" fmla="*/ 25 h 71"/>
                  <a:gd name="T4" fmla="*/ 8 w 89"/>
                  <a:gd name="T5" fmla="*/ 71 h 71"/>
                  <a:gd name="T6" fmla="*/ 0 w 89"/>
                  <a:gd name="T7" fmla="*/ 52 h 71"/>
                  <a:gd name="T8" fmla="*/ 79 w 89"/>
                  <a:gd name="T9" fmla="*/ 6 h 71"/>
                  <a:gd name="T10" fmla="*/ 89 w 89"/>
                  <a:gd name="T11" fmla="*/ 16 h 71"/>
                  <a:gd name="T12" fmla="*/ 79 w 89"/>
                  <a:gd name="T13" fmla="*/ 6 h 71"/>
                  <a:gd name="T14" fmla="*/ 88 w 89"/>
                  <a:gd name="T15" fmla="*/ 0 h 71"/>
                  <a:gd name="T16" fmla="*/ 89 w 89"/>
                  <a:gd name="T17" fmla="*/ 16 h 71"/>
                  <a:gd name="T18" fmla="*/ 75 w 89"/>
                  <a:gd name="T19" fmla="*/ 16 h 7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9"/>
                  <a:gd name="T31" fmla="*/ 0 h 71"/>
                  <a:gd name="T32" fmla="*/ 89 w 89"/>
                  <a:gd name="T33" fmla="*/ 71 h 7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9" h="71">
                    <a:moveTo>
                      <a:pt x="75" y="16"/>
                    </a:moveTo>
                    <a:lnTo>
                      <a:pt x="87" y="25"/>
                    </a:lnTo>
                    <a:lnTo>
                      <a:pt x="8" y="71"/>
                    </a:lnTo>
                    <a:lnTo>
                      <a:pt x="0" y="52"/>
                    </a:lnTo>
                    <a:lnTo>
                      <a:pt x="79" y="6"/>
                    </a:lnTo>
                    <a:lnTo>
                      <a:pt x="89" y="16"/>
                    </a:lnTo>
                    <a:lnTo>
                      <a:pt x="79" y="6"/>
                    </a:lnTo>
                    <a:lnTo>
                      <a:pt x="88" y="0"/>
                    </a:lnTo>
                    <a:lnTo>
                      <a:pt x="89" y="16"/>
                    </a:lnTo>
                    <a:lnTo>
                      <a:pt x="75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51" name="Freeform 272"/>
              <p:cNvSpPr>
                <a:spLocks/>
              </p:cNvSpPr>
              <p:nvPr/>
            </p:nvSpPr>
            <p:spPr bwMode="auto">
              <a:xfrm>
                <a:off x="2236" y="2738"/>
                <a:ext cx="37" cy="36"/>
              </a:xfrm>
              <a:custGeom>
                <a:avLst/>
                <a:gdLst>
                  <a:gd name="T0" fmla="*/ 29 w 37"/>
                  <a:gd name="T1" fmla="*/ 0 h 36"/>
                  <a:gd name="T2" fmla="*/ 37 w 37"/>
                  <a:gd name="T3" fmla="*/ 19 h 36"/>
                  <a:gd name="T4" fmla="*/ 8 w 37"/>
                  <a:gd name="T5" fmla="*/ 36 h 36"/>
                  <a:gd name="T6" fmla="*/ 0 w 37"/>
                  <a:gd name="T7" fmla="*/ 17 h 36"/>
                  <a:gd name="T8" fmla="*/ 29 w 37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36"/>
                  <a:gd name="T17" fmla="*/ 37 w 37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36">
                    <a:moveTo>
                      <a:pt x="29" y="0"/>
                    </a:moveTo>
                    <a:lnTo>
                      <a:pt x="37" y="19"/>
                    </a:lnTo>
                    <a:lnTo>
                      <a:pt x="8" y="36"/>
                    </a:lnTo>
                    <a:lnTo>
                      <a:pt x="0" y="17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52" name="Freeform 273"/>
              <p:cNvSpPr>
                <a:spLocks/>
              </p:cNvSpPr>
              <p:nvPr/>
            </p:nvSpPr>
            <p:spPr bwMode="auto">
              <a:xfrm>
                <a:off x="2150" y="2523"/>
                <a:ext cx="112" cy="230"/>
              </a:xfrm>
              <a:custGeom>
                <a:avLst/>
                <a:gdLst>
                  <a:gd name="T0" fmla="*/ 32 w 112"/>
                  <a:gd name="T1" fmla="*/ 0 h 230"/>
                  <a:gd name="T2" fmla="*/ 32 w 112"/>
                  <a:gd name="T3" fmla="*/ 0 h 230"/>
                  <a:gd name="T4" fmla="*/ 40 w 112"/>
                  <a:gd name="T5" fmla="*/ 27 h 230"/>
                  <a:gd name="T6" fmla="*/ 48 w 112"/>
                  <a:gd name="T7" fmla="*/ 56 h 230"/>
                  <a:gd name="T8" fmla="*/ 57 w 112"/>
                  <a:gd name="T9" fmla="*/ 84 h 230"/>
                  <a:gd name="T10" fmla="*/ 67 w 112"/>
                  <a:gd name="T11" fmla="*/ 109 h 230"/>
                  <a:gd name="T12" fmla="*/ 76 w 112"/>
                  <a:gd name="T13" fmla="*/ 136 h 230"/>
                  <a:gd name="T14" fmla="*/ 88 w 112"/>
                  <a:gd name="T15" fmla="*/ 163 h 230"/>
                  <a:gd name="T16" fmla="*/ 99 w 112"/>
                  <a:gd name="T17" fmla="*/ 187 h 230"/>
                  <a:gd name="T18" fmla="*/ 112 w 112"/>
                  <a:gd name="T19" fmla="*/ 213 h 230"/>
                  <a:gd name="T20" fmla="*/ 84 w 112"/>
                  <a:gd name="T21" fmla="*/ 230 h 230"/>
                  <a:gd name="T22" fmla="*/ 71 w 112"/>
                  <a:gd name="T23" fmla="*/ 204 h 230"/>
                  <a:gd name="T24" fmla="*/ 58 w 112"/>
                  <a:gd name="T25" fmla="*/ 176 h 230"/>
                  <a:gd name="T26" fmla="*/ 47 w 112"/>
                  <a:gd name="T27" fmla="*/ 150 h 230"/>
                  <a:gd name="T28" fmla="*/ 37 w 112"/>
                  <a:gd name="T29" fmla="*/ 122 h 230"/>
                  <a:gd name="T30" fmla="*/ 26 w 112"/>
                  <a:gd name="T31" fmla="*/ 94 h 230"/>
                  <a:gd name="T32" fmla="*/ 18 w 112"/>
                  <a:gd name="T33" fmla="*/ 64 h 230"/>
                  <a:gd name="T34" fmla="*/ 9 w 112"/>
                  <a:gd name="T35" fmla="*/ 34 h 230"/>
                  <a:gd name="T36" fmla="*/ 0 w 112"/>
                  <a:gd name="T37" fmla="*/ 4 h 230"/>
                  <a:gd name="T38" fmla="*/ 32 w 112"/>
                  <a:gd name="T39" fmla="*/ 0 h 2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2"/>
                  <a:gd name="T61" fmla="*/ 0 h 230"/>
                  <a:gd name="T62" fmla="*/ 112 w 112"/>
                  <a:gd name="T63" fmla="*/ 230 h 2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2" h="230">
                    <a:moveTo>
                      <a:pt x="32" y="0"/>
                    </a:moveTo>
                    <a:lnTo>
                      <a:pt x="32" y="0"/>
                    </a:lnTo>
                    <a:lnTo>
                      <a:pt x="40" y="27"/>
                    </a:lnTo>
                    <a:lnTo>
                      <a:pt x="48" y="56"/>
                    </a:lnTo>
                    <a:lnTo>
                      <a:pt x="57" y="84"/>
                    </a:lnTo>
                    <a:lnTo>
                      <a:pt x="67" y="109"/>
                    </a:lnTo>
                    <a:lnTo>
                      <a:pt x="76" y="136"/>
                    </a:lnTo>
                    <a:lnTo>
                      <a:pt x="88" y="163"/>
                    </a:lnTo>
                    <a:lnTo>
                      <a:pt x="99" y="187"/>
                    </a:lnTo>
                    <a:lnTo>
                      <a:pt x="112" y="213"/>
                    </a:lnTo>
                    <a:lnTo>
                      <a:pt x="84" y="230"/>
                    </a:lnTo>
                    <a:lnTo>
                      <a:pt x="71" y="204"/>
                    </a:lnTo>
                    <a:lnTo>
                      <a:pt x="58" y="176"/>
                    </a:lnTo>
                    <a:lnTo>
                      <a:pt x="47" y="150"/>
                    </a:lnTo>
                    <a:lnTo>
                      <a:pt x="37" y="122"/>
                    </a:lnTo>
                    <a:lnTo>
                      <a:pt x="26" y="94"/>
                    </a:lnTo>
                    <a:lnTo>
                      <a:pt x="18" y="64"/>
                    </a:lnTo>
                    <a:lnTo>
                      <a:pt x="9" y="34"/>
                    </a:lnTo>
                    <a:lnTo>
                      <a:pt x="0" y="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53" name="Freeform 274"/>
              <p:cNvSpPr>
                <a:spLocks/>
              </p:cNvSpPr>
              <p:nvPr/>
            </p:nvSpPr>
            <p:spPr bwMode="auto">
              <a:xfrm>
                <a:off x="2117" y="2318"/>
                <a:ext cx="61" cy="206"/>
              </a:xfrm>
              <a:custGeom>
                <a:avLst/>
                <a:gdLst>
                  <a:gd name="T0" fmla="*/ 33 w 61"/>
                  <a:gd name="T1" fmla="*/ 7 h 206"/>
                  <a:gd name="T2" fmla="*/ 36 w 61"/>
                  <a:gd name="T3" fmla="*/ 31 h 206"/>
                  <a:gd name="T4" fmla="*/ 38 w 61"/>
                  <a:gd name="T5" fmla="*/ 56 h 206"/>
                  <a:gd name="T6" fmla="*/ 40 w 61"/>
                  <a:gd name="T7" fmla="*/ 79 h 206"/>
                  <a:gd name="T8" fmla="*/ 43 w 61"/>
                  <a:gd name="T9" fmla="*/ 103 h 206"/>
                  <a:gd name="T10" fmla="*/ 46 w 61"/>
                  <a:gd name="T11" fmla="*/ 127 h 206"/>
                  <a:gd name="T12" fmla="*/ 51 w 61"/>
                  <a:gd name="T13" fmla="*/ 153 h 206"/>
                  <a:gd name="T14" fmla="*/ 56 w 61"/>
                  <a:gd name="T15" fmla="*/ 176 h 206"/>
                  <a:gd name="T16" fmla="*/ 61 w 61"/>
                  <a:gd name="T17" fmla="*/ 202 h 206"/>
                  <a:gd name="T18" fmla="*/ 30 w 61"/>
                  <a:gd name="T19" fmla="*/ 206 h 206"/>
                  <a:gd name="T20" fmla="*/ 24 w 61"/>
                  <a:gd name="T21" fmla="*/ 181 h 206"/>
                  <a:gd name="T22" fmla="*/ 18 w 61"/>
                  <a:gd name="T23" fmla="*/ 155 h 206"/>
                  <a:gd name="T24" fmla="*/ 14 w 61"/>
                  <a:gd name="T25" fmla="*/ 128 h 206"/>
                  <a:gd name="T26" fmla="*/ 11 w 61"/>
                  <a:gd name="T27" fmla="*/ 103 h 206"/>
                  <a:gd name="T28" fmla="*/ 7 w 61"/>
                  <a:gd name="T29" fmla="*/ 77 h 206"/>
                  <a:gd name="T30" fmla="*/ 5 w 61"/>
                  <a:gd name="T31" fmla="*/ 51 h 206"/>
                  <a:gd name="T32" fmla="*/ 2 w 61"/>
                  <a:gd name="T33" fmla="*/ 26 h 206"/>
                  <a:gd name="T34" fmla="*/ 0 w 61"/>
                  <a:gd name="T35" fmla="*/ 0 h 206"/>
                  <a:gd name="T36" fmla="*/ 33 w 61"/>
                  <a:gd name="T37" fmla="*/ 7 h 2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1"/>
                  <a:gd name="T58" fmla="*/ 0 h 206"/>
                  <a:gd name="T59" fmla="*/ 61 w 61"/>
                  <a:gd name="T60" fmla="*/ 206 h 2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1" h="206">
                    <a:moveTo>
                      <a:pt x="33" y="7"/>
                    </a:moveTo>
                    <a:lnTo>
                      <a:pt x="36" y="31"/>
                    </a:lnTo>
                    <a:lnTo>
                      <a:pt x="38" y="56"/>
                    </a:lnTo>
                    <a:lnTo>
                      <a:pt x="40" y="79"/>
                    </a:lnTo>
                    <a:lnTo>
                      <a:pt x="43" y="103"/>
                    </a:lnTo>
                    <a:lnTo>
                      <a:pt x="46" y="127"/>
                    </a:lnTo>
                    <a:lnTo>
                      <a:pt x="51" y="153"/>
                    </a:lnTo>
                    <a:lnTo>
                      <a:pt x="56" y="176"/>
                    </a:lnTo>
                    <a:lnTo>
                      <a:pt x="61" y="202"/>
                    </a:lnTo>
                    <a:lnTo>
                      <a:pt x="30" y="206"/>
                    </a:lnTo>
                    <a:lnTo>
                      <a:pt x="24" y="181"/>
                    </a:lnTo>
                    <a:lnTo>
                      <a:pt x="18" y="155"/>
                    </a:lnTo>
                    <a:lnTo>
                      <a:pt x="14" y="128"/>
                    </a:lnTo>
                    <a:lnTo>
                      <a:pt x="11" y="103"/>
                    </a:lnTo>
                    <a:lnTo>
                      <a:pt x="7" y="77"/>
                    </a:lnTo>
                    <a:lnTo>
                      <a:pt x="5" y="51"/>
                    </a:lnTo>
                    <a:lnTo>
                      <a:pt x="2" y="26"/>
                    </a:lnTo>
                    <a:lnTo>
                      <a:pt x="0" y="0"/>
                    </a:lnTo>
                    <a:lnTo>
                      <a:pt x="3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54" name="Freeform 275"/>
              <p:cNvSpPr>
                <a:spLocks/>
              </p:cNvSpPr>
              <p:nvPr/>
            </p:nvSpPr>
            <p:spPr bwMode="auto">
              <a:xfrm>
                <a:off x="2113" y="2295"/>
                <a:ext cx="35" cy="28"/>
              </a:xfrm>
              <a:custGeom>
                <a:avLst/>
                <a:gdLst>
                  <a:gd name="T0" fmla="*/ 1 w 35"/>
                  <a:gd name="T1" fmla="*/ 22 h 28"/>
                  <a:gd name="T2" fmla="*/ 0 w 35"/>
                  <a:gd name="T3" fmla="*/ 0 h 28"/>
                  <a:gd name="T4" fmla="*/ 35 w 35"/>
                  <a:gd name="T5" fmla="*/ 6 h 28"/>
                  <a:gd name="T6" fmla="*/ 35 w 35"/>
                  <a:gd name="T7" fmla="*/ 28 h 28"/>
                  <a:gd name="T8" fmla="*/ 1 w 35"/>
                  <a:gd name="T9" fmla="*/ 22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28"/>
                  <a:gd name="T17" fmla="*/ 35 w 35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28">
                    <a:moveTo>
                      <a:pt x="1" y="22"/>
                    </a:moveTo>
                    <a:lnTo>
                      <a:pt x="0" y="0"/>
                    </a:lnTo>
                    <a:lnTo>
                      <a:pt x="35" y="6"/>
                    </a:lnTo>
                    <a:lnTo>
                      <a:pt x="35" y="28"/>
                    </a:lnTo>
                    <a:lnTo>
                      <a:pt x="1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55" name="Freeform 276"/>
              <p:cNvSpPr>
                <a:spLocks/>
              </p:cNvSpPr>
              <p:nvPr/>
            </p:nvSpPr>
            <p:spPr bwMode="auto">
              <a:xfrm>
                <a:off x="2173" y="2631"/>
                <a:ext cx="102" cy="162"/>
              </a:xfrm>
              <a:custGeom>
                <a:avLst/>
                <a:gdLst>
                  <a:gd name="T0" fmla="*/ 80 w 102"/>
                  <a:gd name="T1" fmla="*/ 0 h 162"/>
                  <a:gd name="T2" fmla="*/ 102 w 102"/>
                  <a:gd name="T3" fmla="*/ 162 h 162"/>
                  <a:gd name="T4" fmla="*/ 0 w 102"/>
                  <a:gd name="T5" fmla="*/ 46 h 162"/>
                  <a:gd name="T6" fmla="*/ 80 w 102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2"/>
                  <a:gd name="T13" fmla="*/ 0 h 162"/>
                  <a:gd name="T14" fmla="*/ 102 w 102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2" h="162">
                    <a:moveTo>
                      <a:pt x="80" y="0"/>
                    </a:moveTo>
                    <a:lnTo>
                      <a:pt x="102" y="162"/>
                    </a:lnTo>
                    <a:lnTo>
                      <a:pt x="0" y="46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56" name="Freeform 277"/>
              <p:cNvSpPr>
                <a:spLocks/>
              </p:cNvSpPr>
              <p:nvPr/>
            </p:nvSpPr>
            <p:spPr bwMode="auto">
              <a:xfrm>
                <a:off x="2248" y="2635"/>
                <a:ext cx="34" cy="176"/>
              </a:xfrm>
              <a:custGeom>
                <a:avLst/>
                <a:gdLst>
                  <a:gd name="T0" fmla="*/ 31 w 34"/>
                  <a:gd name="T1" fmla="*/ 157 h 176"/>
                  <a:gd name="T2" fmla="*/ 23 w 34"/>
                  <a:gd name="T3" fmla="*/ 162 h 176"/>
                  <a:gd name="T4" fmla="*/ 0 w 34"/>
                  <a:gd name="T5" fmla="*/ 0 h 176"/>
                  <a:gd name="T6" fmla="*/ 8 w 34"/>
                  <a:gd name="T7" fmla="*/ 0 h 176"/>
                  <a:gd name="T8" fmla="*/ 32 w 34"/>
                  <a:gd name="T9" fmla="*/ 161 h 176"/>
                  <a:gd name="T10" fmla="*/ 25 w 34"/>
                  <a:gd name="T11" fmla="*/ 165 h 176"/>
                  <a:gd name="T12" fmla="*/ 32 w 34"/>
                  <a:gd name="T13" fmla="*/ 161 h 176"/>
                  <a:gd name="T14" fmla="*/ 34 w 34"/>
                  <a:gd name="T15" fmla="*/ 176 h 176"/>
                  <a:gd name="T16" fmla="*/ 25 w 34"/>
                  <a:gd name="T17" fmla="*/ 165 h 176"/>
                  <a:gd name="T18" fmla="*/ 31 w 34"/>
                  <a:gd name="T19" fmla="*/ 157 h 1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4"/>
                  <a:gd name="T31" fmla="*/ 0 h 176"/>
                  <a:gd name="T32" fmla="*/ 34 w 34"/>
                  <a:gd name="T33" fmla="*/ 176 h 1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4" h="176">
                    <a:moveTo>
                      <a:pt x="31" y="157"/>
                    </a:moveTo>
                    <a:lnTo>
                      <a:pt x="23" y="162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32" y="161"/>
                    </a:lnTo>
                    <a:lnTo>
                      <a:pt x="25" y="165"/>
                    </a:lnTo>
                    <a:lnTo>
                      <a:pt x="32" y="161"/>
                    </a:lnTo>
                    <a:lnTo>
                      <a:pt x="34" y="176"/>
                    </a:lnTo>
                    <a:lnTo>
                      <a:pt x="25" y="165"/>
                    </a:lnTo>
                    <a:lnTo>
                      <a:pt x="31" y="157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57" name="Freeform 278"/>
              <p:cNvSpPr>
                <a:spLocks/>
              </p:cNvSpPr>
              <p:nvPr/>
            </p:nvSpPr>
            <p:spPr bwMode="auto">
              <a:xfrm>
                <a:off x="2165" y="2674"/>
                <a:ext cx="114" cy="125"/>
              </a:xfrm>
              <a:custGeom>
                <a:avLst/>
                <a:gdLst>
                  <a:gd name="T0" fmla="*/ 11 w 114"/>
                  <a:gd name="T1" fmla="*/ 11 h 125"/>
                  <a:gd name="T2" fmla="*/ 11 w 114"/>
                  <a:gd name="T3" fmla="*/ 2 h 125"/>
                  <a:gd name="T4" fmla="*/ 114 w 114"/>
                  <a:gd name="T5" fmla="*/ 116 h 125"/>
                  <a:gd name="T6" fmla="*/ 107 w 114"/>
                  <a:gd name="T7" fmla="*/ 125 h 125"/>
                  <a:gd name="T8" fmla="*/ 6 w 114"/>
                  <a:gd name="T9" fmla="*/ 9 h 125"/>
                  <a:gd name="T10" fmla="*/ 6 w 114"/>
                  <a:gd name="T11" fmla="*/ 0 h 125"/>
                  <a:gd name="T12" fmla="*/ 6 w 114"/>
                  <a:gd name="T13" fmla="*/ 9 h 125"/>
                  <a:gd name="T14" fmla="*/ 0 w 114"/>
                  <a:gd name="T15" fmla="*/ 4 h 125"/>
                  <a:gd name="T16" fmla="*/ 6 w 114"/>
                  <a:gd name="T17" fmla="*/ 0 h 125"/>
                  <a:gd name="T18" fmla="*/ 11 w 114"/>
                  <a:gd name="T19" fmla="*/ 11 h 12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4"/>
                  <a:gd name="T31" fmla="*/ 0 h 125"/>
                  <a:gd name="T32" fmla="*/ 114 w 114"/>
                  <a:gd name="T33" fmla="*/ 125 h 12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4" h="125">
                    <a:moveTo>
                      <a:pt x="11" y="11"/>
                    </a:moveTo>
                    <a:lnTo>
                      <a:pt x="11" y="2"/>
                    </a:lnTo>
                    <a:lnTo>
                      <a:pt x="114" y="116"/>
                    </a:lnTo>
                    <a:lnTo>
                      <a:pt x="107" y="125"/>
                    </a:lnTo>
                    <a:lnTo>
                      <a:pt x="6" y="9"/>
                    </a:lnTo>
                    <a:lnTo>
                      <a:pt x="6" y="0"/>
                    </a:lnTo>
                    <a:lnTo>
                      <a:pt x="6" y="9"/>
                    </a:lnTo>
                    <a:lnTo>
                      <a:pt x="0" y="4"/>
                    </a:lnTo>
                    <a:lnTo>
                      <a:pt x="6" y="0"/>
                    </a:lnTo>
                    <a:lnTo>
                      <a:pt x="11" y="11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58" name="Freeform 279"/>
              <p:cNvSpPr>
                <a:spLocks/>
              </p:cNvSpPr>
              <p:nvPr/>
            </p:nvSpPr>
            <p:spPr bwMode="auto">
              <a:xfrm>
                <a:off x="2169" y="2625"/>
                <a:ext cx="86" cy="60"/>
              </a:xfrm>
              <a:custGeom>
                <a:avLst/>
                <a:gdLst>
                  <a:gd name="T0" fmla="*/ 78 w 86"/>
                  <a:gd name="T1" fmla="*/ 8 h 60"/>
                  <a:gd name="T2" fmla="*/ 84 w 86"/>
                  <a:gd name="T3" fmla="*/ 14 h 60"/>
                  <a:gd name="T4" fmla="*/ 4 w 86"/>
                  <a:gd name="T5" fmla="*/ 60 h 60"/>
                  <a:gd name="T6" fmla="*/ 0 w 86"/>
                  <a:gd name="T7" fmla="*/ 49 h 60"/>
                  <a:gd name="T8" fmla="*/ 80 w 86"/>
                  <a:gd name="T9" fmla="*/ 3 h 60"/>
                  <a:gd name="T10" fmla="*/ 86 w 86"/>
                  <a:gd name="T11" fmla="*/ 8 h 60"/>
                  <a:gd name="T12" fmla="*/ 80 w 86"/>
                  <a:gd name="T13" fmla="*/ 3 h 60"/>
                  <a:gd name="T14" fmla="*/ 84 w 86"/>
                  <a:gd name="T15" fmla="*/ 0 h 60"/>
                  <a:gd name="T16" fmla="*/ 86 w 86"/>
                  <a:gd name="T17" fmla="*/ 8 h 60"/>
                  <a:gd name="T18" fmla="*/ 78 w 86"/>
                  <a:gd name="T19" fmla="*/ 8 h 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6"/>
                  <a:gd name="T31" fmla="*/ 0 h 60"/>
                  <a:gd name="T32" fmla="*/ 86 w 86"/>
                  <a:gd name="T33" fmla="*/ 60 h 6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6" h="60">
                    <a:moveTo>
                      <a:pt x="78" y="8"/>
                    </a:moveTo>
                    <a:lnTo>
                      <a:pt x="84" y="14"/>
                    </a:lnTo>
                    <a:lnTo>
                      <a:pt x="4" y="60"/>
                    </a:lnTo>
                    <a:lnTo>
                      <a:pt x="0" y="49"/>
                    </a:lnTo>
                    <a:lnTo>
                      <a:pt x="80" y="3"/>
                    </a:lnTo>
                    <a:lnTo>
                      <a:pt x="86" y="8"/>
                    </a:lnTo>
                    <a:lnTo>
                      <a:pt x="80" y="3"/>
                    </a:lnTo>
                    <a:lnTo>
                      <a:pt x="84" y="0"/>
                    </a:lnTo>
                    <a:lnTo>
                      <a:pt x="86" y="8"/>
                    </a:lnTo>
                    <a:lnTo>
                      <a:pt x="78" y="8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59" name="Freeform 280"/>
              <p:cNvSpPr>
                <a:spLocks/>
              </p:cNvSpPr>
              <p:nvPr/>
            </p:nvSpPr>
            <p:spPr bwMode="auto">
              <a:xfrm>
                <a:off x="2239" y="2738"/>
                <a:ext cx="32" cy="32"/>
              </a:xfrm>
              <a:custGeom>
                <a:avLst/>
                <a:gdLst>
                  <a:gd name="T0" fmla="*/ 25 w 32"/>
                  <a:gd name="T1" fmla="*/ 0 h 32"/>
                  <a:gd name="T2" fmla="*/ 32 w 32"/>
                  <a:gd name="T3" fmla="*/ 17 h 32"/>
                  <a:gd name="T4" fmla="*/ 10 w 32"/>
                  <a:gd name="T5" fmla="*/ 32 h 32"/>
                  <a:gd name="T6" fmla="*/ 0 w 32"/>
                  <a:gd name="T7" fmla="*/ 15 h 32"/>
                  <a:gd name="T8" fmla="*/ 25 w 32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32"/>
                  <a:gd name="T17" fmla="*/ 32 w 32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32">
                    <a:moveTo>
                      <a:pt x="25" y="0"/>
                    </a:moveTo>
                    <a:lnTo>
                      <a:pt x="32" y="17"/>
                    </a:lnTo>
                    <a:lnTo>
                      <a:pt x="10" y="32"/>
                    </a:lnTo>
                    <a:lnTo>
                      <a:pt x="0" y="15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60" name="Freeform 281"/>
              <p:cNvSpPr>
                <a:spLocks/>
              </p:cNvSpPr>
              <p:nvPr/>
            </p:nvSpPr>
            <p:spPr bwMode="auto">
              <a:xfrm>
                <a:off x="2154" y="2522"/>
                <a:ext cx="104" cy="231"/>
              </a:xfrm>
              <a:custGeom>
                <a:avLst/>
                <a:gdLst>
                  <a:gd name="T0" fmla="*/ 26 w 104"/>
                  <a:gd name="T1" fmla="*/ 0 h 231"/>
                  <a:gd name="T2" fmla="*/ 26 w 104"/>
                  <a:gd name="T3" fmla="*/ 0 h 231"/>
                  <a:gd name="T4" fmla="*/ 33 w 104"/>
                  <a:gd name="T5" fmla="*/ 30 h 231"/>
                  <a:gd name="T6" fmla="*/ 41 w 104"/>
                  <a:gd name="T7" fmla="*/ 57 h 231"/>
                  <a:gd name="T8" fmla="*/ 50 w 104"/>
                  <a:gd name="T9" fmla="*/ 85 h 231"/>
                  <a:gd name="T10" fmla="*/ 61 w 104"/>
                  <a:gd name="T11" fmla="*/ 111 h 231"/>
                  <a:gd name="T12" fmla="*/ 70 w 104"/>
                  <a:gd name="T13" fmla="*/ 139 h 231"/>
                  <a:gd name="T14" fmla="*/ 82 w 104"/>
                  <a:gd name="T15" fmla="*/ 166 h 231"/>
                  <a:gd name="T16" fmla="*/ 93 w 104"/>
                  <a:gd name="T17" fmla="*/ 190 h 231"/>
                  <a:gd name="T18" fmla="*/ 104 w 104"/>
                  <a:gd name="T19" fmla="*/ 215 h 231"/>
                  <a:gd name="T20" fmla="*/ 83 w 104"/>
                  <a:gd name="T21" fmla="*/ 231 h 231"/>
                  <a:gd name="T22" fmla="*/ 69 w 104"/>
                  <a:gd name="T23" fmla="*/ 205 h 231"/>
                  <a:gd name="T24" fmla="*/ 57 w 104"/>
                  <a:gd name="T25" fmla="*/ 176 h 231"/>
                  <a:gd name="T26" fmla="*/ 46 w 104"/>
                  <a:gd name="T27" fmla="*/ 150 h 231"/>
                  <a:gd name="T28" fmla="*/ 35 w 104"/>
                  <a:gd name="T29" fmla="*/ 122 h 231"/>
                  <a:gd name="T30" fmla="*/ 25 w 104"/>
                  <a:gd name="T31" fmla="*/ 93 h 231"/>
                  <a:gd name="T32" fmla="*/ 17 w 104"/>
                  <a:gd name="T33" fmla="*/ 64 h 231"/>
                  <a:gd name="T34" fmla="*/ 7 w 104"/>
                  <a:gd name="T35" fmla="*/ 35 h 231"/>
                  <a:gd name="T36" fmla="*/ 0 w 104"/>
                  <a:gd name="T37" fmla="*/ 5 h 231"/>
                  <a:gd name="T38" fmla="*/ 26 w 104"/>
                  <a:gd name="T39" fmla="*/ 0 h 23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4"/>
                  <a:gd name="T61" fmla="*/ 0 h 231"/>
                  <a:gd name="T62" fmla="*/ 104 w 104"/>
                  <a:gd name="T63" fmla="*/ 231 h 23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4" h="231">
                    <a:moveTo>
                      <a:pt x="26" y="0"/>
                    </a:moveTo>
                    <a:lnTo>
                      <a:pt x="26" y="0"/>
                    </a:lnTo>
                    <a:lnTo>
                      <a:pt x="33" y="30"/>
                    </a:lnTo>
                    <a:lnTo>
                      <a:pt x="41" y="57"/>
                    </a:lnTo>
                    <a:lnTo>
                      <a:pt x="50" y="85"/>
                    </a:lnTo>
                    <a:lnTo>
                      <a:pt x="61" y="111"/>
                    </a:lnTo>
                    <a:lnTo>
                      <a:pt x="70" y="139"/>
                    </a:lnTo>
                    <a:lnTo>
                      <a:pt x="82" y="166"/>
                    </a:lnTo>
                    <a:lnTo>
                      <a:pt x="93" y="190"/>
                    </a:lnTo>
                    <a:lnTo>
                      <a:pt x="104" y="215"/>
                    </a:lnTo>
                    <a:lnTo>
                      <a:pt x="83" y="231"/>
                    </a:lnTo>
                    <a:lnTo>
                      <a:pt x="69" y="205"/>
                    </a:lnTo>
                    <a:lnTo>
                      <a:pt x="57" y="176"/>
                    </a:lnTo>
                    <a:lnTo>
                      <a:pt x="46" y="150"/>
                    </a:lnTo>
                    <a:lnTo>
                      <a:pt x="35" y="122"/>
                    </a:lnTo>
                    <a:lnTo>
                      <a:pt x="25" y="93"/>
                    </a:lnTo>
                    <a:lnTo>
                      <a:pt x="17" y="64"/>
                    </a:lnTo>
                    <a:lnTo>
                      <a:pt x="7" y="35"/>
                    </a:lnTo>
                    <a:lnTo>
                      <a:pt x="0" y="5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61" name="Freeform 282"/>
              <p:cNvSpPr>
                <a:spLocks/>
              </p:cNvSpPr>
              <p:nvPr/>
            </p:nvSpPr>
            <p:spPr bwMode="auto">
              <a:xfrm>
                <a:off x="2120" y="2320"/>
                <a:ext cx="55" cy="205"/>
              </a:xfrm>
              <a:custGeom>
                <a:avLst/>
                <a:gdLst>
                  <a:gd name="T0" fmla="*/ 29 w 55"/>
                  <a:gd name="T1" fmla="*/ 5 h 205"/>
                  <a:gd name="T2" fmla="*/ 30 w 55"/>
                  <a:gd name="T3" fmla="*/ 28 h 205"/>
                  <a:gd name="T4" fmla="*/ 31 w 55"/>
                  <a:gd name="T5" fmla="*/ 54 h 205"/>
                  <a:gd name="T6" fmla="*/ 34 w 55"/>
                  <a:gd name="T7" fmla="*/ 77 h 205"/>
                  <a:gd name="T8" fmla="*/ 37 w 55"/>
                  <a:gd name="T9" fmla="*/ 102 h 205"/>
                  <a:gd name="T10" fmla="*/ 40 w 55"/>
                  <a:gd name="T11" fmla="*/ 126 h 205"/>
                  <a:gd name="T12" fmla="*/ 44 w 55"/>
                  <a:gd name="T13" fmla="*/ 151 h 205"/>
                  <a:gd name="T14" fmla="*/ 51 w 55"/>
                  <a:gd name="T15" fmla="*/ 175 h 205"/>
                  <a:gd name="T16" fmla="*/ 55 w 55"/>
                  <a:gd name="T17" fmla="*/ 201 h 205"/>
                  <a:gd name="T18" fmla="*/ 29 w 55"/>
                  <a:gd name="T19" fmla="*/ 205 h 205"/>
                  <a:gd name="T20" fmla="*/ 23 w 55"/>
                  <a:gd name="T21" fmla="*/ 180 h 205"/>
                  <a:gd name="T22" fmla="*/ 18 w 55"/>
                  <a:gd name="T23" fmla="*/ 154 h 205"/>
                  <a:gd name="T24" fmla="*/ 13 w 55"/>
                  <a:gd name="T25" fmla="*/ 126 h 205"/>
                  <a:gd name="T26" fmla="*/ 9 w 55"/>
                  <a:gd name="T27" fmla="*/ 102 h 205"/>
                  <a:gd name="T28" fmla="*/ 6 w 55"/>
                  <a:gd name="T29" fmla="*/ 76 h 205"/>
                  <a:gd name="T30" fmla="*/ 4 w 55"/>
                  <a:gd name="T31" fmla="*/ 50 h 205"/>
                  <a:gd name="T32" fmla="*/ 2 w 55"/>
                  <a:gd name="T33" fmla="*/ 25 h 205"/>
                  <a:gd name="T34" fmla="*/ 0 w 55"/>
                  <a:gd name="T35" fmla="*/ 0 h 205"/>
                  <a:gd name="T36" fmla="*/ 29 w 55"/>
                  <a:gd name="T37" fmla="*/ 5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5"/>
                  <a:gd name="T58" fmla="*/ 0 h 205"/>
                  <a:gd name="T59" fmla="*/ 55 w 55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5" h="205">
                    <a:moveTo>
                      <a:pt x="29" y="5"/>
                    </a:moveTo>
                    <a:lnTo>
                      <a:pt x="30" y="28"/>
                    </a:lnTo>
                    <a:lnTo>
                      <a:pt x="31" y="54"/>
                    </a:lnTo>
                    <a:lnTo>
                      <a:pt x="34" y="77"/>
                    </a:lnTo>
                    <a:lnTo>
                      <a:pt x="37" y="102"/>
                    </a:lnTo>
                    <a:lnTo>
                      <a:pt x="40" y="126"/>
                    </a:lnTo>
                    <a:lnTo>
                      <a:pt x="44" y="151"/>
                    </a:lnTo>
                    <a:lnTo>
                      <a:pt x="51" y="175"/>
                    </a:lnTo>
                    <a:lnTo>
                      <a:pt x="55" y="201"/>
                    </a:lnTo>
                    <a:lnTo>
                      <a:pt x="29" y="205"/>
                    </a:lnTo>
                    <a:lnTo>
                      <a:pt x="23" y="180"/>
                    </a:lnTo>
                    <a:lnTo>
                      <a:pt x="18" y="154"/>
                    </a:lnTo>
                    <a:lnTo>
                      <a:pt x="13" y="126"/>
                    </a:lnTo>
                    <a:lnTo>
                      <a:pt x="9" y="102"/>
                    </a:lnTo>
                    <a:lnTo>
                      <a:pt x="6" y="76"/>
                    </a:lnTo>
                    <a:lnTo>
                      <a:pt x="4" y="50"/>
                    </a:lnTo>
                    <a:lnTo>
                      <a:pt x="2" y="25"/>
                    </a:lnTo>
                    <a:lnTo>
                      <a:pt x="0" y="0"/>
                    </a:lnTo>
                    <a:lnTo>
                      <a:pt x="29" y="5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62" name="Freeform 283"/>
              <p:cNvSpPr>
                <a:spLocks/>
              </p:cNvSpPr>
              <p:nvPr/>
            </p:nvSpPr>
            <p:spPr bwMode="auto">
              <a:xfrm>
                <a:off x="2115" y="2301"/>
                <a:ext cx="31" cy="22"/>
              </a:xfrm>
              <a:custGeom>
                <a:avLst/>
                <a:gdLst>
                  <a:gd name="T0" fmla="*/ 1 w 31"/>
                  <a:gd name="T1" fmla="*/ 18 h 22"/>
                  <a:gd name="T2" fmla="*/ 0 w 31"/>
                  <a:gd name="T3" fmla="*/ 0 h 22"/>
                  <a:gd name="T4" fmla="*/ 30 w 31"/>
                  <a:gd name="T5" fmla="*/ 4 h 22"/>
                  <a:gd name="T6" fmla="*/ 31 w 31"/>
                  <a:gd name="T7" fmla="*/ 22 h 22"/>
                  <a:gd name="T8" fmla="*/ 1 w 31"/>
                  <a:gd name="T9" fmla="*/ 18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22"/>
                  <a:gd name="T17" fmla="*/ 31 w 31"/>
                  <a:gd name="T18" fmla="*/ 22 h 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22">
                    <a:moveTo>
                      <a:pt x="1" y="18"/>
                    </a:moveTo>
                    <a:lnTo>
                      <a:pt x="0" y="0"/>
                    </a:lnTo>
                    <a:lnTo>
                      <a:pt x="30" y="4"/>
                    </a:lnTo>
                    <a:lnTo>
                      <a:pt x="31" y="22"/>
                    </a:lnTo>
                    <a:lnTo>
                      <a:pt x="1" y="18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63" name="Freeform 284"/>
              <p:cNvSpPr>
                <a:spLocks/>
              </p:cNvSpPr>
              <p:nvPr/>
            </p:nvSpPr>
            <p:spPr bwMode="auto">
              <a:xfrm>
                <a:off x="2190" y="2665"/>
                <a:ext cx="106" cy="163"/>
              </a:xfrm>
              <a:custGeom>
                <a:avLst/>
                <a:gdLst>
                  <a:gd name="T0" fmla="*/ 75 w 106"/>
                  <a:gd name="T1" fmla="*/ 0 h 163"/>
                  <a:gd name="T2" fmla="*/ 106 w 106"/>
                  <a:gd name="T3" fmla="*/ 163 h 163"/>
                  <a:gd name="T4" fmla="*/ 0 w 106"/>
                  <a:gd name="T5" fmla="*/ 54 h 163"/>
                  <a:gd name="T6" fmla="*/ 75 w 106"/>
                  <a:gd name="T7" fmla="*/ 0 h 1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6"/>
                  <a:gd name="T13" fmla="*/ 0 h 163"/>
                  <a:gd name="T14" fmla="*/ 106 w 106"/>
                  <a:gd name="T15" fmla="*/ 163 h 1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6" h="163">
                    <a:moveTo>
                      <a:pt x="75" y="0"/>
                    </a:moveTo>
                    <a:lnTo>
                      <a:pt x="106" y="163"/>
                    </a:lnTo>
                    <a:lnTo>
                      <a:pt x="0" y="54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64" name="Freeform 285"/>
              <p:cNvSpPr>
                <a:spLocks/>
              </p:cNvSpPr>
              <p:nvPr/>
            </p:nvSpPr>
            <p:spPr bwMode="auto">
              <a:xfrm>
                <a:off x="2259" y="2665"/>
                <a:ext cx="48" cy="188"/>
              </a:xfrm>
              <a:custGeom>
                <a:avLst/>
                <a:gdLst>
                  <a:gd name="T0" fmla="*/ 41 w 48"/>
                  <a:gd name="T1" fmla="*/ 156 h 188"/>
                  <a:gd name="T2" fmla="*/ 29 w 48"/>
                  <a:gd name="T3" fmla="*/ 165 h 188"/>
                  <a:gd name="T4" fmla="*/ 0 w 48"/>
                  <a:gd name="T5" fmla="*/ 1 h 188"/>
                  <a:gd name="T6" fmla="*/ 15 w 48"/>
                  <a:gd name="T7" fmla="*/ 0 h 188"/>
                  <a:gd name="T8" fmla="*/ 44 w 48"/>
                  <a:gd name="T9" fmla="*/ 164 h 188"/>
                  <a:gd name="T10" fmla="*/ 32 w 48"/>
                  <a:gd name="T11" fmla="*/ 171 h 188"/>
                  <a:gd name="T12" fmla="*/ 44 w 48"/>
                  <a:gd name="T13" fmla="*/ 164 h 188"/>
                  <a:gd name="T14" fmla="*/ 48 w 48"/>
                  <a:gd name="T15" fmla="*/ 188 h 188"/>
                  <a:gd name="T16" fmla="*/ 32 w 48"/>
                  <a:gd name="T17" fmla="*/ 171 h 188"/>
                  <a:gd name="T18" fmla="*/ 41 w 48"/>
                  <a:gd name="T19" fmla="*/ 156 h 1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8"/>
                  <a:gd name="T31" fmla="*/ 0 h 188"/>
                  <a:gd name="T32" fmla="*/ 48 w 48"/>
                  <a:gd name="T33" fmla="*/ 188 h 18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8" h="188">
                    <a:moveTo>
                      <a:pt x="41" y="156"/>
                    </a:moveTo>
                    <a:lnTo>
                      <a:pt x="29" y="165"/>
                    </a:lnTo>
                    <a:lnTo>
                      <a:pt x="0" y="1"/>
                    </a:lnTo>
                    <a:lnTo>
                      <a:pt x="15" y="0"/>
                    </a:lnTo>
                    <a:lnTo>
                      <a:pt x="44" y="164"/>
                    </a:lnTo>
                    <a:lnTo>
                      <a:pt x="32" y="171"/>
                    </a:lnTo>
                    <a:lnTo>
                      <a:pt x="44" y="164"/>
                    </a:lnTo>
                    <a:lnTo>
                      <a:pt x="48" y="188"/>
                    </a:lnTo>
                    <a:lnTo>
                      <a:pt x="32" y="171"/>
                    </a:lnTo>
                    <a:lnTo>
                      <a:pt x="41" y="15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65" name="Freeform 286"/>
              <p:cNvSpPr>
                <a:spLocks/>
              </p:cNvSpPr>
              <p:nvPr/>
            </p:nvSpPr>
            <p:spPr bwMode="auto">
              <a:xfrm>
                <a:off x="2177" y="2710"/>
                <a:ext cx="123" cy="126"/>
              </a:xfrm>
              <a:custGeom>
                <a:avLst/>
                <a:gdLst>
                  <a:gd name="T0" fmla="*/ 18 w 123"/>
                  <a:gd name="T1" fmla="*/ 19 h 126"/>
                  <a:gd name="T2" fmla="*/ 18 w 123"/>
                  <a:gd name="T3" fmla="*/ 2 h 126"/>
                  <a:gd name="T4" fmla="*/ 123 w 123"/>
                  <a:gd name="T5" fmla="*/ 113 h 126"/>
                  <a:gd name="T6" fmla="*/ 114 w 123"/>
                  <a:gd name="T7" fmla="*/ 126 h 126"/>
                  <a:gd name="T8" fmla="*/ 11 w 123"/>
                  <a:gd name="T9" fmla="*/ 17 h 126"/>
                  <a:gd name="T10" fmla="*/ 9 w 123"/>
                  <a:gd name="T11" fmla="*/ 0 h 126"/>
                  <a:gd name="T12" fmla="*/ 11 w 123"/>
                  <a:gd name="T13" fmla="*/ 17 h 126"/>
                  <a:gd name="T14" fmla="*/ 0 w 123"/>
                  <a:gd name="T15" fmla="*/ 7 h 126"/>
                  <a:gd name="T16" fmla="*/ 9 w 123"/>
                  <a:gd name="T17" fmla="*/ 0 h 126"/>
                  <a:gd name="T18" fmla="*/ 18 w 123"/>
                  <a:gd name="T19" fmla="*/ 19 h 12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3"/>
                  <a:gd name="T31" fmla="*/ 0 h 126"/>
                  <a:gd name="T32" fmla="*/ 123 w 123"/>
                  <a:gd name="T33" fmla="*/ 126 h 12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3" h="126">
                    <a:moveTo>
                      <a:pt x="18" y="19"/>
                    </a:moveTo>
                    <a:lnTo>
                      <a:pt x="18" y="2"/>
                    </a:lnTo>
                    <a:lnTo>
                      <a:pt x="123" y="113"/>
                    </a:lnTo>
                    <a:lnTo>
                      <a:pt x="114" y="126"/>
                    </a:lnTo>
                    <a:lnTo>
                      <a:pt x="11" y="17"/>
                    </a:lnTo>
                    <a:lnTo>
                      <a:pt x="9" y="0"/>
                    </a:lnTo>
                    <a:lnTo>
                      <a:pt x="11" y="17"/>
                    </a:lnTo>
                    <a:lnTo>
                      <a:pt x="0" y="7"/>
                    </a:lnTo>
                    <a:lnTo>
                      <a:pt x="9" y="0"/>
                    </a:lnTo>
                    <a:lnTo>
                      <a:pt x="18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66" name="Freeform 287"/>
              <p:cNvSpPr>
                <a:spLocks/>
              </p:cNvSpPr>
              <p:nvPr/>
            </p:nvSpPr>
            <p:spPr bwMode="auto">
              <a:xfrm>
                <a:off x="2184" y="2649"/>
                <a:ext cx="88" cy="79"/>
              </a:xfrm>
              <a:custGeom>
                <a:avLst/>
                <a:gdLst>
                  <a:gd name="T0" fmla="*/ 73 w 88"/>
                  <a:gd name="T1" fmla="*/ 17 h 79"/>
                  <a:gd name="T2" fmla="*/ 86 w 88"/>
                  <a:gd name="T3" fmla="*/ 26 h 79"/>
                  <a:gd name="T4" fmla="*/ 8 w 88"/>
                  <a:gd name="T5" fmla="*/ 79 h 79"/>
                  <a:gd name="T6" fmla="*/ 0 w 88"/>
                  <a:gd name="T7" fmla="*/ 60 h 79"/>
                  <a:gd name="T8" fmla="*/ 76 w 88"/>
                  <a:gd name="T9" fmla="*/ 7 h 79"/>
                  <a:gd name="T10" fmla="*/ 88 w 88"/>
                  <a:gd name="T11" fmla="*/ 16 h 79"/>
                  <a:gd name="T12" fmla="*/ 76 w 88"/>
                  <a:gd name="T13" fmla="*/ 7 h 79"/>
                  <a:gd name="T14" fmla="*/ 86 w 88"/>
                  <a:gd name="T15" fmla="*/ 0 h 79"/>
                  <a:gd name="T16" fmla="*/ 88 w 88"/>
                  <a:gd name="T17" fmla="*/ 16 h 79"/>
                  <a:gd name="T18" fmla="*/ 73 w 88"/>
                  <a:gd name="T19" fmla="*/ 17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8"/>
                  <a:gd name="T31" fmla="*/ 0 h 79"/>
                  <a:gd name="T32" fmla="*/ 88 w 88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8" h="79">
                    <a:moveTo>
                      <a:pt x="73" y="17"/>
                    </a:moveTo>
                    <a:lnTo>
                      <a:pt x="86" y="26"/>
                    </a:lnTo>
                    <a:lnTo>
                      <a:pt x="8" y="79"/>
                    </a:lnTo>
                    <a:lnTo>
                      <a:pt x="0" y="60"/>
                    </a:lnTo>
                    <a:lnTo>
                      <a:pt x="76" y="7"/>
                    </a:lnTo>
                    <a:lnTo>
                      <a:pt x="88" y="16"/>
                    </a:lnTo>
                    <a:lnTo>
                      <a:pt x="76" y="7"/>
                    </a:lnTo>
                    <a:lnTo>
                      <a:pt x="86" y="0"/>
                    </a:lnTo>
                    <a:lnTo>
                      <a:pt x="88" y="16"/>
                    </a:lnTo>
                    <a:lnTo>
                      <a:pt x="73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67" name="Freeform 288"/>
              <p:cNvSpPr>
                <a:spLocks/>
              </p:cNvSpPr>
              <p:nvPr/>
            </p:nvSpPr>
            <p:spPr bwMode="auto">
              <a:xfrm>
                <a:off x="2255" y="2771"/>
                <a:ext cx="38" cy="40"/>
              </a:xfrm>
              <a:custGeom>
                <a:avLst/>
                <a:gdLst>
                  <a:gd name="T0" fmla="*/ 27 w 38"/>
                  <a:gd name="T1" fmla="*/ 0 h 40"/>
                  <a:gd name="T2" fmla="*/ 38 w 38"/>
                  <a:gd name="T3" fmla="*/ 19 h 40"/>
                  <a:gd name="T4" fmla="*/ 11 w 38"/>
                  <a:gd name="T5" fmla="*/ 40 h 40"/>
                  <a:gd name="T6" fmla="*/ 0 w 38"/>
                  <a:gd name="T7" fmla="*/ 20 h 40"/>
                  <a:gd name="T8" fmla="*/ 27 w 38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40"/>
                  <a:gd name="T17" fmla="*/ 38 w 38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40">
                    <a:moveTo>
                      <a:pt x="27" y="0"/>
                    </a:moveTo>
                    <a:lnTo>
                      <a:pt x="38" y="19"/>
                    </a:lnTo>
                    <a:lnTo>
                      <a:pt x="11" y="40"/>
                    </a:lnTo>
                    <a:lnTo>
                      <a:pt x="0" y="2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68" name="Freeform 289"/>
              <p:cNvSpPr>
                <a:spLocks/>
              </p:cNvSpPr>
              <p:nvPr/>
            </p:nvSpPr>
            <p:spPr bwMode="auto">
              <a:xfrm>
                <a:off x="2163" y="2558"/>
                <a:ext cx="117" cy="231"/>
              </a:xfrm>
              <a:custGeom>
                <a:avLst/>
                <a:gdLst>
                  <a:gd name="T0" fmla="*/ 31 w 117"/>
                  <a:gd name="T1" fmla="*/ 0 h 231"/>
                  <a:gd name="T2" fmla="*/ 31 w 117"/>
                  <a:gd name="T3" fmla="*/ 0 h 231"/>
                  <a:gd name="T4" fmla="*/ 40 w 117"/>
                  <a:gd name="T5" fmla="*/ 28 h 231"/>
                  <a:gd name="T6" fmla="*/ 49 w 117"/>
                  <a:gd name="T7" fmla="*/ 57 h 231"/>
                  <a:gd name="T8" fmla="*/ 58 w 117"/>
                  <a:gd name="T9" fmla="*/ 84 h 231"/>
                  <a:gd name="T10" fmla="*/ 70 w 117"/>
                  <a:gd name="T11" fmla="*/ 111 h 231"/>
                  <a:gd name="T12" fmla="*/ 79 w 117"/>
                  <a:gd name="T13" fmla="*/ 137 h 231"/>
                  <a:gd name="T14" fmla="*/ 92 w 117"/>
                  <a:gd name="T15" fmla="*/ 162 h 231"/>
                  <a:gd name="T16" fmla="*/ 104 w 117"/>
                  <a:gd name="T17" fmla="*/ 187 h 231"/>
                  <a:gd name="T18" fmla="*/ 117 w 117"/>
                  <a:gd name="T19" fmla="*/ 212 h 231"/>
                  <a:gd name="T20" fmla="*/ 92 w 117"/>
                  <a:gd name="T21" fmla="*/ 231 h 231"/>
                  <a:gd name="T22" fmla="*/ 78 w 117"/>
                  <a:gd name="T23" fmla="*/ 206 h 231"/>
                  <a:gd name="T24" fmla="*/ 64 w 117"/>
                  <a:gd name="T25" fmla="*/ 180 h 231"/>
                  <a:gd name="T26" fmla="*/ 52 w 117"/>
                  <a:gd name="T27" fmla="*/ 153 h 231"/>
                  <a:gd name="T28" fmla="*/ 40 w 117"/>
                  <a:gd name="T29" fmla="*/ 124 h 231"/>
                  <a:gd name="T30" fmla="*/ 29 w 117"/>
                  <a:gd name="T31" fmla="*/ 97 h 231"/>
                  <a:gd name="T32" fmla="*/ 18 w 117"/>
                  <a:gd name="T33" fmla="*/ 67 h 231"/>
                  <a:gd name="T34" fmla="*/ 9 w 117"/>
                  <a:gd name="T35" fmla="*/ 39 h 231"/>
                  <a:gd name="T36" fmla="*/ 0 w 117"/>
                  <a:gd name="T37" fmla="*/ 9 h 231"/>
                  <a:gd name="T38" fmla="*/ 31 w 117"/>
                  <a:gd name="T39" fmla="*/ 0 h 23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7"/>
                  <a:gd name="T61" fmla="*/ 0 h 231"/>
                  <a:gd name="T62" fmla="*/ 117 w 117"/>
                  <a:gd name="T63" fmla="*/ 231 h 23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7" h="231">
                    <a:moveTo>
                      <a:pt x="31" y="0"/>
                    </a:moveTo>
                    <a:lnTo>
                      <a:pt x="31" y="0"/>
                    </a:lnTo>
                    <a:lnTo>
                      <a:pt x="40" y="28"/>
                    </a:lnTo>
                    <a:lnTo>
                      <a:pt x="49" y="57"/>
                    </a:lnTo>
                    <a:lnTo>
                      <a:pt x="58" y="84"/>
                    </a:lnTo>
                    <a:lnTo>
                      <a:pt x="70" y="111"/>
                    </a:lnTo>
                    <a:lnTo>
                      <a:pt x="79" y="137"/>
                    </a:lnTo>
                    <a:lnTo>
                      <a:pt x="92" y="162"/>
                    </a:lnTo>
                    <a:lnTo>
                      <a:pt x="104" y="187"/>
                    </a:lnTo>
                    <a:lnTo>
                      <a:pt x="117" y="212"/>
                    </a:lnTo>
                    <a:lnTo>
                      <a:pt x="92" y="231"/>
                    </a:lnTo>
                    <a:lnTo>
                      <a:pt x="78" y="206"/>
                    </a:lnTo>
                    <a:lnTo>
                      <a:pt x="64" y="180"/>
                    </a:lnTo>
                    <a:lnTo>
                      <a:pt x="52" y="153"/>
                    </a:lnTo>
                    <a:lnTo>
                      <a:pt x="40" y="124"/>
                    </a:lnTo>
                    <a:lnTo>
                      <a:pt x="29" y="97"/>
                    </a:lnTo>
                    <a:lnTo>
                      <a:pt x="18" y="67"/>
                    </a:lnTo>
                    <a:lnTo>
                      <a:pt x="9" y="39"/>
                    </a:lnTo>
                    <a:lnTo>
                      <a:pt x="0" y="9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69" name="Freeform 290"/>
              <p:cNvSpPr>
                <a:spLocks/>
              </p:cNvSpPr>
              <p:nvPr/>
            </p:nvSpPr>
            <p:spPr bwMode="auto">
              <a:xfrm>
                <a:off x="2123" y="2358"/>
                <a:ext cx="67" cy="207"/>
              </a:xfrm>
              <a:custGeom>
                <a:avLst/>
                <a:gdLst>
                  <a:gd name="T0" fmla="*/ 31 w 67"/>
                  <a:gd name="T1" fmla="*/ 4 h 207"/>
                  <a:gd name="T2" fmla="*/ 34 w 67"/>
                  <a:gd name="T3" fmla="*/ 27 h 207"/>
                  <a:gd name="T4" fmla="*/ 37 w 67"/>
                  <a:gd name="T5" fmla="*/ 51 h 207"/>
                  <a:gd name="T6" fmla="*/ 40 w 67"/>
                  <a:gd name="T7" fmla="*/ 77 h 207"/>
                  <a:gd name="T8" fmla="*/ 45 w 67"/>
                  <a:gd name="T9" fmla="*/ 101 h 207"/>
                  <a:gd name="T10" fmla="*/ 49 w 67"/>
                  <a:gd name="T11" fmla="*/ 125 h 207"/>
                  <a:gd name="T12" fmla="*/ 55 w 67"/>
                  <a:gd name="T13" fmla="*/ 150 h 207"/>
                  <a:gd name="T14" fmla="*/ 61 w 67"/>
                  <a:gd name="T15" fmla="*/ 175 h 207"/>
                  <a:gd name="T16" fmla="*/ 67 w 67"/>
                  <a:gd name="T17" fmla="*/ 199 h 207"/>
                  <a:gd name="T18" fmla="*/ 37 w 67"/>
                  <a:gd name="T19" fmla="*/ 207 h 207"/>
                  <a:gd name="T20" fmla="*/ 31 w 67"/>
                  <a:gd name="T21" fmla="*/ 180 h 207"/>
                  <a:gd name="T22" fmla="*/ 23 w 67"/>
                  <a:gd name="T23" fmla="*/ 153 h 207"/>
                  <a:gd name="T24" fmla="*/ 18 w 67"/>
                  <a:gd name="T25" fmla="*/ 128 h 207"/>
                  <a:gd name="T26" fmla="*/ 11 w 67"/>
                  <a:gd name="T27" fmla="*/ 102 h 207"/>
                  <a:gd name="T28" fmla="*/ 8 w 67"/>
                  <a:gd name="T29" fmla="*/ 77 h 207"/>
                  <a:gd name="T30" fmla="*/ 4 w 67"/>
                  <a:gd name="T31" fmla="*/ 51 h 207"/>
                  <a:gd name="T32" fmla="*/ 1 w 67"/>
                  <a:gd name="T33" fmla="*/ 24 h 207"/>
                  <a:gd name="T34" fmla="*/ 0 w 67"/>
                  <a:gd name="T35" fmla="*/ 0 h 207"/>
                  <a:gd name="T36" fmla="*/ 31 w 67"/>
                  <a:gd name="T37" fmla="*/ 4 h 20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7"/>
                  <a:gd name="T58" fmla="*/ 0 h 207"/>
                  <a:gd name="T59" fmla="*/ 67 w 67"/>
                  <a:gd name="T60" fmla="*/ 207 h 20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7" h="207">
                    <a:moveTo>
                      <a:pt x="31" y="4"/>
                    </a:moveTo>
                    <a:lnTo>
                      <a:pt x="34" y="27"/>
                    </a:lnTo>
                    <a:lnTo>
                      <a:pt x="37" y="51"/>
                    </a:lnTo>
                    <a:lnTo>
                      <a:pt x="40" y="77"/>
                    </a:lnTo>
                    <a:lnTo>
                      <a:pt x="45" y="101"/>
                    </a:lnTo>
                    <a:lnTo>
                      <a:pt x="49" y="125"/>
                    </a:lnTo>
                    <a:lnTo>
                      <a:pt x="55" y="150"/>
                    </a:lnTo>
                    <a:lnTo>
                      <a:pt x="61" y="175"/>
                    </a:lnTo>
                    <a:lnTo>
                      <a:pt x="67" y="199"/>
                    </a:lnTo>
                    <a:lnTo>
                      <a:pt x="37" y="207"/>
                    </a:lnTo>
                    <a:lnTo>
                      <a:pt x="31" y="180"/>
                    </a:lnTo>
                    <a:lnTo>
                      <a:pt x="23" y="153"/>
                    </a:lnTo>
                    <a:lnTo>
                      <a:pt x="18" y="128"/>
                    </a:lnTo>
                    <a:lnTo>
                      <a:pt x="11" y="102"/>
                    </a:lnTo>
                    <a:lnTo>
                      <a:pt x="8" y="77"/>
                    </a:lnTo>
                    <a:lnTo>
                      <a:pt x="4" y="51"/>
                    </a:lnTo>
                    <a:lnTo>
                      <a:pt x="1" y="24"/>
                    </a:lnTo>
                    <a:lnTo>
                      <a:pt x="0" y="0"/>
                    </a:lnTo>
                    <a:lnTo>
                      <a:pt x="3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70" name="Freeform 291"/>
              <p:cNvSpPr>
                <a:spLocks/>
              </p:cNvSpPr>
              <p:nvPr/>
            </p:nvSpPr>
            <p:spPr bwMode="auto">
              <a:xfrm>
                <a:off x="2118" y="2334"/>
                <a:ext cx="36" cy="27"/>
              </a:xfrm>
              <a:custGeom>
                <a:avLst/>
                <a:gdLst>
                  <a:gd name="T0" fmla="*/ 2 w 36"/>
                  <a:gd name="T1" fmla="*/ 23 h 27"/>
                  <a:gd name="T2" fmla="*/ 0 w 36"/>
                  <a:gd name="T3" fmla="*/ 0 h 27"/>
                  <a:gd name="T4" fmla="*/ 33 w 36"/>
                  <a:gd name="T5" fmla="*/ 4 h 27"/>
                  <a:gd name="T6" fmla="*/ 36 w 36"/>
                  <a:gd name="T7" fmla="*/ 27 h 27"/>
                  <a:gd name="T8" fmla="*/ 2 w 36"/>
                  <a:gd name="T9" fmla="*/ 23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27"/>
                  <a:gd name="T17" fmla="*/ 36 w 36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27">
                    <a:moveTo>
                      <a:pt x="2" y="23"/>
                    </a:moveTo>
                    <a:lnTo>
                      <a:pt x="0" y="0"/>
                    </a:lnTo>
                    <a:lnTo>
                      <a:pt x="33" y="4"/>
                    </a:lnTo>
                    <a:lnTo>
                      <a:pt x="36" y="27"/>
                    </a:lnTo>
                    <a:lnTo>
                      <a:pt x="2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71" name="Freeform 292"/>
              <p:cNvSpPr>
                <a:spLocks/>
              </p:cNvSpPr>
              <p:nvPr/>
            </p:nvSpPr>
            <p:spPr bwMode="auto">
              <a:xfrm>
                <a:off x="2190" y="2665"/>
                <a:ext cx="106" cy="163"/>
              </a:xfrm>
              <a:custGeom>
                <a:avLst/>
                <a:gdLst>
                  <a:gd name="T0" fmla="*/ 75 w 106"/>
                  <a:gd name="T1" fmla="*/ 0 h 163"/>
                  <a:gd name="T2" fmla="*/ 106 w 106"/>
                  <a:gd name="T3" fmla="*/ 163 h 163"/>
                  <a:gd name="T4" fmla="*/ 0 w 106"/>
                  <a:gd name="T5" fmla="*/ 54 h 163"/>
                  <a:gd name="T6" fmla="*/ 75 w 106"/>
                  <a:gd name="T7" fmla="*/ 0 h 1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6"/>
                  <a:gd name="T13" fmla="*/ 0 h 163"/>
                  <a:gd name="T14" fmla="*/ 106 w 106"/>
                  <a:gd name="T15" fmla="*/ 163 h 1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6" h="163">
                    <a:moveTo>
                      <a:pt x="75" y="0"/>
                    </a:moveTo>
                    <a:lnTo>
                      <a:pt x="106" y="163"/>
                    </a:lnTo>
                    <a:lnTo>
                      <a:pt x="0" y="54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72" name="Freeform 293"/>
              <p:cNvSpPr>
                <a:spLocks/>
              </p:cNvSpPr>
              <p:nvPr/>
            </p:nvSpPr>
            <p:spPr bwMode="auto">
              <a:xfrm>
                <a:off x="2263" y="2666"/>
                <a:ext cx="40" cy="178"/>
              </a:xfrm>
              <a:custGeom>
                <a:avLst/>
                <a:gdLst>
                  <a:gd name="T0" fmla="*/ 36 w 40"/>
                  <a:gd name="T1" fmla="*/ 158 h 178"/>
                  <a:gd name="T2" fmla="*/ 28 w 40"/>
                  <a:gd name="T3" fmla="*/ 163 h 178"/>
                  <a:gd name="T4" fmla="*/ 0 w 40"/>
                  <a:gd name="T5" fmla="*/ 0 h 178"/>
                  <a:gd name="T6" fmla="*/ 8 w 40"/>
                  <a:gd name="T7" fmla="*/ 0 h 178"/>
                  <a:gd name="T8" fmla="*/ 38 w 40"/>
                  <a:gd name="T9" fmla="*/ 163 h 178"/>
                  <a:gd name="T10" fmla="*/ 32 w 40"/>
                  <a:gd name="T11" fmla="*/ 167 h 178"/>
                  <a:gd name="T12" fmla="*/ 38 w 40"/>
                  <a:gd name="T13" fmla="*/ 163 h 178"/>
                  <a:gd name="T14" fmla="*/ 40 w 40"/>
                  <a:gd name="T15" fmla="*/ 178 h 178"/>
                  <a:gd name="T16" fmla="*/ 32 w 40"/>
                  <a:gd name="T17" fmla="*/ 167 h 178"/>
                  <a:gd name="T18" fmla="*/ 36 w 40"/>
                  <a:gd name="T19" fmla="*/ 158 h 17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0"/>
                  <a:gd name="T31" fmla="*/ 0 h 178"/>
                  <a:gd name="T32" fmla="*/ 40 w 40"/>
                  <a:gd name="T33" fmla="*/ 178 h 17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0" h="178">
                    <a:moveTo>
                      <a:pt x="36" y="158"/>
                    </a:moveTo>
                    <a:lnTo>
                      <a:pt x="28" y="163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38" y="163"/>
                    </a:lnTo>
                    <a:lnTo>
                      <a:pt x="32" y="167"/>
                    </a:lnTo>
                    <a:lnTo>
                      <a:pt x="38" y="163"/>
                    </a:lnTo>
                    <a:lnTo>
                      <a:pt x="40" y="178"/>
                    </a:lnTo>
                    <a:lnTo>
                      <a:pt x="32" y="167"/>
                    </a:lnTo>
                    <a:lnTo>
                      <a:pt x="36" y="158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73" name="Freeform 294"/>
              <p:cNvSpPr>
                <a:spLocks/>
              </p:cNvSpPr>
              <p:nvPr/>
            </p:nvSpPr>
            <p:spPr bwMode="auto">
              <a:xfrm>
                <a:off x="2184" y="2711"/>
                <a:ext cx="115" cy="120"/>
              </a:xfrm>
              <a:custGeom>
                <a:avLst/>
                <a:gdLst>
                  <a:gd name="T0" fmla="*/ 10 w 115"/>
                  <a:gd name="T1" fmla="*/ 12 h 120"/>
                  <a:gd name="T2" fmla="*/ 10 w 115"/>
                  <a:gd name="T3" fmla="*/ 1 h 120"/>
                  <a:gd name="T4" fmla="*/ 115 w 115"/>
                  <a:gd name="T5" fmla="*/ 112 h 120"/>
                  <a:gd name="T6" fmla="*/ 111 w 115"/>
                  <a:gd name="T7" fmla="*/ 120 h 120"/>
                  <a:gd name="T8" fmla="*/ 5 w 115"/>
                  <a:gd name="T9" fmla="*/ 9 h 120"/>
                  <a:gd name="T10" fmla="*/ 5 w 115"/>
                  <a:gd name="T11" fmla="*/ 0 h 120"/>
                  <a:gd name="T12" fmla="*/ 5 w 115"/>
                  <a:gd name="T13" fmla="*/ 9 h 120"/>
                  <a:gd name="T14" fmla="*/ 0 w 115"/>
                  <a:gd name="T15" fmla="*/ 3 h 120"/>
                  <a:gd name="T16" fmla="*/ 5 w 115"/>
                  <a:gd name="T17" fmla="*/ 0 h 120"/>
                  <a:gd name="T18" fmla="*/ 10 w 115"/>
                  <a:gd name="T19" fmla="*/ 12 h 1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5"/>
                  <a:gd name="T31" fmla="*/ 0 h 120"/>
                  <a:gd name="T32" fmla="*/ 115 w 115"/>
                  <a:gd name="T33" fmla="*/ 120 h 12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5" h="120">
                    <a:moveTo>
                      <a:pt x="10" y="12"/>
                    </a:moveTo>
                    <a:lnTo>
                      <a:pt x="10" y="1"/>
                    </a:lnTo>
                    <a:lnTo>
                      <a:pt x="115" y="112"/>
                    </a:lnTo>
                    <a:lnTo>
                      <a:pt x="111" y="120"/>
                    </a:lnTo>
                    <a:lnTo>
                      <a:pt x="5" y="9"/>
                    </a:lnTo>
                    <a:lnTo>
                      <a:pt x="5" y="0"/>
                    </a:lnTo>
                    <a:lnTo>
                      <a:pt x="5" y="9"/>
                    </a:lnTo>
                    <a:lnTo>
                      <a:pt x="0" y="3"/>
                    </a:lnTo>
                    <a:lnTo>
                      <a:pt x="5" y="0"/>
                    </a:lnTo>
                    <a:lnTo>
                      <a:pt x="10" y="1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74" name="Freeform 295"/>
              <p:cNvSpPr>
                <a:spLocks/>
              </p:cNvSpPr>
              <p:nvPr/>
            </p:nvSpPr>
            <p:spPr bwMode="auto">
              <a:xfrm>
                <a:off x="2185" y="2657"/>
                <a:ext cx="84" cy="67"/>
              </a:xfrm>
              <a:custGeom>
                <a:avLst/>
                <a:gdLst>
                  <a:gd name="T0" fmla="*/ 75 w 84"/>
                  <a:gd name="T1" fmla="*/ 8 h 67"/>
                  <a:gd name="T2" fmla="*/ 82 w 84"/>
                  <a:gd name="T3" fmla="*/ 15 h 67"/>
                  <a:gd name="T4" fmla="*/ 5 w 84"/>
                  <a:gd name="T5" fmla="*/ 67 h 67"/>
                  <a:gd name="T6" fmla="*/ 0 w 84"/>
                  <a:gd name="T7" fmla="*/ 56 h 67"/>
                  <a:gd name="T8" fmla="*/ 75 w 84"/>
                  <a:gd name="T9" fmla="*/ 3 h 67"/>
                  <a:gd name="T10" fmla="*/ 84 w 84"/>
                  <a:gd name="T11" fmla="*/ 8 h 67"/>
                  <a:gd name="T12" fmla="*/ 75 w 84"/>
                  <a:gd name="T13" fmla="*/ 3 h 67"/>
                  <a:gd name="T14" fmla="*/ 82 w 84"/>
                  <a:gd name="T15" fmla="*/ 0 h 67"/>
                  <a:gd name="T16" fmla="*/ 84 w 84"/>
                  <a:gd name="T17" fmla="*/ 8 h 67"/>
                  <a:gd name="T18" fmla="*/ 75 w 84"/>
                  <a:gd name="T19" fmla="*/ 8 h 6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4"/>
                  <a:gd name="T31" fmla="*/ 0 h 67"/>
                  <a:gd name="T32" fmla="*/ 84 w 84"/>
                  <a:gd name="T33" fmla="*/ 67 h 6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4" h="67">
                    <a:moveTo>
                      <a:pt x="75" y="8"/>
                    </a:moveTo>
                    <a:lnTo>
                      <a:pt x="82" y="15"/>
                    </a:lnTo>
                    <a:lnTo>
                      <a:pt x="5" y="67"/>
                    </a:lnTo>
                    <a:lnTo>
                      <a:pt x="0" y="56"/>
                    </a:lnTo>
                    <a:lnTo>
                      <a:pt x="75" y="3"/>
                    </a:lnTo>
                    <a:lnTo>
                      <a:pt x="84" y="8"/>
                    </a:lnTo>
                    <a:lnTo>
                      <a:pt x="75" y="3"/>
                    </a:lnTo>
                    <a:lnTo>
                      <a:pt x="82" y="0"/>
                    </a:lnTo>
                    <a:lnTo>
                      <a:pt x="84" y="8"/>
                    </a:lnTo>
                    <a:lnTo>
                      <a:pt x="75" y="8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75" name="Freeform 296"/>
              <p:cNvSpPr>
                <a:spLocks/>
              </p:cNvSpPr>
              <p:nvPr/>
            </p:nvSpPr>
            <p:spPr bwMode="auto">
              <a:xfrm>
                <a:off x="2250" y="2758"/>
                <a:ext cx="30" cy="32"/>
              </a:xfrm>
              <a:custGeom>
                <a:avLst/>
                <a:gdLst>
                  <a:gd name="T0" fmla="*/ 20 w 30"/>
                  <a:gd name="T1" fmla="*/ 0 h 32"/>
                  <a:gd name="T2" fmla="*/ 30 w 30"/>
                  <a:gd name="T3" fmla="*/ 15 h 32"/>
                  <a:gd name="T4" fmla="*/ 9 w 30"/>
                  <a:gd name="T5" fmla="*/ 32 h 32"/>
                  <a:gd name="T6" fmla="*/ 0 w 30"/>
                  <a:gd name="T7" fmla="*/ 15 h 32"/>
                  <a:gd name="T8" fmla="*/ 20 w 30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2"/>
                  <a:gd name="T17" fmla="*/ 30 w 30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2">
                    <a:moveTo>
                      <a:pt x="20" y="0"/>
                    </a:moveTo>
                    <a:lnTo>
                      <a:pt x="30" y="15"/>
                    </a:lnTo>
                    <a:lnTo>
                      <a:pt x="9" y="32"/>
                    </a:lnTo>
                    <a:lnTo>
                      <a:pt x="0" y="1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76" name="Freeform 297"/>
              <p:cNvSpPr>
                <a:spLocks/>
              </p:cNvSpPr>
              <p:nvPr/>
            </p:nvSpPr>
            <p:spPr bwMode="auto">
              <a:xfrm>
                <a:off x="2157" y="2547"/>
                <a:ext cx="112" cy="229"/>
              </a:xfrm>
              <a:custGeom>
                <a:avLst/>
                <a:gdLst>
                  <a:gd name="T0" fmla="*/ 25 w 112"/>
                  <a:gd name="T1" fmla="*/ 0 h 229"/>
                  <a:gd name="T2" fmla="*/ 25 w 112"/>
                  <a:gd name="T3" fmla="*/ 0 h 229"/>
                  <a:gd name="T4" fmla="*/ 35 w 112"/>
                  <a:gd name="T5" fmla="*/ 27 h 229"/>
                  <a:gd name="T6" fmla="*/ 44 w 112"/>
                  <a:gd name="T7" fmla="*/ 56 h 229"/>
                  <a:gd name="T8" fmla="*/ 54 w 112"/>
                  <a:gd name="T9" fmla="*/ 84 h 229"/>
                  <a:gd name="T10" fmla="*/ 64 w 112"/>
                  <a:gd name="T11" fmla="*/ 111 h 229"/>
                  <a:gd name="T12" fmla="*/ 75 w 112"/>
                  <a:gd name="T13" fmla="*/ 136 h 229"/>
                  <a:gd name="T14" fmla="*/ 86 w 112"/>
                  <a:gd name="T15" fmla="*/ 162 h 229"/>
                  <a:gd name="T16" fmla="*/ 99 w 112"/>
                  <a:gd name="T17" fmla="*/ 188 h 229"/>
                  <a:gd name="T18" fmla="*/ 112 w 112"/>
                  <a:gd name="T19" fmla="*/ 212 h 229"/>
                  <a:gd name="T20" fmla="*/ 91 w 112"/>
                  <a:gd name="T21" fmla="*/ 229 h 229"/>
                  <a:gd name="T22" fmla="*/ 77 w 112"/>
                  <a:gd name="T23" fmla="*/ 204 h 229"/>
                  <a:gd name="T24" fmla="*/ 64 w 112"/>
                  <a:gd name="T25" fmla="*/ 176 h 229"/>
                  <a:gd name="T26" fmla="*/ 51 w 112"/>
                  <a:gd name="T27" fmla="*/ 150 h 229"/>
                  <a:gd name="T28" fmla="*/ 40 w 112"/>
                  <a:gd name="T29" fmla="*/ 120 h 229"/>
                  <a:gd name="T30" fmla="*/ 29 w 112"/>
                  <a:gd name="T31" fmla="*/ 94 h 229"/>
                  <a:gd name="T32" fmla="*/ 19 w 112"/>
                  <a:gd name="T33" fmla="*/ 65 h 229"/>
                  <a:gd name="T34" fmla="*/ 8 w 112"/>
                  <a:gd name="T35" fmla="*/ 36 h 229"/>
                  <a:gd name="T36" fmla="*/ 0 w 112"/>
                  <a:gd name="T37" fmla="*/ 6 h 229"/>
                  <a:gd name="T38" fmla="*/ 25 w 112"/>
                  <a:gd name="T39" fmla="*/ 0 h 22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2"/>
                  <a:gd name="T61" fmla="*/ 0 h 229"/>
                  <a:gd name="T62" fmla="*/ 112 w 112"/>
                  <a:gd name="T63" fmla="*/ 229 h 22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2" h="229">
                    <a:moveTo>
                      <a:pt x="25" y="0"/>
                    </a:moveTo>
                    <a:lnTo>
                      <a:pt x="25" y="0"/>
                    </a:lnTo>
                    <a:lnTo>
                      <a:pt x="35" y="27"/>
                    </a:lnTo>
                    <a:lnTo>
                      <a:pt x="44" y="56"/>
                    </a:lnTo>
                    <a:lnTo>
                      <a:pt x="54" y="84"/>
                    </a:lnTo>
                    <a:lnTo>
                      <a:pt x="64" y="111"/>
                    </a:lnTo>
                    <a:lnTo>
                      <a:pt x="75" y="136"/>
                    </a:lnTo>
                    <a:lnTo>
                      <a:pt x="86" y="162"/>
                    </a:lnTo>
                    <a:lnTo>
                      <a:pt x="99" y="188"/>
                    </a:lnTo>
                    <a:lnTo>
                      <a:pt x="112" y="212"/>
                    </a:lnTo>
                    <a:lnTo>
                      <a:pt x="91" y="229"/>
                    </a:lnTo>
                    <a:lnTo>
                      <a:pt x="77" y="204"/>
                    </a:lnTo>
                    <a:lnTo>
                      <a:pt x="64" y="176"/>
                    </a:lnTo>
                    <a:lnTo>
                      <a:pt x="51" y="150"/>
                    </a:lnTo>
                    <a:lnTo>
                      <a:pt x="40" y="120"/>
                    </a:lnTo>
                    <a:lnTo>
                      <a:pt x="29" y="94"/>
                    </a:lnTo>
                    <a:lnTo>
                      <a:pt x="19" y="65"/>
                    </a:lnTo>
                    <a:lnTo>
                      <a:pt x="8" y="36"/>
                    </a:lnTo>
                    <a:lnTo>
                      <a:pt x="0" y="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77" name="Freeform 298"/>
              <p:cNvSpPr>
                <a:spLocks/>
              </p:cNvSpPr>
              <p:nvPr/>
            </p:nvSpPr>
            <p:spPr bwMode="auto">
              <a:xfrm>
                <a:off x="2115" y="2345"/>
                <a:ext cx="63" cy="205"/>
              </a:xfrm>
              <a:custGeom>
                <a:avLst/>
                <a:gdLst>
                  <a:gd name="T0" fmla="*/ 28 w 63"/>
                  <a:gd name="T1" fmla="*/ 3 h 205"/>
                  <a:gd name="T2" fmla="*/ 31 w 63"/>
                  <a:gd name="T3" fmla="*/ 27 h 205"/>
                  <a:gd name="T4" fmla="*/ 33 w 63"/>
                  <a:gd name="T5" fmla="*/ 51 h 205"/>
                  <a:gd name="T6" fmla="*/ 36 w 63"/>
                  <a:gd name="T7" fmla="*/ 76 h 205"/>
                  <a:gd name="T8" fmla="*/ 41 w 63"/>
                  <a:gd name="T9" fmla="*/ 100 h 205"/>
                  <a:gd name="T10" fmla="*/ 46 w 63"/>
                  <a:gd name="T11" fmla="*/ 124 h 205"/>
                  <a:gd name="T12" fmla="*/ 50 w 63"/>
                  <a:gd name="T13" fmla="*/ 148 h 205"/>
                  <a:gd name="T14" fmla="*/ 57 w 63"/>
                  <a:gd name="T15" fmla="*/ 173 h 205"/>
                  <a:gd name="T16" fmla="*/ 63 w 63"/>
                  <a:gd name="T17" fmla="*/ 199 h 205"/>
                  <a:gd name="T18" fmla="*/ 39 w 63"/>
                  <a:gd name="T19" fmla="*/ 205 h 205"/>
                  <a:gd name="T20" fmla="*/ 30 w 63"/>
                  <a:gd name="T21" fmla="*/ 179 h 205"/>
                  <a:gd name="T22" fmla="*/ 25 w 63"/>
                  <a:gd name="T23" fmla="*/ 154 h 205"/>
                  <a:gd name="T24" fmla="*/ 18 w 63"/>
                  <a:gd name="T25" fmla="*/ 126 h 205"/>
                  <a:gd name="T26" fmla="*/ 14 w 63"/>
                  <a:gd name="T27" fmla="*/ 101 h 205"/>
                  <a:gd name="T28" fmla="*/ 9 w 63"/>
                  <a:gd name="T29" fmla="*/ 76 h 205"/>
                  <a:gd name="T30" fmla="*/ 4 w 63"/>
                  <a:gd name="T31" fmla="*/ 51 h 205"/>
                  <a:gd name="T32" fmla="*/ 2 w 63"/>
                  <a:gd name="T33" fmla="*/ 24 h 205"/>
                  <a:gd name="T34" fmla="*/ 0 w 63"/>
                  <a:gd name="T35" fmla="*/ 0 h 205"/>
                  <a:gd name="T36" fmla="*/ 28 w 63"/>
                  <a:gd name="T37" fmla="*/ 3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3"/>
                  <a:gd name="T58" fmla="*/ 0 h 205"/>
                  <a:gd name="T59" fmla="*/ 63 w 63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3" h="205">
                    <a:moveTo>
                      <a:pt x="28" y="3"/>
                    </a:moveTo>
                    <a:lnTo>
                      <a:pt x="31" y="27"/>
                    </a:lnTo>
                    <a:lnTo>
                      <a:pt x="33" y="51"/>
                    </a:lnTo>
                    <a:lnTo>
                      <a:pt x="36" y="76"/>
                    </a:lnTo>
                    <a:lnTo>
                      <a:pt x="41" y="100"/>
                    </a:lnTo>
                    <a:lnTo>
                      <a:pt x="46" y="124"/>
                    </a:lnTo>
                    <a:lnTo>
                      <a:pt x="50" y="148"/>
                    </a:lnTo>
                    <a:lnTo>
                      <a:pt x="57" y="173"/>
                    </a:lnTo>
                    <a:lnTo>
                      <a:pt x="63" y="199"/>
                    </a:lnTo>
                    <a:lnTo>
                      <a:pt x="39" y="205"/>
                    </a:lnTo>
                    <a:lnTo>
                      <a:pt x="30" y="179"/>
                    </a:lnTo>
                    <a:lnTo>
                      <a:pt x="25" y="154"/>
                    </a:lnTo>
                    <a:lnTo>
                      <a:pt x="18" y="126"/>
                    </a:lnTo>
                    <a:lnTo>
                      <a:pt x="14" y="101"/>
                    </a:lnTo>
                    <a:lnTo>
                      <a:pt x="9" y="76"/>
                    </a:lnTo>
                    <a:lnTo>
                      <a:pt x="4" y="51"/>
                    </a:lnTo>
                    <a:lnTo>
                      <a:pt x="2" y="24"/>
                    </a:lnTo>
                    <a:lnTo>
                      <a:pt x="0" y="0"/>
                    </a:lnTo>
                    <a:lnTo>
                      <a:pt x="28" y="3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78" name="Freeform 299"/>
              <p:cNvSpPr>
                <a:spLocks/>
              </p:cNvSpPr>
              <p:nvPr/>
            </p:nvSpPr>
            <p:spPr bwMode="auto">
              <a:xfrm>
                <a:off x="2111" y="2328"/>
                <a:ext cx="30" cy="21"/>
              </a:xfrm>
              <a:custGeom>
                <a:avLst/>
                <a:gdLst>
                  <a:gd name="T0" fmla="*/ 1 w 30"/>
                  <a:gd name="T1" fmla="*/ 18 h 21"/>
                  <a:gd name="T2" fmla="*/ 0 w 30"/>
                  <a:gd name="T3" fmla="*/ 0 h 21"/>
                  <a:gd name="T4" fmla="*/ 29 w 30"/>
                  <a:gd name="T5" fmla="*/ 3 h 21"/>
                  <a:gd name="T6" fmla="*/ 30 w 30"/>
                  <a:gd name="T7" fmla="*/ 21 h 21"/>
                  <a:gd name="T8" fmla="*/ 1 w 30"/>
                  <a:gd name="T9" fmla="*/ 18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21"/>
                  <a:gd name="T17" fmla="*/ 30 w 30"/>
                  <a:gd name="T18" fmla="*/ 21 h 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21">
                    <a:moveTo>
                      <a:pt x="1" y="18"/>
                    </a:moveTo>
                    <a:lnTo>
                      <a:pt x="0" y="0"/>
                    </a:lnTo>
                    <a:lnTo>
                      <a:pt x="29" y="3"/>
                    </a:lnTo>
                    <a:lnTo>
                      <a:pt x="30" y="21"/>
                    </a:lnTo>
                    <a:lnTo>
                      <a:pt x="1" y="18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79" name="Freeform 300"/>
              <p:cNvSpPr>
                <a:spLocks/>
              </p:cNvSpPr>
              <p:nvPr/>
            </p:nvSpPr>
            <p:spPr bwMode="auto">
              <a:xfrm>
                <a:off x="2211" y="2698"/>
                <a:ext cx="108" cy="162"/>
              </a:xfrm>
              <a:custGeom>
                <a:avLst/>
                <a:gdLst>
                  <a:gd name="T0" fmla="*/ 72 w 108"/>
                  <a:gd name="T1" fmla="*/ 0 h 162"/>
                  <a:gd name="T2" fmla="*/ 108 w 108"/>
                  <a:gd name="T3" fmla="*/ 162 h 162"/>
                  <a:gd name="T4" fmla="*/ 0 w 108"/>
                  <a:gd name="T5" fmla="*/ 59 h 162"/>
                  <a:gd name="T6" fmla="*/ 72 w 108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8"/>
                  <a:gd name="T13" fmla="*/ 0 h 162"/>
                  <a:gd name="T14" fmla="*/ 108 w 108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8" h="162">
                    <a:moveTo>
                      <a:pt x="72" y="0"/>
                    </a:moveTo>
                    <a:lnTo>
                      <a:pt x="108" y="162"/>
                    </a:lnTo>
                    <a:lnTo>
                      <a:pt x="0" y="59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80" name="Freeform 301"/>
              <p:cNvSpPr>
                <a:spLocks/>
              </p:cNvSpPr>
              <p:nvPr/>
            </p:nvSpPr>
            <p:spPr bwMode="auto">
              <a:xfrm>
                <a:off x="2274" y="2698"/>
                <a:ext cx="56" cy="186"/>
              </a:xfrm>
              <a:custGeom>
                <a:avLst/>
                <a:gdLst>
                  <a:gd name="T0" fmla="*/ 47 w 56"/>
                  <a:gd name="T1" fmla="*/ 156 h 186"/>
                  <a:gd name="T2" fmla="*/ 36 w 56"/>
                  <a:gd name="T3" fmla="*/ 165 h 186"/>
                  <a:gd name="T4" fmla="*/ 0 w 56"/>
                  <a:gd name="T5" fmla="*/ 3 h 186"/>
                  <a:gd name="T6" fmla="*/ 15 w 56"/>
                  <a:gd name="T7" fmla="*/ 0 h 186"/>
                  <a:gd name="T8" fmla="*/ 51 w 56"/>
                  <a:gd name="T9" fmla="*/ 163 h 186"/>
                  <a:gd name="T10" fmla="*/ 40 w 56"/>
                  <a:gd name="T11" fmla="*/ 170 h 186"/>
                  <a:gd name="T12" fmla="*/ 51 w 56"/>
                  <a:gd name="T13" fmla="*/ 163 h 186"/>
                  <a:gd name="T14" fmla="*/ 56 w 56"/>
                  <a:gd name="T15" fmla="*/ 186 h 186"/>
                  <a:gd name="T16" fmla="*/ 40 w 56"/>
                  <a:gd name="T17" fmla="*/ 170 h 186"/>
                  <a:gd name="T18" fmla="*/ 47 w 56"/>
                  <a:gd name="T19" fmla="*/ 156 h 18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6"/>
                  <a:gd name="T31" fmla="*/ 0 h 186"/>
                  <a:gd name="T32" fmla="*/ 56 w 56"/>
                  <a:gd name="T33" fmla="*/ 186 h 18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6" h="186">
                    <a:moveTo>
                      <a:pt x="47" y="156"/>
                    </a:moveTo>
                    <a:lnTo>
                      <a:pt x="36" y="165"/>
                    </a:lnTo>
                    <a:lnTo>
                      <a:pt x="0" y="3"/>
                    </a:lnTo>
                    <a:lnTo>
                      <a:pt x="15" y="0"/>
                    </a:lnTo>
                    <a:lnTo>
                      <a:pt x="51" y="163"/>
                    </a:lnTo>
                    <a:lnTo>
                      <a:pt x="40" y="170"/>
                    </a:lnTo>
                    <a:lnTo>
                      <a:pt x="51" y="163"/>
                    </a:lnTo>
                    <a:lnTo>
                      <a:pt x="56" y="186"/>
                    </a:lnTo>
                    <a:lnTo>
                      <a:pt x="40" y="170"/>
                    </a:lnTo>
                    <a:lnTo>
                      <a:pt x="47" y="15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81" name="Freeform 302"/>
              <p:cNvSpPr>
                <a:spLocks/>
              </p:cNvSpPr>
              <p:nvPr/>
            </p:nvSpPr>
            <p:spPr bwMode="auto">
              <a:xfrm>
                <a:off x="2196" y="2749"/>
                <a:ext cx="124" cy="119"/>
              </a:xfrm>
              <a:custGeom>
                <a:avLst/>
                <a:gdLst>
                  <a:gd name="T0" fmla="*/ 19 w 124"/>
                  <a:gd name="T1" fmla="*/ 17 h 119"/>
                  <a:gd name="T2" fmla="*/ 17 w 124"/>
                  <a:gd name="T3" fmla="*/ 1 h 119"/>
                  <a:gd name="T4" fmla="*/ 124 w 124"/>
                  <a:gd name="T5" fmla="*/ 103 h 119"/>
                  <a:gd name="T6" fmla="*/ 118 w 124"/>
                  <a:gd name="T7" fmla="*/ 119 h 119"/>
                  <a:gd name="T8" fmla="*/ 11 w 124"/>
                  <a:gd name="T9" fmla="*/ 16 h 119"/>
                  <a:gd name="T10" fmla="*/ 9 w 124"/>
                  <a:gd name="T11" fmla="*/ 0 h 119"/>
                  <a:gd name="T12" fmla="*/ 11 w 124"/>
                  <a:gd name="T13" fmla="*/ 16 h 119"/>
                  <a:gd name="T14" fmla="*/ 0 w 124"/>
                  <a:gd name="T15" fmla="*/ 6 h 119"/>
                  <a:gd name="T16" fmla="*/ 9 w 124"/>
                  <a:gd name="T17" fmla="*/ 0 h 119"/>
                  <a:gd name="T18" fmla="*/ 19 w 124"/>
                  <a:gd name="T19" fmla="*/ 17 h 11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4"/>
                  <a:gd name="T31" fmla="*/ 0 h 119"/>
                  <a:gd name="T32" fmla="*/ 124 w 124"/>
                  <a:gd name="T33" fmla="*/ 119 h 11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4" h="119">
                    <a:moveTo>
                      <a:pt x="19" y="17"/>
                    </a:moveTo>
                    <a:lnTo>
                      <a:pt x="17" y="1"/>
                    </a:lnTo>
                    <a:lnTo>
                      <a:pt x="124" y="103"/>
                    </a:lnTo>
                    <a:lnTo>
                      <a:pt x="118" y="119"/>
                    </a:lnTo>
                    <a:lnTo>
                      <a:pt x="11" y="16"/>
                    </a:lnTo>
                    <a:lnTo>
                      <a:pt x="9" y="0"/>
                    </a:lnTo>
                    <a:lnTo>
                      <a:pt x="11" y="16"/>
                    </a:lnTo>
                    <a:lnTo>
                      <a:pt x="0" y="6"/>
                    </a:lnTo>
                    <a:lnTo>
                      <a:pt x="9" y="0"/>
                    </a:lnTo>
                    <a:lnTo>
                      <a:pt x="19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82" name="Freeform 303"/>
              <p:cNvSpPr>
                <a:spLocks/>
              </p:cNvSpPr>
              <p:nvPr/>
            </p:nvSpPr>
            <p:spPr bwMode="auto">
              <a:xfrm>
                <a:off x="2204" y="2683"/>
                <a:ext cx="84" cy="82"/>
              </a:xfrm>
              <a:custGeom>
                <a:avLst/>
                <a:gdLst>
                  <a:gd name="T0" fmla="*/ 70 w 84"/>
                  <a:gd name="T1" fmla="*/ 18 h 82"/>
                  <a:gd name="T2" fmla="*/ 82 w 84"/>
                  <a:gd name="T3" fmla="*/ 24 h 82"/>
                  <a:gd name="T4" fmla="*/ 8 w 84"/>
                  <a:gd name="T5" fmla="*/ 82 h 82"/>
                  <a:gd name="T6" fmla="*/ 0 w 84"/>
                  <a:gd name="T7" fmla="*/ 65 h 82"/>
                  <a:gd name="T8" fmla="*/ 72 w 84"/>
                  <a:gd name="T9" fmla="*/ 7 h 82"/>
                  <a:gd name="T10" fmla="*/ 84 w 84"/>
                  <a:gd name="T11" fmla="*/ 15 h 82"/>
                  <a:gd name="T12" fmla="*/ 72 w 84"/>
                  <a:gd name="T13" fmla="*/ 7 h 82"/>
                  <a:gd name="T14" fmla="*/ 81 w 84"/>
                  <a:gd name="T15" fmla="*/ 0 h 82"/>
                  <a:gd name="T16" fmla="*/ 84 w 84"/>
                  <a:gd name="T17" fmla="*/ 15 h 82"/>
                  <a:gd name="T18" fmla="*/ 70 w 84"/>
                  <a:gd name="T19" fmla="*/ 18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4"/>
                  <a:gd name="T31" fmla="*/ 0 h 82"/>
                  <a:gd name="T32" fmla="*/ 84 w 84"/>
                  <a:gd name="T33" fmla="*/ 82 h 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4" h="82">
                    <a:moveTo>
                      <a:pt x="70" y="18"/>
                    </a:moveTo>
                    <a:lnTo>
                      <a:pt x="82" y="24"/>
                    </a:lnTo>
                    <a:lnTo>
                      <a:pt x="8" y="82"/>
                    </a:lnTo>
                    <a:lnTo>
                      <a:pt x="0" y="65"/>
                    </a:lnTo>
                    <a:lnTo>
                      <a:pt x="72" y="7"/>
                    </a:lnTo>
                    <a:lnTo>
                      <a:pt x="84" y="15"/>
                    </a:lnTo>
                    <a:lnTo>
                      <a:pt x="72" y="7"/>
                    </a:lnTo>
                    <a:lnTo>
                      <a:pt x="81" y="0"/>
                    </a:lnTo>
                    <a:lnTo>
                      <a:pt x="84" y="15"/>
                    </a:lnTo>
                    <a:lnTo>
                      <a:pt x="70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83" name="Freeform 304"/>
              <p:cNvSpPr>
                <a:spLocks/>
              </p:cNvSpPr>
              <p:nvPr/>
            </p:nvSpPr>
            <p:spPr bwMode="auto">
              <a:xfrm>
                <a:off x="2278" y="2803"/>
                <a:ext cx="35" cy="42"/>
              </a:xfrm>
              <a:custGeom>
                <a:avLst/>
                <a:gdLst>
                  <a:gd name="T0" fmla="*/ 24 w 35"/>
                  <a:gd name="T1" fmla="*/ 0 h 42"/>
                  <a:gd name="T2" fmla="*/ 35 w 35"/>
                  <a:gd name="T3" fmla="*/ 19 h 42"/>
                  <a:gd name="T4" fmla="*/ 10 w 35"/>
                  <a:gd name="T5" fmla="*/ 42 h 42"/>
                  <a:gd name="T6" fmla="*/ 0 w 35"/>
                  <a:gd name="T7" fmla="*/ 23 h 42"/>
                  <a:gd name="T8" fmla="*/ 24 w 35"/>
                  <a:gd name="T9" fmla="*/ 0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42"/>
                  <a:gd name="T17" fmla="*/ 35 w 35"/>
                  <a:gd name="T18" fmla="*/ 42 h 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42">
                    <a:moveTo>
                      <a:pt x="24" y="0"/>
                    </a:moveTo>
                    <a:lnTo>
                      <a:pt x="35" y="19"/>
                    </a:lnTo>
                    <a:lnTo>
                      <a:pt x="10" y="42"/>
                    </a:lnTo>
                    <a:lnTo>
                      <a:pt x="0" y="23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84" name="Freeform 305"/>
              <p:cNvSpPr>
                <a:spLocks/>
              </p:cNvSpPr>
              <p:nvPr/>
            </p:nvSpPr>
            <p:spPr bwMode="auto">
              <a:xfrm>
                <a:off x="2173" y="2593"/>
                <a:ext cx="125" cy="229"/>
              </a:xfrm>
              <a:custGeom>
                <a:avLst/>
                <a:gdLst>
                  <a:gd name="T0" fmla="*/ 31 w 125"/>
                  <a:gd name="T1" fmla="*/ 0 h 229"/>
                  <a:gd name="T2" fmla="*/ 31 w 125"/>
                  <a:gd name="T3" fmla="*/ 0 h 229"/>
                  <a:gd name="T4" fmla="*/ 40 w 125"/>
                  <a:gd name="T5" fmla="*/ 27 h 229"/>
                  <a:gd name="T6" fmla="*/ 51 w 125"/>
                  <a:gd name="T7" fmla="*/ 56 h 229"/>
                  <a:gd name="T8" fmla="*/ 61 w 125"/>
                  <a:gd name="T9" fmla="*/ 82 h 229"/>
                  <a:gd name="T10" fmla="*/ 73 w 125"/>
                  <a:gd name="T11" fmla="*/ 109 h 229"/>
                  <a:gd name="T12" fmla="*/ 85 w 125"/>
                  <a:gd name="T13" fmla="*/ 134 h 229"/>
                  <a:gd name="T14" fmla="*/ 97 w 125"/>
                  <a:gd name="T15" fmla="*/ 159 h 229"/>
                  <a:gd name="T16" fmla="*/ 111 w 125"/>
                  <a:gd name="T17" fmla="*/ 184 h 229"/>
                  <a:gd name="T18" fmla="*/ 125 w 125"/>
                  <a:gd name="T19" fmla="*/ 208 h 229"/>
                  <a:gd name="T20" fmla="*/ 99 w 125"/>
                  <a:gd name="T21" fmla="*/ 229 h 229"/>
                  <a:gd name="T22" fmla="*/ 85 w 125"/>
                  <a:gd name="T23" fmla="*/ 205 h 229"/>
                  <a:gd name="T24" fmla="*/ 71 w 125"/>
                  <a:gd name="T25" fmla="*/ 178 h 229"/>
                  <a:gd name="T26" fmla="*/ 58 w 125"/>
                  <a:gd name="T27" fmla="*/ 151 h 229"/>
                  <a:gd name="T28" fmla="*/ 45 w 125"/>
                  <a:gd name="T29" fmla="*/ 125 h 229"/>
                  <a:gd name="T30" fmla="*/ 33 w 125"/>
                  <a:gd name="T31" fmla="*/ 97 h 229"/>
                  <a:gd name="T32" fmla="*/ 20 w 125"/>
                  <a:gd name="T33" fmla="*/ 68 h 229"/>
                  <a:gd name="T34" fmla="*/ 11 w 125"/>
                  <a:gd name="T35" fmla="*/ 39 h 229"/>
                  <a:gd name="T36" fmla="*/ 0 w 125"/>
                  <a:gd name="T37" fmla="*/ 9 h 229"/>
                  <a:gd name="T38" fmla="*/ 31 w 125"/>
                  <a:gd name="T39" fmla="*/ 0 h 22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5"/>
                  <a:gd name="T61" fmla="*/ 0 h 229"/>
                  <a:gd name="T62" fmla="*/ 125 w 125"/>
                  <a:gd name="T63" fmla="*/ 229 h 22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5" h="229">
                    <a:moveTo>
                      <a:pt x="31" y="0"/>
                    </a:moveTo>
                    <a:lnTo>
                      <a:pt x="31" y="0"/>
                    </a:lnTo>
                    <a:lnTo>
                      <a:pt x="40" y="27"/>
                    </a:lnTo>
                    <a:lnTo>
                      <a:pt x="51" y="56"/>
                    </a:lnTo>
                    <a:lnTo>
                      <a:pt x="61" y="82"/>
                    </a:lnTo>
                    <a:lnTo>
                      <a:pt x="73" y="109"/>
                    </a:lnTo>
                    <a:lnTo>
                      <a:pt x="85" y="134"/>
                    </a:lnTo>
                    <a:lnTo>
                      <a:pt x="97" y="159"/>
                    </a:lnTo>
                    <a:lnTo>
                      <a:pt x="111" y="184"/>
                    </a:lnTo>
                    <a:lnTo>
                      <a:pt x="125" y="208"/>
                    </a:lnTo>
                    <a:lnTo>
                      <a:pt x="99" y="229"/>
                    </a:lnTo>
                    <a:lnTo>
                      <a:pt x="85" y="205"/>
                    </a:lnTo>
                    <a:lnTo>
                      <a:pt x="71" y="178"/>
                    </a:lnTo>
                    <a:lnTo>
                      <a:pt x="58" y="151"/>
                    </a:lnTo>
                    <a:lnTo>
                      <a:pt x="45" y="125"/>
                    </a:lnTo>
                    <a:lnTo>
                      <a:pt x="33" y="97"/>
                    </a:lnTo>
                    <a:lnTo>
                      <a:pt x="20" y="68"/>
                    </a:lnTo>
                    <a:lnTo>
                      <a:pt x="11" y="39"/>
                    </a:lnTo>
                    <a:lnTo>
                      <a:pt x="0" y="9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85" name="Freeform 306"/>
              <p:cNvSpPr>
                <a:spLocks/>
              </p:cNvSpPr>
              <p:nvPr/>
            </p:nvSpPr>
            <p:spPr bwMode="auto">
              <a:xfrm>
                <a:off x="2126" y="2396"/>
                <a:ext cx="76" cy="206"/>
              </a:xfrm>
              <a:custGeom>
                <a:avLst/>
                <a:gdLst>
                  <a:gd name="T0" fmla="*/ 33 w 76"/>
                  <a:gd name="T1" fmla="*/ 2 h 206"/>
                  <a:gd name="T2" fmla="*/ 36 w 76"/>
                  <a:gd name="T3" fmla="*/ 26 h 206"/>
                  <a:gd name="T4" fmla="*/ 39 w 76"/>
                  <a:gd name="T5" fmla="*/ 50 h 206"/>
                  <a:gd name="T6" fmla="*/ 44 w 76"/>
                  <a:gd name="T7" fmla="*/ 75 h 206"/>
                  <a:gd name="T8" fmla="*/ 48 w 76"/>
                  <a:gd name="T9" fmla="*/ 98 h 206"/>
                  <a:gd name="T10" fmla="*/ 54 w 76"/>
                  <a:gd name="T11" fmla="*/ 122 h 206"/>
                  <a:gd name="T12" fmla="*/ 61 w 76"/>
                  <a:gd name="T13" fmla="*/ 146 h 206"/>
                  <a:gd name="T14" fmla="*/ 67 w 76"/>
                  <a:gd name="T15" fmla="*/ 172 h 206"/>
                  <a:gd name="T16" fmla="*/ 76 w 76"/>
                  <a:gd name="T17" fmla="*/ 197 h 206"/>
                  <a:gd name="T18" fmla="*/ 45 w 76"/>
                  <a:gd name="T19" fmla="*/ 206 h 206"/>
                  <a:gd name="T20" fmla="*/ 37 w 76"/>
                  <a:gd name="T21" fmla="*/ 181 h 206"/>
                  <a:gd name="T22" fmla="*/ 31 w 76"/>
                  <a:gd name="T23" fmla="*/ 155 h 206"/>
                  <a:gd name="T24" fmla="*/ 23 w 76"/>
                  <a:gd name="T25" fmla="*/ 128 h 206"/>
                  <a:gd name="T26" fmla="*/ 18 w 76"/>
                  <a:gd name="T27" fmla="*/ 102 h 206"/>
                  <a:gd name="T28" fmla="*/ 13 w 76"/>
                  <a:gd name="T29" fmla="*/ 77 h 206"/>
                  <a:gd name="T30" fmla="*/ 8 w 76"/>
                  <a:gd name="T31" fmla="*/ 50 h 206"/>
                  <a:gd name="T32" fmla="*/ 3 w 76"/>
                  <a:gd name="T33" fmla="*/ 25 h 206"/>
                  <a:gd name="T34" fmla="*/ 0 w 76"/>
                  <a:gd name="T35" fmla="*/ 0 h 206"/>
                  <a:gd name="T36" fmla="*/ 33 w 76"/>
                  <a:gd name="T37" fmla="*/ 2 h 2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6"/>
                  <a:gd name="T58" fmla="*/ 0 h 206"/>
                  <a:gd name="T59" fmla="*/ 76 w 76"/>
                  <a:gd name="T60" fmla="*/ 206 h 2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6" h="206">
                    <a:moveTo>
                      <a:pt x="33" y="2"/>
                    </a:moveTo>
                    <a:lnTo>
                      <a:pt x="36" y="26"/>
                    </a:lnTo>
                    <a:lnTo>
                      <a:pt x="39" y="50"/>
                    </a:lnTo>
                    <a:lnTo>
                      <a:pt x="44" y="75"/>
                    </a:lnTo>
                    <a:lnTo>
                      <a:pt x="48" y="98"/>
                    </a:lnTo>
                    <a:lnTo>
                      <a:pt x="54" y="122"/>
                    </a:lnTo>
                    <a:lnTo>
                      <a:pt x="61" y="146"/>
                    </a:lnTo>
                    <a:lnTo>
                      <a:pt x="67" y="172"/>
                    </a:lnTo>
                    <a:lnTo>
                      <a:pt x="76" y="197"/>
                    </a:lnTo>
                    <a:lnTo>
                      <a:pt x="45" y="206"/>
                    </a:lnTo>
                    <a:lnTo>
                      <a:pt x="37" y="181"/>
                    </a:lnTo>
                    <a:lnTo>
                      <a:pt x="31" y="155"/>
                    </a:lnTo>
                    <a:lnTo>
                      <a:pt x="23" y="128"/>
                    </a:lnTo>
                    <a:lnTo>
                      <a:pt x="18" y="102"/>
                    </a:lnTo>
                    <a:lnTo>
                      <a:pt x="13" y="77"/>
                    </a:lnTo>
                    <a:lnTo>
                      <a:pt x="8" y="50"/>
                    </a:lnTo>
                    <a:lnTo>
                      <a:pt x="3" y="25"/>
                    </a:lnTo>
                    <a:lnTo>
                      <a:pt x="0" y="0"/>
                    </a:lnTo>
                    <a:lnTo>
                      <a:pt x="33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86" name="Freeform 307"/>
              <p:cNvSpPr>
                <a:spLocks/>
              </p:cNvSpPr>
              <p:nvPr/>
            </p:nvSpPr>
            <p:spPr bwMode="auto">
              <a:xfrm>
                <a:off x="2120" y="2373"/>
                <a:ext cx="34" cy="24"/>
              </a:xfrm>
              <a:custGeom>
                <a:avLst/>
                <a:gdLst>
                  <a:gd name="T0" fmla="*/ 3 w 34"/>
                  <a:gd name="T1" fmla="*/ 22 h 24"/>
                  <a:gd name="T2" fmla="*/ 0 w 34"/>
                  <a:gd name="T3" fmla="*/ 0 h 24"/>
                  <a:gd name="T4" fmla="*/ 31 w 34"/>
                  <a:gd name="T5" fmla="*/ 2 h 24"/>
                  <a:gd name="T6" fmla="*/ 34 w 34"/>
                  <a:gd name="T7" fmla="*/ 24 h 24"/>
                  <a:gd name="T8" fmla="*/ 3 w 34"/>
                  <a:gd name="T9" fmla="*/ 22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24"/>
                  <a:gd name="T17" fmla="*/ 34 w 34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24">
                    <a:moveTo>
                      <a:pt x="3" y="22"/>
                    </a:moveTo>
                    <a:lnTo>
                      <a:pt x="0" y="0"/>
                    </a:lnTo>
                    <a:lnTo>
                      <a:pt x="31" y="2"/>
                    </a:lnTo>
                    <a:lnTo>
                      <a:pt x="34" y="24"/>
                    </a:ln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87" name="Freeform 308"/>
              <p:cNvSpPr>
                <a:spLocks/>
              </p:cNvSpPr>
              <p:nvPr/>
            </p:nvSpPr>
            <p:spPr bwMode="auto">
              <a:xfrm>
                <a:off x="2211" y="2698"/>
                <a:ext cx="108" cy="162"/>
              </a:xfrm>
              <a:custGeom>
                <a:avLst/>
                <a:gdLst>
                  <a:gd name="T0" fmla="*/ 72 w 108"/>
                  <a:gd name="T1" fmla="*/ 0 h 162"/>
                  <a:gd name="T2" fmla="*/ 108 w 108"/>
                  <a:gd name="T3" fmla="*/ 162 h 162"/>
                  <a:gd name="T4" fmla="*/ 0 w 108"/>
                  <a:gd name="T5" fmla="*/ 59 h 162"/>
                  <a:gd name="T6" fmla="*/ 72 w 108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8"/>
                  <a:gd name="T13" fmla="*/ 0 h 162"/>
                  <a:gd name="T14" fmla="*/ 108 w 108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8" h="162">
                    <a:moveTo>
                      <a:pt x="72" y="0"/>
                    </a:moveTo>
                    <a:lnTo>
                      <a:pt x="108" y="162"/>
                    </a:lnTo>
                    <a:lnTo>
                      <a:pt x="0" y="59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88" name="Freeform 309"/>
              <p:cNvSpPr>
                <a:spLocks/>
              </p:cNvSpPr>
              <p:nvPr/>
            </p:nvSpPr>
            <p:spPr bwMode="auto">
              <a:xfrm>
                <a:off x="2278" y="2698"/>
                <a:ext cx="47" cy="176"/>
              </a:xfrm>
              <a:custGeom>
                <a:avLst/>
                <a:gdLst>
                  <a:gd name="T0" fmla="*/ 42 w 47"/>
                  <a:gd name="T1" fmla="*/ 156 h 176"/>
                  <a:gd name="T2" fmla="*/ 35 w 47"/>
                  <a:gd name="T3" fmla="*/ 163 h 176"/>
                  <a:gd name="T4" fmla="*/ 0 w 47"/>
                  <a:gd name="T5" fmla="*/ 1 h 176"/>
                  <a:gd name="T6" fmla="*/ 8 w 47"/>
                  <a:gd name="T7" fmla="*/ 0 h 176"/>
                  <a:gd name="T8" fmla="*/ 44 w 47"/>
                  <a:gd name="T9" fmla="*/ 161 h 176"/>
                  <a:gd name="T10" fmla="*/ 37 w 47"/>
                  <a:gd name="T11" fmla="*/ 167 h 176"/>
                  <a:gd name="T12" fmla="*/ 44 w 47"/>
                  <a:gd name="T13" fmla="*/ 161 h 176"/>
                  <a:gd name="T14" fmla="*/ 47 w 47"/>
                  <a:gd name="T15" fmla="*/ 176 h 176"/>
                  <a:gd name="T16" fmla="*/ 37 w 47"/>
                  <a:gd name="T17" fmla="*/ 167 h 176"/>
                  <a:gd name="T18" fmla="*/ 42 w 47"/>
                  <a:gd name="T19" fmla="*/ 156 h 1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176"/>
                  <a:gd name="T32" fmla="*/ 47 w 47"/>
                  <a:gd name="T33" fmla="*/ 176 h 1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176">
                    <a:moveTo>
                      <a:pt x="42" y="156"/>
                    </a:moveTo>
                    <a:lnTo>
                      <a:pt x="35" y="163"/>
                    </a:lnTo>
                    <a:lnTo>
                      <a:pt x="0" y="1"/>
                    </a:lnTo>
                    <a:lnTo>
                      <a:pt x="8" y="0"/>
                    </a:lnTo>
                    <a:lnTo>
                      <a:pt x="44" y="161"/>
                    </a:lnTo>
                    <a:lnTo>
                      <a:pt x="37" y="167"/>
                    </a:lnTo>
                    <a:lnTo>
                      <a:pt x="44" y="161"/>
                    </a:lnTo>
                    <a:lnTo>
                      <a:pt x="47" y="176"/>
                    </a:lnTo>
                    <a:lnTo>
                      <a:pt x="37" y="167"/>
                    </a:lnTo>
                    <a:lnTo>
                      <a:pt x="42" y="156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89" name="Freeform 310"/>
              <p:cNvSpPr>
                <a:spLocks/>
              </p:cNvSpPr>
              <p:nvPr/>
            </p:nvSpPr>
            <p:spPr bwMode="auto">
              <a:xfrm>
                <a:off x="2201" y="2750"/>
                <a:ext cx="118" cy="114"/>
              </a:xfrm>
              <a:custGeom>
                <a:avLst/>
                <a:gdLst>
                  <a:gd name="T0" fmla="*/ 10 w 118"/>
                  <a:gd name="T1" fmla="*/ 10 h 114"/>
                  <a:gd name="T2" fmla="*/ 10 w 118"/>
                  <a:gd name="T3" fmla="*/ 0 h 114"/>
                  <a:gd name="T4" fmla="*/ 118 w 118"/>
                  <a:gd name="T5" fmla="*/ 104 h 114"/>
                  <a:gd name="T6" fmla="*/ 114 w 118"/>
                  <a:gd name="T7" fmla="*/ 114 h 114"/>
                  <a:gd name="T8" fmla="*/ 5 w 118"/>
                  <a:gd name="T9" fmla="*/ 8 h 114"/>
                  <a:gd name="T10" fmla="*/ 5 w 118"/>
                  <a:gd name="T11" fmla="*/ 0 h 114"/>
                  <a:gd name="T12" fmla="*/ 5 w 118"/>
                  <a:gd name="T13" fmla="*/ 8 h 114"/>
                  <a:gd name="T14" fmla="*/ 0 w 118"/>
                  <a:gd name="T15" fmla="*/ 3 h 114"/>
                  <a:gd name="T16" fmla="*/ 5 w 118"/>
                  <a:gd name="T17" fmla="*/ 0 h 114"/>
                  <a:gd name="T18" fmla="*/ 10 w 118"/>
                  <a:gd name="T19" fmla="*/ 10 h 11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8"/>
                  <a:gd name="T31" fmla="*/ 0 h 114"/>
                  <a:gd name="T32" fmla="*/ 118 w 118"/>
                  <a:gd name="T33" fmla="*/ 114 h 11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8" h="114">
                    <a:moveTo>
                      <a:pt x="10" y="10"/>
                    </a:moveTo>
                    <a:lnTo>
                      <a:pt x="10" y="0"/>
                    </a:lnTo>
                    <a:lnTo>
                      <a:pt x="118" y="104"/>
                    </a:lnTo>
                    <a:lnTo>
                      <a:pt x="114" y="114"/>
                    </a:lnTo>
                    <a:lnTo>
                      <a:pt x="5" y="8"/>
                    </a:lnTo>
                    <a:lnTo>
                      <a:pt x="5" y="0"/>
                    </a:lnTo>
                    <a:lnTo>
                      <a:pt x="5" y="8"/>
                    </a:lnTo>
                    <a:lnTo>
                      <a:pt x="0" y="3"/>
                    </a:lnTo>
                    <a:lnTo>
                      <a:pt x="5" y="0"/>
                    </a:lnTo>
                    <a:lnTo>
                      <a:pt x="10" y="10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90" name="Freeform 311"/>
              <p:cNvSpPr>
                <a:spLocks/>
              </p:cNvSpPr>
              <p:nvPr/>
            </p:nvSpPr>
            <p:spPr bwMode="auto">
              <a:xfrm>
                <a:off x="2205" y="2688"/>
                <a:ext cx="80" cy="75"/>
              </a:xfrm>
              <a:custGeom>
                <a:avLst/>
                <a:gdLst>
                  <a:gd name="T0" fmla="*/ 71 w 80"/>
                  <a:gd name="T1" fmla="*/ 10 h 75"/>
                  <a:gd name="T2" fmla="*/ 79 w 80"/>
                  <a:gd name="T3" fmla="*/ 16 h 75"/>
                  <a:gd name="T4" fmla="*/ 6 w 80"/>
                  <a:gd name="T5" fmla="*/ 75 h 75"/>
                  <a:gd name="T6" fmla="*/ 0 w 80"/>
                  <a:gd name="T7" fmla="*/ 64 h 75"/>
                  <a:gd name="T8" fmla="*/ 74 w 80"/>
                  <a:gd name="T9" fmla="*/ 4 h 75"/>
                  <a:gd name="T10" fmla="*/ 80 w 80"/>
                  <a:gd name="T11" fmla="*/ 8 h 75"/>
                  <a:gd name="T12" fmla="*/ 74 w 80"/>
                  <a:gd name="T13" fmla="*/ 4 h 75"/>
                  <a:gd name="T14" fmla="*/ 78 w 80"/>
                  <a:gd name="T15" fmla="*/ 0 h 75"/>
                  <a:gd name="T16" fmla="*/ 80 w 80"/>
                  <a:gd name="T17" fmla="*/ 8 h 75"/>
                  <a:gd name="T18" fmla="*/ 71 w 80"/>
                  <a:gd name="T19" fmla="*/ 10 h 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0"/>
                  <a:gd name="T31" fmla="*/ 0 h 75"/>
                  <a:gd name="T32" fmla="*/ 80 w 80"/>
                  <a:gd name="T33" fmla="*/ 75 h 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0" h="75">
                    <a:moveTo>
                      <a:pt x="71" y="10"/>
                    </a:moveTo>
                    <a:lnTo>
                      <a:pt x="79" y="16"/>
                    </a:lnTo>
                    <a:lnTo>
                      <a:pt x="6" y="75"/>
                    </a:lnTo>
                    <a:lnTo>
                      <a:pt x="0" y="64"/>
                    </a:lnTo>
                    <a:lnTo>
                      <a:pt x="74" y="4"/>
                    </a:lnTo>
                    <a:lnTo>
                      <a:pt x="80" y="8"/>
                    </a:lnTo>
                    <a:lnTo>
                      <a:pt x="74" y="4"/>
                    </a:lnTo>
                    <a:lnTo>
                      <a:pt x="78" y="0"/>
                    </a:lnTo>
                    <a:lnTo>
                      <a:pt x="80" y="8"/>
                    </a:lnTo>
                    <a:lnTo>
                      <a:pt x="71" y="10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91" name="Freeform 312"/>
              <p:cNvSpPr>
                <a:spLocks/>
              </p:cNvSpPr>
              <p:nvPr/>
            </p:nvSpPr>
            <p:spPr bwMode="auto">
              <a:xfrm>
                <a:off x="2280" y="2806"/>
                <a:ext cx="27" cy="35"/>
              </a:xfrm>
              <a:custGeom>
                <a:avLst/>
                <a:gdLst>
                  <a:gd name="T0" fmla="*/ 19 w 27"/>
                  <a:gd name="T1" fmla="*/ 0 h 35"/>
                  <a:gd name="T2" fmla="*/ 27 w 27"/>
                  <a:gd name="T3" fmla="*/ 16 h 35"/>
                  <a:gd name="T4" fmla="*/ 8 w 27"/>
                  <a:gd name="T5" fmla="*/ 35 h 35"/>
                  <a:gd name="T6" fmla="*/ 0 w 27"/>
                  <a:gd name="T7" fmla="*/ 18 h 35"/>
                  <a:gd name="T8" fmla="*/ 19 w 27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35"/>
                  <a:gd name="T17" fmla="*/ 27 w 27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35">
                    <a:moveTo>
                      <a:pt x="19" y="0"/>
                    </a:moveTo>
                    <a:lnTo>
                      <a:pt x="27" y="16"/>
                    </a:lnTo>
                    <a:lnTo>
                      <a:pt x="8" y="35"/>
                    </a:lnTo>
                    <a:lnTo>
                      <a:pt x="0" y="18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92" name="Freeform 313"/>
              <p:cNvSpPr>
                <a:spLocks/>
              </p:cNvSpPr>
              <p:nvPr/>
            </p:nvSpPr>
            <p:spPr bwMode="auto">
              <a:xfrm>
                <a:off x="2177" y="2593"/>
                <a:ext cx="120" cy="227"/>
              </a:xfrm>
              <a:custGeom>
                <a:avLst/>
                <a:gdLst>
                  <a:gd name="T0" fmla="*/ 26 w 120"/>
                  <a:gd name="T1" fmla="*/ 0 h 227"/>
                  <a:gd name="T2" fmla="*/ 26 w 120"/>
                  <a:gd name="T3" fmla="*/ 0 h 227"/>
                  <a:gd name="T4" fmla="*/ 35 w 120"/>
                  <a:gd name="T5" fmla="*/ 27 h 227"/>
                  <a:gd name="T6" fmla="*/ 45 w 120"/>
                  <a:gd name="T7" fmla="*/ 55 h 227"/>
                  <a:gd name="T8" fmla="*/ 57 w 120"/>
                  <a:gd name="T9" fmla="*/ 82 h 227"/>
                  <a:gd name="T10" fmla="*/ 67 w 120"/>
                  <a:gd name="T11" fmla="*/ 109 h 227"/>
                  <a:gd name="T12" fmla="*/ 80 w 120"/>
                  <a:gd name="T13" fmla="*/ 135 h 227"/>
                  <a:gd name="T14" fmla="*/ 92 w 120"/>
                  <a:gd name="T15" fmla="*/ 160 h 227"/>
                  <a:gd name="T16" fmla="*/ 106 w 120"/>
                  <a:gd name="T17" fmla="*/ 183 h 227"/>
                  <a:gd name="T18" fmla="*/ 120 w 120"/>
                  <a:gd name="T19" fmla="*/ 208 h 227"/>
                  <a:gd name="T20" fmla="*/ 98 w 120"/>
                  <a:gd name="T21" fmla="*/ 227 h 227"/>
                  <a:gd name="T22" fmla="*/ 85 w 120"/>
                  <a:gd name="T23" fmla="*/ 203 h 227"/>
                  <a:gd name="T24" fmla="*/ 70 w 120"/>
                  <a:gd name="T25" fmla="*/ 176 h 227"/>
                  <a:gd name="T26" fmla="*/ 57 w 120"/>
                  <a:gd name="T27" fmla="*/ 149 h 227"/>
                  <a:gd name="T28" fmla="*/ 44 w 120"/>
                  <a:gd name="T29" fmla="*/ 121 h 227"/>
                  <a:gd name="T30" fmla="*/ 31 w 120"/>
                  <a:gd name="T31" fmla="*/ 94 h 227"/>
                  <a:gd name="T32" fmla="*/ 20 w 120"/>
                  <a:gd name="T33" fmla="*/ 67 h 227"/>
                  <a:gd name="T34" fmla="*/ 11 w 120"/>
                  <a:gd name="T35" fmla="*/ 37 h 227"/>
                  <a:gd name="T36" fmla="*/ 0 w 120"/>
                  <a:gd name="T37" fmla="*/ 8 h 227"/>
                  <a:gd name="T38" fmla="*/ 26 w 120"/>
                  <a:gd name="T39" fmla="*/ 0 h 22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0"/>
                  <a:gd name="T61" fmla="*/ 0 h 227"/>
                  <a:gd name="T62" fmla="*/ 120 w 120"/>
                  <a:gd name="T63" fmla="*/ 227 h 22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0" h="227">
                    <a:moveTo>
                      <a:pt x="26" y="0"/>
                    </a:moveTo>
                    <a:lnTo>
                      <a:pt x="26" y="0"/>
                    </a:lnTo>
                    <a:lnTo>
                      <a:pt x="35" y="27"/>
                    </a:lnTo>
                    <a:lnTo>
                      <a:pt x="45" y="55"/>
                    </a:lnTo>
                    <a:lnTo>
                      <a:pt x="57" y="82"/>
                    </a:lnTo>
                    <a:lnTo>
                      <a:pt x="67" y="109"/>
                    </a:lnTo>
                    <a:lnTo>
                      <a:pt x="80" y="135"/>
                    </a:lnTo>
                    <a:lnTo>
                      <a:pt x="92" y="160"/>
                    </a:lnTo>
                    <a:lnTo>
                      <a:pt x="106" y="183"/>
                    </a:lnTo>
                    <a:lnTo>
                      <a:pt x="120" y="208"/>
                    </a:lnTo>
                    <a:lnTo>
                      <a:pt x="98" y="227"/>
                    </a:lnTo>
                    <a:lnTo>
                      <a:pt x="85" y="203"/>
                    </a:lnTo>
                    <a:lnTo>
                      <a:pt x="70" y="176"/>
                    </a:lnTo>
                    <a:lnTo>
                      <a:pt x="57" y="149"/>
                    </a:lnTo>
                    <a:lnTo>
                      <a:pt x="44" y="121"/>
                    </a:lnTo>
                    <a:lnTo>
                      <a:pt x="31" y="94"/>
                    </a:lnTo>
                    <a:lnTo>
                      <a:pt x="20" y="67"/>
                    </a:lnTo>
                    <a:lnTo>
                      <a:pt x="11" y="37"/>
                    </a:lnTo>
                    <a:lnTo>
                      <a:pt x="0" y="8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93" name="Freeform 314"/>
              <p:cNvSpPr>
                <a:spLocks/>
              </p:cNvSpPr>
              <p:nvPr/>
            </p:nvSpPr>
            <p:spPr bwMode="auto">
              <a:xfrm>
                <a:off x="2127" y="2397"/>
                <a:ext cx="69" cy="204"/>
              </a:xfrm>
              <a:custGeom>
                <a:avLst/>
                <a:gdLst>
                  <a:gd name="T0" fmla="*/ 27 w 69"/>
                  <a:gd name="T1" fmla="*/ 1 h 204"/>
                  <a:gd name="T2" fmla="*/ 30 w 69"/>
                  <a:gd name="T3" fmla="*/ 26 h 204"/>
                  <a:gd name="T4" fmla="*/ 34 w 69"/>
                  <a:gd name="T5" fmla="*/ 51 h 204"/>
                  <a:gd name="T6" fmla="*/ 37 w 69"/>
                  <a:gd name="T7" fmla="*/ 75 h 204"/>
                  <a:gd name="T8" fmla="*/ 43 w 69"/>
                  <a:gd name="T9" fmla="*/ 98 h 204"/>
                  <a:gd name="T10" fmla="*/ 49 w 69"/>
                  <a:gd name="T11" fmla="*/ 122 h 204"/>
                  <a:gd name="T12" fmla="*/ 54 w 69"/>
                  <a:gd name="T13" fmla="*/ 147 h 204"/>
                  <a:gd name="T14" fmla="*/ 63 w 69"/>
                  <a:gd name="T15" fmla="*/ 171 h 204"/>
                  <a:gd name="T16" fmla="*/ 69 w 69"/>
                  <a:gd name="T17" fmla="*/ 196 h 204"/>
                  <a:gd name="T18" fmla="*/ 45 w 69"/>
                  <a:gd name="T19" fmla="*/ 204 h 204"/>
                  <a:gd name="T20" fmla="*/ 36 w 69"/>
                  <a:gd name="T21" fmla="*/ 179 h 204"/>
                  <a:gd name="T22" fmla="*/ 30 w 69"/>
                  <a:gd name="T23" fmla="*/ 153 h 204"/>
                  <a:gd name="T24" fmla="*/ 22 w 69"/>
                  <a:gd name="T25" fmla="*/ 127 h 204"/>
                  <a:gd name="T26" fmla="*/ 16 w 69"/>
                  <a:gd name="T27" fmla="*/ 102 h 204"/>
                  <a:gd name="T28" fmla="*/ 11 w 69"/>
                  <a:gd name="T29" fmla="*/ 76 h 204"/>
                  <a:gd name="T30" fmla="*/ 6 w 69"/>
                  <a:gd name="T31" fmla="*/ 51 h 204"/>
                  <a:gd name="T32" fmla="*/ 3 w 69"/>
                  <a:gd name="T33" fmla="*/ 25 h 204"/>
                  <a:gd name="T34" fmla="*/ 0 w 69"/>
                  <a:gd name="T35" fmla="*/ 0 h 204"/>
                  <a:gd name="T36" fmla="*/ 27 w 69"/>
                  <a:gd name="T37" fmla="*/ 1 h 2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9"/>
                  <a:gd name="T58" fmla="*/ 0 h 204"/>
                  <a:gd name="T59" fmla="*/ 69 w 69"/>
                  <a:gd name="T60" fmla="*/ 204 h 20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9" h="204">
                    <a:moveTo>
                      <a:pt x="27" y="1"/>
                    </a:moveTo>
                    <a:lnTo>
                      <a:pt x="30" y="26"/>
                    </a:lnTo>
                    <a:lnTo>
                      <a:pt x="34" y="51"/>
                    </a:lnTo>
                    <a:lnTo>
                      <a:pt x="37" y="75"/>
                    </a:lnTo>
                    <a:lnTo>
                      <a:pt x="43" y="98"/>
                    </a:lnTo>
                    <a:lnTo>
                      <a:pt x="49" y="122"/>
                    </a:lnTo>
                    <a:lnTo>
                      <a:pt x="54" y="147"/>
                    </a:lnTo>
                    <a:lnTo>
                      <a:pt x="63" y="171"/>
                    </a:lnTo>
                    <a:lnTo>
                      <a:pt x="69" y="196"/>
                    </a:lnTo>
                    <a:lnTo>
                      <a:pt x="45" y="204"/>
                    </a:lnTo>
                    <a:lnTo>
                      <a:pt x="36" y="179"/>
                    </a:lnTo>
                    <a:lnTo>
                      <a:pt x="30" y="153"/>
                    </a:lnTo>
                    <a:lnTo>
                      <a:pt x="22" y="127"/>
                    </a:lnTo>
                    <a:lnTo>
                      <a:pt x="16" y="102"/>
                    </a:lnTo>
                    <a:lnTo>
                      <a:pt x="11" y="76"/>
                    </a:lnTo>
                    <a:lnTo>
                      <a:pt x="6" y="51"/>
                    </a:lnTo>
                    <a:lnTo>
                      <a:pt x="3" y="25"/>
                    </a:lnTo>
                    <a:lnTo>
                      <a:pt x="0" y="0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94" name="Freeform 315"/>
              <p:cNvSpPr>
                <a:spLocks/>
              </p:cNvSpPr>
              <p:nvPr/>
            </p:nvSpPr>
            <p:spPr bwMode="auto">
              <a:xfrm>
                <a:off x="2124" y="2377"/>
                <a:ext cx="27" cy="19"/>
              </a:xfrm>
              <a:custGeom>
                <a:avLst/>
                <a:gdLst>
                  <a:gd name="T0" fmla="*/ 2 w 27"/>
                  <a:gd name="T1" fmla="*/ 18 h 19"/>
                  <a:gd name="T2" fmla="*/ 0 w 27"/>
                  <a:gd name="T3" fmla="*/ 0 h 19"/>
                  <a:gd name="T4" fmla="*/ 25 w 27"/>
                  <a:gd name="T5" fmla="*/ 1 h 19"/>
                  <a:gd name="T6" fmla="*/ 27 w 27"/>
                  <a:gd name="T7" fmla="*/ 19 h 19"/>
                  <a:gd name="T8" fmla="*/ 2 w 27"/>
                  <a:gd name="T9" fmla="*/ 1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19"/>
                  <a:gd name="T17" fmla="*/ 27 w 27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19">
                    <a:moveTo>
                      <a:pt x="2" y="18"/>
                    </a:moveTo>
                    <a:lnTo>
                      <a:pt x="0" y="0"/>
                    </a:lnTo>
                    <a:lnTo>
                      <a:pt x="25" y="1"/>
                    </a:lnTo>
                    <a:lnTo>
                      <a:pt x="27" y="19"/>
                    </a:lnTo>
                    <a:lnTo>
                      <a:pt x="2" y="18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95" name="Freeform 316"/>
              <p:cNvSpPr>
                <a:spLocks/>
              </p:cNvSpPr>
              <p:nvPr/>
            </p:nvSpPr>
            <p:spPr bwMode="auto">
              <a:xfrm>
                <a:off x="2226" y="2727"/>
                <a:ext cx="114" cy="162"/>
              </a:xfrm>
              <a:custGeom>
                <a:avLst/>
                <a:gdLst>
                  <a:gd name="T0" fmla="*/ 72 w 114"/>
                  <a:gd name="T1" fmla="*/ 0 h 162"/>
                  <a:gd name="T2" fmla="*/ 114 w 114"/>
                  <a:gd name="T3" fmla="*/ 162 h 162"/>
                  <a:gd name="T4" fmla="*/ 0 w 114"/>
                  <a:gd name="T5" fmla="*/ 64 h 162"/>
                  <a:gd name="T6" fmla="*/ 72 w 114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4"/>
                  <a:gd name="T13" fmla="*/ 0 h 162"/>
                  <a:gd name="T14" fmla="*/ 114 w 114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4" h="162">
                    <a:moveTo>
                      <a:pt x="72" y="0"/>
                    </a:moveTo>
                    <a:lnTo>
                      <a:pt x="114" y="162"/>
                    </a:lnTo>
                    <a:lnTo>
                      <a:pt x="0" y="64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96" name="Freeform 317"/>
              <p:cNvSpPr>
                <a:spLocks/>
              </p:cNvSpPr>
              <p:nvPr/>
            </p:nvSpPr>
            <p:spPr bwMode="auto">
              <a:xfrm>
                <a:off x="2290" y="2727"/>
                <a:ext cx="62" cy="185"/>
              </a:xfrm>
              <a:custGeom>
                <a:avLst/>
                <a:gdLst>
                  <a:gd name="T0" fmla="*/ 52 w 62"/>
                  <a:gd name="T1" fmla="*/ 155 h 185"/>
                  <a:gd name="T2" fmla="*/ 43 w 62"/>
                  <a:gd name="T3" fmla="*/ 164 h 185"/>
                  <a:gd name="T4" fmla="*/ 0 w 62"/>
                  <a:gd name="T5" fmla="*/ 3 h 185"/>
                  <a:gd name="T6" fmla="*/ 14 w 62"/>
                  <a:gd name="T7" fmla="*/ 0 h 185"/>
                  <a:gd name="T8" fmla="*/ 57 w 62"/>
                  <a:gd name="T9" fmla="*/ 161 h 185"/>
                  <a:gd name="T10" fmla="*/ 46 w 62"/>
                  <a:gd name="T11" fmla="*/ 170 h 185"/>
                  <a:gd name="T12" fmla="*/ 57 w 62"/>
                  <a:gd name="T13" fmla="*/ 161 h 185"/>
                  <a:gd name="T14" fmla="*/ 62 w 62"/>
                  <a:gd name="T15" fmla="*/ 185 h 185"/>
                  <a:gd name="T16" fmla="*/ 46 w 62"/>
                  <a:gd name="T17" fmla="*/ 170 h 185"/>
                  <a:gd name="T18" fmla="*/ 52 w 62"/>
                  <a:gd name="T19" fmla="*/ 155 h 1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2"/>
                  <a:gd name="T31" fmla="*/ 0 h 185"/>
                  <a:gd name="T32" fmla="*/ 62 w 62"/>
                  <a:gd name="T33" fmla="*/ 185 h 1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2" h="185">
                    <a:moveTo>
                      <a:pt x="52" y="155"/>
                    </a:moveTo>
                    <a:lnTo>
                      <a:pt x="43" y="164"/>
                    </a:lnTo>
                    <a:lnTo>
                      <a:pt x="0" y="3"/>
                    </a:lnTo>
                    <a:lnTo>
                      <a:pt x="14" y="0"/>
                    </a:lnTo>
                    <a:lnTo>
                      <a:pt x="57" y="161"/>
                    </a:lnTo>
                    <a:lnTo>
                      <a:pt x="46" y="170"/>
                    </a:lnTo>
                    <a:lnTo>
                      <a:pt x="57" y="161"/>
                    </a:lnTo>
                    <a:lnTo>
                      <a:pt x="62" y="185"/>
                    </a:lnTo>
                    <a:lnTo>
                      <a:pt x="46" y="170"/>
                    </a:lnTo>
                    <a:lnTo>
                      <a:pt x="52" y="15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97" name="Freeform 318"/>
              <p:cNvSpPr>
                <a:spLocks/>
              </p:cNvSpPr>
              <p:nvPr/>
            </p:nvSpPr>
            <p:spPr bwMode="auto">
              <a:xfrm>
                <a:off x="2215" y="2782"/>
                <a:ext cx="127" cy="113"/>
              </a:xfrm>
              <a:custGeom>
                <a:avLst/>
                <a:gdLst>
                  <a:gd name="T0" fmla="*/ 18 w 127"/>
                  <a:gd name="T1" fmla="*/ 18 h 113"/>
                  <a:gd name="T2" fmla="*/ 16 w 127"/>
                  <a:gd name="T3" fmla="*/ 1 h 113"/>
                  <a:gd name="T4" fmla="*/ 127 w 127"/>
                  <a:gd name="T5" fmla="*/ 97 h 113"/>
                  <a:gd name="T6" fmla="*/ 120 w 127"/>
                  <a:gd name="T7" fmla="*/ 113 h 113"/>
                  <a:gd name="T8" fmla="*/ 9 w 127"/>
                  <a:gd name="T9" fmla="*/ 17 h 113"/>
                  <a:gd name="T10" fmla="*/ 7 w 127"/>
                  <a:gd name="T11" fmla="*/ 0 h 113"/>
                  <a:gd name="T12" fmla="*/ 9 w 127"/>
                  <a:gd name="T13" fmla="*/ 17 h 113"/>
                  <a:gd name="T14" fmla="*/ 0 w 127"/>
                  <a:gd name="T15" fmla="*/ 7 h 113"/>
                  <a:gd name="T16" fmla="*/ 7 w 127"/>
                  <a:gd name="T17" fmla="*/ 0 h 113"/>
                  <a:gd name="T18" fmla="*/ 18 w 127"/>
                  <a:gd name="T19" fmla="*/ 18 h 11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"/>
                  <a:gd name="T31" fmla="*/ 0 h 113"/>
                  <a:gd name="T32" fmla="*/ 127 w 127"/>
                  <a:gd name="T33" fmla="*/ 113 h 11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" h="113">
                    <a:moveTo>
                      <a:pt x="18" y="18"/>
                    </a:moveTo>
                    <a:lnTo>
                      <a:pt x="16" y="1"/>
                    </a:lnTo>
                    <a:lnTo>
                      <a:pt x="127" y="97"/>
                    </a:lnTo>
                    <a:lnTo>
                      <a:pt x="120" y="113"/>
                    </a:lnTo>
                    <a:lnTo>
                      <a:pt x="9" y="17"/>
                    </a:lnTo>
                    <a:lnTo>
                      <a:pt x="7" y="0"/>
                    </a:lnTo>
                    <a:lnTo>
                      <a:pt x="9" y="17"/>
                    </a:lnTo>
                    <a:lnTo>
                      <a:pt x="0" y="7"/>
                    </a:lnTo>
                    <a:lnTo>
                      <a:pt x="7" y="0"/>
                    </a:lnTo>
                    <a:lnTo>
                      <a:pt x="18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98" name="Freeform 319"/>
              <p:cNvSpPr>
                <a:spLocks/>
              </p:cNvSpPr>
              <p:nvPr/>
            </p:nvSpPr>
            <p:spPr bwMode="auto">
              <a:xfrm>
                <a:off x="2220" y="2709"/>
                <a:ext cx="82" cy="90"/>
              </a:xfrm>
              <a:custGeom>
                <a:avLst/>
                <a:gdLst>
                  <a:gd name="T0" fmla="*/ 67 w 82"/>
                  <a:gd name="T1" fmla="*/ 18 h 90"/>
                  <a:gd name="T2" fmla="*/ 80 w 82"/>
                  <a:gd name="T3" fmla="*/ 25 h 90"/>
                  <a:gd name="T4" fmla="*/ 11 w 82"/>
                  <a:gd name="T5" fmla="*/ 90 h 90"/>
                  <a:gd name="T6" fmla="*/ 0 w 82"/>
                  <a:gd name="T7" fmla="*/ 72 h 90"/>
                  <a:gd name="T8" fmla="*/ 69 w 82"/>
                  <a:gd name="T9" fmla="*/ 9 h 90"/>
                  <a:gd name="T10" fmla="*/ 82 w 82"/>
                  <a:gd name="T11" fmla="*/ 15 h 90"/>
                  <a:gd name="T12" fmla="*/ 69 w 82"/>
                  <a:gd name="T13" fmla="*/ 9 h 90"/>
                  <a:gd name="T14" fmla="*/ 78 w 82"/>
                  <a:gd name="T15" fmla="*/ 0 h 90"/>
                  <a:gd name="T16" fmla="*/ 82 w 82"/>
                  <a:gd name="T17" fmla="*/ 15 h 90"/>
                  <a:gd name="T18" fmla="*/ 67 w 82"/>
                  <a:gd name="T19" fmla="*/ 18 h 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2"/>
                  <a:gd name="T31" fmla="*/ 0 h 90"/>
                  <a:gd name="T32" fmla="*/ 82 w 82"/>
                  <a:gd name="T33" fmla="*/ 90 h 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2" h="90">
                    <a:moveTo>
                      <a:pt x="67" y="18"/>
                    </a:moveTo>
                    <a:lnTo>
                      <a:pt x="80" y="25"/>
                    </a:lnTo>
                    <a:lnTo>
                      <a:pt x="11" y="90"/>
                    </a:lnTo>
                    <a:lnTo>
                      <a:pt x="0" y="72"/>
                    </a:lnTo>
                    <a:lnTo>
                      <a:pt x="69" y="9"/>
                    </a:lnTo>
                    <a:lnTo>
                      <a:pt x="82" y="15"/>
                    </a:lnTo>
                    <a:lnTo>
                      <a:pt x="69" y="9"/>
                    </a:lnTo>
                    <a:lnTo>
                      <a:pt x="78" y="0"/>
                    </a:lnTo>
                    <a:lnTo>
                      <a:pt x="82" y="15"/>
                    </a:lnTo>
                    <a:lnTo>
                      <a:pt x="67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99" name="Freeform 320"/>
              <p:cNvSpPr>
                <a:spLocks/>
              </p:cNvSpPr>
              <p:nvPr/>
            </p:nvSpPr>
            <p:spPr bwMode="auto">
              <a:xfrm>
                <a:off x="2290" y="2817"/>
                <a:ext cx="37" cy="46"/>
              </a:xfrm>
              <a:custGeom>
                <a:avLst/>
                <a:gdLst>
                  <a:gd name="T0" fmla="*/ 24 w 37"/>
                  <a:gd name="T1" fmla="*/ 0 h 46"/>
                  <a:gd name="T2" fmla="*/ 37 w 37"/>
                  <a:gd name="T3" fmla="*/ 19 h 46"/>
                  <a:gd name="T4" fmla="*/ 13 w 37"/>
                  <a:gd name="T5" fmla="*/ 46 h 46"/>
                  <a:gd name="T6" fmla="*/ 0 w 37"/>
                  <a:gd name="T7" fmla="*/ 27 h 46"/>
                  <a:gd name="T8" fmla="*/ 24 w 37"/>
                  <a:gd name="T9" fmla="*/ 0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46"/>
                  <a:gd name="T17" fmla="*/ 37 w 37"/>
                  <a:gd name="T18" fmla="*/ 46 h 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46">
                    <a:moveTo>
                      <a:pt x="24" y="0"/>
                    </a:moveTo>
                    <a:lnTo>
                      <a:pt x="37" y="19"/>
                    </a:lnTo>
                    <a:lnTo>
                      <a:pt x="13" y="46"/>
                    </a:lnTo>
                    <a:lnTo>
                      <a:pt x="0" y="2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400" name="Freeform 321"/>
              <p:cNvSpPr>
                <a:spLocks/>
              </p:cNvSpPr>
              <p:nvPr/>
            </p:nvSpPr>
            <p:spPr bwMode="auto">
              <a:xfrm>
                <a:off x="2186" y="2627"/>
                <a:ext cx="125" cy="216"/>
              </a:xfrm>
              <a:custGeom>
                <a:avLst/>
                <a:gdLst>
                  <a:gd name="T0" fmla="*/ 31 w 125"/>
                  <a:gd name="T1" fmla="*/ 0 h 216"/>
                  <a:gd name="T2" fmla="*/ 31 w 125"/>
                  <a:gd name="T3" fmla="*/ 0 h 216"/>
                  <a:gd name="T4" fmla="*/ 40 w 125"/>
                  <a:gd name="T5" fmla="*/ 28 h 216"/>
                  <a:gd name="T6" fmla="*/ 51 w 125"/>
                  <a:gd name="T7" fmla="*/ 52 h 216"/>
                  <a:gd name="T8" fmla="*/ 62 w 125"/>
                  <a:gd name="T9" fmla="*/ 77 h 216"/>
                  <a:gd name="T10" fmla="*/ 72 w 125"/>
                  <a:gd name="T11" fmla="*/ 101 h 216"/>
                  <a:gd name="T12" fmla="*/ 84 w 125"/>
                  <a:gd name="T13" fmla="*/ 125 h 216"/>
                  <a:gd name="T14" fmla="*/ 97 w 125"/>
                  <a:gd name="T15" fmla="*/ 146 h 216"/>
                  <a:gd name="T16" fmla="*/ 110 w 125"/>
                  <a:gd name="T17" fmla="*/ 169 h 216"/>
                  <a:gd name="T18" fmla="*/ 125 w 125"/>
                  <a:gd name="T19" fmla="*/ 191 h 216"/>
                  <a:gd name="T20" fmla="*/ 101 w 125"/>
                  <a:gd name="T21" fmla="*/ 216 h 216"/>
                  <a:gd name="T22" fmla="*/ 85 w 125"/>
                  <a:gd name="T23" fmla="*/ 191 h 216"/>
                  <a:gd name="T24" fmla="*/ 70 w 125"/>
                  <a:gd name="T25" fmla="*/ 168 h 216"/>
                  <a:gd name="T26" fmla="*/ 57 w 125"/>
                  <a:gd name="T27" fmla="*/ 144 h 216"/>
                  <a:gd name="T28" fmla="*/ 45 w 125"/>
                  <a:gd name="T29" fmla="*/ 118 h 216"/>
                  <a:gd name="T30" fmla="*/ 33 w 125"/>
                  <a:gd name="T31" fmla="*/ 93 h 216"/>
                  <a:gd name="T32" fmla="*/ 21 w 125"/>
                  <a:gd name="T33" fmla="*/ 67 h 216"/>
                  <a:gd name="T34" fmla="*/ 11 w 125"/>
                  <a:gd name="T35" fmla="*/ 39 h 216"/>
                  <a:gd name="T36" fmla="*/ 0 w 125"/>
                  <a:gd name="T37" fmla="*/ 11 h 216"/>
                  <a:gd name="T38" fmla="*/ 31 w 125"/>
                  <a:gd name="T39" fmla="*/ 0 h 21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5"/>
                  <a:gd name="T61" fmla="*/ 0 h 216"/>
                  <a:gd name="T62" fmla="*/ 125 w 125"/>
                  <a:gd name="T63" fmla="*/ 216 h 21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5" h="216">
                    <a:moveTo>
                      <a:pt x="31" y="0"/>
                    </a:moveTo>
                    <a:lnTo>
                      <a:pt x="31" y="0"/>
                    </a:lnTo>
                    <a:lnTo>
                      <a:pt x="40" y="28"/>
                    </a:lnTo>
                    <a:lnTo>
                      <a:pt x="51" y="52"/>
                    </a:lnTo>
                    <a:lnTo>
                      <a:pt x="62" y="77"/>
                    </a:lnTo>
                    <a:lnTo>
                      <a:pt x="72" y="101"/>
                    </a:lnTo>
                    <a:lnTo>
                      <a:pt x="84" y="125"/>
                    </a:lnTo>
                    <a:lnTo>
                      <a:pt x="97" y="146"/>
                    </a:lnTo>
                    <a:lnTo>
                      <a:pt x="110" y="169"/>
                    </a:lnTo>
                    <a:lnTo>
                      <a:pt x="125" y="191"/>
                    </a:lnTo>
                    <a:lnTo>
                      <a:pt x="101" y="216"/>
                    </a:lnTo>
                    <a:lnTo>
                      <a:pt x="85" y="191"/>
                    </a:lnTo>
                    <a:lnTo>
                      <a:pt x="70" y="168"/>
                    </a:lnTo>
                    <a:lnTo>
                      <a:pt x="57" y="144"/>
                    </a:lnTo>
                    <a:lnTo>
                      <a:pt x="45" y="118"/>
                    </a:lnTo>
                    <a:lnTo>
                      <a:pt x="33" y="93"/>
                    </a:lnTo>
                    <a:lnTo>
                      <a:pt x="21" y="67"/>
                    </a:lnTo>
                    <a:lnTo>
                      <a:pt x="11" y="39"/>
                    </a:lnTo>
                    <a:lnTo>
                      <a:pt x="0" y="11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401" name="Freeform 322"/>
              <p:cNvSpPr>
                <a:spLocks/>
              </p:cNvSpPr>
              <p:nvPr/>
            </p:nvSpPr>
            <p:spPr bwMode="auto">
              <a:xfrm>
                <a:off x="2130" y="2430"/>
                <a:ext cx="83" cy="205"/>
              </a:xfrm>
              <a:custGeom>
                <a:avLst/>
                <a:gdLst>
                  <a:gd name="T0" fmla="*/ 33 w 83"/>
                  <a:gd name="T1" fmla="*/ 0 h 205"/>
                  <a:gd name="T2" fmla="*/ 36 w 83"/>
                  <a:gd name="T3" fmla="*/ 25 h 205"/>
                  <a:gd name="T4" fmla="*/ 41 w 83"/>
                  <a:gd name="T5" fmla="*/ 49 h 205"/>
                  <a:gd name="T6" fmla="*/ 47 w 83"/>
                  <a:gd name="T7" fmla="*/ 73 h 205"/>
                  <a:gd name="T8" fmla="*/ 52 w 83"/>
                  <a:gd name="T9" fmla="*/ 97 h 205"/>
                  <a:gd name="T10" fmla="*/ 59 w 83"/>
                  <a:gd name="T11" fmla="*/ 122 h 205"/>
                  <a:gd name="T12" fmla="*/ 66 w 83"/>
                  <a:gd name="T13" fmla="*/ 146 h 205"/>
                  <a:gd name="T14" fmla="*/ 75 w 83"/>
                  <a:gd name="T15" fmla="*/ 170 h 205"/>
                  <a:gd name="T16" fmla="*/ 83 w 83"/>
                  <a:gd name="T17" fmla="*/ 195 h 205"/>
                  <a:gd name="T18" fmla="*/ 54 w 83"/>
                  <a:gd name="T19" fmla="*/ 205 h 205"/>
                  <a:gd name="T20" fmla="*/ 45 w 83"/>
                  <a:gd name="T21" fmla="*/ 181 h 205"/>
                  <a:gd name="T22" fmla="*/ 35 w 83"/>
                  <a:gd name="T23" fmla="*/ 155 h 205"/>
                  <a:gd name="T24" fmla="*/ 29 w 83"/>
                  <a:gd name="T25" fmla="*/ 130 h 205"/>
                  <a:gd name="T26" fmla="*/ 21 w 83"/>
                  <a:gd name="T27" fmla="*/ 103 h 205"/>
                  <a:gd name="T28" fmla="*/ 15 w 83"/>
                  <a:gd name="T29" fmla="*/ 78 h 205"/>
                  <a:gd name="T30" fmla="*/ 9 w 83"/>
                  <a:gd name="T31" fmla="*/ 53 h 205"/>
                  <a:gd name="T32" fmla="*/ 4 w 83"/>
                  <a:gd name="T33" fmla="*/ 27 h 205"/>
                  <a:gd name="T34" fmla="*/ 0 w 83"/>
                  <a:gd name="T35" fmla="*/ 1 h 205"/>
                  <a:gd name="T36" fmla="*/ 33 w 83"/>
                  <a:gd name="T37" fmla="*/ 0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3"/>
                  <a:gd name="T58" fmla="*/ 0 h 205"/>
                  <a:gd name="T59" fmla="*/ 83 w 83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3" h="205">
                    <a:moveTo>
                      <a:pt x="33" y="0"/>
                    </a:moveTo>
                    <a:lnTo>
                      <a:pt x="36" y="25"/>
                    </a:lnTo>
                    <a:lnTo>
                      <a:pt x="41" y="49"/>
                    </a:lnTo>
                    <a:lnTo>
                      <a:pt x="47" y="73"/>
                    </a:lnTo>
                    <a:lnTo>
                      <a:pt x="52" y="97"/>
                    </a:lnTo>
                    <a:lnTo>
                      <a:pt x="59" y="122"/>
                    </a:lnTo>
                    <a:lnTo>
                      <a:pt x="66" y="146"/>
                    </a:lnTo>
                    <a:lnTo>
                      <a:pt x="75" y="170"/>
                    </a:lnTo>
                    <a:lnTo>
                      <a:pt x="83" y="195"/>
                    </a:lnTo>
                    <a:lnTo>
                      <a:pt x="54" y="205"/>
                    </a:lnTo>
                    <a:lnTo>
                      <a:pt x="45" y="181"/>
                    </a:lnTo>
                    <a:lnTo>
                      <a:pt x="35" y="155"/>
                    </a:lnTo>
                    <a:lnTo>
                      <a:pt x="29" y="130"/>
                    </a:lnTo>
                    <a:lnTo>
                      <a:pt x="21" y="103"/>
                    </a:lnTo>
                    <a:lnTo>
                      <a:pt x="15" y="78"/>
                    </a:lnTo>
                    <a:lnTo>
                      <a:pt x="9" y="53"/>
                    </a:lnTo>
                    <a:lnTo>
                      <a:pt x="4" y="27"/>
                    </a:lnTo>
                    <a:lnTo>
                      <a:pt x="0" y="1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402" name="Freeform 323"/>
              <p:cNvSpPr>
                <a:spLocks/>
              </p:cNvSpPr>
              <p:nvPr/>
            </p:nvSpPr>
            <p:spPr bwMode="auto">
              <a:xfrm>
                <a:off x="2125" y="2409"/>
                <a:ext cx="36" cy="23"/>
              </a:xfrm>
              <a:custGeom>
                <a:avLst/>
                <a:gdLst>
                  <a:gd name="T0" fmla="*/ 3 w 36"/>
                  <a:gd name="T1" fmla="*/ 23 h 23"/>
                  <a:gd name="T2" fmla="*/ 0 w 36"/>
                  <a:gd name="T3" fmla="*/ 0 h 23"/>
                  <a:gd name="T4" fmla="*/ 33 w 36"/>
                  <a:gd name="T5" fmla="*/ 0 h 23"/>
                  <a:gd name="T6" fmla="*/ 36 w 36"/>
                  <a:gd name="T7" fmla="*/ 23 h 23"/>
                  <a:gd name="T8" fmla="*/ 3 w 36"/>
                  <a:gd name="T9" fmla="*/ 23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23"/>
                  <a:gd name="T17" fmla="*/ 36 w 36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23">
                    <a:moveTo>
                      <a:pt x="3" y="23"/>
                    </a:moveTo>
                    <a:lnTo>
                      <a:pt x="0" y="0"/>
                    </a:lnTo>
                    <a:lnTo>
                      <a:pt x="33" y="0"/>
                    </a:lnTo>
                    <a:lnTo>
                      <a:pt x="36" y="23"/>
                    </a:lnTo>
                    <a:lnTo>
                      <a:pt x="3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403" name="Freeform 324"/>
              <p:cNvSpPr>
                <a:spLocks/>
              </p:cNvSpPr>
              <p:nvPr/>
            </p:nvSpPr>
            <p:spPr bwMode="auto">
              <a:xfrm>
                <a:off x="2226" y="2727"/>
                <a:ext cx="114" cy="162"/>
              </a:xfrm>
              <a:custGeom>
                <a:avLst/>
                <a:gdLst>
                  <a:gd name="T0" fmla="*/ 72 w 114"/>
                  <a:gd name="T1" fmla="*/ 0 h 162"/>
                  <a:gd name="T2" fmla="*/ 114 w 114"/>
                  <a:gd name="T3" fmla="*/ 162 h 162"/>
                  <a:gd name="T4" fmla="*/ 0 w 114"/>
                  <a:gd name="T5" fmla="*/ 64 h 162"/>
                  <a:gd name="T6" fmla="*/ 72 w 114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4"/>
                  <a:gd name="T13" fmla="*/ 0 h 162"/>
                  <a:gd name="T14" fmla="*/ 114 w 114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4" h="162">
                    <a:moveTo>
                      <a:pt x="72" y="0"/>
                    </a:moveTo>
                    <a:lnTo>
                      <a:pt x="114" y="162"/>
                    </a:lnTo>
                    <a:lnTo>
                      <a:pt x="0" y="64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404" name="Freeform 325"/>
              <p:cNvSpPr>
                <a:spLocks/>
              </p:cNvSpPr>
              <p:nvPr/>
            </p:nvSpPr>
            <p:spPr bwMode="auto">
              <a:xfrm>
                <a:off x="2294" y="2726"/>
                <a:ext cx="54" cy="176"/>
              </a:xfrm>
              <a:custGeom>
                <a:avLst/>
                <a:gdLst>
                  <a:gd name="T0" fmla="*/ 48 w 54"/>
                  <a:gd name="T1" fmla="*/ 158 h 176"/>
                  <a:gd name="T2" fmla="*/ 41 w 54"/>
                  <a:gd name="T3" fmla="*/ 164 h 176"/>
                  <a:gd name="T4" fmla="*/ 0 w 54"/>
                  <a:gd name="T5" fmla="*/ 3 h 176"/>
                  <a:gd name="T6" fmla="*/ 8 w 54"/>
                  <a:gd name="T7" fmla="*/ 0 h 176"/>
                  <a:gd name="T8" fmla="*/ 50 w 54"/>
                  <a:gd name="T9" fmla="*/ 162 h 176"/>
                  <a:gd name="T10" fmla="*/ 43 w 54"/>
                  <a:gd name="T11" fmla="*/ 167 h 176"/>
                  <a:gd name="T12" fmla="*/ 50 w 54"/>
                  <a:gd name="T13" fmla="*/ 162 h 176"/>
                  <a:gd name="T14" fmla="*/ 54 w 54"/>
                  <a:gd name="T15" fmla="*/ 176 h 176"/>
                  <a:gd name="T16" fmla="*/ 43 w 54"/>
                  <a:gd name="T17" fmla="*/ 167 h 176"/>
                  <a:gd name="T18" fmla="*/ 48 w 54"/>
                  <a:gd name="T19" fmla="*/ 158 h 1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4"/>
                  <a:gd name="T31" fmla="*/ 0 h 176"/>
                  <a:gd name="T32" fmla="*/ 54 w 54"/>
                  <a:gd name="T33" fmla="*/ 176 h 1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4" h="176">
                    <a:moveTo>
                      <a:pt x="48" y="158"/>
                    </a:moveTo>
                    <a:lnTo>
                      <a:pt x="41" y="164"/>
                    </a:lnTo>
                    <a:lnTo>
                      <a:pt x="0" y="3"/>
                    </a:lnTo>
                    <a:lnTo>
                      <a:pt x="8" y="0"/>
                    </a:lnTo>
                    <a:lnTo>
                      <a:pt x="50" y="162"/>
                    </a:lnTo>
                    <a:lnTo>
                      <a:pt x="43" y="167"/>
                    </a:lnTo>
                    <a:lnTo>
                      <a:pt x="50" y="162"/>
                    </a:lnTo>
                    <a:lnTo>
                      <a:pt x="54" y="176"/>
                    </a:lnTo>
                    <a:lnTo>
                      <a:pt x="43" y="167"/>
                    </a:lnTo>
                    <a:lnTo>
                      <a:pt x="48" y="158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405" name="Freeform 326"/>
              <p:cNvSpPr>
                <a:spLocks/>
              </p:cNvSpPr>
              <p:nvPr/>
            </p:nvSpPr>
            <p:spPr bwMode="auto">
              <a:xfrm>
                <a:off x="2219" y="2784"/>
                <a:ext cx="122" cy="107"/>
              </a:xfrm>
              <a:custGeom>
                <a:avLst/>
                <a:gdLst>
                  <a:gd name="T0" fmla="*/ 12 w 122"/>
                  <a:gd name="T1" fmla="*/ 12 h 107"/>
                  <a:gd name="T2" fmla="*/ 10 w 122"/>
                  <a:gd name="T3" fmla="*/ 1 h 107"/>
                  <a:gd name="T4" fmla="*/ 122 w 122"/>
                  <a:gd name="T5" fmla="*/ 98 h 107"/>
                  <a:gd name="T6" fmla="*/ 118 w 122"/>
                  <a:gd name="T7" fmla="*/ 107 h 107"/>
                  <a:gd name="T8" fmla="*/ 6 w 122"/>
                  <a:gd name="T9" fmla="*/ 11 h 107"/>
                  <a:gd name="T10" fmla="*/ 4 w 122"/>
                  <a:gd name="T11" fmla="*/ 0 h 107"/>
                  <a:gd name="T12" fmla="*/ 6 w 122"/>
                  <a:gd name="T13" fmla="*/ 11 h 107"/>
                  <a:gd name="T14" fmla="*/ 0 w 122"/>
                  <a:gd name="T15" fmla="*/ 5 h 107"/>
                  <a:gd name="T16" fmla="*/ 4 w 122"/>
                  <a:gd name="T17" fmla="*/ 0 h 107"/>
                  <a:gd name="T18" fmla="*/ 12 w 122"/>
                  <a:gd name="T19" fmla="*/ 12 h 10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2"/>
                  <a:gd name="T31" fmla="*/ 0 h 107"/>
                  <a:gd name="T32" fmla="*/ 122 w 122"/>
                  <a:gd name="T33" fmla="*/ 107 h 10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2" h="107">
                    <a:moveTo>
                      <a:pt x="12" y="12"/>
                    </a:moveTo>
                    <a:lnTo>
                      <a:pt x="10" y="1"/>
                    </a:lnTo>
                    <a:lnTo>
                      <a:pt x="122" y="98"/>
                    </a:lnTo>
                    <a:lnTo>
                      <a:pt x="118" y="107"/>
                    </a:lnTo>
                    <a:lnTo>
                      <a:pt x="6" y="11"/>
                    </a:lnTo>
                    <a:lnTo>
                      <a:pt x="4" y="0"/>
                    </a:lnTo>
                    <a:lnTo>
                      <a:pt x="6" y="11"/>
                    </a:lnTo>
                    <a:lnTo>
                      <a:pt x="0" y="5"/>
                    </a:lnTo>
                    <a:lnTo>
                      <a:pt x="4" y="0"/>
                    </a:lnTo>
                    <a:lnTo>
                      <a:pt x="12" y="12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406" name="Freeform 327"/>
              <p:cNvSpPr>
                <a:spLocks/>
              </p:cNvSpPr>
              <p:nvPr/>
            </p:nvSpPr>
            <p:spPr bwMode="auto">
              <a:xfrm>
                <a:off x="2222" y="2717"/>
                <a:ext cx="78" cy="79"/>
              </a:xfrm>
              <a:custGeom>
                <a:avLst/>
                <a:gdLst>
                  <a:gd name="T0" fmla="*/ 69 w 78"/>
                  <a:gd name="T1" fmla="*/ 10 h 79"/>
                  <a:gd name="T2" fmla="*/ 77 w 78"/>
                  <a:gd name="T3" fmla="*/ 16 h 79"/>
                  <a:gd name="T4" fmla="*/ 6 w 78"/>
                  <a:gd name="T5" fmla="*/ 79 h 79"/>
                  <a:gd name="T6" fmla="*/ 0 w 78"/>
                  <a:gd name="T7" fmla="*/ 68 h 79"/>
                  <a:gd name="T8" fmla="*/ 69 w 78"/>
                  <a:gd name="T9" fmla="*/ 4 h 79"/>
                  <a:gd name="T10" fmla="*/ 78 w 78"/>
                  <a:gd name="T11" fmla="*/ 8 h 79"/>
                  <a:gd name="T12" fmla="*/ 69 w 78"/>
                  <a:gd name="T13" fmla="*/ 4 h 79"/>
                  <a:gd name="T14" fmla="*/ 75 w 78"/>
                  <a:gd name="T15" fmla="*/ 0 h 79"/>
                  <a:gd name="T16" fmla="*/ 78 w 78"/>
                  <a:gd name="T17" fmla="*/ 8 h 79"/>
                  <a:gd name="T18" fmla="*/ 69 w 78"/>
                  <a:gd name="T19" fmla="*/ 10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8"/>
                  <a:gd name="T31" fmla="*/ 0 h 79"/>
                  <a:gd name="T32" fmla="*/ 78 w 78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8" h="79">
                    <a:moveTo>
                      <a:pt x="69" y="10"/>
                    </a:moveTo>
                    <a:lnTo>
                      <a:pt x="77" y="16"/>
                    </a:lnTo>
                    <a:lnTo>
                      <a:pt x="6" y="79"/>
                    </a:lnTo>
                    <a:lnTo>
                      <a:pt x="0" y="68"/>
                    </a:lnTo>
                    <a:lnTo>
                      <a:pt x="69" y="4"/>
                    </a:lnTo>
                    <a:lnTo>
                      <a:pt x="78" y="8"/>
                    </a:lnTo>
                    <a:lnTo>
                      <a:pt x="69" y="4"/>
                    </a:lnTo>
                    <a:lnTo>
                      <a:pt x="75" y="0"/>
                    </a:lnTo>
                    <a:lnTo>
                      <a:pt x="78" y="8"/>
                    </a:lnTo>
                    <a:lnTo>
                      <a:pt x="69" y="1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407" name="Freeform 328"/>
              <p:cNvSpPr>
                <a:spLocks/>
              </p:cNvSpPr>
              <p:nvPr/>
            </p:nvSpPr>
            <p:spPr bwMode="auto">
              <a:xfrm>
                <a:off x="2290" y="2821"/>
                <a:ext cx="30" cy="37"/>
              </a:xfrm>
              <a:custGeom>
                <a:avLst/>
                <a:gdLst>
                  <a:gd name="T0" fmla="*/ 21 w 30"/>
                  <a:gd name="T1" fmla="*/ 0 h 37"/>
                  <a:gd name="T2" fmla="*/ 30 w 30"/>
                  <a:gd name="T3" fmla="*/ 16 h 37"/>
                  <a:gd name="T4" fmla="*/ 10 w 30"/>
                  <a:gd name="T5" fmla="*/ 37 h 37"/>
                  <a:gd name="T6" fmla="*/ 0 w 30"/>
                  <a:gd name="T7" fmla="*/ 22 h 37"/>
                  <a:gd name="T8" fmla="*/ 21 w 30"/>
                  <a:gd name="T9" fmla="*/ 0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7"/>
                  <a:gd name="T17" fmla="*/ 30 w 30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7">
                    <a:moveTo>
                      <a:pt x="21" y="0"/>
                    </a:moveTo>
                    <a:lnTo>
                      <a:pt x="30" y="16"/>
                    </a:lnTo>
                    <a:lnTo>
                      <a:pt x="10" y="37"/>
                    </a:lnTo>
                    <a:lnTo>
                      <a:pt x="0" y="22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408" name="Freeform 329"/>
              <p:cNvSpPr>
                <a:spLocks/>
              </p:cNvSpPr>
              <p:nvPr/>
            </p:nvSpPr>
            <p:spPr bwMode="auto">
              <a:xfrm>
                <a:off x="2190" y="2626"/>
                <a:ext cx="120" cy="213"/>
              </a:xfrm>
              <a:custGeom>
                <a:avLst/>
                <a:gdLst>
                  <a:gd name="T0" fmla="*/ 25 w 120"/>
                  <a:gd name="T1" fmla="*/ 0 h 213"/>
                  <a:gd name="T2" fmla="*/ 25 w 120"/>
                  <a:gd name="T3" fmla="*/ 0 h 213"/>
                  <a:gd name="T4" fmla="*/ 35 w 120"/>
                  <a:gd name="T5" fmla="*/ 28 h 213"/>
                  <a:gd name="T6" fmla="*/ 47 w 120"/>
                  <a:gd name="T7" fmla="*/ 54 h 213"/>
                  <a:gd name="T8" fmla="*/ 57 w 120"/>
                  <a:gd name="T9" fmla="*/ 78 h 213"/>
                  <a:gd name="T10" fmla="*/ 68 w 120"/>
                  <a:gd name="T11" fmla="*/ 102 h 213"/>
                  <a:gd name="T12" fmla="*/ 80 w 120"/>
                  <a:gd name="T13" fmla="*/ 125 h 213"/>
                  <a:gd name="T14" fmla="*/ 93 w 120"/>
                  <a:gd name="T15" fmla="*/ 147 h 213"/>
                  <a:gd name="T16" fmla="*/ 105 w 120"/>
                  <a:gd name="T17" fmla="*/ 171 h 213"/>
                  <a:gd name="T18" fmla="*/ 120 w 120"/>
                  <a:gd name="T19" fmla="*/ 193 h 213"/>
                  <a:gd name="T20" fmla="*/ 100 w 120"/>
                  <a:gd name="T21" fmla="*/ 213 h 213"/>
                  <a:gd name="T22" fmla="*/ 84 w 120"/>
                  <a:gd name="T23" fmla="*/ 188 h 213"/>
                  <a:gd name="T24" fmla="*/ 70 w 120"/>
                  <a:gd name="T25" fmla="*/ 164 h 213"/>
                  <a:gd name="T26" fmla="*/ 58 w 120"/>
                  <a:gd name="T27" fmla="*/ 141 h 213"/>
                  <a:gd name="T28" fmla="*/ 46 w 120"/>
                  <a:gd name="T29" fmla="*/ 116 h 213"/>
                  <a:gd name="T30" fmla="*/ 33 w 120"/>
                  <a:gd name="T31" fmla="*/ 92 h 213"/>
                  <a:gd name="T32" fmla="*/ 21 w 120"/>
                  <a:gd name="T33" fmla="*/ 65 h 213"/>
                  <a:gd name="T34" fmla="*/ 12 w 120"/>
                  <a:gd name="T35" fmla="*/ 38 h 213"/>
                  <a:gd name="T36" fmla="*/ 0 w 120"/>
                  <a:gd name="T37" fmla="*/ 10 h 213"/>
                  <a:gd name="T38" fmla="*/ 25 w 120"/>
                  <a:gd name="T39" fmla="*/ 0 h 21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0"/>
                  <a:gd name="T61" fmla="*/ 0 h 213"/>
                  <a:gd name="T62" fmla="*/ 120 w 120"/>
                  <a:gd name="T63" fmla="*/ 213 h 21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0" h="213">
                    <a:moveTo>
                      <a:pt x="25" y="0"/>
                    </a:moveTo>
                    <a:lnTo>
                      <a:pt x="25" y="0"/>
                    </a:lnTo>
                    <a:lnTo>
                      <a:pt x="35" y="28"/>
                    </a:lnTo>
                    <a:lnTo>
                      <a:pt x="47" y="54"/>
                    </a:lnTo>
                    <a:lnTo>
                      <a:pt x="57" y="78"/>
                    </a:lnTo>
                    <a:lnTo>
                      <a:pt x="68" y="102"/>
                    </a:lnTo>
                    <a:lnTo>
                      <a:pt x="80" y="125"/>
                    </a:lnTo>
                    <a:lnTo>
                      <a:pt x="93" y="147"/>
                    </a:lnTo>
                    <a:lnTo>
                      <a:pt x="105" y="171"/>
                    </a:lnTo>
                    <a:lnTo>
                      <a:pt x="120" y="193"/>
                    </a:lnTo>
                    <a:lnTo>
                      <a:pt x="100" y="213"/>
                    </a:lnTo>
                    <a:lnTo>
                      <a:pt x="84" y="188"/>
                    </a:lnTo>
                    <a:lnTo>
                      <a:pt x="70" y="164"/>
                    </a:lnTo>
                    <a:lnTo>
                      <a:pt x="58" y="141"/>
                    </a:lnTo>
                    <a:lnTo>
                      <a:pt x="46" y="116"/>
                    </a:lnTo>
                    <a:lnTo>
                      <a:pt x="33" y="92"/>
                    </a:lnTo>
                    <a:lnTo>
                      <a:pt x="21" y="65"/>
                    </a:lnTo>
                    <a:lnTo>
                      <a:pt x="12" y="38"/>
                    </a:lnTo>
                    <a:lnTo>
                      <a:pt x="0" y="1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409" name="Freeform 330"/>
              <p:cNvSpPr>
                <a:spLocks/>
              </p:cNvSpPr>
              <p:nvPr/>
            </p:nvSpPr>
            <p:spPr bwMode="auto">
              <a:xfrm>
                <a:off x="2134" y="2432"/>
                <a:ext cx="77" cy="204"/>
              </a:xfrm>
              <a:custGeom>
                <a:avLst/>
                <a:gdLst>
                  <a:gd name="T0" fmla="*/ 27 w 77"/>
                  <a:gd name="T1" fmla="*/ 0 h 204"/>
                  <a:gd name="T2" fmla="*/ 31 w 77"/>
                  <a:gd name="T3" fmla="*/ 25 h 204"/>
                  <a:gd name="T4" fmla="*/ 36 w 77"/>
                  <a:gd name="T5" fmla="*/ 48 h 204"/>
                  <a:gd name="T6" fmla="*/ 42 w 77"/>
                  <a:gd name="T7" fmla="*/ 73 h 204"/>
                  <a:gd name="T8" fmla="*/ 47 w 77"/>
                  <a:gd name="T9" fmla="*/ 98 h 204"/>
                  <a:gd name="T10" fmla="*/ 54 w 77"/>
                  <a:gd name="T11" fmla="*/ 121 h 204"/>
                  <a:gd name="T12" fmla="*/ 61 w 77"/>
                  <a:gd name="T13" fmla="*/ 146 h 204"/>
                  <a:gd name="T14" fmla="*/ 69 w 77"/>
                  <a:gd name="T15" fmla="*/ 170 h 204"/>
                  <a:gd name="T16" fmla="*/ 77 w 77"/>
                  <a:gd name="T17" fmla="*/ 194 h 204"/>
                  <a:gd name="T18" fmla="*/ 52 w 77"/>
                  <a:gd name="T19" fmla="*/ 204 h 204"/>
                  <a:gd name="T20" fmla="*/ 44 w 77"/>
                  <a:gd name="T21" fmla="*/ 180 h 204"/>
                  <a:gd name="T22" fmla="*/ 35 w 77"/>
                  <a:gd name="T23" fmla="*/ 153 h 204"/>
                  <a:gd name="T24" fmla="*/ 28 w 77"/>
                  <a:gd name="T25" fmla="*/ 129 h 204"/>
                  <a:gd name="T26" fmla="*/ 21 w 77"/>
                  <a:gd name="T27" fmla="*/ 103 h 204"/>
                  <a:gd name="T28" fmla="*/ 14 w 77"/>
                  <a:gd name="T29" fmla="*/ 77 h 204"/>
                  <a:gd name="T30" fmla="*/ 9 w 77"/>
                  <a:gd name="T31" fmla="*/ 52 h 204"/>
                  <a:gd name="T32" fmla="*/ 5 w 77"/>
                  <a:gd name="T33" fmla="*/ 26 h 204"/>
                  <a:gd name="T34" fmla="*/ 0 w 77"/>
                  <a:gd name="T35" fmla="*/ 0 h 204"/>
                  <a:gd name="T36" fmla="*/ 27 w 77"/>
                  <a:gd name="T37" fmla="*/ 0 h 2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7"/>
                  <a:gd name="T58" fmla="*/ 0 h 204"/>
                  <a:gd name="T59" fmla="*/ 77 w 77"/>
                  <a:gd name="T60" fmla="*/ 204 h 20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7" h="204">
                    <a:moveTo>
                      <a:pt x="27" y="0"/>
                    </a:moveTo>
                    <a:lnTo>
                      <a:pt x="31" y="25"/>
                    </a:lnTo>
                    <a:lnTo>
                      <a:pt x="36" y="48"/>
                    </a:lnTo>
                    <a:lnTo>
                      <a:pt x="42" y="73"/>
                    </a:lnTo>
                    <a:lnTo>
                      <a:pt x="47" y="98"/>
                    </a:lnTo>
                    <a:lnTo>
                      <a:pt x="54" y="121"/>
                    </a:lnTo>
                    <a:lnTo>
                      <a:pt x="61" y="146"/>
                    </a:lnTo>
                    <a:lnTo>
                      <a:pt x="69" y="170"/>
                    </a:lnTo>
                    <a:lnTo>
                      <a:pt x="77" y="194"/>
                    </a:lnTo>
                    <a:lnTo>
                      <a:pt x="52" y="204"/>
                    </a:lnTo>
                    <a:lnTo>
                      <a:pt x="44" y="180"/>
                    </a:lnTo>
                    <a:lnTo>
                      <a:pt x="35" y="153"/>
                    </a:lnTo>
                    <a:lnTo>
                      <a:pt x="28" y="129"/>
                    </a:lnTo>
                    <a:lnTo>
                      <a:pt x="21" y="103"/>
                    </a:lnTo>
                    <a:lnTo>
                      <a:pt x="14" y="77"/>
                    </a:lnTo>
                    <a:lnTo>
                      <a:pt x="9" y="52"/>
                    </a:lnTo>
                    <a:lnTo>
                      <a:pt x="5" y="26"/>
                    </a:lnTo>
                    <a:lnTo>
                      <a:pt x="0" y="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410" name="Freeform 331"/>
              <p:cNvSpPr>
                <a:spLocks/>
              </p:cNvSpPr>
              <p:nvPr/>
            </p:nvSpPr>
            <p:spPr bwMode="auto">
              <a:xfrm>
                <a:off x="2127" y="2414"/>
                <a:ext cx="31" cy="18"/>
              </a:xfrm>
              <a:custGeom>
                <a:avLst/>
                <a:gdLst>
                  <a:gd name="T0" fmla="*/ 3 w 31"/>
                  <a:gd name="T1" fmla="*/ 18 h 18"/>
                  <a:gd name="T2" fmla="*/ 0 w 31"/>
                  <a:gd name="T3" fmla="*/ 0 h 18"/>
                  <a:gd name="T4" fmla="*/ 28 w 31"/>
                  <a:gd name="T5" fmla="*/ 0 h 18"/>
                  <a:gd name="T6" fmla="*/ 31 w 31"/>
                  <a:gd name="T7" fmla="*/ 18 h 18"/>
                  <a:gd name="T8" fmla="*/ 3 w 31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18"/>
                  <a:gd name="T17" fmla="*/ 31 w 3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18">
                    <a:moveTo>
                      <a:pt x="3" y="18"/>
                    </a:moveTo>
                    <a:lnTo>
                      <a:pt x="0" y="0"/>
                    </a:lnTo>
                    <a:lnTo>
                      <a:pt x="28" y="0"/>
                    </a:lnTo>
                    <a:lnTo>
                      <a:pt x="31" y="18"/>
                    </a:lnTo>
                    <a:lnTo>
                      <a:pt x="3" y="18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2858" name="Oval 332"/>
            <p:cNvSpPr>
              <a:spLocks noChangeArrowheads="1"/>
            </p:cNvSpPr>
            <p:nvPr/>
          </p:nvSpPr>
          <p:spPr bwMode="auto">
            <a:xfrm>
              <a:off x="2669" y="1927"/>
              <a:ext cx="1873" cy="184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859" name="Oval 333"/>
            <p:cNvSpPr>
              <a:spLocks noChangeArrowheads="1"/>
            </p:cNvSpPr>
            <p:nvPr/>
          </p:nvSpPr>
          <p:spPr bwMode="auto">
            <a:xfrm>
              <a:off x="2741" y="1930"/>
              <a:ext cx="1823" cy="1763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860" name="Rectangle 334"/>
            <p:cNvSpPr>
              <a:spLocks noChangeArrowheads="1"/>
            </p:cNvSpPr>
            <p:nvPr/>
          </p:nvSpPr>
          <p:spPr bwMode="auto">
            <a:xfrm>
              <a:off x="3952" y="2395"/>
              <a:ext cx="706" cy="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861" name="Rectangle 335"/>
            <p:cNvSpPr>
              <a:spLocks noChangeArrowheads="1"/>
            </p:cNvSpPr>
            <p:nvPr/>
          </p:nvSpPr>
          <p:spPr bwMode="auto">
            <a:xfrm>
              <a:off x="4022" y="2444"/>
              <a:ext cx="552" cy="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862" name="Rectangle 336"/>
            <p:cNvSpPr>
              <a:spLocks noChangeArrowheads="1"/>
            </p:cNvSpPr>
            <p:nvPr/>
          </p:nvSpPr>
          <p:spPr bwMode="auto">
            <a:xfrm>
              <a:off x="4002" y="2549"/>
              <a:ext cx="552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2400" u="sng">
                  <a:solidFill>
                    <a:srgbClr val="000000"/>
                  </a:solidFill>
                  <a:latin typeface="Arial Narrow" pitchFamily="34" charset="0"/>
                </a:rPr>
                <a:t>CSMS</a:t>
              </a:r>
              <a:endParaRPr lang="en-US" sz="2700" b="0">
                <a:latin typeface="Times New Roman" pitchFamily="18" charset="0"/>
              </a:endParaRPr>
            </a:p>
          </p:txBody>
        </p:sp>
        <p:grpSp>
          <p:nvGrpSpPr>
            <p:cNvPr id="12863" name="Group 337"/>
            <p:cNvGrpSpPr>
              <a:grpSpLocks/>
            </p:cNvGrpSpPr>
            <p:nvPr/>
          </p:nvGrpSpPr>
          <p:grpSpPr bwMode="auto">
            <a:xfrm>
              <a:off x="3336" y="1604"/>
              <a:ext cx="716" cy="531"/>
              <a:chOff x="1254" y="3284"/>
              <a:chExt cx="580" cy="448"/>
            </a:xfrm>
          </p:grpSpPr>
          <p:grpSp>
            <p:nvGrpSpPr>
              <p:cNvPr id="13081" name="Group 338"/>
              <p:cNvGrpSpPr>
                <a:grpSpLocks/>
              </p:cNvGrpSpPr>
              <p:nvPr/>
            </p:nvGrpSpPr>
            <p:grpSpPr bwMode="auto">
              <a:xfrm>
                <a:off x="1428" y="3284"/>
                <a:ext cx="244" cy="332"/>
                <a:chOff x="3080" y="1174"/>
                <a:chExt cx="276" cy="366"/>
              </a:xfrm>
            </p:grpSpPr>
            <p:sp>
              <p:nvSpPr>
                <p:cNvPr id="13083" name="Rectangle 339"/>
                <p:cNvSpPr>
                  <a:spLocks noChangeArrowheads="1"/>
                </p:cNvSpPr>
                <p:nvPr/>
              </p:nvSpPr>
              <p:spPr bwMode="auto">
                <a:xfrm>
                  <a:off x="3129" y="1174"/>
                  <a:ext cx="227" cy="309"/>
                </a:xfrm>
                <a:prstGeom prst="rect">
                  <a:avLst/>
                </a:prstGeom>
                <a:solidFill>
                  <a:srgbClr val="99FF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084" name="Rectangle 340"/>
                <p:cNvSpPr>
                  <a:spLocks noChangeArrowheads="1"/>
                </p:cNvSpPr>
                <p:nvPr/>
              </p:nvSpPr>
              <p:spPr bwMode="auto">
                <a:xfrm>
                  <a:off x="3101" y="1212"/>
                  <a:ext cx="227" cy="309"/>
                </a:xfrm>
                <a:prstGeom prst="rect">
                  <a:avLst/>
                </a:prstGeom>
                <a:solidFill>
                  <a:srgbClr val="99FF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13085" name="Group 341"/>
                <p:cNvGrpSpPr>
                  <a:grpSpLocks/>
                </p:cNvGrpSpPr>
                <p:nvPr/>
              </p:nvGrpSpPr>
              <p:grpSpPr bwMode="auto">
                <a:xfrm>
                  <a:off x="3080" y="1247"/>
                  <a:ext cx="223" cy="293"/>
                  <a:chOff x="3080" y="1247"/>
                  <a:chExt cx="223" cy="293"/>
                </a:xfrm>
              </p:grpSpPr>
              <p:sp>
                <p:nvSpPr>
                  <p:cNvPr id="13086" name="Freeform 342"/>
                  <p:cNvSpPr>
                    <a:spLocks/>
                  </p:cNvSpPr>
                  <p:nvPr/>
                </p:nvSpPr>
                <p:spPr bwMode="auto">
                  <a:xfrm>
                    <a:off x="3080" y="1247"/>
                    <a:ext cx="223" cy="293"/>
                  </a:xfrm>
                  <a:custGeom>
                    <a:avLst/>
                    <a:gdLst>
                      <a:gd name="T0" fmla="*/ 0 w 223"/>
                      <a:gd name="T1" fmla="*/ 0 h 293"/>
                      <a:gd name="T2" fmla="*/ 0 w 223"/>
                      <a:gd name="T3" fmla="*/ 293 h 293"/>
                      <a:gd name="T4" fmla="*/ 132 w 223"/>
                      <a:gd name="T5" fmla="*/ 293 h 293"/>
                      <a:gd name="T6" fmla="*/ 223 w 223"/>
                      <a:gd name="T7" fmla="*/ 172 h 293"/>
                      <a:gd name="T8" fmla="*/ 223 w 223"/>
                      <a:gd name="T9" fmla="*/ 0 h 293"/>
                      <a:gd name="T10" fmla="*/ 0 w 223"/>
                      <a:gd name="T11" fmla="*/ 0 h 29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23"/>
                      <a:gd name="T19" fmla="*/ 0 h 293"/>
                      <a:gd name="T20" fmla="*/ 223 w 223"/>
                      <a:gd name="T21" fmla="*/ 293 h 29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23" h="293">
                        <a:moveTo>
                          <a:pt x="0" y="0"/>
                        </a:moveTo>
                        <a:lnTo>
                          <a:pt x="0" y="293"/>
                        </a:lnTo>
                        <a:lnTo>
                          <a:pt x="132" y="293"/>
                        </a:lnTo>
                        <a:lnTo>
                          <a:pt x="223" y="172"/>
                        </a:lnTo>
                        <a:lnTo>
                          <a:pt x="2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9FFCC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87" name="Freeform 343"/>
                  <p:cNvSpPr>
                    <a:spLocks/>
                  </p:cNvSpPr>
                  <p:nvPr/>
                </p:nvSpPr>
                <p:spPr bwMode="auto">
                  <a:xfrm>
                    <a:off x="3212" y="1419"/>
                    <a:ext cx="91" cy="121"/>
                  </a:xfrm>
                  <a:custGeom>
                    <a:avLst/>
                    <a:gdLst>
                      <a:gd name="T0" fmla="*/ 0 w 91"/>
                      <a:gd name="T1" fmla="*/ 121 h 121"/>
                      <a:gd name="T2" fmla="*/ 23 w 91"/>
                      <a:gd name="T3" fmla="*/ 4 h 121"/>
                      <a:gd name="T4" fmla="*/ 27 w 91"/>
                      <a:gd name="T5" fmla="*/ 10 h 121"/>
                      <a:gd name="T6" fmla="*/ 34 w 91"/>
                      <a:gd name="T7" fmla="*/ 16 h 121"/>
                      <a:gd name="T8" fmla="*/ 40 w 91"/>
                      <a:gd name="T9" fmla="*/ 18 h 121"/>
                      <a:gd name="T10" fmla="*/ 49 w 91"/>
                      <a:gd name="T11" fmla="*/ 18 h 121"/>
                      <a:gd name="T12" fmla="*/ 57 w 91"/>
                      <a:gd name="T13" fmla="*/ 17 h 121"/>
                      <a:gd name="T14" fmla="*/ 68 w 91"/>
                      <a:gd name="T15" fmla="*/ 13 h 121"/>
                      <a:gd name="T16" fmla="*/ 79 w 91"/>
                      <a:gd name="T17" fmla="*/ 7 h 121"/>
                      <a:gd name="T18" fmla="*/ 91 w 91"/>
                      <a:gd name="T19" fmla="*/ 0 h 121"/>
                      <a:gd name="T20" fmla="*/ 0 w 91"/>
                      <a:gd name="T21" fmla="*/ 121 h 12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91"/>
                      <a:gd name="T34" fmla="*/ 0 h 121"/>
                      <a:gd name="T35" fmla="*/ 91 w 91"/>
                      <a:gd name="T36" fmla="*/ 121 h 121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91" h="121">
                        <a:moveTo>
                          <a:pt x="0" y="121"/>
                        </a:moveTo>
                        <a:lnTo>
                          <a:pt x="23" y="4"/>
                        </a:lnTo>
                        <a:lnTo>
                          <a:pt x="27" y="10"/>
                        </a:lnTo>
                        <a:lnTo>
                          <a:pt x="34" y="16"/>
                        </a:lnTo>
                        <a:lnTo>
                          <a:pt x="40" y="18"/>
                        </a:lnTo>
                        <a:lnTo>
                          <a:pt x="49" y="18"/>
                        </a:lnTo>
                        <a:lnTo>
                          <a:pt x="57" y="17"/>
                        </a:lnTo>
                        <a:lnTo>
                          <a:pt x="68" y="13"/>
                        </a:lnTo>
                        <a:lnTo>
                          <a:pt x="79" y="7"/>
                        </a:lnTo>
                        <a:lnTo>
                          <a:pt x="91" y="0"/>
                        </a:lnTo>
                        <a:lnTo>
                          <a:pt x="0" y="121"/>
                        </a:lnTo>
                        <a:close/>
                      </a:path>
                    </a:pathLst>
                  </a:custGeom>
                  <a:solidFill>
                    <a:srgbClr val="99FFCC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88" name="Freeform 344"/>
                  <p:cNvSpPr>
                    <a:spLocks/>
                  </p:cNvSpPr>
                  <p:nvPr/>
                </p:nvSpPr>
                <p:spPr bwMode="auto">
                  <a:xfrm>
                    <a:off x="3080" y="1247"/>
                    <a:ext cx="223" cy="293"/>
                  </a:xfrm>
                  <a:custGeom>
                    <a:avLst/>
                    <a:gdLst>
                      <a:gd name="T0" fmla="*/ 0 w 223"/>
                      <a:gd name="T1" fmla="*/ 0 h 293"/>
                      <a:gd name="T2" fmla="*/ 0 w 223"/>
                      <a:gd name="T3" fmla="*/ 293 h 293"/>
                      <a:gd name="T4" fmla="*/ 132 w 223"/>
                      <a:gd name="T5" fmla="*/ 293 h 293"/>
                      <a:gd name="T6" fmla="*/ 223 w 223"/>
                      <a:gd name="T7" fmla="*/ 172 h 293"/>
                      <a:gd name="T8" fmla="*/ 223 w 223"/>
                      <a:gd name="T9" fmla="*/ 0 h 293"/>
                      <a:gd name="T10" fmla="*/ 0 w 223"/>
                      <a:gd name="T11" fmla="*/ 0 h 29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23"/>
                      <a:gd name="T19" fmla="*/ 0 h 293"/>
                      <a:gd name="T20" fmla="*/ 223 w 223"/>
                      <a:gd name="T21" fmla="*/ 293 h 29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23" h="293">
                        <a:moveTo>
                          <a:pt x="0" y="0"/>
                        </a:moveTo>
                        <a:lnTo>
                          <a:pt x="0" y="293"/>
                        </a:lnTo>
                        <a:lnTo>
                          <a:pt x="132" y="293"/>
                        </a:lnTo>
                        <a:lnTo>
                          <a:pt x="223" y="172"/>
                        </a:lnTo>
                        <a:lnTo>
                          <a:pt x="2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9FFCC"/>
                  </a:solidFill>
                  <a:ln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89" name="Freeform 345"/>
                  <p:cNvSpPr>
                    <a:spLocks/>
                  </p:cNvSpPr>
                  <p:nvPr/>
                </p:nvSpPr>
                <p:spPr bwMode="auto">
                  <a:xfrm>
                    <a:off x="3212" y="1419"/>
                    <a:ext cx="91" cy="121"/>
                  </a:xfrm>
                  <a:custGeom>
                    <a:avLst/>
                    <a:gdLst>
                      <a:gd name="T0" fmla="*/ 0 w 91"/>
                      <a:gd name="T1" fmla="*/ 121 h 121"/>
                      <a:gd name="T2" fmla="*/ 23 w 91"/>
                      <a:gd name="T3" fmla="*/ 4 h 121"/>
                      <a:gd name="T4" fmla="*/ 27 w 91"/>
                      <a:gd name="T5" fmla="*/ 10 h 121"/>
                      <a:gd name="T6" fmla="*/ 34 w 91"/>
                      <a:gd name="T7" fmla="*/ 16 h 121"/>
                      <a:gd name="T8" fmla="*/ 40 w 91"/>
                      <a:gd name="T9" fmla="*/ 18 h 121"/>
                      <a:gd name="T10" fmla="*/ 49 w 91"/>
                      <a:gd name="T11" fmla="*/ 18 h 121"/>
                      <a:gd name="T12" fmla="*/ 57 w 91"/>
                      <a:gd name="T13" fmla="*/ 17 h 121"/>
                      <a:gd name="T14" fmla="*/ 68 w 91"/>
                      <a:gd name="T15" fmla="*/ 13 h 121"/>
                      <a:gd name="T16" fmla="*/ 79 w 91"/>
                      <a:gd name="T17" fmla="*/ 7 h 121"/>
                      <a:gd name="T18" fmla="*/ 91 w 91"/>
                      <a:gd name="T19" fmla="*/ 0 h 121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121"/>
                      <a:gd name="T32" fmla="*/ 91 w 91"/>
                      <a:gd name="T33" fmla="*/ 121 h 121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121">
                        <a:moveTo>
                          <a:pt x="0" y="121"/>
                        </a:moveTo>
                        <a:lnTo>
                          <a:pt x="23" y="4"/>
                        </a:lnTo>
                        <a:lnTo>
                          <a:pt x="27" y="10"/>
                        </a:lnTo>
                        <a:lnTo>
                          <a:pt x="34" y="16"/>
                        </a:lnTo>
                        <a:lnTo>
                          <a:pt x="40" y="18"/>
                        </a:lnTo>
                        <a:lnTo>
                          <a:pt x="49" y="18"/>
                        </a:lnTo>
                        <a:lnTo>
                          <a:pt x="57" y="17"/>
                        </a:lnTo>
                        <a:lnTo>
                          <a:pt x="68" y="13"/>
                        </a:lnTo>
                        <a:lnTo>
                          <a:pt x="79" y="7"/>
                        </a:lnTo>
                        <a:lnTo>
                          <a:pt x="91" y="0"/>
                        </a:lnTo>
                      </a:path>
                    </a:pathLst>
                  </a:custGeom>
                  <a:solidFill>
                    <a:srgbClr val="99FFCC"/>
                  </a:solidFill>
                  <a:ln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3082" name="Rectangle 346"/>
              <p:cNvSpPr>
                <a:spLocks noChangeArrowheads="1"/>
              </p:cNvSpPr>
              <p:nvPr/>
            </p:nvSpPr>
            <p:spPr bwMode="auto">
              <a:xfrm>
                <a:off x="1254" y="3633"/>
                <a:ext cx="580" cy="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84238" eaLnBrk="0" hangingPunct="0"/>
                <a:r>
                  <a:rPr lang="en-US" b="0">
                    <a:latin typeface="Arial Narrow" pitchFamily="34" charset="0"/>
                  </a:rPr>
                  <a:t>Contracted Work</a:t>
                </a:r>
              </a:p>
            </p:txBody>
          </p:sp>
        </p:grpSp>
        <p:grpSp>
          <p:nvGrpSpPr>
            <p:cNvPr id="12864" name="Group 347"/>
            <p:cNvGrpSpPr>
              <a:grpSpLocks/>
            </p:cNvGrpSpPr>
            <p:nvPr/>
          </p:nvGrpSpPr>
          <p:grpSpPr bwMode="auto">
            <a:xfrm>
              <a:off x="4018" y="2903"/>
              <a:ext cx="447" cy="575"/>
              <a:chOff x="3543" y="2349"/>
              <a:chExt cx="411" cy="533"/>
            </a:xfrm>
          </p:grpSpPr>
          <p:grpSp>
            <p:nvGrpSpPr>
              <p:cNvPr id="12866" name="Group 348"/>
              <p:cNvGrpSpPr>
                <a:grpSpLocks/>
              </p:cNvGrpSpPr>
              <p:nvPr/>
            </p:nvGrpSpPr>
            <p:grpSpPr bwMode="auto">
              <a:xfrm>
                <a:off x="3551" y="2349"/>
                <a:ext cx="355" cy="388"/>
                <a:chOff x="3563" y="2349"/>
                <a:chExt cx="355" cy="388"/>
              </a:xfrm>
            </p:grpSpPr>
            <p:grpSp>
              <p:nvGrpSpPr>
                <p:cNvPr id="12868" name="Group 349"/>
                <p:cNvGrpSpPr>
                  <a:grpSpLocks/>
                </p:cNvGrpSpPr>
                <p:nvPr/>
              </p:nvGrpSpPr>
              <p:grpSpPr bwMode="auto">
                <a:xfrm>
                  <a:off x="3563" y="2349"/>
                  <a:ext cx="355" cy="388"/>
                  <a:chOff x="3563" y="2349"/>
                  <a:chExt cx="355" cy="388"/>
                </a:xfrm>
              </p:grpSpPr>
              <p:sp>
                <p:nvSpPr>
                  <p:cNvPr id="12881" name="Freeform 350"/>
                  <p:cNvSpPr>
                    <a:spLocks/>
                  </p:cNvSpPr>
                  <p:nvPr/>
                </p:nvSpPr>
                <p:spPr bwMode="auto">
                  <a:xfrm>
                    <a:off x="3790" y="2349"/>
                    <a:ext cx="85" cy="75"/>
                  </a:xfrm>
                  <a:custGeom>
                    <a:avLst/>
                    <a:gdLst>
                      <a:gd name="T0" fmla="*/ 78 w 85"/>
                      <a:gd name="T1" fmla="*/ 65 h 75"/>
                      <a:gd name="T2" fmla="*/ 80 w 85"/>
                      <a:gd name="T3" fmla="*/ 58 h 75"/>
                      <a:gd name="T4" fmla="*/ 81 w 85"/>
                      <a:gd name="T5" fmla="*/ 50 h 75"/>
                      <a:gd name="T6" fmla="*/ 81 w 85"/>
                      <a:gd name="T7" fmla="*/ 48 h 75"/>
                      <a:gd name="T8" fmla="*/ 81 w 85"/>
                      <a:gd name="T9" fmla="*/ 41 h 75"/>
                      <a:gd name="T10" fmla="*/ 79 w 85"/>
                      <a:gd name="T11" fmla="*/ 33 h 75"/>
                      <a:gd name="T12" fmla="*/ 74 w 85"/>
                      <a:gd name="T13" fmla="*/ 27 h 75"/>
                      <a:gd name="T14" fmla="*/ 70 w 85"/>
                      <a:gd name="T15" fmla="*/ 20 h 75"/>
                      <a:gd name="T16" fmla="*/ 65 w 85"/>
                      <a:gd name="T17" fmla="*/ 15 h 75"/>
                      <a:gd name="T18" fmla="*/ 64 w 85"/>
                      <a:gd name="T19" fmla="*/ 14 h 75"/>
                      <a:gd name="T20" fmla="*/ 61 w 85"/>
                      <a:gd name="T21" fmla="*/ 13 h 75"/>
                      <a:gd name="T22" fmla="*/ 57 w 85"/>
                      <a:gd name="T23" fmla="*/ 10 h 75"/>
                      <a:gd name="T24" fmla="*/ 54 w 85"/>
                      <a:gd name="T25" fmla="*/ 9 h 75"/>
                      <a:gd name="T26" fmla="*/ 52 w 85"/>
                      <a:gd name="T27" fmla="*/ 8 h 75"/>
                      <a:gd name="T28" fmla="*/ 49 w 85"/>
                      <a:gd name="T29" fmla="*/ 6 h 75"/>
                      <a:gd name="T30" fmla="*/ 46 w 85"/>
                      <a:gd name="T31" fmla="*/ 6 h 75"/>
                      <a:gd name="T32" fmla="*/ 42 w 85"/>
                      <a:gd name="T33" fmla="*/ 5 h 75"/>
                      <a:gd name="T34" fmla="*/ 39 w 85"/>
                      <a:gd name="T35" fmla="*/ 4 h 75"/>
                      <a:gd name="T36" fmla="*/ 33 w 85"/>
                      <a:gd name="T37" fmla="*/ 4 h 75"/>
                      <a:gd name="T38" fmla="*/ 28 w 85"/>
                      <a:gd name="T39" fmla="*/ 5 h 75"/>
                      <a:gd name="T40" fmla="*/ 27 w 85"/>
                      <a:gd name="T41" fmla="*/ 5 h 75"/>
                      <a:gd name="T42" fmla="*/ 23 w 85"/>
                      <a:gd name="T43" fmla="*/ 6 h 75"/>
                      <a:gd name="T44" fmla="*/ 22 w 85"/>
                      <a:gd name="T45" fmla="*/ 6 h 75"/>
                      <a:gd name="T46" fmla="*/ 20 w 85"/>
                      <a:gd name="T47" fmla="*/ 6 h 75"/>
                      <a:gd name="T48" fmla="*/ 15 w 85"/>
                      <a:gd name="T49" fmla="*/ 9 h 75"/>
                      <a:gd name="T50" fmla="*/ 11 w 85"/>
                      <a:gd name="T51" fmla="*/ 11 h 75"/>
                      <a:gd name="T52" fmla="*/ 5 w 85"/>
                      <a:gd name="T53" fmla="*/ 15 h 75"/>
                      <a:gd name="T54" fmla="*/ 0 w 85"/>
                      <a:gd name="T55" fmla="*/ 19 h 75"/>
                      <a:gd name="T56" fmla="*/ 3 w 85"/>
                      <a:gd name="T57" fmla="*/ 16 h 75"/>
                      <a:gd name="T58" fmla="*/ 9 w 85"/>
                      <a:gd name="T59" fmla="*/ 10 h 75"/>
                      <a:gd name="T60" fmla="*/ 14 w 85"/>
                      <a:gd name="T61" fmla="*/ 8 h 75"/>
                      <a:gd name="T62" fmla="*/ 18 w 85"/>
                      <a:gd name="T63" fmla="*/ 5 h 75"/>
                      <a:gd name="T64" fmla="*/ 21 w 85"/>
                      <a:gd name="T65" fmla="*/ 3 h 75"/>
                      <a:gd name="T66" fmla="*/ 25 w 85"/>
                      <a:gd name="T67" fmla="*/ 2 h 75"/>
                      <a:gd name="T68" fmla="*/ 28 w 85"/>
                      <a:gd name="T69" fmla="*/ 1 h 75"/>
                      <a:gd name="T70" fmla="*/ 33 w 85"/>
                      <a:gd name="T71" fmla="*/ 1 h 75"/>
                      <a:gd name="T72" fmla="*/ 37 w 85"/>
                      <a:gd name="T73" fmla="*/ 0 h 75"/>
                      <a:gd name="T74" fmla="*/ 41 w 85"/>
                      <a:gd name="T75" fmla="*/ 1 h 75"/>
                      <a:gd name="T76" fmla="*/ 45 w 85"/>
                      <a:gd name="T77" fmla="*/ 1 h 75"/>
                      <a:gd name="T78" fmla="*/ 48 w 85"/>
                      <a:gd name="T79" fmla="*/ 1 h 75"/>
                      <a:gd name="T80" fmla="*/ 50 w 85"/>
                      <a:gd name="T81" fmla="*/ 2 h 75"/>
                      <a:gd name="T82" fmla="*/ 53 w 85"/>
                      <a:gd name="T83" fmla="*/ 2 h 75"/>
                      <a:gd name="T84" fmla="*/ 56 w 85"/>
                      <a:gd name="T85" fmla="*/ 3 h 75"/>
                      <a:gd name="T86" fmla="*/ 59 w 85"/>
                      <a:gd name="T87" fmla="*/ 4 h 75"/>
                      <a:gd name="T88" fmla="*/ 63 w 85"/>
                      <a:gd name="T89" fmla="*/ 6 h 75"/>
                      <a:gd name="T90" fmla="*/ 65 w 85"/>
                      <a:gd name="T91" fmla="*/ 9 h 75"/>
                      <a:gd name="T92" fmla="*/ 68 w 85"/>
                      <a:gd name="T93" fmla="*/ 10 h 75"/>
                      <a:gd name="T94" fmla="*/ 73 w 85"/>
                      <a:gd name="T95" fmla="*/ 15 h 75"/>
                      <a:gd name="T96" fmla="*/ 79 w 85"/>
                      <a:gd name="T97" fmla="*/ 21 h 75"/>
                      <a:gd name="T98" fmla="*/ 82 w 85"/>
                      <a:gd name="T99" fmla="*/ 28 h 75"/>
                      <a:gd name="T100" fmla="*/ 84 w 85"/>
                      <a:gd name="T101" fmla="*/ 35 h 75"/>
                      <a:gd name="T102" fmla="*/ 85 w 85"/>
                      <a:gd name="T103" fmla="*/ 43 h 75"/>
                      <a:gd name="T104" fmla="*/ 84 w 85"/>
                      <a:gd name="T105" fmla="*/ 50 h 75"/>
                      <a:gd name="T106" fmla="*/ 83 w 85"/>
                      <a:gd name="T107" fmla="*/ 58 h 75"/>
                      <a:gd name="T108" fmla="*/ 79 w 85"/>
                      <a:gd name="T109" fmla="*/ 64 h 75"/>
                      <a:gd name="T110" fmla="*/ 79 w 85"/>
                      <a:gd name="T111" fmla="*/ 66 h 75"/>
                      <a:gd name="T112" fmla="*/ 76 w 85"/>
                      <a:gd name="T113" fmla="*/ 71 h 75"/>
                      <a:gd name="T114" fmla="*/ 71 w 85"/>
                      <a:gd name="T115" fmla="*/ 75 h 75"/>
                      <a:gd name="T116" fmla="*/ 73 w 85"/>
                      <a:gd name="T117" fmla="*/ 73 h 75"/>
                      <a:gd name="T118" fmla="*/ 78 w 85"/>
                      <a:gd name="T119" fmla="*/ 65 h 75"/>
                      <a:gd name="T120" fmla="*/ 78 w 85"/>
                      <a:gd name="T121" fmla="*/ 65 h 75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60000 65536"/>
                      <a:gd name="T175" fmla="*/ 0 60000 65536"/>
                      <a:gd name="T176" fmla="*/ 0 60000 65536"/>
                      <a:gd name="T177" fmla="*/ 0 60000 65536"/>
                      <a:gd name="T178" fmla="*/ 0 60000 65536"/>
                      <a:gd name="T179" fmla="*/ 0 60000 65536"/>
                      <a:gd name="T180" fmla="*/ 0 60000 65536"/>
                      <a:gd name="T181" fmla="*/ 0 60000 65536"/>
                      <a:gd name="T182" fmla="*/ 0 60000 65536"/>
                      <a:gd name="T183" fmla="*/ 0 w 85"/>
                      <a:gd name="T184" fmla="*/ 0 h 75"/>
                      <a:gd name="T185" fmla="*/ 85 w 85"/>
                      <a:gd name="T186" fmla="*/ 75 h 75"/>
                    </a:gdLst>
                    <a:ahLst/>
                    <a:cxnLst>
                      <a:cxn ang="T122">
                        <a:pos x="T0" y="T1"/>
                      </a:cxn>
                      <a:cxn ang="T123">
                        <a:pos x="T2" y="T3"/>
                      </a:cxn>
                      <a:cxn ang="T124">
                        <a:pos x="T4" y="T5"/>
                      </a:cxn>
                      <a:cxn ang="T125">
                        <a:pos x="T6" y="T7"/>
                      </a:cxn>
                      <a:cxn ang="T126">
                        <a:pos x="T8" y="T9"/>
                      </a:cxn>
                      <a:cxn ang="T127">
                        <a:pos x="T10" y="T11"/>
                      </a:cxn>
                      <a:cxn ang="T128">
                        <a:pos x="T12" y="T13"/>
                      </a:cxn>
                      <a:cxn ang="T129">
                        <a:pos x="T14" y="T15"/>
                      </a:cxn>
                      <a:cxn ang="T130">
                        <a:pos x="T16" y="T17"/>
                      </a:cxn>
                      <a:cxn ang="T131">
                        <a:pos x="T18" y="T19"/>
                      </a:cxn>
                      <a:cxn ang="T132">
                        <a:pos x="T20" y="T21"/>
                      </a:cxn>
                      <a:cxn ang="T133">
                        <a:pos x="T22" y="T23"/>
                      </a:cxn>
                      <a:cxn ang="T134">
                        <a:pos x="T24" y="T25"/>
                      </a:cxn>
                      <a:cxn ang="T135">
                        <a:pos x="T26" y="T27"/>
                      </a:cxn>
                      <a:cxn ang="T136">
                        <a:pos x="T28" y="T29"/>
                      </a:cxn>
                      <a:cxn ang="T137">
                        <a:pos x="T30" y="T31"/>
                      </a:cxn>
                      <a:cxn ang="T138">
                        <a:pos x="T32" y="T33"/>
                      </a:cxn>
                      <a:cxn ang="T139">
                        <a:pos x="T34" y="T35"/>
                      </a:cxn>
                      <a:cxn ang="T140">
                        <a:pos x="T36" y="T37"/>
                      </a:cxn>
                      <a:cxn ang="T141">
                        <a:pos x="T38" y="T39"/>
                      </a:cxn>
                      <a:cxn ang="T142">
                        <a:pos x="T40" y="T41"/>
                      </a:cxn>
                      <a:cxn ang="T143">
                        <a:pos x="T42" y="T43"/>
                      </a:cxn>
                      <a:cxn ang="T144">
                        <a:pos x="T44" y="T45"/>
                      </a:cxn>
                      <a:cxn ang="T145">
                        <a:pos x="T46" y="T47"/>
                      </a:cxn>
                      <a:cxn ang="T146">
                        <a:pos x="T48" y="T49"/>
                      </a:cxn>
                      <a:cxn ang="T147">
                        <a:pos x="T50" y="T51"/>
                      </a:cxn>
                      <a:cxn ang="T148">
                        <a:pos x="T52" y="T53"/>
                      </a:cxn>
                      <a:cxn ang="T149">
                        <a:pos x="T54" y="T55"/>
                      </a:cxn>
                      <a:cxn ang="T150">
                        <a:pos x="T56" y="T57"/>
                      </a:cxn>
                      <a:cxn ang="T151">
                        <a:pos x="T58" y="T59"/>
                      </a:cxn>
                      <a:cxn ang="T152">
                        <a:pos x="T60" y="T61"/>
                      </a:cxn>
                      <a:cxn ang="T153">
                        <a:pos x="T62" y="T63"/>
                      </a:cxn>
                      <a:cxn ang="T154">
                        <a:pos x="T64" y="T65"/>
                      </a:cxn>
                      <a:cxn ang="T155">
                        <a:pos x="T66" y="T67"/>
                      </a:cxn>
                      <a:cxn ang="T156">
                        <a:pos x="T68" y="T69"/>
                      </a:cxn>
                      <a:cxn ang="T157">
                        <a:pos x="T70" y="T71"/>
                      </a:cxn>
                      <a:cxn ang="T158">
                        <a:pos x="T72" y="T73"/>
                      </a:cxn>
                      <a:cxn ang="T159">
                        <a:pos x="T74" y="T75"/>
                      </a:cxn>
                      <a:cxn ang="T160">
                        <a:pos x="T76" y="T77"/>
                      </a:cxn>
                      <a:cxn ang="T161">
                        <a:pos x="T78" y="T79"/>
                      </a:cxn>
                      <a:cxn ang="T162">
                        <a:pos x="T80" y="T81"/>
                      </a:cxn>
                      <a:cxn ang="T163">
                        <a:pos x="T82" y="T83"/>
                      </a:cxn>
                      <a:cxn ang="T164">
                        <a:pos x="T84" y="T85"/>
                      </a:cxn>
                      <a:cxn ang="T165">
                        <a:pos x="T86" y="T87"/>
                      </a:cxn>
                      <a:cxn ang="T166">
                        <a:pos x="T88" y="T89"/>
                      </a:cxn>
                      <a:cxn ang="T167">
                        <a:pos x="T90" y="T91"/>
                      </a:cxn>
                      <a:cxn ang="T168">
                        <a:pos x="T92" y="T93"/>
                      </a:cxn>
                      <a:cxn ang="T169">
                        <a:pos x="T94" y="T95"/>
                      </a:cxn>
                      <a:cxn ang="T170">
                        <a:pos x="T96" y="T97"/>
                      </a:cxn>
                      <a:cxn ang="T171">
                        <a:pos x="T98" y="T99"/>
                      </a:cxn>
                      <a:cxn ang="T172">
                        <a:pos x="T100" y="T101"/>
                      </a:cxn>
                      <a:cxn ang="T173">
                        <a:pos x="T102" y="T103"/>
                      </a:cxn>
                      <a:cxn ang="T174">
                        <a:pos x="T104" y="T105"/>
                      </a:cxn>
                      <a:cxn ang="T175">
                        <a:pos x="T106" y="T107"/>
                      </a:cxn>
                      <a:cxn ang="T176">
                        <a:pos x="T108" y="T109"/>
                      </a:cxn>
                      <a:cxn ang="T177">
                        <a:pos x="T110" y="T111"/>
                      </a:cxn>
                      <a:cxn ang="T178">
                        <a:pos x="T112" y="T113"/>
                      </a:cxn>
                      <a:cxn ang="T179">
                        <a:pos x="T114" y="T115"/>
                      </a:cxn>
                      <a:cxn ang="T180">
                        <a:pos x="T116" y="T117"/>
                      </a:cxn>
                      <a:cxn ang="T181">
                        <a:pos x="T118" y="T119"/>
                      </a:cxn>
                      <a:cxn ang="T182">
                        <a:pos x="T120" y="T121"/>
                      </a:cxn>
                    </a:cxnLst>
                    <a:rect l="T183" t="T184" r="T185" b="T186"/>
                    <a:pathLst>
                      <a:path w="85" h="75">
                        <a:moveTo>
                          <a:pt x="78" y="65"/>
                        </a:moveTo>
                        <a:lnTo>
                          <a:pt x="80" y="58"/>
                        </a:lnTo>
                        <a:lnTo>
                          <a:pt x="81" y="50"/>
                        </a:lnTo>
                        <a:lnTo>
                          <a:pt x="81" y="48"/>
                        </a:lnTo>
                        <a:lnTo>
                          <a:pt x="81" y="41"/>
                        </a:lnTo>
                        <a:lnTo>
                          <a:pt x="79" y="33"/>
                        </a:lnTo>
                        <a:lnTo>
                          <a:pt x="74" y="27"/>
                        </a:lnTo>
                        <a:lnTo>
                          <a:pt x="70" y="20"/>
                        </a:lnTo>
                        <a:lnTo>
                          <a:pt x="65" y="15"/>
                        </a:lnTo>
                        <a:lnTo>
                          <a:pt x="64" y="14"/>
                        </a:lnTo>
                        <a:lnTo>
                          <a:pt x="61" y="13"/>
                        </a:lnTo>
                        <a:lnTo>
                          <a:pt x="57" y="10"/>
                        </a:lnTo>
                        <a:lnTo>
                          <a:pt x="54" y="9"/>
                        </a:lnTo>
                        <a:lnTo>
                          <a:pt x="52" y="8"/>
                        </a:lnTo>
                        <a:lnTo>
                          <a:pt x="49" y="6"/>
                        </a:lnTo>
                        <a:lnTo>
                          <a:pt x="46" y="6"/>
                        </a:lnTo>
                        <a:lnTo>
                          <a:pt x="42" y="5"/>
                        </a:lnTo>
                        <a:lnTo>
                          <a:pt x="39" y="4"/>
                        </a:lnTo>
                        <a:lnTo>
                          <a:pt x="33" y="4"/>
                        </a:lnTo>
                        <a:lnTo>
                          <a:pt x="28" y="5"/>
                        </a:lnTo>
                        <a:lnTo>
                          <a:pt x="27" y="5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5" y="9"/>
                        </a:lnTo>
                        <a:lnTo>
                          <a:pt x="11" y="11"/>
                        </a:lnTo>
                        <a:lnTo>
                          <a:pt x="5" y="15"/>
                        </a:lnTo>
                        <a:lnTo>
                          <a:pt x="0" y="19"/>
                        </a:lnTo>
                        <a:lnTo>
                          <a:pt x="3" y="16"/>
                        </a:lnTo>
                        <a:lnTo>
                          <a:pt x="9" y="10"/>
                        </a:lnTo>
                        <a:lnTo>
                          <a:pt x="14" y="8"/>
                        </a:lnTo>
                        <a:lnTo>
                          <a:pt x="18" y="5"/>
                        </a:lnTo>
                        <a:lnTo>
                          <a:pt x="21" y="3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3" y="1"/>
                        </a:lnTo>
                        <a:lnTo>
                          <a:pt x="37" y="0"/>
                        </a:lnTo>
                        <a:lnTo>
                          <a:pt x="41" y="1"/>
                        </a:lnTo>
                        <a:lnTo>
                          <a:pt x="45" y="1"/>
                        </a:lnTo>
                        <a:lnTo>
                          <a:pt x="48" y="1"/>
                        </a:lnTo>
                        <a:lnTo>
                          <a:pt x="50" y="2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9" y="4"/>
                        </a:lnTo>
                        <a:lnTo>
                          <a:pt x="63" y="6"/>
                        </a:lnTo>
                        <a:lnTo>
                          <a:pt x="65" y="9"/>
                        </a:lnTo>
                        <a:lnTo>
                          <a:pt x="68" y="10"/>
                        </a:lnTo>
                        <a:lnTo>
                          <a:pt x="73" y="15"/>
                        </a:lnTo>
                        <a:lnTo>
                          <a:pt x="79" y="21"/>
                        </a:lnTo>
                        <a:lnTo>
                          <a:pt x="82" y="28"/>
                        </a:lnTo>
                        <a:lnTo>
                          <a:pt x="84" y="35"/>
                        </a:lnTo>
                        <a:lnTo>
                          <a:pt x="85" y="43"/>
                        </a:lnTo>
                        <a:lnTo>
                          <a:pt x="84" y="50"/>
                        </a:lnTo>
                        <a:lnTo>
                          <a:pt x="83" y="58"/>
                        </a:lnTo>
                        <a:lnTo>
                          <a:pt x="79" y="64"/>
                        </a:lnTo>
                        <a:lnTo>
                          <a:pt x="79" y="66"/>
                        </a:lnTo>
                        <a:lnTo>
                          <a:pt x="76" y="71"/>
                        </a:lnTo>
                        <a:lnTo>
                          <a:pt x="71" y="75"/>
                        </a:lnTo>
                        <a:lnTo>
                          <a:pt x="73" y="73"/>
                        </a:lnTo>
                        <a:lnTo>
                          <a:pt x="78" y="65"/>
                        </a:lnTo>
                        <a:close/>
                      </a:path>
                    </a:pathLst>
                  </a:custGeom>
                  <a:solidFill>
                    <a:srgbClr val="FF27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82" name="Freeform 351"/>
                  <p:cNvSpPr>
                    <a:spLocks/>
                  </p:cNvSpPr>
                  <p:nvPr/>
                </p:nvSpPr>
                <p:spPr bwMode="auto">
                  <a:xfrm>
                    <a:off x="3790" y="2349"/>
                    <a:ext cx="85" cy="75"/>
                  </a:xfrm>
                  <a:custGeom>
                    <a:avLst/>
                    <a:gdLst>
                      <a:gd name="T0" fmla="*/ 78 w 85"/>
                      <a:gd name="T1" fmla="*/ 65 h 75"/>
                      <a:gd name="T2" fmla="*/ 80 w 85"/>
                      <a:gd name="T3" fmla="*/ 58 h 75"/>
                      <a:gd name="T4" fmla="*/ 81 w 85"/>
                      <a:gd name="T5" fmla="*/ 50 h 75"/>
                      <a:gd name="T6" fmla="*/ 81 w 85"/>
                      <a:gd name="T7" fmla="*/ 48 h 75"/>
                      <a:gd name="T8" fmla="*/ 81 w 85"/>
                      <a:gd name="T9" fmla="*/ 41 h 75"/>
                      <a:gd name="T10" fmla="*/ 79 w 85"/>
                      <a:gd name="T11" fmla="*/ 33 h 75"/>
                      <a:gd name="T12" fmla="*/ 74 w 85"/>
                      <a:gd name="T13" fmla="*/ 27 h 75"/>
                      <a:gd name="T14" fmla="*/ 70 w 85"/>
                      <a:gd name="T15" fmla="*/ 20 h 75"/>
                      <a:gd name="T16" fmla="*/ 65 w 85"/>
                      <a:gd name="T17" fmla="*/ 15 h 75"/>
                      <a:gd name="T18" fmla="*/ 64 w 85"/>
                      <a:gd name="T19" fmla="*/ 14 h 75"/>
                      <a:gd name="T20" fmla="*/ 61 w 85"/>
                      <a:gd name="T21" fmla="*/ 13 h 75"/>
                      <a:gd name="T22" fmla="*/ 57 w 85"/>
                      <a:gd name="T23" fmla="*/ 10 h 75"/>
                      <a:gd name="T24" fmla="*/ 54 w 85"/>
                      <a:gd name="T25" fmla="*/ 9 h 75"/>
                      <a:gd name="T26" fmla="*/ 52 w 85"/>
                      <a:gd name="T27" fmla="*/ 8 h 75"/>
                      <a:gd name="T28" fmla="*/ 49 w 85"/>
                      <a:gd name="T29" fmla="*/ 6 h 75"/>
                      <a:gd name="T30" fmla="*/ 46 w 85"/>
                      <a:gd name="T31" fmla="*/ 6 h 75"/>
                      <a:gd name="T32" fmla="*/ 42 w 85"/>
                      <a:gd name="T33" fmla="*/ 5 h 75"/>
                      <a:gd name="T34" fmla="*/ 39 w 85"/>
                      <a:gd name="T35" fmla="*/ 4 h 75"/>
                      <a:gd name="T36" fmla="*/ 33 w 85"/>
                      <a:gd name="T37" fmla="*/ 4 h 75"/>
                      <a:gd name="T38" fmla="*/ 28 w 85"/>
                      <a:gd name="T39" fmla="*/ 5 h 75"/>
                      <a:gd name="T40" fmla="*/ 27 w 85"/>
                      <a:gd name="T41" fmla="*/ 5 h 75"/>
                      <a:gd name="T42" fmla="*/ 23 w 85"/>
                      <a:gd name="T43" fmla="*/ 6 h 75"/>
                      <a:gd name="T44" fmla="*/ 22 w 85"/>
                      <a:gd name="T45" fmla="*/ 6 h 75"/>
                      <a:gd name="T46" fmla="*/ 20 w 85"/>
                      <a:gd name="T47" fmla="*/ 6 h 75"/>
                      <a:gd name="T48" fmla="*/ 15 w 85"/>
                      <a:gd name="T49" fmla="*/ 9 h 75"/>
                      <a:gd name="T50" fmla="*/ 11 w 85"/>
                      <a:gd name="T51" fmla="*/ 11 h 75"/>
                      <a:gd name="T52" fmla="*/ 5 w 85"/>
                      <a:gd name="T53" fmla="*/ 15 h 75"/>
                      <a:gd name="T54" fmla="*/ 0 w 85"/>
                      <a:gd name="T55" fmla="*/ 19 h 75"/>
                      <a:gd name="T56" fmla="*/ 3 w 85"/>
                      <a:gd name="T57" fmla="*/ 16 h 75"/>
                      <a:gd name="T58" fmla="*/ 9 w 85"/>
                      <a:gd name="T59" fmla="*/ 10 h 75"/>
                      <a:gd name="T60" fmla="*/ 14 w 85"/>
                      <a:gd name="T61" fmla="*/ 8 h 75"/>
                      <a:gd name="T62" fmla="*/ 18 w 85"/>
                      <a:gd name="T63" fmla="*/ 5 h 75"/>
                      <a:gd name="T64" fmla="*/ 21 w 85"/>
                      <a:gd name="T65" fmla="*/ 3 h 75"/>
                      <a:gd name="T66" fmla="*/ 25 w 85"/>
                      <a:gd name="T67" fmla="*/ 2 h 75"/>
                      <a:gd name="T68" fmla="*/ 28 w 85"/>
                      <a:gd name="T69" fmla="*/ 1 h 75"/>
                      <a:gd name="T70" fmla="*/ 33 w 85"/>
                      <a:gd name="T71" fmla="*/ 1 h 75"/>
                      <a:gd name="T72" fmla="*/ 37 w 85"/>
                      <a:gd name="T73" fmla="*/ 0 h 75"/>
                      <a:gd name="T74" fmla="*/ 41 w 85"/>
                      <a:gd name="T75" fmla="*/ 1 h 75"/>
                      <a:gd name="T76" fmla="*/ 45 w 85"/>
                      <a:gd name="T77" fmla="*/ 1 h 75"/>
                      <a:gd name="T78" fmla="*/ 48 w 85"/>
                      <a:gd name="T79" fmla="*/ 1 h 75"/>
                      <a:gd name="T80" fmla="*/ 50 w 85"/>
                      <a:gd name="T81" fmla="*/ 2 h 75"/>
                      <a:gd name="T82" fmla="*/ 53 w 85"/>
                      <a:gd name="T83" fmla="*/ 2 h 75"/>
                      <a:gd name="T84" fmla="*/ 56 w 85"/>
                      <a:gd name="T85" fmla="*/ 3 h 75"/>
                      <a:gd name="T86" fmla="*/ 59 w 85"/>
                      <a:gd name="T87" fmla="*/ 4 h 75"/>
                      <a:gd name="T88" fmla="*/ 63 w 85"/>
                      <a:gd name="T89" fmla="*/ 6 h 75"/>
                      <a:gd name="T90" fmla="*/ 65 w 85"/>
                      <a:gd name="T91" fmla="*/ 9 h 75"/>
                      <a:gd name="T92" fmla="*/ 68 w 85"/>
                      <a:gd name="T93" fmla="*/ 10 h 75"/>
                      <a:gd name="T94" fmla="*/ 73 w 85"/>
                      <a:gd name="T95" fmla="*/ 15 h 75"/>
                      <a:gd name="T96" fmla="*/ 79 w 85"/>
                      <a:gd name="T97" fmla="*/ 21 h 75"/>
                      <a:gd name="T98" fmla="*/ 82 w 85"/>
                      <a:gd name="T99" fmla="*/ 28 h 75"/>
                      <a:gd name="T100" fmla="*/ 84 w 85"/>
                      <a:gd name="T101" fmla="*/ 35 h 75"/>
                      <a:gd name="T102" fmla="*/ 85 w 85"/>
                      <a:gd name="T103" fmla="*/ 43 h 75"/>
                      <a:gd name="T104" fmla="*/ 84 w 85"/>
                      <a:gd name="T105" fmla="*/ 50 h 75"/>
                      <a:gd name="T106" fmla="*/ 83 w 85"/>
                      <a:gd name="T107" fmla="*/ 58 h 75"/>
                      <a:gd name="T108" fmla="*/ 79 w 85"/>
                      <a:gd name="T109" fmla="*/ 64 h 75"/>
                      <a:gd name="T110" fmla="*/ 79 w 85"/>
                      <a:gd name="T111" fmla="*/ 66 h 75"/>
                      <a:gd name="T112" fmla="*/ 76 w 85"/>
                      <a:gd name="T113" fmla="*/ 71 h 75"/>
                      <a:gd name="T114" fmla="*/ 71 w 85"/>
                      <a:gd name="T115" fmla="*/ 75 h 75"/>
                      <a:gd name="T116" fmla="*/ 73 w 85"/>
                      <a:gd name="T117" fmla="*/ 73 h 75"/>
                      <a:gd name="T118" fmla="*/ 78 w 85"/>
                      <a:gd name="T119" fmla="*/ 65 h 75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60000 65536"/>
                      <a:gd name="T175" fmla="*/ 0 60000 65536"/>
                      <a:gd name="T176" fmla="*/ 0 60000 65536"/>
                      <a:gd name="T177" fmla="*/ 0 60000 65536"/>
                      <a:gd name="T178" fmla="*/ 0 60000 65536"/>
                      <a:gd name="T179" fmla="*/ 0 60000 65536"/>
                      <a:gd name="T180" fmla="*/ 0 w 85"/>
                      <a:gd name="T181" fmla="*/ 0 h 75"/>
                      <a:gd name="T182" fmla="*/ 85 w 85"/>
                      <a:gd name="T183" fmla="*/ 75 h 75"/>
                    </a:gdLst>
                    <a:ahLst/>
                    <a:cxnLst>
                      <a:cxn ang="T120">
                        <a:pos x="T0" y="T1"/>
                      </a:cxn>
                      <a:cxn ang="T121">
                        <a:pos x="T2" y="T3"/>
                      </a:cxn>
                      <a:cxn ang="T122">
                        <a:pos x="T4" y="T5"/>
                      </a:cxn>
                      <a:cxn ang="T123">
                        <a:pos x="T6" y="T7"/>
                      </a:cxn>
                      <a:cxn ang="T124">
                        <a:pos x="T8" y="T9"/>
                      </a:cxn>
                      <a:cxn ang="T125">
                        <a:pos x="T10" y="T11"/>
                      </a:cxn>
                      <a:cxn ang="T126">
                        <a:pos x="T12" y="T13"/>
                      </a:cxn>
                      <a:cxn ang="T127">
                        <a:pos x="T14" y="T15"/>
                      </a:cxn>
                      <a:cxn ang="T128">
                        <a:pos x="T16" y="T17"/>
                      </a:cxn>
                      <a:cxn ang="T129">
                        <a:pos x="T18" y="T19"/>
                      </a:cxn>
                      <a:cxn ang="T130">
                        <a:pos x="T20" y="T21"/>
                      </a:cxn>
                      <a:cxn ang="T131">
                        <a:pos x="T22" y="T23"/>
                      </a:cxn>
                      <a:cxn ang="T132">
                        <a:pos x="T24" y="T25"/>
                      </a:cxn>
                      <a:cxn ang="T133">
                        <a:pos x="T26" y="T27"/>
                      </a:cxn>
                      <a:cxn ang="T134">
                        <a:pos x="T28" y="T29"/>
                      </a:cxn>
                      <a:cxn ang="T135">
                        <a:pos x="T30" y="T31"/>
                      </a:cxn>
                      <a:cxn ang="T136">
                        <a:pos x="T32" y="T33"/>
                      </a:cxn>
                      <a:cxn ang="T137">
                        <a:pos x="T34" y="T35"/>
                      </a:cxn>
                      <a:cxn ang="T138">
                        <a:pos x="T36" y="T37"/>
                      </a:cxn>
                      <a:cxn ang="T139">
                        <a:pos x="T38" y="T39"/>
                      </a:cxn>
                      <a:cxn ang="T140">
                        <a:pos x="T40" y="T41"/>
                      </a:cxn>
                      <a:cxn ang="T141">
                        <a:pos x="T42" y="T43"/>
                      </a:cxn>
                      <a:cxn ang="T142">
                        <a:pos x="T44" y="T45"/>
                      </a:cxn>
                      <a:cxn ang="T143">
                        <a:pos x="T46" y="T47"/>
                      </a:cxn>
                      <a:cxn ang="T144">
                        <a:pos x="T48" y="T49"/>
                      </a:cxn>
                      <a:cxn ang="T145">
                        <a:pos x="T50" y="T51"/>
                      </a:cxn>
                      <a:cxn ang="T146">
                        <a:pos x="T52" y="T53"/>
                      </a:cxn>
                      <a:cxn ang="T147">
                        <a:pos x="T54" y="T55"/>
                      </a:cxn>
                      <a:cxn ang="T148">
                        <a:pos x="T56" y="T57"/>
                      </a:cxn>
                      <a:cxn ang="T149">
                        <a:pos x="T58" y="T59"/>
                      </a:cxn>
                      <a:cxn ang="T150">
                        <a:pos x="T60" y="T61"/>
                      </a:cxn>
                      <a:cxn ang="T151">
                        <a:pos x="T62" y="T63"/>
                      </a:cxn>
                      <a:cxn ang="T152">
                        <a:pos x="T64" y="T65"/>
                      </a:cxn>
                      <a:cxn ang="T153">
                        <a:pos x="T66" y="T67"/>
                      </a:cxn>
                      <a:cxn ang="T154">
                        <a:pos x="T68" y="T69"/>
                      </a:cxn>
                      <a:cxn ang="T155">
                        <a:pos x="T70" y="T71"/>
                      </a:cxn>
                      <a:cxn ang="T156">
                        <a:pos x="T72" y="T73"/>
                      </a:cxn>
                      <a:cxn ang="T157">
                        <a:pos x="T74" y="T75"/>
                      </a:cxn>
                      <a:cxn ang="T158">
                        <a:pos x="T76" y="T77"/>
                      </a:cxn>
                      <a:cxn ang="T159">
                        <a:pos x="T78" y="T79"/>
                      </a:cxn>
                      <a:cxn ang="T160">
                        <a:pos x="T80" y="T81"/>
                      </a:cxn>
                      <a:cxn ang="T161">
                        <a:pos x="T82" y="T83"/>
                      </a:cxn>
                      <a:cxn ang="T162">
                        <a:pos x="T84" y="T85"/>
                      </a:cxn>
                      <a:cxn ang="T163">
                        <a:pos x="T86" y="T87"/>
                      </a:cxn>
                      <a:cxn ang="T164">
                        <a:pos x="T88" y="T89"/>
                      </a:cxn>
                      <a:cxn ang="T165">
                        <a:pos x="T90" y="T91"/>
                      </a:cxn>
                      <a:cxn ang="T166">
                        <a:pos x="T92" y="T93"/>
                      </a:cxn>
                      <a:cxn ang="T167">
                        <a:pos x="T94" y="T95"/>
                      </a:cxn>
                      <a:cxn ang="T168">
                        <a:pos x="T96" y="T97"/>
                      </a:cxn>
                      <a:cxn ang="T169">
                        <a:pos x="T98" y="T99"/>
                      </a:cxn>
                      <a:cxn ang="T170">
                        <a:pos x="T100" y="T101"/>
                      </a:cxn>
                      <a:cxn ang="T171">
                        <a:pos x="T102" y="T103"/>
                      </a:cxn>
                      <a:cxn ang="T172">
                        <a:pos x="T104" y="T105"/>
                      </a:cxn>
                      <a:cxn ang="T173">
                        <a:pos x="T106" y="T107"/>
                      </a:cxn>
                      <a:cxn ang="T174">
                        <a:pos x="T108" y="T109"/>
                      </a:cxn>
                      <a:cxn ang="T175">
                        <a:pos x="T110" y="T111"/>
                      </a:cxn>
                      <a:cxn ang="T176">
                        <a:pos x="T112" y="T113"/>
                      </a:cxn>
                      <a:cxn ang="T177">
                        <a:pos x="T114" y="T115"/>
                      </a:cxn>
                      <a:cxn ang="T178">
                        <a:pos x="T116" y="T117"/>
                      </a:cxn>
                      <a:cxn ang="T179">
                        <a:pos x="T118" y="T119"/>
                      </a:cxn>
                    </a:cxnLst>
                    <a:rect l="T180" t="T181" r="T182" b="T183"/>
                    <a:pathLst>
                      <a:path w="85" h="75">
                        <a:moveTo>
                          <a:pt x="78" y="65"/>
                        </a:moveTo>
                        <a:lnTo>
                          <a:pt x="80" y="58"/>
                        </a:lnTo>
                        <a:lnTo>
                          <a:pt x="81" y="50"/>
                        </a:lnTo>
                        <a:lnTo>
                          <a:pt x="81" y="48"/>
                        </a:lnTo>
                        <a:lnTo>
                          <a:pt x="81" y="41"/>
                        </a:lnTo>
                        <a:lnTo>
                          <a:pt x="79" y="33"/>
                        </a:lnTo>
                        <a:lnTo>
                          <a:pt x="74" y="27"/>
                        </a:lnTo>
                        <a:lnTo>
                          <a:pt x="70" y="20"/>
                        </a:lnTo>
                        <a:lnTo>
                          <a:pt x="65" y="15"/>
                        </a:lnTo>
                        <a:lnTo>
                          <a:pt x="64" y="14"/>
                        </a:lnTo>
                        <a:lnTo>
                          <a:pt x="61" y="13"/>
                        </a:lnTo>
                        <a:lnTo>
                          <a:pt x="57" y="10"/>
                        </a:lnTo>
                        <a:lnTo>
                          <a:pt x="54" y="9"/>
                        </a:lnTo>
                        <a:lnTo>
                          <a:pt x="52" y="8"/>
                        </a:lnTo>
                        <a:lnTo>
                          <a:pt x="49" y="6"/>
                        </a:lnTo>
                        <a:lnTo>
                          <a:pt x="46" y="6"/>
                        </a:lnTo>
                        <a:lnTo>
                          <a:pt x="42" y="5"/>
                        </a:lnTo>
                        <a:lnTo>
                          <a:pt x="39" y="4"/>
                        </a:lnTo>
                        <a:lnTo>
                          <a:pt x="33" y="4"/>
                        </a:lnTo>
                        <a:lnTo>
                          <a:pt x="28" y="5"/>
                        </a:lnTo>
                        <a:lnTo>
                          <a:pt x="27" y="5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5" y="9"/>
                        </a:lnTo>
                        <a:lnTo>
                          <a:pt x="11" y="11"/>
                        </a:lnTo>
                        <a:lnTo>
                          <a:pt x="5" y="15"/>
                        </a:lnTo>
                        <a:lnTo>
                          <a:pt x="0" y="19"/>
                        </a:lnTo>
                        <a:lnTo>
                          <a:pt x="3" y="16"/>
                        </a:lnTo>
                        <a:lnTo>
                          <a:pt x="9" y="10"/>
                        </a:lnTo>
                        <a:lnTo>
                          <a:pt x="14" y="8"/>
                        </a:lnTo>
                        <a:lnTo>
                          <a:pt x="18" y="5"/>
                        </a:lnTo>
                        <a:lnTo>
                          <a:pt x="21" y="3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3" y="1"/>
                        </a:lnTo>
                        <a:lnTo>
                          <a:pt x="37" y="0"/>
                        </a:lnTo>
                        <a:lnTo>
                          <a:pt x="41" y="1"/>
                        </a:lnTo>
                        <a:lnTo>
                          <a:pt x="45" y="1"/>
                        </a:lnTo>
                        <a:lnTo>
                          <a:pt x="48" y="1"/>
                        </a:lnTo>
                        <a:lnTo>
                          <a:pt x="50" y="2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9" y="4"/>
                        </a:lnTo>
                        <a:lnTo>
                          <a:pt x="63" y="6"/>
                        </a:lnTo>
                        <a:lnTo>
                          <a:pt x="65" y="9"/>
                        </a:lnTo>
                        <a:lnTo>
                          <a:pt x="68" y="10"/>
                        </a:lnTo>
                        <a:lnTo>
                          <a:pt x="73" y="15"/>
                        </a:lnTo>
                        <a:lnTo>
                          <a:pt x="79" y="21"/>
                        </a:lnTo>
                        <a:lnTo>
                          <a:pt x="82" y="28"/>
                        </a:lnTo>
                        <a:lnTo>
                          <a:pt x="84" y="35"/>
                        </a:lnTo>
                        <a:lnTo>
                          <a:pt x="85" y="43"/>
                        </a:lnTo>
                        <a:lnTo>
                          <a:pt x="84" y="50"/>
                        </a:lnTo>
                        <a:lnTo>
                          <a:pt x="83" y="58"/>
                        </a:lnTo>
                        <a:lnTo>
                          <a:pt x="79" y="64"/>
                        </a:lnTo>
                        <a:lnTo>
                          <a:pt x="79" y="66"/>
                        </a:lnTo>
                        <a:lnTo>
                          <a:pt x="76" y="71"/>
                        </a:lnTo>
                        <a:lnTo>
                          <a:pt x="71" y="75"/>
                        </a:lnTo>
                        <a:lnTo>
                          <a:pt x="73" y="73"/>
                        </a:lnTo>
                        <a:lnTo>
                          <a:pt x="78" y="6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83" name="Freeform 352"/>
                  <p:cNvSpPr>
                    <a:spLocks/>
                  </p:cNvSpPr>
                  <p:nvPr/>
                </p:nvSpPr>
                <p:spPr bwMode="auto">
                  <a:xfrm>
                    <a:off x="3778" y="2353"/>
                    <a:ext cx="93" cy="87"/>
                  </a:xfrm>
                  <a:custGeom>
                    <a:avLst/>
                    <a:gdLst>
                      <a:gd name="T0" fmla="*/ 93 w 93"/>
                      <a:gd name="T1" fmla="*/ 36 h 87"/>
                      <a:gd name="T2" fmla="*/ 90 w 93"/>
                      <a:gd name="T3" fmla="*/ 29 h 87"/>
                      <a:gd name="T4" fmla="*/ 86 w 93"/>
                      <a:gd name="T5" fmla="*/ 22 h 87"/>
                      <a:gd name="T6" fmla="*/ 82 w 93"/>
                      <a:gd name="T7" fmla="*/ 16 h 87"/>
                      <a:gd name="T8" fmla="*/ 77 w 93"/>
                      <a:gd name="T9" fmla="*/ 11 h 87"/>
                      <a:gd name="T10" fmla="*/ 76 w 93"/>
                      <a:gd name="T11" fmla="*/ 9 h 87"/>
                      <a:gd name="T12" fmla="*/ 73 w 93"/>
                      <a:gd name="T13" fmla="*/ 8 h 87"/>
                      <a:gd name="T14" fmla="*/ 69 w 93"/>
                      <a:gd name="T15" fmla="*/ 6 h 87"/>
                      <a:gd name="T16" fmla="*/ 66 w 93"/>
                      <a:gd name="T17" fmla="*/ 5 h 87"/>
                      <a:gd name="T18" fmla="*/ 63 w 93"/>
                      <a:gd name="T19" fmla="*/ 4 h 87"/>
                      <a:gd name="T20" fmla="*/ 60 w 93"/>
                      <a:gd name="T21" fmla="*/ 2 h 87"/>
                      <a:gd name="T22" fmla="*/ 58 w 93"/>
                      <a:gd name="T23" fmla="*/ 1 h 87"/>
                      <a:gd name="T24" fmla="*/ 54 w 93"/>
                      <a:gd name="T25" fmla="*/ 1 h 87"/>
                      <a:gd name="T26" fmla="*/ 51 w 93"/>
                      <a:gd name="T27" fmla="*/ 0 h 87"/>
                      <a:gd name="T28" fmla="*/ 44 w 93"/>
                      <a:gd name="T29" fmla="*/ 0 h 87"/>
                      <a:gd name="T30" fmla="*/ 39 w 93"/>
                      <a:gd name="T31" fmla="*/ 1 h 87"/>
                      <a:gd name="T32" fmla="*/ 39 w 93"/>
                      <a:gd name="T33" fmla="*/ 1 h 87"/>
                      <a:gd name="T34" fmla="*/ 35 w 93"/>
                      <a:gd name="T35" fmla="*/ 1 h 87"/>
                      <a:gd name="T36" fmla="*/ 33 w 93"/>
                      <a:gd name="T37" fmla="*/ 2 h 87"/>
                      <a:gd name="T38" fmla="*/ 31 w 93"/>
                      <a:gd name="T39" fmla="*/ 2 h 87"/>
                      <a:gd name="T40" fmla="*/ 27 w 93"/>
                      <a:gd name="T41" fmla="*/ 5 h 87"/>
                      <a:gd name="T42" fmla="*/ 23 w 93"/>
                      <a:gd name="T43" fmla="*/ 7 h 87"/>
                      <a:gd name="T44" fmla="*/ 17 w 93"/>
                      <a:gd name="T45" fmla="*/ 10 h 87"/>
                      <a:gd name="T46" fmla="*/ 12 w 93"/>
                      <a:gd name="T47" fmla="*/ 15 h 87"/>
                      <a:gd name="T48" fmla="*/ 6 w 93"/>
                      <a:gd name="T49" fmla="*/ 22 h 87"/>
                      <a:gd name="T50" fmla="*/ 3 w 93"/>
                      <a:gd name="T51" fmla="*/ 28 h 87"/>
                      <a:gd name="T52" fmla="*/ 1 w 93"/>
                      <a:gd name="T53" fmla="*/ 33 h 87"/>
                      <a:gd name="T54" fmla="*/ 1 w 93"/>
                      <a:gd name="T55" fmla="*/ 36 h 87"/>
                      <a:gd name="T56" fmla="*/ 0 w 93"/>
                      <a:gd name="T57" fmla="*/ 42 h 87"/>
                      <a:gd name="T58" fmla="*/ 0 w 93"/>
                      <a:gd name="T59" fmla="*/ 51 h 87"/>
                      <a:gd name="T60" fmla="*/ 2 w 93"/>
                      <a:gd name="T61" fmla="*/ 58 h 87"/>
                      <a:gd name="T62" fmla="*/ 5 w 93"/>
                      <a:gd name="T63" fmla="*/ 64 h 87"/>
                      <a:gd name="T64" fmla="*/ 11 w 93"/>
                      <a:gd name="T65" fmla="*/ 71 h 87"/>
                      <a:gd name="T66" fmla="*/ 18 w 93"/>
                      <a:gd name="T67" fmla="*/ 77 h 87"/>
                      <a:gd name="T68" fmla="*/ 22 w 93"/>
                      <a:gd name="T69" fmla="*/ 80 h 87"/>
                      <a:gd name="T70" fmla="*/ 29 w 93"/>
                      <a:gd name="T71" fmla="*/ 84 h 87"/>
                      <a:gd name="T72" fmla="*/ 36 w 93"/>
                      <a:gd name="T73" fmla="*/ 86 h 87"/>
                      <a:gd name="T74" fmla="*/ 45 w 93"/>
                      <a:gd name="T75" fmla="*/ 87 h 87"/>
                      <a:gd name="T76" fmla="*/ 53 w 93"/>
                      <a:gd name="T77" fmla="*/ 87 h 87"/>
                      <a:gd name="T78" fmla="*/ 54 w 93"/>
                      <a:gd name="T79" fmla="*/ 86 h 87"/>
                      <a:gd name="T80" fmla="*/ 61 w 93"/>
                      <a:gd name="T81" fmla="*/ 85 h 87"/>
                      <a:gd name="T82" fmla="*/ 68 w 93"/>
                      <a:gd name="T83" fmla="*/ 82 h 87"/>
                      <a:gd name="T84" fmla="*/ 75 w 93"/>
                      <a:gd name="T85" fmla="*/ 77 h 87"/>
                      <a:gd name="T86" fmla="*/ 80 w 93"/>
                      <a:gd name="T87" fmla="*/ 73 h 87"/>
                      <a:gd name="T88" fmla="*/ 83 w 93"/>
                      <a:gd name="T89" fmla="*/ 70 h 87"/>
                      <a:gd name="T90" fmla="*/ 84 w 93"/>
                      <a:gd name="T91" fmla="*/ 68 h 87"/>
                      <a:gd name="T92" fmla="*/ 90 w 93"/>
                      <a:gd name="T93" fmla="*/ 60 h 87"/>
                      <a:gd name="T94" fmla="*/ 92 w 93"/>
                      <a:gd name="T95" fmla="*/ 53 h 87"/>
                      <a:gd name="T96" fmla="*/ 93 w 93"/>
                      <a:gd name="T97" fmla="*/ 46 h 87"/>
                      <a:gd name="T98" fmla="*/ 93 w 93"/>
                      <a:gd name="T99" fmla="*/ 44 h 87"/>
                      <a:gd name="T100" fmla="*/ 93 w 93"/>
                      <a:gd name="T101" fmla="*/ 36 h 87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93"/>
                      <a:gd name="T154" fmla="*/ 0 h 87"/>
                      <a:gd name="T155" fmla="*/ 93 w 93"/>
                      <a:gd name="T156" fmla="*/ 87 h 87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93" h="87">
                        <a:moveTo>
                          <a:pt x="93" y="36"/>
                        </a:moveTo>
                        <a:lnTo>
                          <a:pt x="90" y="29"/>
                        </a:lnTo>
                        <a:lnTo>
                          <a:pt x="86" y="22"/>
                        </a:lnTo>
                        <a:lnTo>
                          <a:pt x="82" y="16"/>
                        </a:lnTo>
                        <a:lnTo>
                          <a:pt x="77" y="11"/>
                        </a:lnTo>
                        <a:lnTo>
                          <a:pt x="76" y="9"/>
                        </a:lnTo>
                        <a:lnTo>
                          <a:pt x="73" y="8"/>
                        </a:lnTo>
                        <a:lnTo>
                          <a:pt x="69" y="6"/>
                        </a:lnTo>
                        <a:lnTo>
                          <a:pt x="66" y="5"/>
                        </a:lnTo>
                        <a:lnTo>
                          <a:pt x="63" y="4"/>
                        </a:lnTo>
                        <a:lnTo>
                          <a:pt x="60" y="2"/>
                        </a:lnTo>
                        <a:lnTo>
                          <a:pt x="58" y="1"/>
                        </a:lnTo>
                        <a:lnTo>
                          <a:pt x="54" y="1"/>
                        </a:lnTo>
                        <a:lnTo>
                          <a:pt x="51" y="0"/>
                        </a:lnTo>
                        <a:lnTo>
                          <a:pt x="44" y="0"/>
                        </a:lnTo>
                        <a:lnTo>
                          <a:pt x="39" y="1"/>
                        </a:lnTo>
                        <a:lnTo>
                          <a:pt x="35" y="1"/>
                        </a:lnTo>
                        <a:lnTo>
                          <a:pt x="33" y="2"/>
                        </a:lnTo>
                        <a:lnTo>
                          <a:pt x="31" y="2"/>
                        </a:lnTo>
                        <a:lnTo>
                          <a:pt x="27" y="5"/>
                        </a:lnTo>
                        <a:lnTo>
                          <a:pt x="23" y="7"/>
                        </a:lnTo>
                        <a:lnTo>
                          <a:pt x="17" y="10"/>
                        </a:lnTo>
                        <a:lnTo>
                          <a:pt x="12" y="15"/>
                        </a:lnTo>
                        <a:lnTo>
                          <a:pt x="6" y="22"/>
                        </a:lnTo>
                        <a:lnTo>
                          <a:pt x="3" y="28"/>
                        </a:lnTo>
                        <a:lnTo>
                          <a:pt x="1" y="33"/>
                        </a:lnTo>
                        <a:lnTo>
                          <a:pt x="1" y="36"/>
                        </a:lnTo>
                        <a:lnTo>
                          <a:pt x="0" y="42"/>
                        </a:lnTo>
                        <a:lnTo>
                          <a:pt x="0" y="51"/>
                        </a:lnTo>
                        <a:lnTo>
                          <a:pt x="2" y="58"/>
                        </a:lnTo>
                        <a:lnTo>
                          <a:pt x="5" y="64"/>
                        </a:lnTo>
                        <a:lnTo>
                          <a:pt x="11" y="71"/>
                        </a:lnTo>
                        <a:lnTo>
                          <a:pt x="18" y="77"/>
                        </a:lnTo>
                        <a:lnTo>
                          <a:pt x="22" y="80"/>
                        </a:lnTo>
                        <a:lnTo>
                          <a:pt x="29" y="84"/>
                        </a:lnTo>
                        <a:lnTo>
                          <a:pt x="36" y="86"/>
                        </a:lnTo>
                        <a:lnTo>
                          <a:pt x="45" y="87"/>
                        </a:lnTo>
                        <a:lnTo>
                          <a:pt x="53" y="87"/>
                        </a:lnTo>
                        <a:lnTo>
                          <a:pt x="54" y="86"/>
                        </a:lnTo>
                        <a:lnTo>
                          <a:pt x="61" y="85"/>
                        </a:lnTo>
                        <a:lnTo>
                          <a:pt x="68" y="82"/>
                        </a:lnTo>
                        <a:lnTo>
                          <a:pt x="75" y="77"/>
                        </a:lnTo>
                        <a:lnTo>
                          <a:pt x="80" y="73"/>
                        </a:lnTo>
                        <a:lnTo>
                          <a:pt x="83" y="70"/>
                        </a:lnTo>
                        <a:lnTo>
                          <a:pt x="84" y="68"/>
                        </a:lnTo>
                        <a:lnTo>
                          <a:pt x="90" y="60"/>
                        </a:lnTo>
                        <a:lnTo>
                          <a:pt x="92" y="53"/>
                        </a:lnTo>
                        <a:lnTo>
                          <a:pt x="93" y="46"/>
                        </a:lnTo>
                        <a:lnTo>
                          <a:pt x="93" y="44"/>
                        </a:lnTo>
                        <a:lnTo>
                          <a:pt x="93" y="36"/>
                        </a:lnTo>
                        <a:close/>
                      </a:path>
                    </a:pathLst>
                  </a:custGeom>
                  <a:solidFill>
                    <a:srgbClr val="FFC283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84" name="Freeform 353"/>
                  <p:cNvSpPr>
                    <a:spLocks/>
                  </p:cNvSpPr>
                  <p:nvPr/>
                </p:nvSpPr>
                <p:spPr bwMode="auto">
                  <a:xfrm>
                    <a:off x="3778" y="2353"/>
                    <a:ext cx="93" cy="87"/>
                  </a:xfrm>
                  <a:custGeom>
                    <a:avLst/>
                    <a:gdLst>
                      <a:gd name="T0" fmla="*/ 93 w 93"/>
                      <a:gd name="T1" fmla="*/ 36 h 87"/>
                      <a:gd name="T2" fmla="*/ 90 w 93"/>
                      <a:gd name="T3" fmla="*/ 29 h 87"/>
                      <a:gd name="T4" fmla="*/ 86 w 93"/>
                      <a:gd name="T5" fmla="*/ 22 h 87"/>
                      <a:gd name="T6" fmla="*/ 82 w 93"/>
                      <a:gd name="T7" fmla="*/ 16 h 87"/>
                      <a:gd name="T8" fmla="*/ 77 w 93"/>
                      <a:gd name="T9" fmla="*/ 11 h 87"/>
                      <a:gd name="T10" fmla="*/ 76 w 93"/>
                      <a:gd name="T11" fmla="*/ 9 h 87"/>
                      <a:gd name="T12" fmla="*/ 73 w 93"/>
                      <a:gd name="T13" fmla="*/ 8 h 87"/>
                      <a:gd name="T14" fmla="*/ 69 w 93"/>
                      <a:gd name="T15" fmla="*/ 6 h 87"/>
                      <a:gd name="T16" fmla="*/ 66 w 93"/>
                      <a:gd name="T17" fmla="*/ 5 h 87"/>
                      <a:gd name="T18" fmla="*/ 63 w 93"/>
                      <a:gd name="T19" fmla="*/ 4 h 87"/>
                      <a:gd name="T20" fmla="*/ 60 w 93"/>
                      <a:gd name="T21" fmla="*/ 2 h 87"/>
                      <a:gd name="T22" fmla="*/ 58 w 93"/>
                      <a:gd name="T23" fmla="*/ 1 h 87"/>
                      <a:gd name="T24" fmla="*/ 54 w 93"/>
                      <a:gd name="T25" fmla="*/ 1 h 87"/>
                      <a:gd name="T26" fmla="*/ 51 w 93"/>
                      <a:gd name="T27" fmla="*/ 0 h 87"/>
                      <a:gd name="T28" fmla="*/ 44 w 93"/>
                      <a:gd name="T29" fmla="*/ 0 h 87"/>
                      <a:gd name="T30" fmla="*/ 39 w 93"/>
                      <a:gd name="T31" fmla="*/ 1 h 87"/>
                      <a:gd name="T32" fmla="*/ 39 w 93"/>
                      <a:gd name="T33" fmla="*/ 1 h 87"/>
                      <a:gd name="T34" fmla="*/ 35 w 93"/>
                      <a:gd name="T35" fmla="*/ 1 h 87"/>
                      <a:gd name="T36" fmla="*/ 33 w 93"/>
                      <a:gd name="T37" fmla="*/ 2 h 87"/>
                      <a:gd name="T38" fmla="*/ 31 w 93"/>
                      <a:gd name="T39" fmla="*/ 2 h 87"/>
                      <a:gd name="T40" fmla="*/ 27 w 93"/>
                      <a:gd name="T41" fmla="*/ 5 h 87"/>
                      <a:gd name="T42" fmla="*/ 23 w 93"/>
                      <a:gd name="T43" fmla="*/ 7 h 87"/>
                      <a:gd name="T44" fmla="*/ 17 w 93"/>
                      <a:gd name="T45" fmla="*/ 10 h 87"/>
                      <a:gd name="T46" fmla="*/ 12 w 93"/>
                      <a:gd name="T47" fmla="*/ 15 h 87"/>
                      <a:gd name="T48" fmla="*/ 6 w 93"/>
                      <a:gd name="T49" fmla="*/ 22 h 87"/>
                      <a:gd name="T50" fmla="*/ 3 w 93"/>
                      <a:gd name="T51" fmla="*/ 28 h 87"/>
                      <a:gd name="T52" fmla="*/ 1 w 93"/>
                      <a:gd name="T53" fmla="*/ 33 h 87"/>
                      <a:gd name="T54" fmla="*/ 1 w 93"/>
                      <a:gd name="T55" fmla="*/ 36 h 87"/>
                      <a:gd name="T56" fmla="*/ 0 w 93"/>
                      <a:gd name="T57" fmla="*/ 42 h 87"/>
                      <a:gd name="T58" fmla="*/ 0 w 93"/>
                      <a:gd name="T59" fmla="*/ 51 h 87"/>
                      <a:gd name="T60" fmla="*/ 2 w 93"/>
                      <a:gd name="T61" fmla="*/ 58 h 87"/>
                      <a:gd name="T62" fmla="*/ 5 w 93"/>
                      <a:gd name="T63" fmla="*/ 64 h 87"/>
                      <a:gd name="T64" fmla="*/ 11 w 93"/>
                      <a:gd name="T65" fmla="*/ 71 h 87"/>
                      <a:gd name="T66" fmla="*/ 18 w 93"/>
                      <a:gd name="T67" fmla="*/ 77 h 87"/>
                      <a:gd name="T68" fmla="*/ 22 w 93"/>
                      <a:gd name="T69" fmla="*/ 80 h 87"/>
                      <a:gd name="T70" fmla="*/ 29 w 93"/>
                      <a:gd name="T71" fmla="*/ 84 h 87"/>
                      <a:gd name="T72" fmla="*/ 36 w 93"/>
                      <a:gd name="T73" fmla="*/ 86 h 87"/>
                      <a:gd name="T74" fmla="*/ 45 w 93"/>
                      <a:gd name="T75" fmla="*/ 87 h 87"/>
                      <a:gd name="T76" fmla="*/ 53 w 93"/>
                      <a:gd name="T77" fmla="*/ 87 h 87"/>
                      <a:gd name="T78" fmla="*/ 54 w 93"/>
                      <a:gd name="T79" fmla="*/ 86 h 87"/>
                      <a:gd name="T80" fmla="*/ 61 w 93"/>
                      <a:gd name="T81" fmla="*/ 85 h 87"/>
                      <a:gd name="T82" fmla="*/ 68 w 93"/>
                      <a:gd name="T83" fmla="*/ 82 h 87"/>
                      <a:gd name="T84" fmla="*/ 75 w 93"/>
                      <a:gd name="T85" fmla="*/ 77 h 87"/>
                      <a:gd name="T86" fmla="*/ 80 w 93"/>
                      <a:gd name="T87" fmla="*/ 73 h 87"/>
                      <a:gd name="T88" fmla="*/ 83 w 93"/>
                      <a:gd name="T89" fmla="*/ 70 h 87"/>
                      <a:gd name="T90" fmla="*/ 84 w 93"/>
                      <a:gd name="T91" fmla="*/ 68 h 87"/>
                      <a:gd name="T92" fmla="*/ 90 w 93"/>
                      <a:gd name="T93" fmla="*/ 60 h 87"/>
                      <a:gd name="T94" fmla="*/ 92 w 93"/>
                      <a:gd name="T95" fmla="*/ 53 h 87"/>
                      <a:gd name="T96" fmla="*/ 93 w 93"/>
                      <a:gd name="T97" fmla="*/ 46 h 87"/>
                      <a:gd name="T98" fmla="*/ 93 w 93"/>
                      <a:gd name="T99" fmla="*/ 44 h 87"/>
                      <a:gd name="T100" fmla="*/ 93 w 93"/>
                      <a:gd name="T101" fmla="*/ 36 h 87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93"/>
                      <a:gd name="T154" fmla="*/ 0 h 87"/>
                      <a:gd name="T155" fmla="*/ 93 w 93"/>
                      <a:gd name="T156" fmla="*/ 87 h 87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93" h="87">
                        <a:moveTo>
                          <a:pt x="93" y="36"/>
                        </a:moveTo>
                        <a:lnTo>
                          <a:pt x="90" y="29"/>
                        </a:lnTo>
                        <a:lnTo>
                          <a:pt x="86" y="22"/>
                        </a:lnTo>
                        <a:lnTo>
                          <a:pt x="82" y="16"/>
                        </a:lnTo>
                        <a:lnTo>
                          <a:pt x="77" y="11"/>
                        </a:lnTo>
                        <a:lnTo>
                          <a:pt x="76" y="9"/>
                        </a:lnTo>
                        <a:lnTo>
                          <a:pt x="73" y="8"/>
                        </a:lnTo>
                        <a:lnTo>
                          <a:pt x="69" y="6"/>
                        </a:lnTo>
                        <a:lnTo>
                          <a:pt x="66" y="5"/>
                        </a:lnTo>
                        <a:lnTo>
                          <a:pt x="63" y="4"/>
                        </a:lnTo>
                        <a:lnTo>
                          <a:pt x="60" y="2"/>
                        </a:lnTo>
                        <a:lnTo>
                          <a:pt x="58" y="1"/>
                        </a:lnTo>
                        <a:lnTo>
                          <a:pt x="54" y="1"/>
                        </a:lnTo>
                        <a:lnTo>
                          <a:pt x="51" y="0"/>
                        </a:lnTo>
                        <a:lnTo>
                          <a:pt x="44" y="0"/>
                        </a:lnTo>
                        <a:lnTo>
                          <a:pt x="39" y="1"/>
                        </a:lnTo>
                        <a:lnTo>
                          <a:pt x="35" y="1"/>
                        </a:lnTo>
                        <a:lnTo>
                          <a:pt x="33" y="2"/>
                        </a:lnTo>
                        <a:lnTo>
                          <a:pt x="31" y="2"/>
                        </a:lnTo>
                        <a:lnTo>
                          <a:pt x="27" y="5"/>
                        </a:lnTo>
                        <a:lnTo>
                          <a:pt x="23" y="7"/>
                        </a:lnTo>
                        <a:lnTo>
                          <a:pt x="17" y="10"/>
                        </a:lnTo>
                        <a:lnTo>
                          <a:pt x="12" y="15"/>
                        </a:lnTo>
                        <a:lnTo>
                          <a:pt x="6" y="22"/>
                        </a:lnTo>
                        <a:lnTo>
                          <a:pt x="3" y="28"/>
                        </a:lnTo>
                        <a:lnTo>
                          <a:pt x="1" y="33"/>
                        </a:lnTo>
                        <a:lnTo>
                          <a:pt x="1" y="36"/>
                        </a:lnTo>
                        <a:lnTo>
                          <a:pt x="0" y="42"/>
                        </a:lnTo>
                        <a:lnTo>
                          <a:pt x="0" y="51"/>
                        </a:lnTo>
                        <a:lnTo>
                          <a:pt x="2" y="58"/>
                        </a:lnTo>
                        <a:lnTo>
                          <a:pt x="5" y="64"/>
                        </a:lnTo>
                        <a:lnTo>
                          <a:pt x="11" y="71"/>
                        </a:lnTo>
                        <a:lnTo>
                          <a:pt x="18" y="77"/>
                        </a:lnTo>
                        <a:lnTo>
                          <a:pt x="22" y="80"/>
                        </a:lnTo>
                        <a:lnTo>
                          <a:pt x="29" y="84"/>
                        </a:lnTo>
                        <a:lnTo>
                          <a:pt x="36" y="86"/>
                        </a:lnTo>
                        <a:lnTo>
                          <a:pt x="45" y="87"/>
                        </a:lnTo>
                        <a:lnTo>
                          <a:pt x="53" y="87"/>
                        </a:lnTo>
                        <a:lnTo>
                          <a:pt x="54" y="86"/>
                        </a:lnTo>
                        <a:lnTo>
                          <a:pt x="61" y="85"/>
                        </a:lnTo>
                        <a:lnTo>
                          <a:pt x="68" y="82"/>
                        </a:lnTo>
                        <a:lnTo>
                          <a:pt x="75" y="77"/>
                        </a:lnTo>
                        <a:lnTo>
                          <a:pt x="80" y="73"/>
                        </a:lnTo>
                        <a:lnTo>
                          <a:pt x="83" y="70"/>
                        </a:lnTo>
                        <a:lnTo>
                          <a:pt x="84" y="68"/>
                        </a:lnTo>
                        <a:lnTo>
                          <a:pt x="90" y="60"/>
                        </a:lnTo>
                        <a:lnTo>
                          <a:pt x="92" y="53"/>
                        </a:lnTo>
                        <a:lnTo>
                          <a:pt x="93" y="46"/>
                        </a:lnTo>
                        <a:lnTo>
                          <a:pt x="93" y="44"/>
                        </a:lnTo>
                        <a:lnTo>
                          <a:pt x="93" y="36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85" name="Freeform 354"/>
                  <p:cNvSpPr>
                    <a:spLocks/>
                  </p:cNvSpPr>
                  <p:nvPr/>
                </p:nvSpPr>
                <p:spPr bwMode="auto">
                  <a:xfrm>
                    <a:off x="3833" y="2415"/>
                    <a:ext cx="70" cy="26"/>
                  </a:xfrm>
                  <a:custGeom>
                    <a:avLst/>
                    <a:gdLst>
                      <a:gd name="T0" fmla="*/ 36 w 70"/>
                      <a:gd name="T1" fmla="*/ 0 h 26"/>
                      <a:gd name="T2" fmla="*/ 70 w 70"/>
                      <a:gd name="T3" fmla="*/ 11 h 26"/>
                      <a:gd name="T4" fmla="*/ 70 w 70"/>
                      <a:gd name="T5" fmla="*/ 13 h 26"/>
                      <a:gd name="T6" fmla="*/ 70 w 70"/>
                      <a:gd name="T7" fmla="*/ 16 h 26"/>
                      <a:gd name="T8" fmla="*/ 69 w 70"/>
                      <a:gd name="T9" fmla="*/ 18 h 26"/>
                      <a:gd name="T10" fmla="*/ 67 w 70"/>
                      <a:gd name="T11" fmla="*/ 20 h 26"/>
                      <a:gd name="T12" fmla="*/ 60 w 70"/>
                      <a:gd name="T13" fmla="*/ 22 h 26"/>
                      <a:gd name="T14" fmla="*/ 52 w 70"/>
                      <a:gd name="T15" fmla="*/ 24 h 26"/>
                      <a:gd name="T16" fmla="*/ 42 w 70"/>
                      <a:gd name="T17" fmla="*/ 25 h 26"/>
                      <a:gd name="T18" fmla="*/ 33 w 70"/>
                      <a:gd name="T19" fmla="*/ 26 h 26"/>
                      <a:gd name="T20" fmla="*/ 23 w 70"/>
                      <a:gd name="T21" fmla="*/ 26 h 26"/>
                      <a:gd name="T22" fmla="*/ 12 w 70"/>
                      <a:gd name="T23" fmla="*/ 26 h 26"/>
                      <a:gd name="T24" fmla="*/ 5 w 70"/>
                      <a:gd name="T25" fmla="*/ 25 h 26"/>
                      <a:gd name="T26" fmla="*/ 0 w 70"/>
                      <a:gd name="T27" fmla="*/ 25 h 26"/>
                      <a:gd name="T28" fmla="*/ 6 w 70"/>
                      <a:gd name="T29" fmla="*/ 24 h 26"/>
                      <a:gd name="T30" fmla="*/ 14 w 70"/>
                      <a:gd name="T31" fmla="*/ 21 h 26"/>
                      <a:gd name="T32" fmla="*/ 20 w 70"/>
                      <a:gd name="T33" fmla="*/ 16 h 26"/>
                      <a:gd name="T34" fmla="*/ 26 w 70"/>
                      <a:gd name="T35" fmla="*/ 11 h 26"/>
                      <a:gd name="T36" fmla="*/ 29 w 70"/>
                      <a:gd name="T37" fmla="*/ 9 h 26"/>
                      <a:gd name="T38" fmla="*/ 33 w 70"/>
                      <a:gd name="T39" fmla="*/ 5 h 26"/>
                      <a:gd name="T40" fmla="*/ 36 w 70"/>
                      <a:gd name="T41" fmla="*/ 0 h 2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70"/>
                      <a:gd name="T64" fmla="*/ 0 h 26"/>
                      <a:gd name="T65" fmla="*/ 70 w 70"/>
                      <a:gd name="T66" fmla="*/ 26 h 2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70" h="26">
                        <a:moveTo>
                          <a:pt x="36" y="0"/>
                        </a:moveTo>
                        <a:lnTo>
                          <a:pt x="70" y="11"/>
                        </a:lnTo>
                        <a:lnTo>
                          <a:pt x="70" y="13"/>
                        </a:lnTo>
                        <a:lnTo>
                          <a:pt x="70" y="16"/>
                        </a:lnTo>
                        <a:lnTo>
                          <a:pt x="69" y="18"/>
                        </a:lnTo>
                        <a:lnTo>
                          <a:pt x="67" y="20"/>
                        </a:lnTo>
                        <a:lnTo>
                          <a:pt x="60" y="22"/>
                        </a:lnTo>
                        <a:lnTo>
                          <a:pt x="52" y="24"/>
                        </a:lnTo>
                        <a:lnTo>
                          <a:pt x="42" y="25"/>
                        </a:lnTo>
                        <a:lnTo>
                          <a:pt x="33" y="26"/>
                        </a:lnTo>
                        <a:lnTo>
                          <a:pt x="23" y="26"/>
                        </a:lnTo>
                        <a:lnTo>
                          <a:pt x="12" y="26"/>
                        </a:lnTo>
                        <a:lnTo>
                          <a:pt x="5" y="25"/>
                        </a:lnTo>
                        <a:lnTo>
                          <a:pt x="0" y="25"/>
                        </a:lnTo>
                        <a:lnTo>
                          <a:pt x="6" y="24"/>
                        </a:lnTo>
                        <a:lnTo>
                          <a:pt x="14" y="21"/>
                        </a:lnTo>
                        <a:lnTo>
                          <a:pt x="20" y="16"/>
                        </a:lnTo>
                        <a:lnTo>
                          <a:pt x="26" y="11"/>
                        </a:lnTo>
                        <a:lnTo>
                          <a:pt x="29" y="9"/>
                        </a:lnTo>
                        <a:lnTo>
                          <a:pt x="33" y="5"/>
                        </a:lnTo>
                        <a:lnTo>
                          <a:pt x="36" y="0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86" name="Freeform 355"/>
                  <p:cNvSpPr>
                    <a:spLocks/>
                  </p:cNvSpPr>
                  <p:nvPr/>
                </p:nvSpPr>
                <p:spPr bwMode="auto">
                  <a:xfrm>
                    <a:off x="3833" y="2415"/>
                    <a:ext cx="70" cy="26"/>
                  </a:xfrm>
                  <a:custGeom>
                    <a:avLst/>
                    <a:gdLst>
                      <a:gd name="T0" fmla="*/ 36 w 70"/>
                      <a:gd name="T1" fmla="*/ 0 h 26"/>
                      <a:gd name="T2" fmla="*/ 70 w 70"/>
                      <a:gd name="T3" fmla="*/ 11 h 26"/>
                      <a:gd name="T4" fmla="*/ 70 w 70"/>
                      <a:gd name="T5" fmla="*/ 13 h 26"/>
                      <a:gd name="T6" fmla="*/ 70 w 70"/>
                      <a:gd name="T7" fmla="*/ 16 h 26"/>
                      <a:gd name="T8" fmla="*/ 69 w 70"/>
                      <a:gd name="T9" fmla="*/ 18 h 26"/>
                      <a:gd name="T10" fmla="*/ 67 w 70"/>
                      <a:gd name="T11" fmla="*/ 20 h 26"/>
                      <a:gd name="T12" fmla="*/ 60 w 70"/>
                      <a:gd name="T13" fmla="*/ 22 h 26"/>
                      <a:gd name="T14" fmla="*/ 52 w 70"/>
                      <a:gd name="T15" fmla="*/ 24 h 26"/>
                      <a:gd name="T16" fmla="*/ 42 w 70"/>
                      <a:gd name="T17" fmla="*/ 25 h 26"/>
                      <a:gd name="T18" fmla="*/ 33 w 70"/>
                      <a:gd name="T19" fmla="*/ 26 h 26"/>
                      <a:gd name="T20" fmla="*/ 23 w 70"/>
                      <a:gd name="T21" fmla="*/ 26 h 26"/>
                      <a:gd name="T22" fmla="*/ 12 w 70"/>
                      <a:gd name="T23" fmla="*/ 26 h 26"/>
                      <a:gd name="T24" fmla="*/ 5 w 70"/>
                      <a:gd name="T25" fmla="*/ 25 h 26"/>
                      <a:gd name="T26" fmla="*/ 0 w 70"/>
                      <a:gd name="T27" fmla="*/ 25 h 26"/>
                      <a:gd name="T28" fmla="*/ 6 w 70"/>
                      <a:gd name="T29" fmla="*/ 24 h 26"/>
                      <a:gd name="T30" fmla="*/ 14 w 70"/>
                      <a:gd name="T31" fmla="*/ 21 h 26"/>
                      <a:gd name="T32" fmla="*/ 20 w 70"/>
                      <a:gd name="T33" fmla="*/ 16 h 26"/>
                      <a:gd name="T34" fmla="*/ 26 w 70"/>
                      <a:gd name="T35" fmla="*/ 11 h 26"/>
                      <a:gd name="T36" fmla="*/ 29 w 70"/>
                      <a:gd name="T37" fmla="*/ 9 h 26"/>
                      <a:gd name="T38" fmla="*/ 33 w 70"/>
                      <a:gd name="T39" fmla="*/ 5 h 26"/>
                      <a:gd name="T40" fmla="*/ 36 w 70"/>
                      <a:gd name="T41" fmla="*/ 0 h 2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70"/>
                      <a:gd name="T64" fmla="*/ 0 h 26"/>
                      <a:gd name="T65" fmla="*/ 70 w 70"/>
                      <a:gd name="T66" fmla="*/ 26 h 2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70" h="26">
                        <a:moveTo>
                          <a:pt x="36" y="0"/>
                        </a:moveTo>
                        <a:lnTo>
                          <a:pt x="70" y="11"/>
                        </a:lnTo>
                        <a:lnTo>
                          <a:pt x="70" y="13"/>
                        </a:lnTo>
                        <a:lnTo>
                          <a:pt x="70" y="16"/>
                        </a:lnTo>
                        <a:lnTo>
                          <a:pt x="69" y="18"/>
                        </a:lnTo>
                        <a:lnTo>
                          <a:pt x="67" y="20"/>
                        </a:lnTo>
                        <a:lnTo>
                          <a:pt x="60" y="22"/>
                        </a:lnTo>
                        <a:lnTo>
                          <a:pt x="52" y="24"/>
                        </a:lnTo>
                        <a:lnTo>
                          <a:pt x="42" y="25"/>
                        </a:lnTo>
                        <a:lnTo>
                          <a:pt x="33" y="26"/>
                        </a:lnTo>
                        <a:lnTo>
                          <a:pt x="23" y="26"/>
                        </a:lnTo>
                        <a:lnTo>
                          <a:pt x="12" y="26"/>
                        </a:lnTo>
                        <a:lnTo>
                          <a:pt x="5" y="25"/>
                        </a:lnTo>
                        <a:lnTo>
                          <a:pt x="0" y="25"/>
                        </a:lnTo>
                        <a:lnTo>
                          <a:pt x="6" y="24"/>
                        </a:lnTo>
                        <a:lnTo>
                          <a:pt x="14" y="21"/>
                        </a:lnTo>
                        <a:lnTo>
                          <a:pt x="20" y="16"/>
                        </a:lnTo>
                        <a:lnTo>
                          <a:pt x="26" y="11"/>
                        </a:lnTo>
                        <a:lnTo>
                          <a:pt x="29" y="9"/>
                        </a:lnTo>
                        <a:lnTo>
                          <a:pt x="33" y="5"/>
                        </a:lnTo>
                        <a:lnTo>
                          <a:pt x="36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87" name="Freeform 356"/>
                  <p:cNvSpPr>
                    <a:spLocks/>
                  </p:cNvSpPr>
                  <p:nvPr/>
                </p:nvSpPr>
                <p:spPr bwMode="auto">
                  <a:xfrm>
                    <a:off x="3759" y="2417"/>
                    <a:ext cx="37" cy="13"/>
                  </a:xfrm>
                  <a:custGeom>
                    <a:avLst/>
                    <a:gdLst>
                      <a:gd name="T0" fmla="*/ 37 w 37"/>
                      <a:gd name="T1" fmla="*/ 13 h 13"/>
                      <a:gd name="T2" fmla="*/ 30 w 37"/>
                      <a:gd name="T3" fmla="*/ 7 h 13"/>
                      <a:gd name="T4" fmla="*/ 9 w 37"/>
                      <a:gd name="T5" fmla="*/ 0 h 13"/>
                      <a:gd name="T6" fmla="*/ 0 w 37"/>
                      <a:gd name="T7" fmla="*/ 9 h 13"/>
                      <a:gd name="T8" fmla="*/ 4 w 37"/>
                      <a:gd name="T9" fmla="*/ 10 h 13"/>
                      <a:gd name="T10" fmla="*/ 10 w 37"/>
                      <a:gd name="T11" fmla="*/ 5 h 13"/>
                      <a:gd name="T12" fmla="*/ 37 w 37"/>
                      <a:gd name="T13" fmla="*/ 13 h 13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7"/>
                      <a:gd name="T22" fmla="*/ 0 h 13"/>
                      <a:gd name="T23" fmla="*/ 37 w 37"/>
                      <a:gd name="T24" fmla="*/ 13 h 13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7" h="13">
                        <a:moveTo>
                          <a:pt x="37" y="13"/>
                        </a:moveTo>
                        <a:lnTo>
                          <a:pt x="30" y="7"/>
                        </a:lnTo>
                        <a:lnTo>
                          <a:pt x="9" y="0"/>
                        </a:lnTo>
                        <a:lnTo>
                          <a:pt x="0" y="9"/>
                        </a:lnTo>
                        <a:lnTo>
                          <a:pt x="4" y="10"/>
                        </a:lnTo>
                        <a:lnTo>
                          <a:pt x="10" y="5"/>
                        </a:lnTo>
                        <a:lnTo>
                          <a:pt x="37" y="13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88" name="Freeform 357"/>
                  <p:cNvSpPr>
                    <a:spLocks/>
                  </p:cNvSpPr>
                  <p:nvPr/>
                </p:nvSpPr>
                <p:spPr bwMode="auto">
                  <a:xfrm>
                    <a:off x="3759" y="2417"/>
                    <a:ext cx="37" cy="13"/>
                  </a:xfrm>
                  <a:custGeom>
                    <a:avLst/>
                    <a:gdLst>
                      <a:gd name="T0" fmla="*/ 37 w 37"/>
                      <a:gd name="T1" fmla="*/ 13 h 13"/>
                      <a:gd name="T2" fmla="*/ 30 w 37"/>
                      <a:gd name="T3" fmla="*/ 7 h 13"/>
                      <a:gd name="T4" fmla="*/ 9 w 37"/>
                      <a:gd name="T5" fmla="*/ 0 h 13"/>
                      <a:gd name="T6" fmla="*/ 0 w 37"/>
                      <a:gd name="T7" fmla="*/ 9 h 13"/>
                      <a:gd name="T8" fmla="*/ 4 w 37"/>
                      <a:gd name="T9" fmla="*/ 10 h 13"/>
                      <a:gd name="T10" fmla="*/ 10 w 37"/>
                      <a:gd name="T11" fmla="*/ 5 h 13"/>
                      <a:gd name="T12" fmla="*/ 37 w 37"/>
                      <a:gd name="T13" fmla="*/ 13 h 13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7"/>
                      <a:gd name="T22" fmla="*/ 0 h 13"/>
                      <a:gd name="T23" fmla="*/ 37 w 37"/>
                      <a:gd name="T24" fmla="*/ 13 h 13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7" h="13">
                        <a:moveTo>
                          <a:pt x="37" y="13"/>
                        </a:moveTo>
                        <a:lnTo>
                          <a:pt x="30" y="7"/>
                        </a:lnTo>
                        <a:lnTo>
                          <a:pt x="9" y="0"/>
                        </a:lnTo>
                        <a:lnTo>
                          <a:pt x="0" y="9"/>
                        </a:lnTo>
                        <a:lnTo>
                          <a:pt x="4" y="10"/>
                        </a:lnTo>
                        <a:lnTo>
                          <a:pt x="10" y="5"/>
                        </a:lnTo>
                        <a:lnTo>
                          <a:pt x="37" y="13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89" name="Freeform 358"/>
                  <p:cNvSpPr>
                    <a:spLocks/>
                  </p:cNvSpPr>
                  <p:nvPr/>
                </p:nvSpPr>
                <p:spPr bwMode="auto">
                  <a:xfrm>
                    <a:off x="3823" y="2439"/>
                    <a:ext cx="31" cy="9"/>
                  </a:xfrm>
                  <a:custGeom>
                    <a:avLst/>
                    <a:gdLst>
                      <a:gd name="T0" fmla="*/ 8 w 31"/>
                      <a:gd name="T1" fmla="*/ 0 h 9"/>
                      <a:gd name="T2" fmla="*/ 0 w 31"/>
                      <a:gd name="T3" fmla="*/ 1 h 9"/>
                      <a:gd name="T4" fmla="*/ 26 w 31"/>
                      <a:gd name="T5" fmla="*/ 9 h 9"/>
                      <a:gd name="T6" fmla="*/ 31 w 31"/>
                      <a:gd name="T7" fmla="*/ 5 h 9"/>
                      <a:gd name="T8" fmla="*/ 10 w 31"/>
                      <a:gd name="T9" fmla="*/ 0 h 9"/>
                      <a:gd name="T10" fmla="*/ 8 w 31"/>
                      <a:gd name="T11" fmla="*/ 0 h 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1"/>
                      <a:gd name="T19" fmla="*/ 0 h 9"/>
                      <a:gd name="T20" fmla="*/ 31 w 31"/>
                      <a:gd name="T21" fmla="*/ 9 h 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1" h="9">
                        <a:moveTo>
                          <a:pt x="8" y="0"/>
                        </a:moveTo>
                        <a:lnTo>
                          <a:pt x="0" y="1"/>
                        </a:lnTo>
                        <a:lnTo>
                          <a:pt x="26" y="9"/>
                        </a:lnTo>
                        <a:lnTo>
                          <a:pt x="31" y="5"/>
                        </a:lnTo>
                        <a:lnTo>
                          <a:pt x="10" y="0"/>
                        </a:lnTo>
                        <a:lnTo>
                          <a:pt x="8" y="0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90" name="Freeform 359"/>
                  <p:cNvSpPr>
                    <a:spLocks/>
                  </p:cNvSpPr>
                  <p:nvPr/>
                </p:nvSpPr>
                <p:spPr bwMode="auto">
                  <a:xfrm>
                    <a:off x="3823" y="2439"/>
                    <a:ext cx="31" cy="9"/>
                  </a:xfrm>
                  <a:custGeom>
                    <a:avLst/>
                    <a:gdLst>
                      <a:gd name="T0" fmla="*/ 8 w 31"/>
                      <a:gd name="T1" fmla="*/ 0 h 9"/>
                      <a:gd name="T2" fmla="*/ 0 w 31"/>
                      <a:gd name="T3" fmla="*/ 1 h 9"/>
                      <a:gd name="T4" fmla="*/ 26 w 31"/>
                      <a:gd name="T5" fmla="*/ 9 h 9"/>
                      <a:gd name="T6" fmla="*/ 31 w 31"/>
                      <a:gd name="T7" fmla="*/ 5 h 9"/>
                      <a:gd name="T8" fmla="*/ 10 w 31"/>
                      <a:gd name="T9" fmla="*/ 0 h 9"/>
                      <a:gd name="T10" fmla="*/ 8 w 31"/>
                      <a:gd name="T11" fmla="*/ 0 h 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1"/>
                      <a:gd name="T19" fmla="*/ 0 h 9"/>
                      <a:gd name="T20" fmla="*/ 31 w 31"/>
                      <a:gd name="T21" fmla="*/ 9 h 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1" h="9">
                        <a:moveTo>
                          <a:pt x="8" y="0"/>
                        </a:moveTo>
                        <a:lnTo>
                          <a:pt x="0" y="1"/>
                        </a:lnTo>
                        <a:lnTo>
                          <a:pt x="26" y="9"/>
                        </a:lnTo>
                        <a:lnTo>
                          <a:pt x="31" y="5"/>
                        </a:lnTo>
                        <a:lnTo>
                          <a:pt x="10" y="0"/>
                        </a:lnTo>
                        <a:lnTo>
                          <a:pt x="8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91" name="Freeform 360"/>
                  <p:cNvSpPr>
                    <a:spLocks/>
                  </p:cNvSpPr>
                  <p:nvPr/>
                </p:nvSpPr>
                <p:spPr bwMode="auto">
                  <a:xfrm>
                    <a:off x="3763" y="2422"/>
                    <a:ext cx="86" cy="32"/>
                  </a:xfrm>
                  <a:custGeom>
                    <a:avLst/>
                    <a:gdLst>
                      <a:gd name="T0" fmla="*/ 60 w 86"/>
                      <a:gd name="T1" fmla="*/ 18 h 32"/>
                      <a:gd name="T2" fmla="*/ 52 w 86"/>
                      <a:gd name="T3" fmla="*/ 18 h 32"/>
                      <a:gd name="T4" fmla="*/ 44 w 86"/>
                      <a:gd name="T5" fmla="*/ 16 h 32"/>
                      <a:gd name="T6" fmla="*/ 37 w 86"/>
                      <a:gd name="T7" fmla="*/ 11 h 32"/>
                      <a:gd name="T8" fmla="*/ 33 w 86"/>
                      <a:gd name="T9" fmla="*/ 8 h 32"/>
                      <a:gd name="T10" fmla="*/ 6 w 86"/>
                      <a:gd name="T11" fmla="*/ 0 h 32"/>
                      <a:gd name="T12" fmla="*/ 0 w 86"/>
                      <a:gd name="T13" fmla="*/ 6 h 32"/>
                      <a:gd name="T14" fmla="*/ 81 w 86"/>
                      <a:gd name="T15" fmla="*/ 32 h 32"/>
                      <a:gd name="T16" fmla="*/ 86 w 86"/>
                      <a:gd name="T17" fmla="*/ 28 h 32"/>
                      <a:gd name="T18" fmla="*/ 60 w 86"/>
                      <a:gd name="T19" fmla="*/ 18 h 3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86"/>
                      <a:gd name="T31" fmla="*/ 0 h 32"/>
                      <a:gd name="T32" fmla="*/ 86 w 86"/>
                      <a:gd name="T33" fmla="*/ 32 h 3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86" h="32">
                        <a:moveTo>
                          <a:pt x="60" y="18"/>
                        </a:moveTo>
                        <a:lnTo>
                          <a:pt x="52" y="18"/>
                        </a:lnTo>
                        <a:lnTo>
                          <a:pt x="44" y="16"/>
                        </a:lnTo>
                        <a:lnTo>
                          <a:pt x="37" y="11"/>
                        </a:lnTo>
                        <a:lnTo>
                          <a:pt x="33" y="8"/>
                        </a:lnTo>
                        <a:lnTo>
                          <a:pt x="6" y="0"/>
                        </a:lnTo>
                        <a:lnTo>
                          <a:pt x="0" y="6"/>
                        </a:lnTo>
                        <a:lnTo>
                          <a:pt x="81" y="32"/>
                        </a:lnTo>
                        <a:lnTo>
                          <a:pt x="86" y="28"/>
                        </a:lnTo>
                        <a:lnTo>
                          <a:pt x="60" y="18"/>
                        </a:lnTo>
                        <a:close/>
                      </a:path>
                    </a:pathLst>
                  </a:custGeom>
                  <a:solidFill>
                    <a:srgbClr val="0000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92" name="Freeform 361"/>
                  <p:cNvSpPr>
                    <a:spLocks/>
                  </p:cNvSpPr>
                  <p:nvPr/>
                </p:nvSpPr>
                <p:spPr bwMode="auto">
                  <a:xfrm>
                    <a:off x="3763" y="2422"/>
                    <a:ext cx="86" cy="32"/>
                  </a:xfrm>
                  <a:custGeom>
                    <a:avLst/>
                    <a:gdLst>
                      <a:gd name="T0" fmla="*/ 60 w 86"/>
                      <a:gd name="T1" fmla="*/ 18 h 32"/>
                      <a:gd name="T2" fmla="*/ 52 w 86"/>
                      <a:gd name="T3" fmla="*/ 18 h 32"/>
                      <a:gd name="T4" fmla="*/ 44 w 86"/>
                      <a:gd name="T5" fmla="*/ 16 h 32"/>
                      <a:gd name="T6" fmla="*/ 37 w 86"/>
                      <a:gd name="T7" fmla="*/ 11 h 32"/>
                      <a:gd name="T8" fmla="*/ 33 w 86"/>
                      <a:gd name="T9" fmla="*/ 8 h 32"/>
                      <a:gd name="T10" fmla="*/ 6 w 86"/>
                      <a:gd name="T11" fmla="*/ 0 h 32"/>
                      <a:gd name="T12" fmla="*/ 0 w 86"/>
                      <a:gd name="T13" fmla="*/ 6 h 32"/>
                      <a:gd name="T14" fmla="*/ 81 w 86"/>
                      <a:gd name="T15" fmla="*/ 32 h 32"/>
                      <a:gd name="T16" fmla="*/ 86 w 86"/>
                      <a:gd name="T17" fmla="*/ 28 h 32"/>
                      <a:gd name="T18" fmla="*/ 60 w 86"/>
                      <a:gd name="T19" fmla="*/ 18 h 3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86"/>
                      <a:gd name="T31" fmla="*/ 0 h 32"/>
                      <a:gd name="T32" fmla="*/ 86 w 86"/>
                      <a:gd name="T33" fmla="*/ 32 h 3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86" h="32">
                        <a:moveTo>
                          <a:pt x="60" y="18"/>
                        </a:moveTo>
                        <a:lnTo>
                          <a:pt x="52" y="18"/>
                        </a:lnTo>
                        <a:lnTo>
                          <a:pt x="44" y="16"/>
                        </a:lnTo>
                        <a:lnTo>
                          <a:pt x="37" y="11"/>
                        </a:lnTo>
                        <a:lnTo>
                          <a:pt x="33" y="8"/>
                        </a:lnTo>
                        <a:lnTo>
                          <a:pt x="6" y="0"/>
                        </a:lnTo>
                        <a:lnTo>
                          <a:pt x="0" y="6"/>
                        </a:lnTo>
                        <a:lnTo>
                          <a:pt x="81" y="32"/>
                        </a:lnTo>
                        <a:lnTo>
                          <a:pt x="86" y="28"/>
                        </a:lnTo>
                        <a:lnTo>
                          <a:pt x="60" y="18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93" name="Freeform 362"/>
                  <p:cNvSpPr>
                    <a:spLocks/>
                  </p:cNvSpPr>
                  <p:nvPr/>
                </p:nvSpPr>
                <p:spPr bwMode="auto">
                  <a:xfrm>
                    <a:off x="3570" y="2385"/>
                    <a:ext cx="346" cy="105"/>
                  </a:xfrm>
                  <a:custGeom>
                    <a:avLst/>
                    <a:gdLst>
                      <a:gd name="T0" fmla="*/ 0 w 346"/>
                      <a:gd name="T1" fmla="*/ 105 h 105"/>
                      <a:gd name="T2" fmla="*/ 138 w 346"/>
                      <a:gd name="T3" fmla="*/ 62 h 105"/>
                      <a:gd name="T4" fmla="*/ 277 w 346"/>
                      <a:gd name="T5" fmla="*/ 105 h 105"/>
                      <a:gd name="T6" fmla="*/ 346 w 346"/>
                      <a:gd name="T7" fmla="*/ 44 h 105"/>
                      <a:gd name="T8" fmla="*/ 333 w 346"/>
                      <a:gd name="T9" fmla="*/ 41 h 105"/>
                      <a:gd name="T10" fmla="*/ 333 w 346"/>
                      <a:gd name="T11" fmla="*/ 43 h 105"/>
                      <a:gd name="T12" fmla="*/ 333 w 346"/>
                      <a:gd name="T13" fmla="*/ 46 h 105"/>
                      <a:gd name="T14" fmla="*/ 332 w 346"/>
                      <a:gd name="T15" fmla="*/ 47 h 105"/>
                      <a:gd name="T16" fmla="*/ 330 w 346"/>
                      <a:gd name="T17" fmla="*/ 50 h 105"/>
                      <a:gd name="T18" fmla="*/ 324 w 346"/>
                      <a:gd name="T19" fmla="*/ 52 h 105"/>
                      <a:gd name="T20" fmla="*/ 315 w 346"/>
                      <a:gd name="T21" fmla="*/ 54 h 105"/>
                      <a:gd name="T22" fmla="*/ 305 w 346"/>
                      <a:gd name="T23" fmla="*/ 55 h 105"/>
                      <a:gd name="T24" fmla="*/ 296 w 346"/>
                      <a:gd name="T25" fmla="*/ 56 h 105"/>
                      <a:gd name="T26" fmla="*/ 286 w 346"/>
                      <a:gd name="T27" fmla="*/ 56 h 105"/>
                      <a:gd name="T28" fmla="*/ 275 w 346"/>
                      <a:gd name="T29" fmla="*/ 55 h 105"/>
                      <a:gd name="T30" fmla="*/ 268 w 346"/>
                      <a:gd name="T31" fmla="*/ 55 h 105"/>
                      <a:gd name="T32" fmla="*/ 263 w 346"/>
                      <a:gd name="T33" fmla="*/ 55 h 105"/>
                      <a:gd name="T34" fmla="*/ 284 w 346"/>
                      <a:gd name="T35" fmla="*/ 60 h 105"/>
                      <a:gd name="T36" fmla="*/ 274 w 346"/>
                      <a:gd name="T37" fmla="*/ 69 h 105"/>
                      <a:gd name="T38" fmla="*/ 193 w 346"/>
                      <a:gd name="T39" fmla="*/ 43 h 105"/>
                      <a:gd name="T40" fmla="*/ 189 w 346"/>
                      <a:gd name="T41" fmla="*/ 41 h 105"/>
                      <a:gd name="T42" fmla="*/ 198 w 346"/>
                      <a:gd name="T43" fmla="*/ 32 h 105"/>
                      <a:gd name="T44" fmla="*/ 219 w 346"/>
                      <a:gd name="T45" fmla="*/ 39 h 105"/>
                      <a:gd name="T46" fmla="*/ 213 w 346"/>
                      <a:gd name="T47" fmla="*/ 32 h 105"/>
                      <a:gd name="T48" fmla="*/ 210 w 346"/>
                      <a:gd name="T49" fmla="*/ 26 h 105"/>
                      <a:gd name="T50" fmla="*/ 208 w 346"/>
                      <a:gd name="T51" fmla="*/ 19 h 105"/>
                      <a:gd name="T52" fmla="*/ 208 w 346"/>
                      <a:gd name="T53" fmla="*/ 11 h 105"/>
                      <a:gd name="T54" fmla="*/ 209 w 346"/>
                      <a:gd name="T55" fmla="*/ 4 h 105"/>
                      <a:gd name="T56" fmla="*/ 209 w 346"/>
                      <a:gd name="T57" fmla="*/ 1 h 105"/>
                      <a:gd name="T58" fmla="*/ 205 w 346"/>
                      <a:gd name="T59" fmla="*/ 0 h 105"/>
                      <a:gd name="T60" fmla="*/ 66 w 346"/>
                      <a:gd name="T61" fmla="*/ 44 h 105"/>
                      <a:gd name="T62" fmla="*/ 0 w 346"/>
                      <a:gd name="T63" fmla="*/ 105 h 105"/>
                      <a:gd name="T64" fmla="*/ 0 w 346"/>
                      <a:gd name="T65" fmla="*/ 105 h 105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346"/>
                      <a:gd name="T100" fmla="*/ 0 h 105"/>
                      <a:gd name="T101" fmla="*/ 346 w 346"/>
                      <a:gd name="T102" fmla="*/ 105 h 105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346" h="105">
                        <a:moveTo>
                          <a:pt x="0" y="105"/>
                        </a:moveTo>
                        <a:lnTo>
                          <a:pt x="138" y="62"/>
                        </a:lnTo>
                        <a:lnTo>
                          <a:pt x="277" y="105"/>
                        </a:lnTo>
                        <a:lnTo>
                          <a:pt x="346" y="44"/>
                        </a:lnTo>
                        <a:lnTo>
                          <a:pt x="333" y="41"/>
                        </a:lnTo>
                        <a:lnTo>
                          <a:pt x="333" y="43"/>
                        </a:lnTo>
                        <a:lnTo>
                          <a:pt x="333" y="46"/>
                        </a:lnTo>
                        <a:lnTo>
                          <a:pt x="332" y="47"/>
                        </a:lnTo>
                        <a:lnTo>
                          <a:pt x="330" y="50"/>
                        </a:lnTo>
                        <a:lnTo>
                          <a:pt x="324" y="52"/>
                        </a:lnTo>
                        <a:lnTo>
                          <a:pt x="315" y="54"/>
                        </a:lnTo>
                        <a:lnTo>
                          <a:pt x="305" y="55"/>
                        </a:lnTo>
                        <a:lnTo>
                          <a:pt x="296" y="56"/>
                        </a:lnTo>
                        <a:lnTo>
                          <a:pt x="286" y="56"/>
                        </a:lnTo>
                        <a:lnTo>
                          <a:pt x="275" y="55"/>
                        </a:lnTo>
                        <a:lnTo>
                          <a:pt x="268" y="55"/>
                        </a:lnTo>
                        <a:lnTo>
                          <a:pt x="263" y="55"/>
                        </a:lnTo>
                        <a:lnTo>
                          <a:pt x="284" y="60"/>
                        </a:lnTo>
                        <a:lnTo>
                          <a:pt x="274" y="69"/>
                        </a:lnTo>
                        <a:lnTo>
                          <a:pt x="193" y="43"/>
                        </a:lnTo>
                        <a:lnTo>
                          <a:pt x="189" y="41"/>
                        </a:lnTo>
                        <a:lnTo>
                          <a:pt x="198" y="32"/>
                        </a:lnTo>
                        <a:lnTo>
                          <a:pt x="219" y="39"/>
                        </a:lnTo>
                        <a:lnTo>
                          <a:pt x="213" y="32"/>
                        </a:lnTo>
                        <a:lnTo>
                          <a:pt x="210" y="26"/>
                        </a:lnTo>
                        <a:lnTo>
                          <a:pt x="208" y="19"/>
                        </a:lnTo>
                        <a:lnTo>
                          <a:pt x="208" y="11"/>
                        </a:lnTo>
                        <a:lnTo>
                          <a:pt x="209" y="4"/>
                        </a:lnTo>
                        <a:lnTo>
                          <a:pt x="209" y="1"/>
                        </a:lnTo>
                        <a:lnTo>
                          <a:pt x="205" y="0"/>
                        </a:lnTo>
                        <a:lnTo>
                          <a:pt x="66" y="44"/>
                        </a:lnTo>
                        <a:lnTo>
                          <a:pt x="0" y="10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94" name="Freeform 363"/>
                  <p:cNvSpPr>
                    <a:spLocks/>
                  </p:cNvSpPr>
                  <p:nvPr/>
                </p:nvSpPr>
                <p:spPr bwMode="auto">
                  <a:xfrm>
                    <a:off x="3570" y="2385"/>
                    <a:ext cx="346" cy="105"/>
                  </a:xfrm>
                  <a:custGeom>
                    <a:avLst/>
                    <a:gdLst>
                      <a:gd name="T0" fmla="*/ 0 w 346"/>
                      <a:gd name="T1" fmla="*/ 105 h 105"/>
                      <a:gd name="T2" fmla="*/ 138 w 346"/>
                      <a:gd name="T3" fmla="*/ 62 h 105"/>
                      <a:gd name="T4" fmla="*/ 277 w 346"/>
                      <a:gd name="T5" fmla="*/ 105 h 105"/>
                      <a:gd name="T6" fmla="*/ 346 w 346"/>
                      <a:gd name="T7" fmla="*/ 44 h 105"/>
                      <a:gd name="T8" fmla="*/ 333 w 346"/>
                      <a:gd name="T9" fmla="*/ 41 h 105"/>
                      <a:gd name="T10" fmla="*/ 333 w 346"/>
                      <a:gd name="T11" fmla="*/ 43 h 105"/>
                      <a:gd name="T12" fmla="*/ 333 w 346"/>
                      <a:gd name="T13" fmla="*/ 46 h 105"/>
                      <a:gd name="T14" fmla="*/ 332 w 346"/>
                      <a:gd name="T15" fmla="*/ 47 h 105"/>
                      <a:gd name="T16" fmla="*/ 330 w 346"/>
                      <a:gd name="T17" fmla="*/ 50 h 105"/>
                      <a:gd name="T18" fmla="*/ 324 w 346"/>
                      <a:gd name="T19" fmla="*/ 52 h 105"/>
                      <a:gd name="T20" fmla="*/ 315 w 346"/>
                      <a:gd name="T21" fmla="*/ 54 h 105"/>
                      <a:gd name="T22" fmla="*/ 305 w 346"/>
                      <a:gd name="T23" fmla="*/ 55 h 105"/>
                      <a:gd name="T24" fmla="*/ 296 w 346"/>
                      <a:gd name="T25" fmla="*/ 56 h 105"/>
                      <a:gd name="T26" fmla="*/ 286 w 346"/>
                      <a:gd name="T27" fmla="*/ 56 h 105"/>
                      <a:gd name="T28" fmla="*/ 275 w 346"/>
                      <a:gd name="T29" fmla="*/ 55 h 105"/>
                      <a:gd name="T30" fmla="*/ 268 w 346"/>
                      <a:gd name="T31" fmla="*/ 55 h 105"/>
                      <a:gd name="T32" fmla="*/ 263 w 346"/>
                      <a:gd name="T33" fmla="*/ 55 h 105"/>
                      <a:gd name="T34" fmla="*/ 284 w 346"/>
                      <a:gd name="T35" fmla="*/ 60 h 105"/>
                      <a:gd name="T36" fmla="*/ 274 w 346"/>
                      <a:gd name="T37" fmla="*/ 69 h 105"/>
                      <a:gd name="T38" fmla="*/ 193 w 346"/>
                      <a:gd name="T39" fmla="*/ 43 h 105"/>
                      <a:gd name="T40" fmla="*/ 189 w 346"/>
                      <a:gd name="T41" fmla="*/ 41 h 105"/>
                      <a:gd name="T42" fmla="*/ 198 w 346"/>
                      <a:gd name="T43" fmla="*/ 32 h 105"/>
                      <a:gd name="T44" fmla="*/ 219 w 346"/>
                      <a:gd name="T45" fmla="*/ 39 h 105"/>
                      <a:gd name="T46" fmla="*/ 213 w 346"/>
                      <a:gd name="T47" fmla="*/ 32 h 105"/>
                      <a:gd name="T48" fmla="*/ 210 w 346"/>
                      <a:gd name="T49" fmla="*/ 26 h 105"/>
                      <a:gd name="T50" fmla="*/ 208 w 346"/>
                      <a:gd name="T51" fmla="*/ 19 h 105"/>
                      <a:gd name="T52" fmla="*/ 208 w 346"/>
                      <a:gd name="T53" fmla="*/ 11 h 105"/>
                      <a:gd name="T54" fmla="*/ 209 w 346"/>
                      <a:gd name="T55" fmla="*/ 4 h 105"/>
                      <a:gd name="T56" fmla="*/ 209 w 346"/>
                      <a:gd name="T57" fmla="*/ 1 h 105"/>
                      <a:gd name="T58" fmla="*/ 205 w 346"/>
                      <a:gd name="T59" fmla="*/ 0 h 105"/>
                      <a:gd name="T60" fmla="*/ 66 w 346"/>
                      <a:gd name="T61" fmla="*/ 44 h 105"/>
                      <a:gd name="T62" fmla="*/ 0 w 346"/>
                      <a:gd name="T63" fmla="*/ 105 h 105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346"/>
                      <a:gd name="T97" fmla="*/ 0 h 105"/>
                      <a:gd name="T98" fmla="*/ 346 w 346"/>
                      <a:gd name="T99" fmla="*/ 105 h 105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346" h="105">
                        <a:moveTo>
                          <a:pt x="0" y="105"/>
                        </a:moveTo>
                        <a:lnTo>
                          <a:pt x="138" y="62"/>
                        </a:lnTo>
                        <a:lnTo>
                          <a:pt x="277" y="105"/>
                        </a:lnTo>
                        <a:lnTo>
                          <a:pt x="346" y="44"/>
                        </a:lnTo>
                        <a:lnTo>
                          <a:pt x="333" y="41"/>
                        </a:lnTo>
                        <a:lnTo>
                          <a:pt x="333" y="43"/>
                        </a:lnTo>
                        <a:lnTo>
                          <a:pt x="333" y="46"/>
                        </a:lnTo>
                        <a:lnTo>
                          <a:pt x="332" y="47"/>
                        </a:lnTo>
                        <a:lnTo>
                          <a:pt x="330" y="50"/>
                        </a:lnTo>
                        <a:lnTo>
                          <a:pt x="324" y="52"/>
                        </a:lnTo>
                        <a:lnTo>
                          <a:pt x="315" y="54"/>
                        </a:lnTo>
                        <a:lnTo>
                          <a:pt x="305" y="55"/>
                        </a:lnTo>
                        <a:lnTo>
                          <a:pt x="296" y="56"/>
                        </a:lnTo>
                        <a:lnTo>
                          <a:pt x="286" y="56"/>
                        </a:lnTo>
                        <a:lnTo>
                          <a:pt x="275" y="55"/>
                        </a:lnTo>
                        <a:lnTo>
                          <a:pt x="268" y="55"/>
                        </a:lnTo>
                        <a:lnTo>
                          <a:pt x="263" y="55"/>
                        </a:lnTo>
                        <a:lnTo>
                          <a:pt x="284" y="60"/>
                        </a:lnTo>
                        <a:lnTo>
                          <a:pt x="274" y="69"/>
                        </a:lnTo>
                        <a:lnTo>
                          <a:pt x="193" y="43"/>
                        </a:lnTo>
                        <a:lnTo>
                          <a:pt x="189" y="41"/>
                        </a:lnTo>
                        <a:lnTo>
                          <a:pt x="198" y="32"/>
                        </a:lnTo>
                        <a:lnTo>
                          <a:pt x="219" y="39"/>
                        </a:lnTo>
                        <a:lnTo>
                          <a:pt x="213" y="32"/>
                        </a:lnTo>
                        <a:lnTo>
                          <a:pt x="210" y="26"/>
                        </a:lnTo>
                        <a:lnTo>
                          <a:pt x="208" y="19"/>
                        </a:lnTo>
                        <a:lnTo>
                          <a:pt x="208" y="11"/>
                        </a:lnTo>
                        <a:lnTo>
                          <a:pt x="209" y="4"/>
                        </a:lnTo>
                        <a:lnTo>
                          <a:pt x="209" y="1"/>
                        </a:lnTo>
                        <a:lnTo>
                          <a:pt x="205" y="0"/>
                        </a:lnTo>
                        <a:lnTo>
                          <a:pt x="66" y="44"/>
                        </a:lnTo>
                        <a:lnTo>
                          <a:pt x="0" y="10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95" name="Freeform 364"/>
                  <p:cNvSpPr>
                    <a:spLocks/>
                  </p:cNvSpPr>
                  <p:nvPr/>
                </p:nvSpPr>
                <p:spPr bwMode="auto">
                  <a:xfrm>
                    <a:off x="3846" y="2429"/>
                    <a:ext cx="70" cy="69"/>
                  </a:xfrm>
                  <a:custGeom>
                    <a:avLst/>
                    <a:gdLst>
                      <a:gd name="T0" fmla="*/ 70 w 70"/>
                      <a:gd name="T1" fmla="*/ 0 h 69"/>
                      <a:gd name="T2" fmla="*/ 70 w 70"/>
                      <a:gd name="T3" fmla="*/ 6 h 69"/>
                      <a:gd name="T4" fmla="*/ 59 w 70"/>
                      <a:gd name="T5" fmla="*/ 15 h 69"/>
                      <a:gd name="T6" fmla="*/ 0 w 70"/>
                      <a:gd name="T7" fmla="*/ 69 h 69"/>
                      <a:gd name="T8" fmla="*/ 0 w 70"/>
                      <a:gd name="T9" fmla="*/ 64 h 69"/>
                      <a:gd name="T10" fmla="*/ 1 w 70"/>
                      <a:gd name="T11" fmla="*/ 61 h 69"/>
                      <a:gd name="T12" fmla="*/ 70 w 70"/>
                      <a:gd name="T13" fmla="*/ 0 h 6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70"/>
                      <a:gd name="T22" fmla="*/ 0 h 69"/>
                      <a:gd name="T23" fmla="*/ 70 w 70"/>
                      <a:gd name="T24" fmla="*/ 69 h 69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70" h="69">
                        <a:moveTo>
                          <a:pt x="70" y="0"/>
                        </a:moveTo>
                        <a:lnTo>
                          <a:pt x="70" y="6"/>
                        </a:lnTo>
                        <a:lnTo>
                          <a:pt x="59" y="15"/>
                        </a:lnTo>
                        <a:lnTo>
                          <a:pt x="0" y="69"/>
                        </a:lnTo>
                        <a:lnTo>
                          <a:pt x="0" y="64"/>
                        </a:lnTo>
                        <a:lnTo>
                          <a:pt x="1" y="61"/>
                        </a:lnTo>
                        <a:lnTo>
                          <a:pt x="7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96" name="Freeform 365"/>
                  <p:cNvSpPr>
                    <a:spLocks/>
                  </p:cNvSpPr>
                  <p:nvPr/>
                </p:nvSpPr>
                <p:spPr bwMode="auto">
                  <a:xfrm>
                    <a:off x="3846" y="2429"/>
                    <a:ext cx="70" cy="69"/>
                  </a:xfrm>
                  <a:custGeom>
                    <a:avLst/>
                    <a:gdLst>
                      <a:gd name="T0" fmla="*/ 70 w 70"/>
                      <a:gd name="T1" fmla="*/ 0 h 69"/>
                      <a:gd name="T2" fmla="*/ 70 w 70"/>
                      <a:gd name="T3" fmla="*/ 6 h 69"/>
                      <a:gd name="T4" fmla="*/ 59 w 70"/>
                      <a:gd name="T5" fmla="*/ 15 h 69"/>
                      <a:gd name="T6" fmla="*/ 0 w 70"/>
                      <a:gd name="T7" fmla="*/ 69 h 69"/>
                      <a:gd name="T8" fmla="*/ 0 w 70"/>
                      <a:gd name="T9" fmla="*/ 64 h 69"/>
                      <a:gd name="T10" fmla="*/ 1 w 70"/>
                      <a:gd name="T11" fmla="*/ 61 h 69"/>
                      <a:gd name="T12" fmla="*/ 70 w 70"/>
                      <a:gd name="T13" fmla="*/ 0 h 6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70"/>
                      <a:gd name="T22" fmla="*/ 0 h 69"/>
                      <a:gd name="T23" fmla="*/ 70 w 70"/>
                      <a:gd name="T24" fmla="*/ 69 h 69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70" h="69">
                        <a:moveTo>
                          <a:pt x="70" y="0"/>
                        </a:moveTo>
                        <a:lnTo>
                          <a:pt x="70" y="6"/>
                        </a:lnTo>
                        <a:lnTo>
                          <a:pt x="59" y="15"/>
                        </a:lnTo>
                        <a:lnTo>
                          <a:pt x="0" y="69"/>
                        </a:lnTo>
                        <a:lnTo>
                          <a:pt x="0" y="64"/>
                        </a:lnTo>
                        <a:lnTo>
                          <a:pt x="1" y="61"/>
                        </a:lnTo>
                        <a:lnTo>
                          <a:pt x="7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97" name="Freeform 366"/>
                  <p:cNvSpPr>
                    <a:spLocks/>
                  </p:cNvSpPr>
                  <p:nvPr/>
                </p:nvSpPr>
                <p:spPr bwMode="auto">
                  <a:xfrm>
                    <a:off x="3570" y="2447"/>
                    <a:ext cx="277" cy="46"/>
                  </a:xfrm>
                  <a:custGeom>
                    <a:avLst/>
                    <a:gdLst>
                      <a:gd name="T0" fmla="*/ 276 w 277"/>
                      <a:gd name="T1" fmla="*/ 46 h 46"/>
                      <a:gd name="T2" fmla="*/ 277 w 277"/>
                      <a:gd name="T3" fmla="*/ 43 h 46"/>
                      <a:gd name="T4" fmla="*/ 138 w 277"/>
                      <a:gd name="T5" fmla="*/ 0 h 46"/>
                      <a:gd name="T6" fmla="*/ 0 w 277"/>
                      <a:gd name="T7" fmla="*/ 43 h 46"/>
                      <a:gd name="T8" fmla="*/ 1 w 277"/>
                      <a:gd name="T9" fmla="*/ 46 h 46"/>
                      <a:gd name="T10" fmla="*/ 29 w 277"/>
                      <a:gd name="T11" fmla="*/ 46 h 46"/>
                      <a:gd name="T12" fmla="*/ 138 w 277"/>
                      <a:gd name="T13" fmla="*/ 14 h 46"/>
                      <a:gd name="T14" fmla="*/ 239 w 277"/>
                      <a:gd name="T15" fmla="*/ 46 h 46"/>
                      <a:gd name="T16" fmla="*/ 276 w 277"/>
                      <a:gd name="T17" fmla="*/ 46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277"/>
                      <a:gd name="T28" fmla="*/ 0 h 46"/>
                      <a:gd name="T29" fmla="*/ 277 w 277"/>
                      <a:gd name="T30" fmla="*/ 46 h 4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277" h="46">
                        <a:moveTo>
                          <a:pt x="276" y="46"/>
                        </a:moveTo>
                        <a:lnTo>
                          <a:pt x="277" y="43"/>
                        </a:lnTo>
                        <a:lnTo>
                          <a:pt x="138" y="0"/>
                        </a:lnTo>
                        <a:lnTo>
                          <a:pt x="0" y="43"/>
                        </a:lnTo>
                        <a:lnTo>
                          <a:pt x="1" y="46"/>
                        </a:lnTo>
                        <a:lnTo>
                          <a:pt x="29" y="46"/>
                        </a:lnTo>
                        <a:lnTo>
                          <a:pt x="138" y="14"/>
                        </a:lnTo>
                        <a:lnTo>
                          <a:pt x="239" y="46"/>
                        </a:lnTo>
                        <a:lnTo>
                          <a:pt x="276" y="4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98" name="Freeform 367"/>
                  <p:cNvSpPr>
                    <a:spLocks/>
                  </p:cNvSpPr>
                  <p:nvPr/>
                </p:nvSpPr>
                <p:spPr bwMode="auto">
                  <a:xfrm>
                    <a:off x="3570" y="2447"/>
                    <a:ext cx="277" cy="46"/>
                  </a:xfrm>
                  <a:custGeom>
                    <a:avLst/>
                    <a:gdLst>
                      <a:gd name="T0" fmla="*/ 276 w 277"/>
                      <a:gd name="T1" fmla="*/ 46 h 46"/>
                      <a:gd name="T2" fmla="*/ 277 w 277"/>
                      <a:gd name="T3" fmla="*/ 43 h 46"/>
                      <a:gd name="T4" fmla="*/ 138 w 277"/>
                      <a:gd name="T5" fmla="*/ 0 h 46"/>
                      <a:gd name="T6" fmla="*/ 0 w 277"/>
                      <a:gd name="T7" fmla="*/ 43 h 46"/>
                      <a:gd name="T8" fmla="*/ 1 w 277"/>
                      <a:gd name="T9" fmla="*/ 46 h 46"/>
                      <a:gd name="T10" fmla="*/ 29 w 277"/>
                      <a:gd name="T11" fmla="*/ 46 h 46"/>
                      <a:gd name="T12" fmla="*/ 138 w 277"/>
                      <a:gd name="T13" fmla="*/ 14 h 46"/>
                      <a:gd name="T14" fmla="*/ 239 w 277"/>
                      <a:gd name="T15" fmla="*/ 46 h 46"/>
                      <a:gd name="T16" fmla="*/ 276 w 277"/>
                      <a:gd name="T17" fmla="*/ 46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277"/>
                      <a:gd name="T28" fmla="*/ 0 h 46"/>
                      <a:gd name="T29" fmla="*/ 277 w 277"/>
                      <a:gd name="T30" fmla="*/ 46 h 4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277" h="46">
                        <a:moveTo>
                          <a:pt x="276" y="46"/>
                        </a:moveTo>
                        <a:lnTo>
                          <a:pt x="277" y="43"/>
                        </a:lnTo>
                        <a:lnTo>
                          <a:pt x="138" y="0"/>
                        </a:lnTo>
                        <a:lnTo>
                          <a:pt x="0" y="43"/>
                        </a:lnTo>
                        <a:lnTo>
                          <a:pt x="1" y="46"/>
                        </a:lnTo>
                        <a:lnTo>
                          <a:pt x="29" y="46"/>
                        </a:lnTo>
                        <a:lnTo>
                          <a:pt x="138" y="14"/>
                        </a:lnTo>
                        <a:lnTo>
                          <a:pt x="239" y="46"/>
                        </a:lnTo>
                        <a:lnTo>
                          <a:pt x="276" y="46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899" name="Freeform 368"/>
                  <p:cNvSpPr>
                    <a:spLocks/>
                  </p:cNvSpPr>
                  <p:nvPr/>
                </p:nvSpPr>
                <p:spPr bwMode="auto">
                  <a:xfrm>
                    <a:off x="3600" y="2461"/>
                    <a:ext cx="209" cy="32"/>
                  </a:xfrm>
                  <a:custGeom>
                    <a:avLst/>
                    <a:gdLst>
                      <a:gd name="T0" fmla="*/ 0 w 209"/>
                      <a:gd name="T1" fmla="*/ 32 h 32"/>
                      <a:gd name="T2" fmla="*/ 108 w 209"/>
                      <a:gd name="T3" fmla="*/ 0 h 32"/>
                      <a:gd name="T4" fmla="*/ 209 w 209"/>
                      <a:gd name="T5" fmla="*/ 32 h 32"/>
                      <a:gd name="T6" fmla="*/ 188 w 209"/>
                      <a:gd name="T7" fmla="*/ 32 h 32"/>
                      <a:gd name="T8" fmla="*/ 108 w 209"/>
                      <a:gd name="T9" fmla="*/ 7 h 32"/>
                      <a:gd name="T10" fmla="*/ 24 w 209"/>
                      <a:gd name="T11" fmla="*/ 32 h 32"/>
                      <a:gd name="T12" fmla="*/ 0 w 209"/>
                      <a:gd name="T13" fmla="*/ 32 h 3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09"/>
                      <a:gd name="T22" fmla="*/ 0 h 32"/>
                      <a:gd name="T23" fmla="*/ 209 w 209"/>
                      <a:gd name="T24" fmla="*/ 32 h 3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09" h="32">
                        <a:moveTo>
                          <a:pt x="0" y="32"/>
                        </a:moveTo>
                        <a:lnTo>
                          <a:pt x="108" y="0"/>
                        </a:lnTo>
                        <a:lnTo>
                          <a:pt x="209" y="32"/>
                        </a:lnTo>
                        <a:lnTo>
                          <a:pt x="188" y="32"/>
                        </a:lnTo>
                        <a:lnTo>
                          <a:pt x="108" y="7"/>
                        </a:lnTo>
                        <a:lnTo>
                          <a:pt x="24" y="32"/>
                        </a:lnTo>
                        <a:lnTo>
                          <a:pt x="0" y="32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00" name="Freeform 369"/>
                  <p:cNvSpPr>
                    <a:spLocks/>
                  </p:cNvSpPr>
                  <p:nvPr/>
                </p:nvSpPr>
                <p:spPr bwMode="auto">
                  <a:xfrm>
                    <a:off x="3600" y="2461"/>
                    <a:ext cx="209" cy="32"/>
                  </a:xfrm>
                  <a:custGeom>
                    <a:avLst/>
                    <a:gdLst>
                      <a:gd name="T0" fmla="*/ 0 w 209"/>
                      <a:gd name="T1" fmla="*/ 32 h 32"/>
                      <a:gd name="T2" fmla="*/ 108 w 209"/>
                      <a:gd name="T3" fmla="*/ 0 h 32"/>
                      <a:gd name="T4" fmla="*/ 209 w 209"/>
                      <a:gd name="T5" fmla="*/ 32 h 32"/>
                      <a:gd name="T6" fmla="*/ 188 w 209"/>
                      <a:gd name="T7" fmla="*/ 32 h 32"/>
                      <a:gd name="T8" fmla="*/ 108 w 209"/>
                      <a:gd name="T9" fmla="*/ 7 h 32"/>
                      <a:gd name="T10" fmla="*/ 24 w 209"/>
                      <a:gd name="T11" fmla="*/ 32 h 32"/>
                      <a:gd name="T12" fmla="*/ 0 w 209"/>
                      <a:gd name="T13" fmla="*/ 32 h 3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09"/>
                      <a:gd name="T22" fmla="*/ 0 h 32"/>
                      <a:gd name="T23" fmla="*/ 209 w 209"/>
                      <a:gd name="T24" fmla="*/ 32 h 3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09" h="32">
                        <a:moveTo>
                          <a:pt x="0" y="32"/>
                        </a:moveTo>
                        <a:lnTo>
                          <a:pt x="108" y="0"/>
                        </a:lnTo>
                        <a:lnTo>
                          <a:pt x="209" y="32"/>
                        </a:lnTo>
                        <a:lnTo>
                          <a:pt x="188" y="32"/>
                        </a:lnTo>
                        <a:lnTo>
                          <a:pt x="108" y="7"/>
                        </a:lnTo>
                        <a:lnTo>
                          <a:pt x="24" y="32"/>
                        </a:lnTo>
                        <a:lnTo>
                          <a:pt x="0" y="32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01" name="Freeform 370"/>
                  <p:cNvSpPr>
                    <a:spLocks/>
                  </p:cNvSpPr>
                  <p:nvPr/>
                </p:nvSpPr>
                <p:spPr bwMode="auto">
                  <a:xfrm>
                    <a:off x="3624" y="2468"/>
                    <a:ext cx="164" cy="25"/>
                  </a:xfrm>
                  <a:custGeom>
                    <a:avLst/>
                    <a:gdLst>
                      <a:gd name="T0" fmla="*/ 164 w 164"/>
                      <a:gd name="T1" fmla="*/ 25 h 25"/>
                      <a:gd name="T2" fmla="*/ 84 w 164"/>
                      <a:gd name="T3" fmla="*/ 0 h 25"/>
                      <a:gd name="T4" fmla="*/ 0 w 164"/>
                      <a:gd name="T5" fmla="*/ 25 h 25"/>
                      <a:gd name="T6" fmla="*/ 164 w 164"/>
                      <a:gd name="T7" fmla="*/ 25 h 2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64"/>
                      <a:gd name="T13" fmla="*/ 0 h 25"/>
                      <a:gd name="T14" fmla="*/ 164 w 164"/>
                      <a:gd name="T15" fmla="*/ 25 h 2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64" h="25">
                        <a:moveTo>
                          <a:pt x="164" y="25"/>
                        </a:moveTo>
                        <a:lnTo>
                          <a:pt x="84" y="0"/>
                        </a:lnTo>
                        <a:lnTo>
                          <a:pt x="0" y="25"/>
                        </a:lnTo>
                        <a:lnTo>
                          <a:pt x="164" y="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02" name="Freeform 371"/>
                  <p:cNvSpPr>
                    <a:spLocks/>
                  </p:cNvSpPr>
                  <p:nvPr/>
                </p:nvSpPr>
                <p:spPr bwMode="auto">
                  <a:xfrm>
                    <a:off x="3624" y="2468"/>
                    <a:ext cx="164" cy="25"/>
                  </a:xfrm>
                  <a:custGeom>
                    <a:avLst/>
                    <a:gdLst>
                      <a:gd name="T0" fmla="*/ 164 w 164"/>
                      <a:gd name="T1" fmla="*/ 25 h 25"/>
                      <a:gd name="T2" fmla="*/ 84 w 164"/>
                      <a:gd name="T3" fmla="*/ 0 h 25"/>
                      <a:gd name="T4" fmla="*/ 0 w 164"/>
                      <a:gd name="T5" fmla="*/ 25 h 25"/>
                      <a:gd name="T6" fmla="*/ 164 w 164"/>
                      <a:gd name="T7" fmla="*/ 25 h 2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64"/>
                      <a:gd name="T13" fmla="*/ 0 h 25"/>
                      <a:gd name="T14" fmla="*/ 164 w 164"/>
                      <a:gd name="T15" fmla="*/ 25 h 2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64" h="25">
                        <a:moveTo>
                          <a:pt x="164" y="25"/>
                        </a:moveTo>
                        <a:lnTo>
                          <a:pt x="84" y="0"/>
                        </a:lnTo>
                        <a:lnTo>
                          <a:pt x="0" y="25"/>
                        </a:lnTo>
                        <a:lnTo>
                          <a:pt x="164" y="2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03" name="Rectangle 372"/>
                  <p:cNvSpPr>
                    <a:spLocks noChangeArrowheads="1"/>
                  </p:cNvSpPr>
                  <p:nvPr/>
                </p:nvSpPr>
                <p:spPr bwMode="auto">
                  <a:xfrm>
                    <a:off x="3571" y="2493"/>
                    <a:ext cx="275" cy="5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04" name="Rectangle 373"/>
                  <p:cNvSpPr>
                    <a:spLocks noChangeArrowheads="1"/>
                  </p:cNvSpPr>
                  <p:nvPr/>
                </p:nvSpPr>
                <p:spPr bwMode="auto">
                  <a:xfrm>
                    <a:off x="3571" y="2493"/>
                    <a:ext cx="275" cy="5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05" name="Rectangle 374"/>
                  <p:cNvSpPr>
                    <a:spLocks noChangeArrowheads="1"/>
                  </p:cNvSpPr>
                  <p:nvPr/>
                </p:nvSpPr>
                <p:spPr bwMode="auto">
                  <a:xfrm>
                    <a:off x="3578" y="2498"/>
                    <a:ext cx="260" cy="7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06" name="Rectangle 375"/>
                  <p:cNvSpPr>
                    <a:spLocks noChangeArrowheads="1"/>
                  </p:cNvSpPr>
                  <p:nvPr/>
                </p:nvSpPr>
                <p:spPr bwMode="auto">
                  <a:xfrm>
                    <a:off x="3578" y="2498"/>
                    <a:ext cx="260" cy="7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07" name="Freeform 376"/>
                  <p:cNvSpPr>
                    <a:spLocks/>
                  </p:cNvSpPr>
                  <p:nvPr/>
                </p:nvSpPr>
                <p:spPr bwMode="auto">
                  <a:xfrm>
                    <a:off x="3838" y="2498"/>
                    <a:ext cx="8" cy="7"/>
                  </a:xfrm>
                  <a:custGeom>
                    <a:avLst/>
                    <a:gdLst>
                      <a:gd name="T0" fmla="*/ 8 w 8"/>
                      <a:gd name="T1" fmla="*/ 0 h 7"/>
                      <a:gd name="T2" fmla="*/ 0 w 8"/>
                      <a:gd name="T3" fmla="*/ 0 h 7"/>
                      <a:gd name="T4" fmla="*/ 0 w 8"/>
                      <a:gd name="T5" fmla="*/ 7 h 7"/>
                      <a:gd name="T6" fmla="*/ 8 w 8"/>
                      <a:gd name="T7" fmla="*/ 0 h 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"/>
                      <a:gd name="T13" fmla="*/ 0 h 7"/>
                      <a:gd name="T14" fmla="*/ 8 w 8"/>
                      <a:gd name="T15" fmla="*/ 7 h 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" h="7">
                        <a:moveTo>
                          <a:pt x="8" y="0"/>
                        </a:moveTo>
                        <a:lnTo>
                          <a:pt x="0" y="0"/>
                        </a:lnTo>
                        <a:lnTo>
                          <a:pt x="0" y="7"/>
                        </a:lnTo>
                        <a:lnTo>
                          <a:pt x="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08" name="Freeform 377"/>
                  <p:cNvSpPr>
                    <a:spLocks/>
                  </p:cNvSpPr>
                  <p:nvPr/>
                </p:nvSpPr>
                <p:spPr bwMode="auto">
                  <a:xfrm>
                    <a:off x="3838" y="2498"/>
                    <a:ext cx="8" cy="7"/>
                  </a:xfrm>
                  <a:custGeom>
                    <a:avLst/>
                    <a:gdLst>
                      <a:gd name="T0" fmla="*/ 8 w 8"/>
                      <a:gd name="T1" fmla="*/ 0 h 7"/>
                      <a:gd name="T2" fmla="*/ 0 w 8"/>
                      <a:gd name="T3" fmla="*/ 0 h 7"/>
                      <a:gd name="T4" fmla="*/ 0 w 8"/>
                      <a:gd name="T5" fmla="*/ 7 h 7"/>
                      <a:gd name="T6" fmla="*/ 8 w 8"/>
                      <a:gd name="T7" fmla="*/ 0 h 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"/>
                      <a:gd name="T13" fmla="*/ 0 h 7"/>
                      <a:gd name="T14" fmla="*/ 8 w 8"/>
                      <a:gd name="T15" fmla="*/ 7 h 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" h="7">
                        <a:moveTo>
                          <a:pt x="8" y="0"/>
                        </a:moveTo>
                        <a:lnTo>
                          <a:pt x="0" y="0"/>
                        </a:lnTo>
                        <a:lnTo>
                          <a:pt x="0" y="7"/>
                        </a:lnTo>
                        <a:lnTo>
                          <a:pt x="8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09" name="Rectangle 378"/>
                  <p:cNvSpPr>
                    <a:spLocks noChangeArrowheads="1"/>
                  </p:cNvSpPr>
                  <p:nvPr/>
                </p:nvSpPr>
                <p:spPr bwMode="auto">
                  <a:xfrm>
                    <a:off x="3582" y="2505"/>
                    <a:ext cx="250" cy="24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10" name="Rectangle 379"/>
                  <p:cNvSpPr>
                    <a:spLocks noChangeArrowheads="1"/>
                  </p:cNvSpPr>
                  <p:nvPr/>
                </p:nvSpPr>
                <p:spPr bwMode="auto">
                  <a:xfrm>
                    <a:off x="3582" y="2505"/>
                    <a:ext cx="250" cy="24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11" name="Freeform 380"/>
                  <p:cNvSpPr>
                    <a:spLocks/>
                  </p:cNvSpPr>
                  <p:nvPr/>
                </p:nvSpPr>
                <p:spPr bwMode="auto">
                  <a:xfrm>
                    <a:off x="3599" y="2520"/>
                    <a:ext cx="244" cy="160"/>
                  </a:xfrm>
                  <a:custGeom>
                    <a:avLst/>
                    <a:gdLst>
                      <a:gd name="T0" fmla="*/ 4 w 244"/>
                      <a:gd name="T1" fmla="*/ 12 h 160"/>
                      <a:gd name="T2" fmla="*/ 4 w 244"/>
                      <a:gd name="T3" fmla="*/ 13 h 160"/>
                      <a:gd name="T4" fmla="*/ 1 w 244"/>
                      <a:gd name="T5" fmla="*/ 14 h 160"/>
                      <a:gd name="T6" fmla="*/ 0 w 244"/>
                      <a:gd name="T7" fmla="*/ 21 h 160"/>
                      <a:gd name="T8" fmla="*/ 4 w 244"/>
                      <a:gd name="T9" fmla="*/ 21 h 160"/>
                      <a:gd name="T10" fmla="*/ 4 w 244"/>
                      <a:gd name="T11" fmla="*/ 27 h 160"/>
                      <a:gd name="T12" fmla="*/ 1 w 244"/>
                      <a:gd name="T13" fmla="*/ 28 h 160"/>
                      <a:gd name="T14" fmla="*/ 3 w 244"/>
                      <a:gd name="T15" fmla="*/ 132 h 160"/>
                      <a:gd name="T16" fmla="*/ 12 w 244"/>
                      <a:gd name="T17" fmla="*/ 146 h 160"/>
                      <a:gd name="T18" fmla="*/ 15 w 244"/>
                      <a:gd name="T19" fmla="*/ 157 h 160"/>
                      <a:gd name="T20" fmla="*/ 24 w 244"/>
                      <a:gd name="T21" fmla="*/ 157 h 160"/>
                      <a:gd name="T22" fmla="*/ 28 w 244"/>
                      <a:gd name="T23" fmla="*/ 159 h 160"/>
                      <a:gd name="T24" fmla="*/ 35 w 244"/>
                      <a:gd name="T25" fmla="*/ 160 h 160"/>
                      <a:gd name="T26" fmla="*/ 41 w 244"/>
                      <a:gd name="T27" fmla="*/ 160 h 160"/>
                      <a:gd name="T28" fmla="*/ 46 w 244"/>
                      <a:gd name="T29" fmla="*/ 158 h 160"/>
                      <a:gd name="T30" fmla="*/ 50 w 244"/>
                      <a:gd name="T31" fmla="*/ 157 h 160"/>
                      <a:gd name="T32" fmla="*/ 67 w 244"/>
                      <a:gd name="T33" fmla="*/ 157 h 160"/>
                      <a:gd name="T34" fmla="*/ 71 w 244"/>
                      <a:gd name="T35" fmla="*/ 159 h 160"/>
                      <a:gd name="T36" fmla="*/ 77 w 244"/>
                      <a:gd name="T37" fmla="*/ 160 h 160"/>
                      <a:gd name="T38" fmla="*/ 84 w 244"/>
                      <a:gd name="T39" fmla="*/ 160 h 160"/>
                      <a:gd name="T40" fmla="*/ 90 w 244"/>
                      <a:gd name="T41" fmla="*/ 158 h 160"/>
                      <a:gd name="T42" fmla="*/ 93 w 244"/>
                      <a:gd name="T43" fmla="*/ 157 h 160"/>
                      <a:gd name="T44" fmla="*/ 123 w 244"/>
                      <a:gd name="T45" fmla="*/ 157 h 160"/>
                      <a:gd name="T46" fmla="*/ 128 w 244"/>
                      <a:gd name="T47" fmla="*/ 159 h 160"/>
                      <a:gd name="T48" fmla="*/ 134 w 244"/>
                      <a:gd name="T49" fmla="*/ 160 h 160"/>
                      <a:gd name="T50" fmla="*/ 140 w 244"/>
                      <a:gd name="T51" fmla="*/ 160 h 160"/>
                      <a:gd name="T52" fmla="*/ 146 w 244"/>
                      <a:gd name="T53" fmla="*/ 158 h 160"/>
                      <a:gd name="T54" fmla="*/ 149 w 244"/>
                      <a:gd name="T55" fmla="*/ 157 h 160"/>
                      <a:gd name="T56" fmla="*/ 167 w 244"/>
                      <a:gd name="T57" fmla="*/ 157 h 160"/>
                      <a:gd name="T58" fmla="*/ 171 w 244"/>
                      <a:gd name="T59" fmla="*/ 159 h 160"/>
                      <a:gd name="T60" fmla="*/ 178 w 244"/>
                      <a:gd name="T61" fmla="*/ 160 h 160"/>
                      <a:gd name="T62" fmla="*/ 184 w 244"/>
                      <a:gd name="T63" fmla="*/ 160 h 160"/>
                      <a:gd name="T64" fmla="*/ 191 w 244"/>
                      <a:gd name="T65" fmla="*/ 158 h 160"/>
                      <a:gd name="T66" fmla="*/ 193 w 244"/>
                      <a:gd name="T67" fmla="*/ 157 h 160"/>
                      <a:gd name="T68" fmla="*/ 213 w 244"/>
                      <a:gd name="T69" fmla="*/ 141 h 160"/>
                      <a:gd name="T70" fmla="*/ 209 w 244"/>
                      <a:gd name="T71" fmla="*/ 138 h 160"/>
                      <a:gd name="T72" fmla="*/ 244 w 244"/>
                      <a:gd name="T73" fmla="*/ 131 h 160"/>
                      <a:gd name="T74" fmla="*/ 240 w 244"/>
                      <a:gd name="T75" fmla="*/ 3 h 160"/>
                      <a:gd name="T76" fmla="*/ 9 w 244"/>
                      <a:gd name="T77" fmla="*/ 9 h 160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244"/>
                      <a:gd name="T118" fmla="*/ 0 h 160"/>
                      <a:gd name="T119" fmla="*/ 244 w 244"/>
                      <a:gd name="T120" fmla="*/ 160 h 160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244" h="160">
                        <a:moveTo>
                          <a:pt x="9" y="9"/>
                        </a:moveTo>
                        <a:lnTo>
                          <a:pt x="4" y="12"/>
                        </a:lnTo>
                        <a:lnTo>
                          <a:pt x="4" y="13"/>
                        </a:lnTo>
                        <a:lnTo>
                          <a:pt x="3" y="13"/>
                        </a:lnTo>
                        <a:lnTo>
                          <a:pt x="1" y="14"/>
                        </a:lnTo>
                        <a:lnTo>
                          <a:pt x="0" y="14"/>
                        </a:lnTo>
                        <a:lnTo>
                          <a:pt x="0" y="21"/>
                        </a:lnTo>
                        <a:lnTo>
                          <a:pt x="3" y="21"/>
                        </a:lnTo>
                        <a:lnTo>
                          <a:pt x="4" y="21"/>
                        </a:lnTo>
                        <a:lnTo>
                          <a:pt x="4" y="22"/>
                        </a:lnTo>
                        <a:lnTo>
                          <a:pt x="4" y="27"/>
                        </a:lnTo>
                        <a:lnTo>
                          <a:pt x="1" y="28"/>
                        </a:lnTo>
                        <a:lnTo>
                          <a:pt x="0" y="28"/>
                        </a:lnTo>
                        <a:lnTo>
                          <a:pt x="3" y="132"/>
                        </a:lnTo>
                        <a:lnTo>
                          <a:pt x="12" y="132"/>
                        </a:lnTo>
                        <a:lnTo>
                          <a:pt x="12" y="146"/>
                        </a:lnTo>
                        <a:lnTo>
                          <a:pt x="15" y="152"/>
                        </a:lnTo>
                        <a:lnTo>
                          <a:pt x="15" y="157"/>
                        </a:lnTo>
                        <a:lnTo>
                          <a:pt x="23" y="157"/>
                        </a:lnTo>
                        <a:lnTo>
                          <a:pt x="24" y="157"/>
                        </a:lnTo>
                        <a:lnTo>
                          <a:pt x="26" y="158"/>
                        </a:lnTo>
                        <a:lnTo>
                          <a:pt x="28" y="159"/>
                        </a:lnTo>
                        <a:lnTo>
                          <a:pt x="31" y="160"/>
                        </a:lnTo>
                        <a:lnTo>
                          <a:pt x="35" y="160"/>
                        </a:lnTo>
                        <a:lnTo>
                          <a:pt x="37" y="160"/>
                        </a:lnTo>
                        <a:lnTo>
                          <a:pt x="41" y="160"/>
                        </a:lnTo>
                        <a:lnTo>
                          <a:pt x="43" y="159"/>
                        </a:lnTo>
                        <a:lnTo>
                          <a:pt x="46" y="158"/>
                        </a:lnTo>
                        <a:lnTo>
                          <a:pt x="49" y="158"/>
                        </a:lnTo>
                        <a:lnTo>
                          <a:pt x="50" y="157"/>
                        </a:lnTo>
                        <a:lnTo>
                          <a:pt x="66" y="157"/>
                        </a:lnTo>
                        <a:lnTo>
                          <a:pt x="67" y="157"/>
                        </a:lnTo>
                        <a:lnTo>
                          <a:pt x="69" y="158"/>
                        </a:lnTo>
                        <a:lnTo>
                          <a:pt x="71" y="159"/>
                        </a:lnTo>
                        <a:lnTo>
                          <a:pt x="74" y="160"/>
                        </a:lnTo>
                        <a:lnTo>
                          <a:pt x="77" y="160"/>
                        </a:lnTo>
                        <a:lnTo>
                          <a:pt x="81" y="160"/>
                        </a:lnTo>
                        <a:lnTo>
                          <a:pt x="84" y="160"/>
                        </a:lnTo>
                        <a:lnTo>
                          <a:pt x="87" y="159"/>
                        </a:lnTo>
                        <a:lnTo>
                          <a:pt x="90" y="158"/>
                        </a:lnTo>
                        <a:lnTo>
                          <a:pt x="91" y="158"/>
                        </a:lnTo>
                        <a:lnTo>
                          <a:pt x="93" y="157"/>
                        </a:lnTo>
                        <a:lnTo>
                          <a:pt x="122" y="157"/>
                        </a:lnTo>
                        <a:lnTo>
                          <a:pt x="123" y="157"/>
                        </a:lnTo>
                        <a:lnTo>
                          <a:pt x="125" y="158"/>
                        </a:lnTo>
                        <a:lnTo>
                          <a:pt x="128" y="159"/>
                        </a:lnTo>
                        <a:lnTo>
                          <a:pt x="131" y="160"/>
                        </a:lnTo>
                        <a:lnTo>
                          <a:pt x="134" y="160"/>
                        </a:lnTo>
                        <a:lnTo>
                          <a:pt x="137" y="160"/>
                        </a:lnTo>
                        <a:lnTo>
                          <a:pt x="140" y="160"/>
                        </a:lnTo>
                        <a:lnTo>
                          <a:pt x="144" y="159"/>
                        </a:lnTo>
                        <a:lnTo>
                          <a:pt x="146" y="158"/>
                        </a:lnTo>
                        <a:lnTo>
                          <a:pt x="148" y="158"/>
                        </a:lnTo>
                        <a:lnTo>
                          <a:pt x="149" y="157"/>
                        </a:lnTo>
                        <a:lnTo>
                          <a:pt x="166" y="157"/>
                        </a:lnTo>
                        <a:lnTo>
                          <a:pt x="167" y="157"/>
                        </a:lnTo>
                        <a:lnTo>
                          <a:pt x="169" y="158"/>
                        </a:lnTo>
                        <a:lnTo>
                          <a:pt x="171" y="159"/>
                        </a:lnTo>
                        <a:lnTo>
                          <a:pt x="175" y="160"/>
                        </a:lnTo>
                        <a:lnTo>
                          <a:pt x="178" y="160"/>
                        </a:lnTo>
                        <a:lnTo>
                          <a:pt x="181" y="160"/>
                        </a:lnTo>
                        <a:lnTo>
                          <a:pt x="184" y="160"/>
                        </a:lnTo>
                        <a:lnTo>
                          <a:pt x="187" y="159"/>
                        </a:lnTo>
                        <a:lnTo>
                          <a:pt x="191" y="158"/>
                        </a:lnTo>
                        <a:lnTo>
                          <a:pt x="192" y="158"/>
                        </a:lnTo>
                        <a:lnTo>
                          <a:pt x="193" y="157"/>
                        </a:lnTo>
                        <a:lnTo>
                          <a:pt x="213" y="157"/>
                        </a:lnTo>
                        <a:lnTo>
                          <a:pt x="213" y="141"/>
                        </a:lnTo>
                        <a:lnTo>
                          <a:pt x="211" y="141"/>
                        </a:lnTo>
                        <a:lnTo>
                          <a:pt x="209" y="138"/>
                        </a:lnTo>
                        <a:lnTo>
                          <a:pt x="236" y="138"/>
                        </a:lnTo>
                        <a:lnTo>
                          <a:pt x="244" y="131"/>
                        </a:lnTo>
                        <a:lnTo>
                          <a:pt x="244" y="0"/>
                        </a:lnTo>
                        <a:lnTo>
                          <a:pt x="240" y="3"/>
                        </a:lnTo>
                        <a:lnTo>
                          <a:pt x="233" y="9"/>
                        </a:lnTo>
                        <a:lnTo>
                          <a:pt x="9" y="9"/>
                        </a:lnTo>
                        <a:close/>
                      </a:path>
                    </a:pathLst>
                  </a:custGeom>
                  <a:solidFill>
                    <a:srgbClr val="0000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12" name="Freeform 381"/>
                  <p:cNvSpPr>
                    <a:spLocks/>
                  </p:cNvSpPr>
                  <p:nvPr/>
                </p:nvSpPr>
                <p:spPr bwMode="auto">
                  <a:xfrm>
                    <a:off x="3599" y="2520"/>
                    <a:ext cx="244" cy="160"/>
                  </a:xfrm>
                  <a:custGeom>
                    <a:avLst/>
                    <a:gdLst>
                      <a:gd name="T0" fmla="*/ 4 w 244"/>
                      <a:gd name="T1" fmla="*/ 12 h 160"/>
                      <a:gd name="T2" fmla="*/ 4 w 244"/>
                      <a:gd name="T3" fmla="*/ 13 h 160"/>
                      <a:gd name="T4" fmla="*/ 1 w 244"/>
                      <a:gd name="T5" fmla="*/ 14 h 160"/>
                      <a:gd name="T6" fmla="*/ 0 w 244"/>
                      <a:gd name="T7" fmla="*/ 21 h 160"/>
                      <a:gd name="T8" fmla="*/ 4 w 244"/>
                      <a:gd name="T9" fmla="*/ 21 h 160"/>
                      <a:gd name="T10" fmla="*/ 4 w 244"/>
                      <a:gd name="T11" fmla="*/ 27 h 160"/>
                      <a:gd name="T12" fmla="*/ 1 w 244"/>
                      <a:gd name="T13" fmla="*/ 28 h 160"/>
                      <a:gd name="T14" fmla="*/ 3 w 244"/>
                      <a:gd name="T15" fmla="*/ 132 h 160"/>
                      <a:gd name="T16" fmla="*/ 12 w 244"/>
                      <a:gd name="T17" fmla="*/ 146 h 160"/>
                      <a:gd name="T18" fmla="*/ 15 w 244"/>
                      <a:gd name="T19" fmla="*/ 157 h 160"/>
                      <a:gd name="T20" fmla="*/ 24 w 244"/>
                      <a:gd name="T21" fmla="*/ 157 h 160"/>
                      <a:gd name="T22" fmla="*/ 28 w 244"/>
                      <a:gd name="T23" fmla="*/ 159 h 160"/>
                      <a:gd name="T24" fmla="*/ 35 w 244"/>
                      <a:gd name="T25" fmla="*/ 160 h 160"/>
                      <a:gd name="T26" fmla="*/ 41 w 244"/>
                      <a:gd name="T27" fmla="*/ 160 h 160"/>
                      <a:gd name="T28" fmla="*/ 46 w 244"/>
                      <a:gd name="T29" fmla="*/ 158 h 160"/>
                      <a:gd name="T30" fmla="*/ 50 w 244"/>
                      <a:gd name="T31" fmla="*/ 157 h 160"/>
                      <a:gd name="T32" fmla="*/ 67 w 244"/>
                      <a:gd name="T33" fmla="*/ 157 h 160"/>
                      <a:gd name="T34" fmla="*/ 71 w 244"/>
                      <a:gd name="T35" fmla="*/ 159 h 160"/>
                      <a:gd name="T36" fmla="*/ 77 w 244"/>
                      <a:gd name="T37" fmla="*/ 160 h 160"/>
                      <a:gd name="T38" fmla="*/ 84 w 244"/>
                      <a:gd name="T39" fmla="*/ 160 h 160"/>
                      <a:gd name="T40" fmla="*/ 90 w 244"/>
                      <a:gd name="T41" fmla="*/ 158 h 160"/>
                      <a:gd name="T42" fmla="*/ 93 w 244"/>
                      <a:gd name="T43" fmla="*/ 157 h 160"/>
                      <a:gd name="T44" fmla="*/ 123 w 244"/>
                      <a:gd name="T45" fmla="*/ 157 h 160"/>
                      <a:gd name="T46" fmla="*/ 128 w 244"/>
                      <a:gd name="T47" fmla="*/ 159 h 160"/>
                      <a:gd name="T48" fmla="*/ 134 w 244"/>
                      <a:gd name="T49" fmla="*/ 160 h 160"/>
                      <a:gd name="T50" fmla="*/ 140 w 244"/>
                      <a:gd name="T51" fmla="*/ 160 h 160"/>
                      <a:gd name="T52" fmla="*/ 146 w 244"/>
                      <a:gd name="T53" fmla="*/ 158 h 160"/>
                      <a:gd name="T54" fmla="*/ 149 w 244"/>
                      <a:gd name="T55" fmla="*/ 157 h 160"/>
                      <a:gd name="T56" fmla="*/ 167 w 244"/>
                      <a:gd name="T57" fmla="*/ 157 h 160"/>
                      <a:gd name="T58" fmla="*/ 171 w 244"/>
                      <a:gd name="T59" fmla="*/ 159 h 160"/>
                      <a:gd name="T60" fmla="*/ 178 w 244"/>
                      <a:gd name="T61" fmla="*/ 160 h 160"/>
                      <a:gd name="T62" fmla="*/ 184 w 244"/>
                      <a:gd name="T63" fmla="*/ 160 h 160"/>
                      <a:gd name="T64" fmla="*/ 191 w 244"/>
                      <a:gd name="T65" fmla="*/ 158 h 160"/>
                      <a:gd name="T66" fmla="*/ 193 w 244"/>
                      <a:gd name="T67" fmla="*/ 157 h 160"/>
                      <a:gd name="T68" fmla="*/ 213 w 244"/>
                      <a:gd name="T69" fmla="*/ 141 h 160"/>
                      <a:gd name="T70" fmla="*/ 209 w 244"/>
                      <a:gd name="T71" fmla="*/ 138 h 160"/>
                      <a:gd name="T72" fmla="*/ 244 w 244"/>
                      <a:gd name="T73" fmla="*/ 131 h 160"/>
                      <a:gd name="T74" fmla="*/ 240 w 244"/>
                      <a:gd name="T75" fmla="*/ 3 h 160"/>
                      <a:gd name="T76" fmla="*/ 9 w 244"/>
                      <a:gd name="T77" fmla="*/ 9 h 160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244"/>
                      <a:gd name="T118" fmla="*/ 0 h 160"/>
                      <a:gd name="T119" fmla="*/ 244 w 244"/>
                      <a:gd name="T120" fmla="*/ 160 h 160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244" h="160">
                        <a:moveTo>
                          <a:pt x="9" y="9"/>
                        </a:moveTo>
                        <a:lnTo>
                          <a:pt x="4" y="12"/>
                        </a:lnTo>
                        <a:lnTo>
                          <a:pt x="4" y="13"/>
                        </a:lnTo>
                        <a:lnTo>
                          <a:pt x="3" y="13"/>
                        </a:lnTo>
                        <a:lnTo>
                          <a:pt x="1" y="14"/>
                        </a:lnTo>
                        <a:lnTo>
                          <a:pt x="0" y="14"/>
                        </a:lnTo>
                        <a:lnTo>
                          <a:pt x="0" y="21"/>
                        </a:lnTo>
                        <a:lnTo>
                          <a:pt x="3" y="21"/>
                        </a:lnTo>
                        <a:lnTo>
                          <a:pt x="4" y="21"/>
                        </a:lnTo>
                        <a:lnTo>
                          <a:pt x="4" y="22"/>
                        </a:lnTo>
                        <a:lnTo>
                          <a:pt x="4" y="27"/>
                        </a:lnTo>
                        <a:lnTo>
                          <a:pt x="1" y="28"/>
                        </a:lnTo>
                        <a:lnTo>
                          <a:pt x="0" y="28"/>
                        </a:lnTo>
                        <a:lnTo>
                          <a:pt x="3" y="132"/>
                        </a:lnTo>
                        <a:lnTo>
                          <a:pt x="12" y="132"/>
                        </a:lnTo>
                        <a:lnTo>
                          <a:pt x="12" y="146"/>
                        </a:lnTo>
                        <a:lnTo>
                          <a:pt x="15" y="152"/>
                        </a:lnTo>
                        <a:lnTo>
                          <a:pt x="15" y="157"/>
                        </a:lnTo>
                        <a:lnTo>
                          <a:pt x="23" y="157"/>
                        </a:lnTo>
                        <a:lnTo>
                          <a:pt x="24" y="157"/>
                        </a:lnTo>
                        <a:lnTo>
                          <a:pt x="26" y="158"/>
                        </a:lnTo>
                        <a:lnTo>
                          <a:pt x="28" y="159"/>
                        </a:lnTo>
                        <a:lnTo>
                          <a:pt x="31" y="160"/>
                        </a:lnTo>
                        <a:lnTo>
                          <a:pt x="35" y="160"/>
                        </a:lnTo>
                        <a:lnTo>
                          <a:pt x="37" y="160"/>
                        </a:lnTo>
                        <a:lnTo>
                          <a:pt x="41" y="160"/>
                        </a:lnTo>
                        <a:lnTo>
                          <a:pt x="43" y="159"/>
                        </a:lnTo>
                        <a:lnTo>
                          <a:pt x="46" y="158"/>
                        </a:lnTo>
                        <a:lnTo>
                          <a:pt x="49" y="158"/>
                        </a:lnTo>
                        <a:lnTo>
                          <a:pt x="50" y="157"/>
                        </a:lnTo>
                        <a:lnTo>
                          <a:pt x="66" y="157"/>
                        </a:lnTo>
                        <a:lnTo>
                          <a:pt x="67" y="157"/>
                        </a:lnTo>
                        <a:lnTo>
                          <a:pt x="69" y="158"/>
                        </a:lnTo>
                        <a:lnTo>
                          <a:pt x="71" y="159"/>
                        </a:lnTo>
                        <a:lnTo>
                          <a:pt x="74" y="160"/>
                        </a:lnTo>
                        <a:lnTo>
                          <a:pt x="77" y="160"/>
                        </a:lnTo>
                        <a:lnTo>
                          <a:pt x="81" y="160"/>
                        </a:lnTo>
                        <a:lnTo>
                          <a:pt x="84" y="160"/>
                        </a:lnTo>
                        <a:lnTo>
                          <a:pt x="87" y="159"/>
                        </a:lnTo>
                        <a:lnTo>
                          <a:pt x="90" y="158"/>
                        </a:lnTo>
                        <a:lnTo>
                          <a:pt x="91" y="158"/>
                        </a:lnTo>
                        <a:lnTo>
                          <a:pt x="93" y="157"/>
                        </a:lnTo>
                        <a:lnTo>
                          <a:pt x="122" y="157"/>
                        </a:lnTo>
                        <a:lnTo>
                          <a:pt x="123" y="157"/>
                        </a:lnTo>
                        <a:lnTo>
                          <a:pt x="125" y="158"/>
                        </a:lnTo>
                        <a:lnTo>
                          <a:pt x="128" y="159"/>
                        </a:lnTo>
                        <a:lnTo>
                          <a:pt x="131" y="160"/>
                        </a:lnTo>
                        <a:lnTo>
                          <a:pt x="134" y="160"/>
                        </a:lnTo>
                        <a:lnTo>
                          <a:pt x="137" y="160"/>
                        </a:lnTo>
                        <a:lnTo>
                          <a:pt x="140" y="160"/>
                        </a:lnTo>
                        <a:lnTo>
                          <a:pt x="144" y="159"/>
                        </a:lnTo>
                        <a:lnTo>
                          <a:pt x="146" y="158"/>
                        </a:lnTo>
                        <a:lnTo>
                          <a:pt x="148" y="158"/>
                        </a:lnTo>
                        <a:lnTo>
                          <a:pt x="149" y="157"/>
                        </a:lnTo>
                        <a:lnTo>
                          <a:pt x="166" y="157"/>
                        </a:lnTo>
                        <a:lnTo>
                          <a:pt x="167" y="157"/>
                        </a:lnTo>
                        <a:lnTo>
                          <a:pt x="169" y="158"/>
                        </a:lnTo>
                        <a:lnTo>
                          <a:pt x="171" y="159"/>
                        </a:lnTo>
                        <a:lnTo>
                          <a:pt x="175" y="160"/>
                        </a:lnTo>
                        <a:lnTo>
                          <a:pt x="178" y="160"/>
                        </a:lnTo>
                        <a:lnTo>
                          <a:pt x="181" y="160"/>
                        </a:lnTo>
                        <a:lnTo>
                          <a:pt x="184" y="160"/>
                        </a:lnTo>
                        <a:lnTo>
                          <a:pt x="187" y="159"/>
                        </a:lnTo>
                        <a:lnTo>
                          <a:pt x="191" y="158"/>
                        </a:lnTo>
                        <a:lnTo>
                          <a:pt x="192" y="158"/>
                        </a:lnTo>
                        <a:lnTo>
                          <a:pt x="193" y="157"/>
                        </a:lnTo>
                        <a:lnTo>
                          <a:pt x="213" y="157"/>
                        </a:lnTo>
                        <a:lnTo>
                          <a:pt x="213" y="141"/>
                        </a:lnTo>
                        <a:lnTo>
                          <a:pt x="211" y="141"/>
                        </a:lnTo>
                        <a:lnTo>
                          <a:pt x="209" y="138"/>
                        </a:lnTo>
                        <a:lnTo>
                          <a:pt x="236" y="138"/>
                        </a:lnTo>
                        <a:lnTo>
                          <a:pt x="244" y="131"/>
                        </a:lnTo>
                        <a:lnTo>
                          <a:pt x="244" y="0"/>
                        </a:lnTo>
                        <a:lnTo>
                          <a:pt x="240" y="3"/>
                        </a:lnTo>
                        <a:lnTo>
                          <a:pt x="233" y="9"/>
                        </a:lnTo>
                        <a:lnTo>
                          <a:pt x="9" y="9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13" name="Freeform 382"/>
                  <p:cNvSpPr>
                    <a:spLocks/>
                  </p:cNvSpPr>
                  <p:nvPr/>
                </p:nvSpPr>
                <p:spPr bwMode="auto">
                  <a:xfrm>
                    <a:off x="3808" y="2443"/>
                    <a:ext cx="110" cy="294"/>
                  </a:xfrm>
                  <a:custGeom>
                    <a:avLst/>
                    <a:gdLst>
                      <a:gd name="T0" fmla="*/ 35 w 110"/>
                      <a:gd name="T1" fmla="*/ 208 h 294"/>
                      <a:gd name="T2" fmla="*/ 35 w 110"/>
                      <a:gd name="T3" fmla="*/ 77 h 294"/>
                      <a:gd name="T4" fmla="*/ 31 w 110"/>
                      <a:gd name="T5" fmla="*/ 79 h 294"/>
                      <a:gd name="T6" fmla="*/ 24 w 110"/>
                      <a:gd name="T7" fmla="*/ 86 h 294"/>
                      <a:gd name="T8" fmla="*/ 24 w 110"/>
                      <a:gd name="T9" fmla="*/ 61 h 294"/>
                      <a:gd name="T10" fmla="*/ 30 w 110"/>
                      <a:gd name="T11" fmla="*/ 61 h 294"/>
                      <a:gd name="T12" fmla="*/ 38 w 110"/>
                      <a:gd name="T13" fmla="*/ 55 h 294"/>
                      <a:gd name="T14" fmla="*/ 98 w 110"/>
                      <a:gd name="T15" fmla="*/ 0 h 294"/>
                      <a:gd name="T16" fmla="*/ 98 w 110"/>
                      <a:gd name="T17" fmla="*/ 181 h 294"/>
                      <a:gd name="T18" fmla="*/ 107 w 110"/>
                      <a:gd name="T19" fmla="*/ 181 h 294"/>
                      <a:gd name="T20" fmla="*/ 98 w 110"/>
                      <a:gd name="T21" fmla="*/ 189 h 294"/>
                      <a:gd name="T22" fmla="*/ 98 w 110"/>
                      <a:gd name="T23" fmla="*/ 222 h 294"/>
                      <a:gd name="T24" fmla="*/ 110 w 110"/>
                      <a:gd name="T25" fmla="*/ 232 h 294"/>
                      <a:gd name="T26" fmla="*/ 41 w 110"/>
                      <a:gd name="T27" fmla="*/ 294 h 294"/>
                      <a:gd name="T28" fmla="*/ 29 w 110"/>
                      <a:gd name="T29" fmla="*/ 283 h 294"/>
                      <a:gd name="T30" fmla="*/ 29 w 110"/>
                      <a:gd name="T31" fmla="*/ 246 h 294"/>
                      <a:gd name="T32" fmla="*/ 32 w 110"/>
                      <a:gd name="T33" fmla="*/ 246 h 294"/>
                      <a:gd name="T34" fmla="*/ 38 w 110"/>
                      <a:gd name="T35" fmla="*/ 240 h 294"/>
                      <a:gd name="T36" fmla="*/ 27 w 110"/>
                      <a:gd name="T37" fmla="*/ 240 h 294"/>
                      <a:gd name="T38" fmla="*/ 35 w 110"/>
                      <a:gd name="T39" fmla="*/ 232 h 294"/>
                      <a:gd name="T40" fmla="*/ 35 w 110"/>
                      <a:gd name="T41" fmla="*/ 211 h 294"/>
                      <a:gd name="T42" fmla="*/ 27 w 110"/>
                      <a:gd name="T43" fmla="*/ 218 h 294"/>
                      <a:gd name="T44" fmla="*/ 1 w 110"/>
                      <a:gd name="T45" fmla="*/ 218 h 294"/>
                      <a:gd name="T46" fmla="*/ 0 w 110"/>
                      <a:gd name="T47" fmla="*/ 215 h 294"/>
                      <a:gd name="T48" fmla="*/ 27 w 110"/>
                      <a:gd name="T49" fmla="*/ 215 h 294"/>
                      <a:gd name="T50" fmla="*/ 35 w 110"/>
                      <a:gd name="T51" fmla="*/ 208 h 294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110"/>
                      <a:gd name="T79" fmla="*/ 0 h 294"/>
                      <a:gd name="T80" fmla="*/ 110 w 110"/>
                      <a:gd name="T81" fmla="*/ 294 h 294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110" h="294">
                        <a:moveTo>
                          <a:pt x="35" y="208"/>
                        </a:moveTo>
                        <a:lnTo>
                          <a:pt x="35" y="77"/>
                        </a:lnTo>
                        <a:lnTo>
                          <a:pt x="31" y="79"/>
                        </a:lnTo>
                        <a:lnTo>
                          <a:pt x="24" y="86"/>
                        </a:lnTo>
                        <a:lnTo>
                          <a:pt x="24" y="61"/>
                        </a:lnTo>
                        <a:lnTo>
                          <a:pt x="30" y="61"/>
                        </a:lnTo>
                        <a:lnTo>
                          <a:pt x="38" y="55"/>
                        </a:lnTo>
                        <a:lnTo>
                          <a:pt x="98" y="0"/>
                        </a:lnTo>
                        <a:lnTo>
                          <a:pt x="98" y="181"/>
                        </a:lnTo>
                        <a:lnTo>
                          <a:pt x="107" y="181"/>
                        </a:lnTo>
                        <a:lnTo>
                          <a:pt x="98" y="189"/>
                        </a:lnTo>
                        <a:lnTo>
                          <a:pt x="98" y="222"/>
                        </a:lnTo>
                        <a:lnTo>
                          <a:pt x="110" y="232"/>
                        </a:lnTo>
                        <a:lnTo>
                          <a:pt x="41" y="294"/>
                        </a:lnTo>
                        <a:lnTo>
                          <a:pt x="29" y="283"/>
                        </a:lnTo>
                        <a:lnTo>
                          <a:pt x="29" y="246"/>
                        </a:lnTo>
                        <a:lnTo>
                          <a:pt x="32" y="246"/>
                        </a:lnTo>
                        <a:lnTo>
                          <a:pt x="38" y="240"/>
                        </a:lnTo>
                        <a:lnTo>
                          <a:pt x="27" y="240"/>
                        </a:lnTo>
                        <a:lnTo>
                          <a:pt x="35" y="232"/>
                        </a:lnTo>
                        <a:lnTo>
                          <a:pt x="35" y="211"/>
                        </a:lnTo>
                        <a:lnTo>
                          <a:pt x="27" y="218"/>
                        </a:lnTo>
                        <a:lnTo>
                          <a:pt x="1" y="218"/>
                        </a:lnTo>
                        <a:lnTo>
                          <a:pt x="0" y="215"/>
                        </a:lnTo>
                        <a:lnTo>
                          <a:pt x="27" y="215"/>
                        </a:lnTo>
                        <a:lnTo>
                          <a:pt x="35" y="208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14" name="Freeform 383"/>
                  <p:cNvSpPr>
                    <a:spLocks/>
                  </p:cNvSpPr>
                  <p:nvPr/>
                </p:nvSpPr>
                <p:spPr bwMode="auto">
                  <a:xfrm>
                    <a:off x="3808" y="2443"/>
                    <a:ext cx="110" cy="294"/>
                  </a:xfrm>
                  <a:custGeom>
                    <a:avLst/>
                    <a:gdLst>
                      <a:gd name="T0" fmla="*/ 35 w 110"/>
                      <a:gd name="T1" fmla="*/ 208 h 294"/>
                      <a:gd name="T2" fmla="*/ 35 w 110"/>
                      <a:gd name="T3" fmla="*/ 77 h 294"/>
                      <a:gd name="T4" fmla="*/ 31 w 110"/>
                      <a:gd name="T5" fmla="*/ 79 h 294"/>
                      <a:gd name="T6" fmla="*/ 24 w 110"/>
                      <a:gd name="T7" fmla="*/ 86 h 294"/>
                      <a:gd name="T8" fmla="*/ 24 w 110"/>
                      <a:gd name="T9" fmla="*/ 61 h 294"/>
                      <a:gd name="T10" fmla="*/ 30 w 110"/>
                      <a:gd name="T11" fmla="*/ 61 h 294"/>
                      <a:gd name="T12" fmla="*/ 38 w 110"/>
                      <a:gd name="T13" fmla="*/ 55 h 294"/>
                      <a:gd name="T14" fmla="*/ 98 w 110"/>
                      <a:gd name="T15" fmla="*/ 0 h 294"/>
                      <a:gd name="T16" fmla="*/ 98 w 110"/>
                      <a:gd name="T17" fmla="*/ 181 h 294"/>
                      <a:gd name="T18" fmla="*/ 107 w 110"/>
                      <a:gd name="T19" fmla="*/ 181 h 294"/>
                      <a:gd name="T20" fmla="*/ 98 w 110"/>
                      <a:gd name="T21" fmla="*/ 189 h 294"/>
                      <a:gd name="T22" fmla="*/ 98 w 110"/>
                      <a:gd name="T23" fmla="*/ 222 h 294"/>
                      <a:gd name="T24" fmla="*/ 110 w 110"/>
                      <a:gd name="T25" fmla="*/ 232 h 294"/>
                      <a:gd name="T26" fmla="*/ 41 w 110"/>
                      <a:gd name="T27" fmla="*/ 294 h 294"/>
                      <a:gd name="T28" fmla="*/ 29 w 110"/>
                      <a:gd name="T29" fmla="*/ 283 h 294"/>
                      <a:gd name="T30" fmla="*/ 29 w 110"/>
                      <a:gd name="T31" fmla="*/ 246 h 294"/>
                      <a:gd name="T32" fmla="*/ 32 w 110"/>
                      <a:gd name="T33" fmla="*/ 246 h 294"/>
                      <a:gd name="T34" fmla="*/ 38 w 110"/>
                      <a:gd name="T35" fmla="*/ 240 h 294"/>
                      <a:gd name="T36" fmla="*/ 27 w 110"/>
                      <a:gd name="T37" fmla="*/ 240 h 294"/>
                      <a:gd name="T38" fmla="*/ 35 w 110"/>
                      <a:gd name="T39" fmla="*/ 232 h 294"/>
                      <a:gd name="T40" fmla="*/ 35 w 110"/>
                      <a:gd name="T41" fmla="*/ 211 h 294"/>
                      <a:gd name="T42" fmla="*/ 27 w 110"/>
                      <a:gd name="T43" fmla="*/ 218 h 294"/>
                      <a:gd name="T44" fmla="*/ 1 w 110"/>
                      <a:gd name="T45" fmla="*/ 218 h 294"/>
                      <a:gd name="T46" fmla="*/ 0 w 110"/>
                      <a:gd name="T47" fmla="*/ 215 h 294"/>
                      <a:gd name="T48" fmla="*/ 27 w 110"/>
                      <a:gd name="T49" fmla="*/ 215 h 294"/>
                      <a:gd name="T50" fmla="*/ 35 w 110"/>
                      <a:gd name="T51" fmla="*/ 208 h 294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110"/>
                      <a:gd name="T79" fmla="*/ 0 h 294"/>
                      <a:gd name="T80" fmla="*/ 110 w 110"/>
                      <a:gd name="T81" fmla="*/ 294 h 294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110" h="294">
                        <a:moveTo>
                          <a:pt x="35" y="208"/>
                        </a:moveTo>
                        <a:lnTo>
                          <a:pt x="35" y="77"/>
                        </a:lnTo>
                        <a:lnTo>
                          <a:pt x="31" y="79"/>
                        </a:lnTo>
                        <a:lnTo>
                          <a:pt x="24" y="86"/>
                        </a:lnTo>
                        <a:lnTo>
                          <a:pt x="24" y="61"/>
                        </a:lnTo>
                        <a:lnTo>
                          <a:pt x="30" y="61"/>
                        </a:lnTo>
                        <a:lnTo>
                          <a:pt x="38" y="55"/>
                        </a:lnTo>
                        <a:lnTo>
                          <a:pt x="98" y="0"/>
                        </a:lnTo>
                        <a:lnTo>
                          <a:pt x="98" y="181"/>
                        </a:lnTo>
                        <a:lnTo>
                          <a:pt x="107" y="181"/>
                        </a:lnTo>
                        <a:lnTo>
                          <a:pt x="98" y="189"/>
                        </a:lnTo>
                        <a:lnTo>
                          <a:pt x="98" y="222"/>
                        </a:lnTo>
                        <a:lnTo>
                          <a:pt x="110" y="232"/>
                        </a:lnTo>
                        <a:lnTo>
                          <a:pt x="41" y="294"/>
                        </a:lnTo>
                        <a:lnTo>
                          <a:pt x="29" y="283"/>
                        </a:lnTo>
                        <a:lnTo>
                          <a:pt x="29" y="246"/>
                        </a:lnTo>
                        <a:lnTo>
                          <a:pt x="32" y="246"/>
                        </a:lnTo>
                        <a:lnTo>
                          <a:pt x="38" y="240"/>
                        </a:lnTo>
                        <a:lnTo>
                          <a:pt x="27" y="240"/>
                        </a:lnTo>
                        <a:lnTo>
                          <a:pt x="35" y="232"/>
                        </a:lnTo>
                        <a:lnTo>
                          <a:pt x="35" y="211"/>
                        </a:lnTo>
                        <a:lnTo>
                          <a:pt x="27" y="218"/>
                        </a:lnTo>
                        <a:lnTo>
                          <a:pt x="1" y="218"/>
                        </a:lnTo>
                        <a:lnTo>
                          <a:pt x="0" y="215"/>
                        </a:lnTo>
                        <a:lnTo>
                          <a:pt x="27" y="215"/>
                        </a:lnTo>
                        <a:lnTo>
                          <a:pt x="35" y="208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15" name="Rectangle 384"/>
                  <p:cNvSpPr>
                    <a:spLocks noChangeArrowheads="1"/>
                  </p:cNvSpPr>
                  <p:nvPr/>
                </p:nvSpPr>
                <p:spPr bwMode="auto">
                  <a:xfrm>
                    <a:off x="3578" y="2529"/>
                    <a:ext cx="25" cy="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16" name="Rectangle 385"/>
                  <p:cNvSpPr>
                    <a:spLocks noChangeArrowheads="1"/>
                  </p:cNvSpPr>
                  <p:nvPr/>
                </p:nvSpPr>
                <p:spPr bwMode="auto">
                  <a:xfrm>
                    <a:off x="3578" y="2529"/>
                    <a:ext cx="25" cy="3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17" name="Freeform 386"/>
                  <p:cNvSpPr>
                    <a:spLocks/>
                  </p:cNvSpPr>
                  <p:nvPr/>
                </p:nvSpPr>
                <p:spPr bwMode="auto">
                  <a:xfrm>
                    <a:off x="3579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1 w 24"/>
                      <a:gd name="T5" fmla="*/ 2 h 3"/>
                      <a:gd name="T6" fmla="*/ 1 w 24"/>
                      <a:gd name="T7" fmla="*/ 2 h 3"/>
                      <a:gd name="T8" fmla="*/ 3 w 24"/>
                      <a:gd name="T9" fmla="*/ 2 h 3"/>
                      <a:gd name="T10" fmla="*/ 5 w 24"/>
                      <a:gd name="T11" fmla="*/ 3 h 3"/>
                      <a:gd name="T12" fmla="*/ 11 w 24"/>
                      <a:gd name="T13" fmla="*/ 3 h 3"/>
                      <a:gd name="T14" fmla="*/ 17 w 24"/>
                      <a:gd name="T15" fmla="*/ 3 h 3"/>
                      <a:gd name="T16" fmla="*/ 20 w 24"/>
                      <a:gd name="T17" fmla="*/ 2 h 3"/>
                      <a:gd name="T18" fmla="*/ 21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1 h 3"/>
                      <a:gd name="T24" fmla="*/ 24 w 24"/>
                      <a:gd name="T25" fmla="*/ 0 h 3"/>
                      <a:gd name="T26" fmla="*/ 0 w 24"/>
                      <a:gd name="T27" fmla="*/ 0 h 3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4"/>
                      <a:gd name="T43" fmla="*/ 0 h 3"/>
                      <a:gd name="T44" fmla="*/ 24 w 24"/>
                      <a:gd name="T45" fmla="*/ 3 h 3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1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18" name="Freeform 387"/>
                  <p:cNvSpPr>
                    <a:spLocks/>
                  </p:cNvSpPr>
                  <p:nvPr/>
                </p:nvSpPr>
                <p:spPr bwMode="auto">
                  <a:xfrm>
                    <a:off x="3579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1 w 24"/>
                      <a:gd name="T5" fmla="*/ 2 h 3"/>
                      <a:gd name="T6" fmla="*/ 1 w 24"/>
                      <a:gd name="T7" fmla="*/ 2 h 3"/>
                      <a:gd name="T8" fmla="*/ 3 w 24"/>
                      <a:gd name="T9" fmla="*/ 2 h 3"/>
                      <a:gd name="T10" fmla="*/ 5 w 24"/>
                      <a:gd name="T11" fmla="*/ 3 h 3"/>
                      <a:gd name="T12" fmla="*/ 11 w 24"/>
                      <a:gd name="T13" fmla="*/ 3 h 3"/>
                      <a:gd name="T14" fmla="*/ 17 w 24"/>
                      <a:gd name="T15" fmla="*/ 3 h 3"/>
                      <a:gd name="T16" fmla="*/ 20 w 24"/>
                      <a:gd name="T17" fmla="*/ 2 h 3"/>
                      <a:gd name="T18" fmla="*/ 21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1 h 3"/>
                      <a:gd name="T24" fmla="*/ 24 w 24"/>
                      <a:gd name="T25" fmla="*/ 0 h 3"/>
                      <a:gd name="T26" fmla="*/ 0 w 24"/>
                      <a:gd name="T27" fmla="*/ 0 h 3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4"/>
                      <a:gd name="T43" fmla="*/ 0 h 3"/>
                      <a:gd name="T44" fmla="*/ 24 w 24"/>
                      <a:gd name="T45" fmla="*/ 3 h 3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1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19" name="Freeform 388"/>
                  <p:cNvSpPr>
                    <a:spLocks/>
                  </p:cNvSpPr>
                  <p:nvPr/>
                </p:nvSpPr>
                <p:spPr bwMode="auto">
                  <a:xfrm>
                    <a:off x="3578" y="2535"/>
                    <a:ext cx="25" cy="10"/>
                  </a:xfrm>
                  <a:custGeom>
                    <a:avLst/>
                    <a:gdLst>
                      <a:gd name="T0" fmla="*/ 21 w 25"/>
                      <a:gd name="T1" fmla="*/ 0 h 10"/>
                      <a:gd name="T2" fmla="*/ 17 w 25"/>
                      <a:gd name="T3" fmla="*/ 0 h 10"/>
                      <a:gd name="T4" fmla="*/ 12 w 25"/>
                      <a:gd name="T5" fmla="*/ 1 h 10"/>
                      <a:gd name="T6" fmla="*/ 5 w 25"/>
                      <a:gd name="T7" fmla="*/ 0 h 10"/>
                      <a:gd name="T8" fmla="*/ 3 w 25"/>
                      <a:gd name="T9" fmla="*/ 0 h 10"/>
                      <a:gd name="T10" fmla="*/ 3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2 w 25"/>
                      <a:gd name="T23" fmla="*/ 9 h 10"/>
                      <a:gd name="T24" fmla="*/ 6 w 25"/>
                      <a:gd name="T25" fmla="*/ 10 h 10"/>
                      <a:gd name="T26" fmla="*/ 12 w 25"/>
                      <a:gd name="T27" fmla="*/ 10 h 10"/>
                      <a:gd name="T28" fmla="*/ 18 w 25"/>
                      <a:gd name="T29" fmla="*/ 10 h 10"/>
                      <a:gd name="T30" fmla="*/ 21 w 25"/>
                      <a:gd name="T31" fmla="*/ 9 h 10"/>
                      <a:gd name="T32" fmla="*/ 24 w 25"/>
                      <a:gd name="T33" fmla="*/ 9 h 10"/>
                      <a:gd name="T34" fmla="*/ 25 w 25"/>
                      <a:gd name="T35" fmla="*/ 7 h 10"/>
                      <a:gd name="T36" fmla="*/ 24 w 25"/>
                      <a:gd name="T37" fmla="*/ 6 h 10"/>
                      <a:gd name="T38" fmla="*/ 22 w 25"/>
                      <a:gd name="T39" fmla="*/ 6 h 10"/>
                      <a:gd name="T40" fmla="*/ 21 w 25"/>
                      <a:gd name="T41" fmla="*/ 6 h 10"/>
                      <a:gd name="T42" fmla="*/ 21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1" y="0"/>
                        </a:moveTo>
                        <a:lnTo>
                          <a:pt x="17" y="0"/>
                        </a:lnTo>
                        <a:lnTo>
                          <a:pt x="12" y="1"/>
                        </a:lnTo>
                        <a:lnTo>
                          <a:pt x="5" y="0"/>
                        </a:lnTo>
                        <a:lnTo>
                          <a:pt x="3" y="0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2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4" y="9"/>
                        </a:lnTo>
                        <a:lnTo>
                          <a:pt x="25" y="7"/>
                        </a:lnTo>
                        <a:lnTo>
                          <a:pt x="24" y="6"/>
                        </a:ln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20" name="Freeform 389"/>
                  <p:cNvSpPr>
                    <a:spLocks/>
                  </p:cNvSpPr>
                  <p:nvPr/>
                </p:nvSpPr>
                <p:spPr bwMode="auto">
                  <a:xfrm>
                    <a:off x="3578" y="2535"/>
                    <a:ext cx="25" cy="10"/>
                  </a:xfrm>
                  <a:custGeom>
                    <a:avLst/>
                    <a:gdLst>
                      <a:gd name="T0" fmla="*/ 21 w 25"/>
                      <a:gd name="T1" fmla="*/ 0 h 10"/>
                      <a:gd name="T2" fmla="*/ 17 w 25"/>
                      <a:gd name="T3" fmla="*/ 0 h 10"/>
                      <a:gd name="T4" fmla="*/ 12 w 25"/>
                      <a:gd name="T5" fmla="*/ 1 h 10"/>
                      <a:gd name="T6" fmla="*/ 5 w 25"/>
                      <a:gd name="T7" fmla="*/ 0 h 10"/>
                      <a:gd name="T8" fmla="*/ 3 w 25"/>
                      <a:gd name="T9" fmla="*/ 0 h 10"/>
                      <a:gd name="T10" fmla="*/ 3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2 w 25"/>
                      <a:gd name="T23" fmla="*/ 9 h 10"/>
                      <a:gd name="T24" fmla="*/ 6 w 25"/>
                      <a:gd name="T25" fmla="*/ 10 h 10"/>
                      <a:gd name="T26" fmla="*/ 12 w 25"/>
                      <a:gd name="T27" fmla="*/ 10 h 10"/>
                      <a:gd name="T28" fmla="*/ 18 w 25"/>
                      <a:gd name="T29" fmla="*/ 10 h 10"/>
                      <a:gd name="T30" fmla="*/ 21 w 25"/>
                      <a:gd name="T31" fmla="*/ 9 h 10"/>
                      <a:gd name="T32" fmla="*/ 24 w 25"/>
                      <a:gd name="T33" fmla="*/ 9 h 10"/>
                      <a:gd name="T34" fmla="*/ 25 w 25"/>
                      <a:gd name="T35" fmla="*/ 7 h 10"/>
                      <a:gd name="T36" fmla="*/ 24 w 25"/>
                      <a:gd name="T37" fmla="*/ 6 h 10"/>
                      <a:gd name="T38" fmla="*/ 22 w 25"/>
                      <a:gd name="T39" fmla="*/ 6 h 10"/>
                      <a:gd name="T40" fmla="*/ 21 w 25"/>
                      <a:gd name="T41" fmla="*/ 6 h 10"/>
                      <a:gd name="T42" fmla="*/ 21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1" y="0"/>
                        </a:moveTo>
                        <a:lnTo>
                          <a:pt x="17" y="0"/>
                        </a:lnTo>
                        <a:lnTo>
                          <a:pt x="12" y="1"/>
                        </a:lnTo>
                        <a:lnTo>
                          <a:pt x="5" y="0"/>
                        </a:lnTo>
                        <a:lnTo>
                          <a:pt x="3" y="0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2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4" y="9"/>
                        </a:lnTo>
                        <a:lnTo>
                          <a:pt x="25" y="7"/>
                        </a:lnTo>
                        <a:lnTo>
                          <a:pt x="24" y="6"/>
                        </a:ln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21" name="Freeform 390"/>
                  <p:cNvSpPr>
                    <a:spLocks/>
                  </p:cNvSpPr>
                  <p:nvPr/>
                </p:nvSpPr>
                <p:spPr bwMode="auto">
                  <a:xfrm>
                    <a:off x="3578" y="2542"/>
                    <a:ext cx="25" cy="7"/>
                  </a:xfrm>
                  <a:custGeom>
                    <a:avLst/>
                    <a:gdLst>
                      <a:gd name="T0" fmla="*/ 24 w 25"/>
                      <a:gd name="T1" fmla="*/ 5 h 7"/>
                      <a:gd name="T2" fmla="*/ 22 w 25"/>
                      <a:gd name="T3" fmla="*/ 6 h 7"/>
                      <a:gd name="T4" fmla="*/ 21 w 25"/>
                      <a:gd name="T5" fmla="*/ 6 h 7"/>
                      <a:gd name="T6" fmla="*/ 17 w 25"/>
                      <a:gd name="T7" fmla="*/ 7 h 7"/>
                      <a:gd name="T8" fmla="*/ 6 w 25"/>
                      <a:gd name="T9" fmla="*/ 7 h 7"/>
                      <a:gd name="T10" fmla="*/ 3 w 25"/>
                      <a:gd name="T11" fmla="*/ 6 h 7"/>
                      <a:gd name="T12" fmla="*/ 2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2 w 25"/>
                      <a:gd name="T25" fmla="*/ 2 h 7"/>
                      <a:gd name="T26" fmla="*/ 6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1 w 25"/>
                      <a:gd name="T33" fmla="*/ 2 h 7"/>
                      <a:gd name="T34" fmla="*/ 24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4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4" y="5"/>
                        </a:move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2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lnTo>
                          <a:pt x="24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22" name="Freeform 391"/>
                  <p:cNvSpPr>
                    <a:spLocks/>
                  </p:cNvSpPr>
                  <p:nvPr/>
                </p:nvSpPr>
                <p:spPr bwMode="auto">
                  <a:xfrm>
                    <a:off x="3578" y="2542"/>
                    <a:ext cx="25" cy="7"/>
                  </a:xfrm>
                  <a:custGeom>
                    <a:avLst/>
                    <a:gdLst>
                      <a:gd name="T0" fmla="*/ 24 w 25"/>
                      <a:gd name="T1" fmla="*/ 5 h 7"/>
                      <a:gd name="T2" fmla="*/ 22 w 25"/>
                      <a:gd name="T3" fmla="*/ 6 h 7"/>
                      <a:gd name="T4" fmla="*/ 21 w 25"/>
                      <a:gd name="T5" fmla="*/ 6 h 7"/>
                      <a:gd name="T6" fmla="*/ 17 w 25"/>
                      <a:gd name="T7" fmla="*/ 7 h 7"/>
                      <a:gd name="T8" fmla="*/ 6 w 25"/>
                      <a:gd name="T9" fmla="*/ 7 h 7"/>
                      <a:gd name="T10" fmla="*/ 3 w 25"/>
                      <a:gd name="T11" fmla="*/ 6 h 7"/>
                      <a:gd name="T12" fmla="*/ 2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2 w 25"/>
                      <a:gd name="T25" fmla="*/ 2 h 7"/>
                      <a:gd name="T26" fmla="*/ 6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1 w 25"/>
                      <a:gd name="T33" fmla="*/ 2 h 7"/>
                      <a:gd name="T34" fmla="*/ 24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4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4" y="5"/>
                        </a:move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2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lnTo>
                          <a:pt x="24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23" name="Freeform 392"/>
                  <p:cNvSpPr>
                    <a:spLocks/>
                  </p:cNvSpPr>
                  <p:nvPr/>
                </p:nvSpPr>
                <p:spPr bwMode="auto">
                  <a:xfrm>
                    <a:off x="3580" y="2548"/>
                    <a:ext cx="22" cy="107"/>
                  </a:xfrm>
                  <a:custGeom>
                    <a:avLst/>
                    <a:gdLst>
                      <a:gd name="T0" fmla="*/ 22 w 22"/>
                      <a:gd name="T1" fmla="*/ 104 h 107"/>
                      <a:gd name="T2" fmla="*/ 19 w 22"/>
                      <a:gd name="T3" fmla="*/ 0 h 107"/>
                      <a:gd name="T4" fmla="*/ 15 w 22"/>
                      <a:gd name="T5" fmla="*/ 1 h 107"/>
                      <a:gd name="T6" fmla="*/ 4 w 22"/>
                      <a:gd name="T7" fmla="*/ 1 h 107"/>
                      <a:gd name="T8" fmla="*/ 2 w 22"/>
                      <a:gd name="T9" fmla="*/ 0 h 107"/>
                      <a:gd name="T10" fmla="*/ 0 w 22"/>
                      <a:gd name="T11" fmla="*/ 102 h 107"/>
                      <a:gd name="T12" fmla="*/ 0 w 22"/>
                      <a:gd name="T13" fmla="*/ 106 h 107"/>
                      <a:gd name="T14" fmla="*/ 4 w 22"/>
                      <a:gd name="T15" fmla="*/ 107 h 107"/>
                      <a:gd name="T16" fmla="*/ 11 w 22"/>
                      <a:gd name="T17" fmla="*/ 107 h 107"/>
                      <a:gd name="T18" fmla="*/ 16 w 22"/>
                      <a:gd name="T19" fmla="*/ 107 h 107"/>
                      <a:gd name="T20" fmla="*/ 22 w 22"/>
                      <a:gd name="T21" fmla="*/ 106 h 107"/>
                      <a:gd name="T22" fmla="*/ 22 w 22"/>
                      <a:gd name="T23" fmla="*/ 104 h 107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2"/>
                      <a:gd name="T37" fmla="*/ 0 h 107"/>
                      <a:gd name="T38" fmla="*/ 22 w 22"/>
                      <a:gd name="T39" fmla="*/ 107 h 107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2" h="107">
                        <a:moveTo>
                          <a:pt x="22" y="104"/>
                        </a:moveTo>
                        <a:lnTo>
                          <a:pt x="19" y="0"/>
                        </a:lnTo>
                        <a:lnTo>
                          <a:pt x="15" y="1"/>
                        </a:lnTo>
                        <a:lnTo>
                          <a:pt x="4" y="1"/>
                        </a:lnTo>
                        <a:lnTo>
                          <a:pt x="2" y="0"/>
                        </a:lnTo>
                        <a:lnTo>
                          <a:pt x="0" y="102"/>
                        </a:lnTo>
                        <a:lnTo>
                          <a:pt x="0" y="106"/>
                        </a:lnTo>
                        <a:lnTo>
                          <a:pt x="4" y="107"/>
                        </a:lnTo>
                        <a:lnTo>
                          <a:pt x="11" y="107"/>
                        </a:lnTo>
                        <a:lnTo>
                          <a:pt x="16" y="107"/>
                        </a:lnTo>
                        <a:lnTo>
                          <a:pt x="22" y="106"/>
                        </a:lnTo>
                        <a:lnTo>
                          <a:pt x="22" y="10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24" name="Freeform 393"/>
                  <p:cNvSpPr>
                    <a:spLocks/>
                  </p:cNvSpPr>
                  <p:nvPr/>
                </p:nvSpPr>
                <p:spPr bwMode="auto">
                  <a:xfrm>
                    <a:off x="3580" y="2548"/>
                    <a:ext cx="22" cy="107"/>
                  </a:xfrm>
                  <a:custGeom>
                    <a:avLst/>
                    <a:gdLst>
                      <a:gd name="T0" fmla="*/ 22 w 22"/>
                      <a:gd name="T1" fmla="*/ 104 h 107"/>
                      <a:gd name="T2" fmla="*/ 19 w 22"/>
                      <a:gd name="T3" fmla="*/ 0 h 107"/>
                      <a:gd name="T4" fmla="*/ 15 w 22"/>
                      <a:gd name="T5" fmla="*/ 1 h 107"/>
                      <a:gd name="T6" fmla="*/ 4 w 22"/>
                      <a:gd name="T7" fmla="*/ 1 h 107"/>
                      <a:gd name="T8" fmla="*/ 2 w 22"/>
                      <a:gd name="T9" fmla="*/ 0 h 107"/>
                      <a:gd name="T10" fmla="*/ 0 w 22"/>
                      <a:gd name="T11" fmla="*/ 102 h 107"/>
                      <a:gd name="T12" fmla="*/ 0 w 22"/>
                      <a:gd name="T13" fmla="*/ 106 h 107"/>
                      <a:gd name="T14" fmla="*/ 4 w 22"/>
                      <a:gd name="T15" fmla="*/ 107 h 107"/>
                      <a:gd name="T16" fmla="*/ 11 w 22"/>
                      <a:gd name="T17" fmla="*/ 107 h 107"/>
                      <a:gd name="T18" fmla="*/ 16 w 22"/>
                      <a:gd name="T19" fmla="*/ 107 h 107"/>
                      <a:gd name="T20" fmla="*/ 22 w 22"/>
                      <a:gd name="T21" fmla="*/ 106 h 107"/>
                      <a:gd name="T22" fmla="*/ 22 w 22"/>
                      <a:gd name="T23" fmla="*/ 104 h 107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2"/>
                      <a:gd name="T37" fmla="*/ 0 h 107"/>
                      <a:gd name="T38" fmla="*/ 22 w 22"/>
                      <a:gd name="T39" fmla="*/ 107 h 107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2" h="107">
                        <a:moveTo>
                          <a:pt x="22" y="104"/>
                        </a:moveTo>
                        <a:lnTo>
                          <a:pt x="19" y="0"/>
                        </a:lnTo>
                        <a:lnTo>
                          <a:pt x="15" y="1"/>
                        </a:lnTo>
                        <a:lnTo>
                          <a:pt x="4" y="1"/>
                        </a:lnTo>
                        <a:lnTo>
                          <a:pt x="2" y="0"/>
                        </a:lnTo>
                        <a:lnTo>
                          <a:pt x="0" y="102"/>
                        </a:lnTo>
                        <a:lnTo>
                          <a:pt x="0" y="106"/>
                        </a:lnTo>
                        <a:lnTo>
                          <a:pt x="4" y="107"/>
                        </a:lnTo>
                        <a:lnTo>
                          <a:pt x="11" y="107"/>
                        </a:lnTo>
                        <a:lnTo>
                          <a:pt x="16" y="107"/>
                        </a:lnTo>
                        <a:lnTo>
                          <a:pt x="22" y="106"/>
                        </a:lnTo>
                        <a:lnTo>
                          <a:pt x="22" y="10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25" name="Freeform 394"/>
                  <p:cNvSpPr>
                    <a:spLocks/>
                  </p:cNvSpPr>
                  <p:nvPr/>
                </p:nvSpPr>
                <p:spPr bwMode="auto">
                  <a:xfrm>
                    <a:off x="3648" y="2529"/>
                    <a:ext cx="5" cy="3"/>
                  </a:xfrm>
                  <a:custGeom>
                    <a:avLst/>
                    <a:gdLst>
                      <a:gd name="T0" fmla="*/ 0 w 5"/>
                      <a:gd name="T1" fmla="*/ 0 h 3"/>
                      <a:gd name="T2" fmla="*/ 0 w 5"/>
                      <a:gd name="T3" fmla="*/ 3 h 3"/>
                      <a:gd name="T4" fmla="*/ 5 w 5"/>
                      <a:gd name="T5" fmla="*/ 0 h 3"/>
                      <a:gd name="T6" fmla="*/ 0 w 5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"/>
                      <a:gd name="T13" fmla="*/ 0 h 3"/>
                      <a:gd name="T14" fmla="*/ 5 w 5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26" name="Freeform 395"/>
                  <p:cNvSpPr>
                    <a:spLocks/>
                  </p:cNvSpPr>
                  <p:nvPr/>
                </p:nvSpPr>
                <p:spPr bwMode="auto">
                  <a:xfrm>
                    <a:off x="3648" y="2529"/>
                    <a:ext cx="5" cy="3"/>
                  </a:xfrm>
                  <a:custGeom>
                    <a:avLst/>
                    <a:gdLst>
                      <a:gd name="T0" fmla="*/ 0 w 5"/>
                      <a:gd name="T1" fmla="*/ 0 h 3"/>
                      <a:gd name="T2" fmla="*/ 0 w 5"/>
                      <a:gd name="T3" fmla="*/ 3 h 3"/>
                      <a:gd name="T4" fmla="*/ 5 w 5"/>
                      <a:gd name="T5" fmla="*/ 0 h 3"/>
                      <a:gd name="T6" fmla="*/ 0 w 5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"/>
                      <a:gd name="T13" fmla="*/ 0 h 3"/>
                      <a:gd name="T14" fmla="*/ 5 w 5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5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27" name="Freeform 396"/>
                  <p:cNvSpPr>
                    <a:spLocks/>
                  </p:cNvSpPr>
                  <p:nvPr/>
                </p:nvSpPr>
                <p:spPr bwMode="auto">
                  <a:xfrm>
                    <a:off x="3623" y="2529"/>
                    <a:ext cx="25" cy="3"/>
                  </a:xfrm>
                  <a:custGeom>
                    <a:avLst/>
                    <a:gdLst>
                      <a:gd name="T0" fmla="*/ 0 w 25"/>
                      <a:gd name="T1" fmla="*/ 0 h 3"/>
                      <a:gd name="T2" fmla="*/ 0 w 25"/>
                      <a:gd name="T3" fmla="*/ 3 h 3"/>
                      <a:gd name="T4" fmla="*/ 25 w 25"/>
                      <a:gd name="T5" fmla="*/ 3 h 3"/>
                      <a:gd name="T6" fmla="*/ 25 w 25"/>
                      <a:gd name="T7" fmla="*/ 0 h 3"/>
                      <a:gd name="T8" fmla="*/ 0 w 25"/>
                      <a:gd name="T9" fmla="*/ 0 h 3"/>
                      <a:gd name="T10" fmla="*/ 0 w 25"/>
                      <a:gd name="T11" fmla="*/ 0 h 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"/>
                      <a:gd name="T19" fmla="*/ 0 h 3"/>
                      <a:gd name="T20" fmla="*/ 25 w 25"/>
                      <a:gd name="T21" fmla="*/ 3 h 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25" y="3"/>
                        </a:lnTo>
                        <a:lnTo>
                          <a:pt x="2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28" name="Rectangle 397"/>
                  <p:cNvSpPr>
                    <a:spLocks noChangeArrowheads="1"/>
                  </p:cNvSpPr>
                  <p:nvPr/>
                </p:nvSpPr>
                <p:spPr bwMode="auto">
                  <a:xfrm>
                    <a:off x="3623" y="2529"/>
                    <a:ext cx="25" cy="3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29" name="Freeform 398"/>
                  <p:cNvSpPr>
                    <a:spLocks/>
                  </p:cNvSpPr>
                  <p:nvPr/>
                </p:nvSpPr>
                <p:spPr bwMode="auto">
                  <a:xfrm>
                    <a:off x="3624" y="2532"/>
                    <a:ext cx="22" cy="3"/>
                  </a:xfrm>
                  <a:custGeom>
                    <a:avLst/>
                    <a:gdLst>
                      <a:gd name="T0" fmla="*/ 0 w 22"/>
                      <a:gd name="T1" fmla="*/ 0 h 3"/>
                      <a:gd name="T2" fmla="*/ 0 w 22"/>
                      <a:gd name="T3" fmla="*/ 2 h 3"/>
                      <a:gd name="T4" fmla="*/ 1 w 22"/>
                      <a:gd name="T5" fmla="*/ 2 h 3"/>
                      <a:gd name="T6" fmla="*/ 2 w 22"/>
                      <a:gd name="T7" fmla="*/ 2 h 3"/>
                      <a:gd name="T8" fmla="*/ 5 w 22"/>
                      <a:gd name="T9" fmla="*/ 3 h 3"/>
                      <a:gd name="T10" fmla="*/ 11 w 22"/>
                      <a:gd name="T11" fmla="*/ 3 h 3"/>
                      <a:gd name="T12" fmla="*/ 17 w 22"/>
                      <a:gd name="T13" fmla="*/ 3 h 3"/>
                      <a:gd name="T14" fmla="*/ 19 w 22"/>
                      <a:gd name="T15" fmla="*/ 2 h 3"/>
                      <a:gd name="T16" fmla="*/ 21 w 22"/>
                      <a:gd name="T17" fmla="*/ 2 h 3"/>
                      <a:gd name="T18" fmla="*/ 22 w 22"/>
                      <a:gd name="T19" fmla="*/ 1 h 3"/>
                      <a:gd name="T20" fmla="*/ 22 w 22"/>
                      <a:gd name="T21" fmla="*/ 0 h 3"/>
                      <a:gd name="T22" fmla="*/ 0 w 22"/>
                      <a:gd name="T23" fmla="*/ 0 h 3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2"/>
                      <a:gd name="T37" fmla="*/ 0 h 3"/>
                      <a:gd name="T38" fmla="*/ 22 w 22"/>
                      <a:gd name="T39" fmla="*/ 3 h 3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2" h="3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2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19" y="2"/>
                        </a:lnTo>
                        <a:lnTo>
                          <a:pt x="21" y="2"/>
                        </a:lnTo>
                        <a:lnTo>
                          <a:pt x="22" y="1"/>
                        </a:lnTo>
                        <a:lnTo>
                          <a:pt x="2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30" name="Freeform 399"/>
                  <p:cNvSpPr>
                    <a:spLocks/>
                  </p:cNvSpPr>
                  <p:nvPr/>
                </p:nvSpPr>
                <p:spPr bwMode="auto">
                  <a:xfrm>
                    <a:off x="3624" y="2532"/>
                    <a:ext cx="22" cy="3"/>
                  </a:xfrm>
                  <a:custGeom>
                    <a:avLst/>
                    <a:gdLst>
                      <a:gd name="T0" fmla="*/ 0 w 22"/>
                      <a:gd name="T1" fmla="*/ 0 h 3"/>
                      <a:gd name="T2" fmla="*/ 0 w 22"/>
                      <a:gd name="T3" fmla="*/ 2 h 3"/>
                      <a:gd name="T4" fmla="*/ 1 w 22"/>
                      <a:gd name="T5" fmla="*/ 2 h 3"/>
                      <a:gd name="T6" fmla="*/ 2 w 22"/>
                      <a:gd name="T7" fmla="*/ 2 h 3"/>
                      <a:gd name="T8" fmla="*/ 5 w 22"/>
                      <a:gd name="T9" fmla="*/ 3 h 3"/>
                      <a:gd name="T10" fmla="*/ 11 w 22"/>
                      <a:gd name="T11" fmla="*/ 3 h 3"/>
                      <a:gd name="T12" fmla="*/ 17 w 22"/>
                      <a:gd name="T13" fmla="*/ 3 h 3"/>
                      <a:gd name="T14" fmla="*/ 19 w 22"/>
                      <a:gd name="T15" fmla="*/ 2 h 3"/>
                      <a:gd name="T16" fmla="*/ 21 w 22"/>
                      <a:gd name="T17" fmla="*/ 2 h 3"/>
                      <a:gd name="T18" fmla="*/ 22 w 22"/>
                      <a:gd name="T19" fmla="*/ 1 h 3"/>
                      <a:gd name="T20" fmla="*/ 22 w 22"/>
                      <a:gd name="T21" fmla="*/ 0 h 3"/>
                      <a:gd name="T22" fmla="*/ 0 w 22"/>
                      <a:gd name="T23" fmla="*/ 0 h 3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2"/>
                      <a:gd name="T37" fmla="*/ 0 h 3"/>
                      <a:gd name="T38" fmla="*/ 22 w 22"/>
                      <a:gd name="T39" fmla="*/ 3 h 3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2" h="3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2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19" y="2"/>
                        </a:lnTo>
                        <a:lnTo>
                          <a:pt x="21" y="2"/>
                        </a:lnTo>
                        <a:lnTo>
                          <a:pt x="22" y="1"/>
                        </a:lnTo>
                        <a:lnTo>
                          <a:pt x="22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31" name="Freeform 400"/>
                  <p:cNvSpPr>
                    <a:spLocks/>
                  </p:cNvSpPr>
                  <p:nvPr/>
                </p:nvSpPr>
                <p:spPr bwMode="auto">
                  <a:xfrm>
                    <a:off x="3623" y="2535"/>
                    <a:ext cx="25" cy="10"/>
                  </a:xfrm>
                  <a:custGeom>
                    <a:avLst/>
                    <a:gdLst>
                      <a:gd name="T0" fmla="*/ 20 w 25"/>
                      <a:gd name="T1" fmla="*/ 0 h 10"/>
                      <a:gd name="T2" fmla="*/ 18 w 25"/>
                      <a:gd name="T3" fmla="*/ 0 h 10"/>
                      <a:gd name="T4" fmla="*/ 12 w 25"/>
                      <a:gd name="T5" fmla="*/ 1 h 10"/>
                      <a:gd name="T6" fmla="*/ 6 w 25"/>
                      <a:gd name="T7" fmla="*/ 0 h 10"/>
                      <a:gd name="T8" fmla="*/ 4 w 25"/>
                      <a:gd name="T9" fmla="*/ 0 h 10"/>
                      <a:gd name="T10" fmla="*/ 4 w 25"/>
                      <a:gd name="T11" fmla="*/ 6 h 10"/>
                      <a:gd name="T12" fmla="*/ 2 w 25"/>
                      <a:gd name="T13" fmla="*/ 6 h 10"/>
                      <a:gd name="T14" fmla="*/ 1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7 h 10"/>
                      <a:gd name="T20" fmla="*/ 0 w 25"/>
                      <a:gd name="T21" fmla="*/ 9 h 10"/>
                      <a:gd name="T22" fmla="*/ 1 w 25"/>
                      <a:gd name="T23" fmla="*/ 9 h 10"/>
                      <a:gd name="T24" fmla="*/ 3 w 25"/>
                      <a:gd name="T25" fmla="*/ 9 h 10"/>
                      <a:gd name="T26" fmla="*/ 6 w 25"/>
                      <a:gd name="T27" fmla="*/ 10 h 10"/>
                      <a:gd name="T28" fmla="*/ 12 w 25"/>
                      <a:gd name="T29" fmla="*/ 10 h 10"/>
                      <a:gd name="T30" fmla="*/ 18 w 25"/>
                      <a:gd name="T31" fmla="*/ 10 h 10"/>
                      <a:gd name="T32" fmla="*/ 21 w 25"/>
                      <a:gd name="T33" fmla="*/ 9 h 10"/>
                      <a:gd name="T34" fmla="*/ 23 w 25"/>
                      <a:gd name="T35" fmla="*/ 9 h 10"/>
                      <a:gd name="T36" fmla="*/ 25 w 25"/>
                      <a:gd name="T37" fmla="*/ 7 h 10"/>
                      <a:gd name="T38" fmla="*/ 23 w 25"/>
                      <a:gd name="T39" fmla="*/ 6 h 10"/>
                      <a:gd name="T40" fmla="*/ 22 w 25"/>
                      <a:gd name="T41" fmla="*/ 6 h 10"/>
                      <a:gd name="T42" fmla="*/ 20 w 25"/>
                      <a:gd name="T43" fmla="*/ 6 h 10"/>
                      <a:gd name="T44" fmla="*/ 20 w 25"/>
                      <a:gd name="T45" fmla="*/ 0 h 10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5"/>
                      <a:gd name="T70" fmla="*/ 0 h 10"/>
                      <a:gd name="T71" fmla="*/ 25 w 25"/>
                      <a:gd name="T72" fmla="*/ 10 h 10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5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1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3" y="9"/>
                        </a:lnTo>
                        <a:lnTo>
                          <a:pt x="25" y="7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32" name="Freeform 401"/>
                  <p:cNvSpPr>
                    <a:spLocks/>
                  </p:cNvSpPr>
                  <p:nvPr/>
                </p:nvSpPr>
                <p:spPr bwMode="auto">
                  <a:xfrm>
                    <a:off x="3623" y="2535"/>
                    <a:ext cx="25" cy="10"/>
                  </a:xfrm>
                  <a:custGeom>
                    <a:avLst/>
                    <a:gdLst>
                      <a:gd name="T0" fmla="*/ 20 w 25"/>
                      <a:gd name="T1" fmla="*/ 0 h 10"/>
                      <a:gd name="T2" fmla="*/ 18 w 25"/>
                      <a:gd name="T3" fmla="*/ 0 h 10"/>
                      <a:gd name="T4" fmla="*/ 12 w 25"/>
                      <a:gd name="T5" fmla="*/ 1 h 10"/>
                      <a:gd name="T6" fmla="*/ 6 w 25"/>
                      <a:gd name="T7" fmla="*/ 0 h 10"/>
                      <a:gd name="T8" fmla="*/ 4 w 25"/>
                      <a:gd name="T9" fmla="*/ 0 h 10"/>
                      <a:gd name="T10" fmla="*/ 4 w 25"/>
                      <a:gd name="T11" fmla="*/ 6 h 10"/>
                      <a:gd name="T12" fmla="*/ 2 w 25"/>
                      <a:gd name="T13" fmla="*/ 6 h 10"/>
                      <a:gd name="T14" fmla="*/ 1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7 h 10"/>
                      <a:gd name="T20" fmla="*/ 0 w 25"/>
                      <a:gd name="T21" fmla="*/ 9 h 10"/>
                      <a:gd name="T22" fmla="*/ 1 w 25"/>
                      <a:gd name="T23" fmla="*/ 9 h 10"/>
                      <a:gd name="T24" fmla="*/ 3 w 25"/>
                      <a:gd name="T25" fmla="*/ 9 h 10"/>
                      <a:gd name="T26" fmla="*/ 6 w 25"/>
                      <a:gd name="T27" fmla="*/ 10 h 10"/>
                      <a:gd name="T28" fmla="*/ 12 w 25"/>
                      <a:gd name="T29" fmla="*/ 10 h 10"/>
                      <a:gd name="T30" fmla="*/ 18 w 25"/>
                      <a:gd name="T31" fmla="*/ 10 h 10"/>
                      <a:gd name="T32" fmla="*/ 21 w 25"/>
                      <a:gd name="T33" fmla="*/ 9 h 10"/>
                      <a:gd name="T34" fmla="*/ 23 w 25"/>
                      <a:gd name="T35" fmla="*/ 9 h 10"/>
                      <a:gd name="T36" fmla="*/ 25 w 25"/>
                      <a:gd name="T37" fmla="*/ 7 h 10"/>
                      <a:gd name="T38" fmla="*/ 23 w 25"/>
                      <a:gd name="T39" fmla="*/ 6 h 10"/>
                      <a:gd name="T40" fmla="*/ 22 w 25"/>
                      <a:gd name="T41" fmla="*/ 6 h 10"/>
                      <a:gd name="T42" fmla="*/ 20 w 25"/>
                      <a:gd name="T43" fmla="*/ 6 h 10"/>
                      <a:gd name="T44" fmla="*/ 20 w 25"/>
                      <a:gd name="T45" fmla="*/ 0 h 10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5"/>
                      <a:gd name="T70" fmla="*/ 0 h 10"/>
                      <a:gd name="T71" fmla="*/ 25 w 25"/>
                      <a:gd name="T72" fmla="*/ 10 h 10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5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1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3" y="9"/>
                        </a:lnTo>
                        <a:lnTo>
                          <a:pt x="25" y="7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33" name="Freeform 402"/>
                  <p:cNvSpPr>
                    <a:spLocks/>
                  </p:cNvSpPr>
                  <p:nvPr/>
                </p:nvSpPr>
                <p:spPr bwMode="auto">
                  <a:xfrm>
                    <a:off x="3623" y="2542"/>
                    <a:ext cx="25" cy="7"/>
                  </a:xfrm>
                  <a:custGeom>
                    <a:avLst/>
                    <a:gdLst>
                      <a:gd name="T0" fmla="*/ 23 w 25"/>
                      <a:gd name="T1" fmla="*/ 5 h 7"/>
                      <a:gd name="T2" fmla="*/ 21 w 25"/>
                      <a:gd name="T3" fmla="*/ 6 h 7"/>
                      <a:gd name="T4" fmla="*/ 20 w 25"/>
                      <a:gd name="T5" fmla="*/ 6 h 7"/>
                      <a:gd name="T6" fmla="*/ 17 w 25"/>
                      <a:gd name="T7" fmla="*/ 7 h 7"/>
                      <a:gd name="T8" fmla="*/ 6 w 25"/>
                      <a:gd name="T9" fmla="*/ 7 h 7"/>
                      <a:gd name="T10" fmla="*/ 4 w 25"/>
                      <a:gd name="T11" fmla="*/ 6 h 7"/>
                      <a:gd name="T12" fmla="*/ 3 w 25"/>
                      <a:gd name="T13" fmla="*/ 6 h 7"/>
                      <a:gd name="T14" fmla="*/ 1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1 w 25"/>
                      <a:gd name="T23" fmla="*/ 2 h 7"/>
                      <a:gd name="T24" fmla="*/ 3 w 25"/>
                      <a:gd name="T25" fmla="*/ 2 h 7"/>
                      <a:gd name="T26" fmla="*/ 6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1 w 25"/>
                      <a:gd name="T33" fmla="*/ 2 h 7"/>
                      <a:gd name="T34" fmla="*/ 23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3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3" y="5"/>
                        </a:moveTo>
                        <a:lnTo>
                          <a:pt x="21" y="6"/>
                        </a:lnTo>
                        <a:lnTo>
                          <a:pt x="20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lnTo>
                          <a:pt x="23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34" name="Freeform 403"/>
                  <p:cNvSpPr>
                    <a:spLocks/>
                  </p:cNvSpPr>
                  <p:nvPr/>
                </p:nvSpPr>
                <p:spPr bwMode="auto">
                  <a:xfrm>
                    <a:off x="3623" y="2542"/>
                    <a:ext cx="25" cy="7"/>
                  </a:xfrm>
                  <a:custGeom>
                    <a:avLst/>
                    <a:gdLst>
                      <a:gd name="T0" fmla="*/ 23 w 25"/>
                      <a:gd name="T1" fmla="*/ 5 h 7"/>
                      <a:gd name="T2" fmla="*/ 21 w 25"/>
                      <a:gd name="T3" fmla="*/ 6 h 7"/>
                      <a:gd name="T4" fmla="*/ 20 w 25"/>
                      <a:gd name="T5" fmla="*/ 6 h 7"/>
                      <a:gd name="T6" fmla="*/ 17 w 25"/>
                      <a:gd name="T7" fmla="*/ 7 h 7"/>
                      <a:gd name="T8" fmla="*/ 6 w 25"/>
                      <a:gd name="T9" fmla="*/ 7 h 7"/>
                      <a:gd name="T10" fmla="*/ 4 w 25"/>
                      <a:gd name="T11" fmla="*/ 6 h 7"/>
                      <a:gd name="T12" fmla="*/ 3 w 25"/>
                      <a:gd name="T13" fmla="*/ 6 h 7"/>
                      <a:gd name="T14" fmla="*/ 1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1 w 25"/>
                      <a:gd name="T23" fmla="*/ 2 h 7"/>
                      <a:gd name="T24" fmla="*/ 3 w 25"/>
                      <a:gd name="T25" fmla="*/ 2 h 7"/>
                      <a:gd name="T26" fmla="*/ 6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1 w 25"/>
                      <a:gd name="T33" fmla="*/ 2 h 7"/>
                      <a:gd name="T34" fmla="*/ 23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3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3" y="5"/>
                        </a:moveTo>
                        <a:lnTo>
                          <a:pt x="21" y="6"/>
                        </a:lnTo>
                        <a:lnTo>
                          <a:pt x="20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lnTo>
                          <a:pt x="23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35" name="Freeform 404"/>
                  <p:cNvSpPr>
                    <a:spLocks/>
                  </p:cNvSpPr>
                  <p:nvPr/>
                </p:nvSpPr>
                <p:spPr bwMode="auto">
                  <a:xfrm>
                    <a:off x="3622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3 w 27"/>
                      <a:gd name="T5" fmla="*/ 126 h 128"/>
                      <a:gd name="T6" fmla="*/ 20 w 27"/>
                      <a:gd name="T7" fmla="*/ 127 h 128"/>
                      <a:gd name="T8" fmla="*/ 18 w 27"/>
                      <a:gd name="T9" fmla="*/ 127 h 128"/>
                      <a:gd name="T10" fmla="*/ 14 w 27"/>
                      <a:gd name="T11" fmla="*/ 128 h 128"/>
                      <a:gd name="T12" fmla="*/ 12 w 27"/>
                      <a:gd name="T13" fmla="*/ 128 h 128"/>
                      <a:gd name="T14" fmla="*/ 8 w 27"/>
                      <a:gd name="T15" fmla="*/ 127 h 128"/>
                      <a:gd name="T16" fmla="*/ 5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5 w 27"/>
                      <a:gd name="T31" fmla="*/ 0 h 128"/>
                      <a:gd name="T32" fmla="*/ 7 w 27"/>
                      <a:gd name="T33" fmla="*/ 1 h 128"/>
                      <a:gd name="T34" fmla="*/ 18 w 27"/>
                      <a:gd name="T35" fmla="*/ 1 h 128"/>
                      <a:gd name="T36" fmla="*/ 21 w 27"/>
                      <a:gd name="T37" fmla="*/ 0 h 128"/>
                      <a:gd name="T38" fmla="*/ 23 w 27"/>
                      <a:gd name="T39" fmla="*/ 124 h 128"/>
                      <a:gd name="T40" fmla="*/ 24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27 w 27"/>
                      <a:gd name="T47" fmla="*/ 125 h 128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w 27"/>
                      <a:gd name="T73" fmla="*/ 0 h 128"/>
                      <a:gd name="T74" fmla="*/ 27 w 27"/>
                      <a:gd name="T75" fmla="*/ 128 h 128"/>
                    </a:gdLst>
                    <a:ahLst/>
                    <a:cxnLst>
                      <a:cxn ang="T48">
                        <a:pos x="T0" y="T1"/>
                      </a:cxn>
                      <a:cxn ang="T49">
                        <a:pos x="T2" y="T3"/>
                      </a:cxn>
                      <a:cxn ang="T50">
                        <a:pos x="T4" y="T5"/>
                      </a:cxn>
                      <a:cxn ang="T51">
                        <a:pos x="T6" y="T7"/>
                      </a:cxn>
                      <a:cxn ang="T52">
                        <a:pos x="T8" y="T9"/>
                      </a:cxn>
                      <a:cxn ang="T53">
                        <a:pos x="T10" y="T11"/>
                      </a:cxn>
                      <a:cxn ang="T54">
                        <a:pos x="T12" y="T13"/>
                      </a:cxn>
                      <a:cxn ang="T55">
                        <a:pos x="T14" y="T15"/>
                      </a:cxn>
                      <a:cxn ang="T56">
                        <a:pos x="T16" y="T17"/>
                      </a:cxn>
                      <a:cxn ang="T57">
                        <a:pos x="T18" y="T19"/>
                      </a:cxn>
                      <a:cxn ang="T58">
                        <a:pos x="T20" y="T21"/>
                      </a:cxn>
                      <a:cxn ang="T59">
                        <a:pos x="T22" y="T23"/>
                      </a:cxn>
                      <a:cxn ang="T60">
                        <a:pos x="T24" y="T25"/>
                      </a:cxn>
                      <a:cxn ang="T61">
                        <a:pos x="T26" y="T27"/>
                      </a:cxn>
                      <a:cxn ang="T62">
                        <a:pos x="T28" y="T29"/>
                      </a:cxn>
                      <a:cxn ang="T63">
                        <a:pos x="T30" y="T31"/>
                      </a:cxn>
                      <a:cxn ang="T64">
                        <a:pos x="T32" y="T33"/>
                      </a:cxn>
                      <a:cxn ang="T65">
                        <a:pos x="T34" y="T35"/>
                      </a:cxn>
                      <a:cxn ang="T66">
                        <a:pos x="T36" y="T37"/>
                      </a:cxn>
                      <a:cxn ang="T67">
                        <a:pos x="T38" y="T39"/>
                      </a:cxn>
                      <a:cxn ang="T68">
                        <a:pos x="T40" y="T41"/>
                      </a:cxn>
                      <a:cxn ang="T69">
                        <a:pos x="T42" y="T43"/>
                      </a:cxn>
                      <a:cxn ang="T70">
                        <a:pos x="T44" y="T45"/>
                      </a:cxn>
                      <a:cxn ang="T71">
                        <a:pos x="T46" y="T47"/>
                      </a:cxn>
                    </a:cxnLst>
                    <a:rect l="T72" t="T73" r="T74" b="T75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3" y="126"/>
                        </a:lnTo>
                        <a:lnTo>
                          <a:pt x="20" y="127"/>
                        </a:lnTo>
                        <a:lnTo>
                          <a:pt x="18" y="127"/>
                        </a:lnTo>
                        <a:lnTo>
                          <a:pt x="14" y="128"/>
                        </a:lnTo>
                        <a:lnTo>
                          <a:pt x="12" y="128"/>
                        </a:lnTo>
                        <a:lnTo>
                          <a:pt x="8" y="127"/>
                        </a:lnTo>
                        <a:lnTo>
                          <a:pt x="5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5" y="0"/>
                        </a:lnTo>
                        <a:lnTo>
                          <a:pt x="7" y="1"/>
                        </a:lnTo>
                        <a:lnTo>
                          <a:pt x="18" y="1"/>
                        </a:lnTo>
                        <a:lnTo>
                          <a:pt x="21" y="0"/>
                        </a:lnTo>
                        <a:lnTo>
                          <a:pt x="23" y="124"/>
                        </a:lnTo>
                        <a:lnTo>
                          <a:pt x="24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36" name="Freeform 405"/>
                  <p:cNvSpPr>
                    <a:spLocks/>
                  </p:cNvSpPr>
                  <p:nvPr/>
                </p:nvSpPr>
                <p:spPr bwMode="auto">
                  <a:xfrm>
                    <a:off x="3622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3 w 27"/>
                      <a:gd name="T5" fmla="*/ 126 h 128"/>
                      <a:gd name="T6" fmla="*/ 20 w 27"/>
                      <a:gd name="T7" fmla="*/ 127 h 128"/>
                      <a:gd name="T8" fmla="*/ 18 w 27"/>
                      <a:gd name="T9" fmla="*/ 127 h 128"/>
                      <a:gd name="T10" fmla="*/ 14 w 27"/>
                      <a:gd name="T11" fmla="*/ 128 h 128"/>
                      <a:gd name="T12" fmla="*/ 12 w 27"/>
                      <a:gd name="T13" fmla="*/ 128 h 128"/>
                      <a:gd name="T14" fmla="*/ 8 w 27"/>
                      <a:gd name="T15" fmla="*/ 127 h 128"/>
                      <a:gd name="T16" fmla="*/ 5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5 w 27"/>
                      <a:gd name="T31" fmla="*/ 0 h 128"/>
                      <a:gd name="T32" fmla="*/ 7 w 27"/>
                      <a:gd name="T33" fmla="*/ 1 h 128"/>
                      <a:gd name="T34" fmla="*/ 18 w 27"/>
                      <a:gd name="T35" fmla="*/ 1 h 128"/>
                      <a:gd name="T36" fmla="*/ 21 w 27"/>
                      <a:gd name="T37" fmla="*/ 0 h 128"/>
                      <a:gd name="T38" fmla="*/ 23 w 27"/>
                      <a:gd name="T39" fmla="*/ 124 h 128"/>
                      <a:gd name="T40" fmla="*/ 24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3" y="126"/>
                        </a:lnTo>
                        <a:lnTo>
                          <a:pt x="20" y="127"/>
                        </a:lnTo>
                        <a:lnTo>
                          <a:pt x="18" y="127"/>
                        </a:lnTo>
                        <a:lnTo>
                          <a:pt x="14" y="128"/>
                        </a:lnTo>
                        <a:lnTo>
                          <a:pt x="12" y="128"/>
                        </a:lnTo>
                        <a:lnTo>
                          <a:pt x="8" y="127"/>
                        </a:lnTo>
                        <a:lnTo>
                          <a:pt x="5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5" y="0"/>
                        </a:lnTo>
                        <a:lnTo>
                          <a:pt x="7" y="1"/>
                        </a:lnTo>
                        <a:lnTo>
                          <a:pt x="18" y="1"/>
                        </a:lnTo>
                        <a:lnTo>
                          <a:pt x="21" y="0"/>
                        </a:lnTo>
                        <a:lnTo>
                          <a:pt x="23" y="124"/>
                        </a:lnTo>
                        <a:lnTo>
                          <a:pt x="24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37" name="Freeform 406"/>
                  <p:cNvSpPr>
                    <a:spLocks/>
                  </p:cNvSpPr>
                  <p:nvPr/>
                </p:nvSpPr>
                <p:spPr bwMode="auto">
                  <a:xfrm>
                    <a:off x="3622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5 w 27"/>
                      <a:gd name="T7" fmla="*/ 2 h 7"/>
                      <a:gd name="T8" fmla="*/ 8 w 27"/>
                      <a:gd name="T9" fmla="*/ 3 h 7"/>
                      <a:gd name="T10" fmla="*/ 12 w 27"/>
                      <a:gd name="T11" fmla="*/ 3 h 7"/>
                      <a:gd name="T12" fmla="*/ 15 w 27"/>
                      <a:gd name="T13" fmla="*/ 3 h 7"/>
                      <a:gd name="T14" fmla="*/ 18 w 27"/>
                      <a:gd name="T15" fmla="*/ 3 h 7"/>
                      <a:gd name="T16" fmla="*/ 20 w 27"/>
                      <a:gd name="T17" fmla="*/ 2 h 7"/>
                      <a:gd name="T18" fmla="*/ 23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3 w 27"/>
                      <a:gd name="T29" fmla="*/ 5 h 7"/>
                      <a:gd name="T30" fmla="*/ 20 w 27"/>
                      <a:gd name="T31" fmla="*/ 6 h 7"/>
                      <a:gd name="T32" fmla="*/ 18 w 27"/>
                      <a:gd name="T33" fmla="*/ 7 h 7"/>
                      <a:gd name="T34" fmla="*/ 15 w 27"/>
                      <a:gd name="T35" fmla="*/ 7 h 7"/>
                      <a:gd name="T36" fmla="*/ 12 w 27"/>
                      <a:gd name="T37" fmla="*/ 7 h 7"/>
                      <a:gd name="T38" fmla="*/ 8 w 27"/>
                      <a:gd name="T39" fmla="*/ 7 h 7"/>
                      <a:gd name="T40" fmla="*/ 5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w 27"/>
                      <a:gd name="T51" fmla="*/ 0 h 7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27"/>
                      <a:gd name="T79" fmla="*/ 0 h 7"/>
                      <a:gd name="T80" fmla="*/ 27 w 27"/>
                      <a:gd name="T81" fmla="*/ 7 h 7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5" y="2"/>
                        </a:lnTo>
                        <a:lnTo>
                          <a:pt x="8" y="3"/>
                        </a:lnTo>
                        <a:lnTo>
                          <a:pt x="12" y="3"/>
                        </a:lnTo>
                        <a:lnTo>
                          <a:pt x="15" y="3"/>
                        </a:lnTo>
                        <a:lnTo>
                          <a:pt x="18" y="3"/>
                        </a:lnTo>
                        <a:lnTo>
                          <a:pt x="20" y="2"/>
                        </a:lnTo>
                        <a:lnTo>
                          <a:pt x="23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3" y="5"/>
                        </a:lnTo>
                        <a:lnTo>
                          <a:pt x="20" y="6"/>
                        </a:lnTo>
                        <a:lnTo>
                          <a:pt x="18" y="7"/>
                        </a:lnTo>
                        <a:lnTo>
                          <a:pt x="15" y="7"/>
                        </a:lnTo>
                        <a:lnTo>
                          <a:pt x="12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38" name="Freeform 407"/>
                  <p:cNvSpPr>
                    <a:spLocks/>
                  </p:cNvSpPr>
                  <p:nvPr/>
                </p:nvSpPr>
                <p:spPr bwMode="auto">
                  <a:xfrm>
                    <a:off x="3622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5 w 27"/>
                      <a:gd name="T7" fmla="*/ 2 h 7"/>
                      <a:gd name="T8" fmla="*/ 8 w 27"/>
                      <a:gd name="T9" fmla="*/ 3 h 7"/>
                      <a:gd name="T10" fmla="*/ 12 w 27"/>
                      <a:gd name="T11" fmla="*/ 3 h 7"/>
                      <a:gd name="T12" fmla="*/ 15 w 27"/>
                      <a:gd name="T13" fmla="*/ 3 h 7"/>
                      <a:gd name="T14" fmla="*/ 18 w 27"/>
                      <a:gd name="T15" fmla="*/ 3 h 7"/>
                      <a:gd name="T16" fmla="*/ 20 w 27"/>
                      <a:gd name="T17" fmla="*/ 2 h 7"/>
                      <a:gd name="T18" fmla="*/ 23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3 w 27"/>
                      <a:gd name="T29" fmla="*/ 5 h 7"/>
                      <a:gd name="T30" fmla="*/ 20 w 27"/>
                      <a:gd name="T31" fmla="*/ 6 h 7"/>
                      <a:gd name="T32" fmla="*/ 18 w 27"/>
                      <a:gd name="T33" fmla="*/ 7 h 7"/>
                      <a:gd name="T34" fmla="*/ 15 w 27"/>
                      <a:gd name="T35" fmla="*/ 7 h 7"/>
                      <a:gd name="T36" fmla="*/ 12 w 27"/>
                      <a:gd name="T37" fmla="*/ 7 h 7"/>
                      <a:gd name="T38" fmla="*/ 8 w 27"/>
                      <a:gd name="T39" fmla="*/ 7 h 7"/>
                      <a:gd name="T40" fmla="*/ 5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5" y="2"/>
                        </a:lnTo>
                        <a:lnTo>
                          <a:pt x="8" y="3"/>
                        </a:lnTo>
                        <a:lnTo>
                          <a:pt x="12" y="3"/>
                        </a:lnTo>
                        <a:lnTo>
                          <a:pt x="15" y="3"/>
                        </a:lnTo>
                        <a:lnTo>
                          <a:pt x="18" y="3"/>
                        </a:lnTo>
                        <a:lnTo>
                          <a:pt x="20" y="2"/>
                        </a:lnTo>
                        <a:lnTo>
                          <a:pt x="23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3" y="5"/>
                        </a:lnTo>
                        <a:lnTo>
                          <a:pt x="20" y="6"/>
                        </a:lnTo>
                        <a:lnTo>
                          <a:pt x="18" y="7"/>
                        </a:lnTo>
                        <a:lnTo>
                          <a:pt x="15" y="7"/>
                        </a:lnTo>
                        <a:lnTo>
                          <a:pt x="12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39" name="Freeform 408"/>
                  <p:cNvSpPr>
                    <a:spLocks/>
                  </p:cNvSpPr>
                  <p:nvPr/>
                </p:nvSpPr>
                <p:spPr bwMode="auto">
                  <a:xfrm>
                    <a:off x="3690" y="2529"/>
                    <a:ext cx="7" cy="3"/>
                  </a:xfrm>
                  <a:custGeom>
                    <a:avLst/>
                    <a:gdLst>
                      <a:gd name="T0" fmla="*/ 0 w 7"/>
                      <a:gd name="T1" fmla="*/ 0 h 3"/>
                      <a:gd name="T2" fmla="*/ 0 w 7"/>
                      <a:gd name="T3" fmla="*/ 3 h 3"/>
                      <a:gd name="T4" fmla="*/ 7 w 7"/>
                      <a:gd name="T5" fmla="*/ 0 h 3"/>
                      <a:gd name="T6" fmla="*/ 0 w 7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7"/>
                      <a:gd name="T13" fmla="*/ 0 h 3"/>
                      <a:gd name="T14" fmla="*/ 7 w 7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7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7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40" name="Freeform 409"/>
                  <p:cNvSpPr>
                    <a:spLocks/>
                  </p:cNvSpPr>
                  <p:nvPr/>
                </p:nvSpPr>
                <p:spPr bwMode="auto">
                  <a:xfrm>
                    <a:off x="3690" y="2529"/>
                    <a:ext cx="7" cy="3"/>
                  </a:xfrm>
                  <a:custGeom>
                    <a:avLst/>
                    <a:gdLst>
                      <a:gd name="T0" fmla="*/ 0 w 7"/>
                      <a:gd name="T1" fmla="*/ 0 h 3"/>
                      <a:gd name="T2" fmla="*/ 0 w 7"/>
                      <a:gd name="T3" fmla="*/ 3 h 3"/>
                      <a:gd name="T4" fmla="*/ 7 w 7"/>
                      <a:gd name="T5" fmla="*/ 0 h 3"/>
                      <a:gd name="T6" fmla="*/ 0 w 7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7"/>
                      <a:gd name="T13" fmla="*/ 0 h 3"/>
                      <a:gd name="T14" fmla="*/ 7 w 7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7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7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41" name="Rectangle 410"/>
                  <p:cNvSpPr>
                    <a:spLocks noChangeArrowheads="1"/>
                  </p:cNvSpPr>
                  <p:nvPr/>
                </p:nvSpPr>
                <p:spPr bwMode="auto">
                  <a:xfrm>
                    <a:off x="3666" y="2529"/>
                    <a:ext cx="24" cy="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42" name="Rectangle 411"/>
                  <p:cNvSpPr>
                    <a:spLocks noChangeArrowheads="1"/>
                  </p:cNvSpPr>
                  <p:nvPr/>
                </p:nvSpPr>
                <p:spPr bwMode="auto">
                  <a:xfrm>
                    <a:off x="3666" y="2529"/>
                    <a:ext cx="24" cy="3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43" name="Freeform 412"/>
                  <p:cNvSpPr>
                    <a:spLocks/>
                  </p:cNvSpPr>
                  <p:nvPr/>
                </p:nvSpPr>
                <p:spPr bwMode="auto">
                  <a:xfrm>
                    <a:off x="3667" y="2532"/>
                    <a:ext cx="23" cy="3"/>
                  </a:xfrm>
                  <a:custGeom>
                    <a:avLst/>
                    <a:gdLst>
                      <a:gd name="T0" fmla="*/ 0 w 23"/>
                      <a:gd name="T1" fmla="*/ 0 h 3"/>
                      <a:gd name="T2" fmla="*/ 0 w 23"/>
                      <a:gd name="T3" fmla="*/ 2 h 3"/>
                      <a:gd name="T4" fmla="*/ 1 w 23"/>
                      <a:gd name="T5" fmla="*/ 2 h 3"/>
                      <a:gd name="T6" fmla="*/ 3 w 23"/>
                      <a:gd name="T7" fmla="*/ 2 h 3"/>
                      <a:gd name="T8" fmla="*/ 5 w 23"/>
                      <a:gd name="T9" fmla="*/ 3 h 3"/>
                      <a:gd name="T10" fmla="*/ 12 w 23"/>
                      <a:gd name="T11" fmla="*/ 3 h 3"/>
                      <a:gd name="T12" fmla="*/ 17 w 23"/>
                      <a:gd name="T13" fmla="*/ 3 h 3"/>
                      <a:gd name="T14" fmla="*/ 20 w 23"/>
                      <a:gd name="T15" fmla="*/ 2 h 3"/>
                      <a:gd name="T16" fmla="*/ 22 w 23"/>
                      <a:gd name="T17" fmla="*/ 2 h 3"/>
                      <a:gd name="T18" fmla="*/ 23 w 23"/>
                      <a:gd name="T19" fmla="*/ 1 h 3"/>
                      <a:gd name="T20" fmla="*/ 23 w 23"/>
                      <a:gd name="T21" fmla="*/ 0 h 3"/>
                      <a:gd name="T22" fmla="*/ 0 w 23"/>
                      <a:gd name="T23" fmla="*/ 0 h 3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3"/>
                      <a:gd name="T37" fmla="*/ 0 h 3"/>
                      <a:gd name="T38" fmla="*/ 23 w 23"/>
                      <a:gd name="T39" fmla="*/ 3 h 3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3" h="3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2" y="2"/>
                        </a:lnTo>
                        <a:lnTo>
                          <a:pt x="23" y="1"/>
                        </a:lnTo>
                        <a:lnTo>
                          <a:pt x="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44" name="Freeform 413"/>
                  <p:cNvSpPr>
                    <a:spLocks/>
                  </p:cNvSpPr>
                  <p:nvPr/>
                </p:nvSpPr>
                <p:spPr bwMode="auto">
                  <a:xfrm>
                    <a:off x="3667" y="2532"/>
                    <a:ext cx="23" cy="3"/>
                  </a:xfrm>
                  <a:custGeom>
                    <a:avLst/>
                    <a:gdLst>
                      <a:gd name="T0" fmla="*/ 0 w 23"/>
                      <a:gd name="T1" fmla="*/ 0 h 3"/>
                      <a:gd name="T2" fmla="*/ 0 w 23"/>
                      <a:gd name="T3" fmla="*/ 2 h 3"/>
                      <a:gd name="T4" fmla="*/ 1 w 23"/>
                      <a:gd name="T5" fmla="*/ 2 h 3"/>
                      <a:gd name="T6" fmla="*/ 3 w 23"/>
                      <a:gd name="T7" fmla="*/ 2 h 3"/>
                      <a:gd name="T8" fmla="*/ 5 w 23"/>
                      <a:gd name="T9" fmla="*/ 3 h 3"/>
                      <a:gd name="T10" fmla="*/ 12 w 23"/>
                      <a:gd name="T11" fmla="*/ 3 h 3"/>
                      <a:gd name="T12" fmla="*/ 17 w 23"/>
                      <a:gd name="T13" fmla="*/ 3 h 3"/>
                      <a:gd name="T14" fmla="*/ 20 w 23"/>
                      <a:gd name="T15" fmla="*/ 2 h 3"/>
                      <a:gd name="T16" fmla="*/ 22 w 23"/>
                      <a:gd name="T17" fmla="*/ 2 h 3"/>
                      <a:gd name="T18" fmla="*/ 23 w 23"/>
                      <a:gd name="T19" fmla="*/ 1 h 3"/>
                      <a:gd name="T20" fmla="*/ 23 w 23"/>
                      <a:gd name="T21" fmla="*/ 0 h 3"/>
                      <a:gd name="T22" fmla="*/ 0 w 23"/>
                      <a:gd name="T23" fmla="*/ 0 h 3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3"/>
                      <a:gd name="T37" fmla="*/ 0 h 3"/>
                      <a:gd name="T38" fmla="*/ 23 w 23"/>
                      <a:gd name="T39" fmla="*/ 3 h 3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3" h="3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2" y="2"/>
                        </a:lnTo>
                        <a:lnTo>
                          <a:pt x="23" y="1"/>
                        </a:lnTo>
                        <a:lnTo>
                          <a:pt x="23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45" name="Freeform 414"/>
                  <p:cNvSpPr>
                    <a:spLocks/>
                  </p:cNvSpPr>
                  <p:nvPr/>
                </p:nvSpPr>
                <p:spPr bwMode="auto">
                  <a:xfrm>
                    <a:off x="3666" y="2535"/>
                    <a:ext cx="24" cy="10"/>
                  </a:xfrm>
                  <a:custGeom>
                    <a:avLst/>
                    <a:gdLst>
                      <a:gd name="T0" fmla="*/ 20 w 24"/>
                      <a:gd name="T1" fmla="*/ 0 h 10"/>
                      <a:gd name="T2" fmla="*/ 18 w 24"/>
                      <a:gd name="T3" fmla="*/ 0 h 10"/>
                      <a:gd name="T4" fmla="*/ 11 w 24"/>
                      <a:gd name="T5" fmla="*/ 1 h 10"/>
                      <a:gd name="T6" fmla="*/ 6 w 24"/>
                      <a:gd name="T7" fmla="*/ 0 h 10"/>
                      <a:gd name="T8" fmla="*/ 4 w 24"/>
                      <a:gd name="T9" fmla="*/ 0 h 10"/>
                      <a:gd name="T10" fmla="*/ 4 w 24"/>
                      <a:gd name="T11" fmla="*/ 6 h 10"/>
                      <a:gd name="T12" fmla="*/ 2 w 24"/>
                      <a:gd name="T13" fmla="*/ 6 h 10"/>
                      <a:gd name="T14" fmla="*/ 1 w 24"/>
                      <a:gd name="T15" fmla="*/ 6 h 10"/>
                      <a:gd name="T16" fmla="*/ 0 w 24"/>
                      <a:gd name="T17" fmla="*/ 7 h 10"/>
                      <a:gd name="T18" fmla="*/ 0 w 24"/>
                      <a:gd name="T19" fmla="*/ 7 h 10"/>
                      <a:gd name="T20" fmla="*/ 0 w 24"/>
                      <a:gd name="T21" fmla="*/ 9 h 10"/>
                      <a:gd name="T22" fmla="*/ 1 w 24"/>
                      <a:gd name="T23" fmla="*/ 9 h 10"/>
                      <a:gd name="T24" fmla="*/ 3 w 24"/>
                      <a:gd name="T25" fmla="*/ 9 h 10"/>
                      <a:gd name="T26" fmla="*/ 6 w 24"/>
                      <a:gd name="T27" fmla="*/ 10 h 10"/>
                      <a:gd name="T28" fmla="*/ 11 w 24"/>
                      <a:gd name="T29" fmla="*/ 10 h 10"/>
                      <a:gd name="T30" fmla="*/ 18 w 24"/>
                      <a:gd name="T31" fmla="*/ 10 h 10"/>
                      <a:gd name="T32" fmla="*/ 21 w 24"/>
                      <a:gd name="T33" fmla="*/ 9 h 10"/>
                      <a:gd name="T34" fmla="*/ 23 w 24"/>
                      <a:gd name="T35" fmla="*/ 9 h 10"/>
                      <a:gd name="T36" fmla="*/ 24 w 24"/>
                      <a:gd name="T37" fmla="*/ 7 h 10"/>
                      <a:gd name="T38" fmla="*/ 23 w 24"/>
                      <a:gd name="T39" fmla="*/ 6 h 10"/>
                      <a:gd name="T40" fmla="*/ 22 w 24"/>
                      <a:gd name="T41" fmla="*/ 6 h 10"/>
                      <a:gd name="T42" fmla="*/ 20 w 24"/>
                      <a:gd name="T43" fmla="*/ 6 h 10"/>
                      <a:gd name="T44" fmla="*/ 20 w 24"/>
                      <a:gd name="T45" fmla="*/ 0 h 10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4"/>
                      <a:gd name="T70" fmla="*/ 0 h 10"/>
                      <a:gd name="T71" fmla="*/ 24 w 24"/>
                      <a:gd name="T72" fmla="*/ 10 h 10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4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1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1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1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3" y="9"/>
                        </a:lnTo>
                        <a:lnTo>
                          <a:pt x="24" y="7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46" name="Freeform 415"/>
                  <p:cNvSpPr>
                    <a:spLocks/>
                  </p:cNvSpPr>
                  <p:nvPr/>
                </p:nvSpPr>
                <p:spPr bwMode="auto">
                  <a:xfrm>
                    <a:off x="3666" y="2535"/>
                    <a:ext cx="24" cy="10"/>
                  </a:xfrm>
                  <a:custGeom>
                    <a:avLst/>
                    <a:gdLst>
                      <a:gd name="T0" fmla="*/ 20 w 24"/>
                      <a:gd name="T1" fmla="*/ 0 h 10"/>
                      <a:gd name="T2" fmla="*/ 18 w 24"/>
                      <a:gd name="T3" fmla="*/ 0 h 10"/>
                      <a:gd name="T4" fmla="*/ 11 w 24"/>
                      <a:gd name="T5" fmla="*/ 1 h 10"/>
                      <a:gd name="T6" fmla="*/ 6 w 24"/>
                      <a:gd name="T7" fmla="*/ 0 h 10"/>
                      <a:gd name="T8" fmla="*/ 4 w 24"/>
                      <a:gd name="T9" fmla="*/ 0 h 10"/>
                      <a:gd name="T10" fmla="*/ 4 w 24"/>
                      <a:gd name="T11" fmla="*/ 6 h 10"/>
                      <a:gd name="T12" fmla="*/ 2 w 24"/>
                      <a:gd name="T13" fmla="*/ 6 h 10"/>
                      <a:gd name="T14" fmla="*/ 1 w 24"/>
                      <a:gd name="T15" fmla="*/ 6 h 10"/>
                      <a:gd name="T16" fmla="*/ 0 w 24"/>
                      <a:gd name="T17" fmla="*/ 7 h 10"/>
                      <a:gd name="T18" fmla="*/ 0 w 24"/>
                      <a:gd name="T19" fmla="*/ 7 h 10"/>
                      <a:gd name="T20" fmla="*/ 0 w 24"/>
                      <a:gd name="T21" fmla="*/ 9 h 10"/>
                      <a:gd name="T22" fmla="*/ 1 w 24"/>
                      <a:gd name="T23" fmla="*/ 9 h 10"/>
                      <a:gd name="T24" fmla="*/ 3 w 24"/>
                      <a:gd name="T25" fmla="*/ 9 h 10"/>
                      <a:gd name="T26" fmla="*/ 6 w 24"/>
                      <a:gd name="T27" fmla="*/ 10 h 10"/>
                      <a:gd name="T28" fmla="*/ 11 w 24"/>
                      <a:gd name="T29" fmla="*/ 10 h 10"/>
                      <a:gd name="T30" fmla="*/ 18 w 24"/>
                      <a:gd name="T31" fmla="*/ 10 h 10"/>
                      <a:gd name="T32" fmla="*/ 21 w 24"/>
                      <a:gd name="T33" fmla="*/ 9 h 10"/>
                      <a:gd name="T34" fmla="*/ 23 w 24"/>
                      <a:gd name="T35" fmla="*/ 9 h 10"/>
                      <a:gd name="T36" fmla="*/ 24 w 24"/>
                      <a:gd name="T37" fmla="*/ 7 h 10"/>
                      <a:gd name="T38" fmla="*/ 23 w 24"/>
                      <a:gd name="T39" fmla="*/ 6 h 10"/>
                      <a:gd name="T40" fmla="*/ 22 w 24"/>
                      <a:gd name="T41" fmla="*/ 6 h 10"/>
                      <a:gd name="T42" fmla="*/ 20 w 24"/>
                      <a:gd name="T43" fmla="*/ 6 h 10"/>
                      <a:gd name="T44" fmla="*/ 20 w 24"/>
                      <a:gd name="T45" fmla="*/ 0 h 10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4"/>
                      <a:gd name="T70" fmla="*/ 0 h 10"/>
                      <a:gd name="T71" fmla="*/ 24 w 24"/>
                      <a:gd name="T72" fmla="*/ 10 h 10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4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1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1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1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3" y="9"/>
                        </a:lnTo>
                        <a:lnTo>
                          <a:pt x="24" y="7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47" name="Freeform 416"/>
                  <p:cNvSpPr>
                    <a:spLocks/>
                  </p:cNvSpPr>
                  <p:nvPr/>
                </p:nvSpPr>
                <p:spPr bwMode="auto">
                  <a:xfrm>
                    <a:off x="3666" y="2542"/>
                    <a:ext cx="24" cy="7"/>
                  </a:xfrm>
                  <a:custGeom>
                    <a:avLst/>
                    <a:gdLst>
                      <a:gd name="T0" fmla="*/ 23 w 24"/>
                      <a:gd name="T1" fmla="*/ 5 h 7"/>
                      <a:gd name="T2" fmla="*/ 22 w 24"/>
                      <a:gd name="T3" fmla="*/ 6 h 7"/>
                      <a:gd name="T4" fmla="*/ 20 w 24"/>
                      <a:gd name="T5" fmla="*/ 6 h 7"/>
                      <a:gd name="T6" fmla="*/ 16 w 24"/>
                      <a:gd name="T7" fmla="*/ 7 h 7"/>
                      <a:gd name="T8" fmla="*/ 6 w 24"/>
                      <a:gd name="T9" fmla="*/ 7 h 7"/>
                      <a:gd name="T10" fmla="*/ 4 w 24"/>
                      <a:gd name="T11" fmla="*/ 6 h 7"/>
                      <a:gd name="T12" fmla="*/ 3 w 24"/>
                      <a:gd name="T13" fmla="*/ 6 h 7"/>
                      <a:gd name="T14" fmla="*/ 1 w 24"/>
                      <a:gd name="T15" fmla="*/ 5 h 7"/>
                      <a:gd name="T16" fmla="*/ 0 w 24"/>
                      <a:gd name="T17" fmla="*/ 5 h 7"/>
                      <a:gd name="T18" fmla="*/ 0 w 24"/>
                      <a:gd name="T19" fmla="*/ 0 h 7"/>
                      <a:gd name="T20" fmla="*/ 0 w 24"/>
                      <a:gd name="T21" fmla="*/ 2 h 7"/>
                      <a:gd name="T22" fmla="*/ 1 w 24"/>
                      <a:gd name="T23" fmla="*/ 2 h 7"/>
                      <a:gd name="T24" fmla="*/ 3 w 24"/>
                      <a:gd name="T25" fmla="*/ 2 h 7"/>
                      <a:gd name="T26" fmla="*/ 6 w 24"/>
                      <a:gd name="T27" fmla="*/ 3 h 7"/>
                      <a:gd name="T28" fmla="*/ 11 w 24"/>
                      <a:gd name="T29" fmla="*/ 3 h 7"/>
                      <a:gd name="T30" fmla="*/ 18 w 24"/>
                      <a:gd name="T31" fmla="*/ 3 h 7"/>
                      <a:gd name="T32" fmla="*/ 21 w 24"/>
                      <a:gd name="T33" fmla="*/ 2 h 7"/>
                      <a:gd name="T34" fmla="*/ 23 w 24"/>
                      <a:gd name="T35" fmla="*/ 2 h 7"/>
                      <a:gd name="T36" fmla="*/ 24 w 24"/>
                      <a:gd name="T37" fmla="*/ 0 h 7"/>
                      <a:gd name="T38" fmla="*/ 24 w 24"/>
                      <a:gd name="T39" fmla="*/ 5 h 7"/>
                      <a:gd name="T40" fmla="*/ 23 w 24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4"/>
                      <a:gd name="T64" fmla="*/ 0 h 7"/>
                      <a:gd name="T65" fmla="*/ 24 w 24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4" h="7">
                        <a:moveTo>
                          <a:pt x="23" y="5"/>
                        </a:move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6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1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0"/>
                        </a:lnTo>
                        <a:lnTo>
                          <a:pt x="24" y="5"/>
                        </a:lnTo>
                        <a:lnTo>
                          <a:pt x="23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48" name="Freeform 417"/>
                  <p:cNvSpPr>
                    <a:spLocks/>
                  </p:cNvSpPr>
                  <p:nvPr/>
                </p:nvSpPr>
                <p:spPr bwMode="auto">
                  <a:xfrm>
                    <a:off x="3666" y="2542"/>
                    <a:ext cx="24" cy="7"/>
                  </a:xfrm>
                  <a:custGeom>
                    <a:avLst/>
                    <a:gdLst>
                      <a:gd name="T0" fmla="*/ 23 w 24"/>
                      <a:gd name="T1" fmla="*/ 5 h 7"/>
                      <a:gd name="T2" fmla="*/ 22 w 24"/>
                      <a:gd name="T3" fmla="*/ 6 h 7"/>
                      <a:gd name="T4" fmla="*/ 20 w 24"/>
                      <a:gd name="T5" fmla="*/ 6 h 7"/>
                      <a:gd name="T6" fmla="*/ 16 w 24"/>
                      <a:gd name="T7" fmla="*/ 7 h 7"/>
                      <a:gd name="T8" fmla="*/ 6 w 24"/>
                      <a:gd name="T9" fmla="*/ 7 h 7"/>
                      <a:gd name="T10" fmla="*/ 4 w 24"/>
                      <a:gd name="T11" fmla="*/ 6 h 7"/>
                      <a:gd name="T12" fmla="*/ 3 w 24"/>
                      <a:gd name="T13" fmla="*/ 6 h 7"/>
                      <a:gd name="T14" fmla="*/ 1 w 24"/>
                      <a:gd name="T15" fmla="*/ 5 h 7"/>
                      <a:gd name="T16" fmla="*/ 0 w 24"/>
                      <a:gd name="T17" fmla="*/ 5 h 7"/>
                      <a:gd name="T18" fmla="*/ 0 w 24"/>
                      <a:gd name="T19" fmla="*/ 0 h 7"/>
                      <a:gd name="T20" fmla="*/ 0 w 24"/>
                      <a:gd name="T21" fmla="*/ 2 h 7"/>
                      <a:gd name="T22" fmla="*/ 1 w 24"/>
                      <a:gd name="T23" fmla="*/ 2 h 7"/>
                      <a:gd name="T24" fmla="*/ 3 w 24"/>
                      <a:gd name="T25" fmla="*/ 2 h 7"/>
                      <a:gd name="T26" fmla="*/ 6 w 24"/>
                      <a:gd name="T27" fmla="*/ 3 h 7"/>
                      <a:gd name="T28" fmla="*/ 11 w 24"/>
                      <a:gd name="T29" fmla="*/ 3 h 7"/>
                      <a:gd name="T30" fmla="*/ 18 w 24"/>
                      <a:gd name="T31" fmla="*/ 3 h 7"/>
                      <a:gd name="T32" fmla="*/ 21 w 24"/>
                      <a:gd name="T33" fmla="*/ 2 h 7"/>
                      <a:gd name="T34" fmla="*/ 23 w 24"/>
                      <a:gd name="T35" fmla="*/ 2 h 7"/>
                      <a:gd name="T36" fmla="*/ 24 w 24"/>
                      <a:gd name="T37" fmla="*/ 0 h 7"/>
                      <a:gd name="T38" fmla="*/ 24 w 24"/>
                      <a:gd name="T39" fmla="*/ 5 h 7"/>
                      <a:gd name="T40" fmla="*/ 23 w 24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4"/>
                      <a:gd name="T64" fmla="*/ 0 h 7"/>
                      <a:gd name="T65" fmla="*/ 24 w 24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4" h="7">
                        <a:moveTo>
                          <a:pt x="23" y="5"/>
                        </a:move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6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1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0"/>
                        </a:lnTo>
                        <a:lnTo>
                          <a:pt x="24" y="5"/>
                        </a:lnTo>
                        <a:lnTo>
                          <a:pt x="23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49" name="Freeform 418"/>
                  <p:cNvSpPr>
                    <a:spLocks/>
                  </p:cNvSpPr>
                  <p:nvPr/>
                </p:nvSpPr>
                <p:spPr bwMode="auto">
                  <a:xfrm>
                    <a:off x="3665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1 w 27"/>
                      <a:gd name="T7" fmla="*/ 127 h 128"/>
                      <a:gd name="T8" fmla="*/ 18 w 27"/>
                      <a:gd name="T9" fmla="*/ 127 h 128"/>
                      <a:gd name="T10" fmla="*/ 15 w 27"/>
                      <a:gd name="T11" fmla="*/ 128 h 128"/>
                      <a:gd name="T12" fmla="*/ 11 w 27"/>
                      <a:gd name="T13" fmla="*/ 128 h 128"/>
                      <a:gd name="T14" fmla="*/ 8 w 27"/>
                      <a:gd name="T15" fmla="*/ 127 h 128"/>
                      <a:gd name="T16" fmla="*/ 5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5 w 27"/>
                      <a:gd name="T31" fmla="*/ 0 h 128"/>
                      <a:gd name="T32" fmla="*/ 7 w 27"/>
                      <a:gd name="T33" fmla="*/ 1 h 128"/>
                      <a:gd name="T34" fmla="*/ 18 w 27"/>
                      <a:gd name="T35" fmla="*/ 1 h 128"/>
                      <a:gd name="T36" fmla="*/ 22 w 27"/>
                      <a:gd name="T37" fmla="*/ 0 h 128"/>
                      <a:gd name="T38" fmla="*/ 24 w 27"/>
                      <a:gd name="T39" fmla="*/ 124 h 128"/>
                      <a:gd name="T40" fmla="*/ 25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1" y="127"/>
                        </a:lnTo>
                        <a:lnTo>
                          <a:pt x="18" y="127"/>
                        </a:lnTo>
                        <a:lnTo>
                          <a:pt x="15" y="128"/>
                        </a:lnTo>
                        <a:lnTo>
                          <a:pt x="11" y="128"/>
                        </a:lnTo>
                        <a:lnTo>
                          <a:pt x="8" y="127"/>
                        </a:lnTo>
                        <a:lnTo>
                          <a:pt x="5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5" y="0"/>
                        </a:lnTo>
                        <a:lnTo>
                          <a:pt x="7" y="1"/>
                        </a:lnTo>
                        <a:lnTo>
                          <a:pt x="18" y="1"/>
                        </a:lnTo>
                        <a:lnTo>
                          <a:pt x="22" y="0"/>
                        </a:lnTo>
                        <a:lnTo>
                          <a:pt x="24" y="124"/>
                        </a:lnTo>
                        <a:lnTo>
                          <a:pt x="25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50" name="Freeform 419"/>
                  <p:cNvSpPr>
                    <a:spLocks/>
                  </p:cNvSpPr>
                  <p:nvPr/>
                </p:nvSpPr>
                <p:spPr bwMode="auto">
                  <a:xfrm>
                    <a:off x="3665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1 w 27"/>
                      <a:gd name="T7" fmla="*/ 127 h 128"/>
                      <a:gd name="T8" fmla="*/ 18 w 27"/>
                      <a:gd name="T9" fmla="*/ 127 h 128"/>
                      <a:gd name="T10" fmla="*/ 15 w 27"/>
                      <a:gd name="T11" fmla="*/ 128 h 128"/>
                      <a:gd name="T12" fmla="*/ 11 w 27"/>
                      <a:gd name="T13" fmla="*/ 128 h 128"/>
                      <a:gd name="T14" fmla="*/ 8 w 27"/>
                      <a:gd name="T15" fmla="*/ 127 h 128"/>
                      <a:gd name="T16" fmla="*/ 5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5 w 27"/>
                      <a:gd name="T31" fmla="*/ 0 h 128"/>
                      <a:gd name="T32" fmla="*/ 7 w 27"/>
                      <a:gd name="T33" fmla="*/ 1 h 128"/>
                      <a:gd name="T34" fmla="*/ 18 w 27"/>
                      <a:gd name="T35" fmla="*/ 1 h 128"/>
                      <a:gd name="T36" fmla="*/ 22 w 27"/>
                      <a:gd name="T37" fmla="*/ 0 h 128"/>
                      <a:gd name="T38" fmla="*/ 24 w 27"/>
                      <a:gd name="T39" fmla="*/ 124 h 128"/>
                      <a:gd name="T40" fmla="*/ 25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1" y="127"/>
                        </a:lnTo>
                        <a:lnTo>
                          <a:pt x="18" y="127"/>
                        </a:lnTo>
                        <a:lnTo>
                          <a:pt x="15" y="128"/>
                        </a:lnTo>
                        <a:lnTo>
                          <a:pt x="11" y="128"/>
                        </a:lnTo>
                        <a:lnTo>
                          <a:pt x="8" y="127"/>
                        </a:lnTo>
                        <a:lnTo>
                          <a:pt x="5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5" y="0"/>
                        </a:lnTo>
                        <a:lnTo>
                          <a:pt x="7" y="1"/>
                        </a:lnTo>
                        <a:lnTo>
                          <a:pt x="18" y="1"/>
                        </a:lnTo>
                        <a:lnTo>
                          <a:pt x="22" y="0"/>
                        </a:lnTo>
                        <a:lnTo>
                          <a:pt x="24" y="124"/>
                        </a:lnTo>
                        <a:lnTo>
                          <a:pt x="25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51" name="Freeform 420"/>
                  <p:cNvSpPr>
                    <a:spLocks/>
                  </p:cNvSpPr>
                  <p:nvPr/>
                </p:nvSpPr>
                <p:spPr bwMode="auto">
                  <a:xfrm>
                    <a:off x="3665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5 w 27"/>
                      <a:gd name="T7" fmla="*/ 2 h 7"/>
                      <a:gd name="T8" fmla="*/ 8 w 27"/>
                      <a:gd name="T9" fmla="*/ 3 h 7"/>
                      <a:gd name="T10" fmla="*/ 11 w 27"/>
                      <a:gd name="T11" fmla="*/ 3 h 7"/>
                      <a:gd name="T12" fmla="*/ 15 w 27"/>
                      <a:gd name="T13" fmla="*/ 3 h 7"/>
                      <a:gd name="T14" fmla="*/ 18 w 27"/>
                      <a:gd name="T15" fmla="*/ 3 h 7"/>
                      <a:gd name="T16" fmla="*/ 21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5 w 27"/>
                      <a:gd name="T27" fmla="*/ 5 h 7"/>
                      <a:gd name="T28" fmla="*/ 24 w 27"/>
                      <a:gd name="T29" fmla="*/ 5 h 7"/>
                      <a:gd name="T30" fmla="*/ 21 w 27"/>
                      <a:gd name="T31" fmla="*/ 6 h 7"/>
                      <a:gd name="T32" fmla="*/ 18 w 27"/>
                      <a:gd name="T33" fmla="*/ 7 h 7"/>
                      <a:gd name="T34" fmla="*/ 15 w 27"/>
                      <a:gd name="T35" fmla="*/ 7 h 7"/>
                      <a:gd name="T36" fmla="*/ 11 w 27"/>
                      <a:gd name="T37" fmla="*/ 7 h 7"/>
                      <a:gd name="T38" fmla="*/ 8 w 27"/>
                      <a:gd name="T39" fmla="*/ 7 h 7"/>
                      <a:gd name="T40" fmla="*/ 5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5" y="2"/>
                        </a:lnTo>
                        <a:lnTo>
                          <a:pt x="8" y="3"/>
                        </a:lnTo>
                        <a:lnTo>
                          <a:pt x="11" y="3"/>
                        </a:lnTo>
                        <a:lnTo>
                          <a:pt x="15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5" y="5"/>
                        </a:lnTo>
                        <a:lnTo>
                          <a:pt x="24" y="5"/>
                        </a:lnTo>
                        <a:lnTo>
                          <a:pt x="21" y="6"/>
                        </a:lnTo>
                        <a:lnTo>
                          <a:pt x="18" y="7"/>
                        </a:lnTo>
                        <a:lnTo>
                          <a:pt x="15" y="7"/>
                        </a:lnTo>
                        <a:lnTo>
                          <a:pt x="11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52" name="Freeform 421"/>
                  <p:cNvSpPr>
                    <a:spLocks/>
                  </p:cNvSpPr>
                  <p:nvPr/>
                </p:nvSpPr>
                <p:spPr bwMode="auto">
                  <a:xfrm>
                    <a:off x="3665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5 w 27"/>
                      <a:gd name="T7" fmla="*/ 2 h 7"/>
                      <a:gd name="T8" fmla="*/ 8 w 27"/>
                      <a:gd name="T9" fmla="*/ 3 h 7"/>
                      <a:gd name="T10" fmla="*/ 11 w 27"/>
                      <a:gd name="T11" fmla="*/ 3 h 7"/>
                      <a:gd name="T12" fmla="*/ 15 w 27"/>
                      <a:gd name="T13" fmla="*/ 3 h 7"/>
                      <a:gd name="T14" fmla="*/ 18 w 27"/>
                      <a:gd name="T15" fmla="*/ 3 h 7"/>
                      <a:gd name="T16" fmla="*/ 21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5 w 27"/>
                      <a:gd name="T27" fmla="*/ 5 h 7"/>
                      <a:gd name="T28" fmla="*/ 24 w 27"/>
                      <a:gd name="T29" fmla="*/ 5 h 7"/>
                      <a:gd name="T30" fmla="*/ 21 w 27"/>
                      <a:gd name="T31" fmla="*/ 6 h 7"/>
                      <a:gd name="T32" fmla="*/ 18 w 27"/>
                      <a:gd name="T33" fmla="*/ 7 h 7"/>
                      <a:gd name="T34" fmla="*/ 15 w 27"/>
                      <a:gd name="T35" fmla="*/ 7 h 7"/>
                      <a:gd name="T36" fmla="*/ 11 w 27"/>
                      <a:gd name="T37" fmla="*/ 7 h 7"/>
                      <a:gd name="T38" fmla="*/ 8 w 27"/>
                      <a:gd name="T39" fmla="*/ 7 h 7"/>
                      <a:gd name="T40" fmla="*/ 5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5" y="2"/>
                        </a:lnTo>
                        <a:lnTo>
                          <a:pt x="8" y="3"/>
                        </a:lnTo>
                        <a:lnTo>
                          <a:pt x="11" y="3"/>
                        </a:lnTo>
                        <a:lnTo>
                          <a:pt x="15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5" y="5"/>
                        </a:lnTo>
                        <a:lnTo>
                          <a:pt x="24" y="5"/>
                        </a:lnTo>
                        <a:lnTo>
                          <a:pt x="21" y="6"/>
                        </a:lnTo>
                        <a:lnTo>
                          <a:pt x="18" y="7"/>
                        </a:lnTo>
                        <a:lnTo>
                          <a:pt x="15" y="7"/>
                        </a:lnTo>
                        <a:lnTo>
                          <a:pt x="11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53" name="Freeform 422"/>
                  <p:cNvSpPr>
                    <a:spLocks/>
                  </p:cNvSpPr>
                  <p:nvPr/>
                </p:nvSpPr>
                <p:spPr bwMode="auto">
                  <a:xfrm>
                    <a:off x="3747" y="2529"/>
                    <a:ext cx="6" cy="3"/>
                  </a:xfrm>
                  <a:custGeom>
                    <a:avLst/>
                    <a:gdLst>
                      <a:gd name="T0" fmla="*/ 0 w 6"/>
                      <a:gd name="T1" fmla="*/ 0 h 3"/>
                      <a:gd name="T2" fmla="*/ 0 w 6"/>
                      <a:gd name="T3" fmla="*/ 3 h 3"/>
                      <a:gd name="T4" fmla="*/ 6 w 6"/>
                      <a:gd name="T5" fmla="*/ 0 h 3"/>
                      <a:gd name="T6" fmla="*/ 0 w 6"/>
                      <a:gd name="T7" fmla="*/ 0 h 3"/>
                      <a:gd name="T8" fmla="*/ 0 w 6"/>
                      <a:gd name="T9" fmla="*/ 0 h 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"/>
                      <a:gd name="T16" fmla="*/ 0 h 3"/>
                      <a:gd name="T17" fmla="*/ 6 w 6"/>
                      <a:gd name="T18" fmla="*/ 3 h 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54" name="Freeform 423"/>
                  <p:cNvSpPr>
                    <a:spLocks/>
                  </p:cNvSpPr>
                  <p:nvPr/>
                </p:nvSpPr>
                <p:spPr bwMode="auto">
                  <a:xfrm>
                    <a:off x="3747" y="2529"/>
                    <a:ext cx="6" cy="3"/>
                  </a:xfrm>
                  <a:custGeom>
                    <a:avLst/>
                    <a:gdLst>
                      <a:gd name="T0" fmla="*/ 0 w 6"/>
                      <a:gd name="T1" fmla="*/ 0 h 3"/>
                      <a:gd name="T2" fmla="*/ 0 w 6"/>
                      <a:gd name="T3" fmla="*/ 3 h 3"/>
                      <a:gd name="T4" fmla="*/ 6 w 6"/>
                      <a:gd name="T5" fmla="*/ 0 h 3"/>
                      <a:gd name="T6" fmla="*/ 0 w 6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"/>
                      <a:gd name="T13" fmla="*/ 0 h 3"/>
                      <a:gd name="T14" fmla="*/ 6 w 6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6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55" name="Rectangle 424"/>
                  <p:cNvSpPr>
                    <a:spLocks noChangeArrowheads="1"/>
                  </p:cNvSpPr>
                  <p:nvPr/>
                </p:nvSpPr>
                <p:spPr bwMode="auto">
                  <a:xfrm>
                    <a:off x="3722" y="2529"/>
                    <a:ext cx="25" cy="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56" name="Rectangle 425"/>
                  <p:cNvSpPr>
                    <a:spLocks noChangeArrowheads="1"/>
                  </p:cNvSpPr>
                  <p:nvPr/>
                </p:nvSpPr>
                <p:spPr bwMode="auto">
                  <a:xfrm>
                    <a:off x="3722" y="2529"/>
                    <a:ext cx="25" cy="3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57" name="Freeform 426"/>
                  <p:cNvSpPr>
                    <a:spLocks/>
                  </p:cNvSpPr>
                  <p:nvPr/>
                </p:nvSpPr>
                <p:spPr bwMode="auto">
                  <a:xfrm>
                    <a:off x="3723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0 w 24"/>
                      <a:gd name="T5" fmla="*/ 2 h 3"/>
                      <a:gd name="T6" fmla="*/ 1 w 24"/>
                      <a:gd name="T7" fmla="*/ 2 h 3"/>
                      <a:gd name="T8" fmla="*/ 4 w 24"/>
                      <a:gd name="T9" fmla="*/ 2 h 3"/>
                      <a:gd name="T10" fmla="*/ 6 w 24"/>
                      <a:gd name="T11" fmla="*/ 3 h 3"/>
                      <a:gd name="T12" fmla="*/ 12 w 24"/>
                      <a:gd name="T13" fmla="*/ 3 h 3"/>
                      <a:gd name="T14" fmla="*/ 17 w 24"/>
                      <a:gd name="T15" fmla="*/ 3 h 3"/>
                      <a:gd name="T16" fmla="*/ 21 w 24"/>
                      <a:gd name="T17" fmla="*/ 2 h 3"/>
                      <a:gd name="T18" fmla="*/ 23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0 h 3"/>
                      <a:gd name="T24" fmla="*/ 0 w 24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"/>
                      <a:gd name="T40" fmla="*/ 0 h 3"/>
                      <a:gd name="T41" fmla="*/ 24 w 24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4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58" name="Freeform 427"/>
                  <p:cNvSpPr>
                    <a:spLocks/>
                  </p:cNvSpPr>
                  <p:nvPr/>
                </p:nvSpPr>
                <p:spPr bwMode="auto">
                  <a:xfrm>
                    <a:off x="3723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0 w 24"/>
                      <a:gd name="T5" fmla="*/ 2 h 3"/>
                      <a:gd name="T6" fmla="*/ 1 w 24"/>
                      <a:gd name="T7" fmla="*/ 2 h 3"/>
                      <a:gd name="T8" fmla="*/ 4 w 24"/>
                      <a:gd name="T9" fmla="*/ 2 h 3"/>
                      <a:gd name="T10" fmla="*/ 6 w 24"/>
                      <a:gd name="T11" fmla="*/ 3 h 3"/>
                      <a:gd name="T12" fmla="*/ 12 w 24"/>
                      <a:gd name="T13" fmla="*/ 3 h 3"/>
                      <a:gd name="T14" fmla="*/ 17 w 24"/>
                      <a:gd name="T15" fmla="*/ 3 h 3"/>
                      <a:gd name="T16" fmla="*/ 21 w 24"/>
                      <a:gd name="T17" fmla="*/ 2 h 3"/>
                      <a:gd name="T18" fmla="*/ 23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0 h 3"/>
                      <a:gd name="T24" fmla="*/ 0 w 24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"/>
                      <a:gd name="T40" fmla="*/ 0 h 3"/>
                      <a:gd name="T41" fmla="*/ 24 w 24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4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59" name="Freeform 428"/>
                  <p:cNvSpPr>
                    <a:spLocks/>
                  </p:cNvSpPr>
                  <p:nvPr/>
                </p:nvSpPr>
                <p:spPr bwMode="auto">
                  <a:xfrm>
                    <a:off x="3722" y="2535"/>
                    <a:ext cx="25" cy="10"/>
                  </a:xfrm>
                  <a:custGeom>
                    <a:avLst/>
                    <a:gdLst>
                      <a:gd name="T0" fmla="*/ 21 w 25"/>
                      <a:gd name="T1" fmla="*/ 0 h 10"/>
                      <a:gd name="T2" fmla="*/ 18 w 25"/>
                      <a:gd name="T3" fmla="*/ 0 h 10"/>
                      <a:gd name="T4" fmla="*/ 13 w 25"/>
                      <a:gd name="T5" fmla="*/ 1 h 10"/>
                      <a:gd name="T6" fmla="*/ 7 w 25"/>
                      <a:gd name="T7" fmla="*/ 0 h 10"/>
                      <a:gd name="T8" fmla="*/ 5 w 25"/>
                      <a:gd name="T9" fmla="*/ 0 h 10"/>
                      <a:gd name="T10" fmla="*/ 5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4 w 25"/>
                      <a:gd name="T23" fmla="*/ 9 h 10"/>
                      <a:gd name="T24" fmla="*/ 8 w 25"/>
                      <a:gd name="T25" fmla="*/ 10 h 10"/>
                      <a:gd name="T26" fmla="*/ 13 w 25"/>
                      <a:gd name="T27" fmla="*/ 10 h 10"/>
                      <a:gd name="T28" fmla="*/ 18 w 25"/>
                      <a:gd name="T29" fmla="*/ 10 h 10"/>
                      <a:gd name="T30" fmla="*/ 23 w 25"/>
                      <a:gd name="T31" fmla="*/ 9 h 10"/>
                      <a:gd name="T32" fmla="*/ 25 w 25"/>
                      <a:gd name="T33" fmla="*/ 9 h 10"/>
                      <a:gd name="T34" fmla="*/ 25 w 25"/>
                      <a:gd name="T35" fmla="*/ 7 h 10"/>
                      <a:gd name="T36" fmla="*/ 25 w 25"/>
                      <a:gd name="T37" fmla="*/ 6 h 10"/>
                      <a:gd name="T38" fmla="*/ 23 w 25"/>
                      <a:gd name="T39" fmla="*/ 6 h 10"/>
                      <a:gd name="T40" fmla="*/ 21 w 25"/>
                      <a:gd name="T41" fmla="*/ 6 h 10"/>
                      <a:gd name="T42" fmla="*/ 21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1" y="0"/>
                        </a:moveTo>
                        <a:lnTo>
                          <a:pt x="18" y="0"/>
                        </a:lnTo>
                        <a:lnTo>
                          <a:pt x="13" y="1"/>
                        </a:lnTo>
                        <a:lnTo>
                          <a:pt x="7" y="0"/>
                        </a:lnTo>
                        <a:lnTo>
                          <a:pt x="5" y="0"/>
                        </a:lnTo>
                        <a:lnTo>
                          <a:pt x="5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4" y="9"/>
                        </a:lnTo>
                        <a:lnTo>
                          <a:pt x="8" y="10"/>
                        </a:lnTo>
                        <a:lnTo>
                          <a:pt x="13" y="10"/>
                        </a:lnTo>
                        <a:lnTo>
                          <a:pt x="18" y="10"/>
                        </a:lnTo>
                        <a:lnTo>
                          <a:pt x="23" y="9"/>
                        </a:lnTo>
                        <a:lnTo>
                          <a:pt x="25" y="9"/>
                        </a:lnTo>
                        <a:lnTo>
                          <a:pt x="25" y="7"/>
                        </a:lnTo>
                        <a:lnTo>
                          <a:pt x="25" y="6"/>
                        </a:lnTo>
                        <a:lnTo>
                          <a:pt x="23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60" name="Freeform 429"/>
                  <p:cNvSpPr>
                    <a:spLocks/>
                  </p:cNvSpPr>
                  <p:nvPr/>
                </p:nvSpPr>
                <p:spPr bwMode="auto">
                  <a:xfrm>
                    <a:off x="3722" y="2535"/>
                    <a:ext cx="25" cy="10"/>
                  </a:xfrm>
                  <a:custGeom>
                    <a:avLst/>
                    <a:gdLst>
                      <a:gd name="T0" fmla="*/ 21 w 25"/>
                      <a:gd name="T1" fmla="*/ 0 h 10"/>
                      <a:gd name="T2" fmla="*/ 18 w 25"/>
                      <a:gd name="T3" fmla="*/ 0 h 10"/>
                      <a:gd name="T4" fmla="*/ 13 w 25"/>
                      <a:gd name="T5" fmla="*/ 1 h 10"/>
                      <a:gd name="T6" fmla="*/ 7 w 25"/>
                      <a:gd name="T7" fmla="*/ 0 h 10"/>
                      <a:gd name="T8" fmla="*/ 5 w 25"/>
                      <a:gd name="T9" fmla="*/ 0 h 10"/>
                      <a:gd name="T10" fmla="*/ 5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4 w 25"/>
                      <a:gd name="T23" fmla="*/ 9 h 10"/>
                      <a:gd name="T24" fmla="*/ 8 w 25"/>
                      <a:gd name="T25" fmla="*/ 10 h 10"/>
                      <a:gd name="T26" fmla="*/ 13 w 25"/>
                      <a:gd name="T27" fmla="*/ 10 h 10"/>
                      <a:gd name="T28" fmla="*/ 18 w 25"/>
                      <a:gd name="T29" fmla="*/ 10 h 10"/>
                      <a:gd name="T30" fmla="*/ 23 w 25"/>
                      <a:gd name="T31" fmla="*/ 9 h 10"/>
                      <a:gd name="T32" fmla="*/ 25 w 25"/>
                      <a:gd name="T33" fmla="*/ 9 h 10"/>
                      <a:gd name="T34" fmla="*/ 25 w 25"/>
                      <a:gd name="T35" fmla="*/ 7 h 10"/>
                      <a:gd name="T36" fmla="*/ 25 w 25"/>
                      <a:gd name="T37" fmla="*/ 6 h 10"/>
                      <a:gd name="T38" fmla="*/ 23 w 25"/>
                      <a:gd name="T39" fmla="*/ 6 h 10"/>
                      <a:gd name="T40" fmla="*/ 21 w 25"/>
                      <a:gd name="T41" fmla="*/ 6 h 10"/>
                      <a:gd name="T42" fmla="*/ 21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1" y="0"/>
                        </a:moveTo>
                        <a:lnTo>
                          <a:pt x="18" y="0"/>
                        </a:lnTo>
                        <a:lnTo>
                          <a:pt x="13" y="1"/>
                        </a:lnTo>
                        <a:lnTo>
                          <a:pt x="7" y="0"/>
                        </a:lnTo>
                        <a:lnTo>
                          <a:pt x="5" y="0"/>
                        </a:lnTo>
                        <a:lnTo>
                          <a:pt x="5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4" y="9"/>
                        </a:lnTo>
                        <a:lnTo>
                          <a:pt x="8" y="10"/>
                        </a:lnTo>
                        <a:lnTo>
                          <a:pt x="13" y="10"/>
                        </a:lnTo>
                        <a:lnTo>
                          <a:pt x="18" y="10"/>
                        </a:lnTo>
                        <a:lnTo>
                          <a:pt x="23" y="9"/>
                        </a:lnTo>
                        <a:lnTo>
                          <a:pt x="25" y="9"/>
                        </a:lnTo>
                        <a:lnTo>
                          <a:pt x="25" y="7"/>
                        </a:lnTo>
                        <a:lnTo>
                          <a:pt x="25" y="6"/>
                        </a:lnTo>
                        <a:lnTo>
                          <a:pt x="23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61" name="Freeform 430"/>
                  <p:cNvSpPr>
                    <a:spLocks/>
                  </p:cNvSpPr>
                  <p:nvPr/>
                </p:nvSpPr>
                <p:spPr bwMode="auto">
                  <a:xfrm>
                    <a:off x="3722" y="2542"/>
                    <a:ext cx="25" cy="7"/>
                  </a:xfrm>
                  <a:custGeom>
                    <a:avLst/>
                    <a:gdLst>
                      <a:gd name="T0" fmla="*/ 25 w 25"/>
                      <a:gd name="T1" fmla="*/ 5 h 7"/>
                      <a:gd name="T2" fmla="*/ 23 w 25"/>
                      <a:gd name="T3" fmla="*/ 6 h 7"/>
                      <a:gd name="T4" fmla="*/ 22 w 25"/>
                      <a:gd name="T5" fmla="*/ 6 h 7"/>
                      <a:gd name="T6" fmla="*/ 17 w 25"/>
                      <a:gd name="T7" fmla="*/ 7 h 7"/>
                      <a:gd name="T8" fmla="*/ 8 w 25"/>
                      <a:gd name="T9" fmla="*/ 7 h 7"/>
                      <a:gd name="T10" fmla="*/ 5 w 25"/>
                      <a:gd name="T11" fmla="*/ 6 h 7"/>
                      <a:gd name="T12" fmla="*/ 4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4 w 25"/>
                      <a:gd name="T25" fmla="*/ 2 h 7"/>
                      <a:gd name="T26" fmla="*/ 8 w 25"/>
                      <a:gd name="T27" fmla="*/ 3 h 7"/>
                      <a:gd name="T28" fmla="*/ 13 w 25"/>
                      <a:gd name="T29" fmla="*/ 3 h 7"/>
                      <a:gd name="T30" fmla="*/ 18 w 25"/>
                      <a:gd name="T31" fmla="*/ 3 h 7"/>
                      <a:gd name="T32" fmla="*/ 23 w 25"/>
                      <a:gd name="T33" fmla="*/ 2 h 7"/>
                      <a:gd name="T34" fmla="*/ 25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5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5" y="5"/>
                        </a:move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17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4" y="2"/>
                        </a:lnTo>
                        <a:lnTo>
                          <a:pt x="8" y="3"/>
                        </a:lnTo>
                        <a:lnTo>
                          <a:pt x="13" y="3"/>
                        </a:lnTo>
                        <a:lnTo>
                          <a:pt x="18" y="3"/>
                        </a:lnTo>
                        <a:lnTo>
                          <a:pt x="23" y="2"/>
                        </a:lnTo>
                        <a:lnTo>
                          <a:pt x="25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62" name="Freeform 431"/>
                  <p:cNvSpPr>
                    <a:spLocks/>
                  </p:cNvSpPr>
                  <p:nvPr/>
                </p:nvSpPr>
                <p:spPr bwMode="auto">
                  <a:xfrm>
                    <a:off x="3722" y="2542"/>
                    <a:ext cx="25" cy="7"/>
                  </a:xfrm>
                  <a:custGeom>
                    <a:avLst/>
                    <a:gdLst>
                      <a:gd name="T0" fmla="*/ 25 w 25"/>
                      <a:gd name="T1" fmla="*/ 5 h 7"/>
                      <a:gd name="T2" fmla="*/ 23 w 25"/>
                      <a:gd name="T3" fmla="*/ 6 h 7"/>
                      <a:gd name="T4" fmla="*/ 22 w 25"/>
                      <a:gd name="T5" fmla="*/ 6 h 7"/>
                      <a:gd name="T6" fmla="*/ 17 w 25"/>
                      <a:gd name="T7" fmla="*/ 7 h 7"/>
                      <a:gd name="T8" fmla="*/ 8 w 25"/>
                      <a:gd name="T9" fmla="*/ 7 h 7"/>
                      <a:gd name="T10" fmla="*/ 5 w 25"/>
                      <a:gd name="T11" fmla="*/ 6 h 7"/>
                      <a:gd name="T12" fmla="*/ 4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4 w 25"/>
                      <a:gd name="T25" fmla="*/ 2 h 7"/>
                      <a:gd name="T26" fmla="*/ 8 w 25"/>
                      <a:gd name="T27" fmla="*/ 3 h 7"/>
                      <a:gd name="T28" fmla="*/ 13 w 25"/>
                      <a:gd name="T29" fmla="*/ 3 h 7"/>
                      <a:gd name="T30" fmla="*/ 18 w 25"/>
                      <a:gd name="T31" fmla="*/ 3 h 7"/>
                      <a:gd name="T32" fmla="*/ 23 w 25"/>
                      <a:gd name="T33" fmla="*/ 2 h 7"/>
                      <a:gd name="T34" fmla="*/ 25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5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5" y="5"/>
                        </a:move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17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4" y="2"/>
                        </a:lnTo>
                        <a:lnTo>
                          <a:pt x="8" y="3"/>
                        </a:lnTo>
                        <a:lnTo>
                          <a:pt x="13" y="3"/>
                        </a:lnTo>
                        <a:lnTo>
                          <a:pt x="18" y="3"/>
                        </a:lnTo>
                        <a:lnTo>
                          <a:pt x="23" y="2"/>
                        </a:lnTo>
                        <a:lnTo>
                          <a:pt x="25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63" name="Freeform 432"/>
                  <p:cNvSpPr>
                    <a:spLocks/>
                  </p:cNvSpPr>
                  <p:nvPr/>
                </p:nvSpPr>
                <p:spPr bwMode="auto">
                  <a:xfrm>
                    <a:off x="3721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1 w 27"/>
                      <a:gd name="T7" fmla="*/ 127 h 128"/>
                      <a:gd name="T8" fmla="*/ 17 w 27"/>
                      <a:gd name="T9" fmla="*/ 127 h 128"/>
                      <a:gd name="T10" fmla="*/ 15 w 27"/>
                      <a:gd name="T11" fmla="*/ 128 h 128"/>
                      <a:gd name="T12" fmla="*/ 12 w 27"/>
                      <a:gd name="T13" fmla="*/ 128 h 128"/>
                      <a:gd name="T14" fmla="*/ 9 w 27"/>
                      <a:gd name="T15" fmla="*/ 127 h 128"/>
                      <a:gd name="T16" fmla="*/ 6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1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6 w 27"/>
                      <a:gd name="T31" fmla="*/ 0 h 128"/>
                      <a:gd name="T32" fmla="*/ 9 w 27"/>
                      <a:gd name="T33" fmla="*/ 1 h 128"/>
                      <a:gd name="T34" fmla="*/ 18 w 27"/>
                      <a:gd name="T35" fmla="*/ 1 h 128"/>
                      <a:gd name="T36" fmla="*/ 22 w 27"/>
                      <a:gd name="T37" fmla="*/ 0 h 128"/>
                      <a:gd name="T38" fmla="*/ 24 w 27"/>
                      <a:gd name="T39" fmla="*/ 124 h 128"/>
                      <a:gd name="T40" fmla="*/ 25 w 27"/>
                      <a:gd name="T41" fmla="*/ 124 h 128"/>
                      <a:gd name="T42" fmla="*/ 26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1" y="127"/>
                        </a:lnTo>
                        <a:lnTo>
                          <a:pt x="17" y="127"/>
                        </a:lnTo>
                        <a:lnTo>
                          <a:pt x="15" y="128"/>
                        </a:lnTo>
                        <a:lnTo>
                          <a:pt x="12" y="128"/>
                        </a:lnTo>
                        <a:lnTo>
                          <a:pt x="9" y="127"/>
                        </a:lnTo>
                        <a:lnTo>
                          <a:pt x="6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1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6" y="0"/>
                        </a:lnTo>
                        <a:lnTo>
                          <a:pt x="9" y="1"/>
                        </a:lnTo>
                        <a:lnTo>
                          <a:pt x="18" y="1"/>
                        </a:lnTo>
                        <a:lnTo>
                          <a:pt x="22" y="0"/>
                        </a:lnTo>
                        <a:lnTo>
                          <a:pt x="24" y="124"/>
                        </a:lnTo>
                        <a:lnTo>
                          <a:pt x="25" y="124"/>
                        </a:lnTo>
                        <a:lnTo>
                          <a:pt x="26" y="124"/>
                        </a:lnTo>
                        <a:lnTo>
                          <a:pt x="27" y="1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64" name="Freeform 433"/>
                  <p:cNvSpPr>
                    <a:spLocks/>
                  </p:cNvSpPr>
                  <p:nvPr/>
                </p:nvSpPr>
                <p:spPr bwMode="auto">
                  <a:xfrm>
                    <a:off x="3721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1 w 27"/>
                      <a:gd name="T7" fmla="*/ 127 h 128"/>
                      <a:gd name="T8" fmla="*/ 17 w 27"/>
                      <a:gd name="T9" fmla="*/ 127 h 128"/>
                      <a:gd name="T10" fmla="*/ 15 w 27"/>
                      <a:gd name="T11" fmla="*/ 128 h 128"/>
                      <a:gd name="T12" fmla="*/ 12 w 27"/>
                      <a:gd name="T13" fmla="*/ 128 h 128"/>
                      <a:gd name="T14" fmla="*/ 9 w 27"/>
                      <a:gd name="T15" fmla="*/ 127 h 128"/>
                      <a:gd name="T16" fmla="*/ 6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1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6 w 27"/>
                      <a:gd name="T31" fmla="*/ 0 h 128"/>
                      <a:gd name="T32" fmla="*/ 9 w 27"/>
                      <a:gd name="T33" fmla="*/ 1 h 128"/>
                      <a:gd name="T34" fmla="*/ 18 w 27"/>
                      <a:gd name="T35" fmla="*/ 1 h 128"/>
                      <a:gd name="T36" fmla="*/ 22 w 27"/>
                      <a:gd name="T37" fmla="*/ 0 h 128"/>
                      <a:gd name="T38" fmla="*/ 24 w 27"/>
                      <a:gd name="T39" fmla="*/ 124 h 128"/>
                      <a:gd name="T40" fmla="*/ 25 w 27"/>
                      <a:gd name="T41" fmla="*/ 124 h 128"/>
                      <a:gd name="T42" fmla="*/ 26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1" y="127"/>
                        </a:lnTo>
                        <a:lnTo>
                          <a:pt x="17" y="127"/>
                        </a:lnTo>
                        <a:lnTo>
                          <a:pt x="15" y="128"/>
                        </a:lnTo>
                        <a:lnTo>
                          <a:pt x="12" y="128"/>
                        </a:lnTo>
                        <a:lnTo>
                          <a:pt x="9" y="127"/>
                        </a:lnTo>
                        <a:lnTo>
                          <a:pt x="6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1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6" y="0"/>
                        </a:lnTo>
                        <a:lnTo>
                          <a:pt x="9" y="1"/>
                        </a:lnTo>
                        <a:lnTo>
                          <a:pt x="18" y="1"/>
                        </a:lnTo>
                        <a:lnTo>
                          <a:pt x="22" y="0"/>
                        </a:lnTo>
                        <a:lnTo>
                          <a:pt x="24" y="124"/>
                        </a:lnTo>
                        <a:lnTo>
                          <a:pt x="25" y="124"/>
                        </a:lnTo>
                        <a:lnTo>
                          <a:pt x="26" y="124"/>
                        </a:lnTo>
                        <a:lnTo>
                          <a:pt x="27" y="12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65" name="Freeform 434"/>
                  <p:cNvSpPr>
                    <a:spLocks/>
                  </p:cNvSpPr>
                  <p:nvPr/>
                </p:nvSpPr>
                <p:spPr bwMode="auto">
                  <a:xfrm>
                    <a:off x="3721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6 w 27"/>
                      <a:gd name="T7" fmla="*/ 2 h 7"/>
                      <a:gd name="T8" fmla="*/ 9 w 27"/>
                      <a:gd name="T9" fmla="*/ 3 h 7"/>
                      <a:gd name="T10" fmla="*/ 12 w 27"/>
                      <a:gd name="T11" fmla="*/ 3 h 7"/>
                      <a:gd name="T12" fmla="*/ 15 w 27"/>
                      <a:gd name="T13" fmla="*/ 3 h 7"/>
                      <a:gd name="T14" fmla="*/ 17 w 27"/>
                      <a:gd name="T15" fmla="*/ 3 h 7"/>
                      <a:gd name="T16" fmla="*/ 21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4 w 27"/>
                      <a:gd name="T29" fmla="*/ 5 h 7"/>
                      <a:gd name="T30" fmla="*/ 21 w 27"/>
                      <a:gd name="T31" fmla="*/ 6 h 7"/>
                      <a:gd name="T32" fmla="*/ 17 w 27"/>
                      <a:gd name="T33" fmla="*/ 7 h 7"/>
                      <a:gd name="T34" fmla="*/ 15 w 27"/>
                      <a:gd name="T35" fmla="*/ 7 h 7"/>
                      <a:gd name="T36" fmla="*/ 12 w 27"/>
                      <a:gd name="T37" fmla="*/ 7 h 7"/>
                      <a:gd name="T38" fmla="*/ 9 w 27"/>
                      <a:gd name="T39" fmla="*/ 7 h 7"/>
                      <a:gd name="T40" fmla="*/ 6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6" y="2"/>
                        </a:lnTo>
                        <a:lnTo>
                          <a:pt x="9" y="3"/>
                        </a:lnTo>
                        <a:lnTo>
                          <a:pt x="12" y="3"/>
                        </a:lnTo>
                        <a:lnTo>
                          <a:pt x="15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4" y="5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15" y="7"/>
                        </a:lnTo>
                        <a:lnTo>
                          <a:pt x="12" y="7"/>
                        </a:lnTo>
                        <a:lnTo>
                          <a:pt x="9" y="7"/>
                        </a:lnTo>
                        <a:lnTo>
                          <a:pt x="6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66" name="Freeform 435"/>
                  <p:cNvSpPr>
                    <a:spLocks/>
                  </p:cNvSpPr>
                  <p:nvPr/>
                </p:nvSpPr>
                <p:spPr bwMode="auto">
                  <a:xfrm>
                    <a:off x="3721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6 w 27"/>
                      <a:gd name="T7" fmla="*/ 2 h 7"/>
                      <a:gd name="T8" fmla="*/ 9 w 27"/>
                      <a:gd name="T9" fmla="*/ 3 h 7"/>
                      <a:gd name="T10" fmla="*/ 12 w 27"/>
                      <a:gd name="T11" fmla="*/ 3 h 7"/>
                      <a:gd name="T12" fmla="*/ 15 w 27"/>
                      <a:gd name="T13" fmla="*/ 3 h 7"/>
                      <a:gd name="T14" fmla="*/ 17 w 27"/>
                      <a:gd name="T15" fmla="*/ 3 h 7"/>
                      <a:gd name="T16" fmla="*/ 21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4 w 27"/>
                      <a:gd name="T29" fmla="*/ 5 h 7"/>
                      <a:gd name="T30" fmla="*/ 21 w 27"/>
                      <a:gd name="T31" fmla="*/ 6 h 7"/>
                      <a:gd name="T32" fmla="*/ 17 w 27"/>
                      <a:gd name="T33" fmla="*/ 7 h 7"/>
                      <a:gd name="T34" fmla="*/ 15 w 27"/>
                      <a:gd name="T35" fmla="*/ 7 h 7"/>
                      <a:gd name="T36" fmla="*/ 12 w 27"/>
                      <a:gd name="T37" fmla="*/ 7 h 7"/>
                      <a:gd name="T38" fmla="*/ 9 w 27"/>
                      <a:gd name="T39" fmla="*/ 7 h 7"/>
                      <a:gd name="T40" fmla="*/ 6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6" y="2"/>
                        </a:lnTo>
                        <a:lnTo>
                          <a:pt x="9" y="3"/>
                        </a:lnTo>
                        <a:lnTo>
                          <a:pt x="12" y="3"/>
                        </a:lnTo>
                        <a:lnTo>
                          <a:pt x="15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4" y="5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15" y="7"/>
                        </a:lnTo>
                        <a:lnTo>
                          <a:pt x="12" y="7"/>
                        </a:lnTo>
                        <a:lnTo>
                          <a:pt x="9" y="7"/>
                        </a:lnTo>
                        <a:lnTo>
                          <a:pt x="6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67" name="Freeform 436"/>
                  <p:cNvSpPr>
                    <a:spLocks/>
                  </p:cNvSpPr>
                  <p:nvPr/>
                </p:nvSpPr>
                <p:spPr bwMode="auto">
                  <a:xfrm>
                    <a:off x="3791" y="2529"/>
                    <a:ext cx="6" cy="3"/>
                  </a:xfrm>
                  <a:custGeom>
                    <a:avLst/>
                    <a:gdLst>
                      <a:gd name="T0" fmla="*/ 0 w 6"/>
                      <a:gd name="T1" fmla="*/ 0 h 3"/>
                      <a:gd name="T2" fmla="*/ 0 w 6"/>
                      <a:gd name="T3" fmla="*/ 3 h 3"/>
                      <a:gd name="T4" fmla="*/ 6 w 6"/>
                      <a:gd name="T5" fmla="*/ 0 h 3"/>
                      <a:gd name="T6" fmla="*/ 0 w 6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"/>
                      <a:gd name="T13" fmla="*/ 0 h 3"/>
                      <a:gd name="T14" fmla="*/ 6 w 6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68" name="Freeform 437"/>
                  <p:cNvSpPr>
                    <a:spLocks/>
                  </p:cNvSpPr>
                  <p:nvPr/>
                </p:nvSpPr>
                <p:spPr bwMode="auto">
                  <a:xfrm>
                    <a:off x="3791" y="2529"/>
                    <a:ext cx="6" cy="3"/>
                  </a:xfrm>
                  <a:custGeom>
                    <a:avLst/>
                    <a:gdLst>
                      <a:gd name="T0" fmla="*/ 0 w 6"/>
                      <a:gd name="T1" fmla="*/ 0 h 3"/>
                      <a:gd name="T2" fmla="*/ 0 w 6"/>
                      <a:gd name="T3" fmla="*/ 3 h 3"/>
                      <a:gd name="T4" fmla="*/ 6 w 6"/>
                      <a:gd name="T5" fmla="*/ 0 h 3"/>
                      <a:gd name="T6" fmla="*/ 0 w 6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"/>
                      <a:gd name="T13" fmla="*/ 0 h 3"/>
                      <a:gd name="T14" fmla="*/ 6 w 6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6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69" name="Rectangle 438"/>
                  <p:cNvSpPr>
                    <a:spLocks noChangeArrowheads="1"/>
                  </p:cNvSpPr>
                  <p:nvPr/>
                </p:nvSpPr>
                <p:spPr bwMode="auto">
                  <a:xfrm>
                    <a:off x="3766" y="2529"/>
                    <a:ext cx="25" cy="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70" name="Rectangle 439"/>
                  <p:cNvSpPr>
                    <a:spLocks noChangeArrowheads="1"/>
                  </p:cNvSpPr>
                  <p:nvPr/>
                </p:nvSpPr>
                <p:spPr bwMode="auto">
                  <a:xfrm>
                    <a:off x="3766" y="2529"/>
                    <a:ext cx="25" cy="3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71" name="Freeform 440"/>
                  <p:cNvSpPr>
                    <a:spLocks/>
                  </p:cNvSpPr>
                  <p:nvPr/>
                </p:nvSpPr>
                <p:spPr bwMode="auto">
                  <a:xfrm>
                    <a:off x="3767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0 w 24"/>
                      <a:gd name="T5" fmla="*/ 2 h 3"/>
                      <a:gd name="T6" fmla="*/ 2 w 24"/>
                      <a:gd name="T7" fmla="*/ 2 h 3"/>
                      <a:gd name="T8" fmla="*/ 3 w 24"/>
                      <a:gd name="T9" fmla="*/ 2 h 3"/>
                      <a:gd name="T10" fmla="*/ 6 w 24"/>
                      <a:gd name="T11" fmla="*/ 3 h 3"/>
                      <a:gd name="T12" fmla="*/ 12 w 24"/>
                      <a:gd name="T13" fmla="*/ 3 h 3"/>
                      <a:gd name="T14" fmla="*/ 17 w 24"/>
                      <a:gd name="T15" fmla="*/ 3 h 3"/>
                      <a:gd name="T16" fmla="*/ 21 w 24"/>
                      <a:gd name="T17" fmla="*/ 2 h 3"/>
                      <a:gd name="T18" fmla="*/ 23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0 h 3"/>
                      <a:gd name="T24" fmla="*/ 0 w 24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"/>
                      <a:gd name="T40" fmla="*/ 0 h 3"/>
                      <a:gd name="T41" fmla="*/ 24 w 24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0" y="2"/>
                        </a:lnTo>
                        <a:lnTo>
                          <a:pt x="2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72" name="Freeform 441"/>
                  <p:cNvSpPr>
                    <a:spLocks/>
                  </p:cNvSpPr>
                  <p:nvPr/>
                </p:nvSpPr>
                <p:spPr bwMode="auto">
                  <a:xfrm>
                    <a:off x="3767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0 w 24"/>
                      <a:gd name="T5" fmla="*/ 2 h 3"/>
                      <a:gd name="T6" fmla="*/ 2 w 24"/>
                      <a:gd name="T7" fmla="*/ 2 h 3"/>
                      <a:gd name="T8" fmla="*/ 3 w 24"/>
                      <a:gd name="T9" fmla="*/ 2 h 3"/>
                      <a:gd name="T10" fmla="*/ 6 w 24"/>
                      <a:gd name="T11" fmla="*/ 3 h 3"/>
                      <a:gd name="T12" fmla="*/ 12 w 24"/>
                      <a:gd name="T13" fmla="*/ 3 h 3"/>
                      <a:gd name="T14" fmla="*/ 17 w 24"/>
                      <a:gd name="T15" fmla="*/ 3 h 3"/>
                      <a:gd name="T16" fmla="*/ 21 w 24"/>
                      <a:gd name="T17" fmla="*/ 2 h 3"/>
                      <a:gd name="T18" fmla="*/ 23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0 h 3"/>
                      <a:gd name="T24" fmla="*/ 0 w 24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"/>
                      <a:gd name="T40" fmla="*/ 0 h 3"/>
                      <a:gd name="T41" fmla="*/ 24 w 24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0" y="2"/>
                        </a:lnTo>
                        <a:lnTo>
                          <a:pt x="2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73" name="Freeform 442"/>
                  <p:cNvSpPr>
                    <a:spLocks/>
                  </p:cNvSpPr>
                  <p:nvPr/>
                </p:nvSpPr>
                <p:spPr bwMode="auto">
                  <a:xfrm>
                    <a:off x="3766" y="2535"/>
                    <a:ext cx="25" cy="10"/>
                  </a:xfrm>
                  <a:custGeom>
                    <a:avLst/>
                    <a:gdLst>
                      <a:gd name="T0" fmla="*/ 20 w 25"/>
                      <a:gd name="T1" fmla="*/ 0 h 10"/>
                      <a:gd name="T2" fmla="*/ 18 w 25"/>
                      <a:gd name="T3" fmla="*/ 0 h 10"/>
                      <a:gd name="T4" fmla="*/ 12 w 25"/>
                      <a:gd name="T5" fmla="*/ 1 h 10"/>
                      <a:gd name="T6" fmla="*/ 7 w 25"/>
                      <a:gd name="T7" fmla="*/ 0 h 10"/>
                      <a:gd name="T8" fmla="*/ 3 w 25"/>
                      <a:gd name="T9" fmla="*/ 0 h 10"/>
                      <a:gd name="T10" fmla="*/ 3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3 w 25"/>
                      <a:gd name="T23" fmla="*/ 9 h 10"/>
                      <a:gd name="T24" fmla="*/ 7 w 25"/>
                      <a:gd name="T25" fmla="*/ 10 h 10"/>
                      <a:gd name="T26" fmla="*/ 12 w 25"/>
                      <a:gd name="T27" fmla="*/ 10 h 10"/>
                      <a:gd name="T28" fmla="*/ 18 w 25"/>
                      <a:gd name="T29" fmla="*/ 10 h 10"/>
                      <a:gd name="T30" fmla="*/ 22 w 25"/>
                      <a:gd name="T31" fmla="*/ 9 h 10"/>
                      <a:gd name="T32" fmla="*/ 25 w 25"/>
                      <a:gd name="T33" fmla="*/ 9 h 10"/>
                      <a:gd name="T34" fmla="*/ 25 w 25"/>
                      <a:gd name="T35" fmla="*/ 7 h 10"/>
                      <a:gd name="T36" fmla="*/ 25 w 25"/>
                      <a:gd name="T37" fmla="*/ 6 h 10"/>
                      <a:gd name="T38" fmla="*/ 23 w 25"/>
                      <a:gd name="T39" fmla="*/ 6 h 10"/>
                      <a:gd name="T40" fmla="*/ 20 w 25"/>
                      <a:gd name="T41" fmla="*/ 6 h 10"/>
                      <a:gd name="T42" fmla="*/ 20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7" y="0"/>
                        </a:lnTo>
                        <a:lnTo>
                          <a:pt x="3" y="0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3" y="9"/>
                        </a:lnTo>
                        <a:lnTo>
                          <a:pt x="7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2" y="9"/>
                        </a:lnTo>
                        <a:lnTo>
                          <a:pt x="25" y="9"/>
                        </a:lnTo>
                        <a:lnTo>
                          <a:pt x="25" y="7"/>
                        </a:lnTo>
                        <a:lnTo>
                          <a:pt x="25" y="6"/>
                        </a:lnTo>
                        <a:lnTo>
                          <a:pt x="23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74" name="Freeform 443"/>
                  <p:cNvSpPr>
                    <a:spLocks/>
                  </p:cNvSpPr>
                  <p:nvPr/>
                </p:nvSpPr>
                <p:spPr bwMode="auto">
                  <a:xfrm>
                    <a:off x="3766" y="2535"/>
                    <a:ext cx="25" cy="10"/>
                  </a:xfrm>
                  <a:custGeom>
                    <a:avLst/>
                    <a:gdLst>
                      <a:gd name="T0" fmla="*/ 20 w 25"/>
                      <a:gd name="T1" fmla="*/ 0 h 10"/>
                      <a:gd name="T2" fmla="*/ 18 w 25"/>
                      <a:gd name="T3" fmla="*/ 0 h 10"/>
                      <a:gd name="T4" fmla="*/ 12 w 25"/>
                      <a:gd name="T5" fmla="*/ 1 h 10"/>
                      <a:gd name="T6" fmla="*/ 7 w 25"/>
                      <a:gd name="T7" fmla="*/ 0 h 10"/>
                      <a:gd name="T8" fmla="*/ 3 w 25"/>
                      <a:gd name="T9" fmla="*/ 0 h 10"/>
                      <a:gd name="T10" fmla="*/ 3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3 w 25"/>
                      <a:gd name="T23" fmla="*/ 9 h 10"/>
                      <a:gd name="T24" fmla="*/ 7 w 25"/>
                      <a:gd name="T25" fmla="*/ 10 h 10"/>
                      <a:gd name="T26" fmla="*/ 12 w 25"/>
                      <a:gd name="T27" fmla="*/ 10 h 10"/>
                      <a:gd name="T28" fmla="*/ 18 w 25"/>
                      <a:gd name="T29" fmla="*/ 10 h 10"/>
                      <a:gd name="T30" fmla="*/ 22 w 25"/>
                      <a:gd name="T31" fmla="*/ 9 h 10"/>
                      <a:gd name="T32" fmla="*/ 25 w 25"/>
                      <a:gd name="T33" fmla="*/ 9 h 10"/>
                      <a:gd name="T34" fmla="*/ 25 w 25"/>
                      <a:gd name="T35" fmla="*/ 7 h 10"/>
                      <a:gd name="T36" fmla="*/ 25 w 25"/>
                      <a:gd name="T37" fmla="*/ 6 h 10"/>
                      <a:gd name="T38" fmla="*/ 23 w 25"/>
                      <a:gd name="T39" fmla="*/ 6 h 10"/>
                      <a:gd name="T40" fmla="*/ 20 w 25"/>
                      <a:gd name="T41" fmla="*/ 6 h 10"/>
                      <a:gd name="T42" fmla="*/ 20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7" y="0"/>
                        </a:lnTo>
                        <a:lnTo>
                          <a:pt x="3" y="0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3" y="9"/>
                        </a:lnTo>
                        <a:lnTo>
                          <a:pt x="7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2" y="9"/>
                        </a:lnTo>
                        <a:lnTo>
                          <a:pt x="25" y="9"/>
                        </a:lnTo>
                        <a:lnTo>
                          <a:pt x="25" y="7"/>
                        </a:lnTo>
                        <a:lnTo>
                          <a:pt x="25" y="6"/>
                        </a:lnTo>
                        <a:lnTo>
                          <a:pt x="23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75" name="Freeform 444"/>
                  <p:cNvSpPr>
                    <a:spLocks/>
                  </p:cNvSpPr>
                  <p:nvPr/>
                </p:nvSpPr>
                <p:spPr bwMode="auto">
                  <a:xfrm>
                    <a:off x="3766" y="2542"/>
                    <a:ext cx="25" cy="7"/>
                  </a:xfrm>
                  <a:custGeom>
                    <a:avLst/>
                    <a:gdLst>
                      <a:gd name="T0" fmla="*/ 25 w 25"/>
                      <a:gd name="T1" fmla="*/ 5 h 7"/>
                      <a:gd name="T2" fmla="*/ 22 w 25"/>
                      <a:gd name="T3" fmla="*/ 6 h 7"/>
                      <a:gd name="T4" fmla="*/ 20 w 25"/>
                      <a:gd name="T5" fmla="*/ 6 h 7"/>
                      <a:gd name="T6" fmla="*/ 16 w 25"/>
                      <a:gd name="T7" fmla="*/ 7 h 7"/>
                      <a:gd name="T8" fmla="*/ 7 w 25"/>
                      <a:gd name="T9" fmla="*/ 7 h 7"/>
                      <a:gd name="T10" fmla="*/ 3 w 25"/>
                      <a:gd name="T11" fmla="*/ 6 h 7"/>
                      <a:gd name="T12" fmla="*/ 3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3 w 25"/>
                      <a:gd name="T25" fmla="*/ 2 h 7"/>
                      <a:gd name="T26" fmla="*/ 7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2 w 25"/>
                      <a:gd name="T33" fmla="*/ 2 h 7"/>
                      <a:gd name="T34" fmla="*/ 25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5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5" y="5"/>
                        </a:move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6" y="7"/>
                        </a:lnTo>
                        <a:lnTo>
                          <a:pt x="7" y="7"/>
                        </a:lnTo>
                        <a:lnTo>
                          <a:pt x="3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3" y="2"/>
                        </a:lnTo>
                        <a:lnTo>
                          <a:pt x="7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2" y="2"/>
                        </a:lnTo>
                        <a:lnTo>
                          <a:pt x="25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76" name="Freeform 445"/>
                  <p:cNvSpPr>
                    <a:spLocks/>
                  </p:cNvSpPr>
                  <p:nvPr/>
                </p:nvSpPr>
                <p:spPr bwMode="auto">
                  <a:xfrm>
                    <a:off x="3766" y="2542"/>
                    <a:ext cx="25" cy="7"/>
                  </a:xfrm>
                  <a:custGeom>
                    <a:avLst/>
                    <a:gdLst>
                      <a:gd name="T0" fmla="*/ 25 w 25"/>
                      <a:gd name="T1" fmla="*/ 5 h 7"/>
                      <a:gd name="T2" fmla="*/ 22 w 25"/>
                      <a:gd name="T3" fmla="*/ 6 h 7"/>
                      <a:gd name="T4" fmla="*/ 20 w 25"/>
                      <a:gd name="T5" fmla="*/ 6 h 7"/>
                      <a:gd name="T6" fmla="*/ 16 w 25"/>
                      <a:gd name="T7" fmla="*/ 7 h 7"/>
                      <a:gd name="T8" fmla="*/ 7 w 25"/>
                      <a:gd name="T9" fmla="*/ 7 h 7"/>
                      <a:gd name="T10" fmla="*/ 3 w 25"/>
                      <a:gd name="T11" fmla="*/ 6 h 7"/>
                      <a:gd name="T12" fmla="*/ 3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3 w 25"/>
                      <a:gd name="T25" fmla="*/ 2 h 7"/>
                      <a:gd name="T26" fmla="*/ 7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2 w 25"/>
                      <a:gd name="T33" fmla="*/ 2 h 7"/>
                      <a:gd name="T34" fmla="*/ 25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5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5" y="5"/>
                        </a:move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6" y="7"/>
                        </a:lnTo>
                        <a:lnTo>
                          <a:pt x="7" y="7"/>
                        </a:lnTo>
                        <a:lnTo>
                          <a:pt x="3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3" y="2"/>
                        </a:lnTo>
                        <a:lnTo>
                          <a:pt x="7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2" y="2"/>
                        </a:lnTo>
                        <a:lnTo>
                          <a:pt x="25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77" name="Freeform 446"/>
                  <p:cNvSpPr>
                    <a:spLocks/>
                  </p:cNvSpPr>
                  <p:nvPr/>
                </p:nvSpPr>
                <p:spPr bwMode="auto">
                  <a:xfrm>
                    <a:off x="3765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0 w 27"/>
                      <a:gd name="T7" fmla="*/ 127 h 128"/>
                      <a:gd name="T8" fmla="*/ 17 w 27"/>
                      <a:gd name="T9" fmla="*/ 127 h 128"/>
                      <a:gd name="T10" fmla="*/ 14 w 27"/>
                      <a:gd name="T11" fmla="*/ 128 h 128"/>
                      <a:gd name="T12" fmla="*/ 12 w 27"/>
                      <a:gd name="T13" fmla="*/ 128 h 128"/>
                      <a:gd name="T14" fmla="*/ 9 w 27"/>
                      <a:gd name="T15" fmla="*/ 127 h 128"/>
                      <a:gd name="T16" fmla="*/ 5 w 27"/>
                      <a:gd name="T17" fmla="*/ 127 h 128"/>
                      <a:gd name="T18" fmla="*/ 2 w 27"/>
                      <a:gd name="T19" fmla="*/ 126 h 128"/>
                      <a:gd name="T20" fmla="*/ 0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4 w 27"/>
                      <a:gd name="T31" fmla="*/ 0 h 128"/>
                      <a:gd name="T32" fmla="*/ 8 w 27"/>
                      <a:gd name="T33" fmla="*/ 1 h 128"/>
                      <a:gd name="T34" fmla="*/ 17 w 27"/>
                      <a:gd name="T35" fmla="*/ 1 h 128"/>
                      <a:gd name="T36" fmla="*/ 21 w 27"/>
                      <a:gd name="T37" fmla="*/ 0 h 128"/>
                      <a:gd name="T38" fmla="*/ 24 w 27"/>
                      <a:gd name="T39" fmla="*/ 124 h 128"/>
                      <a:gd name="T40" fmla="*/ 26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0" y="127"/>
                        </a:lnTo>
                        <a:lnTo>
                          <a:pt x="17" y="127"/>
                        </a:lnTo>
                        <a:lnTo>
                          <a:pt x="14" y="128"/>
                        </a:lnTo>
                        <a:lnTo>
                          <a:pt x="12" y="128"/>
                        </a:lnTo>
                        <a:lnTo>
                          <a:pt x="9" y="127"/>
                        </a:lnTo>
                        <a:lnTo>
                          <a:pt x="5" y="127"/>
                        </a:lnTo>
                        <a:lnTo>
                          <a:pt x="2" y="126"/>
                        </a:lnTo>
                        <a:lnTo>
                          <a:pt x="0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4" y="0"/>
                        </a:lnTo>
                        <a:lnTo>
                          <a:pt x="8" y="1"/>
                        </a:lnTo>
                        <a:lnTo>
                          <a:pt x="17" y="1"/>
                        </a:lnTo>
                        <a:lnTo>
                          <a:pt x="21" y="0"/>
                        </a:lnTo>
                        <a:lnTo>
                          <a:pt x="24" y="124"/>
                        </a:lnTo>
                        <a:lnTo>
                          <a:pt x="26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78" name="Freeform 447"/>
                  <p:cNvSpPr>
                    <a:spLocks/>
                  </p:cNvSpPr>
                  <p:nvPr/>
                </p:nvSpPr>
                <p:spPr bwMode="auto">
                  <a:xfrm>
                    <a:off x="3765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0 w 27"/>
                      <a:gd name="T7" fmla="*/ 127 h 128"/>
                      <a:gd name="T8" fmla="*/ 17 w 27"/>
                      <a:gd name="T9" fmla="*/ 127 h 128"/>
                      <a:gd name="T10" fmla="*/ 14 w 27"/>
                      <a:gd name="T11" fmla="*/ 128 h 128"/>
                      <a:gd name="T12" fmla="*/ 12 w 27"/>
                      <a:gd name="T13" fmla="*/ 128 h 128"/>
                      <a:gd name="T14" fmla="*/ 9 w 27"/>
                      <a:gd name="T15" fmla="*/ 127 h 128"/>
                      <a:gd name="T16" fmla="*/ 5 w 27"/>
                      <a:gd name="T17" fmla="*/ 127 h 128"/>
                      <a:gd name="T18" fmla="*/ 2 w 27"/>
                      <a:gd name="T19" fmla="*/ 126 h 128"/>
                      <a:gd name="T20" fmla="*/ 0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4 w 27"/>
                      <a:gd name="T31" fmla="*/ 0 h 128"/>
                      <a:gd name="T32" fmla="*/ 8 w 27"/>
                      <a:gd name="T33" fmla="*/ 1 h 128"/>
                      <a:gd name="T34" fmla="*/ 17 w 27"/>
                      <a:gd name="T35" fmla="*/ 1 h 128"/>
                      <a:gd name="T36" fmla="*/ 21 w 27"/>
                      <a:gd name="T37" fmla="*/ 0 h 128"/>
                      <a:gd name="T38" fmla="*/ 24 w 27"/>
                      <a:gd name="T39" fmla="*/ 124 h 128"/>
                      <a:gd name="T40" fmla="*/ 26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0" y="127"/>
                        </a:lnTo>
                        <a:lnTo>
                          <a:pt x="17" y="127"/>
                        </a:lnTo>
                        <a:lnTo>
                          <a:pt x="14" y="128"/>
                        </a:lnTo>
                        <a:lnTo>
                          <a:pt x="12" y="128"/>
                        </a:lnTo>
                        <a:lnTo>
                          <a:pt x="9" y="127"/>
                        </a:lnTo>
                        <a:lnTo>
                          <a:pt x="5" y="127"/>
                        </a:lnTo>
                        <a:lnTo>
                          <a:pt x="2" y="126"/>
                        </a:lnTo>
                        <a:lnTo>
                          <a:pt x="0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4" y="0"/>
                        </a:lnTo>
                        <a:lnTo>
                          <a:pt x="8" y="1"/>
                        </a:lnTo>
                        <a:lnTo>
                          <a:pt x="17" y="1"/>
                        </a:lnTo>
                        <a:lnTo>
                          <a:pt x="21" y="0"/>
                        </a:lnTo>
                        <a:lnTo>
                          <a:pt x="24" y="124"/>
                        </a:lnTo>
                        <a:lnTo>
                          <a:pt x="26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79" name="Freeform 448"/>
                  <p:cNvSpPr>
                    <a:spLocks/>
                  </p:cNvSpPr>
                  <p:nvPr/>
                </p:nvSpPr>
                <p:spPr bwMode="auto">
                  <a:xfrm>
                    <a:off x="3765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0 w 27"/>
                      <a:gd name="T3" fmla="*/ 1 h 7"/>
                      <a:gd name="T4" fmla="*/ 2 w 27"/>
                      <a:gd name="T5" fmla="*/ 2 h 7"/>
                      <a:gd name="T6" fmla="*/ 5 w 27"/>
                      <a:gd name="T7" fmla="*/ 2 h 7"/>
                      <a:gd name="T8" fmla="*/ 9 w 27"/>
                      <a:gd name="T9" fmla="*/ 3 h 7"/>
                      <a:gd name="T10" fmla="*/ 12 w 27"/>
                      <a:gd name="T11" fmla="*/ 3 h 7"/>
                      <a:gd name="T12" fmla="*/ 14 w 27"/>
                      <a:gd name="T13" fmla="*/ 3 h 7"/>
                      <a:gd name="T14" fmla="*/ 17 w 27"/>
                      <a:gd name="T15" fmla="*/ 3 h 7"/>
                      <a:gd name="T16" fmla="*/ 20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4 w 27"/>
                      <a:gd name="T29" fmla="*/ 5 h 7"/>
                      <a:gd name="T30" fmla="*/ 20 w 27"/>
                      <a:gd name="T31" fmla="*/ 6 h 7"/>
                      <a:gd name="T32" fmla="*/ 17 w 27"/>
                      <a:gd name="T33" fmla="*/ 7 h 7"/>
                      <a:gd name="T34" fmla="*/ 14 w 27"/>
                      <a:gd name="T35" fmla="*/ 7 h 7"/>
                      <a:gd name="T36" fmla="*/ 12 w 27"/>
                      <a:gd name="T37" fmla="*/ 7 h 7"/>
                      <a:gd name="T38" fmla="*/ 9 w 27"/>
                      <a:gd name="T39" fmla="*/ 7 h 7"/>
                      <a:gd name="T40" fmla="*/ 5 w 27"/>
                      <a:gd name="T41" fmla="*/ 6 h 7"/>
                      <a:gd name="T42" fmla="*/ 2 w 27"/>
                      <a:gd name="T43" fmla="*/ 5 h 7"/>
                      <a:gd name="T44" fmla="*/ 0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2" y="2"/>
                        </a:lnTo>
                        <a:lnTo>
                          <a:pt x="5" y="2"/>
                        </a:lnTo>
                        <a:lnTo>
                          <a:pt x="9" y="3"/>
                        </a:lnTo>
                        <a:lnTo>
                          <a:pt x="12" y="3"/>
                        </a:lnTo>
                        <a:lnTo>
                          <a:pt x="14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4" y="5"/>
                        </a:lnTo>
                        <a:lnTo>
                          <a:pt x="20" y="6"/>
                        </a:lnTo>
                        <a:lnTo>
                          <a:pt x="17" y="7"/>
                        </a:lnTo>
                        <a:lnTo>
                          <a:pt x="14" y="7"/>
                        </a:lnTo>
                        <a:lnTo>
                          <a:pt x="12" y="7"/>
                        </a:lnTo>
                        <a:lnTo>
                          <a:pt x="9" y="7"/>
                        </a:lnTo>
                        <a:lnTo>
                          <a:pt x="5" y="6"/>
                        </a:lnTo>
                        <a:lnTo>
                          <a:pt x="2" y="5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80" name="Freeform 449"/>
                  <p:cNvSpPr>
                    <a:spLocks/>
                  </p:cNvSpPr>
                  <p:nvPr/>
                </p:nvSpPr>
                <p:spPr bwMode="auto">
                  <a:xfrm>
                    <a:off x="3765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0 w 27"/>
                      <a:gd name="T3" fmla="*/ 1 h 7"/>
                      <a:gd name="T4" fmla="*/ 2 w 27"/>
                      <a:gd name="T5" fmla="*/ 2 h 7"/>
                      <a:gd name="T6" fmla="*/ 5 w 27"/>
                      <a:gd name="T7" fmla="*/ 2 h 7"/>
                      <a:gd name="T8" fmla="*/ 9 w 27"/>
                      <a:gd name="T9" fmla="*/ 3 h 7"/>
                      <a:gd name="T10" fmla="*/ 12 w 27"/>
                      <a:gd name="T11" fmla="*/ 3 h 7"/>
                      <a:gd name="T12" fmla="*/ 14 w 27"/>
                      <a:gd name="T13" fmla="*/ 3 h 7"/>
                      <a:gd name="T14" fmla="*/ 17 w 27"/>
                      <a:gd name="T15" fmla="*/ 3 h 7"/>
                      <a:gd name="T16" fmla="*/ 20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4 w 27"/>
                      <a:gd name="T29" fmla="*/ 5 h 7"/>
                      <a:gd name="T30" fmla="*/ 20 w 27"/>
                      <a:gd name="T31" fmla="*/ 6 h 7"/>
                      <a:gd name="T32" fmla="*/ 17 w 27"/>
                      <a:gd name="T33" fmla="*/ 7 h 7"/>
                      <a:gd name="T34" fmla="*/ 14 w 27"/>
                      <a:gd name="T35" fmla="*/ 7 h 7"/>
                      <a:gd name="T36" fmla="*/ 12 w 27"/>
                      <a:gd name="T37" fmla="*/ 7 h 7"/>
                      <a:gd name="T38" fmla="*/ 9 w 27"/>
                      <a:gd name="T39" fmla="*/ 7 h 7"/>
                      <a:gd name="T40" fmla="*/ 5 w 27"/>
                      <a:gd name="T41" fmla="*/ 6 h 7"/>
                      <a:gd name="T42" fmla="*/ 2 w 27"/>
                      <a:gd name="T43" fmla="*/ 5 h 7"/>
                      <a:gd name="T44" fmla="*/ 0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2" y="2"/>
                        </a:lnTo>
                        <a:lnTo>
                          <a:pt x="5" y="2"/>
                        </a:lnTo>
                        <a:lnTo>
                          <a:pt x="9" y="3"/>
                        </a:lnTo>
                        <a:lnTo>
                          <a:pt x="12" y="3"/>
                        </a:lnTo>
                        <a:lnTo>
                          <a:pt x="14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4" y="5"/>
                        </a:lnTo>
                        <a:lnTo>
                          <a:pt x="20" y="6"/>
                        </a:lnTo>
                        <a:lnTo>
                          <a:pt x="17" y="7"/>
                        </a:lnTo>
                        <a:lnTo>
                          <a:pt x="14" y="7"/>
                        </a:lnTo>
                        <a:lnTo>
                          <a:pt x="12" y="7"/>
                        </a:lnTo>
                        <a:lnTo>
                          <a:pt x="9" y="7"/>
                        </a:lnTo>
                        <a:lnTo>
                          <a:pt x="5" y="6"/>
                        </a:lnTo>
                        <a:lnTo>
                          <a:pt x="2" y="5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81" name="Freeform 450"/>
                  <p:cNvSpPr>
                    <a:spLocks/>
                  </p:cNvSpPr>
                  <p:nvPr/>
                </p:nvSpPr>
                <p:spPr bwMode="auto">
                  <a:xfrm>
                    <a:off x="3809" y="2523"/>
                    <a:ext cx="30" cy="9"/>
                  </a:xfrm>
                  <a:custGeom>
                    <a:avLst/>
                    <a:gdLst>
                      <a:gd name="T0" fmla="*/ 0 w 30"/>
                      <a:gd name="T1" fmla="*/ 6 h 9"/>
                      <a:gd name="T2" fmla="*/ 0 w 30"/>
                      <a:gd name="T3" fmla="*/ 9 h 9"/>
                      <a:gd name="T4" fmla="*/ 24 w 30"/>
                      <a:gd name="T5" fmla="*/ 9 h 9"/>
                      <a:gd name="T6" fmla="*/ 30 w 30"/>
                      <a:gd name="T7" fmla="*/ 4 h 9"/>
                      <a:gd name="T8" fmla="*/ 30 w 30"/>
                      <a:gd name="T9" fmla="*/ 0 h 9"/>
                      <a:gd name="T10" fmla="*/ 23 w 30"/>
                      <a:gd name="T11" fmla="*/ 6 h 9"/>
                      <a:gd name="T12" fmla="*/ 0 w 30"/>
                      <a:gd name="T13" fmla="*/ 6 h 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0"/>
                      <a:gd name="T22" fmla="*/ 0 h 9"/>
                      <a:gd name="T23" fmla="*/ 30 w 30"/>
                      <a:gd name="T24" fmla="*/ 9 h 9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0" h="9">
                        <a:moveTo>
                          <a:pt x="0" y="6"/>
                        </a:moveTo>
                        <a:lnTo>
                          <a:pt x="0" y="9"/>
                        </a:lnTo>
                        <a:lnTo>
                          <a:pt x="24" y="9"/>
                        </a:lnTo>
                        <a:lnTo>
                          <a:pt x="30" y="4"/>
                        </a:lnTo>
                        <a:lnTo>
                          <a:pt x="30" y="0"/>
                        </a:lnTo>
                        <a:lnTo>
                          <a:pt x="23" y="6"/>
                        </a:lnTo>
                        <a:lnTo>
                          <a:pt x="0" y="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82" name="Freeform 451"/>
                  <p:cNvSpPr>
                    <a:spLocks/>
                  </p:cNvSpPr>
                  <p:nvPr/>
                </p:nvSpPr>
                <p:spPr bwMode="auto">
                  <a:xfrm>
                    <a:off x="3809" y="2523"/>
                    <a:ext cx="30" cy="9"/>
                  </a:xfrm>
                  <a:custGeom>
                    <a:avLst/>
                    <a:gdLst>
                      <a:gd name="T0" fmla="*/ 0 w 30"/>
                      <a:gd name="T1" fmla="*/ 6 h 9"/>
                      <a:gd name="T2" fmla="*/ 0 w 30"/>
                      <a:gd name="T3" fmla="*/ 9 h 9"/>
                      <a:gd name="T4" fmla="*/ 24 w 30"/>
                      <a:gd name="T5" fmla="*/ 9 h 9"/>
                      <a:gd name="T6" fmla="*/ 30 w 30"/>
                      <a:gd name="T7" fmla="*/ 4 h 9"/>
                      <a:gd name="T8" fmla="*/ 30 w 30"/>
                      <a:gd name="T9" fmla="*/ 0 h 9"/>
                      <a:gd name="T10" fmla="*/ 23 w 30"/>
                      <a:gd name="T11" fmla="*/ 6 h 9"/>
                      <a:gd name="T12" fmla="*/ 0 w 30"/>
                      <a:gd name="T13" fmla="*/ 6 h 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0"/>
                      <a:gd name="T22" fmla="*/ 0 h 9"/>
                      <a:gd name="T23" fmla="*/ 30 w 30"/>
                      <a:gd name="T24" fmla="*/ 9 h 9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0" h="9">
                        <a:moveTo>
                          <a:pt x="0" y="6"/>
                        </a:moveTo>
                        <a:lnTo>
                          <a:pt x="0" y="9"/>
                        </a:lnTo>
                        <a:lnTo>
                          <a:pt x="24" y="9"/>
                        </a:lnTo>
                        <a:lnTo>
                          <a:pt x="30" y="4"/>
                        </a:lnTo>
                        <a:lnTo>
                          <a:pt x="30" y="0"/>
                        </a:lnTo>
                        <a:lnTo>
                          <a:pt x="23" y="6"/>
                        </a:lnTo>
                        <a:lnTo>
                          <a:pt x="0" y="6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83" name="Freeform 452"/>
                  <p:cNvSpPr>
                    <a:spLocks/>
                  </p:cNvSpPr>
                  <p:nvPr/>
                </p:nvSpPr>
                <p:spPr bwMode="auto">
                  <a:xfrm>
                    <a:off x="3810" y="2532"/>
                    <a:ext cx="22" cy="3"/>
                  </a:xfrm>
                  <a:custGeom>
                    <a:avLst/>
                    <a:gdLst>
                      <a:gd name="T0" fmla="*/ 0 w 22"/>
                      <a:gd name="T1" fmla="*/ 0 h 3"/>
                      <a:gd name="T2" fmla="*/ 0 w 22"/>
                      <a:gd name="T3" fmla="*/ 1 h 3"/>
                      <a:gd name="T4" fmla="*/ 1 w 22"/>
                      <a:gd name="T5" fmla="*/ 2 h 3"/>
                      <a:gd name="T6" fmla="*/ 1 w 22"/>
                      <a:gd name="T7" fmla="*/ 2 h 3"/>
                      <a:gd name="T8" fmla="*/ 3 w 22"/>
                      <a:gd name="T9" fmla="*/ 2 h 3"/>
                      <a:gd name="T10" fmla="*/ 5 w 22"/>
                      <a:gd name="T11" fmla="*/ 3 h 3"/>
                      <a:gd name="T12" fmla="*/ 11 w 22"/>
                      <a:gd name="T13" fmla="*/ 3 h 3"/>
                      <a:gd name="T14" fmla="*/ 17 w 22"/>
                      <a:gd name="T15" fmla="*/ 3 h 3"/>
                      <a:gd name="T16" fmla="*/ 19 w 22"/>
                      <a:gd name="T17" fmla="*/ 2 h 3"/>
                      <a:gd name="T18" fmla="*/ 21 w 22"/>
                      <a:gd name="T19" fmla="*/ 2 h 3"/>
                      <a:gd name="T20" fmla="*/ 22 w 22"/>
                      <a:gd name="T21" fmla="*/ 1 h 3"/>
                      <a:gd name="T22" fmla="*/ 22 w 22"/>
                      <a:gd name="T23" fmla="*/ 0 h 3"/>
                      <a:gd name="T24" fmla="*/ 0 w 22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2"/>
                      <a:gd name="T40" fmla="*/ 0 h 3"/>
                      <a:gd name="T41" fmla="*/ 22 w 22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2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19" y="2"/>
                        </a:lnTo>
                        <a:lnTo>
                          <a:pt x="21" y="2"/>
                        </a:lnTo>
                        <a:lnTo>
                          <a:pt x="22" y="1"/>
                        </a:lnTo>
                        <a:lnTo>
                          <a:pt x="2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84" name="Freeform 453"/>
                  <p:cNvSpPr>
                    <a:spLocks/>
                  </p:cNvSpPr>
                  <p:nvPr/>
                </p:nvSpPr>
                <p:spPr bwMode="auto">
                  <a:xfrm>
                    <a:off x="3810" y="2532"/>
                    <a:ext cx="22" cy="3"/>
                  </a:xfrm>
                  <a:custGeom>
                    <a:avLst/>
                    <a:gdLst>
                      <a:gd name="T0" fmla="*/ 0 w 22"/>
                      <a:gd name="T1" fmla="*/ 0 h 3"/>
                      <a:gd name="T2" fmla="*/ 0 w 22"/>
                      <a:gd name="T3" fmla="*/ 1 h 3"/>
                      <a:gd name="T4" fmla="*/ 1 w 22"/>
                      <a:gd name="T5" fmla="*/ 2 h 3"/>
                      <a:gd name="T6" fmla="*/ 1 w 22"/>
                      <a:gd name="T7" fmla="*/ 2 h 3"/>
                      <a:gd name="T8" fmla="*/ 3 w 22"/>
                      <a:gd name="T9" fmla="*/ 2 h 3"/>
                      <a:gd name="T10" fmla="*/ 5 w 22"/>
                      <a:gd name="T11" fmla="*/ 3 h 3"/>
                      <a:gd name="T12" fmla="*/ 11 w 22"/>
                      <a:gd name="T13" fmla="*/ 3 h 3"/>
                      <a:gd name="T14" fmla="*/ 17 w 22"/>
                      <a:gd name="T15" fmla="*/ 3 h 3"/>
                      <a:gd name="T16" fmla="*/ 19 w 22"/>
                      <a:gd name="T17" fmla="*/ 2 h 3"/>
                      <a:gd name="T18" fmla="*/ 21 w 22"/>
                      <a:gd name="T19" fmla="*/ 2 h 3"/>
                      <a:gd name="T20" fmla="*/ 22 w 22"/>
                      <a:gd name="T21" fmla="*/ 1 h 3"/>
                      <a:gd name="T22" fmla="*/ 22 w 22"/>
                      <a:gd name="T23" fmla="*/ 0 h 3"/>
                      <a:gd name="T24" fmla="*/ 0 w 22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2"/>
                      <a:gd name="T40" fmla="*/ 0 h 3"/>
                      <a:gd name="T41" fmla="*/ 22 w 22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2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19" y="2"/>
                        </a:lnTo>
                        <a:lnTo>
                          <a:pt x="21" y="2"/>
                        </a:lnTo>
                        <a:lnTo>
                          <a:pt x="22" y="1"/>
                        </a:lnTo>
                        <a:lnTo>
                          <a:pt x="22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85" name="Freeform 454"/>
                  <p:cNvSpPr>
                    <a:spLocks/>
                  </p:cNvSpPr>
                  <p:nvPr/>
                </p:nvSpPr>
                <p:spPr bwMode="auto">
                  <a:xfrm>
                    <a:off x="3809" y="2535"/>
                    <a:ext cx="24" cy="10"/>
                  </a:xfrm>
                  <a:custGeom>
                    <a:avLst/>
                    <a:gdLst>
                      <a:gd name="T0" fmla="*/ 21 w 24"/>
                      <a:gd name="T1" fmla="*/ 0 h 10"/>
                      <a:gd name="T2" fmla="*/ 18 w 24"/>
                      <a:gd name="T3" fmla="*/ 0 h 10"/>
                      <a:gd name="T4" fmla="*/ 12 w 24"/>
                      <a:gd name="T5" fmla="*/ 1 h 10"/>
                      <a:gd name="T6" fmla="*/ 6 w 24"/>
                      <a:gd name="T7" fmla="*/ 0 h 10"/>
                      <a:gd name="T8" fmla="*/ 4 w 24"/>
                      <a:gd name="T9" fmla="*/ 0 h 10"/>
                      <a:gd name="T10" fmla="*/ 4 w 24"/>
                      <a:gd name="T11" fmla="*/ 6 h 10"/>
                      <a:gd name="T12" fmla="*/ 2 w 24"/>
                      <a:gd name="T13" fmla="*/ 6 h 10"/>
                      <a:gd name="T14" fmla="*/ 0 w 24"/>
                      <a:gd name="T15" fmla="*/ 6 h 10"/>
                      <a:gd name="T16" fmla="*/ 0 w 24"/>
                      <a:gd name="T17" fmla="*/ 7 h 10"/>
                      <a:gd name="T18" fmla="*/ 0 w 24"/>
                      <a:gd name="T19" fmla="*/ 7 h 10"/>
                      <a:gd name="T20" fmla="*/ 0 w 24"/>
                      <a:gd name="T21" fmla="*/ 9 h 10"/>
                      <a:gd name="T22" fmla="*/ 3 w 24"/>
                      <a:gd name="T23" fmla="*/ 9 h 10"/>
                      <a:gd name="T24" fmla="*/ 6 w 24"/>
                      <a:gd name="T25" fmla="*/ 10 h 10"/>
                      <a:gd name="T26" fmla="*/ 12 w 24"/>
                      <a:gd name="T27" fmla="*/ 10 h 10"/>
                      <a:gd name="T28" fmla="*/ 18 w 24"/>
                      <a:gd name="T29" fmla="*/ 10 h 10"/>
                      <a:gd name="T30" fmla="*/ 22 w 24"/>
                      <a:gd name="T31" fmla="*/ 9 h 10"/>
                      <a:gd name="T32" fmla="*/ 24 w 24"/>
                      <a:gd name="T33" fmla="*/ 9 h 10"/>
                      <a:gd name="T34" fmla="*/ 24 w 24"/>
                      <a:gd name="T35" fmla="*/ 7 h 10"/>
                      <a:gd name="T36" fmla="*/ 24 w 24"/>
                      <a:gd name="T37" fmla="*/ 6 h 10"/>
                      <a:gd name="T38" fmla="*/ 22 w 24"/>
                      <a:gd name="T39" fmla="*/ 6 h 10"/>
                      <a:gd name="T40" fmla="*/ 21 w 24"/>
                      <a:gd name="T41" fmla="*/ 6 h 10"/>
                      <a:gd name="T42" fmla="*/ 21 w 24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4"/>
                      <a:gd name="T67" fmla="*/ 0 h 10"/>
                      <a:gd name="T68" fmla="*/ 24 w 24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4" h="10">
                        <a:moveTo>
                          <a:pt x="21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2" y="9"/>
                        </a:lnTo>
                        <a:lnTo>
                          <a:pt x="24" y="9"/>
                        </a:lnTo>
                        <a:lnTo>
                          <a:pt x="24" y="7"/>
                        </a:lnTo>
                        <a:lnTo>
                          <a:pt x="24" y="6"/>
                        </a:ln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86" name="Freeform 455"/>
                  <p:cNvSpPr>
                    <a:spLocks/>
                  </p:cNvSpPr>
                  <p:nvPr/>
                </p:nvSpPr>
                <p:spPr bwMode="auto">
                  <a:xfrm>
                    <a:off x="3809" y="2535"/>
                    <a:ext cx="24" cy="10"/>
                  </a:xfrm>
                  <a:custGeom>
                    <a:avLst/>
                    <a:gdLst>
                      <a:gd name="T0" fmla="*/ 21 w 24"/>
                      <a:gd name="T1" fmla="*/ 0 h 10"/>
                      <a:gd name="T2" fmla="*/ 18 w 24"/>
                      <a:gd name="T3" fmla="*/ 0 h 10"/>
                      <a:gd name="T4" fmla="*/ 12 w 24"/>
                      <a:gd name="T5" fmla="*/ 1 h 10"/>
                      <a:gd name="T6" fmla="*/ 6 w 24"/>
                      <a:gd name="T7" fmla="*/ 0 h 10"/>
                      <a:gd name="T8" fmla="*/ 4 w 24"/>
                      <a:gd name="T9" fmla="*/ 0 h 10"/>
                      <a:gd name="T10" fmla="*/ 4 w 24"/>
                      <a:gd name="T11" fmla="*/ 6 h 10"/>
                      <a:gd name="T12" fmla="*/ 2 w 24"/>
                      <a:gd name="T13" fmla="*/ 6 h 10"/>
                      <a:gd name="T14" fmla="*/ 0 w 24"/>
                      <a:gd name="T15" fmla="*/ 6 h 10"/>
                      <a:gd name="T16" fmla="*/ 0 w 24"/>
                      <a:gd name="T17" fmla="*/ 7 h 10"/>
                      <a:gd name="T18" fmla="*/ 0 w 24"/>
                      <a:gd name="T19" fmla="*/ 7 h 10"/>
                      <a:gd name="T20" fmla="*/ 0 w 24"/>
                      <a:gd name="T21" fmla="*/ 9 h 10"/>
                      <a:gd name="T22" fmla="*/ 3 w 24"/>
                      <a:gd name="T23" fmla="*/ 9 h 10"/>
                      <a:gd name="T24" fmla="*/ 6 w 24"/>
                      <a:gd name="T25" fmla="*/ 10 h 10"/>
                      <a:gd name="T26" fmla="*/ 12 w 24"/>
                      <a:gd name="T27" fmla="*/ 10 h 10"/>
                      <a:gd name="T28" fmla="*/ 18 w 24"/>
                      <a:gd name="T29" fmla="*/ 10 h 10"/>
                      <a:gd name="T30" fmla="*/ 22 w 24"/>
                      <a:gd name="T31" fmla="*/ 9 h 10"/>
                      <a:gd name="T32" fmla="*/ 24 w 24"/>
                      <a:gd name="T33" fmla="*/ 9 h 10"/>
                      <a:gd name="T34" fmla="*/ 24 w 24"/>
                      <a:gd name="T35" fmla="*/ 7 h 10"/>
                      <a:gd name="T36" fmla="*/ 24 w 24"/>
                      <a:gd name="T37" fmla="*/ 6 h 10"/>
                      <a:gd name="T38" fmla="*/ 22 w 24"/>
                      <a:gd name="T39" fmla="*/ 6 h 10"/>
                      <a:gd name="T40" fmla="*/ 21 w 24"/>
                      <a:gd name="T41" fmla="*/ 6 h 10"/>
                      <a:gd name="T42" fmla="*/ 21 w 24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4"/>
                      <a:gd name="T67" fmla="*/ 0 h 10"/>
                      <a:gd name="T68" fmla="*/ 24 w 24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4" h="10">
                        <a:moveTo>
                          <a:pt x="21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2" y="9"/>
                        </a:lnTo>
                        <a:lnTo>
                          <a:pt x="24" y="9"/>
                        </a:lnTo>
                        <a:lnTo>
                          <a:pt x="24" y="7"/>
                        </a:lnTo>
                        <a:lnTo>
                          <a:pt x="24" y="6"/>
                        </a:ln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87" name="Freeform 456"/>
                  <p:cNvSpPr>
                    <a:spLocks/>
                  </p:cNvSpPr>
                  <p:nvPr/>
                </p:nvSpPr>
                <p:spPr bwMode="auto">
                  <a:xfrm>
                    <a:off x="3809" y="2542"/>
                    <a:ext cx="24" cy="7"/>
                  </a:xfrm>
                  <a:custGeom>
                    <a:avLst/>
                    <a:gdLst>
                      <a:gd name="T0" fmla="*/ 24 w 24"/>
                      <a:gd name="T1" fmla="*/ 5 h 7"/>
                      <a:gd name="T2" fmla="*/ 22 w 24"/>
                      <a:gd name="T3" fmla="*/ 6 h 7"/>
                      <a:gd name="T4" fmla="*/ 21 w 24"/>
                      <a:gd name="T5" fmla="*/ 6 h 7"/>
                      <a:gd name="T6" fmla="*/ 17 w 24"/>
                      <a:gd name="T7" fmla="*/ 7 h 7"/>
                      <a:gd name="T8" fmla="*/ 6 w 24"/>
                      <a:gd name="T9" fmla="*/ 7 h 7"/>
                      <a:gd name="T10" fmla="*/ 4 w 24"/>
                      <a:gd name="T11" fmla="*/ 6 h 7"/>
                      <a:gd name="T12" fmla="*/ 3 w 24"/>
                      <a:gd name="T13" fmla="*/ 6 h 7"/>
                      <a:gd name="T14" fmla="*/ 0 w 24"/>
                      <a:gd name="T15" fmla="*/ 5 h 7"/>
                      <a:gd name="T16" fmla="*/ 0 w 24"/>
                      <a:gd name="T17" fmla="*/ 5 h 7"/>
                      <a:gd name="T18" fmla="*/ 0 w 24"/>
                      <a:gd name="T19" fmla="*/ 0 h 7"/>
                      <a:gd name="T20" fmla="*/ 0 w 24"/>
                      <a:gd name="T21" fmla="*/ 2 h 7"/>
                      <a:gd name="T22" fmla="*/ 3 w 24"/>
                      <a:gd name="T23" fmla="*/ 2 h 7"/>
                      <a:gd name="T24" fmla="*/ 6 w 24"/>
                      <a:gd name="T25" fmla="*/ 3 h 7"/>
                      <a:gd name="T26" fmla="*/ 12 w 24"/>
                      <a:gd name="T27" fmla="*/ 3 h 7"/>
                      <a:gd name="T28" fmla="*/ 18 w 24"/>
                      <a:gd name="T29" fmla="*/ 3 h 7"/>
                      <a:gd name="T30" fmla="*/ 22 w 24"/>
                      <a:gd name="T31" fmla="*/ 2 h 7"/>
                      <a:gd name="T32" fmla="*/ 24 w 24"/>
                      <a:gd name="T33" fmla="*/ 2 h 7"/>
                      <a:gd name="T34" fmla="*/ 24 w 24"/>
                      <a:gd name="T35" fmla="*/ 0 h 7"/>
                      <a:gd name="T36" fmla="*/ 24 w 24"/>
                      <a:gd name="T37" fmla="*/ 5 h 7"/>
                      <a:gd name="T38" fmla="*/ 24 w 24"/>
                      <a:gd name="T39" fmla="*/ 5 h 7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24"/>
                      <a:gd name="T61" fmla="*/ 0 h 7"/>
                      <a:gd name="T62" fmla="*/ 24 w 24"/>
                      <a:gd name="T63" fmla="*/ 7 h 7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24" h="7">
                        <a:moveTo>
                          <a:pt x="24" y="5"/>
                        </a:move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2" y="2"/>
                        </a:lnTo>
                        <a:lnTo>
                          <a:pt x="24" y="2"/>
                        </a:lnTo>
                        <a:lnTo>
                          <a:pt x="24" y="0"/>
                        </a:lnTo>
                        <a:lnTo>
                          <a:pt x="24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88" name="Freeform 457"/>
                  <p:cNvSpPr>
                    <a:spLocks/>
                  </p:cNvSpPr>
                  <p:nvPr/>
                </p:nvSpPr>
                <p:spPr bwMode="auto">
                  <a:xfrm>
                    <a:off x="3809" y="2542"/>
                    <a:ext cx="24" cy="7"/>
                  </a:xfrm>
                  <a:custGeom>
                    <a:avLst/>
                    <a:gdLst>
                      <a:gd name="T0" fmla="*/ 24 w 24"/>
                      <a:gd name="T1" fmla="*/ 5 h 7"/>
                      <a:gd name="T2" fmla="*/ 22 w 24"/>
                      <a:gd name="T3" fmla="*/ 6 h 7"/>
                      <a:gd name="T4" fmla="*/ 21 w 24"/>
                      <a:gd name="T5" fmla="*/ 6 h 7"/>
                      <a:gd name="T6" fmla="*/ 17 w 24"/>
                      <a:gd name="T7" fmla="*/ 7 h 7"/>
                      <a:gd name="T8" fmla="*/ 6 w 24"/>
                      <a:gd name="T9" fmla="*/ 7 h 7"/>
                      <a:gd name="T10" fmla="*/ 4 w 24"/>
                      <a:gd name="T11" fmla="*/ 6 h 7"/>
                      <a:gd name="T12" fmla="*/ 3 w 24"/>
                      <a:gd name="T13" fmla="*/ 6 h 7"/>
                      <a:gd name="T14" fmla="*/ 0 w 24"/>
                      <a:gd name="T15" fmla="*/ 5 h 7"/>
                      <a:gd name="T16" fmla="*/ 0 w 24"/>
                      <a:gd name="T17" fmla="*/ 5 h 7"/>
                      <a:gd name="T18" fmla="*/ 0 w 24"/>
                      <a:gd name="T19" fmla="*/ 0 h 7"/>
                      <a:gd name="T20" fmla="*/ 0 w 24"/>
                      <a:gd name="T21" fmla="*/ 2 h 7"/>
                      <a:gd name="T22" fmla="*/ 3 w 24"/>
                      <a:gd name="T23" fmla="*/ 2 h 7"/>
                      <a:gd name="T24" fmla="*/ 6 w 24"/>
                      <a:gd name="T25" fmla="*/ 3 h 7"/>
                      <a:gd name="T26" fmla="*/ 12 w 24"/>
                      <a:gd name="T27" fmla="*/ 3 h 7"/>
                      <a:gd name="T28" fmla="*/ 18 w 24"/>
                      <a:gd name="T29" fmla="*/ 3 h 7"/>
                      <a:gd name="T30" fmla="*/ 22 w 24"/>
                      <a:gd name="T31" fmla="*/ 2 h 7"/>
                      <a:gd name="T32" fmla="*/ 24 w 24"/>
                      <a:gd name="T33" fmla="*/ 2 h 7"/>
                      <a:gd name="T34" fmla="*/ 24 w 24"/>
                      <a:gd name="T35" fmla="*/ 0 h 7"/>
                      <a:gd name="T36" fmla="*/ 24 w 24"/>
                      <a:gd name="T37" fmla="*/ 5 h 7"/>
                      <a:gd name="T38" fmla="*/ 24 w 24"/>
                      <a:gd name="T39" fmla="*/ 5 h 7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24"/>
                      <a:gd name="T61" fmla="*/ 0 h 7"/>
                      <a:gd name="T62" fmla="*/ 24 w 24"/>
                      <a:gd name="T63" fmla="*/ 7 h 7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24" h="7">
                        <a:moveTo>
                          <a:pt x="24" y="5"/>
                        </a:move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2" y="2"/>
                        </a:lnTo>
                        <a:lnTo>
                          <a:pt x="24" y="2"/>
                        </a:lnTo>
                        <a:lnTo>
                          <a:pt x="24" y="0"/>
                        </a:lnTo>
                        <a:lnTo>
                          <a:pt x="24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89" name="Freeform 458"/>
                  <p:cNvSpPr>
                    <a:spLocks/>
                  </p:cNvSpPr>
                  <p:nvPr/>
                </p:nvSpPr>
                <p:spPr bwMode="auto">
                  <a:xfrm>
                    <a:off x="3810" y="2548"/>
                    <a:ext cx="21" cy="107"/>
                  </a:xfrm>
                  <a:custGeom>
                    <a:avLst/>
                    <a:gdLst>
                      <a:gd name="T0" fmla="*/ 21 w 21"/>
                      <a:gd name="T1" fmla="*/ 104 h 107"/>
                      <a:gd name="T2" fmla="*/ 19 w 21"/>
                      <a:gd name="T3" fmla="*/ 0 h 107"/>
                      <a:gd name="T4" fmla="*/ 15 w 21"/>
                      <a:gd name="T5" fmla="*/ 1 h 107"/>
                      <a:gd name="T6" fmla="*/ 5 w 21"/>
                      <a:gd name="T7" fmla="*/ 1 h 107"/>
                      <a:gd name="T8" fmla="*/ 2 w 21"/>
                      <a:gd name="T9" fmla="*/ 0 h 107"/>
                      <a:gd name="T10" fmla="*/ 0 w 21"/>
                      <a:gd name="T11" fmla="*/ 102 h 107"/>
                      <a:gd name="T12" fmla="*/ 0 w 21"/>
                      <a:gd name="T13" fmla="*/ 106 h 107"/>
                      <a:gd name="T14" fmla="*/ 4 w 21"/>
                      <a:gd name="T15" fmla="*/ 107 h 107"/>
                      <a:gd name="T16" fmla="*/ 11 w 21"/>
                      <a:gd name="T17" fmla="*/ 107 h 107"/>
                      <a:gd name="T18" fmla="*/ 17 w 21"/>
                      <a:gd name="T19" fmla="*/ 107 h 107"/>
                      <a:gd name="T20" fmla="*/ 21 w 21"/>
                      <a:gd name="T21" fmla="*/ 106 h 107"/>
                      <a:gd name="T22" fmla="*/ 21 w 21"/>
                      <a:gd name="T23" fmla="*/ 104 h 107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1"/>
                      <a:gd name="T37" fmla="*/ 0 h 107"/>
                      <a:gd name="T38" fmla="*/ 21 w 21"/>
                      <a:gd name="T39" fmla="*/ 107 h 107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1" h="107">
                        <a:moveTo>
                          <a:pt x="21" y="104"/>
                        </a:moveTo>
                        <a:lnTo>
                          <a:pt x="19" y="0"/>
                        </a:lnTo>
                        <a:lnTo>
                          <a:pt x="15" y="1"/>
                        </a:lnTo>
                        <a:lnTo>
                          <a:pt x="5" y="1"/>
                        </a:lnTo>
                        <a:lnTo>
                          <a:pt x="2" y="0"/>
                        </a:lnTo>
                        <a:lnTo>
                          <a:pt x="0" y="102"/>
                        </a:lnTo>
                        <a:lnTo>
                          <a:pt x="0" y="106"/>
                        </a:lnTo>
                        <a:lnTo>
                          <a:pt x="4" y="107"/>
                        </a:lnTo>
                        <a:lnTo>
                          <a:pt x="11" y="107"/>
                        </a:lnTo>
                        <a:lnTo>
                          <a:pt x="17" y="107"/>
                        </a:lnTo>
                        <a:lnTo>
                          <a:pt x="21" y="106"/>
                        </a:lnTo>
                        <a:lnTo>
                          <a:pt x="21" y="10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90" name="Freeform 459"/>
                  <p:cNvSpPr>
                    <a:spLocks/>
                  </p:cNvSpPr>
                  <p:nvPr/>
                </p:nvSpPr>
                <p:spPr bwMode="auto">
                  <a:xfrm>
                    <a:off x="3810" y="2548"/>
                    <a:ext cx="21" cy="107"/>
                  </a:xfrm>
                  <a:custGeom>
                    <a:avLst/>
                    <a:gdLst>
                      <a:gd name="T0" fmla="*/ 21 w 21"/>
                      <a:gd name="T1" fmla="*/ 104 h 107"/>
                      <a:gd name="T2" fmla="*/ 19 w 21"/>
                      <a:gd name="T3" fmla="*/ 0 h 107"/>
                      <a:gd name="T4" fmla="*/ 15 w 21"/>
                      <a:gd name="T5" fmla="*/ 1 h 107"/>
                      <a:gd name="T6" fmla="*/ 5 w 21"/>
                      <a:gd name="T7" fmla="*/ 1 h 107"/>
                      <a:gd name="T8" fmla="*/ 2 w 21"/>
                      <a:gd name="T9" fmla="*/ 0 h 107"/>
                      <a:gd name="T10" fmla="*/ 0 w 21"/>
                      <a:gd name="T11" fmla="*/ 102 h 107"/>
                      <a:gd name="T12" fmla="*/ 0 w 21"/>
                      <a:gd name="T13" fmla="*/ 106 h 107"/>
                      <a:gd name="T14" fmla="*/ 4 w 21"/>
                      <a:gd name="T15" fmla="*/ 107 h 107"/>
                      <a:gd name="T16" fmla="*/ 11 w 21"/>
                      <a:gd name="T17" fmla="*/ 107 h 107"/>
                      <a:gd name="T18" fmla="*/ 17 w 21"/>
                      <a:gd name="T19" fmla="*/ 107 h 107"/>
                      <a:gd name="T20" fmla="*/ 21 w 21"/>
                      <a:gd name="T21" fmla="*/ 106 h 107"/>
                      <a:gd name="T22" fmla="*/ 21 w 21"/>
                      <a:gd name="T23" fmla="*/ 104 h 107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1"/>
                      <a:gd name="T37" fmla="*/ 0 h 107"/>
                      <a:gd name="T38" fmla="*/ 21 w 21"/>
                      <a:gd name="T39" fmla="*/ 107 h 107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1" h="107">
                        <a:moveTo>
                          <a:pt x="21" y="104"/>
                        </a:moveTo>
                        <a:lnTo>
                          <a:pt x="19" y="0"/>
                        </a:lnTo>
                        <a:lnTo>
                          <a:pt x="15" y="1"/>
                        </a:lnTo>
                        <a:lnTo>
                          <a:pt x="5" y="1"/>
                        </a:lnTo>
                        <a:lnTo>
                          <a:pt x="2" y="0"/>
                        </a:lnTo>
                        <a:lnTo>
                          <a:pt x="0" y="102"/>
                        </a:lnTo>
                        <a:lnTo>
                          <a:pt x="0" y="106"/>
                        </a:lnTo>
                        <a:lnTo>
                          <a:pt x="4" y="107"/>
                        </a:lnTo>
                        <a:lnTo>
                          <a:pt x="11" y="107"/>
                        </a:lnTo>
                        <a:lnTo>
                          <a:pt x="17" y="107"/>
                        </a:lnTo>
                        <a:lnTo>
                          <a:pt x="21" y="106"/>
                        </a:lnTo>
                        <a:lnTo>
                          <a:pt x="21" y="10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91" name="Freeform 460"/>
                  <p:cNvSpPr>
                    <a:spLocks/>
                  </p:cNvSpPr>
                  <p:nvPr/>
                </p:nvSpPr>
                <p:spPr bwMode="auto">
                  <a:xfrm>
                    <a:off x="3577" y="2652"/>
                    <a:ext cx="37" cy="31"/>
                  </a:xfrm>
                  <a:custGeom>
                    <a:avLst/>
                    <a:gdLst>
                      <a:gd name="T0" fmla="*/ 25 w 37"/>
                      <a:gd name="T1" fmla="*/ 2 h 31"/>
                      <a:gd name="T2" fmla="*/ 19 w 37"/>
                      <a:gd name="T3" fmla="*/ 3 h 31"/>
                      <a:gd name="T4" fmla="*/ 13 w 37"/>
                      <a:gd name="T5" fmla="*/ 3 h 31"/>
                      <a:gd name="T6" fmla="*/ 7 w 37"/>
                      <a:gd name="T7" fmla="*/ 3 h 31"/>
                      <a:gd name="T8" fmla="*/ 3 w 37"/>
                      <a:gd name="T9" fmla="*/ 2 h 31"/>
                      <a:gd name="T10" fmla="*/ 0 w 37"/>
                      <a:gd name="T11" fmla="*/ 6 h 31"/>
                      <a:gd name="T12" fmla="*/ 29 w 37"/>
                      <a:gd name="T13" fmla="*/ 6 h 31"/>
                      <a:gd name="T14" fmla="*/ 26 w 37"/>
                      <a:gd name="T15" fmla="*/ 9 h 31"/>
                      <a:gd name="T16" fmla="*/ 26 w 37"/>
                      <a:gd name="T17" fmla="*/ 23 h 31"/>
                      <a:gd name="T18" fmla="*/ 29 w 37"/>
                      <a:gd name="T19" fmla="*/ 29 h 31"/>
                      <a:gd name="T20" fmla="*/ 29 w 37"/>
                      <a:gd name="T21" fmla="*/ 31 h 31"/>
                      <a:gd name="T22" fmla="*/ 37 w 37"/>
                      <a:gd name="T23" fmla="*/ 25 h 31"/>
                      <a:gd name="T24" fmla="*/ 37 w 37"/>
                      <a:gd name="T25" fmla="*/ 20 h 31"/>
                      <a:gd name="T26" fmla="*/ 34 w 37"/>
                      <a:gd name="T27" fmla="*/ 14 h 31"/>
                      <a:gd name="T28" fmla="*/ 34 w 37"/>
                      <a:gd name="T29" fmla="*/ 0 h 31"/>
                      <a:gd name="T30" fmla="*/ 25 w 37"/>
                      <a:gd name="T31" fmla="*/ 0 h 31"/>
                      <a:gd name="T32" fmla="*/ 25 w 37"/>
                      <a:gd name="T33" fmla="*/ 2 h 31"/>
                      <a:gd name="T34" fmla="*/ 25 w 37"/>
                      <a:gd name="T35" fmla="*/ 2 h 3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7"/>
                      <a:gd name="T55" fmla="*/ 0 h 31"/>
                      <a:gd name="T56" fmla="*/ 37 w 37"/>
                      <a:gd name="T57" fmla="*/ 31 h 3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7" h="31">
                        <a:moveTo>
                          <a:pt x="25" y="2"/>
                        </a:moveTo>
                        <a:lnTo>
                          <a:pt x="19" y="3"/>
                        </a:lnTo>
                        <a:lnTo>
                          <a:pt x="13" y="3"/>
                        </a:lnTo>
                        <a:lnTo>
                          <a:pt x="7" y="3"/>
                        </a:lnTo>
                        <a:lnTo>
                          <a:pt x="3" y="2"/>
                        </a:lnTo>
                        <a:lnTo>
                          <a:pt x="0" y="6"/>
                        </a:lnTo>
                        <a:lnTo>
                          <a:pt x="29" y="6"/>
                        </a:lnTo>
                        <a:lnTo>
                          <a:pt x="26" y="9"/>
                        </a:lnTo>
                        <a:lnTo>
                          <a:pt x="26" y="23"/>
                        </a:lnTo>
                        <a:lnTo>
                          <a:pt x="29" y="29"/>
                        </a:lnTo>
                        <a:lnTo>
                          <a:pt x="29" y="31"/>
                        </a:lnTo>
                        <a:lnTo>
                          <a:pt x="37" y="25"/>
                        </a:lnTo>
                        <a:lnTo>
                          <a:pt x="37" y="20"/>
                        </a:lnTo>
                        <a:lnTo>
                          <a:pt x="34" y="14"/>
                        </a:lnTo>
                        <a:lnTo>
                          <a:pt x="34" y="0"/>
                        </a:lnTo>
                        <a:lnTo>
                          <a:pt x="25" y="0"/>
                        </a:lnTo>
                        <a:lnTo>
                          <a:pt x="25" y="2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92" name="Freeform 461"/>
                  <p:cNvSpPr>
                    <a:spLocks/>
                  </p:cNvSpPr>
                  <p:nvPr/>
                </p:nvSpPr>
                <p:spPr bwMode="auto">
                  <a:xfrm>
                    <a:off x="3577" y="2652"/>
                    <a:ext cx="37" cy="31"/>
                  </a:xfrm>
                  <a:custGeom>
                    <a:avLst/>
                    <a:gdLst>
                      <a:gd name="T0" fmla="*/ 25 w 37"/>
                      <a:gd name="T1" fmla="*/ 2 h 31"/>
                      <a:gd name="T2" fmla="*/ 19 w 37"/>
                      <a:gd name="T3" fmla="*/ 3 h 31"/>
                      <a:gd name="T4" fmla="*/ 13 w 37"/>
                      <a:gd name="T5" fmla="*/ 3 h 31"/>
                      <a:gd name="T6" fmla="*/ 7 w 37"/>
                      <a:gd name="T7" fmla="*/ 3 h 31"/>
                      <a:gd name="T8" fmla="*/ 3 w 37"/>
                      <a:gd name="T9" fmla="*/ 2 h 31"/>
                      <a:gd name="T10" fmla="*/ 0 w 37"/>
                      <a:gd name="T11" fmla="*/ 6 h 31"/>
                      <a:gd name="T12" fmla="*/ 29 w 37"/>
                      <a:gd name="T13" fmla="*/ 6 h 31"/>
                      <a:gd name="T14" fmla="*/ 26 w 37"/>
                      <a:gd name="T15" fmla="*/ 9 h 31"/>
                      <a:gd name="T16" fmla="*/ 26 w 37"/>
                      <a:gd name="T17" fmla="*/ 23 h 31"/>
                      <a:gd name="T18" fmla="*/ 29 w 37"/>
                      <a:gd name="T19" fmla="*/ 29 h 31"/>
                      <a:gd name="T20" fmla="*/ 29 w 37"/>
                      <a:gd name="T21" fmla="*/ 31 h 31"/>
                      <a:gd name="T22" fmla="*/ 37 w 37"/>
                      <a:gd name="T23" fmla="*/ 25 h 31"/>
                      <a:gd name="T24" fmla="*/ 37 w 37"/>
                      <a:gd name="T25" fmla="*/ 20 h 31"/>
                      <a:gd name="T26" fmla="*/ 34 w 37"/>
                      <a:gd name="T27" fmla="*/ 14 h 31"/>
                      <a:gd name="T28" fmla="*/ 34 w 37"/>
                      <a:gd name="T29" fmla="*/ 0 h 31"/>
                      <a:gd name="T30" fmla="*/ 25 w 37"/>
                      <a:gd name="T31" fmla="*/ 0 h 31"/>
                      <a:gd name="T32" fmla="*/ 25 w 37"/>
                      <a:gd name="T33" fmla="*/ 2 h 31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37"/>
                      <a:gd name="T52" fmla="*/ 0 h 31"/>
                      <a:gd name="T53" fmla="*/ 37 w 37"/>
                      <a:gd name="T54" fmla="*/ 31 h 31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37" h="31">
                        <a:moveTo>
                          <a:pt x="25" y="2"/>
                        </a:moveTo>
                        <a:lnTo>
                          <a:pt x="19" y="3"/>
                        </a:lnTo>
                        <a:lnTo>
                          <a:pt x="13" y="3"/>
                        </a:lnTo>
                        <a:lnTo>
                          <a:pt x="7" y="3"/>
                        </a:lnTo>
                        <a:lnTo>
                          <a:pt x="3" y="2"/>
                        </a:lnTo>
                        <a:lnTo>
                          <a:pt x="0" y="6"/>
                        </a:lnTo>
                        <a:lnTo>
                          <a:pt x="29" y="6"/>
                        </a:lnTo>
                        <a:lnTo>
                          <a:pt x="26" y="9"/>
                        </a:lnTo>
                        <a:lnTo>
                          <a:pt x="26" y="23"/>
                        </a:lnTo>
                        <a:lnTo>
                          <a:pt x="29" y="29"/>
                        </a:lnTo>
                        <a:lnTo>
                          <a:pt x="29" y="31"/>
                        </a:lnTo>
                        <a:lnTo>
                          <a:pt x="37" y="25"/>
                        </a:lnTo>
                        <a:lnTo>
                          <a:pt x="37" y="20"/>
                        </a:lnTo>
                        <a:lnTo>
                          <a:pt x="34" y="14"/>
                        </a:lnTo>
                        <a:lnTo>
                          <a:pt x="34" y="0"/>
                        </a:lnTo>
                        <a:lnTo>
                          <a:pt x="25" y="0"/>
                        </a:lnTo>
                        <a:lnTo>
                          <a:pt x="25" y="2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93" name="Freeform 462"/>
                  <p:cNvSpPr>
                    <a:spLocks/>
                  </p:cNvSpPr>
                  <p:nvPr/>
                </p:nvSpPr>
                <p:spPr bwMode="auto">
                  <a:xfrm>
                    <a:off x="3581" y="2661"/>
                    <a:ext cx="24" cy="22"/>
                  </a:xfrm>
                  <a:custGeom>
                    <a:avLst/>
                    <a:gdLst>
                      <a:gd name="T0" fmla="*/ 0 w 24"/>
                      <a:gd name="T1" fmla="*/ 22 h 22"/>
                      <a:gd name="T2" fmla="*/ 0 w 24"/>
                      <a:gd name="T3" fmla="*/ 0 h 22"/>
                      <a:gd name="T4" fmla="*/ 21 w 24"/>
                      <a:gd name="T5" fmla="*/ 0 h 22"/>
                      <a:gd name="T6" fmla="*/ 21 w 24"/>
                      <a:gd name="T7" fmla="*/ 14 h 22"/>
                      <a:gd name="T8" fmla="*/ 24 w 24"/>
                      <a:gd name="T9" fmla="*/ 20 h 22"/>
                      <a:gd name="T10" fmla="*/ 24 w 24"/>
                      <a:gd name="T11" fmla="*/ 22 h 22"/>
                      <a:gd name="T12" fmla="*/ 0 w 24"/>
                      <a:gd name="T13" fmla="*/ 22 h 2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4"/>
                      <a:gd name="T22" fmla="*/ 0 h 22"/>
                      <a:gd name="T23" fmla="*/ 24 w 24"/>
                      <a:gd name="T24" fmla="*/ 22 h 2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4" h="22">
                        <a:moveTo>
                          <a:pt x="0" y="22"/>
                        </a:moveTo>
                        <a:lnTo>
                          <a:pt x="0" y="0"/>
                        </a:lnTo>
                        <a:lnTo>
                          <a:pt x="21" y="0"/>
                        </a:lnTo>
                        <a:lnTo>
                          <a:pt x="21" y="14"/>
                        </a:lnTo>
                        <a:lnTo>
                          <a:pt x="24" y="20"/>
                        </a:lnTo>
                        <a:lnTo>
                          <a:pt x="24" y="22"/>
                        </a:lnTo>
                        <a:lnTo>
                          <a:pt x="0" y="2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94" name="Freeform 463"/>
                  <p:cNvSpPr>
                    <a:spLocks/>
                  </p:cNvSpPr>
                  <p:nvPr/>
                </p:nvSpPr>
                <p:spPr bwMode="auto">
                  <a:xfrm>
                    <a:off x="3581" y="2661"/>
                    <a:ext cx="24" cy="22"/>
                  </a:xfrm>
                  <a:custGeom>
                    <a:avLst/>
                    <a:gdLst>
                      <a:gd name="T0" fmla="*/ 0 w 24"/>
                      <a:gd name="T1" fmla="*/ 22 h 22"/>
                      <a:gd name="T2" fmla="*/ 0 w 24"/>
                      <a:gd name="T3" fmla="*/ 0 h 22"/>
                      <a:gd name="T4" fmla="*/ 21 w 24"/>
                      <a:gd name="T5" fmla="*/ 0 h 22"/>
                      <a:gd name="T6" fmla="*/ 21 w 24"/>
                      <a:gd name="T7" fmla="*/ 14 h 22"/>
                      <a:gd name="T8" fmla="*/ 24 w 24"/>
                      <a:gd name="T9" fmla="*/ 20 h 22"/>
                      <a:gd name="T10" fmla="*/ 24 w 24"/>
                      <a:gd name="T11" fmla="*/ 22 h 22"/>
                      <a:gd name="T12" fmla="*/ 0 w 24"/>
                      <a:gd name="T13" fmla="*/ 22 h 2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4"/>
                      <a:gd name="T22" fmla="*/ 0 h 22"/>
                      <a:gd name="T23" fmla="*/ 24 w 24"/>
                      <a:gd name="T24" fmla="*/ 22 h 2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4" h="22">
                        <a:moveTo>
                          <a:pt x="0" y="22"/>
                        </a:moveTo>
                        <a:lnTo>
                          <a:pt x="0" y="0"/>
                        </a:lnTo>
                        <a:lnTo>
                          <a:pt x="21" y="0"/>
                        </a:lnTo>
                        <a:lnTo>
                          <a:pt x="21" y="14"/>
                        </a:lnTo>
                        <a:lnTo>
                          <a:pt x="24" y="20"/>
                        </a:lnTo>
                        <a:lnTo>
                          <a:pt x="24" y="22"/>
                        </a:lnTo>
                        <a:lnTo>
                          <a:pt x="0" y="22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95" name="Freeform 464"/>
                  <p:cNvSpPr>
                    <a:spLocks/>
                  </p:cNvSpPr>
                  <p:nvPr/>
                </p:nvSpPr>
                <p:spPr bwMode="auto">
                  <a:xfrm>
                    <a:off x="3570" y="2674"/>
                    <a:ext cx="11" cy="9"/>
                  </a:xfrm>
                  <a:custGeom>
                    <a:avLst/>
                    <a:gdLst>
                      <a:gd name="T0" fmla="*/ 0 w 11"/>
                      <a:gd name="T1" fmla="*/ 9 h 9"/>
                      <a:gd name="T2" fmla="*/ 11 w 11"/>
                      <a:gd name="T3" fmla="*/ 0 h 9"/>
                      <a:gd name="T4" fmla="*/ 11 w 11"/>
                      <a:gd name="T5" fmla="*/ 9 h 9"/>
                      <a:gd name="T6" fmla="*/ 0 w 11"/>
                      <a:gd name="T7" fmla="*/ 9 h 9"/>
                      <a:gd name="T8" fmla="*/ 0 w 11"/>
                      <a:gd name="T9" fmla="*/ 9 h 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"/>
                      <a:gd name="T16" fmla="*/ 0 h 9"/>
                      <a:gd name="T17" fmla="*/ 11 w 11"/>
                      <a:gd name="T18" fmla="*/ 9 h 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" h="9">
                        <a:moveTo>
                          <a:pt x="0" y="9"/>
                        </a:moveTo>
                        <a:lnTo>
                          <a:pt x="11" y="0"/>
                        </a:lnTo>
                        <a:lnTo>
                          <a:pt x="11" y="9"/>
                        </a:lnTo>
                        <a:lnTo>
                          <a:pt x="0" y="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96" name="Freeform 465"/>
                  <p:cNvSpPr>
                    <a:spLocks/>
                  </p:cNvSpPr>
                  <p:nvPr/>
                </p:nvSpPr>
                <p:spPr bwMode="auto">
                  <a:xfrm>
                    <a:off x="3570" y="2674"/>
                    <a:ext cx="11" cy="9"/>
                  </a:xfrm>
                  <a:custGeom>
                    <a:avLst/>
                    <a:gdLst>
                      <a:gd name="T0" fmla="*/ 0 w 11"/>
                      <a:gd name="T1" fmla="*/ 9 h 9"/>
                      <a:gd name="T2" fmla="*/ 11 w 11"/>
                      <a:gd name="T3" fmla="*/ 0 h 9"/>
                      <a:gd name="T4" fmla="*/ 11 w 11"/>
                      <a:gd name="T5" fmla="*/ 9 h 9"/>
                      <a:gd name="T6" fmla="*/ 0 w 11"/>
                      <a:gd name="T7" fmla="*/ 9 h 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1"/>
                      <a:gd name="T13" fmla="*/ 0 h 9"/>
                      <a:gd name="T14" fmla="*/ 11 w 11"/>
                      <a:gd name="T15" fmla="*/ 9 h 9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1" h="9">
                        <a:moveTo>
                          <a:pt x="0" y="9"/>
                        </a:moveTo>
                        <a:lnTo>
                          <a:pt x="11" y="0"/>
                        </a:lnTo>
                        <a:lnTo>
                          <a:pt x="11" y="9"/>
                        </a:lnTo>
                        <a:lnTo>
                          <a:pt x="0" y="9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97" name="Freeform 466"/>
                  <p:cNvSpPr>
                    <a:spLocks/>
                  </p:cNvSpPr>
                  <p:nvPr/>
                </p:nvSpPr>
                <p:spPr bwMode="auto">
                  <a:xfrm>
                    <a:off x="3605" y="2677"/>
                    <a:ext cx="17" cy="6"/>
                  </a:xfrm>
                  <a:custGeom>
                    <a:avLst/>
                    <a:gdLst>
                      <a:gd name="T0" fmla="*/ 9 w 17"/>
                      <a:gd name="T1" fmla="*/ 0 h 6"/>
                      <a:gd name="T2" fmla="*/ 17 w 17"/>
                      <a:gd name="T3" fmla="*/ 0 h 6"/>
                      <a:gd name="T4" fmla="*/ 16 w 17"/>
                      <a:gd name="T5" fmla="*/ 3 h 6"/>
                      <a:gd name="T6" fmla="*/ 16 w 17"/>
                      <a:gd name="T7" fmla="*/ 6 h 6"/>
                      <a:gd name="T8" fmla="*/ 0 w 17"/>
                      <a:gd name="T9" fmla="*/ 6 h 6"/>
                      <a:gd name="T10" fmla="*/ 9 w 17"/>
                      <a:gd name="T11" fmla="*/ 0 h 6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17"/>
                      <a:gd name="T19" fmla="*/ 0 h 6"/>
                      <a:gd name="T20" fmla="*/ 17 w 17"/>
                      <a:gd name="T21" fmla="*/ 6 h 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17" h="6">
                        <a:moveTo>
                          <a:pt x="9" y="0"/>
                        </a:moveTo>
                        <a:lnTo>
                          <a:pt x="17" y="0"/>
                        </a:lnTo>
                        <a:lnTo>
                          <a:pt x="16" y="3"/>
                        </a:lnTo>
                        <a:lnTo>
                          <a:pt x="16" y="6"/>
                        </a:lnTo>
                        <a:lnTo>
                          <a:pt x="0" y="6"/>
                        </a:lnTo>
                        <a:lnTo>
                          <a:pt x="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98" name="Freeform 467"/>
                  <p:cNvSpPr>
                    <a:spLocks/>
                  </p:cNvSpPr>
                  <p:nvPr/>
                </p:nvSpPr>
                <p:spPr bwMode="auto">
                  <a:xfrm>
                    <a:off x="3605" y="2677"/>
                    <a:ext cx="17" cy="6"/>
                  </a:xfrm>
                  <a:custGeom>
                    <a:avLst/>
                    <a:gdLst>
                      <a:gd name="T0" fmla="*/ 9 w 17"/>
                      <a:gd name="T1" fmla="*/ 0 h 6"/>
                      <a:gd name="T2" fmla="*/ 17 w 17"/>
                      <a:gd name="T3" fmla="*/ 0 h 6"/>
                      <a:gd name="T4" fmla="*/ 16 w 17"/>
                      <a:gd name="T5" fmla="*/ 3 h 6"/>
                      <a:gd name="T6" fmla="*/ 16 w 17"/>
                      <a:gd name="T7" fmla="*/ 6 h 6"/>
                      <a:gd name="T8" fmla="*/ 0 w 17"/>
                      <a:gd name="T9" fmla="*/ 6 h 6"/>
                      <a:gd name="T10" fmla="*/ 9 w 17"/>
                      <a:gd name="T11" fmla="*/ 0 h 6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17"/>
                      <a:gd name="T19" fmla="*/ 0 h 6"/>
                      <a:gd name="T20" fmla="*/ 17 w 17"/>
                      <a:gd name="T21" fmla="*/ 6 h 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17" h="6">
                        <a:moveTo>
                          <a:pt x="9" y="0"/>
                        </a:moveTo>
                        <a:lnTo>
                          <a:pt x="17" y="0"/>
                        </a:lnTo>
                        <a:lnTo>
                          <a:pt x="16" y="3"/>
                        </a:lnTo>
                        <a:lnTo>
                          <a:pt x="16" y="6"/>
                        </a:lnTo>
                        <a:lnTo>
                          <a:pt x="0" y="6"/>
                        </a:lnTo>
                        <a:lnTo>
                          <a:pt x="9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99" name="Freeform 468"/>
                  <p:cNvSpPr>
                    <a:spLocks/>
                  </p:cNvSpPr>
                  <p:nvPr/>
                </p:nvSpPr>
                <p:spPr bwMode="auto">
                  <a:xfrm>
                    <a:off x="3621" y="2677"/>
                    <a:ext cx="30" cy="6"/>
                  </a:xfrm>
                  <a:custGeom>
                    <a:avLst/>
                    <a:gdLst>
                      <a:gd name="T0" fmla="*/ 28 w 30"/>
                      <a:gd name="T1" fmla="*/ 0 h 6"/>
                      <a:gd name="T2" fmla="*/ 27 w 30"/>
                      <a:gd name="T3" fmla="*/ 1 h 6"/>
                      <a:gd name="T4" fmla="*/ 24 w 30"/>
                      <a:gd name="T5" fmla="*/ 2 h 6"/>
                      <a:gd name="T6" fmla="*/ 21 w 30"/>
                      <a:gd name="T7" fmla="*/ 2 h 6"/>
                      <a:gd name="T8" fmla="*/ 19 w 30"/>
                      <a:gd name="T9" fmla="*/ 3 h 6"/>
                      <a:gd name="T10" fmla="*/ 16 w 30"/>
                      <a:gd name="T11" fmla="*/ 3 h 6"/>
                      <a:gd name="T12" fmla="*/ 13 w 30"/>
                      <a:gd name="T13" fmla="*/ 3 h 6"/>
                      <a:gd name="T14" fmla="*/ 9 w 30"/>
                      <a:gd name="T15" fmla="*/ 3 h 6"/>
                      <a:gd name="T16" fmla="*/ 6 w 30"/>
                      <a:gd name="T17" fmla="*/ 2 h 6"/>
                      <a:gd name="T18" fmla="*/ 4 w 30"/>
                      <a:gd name="T19" fmla="*/ 2 h 6"/>
                      <a:gd name="T20" fmla="*/ 2 w 30"/>
                      <a:gd name="T21" fmla="*/ 0 h 6"/>
                      <a:gd name="T22" fmla="*/ 1 w 30"/>
                      <a:gd name="T23" fmla="*/ 0 h 6"/>
                      <a:gd name="T24" fmla="*/ 0 w 30"/>
                      <a:gd name="T25" fmla="*/ 3 h 6"/>
                      <a:gd name="T26" fmla="*/ 0 w 30"/>
                      <a:gd name="T27" fmla="*/ 6 h 6"/>
                      <a:gd name="T28" fmla="*/ 27 w 30"/>
                      <a:gd name="T29" fmla="*/ 6 h 6"/>
                      <a:gd name="T30" fmla="*/ 30 w 30"/>
                      <a:gd name="T31" fmla="*/ 3 h 6"/>
                      <a:gd name="T32" fmla="*/ 30 w 30"/>
                      <a:gd name="T33" fmla="*/ 0 h 6"/>
                      <a:gd name="T34" fmla="*/ 28 w 30"/>
                      <a:gd name="T35" fmla="*/ 0 h 6"/>
                      <a:gd name="T36" fmla="*/ 28 w 30"/>
                      <a:gd name="T37" fmla="*/ 0 h 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30"/>
                      <a:gd name="T58" fmla="*/ 0 h 6"/>
                      <a:gd name="T59" fmla="*/ 30 w 30"/>
                      <a:gd name="T60" fmla="*/ 6 h 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30" h="6">
                        <a:moveTo>
                          <a:pt x="28" y="0"/>
                        </a:moveTo>
                        <a:lnTo>
                          <a:pt x="27" y="1"/>
                        </a:lnTo>
                        <a:lnTo>
                          <a:pt x="24" y="2"/>
                        </a:lnTo>
                        <a:lnTo>
                          <a:pt x="21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9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7" y="6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00" name="Freeform 469"/>
                  <p:cNvSpPr>
                    <a:spLocks/>
                  </p:cNvSpPr>
                  <p:nvPr/>
                </p:nvSpPr>
                <p:spPr bwMode="auto">
                  <a:xfrm>
                    <a:off x="3621" y="2677"/>
                    <a:ext cx="30" cy="6"/>
                  </a:xfrm>
                  <a:custGeom>
                    <a:avLst/>
                    <a:gdLst>
                      <a:gd name="T0" fmla="*/ 28 w 30"/>
                      <a:gd name="T1" fmla="*/ 0 h 6"/>
                      <a:gd name="T2" fmla="*/ 27 w 30"/>
                      <a:gd name="T3" fmla="*/ 1 h 6"/>
                      <a:gd name="T4" fmla="*/ 24 w 30"/>
                      <a:gd name="T5" fmla="*/ 2 h 6"/>
                      <a:gd name="T6" fmla="*/ 21 w 30"/>
                      <a:gd name="T7" fmla="*/ 2 h 6"/>
                      <a:gd name="T8" fmla="*/ 19 w 30"/>
                      <a:gd name="T9" fmla="*/ 3 h 6"/>
                      <a:gd name="T10" fmla="*/ 16 w 30"/>
                      <a:gd name="T11" fmla="*/ 3 h 6"/>
                      <a:gd name="T12" fmla="*/ 13 w 30"/>
                      <a:gd name="T13" fmla="*/ 3 h 6"/>
                      <a:gd name="T14" fmla="*/ 9 w 30"/>
                      <a:gd name="T15" fmla="*/ 3 h 6"/>
                      <a:gd name="T16" fmla="*/ 6 w 30"/>
                      <a:gd name="T17" fmla="*/ 2 h 6"/>
                      <a:gd name="T18" fmla="*/ 4 w 30"/>
                      <a:gd name="T19" fmla="*/ 2 h 6"/>
                      <a:gd name="T20" fmla="*/ 2 w 30"/>
                      <a:gd name="T21" fmla="*/ 0 h 6"/>
                      <a:gd name="T22" fmla="*/ 1 w 30"/>
                      <a:gd name="T23" fmla="*/ 0 h 6"/>
                      <a:gd name="T24" fmla="*/ 0 w 30"/>
                      <a:gd name="T25" fmla="*/ 3 h 6"/>
                      <a:gd name="T26" fmla="*/ 0 w 30"/>
                      <a:gd name="T27" fmla="*/ 6 h 6"/>
                      <a:gd name="T28" fmla="*/ 27 w 30"/>
                      <a:gd name="T29" fmla="*/ 6 h 6"/>
                      <a:gd name="T30" fmla="*/ 30 w 30"/>
                      <a:gd name="T31" fmla="*/ 3 h 6"/>
                      <a:gd name="T32" fmla="*/ 30 w 30"/>
                      <a:gd name="T33" fmla="*/ 0 h 6"/>
                      <a:gd name="T34" fmla="*/ 28 w 30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0"/>
                      <a:gd name="T55" fmla="*/ 0 h 6"/>
                      <a:gd name="T56" fmla="*/ 30 w 30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0" h="6">
                        <a:moveTo>
                          <a:pt x="28" y="0"/>
                        </a:moveTo>
                        <a:lnTo>
                          <a:pt x="27" y="1"/>
                        </a:lnTo>
                        <a:lnTo>
                          <a:pt x="24" y="2"/>
                        </a:lnTo>
                        <a:lnTo>
                          <a:pt x="21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9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7" y="6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28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01" name="Freeform 470"/>
                  <p:cNvSpPr>
                    <a:spLocks/>
                  </p:cNvSpPr>
                  <p:nvPr/>
                </p:nvSpPr>
                <p:spPr bwMode="auto">
                  <a:xfrm>
                    <a:off x="3648" y="2677"/>
                    <a:ext cx="17" cy="6"/>
                  </a:xfrm>
                  <a:custGeom>
                    <a:avLst/>
                    <a:gdLst>
                      <a:gd name="T0" fmla="*/ 3 w 17"/>
                      <a:gd name="T1" fmla="*/ 0 h 6"/>
                      <a:gd name="T2" fmla="*/ 17 w 17"/>
                      <a:gd name="T3" fmla="*/ 0 h 6"/>
                      <a:gd name="T4" fmla="*/ 16 w 17"/>
                      <a:gd name="T5" fmla="*/ 3 h 6"/>
                      <a:gd name="T6" fmla="*/ 16 w 17"/>
                      <a:gd name="T7" fmla="*/ 6 h 6"/>
                      <a:gd name="T8" fmla="*/ 0 w 17"/>
                      <a:gd name="T9" fmla="*/ 6 h 6"/>
                      <a:gd name="T10" fmla="*/ 3 w 17"/>
                      <a:gd name="T11" fmla="*/ 3 h 6"/>
                      <a:gd name="T12" fmla="*/ 3 w 17"/>
                      <a:gd name="T13" fmla="*/ 0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7"/>
                      <a:gd name="T22" fmla="*/ 0 h 6"/>
                      <a:gd name="T23" fmla="*/ 17 w 17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7" h="6">
                        <a:moveTo>
                          <a:pt x="3" y="0"/>
                        </a:moveTo>
                        <a:lnTo>
                          <a:pt x="17" y="0"/>
                        </a:lnTo>
                        <a:lnTo>
                          <a:pt x="16" y="3"/>
                        </a:lnTo>
                        <a:lnTo>
                          <a:pt x="16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02" name="Freeform 471"/>
                  <p:cNvSpPr>
                    <a:spLocks/>
                  </p:cNvSpPr>
                  <p:nvPr/>
                </p:nvSpPr>
                <p:spPr bwMode="auto">
                  <a:xfrm>
                    <a:off x="3648" y="2677"/>
                    <a:ext cx="17" cy="6"/>
                  </a:xfrm>
                  <a:custGeom>
                    <a:avLst/>
                    <a:gdLst>
                      <a:gd name="T0" fmla="*/ 3 w 17"/>
                      <a:gd name="T1" fmla="*/ 0 h 6"/>
                      <a:gd name="T2" fmla="*/ 17 w 17"/>
                      <a:gd name="T3" fmla="*/ 0 h 6"/>
                      <a:gd name="T4" fmla="*/ 16 w 17"/>
                      <a:gd name="T5" fmla="*/ 3 h 6"/>
                      <a:gd name="T6" fmla="*/ 16 w 17"/>
                      <a:gd name="T7" fmla="*/ 6 h 6"/>
                      <a:gd name="T8" fmla="*/ 0 w 17"/>
                      <a:gd name="T9" fmla="*/ 6 h 6"/>
                      <a:gd name="T10" fmla="*/ 3 w 17"/>
                      <a:gd name="T11" fmla="*/ 3 h 6"/>
                      <a:gd name="T12" fmla="*/ 3 w 17"/>
                      <a:gd name="T13" fmla="*/ 0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7"/>
                      <a:gd name="T22" fmla="*/ 0 h 6"/>
                      <a:gd name="T23" fmla="*/ 17 w 17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7" h="6">
                        <a:moveTo>
                          <a:pt x="3" y="0"/>
                        </a:moveTo>
                        <a:lnTo>
                          <a:pt x="17" y="0"/>
                        </a:lnTo>
                        <a:lnTo>
                          <a:pt x="16" y="3"/>
                        </a:lnTo>
                        <a:lnTo>
                          <a:pt x="16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  <a:lnTo>
                          <a:pt x="3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03" name="Freeform 472"/>
                  <p:cNvSpPr>
                    <a:spLocks/>
                  </p:cNvSpPr>
                  <p:nvPr/>
                </p:nvSpPr>
                <p:spPr bwMode="auto">
                  <a:xfrm>
                    <a:off x="3664" y="2677"/>
                    <a:ext cx="31" cy="6"/>
                  </a:xfrm>
                  <a:custGeom>
                    <a:avLst/>
                    <a:gdLst>
                      <a:gd name="T0" fmla="*/ 28 w 31"/>
                      <a:gd name="T1" fmla="*/ 0 h 6"/>
                      <a:gd name="T2" fmla="*/ 26 w 31"/>
                      <a:gd name="T3" fmla="*/ 1 h 6"/>
                      <a:gd name="T4" fmla="*/ 25 w 31"/>
                      <a:gd name="T5" fmla="*/ 2 h 6"/>
                      <a:gd name="T6" fmla="*/ 22 w 31"/>
                      <a:gd name="T7" fmla="*/ 2 h 6"/>
                      <a:gd name="T8" fmla="*/ 19 w 31"/>
                      <a:gd name="T9" fmla="*/ 3 h 6"/>
                      <a:gd name="T10" fmla="*/ 16 w 31"/>
                      <a:gd name="T11" fmla="*/ 3 h 6"/>
                      <a:gd name="T12" fmla="*/ 12 w 31"/>
                      <a:gd name="T13" fmla="*/ 3 h 6"/>
                      <a:gd name="T14" fmla="*/ 9 w 31"/>
                      <a:gd name="T15" fmla="*/ 3 h 6"/>
                      <a:gd name="T16" fmla="*/ 6 w 31"/>
                      <a:gd name="T17" fmla="*/ 2 h 6"/>
                      <a:gd name="T18" fmla="*/ 4 w 31"/>
                      <a:gd name="T19" fmla="*/ 2 h 6"/>
                      <a:gd name="T20" fmla="*/ 2 w 31"/>
                      <a:gd name="T21" fmla="*/ 0 h 6"/>
                      <a:gd name="T22" fmla="*/ 1 w 31"/>
                      <a:gd name="T23" fmla="*/ 0 h 6"/>
                      <a:gd name="T24" fmla="*/ 0 w 31"/>
                      <a:gd name="T25" fmla="*/ 3 h 6"/>
                      <a:gd name="T26" fmla="*/ 0 w 31"/>
                      <a:gd name="T27" fmla="*/ 6 h 6"/>
                      <a:gd name="T28" fmla="*/ 26 w 31"/>
                      <a:gd name="T29" fmla="*/ 6 h 6"/>
                      <a:gd name="T30" fmla="*/ 31 w 31"/>
                      <a:gd name="T31" fmla="*/ 3 h 6"/>
                      <a:gd name="T32" fmla="*/ 31 w 31"/>
                      <a:gd name="T33" fmla="*/ 0 h 6"/>
                      <a:gd name="T34" fmla="*/ 28 w 31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"/>
                      <a:gd name="T55" fmla="*/ 0 h 6"/>
                      <a:gd name="T56" fmla="*/ 31 w 31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" h="6">
                        <a:moveTo>
                          <a:pt x="28" y="0"/>
                        </a:moveTo>
                        <a:lnTo>
                          <a:pt x="26" y="1"/>
                        </a:lnTo>
                        <a:lnTo>
                          <a:pt x="25" y="2"/>
                        </a:lnTo>
                        <a:lnTo>
                          <a:pt x="22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2" y="3"/>
                        </a:lnTo>
                        <a:lnTo>
                          <a:pt x="9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6" y="6"/>
                        </a:lnTo>
                        <a:lnTo>
                          <a:pt x="31" y="3"/>
                        </a:lnTo>
                        <a:lnTo>
                          <a:pt x="31" y="0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04" name="Freeform 473"/>
                  <p:cNvSpPr>
                    <a:spLocks/>
                  </p:cNvSpPr>
                  <p:nvPr/>
                </p:nvSpPr>
                <p:spPr bwMode="auto">
                  <a:xfrm>
                    <a:off x="3664" y="2677"/>
                    <a:ext cx="31" cy="6"/>
                  </a:xfrm>
                  <a:custGeom>
                    <a:avLst/>
                    <a:gdLst>
                      <a:gd name="T0" fmla="*/ 28 w 31"/>
                      <a:gd name="T1" fmla="*/ 0 h 6"/>
                      <a:gd name="T2" fmla="*/ 26 w 31"/>
                      <a:gd name="T3" fmla="*/ 1 h 6"/>
                      <a:gd name="T4" fmla="*/ 25 w 31"/>
                      <a:gd name="T5" fmla="*/ 2 h 6"/>
                      <a:gd name="T6" fmla="*/ 22 w 31"/>
                      <a:gd name="T7" fmla="*/ 2 h 6"/>
                      <a:gd name="T8" fmla="*/ 19 w 31"/>
                      <a:gd name="T9" fmla="*/ 3 h 6"/>
                      <a:gd name="T10" fmla="*/ 16 w 31"/>
                      <a:gd name="T11" fmla="*/ 3 h 6"/>
                      <a:gd name="T12" fmla="*/ 12 w 31"/>
                      <a:gd name="T13" fmla="*/ 3 h 6"/>
                      <a:gd name="T14" fmla="*/ 9 w 31"/>
                      <a:gd name="T15" fmla="*/ 3 h 6"/>
                      <a:gd name="T16" fmla="*/ 6 w 31"/>
                      <a:gd name="T17" fmla="*/ 2 h 6"/>
                      <a:gd name="T18" fmla="*/ 4 w 31"/>
                      <a:gd name="T19" fmla="*/ 2 h 6"/>
                      <a:gd name="T20" fmla="*/ 2 w 31"/>
                      <a:gd name="T21" fmla="*/ 0 h 6"/>
                      <a:gd name="T22" fmla="*/ 1 w 31"/>
                      <a:gd name="T23" fmla="*/ 0 h 6"/>
                      <a:gd name="T24" fmla="*/ 0 w 31"/>
                      <a:gd name="T25" fmla="*/ 3 h 6"/>
                      <a:gd name="T26" fmla="*/ 0 w 31"/>
                      <a:gd name="T27" fmla="*/ 6 h 6"/>
                      <a:gd name="T28" fmla="*/ 26 w 31"/>
                      <a:gd name="T29" fmla="*/ 6 h 6"/>
                      <a:gd name="T30" fmla="*/ 31 w 31"/>
                      <a:gd name="T31" fmla="*/ 3 h 6"/>
                      <a:gd name="T32" fmla="*/ 31 w 31"/>
                      <a:gd name="T33" fmla="*/ 0 h 6"/>
                      <a:gd name="T34" fmla="*/ 28 w 31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"/>
                      <a:gd name="T55" fmla="*/ 0 h 6"/>
                      <a:gd name="T56" fmla="*/ 31 w 31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" h="6">
                        <a:moveTo>
                          <a:pt x="28" y="0"/>
                        </a:moveTo>
                        <a:lnTo>
                          <a:pt x="26" y="1"/>
                        </a:lnTo>
                        <a:lnTo>
                          <a:pt x="25" y="2"/>
                        </a:lnTo>
                        <a:lnTo>
                          <a:pt x="22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2" y="3"/>
                        </a:lnTo>
                        <a:lnTo>
                          <a:pt x="9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6" y="6"/>
                        </a:lnTo>
                        <a:lnTo>
                          <a:pt x="31" y="3"/>
                        </a:lnTo>
                        <a:lnTo>
                          <a:pt x="31" y="0"/>
                        </a:lnTo>
                        <a:lnTo>
                          <a:pt x="28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05" name="Freeform 474"/>
                  <p:cNvSpPr>
                    <a:spLocks/>
                  </p:cNvSpPr>
                  <p:nvPr/>
                </p:nvSpPr>
                <p:spPr bwMode="auto">
                  <a:xfrm>
                    <a:off x="3690" y="2677"/>
                    <a:ext cx="31" cy="6"/>
                  </a:xfrm>
                  <a:custGeom>
                    <a:avLst/>
                    <a:gdLst>
                      <a:gd name="T0" fmla="*/ 5 w 31"/>
                      <a:gd name="T1" fmla="*/ 0 h 6"/>
                      <a:gd name="T2" fmla="*/ 31 w 31"/>
                      <a:gd name="T3" fmla="*/ 0 h 6"/>
                      <a:gd name="T4" fmla="*/ 30 w 31"/>
                      <a:gd name="T5" fmla="*/ 3 h 6"/>
                      <a:gd name="T6" fmla="*/ 30 w 31"/>
                      <a:gd name="T7" fmla="*/ 6 h 6"/>
                      <a:gd name="T8" fmla="*/ 0 w 31"/>
                      <a:gd name="T9" fmla="*/ 6 h 6"/>
                      <a:gd name="T10" fmla="*/ 5 w 31"/>
                      <a:gd name="T11" fmla="*/ 3 h 6"/>
                      <a:gd name="T12" fmla="*/ 5 w 31"/>
                      <a:gd name="T13" fmla="*/ 0 h 6"/>
                      <a:gd name="T14" fmla="*/ 5 w 31"/>
                      <a:gd name="T15" fmla="*/ 0 h 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1"/>
                      <a:gd name="T25" fmla="*/ 0 h 6"/>
                      <a:gd name="T26" fmla="*/ 31 w 31"/>
                      <a:gd name="T27" fmla="*/ 6 h 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1" h="6">
                        <a:moveTo>
                          <a:pt x="5" y="0"/>
                        </a:moveTo>
                        <a:lnTo>
                          <a:pt x="31" y="0"/>
                        </a:lnTo>
                        <a:lnTo>
                          <a:pt x="30" y="3"/>
                        </a:lnTo>
                        <a:lnTo>
                          <a:pt x="30" y="6"/>
                        </a:lnTo>
                        <a:lnTo>
                          <a:pt x="0" y="6"/>
                        </a:lnTo>
                        <a:lnTo>
                          <a:pt x="5" y="3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06" name="Freeform 475"/>
                  <p:cNvSpPr>
                    <a:spLocks/>
                  </p:cNvSpPr>
                  <p:nvPr/>
                </p:nvSpPr>
                <p:spPr bwMode="auto">
                  <a:xfrm>
                    <a:off x="3690" y="2677"/>
                    <a:ext cx="31" cy="6"/>
                  </a:xfrm>
                  <a:custGeom>
                    <a:avLst/>
                    <a:gdLst>
                      <a:gd name="T0" fmla="*/ 5 w 31"/>
                      <a:gd name="T1" fmla="*/ 0 h 6"/>
                      <a:gd name="T2" fmla="*/ 31 w 31"/>
                      <a:gd name="T3" fmla="*/ 0 h 6"/>
                      <a:gd name="T4" fmla="*/ 30 w 31"/>
                      <a:gd name="T5" fmla="*/ 3 h 6"/>
                      <a:gd name="T6" fmla="*/ 30 w 31"/>
                      <a:gd name="T7" fmla="*/ 6 h 6"/>
                      <a:gd name="T8" fmla="*/ 0 w 31"/>
                      <a:gd name="T9" fmla="*/ 6 h 6"/>
                      <a:gd name="T10" fmla="*/ 5 w 31"/>
                      <a:gd name="T11" fmla="*/ 3 h 6"/>
                      <a:gd name="T12" fmla="*/ 5 w 31"/>
                      <a:gd name="T13" fmla="*/ 0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1"/>
                      <a:gd name="T22" fmla="*/ 0 h 6"/>
                      <a:gd name="T23" fmla="*/ 31 w 31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1" h="6">
                        <a:moveTo>
                          <a:pt x="5" y="0"/>
                        </a:moveTo>
                        <a:lnTo>
                          <a:pt x="31" y="0"/>
                        </a:lnTo>
                        <a:lnTo>
                          <a:pt x="30" y="3"/>
                        </a:lnTo>
                        <a:lnTo>
                          <a:pt x="30" y="6"/>
                        </a:lnTo>
                        <a:lnTo>
                          <a:pt x="0" y="6"/>
                        </a:lnTo>
                        <a:lnTo>
                          <a:pt x="5" y="3"/>
                        </a:lnTo>
                        <a:lnTo>
                          <a:pt x="5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07" name="Freeform 476"/>
                  <p:cNvSpPr>
                    <a:spLocks/>
                  </p:cNvSpPr>
                  <p:nvPr/>
                </p:nvSpPr>
                <p:spPr bwMode="auto">
                  <a:xfrm>
                    <a:off x="3720" y="2677"/>
                    <a:ext cx="30" cy="6"/>
                  </a:xfrm>
                  <a:custGeom>
                    <a:avLst/>
                    <a:gdLst>
                      <a:gd name="T0" fmla="*/ 28 w 30"/>
                      <a:gd name="T1" fmla="*/ 0 h 6"/>
                      <a:gd name="T2" fmla="*/ 27 w 30"/>
                      <a:gd name="T3" fmla="*/ 1 h 6"/>
                      <a:gd name="T4" fmla="*/ 25 w 30"/>
                      <a:gd name="T5" fmla="*/ 2 h 6"/>
                      <a:gd name="T6" fmla="*/ 22 w 30"/>
                      <a:gd name="T7" fmla="*/ 2 h 6"/>
                      <a:gd name="T8" fmla="*/ 18 w 30"/>
                      <a:gd name="T9" fmla="*/ 3 h 6"/>
                      <a:gd name="T10" fmla="*/ 16 w 30"/>
                      <a:gd name="T11" fmla="*/ 3 h 6"/>
                      <a:gd name="T12" fmla="*/ 13 w 30"/>
                      <a:gd name="T13" fmla="*/ 3 h 6"/>
                      <a:gd name="T14" fmla="*/ 10 w 30"/>
                      <a:gd name="T15" fmla="*/ 3 h 6"/>
                      <a:gd name="T16" fmla="*/ 7 w 30"/>
                      <a:gd name="T17" fmla="*/ 2 h 6"/>
                      <a:gd name="T18" fmla="*/ 4 w 30"/>
                      <a:gd name="T19" fmla="*/ 2 h 6"/>
                      <a:gd name="T20" fmla="*/ 2 w 30"/>
                      <a:gd name="T21" fmla="*/ 0 h 6"/>
                      <a:gd name="T22" fmla="*/ 1 w 30"/>
                      <a:gd name="T23" fmla="*/ 0 h 6"/>
                      <a:gd name="T24" fmla="*/ 0 w 30"/>
                      <a:gd name="T25" fmla="*/ 3 h 6"/>
                      <a:gd name="T26" fmla="*/ 0 w 30"/>
                      <a:gd name="T27" fmla="*/ 6 h 6"/>
                      <a:gd name="T28" fmla="*/ 27 w 30"/>
                      <a:gd name="T29" fmla="*/ 6 h 6"/>
                      <a:gd name="T30" fmla="*/ 30 w 30"/>
                      <a:gd name="T31" fmla="*/ 3 h 6"/>
                      <a:gd name="T32" fmla="*/ 30 w 30"/>
                      <a:gd name="T33" fmla="*/ 0 h 6"/>
                      <a:gd name="T34" fmla="*/ 28 w 30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0"/>
                      <a:gd name="T55" fmla="*/ 0 h 6"/>
                      <a:gd name="T56" fmla="*/ 30 w 30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0" h="6">
                        <a:moveTo>
                          <a:pt x="28" y="0"/>
                        </a:moveTo>
                        <a:lnTo>
                          <a:pt x="27" y="1"/>
                        </a:lnTo>
                        <a:lnTo>
                          <a:pt x="25" y="2"/>
                        </a:lnTo>
                        <a:lnTo>
                          <a:pt x="22" y="2"/>
                        </a:lnTo>
                        <a:lnTo>
                          <a:pt x="18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10" y="3"/>
                        </a:lnTo>
                        <a:lnTo>
                          <a:pt x="7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7" y="6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08" name="Freeform 477"/>
                  <p:cNvSpPr>
                    <a:spLocks/>
                  </p:cNvSpPr>
                  <p:nvPr/>
                </p:nvSpPr>
                <p:spPr bwMode="auto">
                  <a:xfrm>
                    <a:off x="3720" y="2677"/>
                    <a:ext cx="30" cy="6"/>
                  </a:xfrm>
                  <a:custGeom>
                    <a:avLst/>
                    <a:gdLst>
                      <a:gd name="T0" fmla="*/ 28 w 30"/>
                      <a:gd name="T1" fmla="*/ 0 h 6"/>
                      <a:gd name="T2" fmla="*/ 27 w 30"/>
                      <a:gd name="T3" fmla="*/ 1 h 6"/>
                      <a:gd name="T4" fmla="*/ 25 w 30"/>
                      <a:gd name="T5" fmla="*/ 2 h 6"/>
                      <a:gd name="T6" fmla="*/ 22 w 30"/>
                      <a:gd name="T7" fmla="*/ 2 h 6"/>
                      <a:gd name="T8" fmla="*/ 18 w 30"/>
                      <a:gd name="T9" fmla="*/ 3 h 6"/>
                      <a:gd name="T10" fmla="*/ 16 w 30"/>
                      <a:gd name="T11" fmla="*/ 3 h 6"/>
                      <a:gd name="T12" fmla="*/ 13 w 30"/>
                      <a:gd name="T13" fmla="*/ 3 h 6"/>
                      <a:gd name="T14" fmla="*/ 10 w 30"/>
                      <a:gd name="T15" fmla="*/ 3 h 6"/>
                      <a:gd name="T16" fmla="*/ 7 w 30"/>
                      <a:gd name="T17" fmla="*/ 2 h 6"/>
                      <a:gd name="T18" fmla="*/ 4 w 30"/>
                      <a:gd name="T19" fmla="*/ 2 h 6"/>
                      <a:gd name="T20" fmla="*/ 2 w 30"/>
                      <a:gd name="T21" fmla="*/ 0 h 6"/>
                      <a:gd name="T22" fmla="*/ 1 w 30"/>
                      <a:gd name="T23" fmla="*/ 0 h 6"/>
                      <a:gd name="T24" fmla="*/ 0 w 30"/>
                      <a:gd name="T25" fmla="*/ 3 h 6"/>
                      <a:gd name="T26" fmla="*/ 0 w 30"/>
                      <a:gd name="T27" fmla="*/ 6 h 6"/>
                      <a:gd name="T28" fmla="*/ 27 w 30"/>
                      <a:gd name="T29" fmla="*/ 6 h 6"/>
                      <a:gd name="T30" fmla="*/ 30 w 30"/>
                      <a:gd name="T31" fmla="*/ 3 h 6"/>
                      <a:gd name="T32" fmla="*/ 30 w 30"/>
                      <a:gd name="T33" fmla="*/ 0 h 6"/>
                      <a:gd name="T34" fmla="*/ 28 w 30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0"/>
                      <a:gd name="T55" fmla="*/ 0 h 6"/>
                      <a:gd name="T56" fmla="*/ 30 w 30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0" h="6">
                        <a:moveTo>
                          <a:pt x="28" y="0"/>
                        </a:moveTo>
                        <a:lnTo>
                          <a:pt x="27" y="1"/>
                        </a:lnTo>
                        <a:lnTo>
                          <a:pt x="25" y="2"/>
                        </a:lnTo>
                        <a:lnTo>
                          <a:pt x="22" y="2"/>
                        </a:lnTo>
                        <a:lnTo>
                          <a:pt x="18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10" y="3"/>
                        </a:lnTo>
                        <a:lnTo>
                          <a:pt x="7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7" y="6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28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09" name="Freeform 478"/>
                  <p:cNvSpPr>
                    <a:spLocks/>
                  </p:cNvSpPr>
                  <p:nvPr/>
                </p:nvSpPr>
                <p:spPr bwMode="auto">
                  <a:xfrm>
                    <a:off x="3747" y="2677"/>
                    <a:ext cx="18" cy="6"/>
                  </a:xfrm>
                  <a:custGeom>
                    <a:avLst/>
                    <a:gdLst>
                      <a:gd name="T0" fmla="*/ 3 w 18"/>
                      <a:gd name="T1" fmla="*/ 0 h 6"/>
                      <a:gd name="T2" fmla="*/ 18 w 18"/>
                      <a:gd name="T3" fmla="*/ 0 h 6"/>
                      <a:gd name="T4" fmla="*/ 17 w 18"/>
                      <a:gd name="T5" fmla="*/ 3 h 6"/>
                      <a:gd name="T6" fmla="*/ 17 w 18"/>
                      <a:gd name="T7" fmla="*/ 6 h 6"/>
                      <a:gd name="T8" fmla="*/ 0 w 18"/>
                      <a:gd name="T9" fmla="*/ 6 h 6"/>
                      <a:gd name="T10" fmla="*/ 3 w 18"/>
                      <a:gd name="T11" fmla="*/ 3 h 6"/>
                      <a:gd name="T12" fmla="*/ 3 w 18"/>
                      <a:gd name="T13" fmla="*/ 0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8"/>
                      <a:gd name="T22" fmla="*/ 0 h 6"/>
                      <a:gd name="T23" fmla="*/ 18 w 18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8" h="6">
                        <a:moveTo>
                          <a:pt x="3" y="0"/>
                        </a:moveTo>
                        <a:lnTo>
                          <a:pt x="18" y="0"/>
                        </a:lnTo>
                        <a:lnTo>
                          <a:pt x="17" y="3"/>
                        </a:lnTo>
                        <a:lnTo>
                          <a:pt x="17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10" name="Freeform 479"/>
                  <p:cNvSpPr>
                    <a:spLocks/>
                  </p:cNvSpPr>
                  <p:nvPr/>
                </p:nvSpPr>
                <p:spPr bwMode="auto">
                  <a:xfrm>
                    <a:off x="3747" y="2677"/>
                    <a:ext cx="18" cy="6"/>
                  </a:xfrm>
                  <a:custGeom>
                    <a:avLst/>
                    <a:gdLst>
                      <a:gd name="T0" fmla="*/ 3 w 18"/>
                      <a:gd name="T1" fmla="*/ 0 h 6"/>
                      <a:gd name="T2" fmla="*/ 18 w 18"/>
                      <a:gd name="T3" fmla="*/ 0 h 6"/>
                      <a:gd name="T4" fmla="*/ 17 w 18"/>
                      <a:gd name="T5" fmla="*/ 3 h 6"/>
                      <a:gd name="T6" fmla="*/ 17 w 18"/>
                      <a:gd name="T7" fmla="*/ 6 h 6"/>
                      <a:gd name="T8" fmla="*/ 0 w 18"/>
                      <a:gd name="T9" fmla="*/ 6 h 6"/>
                      <a:gd name="T10" fmla="*/ 3 w 18"/>
                      <a:gd name="T11" fmla="*/ 3 h 6"/>
                      <a:gd name="T12" fmla="*/ 3 w 18"/>
                      <a:gd name="T13" fmla="*/ 0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8"/>
                      <a:gd name="T22" fmla="*/ 0 h 6"/>
                      <a:gd name="T23" fmla="*/ 18 w 18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8" h="6">
                        <a:moveTo>
                          <a:pt x="3" y="0"/>
                        </a:moveTo>
                        <a:lnTo>
                          <a:pt x="18" y="0"/>
                        </a:lnTo>
                        <a:lnTo>
                          <a:pt x="17" y="3"/>
                        </a:lnTo>
                        <a:lnTo>
                          <a:pt x="17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  <a:lnTo>
                          <a:pt x="3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11" name="Freeform 480"/>
                  <p:cNvSpPr>
                    <a:spLocks/>
                  </p:cNvSpPr>
                  <p:nvPr/>
                </p:nvSpPr>
                <p:spPr bwMode="auto">
                  <a:xfrm>
                    <a:off x="3764" y="2677"/>
                    <a:ext cx="31" cy="6"/>
                  </a:xfrm>
                  <a:custGeom>
                    <a:avLst/>
                    <a:gdLst>
                      <a:gd name="T0" fmla="*/ 29 w 31"/>
                      <a:gd name="T1" fmla="*/ 0 h 6"/>
                      <a:gd name="T2" fmla="*/ 28 w 31"/>
                      <a:gd name="T3" fmla="*/ 1 h 6"/>
                      <a:gd name="T4" fmla="*/ 26 w 31"/>
                      <a:gd name="T5" fmla="*/ 2 h 6"/>
                      <a:gd name="T6" fmla="*/ 22 w 31"/>
                      <a:gd name="T7" fmla="*/ 2 h 6"/>
                      <a:gd name="T8" fmla="*/ 19 w 31"/>
                      <a:gd name="T9" fmla="*/ 3 h 6"/>
                      <a:gd name="T10" fmla="*/ 16 w 31"/>
                      <a:gd name="T11" fmla="*/ 3 h 6"/>
                      <a:gd name="T12" fmla="*/ 13 w 31"/>
                      <a:gd name="T13" fmla="*/ 3 h 6"/>
                      <a:gd name="T14" fmla="*/ 11 w 31"/>
                      <a:gd name="T15" fmla="*/ 3 h 6"/>
                      <a:gd name="T16" fmla="*/ 6 w 31"/>
                      <a:gd name="T17" fmla="*/ 2 h 6"/>
                      <a:gd name="T18" fmla="*/ 4 w 31"/>
                      <a:gd name="T19" fmla="*/ 2 h 6"/>
                      <a:gd name="T20" fmla="*/ 2 w 31"/>
                      <a:gd name="T21" fmla="*/ 0 h 6"/>
                      <a:gd name="T22" fmla="*/ 1 w 31"/>
                      <a:gd name="T23" fmla="*/ 0 h 6"/>
                      <a:gd name="T24" fmla="*/ 0 w 31"/>
                      <a:gd name="T25" fmla="*/ 3 h 6"/>
                      <a:gd name="T26" fmla="*/ 0 w 31"/>
                      <a:gd name="T27" fmla="*/ 6 h 6"/>
                      <a:gd name="T28" fmla="*/ 28 w 31"/>
                      <a:gd name="T29" fmla="*/ 6 h 6"/>
                      <a:gd name="T30" fmla="*/ 31 w 31"/>
                      <a:gd name="T31" fmla="*/ 3 h 6"/>
                      <a:gd name="T32" fmla="*/ 31 w 31"/>
                      <a:gd name="T33" fmla="*/ 0 h 6"/>
                      <a:gd name="T34" fmla="*/ 29 w 31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"/>
                      <a:gd name="T55" fmla="*/ 0 h 6"/>
                      <a:gd name="T56" fmla="*/ 31 w 31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" h="6">
                        <a:moveTo>
                          <a:pt x="29" y="0"/>
                        </a:moveTo>
                        <a:lnTo>
                          <a:pt x="28" y="1"/>
                        </a:lnTo>
                        <a:lnTo>
                          <a:pt x="26" y="2"/>
                        </a:lnTo>
                        <a:lnTo>
                          <a:pt x="22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11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8" y="6"/>
                        </a:lnTo>
                        <a:lnTo>
                          <a:pt x="31" y="3"/>
                        </a:lnTo>
                        <a:lnTo>
                          <a:pt x="31" y="0"/>
                        </a:lnTo>
                        <a:lnTo>
                          <a:pt x="2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12" name="Freeform 481"/>
                  <p:cNvSpPr>
                    <a:spLocks/>
                  </p:cNvSpPr>
                  <p:nvPr/>
                </p:nvSpPr>
                <p:spPr bwMode="auto">
                  <a:xfrm>
                    <a:off x="3764" y="2677"/>
                    <a:ext cx="31" cy="6"/>
                  </a:xfrm>
                  <a:custGeom>
                    <a:avLst/>
                    <a:gdLst>
                      <a:gd name="T0" fmla="*/ 29 w 31"/>
                      <a:gd name="T1" fmla="*/ 0 h 6"/>
                      <a:gd name="T2" fmla="*/ 28 w 31"/>
                      <a:gd name="T3" fmla="*/ 1 h 6"/>
                      <a:gd name="T4" fmla="*/ 26 w 31"/>
                      <a:gd name="T5" fmla="*/ 2 h 6"/>
                      <a:gd name="T6" fmla="*/ 22 w 31"/>
                      <a:gd name="T7" fmla="*/ 2 h 6"/>
                      <a:gd name="T8" fmla="*/ 19 w 31"/>
                      <a:gd name="T9" fmla="*/ 3 h 6"/>
                      <a:gd name="T10" fmla="*/ 16 w 31"/>
                      <a:gd name="T11" fmla="*/ 3 h 6"/>
                      <a:gd name="T12" fmla="*/ 13 w 31"/>
                      <a:gd name="T13" fmla="*/ 3 h 6"/>
                      <a:gd name="T14" fmla="*/ 11 w 31"/>
                      <a:gd name="T15" fmla="*/ 3 h 6"/>
                      <a:gd name="T16" fmla="*/ 6 w 31"/>
                      <a:gd name="T17" fmla="*/ 2 h 6"/>
                      <a:gd name="T18" fmla="*/ 4 w 31"/>
                      <a:gd name="T19" fmla="*/ 2 h 6"/>
                      <a:gd name="T20" fmla="*/ 2 w 31"/>
                      <a:gd name="T21" fmla="*/ 0 h 6"/>
                      <a:gd name="T22" fmla="*/ 1 w 31"/>
                      <a:gd name="T23" fmla="*/ 0 h 6"/>
                      <a:gd name="T24" fmla="*/ 0 w 31"/>
                      <a:gd name="T25" fmla="*/ 3 h 6"/>
                      <a:gd name="T26" fmla="*/ 0 w 31"/>
                      <a:gd name="T27" fmla="*/ 6 h 6"/>
                      <a:gd name="T28" fmla="*/ 28 w 31"/>
                      <a:gd name="T29" fmla="*/ 6 h 6"/>
                      <a:gd name="T30" fmla="*/ 31 w 31"/>
                      <a:gd name="T31" fmla="*/ 3 h 6"/>
                      <a:gd name="T32" fmla="*/ 31 w 31"/>
                      <a:gd name="T33" fmla="*/ 0 h 6"/>
                      <a:gd name="T34" fmla="*/ 29 w 31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"/>
                      <a:gd name="T55" fmla="*/ 0 h 6"/>
                      <a:gd name="T56" fmla="*/ 31 w 31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" h="6">
                        <a:moveTo>
                          <a:pt x="29" y="0"/>
                        </a:moveTo>
                        <a:lnTo>
                          <a:pt x="28" y="1"/>
                        </a:lnTo>
                        <a:lnTo>
                          <a:pt x="26" y="2"/>
                        </a:lnTo>
                        <a:lnTo>
                          <a:pt x="22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11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8" y="6"/>
                        </a:lnTo>
                        <a:lnTo>
                          <a:pt x="31" y="3"/>
                        </a:lnTo>
                        <a:lnTo>
                          <a:pt x="31" y="0"/>
                        </a:lnTo>
                        <a:lnTo>
                          <a:pt x="29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13" name="Freeform 482"/>
                  <p:cNvSpPr>
                    <a:spLocks/>
                  </p:cNvSpPr>
                  <p:nvPr/>
                </p:nvSpPr>
                <p:spPr bwMode="auto">
                  <a:xfrm>
                    <a:off x="3791" y="2677"/>
                    <a:ext cx="21" cy="6"/>
                  </a:xfrm>
                  <a:custGeom>
                    <a:avLst/>
                    <a:gdLst>
                      <a:gd name="T0" fmla="*/ 3 w 21"/>
                      <a:gd name="T1" fmla="*/ 3 h 6"/>
                      <a:gd name="T2" fmla="*/ 3 w 21"/>
                      <a:gd name="T3" fmla="*/ 0 h 6"/>
                      <a:gd name="T4" fmla="*/ 21 w 21"/>
                      <a:gd name="T5" fmla="*/ 0 h 6"/>
                      <a:gd name="T6" fmla="*/ 18 w 21"/>
                      <a:gd name="T7" fmla="*/ 5 h 6"/>
                      <a:gd name="T8" fmla="*/ 18 w 21"/>
                      <a:gd name="T9" fmla="*/ 6 h 6"/>
                      <a:gd name="T10" fmla="*/ 0 w 21"/>
                      <a:gd name="T11" fmla="*/ 6 h 6"/>
                      <a:gd name="T12" fmla="*/ 3 w 21"/>
                      <a:gd name="T13" fmla="*/ 3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1"/>
                      <a:gd name="T22" fmla="*/ 0 h 6"/>
                      <a:gd name="T23" fmla="*/ 21 w 21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1" h="6">
                        <a:moveTo>
                          <a:pt x="3" y="3"/>
                        </a:moveTo>
                        <a:lnTo>
                          <a:pt x="3" y="0"/>
                        </a:lnTo>
                        <a:lnTo>
                          <a:pt x="21" y="0"/>
                        </a:lnTo>
                        <a:lnTo>
                          <a:pt x="18" y="5"/>
                        </a:lnTo>
                        <a:lnTo>
                          <a:pt x="18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14" name="Freeform 483"/>
                  <p:cNvSpPr>
                    <a:spLocks/>
                  </p:cNvSpPr>
                  <p:nvPr/>
                </p:nvSpPr>
                <p:spPr bwMode="auto">
                  <a:xfrm>
                    <a:off x="3791" y="2677"/>
                    <a:ext cx="21" cy="6"/>
                  </a:xfrm>
                  <a:custGeom>
                    <a:avLst/>
                    <a:gdLst>
                      <a:gd name="T0" fmla="*/ 3 w 21"/>
                      <a:gd name="T1" fmla="*/ 3 h 6"/>
                      <a:gd name="T2" fmla="*/ 3 w 21"/>
                      <a:gd name="T3" fmla="*/ 0 h 6"/>
                      <a:gd name="T4" fmla="*/ 21 w 21"/>
                      <a:gd name="T5" fmla="*/ 0 h 6"/>
                      <a:gd name="T6" fmla="*/ 18 w 21"/>
                      <a:gd name="T7" fmla="*/ 5 h 6"/>
                      <a:gd name="T8" fmla="*/ 18 w 21"/>
                      <a:gd name="T9" fmla="*/ 6 h 6"/>
                      <a:gd name="T10" fmla="*/ 0 w 21"/>
                      <a:gd name="T11" fmla="*/ 6 h 6"/>
                      <a:gd name="T12" fmla="*/ 3 w 21"/>
                      <a:gd name="T13" fmla="*/ 3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1"/>
                      <a:gd name="T22" fmla="*/ 0 h 6"/>
                      <a:gd name="T23" fmla="*/ 21 w 21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1" h="6">
                        <a:moveTo>
                          <a:pt x="3" y="3"/>
                        </a:moveTo>
                        <a:lnTo>
                          <a:pt x="3" y="0"/>
                        </a:lnTo>
                        <a:lnTo>
                          <a:pt x="21" y="0"/>
                        </a:lnTo>
                        <a:lnTo>
                          <a:pt x="18" y="5"/>
                        </a:lnTo>
                        <a:lnTo>
                          <a:pt x="18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15" name="Freeform 484"/>
                  <p:cNvSpPr>
                    <a:spLocks/>
                  </p:cNvSpPr>
                  <p:nvPr/>
                </p:nvSpPr>
                <p:spPr bwMode="auto">
                  <a:xfrm>
                    <a:off x="3835" y="2654"/>
                    <a:ext cx="8" cy="29"/>
                  </a:xfrm>
                  <a:custGeom>
                    <a:avLst/>
                    <a:gdLst>
                      <a:gd name="T0" fmla="*/ 0 w 8"/>
                      <a:gd name="T1" fmla="*/ 7 h 29"/>
                      <a:gd name="T2" fmla="*/ 8 w 8"/>
                      <a:gd name="T3" fmla="*/ 0 h 29"/>
                      <a:gd name="T4" fmla="*/ 8 w 8"/>
                      <a:gd name="T5" fmla="*/ 21 h 29"/>
                      <a:gd name="T6" fmla="*/ 0 w 8"/>
                      <a:gd name="T7" fmla="*/ 29 h 29"/>
                      <a:gd name="T8" fmla="*/ 0 w 8"/>
                      <a:gd name="T9" fmla="*/ 7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"/>
                      <a:gd name="T16" fmla="*/ 0 h 29"/>
                      <a:gd name="T17" fmla="*/ 8 w 8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" h="29">
                        <a:moveTo>
                          <a:pt x="0" y="7"/>
                        </a:moveTo>
                        <a:lnTo>
                          <a:pt x="8" y="0"/>
                        </a:lnTo>
                        <a:lnTo>
                          <a:pt x="8" y="21"/>
                        </a:lnTo>
                        <a:lnTo>
                          <a:pt x="0" y="29"/>
                        </a:lnTo>
                        <a:lnTo>
                          <a:pt x="0" y="7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16" name="Freeform 485"/>
                  <p:cNvSpPr>
                    <a:spLocks/>
                  </p:cNvSpPr>
                  <p:nvPr/>
                </p:nvSpPr>
                <p:spPr bwMode="auto">
                  <a:xfrm>
                    <a:off x="3835" y="2654"/>
                    <a:ext cx="8" cy="29"/>
                  </a:xfrm>
                  <a:custGeom>
                    <a:avLst/>
                    <a:gdLst>
                      <a:gd name="T0" fmla="*/ 0 w 8"/>
                      <a:gd name="T1" fmla="*/ 7 h 29"/>
                      <a:gd name="T2" fmla="*/ 8 w 8"/>
                      <a:gd name="T3" fmla="*/ 0 h 29"/>
                      <a:gd name="T4" fmla="*/ 8 w 8"/>
                      <a:gd name="T5" fmla="*/ 21 h 29"/>
                      <a:gd name="T6" fmla="*/ 0 w 8"/>
                      <a:gd name="T7" fmla="*/ 29 h 29"/>
                      <a:gd name="T8" fmla="*/ 0 w 8"/>
                      <a:gd name="T9" fmla="*/ 7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"/>
                      <a:gd name="T16" fmla="*/ 0 h 29"/>
                      <a:gd name="T17" fmla="*/ 8 w 8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" h="29">
                        <a:moveTo>
                          <a:pt x="0" y="7"/>
                        </a:moveTo>
                        <a:lnTo>
                          <a:pt x="8" y="0"/>
                        </a:lnTo>
                        <a:lnTo>
                          <a:pt x="8" y="21"/>
                        </a:lnTo>
                        <a:lnTo>
                          <a:pt x="0" y="29"/>
                        </a:lnTo>
                        <a:lnTo>
                          <a:pt x="0" y="7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17" name="Freeform 486"/>
                  <p:cNvSpPr>
                    <a:spLocks/>
                  </p:cNvSpPr>
                  <p:nvPr/>
                </p:nvSpPr>
                <p:spPr bwMode="auto">
                  <a:xfrm>
                    <a:off x="3808" y="2661"/>
                    <a:ext cx="27" cy="22"/>
                  </a:xfrm>
                  <a:custGeom>
                    <a:avLst/>
                    <a:gdLst>
                      <a:gd name="T0" fmla="*/ 0 w 27"/>
                      <a:gd name="T1" fmla="*/ 22 h 22"/>
                      <a:gd name="T2" fmla="*/ 0 w 27"/>
                      <a:gd name="T3" fmla="*/ 20 h 22"/>
                      <a:gd name="T4" fmla="*/ 3 w 27"/>
                      <a:gd name="T5" fmla="*/ 16 h 22"/>
                      <a:gd name="T6" fmla="*/ 3 w 27"/>
                      <a:gd name="T7" fmla="*/ 0 h 22"/>
                      <a:gd name="T8" fmla="*/ 27 w 27"/>
                      <a:gd name="T9" fmla="*/ 0 h 22"/>
                      <a:gd name="T10" fmla="*/ 27 w 27"/>
                      <a:gd name="T11" fmla="*/ 22 h 22"/>
                      <a:gd name="T12" fmla="*/ 0 w 27"/>
                      <a:gd name="T13" fmla="*/ 22 h 2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7"/>
                      <a:gd name="T22" fmla="*/ 0 h 22"/>
                      <a:gd name="T23" fmla="*/ 27 w 27"/>
                      <a:gd name="T24" fmla="*/ 22 h 2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7" h="22">
                        <a:moveTo>
                          <a:pt x="0" y="22"/>
                        </a:moveTo>
                        <a:lnTo>
                          <a:pt x="0" y="20"/>
                        </a:lnTo>
                        <a:lnTo>
                          <a:pt x="3" y="16"/>
                        </a:lnTo>
                        <a:lnTo>
                          <a:pt x="3" y="0"/>
                        </a:lnTo>
                        <a:lnTo>
                          <a:pt x="27" y="0"/>
                        </a:lnTo>
                        <a:lnTo>
                          <a:pt x="27" y="22"/>
                        </a:lnTo>
                        <a:lnTo>
                          <a:pt x="0" y="2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18" name="Freeform 487"/>
                  <p:cNvSpPr>
                    <a:spLocks/>
                  </p:cNvSpPr>
                  <p:nvPr/>
                </p:nvSpPr>
                <p:spPr bwMode="auto">
                  <a:xfrm>
                    <a:off x="3808" y="2661"/>
                    <a:ext cx="27" cy="22"/>
                  </a:xfrm>
                  <a:custGeom>
                    <a:avLst/>
                    <a:gdLst>
                      <a:gd name="T0" fmla="*/ 0 w 27"/>
                      <a:gd name="T1" fmla="*/ 22 h 22"/>
                      <a:gd name="T2" fmla="*/ 0 w 27"/>
                      <a:gd name="T3" fmla="*/ 20 h 22"/>
                      <a:gd name="T4" fmla="*/ 3 w 27"/>
                      <a:gd name="T5" fmla="*/ 16 h 22"/>
                      <a:gd name="T6" fmla="*/ 3 w 27"/>
                      <a:gd name="T7" fmla="*/ 0 h 22"/>
                      <a:gd name="T8" fmla="*/ 27 w 27"/>
                      <a:gd name="T9" fmla="*/ 0 h 22"/>
                      <a:gd name="T10" fmla="*/ 27 w 27"/>
                      <a:gd name="T11" fmla="*/ 22 h 22"/>
                      <a:gd name="T12" fmla="*/ 0 w 27"/>
                      <a:gd name="T13" fmla="*/ 22 h 2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7"/>
                      <a:gd name="T22" fmla="*/ 0 h 22"/>
                      <a:gd name="T23" fmla="*/ 27 w 27"/>
                      <a:gd name="T24" fmla="*/ 22 h 2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7" h="22">
                        <a:moveTo>
                          <a:pt x="0" y="22"/>
                        </a:moveTo>
                        <a:lnTo>
                          <a:pt x="0" y="20"/>
                        </a:lnTo>
                        <a:lnTo>
                          <a:pt x="3" y="16"/>
                        </a:lnTo>
                        <a:lnTo>
                          <a:pt x="3" y="0"/>
                        </a:lnTo>
                        <a:lnTo>
                          <a:pt x="27" y="0"/>
                        </a:lnTo>
                        <a:lnTo>
                          <a:pt x="27" y="22"/>
                        </a:lnTo>
                        <a:lnTo>
                          <a:pt x="0" y="22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19" name="Freeform 488"/>
                  <p:cNvSpPr>
                    <a:spLocks/>
                  </p:cNvSpPr>
                  <p:nvPr/>
                </p:nvSpPr>
                <p:spPr bwMode="auto">
                  <a:xfrm>
                    <a:off x="3570" y="2683"/>
                    <a:ext cx="35" cy="54"/>
                  </a:xfrm>
                  <a:custGeom>
                    <a:avLst/>
                    <a:gdLst>
                      <a:gd name="T0" fmla="*/ 32 w 35"/>
                      <a:gd name="T1" fmla="*/ 6 h 54"/>
                      <a:gd name="T2" fmla="*/ 3 w 35"/>
                      <a:gd name="T3" fmla="*/ 6 h 54"/>
                      <a:gd name="T4" fmla="*/ 0 w 35"/>
                      <a:gd name="T5" fmla="*/ 0 h 54"/>
                      <a:gd name="T6" fmla="*/ 35 w 35"/>
                      <a:gd name="T7" fmla="*/ 0 h 54"/>
                      <a:gd name="T8" fmla="*/ 35 w 35"/>
                      <a:gd name="T9" fmla="*/ 54 h 54"/>
                      <a:gd name="T10" fmla="*/ 32 w 35"/>
                      <a:gd name="T11" fmla="*/ 54 h 54"/>
                      <a:gd name="T12" fmla="*/ 32 w 35"/>
                      <a:gd name="T13" fmla="*/ 6 h 5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5"/>
                      <a:gd name="T22" fmla="*/ 0 h 54"/>
                      <a:gd name="T23" fmla="*/ 35 w 35"/>
                      <a:gd name="T24" fmla="*/ 54 h 54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5" h="54">
                        <a:moveTo>
                          <a:pt x="32" y="6"/>
                        </a:moveTo>
                        <a:lnTo>
                          <a:pt x="3" y="6"/>
                        </a:lnTo>
                        <a:lnTo>
                          <a:pt x="0" y="0"/>
                        </a:lnTo>
                        <a:lnTo>
                          <a:pt x="35" y="0"/>
                        </a:lnTo>
                        <a:lnTo>
                          <a:pt x="35" y="54"/>
                        </a:lnTo>
                        <a:lnTo>
                          <a:pt x="32" y="54"/>
                        </a:lnTo>
                        <a:lnTo>
                          <a:pt x="32" y="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20" name="Freeform 489"/>
                  <p:cNvSpPr>
                    <a:spLocks/>
                  </p:cNvSpPr>
                  <p:nvPr/>
                </p:nvSpPr>
                <p:spPr bwMode="auto">
                  <a:xfrm>
                    <a:off x="3570" y="2683"/>
                    <a:ext cx="35" cy="54"/>
                  </a:xfrm>
                  <a:custGeom>
                    <a:avLst/>
                    <a:gdLst>
                      <a:gd name="T0" fmla="*/ 32 w 35"/>
                      <a:gd name="T1" fmla="*/ 6 h 54"/>
                      <a:gd name="T2" fmla="*/ 3 w 35"/>
                      <a:gd name="T3" fmla="*/ 6 h 54"/>
                      <a:gd name="T4" fmla="*/ 0 w 35"/>
                      <a:gd name="T5" fmla="*/ 0 h 54"/>
                      <a:gd name="T6" fmla="*/ 35 w 35"/>
                      <a:gd name="T7" fmla="*/ 0 h 54"/>
                      <a:gd name="T8" fmla="*/ 35 w 35"/>
                      <a:gd name="T9" fmla="*/ 54 h 54"/>
                      <a:gd name="T10" fmla="*/ 32 w 35"/>
                      <a:gd name="T11" fmla="*/ 54 h 54"/>
                      <a:gd name="T12" fmla="*/ 32 w 35"/>
                      <a:gd name="T13" fmla="*/ 6 h 5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5"/>
                      <a:gd name="T22" fmla="*/ 0 h 54"/>
                      <a:gd name="T23" fmla="*/ 35 w 35"/>
                      <a:gd name="T24" fmla="*/ 54 h 54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5" h="54">
                        <a:moveTo>
                          <a:pt x="32" y="6"/>
                        </a:moveTo>
                        <a:lnTo>
                          <a:pt x="3" y="6"/>
                        </a:lnTo>
                        <a:lnTo>
                          <a:pt x="0" y="0"/>
                        </a:lnTo>
                        <a:lnTo>
                          <a:pt x="35" y="0"/>
                        </a:lnTo>
                        <a:lnTo>
                          <a:pt x="35" y="54"/>
                        </a:lnTo>
                        <a:lnTo>
                          <a:pt x="32" y="54"/>
                        </a:lnTo>
                        <a:lnTo>
                          <a:pt x="32" y="6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21" name="Freeform 490"/>
                  <p:cNvSpPr>
                    <a:spLocks/>
                  </p:cNvSpPr>
                  <p:nvPr/>
                </p:nvSpPr>
                <p:spPr bwMode="auto">
                  <a:xfrm>
                    <a:off x="3563" y="2689"/>
                    <a:ext cx="39" cy="48"/>
                  </a:xfrm>
                  <a:custGeom>
                    <a:avLst/>
                    <a:gdLst>
                      <a:gd name="T0" fmla="*/ 39 w 39"/>
                      <a:gd name="T1" fmla="*/ 48 h 48"/>
                      <a:gd name="T2" fmla="*/ 0 w 39"/>
                      <a:gd name="T3" fmla="*/ 48 h 48"/>
                      <a:gd name="T4" fmla="*/ 14 w 39"/>
                      <a:gd name="T5" fmla="*/ 36 h 48"/>
                      <a:gd name="T6" fmla="*/ 14 w 39"/>
                      <a:gd name="T7" fmla="*/ 0 h 48"/>
                      <a:gd name="T8" fmla="*/ 39 w 39"/>
                      <a:gd name="T9" fmla="*/ 0 h 48"/>
                      <a:gd name="T10" fmla="*/ 39 w 39"/>
                      <a:gd name="T11" fmla="*/ 48 h 4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9"/>
                      <a:gd name="T19" fmla="*/ 0 h 48"/>
                      <a:gd name="T20" fmla="*/ 39 w 39"/>
                      <a:gd name="T21" fmla="*/ 48 h 4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9" h="48">
                        <a:moveTo>
                          <a:pt x="39" y="48"/>
                        </a:moveTo>
                        <a:lnTo>
                          <a:pt x="0" y="48"/>
                        </a:lnTo>
                        <a:lnTo>
                          <a:pt x="14" y="36"/>
                        </a:lnTo>
                        <a:lnTo>
                          <a:pt x="14" y="0"/>
                        </a:lnTo>
                        <a:lnTo>
                          <a:pt x="39" y="0"/>
                        </a:lnTo>
                        <a:lnTo>
                          <a:pt x="39" y="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22" name="Freeform 491"/>
                  <p:cNvSpPr>
                    <a:spLocks/>
                  </p:cNvSpPr>
                  <p:nvPr/>
                </p:nvSpPr>
                <p:spPr bwMode="auto">
                  <a:xfrm>
                    <a:off x="3563" y="2689"/>
                    <a:ext cx="39" cy="48"/>
                  </a:xfrm>
                  <a:custGeom>
                    <a:avLst/>
                    <a:gdLst>
                      <a:gd name="T0" fmla="*/ 39 w 39"/>
                      <a:gd name="T1" fmla="*/ 48 h 48"/>
                      <a:gd name="T2" fmla="*/ 0 w 39"/>
                      <a:gd name="T3" fmla="*/ 48 h 48"/>
                      <a:gd name="T4" fmla="*/ 14 w 39"/>
                      <a:gd name="T5" fmla="*/ 36 h 48"/>
                      <a:gd name="T6" fmla="*/ 14 w 39"/>
                      <a:gd name="T7" fmla="*/ 0 h 48"/>
                      <a:gd name="T8" fmla="*/ 39 w 39"/>
                      <a:gd name="T9" fmla="*/ 0 h 48"/>
                      <a:gd name="T10" fmla="*/ 39 w 39"/>
                      <a:gd name="T11" fmla="*/ 48 h 4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9"/>
                      <a:gd name="T19" fmla="*/ 0 h 48"/>
                      <a:gd name="T20" fmla="*/ 39 w 39"/>
                      <a:gd name="T21" fmla="*/ 48 h 4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9" h="48">
                        <a:moveTo>
                          <a:pt x="39" y="48"/>
                        </a:moveTo>
                        <a:lnTo>
                          <a:pt x="0" y="48"/>
                        </a:lnTo>
                        <a:lnTo>
                          <a:pt x="14" y="36"/>
                        </a:lnTo>
                        <a:lnTo>
                          <a:pt x="14" y="0"/>
                        </a:lnTo>
                        <a:lnTo>
                          <a:pt x="39" y="0"/>
                        </a:lnTo>
                        <a:lnTo>
                          <a:pt x="39" y="48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23" name="Freeform 492"/>
                  <p:cNvSpPr>
                    <a:spLocks/>
                  </p:cNvSpPr>
                  <p:nvPr/>
                </p:nvSpPr>
                <p:spPr bwMode="auto">
                  <a:xfrm>
                    <a:off x="3808" y="2683"/>
                    <a:ext cx="38" cy="54"/>
                  </a:xfrm>
                  <a:custGeom>
                    <a:avLst/>
                    <a:gdLst>
                      <a:gd name="T0" fmla="*/ 0 w 38"/>
                      <a:gd name="T1" fmla="*/ 5 h 54"/>
                      <a:gd name="T2" fmla="*/ 0 w 38"/>
                      <a:gd name="T3" fmla="*/ 54 h 54"/>
                      <a:gd name="T4" fmla="*/ 5 w 38"/>
                      <a:gd name="T5" fmla="*/ 54 h 54"/>
                      <a:gd name="T6" fmla="*/ 5 w 38"/>
                      <a:gd name="T7" fmla="*/ 6 h 54"/>
                      <a:gd name="T8" fmla="*/ 33 w 38"/>
                      <a:gd name="T9" fmla="*/ 6 h 54"/>
                      <a:gd name="T10" fmla="*/ 38 w 38"/>
                      <a:gd name="T11" fmla="*/ 0 h 54"/>
                      <a:gd name="T12" fmla="*/ 0 w 38"/>
                      <a:gd name="T13" fmla="*/ 0 h 54"/>
                      <a:gd name="T14" fmla="*/ 0 w 38"/>
                      <a:gd name="T15" fmla="*/ 5 h 5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8"/>
                      <a:gd name="T25" fmla="*/ 0 h 54"/>
                      <a:gd name="T26" fmla="*/ 38 w 38"/>
                      <a:gd name="T27" fmla="*/ 54 h 5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8" h="54">
                        <a:moveTo>
                          <a:pt x="0" y="5"/>
                        </a:moveTo>
                        <a:lnTo>
                          <a:pt x="0" y="54"/>
                        </a:lnTo>
                        <a:lnTo>
                          <a:pt x="5" y="54"/>
                        </a:lnTo>
                        <a:lnTo>
                          <a:pt x="5" y="6"/>
                        </a:lnTo>
                        <a:lnTo>
                          <a:pt x="33" y="6"/>
                        </a:lnTo>
                        <a:lnTo>
                          <a:pt x="38" y="0"/>
                        </a:lnTo>
                        <a:lnTo>
                          <a:pt x="0" y="0"/>
                        </a:ln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24" name="Freeform 493"/>
                  <p:cNvSpPr>
                    <a:spLocks/>
                  </p:cNvSpPr>
                  <p:nvPr/>
                </p:nvSpPr>
                <p:spPr bwMode="auto">
                  <a:xfrm>
                    <a:off x="3808" y="2683"/>
                    <a:ext cx="38" cy="54"/>
                  </a:xfrm>
                  <a:custGeom>
                    <a:avLst/>
                    <a:gdLst>
                      <a:gd name="T0" fmla="*/ 0 w 38"/>
                      <a:gd name="T1" fmla="*/ 5 h 54"/>
                      <a:gd name="T2" fmla="*/ 0 w 38"/>
                      <a:gd name="T3" fmla="*/ 54 h 54"/>
                      <a:gd name="T4" fmla="*/ 5 w 38"/>
                      <a:gd name="T5" fmla="*/ 54 h 54"/>
                      <a:gd name="T6" fmla="*/ 5 w 38"/>
                      <a:gd name="T7" fmla="*/ 6 h 54"/>
                      <a:gd name="T8" fmla="*/ 33 w 38"/>
                      <a:gd name="T9" fmla="*/ 6 h 54"/>
                      <a:gd name="T10" fmla="*/ 38 w 38"/>
                      <a:gd name="T11" fmla="*/ 0 h 54"/>
                      <a:gd name="T12" fmla="*/ 0 w 38"/>
                      <a:gd name="T13" fmla="*/ 0 h 54"/>
                      <a:gd name="T14" fmla="*/ 0 w 38"/>
                      <a:gd name="T15" fmla="*/ 5 h 5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8"/>
                      <a:gd name="T25" fmla="*/ 0 h 54"/>
                      <a:gd name="T26" fmla="*/ 38 w 38"/>
                      <a:gd name="T27" fmla="*/ 54 h 5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8" h="54">
                        <a:moveTo>
                          <a:pt x="0" y="5"/>
                        </a:moveTo>
                        <a:lnTo>
                          <a:pt x="0" y="54"/>
                        </a:lnTo>
                        <a:lnTo>
                          <a:pt x="5" y="54"/>
                        </a:lnTo>
                        <a:lnTo>
                          <a:pt x="5" y="6"/>
                        </a:lnTo>
                        <a:lnTo>
                          <a:pt x="33" y="6"/>
                        </a:lnTo>
                        <a:lnTo>
                          <a:pt x="38" y="0"/>
                        </a:lnTo>
                        <a:lnTo>
                          <a:pt x="0" y="0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25" name="Freeform 494"/>
                  <p:cNvSpPr>
                    <a:spLocks/>
                  </p:cNvSpPr>
                  <p:nvPr/>
                </p:nvSpPr>
                <p:spPr bwMode="auto">
                  <a:xfrm>
                    <a:off x="3813" y="2689"/>
                    <a:ext cx="36" cy="48"/>
                  </a:xfrm>
                  <a:custGeom>
                    <a:avLst/>
                    <a:gdLst>
                      <a:gd name="T0" fmla="*/ 36 w 36"/>
                      <a:gd name="T1" fmla="*/ 48 h 48"/>
                      <a:gd name="T2" fmla="*/ 0 w 36"/>
                      <a:gd name="T3" fmla="*/ 48 h 48"/>
                      <a:gd name="T4" fmla="*/ 0 w 36"/>
                      <a:gd name="T5" fmla="*/ 0 h 48"/>
                      <a:gd name="T6" fmla="*/ 24 w 36"/>
                      <a:gd name="T7" fmla="*/ 0 h 48"/>
                      <a:gd name="T8" fmla="*/ 24 w 36"/>
                      <a:gd name="T9" fmla="*/ 37 h 48"/>
                      <a:gd name="T10" fmla="*/ 36 w 36"/>
                      <a:gd name="T11" fmla="*/ 48 h 4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6"/>
                      <a:gd name="T19" fmla="*/ 0 h 48"/>
                      <a:gd name="T20" fmla="*/ 36 w 36"/>
                      <a:gd name="T21" fmla="*/ 48 h 4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6" h="48">
                        <a:moveTo>
                          <a:pt x="36" y="48"/>
                        </a:moveTo>
                        <a:lnTo>
                          <a:pt x="0" y="48"/>
                        </a:lnTo>
                        <a:lnTo>
                          <a:pt x="0" y="0"/>
                        </a:lnTo>
                        <a:lnTo>
                          <a:pt x="24" y="0"/>
                        </a:lnTo>
                        <a:lnTo>
                          <a:pt x="24" y="37"/>
                        </a:lnTo>
                        <a:lnTo>
                          <a:pt x="36" y="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26" name="Freeform 495"/>
                  <p:cNvSpPr>
                    <a:spLocks/>
                  </p:cNvSpPr>
                  <p:nvPr/>
                </p:nvSpPr>
                <p:spPr bwMode="auto">
                  <a:xfrm>
                    <a:off x="3813" y="2689"/>
                    <a:ext cx="36" cy="48"/>
                  </a:xfrm>
                  <a:custGeom>
                    <a:avLst/>
                    <a:gdLst>
                      <a:gd name="T0" fmla="*/ 36 w 36"/>
                      <a:gd name="T1" fmla="*/ 48 h 48"/>
                      <a:gd name="T2" fmla="*/ 0 w 36"/>
                      <a:gd name="T3" fmla="*/ 48 h 48"/>
                      <a:gd name="T4" fmla="*/ 0 w 36"/>
                      <a:gd name="T5" fmla="*/ 0 h 48"/>
                      <a:gd name="T6" fmla="*/ 24 w 36"/>
                      <a:gd name="T7" fmla="*/ 0 h 48"/>
                      <a:gd name="T8" fmla="*/ 24 w 36"/>
                      <a:gd name="T9" fmla="*/ 37 h 48"/>
                      <a:gd name="T10" fmla="*/ 36 w 36"/>
                      <a:gd name="T11" fmla="*/ 48 h 4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6"/>
                      <a:gd name="T19" fmla="*/ 0 h 48"/>
                      <a:gd name="T20" fmla="*/ 36 w 36"/>
                      <a:gd name="T21" fmla="*/ 48 h 4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6" h="48">
                        <a:moveTo>
                          <a:pt x="36" y="48"/>
                        </a:moveTo>
                        <a:lnTo>
                          <a:pt x="0" y="48"/>
                        </a:lnTo>
                        <a:lnTo>
                          <a:pt x="0" y="0"/>
                        </a:lnTo>
                        <a:lnTo>
                          <a:pt x="24" y="0"/>
                        </a:lnTo>
                        <a:lnTo>
                          <a:pt x="24" y="37"/>
                        </a:lnTo>
                        <a:lnTo>
                          <a:pt x="36" y="48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27" name="Freeform 496"/>
                  <p:cNvSpPr>
                    <a:spLocks/>
                  </p:cNvSpPr>
                  <p:nvPr/>
                </p:nvSpPr>
                <p:spPr bwMode="auto">
                  <a:xfrm>
                    <a:off x="3605" y="2683"/>
                    <a:ext cx="12" cy="54"/>
                  </a:xfrm>
                  <a:custGeom>
                    <a:avLst/>
                    <a:gdLst>
                      <a:gd name="T0" fmla="*/ 0 w 12"/>
                      <a:gd name="T1" fmla="*/ 54 h 54"/>
                      <a:gd name="T2" fmla="*/ 1 w 12"/>
                      <a:gd name="T3" fmla="*/ 50 h 54"/>
                      <a:gd name="T4" fmla="*/ 2 w 12"/>
                      <a:gd name="T5" fmla="*/ 45 h 54"/>
                      <a:gd name="T6" fmla="*/ 3 w 12"/>
                      <a:gd name="T7" fmla="*/ 40 h 54"/>
                      <a:gd name="T8" fmla="*/ 4 w 12"/>
                      <a:gd name="T9" fmla="*/ 37 h 54"/>
                      <a:gd name="T10" fmla="*/ 4 w 12"/>
                      <a:gd name="T11" fmla="*/ 31 h 54"/>
                      <a:gd name="T12" fmla="*/ 5 w 12"/>
                      <a:gd name="T13" fmla="*/ 27 h 54"/>
                      <a:gd name="T14" fmla="*/ 7 w 12"/>
                      <a:gd name="T15" fmla="*/ 23 h 54"/>
                      <a:gd name="T16" fmla="*/ 8 w 12"/>
                      <a:gd name="T17" fmla="*/ 19 h 54"/>
                      <a:gd name="T18" fmla="*/ 8 w 12"/>
                      <a:gd name="T19" fmla="*/ 14 h 54"/>
                      <a:gd name="T20" fmla="*/ 9 w 12"/>
                      <a:gd name="T21" fmla="*/ 10 h 54"/>
                      <a:gd name="T22" fmla="*/ 10 w 12"/>
                      <a:gd name="T23" fmla="*/ 5 h 54"/>
                      <a:gd name="T24" fmla="*/ 12 w 12"/>
                      <a:gd name="T25" fmla="*/ 0 h 54"/>
                      <a:gd name="T26" fmla="*/ 0 w 12"/>
                      <a:gd name="T27" fmla="*/ 0 h 54"/>
                      <a:gd name="T28" fmla="*/ 0 w 12"/>
                      <a:gd name="T29" fmla="*/ 54 h 5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2"/>
                      <a:gd name="T46" fmla="*/ 0 h 54"/>
                      <a:gd name="T47" fmla="*/ 12 w 12"/>
                      <a:gd name="T48" fmla="*/ 54 h 54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2" h="54">
                        <a:moveTo>
                          <a:pt x="0" y="54"/>
                        </a:moveTo>
                        <a:lnTo>
                          <a:pt x="1" y="50"/>
                        </a:lnTo>
                        <a:lnTo>
                          <a:pt x="2" y="45"/>
                        </a:lnTo>
                        <a:lnTo>
                          <a:pt x="3" y="40"/>
                        </a:lnTo>
                        <a:lnTo>
                          <a:pt x="4" y="37"/>
                        </a:lnTo>
                        <a:lnTo>
                          <a:pt x="4" y="31"/>
                        </a:lnTo>
                        <a:lnTo>
                          <a:pt x="5" y="27"/>
                        </a:lnTo>
                        <a:lnTo>
                          <a:pt x="7" y="23"/>
                        </a:lnTo>
                        <a:lnTo>
                          <a:pt x="8" y="19"/>
                        </a:lnTo>
                        <a:lnTo>
                          <a:pt x="8" y="14"/>
                        </a:lnTo>
                        <a:lnTo>
                          <a:pt x="9" y="10"/>
                        </a:lnTo>
                        <a:lnTo>
                          <a:pt x="10" y="5"/>
                        </a:lnTo>
                        <a:lnTo>
                          <a:pt x="12" y="0"/>
                        </a:lnTo>
                        <a:lnTo>
                          <a:pt x="0" y="0"/>
                        </a:lnTo>
                        <a:lnTo>
                          <a:pt x="0" y="54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28" name="Freeform 497"/>
                  <p:cNvSpPr>
                    <a:spLocks/>
                  </p:cNvSpPr>
                  <p:nvPr/>
                </p:nvSpPr>
                <p:spPr bwMode="auto">
                  <a:xfrm>
                    <a:off x="3605" y="2683"/>
                    <a:ext cx="12" cy="54"/>
                  </a:xfrm>
                  <a:custGeom>
                    <a:avLst/>
                    <a:gdLst>
                      <a:gd name="T0" fmla="*/ 0 w 12"/>
                      <a:gd name="T1" fmla="*/ 54 h 54"/>
                      <a:gd name="T2" fmla="*/ 1 w 12"/>
                      <a:gd name="T3" fmla="*/ 50 h 54"/>
                      <a:gd name="T4" fmla="*/ 2 w 12"/>
                      <a:gd name="T5" fmla="*/ 45 h 54"/>
                      <a:gd name="T6" fmla="*/ 3 w 12"/>
                      <a:gd name="T7" fmla="*/ 40 h 54"/>
                      <a:gd name="T8" fmla="*/ 4 w 12"/>
                      <a:gd name="T9" fmla="*/ 37 h 54"/>
                      <a:gd name="T10" fmla="*/ 4 w 12"/>
                      <a:gd name="T11" fmla="*/ 31 h 54"/>
                      <a:gd name="T12" fmla="*/ 5 w 12"/>
                      <a:gd name="T13" fmla="*/ 27 h 54"/>
                      <a:gd name="T14" fmla="*/ 7 w 12"/>
                      <a:gd name="T15" fmla="*/ 23 h 54"/>
                      <a:gd name="T16" fmla="*/ 8 w 12"/>
                      <a:gd name="T17" fmla="*/ 19 h 54"/>
                      <a:gd name="T18" fmla="*/ 8 w 12"/>
                      <a:gd name="T19" fmla="*/ 14 h 54"/>
                      <a:gd name="T20" fmla="*/ 9 w 12"/>
                      <a:gd name="T21" fmla="*/ 10 h 54"/>
                      <a:gd name="T22" fmla="*/ 10 w 12"/>
                      <a:gd name="T23" fmla="*/ 5 h 54"/>
                      <a:gd name="T24" fmla="*/ 12 w 12"/>
                      <a:gd name="T25" fmla="*/ 0 h 54"/>
                      <a:gd name="T26" fmla="*/ 0 w 12"/>
                      <a:gd name="T27" fmla="*/ 0 h 54"/>
                      <a:gd name="T28" fmla="*/ 0 w 12"/>
                      <a:gd name="T29" fmla="*/ 54 h 5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2"/>
                      <a:gd name="T46" fmla="*/ 0 h 54"/>
                      <a:gd name="T47" fmla="*/ 12 w 12"/>
                      <a:gd name="T48" fmla="*/ 54 h 54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2" h="54">
                        <a:moveTo>
                          <a:pt x="0" y="54"/>
                        </a:moveTo>
                        <a:lnTo>
                          <a:pt x="1" y="50"/>
                        </a:lnTo>
                        <a:lnTo>
                          <a:pt x="2" y="45"/>
                        </a:lnTo>
                        <a:lnTo>
                          <a:pt x="3" y="40"/>
                        </a:lnTo>
                        <a:lnTo>
                          <a:pt x="4" y="37"/>
                        </a:lnTo>
                        <a:lnTo>
                          <a:pt x="4" y="31"/>
                        </a:lnTo>
                        <a:lnTo>
                          <a:pt x="5" y="27"/>
                        </a:lnTo>
                        <a:lnTo>
                          <a:pt x="7" y="23"/>
                        </a:lnTo>
                        <a:lnTo>
                          <a:pt x="8" y="19"/>
                        </a:lnTo>
                        <a:lnTo>
                          <a:pt x="8" y="14"/>
                        </a:lnTo>
                        <a:lnTo>
                          <a:pt x="9" y="10"/>
                        </a:lnTo>
                        <a:lnTo>
                          <a:pt x="10" y="5"/>
                        </a:lnTo>
                        <a:lnTo>
                          <a:pt x="12" y="0"/>
                        </a:lnTo>
                        <a:lnTo>
                          <a:pt x="0" y="0"/>
                        </a:lnTo>
                        <a:lnTo>
                          <a:pt x="0" y="5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29" name="Freeform 498"/>
                  <p:cNvSpPr>
                    <a:spLocks/>
                  </p:cNvSpPr>
                  <p:nvPr/>
                </p:nvSpPr>
                <p:spPr bwMode="auto">
                  <a:xfrm>
                    <a:off x="3605" y="2683"/>
                    <a:ext cx="203" cy="54"/>
                  </a:xfrm>
                  <a:custGeom>
                    <a:avLst/>
                    <a:gdLst>
                      <a:gd name="T0" fmla="*/ 0 w 203"/>
                      <a:gd name="T1" fmla="*/ 54 h 54"/>
                      <a:gd name="T2" fmla="*/ 1 w 203"/>
                      <a:gd name="T3" fmla="*/ 50 h 54"/>
                      <a:gd name="T4" fmla="*/ 2 w 203"/>
                      <a:gd name="T5" fmla="*/ 45 h 54"/>
                      <a:gd name="T6" fmla="*/ 3 w 203"/>
                      <a:gd name="T7" fmla="*/ 40 h 54"/>
                      <a:gd name="T8" fmla="*/ 3 w 203"/>
                      <a:gd name="T9" fmla="*/ 37 h 54"/>
                      <a:gd name="T10" fmla="*/ 4 w 203"/>
                      <a:gd name="T11" fmla="*/ 31 h 54"/>
                      <a:gd name="T12" fmla="*/ 5 w 203"/>
                      <a:gd name="T13" fmla="*/ 27 h 54"/>
                      <a:gd name="T14" fmla="*/ 6 w 203"/>
                      <a:gd name="T15" fmla="*/ 23 h 54"/>
                      <a:gd name="T16" fmla="*/ 7 w 203"/>
                      <a:gd name="T17" fmla="*/ 19 h 54"/>
                      <a:gd name="T18" fmla="*/ 8 w 203"/>
                      <a:gd name="T19" fmla="*/ 14 h 54"/>
                      <a:gd name="T20" fmla="*/ 9 w 203"/>
                      <a:gd name="T21" fmla="*/ 10 h 54"/>
                      <a:gd name="T22" fmla="*/ 10 w 203"/>
                      <a:gd name="T23" fmla="*/ 5 h 54"/>
                      <a:gd name="T24" fmla="*/ 12 w 203"/>
                      <a:gd name="T25" fmla="*/ 0 h 54"/>
                      <a:gd name="T26" fmla="*/ 203 w 203"/>
                      <a:gd name="T27" fmla="*/ 0 h 54"/>
                      <a:gd name="T28" fmla="*/ 203 w 203"/>
                      <a:gd name="T29" fmla="*/ 54 h 54"/>
                      <a:gd name="T30" fmla="*/ 0 w 203"/>
                      <a:gd name="T31" fmla="*/ 54 h 54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03"/>
                      <a:gd name="T49" fmla="*/ 0 h 54"/>
                      <a:gd name="T50" fmla="*/ 203 w 203"/>
                      <a:gd name="T51" fmla="*/ 54 h 54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03" h="54">
                        <a:moveTo>
                          <a:pt x="0" y="54"/>
                        </a:moveTo>
                        <a:lnTo>
                          <a:pt x="1" y="50"/>
                        </a:lnTo>
                        <a:lnTo>
                          <a:pt x="2" y="45"/>
                        </a:lnTo>
                        <a:lnTo>
                          <a:pt x="3" y="40"/>
                        </a:lnTo>
                        <a:lnTo>
                          <a:pt x="3" y="37"/>
                        </a:lnTo>
                        <a:lnTo>
                          <a:pt x="4" y="31"/>
                        </a:lnTo>
                        <a:lnTo>
                          <a:pt x="5" y="27"/>
                        </a:lnTo>
                        <a:lnTo>
                          <a:pt x="6" y="23"/>
                        </a:lnTo>
                        <a:lnTo>
                          <a:pt x="7" y="19"/>
                        </a:lnTo>
                        <a:lnTo>
                          <a:pt x="8" y="14"/>
                        </a:lnTo>
                        <a:lnTo>
                          <a:pt x="9" y="10"/>
                        </a:lnTo>
                        <a:lnTo>
                          <a:pt x="10" y="5"/>
                        </a:lnTo>
                        <a:lnTo>
                          <a:pt x="12" y="0"/>
                        </a:lnTo>
                        <a:lnTo>
                          <a:pt x="203" y="0"/>
                        </a:lnTo>
                        <a:lnTo>
                          <a:pt x="203" y="54"/>
                        </a:lnTo>
                        <a:lnTo>
                          <a:pt x="0" y="5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30" name="Freeform 499"/>
                  <p:cNvSpPr>
                    <a:spLocks/>
                  </p:cNvSpPr>
                  <p:nvPr/>
                </p:nvSpPr>
                <p:spPr bwMode="auto">
                  <a:xfrm>
                    <a:off x="3605" y="2683"/>
                    <a:ext cx="203" cy="54"/>
                  </a:xfrm>
                  <a:custGeom>
                    <a:avLst/>
                    <a:gdLst>
                      <a:gd name="T0" fmla="*/ 0 w 203"/>
                      <a:gd name="T1" fmla="*/ 54 h 54"/>
                      <a:gd name="T2" fmla="*/ 1 w 203"/>
                      <a:gd name="T3" fmla="*/ 50 h 54"/>
                      <a:gd name="T4" fmla="*/ 2 w 203"/>
                      <a:gd name="T5" fmla="*/ 45 h 54"/>
                      <a:gd name="T6" fmla="*/ 3 w 203"/>
                      <a:gd name="T7" fmla="*/ 40 h 54"/>
                      <a:gd name="T8" fmla="*/ 3 w 203"/>
                      <a:gd name="T9" fmla="*/ 37 h 54"/>
                      <a:gd name="T10" fmla="*/ 4 w 203"/>
                      <a:gd name="T11" fmla="*/ 31 h 54"/>
                      <a:gd name="T12" fmla="*/ 5 w 203"/>
                      <a:gd name="T13" fmla="*/ 27 h 54"/>
                      <a:gd name="T14" fmla="*/ 6 w 203"/>
                      <a:gd name="T15" fmla="*/ 23 h 54"/>
                      <a:gd name="T16" fmla="*/ 7 w 203"/>
                      <a:gd name="T17" fmla="*/ 19 h 54"/>
                      <a:gd name="T18" fmla="*/ 8 w 203"/>
                      <a:gd name="T19" fmla="*/ 14 h 54"/>
                      <a:gd name="T20" fmla="*/ 9 w 203"/>
                      <a:gd name="T21" fmla="*/ 10 h 54"/>
                      <a:gd name="T22" fmla="*/ 10 w 203"/>
                      <a:gd name="T23" fmla="*/ 5 h 54"/>
                      <a:gd name="T24" fmla="*/ 12 w 203"/>
                      <a:gd name="T25" fmla="*/ 0 h 54"/>
                      <a:gd name="T26" fmla="*/ 203 w 203"/>
                      <a:gd name="T27" fmla="*/ 0 h 54"/>
                      <a:gd name="T28" fmla="*/ 203 w 203"/>
                      <a:gd name="T29" fmla="*/ 54 h 54"/>
                      <a:gd name="T30" fmla="*/ 0 w 203"/>
                      <a:gd name="T31" fmla="*/ 54 h 54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03"/>
                      <a:gd name="T49" fmla="*/ 0 h 54"/>
                      <a:gd name="T50" fmla="*/ 203 w 203"/>
                      <a:gd name="T51" fmla="*/ 54 h 54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03" h="54">
                        <a:moveTo>
                          <a:pt x="0" y="54"/>
                        </a:moveTo>
                        <a:lnTo>
                          <a:pt x="1" y="50"/>
                        </a:lnTo>
                        <a:lnTo>
                          <a:pt x="2" y="45"/>
                        </a:lnTo>
                        <a:lnTo>
                          <a:pt x="3" y="40"/>
                        </a:lnTo>
                        <a:lnTo>
                          <a:pt x="3" y="37"/>
                        </a:lnTo>
                        <a:lnTo>
                          <a:pt x="4" y="31"/>
                        </a:lnTo>
                        <a:lnTo>
                          <a:pt x="5" y="27"/>
                        </a:lnTo>
                        <a:lnTo>
                          <a:pt x="6" y="23"/>
                        </a:lnTo>
                        <a:lnTo>
                          <a:pt x="7" y="19"/>
                        </a:lnTo>
                        <a:lnTo>
                          <a:pt x="8" y="14"/>
                        </a:lnTo>
                        <a:lnTo>
                          <a:pt x="9" y="10"/>
                        </a:lnTo>
                        <a:lnTo>
                          <a:pt x="10" y="5"/>
                        </a:lnTo>
                        <a:lnTo>
                          <a:pt x="12" y="0"/>
                        </a:lnTo>
                        <a:lnTo>
                          <a:pt x="203" y="0"/>
                        </a:lnTo>
                        <a:lnTo>
                          <a:pt x="203" y="54"/>
                        </a:lnTo>
                        <a:lnTo>
                          <a:pt x="0" y="5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31" name="Freeform 500"/>
                  <p:cNvSpPr>
                    <a:spLocks/>
                  </p:cNvSpPr>
                  <p:nvPr/>
                </p:nvSpPr>
                <p:spPr bwMode="auto">
                  <a:xfrm>
                    <a:off x="3805" y="2651"/>
                    <a:ext cx="38" cy="7"/>
                  </a:xfrm>
                  <a:custGeom>
                    <a:avLst/>
                    <a:gdLst>
                      <a:gd name="T0" fmla="*/ 30 w 38"/>
                      <a:gd name="T1" fmla="*/ 7 h 7"/>
                      <a:gd name="T2" fmla="*/ 0 w 38"/>
                      <a:gd name="T3" fmla="*/ 7 h 7"/>
                      <a:gd name="T4" fmla="*/ 6 w 38"/>
                      <a:gd name="T5" fmla="*/ 3 h 7"/>
                      <a:gd name="T6" fmla="*/ 10 w 38"/>
                      <a:gd name="T7" fmla="*/ 4 h 7"/>
                      <a:gd name="T8" fmla="*/ 16 w 38"/>
                      <a:gd name="T9" fmla="*/ 5 h 7"/>
                      <a:gd name="T10" fmla="*/ 22 w 38"/>
                      <a:gd name="T11" fmla="*/ 5 h 7"/>
                      <a:gd name="T12" fmla="*/ 26 w 38"/>
                      <a:gd name="T13" fmla="*/ 3 h 7"/>
                      <a:gd name="T14" fmla="*/ 26 w 38"/>
                      <a:gd name="T15" fmla="*/ 0 h 7"/>
                      <a:gd name="T16" fmla="*/ 38 w 38"/>
                      <a:gd name="T17" fmla="*/ 0 h 7"/>
                      <a:gd name="T18" fmla="*/ 30 w 38"/>
                      <a:gd name="T19" fmla="*/ 7 h 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8"/>
                      <a:gd name="T31" fmla="*/ 0 h 7"/>
                      <a:gd name="T32" fmla="*/ 38 w 38"/>
                      <a:gd name="T33" fmla="*/ 7 h 7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8" h="7">
                        <a:moveTo>
                          <a:pt x="30" y="7"/>
                        </a:moveTo>
                        <a:lnTo>
                          <a:pt x="0" y="7"/>
                        </a:lnTo>
                        <a:lnTo>
                          <a:pt x="6" y="3"/>
                        </a:lnTo>
                        <a:lnTo>
                          <a:pt x="10" y="4"/>
                        </a:lnTo>
                        <a:lnTo>
                          <a:pt x="16" y="5"/>
                        </a:lnTo>
                        <a:lnTo>
                          <a:pt x="22" y="5"/>
                        </a:lnTo>
                        <a:lnTo>
                          <a:pt x="26" y="3"/>
                        </a:lnTo>
                        <a:lnTo>
                          <a:pt x="26" y="0"/>
                        </a:lnTo>
                        <a:lnTo>
                          <a:pt x="38" y="0"/>
                        </a:lnTo>
                        <a:lnTo>
                          <a:pt x="30" y="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32" name="Freeform 501"/>
                  <p:cNvSpPr>
                    <a:spLocks/>
                  </p:cNvSpPr>
                  <p:nvPr/>
                </p:nvSpPr>
                <p:spPr bwMode="auto">
                  <a:xfrm>
                    <a:off x="3805" y="2651"/>
                    <a:ext cx="38" cy="7"/>
                  </a:xfrm>
                  <a:custGeom>
                    <a:avLst/>
                    <a:gdLst>
                      <a:gd name="T0" fmla="*/ 30 w 38"/>
                      <a:gd name="T1" fmla="*/ 7 h 7"/>
                      <a:gd name="T2" fmla="*/ 0 w 38"/>
                      <a:gd name="T3" fmla="*/ 7 h 7"/>
                      <a:gd name="T4" fmla="*/ 6 w 38"/>
                      <a:gd name="T5" fmla="*/ 3 h 7"/>
                      <a:gd name="T6" fmla="*/ 10 w 38"/>
                      <a:gd name="T7" fmla="*/ 4 h 7"/>
                      <a:gd name="T8" fmla="*/ 16 w 38"/>
                      <a:gd name="T9" fmla="*/ 5 h 7"/>
                      <a:gd name="T10" fmla="*/ 22 w 38"/>
                      <a:gd name="T11" fmla="*/ 5 h 7"/>
                      <a:gd name="T12" fmla="*/ 26 w 38"/>
                      <a:gd name="T13" fmla="*/ 3 h 7"/>
                      <a:gd name="T14" fmla="*/ 26 w 38"/>
                      <a:gd name="T15" fmla="*/ 0 h 7"/>
                      <a:gd name="T16" fmla="*/ 38 w 38"/>
                      <a:gd name="T17" fmla="*/ 0 h 7"/>
                      <a:gd name="T18" fmla="*/ 30 w 38"/>
                      <a:gd name="T19" fmla="*/ 7 h 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8"/>
                      <a:gd name="T31" fmla="*/ 0 h 7"/>
                      <a:gd name="T32" fmla="*/ 38 w 38"/>
                      <a:gd name="T33" fmla="*/ 7 h 7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8" h="7">
                        <a:moveTo>
                          <a:pt x="30" y="7"/>
                        </a:moveTo>
                        <a:lnTo>
                          <a:pt x="0" y="7"/>
                        </a:lnTo>
                        <a:lnTo>
                          <a:pt x="6" y="3"/>
                        </a:lnTo>
                        <a:lnTo>
                          <a:pt x="10" y="4"/>
                        </a:lnTo>
                        <a:lnTo>
                          <a:pt x="16" y="5"/>
                        </a:lnTo>
                        <a:lnTo>
                          <a:pt x="22" y="5"/>
                        </a:lnTo>
                        <a:lnTo>
                          <a:pt x="26" y="3"/>
                        </a:lnTo>
                        <a:lnTo>
                          <a:pt x="26" y="0"/>
                        </a:lnTo>
                        <a:lnTo>
                          <a:pt x="38" y="0"/>
                        </a:lnTo>
                        <a:lnTo>
                          <a:pt x="30" y="7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33" name="Freeform 502"/>
                  <p:cNvSpPr>
                    <a:spLocks/>
                  </p:cNvSpPr>
                  <p:nvPr/>
                </p:nvSpPr>
                <p:spPr bwMode="auto">
                  <a:xfrm>
                    <a:off x="3577" y="2658"/>
                    <a:ext cx="29" cy="3"/>
                  </a:xfrm>
                  <a:custGeom>
                    <a:avLst/>
                    <a:gdLst>
                      <a:gd name="T0" fmla="*/ 26 w 29"/>
                      <a:gd name="T1" fmla="*/ 3 h 3"/>
                      <a:gd name="T2" fmla="*/ 29 w 29"/>
                      <a:gd name="T3" fmla="*/ 0 h 3"/>
                      <a:gd name="T4" fmla="*/ 0 w 29"/>
                      <a:gd name="T5" fmla="*/ 0 h 3"/>
                      <a:gd name="T6" fmla="*/ 0 w 29"/>
                      <a:gd name="T7" fmla="*/ 3 h 3"/>
                      <a:gd name="T8" fmla="*/ 26 w 29"/>
                      <a:gd name="T9" fmla="*/ 3 h 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"/>
                      <a:gd name="T16" fmla="*/ 0 h 3"/>
                      <a:gd name="T17" fmla="*/ 29 w 29"/>
                      <a:gd name="T18" fmla="*/ 3 h 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" h="3">
                        <a:moveTo>
                          <a:pt x="26" y="3"/>
                        </a:moveTo>
                        <a:lnTo>
                          <a:pt x="29" y="0"/>
                        </a:lnTo>
                        <a:lnTo>
                          <a:pt x="0" y="0"/>
                        </a:lnTo>
                        <a:lnTo>
                          <a:pt x="0" y="3"/>
                        </a:lnTo>
                        <a:lnTo>
                          <a:pt x="26" y="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34" name="Freeform 503"/>
                  <p:cNvSpPr>
                    <a:spLocks/>
                  </p:cNvSpPr>
                  <p:nvPr/>
                </p:nvSpPr>
                <p:spPr bwMode="auto">
                  <a:xfrm>
                    <a:off x="3577" y="2658"/>
                    <a:ext cx="29" cy="3"/>
                  </a:xfrm>
                  <a:custGeom>
                    <a:avLst/>
                    <a:gdLst>
                      <a:gd name="T0" fmla="*/ 26 w 29"/>
                      <a:gd name="T1" fmla="*/ 3 h 3"/>
                      <a:gd name="T2" fmla="*/ 29 w 29"/>
                      <a:gd name="T3" fmla="*/ 0 h 3"/>
                      <a:gd name="T4" fmla="*/ 0 w 29"/>
                      <a:gd name="T5" fmla="*/ 0 h 3"/>
                      <a:gd name="T6" fmla="*/ 0 w 29"/>
                      <a:gd name="T7" fmla="*/ 3 h 3"/>
                      <a:gd name="T8" fmla="*/ 26 w 29"/>
                      <a:gd name="T9" fmla="*/ 3 h 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"/>
                      <a:gd name="T16" fmla="*/ 0 h 3"/>
                      <a:gd name="T17" fmla="*/ 29 w 29"/>
                      <a:gd name="T18" fmla="*/ 3 h 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" h="3">
                        <a:moveTo>
                          <a:pt x="26" y="3"/>
                        </a:moveTo>
                        <a:lnTo>
                          <a:pt x="29" y="0"/>
                        </a:lnTo>
                        <a:lnTo>
                          <a:pt x="0" y="0"/>
                        </a:lnTo>
                        <a:lnTo>
                          <a:pt x="0" y="3"/>
                        </a:lnTo>
                        <a:lnTo>
                          <a:pt x="26" y="3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35" name="Freeform 504"/>
                  <p:cNvSpPr>
                    <a:spLocks/>
                  </p:cNvSpPr>
                  <p:nvPr/>
                </p:nvSpPr>
                <p:spPr bwMode="auto">
                  <a:xfrm>
                    <a:off x="3808" y="2658"/>
                    <a:ext cx="27" cy="3"/>
                  </a:xfrm>
                  <a:custGeom>
                    <a:avLst/>
                    <a:gdLst>
                      <a:gd name="T0" fmla="*/ 27 w 27"/>
                      <a:gd name="T1" fmla="*/ 0 h 3"/>
                      <a:gd name="T2" fmla="*/ 0 w 27"/>
                      <a:gd name="T3" fmla="*/ 0 h 3"/>
                      <a:gd name="T4" fmla="*/ 1 w 27"/>
                      <a:gd name="T5" fmla="*/ 3 h 3"/>
                      <a:gd name="T6" fmla="*/ 27 w 27"/>
                      <a:gd name="T7" fmla="*/ 3 h 3"/>
                      <a:gd name="T8" fmla="*/ 27 w 27"/>
                      <a:gd name="T9" fmla="*/ 0 h 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"/>
                      <a:gd name="T16" fmla="*/ 0 h 3"/>
                      <a:gd name="T17" fmla="*/ 27 w 27"/>
                      <a:gd name="T18" fmla="*/ 3 h 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" h="3">
                        <a:moveTo>
                          <a:pt x="27" y="0"/>
                        </a:moveTo>
                        <a:lnTo>
                          <a:pt x="0" y="0"/>
                        </a:lnTo>
                        <a:lnTo>
                          <a:pt x="1" y="3"/>
                        </a:lnTo>
                        <a:lnTo>
                          <a:pt x="27" y="3"/>
                        </a:lnTo>
                        <a:lnTo>
                          <a:pt x="27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36" name="Freeform 505"/>
                  <p:cNvSpPr>
                    <a:spLocks/>
                  </p:cNvSpPr>
                  <p:nvPr/>
                </p:nvSpPr>
                <p:spPr bwMode="auto">
                  <a:xfrm>
                    <a:off x="3808" y="2658"/>
                    <a:ext cx="27" cy="3"/>
                  </a:xfrm>
                  <a:custGeom>
                    <a:avLst/>
                    <a:gdLst>
                      <a:gd name="T0" fmla="*/ 27 w 27"/>
                      <a:gd name="T1" fmla="*/ 0 h 3"/>
                      <a:gd name="T2" fmla="*/ 0 w 27"/>
                      <a:gd name="T3" fmla="*/ 0 h 3"/>
                      <a:gd name="T4" fmla="*/ 1 w 27"/>
                      <a:gd name="T5" fmla="*/ 3 h 3"/>
                      <a:gd name="T6" fmla="*/ 27 w 27"/>
                      <a:gd name="T7" fmla="*/ 3 h 3"/>
                      <a:gd name="T8" fmla="*/ 27 w 27"/>
                      <a:gd name="T9" fmla="*/ 0 h 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"/>
                      <a:gd name="T16" fmla="*/ 0 h 3"/>
                      <a:gd name="T17" fmla="*/ 27 w 27"/>
                      <a:gd name="T18" fmla="*/ 3 h 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" h="3">
                        <a:moveTo>
                          <a:pt x="27" y="0"/>
                        </a:moveTo>
                        <a:lnTo>
                          <a:pt x="0" y="0"/>
                        </a:lnTo>
                        <a:lnTo>
                          <a:pt x="1" y="3"/>
                        </a:lnTo>
                        <a:lnTo>
                          <a:pt x="27" y="3"/>
                        </a:lnTo>
                        <a:lnTo>
                          <a:pt x="27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37" name="Line 50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54" y="2359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38" name="Line 50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54" y="2359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39" name="Line 50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51" y="2358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40" name="Line 50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51" y="2358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41" name="Line 5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8" y="2355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42" name="Line 5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8" y="2355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43" name="Line 5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5" y="2353"/>
                    <a:ext cx="4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44" name="Line 5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5" y="2353"/>
                    <a:ext cx="4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45" name="Line 5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2" y="2353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46" name="Line 51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2" y="2353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47" name="Line 51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9" y="2351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48" name="Line 5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9" y="2351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49" name="Line 5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6" y="2351"/>
                    <a:ext cx="5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50" name="Line 5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6" y="2351"/>
                    <a:ext cx="5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51" name="Line 5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2" y="2350"/>
                    <a:ext cx="6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52" name="Line 5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2" y="2350"/>
                    <a:ext cx="6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53" name="Line 5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9" y="2349"/>
                    <a:ext cx="6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54" name="Line 5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9" y="2349"/>
                    <a:ext cx="6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55" name="Line 52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7" y="2349"/>
                    <a:ext cx="3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56" name="Line 5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7" y="2349"/>
                    <a:ext cx="3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57" name="Line 52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3" y="2349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58" name="Line 52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3" y="2349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59" name="Line 52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8" y="2349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60" name="Line 52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8" y="2349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61" name="Line 53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3" y="2350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62" name="Line 53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3" y="2350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63" name="Line 53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0" y="2351"/>
                    <a:ext cx="5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64" name="Line 5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0" y="2351"/>
                    <a:ext cx="5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65" name="Line 53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05" y="2352"/>
                    <a:ext cx="6" cy="6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66" name="Line 53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05" y="2352"/>
                    <a:ext cx="6" cy="6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67" name="Line 53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01" y="2354"/>
                    <a:ext cx="7" cy="6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68" name="Line 53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01" y="2354"/>
                    <a:ext cx="7" cy="6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69" name="Freeform 538"/>
                  <p:cNvSpPr>
                    <a:spLocks/>
                  </p:cNvSpPr>
                  <p:nvPr/>
                </p:nvSpPr>
                <p:spPr bwMode="auto">
                  <a:xfrm>
                    <a:off x="3805" y="2654"/>
                    <a:ext cx="5" cy="4"/>
                  </a:xfrm>
                  <a:custGeom>
                    <a:avLst/>
                    <a:gdLst>
                      <a:gd name="T0" fmla="*/ 5 w 5"/>
                      <a:gd name="T1" fmla="*/ 0 h 4"/>
                      <a:gd name="T2" fmla="*/ 0 w 5"/>
                      <a:gd name="T3" fmla="*/ 4 h 4"/>
                      <a:gd name="T4" fmla="*/ 3 w 5"/>
                      <a:gd name="T5" fmla="*/ 4 h 4"/>
                      <a:gd name="T6" fmla="*/ 0 60000 65536"/>
                      <a:gd name="T7" fmla="*/ 0 60000 65536"/>
                      <a:gd name="T8" fmla="*/ 0 60000 65536"/>
                      <a:gd name="T9" fmla="*/ 0 w 5"/>
                      <a:gd name="T10" fmla="*/ 0 h 4"/>
                      <a:gd name="T11" fmla="*/ 5 w 5"/>
                      <a:gd name="T12" fmla="*/ 4 h 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5" h="4">
                        <a:moveTo>
                          <a:pt x="5" y="0"/>
                        </a:moveTo>
                        <a:lnTo>
                          <a:pt x="0" y="4"/>
                        </a:lnTo>
                        <a:lnTo>
                          <a:pt x="3" y="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70" name="Freeform 539"/>
                  <p:cNvSpPr>
                    <a:spLocks/>
                  </p:cNvSpPr>
                  <p:nvPr/>
                </p:nvSpPr>
                <p:spPr bwMode="auto">
                  <a:xfrm>
                    <a:off x="3805" y="2654"/>
                    <a:ext cx="5" cy="4"/>
                  </a:xfrm>
                  <a:custGeom>
                    <a:avLst/>
                    <a:gdLst>
                      <a:gd name="T0" fmla="*/ 5 w 5"/>
                      <a:gd name="T1" fmla="*/ 0 h 4"/>
                      <a:gd name="T2" fmla="*/ 0 w 5"/>
                      <a:gd name="T3" fmla="*/ 4 h 4"/>
                      <a:gd name="T4" fmla="*/ 3 w 5"/>
                      <a:gd name="T5" fmla="*/ 4 h 4"/>
                      <a:gd name="T6" fmla="*/ 0 60000 65536"/>
                      <a:gd name="T7" fmla="*/ 0 60000 65536"/>
                      <a:gd name="T8" fmla="*/ 0 60000 65536"/>
                      <a:gd name="T9" fmla="*/ 0 w 5"/>
                      <a:gd name="T10" fmla="*/ 0 h 4"/>
                      <a:gd name="T11" fmla="*/ 5 w 5"/>
                      <a:gd name="T12" fmla="*/ 4 h 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5" h="4">
                        <a:moveTo>
                          <a:pt x="5" y="0"/>
                        </a:moveTo>
                        <a:lnTo>
                          <a:pt x="0" y="4"/>
                        </a:lnTo>
                        <a:lnTo>
                          <a:pt x="3" y="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71" name="Line 5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5" y="2688"/>
                    <a:ext cx="193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72" name="Line 5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5" y="2688"/>
                    <a:ext cx="193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73" name="Line 5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4" y="2692"/>
                    <a:ext cx="194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74" name="Line 54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4" y="2692"/>
                    <a:ext cx="194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75" name="Line 54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4" y="2697"/>
                    <a:ext cx="194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76" name="Line 5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4" y="2697"/>
                    <a:ext cx="194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77" name="Line 54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3" y="2702"/>
                    <a:ext cx="195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78" name="Line 54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3" y="2702"/>
                    <a:ext cx="195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79" name="Line 54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2" y="2706"/>
                    <a:ext cx="196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080" name="Line 54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2" y="2706"/>
                    <a:ext cx="196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869" name="Line 550"/>
                <p:cNvSpPr>
                  <a:spLocks noChangeShapeType="1"/>
                </p:cNvSpPr>
                <p:nvPr/>
              </p:nvSpPr>
              <p:spPr bwMode="auto">
                <a:xfrm flipH="1">
                  <a:off x="3611" y="2710"/>
                  <a:ext cx="197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70" name="Line 551"/>
                <p:cNvSpPr>
                  <a:spLocks noChangeShapeType="1"/>
                </p:cNvSpPr>
                <p:nvPr/>
              </p:nvSpPr>
              <p:spPr bwMode="auto">
                <a:xfrm flipH="1">
                  <a:off x="3611" y="2710"/>
                  <a:ext cx="197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71" name="Line 552"/>
                <p:cNvSpPr>
                  <a:spLocks noChangeShapeType="1"/>
                </p:cNvSpPr>
                <p:nvPr/>
              </p:nvSpPr>
              <p:spPr bwMode="auto">
                <a:xfrm flipH="1">
                  <a:off x="3610" y="2714"/>
                  <a:ext cx="198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72" name="Line 553"/>
                <p:cNvSpPr>
                  <a:spLocks noChangeShapeType="1"/>
                </p:cNvSpPr>
                <p:nvPr/>
              </p:nvSpPr>
              <p:spPr bwMode="auto">
                <a:xfrm flipH="1">
                  <a:off x="3610" y="2714"/>
                  <a:ext cx="198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73" name="Line 554"/>
                <p:cNvSpPr>
                  <a:spLocks noChangeShapeType="1"/>
                </p:cNvSpPr>
                <p:nvPr/>
              </p:nvSpPr>
              <p:spPr bwMode="auto">
                <a:xfrm flipH="1">
                  <a:off x="3609" y="2720"/>
                  <a:ext cx="199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74" name="Line 555"/>
                <p:cNvSpPr>
                  <a:spLocks noChangeShapeType="1"/>
                </p:cNvSpPr>
                <p:nvPr/>
              </p:nvSpPr>
              <p:spPr bwMode="auto">
                <a:xfrm flipH="1">
                  <a:off x="3609" y="2720"/>
                  <a:ext cx="199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75" name="Line 556"/>
                <p:cNvSpPr>
                  <a:spLocks noChangeShapeType="1"/>
                </p:cNvSpPr>
                <p:nvPr/>
              </p:nvSpPr>
              <p:spPr bwMode="auto">
                <a:xfrm flipH="1">
                  <a:off x="3608" y="2723"/>
                  <a:ext cx="200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76" name="Line 557"/>
                <p:cNvSpPr>
                  <a:spLocks noChangeShapeType="1"/>
                </p:cNvSpPr>
                <p:nvPr/>
              </p:nvSpPr>
              <p:spPr bwMode="auto">
                <a:xfrm flipH="1">
                  <a:off x="3608" y="2723"/>
                  <a:ext cx="200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77" name="Line 558"/>
                <p:cNvSpPr>
                  <a:spLocks noChangeShapeType="1"/>
                </p:cNvSpPr>
                <p:nvPr/>
              </p:nvSpPr>
              <p:spPr bwMode="auto">
                <a:xfrm flipH="1">
                  <a:off x="3607" y="2728"/>
                  <a:ext cx="201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78" name="Line 559"/>
                <p:cNvSpPr>
                  <a:spLocks noChangeShapeType="1"/>
                </p:cNvSpPr>
                <p:nvPr/>
              </p:nvSpPr>
              <p:spPr bwMode="auto">
                <a:xfrm flipH="1">
                  <a:off x="3607" y="2728"/>
                  <a:ext cx="201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79" name="Line 560"/>
                <p:cNvSpPr>
                  <a:spLocks noChangeShapeType="1"/>
                </p:cNvSpPr>
                <p:nvPr/>
              </p:nvSpPr>
              <p:spPr bwMode="auto">
                <a:xfrm flipH="1">
                  <a:off x="3606" y="2733"/>
                  <a:ext cx="202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80" name="Line 561"/>
                <p:cNvSpPr>
                  <a:spLocks noChangeShapeType="1"/>
                </p:cNvSpPr>
                <p:nvPr/>
              </p:nvSpPr>
              <p:spPr bwMode="auto">
                <a:xfrm flipH="1">
                  <a:off x="3606" y="2733"/>
                  <a:ext cx="202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2867" name="Rectangle 562"/>
              <p:cNvSpPr>
                <a:spLocks noChangeArrowheads="1"/>
              </p:cNvSpPr>
              <p:nvPr/>
            </p:nvSpPr>
            <p:spPr bwMode="auto">
              <a:xfrm>
                <a:off x="3543" y="2773"/>
                <a:ext cx="411" cy="1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84238" eaLnBrk="0" hangingPunct="0"/>
                <a:r>
                  <a:rPr lang="en-US" b="0">
                    <a:solidFill>
                      <a:srgbClr val="000000"/>
                    </a:solidFill>
                    <a:latin typeface="Arial Narrow" pitchFamily="34" charset="0"/>
                  </a:rPr>
                  <a:t>Data Bank</a:t>
                </a:r>
                <a:endParaRPr lang="en-US" b="0">
                  <a:latin typeface="Times New Roman" pitchFamily="18" charset="0"/>
                </a:endParaRPr>
              </a:p>
            </p:txBody>
          </p:sp>
        </p:grpSp>
        <p:sp>
          <p:nvSpPr>
            <p:cNvPr id="12865" name="Rectangle 563"/>
            <p:cNvSpPr>
              <a:spLocks noChangeArrowheads="1"/>
            </p:cNvSpPr>
            <p:nvPr/>
          </p:nvSpPr>
          <p:spPr bwMode="auto">
            <a:xfrm>
              <a:off x="2944" y="2195"/>
              <a:ext cx="1025" cy="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12296" name="Group 564"/>
          <p:cNvGrpSpPr>
            <a:grpSpLocks/>
          </p:cNvGrpSpPr>
          <p:nvPr/>
        </p:nvGrpSpPr>
        <p:grpSpPr bwMode="auto">
          <a:xfrm>
            <a:off x="3052763" y="2790825"/>
            <a:ext cx="2405062" cy="3008313"/>
            <a:chOff x="2199" y="2195"/>
            <a:chExt cx="1783" cy="1936"/>
          </a:xfrm>
        </p:grpSpPr>
        <p:sp>
          <p:nvSpPr>
            <p:cNvPr id="12301" name="Rectangle 565"/>
            <p:cNvSpPr>
              <a:spLocks noChangeArrowheads="1"/>
            </p:cNvSpPr>
            <p:nvPr/>
          </p:nvSpPr>
          <p:spPr bwMode="auto">
            <a:xfrm>
              <a:off x="2199" y="2846"/>
              <a:ext cx="1720" cy="643"/>
            </a:xfrm>
            <a:prstGeom prst="rect">
              <a:avLst/>
            </a:prstGeom>
            <a:solidFill>
              <a:srgbClr val="FFFF66"/>
            </a:solidFill>
            <a:ln w="444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302" name="Oval 566"/>
            <p:cNvSpPr>
              <a:spLocks noChangeArrowheads="1"/>
            </p:cNvSpPr>
            <p:nvPr/>
          </p:nvSpPr>
          <p:spPr bwMode="auto">
            <a:xfrm>
              <a:off x="2954" y="3389"/>
              <a:ext cx="210" cy="94"/>
            </a:xfrm>
            <a:prstGeom prst="ellipse">
              <a:avLst/>
            </a:prstGeom>
            <a:solidFill>
              <a:srgbClr val="FF0000"/>
            </a:solidFill>
            <a:ln w="44450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303" name="Rectangle 567"/>
            <p:cNvSpPr>
              <a:spLocks noChangeArrowheads="1"/>
            </p:cNvSpPr>
            <p:nvPr/>
          </p:nvSpPr>
          <p:spPr bwMode="auto">
            <a:xfrm>
              <a:off x="3014" y="2820"/>
              <a:ext cx="90" cy="57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304" name="Rectangle 568"/>
            <p:cNvSpPr>
              <a:spLocks noChangeArrowheads="1"/>
            </p:cNvSpPr>
            <p:nvPr/>
          </p:nvSpPr>
          <p:spPr bwMode="auto">
            <a:xfrm>
              <a:off x="2199" y="2200"/>
              <a:ext cx="1720" cy="644"/>
            </a:xfrm>
            <a:prstGeom prst="rect">
              <a:avLst/>
            </a:prstGeom>
            <a:solidFill>
              <a:srgbClr val="99FFCC"/>
            </a:solidFill>
            <a:ln w="444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grpSp>
          <p:nvGrpSpPr>
            <p:cNvPr id="12305" name="Group 569"/>
            <p:cNvGrpSpPr>
              <a:grpSpLocks/>
            </p:cNvGrpSpPr>
            <p:nvPr/>
          </p:nvGrpSpPr>
          <p:grpSpPr bwMode="auto">
            <a:xfrm>
              <a:off x="2911" y="2322"/>
              <a:ext cx="298" cy="272"/>
              <a:chOff x="2528" y="1791"/>
              <a:chExt cx="326" cy="334"/>
            </a:xfrm>
          </p:grpSpPr>
          <p:grpSp>
            <p:nvGrpSpPr>
              <p:cNvPr id="12521" name="Group 570"/>
              <p:cNvGrpSpPr>
                <a:grpSpLocks/>
              </p:cNvGrpSpPr>
              <p:nvPr/>
            </p:nvGrpSpPr>
            <p:grpSpPr bwMode="auto">
              <a:xfrm>
                <a:off x="2616" y="1878"/>
                <a:ext cx="150" cy="247"/>
                <a:chOff x="2616" y="1878"/>
                <a:chExt cx="150" cy="247"/>
              </a:xfrm>
            </p:grpSpPr>
            <p:sp>
              <p:nvSpPr>
                <p:cNvPr id="12657" name="Freeform 571"/>
                <p:cNvSpPr>
                  <a:spLocks/>
                </p:cNvSpPr>
                <p:nvPr/>
              </p:nvSpPr>
              <p:spPr bwMode="auto">
                <a:xfrm>
                  <a:off x="2689" y="2107"/>
                  <a:ext cx="6" cy="7"/>
                </a:xfrm>
                <a:custGeom>
                  <a:avLst/>
                  <a:gdLst>
                    <a:gd name="T0" fmla="*/ 3 w 6"/>
                    <a:gd name="T1" fmla="*/ 7 h 7"/>
                    <a:gd name="T2" fmla="*/ 4 w 6"/>
                    <a:gd name="T3" fmla="*/ 7 h 7"/>
                    <a:gd name="T4" fmla="*/ 5 w 6"/>
                    <a:gd name="T5" fmla="*/ 6 h 7"/>
                    <a:gd name="T6" fmla="*/ 6 w 6"/>
                    <a:gd name="T7" fmla="*/ 5 h 7"/>
                    <a:gd name="T8" fmla="*/ 6 w 6"/>
                    <a:gd name="T9" fmla="*/ 3 h 7"/>
                    <a:gd name="T10" fmla="*/ 6 w 6"/>
                    <a:gd name="T11" fmla="*/ 2 h 7"/>
                    <a:gd name="T12" fmla="*/ 5 w 6"/>
                    <a:gd name="T13" fmla="*/ 1 h 7"/>
                    <a:gd name="T14" fmla="*/ 4 w 6"/>
                    <a:gd name="T15" fmla="*/ 0 h 7"/>
                    <a:gd name="T16" fmla="*/ 3 w 6"/>
                    <a:gd name="T17" fmla="*/ 0 h 7"/>
                    <a:gd name="T18" fmla="*/ 2 w 6"/>
                    <a:gd name="T19" fmla="*/ 0 h 7"/>
                    <a:gd name="T20" fmla="*/ 1 w 6"/>
                    <a:gd name="T21" fmla="*/ 1 h 7"/>
                    <a:gd name="T22" fmla="*/ 0 w 6"/>
                    <a:gd name="T23" fmla="*/ 2 h 7"/>
                    <a:gd name="T24" fmla="*/ 0 w 6"/>
                    <a:gd name="T25" fmla="*/ 3 h 7"/>
                    <a:gd name="T26" fmla="*/ 0 w 6"/>
                    <a:gd name="T27" fmla="*/ 5 h 7"/>
                    <a:gd name="T28" fmla="*/ 1 w 6"/>
                    <a:gd name="T29" fmla="*/ 6 h 7"/>
                    <a:gd name="T30" fmla="*/ 2 w 6"/>
                    <a:gd name="T31" fmla="*/ 7 h 7"/>
                    <a:gd name="T32" fmla="*/ 3 w 6"/>
                    <a:gd name="T33" fmla="*/ 7 h 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6"/>
                    <a:gd name="T52" fmla="*/ 0 h 7"/>
                    <a:gd name="T53" fmla="*/ 6 w 6"/>
                    <a:gd name="T54" fmla="*/ 7 h 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6" h="7">
                      <a:moveTo>
                        <a:pt x="3" y="7"/>
                      </a:moveTo>
                      <a:lnTo>
                        <a:pt x="4" y="7"/>
                      </a:lnTo>
                      <a:lnTo>
                        <a:pt x="5" y="6"/>
                      </a:lnTo>
                      <a:lnTo>
                        <a:pt x="6" y="5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2" y="7"/>
                      </a:lnTo>
                      <a:lnTo>
                        <a:pt x="3" y="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58" name="Freeform 572"/>
                <p:cNvSpPr>
                  <a:spLocks/>
                </p:cNvSpPr>
                <p:nvPr/>
              </p:nvSpPr>
              <p:spPr bwMode="auto">
                <a:xfrm>
                  <a:off x="2685" y="2102"/>
                  <a:ext cx="21" cy="23"/>
                </a:xfrm>
                <a:custGeom>
                  <a:avLst/>
                  <a:gdLst>
                    <a:gd name="T0" fmla="*/ 0 w 21"/>
                    <a:gd name="T1" fmla="*/ 8 h 23"/>
                    <a:gd name="T2" fmla="*/ 0 w 21"/>
                    <a:gd name="T3" fmla="*/ 8 h 23"/>
                    <a:gd name="T4" fmla="*/ 0 w 21"/>
                    <a:gd name="T5" fmla="*/ 6 h 23"/>
                    <a:gd name="T6" fmla="*/ 2 w 21"/>
                    <a:gd name="T7" fmla="*/ 2 h 23"/>
                    <a:gd name="T8" fmla="*/ 5 w 21"/>
                    <a:gd name="T9" fmla="*/ 0 h 23"/>
                    <a:gd name="T10" fmla="*/ 7 w 21"/>
                    <a:gd name="T11" fmla="*/ 0 h 23"/>
                    <a:gd name="T12" fmla="*/ 7 w 21"/>
                    <a:gd name="T13" fmla="*/ 23 h 23"/>
                    <a:gd name="T14" fmla="*/ 11 w 21"/>
                    <a:gd name="T15" fmla="*/ 22 h 23"/>
                    <a:gd name="T16" fmla="*/ 17 w 21"/>
                    <a:gd name="T17" fmla="*/ 18 h 23"/>
                    <a:gd name="T18" fmla="*/ 20 w 21"/>
                    <a:gd name="T19" fmla="*/ 13 h 23"/>
                    <a:gd name="T20" fmla="*/ 21 w 21"/>
                    <a:gd name="T21" fmla="*/ 8 h 23"/>
                    <a:gd name="T22" fmla="*/ 0 w 21"/>
                    <a:gd name="T23" fmla="*/ 8 h 23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1"/>
                    <a:gd name="T37" fmla="*/ 0 h 23"/>
                    <a:gd name="T38" fmla="*/ 21 w 21"/>
                    <a:gd name="T39" fmla="*/ 23 h 23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1" h="23">
                      <a:moveTo>
                        <a:pt x="0" y="8"/>
                      </a:moveTo>
                      <a:lnTo>
                        <a:pt x="0" y="8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5" y="0"/>
                      </a:lnTo>
                      <a:lnTo>
                        <a:pt x="7" y="0"/>
                      </a:lnTo>
                      <a:lnTo>
                        <a:pt x="7" y="23"/>
                      </a:lnTo>
                      <a:lnTo>
                        <a:pt x="11" y="22"/>
                      </a:lnTo>
                      <a:lnTo>
                        <a:pt x="17" y="18"/>
                      </a:lnTo>
                      <a:lnTo>
                        <a:pt x="20" y="13"/>
                      </a:lnTo>
                      <a:lnTo>
                        <a:pt x="21" y="8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59" name="Freeform 573"/>
                <p:cNvSpPr>
                  <a:spLocks/>
                </p:cNvSpPr>
                <p:nvPr/>
              </p:nvSpPr>
              <p:spPr bwMode="auto">
                <a:xfrm>
                  <a:off x="2685" y="2095"/>
                  <a:ext cx="21" cy="22"/>
                </a:xfrm>
                <a:custGeom>
                  <a:avLst/>
                  <a:gdLst>
                    <a:gd name="T0" fmla="*/ 7 w 21"/>
                    <a:gd name="T1" fmla="*/ 22 h 22"/>
                    <a:gd name="T2" fmla="*/ 7 w 21"/>
                    <a:gd name="T3" fmla="*/ 22 h 22"/>
                    <a:gd name="T4" fmla="*/ 5 w 21"/>
                    <a:gd name="T5" fmla="*/ 22 h 22"/>
                    <a:gd name="T6" fmla="*/ 2 w 21"/>
                    <a:gd name="T7" fmla="*/ 20 h 22"/>
                    <a:gd name="T8" fmla="*/ 0 w 21"/>
                    <a:gd name="T9" fmla="*/ 17 h 22"/>
                    <a:gd name="T10" fmla="*/ 0 w 21"/>
                    <a:gd name="T11" fmla="*/ 15 h 22"/>
                    <a:gd name="T12" fmla="*/ 21 w 21"/>
                    <a:gd name="T13" fmla="*/ 15 h 22"/>
                    <a:gd name="T14" fmla="*/ 20 w 21"/>
                    <a:gd name="T15" fmla="*/ 9 h 22"/>
                    <a:gd name="T16" fmla="*/ 17 w 21"/>
                    <a:gd name="T17" fmla="*/ 4 h 22"/>
                    <a:gd name="T18" fmla="*/ 11 w 21"/>
                    <a:gd name="T19" fmla="*/ 1 h 22"/>
                    <a:gd name="T20" fmla="*/ 7 w 21"/>
                    <a:gd name="T21" fmla="*/ 0 h 22"/>
                    <a:gd name="T22" fmla="*/ 7 w 21"/>
                    <a:gd name="T23" fmla="*/ 22 h 2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1"/>
                    <a:gd name="T37" fmla="*/ 0 h 22"/>
                    <a:gd name="T38" fmla="*/ 21 w 21"/>
                    <a:gd name="T39" fmla="*/ 22 h 22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1" h="22">
                      <a:moveTo>
                        <a:pt x="7" y="22"/>
                      </a:moveTo>
                      <a:lnTo>
                        <a:pt x="7" y="22"/>
                      </a:lnTo>
                      <a:lnTo>
                        <a:pt x="5" y="22"/>
                      </a:lnTo>
                      <a:lnTo>
                        <a:pt x="2" y="20"/>
                      </a:lnTo>
                      <a:lnTo>
                        <a:pt x="0" y="17"/>
                      </a:lnTo>
                      <a:lnTo>
                        <a:pt x="0" y="15"/>
                      </a:lnTo>
                      <a:lnTo>
                        <a:pt x="21" y="15"/>
                      </a:lnTo>
                      <a:lnTo>
                        <a:pt x="20" y="9"/>
                      </a:lnTo>
                      <a:lnTo>
                        <a:pt x="17" y="4"/>
                      </a:lnTo>
                      <a:lnTo>
                        <a:pt x="11" y="1"/>
                      </a:lnTo>
                      <a:lnTo>
                        <a:pt x="7" y="0"/>
                      </a:lnTo>
                      <a:lnTo>
                        <a:pt x="7" y="2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60" name="Freeform 574"/>
                <p:cNvSpPr>
                  <a:spLocks/>
                </p:cNvSpPr>
                <p:nvPr/>
              </p:nvSpPr>
              <p:spPr bwMode="auto">
                <a:xfrm>
                  <a:off x="2677" y="2095"/>
                  <a:ext cx="23" cy="22"/>
                </a:xfrm>
                <a:custGeom>
                  <a:avLst/>
                  <a:gdLst>
                    <a:gd name="T0" fmla="*/ 23 w 23"/>
                    <a:gd name="T1" fmla="*/ 15 h 22"/>
                    <a:gd name="T2" fmla="*/ 23 w 23"/>
                    <a:gd name="T3" fmla="*/ 15 h 22"/>
                    <a:gd name="T4" fmla="*/ 23 w 23"/>
                    <a:gd name="T5" fmla="*/ 17 h 22"/>
                    <a:gd name="T6" fmla="*/ 21 w 23"/>
                    <a:gd name="T7" fmla="*/ 19 h 22"/>
                    <a:gd name="T8" fmla="*/ 17 w 23"/>
                    <a:gd name="T9" fmla="*/ 22 h 22"/>
                    <a:gd name="T10" fmla="*/ 15 w 23"/>
                    <a:gd name="T11" fmla="*/ 22 h 22"/>
                    <a:gd name="T12" fmla="*/ 15 w 23"/>
                    <a:gd name="T13" fmla="*/ 0 h 22"/>
                    <a:gd name="T14" fmla="*/ 10 w 23"/>
                    <a:gd name="T15" fmla="*/ 1 h 22"/>
                    <a:gd name="T16" fmla="*/ 3 w 23"/>
                    <a:gd name="T17" fmla="*/ 5 h 22"/>
                    <a:gd name="T18" fmla="*/ 1 w 23"/>
                    <a:gd name="T19" fmla="*/ 9 h 22"/>
                    <a:gd name="T20" fmla="*/ 0 w 23"/>
                    <a:gd name="T21" fmla="*/ 15 h 22"/>
                    <a:gd name="T22" fmla="*/ 23 w 23"/>
                    <a:gd name="T23" fmla="*/ 15 h 2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3"/>
                    <a:gd name="T37" fmla="*/ 0 h 22"/>
                    <a:gd name="T38" fmla="*/ 23 w 23"/>
                    <a:gd name="T39" fmla="*/ 22 h 22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3" h="22">
                      <a:moveTo>
                        <a:pt x="23" y="15"/>
                      </a:moveTo>
                      <a:lnTo>
                        <a:pt x="23" y="15"/>
                      </a:lnTo>
                      <a:lnTo>
                        <a:pt x="23" y="17"/>
                      </a:lnTo>
                      <a:lnTo>
                        <a:pt x="21" y="19"/>
                      </a:lnTo>
                      <a:lnTo>
                        <a:pt x="17" y="22"/>
                      </a:lnTo>
                      <a:lnTo>
                        <a:pt x="15" y="22"/>
                      </a:lnTo>
                      <a:lnTo>
                        <a:pt x="15" y="0"/>
                      </a:lnTo>
                      <a:lnTo>
                        <a:pt x="10" y="1"/>
                      </a:lnTo>
                      <a:lnTo>
                        <a:pt x="3" y="5"/>
                      </a:lnTo>
                      <a:lnTo>
                        <a:pt x="1" y="9"/>
                      </a:lnTo>
                      <a:lnTo>
                        <a:pt x="0" y="15"/>
                      </a:lnTo>
                      <a:lnTo>
                        <a:pt x="23" y="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61" name="Freeform 575"/>
                <p:cNvSpPr>
                  <a:spLocks/>
                </p:cNvSpPr>
                <p:nvPr/>
              </p:nvSpPr>
              <p:spPr bwMode="auto">
                <a:xfrm>
                  <a:off x="2677" y="2102"/>
                  <a:ext cx="23" cy="23"/>
                </a:xfrm>
                <a:custGeom>
                  <a:avLst/>
                  <a:gdLst>
                    <a:gd name="T0" fmla="*/ 15 w 23"/>
                    <a:gd name="T1" fmla="*/ 0 h 23"/>
                    <a:gd name="T2" fmla="*/ 15 w 23"/>
                    <a:gd name="T3" fmla="*/ 0 h 23"/>
                    <a:gd name="T4" fmla="*/ 17 w 23"/>
                    <a:gd name="T5" fmla="*/ 0 h 23"/>
                    <a:gd name="T6" fmla="*/ 21 w 23"/>
                    <a:gd name="T7" fmla="*/ 4 h 23"/>
                    <a:gd name="T8" fmla="*/ 23 w 23"/>
                    <a:gd name="T9" fmla="*/ 6 h 23"/>
                    <a:gd name="T10" fmla="*/ 23 w 23"/>
                    <a:gd name="T11" fmla="*/ 8 h 23"/>
                    <a:gd name="T12" fmla="*/ 0 w 23"/>
                    <a:gd name="T13" fmla="*/ 8 h 23"/>
                    <a:gd name="T14" fmla="*/ 1 w 23"/>
                    <a:gd name="T15" fmla="*/ 13 h 23"/>
                    <a:gd name="T16" fmla="*/ 3 w 23"/>
                    <a:gd name="T17" fmla="*/ 17 h 23"/>
                    <a:gd name="T18" fmla="*/ 10 w 23"/>
                    <a:gd name="T19" fmla="*/ 22 h 23"/>
                    <a:gd name="T20" fmla="*/ 15 w 23"/>
                    <a:gd name="T21" fmla="*/ 23 h 23"/>
                    <a:gd name="T22" fmla="*/ 15 w 23"/>
                    <a:gd name="T23" fmla="*/ 0 h 23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3"/>
                    <a:gd name="T37" fmla="*/ 0 h 23"/>
                    <a:gd name="T38" fmla="*/ 23 w 23"/>
                    <a:gd name="T39" fmla="*/ 23 h 23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3" h="23">
                      <a:moveTo>
                        <a:pt x="15" y="0"/>
                      </a:moveTo>
                      <a:lnTo>
                        <a:pt x="15" y="0"/>
                      </a:lnTo>
                      <a:lnTo>
                        <a:pt x="17" y="0"/>
                      </a:lnTo>
                      <a:lnTo>
                        <a:pt x="21" y="4"/>
                      </a:lnTo>
                      <a:lnTo>
                        <a:pt x="23" y="6"/>
                      </a:lnTo>
                      <a:lnTo>
                        <a:pt x="23" y="8"/>
                      </a:lnTo>
                      <a:lnTo>
                        <a:pt x="0" y="8"/>
                      </a:lnTo>
                      <a:lnTo>
                        <a:pt x="1" y="13"/>
                      </a:lnTo>
                      <a:lnTo>
                        <a:pt x="3" y="17"/>
                      </a:lnTo>
                      <a:lnTo>
                        <a:pt x="10" y="22"/>
                      </a:lnTo>
                      <a:lnTo>
                        <a:pt x="15" y="23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62" name="Freeform 576"/>
                <p:cNvSpPr>
                  <a:spLocks/>
                </p:cNvSpPr>
                <p:nvPr/>
              </p:nvSpPr>
              <p:spPr bwMode="auto">
                <a:xfrm>
                  <a:off x="2689" y="2107"/>
                  <a:ext cx="6" cy="7"/>
                </a:xfrm>
                <a:custGeom>
                  <a:avLst/>
                  <a:gdLst>
                    <a:gd name="T0" fmla="*/ 3 w 6"/>
                    <a:gd name="T1" fmla="*/ 7 h 7"/>
                    <a:gd name="T2" fmla="*/ 4 w 6"/>
                    <a:gd name="T3" fmla="*/ 7 h 7"/>
                    <a:gd name="T4" fmla="*/ 5 w 6"/>
                    <a:gd name="T5" fmla="*/ 6 h 7"/>
                    <a:gd name="T6" fmla="*/ 6 w 6"/>
                    <a:gd name="T7" fmla="*/ 5 h 7"/>
                    <a:gd name="T8" fmla="*/ 6 w 6"/>
                    <a:gd name="T9" fmla="*/ 3 h 7"/>
                    <a:gd name="T10" fmla="*/ 6 w 6"/>
                    <a:gd name="T11" fmla="*/ 2 h 7"/>
                    <a:gd name="T12" fmla="*/ 5 w 6"/>
                    <a:gd name="T13" fmla="*/ 1 h 7"/>
                    <a:gd name="T14" fmla="*/ 4 w 6"/>
                    <a:gd name="T15" fmla="*/ 0 h 7"/>
                    <a:gd name="T16" fmla="*/ 3 w 6"/>
                    <a:gd name="T17" fmla="*/ 0 h 7"/>
                    <a:gd name="T18" fmla="*/ 2 w 6"/>
                    <a:gd name="T19" fmla="*/ 0 h 7"/>
                    <a:gd name="T20" fmla="*/ 1 w 6"/>
                    <a:gd name="T21" fmla="*/ 1 h 7"/>
                    <a:gd name="T22" fmla="*/ 0 w 6"/>
                    <a:gd name="T23" fmla="*/ 2 h 7"/>
                    <a:gd name="T24" fmla="*/ 0 w 6"/>
                    <a:gd name="T25" fmla="*/ 3 h 7"/>
                    <a:gd name="T26" fmla="*/ 0 w 6"/>
                    <a:gd name="T27" fmla="*/ 5 h 7"/>
                    <a:gd name="T28" fmla="*/ 1 w 6"/>
                    <a:gd name="T29" fmla="*/ 6 h 7"/>
                    <a:gd name="T30" fmla="*/ 2 w 6"/>
                    <a:gd name="T31" fmla="*/ 7 h 7"/>
                    <a:gd name="T32" fmla="*/ 3 w 6"/>
                    <a:gd name="T33" fmla="*/ 7 h 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6"/>
                    <a:gd name="T52" fmla="*/ 0 h 7"/>
                    <a:gd name="T53" fmla="*/ 6 w 6"/>
                    <a:gd name="T54" fmla="*/ 7 h 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6" h="7">
                      <a:moveTo>
                        <a:pt x="3" y="7"/>
                      </a:moveTo>
                      <a:lnTo>
                        <a:pt x="4" y="7"/>
                      </a:lnTo>
                      <a:lnTo>
                        <a:pt x="5" y="6"/>
                      </a:lnTo>
                      <a:lnTo>
                        <a:pt x="6" y="5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2" y="7"/>
                      </a:lnTo>
                      <a:lnTo>
                        <a:pt x="3" y="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63" name="Freeform 577"/>
                <p:cNvSpPr>
                  <a:spLocks/>
                </p:cNvSpPr>
                <p:nvPr/>
              </p:nvSpPr>
              <p:spPr bwMode="auto">
                <a:xfrm>
                  <a:off x="2691" y="2110"/>
                  <a:ext cx="9" cy="7"/>
                </a:xfrm>
                <a:custGeom>
                  <a:avLst/>
                  <a:gdLst>
                    <a:gd name="T0" fmla="*/ 0 w 9"/>
                    <a:gd name="T1" fmla="*/ 0 h 7"/>
                    <a:gd name="T2" fmla="*/ 0 w 9"/>
                    <a:gd name="T3" fmla="*/ 0 h 7"/>
                    <a:gd name="T4" fmla="*/ 0 w 9"/>
                    <a:gd name="T5" fmla="*/ 0 h 7"/>
                    <a:gd name="T6" fmla="*/ 0 w 9"/>
                    <a:gd name="T7" fmla="*/ 0 h 7"/>
                    <a:gd name="T8" fmla="*/ 0 w 9"/>
                    <a:gd name="T9" fmla="*/ 7 h 7"/>
                    <a:gd name="T10" fmla="*/ 3 w 9"/>
                    <a:gd name="T11" fmla="*/ 6 h 7"/>
                    <a:gd name="T12" fmla="*/ 7 w 9"/>
                    <a:gd name="T13" fmla="*/ 5 h 7"/>
                    <a:gd name="T14" fmla="*/ 8 w 9"/>
                    <a:gd name="T15" fmla="*/ 3 h 7"/>
                    <a:gd name="T16" fmla="*/ 9 w 9"/>
                    <a:gd name="T17" fmla="*/ 0 h 7"/>
                    <a:gd name="T18" fmla="*/ 0 w 9"/>
                    <a:gd name="T19" fmla="*/ 0 h 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9"/>
                    <a:gd name="T31" fmla="*/ 0 h 7"/>
                    <a:gd name="T32" fmla="*/ 9 w 9"/>
                    <a:gd name="T33" fmla="*/ 7 h 7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9" h="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7"/>
                      </a:lnTo>
                      <a:lnTo>
                        <a:pt x="3" y="6"/>
                      </a:lnTo>
                      <a:lnTo>
                        <a:pt x="7" y="5"/>
                      </a:lnTo>
                      <a:lnTo>
                        <a:pt x="8" y="3"/>
                      </a:lnTo>
                      <a:lnTo>
                        <a:pt x="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64" name="Freeform 578"/>
                <p:cNvSpPr>
                  <a:spLocks/>
                </p:cNvSpPr>
                <p:nvPr/>
              </p:nvSpPr>
              <p:spPr bwMode="auto">
                <a:xfrm>
                  <a:off x="2691" y="2102"/>
                  <a:ext cx="9" cy="8"/>
                </a:xfrm>
                <a:custGeom>
                  <a:avLst/>
                  <a:gdLst>
                    <a:gd name="T0" fmla="*/ 0 w 9"/>
                    <a:gd name="T1" fmla="*/ 8 h 8"/>
                    <a:gd name="T2" fmla="*/ 0 w 9"/>
                    <a:gd name="T3" fmla="*/ 8 h 8"/>
                    <a:gd name="T4" fmla="*/ 0 w 9"/>
                    <a:gd name="T5" fmla="*/ 8 h 8"/>
                    <a:gd name="T6" fmla="*/ 0 w 9"/>
                    <a:gd name="T7" fmla="*/ 8 h 8"/>
                    <a:gd name="T8" fmla="*/ 9 w 9"/>
                    <a:gd name="T9" fmla="*/ 8 h 8"/>
                    <a:gd name="T10" fmla="*/ 8 w 9"/>
                    <a:gd name="T11" fmla="*/ 5 h 8"/>
                    <a:gd name="T12" fmla="*/ 7 w 9"/>
                    <a:gd name="T13" fmla="*/ 2 h 8"/>
                    <a:gd name="T14" fmla="*/ 3 w 9"/>
                    <a:gd name="T15" fmla="*/ 1 h 8"/>
                    <a:gd name="T16" fmla="*/ 0 w 9"/>
                    <a:gd name="T17" fmla="*/ 0 h 8"/>
                    <a:gd name="T18" fmla="*/ 0 w 9"/>
                    <a:gd name="T19" fmla="*/ 8 h 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9"/>
                    <a:gd name="T31" fmla="*/ 0 h 8"/>
                    <a:gd name="T32" fmla="*/ 9 w 9"/>
                    <a:gd name="T33" fmla="*/ 8 h 8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9" h="8">
                      <a:moveTo>
                        <a:pt x="0" y="8"/>
                      </a:moveTo>
                      <a:lnTo>
                        <a:pt x="0" y="8"/>
                      </a:lnTo>
                      <a:lnTo>
                        <a:pt x="9" y="8"/>
                      </a:lnTo>
                      <a:lnTo>
                        <a:pt x="8" y="5"/>
                      </a:lnTo>
                      <a:lnTo>
                        <a:pt x="7" y="2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65" name="Freeform 579"/>
                <p:cNvSpPr>
                  <a:spLocks/>
                </p:cNvSpPr>
                <p:nvPr/>
              </p:nvSpPr>
              <p:spPr bwMode="auto">
                <a:xfrm>
                  <a:off x="2685" y="2102"/>
                  <a:ext cx="7" cy="8"/>
                </a:xfrm>
                <a:custGeom>
                  <a:avLst/>
                  <a:gdLst>
                    <a:gd name="T0" fmla="*/ 7 w 7"/>
                    <a:gd name="T1" fmla="*/ 8 h 8"/>
                    <a:gd name="T2" fmla="*/ 7 w 7"/>
                    <a:gd name="T3" fmla="*/ 8 h 8"/>
                    <a:gd name="T4" fmla="*/ 7 w 7"/>
                    <a:gd name="T5" fmla="*/ 7 h 8"/>
                    <a:gd name="T6" fmla="*/ 6 w 7"/>
                    <a:gd name="T7" fmla="*/ 8 h 8"/>
                    <a:gd name="T8" fmla="*/ 7 w 7"/>
                    <a:gd name="T9" fmla="*/ 8 h 8"/>
                    <a:gd name="T10" fmla="*/ 7 w 7"/>
                    <a:gd name="T11" fmla="*/ 0 h 8"/>
                    <a:gd name="T12" fmla="*/ 4 w 7"/>
                    <a:gd name="T13" fmla="*/ 1 h 8"/>
                    <a:gd name="T14" fmla="*/ 2 w 7"/>
                    <a:gd name="T15" fmla="*/ 2 h 8"/>
                    <a:gd name="T16" fmla="*/ 1 w 7"/>
                    <a:gd name="T17" fmla="*/ 5 h 8"/>
                    <a:gd name="T18" fmla="*/ 0 w 7"/>
                    <a:gd name="T19" fmla="*/ 8 h 8"/>
                    <a:gd name="T20" fmla="*/ 7 w 7"/>
                    <a:gd name="T21" fmla="*/ 8 h 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"/>
                    <a:gd name="T34" fmla="*/ 0 h 8"/>
                    <a:gd name="T35" fmla="*/ 7 w 7"/>
                    <a:gd name="T36" fmla="*/ 8 h 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" h="8">
                      <a:moveTo>
                        <a:pt x="7" y="8"/>
                      </a:moveTo>
                      <a:lnTo>
                        <a:pt x="7" y="8"/>
                      </a:lnTo>
                      <a:lnTo>
                        <a:pt x="7" y="7"/>
                      </a:lnTo>
                      <a:lnTo>
                        <a:pt x="6" y="8"/>
                      </a:lnTo>
                      <a:lnTo>
                        <a:pt x="7" y="8"/>
                      </a:lnTo>
                      <a:lnTo>
                        <a:pt x="7" y="0"/>
                      </a:lnTo>
                      <a:lnTo>
                        <a:pt x="4" y="1"/>
                      </a:lnTo>
                      <a:lnTo>
                        <a:pt x="2" y="2"/>
                      </a:lnTo>
                      <a:lnTo>
                        <a:pt x="1" y="5"/>
                      </a:lnTo>
                      <a:lnTo>
                        <a:pt x="0" y="8"/>
                      </a:lnTo>
                      <a:lnTo>
                        <a:pt x="7" y="8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66" name="Freeform 580"/>
                <p:cNvSpPr>
                  <a:spLocks/>
                </p:cNvSpPr>
                <p:nvPr/>
              </p:nvSpPr>
              <p:spPr bwMode="auto">
                <a:xfrm>
                  <a:off x="2685" y="2110"/>
                  <a:ext cx="7" cy="7"/>
                </a:xfrm>
                <a:custGeom>
                  <a:avLst/>
                  <a:gdLst>
                    <a:gd name="T0" fmla="*/ 7 w 7"/>
                    <a:gd name="T1" fmla="*/ 0 h 7"/>
                    <a:gd name="T2" fmla="*/ 7 w 7"/>
                    <a:gd name="T3" fmla="*/ 0 h 7"/>
                    <a:gd name="T4" fmla="*/ 6 w 7"/>
                    <a:gd name="T5" fmla="*/ 0 h 7"/>
                    <a:gd name="T6" fmla="*/ 7 w 7"/>
                    <a:gd name="T7" fmla="*/ 1 h 7"/>
                    <a:gd name="T8" fmla="*/ 7 w 7"/>
                    <a:gd name="T9" fmla="*/ 0 h 7"/>
                    <a:gd name="T10" fmla="*/ 0 w 7"/>
                    <a:gd name="T11" fmla="*/ 0 h 7"/>
                    <a:gd name="T12" fmla="*/ 1 w 7"/>
                    <a:gd name="T13" fmla="*/ 3 h 7"/>
                    <a:gd name="T14" fmla="*/ 2 w 7"/>
                    <a:gd name="T15" fmla="*/ 5 h 7"/>
                    <a:gd name="T16" fmla="*/ 4 w 7"/>
                    <a:gd name="T17" fmla="*/ 6 h 7"/>
                    <a:gd name="T18" fmla="*/ 7 w 7"/>
                    <a:gd name="T19" fmla="*/ 7 h 7"/>
                    <a:gd name="T20" fmla="*/ 7 w 7"/>
                    <a:gd name="T21" fmla="*/ 0 h 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"/>
                    <a:gd name="T34" fmla="*/ 0 h 7"/>
                    <a:gd name="T35" fmla="*/ 7 w 7"/>
                    <a:gd name="T36" fmla="*/ 7 h 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" h="7">
                      <a:moveTo>
                        <a:pt x="7" y="0"/>
                      </a:moveTo>
                      <a:lnTo>
                        <a:pt x="7" y="0"/>
                      </a:lnTo>
                      <a:lnTo>
                        <a:pt x="6" y="0"/>
                      </a:lnTo>
                      <a:lnTo>
                        <a:pt x="7" y="1"/>
                      </a:lnTo>
                      <a:lnTo>
                        <a:pt x="7" y="0"/>
                      </a:lnTo>
                      <a:lnTo>
                        <a:pt x="0" y="0"/>
                      </a:lnTo>
                      <a:lnTo>
                        <a:pt x="1" y="3"/>
                      </a:lnTo>
                      <a:lnTo>
                        <a:pt x="2" y="5"/>
                      </a:lnTo>
                      <a:lnTo>
                        <a:pt x="4" y="6"/>
                      </a:lnTo>
                      <a:lnTo>
                        <a:pt x="7" y="7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67" name="Freeform 581"/>
                <p:cNvSpPr>
                  <a:spLocks/>
                </p:cNvSpPr>
                <p:nvPr/>
              </p:nvSpPr>
              <p:spPr bwMode="auto">
                <a:xfrm>
                  <a:off x="2625" y="1887"/>
                  <a:ext cx="131" cy="166"/>
                </a:xfrm>
                <a:custGeom>
                  <a:avLst/>
                  <a:gdLst>
                    <a:gd name="T0" fmla="*/ 89 w 131"/>
                    <a:gd name="T1" fmla="*/ 154 h 166"/>
                    <a:gd name="T2" fmla="*/ 94 w 131"/>
                    <a:gd name="T3" fmla="*/ 135 h 166"/>
                    <a:gd name="T4" fmla="*/ 102 w 131"/>
                    <a:gd name="T5" fmla="*/ 122 h 166"/>
                    <a:gd name="T6" fmla="*/ 110 w 131"/>
                    <a:gd name="T7" fmla="*/ 115 h 166"/>
                    <a:gd name="T8" fmla="*/ 117 w 131"/>
                    <a:gd name="T9" fmla="*/ 107 h 166"/>
                    <a:gd name="T10" fmla="*/ 124 w 131"/>
                    <a:gd name="T11" fmla="*/ 97 h 166"/>
                    <a:gd name="T12" fmla="*/ 128 w 131"/>
                    <a:gd name="T13" fmla="*/ 85 h 166"/>
                    <a:gd name="T14" fmla="*/ 131 w 131"/>
                    <a:gd name="T15" fmla="*/ 72 h 166"/>
                    <a:gd name="T16" fmla="*/ 131 w 131"/>
                    <a:gd name="T17" fmla="*/ 58 h 166"/>
                    <a:gd name="T18" fmla="*/ 128 w 131"/>
                    <a:gd name="T19" fmla="*/ 47 h 166"/>
                    <a:gd name="T20" fmla="*/ 124 w 131"/>
                    <a:gd name="T21" fmla="*/ 34 h 166"/>
                    <a:gd name="T22" fmla="*/ 116 w 131"/>
                    <a:gd name="T23" fmla="*/ 24 h 166"/>
                    <a:gd name="T24" fmla="*/ 108 w 131"/>
                    <a:gd name="T25" fmla="*/ 14 h 166"/>
                    <a:gd name="T26" fmla="*/ 97 w 131"/>
                    <a:gd name="T27" fmla="*/ 8 h 166"/>
                    <a:gd name="T28" fmla="*/ 85 w 131"/>
                    <a:gd name="T29" fmla="*/ 3 h 166"/>
                    <a:gd name="T30" fmla="*/ 73 w 131"/>
                    <a:gd name="T31" fmla="*/ 0 h 166"/>
                    <a:gd name="T32" fmla="*/ 59 w 131"/>
                    <a:gd name="T33" fmla="*/ 0 h 166"/>
                    <a:gd name="T34" fmla="*/ 46 w 131"/>
                    <a:gd name="T35" fmla="*/ 3 h 166"/>
                    <a:gd name="T36" fmla="*/ 34 w 131"/>
                    <a:gd name="T37" fmla="*/ 8 h 166"/>
                    <a:gd name="T38" fmla="*/ 23 w 131"/>
                    <a:gd name="T39" fmla="*/ 14 h 166"/>
                    <a:gd name="T40" fmla="*/ 15 w 131"/>
                    <a:gd name="T41" fmla="*/ 24 h 166"/>
                    <a:gd name="T42" fmla="*/ 8 w 131"/>
                    <a:gd name="T43" fmla="*/ 34 h 166"/>
                    <a:gd name="T44" fmla="*/ 3 w 131"/>
                    <a:gd name="T45" fmla="*/ 47 h 166"/>
                    <a:gd name="T46" fmla="*/ 0 w 131"/>
                    <a:gd name="T47" fmla="*/ 58 h 166"/>
                    <a:gd name="T48" fmla="*/ 0 w 131"/>
                    <a:gd name="T49" fmla="*/ 72 h 166"/>
                    <a:gd name="T50" fmla="*/ 3 w 131"/>
                    <a:gd name="T51" fmla="*/ 85 h 166"/>
                    <a:gd name="T52" fmla="*/ 7 w 131"/>
                    <a:gd name="T53" fmla="*/ 97 h 166"/>
                    <a:gd name="T54" fmla="*/ 15 w 131"/>
                    <a:gd name="T55" fmla="*/ 107 h 166"/>
                    <a:gd name="T56" fmla="*/ 21 w 131"/>
                    <a:gd name="T57" fmla="*/ 115 h 166"/>
                    <a:gd name="T58" fmla="*/ 29 w 131"/>
                    <a:gd name="T59" fmla="*/ 122 h 166"/>
                    <a:gd name="T60" fmla="*/ 37 w 131"/>
                    <a:gd name="T61" fmla="*/ 135 h 166"/>
                    <a:gd name="T62" fmla="*/ 43 w 131"/>
                    <a:gd name="T63" fmla="*/ 154 h 166"/>
                    <a:gd name="T64" fmla="*/ 87 w 131"/>
                    <a:gd name="T65" fmla="*/ 166 h 16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31"/>
                    <a:gd name="T100" fmla="*/ 0 h 166"/>
                    <a:gd name="T101" fmla="*/ 131 w 131"/>
                    <a:gd name="T102" fmla="*/ 166 h 16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31" h="166">
                      <a:moveTo>
                        <a:pt x="87" y="166"/>
                      </a:moveTo>
                      <a:lnTo>
                        <a:pt x="89" y="154"/>
                      </a:lnTo>
                      <a:lnTo>
                        <a:pt x="91" y="144"/>
                      </a:lnTo>
                      <a:lnTo>
                        <a:pt x="94" y="135"/>
                      </a:lnTo>
                      <a:lnTo>
                        <a:pt x="98" y="129"/>
                      </a:lnTo>
                      <a:lnTo>
                        <a:pt x="102" y="122"/>
                      </a:lnTo>
                      <a:lnTo>
                        <a:pt x="107" y="118"/>
                      </a:lnTo>
                      <a:lnTo>
                        <a:pt x="110" y="115"/>
                      </a:lnTo>
                      <a:lnTo>
                        <a:pt x="113" y="112"/>
                      </a:lnTo>
                      <a:lnTo>
                        <a:pt x="117" y="107"/>
                      </a:lnTo>
                      <a:lnTo>
                        <a:pt x="121" y="102"/>
                      </a:lnTo>
                      <a:lnTo>
                        <a:pt x="124" y="97"/>
                      </a:lnTo>
                      <a:lnTo>
                        <a:pt x="126" y="91"/>
                      </a:lnTo>
                      <a:lnTo>
                        <a:pt x="128" y="85"/>
                      </a:lnTo>
                      <a:lnTo>
                        <a:pt x="130" y="79"/>
                      </a:lnTo>
                      <a:lnTo>
                        <a:pt x="131" y="72"/>
                      </a:lnTo>
                      <a:lnTo>
                        <a:pt x="131" y="66"/>
                      </a:lnTo>
                      <a:lnTo>
                        <a:pt x="131" y="58"/>
                      </a:lnTo>
                      <a:lnTo>
                        <a:pt x="130" y="52"/>
                      </a:lnTo>
                      <a:lnTo>
                        <a:pt x="128" y="47"/>
                      </a:lnTo>
                      <a:lnTo>
                        <a:pt x="126" y="40"/>
                      </a:lnTo>
                      <a:lnTo>
                        <a:pt x="124" y="34"/>
                      </a:lnTo>
                      <a:lnTo>
                        <a:pt x="120" y="28"/>
                      </a:lnTo>
                      <a:lnTo>
                        <a:pt x="116" y="24"/>
                      </a:lnTo>
                      <a:lnTo>
                        <a:pt x="112" y="19"/>
                      </a:lnTo>
                      <a:lnTo>
                        <a:pt x="108" y="14"/>
                      </a:lnTo>
                      <a:lnTo>
                        <a:pt x="102" y="11"/>
                      </a:lnTo>
                      <a:lnTo>
                        <a:pt x="97" y="8"/>
                      </a:lnTo>
                      <a:lnTo>
                        <a:pt x="91" y="5"/>
                      </a:lnTo>
                      <a:lnTo>
                        <a:pt x="85" y="3"/>
                      </a:lnTo>
                      <a:lnTo>
                        <a:pt x="79" y="1"/>
                      </a:lnTo>
                      <a:lnTo>
                        <a:pt x="73" y="0"/>
                      </a:lnTo>
                      <a:lnTo>
                        <a:pt x="66" y="0"/>
                      </a:lnTo>
                      <a:lnTo>
                        <a:pt x="59" y="0"/>
                      </a:lnTo>
                      <a:lnTo>
                        <a:pt x="52" y="1"/>
                      </a:lnTo>
                      <a:lnTo>
                        <a:pt x="46" y="3"/>
                      </a:lnTo>
                      <a:lnTo>
                        <a:pt x="40" y="5"/>
                      </a:lnTo>
                      <a:lnTo>
                        <a:pt x="34" y="8"/>
                      </a:lnTo>
                      <a:lnTo>
                        <a:pt x="29" y="11"/>
                      </a:lnTo>
                      <a:lnTo>
                        <a:pt x="23" y="14"/>
                      </a:lnTo>
                      <a:lnTo>
                        <a:pt x="19" y="19"/>
                      </a:lnTo>
                      <a:lnTo>
                        <a:pt x="15" y="24"/>
                      </a:lnTo>
                      <a:lnTo>
                        <a:pt x="12" y="28"/>
                      </a:lnTo>
                      <a:lnTo>
                        <a:pt x="8" y="34"/>
                      </a:lnTo>
                      <a:lnTo>
                        <a:pt x="5" y="40"/>
                      </a:lnTo>
                      <a:lnTo>
                        <a:pt x="3" y="47"/>
                      </a:lnTo>
                      <a:lnTo>
                        <a:pt x="1" y="52"/>
                      </a:lnTo>
                      <a:lnTo>
                        <a:pt x="0" y="58"/>
                      </a:lnTo>
                      <a:lnTo>
                        <a:pt x="0" y="66"/>
                      </a:lnTo>
                      <a:lnTo>
                        <a:pt x="0" y="72"/>
                      </a:lnTo>
                      <a:lnTo>
                        <a:pt x="1" y="79"/>
                      </a:lnTo>
                      <a:lnTo>
                        <a:pt x="3" y="85"/>
                      </a:lnTo>
                      <a:lnTo>
                        <a:pt x="5" y="91"/>
                      </a:lnTo>
                      <a:lnTo>
                        <a:pt x="7" y="97"/>
                      </a:lnTo>
                      <a:lnTo>
                        <a:pt x="11" y="102"/>
                      </a:lnTo>
                      <a:lnTo>
                        <a:pt x="15" y="107"/>
                      </a:lnTo>
                      <a:lnTo>
                        <a:pt x="18" y="112"/>
                      </a:lnTo>
                      <a:lnTo>
                        <a:pt x="21" y="115"/>
                      </a:lnTo>
                      <a:lnTo>
                        <a:pt x="24" y="118"/>
                      </a:lnTo>
                      <a:lnTo>
                        <a:pt x="29" y="122"/>
                      </a:lnTo>
                      <a:lnTo>
                        <a:pt x="33" y="129"/>
                      </a:lnTo>
                      <a:lnTo>
                        <a:pt x="37" y="135"/>
                      </a:lnTo>
                      <a:lnTo>
                        <a:pt x="40" y="144"/>
                      </a:lnTo>
                      <a:lnTo>
                        <a:pt x="43" y="154"/>
                      </a:lnTo>
                      <a:lnTo>
                        <a:pt x="44" y="166"/>
                      </a:lnTo>
                      <a:lnTo>
                        <a:pt x="87" y="16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68" name="Freeform 582"/>
                <p:cNvSpPr>
                  <a:spLocks/>
                </p:cNvSpPr>
                <p:nvPr/>
              </p:nvSpPr>
              <p:spPr bwMode="auto">
                <a:xfrm>
                  <a:off x="2704" y="1992"/>
                  <a:ext cx="41" cy="61"/>
                </a:xfrm>
                <a:custGeom>
                  <a:avLst/>
                  <a:gdLst>
                    <a:gd name="T0" fmla="*/ 28 w 41"/>
                    <a:gd name="T1" fmla="*/ 0 h 61"/>
                    <a:gd name="T2" fmla="*/ 28 w 41"/>
                    <a:gd name="T3" fmla="*/ 0 h 61"/>
                    <a:gd name="T4" fmla="*/ 26 w 41"/>
                    <a:gd name="T5" fmla="*/ 3 h 61"/>
                    <a:gd name="T6" fmla="*/ 21 w 41"/>
                    <a:gd name="T7" fmla="*/ 7 h 61"/>
                    <a:gd name="T8" fmla="*/ 17 w 41"/>
                    <a:gd name="T9" fmla="*/ 12 h 61"/>
                    <a:gd name="T10" fmla="*/ 12 w 41"/>
                    <a:gd name="T11" fmla="*/ 18 h 61"/>
                    <a:gd name="T12" fmla="*/ 7 w 41"/>
                    <a:gd name="T13" fmla="*/ 27 h 61"/>
                    <a:gd name="T14" fmla="*/ 3 w 41"/>
                    <a:gd name="T15" fmla="*/ 37 h 61"/>
                    <a:gd name="T16" fmla="*/ 1 w 41"/>
                    <a:gd name="T17" fmla="*/ 48 h 61"/>
                    <a:gd name="T18" fmla="*/ 0 w 41"/>
                    <a:gd name="T19" fmla="*/ 61 h 61"/>
                    <a:gd name="T20" fmla="*/ 18 w 41"/>
                    <a:gd name="T21" fmla="*/ 61 h 61"/>
                    <a:gd name="T22" fmla="*/ 18 w 41"/>
                    <a:gd name="T23" fmla="*/ 50 h 61"/>
                    <a:gd name="T24" fmla="*/ 20 w 41"/>
                    <a:gd name="T25" fmla="*/ 41 h 61"/>
                    <a:gd name="T26" fmla="*/ 23 w 41"/>
                    <a:gd name="T27" fmla="*/ 34 h 61"/>
                    <a:gd name="T28" fmla="*/ 27 w 41"/>
                    <a:gd name="T29" fmla="*/ 28 h 61"/>
                    <a:gd name="T30" fmla="*/ 31 w 41"/>
                    <a:gd name="T31" fmla="*/ 23 h 61"/>
                    <a:gd name="T32" fmla="*/ 34 w 41"/>
                    <a:gd name="T33" fmla="*/ 20 h 61"/>
                    <a:gd name="T34" fmla="*/ 37 w 41"/>
                    <a:gd name="T35" fmla="*/ 15 h 61"/>
                    <a:gd name="T36" fmla="*/ 41 w 41"/>
                    <a:gd name="T37" fmla="*/ 13 h 61"/>
                    <a:gd name="T38" fmla="*/ 28 w 41"/>
                    <a:gd name="T39" fmla="*/ 0 h 61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41"/>
                    <a:gd name="T61" fmla="*/ 0 h 61"/>
                    <a:gd name="T62" fmla="*/ 41 w 41"/>
                    <a:gd name="T63" fmla="*/ 61 h 61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41" h="61">
                      <a:moveTo>
                        <a:pt x="28" y="0"/>
                      </a:moveTo>
                      <a:lnTo>
                        <a:pt x="28" y="0"/>
                      </a:lnTo>
                      <a:lnTo>
                        <a:pt x="26" y="3"/>
                      </a:lnTo>
                      <a:lnTo>
                        <a:pt x="21" y="7"/>
                      </a:lnTo>
                      <a:lnTo>
                        <a:pt x="17" y="12"/>
                      </a:lnTo>
                      <a:lnTo>
                        <a:pt x="12" y="18"/>
                      </a:lnTo>
                      <a:lnTo>
                        <a:pt x="7" y="27"/>
                      </a:lnTo>
                      <a:lnTo>
                        <a:pt x="3" y="37"/>
                      </a:lnTo>
                      <a:lnTo>
                        <a:pt x="1" y="48"/>
                      </a:lnTo>
                      <a:lnTo>
                        <a:pt x="0" y="61"/>
                      </a:lnTo>
                      <a:lnTo>
                        <a:pt x="18" y="61"/>
                      </a:lnTo>
                      <a:lnTo>
                        <a:pt x="18" y="50"/>
                      </a:lnTo>
                      <a:lnTo>
                        <a:pt x="20" y="41"/>
                      </a:lnTo>
                      <a:lnTo>
                        <a:pt x="23" y="34"/>
                      </a:lnTo>
                      <a:lnTo>
                        <a:pt x="27" y="28"/>
                      </a:lnTo>
                      <a:lnTo>
                        <a:pt x="31" y="23"/>
                      </a:lnTo>
                      <a:lnTo>
                        <a:pt x="34" y="20"/>
                      </a:lnTo>
                      <a:lnTo>
                        <a:pt x="37" y="15"/>
                      </a:lnTo>
                      <a:lnTo>
                        <a:pt x="41" y="13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69" name="Freeform 583"/>
                <p:cNvSpPr>
                  <a:spLocks/>
                </p:cNvSpPr>
                <p:nvPr/>
              </p:nvSpPr>
              <p:spPr bwMode="auto">
                <a:xfrm>
                  <a:off x="2733" y="1953"/>
                  <a:ext cx="33" cy="52"/>
                </a:xfrm>
                <a:custGeom>
                  <a:avLst/>
                  <a:gdLst>
                    <a:gd name="T0" fmla="*/ 15 w 33"/>
                    <a:gd name="T1" fmla="*/ 0 h 52"/>
                    <a:gd name="T2" fmla="*/ 15 w 33"/>
                    <a:gd name="T3" fmla="*/ 0 h 52"/>
                    <a:gd name="T4" fmla="*/ 15 w 33"/>
                    <a:gd name="T5" fmla="*/ 5 h 52"/>
                    <a:gd name="T6" fmla="*/ 14 w 33"/>
                    <a:gd name="T7" fmla="*/ 12 h 52"/>
                    <a:gd name="T8" fmla="*/ 13 w 33"/>
                    <a:gd name="T9" fmla="*/ 17 h 52"/>
                    <a:gd name="T10" fmla="*/ 10 w 33"/>
                    <a:gd name="T11" fmla="*/ 22 h 52"/>
                    <a:gd name="T12" fmla="*/ 9 w 33"/>
                    <a:gd name="T13" fmla="*/ 26 h 52"/>
                    <a:gd name="T14" fmla="*/ 6 w 33"/>
                    <a:gd name="T15" fmla="*/ 32 h 52"/>
                    <a:gd name="T16" fmla="*/ 3 w 33"/>
                    <a:gd name="T17" fmla="*/ 36 h 52"/>
                    <a:gd name="T18" fmla="*/ 0 w 33"/>
                    <a:gd name="T19" fmla="*/ 39 h 52"/>
                    <a:gd name="T20" fmla="*/ 12 w 33"/>
                    <a:gd name="T21" fmla="*/ 52 h 52"/>
                    <a:gd name="T22" fmla="*/ 17 w 33"/>
                    <a:gd name="T23" fmla="*/ 47 h 52"/>
                    <a:gd name="T24" fmla="*/ 21 w 33"/>
                    <a:gd name="T25" fmla="*/ 41 h 52"/>
                    <a:gd name="T26" fmla="*/ 24 w 33"/>
                    <a:gd name="T27" fmla="*/ 35 h 52"/>
                    <a:gd name="T28" fmla="*/ 28 w 33"/>
                    <a:gd name="T29" fmla="*/ 29 h 52"/>
                    <a:gd name="T30" fmla="*/ 30 w 33"/>
                    <a:gd name="T31" fmla="*/ 21 h 52"/>
                    <a:gd name="T32" fmla="*/ 31 w 33"/>
                    <a:gd name="T33" fmla="*/ 15 h 52"/>
                    <a:gd name="T34" fmla="*/ 32 w 33"/>
                    <a:gd name="T35" fmla="*/ 7 h 52"/>
                    <a:gd name="T36" fmla="*/ 33 w 33"/>
                    <a:gd name="T37" fmla="*/ 0 h 52"/>
                    <a:gd name="T38" fmla="*/ 15 w 33"/>
                    <a:gd name="T39" fmla="*/ 0 h 52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33"/>
                    <a:gd name="T61" fmla="*/ 0 h 52"/>
                    <a:gd name="T62" fmla="*/ 33 w 33"/>
                    <a:gd name="T63" fmla="*/ 52 h 52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33" h="52">
                      <a:moveTo>
                        <a:pt x="15" y="0"/>
                      </a:moveTo>
                      <a:lnTo>
                        <a:pt x="15" y="0"/>
                      </a:lnTo>
                      <a:lnTo>
                        <a:pt x="15" y="5"/>
                      </a:lnTo>
                      <a:lnTo>
                        <a:pt x="14" y="12"/>
                      </a:lnTo>
                      <a:lnTo>
                        <a:pt x="13" y="17"/>
                      </a:lnTo>
                      <a:lnTo>
                        <a:pt x="10" y="22"/>
                      </a:lnTo>
                      <a:lnTo>
                        <a:pt x="9" y="26"/>
                      </a:lnTo>
                      <a:lnTo>
                        <a:pt x="6" y="32"/>
                      </a:lnTo>
                      <a:lnTo>
                        <a:pt x="3" y="36"/>
                      </a:lnTo>
                      <a:lnTo>
                        <a:pt x="0" y="39"/>
                      </a:lnTo>
                      <a:lnTo>
                        <a:pt x="12" y="52"/>
                      </a:lnTo>
                      <a:lnTo>
                        <a:pt x="17" y="47"/>
                      </a:lnTo>
                      <a:lnTo>
                        <a:pt x="21" y="41"/>
                      </a:lnTo>
                      <a:lnTo>
                        <a:pt x="24" y="35"/>
                      </a:lnTo>
                      <a:lnTo>
                        <a:pt x="28" y="29"/>
                      </a:lnTo>
                      <a:lnTo>
                        <a:pt x="30" y="21"/>
                      </a:lnTo>
                      <a:lnTo>
                        <a:pt x="31" y="15"/>
                      </a:lnTo>
                      <a:lnTo>
                        <a:pt x="32" y="7"/>
                      </a:lnTo>
                      <a:lnTo>
                        <a:pt x="33" y="0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70" name="Freeform 584"/>
                <p:cNvSpPr>
                  <a:spLocks/>
                </p:cNvSpPr>
                <p:nvPr/>
              </p:nvSpPr>
              <p:spPr bwMode="auto">
                <a:xfrm>
                  <a:off x="2691" y="1878"/>
                  <a:ext cx="75" cy="75"/>
                </a:xfrm>
                <a:custGeom>
                  <a:avLst/>
                  <a:gdLst>
                    <a:gd name="T0" fmla="*/ 0 w 75"/>
                    <a:gd name="T1" fmla="*/ 18 h 75"/>
                    <a:gd name="T2" fmla="*/ 0 w 75"/>
                    <a:gd name="T3" fmla="*/ 18 h 75"/>
                    <a:gd name="T4" fmla="*/ 7 w 75"/>
                    <a:gd name="T5" fmla="*/ 18 h 75"/>
                    <a:gd name="T6" fmla="*/ 12 w 75"/>
                    <a:gd name="T7" fmla="*/ 19 h 75"/>
                    <a:gd name="T8" fmla="*/ 17 w 75"/>
                    <a:gd name="T9" fmla="*/ 20 h 75"/>
                    <a:gd name="T10" fmla="*/ 21 w 75"/>
                    <a:gd name="T11" fmla="*/ 22 h 75"/>
                    <a:gd name="T12" fmla="*/ 27 w 75"/>
                    <a:gd name="T13" fmla="*/ 25 h 75"/>
                    <a:gd name="T14" fmla="*/ 32 w 75"/>
                    <a:gd name="T15" fmla="*/ 28 h 75"/>
                    <a:gd name="T16" fmla="*/ 36 w 75"/>
                    <a:gd name="T17" fmla="*/ 31 h 75"/>
                    <a:gd name="T18" fmla="*/ 41 w 75"/>
                    <a:gd name="T19" fmla="*/ 34 h 75"/>
                    <a:gd name="T20" fmla="*/ 44 w 75"/>
                    <a:gd name="T21" fmla="*/ 38 h 75"/>
                    <a:gd name="T22" fmla="*/ 47 w 75"/>
                    <a:gd name="T23" fmla="*/ 43 h 75"/>
                    <a:gd name="T24" fmla="*/ 50 w 75"/>
                    <a:gd name="T25" fmla="*/ 47 h 75"/>
                    <a:gd name="T26" fmla="*/ 52 w 75"/>
                    <a:gd name="T27" fmla="*/ 52 h 75"/>
                    <a:gd name="T28" fmla="*/ 55 w 75"/>
                    <a:gd name="T29" fmla="*/ 58 h 75"/>
                    <a:gd name="T30" fmla="*/ 56 w 75"/>
                    <a:gd name="T31" fmla="*/ 63 h 75"/>
                    <a:gd name="T32" fmla="*/ 57 w 75"/>
                    <a:gd name="T33" fmla="*/ 68 h 75"/>
                    <a:gd name="T34" fmla="*/ 57 w 75"/>
                    <a:gd name="T35" fmla="*/ 75 h 75"/>
                    <a:gd name="T36" fmla="*/ 75 w 75"/>
                    <a:gd name="T37" fmla="*/ 75 h 75"/>
                    <a:gd name="T38" fmla="*/ 74 w 75"/>
                    <a:gd name="T39" fmla="*/ 67 h 75"/>
                    <a:gd name="T40" fmla="*/ 73 w 75"/>
                    <a:gd name="T41" fmla="*/ 60 h 75"/>
                    <a:gd name="T42" fmla="*/ 72 w 75"/>
                    <a:gd name="T43" fmla="*/ 52 h 75"/>
                    <a:gd name="T44" fmla="*/ 69 w 75"/>
                    <a:gd name="T45" fmla="*/ 46 h 75"/>
                    <a:gd name="T46" fmla="*/ 65 w 75"/>
                    <a:gd name="T47" fmla="*/ 39 h 75"/>
                    <a:gd name="T48" fmla="*/ 62 w 75"/>
                    <a:gd name="T49" fmla="*/ 33 h 75"/>
                    <a:gd name="T50" fmla="*/ 58 w 75"/>
                    <a:gd name="T51" fmla="*/ 28 h 75"/>
                    <a:gd name="T52" fmla="*/ 52 w 75"/>
                    <a:gd name="T53" fmla="*/ 22 h 75"/>
                    <a:gd name="T54" fmla="*/ 47 w 75"/>
                    <a:gd name="T55" fmla="*/ 17 h 75"/>
                    <a:gd name="T56" fmla="*/ 42 w 75"/>
                    <a:gd name="T57" fmla="*/ 13 h 75"/>
                    <a:gd name="T58" fmla="*/ 35 w 75"/>
                    <a:gd name="T59" fmla="*/ 10 h 75"/>
                    <a:gd name="T60" fmla="*/ 29 w 75"/>
                    <a:gd name="T61" fmla="*/ 6 h 75"/>
                    <a:gd name="T62" fmla="*/ 23 w 75"/>
                    <a:gd name="T63" fmla="*/ 3 h 75"/>
                    <a:gd name="T64" fmla="*/ 15 w 75"/>
                    <a:gd name="T65" fmla="*/ 1 h 75"/>
                    <a:gd name="T66" fmla="*/ 8 w 75"/>
                    <a:gd name="T67" fmla="*/ 1 h 75"/>
                    <a:gd name="T68" fmla="*/ 0 w 75"/>
                    <a:gd name="T69" fmla="*/ 0 h 75"/>
                    <a:gd name="T70" fmla="*/ 0 w 75"/>
                    <a:gd name="T71" fmla="*/ 18 h 75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75"/>
                    <a:gd name="T109" fmla="*/ 0 h 75"/>
                    <a:gd name="T110" fmla="*/ 75 w 75"/>
                    <a:gd name="T111" fmla="*/ 75 h 75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75" h="75">
                      <a:moveTo>
                        <a:pt x="0" y="18"/>
                      </a:moveTo>
                      <a:lnTo>
                        <a:pt x="0" y="18"/>
                      </a:lnTo>
                      <a:lnTo>
                        <a:pt x="7" y="18"/>
                      </a:lnTo>
                      <a:lnTo>
                        <a:pt x="12" y="19"/>
                      </a:lnTo>
                      <a:lnTo>
                        <a:pt x="17" y="20"/>
                      </a:lnTo>
                      <a:lnTo>
                        <a:pt x="21" y="22"/>
                      </a:lnTo>
                      <a:lnTo>
                        <a:pt x="27" y="25"/>
                      </a:lnTo>
                      <a:lnTo>
                        <a:pt x="32" y="28"/>
                      </a:lnTo>
                      <a:lnTo>
                        <a:pt x="36" y="31"/>
                      </a:lnTo>
                      <a:lnTo>
                        <a:pt x="41" y="34"/>
                      </a:lnTo>
                      <a:lnTo>
                        <a:pt x="44" y="38"/>
                      </a:lnTo>
                      <a:lnTo>
                        <a:pt x="47" y="43"/>
                      </a:lnTo>
                      <a:lnTo>
                        <a:pt x="50" y="47"/>
                      </a:lnTo>
                      <a:lnTo>
                        <a:pt x="52" y="52"/>
                      </a:lnTo>
                      <a:lnTo>
                        <a:pt x="55" y="58"/>
                      </a:lnTo>
                      <a:lnTo>
                        <a:pt x="56" y="63"/>
                      </a:lnTo>
                      <a:lnTo>
                        <a:pt x="57" y="68"/>
                      </a:lnTo>
                      <a:lnTo>
                        <a:pt x="57" y="75"/>
                      </a:lnTo>
                      <a:lnTo>
                        <a:pt x="75" y="75"/>
                      </a:lnTo>
                      <a:lnTo>
                        <a:pt x="74" y="67"/>
                      </a:lnTo>
                      <a:lnTo>
                        <a:pt x="73" y="60"/>
                      </a:lnTo>
                      <a:lnTo>
                        <a:pt x="72" y="52"/>
                      </a:lnTo>
                      <a:lnTo>
                        <a:pt x="69" y="46"/>
                      </a:lnTo>
                      <a:lnTo>
                        <a:pt x="65" y="39"/>
                      </a:lnTo>
                      <a:lnTo>
                        <a:pt x="62" y="33"/>
                      </a:lnTo>
                      <a:lnTo>
                        <a:pt x="58" y="28"/>
                      </a:lnTo>
                      <a:lnTo>
                        <a:pt x="52" y="22"/>
                      </a:lnTo>
                      <a:lnTo>
                        <a:pt x="47" y="17"/>
                      </a:lnTo>
                      <a:lnTo>
                        <a:pt x="42" y="13"/>
                      </a:lnTo>
                      <a:lnTo>
                        <a:pt x="35" y="10"/>
                      </a:lnTo>
                      <a:lnTo>
                        <a:pt x="29" y="6"/>
                      </a:lnTo>
                      <a:lnTo>
                        <a:pt x="23" y="3"/>
                      </a:lnTo>
                      <a:lnTo>
                        <a:pt x="15" y="1"/>
                      </a:lnTo>
                      <a:lnTo>
                        <a:pt x="8" y="1"/>
                      </a:lnTo>
                      <a:lnTo>
                        <a:pt x="0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71" name="Freeform 585"/>
                <p:cNvSpPr>
                  <a:spLocks/>
                </p:cNvSpPr>
                <p:nvPr/>
              </p:nvSpPr>
              <p:spPr bwMode="auto">
                <a:xfrm>
                  <a:off x="2616" y="1878"/>
                  <a:ext cx="75" cy="75"/>
                </a:xfrm>
                <a:custGeom>
                  <a:avLst/>
                  <a:gdLst>
                    <a:gd name="T0" fmla="*/ 18 w 75"/>
                    <a:gd name="T1" fmla="*/ 75 h 75"/>
                    <a:gd name="T2" fmla="*/ 18 w 75"/>
                    <a:gd name="T3" fmla="*/ 75 h 75"/>
                    <a:gd name="T4" fmla="*/ 18 w 75"/>
                    <a:gd name="T5" fmla="*/ 68 h 75"/>
                    <a:gd name="T6" fmla="*/ 20 w 75"/>
                    <a:gd name="T7" fmla="*/ 63 h 75"/>
                    <a:gd name="T8" fmla="*/ 21 w 75"/>
                    <a:gd name="T9" fmla="*/ 58 h 75"/>
                    <a:gd name="T10" fmla="*/ 23 w 75"/>
                    <a:gd name="T11" fmla="*/ 52 h 75"/>
                    <a:gd name="T12" fmla="*/ 25 w 75"/>
                    <a:gd name="T13" fmla="*/ 47 h 75"/>
                    <a:gd name="T14" fmla="*/ 28 w 75"/>
                    <a:gd name="T15" fmla="*/ 43 h 75"/>
                    <a:gd name="T16" fmla="*/ 31 w 75"/>
                    <a:gd name="T17" fmla="*/ 38 h 75"/>
                    <a:gd name="T18" fmla="*/ 36 w 75"/>
                    <a:gd name="T19" fmla="*/ 34 h 75"/>
                    <a:gd name="T20" fmla="*/ 39 w 75"/>
                    <a:gd name="T21" fmla="*/ 31 h 75"/>
                    <a:gd name="T22" fmla="*/ 43 w 75"/>
                    <a:gd name="T23" fmla="*/ 28 h 75"/>
                    <a:gd name="T24" fmla="*/ 48 w 75"/>
                    <a:gd name="T25" fmla="*/ 25 h 75"/>
                    <a:gd name="T26" fmla="*/ 53 w 75"/>
                    <a:gd name="T27" fmla="*/ 22 h 75"/>
                    <a:gd name="T28" fmla="*/ 58 w 75"/>
                    <a:gd name="T29" fmla="*/ 20 h 75"/>
                    <a:gd name="T30" fmla="*/ 63 w 75"/>
                    <a:gd name="T31" fmla="*/ 19 h 75"/>
                    <a:gd name="T32" fmla="*/ 69 w 75"/>
                    <a:gd name="T33" fmla="*/ 18 h 75"/>
                    <a:gd name="T34" fmla="*/ 75 w 75"/>
                    <a:gd name="T35" fmla="*/ 18 h 75"/>
                    <a:gd name="T36" fmla="*/ 75 w 75"/>
                    <a:gd name="T37" fmla="*/ 0 h 75"/>
                    <a:gd name="T38" fmla="*/ 68 w 75"/>
                    <a:gd name="T39" fmla="*/ 1 h 75"/>
                    <a:gd name="T40" fmla="*/ 60 w 75"/>
                    <a:gd name="T41" fmla="*/ 1 h 75"/>
                    <a:gd name="T42" fmla="*/ 53 w 75"/>
                    <a:gd name="T43" fmla="*/ 3 h 75"/>
                    <a:gd name="T44" fmla="*/ 46 w 75"/>
                    <a:gd name="T45" fmla="*/ 6 h 75"/>
                    <a:gd name="T46" fmla="*/ 40 w 75"/>
                    <a:gd name="T47" fmla="*/ 10 h 75"/>
                    <a:gd name="T48" fmla="*/ 33 w 75"/>
                    <a:gd name="T49" fmla="*/ 13 h 75"/>
                    <a:gd name="T50" fmla="*/ 28 w 75"/>
                    <a:gd name="T51" fmla="*/ 17 h 75"/>
                    <a:gd name="T52" fmla="*/ 23 w 75"/>
                    <a:gd name="T53" fmla="*/ 22 h 75"/>
                    <a:gd name="T54" fmla="*/ 17 w 75"/>
                    <a:gd name="T55" fmla="*/ 28 h 75"/>
                    <a:gd name="T56" fmla="*/ 13 w 75"/>
                    <a:gd name="T57" fmla="*/ 33 h 75"/>
                    <a:gd name="T58" fmla="*/ 10 w 75"/>
                    <a:gd name="T59" fmla="*/ 39 h 75"/>
                    <a:gd name="T60" fmla="*/ 7 w 75"/>
                    <a:gd name="T61" fmla="*/ 46 h 75"/>
                    <a:gd name="T62" fmla="*/ 4 w 75"/>
                    <a:gd name="T63" fmla="*/ 52 h 75"/>
                    <a:gd name="T64" fmla="*/ 2 w 75"/>
                    <a:gd name="T65" fmla="*/ 60 h 75"/>
                    <a:gd name="T66" fmla="*/ 1 w 75"/>
                    <a:gd name="T67" fmla="*/ 67 h 75"/>
                    <a:gd name="T68" fmla="*/ 0 w 75"/>
                    <a:gd name="T69" fmla="*/ 75 h 75"/>
                    <a:gd name="T70" fmla="*/ 18 w 75"/>
                    <a:gd name="T71" fmla="*/ 75 h 75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75"/>
                    <a:gd name="T109" fmla="*/ 0 h 75"/>
                    <a:gd name="T110" fmla="*/ 75 w 75"/>
                    <a:gd name="T111" fmla="*/ 75 h 75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75" h="75">
                      <a:moveTo>
                        <a:pt x="18" y="75"/>
                      </a:moveTo>
                      <a:lnTo>
                        <a:pt x="18" y="75"/>
                      </a:lnTo>
                      <a:lnTo>
                        <a:pt x="18" y="68"/>
                      </a:lnTo>
                      <a:lnTo>
                        <a:pt x="20" y="63"/>
                      </a:lnTo>
                      <a:lnTo>
                        <a:pt x="21" y="58"/>
                      </a:lnTo>
                      <a:lnTo>
                        <a:pt x="23" y="52"/>
                      </a:lnTo>
                      <a:lnTo>
                        <a:pt x="25" y="47"/>
                      </a:lnTo>
                      <a:lnTo>
                        <a:pt x="28" y="43"/>
                      </a:lnTo>
                      <a:lnTo>
                        <a:pt x="31" y="38"/>
                      </a:lnTo>
                      <a:lnTo>
                        <a:pt x="36" y="34"/>
                      </a:lnTo>
                      <a:lnTo>
                        <a:pt x="39" y="31"/>
                      </a:lnTo>
                      <a:lnTo>
                        <a:pt x="43" y="28"/>
                      </a:lnTo>
                      <a:lnTo>
                        <a:pt x="48" y="25"/>
                      </a:lnTo>
                      <a:lnTo>
                        <a:pt x="53" y="22"/>
                      </a:lnTo>
                      <a:lnTo>
                        <a:pt x="58" y="20"/>
                      </a:lnTo>
                      <a:lnTo>
                        <a:pt x="63" y="19"/>
                      </a:lnTo>
                      <a:lnTo>
                        <a:pt x="69" y="18"/>
                      </a:lnTo>
                      <a:lnTo>
                        <a:pt x="75" y="18"/>
                      </a:lnTo>
                      <a:lnTo>
                        <a:pt x="75" y="0"/>
                      </a:lnTo>
                      <a:lnTo>
                        <a:pt x="68" y="1"/>
                      </a:lnTo>
                      <a:lnTo>
                        <a:pt x="60" y="1"/>
                      </a:lnTo>
                      <a:lnTo>
                        <a:pt x="53" y="3"/>
                      </a:lnTo>
                      <a:lnTo>
                        <a:pt x="46" y="6"/>
                      </a:lnTo>
                      <a:lnTo>
                        <a:pt x="40" y="10"/>
                      </a:lnTo>
                      <a:lnTo>
                        <a:pt x="33" y="13"/>
                      </a:lnTo>
                      <a:lnTo>
                        <a:pt x="28" y="17"/>
                      </a:lnTo>
                      <a:lnTo>
                        <a:pt x="23" y="22"/>
                      </a:lnTo>
                      <a:lnTo>
                        <a:pt x="17" y="28"/>
                      </a:lnTo>
                      <a:lnTo>
                        <a:pt x="13" y="33"/>
                      </a:lnTo>
                      <a:lnTo>
                        <a:pt x="10" y="39"/>
                      </a:lnTo>
                      <a:lnTo>
                        <a:pt x="7" y="46"/>
                      </a:lnTo>
                      <a:lnTo>
                        <a:pt x="4" y="52"/>
                      </a:lnTo>
                      <a:lnTo>
                        <a:pt x="2" y="60"/>
                      </a:lnTo>
                      <a:lnTo>
                        <a:pt x="1" y="67"/>
                      </a:lnTo>
                      <a:lnTo>
                        <a:pt x="0" y="75"/>
                      </a:lnTo>
                      <a:lnTo>
                        <a:pt x="18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72" name="Freeform 586"/>
                <p:cNvSpPr>
                  <a:spLocks/>
                </p:cNvSpPr>
                <p:nvPr/>
              </p:nvSpPr>
              <p:spPr bwMode="auto">
                <a:xfrm>
                  <a:off x="2616" y="1953"/>
                  <a:ext cx="35" cy="52"/>
                </a:xfrm>
                <a:custGeom>
                  <a:avLst/>
                  <a:gdLst>
                    <a:gd name="T0" fmla="*/ 35 w 35"/>
                    <a:gd name="T1" fmla="*/ 39 h 52"/>
                    <a:gd name="T2" fmla="*/ 35 w 35"/>
                    <a:gd name="T3" fmla="*/ 39 h 52"/>
                    <a:gd name="T4" fmla="*/ 31 w 35"/>
                    <a:gd name="T5" fmla="*/ 36 h 52"/>
                    <a:gd name="T6" fmla="*/ 28 w 35"/>
                    <a:gd name="T7" fmla="*/ 32 h 52"/>
                    <a:gd name="T8" fmla="*/ 25 w 35"/>
                    <a:gd name="T9" fmla="*/ 26 h 52"/>
                    <a:gd name="T10" fmla="*/ 23 w 35"/>
                    <a:gd name="T11" fmla="*/ 22 h 52"/>
                    <a:gd name="T12" fmla="*/ 21 w 35"/>
                    <a:gd name="T13" fmla="*/ 17 h 52"/>
                    <a:gd name="T14" fmla="*/ 20 w 35"/>
                    <a:gd name="T15" fmla="*/ 12 h 52"/>
                    <a:gd name="T16" fmla="*/ 18 w 35"/>
                    <a:gd name="T17" fmla="*/ 5 h 52"/>
                    <a:gd name="T18" fmla="*/ 18 w 35"/>
                    <a:gd name="T19" fmla="*/ 0 h 52"/>
                    <a:gd name="T20" fmla="*/ 0 w 35"/>
                    <a:gd name="T21" fmla="*/ 0 h 52"/>
                    <a:gd name="T22" fmla="*/ 1 w 35"/>
                    <a:gd name="T23" fmla="*/ 7 h 52"/>
                    <a:gd name="T24" fmla="*/ 2 w 35"/>
                    <a:gd name="T25" fmla="*/ 15 h 52"/>
                    <a:gd name="T26" fmla="*/ 4 w 35"/>
                    <a:gd name="T27" fmla="*/ 21 h 52"/>
                    <a:gd name="T28" fmla="*/ 7 w 35"/>
                    <a:gd name="T29" fmla="*/ 29 h 52"/>
                    <a:gd name="T30" fmla="*/ 10 w 35"/>
                    <a:gd name="T31" fmla="*/ 35 h 52"/>
                    <a:gd name="T32" fmla="*/ 13 w 35"/>
                    <a:gd name="T33" fmla="*/ 41 h 52"/>
                    <a:gd name="T34" fmla="*/ 17 w 35"/>
                    <a:gd name="T35" fmla="*/ 47 h 52"/>
                    <a:gd name="T36" fmla="*/ 22 w 35"/>
                    <a:gd name="T37" fmla="*/ 52 h 52"/>
                    <a:gd name="T38" fmla="*/ 22 w 35"/>
                    <a:gd name="T39" fmla="*/ 52 h 52"/>
                    <a:gd name="T40" fmla="*/ 35 w 35"/>
                    <a:gd name="T41" fmla="*/ 39 h 52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35"/>
                    <a:gd name="T64" fmla="*/ 0 h 52"/>
                    <a:gd name="T65" fmla="*/ 35 w 35"/>
                    <a:gd name="T66" fmla="*/ 52 h 52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35" h="52">
                      <a:moveTo>
                        <a:pt x="35" y="39"/>
                      </a:moveTo>
                      <a:lnTo>
                        <a:pt x="35" y="39"/>
                      </a:lnTo>
                      <a:lnTo>
                        <a:pt x="31" y="36"/>
                      </a:lnTo>
                      <a:lnTo>
                        <a:pt x="28" y="32"/>
                      </a:lnTo>
                      <a:lnTo>
                        <a:pt x="25" y="26"/>
                      </a:lnTo>
                      <a:lnTo>
                        <a:pt x="23" y="22"/>
                      </a:lnTo>
                      <a:lnTo>
                        <a:pt x="21" y="17"/>
                      </a:lnTo>
                      <a:lnTo>
                        <a:pt x="20" y="12"/>
                      </a:lnTo>
                      <a:lnTo>
                        <a:pt x="18" y="5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1" y="7"/>
                      </a:lnTo>
                      <a:lnTo>
                        <a:pt x="2" y="15"/>
                      </a:lnTo>
                      <a:lnTo>
                        <a:pt x="4" y="21"/>
                      </a:lnTo>
                      <a:lnTo>
                        <a:pt x="7" y="29"/>
                      </a:lnTo>
                      <a:lnTo>
                        <a:pt x="10" y="35"/>
                      </a:lnTo>
                      <a:lnTo>
                        <a:pt x="13" y="41"/>
                      </a:lnTo>
                      <a:lnTo>
                        <a:pt x="17" y="47"/>
                      </a:lnTo>
                      <a:lnTo>
                        <a:pt x="22" y="52"/>
                      </a:lnTo>
                      <a:lnTo>
                        <a:pt x="35" y="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73" name="Freeform 587"/>
                <p:cNvSpPr>
                  <a:spLocks/>
                </p:cNvSpPr>
                <p:nvPr/>
              </p:nvSpPr>
              <p:spPr bwMode="auto">
                <a:xfrm>
                  <a:off x="2638" y="1992"/>
                  <a:ext cx="40" cy="71"/>
                </a:xfrm>
                <a:custGeom>
                  <a:avLst/>
                  <a:gdLst>
                    <a:gd name="T0" fmla="*/ 31 w 40"/>
                    <a:gd name="T1" fmla="*/ 53 h 71"/>
                    <a:gd name="T2" fmla="*/ 40 w 40"/>
                    <a:gd name="T3" fmla="*/ 62 h 71"/>
                    <a:gd name="T4" fmla="*/ 39 w 40"/>
                    <a:gd name="T5" fmla="*/ 48 h 71"/>
                    <a:gd name="T6" fmla="*/ 37 w 40"/>
                    <a:gd name="T7" fmla="*/ 38 h 71"/>
                    <a:gd name="T8" fmla="*/ 33 w 40"/>
                    <a:gd name="T9" fmla="*/ 27 h 71"/>
                    <a:gd name="T10" fmla="*/ 29 w 40"/>
                    <a:gd name="T11" fmla="*/ 20 h 71"/>
                    <a:gd name="T12" fmla="*/ 23 w 40"/>
                    <a:gd name="T13" fmla="*/ 12 h 71"/>
                    <a:gd name="T14" fmla="*/ 19 w 40"/>
                    <a:gd name="T15" fmla="*/ 7 h 71"/>
                    <a:gd name="T16" fmla="*/ 15 w 40"/>
                    <a:gd name="T17" fmla="*/ 3 h 71"/>
                    <a:gd name="T18" fmla="*/ 13 w 40"/>
                    <a:gd name="T19" fmla="*/ 0 h 71"/>
                    <a:gd name="T20" fmla="*/ 0 w 40"/>
                    <a:gd name="T21" fmla="*/ 13 h 71"/>
                    <a:gd name="T22" fmla="*/ 3 w 40"/>
                    <a:gd name="T23" fmla="*/ 16 h 71"/>
                    <a:gd name="T24" fmla="*/ 6 w 40"/>
                    <a:gd name="T25" fmla="*/ 20 h 71"/>
                    <a:gd name="T26" fmla="*/ 9 w 40"/>
                    <a:gd name="T27" fmla="*/ 24 h 71"/>
                    <a:gd name="T28" fmla="*/ 14 w 40"/>
                    <a:gd name="T29" fmla="*/ 28 h 71"/>
                    <a:gd name="T30" fmla="*/ 17 w 40"/>
                    <a:gd name="T31" fmla="*/ 34 h 71"/>
                    <a:gd name="T32" fmla="*/ 20 w 40"/>
                    <a:gd name="T33" fmla="*/ 42 h 71"/>
                    <a:gd name="T34" fmla="*/ 22 w 40"/>
                    <a:gd name="T35" fmla="*/ 50 h 71"/>
                    <a:gd name="T36" fmla="*/ 22 w 40"/>
                    <a:gd name="T37" fmla="*/ 62 h 71"/>
                    <a:gd name="T38" fmla="*/ 31 w 40"/>
                    <a:gd name="T39" fmla="*/ 71 h 71"/>
                    <a:gd name="T40" fmla="*/ 22 w 40"/>
                    <a:gd name="T41" fmla="*/ 62 h 71"/>
                    <a:gd name="T42" fmla="*/ 22 w 40"/>
                    <a:gd name="T43" fmla="*/ 71 h 71"/>
                    <a:gd name="T44" fmla="*/ 31 w 40"/>
                    <a:gd name="T45" fmla="*/ 71 h 71"/>
                    <a:gd name="T46" fmla="*/ 31 w 40"/>
                    <a:gd name="T47" fmla="*/ 53 h 71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40"/>
                    <a:gd name="T73" fmla="*/ 0 h 71"/>
                    <a:gd name="T74" fmla="*/ 40 w 40"/>
                    <a:gd name="T75" fmla="*/ 71 h 71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40" h="71">
                      <a:moveTo>
                        <a:pt x="31" y="53"/>
                      </a:moveTo>
                      <a:lnTo>
                        <a:pt x="40" y="62"/>
                      </a:lnTo>
                      <a:lnTo>
                        <a:pt x="39" y="48"/>
                      </a:lnTo>
                      <a:lnTo>
                        <a:pt x="37" y="38"/>
                      </a:lnTo>
                      <a:lnTo>
                        <a:pt x="33" y="27"/>
                      </a:lnTo>
                      <a:lnTo>
                        <a:pt x="29" y="20"/>
                      </a:lnTo>
                      <a:lnTo>
                        <a:pt x="23" y="12"/>
                      </a:lnTo>
                      <a:lnTo>
                        <a:pt x="19" y="7"/>
                      </a:lnTo>
                      <a:lnTo>
                        <a:pt x="15" y="3"/>
                      </a:lnTo>
                      <a:lnTo>
                        <a:pt x="13" y="0"/>
                      </a:lnTo>
                      <a:lnTo>
                        <a:pt x="0" y="13"/>
                      </a:lnTo>
                      <a:lnTo>
                        <a:pt x="3" y="16"/>
                      </a:lnTo>
                      <a:lnTo>
                        <a:pt x="6" y="20"/>
                      </a:lnTo>
                      <a:lnTo>
                        <a:pt x="9" y="24"/>
                      </a:lnTo>
                      <a:lnTo>
                        <a:pt x="14" y="28"/>
                      </a:lnTo>
                      <a:lnTo>
                        <a:pt x="17" y="34"/>
                      </a:lnTo>
                      <a:lnTo>
                        <a:pt x="20" y="42"/>
                      </a:lnTo>
                      <a:lnTo>
                        <a:pt x="22" y="50"/>
                      </a:lnTo>
                      <a:lnTo>
                        <a:pt x="22" y="62"/>
                      </a:lnTo>
                      <a:lnTo>
                        <a:pt x="31" y="71"/>
                      </a:lnTo>
                      <a:lnTo>
                        <a:pt x="22" y="62"/>
                      </a:lnTo>
                      <a:lnTo>
                        <a:pt x="22" y="71"/>
                      </a:lnTo>
                      <a:lnTo>
                        <a:pt x="31" y="71"/>
                      </a:lnTo>
                      <a:lnTo>
                        <a:pt x="31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74" name="Freeform 588"/>
                <p:cNvSpPr>
                  <a:spLocks/>
                </p:cNvSpPr>
                <p:nvPr/>
              </p:nvSpPr>
              <p:spPr bwMode="auto">
                <a:xfrm>
                  <a:off x="2669" y="2045"/>
                  <a:ext cx="53" cy="18"/>
                </a:xfrm>
                <a:custGeom>
                  <a:avLst/>
                  <a:gdLst>
                    <a:gd name="T0" fmla="*/ 35 w 53"/>
                    <a:gd name="T1" fmla="*/ 9 h 18"/>
                    <a:gd name="T2" fmla="*/ 45 w 53"/>
                    <a:gd name="T3" fmla="*/ 0 h 18"/>
                    <a:gd name="T4" fmla="*/ 0 w 53"/>
                    <a:gd name="T5" fmla="*/ 0 h 18"/>
                    <a:gd name="T6" fmla="*/ 0 w 53"/>
                    <a:gd name="T7" fmla="*/ 18 h 18"/>
                    <a:gd name="T8" fmla="*/ 45 w 53"/>
                    <a:gd name="T9" fmla="*/ 18 h 18"/>
                    <a:gd name="T10" fmla="*/ 53 w 53"/>
                    <a:gd name="T11" fmla="*/ 9 h 18"/>
                    <a:gd name="T12" fmla="*/ 45 w 53"/>
                    <a:gd name="T13" fmla="*/ 18 h 18"/>
                    <a:gd name="T14" fmla="*/ 53 w 53"/>
                    <a:gd name="T15" fmla="*/ 18 h 18"/>
                    <a:gd name="T16" fmla="*/ 53 w 53"/>
                    <a:gd name="T17" fmla="*/ 9 h 18"/>
                    <a:gd name="T18" fmla="*/ 35 w 53"/>
                    <a:gd name="T19" fmla="*/ 9 h 1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53"/>
                    <a:gd name="T31" fmla="*/ 0 h 18"/>
                    <a:gd name="T32" fmla="*/ 53 w 53"/>
                    <a:gd name="T33" fmla="*/ 18 h 18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53" h="18">
                      <a:moveTo>
                        <a:pt x="35" y="9"/>
                      </a:moveTo>
                      <a:lnTo>
                        <a:pt x="45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45" y="18"/>
                      </a:lnTo>
                      <a:lnTo>
                        <a:pt x="53" y="9"/>
                      </a:lnTo>
                      <a:lnTo>
                        <a:pt x="45" y="18"/>
                      </a:lnTo>
                      <a:lnTo>
                        <a:pt x="53" y="18"/>
                      </a:lnTo>
                      <a:lnTo>
                        <a:pt x="53" y="9"/>
                      </a:lnTo>
                      <a:lnTo>
                        <a:pt x="35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75" name="Freeform 589"/>
                <p:cNvSpPr>
                  <a:spLocks/>
                </p:cNvSpPr>
                <p:nvPr/>
              </p:nvSpPr>
              <p:spPr bwMode="auto">
                <a:xfrm>
                  <a:off x="2653" y="2056"/>
                  <a:ext cx="10" cy="20"/>
                </a:xfrm>
                <a:custGeom>
                  <a:avLst/>
                  <a:gdLst>
                    <a:gd name="T0" fmla="*/ 10 w 10"/>
                    <a:gd name="T1" fmla="*/ 0 h 20"/>
                    <a:gd name="T2" fmla="*/ 6 w 10"/>
                    <a:gd name="T3" fmla="*/ 1 h 20"/>
                    <a:gd name="T4" fmla="*/ 3 w 10"/>
                    <a:gd name="T5" fmla="*/ 4 h 20"/>
                    <a:gd name="T6" fmla="*/ 1 w 10"/>
                    <a:gd name="T7" fmla="*/ 7 h 20"/>
                    <a:gd name="T8" fmla="*/ 0 w 10"/>
                    <a:gd name="T9" fmla="*/ 10 h 20"/>
                    <a:gd name="T10" fmla="*/ 1 w 10"/>
                    <a:gd name="T11" fmla="*/ 13 h 20"/>
                    <a:gd name="T12" fmla="*/ 3 w 10"/>
                    <a:gd name="T13" fmla="*/ 16 h 20"/>
                    <a:gd name="T14" fmla="*/ 6 w 10"/>
                    <a:gd name="T15" fmla="*/ 19 h 20"/>
                    <a:gd name="T16" fmla="*/ 10 w 10"/>
                    <a:gd name="T17" fmla="*/ 20 h 20"/>
                    <a:gd name="T18" fmla="*/ 10 w 10"/>
                    <a:gd name="T19" fmla="*/ 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10" y="0"/>
                      </a:moveTo>
                      <a:lnTo>
                        <a:pt x="6" y="1"/>
                      </a:lnTo>
                      <a:lnTo>
                        <a:pt x="3" y="4"/>
                      </a:lnTo>
                      <a:lnTo>
                        <a:pt x="1" y="7"/>
                      </a:lnTo>
                      <a:lnTo>
                        <a:pt x="0" y="10"/>
                      </a:lnTo>
                      <a:lnTo>
                        <a:pt x="1" y="13"/>
                      </a:lnTo>
                      <a:lnTo>
                        <a:pt x="3" y="16"/>
                      </a:lnTo>
                      <a:lnTo>
                        <a:pt x="6" y="19"/>
                      </a:lnTo>
                      <a:lnTo>
                        <a:pt x="10" y="2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76" name="Freeform 590"/>
                <p:cNvSpPr>
                  <a:spLocks/>
                </p:cNvSpPr>
                <p:nvPr/>
              </p:nvSpPr>
              <p:spPr bwMode="auto">
                <a:xfrm>
                  <a:off x="2663" y="2056"/>
                  <a:ext cx="57" cy="20"/>
                </a:xfrm>
                <a:custGeom>
                  <a:avLst/>
                  <a:gdLst>
                    <a:gd name="T0" fmla="*/ 57 w 57"/>
                    <a:gd name="T1" fmla="*/ 10 h 20"/>
                    <a:gd name="T2" fmla="*/ 57 w 57"/>
                    <a:gd name="T3" fmla="*/ 0 h 20"/>
                    <a:gd name="T4" fmla="*/ 0 w 57"/>
                    <a:gd name="T5" fmla="*/ 0 h 20"/>
                    <a:gd name="T6" fmla="*/ 0 w 57"/>
                    <a:gd name="T7" fmla="*/ 20 h 20"/>
                    <a:gd name="T8" fmla="*/ 57 w 57"/>
                    <a:gd name="T9" fmla="*/ 20 h 20"/>
                    <a:gd name="T10" fmla="*/ 57 w 57"/>
                    <a:gd name="T11" fmla="*/ 10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20"/>
                    <a:gd name="T20" fmla="*/ 57 w 57"/>
                    <a:gd name="T21" fmla="*/ 20 h 2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20">
                      <a:moveTo>
                        <a:pt x="57" y="10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57" y="20"/>
                      </a:lnTo>
                      <a:lnTo>
                        <a:pt x="57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77" name="Freeform 591"/>
                <p:cNvSpPr>
                  <a:spLocks/>
                </p:cNvSpPr>
                <p:nvPr/>
              </p:nvSpPr>
              <p:spPr bwMode="auto">
                <a:xfrm>
                  <a:off x="2720" y="2056"/>
                  <a:ext cx="10" cy="20"/>
                </a:xfrm>
                <a:custGeom>
                  <a:avLst/>
                  <a:gdLst>
                    <a:gd name="T0" fmla="*/ 0 w 10"/>
                    <a:gd name="T1" fmla="*/ 20 h 20"/>
                    <a:gd name="T2" fmla="*/ 4 w 10"/>
                    <a:gd name="T3" fmla="*/ 19 h 20"/>
                    <a:gd name="T4" fmla="*/ 7 w 10"/>
                    <a:gd name="T5" fmla="*/ 16 h 20"/>
                    <a:gd name="T6" fmla="*/ 9 w 10"/>
                    <a:gd name="T7" fmla="*/ 13 h 20"/>
                    <a:gd name="T8" fmla="*/ 10 w 10"/>
                    <a:gd name="T9" fmla="*/ 10 h 20"/>
                    <a:gd name="T10" fmla="*/ 9 w 10"/>
                    <a:gd name="T11" fmla="*/ 7 h 20"/>
                    <a:gd name="T12" fmla="*/ 7 w 10"/>
                    <a:gd name="T13" fmla="*/ 4 h 20"/>
                    <a:gd name="T14" fmla="*/ 4 w 10"/>
                    <a:gd name="T15" fmla="*/ 1 h 20"/>
                    <a:gd name="T16" fmla="*/ 0 w 10"/>
                    <a:gd name="T17" fmla="*/ 0 h 20"/>
                    <a:gd name="T18" fmla="*/ 0 w 10"/>
                    <a:gd name="T19" fmla="*/ 2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0" y="20"/>
                      </a:moveTo>
                      <a:lnTo>
                        <a:pt x="4" y="19"/>
                      </a:lnTo>
                      <a:lnTo>
                        <a:pt x="7" y="16"/>
                      </a:lnTo>
                      <a:lnTo>
                        <a:pt x="9" y="13"/>
                      </a:lnTo>
                      <a:lnTo>
                        <a:pt x="10" y="10"/>
                      </a:lnTo>
                      <a:lnTo>
                        <a:pt x="9" y="7"/>
                      </a:lnTo>
                      <a:lnTo>
                        <a:pt x="7" y="4"/>
                      </a:lnTo>
                      <a:lnTo>
                        <a:pt x="4" y="1"/>
                      </a:lnTo>
                      <a:lnTo>
                        <a:pt x="0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78" name="Freeform 592"/>
                <p:cNvSpPr>
                  <a:spLocks/>
                </p:cNvSpPr>
                <p:nvPr/>
              </p:nvSpPr>
              <p:spPr bwMode="auto">
                <a:xfrm>
                  <a:off x="2625" y="1887"/>
                  <a:ext cx="131" cy="166"/>
                </a:xfrm>
                <a:custGeom>
                  <a:avLst/>
                  <a:gdLst>
                    <a:gd name="T0" fmla="*/ 89 w 131"/>
                    <a:gd name="T1" fmla="*/ 154 h 166"/>
                    <a:gd name="T2" fmla="*/ 94 w 131"/>
                    <a:gd name="T3" fmla="*/ 135 h 166"/>
                    <a:gd name="T4" fmla="*/ 102 w 131"/>
                    <a:gd name="T5" fmla="*/ 122 h 166"/>
                    <a:gd name="T6" fmla="*/ 110 w 131"/>
                    <a:gd name="T7" fmla="*/ 115 h 166"/>
                    <a:gd name="T8" fmla="*/ 117 w 131"/>
                    <a:gd name="T9" fmla="*/ 107 h 166"/>
                    <a:gd name="T10" fmla="*/ 124 w 131"/>
                    <a:gd name="T11" fmla="*/ 97 h 166"/>
                    <a:gd name="T12" fmla="*/ 128 w 131"/>
                    <a:gd name="T13" fmla="*/ 85 h 166"/>
                    <a:gd name="T14" fmla="*/ 131 w 131"/>
                    <a:gd name="T15" fmla="*/ 72 h 166"/>
                    <a:gd name="T16" fmla="*/ 131 w 131"/>
                    <a:gd name="T17" fmla="*/ 58 h 166"/>
                    <a:gd name="T18" fmla="*/ 128 w 131"/>
                    <a:gd name="T19" fmla="*/ 47 h 166"/>
                    <a:gd name="T20" fmla="*/ 124 w 131"/>
                    <a:gd name="T21" fmla="*/ 34 h 166"/>
                    <a:gd name="T22" fmla="*/ 116 w 131"/>
                    <a:gd name="T23" fmla="*/ 24 h 166"/>
                    <a:gd name="T24" fmla="*/ 108 w 131"/>
                    <a:gd name="T25" fmla="*/ 14 h 166"/>
                    <a:gd name="T26" fmla="*/ 97 w 131"/>
                    <a:gd name="T27" fmla="*/ 8 h 166"/>
                    <a:gd name="T28" fmla="*/ 85 w 131"/>
                    <a:gd name="T29" fmla="*/ 3 h 166"/>
                    <a:gd name="T30" fmla="*/ 73 w 131"/>
                    <a:gd name="T31" fmla="*/ 0 h 166"/>
                    <a:gd name="T32" fmla="*/ 59 w 131"/>
                    <a:gd name="T33" fmla="*/ 0 h 166"/>
                    <a:gd name="T34" fmla="*/ 46 w 131"/>
                    <a:gd name="T35" fmla="*/ 3 h 166"/>
                    <a:gd name="T36" fmla="*/ 34 w 131"/>
                    <a:gd name="T37" fmla="*/ 8 h 166"/>
                    <a:gd name="T38" fmla="*/ 23 w 131"/>
                    <a:gd name="T39" fmla="*/ 14 h 166"/>
                    <a:gd name="T40" fmla="*/ 15 w 131"/>
                    <a:gd name="T41" fmla="*/ 24 h 166"/>
                    <a:gd name="T42" fmla="*/ 8 w 131"/>
                    <a:gd name="T43" fmla="*/ 34 h 166"/>
                    <a:gd name="T44" fmla="*/ 3 w 131"/>
                    <a:gd name="T45" fmla="*/ 47 h 166"/>
                    <a:gd name="T46" fmla="*/ 0 w 131"/>
                    <a:gd name="T47" fmla="*/ 58 h 166"/>
                    <a:gd name="T48" fmla="*/ 0 w 131"/>
                    <a:gd name="T49" fmla="*/ 72 h 166"/>
                    <a:gd name="T50" fmla="*/ 3 w 131"/>
                    <a:gd name="T51" fmla="*/ 85 h 166"/>
                    <a:gd name="T52" fmla="*/ 7 w 131"/>
                    <a:gd name="T53" fmla="*/ 97 h 166"/>
                    <a:gd name="T54" fmla="*/ 15 w 131"/>
                    <a:gd name="T55" fmla="*/ 107 h 166"/>
                    <a:gd name="T56" fmla="*/ 21 w 131"/>
                    <a:gd name="T57" fmla="*/ 115 h 166"/>
                    <a:gd name="T58" fmla="*/ 29 w 131"/>
                    <a:gd name="T59" fmla="*/ 122 h 166"/>
                    <a:gd name="T60" fmla="*/ 37 w 131"/>
                    <a:gd name="T61" fmla="*/ 135 h 166"/>
                    <a:gd name="T62" fmla="*/ 43 w 131"/>
                    <a:gd name="T63" fmla="*/ 154 h 166"/>
                    <a:gd name="T64" fmla="*/ 87 w 131"/>
                    <a:gd name="T65" fmla="*/ 166 h 16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31"/>
                    <a:gd name="T100" fmla="*/ 0 h 166"/>
                    <a:gd name="T101" fmla="*/ 131 w 131"/>
                    <a:gd name="T102" fmla="*/ 166 h 16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31" h="166">
                      <a:moveTo>
                        <a:pt x="87" y="166"/>
                      </a:moveTo>
                      <a:lnTo>
                        <a:pt x="89" y="154"/>
                      </a:lnTo>
                      <a:lnTo>
                        <a:pt x="91" y="144"/>
                      </a:lnTo>
                      <a:lnTo>
                        <a:pt x="94" y="135"/>
                      </a:lnTo>
                      <a:lnTo>
                        <a:pt x="98" y="129"/>
                      </a:lnTo>
                      <a:lnTo>
                        <a:pt x="102" y="122"/>
                      </a:lnTo>
                      <a:lnTo>
                        <a:pt x="107" y="118"/>
                      </a:lnTo>
                      <a:lnTo>
                        <a:pt x="110" y="115"/>
                      </a:lnTo>
                      <a:lnTo>
                        <a:pt x="113" y="112"/>
                      </a:lnTo>
                      <a:lnTo>
                        <a:pt x="117" y="107"/>
                      </a:lnTo>
                      <a:lnTo>
                        <a:pt x="121" y="102"/>
                      </a:lnTo>
                      <a:lnTo>
                        <a:pt x="124" y="97"/>
                      </a:lnTo>
                      <a:lnTo>
                        <a:pt x="126" y="91"/>
                      </a:lnTo>
                      <a:lnTo>
                        <a:pt x="128" y="85"/>
                      </a:lnTo>
                      <a:lnTo>
                        <a:pt x="130" y="79"/>
                      </a:lnTo>
                      <a:lnTo>
                        <a:pt x="131" y="72"/>
                      </a:lnTo>
                      <a:lnTo>
                        <a:pt x="131" y="66"/>
                      </a:lnTo>
                      <a:lnTo>
                        <a:pt x="131" y="58"/>
                      </a:lnTo>
                      <a:lnTo>
                        <a:pt x="130" y="52"/>
                      </a:lnTo>
                      <a:lnTo>
                        <a:pt x="128" y="47"/>
                      </a:lnTo>
                      <a:lnTo>
                        <a:pt x="126" y="40"/>
                      </a:lnTo>
                      <a:lnTo>
                        <a:pt x="124" y="34"/>
                      </a:lnTo>
                      <a:lnTo>
                        <a:pt x="120" y="28"/>
                      </a:lnTo>
                      <a:lnTo>
                        <a:pt x="116" y="24"/>
                      </a:lnTo>
                      <a:lnTo>
                        <a:pt x="112" y="19"/>
                      </a:lnTo>
                      <a:lnTo>
                        <a:pt x="108" y="14"/>
                      </a:lnTo>
                      <a:lnTo>
                        <a:pt x="102" y="11"/>
                      </a:lnTo>
                      <a:lnTo>
                        <a:pt x="97" y="8"/>
                      </a:lnTo>
                      <a:lnTo>
                        <a:pt x="91" y="5"/>
                      </a:lnTo>
                      <a:lnTo>
                        <a:pt x="85" y="3"/>
                      </a:lnTo>
                      <a:lnTo>
                        <a:pt x="79" y="1"/>
                      </a:lnTo>
                      <a:lnTo>
                        <a:pt x="73" y="0"/>
                      </a:lnTo>
                      <a:lnTo>
                        <a:pt x="66" y="0"/>
                      </a:lnTo>
                      <a:lnTo>
                        <a:pt x="59" y="0"/>
                      </a:lnTo>
                      <a:lnTo>
                        <a:pt x="52" y="1"/>
                      </a:lnTo>
                      <a:lnTo>
                        <a:pt x="46" y="3"/>
                      </a:lnTo>
                      <a:lnTo>
                        <a:pt x="40" y="5"/>
                      </a:lnTo>
                      <a:lnTo>
                        <a:pt x="34" y="8"/>
                      </a:lnTo>
                      <a:lnTo>
                        <a:pt x="29" y="11"/>
                      </a:lnTo>
                      <a:lnTo>
                        <a:pt x="23" y="14"/>
                      </a:lnTo>
                      <a:lnTo>
                        <a:pt x="19" y="19"/>
                      </a:lnTo>
                      <a:lnTo>
                        <a:pt x="15" y="24"/>
                      </a:lnTo>
                      <a:lnTo>
                        <a:pt x="12" y="28"/>
                      </a:lnTo>
                      <a:lnTo>
                        <a:pt x="8" y="34"/>
                      </a:lnTo>
                      <a:lnTo>
                        <a:pt x="5" y="40"/>
                      </a:lnTo>
                      <a:lnTo>
                        <a:pt x="3" y="47"/>
                      </a:lnTo>
                      <a:lnTo>
                        <a:pt x="1" y="52"/>
                      </a:lnTo>
                      <a:lnTo>
                        <a:pt x="0" y="58"/>
                      </a:lnTo>
                      <a:lnTo>
                        <a:pt x="0" y="66"/>
                      </a:lnTo>
                      <a:lnTo>
                        <a:pt x="0" y="72"/>
                      </a:lnTo>
                      <a:lnTo>
                        <a:pt x="1" y="79"/>
                      </a:lnTo>
                      <a:lnTo>
                        <a:pt x="3" y="85"/>
                      </a:lnTo>
                      <a:lnTo>
                        <a:pt x="5" y="91"/>
                      </a:lnTo>
                      <a:lnTo>
                        <a:pt x="7" y="97"/>
                      </a:lnTo>
                      <a:lnTo>
                        <a:pt x="11" y="102"/>
                      </a:lnTo>
                      <a:lnTo>
                        <a:pt x="15" y="107"/>
                      </a:lnTo>
                      <a:lnTo>
                        <a:pt x="18" y="112"/>
                      </a:lnTo>
                      <a:lnTo>
                        <a:pt x="21" y="115"/>
                      </a:lnTo>
                      <a:lnTo>
                        <a:pt x="24" y="118"/>
                      </a:lnTo>
                      <a:lnTo>
                        <a:pt x="29" y="122"/>
                      </a:lnTo>
                      <a:lnTo>
                        <a:pt x="33" y="129"/>
                      </a:lnTo>
                      <a:lnTo>
                        <a:pt x="37" y="135"/>
                      </a:lnTo>
                      <a:lnTo>
                        <a:pt x="40" y="144"/>
                      </a:lnTo>
                      <a:lnTo>
                        <a:pt x="43" y="154"/>
                      </a:lnTo>
                      <a:lnTo>
                        <a:pt x="44" y="166"/>
                      </a:lnTo>
                      <a:lnTo>
                        <a:pt x="87" y="166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79" name="Freeform 593"/>
                <p:cNvSpPr>
                  <a:spLocks/>
                </p:cNvSpPr>
                <p:nvPr/>
              </p:nvSpPr>
              <p:spPr bwMode="auto">
                <a:xfrm>
                  <a:off x="2653" y="2068"/>
                  <a:ext cx="10" cy="20"/>
                </a:xfrm>
                <a:custGeom>
                  <a:avLst/>
                  <a:gdLst>
                    <a:gd name="T0" fmla="*/ 10 w 10"/>
                    <a:gd name="T1" fmla="*/ 0 h 20"/>
                    <a:gd name="T2" fmla="*/ 6 w 10"/>
                    <a:gd name="T3" fmla="*/ 1 h 20"/>
                    <a:gd name="T4" fmla="*/ 3 w 10"/>
                    <a:gd name="T5" fmla="*/ 3 h 20"/>
                    <a:gd name="T6" fmla="*/ 1 w 10"/>
                    <a:gd name="T7" fmla="*/ 7 h 20"/>
                    <a:gd name="T8" fmla="*/ 0 w 10"/>
                    <a:gd name="T9" fmla="*/ 11 h 20"/>
                    <a:gd name="T10" fmla="*/ 1 w 10"/>
                    <a:gd name="T11" fmla="*/ 14 h 20"/>
                    <a:gd name="T12" fmla="*/ 3 w 10"/>
                    <a:gd name="T13" fmla="*/ 17 h 20"/>
                    <a:gd name="T14" fmla="*/ 6 w 10"/>
                    <a:gd name="T15" fmla="*/ 19 h 20"/>
                    <a:gd name="T16" fmla="*/ 10 w 10"/>
                    <a:gd name="T17" fmla="*/ 20 h 20"/>
                    <a:gd name="T18" fmla="*/ 10 w 10"/>
                    <a:gd name="T19" fmla="*/ 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10" y="0"/>
                      </a:moveTo>
                      <a:lnTo>
                        <a:pt x="6" y="1"/>
                      </a:lnTo>
                      <a:lnTo>
                        <a:pt x="3" y="3"/>
                      </a:lnTo>
                      <a:lnTo>
                        <a:pt x="1" y="7"/>
                      </a:lnTo>
                      <a:lnTo>
                        <a:pt x="0" y="11"/>
                      </a:lnTo>
                      <a:lnTo>
                        <a:pt x="1" y="14"/>
                      </a:lnTo>
                      <a:lnTo>
                        <a:pt x="3" y="17"/>
                      </a:lnTo>
                      <a:lnTo>
                        <a:pt x="6" y="19"/>
                      </a:lnTo>
                      <a:lnTo>
                        <a:pt x="10" y="2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80" name="Freeform 594"/>
                <p:cNvSpPr>
                  <a:spLocks/>
                </p:cNvSpPr>
                <p:nvPr/>
              </p:nvSpPr>
              <p:spPr bwMode="auto">
                <a:xfrm>
                  <a:off x="2663" y="2068"/>
                  <a:ext cx="57" cy="20"/>
                </a:xfrm>
                <a:custGeom>
                  <a:avLst/>
                  <a:gdLst>
                    <a:gd name="T0" fmla="*/ 57 w 57"/>
                    <a:gd name="T1" fmla="*/ 11 h 20"/>
                    <a:gd name="T2" fmla="*/ 57 w 57"/>
                    <a:gd name="T3" fmla="*/ 0 h 20"/>
                    <a:gd name="T4" fmla="*/ 0 w 57"/>
                    <a:gd name="T5" fmla="*/ 0 h 20"/>
                    <a:gd name="T6" fmla="*/ 0 w 57"/>
                    <a:gd name="T7" fmla="*/ 20 h 20"/>
                    <a:gd name="T8" fmla="*/ 57 w 57"/>
                    <a:gd name="T9" fmla="*/ 20 h 20"/>
                    <a:gd name="T10" fmla="*/ 57 w 57"/>
                    <a:gd name="T11" fmla="*/ 11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20"/>
                    <a:gd name="T20" fmla="*/ 57 w 57"/>
                    <a:gd name="T21" fmla="*/ 20 h 2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20">
                      <a:moveTo>
                        <a:pt x="57" y="11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57" y="20"/>
                      </a:lnTo>
                      <a:lnTo>
                        <a:pt x="57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81" name="Freeform 595"/>
                <p:cNvSpPr>
                  <a:spLocks/>
                </p:cNvSpPr>
                <p:nvPr/>
              </p:nvSpPr>
              <p:spPr bwMode="auto">
                <a:xfrm>
                  <a:off x="2720" y="2068"/>
                  <a:ext cx="10" cy="20"/>
                </a:xfrm>
                <a:custGeom>
                  <a:avLst/>
                  <a:gdLst>
                    <a:gd name="T0" fmla="*/ 0 w 10"/>
                    <a:gd name="T1" fmla="*/ 20 h 20"/>
                    <a:gd name="T2" fmla="*/ 4 w 10"/>
                    <a:gd name="T3" fmla="*/ 19 h 20"/>
                    <a:gd name="T4" fmla="*/ 7 w 10"/>
                    <a:gd name="T5" fmla="*/ 17 h 20"/>
                    <a:gd name="T6" fmla="*/ 9 w 10"/>
                    <a:gd name="T7" fmla="*/ 14 h 20"/>
                    <a:gd name="T8" fmla="*/ 10 w 10"/>
                    <a:gd name="T9" fmla="*/ 11 h 20"/>
                    <a:gd name="T10" fmla="*/ 9 w 10"/>
                    <a:gd name="T11" fmla="*/ 7 h 20"/>
                    <a:gd name="T12" fmla="*/ 7 w 10"/>
                    <a:gd name="T13" fmla="*/ 3 h 20"/>
                    <a:gd name="T14" fmla="*/ 4 w 10"/>
                    <a:gd name="T15" fmla="*/ 1 h 20"/>
                    <a:gd name="T16" fmla="*/ 0 w 10"/>
                    <a:gd name="T17" fmla="*/ 0 h 20"/>
                    <a:gd name="T18" fmla="*/ 0 w 10"/>
                    <a:gd name="T19" fmla="*/ 2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0" y="20"/>
                      </a:moveTo>
                      <a:lnTo>
                        <a:pt x="4" y="19"/>
                      </a:lnTo>
                      <a:lnTo>
                        <a:pt x="7" y="17"/>
                      </a:lnTo>
                      <a:lnTo>
                        <a:pt x="9" y="14"/>
                      </a:lnTo>
                      <a:lnTo>
                        <a:pt x="10" y="11"/>
                      </a:lnTo>
                      <a:lnTo>
                        <a:pt x="9" y="7"/>
                      </a:lnTo>
                      <a:lnTo>
                        <a:pt x="7" y="3"/>
                      </a:lnTo>
                      <a:lnTo>
                        <a:pt x="4" y="1"/>
                      </a:lnTo>
                      <a:lnTo>
                        <a:pt x="0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82" name="Freeform 596"/>
                <p:cNvSpPr>
                  <a:spLocks/>
                </p:cNvSpPr>
                <p:nvPr/>
              </p:nvSpPr>
              <p:spPr bwMode="auto">
                <a:xfrm>
                  <a:off x="2653" y="2080"/>
                  <a:ext cx="10" cy="20"/>
                </a:xfrm>
                <a:custGeom>
                  <a:avLst/>
                  <a:gdLst>
                    <a:gd name="T0" fmla="*/ 10 w 10"/>
                    <a:gd name="T1" fmla="*/ 0 h 20"/>
                    <a:gd name="T2" fmla="*/ 6 w 10"/>
                    <a:gd name="T3" fmla="*/ 1 h 20"/>
                    <a:gd name="T4" fmla="*/ 3 w 10"/>
                    <a:gd name="T5" fmla="*/ 3 h 20"/>
                    <a:gd name="T6" fmla="*/ 1 w 10"/>
                    <a:gd name="T7" fmla="*/ 6 h 20"/>
                    <a:gd name="T8" fmla="*/ 0 w 10"/>
                    <a:gd name="T9" fmla="*/ 9 h 20"/>
                    <a:gd name="T10" fmla="*/ 1 w 10"/>
                    <a:gd name="T11" fmla="*/ 14 h 20"/>
                    <a:gd name="T12" fmla="*/ 3 w 10"/>
                    <a:gd name="T13" fmla="*/ 17 h 20"/>
                    <a:gd name="T14" fmla="*/ 6 w 10"/>
                    <a:gd name="T15" fmla="*/ 19 h 20"/>
                    <a:gd name="T16" fmla="*/ 10 w 10"/>
                    <a:gd name="T17" fmla="*/ 20 h 20"/>
                    <a:gd name="T18" fmla="*/ 10 w 10"/>
                    <a:gd name="T19" fmla="*/ 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10" y="0"/>
                      </a:moveTo>
                      <a:lnTo>
                        <a:pt x="6" y="1"/>
                      </a:lnTo>
                      <a:lnTo>
                        <a:pt x="3" y="3"/>
                      </a:lnTo>
                      <a:lnTo>
                        <a:pt x="1" y="6"/>
                      </a:lnTo>
                      <a:lnTo>
                        <a:pt x="0" y="9"/>
                      </a:lnTo>
                      <a:lnTo>
                        <a:pt x="1" y="14"/>
                      </a:lnTo>
                      <a:lnTo>
                        <a:pt x="3" y="17"/>
                      </a:lnTo>
                      <a:lnTo>
                        <a:pt x="6" y="19"/>
                      </a:lnTo>
                      <a:lnTo>
                        <a:pt x="10" y="2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83" name="Freeform 597"/>
                <p:cNvSpPr>
                  <a:spLocks/>
                </p:cNvSpPr>
                <p:nvPr/>
              </p:nvSpPr>
              <p:spPr bwMode="auto">
                <a:xfrm>
                  <a:off x="2663" y="2080"/>
                  <a:ext cx="57" cy="20"/>
                </a:xfrm>
                <a:custGeom>
                  <a:avLst/>
                  <a:gdLst>
                    <a:gd name="T0" fmla="*/ 57 w 57"/>
                    <a:gd name="T1" fmla="*/ 9 h 20"/>
                    <a:gd name="T2" fmla="*/ 57 w 57"/>
                    <a:gd name="T3" fmla="*/ 0 h 20"/>
                    <a:gd name="T4" fmla="*/ 0 w 57"/>
                    <a:gd name="T5" fmla="*/ 0 h 20"/>
                    <a:gd name="T6" fmla="*/ 0 w 57"/>
                    <a:gd name="T7" fmla="*/ 20 h 20"/>
                    <a:gd name="T8" fmla="*/ 57 w 57"/>
                    <a:gd name="T9" fmla="*/ 20 h 20"/>
                    <a:gd name="T10" fmla="*/ 57 w 57"/>
                    <a:gd name="T11" fmla="*/ 9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20"/>
                    <a:gd name="T20" fmla="*/ 57 w 57"/>
                    <a:gd name="T21" fmla="*/ 20 h 2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20">
                      <a:moveTo>
                        <a:pt x="57" y="9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57" y="20"/>
                      </a:lnTo>
                      <a:lnTo>
                        <a:pt x="57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84" name="Freeform 598"/>
                <p:cNvSpPr>
                  <a:spLocks/>
                </p:cNvSpPr>
                <p:nvPr/>
              </p:nvSpPr>
              <p:spPr bwMode="auto">
                <a:xfrm>
                  <a:off x="2720" y="2080"/>
                  <a:ext cx="10" cy="20"/>
                </a:xfrm>
                <a:custGeom>
                  <a:avLst/>
                  <a:gdLst>
                    <a:gd name="T0" fmla="*/ 0 w 10"/>
                    <a:gd name="T1" fmla="*/ 20 h 20"/>
                    <a:gd name="T2" fmla="*/ 4 w 10"/>
                    <a:gd name="T3" fmla="*/ 19 h 20"/>
                    <a:gd name="T4" fmla="*/ 7 w 10"/>
                    <a:gd name="T5" fmla="*/ 17 h 20"/>
                    <a:gd name="T6" fmla="*/ 9 w 10"/>
                    <a:gd name="T7" fmla="*/ 14 h 20"/>
                    <a:gd name="T8" fmla="*/ 10 w 10"/>
                    <a:gd name="T9" fmla="*/ 9 h 20"/>
                    <a:gd name="T10" fmla="*/ 9 w 10"/>
                    <a:gd name="T11" fmla="*/ 6 h 20"/>
                    <a:gd name="T12" fmla="*/ 7 w 10"/>
                    <a:gd name="T13" fmla="*/ 3 h 20"/>
                    <a:gd name="T14" fmla="*/ 4 w 10"/>
                    <a:gd name="T15" fmla="*/ 1 h 20"/>
                    <a:gd name="T16" fmla="*/ 0 w 10"/>
                    <a:gd name="T17" fmla="*/ 0 h 20"/>
                    <a:gd name="T18" fmla="*/ 0 w 10"/>
                    <a:gd name="T19" fmla="*/ 2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0" y="20"/>
                      </a:moveTo>
                      <a:lnTo>
                        <a:pt x="4" y="19"/>
                      </a:lnTo>
                      <a:lnTo>
                        <a:pt x="7" y="17"/>
                      </a:lnTo>
                      <a:lnTo>
                        <a:pt x="9" y="14"/>
                      </a:lnTo>
                      <a:lnTo>
                        <a:pt x="10" y="9"/>
                      </a:lnTo>
                      <a:lnTo>
                        <a:pt x="9" y="6"/>
                      </a:lnTo>
                      <a:lnTo>
                        <a:pt x="7" y="3"/>
                      </a:lnTo>
                      <a:lnTo>
                        <a:pt x="4" y="1"/>
                      </a:lnTo>
                      <a:lnTo>
                        <a:pt x="0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85" name="Freeform 599"/>
                <p:cNvSpPr>
                  <a:spLocks/>
                </p:cNvSpPr>
                <p:nvPr/>
              </p:nvSpPr>
              <p:spPr bwMode="auto">
                <a:xfrm>
                  <a:off x="2653" y="2092"/>
                  <a:ext cx="10" cy="20"/>
                </a:xfrm>
                <a:custGeom>
                  <a:avLst/>
                  <a:gdLst>
                    <a:gd name="T0" fmla="*/ 10 w 10"/>
                    <a:gd name="T1" fmla="*/ 0 h 20"/>
                    <a:gd name="T2" fmla="*/ 6 w 10"/>
                    <a:gd name="T3" fmla="*/ 1 h 20"/>
                    <a:gd name="T4" fmla="*/ 3 w 10"/>
                    <a:gd name="T5" fmla="*/ 3 h 20"/>
                    <a:gd name="T6" fmla="*/ 1 w 10"/>
                    <a:gd name="T7" fmla="*/ 6 h 20"/>
                    <a:gd name="T8" fmla="*/ 0 w 10"/>
                    <a:gd name="T9" fmla="*/ 9 h 20"/>
                    <a:gd name="T10" fmla="*/ 1 w 10"/>
                    <a:gd name="T11" fmla="*/ 14 h 20"/>
                    <a:gd name="T12" fmla="*/ 3 w 10"/>
                    <a:gd name="T13" fmla="*/ 17 h 20"/>
                    <a:gd name="T14" fmla="*/ 6 w 10"/>
                    <a:gd name="T15" fmla="*/ 19 h 20"/>
                    <a:gd name="T16" fmla="*/ 10 w 10"/>
                    <a:gd name="T17" fmla="*/ 20 h 20"/>
                    <a:gd name="T18" fmla="*/ 10 w 10"/>
                    <a:gd name="T19" fmla="*/ 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10" y="0"/>
                      </a:moveTo>
                      <a:lnTo>
                        <a:pt x="6" y="1"/>
                      </a:lnTo>
                      <a:lnTo>
                        <a:pt x="3" y="3"/>
                      </a:lnTo>
                      <a:lnTo>
                        <a:pt x="1" y="6"/>
                      </a:lnTo>
                      <a:lnTo>
                        <a:pt x="0" y="9"/>
                      </a:lnTo>
                      <a:lnTo>
                        <a:pt x="1" y="14"/>
                      </a:lnTo>
                      <a:lnTo>
                        <a:pt x="3" y="17"/>
                      </a:lnTo>
                      <a:lnTo>
                        <a:pt x="6" y="19"/>
                      </a:lnTo>
                      <a:lnTo>
                        <a:pt x="10" y="2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86" name="Freeform 600"/>
                <p:cNvSpPr>
                  <a:spLocks/>
                </p:cNvSpPr>
                <p:nvPr/>
              </p:nvSpPr>
              <p:spPr bwMode="auto">
                <a:xfrm>
                  <a:off x="2663" y="2092"/>
                  <a:ext cx="57" cy="20"/>
                </a:xfrm>
                <a:custGeom>
                  <a:avLst/>
                  <a:gdLst>
                    <a:gd name="T0" fmla="*/ 57 w 57"/>
                    <a:gd name="T1" fmla="*/ 9 h 20"/>
                    <a:gd name="T2" fmla="*/ 57 w 57"/>
                    <a:gd name="T3" fmla="*/ 0 h 20"/>
                    <a:gd name="T4" fmla="*/ 0 w 57"/>
                    <a:gd name="T5" fmla="*/ 0 h 20"/>
                    <a:gd name="T6" fmla="*/ 0 w 57"/>
                    <a:gd name="T7" fmla="*/ 20 h 20"/>
                    <a:gd name="T8" fmla="*/ 57 w 57"/>
                    <a:gd name="T9" fmla="*/ 20 h 20"/>
                    <a:gd name="T10" fmla="*/ 57 w 57"/>
                    <a:gd name="T11" fmla="*/ 9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20"/>
                    <a:gd name="T20" fmla="*/ 57 w 57"/>
                    <a:gd name="T21" fmla="*/ 20 h 2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20">
                      <a:moveTo>
                        <a:pt x="57" y="9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57" y="20"/>
                      </a:lnTo>
                      <a:lnTo>
                        <a:pt x="57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87" name="Freeform 601"/>
                <p:cNvSpPr>
                  <a:spLocks/>
                </p:cNvSpPr>
                <p:nvPr/>
              </p:nvSpPr>
              <p:spPr bwMode="auto">
                <a:xfrm>
                  <a:off x="2720" y="2092"/>
                  <a:ext cx="10" cy="20"/>
                </a:xfrm>
                <a:custGeom>
                  <a:avLst/>
                  <a:gdLst>
                    <a:gd name="T0" fmla="*/ 0 w 10"/>
                    <a:gd name="T1" fmla="*/ 20 h 20"/>
                    <a:gd name="T2" fmla="*/ 4 w 10"/>
                    <a:gd name="T3" fmla="*/ 19 h 20"/>
                    <a:gd name="T4" fmla="*/ 7 w 10"/>
                    <a:gd name="T5" fmla="*/ 17 h 20"/>
                    <a:gd name="T6" fmla="*/ 9 w 10"/>
                    <a:gd name="T7" fmla="*/ 14 h 20"/>
                    <a:gd name="T8" fmla="*/ 10 w 10"/>
                    <a:gd name="T9" fmla="*/ 9 h 20"/>
                    <a:gd name="T10" fmla="*/ 9 w 10"/>
                    <a:gd name="T11" fmla="*/ 6 h 20"/>
                    <a:gd name="T12" fmla="*/ 7 w 10"/>
                    <a:gd name="T13" fmla="*/ 3 h 20"/>
                    <a:gd name="T14" fmla="*/ 4 w 10"/>
                    <a:gd name="T15" fmla="*/ 1 h 20"/>
                    <a:gd name="T16" fmla="*/ 0 w 10"/>
                    <a:gd name="T17" fmla="*/ 0 h 20"/>
                    <a:gd name="T18" fmla="*/ 0 w 10"/>
                    <a:gd name="T19" fmla="*/ 2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0" y="20"/>
                      </a:moveTo>
                      <a:lnTo>
                        <a:pt x="4" y="19"/>
                      </a:lnTo>
                      <a:lnTo>
                        <a:pt x="7" y="17"/>
                      </a:lnTo>
                      <a:lnTo>
                        <a:pt x="9" y="14"/>
                      </a:lnTo>
                      <a:lnTo>
                        <a:pt x="10" y="9"/>
                      </a:lnTo>
                      <a:lnTo>
                        <a:pt x="9" y="6"/>
                      </a:lnTo>
                      <a:lnTo>
                        <a:pt x="7" y="3"/>
                      </a:lnTo>
                      <a:lnTo>
                        <a:pt x="4" y="1"/>
                      </a:lnTo>
                      <a:lnTo>
                        <a:pt x="0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88" name="Freeform 602"/>
                <p:cNvSpPr>
                  <a:spLocks/>
                </p:cNvSpPr>
                <p:nvPr/>
              </p:nvSpPr>
              <p:spPr bwMode="auto">
                <a:xfrm>
                  <a:off x="2660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89" name="Freeform 603"/>
                <p:cNvSpPr>
                  <a:spLocks/>
                </p:cNvSpPr>
                <p:nvPr/>
              </p:nvSpPr>
              <p:spPr bwMode="auto">
                <a:xfrm>
                  <a:off x="2663" y="2063"/>
                  <a:ext cx="57" cy="6"/>
                </a:xfrm>
                <a:custGeom>
                  <a:avLst/>
                  <a:gdLst>
                    <a:gd name="T0" fmla="*/ 57 w 57"/>
                    <a:gd name="T1" fmla="*/ 3 h 6"/>
                    <a:gd name="T2" fmla="*/ 57 w 57"/>
                    <a:gd name="T3" fmla="*/ 0 h 6"/>
                    <a:gd name="T4" fmla="*/ 0 w 57"/>
                    <a:gd name="T5" fmla="*/ 0 h 6"/>
                    <a:gd name="T6" fmla="*/ 0 w 57"/>
                    <a:gd name="T7" fmla="*/ 6 h 6"/>
                    <a:gd name="T8" fmla="*/ 57 w 57"/>
                    <a:gd name="T9" fmla="*/ 6 h 6"/>
                    <a:gd name="T10" fmla="*/ 57 w 5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6"/>
                    <a:gd name="T20" fmla="*/ 57 w 5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6">
                      <a:moveTo>
                        <a:pt x="57" y="3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7" y="6"/>
                      </a:lnTo>
                      <a:lnTo>
                        <a:pt x="57" y="3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90" name="Freeform 604"/>
                <p:cNvSpPr>
                  <a:spLocks/>
                </p:cNvSpPr>
                <p:nvPr/>
              </p:nvSpPr>
              <p:spPr bwMode="auto">
                <a:xfrm>
                  <a:off x="2720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91" name="Freeform 605"/>
                <p:cNvSpPr>
                  <a:spLocks/>
                </p:cNvSpPr>
                <p:nvPr/>
              </p:nvSpPr>
              <p:spPr bwMode="auto">
                <a:xfrm>
                  <a:off x="2660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92" name="Freeform 606"/>
                <p:cNvSpPr>
                  <a:spLocks/>
                </p:cNvSpPr>
                <p:nvPr/>
              </p:nvSpPr>
              <p:spPr bwMode="auto">
                <a:xfrm>
                  <a:off x="2663" y="2075"/>
                  <a:ext cx="57" cy="6"/>
                </a:xfrm>
                <a:custGeom>
                  <a:avLst/>
                  <a:gdLst>
                    <a:gd name="T0" fmla="*/ 57 w 57"/>
                    <a:gd name="T1" fmla="*/ 3 h 6"/>
                    <a:gd name="T2" fmla="*/ 57 w 57"/>
                    <a:gd name="T3" fmla="*/ 0 h 6"/>
                    <a:gd name="T4" fmla="*/ 0 w 57"/>
                    <a:gd name="T5" fmla="*/ 0 h 6"/>
                    <a:gd name="T6" fmla="*/ 0 w 57"/>
                    <a:gd name="T7" fmla="*/ 6 h 6"/>
                    <a:gd name="T8" fmla="*/ 57 w 57"/>
                    <a:gd name="T9" fmla="*/ 6 h 6"/>
                    <a:gd name="T10" fmla="*/ 57 w 5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6"/>
                    <a:gd name="T20" fmla="*/ 57 w 5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6">
                      <a:moveTo>
                        <a:pt x="57" y="3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7" y="6"/>
                      </a:lnTo>
                      <a:lnTo>
                        <a:pt x="57" y="3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93" name="Freeform 607"/>
                <p:cNvSpPr>
                  <a:spLocks/>
                </p:cNvSpPr>
                <p:nvPr/>
              </p:nvSpPr>
              <p:spPr bwMode="auto">
                <a:xfrm>
                  <a:off x="2720" y="2075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94" name="Freeform 608"/>
                <p:cNvSpPr>
                  <a:spLocks/>
                </p:cNvSpPr>
                <p:nvPr/>
              </p:nvSpPr>
              <p:spPr bwMode="auto">
                <a:xfrm>
                  <a:off x="2660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95" name="Freeform 609"/>
                <p:cNvSpPr>
                  <a:spLocks/>
                </p:cNvSpPr>
                <p:nvPr/>
              </p:nvSpPr>
              <p:spPr bwMode="auto">
                <a:xfrm>
                  <a:off x="2663" y="2087"/>
                  <a:ext cx="57" cy="6"/>
                </a:xfrm>
                <a:custGeom>
                  <a:avLst/>
                  <a:gdLst>
                    <a:gd name="T0" fmla="*/ 57 w 57"/>
                    <a:gd name="T1" fmla="*/ 2 h 6"/>
                    <a:gd name="T2" fmla="*/ 57 w 57"/>
                    <a:gd name="T3" fmla="*/ 0 h 6"/>
                    <a:gd name="T4" fmla="*/ 0 w 57"/>
                    <a:gd name="T5" fmla="*/ 0 h 6"/>
                    <a:gd name="T6" fmla="*/ 0 w 57"/>
                    <a:gd name="T7" fmla="*/ 6 h 6"/>
                    <a:gd name="T8" fmla="*/ 57 w 57"/>
                    <a:gd name="T9" fmla="*/ 6 h 6"/>
                    <a:gd name="T10" fmla="*/ 57 w 57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6"/>
                    <a:gd name="T20" fmla="*/ 57 w 5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6">
                      <a:moveTo>
                        <a:pt x="57" y="2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7" y="6"/>
                      </a:lnTo>
                      <a:lnTo>
                        <a:pt x="57" y="2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96" name="Freeform 610"/>
                <p:cNvSpPr>
                  <a:spLocks/>
                </p:cNvSpPr>
                <p:nvPr/>
              </p:nvSpPr>
              <p:spPr bwMode="auto">
                <a:xfrm>
                  <a:off x="2720" y="2087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2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97" name="Freeform 611"/>
                <p:cNvSpPr>
                  <a:spLocks/>
                </p:cNvSpPr>
                <p:nvPr/>
              </p:nvSpPr>
              <p:spPr bwMode="auto">
                <a:xfrm>
                  <a:off x="2660" y="2099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1 w 3"/>
                    <a:gd name="T3" fmla="*/ 1 h 5"/>
                    <a:gd name="T4" fmla="*/ 0 w 3"/>
                    <a:gd name="T5" fmla="*/ 2 h 5"/>
                    <a:gd name="T6" fmla="*/ 1 w 3"/>
                    <a:gd name="T7" fmla="*/ 4 h 5"/>
                    <a:gd name="T8" fmla="*/ 3 w 3"/>
                    <a:gd name="T9" fmla="*/ 5 h 5"/>
                    <a:gd name="T10" fmla="*/ 3 w 3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4"/>
                      </a:lnTo>
                      <a:lnTo>
                        <a:pt x="3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98" name="Freeform 612"/>
                <p:cNvSpPr>
                  <a:spLocks/>
                </p:cNvSpPr>
                <p:nvPr/>
              </p:nvSpPr>
              <p:spPr bwMode="auto">
                <a:xfrm>
                  <a:off x="2663" y="2099"/>
                  <a:ext cx="57" cy="5"/>
                </a:xfrm>
                <a:custGeom>
                  <a:avLst/>
                  <a:gdLst>
                    <a:gd name="T0" fmla="*/ 57 w 57"/>
                    <a:gd name="T1" fmla="*/ 2 h 5"/>
                    <a:gd name="T2" fmla="*/ 57 w 57"/>
                    <a:gd name="T3" fmla="*/ 0 h 5"/>
                    <a:gd name="T4" fmla="*/ 0 w 57"/>
                    <a:gd name="T5" fmla="*/ 0 h 5"/>
                    <a:gd name="T6" fmla="*/ 0 w 57"/>
                    <a:gd name="T7" fmla="*/ 5 h 5"/>
                    <a:gd name="T8" fmla="*/ 57 w 57"/>
                    <a:gd name="T9" fmla="*/ 5 h 5"/>
                    <a:gd name="T10" fmla="*/ 57 w 57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5"/>
                    <a:gd name="T20" fmla="*/ 57 w 57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5">
                      <a:moveTo>
                        <a:pt x="57" y="2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57" y="5"/>
                      </a:lnTo>
                      <a:lnTo>
                        <a:pt x="57" y="2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99" name="Freeform 613"/>
                <p:cNvSpPr>
                  <a:spLocks/>
                </p:cNvSpPr>
                <p:nvPr/>
              </p:nvSpPr>
              <p:spPr bwMode="auto">
                <a:xfrm>
                  <a:off x="2720" y="2099"/>
                  <a:ext cx="2" cy="5"/>
                </a:xfrm>
                <a:custGeom>
                  <a:avLst/>
                  <a:gdLst>
                    <a:gd name="T0" fmla="*/ 0 w 2"/>
                    <a:gd name="T1" fmla="*/ 5 h 5"/>
                    <a:gd name="T2" fmla="*/ 2 w 2"/>
                    <a:gd name="T3" fmla="*/ 4 h 5"/>
                    <a:gd name="T4" fmla="*/ 2 w 2"/>
                    <a:gd name="T5" fmla="*/ 2 h 5"/>
                    <a:gd name="T6" fmla="*/ 2 w 2"/>
                    <a:gd name="T7" fmla="*/ 1 h 5"/>
                    <a:gd name="T8" fmla="*/ 0 w 2"/>
                    <a:gd name="T9" fmla="*/ 0 h 5"/>
                    <a:gd name="T10" fmla="*/ 0 w 2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5"/>
                    <a:gd name="T20" fmla="*/ 2 w 2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5">
                      <a:moveTo>
                        <a:pt x="0" y="5"/>
                      </a:move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00" name="Freeform 614"/>
                <p:cNvSpPr>
                  <a:spLocks/>
                </p:cNvSpPr>
                <p:nvPr/>
              </p:nvSpPr>
              <p:spPr bwMode="auto">
                <a:xfrm>
                  <a:off x="2661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01" name="Freeform 615"/>
                <p:cNvSpPr>
                  <a:spLocks/>
                </p:cNvSpPr>
                <p:nvPr/>
              </p:nvSpPr>
              <p:spPr bwMode="auto">
                <a:xfrm>
                  <a:off x="2664" y="2063"/>
                  <a:ext cx="54" cy="6"/>
                </a:xfrm>
                <a:custGeom>
                  <a:avLst/>
                  <a:gdLst>
                    <a:gd name="T0" fmla="*/ 54 w 54"/>
                    <a:gd name="T1" fmla="*/ 3 h 6"/>
                    <a:gd name="T2" fmla="*/ 54 w 54"/>
                    <a:gd name="T3" fmla="*/ 0 h 6"/>
                    <a:gd name="T4" fmla="*/ 0 w 54"/>
                    <a:gd name="T5" fmla="*/ 0 h 6"/>
                    <a:gd name="T6" fmla="*/ 0 w 54"/>
                    <a:gd name="T7" fmla="*/ 6 h 6"/>
                    <a:gd name="T8" fmla="*/ 54 w 54"/>
                    <a:gd name="T9" fmla="*/ 6 h 6"/>
                    <a:gd name="T10" fmla="*/ 54 w 54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6"/>
                    <a:gd name="T20" fmla="*/ 54 w 5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6">
                      <a:moveTo>
                        <a:pt x="54" y="3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4" y="6"/>
                      </a:lnTo>
                      <a:lnTo>
                        <a:pt x="54" y="3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02" name="Freeform 616"/>
                <p:cNvSpPr>
                  <a:spLocks/>
                </p:cNvSpPr>
                <p:nvPr/>
              </p:nvSpPr>
              <p:spPr bwMode="auto">
                <a:xfrm>
                  <a:off x="2718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03" name="Freeform 617"/>
                <p:cNvSpPr>
                  <a:spLocks/>
                </p:cNvSpPr>
                <p:nvPr/>
              </p:nvSpPr>
              <p:spPr bwMode="auto">
                <a:xfrm>
                  <a:off x="2663" y="2063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1 w 4"/>
                    <a:gd name="T3" fmla="*/ 1 h 6"/>
                    <a:gd name="T4" fmla="*/ 0 w 4"/>
                    <a:gd name="T5" fmla="*/ 3 h 6"/>
                    <a:gd name="T6" fmla="*/ 1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5E5E5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04" name="Freeform 618"/>
                <p:cNvSpPr>
                  <a:spLocks/>
                </p:cNvSpPr>
                <p:nvPr/>
              </p:nvSpPr>
              <p:spPr bwMode="auto">
                <a:xfrm>
                  <a:off x="2667" y="2063"/>
                  <a:ext cx="50" cy="6"/>
                </a:xfrm>
                <a:custGeom>
                  <a:avLst/>
                  <a:gdLst>
                    <a:gd name="T0" fmla="*/ 50 w 50"/>
                    <a:gd name="T1" fmla="*/ 3 h 6"/>
                    <a:gd name="T2" fmla="*/ 50 w 50"/>
                    <a:gd name="T3" fmla="*/ 0 h 6"/>
                    <a:gd name="T4" fmla="*/ 0 w 50"/>
                    <a:gd name="T5" fmla="*/ 0 h 6"/>
                    <a:gd name="T6" fmla="*/ 0 w 50"/>
                    <a:gd name="T7" fmla="*/ 6 h 6"/>
                    <a:gd name="T8" fmla="*/ 50 w 50"/>
                    <a:gd name="T9" fmla="*/ 6 h 6"/>
                    <a:gd name="T10" fmla="*/ 50 w 50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0"/>
                    <a:gd name="T19" fmla="*/ 0 h 6"/>
                    <a:gd name="T20" fmla="*/ 50 w 50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0" h="6">
                      <a:moveTo>
                        <a:pt x="50" y="3"/>
                      </a:moveTo>
                      <a:lnTo>
                        <a:pt x="50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0" y="6"/>
                      </a:lnTo>
                      <a:lnTo>
                        <a:pt x="50" y="3"/>
                      </a:lnTo>
                      <a:close/>
                    </a:path>
                  </a:pathLst>
                </a:custGeom>
                <a:solidFill>
                  <a:srgbClr val="5E5E5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05" name="Freeform 619"/>
                <p:cNvSpPr>
                  <a:spLocks/>
                </p:cNvSpPr>
                <p:nvPr/>
              </p:nvSpPr>
              <p:spPr bwMode="auto">
                <a:xfrm>
                  <a:off x="2717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5E5E5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06" name="Freeform 620"/>
                <p:cNvSpPr>
                  <a:spLocks/>
                </p:cNvSpPr>
                <p:nvPr/>
              </p:nvSpPr>
              <p:spPr bwMode="auto">
                <a:xfrm>
                  <a:off x="2664" y="2063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1 w 4"/>
                    <a:gd name="T3" fmla="*/ 1 h 6"/>
                    <a:gd name="T4" fmla="*/ 0 w 4"/>
                    <a:gd name="T5" fmla="*/ 3 h 6"/>
                    <a:gd name="T6" fmla="*/ 1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68686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07" name="Freeform 621"/>
                <p:cNvSpPr>
                  <a:spLocks/>
                </p:cNvSpPr>
                <p:nvPr/>
              </p:nvSpPr>
              <p:spPr bwMode="auto">
                <a:xfrm>
                  <a:off x="2668" y="2063"/>
                  <a:ext cx="48" cy="6"/>
                </a:xfrm>
                <a:custGeom>
                  <a:avLst/>
                  <a:gdLst>
                    <a:gd name="T0" fmla="*/ 48 w 48"/>
                    <a:gd name="T1" fmla="*/ 3 h 6"/>
                    <a:gd name="T2" fmla="*/ 48 w 48"/>
                    <a:gd name="T3" fmla="*/ 0 h 6"/>
                    <a:gd name="T4" fmla="*/ 0 w 48"/>
                    <a:gd name="T5" fmla="*/ 0 h 6"/>
                    <a:gd name="T6" fmla="*/ 0 w 48"/>
                    <a:gd name="T7" fmla="*/ 6 h 6"/>
                    <a:gd name="T8" fmla="*/ 48 w 48"/>
                    <a:gd name="T9" fmla="*/ 6 h 6"/>
                    <a:gd name="T10" fmla="*/ 48 w 48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8"/>
                    <a:gd name="T19" fmla="*/ 0 h 6"/>
                    <a:gd name="T20" fmla="*/ 48 w 48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8" h="6">
                      <a:moveTo>
                        <a:pt x="48" y="3"/>
                      </a:move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8" y="6"/>
                      </a:lnTo>
                      <a:lnTo>
                        <a:pt x="48" y="3"/>
                      </a:lnTo>
                      <a:close/>
                    </a:path>
                  </a:pathLst>
                </a:custGeom>
                <a:solidFill>
                  <a:srgbClr val="68686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08" name="Freeform 622"/>
                <p:cNvSpPr>
                  <a:spLocks/>
                </p:cNvSpPr>
                <p:nvPr/>
              </p:nvSpPr>
              <p:spPr bwMode="auto">
                <a:xfrm>
                  <a:off x="2716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68686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09" name="Freeform 623"/>
                <p:cNvSpPr>
                  <a:spLocks/>
                </p:cNvSpPr>
                <p:nvPr/>
              </p:nvSpPr>
              <p:spPr bwMode="auto">
                <a:xfrm>
                  <a:off x="2667" y="2063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10" name="Freeform 624"/>
                <p:cNvSpPr>
                  <a:spLocks/>
                </p:cNvSpPr>
                <p:nvPr/>
              </p:nvSpPr>
              <p:spPr bwMode="auto">
                <a:xfrm>
                  <a:off x="2669" y="2063"/>
                  <a:ext cx="46" cy="6"/>
                </a:xfrm>
                <a:custGeom>
                  <a:avLst/>
                  <a:gdLst>
                    <a:gd name="T0" fmla="*/ 46 w 46"/>
                    <a:gd name="T1" fmla="*/ 3 h 6"/>
                    <a:gd name="T2" fmla="*/ 46 w 46"/>
                    <a:gd name="T3" fmla="*/ 0 h 6"/>
                    <a:gd name="T4" fmla="*/ 0 w 46"/>
                    <a:gd name="T5" fmla="*/ 0 h 6"/>
                    <a:gd name="T6" fmla="*/ 0 w 46"/>
                    <a:gd name="T7" fmla="*/ 6 h 6"/>
                    <a:gd name="T8" fmla="*/ 46 w 46"/>
                    <a:gd name="T9" fmla="*/ 6 h 6"/>
                    <a:gd name="T10" fmla="*/ 46 w 46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6"/>
                    <a:gd name="T19" fmla="*/ 0 h 6"/>
                    <a:gd name="T20" fmla="*/ 46 w 4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6" h="6">
                      <a:moveTo>
                        <a:pt x="46" y="3"/>
                      </a:moveTo>
                      <a:lnTo>
                        <a:pt x="4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6" y="6"/>
                      </a:lnTo>
                      <a:lnTo>
                        <a:pt x="46" y="3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11" name="Freeform 625"/>
                <p:cNvSpPr>
                  <a:spLocks/>
                </p:cNvSpPr>
                <p:nvPr/>
              </p:nvSpPr>
              <p:spPr bwMode="auto">
                <a:xfrm>
                  <a:off x="2715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12" name="Freeform 626"/>
                <p:cNvSpPr>
                  <a:spLocks/>
                </p:cNvSpPr>
                <p:nvPr/>
              </p:nvSpPr>
              <p:spPr bwMode="auto">
                <a:xfrm>
                  <a:off x="2668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A7A7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13" name="Freeform 627"/>
                <p:cNvSpPr>
                  <a:spLocks/>
                </p:cNvSpPr>
                <p:nvPr/>
              </p:nvSpPr>
              <p:spPr bwMode="auto">
                <a:xfrm>
                  <a:off x="2671" y="2063"/>
                  <a:ext cx="41" cy="6"/>
                </a:xfrm>
                <a:custGeom>
                  <a:avLst/>
                  <a:gdLst>
                    <a:gd name="T0" fmla="*/ 41 w 41"/>
                    <a:gd name="T1" fmla="*/ 3 h 6"/>
                    <a:gd name="T2" fmla="*/ 41 w 41"/>
                    <a:gd name="T3" fmla="*/ 0 h 6"/>
                    <a:gd name="T4" fmla="*/ 0 w 41"/>
                    <a:gd name="T5" fmla="*/ 0 h 6"/>
                    <a:gd name="T6" fmla="*/ 0 w 41"/>
                    <a:gd name="T7" fmla="*/ 6 h 6"/>
                    <a:gd name="T8" fmla="*/ 41 w 41"/>
                    <a:gd name="T9" fmla="*/ 6 h 6"/>
                    <a:gd name="T10" fmla="*/ 41 w 4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1"/>
                    <a:gd name="T19" fmla="*/ 0 h 6"/>
                    <a:gd name="T20" fmla="*/ 41 w 4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1" h="6">
                      <a:moveTo>
                        <a:pt x="41" y="3"/>
                      </a:move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1" y="6"/>
                      </a:lnTo>
                      <a:lnTo>
                        <a:pt x="41" y="3"/>
                      </a:lnTo>
                      <a:close/>
                    </a:path>
                  </a:pathLst>
                </a:custGeom>
                <a:solidFill>
                  <a:srgbClr val="7A7A7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14" name="Freeform 628"/>
                <p:cNvSpPr>
                  <a:spLocks/>
                </p:cNvSpPr>
                <p:nvPr/>
              </p:nvSpPr>
              <p:spPr bwMode="auto">
                <a:xfrm>
                  <a:off x="2712" y="2063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3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A7A7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15" name="Freeform 629"/>
                <p:cNvSpPr>
                  <a:spLocks/>
                </p:cNvSpPr>
                <p:nvPr/>
              </p:nvSpPr>
              <p:spPr bwMode="auto">
                <a:xfrm>
                  <a:off x="2669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4848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16" name="Freeform 630"/>
                <p:cNvSpPr>
                  <a:spLocks/>
                </p:cNvSpPr>
                <p:nvPr/>
              </p:nvSpPr>
              <p:spPr bwMode="auto">
                <a:xfrm>
                  <a:off x="2672" y="2063"/>
                  <a:ext cx="39" cy="6"/>
                </a:xfrm>
                <a:custGeom>
                  <a:avLst/>
                  <a:gdLst>
                    <a:gd name="T0" fmla="*/ 39 w 39"/>
                    <a:gd name="T1" fmla="*/ 3 h 6"/>
                    <a:gd name="T2" fmla="*/ 39 w 39"/>
                    <a:gd name="T3" fmla="*/ 0 h 6"/>
                    <a:gd name="T4" fmla="*/ 0 w 39"/>
                    <a:gd name="T5" fmla="*/ 0 h 6"/>
                    <a:gd name="T6" fmla="*/ 0 w 39"/>
                    <a:gd name="T7" fmla="*/ 6 h 6"/>
                    <a:gd name="T8" fmla="*/ 39 w 39"/>
                    <a:gd name="T9" fmla="*/ 6 h 6"/>
                    <a:gd name="T10" fmla="*/ 39 w 39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9"/>
                    <a:gd name="T19" fmla="*/ 0 h 6"/>
                    <a:gd name="T20" fmla="*/ 39 w 3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9" h="6">
                      <a:moveTo>
                        <a:pt x="39" y="3"/>
                      </a:moveTo>
                      <a:lnTo>
                        <a:pt x="3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9" y="6"/>
                      </a:lnTo>
                      <a:lnTo>
                        <a:pt x="39" y="3"/>
                      </a:lnTo>
                      <a:close/>
                    </a:path>
                  </a:pathLst>
                </a:custGeom>
                <a:solidFill>
                  <a:srgbClr val="84848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17" name="Freeform 631"/>
                <p:cNvSpPr>
                  <a:spLocks/>
                </p:cNvSpPr>
                <p:nvPr/>
              </p:nvSpPr>
              <p:spPr bwMode="auto">
                <a:xfrm>
                  <a:off x="2711" y="2063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3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84848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18" name="Freeform 632"/>
                <p:cNvSpPr>
                  <a:spLocks/>
                </p:cNvSpPr>
                <p:nvPr/>
              </p:nvSpPr>
              <p:spPr bwMode="auto">
                <a:xfrm>
                  <a:off x="2671" y="2063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E8E8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19" name="Freeform 633"/>
                <p:cNvSpPr>
                  <a:spLocks/>
                </p:cNvSpPr>
                <p:nvPr/>
              </p:nvSpPr>
              <p:spPr bwMode="auto">
                <a:xfrm>
                  <a:off x="2673" y="2063"/>
                  <a:ext cx="37" cy="6"/>
                </a:xfrm>
                <a:custGeom>
                  <a:avLst/>
                  <a:gdLst>
                    <a:gd name="T0" fmla="*/ 37 w 37"/>
                    <a:gd name="T1" fmla="*/ 3 h 6"/>
                    <a:gd name="T2" fmla="*/ 37 w 37"/>
                    <a:gd name="T3" fmla="*/ 0 h 6"/>
                    <a:gd name="T4" fmla="*/ 0 w 37"/>
                    <a:gd name="T5" fmla="*/ 0 h 6"/>
                    <a:gd name="T6" fmla="*/ 0 w 37"/>
                    <a:gd name="T7" fmla="*/ 6 h 6"/>
                    <a:gd name="T8" fmla="*/ 37 w 37"/>
                    <a:gd name="T9" fmla="*/ 6 h 6"/>
                    <a:gd name="T10" fmla="*/ 37 w 3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7"/>
                    <a:gd name="T19" fmla="*/ 0 h 6"/>
                    <a:gd name="T20" fmla="*/ 37 w 3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7" h="6">
                      <a:moveTo>
                        <a:pt x="37" y="3"/>
                      </a:moveTo>
                      <a:lnTo>
                        <a:pt x="3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7" y="6"/>
                      </a:lnTo>
                      <a:lnTo>
                        <a:pt x="37" y="3"/>
                      </a:lnTo>
                      <a:close/>
                    </a:path>
                  </a:pathLst>
                </a:custGeom>
                <a:solidFill>
                  <a:srgbClr val="8E8E8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20" name="Freeform 634"/>
                <p:cNvSpPr>
                  <a:spLocks/>
                </p:cNvSpPr>
                <p:nvPr/>
              </p:nvSpPr>
              <p:spPr bwMode="auto">
                <a:xfrm>
                  <a:off x="2710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8E8E8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21" name="Freeform 635"/>
                <p:cNvSpPr>
                  <a:spLocks/>
                </p:cNvSpPr>
                <p:nvPr/>
              </p:nvSpPr>
              <p:spPr bwMode="auto">
                <a:xfrm>
                  <a:off x="2672" y="2063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22" name="Freeform 636"/>
                <p:cNvSpPr>
                  <a:spLocks/>
                </p:cNvSpPr>
                <p:nvPr/>
              </p:nvSpPr>
              <p:spPr bwMode="auto">
                <a:xfrm>
                  <a:off x="2674" y="2063"/>
                  <a:ext cx="35" cy="6"/>
                </a:xfrm>
                <a:custGeom>
                  <a:avLst/>
                  <a:gdLst>
                    <a:gd name="T0" fmla="*/ 35 w 35"/>
                    <a:gd name="T1" fmla="*/ 3 h 6"/>
                    <a:gd name="T2" fmla="*/ 35 w 35"/>
                    <a:gd name="T3" fmla="*/ 0 h 6"/>
                    <a:gd name="T4" fmla="*/ 0 w 35"/>
                    <a:gd name="T5" fmla="*/ 0 h 6"/>
                    <a:gd name="T6" fmla="*/ 0 w 35"/>
                    <a:gd name="T7" fmla="*/ 6 h 6"/>
                    <a:gd name="T8" fmla="*/ 35 w 35"/>
                    <a:gd name="T9" fmla="*/ 6 h 6"/>
                    <a:gd name="T10" fmla="*/ 35 w 35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5"/>
                    <a:gd name="T19" fmla="*/ 0 h 6"/>
                    <a:gd name="T20" fmla="*/ 35 w 35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5" h="6">
                      <a:moveTo>
                        <a:pt x="35" y="3"/>
                      </a:moveTo>
                      <a:lnTo>
                        <a:pt x="35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5" y="6"/>
                      </a:lnTo>
                      <a:lnTo>
                        <a:pt x="35" y="3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23" name="Freeform 637"/>
                <p:cNvSpPr>
                  <a:spLocks/>
                </p:cNvSpPr>
                <p:nvPr/>
              </p:nvSpPr>
              <p:spPr bwMode="auto">
                <a:xfrm>
                  <a:off x="2709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24" name="Freeform 638"/>
                <p:cNvSpPr>
                  <a:spLocks/>
                </p:cNvSpPr>
                <p:nvPr/>
              </p:nvSpPr>
              <p:spPr bwMode="auto">
                <a:xfrm>
                  <a:off x="2673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25" name="Freeform 639"/>
                <p:cNvSpPr>
                  <a:spLocks/>
                </p:cNvSpPr>
                <p:nvPr/>
              </p:nvSpPr>
              <p:spPr bwMode="auto">
                <a:xfrm>
                  <a:off x="2676" y="2063"/>
                  <a:ext cx="32" cy="6"/>
                </a:xfrm>
                <a:custGeom>
                  <a:avLst/>
                  <a:gdLst>
                    <a:gd name="T0" fmla="*/ 32 w 32"/>
                    <a:gd name="T1" fmla="*/ 3 h 6"/>
                    <a:gd name="T2" fmla="*/ 32 w 32"/>
                    <a:gd name="T3" fmla="*/ 0 h 6"/>
                    <a:gd name="T4" fmla="*/ 0 w 32"/>
                    <a:gd name="T5" fmla="*/ 0 h 6"/>
                    <a:gd name="T6" fmla="*/ 0 w 32"/>
                    <a:gd name="T7" fmla="*/ 6 h 6"/>
                    <a:gd name="T8" fmla="*/ 32 w 32"/>
                    <a:gd name="T9" fmla="*/ 6 h 6"/>
                    <a:gd name="T10" fmla="*/ 32 w 32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2"/>
                    <a:gd name="T19" fmla="*/ 0 h 6"/>
                    <a:gd name="T20" fmla="*/ 32 w 3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2" h="6">
                      <a:moveTo>
                        <a:pt x="32" y="3"/>
                      </a:moveTo>
                      <a:lnTo>
                        <a:pt x="32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2" y="6"/>
                      </a:lnTo>
                      <a:lnTo>
                        <a:pt x="32" y="3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26" name="Freeform 640"/>
                <p:cNvSpPr>
                  <a:spLocks/>
                </p:cNvSpPr>
                <p:nvPr/>
              </p:nvSpPr>
              <p:spPr bwMode="auto">
                <a:xfrm>
                  <a:off x="2708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27" name="Freeform 641"/>
                <p:cNvSpPr>
                  <a:spLocks/>
                </p:cNvSpPr>
                <p:nvPr/>
              </p:nvSpPr>
              <p:spPr bwMode="auto">
                <a:xfrm>
                  <a:off x="2674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AAAAA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28" name="Freeform 642"/>
                <p:cNvSpPr>
                  <a:spLocks/>
                </p:cNvSpPr>
                <p:nvPr/>
              </p:nvSpPr>
              <p:spPr bwMode="auto">
                <a:xfrm>
                  <a:off x="2677" y="2063"/>
                  <a:ext cx="29" cy="6"/>
                </a:xfrm>
                <a:custGeom>
                  <a:avLst/>
                  <a:gdLst>
                    <a:gd name="T0" fmla="*/ 29 w 29"/>
                    <a:gd name="T1" fmla="*/ 3 h 6"/>
                    <a:gd name="T2" fmla="*/ 29 w 29"/>
                    <a:gd name="T3" fmla="*/ 0 h 6"/>
                    <a:gd name="T4" fmla="*/ 0 w 29"/>
                    <a:gd name="T5" fmla="*/ 0 h 6"/>
                    <a:gd name="T6" fmla="*/ 0 w 29"/>
                    <a:gd name="T7" fmla="*/ 6 h 6"/>
                    <a:gd name="T8" fmla="*/ 29 w 29"/>
                    <a:gd name="T9" fmla="*/ 6 h 6"/>
                    <a:gd name="T10" fmla="*/ 29 w 29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"/>
                    <a:gd name="T19" fmla="*/ 0 h 6"/>
                    <a:gd name="T20" fmla="*/ 29 w 2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" h="6">
                      <a:moveTo>
                        <a:pt x="29" y="3"/>
                      </a:moveTo>
                      <a:lnTo>
                        <a:pt x="2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9" y="6"/>
                      </a:lnTo>
                      <a:lnTo>
                        <a:pt x="29" y="3"/>
                      </a:lnTo>
                      <a:close/>
                    </a:path>
                  </a:pathLst>
                </a:custGeom>
                <a:solidFill>
                  <a:srgbClr val="AAAAA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29" name="Freeform 643"/>
                <p:cNvSpPr>
                  <a:spLocks/>
                </p:cNvSpPr>
                <p:nvPr/>
              </p:nvSpPr>
              <p:spPr bwMode="auto">
                <a:xfrm>
                  <a:off x="2706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AAAAA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30" name="Freeform 644"/>
                <p:cNvSpPr>
                  <a:spLocks/>
                </p:cNvSpPr>
                <p:nvPr/>
              </p:nvSpPr>
              <p:spPr bwMode="auto">
                <a:xfrm>
                  <a:off x="2676" y="2063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B5B5B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31" name="Freeform 645"/>
                <p:cNvSpPr>
                  <a:spLocks/>
                </p:cNvSpPr>
                <p:nvPr/>
              </p:nvSpPr>
              <p:spPr bwMode="auto">
                <a:xfrm>
                  <a:off x="2678" y="2063"/>
                  <a:ext cx="27" cy="6"/>
                </a:xfrm>
                <a:custGeom>
                  <a:avLst/>
                  <a:gdLst>
                    <a:gd name="T0" fmla="*/ 27 w 27"/>
                    <a:gd name="T1" fmla="*/ 3 h 6"/>
                    <a:gd name="T2" fmla="*/ 27 w 27"/>
                    <a:gd name="T3" fmla="*/ 0 h 6"/>
                    <a:gd name="T4" fmla="*/ 0 w 27"/>
                    <a:gd name="T5" fmla="*/ 0 h 6"/>
                    <a:gd name="T6" fmla="*/ 0 w 27"/>
                    <a:gd name="T7" fmla="*/ 6 h 6"/>
                    <a:gd name="T8" fmla="*/ 27 w 27"/>
                    <a:gd name="T9" fmla="*/ 6 h 6"/>
                    <a:gd name="T10" fmla="*/ 27 w 2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7"/>
                    <a:gd name="T19" fmla="*/ 0 h 6"/>
                    <a:gd name="T20" fmla="*/ 27 w 2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7" h="6">
                      <a:moveTo>
                        <a:pt x="27" y="3"/>
                      </a:moveTo>
                      <a:lnTo>
                        <a:pt x="2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7" y="6"/>
                      </a:lnTo>
                      <a:lnTo>
                        <a:pt x="27" y="3"/>
                      </a:lnTo>
                      <a:close/>
                    </a:path>
                  </a:pathLst>
                </a:custGeom>
                <a:solidFill>
                  <a:srgbClr val="B5B5B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32" name="Freeform 646"/>
                <p:cNvSpPr>
                  <a:spLocks/>
                </p:cNvSpPr>
                <p:nvPr/>
              </p:nvSpPr>
              <p:spPr bwMode="auto">
                <a:xfrm>
                  <a:off x="2705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5B5B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33" name="Freeform 647"/>
                <p:cNvSpPr>
                  <a:spLocks/>
                </p:cNvSpPr>
                <p:nvPr/>
              </p:nvSpPr>
              <p:spPr bwMode="auto">
                <a:xfrm>
                  <a:off x="2677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BCBCB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34" name="Freeform 648"/>
                <p:cNvSpPr>
                  <a:spLocks/>
                </p:cNvSpPr>
                <p:nvPr/>
              </p:nvSpPr>
              <p:spPr bwMode="auto">
                <a:xfrm>
                  <a:off x="2680" y="2063"/>
                  <a:ext cx="24" cy="6"/>
                </a:xfrm>
                <a:custGeom>
                  <a:avLst/>
                  <a:gdLst>
                    <a:gd name="T0" fmla="*/ 24 w 24"/>
                    <a:gd name="T1" fmla="*/ 3 h 6"/>
                    <a:gd name="T2" fmla="*/ 24 w 24"/>
                    <a:gd name="T3" fmla="*/ 0 h 6"/>
                    <a:gd name="T4" fmla="*/ 0 w 24"/>
                    <a:gd name="T5" fmla="*/ 0 h 6"/>
                    <a:gd name="T6" fmla="*/ 0 w 24"/>
                    <a:gd name="T7" fmla="*/ 6 h 6"/>
                    <a:gd name="T8" fmla="*/ 24 w 24"/>
                    <a:gd name="T9" fmla="*/ 6 h 6"/>
                    <a:gd name="T10" fmla="*/ 24 w 24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4"/>
                    <a:gd name="T19" fmla="*/ 0 h 6"/>
                    <a:gd name="T20" fmla="*/ 24 w 2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4" h="6">
                      <a:moveTo>
                        <a:pt x="24" y="3"/>
                      </a:moveTo>
                      <a:lnTo>
                        <a:pt x="2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4" y="6"/>
                      </a:lnTo>
                      <a:lnTo>
                        <a:pt x="24" y="3"/>
                      </a:lnTo>
                      <a:close/>
                    </a:path>
                  </a:pathLst>
                </a:custGeom>
                <a:solidFill>
                  <a:srgbClr val="BCBCB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35" name="Freeform 649"/>
                <p:cNvSpPr>
                  <a:spLocks/>
                </p:cNvSpPr>
                <p:nvPr/>
              </p:nvSpPr>
              <p:spPr bwMode="auto">
                <a:xfrm>
                  <a:off x="2704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CBCB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36" name="Freeform 650"/>
                <p:cNvSpPr>
                  <a:spLocks/>
                </p:cNvSpPr>
                <p:nvPr/>
              </p:nvSpPr>
              <p:spPr bwMode="auto">
                <a:xfrm>
                  <a:off x="2678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37" name="Freeform 651"/>
                <p:cNvSpPr>
                  <a:spLocks/>
                </p:cNvSpPr>
                <p:nvPr/>
              </p:nvSpPr>
              <p:spPr bwMode="auto">
                <a:xfrm>
                  <a:off x="2681" y="2063"/>
                  <a:ext cx="21" cy="6"/>
                </a:xfrm>
                <a:custGeom>
                  <a:avLst/>
                  <a:gdLst>
                    <a:gd name="T0" fmla="*/ 21 w 21"/>
                    <a:gd name="T1" fmla="*/ 3 h 6"/>
                    <a:gd name="T2" fmla="*/ 21 w 21"/>
                    <a:gd name="T3" fmla="*/ 0 h 6"/>
                    <a:gd name="T4" fmla="*/ 0 w 21"/>
                    <a:gd name="T5" fmla="*/ 0 h 6"/>
                    <a:gd name="T6" fmla="*/ 0 w 21"/>
                    <a:gd name="T7" fmla="*/ 6 h 6"/>
                    <a:gd name="T8" fmla="*/ 21 w 21"/>
                    <a:gd name="T9" fmla="*/ 6 h 6"/>
                    <a:gd name="T10" fmla="*/ 21 w 2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1"/>
                    <a:gd name="T19" fmla="*/ 0 h 6"/>
                    <a:gd name="T20" fmla="*/ 21 w 2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" h="6">
                      <a:moveTo>
                        <a:pt x="21" y="3"/>
                      </a:moveTo>
                      <a:lnTo>
                        <a:pt x="2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1" y="6"/>
                      </a:lnTo>
                      <a:lnTo>
                        <a:pt x="21" y="3"/>
                      </a:lnTo>
                      <a:close/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38" name="Freeform 652"/>
                <p:cNvSpPr>
                  <a:spLocks/>
                </p:cNvSpPr>
                <p:nvPr/>
              </p:nvSpPr>
              <p:spPr bwMode="auto">
                <a:xfrm>
                  <a:off x="2702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39" name="Freeform 653"/>
                <p:cNvSpPr>
                  <a:spLocks/>
                </p:cNvSpPr>
                <p:nvPr/>
              </p:nvSpPr>
              <p:spPr bwMode="auto">
                <a:xfrm>
                  <a:off x="2680" y="2063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1 w 4"/>
                    <a:gd name="T3" fmla="*/ 1 h 6"/>
                    <a:gd name="T4" fmla="*/ 0 w 4"/>
                    <a:gd name="T5" fmla="*/ 3 h 6"/>
                    <a:gd name="T6" fmla="*/ 1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D1D1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40" name="Freeform 654"/>
                <p:cNvSpPr>
                  <a:spLocks/>
                </p:cNvSpPr>
                <p:nvPr/>
              </p:nvSpPr>
              <p:spPr bwMode="auto">
                <a:xfrm>
                  <a:off x="2684" y="2063"/>
                  <a:ext cx="17" cy="6"/>
                </a:xfrm>
                <a:custGeom>
                  <a:avLst/>
                  <a:gdLst>
                    <a:gd name="T0" fmla="*/ 17 w 17"/>
                    <a:gd name="T1" fmla="*/ 3 h 6"/>
                    <a:gd name="T2" fmla="*/ 17 w 17"/>
                    <a:gd name="T3" fmla="*/ 0 h 6"/>
                    <a:gd name="T4" fmla="*/ 0 w 17"/>
                    <a:gd name="T5" fmla="*/ 0 h 6"/>
                    <a:gd name="T6" fmla="*/ 0 w 17"/>
                    <a:gd name="T7" fmla="*/ 6 h 6"/>
                    <a:gd name="T8" fmla="*/ 17 w 17"/>
                    <a:gd name="T9" fmla="*/ 6 h 6"/>
                    <a:gd name="T10" fmla="*/ 17 w 1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7"/>
                    <a:gd name="T19" fmla="*/ 0 h 6"/>
                    <a:gd name="T20" fmla="*/ 17 w 1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7" h="6">
                      <a:moveTo>
                        <a:pt x="17" y="3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7" y="6"/>
                      </a:lnTo>
                      <a:lnTo>
                        <a:pt x="17" y="3"/>
                      </a:lnTo>
                      <a:close/>
                    </a:path>
                  </a:pathLst>
                </a:custGeom>
                <a:solidFill>
                  <a:srgbClr val="D1D1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41" name="Freeform 655"/>
                <p:cNvSpPr>
                  <a:spLocks/>
                </p:cNvSpPr>
                <p:nvPr/>
              </p:nvSpPr>
              <p:spPr bwMode="auto">
                <a:xfrm>
                  <a:off x="2701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D1D1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42" name="Freeform 656"/>
                <p:cNvSpPr>
                  <a:spLocks/>
                </p:cNvSpPr>
                <p:nvPr/>
              </p:nvSpPr>
              <p:spPr bwMode="auto">
                <a:xfrm>
                  <a:off x="2681" y="2063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2 w 4"/>
                    <a:gd name="T3" fmla="*/ 1 h 6"/>
                    <a:gd name="T4" fmla="*/ 0 w 4"/>
                    <a:gd name="T5" fmla="*/ 3 h 6"/>
                    <a:gd name="T6" fmla="*/ 2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2" y="1"/>
                      </a:lnTo>
                      <a:lnTo>
                        <a:pt x="0" y="3"/>
                      </a:lnTo>
                      <a:lnTo>
                        <a:pt x="2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43" name="Freeform 657"/>
                <p:cNvSpPr>
                  <a:spLocks/>
                </p:cNvSpPr>
                <p:nvPr/>
              </p:nvSpPr>
              <p:spPr bwMode="auto">
                <a:xfrm>
                  <a:off x="2685" y="2063"/>
                  <a:ext cx="15" cy="6"/>
                </a:xfrm>
                <a:custGeom>
                  <a:avLst/>
                  <a:gdLst>
                    <a:gd name="T0" fmla="*/ 15 w 15"/>
                    <a:gd name="T1" fmla="*/ 3 h 6"/>
                    <a:gd name="T2" fmla="*/ 15 w 15"/>
                    <a:gd name="T3" fmla="*/ 0 h 6"/>
                    <a:gd name="T4" fmla="*/ 0 w 15"/>
                    <a:gd name="T5" fmla="*/ 0 h 6"/>
                    <a:gd name="T6" fmla="*/ 0 w 15"/>
                    <a:gd name="T7" fmla="*/ 6 h 6"/>
                    <a:gd name="T8" fmla="*/ 15 w 15"/>
                    <a:gd name="T9" fmla="*/ 6 h 6"/>
                    <a:gd name="T10" fmla="*/ 15 w 15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5"/>
                    <a:gd name="T19" fmla="*/ 0 h 6"/>
                    <a:gd name="T20" fmla="*/ 15 w 15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5" h="6">
                      <a:moveTo>
                        <a:pt x="15" y="3"/>
                      </a:move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5" y="6"/>
                      </a:lnTo>
                      <a:lnTo>
                        <a:pt x="15" y="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44" name="Freeform 658"/>
                <p:cNvSpPr>
                  <a:spLocks/>
                </p:cNvSpPr>
                <p:nvPr/>
              </p:nvSpPr>
              <p:spPr bwMode="auto">
                <a:xfrm>
                  <a:off x="2700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45" name="Freeform 659"/>
                <p:cNvSpPr>
                  <a:spLocks/>
                </p:cNvSpPr>
                <p:nvPr/>
              </p:nvSpPr>
              <p:spPr bwMode="auto">
                <a:xfrm>
                  <a:off x="2684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2E2E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46" name="Freeform 660"/>
                <p:cNvSpPr>
                  <a:spLocks/>
                </p:cNvSpPr>
                <p:nvPr/>
              </p:nvSpPr>
              <p:spPr bwMode="auto">
                <a:xfrm>
                  <a:off x="2687" y="2063"/>
                  <a:ext cx="11" cy="6"/>
                </a:xfrm>
                <a:custGeom>
                  <a:avLst/>
                  <a:gdLst>
                    <a:gd name="T0" fmla="*/ 11 w 11"/>
                    <a:gd name="T1" fmla="*/ 3 h 6"/>
                    <a:gd name="T2" fmla="*/ 11 w 11"/>
                    <a:gd name="T3" fmla="*/ 0 h 6"/>
                    <a:gd name="T4" fmla="*/ 0 w 11"/>
                    <a:gd name="T5" fmla="*/ 0 h 6"/>
                    <a:gd name="T6" fmla="*/ 0 w 11"/>
                    <a:gd name="T7" fmla="*/ 6 h 6"/>
                    <a:gd name="T8" fmla="*/ 11 w 11"/>
                    <a:gd name="T9" fmla="*/ 6 h 6"/>
                    <a:gd name="T10" fmla="*/ 11 w 1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1"/>
                    <a:gd name="T19" fmla="*/ 0 h 6"/>
                    <a:gd name="T20" fmla="*/ 11 w 1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1" h="6">
                      <a:moveTo>
                        <a:pt x="11" y="3"/>
                      </a:moveTo>
                      <a:lnTo>
                        <a:pt x="1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1" y="6"/>
                      </a:lnTo>
                      <a:lnTo>
                        <a:pt x="11" y="3"/>
                      </a:lnTo>
                      <a:close/>
                    </a:path>
                  </a:pathLst>
                </a:custGeom>
                <a:solidFill>
                  <a:srgbClr val="E2E2E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47" name="Freeform 661"/>
                <p:cNvSpPr>
                  <a:spLocks/>
                </p:cNvSpPr>
                <p:nvPr/>
              </p:nvSpPr>
              <p:spPr bwMode="auto">
                <a:xfrm>
                  <a:off x="2698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E2E2E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48" name="Freeform 662"/>
                <p:cNvSpPr>
                  <a:spLocks/>
                </p:cNvSpPr>
                <p:nvPr/>
              </p:nvSpPr>
              <p:spPr bwMode="auto">
                <a:xfrm>
                  <a:off x="2685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DED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49" name="Freeform 663"/>
                <p:cNvSpPr>
                  <a:spLocks/>
                </p:cNvSpPr>
                <p:nvPr/>
              </p:nvSpPr>
              <p:spPr bwMode="auto">
                <a:xfrm>
                  <a:off x="2688" y="2063"/>
                  <a:ext cx="8" cy="6"/>
                </a:xfrm>
                <a:custGeom>
                  <a:avLst/>
                  <a:gdLst>
                    <a:gd name="T0" fmla="*/ 8 w 8"/>
                    <a:gd name="T1" fmla="*/ 3 h 6"/>
                    <a:gd name="T2" fmla="*/ 8 w 8"/>
                    <a:gd name="T3" fmla="*/ 0 h 6"/>
                    <a:gd name="T4" fmla="*/ 0 w 8"/>
                    <a:gd name="T5" fmla="*/ 0 h 6"/>
                    <a:gd name="T6" fmla="*/ 0 w 8"/>
                    <a:gd name="T7" fmla="*/ 6 h 6"/>
                    <a:gd name="T8" fmla="*/ 8 w 8"/>
                    <a:gd name="T9" fmla="*/ 6 h 6"/>
                    <a:gd name="T10" fmla="*/ 8 w 8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"/>
                    <a:gd name="T19" fmla="*/ 0 h 6"/>
                    <a:gd name="T20" fmla="*/ 8 w 8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" h="6">
                      <a:moveTo>
                        <a:pt x="8" y="3"/>
                      </a:moveTo>
                      <a:lnTo>
                        <a:pt x="8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8" y="6"/>
                      </a:lnTo>
                      <a:lnTo>
                        <a:pt x="8" y="3"/>
                      </a:lnTo>
                      <a:close/>
                    </a:path>
                  </a:pathLst>
                </a:custGeom>
                <a:solidFill>
                  <a:srgbClr val="EDED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50" name="Freeform 664"/>
                <p:cNvSpPr>
                  <a:spLocks/>
                </p:cNvSpPr>
                <p:nvPr/>
              </p:nvSpPr>
              <p:spPr bwMode="auto">
                <a:xfrm>
                  <a:off x="2696" y="2063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3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EDED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51" name="Freeform 665"/>
                <p:cNvSpPr>
                  <a:spLocks/>
                </p:cNvSpPr>
                <p:nvPr/>
              </p:nvSpPr>
              <p:spPr bwMode="auto">
                <a:xfrm>
                  <a:off x="2687" y="2063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52" name="Freeform 666"/>
                <p:cNvSpPr>
                  <a:spLocks/>
                </p:cNvSpPr>
                <p:nvPr/>
              </p:nvSpPr>
              <p:spPr bwMode="auto">
                <a:xfrm>
                  <a:off x="2689" y="2063"/>
                  <a:ext cx="6" cy="6"/>
                </a:xfrm>
                <a:custGeom>
                  <a:avLst/>
                  <a:gdLst>
                    <a:gd name="T0" fmla="*/ 6 w 6"/>
                    <a:gd name="T1" fmla="*/ 3 h 6"/>
                    <a:gd name="T2" fmla="*/ 6 w 6"/>
                    <a:gd name="T3" fmla="*/ 0 h 6"/>
                    <a:gd name="T4" fmla="*/ 0 w 6"/>
                    <a:gd name="T5" fmla="*/ 0 h 6"/>
                    <a:gd name="T6" fmla="*/ 0 w 6"/>
                    <a:gd name="T7" fmla="*/ 6 h 6"/>
                    <a:gd name="T8" fmla="*/ 6 w 6"/>
                    <a:gd name="T9" fmla="*/ 6 h 6"/>
                    <a:gd name="T10" fmla="*/ 6 w 6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"/>
                    <a:gd name="T19" fmla="*/ 0 h 6"/>
                    <a:gd name="T20" fmla="*/ 6 w 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" h="6">
                      <a:moveTo>
                        <a:pt x="6" y="3"/>
                      </a:move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6" y="6"/>
                      </a:lnTo>
                      <a:lnTo>
                        <a:pt x="6" y="3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53" name="Freeform 667"/>
                <p:cNvSpPr>
                  <a:spLocks/>
                </p:cNvSpPr>
                <p:nvPr/>
              </p:nvSpPr>
              <p:spPr bwMode="auto">
                <a:xfrm>
                  <a:off x="2695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3 w 3"/>
                    <a:gd name="T3" fmla="*/ 5 h 6"/>
                    <a:gd name="T4" fmla="*/ 3 w 3"/>
                    <a:gd name="T5" fmla="*/ 3 h 6"/>
                    <a:gd name="T6" fmla="*/ 3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3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54" name="Freeform 668"/>
                <p:cNvSpPr>
                  <a:spLocks/>
                </p:cNvSpPr>
                <p:nvPr/>
              </p:nvSpPr>
              <p:spPr bwMode="auto">
                <a:xfrm>
                  <a:off x="2688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55" name="Freeform 669"/>
                <p:cNvSpPr>
                  <a:spLocks/>
                </p:cNvSpPr>
                <p:nvPr/>
              </p:nvSpPr>
              <p:spPr bwMode="auto">
                <a:xfrm>
                  <a:off x="2691" y="2063"/>
                  <a:ext cx="2" cy="6"/>
                </a:xfrm>
                <a:custGeom>
                  <a:avLst/>
                  <a:gdLst>
                    <a:gd name="T0" fmla="*/ 2 w 2"/>
                    <a:gd name="T1" fmla="*/ 3 h 6"/>
                    <a:gd name="T2" fmla="*/ 2 w 2"/>
                    <a:gd name="T3" fmla="*/ 0 h 6"/>
                    <a:gd name="T4" fmla="*/ 0 w 2"/>
                    <a:gd name="T5" fmla="*/ 0 h 6"/>
                    <a:gd name="T6" fmla="*/ 0 w 2"/>
                    <a:gd name="T7" fmla="*/ 6 h 6"/>
                    <a:gd name="T8" fmla="*/ 2 w 2"/>
                    <a:gd name="T9" fmla="*/ 6 h 6"/>
                    <a:gd name="T10" fmla="*/ 2 w 2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3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2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56" name="Freeform 670"/>
                <p:cNvSpPr>
                  <a:spLocks/>
                </p:cNvSpPr>
                <p:nvPr/>
              </p:nvSpPr>
              <p:spPr bwMode="auto">
                <a:xfrm>
                  <a:off x="2693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57" name="Freeform 671"/>
                <p:cNvSpPr>
                  <a:spLocks/>
                </p:cNvSpPr>
                <p:nvPr/>
              </p:nvSpPr>
              <p:spPr bwMode="auto">
                <a:xfrm>
                  <a:off x="2662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58" name="Freeform 672"/>
                <p:cNvSpPr>
                  <a:spLocks/>
                </p:cNvSpPr>
                <p:nvPr/>
              </p:nvSpPr>
              <p:spPr bwMode="auto">
                <a:xfrm>
                  <a:off x="2665" y="2075"/>
                  <a:ext cx="53" cy="6"/>
                </a:xfrm>
                <a:custGeom>
                  <a:avLst/>
                  <a:gdLst>
                    <a:gd name="T0" fmla="*/ 53 w 53"/>
                    <a:gd name="T1" fmla="*/ 3 h 6"/>
                    <a:gd name="T2" fmla="*/ 53 w 53"/>
                    <a:gd name="T3" fmla="*/ 0 h 6"/>
                    <a:gd name="T4" fmla="*/ 0 w 53"/>
                    <a:gd name="T5" fmla="*/ 0 h 6"/>
                    <a:gd name="T6" fmla="*/ 0 w 53"/>
                    <a:gd name="T7" fmla="*/ 6 h 6"/>
                    <a:gd name="T8" fmla="*/ 53 w 53"/>
                    <a:gd name="T9" fmla="*/ 6 h 6"/>
                    <a:gd name="T10" fmla="*/ 53 w 53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3"/>
                    <a:gd name="T19" fmla="*/ 0 h 6"/>
                    <a:gd name="T20" fmla="*/ 53 w 5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3" h="6">
                      <a:moveTo>
                        <a:pt x="53" y="3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3" y="6"/>
                      </a:lnTo>
                      <a:lnTo>
                        <a:pt x="53" y="3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59" name="Freeform 673"/>
                <p:cNvSpPr>
                  <a:spLocks/>
                </p:cNvSpPr>
                <p:nvPr/>
              </p:nvSpPr>
              <p:spPr bwMode="auto">
                <a:xfrm>
                  <a:off x="2718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60" name="Freeform 674"/>
                <p:cNvSpPr>
                  <a:spLocks/>
                </p:cNvSpPr>
                <p:nvPr/>
              </p:nvSpPr>
              <p:spPr bwMode="auto">
                <a:xfrm>
                  <a:off x="2664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0 w 3"/>
                    <a:gd name="T3" fmla="*/ 1 h 6"/>
                    <a:gd name="T4" fmla="*/ 0 w 3"/>
                    <a:gd name="T5" fmla="*/ 3 h 6"/>
                    <a:gd name="T6" fmla="*/ 0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61" name="Freeform 675"/>
                <p:cNvSpPr>
                  <a:spLocks/>
                </p:cNvSpPr>
                <p:nvPr/>
              </p:nvSpPr>
              <p:spPr bwMode="auto">
                <a:xfrm>
                  <a:off x="2667" y="2075"/>
                  <a:ext cx="49" cy="6"/>
                </a:xfrm>
                <a:custGeom>
                  <a:avLst/>
                  <a:gdLst>
                    <a:gd name="T0" fmla="*/ 49 w 49"/>
                    <a:gd name="T1" fmla="*/ 3 h 6"/>
                    <a:gd name="T2" fmla="*/ 49 w 49"/>
                    <a:gd name="T3" fmla="*/ 0 h 6"/>
                    <a:gd name="T4" fmla="*/ 0 w 49"/>
                    <a:gd name="T5" fmla="*/ 0 h 6"/>
                    <a:gd name="T6" fmla="*/ 0 w 49"/>
                    <a:gd name="T7" fmla="*/ 6 h 6"/>
                    <a:gd name="T8" fmla="*/ 49 w 49"/>
                    <a:gd name="T9" fmla="*/ 6 h 6"/>
                    <a:gd name="T10" fmla="*/ 49 w 49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9"/>
                    <a:gd name="T19" fmla="*/ 0 h 6"/>
                    <a:gd name="T20" fmla="*/ 49 w 4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9" h="6">
                      <a:moveTo>
                        <a:pt x="49" y="3"/>
                      </a:moveTo>
                      <a:lnTo>
                        <a:pt x="4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9" y="6"/>
                      </a:lnTo>
                      <a:lnTo>
                        <a:pt x="49" y="3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62" name="Freeform 676"/>
                <p:cNvSpPr>
                  <a:spLocks/>
                </p:cNvSpPr>
                <p:nvPr/>
              </p:nvSpPr>
              <p:spPr bwMode="auto">
                <a:xfrm>
                  <a:off x="2716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63" name="Freeform 677"/>
                <p:cNvSpPr>
                  <a:spLocks/>
                </p:cNvSpPr>
                <p:nvPr/>
              </p:nvSpPr>
              <p:spPr bwMode="auto">
                <a:xfrm>
                  <a:off x="2667" y="2075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64" name="Freeform 678"/>
                <p:cNvSpPr>
                  <a:spLocks/>
                </p:cNvSpPr>
                <p:nvPr/>
              </p:nvSpPr>
              <p:spPr bwMode="auto">
                <a:xfrm>
                  <a:off x="2669" y="2075"/>
                  <a:ext cx="46" cy="6"/>
                </a:xfrm>
                <a:custGeom>
                  <a:avLst/>
                  <a:gdLst>
                    <a:gd name="T0" fmla="*/ 46 w 46"/>
                    <a:gd name="T1" fmla="*/ 3 h 6"/>
                    <a:gd name="T2" fmla="*/ 46 w 46"/>
                    <a:gd name="T3" fmla="*/ 0 h 6"/>
                    <a:gd name="T4" fmla="*/ 0 w 46"/>
                    <a:gd name="T5" fmla="*/ 0 h 6"/>
                    <a:gd name="T6" fmla="*/ 0 w 46"/>
                    <a:gd name="T7" fmla="*/ 6 h 6"/>
                    <a:gd name="T8" fmla="*/ 46 w 46"/>
                    <a:gd name="T9" fmla="*/ 6 h 6"/>
                    <a:gd name="T10" fmla="*/ 46 w 46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6"/>
                    <a:gd name="T19" fmla="*/ 0 h 6"/>
                    <a:gd name="T20" fmla="*/ 46 w 4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6" h="6">
                      <a:moveTo>
                        <a:pt x="46" y="3"/>
                      </a:moveTo>
                      <a:lnTo>
                        <a:pt x="4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6" y="6"/>
                      </a:lnTo>
                      <a:lnTo>
                        <a:pt x="46" y="3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65" name="Freeform 679"/>
                <p:cNvSpPr>
                  <a:spLocks/>
                </p:cNvSpPr>
                <p:nvPr/>
              </p:nvSpPr>
              <p:spPr bwMode="auto">
                <a:xfrm>
                  <a:off x="2715" y="2075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66" name="Freeform 680"/>
                <p:cNvSpPr>
                  <a:spLocks/>
                </p:cNvSpPr>
                <p:nvPr/>
              </p:nvSpPr>
              <p:spPr bwMode="auto">
                <a:xfrm>
                  <a:off x="2668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67" name="Freeform 681"/>
                <p:cNvSpPr>
                  <a:spLocks/>
                </p:cNvSpPr>
                <p:nvPr/>
              </p:nvSpPr>
              <p:spPr bwMode="auto">
                <a:xfrm>
                  <a:off x="2671" y="2075"/>
                  <a:ext cx="41" cy="6"/>
                </a:xfrm>
                <a:custGeom>
                  <a:avLst/>
                  <a:gdLst>
                    <a:gd name="T0" fmla="*/ 41 w 41"/>
                    <a:gd name="T1" fmla="*/ 3 h 6"/>
                    <a:gd name="T2" fmla="*/ 41 w 41"/>
                    <a:gd name="T3" fmla="*/ 0 h 6"/>
                    <a:gd name="T4" fmla="*/ 0 w 41"/>
                    <a:gd name="T5" fmla="*/ 0 h 6"/>
                    <a:gd name="T6" fmla="*/ 0 w 41"/>
                    <a:gd name="T7" fmla="*/ 6 h 6"/>
                    <a:gd name="T8" fmla="*/ 41 w 41"/>
                    <a:gd name="T9" fmla="*/ 6 h 6"/>
                    <a:gd name="T10" fmla="*/ 41 w 4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1"/>
                    <a:gd name="T19" fmla="*/ 0 h 6"/>
                    <a:gd name="T20" fmla="*/ 41 w 4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1" h="6">
                      <a:moveTo>
                        <a:pt x="41" y="3"/>
                      </a:move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1" y="6"/>
                      </a:lnTo>
                      <a:lnTo>
                        <a:pt x="41" y="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68" name="Freeform 682"/>
                <p:cNvSpPr>
                  <a:spLocks/>
                </p:cNvSpPr>
                <p:nvPr/>
              </p:nvSpPr>
              <p:spPr bwMode="auto">
                <a:xfrm>
                  <a:off x="2712" y="2075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3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69" name="Freeform 683"/>
                <p:cNvSpPr>
                  <a:spLocks/>
                </p:cNvSpPr>
                <p:nvPr/>
              </p:nvSpPr>
              <p:spPr bwMode="auto">
                <a:xfrm>
                  <a:off x="2670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70" name="Freeform 684"/>
                <p:cNvSpPr>
                  <a:spLocks/>
                </p:cNvSpPr>
                <p:nvPr/>
              </p:nvSpPr>
              <p:spPr bwMode="auto">
                <a:xfrm>
                  <a:off x="2673" y="2075"/>
                  <a:ext cx="37" cy="6"/>
                </a:xfrm>
                <a:custGeom>
                  <a:avLst/>
                  <a:gdLst>
                    <a:gd name="T0" fmla="*/ 37 w 37"/>
                    <a:gd name="T1" fmla="*/ 3 h 6"/>
                    <a:gd name="T2" fmla="*/ 37 w 37"/>
                    <a:gd name="T3" fmla="*/ 0 h 6"/>
                    <a:gd name="T4" fmla="*/ 0 w 37"/>
                    <a:gd name="T5" fmla="*/ 0 h 6"/>
                    <a:gd name="T6" fmla="*/ 0 w 37"/>
                    <a:gd name="T7" fmla="*/ 6 h 6"/>
                    <a:gd name="T8" fmla="*/ 37 w 37"/>
                    <a:gd name="T9" fmla="*/ 6 h 6"/>
                    <a:gd name="T10" fmla="*/ 37 w 3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7"/>
                    <a:gd name="T19" fmla="*/ 0 h 6"/>
                    <a:gd name="T20" fmla="*/ 37 w 3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7" h="6">
                      <a:moveTo>
                        <a:pt x="37" y="3"/>
                      </a:moveTo>
                      <a:lnTo>
                        <a:pt x="3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7" y="6"/>
                      </a:lnTo>
                      <a:lnTo>
                        <a:pt x="37" y="3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71" name="Freeform 685"/>
                <p:cNvSpPr>
                  <a:spLocks/>
                </p:cNvSpPr>
                <p:nvPr/>
              </p:nvSpPr>
              <p:spPr bwMode="auto">
                <a:xfrm>
                  <a:off x="2710" y="2075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2 w 4"/>
                    <a:gd name="T3" fmla="*/ 5 h 6"/>
                    <a:gd name="T4" fmla="*/ 4 w 4"/>
                    <a:gd name="T5" fmla="*/ 3 h 6"/>
                    <a:gd name="T6" fmla="*/ 2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4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72" name="Freeform 686"/>
                <p:cNvSpPr>
                  <a:spLocks/>
                </p:cNvSpPr>
                <p:nvPr/>
              </p:nvSpPr>
              <p:spPr bwMode="auto">
                <a:xfrm>
                  <a:off x="2672" y="2075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73" name="Freeform 687"/>
                <p:cNvSpPr>
                  <a:spLocks/>
                </p:cNvSpPr>
                <p:nvPr/>
              </p:nvSpPr>
              <p:spPr bwMode="auto">
                <a:xfrm>
                  <a:off x="2674" y="2075"/>
                  <a:ext cx="34" cy="6"/>
                </a:xfrm>
                <a:custGeom>
                  <a:avLst/>
                  <a:gdLst>
                    <a:gd name="T0" fmla="*/ 34 w 34"/>
                    <a:gd name="T1" fmla="*/ 3 h 6"/>
                    <a:gd name="T2" fmla="*/ 34 w 34"/>
                    <a:gd name="T3" fmla="*/ 0 h 6"/>
                    <a:gd name="T4" fmla="*/ 0 w 34"/>
                    <a:gd name="T5" fmla="*/ 0 h 6"/>
                    <a:gd name="T6" fmla="*/ 0 w 34"/>
                    <a:gd name="T7" fmla="*/ 6 h 6"/>
                    <a:gd name="T8" fmla="*/ 34 w 34"/>
                    <a:gd name="T9" fmla="*/ 6 h 6"/>
                    <a:gd name="T10" fmla="*/ 34 w 34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4"/>
                    <a:gd name="T19" fmla="*/ 0 h 6"/>
                    <a:gd name="T20" fmla="*/ 34 w 3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4" h="6">
                      <a:moveTo>
                        <a:pt x="34" y="3"/>
                      </a:moveTo>
                      <a:lnTo>
                        <a:pt x="3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4" y="6"/>
                      </a:lnTo>
                      <a:lnTo>
                        <a:pt x="34" y="3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74" name="Freeform 688"/>
                <p:cNvSpPr>
                  <a:spLocks/>
                </p:cNvSpPr>
                <p:nvPr/>
              </p:nvSpPr>
              <p:spPr bwMode="auto">
                <a:xfrm>
                  <a:off x="2708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75" name="Freeform 689"/>
                <p:cNvSpPr>
                  <a:spLocks/>
                </p:cNvSpPr>
                <p:nvPr/>
              </p:nvSpPr>
              <p:spPr bwMode="auto">
                <a:xfrm>
                  <a:off x="2674" y="2075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76" name="Freeform 690"/>
                <p:cNvSpPr>
                  <a:spLocks/>
                </p:cNvSpPr>
                <p:nvPr/>
              </p:nvSpPr>
              <p:spPr bwMode="auto">
                <a:xfrm>
                  <a:off x="2676" y="2075"/>
                  <a:ext cx="31" cy="6"/>
                </a:xfrm>
                <a:custGeom>
                  <a:avLst/>
                  <a:gdLst>
                    <a:gd name="T0" fmla="*/ 31 w 31"/>
                    <a:gd name="T1" fmla="*/ 3 h 6"/>
                    <a:gd name="T2" fmla="*/ 31 w 31"/>
                    <a:gd name="T3" fmla="*/ 0 h 6"/>
                    <a:gd name="T4" fmla="*/ 0 w 31"/>
                    <a:gd name="T5" fmla="*/ 0 h 6"/>
                    <a:gd name="T6" fmla="*/ 0 w 31"/>
                    <a:gd name="T7" fmla="*/ 6 h 6"/>
                    <a:gd name="T8" fmla="*/ 31 w 31"/>
                    <a:gd name="T9" fmla="*/ 6 h 6"/>
                    <a:gd name="T10" fmla="*/ 31 w 3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1"/>
                    <a:gd name="T19" fmla="*/ 0 h 6"/>
                    <a:gd name="T20" fmla="*/ 31 w 3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1" h="6">
                      <a:moveTo>
                        <a:pt x="31" y="3"/>
                      </a:moveTo>
                      <a:lnTo>
                        <a:pt x="3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1" y="6"/>
                      </a:lnTo>
                      <a:lnTo>
                        <a:pt x="31" y="3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77" name="Freeform 691"/>
                <p:cNvSpPr>
                  <a:spLocks/>
                </p:cNvSpPr>
                <p:nvPr/>
              </p:nvSpPr>
              <p:spPr bwMode="auto">
                <a:xfrm>
                  <a:off x="2707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78" name="Freeform 692"/>
                <p:cNvSpPr>
                  <a:spLocks/>
                </p:cNvSpPr>
                <p:nvPr/>
              </p:nvSpPr>
              <p:spPr bwMode="auto">
                <a:xfrm>
                  <a:off x="2676" y="2075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79" name="Freeform 693"/>
                <p:cNvSpPr>
                  <a:spLocks/>
                </p:cNvSpPr>
                <p:nvPr/>
              </p:nvSpPr>
              <p:spPr bwMode="auto">
                <a:xfrm>
                  <a:off x="2678" y="2075"/>
                  <a:ext cx="27" cy="6"/>
                </a:xfrm>
                <a:custGeom>
                  <a:avLst/>
                  <a:gdLst>
                    <a:gd name="T0" fmla="*/ 27 w 27"/>
                    <a:gd name="T1" fmla="*/ 3 h 6"/>
                    <a:gd name="T2" fmla="*/ 27 w 27"/>
                    <a:gd name="T3" fmla="*/ 0 h 6"/>
                    <a:gd name="T4" fmla="*/ 0 w 27"/>
                    <a:gd name="T5" fmla="*/ 0 h 6"/>
                    <a:gd name="T6" fmla="*/ 0 w 27"/>
                    <a:gd name="T7" fmla="*/ 6 h 6"/>
                    <a:gd name="T8" fmla="*/ 27 w 27"/>
                    <a:gd name="T9" fmla="*/ 6 h 6"/>
                    <a:gd name="T10" fmla="*/ 27 w 2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7"/>
                    <a:gd name="T19" fmla="*/ 0 h 6"/>
                    <a:gd name="T20" fmla="*/ 27 w 2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7" h="6">
                      <a:moveTo>
                        <a:pt x="27" y="3"/>
                      </a:moveTo>
                      <a:lnTo>
                        <a:pt x="2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7" y="6"/>
                      </a:lnTo>
                      <a:lnTo>
                        <a:pt x="27" y="3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80" name="Freeform 694"/>
                <p:cNvSpPr>
                  <a:spLocks/>
                </p:cNvSpPr>
                <p:nvPr/>
              </p:nvSpPr>
              <p:spPr bwMode="auto">
                <a:xfrm>
                  <a:off x="2705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81" name="Freeform 695"/>
                <p:cNvSpPr>
                  <a:spLocks/>
                </p:cNvSpPr>
                <p:nvPr/>
              </p:nvSpPr>
              <p:spPr bwMode="auto">
                <a:xfrm>
                  <a:off x="2678" y="2075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82" name="Freeform 696"/>
                <p:cNvSpPr>
                  <a:spLocks/>
                </p:cNvSpPr>
                <p:nvPr/>
              </p:nvSpPr>
              <p:spPr bwMode="auto">
                <a:xfrm>
                  <a:off x="2680" y="2075"/>
                  <a:ext cx="24" cy="6"/>
                </a:xfrm>
                <a:custGeom>
                  <a:avLst/>
                  <a:gdLst>
                    <a:gd name="T0" fmla="*/ 24 w 24"/>
                    <a:gd name="T1" fmla="*/ 3 h 6"/>
                    <a:gd name="T2" fmla="*/ 24 w 24"/>
                    <a:gd name="T3" fmla="*/ 0 h 6"/>
                    <a:gd name="T4" fmla="*/ 0 w 24"/>
                    <a:gd name="T5" fmla="*/ 0 h 6"/>
                    <a:gd name="T6" fmla="*/ 0 w 24"/>
                    <a:gd name="T7" fmla="*/ 6 h 6"/>
                    <a:gd name="T8" fmla="*/ 24 w 24"/>
                    <a:gd name="T9" fmla="*/ 6 h 6"/>
                    <a:gd name="T10" fmla="*/ 24 w 24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4"/>
                    <a:gd name="T19" fmla="*/ 0 h 6"/>
                    <a:gd name="T20" fmla="*/ 24 w 2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4" h="6">
                      <a:moveTo>
                        <a:pt x="24" y="3"/>
                      </a:moveTo>
                      <a:lnTo>
                        <a:pt x="2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4" y="6"/>
                      </a:lnTo>
                      <a:lnTo>
                        <a:pt x="24" y="3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83" name="Freeform 697"/>
                <p:cNvSpPr>
                  <a:spLocks/>
                </p:cNvSpPr>
                <p:nvPr/>
              </p:nvSpPr>
              <p:spPr bwMode="auto">
                <a:xfrm>
                  <a:off x="2704" y="2075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84" name="Freeform 698"/>
                <p:cNvSpPr>
                  <a:spLocks/>
                </p:cNvSpPr>
                <p:nvPr/>
              </p:nvSpPr>
              <p:spPr bwMode="auto">
                <a:xfrm>
                  <a:off x="2680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0 w 3"/>
                    <a:gd name="T3" fmla="*/ 1 h 6"/>
                    <a:gd name="T4" fmla="*/ 0 w 3"/>
                    <a:gd name="T5" fmla="*/ 3 h 6"/>
                    <a:gd name="T6" fmla="*/ 0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85" name="Freeform 699"/>
                <p:cNvSpPr>
                  <a:spLocks/>
                </p:cNvSpPr>
                <p:nvPr/>
              </p:nvSpPr>
              <p:spPr bwMode="auto">
                <a:xfrm>
                  <a:off x="2683" y="2075"/>
                  <a:ext cx="19" cy="6"/>
                </a:xfrm>
                <a:custGeom>
                  <a:avLst/>
                  <a:gdLst>
                    <a:gd name="T0" fmla="*/ 19 w 19"/>
                    <a:gd name="T1" fmla="*/ 3 h 6"/>
                    <a:gd name="T2" fmla="*/ 19 w 19"/>
                    <a:gd name="T3" fmla="*/ 0 h 6"/>
                    <a:gd name="T4" fmla="*/ 0 w 19"/>
                    <a:gd name="T5" fmla="*/ 0 h 6"/>
                    <a:gd name="T6" fmla="*/ 0 w 19"/>
                    <a:gd name="T7" fmla="*/ 6 h 6"/>
                    <a:gd name="T8" fmla="*/ 19 w 19"/>
                    <a:gd name="T9" fmla="*/ 6 h 6"/>
                    <a:gd name="T10" fmla="*/ 19 w 19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6"/>
                    <a:gd name="T20" fmla="*/ 19 w 1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6">
                      <a:moveTo>
                        <a:pt x="19" y="3"/>
                      </a:moveTo>
                      <a:lnTo>
                        <a:pt x="1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9" y="6"/>
                      </a:lnTo>
                      <a:lnTo>
                        <a:pt x="19" y="3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86" name="Freeform 700"/>
                <p:cNvSpPr>
                  <a:spLocks/>
                </p:cNvSpPr>
                <p:nvPr/>
              </p:nvSpPr>
              <p:spPr bwMode="auto">
                <a:xfrm>
                  <a:off x="2702" y="2075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87" name="Freeform 701"/>
                <p:cNvSpPr>
                  <a:spLocks/>
                </p:cNvSpPr>
                <p:nvPr/>
              </p:nvSpPr>
              <p:spPr bwMode="auto">
                <a:xfrm>
                  <a:off x="2681" y="2075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2 w 4"/>
                    <a:gd name="T3" fmla="*/ 1 h 6"/>
                    <a:gd name="T4" fmla="*/ 0 w 4"/>
                    <a:gd name="T5" fmla="*/ 3 h 6"/>
                    <a:gd name="T6" fmla="*/ 2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2" y="1"/>
                      </a:lnTo>
                      <a:lnTo>
                        <a:pt x="0" y="3"/>
                      </a:lnTo>
                      <a:lnTo>
                        <a:pt x="2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88" name="Freeform 702"/>
                <p:cNvSpPr>
                  <a:spLocks/>
                </p:cNvSpPr>
                <p:nvPr/>
              </p:nvSpPr>
              <p:spPr bwMode="auto">
                <a:xfrm>
                  <a:off x="2685" y="2075"/>
                  <a:ext cx="15" cy="6"/>
                </a:xfrm>
                <a:custGeom>
                  <a:avLst/>
                  <a:gdLst>
                    <a:gd name="T0" fmla="*/ 15 w 15"/>
                    <a:gd name="T1" fmla="*/ 3 h 6"/>
                    <a:gd name="T2" fmla="*/ 15 w 15"/>
                    <a:gd name="T3" fmla="*/ 0 h 6"/>
                    <a:gd name="T4" fmla="*/ 0 w 15"/>
                    <a:gd name="T5" fmla="*/ 0 h 6"/>
                    <a:gd name="T6" fmla="*/ 0 w 15"/>
                    <a:gd name="T7" fmla="*/ 6 h 6"/>
                    <a:gd name="T8" fmla="*/ 15 w 15"/>
                    <a:gd name="T9" fmla="*/ 6 h 6"/>
                    <a:gd name="T10" fmla="*/ 15 w 15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5"/>
                    <a:gd name="T19" fmla="*/ 0 h 6"/>
                    <a:gd name="T20" fmla="*/ 15 w 15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5" h="6">
                      <a:moveTo>
                        <a:pt x="15" y="3"/>
                      </a:move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5" y="6"/>
                      </a:lnTo>
                      <a:lnTo>
                        <a:pt x="15" y="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89" name="Freeform 703"/>
                <p:cNvSpPr>
                  <a:spLocks/>
                </p:cNvSpPr>
                <p:nvPr/>
              </p:nvSpPr>
              <p:spPr bwMode="auto">
                <a:xfrm>
                  <a:off x="2700" y="2075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90" name="Freeform 704"/>
                <p:cNvSpPr>
                  <a:spLocks/>
                </p:cNvSpPr>
                <p:nvPr/>
              </p:nvSpPr>
              <p:spPr bwMode="auto">
                <a:xfrm>
                  <a:off x="2684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91" name="Freeform 705"/>
                <p:cNvSpPr>
                  <a:spLocks/>
                </p:cNvSpPr>
                <p:nvPr/>
              </p:nvSpPr>
              <p:spPr bwMode="auto">
                <a:xfrm>
                  <a:off x="2687" y="2075"/>
                  <a:ext cx="11" cy="6"/>
                </a:xfrm>
                <a:custGeom>
                  <a:avLst/>
                  <a:gdLst>
                    <a:gd name="T0" fmla="*/ 11 w 11"/>
                    <a:gd name="T1" fmla="*/ 3 h 6"/>
                    <a:gd name="T2" fmla="*/ 11 w 11"/>
                    <a:gd name="T3" fmla="*/ 0 h 6"/>
                    <a:gd name="T4" fmla="*/ 0 w 11"/>
                    <a:gd name="T5" fmla="*/ 0 h 6"/>
                    <a:gd name="T6" fmla="*/ 0 w 11"/>
                    <a:gd name="T7" fmla="*/ 6 h 6"/>
                    <a:gd name="T8" fmla="*/ 11 w 11"/>
                    <a:gd name="T9" fmla="*/ 6 h 6"/>
                    <a:gd name="T10" fmla="*/ 11 w 1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1"/>
                    <a:gd name="T19" fmla="*/ 0 h 6"/>
                    <a:gd name="T20" fmla="*/ 11 w 1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1" h="6">
                      <a:moveTo>
                        <a:pt x="11" y="3"/>
                      </a:moveTo>
                      <a:lnTo>
                        <a:pt x="1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1" y="6"/>
                      </a:lnTo>
                      <a:lnTo>
                        <a:pt x="11" y="3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92" name="Freeform 706"/>
                <p:cNvSpPr>
                  <a:spLocks/>
                </p:cNvSpPr>
                <p:nvPr/>
              </p:nvSpPr>
              <p:spPr bwMode="auto">
                <a:xfrm>
                  <a:off x="2698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93" name="Freeform 707"/>
                <p:cNvSpPr>
                  <a:spLocks/>
                </p:cNvSpPr>
                <p:nvPr/>
              </p:nvSpPr>
              <p:spPr bwMode="auto">
                <a:xfrm>
                  <a:off x="2686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94" name="Freeform 708"/>
                <p:cNvSpPr>
                  <a:spLocks/>
                </p:cNvSpPr>
                <p:nvPr/>
              </p:nvSpPr>
              <p:spPr bwMode="auto">
                <a:xfrm>
                  <a:off x="2689" y="2075"/>
                  <a:ext cx="6" cy="6"/>
                </a:xfrm>
                <a:custGeom>
                  <a:avLst/>
                  <a:gdLst>
                    <a:gd name="T0" fmla="*/ 6 w 6"/>
                    <a:gd name="T1" fmla="*/ 3 h 6"/>
                    <a:gd name="T2" fmla="*/ 6 w 6"/>
                    <a:gd name="T3" fmla="*/ 0 h 6"/>
                    <a:gd name="T4" fmla="*/ 0 w 6"/>
                    <a:gd name="T5" fmla="*/ 0 h 6"/>
                    <a:gd name="T6" fmla="*/ 0 w 6"/>
                    <a:gd name="T7" fmla="*/ 6 h 6"/>
                    <a:gd name="T8" fmla="*/ 6 w 6"/>
                    <a:gd name="T9" fmla="*/ 6 h 6"/>
                    <a:gd name="T10" fmla="*/ 6 w 6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"/>
                    <a:gd name="T19" fmla="*/ 0 h 6"/>
                    <a:gd name="T20" fmla="*/ 6 w 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" h="6">
                      <a:moveTo>
                        <a:pt x="6" y="3"/>
                      </a:move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6" y="6"/>
                      </a:lnTo>
                      <a:lnTo>
                        <a:pt x="6" y="3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95" name="Freeform 709"/>
                <p:cNvSpPr>
                  <a:spLocks/>
                </p:cNvSpPr>
                <p:nvPr/>
              </p:nvSpPr>
              <p:spPr bwMode="auto">
                <a:xfrm>
                  <a:off x="2695" y="2075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3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96" name="Freeform 710"/>
                <p:cNvSpPr>
                  <a:spLocks/>
                </p:cNvSpPr>
                <p:nvPr/>
              </p:nvSpPr>
              <p:spPr bwMode="auto">
                <a:xfrm>
                  <a:off x="2688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97" name="Freeform 711"/>
                <p:cNvSpPr>
                  <a:spLocks/>
                </p:cNvSpPr>
                <p:nvPr/>
              </p:nvSpPr>
              <p:spPr bwMode="auto">
                <a:xfrm>
                  <a:off x="2691" y="2075"/>
                  <a:ext cx="2" cy="6"/>
                </a:xfrm>
                <a:custGeom>
                  <a:avLst/>
                  <a:gdLst>
                    <a:gd name="T0" fmla="*/ 2 w 2"/>
                    <a:gd name="T1" fmla="*/ 3 h 6"/>
                    <a:gd name="T2" fmla="*/ 2 w 2"/>
                    <a:gd name="T3" fmla="*/ 0 h 6"/>
                    <a:gd name="T4" fmla="*/ 0 w 2"/>
                    <a:gd name="T5" fmla="*/ 0 h 6"/>
                    <a:gd name="T6" fmla="*/ 0 w 2"/>
                    <a:gd name="T7" fmla="*/ 6 h 6"/>
                    <a:gd name="T8" fmla="*/ 2 w 2"/>
                    <a:gd name="T9" fmla="*/ 6 h 6"/>
                    <a:gd name="T10" fmla="*/ 2 w 2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3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2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98" name="Freeform 712"/>
                <p:cNvSpPr>
                  <a:spLocks/>
                </p:cNvSpPr>
                <p:nvPr/>
              </p:nvSpPr>
              <p:spPr bwMode="auto">
                <a:xfrm>
                  <a:off x="2693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99" name="Freeform 713"/>
                <p:cNvSpPr>
                  <a:spLocks/>
                </p:cNvSpPr>
                <p:nvPr/>
              </p:nvSpPr>
              <p:spPr bwMode="auto">
                <a:xfrm>
                  <a:off x="2662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00" name="Freeform 714"/>
                <p:cNvSpPr>
                  <a:spLocks/>
                </p:cNvSpPr>
                <p:nvPr/>
              </p:nvSpPr>
              <p:spPr bwMode="auto">
                <a:xfrm>
                  <a:off x="2665" y="2087"/>
                  <a:ext cx="53" cy="6"/>
                </a:xfrm>
                <a:custGeom>
                  <a:avLst/>
                  <a:gdLst>
                    <a:gd name="T0" fmla="*/ 53 w 53"/>
                    <a:gd name="T1" fmla="*/ 2 h 6"/>
                    <a:gd name="T2" fmla="*/ 53 w 53"/>
                    <a:gd name="T3" fmla="*/ 0 h 6"/>
                    <a:gd name="T4" fmla="*/ 0 w 53"/>
                    <a:gd name="T5" fmla="*/ 0 h 6"/>
                    <a:gd name="T6" fmla="*/ 0 w 53"/>
                    <a:gd name="T7" fmla="*/ 6 h 6"/>
                    <a:gd name="T8" fmla="*/ 53 w 53"/>
                    <a:gd name="T9" fmla="*/ 6 h 6"/>
                    <a:gd name="T10" fmla="*/ 53 w 53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3"/>
                    <a:gd name="T19" fmla="*/ 0 h 6"/>
                    <a:gd name="T20" fmla="*/ 53 w 5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3" h="6">
                      <a:moveTo>
                        <a:pt x="53" y="2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3" y="6"/>
                      </a:lnTo>
                      <a:lnTo>
                        <a:pt x="53" y="2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01" name="Freeform 715"/>
                <p:cNvSpPr>
                  <a:spLocks/>
                </p:cNvSpPr>
                <p:nvPr/>
              </p:nvSpPr>
              <p:spPr bwMode="auto">
                <a:xfrm>
                  <a:off x="2718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02" name="Freeform 716"/>
                <p:cNvSpPr>
                  <a:spLocks/>
                </p:cNvSpPr>
                <p:nvPr/>
              </p:nvSpPr>
              <p:spPr bwMode="auto">
                <a:xfrm>
                  <a:off x="2664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0 w 3"/>
                    <a:gd name="T3" fmla="*/ 1 h 6"/>
                    <a:gd name="T4" fmla="*/ 0 w 3"/>
                    <a:gd name="T5" fmla="*/ 2 h 6"/>
                    <a:gd name="T6" fmla="*/ 0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03" name="Freeform 717"/>
                <p:cNvSpPr>
                  <a:spLocks/>
                </p:cNvSpPr>
                <p:nvPr/>
              </p:nvSpPr>
              <p:spPr bwMode="auto">
                <a:xfrm>
                  <a:off x="2667" y="2087"/>
                  <a:ext cx="49" cy="6"/>
                </a:xfrm>
                <a:custGeom>
                  <a:avLst/>
                  <a:gdLst>
                    <a:gd name="T0" fmla="*/ 49 w 49"/>
                    <a:gd name="T1" fmla="*/ 2 h 6"/>
                    <a:gd name="T2" fmla="*/ 49 w 49"/>
                    <a:gd name="T3" fmla="*/ 0 h 6"/>
                    <a:gd name="T4" fmla="*/ 0 w 49"/>
                    <a:gd name="T5" fmla="*/ 0 h 6"/>
                    <a:gd name="T6" fmla="*/ 0 w 49"/>
                    <a:gd name="T7" fmla="*/ 6 h 6"/>
                    <a:gd name="T8" fmla="*/ 49 w 49"/>
                    <a:gd name="T9" fmla="*/ 6 h 6"/>
                    <a:gd name="T10" fmla="*/ 49 w 49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9"/>
                    <a:gd name="T19" fmla="*/ 0 h 6"/>
                    <a:gd name="T20" fmla="*/ 49 w 4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9" h="6">
                      <a:moveTo>
                        <a:pt x="49" y="2"/>
                      </a:moveTo>
                      <a:lnTo>
                        <a:pt x="4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9" y="6"/>
                      </a:lnTo>
                      <a:lnTo>
                        <a:pt x="49" y="2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04" name="Freeform 718"/>
                <p:cNvSpPr>
                  <a:spLocks/>
                </p:cNvSpPr>
                <p:nvPr/>
              </p:nvSpPr>
              <p:spPr bwMode="auto">
                <a:xfrm>
                  <a:off x="2716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05" name="Freeform 719"/>
                <p:cNvSpPr>
                  <a:spLocks/>
                </p:cNvSpPr>
                <p:nvPr/>
              </p:nvSpPr>
              <p:spPr bwMode="auto">
                <a:xfrm>
                  <a:off x="2667" y="2087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2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06" name="Freeform 720"/>
                <p:cNvSpPr>
                  <a:spLocks/>
                </p:cNvSpPr>
                <p:nvPr/>
              </p:nvSpPr>
              <p:spPr bwMode="auto">
                <a:xfrm>
                  <a:off x="2669" y="2087"/>
                  <a:ext cx="46" cy="6"/>
                </a:xfrm>
                <a:custGeom>
                  <a:avLst/>
                  <a:gdLst>
                    <a:gd name="T0" fmla="*/ 46 w 46"/>
                    <a:gd name="T1" fmla="*/ 2 h 6"/>
                    <a:gd name="T2" fmla="*/ 46 w 46"/>
                    <a:gd name="T3" fmla="*/ 0 h 6"/>
                    <a:gd name="T4" fmla="*/ 0 w 46"/>
                    <a:gd name="T5" fmla="*/ 0 h 6"/>
                    <a:gd name="T6" fmla="*/ 0 w 46"/>
                    <a:gd name="T7" fmla="*/ 6 h 6"/>
                    <a:gd name="T8" fmla="*/ 46 w 46"/>
                    <a:gd name="T9" fmla="*/ 6 h 6"/>
                    <a:gd name="T10" fmla="*/ 46 w 46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6"/>
                    <a:gd name="T19" fmla="*/ 0 h 6"/>
                    <a:gd name="T20" fmla="*/ 46 w 4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6" h="6">
                      <a:moveTo>
                        <a:pt x="46" y="2"/>
                      </a:moveTo>
                      <a:lnTo>
                        <a:pt x="4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6" y="6"/>
                      </a:lnTo>
                      <a:lnTo>
                        <a:pt x="46" y="2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07" name="Freeform 721"/>
                <p:cNvSpPr>
                  <a:spLocks/>
                </p:cNvSpPr>
                <p:nvPr/>
              </p:nvSpPr>
              <p:spPr bwMode="auto">
                <a:xfrm>
                  <a:off x="2715" y="2087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2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08" name="Freeform 722"/>
                <p:cNvSpPr>
                  <a:spLocks/>
                </p:cNvSpPr>
                <p:nvPr/>
              </p:nvSpPr>
              <p:spPr bwMode="auto">
                <a:xfrm>
                  <a:off x="2668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09" name="Freeform 723"/>
                <p:cNvSpPr>
                  <a:spLocks/>
                </p:cNvSpPr>
                <p:nvPr/>
              </p:nvSpPr>
              <p:spPr bwMode="auto">
                <a:xfrm>
                  <a:off x="2671" y="2087"/>
                  <a:ext cx="41" cy="6"/>
                </a:xfrm>
                <a:custGeom>
                  <a:avLst/>
                  <a:gdLst>
                    <a:gd name="T0" fmla="*/ 41 w 41"/>
                    <a:gd name="T1" fmla="*/ 2 h 6"/>
                    <a:gd name="T2" fmla="*/ 41 w 41"/>
                    <a:gd name="T3" fmla="*/ 0 h 6"/>
                    <a:gd name="T4" fmla="*/ 0 w 41"/>
                    <a:gd name="T5" fmla="*/ 0 h 6"/>
                    <a:gd name="T6" fmla="*/ 0 w 41"/>
                    <a:gd name="T7" fmla="*/ 6 h 6"/>
                    <a:gd name="T8" fmla="*/ 41 w 41"/>
                    <a:gd name="T9" fmla="*/ 6 h 6"/>
                    <a:gd name="T10" fmla="*/ 41 w 41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1"/>
                    <a:gd name="T19" fmla="*/ 0 h 6"/>
                    <a:gd name="T20" fmla="*/ 41 w 4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1" h="6">
                      <a:moveTo>
                        <a:pt x="41" y="2"/>
                      </a:move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1" y="6"/>
                      </a:lnTo>
                      <a:lnTo>
                        <a:pt x="41" y="2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10" name="Freeform 724"/>
                <p:cNvSpPr>
                  <a:spLocks/>
                </p:cNvSpPr>
                <p:nvPr/>
              </p:nvSpPr>
              <p:spPr bwMode="auto">
                <a:xfrm>
                  <a:off x="2712" y="2087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2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2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11" name="Freeform 725"/>
                <p:cNvSpPr>
                  <a:spLocks/>
                </p:cNvSpPr>
                <p:nvPr/>
              </p:nvSpPr>
              <p:spPr bwMode="auto">
                <a:xfrm>
                  <a:off x="2670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12" name="Freeform 726"/>
                <p:cNvSpPr>
                  <a:spLocks/>
                </p:cNvSpPr>
                <p:nvPr/>
              </p:nvSpPr>
              <p:spPr bwMode="auto">
                <a:xfrm>
                  <a:off x="2673" y="2087"/>
                  <a:ext cx="37" cy="6"/>
                </a:xfrm>
                <a:custGeom>
                  <a:avLst/>
                  <a:gdLst>
                    <a:gd name="T0" fmla="*/ 37 w 37"/>
                    <a:gd name="T1" fmla="*/ 2 h 6"/>
                    <a:gd name="T2" fmla="*/ 37 w 37"/>
                    <a:gd name="T3" fmla="*/ 0 h 6"/>
                    <a:gd name="T4" fmla="*/ 0 w 37"/>
                    <a:gd name="T5" fmla="*/ 0 h 6"/>
                    <a:gd name="T6" fmla="*/ 0 w 37"/>
                    <a:gd name="T7" fmla="*/ 6 h 6"/>
                    <a:gd name="T8" fmla="*/ 37 w 37"/>
                    <a:gd name="T9" fmla="*/ 6 h 6"/>
                    <a:gd name="T10" fmla="*/ 37 w 37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7"/>
                    <a:gd name="T19" fmla="*/ 0 h 6"/>
                    <a:gd name="T20" fmla="*/ 37 w 3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7" h="6">
                      <a:moveTo>
                        <a:pt x="37" y="2"/>
                      </a:moveTo>
                      <a:lnTo>
                        <a:pt x="3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7" y="6"/>
                      </a:lnTo>
                      <a:lnTo>
                        <a:pt x="37" y="2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13" name="Freeform 727"/>
                <p:cNvSpPr>
                  <a:spLocks/>
                </p:cNvSpPr>
                <p:nvPr/>
              </p:nvSpPr>
              <p:spPr bwMode="auto">
                <a:xfrm>
                  <a:off x="2710" y="2087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2 w 4"/>
                    <a:gd name="T3" fmla="*/ 5 h 6"/>
                    <a:gd name="T4" fmla="*/ 4 w 4"/>
                    <a:gd name="T5" fmla="*/ 2 h 6"/>
                    <a:gd name="T6" fmla="*/ 2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4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14" name="Freeform 728"/>
                <p:cNvSpPr>
                  <a:spLocks/>
                </p:cNvSpPr>
                <p:nvPr/>
              </p:nvSpPr>
              <p:spPr bwMode="auto">
                <a:xfrm>
                  <a:off x="2672" y="2087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2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15" name="Freeform 729"/>
                <p:cNvSpPr>
                  <a:spLocks/>
                </p:cNvSpPr>
                <p:nvPr/>
              </p:nvSpPr>
              <p:spPr bwMode="auto">
                <a:xfrm>
                  <a:off x="2674" y="2087"/>
                  <a:ext cx="34" cy="6"/>
                </a:xfrm>
                <a:custGeom>
                  <a:avLst/>
                  <a:gdLst>
                    <a:gd name="T0" fmla="*/ 34 w 34"/>
                    <a:gd name="T1" fmla="*/ 2 h 6"/>
                    <a:gd name="T2" fmla="*/ 34 w 34"/>
                    <a:gd name="T3" fmla="*/ 0 h 6"/>
                    <a:gd name="T4" fmla="*/ 0 w 34"/>
                    <a:gd name="T5" fmla="*/ 0 h 6"/>
                    <a:gd name="T6" fmla="*/ 0 w 34"/>
                    <a:gd name="T7" fmla="*/ 6 h 6"/>
                    <a:gd name="T8" fmla="*/ 34 w 34"/>
                    <a:gd name="T9" fmla="*/ 6 h 6"/>
                    <a:gd name="T10" fmla="*/ 34 w 34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4"/>
                    <a:gd name="T19" fmla="*/ 0 h 6"/>
                    <a:gd name="T20" fmla="*/ 34 w 3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4" h="6">
                      <a:moveTo>
                        <a:pt x="34" y="2"/>
                      </a:moveTo>
                      <a:lnTo>
                        <a:pt x="3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4" y="6"/>
                      </a:lnTo>
                      <a:lnTo>
                        <a:pt x="34" y="2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16" name="Freeform 730"/>
                <p:cNvSpPr>
                  <a:spLocks/>
                </p:cNvSpPr>
                <p:nvPr/>
              </p:nvSpPr>
              <p:spPr bwMode="auto">
                <a:xfrm>
                  <a:off x="2708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17" name="Freeform 731"/>
                <p:cNvSpPr>
                  <a:spLocks/>
                </p:cNvSpPr>
                <p:nvPr/>
              </p:nvSpPr>
              <p:spPr bwMode="auto">
                <a:xfrm>
                  <a:off x="2674" y="2087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2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18" name="Freeform 732"/>
                <p:cNvSpPr>
                  <a:spLocks/>
                </p:cNvSpPr>
                <p:nvPr/>
              </p:nvSpPr>
              <p:spPr bwMode="auto">
                <a:xfrm>
                  <a:off x="2676" y="2087"/>
                  <a:ext cx="31" cy="6"/>
                </a:xfrm>
                <a:custGeom>
                  <a:avLst/>
                  <a:gdLst>
                    <a:gd name="T0" fmla="*/ 31 w 31"/>
                    <a:gd name="T1" fmla="*/ 2 h 6"/>
                    <a:gd name="T2" fmla="*/ 31 w 31"/>
                    <a:gd name="T3" fmla="*/ 0 h 6"/>
                    <a:gd name="T4" fmla="*/ 0 w 31"/>
                    <a:gd name="T5" fmla="*/ 0 h 6"/>
                    <a:gd name="T6" fmla="*/ 0 w 31"/>
                    <a:gd name="T7" fmla="*/ 6 h 6"/>
                    <a:gd name="T8" fmla="*/ 31 w 31"/>
                    <a:gd name="T9" fmla="*/ 6 h 6"/>
                    <a:gd name="T10" fmla="*/ 31 w 31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1"/>
                    <a:gd name="T19" fmla="*/ 0 h 6"/>
                    <a:gd name="T20" fmla="*/ 31 w 3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1" h="6">
                      <a:moveTo>
                        <a:pt x="31" y="2"/>
                      </a:moveTo>
                      <a:lnTo>
                        <a:pt x="3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1" y="6"/>
                      </a:lnTo>
                      <a:lnTo>
                        <a:pt x="31" y="2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19" name="Freeform 733"/>
                <p:cNvSpPr>
                  <a:spLocks/>
                </p:cNvSpPr>
                <p:nvPr/>
              </p:nvSpPr>
              <p:spPr bwMode="auto">
                <a:xfrm>
                  <a:off x="2707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20" name="Freeform 734"/>
                <p:cNvSpPr>
                  <a:spLocks/>
                </p:cNvSpPr>
                <p:nvPr/>
              </p:nvSpPr>
              <p:spPr bwMode="auto">
                <a:xfrm>
                  <a:off x="2676" y="2087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2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21" name="Freeform 735"/>
                <p:cNvSpPr>
                  <a:spLocks/>
                </p:cNvSpPr>
                <p:nvPr/>
              </p:nvSpPr>
              <p:spPr bwMode="auto">
                <a:xfrm>
                  <a:off x="2678" y="2087"/>
                  <a:ext cx="27" cy="6"/>
                </a:xfrm>
                <a:custGeom>
                  <a:avLst/>
                  <a:gdLst>
                    <a:gd name="T0" fmla="*/ 27 w 27"/>
                    <a:gd name="T1" fmla="*/ 2 h 6"/>
                    <a:gd name="T2" fmla="*/ 27 w 27"/>
                    <a:gd name="T3" fmla="*/ 0 h 6"/>
                    <a:gd name="T4" fmla="*/ 0 w 27"/>
                    <a:gd name="T5" fmla="*/ 0 h 6"/>
                    <a:gd name="T6" fmla="*/ 0 w 27"/>
                    <a:gd name="T7" fmla="*/ 6 h 6"/>
                    <a:gd name="T8" fmla="*/ 27 w 27"/>
                    <a:gd name="T9" fmla="*/ 6 h 6"/>
                    <a:gd name="T10" fmla="*/ 27 w 27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7"/>
                    <a:gd name="T19" fmla="*/ 0 h 6"/>
                    <a:gd name="T20" fmla="*/ 27 w 2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7" h="6">
                      <a:moveTo>
                        <a:pt x="27" y="2"/>
                      </a:moveTo>
                      <a:lnTo>
                        <a:pt x="2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7" y="6"/>
                      </a:lnTo>
                      <a:lnTo>
                        <a:pt x="27" y="2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22" name="Freeform 736"/>
                <p:cNvSpPr>
                  <a:spLocks/>
                </p:cNvSpPr>
                <p:nvPr/>
              </p:nvSpPr>
              <p:spPr bwMode="auto">
                <a:xfrm>
                  <a:off x="2705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23" name="Freeform 737"/>
                <p:cNvSpPr>
                  <a:spLocks/>
                </p:cNvSpPr>
                <p:nvPr/>
              </p:nvSpPr>
              <p:spPr bwMode="auto">
                <a:xfrm>
                  <a:off x="2678" y="2087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2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24" name="Freeform 738"/>
                <p:cNvSpPr>
                  <a:spLocks/>
                </p:cNvSpPr>
                <p:nvPr/>
              </p:nvSpPr>
              <p:spPr bwMode="auto">
                <a:xfrm>
                  <a:off x="2680" y="2087"/>
                  <a:ext cx="24" cy="6"/>
                </a:xfrm>
                <a:custGeom>
                  <a:avLst/>
                  <a:gdLst>
                    <a:gd name="T0" fmla="*/ 24 w 24"/>
                    <a:gd name="T1" fmla="*/ 2 h 6"/>
                    <a:gd name="T2" fmla="*/ 24 w 24"/>
                    <a:gd name="T3" fmla="*/ 0 h 6"/>
                    <a:gd name="T4" fmla="*/ 0 w 24"/>
                    <a:gd name="T5" fmla="*/ 0 h 6"/>
                    <a:gd name="T6" fmla="*/ 0 w 24"/>
                    <a:gd name="T7" fmla="*/ 6 h 6"/>
                    <a:gd name="T8" fmla="*/ 24 w 24"/>
                    <a:gd name="T9" fmla="*/ 6 h 6"/>
                    <a:gd name="T10" fmla="*/ 24 w 24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4"/>
                    <a:gd name="T19" fmla="*/ 0 h 6"/>
                    <a:gd name="T20" fmla="*/ 24 w 2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4" h="6">
                      <a:moveTo>
                        <a:pt x="24" y="2"/>
                      </a:moveTo>
                      <a:lnTo>
                        <a:pt x="2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4" y="6"/>
                      </a:lnTo>
                      <a:lnTo>
                        <a:pt x="24" y="2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25" name="Freeform 739"/>
                <p:cNvSpPr>
                  <a:spLocks/>
                </p:cNvSpPr>
                <p:nvPr/>
              </p:nvSpPr>
              <p:spPr bwMode="auto">
                <a:xfrm>
                  <a:off x="2704" y="2087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2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26" name="Freeform 740"/>
                <p:cNvSpPr>
                  <a:spLocks/>
                </p:cNvSpPr>
                <p:nvPr/>
              </p:nvSpPr>
              <p:spPr bwMode="auto">
                <a:xfrm>
                  <a:off x="2680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0 w 3"/>
                    <a:gd name="T3" fmla="*/ 1 h 6"/>
                    <a:gd name="T4" fmla="*/ 0 w 3"/>
                    <a:gd name="T5" fmla="*/ 2 h 6"/>
                    <a:gd name="T6" fmla="*/ 0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27" name="Freeform 741"/>
                <p:cNvSpPr>
                  <a:spLocks/>
                </p:cNvSpPr>
                <p:nvPr/>
              </p:nvSpPr>
              <p:spPr bwMode="auto">
                <a:xfrm>
                  <a:off x="2683" y="2087"/>
                  <a:ext cx="19" cy="6"/>
                </a:xfrm>
                <a:custGeom>
                  <a:avLst/>
                  <a:gdLst>
                    <a:gd name="T0" fmla="*/ 19 w 19"/>
                    <a:gd name="T1" fmla="*/ 2 h 6"/>
                    <a:gd name="T2" fmla="*/ 19 w 19"/>
                    <a:gd name="T3" fmla="*/ 0 h 6"/>
                    <a:gd name="T4" fmla="*/ 0 w 19"/>
                    <a:gd name="T5" fmla="*/ 0 h 6"/>
                    <a:gd name="T6" fmla="*/ 0 w 19"/>
                    <a:gd name="T7" fmla="*/ 6 h 6"/>
                    <a:gd name="T8" fmla="*/ 19 w 19"/>
                    <a:gd name="T9" fmla="*/ 6 h 6"/>
                    <a:gd name="T10" fmla="*/ 19 w 19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6"/>
                    <a:gd name="T20" fmla="*/ 19 w 1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6">
                      <a:moveTo>
                        <a:pt x="19" y="2"/>
                      </a:moveTo>
                      <a:lnTo>
                        <a:pt x="1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9" y="6"/>
                      </a:lnTo>
                      <a:lnTo>
                        <a:pt x="19" y="2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28" name="Freeform 742"/>
                <p:cNvSpPr>
                  <a:spLocks/>
                </p:cNvSpPr>
                <p:nvPr/>
              </p:nvSpPr>
              <p:spPr bwMode="auto">
                <a:xfrm>
                  <a:off x="2702" y="2087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2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29" name="Freeform 743"/>
                <p:cNvSpPr>
                  <a:spLocks/>
                </p:cNvSpPr>
                <p:nvPr/>
              </p:nvSpPr>
              <p:spPr bwMode="auto">
                <a:xfrm>
                  <a:off x="2681" y="2087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2 w 4"/>
                    <a:gd name="T3" fmla="*/ 1 h 6"/>
                    <a:gd name="T4" fmla="*/ 0 w 4"/>
                    <a:gd name="T5" fmla="*/ 2 h 6"/>
                    <a:gd name="T6" fmla="*/ 2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2" y="1"/>
                      </a:lnTo>
                      <a:lnTo>
                        <a:pt x="0" y="2"/>
                      </a:lnTo>
                      <a:lnTo>
                        <a:pt x="2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30" name="Freeform 744"/>
                <p:cNvSpPr>
                  <a:spLocks/>
                </p:cNvSpPr>
                <p:nvPr/>
              </p:nvSpPr>
              <p:spPr bwMode="auto">
                <a:xfrm>
                  <a:off x="2685" y="2087"/>
                  <a:ext cx="15" cy="6"/>
                </a:xfrm>
                <a:custGeom>
                  <a:avLst/>
                  <a:gdLst>
                    <a:gd name="T0" fmla="*/ 15 w 15"/>
                    <a:gd name="T1" fmla="*/ 2 h 6"/>
                    <a:gd name="T2" fmla="*/ 15 w 15"/>
                    <a:gd name="T3" fmla="*/ 0 h 6"/>
                    <a:gd name="T4" fmla="*/ 0 w 15"/>
                    <a:gd name="T5" fmla="*/ 0 h 6"/>
                    <a:gd name="T6" fmla="*/ 0 w 15"/>
                    <a:gd name="T7" fmla="*/ 6 h 6"/>
                    <a:gd name="T8" fmla="*/ 15 w 15"/>
                    <a:gd name="T9" fmla="*/ 6 h 6"/>
                    <a:gd name="T10" fmla="*/ 15 w 15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5"/>
                    <a:gd name="T19" fmla="*/ 0 h 6"/>
                    <a:gd name="T20" fmla="*/ 15 w 15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5" h="6">
                      <a:moveTo>
                        <a:pt x="15" y="2"/>
                      </a:move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5" y="6"/>
                      </a:lnTo>
                      <a:lnTo>
                        <a:pt x="15" y="2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31" name="Freeform 745"/>
                <p:cNvSpPr>
                  <a:spLocks/>
                </p:cNvSpPr>
                <p:nvPr/>
              </p:nvSpPr>
              <p:spPr bwMode="auto">
                <a:xfrm>
                  <a:off x="2700" y="2087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2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32" name="Freeform 746"/>
                <p:cNvSpPr>
                  <a:spLocks/>
                </p:cNvSpPr>
                <p:nvPr/>
              </p:nvSpPr>
              <p:spPr bwMode="auto">
                <a:xfrm>
                  <a:off x="2684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33" name="Freeform 747"/>
                <p:cNvSpPr>
                  <a:spLocks/>
                </p:cNvSpPr>
                <p:nvPr/>
              </p:nvSpPr>
              <p:spPr bwMode="auto">
                <a:xfrm>
                  <a:off x="2687" y="2087"/>
                  <a:ext cx="11" cy="6"/>
                </a:xfrm>
                <a:custGeom>
                  <a:avLst/>
                  <a:gdLst>
                    <a:gd name="T0" fmla="*/ 11 w 11"/>
                    <a:gd name="T1" fmla="*/ 2 h 6"/>
                    <a:gd name="T2" fmla="*/ 11 w 11"/>
                    <a:gd name="T3" fmla="*/ 0 h 6"/>
                    <a:gd name="T4" fmla="*/ 0 w 11"/>
                    <a:gd name="T5" fmla="*/ 0 h 6"/>
                    <a:gd name="T6" fmla="*/ 0 w 11"/>
                    <a:gd name="T7" fmla="*/ 6 h 6"/>
                    <a:gd name="T8" fmla="*/ 11 w 11"/>
                    <a:gd name="T9" fmla="*/ 6 h 6"/>
                    <a:gd name="T10" fmla="*/ 11 w 11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1"/>
                    <a:gd name="T19" fmla="*/ 0 h 6"/>
                    <a:gd name="T20" fmla="*/ 11 w 1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1" h="6">
                      <a:moveTo>
                        <a:pt x="11" y="2"/>
                      </a:moveTo>
                      <a:lnTo>
                        <a:pt x="1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1" y="6"/>
                      </a:lnTo>
                      <a:lnTo>
                        <a:pt x="11" y="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34" name="Freeform 748"/>
                <p:cNvSpPr>
                  <a:spLocks/>
                </p:cNvSpPr>
                <p:nvPr/>
              </p:nvSpPr>
              <p:spPr bwMode="auto">
                <a:xfrm>
                  <a:off x="2698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35" name="Freeform 749"/>
                <p:cNvSpPr>
                  <a:spLocks/>
                </p:cNvSpPr>
                <p:nvPr/>
              </p:nvSpPr>
              <p:spPr bwMode="auto">
                <a:xfrm>
                  <a:off x="2686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36" name="Freeform 750"/>
                <p:cNvSpPr>
                  <a:spLocks/>
                </p:cNvSpPr>
                <p:nvPr/>
              </p:nvSpPr>
              <p:spPr bwMode="auto">
                <a:xfrm>
                  <a:off x="2689" y="2087"/>
                  <a:ext cx="6" cy="6"/>
                </a:xfrm>
                <a:custGeom>
                  <a:avLst/>
                  <a:gdLst>
                    <a:gd name="T0" fmla="*/ 6 w 6"/>
                    <a:gd name="T1" fmla="*/ 2 h 6"/>
                    <a:gd name="T2" fmla="*/ 6 w 6"/>
                    <a:gd name="T3" fmla="*/ 0 h 6"/>
                    <a:gd name="T4" fmla="*/ 0 w 6"/>
                    <a:gd name="T5" fmla="*/ 0 h 6"/>
                    <a:gd name="T6" fmla="*/ 0 w 6"/>
                    <a:gd name="T7" fmla="*/ 6 h 6"/>
                    <a:gd name="T8" fmla="*/ 6 w 6"/>
                    <a:gd name="T9" fmla="*/ 6 h 6"/>
                    <a:gd name="T10" fmla="*/ 6 w 6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"/>
                    <a:gd name="T19" fmla="*/ 0 h 6"/>
                    <a:gd name="T20" fmla="*/ 6 w 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" h="6">
                      <a:moveTo>
                        <a:pt x="6" y="2"/>
                      </a:move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6" y="6"/>
                      </a:lnTo>
                      <a:lnTo>
                        <a:pt x="6" y="2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37" name="Freeform 751"/>
                <p:cNvSpPr>
                  <a:spLocks/>
                </p:cNvSpPr>
                <p:nvPr/>
              </p:nvSpPr>
              <p:spPr bwMode="auto">
                <a:xfrm>
                  <a:off x="2695" y="2087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2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2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38" name="Freeform 752"/>
                <p:cNvSpPr>
                  <a:spLocks/>
                </p:cNvSpPr>
                <p:nvPr/>
              </p:nvSpPr>
              <p:spPr bwMode="auto">
                <a:xfrm>
                  <a:off x="2688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39" name="Freeform 753"/>
                <p:cNvSpPr>
                  <a:spLocks/>
                </p:cNvSpPr>
                <p:nvPr/>
              </p:nvSpPr>
              <p:spPr bwMode="auto">
                <a:xfrm>
                  <a:off x="2691" y="2087"/>
                  <a:ext cx="2" cy="6"/>
                </a:xfrm>
                <a:custGeom>
                  <a:avLst/>
                  <a:gdLst>
                    <a:gd name="T0" fmla="*/ 2 w 2"/>
                    <a:gd name="T1" fmla="*/ 2 h 6"/>
                    <a:gd name="T2" fmla="*/ 2 w 2"/>
                    <a:gd name="T3" fmla="*/ 0 h 6"/>
                    <a:gd name="T4" fmla="*/ 0 w 2"/>
                    <a:gd name="T5" fmla="*/ 0 h 6"/>
                    <a:gd name="T6" fmla="*/ 0 w 2"/>
                    <a:gd name="T7" fmla="*/ 6 h 6"/>
                    <a:gd name="T8" fmla="*/ 2 w 2"/>
                    <a:gd name="T9" fmla="*/ 6 h 6"/>
                    <a:gd name="T10" fmla="*/ 2 w 2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2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2" y="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40" name="Freeform 754"/>
                <p:cNvSpPr>
                  <a:spLocks/>
                </p:cNvSpPr>
                <p:nvPr/>
              </p:nvSpPr>
              <p:spPr bwMode="auto">
                <a:xfrm>
                  <a:off x="2693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41" name="Freeform 755"/>
                <p:cNvSpPr>
                  <a:spLocks/>
                </p:cNvSpPr>
                <p:nvPr/>
              </p:nvSpPr>
              <p:spPr bwMode="auto">
                <a:xfrm>
                  <a:off x="2662" y="2099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1 w 3"/>
                    <a:gd name="T3" fmla="*/ 1 h 5"/>
                    <a:gd name="T4" fmla="*/ 0 w 3"/>
                    <a:gd name="T5" fmla="*/ 2 h 5"/>
                    <a:gd name="T6" fmla="*/ 1 w 3"/>
                    <a:gd name="T7" fmla="*/ 4 h 5"/>
                    <a:gd name="T8" fmla="*/ 3 w 3"/>
                    <a:gd name="T9" fmla="*/ 5 h 5"/>
                    <a:gd name="T10" fmla="*/ 3 w 3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4"/>
                      </a:lnTo>
                      <a:lnTo>
                        <a:pt x="3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42" name="Freeform 756"/>
                <p:cNvSpPr>
                  <a:spLocks/>
                </p:cNvSpPr>
                <p:nvPr/>
              </p:nvSpPr>
              <p:spPr bwMode="auto">
                <a:xfrm>
                  <a:off x="2665" y="2099"/>
                  <a:ext cx="53" cy="5"/>
                </a:xfrm>
                <a:custGeom>
                  <a:avLst/>
                  <a:gdLst>
                    <a:gd name="T0" fmla="*/ 53 w 53"/>
                    <a:gd name="T1" fmla="*/ 2 h 5"/>
                    <a:gd name="T2" fmla="*/ 53 w 53"/>
                    <a:gd name="T3" fmla="*/ 0 h 5"/>
                    <a:gd name="T4" fmla="*/ 0 w 53"/>
                    <a:gd name="T5" fmla="*/ 0 h 5"/>
                    <a:gd name="T6" fmla="*/ 0 w 53"/>
                    <a:gd name="T7" fmla="*/ 5 h 5"/>
                    <a:gd name="T8" fmla="*/ 53 w 53"/>
                    <a:gd name="T9" fmla="*/ 5 h 5"/>
                    <a:gd name="T10" fmla="*/ 53 w 53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3"/>
                    <a:gd name="T19" fmla="*/ 0 h 5"/>
                    <a:gd name="T20" fmla="*/ 53 w 5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3" h="5">
                      <a:moveTo>
                        <a:pt x="53" y="2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53" y="5"/>
                      </a:lnTo>
                      <a:lnTo>
                        <a:pt x="53" y="2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43" name="Freeform 757"/>
                <p:cNvSpPr>
                  <a:spLocks/>
                </p:cNvSpPr>
                <p:nvPr/>
              </p:nvSpPr>
              <p:spPr bwMode="auto">
                <a:xfrm>
                  <a:off x="2718" y="2099"/>
                  <a:ext cx="3" cy="5"/>
                </a:xfrm>
                <a:custGeom>
                  <a:avLst/>
                  <a:gdLst>
                    <a:gd name="T0" fmla="*/ 0 w 3"/>
                    <a:gd name="T1" fmla="*/ 5 h 5"/>
                    <a:gd name="T2" fmla="*/ 2 w 3"/>
                    <a:gd name="T3" fmla="*/ 4 h 5"/>
                    <a:gd name="T4" fmla="*/ 3 w 3"/>
                    <a:gd name="T5" fmla="*/ 2 h 5"/>
                    <a:gd name="T6" fmla="*/ 2 w 3"/>
                    <a:gd name="T7" fmla="*/ 1 h 5"/>
                    <a:gd name="T8" fmla="*/ 0 w 3"/>
                    <a:gd name="T9" fmla="*/ 0 h 5"/>
                    <a:gd name="T10" fmla="*/ 0 w 3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0" y="5"/>
                      </a:moveTo>
                      <a:lnTo>
                        <a:pt x="2" y="4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44" name="Freeform 758"/>
                <p:cNvSpPr>
                  <a:spLocks/>
                </p:cNvSpPr>
                <p:nvPr/>
              </p:nvSpPr>
              <p:spPr bwMode="auto">
                <a:xfrm>
                  <a:off x="2664" y="2099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0 w 3"/>
                    <a:gd name="T3" fmla="*/ 1 h 5"/>
                    <a:gd name="T4" fmla="*/ 0 w 3"/>
                    <a:gd name="T5" fmla="*/ 2 h 5"/>
                    <a:gd name="T6" fmla="*/ 0 w 3"/>
                    <a:gd name="T7" fmla="*/ 4 h 5"/>
                    <a:gd name="T8" fmla="*/ 3 w 3"/>
                    <a:gd name="T9" fmla="*/ 5 h 5"/>
                    <a:gd name="T10" fmla="*/ 3 w 3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3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4"/>
                      </a:lnTo>
                      <a:lnTo>
                        <a:pt x="3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45" name="Freeform 759"/>
                <p:cNvSpPr>
                  <a:spLocks/>
                </p:cNvSpPr>
                <p:nvPr/>
              </p:nvSpPr>
              <p:spPr bwMode="auto">
                <a:xfrm>
                  <a:off x="2667" y="2099"/>
                  <a:ext cx="49" cy="5"/>
                </a:xfrm>
                <a:custGeom>
                  <a:avLst/>
                  <a:gdLst>
                    <a:gd name="T0" fmla="*/ 49 w 49"/>
                    <a:gd name="T1" fmla="*/ 2 h 5"/>
                    <a:gd name="T2" fmla="*/ 49 w 49"/>
                    <a:gd name="T3" fmla="*/ 0 h 5"/>
                    <a:gd name="T4" fmla="*/ 0 w 49"/>
                    <a:gd name="T5" fmla="*/ 0 h 5"/>
                    <a:gd name="T6" fmla="*/ 0 w 49"/>
                    <a:gd name="T7" fmla="*/ 5 h 5"/>
                    <a:gd name="T8" fmla="*/ 49 w 49"/>
                    <a:gd name="T9" fmla="*/ 5 h 5"/>
                    <a:gd name="T10" fmla="*/ 49 w 49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9"/>
                    <a:gd name="T19" fmla="*/ 0 h 5"/>
                    <a:gd name="T20" fmla="*/ 49 w 49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9" h="5">
                      <a:moveTo>
                        <a:pt x="49" y="2"/>
                      </a:moveTo>
                      <a:lnTo>
                        <a:pt x="49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49" y="5"/>
                      </a:lnTo>
                      <a:lnTo>
                        <a:pt x="49" y="2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46" name="Freeform 760"/>
                <p:cNvSpPr>
                  <a:spLocks/>
                </p:cNvSpPr>
                <p:nvPr/>
              </p:nvSpPr>
              <p:spPr bwMode="auto">
                <a:xfrm>
                  <a:off x="2716" y="2099"/>
                  <a:ext cx="3" cy="5"/>
                </a:xfrm>
                <a:custGeom>
                  <a:avLst/>
                  <a:gdLst>
                    <a:gd name="T0" fmla="*/ 0 w 3"/>
                    <a:gd name="T1" fmla="*/ 5 h 5"/>
                    <a:gd name="T2" fmla="*/ 2 w 3"/>
                    <a:gd name="T3" fmla="*/ 4 h 5"/>
                    <a:gd name="T4" fmla="*/ 3 w 3"/>
                    <a:gd name="T5" fmla="*/ 2 h 5"/>
                    <a:gd name="T6" fmla="*/ 2 w 3"/>
                    <a:gd name="T7" fmla="*/ 1 h 5"/>
                    <a:gd name="T8" fmla="*/ 0 w 3"/>
                    <a:gd name="T9" fmla="*/ 0 h 5"/>
                    <a:gd name="T10" fmla="*/ 0 w 3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0" y="5"/>
                      </a:moveTo>
                      <a:lnTo>
                        <a:pt x="2" y="4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47" name="Freeform 761"/>
                <p:cNvSpPr>
                  <a:spLocks/>
                </p:cNvSpPr>
                <p:nvPr/>
              </p:nvSpPr>
              <p:spPr bwMode="auto">
                <a:xfrm>
                  <a:off x="2667" y="2099"/>
                  <a:ext cx="2" cy="5"/>
                </a:xfrm>
                <a:custGeom>
                  <a:avLst/>
                  <a:gdLst>
                    <a:gd name="T0" fmla="*/ 2 w 2"/>
                    <a:gd name="T1" fmla="*/ 0 h 5"/>
                    <a:gd name="T2" fmla="*/ 0 w 2"/>
                    <a:gd name="T3" fmla="*/ 1 h 5"/>
                    <a:gd name="T4" fmla="*/ 0 w 2"/>
                    <a:gd name="T5" fmla="*/ 2 h 5"/>
                    <a:gd name="T6" fmla="*/ 0 w 2"/>
                    <a:gd name="T7" fmla="*/ 4 h 5"/>
                    <a:gd name="T8" fmla="*/ 2 w 2"/>
                    <a:gd name="T9" fmla="*/ 5 h 5"/>
                    <a:gd name="T10" fmla="*/ 2 w 2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5"/>
                    <a:gd name="T20" fmla="*/ 2 w 2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5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4"/>
                      </a:lnTo>
                      <a:lnTo>
                        <a:pt x="2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48" name="Freeform 762"/>
                <p:cNvSpPr>
                  <a:spLocks/>
                </p:cNvSpPr>
                <p:nvPr/>
              </p:nvSpPr>
              <p:spPr bwMode="auto">
                <a:xfrm>
                  <a:off x="2669" y="2099"/>
                  <a:ext cx="46" cy="5"/>
                </a:xfrm>
                <a:custGeom>
                  <a:avLst/>
                  <a:gdLst>
                    <a:gd name="T0" fmla="*/ 46 w 46"/>
                    <a:gd name="T1" fmla="*/ 2 h 5"/>
                    <a:gd name="T2" fmla="*/ 46 w 46"/>
                    <a:gd name="T3" fmla="*/ 0 h 5"/>
                    <a:gd name="T4" fmla="*/ 0 w 46"/>
                    <a:gd name="T5" fmla="*/ 0 h 5"/>
                    <a:gd name="T6" fmla="*/ 0 w 46"/>
                    <a:gd name="T7" fmla="*/ 5 h 5"/>
                    <a:gd name="T8" fmla="*/ 46 w 46"/>
                    <a:gd name="T9" fmla="*/ 5 h 5"/>
                    <a:gd name="T10" fmla="*/ 46 w 46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6"/>
                    <a:gd name="T19" fmla="*/ 0 h 5"/>
                    <a:gd name="T20" fmla="*/ 46 w 46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6" h="5">
                      <a:moveTo>
                        <a:pt x="46" y="2"/>
                      </a:moveTo>
                      <a:lnTo>
                        <a:pt x="46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46" y="5"/>
                      </a:lnTo>
                      <a:lnTo>
                        <a:pt x="46" y="2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49" name="Freeform 763"/>
                <p:cNvSpPr>
                  <a:spLocks/>
                </p:cNvSpPr>
                <p:nvPr/>
              </p:nvSpPr>
              <p:spPr bwMode="auto">
                <a:xfrm>
                  <a:off x="2715" y="2099"/>
                  <a:ext cx="2" cy="5"/>
                </a:xfrm>
                <a:custGeom>
                  <a:avLst/>
                  <a:gdLst>
                    <a:gd name="T0" fmla="*/ 0 w 2"/>
                    <a:gd name="T1" fmla="*/ 5 h 5"/>
                    <a:gd name="T2" fmla="*/ 2 w 2"/>
                    <a:gd name="T3" fmla="*/ 4 h 5"/>
                    <a:gd name="T4" fmla="*/ 2 w 2"/>
                    <a:gd name="T5" fmla="*/ 2 h 5"/>
                    <a:gd name="T6" fmla="*/ 2 w 2"/>
                    <a:gd name="T7" fmla="*/ 1 h 5"/>
                    <a:gd name="T8" fmla="*/ 0 w 2"/>
                    <a:gd name="T9" fmla="*/ 0 h 5"/>
                    <a:gd name="T10" fmla="*/ 0 w 2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5"/>
                    <a:gd name="T20" fmla="*/ 2 w 2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5">
                      <a:moveTo>
                        <a:pt x="0" y="5"/>
                      </a:move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50" name="Freeform 764"/>
                <p:cNvSpPr>
                  <a:spLocks/>
                </p:cNvSpPr>
                <p:nvPr/>
              </p:nvSpPr>
              <p:spPr bwMode="auto">
                <a:xfrm>
                  <a:off x="2668" y="2099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1 w 3"/>
                    <a:gd name="T3" fmla="*/ 1 h 5"/>
                    <a:gd name="T4" fmla="*/ 0 w 3"/>
                    <a:gd name="T5" fmla="*/ 2 h 5"/>
                    <a:gd name="T6" fmla="*/ 1 w 3"/>
                    <a:gd name="T7" fmla="*/ 4 h 5"/>
                    <a:gd name="T8" fmla="*/ 3 w 3"/>
                    <a:gd name="T9" fmla="*/ 5 h 5"/>
                    <a:gd name="T10" fmla="*/ 3 w 3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4"/>
                      </a:lnTo>
                      <a:lnTo>
                        <a:pt x="3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51" name="Freeform 765"/>
                <p:cNvSpPr>
                  <a:spLocks/>
                </p:cNvSpPr>
                <p:nvPr/>
              </p:nvSpPr>
              <p:spPr bwMode="auto">
                <a:xfrm>
                  <a:off x="2671" y="2099"/>
                  <a:ext cx="41" cy="5"/>
                </a:xfrm>
                <a:custGeom>
                  <a:avLst/>
                  <a:gdLst>
                    <a:gd name="T0" fmla="*/ 41 w 41"/>
                    <a:gd name="T1" fmla="*/ 2 h 5"/>
                    <a:gd name="T2" fmla="*/ 41 w 41"/>
                    <a:gd name="T3" fmla="*/ 0 h 5"/>
                    <a:gd name="T4" fmla="*/ 0 w 41"/>
                    <a:gd name="T5" fmla="*/ 0 h 5"/>
                    <a:gd name="T6" fmla="*/ 0 w 41"/>
                    <a:gd name="T7" fmla="*/ 5 h 5"/>
                    <a:gd name="T8" fmla="*/ 41 w 41"/>
                    <a:gd name="T9" fmla="*/ 5 h 5"/>
                    <a:gd name="T10" fmla="*/ 41 w 41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1"/>
                    <a:gd name="T19" fmla="*/ 0 h 5"/>
                    <a:gd name="T20" fmla="*/ 41 w 41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1" h="5">
                      <a:moveTo>
                        <a:pt x="41" y="2"/>
                      </a:move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41" y="5"/>
                      </a:lnTo>
                      <a:lnTo>
                        <a:pt x="41" y="2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52" name="Freeform 766"/>
                <p:cNvSpPr>
                  <a:spLocks/>
                </p:cNvSpPr>
                <p:nvPr/>
              </p:nvSpPr>
              <p:spPr bwMode="auto">
                <a:xfrm>
                  <a:off x="2712" y="2099"/>
                  <a:ext cx="4" cy="5"/>
                </a:xfrm>
                <a:custGeom>
                  <a:avLst/>
                  <a:gdLst>
                    <a:gd name="T0" fmla="*/ 0 w 4"/>
                    <a:gd name="T1" fmla="*/ 5 h 5"/>
                    <a:gd name="T2" fmla="*/ 3 w 4"/>
                    <a:gd name="T3" fmla="*/ 4 h 5"/>
                    <a:gd name="T4" fmla="*/ 4 w 4"/>
                    <a:gd name="T5" fmla="*/ 2 h 5"/>
                    <a:gd name="T6" fmla="*/ 3 w 4"/>
                    <a:gd name="T7" fmla="*/ 1 h 5"/>
                    <a:gd name="T8" fmla="*/ 0 w 4"/>
                    <a:gd name="T9" fmla="*/ 0 h 5"/>
                    <a:gd name="T10" fmla="*/ 0 w 4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5"/>
                    <a:gd name="T20" fmla="*/ 4 w 4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5">
                      <a:moveTo>
                        <a:pt x="0" y="5"/>
                      </a:moveTo>
                      <a:lnTo>
                        <a:pt x="3" y="4"/>
                      </a:lnTo>
                      <a:lnTo>
                        <a:pt x="4" y="2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53" name="Freeform 767"/>
                <p:cNvSpPr>
                  <a:spLocks/>
                </p:cNvSpPr>
                <p:nvPr/>
              </p:nvSpPr>
              <p:spPr bwMode="auto">
                <a:xfrm>
                  <a:off x="2670" y="2099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1 w 3"/>
                    <a:gd name="T3" fmla="*/ 1 h 5"/>
                    <a:gd name="T4" fmla="*/ 0 w 3"/>
                    <a:gd name="T5" fmla="*/ 2 h 5"/>
                    <a:gd name="T6" fmla="*/ 1 w 3"/>
                    <a:gd name="T7" fmla="*/ 4 h 5"/>
                    <a:gd name="T8" fmla="*/ 3 w 3"/>
                    <a:gd name="T9" fmla="*/ 5 h 5"/>
                    <a:gd name="T10" fmla="*/ 3 w 3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4"/>
                      </a:lnTo>
                      <a:lnTo>
                        <a:pt x="3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54" name="Freeform 768"/>
                <p:cNvSpPr>
                  <a:spLocks/>
                </p:cNvSpPr>
                <p:nvPr/>
              </p:nvSpPr>
              <p:spPr bwMode="auto">
                <a:xfrm>
                  <a:off x="2673" y="2099"/>
                  <a:ext cx="37" cy="5"/>
                </a:xfrm>
                <a:custGeom>
                  <a:avLst/>
                  <a:gdLst>
                    <a:gd name="T0" fmla="*/ 37 w 37"/>
                    <a:gd name="T1" fmla="*/ 2 h 5"/>
                    <a:gd name="T2" fmla="*/ 37 w 37"/>
                    <a:gd name="T3" fmla="*/ 0 h 5"/>
                    <a:gd name="T4" fmla="*/ 0 w 37"/>
                    <a:gd name="T5" fmla="*/ 0 h 5"/>
                    <a:gd name="T6" fmla="*/ 0 w 37"/>
                    <a:gd name="T7" fmla="*/ 5 h 5"/>
                    <a:gd name="T8" fmla="*/ 37 w 37"/>
                    <a:gd name="T9" fmla="*/ 5 h 5"/>
                    <a:gd name="T10" fmla="*/ 37 w 37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7"/>
                    <a:gd name="T19" fmla="*/ 0 h 5"/>
                    <a:gd name="T20" fmla="*/ 37 w 37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7" h="5">
                      <a:moveTo>
                        <a:pt x="37" y="2"/>
                      </a:moveTo>
                      <a:lnTo>
                        <a:pt x="37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37" y="5"/>
                      </a:lnTo>
                      <a:lnTo>
                        <a:pt x="37" y="2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55" name="Freeform 769"/>
                <p:cNvSpPr>
                  <a:spLocks/>
                </p:cNvSpPr>
                <p:nvPr/>
              </p:nvSpPr>
              <p:spPr bwMode="auto">
                <a:xfrm>
                  <a:off x="2710" y="2099"/>
                  <a:ext cx="4" cy="5"/>
                </a:xfrm>
                <a:custGeom>
                  <a:avLst/>
                  <a:gdLst>
                    <a:gd name="T0" fmla="*/ 0 w 4"/>
                    <a:gd name="T1" fmla="*/ 5 h 5"/>
                    <a:gd name="T2" fmla="*/ 2 w 4"/>
                    <a:gd name="T3" fmla="*/ 4 h 5"/>
                    <a:gd name="T4" fmla="*/ 4 w 4"/>
                    <a:gd name="T5" fmla="*/ 2 h 5"/>
                    <a:gd name="T6" fmla="*/ 2 w 4"/>
                    <a:gd name="T7" fmla="*/ 1 h 5"/>
                    <a:gd name="T8" fmla="*/ 0 w 4"/>
                    <a:gd name="T9" fmla="*/ 0 h 5"/>
                    <a:gd name="T10" fmla="*/ 0 w 4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5"/>
                    <a:gd name="T20" fmla="*/ 4 w 4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5">
                      <a:moveTo>
                        <a:pt x="0" y="5"/>
                      </a:move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856" name="Freeform 770"/>
                <p:cNvSpPr>
                  <a:spLocks/>
                </p:cNvSpPr>
                <p:nvPr/>
              </p:nvSpPr>
              <p:spPr bwMode="auto">
                <a:xfrm>
                  <a:off x="2672" y="2099"/>
                  <a:ext cx="2" cy="5"/>
                </a:xfrm>
                <a:custGeom>
                  <a:avLst/>
                  <a:gdLst>
                    <a:gd name="T0" fmla="*/ 2 w 2"/>
                    <a:gd name="T1" fmla="*/ 0 h 5"/>
                    <a:gd name="T2" fmla="*/ 0 w 2"/>
                    <a:gd name="T3" fmla="*/ 1 h 5"/>
                    <a:gd name="T4" fmla="*/ 0 w 2"/>
                    <a:gd name="T5" fmla="*/ 2 h 5"/>
                    <a:gd name="T6" fmla="*/ 0 w 2"/>
                    <a:gd name="T7" fmla="*/ 4 h 5"/>
                    <a:gd name="T8" fmla="*/ 2 w 2"/>
                    <a:gd name="T9" fmla="*/ 5 h 5"/>
                    <a:gd name="T10" fmla="*/ 2 w 2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5"/>
                    <a:gd name="T20" fmla="*/ 2 w 2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5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4"/>
                      </a:lnTo>
                      <a:lnTo>
                        <a:pt x="2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2522" name="Freeform 771"/>
              <p:cNvSpPr>
                <a:spLocks/>
              </p:cNvSpPr>
              <p:nvPr/>
            </p:nvSpPr>
            <p:spPr bwMode="auto">
              <a:xfrm>
                <a:off x="2674" y="2099"/>
                <a:ext cx="34" cy="5"/>
              </a:xfrm>
              <a:custGeom>
                <a:avLst/>
                <a:gdLst>
                  <a:gd name="T0" fmla="*/ 34 w 34"/>
                  <a:gd name="T1" fmla="*/ 2 h 5"/>
                  <a:gd name="T2" fmla="*/ 34 w 34"/>
                  <a:gd name="T3" fmla="*/ 0 h 5"/>
                  <a:gd name="T4" fmla="*/ 0 w 34"/>
                  <a:gd name="T5" fmla="*/ 0 h 5"/>
                  <a:gd name="T6" fmla="*/ 0 w 34"/>
                  <a:gd name="T7" fmla="*/ 5 h 5"/>
                  <a:gd name="T8" fmla="*/ 34 w 34"/>
                  <a:gd name="T9" fmla="*/ 5 h 5"/>
                  <a:gd name="T10" fmla="*/ 34 w 34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4"/>
                  <a:gd name="T19" fmla="*/ 0 h 5"/>
                  <a:gd name="T20" fmla="*/ 34 w 34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4" h="5">
                    <a:moveTo>
                      <a:pt x="34" y="2"/>
                    </a:moveTo>
                    <a:lnTo>
                      <a:pt x="34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34" y="5"/>
                    </a:lnTo>
                    <a:lnTo>
                      <a:pt x="34" y="2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23" name="Freeform 772"/>
              <p:cNvSpPr>
                <a:spLocks/>
              </p:cNvSpPr>
              <p:nvPr/>
            </p:nvSpPr>
            <p:spPr bwMode="auto">
              <a:xfrm>
                <a:off x="2708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24" name="Freeform 773"/>
              <p:cNvSpPr>
                <a:spLocks/>
              </p:cNvSpPr>
              <p:nvPr/>
            </p:nvSpPr>
            <p:spPr bwMode="auto">
              <a:xfrm>
                <a:off x="2674" y="2099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0 w 2"/>
                  <a:gd name="T3" fmla="*/ 1 h 5"/>
                  <a:gd name="T4" fmla="*/ 0 w 2"/>
                  <a:gd name="T5" fmla="*/ 2 h 5"/>
                  <a:gd name="T6" fmla="*/ 0 w 2"/>
                  <a:gd name="T7" fmla="*/ 4 h 5"/>
                  <a:gd name="T8" fmla="*/ 2 w 2"/>
                  <a:gd name="T9" fmla="*/ 5 h 5"/>
                  <a:gd name="T10" fmla="*/ 2 w 2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5"/>
                  <a:gd name="T20" fmla="*/ 2 w 2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5">
                    <a:moveTo>
                      <a:pt x="2" y="0"/>
                    </a:moveTo>
                    <a:lnTo>
                      <a:pt x="0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25" name="Freeform 774"/>
              <p:cNvSpPr>
                <a:spLocks/>
              </p:cNvSpPr>
              <p:nvPr/>
            </p:nvSpPr>
            <p:spPr bwMode="auto">
              <a:xfrm>
                <a:off x="2676" y="2099"/>
                <a:ext cx="31" cy="5"/>
              </a:xfrm>
              <a:custGeom>
                <a:avLst/>
                <a:gdLst>
                  <a:gd name="T0" fmla="*/ 31 w 31"/>
                  <a:gd name="T1" fmla="*/ 2 h 5"/>
                  <a:gd name="T2" fmla="*/ 31 w 31"/>
                  <a:gd name="T3" fmla="*/ 0 h 5"/>
                  <a:gd name="T4" fmla="*/ 0 w 31"/>
                  <a:gd name="T5" fmla="*/ 0 h 5"/>
                  <a:gd name="T6" fmla="*/ 0 w 31"/>
                  <a:gd name="T7" fmla="*/ 5 h 5"/>
                  <a:gd name="T8" fmla="*/ 31 w 31"/>
                  <a:gd name="T9" fmla="*/ 5 h 5"/>
                  <a:gd name="T10" fmla="*/ 31 w 31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5"/>
                  <a:gd name="T20" fmla="*/ 31 w 31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5">
                    <a:moveTo>
                      <a:pt x="31" y="2"/>
                    </a:moveTo>
                    <a:lnTo>
                      <a:pt x="31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31" y="5"/>
                    </a:lnTo>
                    <a:lnTo>
                      <a:pt x="31" y="2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26" name="Freeform 775"/>
              <p:cNvSpPr>
                <a:spLocks/>
              </p:cNvSpPr>
              <p:nvPr/>
            </p:nvSpPr>
            <p:spPr bwMode="auto">
              <a:xfrm>
                <a:off x="2707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27" name="Freeform 776"/>
              <p:cNvSpPr>
                <a:spLocks/>
              </p:cNvSpPr>
              <p:nvPr/>
            </p:nvSpPr>
            <p:spPr bwMode="auto">
              <a:xfrm>
                <a:off x="2676" y="2099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0 w 2"/>
                  <a:gd name="T3" fmla="*/ 1 h 5"/>
                  <a:gd name="T4" fmla="*/ 0 w 2"/>
                  <a:gd name="T5" fmla="*/ 2 h 5"/>
                  <a:gd name="T6" fmla="*/ 0 w 2"/>
                  <a:gd name="T7" fmla="*/ 4 h 5"/>
                  <a:gd name="T8" fmla="*/ 2 w 2"/>
                  <a:gd name="T9" fmla="*/ 5 h 5"/>
                  <a:gd name="T10" fmla="*/ 2 w 2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5"/>
                  <a:gd name="T20" fmla="*/ 2 w 2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5">
                    <a:moveTo>
                      <a:pt x="2" y="0"/>
                    </a:moveTo>
                    <a:lnTo>
                      <a:pt x="0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28" name="Freeform 777"/>
              <p:cNvSpPr>
                <a:spLocks/>
              </p:cNvSpPr>
              <p:nvPr/>
            </p:nvSpPr>
            <p:spPr bwMode="auto">
              <a:xfrm>
                <a:off x="2678" y="2099"/>
                <a:ext cx="27" cy="5"/>
              </a:xfrm>
              <a:custGeom>
                <a:avLst/>
                <a:gdLst>
                  <a:gd name="T0" fmla="*/ 27 w 27"/>
                  <a:gd name="T1" fmla="*/ 2 h 5"/>
                  <a:gd name="T2" fmla="*/ 27 w 27"/>
                  <a:gd name="T3" fmla="*/ 0 h 5"/>
                  <a:gd name="T4" fmla="*/ 0 w 27"/>
                  <a:gd name="T5" fmla="*/ 0 h 5"/>
                  <a:gd name="T6" fmla="*/ 0 w 27"/>
                  <a:gd name="T7" fmla="*/ 5 h 5"/>
                  <a:gd name="T8" fmla="*/ 27 w 27"/>
                  <a:gd name="T9" fmla="*/ 5 h 5"/>
                  <a:gd name="T10" fmla="*/ 27 w 27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7"/>
                  <a:gd name="T19" fmla="*/ 0 h 5"/>
                  <a:gd name="T20" fmla="*/ 27 w 27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7" h="5">
                    <a:moveTo>
                      <a:pt x="27" y="2"/>
                    </a:moveTo>
                    <a:lnTo>
                      <a:pt x="2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27" y="5"/>
                    </a:lnTo>
                    <a:lnTo>
                      <a:pt x="27" y="2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29" name="Freeform 778"/>
              <p:cNvSpPr>
                <a:spLocks/>
              </p:cNvSpPr>
              <p:nvPr/>
            </p:nvSpPr>
            <p:spPr bwMode="auto">
              <a:xfrm>
                <a:off x="2705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30" name="Freeform 779"/>
              <p:cNvSpPr>
                <a:spLocks/>
              </p:cNvSpPr>
              <p:nvPr/>
            </p:nvSpPr>
            <p:spPr bwMode="auto">
              <a:xfrm>
                <a:off x="2678" y="2099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0 w 2"/>
                  <a:gd name="T3" fmla="*/ 1 h 5"/>
                  <a:gd name="T4" fmla="*/ 0 w 2"/>
                  <a:gd name="T5" fmla="*/ 2 h 5"/>
                  <a:gd name="T6" fmla="*/ 0 w 2"/>
                  <a:gd name="T7" fmla="*/ 4 h 5"/>
                  <a:gd name="T8" fmla="*/ 2 w 2"/>
                  <a:gd name="T9" fmla="*/ 5 h 5"/>
                  <a:gd name="T10" fmla="*/ 2 w 2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5"/>
                  <a:gd name="T20" fmla="*/ 2 w 2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5">
                    <a:moveTo>
                      <a:pt x="2" y="0"/>
                    </a:moveTo>
                    <a:lnTo>
                      <a:pt x="0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31" name="Freeform 780"/>
              <p:cNvSpPr>
                <a:spLocks/>
              </p:cNvSpPr>
              <p:nvPr/>
            </p:nvSpPr>
            <p:spPr bwMode="auto">
              <a:xfrm>
                <a:off x="2680" y="2099"/>
                <a:ext cx="23" cy="5"/>
              </a:xfrm>
              <a:custGeom>
                <a:avLst/>
                <a:gdLst>
                  <a:gd name="T0" fmla="*/ 23 w 23"/>
                  <a:gd name="T1" fmla="*/ 2 h 5"/>
                  <a:gd name="T2" fmla="*/ 23 w 23"/>
                  <a:gd name="T3" fmla="*/ 0 h 5"/>
                  <a:gd name="T4" fmla="*/ 0 w 23"/>
                  <a:gd name="T5" fmla="*/ 0 h 5"/>
                  <a:gd name="T6" fmla="*/ 0 w 23"/>
                  <a:gd name="T7" fmla="*/ 5 h 5"/>
                  <a:gd name="T8" fmla="*/ 23 w 23"/>
                  <a:gd name="T9" fmla="*/ 5 h 5"/>
                  <a:gd name="T10" fmla="*/ 23 w 23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"/>
                  <a:gd name="T19" fmla="*/ 0 h 5"/>
                  <a:gd name="T20" fmla="*/ 23 w 2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" h="5">
                    <a:moveTo>
                      <a:pt x="23" y="2"/>
                    </a:moveTo>
                    <a:lnTo>
                      <a:pt x="23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23" y="5"/>
                    </a:lnTo>
                    <a:lnTo>
                      <a:pt x="23" y="2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32" name="Freeform 781"/>
              <p:cNvSpPr>
                <a:spLocks/>
              </p:cNvSpPr>
              <p:nvPr/>
            </p:nvSpPr>
            <p:spPr bwMode="auto">
              <a:xfrm>
                <a:off x="2703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33" name="Freeform 782"/>
              <p:cNvSpPr>
                <a:spLocks/>
              </p:cNvSpPr>
              <p:nvPr/>
            </p:nvSpPr>
            <p:spPr bwMode="auto">
              <a:xfrm>
                <a:off x="2680" y="2099"/>
                <a:ext cx="3" cy="5"/>
              </a:xfrm>
              <a:custGeom>
                <a:avLst/>
                <a:gdLst>
                  <a:gd name="T0" fmla="*/ 3 w 3"/>
                  <a:gd name="T1" fmla="*/ 0 h 5"/>
                  <a:gd name="T2" fmla="*/ 0 w 3"/>
                  <a:gd name="T3" fmla="*/ 1 h 5"/>
                  <a:gd name="T4" fmla="*/ 0 w 3"/>
                  <a:gd name="T5" fmla="*/ 2 h 5"/>
                  <a:gd name="T6" fmla="*/ 0 w 3"/>
                  <a:gd name="T7" fmla="*/ 4 h 5"/>
                  <a:gd name="T8" fmla="*/ 3 w 3"/>
                  <a:gd name="T9" fmla="*/ 5 h 5"/>
                  <a:gd name="T10" fmla="*/ 3 w 3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3" y="0"/>
                    </a:moveTo>
                    <a:lnTo>
                      <a:pt x="0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3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34" name="Freeform 783"/>
              <p:cNvSpPr>
                <a:spLocks/>
              </p:cNvSpPr>
              <p:nvPr/>
            </p:nvSpPr>
            <p:spPr bwMode="auto">
              <a:xfrm>
                <a:off x="2683" y="2099"/>
                <a:ext cx="18" cy="5"/>
              </a:xfrm>
              <a:custGeom>
                <a:avLst/>
                <a:gdLst>
                  <a:gd name="T0" fmla="*/ 18 w 18"/>
                  <a:gd name="T1" fmla="*/ 2 h 5"/>
                  <a:gd name="T2" fmla="*/ 18 w 18"/>
                  <a:gd name="T3" fmla="*/ 0 h 5"/>
                  <a:gd name="T4" fmla="*/ 0 w 18"/>
                  <a:gd name="T5" fmla="*/ 0 h 5"/>
                  <a:gd name="T6" fmla="*/ 0 w 18"/>
                  <a:gd name="T7" fmla="*/ 5 h 5"/>
                  <a:gd name="T8" fmla="*/ 18 w 18"/>
                  <a:gd name="T9" fmla="*/ 5 h 5"/>
                  <a:gd name="T10" fmla="*/ 18 w 18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"/>
                  <a:gd name="T19" fmla="*/ 0 h 5"/>
                  <a:gd name="T20" fmla="*/ 18 w 18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" h="5">
                    <a:moveTo>
                      <a:pt x="18" y="2"/>
                    </a:moveTo>
                    <a:lnTo>
                      <a:pt x="18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8" y="5"/>
                    </a:lnTo>
                    <a:lnTo>
                      <a:pt x="18" y="2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35" name="Freeform 784"/>
              <p:cNvSpPr>
                <a:spLocks/>
              </p:cNvSpPr>
              <p:nvPr/>
            </p:nvSpPr>
            <p:spPr bwMode="auto">
              <a:xfrm>
                <a:off x="2701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36" name="Freeform 785"/>
              <p:cNvSpPr>
                <a:spLocks/>
              </p:cNvSpPr>
              <p:nvPr/>
            </p:nvSpPr>
            <p:spPr bwMode="auto">
              <a:xfrm>
                <a:off x="2681" y="2099"/>
                <a:ext cx="4" cy="5"/>
              </a:xfrm>
              <a:custGeom>
                <a:avLst/>
                <a:gdLst>
                  <a:gd name="T0" fmla="*/ 4 w 4"/>
                  <a:gd name="T1" fmla="*/ 0 h 5"/>
                  <a:gd name="T2" fmla="*/ 2 w 4"/>
                  <a:gd name="T3" fmla="*/ 1 h 5"/>
                  <a:gd name="T4" fmla="*/ 0 w 4"/>
                  <a:gd name="T5" fmla="*/ 2 h 5"/>
                  <a:gd name="T6" fmla="*/ 2 w 4"/>
                  <a:gd name="T7" fmla="*/ 4 h 5"/>
                  <a:gd name="T8" fmla="*/ 4 w 4"/>
                  <a:gd name="T9" fmla="*/ 5 h 5"/>
                  <a:gd name="T10" fmla="*/ 4 w 4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"/>
                  <a:gd name="T19" fmla="*/ 0 h 5"/>
                  <a:gd name="T20" fmla="*/ 4 w 4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" h="5">
                    <a:moveTo>
                      <a:pt x="4" y="0"/>
                    </a:moveTo>
                    <a:lnTo>
                      <a:pt x="2" y="1"/>
                    </a:lnTo>
                    <a:lnTo>
                      <a:pt x="0" y="2"/>
                    </a:lnTo>
                    <a:lnTo>
                      <a:pt x="2" y="4"/>
                    </a:lnTo>
                    <a:lnTo>
                      <a:pt x="4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37" name="Freeform 786"/>
              <p:cNvSpPr>
                <a:spLocks/>
              </p:cNvSpPr>
              <p:nvPr/>
            </p:nvSpPr>
            <p:spPr bwMode="auto">
              <a:xfrm>
                <a:off x="2685" y="2099"/>
                <a:ext cx="14" cy="5"/>
              </a:xfrm>
              <a:custGeom>
                <a:avLst/>
                <a:gdLst>
                  <a:gd name="T0" fmla="*/ 14 w 14"/>
                  <a:gd name="T1" fmla="*/ 2 h 5"/>
                  <a:gd name="T2" fmla="*/ 14 w 14"/>
                  <a:gd name="T3" fmla="*/ 0 h 5"/>
                  <a:gd name="T4" fmla="*/ 0 w 14"/>
                  <a:gd name="T5" fmla="*/ 0 h 5"/>
                  <a:gd name="T6" fmla="*/ 0 w 14"/>
                  <a:gd name="T7" fmla="*/ 5 h 5"/>
                  <a:gd name="T8" fmla="*/ 14 w 14"/>
                  <a:gd name="T9" fmla="*/ 5 h 5"/>
                  <a:gd name="T10" fmla="*/ 14 w 14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5"/>
                  <a:gd name="T20" fmla="*/ 14 w 14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5">
                    <a:moveTo>
                      <a:pt x="14" y="2"/>
                    </a:moveTo>
                    <a:lnTo>
                      <a:pt x="14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4" y="5"/>
                    </a:lnTo>
                    <a:lnTo>
                      <a:pt x="14" y="2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38" name="Freeform 787"/>
              <p:cNvSpPr>
                <a:spLocks/>
              </p:cNvSpPr>
              <p:nvPr/>
            </p:nvSpPr>
            <p:spPr bwMode="auto">
              <a:xfrm>
                <a:off x="2699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39" name="Freeform 788"/>
              <p:cNvSpPr>
                <a:spLocks/>
              </p:cNvSpPr>
              <p:nvPr/>
            </p:nvSpPr>
            <p:spPr bwMode="auto">
              <a:xfrm>
                <a:off x="2684" y="2099"/>
                <a:ext cx="3" cy="5"/>
              </a:xfrm>
              <a:custGeom>
                <a:avLst/>
                <a:gdLst>
                  <a:gd name="T0" fmla="*/ 3 w 3"/>
                  <a:gd name="T1" fmla="*/ 0 h 5"/>
                  <a:gd name="T2" fmla="*/ 1 w 3"/>
                  <a:gd name="T3" fmla="*/ 1 h 5"/>
                  <a:gd name="T4" fmla="*/ 0 w 3"/>
                  <a:gd name="T5" fmla="*/ 2 h 5"/>
                  <a:gd name="T6" fmla="*/ 1 w 3"/>
                  <a:gd name="T7" fmla="*/ 4 h 5"/>
                  <a:gd name="T8" fmla="*/ 3 w 3"/>
                  <a:gd name="T9" fmla="*/ 5 h 5"/>
                  <a:gd name="T10" fmla="*/ 3 w 3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3" y="0"/>
                    </a:moveTo>
                    <a:lnTo>
                      <a:pt x="1" y="1"/>
                    </a:lnTo>
                    <a:lnTo>
                      <a:pt x="0" y="2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40" name="Freeform 789"/>
              <p:cNvSpPr>
                <a:spLocks/>
              </p:cNvSpPr>
              <p:nvPr/>
            </p:nvSpPr>
            <p:spPr bwMode="auto">
              <a:xfrm>
                <a:off x="2687" y="2099"/>
                <a:ext cx="11" cy="5"/>
              </a:xfrm>
              <a:custGeom>
                <a:avLst/>
                <a:gdLst>
                  <a:gd name="T0" fmla="*/ 11 w 11"/>
                  <a:gd name="T1" fmla="*/ 2 h 5"/>
                  <a:gd name="T2" fmla="*/ 11 w 11"/>
                  <a:gd name="T3" fmla="*/ 0 h 5"/>
                  <a:gd name="T4" fmla="*/ 0 w 11"/>
                  <a:gd name="T5" fmla="*/ 0 h 5"/>
                  <a:gd name="T6" fmla="*/ 0 w 11"/>
                  <a:gd name="T7" fmla="*/ 5 h 5"/>
                  <a:gd name="T8" fmla="*/ 11 w 11"/>
                  <a:gd name="T9" fmla="*/ 5 h 5"/>
                  <a:gd name="T10" fmla="*/ 11 w 11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5"/>
                  <a:gd name="T20" fmla="*/ 11 w 11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5">
                    <a:moveTo>
                      <a:pt x="11" y="2"/>
                    </a:moveTo>
                    <a:lnTo>
                      <a:pt x="11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1" y="5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41" name="Freeform 790"/>
              <p:cNvSpPr>
                <a:spLocks/>
              </p:cNvSpPr>
              <p:nvPr/>
            </p:nvSpPr>
            <p:spPr bwMode="auto">
              <a:xfrm>
                <a:off x="2698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42" name="Freeform 791"/>
              <p:cNvSpPr>
                <a:spLocks/>
              </p:cNvSpPr>
              <p:nvPr/>
            </p:nvSpPr>
            <p:spPr bwMode="auto">
              <a:xfrm>
                <a:off x="2686" y="2099"/>
                <a:ext cx="3" cy="5"/>
              </a:xfrm>
              <a:custGeom>
                <a:avLst/>
                <a:gdLst>
                  <a:gd name="T0" fmla="*/ 3 w 3"/>
                  <a:gd name="T1" fmla="*/ 0 h 5"/>
                  <a:gd name="T2" fmla="*/ 1 w 3"/>
                  <a:gd name="T3" fmla="*/ 1 h 5"/>
                  <a:gd name="T4" fmla="*/ 0 w 3"/>
                  <a:gd name="T5" fmla="*/ 2 h 5"/>
                  <a:gd name="T6" fmla="*/ 1 w 3"/>
                  <a:gd name="T7" fmla="*/ 4 h 5"/>
                  <a:gd name="T8" fmla="*/ 3 w 3"/>
                  <a:gd name="T9" fmla="*/ 5 h 5"/>
                  <a:gd name="T10" fmla="*/ 3 w 3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3" y="0"/>
                    </a:moveTo>
                    <a:lnTo>
                      <a:pt x="1" y="1"/>
                    </a:lnTo>
                    <a:lnTo>
                      <a:pt x="0" y="2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43" name="Freeform 792"/>
              <p:cNvSpPr>
                <a:spLocks/>
              </p:cNvSpPr>
              <p:nvPr/>
            </p:nvSpPr>
            <p:spPr bwMode="auto">
              <a:xfrm>
                <a:off x="2689" y="2099"/>
                <a:ext cx="6" cy="5"/>
              </a:xfrm>
              <a:custGeom>
                <a:avLst/>
                <a:gdLst>
                  <a:gd name="T0" fmla="*/ 6 w 6"/>
                  <a:gd name="T1" fmla="*/ 2 h 5"/>
                  <a:gd name="T2" fmla="*/ 6 w 6"/>
                  <a:gd name="T3" fmla="*/ 0 h 5"/>
                  <a:gd name="T4" fmla="*/ 0 w 6"/>
                  <a:gd name="T5" fmla="*/ 0 h 5"/>
                  <a:gd name="T6" fmla="*/ 0 w 6"/>
                  <a:gd name="T7" fmla="*/ 5 h 5"/>
                  <a:gd name="T8" fmla="*/ 6 w 6"/>
                  <a:gd name="T9" fmla="*/ 5 h 5"/>
                  <a:gd name="T10" fmla="*/ 6 w 6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"/>
                  <a:gd name="T19" fmla="*/ 0 h 5"/>
                  <a:gd name="T20" fmla="*/ 6 w 6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" h="5">
                    <a:moveTo>
                      <a:pt x="6" y="2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6" y="5"/>
                    </a:lnTo>
                    <a:lnTo>
                      <a:pt x="6" y="2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44" name="Freeform 793"/>
              <p:cNvSpPr>
                <a:spLocks/>
              </p:cNvSpPr>
              <p:nvPr/>
            </p:nvSpPr>
            <p:spPr bwMode="auto">
              <a:xfrm>
                <a:off x="2695" y="2099"/>
                <a:ext cx="4" cy="5"/>
              </a:xfrm>
              <a:custGeom>
                <a:avLst/>
                <a:gdLst>
                  <a:gd name="T0" fmla="*/ 0 w 4"/>
                  <a:gd name="T1" fmla="*/ 5 h 5"/>
                  <a:gd name="T2" fmla="*/ 3 w 4"/>
                  <a:gd name="T3" fmla="*/ 4 h 5"/>
                  <a:gd name="T4" fmla="*/ 4 w 4"/>
                  <a:gd name="T5" fmla="*/ 2 h 5"/>
                  <a:gd name="T6" fmla="*/ 3 w 4"/>
                  <a:gd name="T7" fmla="*/ 1 h 5"/>
                  <a:gd name="T8" fmla="*/ 0 w 4"/>
                  <a:gd name="T9" fmla="*/ 0 h 5"/>
                  <a:gd name="T10" fmla="*/ 0 w 4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"/>
                  <a:gd name="T19" fmla="*/ 0 h 5"/>
                  <a:gd name="T20" fmla="*/ 4 w 4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" h="5">
                    <a:moveTo>
                      <a:pt x="0" y="5"/>
                    </a:moveTo>
                    <a:lnTo>
                      <a:pt x="3" y="4"/>
                    </a:lnTo>
                    <a:lnTo>
                      <a:pt x="4" y="2"/>
                    </a:lnTo>
                    <a:lnTo>
                      <a:pt x="3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45" name="Freeform 794"/>
              <p:cNvSpPr>
                <a:spLocks/>
              </p:cNvSpPr>
              <p:nvPr/>
            </p:nvSpPr>
            <p:spPr bwMode="auto">
              <a:xfrm>
                <a:off x="2688" y="2099"/>
                <a:ext cx="3" cy="5"/>
              </a:xfrm>
              <a:custGeom>
                <a:avLst/>
                <a:gdLst>
                  <a:gd name="T0" fmla="*/ 3 w 3"/>
                  <a:gd name="T1" fmla="*/ 0 h 5"/>
                  <a:gd name="T2" fmla="*/ 1 w 3"/>
                  <a:gd name="T3" fmla="*/ 1 h 5"/>
                  <a:gd name="T4" fmla="*/ 0 w 3"/>
                  <a:gd name="T5" fmla="*/ 2 h 5"/>
                  <a:gd name="T6" fmla="*/ 1 w 3"/>
                  <a:gd name="T7" fmla="*/ 4 h 5"/>
                  <a:gd name="T8" fmla="*/ 3 w 3"/>
                  <a:gd name="T9" fmla="*/ 5 h 5"/>
                  <a:gd name="T10" fmla="*/ 3 w 3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3" y="0"/>
                    </a:moveTo>
                    <a:lnTo>
                      <a:pt x="1" y="1"/>
                    </a:lnTo>
                    <a:lnTo>
                      <a:pt x="0" y="2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46" name="Freeform 795"/>
              <p:cNvSpPr>
                <a:spLocks/>
              </p:cNvSpPr>
              <p:nvPr/>
            </p:nvSpPr>
            <p:spPr bwMode="auto">
              <a:xfrm>
                <a:off x="2691" y="2099"/>
                <a:ext cx="2" cy="5"/>
              </a:xfrm>
              <a:custGeom>
                <a:avLst/>
                <a:gdLst>
                  <a:gd name="T0" fmla="*/ 2 w 2"/>
                  <a:gd name="T1" fmla="*/ 2 h 5"/>
                  <a:gd name="T2" fmla="*/ 2 w 2"/>
                  <a:gd name="T3" fmla="*/ 0 h 5"/>
                  <a:gd name="T4" fmla="*/ 0 w 2"/>
                  <a:gd name="T5" fmla="*/ 0 h 5"/>
                  <a:gd name="T6" fmla="*/ 0 w 2"/>
                  <a:gd name="T7" fmla="*/ 5 h 5"/>
                  <a:gd name="T8" fmla="*/ 2 w 2"/>
                  <a:gd name="T9" fmla="*/ 5 h 5"/>
                  <a:gd name="T10" fmla="*/ 2 w 2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5"/>
                  <a:gd name="T20" fmla="*/ 2 w 2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5">
                    <a:moveTo>
                      <a:pt x="2" y="2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2" y="5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47" name="Freeform 796"/>
              <p:cNvSpPr>
                <a:spLocks/>
              </p:cNvSpPr>
              <p:nvPr/>
            </p:nvSpPr>
            <p:spPr bwMode="auto">
              <a:xfrm>
                <a:off x="2693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48" name="Freeform 797"/>
              <p:cNvSpPr>
                <a:spLocks/>
              </p:cNvSpPr>
              <p:nvPr/>
            </p:nvSpPr>
            <p:spPr bwMode="auto">
              <a:xfrm>
                <a:off x="2676" y="1794"/>
                <a:ext cx="29" cy="75"/>
              </a:xfrm>
              <a:custGeom>
                <a:avLst/>
                <a:gdLst>
                  <a:gd name="T0" fmla="*/ 5 w 29"/>
                  <a:gd name="T1" fmla="*/ 0 h 75"/>
                  <a:gd name="T2" fmla="*/ 16 w 29"/>
                  <a:gd name="T3" fmla="*/ 41 h 75"/>
                  <a:gd name="T4" fmla="*/ 0 w 29"/>
                  <a:gd name="T5" fmla="*/ 38 h 75"/>
                  <a:gd name="T6" fmla="*/ 17 w 29"/>
                  <a:gd name="T7" fmla="*/ 75 h 75"/>
                  <a:gd name="T8" fmla="*/ 13 w 29"/>
                  <a:gd name="T9" fmla="*/ 49 h 75"/>
                  <a:gd name="T10" fmla="*/ 29 w 29"/>
                  <a:gd name="T11" fmla="*/ 51 h 75"/>
                  <a:gd name="T12" fmla="*/ 5 w 29"/>
                  <a:gd name="T13" fmla="*/ 0 h 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9"/>
                  <a:gd name="T22" fmla="*/ 0 h 75"/>
                  <a:gd name="T23" fmla="*/ 29 w 29"/>
                  <a:gd name="T24" fmla="*/ 75 h 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9" h="75">
                    <a:moveTo>
                      <a:pt x="5" y="0"/>
                    </a:moveTo>
                    <a:lnTo>
                      <a:pt x="16" y="41"/>
                    </a:lnTo>
                    <a:lnTo>
                      <a:pt x="0" y="38"/>
                    </a:lnTo>
                    <a:lnTo>
                      <a:pt x="17" y="75"/>
                    </a:lnTo>
                    <a:lnTo>
                      <a:pt x="13" y="49"/>
                    </a:lnTo>
                    <a:lnTo>
                      <a:pt x="29" y="51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49" name="Freeform 798"/>
              <p:cNvSpPr>
                <a:spLocks/>
              </p:cNvSpPr>
              <p:nvPr/>
            </p:nvSpPr>
            <p:spPr bwMode="auto">
              <a:xfrm>
                <a:off x="2678" y="1794"/>
                <a:ext cx="16" cy="43"/>
              </a:xfrm>
              <a:custGeom>
                <a:avLst/>
                <a:gdLst>
                  <a:gd name="T0" fmla="*/ 13 w 16"/>
                  <a:gd name="T1" fmla="*/ 43 h 43"/>
                  <a:gd name="T2" fmla="*/ 16 w 16"/>
                  <a:gd name="T3" fmla="*/ 40 h 43"/>
                  <a:gd name="T4" fmla="*/ 6 w 16"/>
                  <a:gd name="T5" fmla="*/ 0 h 43"/>
                  <a:gd name="T6" fmla="*/ 0 w 16"/>
                  <a:gd name="T7" fmla="*/ 1 h 43"/>
                  <a:gd name="T8" fmla="*/ 11 w 16"/>
                  <a:gd name="T9" fmla="*/ 41 h 43"/>
                  <a:gd name="T10" fmla="*/ 14 w 16"/>
                  <a:gd name="T11" fmla="*/ 38 h 43"/>
                  <a:gd name="T12" fmla="*/ 11 w 16"/>
                  <a:gd name="T13" fmla="*/ 41 h 43"/>
                  <a:gd name="T14" fmla="*/ 12 w 16"/>
                  <a:gd name="T15" fmla="*/ 43 h 43"/>
                  <a:gd name="T16" fmla="*/ 14 w 16"/>
                  <a:gd name="T17" fmla="*/ 43 h 43"/>
                  <a:gd name="T18" fmla="*/ 16 w 16"/>
                  <a:gd name="T19" fmla="*/ 42 h 43"/>
                  <a:gd name="T20" fmla="*/ 16 w 16"/>
                  <a:gd name="T21" fmla="*/ 40 h 43"/>
                  <a:gd name="T22" fmla="*/ 13 w 16"/>
                  <a:gd name="T23" fmla="*/ 43 h 4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6"/>
                  <a:gd name="T37" fmla="*/ 0 h 43"/>
                  <a:gd name="T38" fmla="*/ 16 w 16"/>
                  <a:gd name="T39" fmla="*/ 43 h 4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6" h="43">
                    <a:moveTo>
                      <a:pt x="13" y="43"/>
                    </a:moveTo>
                    <a:lnTo>
                      <a:pt x="16" y="40"/>
                    </a:lnTo>
                    <a:lnTo>
                      <a:pt x="6" y="0"/>
                    </a:lnTo>
                    <a:lnTo>
                      <a:pt x="0" y="1"/>
                    </a:lnTo>
                    <a:lnTo>
                      <a:pt x="11" y="41"/>
                    </a:lnTo>
                    <a:lnTo>
                      <a:pt x="14" y="38"/>
                    </a:lnTo>
                    <a:lnTo>
                      <a:pt x="11" y="41"/>
                    </a:lnTo>
                    <a:lnTo>
                      <a:pt x="12" y="43"/>
                    </a:lnTo>
                    <a:lnTo>
                      <a:pt x="14" y="43"/>
                    </a:lnTo>
                    <a:lnTo>
                      <a:pt x="16" y="42"/>
                    </a:lnTo>
                    <a:lnTo>
                      <a:pt x="16" y="40"/>
                    </a:lnTo>
                    <a:lnTo>
                      <a:pt x="13" y="4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50" name="Freeform 799"/>
              <p:cNvSpPr>
                <a:spLocks/>
              </p:cNvSpPr>
              <p:nvPr/>
            </p:nvSpPr>
            <p:spPr bwMode="auto">
              <a:xfrm>
                <a:off x="2674" y="1830"/>
                <a:ext cx="18" cy="7"/>
              </a:xfrm>
              <a:custGeom>
                <a:avLst/>
                <a:gdLst>
                  <a:gd name="T0" fmla="*/ 4 w 18"/>
                  <a:gd name="T1" fmla="*/ 2 h 7"/>
                  <a:gd name="T2" fmla="*/ 2 w 18"/>
                  <a:gd name="T3" fmla="*/ 5 h 7"/>
                  <a:gd name="T4" fmla="*/ 17 w 18"/>
                  <a:gd name="T5" fmla="*/ 7 h 7"/>
                  <a:gd name="T6" fmla="*/ 18 w 18"/>
                  <a:gd name="T7" fmla="*/ 2 h 7"/>
                  <a:gd name="T8" fmla="*/ 3 w 18"/>
                  <a:gd name="T9" fmla="*/ 0 h 7"/>
                  <a:gd name="T10" fmla="*/ 0 w 18"/>
                  <a:gd name="T11" fmla="*/ 3 h 7"/>
                  <a:gd name="T12" fmla="*/ 3 w 18"/>
                  <a:gd name="T13" fmla="*/ 0 h 7"/>
                  <a:gd name="T14" fmla="*/ 1 w 18"/>
                  <a:gd name="T15" fmla="*/ 1 h 7"/>
                  <a:gd name="T16" fmla="*/ 0 w 18"/>
                  <a:gd name="T17" fmla="*/ 2 h 7"/>
                  <a:gd name="T18" fmla="*/ 0 w 18"/>
                  <a:gd name="T19" fmla="*/ 4 h 7"/>
                  <a:gd name="T20" fmla="*/ 2 w 18"/>
                  <a:gd name="T21" fmla="*/ 5 h 7"/>
                  <a:gd name="T22" fmla="*/ 4 w 18"/>
                  <a:gd name="T23" fmla="*/ 2 h 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7"/>
                  <a:gd name="T38" fmla="*/ 18 w 18"/>
                  <a:gd name="T39" fmla="*/ 7 h 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7">
                    <a:moveTo>
                      <a:pt x="4" y="2"/>
                    </a:moveTo>
                    <a:lnTo>
                      <a:pt x="2" y="5"/>
                    </a:lnTo>
                    <a:lnTo>
                      <a:pt x="17" y="7"/>
                    </a:lnTo>
                    <a:lnTo>
                      <a:pt x="18" y="2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5"/>
                    </a:lnTo>
                    <a:lnTo>
                      <a:pt x="4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51" name="Freeform 800"/>
              <p:cNvSpPr>
                <a:spLocks/>
              </p:cNvSpPr>
              <p:nvPr/>
            </p:nvSpPr>
            <p:spPr bwMode="auto">
              <a:xfrm>
                <a:off x="2674" y="1832"/>
                <a:ext cx="21" cy="40"/>
              </a:xfrm>
              <a:custGeom>
                <a:avLst/>
                <a:gdLst>
                  <a:gd name="T0" fmla="*/ 16 w 21"/>
                  <a:gd name="T1" fmla="*/ 37 h 40"/>
                  <a:gd name="T2" fmla="*/ 21 w 21"/>
                  <a:gd name="T3" fmla="*/ 36 h 40"/>
                  <a:gd name="T4" fmla="*/ 4 w 21"/>
                  <a:gd name="T5" fmla="*/ 0 h 40"/>
                  <a:gd name="T6" fmla="*/ 0 w 21"/>
                  <a:gd name="T7" fmla="*/ 2 h 40"/>
                  <a:gd name="T8" fmla="*/ 16 w 21"/>
                  <a:gd name="T9" fmla="*/ 38 h 40"/>
                  <a:gd name="T10" fmla="*/ 21 w 21"/>
                  <a:gd name="T11" fmla="*/ 37 h 40"/>
                  <a:gd name="T12" fmla="*/ 16 w 21"/>
                  <a:gd name="T13" fmla="*/ 38 h 40"/>
                  <a:gd name="T14" fmla="*/ 18 w 21"/>
                  <a:gd name="T15" fmla="*/ 40 h 40"/>
                  <a:gd name="T16" fmla="*/ 19 w 21"/>
                  <a:gd name="T17" fmla="*/ 40 h 40"/>
                  <a:gd name="T18" fmla="*/ 21 w 21"/>
                  <a:gd name="T19" fmla="*/ 38 h 40"/>
                  <a:gd name="T20" fmla="*/ 21 w 21"/>
                  <a:gd name="T21" fmla="*/ 36 h 40"/>
                  <a:gd name="T22" fmla="*/ 16 w 21"/>
                  <a:gd name="T23" fmla="*/ 37 h 4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"/>
                  <a:gd name="T37" fmla="*/ 0 h 40"/>
                  <a:gd name="T38" fmla="*/ 21 w 21"/>
                  <a:gd name="T39" fmla="*/ 40 h 4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" h="40">
                    <a:moveTo>
                      <a:pt x="16" y="37"/>
                    </a:moveTo>
                    <a:lnTo>
                      <a:pt x="21" y="36"/>
                    </a:lnTo>
                    <a:lnTo>
                      <a:pt x="4" y="0"/>
                    </a:lnTo>
                    <a:lnTo>
                      <a:pt x="0" y="2"/>
                    </a:lnTo>
                    <a:lnTo>
                      <a:pt x="16" y="38"/>
                    </a:lnTo>
                    <a:lnTo>
                      <a:pt x="21" y="37"/>
                    </a:lnTo>
                    <a:lnTo>
                      <a:pt x="16" y="38"/>
                    </a:lnTo>
                    <a:lnTo>
                      <a:pt x="18" y="40"/>
                    </a:lnTo>
                    <a:lnTo>
                      <a:pt x="19" y="40"/>
                    </a:lnTo>
                    <a:lnTo>
                      <a:pt x="21" y="38"/>
                    </a:lnTo>
                    <a:lnTo>
                      <a:pt x="21" y="36"/>
                    </a:lnTo>
                    <a:lnTo>
                      <a:pt x="16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52" name="Freeform 801"/>
              <p:cNvSpPr>
                <a:spLocks/>
              </p:cNvSpPr>
              <p:nvPr/>
            </p:nvSpPr>
            <p:spPr bwMode="auto">
              <a:xfrm>
                <a:off x="2687" y="1841"/>
                <a:ext cx="8" cy="28"/>
              </a:xfrm>
              <a:custGeom>
                <a:avLst/>
                <a:gdLst>
                  <a:gd name="T0" fmla="*/ 3 w 8"/>
                  <a:gd name="T1" fmla="*/ 0 h 28"/>
                  <a:gd name="T2" fmla="*/ 0 w 8"/>
                  <a:gd name="T3" fmla="*/ 3 h 28"/>
                  <a:gd name="T4" fmla="*/ 3 w 8"/>
                  <a:gd name="T5" fmla="*/ 28 h 28"/>
                  <a:gd name="T6" fmla="*/ 8 w 8"/>
                  <a:gd name="T7" fmla="*/ 27 h 28"/>
                  <a:gd name="T8" fmla="*/ 4 w 8"/>
                  <a:gd name="T9" fmla="*/ 2 h 28"/>
                  <a:gd name="T10" fmla="*/ 2 w 8"/>
                  <a:gd name="T11" fmla="*/ 5 h 28"/>
                  <a:gd name="T12" fmla="*/ 4 w 8"/>
                  <a:gd name="T13" fmla="*/ 2 h 28"/>
                  <a:gd name="T14" fmla="*/ 4 w 8"/>
                  <a:gd name="T15" fmla="*/ 1 h 28"/>
                  <a:gd name="T16" fmla="*/ 2 w 8"/>
                  <a:gd name="T17" fmla="*/ 0 h 28"/>
                  <a:gd name="T18" fmla="*/ 1 w 8"/>
                  <a:gd name="T19" fmla="*/ 1 h 28"/>
                  <a:gd name="T20" fmla="*/ 0 w 8"/>
                  <a:gd name="T21" fmla="*/ 3 h 28"/>
                  <a:gd name="T22" fmla="*/ 3 w 8"/>
                  <a:gd name="T23" fmla="*/ 0 h 2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"/>
                  <a:gd name="T37" fmla="*/ 0 h 28"/>
                  <a:gd name="T38" fmla="*/ 8 w 8"/>
                  <a:gd name="T39" fmla="*/ 28 h 2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" h="28">
                    <a:moveTo>
                      <a:pt x="3" y="0"/>
                    </a:moveTo>
                    <a:lnTo>
                      <a:pt x="0" y="3"/>
                    </a:lnTo>
                    <a:lnTo>
                      <a:pt x="3" y="28"/>
                    </a:lnTo>
                    <a:lnTo>
                      <a:pt x="8" y="27"/>
                    </a:lnTo>
                    <a:lnTo>
                      <a:pt x="4" y="2"/>
                    </a:lnTo>
                    <a:lnTo>
                      <a:pt x="2" y="5"/>
                    </a:lnTo>
                    <a:lnTo>
                      <a:pt x="4" y="2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53" name="Freeform 802"/>
              <p:cNvSpPr>
                <a:spLocks/>
              </p:cNvSpPr>
              <p:nvPr/>
            </p:nvSpPr>
            <p:spPr bwMode="auto">
              <a:xfrm>
                <a:off x="2689" y="1841"/>
                <a:ext cx="18" cy="7"/>
              </a:xfrm>
              <a:custGeom>
                <a:avLst/>
                <a:gdLst>
                  <a:gd name="T0" fmla="*/ 14 w 18"/>
                  <a:gd name="T1" fmla="*/ 5 h 7"/>
                  <a:gd name="T2" fmla="*/ 16 w 18"/>
                  <a:gd name="T3" fmla="*/ 2 h 7"/>
                  <a:gd name="T4" fmla="*/ 1 w 18"/>
                  <a:gd name="T5" fmla="*/ 0 h 7"/>
                  <a:gd name="T6" fmla="*/ 0 w 18"/>
                  <a:gd name="T7" fmla="*/ 5 h 7"/>
                  <a:gd name="T8" fmla="*/ 15 w 18"/>
                  <a:gd name="T9" fmla="*/ 7 h 7"/>
                  <a:gd name="T10" fmla="*/ 18 w 18"/>
                  <a:gd name="T11" fmla="*/ 4 h 7"/>
                  <a:gd name="T12" fmla="*/ 15 w 18"/>
                  <a:gd name="T13" fmla="*/ 7 h 7"/>
                  <a:gd name="T14" fmla="*/ 17 w 18"/>
                  <a:gd name="T15" fmla="*/ 6 h 7"/>
                  <a:gd name="T16" fmla="*/ 18 w 18"/>
                  <a:gd name="T17" fmla="*/ 5 h 7"/>
                  <a:gd name="T18" fmla="*/ 17 w 18"/>
                  <a:gd name="T19" fmla="*/ 3 h 7"/>
                  <a:gd name="T20" fmla="*/ 16 w 18"/>
                  <a:gd name="T21" fmla="*/ 2 h 7"/>
                  <a:gd name="T22" fmla="*/ 14 w 18"/>
                  <a:gd name="T23" fmla="*/ 5 h 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7"/>
                  <a:gd name="T38" fmla="*/ 18 w 18"/>
                  <a:gd name="T39" fmla="*/ 7 h 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7">
                    <a:moveTo>
                      <a:pt x="14" y="5"/>
                    </a:moveTo>
                    <a:lnTo>
                      <a:pt x="16" y="2"/>
                    </a:lnTo>
                    <a:lnTo>
                      <a:pt x="1" y="0"/>
                    </a:lnTo>
                    <a:lnTo>
                      <a:pt x="0" y="5"/>
                    </a:lnTo>
                    <a:lnTo>
                      <a:pt x="15" y="7"/>
                    </a:lnTo>
                    <a:lnTo>
                      <a:pt x="18" y="4"/>
                    </a:lnTo>
                    <a:lnTo>
                      <a:pt x="15" y="7"/>
                    </a:lnTo>
                    <a:lnTo>
                      <a:pt x="17" y="6"/>
                    </a:lnTo>
                    <a:lnTo>
                      <a:pt x="18" y="5"/>
                    </a:lnTo>
                    <a:lnTo>
                      <a:pt x="17" y="3"/>
                    </a:lnTo>
                    <a:lnTo>
                      <a:pt x="16" y="2"/>
                    </a:lnTo>
                    <a:lnTo>
                      <a:pt x="14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54" name="Freeform 803"/>
              <p:cNvSpPr>
                <a:spLocks/>
              </p:cNvSpPr>
              <p:nvPr/>
            </p:nvSpPr>
            <p:spPr bwMode="auto">
              <a:xfrm>
                <a:off x="2678" y="1791"/>
                <a:ext cx="29" cy="55"/>
              </a:xfrm>
              <a:custGeom>
                <a:avLst/>
                <a:gdLst>
                  <a:gd name="T0" fmla="*/ 6 w 29"/>
                  <a:gd name="T1" fmla="*/ 2 h 55"/>
                  <a:gd name="T2" fmla="*/ 0 w 29"/>
                  <a:gd name="T3" fmla="*/ 4 h 55"/>
                  <a:gd name="T4" fmla="*/ 25 w 29"/>
                  <a:gd name="T5" fmla="*/ 55 h 55"/>
                  <a:gd name="T6" fmla="*/ 29 w 29"/>
                  <a:gd name="T7" fmla="*/ 53 h 55"/>
                  <a:gd name="T8" fmla="*/ 6 w 29"/>
                  <a:gd name="T9" fmla="*/ 2 h 55"/>
                  <a:gd name="T10" fmla="*/ 0 w 29"/>
                  <a:gd name="T11" fmla="*/ 4 h 55"/>
                  <a:gd name="T12" fmla="*/ 6 w 29"/>
                  <a:gd name="T13" fmla="*/ 2 h 55"/>
                  <a:gd name="T14" fmla="*/ 5 w 29"/>
                  <a:gd name="T15" fmla="*/ 0 h 55"/>
                  <a:gd name="T16" fmla="*/ 1 w 29"/>
                  <a:gd name="T17" fmla="*/ 0 h 55"/>
                  <a:gd name="T18" fmla="*/ 0 w 29"/>
                  <a:gd name="T19" fmla="*/ 2 h 55"/>
                  <a:gd name="T20" fmla="*/ 0 w 29"/>
                  <a:gd name="T21" fmla="*/ 4 h 55"/>
                  <a:gd name="T22" fmla="*/ 6 w 29"/>
                  <a:gd name="T23" fmla="*/ 2 h 5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9"/>
                  <a:gd name="T37" fmla="*/ 0 h 55"/>
                  <a:gd name="T38" fmla="*/ 29 w 29"/>
                  <a:gd name="T39" fmla="*/ 55 h 5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9" h="55">
                    <a:moveTo>
                      <a:pt x="6" y="2"/>
                    </a:moveTo>
                    <a:lnTo>
                      <a:pt x="0" y="4"/>
                    </a:lnTo>
                    <a:lnTo>
                      <a:pt x="25" y="55"/>
                    </a:lnTo>
                    <a:lnTo>
                      <a:pt x="29" y="53"/>
                    </a:lnTo>
                    <a:lnTo>
                      <a:pt x="6" y="2"/>
                    </a:lnTo>
                    <a:lnTo>
                      <a:pt x="0" y="4"/>
                    </a:lnTo>
                    <a:lnTo>
                      <a:pt x="6" y="2"/>
                    </a:lnTo>
                    <a:lnTo>
                      <a:pt x="5" y="0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6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55" name="Freeform 804"/>
              <p:cNvSpPr>
                <a:spLocks/>
              </p:cNvSpPr>
              <p:nvPr/>
            </p:nvSpPr>
            <p:spPr bwMode="auto">
              <a:xfrm>
                <a:off x="2677" y="1797"/>
                <a:ext cx="27" cy="70"/>
              </a:xfrm>
              <a:custGeom>
                <a:avLst/>
                <a:gdLst>
                  <a:gd name="T0" fmla="*/ 6 w 27"/>
                  <a:gd name="T1" fmla="*/ 0 h 70"/>
                  <a:gd name="T2" fmla="*/ 27 w 27"/>
                  <a:gd name="T3" fmla="*/ 48 h 70"/>
                  <a:gd name="T4" fmla="*/ 11 w 27"/>
                  <a:gd name="T5" fmla="*/ 46 h 70"/>
                  <a:gd name="T6" fmla="*/ 15 w 27"/>
                  <a:gd name="T7" fmla="*/ 70 h 70"/>
                  <a:gd name="T8" fmla="*/ 0 w 27"/>
                  <a:gd name="T9" fmla="*/ 36 h 70"/>
                  <a:gd name="T10" fmla="*/ 15 w 27"/>
                  <a:gd name="T11" fmla="*/ 38 h 70"/>
                  <a:gd name="T12" fmla="*/ 6 w 27"/>
                  <a:gd name="T13" fmla="*/ 0 h 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7"/>
                  <a:gd name="T22" fmla="*/ 0 h 70"/>
                  <a:gd name="T23" fmla="*/ 27 w 27"/>
                  <a:gd name="T24" fmla="*/ 70 h 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7" h="70">
                    <a:moveTo>
                      <a:pt x="6" y="0"/>
                    </a:moveTo>
                    <a:lnTo>
                      <a:pt x="27" y="48"/>
                    </a:lnTo>
                    <a:lnTo>
                      <a:pt x="11" y="46"/>
                    </a:lnTo>
                    <a:lnTo>
                      <a:pt x="15" y="70"/>
                    </a:lnTo>
                    <a:lnTo>
                      <a:pt x="0" y="36"/>
                    </a:lnTo>
                    <a:lnTo>
                      <a:pt x="15" y="38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56" name="Freeform 805"/>
              <p:cNvSpPr>
                <a:spLocks/>
              </p:cNvSpPr>
              <p:nvPr/>
            </p:nvSpPr>
            <p:spPr bwMode="auto">
              <a:xfrm>
                <a:off x="2677" y="1800"/>
                <a:ext cx="27" cy="65"/>
              </a:xfrm>
              <a:custGeom>
                <a:avLst/>
                <a:gdLst>
                  <a:gd name="T0" fmla="*/ 7 w 27"/>
                  <a:gd name="T1" fmla="*/ 0 h 65"/>
                  <a:gd name="T2" fmla="*/ 27 w 27"/>
                  <a:gd name="T3" fmla="*/ 44 h 65"/>
                  <a:gd name="T4" fmla="*/ 11 w 27"/>
                  <a:gd name="T5" fmla="*/ 42 h 65"/>
                  <a:gd name="T6" fmla="*/ 14 w 27"/>
                  <a:gd name="T7" fmla="*/ 65 h 65"/>
                  <a:gd name="T8" fmla="*/ 0 w 27"/>
                  <a:gd name="T9" fmla="*/ 33 h 65"/>
                  <a:gd name="T10" fmla="*/ 16 w 27"/>
                  <a:gd name="T11" fmla="*/ 35 h 65"/>
                  <a:gd name="T12" fmla="*/ 7 w 27"/>
                  <a:gd name="T13" fmla="*/ 0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7"/>
                  <a:gd name="T22" fmla="*/ 0 h 65"/>
                  <a:gd name="T23" fmla="*/ 27 w 27"/>
                  <a:gd name="T24" fmla="*/ 65 h 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7" h="65">
                    <a:moveTo>
                      <a:pt x="7" y="0"/>
                    </a:moveTo>
                    <a:lnTo>
                      <a:pt x="27" y="44"/>
                    </a:lnTo>
                    <a:lnTo>
                      <a:pt x="11" y="42"/>
                    </a:lnTo>
                    <a:lnTo>
                      <a:pt x="14" y="65"/>
                    </a:lnTo>
                    <a:lnTo>
                      <a:pt x="0" y="33"/>
                    </a:lnTo>
                    <a:lnTo>
                      <a:pt x="16" y="35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57" name="Freeform 806"/>
              <p:cNvSpPr>
                <a:spLocks/>
              </p:cNvSpPr>
              <p:nvPr/>
            </p:nvSpPr>
            <p:spPr bwMode="auto">
              <a:xfrm>
                <a:off x="2678" y="1804"/>
                <a:ext cx="25" cy="59"/>
              </a:xfrm>
              <a:custGeom>
                <a:avLst/>
                <a:gdLst>
                  <a:gd name="T0" fmla="*/ 8 w 25"/>
                  <a:gd name="T1" fmla="*/ 0 h 59"/>
                  <a:gd name="T2" fmla="*/ 25 w 25"/>
                  <a:gd name="T3" fmla="*/ 40 h 59"/>
                  <a:gd name="T4" fmla="*/ 10 w 25"/>
                  <a:gd name="T5" fmla="*/ 38 h 59"/>
                  <a:gd name="T6" fmla="*/ 13 w 25"/>
                  <a:gd name="T7" fmla="*/ 59 h 59"/>
                  <a:gd name="T8" fmla="*/ 0 w 25"/>
                  <a:gd name="T9" fmla="*/ 30 h 59"/>
                  <a:gd name="T10" fmla="*/ 15 w 25"/>
                  <a:gd name="T11" fmla="*/ 32 h 59"/>
                  <a:gd name="T12" fmla="*/ 8 w 25"/>
                  <a:gd name="T13" fmla="*/ 0 h 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59"/>
                  <a:gd name="T23" fmla="*/ 25 w 25"/>
                  <a:gd name="T24" fmla="*/ 59 h 5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59">
                    <a:moveTo>
                      <a:pt x="8" y="0"/>
                    </a:moveTo>
                    <a:lnTo>
                      <a:pt x="25" y="40"/>
                    </a:lnTo>
                    <a:lnTo>
                      <a:pt x="10" y="38"/>
                    </a:lnTo>
                    <a:lnTo>
                      <a:pt x="13" y="59"/>
                    </a:lnTo>
                    <a:lnTo>
                      <a:pt x="0" y="30"/>
                    </a:lnTo>
                    <a:lnTo>
                      <a:pt x="15" y="3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58" name="Freeform 807"/>
              <p:cNvSpPr>
                <a:spLocks/>
              </p:cNvSpPr>
              <p:nvPr/>
            </p:nvSpPr>
            <p:spPr bwMode="auto">
              <a:xfrm>
                <a:off x="2678" y="1807"/>
                <a:ext cx="25" cy="54"/>
              </a:xfrm>
              <a:custGeom>
                <a:avLst/>
                <a:gdLst>
                  <a:gd name="T0" fmla="*/ 9 w 25"/>
                  <a:gd name="T1" fmla="*/ 0 h 54"/>
                  <a:gd name="T2" fmla="*/ 25 w 25"/>
                  <a:gd name="T3" fmla="*/ 37 h 54"/>
                  <a:gd name="T4" fmla="*/ 9 w 25"/>
                  <a:gd name="T5" fmla="*/ 35 h 54"/>
                  <a:gd name="T6" fmla="*/ 12 w 25"/>
                  <a:gd name="T7" fmla="*/ 54 h 54"/>
                  <a:gd name="T8" fmla="*/ 0 w 25"/>
                  <a:gd name="T9" fmla="*/ 27 h 54"/>
                  <a:gd name="T10" fmla="*/ 16 w 25"/>
                  <a:gd name="T11" fmla="*/ 29 h 54"/>
                  <a:gd name="T12" fmla="*/ 9 w 25"/>
                  <a:gd name="T13" fmla="*/ 0 h 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54"/>
                  <a:gd name="T23" fmla="*/ 25 w 25"/>
                  <a:gd name="T24" fmla="*/ 54 h 5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54">
                    <a:moveTo>
                      <a:pt x="9" y="0"/>
                    </a:moveTo>
                    <a:lnTo>
                      <a:pt x="25" y="37"/>
                    </a:lnTo>
                    <a:lnTo>
                      <a:pt x="9" y="35"/>
                    </a:lnTo>
                    <a:lnTo>
                      <a:pt x="12" y="54"/>
                    </a:lnTo>
                    <a:lnTo>
                      <a:pt x="0" y="27"/>
                    </a:lnTo>
                    <a:lnTo>
                      <a:pt x="16" y="2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59" name="Freeform 808"/>
              <p:cNvSpPr>
                <a:spLocks/>
              </p:cNvSpPr>
              <p:nvPr/>
            </p:nvSpPr>
            <p:spPr bwMode="auto">
              <a:xfrm>
                <a:off x="2678" y="1811"/>
                <a:ext cx="24" cy="48"/>
              </a:xfrm>
              <a:custGeom>
                <a:avLst/>
                <a:gdLst>
                  <a:gd name="T0" fmla="*/ 9 w 24"/>
                  <a:gd name="T1" fmla="*/ 0 h 48"/>
                  <a:gd name="T2" fmla="*/ 24 w 24"/>
                  <a:gd name="T3" fmla="*/ 32 h 48"/>
                  <a:gd name="T4" fmla="*/ 8 w 24"/>
                  <a:gd name="T5" fmla="*/ 30 h 48"/>
                  <a:gd name="T6" fmla="*/ 11 w 24"/>
                  <a:gd name="T7" fmla="*/ 48 h 48"/>
                  <a:gd name="T8" fmla="*/ 0 w 24"/>
                  <a:gd name="T9" fmla="*/ 23 h 48"/>
                  <a:gd name="T10" fmla="*/ 16 w 24"/>
                  <a:gd name="T11" fmla="*/ 26 h 48"/>
                  <a:gd name="T12" fmla="*/ 9 w 24"/>
                  <a:gd name="T13" fmla="*/ 0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4"/>
                  <a:gd name="T22" fmla="*/ 0 h 48"/>
                  <a:gd name="T23" fmla="*/ 24 w 24"/>
                  <a:gd name="T24" fmla="*/ 48 h 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4" h="48">
                    <a:moveTo>
                      <a:pt x="9" y="0"/>
                    </a:moveTo>
                    <a:lnTo>
                      <a:pt x="24" y="32"/>
                    </a:lnTo>
                    <a:lnTo>
                      <a:pt x="8" y="30"/>
                    </a:lnTo>
                    <a:lnTo>
                      <a:pt x="11" y="48"/>
                    </a:lnTo>
                    <a:lnTo>
                      <a:pt x="0" y="23"/>
                    </a:lnTo>
                    <a:lnTo>
                      <a:pt x="16" y="2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60" name="Freeform 809"/>
              <p:cNvSpPr>
                <a:spLocks/>
              </p:cNvSpPr>
              <p:nvPr/>
            </p:nvSpPr>
            <p:spPr bwMode="auto">
              <a:xfrm>
                <a:off x="2679" y="1814"/>
                <a:ext cx="23" cy="44"/>
              </a:xfrm>
              <a:custGeom>
                <a:avLst/>
                <a:gdLst>
                  <a:gd name="T0" fmla="*/ 10 w 23"/>
                  <a:gd name="T1" fmla="*/ 0 h 44"/>
                  <a:gd name="T2" fmla="*/ 23 w 23"/>
                  <a:gd name="T3" fmla="*/ 30 h 44"/>
                  <a:gd name="T4" fmla="*/ 7 w 23"/>
                  <a:gd name="T5" fmla="*/ 27 h 44"/>
                  <a:gd name="T6" fmla="*/ 10 w 23"/>
                  <a:gd name="T7" fmla="*/ 44 h 44"/>
                  <a:gd name="T8" fmla="*/ 0 w 23"/>
                  <a:gd name="T9" fmla="*/ 21 h 44"/>
                  <a:gd name="T10" fmla="*/ 16 w 23"/>
                  <a:gd name="T11" fmla="*/ 24 h 44"/>
                  <a:gd name="T12" fmla="*/ 10 w 23"/>
                  <a:gd name="T13" fmla="*/ 0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"/>
                  <a:gd name="T22" fmla="*/ 0 h 44"/>
                  <a:gd name="T23" fmla="*/ 23 w 23"/>
                  <a:gd name="T24" fmla="*/ 44 h 4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" h="44">
                    <a:moveTo>
                      <a:pt x="10" y="0"/>
                    </a:moveTo>
                    <a:lnTo>
                      <a:pt x="23" y="30"/>
                    </a:lnTo>
                    <a:lnTo>
                      <a:pt x="7" y="27"/>
                    </a:lnTo>
                    <a:lnTo>
                      <a:pt x="10" y="44"/>
                    </a:lnTo>
                    <a:lnTo>
                      <a:pt x="0" y="21"/>
                    </a:lnTo>
                    <a:lnTo>
                      <a:pt x="16" y="24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61" name="Freeform 810"/>
              <p:cNvSpPr>
                <a:spLocks/>
              </p:cNvSpPr>
              <p:nvPr/>
            </p:nvSpPr>
            <p:spPr bwMode="auto">
              <a:xfrm>
                <a:off x="2679" y="1817"/>
                <a:ext cx="23" cy="39"/>
              </a:xfrm>
              <a:custGeom>
                <a:avLst/>
                <a:gdLst>
                  <a:gd name="T0" fmla="*/ 11 w 23"/>
                  <a:gd name="T1" fmla="*/ 0 h 39"/>
                  <a:gd name="T2" fmla="*/ 23 w 23"/>
                  <a:gd name="T3" fmla="*/ 26 h 39"/>
                  <a:gd name="T4" fmla="*/ 7 w 23"/>
                  <a:gd name="T5" fmla="*/ 24 h 39"/>
                  <a:gd name="T6" fmla="*/ 10 w 23"/>
                  <a:gd name="T7" fmla="*/ 39 h 39"/>
                  <a:gd name="T8" fmla="*/ 0 w 23"/>
                  <a:gd name="T9" fmla="*/ 19 h 39"/>
                  <a:gd name="T10" fmla="*/ 16 w 23"/>
                  <a:gd name="T11" fmla="*/ 21 h 39"/>
                  <a:gd name="T12" fmla="*/ 11 w 23"/>
                  <a:gd name="T13" fmla="*/ 0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"/>
                  <a:gd name="T22" fmla="*/ 0 h 39"/>
                  <a:gd name="T23" fmla="*/ 23 w 23"/>
                  <a:gd name="T24" fmla="*/ 39 h 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" h="39">
                    <a:moveTo>
                      <a:pt x="11" y="0"/>
                    </a:moveTo>
                    <a:lnTo>
                      <a:pt x="23" y="26"/>
                    </a:lnTo>
                    <a:lnTo>
                      <a:pt x="7" y="24"/>
                    </a:lnTo>
                    <a:lnTo>
                      <a:pt x="10" y="39"/>
                    </a:lnTo>
                    <a:lnTo>
                      <a:pt x="0" y="19"/>
                    </a:lnTo>
                    <a:lnTo>
                      <a:pt x="16" y="2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62" name="Freeform 811"/>
              <p:cNvSpPr>
                <a:spLocks/>
              </p:cNvSpPr>
              <p:nvPr/>
            </p:nvSpPr>
            <p:spPr bwMode="auto">
              <a:xfrm>
                <a:off x="2680" y="1820"/>
                <a:ext cx="21" cy="33"/>
              </a:xfrm>
              <a:custGeom>
                <a:avLst/>
                <a:gdLst>
                  <a:gd name="T0" fmla="*/ 11 w 21"/>
                  <a:gd name="T1" fmla="*/ 0 h 33"/>
                  <a:gd name="T2" fmla="*/ 21 w 21"/>
                  <a:gd name="T3" fmla="*/ 23 h 33"/>
                  <a:gd name="T4" fmla="*/ 6 w 21"/>
                  <a:gd name="T5" fmla="*/ 21 h 33"/>
                  <a:gd name="T6" fmla="*/ 8 w 21"/>
                  <a:gd name="T7" fmla="*/ 33 h 33"/>
                  <a:gd name="T8" fmla="*/ 0 w 21"/>
                  <a:gd name="T9" fmla="*/ 16 h 33"/>
                  <a:gd name="T10" fmla="*/ 15 w 21"/>
                  <a:gd name="T11" fmla="*/ 18 h 33"/>
                  <a:gd name="T12" fmla="*/ 11 w 21"/>
                  <a:gd name="T13" fmla="*/ 0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33"/>
                  <a:gd name="T23" fmla="*/ 21 w 21"/>
                  <a:gd name="T24" fmla="*/ 33 h 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33">
                    <a:moveTo>
                      <a:pt x="11" y="0"/>
                    </a:moveTo>
                    <a:lnTo>
                      <a:pt x="21" y="23"/>
                    </a:lnTo>
                    <a:lnTo>
                      <a:pt x="6" y="21"/>
                    </a:lnTo>
                    <a:lnTo>
                      <a:pt x="8" y="33"/>
                    </a:lnTo>
                    <a:lnTo>
                      <a:pt x="0" y="16"/>
                    </a:lnTo>
                    <a:lnTo>
                      <a:pt x="15" y="18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63" name="Freeform 812"/>
              <p:cNvSpPr>
                <a:spLocks/>
              </p:cNvSpPr>
              <p:nvPr/>
            </p:nvSpPr>
            <p:spPr bwMode="auto">
              <a:xfrm>
                <a:off x="2680" y="1823"/>
                <a:ext cx="21" cy="28"/>
              </a:xfrm>
              <a:custGeom>
                <a:avLst/>
                <a:gdLst>
                  <a:gd name="T0" fmla="*/ 12 w 21"/>
                  <a:gd name="T1" fmla="*/ 0 h 28"/>
                  <a:gd name="T2" fmla="*/ 21 w 21"/>
                  <a:gd name="T3" fmla="*/ 19 h 28"/>
                  <a:gd name="T4" fmla="*/ 5 w 21"/>
                  <a:gd name="T5" fmla="*/ 17 h 28"/>
                  <a:gd name="T6" fmla="*/ 7 w 21"/>
                  <a:gd name="T7" fmla="*/ 28 h 28"/>
                  <a:gd name="T8" fmla="*/ 0 w 21"/>
                  <a:gd name="T9" fmla="*/ 13 h 28"/>
                  <a:gd name="T10" fmla="*/ 16 w 21"/>
                  <a:gd name="T11" fmla="*/ 17 h 28"/>
                  <a:gd name="T12" fmla="*/ 12 w 21"/>
                  <a:gd name="T13" fmla="*/ 0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28"/>
                  <a:gd name="T23" fmla="*/ 21 w 21"/>
                  <a:gd name="T24" fmla="*/ 28 h 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28">
                    <a:moveTo>
                      <a:pt x="12" y="0"/>
                    </a:moveTo>
                    <a:lnTo>
                      <a:pt x="21" y="19"/>
                    </a:lnTo>
                    <a:lnTo>
                      <a:pt x="5" y="17"/>
                    </a:lnTo>
                    <a:lnTo>
                      <a:pt x="7" y="28"/>
                    </a:lnTo>
                    <a:lnTo>
                      <a:pt x="0" y="13"/>
                    </a:lnTo>
                    <a:lnTo>
                      <a:pt x="16" y="17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64" name="Freeform 813"/>
              <p:cNvSpPr>
                <a:spLocks/>
              </p:cNvSpPr>
              <p:nvPr/>
            </p:nvSpPr>
            <p:spPr bwMode="auto">
              <a:xfrm>
                <a:off x="2680" y="1827"/>
                <a:ext cx="20" cy="22"/>
              </a:xfrm>
              <a:custGeom>
                <a:avLst/>
                <a:gdLst>
                  <a:gd name="T0" fmla="*/ 13 w 20"/>
                  <a:gd name="T1" fmla="*/ 0 h 22"/>
                  <a:gd name="T2" fmla="*/ 16 w 20"/>
                  <a:gd name="T3" fmla="*/ 13 h 22"/>
                  <a:gd name="T4" fmla="*/ 0 w 20"/>
                  <a:gd name="T5" fmla="*/ 10 h 22"/>
                  <a:gd name="T6" fmla="*/ 6 w 20"/>
                  <a:gd name="T7" fmla="*/ 22 h 22"/>
                  <a:gd name="T8" fmla="*/ 4 w 20"/>
                  <a:gd name="T9" fmla="*/ 13 h 22"/>
                  <a:gd name="T10" fmla="*/ 20 w 20"/>
                  <a:gd name="T11" fmla="*/ 15 h 22"/>
                  <a:gd name="T12" fmla="*/ 13 w 20"/>
                  <a:gd name="T13" fmla="*/ 0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"/>
                  <a:gd name="T22" fmla="*/ 0 h 22"/>
                  <a:gd name="T23" fmla="*/ 20 w 20"/>
                  <a:gd name="T24" fmla="*/ 22 h 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" h="22">
                    <a:moveTo>
                      <a:pt x="13" y="0"/>
                    </a:moveTo>
                    <a:lnTo>
                      <a:pt x="16" y="13"/>
                    </a:lnTo>
                    <a:lnTo>
                      <a:pt x="0" y="10"/>
                    </a:lnTo>
                    <a:lnTo>
                      <a:pt x="6" y="22"/>
                    </a:lnTo>
                    <a:lnTo>
                      <a:pt x="4" y="13"/>
                    </a:lnTo>
                    <a:lnTo>
                      <a:pt x="20" y="15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65" name="Freeform 814"/>
              <p:cNvSpPr>
                <a:spLocks/>
              </p:cNvSpPr>
              <p:nvPr/>
            </p:nvSpPr>
            <p:spPr bwMode="auto">
              <a:xfrm>
                <a:off x="2570" y="1845"/>
                <a:ext cx="61" cy="46"/>
              </a:xfrm>
              <a:custGeom>
                <a:avLst/>
                <a:gdLst>
                  <a:gd name="T0" fmla="*/ 0 w 61"/>
                  <a:gd name="T1" fmla="*/ 0 h 46"/>
                  <a:gd name="T2" fmla="*/ 37 w 61"/>
                  <a:gd name="T3" fmla="*/ 22 h 46"/>
                  <a:gd name="T4" fmla="*/ 24 w 61"/>
                  <a:gd name="T5" fmla="*/ 31 h 46"/>
                  <a:gd name="T6" fmla="*/ 61 w 61"/>
                  <a:gd name="T7" fmla="*/ 46 h 46"/>
                  <a:gd name="T8" fmla="*/ 40 w 61"/>
                  <a:gd name="T9" fmla="*/ 30 h 46"/>
                  <a:gd name="T10" fmla="*/ 53 w 61"/>
                  <a:gd name="T11" fmla="*/ 20 h 46"/>
                  <a:gd name="T12" fmla="*/ 0 w 61"/>
                  <a:gd name="T13" fmla="*/ 0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1"/>
                  <a:gd name="T22" fmla="*/ 0 h 46"/>
                  <a:gd name="T23" fmla="*/ 61 w 61"/>
                  <a:gd name="T24" fmla="*/ 46 h 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1" h="46">
                    <a:moveTo>
                      <a:pt x="0" y="0"/>
                    </a:moveTo>
                    <a:lnTo>
                      <a:pt x="37" y="22"/>
                    </a:lnTo>
                    <a:lnTo>
                      <a:pt x="24" y="31"/>
                    </a:lnTo>
                    <a:lnTo>
                      <a:pt x="61" y="46"/>
                    </a:lnTo>
                    <a:lnTo>
                      <a:pt x="40" y="30"/>
                    </a:lnTo>
                    <a:lnTo>
                      <a:pt x="53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66" name="Freeform 815"/>
              <p:cNvSpPr>
                <a:spLocks/>
              </p:cNvSpPr>
              <p:nvPr/>
            </p:nvSpPr>
            <p:spPr bwMode="auto">
              <a:xfrm>
                <a:off x="2569" y="1842"/>
                <a:ext cx="41" cy="26"/>
              </a:xfrm>
              <a:custGeom>
                <a:avLst/>
                <a:gdLst>
                  <a:gd name="T0" fmla="*/ 40 w 41"/>
                  <a:gd name="T1" fmla="*/ 25 h 26"/>
                  <a:gd name="T2" fmla="*/ 40 w 41"/>
                  <a:gd name="T3" fmla="*/ 21 h 26"/>
                  <a:gd name="T4" fmla="*/ 2 w 41"/>
                  <a:gd name="T5" fmla="*/ 0 h 26"/>
                  <a:gd name="T6" fmla="*/ 0 w 41"/>
                  <a:gd name="T7" fmla="*/ 4 h 26"/>
                  <a:gd name="T8" fmla="*/ 37 w 41"/>
                  <a:gd name="T9" fmla="*/ 26 h 26"/>
                  <a:gd name="T10" fmla="*/ 37 w 41"/>
                  <a:gd name="T11" fmla="*/ 22 h 26"/>
                  <a:gd name="T12" fmla="*/ 37 w 41"/>
                  <a:gd name="T13" fmla="*/ 26 h 26"/>
                  <a:gd name="T14" fmla="*/ 39 w 41"/>
                  <a:gd name="T15" fmla="*/ 26 h 26"/>
                  <a:gd name="T16" fmla="*/ 41 w 41"/>
                  <a:gd name="T17" fmla="*/ 25 h 26"/>
                  <a:gd name="T18" fmla="*/ 41 w 41"/>
                  <a:gd name="T19" fmla="*/ 23 h 26"/>
                  <a:gd name="T20" fmla="*/ 40 w 41"/>
                  <a:gd name="T21" fmla="*/ 21 h 26"/>
                  <a:gd name="T22" fmla="*/ 40 w 41"/>
                  <a:gd name="T23" fmla="*/ 25 h 2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1"/>
                  <a:gd name="T37" fmla="*/ 0 h 26"/>
                  <a:gd name="T38" fmla="*/ 41 w 41"/>
                  <a:gd name="T39" fmla="*/ 26 h 2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1" h="26">
                    <a:moveTo>
                      <a:pt x="40" y="25"/>
                    </a:moveTo>
                    <a:lnTo>
                      <a:pt x="40" y="21"/>
                    </a:lnTo>
                    <a:lnTo>
                      <a:pt x="2" y="0"/>
                    </a:lnTo>
                    <a:lnTo>
                      <a:pt x="0" y="4"/>
                    </a:lnTo>
                    <a:lnTo>
                      <a:pt x="37" y="26"/>
                    </a:lnTo>
                    <a:lnTo>
                      <a:pt x="37" y="22"/>
                    </a:lnTo>
                    <a:lnTo>
                      <a:pt x="37" y="26"/>
                    </a:lnTo>
                    <a:lnTo>
                      <a:pt x="39" y="26"/>
                    </a:lnTo>
                    <a:lnTo>
                      <a:pt x="41" y="25"/>
                    </a:lnTo>
                    <a:lnTo>
                      <a:pt x="41" y="23"/>
                    </a:lnTo>
                    <a:lnTo>
                      <a:pt x="40" y="21"/>
                    </a:lnTo>
                    <a:lnTo>
                      <a:pt x="4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67" name="Freeform 816"/>
              <p:cNvSpPr>
                <a:spLocks/>
              </p:cNvSpPr>
              <p:nvPr/>
            </p:nvSpPr>
            <p:spPr bwMode="auto">
              <a:xfrm>
                <a:off x="2592" y="1864"/>
                <a:ext cx="16" cy="14"/>
              </a:xfrm>
              <a:custGeom>
                <a:avLst/>
                <a:gdLst>
                  <a:gd name="T0" fmla="*/ 3 w 16"/>
                  <a:gd name="T1" fmla="*/ 10 h 14"/>
                  <a:gd name="T2" fmla="*/ 3 w 16"/>
                  <a:gd name="T3" fmla="*/ 14 h 14"/>
                  <a:gd name="T4" fmla="*/ 16 w 16"/>
                  <a:gd name="T5" fmla="*/ 4 h 14"/>
                  <a:gd name="T6" fmla="*/ 13 w 16"/>
                  <a:gd name="T7" fmla="*/ 0 h 14"/>
                  <a:gd name="T8" fmla="*/ 1 w 16"/>
                  <a:gd name="T9" fmla="*/ 10 h 14"/>
                  <a:gd name="T10" fmla="*/ 1 w 16"/>
                  <a:gd name="T11" fmla="*/ 14 h 14"/>
                  <a:gd name="T12" fmla="*/ 1 w 16"/>
                  <a:gd name="T13" fmla="*/ 10 h 14"/>
                  <a:gd name="T14" fmla="*/ 0 w 16"/>
                  <a:gd name="T15" fmla="*/ 12 h 14"/>
                  <a:gd name="T16" fmla="*/ 0 w 16"/>
                  <a:gd name="T17" fmla="*/ 13 h 14"/>
                  <a:gd name="T18" fmla="*/ 1 w 16"/>
                  <a:gd name="T19" fmla="*/ 14 h 14"/>
                  <a:gd name="T20" fmla="*/ 3 w 16"/>
                  <a:gd name="T21" fmla="*/ 14 h 14"/>
                  <a:gd name="T22" fmla="*/ 3 w 16"/>
                  <a:gd name="T23" fmla="*/ 10 h 1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6"/>
                  <a:gd name="T37" fmla="*/ 0 h 14"/>
                  <a:gd name="T38" fmla="*/ 16 w 16"/>
                  <a:gd name="T39" fmla="*/ 14 h 1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6" h="14">
                    <a:moveTo>
                      <a:pt x="3" y="10"/>
                    </a:moveTo>
                    <a:lnTo>
                      <a:pt x="3" y="14"/>
                    </a:lnTo>
                    <a:lnTo>
                      <a:pt x="16" y="4"/>
                    </a:lnTo>
                    <a:lnTo>
                      <a:pt x="13" y="0"/>
                    </a:lnTo>
                    <a:lnTo>
                      <a:pt x="1" y="10"/>
                    </a:lnTo>
                    <a:lnTo>
                      <a:pt x="1" y="14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3"/>
                    </a:lnTo>
                    <a:lnTo>
                      <a:pt x="1" y="14"/>
                    </a:lnTo>
                    <a:lnTo>
                      <a:pt x="3" y="14"/>
                    </a:lnTo>
                    <a:lnTo>
                      <a:pt x="3" y="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68" name="Freeform 817"/>
              <p:cNvSpPr>
                <a:spLocks/>
              </p:cNvSpPr>
              <p:nvPr/>
            </p:nvSpPr>
            <p:spPr bwMode="auto">
              <a:xfrm>
                <a:off x="2593" y="1874"/>
                <a:ext cx="40" cy="19"/>
              </a:xfrm>
              <a:custGeom>
                <a:avLst/>
                <a:gdLst>
                  <a:gd name="T0" fmla="*/ 36 w 40"/>
                  <a:gd name="T1" fmla="*/ 19 h 19"/>
                  <a:gd name="T2" fmla="*/ 39 w 40"/>
                  <a:gd name="T3" fmla="*/ 15 h 19"/>
                  <a:gd name="T4" fmla="*/ 2 w 40"/>
                  <a:gd name="T5" fmla="*/ 0 h 19"/>
                  <a:gd name="T6" fmla="*/ 0 w 40"/>
                  <a:gd name="T7" fmla="*/ 4 h 19"/>
                  <a:gd name="T8" fmla="*/ 37 w 40"/>
                  <a:gd name="T9" fmla="*/ 19 h 19"/>
                  <a:gd name="T10" fmla="*/ 39 w 40"/>
                  <a:gd name="T11" fmla="*/ 15 h 19"/>
                  <a:gd name="T12" fmla="*/ 37 w 40"/>
                  <a:gd name="T13" fmla="*/ 19 h 19"/>
                  <a:gd name="T14" fmla="*/ 39 w 40"/>
                  <a:gd name="T15" fmla="*/ 19 h 19"/>
                  <a:gd name="T16" fmla="*/ 40 w 40"/>
                  <a:gd name="T17" fmla="*/ 18 h 19"/>
                  <a:gd name="T18" fmla="*/ 40 w 40"/>
                  <a:gd name="T19" fmla="*/ 16 h 19"/>
                  <a:gd name="T20" fmla="*/ 39 w 40"/>
                  <a:gd name="T21" fmla="*/ 15 h 19"/>
                  <a:gd name="T22" fmla="*/ 36 w 40"/>
                  <a:gd name="T23" fmla="*/ 19 h 1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0"/>
                  <a:gd name="T37" fmla="*/ 0 h 19"/>
                  <a:gd name="T38" fmla="*/ 40 w 40"/>
                  <a:gd name="T39" fmla="*/ 19 h 1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0" h="19">
                    <a:moveTo>
                      <a:pt x="36" y="19"/>
                    </a:moveTo>
                    <a:lnTo>
                      <a:pt x="39" y="15"/>
                    </a:lnTo>
                    <a:lnTo>
                      <a:pt x="2" y="0"/>
                    </a:lnTo>
                    <a:lnTo>
                      <a:pt x="0" y="4"/>
                    </a:lnTo>
                    <a:lnTo>
                      <a:pt x="37" y="19"/>
                    </a:lnTo>
                    <a:lnTo>
                      <a:pt x="39" y="15"/>
                    </a:lnTo>
                    <a:lnTo>
                      <a:pt x="37" y="19"/>
                    </a:lnTo>
                    <a:lnTo>
                      <a:pt x="39" y="19"/>
                    </a:lnTo>
                    <a:lnTo>
                      <a:pt x="40" y="18"/>
                    </a:lnTo>
                    <a:lnTo>
                      <a:pt x="40" y="16"/>
                    </a:lnTo>
                    <a:lnTo>
                      <a:pt x="39" y="15"/>
                    </a:lnTo>
                    <a:lnTo>
                      <a:pt x="36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69" name="Freeform 818"/>
              <p:cNvSpPr>
                <a:spLocks/>
              </p:cNvSpPr>
              <p:nvPr/>
            </p:nvSpPr>
            <p:spPr bwMode="auto">
              <a:xfrm>
                <a:off x="2608" y="1872"/>
                <a:ext cx="25" cy="21"/>
              </a:xfrm>
              <a:custGeom>
                <a:avLst/>
                <a:gdLst>
                  <a:gd name="T0" fmla="*/ 1 w 25"/>
                  <a:gd name="T1" fmla="*/ 1 h 21"/>
                  <a:gd name="T2" fmla="*/ 1 w 25"/>
                  <a:gd name="T3" fmla="*/ 5 h 21"/>
                  <a:gd name="T4" fmla="*/ 22 w 25"/>
                  <a:gd name="T5" fmla="*/ 21 h 21"/>
                  <a:gd name="T6" fmla="*/ 25 w 25"/>
                  <a:gd name="T7" fmla="*/ 17 h 21"/>
                  <a:gd name="T8" fmla="*/ 4 w 25"/>
                  <a:gd name="T9" fmla="*/ 1 h 21"/>
                  <a:gd name="T10" fmla="*/ 4 w 25"/>
                  <a:gd name="T11" fmla="*/ 5 h 21"/>
                  <a:gd name="T12" fmla="*/ 4 w 25"/>
                  <a:gd name="T13" fmla="*/ 1 h 21"/>
                  <a:gd name="T14" fmla="*/ 2 w 25"/>
                  <a:gd name="T15" fmla="*/ 0 h 21"/>
                  <a:gd name="T16" fmla="*/ 1 w 25"/>
                  <a:gd name="T17" fmla="*/ 1 h 21"/>
                  <a:gd name="T18" fmla="*/ 0 w 25"/>
                  <a:gd name="T19" fmla="*/ 3 h 21"/>
                  <a:gd name="T20" fmla="*/ 1 w 25"/>
                  <a:gd name="T21" fmla="*/ 5 h 21"/>
                  <a:gd name="T22" fmla="*/ 1 w 25"/>
                  <a:gd name="T23" fmla="*/ 1 h 2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5"/>
                  <a:gd name="T37" fmla="*/ 0 h 21"/>
                  <a:gd name="T38" fmla="*/ 25 w 25"/>
                  <a:gd name="T39" fmla="*/ 21 h 2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5" h="21">
                    <a:moveTo>
                      <a:pt x="1" y="1"/>
                    </a:moveTo>
                    <a:lnTo>
                      <a:pt x="1" y="5"/>
                    </a:lnTo>
                    <a:lnTo>
                      <a:pt x="22" y="21"/>
                    </a:lnTo>
                    <a:lnTo>
                      <a:pt x="25" y="17"/>
                    </a:lnTo>
                    <a:lnTo>
                      <a:pt x="4" y="1"/>
                    </a:lnTo>
                    <a:lnTo>
                      <a:pt x="4" y="5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1" y="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70" name="Freeform 819"/>
              <p:cNvSpPr>
                <a:spLocks/>
              </p:cNvSpPr>
              <p:nvPr/>
            </p:nvSpPr>
            <p:spPr bwMode="auto">
              <a:xfrm>
                <a:off x="2608" y="1862"/>
                <a:ext cx="17" cy="15"/>
              </a:xfrm>
              <a:custGeom>
                <a:avLst/>
                <a:gdLst>
                  <a:gd name="T0" fmla="*/ 14 w 17"/>
                  <a:gd name="T1" fmla="*/ 5 h 15"/>
                  <a:gd name="T2" fmla="*/ 13 w 17"/>
                  <a:gd name="T3" fmla="*/ 1 h 15"/>
                  <a:gd name="T4" fmla="*/ 0 w 17"/>
                  <a:gd name="T5" fmla="*/ 11 h 15"/>
                  <a:gd name="T6" fmla="*/ 3 w 17"/>
                  <a:gd name="T7" fmla="*/ 15 h 15"/>
                  <a:gd name="T8" fmla="*/ 16 w 17"/>
                  <a:gd name="T9" fmla="*/ 4 h 15"/>
                  <a:gd name="T10" fmla="*/ 15 w 17"/>
                  <a:gd name="T11" fmla="*/ 0 h 15"/>
                  <a:gd name="T12" fmla="*/ 16 w 17"/>
                  <a:gd name="T13" fmla="*/ 4 h 15"/>
                  <a:gd name="T14" fmla="*/ 17 w 17"/>
                  <a:gd name="T15" fmla="*/ 3 h 15"/>
                  <a:gd name="T16" fmla="*/ 16 w 17"/>
                  <a:gd name="T17" fmla="*/ 1 h 15"/>
                  <a:gd name="T18" fmla="*/ 15 w 17"/>
                  <a:gd name="T19" fmla="*/ 0 h 15"/>
                  <a:gd name="T20" fmla="*/ 13 w 17"/>
                  <a:gd name="T21" fmla="*/ 1 h 15"/>
                  <a:gd name="T22" fmla="*/ 14 w 17"/>
                  <a:gd name="T23" fmla="*/ 5 h 1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7"/>
                  <a:gd name="T37" fmla="*/ 0 h 15"/>
                  <a:gd name="T38" fmla="*/ 17 w 17"/>
                  <a:gd name="T39" fmla="*/ 15 h 1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7" h="15">
                    <a:moveTo>
                      <a:pt x="14" y="5"/>
                    </a:moveTo>
                    <a:lnTo>
                      <a:pt x="13" y="1"/>
                    </a:lnTo>
                    <a:lnTo>
                      <a:pt x="0" y="11"/>
                    </a:lnTo>
                    <a:lnTo>
                      <a:pt x="3" y="15"/>
                    </a:lnTo>
                    <a:lnTo>
                      <a:pt x="16" y="4"/>
                    </a:lnTo>
                    <a:lnTo>
                      <a:pt x="15" y="0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6" y="1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4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71" name="Freeform 820"/>
              <p:cNvSpPr>
                <a:spLocks/>
              </p:cNvSpPr>
              <p:nvPr/>
            </p:nvSpPr>
            <p:spPr bwMode="auto">
              <a:xfrm>
                <a:off x="2568" y="1842"/>
                <a:ext cx="56" cy="25"/>
              </a:xfrm>
              <a:custGeom>
                <a:avLst/>
                <a:gdLst>
                  <a:gd name="T0" fmla="*/ 3 w 56"/>
                  <a:gd name="T1" fmla="*/ 0 h 25"/>
                  <a:gd name="T2" fmla="*/ 1 w 56"/>
                  <a:gd name="T3" fmla="*/ 5 h 25"/>
                  <a:gd name="T4" fmla="*/ 54 w 56"/>
                  <a:gd name="T5" fmla="*/ 25 h 25"/>
                  <a:gd name="T6" fmla="*/ 56 w 56"/>
                  <a:gd name="T7" fmla="*/ 21 h 25"/>
                  <a:gd name="T8" fmla="*/ 3 w 56"/>
                  <a:gd name="T9" fmla="*/ 0 h 25"/>
                  <a:gd name="T10" fmla="*/ 1 w 56"/>
                  <a:gd name="T11" fmla="*/ 5 h 25"/>
                  <a:gd name="T12" fmla="*/ 3 w 56"/>
                  <a:gd name="T13" fmla="*/ 0 h 25"/>
                  <a:gd name="T14" fmla="*/ 1 w 56"/>
                  <a:gd name="T15" fmla="*/ 0 h 25"/>
                  <a:gd name="T16" fmla="*/ 0 w 56"/>
                  <a:gd name="T17" fmla="*/ 1 h 25"/>
                  <a:gd name="T18" fmla="*/ 0 w 56"/>
                  <a:gd name="T19" fmla="*/ 3 h 25"/>
                  <a:gd name="T20" fmla="*/ 1 w 56"/>
                  <a:gd name="T21" fmla="*/ 5 h 25"/>
                  <a:gd name="T22" fmla="*/ 3 w 56"/>
                  <a:gd name="T23" fmla="*/ 0 h 2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6"/>
                  <a:gd name="T37" fmla="*/ 0 h 25"/>
                  <a:gd name="T38" fmla="*/ 56 w 56"/>
                  <a:gd name="T39" fmla="*/ 25 h 2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6" h="25">
                    <a:moveTo>
                      <a:pt x="3" y="0"/>
                    </a:moveTo>
                    <a:lnTo>
                      <a:pt x="1" y="5"/>
                    </a:lnTo>
                    <a:lnTo>
                      <a:pt x="54" y="25"/>
                    </a:lnTo>
                    <a:lnTo>
                      <a:pt x="56" y="21"/>
                    </a:lnTo>
                    <a:lnTo>
                      <a:pt x="3" y="0"/>
                    </a:lnTo>
                    <a:lnTo>
                      <a:pt x="1" y="5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72" name="Freeform 821"/>
              <p:cNvSpPr>
                <a:spLocks/>
              </p:cNvSpPr>
              <p:nvPr/>
            </p:nvSpPr>
            <p:spPr bwMode="auto">
              <a:xfrm>
                <a:off x="2574" y="1846"/>
                <a:ext cx="55" cy="44"/>
              </a:xfrm>
              <a:custGeom>
                <a:avLst/>
                <a:gdLst>
                  <a:gd name="T0" fmla="*/ 0 w 55"/>
                  <a:gd name="T1" fmla="*/ 0 h 44"/>
                  <a:gd name="T2" fmla="*/ 48 w 55"/>
                  <a:gd name="T3" fmla="*/ 19 h 44"/>
                  <a:gd name="T4" fmla="*/ 36 w 55"/>
                  <a:gd name="T5" fmla="*/ 29 h 44"/>
                  <a:gd name="T6" fmla="*/ 55 w 55"/>
                  <a:gd name="T7" fmla="*/ 44 h 44"/>
                  <a:gd name="T8" fmla="*/ 21 w 55"/>
                  <a:gd name="T9" fmla="*/ 30 h 44"/>
                  <a:gd name="T10" fmla="*/ 34 w 55"/>
                  <a:gd name="T11" fmla="*/ 20 h 44"/>
                  <a:gd name="T12" fmla="*/ 0 w 55"/>
                  <a:gd name="T13" fmla="*/ 0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5"/>
                  <a:gd name="T22" fmla="*/ 0 h 44"/>
                  <a:gd name="T23" fmla="*/ 55 w 55"/>
                  <a:gd name="T24" fmla="*/ 44 h 4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5" h="44">
                    <a:moveTo>
                      <a:pt x="0" y="0"/>
                    </a:moveTo>
                    <a:lnTo>
                      <a:pt x="48" y="19"/>
                    </a:lnTo>
                    <a:lnTo>
                      <a:pt x="36" y="29"/>
                    </a:lnTo>
                    <a:lnTo>
                      <a:pt x="55" y="44"/>
                    </a:lnTo>
                    <a:lnTo>
                      <a:pt x="21" y="30"/>
                    </a:lnTo>
                    <a:lnTo>
                      <a:pt x="34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191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73" name="Freeform 822"/>
              <p:cNvSpPr>
                <a:spLocks/>
              </p:cNvSpPr>
              <p:nvPr/>
            </p:nvSpPr>
            <p:spPr bwMode="auto">
              <a:xfrm>
                <a:off x="2577" y="1847"/>
                <a:ext cx="51" cy="42"/>
              </a:xfrm>
              <a:custGeom>
                <a:avLst/>
                <a:gdLst>
                  <a:gd name="T0" fmla="*/ 0 w 51"/>
                  <a:gd name="T1" fmla="*/ 0 h 42"/>
                  <a:gd name="T2" fmla="*/ 45 w 51"/>
                  <a:gd name="T3" fmla="*/ 18 h 42"/>
                  <a:gd name="T4" fmla="*/ 32 w 51"/>
                  <a:gd name="T5" fmla="*/ 28 h 42"/>
                  <a:gd name="T6" fmla="*/ 51 w 51"/>
                  <a:gd name="T7" fmla="*/ 42 h 42"/>
                  <a:gd name="T8" fmla="*/ 18 w 51"/>
                  <a:gd name="T9" fmla="*/ 29 h 42"/>
                  <a:gd name="T10" fmla="*/ 32 w 51"/>
                  <a:gd name="T11" fmla="*/ 19 h 42"/>
                  <a:gd name="T12" fmla="*/ 0 w 51"/>
                  <a:gd name="T13" fmla="*/ 0 h 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1"/>
                  <a:gd name="T22" fmla="*/ 0 h 42"/>
                  <a:gd name="T23" fmla="*/ 51 w 51"/>
                  <a:gd name="T24" fmla="*/ 42 h 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1" h="42">
                    <a:moveTo>
                      <a:pt x="0" y="0"/>
                    </a:moveTo>
                    <a:lnTo>
                      <a:pt x="45" y="18"/>
                    </a:lnTo>
                    <a:lnTo>
                      <a:pt x="32" y="28"/>
                    </a:lnTo>
                    <a:lnTo>
                      <a:pt x="51" y="42"/>
                    </a:lnTo>
                    <a:lnTo>
                      <a:pt x="18" y="29"/>
                    </a:lnTo>
                    <a:lnTo>
                      <a:pt x="32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74" name="Freeform 823"/>
              <p:cNvSpPr>
                <a:spLocks/>
              </p:cNvSpPr>
              <p:nvPr/>
            </p:nvSpPr>
            <p:spPr bwMode="auto">
              <a:xfrm>
                <a:off x="2580" y="1849"/>
                <a:ext cx="46" cy="39"/>
              </a:xfrm>
              <a:custGeom>
                <a:avLst/>
                <a:gdLst>
                  <a:gd name="T0" fmla="*/ 0 w 46"/>
                  <a:gd name="T1" fmla="*/ 0 h 39"/>
                  <a:gd name="T2" fmla="*/ 42 w 46"/>
                  <a:gd name="T3" fmla="*/ 16 h 39"/>
                  <a:gd name="T4" fmla="*/ 29 w 46"/>
                  <a:gd name="T5" fmla="*/ 26 h 39"/>
                  <a:gd name="T6" fmla="*/ 46 w 46"/>
                  <a:gd name="T7" fmla="*/ 39 h 39"/>
                  <a:gd name="T8" fmla="*/ 16 w 46"/>
                  <a:gd name="T9" fmla="*/ 27 h 39"/>
                  <a:gd name="T10" fmla="*/ 29 w 46"/>
                  <a:gd name="T11" fmla="*/ 17 h 39"/>
                  <a:gd name="T12" fmla="*/ 0 w 46"/>
                  <a:gd name="T13" fmla="*/ 0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6"/>
                  <a:gd name="T22" fmla="*/ 0 h 39"/>
                  <a:gd name="T23" fmla="*/ 46 w 46"/>
                  <a:gd name="T24" fmla="*/ 39 h 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6" h="39">
                    <a:moveTo>
                      <a:pt x="0" y="0"/>
                    </a:moveTo>
                    <a:lnTo>
                      <a:pt x="42" y="16"/>
                    </a:lnTo>
                    <a:lnTo>
                      <a:pt x="29" y="26"/>
                    </a:lnTo>
                    <a:lnTo>
                      <a:pt x="46" y="39"/>
                    </a:lnTo>
                    <a:lnTo>
                      <a:pt x="16" y="27"/>
                    </a:lnTo>
                    <a:lnTo>
                      <a:pt x="29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75" name="Freeform 824"/>
              <p:cNvSpPr>
                <a:spLocks/>
              </p:cNvSpPr>
              <p:nvPr/>
            </p:nvSpPr>
            <p:spPr bwMode="auto">
              <a:xfrm>
                <a:off x="2583" y="1850"/>
                <a:ext cx="41" cy="37"/>
              </a:xfrm>
              <a:custGeom>
                <a:avLst/>
                <a:gdLst>
                  <a:gd name="T0" fmla="*/ 0 w 41"/>
                  <a:gd name="T1" fmla="*/ 0 h 37"/>
                  <a:gd name="T2" fmla="*/ 38 w 41"/>
                  <a:gd name="T3" fmla="*/ 15 h 37"/>
                  <a:gd name="T4" fmla="*/ 25 w 41"/>
                  <a:gd name="T5" fmla="*/ 25 h 37"/>
                  <a:gd name="T6" fmla="*/ 41 w 41"/>
                  <a:gd name="T7" fmla="*/ 37 h 37"/>
                  <a:gd name="T8" fmla="*/ 14 w 41"/>
                  <a:gd name="T9" fmla="*/ 26 h 37"/>
                  <a:gd name="T10" fmla="*/ 27 w 41"/>
                  <a:gd name="T11" fmla="*/ 16 h 37"/>
                  <a:gd name="T12" fmla="*/ 0 w 41"/>
                  <a:gd name="T13" fmla="*/ 0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1"/>
                  <a:gd name="T22" fmla="*/ 0 h 37"/>
                  <a:gd name="T23" fmla="*/ 41 w 41"/>
                  <a:gd name="T24" fmla="*/ 37 h 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1" h="37">
                    <a:moveTo>
                      <a:pt x="0" y="0"/>
                    </a:moveTo>
                    <a:lnTo>
                      <a:pt x="38" y="15"/>
                    </a:lnTo>
                    <a:lnTo>
                      <a:pt x="25" y="25"/>
                    </a:lnTo>
                    <a:lnTo>
                      <a:pt x="41" y="37"/>
                    </a:lnTo>
                    <a:lnTo>
                      <a:pt x="14" y="26"/>
                    </a:lnTo>
                    <a:lnTo>
                      <a:pt x="27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76" name="Freeform 825"/>
              <p:cNvSpPr>
                <a:spLocks/>
              </p:cNvSpPr>
              <p:nvPr/>
            </p:nvSpPr>
            <p:spPr bwMode="auto">
              <a:xfrm>
                <a:off x="2586" y="1852"/>
                <a:ext cx="36" cy="33"/>
              </a:xfrm>
              <a:custGeom>
                <a:avLst/>
                <a:gdLst>
                  <a:gd name="T0" fmla="*/ 0 w 36"/>
                  <a:gd name="T1" fmla="*/ 0 h 33"/>
                  <a:gd name="T2" fmla="*/ 34 w 36"/>
                  <a:gd name="T3" fmla="*/ 13 h 33"/>
                  <a:gd name="T4" fmla="*/ 21 w 36"/>
                  <a:gd name="T5" fmla="*/ 23 h 33"/>
                  <a:gd name="T6" fmla="*/ 36 w 36"/>
                  <a:gd name="T7" fmla="*/ 33 h 33"/>
                  <a:gd name="T8" fmla="*/ 11 w 36"/>
                  <a:gd name="T9" fmla="*/ 24 h 33"/>
                  <a:gd name="T10" fmla="*/ 24 w 36"/>
                  <a:gd name="T11" fmla="*/ 14 h 33"/>
                  <a:gd name="T12" fmla="*/ 0 w 36"/>
                  <a:gd name="T13" fmla="*/ 0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6"/>
                  <a:gd name="T22" fmla="*/ 0 h 33"/>
                  <a:gd name="T23" fmla="*/ 36 w 36"/>
                  <a:gd name="T24" fmla="*/ 33 h 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6" h="33">
                    <a:moveTo>
                      <a:pt x="0" y="0"/>
                    </a:moveTo>
                    <a:lnTo>
                      <a:pt x="34" y="13"/>
                    </a:lnTo>
                    <a:lnTo>
                      <a:pt x="21" y="23"/>
                    </a:lnTo>
                    <a:lnTo>
                      <a:pt x="36" y="33"/>
                    </a:lnTo>
                    <a:lnTo>
                      <a:pt x="11" y="24"/>
                    </a:lnTo>
                    <a:lnTo>
                      <a:pt x="2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77" name="Freeform 826"/>
              <p:cNvSpPr>
                <a:spLocks/>
              </p:cNvSpPr>
              <p:nvPr/>
            </p:nvSpPr>
            <p:spPr bwMode="auto">
              <a:xfrm>
                <a:off x="2590" y="1853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30 w 31"/>
                  <a:gd name="T3" fmla="*/ 12 h 31"/>
                  <a:gd name="T4" fmla="*/ 17 w 31"/>
                  <a:gd name="T5" fmla="*/ 22 h 31"/>
                  <a:gd name="T6" fmla="*/ 31 w 31"/>
                  <a:gd name="T7" fmla="*/ 31 h 31"/>
                  <a:gd name="T8" fmla="*/ 8 w 31"/>
                  <a:gd name="T9" fmla="*/ 23 h 31"/>
                  <a:gd name="T10" fmla="*/ 21 w 31"/>
                  <a:gd name="T11" fmla="*/ 13 h 31"/>
                  <a:gd name="T12" fmla="*/ 0 w 31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"/>
                  <a:gd name="T22" fmla="*/ 0 h 31"/>
                  <a:gd name="T23" fmla="*/ 31 w 31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" h="31">
                    <a:moveTo>
                      <a:pt x="0" y="0"/>
                    </a:moveTo>
                    <a:lnTo>
                      <a:pt x="30" y="12"/>
                    </a:lnTo>
                    <a:lnTo>
                      <a:pt x="17" y="22"/>
                    </a:lnTo>
                    <a:lnTo>
                      <a:pt x="31" y="31"/>
                    </a:lnTo>
                    <a:lnTo>
                      <a:pt x="8" y="23"/>
                    </a:lnTo>
                    <a:lnTo>
                      <a:pt x="21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78" name="Freeform 827"/>
              <p:cNvSpPr>
                <a:spLocks/>
              </p:cNvSpPr>
              <p:nvPr/>
            </p:nvSpPr>
            <p:spPr bwMode="auto">
              <a:xfrm>
                <a:off x="2593" y="1856"/>
                <a:ext cx="25" cy="27"/>
              </a:xfrm>
              <a:custGeom>
                <a:avLst/>
                <a:gdLst>
                  <a:gd name="T0" fmla="*/ 0 w 25"/>
                  <a:gd name="T1" fmla="*/ 0 h 27"/>
                  <a:gd name="T2" fmla="*/ 25 w 25"/>
                  <a:gd name="T3" fmla="*/ 9 h 27"/>
                  <a:gd name="T4" fmla="*/ 13 w 25"/>
                  <a:gd name="T5" fmla="*/ 19 h 27"/>
                  <a:gd name="T6" fmla="*/ 24 w 25"/>
                  <a:gd name="T7" fmla="*/ 27 h 27"/>
                  <a:gd name="T8" fmla="*/ 5 w 25"/>
                  <a:gd name="T9" fmla="*/ 20 h 27"/>
                  <a:gd name="T10" fmla="*/ 18 w 25"/>
                  <a:gd name="T11" fmla="*/ 10 h 27"/>
                  <a:gd name="T12" fmla="*/ 0 w 25"/>
                  <a:gd name="T13" fmla="*/ 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27"/>
                  <a:gd name="T23" fmla="*/ 25 w 25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27">
                    <a:moveTo>
                      <a:pt x="0" y="0"/>
                    </a:moveTo>
                    <a:lnTo>
                      <a:pt x="25" y="9"/>
                    </a:lnTo>
                    <a:lnTo>
                      <a:pt x="13" y="19"/>
                    </a:lnTo>
                    <a:lnTo>
                      <a:pt x="24" y="27"/>
                    </a:lnTo>
                    <a:lnTo>
                      <a:pt x="5" y="20"/>
                    </a:lnTo>
                    <a:lnTo>
                      <a:pt x="18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79" name="Freeform 828"/>
              <p:cNvSpPr>
                <a:spLocks/>
              </p:cNvSpPr>
              <p:nvPr/>
            </p:nvSpPr>
            <p:spPr bwMode="auto">
              <a:xfrm>
                <a:off x="2596" y="1857"/>
                <a:ext cx="22" cy="25"/>
              </a:xfrm>
              <a:custGeom>
                <a:avLst/>
                <a:gdLst>
                  <a:gd name="T0" fmla="*/ 0 w 22"/>
                  <a:gd name="T1" fmla="*/ 0 h 25"/>
                  <a:gd name="T2" fmla="*/ 22 w 22"/>
                  <a:gd name="T3" fmla="*/ 8 h 25"/>
                  <a:gd name="T4" fmla="*/ 10 w 22"/>
                  <a:gd name="T5" fmla="*/ 18 h 25"/>
                  <a:gd name="T6" fmla="*/ 20 w 22"/>
                  <a:gd name="T7" fmla="*/ 25 h 25"/>
                  <a:gd name="T8" fmla="*/ 3 w 22"/>
                  <a:gd name="T9" fmla="*/ 19 h 25"/>
                  <a:gd name="T10" fmla="*/ 16 w 22"/>
                  <a:gd name="T11" fmla="*/ 9 h 25"/>
                  <a:gd name="T12" fmla="*/ 0 w 22"/>
                  <a:gd name="T13" fmla="*/ 0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2"/>
                  <a:gd name="T22" fmla="*/ 0 h 25"/>
                  <a:gd name="T23" fmla="*/ 22 w 22"/>
                  <a:gd name="T24" fmla="*/ 25 h 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2" h="25">
                    <a:moveTo>
                      <a:pt x="0" y="0"/>
                    </a:moveTo>
                    <a:lnTo>
                      <a:pt x="22" y="8"/>
                    </a:lnTo>
                    <a:lnTo>
                      <a:pt x="10" y="18"/>
                    </a:lnTo>
                    <a:lnTo>
                      <a:pt x="20" y="25"/>
                    </a:lnTo>
                    <a:lnTo>
                      <a:pt x="3" y="19"/>
                    </a:lnTo>
                    <a:lnTo>
                      <a:pt x="16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80" name="Freeform 829"/>
              <p:cNvSpPr>
                <a:spLocks/>
              </p:cNvSpPr>
              <p:nvPr/>
            </p:nvSpPr>
            <p:spPr bwMode="auto">
              <a:xfrm>
                <a:off x="2599" y="1858"/>
                <a:ext cx="18" cy="23"/>
              </a:xfrm>
              <a:custGeom>
                <a:avLst/>
                <a:gdLst>
                  <a:gd name="T0" fmla="*/ 0 w 18"/>
                  <a:gd name="T1" fmla="*/ 0 h 23"/>
                  <a:gd name="T2" fmla="*/ 18 w 18"/>
                  <a:gd name="T3" fmla="*/ 7 h 23"/>
                  <a:gd name="T4" fmla="*/ 7 w 18"/>
                  <a:gd name="T5" fmla="*/ 17 h 23"/>
                  <a:gd name="T6" fmla="*/ 15 w 18"/>
                  <a:gd name="T7" fmla="*/ 23 h 23"/>
                  <a:gd name="T8" fmla="*/ 1 w 18"/>
                  <a:gd name="T9" fmla="*/ 18 h 23"/>
                  <a:gd name="T10" fmla="*/ 13 w 18"/>
                  <a:gd name="T11" fmla="*/ 8 h 23"/>
                  <a:gd name="T12" fmla="*/ 0 w 18"/>
                  <a:gd name="T13" fmla="*/ 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"/>
                  <a:gd name="T22" fmla="*/ 0 h 23"/>
                  <a:gd name="T23" fmla="*/ 18 w 18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" h="23">
                    <a:moveTo>
                      <a:pt x="0" y="0"/>
                    </a:moveTo>
                    <a:lnTo>
                      <a:pt x="18" y="7"/>
                    </a:lnTo>
                    <a:lnTo>
                      <a:pt x="7" y="17"/>
                    </a:lnTo>
                    <a:lnTo>
                      <a:pt x="15" y="23"/>
                    </a:lnTo>
                    <a:lnTo>
                      <a:pt x="1" y="18"/>
                    </a:lnTo>
                    <a:lnTo>
                      <a:pt x="13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81" name="Freeform 830"/>
              <p:cNvSpPr>
                <a:spLocks/>
              </p:cNvSpPr>
              <p:nvPr/>
            </p:nvSpPr>
            <p:spPr bwMode="auto">
              <a:xfrm>
                <a:off x="2600" y="1860"/>
                <a:ext cx="17" cy="20"/>
              </a:xfrm>
              <a:custGeom>
                <a:avLst/>
                <a:gdLst>
                  <a:gd name="T0" fmla="*/ 2 w 17"/>
                  <a:gd name="T1" fmla="*/ 0 h 20"/>
                  <a:gd name="T2" fmla="*/ 13 w 17"/>
                  <a:gd name="T3" fmla="*/ 6 h 20"/>
                  <a:gd name="T4" fmla="*/ 0 w 17"/>
                  <a:gd name="T5" fmla="*/ 16 h 20"/>
                  <a:gd name="T6" fmla="*/ 13 w 17"/>
                  <a:gd name="T7" fmla="*/ 20 h 20"/>
                  <a:gd name="T8" fmla="*/ 5 w 17"/>
                  <a:gd name="T9" fmla="*/ 15 h 20"/>
                  <a:gd name="T10" fmla="*/ 17 w 17"/>
                  <a:gd name="T11" fmla="*/ 5 h 20"/>
                  <a:gd name="T12" fmla="*/ 2 w 17"/>
                  <a:gd name="T13" fmla="*/ 0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20"/>
                  <a:gd name="T23" fmla="*/ 17 w 17"/>
                  <a:gd name="T24" fmla="*/ 20 h 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20">
                    <a:moveTo>
                      <a:pt x="2" y="0"/>
                    </a:moveTo>
                    <a:lnTo>
                      <a:pt x="13" y="6"/>
                    </a:lnTo>
                    <a:lnTo>
                      <a:pt x="0" y="16"/>
                    </a:lnTo>
                    <a:lnTo>
                      <a:pt x="13" y="20"/>
                    </a:lnTo>
                    <a:lnTo>
                      <a:pt x="5" y="15"/>
                    </a:lnTo>
                    <a:lnTo>
                      <a:pt x="17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82" name="Freeform 831"/>
              <p:cNvSpPr>
                <a:spLocks/>
              </p:cNvSpPr>
              <p:nvPr/>
            </p:nvSpPr>
            <p:spPr bwMode="auto">
              <a:xfrm>
                <a:off x="2530" y="1939"/>
                <a:ext cx="76" cy="29"/>
              </a:xfrm>
              <a:custGeom>
                <a:avLst/>
                <a:gdLst>
                  <a:gd name="T0" fmla="*/ 0 w 76"/>
                  <a:gd name="T1" fmla="*/ 23 h 29"/>
                  <a:gd name="T2" fmla="*/ 41 w 76"/>
                  <a:gd name="T3" fmla="*/ 13 h 29"/>
                  <a:gd name="T4" fmla="*/ 39 w 76"/>
                  <a:gd name="T5" fmla="*/ 29 h 29"/>
                  <a:gd name="T6" fmla="*/ 76 w 76"/>
                  <a:gd name="T7" fmla="*/ 13 h 29"/>
                  <a:gd name="T8" fmla="*/ 49 w 76"/>
                  <a:gd name="T9" fmla="*/ 16 h 29"/>
                  <a:gd name="T10" fmla="*/ 52 w 76"/>
                  <a:gd name="T11" fmla="*/ 0 h 29"/>
                  <a:gd name="T12" fmla="*/ 0 w 76"/>
                  <a:gd name="T13" fmla="*/ 23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6"/>
                  <a:gd name="T22" fmla="*/ 0 h 29"/>
                  <a:gd name="T23" fmla="*/ 76 w 76"/>
                  <a:gd name="T24" fmla="*/ 29 h 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6" h="29">
                    <a:moveTo>
                      <a:pt x="0" y="23"/>
                    </a:moveTo>
                    <a:lnTo>
                      <a:pt x="41" y="13"/>
                    </a:lnTo>
                    <a:lnTo>
                      <a:pt x="39" y="29"/>
                    </a:lnTo>
                    <a:lnTo>
                      <a:pt x="76" y="13"/>
                    </a:lnTo>
                    <a:lnTo>
                      <a:pt x="49" y="16"/>
                    </a:lnTo>
                    <a:lnTo>
                      <a:pt x="52" y="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83" name="Freeform 832"/>
              <p:cNvSpPr>
                <a:spLocks/>
              </p:cNvSpPr>
              <p:nvPr/>
            </p:nvSpPr>
            <p:spPr bwMode="auto">
              <a:xfrm>
                <a:off x="2529" y="1948"/>
                <a:ext cx="45" cy="17"/>
              </a:xfrm>
              <a:custGeom>
                <a:avLst/>
                <a:gdLst>
                  <a:gd name="T0" fmla="*/ 45 w 45"/>
                  <a:gd name="T1" fmla="*/ 4 h 17"/>
                  <a:gd name="T2" fmla="*/ 41 w 45"/>
                  <a:gd name="T3" fmla="*/ 0 h 17"/>
                  <a:gd name="T4" fmla="*/ 0 w 45"/>
                  <a:gd name="T5" fmla="*/ 11 h 17"/>
                  <a:gd name="T6" fmla="*/ 1 w 45"/>
                  <a:gd name="T7" fmla="*/ 17 h 17"/>
                  <a:gd name="T8" fmla="*/ 42 w 45"/>
                  <a:gd name="T9" fmla="*/ 6 h 17"/>
                  <a:gd name="T10" fmla="*/ 39 w 45"/>
                  <a:gd name="T11" fmla="*/ 3 h 17"/>
                  <a:gd name="T12" fmla="*/ 42 w 45"/>
                  <a:gd name="T13" fmla="*/ 6 h 17"/>
                  <a:gd name="T14" fmla="*/ 45 w 45"/>
                  <a:gd name="T15" fmla="*/ 5 h 17"/>
                  <a:gd name="T16" fmla="*/ 45 w 45"/>
                  <a:gd name="T17" fmla="*/ 3 h 17"/>
                  <a:gd name="T18" fmla="*/ 44 w 45"/>
                  <a:gd name="T19" fmla="*/ 0 h 17"/>
                  <a:gd name="T20" fmla="*/ 41 w 45"/>
                  <a:gd name="T21" fmla="*/ 0 h 17"/>
                  <a:gd name="T22" fmla="*/ 45 w 45"/>
                  <a:gd name="T23" fmla="*/ 4 h 1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5"/>
                  <a:gd name="T37" fmla="*/ 0 h 17"/>
                  <a:gd name="T38" fmla="*/ 45 w 45"/>
                  <a:gd name="T39" fmla="*/ 17 h 1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5" h="17">
                    <a:moveTo>
                      <a:pt x="45" y="4"/>
                    </a:moveTo>
                    <a:lnTo>
                      <a:pt x="41" y="0"/>
                    </a:lnTo>
                    <a:lnTo>
                      <a:pt x="0" y="11"/>
                    </a:lnTo>
                    <a:lnTo>
                      <a:pt x="1" y="17"/>
                    </a:lnTo>
                    <a:lnTo>
                      <a:pt x="42" y="6"/>
                    </a:lnTo>
                    <a:lnTo>
                      <a:pt x="39" y="3"/>
                    </a:lnTo>
                    <a:lnTo>
                      <a:pt x="42" y="6"/>
                    </a:lnTo>
                    <a:lnTo>
                      <a:pt x="45" y="5"/>
                    </a:lnTo>
                    <a:lnTo>
                      <a:pt x="45" y="3"/>
                    </a:lnTo>
                    <a:lnTo>
                      <a:pt x="44" y="0"/>
                    </a:lnTo>
                    <a:lnTo>
                      <a:pt x="41" y="0"/>
                    </a:lnTo>
                    <a:lnTo>
                      <a:pt x="45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84" name="Freeform 833"/>
              <p:cNvSpPr>
                <a:spLocks/>
              </p:cNvSpPr>
              <p:nvPr/>
            </p:nvSpPr>
            <p:spPr bwMode="auto">
              <a:xfrm>
                <a:off x="2566" y="1951"/>
                <a:ext cx="8" cy="19"/>
              </a:xfrm>
              <a:custGeom>
                <a:avLst/>
                <a:gdLst>
                  <a:gd name="T0" fmla="*/ 1 w 8"/>
                  <a:gd name="T1" fmla="*/ 15 h 19"/>
                  <a:gd name="T2" fmla="*/ 5 w 8"/>
                  <a:gd name="T3" fmla="*/ 17 h 19"/>
                  <a:gd name="T4" fmla="*/ 8 w 8"/>
                  <a:gd name="T5" fmla="*/ 1 h 19"/>
                  <a:gd name="T6" fmla="*/ 2 w 8"/>
                  <a:gd name="T7" fmla="*/ 0 h 19"/>
                  <a:gd name="T8" fmla="*/ 0 w 8"/>
                  <a:gd name="T9" fmla="*/ 16 h 19"/>
                  <a:gd name="T10" fmla="*/ 3 w 8"/>
                  <a:gd name="T11" fmla="*/ 19 h 19"/>
                  <a:gd name="T12" fmla="*/ 0 w 8"/>
                  <a:gd name="T13" fmla="*/ 16 h 19"/>
                  <a:gd name="T14" fmla="*/ 1 w 8"/>
                  <a:gd name="T15" fmla="*/ 18 h 19"/>
                  <a:gd name="T16" fmla="*/ 2 w 8"/>
                  <a:gd name="T17" fmla="*/ 19 h 19"/>
                  <a:gd name="T18" fmla="*/ 4 w 8"/>
                  <a:gd name="T19" fmla="*/ 19 h 19"/>
                  <a:gd name="T20" fmla="*/ 5 w 8"/>
                  <a:gd name="T21" fmla="*/ 17 h 19"/>
                  <a:gd name="T22" fmla="*/ 1 w 8"/>
                  <a:gd name="T23" fmla="*/ 15 h 1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"/>
                  <a:gd name="T37" fmla="*/ 0 h 19"/>
                  <a:gd name="T38" fmla="*/ 8 w 8"/>
                  <a:gd name="T39" fmla="*/ 19 h 1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" h="19">
                    <a:moveTo>
                      <a:pt x="1" y="15"/>
                    </a:moveTo>
                    <a:lnTo>
                      <a:pt x="5" y="17"/>
                    </a:lnTo>
                    <a:lnTo>
                      <a:pt x="8" y="1"/>
                    </a:lnTo>
                    <a:lnTo>
                      <a:pt x="2" y="0"/>
                    </a:lnTo>
                    <a:lnTo>
                      <a:pt x="0" y="16"/>
                    </a:lnTo>
                    <a:lnTo>
                      <a:pt x="3" y="19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2" y="19"/>
                    </a:lnTo>
                    <a:lnTo>
                      <a:pt x="4" y="19"/>
                    </a:lnTo>
                    <a:lnTo>
                      <a:pt x="5" y="17"/>
                    </a:lnTo>
                    <a:lnTo>
                      <a:pt x="1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85" name="Freeform 834"/>
              <p:cNvSpPr>
                <a:spLocks/>
              </p:cNvSpPr>
              <p:nvPr/>
            </p:nvSpPr>
            <p:spPr bwMode="auto">
              <a:xfrm>
                <a:off x="2568" y="1948"/>
                <a:ext cx="40" cy="22"/>
              </a:xfrm>
              <a:custGeom>
                <a:avLst/>
                <a:gdLst>
                  <a:gd name="T0" fmla="*/ 38 w 40"/>
                  <a:gd name="T1" fmla="*/ 6 h 22"/>
                  <a:gd name="T2" fmla="*/ 37 w 40"/>
                  <a:gd name="T3" fmla="*/ 0 h 22"/>
                  <a:gd name="T4" fmla="*/ 0 w 40"/>
                  <a:gd name="T5" fmla="*/ 18 h 22"/>
                  <a:gd name="T6" fmla="*/ 2 w 40"/>
                  <a:gd name="T7" fmla="*/ 22 h 22"/>
                  <a:gd name="T8" fmla="*/ 39 w 40"/>
                  <a:gd name="T9" fmla="*/ 5 h 22"/>
                  <a:gd name="T10" fmla="*/ 38 w 40"/>
                  <a:gd name="T11" fmla="*/ 0 h 22"/>
                  <a:gd name="T12" fmla="*/ 39 w 40"/>
                  <a:gd name="T13" fmla="*/ 5 h 22"/>
                  <a:gd name="T14" fmla="*/ 40 w 40"/>
                  <a:gd name="T15" fmla="*/ 4 h 22"/>
                  <a:gd name="T16" fmla="*/ 40 w 40"/>
                  <a:gd name="T17" fmla="*/ 2 h 22"/>
                  <a:gd name="T18" fmla="*/ 39 w 40"/>
                  <a:gd name="T19" fmla="*/ 0 h 22"/>
                  <a:gd name="T20" fmla="*/ 37 w 40"/>
                  <a:gd name="T21" fmla="*/ 0 h 22"/>
                  <a:gd name="T22" fmla="*/ 38 w 40"/>
                  <a:gd name="T23" fmla="*/ 6 h 2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0"/>
                  <a:gd name="T37" fmla="*/ 0 h 22"/>
                  <a:gd name="T38" fmla="*/ 40 w 40"/>
                  <a:gd name="T39" fmla="*/ 22 h 2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0" h="22">
                    <a:moveTo>
                      <a:pt x="38" y="6"/>
                    </a:moveTo>
                    <a:lnTo>
                      <a:pt x="37" y="0"/>
                    </a:lnTo>
                    <a:lnTo>
                      <a:pt x="0" y="18"/>
                    </a:lnTo>
                    <a:lnTo>
                      <a:pt x="2" y="22"/>
                    </a:lnTo>
                    <a:lnTo>
                      <a:pt x="39" y="5"/>
                    </a:lnTo>
                    <a:lnTo>
                      <a:pt x="38" y="0"/>
                    </a:lnTo>
                    <a:lnTo>
                      <a:pt x="39" y="5"/>
                    </a:lnTo>
                    <a:lnTo>
                      <a:pt x="40" y="4"/>
                    </a:lnTo>
                    <a:lnTo>
                      <a:pt x="40" y="2"/>
                    </a:lnTo>
                    <a:lnTo>
                      <a:pt x="39" y="0"/>
                    </a:lnTo>
                    <a:lnTo>
                      <a:pt x="37" y="0"/>
                    </a:lnTo>
                    <a:lnTo>
                      <a:pt x="38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86" name="Freeform 835"/>
              <p:cNvSpPr>
                <a:spLocks/>
              </p:cNvSpPr>
              <p:nvPr/>
            </p:nvSpPr>
            <p:spPr bwMode="auto">
              <a:xfrm>
                <a:off x="2577" y="1948"/>
                <a:ext cx="29" cy="9"/>
              </a:xfrm>
              <a:custGeom>
                <a:avLst/>
                <a:gdLst>
                  <a:gd name="T0" fmla="*/ 0 w 29"/>
                  <a:gd name="T1" fmla="*/ 6 h 9"/>
                  <a:gd name="T2" fmla="*/ 3 w 29"/>
                  <a:gd name="T3" fmla="*/ 9 h 9"/>
                  <a:gd name="T4" fmla="*/ 29 w 29"/>
                  <a:gd name="T5" fmla="*/ 6 h 9"/>
                  <a:gd name="T6" fmla="*/ 28 w 29"/>
                  <a:gd name="T7" fmla="*/ 0 h 9"/>
                  <a:gd name="T8" fmla="*/ 2 w 29"/>
                  <a:gd name="T9" fmla="*/ 4 h 9"/>
                  <a:gd name="T10" fmla="*/ 5 w 29"/>
                  <a:gd name="T11" fmla="*/ 7 h 9"/>
                  <a:gd name="T12" fmla="*/ 2 w 29"/>
                  <a:gd name="T13" fmla="*/ 4 h 9"/>
                  <a:gd name="T14" fmla="*/ 1 w 29"/>
                  <a:gd name="T15" fmla="*/ 5 h 9"/>
                  <a:gd name="T16" fmla="*/ 0 w 29"/>
                  <a:gd name="T17" fmla="*/ 7 h 9"/>
                  <a:gd name="T18" fmla="*/ 1 w 29"/>
                  <a:gd name="T19" fmla="*/ 8 h 9"/>
                  <a:gd name="T20" fmla="*/ 3 w 29"/>
                  <a:gd name="T21" fmla="*/ 9 h 9"/>
                  <a:gd name="T22" fmla="*/ 0 w 29"/>
                  <a:gd name="T23" fmla="*/ 6 h 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9"/>
                  <a:gd name="T37" fmla="*/ 0 h 9"/>
                  <a:gd name="T38" fmla="*/ 29 w 29"/>
                  <a:gd name="T39" fmla="*/ 9 h 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9" h="9">
                    <a:moveTo>
                      <a:pt x="0" y="6"/>
                    </a:moveTo>
                    <a:lnTo>
                      <a:pt x="3" y="9"/>
                    </a:lnTo>
                    <a:lnTo>
                      <a:pt x="29" y="6"/>
                    </a:lnTo>
                    <a:lnTo>
                      <a:pt x="28" y="0"/>
                    </a:lnTo>
                    <a:lnTo>
                      <a:pt x="2" y="4"/>
                    </a:lnTo>
                    <a:lnTo>
                      <a:pt x="5" y="7"/>
                    </a:lnTo>
                    <a:lnTo>
                      <a:pt x="2" y="4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1" y="8"/>
                    </a:lnTo>
                    <a:lnTo>
                      <a:pt x="3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87" name="Freeform 836"/>
              <p:cNvSpPr>
                <a:spLocks/>
              </p:cNvSpPr>
              <p:nvPr/>
            </p:nvSpPr>
            <p:spPr bwMode="auto">
              <a:xfrm>
                <a:off x="2577" y="1937"/>
                <a:ext cx="7" cy="18"/>
              </a:xfrm>
              <a:custGeom>
                <a:avLst/>
                <a:gdLst>
                  <a:gd name="T0" fmla="*/ 5 w 7"/>
                  <a:gd name="T1" fmla="*/ 4 h 18"/>
                  <a:gd name="T2" fmla="*/ 2 w 7"/>
                  <a:gd name="T3" fmla="*/ 2 h 18"/>
                  <a:gd name="T4" fmla="*/ 0 w 7"/>
                  <a:gd name="T5" fmla="*/ 17 h 18"/>
                  <a:gd name="T6" fmla="*/ 5 w 7"/>
                  <a:gd name="T7" fmla="*/ 18 h 18"/>
                  <a:gd name="T8" fmla="*/ 7 w 7"/>
                  <a:gd name="T9" fmla="*/ 3 h 18"/>
                  <a:gd name="T10" fmla="*/ 4 w 7"/>
                  <a:gd name="T11" fmla="*/ 0 h 18"/>
                  <a:gd name="T12" fmla="*/ 7 w 7"/>
                  <a:gd name="T13" fmla="*/ 3 h 18"/>
                  <a:gd name="T14" fmla="*/ 6 w 7"/>
                  <a:gd name="T15" fmla="*/ 1 h 18"/>
                  <a:gd name="T16" fmla="*/ 5 w 7"/>
                  <a:gd name="T17" fmla="*/ 0 h 18"/>
                  <a:gd name="T18" fmla="*/ 3 w 7"/>
                  <a:gd name="T19" fmla="*/ 1 h 18"/>
                  <a:gd name="T20" fmla="*/ 2 w 7"/>
                  <a:gd name="T21" fmla="*/ 2 h 18"/>
                  <a:gd name="T22" fmla="*/ 5 w 7"/>
                  <a:gd name="T23" fmla="*/ 4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"/>
                  <a:gd name="T37" fmla="*/ 0 h 18"/>
                  <a:gd name="T38" fmla="*/ 7 w 7"/>
                  <a:gd name="T39" fmla="*/ 18 h 1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" h="18">
                    <a:moveTo>
                      <a:pt x="5" y="4"/>
                    </a:moveTo>
                    <a:lnTo>
                      <a:pt x="2" y="2"/>
                    </a:lnTo>
                    <a:lnTo>
                      <a:pt x="0" y="17"/>
                    </a:lnTo>
                    <a:lnTo>
                      <a:pt x="5" y="18"/>
                    </a:lnTo>
                    <a:lnTo>
                      <a:pt x="7" y="3"/>
                    </a:lnTo>
                    <a:lnTo>
                      <a:pt x="4" y="0"/>
                    </a:lnTo>
                    <a:lnTo>
                      <a:pt x="7" y="3"/>
                    </a:lnTo>
                    <a:lnTo>
                      <a:pt x="6" y="1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2" y="2"/>
                    </a:ln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88" name="Freeform 837"/>
              <p:cNvSpPr>
                <a:spLocks/>
              </p:cNvSpPr>
              <p:nvPr/>
            </p:nvSpPr>
            <p:spPr bwMode="auto">
              <a:xfrm>
                <a:off x="2528" y="1937"/>
                <a:ext cx="54" cy="28"/>
              </a:xfrm>
              <a:custGeom>
                <a:avLst/>
                <a:gdLst>
                  <a:gd name="T0" fmla="*/ 2 w 54"/>
                  <a:gd name="T1" fmla="*/ 22 h 28"/>
                  <a:gd name="T2" fmla="*/ 3 w 54"/>
                  <a:gd name="T3" fmla="*/ 28 h 28"/>
                  <a:gd name="T4" fmla="*/ 54 w 54"/>
                  <a:gd name="T5" fmla="*/ 4 h 28"/>
                  <a:gd name="T6" fmla="*/ 52 w 54"/>
                  <a:gd name="T7" fmla="*/ 0 h 28"/>
                  <a:gd name="T8" fmla="*/ 1 w 54"/>
                  <a:gd name="T9" fmla="*/ 22 h 28"/>
                  <a:gd name="T10" fmla="*/ 3 w 54"/>
                  <a:gd name="T11" fmla="*/ 28 h 28"/>
                  <a:gd name="T12" fmla="*/ 1 w 54"/>
                  <a:gd name="T13" fmla="*/ 22 h 28"/>
                  <a:gd name="T14" fmla="*/ 0 w 54"/>
                  <a:gd name="T15" fmla="*/ 24 h 28"/>
                  <a:gd name="T16" fmla="*/ 0 w 54"/>
                  <a:gd name="T17" fmla="*/ 25 h 28"/>
                  <a:gd name="T18" fmla="*/ 1 w 54"/>
                  <a:gd name="T19" fmla="*/ 28 h 28"/>
                  <a:gd name="T20" fmla="*/ 3 w 54"/>
                  <a:gd name="T21" fmla="*/ 28 h 28"/>
                  <a:gd name="T22" fmla="*/ 2 w 54"/>
                  <a:gd name="T23" fmla="*/ 22 h 2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4"/>
                  <a:gd name="T37" fmla="*/ 0 h 28"/>
                  <a:gd name="T38" fmla="*/ 54 w 54"/>
                  <a:gd name="T39" fmla="*/ 28 h 2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4" h="28">
                    <a:moveTo>
                      <a:pt x="2" y="22"/>
                    </a:moveTo>
                    <a:lnTo>
                      <a:pt x="3" y="28"/>
                    </a:lnTo>
                    <a:lnTo>
                      <a:pt x="54" y="4"/>
                    </a:lnTo>
                    <a:lnTo>
                      <a:pt x="52" y="0"/>
                    </a:lnTo>
                    <a:lnTo>
                      <a:pt x="1" y="22"/>
                    </a:lnTo>
                    <a:lnTo>
                      <a:pt x="3" y="28"/>
                    </a:lnTo>
                    <a:lnTo>
                      <a:pt x="1" y="22"/>
                    </a:lnTo>
                    <a:lnTo>
                      <a:pt x="0" y="24"/>
                    </a:lnTo>
                    <a:lnTo>
                      <a:pt x="0" y="25"/>
                    </a:lnTo>
                    <a:lnTo>
                      <a:pt x="1" y="28"/>
                    </a:lnTo>
                    <a:lnTo>
                      <a:pt x="3" y="28"/>
                    </a:lnTo>
                    <a:lnTo>
                      <a:pt x="2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89" name="Freeform 838"/>
              <p:cNvSpPr>
                <a:spLocks/>
              </p:cNvSpPr>
              <p:nvPr/>
            </p:nvSpPr>
            <p:spPr bwMode="auto">
              <a:xfrm>
                <a:off x="2533" y="1940"/>
                <a:ext cx="70" cy="27"/>
              </a:xfrm>
              <a:custGeom>
                <a:avLst/>
                <a:gdLst>
                  <a:gd name="T0" fmla="*/ 0 w 70"/>
                  <a:gd name="T1" fmla="*/ 20 h 27"/>
                  <a:gd name="T2" fmla="*/ 48 w 70"/>
                  <a:gd name="T3" fmla="*/ 0 h 27"/>
                  <a:gd name="T4" fmla="*/ 46 w 70"/>
                  <a:gd name="T5" fmla="*/ 15 h 27"/>
                  <a:gd name="T6" fmla="*/ 70 w 70"/>
                  <a:gd name="T7" fmla="*/ 12 h 27"/>
                  <a:gd name="T8" fmla="*/ 36 w 70"/>
                  <a:gd name="T9" fmla="*/ 27 h 27"/>
                  <a:gd name="T10" fmla="*/ 38 w 70"/>
                  <a:gd name="T11" fmla="*/ 12 h 27"/>
                  <a:gd name="T12" fmla="*/ 0 w 70"/>
                  <a:gd name="T13" fmla="*/ 2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0"/>
                  <a:gd name="T22" fmla="*/ 0 h 27"/>
                  <a:gd name="T23" fmla="*/ 70 w 70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0" h="27">
                    <a:moveTo>
                      <a:pt x="0" y="20"/>
                    </a:moveTo>
                    <a:lnTo>
                      <a:pt x="48" y="0"/>
                    </a:lnTo>
                    <a:lnTo>
                      <a:pt x="46" y="15"/>
                    </a:lnTo>
                    <a:lnTo>
                      <a:pt x="70" y="12"/>
                    </a:lnTo>
                    <a:lnTo>
                      <a:pt x="36" y="27"/>
                    </a:lnTo>
                    <a:lnTo>
                      <a:pt x="38" y="12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19191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90" name="Freeform 839"/>
              <p:cNvSpPr>
                <a:spLocks/>
              </p:cNvSpPr>
              <p:nvPr/>
            </p:nvSpPr>
            <p:spPr bwMode="auto">
              <a:xfrm>
                <a:off x="2536" y="1940"/>
                <a:ext cx="65" cy="27"/>
              </a:xfrm>
              <a:custGeom>
                <a:avLst/>
                <a:gdLst>
                  <a:gd name="T0" fmla="*/ 0 w 65"/>
                  <a:gd name="T1" fmla="*/ 20 h 27"/>
                  <a:gd name="T2" fmla="*/ 44 w 65"/>
                  <a:gd name="T3" fmla="*/ 0 h 27"/>
                  <a:gd name="T4" fmla="*/ 42 w 65"/>
                  <a:gd name="T5" fmla="*/ 16 h 27"/>
                  <a:gd name="T6" fmla="*/ 65 w 65"/>
                  <a:gd name="T7" fmla="*/ 13 h 27"/>
                  <a:gd name="T8" fmla="*/ 33 w 65"/>
                  <a:gd name="T9" fmla="*/ 27 h 27"/>
                  <a:gd name="T10" fmla="*/ 35 w 65"/>
                  <a:gd name="T11" fmla="*/ 11 h 27"/>
                  <a:gd name="T12" fmla="*/ 0 w 65"/>
                  <a:gd name="T13" fmla="*/ 2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5"/>
                  <a:gd name="T22" fmla="*/ 0 h 27"/>
                  <a:gd name="T23" fmla="*/ 65 w 65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5" h="27">
                    <a:moveTo>
                      <a:pt x="0" y="20"/>
                    </a:moveTo>
                    <a:lnTo>
                      <a:pt x="44" y="0"/>
                    </a:lnTo>
                    <a:lnTo>
                      <a:pt x="42" y="16"/>
                    </a:lnTo>
                    <a:lnTo>
                      <a:pt x="65" y="13"/>
                    </a:lnTo>
                    <a:lnTo>
                      <a:pt x="33" y="27"/>
                    </a:lnTo>
                    <a:lnTo>
                      <a:pt x="35" y="11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91" name="Freeform 840"/>
              <p:cNvSpPr>
                <a:spLocks/>
              </p:cNvSpPr>
              <p:nvPr/>
            </p:nvSpPr>
            <p:spPr bwMode="auto">
              <a:xfrm>
                <a:off x="2540" y="1940"/>
                <a:ext cx="59" cy="26"/>
              </a:xfrm>
              <a:custGeom>
                <a:avLst/>
                <a:gdLst>
                  <a:gd name="T0" fmla="*/ 0 w 59"/>
                  <a:gd name="T1" fmla="*/ 18 h 26"/>
                  <a:gd name="T2" fmla="*/ 40 w 59"/>
                  <a:gd name="T3" fmla="*/ 0 h 26"/>
                  <a:gd name="T4" fmla="*/ 38 w 59"/>
                  <a:gd name="T5" fmla="*/ 16 h 26"/>
                  <a:gd name="T6" fmla="*/ 59 w 59"/>
                  <a:gd name="T7" fmla="*/ 13 h 26"/>
                  <a:gd name="T8" fmla="*/ 30 w 59"/>
                  <a:gd name="T9" fmla="*/ 26 h 26"/>
                  <a:gd name="T10" fmla="*/ 33 w 59"/>
                  <a:gd name="T11" fmla="*/ 10 h 26"/>
                  <a:gd name="T12" fmla="*/ 0 w 59"/>
                  <a:gd name="T13" fmla="*/ 18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9"/>
                  <a:gd name="T22" fmla="*/ 0 h 26"/>
                  <a:gd name="T23" fmla="*/ 59 w 59"/>
                  <a:gd name="T24" fmla="*/ 26 h 2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9" h="26">
                    <a:moveTo>
                      <a:pt x="0" y="18"/>
                    </a:moveTo>
                    <a:lnTo>
                      <a:pt x="40" y="0"/>
                    </a:lnTo>
                    <a:lnTo>
                      <a:pt x="38" y="16"/>
                    </a:lnTo>
                    <a:lnTo>
                      <a:pt x="59" y="13"/>
                    </a:lnTo>
                    <a:lnTo>
                      <a:pt x="30" y="26"/>
                    </a:lnTo>
                    <a:lnTo>
                      <a:pt x="33" y="10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92" name="Freeform 841"/>
              <p:cNvSpPr>
                <a:spLocks/>
              </p:cNvSpPr>
              <p:nvPr/>
            </p:nvSpPr>
            <p:spPr bwMode="auto">
              <a:xfrm>
                <a:off x="2543" y="1941"/>
                <a:ext cx="54" cy="25"/>
              </a:xfrm>
              <a:custGeom>
                <a:avLst/>
                <a:gdLst>
                  <a:gd name="T0" fmla="*/ 0 w 54"/>
                  <a:gd name="T1" fmla="*/ 16 h 25"/>
                  <a:gd name="T2" fmla="*/ 37 w 54"/>
                  <a:gd name="T3" fmla="*/ 0 h 25"/>
                  <a:gd name="T4" fmla="*/ 34 w 54"/>
                  <a:gd name="T5" fmla="*/ 16 h 25"/>
                  <a:gd name="T6" fmla="*/ 54 w 54"/>
                  <a:gd name="T7" fmla="*/ 12 h 25"/>
                  <a:gd name="T8" fmla="*/ 27 w 54"/>
                  <a:gd name="T9" fmla="*/ 25 h 25"/>
                  <a:gd name="T10" fmla="*/ 30 w 54"/>
                  <a:gd name="T11" fmla="*/ 9 h 25"/>
                  <a:gd name="T12" fmla="*/ 0 w 54"/>
                  <a:gd name="T13" fmla="*/ 16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5"/>
                  <a:gd name="T23" fmla="*/ 54 w 54"/>
                  <a:gd name="T24" fmla="*/ 25 h 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5">
                    <a:moveTo>
                      <a:pt x="0" y="16"/>
                    </a:moveTo>
                    <a:lnTo>
                      <a:pt x="37" y="0"/>
                    </a:lnTo>
                    <a:lnTo>
                      <a:pt x="34" y="16"/>
                    </a:lnTo>
                    <a:lnTo>
                      <a:pt x="54" y="12"/>
                    </a:lnTo>
                    <a:lnTo>
                      <a:pt x="27" y="25"/>
                    </a:lnTo>
                    <a:lnTo>
                      <a:pt x="30" y="9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93" name="Freeform 842"/>
              <p:cNvSpPr>
                <a:spLocks/>
              </p:cNvSpPr>
              <p:nvPr/>
            </p:nvSpPr>
            <p:spPr bwMode="auto">
              <a:xfrm>
                <a:off x="2547" y="1941"/>
                <a:ext cx="48" cy="25"/>
              </a:xfrm>
              <a:custGeom>
                <a:avLst/>
                <a:gdLst>
                  <a:gd name="T0" fmla="*/ 0 w 48"/>
                  <a:gd name="T1" fmla="*/ 16 h 25"/>
                  <a:gd name="T2" fmla="*/ 32 w 48"/>
                  <a:gd name="T3" fmla="*/ 0 h 25"/>
                  <a:gd name="T4" fmla="*/ 30 w 48"/>
                  <a:gd name="T5" fmla="*/ 17 h 25"/>
                  <a:gd name="T6" fmla="*/ 48 w 48"/>
                  <a:gd name="T7" fmla="*/ 13 h 25"/>
                  <a:gd name="T8" fmla="*/ 24 w 48"/>
                  <a:gd name="T9" fmla="*/ 25 h 25"/>
                  <a:gd name="T10" fmla="*/ 27 w 48"/>
                  <a:gd name="T11" fmla="*/ 9 h 25"/>
                  <a:gd name="T12" fmla="*/ 0 w 48"/>
                  <a:gd name="T13" fmla="*/ 16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"/>
                  <a:gd name="T22" fmla="*/ 0 h 25"/>
                  <a:gd name="T23" fmla="*/ 48 w 48"/>
                  <a:gd name="T24" fmla="*/ 25 h 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" h="25">
                    <a:moveTo>
                      <a:pt x="0" y="16"/>
                    </a:moveTo>
                    <a:lnTo>
                      <a:pt x="32" y="0"/>
                    </a:lnTo>
                    <a:lnTo>
                      <a:pt x="30" y="17"/>
                    </a:lnTo>
                    <a:lnTo>
                      <a:pt x="48" y="13"/>
                    </a:lnTo>
                    <a:lnTo>
                      <a:pt x="24" y="25"/>
                    </a:lnTo>
                    <a:lnTo>
                      <a:pt x="27" y="9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94" name="Freeform 843"/>
              <p:cNvSpPr>
                <a:spLocks/>
              </p:cNvSpPr>
              <p:nvPr/>
            </p:nvSpPr>
            <p:spPr bwMode="auto">
              <a:xfrm>
                <a:off x="2550" y="1942"/>
                <a:ext cx="43" cy="23"/>
              </a:xfrm>
              <a:custGeom>
                <a:avLst/>
                <a:gdLst>
                  <a:gd name="T0" fmla="*/ 0 w 43"/>
                  <a:gd name="T1" fmla="*/ 13 h 23"/>
                  <a:gd name="T2" fmla="*/ 29 w 43"/>
                  <a:gd name="T3" fmla="*/ 0 h 23"/>
                  <a:gd name="T4" fmla="*/ 27 w 43"/>
                  <a:gd name="T5" fmla="*/ 15 h 23"/>
                  <a:gd name="T6" fmla="*/ 43 w 43"/>
                  <a:gd name="T7" fmla="*/ 13 h 23"/>
                  <a:gd name="T8" fmla="*/ 21 w 43"/>
                  <a:gd name="T9" fmla="*/ 23 h 23"/>
                  <a:gd name="T10" fmla="*/ 24 w 43"/>
                  <a:gd name="T11" fmla="*/ 6 h 23"/>
                  <a:gd name="T12" fmla="*/ 0 w 43"/>
                  <a:gd name="T13" fmla="*/ 13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23"/>
                  <a:gd name="T23" fmla="*/ 43 w 43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23">
                    <a:moveTo>
                      <a:pt x="0" y="13"/>
                    </a:moveTo>
                    <a:lnTo>
                      <a:pt x="29" y="0"/>
                    </a:lnTo>
                    <a:lnTo>
                      <a:pt x="27" y="15"/>
                    </a:lnTo>
                    <a:lnTo>
                      <a:pt x="43" y="13"/>
                    </a:lnTo>
                    <a:lnTo>
                      <a:pt x="21" y="23"/>
                    </a:lnTo>
                    <a:lnTo>
                      <a:pt x="24" y="6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95" name="Freeform 844"/>
              <p:cNvSpPr>
                <a:spLocks/>
              </p:cNvSpPr>
              <p:nvPr/>
            </p:nvSpPr>
            <p:spPr bwMode="auto">
              <a:xfrm>
                <a:off x="2553" y="1942"/>
                <a:ext cx="38" cy="21"/>
              </a:xfrm>
              <a:custGeom>
                <a:avLst/>
                <a:gdLst>
                  <a:gd name="T0" fmla="*/ 0 w 38"/>
                  <a:gd name="T1" fmla="*/ 12 h 21"/>
                  <a:gd name="T2" fmla="*/ 26 w 38"/>
                  <a:gd name="T3" fmla="*/ 0 h 21"/>
                  <a:gd name="T4" fmla="*/ 24 w 38"/>
                  <a:gd name="T5" fmla="*/ 15 h 21"/>
                  <a:gd name="T6" fmla="*/ 38 w 38"/>
                  <a:gd name="T7" fmla="*/ 13 h 21"/>
                  <a:gd name="T8" fmla="*/ 18 w 38"/>
                  <a:gd name="T9" fmla="*/ 21 h 21"/>
                  <a:gd name="T10" fmla="*/ 21 w 38"/>
                  <a:gd name="T11" fmla="*/ 6 h 21"/>
                  <a:gd name="T12" fmla="*/ 0 w 38"/>
                  <a:gd name="T13" fmla="*/ 12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"/>
                  <a:gd name="T22" fmla="*/ 0 h 21"/>
                  <a:gd name="T23" fmla="*/ 38 w 38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" h="21">
                    <a:moveTo>
                      <a:pt x="0" y="12"/>
                    </a:moveTo>
                    <a:lnTo>
                      <a:pt x="26" y="0"/>
                    </a:lnTo>
                    <a:lnTo>
                      <a:pt x="24" y="15"/>
                    </a:lnTo>
                    <a:lnTo>
                      <a:pt x="38" y="13"/>
                    </a:lnTo>
                    <a:lnTo>
                      <a:pt x="18" y="21"/>
                    </a:lnTo>
                    <a:lnTo>
                      <a:pt x="21" y="6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96" name="Freeform 845"/>
              <p:cNvSpPr>
                <a:spLocks/>
              </p:cNvSpPr>
              <p:nvPr/>
            </p:nvSpPr>
            <p:spPr bwMode="auto">
              <a:xfrm>
                <a:off x="2556" y="1942"/>
                <a:ext cx="34" cy="21"/>
              </a:xfrm>
              <a:custGeom>
                <a:avLst/>
                <a:gdLst>
                  <a:gd name="T0" fmla="*/ 0 w 34"/>
                  <a:gd name="T1" fmla="*/ 10 h 21"/>
                  <a:gd name="T2" fmla="*/ 23 w 34"/>
                  <a:gd name="T3" fmla="*/ 0 h 21"/>
                  <a:gd name="T4" fmla="*/ 21 w 34"/>
                  <a:gd name="T5" fmla="*/ 16 h 21"/>
                  <a:gd name="T6" fmla="*/ 34 w 34"/>
                  <a:gd name="T7" fmla="*/ 14 h 21"/>
                  <a:gd name="T8" fmla="*/ 17 w 34"/>
                  <a:gd name="T9" fmla="*/ 21 h 21"/>
                  <a:gd name="T10" fmla="*/ 19 w 34"/>
                  <a:gd name="T11" fmla="*/ 5 h 21"/>
                  <a:gd name="T12" fmla="*/ 0 w 34"/>
                  <a:gd name="T13" fmla="*/ 10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"/>
                  <a:gd name="T22" fmla="*/ 0 h 21"/>
                  <a:gd name="T23" fmla="*/ 34 w 34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" h="21">
                    <a:moveTo>
                      <a:pt x="0" y="10"/>
                    </a:moveTo>
                    <a:lnTo>
                      <a:pt x="23" y="0"/>
                    </a:lnTo>
                    <a:lnTo>
                      <a:pt x="21" y="16"/>
                    </a:lnTo>
                    <a:lnTo>
                      <a:pt x="34" y="14"/>
                    </a:lnTo>
                    <a:lnTo>
                      <a:pt x="17" y="21"/>
                    </a:lnTo>
                    <a:lnTo>
                      <a:pt x="19" y="5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97" name="Freeform 846"/>
              <p:cNvSpPr>
                <a:spLocks/>
              </p:cNvSpPr>
              <p:nvPr/>
            </p:nvSpPr>
            <p:spPr bwMode="auto">
              <a:xfrm>
                <a:off x="2560" y="1943"/>
                <a:ext cx="27" cy="20"/>
              </a:xfrm>
              <a:custGeom>
                <a:avLst/>
                <a:gdLst>
                  <a:gd name="T0" fmla="*/ 0 w 27"/>
                  <a:gd name="T1" fmla="*/ 9 h 20"/>
                  <a:gd name="T2" fmla="*/ 18 w 27"/>
                  <a:gd name="T3" fmla="*/ 0 h 20"/>
                  <a:gd name="T4" fmla="*/ 16 w 27"/>
                  <a:gd name="T5" fmla="*/ 16 h 20"/>
                  <a:gd name="T6" fmla="*/ 27 w 27"/>
                  <a:gd name="T7" fmla="*/ 14 h 20"/>
                  <a:gd name="T8" fmla="*/ 13 w 27"/>
                  <a:gd name="T9" fmla="*/ 20 h 20"/>
                  <a:gd name="T10" fmla="*/ 16 w 27"/>
                  <a:gd name="T11" fmla="*/ 4 h 20"/>
                  <a:gd name="T12" fmla="*/ 0 w 27"/>
                  <a:gd name="T13" fmla="*/ 9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7"/>
                  <a:gd name="T22" fmla="*/ 0 h 20"/>
                  <a:gd name="T23" fmla="*/ 27 w 27"/>
                  <a:gd name="T24" fmla="*/ 20 h 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7" h="20">
                    <a:moveTo>
                      <a:pt x="0" y="9"/>
                    </a:moveTo>
                    <a:lnTo>
                      <a:pt x="18" y="0"/>
                    </a:lnTo>
                    <a:lnTo>
                      <a:pt x="16" y="16"/>
                    </a:lnTo>
                    <a:lnTo>
                      <a:pt x="27" y="14"/>
                    </a:lnTo>
                    <a:lnTo>
                      <a:pt x="13" y="20"/>
                    </a:lnTo>
                    <a:lnTo>
                      <a:pt x="16" y="4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98" name="Freeform 847"/>
              <p:cNvSpPr>
                <a:spLocks/>
              </p:cNvSpPr>
              <p:nvPr/>
            </p:nvSpPr>
            <p:spPr bwMode="auto">
              <a:xfrm>
                <a:off x="2564" y="1943"/>
                <a:ext cx="21" cy="19"/>
              </a:xfrm>
              <a:custGeom>
                <a:avLst/>
                <a:gdLst>
                  <a:gd name="T0" fmla="*/ 0 w 21"/>
                  <a:gd name="T1" fmla="*/ 7 h 19"/>
                  <a:gd name="T2" fmla="*/ 12 w 21"/>
                  <a:gd name="T3" fmla="*/ 3 h 19"/>
                  <a:gd name="T4" fmla="*/ 10 w 21"/>
                  <a:gd name="T5" fmla="*/ 19 h 19"/>
                  <a:gd name="T6" fmla="*/ 21 w 21"/>
                  <a:gd name="T7" fmla="*/ 14 h 19"/>
                  <a:gd name="T8" fmla="*/ 12 w 21"/>
                  <a:gd name="T9" fmla="*/ 16 h 19"/>
                  <a:gd name="T10" fmla="*/ 14 w 21"/>
                  <a:gd name="T11" fmla="*/ 0 h 19"/>
                  <a:gd name="T12" fmla="*/ 0 w 21"/>
                  <a:gd name="T13" fmla="*/ 7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19"/>
                  <a:gd name="T23" fmla="*/ 21 w 21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19">
                    <a:moveTo>
                      <a:pt x="0" y="7"/>
                    </a:moveTo>
                    <a:lnTo>
                      <a:pt x="12" y="3"/>
                    </a:lnTo>
                    <a:lnTo>
                      <a:pt x="10" y="19"/>
                    </a:lnTo>
                    <a:lnTo>
                      <a:pt x="21" y="14"/>
                    </a:lnTo>
                    <a:lnTo>
                      <a:pt x="12" y="16"/>
                    </a:lnTo>
                    <a:lnTo>
                      <a:pt x="14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99" name="Freeform 848"/>
              <p:cNvSpPr>
                <a:spLocks/>
              </p:cNvSpPr>
              <p:nvPr/>
            </p:nvSpPr>
            <p:spPr bwMode="auto">
              <a:xfrm>
                <a:off x="2752" y="1830"/>
                <a:ext cx="45" cy="62"/>
              </a:xfrm>
              <a:custGeom>
                <a:avLst/>
                <a:gdLst>
                  <a:gd name="T0" fmla="*/ 45 w 45"/>
                  <a:gd name="T1" fmla="*/ 0 h 62"/>
                  <a:gd name="T2" fmla="*/ 24 w 45"/>
                  <a:gd name="T3" fmla="*/ 37 h 62"/>
                  <a:gd name="T4" fmla="*/ 14 w 45"/>
                  <a:gd name="T5" fmla="*/ 24 h 62"/>
                  <a:gd name="T6" fmla="*/ 0 w 45"/>
                  <a:gd name="T7" fmla="*/ 62 h 62"/>
                  <a:gd name="T8" fmla="*/ 16 w 45"/>
                  <a:gd name="T9" fmla="*/ 40 h 62"/>
                  <a:gd name="T10" fmla="*/ 26 w 45"/>
                  <a:gd name="T11" fmla="*/ 52 h 62"/>
                  <a:gd name="T12" fmla="*/ 45 w 45"/>
                  <a:gd name="T13" fmla="*/ 0 h 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5"/>
                  <a:gd name="T22" fmla="*/ 0 h 62"/>
                  <a:gd name="T23" fmla="*/ 45 w 45"/>
                  <a:gd name="T24" fmla="*/ 62 h 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5" h="62">
                    <a:moveTo>
                      <a:pt x="45" y="0"/>
                    </a:moveTo>
                    <a:lnTo>
                      <a:pt x="24" y="37"/>
                    </a:lnTo>
                    <a:lnTo>
                      <a:pt x="14" y="24"/>
                    </a:lnTo>
                    <a:lnTo>
                      <a:pt x="0" y="62"/>
                    </a:lnTo>
                    <a:lnTo>
                      <a:pt x="16" y="40"/>
                    </a:lnTo>
                    <a:lnTo>
                      <a:pt x="26" y="5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00" name="Freeform 849"/>
              <p:cNvSpPr>
                <a:spLocks/>
              </p:cNvSpPr>
              <p:nvPr/>
            </p:nvSpPr>
            <p:spPr bwMode="auto">
              <a:xfrm>
                <a:off x="2773" y="1829"/>
                <a:ext cx="26" cy="40"/>
              </a:xfrm>
              <a:custGeom>
                <a:avLst/>
                <a:gdLst>
                  <a:gd name="T0" fmla="*/ 1 w 26"/>
                  <a:gd name="T1" fmla="*/ 39 h 40"/>
                  <a:gd name="T2" fmla="*/ 5 w 26"/>
                  <a:gd name="T3" fmla="*/ 39 h 40"/>
                  <a:gd name="T4" fmla="*/ 26 w 26"/>
                  <a:gd name="T5" fmla="*/ 2 h 40"/>
                  <a:gd name="T6" fmla="*/ 22 w 26"/>
                  <a:gd name="T7" fmla="*/ 0 h 40"/>
                  <a:gd name="T8" fmla="*/ 0 w 26"/>
                  <a:gd name="T9" fmla="*/ 36 h 40"/>
                  <a:gd name="T10" fmla="*/ 5 w 26"/>
                  <a:gd name="T11" fmla="*/ 36 h 40"/>
                  <a:gd name="T12" fmla="*/ 0 w 26"/>
                  <a:gd name="T13" fmla="*/ 36 h 40"/>
                  <a:gd name="T14" fmla="*/ 0 w 26"/>
                  <a:gd name="T15" fmla="*/ 38 h 40"/>
                  <a:gd name="T16" fmla="*/ 1 w 26"/>
                  <a:gd name="T17" fmla="*/ 40 h 40"/>
                  <a:gd name="T18" fmla="*/ 4 w 26"/>
                  <a:gd name="T19" fmla="*/ 40 h 40"/>
                  <a:gd name="T20" fmla="*/ 5 w 26"/>
                  <a:gd name="T21" fmla="*/ 39 h 40"/>
                  <a:gd name="T22" fmla="*/ 1 w 26"/>
                  <a:gd name="T23" fmla="*/ 39 h 4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6"/>
                  <a:gd name="T37" fmla="*/ 0 h 40"/>
                  <a:gd name="T38" fmla="*/ 26 w 26"/>
                  <a:gd name="T39" fmla="*/ 40 h 4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6" h="40">
                    <a:moveTo>
                      <a:pt x="1" y="39"/>
                    </a:moveTo>
                    <a:lnTo>
                      <a:pt x="5" y="39"/>
                    </a:lnTo>
                    <a:lnTo>
                      <a:pt x="26" y="2"/>
                    </a:lnTo>
                    <a:lnTo>
                      <a:pt x="22" y="0"/>
                    </a:lnTo>
                    <a:lnTo>
                      <a:pt x="0" y="36"/>
                    </a:lnTo>
                    <a:lnTo>
                      <a:pt x="5" y="36"/>
                    </a:lnTo>
                    <a:lnTo>
                      <a:pt x="0" y="36"/>
                    </a:lnTo>
                    <a:lnTo>
                      <a:pt x="0" y="38"/>
                    </a:lnTo>
                    <a:lnTo>
                      <a:pt x="1" y="40"/>
                    </a:lnTo>
                    <a:lnTo>
                      <a:pt x="4" y="40"/>
                    </a:lnTo>
                    <a:lnTo>
                      <a:pt x="5" y="39"/>
                    </a:lnTo>
                    <a:lnTo>
                      <a:pt x="1" y="3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01" name="Freeform 850"/>
              <p:cNvSpPr>
                <a:spLocks/>
              </p:cNvSpPr>
              <p:nvPr/>
            </p:nvSpPr>
            <p:spPr bwMode="auto">
              <a:xfrm>
                <a:off x="2764" y="1851"/>
                <a:ext cx="14" cy="17"/>
              </a:xfrm>
              <a:custGeom>
                <a:avLst/>
                <a:gdLst>
                  <a:gd name="T0" fmla="*/ 4 w 14"/>
                  <a:gd name="T1" fmla="*/ 3 h 17"/>
                  <a:gd name="T2" fmla="*/ 0 w 14"/>
                  <a:gd name="T3" fmla="*/ 5 h 17"/>
                  <a:gd name="T4" fmla="*/ 9 w 14"/>
                  <a:gd name="T5" fmla="*/ 17 h 17"/>
                  <a:gd name="T6" fmla="*/ 14 w 14"/>
                  <a:gd name="T7" fmla="*/ 14 h 17"/>
                  <a:gd name="T8" fmla="*/ 4 w 14"/>
                  <a:gd name="T9" fmla="*/ 1 h 17"/>
                  <a:gd name="T10" fmla="*/ 0 w 14"/>
                  <a:gd name="T11" fmla="*/ 2 h 17"/>
                  <a:gd name="T12" fmla="*/ 4 w 14"/>
                  <a:gd name="T13" fmla="*/ 1 h 17"/>
                  <a:gd name="T14" fmla="*/ 2 w 14"/>
                  <a:gd name="T15" fmla="*/ 0 h 17"/>
                  <a:gd name="T16" fmla="*/ 1 w 14"/>
                  <a:gd name="T17" fmla="*/ 1 h 17"/>
                  <a:gd name="T18" fmla="*/ 0 w 14"/>
                  <a:gd name="T19" fmla="*/ 2 h 17"/>
                  <a:gd name="T20" fmla="*/ 0 w 14"/>
                  <a:gd name="T21" fmla="*/ 5 h 17"/>
                  <a:gd name="T22" fmla="*/ 4 w 14"/>
                  <a:gd name="T23" fmla="*/ 3 h 1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4"/>
                  <a:gd name="T37" fmla="*/ 0 h 17"/>
                  <a:gd name="T38" fmla="*/ 14 w 14"/>
                  <a:gd name="T39" fmla="*/ 17 h 1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4" h="17">
                    <a:moveTo>
                      <a:pt x="4" y="3"/>
                    </a:moveTo>
                    <a:lnTo>
                      <a:pt x="0" y="5"/>
                    </a:lnTo>
                    <a:lnTo>
                      <a:pt x="9" y="17"/>
                    </a:lnTo>
                    <a:lnTo>
                      <a:pt x="14" y="14"/>
                    </a:lnTo>
                    <a:lnTo>
                      <a:pt x="4" y="1"/>
                    </a:lnTo>
                    <a:lnTo>
                      <a:pt x="0" y="2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02" name="Freeform 851"/>
              <p:cNvSpPr>
                <a:spLocks/>
              </p:cNvSpPr>
              <p:nvPr/>
            </p:nvSpPr>
            <p:spPr bwMode="auto">
              <a:xfrm>
                <a:off x="2750" y="1853"/>
                <a:ext cx="18" cy="41"/>
              </a:xfrm>
              <a:custGeom>
                <a:avLst/>
                <a:gdLst>
                  <a:gd name="T0" fmla="*/ 0 w 18"/>
                  <a:gd name="T1" fmla="*/ 37 h 41"/>
                  <a:gd name="T2" fmla="*/ 4 w 18"/>
                  <a:gd name="T3" fmla="*/ 39 h 41"/>
                  <a:gd name="T4" fmla="*/ 18 w 18"/>
                  <a:gd name="T5" fmla="*/ 1 h 41"/>
                  <a:gd name="T6" fmla="*/ 14 w 18"/>
                  <a:gd name="T7" fmla="*/ 0 h 41"/>
                  <a:gd name="T8" fmla="*/ 0 w 18"/>
                  <a:gd name="T9" fmla="*/ 38 h 41"/>
                  <a:gd name="T10" fmla="*/ 4 w 18"/>
                  <a:gd name="T11" fmla="*/ 40 h 41"/>
                  <a:gd name="T12" fmla="*/ 0 w 18"/>
                  <a:gd name="T13" fmla="*/ 38 h 41"/>
                  <a:gd name="T14" fmla="*/ 0 w 18"/>
                  <a:gd name="T15" fmla="*/ 40 h 41"/>
                  <a:gd name="T16" fmla="*/ 2 w 18"/>
                  <a:gd name="T17" fmla="*/ 41 h 41"/>
                  <a:gd name="T18" fmla="*/ 3 w 18"/>
                  <a:gd name="T19" fmla="*/ 41 h 41"/>
                  <a:gd name="T20" fmla="*/ 4 w 18"/>
                  <a:gd name="T21" fmla="*/ 39 h 41"/>
                  <a:gd name="T22" fmla="*/ 0 w 18"/>
                  <a:gd name="T23" fmla="*/ 37 h 4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41"/>
                  <a:gd name="T38" fmla="*/ 18 w 18"/>
                  <a:gd name="T39" fmla="*/ 41 h 4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41">
                    <a:moveTo>
                      <a:pt x="0" y="37"/>
                    </a:moveTo>
                    <a:lnTo>
                      <a:pt x="4" y="39"/>
                    </a:lnTo>
                    <a:lnTo>
                      <a:pt x="18" y="1"/>
                    </a:lnTo>
                    <a:lnTo>
                      <a:pt x="14" y="0"/>
                    </a:lnTo>
                    <a:lnTo>
                      <a:pt x="0" y="38"/>
                    </a:lnTo>
                    <a:lnTo>
                      <a:pt x="4" y="40"/>
                    </a:lnTo>
                    <a:lnTo>
                      <a:pt x="0" y="38"/>
                    </a:lnTo>
                    <a:lnTo>
                      <a:pt x="0" y="40"/>
                    </a:lnTo>
                    <a:lnTo>
                      <a:pt x="2" y="41"/>
                    </a:lnTo>
                    <a:lnTo>
                      <a:pt x="3" y="41"/>
                    </a:lnTo>
                    <a:lnTo>
                      <a:pt x="4" y="39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03" name="Freeform 852"/>
              <p:cNvSpPr>
                <a:spLocks/>
              </p:cNvSpPr>
              <p:nvPr/>
            </p:nvSpPr>
            <p:spPr bwMode="auto">
              <a:xfrm>
                <a:off x="2750" y="1867"/>
                <a:ext cx="21" cy="26"/>
              </a:xfrm>
              <a:custGeom>
                <a:avLst/>
                <a:gdLst>
                  <a:gd name="T0" fmla="*/ 20 w 21"/>
                  <a:gd name="T1" fmla="*/ 1 h 26"/>
                  <a:gd name="T2" fmla="*/ 17 w 21"/>
                  <a:gd name="T3" fmla="*/ 1 h 26"/>
                  <a:gd name="T4" fmla="*/ 0 w 21"/>
                  <a:gd name="T5" fmla="*/ 23 h 26"/>
                  <a:gd name="T6" fmla="*/ 4 w 21"/>
                  <a:gd name="T7" fmla="*/ 26 h 26"/>
                  <a:gd name="T8" fmla="*/ 20 w 21"/>
                  <a:gd name="T9" fmla="*/ 5 h 26"/>
                  <a:gd name="T10" fmla="*/ 17 w 21"/>
                  <a:gd name="T11" fmla="*/ 5 h 26"/>
                  <a:gd name="T12" fmla="*/ 20 w 21"/>
                  <a:gd name="T13" fmla="*/ 5 h 26"/>
                  <a:gd name="T14" fmla="*/ 21 w 21"/>
                  <a:gd name="T15" fmla="*/ 2 h 26"/>
                  <a:gd name="T16" fmla="*/ 20 w 21"/>
                  <a:gd name="T17" fmla="*/ 1 h 26"/>
                  <a:gd name="T18" fmla="*/ 18 w 21"/>
                  <a:gd name="T19" fmla="*/ 0 h 26"/>
                  <a:gd name="T20" fmla="*/ 17 w 21"/>
                  <a:gd name="T21" fmla="*/ 1 h 26"/>
                  <a:gd name="T22" fmla="*/ 20 w 21"/>
                  <a:gd name="T23" fmla="*/ 1 h 2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"/>
                  <a:gd name="T37" fmla="*/ 0 h 26"/>
                  <a:gd name="T38" fmla="*/ 21 w 21"/>
                  <a:gd name="T39" fmla="*/ 26 h 2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" h="26">
                    <a:moveTo>
                      <a:pt x="20" y="1"/>
                    </a:moveTo>
                    <a:lnTo>
                      <a:pt x="17" y="1"/>
                    </a:lnTo>
                    <a:lnTo>
                      <a:pt x="0" y="23"/>
                    </a:lnTo>
                    <a:lnTo>
                      <a:pt x="4" y="26"/>
                    </a:lnTo>
                    <a:lnTo>
                      <a:pt x="20" y="5"/>
                    </a:lnTo>
                    <a:lnTo>
                      <a:pt x="17" y="5"/>
                    </a:lnTo>
                    <a:lnTo>
                      <a:pt x="20" y="5"/>
                    </a:lnTo>
                    <a:lnTo>
                      <a:pt x="21" y="2"/>
                    </a:lnTo>
                    <a:lnTo>
                      <a:pt x="20" y="1"/>
                    </a:lnTo>
                    <a:lnTo>
                      <a:pt x="18" y="0"/>
                    </a:lnTo>
                    <a:lnTo>
                      <a:pt x="17" y="1"/>
                    </a:lnTo>
                    <a:lnTo>
                      <a:pt x="2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04" name="Freeform 853"/>
              <p:cNvSpPr>
                <a:spLocks/>
              </p:cNvSpPr>
              <p:nvPr/>
            </p:nvSpPr>
            <p:spPr bwMode="auto">
              <a:xfrm>
                <a:off x="2766" y="1868"/>
                <a:ext cx="14" cy="17"/>
              </a:xfrm>
              <a:custGeom>
                <a:avLst/>
                <a:gdLst>
                  <a:gd name="T0" fmla="*/ 8 w 14"/>
                  <a:gd name="T1" fmla="*/ 14 h 17"/>
                  <a:gd name="T2" fmla="*/ 13 w 14"/>
                  <a:gd name="T3" fmla="*/ 13 h 17"/>
                  <a:gd name="T4" fmla="*/ 4 w 14"/>
                  <a:gd name="T5" fmla="*/ 0 h 17"/>
                  <a:gd name="T6" fmla="*/ 0 w 14"/>
                  <a:gd name="T7" fmla="*/ 4 h 17"/>
                  <a:gd name="T8" fmla="*/ 10 w 14"/>
                  <a:gd name="T9" fmla="*/ 16 h 17"/>
                  <a:gd name="T10" fmla="*/ 14 w 14"/>
                  <a:gd name="T11" fmla="*/ 15 h 17"/>
                  <a:gd name="T12" fmla="*/ 10 w 14"/>
                  <a:gd name="T13" fmla="*/ 16 h 17"/>
                  <a:gd name="T14" fmla="*/ 11 w 14"/>
                  <a:gd name="T15" fmla="*/ 17 h 17"/>
                  <a:gd name="T16" fmla="*/ 13 w 14"/>
                  <a:gd name="T17" fmla="*/ 16 h 17"/>
                  <a:gd name="T18" fmla="*/ 14 w 14"/>
                  <a:gd name="T19" fmla="*/ 15 h 17"/>
                  <a:gd name="T20" fmla="*/ 13 w 14"/>
                  <a:gd name="T21" fmla="*/ 13 h 17"/>
                  <a:gd name="T22" fmla="*/ 8 w 14"/>
                  <a:gd name="T23" fmla="*/ 14 h 1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4"/>
                  <a:gd name="T37" fmla="*/ 0 h 17"/>
                  <a:gd name="T38" fmla="*/ 14 w 14"/>
                  <a:gd name="T39" fmla="*/ 17 h 1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4" h="17">
                    <a:moveTo>
                      <a:pt x="8" y="14"/>
                    </a:moveTo>
                    <a:lnTo>
                      <a:pt x="13" y="13"/>
                    </a:lnTo>
                    <a:lnTo>
                      <a:pt x="4" y="0"/>
                    </a:lnTo>
                    <a:lnTo>
                      <a:pt x="0" y="4"/>
                    </a:lnTo>
                    <a:lnTo>
                      <a:pt x="10" y="16"/>
                    </a:lnTo>
                    <a:lnTo>
                      <a:pt x="14" y="15"/>
                    </a:lnTo>
                    <a:lnTo>
                      <a:pt x="10" y="16"/>
                    </a:lnTo>
                    <a:lnTo>
                      <a:pt x="11" y="17"/>
                    </a:lnTo>
                    <a:lnTo>
                      <a:pt x="13" y="16"/>
                    </a:lnTo>
                    <a:lnTo>
                      <a:pt x="14" y="15"/>
                    </a:lnTo>
                    <a:lnTo>
                      <a:pt x="13" y="13"/>
                    </a:lnTo>
                    <a:lnTo>
                      <a:pt x="8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05" name="Freeform 854"/>
              <p:cNvSpPr>
                <a:spLocks/>
              </p:cNvSpPr>
              <p:nvPr/>
            </p:nvSpPr>
            <p:spPr bwMode="auto">
              <a:xfrm>
                <a:off x="2776" y="1828"/>
                <a:ext cx="23" cy="55"/>
              </a:xfrm>
              <a:custGeom>
                <a:avLst/>
                <a:gdLst>
                  <a:gd name="T0" fmla="*/ 23 w 23"/>
                  <a:gd name="T1" fmla="*/ 3 h 55"/>
                  <a:gd name="T2" fmla="*/ 19 w 23"/>
                  <a:gd name="T3" fmla="*/ 1 h 55"/>
                  <a:gd name="T4" fmla="*/ 0 w 23"/>
                  <a:gd name="T5" fmla="*/ 54 h 55"/>
                  <a:gd name="T6" fmla="*/ 4 w 23"/>
                  <a:gd name="T7" fmla="*/ 55 h 55"/>
                  <a:gd name="T8" fmla="*/ 23 w 23"/>
                  <a:gd name="T9" fmla="*/ 3 h 55"/>
                  <a:gd name="T10" fmla="*/ 19 w 23"/>
                  <a:gd name="T11" fmla="*/ 1 h 55"/>
                  <a:gd name="T12" fmla="*/ 23 w 23"/>
                  <a:gd name="T13" fmla="*/ 3 h 55"/>
                  <a:gd name="T14" fmla="*/ 23 w 23"/>
                  <a:gd name="T15" fmla="*/ 1 h 55"/>
                  <a:gd name="T16" fmla="*/ 21 w 23"/>
                  <a:gd name="T17" fmla="*/ 0 h 55"/>
                  <a:gd name="T18" fmla="*/ 20 w 23"/>
                  <a:gd name="T19" fmla="*/ 0 h 55"/>
                  <a:gd name="T20" fmla="*/ 19 w 23"/>
                  <a:gd name="T21" fmla="*/ 1 h 55"/>
                  <a:gd name="T22" fmla="*/ 23 w 23"/>
                  <a:gd name="T23" fmla="*/ 3 h 5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3"/>
                  <a:gd name="T37" fmla="*/ 0 h 55"/>
                  <a:gd name="T38" fmla="*/ 23 w 23"/>
                  <a:gd name="T39" fmla="*/ 55 h 5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3" h="55">
                    <a:moveTo>
                      <a:pt x="23" y="3"/>
                    </a:moveTo>
                    <a:lnTo>
                      <a:pt x="19" y="1"/>
                    </a:lnTo>
                    <a:lnTo>
                      <a:pt x="0" y="54"/>
                    </a:lnTo>
                    <a:lnTo>
                      <a:pt x="4" y="55"/>
                    </a:lnTo>
                    <a:lnTo>
                      <a:pt x="23" y="3"/>
                    </a:lnTo>
                    <a:lnTo>
                      <a:pt x="19" y="1"/>
                    </a:lnTo>
                    <a:lnTo>
                      <a:pt x="23" y="3"/>
                    </a:lnTo>
                    <a:lnTo>
                      <a:pt x="23" y="1"/>
                    </a:lnTo>
                    <a:lnTo>
                      <a:pt x="21" y="0"/>
                    </a:lnTo>
                    <a:lnTo>
                      <a:pt x="20" y="0"/>
                    </a:lnTo>
                    <a:lnTo>
                      <a:pt x="19" y="1"/>
                    </a:lnTo>
                    <a:lnTo>
                      <a:pt x="2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06" name="Freeform 855"/>
              <p:cNvSpPr>
                <a:spLocks/>
              </p:cNvSpPr>
              <p:nvPr/>
            </p:nvSpPr>
            <p:spPr bwMode="auto">
              <a:xfrm>
                <a:off x="2753" y="1833"/>
                <a:ext cx="43" cy="57"/>
              </a:xfrm>
              <a:custGeom>
                <a:avLst/>
                <a:gdLst>
                  <a:gd name="T0" fmla="*/ 43 w 43"/>
                  <a:gd name="T1" fmla="*/ 0 h 57"/>
                  <a:gd name="T2" fmla="*/ 25 w 43"/>
                  <a:gd name="T3" fmla="*/ 49 h 57"/>
                  <a:gd name="T4" fmla="*/ 15 w 43"/>
                  <a:gd name="T5" fmla="*/ 36 h 57"/>
                  <a:gd name="T6" fmla="*/ 0 w 43"/>
                  <a:gd name="T7" fmla="*/ 57 h 57"/>
                  <a:gd name="T8" fmla="*/ 13 w 43"/>
                  <a:gd name="T9" fmla="*/ 21 h 57"/>
                  <a:gd name="T10" fmla="*/ 23 w 43"/>
                  <a:gd name="T11" fmla="*/ 34 h 57"/>
                  <a:gd name="T12" fmla="*/ 43 w 43"/>
                  <a:gd name="T13" fmla="*/ 0 h 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57"/>
                  <a:gd name="T23" fmla="*/ 43 w 43"/>
                  <a:gd name="T24" fmla="*/ 57 h 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57">
                    <a:moveTo>
                      <a:pt x="43" y="0"/>
                    </a:moveTo>
                    <a:lnTo>
                      <a:pt x="25" y="49"/>
                    </a:lnTo>
                    <a:lnTo>
                      <a:pt x="15" y="36"/>
                    </a:lnTo>
                    <a:lnTo>
                      <a:pt x="0" y="57"/>
                    </a:lnTo>
                    <a:lnTo>
                      <a:pt x="13" y="21"/>
                    </a:lnTo>
                    <a:lnTo>
                      <a:pt x="23" y="34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19191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07" name="Freeform 856"/>
              <p:cNvSpPr>
                <a:spLocks/>
              </p:cNvSpPr>
              <p:nvPr/>
            </p:nvSpPr>
            <p:spPr bwMode="auto">
              <a:xfrm>
                <a:off x="2754" y="1836"/>
                <a:ext cx="41" cy="52"/>
              </a:xfrm>
              <a:custGeom>
                <a:avLst/>
                <a:gdLst>
                  <a:gd name="T0" fmla="*/ 41 w 41"/>
                  <a:gd name="T1" fmla="*/ 0 h 52"/>
                  <a:gd name="T2" fmla="*/ 24 w 41"/>
                  <a:gd name="T3" fmla="*/ 45 h 52"/>
                  <a:gd name="T4" fmla="*/ 14 w 41"/>
                  <a:gd name="T5" fmla="*/ 32 h 52"/>
                  <a:gd name="T6" fmla="*/ 0 w 41"/>
                  <a:gd name="T7" fmla="*/ 52 h 52"/>
                  <a:gd name="T8" fmla="*/ 12 w 41"/>
                  <a:gd name="T9" fmla="*/ 20 h 52"/>
                  <a:gd name="T10" fmla="*/ 23 w 41"/>
                  <a:gd name="T11" fmla="*/ 31 h 52"/>
                  <a:gd name="T12" fmla="*/ 41 w 41"/>
                  <a:gd name="T13" fmla="*/ 0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1"/>
                  <a:gd name="T22" fmla="*/ 0 h 52"/>
                  <a:gd name="T23" fmla="*/ 41 w 41"/>
                  <a:gd name="T24" fmla="*/ 52 h 5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1" h="52">
                    <a:moveTo>
                      <a:pt x="41" y="0"/>
                    </a:moveTo>
                    <a:lnTo>
                      <a:pt x="24" y="45"/>
                    </a:lnTo>
                    <a:lnTo>
                      <a:pt x="14" y="32"/>
                    </a:lnTo>
                    <a:lnTo>
                      <a:pt x="0" y="52"/>
                    </a:lnTo>
                    <a:lnTo>
                      <a:pt x="12" y="20"/>
                    </a:lnTo>
                    <a:lnTo>
                      <a:pt x="23" y="31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08" name="Freeform 857"/>
              <p:cNvSpPr>
                <a:spLocks/>
              </p:cNvSpPr>
              <p:nvPr/>
            </p:nvSpPr>
            <p:spPr bwMode="auto">
              <a:xfrm>
                <a:off x="2755" y="1840"/>
                <a:ext cx="38" cy="47"/>
              </a:xfrm>
              <a:custGeom>
                <a:avLst/>
                <a:gdLst>
                  <a:gd name="T0" fmla="*/ 38 w 38"/>
                  <a:gd name="T1" fmla="*/ 0 h 47"/>
                  <a:gd name="T2" fmla="*/ 23 w 38"/>
                  <a:gd name="T3" fmla="*/ 41 h 47"/>
                  <a:gd name="T4" fmla="*/ 13 w 38"/>
                  <a:gd name="T5" fmla="*/ 28 h 47"/>
                  <a:gd name="T6" fmla="*/ 0 w 38"/>
                  <a:gd name="T7" fmla="*/ 47 h 47"/>
                  <a:gd name="T8" fmla="*/ 11 w 38"/>
                  <a:gd name="T9" fmla="*/ 16 h 47"/>
                  <a:gd name="T10" fmla="*/ 21 w 38"/>
                  <a:gd name="T11" fmla="*/ 28 h 47"/>
                  <a:gd name="T12" fmla="*/ 38 w 38"/>
                  <a:gd name="T13" fmla="*/ 0 h 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"/>
                  <a:gd name="T22" fmla="*/ 0 h 47"/>
                  <a:gd name="T23" fmla="*/ 38 w 38"/>
                  <a:gd name="T24" fmla="*/ 47 h 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" h="47">
                    <a:moveTo>
                      <a:pt x="38" y="0"/>
                    </a:moveTo>
                    <a:lnTo>
                      <a:pt x="23" y="41"/>
                    </a:lnTo>
                    <a:lnTo>
                      <a:pt x="13" y="28"/>
                    </a:lnTo>
                    <a:lnTo>
                      <a:pt x="0" y="47"/>
                    </a:lnTo>
                    <a:lnTo>
                      <a:pt x="11" y="16"/>
                    </a:lnTo>
                    <a:lnTo>
                      <a:pt x="21" y="28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09" name="Freeform 858"/>
              <p:cNvSpPr>
                <a:spLocks/>
              </p:cNvSpPr>
              <p:nvPr/>
            </p:nvSpPr>
            <p:spPr bwMode="auto">
              <a:xfrm>
                <a:off x="2756" y="1843"/>
                <a:ext cx="36" cy="41"/>
              </a:xfrm>
              <a:custGeom>
                <a:avLst/>
                <a:gdLst>
                  <a:gd name="T0" fmla="*/ 36 w 36"/>
                  <a:gd name="T1" fmla="*/ 0 h 41"/>
                  <a:gd name="T2" fmla="*/ 22 w 36"/>
                  <a:gd name="T3" fmla="*/ 38 h 41"/>
                  <a:gd name="T4" fmla="*/ 12 w 36"/>
                  <a:gd name="T5" fmla="*/ 24 h 41"/>
                  <a:gd name="T6" fmla="*/ 0 w 36"/>
                  <a:gd name="T7" fmla="*/ 41 h 41"/>
                  <a:gd name="T8" fmla="*/ 11 w 36"/>
                  <a:gd name="T9" fmla="*/ 14 h 41"/>
                  <a:gd name="T10" fmla="*/ 21 w 36"/>
                  <a:gd name="T11" fmla="*/ 26 h 41"/>
                  <a:gd name="T12" fmla="*/ 36 w 36"/>
                  <a:gd name="T13" fmla="*/ 0 h 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6"/>
                  <a:gd name="T22" fmla="*/ 0 h 41"/>
                  <a:gd name="T23" fmla="*/ 36 w 36"/>
                  <a:gd name="T24" fmla="*/ 41 h 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6" h="41">
                    <a:moveTo>
                      <a:pt x="36" y="0"/>
                    </a:moveTo>
                    <a:lnTo>
                      <a:pt x="22" y="38"/>
                    </a:lnTo>
                    <a:lnTo>
                      <a:pt x="12" y="24"/>
                    </a:lnTo>
                    <a:lnTo>
                      <a:pt x="0" y="41"/>
                    </a:lnTo>
                    <a:lnTo>
                      <a:pt x="11" y="14"/>
                    </a:lnTo>
                    <a:lnTo>
                      <a:pt x="21" y="2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10" name="Freeform 859"/>
              <p:cNvSpPr>
                <a:spLocks/>
              </p:cNvSpPr>
              <p:nvPr/>
            </p:nvSpPr>
            <p:spPr bwMode="auto">
              <a:xfrm>
                <a:off x="2756" y="1846"/>
                <a:ext cx="34" cy="36"/>
              </a:xfrm>
              <a:custGeom>
                <a:avLst/>
                <a:gdLst>
                  <a:gd name="T0" fmla="*/ 34 w 34"/>
                  <a:gd name="T1" fmla="*/ 0 h 36"/>
                  <a:gd name="T2" fmla="*/ 22 w 34"/>
                  <a:gd name="T3" fmla="*/ 34 h 36"/>
                  <a:gd name="T4" fmla="*/ 11 w 34"/>
                  <a:gd name="T5" fmla="*/ 21 h 36"/>
                  <a:gd name="T6" fmla="*/ 0 w 34"/>
                  <a:gd name="T7" fmla="*/ 36 h 36"/>
                  <a:gd name="T8" fmla="*/ 10 w 34"/>
                  <a:gd name="T9" fmla="*/ 12 h 36"/>
                  <a:gd name="T10" fmla="*/ 20 w 34"/>
                  <a:gd name="T11" fmla="*/ 23 h 36"/>
                  <a:gd name="T12" fmla="*/ 34 w 34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"/>
                  <a:gd name="T22" fmla="*/ 0 h 36"/>
                  <a:gd name="T23" fmla="*/ 34 w 34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" h="36">
                    <a:moveTo>
                      <a:pt x="34" y="0"/>
                    </a:moveTo>
                    <a:lnTo>
                      <a:pt x="22" y="34"/>
                    </a:lnTo>
                    <a:lnTo>
                      <a:pt x="11" y="21"/>
                    </a:lnTo>
                    <a:lnTo>
                      <a:pt x="0" y="36"/>
                    </a:lnTo>
                    <a:lnTo>
                      <a:pt x="10" y="12"/>
                    </a:lnTo>
                    <a:lnTo>
                      <a:pt x="20" y="23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11" name="Freeform 860"/>
              <p:cNvSpPr>
                <a:spLocks/>
              </p:cNvSpPr>
              <p:nvPr/>
            </p:nvSpPr>
            <p:spPr bwMode="auto">
              <a:xfrm>
                <a:off x="2758" y="1849"/>
                <a:ext cx="30" cy="31"/>
              </a:xfrm>
              <a:custGeom>
                <a:avLst/>
                <a:gdLst>
                  <a:gd name="T0" fmla="*/ 30 w 30"/>
                  <a:gd name="T1" fmla="*/ 0 h 31"/>
                  <a:gd name="T2" fmla="*/ 20 w 30"/>
                  <a:gd name="T3" fmla="*/ 30 h 31"/>
                  <a:gd name="T4" fmla="*/ 10 w 30"/>
                  <a:gd name="T5" fmla="*/ 17 h 31"/>
                  <a:gd name="T6" fmla="*/ 0 w 30"/>
                  <a:gd name="T7" fmla="*/ 31 h 31"/>
                  <a:gd name="T8" fmla="*/ 9 w 30"/>
                  <a:gd name="T9" fmla="*/ 9 h 31"/>
                  <a:gd name="T10" fmla="*/ 18 w 30"/>
                  <a:gd name="T11" fmla="*/ 21 h 31"/>
                  <a:gd name="T12" fmla="*/ 30 w 30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0"/>
                  <a:gd name="T22" fmla="*/ 0 h 31"/>
                  <a:gd name="T23" fmla="*/ 30 w 30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0" h="31">
                    <a:moveTo>
                      <a:pt x="30" y="0"/>
                    </a:moveTo>
                    <a:lnTo>
                      <a:pt x="20" y="30"/>
                    </a:lnTo>
                    <a:lnTo>
                      <a:pt x="10" y="17"/>
                    </a:lnTo>
                    <a:lnTo>
                      <a:pt x="0" y="31"/>
                    </a:lnTo>
                    <a:lnTo>
                      <a:pt x="9" y="9"/>
                    </a:lnTo>
                    <a:lnTo>
                      <a:pt x="18" y="2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12" name="Freeform 861"/>
              <p:cNvSpPr>
                <a:spLocks/>
              </p:cNvSpPr>
              <p:nvPr/>
            </p:nvSpPr>
            <p:spPr bwMode="auto">
              <a:xfrm>
                <a:off x="2758" y="1852"/>
                <a:ext cx="29" cy="27"/>
              </a:xfrm>
              <a:custGeom>
                <a:avLst/>
                <a:gdLst>
                  <a:gd name="T0" fmla="*/ 29 w 29"/>
                  <a:gd name="T1" fmla="*/ 0 h 27"/>
                  <a:gd name="T2" fmla="*/ 20 w 29"/>
                  <a:gd name="T3" fmla="*/ 27 h 27"/>
                  <a:gd name="T4" fmla="*/ 9 w 29"/>
                  <a:gd name="T5" fmla="*/ 14 h 27"/>
                  <a:gd name="T6" fmla="*/ 0 w 29"/>
                  <a:gd name="T7" fmla="*/ 27 h 27"/>
                  <a:gd name="T8" fmla="*/ 8 w 29"/>
                  <a:gd name="T9" fmla="*/ 7 h 27"/>
                  <a:gd name="T10" fmla="*/ 18 w 29"/>
                  <a:gd name="T11" fmla="*/ 20 h 27"/>
                  <a:gd name="T12" fmla="*/ 29 w 29"/>
                  <a:gd name="T13" fmla="*/ 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9"/>
                  <a:gd name="T22" fmla="*/ 0 h 27"/>
                  <a:gd name="T23" fmla="*/ 29 w 29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9" h="27">
                    <a:moveTo>
                      <a:pt x="29" y="0"/>
                    </a:moveTo>
                    <a:lnTo>
                      <a:pt x="20" y="27"/>
                    </a:lnTo>
                    <a:lnTo>
                      <a:pt x="9" y="14"/>
                    </a:lnTo>
                    <a:lnTo>
                      <a:pt x="0" y="27"/>
                    </a:lnTo>
                    <a:lnTo>
                      <a:pt x="8" y="7"/>
                    </a:lnTo>
                    <a:lnTo>
                      <a:pt x="18" y="2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13" name="Freeform 862"/>
              <p:cNvSpPr>
                <a:spLocks/>
              </p:cNvSpPr>
              <p:nvPr/>
            </p:nvSpPr>
            <p:spPr bwMode="auto">
              <a:xfrm>
                <a:off x="2760" y="1856"/>
                <a:ext cx="25" cy="22"/>
              </a:xfrm>
              <a:custGeom>
                <a:avLst/>
                <a:gdLst>
                  <a:gd name="T0" fmla="*/ 25 w 25"/>
                  <a:gd name="T1" fmla="*/ 0 h 22"/>
                  <a:gd name="T2" fmla="*/ 17 w 25"/>
                  <a:gd name="T3" fmla="*/ 22 h 22"/>
                  <a:gd name="T4" fmla="*/ 7 w 25"/>
                  <a:gd name="T5" fmla="*/ 9 h 22"/>
                  <a:gd name="T6" fmla="*/ 0 w 25"/>
                  <a:gd name="T7" fmla="*/ 20 h 22"/>
                  <a:gd name="T8" fmla="*/ 6 w 25"/>
                  <a:gd name="T9" fmla="*/ 3 h 22"/>
                  <a:gd name="T10" fmla="*/ 16 w 25"/>
                  <a:gd name="T11" fmla="*/ 16 h 22"/>
                  <a:gd name="T12" fmla="*/ 25 w 25"/>
                  <a:gd name="T13" fmla="*/ 0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22"/>
                  <a:gd name="T23" fmla="*/ 25 w 25"/>
                  <a:gd name="T24" fmla="*/ 22 h 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22">
                    <a:moveTo>
                      <a:pt x="25" y="0"/>
                    </a:moveTo>
                    <a:lnTo>
                      <a:pt x="17" y="22"/>
                    </a:lnTo>
                    <a:lnTo>
                      <a:pt x="7" y="9"/>
                    </a:lnTo>
                    <a:lnTo>
                      <a:pt x="0" y="20"/>
                    </a:lnTo>
                    <a:lnTo>
                      <a:pt x="6" y="3"/>
                    </a:lnTo>
                    <a:lnTo>
                      <a:pt x="16" y="1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14" name="Freeform 863"/>
              <p:cNvSpPr>
                <a:spLocks/>
              </p:cNvSpPr>
              <p:nvPr/>
            </p:nvSpPr>
            <p:spPr bwMode="auto">
              <a:xfrm>
                <a:off x="2761" y="1859"/>
                <a:ext cx="23" cy="19"/>
              </a:xfrm>
              <a:custGeom>
                <a:avLst/>
                <a:gdLst>
                  <a:gd name="T0" fmla="*/ 23 w 23"/>
                  <a:gd name="T1" fmla="*/ 0 h 19"/>
                  <a:gd name="T2" fmla="*/ 16 w 23"/>
                  <a:gd name="T3" fmla="*/ 19 h 19"/>
                  <a:gd name="T4" fmla="*/ 6 w 23"/>
                  <a:gd name="T5" fmla="*/ 6 h 19"/>
                  <a:gd name="T6" fmla="*/ 0 w 23"/>
                  <a:gd name="T7" fmla="*/ 16 h 19"/>
                  <a:gd name="T8" fmla="*/ 5 w 23"/>
                  <a:gd name="T9" fmla="*/ 1 h 19"/>
                  <a:gd name="T10" fmla="*/ 15 w 23"/>
                  <a:gd name="T11" fmla="*/ 14 h 19"/>
                  <a:gd name="T12" fmla="*/ 23 w 23"/>
                  <a:gd name="T13" fmla="*/ 0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"/>
                  <a:gd name="T22" fmla="*/ 0 h 19"/>
                  <a:gd name="T23" fmla="*/ 23 w 23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" h="19">
                    <a:moveTo>
                      <a:pt x="23" y="0"/>
                    </a:moveTo>
                    <a:lnTo>
                      <a:pt x="16" y="19"/>
                    </a:lnTo>
                    <a:lnTo>
                      <a:pt x="6" y="6"/>
                    </a:lnTo>
                    <a:lnTo>
                      <a:pt x="0" y="16"/>
                    </a:lnTo>
                    <a:lnTo>
                      <a:pt x="5" y="1"/>
                    </a:lnTo>
                    <a:lnTo>
                      <a:pt x="15" y="14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15" name="Freeform 864"/>
              <p:cNvSpPr>
                <a:spLocks/>
              </p:cNvSpPr>
              <p:nvPr/>
            </p:nvSpPr>
            <p:spPr bwMode="auto">
              <a:xfrm>
                <a:off x="2762" y="1861"/>
                <a:ext cx="20" cy="16"/>
              </a:xfrm>
              <a:custGeom>
                <a:avLst/>
                <a:gdLst>
                  <a:gd name="T0" fmla="*/ 20 w 20"/>
                  <a:gd name="T1" fmla="*/ 2 h 16"/>
                  <a:gd name="T2" fmla="*/ 14 w 20"/>
                  <a:gd name="T3" fmla="*/ 12 h 16"/>
                  <a:gd name="T4" fmla="*/ 4 w 20"/>
                  <a:gd name="T5" fmla="*/ 0 h 16"/>
                  <a:gd name="T6" fmla="*/ 0 w 20"/>
                  <a:gd name="T7" fmla="*/ 12 h 16"/>
                  <a:gd name="T8" fmla="*/ 5 w 20"/>
                  <a:gd name="T9" fmla="*/ 3 h 16"/>
                  <a:gd name="T10" fmla="*/ 15 w 20"/>
                  <a:gd name="T11" fmla="*/ 16 h 16"/>
                  <a:gd name="T12" fmla="*/ 20 w 20"/>
                  <a:gd name="T13" fmla="*/ 2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"/>
                  <a:gd name="T22" fmla="*/ 0 h 16"/>
                  <a:gd name="T23" fmla="*/ 20 w 20"/>
                  <a:gd name="T24" fmla="*/ 16 h 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" h="16">
                    <a:moveTo>
                      <a:pt x="20" y="2"/>
                    </a:moveTo>
                    <a:lnTo>
                      <a:pt x="14" y="12"/>
                    </a:lnTo>
                    <a:lnTo>
                      <a:pt x="4" y="0"/>
                    </a:lnTo>
                    <a:lnTo>
                      <a:pt x="0" y="12"/>
                    </a:lnTo>
                    <a:lnTo>
                      <a:pt x="5" y="3"/>
                    </a:lnTo>
                    <a:lnTo>
                      <a:pt x="15" y="16"/>
                    </a:lnTo>
                    <a:lnTo>
                      <a:pt x="20" y="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16" name="Freeform 865"/>
              <p:cNvSpPr>
                <a:spLocks/>
              </p:cNvSpPr>
              <p:nvPr/>
            </p:nvSpPr>
            <p:spPr bwMode="auto">
              <a:xfrm>
                <a:off x="2776" y="1938"/>
                <a:ext cx="75" cy="29"/>
              </a:xfrm>
              <a:custGeom>
                <a:avLst/>
                <a:gdLst>
                  <a:gd name="T0" fmla="*/ 75 w 75"/>
                  <a:gd name="T1" fmla="*/ 5 h 29"/>
                  <a:gd name="T2" fmla="*/ 34 w 75"/>
                  <a:gd name="T3" fmla="*/ 16 h 29"/>
                  <a:gd name="T4" fmla="*/ 36 w 75"/>
                  <a:gd name="T5" fmla="*/ 0 h 29"/>
                  <a:gd name="T6" fmla="*/ 0 w 75"/>
                  <a:gd name="T7" fmla="*/ 16 h 29"/>
                  <a:gd name="T8" fmla="*/ 26 w 75"/>
                  <a:gd name="T9" fmla="*/ 13 h 29"/>
                  <a:gd name="T10" fmla="*/ 24 w 75"/>
                  <a:gd name="T11" fmla="*/ 29 h 29"/>
                  <a:gd name="T12" fmla="*/ 75 w 75"/>
                  <a:gd name="T13" fmla="*/ 5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5"/>
                  <a:gd name="T22" fmla="*/ 0 h 29"/>
                  <a:gd name="T23" fmla="*/ 75 w 75"/>
                  <a:gd name="T24" fmla="*/ 29 h 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5" h="29">
                    <a:moveTo>
                      <a:pt x="75" y="5"/>
                    </a:moveTo>
                    <a:lnTo>
                      <a:pt x="34" y="16"/>
                    </a:lnTo>
                    <a:lnTo>
                      <a:pt x="36" y="0"/>
                    </a:lnTo>
                    <a:lnTo>
                      <a:pt x="0" y="16"/>
                    </a:lnTo>
                    <a:lnTo>
                      <a:pt x="26" y="13"/>
                    </a:lnTo>
                    <a:lnTo>
                      <a:pt x="24" y="29"/>
                    </a:ln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17" name="Freeform 866"/>
              <p:cNvSpPr>
                <a:spLocks/>
              </p:cNvSpPr>
              <p:nvPr/>
            </p:nvSpPr>
            <p:spPr bwMode="auto">
              <a:xfrm>
                <a:off x="2808" y="1941"/>
                <a:ext cx="43" cy="16"/>
              </a:xfrm>
              <a:custGeom>
                <a:avLst/>
                <a:gdLst>
                  <a:gd name="T0" fmla="*/ 0 w 43"/>
                  <a:gd name="T1" fmla="*/ 13 h 16"/>
                  <a:gd name="T2" fmla="*/ 3 w 43"/>
                  <a:gd name="T3" fmla="*/ 16 h 16"/>
                  <a:gd name="T4" fmla="*/ 43 w 43"/>
                  <a:gd name="T5" fmla="*/ 5 h 16"/>
                  <a:gd name="T6" fmla="*/ 42 w 43"/>
                  <a:gd name="T7" fmla="*/ 0 h 16"/>
                  <a:gd name="T8" fmla="*/ 2 w 43"/>
                  <a:gd name="T9" fmla="*/ 11 h 16"/>
                  <a:gd name="T10" fmla="*/ 5 w 43"/>
                  <a:gd name="T11" fmla="*/ 14 h 16"/>
                  <a:gd name="T12" fmla="*/ 2 w 43"/>
                  <a:gd name="T13" fmla="*/ 11 h 16"/>
                  <a:gd name="T14" fmla="*/ 0 w 43"/>
                  <a:gd name="T15" fmla="*/ 12 h 16"/>
                  <a:gd name="T16" fmla="*/ 0 w 43"/>
                  <a:gd name="T17" fmla="*/ 14 h 16"/>
                  <a:gd name="T18" fmla="*/ 1 w 43"/>
                  <a:gd name="T19" fmla="*/ 16 h 16"/>
                  <a:gd name="T20" fmla="*/ 3 w 43"/>
                  <a:gd name="T21" fmla="*/ 16 h 16"/>
                  <a:gd name="T22" fmla="*/ 0 w 43"/>
                  <a:gd name="T23" fmla="*/ 13 h 1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3"/>
                  <a:gd name="T37" fmla="*/ 0 h 16"/>
                  <a:gd name="T38" fmla="*/ 43 w 43"/>
                  <a:gd name="T39" fmla="*/ 16 h 1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3" h="16">
                    <a:moveTo>
                      <a:pt x="0" y="13"/>
                    </a:moveTo>
                    <a:lnTo>
                      <a:pt x="3" y="16"/>
                    </a:lnTo>
                    <a:lnTo>
                      <a:pt x="43" y="5"/>
                    </a:lnTo>
                    <a:lnTo>
                      <a:pt x="42" y="0"/>
                    </a:lnTo>
                    <a:lnTo>
                      <a:pt x="2" y="11"/>
                    </a:lnTo>
                    <a:lnTo>
                      <a:pt x="5" y="14"/>
                    </a:lnTo>
                    <a:lnTo>
                      <a:pt x="2" y="11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3" y="16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18" name="Freeform 867"/>
              <p:cNvSpPr>
                <a:spLocks/>
              </p:cNvSpPr>
              <p:nvPr/>
            </p:nvSpPr>
            <p:spPr bwMode="auto">
              <a:xfrm>
                <a:off x="2808" y="1936"/>
                <a:ext cx="7" cy="19"/>
              </a:xfrm>
              <a:custGeom>
                <a:avLst/>
                <a:gdLst>
                  <a:gd name="T0" fmla="*/ 5 w 7"/>
                  <a:gd name="T1" fmla="*/ 5 h 19"/>
                  <a:gd name="T2" fmla="*/ 2 w 7"/>
                  <a:gd name="T3" fmla="*/ 2 h 19"/>
                  <a:gd name="T4" fmla="*/ 0 w 7"/>
                  <a:gd name="T5" fmla="*/ 18 h 19"/>
                  <a:gd name="T6" fmla="*/ 5 w 7"/>
                  <a:gd name="T7" fmla="*/ 19 h 19"/>
                  <a:gd name="T8" fmla="*/ 7 w 7"/>
                  <a:gd name="T9" fmla="*/ 3 h 19"/>
                  <a:gd name="T10" fmla="*/ 4 w 7"/>
                  <a:gd name="T11" fmla="*/ 0 h 19"/>
                  <a:gd name="T12" fmla="*/ 7 w 7"/>
                  <a:gd name="T13" fmla="*/ 3 h 19"/>
                  <a:gd name="T14" fmla="*/ 6 w 7"/>
                  <a:gd name="T15" fmla="*/ 1 h 19"/>
                  <a:gd name="T16" fmla="*/ 5 w 7"/>
                  <a:gd name="T17" fmla="*/ 0 h 19"/>
                  <a:gd name="T18" fmla="*/ 3 w 7"/>
                  <a:gd name="T19" fmla="*/ 1 h 19"/>
                  <a:gd name="T20" fmla="*/ 2 w 7"/>
                  <a:gd name="T21" fmla="*/ 2 h 19"/>
                  <a:gd name="T22" fmla="*/ 5 w 7"/>
                  <a:gd name="T23" fmla="*/ 5 h 1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"/>
                  <a:gd name="T37" fmla="*/ 0 h 19"/>
                  <a:gd name="T38" fmla="*/ 7 w 7"/>
                  <a:gd name="T39" fmla="*/ 19 h 1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" h="19">
                    <a:moveTo>
                      <a:pt x="5" y="5"/>
                    </a:moveTo>
                    <a:lnTo>
                      <a:pt x="2" y="2"/>
                    </a:lnTo>
                    <a:lnTo>
                      <a:pt x="0" y="18"/>
                    </a:lnTo>
                    <a:lnTo>
                      <a:pt x="5" y="19"/>
                    </a:lnTo>
                    <a:lnTo>
                      <a:pt x="7" y="3"/>
                    </a:lnTo>
                    <a:lnTo>
                      <a:pt x="4" y="0"/>
                    </a:lnTo>
                    <a:lnTo>
                      <a:pt x="7" y="3"/>
                    </a:lnTo>
                    <a:lnTo>
                      <a:pt x="6" y="1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2" y="2"/>
                    </a:lnTo>
                    <a:lnTo>
                      <a:pt x="5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19" name="Freeform 868"/>
              <p:cNvSpPr>
                <a:spLocks/>
              </p:cNvSpPr>
              <p:nvPr/>
            </p:nvSpPr>
            <p:spPr bwMode="auto">
              <a:xfrm>
                <a:off x="2773" y="1936"/>
                <a:ext cx="40" cy="21"/>
              </a:xfrm>
              <a:custGeom>
                <a:avLst/>
                <a:gdLst>
                  <a:gd name="T0" fmla="*/ 3 w 40"/>
                  <a:gd name="T1" fmla="*/ 16 h 21"/>
                  <a:gd name="T2" fmla="*/ 4 w 40"/>
                  <a:gd name="T3" fmla="*/ 21 h 21"/>
                  <a:gd name="T4" fmla="*/ 40 w 40"/>
                  <a:gd name="T5" fmla="*/ 4 h 21"/>
                  <a:gd name="T6" fmla="*/ 38 w 40"/>
                  <a:gd name="T7" fmla="*/ 0 h 21"/>
                  <a:gd name="T8" fmla="*/ 1 w 40"/>
                  <a:gd name="T9" fmla="*/ 16 h 21"/>
                  <a:gd name="T10" fmla="*/ 3 w 40"/>
                  <a:gd name="T11" fmla="*/ 21 h 21"/>
                  <a:gd name="T12" fmla="*/ 1 w 40"/>
                  <a:gd name="T13" fmla="*/ 16 h 21"/>
                  <a:gd name="T14" fmla="*/ 0 w 40"/>
                  <a:gd name="T15" fmla="*/ 18 h 21"/>
                  <a:gd name="T16" fmla="*/ 0 w 40"/>
                  <a:gd name="T17" fmla="*/ 19 h 21"/>
                  <a:gd name="T18" fmla="*/ 1 w 40"/>
                  <a:gd name="T19" fmla="*/ 21 h 21"/>
                  <a:gd name="T20" fmla="*/ 4 w 40"/>
                  <a:gd name="T21" fmla="*/ 21 h 21"/>
                  <a:gd name="T22" fmla="*/ 3 w 40"/>
                  <a:gd name="T23" fmla="*/ 16 h 2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0"/>
                  <a:gd name="T37" fmla="*/ 0 h 21"/>
                  <a:gd name="T38" fmla="*/ 40 w 40"/>
                  <a:gd name="T39" fmla="*/ 21 h 2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0" h="21">
                    <a:moveTo>
                      <a:pt x="3" y="16"/>
                    </a:moveTo>
                    <a:lnTo>
                      <a:pt x="4" y="21"/>
                    </a:lnTo>
                    <a:lnTo>
                      <a:pt x="40" y="4"/>
                    </a:lnTo>
                    <a:lnTo>
                      <a:pt x="38" y="0"/>
                    </a:lnTo>
                    <a:lnTo>
                      <a:pt x="1" y="16"/>
                    </a:lnTo>
                    <a:lnTo>
                      <a:pt x="3" y="21"/>
                    </a:lnTo>
                    <a:lnTo>
                      <a:pt x="1" y="16"/>
                    </a:lnTo>
                    <a:lnTo>
                      <a:pt x="0" y="18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4" y="21"/>
                    </a:lnTo>
                    <a:lnTo>
                      <a:pt x="3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20" name="Freeform 869"/>
              <p:cNvSpPr>
                <a:spLocks/>
              </p:cNvSpPr>
              <p:nvPr/>
            </p:nvSpPr>
            <p:spPr bwMode="auto">
              <a:xfrm>
                <a:off x="2776" y="1948"/>
                <a:ext cx="28" cy="9"/>
              </a:xfrm>
              <a:custGeom>
                <a:avLst/>
                <a:gdLst>
                  <a:gd name="T0" fmla="*/ 28 w 28"/>
                  <a:gd name="T1" fmla="*/ 4 h 9"/>
                  <a:gd name="T2" fmla="*/ 25 w 28"/>
                  <a:gd name="T3" fmla="*/ 0 h 9"/>
                  <a:gd name="T4" fmla="*/ 0 w 28"/>
                  <a:gd name="T5" fmla="*/ 4 h 9"/>
                  <a:gd name="T6" fmla="*/ 1 w 28"/>
                  <a:gd name="T7" fmla="*/ 9 h 9"/>
                  <a:gd name="T8" fmla="*/ 26 w 28"/>
                  <a:gd name="T9" fmla="*/ 5 h 9"/>
                  <a:gd name="T10" fmla="*/ 23 w 28"/>
                  <a:gd name="T11" fmla="*/ 3 h 9"/>
                  <a:gd name="T12" fmla="*/ 26 w 28"/>
                  <a:gd name="T13" fmla="*/ 5 h 9"/>
                  <a:gd name="T14" fmla="*/ 27 w 28"/>
                  <a:gd name="T15" fmla="*/ 5 h 9"/>
                  <a:gd name="T16" fmla="*/ 28 w 28"/>
                  <a:gd name="T17" fmla="*/ 3 h 9"/>
                  <a:gd name="T18" fmla="*/ 27 w 28"/>
                  <a:gd name="T19" fmla="*/ 2 h 9"/>
                  <a:gd name="T20" fmla="*/ 25 w 28"/>
                  <a:gd name="T21" fmla="*/ 0 h 9"/>
                  <a:gd name="T22" fmla="*/ 28 w 28"/>
                  <a:gd name="T23" fmla="*/ 4 h 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8"/>
                  <a:gd name="T37" fmla="*/ 0 h 9"/>
                  <a:gd name="T38" fmla="*/ 28 w 28"/>
                  <a:gd name="T39" fmla="*/ 9 h 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8" h="9">
                    <a:moveTo>
                      <a:pt x="28" y="4"/>
                    </a:moveTo>
                    <a:lnTo>
                      <a:pt x="25" y="0"/>
                    </a:lnTo>
                    <a:lnTo>
                      <a:pt x="0" y="4"/>
                    </a:lnTo>
                    <a:lnTo>
                      <a:pt x="1" y="9"/>
                    </a:lnTo>
                    <a:lnTo>
                      <a:pt x="26" y="5"/>
                    </a:lnTo>
                    <a:lnTo>
                      <a:pt x="23" y="3"/>
                    </a:lnTo>
                    <a:lnTo>
                      <a:pt x="26" y="5"/>
                    </a:lnTo>
                    <a:lnTo>
                      <a:pt x="27" y="5"/>
                    </a:lnTo>
                    <a:lnTo>
                      <a:pt x="28" y="3"/>
                    </a:lnTo>
                    <a:lnTo>
                      <a:pt x="27" y="2"/>
                    </a:lnTo>
                    <a:lnTo>
                      <a:pt x="25" y="0"/>
                    </a:lnTo>
                    <a:lnTo>
                      <a:pt x="28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21" name="Freeform 870"/>
              <p:cNvSpPr>
                <a:spLocks/>
              </p:cNvSpPr>
              <p:nvPr/>
            </p:nvSpPr>
            <p:spPr bwMode="auto">
              <a:xfrm>
                <a:off x="2797" y="1951"/>
                <a:ext cx="7" cy="18"/>
              </a:xfrm>
              <a:custGeom>
                <a:avLst/>
                <a:gdLst>
                  <a:gd name="T0" fmla="*/ 2 w 7"/>
                  <a:gd name="T1" fmla="*/ 14 h 18"/>
                  <a:gd name="T2" fmla="*/ 5 w 7"/>
                  <a:gd name="T3" fmla="*/ 16 h 18"/>
                  <a:gd name="T4" fmla="*/ 7 w 7"/>
                  <a:gd name="T5" fmla="*/ 1 h 18"/>
                  <a:gd name="T6" fmla="*/ 2 w 7"/>
                  <a:gd name="T7" fmla="*/ 0 h 18"/>
                  <a:gd name="T8" fmla="*/ 0 w 7"/>
                  <a:gd name="T9" fmla="*/ 16 h 18"/>
                  <a:gd name="T10" fmla="*/ 3 w 7"/>
                  <a:gd name="T11" fmla="*/ 18 h 18"/>
                  <a:gd name="T12" fmla="*/ 0 w 7"/>
                  <a:gd name="T13" fmla="*/ 16 h 18"/>
                  <a:gd name="T14" fmla="*/ 1 w 7"/>
                  <a:gd name="T15" fmla="*/ 17 h 18"/>
                  <a:gd name="T16" fmla="*/ 2 w 7"/>
                  <a:gd name="T17" fmla="*/ 18 h 18"/>
                  <a:gd name="T18" fmla="*/ 4 w 7"/>
                  <a:gd name="T19" fmla="*/ 18 h 18"/>
                  <a:gd name="T20" fmla="*/ 5 w 7"/>
                  <a:gd name="T21" fmla="*/ 16 h 18"/>
                  <a:gd name="T22" fmla="*/ 2 w 7"/>
                  <a:gd name="T23" fmla="*/ 14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"/>
                  <a:gd name="T37" fmla="*/ 0 h 18"/>
                  <a:gd name="T38" fmla="*/ 7 w 7"/>
                  <a:gd name="T39" fmla="*/ 18 h 1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" h="18">
                    <a:moveTo>
                      <a:pt x="2" y="14"/>
                    </a:moveTo>
                    <a:lnTo>
                      <a:pt x="5" y="16"/>
                    </a:lnTo>
                    <a:lnTo>
                      <a:pt x="7" y="1"/>
                    </a:lnTo>
                    <a:lnTo>
                      <a:pt x="2" y="0"/>
                    </a:lnTo>
                    <a:lnTo>
                      <a:pt x="0" y="16"/>
                    </a:lnTo>
                    <a:lnTo>
                      <a:pt x="3" y="18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2" y="18"/>
                    </a:lnTo>
                    <a:lnTo>
                      <a:pt x="4" y="18"/>
                    </a:lnTo>
                    <a:lnTo>
                      <a:pt x="5" y="16"/>
                    </a:lnTo>
                    <a:lnTo>
                      <a:pt x="2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22" name="Freeform 871"/>
              <p:cNvSpPr>
                <a:spLocks/>
              </p:cNvSpPr>
              <p:nvPr/>
            </p:nvSpPr>
            <p:spPr bwMode="auto">
              <a:xfrm>
                <a:off x="2799" y="1941"/>
                <a:ext cx="55" cy="28"/>
              </a:xfrm>
              <a:custGeom>
                <a:avLst/>
                <a:gdLst>
                  <a:gd name="T0" fmla="*/ 53 w 55"/>
                  <a:gd name="T1" fmla="*/ 5 h 28"/>
                  <a:gd name="T2" fmla="*/ 51 w 55"/>
                  <a:gd name="T3" fmla="*/ 0 h 28"/>
                  <a:gd name="T4" fmla="*/ 0 w 55"/>
                  <a:gd name="T5" fmla="*/ 24 h 28"/>
                  <a:gd name="T6" fmla="*/ 2 w 55"/>
                  <a:gd name="T7" fmla="*/ 28 h 28"/>
                  <a:gd name="T8" fmla="*/ 53 w 55"/>
                  <a:gd name="T9" fmla="*/ 4 h 28"/>
                  <a:gd name="T10" fmla="*/ 51 w 55"/>
                  <a:gd name="T11" fmla="*/ 0 h 28"/>
                  <a:gd name="T12" fmla="*/ 53 w 55"/>
                  <a:gd name="T13" fmla="*/ 4 h 28"/>
                  <a:gd name="T14" fmla="*/ 55 w 55"/>
                  <a:gd name="T15" fmla="*/ 3 h 28"/>
                  <a:gd name="T16" fmla="*/ 55 w 55"/>
                  <a:gd name="T17" fmla="*/ 1 h 28"/>
                  <a:gd name="T18" fmla="*/ 53 w 55"/>
                  <a:gd name="T19" fmla="*/ 0 h 28"/>
                  <a:gd name="T20" fmla="*/ 51 w 55"/>
                  <a:gd name="T21" fmla="*/ 0 h 28"/>
                  <a:gd name="T22" fmla="*/ 53 w 55"/>
                  <a:gd name="T23" fmla="*/ 5 h 2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5"/>
                  <a:gd name="T37" fmla="*/ 0 h 28"/>
                  <a:gd name="T38" fmla="*/ 55 w 55"/>
                  <a:gd name="T39" fmla="*/ 28 h 2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5" h="28">
                    <a:moveTo>
                      <a:pt x="53" y="5"/>
                    </a:moveTo>
                    <a:lnTo>
                      <a:pt x="51" y="0"/>
                    </a:lnTo>
                    <a:lnTo>
                      <a:pt x="0" y="24"/>
                    </a:lnTo>
                    <a:lnTo>
                      <a:pt x="2" y="28"/>
                    </a:lnTo>
                    <a:lnTo>
                      <a:pt x="53" y="4"/>
                    </a:lnTo>
                    <a:lnTo>
                      <a:pt x="51" y="0"/>
                    </a:lnTo>
                    <a:lnTo>
                      <a:pt x="53" y="4"/>
                    </a:lnTo>
                    <a:lnTo>
                      <a:pt x="55" y="3"/>
                    </a:lnTo>
                    <a:lnTo>
                      <a:pt x="55" y="1"/>
                    </a:lnTo>
                    <a:lnTo>
                      <a:pt x="53" y="0"/>
                    </a:lnTo>
                    <a:lnTo>
                      <a:pt x="51" y="0"/>
                    </a:lnTo>
                    <a:lnTo>
                      <a:pt x="53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23" name="Freeform 872"/>
              <p:cNvSpPr>
                <a:spLocks/>
              </p:cNvSpPr>
              <p:nvPr/>
            </p:nvSpPr>
            <p:spPr bwMode="auto">
              <a:xfrm>
                <a:off x="2778" y="1939"/>
                <a:ext cx="70" cy="27"/>
              </a:xfrm>
              <a:custGeom>
                <a:avLst/>
                <a:gdLst>
                  <a:gd name="T0" fmla="*/ 70 w 70"/>
                  <a:gd name="T1" fmla="*/ 6 h 27"/>
                  <a:gd name="T2" fmla="*/ 22 w 70"/>
                  <a:gd name="T3" fmla="*/ 27 h 27"/>
                  <a:gd name="T4" fmla="*/ 25 w 70"/>
                  <a:gd name="T5" fmla="*/ 12 h 27"/>
                  <a:gd name="T6" fmla="*/ 0 w 70"/>
                  <a:gd name="T7" fmla="*/ 15 h 27"/>
                  <a:gd name="T8" fmla="*/ 34 w 70"/>
                  <a:gd name="T9" fmla="*/ 0 h 27"/>
                  <a:gd name="T10" fmla="*/ 32 w 70"/>
                  <a:gd name="T11" fmla="*/ 15 h 27"/>
                  <a:gd name="T12" fmla="*/ 70 w 70"/>
                  <a:gd name="T13" fmla="*/ 6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0"/>
                  <a:gd name="T22" fmla="*/ 0 h 27"/>
                  <a:gd name="T23" fmla="*/ 70 w 70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0" h="27">
                    <a:moveTo>
                      <a:pt x="70" y="6"/>
                    </a:moveTo>
                    <a:lnTo>
                      <a:pt x="22" y="27"/>
                    </a:lnTo>
                    <a:lnTo>
                      <a:pt x="25" y="12"/>
                    </a:lnTo>
                    <a:lnTo>
                      <a:pt x="0" y="15"/>
                    </a:lnTo>
                    <a:lnTo>
                      <a:pt x="34" y="0"/>
                    </a:lnTo>
                    <a:lnTo>
                      <a:pt x="32" y="15"/>
                    </a:lnTo>
                    <a:lnTo>
                      <a:pt x="70" y="6"/>
                    </a:lnTo>
                    <a:close/>
                  </a:path>
                </a:pathLst>
              </a:custGeom>
              <a:solidFill>
                <a:srgbClr val="19191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24" name="Freeform 873"/>
              <p:cNvSpPr>
                <a:spLocks/>
              </p:cNvSpPr>
              <p:nvPr/>
            </p:nvSpPr>
            <p:spPr bwMode="auto">
              <a:xfrm>
                <a:off x="2780" y="1939"/>
                <a:ext cx="65" cy="27"/>
              </a:xfrm>
              <a:custGeom>
                <a:avLst/>
                <a:gdLst>
                  <a:gd name="T0" fmla="*/ 65 w 65"/>
                  <a:gd name="T1" fmla="*/ 7 h 27"/>
                  <a:gd name="T2" fmla="*/ 21 w 65"/>
                  <a:gd name="T3" fmla="*/ 27 h 27"/>
                  <a:gd name="T4" fmla="*/ 23 w 65"/>
                  <a:gd name="T5" fmla="*/ 11 h 27"/>
                  <a:gd name="T6" fmla="*/ 0 w 65"/>
                  <a:gd name="T7" fmla="*/ 14 h 27"/>
                  <a:gd name="T8" fmla="*/ 32 w 65"/>
                  <a:gd name="T9" fmla="*/ 0 h 27"/>
                  <a:gd name="T10" fmla="*/ 30 w 65"/>
                  <a:gd name="T11" fmla="*/ 16 h 27"/>
                  <a:gd name="T12" fmla="*/ 65 w 65"/>
                  <a:gd name="T13" fmla="*/ 7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5"/>
                  <a:gd name="T22" fmla="*/ 0 h 27"/>
                  <a:gd name="T23" fmla="*/ 65 w 65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5" h="27">
                    <a:moveTo>
                      <a:pt x="65" y="7"/>
                    </a:moveTo>
                    <a:lnTo>
                      <a:pt x="21" y="27"/>
                    </a:lnTo>
                    <a:lnTo>
                      <a:pt x="23" y="11"/>
                    </a:lnTo>
                    <a:lnTo>
                      <a:pt x="0" y="14"/>
                    </a:lnTo>
                    <a:lnTo>
                      <a:pt x="32" y="0"/>
                    </a:lnTo>
                    <a:lnTo>
                      <a:pt x="30" y="16"/>
                    </a:lnTo>
                    <a:lnTo>
                      <a:pt x="65" y="7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25" name="Freeform 874"/>
              <p:cNvSpPr>
                <a:spLocks/>
              </p:cNvSpPr>
              <p:nvPr/>
            </p:nvSpPr>
            <p:spPr bwMode="auto">
              <a:xfrm>
                <a:off x="2782" y="1940"/>
                <a:ext cx="59" cy="26"/>
              </a:xfrm>
              <a:custGeom>
                <a:avLst/>
                <a:gdLst>
                  <a:gd name="T0" fmla="*/ 59 w 59"/>
                  <a:gd name="T1" fmla="*/ 7 h 26"/>
                  <a:gd name="T2" fmla="*/ 19 w 59"/>
                  <a:gd name="T3" fmla="*/ 26 h 26"/>
                  <a:gd name="T4" fmla="*/ 21 w 59"/>
                  <a:gd name="T5" fmla="*/ 10 h 26"/>
                  <a:gd name="T6" fmla="*/ 0 w 59"/>
                  <a:gd name="T7" fmla="*/ 13 h 26"/>
                  <a:gd name="T8" fmla="*/ 29 w 59"/>
                  <a:gd name="T9" fmla="*/ 0 h 26"/>
                  <a:gd name="T10" fmla="*/ 27 w 59"/>
                  <a:gd name="T11" fmla="*/ 16 h 26"/>
                  <a:gd name="T12" fmla="*/ 59 w 59"/>
                  <a:gd name="T13" fmla="*/ 7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9"/>
                  <a:gd name="T22" fmla="*/ 0 h 26"/>
                  <a:gd name="T23" fmla="*/ 59 w 59"/>
                  <a:gd name="T24" fmla="*/ 26 h 2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9" h="26">
                    <a:moveTo>
                      <a:pt x="59" y="7"/>
                    </a:moveTo>
                    <a:lnTo>
                      <a:pt x="19" y="26"/>
                    </a:lnTo>
                    <a:lnTo>
                      <a:pt x="21" y="10"/>
                    </a:lnTo>
                    <a:lnTo>
                      <a:pt x="0" y="13"/>
                    </a:lnTo>
                    <a:lnTo>
                      <a:pt x="29" y="0"/>
                    </a:lnTo>
                    <a:lnTo>
                      <a:pt x="27" y="16"/>
                    </a:lnTo>
                    <a:lnTo>
                      <a:pt x="59" y="7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26" name="Freeform 875"/>
              <p:cNvSpPr>
                <a:spLocks/>
              </p:cNvSpPr>
              <p:nvPr/>
            </p:nvSpPr>
            <p:spPr bwMode="auto">
              <a:xfrm>
                <a:off x="2784" y="1940"/>
                <a:ext cx="54" cy="25"/>
              </a:xfrm>
              <a:custGeom>
                <a:avLst/>
                <a:gdLst>
                  <a:gd name="T0" fmla="*/ 54 w 54"/>
                  <a:gd name="T1" fmla="*/ 8 h 25"/>
                  <a:gd name="T2" fmla="*/ 17 w 54"/>
                  <a:gd name="T3" fmla="*/ 25 h 25"/>
                  <a:gd name="T4" fmla="*/ 19 w 54"/>
                  <a:gd name="T5" fmla="*/ 8 h 25"/>
                  <a:gd name="T6" fmla="*/ 0 w 54"/>
                  <a:gd name="T7" fmla="*/ 12 h 25"/>
                  <a:gd name="T8" fmla="*/ 27 w 54"/>
                  <a:gd name="T9" fmla="*/ 0 h 25"/>
                  <a:gd name="T10" fmla="*/ 25 w 54"/>
                  <a:gd name="T11" fmla="*/ 16 h 25"/>
                  <a:gd name="T12" fmla="*/ 54 w 54"/>
                  <a:gd name="T13" fmla="*/ 8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5"/>
                  <a:gd name="T23" fmla="*/ 54 w 54"/>
                  <a:gd name="T24" fmla="*/ 25 h 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5">
                    <a:moveTo>
                      <a:pt x="54" y="8"/>
                    </a:moveTo>
                    <a:lnTo>
                      <a:pt x="17" y="25"/>
                    </a:lnTo>
                    <a:lnTo>
                      <a:pt x="19" y="8"/>
                    </a:lnTo>
                    <a:lnTo>
                      <a:pt x="0" y="12"/>
                    </a:lnTo>
                    <a:lnTo>
                      <a:pt x="27" y="0"/>
                    </a:lnTo>
                    <a:lnTo>
                      <a:pt x="25" y="16"/>
                    </a:lnTo>
                    <a:lnTo>
                      <a:pt x="54" y="8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27" name="Freeform 876"/>
              <p:cNvSpPr>
                <a:spLocks/>
              </p:cNvSpPr>
              <p:nvPr/>
            </p:nvSpPr>
            <p:spPr bwMode="auto">
              <a:xfrm>
                <a:off x="2786" y="1941"/>
                <a:ext cx="48" cy="24"/>
              </a:xfrm>
              <a:custGeom>
                <a:avLst/>
                <a:gdLst>
                  <a:gd name="T0" fmla="*/ 48 w 48"/>
                  <a:gd name="T1" fmla="*/ 9 h 24"/>
                  <a:gd name="T2" fmla="*/ 16 w 48"/>
                  <a:gd name="T3" fmla="*/ 24 h 24"/>
                  <a:gd name="T4" fmla="*/ 18 w 48"/>
                  <a:gd name="T5" fmla="*/ 7 h 24"/>
                  <a:gd name="T6" fmla="*/ 0 w 48"/>
                  <a:gd name="T7" fmla="*/ 11 h 24"/>
                  <a:gd name="T8" fmla="*/ 24 w 48"/>
                  <a:gd name="T9" fmla="*/ 0 h 24"/>
                  <a:gd name="T10" fmla="*/ 22 w 48"/>
                  <a:gd name="T11" fmla="*/ 16 h 24"/>
                  <a:gd name="T12" fmla="*/ 48 w 48"/>
                  <a:gd name="T13" fmla="*/ 9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"/>
                  <a:gd name="T22" fmla="*/ 0 h 24"/>
                  <a:gd name="T23" fmla="*/ 48 w 48"/>
                  <a:gd name="T24" fmla="*/ 24 h 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" h="24">
                    <a:moveTo>
                      <a:pt x="48" y="9"/>
                    </a:moveTo>
                    <a:lnTo>
                      <a:pt x="16" y="24"/>
                    </a:lnTo>
                    <a:lnTo>
                      <a:pt x="18" y="7"/>
                    </a:lnTo>
                    <a:lnTo>
                      <a:pt x="0" y="11"/>
                    </a:lnTo>
                    <a:lnTo>
                      <a:pt x="24" y="0"/>
                    </a:lnTo>
                    <a:lnTo>
                      <a:pt x="22" y="16"/>
                    </a:lnTo>
                    <a:lnTo>
                      <a:pt x="48" y="9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28" name="Freeform 877"/>
              <p:cNvSpPr>
                <a:spLocks/>
              </p:cNvSpPr>
              <p:nvPr/>
            </p:nvSpPr>
            <p:spPr bwMode="auto">
              <a:xfrm>
                <a:off x="2788" y="1941"/>
                <a:ext cx="43" cy="22"/>
              </a:xfrm>
              <a:custGeom>
                <a:avLst/>
                <a:gdLst>
                  <a:gd name="T0" fmla="*/ 43 w 43"/>
                  <a:gd name="T1" fmla="*/ 10 h 22"/>
                  <a:gd name="T2" fmla="*/ 14 w 43"/>
                  <a:gd name="T3" fmla="*/ 22 h 22"/>
                  <a:gd name="T4" fmla="*/ 16 w 43"/>
                  <a:gd name="T5" fmla="*/ 7 h 22"/>
                  <a:gd name="T6" fmla="*/ 0 w 43"/>
                  <a:gd name="T7" fmla="*/ 10 h 22"/>
                  <a:gd name="T8" fmla="*/ 22 w 43"/>
                  <a:gd name="T9" fmla="*/ 0 h 22"/>
                  <a:gd name="T10" fmla="*/ 20 w 43"/>
                  <a:gd name="T11" fmla="*/ 16 h 22"/>
                  <a:gd name="T12" fmla="*/ 43 w 43"/>
                  <a:gd name="T13" fmla="*/ 10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22"/>
                  <a:gd name="T23" fmla="*/ 43 w 43"/>
                  <a:gd name="T24" fmla="*/ 22 h 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22">
                    <a:moveTo>
                      <a:pt x="43" y="10"/>
                    </a:moveTo>
                    <a:lnTo>
                      <a:pt x="14" y="22"/>
                    </a:lnTo>
                    <a:lnTo>
                      <a:pt x="16" y="7"/>
                    </a:lnTo>
                    <a:lnTo>
                      <a:pt x="0" y="10"/>
                    </a:lnTo>
                    <a:lnTo>
                      <a:pt x="22" y="0"/>
                    </a:lnTo>
                    <a:lnTo>
                      <a:pt x="20" y="16"/>
                    </a:lnTo>
                    <a:lnTo>
                      <a:pt x="43" y="1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29" name="Freeform 878"/>
              <p:cNvSpPr>
                <a:spLocks/>
              </p:cNvSpPr>
              <p:nvPr/>
            </p:nvSpPr>
            <p:spPr bwMode="auto">
              <a:xfrm>
                <a:off x="2790" y="1942"/>
                <a:ext cx="38" cy="21"/>
              </a:xfrm>
              <a:custGeom>
                <a:avLst/>
                <a:gdLst>
                  <a:gd name="T0" fmla="*/ 38 w 38"/>
                  <a:gd name="T1" fmla="*/ 11 h 21"/>
                  <a:gd name="T2" fmla="*/ 12 w 38"/>
                  <a:gd name="T3" fmla="*/ 21 h 21"/>
                  <a:gd name="T4" fmla="*/ 14 w 38"/>
                  <a:gd name="T5" fmla="*/ 5 h 21"/>
                  <a:gd name="T6" fmla="*/ 0 w 38"/>
                  <a:gd name="T7" fmla="*/ 9 h 21"/>
                  <a:gd name="T8" fmla="*/ 20 w 38"/>
                  <a:gd name="T9" fmla="*/ 0 h 21"/>
                  <a:gd name="T10" fmla="*/ 17 w 38"/>
                  <a:gd name="T11" fmla="*/ 15 h 21"/>
                  <a:gd name="T12" fmla="*/ 38 w 38"/>
                  <a:gd name="T13" fmla="*/ 11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"/>
                  <a:gd name="T22" fmla="*/ 0 h 21"/>
                  <a:gd name="T23" fmla="*/ 38 w 38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" h="21">
                    <a:moveTo>
                      <a:pt x="38" y="11"/>
                    </a:moveTo>
                    <a:lnTo>
                      <a:pt x="12" y="21"/>
                    </a:lnTo>
                    <a:lnTo>
                      <a:pt x="14" y="5"/>
                    </a:lnTo>
                    <a:lnTo>
                      <a:pt x="0" y="9"/>
                    </a:lnTo>
                    <a:lnTo>
                      <a:pt x="20" y="0"/>
                    </a:lnTo>
                    <a:lnTo>
                      <a:pt x="17" y="15"/>
                    </a:lnTo>
                    <a:lnTo>
                      <a:pt x="38" y="11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30" name="Freeform 879"/>
              <p:cNvSpPr>
                <a:spLocks/>
              </p:cNvSpPr>
              <p:nvPr/>
            </p:nvSpPr>
            <p:spPr bwMode="auto">
              <a:xfrm>
                <a:off x="2792" y="1942"/>
                <a:ext cx="33" cy="21"/>
              </a:xfrm>
              <a:custGeom>
                <a:avLst/>
                <a:gdLst>
                  <a:gd name="T0" fmla="*/ 33 w 33"/>
                  <a:gd name="T1" fmla="*/ 12 h 21"/>
                  <a:gd name="T2" fmla="*/ 10 w 33"/>
                  <a:gd name="T3" fmla="*/ 21 h 21"/>
                  <a:gd name="T4" fmla="*/ 12 w 33"/>
                  <a:gd name="T5" fmla="*/ 5 h 21"/>
                  <a:gd name="T6" fmla="*/ 0 w 33"/>
                  <a:gd name="T7" fmla="*/ 8 h 21"/>
                  <a:gd name="T8" fmla="*/ 17 w 33"/>
                  <a:gd name="T9" fmla="*/ 0 h 21"/>
                  <a:gd name="T10" fmla="*/ 15 w 33"/>
                  <a:gd name="T11" fmla="*/ 16 h 21"/>
                  <a:gd name="T12" fmla="*/ 33 w 33"/>
                  <a:gd name="T13" fmla="*/ 12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"/>
                  <a:gd name="T22" fmla="*/ 0 h 21"/>
                  <a:gd name="T23" fmla="*/ 33 w 33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" h="21">
                    <a:moveTo>
                      <a:pt x="33" y="12"/>
                    </a:moveTo>
                    <a:lnTo>
                      <a:pt x="10" y="21"/>
                    </a:lnTo>
                    <a:lnTo>
                      <a:pt x="12" y="5"/>
                    </a:lnTo>
                    <a:lnTo>
                      <a:pt x="0" y="8"/>
                    </a:lnTo>
                    <a:lnTo>
                      <a:pt x="17" y="0"/>
                    </a:lnTo>
                    <a:lnTo>
                      <a:pt x="15" y="16"/>
                    </a:lnTo>
                    <a:lnTo>
                      <a:pt x="33" y="12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31" name="Freeform 880"/>
              <p:cNvSpPr>
                <a:spLocks/>
              </p:cNvSpPr>
              <p:nvPr/>
            </p:nvSpPr>
            <p:spPr bwMode="auto">
              <a:xfrm>
                <a:off x="2794" y="1942"/>
                <a:ext cx="27" cy="20"/>
              </a:xfrm>
              <a:custGeom>
                <a:avLst/>
                <a:gdLst>
                  <a:gd name="T0" fmla="*/ 27 w 27"/>
                  <a:gd name="T1" fmla="*/ 12 h 20"/>
                  <a:gd name="T2" fmla="*/ 9 w 27"/>
                  <a:gd name="T3" fmla="*/ 20 h 20"/>
                  <a:gd name="T4" fmla="*/ 11 w 27"/>
                  <a:gd name="T5" fmla="*/ 4 h 20"/>
                  <a:gd name="T6" fmla="*/ 0 w 27"/>
                  <a:gd name="T7" fmla="*/ 6 h 20"/>
                  <a:gd name="T8" fmla="*/ 15 w 27"/>
                  <a:gd name="T9" fmla="*/ 0 h 20"/>
                  <a:gd name="T10" fmla="*/ 11 w 27"/>
                  <a:gd name="T11" fmla="*/ 16 h 20"/>
                  <a:gd name="T12" fmla="*/ 27 w 27"/>
                  <a:gd name="T13" fmla="*/ 12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7"/>
                  <a:gd name="T22" fmla="*/ 0 h 20"/>
                  <a:gd name="T23" fmla="*/ 27 w 27"/>
                  <a:gd name="T24" fmla="*/ 20 h 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7" h="20">
                    <a:moveTo>
                      <a:pt x="27" y="12"/>
                    </a:moveTo>
                    <a:lnTo>
                      <a:pt x="9" y="20"/>
                    </a:lnTo>
                    <a:lnTo>
                      <a:pt x="11" y="4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11" y="16"/>
                    </a:lnTo>
                    <a:lnTo>
                      <a:pt x="27" y="12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32" name="Freeform 881"/>
              <p:cNvSpPr>
                <a:spLocks/>
              </p:cNvSpPr>
              <p:nvPr/>
            </p:nvSpPr>
            <p:spPr bwMode="auto">
              <a:xfrm>
                <a:off x="2796" y="1943"/>
                <a:ext cx="21" cy="19"/>
              </a:xfrm>
              <a:custGeom>
                <a:avLst/>
                <a:gdLst>
                  <a:gd name="T0" fmla="*/ 21 w 21"/>
                  <a:gd name="T1" fmla="*/ 13 h 19"/>
                  <a:gd name="T2" fmla="*/ 9 w 21"/>
                  <a:gd name="T3" fmla="*/ 16 h 19"/>
                  <a:gd name="T4" fmla="*/ 12 w 21"/>
                  <a:gd name="T5" fmla="*/ 0 h 19"/>
                  <a:gd name="T6" fmla="*/ 0 w 21"/>
                  <a:gd name="T7" fmla="*/ 5 h 19"/>
                  <a:gd name="T8" fmla="*/ 9 w 21"/>
                  <a:gd name="T9" fmla="*/ 3 h 19"/>
                  <a:gd name="T10" fmla="*/ 7 w 21"/>
                  <a:gd name="T11" fmla="*/ 19 h 19"/>
                  <a:gd name="T12" fmla="*/ 21 w 21"/>
                  <a:gd name="T13" fmla="*/ 13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19"/>
                  <a:gd name="T23" fmla="*/ 21 w 21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19">
                    <a:moveTo>
                      <a:pt x="21" y="13"/>
                    </a:moveTo>
                    <a:lnTo>
                      <a:pt x="9" y="16"/>
                    </a:lnTo>
                    <a:lnTo>
                      <a:pt x="12" y="0"/>
                    </a:lnTo>
                    <a:lnTo>
                      <a:pt x="0" y="5"/>
                    </a:lnTo>
                    <a:lnTo>
                      <a:pt x="9" y="3"/>
                    </a:lnTo>
                    <a:lnTo>
                      <a:pt x="7" y="19"/>
                    </a:lnTo>
                    <a:lnTo>
                      <a:pt x="21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33" name="Freeform 882"/>
              <p:cNvSpPr>
                <a:spLocks/>
              </p:cNvSpPr>
              <p:nvPr/>
            </p:nvSpPr>
            <p:spPr bwMode="auto">
              <a:xfrm>
                <a:off x="2627" y="1888"/>
                <a:ext cx="128" cy="165"/>
              </a:xfrm>
              <a:custGeom>
                <a:avLst/>
                <a:gdLst>
                  <a:gd name="T0" fmla="*/ 71 w 128"/>
                  <a:gd name="T1" fmla="*/ 0 h 165"/>
                  <a:gd name="T2" fmla="*/ 83 w 128"/>
                  <a:gd name="T3" fmla="*/ 3 h 165"/>
                  <a:gd name="T4" fmla="*/ 95 w 128"/>
                  <a:gd name="T5" fmla="*/ 7 h 165"/>
                  <a:gd name="T6" fmla="*/ 105 w 128"/>
                  <a:gd name="T7" fmla="*/ 15 h 165"/>
                  <a:gd name="T8" fmla="*/ 113 w 128"/>
                  <a:gd name="T9" fmla="*/ 23 h 165"/>
                  <a:gd name="T10" fmla="*/ 121 w 128"/>
                  <a:gd name="T11" fmla="*/ 34 h 165"/>
                  <a:gd name="T12" fmla="*/ 125 w 128"/>
                  <a:gd name="T13" fmla="*/ 46 h 165"/>
                  <a:gd name="T14" fmla="*/ 128 w 128"/>
                  <a:gd name="T15" fmla="*/ 58 h 165"/>
                  <a:gd name="T16" fmla="*/ 128 w 128"/>
                  <a:gd name="T17" fmla="*/ 71 h 165"/>
                  <a:gd name="T18" fmla="*/ 125 w 128"/>
                  <a:gd name="T19" fmla="*/ 85 h 165"/>
                  <a:gd name="T20" fmla="*/ 121 w 128"/>
                  <a:gd name="T21" fmla="*/ 96 h 165"/>
                  <a:gd name="T22" fmla="*/ 113 w 128"/>
                  <a:gd name="T23" fmla="*/ 106 h 165"/>
                  <a:gd name="T24" fmla="*/ 107 w 128"/>
                  <a:gd name="T25" fmla="*/ 114 h 165"/>
                  <a:gd name="T26" fmla="*/ 99 w 128"/>
                  <a:gd name="T27" fmla="*/ 122 h 165"/>
                  <a:gd name="T28" fmla="*/ 92 w 128"/>
                  <a:gd name="T29" fmla="*/ 135 h 165"/>
                  <a:gd name="T30" fmla="*/ 87 w 128"/>
                  <a:gd name="T31" fmla="*/ 153 h 165"/>
                  <a:gd name="T32" fmla="*/ 43 w 128"/>
                  <a:gd name="T33" fmla="*/ 165 h 165"/>
                  <a:gd name="T34" fmla="*/ 40 w 128"/>
                  <a:gd name="T35" fmla="*/ 144 h 165"/>
                  <a:gd name="T36" fmla="*/ 33 w 128"/>
                  <a:gd name="T37" fmla="*/ 128 h 165"/>
                  <a:gd name="T38" fmla="*/ 25 w 128"/>
                  <a:gd name="T39" fmla="*/ 118 h 165"/>
                  <a:gd name="T40" fmla="*/ 18 w 128"/>
                  <a:gd name="T41" fmla="*/ 111 h 165"/>
                  <a:gd name="T42" fmla="*/ 11 w 128"/>
                  <a:gd name="T43" fmla="*/ 101 h 165"/>
                  <a:gd name="T44" fmla="*/ 5 w 128"/>
                  <a:gd name="T45" fmla="*/ 90 h 165"/>
                  <a:gd name="T46" fmla="*/ 1 w 128"/>
                  <a:gd name="T47" fmla="*/ 79 h 165"/>
                  <a:gd name="T48" fmla="*/ 0 w 128"/>
                  <a:gd name="T49" fmla="*/ 65 h 165"/>
                  <a:gd name="T50" fmla="*/ 1 w 128"/>
                  <a:gd name="T51" fmla="*/ 52 h 165"/>
                  <a:gd name="T52" fmla="*/ 5 w 128"/>
                  <a:gd name="T53" fmla="*/ 40 h 165"/>
                  <a:gd name="T54" fmla="*/ 11 w 128"/>
                  <a:gd name="T55" fmla="*/ 28 h 165"/>
                  <a:gd name="T56" fmla="*/ 19 w 128"/>
                  <a:gd name="T57" fmla="*/ 19 h 165"/>
                  <a:gd name="T58" fmla="*/ 28 w 128"/>
                  <a:gd name="T59" fmla="*/ 11 h 165"/>
                  <a:gd name="T60" fmla="*/ 40 w 128"/>
                  <a:gd name="T61" fmla="*/ 5 h 165"/>
                  <a:gd name="T62" fmla="*/ 51 w 128"/>
                  <a:gd name="T63" fmla="*/ 1 h 165"/>
                  <a:gd name="T64" fmla="*/ 64 w 128"/>
                  <a:gd name="T65" fmla="*/ 0 h 16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8"/>
                  <a:gd name="T100" fmla="*/ 0 h 165"/>
                  <a:gd name="T101" fmla="*/ 128 w 128"/>
                  <a:gd name="T102" fmla="*/ 165 h 165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8" h="165">
                    <a:moveTo>
                      <a:pt x="64" y="0"/>
                    </a:moveTo>
                    <a:lnTo>
                      <a:pt x="71" y="0"/>
                    </a:lnTo>
                    <a:lnTo>
                      <a:pt x="77" y="1"/>
                    </a:lnTo>
                    <a:lnTo>
                      <a:pt x="83" y="3"/>
                    </a:lnTo>
                    <a:lnTo>
                      <a:pt x="89" y="5"/>
                    </a:lnTo>
                    <a:lnTo>
                      <a:pt x="95" y="7"/>
                    </a:lnTo>
                    <a:lnTo>
                      <a:pt x="100" y="11"/>
                    </a:lnTo>
                    <a:lnTo>
                      <a:pt x="105" y="15"/>
                    </a:lnTo>
                    <a:lnTo>
                      <a:pt x="109" y="19"/>
                    </a:lnTo>
                    <a:lnTo>
                      <a:pt x="113" y="23"/>
                    </a:lnTo>
                    <a:lnTo>
                      <a:pt x="118" y="28"/>
                    </a:lnTo>
                    <a:lnTo>
                      <a:pt x="121" y="34"/>
                    </a:lnTo>
                    <a:lnTo>
                      <a:pt x="123" y="40"/>
                    </a:lnTo>
                    <a:lnTo>
                      <a:pt x="125" y="46"/>
                    </a:lnTo>
                    <a:lnTo>
                      <a:pt x="127" y="52"/>
                    </a:lnTo>
                    <a:lnTo>
                      <a:pt x="128" y="58"/>
                    </a:lnTo>
                    <a:lnTo>
                      <a:pt x="128" y="65"/>
                    </a:lnTo>
                    <a:lnTo>
                      <a:pt x="128" y="71"/>
                    </a:lnTo>
                    <a:lnTo>
                      <a:pt x="127" y="79"/>
                    </a:lnTo>
                    <a:lnTo>
                      <a:pt x="125" y="85"/>
                    </a:lnTo>
                    <a:lnTo>
                      <a:pt x="123" y="90"/>
                    </a:lnTo>
                    <a:lnTo>
                      <a:pt x="121" y="96"/>
                    </a:lnTo>
                    <a:lnTo>
                      <a:pt x="118" y="101"/>
                    </a:lnTo>
                    <a:lnTo>
                      <a:pt x="113" y="106"/>
                    </a:lnTo>
                    <a:lnTo>
                      <a:pt x="110" y="111"/>
                    </a:lnTo>
                    <a:lnTo>
                      <a:pt x="107" y="114"/>
                    </a:lnTo>
                    <a:lnTo>
                      <a:pt x="104" y="118"/>
                    </a:lnTo>
                    <a:lnTo>
                      <a:pt x="99" y="122"/>
                    </a:lnTo>
                    <a:lnTo>
                      <a:pt x="95" y="128"/>
                    </a:lnTo>
                    <a:lnTo>
                      <a:pt x="92" y="135"/>
                    </a:lnTo>
                    <a:lnTo>
                      <a:pt x="89" y="144"/>
                    </a:lnTo>
                    <a:lnTo>
                      <a:pt x="87" y="153"/>
                    </a:lnTo>
                    <a:lnTo>
                      <a:pt x="85" y="165"/>
                    </a:lnTo>
                    <a:lnTo>
                      <a:pt x="43" y="165"/>
                    </a:lnTo>
                    <a:lnTo>
                      <a:pt x="42" y="153"/>
                    </a:lnTo>
                    <a:lnTo>
                      <a:pt x="40" y="144"/>
                    </a:lnTo>
                    <a:lnTo>
                      <a:pt x="36" y="135"/>
                    </a:lnTo>
                    <a:lnTo>
                      <a:pt x="33" y="128"/>
                    </a:lnTo>
                    <a:lnTo>
                      <a:pt x="29" y="122"/>
                    </a:lnTo>
                    <a:lnTo>
                      <a:pt x="25" y="118"/>
                    </a:lnTo>
                    <a:lnTo>
                      <a:pt x="21" y="114"/>
                    </a:lnTo>
                    <a:lnTo>
                      <a:pt x="18" y="111"/>
                    </a:lnTo>
                    <a:lnTo>
                      <a:pt x="15" y="106"/>
                    </a:lnTo>
                    <a:lnTo>
                      <a:pt x="11" y="101"/>
                    </a:lnTo>
                    <a:lnTo>
                      <a:pt x="7" y="96"/>
                    </a:lnTo>
                    <a:lnTo>
                      <a:pt x="5" y="90"/>
                    </a:lnTo>
                    <a:lnTo>
                      <a:pt x="3" y="85"/>
                    </a:lnTo>
                    <a:lnTo>
                      <a:pt x="1" y="79"/>
                    </a:lnTo>
                    <a:lnTo>
                      <a:pt x="0" y="71"/>
                    </a:lnTo>
                    <a:lnTo>
                      <a:pt x="0" y="65"/>
                    </a:lnTo>
                    <a:lnTo>
                      <a:pt x="0" y="58"/>
                    </a:lnTo>
                    <a:lnTo>
                      <a:pt x="1" y="52"/>
                    </a:lnTo>
                    <a:lnTo>
                      <a:pt x="3" y="46"/>
                    </a:lnTo>
                    <a:lnTo>
                      <a:pt x="5" y="40"/>
                    </a:lnTo>
                    <a:lnTo>
                      <a:pt x="7" y="34"/>
                    </a:lnTo>
                    <a:lnTo>
                      <a:pt x="11" y="28"/>
                    </a:lnTo>
                    <a:lnTo>
                      <a:pt x="15" y="23"/>
                    </a:lnTo>
                    <a:lnTo>
                      <a:pt x="19" y="19"/>
                    </a:lnTo>
                    <a:lnTo>
                      <a:pt x="24" y="15"/>
                    </a:lnTo>
                    <a:lnTo>
                      <a:pt x="28" y="11"/>
                    </a:lnTo>
                    <a:lnTo>
                      <a:pt x="33" y="7"/>
                    </a:lnTo>
                    <a:lnTo>
                      <a:pt x="40" y="5"/>
                    </a:lnTo>
                    <a:lnTo>
                      <a:pt x="45" y="3"/>
                    </a:lnTo>
                    <a:lnTo>
                      <a:pt x="51" y="1"/>
                    </a:lnTo>
                    <a:lnTo>
                      <a:pt x="58" y="0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34" name="Freeform 883"/>
              <p:cNvSpPr>
                <a:spLocks/>
              </p:cNvSpPr>
              <p:nvPr/>
            </p:nvSpPr>
            <p:spPr bwMode="auto">
              <a:xfrm>
                <a:off x="2628" y="1889"/>
                <a:ext cx="126" cy="164"/>
              </a:xfrm>
              <a:custGeom>
                <a:avLst/>
                <a:gdLst>
                  <a:gd name="T0" fmla="*/ 70 w 126"/>
                  <a:gd name="T1" fmla="*/ 0 h 164"/>
                  <a:gd name="T2" fmla="*/ 82 w 126"/>
                  <a:gd name="T3" fmla="*/ 3 h 164"/>
                  <a:gd name="T4" fmla="*/ 93 w 126"/>
                  <a:gd name="T5" fmla="*/ 8 h 164"/>
                  <a:gd name="T6" fmla="*/ 103 w 126"/>
                  <a:gd name="T7" fmla="*/ 15 h 164"/>
                  <a:gd name="T8" fmla="*/ 112 w 126"/>
                  <a:gd name="T9" fmla="*/ 24 h 164"/>
                  <a:gd name="T10" fmla="*/ 119 w 126"/>
                  <a:gd name="T11" fmla="*/ 34 h 164"/>
                  <a:gd name="T12" fmla="*/ 123 w 126"/>
                  <a:gd name="T13" fmla="*/ 47 h 164"/>
                  <a:gd name="T14" fmla="*/ 126 w 126"/>
                  <a:gd name="T15" fmla="*/ 58 h 164"/>
                  <a:gd name="T16" fmla="*/ 126 w 126"/>
                  <a:gd name="T17" fmla="*/ 72 h 164"/>
                  <a:gd name="T18" fmla="*/ 123 w 126"/>
                  <a:gd name="T19" fmla="*/ 84 h 164"/>
                  <a:gd name="T20" fmla="*/ 119 w 126"/>
                  <a:gd name="T21" fmla="*/ 96 h 164"/>
                  <a:gd name="T22" fmla="*/ 111 w 126"/>
                  <a:gd name="T23" fmla="*/ 105 h 164"/>
                  <a:gd name="T24" fmla="*/ 105 w 126"/>
                  <a:gd name="T25" fmla="*/ 113 h 164"/>
                  <a:gd name="T26" fmla="*/ 97 w 126"/>
                  <a:gd name="T27" fmla="*/ 121 h 164"/>
                  <a:gd name="T28" fmla="*/ 90 w 126"/>
                  <a:gd name="T29" fmla="*/ 134 h 164"/>
                  <a:gd name="T30" fmla="*/ 84 w 126"/>
                  <a:gd name="T31" fmla="*/ 152 h 164"/>
                  <a:gd name="T32" fmla="*/ 43 w 126"/>
                  <a:gd name="T33" fmla="*/ 164 h 164"/>
                  <a:gd name="T34" fmla="*/ 40 w 126"/>
                  <a:gd name="T35" fmla="*/ 143 h 164"/>
                  <a:gd name="T36" fmla="*/ 33 w 126"/>
                  <a:gd name="T37" fmla="*/ 127 h 164"/>
                  <a:gd name="T38" fmla="*/ 25 w 126"/>
                  <a:gd name="T39" fmla="*/ 117 h 164"/>
                  <a:gd name="T40" fmla="*/ 18 w 126"/>
                  <a:gd name="T41" fmla="*/ 111 h 164"/>
                  <a:gd name="T42" fmla="*/ 11 w 126"/>
                  <a:gd name="T43" fmla="*/ 101 h 164"/>
                  <a:gd name="T44" fmla="*/ 5 w 126"/>
                  <a:gd name="T45" fmla="*/ 90 h 164"/>
                  <a:gd name="T46" fmla="*/ 1 w 126"/>
                  <a:gd name="T47" fmla="*/ 78 h 164"/>
                  <a:gd name="T48" fmla="*/ 0 w 126"/>
                  <a:gd name="T49" fmla="*/ 65 h 164"/>
                  <a:gd name="T50" fmla="*/ 1 w 126"/>
                  <a:gd name="T51" fmla="*/ 52 h 164"/>
                  <a:gd name="T52" fmla="*/ 5 w 126"/>
                  <a:gd name="T53" fmla="*/ 40 h 164"/>
                  <a:gd name="T54" fmla="*/ 11 w 126"/>
                  <a:gd name="T55" fmla="*/ 28 h 164"/>
                  <a:gd name="T56" fmla="*/ 18 w 126"/>
                  <a:gd name="T57" fmla="*/ 19 h 164"/>
                  <a:gd name="T58" fmla="*/ 28 w 126"/>
                  <a:gd name="T59" fmla="*/ 11 h 164"/>
                  <a:gd name="T60" fmla="*/ 39 w 126"/>
                  <a:gd name="T61" fmla="*/ 5 h 164"/>
                  <a:gd name="T62" fmla="*/ 50 w 126"/>
                  <a:gd name="T63" fmla="*/ 1 h 164"/>
                  <a:gd name="T64" fmla="*/ 63 w 126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6"/>
                  <a:gd name="T100" fmla="*/ 0 h 164"/>
                  <a:gd name="T101" fmla="*/ 126 w 126"/>
                  <a:gd name="T102" fmla="*/ 164 h 16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6" h="164">
                    <a:moveTo>
                      <a:pt x="63" y="0"/>
                    </a:moveTo>
                    <a:lnTo>
                      <a:pt x="70" y="0"/>
                    </a:lnTo>
                    <a:lnTo>
                      <a:pt x="76" y="1"/>
                    </a:lnTo>
                    <a:lnTo>
                      <a:pt x="82" y="3"/>
                    </a:lnTo>
                    <a:lnTo>
                      <a:pt x="88" y="5"/>
                    </a:lnTo>
                    <a:lnTo>
                      <a:pt x="93" y="8"/>
                    </a:lnTo>
                    <a:lnTo>
                      <a:pt x="98" y="11"/>
                    </a:lnTo>
                    <a:lnTo>
                      <a:pt x="103" y="15"/>
                    </a:lnTo>
                    <a:lnTo>
                      <a:pt x="108" y="19"/>
                    </a:lnTo>
                    <a:lnTo>
                      <a:pt x="112" y="24"/>
                    </a:lnTo>
                    <a:lnTo>
                      <a:pt x="115" y="28"/>
                    </a:lnTo>
                    <a:lnTo>
                      <a:pt x="119" y="34"/>
                    </a:lnTo>
                    <a:lnTo>
                      <a:pt x="121" y="40"/>
                    </a:lnTo>
                    <a:lnTo>
                      <a:pt x="123" y="47"/>
                    </a:lnTo>
                    <a:lnTo>
                      <a:pt x="125" y="52"/>
                    </a:lnTo>
                    <a:lnTo>
                      <a:pt x="126" y="58"/>
                    </a:lnTo>
                    <a:lnTo>
                      <a:pt x="126" y="65"/>
                    </a:lnTo>
                    <a:lnTo>
                      <a:pt x="126" y="72"/>
                    </a:lnTo>
                    <a:lnTo>
                      <a:pt x="125" y="78"/>
                    </a:lnTo>
                    <a:lnTo>
                      <a:pt x="123" y="84"/>
                    </a:lnTo>
                    <a:lnTo>
                      <a:pt x="121" y="90"/>
                    </a:lnTo>
                    <a:lnTo>
                      <a:pt x="119" y="96"/>
                    </a:lnTo>
                    <a:lnTo>
                      <a:pt x="115" y="101"/>
                    </a:lnTo>
                    <a:lnTo>
                      <a:pt x="111" y="105"/>
                    </a:lnTo>
                    <a:lnTo>
                      <a:pt x="108" y="111"/>
                    </a:lnTo>
                    <a:lnTo>
                      <a:pt x="105" y="113"/>
                    </a:lnTo>
                    <a:lnTo>
                      <a:pt x="102" y="117"/>
                    </a:lnTo>
                    <a:lnTo>
                      <a:pt x="97" y="121"/>
                    </a:lnTo>
                    <a:lnTo>
                      <a:pt x="93" y="127"/>
                    </a:lnTo>
                    <a:lnTo>
                      <a:pt x="90" y="134"/>
                    </a:lnTo>
                    <a:lnTo>
                      <a:pt x="87" y="143"/>
                    </a:lnTo>
                    <a:lnTo>
                      <a:pt x="84" y="152"/>
                    </a:lnTo>
                    <a:lnTo>
                      <a:pt x="83" y="164"/>
                    </a:lnTo>
                    <a:lnTo>
                      <a:pt x="43" y="164"/>
                    </a:lnTo>
                    <a:lnTo>
                      <a:pt x="42" y="152"/>
                    </a:lnTo>
                    <a:lnTo>
                      <a:pt x="40" y="143"/>
                    </a:lnTo>
                    <a:lnTo>
                      <a:pt x="36" y="134"/>
                    </a:lnTo>
                    <a:lnTo>
                      <a:pt x="33" y="127"/>
                    </a:lnTo>
                    <a:lnTo>
                      <a:pt x="29" y="121"/>
                    </a:lnTo>
                    <a:lnTo>
                      <a:pt x="25" y="117"/>
                    </a:lnTo>
                    <a:lnTo>
                      <a:pt x="21" y="113"/>
                    </a:lnTo>
                    <a:lnTo>
                      <a:pt x="18" y="111"/>
                    </a:lnTo>
                    <a:lnTo>
                      <a:pt x="15" y="105"/>
                    </a:lnTo>
                    <a:lnTo>
                      <a:pt x="11" y="101"/>
                    </a:lnTo>
                    <a:lnTo>
                      <a:pt x="8" y="96"/>
                    </a:lnTo>
                    <a:lnTo>
                      <a:pt x="5" y="90"/>
                    </a:lnTo>
                    <a:lnTo>
                      <a:pt x="3" y="84"/>
                    </a:lnTo>
                    <a:lnTo>
                      <a:pt x="1" y="78"/>
                    </a:lnTo>
                    <a:lnTo>
                      <a:pt x="0" y="72"/>
                    </a:lnTo>
                    <a:lnTo>
                      <a:pt x="0" y="65"/>
                    </a:lnTo>
                    <a:lnTo>
                      <a:pt x="0" y="58"/>
                    </a:lnTo>
                    <a:lnTo>
                      <a:pt x="1" y="52"/>
                    </a:lnTo>
                    <a:lnTo>
                      <a:pt x="3" y="47"/>
                    </a:lnTo>
                    <a:lnTo>
                      <a:pt x="5" y="40"/>
                    </a:lnTo>
                    <a:lnTo>
                      <a:pt x="8" y="34"/>
                    </a:lnTo>
                    <a:lnTo>
                      <a:pt x="11" y="28"/>
                    </a:lnTo>
                    <a:lnTo>
                      <a:pt x="14" y="24"/>
                    </a:lnTo>
                    <a:lnTo>
                      <a:pt x="18" y="19"/>
                    </a:lnTo>
                    <a:lnTo>
                      <a:pt x="23" y="15"/>
                    </a:lnTo>
                    <a:lnTo>
                      <a:pt x="28" y="11"/>
                    </a:lnTo>
                    <a:lnTo>
                      <a:pt x="33" y="8"/>
                    </a:lnTo>
                    <a:lnTo>
                      <a:pt x="39" y="5"/>
                    </a:lnTo>
                    <a:lnTo>
                      <a:pt x="44" y="3"/>
                    </a:lnTo>
                    <a:lnTo>
                      <a:pt x="50" y="1"/>
                    </a:lnTo>
                    <a:lnTo>
                      <a:pt x="57" y="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35" name="Freeform 884"/>
              <p:cNvSpPr>
                <a:spLocks/>
              </p:cNvSpPr>
              <p:nvPr/>
            </p:nvSpPr>
            <p:spPr bwMode="auto">
              <a:xfrm>
                <a:off x="2629" y="1890"/>
                <a:ext cx="124" cy="163"/>
              </a:xfrm>
              <a:custGeom>
                <a:avLst/>
                <a:gdLst>
                  <a:gd name="T0" fmla="*/ 69 w 124"/>
                  <a:gd name="T1" fmla="*/ 0 h 163"/>
                  <a:gd name="T2" fmla="*/ 81 w 124"/>
                  <a:gd name="T3" fmla="*/ 3 h 163"/>
                  <a:gd name="T4" fmla="*/ 92 w 124"/>
                  <a:gd name="T5" fmla="*/ 8 h 163"/>
                  <a:gd name="T6" fmla="*/ 102 w 124"/>
                  <a:gd name="T7" fmla="*/ 15 h 163"/>
                  <a:gd name="T8" fmla="*/ 110 w 124"/>
                  <a:gd name="T9" fmla="*/ 23 h 163"/>
                  <a:gd name="T10" fmla="*/ 117 w 124"/>
                  <a:gd name="T11" fmla="*/ 34 h 163"/>
                  <a:gd name="T12" fmla="*/ 121 w 124"/>
                  <a:gd name="T13" fmla="*/ 46 h 163"/>
                  <a:gd name="T14" fmla="*/ 124 w 124"/>
                  <a:gd name="T15" fmla="*/ 58 h 163"/>
                  <a:gd name="T16" fmla="*/ 124 w 124"/>
                  <a:gd name="T17" fmla="*/ 71 h 163"/>
                  <a:gd name="T18" fmla="*/ 121 w 124"/>
                  <a:gd name="T19" fmla="*/ 84 h 163"/>
                  <a:gd name="T20" fmla="*/ 116 w 124"/>
                  <a:gd name="T21" fmla="*/ 95 h 163"/>
                  <a:gd name="T22" fmla="*/ 109 w 124"/>
                  <a:gd name="T23" fmla="*/ 105 h 163"/>
                  <a:gd name="T24" fmla="*/ 103 w 124"/>
                  <a:gd name="T25" fmla="*/ 113 h 163"/>
                  <a:gd name="T26" fmla="*/ 95 w 124"/>
                  <a:gd name="T27" fmla="*/ 120 h 163"/>
                  <a:gd name="T28" fmla="*/ 88 w 124"/>
                  <a:gd name="T29" fmla="*/ 133 h 163"/>
                  <a:gd name="T30" fmla="*/ 83 w 124"/>
                  <a:gd name="T31" fmla="*/ 151 h 163"/>
                  <a:gd name="T32" fmla="*/ 42 w 124"/>
                  <a:gd name="T33" fmla="*/ 163 h 163"/>
                  <a:gd name="T34" fmla="*/ 39 w 124"/>
                  <a:gd name="T35" fmla="*/ 142 h 163"/>
                  <a:gd name="T36" fmla="*/ 32 w 124"/>
                  <a:gd name="T37" fmla="*/ 127 h 163"/>
                  <a:gd name="T38" fmla="*/ 25 w 124"/>
                  <a:gd name="T39" fmla="*/ 116 h 163"/>
                  <a:gd name="T40" fmla="*/ 18 w 124"/>
                  <a:gd name="T41" fmla="*/ 110 h 163"/>
                  <a:gd name="T42" fmla="*/ 12 w 124"/>
                  <a:gd name="T43" fmla="*/ 100 h 163"/>
                  <a:gd name="T44" fmla="*/ 5 w 124"/>
                  <a:gd name="T45" fmla="*/ 89 h 163"/>
                  <a:gd name="T46" fmla="*/ 1 w 124"/>
                  <a:gd name="T47" fmla="*/ 78 h 163"/>
                  <a:gd name="T48" fmla="*/ 0 w 124"/>
                  <a:gd name="T49" fmla="*/ 65 h 163"/>
                  <a:gd name="T50" fmla="*/ 1 w 124"/>
                  <a:gd name="T51" fmla="*/ 52 h 163"/>
                  <a:gd name="T52" fmla="*/ 5 w 124"/>
                  <a:gd name="T53" fmla="*/ 40 h 163"/>
                  <a:gd name="T54" fmla="*/ 11 w 124"/>
                  <a:gd name="T55" fmla="*/ 29 h 163"/>
                  <a:gd name="T56" fmla="*/ 18 w 124"/>
                  <a:gd name="T57" fmla="*/ 19 h 163"/>
                  <a:gd name="T58" fmla="*/ 27 w 124"/>
                  <a:gd name="T59" fmla="*/ 11 h 163"/>
                  <a:gd name="T60" fmla="*/ 38 w 124"/>
                  <a:gd name="T61" fmla="*/ 5 h 163"/>
                  <a:gd name="T62" fmla="*/ 49 w 124"/>
                  <a:gd name="T63" fmla="*/ 1 h 163"/>
                  <a:gd name="T64" fmla="*/ 62 w 124"/>
                  <a:gd name="T65" fmla="*/ 0 h 1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4"/>
                  <a:gd name="T100" fmla="*/ 0 h 163"/>
                  <a:gd name="T101" fmla="*/ 124 w 124"/>
                  <a:gd name="T102" fmla="*/ 163 h 16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4" h="163">
                    <a:moveTo>
                      <a:pt x="62" y="0"/>
                    </a:moveTo>
                    <a:lnTo>
                      <a:pt x="69" y="0"/>
                    </a:lnTo>
                    <a:lnTo>
                      <a:pt x="75" y="1"/>
                    </a:lnTo>
                    <a:lnTo>
                      <a:pt x="81" y="3"/>
                    </a:lnTo>
                    <a:lnTo>
                      <a:pt x="87" y="5"/>
                    </a:lnTo>
                    <a:lnTo>
                      <a:pt x="92" y="8"/>
                    </a:lnTo>
                    <a:lnTo>
                      <a:pt x="96" y="11"/>
                    </a:lnTo>
                    <a:lnTo>
                      <a:pt x="102" y="15"/>
                    </a:lnTo>
                    <a:lnTo>
                      <a:pt x="106" y="19"/>
                    </a:lnTo>
                    <a:lnTo>
                      <a:pt x="110" y="23"/>
                    </a:lnTo>
                    <a:lnTo>
                      <a:pt x="113" y="29"/>
                    </a:lnTo>
                    <a:lnTo>
                      <a:pt x="117" y="34"/>
                    </a:lnTo>
                    <a:lnTo>
                      <a:pt x="119" y="40"/>
                    </a:lnTo>
                    <a:lnTo>
                      <a:pt x="121" y="46"/>
                    </a:lnTo>
                    <a:lnTo>
                      <a:pt x="123" y="52"/>
                    </a:lnTo>
                    <a:lnTo>
                      <a:pt x="124" y="58"/>
                    </a:lnTo>
                    <a:lnTo>
                      <a:pt x="124" y="65"/>
                    </a:lnTo>
                    <a:lnTo>
                      <a:pt x="124" y="71"/>
                    </a:lnTo>
                    <a:lnTo>
                      <a:pt x="123" y="78"/>
                    </a:lnTo>
                    <a:lnTo>
                      <a:pt x="121" y="84"/>
                    </a:lnTo>
                    <a:lnTo>
                      <a:pt x="119" y="89"/>
                    </a:lnTo>
                    <a:lnTo>
                      <a:pt x="116" y="95"/>
                    </a:lnTo>
                    <a:lnTo>
                      <a:pt x="112" y="100"/>
                    </a:lnTo>
                    <a:lnTo>
                      <a:pt x="109" y="105"/>
                    </a:lnTo>
                    <a:lnTo>
                      <a:pt x="106" y="110"/>
                    </a:lnTo>
                    <a:lnTo>
                      <a:pt x="103" y="113"/>
                    </a:lnTo>
                    <a:lnTo>
                      <a:pt x="100" y="116"/>
                    </a:lnTo>
                    <a:lnTo>
                      <a:pt x="95" y="120"/>
                    </a:lnTo>
                    <a:lnTo>
                      <a:pt x="92" y="127"/>
                    </a:lnTo>
                    <a:lnTo>
                      <a:pt x="88" y="133"/>
                    </a:lnTo>
                    <a:lnTo>
                      <a:pt x="86" y="142"/>
                    </a:lnTo>
                    <a:lnTo>
                      <a:pt x="83" y="151"/>
                    </a:lnTo>
                    <a:lnTo>
                      <a:pt x="82" y="163"/>
                    </a:lnTo>
                    <a:lnTo>
                      <a:pt x="42" y="163"/>
                    </a:lnTo>
                    <a:lnTo>
                      <a:pt x="41" y="151"/>
                    </a:lnTo>
                    <a:lnTo>
                      <a:pt x="39" y="142"/>
                    </a:lnTo>
                    <a:lnTo>
                      <a:pt x="36" y="133"/>
                    </a:lnTo>
                    <a:lnTo>
                      <a:pt x="32" y="127"/>
                    </a:lnTo>
                    <a:lnTo>
                      <a:pt x="29" y="120"/>
                    </a:lnTo>
                    <a:lnTo>
                      <a:pt x="25" y="116"/>
                    </a:lnTo>
                    <a:lnTo>
                      <a:pt x="22" y="113"/>
                    </a:lnTo>
                    <a:lnTo>
                      <a:pt x="18" y="110"/>
                    </a:lnTo>
                    <a:lnTo>
                      <a:pt x="15" y="105"/>
                    </a:lnTo>
                    <a:lnTo>
                      <a:pt x="12" y="100"/>
                    </a:lnTo>
                    <a:lnTo>
                      <a:pt x="9" y="95"/>
                    </a:lnTo>
                    <a:lnTo>
                      <a:pt x="5" y="89"/>
                    </a:lnTo>
                    <a:lnTo>
                      <a:pt x="3" y="84"/>
                    </a:lnTo>
                    <a:lnTo>
                      <a:pt x="1" y="78"/>
                    </a:lnTo>
                    <a:lnTo>
                      <a:pt x="0" y="71"/>
                    </a:lnTo>
                    <a:lnTo>
                      <a:pt x="0" y="65"/>
                    </a:lnTo>
                    <a:lnTo>
                      <a:pt x="0" y="58"/>
                    </a:lnTo>
                    <a:lnTo>
                      <a:pt x="1" y="52"/>
                    </a:lnTo>
                    <a:lnTo>
                      <a:pt x="3" y="46"/>
                    </a:lnTo>
                    <a:lnTo>
                      <a:pt x="5" y="40"/>
                    </a:lnTo>
                    <a:lnTo>
                      <a:pt x="8" y="34"/>
                    </a:lnTo>
                    <a:lnTo>
                      <a:pt x="11" y="29"/>
                    </a:lnTo>
                    <a:lnTo>
                      <a:pt x="14" y="23"/>
                    </a:lnTo>
                    <a:lnTo>
                      <a:pt x="18" y="19"/>
                    </a:lnTo>
                    <a:lnTo>
                      <a:pt x="23" y="15"/>
                    </a:lnTo>
                    <a:lnTo>
                      <a:pt x="27" y="11"/>
                    </a:lnTo>
                    <a:lnTo>
                      <a:pt x="32" y="8"/>
                    </a:lnTo>
                    <a:lnTo>
                      <a:pt x="38" y="5"/>
                    </a:lnTo>
                    <a:lnTo>
                      <a:pt x="43" y="3"/>
                    </a:lnTo>
                    <a:lnTo>
                      <a:pt x="49" y="1"/>
                    </a:lnTo>
                    <a:lnTo>
                      <a:pt x="56" y="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36" name="Freeform 885"/>
              <p:cNvSpPr>
                <a:spLocks/>
              </p:cNvSpPr>
              <p:nvPr/>
            </p:nvSpPr>
            <p:spPr bwMode="auto">
              <a:xfrm>
                <a:off x="2630" y="1891"/>
                <a:ext cx="122" cy="162"/>
              </a:xfrm>
              <a:custGeom>
                <a:avLst/>
                <a:gdLst>
                  <a:gd name="T0" fmla="*/ 68 w 122"/>
                  <a:gd name="T1" fmla="*/ 0 h 162"/>
                  <a:gd name="T2" fmla="*/ 79 w 122"/>
                  <a:gd name="T3" fmla="*/ 3 h 162"/>
                  <a:gd name="T4" fmla="*/ 90 w 122"/>
                  <a:gd name="T5" fmla="*/ 8 h 162"/>
                  <a:gd name="T6" fmla="*/ 100 w 122"/>
                  <a:gd name="T7" fmla="*/ 15 h 162"/>
                  <a:gd name="T8" fmla="*/ 108 w 122"/>
                  <a:gd name="T9" fmla="*/ 23 h 162"/>
                  <a:gd name="T10" fmla="*/ 115 w 122"/>
                  <a:gd name="T11" fmla="*/ 34 h 162"/>
                  <a:gd name="T12" fmla="*/ 119 w 122"/>
                  <a:gd name="T13" fmla="*/ 46 h 162"/>
                  <a:gd name="T14" fmla="*/ 122 w 122"/>
                  <a:gd name="T15" fmla="*/ 59 h 162"/>
                  <a:gd name="T16" fmla="*/ 122 w 122"/>
                  <a:gd name="T17" fmla="*/ 71 h 162"/>
                  <a:gd name="T18" fmla="*/ 119 w 122"/>
                  <a:gd name="T19" fmla="*/ 83 h 162"/>
                  <a:gd name="T20" fmla="*/ 113 w 122"/>
                  <a:gd name="T21" fmla="*/ 95 h 162"/>
                  <a:gd name="T22" fmla="*/ 107 w 122"/>
                  <a:gd name="T23" fmla="*/ 104 h 162"/>
                  <a:gd name="T24" fmla="*/ 101 w 122"/>
                  <a:gd name="T25" fmla="*/ 112 h 162"/>
                  <a:gd name="T26" fmla="*/ 93 w 122"/>
                  <a:gd name="T27" fmla="*/ 121 h 162"/>
                  <a:gd name="T28" fmla="*/ 87 w 122"/>
                  <a:gd name="T29" fmla="*/ 132 h 162"/>
                  <a:gd name="T30" fmla="*/ 81 w 122"/>
                  <a:gd name="T31" fmla="*/ 150 h 162"/>
                  <a:gd name="T32" fmla="*/ 42 w 122"/>
                  <a:gd name="T33" fmla="*/ 162 h 162"/>
                  <a:gd name="T34" fmla="*/ 39 w 122"/>
                  <a:gd name="T35" fmla="*/ 141 h 162"/>
                  <a:gd name="T36" fmla="*/ 32 w 122"/>
                  <a:gd name="T37" fmla="*/ 126 h 162"/>
                  <a:gd name="T38" fmla="*/ 25 w 122"/>
                  <a:gd name="T39" fmla="*/ 115 h 162"/>
                  <a:gd name="T40" fmla="*/ 18 w 122"/>
                  <a:gd name="T41" fmla="*/ 110 h 162"/>
                  <a:gd name="T42" fmla="*/ 12 w 122"/>
                  <a:gd name="T43" fmla="*/ 100 h 162"/>
                  <a:gd name="T44" fmla="*/ 6 w 122"/>
                  <a:gd name="T45" fmla="*/ 90 h 162"/>
                  <a:gd name="T46" fmla="*/ 2 w 122"/>
                  <a:gd name="T47" fmla="*/ 78 h 162"/>
                  <a:gd name="T48" fmla="*/ 0 w 122"/>
                  <a:gd name="T49" fmla="*/ 65 h 162"/>
                  <a:gd name="T50" fmla="*/ 1 w 122"/>
                  <a:gd name="T51" fmla="*/ 52 h 162"/>
                  <a:gd name="T52" fmla="*/ 4 w 122"/>
                  <a:gd name="T53" fmla="*/ 39 h 162"/>
                  <a:gd name="T54" fmla="*/ 11 w 122"/>
                  <a:gd name="T55" fmla="*/ 29 h 162"/>
                  <a:gd name="T56" fmla="*/ 17 w 122"/>
                  <a:gd name="T57" fmla="*/ 19 h 162"/>
                  <a:gd name="T58" fmla="*/ 26 w 122"/>
                  <a:gd name="T59" fmla="*/ 12 h 162"/>
                  <a:gd name="T60" fmla="*/ 37 w 122"/>
                  <a:gd name="T61" fmla="*/ 5 h 162"/>
                  <a:gd name="T62" fmla="*/ 48 w 122"/>
                  <a:gd name="T63" fmla="*/ 1 h 162"/>
                  <a:gd name="T64" fmla="*/ 61 w 122"/>
                  <a:gd name="T65" fmla="*/ 0 h 1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2"/>
                  <a:gd name="T100" fmla="*/ 0 h 162"/>
                  <a:gd name="T101" fmla="*/ 122 w 122"/>
                  <a:gd name="T102" fmla="*/ 162 h 16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2" h="162">
                    <a:moveTo>
                      <a:pt x="61" y="0"/>
                    </a:moveTo>
                    <a:lnTo>
                      <a:pt x="68" y="0"/>
                    </a:lnTo>
                    <a:lnTo>
                      <a:pt x="74" y="1"/>
                    </a:lnTo>
                    <a:lnTo>
                      <a:pt x="79" y="3"/>
                    </a:lnTo>
                    <a:lnTo>
                      <a:pt x="85" y="5"/>
                    </a:lnTo>
                    <a:lnTo>
                      <a:pt x="90" y="8"/>
                    </a:lnTo>
                    <a:lnTo>
                      <a:pt x="95" y="12"/>
                    </a:lnTo>
                    <a:lnTo>
                      <a:pt x="100" y="15"/>
                    </a:lnTo>
                    <a:lnTo>
                      <a:pt x="104" y="19"/>
                    </a:lnTo>
                    <a:lnTo>
                      <a:pt x="108" y="23"/>
                    </a:lnTo>
                    <a:lnTo>
                      <a:pt x="111" y="29"/>
                    </a:lnTo>
                    <a:lnTo>
                      <a:pt x="115" y="34"/>
                    </a:lnTo>
                    <a:lnTo>
                      <a:pt x="117" y="39"/>
                    </a:lnTo>
                    <a:lnTo>
                      <a:pt x="119" y="46"/>
                    </a:lnTo>
                    <a:lnTo>
                      <a:pt x="121" y="52"/>
                    </a:lnTo>
                    <a:lnTo>
                      <a:pt x="122" y="59"/>
                    </a:lnTo>
                    <a:lnTo>
                      <a:pt x="122" y="65"/>
                    </a:lnTo>
                    <a:lnTo>
                      <a:pt x="122" y="71"/>
                    </a:lnTo>
                    <a:lnTo>
                      <a:pt x="120" y="78"/>
                    </a:lnTo>
                    <a:lnTo>
                      <a:pt x="119" y="83"/>
                    </a:lnTo>
                    <a:lnTo>
                      <a:pt x="117" y="90"/>
                    </a:lnTo>
                    <a:lnTo>
                      <a:pt x="113" y="95"/>
                    </a:lnTo>
                    <a:lnTo>
                      <a:pt x="110" y="100"/>
                    </a:lnTo>
                    <a:lnTo>
                      <a:pt x="107" y="104"/>
                    </a:lnTo>
                    <a:lnTo>
                      <a:pt x="104" y="110"/>
                    </a:lnTo>
                    <a:lnTo>
                      <a:pt x="101" y="112"/>
                    </a:lnTo>
                    <a:lnTo>
                      <a:pt x="97" y="115"/>
                    </a:lnTo>
                    <a:lnTo>
                      <a:pt x="93" y="121"/>
                    </a:lnTo>
                    <a:lnTo>
                      <a:pt x="90" y="126"/>
                    </a:lnTo>
                    <a:lnTo>
                      <a:pt x="87" y="132"/>
                    </a:lnTo>
                    <a:lnTo>
                      <a:pt x="84" y="141"/>
                    </a:lnTo>
                    <a:lnTo>
                      <a:pt x="81" y="150"/>
                    </a:lnTo>
                    <a:lnTo>
                      <a:pt x="80" y="162"/>
                    </a:lnTo>
                    <a:lnTo>
                      <a:pt x="42" y="162"/>
                    </a:lnTo>
                    <a:lnTo>
                      <a:pt x="41" y="150"/>
                    </a:lnTo>
                    <a:lnTo>
                      <a:pt x="39" y="141"/>
                    </a:lnTo>
                    <a:lnTo>
                      <a:pt x="35" y="132"/>
                    </a:lnTo>
                    <a:lnTo>
                      <a:pt x="32" y="126"/>
                    </a:lnTo>
                    <a:lnTo>
                      <a:pt x="29" y="121"/>
                    </a:lnTo>
                    <a:lnTo>
                      <a:pt x="25" y="115"/>
                    </a:lnTo>
                    <a:lnTo>
                      <a:pt x="22" y="112"/>
                    </a:lnTo>
                    <a:lnTo>
                      <a:pt x="18" y="110"/>
                    </a:lnTo>
                    <a:lnTo>
                      <a:pt x="15" y="104"/>
                    </a:lnTo>
                    <a:lnTo>
                      <a:pt x="12" y="100"/>
                    </a:lnTo>
                    <a:lnTo>
                      <a:pt x="9" y="95"/>
                    </a:lnTo>
                    <a:lnTo>
                      <a:pt x="6" y="90"/>
                    </a:lnTo>
                    <a:lnTo>
                      <a:pt x="3" y="83"/>
                    </a:lnTo>
                    <a:lnTo>
                      <a:pt x="2" y="78"/>
                    </a:lnTo>
                    <a:lnTo>
                      <a:pt x="0" y="71"/>
                    </a:lnTo>
                    <a:lnTo>
                      <a:pt x="0" y="65"/>
                    </a:lnTo>
                    <a:lnTo>
                      <a:pt x="0" y="59"/>
                    </a:lnTo>
                    <a:lnTo>
                      <a:pt x="1" y="52"/>
                    </a:lnTo>
                    <a:lnTo>
                      <a:pt x="3" y="46"/>
                    </a:lnTo>
                    <a:lnTo>
                      <a:pt x="4" y="39"/>
                    </a:lnTo>
                    <a:lnTo>
                      <a:pt x="8" y="34"/>
                    </a:lnTo>
                    <a:lnTo>
                      <a:pt x="11" y="29"/>
                    </a:lnTo>
                    <a:lnTo>
                      <a:pt x="14" y="23"/>
                    </a:lnTo>
                    <a:lnTo>
                      <a:pt x="17" y="19"/>
                    </a:lnTo>
                    <a:lnTo>
                      <a:pt x="22" y="15"/>
                    </a:lnTo>
                    <a:lnTo>
                      <a:pt x="26" y="12"/>
                    </a:lnTo>
                    <a:lnTo>
                      <a:pt x="31" y="8"/>
                    </a:lnTo>
                    <a:lnTo>
                      <a:pt x="37" y="5"/>
                    </a:lnTo>
                    <a:lnTo>
                      <a:pt x="43" y="3"/>
                    </a:lnTo>
                    <a:lnTo>
                      <a:pt x="48" y="1"/>
                    </a:lnTo>
                    <a:lnTo>
                      <a:pt x="55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37" name="Freeform 886"/>
              <p:cNvSpPr>
                <a:spLocks/>
              </p:cNvSpPr>
              <p:nvPr/>
            </p:nvSpPr>
            <p:spPr bwMode="auto">
              <a:xfrm>
                <a:off x="2631" y="1892"/>
                <a:ext cx="119" cy="161"/>
              </a:xfrm>
              <a:custGeom>
                <a:avLst/>
                <a:gdLst>
                  <a:gd name="T0" fmla="*/ 65 w 119"/>
                  <a:gd name="T1" fmla="*/ 0 h 161"/>
                  <a:gd name="T2" fmla="*/ 77 w 119"/>
                  <a:gd name="T3" fmla="*/ 3 h 161"/>
                  <a:gd name="T4" fmla="*/ 88 w 119"/>
                  <a:gd name="T5" fmla="*/ 8 h 161"/>
                  <a:gd name="T6" fmla="*/ 98 w 119"/>
                  <a:gd name="T7" fmla="*/ 15 h 161"/>
                  <a:gd name="T8" fmla="*/ 106 w 119"/>
                  <a:gd name="T9" fmla="*/ 23 h 161"/>
                  <a:gd name="T10" fmla="*/ 111 w 119"/>
                  <a:gd name="T11" fmla="*/ 34 h 161"/>
                  <a:gd name="T12" fmla="*/ 117 w 119"/>
                  <a:gd name="T13" fmla="*/ 46 h 161"/>
                  <a:gd name="T14" fmla="*/ 119 w 119"/>
                  <a:gd name="T15" fmla="*/ 59 h 161"/>
                  <a:gd name="T16" fmla="*/ 119 w 119"/>
                  <a:gd name="T17" fmla="*/ 71 h 161"/>
                  <a:gd name="T18" fmla="*/ 116 w 119"/>
                  <a:gd name="T19" fmla="*/ 83 h 161"/>
                  <a:gd name="T20" fmla="*/ 110 w 119"/>
                  <a:gd name="T21" fmla="*/ 95 h 161"/>
                  <a:gd name="T22" fmla="*/ 104 w 119"/>
                  <a:gd name="T23" fmla="*/ 105 h 161"/>
                  <a:gd name="T24" fmla="*/ 98 w 119"/>
                  <a:gd name="T25" fmla="*/ 111 h 161"/>
                  <a:gd name="T26" fmla="*/ 91 w 119"/>
                  <a:gd name="T27" fmla="*/ 120 h 161"/>
                  <a:gd name="T28" fmla="*/ 84 w 119"/>
                  <a:gd name="T29" fmla="*/ 132 h 161"/>
                  <a:gd name="T30" fmla="*/ 79 w 119"/>
                  <a:gd name="T31" fmla="*/ 149 h 161"/>
                  <a:gd name="T32" fmla="*/ 41 w 119"/>
                  <a:gd name="T33" fmla="*/ 161 h 161"/>
                  <a:gd name="T34" fmla="*/ 38 w 119"/>
                  <a:gd name="T35" fmla="*/ 140 h 161"/>
                  <a:gd name="T36" fmla="*/ 32 w 119"/>
                  <a:gd name="T37" fmla="*/ 125 h 161"/>
                  <a:gd name="T38" fmla="*/ 25 w 119"/>
                  <a:gd name="T39" fmla="*/ 115 h 161"/>
                  <a:gd name="T40" fmla="*/ 18 w 119"/>
                  <a:gd name="T41" fmla="*/ 109 h 161"/>
                  <a:gd name="T42" fmla="*/ 12 w 119"/>
                  <a:gd name="T43" fmla="*/ 99 h 161"/>
                  <a:gd name="T44" fmla="*/ 6 w 119"/>
                  <a:gd name="T45" fmla="*/ 89 h 161"/>
                  <a:gd name="T46" fmla="*/ 1 w 119"/>
                  <a:gd name="T47" fmla="*/ 78 h 161"/>
                  <a:gd name="T48" fmla="*/ 0 w 119"/>
                  <a:gd name="T49" fmla="*/ 65 h 161"/>
                  <a:gd name="T50" fmla="*/ 1 w 119"/>
                  <a:gd name="T51" fmla="*/ 52 h 161"/>
                  <a:gd name="T52" fmla="*/ 5 w 119"/>
                  <a:gd name="T53" fmla="*/ 40 h 161"/>
                  <a:gd name="T54" fmla="*/ 10 w 119"/>
                  <a:gd name="T55" fmla="*/ 29 h 161"/>
                  <a:gd name="T56" fmla="*/ 16 w 119"/>
                  <a:gd name="T57" fmla="*/ 19 h 161"/>
                  <a:gd name="T58" fmla="*/ 26 w 119"/>
                  <a:gd name="T59" fmla="*/ 12 h 161"/>
                  <a:gd name="T60" fmla="*/ 36 w 119"/>
                  <a:gd name="T61" fmla="*/ 5 h 161"/>
                  <a:gd name="T62" fmla="*/ 47 w 119"/>
                  <a:gd name="T63" fmla="*/ 1 h 161"/>
                  <a:gd name="T64" fmla="*/ 60 w 119"/>
                  <a:gd name="T65" fmla="*/ 0 h 16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9"/>
                  <a:gd name="T100" fmla="*/ 0 h 161"/>
                  <a:gd name="T101" fmla="*/ 119 w 119"/>
                  <a:gd name="T102" fmla="*/ 161 h 16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9" h="161">
                    <a:moveTo>
                      <a:pt x="60" y="0"/>
                    </a:moveTo>
                    <a:lnTo>
                      <a:pt x="65" y="0"/>
                    </a:lnTo>
                    <a:lnTo>
                      <a:pt x="72" y="1"/>
                    </a:lnTo>
                    <a:lnTo>
                      <a:pt x="77" y="3"/>
                    </a:lnTo>
                    <a:lnTo>
                      <a:pt x="83" y="5"/>
                    </a:lnTo>
                    <a:lnTo>
                      <a:pt x="88" y="8"/>
                    </a:lnTo>
                    <a:lnTo>
                      <a:pt x="93" y="12"/>
                    </a:lnTo>
                    <a:lnTo>
                      <a:pt x="98" y="15"/>
                    </a:lnTo>
                    <a:lnTo>
                      <a:pt x="102" y="19"/>
                    </a:lnTo>
                    <a:lnTo>
                      <a:pt x="106" y="23"/>
                    </a:lnTo>
                    <a:lnTo>
                      <a:pt x="109" y="29"/>
                    </a:lnTo>
                    <a:lnTo>
                      <a:pt x="111" y="34"/>
                    </a:lnTo>
                    <a:lnTo>
                      <a:pt x="115" y="40"/>
                    </a:lnTo>
                    <a:lnTo>
                      <a:pt x="117" y="46"/>
                    </a:lnTo>
                    <a:lnTo>
                      <a:pt x="118" y="52"/>
                    </a:lnTo>
                    <a:lnTo>
                      <a:pt x="119" y="59"/>
                    </a:lnTo>
                    <a:lnTo>
                      <a:pt x="119" y="65"/>
                    </a:lnTo>
                    <a:lnTo>
                      <a:pt x="119" y="71"/>
                    </a:lnTo>
                    <a:lnTo>
                      <a:pt x="118" y="78"/>
                    </a:lnTo>
                    <a:lnTo>
                      <a:pt x="116" y="83"/>
                    </a:lnTo>
                    <a:lnTo>
                      <a:pt x="114" y="89"/>
                    </a:lnTo>
                    <a:lnTo>
                      <a:pt x="110" y="95"/>
                    </a:lnTo>
                    <a:lnTo>
                      <a:pt x="107" y="99"/>
                    </a:lnTo>
                    <a:lnTo>
                      <a:pt x="104" y="105"/>
                    </a:lnTo>
                    <a:lnTo>
                      <a:pt x="101" y="109"/>
                    </a:lnTo>
                    <a:lnTo>
                      <a:pt x="98" y="111"/>
                    </a:lnTo>
                    <a:lnTo>
                      <a:pt x="94" y="115"/>
                    </a:lnTo>
                    <a:lnTo>
                      <a:pt x="91" y="120"/>
                    </a:lnTo>
                    <a:lnTo>
                      <a:pt x="87" y="125"/>
                    </a:lnTo>
                    <a:lnTo>
                      <a:pt x="84" y="132"/>
                    </a:lnTo>
                    <a:lnTo>
                      <a:pt x="81" y="140"/>
                    </a:lnTo>
                    <a:lnTo>
                      <a:pt x="79" y="149"/>
                    </a:lnTo>
                    <a:lnTo>
                      <a:pt x="78" y="161"/>
                    </a:lnTo>
                    <a:lnTo>
                      <a:pt x="41" y="161"/>
                    </a:lnTo>
                    <a:lnTo>
                      <a:pt x="40" y="149"/>
                    </a:lnTo>
                    <a:lnTo>
                      <a:pt x="38" y="140"/>
                    </a:lnTo>
                    <a:lnTo>
                      <a:pt x="36" y="132"/>
                    </a:lnTo>
                    <a:lnTo>
                      <a:pt x="32" y="125"/>
                    </a:lnTo>
                    <a:lnTo>
                      <a:pt x="28" y="120"/>
                    </a:lnTo>
                    <a:lnTo>
                      <a:pt x="25" y="115"/>
                    </a:lnTo>
                    <a:lnTo>
                      <a:pt x="22" y="111"/>
                    </a:lnTo>
                    <a:lnTo>
                      <a:pt x="18" y="109"/>
                    </a:lnTo>
                    <a:lnTo>
                      <a:pt x="15" y="105"/>
                    </a:lnTo>
                    <a:lnTo>
                      <a:pt x="12" y="99"/>
                    </a:lnTo>
                    <a:lnTo>
                      <a:pt x="9" y="95"/>
                    </a:lnTo>
                    <a:lnTo>
                      <a:pt x="6" y="89"/>
                    </a:lnTo>
                    <a:lnTo>
                      <a:pt x="3" y="83"/>
                    </a:lnTo>
                    <a:lnTo>
                      <a:pt x="1" y="78"/>
                    </a:lnTo>
                    <a:lnTo>
                      <a:pt x="0" y="71"/>
                    </a:lnTo>
                    <a:lnTo>
                      <a:pt x="0" y="65"/>
                    </a:lnTo>
                    <a:lnTo>
                      <a:pt x="0" y="59"/>
                    </a:lnTo>
                    <a:lnTo>
                      <a:pt x="1" y="52"/>
                    </a:lnTo>
                    <a:lnTo>
                      <a:pt x="2" y="46"/>
                    </a:lnTo>
                    <a:lnTo>
                      <a:pt x="5" y="40"/>
                    </a:lnTo>
                    <a:lnTo>
                      <a:pt x="7" y="34"/>
                    </a:lnTo>
                    <a:lnTo>
                      <a:pt x="10" y="29"/>
                    </a:lnTo>
                    <a:lnTo>
                      <a:pt x="13" y="23"/>
                    </a:lnTo>
                    <a:lnTo>
                      <a:pt x="16" y="19"/>
                    </a:lnTo>
                    <a:lnTo>
                      <a:pt x="21" y="15"/>
                    </a:lnTo>
                    <a:lnTo>
                      <a:pt x="26" y="12"/>
                    </a:lnTo>
                    <a:lnTo>
                      <a:pt x="30" y="8"/>
                    </a:lnTo>
                    <a:lnTo>
                      <a:pt x="36" y="5"/>
                    </a:lnTo>
                    <a:lnTo>
                      <a:pt x="41" y="3"/>
                    </a:lnTo>
                    <a:lnTo>
                      <a:pt x="47" y="1"/>
                    </a:lnTo>
                    <a:lnTo>
                      <a:pt x="54" y="0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38" name="Freeform 887"/>
              <p:cNvSpPr>
                <a:spLocks/>
              </p:cNvSpPr>
              <p:nvPr/>
            </p:nvSpPr>
            <p:spPr bwMode="auto">
              <a:xfrm>
                <a:off x="2633" y="1893"/>
                <a:ext cx="116" cy="160"/>
              </a:xfrm>
              <a:custGeom>
                <a:avLst/>
                <a:gdLst>
                  <a:gd name="T0" fmla="*/ 65 w 116"/>
                  <a:gd name="T1" fmla="*/ 0 h 160"/>
                  <a:gd name="T2" fmla="*/ 75 w 116"/>
                  <a:gd name="T3" fmla="*/ 3 h 160"/>
                  <a:gd name="T4" fmla="*/ 86 w 116"/>
                  <a:gd name="T5" fmla="*/ 8 h 160"/>
                  <a:gd name="T6" fmla="*/ 96 w 116"/>
                  <a:gd name="T7" fmla="*/ 15 h 160"/>
                  <a:gd name="T8" fmla="*/ 103 w 116"/>
                  <a:gd name="T9" fmla="*/ 24 h 160"/>
                  <a:gd name="T10" fmla="*/ 109 w 116"/>
                  <a:gd name="T11" fmla="*/ 34 h 160"/>
                  <a:gd name="T12" fmla="*/ 114 w 116"/>
                  <a:gd name="T13" fmla="*/ 46 h 160"/>
                  <a:gd name="T14" fmla="*/ 116 w 116"/>
                  <a:gd name="T15" fmla="*/ 59 h 160"/>
                  <a:gd name="T16" fmla="*/ 116 w 116"/>
                  <a:gd name="T17" fmla="*/ 72 h 160"/>
                  <a:gd name="T18" fmla="*/ 113 w 116"/>
                  <a:gd name="T19" fmla="*/ 83 h 160"/>
                  <a:gd name="T20" fmla="*/ 107 w 116"/>
                  <a:gd name="T21" fmla="*/ 94 h 160"/>
                  <a:gd name="T22" fmla="*/ 101 w 116"/>
                  <a:gd name="T23" fmla="*/ 104 h 160"/>
                  <a:gd name="T24" fmla="*/ 94 w 116"/>
                  <a:gd name="T25" fmla="*/ 111 h 160"/>
                  <a:gd name="T26" fmla="*/ 88 w 116"/>
                  <a:gd name="T27" fmla="*/ 119 h 160"/>
                  <a:gd name="T28" fmla="*/ 82 w 116"/>
                  <a:gd name="T29" fmla="*/ 131 h 160"/>
                  <a:gd name="T30" fmla="*/ 77 w 116"/>
                  <a:gd name="T31" fmla="*/ 148 h 160"/>
                  <a:gd name="T32" fmla="*/ 40 w 116"/>
                  <a:gd name="T33" fmla="*/ 160 h 160"/>
                  <a:gd name="T34" fmla="*/ 38 w 116"/>
                  <a:gd name="T35" fmla="*/ 139 h 160"/>
                  <a:gd name="T36" fmla="*/ 31 w 116"/>
                  <a:gd name="T37" fmla="*/ 124 h 160"/>
                  <a:gd name="T38" fmla="*/ 24 w 116"/>
                  <a:gd name="T39" fmla="*/ 114 h 160"/>
                  <a:gd name="T40" fmla="*/ 19 w 116"/>
                  <a:gd name="T41" fmla="*/ 109 h 160"/>
                  <a:gd name="T42" fmla="*/ 12 w 116"/>
                  <a:gd name="T43" fmla="*/ 99 h 160"/>
                  <a:gd name="T44" fmla="*/ 6 w 116"/>
                  <a:gd name="T45" fmla="*/ 89 h 160"/>
                  <a:gd name="T46" fmla="*/ 1 w 116"/>
                  <a:gd name="T47" fmla="*/ 77 h 160"/>
                  <a:gd name="T48" fmla="*/ 0 w 116"/>
                  <a:gd name="T49" fmla="*/ 65 h 160"/>
                  <a:gd name="T50" fmla="*/ 1 w 116"/>
                  <a:gd name="T51" fmla="*/ 52 h 160"/>
                  <a:gd name="T52" fmla="*/ 5 w 116"/>
                  <a:gd name="T53" fmla="*/ 41 h 160"/>
                  <a:gd name="T54" fmla="*/ 10 w 116"/>
                  <a:gd name="T55" fmla="*/ 29 h 160"/>
                  <a:gd name="T56" fmla="*/ 16 w 116"/>
                  <a:gd name="T57" fmla="*/ 19 h 160"/>
                  <a:gd name="T58" fmla="*/ 25 w 116"/>
                  <a:gd name="T59" fmla="*/ 12 h 160"/>
                  <a:gd name="T60" fmla="*/ 35 w 116"/>
                  <a:gd name="T61" fmla="*/ 5 h 160"/>
                  <a:gd name="T62" fmla="*/ 46 w 116"/>
                  <a:gd name="T63" fmla="*/ 1 h 160"/>
                  <a:gd name="T64" fmla="*/ 58 w 116"/>
                  <a:gd name="T65" fmla="*/ 0 h 16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6"/>
                  <a:gd name="T100" fmla="*/ 0 h 160"/>
                  <a:gd name="T101" fmla="*/ 116 w 116"/>
                  <a:gd name="T102" fmla="*/ 160 h 16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6" h="160">
                    <a:moveTo>
                      <a:pt x="58" y="0"/>
                    </a:moveTo>
                    <a:lnTo>
                      <a:pt x="65" y="0"/>
                    </a:lnTo>
                    <a:lnTo>
                      <a:pt x="70" y="1"/>
                    </a:lnTo>
                    <a:lnTo>
                      <a:pt x="75" y="3"/>
                    </a:lnTo>
                    <a:lnTo>
                      <a:pt x="81" y="5"/>
                    </a:lnTo>
                    <a:lnTo>
                      <a:pt x="86" y="8"/>
                    </a:lnTo>
                    <a:lnTo>
                      <a:pt x="90" y="12"/>
                    </a:lnTo>
                    <a:lnTo>
                      <a:pt x="96" y="15"/>
                    </a:lnTo>
                    <a:lnTo>
                      <a:pt x="99" y="19"/>
                    </a:lnTo>
                    <a:lnTo>
                      <a:pt x="103" y="24"/>
                    </a:lnTo>
                    <a:lnTo>
                      <a:pt x="106" y="29"/>
                    </a:lnTo>
                    <a:lnTo>
                      <a:pt x="109" y="34"/>
                    </a:lnTo>
                    <a:lnTo>
                      <a:pt x="112" y="41"/>
                    </a:lnTo>
                    <a:lnTo>
                      <a:pt x="114" y="46"/>
                    </a:lnTo>
                    <a:lnTo>
                      <a:pt x="115" y="52"/>
                    </a:lnTo>
                    <a:lnTo>
                      <a:pt x="116" y="59"/>
                    </a:lnTo>
                    <a:lnTo>
                      <a:pt x="116" y="65"/>
                    </a:lnTo>
                    <a:lnTo>
                      <a:pt x="116" y="72"/>
                    </a:lnTo>
                    <a:lnTo>
                      <a:pt x="115" y="77"/>
                    </a:lnTo>
                    <a:lnTo>
                      <a:pt x="113" y="83"/>
                    </a:lnTo>
                    <a:lnTo>
                      <a:pt x="110" y="89"/>
                    </a:lnTo>
                    <a:lnTo>
                      <a:pt x="107" y="94"/>
                    </a:lnTo>
                    <a:lnTo>
                      <a:pt x="104" y="99"/>
                    </a:lnTo>
                    <a:lnTo>
                      <a:pt x="101" y="104"/>
                    </a:lnTo>
                    <a:lnTo>
                      <a:pt x="98" y="109"/>
                    </a:lnTo>
                    <a:lnTo>
                      <a:pt x="94" y="111"/>
                    </a:lnTo>
                    <a:lnTo>
                      <a:pt x="92" y="114"/>
                    </a:lnTo>
                    <a:lnTo>
                      <a:pt x="88" y="119"/>
                    </a:lnTo>
                    <a:lnTo>
                      <a:pt x="85" y="124"/>
                    </a:lnTo>
                    <a:lnTo>
                      <a:pt x="82" y="131"/>
                    </a:lnTo>
                    <a:lnTo>
                      <a:pt x="78" y="139"/>
                    </a:lnTo>
                    <a:lnTo>
                      <a:pt x="77" y="148"/>
                    </a:lnTo>
                    <a:lnTo>
                      <a:pt x="76" y="160"/>
                    </a:lnTo>
                    <a:lnTo>
                      <a:pt x="40" y="160"/>
                    </a:lnTo>
                    <a:lnTo>
                      <a:pt x="39" y="148"/>
                    </a:lnTo>
                    <a:lnTo>
                      <a:pt x="38" y="139"/>
                    </a:lnTo>
                    <a:lnTo>
                      <a:pt x="35" y="131"/>
                    </a:lnTo>
                    <a:lnTo>
                      <a:pt x="31" y="124"/>
                    </a:lnTo>
                    <a:lnTo>
                      <a:pt x="28" y="119"/>
                    </a:lnTo>
                    <a:lnTo>
                      <a:pt x="24" y="114"/>
                    </a:lnTo>
                    <a:lnTo>
                      <a:pt x="22" y="111"/>
                    </a:lnTo>
                    <a:lnTo>
                      <a:pt x="19" y="109"/>
                    </a:lnTo>
                    <a:lnTo>
                      <a:pt x="15" y="104"/>
                    </a:lnTo>
                    <a:lnTo>
                      <a:pt x="12" y="99"/>
                    </a:lnTo>
                    <a:lnTo>
                      <a:pt x="9" y="94"/>
                    </a:lnTo>
                    <a:lnTo>
                      <a:pt x="6" y="89"/>
                    </a:lnTo>
                    <a:lnTo>
                      <a:pt x="4" y="83"/>
                    </a:lnTo>
                    <a:lnTo>
                      <a:pt x="1" y="77"/>
                    </a:lnTo>
                    <a:lnTo>
                      <a:pt x="0" y="72"/>
                    </a:lnTo>
                    <a:lnTo>
                      <a:pt x="0" y="65"/>
                    </a:lnTo>
                    <a:lnTo>
                      <a:pt x="0" y="59"/>
                    </a:lnTo>
                    <a:lnTo>
                      <a:pt x="1" y="52"/>
                    </a:lnTo>
                    <a:lnTo>
                      <a:pt x="3" y="46"/>
                    </a:lnTo>
                    <a:lnTo>
                      <a:pt x="5" y="41"/>
                    </a:lnTo>
                    <a:lnTo>
                      <a:pt x="7" y="34"/>
                    </a:lnTo>
                    <a:lnTo>
                      <a:pt x="10" y="29"/>
                    </a:lnTo>
                    <a:lnTo>
                      <a:pt x="13" y="24"/>
                    </a:lnTo>
                    <a:lnTo>
                      <a:pt x="16" y="19"/>
                    </a:lnTo>
                    <a:lnTo>
                      <a:pt x="21" y="15"/>
                    </a:lnTo>
                    <a:lnTo>
                      <a:pt x="25" y="12"/>
                    </a:lnTo>
                    <a:lnTo>
                      <a:pt x="29" y="8"/>
                    </a:lnTo>
                    <a:lnTo>
                      <a:pt x="35" y="5"/>
                    </a:lnTo>
                    <a:lnTo>
                      <a:pt x="40" y="3"/>
                    </a:lnTo>
                    <a:lnTo>
                      <a:pt x="46" y="1"/>
                    </a:lnTo>
                    <a:lnTo>
                      <a:pt x="52" y="0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39" name="Freeform 888"/>
              <p:cNvSpPr>
                <a:spLocks/>
              </p:cNvSpPr>
              <p:nvPr/>
            </p:nvSpPr>
            <p:spPr bwMode="auto">
              <a:xfrm>
                <a:off x="2634" y="1894"/>
                <a:ext cx="114" cy="159"/>
              </a:xfrm>
              <a:custGeom>
                <a:avLst/>
                <a:gdLst>
                  <a:gd name="T0" fmla="*/ 64 w 114"/>
                  <a:gd name="T1" fmla="*/ 0 h 159"/>
                  <a:gd name="T2" fmla="*/ 74 w 114"/>
                  <a:gd name="T3" fmla="*/ 3 h 159"/>
                  <a:gd name="T4" fmla="*/ 84 w 114"/>
                  <a:gd name="T5" fmla="*/ 9 h 159"/>
                  <a:gd name="T6" fmla="*/ 93 w 114"/>
                  <a:gd name="T7" fmla="*/ 15 h 159"/>
                  <a:gd name="T8" fmla="*/ 101 w 114"/>
                  <a:gd name="T9" fmla="*/ 23 h 159"/>
                  <a:gd name="T10" fmla="*/ 107 w 114"/>
                  <a:gd name="T11" fmla="*/ 34 h 159"/>
                  <a:gd name="T12" fmla="*/ 112 w 114"/>
                  <a:gd name="T13" fmla="*/ 46 h 159"/>
                  <a:gd name="T14" fmla="*/ 114 w 114"/>
                  <a:gd name="T15" fmla="*/ 58 h 159"/>
                  <a:gd name="T16" fmla="*/ 114 w 114"/>
                  <a:gd name="T17" fmla="*/ 71 h 159"/>
                  <a:gd name="T18" fmla="*/ 111 w 114"/>
                  <a:gd name="T19" fmla="*/ 82 h 159"/>
                  <a:gd name="T20" fmla="*/ 105 w 114"/>
                  <a:gd name="T21" fmla="*/ 94 h 159"/>
                  <a:gd name="T22" fmla="*/ 99 w 114"/>
                  <a:gd name="T23" fmla="*/ 104 h 159"/>
                  <a:gd name="T24" fmla="*/ 92 w 114"/>
                  <a:gd name="T25" fmla="*/ 110 h 159"/>
                  <a:gd name="T26" fmla="*/ 86 w 114"/>
                  <a:gd name="T27" fmla="*/ 119 h 159"/>
                  <a:gd name="T28" fmla="*/ 80 w 114"/>
                  <a:gd name="T29" fmla="*/ 130 h 159"/>
                  <a:gd name="T30" fmla="*/ 75 w 114"/>
                  <a:gd name="T31" fmla="*/ 147 h 159"/>
                  <a:gd name="T32" fmla="*/ 39 w 114"/>
                  <a:gd name="T33" fmla="*/ 159 h 159"/>
                  <a:gd name="T34" fmla="*/ 37 w 114"/>
                  <a:gd name="T35" fmla="*/ 138 h 159"/>
                  <a:gd name="T36" fmla="*/ 31 w 114"/>
                  <a:gd name="T37" fmla="*/ 124 h 159"/>
                  <a:gd name="T38" fmla="*/ 25 w 114"/>
                  <a:gd name="T39" fmla="*/ 114 h 159"/>
                  <a:gd name="T40" fmla="*/ 19 w 114"/>
                  <a:gd name="T41" fmla="*/ 108 h 159"/>
                  <a:gd name="T42" fmla="*/ 12 w 114"/>
                  <a:gd name="T43" fmla="*/ 98 h 159"/>
                  <a:gd name="T44" fmla="*/ 6 w 114"/>
                  <a:gd name="T45" fmla="*/ 89 h 159"/>
                  <a:gd name="T46" fmla="*/ 2 w 114"/>
                  <a:gd name="T47" fmla="*/ 77 h 159"/>
                  <a:gd name="T48" fmla="*/ 0 w 114"/>
                  <a:gd name="T49" fmla="*/ 64 h 159"/>
                  <a:gd name="T50" fmla="*/ 2 w 114"/>
                  <a:gd name="T51" fmla="*/ 52 h 159"/>
                  <a:gd name="T52" fmla="*/ 5 w 114"/>
                  <a:gd name="T53" fmla="*/ 41 h 159"/>
                  <a:gd name="T54" fmla="*/ 9 w 114"/>
                  <a:gd name="T55" fmla="*/ 29 h 159"/>
                  <a:gd name="T56" fmla="*/ 17 w 114"/>
                  <a:gd name="T57" fmla="*/ 19 h 159"/>
                  <a:gd name="T58" fmla="*/ 24 w 114"/>
                  <a:gd name="T59" fmla="*/ 12 h 159"/>
                  <a:gd name="T60" fmla="*/ 34 w 114"/>
                  <a:gd name="T61" fmla="*/ 5 h 159"/>
                  <a:gd name="T62" fmla="*/ 45 w 114"/>
                  <a:gd name="T63" fmla="*/ 1 h 159"/>
                  <a:gd name="T64" fmla="*/ 57 w 114"/>
                  <a:gd name="T65" fmla="*/ 0 h 15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4"/>
                  <a:gd name="T100" fmla="*/ 0 h 159"/>
                  <a:gd name="T101" fmla="*/ 114 w 114"/>
                  <a:gd name="T102" fmla="*/ 159 h 15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4" h="159">
                    <a:moveTo>
                      <a:pt x="57" y="0"/>
                    </a:moveTo>
                    <a:lnTo>
                      <a:pt x="64" y="0"/>
                    </a:lnTo>
                    <a:lnTo>
                      <a:pt x="69" y="1"/>
                    </a:lnTo>
                    <a:lnTo>
                      <a:pt x="74" y="3"/>
                    </a:lnTo>
                    <a:lnTo>
                      <a:pt x="80" y="5"/>
                    </a:lnTo>
                    <a:lnTo>
                      <a:pt x="84" y="9"/>
                    </a:lnTo>
                    <a:lnTo>
                      <a:pt x="89" y="12"/>
                    </a:lnTo>
                    <a:lnTo>
                      <a:pt x="93" y="15"/>
                    </a:lnTo>
                    <a:lnTo>
                      <a:pt x="97" y="19"/>
                    </a:lnTo>
                    <a:lnTo>
                      <a:pt x="101" y="23"/>
                    </a:lnTo>
                    <a:lnTo>
                      <a:pt x="104" y="29"/>
                    </a:lnTo>
                    <a:lnTo>
                      <a:pt x="107" y="34"/>
                    </a:lnTo>
                    <a:lnTo>
                      <a:pt x="109" y="41"/>
                    </a:lnTo>
                    <a:lnTo>
                      <a:pt x="112" y="46"/>
                    </a:lnTo>
                    <a:lnTo>
                      <a:pt x="113" y="52"/>
                    </a:lnTo>
                    <a:lnTo>
                      <a:pt x="114" y="58"/>
                    </a:lnTo>
                    <a:lnTo>
                      <a:pt x="114" y="64"/>
                    </a:lnTo>
                    <a:lnTo>
                      <a:pt x="114" y="71"/>
                    </a:lnTo>
                    <a:lnTo>
                      <a:pt x="113" y="77"/>
                    </a:lnTo>
                    <a:lnTo>
                      <a:pt x="111" y="82"/>
                    </a:lnTo>
                    <a:lnTo>
                      <a:pt x="108" y="89"/>
                    </a:lnTo>
                    <a:lnTo>
                      <a:pt x="105" y="94"/>
                    </a:lnTo>
                    <a:lnTo>
                      <a:pt x="102" y="98"/>
                    </a:lnTo>
                    <a:lnTo>
                      <a:pt x="99" y="104"/>
                    </a:lnTo>
                    <a:lnTo>
                      <a:pt x="96" y="108"/>
                    </a:lnTo>
                    <a:lnTo>
                      <a:pt x="92" y="110"/>
                    </a:lnTo>
                    <a:lnTo>
                      <a:pt x="89" y="114"/>
                    </a:lnTo>
                    <a:lnTo>
                      <a:pt x="86" y="119"/>
                    </a:lnTo>
                    <a:lnTo>
                      <a:pt x="83" y="124"/>
                    </a:lnTo>
                    <a:lnTo>
                      <a:pt x="80" y="130"/>
                    </a:lnTo>
                    <a:lnTo>
                      <a:pt x="77" y="138"/>
                    </a:lnTo>
                    <a:lnTo>
                      <a:pt x="75" y="147"/>
                    </a:lnTo>
                    <a:lnTo>
                      <a:pt x="75" y="159"/>
                    </a:lnTo>
                    <a:lnTo>
                      <a:pt x="39" y="159"/>
                    </a:lnTo>
                    <a:lnTo>
                      <a:pt x="39" y="147"/>
                    </a:lnTo>
                    <a:lnTo>
                      <a:pt x="37" y="138"/>
                    </a:lnTo>
                    <a:lnTo>
                      <a:pt x="35" y="130"/>
                    </a:lnTo>
                    <a:lnTo>
                      <a:pt x="31" y="124"/>
                    </a:lnTo>
                    <a:lnTo>
                      <a:pt x="28" y="119"/>
                    </a:lnTo>
                    <a:lnTo>
                      <a:pt x="25" y="114"/>
                    </a:lnTo>
                    <a:lnTo>
                      <a:pt x="22" y="110"/>
                    </a:lnTo>
                    <a:lnTo>
                      <a:pt x="19" y="108"/>
                    </a:lnTo>
                    <a:lnTo>
                      <a:pt x="15" y="104"/>
                    </a:lnTo>
                    <a:lnTo>
                      <a:pt x="12" y="98"/>
                    </a:lnTo>
                    <a:lnTo>
                      <a:pt x="9" y="94"/>
                    </a:lnTo>
                    <a:lnTo>
                      <a:pt x="6" y="89"/>
                    </a:lnTo>
                    <a:lnTo>
                      <a:pt x="4" y="82"/>
                    </a:lnTo>
                    <a:lnTo>
                      <a:pt x="2" y="77"/>
                    </a:lnTo>
                    <a:lnTo>
                      <a:pt x="0" y="71"/>
                    </a:lnTo>
                    <a:lnTo>
                      <a:pt x="0" y="64"/>
                    </a:lnTo>
                    <a:lnTo>
                      <a:pt x="0" y="58"/>
                    </a:lnTo>
                    <a:lnTo>
                      <a:pt x="2" y="52"/>
                    </a:lnTo>
                    <a:lnTo>
                      <a:pt x="3" y="46"/>
                    </a:lnTo>
                    <a:lnTo>
                      <a:pt x="5" y="41"/>
                    </a:lnTo>
                    <a:lnTo>
                      <a:pt x="7" y="34"/>
                    </a:lnTo>
                    <a:lnTo>
                      <a:pt x="9" y="29"/>
                    </a:lnTo>
                    <a:lnTo>
                      <a:pt x="12" y="23"/>
                    </a:lnTo>
                    <a:lnTo>
                      <a:pt x="17" y="19"/>
                    </a:lnTo>
                    <a:lnTo>
                      <a:pt x="20" y="15"/>
                    </a:lnTo>
                    <a:lnTo>
                      <a:pt x="24" y="12"/>
                    </a:lnTo>
                    <a:lnTo>
                      <a:pt x="29" y="9"/>
                    </a:lnTo>
                    <a:lnTo>
                      <a:pt x="34" y="5"/>
                    </a:lnTo>
                    <a:lnTo>
                      <a:pt x="39" y="3"/>
                    </a:lnTo>
                    <a:lnTo>
                      <a:pt x="45" y="1"/>
                    </a:lnTo>
                    <a:lnTo>
                      <a:pt x="51" y="0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40" name="Freeform 889"/>
              <p:cNvSpPr>
                <a:spLocks/>
              </p:cNvSpPr>
              <p:nvPr/>
            </p:nvSpPr>
            <p:spPr bwMode="auto">
              <a:xfrm>
                <a:off x="2636" y="1895"/>
                <a:ext cx="110" cy="158"/>
              </a:xfrm>
              <a:custGeom>
                <a:avLst/>
                <a:gdLst>
                  <a:gd name="T0" fmla="*/ 60 w 110"/>
                  <a:gd name="T1" fmla="*/ 0 h 158"/>
                  <a:gd name="T2" fmla="*/ 71 w 110"/>
                  <a:gd name="T3" fmla="*/ 3 h 158"/>
                  <a:gd name="T4" fmla="*/ 81 w 110"/>
                  <a:gd name="T5" fmla="*/ 9 h 158"/>
                  <a:gd name="T6" fmla="*/ 90 w 110"/>
                  <a:gd name="T7" fmla="*/ 15 h 158"/>
                  <a:gd name="T8" fmla="*/ 97 w 110"/>
                  <a:gd name="T9" fmla="*/ 24 h 158"/>
                  <a:gd name="T10" fmla="*/ 103 w 110"/>
                  <a:gd name="T11" fmla="*/ 34 h 158"/>
                  <a:gd name="T12" fmla="*/ 107 w 110"/>
                  <a:gd name="T13" fmla="*/ 46 h 158"/>
                  <a:gd name="T14" fmla="*/ 110 w 110"/>
                  <a:gd name="T15" fmla="*/ 58 h 158"/>
                  <a:gd name="T16" fmla="*/ 110 w 110"/>
                  <a:gd name="T17" fmla="*/ 71 h 158"/>
                  <a:gd name="T18" fmla="*/ 106 w 110"/>
                  <a:gd name="T19" fmla="*/ 82 h 158"/>
                  <a:gd name="T20" fmla="*/ 101 w 110"/>
                  <a:gd name="T21" fmla="*/ 93 h 158"/>
                  <a:gd name="T22" fmla="*/ 95 w 110"/>
                  <a:gd name="T23" fmla="*/ 104 h 158"/>
                  <a:gd name="T24" fmla="*/ 89 w 110"/>
                  <a:gd name="T25" fmla="*/ 110 h 158"/>
                  <a:gd name="T26" fmla="*/ 83 w 110"/>
                  <a:gd name="T27" fmla="*/ 118 h 158"/>
                  <a:gd name="T28" fmla="*/ 76 w 110"/>
                  <a:gd name="T29" fmla="*/ 129 h 158"/>
                  <a:gd name="T30" fmla="*/ 72 w 110"/>
                  <a:gd name="T31" fmla="*/ 147 h 158"/>
                  <a:gd name="T32" fmla="*/ 37 w 110"/>
                  <a:gd name="T33" fmla="*/ 158 h 158"/>
                  <a:gd name="T34" fmla="*/ 35 w 110"/>
                  <a:gd name="T35" fmla="*/ 138 h 158"/>
                  <a:gd name="T36" fmla="*/ 29 w 110"/>
                  <a:gd name="T37" fmla="*/ 123 h 158"/>
                  <a:gd name="T38" fmla="*/ 23 w 110"/>
                  <a:gd name="T39" fmla="*/ 113 h 158"/>
                  <a:gd name="T40" fmla="*/ 18 w 110"/>
                  <a:gd name="T41" fmla="*/ 107 h 158"/>
                  <a:gd name="T42" fmla="*/ 11 w 110"/>
                  <a:gd name="T43" fmla="*/ 98 h 158"/>
                  <a:gd name="T44" fmla="*/ 5 w 110"/>
                  <a:gd name="T45" fmla="*/ 88 h 158"/>
                  <a:gd name="T46" fmla="*/ 1 w 110"/>
                  <a:gd name="T47" fmla="*/ 76 h 158"/>
                  <a:gd name="T48" fmla="*/ 0 w 110"/>
                  <a:gd name="T49" fmla="*/ 64 h 158"/>
                  <a:gd name="T50" fmla="*/ 1 w 110"/>
                  <a:gd name="T51" fmla="*/ 52 h 158"/>
                  <a:gd name="T52" fmla="*/ 4 w 110"/>
                  <a:gd name="T53" fmla="*/ 40 h 158"/>
                  <a:gd name="T54" fmla="*/ 8 w 110"/>
                  <a:gd name="T55" fmla="*/ 29 h 158"/>
                  <a:gd name="T56" fmla="*/ 15 w 110"/>
                  <a:gd name="T57" fmla="*/ 19 h 158"/>
                  <a:gd name="T58" fmla="*/ 22 w 110"/>
                  <a:gd name="T59" fmla="*/ 12 h 158"/>
                  <a:gd name="T60" fmla="*/ 32 w 110"/>
                  <a:gd name="T61" fmla="*/ 5 h 158"/>
                  <a:gd name="T62" fmla="*/ 42 w 110"/>
                  <a:gd name="T63" fmla="*/ 1 h 158"/>
                  <a:gd name="T64" fmla="*/ 55 w 110"/>
                  <a:gd name="T65" fmla="*/ 0 h 15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0"/>
                  <a:gd name="T100" fmla="*/ 0 h 158"/>
                  <a:gd name="T101" fmla="*/ 110 w 110"/>
                  <a:gd name="T102" fmla="*/ 158 h 158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0" h="158">
                    <a:moveTo>
                      <a:pt x="55" y="0"/>
                    </a:moveTo>
                    <a:lnTo>
                      <a:pt x="60" y="0"/>
                    </a:lnTo>
                    <a:lnTo>
                      <a:pt x="66" y="1"/>
                    </a:lnTo>
                    <a:lnTo>
                      <a:pt x="71" y="3"/>
                    </a:lnTo>
                    <a:lnTo>
                      <a:pt x="76" y="5"/>
                    </a:lnTo>
                    <a:lnTo>
                      <a:pt x="81" y="9"/>
                    </a:lnTo>
                    <a:lnTo>
                      <a:pt x="86" y="12"/>
                    </a:lnTo>
                    <a:lnTo>
                      <a:pt x="90" y="15"/>
                    </a:lnTo>
                    <a:lnTo>
                      <a:pt x="94" y="19"/>
                    </a:lnTo>
                    <a:lnTo>
                      <a:pt x="97" y="24"/>
                    </a:lnTo>
                    <a:lnTo>
                      <a:pt x="100" y="29"/>
                    </a:lnTo>
                    <a:lnTo>
                      <a:pt x="103" y="34"/>
                    </a:lnTo>
                    <a:lnTo>
                      <a:pt x="105" y="40"/>
                    </a:lnTo>
                    <a:lnTo>
                      <a:pt x="107" y="46"/>
                    </a:lnTo>
                    <a:lnTo>
                      <a:pt x="109" y="52"/>
                    </a:lnTo>
                    <a:lnTo>
                      <a:pt x="110" y="58"/>
                    </a:lnTo>
                    <a:lnTo>
                      <a:pt x="110" y="64"/>
                    </a:lnTo>
                    <a:lnTo>
                      <a:pt x="110" y="71"/>
                    </a:lnTo>
                    <a:lnTo>
                      <a:pt x="107" y="76"/>
                    </a:lnTo>
                    <a:lnTo>
                      <a:pt x="106" y="82"/>
                    </a:lnTo>
                    <a:lnTo>
                      <a:pt x="103" y="88"/>
                    </a:lnTo>
                    <a:lnTo>
                      <a:pt x="101" y="93"/>
                    </a:lnTo>
                    <a:lnTo>
                      <a:pt x="98" y="98"/>
                    </a:lnTo>
                    <a:lnTo>
                      <a:pt x="95" y="104"/>
                    </a:lnTo>
                    <a:lnTo>
                      <a:pt x="91" y="107"/>
                    </a:lnTo>
                    <a:lnTo>
                      <a:pt x="89" y="110"/>
                    </a:lnTo>
                    <a:lnTo>
                      <a:pt x="86" y="113"/>
                    </a:lnTo>
                    <a:lnTo>
                      <a:pt x="83" y="118"/>
                    </a:lnTo>
                    <a:lnTo>
                      <a:pt x="80" y="123"/>
                    </a:lnTo>
                    <a:lnTo>
                      <a:pt x="76" y="129"/>
                    </a:lnTo>
                    <a:lnTo>
                      <a:pt x="74" y="138"/>
                    </a:lnTo>
                    <a:lnTo>
                      <a:pt x="72" y="147"/>
                    </a:lnTo>
                    <a:lnTo>
                      <a:pt x="71" y="158"/>
                    </a:lnTo>
                    <a:lnTo>
                      <a:pt x="37" y="158"/>
                    </a:lnTo>
                    <a:lnTo>
                      <a:pt x="37" y="147"/>
                    </a:lnTo>
                    <a:lnTo>
                      <a:pt x="35" y="138"/>
                    </a:lnTo>
                    <a:lnTo>
                      <a:pt x="33" y="129"/>
                    </a:lnTo>
                    <a:lnTo>
                      <a:pt x="29" y="123"/>
                    </a:lnTo>
                    <a:lnTo>
                      <a:pt x="26" y="118"/>
                    </a:lnTo>
                    <a:lnTo>
                      <a:pt x="23" y="113"/>
                    </a:lnTo>
                    <a:lnTo>
                      <a:pt x="20" y="110"/>
                    </a:lnTo>
                    <a:lnTo>
                      <a:pt x="18" y="107"/>
                    </a:lnTo>
                    <a:lnTo>
                      <a:pt x="15" y="104"/>
                    </a:lnTo>
                    <a:lnTo>
                      <a:pt x="11" y="98"/>
                    </a:lnTo>
                    <a:lnTo>
                      <a:pt x="8" y="93"/>
                    </a:lnTo>
                    <a:lnTo>
                      <a:pt x="5" y="88"/>
                    </a:lnTo>
                    <a:lnTo>
                      <a:pt x="3" y="82"/>
                    </a:lnTo>
                    <a:lnTo>
                      <a:pt x="1" y="76"/>
                    </a:lnTo>
                    <a:lnTo>
                      <a:pt x="0" y="71"/>
                    </a:lnTo>
                    <a:lnTo>
                      <a:pt x="0" y="64"/>
                    </a:lnTo>
                    <a:lnTo>
                      <a:pt x="0" y="58"/>
                    </a:lnTo>
                    <a:lnTo>
                      <a:pt x="1" y="52"/>
                    </a:lnTo>
                    <a:lnTo>
                      <a:pt x="2" y="46"/>
                    </a:lnTo>
                    <a:lnTo>
                      <a:pt x="4" y="40"/>
                    </a:lnTo>
                    <a:lnTo>
                      <a:pt x="6" y="34"/>
                    </a:lnTo>
                    <a:lnTo>
                      <a:pt x="8" y="29"/>
                    </a:lnTo>
                    <a:lnTo>
                      <a:pt x="11" y="24"/>
                    </a:lnTo>
                    <a:lnTo>
                      <a:pt x="15" y="19"/>
                    </a:lnTo>
                    <a:lnTo>
                      <a:pt x="18" y="15"/>
                    </a:lnTo>
                    <a:lnTo>
                      <a:pt x="22" y="12"/>
                    </a:lnTo>
                    <a:lnTo>
                      <a:pt x="27" y="9"/>
                    </a:lnTo>
                    <a:lnTo>
                      <a:pt x="32" y="5"/>
                    </a:lnTo>
                    <a:lnTo>
                      <a:pt x="37" y="3"/>
                    </a:lnTo>
                    <a:lnTo>
                      <a:pt x="42" y="1"/>
                    </a:lnTo>
                    <a:lnTo>
                      <a:pt x="49" y="0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41" name="Freeform 890"/>
              <p:cNvSpPr>
                <a:spLocks/>
              </p:cNvSpPr>
              <p:nvPr/>
            </p:nvSpPr>
            <p:spPr bwMode="auto">
              <a:xfrm>
                <a:off x="2638" y="1896"/>
                <a:ext cx="107" cy="157"/>
              </a:xfrm>
              <a:custGeom>
                <a:avLst/>
                <a:gdLst>
                  <a:gd name="T0" fmla="*/ 70 w 107"/>
                  <a:gd name="T1" fmla="*/ 146 h 157"/>
                  <a:gd name="T2" fmla="*/ 74 w 107"/>
                  <a:gd name="T3" fmla="*/ 128 h 157"/>
                  <a:gd name="T4" fmla="*/ 80 w 107"/>
                  <a:gd name="T5" fmla="*/ 118 h 157"/>
                  <a:gd name="T6" fmla="*/ 86 w 107"/>
                  <a:gd name="T7" fmla="*/ 109 h 157"/>
                  <a:gd name="T8" fmla="*/ 92 w 107"/>
                  <a:gd name="T9" fmla="*/ 103 h 157"/>
                  <a:gd name="T10" fmla="*/ 98 w 107"/>
                  <a:gd name="T11" fmla="*/ 93 h 157"/>
                  <a:gd name="T12" fmla="*/ 103 w 107"/>
                  <a:gd name="T13" fmla="*/ 82 h 157"/>
                  <a:gd name="T14" fmla="*/ 107 w 107"/>
                  <a:gd name="T15" fmla="*/ 71 h 157"/>
                  <a:gd name="T16" fmla="*/ 107 w 107"/>
                  <a:gd name="T17" fmla="*/ 58 h 157"/>
                  <a:gd name="T18" fmla="*/ 104 w 107"/>
                  <a:gd name="T19" fmla="*/ 46 h 157"/>
                  <a:gd name="T20" fmla="*/ 100 w 107"/>
                  <a:gd name="T21" fmla="*/ 34 h 157"/>
                  <a:gd name="T22" fmla="*/ 95 w 107"/>
                  <a:gd name="T23" fmla="*/ 25 h 157"/>
                  <a:gd name="T24" fmla="*/ 87 w 107"/>
                  <a:gd name="T25" fmla="*/ 15 h 157"/>
                  <a:gd name="T26" fmla="*/ 79 w 107"/>
                  <a:gd name="T27" fmla="*/ 9 h 157"/>
                  <a:gd name="T28" fmla="*/ 69 w 107"/>
                  <a:gd name="T29" fmla="*/ 3 h 157"/>
                  <a:gd name="T30" fmla="*/ 58 w 107"/>
                  <a:gd name="T31" fmla="*/ 0 h 157"/>
                  <a:gd name="T32" fmla="*/ 47 w 107"/>
                  <a:gd name="T33" fmla="*/ 0 h 157"/>
                  <a:gd name="T34" fmla="*/ 36 w 107"/>
                  <a:gd name="T35" fmla="*/ 3 h 157"/>
                  <a:gd name="T36" fmla="*/ 26 w 107"/>
                  <a:gd name="T37" fmla="*/ 9 h 157"/>
                  <a:gd name="T38" fmla="*/ 18 w 107"/>
                  <a:gd name="T39" fmla="*/ 15 h 157"/>
                  <a:gd name="T40" fmla="*/ 10 w 107"/>
                  <a:gd name="T41" fmla="*/ 25 h 157"/>
                  <a:gd name="T42" fmla="*/ 6 w 107"/>
                  <a:gd name="T43" fmla="*/ 34 h 157"/>
                  <a:gd name="T44" fmla="*/ 2 w 107"/>
                  <a:gd name="T45" fmla="*/ 46 h 157"/>
                  <a:gd name="T46" fmla="*/ 0 w 107"/>
                  <a:gd name="T47" fmla="*/ 58 h 157"/>
                  <a:gd name="T48" fmla="*/ 0 w 107"/>
                  <a:gd name="T49" fmla="*/ 71 h 157"/>
                  <a:gd name="T50" fmla="*/ 3 w 107"/>
                  <a:gd name="T51" fmla="*/ 82 h 157"/>
                  <a:gd name="T52" fmla="*/ 8 w 107"/>
                  <a:gd name="T53" fmla="*/ 93 h 157"/>
                  <a:gd name="T54" fmla="*/ 15 w 107"/>
                  <a:gd name="T55" fmla="*/ 103 h 157"/>
                  <a:gd name="T56" fmla="*/ 20 w 107"/>
                  <a:gd name="T57" fmla="*/ 109 h 157"/>
                  <a:gd name="T58" fmla="*/ 26 w 107"/>
                  <a:gd name="T59" fmla="*/ 118 h 157"/>
                  <a:gd name="T60" fmla="*/ 32 w 107"/>
                  <a:gd name="T61" fmla="*/ 128 h 157"/>
                  <a:gd name="T62" fmla="*/ 36 w 107"/>
                  <a:gd name="T63" fmla="*/ 146 h 157"/>
                  <a:gd name="T64" fmla="*/ 70 w 107"/>
                  <a:gd name="T65" fmla="*/ 157 h 15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157"/>
                  <a:gd name="T101" fmla="*/ 107 w 107"/>
                  <a:gd name="T102" fmla="*/ 157 h 15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157">
                    <a:moveTo>
                      <a:pt x="70" y="157"/>
                    </a:moveTo>
                    <a:lnTo>
                      <a:pt x="70" y="146"/>
                    </a:lnTo>
                    <a:lnTo>
                      <a:pt x="72" y="137"/>
                    </a:lnTo>
                    <a:lnTo>
                      <a:pt x="74" y="128"/>
                    </a:lnTo>
                    <a:lnTo>
                      <a:pt x="78" y="122"/>
                    </a:lnTo>
                    <a:lnTo>
                      <a:pt x="80" y="118"/>
                    </a:lnTo>
                    <a:lnTo>
                      <a:pt x="83" y="112"/>
                    </a:lnTo>
                    <a:lnTo>
                      <a:pt x="86" y="109"/>
                    </a:lnTo>
                    <a:lnTo>
                      <a:pt x="88" y="107"/>
                    </a:lnTo>
                    <a:lnTo>
                      <a:pt x="92" y="103"/>
                    </a:lnTo>
                    <a:lnTo>
                      <a:pt x="95" y="97"/>
                    </a:lnTo>
                    <a:lnTo>
                      <a:pt x="98" y="93"/>
                    </a:lnTo>
                    <a:lnTo>
                      <a:pt x="100" y="88"/>
                    </a:lnTo>
                    <a:lnTo>
                      <a:pt x="103" y="82"/>
                    </a:lnTo>
                    <a:lnTo>
                      <a:pt x="104" y="77"/>
                    </a:lnTo>
                    <a:lnTo>
                      <a:pt x="107" y="71"/>
                    </a:lnTo>
                    <a:lnTo>
                      <a:pt x="107" y="64"/>
                    </a:lnTo>
                    <a:lnTo>
                      <a:pt x="107" y="58"/>
                    </a:lnTo>
                    <a:lnTo>
                      <a:pt x="105" y="52"/>
                    </a:lnTo>
                    <a:lnTo>
                      <a:pt x="104" y="46"/>
                    </a:lnTo>
                    <a:lnTo>
                      <a:pt x="102" y="40"/>
                    </a:lnTo>
                    <a:lnTo>
                      <a:pt x="100" y="34"/>
                    </a:lnTo>
                    <a:lnTo>
                      <a:pt x="98" y="29"/>
                    </a:lnTo>
                    <a:lnTo>
                      <a:pt x="95" y="25"/>
                    </a:lnTo>
                    <a:lnTo>
                      <a:pt x="91" y="19"/>
                    </a:lnTo>
                    <a:lnTo>
                      <a:pt x="87" y="15"/>
                    </a:lnTo>
                    <a:lnTo>
                      <a:pt x="83" y="12"/>
                    </a:lnTo>
                    <a:lnTo>
                      <a:pt x="79" y="9"/>
                    </a:lnTo>
                    <a:lnTo>
                      <a:pt x="74" y="5"/>
                    </a:lnTo>
                    <a:lnTo>
                      <a:pt x="69" y="3"/>
                    </a:lnTo>
                    <a:lnTo>
                      <a:pt x="64" y="1"/>
                    </a:lnTo>
                    <a:lnTo>
                      <a:pt x="58" y="0"/>
                    </a:lnTo>
                    <a:lnTo>
                      <a:pt x="53" y="0"/>
                    </a:lnTo>
                    <a:lnTo>
                      <a:pt x="47" y="0"/>
                    </a:lnTo>
                    <a:lnTo>
                      <a:pt x="41" y="1"/>
                    </a:lnTo>
                    <a:lnTo>
                      <a:pt x="36" y="3"/>
                    </a:lnTo>
                    <a:lnTo>
                      <a:pt x="31" y="5"/>
                    </a:lnTo>
                    <a:lnTo>
                      <a:pt x="26" y="9"/>
                    </a:lnTo>
                    <a:lnTo>
                      <a:pt x="22" y="12"/>
                    </a:lnTo>
                    <a:lnTo>
                      <a:pt x="18" y="15"/>
                    </a:lnTo>
                    <a:lnTo>
                      <a:pt x="14" y="19"/>
                    </a:lnTo>
                    <a:lnTo>
                      <a:pt x="10" y="25"/>
                    </a:lnTo>
                    <a:lnTo>
                      <a:pt x="8" y="29"/>
                    </a:lnTo>
                    <a:lnTo>
                      <a:pt x="6" y="34"/>
                    </a:lnTo>
                    <a:lnTo>
                      <a:pt x="3" y="40"/>
                    </a:lnTo>
                    <a:lnTo>
                      <a:pt x="2" y="46"/>
                    </a:lnTo>
                    <a:lnTo>
                      <a:pt x="1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0" y="71"/>
                    </a:lnTo>
                    <a:lnTo>
                      <a:pt x="2" y="77"/>
                    </a:lnTo>
                    <a:lnTo>
                      <a:pt x="3" y="82"/>
                    </a:lnTo>
                    <a:lnTo>
                      <a:pt x="6" y="88"/>
                    </a:lnTo>
                    <a:lnTo>
                      <a:pt x="8" y="93"/>
                    </a:lnTo>
                    <a:lnTo>
                      <a:pt x="11" y="97"/>
                    </a:lnTo>
                    <a:lnTo>
                      <a:pt x="15" y="103"/>
                    </a:lnTo>
                    <a:lnTo>
                      <a:pt x="18" y="107"/>
                    </a:lnTo>
                    <a:lnTo>
                      <a:pt x="20" y="109"/>
                    </a:lnTo>
                    <a:lnTo>
                      <a:pt x="23" y="112"/>
                    </a:lnTo>
                    <a:lnTo>
                      <a:pt x="26" y="118"/>
                    </a:lnTo>
                    <a:lnTo>
                      <a:pt x="29" y="122"/>
                    </a:lnTo>
                    <a:lnTo>
                      <a:pt x="32" y="128"/>
                    </a:lnTo>
                    <a:lnTo>
                      <a:pt x="34" y="137"/>
                    </a:lnTo>
                    <a:lnTo>
                      <a:pt x="36" y="146"/>
                    </a:lnTo>
                    <a:lnTo>
                      <a:pt x="36" y="157"/>
                    </a:lnTo>
                    <a:lnTo>
                      <a:pt x="70" y="15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42" name="Freeform 891"/>
              <p:cNvSpPr>
                <a:spLocks/>
              </p:cNvSpPr>
              <p:nvPr/>
            </p:nvSpPr>
            <p:spPr bwMode="auto">
              <a:xfrm>
                <a:off x="2654" y="1913"/>
                <a:ext cx="72" cy="52"/>
              </a:xfrm>
              <a:custGeom>
                <a:avLst/>
                <a:gdLst>
                  <a:gd name="T0" fmla="*/ 61 w 72"/>
                  <a:gd name="T1" fmla="*/ 52 h 52"/>
                  <a:gd name="T2" fmla="*/ 72 w 72"/>
                  <a:gd name="T3" fmla="*/ 19 h 52"/>
                  <a:gd name="T4" fmla="*/ 46 w 72"/>
                  <a:gd name="T5" fmla="*/ 35 h 52"/>
                  <a:gd name="T6" fmla="*/ 35 w 72"/>
                  <a:gd name="T7" fmla="*/ 0 h 52"/>
                  <a:gd name="T8" fmla="*/ 26 w 72"/>
                  <a:gd name="T9" fmla="*/ 35 h 52"/>
                  <a:gd name="T10" fmla="*/ 0 w 72"/>
                  <a:gd name="T11" fmla="*/ 21 h 52"/>
                  <a:gd name="T12" fmla="*/ 10 w 72"/>
                  <a:gd name="T13" fmla="*/ 52 h 52"/>
                  <a:gd name="T14" fmla="*/ 19 w 72"/>
                  <a:gd name="T15" fmla="*/ 52 h 52"/>
                  <a:gd name="T16" fmla="*/ 13 w 72"/>
                  <a:gd name="T17" fmla="*/ 33 h 52"/>
                  <a:gd name="T18" fmla="*/ 27 w 72"/>
                  <a:gd name="T19" fmla="*/ 41 h 52"/>
                  <a:gd name="T20" fmla="*/ 35 w 72"/>
                  <a:gd name="T21" fmla="*/ 23 h 52"/>
                  <a:gd name="T22" fmla="*/ 44 w 72"/>
                  <a:gd name="T23" fmla="*/ 41 h 52"/>
                  <a:gd name="T24" fmla="*/ 58 w 72"/>
                  <a:gd name="T25" fmla="*/ 33 h 52"/>
                  <a:gd name="T26" fmla="*/ 53 w 72"/>
                  <a:gd name="T27" fmla="*/ 52 h 52"/>
                  <a:gd name="T28" fmla="*/ 61 w 72"/>
                  <a:gd name="T29" fmla="*/ 52 h 5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2"/>
                  <a:gd name="T46" fmla="*/ 0 h 52"/>
                  <a:gd name="T47" fmla="*/ 72 w 72"/>
                  <a:gd name="T48" fmla="*/ 52 h 5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2" h="52">
                    <a:moveTo>
                      <a:pt x="61" y="52"/>
                    </a:moveTo>
                    <a:lnTo>
                      <a:pt x="72" y="19"/>
                    </a:lnTo>
                    <a:lnTo>
                      <a:pt x="46" y="35"/>
                    </a:lnTo>
                    <a:lnTo>
                      <a:pt x="35" y="0"/>
                    </a:lnTo>
                    <a:lnTo>
                      <a:pt x="26" y="35"/>
                    </a:lnTo>
                    <a:lnTo>
                      <a:pt x="0" y="21"/>
                    </a:lnTo>
                    <a:lnTo>
                      <a:pt x="10" y="52"/>
                    </a:lnTo>
                    <a:lnTo>
                      <a:pt x="19" y="52"/>
                    </a:lnTo>
                    <a:lnTo>
                      <a:pt x="13" y="33"/>
                    </a:lnTo>
                    <a:lnTo>
                      <a:pt x="27" y="41"/>
                    </a:lnTo>
                    <a:lnTo>
                      <a:pt x="35" y="23"/>
                    </a:lnTo>
                    <a:lnTo>
                      <a:pt x="44" y="41"/>
                    </a:lnTo>
                    <a:lnTo>
                      <a:pt x="58" y="33"/>
                    </a:lnTo>
                    <a:lnTo>
                      <a:pt x="53" y="52"/>
                    </a:lnTo>
                    <a:lnTo>
                      <a:pt x="61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43" name="Freeform 892"/>
              <p:cNvSpPr>
                <a:spLocks/>
              </p:cNvSpPr>
              <p:nvPr/>
            </p:nvSpPr>
            <p:spPr bwMode="auto">
              <a:xfrm>
                <a:off x="2655" y="1914"/>
                <a:ext cx="71" cy="49"/>
              </a:xfrm>
              <a:custGeom>
                <a:avLst/>
                <a:gdLst>
                  <a:gd name="T0" fmla="*/ 35 w 71"/>
                  <a:gd name="T1" fmla="*/ 0 h 49"/>
                  <a:gd name="T2" fmla="*/ 45 w 71"/>
                  <a:gd name="T3" fmla="*/ 34 h 49"/>
                  <a:gd name="T4" fmla="*/ 71 w 71"/>
                  <a:gd name="T5" fmla="*/ 20 h 49"/>
                  <a:gd name="T6" fmla="*/ 61 w 71"/>
                  <a:gd name="T7" fmla="*/ 49 h 49"/>
                  <a:gd name="T8" fmla="*/ 52 w 71"/>
                  <a:gd name="T9" fmla="*/ 49 h 49"/>
                  <a:gd name="T10" fmla="*/ 59 w 71"/>
                  <a:gd name="T11" fmla="*/ 32 h 49"/>
                  <a:gd name="T12" fmla="*/ 44 w 71"/>
                  <a:gd name="T13" fmla="*/ 40 h 49"/>
                  <a:gd name="T14" fmla="*/ 35 w 71"/>
                  <a:gd name="T15" fmla="*/ 22 h 49"/>
                  <a:gd name="T16" fmla="*/ 26 w 71"/>
                  <a:gd name="T17" fmla="*/ 40 h 49"/>
                  <a:gd name="T18" fmla="*/ 12 w 71"/>
                  <a:gd name="T19" fmla="*/ 32 h 49"/>
                  <a:gd name="T20" fmla="*/ 18 w 71"/>
                  <a:gd name="T21" fmla="*/ 49 h 49"/>
                  <a:gd name="T22" fmla="*/ 9 w 71"/>
                  <a:gd name="T23" fmla="*/ 49 h 49"/>
                  <a:gd name="T24" fmla="*/ 0 w 71"/>
                  <a:gd name="T25" fmla="*/ 21 h 49"/>
                  <a:gd name="T26" fmla="*/ 25 w 71"/>
                  <a:gd name="T27" fmla="*/ 34 h 49"/>
                  <a:gd name="T28" fmla="*/ 35 w 71"/>
                  <a:gd name="T29" fmla="*/ 0 h 4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1"/>
                  <a:gd name="T46" fmla="*/ 0 h 49"/>
                  <a:gd name="T47" fmla="*/ 71 w 71"/>
                  <a:gd name="T48" fmla="*/ 49 h 4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1" h="49">
                    <a:moveTo>
                      <a:pt x="35" y="0"/>
                    </a:moveTo>
                    <a:lnTo>
                      <a:pt x="45" y="34"/>
                    </a:lnTo>
                    <a:lnTo>
                      <a:pt x="71" y="20"/>
                    </a:lnTo>
                    <a:lnTo>
                      <a:pt x="61" y="49"/>
                    </a:lnTo>
                    <a:lnTo>
                      <a:pt x="52" y="49"/>
                    </a:lnTo>
                    <a:lnTo>
                      <a:pt x="59" y="32"/>
                    </a:lnTo>
                    <a:lnTo>
                      <a:pt x="44" y="40"/>
                    </a:lnTo>
                    <a:lnTo>
                      <a:pt x="35" y="22"/>
                    </a:lnTo>
                    <a:lnTo>
                      <a:pt x="26" y="40"/>
                    </a:lnTo>
                    <a:lnTo>
                      <a:pt x="12" y="32"/>
                    </a:lnTo>
                    <a:lnTo>
                      <a:pt x="18" y="49"/>
                    </a:lnTo>
                    <a:lnTo>
                      <a:pt x="9" y="49"/>
                    </a:lnTo>
                    <a:lnTo>
                      <a:pt x="0" y="21"/>
                    </a:lnTo>
                    <a:lnTo>
                      <a:pt x="25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44" name="Freeform 893"/>
              <p:cNvSpPr>
                <a:spLocks/>
              </p:cNvSpPr>
              <p:nvPr/>
            </p:nvSpPr>
            <p:spPr bwMode="auto">
              <a:xfrm>
                <a:off x="2655" y="1916"/>
                <a:ext cx="70" cy="46"/>
              </a:xfrm>
              <a:custGeom>
                <a:avLst/>
                <a:gdLst>
                  <a:gd name="T0" fmla="*/ 35 w 70"/>
                  <a:gd name="T1" fmla="*/ 0 h 46"/>
                  <a:gd name="T2" fmla="*/ 45 w 70"/>
                  <a:gd name="T3" fmla="*/ 34 h 46"/>
                  <a:gd name="T4" fmla="*/ 70 w 70"/>
                  <a:gd name="T5" fmla="*/ 18 h 46"/>
                  <a:gd name="T6" fmla="*/ 61 w 70"/>
                  <a:gd name="T7" fmla="*/ 46 h 46"/>
                  <a:gd name="T8" fmla="*/ 52 w 70"/>
                  <a:gd name="T9" fmla="*/ 46 h 46"/>
                  <a:gd name="T10" fmla="*/ 59 w 70"/>
                  <a:gd name="T11" fmla="*/ 30 h 46"/>
                  <a:gd name="T12" fmla="*/ 44 w 70"/>
                  <a:gd name="T13" fmla="*/ 38 h 46"/>
                  <a:gd name="T14" fmla="*/ 35 w 70"/>
                  <a:gd name="T15" fmla="*/ 20 h 46"/>
                  <a:gd name="T16" fmla="*/ 26 w 70"/>
                  <a:gd name="T17" fmla="*/ 38 h 46"/>
                  <a:gd name="T18" fmla="*/ 10 w 70"/>
                  <a:gd name="T19" fmla="*/ 30 h 46"/>
                  <a:gd name="T20" fmla="*/ 17 w 70"/>
                  <a:gd name="T21" fmla="*/ 46 h 46"/>
                  <a:gd name="T22" fmla="*/ 9 w 70"/>
                  <a:gd name="T23" fmla="*/ 46 h 46"/>
                  <a:gd name="T24" fmla="*/ 0 w 70"/>
                  <a:gd name="T25" fmla="*/ 20 h 46"/>
                  <a:gd name="T26" fmla="*/ 25 w 70"/>
                  <a:gd name="T27" fmla="*/ 34 h 46"/>
                  <a:gd name="T28" fmla="*/ 35 w 70"/>
                  <a:gd name="T29" fmla="*/ 0 h 4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0"/>
                  <a:gd name="T46" fmla="*/ 0 h 46"/>
                  <a:gd name="T47" fmla="*/ 70 w 70"/>
                  <a:gd name="T48" fmla="*/ 46 h 4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0" h="46">
                    <a:moveTo>
                      <a:pt x="35" y="0"/>
                    </a:moveTo>
                    <a:lnTo>
                      <a:pt x="45" y="34"/>
                    </a:lnTo>
                    <a:lnTo>
                      <a:pt x="70" y="18"/>
                    </a:lnTo>
                    <a:lnTo>
                      <a:pt x="61" y="46"/>
                    </a:lnTo>
                    <a:lnTo>
                      <a:pt x="52" y="46"/>
                    </a:lnTo>
                    <a:lnTo>
                      <a:pt x="59" y="30"/>
                    </a:lnTo>
                    <a:lnTo>
                      <a:pt x="44" y="38"/>
                    </a:lnTo>
                    <a:lnTo>
                      <a:pt x="35" y="20"/>
                    </a:lnTo>
                    <a:lnTo>
                      <a:pt x="26" y="38"/>
                    </a:lnTo>
                    <a:lnTo>
                      <a:pt x="10" y="30"/>
                    </a:lnTo>
                    <a:lnTo>
                      <a:pt x="17" y="46"/>
                    </a:lnTo>
                    <a:lnTo>
                      <a:pt x="9" y="46"/>
                    </a:lnTo>
                    <a:lnTo>
                      <a:pt x="0" y="20"/>
                    </a:lnTo>
                    <a:lnTo>
                      <a:pt x="25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E8E8E8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45" name="Freeform 894"/>
              <p:cNvSpPr>
                <a:spLocks/>
              </p:cNvSpPr>
              <p:nvPr/>
            </p:nvSpPr>
            <p:spPr bwMode="auto">
              <a:xfrm>
                <a:off x="2656" y="1917"/>
                <a:ext cx="68" cy="44"/>
              </a:xfrm>
              <a:custGeom>
                <a:avLst/>
                <a:gdLst>
                  <a:gd name="T0" fmla="*/ 33 w 68"/>
                  <a:gd name="T1" fmla="*/ 0 h 44"/>
                  <a:gd name="T2" fmla="*/ 44 w 68"/>
                  <a:gd name="T3" fmla="*/ 33 h 44"/>
                  <a:gd name="T4" fmla="*/ 68 w 68"/>
                  <a:gd name="T5" fmla="*/ 18 h 44"/>
                  <a:gd name="T6" fmla="*/ 59 w 68"/>
                  <a:gd name="T7" fmla="*/ 44 h 44"/>
                  <a:gd name="T8" fmla="*/ 52 w 68"/>
                  <a:gd name="T9" fmla="*/ 44 h 44"/>
                  <a:gd name="T10" fmla="*/ 56 w 68"/>
                  <a:gd name="T11" fmla="*/ 29 h 44"/>
                  <a:gd name="T12" fmla="*/ 42 w 68"/>
                  <a:gd name="T13" fmla="*/ 37 h 44"/>
                  <a:gd name="T14" fmla="*/ 33 w 68"/>
                  <a:gd name="T15" fmla="*/ 19 h 44"/>
                  <a:gd name="T16" fmla="*/ 25 w 68"/>
                  <a:gd name="T17" fmla="*/ 37 h 44"/>
                  <a:gd name="T18" fmla="*/ 9 w 68"/>
                  <a:gd name="T19" fmla="*/ 29 h 44"/>
                  <a:gd name="T20" fmla="*/ 16 w 68"/>
                  <a:gd name="T21" fmla="*/ 44 h 44"/>
                  <a:gd name="T22" fmla="*/ 8 w 68"/>
                  <a:gd name="T23" fmla="*/ 44 h 44"/>
                  <a:gd name="T24" fmla="*/ 0 w 68"/>
                  <a:gd name="T25" fmla="*/ 19 h 44"/>
                  <a:gd name="T26" fmla="*/ 24 w 68"/>
                  <a:gd name="T27" fmla="*/ 33 h 44"/>
                  <a:gd name="T28" fmla="*/ 33 w 68"/>
                  <a:gd name="T29" fmla="*/ 0 h 4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8"/>
                  <a:gd name="T46" fmla="*/ 0 h 44"/>
                  <a:gd name="T47" fmla="*/ 68 w 68"/>
                  <a:gd name="T48" fmla="*/ 44 h 4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8" h="44">
                    <a:moveTo>
                      <a:pt x="33" y="0"/>
                    </a:moveTo>
                    <a:lnTo>
                      <a:pt x="44" y="33"/>
                    </a:lnTo>
                    <a:lnTo>
                      <a:pt x="68" y="18"/>
                    </a:lnTo>
                    <a:lnTo>
                      <a:pt x="59" y="44"/>
                    </a:lnTo>
                    <a:lnTo>
                      <a:pt x="52" y="44"/>
                    </a:lnTo>
                    <a:lnTo>
                      <a:pt x="56" y="29"/>
                    </a:lnTo>
                    <a:lnTo>
                      <a:pt x="42" y="37"/>
                    </a:lnTo>
                    <a:lnTo>
                      <a:pt x="33" y="19"/>
                    </a:lnTo>
                    <a:lnTo>
                      <a:pt x="25" y="37"/>
                    </a:lnTo>
                    <a:lnTo>
                      <a:pt x="9" y="29"/>
                    </a:lnTo>
                    <a:lnTo>
                      <a:pt x="16" y="44"/>
                    </a:lnTo>
                    <a:lnTo>
                      <a:pt x="8" y="44"/>
                    </a:lnTo>
                    <a:lnTo>
                      <a:pt x="0" y="19"/>
                    </a:lnTo>
                    <a:lnTo>
                      <a:pt x="24" y="33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DBDBDB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46" name="Freeform 895"/>
              <p:cNvSpPr>
                <a:spLocks/>
              </p:cNvSpPr>
              <p:nvPr/>
            </p:nvSpPr>
            <p:spPr bwMode="auto">
              <a:xfrm>
                <a:off x="2657" y="1919"/>
                <a:ext cx="66" cy="41"/>
              </a:xfrm>
              <a:custGeom>
                <a:avLst/>
                <a:gdLst>
                  <a:gd name="T0" fmla="*/ 33 w 66"/>
                  <a:gd name="T1" fmla="*/ 0 h 41"/>
                  <a:gd name="T2" fmla="*/ 43 w 66"/>
                  <a:gd name="T3" fmla="*/ 31 h 41"/>
                  <a:gd name="T4" fmla="*/ 66 w 66"/>
                  <a:gd name="T5" fmla="*/ 17 h 41"/>
                  <a:gd name="T6" fmla="*/ 58 w 66"/>
                  <a:gd name="T7" fmla="*/ 41 h 41"/>
                  <a:gd name="T8" fmla="*/ 51 w 66"/>
                  <a:gd name="T9" fmla="*/ 41 h 41"/>
                  <a:gd name="T10" fmla="*/ 55 w 66"/>
                  <a:gd name="T11" fmla="*/ 27 h 41"/>
                  <a:gd name="T12" fmla="*/ 41 w 66"/>
                  <a:gd name="T13" fmla="*/ 35 h 41"/>
                  <a:gd name="T14" fmla="*/ 33 w 66"/>
                  <a:gd name="T15" fmla="*/ 17 h 41"/>
                  <a:gd name="T16" fmla="*/ 24 w 66"/>
                  <a:gd name="T17" fmla="*/ 35 h 41"/>
                  <a:gd name="T18" fmla="*/ 10 w 66"/>
                  <a:gd name="T19" fmla="*/ 27 h 41"/>
                  <a:gd name="T20" fmla="*/ 15 w 66"/>
                  <a:gd name="T21" fmla="*/ 41 h 41"/>
                  <a:gd name="T22" fmla="*/ 7 w 66"/>
                  <a:gd name="T23" fmla="*/ 41 h 41"/>
                  <a:gd name="T24" fmla="*/ 0 w 66"/>
                  <a:gd name="T25" fmla="*/ 18 h 41"/>
                  <a:gd name="T26" fmla="*/ 23 w 66"/>
                  <a:gd name="T27" fmla="*/ 31 h 41"/>
                  <a:gd name="T28" fmla="*/ 33 w 66"/>
                  <a:gd name="T29" fmla="*/ 0 h 4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6"/>
                  <a:gd name="T46" fmla="*/ 0 h 41"/>
                  <a:gd name="T47" fmla="*/ 66 w 66"/>
                  <a:gd name="T48" fmla="*/ 41 h 4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6" h="41">
                    <a:moveTo>
                      <a:pt x="33" y="0"/>
                    </a:moveTo>
                    <a:lnTo>
                      <a:pt x="43" y="31"/>
                    </a:lnTo>
                    <a:lnTo>
                      <a:pt x="66" y="17"/>
                    </a:lnTo>
                    <a:lnTo>
                      <a:pt x="58" y="41"/>
                    </a:lnTo>
                    <a:lnTo>
                      <a:pt x="51" y="41"/>
                    </a:lnTo>
                    <a:lnTo>
                      <a:pt x="55" y="27"/>
                    </a:lnTo>
                    <a:lnTo>
                      <a:pt x="41" y="35"/>
                    </a:lnTo>
                    <a:lnTo>
                      <a:pt x="33" y="17"/>
                    </a:lnTo>
                    <a:lnTo>
                      <a:pt x="24" y="35"/>
                    </a:lnTo>
                    <a:lnTo>
                      <a:pt x="10" y="27"/>
                    </a:lnTo>
                    <a:lnTo>
                      <a:pt x="15" y="41"/>
                    </a:lnTo>
                    <a:lnTo>
                      <a:pt x="7" y="41"/>
                    </a:lnTo>
                    <a:lnTo>
                      <a:pt x="0" y="18"/>
                    </a:lnTo>
                    <a:lnTo>
                      <a:pt x="23" y="31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D1D1D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47" name="Freeform 896"/>
              <p:cNvSpPr>
                <a:spLocks/>
              </p:cNvSpPr>
              <p:nvPr/>
            </p:nvSpPr>
            <p:spPr bwMode="auto">
              <a:xfrm>
                <a:off x="2657" y="1921"/>
                <a:ext cx="65" cy="38"/>
              </a:xfrm>
              <a:custGeom>
                <a:avLst/>
                <a:gdLst>
                  <a:gd name="T0" fmla="*/ 32 w 65"/>
                  <a:gd name="T1" fmla="*/ 0 h 38"/>
                  <a:gd name="T2" fmla="*/ 42 w 65"/>
                  <a:gd name="T3" fmla="*/ 29 h 38"/>
                  <a:gd name="T4" fmla="*/ 65 w 65"/>
                  <a:gd name="T5" fmla="*/ 16 h 38"/>
                  <a:gd name="T6" fmla="*/ 58 w 65"/>
                  <a:gd name="T7" fmla="*/ 38 h 38"/>
                  <a:gd name="T8" fmla="*/ 51 w 65"/>
                  <a:gd name="T9" fmla="*/ 38 h 38"/>
                  <a:gd name="T10" fmla="*/ 55 w 65"/>
                  <a:gd name="T11" fmla="*/ 25 h 38"/>
                  <a:gd name="T12" fmla="*/ 41 w 65"/>
                  <a:gd name="T13" fmla="*/ 33 h 38"/>
                  <a:gd name="T14" fmla="*/ 32 w 65"/>
                  <a:gd name="T15" fmla="*/ 15 h 38"/>
                  <a:gd name="T16" fmla="*/ 24 w 65"/>
                  <a:gd name="T17" fmla="*/ 33 h 38"/>
                  <a:gd name="T18" fmla="*/ 8 w 65"/>
                  <a:gd name="T19" fmla="*/ 25 h 38"/>
                  <a:gd name="T20" fmla="*/ 14 w 65"/>
                  <a:gd name="T21" fmla="*/ 38 h 38"/>
                  <a:gd name="T22" fmla="*/ 6 w 65"/>
                  <a:gd name="T23" fmla="*/ 38 h 38"/>
                  <a:gd name="T24" fmla="*/ 0 w 65"/>
                  <a:gd name="T25" fmla="*/ 17 h 38"/>
                  <a:gd name="T26" fmla="*/ 22 w 65"/>
                  <a:gd name="T27" fmla="*/ 30 h 38"/>
                  <a:gd name="T28" fmla="*/ 32 w 65"/>
                  <a:gd name="T29" fmla="*/ 0 h 3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5"/>
                  <a:gd name="T46" fmla="*/ 0 h 38"/>
                  <a:gd name="T47" fmla="*/ 65 w 65"/>
                  <a:gd name="T48" fmla="*/ 38 h 3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5" h="38">
                    <a:moveTo>
                      <a:pt x="32" y="0"/>
                    </a:moveTo>
                    <a:lnTo>
                      <a:pt x="42" y="29"/>
                    </a:lnTo>
                    <a:lnTo>
                      <a:pt x="65" y="16"/>
                    </a:lnTo>
                    <a:lnTo>
                      <a:pt x="58" y="38"/>
                    </a:lnTo>
                    <a:lnTo>
                      <a:pt x="51" y="38"/>
                    </a:lnTo>
                    <a:lnTo>
                      <a:pt x="55" y="25"/>
                    </a:lnTo>
                    <a:lnTo>
                      <a:pt x="41" y="33"/>
                    </a:lnTo>
                    <a:lnTo>
                      <a:pt x="32" y="15"/>
                    </a:lnTo>
                    <a:lnTo>
                      <a:pt x="24" y="33"/>
                    </a:lnTo>
                    <a:lnTo>
                      <a:pt x="8" y="25"/>
                    </a:lnTo>
                    <a:lnTo>
                      <a:pt x="14" y="38"/>
                    </a:lnTo>
                    <a:lnTo>
                      <a:pt x="6" y="38"/>
                    </a:lnTo>
                    <a:lnTo>
                      <a:pt x="0" y="17"/>
                    </a:lnTo>
                    <a:lnTo>
                      <a:pt x="22" y="30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C4C4C4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48" name="Freeform 897"/>
              <p:cNvSpPr>
                <a:spLocks/>
              </p:cNvSpPr>
              <p:nvPr/>
            </p:nvSpPr>
            <p:spPr bwMode="auto">
              <a:xfrm>
                <a:off x="2658" y="1922"/>
                <a:ext cx="64" cy="36"/>
              </a:xfrm>
              <a:custGeom>
                <a:avLst/>
                <a:gdLst>
                  <a:gd name="T0" fmla="*/ 32 w 64"/>
                  <a:gd name="T1" fmla="*/ 0 h 36"/>
                  <a:gd name="T2" fmla="*/ 42 w 64"/>
                  <a:gd name="T3" fmla="*/ 28 h 36"/>
                  <a:gd name="T4" fmla="*/ 64 w 64"/>
                  <a:gd name="T5" fmla="*/ 16 h 36"/>
                  <a:gd name="T6" fmla="*/ 58 w 64"/>
                  <a:gd name="T7" fmla="*/ 36 h 36"/>
                  <a:gd name="T8" fmla="*/ 51 w 64"/>
                  <a:gd name="T9" fmla="*/ 36 h 36"/>
                  <a:gd name="T10" fmla="*/ 56 w 64"/>
                  <a:gd name="T11" fmla="*/ 24 h 36"/>
                  <a:gd name="T12" fmla="*/ 41 w 64"/>
                  <a:gd name="T13" fmla="*/ 32 h 36"/>
                  <a:gd name="T14" fmla="*/ 32 w 64"/>
                  <a:gd name="T15" fmla="*/ 14 h 36"/>
                  <a:gd name="T16" fmla="*/ 23 w 64"/>
                  <a:gd name="T17" fmla="*/ 32 h 36"/>
                  <a:gd name="T18" fmla="*/ 9 w 64"/>
                  <a:gd name="T19" fmla="*/ 24 h 36"/>
                  <a:gd name="T20" fmla="*/ 13 w 64"/>
                  <a:gd name="T21" fmla="*/ 36 h 36"/>
                  <a:gd name="T22" fmla="*/ 6 w 64"/>
                  <a:gd name="T23" fmla="*/ 36 h 36"/>
                  <a:gd name="T24" fmla="*/ 0 w 64"/>
                  <a:gd name="T25" fmla="*/ 16 h 36"/>
                  <a:gd name="T26" fmla="*/ 22 w 64"/>
                  <a:gd name="T27" fmla="*/ 29 h 36"/>
                  <a:gd name="T28" fmla="*/ 32 w 64"/>
                  <a:gd name="T29" fmla="*/ 0 h 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4"/>
                  <a:gd name="T46" fmla="*/ 0 h 36"/>
                  <a:gd name="T47" fmla="*/ 64 w 64"/>
                  <a:gd name="T48" fmla="*/ 36 h 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4" h="36">
                    <a:moveTo>
                      <a:pt x="32" y="0"/>
                    </a:moveTo>
                    <a:lnTo>
                      <a:pt x="42" y="28"/>
                    </a:lnTo>
                    <a:lnTo>
                      <a:pt x="64" y="16"/>
                    </a:lnTo>
                    <a:lnTo>
                      <a:pt x="58" y="36"/>
                    </a:lnTo>
                    <a:lnTo>
                      <a:pt x="51" y="36"/>
                    </a:lnTo>
                    <a:lnTo>
                      <a:pt x="56" y="24"/>
                    </a:lnTo>
                    <a:lnTo>
                      <a:pt x="41" y="32"/>
                    </a:lnTo>
                    <a:lnTo>
                      <a:pt x="32" y="14"/>
                    </a:lnTo>
                    <a:lnTo>
                      <a:pt x="23" y="32"/>
                    </a:lnTo>
                    <a:lnTo>
                      <a:pt x="9" y="24"/>
                    </a:lnTo>
                    <a:lnTo>
                      <a:pt x="13" y="36"/>
                    </a:lnTo>
                    <a:lnTo>
                      <a:pt x="6" y="36"/>
                    </a:lnTo>
                    <a:lnTo>
                      <a:pt x="0" y="16"/>
                    </a:lnTo>
                    <a:lnTo>
                      <a:pt x="22" y="29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B7B7B7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49" name="Freeform 898"/>
              <p:cNvSpPr>
                <a:spLocks/>
              </p:cNvSpPr>
              <p:nvPr/>
            </p:nvSpPr>
            <p:spPr bwMode="auto">
              <a:xfrm>
                <a:off x="2659" y="1923"/>
                <a:ext cx="62" cy="34"/>
              </a:xfrm>
              <a:custGeom>
                <a:avLst/>
                <a:gdLst>
                  <a:gd name="T0" fmla="*/ 31 w 62"/>
                  <a:gd name="T1" fmla="*/ 0 h 34"/>
                  <a:gd name="T2" fmla="*/ 41 w 62"/>
                  <a:gd name="T3" fmla="*/ 28 h 34"/>
                  <a:gd name="T4" fmla="*/ 62 w 62"/>
                  <a:gd name="T5" fmla="*/ 15 h 34"/>
                  <a:gd name="T6" fmla="*/ 56 w 62"/>
                  <a:gd name="T7" fmla="*/ 34 h 34"/>
                  <a:gd name="T8" fmla="*/ 50 w 62"/>
                  <a:gd name="T9" fmla="*/ 34 h 34"/>
                  <a:gd name="T10" fmla="*/ 55 w 62"/>
                  <a:gd name="T11" fmla="*/ 23 h 34"/>
                  <a:gd name="T12" fmla="*/ 40 w 62"/>
                  <a:gd name="T13" fmla="*/ 31 h 34"/>
                  <a:gd name="T14" fmla="*/ 31 w 62"/>
                  <a:gd name="T15" fmla="*/ 13 h 34"/>
                  <a:gd name="T16" fmla="*/ 22 w 62"/>
                  <a:gd name="T17" fmla="*/ 31 h 34"/>
                  <a:gd name="T18" fmla="*/ 8 w 62"/>
                  <a:gd name="T19" fmla="*/ 23 h 34"/>
                  <a:gd name="T20" fmla="*/ 12 w 62"/>
                  <a:gd name="T21" fmla="*/ 34 h 34"/>
                  <a:gd name="T22" fmla="*/ 6 w 62"/>
                  <a:gd name="T23" fmla="*/ 34 h 34"/>
                  <a:gd name="T24" fmla="*/ 0 w 62"/>
                  <a:gd name="T25" fmla="*/ 16 h 34"/>
                  <a:gd name="T26" fmla="*/ 21 w 62"/>
                  <a:gd name="T27" fmla="*/ 28 h 34"/>
                  <a:gd name="T28" fmla="*/ 31 w 62"/>
                  <a:gd name="T29" fmla="*/ 0 h 3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2"/>
                  <a:gd name="T46" fmla="*/ 0 h 34"/>
                  <a:gd name="T47" fmla="*/ 62 w 62"/>
                  <a:gd name="T48" fmla="*/ 34 h 3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2" h="34">
                    <a:moveTo>
                      <a:pt x="31" y="0"/>
                    </a:moveTo>
                    <a:lnTo>
                      <a:pt x="41" y="28"/>
                    </a:lnTo>
                    <a:lnTo>
                      <a:pt x="62" y="15"/>
                    </a:lnTo>
                    <a:lnTo>
                      <a:pt x="56" y="34"/>
                    </a:lnTo>
                    <a:lnTo>
                      <a:pt x="50" y="34"/>
                    </a:lnTo>
                    <a:lnTo>
                      <a:pt x="55" y="23"/>
                    </a:lnTo>
                    <a:lnTo>
                      <a:pt x="40" y="31"/>
                    </a:lnTo>
                    <a:lnTo>
                      <a:pt x="31" y="13"/>
                    </a:lnTo>
                    <a:lnTo>
                      <a:pt x="22" y="31"/>
                    </a:lnTo>
                    <a:lnTo>
                      <a:pt x="8" y="23"/>
                    </a:lnTo>
                    <a:lnTo>
                      <a:pt x="12" y="34"/>
                    </a:lnTo>
                    <a:lnTo>
                      <a:pt x="6" y="34"/>
                    </a:lnTo>
                    <a:lnTo>
                      <a:pt x="0" y="16"/>
                    </a:lnTo>
                    <a:lnTo>
                      <a:pt x="21" y="28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AAAAAA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50" name="Freeform 899"/>
              <p:cNvSpPr>
                <a:spLocks/>
              </p:cNvSpPr>
              <p:nvPr/>
            </p:nvSpPr>
            <p:spPr bwMode="auto">
              <a:xfrm>
                <a:off x="2659" y="1925"/>
                <a:ext cx="61" cy="32"/>
              </a:xfrm>
              <a:custGeom>
                <a:avLst/>
                <a:gdLst>
                  <a:gd name="T0" fmla="*/ 30 w 61"/>
                  <a:gd name="T1" fmla="*/ 0 h 32"/>
                  <a:gd name="T2" fmla="*/ 40 w 61"/>
                  <a:gd name="T3" fmla="*/ 27 h 32"/>
                  <a:gd name="T4" fmla="*/ 61 w 61"/>
                  <a:gd name="T5" fmla="*/ 15 h 32"/>
                  <a:gd name="T6" fmla="*/ 56 w 61"/>
                  <a:gd name="T7" fmla="*/ 32 h 32"/>
                  <a:gd name="T8" fmla="*/ 50 w 61"/>
                  <a:gd name="T9" fmla="*/ 32 h 32"/>
                  <a:gd name="T10" fmla="*/ 53 w 61"/>
                  <a:gd name="T11" fmla="*/ 21 h 32"/>
                  <a:gd name="T12" fmla="*/ 39 w 61"/>
                  <a:gd name="T13" fmla="*/ 29 h 32"/>
                  <a:gd name="T14" fmla="*/ 30 w 61"/>
                  <a:gd name="T15" fmla="*/ 12 h 32"/>
                  <a:gd name="T16" fmla="*/ 21 w 61"/>
                  <a:gd name="T17" fmla="*/ 29 h 32"/>
                  <a:gd name="T18" fmla="*/ 6 w 61"/>
                  <a:gd name="T19" fmla="*/ 21 h 32"/>
                  <a:gd name="T20" fmla="*/ 10 w 61"/>
                  <a:gd name="T21" fmla="*/ 32 h 32"/>
                  <a:gd name="T22" fmla="*/ 5 w 61"/>
                  <a:gd name="T23" fmla="*/ 32 h 32"/>
                  <a:gd name="T24" fmla="*/ 0 w 61"/>
                  <a:gd name="T25" fmla="*/ 15 h 32"/>
                  <a:gd name="T26" fmla="*/ 20 w 61"/>
                  <a:gd name="T27" fmla="*/ 27 h 32"/>
                  <a:gd name="T28" fmla="*/ 30 w 61"/>
                  <a:gd name="T29" fmla="*/ 0 h 3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1"/>
                  <a:gd name="T46" fmla="*/ 0 h 32"/>
                  <a:gd name="T47" fmla="*/ 61 w 61"/>
                  <a:gd name="T48" fmla="*/ 32 h 3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1" h="32">
                    <a:moveTo>
                      <a:pt x="30" y="0"/>
                    </a:moveTo>
                    <a:lnTo>
                      <a:pt x="40" y="27"/>
                    </a:lnTo>
                    <a:lnTo>
                      <a:pt x="61" y="15"/>
                    </a:lnTo>
                    <a:lnTo>
                      <a:pt x="56" y="32"/>
                    </a:lnTo>
                    <a:lnTo>
                      <a:pt x="50" y="32"/>
                    </a:lnTo>
                    <a:lnTo>
                      <a:pt x="53" y="21"/>
                    </a:lnTo>
                    <a:lnTo>
                      <a:pt x="39" y="29"/>
                    </a:lnTo>
                    <a:lnTo>
                      <a:pt x="30" y="12"/>
                    </a:lnTo>
                    <a:lnTo>
                      <a:pt x="21" y="29"/>
                    </a:lnTo>
                    <a:lnTo>
                      <a:pt x="6" y="21"/>
                    </a:lnTo>
                    <a:lnTo>
                      <a:pt x="10" y="32"/>
                    </a:lnTo>
                    <a:lnTo>
                      <a:pt x="5" y="32"/>
                    </a:lnTo>
                    <a:lnTo>
                      <a:pt x="0" y="15"/>
                    </a:lnTo>
                    <a:lnTo>
                      <a:pt x="20" y="27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A0A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51" name="Freeform 900"/>
              <p:cNvSpPr>
                <a:spLocks/>
              </p:cNvSpPr>
              <p:nvPr/>
            </p:nvSpPr>
            <p:spPr bwMode="auto">
              <a:xfrm>
                <a:off x="2660" y="1926"/>
                <a:ext cx="59" cy="29"/>
              </a:xfrm>
              <a:custGeom>
                <a:avLst/>
                <a:gdLst>
                  <a:gd name="T0" fmla="*/ 29 w 59"/>
                  <a:gd name="T1" fmla="*/ 0 h 29"/>
                  <a:gd name="T2" fmla="*/ 39 w 59"/>
                  <a:gd name="T3" fmla="*/ 25 h 29"/>
                  <a:gd name="T4" fmla="*/ 59 w 59"/>
                  <a:gd name="T5" fmla="*/ 14 h 29"/>
                  <a:gd name="T6" fmla="*/ 55 w 59"/>
                  <a:gd name="T7" fmla="*/ 29 h 29"/>
                  <a:gd name="T8" fmla="*/ 49 w 59"/>
                  <a:gd name="T9" fmla="*/ 29 h 29"/>
                  <a:gd name="T10" fmla="*/ 52 w 59"/>
                  <a:gd name="T11" fmla="*/ 20 h 29"/>
                  <a:gd name="T12" fmla="*/ 38 w 59"/>
                  <a:gd name="T13" fmla="*/ 27 h 29"/>
                  <a:gd name="T14" fmla="*/ 29 w 59"/>
                  <a:gd name="T15" fmla="*/ 10 h 29"/>
                  <a:gd name="T16" fmla="*/ 21 w 59"/>
                  <a:gd name="T17" fmla="*/ 27 h 29"/>
                  <a:gd name="T18" fmla="*/ 5 w 59"/>
                  <a:gd name="T19" fmla="*/ 20 h 29"/>
                  <a:gd name="T20" fmla="*/ 10 w 59"/>
                  <a:gd name="T21" fmla="*/ 29 h 29"/>
                  <a:gd name="T22" fmla="*/ 4 w 59"/>
                  <a:gd name="T23" fmla="*/ 29 h 29"/>
                  <a:gd name="T24" fmla="*/ 0 w 59"/>
                  <a:gd name="T25" fmla="*/ 14 h 29"/>
                  <a:gd name="T26" fmla="*/ 20 w 59"/>
                  <a:gd name="T27" fmla="*/ 25 h 29"/>
                  <a:gd name="T28" fmla="*/ 29 w 59"/>
                  <a:gd name="T29" fmla="*/ 0 h 2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9"/>
                  <a:gd name="T46" fmla="*/ 0 h 29"/>
                  <a:gd name="T47" fmla="*/ 59 w 59"/>
                  <a:gd name="T48" fmla="*/ 29 h 2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9" h="29">
                    <a:moveTo>
                      <a:pt x="29" y="0"/>
                    </a:moveTo>
                    <a:lnTo>
                      <a:pt x="39" y="25"/>
                    </a:lnTo>
                    <a:lnTo>
                      <a:pt x="59" y="14"/>
                    </a:lnTo>
                    <a:lnTo>
                      <a:pt x="55" y="29"/>
                    </a:lnTo>
                    <a:lnTo>
                      <a:pt x="49" y="29"/>
                    </a:lnTo>
                    <a:lnTo>
                      <a:pt x="52" y="20"/>
                    </a:lnTo>
                    <a:lnTo>
                      <a:pt x="38" y="27"/>
                    </a:lnTo>
                    <a:lnTo>
                      <a:pt x="29" y="10"/>
                    </a:lnTo>
                    <a:lnTo>
                      <a:pt x="21" y="27"/>
                    </a:lnTo>
                    <a:lnTo>
                      <a:pt x="5" y="20"/>
                    </a:lnTo>
                    <a:lnTo>
                      <a:pt x="10" y="29"/>
                    </a:lnTo>
                    <a:lnTo>
                      <a:pt x="4" y="29"/>
                    </a:lnTo>
                    <a:lnTo>
                      <a:pt x="0" y="14"/>
                    </a:lnTo>
                    <a:lnTo>
                      <a:pt x="20" y="25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93939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52" name="Freeform 901"/>
              <p:cNvSpPr>
                <a:spLocks/>
              </p:cNvSpPr>
              <p:nvPr/>
            </p:nvSpPr>
            <p:spPr bwMode="auto">
              <a:xfrm>
                <a:off x="2661" y="1927"/>
                <a:ext cx="57" cy="28"/>
              </a:xfrm>
              <a:custGeom>
                <a:avLst/>
                <a:gdLst>
                  <a:gd name="T0" fmla="*/ 28 w 57"/>
                  <a:gd name="T1" fmla="*/ 0 h 28"/>
                  <a:gd name="T2" fmla="*/ 39 w 57"/>
                  <a:gd name="T3" fmla="*/ 25 h 28"/>
                  <a:gd name="T4" fmla="*/ 57 w 57"/>
                  <a:gd name="T5" fmla="*/ 14 h 28"/>
                  <a:gd name="T6" fmla="*/ 54 w 57"/>
                  <a:gd name="T7" fmla="*/ 28 h 28"/>
                  <a:gd name="T8" fmla="*/ 49 w 57"/>
                  <a:gd name="T9" fmla="*/ 28 h 28"/>
                  <a:gd name="T10" fmla="*/ 51 w 57"/>
                  <a:gd name="T11" fmla="*/ 19 h 28"/>
                  <a:gd name="T12" fmla="*/ 37 w 57"/>
                  <a:gd name="T13" fmla="*/ 27 h 28"/>
                  <a:gd name="T14" fmla="*/ 28 w 57"/>
                  <a:gd name="T15" fmla="*/ 9 h 28"/>
                  <a:gd name="T16" fmla="*/ 20 w 57"/>
                  <a:gd name="T17" fmla="*/ 27 h 28"/>
                  <a:gd name="T18" fmla="*/ 6 w 57"/>
                  <a:gd name="T19" fmla="*/ 19 h 28"/>
                  <a:gd name="T20" fmla="*/ 9 w 57"/>
                  <a:gd name="T21" fmla="*/ 28 h 28"/>
                  <a:gd name="T22" fmla="*/ 3 w 57"/>
                  <a:gd name="T23" fmla="*/ 28 h 28"/>
                  <a:gd name="T24" fmla="*/ 0 w 57"/>
                  <a:gd name="T25" fmla="*/ 14 h 28"/>
                  <a:gd name="T26" fmla="*/ 19 w 57"/>
                  <a:gd name="T27" fmla="*/ 25 h 28"/>
                  <a:gd name="T28" fmla="*/ 28 w 57"/>
                  <a:gd name="T29" fmla="*/ 0 h 2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28"/>
                  <a:gd name="T47" fmla="*/ 57 w 57"/>
                  <a:gd name="T48" fmla="*/ 28 h 2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28">
                    <a:moveTo>
                      <a:pt x="28" y="0"/>
                    </a:moveTo>
                    <a:lnTo>
                      <a:pt x="39" y="25"/>
                    </a:lnTo>
                    <a:lnTo>
                      <a:pt x="57" y="14"/>
                    </a:lnTo>
                    <a:lnTo>
                      <a:pt x="54" y="28"/>
                    </a:lnTo>
                    <a:lnTo>
                      <a:pt x="49" y="28"/>
                    </a:lnTo>
                    <a:lnTo>
                      <a:pt x="51" y="19"/>
                    </a:lnTo>
                    <a:lnTo>
                      <a:pt x="37" y="27"/>
                    </a:lnTo>
                    <a:lnTo>
                      <a:pt x="28" y="9"/>
                    </a:lnTo>
                    <a:lnTo>
                      <a:pt x="20" y="27"/>
                    </a:lnTo>
                    <a:lnTo>
                      <a:pt x="6" y="19"/>
                    </a:lnTo>
                    <a:lnTo>
                      <a:pt x="9" y="28"/>
                    </a:lnTo>
                    <a:lnTo>
                      <a:pt x="3" y="28"/>
                    </a:lnTo>
                    <a:lnTo>
                      <a:pt x="0" y="14"/>
                    </a:lnTo>
                    <a:lnTo>
                      <a:pt x="19" y="25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89898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53" name="Freeform 902"/>
              <p:cNvSpPr>
                <a:spLocks/>
              </p:cNvSpPr>
              <p:nvPr/>
            </p:nvSpPr>
            <p:spPr bwMode="auto">
              <a:xfrm>
                <a:off x="2661" y="1928"/>
                <a:ext cx="57" cy="26"/>
              </a:xfrm>
              <a:custGeom>
                <a:avLst/>
                <a:gdLst>
                  <a:gd name="T0" fmla="*/ 28 w 57"/>
                  <a:gd name="T1" fmla="*/ 0 h 26"/>
                  <a:gd name="T2" fmla="*/ 39 w 57"/>
                  <a:gd name="T3" fmla="*/ 24 h 26"/>
                  <a:gd name="T4" fmla="*/ 57 w 57"/>
                  <a:gd name="T5" fmla="*/ 13 h 26"/>
                  <a:gd name="T6" fmla="*/ 54 w 57"/>
                  <a:gd name="T7" fmla="*/ 25 h 26"/>
                  <a:gd name="T8" fmla="*/ 50 w 57"/>
                  <a:gd name="T9" fmla="*/ 25 h 26"/>
                  <a:gd name="T10" fmla="*/ 53 w 57"/>
                  <a:gd name="T11" fmla="*/ 18 h 26"/>
                  <a:gd name="T12" fmla="*/ 38 w 57"/>
                  <a:gd name="T13" fmla="*/ 26 h 26"/>
                  <a:gd name="T14" fmla="*/ 28 w 57"/>
                  <a:gd name="T15" fmla="*/ 8 h 26"/>
                  <a:gd name="T16" fmla="*/ 20 w 57"/>
                  <a:gd name="T17" fmla="*/ 26 h 26"/>
                  <a:gd name="T18" fmla="*/ 4 w 57"/>
                  <a:gd name="T19" fmla="*/ 18 h 26"/>
                  <a:gd name="T20" fmla="*/ 8 w 57"/>
                  <a:gd name="T21" fmla="*/ 25 h 26"/>
                  <a:gd name="T22" fmla="*/ 3 w 57"/>
                  <a:gd name="T23" fmla="*/ 25 h 26"/>
                  <a:gd name="T24" fmla="*/ 0 w 57"/>
                  <a:gd name="T25" fmla="*/ 14 h 26"/>
                  <a:gd name="T26" fmla="*/ 19 w 57"/>
                  <a:gd name="T27" fmla="*/ 24 h 26"/>
                  <a:gd name="T28" fmla="*/ 28 w 57"/>
                  <a:gd name="T29" fmla="*/ 0 h 2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26"/>
                  <a:gd name="T47" fmla="*/ 57 w 57"/>
                  <a:gd name="T48" fmla="*/ 26 h 2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26">
                    <a:moveTo>
                      <a:pt x="28" y="0"/>
                    </a:moveTo>
                    <a:lnTo>
                      <a:pt x="39" y="24"/>
                    </a:lnTo>
                    <a:lnTo>
                      <a:pt x="57" y="13"/>
                    </a:lnTo>
                    <a:lnTo>
                      <a:pt x="54" y="25"/>
                    </a:lnTo>
                    <a:lnTo>
                      <a:pt x="50" y="25"/>
                    </a:lnTo>
                    <a:lnTo>
                      <a:pt x="53" y="18"/>
                    </a:lnTo>
                    <a:lnTo>
                      <a:pt x="38" y="26"/>
                    </a:lnTo>
                    <a:lnTo>
                      <a:pt x="28" y="8"/>
                    </a:lnTo>
                    <a:lnTo>
                      <a:pt x="20" y="26"/>
                    </a:lnTo>
                    <a:lnTo>
                      <a:pt x="4" y="18"/>
                    </a:lnTo>
                    <a:lnTo>
                      <a:pt x="8" y="25"/>
                    </a:lnTo>
                    <a:lnTo>
                      <a:pt x="3" y="25"/>
                    </a:lnTo>
                    <a:lnTo>
                      <a:pt x="0" y="14"/>
                    </a:lnTo>
                    <a:lnTo>
                      <a:pt x="19" y="24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C7C7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54" name="Freeform 903"/>
              <p:cNvSpPr>
                <a:spLocks/>
              </p:cNvSpPr>
              <p:nvPr/>
            </p:nvSpPr>
            <p:spPr bwMode="auto">
              <a:xfrm>
                <a:off x="2662" y="1929"/>
                <a:ext cx="55" cy="25"/>
              </a:xfrm>
              <a:custGeom>
                <a:avLst/>
                <a:gdLst>
                  <a:gd name="T0" fmla="*/ 28 w 55"/>
                  <a:gd name="T1" fmla="*/ 0 h 25"/>
                  <a:gd name="T2" fmla="*/ 38 w 55"/>
                  <a:gd name="T3" fmla="*/ 23 h 25"/>
                  <a:gd name="T4" fmla="*/ 55 w 55"/>
                  <a:gd name="T5" fmla="*/ 13 h 25"/>
                  <a:gd name="T6" fmla="*/ 53 w 55"/>
                  <a:gd name="T7" fmla="*/ 23 h 25"/>
                  <a:gd name="T8" fmla="*/ 49 w 55"/>
                  <a:gd name="T9" fmla="*/ 23 h 25"/>
                  <a:gd name="T10" fmla="*/ 52 w 55"/>
                  <a:gd name="T11" fmla="*/ 17 h 25"/>
                  <a:gd name="T12" fmla="*/ 37 w 55"/>
                  <a:gd name="T13" fmla="*/ 25 h 25"/>
                  <a:gd name="T14" fmla="*/ 28 w 55"/>
                  <a:gd name="T15" fmla="*/ 7 h 25"/>
                  <a:gd name="T16" fmla="*/ 19 w 55"/>
                  <a:gd name="T17" fmla="*/ 25 h 25"/>
                  <a:gd name="T18" fmla="*/ 5 w 55"/>
                  <a:gd name="T19" fmla="*/ 17 h 25"/>
                  <a:gd name="T20" fmla="*/ 7 w 55"/>
                  <a:gd name="T21" fmla="*/ 24 h 25"/>
                  <a:gd name="T22" fmla="*/ 2 w 55"/>
                  <a:gd name="T23" fmla="*/ 24 h 25"/>
                  <a:gd name="T24" fmla="*/ 0 w 55"/>
                  <a:gd name="T25" fmla="*/ 13 h 25"/>
                  <a:gd name="T26" fmla="*/ 18 w 55"/>
                  <a:gd name="T27" fmla="*/ 23 h 25"/>
                  <a:gd name="T28" fmla="*/ 28 w 55"/>
                  <a:gd name="T29" fmla="*/ 0 h 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5"/>
                  <a:gd name="T46" fmla="*/ 0 h 25"/>
                  <a:gd name="T47" fmla="*/ 55 w 55"/>
                  <a:gd name="T48" fmla="*/ 25 h 25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5" h="25">
                    <a:moveTo>
                      <a:pt x="28" y="0"/>
                    </a:moveTo>
                    <a:lnTo>
                      <a:pt x="38" y="23"/>
                    </a:lnTo>
                    <a:lnTo>
                      <a:pt x="55" y="13"/>
                    </a:lnTo>
                    <a:lnTo>
                      <a:pt x="53" y="23"/>
                    </a:lnTo>
                    <a:lnTo>
                      <a:pt x="49" y="23"/>
                    </a:lnTo>
                    <a:lnTo>
                      <a:pt x="52" y="17"/>
                    </a:lnTo>
                    <a:lnTo>
                      <a:pt x="37" y="25"/>
                    </a:lnTo>
                    <a:lnTo>
                      <a:pt x="28" y="7"/>
                    </a:lnTo>
                    <a:lnTo>
                      <a:pt x="19" y="25"/>
                    </a:lnTo>
                    <a:lnTo>
                      <a:pt x="5" y="17"/>
                    </a:lnTo>
                    <a:lnTo>
                      <a:pt x="7" y="24"/>
                    </a:lnTo>
                    <a:lnTo>
                      <a:pt x="2" y="24"/>
                    </a:lnTo>
                    <a:lnTo>
                      <a:pt x="0" y="13"/>
                    </a:lnTo>
                    <a:lnTo>
                      <a:pt x="18" y="23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0707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55" name="Freeform 904"/>
              <p:cNvSpPr>
                <a:spLocks/>
              </p:cNvSpPr>
              <p:nvPr/>
            </p:nvSpPr>
            <p:spPr bwMode="auto">
              <a:xfrm>
                <a:off x="2663" y="1931"/>
                <a:ext cx="53" cy="23"/>
              </a:xfrm>
              <a:custGeom>
                <a:avLst/>
                <a:gdLst>
                  <a:gd name="T0" fmla="*/ 26 w 53"/>
                  <a:gd name="T1" fmla="*/ 0 h 23"/>
                  <a:gd name="T2" fmla="*/ 37 w 53"/>
                  <a:gd name="T3" fmla="*/ 21 h 23"/>
                  <a:gd name="T4" fmla="*/ 53 w 53"/>
                  <a:gd name="T5" fmla="*/ 12 h 23"/>
                  <a:gd name="T6" fmla="*/ 51 w 53"/>
                  <a:gd name="T7" fmla="*/ 20 h 23"/>
                  <a:gd name="T8" fmla="*/ 48 w 53"/>
                  <a:gd name="T9" fmla="*/ 20 h 23"/>
                  <a:gd name="T10" fmla="*/ 49 w 53"/>
                  <a:gd name="T11" fmla="*/ 15 h 23"/>
                  <a:gd name="T12" fmla="*/ 35 w 53"/>
                  <a:gd name="T13" fmla="*/ 23 h 23"/>
                  <a:gd name="T14" fmla="*/ 26 w 53"/>
                  <a:gd name="T15" fmla="*/ 5 h 23"/>
                  <a:gd name="T16" fmla="*/ 18 w 53"/>
                  <a:gd name="T17" fmla="*/ 23 h 23"/>
                  <a:gd name="T18" fmla="*/ 4 w 53"/>
                  <a:gd name="T19" fmla="*/ 15 h 23"/>
                  <a:gd name="T20" fmla="*/ 5 w 53"/>
                  <a:gd name="T21" fmla="*/ 21 h 23"/>
                  <a:gd name="T22" fmla="*/ 1 w 53"/>
                  <a:gd name="T23" fmla="*/ 21 h 23"/>
                  <a:gd name="T24" fmla="*/ 0 w 53"/>
                  <a:gd name="T25" fmla="*/ 12 h 23"/>
                  <a:gd name="T26" fmla="*/ 17 w 53"/>
                  <a:gd name="T27" fmla="*/ 22 h 23"/>
                  <a:gd name="T28" fmla="*/ 26 w 53"/>
                  <a:gd name="T29" fmla="*/ 0 h 2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3"/>
                  <a:gd name="T46" fmla="*/ 0 h 23"/>
                  <a:gd name="T47" fmla="*/ 53 w 53"/>
                  <a:gd name="T48" fmla="*/ 23 h 2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3" h="23">
                    <a:moveTo>
                      <a:pt x="26" y="0"/>
                    </a:moveTo>
                    <a:lnTo>
                      <a:pt x="37" y="21"/>
                    </a:lnTo>
                    <a:lnTo>
                      <a:pt x="53" y="12"/>
                    </a:lnTo>
                    <a:lnTo>
                      <a:pt x="51" y="20"/>
                    </a:lnTo>
                    <a:lnTo>
                      <a:pt x="48" y="20"/>
                    </a:lnTo>
                    <a:lnTo>
                      <a:pt x="49" y="15"/>
                    </a:lnTo>
                    <a:lnTo>
                      <a:pt x="35" y="23"/>
                    </a:lnTo>
                    <a:lnTo>
                      <a:pt x="26" y="5"/>
                    </a:lnTo>
                    <a:lnTo>
                      <a:pt x="18" y="23"/>
                    </a:lnTo>
                    <a:lnTo>
                      <a:pt x="4" y="15"/>
                    </a:lnTo>
                    <a:lnTo>
                      <a:pt x="5" y="21"/>
                    </a:lnTo>
                    <a:lnTo>
                      <a:pt x="1" y="21"/>
                    </a:lnTo>
                    <a:lnTo>
                      <a:pt x="0" y="12"/>
                    </a:lnTo>
                    <a:lnTo>
                      <a:pt x="17" y="22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656" name="Freeform 905"/>
              <p:cNvSpPr>
                <a:spLocks/>
              </p:cNvSpPr>
              <p:nvPr/>
            </p:nvSpPr>
            <p:spPr bwMode="auto">
              <a:xfrm>
                <a:off x="2663" y="1932"/>
                <a:ext cx="52" cy="22"/>
              </a:xfrm>
              <a:custGeom>
                <a:avLst/>
                <a:gdLst>
                  <a:gd name="T0" fmla="*/ 51 w 52"/>
                  <a:gd name="T1" fmla="*/ 18 h 22"/>
                  <a:gd name="T2" fmla="*/ 52 w 52"/>
                  <a:gd name="T3" fmla="*/ 12 h 22"/>
                  <a:gd name="T4" fmla="*/ 36 w 52"/>
                  <a:gd name="T5" fmla="*/ 21 h 22"/>
                  <a:gd name="T6" fmla="*/ 26 w 52"/>
                  <a:gd name="T7" fmla="*/ 0 h 22"/>
                  <a:gd name="T8" fmla="*/ 16 w 52"/>
                  <a:gd name="T9" fmla="*/ 21 h 22"/>
                  <a:gd name="T10" fmla="*/ 0 w 52"/>
                  <a:gd name="T11" fmla="*/ 12 h 22"/>
                  <a:gd name="T12" fmla="*/ 1 w 52"/>
                  <a:gd name="T13" fmla="*/ 19 h 22"/>
                  <a:gd name="T14" fmla="*/ 4 w 52"/>
                  <a:gd name="T15" fmla="*/ 19 h 22"/>
                  <a:gd name="T16" fmla="*/ 2 w 52"/>
                  <a:gd name="T17" fmla="*/ 14 h 22"/>
                  <a:gd name="T18" fmla="*/ 17 w 52"/>
                  <a:gd name="T19" fmla="*/ 22 h 22"/>
                  <a:gd name="T20" fmla="*/ 26 w 52"/>
                  <a:gd name="T21" fmla="*/ 4 h 22"/>
                  <a:gd name="T22" fmla="*/ 35 w 52"/>
                  <a:gd name="T23" fmla="*/ 22 h 22"/>
                  <a:gd name="T24" fmla="*/ 49 w 52"/>
                  <a:gd name="T25" fmla="*/ 14 h 22"/>
                  <a:gd name="T26" fmla="*/ 48 w 52"/>
                  <a:gd name="T27" fmla="*/ 18 h 22"/>
                  <a:gd name="T28" fmla="*/ 51 w 52"/>
                  <a:gd name="T29" fmla="*/ 18 h 2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2"/>
                  <a:gd name="T46" fmla="*/ 0 h 22"/>
                  <a:gd name="T47" fmla="*/ 52 w 52"/>
                  <a:gd name="T48" fmla="*/ 22 h 2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2" h="22">
                    <a:moveTo>
                      <a:pt x="51" y="18"/>
                    </a:moveTo>
                    <a:lnTo>
                      <a:pt x="52" y="12"/>
                    </a:lnTo>
                    <a:lnTo>
                      <a:pt x="36" y="21"/>
                    </a:lnTo>
                    <a:lnTo>
                      <a:pt x="26" y="0"/>
                    </a:lnTo>
                    <a:lnTo>
                      <a:pt x="16" y="21"/>
                    </a:lnTo>
                    <a:lnTo>
                      <a:pt x="0" y="12"/>
                    </a:lnTo>
                    <a:lnTo>
                      <a:pt x="1" y="19"/>
                    </a:lnTo>
                    <a:lnTo>
                      <a:pt x="4" y="19"/>
                    </a:lnTo>
                    <a:lnTo>
                      <a:pt x="2" y="14"/>
                    </a:lnTo>
                    <a:lnTo>
                      <a:pt x="17" y="22"/>
                    </a:lnTo>
                    <a:lnTo>
                      <a:pt x="26" y="4"/>
                    </a:lnTo>
                    <a:lnTo>
                      <a:pt x="35" y="22"/>
                    </a:lnTo>
                    <a:lnTo>
                      <a:pt x="49" y="14"/>
                    </a:lnTo>
                    <a:lnTo>
                      <a:pt x="48" y="18"/>
                    </a:lnTo>
                    <a:lnTo>
                      <a:pt x="51" y="18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2306" name="Rectangle 906"/>
            <p:cNvSpPr>
              <a:spLocks noChangeArrowheads="1"/>
            </p:cNvSpPr>
            <p:nvPr/>
          </p:nvSpPr>
          <p:spPr bwMode="auto">
            <a:xfrm>
              <a:off x="2795" y="2595"/>
              <a:ext cx="569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Pre-Qualification</a:t>
              </a:r>
              <a:endParaRPr lang="en-US" sz="1000" b="0">
                <a:latin typeface="Times New Roman" pitchFamily="18" charset="0"/>
              </a:endParaRPr>
            </a:p>
          </p:txBody>
        </p:sp>
        <p:grpSp>
          <p:nvGrpSpPr>
            <p:cNvPr id="12307" name="Group 907"/>
            <p:cNvGrpSpPr>
              <a:grpSpLocks/>
            </p:cNvGrpSpPr>
            <p:nvPr/>
          </p:nvGrpSpPr>
          <p:grpSpPr bwMode="auto">
            <a:xfrm>
              <a:off x="3433" y="2349"/>
              <a:ext cx="422" cy="323"/>
              <a:chOff x="2997" y="1867"/>
              <a:chExt cx="387" cy="300"/>
            </a:xfrm>
          </p:grpSpPr>
          <p:sp>
            <p:nvSpPr>
              <p:cNvPr id="12439" name="Freeform 908"/>
              <p:cNvSpPr>
                <a:spLocks/>
              </p:cNvSpPr>
              <p:nvPr/>
            </p:nvSpPr>
            <p:spPr bwMode="auto">
              <a:xfrm>
                <a:off x="2998" y="2056"/>
                <a:ext cx="252" cy="110"/>
              </a:xfrm>
              <a:custGeom>
                <a:avLst/>
                <a:gdLst>
                  <a:gd name="T0" fmla="*/ 2 w 252"/>
                  <a:gd name="T1" fmla="*/ 30 h 110"/>
                  <a:gd name="T2" fmla="*/ 1 w 252"/>
                  <a:gd name="T3" fmla="*/ 15 h 110"/>
                  <a:gd name="T4" fmla="*/ 12 w 252"/>
                  <a:gd name="T5" fmla="*/ 0 h 110"/>
                  <a:gd name="T6" fmla="*/ 18 w 252"/>
                  <a:gd name="T7" fmla="*/ 0 h 110"/>
                  <a:gd name="T8" fmla="*/ 34 w 252"/>
                  <a:gd name="T9" fmla="*/ 1 h 110"/>
                  <a:gd name="T10" fmla="*/ 58 w 252"/>
                  <a:gd name="T11" fmla="*/ 3 h 110"/>
                  <a:gd name="T12" fmla="*/ 86 w 252"/>
                  <a:gd name="T13" fmla="*/ 5 h 110"/>
                  <a:gd name="T14" fmla="*/ 118 w 252"/>
                  <a:gd name="T15" fmla="*/ 7 h 110"/>
                  <a:gd name="T16" fmla="*/ 149 w 252"/>
                  <a:gd name="T17" fmla="*/ 9 h 110"/>
                  <a:gd name="T18" fmla="*/ 180 w 252"/>
                  <a:gd name="T19" fmla="*/ 13 h 110"/>
                  <a:gd name="T20" fmla="*/ 208 w 252"/>
                  <a:gd name="T21" fmla="*/ 15 h 110"/>
                  <a:gd name="T22" fmla="*/ 228 w 252"/>
                  <a:gd name="T23" fmla="*/ 17 h 110"/>
                  <a:gd name="T24" fmla="*/ 241 w 252"/>
                  <a:gd name="T25" fmla="*/ 20 h 110"/>
                  <a:gd name="T26" fmla="*/ 245 w 252"/>
                  <a:gd name="T27" fmla="*/ 38 h 110"/>
                  <a:gd name="T28" fmla="*/ 247 w 252"/>
                  <a:gd name="T29" fmla="*/ 57 h 110"/>
                  <a:gd name="T30" fmla="*/ 251 w 252"/>
                  <a:gd name="T31" fmla="*/ 60 h 110"/>
                  <a:gd name="T32" fmla="*/ 251 w 252"/>
                  <a:gd name="T33" fmla="*/ 64 h 110"/>
                  <a:gd name="T34" fmla="*/ 247 w 252"/>
                  <a:gd name="T35" fmla="*/ 68 h 110"/>
                  <a:gd name="T36" fmla="*/ 238 w 252"/>
                  <a:gd name="T37" fmla="*/ 70 h 110"/>
                  <a:gd name="T38" fmla="*/ 230 w 252"/>
                  <a:gd name="T39" fmla="*/ 74 h 110"/>
                  <a:gd name="T40" fmla="*/ 218 w 252"/>
                  <a:gd name="T41" fmla="*/ 78 h 110"/>
                  <a:gd name="T42" fmla="*/ 205 w 252"/>
                  <a:gd name="T43" fmla="*/ 85 h 110"/>
                  <a:gd name="T44" fmla="*/ 193 w 252"/>
                  <a:gd name="T45" fmla="*/ 90 h 110"/>
                  <a:gd name="T46" fmla="*/ 180 w 252"/>
                  <a:gd name="T47" fmla="*/ 95 h 110"/>
                  <a:gd name="T48" fmla="*/ 170 w 252"/>
                  <a:gd name="T49" fmla="*/ 101 h 110"/>
                  <a:gd name="T50" fmla="*/ 159 w 252"/>
                  <a:gd name="T51" fmla="*/ 105 h 110"/>
                  <a:gd name="T52" fmla="*/ 150 w 252"/>
                  <a:gd name="T53" fmla="*/ 108 h 110"/>
                  <a:gd name="T54" fmla="*/ 145 w 252"/>
                  <a:gd name="T55" fmla="*/ 110 h 110"/>
                  <a:gd name="T56" fmla="*/ 141 w 252"/>
                  <a:gd name="T57" fmla="*/ 110 h 110"/>
                  <a:gd name="T58" fmla="*/ 134 w 252"/>
                  <a:gd name="T59" fmla="*/ 108 h 110"/>
                  <a:gd name="T60" fmla="*/ 130 w 252"/>
                  <a:gd name="T61" fmla="*/ 107 h 110"/>
                  <a:gd name="T62" fmla="*/ 124 w 252"/>
                  <a:gd name="T63" fmla="*/ 104 h 110"/>
                  <a:gd name="T64" fmla="*/ 113 w 252"/>
                  <a:gd name="T65" fmla="*/ 98 h 110"/>
                  <a:gd name="T66" fmla="*/ 101 w 252"/>
                  <a:gd name="T67" fmla="*/ 91 h 110"/>
                  <a:gd name="T68" fmla="*/ 87 w 252"/>
                  <a:gd name="T69" fmla="*/ 84 h 110"/>
                  <a:gd name="T70" fmla="*/ 72 w 252"/>
                  <a:gd name="T71" fmla="*/ 75 h 110"/>
                  <a:gd name="T72" fmla="*/ 58 w 252"/>
                  <a:gd name="T73" fmla="*/ 68 h 110"/>
                  <a:gd name="T74" fmla="*/ 44 w 252"/>
                  <a:gd name="T75" fmla="*/ 60 h 110"/>
                  <a:gd name="T76" fmla="*/ 33 w 252"/>
                  <a:gd name="T77" fmla="*/ 54 h 110"/>
                  <a:gd name="T78" fmla="*/ 23 w 252"/>
                  <a:gd name="T79" fmla="*/ 50 h 110"/>
                  <a:gd name="T80" fmla="*/ 18 w 252"/>
                  <a:gd name="T81" fmla="*/ 47 h 110"/>
                  <a:gd name="T82" fmla="*/ 15 w 252"/>
                  <a:gd name="T83" fmla="*/ 44 h 110"/>
                  <a:gd name="T84" fmla="*/ 10 w 252"/>
                  <a:gd name="T85" fmla="*/ 41 h 110"/>
                  <a:gd name="T86" fmla="*/ 5 w 252"/>
                  <a:gd name="T87" fmla="*/ 38 h 11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252"/>
                  <a:gd name="T133" fmla="*/ 0 h 110"/>
                  <a:gd name="T134" fmla="*/ 252 w 252"/>
                  <a:gd name="T135" fmla="*/ 110 h 11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252" h="110">
                    <a:moveTo>
                      <a:pt x="5" y="38"/>
                    </a:moveTo>
                    <a:lnTo>
                      <a:pt x="3" y="35"/>
                    </a:lnTo>
                    <a:lnTo>
                      <a:pt x="2" y="30"/>
                    </a:lnTo>
                    <a:lnTo>
                      <a:pt x="1" y="25"/>
                    </a:lnTo>
                    <a:lnTo>
                      <a:pt x="0" y="21"/>
                    </a:lnTo>
                    <a:lnTo>
                      <a:pt x="1" y="15"/>
                    </a:lnTo>
                    <a:lnTo>
                      <a:pt x="2" y="11"/>
                    </a:lnTo>
                    <a:lnTo>
                      <a:pt x="5" y="5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8" y="1"/>
                    </a:lnTo>
                    <a:lnTo>
                      <a:pt x="34" y="1"/>
                    </a:lnTo>
                    <a:lnTo>
                      <a:pt x="40" y="1"/>
                    </a:lnTo>
                    <a:lnTo>
                      <a:pt x="49" y="3"/>
                    </a:lnTo>
                    <a:lnTo>
                      <a:pt x="58" y="3"/>
                    </a:lnTo>
                    <a:lnTo>
                      <a:pt x="67" y="4"/>
                    </a:lnTo>
                    <a:lnTo>
                      <a:pt x="76" y="4"/>
                    </a:lnTo>
                    <a:lnTo>
                      <a:pt x="86" y="5"/>
                    </a:lnTo>
                    <a:lnTo>
                      <a:pt x="96" y="7"/>
                    </a:lnTo>
                    <a:lnTo>
                      <a:pt x="107" y="7"/>
                    </a:lnTo>
                    <a:lnTo>
                      <a:pt x="118" y="7"/>
                    </a:lnTo>
                    <a:lnTo>
                      <a:pt x="128" y="9"/>
                    </a:lnTo>
                    <a:lnTo>
                      <a:pt x="140" y="9"/>
                    </a:lnTo>
                    <a:lnTo>
                      <a:pt x="149" y="9"/>
                    </a:lnTo>
                    <a:lnTo>
                      <a:pt x="160" y="11"/>
                    </a:lnTo>
                    <a:lnTo>
                      <a:pt x="170" y="12"/>
                    </a:lnTo>
                    <a:lnTo>
                      <a:pt x="180" y="13"/>
                    </a:lnTo>
                    <a:lnTo>
                      <a:pt x="189" y="14"/>
                    </a:lnTo>
                    <a:lnTo>
                      <a:pt x="199" y="14"/>
                    </a:lnTo>
                    <a:lnTo>
                      <a:pt x="208" y="15"/>
                    </a:lnTo>
                    <a:lnTo>
                      <a:pt x="215" y="16"/>
                    </a:lnTo>
                    <a:lnTo>
                      <a:pt x="222" y="17"/>
                    </a:lnTo>
                    <a:lnTo>
                      <a:pt x="228" y="17"/>
                    </a:lnTo>
                    <a:lnTo>
                      <a:pt x="234" y="19"/>
                    </a:lnTo>
                    <a:lnTo>
                      <a:pt x="237" y="19"/>
                    </a:lnTo>
                    <a:lnTo>
                      <a:pt x="241" y="20"/>
                    </a:lnTo>
                    <a:lnTo>
                      <a:pt x="243" y="20"/>
                    </a:lnTo>
                    <a:lnTo>
                      <a:pt x="245" y="29"/>
                    </a:lnTo>
                    <a:lnTo>
                      <a:pt x="245" y="38"/>
                    </a:lnTo>
                    <a:lnTo>
                      <a:pt x="245" y="47"/>
                    </a:lnTo>
                    <a:lnTo>
                      <a:pt x="246" y="56"/>
                    </a:lnTo>
                    <a:lnTo>
                      <a:pt x="247" y="57"/>
                    </a:lnTo>
                    <a:lnTo>
                      <a:pt x="249" y="58"/>
                    </a:lnTo>
                    <a:lnTo>
                      <a:pt x="250" y="60"/>
                    </a:lnTo>
                    <a:lnTo>
                      <a:pt x="251" y="60"/>
                    </a:lnTo>
                    <a:lnTo>
                      <a:pt x="252" y="62"/>
                    </a:lnTo>
                    <a:lnTo>
                      <a:pt x="251" y="64"/>
                    </a:lnTo>
                    <a:lnTo>
                      <a:pt x="249" y="66"/>
                    </a:lnTo>
                    <a:lnTo>
                      <a:pt x="248" y="67"/>
                    </a:lnTo>
                    <a:lnTo>
                      <a:pt x="247" y="68"/>
                    </a:lnTo>
                    <a:lnTo>
                      <a:pt x="245" y="68"/>
                    </a:lnTo>
                    <a:lnTo>
                      <a:pt x="241" y="69"/>
                    </a:lnTo>
                    <a:lnTo>
                      <a:pt x="238" y="70"/>
                    </a:lnTo>
                    <a:lnTo>
                      <a:pt x="236" y="71"/>
                    </a:lnTo>
                    <a:lnTo>
                      <a:pt x="233" y="73"/>
                    </a:lnTo>
                    <a:lnTo>
                      <a:pt x="230" y="74"/>
                    </a:lnTo>
                    <a:lnTo>
                      <a:pt x="226" y="75"/>
                    </a:lnTo>
                    <a:lnTo>
                      <a:pt x="222" y="77"/>
                    </a:lnTo>
                    <a:lnTo>
                      <a:pt x="218" y="78"/>
                    </a:lnTo>
                    <a:lnTo>
                      <a:pt x="215" y="82"/>
                    </a:lnTo>
                    <a:lnTo>
                      <a:pt x="210" y="82"/>
                    </a:lnTo>
                    <a:lnTo>
                      <a:pt x="205" y="85"/>
                    </a:lnTo>
                    <a:lnTo>
                      <a:pt x="202" y="86"/>
                    </a:lnTo>
                    <a:lnTo>
                      <a:pt x="197" y="88"/>
                    </a:lnTo>
                    <a:lnTo>
                      <a:pt x="193" y="90"/>
                    </a:lnTo>
                    <a:lnTo>
                      <a:pt x="189" y="91"/>
                    </a:lnTo>
                    <a:lnTo>
                      <a:pt x="185" y="93"/>
                    </a:lnTo>
                    <a:lnTo>
                      <a:pt x="180" y="95"/>
                    </a:lnTo>
                    <a:lnTo>
                      <a:pt x="177" y="98"/>
                    </a:lnTo>
                    <a:lnTo>
                      <a:pt x="173" y="98"/>
                    </a:lnTo>
                    <a:lnTo>
                      <a:pt x="170" y="101"/>
                    </a:lnTo>
                    <a:lnTo>
                      <a:pt x="165" y="102"/>
                    </a:lnTo>
                    <a:lnTo>
                      <a:pt x="162" y="104"/>
                    </a:lnTo>
                    <a:lnTo>
                      <a:pt x="159" y="105"/>
                    </a:lnTo>
                    <a:lnTo>
                      <a:pt x="156" y="106"/>
                    </a:lnTo>
                    <a:lnTo>
                      <a:pt x="154" y="107"/>
                    </a:lnTo>
                    <a:lnTo>
                      <a:pt x="150" y="108"/>
                    </a:lnTo>
                    <a:lnTo>
                      <a:pt x="148" y="109"/>
                    </a:lnTo>
                    <a:lnTo>
                      <a:pt x="146" y="109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10"/>
                    </a:lnTo>
                    <a:lnTo>
                      <a:pt x="141" y="110"/>
                    </a:lnTo>
                    <a:lnTo>
                      <a:pt x="140" y="109"/>
                    </a:lnTo>
                    <a:lnTo>
                      <a:pt x="138" y="109"/>
                    </a:lnTo>
                    <a:lnTo>
                      <a:pt x="134" y="108"/>
                    </a:lnTo>
                    <a:lnTo>
                      <a:pt x="132" y="107"/>
                    </a:lnTo>
                    <a:lnTo>
                      <a:pt x="130" y="107"/>
                    </a:lnTo>
                    <a:lnTo>
                      <a:pt x="129" y="106"/>
                    </a:lnTo>
                    <a:lnTo>
                      <a:pt x="127" y="105"/>
                    </a:lnTo>
                    <a:lnTo>
                      <a:pt x="124" y="104"/>
                    </a:lnTo>
                    <a:lnTo>
                      <a:pt x="122" y="102"/>
                    </a:lnTo>
                    <a:lnTo>
                      <a:pt x="118" y="101"/>
                    </a:lnTo>
                    <a:lnTo>
                      <a:pt x="113" y="98"/>
                    </a:lnTo>
                    <a:lnTo>
                      <a:pt x="110" y="95"/>
                    </a:lnTo>
                    <a:lnTo>
                      <a:pt x="106" y="93"/>
                    </a:lnTo>
                    <a:lnTo>
                      <a:pt x="101" y="91"/>
                    </a:lnTo>
                    <a:lnTo>
                      <a:pt x="96" y="89"/>
                    </a:lnTo>
                    <a:lnTo>
                      <a:pt x="92" y="87"/>
                    </a:lnTo>
                    <a:lnTo>
                      <a:pt x="87" y="84"/>
                    </a:lnTo>
                    <a:lnTo>
                      <a:pt x="82" y="82"/>
                    </a:lnTo>
                    <a:lnTo>
                      <a:pt x="77" y="78"/>
                    </a:lnTo>
                    <a:lnTo>
                      <a:pt x="72" y="75"/>
                    </a:lnTo>
                    <a:lnTo>
                      <a:pt x="67" y="73"/>
                    </a:lnTo>
                    <a:lnTo>
                      <a:pt x="63" y="71"/>
                    </a:lnTo>
                    <a:lnTo>
                      <a:pt x="58" y="68"/>
                    </a:lnTo>
                    <a:lnTo>
                      <a:pt x="53" y="66"/>
                    </a:lnTo>
                    <a:lnTo>
                      <a:pt x="49" y="62"/>
                    </a:lnTo>
                    <a:lnTo>
                      <a:pt x="44" y="60"/>
                    </a:lnTo>
                    <a:lnTo>
                      <a:pt x="39" y="58"/>
                    </a:lnTo>
                    <a:lnTo>
                      <a:pt x="36" y="56"/>
                    </a:lnTo>
                    <a:lnTo>
                      <a:pt x="33" y="54"/>
                    </a:lnTo>
                    <a:lnTo>
                      <a:pt x="30" y="53"/>
                    </a:lnTo>
                    <a:lnTo>
                      <a:pt x="25" y="51"/>
                    </a:lnTo>
                    <a:lnTo>
                      <a:pt x="23" y="50"/>
                    </a:lnTo>
                    <a:lnTo>
                      <a:pt x="21" y="48"/>
                    </a:lnTo>
                    <a:lnTo>
                      <a:pt x="19" y="47"/>
                    </a:lnTo>
                    <a:lnTo>
                      <a:pt x="18" y="47"/>
                    </a:lnTo>
                    <a:lnTo>
                      <a:pt x="17" y="46"/>
                    </a:lnTo>
                    <a:lnTo>
                      <a:pt x="16" y="44"/>
                    </a:lnTo>
                    <a:lnTo>
                      <a:pt x="15" y="44"/>
                    </a:lnTo>
                    <a:lnTo>
                      <a:pt x="13" y="44"/>
                    </a:lnTo>
                    <a:lnTo>
                      <a:pt x="12" y="42"/>
                    </a:lnTo>
                    <a:lnTo>
                      <a:pt x="10" y="41"/>
                    </a:lnTo>
                    <a:lnTo>
                      <a:pt x="8" y="40"/>
                    </a:lnTo>
                    <a:lnTo>
                      <a:pt x="6" y="39"/>
                    </a:lnTo>
                    <a:lnTo>
                      <a:pt x="5" y="38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40" name="Freeform 909"/>
              <p:cNvSpPr>
                <a:spLocks/>
              </p:cNvSpPr>
              <p:nvPr/>
            </p:nvSpPr>
            <p:spPr bwMode="auto">
              <a:xfrm>
                <a:off x="2997" y="2056"/>
                <a:ext cx="14" cy="38"/>
              </a:xfrm>
              <a:custGeom>
                <a:avLst/>
                <a:gdLst>
                  <a:gd name="T0" fmla="*/ 13 w 14"/>
                  <a:gd name="T1" fmla="*/ 0 h 38"/>
                  <a:gd name="T2" fmla="*/ 13 w 14"/>
                  <a:gd name="T3" fmla="*/ 0 h 38"/>
                  <a:gd name="T4" fmla="*/ 6 w 14"/>
                  <a:gd name="T5" fmla="*/ 5 h 38"/>
                  <a:gd name="T6" fmla="*/ 2 w 14"/>
                  <a:gd name="T7" fmla="*/ 10 h 38"/>
                  <a:gd name="T8" fmla="*/ 0 w 14"/>
                  <a:gd name="T9" fmla="*/ 16 h 38"/>
                  <a:gd name="T10" fmla="*/ 0 w 14"/>
                  <a:gd name="T11" fmla="*/ 20 h 38"/>
                  <a:gd name="T12" fmla="*/ 0 w 14"/>
                  <a:gd name="T13" fmla="*/ 26 h 38"/>
                  <a:gd name="T14" fmla="*/ 2 w 14"/>
                  <a:gd name="T15" fmla="*/ 30 h 38"/>
                  <a:gd name="T16" fmla="*/ 4 w 14"/>
                  <a:gd name="T17" fmla="*/ 35 h 38"/>
                  <a:gd name="T18" fmla="*/ 6 w 14"/>
                  <a:gd name="T19" fmla="*/ 38 h 38"/>
                  <a:gd name="T20" fmla="*/ 8 w 14"/>
                  <a:gd name="T21" fmla="*/ 37 h 38"/>
                  <a:gd name="T22" fmla="*/ 6 w 14"/>
                  <a:gd name="T23" fmla="*/ 33 h 38"/>
                  <a:gd name="T24" fmla="*/ 4 w 14"/>
                  <a:gd name="T25" fmla="*/ 30 h 38"/>
                  <a:gd name="T26" fmla="*/ 2 w 14"/>
                  <a:gd name="T27" fmla="*/ 26 h 38"/>
                  <a:gd name="T28" fmla="*/ 2 w 14"/>
                  <a:gd name="T29" fmla="*/ 20 h 38"/>
                  <a:gd name="T30" fmla="*/ 2 w 14"/>
                  <a:gd name="T31" fmla="*/ 16 h 38"/>
                  <a:gd name="T32" fmla="*/ 4 w 14"/>
                  <a:gd name="T33" fmla="*/ 10 h 38"/>
                  <a:gd name="T34" fmla="*/ 8 w 14"/>
                  <a:gd name="T35" fmla="*/ 6 h 38"/>
                  <a:gd name="T36" fmla="*/ 14 w 14"/>
                  <a:gd name="T37" fmla="*/ 1 h 38"/>
                  <a:gd name="T38" fmla="*/ 13 w 14"/>
                  <a:gd name="T39" fmla="*/ 0 h 3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4"/>
                  <a:gd name="T61" fmla="*/ 0 h 38"/>
                  <a:gd name="T62" fmla="*/ 14 w 14"/>
                  <a:gd name="T63" fmla="*/ 38 h 3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4" h="38">
                    <a:moveTo>
                      <a:pt x="13" y="0"/>
                    </a:moveTo>
                    <a:lnTo>
                      <a:pt x="13" y="0"/>
                    </a:lnTo>
                    <a:lnTo>
                      <a:pt x="6" y="5"/>
                    </a:lnTo>
                    <a:lnTo>
                      <a:pt x="2" y="10"/>
                    </a:lnTo>
                    <a:lnTo>
                      <a:pt x="0" y="16"/>
                    </a:lnTo>
                    <a:lnTo>
                      <a:pt x="0" y="20"/>
                    </a:lnTo>
                    <a:lnTo>
                      <a:pt x="0" y="26"/>
                    </a:lnTo>
                    <a:lnTo>
                      <a:pt x="2" y="30"/>
                    </a:lnTo>
                    <a:lnTo>
                      <a:pt x="4" y="35"/>
                    </a:lnTo>
                    <a:lnTo>
                      <a:pt x="6" y="38"/>
                    </a:lnTo>
                    <a:lnTo>
                      <a:pt x="8" y="37"/>
                    </a:lnTo>
                    <a:lnTo>
                      <a:pt x="6" y="33"/>
                    </a:lnTo>
                    <a:lnTo>
                      <a:pt x="4" y="30"/>
                    </a:lnTo>
                    <a:lnTo>
                      <a:pt x="2" y="26"/>
                    </a:lnTo>
                    <a:lnTo>
                      <a:pt x="2" y="20"/>
                    </a:lnTo>
                    <a:lnTo>
                      <a:pt x="2" y="16"/>
                    </a:lnTo>
                    <a:lnTo>
                      <a:pt x="4" y="10"/>
                    </a:lnTo>
                    <a:lnTo>
                      <a:pt x="8" y="6"/>
                    </a:lnTo>
                    <a:lnTo>
                      <a:pt x="14" y="1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41" name="Freeform 910"/>
              <p:cNvSpPr>
                <a:spLocks/>
              </p:cNvSpPr>
              <p:nvPr/>
            </p:nvSpPr>
            <p:spPr bwMode="auto">
              <a:xfrm>
                <a:off x="3010" y="2056"/>
                <a:ext cx="231" cy="22"/>
              </a:xfrm>
              <a:custGeom>
                <a:avLst/>
                <a:gdLst>
                  <a:gd name="T0" fmla="*/ 231 w 231"/>
                  <a:gd name="T1" fmla="*/ 21 h 22"/>
                  <a:gd name="T2" fmla="*/ 228 w 231"/>
                  <a:gd name="T3" fmla="*/ 20 h 22"/>
                  <a:gd name="T4" fmla="*/ 221 w 231"/>
                  <a:gd name="T5" fmla="*/ 19 h 22"/>
                  <a:gd name="T6" fmla="*/ 210 w 231"/>
                  <a:gd name="T7" fmla="*/ 17 h 22"/>
                  <a:gd name="T8" fmla="*/ 195 w 231"/>
                  <a:gd name="T9" fmla="*/ 15 h 22"/>
                  <a:gd name="T10" fmla="*/ 178 w 231"/>
                  <a:gd name="T11" fmla="*/ 13 h 22"/>
                  <a:gd name="T12" fmla="*/ 158 w 231"/>
                  <a:gd name="T13" fmla="*/ 11 h 22"/>
                  <a:gd name="T14" fmla="*/ 137 w 231"/>
                  <a:gd name="T15" fmla="*/ 9 h 22"/>
                  <a:gd name="T16" fmla="*/ 116 w 231"/>
                  <a:gd name="T17" fmla="*/ 8 h 22"/>
                  <a:gd name="T18" fmla="*/ 96 w 231"/>
                  <a:gd name="T19" fmla="*/ 6 h 22"/>
                  <a:gd name="T20" fmla="*/ 74 w 231"/>
                  <a:gd name="T21" fmla="*/ 5 h 22"/>
                  <a:gd name="T22" fmla="*/ 55 w 231"/>
                  <a:gd name="T23" fmla="*/ 4 h 22"/>
                  <a:gd name="T24" fmla="*/ 38 w 231"/>
                  <a:gd name="T25" fmla="*/ 3 h 22"/>
                  <a:gd name="T26" fmla="*/ 22 w 231"/>
                  <a:gd name="T27" fmla="*/ 1 h 22"/>
                  <a:gd name="T28" fmla="*/ 10 w 231"/>
                  <a:gd name="T29" fmla="*/ 0 h 22"/>
                  <a:gd name="T30" fmla="*/ 3 w 231"/>
                  <a:gd name="T31" fmla="*/ 0 h 22"/>
                  <a:gd name="T32" fmla="*/ 0 w 231"/>
                  <a:gd name="T33" fmla="*/ 0 h 22"/>
                  <a:gd name="T34" fmla="*/ 3 w 231"/>
                  <a:gd name="T35" fmla="*/ 3 h 22"/>
                  <a:gd name="T36" fmla="*/ 10 w 231"/>
                  <a:gd name="T37" fmla="*/ 3 h 22"/>
                  <a:gd name="T38" fmla="*/ 22 w 231"/>
                  <a:gd name="T39" fmla="*/ 3 h 22"/>
                  <a:gd name="T40" fmla="*/ 38 w 231"/>
                  <a:gd name="T41" fmla="*/ 4 h 22"/>
                  <a:gd name="T42" fmla="*/ 55 w 231"/>
                  <a:gd name="T43" fmla="*/ 5 h 22"/>
                  <a:gd name="T44" fmla="*/ 74 w 231"/>
                  <a:gd name="T45" fmla="*/ 7 h 22"/>
                  <a:gd name="T46" fmla="*/ 96 w 231"/>
                  <a:gd name="T47" fmla="*/ 8 h 22"/>
                  <a:gd name="T48" fmla="*/ 116 w 231"/>
                  <a:gd name="T49" fmla="*/ 9 h 22"/>
                  <a:gd name="T50" fmla="*/ 137 w 231"/>
                  <a:gd name="T51" fmla="*/ 11 h 22"/>
                  <a:gd name="T52" fmla="*/ 158 w 231"/>
                  <a:gd name="T53" fmla="*/ 13 h 22"/>
                  <a:gd name="T54" fmla="*/ 178 w 231"/>
                  <a:gd name="T55" fmla="*/ 15 h 22"/>
                  <a:gd name="T56" fmla="*/ 195 w 231"/>
                  <a:gd name="T57" fmla="*/ 17 h 22"/>
                  <a:gd name="T58" fmla="*/ 210 w 231"/>
                  <a:gd name="T59" fmla="*/ 19 h 22"/>
                  <a:gd name="T60" fmla="*/ 221 w 231"/>
                  <a:gd name="T61" fmla="*/ 21 h 22"/>
                  <a:gd name="T62" fmla="*/ 228 w 231"/>
                  <a:gd name="T63" fmla="*/ 22 h 22"/>
                  <a:gd name="T64" fmla="*/ 229 w 231"/>
                  <a:gd name="T65" fmla="*/ 21 h 2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31"/>
                  <a:gd name="T100" fmla="*/ 0 h 22"/>
                  <a:gd name="T101" fmla="*/ 231 w 231"/>
                  <a:gd name="T102" fmla="*/ 22 h 2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31" h="22">
                    <a:moveTo>
                      <a:pt x="231" y="21"/>
                    </a:moveTo>
                    <a:lnTo>
                      <a:pt x="231" y="21"/>
                    </a:lnTo>
                    <a:lnTo>
                      <a:pt x="230" y="20"/>
                    </a:lnTo>
                    <a:lnTo>
                      <a:pt x="228" y="20"/>
                    </a:lnTo>
                    <a:lnTo>
                      <a:pt x="225" y="19"/>
                    </a:lnTo>
                    <a:lnTo>
                      <a:pt x="221" y="19"/>
                    </a:lnTo>
                    <a:lnTo>
                      <a:pt x="215" y="17"/>
                    </a:lnTo>
                    <a:lnTo>
                      <a:pt x="210" y="17"/>
                    </a:lnTo>
                    <a:lnTo>
                      <a:pt x="202" y="16"/>
                    </a:lnTo>
                    <a:lnTo>
                      <a:pt x="195" y="15"/>
                    </a:lnTo>
                    <a:lnTo>
                      <a:pt x="187" y="13"/>
                    </a:lnTo>
                    <a:lnTo>
                      <a:pt x="178" y="13"/>
                    </a:lnTo>
                    <a:lnTo>
                      <a:pt x="167" y="13"/>
                    </a:lnTo>
                    <a:lnTo>
                      <a:pt x="158" y="11"/>
                    </a:lnTo>
                    <a:lnTo>
                      <a:pt x="148" y="10"/>
                    </a:lnTo>
                    <a:lnTo>
                      <a:pt x="137" y="9"/>
                    </a:lnTo>
                    <a:lnTo>
                      <a:pt x="127" y="9"/>
                    </a:lnTo>
                    <a:lnTo>
                      <a:pt x="116" y="8"/>
                    </a:lnTo>
                    <a:lnTo>
                      <a:pt x="106" y="7"/>
                    </a:lnTo>
                    <a:lnTo>
                      <a:pt x="96" y="6"/>
                    </a:lnTo>
                    <a:lnTo>
                      <a:pt x="84" y="6"/>
                    </a:lnTo>
                    <a:lnTo>
                      <a:pt x="74" y="5"/>
                    </a:lnTo>
                    <a:lnTo>
                      <a:pt x="65" y="4"/>
                    </a:lnTo>
                    <a:lnTo>
                      <a:pt x="55" y="4"/>
                    </a:lnTo>
                    <a:lnTo>
                      <a:pt x="46" y="3"/>
                    </a:lnTo>
                    <a:lnTo>
                      <a:pt x="38" y="3"/>
                    </a:lnTo>
                    <a:lnTo>
                      <a:pt x="29" y="1"/>
                    </a:lnTo>
                    <a:lnTo>
                      <a:pt x="22" y="1"/>
                    </a:lnTo>
                    <a:lnTo>
                      <a:pt x="17" y="0"/>
                    </a:lnTo>
                    <a:lnTo>
                      <a:pt x="10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6" y="3"/>
                    </a:lnTo>
                    <a:lnTo>
                      <a:pt x="10" y="3"/>
                    </a:lnTo>
                    <a:lnTo>
                      <a:pt x="17" y="3"/>
                    </a:lnTo>
                    <a:lnTo>
                      <a:pt x="22" y="3"/>
                    </a:lnTo>
                    <a:lnTo>
                      <a:pt x="29" y="4"/>
                    </a:lnTo>
                    <a:lnTo>
                      <a:pt x="38" y="4"/>
                    </a:lnTo>
                    <a:lnTo>
                      <a:pt x="46" y="5"/>
                    </a:lnTo>
                    <a:lnTo>
                      <a:pt x="55" y="5"/>
                    </a:lnTo>
                    <a:lnTo>
                      <a:pt x="65" y="6"/>
                    </a:lnTo>
                    <a:lnTo>
                      <a:pt x="74" y="7"/>
                    </a:lnTo>
                    <a:lnTo>
                      <a:pt x="84" y="7"/>
                    </a:lnTo>
                    <a:lnTo>
                      <a:pt x="96" y="8"/>
                    </a:lnTo>
                    <a:lnTo>
                      <a:pt x="106" y="9"/>
                    </a:lnTo>
                    <a:lnTo>
                      <a:pt x="116" y="9"/>
                    </a:lnTo>
                    <a:lnTo>
                      <a:pt x="127" y="10"/>
                    </a:lnTo>
                    <a:lnTo>
                      <a:pt x="137" y="11"/>
                    </a:lnTo>
                    <a:lnTo>
                      <a:pt x="148" y="13"/>
                    </a:lnTo>
                    <a:lnTo>
                      <a:pt x="158" y="13"/>
                    </a:lnTo>
                    <a:lnTo>
                      <a:pt x="167" y="15"/>
                    </a:lnTo>
                    <a:lnTo>
                      <a:pt x="178" y="15"/>
                    </a:lnTo>
                    <a:lnTo>
                      <a:pt x="187" y="16"/>
                    </a:lnTo>
                    <a:lnTo>
                      <a:pt x="195" y="17"/>
                    </a:lnTo>
                    <a:lnTo>
                      <a:pt x="202" y="19"/>
                    </a:lnTo>
                    <a:lnTo>
                      <a:pt x="210" y="19"/>
                    </a:lnTo>
                    <a:lnTo>
                      <a:pt x="215" y="20"/>
                    </a:lnTo>
                    <a:lnTo>
                      <a:pt x="221" y="21"/>
                    </a:lnTo>
                    <a:lnTo>
                      <a:pt x="225" y="21"/>
                    </a:lnTo>
                    <a:lnTo>
                      <a:pt x="228" y="22"/>
                    </a:lnTo>
                    <a:lnTo>
                      <a:pt x="229" y="22"/>
                    </a:lnTo>
                    <a:lnTo>
                      <a:pt x="229" y="21"/>
                    </a:lnTo>
                    <a:lnTo>
                      <a:pt x="231" y="2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42" name="Freeform 911"/>
              <p:cNvSpPr>
                <a:spLocks/>
              </p:cNvSpPr>
              <p:nvPr/>
            </p:nvSpPr>
            <p:spPr bwMode="auto">
              <a:xfrm>
                <a:off x="3239" y="2076"/>
                <a:ext cx="5" cy="37"/>
              </a:xfrm>
              <a:custGeom>
                <a:avLst/>
                <a:gdLst>
                  <a:gd name="T0" fmla="*/ 4 w 5"/>
                  <a:gd name="T1" fmla="*/ 36 h 37"/>
                  <a:gd name="T2" fmla="*/ 5 w 5"/>
                  <a:gd name="T3" fmla="*/ 36 h 37"/>
                  <a:gd name="T4" fmla="*/ 4 w 5"/>
                  <a:gd name="T5" fmla="*/ 27 h 37"/>
                  <a:gd name="T6" fmla="*/ 4 w 5"/>
                  <a:gd name="T7" fmla="*/ 17 h 37"/>
                  <a:gd name="T8" fmla="*/ 2 w 5"/>
                  <a:gd name="T9" fmla="*/ 8 h 37"/>
                  <a:gd name="T10" fmla="*/ 2 w 5"/>
                  <a:gd name="T11" fmla="*/ 0 h 37"/>
                  <a:gd name="T12" fmla="*/ 0 w 5"/>
                  <a:gd name="T13" fmla="*/ 0 h 37"/>
                  <a:gd name="T14" fmla="*/ 0 w 5"/>
                  <a:gd name="T15" fmla="*/ 8 h 37"/>
                  <a:gd name="T16" fmla="*/ 1 w 5"/>
                  <a:gd name="T17" fmla="*/ 17 h 37"/>
                  <a:gd name="T18" fmla="*/ 1 w 5"/>
                  <a:gd name="T19" fmla="*/ 27 h 37"/>
                  <a:gd name="T20" fmla="*/ 2 w 5"/>
                  <a:gd name="T21" fmla="*/ 36 h 37"/>
                  <a:gd name="T22" fmla="*/ 4 w 5"/>
                  <a:gd name="T23" fmla="*/ 37 h 37"/>
                  <a:gd name="T24" fmla="*/ 2 w 5"/>
                  <a:gd name="T25" fmla="*/ 36 h 37"/>
                  <a:gd name="T26" fmla="*/ 2 w 5"/>
                  <a:gd name="T27" fmla="*/ 37 h 37"/>
                  <a:gd name="T28" fmla="*/ 4 w 5"/>
                  <a:gd name="T29" fmla="*/ 37 h 37"/>
                  <a:gd name="T30" fmla="*/ 4 w 5"/>
                  <a:gd name="T31" fmla="*/ 36 h 3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"/>
                  <a:gd name="T49" fmla="*/ 0 h 37"/>
                  <a:gd name="T50" fmla="*/ 5 w 5"/>
                  <a:gd name="T51" fmla="*/ 37 h 3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" h="37">
                    <a:moveTo>
                      <a:pt x="4" y="36"/>
                    </a:moveTo>
                    <a:lnTo>
                      <a:pt x="5" y="36"/>
                    </a:lnTo>
                    <a:lnTo>
                      <a:pt x="4" y="27"/>
                    </a:lnTo>
                    <a:lnTo>
                      <a:pt x="4" y="17"/>
                    </a:lnTo>
                    <a:lnTo>
                      <a:pt x="2" y="8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" y="17"/>
                    </a:lnTo>
                    <a:lnTo>
                      <a:pt x="1" y="27"/>
                    </a:lnTo>
                    <a:lnTo>
                      <a:pt x="2" y="36"/>
                    </a:lnTo>
                    <a:lnTo>
                      <a:pt x="4" y="37"/>
                    </a:lnTo>
                    <a:lnTo>
                      <a:pt x="2" y="36"/>
                    </a:lnTo>
                    <a:lnTo>
                      <a:pt x="2" y="37"/>
                    </a:lnTo>
                    <a:lnTo>
                      <a:pt x="4" y="37"/>
                    </a:lnTo>
                    <a:lnTo>
                      <a:pt x="4" y="3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43" name="Freeform 912"/>
              <p:cNvSpPr>
                <a:spLocks/>
              </p:cNvSpPr>
              <p:nvPr/>
            </p:nvSpPr>
            <p:spPr bwMode="auto">
              <a:xfrm>
                <a:off x="3241" y="2111"/>
                <a:ext cx="9" cy="12"/>
              </a:xfrm>
              <a:custGeom>
                <a:avLst/>
                <a:gdLst>
                  <a:gd name="T0" fmla="*/ 5 w 9"/>
                  <a:gd name="T1" fmla="*/ 12 h 12"/>
                  <a:gd name="T2" fmla="*/ 5 w 9"/>
                  <a:gd name="T3" fmla="*/ 12 h 12"/>
                  <a:gd name="T4" fmla="*/ 8 w 9"/>
                  <a:gd name="T5" fmla="*/ 11 h 12"/>
                  <a:gd name="T6" fmla="*/ 9 w 9"/>
                  <a:gd name="T7" fmla="*/ 8 h 12"/>
                  <a:gd name="T8" fmla="*/ 9 w 9"/>
                  <a:gd name="T9" fmla="*/ 7 h 12"/>
                  <a:gd name="T10" fmla="*/ 8 w 9"/>
                  <a:gd name="T11" fmla="*/ 5 h 12"/>
                  <a:gd name="T12" fmla="*/ 7 w 9"/>
                  <a:gd name="T13" fmla="*/ 3 h 12"/>
                  <a:gd name="T14" fmla="*/ 5 w 9"/>
                  <a:gd name="T15" fmla="*/ 2 h 12"/>
                  <a:gd name="T16" fmla="*/ 3 w 9"/>
                  <a:gd name="T17" fmla="*/ 1 h 12"/>
                  <a:gd name="T18" fmla="*/ 2 w 9"/>
                  <a:gd name="T19" fmla="*/ 0 h 12"/>
                  <a:gd name="T20" fmla="*/ 0 w 9"/>
                  <a:gd name="T21" fmla="*/ 1 h 12"/>
                  <a:gd name="T22" fmla="*/ 2 w 9"/>
                  <a:gd name="T23" fmla="*/ 2 h 12"/>
                  <a:gd name="T24" fmla="*/ 4 w 9"/>
                  <a:gd name="T25" fmla="*/ 3 h 12"/>
                  <a:gd name="T26" fmla="*/ 5 w 9"/>
                  <a:gd name="T27" fmla="*/ 5 h 12"/>
                  <a:gd name="T28" fmla="*/ 7 w 9"/>
                  <a:gd name="T29" fmla="*/ 5 h 12"/>
                  <a:gd name="T30" fmla="*/ 7 w 9"/>
                  <a:gd name="T31" fmla="*/ 7 h 12"/>
                  <a:gd name="T32" fmla="*/ 7 w 9"/>
                  <a:gd name="T33" fmla="*/ 8 h 12"/>
                  <a:gd name="T34" fmla="*/ 7 w 9"/>
                  <a:gd name="T35" fmla="*/ 9 h 12"/>
                  <a:gd name="T36" fmla="*/ 4 w 9"/>
                  <a:gd name="T37" fmla="*/ 11 h 12"/>
                  <a:gd name="T38" fmla="*/ 5 w 9"/>
                  <a:gd name="T39" fmla="*/ 12 h 1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9"/>
                  <a:gd name="T61" fmla="*/ 0 h 12"/>
                  <a:gd name="T62" fmla="*/ 9 w 9"/>
                  <a:gd name="T63" fmla="*/ 12 h 1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9" h="12">
                    <a:moveTo>
                      <a:pt x="5" y="12"/>
                    </a:moveTo>
                    <a:lnTo>
                      <a:pt x="5" y="12"/>
                    </a:lnTo>
                    <a:lnTo>
                      <a:pt x="8" y="11"/>
                    </a:lnTo>
                    <a:lnTo>
                      <a:pt x="9" y="8"/>
                    </a:lnTo>
                    <a:lnTo>
                      <a:pt x="9" y="7"/>
                    </a:lnTo>
                    <a:lnTo>
                      <a:pt x="8" y="5"/>
                    </a:lnTo>
                    <a:lnTo>
                      <a:pt x="7" y="3"/>
                    </a:lnTo>
                    <a:lnTo>
                      <a:pt x="5" y="2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5"/>
                    </a:lnTo>
                    <a:lnTo>
                      <a:pt x="7" y="5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7" y="9"/>
                    </a:lnTo>
                    <a:lnTo>
                      <a:pt x="4" y="11"/>
                    </a:ln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44" name="Freeform 913"/>
              <p:cNvSpPr>
                <a:spLocks/>
              </p:cNvSpPr>
              <p:nvPr/>
            </p:nvSpPr>
            <p:spPr bwMode="auto">
              <a:xfrm>
                <a:off x="3143" y="2122"/>
                <a:ext cx="103" cy="45"/>
              </a:xfrm>
              <a:custGeom>
                <a:avLst/>
                <a:gdLst>
                  <a:gd name="T0" fmla="*/ 1 w 103"/>
                  <a:gd name="T1" fmla="*/ 45 h 45"/>
                  <a:gd name="T2" fmla="*/ 3 w 103"/>
                  <a:gd name="T3" fmla="*/ 44 h 45"/>
                  <a:gd name="T4" fmla="*/ 9 w 103"/>
                  <a:gd name="T5" fmla="*/ 42 h 45"/>
                  <a:gd name="T6" fmla="*/ 14 w 103"/>
                  <a:gd name="T7" fmla="*/ 40 h 45"/>
                  <a:gd name="T8" fmla="*/ 20 w 103"/>
                  <a:gd name="T9" fmla="*/ 37 h 45"/>
                  <a:gd name="T10" fmla="*/ 27 w 103"/>
                  <a:gd name="T11" fmla="*/ 35 h 45"/>
                  <a:gd name="T12" fmla="*/ 35 w 103"/>
                  <a:gd name="T13" fmla="*/ 31 h 45"/>
                  <a:gd name="T14" fmla="*/ 44 w 103"/>
                  <a:gd name="T15" fmla="*/ 27 h 45"/>
                  <a:gd name="T16" fmla="*/ 52 w 103"/>
                  <a:gd name="T17" fmla="*/ 23 h 45"/>
                  <a:gd name="T18" fmla="*/ 60 w 103"/>
                  <a:gd name="T19" fmla="*/ 20 h 45"/>
                  <a:gd name="T20" fmla="*/ 70 w 103"/>
                  <a:gd name="T21" fmla="*/ 17 h 45"/>
                  <a:gd name="T22" fmla="*/ 77 w 103"/>
                  <a:gd name="T23" fmla="*/ 12 h 45"/>
                  <a:gd name="T24" fmla="*/ 83 w 103"/>
                  <a:gd name="T25" fmla="*/ 9 h 45"/>
                  <a:gd name="T26" fmla="*/ 90 w 103"/>
                  <a:gd name="T27" fmla="*/ 6 h 45"/>
                  <a:gd name="T28" fmla="*/ 96 w 103"/>
                  <a:gd name="T29" fmla="*/ 4 h 45"/>
                  <a:gd name="T30" fmla="*/ 100 w 103"/>
                  <a:gd name="T31" fmla="*/ 3 h 45"/>
                  <a:gd name="T32" fmla="*/ 103 w 103"/>
                  <a:gd name="T33" fmla="*/ 1 h 45"/>
                  <a:gd name="T34" fmla="*/ 101 w 103"/>
                  <a:gd name="T35" fmla="*/ 0 h 45"/>
                  <a:gd name="T36" fmla="*/ 97 w 103"/>
                  <a:gd name="T37" fmla="*/ 2 h 45"/>
                  <a:gd name="T38" fmla="*/ 92 w 103"/>
                  <a:gd name="T39" fmla="*/ 4 h 45"/>
                  <a:gd name="T40" fmla="*/ 86 w 103"/>
                  <a:gd name="T41" fmla="*/ 6 h 45"/>
                  <a:gd name="T42" fmla="*/ 79 w 103"/>
                  <a:gd name="T43" fmla="*/ 9 h 45"/>
                  <a:gd name="T44" fmla="*/ 73 w 103"/>
                  <a:gd name="T45" fmla="*/ 12 h 45"/>
                  <a:gd name="T46" fmla="*/ 64 w 103"/>
                  <a:gd name="T47" fmla="*/ 17 h 45"/>
                  <a:gd name="T48" fmla="*/ 56 w 103"/>
                  <a:gd name="T49" fmla="*/ 20 h 45"/>
                  <a:gd name="T50" fmla="*/ 47 w 103"/>
                  <a:gd name="T51" fmla="*/ 23 h 45"/>
                  <a:gd name="T52" fmla="*/ 39 w 103"/>
                  <a:gd name="T53" fmla="*/ 27 h 45"/>
                  <a:gd name="T54" fmla="*/ 31 w 103"/>
                  <a:gd name="T55" fmla="*/ 31 h 45"/>
                  <a:gd name="T56" fmla="*/ 23 w 103"/>
                  <a:gd name="T57" fmla="*/ 35 h 45"/>
                  <a:gd name="T58" fmla="*/ 16 w 103"/>
                  <a:gd name="T59" fmla="*/ 37 h 45"/>
                  <a:gd name="T60" fmla="*/ 11 w 103"/>
                  <a:gd name="T61" fmla="*/ 40 h 45"/>
                  <a:gd name="T62" fmla="*/ 5 w 103"/>
                  <a:gd name="T63" fmla="*/ 42 h 45"/>
                  <a:gd name="T64" fmla="*/ 1 w 103"/>
                  <a:gd name="T65" fmla="*/ 43 h 45"/>
                  <a:gd name="T66" fmla="*/ 1 w 103"/>
                  <a:gd name="T67" fmla="*/ 45 h 4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5"/>
                  <a:gd name="T104" fmla="*/ 103 w 103"/>
                  <a:gd name="T105" fmla="*/ 45 h 45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5">
                    <a:moveTo>
                      <a:pt x="1" y="45"/>
                    </a:moveTo>
                    <a:lnTo>
                      <a:pt x="1" y="45"/>
                    </a:lnTo>
                    <a:lnTo>
                      <a:pt x="2" y="44"/>
                    </a:lnTo>
                    <a:lnTo>
                      <a:pt x="3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2" y="41"/>
                    </a:lnTo>
                    <a:lnTo>
                      <a:pt x="14" y="40"/>
                    </a:lnTo>
                    <a:lnTo>
                      <a:pt x="17" y="39"/>
                    </a:lnTo>
                    <a:lnTo>
                      <a:pt x="20" y="37"/>
                    </a:lnTo>
                    <a:lnTo>
                      <a:pt x="24" y="35"/>
                    </a:lnTo>
                    <a:lnTo>
                      <a:pt x="27" y="35"/>
                    </a:lnTo>
                    <a:lnTo>
                      <a:pt x="31" y="32"/>
                    </a:lnTo>
                    <a:lnTo>
                      <a:pt x="35" y="31"/>
                    </a:lnTo>
                    <a:lnTo>
                      <a:pt x="40" y="28"/>
                    </a:lnTo>
                    <a:lnTo>
                      <a:pt x="44" y="27"/>
                    </a:lnTo>
                    <a:lnTo>
                      <a:pt x="47" y="25"/>
                    </a:lnTo>
                    <a:lnTo>
                      <a:pt x="52" y="23"/>
                    </a:lnTo>
                    <a:lnTo>
                      <a:pt x="57" y="21"/>
                    </a:lnTo>
                    <a:lnTo>
                      <a:pt x="60" y="20"/>
                    </a:lnTo>
                    <a:lnTo>
                      <a:pt x="64" y="18"/>
                    </a:lnTo>
                    <a:lnTo>
                      <a:pt x="70" y="17"/>
                    </a:lnTo>
                    <a:lnTo>
                      <a:pt x="73" y="14"/>
                    </a:lnTo>
                    <a:lnTo>
                      <a:pt x="77" y="12"/>
                    </a:lnTo>
                    <a:lnTo>
                      <a:pt x="80" y="10"/>
                    </a:lnTo>
                    <a:lnTo>
                      <a:pt x="83" y="9"/>
                    </a:lnTo>
                    <a:lnTo>
                      <a:pt x="87" y="7"/>
                    </a:lnTo>
                    <a:lnTo>
                      <a:pt x="90" y="6"/>
                    </a:lnTo>
                    <a:lnTo>
                      <a:pt x="92" y="5"/>
                    </a:lnTo>
                    <a:lnTo>
                      <a:pt x="96" y="4"/>
                    </a:lnTo>
                    <a:lnTo>
                      <a:pt x="98" y="3"/>
                    </a:lnTo>
                    <a:lnTo>
                      <a:pt x="100" y="3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100" y="1"/>
                    </a:lnTo>
                    <a:lnTo>
                      <a:pt x="97" y="2"/>
                    </a:lnTo>
                    <a:lnTo>
                      <a:pt x="95" y="3"/>
                    </a:lnTo>
                    <a:lnTo>
                      <a:pt x="92" y="4"/>
                    </a:lnTo>
                    <a:lnTo>
                      <a:pt x="89" y="5"/>
                    </a:lnTo>
                    <a:lnTo>
                      <a:pt x="86" y="6"/>
                    </a:lnTo>
                    <a:lnTo>
                      <a:pt x="82" y="7"/>
                    </a:lnTo>
                    <a:lnTo>
                      <a:pt x="79" y="9"/>
                    </a:lnTo>
                    <a:lnTo>
                      <a:pt x="76" y="10"/>
                    </a:lnTo>
                    <a:lnTo>
                      <a:pt x="73" y="12"/>
                    </a:lnTo>
                    <a:lnTo>
                      <a:pt x="67" y="14"/>
                    </a:lnTo>
                    <a:lnTo>
                      <a:pt x="64" y="17"/>
                    </a:lnTo>
                    <a:lnTo>
                      <a:pt x="60" y="18"/>
                    </a:lnTo>
                    <a:lnTo>
                      <a:pt x="56" y="20"/>
                    </a:lnTo>
                    <a:lnTo>
                      <a:pt x="50" y="22"/>
                    </a:lnTo>
                    <a:lnTo>
                      <a:pt x="47" y="23"/>
                    </a:lnTo>
                    <a:lnTo>
                      <a:pt x="43" y="25"/>
                    </a:lnTo>
                    <a:lnTo>
                      <a:pt x="39" y="27"/>
                    </a:lnTo>
                    <a:lnTo>
                      <a:pt x="35" y="28"/>
                    </a:lnTo>
                    <a:lnTo>
                      <a:pt x="31" y="31"/>
                    </a:lnTo>
                    <a:lnTo>
                      <a:pt x="27" y="32"/>
                    </a:lnTo>
                    <a:lnTo>
                      <a:pt x="23" y="35"/>
                    </a:lnTo>
                    <a:lnTo>
                      <a:pt x="19" y="35"/>
                    </a:lnTo>
                    <a:lnTo>
                      <a:pt x="16" y="37"/>
                    </a:lnTo>
                    <a:lnTo>
                      <a:pt x="14" y="37"/>
                    </a:lnTo>
                    <a:lnTo>
                      <a:pt x="11" y="40"/>
                    </a:lnTo>
                    <a:lnTo>
                      <a:pt x="9" y="41"/>
                    </a:lnTo>
                    <a:lnTo>
                      <a:pt x="5" y="42"/>
                    </a:lnTo>
                    <a:lnTo>
                      <a:pt x="3" y="42"/>
                    </a:lnTo>
                    <a:lnTo>
                      <a:pt x="1" y="43"/>
                    </a:lnTo>
                    <a:lnTo>
                      <a:pt x="0" y="43"/>
                    </a:lnTo>
                    <a:lnTo>
                      <a:pt x="1" y="45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45" name="Freeform 914"/>
              <p:cNvSpPr>
                <a:spLocks/>
              </p:cNvSpPr>
              <p:nvPr/>
            </p:nvSpPr>
            <p:spPr bwMode="auto">
              <a:xfrm>
                <a:off x="3129" y="2163"/>
                <a:ext cx="14" cy="4"/>
              </a:xfrm>
              <a:custGeom>
                <a:avLst/>
                <a:gdLst>
                  <a:gd name="T0" fmla="*/ 0 w 14"/>
                  <a:gd name="T1" fmla="*/ 1 h 4"/>
                  <a:gd name="T2" fmla="*/ 0 w 14"/>
                  <a:gd name="T3" fmla="*/ 1 h 4"/>
                  <a:gd name="T4" fmla="*/ 1 w 14"/>
                  <a:gd name="T5" fmla="*/ 2 h 4"/>
                  <a:gd name="T6" fmla="*/ 3 w 14"/>
                  <a:gd name="T7" fmla="*/ 3 h 4"/>
                  <a:gd name="T8" fmla="*/ 7 w 14"/>
                  <a:gd name="T9" fmla="*/ 3 h 4"/>
                  <a:gd name="T10" fmla="*/ 7 w 14"/>
                  <a:gd name="T11" fmla="*/ 3 h 4"/>
                  <a:gd name="T12" fmla="*/ 10 w 14"/>
                  <a:gd name="T13" fmla="*/ 4 h 4"/>
                  <a:gd name="T14" fmla="*/ 11 w 14"/>
                  <a:gd name="T15" fmla="*/ 4 h 4"/>
                  <a:gd name="T16" fmla="*/ 13 w 14"/>
                  <a:gd name="T17" fmla="*/ 4 h 4"/>
                  <a:gd name="T18" fmla="*/ 14 w 14"/>
                  <a:gd name="T19" fmla="*/ 4 h 4"/>
                  <a:gd name="T20" fmla="*/ 13 w 14"/>
                  <a:gd name="T21" fmla="*/ 2 h 4"/>
                  <a:gd name="T22" fmla="*/ 11 w 14"/>
                  <a:gd name="T23" fmla="*/ 2 h 4"/>
                  <a:gd name="T24" fmla="*/ 10 w 14"/>
                  <a:gd name="T25" fmla="*/ 2 h 4"/>
                  <a:gd name="T26" fmla="*/ 9 w 14"/>
                  <a:gd name="T27" fmla="*/ 2 h 4"/>
                  <a:gd name="T28" fmla="*/ 7 w 14"/>
                  <a:gd name="T29" fmla="*/ 1 h 4"/>
                  <a:gd name="T30" fmla="*/ 3 w 14"/>
                  <a:gd name="T31" fmla="*/ 1 h 4"/>
                  <a:gd name="T32" fmla="*/ 2 w 14"/>
                  <a:gd name="T33" fmla="*/ 1 h 4"/>
                  <a:gd name="T34" fmla="*/ 1 w 14"/>
                  <a:gd name="T35" fmla="*/ 0 h 4"/>
                  <a:gd name="T36" fmla="*/ 0 w 14"/>
                  <a:gd name="T37" fmla="*/ 1 h 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4"/>
                  <a:gd name="T59" fmla="*/ 14 w 14"/>
                  <a:gd name="T60" fmla="*/ 4 h 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4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3" y="3"/>
                    </a:lnTo>
                    <a:lnTo>
                      <a:pt x="7" y="3"/>
                    </a:lnTo>
                    <a:lnTo>
                      <a:pt x="10" y="4"/>
                    </a:lnTo>
                    <a:lnTo>
                      <a:pt x="11" y="4"/>
                    </a:lnTo>
                    <a:lnTo>
                      <a:pt x="13" y="4"/>
                    </a:lnTo>
                    <a:lnTo>
                      <a:pt x="14" y="4"/>
                    </a:lnTo>
                    <a:lnTo>
                      <a:pt x="13" y="2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2"/>
                    </a:lnTo>
                    <a:lnTo>
                      <a:pt x="7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46" name="Freeform 915"/>
              <p:cNvSpPr>
                <a:spLocks/>
              </p:cNvSpPr>
              <p:nvPr/>
            </p:nvSpPr>
            <p:spPr bwMode="auto">
              <a:xfrm>
                <a:off x="3015" y="2102"/>
                <a:ext cx="115" cy="62"/>
              </a:xfrm>
              <a:custGeom>
                <a:avLst/>
                <a:gdLst>
                  <a:gd name="T0" fmla="*/ 0 w 115"/>
                  <a:gd name="T1" fmla="*/ 1 h 62"/>
                  <a:gd name="T2" fmla="*/ 2 w 115"/>
                  <a:gd name="T3" fmla="*/ 2 h 62"/>
                  <a:gd name="T4" fmla="*/ 5 w 115"/>
                  <a:gd name="T5" fmla="*/ 5 h 62"/>
                  <a:gd name="T6" fmla="*/ 11 w 115"/>
                  <a:gd name="T7" fmla="*/ 8 h 62"/>
                  <a:gd name="T8" fmla="*/ 18 w 115"/>
                  <a:gd name="T9" fmla="*/ 11 h 62"/>
                  <a:gd name="T10" fmla="*/ 26 w 115"/>
                  <a:gd name="T11" fmla="*/ 16 h 62"/>
                  <a:gd name="T12" fmla="*/ 35 w 115"/>
                  <a:gd name="T13" fmla="*/ 21 h 62"/>
                  <a:gd name="T14" fmla="*/ 45 w 115"/>
                  <a:gd name="T15" fmla="*/ 26 h 62"/>
                  <a:gd name="T16" fmla="*/ 54 w 115"/>
                  <a:gd name="T17" fmla="*/ 30 h 62"/>
                  <a:gd name="T18" fmla="*/ 64 w 115"/>
                  <a:gd name="T19" fmla="*/ 37 h 62"/>
                  <a:gd name="T20" fmla="*/ 75 w 115"/>
                  <a:gd name="T21" fmla="*/ 41 h 62"/>
                  <a:gd name="T22" fmla="*/ 83 w 115"/>
                  <a:gd name="T23" fmla="*/ 46 h 62"/>
                  <a:gd name="T24" fmla="*/ 93 w 115"/>
                  <a:gd name="T25" fmla="*/ 52 h 62"/>
                  <a:gd name="T26" fmla="*/ 99 w 115"/>
                  <a:gd name="T27" fmla="*/ 55 h 62"/>
                  <a:gd name="T28" fmla="*/ 107 w 115"/>
                  <a:gd name="T29" fmla="*/ 58 h 62"/>
                  <a:gd name="T30" fmla="*/ 112 w 115"/>
                  <a:gd name="T31" fmla="*/ 61 h 62"/>
                  <a:gd name="T32" fmla="*/ 114 w 115"/>
                  <a:gd name="T33" fmla="*/ 62 h 62"/>
                  <a:gd name="T34" fmla="*/ 114 w 115"/>
                  <a:gd name="T35" fmla="*/ 60 h 62"/>
                  <a:gd name="T36" fmla="*/ 110 w 115"/>
                  <a:gd name="T37" fmla="*/ 58 h 62"/>
                  <a:gd name="T38" fmla="*/ 104 w 115"/>
                  <a:gd name="T39" fmla="*/ 55 h 62"/>
                  <a:gd name="T40" fmla="*/ 97 w 115"/>
                  <a:gd name="T41" fmla="*/ 52 h 62"/>
                  <a:gd name="T42" fmla="*/ 90 w 115"/>
                  <a:gd name="T43" fmla="*/ 46 h 62"/>
                  <a:gd name="T44" fmla="*/ 80 w 115"/>
                  <a:gd name="T45" fmla="*/ 42 h 62"/>
                  <a:gd name="T46" fmla="*/ 70 w 115"/>
                  <a:gd name="T47" fmla="*/ 38 h 62"/>
                  <a:gd name="T48" fmla="*/ 61 w 115"/>
                  <a:gd name="T49" fmla="*/ 32 h 62"/>
                  <a:gd name="T50" fmla="*/ 51 w 115"/>
                  <a:gd name="T51" fmla="*/ 26 h 62"/>
                  <a:gd name="T52" fmla="*/ 41 w 115"/>
                  <a:gd name="T53" fmla="*/ 22 h 62"/>
                  <a:gd name="T54" fmla="*/ 32 w 115"/>
                  <a:gd name="T55" fmla="*/ 17 h 62"/>
                  <a:gd name="T56" fmla="*/ 23 w 115"/>
                  <a:gd name="T57" fmla="*/ 13 h 62"/>
                  <a:gd name="T58" fmla="*/ 16 w 115"/>
                  <a:gd name="T59" fmla="*/ 8 h 62"/>
                  <a:gd name="T60" fmla="*/ 8 w 115"/>
                  <a:gd name="T61" fmla="*/ 5 h 62"/>
                  <a:gd name="T62" fmla="*/ 4 w 115"/>
                  <a:gd name="T63" fmla="*/ 2 h 62"/>
                  <a:gd name="T64" fmla="*/ 1 w 115"/>
                  <a:gd name="T65" fmla="*/ 0 h 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2"/>
                  <a:gd name="T101" fmla="*/ 115 w 115"/>
                  <a:gd name="T102" fmla="*/ 62 h 6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2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4"/>
                    </a:lnTo>
                    <a:lnTo>
                      <a:pt x="5" y="5"/>
                    </a:lnTo>
                    <a:lnTo>
                      <a:pt x="7" y="6"/>
                    </a:lnTo>
                    <a:lnTo>
                      <a:pt x="11" y="8"/>
                    </a:lnTo>
                    <a:lnTo>
                      <a:pt x="15" y="11"/>
                    </a:lnTo>
                    <a:lnTo>
                      <a:pt x="18" y="11"/>
                    </a:lnTo>
                    <a:lnTo>
                      <a:pt x="22" y="14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1"/>
                    </a:lnTo>
                    <a:lnTo>
                      <a:pt x="39" y="23"/>
                    </a:lnTo>
                    <a:lnTo>
                      <a:pt x="45" y="26"/>
                    </a:lnTo>
                    <a:lnTo>
                      <a:pt x="49" y="28"/>
                    </a:lnTo>
                    <a:lnTo>
                      <a:pt x="54" y="30"/>
                    </a:lnTo>
                    <a:lnTo>
                      <a:pt x="60" y="34"/>
                    </a:lnTo>
                    <a:lnTo>
                      <a:pt x="64" y="37"/>
                    </a:lnTo>
                    <a:lnTo>
                      <a:pt x="70" y="39"/>
                    </a:lnTo>
                    <a:lnTo>
                      <a:pt x="75" y="41"/>
                    </a:lnTo>
                    <a:lnTo>
                      <a:pt x="79" y="44"/>
                    </a:lnTo>
                    <a:lnTo>
                      <a:pt x="83" y="46"/>
                    </a:lnTo>
                    <a:lnTo>
                      <a:pt x="88" y="48"/>
                    </a:lnTo>
                    <a:lnTo>
                      <a:pt x="93" y="52"/>
                    </a:lnTo>
                    <a:lnTo>
                      <a:pt x="96" y="54"/>
                    </a:lnTo>
                    <a:lnTo>
                      <a:pt x="99" y="55"/>
                    </a:lnTo>
                    <a:lnTo>
                      <a:pt x="102" y="57"/>
                    </a:lnTo>
                    <a:lnTo>
                      <a:pt x="107" y="58"/>
                    </a:lnTo>
                    <a:lnTo>
                      <a:pt x="110" y="60"/>
                    </a:lnTo>
                    <a:lnTo>
                      <a:pt x="112" y="61"/>
                    </a:lnTo>
                    <a:lnTo>
                      <a:pt x="113" y="61"/>
                    </a:lnTo>
                    <a:lnTo>
                      <a:pt x="114" y="62"/>
                    </a:lnTo>
                    <a:lnTo>
                      <a:pt x="115" y="61"/>
                    </a:lnTo>
                    <a:lnTo>
                      <a:pt x="114" y="60"/>
                    </a:lnTo>
                    <a:lnTo>
                      <a:pt x="112" y="59"/>
                    </a:lnTo>
                    <a:lnTo>
                      <a:pt x="110" y="58"/>
                    </a:lnTo>
                    <a:lnTo>
                      <a:pt x="107" y="57"/>
                    </a:lnTo>
                    <a:lnTo>
                      <a:pt x="104" y="55"/>
                    </a:lnTo>
                    <a:lnTo>
                      <a:pt x="100" y="54"/>
                    </a:lnTo>
                    <a:lnTo>
                      <a:pt x="97" y="52"/>
                    </a:lnTo>
                    <a:lnTo>
                      <a:pt x="94" y="48"/>
                    </a:lnTo>
                    <a:lnTo>
                      <a:pt x="90" y="46"/>
                    </a:lnTo>
                    <a:lnTo>
                      <a:pt x="84" y="44"/>
                    </a:lnTo>
                    <a:lnTo>
                      <a:pt x="80" y="42"/>
                    </a:lnTo>
                    <a:lnTo>
                      <a:pt x="76" y="40"/>
                    </a:lnTo>
                    <a:lnTo>
                      <a:pt x="70" y="38"/>
                    </a:lnTo>
                    <a:lnTo>
                      <a:pt x="65" y="36"/>
                    </a:lnTo>
                    <a:lnTo>
                      <a:pt x="61" y="32"/>
                    </a:lnTo>
                    <a:lnTo>
                      <a:pt x="55" y="29"/>
                    </a:lnTo>
                    <a:lnTo>
                      <a:pt x="51" y="26"/>
                    </a:lnTo>
                    <a:lnTo>
                      <a:pt x="46" y="24"/>
                    </a:lnTo>
                    <a:lnTo>
                      <a:pt x="41" y="22"/>
                    </a:lnTo>
                    <a:lnTo>
                      <a:pt x="36" y="20"/>
                    </a:lnTo>
                    <a:lnTo>
                      <a:pt x="32" y="17"/>
                    </a:lnTo>
                    <a:lnTo>
                      <a:pt x="27" y="15"/>
                    </a:lnTo>
                    <a:lnTo>
                      <a:pt x="23" y="13"/>
                    </a:lnTo>
                    <a:lnTo>
                      <a:pt x="19" y="11"/>
                    </a:lnTo>
                    <a:lnTo>
                      <a:pt x="16" y="8"/>
                    </a:lnTo>
                    <a:lnTo>
                      <a:pt x="13" y="6"/>
                    </a:lnTo>
                    <a:lnTo>
                      <a:pt x="8" y="5"/>
                    </a:lnTo>
                    <a:lnTo>
                      <a:pt x="6" y="4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47" name="Freeform 916"/>
              <p:cNvSpPr>
                <a:spLocks/>
              </p:cNvSpPr>
              <p:nvPr/>
            </p:nvSpPr>
            <p:spPr bwMode="auto">
              <a:xfrm>
                <a:off x="3003" y="2093"/>
                <a:ext cx="13" cy="10"/>
              </a:xfrm>
              <a:custGeom>
                <a:avLst/>
                <a:gdLst>
                  <a:gd name="T0" fmla="*/ 0 w 13"/>
                  <a:gd name="T1" fmla="*/ 1 h 10"/>
                  <a:gd name="T2" fmla="*/ 0 w 13"/>
                  <a:gd name="T3" fmla="*/ 1 h 10"/>
                  <a:gd name="T4" fmla="*/ 1 w 13"/>
                  <a:gd name="T5" fmla="*/ 3 h 10"/>
                  <a:gd name="T6" fmla="*/ 2 w 13"/>
                  <a:gd name="T7" fmla="*/ 4 h 10"/>
                  <a:gd name="T8" fmla="*/ 5 w 13"/>
                  <a:gd name="T9" fmla="*/ 5 h 10"/>
                  <a:gd name="T10" fmla="*/ 7 w 13"/>
                  <a:gd name="T11" fmla="*/ 7 h 10"/>
                  <a:gd name="T12" fmla="*/ 8 w 13"/>
                  <a:gd name="T13" fmla="*/ 7 h 10"/>
                  <a:gd name="T14" fmla="*/ 9 w 13"/>
                  <a:gd name="T15" fmla="*/ 7 h 10"/>
                  <a:gd name="T16" fmla="*/ 11 w 13"/>
                  <a:gd name="T17" fmla="*/ 9 h 10"/>
                  <a:gd name="T18" fmla="*/ 12 w 13"/>
                  <a:gd name="T19" fmla="*/ 10 h 10"/>
                  <a:gd name="T20" fmla="*/ 13 w 13"/>
                  <a:gd name="T21" fmla="*/ 9 h 10"/>
                  <a:gd name="T22" fmla="*/ 11 w 13"/>
                  <a:gd name="T23" fmla="*/ 7 h 10"/>
                  <a:gd name="T24" fmla="*/ 10 w 13"/>
                  <a:gd name="T25" fmla="*/ 7 h 10"/>
                  <a:gd name="T26" fmla="*/ 9 w 13"/>
                  <a:gd name="T27" fmla="*/ 5 h 10"/>
                  <a:gd name="T28" fmla="*/ 8 w 13"/>
                  <a:gd name="T29" fmla="*/ 4 h 10"/>
                  <a:gd name="T30" fmla="*/ 7 w 13"/>
                  <a:gd name="T31" fmla="*/ 4 h 10"/>
                  <a:gd name="T32" fmla="*/ 5 w 13"/>
                  <a:gd name="T33" fmla="*/ 3 h 10"/>
                  <a:gd name="T34" fmla="*/ 2 w 13"/>
                  <a:gd name="T35" fmla="*/ 1 h 10"/>
                  <a:gd name="T36" fmla="*/ 1 w 13"/>
                  <a:gd name="T37" fmla="*/ 0 h 10"/>
                  <a:gd name="T38" fmla="*/ 0 w 13"/>
                  <a:gd name="T39" fmla="*/ 1 h 1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10"/>
                  <a:gd name="T62" fmla="*/ 13 w 13"/>
                  <a:gd name="T63" fmla="*/ 10 h 1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10">
                    <a:moveTo>
                      <a:pt x="0" y="1"/>
                    </a:moveTo>
                    <a:lnTo>
                      <a:pt x="0" y="1"/>
                    </a:lnTo>
                    <a:lnTo>
                      <a:pt x="1" y="3"/>
                    </a:lnTo>
                    <a:lnTo>
                      <a:pt x="2" y="4"/>
                    </a:lnTo>
                    <a:lnTo>
                      <a:pt x="5" y="5"/>
                    </a:lnTo>
                    <a:lnTo>
                      <a:pt x="7" y="7"/>
                    </a:lnTo>
                    <a:lnTo>
                      <a:pt x="8" y="7"/>
                    </a:lnTo>
                    <a:lnTo>
                      <a:pt x="9" y="7"/>
                    </a:lnTo>
                    <a:lnTo>
                      <a:pt x="11" y="9"/>
                    </a:lnTo>
                    <a:lnTo>
                      <a:pt x="12" y="10"/>
                    </a:lnTo>
                    <a:lnTo>
                      <a:pt x="13" y="9"/>
                    </a:lnTo>
                    <a:lnTo>
                      <a:pt x="11" y="7"/>
                    </a:lnTo>
                    <a:lnTo>
                      <a:pt x="10" y="7"/>
                    </a:lnTo>
                    <a:lnTo>
                      <a:pt x="9" y="5"/>
                    </a:lnTo>
                    <a:lnTo>
                      <a:pt x="8" y="4"/>
                    </a:lnTo>
                    <a:lnTo>
                      <a:pt x="7" y="4"/>
                    </a:lnTo>
                    <a:lnTo>
                      <a:pt x="5" y="3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48" name="Freeform 917"/>
              <p:cNvSpPr>
                <a:spLocks/>
              </p:cNvSpPr>
              <p:nvPr/>
            </p:nvSpPr>
            <p:spPr bwMode="auto">
              <a:xfrm>
                <a:off x="3132" y="2125"/>
                <a:ext cx="10" cy="41"/>
              </a:xfrm>
              <a:custGeom>
                <a:avLst/>
                <a:gdLst>
                  <a:gd name="T0" fmla="*/ 10 w 10"/>
                  <a:gd name="T1" fmla="*/ 41 h 41"/>
                  <a:gd name="T2" fmla="*/ 8 w 10"/>
                  <a:gd name="T3" fmla="*/ 41 h 41"/>
                  <a:gd name="T4" fmla="*/ 7 w 10"/>
                  <a:gd name="T5" fmla="*/ 40 h 41"/>
                  <a:gd name="T6" fmla="*/ 6 w 10"/>
                  <a:gd name="T7" fmla="*/ 38 h 41"/>
                  <a:gd name="T8" fmla="*/ 4 w 10"/>
                  <a:gd name="T9" fmla="*/ 36 h 41"/>
                  <a:gd name="T10" fmla="*/ 4 w 10"/>
                  <a:gd name="T11" fmla="*/ 34 h 41"/>
                  <a:gd name="T12" fmla="*/ 2 w 10"/>
                  <a:gd name="T13" fmla="*/ 31 h 41"/>
                  <a:gd name="T14" fmla="*/ 0 w 10"/>
                  <a:gd name="T15" fmla="*/ 29 h 41"/>
                  <a:gd name="T16" fmla="*/ 0 w 10"/>
                  <a:gd name="T17" fmla="*/ 25 h 41"/>
                  <a:gd name="T18" fmla="*/ 0 w 10"/>
                  <a:gd name="T19" fmla="*/ 21 h 41"/>
                  <a:gd name="T20" fmla="*/ 0 w 10"/>
                  <a:gd name="T21" fmla="*/ 17 h 41"/>
                  <a:gd name="T22" fmla="*/ 0 w 10"/>
                  <a:gd name="T23" fmla="*/ 13 h 41"/>
                  <a:gd name="T24" fmla="*/ 2 w 10"/>
                  <a:gd name="T25" fmla="*/ 8 h 41"/>
                  <a:gd name="T26" fmla="*/ 4 w 10"/>
                  <a:gd name="T27" fmla="*/ 6 h 41"/>
                  <a:gd name="T28" fmla="*/ 4 w 10"/>
                  <a:gd name="T29" fmla="*/ 3 h 41"/>
                  <a:gd name="T30" fmla="*/ 6 w 10"/>
                  <a:gd name="T31" fmla="*/ 1 h 41"/>
                  <a:gd name="T32" fmla="*/ 8 w 10"/>
                  <a:gd name="T33" fmla="*/ 0 h 41"/>
                  <a:gd name="T34" fmla="*/ 10 w 10"/>
                  <a:gd name="T35" fmla="*/ 41 h 4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"/>
                  <a:gd name="T55" fmla="*/ 0 h 41"/>
                  <a:gd name="T56" fmla="*/ 10 w 10"/>
                  <a:gd name="T57" fmla="*/ 41 h 4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" h="41">
                    <a:moveTo>
                      <a:pt x="10" y="41"/>
                    </a:moveTo>
                    <a:lnTo>
                      <a:pt x="8" y="41"/>
                    </a:lnTo>
                    <a:lnTo>
                      <a:pt x="7" y="40"/>
                    </a:lnTo>
                    <a:lnTo>
                      <a:pt x="6" y="38"/>
                    </a:lnTo>
                    <a:lnTo>
                      <a:pt x="4" y="36"/>
                    </a:lnTo>
                    <a:lnTo>
                      <a:pt x="4" y="34"/>
                    </a:lnTo>
                    <a:lnTo>
                      <a:pt x="2" y="31"/>
                    </a:lnTo>
                    <a:lnTo>
                      <a:pt x="0" y="29"/>
                    </a:lnTo>
                    <a:lnTo>
                      <a:pt x="0" y="25"/>
                    </a:lnTo>
                    <a:lnTo>
                      <a:pt x="0" y="21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2" y="8"/>
                    </a:lnTo>
                    <a:lnTo>
                      <a:pt x="4" y="6"/>
                    </a:lnTo>
                    <a:lnTo>
                      <a:pt x="4" y="3"/>
                    </a:lnTo>
                    <a:lnTo>
                      <a:pt x="6" y="1"/>
                    </a:lnTo>
                    <a:lnTo>
                      <a:pt x="8" y="0"/>
                    </a:lnTo>
                    <a:lnTo>
                      <a:pt x="1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49" name="Freeform 918"/>
              <p:cNvSpPr>
                <a:spLocks/>
              </p:cNvSpPr>
              <p:nvPr/>
            </p:nvSpPr>
            <p:spPr bwMode="auto">
              <a:xfrm>
                <a:off x="3132" y="2150"/>
                <a:ext cx="10" cy="17"/>
              </a:xfrm>
              <a:custGeom>
                <a:avLst/>
                <a:gdLst>
                  <a:gd name="T0" fmla="*/ 0 w 10"/>
                  <a:gd name="T1" fmla="*/ 0 h 17"/>
                  <a:gd name="T2" fmla="*/ 0 w 10"/>
                  <a:gd name="T3" fmla="*/ 0 h 17"/>
                  <a:gd name="T4" fmla="*/ 0 w 10"/>
                  <a:gd name="T5" fmla="*/ 3 h 17"/>
                  <a:gd name="T6" fmla="*/ 2 w 10"/>
                  <a:gd name="T7" fmla="*/ 7 h 17"/>
                  <a:gd name="T8" fmla="*/ 2 w 10"/>
                  <a:gd name="T9" fmla="*/ 9 h 17"/>
                  <a:gd name="T10" fmla="*/ 3 w 10"/>
                  <a:gd name="T11" fmla="*/ 12 h 17"/>
                  <a:gd name="T12" fmla="*/ 5 w 10"/>
                  <a:gd name="T13" fmla="*/ 14 h 17"/>
                  <a:gd name="T14" fmla="*/ 6 w 10"/>
                  <a:gd name="T15" fmla="*/ 16 h 17"/>
                  <a:gd name="T16" fmla="*/ 8 w 10"/>
                  <a:gd name="T17" fmla="*/ 17 h 17"/>
                  <a:gd name="T18" fmla="*/ 10 w 10"/>
                  <a:gd name="T19" fmla="*/ 17 h 17"/>
                  <a:gd name="T20" fmla="*/ 10 w 10"/>
                  <a:gd name="T21" fmla="*/ 15 h 17"/>
                  <a:gd name="T22" fmla="*/ 8 w 10"/>
                  <a:gd name="T23" fmla="*/ 15 h 17"/>
                  <a:gd name="T24" fmla="*/ 7 w 10"/>
                  <a:gd name="T25" fmla="*/ 15 h 17"/>
                  <a:gd name="T26" fmla="*/ 6 w 10"/>
                  <a:gd name="T27" fmla="*/ 13 h 17"/>
                  <a:gd name="T28" fmla="*/ 5 w 10"/>
                  <a:gd name="T29" fmla="*/ 11 h 17"/>
                  <a:gd name="T30" fmla="*/ 4 w 10"/>
                  <a:gd name="T31" fmla="*/ 9 h 17"/>
                  <a:gd name="T32" fmla="*/ 3 w 10"/>
                  <a:gd name="T33" fmla="*/ 7 h 17"/>
                  <a:gd name="T34" fmla="*/ 3 w 10"/>
                  <a:gd name="T35" fmla="*/ 3 h 17"/>
                  <a:gd name="T36" fmla="*/ 3 w 10"/>
                  <a:gd name="T37" fmla="*/ 0 h 17"/>
                  <a:gd name="T38" fmla="*/ 0 w 10"/>
                  <a:gd name="T39" fmla="*/ 0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"/>
                  <a:gd name="T61" fmla="*/ 0 h 17"/>
                  <a:gd name="T62" fmla="*/ 10 w 10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" h="17">
                    <a:moveTo>
                      <a:pt x="0" y="0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3" y="12"/>
                    </a:lnTo>
                    <a:lnTo>
                      <a:pt x="5" y="14"/>
                    </a:lnTo>
                    <a:lnTo>
                      <a:pt x="6" y="16"/>
                    </a:lnTo>
                    <a:lnTo>
                      <a:pt x="8" y="17"/>
                    </a:lnTo>
                    <a:lnTo>
                      <a:pt x="10" y="17"/>
                    </a:lnTo>
                    <a:lnTo>
                      <a:pt x="10" y="15"/>
                    </a:lnTo>
                    <a:lnTo>
                      <a:pt x="8" y="15"/>
                    </a:lnTo>
                    <a:lnTo>
                      <a:pt x="7" y="15"/>
                    </a:lnTo>
                    <a:lnTo>
                      <a:pt x="6" y="13"/>
                    </a:lnTo>
                    <a:lnTo>
                      <a:pt x="5" y="11"/>
                    </a:lnTo>
                    <a:lnTo>
                      <a:pt x="4" y="9"/>
                    </a:lnTo>
                    <a:lnTo>
                      <a:pt x="3" y="7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50" name="Freeform 919"/>
              <p:cNvSpPr>
                <a:spLocks/>
              </p:cNvSpPr>
              <p:nvPr/>
            </p:nvSpPr>
            <p:spPr bwMode="auto">
              <a:xfrm>
                <a:off x="3132" y="2125"/>
                <a:ext cx="9" cy="25"/>
              </a:xfrm>
              <a:custGeom>
                <a:avLst/>
                <a:gdLst>
                  <a:gd name="T0" fmla="*/ 8 w 9"/>
                  <a:gd name="T1" fmla="*/ 0 h 25"/>
                  <a:gd name="T2" fmla="*/ 6 w 9"/>
                  <a:gd name="T3" fmla="*/ 1 h 25"/>
                  <a:gd name="T4" fmla="*/ 4 w 9"/>
                  <a:gd name="T5" fmla="*/ 3 h 25"/>
                  <a:gd name="T6" fmla="*/ 3 w 9"/>
                  <a:gd name="T7" fmla="*/ 6 h 25"/>
                  <a:gd name="T8" fmla="*/ 2 w 9"/>
                  <a:gd name="T9" fmla="*/ 9 h 25"/>
                  <a:gd name="T10" fmla="*/ 0 w 9"/>
                  <a:gd name="T11" fmla="*/ 13 h 25"/>
                  <a:gd name="T12" fmla="*/ 0 w 9"/>
                  <a:gd name="T13" fmla="*/ 17 h 25"/>
                  <a:gd name="T14" fmla="*/ 0 w 9"/>
                  <a:gd name="T15" fmla="*/ 21 h 25"/>
                  <a:gd name="T16" fmla="*/ 0 w 9"/>
                  <a:gd name="T17" fmla="*/ 25 h 25"/>
                  <a:gd name="T18" fmla="*/ 3 w 9"/>
                  <a:gd name="T19" fmla="*/ 25 h 25"/>
                  <a:gd name="T20" fmla="*/ 3 w 9"/>
                  <a:gd name="T21" fmla="*/ 21 h 25"/>
                  <a:gd name="T22" fmla="*/ 3 w 9"/>
                  <a:gd name="T23" fmla="*/ 17 h 25"/>
                  <a:gd name="T24" fmla="*/ 3 w 9"/>
                  <a:gd name="T25" fmla="*/ 13 h 25"/>
                  <a:gd name="T26" fmla="*/ 4 w 9"/>
                  <a:gd name="T27" fmla="*/ 9 h 25"/>
                  <a:gd name="T28" fmla="*/ 4 w 9"/>
                  <a:gd name="T29" fmla="*/ 6 h 25"/>
                  <a:gd name="T30" fmla="*/ 6 w 9"/>
                  <a:gd name="T31" fmla="*/ 4 h 25"/>
                  <a:gd name="T32" fmla="*/ 7 w 9"/>
                  <a:gd name="T33" fmla="*/ 3 h 25"/>
                  <a:gd name="T34" fmla="*/ 9 w 9"/>
                  <a:gd name="T35" fmla="*/ 1 h 25"/>
                  <a:gd name="T36" fmla="*/ 8 w 9"/>
                  <a:gd name="T37" fmla="*/ 0 h 2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25"/>
                  <a:gd name="T59" fmla="*/ 9 w 9"/>
                  <a:gd name="T60" fmla="*/ 25 h 2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25">
                    <a:moveTo>
                      <a:pt x="8" y="0"/>
                    </a:moveTo>
                    <a:lnTo>
                      <a:pt x="6" y="1"/>
                    </a:lnTo>
                    <a:lnTo>
                      <a:pt x="4" y="3"/>
                    </a:lnTo>
                    <a:lnTo>
                      <a:pt x="3" y="6"/>
                    </a:lnTo>
                    <a:lnTo>
                      <a:pt x="2" y="9"/>
                    </a:lnTo>
                    <a:lnTo>
                      <a:pt x="0" y="13"/>
                    </a:lnTo>
                    <a:lnTo>
                      <a:pt x="0" y="17"/>
                    </a:lnTo>
                    <a:lnTo>
                      <a:pt x="0" y="21"/>
                    </a:lnTo>
                    <a:lnTo>
                      <a:pt x="0" y="25"/>
                    </a:lnTo>
                    <a:lnTo>
                      <a:pt x="3" y="25"/>
                    </a:lnTo>
                    <a:lnTo>
                      <a:pt x="3" y="21"/>
                    </a:lnTo>
                    <a:lnTo>
                      <a:pt x="3" y="17"/>
                    </a:lnTo>
                    <a:lnTo>
                      <a:pt x="3" y="13"/>
                    </a:lnTo>
                    <a:lnTo>
                      <a:pt x="4" y="9"/>
                    </a:lnTo>
                    <a:lnTo>
                      <a:pt x="4" y="6"/>
                    </a:lnTo>
                    <a:lnTo>
                      <a:pt x="6" y="4"/>
                    </a:lnTo>
                    <a:lnTo>
                      <a:pt x="7" y="3"/>
                    </a:lnTo>
                    <a:lnTo>
                      <a:pt x="9" y="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51" name="Freeform 920"/>
              <p:cNvSpPr>
                <a:spLocks/>
              </p:cNvSpPr>
              <p:nvPr/>
            </p:nvSpPr>
            <p:spPr bwMode="auto">
              <a:xfrm>
                <a:off x="3011" y="2010"/>
                <a:ext cx="239" cy="115"/>
              </a:xfrm>
              <a:custGeom>
                <a:avLst/>
                <a:gdLst>
                  <a:gd name="T0" fmla="*/ 8 w 239"/>
                  <a:gd name="T1" fmla="*/ 42 h 115"/>
                  <a:gd name="T2" fmla="*/ 24 w 239"/>
                  <a:gd name="T3" fmla="*/ 35 h 115"/>
                  <a:gd name="T4" fmla="*/ 45 w 239"/>
                  <a:gd name="T5" fmla="*/ 24 h 115"/>
                  <a:gd name="T6" fmla="*/ 67 w 239"/>
                  <a:gd name="T7" fmla="*/ 14 h 115"/>
                  <a:gd name="T8" fmla="*/ 85 w 239"/>
                  <a:gd name="T9" fmla="*/ 5 h 115"/>
                  <a:gd name="T10" fmla="*/ 94 w 239"/>
                  <a:gd name="T11" fmla="*/ 0 h 115"/>
                  <a:gd name="T12" fmla="*/ 99 w 239"/>
                  <a:gd name="T13" fmla="*/ 0 h 115"/>
                  <a:gd name="T14" fmla="*/ 104 w 239"/>
                  <a:gd name="T15" fmla="*/ 2 h 115"/>
                  <a:gd name="T16" fmla="*/ 108 w 239"/>
                  <a:gd name="T17" fmla="*/ 4 h 115"/>
                  <a:gd name="T18" fmla="*/ 114 w 239"/>
                  <a:gd name="T19" fmla="*/ 7 h 115"/>
                  <a:gd name="T20" fmla="*/ 126 w 239"/>
                  <a:gd name="T21" fmla="*/ 12 h 115"/>
                  <a:gd name="T22" fmla="*/ 140 w 239"/>
                  <a:gd name="T23" fmla="*/ 19 h 115"/>
                  <a:gd name="T24" fmla="*/ 155 w 239"/>
                  <a:gd name="T25" fmla="*/ 25 h 115"/>
                  <a:gd name="T26" fmla="*/ 172 w 239"/>
                  <a:gd name="T27" fmla="*/ 34 h 115"/>
                  <a:gd name="T28" fmla="*/ 188 w 239"/>
                  <a:gd name="T29" fmla="*/ 40 h 115"/>
                  <a:gd name="T30" fmla="*/ 204 w 239"/>
                  <a:gd name="T31" fmla="*/ 47 h 115"/>
                  <a:gd name="T32" fmla="*/ 217 w 239"/>
                  <a:gd name="T33" fmla="*/ 54 h 115"/>
                  <a:gd name="T34" fmla="*/ 226 w 239"/>
                  <a:gd name="T35" fmla="*/ 58 h 115"/>
                  <a:gd name="T36" fmla="*/ 233 w 239"/>
                  <a:gd name="T37" fmla="*/ 60 h 115"/>
                  <a:gd name="T38" fmla="*/ 237 w 239"/>
                  <a:gd name="T39" fmla="*/ 63 h 115"/>
                  <a:gd name="T40" fmla="*/ 239 w 239"/>
                  <a:gd name="T41" fmla="*/ 68 h 115"/>
                  <a:gd name="T42" fmla="*/ 235 w 239"/>
                  <a:gd name="T43" fmla="*/ 71 h 115"/>
                  <a:gd name="T44" fmla="*/ 228 w 239"/>
                  <a:gd name="T45" fmla="*/ 73 h 115"/>
                  <a:gd name="T46" fmla="*/ 220 w 239"/>
                  <a:gd name="T47" fmla="*/ 77 h 115"/>
                  <a:gd name="T48" fmla="*/ 209 w 239"/>
                  <a:gd name="T49" fmla="*/ 82 h 115"/>
                  <a:gd name="T50" fmla="*/ 197 w 239"/>
                  <a:gd name="T51" fmla="*/ 87 h 115"/>
                  <a:gd name="T52" fmla="*/ 184 w 239"/>
                  <a:gd name="T53" fmla="*/ 92 h 115"/>
                  <a:gd name="T54" fmla="*/ 172 w 239"/>
                  <a:gd name="T55" fmla="*/ 98 h 115"/>
                  <a:gd name="T56" fmla="*/ 160 w 239"/>
                  <a:gd name="T57" fmla="*/ 103 h 115"/>
                  <a:gd name="T58" fmla="*/ 149 w 239"/>
                  <a:gd name="T59" fmla="*/ 108 h 115"/>
                  <a:gd name="T60" fmla="*/ 141 w 239"/>
                  <a:gd name="T61" fmla="*/ 112 h 115"/>
                  <a:gd name="T62" fmla="*/ 134 w 239"/>
                  <a:gd name="T63" fmla="*/ 114 h 115"/>
                  <a:gd name="T64" fmla="*/ 130 w 239"/>
                  <a:gd name="T65" fmla="*/ 115 h 115"/>
                  <a:gd name="T66" fmla="*/ 125 w 239"/>
                  <a:gd name="T67" fmla="*/ 114 h 115"/>
                  <a:gd name="T68" fmla="*/ 120 w 239"/>
                  <a:gd name="T69" fmla="*/ 112 h 115"/>
                  <a:gd name="T70" fmla="*/ 114 w 239"/>
                  <a:gd name="T71" fmla="*/ 108 h 115"/>
                  <a:gd name="T72" fmla="*/ 105 w 239"/>
                  <a:gd name="T73" fmla="*/ 104 h 115"/>
                  <a:gd name="T74" fmla="*/ 94 w 239"/>
                  <a:gd name="T75" fmla="*/ 98 h 115"/>
                  <a:gd name="T76" fmla="*/ 80 w 239"/>
                  <a:gd name="T77" fmla="*/ 91 h 115"/>
                  <a:gd name="T78" fmla="*/ 66 w 239"/>
                  <a:gd name="T79" fmla="*/ 83 h 115"/>
                  <a:gd name="T80" fmla="*/ 51 w 239"/>
                  <a:gd name="T81" fmla="*/ 75 h 115"/>
                  <a:gd name="T82" fmla="*/ 36 w 239"/>
                  <a:gd name="T83" fmla="*/ 68 h 115"/>
                  <a:gd name="T84" fmla="*/ 23 w 239"/>
                  <a:gd name="T85" fmla="*/ 60 h 115"/>
                  <a:gd name="T86" fmla="*/ 14 w 239"/>
                  <a:gd name="T87" fmla="*/ 55 h 115"/>
                  <a:gd name="T88" fmla="*/ 8 w 239"/>
                  <a:gd name="T89" fmla="*/ 52 h 115"/>
                  <a:gd name="T90" fmla="*/ 3 w 239"/>
                  <a:gd name="T91" fmla="*/ 50 h 115"/>
                  <a:gd name="T92" fmla="*/ 0 w 239"/>
                  <a:gd name="T93" fmla="*/ 47 h 115"/>
                  <a:gd name="T94" fmla="*/ 4 w 239"/>
                  <a:gd name="T95" fmla="*/ 44 h 11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39"/>
                  <a:gd name="T145" fmla="*/ 0 h 115"/>
                  <a:gd name="T146" fmla="*/ 239 w 239"/>
                  <a:gd name="T147" fmla="*/ 115 h 115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39" h="115">
                    <a:moveTo>
                      <a:pt x="4" y="44"/>
                    </a:moveTo>
                    <a:lnTo>
                      <a:pt x="5" y="43"/>
                    </a:lnTo>
                    <a:lnTo>
                      <a:pt x="8" y="42"/>
                    </a:lnTo>
                    <a:lnTo>
                      <a:pt x="14" y="40"/>
                    </a:lnTo>
                    <a:lnTo>
                      <a:pt x="18" y="38"/>
                    </a:lnTo>
                    <a:lnTo>
                      <a:pt x="24" y="35"/>
                    </a:lnTo>
                    <a:lnTo>
                      <a:pt x="31" y="30"/>
                    </a:lnTo>
                    <a:lnTo>
                      <a:pt x="37" y="27"/>
                    </a:lnTo>
                    <a:lnTo>
                      <a:pt x="45" y="24"/>
                    </a:lnTo>
                    <a:lnTo>
                      <a:pt x="52" y="21"/>
                    </a:lnTo>
                    <a:lnTo>
                      <a:pt x="61" y="18"/>
                    </a:lnTo>
                    <a:lnTo>
                      <a:pt x="67" y="14"/>
                    </a:lnTo>
                    <a:lnTo>
                      <a:pt x="73" y="11"/>
                    </a:lnTo>
                    <a:lnTo>
                      <a:pt x="80" y="7"/>
                    </a:lnTo>
                    <a:lnTo>
                      <a:pt x="85" y="5"/>
                    </a:lnTo>
                    <a:lnTo>
                      <a:pt x="89" y="3"/>
                    </a:lnTo>
                    <a:lnTo>
                      <a:pt x="93" y="2"/>
                    </a:lnTo>
                    <a:lnTo>
                      <a:pt x="94" y="0"/>
                    </a:lnTo>
                    <a:lnTo>
                      <a:pt x="96" y="0"/>
                    </a:lnTo>
                    <a:lnTo>
                      <a:pt x="97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3" y="2"/>
                    </a:lnTo>
                    <a:lnTo>
                      <a:pt x="104" y="2"/>
                    </a:lnTo>
                    <a:lnTo>
                      <a:pt x="105" y="3"/>
                    </a:lnTo>
                    <a:lnTo>
                      <a:pt x="106" y="3"/>
                    </a:lnTo>
                    <a:lnTo>
                      <a:pt x="108" y="4"/>
                    </a:lnTo>
                    <a:lnTo>
                      <a:pt x="110" y="4"/>
                    </a:lnTo>
                    <a:lnTo>
                      <a:pt x="112" y="5"/>
                    </a:lnTo>
                    <a:lnTo>
                      <a:pt x="114" y="7"/>
                    </a:lnTo>
                    <a:lnTo>
                      <a:pt x="118" y="9"/>
                    </a:lnTo>
                    <a:lnTo>
                      <a:pt x="123" y="9"/>
                    </a:lnTo>
                    <a:lnTo>
                      <a:pt x="126" y="12"/>
                    </a:lnTo>
                    <a:lnTo>
                      <a:pt x="130" y="14"/>
                    </a:lnTo>
                    <a:lnTo>
                      <a:pt x="134" y="16"/>
                    </a:lnTo>
                    <a:lnTo>
                      <a:pt x="140" y="19"/>
                    </a:lnTo>
                    <a:lnTo>
                      <a:pt x="145" y="21"/>
                    </a:lnTo>
                    <a:lnTo>
                      <a:pt x="149" y="23"/>
                    </a:lnTo>
                    <a:lnTo>
                      <a:pt x="155" y="25"/>
                    </a:lnTo>
                    <a:lnTo>
                      <a:pt x="161" y="27"/>
                    </a:lnTo>
                    <a:lnTo>
                      <a:pt x="166" y="30"/>
                    </a:lnTo>
                    <a:lnTo>
                      <a:pt x="172" y="34"/>
                    </a:lnTo>
                    <a:lnTo>
                      <a:pt x="178" y="36"/>
                    </a:lnTo>
                    <a:lnTo>
                      <a:pt x="183" y="38"/>
                    </a:lnTo>
                    <a:lnTo>
                      <a:pt x="188" y="40"/>
                    </a:lnTo>
                    <a:lnTo>
                      <a:pt x="194" y="42"/>
                    </a:lnTo>
                    <a:lnTo>
                      <a:pt x="198" y="45"/>
                    </a:lnTo>
                    <a:lnTo>
                      <a:pt x="204" y="47"/>
                    </a:lnTo>
                    <a:lnTo>
                      <a:pt x="209" y="50"/>
                    </a:lnTo>
                    <a:lnTo>
                      <a:pt x="213" y="52"/>
                    </a:lnTo>
                    <a:lnTo>
                      <a:pt x="217" y="54"/>
                    </a:lnTo>
                    <a:lnTo>
                      <a:pt x="220" y="55"/>
                    </a:lnTo>
                    <a:lnTo>
                      <a:pt x="223" y="57"/>
                    </a:lnTo>
                    <a:lnTo>
                      <a:pt x="226" y="58"/>
                    </a:lnTo>
                    <a:lnTo>
                      <a:pt x="228" y="59"/>
                    </a:lnTo>
                    <a:lnTo>
                      <a:pt x="232" y="60"/>
                    </a:lnTo>
                    <a:lnTo>
                      <a:pt x="233" y="60"/>
                    </a:lnTo>
                    <a:lnTo>
                      <a:pt x="234" y="61"/>
                    </a:lnTo>
                    <a:lnTo>
                      <a:pt x="236" y="62"/>
                    </a:lnTo>
                    <a:lnTo>
                      <a:pt x="237" y="63"/>
                    </a:lnTo>
                    <a:lnTo>
                      <a:pt x="238" y="66"/>
                    </a:lnTo>
                    <a:lnTo>
                      <a:pt x="239" y="66"/>
                    </a:lnTo>
                    <a:lnTo>
                      <a:pt x="239" y="68"/>
                    </a:lnTo>
                    <a:lnTo>
                      <a:pt x="238" y="68"/>
                    </a:lnTo>
                    <a:lnTo>
                      <a:pt x="236" y="70"/>
                    </a:lnTo>
                    <a:lnTo>
                      <a:pt x="235" y="71"/>
                    </a:lnTo>
                    <a:lnTo>
                      <a:pt x="234" y="72"/>
                    </a:lnTo>
                    <a:lnTo>
                      <a:pt x="232" y="72"/>
                    </a:lnTo>
                    <a:lnTo>
                      <a:pt x="228" y="73"/>
                    </a:lnTo>
                    <a:lnTo>
                      <a:pt x="225" y="74"/>
                    </a:lnTo>
                    <a:lnTo>
                      <a:pt x="223" y="75"/>
                    </a:lnTo>
                    <a:lnTo>
                      <a:pt x="220" y="77"/>
                    </a:lnTo>
                    <a:lnTo>
                      <a:pt x="217" y="78"/>
                    </a:lnTo>
                    <a:lnTo>
                      <a:pt x="213" y="79"/>
                    </a:lnTo>
                    <a:lnTo>
                      <a:pt x="209" y="82"/>
                    </a:lnTo>
                    <a:lnTo>
                      <a:pt x="205" y="83"/>
                    </a:lnTo>
                    <a:lnTo>
                      <a:pt x="202" y="85"/>
                    </a:lnTo>
                    <a:lnTo>
                      <a:pt x="197" y="87"/>
                    </a:lnTo>
                    <a:lnTo>
                      <a:pt x="192" y="89"/>
                    </a:lnTo>
                    <a:lnTo>
                      <a:pt x="190" y="90"/>
                    </a:lnTo>
                    <a:lnTo>
                      <a:pt x="184" y="92"/>
                    </a:lnTo>
                    <a:lnTo>
                      <a:pt x="180" y="94"/>
                    </a:lnTo>
                    <a:lnTo>
                      <a:pt x="176" y="96"/>
                    </a:lnTo>
                    <a:lnTo>
                      <a:pt x="172" y="98"/>
                    </a:lnTo>
                    <a:lnTo>
                      <a:pt x="167" y="100"/>
                    </a:lnTo>
                    <a:lnTo>
                      <a:pt x="164" y="101"/>
                    </a:lnTo>
                    <a:lnTo>
                      <a:pt x="160" y="103"/>
                    </a:lnTo>
                    <a:lnTo>
                      <a:pt x="157" y="104"/>
                    </a:lnTo>
                    <a:lnTo>
                      <a:pt x="152" y="106"/>
                    </a:lnTo>
                    <a:lnTo>
                      <a:pt x="149" y="108"/>
                    </a:lnTo>
                    <a:lnTo>
                      <a:pt x="146" y="108"/>
                    </a:lnTo>
                    <a:lnTo>
                      <a:pt x="143" y="110"/>
                    </a:lnTo>
                    <a:lnTo>
                      <a:pt x="141" y="112"/>
                    </a:lnTo>
                    <a:lnTo>
                      <a:pt x="137" y="113"/>
                    </a:lnTo>
                    <a:lnTo>
                      <a:pt x="135" y="114"/>
                    </a:lnTo>
                    <a:lnTo>
                      <a:pt x="134" y="114"/>
                    </a:lnTo>
                    <a:lnTo>
                      <a:pt x="132" y="115"/>
                    </a:lnTo>
                    <a:lnTo>
                      <a:pt x="131" y="115"/>
                    </a:lnTo>
                    <a:lnTo>
                      <a:pt x="130" y="115"/>
                    </a:lnTo>
                    <a:lnTo>
                      <a:pt x="128" y="115"/>
                    </a:lnTo>
                    <a:lnTo>
                      <a:pt x="127" y="114"/>
                    </a:lnTo>
                    <a:lnTo>
                      <a:pt x="125" y="114"/>
                    </a:lnTo>
                    <a:lnTo>
                      <a:pt x="124" y="113"/>
                    </a:lnTo>
                    <a:lnTo>
                      <a:pt x="121" y="113"/>
                    </a:lnTo>
                    <a:lnTo>
                      <a:pt x="120" y="112"/>
                    </a:lnTo>
                    <a:lnTo>
                      <a:pt x="118" y="112"/>
                    </a:lnTo>
                    <a:lnTo>
                      <a:pt x="116" y="110"/>
                    </a:lnTo>
                    <a:lnTo>
                      <a:pt x="114" y="108"/>
                    </a:lnTo>
                    <a:lnTo>
                      <a:pt x="112" y="108"/>
                    </a:lnTo>
                    <a:lnTo>
                      <a:pt x="109" y="106"/>
                    </a:lnTo>
                    <a:lnTo>
                      <a:pt x="105" y="104"/>
                    </a:lnTo>
                    <a:lnTo>
                      <a:pt x="102" y="102"/>
                    </a:lnTo>
                    <a:lnTo>
                      <a:pt x="97" y="100"/>
                    </a:lnTo>
                    <a:lnTo>
                      <a:pt x="94" y="98"/>
                    </a:lnTo>
                    <a:lnTo>
                      <a:pt x="89" y="96"/>
                    </a:lnTo>
                    <a:lnTo>
                      <a:pt x="85" y="93"/>
                    </a:lnTo>
                    <a:lnTo>
                      <a:pt x="80" y="91"/>
                    </a:lnTo>
                    <a:lnTo>
                      <a:pt x="74" y="87"/>
                    </a:lnTo>
                    <a:lnTo>
                      <a:pt x="70" y="85"/>
                    </a:lnTo>
                    <a:lnTo>
                      <a:pt x="66" y="83"/>
                    </a:lnTo>
                    <a:lnTo>
                      <a:pt x="61" y="79"/>
                    </a:lnTo>
                    <a:lnTo>
                      <a:pt x="55" y="77"/>
                    </a:lnTo>
                    <a:lnTo>
                      <a:pt x="51" y="75"/>
                    </a:lnTo>
                    <a:lnTo>
                      <a:pt x="45" y="72"/>
                    </a:lnTo>
                    <a:lnTo>
                      <a:pt x="40" y="70"/>
                    </a:lnTo>
                    <a:lnTo>
                      <a:pt x="36" y="68"/>
                    </a:lnTo>
                    <a:lnTo>
                      <a:pt x="32" y="66"/>
                    </a:lnTo>
                    <a:lnTo>
                      <a:pt x="27" y="62"/>
                    </a:lnTo>
                    <a:lnTo>
                      <a:pt x="23" y="60"/>
                    </a:lnTo>
                    <a:lnTo>
                      <a:pt x="20" y="59"/>
                    </a:lnTo>
                    <a:lnTo>
                      <a:pt x="17" y="57"/>
                    </a:lnTo>
                    <a:lnTo>
                      <a:pt x="14" y="55"/>
                    </a:lnTo>
                    <a:lnTo>
                      <a:pt x="11" y="54"/>
                    </a:lnTo>
                    <a:lnTo>
                      <a:pt x="8" y="53"/>
                    </a:lnTo>
                    <a:lnTo>
                      <a:pt x="8" y="52"/>
                    </a:lnTo>
                    <a:lnTo>
                      <a:pt x="6" y="52"/>
                    </a:lnTo>
                    <a:lnTo>
                      <a:pt x="5" y="50"/>
                    </a:lnTo>
                    <a:lnTo>
                      <a:pt x="3" y="50"/>
                    </a:lnTo>
                    <a:lnTo>
                      <a:pt x="2" y="50"/>
                    </a:lnTo>
                    <a:lnTo>
                      <a:pt x="1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2" y="45"/>
                    </a:lnTo>
                    <a:lnTo>
                      <a:pt x="4" y="44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52" name="Freeform 921"/>
              <p:cNvSpPr>
                <a:spLocks/>
              </p:cNvSpPr>
              <p:nvPr/>
            </p:nvSpPr>
            <p:spPr bwMode="auto">
              <a:xfrm>
                <a:off x="3014" y="2010"/>
                <a:ext cx="90" cy="44"/>
              </a:xfrm>
              <a:custGeom>
                <a:avLst/>
                <a:gdLst>
                  <a:gd name="T0" fmla="*/ 89 w 90"/>
                  <a:gd name="T1" fmla="*/ 0 h 44"/>
                  <a:gd name="T2" fmla="*/ 89 w 90"/>
                  <a:gd name="T3" fmla="*/ 0 h 44"/>
                  <a:gd name="T4" fmla="*/ 85 w 90"/>
                  <a:gd name="T5" fmla="*/ 2 h 44"/>
                  <a:gd name="T6" fmla="*/ 81 w 90"/>
                  <a:gd name="T7" fmla="*/ 4 h 44"/>
                  <a:gd name="T8" fmla="*/ 77 w 90"/>
                  <a:gd name="T9" fmla="*/ 6 h 44"/>
                  <a:gd name="T10" fmla="*/ 69 w 90"/>
                  <a:gd name="T11" fmla="*/ 9 h 44"/>
                  <a:gd name="T12" fmla="*/ 63 w 90"/>
                  <a:gd name="T13" fmla="*/ 13 h 44"/>
                  <a:gd name="T14" fmla="*/ 55 w 90"/>
                  <a:gd name="T15" fmla="*/ 16 h 44"/>
                  <a:gd name="T16" fmla="*/ 49 w 90"/>
                  <a:gd name="T17" fmla="*/ 20 h 44"/>
                  <a:gd name="T18" fmla="*/ 42 w 90"/>
                  <a:gd name="T19" fmla="*/ 23 h 44"/>
                  <a:gd name="T20" fmla="*/ 34 w 90"/>
                  <a:gd name="T21" fmla="*/ 26 h 44"/>
                  <a:gd name="T22" fmla="*/ 28 w 90"/>
                  <a:gd name="T23" fmla="*/ 29 h 44"/>
                  <a:gd name="T24" fmla="*/ 20 w 90"/>
                  <a:gd name="T25" fmla="*/ 34 h 44"/>
                  <a:gd name="T26" fmla="*/ 15 w 90"/>
                  <a:gd name="T27" fmla="*/ 36 h 44"/>
                  <a:gd name="T28" fmla="*/ 8 w 90"/>
                  <a:gd name="T29" fmla="*/ 39 h 44"/>
                  <a:gd name="T30" fmla="*/ 4 w 90"/>
                  <a:gd name="T31" fmla="*/ 40 h 44"/>
                  <a:gd name="T32" fmla="*/ 2 w 90"/>
                  <a:gd name="T33" fmla="*/ 42 h 44"/>
                  <a:gd name="T34" fmla="*/ 0 w 90"/>
                  <a:gd name="T35" fmla="*/ 43 h 44"/>
                  <a:gd name="T36" fmla="*/ 1 w 90"/>
                  <a:gd name="T37" fmla="*/ 44 h 44"/>
                  <a:gd name="T38" fmla="*/ 2 w 90"/>
                  <a:gd name="T39" fmla="*/ 43 h 44"/>
                  <a:gd name="T40" fmla="*/ 5 w 90"/>
                  <a:gd name="T41" fmla="*/ 42 h 44"/>
                  <a:gd name="T42" fmla="*/ 11 w 90"/>
                  <a:gd name="T43" fmla="*/ 40 h 44"/>
                  <a:gd name="T44" fmla="*/ 15 w 90"/>
                  <a:gd name="T45" fmla="*/ 38 h 44"/>
                  <a:gd name="T46" fmla="*/ 21 w 90"/>
                  <a:gd name="T47" fmla="*/ 34 h 44"/>
                  <a:gd name="T48" fmla="*/ 28 w 90"/>
                  <a:gd name="T49" fmla="*/ 31 h 44"/>
                  <a:gd name="T50" fmla="*/ 35 w 90"/>
                  <a:gd name="T51" fmla="*/ 28 h 44"/>
                  <a:gd name="T52" fmla="*/ 42 w 90"/>
                  <a:gd name="T53" fmla="*/ 24 h 44"/>
                  <a:gd name="T54" fmla="*/ 50 w 90"/>
                  <a:gd name="T55" fmla="*/ 21 h 44"/>
                  <a:gd name="T56" fmla="*/ 56 w 90"/>
                  <a:gd name="T57" fmla="*/ 18 h 44"/>
                  <a:gd name="T58" fmla="*/ 63 w 90"/>
                  <a:gd name="T59" fmla="*/ 14 h 44"/>
                  <a:gd name="T60" fmla="*/ 70 w 90"/>
                  <a:gd name="T61" fmla="*/ 11 h 44"/>
                  <a:gd name="T62" fmla="*/ 77 w 90"/>
                  <a:gd name="T63" fmla="*/ 9 h 44"/>
                  <a:gd name="T64" fmla="*/ 82 w 90"/>
                  <a:gd name="T65" fmla="*/ 6 h 44"/>
                  <a:gd name="T66" fmla="*/ 86 w 90"/>
                  <a:gd name="T67" fmla="*/ 4 h 44"/>
                  <a:gd name="T68" fmla="*/ 90 w 90"/>
                  <a:gd name="T69" fmla="*/ 2 h 44"/>
                  <a:gd name="T70" fmla="*/ 89 w 90"/>
                  <a:gd name="T71" fmla="*/ 0 h 4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90"/>
                  <a:gd name="T109" fmla="*/ 0 h 44"/>
                  <a:gd name="T110" fmla="*/ 90 w 90"/>
                  <a:gd name="T111" fmla="*/ 44 h 4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90" h="44">
                    <a:moveTo>
                      <a:pt x="89" y="0"/>
                    </a:moveTo>
                    <a:lnTo>
                      <a:pt x="89" y="0"/>
                    </a:lnTo>
                    <a:lnTo>
                      <a:pt x="85" y="2"/>
                    </a:lnTo>
                    <a:lnTo>
                      <a:pt x="81" y="4"/>
                    </a:lnTo>
                    <a:lnTo>
                      <a:pt x="77" y="6"/>
                    </a:lnTo>
                    <a:lnTo>
                      <a:pt x="69" y="9"/>
                    </a:lnTo>
                    <a:lnTo>
                      <a:pt x="63" y="13"/>
                    </a:lnTo>
                    <a:lnTo>
                      <a:pt x="55" y="16"/>
                    </a:lnTo>
                    <a:lnTo>
                      <a:pt x="49" y="20"/>
                    </a:lnTo>
                    <a:lnTo>
                      <a:pt x="42" y="23"/>
                    </a:lnTo>
                    <a:lnTo>
                      <a:pt x="34" y="26"/>
                    </a:lnTo>
                    <a:lnTo>
                      <a:pt x="28" y="29"/>
                    </a:lnTo>
                    <a:lnTo>
                      <a:pt x="20" y="34"/>
                    </a:lnTo>
                    <a:lnTo>
                      <a:pt x="15" y="36"/>
                    </a:lnTo>
                    <a:lnTo>
                      <a:pt x="8" y="39"/>
                    </a:lnTo>
                    <a:lnTo>
                      <a:pt x="4" y="40"/>
                    </a:lnTo>
                    <a:lnTo>
                      <a:pt x="2" y="42"/>
                    </a:lnTo>
                    <a:lnTo>
                      <a:pt x="0" y="43"/>
                    </a:lnTo>
                    <a:lnTo>
                      <a:pt x="1" y="44"/>
                    </a:lnTo>
                    <a:lnTo>
                      <a:pt x="2" y="43"/>
                    </a:lnTo>
                    <a:lnTo>
                      <a:pt x="5" y="42"/>
                    </a:lnTo>
                    <a:lnTo>
                      <a:pt x="11" y="40"/>
                    </a:lnTo>
                    <a:lnTo>
                      <a:pt x="15" y="38"/>
                    </a:lnTo>
                    <a:lnTo>
                      <a:pt x="21" y="34"/>
                    </a:lnTo>
                    <a:lnTo>
                      <a:pt x="28" y="31"/>
                    </a:lnTo>
                    <a:lnTo>
                      <a:pt x="35" y="28"/>
                    </a:lnTo>
                    <a:lnTo>
                      <a:pt x="42" y="24"/>
                    </a:lnTo>
                    <a:lnTo>
                      <a:pt x="50" y="21"/>
                    </a:lnTo>
                    <a:lnTo>
                      <a:pt x="56" y="18"/>
                    </a:lnTo>
                    <a:lnTo>
                      <a:pt x="63" y="14"/>
                    </a:lnTo>
                    <a:lnTo>
                      <a:pt x="70" y="11"/>
                    </a:lnTo>
                    <a:lnTo>
                      <a:pt x="77" y="9"/>
                    </a:lnTo>
                    <a:lnTo>
                      <a:pt x="82" y="6"/>
                    </a:lnTo>
                    <a:lnTo>
                      <a:pt x="86" y="4"/>
                    </a:lnTo>
                    <a:lnTo>
                      <a:pt x="90" y="2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53" name="Freeform 922"/>
              <p:cNvSpPr>
                <a:spLocks/>
              </p:cNvSpPr>
              <p:nvPr/>
            </p:nvSpPr>
            <p:spPr bwMode="auto">
              <a:xfrm>
                <a:off x="3103" y="2009"/>
                <a:ext cx="13" cy="4"/>
              </a:xfrm>
              <a:custGeom>
                <a:avLst/>
                <a:gdLst>
                  <a:gd name="T0" fmla="*/ 13 w 13"/>
                  <a:gd name="T1" fmla="*/ 3 h 4"/>
                  <a:gd name="T2" fmla="*/ 13 w 13"/>
                  <a:gd name="T3" fmla="*/ 3 h 4"/>
                  <a:gd name="T4" fmla="*/ 12 w 13"/>
                  <a:gd name="T5" fmla="*/ 1 h 4"/>
                  <a:gd name="T6" fmla="*/ 10 w 13"/>
                  <a:gd name="T7" fmla="*/ 1 h 4"/>
                  <a:gd name="T8" fmla="*/ 9 w 13"/>
                  <a:gd name="T9" fmla="*/ 0 h 4"/>
                  <a:gd name="T10" fmla="*/ 6 w 13"/>
                  <a:gd name="T11" fmla="*/ 0 h 4"/>
                  <a:gd name="T12" fmla="*/ 5 w 13"/>
                  <a:gd name="T13" fmla="*/ 0 h 4"/>
                  <a:gd name="T14" fmla="*/ 3 w 13"/>
                  <a:gd name="T15" fmla="*/ 0 h 4"/>
                  <a:gd name="T16" fmla="*/ 2 w 13"/>
                  <a:gd name="T17" fmla="*/ 0 h 4"/>
                  <a:gd name="T18" fmla="*/ 0 w 13"/>
                  <a:gd name="T19" fmla="*/ 1 h 4"/>
                  <a:gd name="T20" fmla="*/ 0 w 13"/>
                  <a:gd name="T21" fmla="*/ 3 h 4"/>
                  <a:gd name="T22" fmla="*/ 2 w 13"/>
                  <a:gd name="T23" fmla="*/ 3 h 4"/>
                  <a:gd name="T24" fmla="*/ 3 w 13"/>
                  <a:gd name="T25" fmla="*/ 3 h 4"/>
                  <a:gd name="T26" fmla="*/ 5 w 13"/>
                  <a:gd name="T27" fmla="*/ 3 h 4"/>
                  <a:gd name="T28" fmla="*/ 6 w 13"/>
                  <a:gd name="T29" fmla="*/ 3 h 4"/>
                  <a:gd name="T30" fmla="*/ 9 w 13"/>
                  <a:gd name="T31" fmla="*/ 3 h 4"/>
                  <a:gd name="T32" fmla="*/ 10 w 13"/>
                  <a:gd name="T33" fmla="*/ 3 h 4"/>
                  <a:gd name="T34" fmla="*/ 11 w 13"/>
                  <a:gd name="T35" fmla="*/ 3 h 4"/>
                  <a:gd name="T36" fmla="*/ 12 w 13"/>
                  <a:gd name="T37" fmla="*/ 4 h 4"/>
                  <a:gd name="T38" fmla="*/ 13 w 13"/>
                  <a:gd name="T39" fmla="*/ 3 h 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4"/>
                  <a:gd name="T62" fmla="*/ 13 w 13"/>
                  <a:gd name="T63" fmla="*/ 4 h 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4">
                    <a:moveTo>
                      <a:pt x="13" y="3"/>
                    </a:moveTo>
                    <a:lnTo>
                      <a:pt x="13" y="3"/>
                    </a:lnTo>
                    <a:lnTo>
                      <a:pt x="12" y="1"/>
                    </a:lnTo>
                    <a:lnTo>
                      <a:pt x="10" y="1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5" y="3"/>
                    </a:lnTo>
                    <a:lnTo>
                      <a:pt x="6" y="3"/>
                    </a:lnTo>
                    <a:lnTo>
                      <a:pt x="9" y="3"/>
                    </a:lnTo>
                    <a:lnTo>
                      <a:pt x="10" y="3"/>
                    </a:lnTo>
                    <a:lnTo>
                      <a:pt x="11" y="3"/>
                    </a:lnTo>
                    <a:lnTo>
                      <a:pt x="12" y="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54" name="Freeform 923"/>
              <p:cNvSpPr>
                <a:spLocks/>
              </p:cNvSpPr>
              <p:nvPr/>
            </p:nvSpPr>
            <p:spPr bwMode="auto">
              <a:xfrm>
                <a:off x="3115" y="2012"/>
                <a:ext cx="128" cy="59"/>
              </a:xfrm>
              <a:custGeom>
                <a:avLst/>
                <a:gdLst>
                  <a:gd name="T0" fmla="*/ 128 w 128"/>
                  <a:gd name="T1" fmla="*/ 58 h 59"/>
                  <a:gd name="T2" fmla="*/ 124 w 128"/>
                  <a:gd name="T3" fmla="*/ 56 h 59"/>
                  <a:gd name="T4" fmla="*/ 119 w 128"/>
                  <a:gd name="T5" fmla="*/ 53 h 59"/>
                  <a:gd name="T6" fmla="*/ 111 w 128"/>
                  <a:gd name="T7" fmla="*/ 51 h 59"/>
                  <a:gd name="T8" fmla="*/ 104 w 128"/>
                  <a:gd name="T9" fmla="*/ 47 h 59"/>
                  <a:gd name="T10" fmla="*/ 94 w 128"/>
                  <a:gd name="T11" fmla="*/ 42 h 59"/>
                  <a:gd name="T12" fmla="*/ 84 w 128"/>
                  <a:gd name="T13" fmla="*/ 38 h 59"/>
                  <a:gd name="T14" fmla="*/ 73 w 128"/>
                  <a:gd name="T15" fmla="*/ 32 h 59"/>
                  <a:gd name="T16" fmla="*/ 62 w 128"/>
                  <a:gd name="T17" fmla="*/ 27 h 59"/>
                  <a:gd name="T18" fmla="*/ 51 w 128"/>
                  <a:gd name="T19" fmla="*/ 22 h 59"/>
                  <a:gd name="T20" fmla="*/ 41 w 128"/>
                  <a:gd name="T21" fmla="*/ 18 h 59"/>
                  <a:gd name="T22" fmla="*/ 30 w 128"/>
                  <a:gd name="T23" fmla="*/ 12 h 59"/>
                  <a:gd name="T24" fmla="*/ 22 w 128"/>
                  <a:gd name="T25" fmla="*/ 8 h 59"/>
                  <a:gd name="T26" fmla="*/ 14 w 128"/>
                  <a:gd name="T27" fmla="*/ 5 h 59"/>
                  <a:gd name="T28" fmla="*/ 8 w 128"/>
                  <a:gd name="T29" fmla="*/ 3 h 59"/>
                  <a:gd name="T30" fmla="*/ 4 w 128"/>
                  <a:gd name="T31" fmla="*/ 1 h 59"/>
                  <a:gd name="T32" fmla="*/ 0 w 128"/>
                  <a:gd name="T33" fmla="*/ 2 h 59"/>
                  <a:gd name="T34" fmla="*/ 2 w 128"/>
                  <a:gd name="T35" fmla="*/ 2 h 59"/>
                  <a:gd name="T36" fmla="*/ 7 w 128"/>
                  <a:gd name="T37" fmla="*/ 4 h 59"/>
                  <a:gd name="T38" fmla="*/ 13 w 128"/>
                  <a:gd name="T39" fmla="*/ 7 h 59"/>
                  <a:gd name="T40" fmla="*/ 21 w 128"/>
                  <a:gd name="T41" fmla="*/ 10 h 59"/>
                  <a:gd name="T42" fmla="*/ 29 w 128"/>
                  <a:gd name="T43" fmla="*/ 14 h 59"/>
                  <a:gd name="T44" fmla="*/ 40 w 128"/>
                  <a:gd name="T45" fmla="*/ 20 h 59"/>
                  <a:gd name="T46" fmla="*/ 50 w 128"/>
                  <a:gd name="T47" fmla="*/ 24 h 59"/>
                  <a:gd name="T48" fmla="*/ 61 w 128"/>
                  <a:gd name="T49" fmla="*/ 28 h 59"/>
                  <a:gd name="T50" fmla="*/ 72 w 128"/>
                  <a:gd name="T51" fmla="*/ 35 h 59"/>
                  <a:gd name="T52" fmla="*/ 83 w 128"/>
                  <a:gd name="T53" fmla="*/ 39 h 59"/>
                  <a:gd name="T54" fmla="*/ 94 w 128"/>
                  <a:gd name="T55" fmla="*/ 43 h 59"/>
                  <a:gd name="T56" fmla="*/ 103 w 128"/>
                  <a:gd name="T57" fmla="*/ 48 h 59"/>
                  <a:gd name="T58" fmla="*/ 110 w 128"/>
                  <a:gd name="T59" fmla="*/ 53 h 59"/>
                  <a:gd name="T60" fmla="*/ 119 w 128"/>
                  <a:gd name="T61" fmla="*/ 55 h 59"/>
                  <a:gd name="T62" fmla="*/ 123 w 128"/>
                  <a:gd name="T63" fmla="*/ 58 h 59"/>
                  <a:gd name="T64" fmla="*/ 126 w 128"/>
                  <a:gd name="T65" fmla="*/ 59 h 5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8"/>
                  <a:gd name="T100" fmla="*/ 0 h 59"/>
                  <a:gd name="T101" fmla="*/ 128 w 128"/>
                  <a:gd name="T102" fmla="*/ 59 h 5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8" h="59">
                    <a:moveTo>
                      <a:pt x="128" y="58"/>
                    </a:moveTo>
                    <a:lnTo>
                      <a:pt x="128" y="58"/>
                    </a:lnTo>
                    <a:lnTo>
                      <a:pt x="126" y="57"/>
                    </a:lnTo>
                    <a:lnTo>
                      <a:pt x="124" y="56"/>
                    </a:lnTo>
                    <a:lnTo>
                      <a:pt x="122" y="55"/>
                    </a:lnTo>
                    <a:lnTo>
                      <a:pt x="119" y="53"/>
                    </a:lnTo>
                    <a:lnTo>
                      <a:pt x="115" y="53"/>
                    </a:lnTo>
                    <a:lnTo>
                      <a:pt x="111" y="51"/>
                    </a:lnTo>
                    <a:lnTo>
                      <a:pt x="108" y="49"/>
                    </a:lnTo>
                    <a:lnTo>
                      <a:pt x="104" y="47"/>
                    </a:lnTo>
                    <a:lnTo>
                      <a:pt x="99" y="44"/>
                    </a:lnTo>
                    <a:lnTo>
                      <a:pt x="94" y="42"/>
                    </a:lnTo>
                    <a:lnTo>
                      <a:pt x="89" y="40"/>
                    </a:lnTo>
                    <a:lnTo>
                      <a:pt x="84" y="38"/>
                    </a:lnTo>
                    <a:lnTo>
                      <a:pt x="78" y="36"/>
                    </a:lnTo>
                    <a:lnTo>
                      <a:pt x="73" y="32"/>
                    </a:lnTo>
                    <a:lnTo>
                      <a:pt x="68" y="29"/>
                    </a:lnTo>
                    <a:lnTo>
                      <a:pt x="62" y="27"/>
                    </a:lnTo>
                    <a:lnTo>
                      <a:pt x="57" y="25"/>
                    </a:lnTo>
                    <a:lnTo>
                      <a:pt x="51" y="22"/>
                    </a:lnTo>
                    <a:lnTo>
                      <a:pt x="45" y="20"/>
                    </a:lnTo>
                    <a:lnTo>
                      <a:pt x="41" y="18"/>
                    </a:lnTo>
                    <a:lnTo>
                      <a:pt x="36" y="16"/>
                    </a:lnTo>
                    <a:lnTo>
                      <a:pt x="30" y="12"/>
                    </a:lnTo>
                    <a:lnTo>
                      <a:pt x="26" y="10"/>
                    </a:lnTo>
                    <a:lnTo>
                      <a:pt x="22" y="8"/>
                    </a:lnTo>
                    <a:lnTo>
                      <a:pt x="17" y="7"/>
                    </a:lnTo>
                    <a:lnTo>
                      <a:pt x="14" y="5"/>
                    </a:lnTo>
                    <a:lnTo>
                      <a:pt x="11" y="4"/>
                    </a:lnTo>
                    <a:lnTo>
                      <a:pt x="8" y="3"/>
                    </a:lnTo>
                    <a:lnTo>
                      <a:pt x="5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5" y="3"/>
                    </a:lnTo>
                    <a:lnTo>
                      <a:pt x="7" y="4"/>
                    </a:lnTo>
                    <a:lnTo>
                      <a:pt x="9" y="5"/>
                    </a:lnTo>
                    <a:lnTo>
                      <a:pt x="13" y="7"/>
                    </a:lnTo>
                    <a:lnTo>
                      <a:pt x="17" y="8"/>
                    </a:lnTo>
                    <a:lnTo>
                      <a:pt x="21" y="10"/>
                    </a:lnTo>
                    <a:lnTo>
                      <a:pt x="25" y="12"/>
                    </a:lnTo>
                    <a:lnTo>
                      <a:pt x="29" y="14"/>
                    </a:lnTo>
                    <a:lnTo>
                      <a:pt x="36" y="17"/>
                    </a:lnTo>
                    <a:lnTo>
                      <a:pt x="40" y="20"/>
                    </a:lnTo>
                    <a:lnTo>
                      <a:pt x="45" y="22"/>
                    </a:lnTo>
                    <a:lnTo>
                      <a:pt x="50" y="24"/>
                    </a:lnTo>
                    <a:lnTo>
                      <a:pt x="56" y="26"/>
                    </a:lnTo>
                    <a:lnTo>
                      <a:pt x="61" y="28"/>
                    </a:lnTo>
                    <a:lnTo>
                      <a:pt x="67" y="32"/>
                    </a:lnTo>
                    <a:lnTo>
                      <a:pt x="72" y="35"/>
                    </a:lnTo>
                    <a:lnTo>
                      <a:pt x="78" y="37"/>
                    </a:lnTo>
                    <a:lnTo>
                      <a:pt x="83" y="39"/>
                    </a:lnTo>
                    <a:lnTo>
                      <a:pt x="88" y="41"/>
                    </a:lnTo>
                    <a:lnTo>
                      <a:pt x="94" y="43"/>
                    </a:lnTo>
                    <a:lnTo>
                      <a:pt x="99" y="45"/>
                    </a:lnTo>
                    <a:lnTo>
                      <a:pt x="103" y="48"/>
                    </a:lnTo>
                    <a:lnTo>
                      <a:pt x="107" y="51"/>
                    </a:lnTo>
                    <a:lnTo>
                      <a:pt x="110" y="53"/>
                    </a:lnTo>
                    <a:lnTo>
                      <a:pt x="115" y="53"/>
                    </a:lnTo>
                    <a:lnTo>
                      <a:pt x="119" y="55"/>
                    </a:lnTo>
                    <a:lnTo>
                      <a:pt x="121" y="57"/>
                    </a:lnTo>
                    <a:lnTo>
                      <a:pt x="123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8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55" name="Freeform 924"/>
              <p:cNvSpPr>
                <a:spLocks/>
              </p:cNvSpPr>
              <p:nvPr/>
            </p:nvSpPr>
            <p:spPr bwMode="auto">
              <a:xfrm>
                <a:off x="3241" y="2070"/>
                <a:ext cx="9" cy="11"/>
              </a:xfrm>
              <a:custGeom>
                <a:avLst/>
                <a:gdLst>
                  <a:gd name="T0" fmla="*/ 5 w 9"/>
                  <a:gd name="T1" fmla="*/ 11 h 11"/>
                  <a:gd name="T2" fmla="*/ 5 w 9"/>
                  <a:gd name="T3" fmla="*/ 11 h 11"/>
                  <a:gd name="T4" fmla="*/ 8 w 9"/>
                  <a:gd name="T5" fmla="*/ 10 h 11"/>
                  <a:gd name="T6" fmla="*/ 9 w 9"/>
                  <a:gd name="T7" fmla="*/ 8 h 11"/>
                  <a:gd name="T8" fmla="*/ 9 w 9"/>
                  <a:gd name="T9" fmla="*/ 6 h 11"/>
                  <a:gd name="T10" fmla="*/ 8 w 9"/>
                  <a:gd name="T11" fmla="*/ 6 h 11"/>
                  <a:gd name="T12" fmla="*/ 7 w 9"/>
                  <a:gd name="T13" fmla="*/ 2 h 11"/>
                  <a:gd name="T14" fmla="*/ 5 w 9"/>
                  <a:gd name="T15" fmla="*/ 1 h 11"/>
                  <a:gd name="T16" fmla="*/ 3 w 9"/>
                  <a:gd name="T17" fmla="*/ 1 h 11"/>
                  <a:gd name="T18" fmla="*/ 2 w 9"/>
                  <a:gd name="T19" fmla="*/ 0 h 11"/>
                  <a:gd name="T20" fmla="*/ 0 w 9"/>
                  <a:gd name="T21" fmla="*/ 1 h 11"/>
                  <a:gd name="T22" fmla="*/ 2 w 9"/>
                  <a:gd name="T23" fmla="*/ 2 h 11"/>
                  <a:gd name="T24" fmla="*/ 4 w 9"/>
                  <a:gd name="T25" fmla="*/ 3 h 11"/>
                  <a:gd name="T26" fmla="*/ 5 w 9"/>
                  <a:gd name="T27" fmla="*/ 6 h 11"/>
                  <a:gd name="T28" fmla="*/ 7 w 9"/>
                  <a:gd name="T29" fmla="*/ 6 h 11"/>
                  <a:gd name="T30" fmla="*/ 7 w 9"/>
                  <a:gd name="T31" fmla="*/ 6 h 11"/>
                  <a:gd name="T32" fmla="*/ 7 w 9"/>
                  <a:gd name="T33" fmla="*/ 8 h 11"/>
                  <a:gd name="T34" fmla="*/ 7 w 9"/>
                  <a:gd name="T35" fmla="*/ 8 h 11"/>
                  <a:gd name="T36" fmla="*/ 4 w 9"/>
                  <a:gd name="T37" fmla="*/ 10 h 11"/>
                  <a:gd name="T38" fmla="*/ 5 w 9"/>
                  <a:gd name="T39" fmla="*/ 11 h 1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9"/>
                  <a:gd name="T61" fmla="*/ 0 h 11"/>
                  <a:gd name="T62" fmla="*/ 9 w 9"/>
                  <a:gd name="T63" fmla="*/ 11 h 1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9" h="11">
                    <a:moveTo>
                      <a:pt x="5" y="11"/>
                    </a:moveTo>
                    <a:lnTo>
                      <a:pt x="5" y="11"/>
                    </a:lnTo>
                    <a:lnTo>
                      <a:pt x="8" y="10"/>
                    </a:lnTo>
                    <a:lnTo>
                      <a:pt x="9" y="8"/>
                    </a:lnTo>
                    <a:lnTo>
                      <a:pt x="9" y="6"/>
                    </a:lnTo>
                    <a:lnTo>
                      <a:pt x="8" y="6"/>
                    </a:lnTo>
                    <a:lnTo>
                      <a:pt x="7" y="2"/>
                    </a:lnTo>
                    <a:lnTo>
                      <a:pt x="5" y="1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6"/>
                    </a:lnTo>
                    <a:lnTo>
                      <a:pt x="7" y="6"/>
                    </a:lnTo>
                    <a:lnTo>
                      <a:pt x="7" y="8"/>
                    </a:lnTo>
                    <a:lnTo>
                      <a:pt x="4" y="10"/>
                    </a:lnTo>
                    <a:lnTo>
                      <a:pt x="5" y="1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56" name="Freeform 925"/>
              <p:cNvSpPr>
                <a:spLocks/>
              </p:cNvSpPr>
              <p:nvPr/>
            </p:nvSpPr>
            <p:spPr bwMode="auto">
              <a:xfrm>
                <a:off x="3143" y="2080"/>
                <a:ext cx="103" cy="46"/>
              </a:xfrm>
              <a:custGeom>
                <a:avLst/>
                <a:gdLst>
                  <a:gd name="T0" fmla="*/ 1 w 103"/>
                  <a:gd name="T1" fmla="*/ 46 h 46"/>
                  <a:gd name="T2" fmla="*/ 3 w 103"/>
                  <a:gd name="T3" fmla="*/ 45 h 46"/>
                  <a:gd name="T4" fmla="*/ 9 w 103"/>
                  <a:gd name="T5" fmla="*/ 43 h 46"/>
                  <a:gd name="T6" fmla="*/ 14 w 103"/>
                  <a:gd name="T7" fmla="*/ 40 h 46"/>
                  <a:gd name="T8" fmla="*/ 20 w 103"/>
                  <a:gd name="T9" fmla="*/ 37 h 46"/>
                  <a:gd name="T10" fmla="*/ 27 w 103"/>
                  <a:gd name="T11" fmla="*/ 35 h 46"/>
                  <a:gd name="T12" fmla="*/ 35 w 103"/>
                  <a:gd name="T13" fmla="*/ 31 h 46"/>
                  <a:gd name="T14" fmla="*/ 44 w 103"/>
                  <a:gd name="T15" fmla="*/ 27 h 46"/>
                  <a:gd name="T16" fmla="*/ 52 w 103"/>
                  <a:gd name="T17" fmla="*/ 23 h 46"/>
                  <a:gd name="T18" fmla="*/ 60 w 103"/>
                  <a:gd name="T19" fmla="*/ 20 h 46"/>
                  <a:gd name="T20" fmla="*/ 70 w 103"/>
                  <a:gd name="T21" fmla="*/ 17 h 46"/>
                  <a:gd name="T22" fmla="*/ 77 w 103"/>
                  <a:gd name="T23" fmla="*/ 14 h 46"/>
                  <a:gd name="T24" fmla="*/ 83 w 103"/>
                  <a:gd name="T25" fmla="*/ 11 h 46"/>
                  <a:gd name="T26" fmla="*/ 90 w 103"/>
                  <a:gd name="T27" fmla="*/ 6 h 46"/>
                  <a:gd name="T28" fmla="*/ 95 w 103"/>
                  <a:gd name="T29" fmla="*/ 4 h 46"/>
                  <a:gd name="T30" fmla="*/ 100 w 103"/>
                  <a:gd name="T31" fmla="*/ 3 h 46"/>
                  <a:gd name="T32" fmla="*/ 103 w 103"/>
                  <a:gd name="T33" fmla="*/ 2 h 46"/>
                  <a:gd name="T34" fmla="*/ 101 w 103"/>
                  <a:gd name="T35" fmla="*/ 1 h 46"/>
                  <a:gd name="T36" fmla="*/ 97 w 103"/>
                  <a:gd name="T37" fmla="*/ 2 h 46"/>
                  <a:gd name="T38" fmla="*/ 92 w 103"/>
                  <a:gd name="T39" fmla="*/ 4 h 46"/>
                  <a:gd name="T40" fmla="*/ 86 w 103"/>
                  <a:gd name="T41" fmla="*/ 6 h 46"/>
                  <a:gd name="T42" fmla="*/ 79 w 103"/>
                  <a:gd name="T43" fmla="*/ 11 h 46"/>
                  <a:gd name="T44" fmla="*/ 72 w 103"/>
                  <a:gd name="T45" fmla="*/ 14 h 46"/>
                  <a:gd name="T46" fmla="*/ 64 w 103"/>
                  <a:gd name="T47" fmla="*/ 17 h 46"/>
                  <a:gd name="T48" fmla="*/ 56 w 103"/>
                  <a:gd name="T49" fmla="*/ 20 h 46"/>
                  <a:gd name="T50" fmla="*/ 47 w 103"/>
                  <a:gd name="T51" fmla="*/ 23 h 46"/>
                  <a:gd name="T52" fmla="*/ 39 w 103"/>
                  <a:gd name="T53" fmla="*/ 28 h 46"/>
                  <a:gd name="T54" fmla="*/ 31 w 103"/>
                  <a:gd name="T55" fmla="*/ 31 h 46"/>
                  <a:gd name="T56" fmla="*/ 23 w 103"/>
                  <a:gd name="T57" fmla="*/ 35 h 46"/>
                  <a:gd name="T58" fmla="*/ 16 w 103"/>
                  <a:gd name="T59" fmla="*/ 37 h 46"/>
                  <a:gd name="T60" fmla="*/ 11 w 103"/>
                  <a:gd name="T61" fmla="*/ 40 h 46"/>
                  <a:gd name="T62" fmla="*/ 5 w 103"/>
                  <a:gd name="T63" fmla="*/ 43 h 46"/>
                  <a:gd name="T64" fmla="*/ 1 w 103"/>
                  <a:gd name="T65" fmla="*/ 44 h 46"/>
                  <a:gd name="T66" fmla="*/ 1 w 103"/>
                  <a:gd name="T67" fmla="*/ 46 h 4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6"/>
                  <a:gd name="T104" fmla="*/ 103 w 103"/>
                  <a:gd name="T105" fmla="*/ 46 h 4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6">
                    <a:moveTo>
                      <a:pt x="1" y="46"/>
                    </a:moveTo>
                    <a:lnTo>
                      <a:pt x="1" y="46"/>
                    </a:lnTo>
                    <a:lnTo>
                      <a:pt x="2" y="45"/>
                    </a:lnTo>
                    <a:lnTo>
                      <a:pt x="3" y="45"/>
                    </a:lnTo>
                    <a:lnTo>
                      <a:pt x="5" y="44"/>
                    </a:lnTo>
                    <a:lnTo>
                      <a:pt x="9" y="43"/>
                    </a:lnTo>
                    <a:lnTo>
                      <a:pt x="12" y="42"/>
                    </a:lnTo>
                    <a:lnTo>
                      <a:pt x="14" y="40"/>
                    </a:lnTo>
                    <a:lnTo>
                      <a:pt x="17" y="39"/>
                    </a:lnTo>
                    <a:lnTo>
                      <a:pt x="20" y="37"/>
                    </a:lnTo>
                    <a:lnTo>
                      <a:pt x="24" y="36"/>
                    </a:lnTo>
                    <a:lnTo>
                      <a:pt x="27" y="35"/>
                    </a:lnTo>
                    <a:lnTo>
                      <a:pt x="31" y="33"/>
                    </a:lnTo>
                    <a:lnTo>
                      <a:pt x="35" y="31"/>
                    </a:lnTo>
                    <a:lnTo>
                      <a:pt x="40" y="29"/>
                    </a:lnTo>
                    <a:lnTo>
                      <a:pt x="44" y="27"/>
                    </a:lnTo>
                    <a:lnTo>
                      <a:pt x="47" y="26"/>
                    </a:lnTo>
                    <a:lnTo>
                      <a:pt x="52" y="23"/>
                    </a:lnTo>
                    <a:lnTo>
                      <a:pt x="57" y="22"/>
                    </a:lnTo>
                    <a:lnTo>
                      <a:pt x="60" y="20"/>
                    </a:lnTo>
                    <a:lnTo>
                      <a:pt x="64" y="18"/>
                    </a:lnTo>
                    <a:lnTo>
                      <a:pt x="70" y="17"/>
                    </a:lnTo>
                    <a:lnTo>
                      <a:pt x="73" y="15"/>
                    </a:lnTo>
                    <a:lnTo>
                      <a:pt x="77" y="14"/>
                    </a:lnTo>
                    <a:lnTo>
                      <a:pt x="80" y="11"/>
                    </a:lnTo>
                    <a:lnTo>
                      <a:pt x="83" y="11"/>
                    </a:lnTo>
                    <a:lnTo>
                      <a:pt x="87" y="8"/>
                    </a:lnTo>
                    <a:lnTo>
                      <a:pt x="90" y="6"/>
                    </a:lnTo>
                    <a:lnTo>
                      <a:pt x="92" y="5"/>
                    </a:lnTo>
                    <a:lnTo>
                      <a:pt x="95" y="4"/>
                    </a:lnTo>
                    <a:lnTo>
                      <a:pt x="98" y="3"/>
                    </a:lnTo>
                    <a:lnTo>
                      <a:pt x="100" y="3"/>
                    </a:lnTo>
                    <a:lnTo>
                      <a:pt x="102" y="2"/>
                    </a:lnTo>
                    <a:lnTo>
                      <a:pt x="103" y="2"/>
                    </a:lnTo>
                    <a:lnTo>
                      <a:pt x="103" y="0"/>
                    </a:lnTo>
                    <a:lnTo>
                      <a:pt x="101" y="1"/>
                    </a:lnTo>
                    <a:lnTo>
                      <a:pt x="100" y="1"/>
                    </a:lnTo>
                    <a:lnTo>
                      <a:pt x="97" y="2"/>
                    </a:lnTo>
                    <a:lnTo>
                      <a:pt x="95" y="3"/>
                    </a:lnTo>
                    <a:lnTo>
                      <a:pt x="92" y="4"/>
                    </a:lnTo>
                    <a:lnTo>
                      <a:pt x="89" y="5"/>
                    </a:lnTo>
                    <a:lnTo>
                      <a:pt x="86" y="6"/>
                    </a:lnTo>
                    <a:lnTo>
                      <a:pt x="82" y="8"/>
                    </a:lnTo>
                    <a:lnTo>
                      <a:pt x="79" y="11"/>
                    </a:lnTo>
                    <a:lnTo>
                      <a:pt x="76" y="11"/>
                    </a:lnTo>
                    <a:lnTo>
                      <a:pt x="72" y="14"/>
                    </a:lnTo>
                    <a:lnTo>
                      <a:pt x="67" y="15"/>
                    </a:lnTo>
                    <a:lnTo>
                      <a:pt x="64" y="17"/>
                    </a:lnTo>
                    <a:lnTo>
                      <a:pt x="60" y="19"/>
                    </a:lnTo>
                    <a:lnTo>
                      <a:pt x="56" y="20"/>
                    </a:lnTo>
                    <a:lnTo>
                      <a:pt x="50" y="22"/>
                    </a:lnTo>
                    <a:lnTo>
                      <a:pt x="47" y="23"/>
                    </a:lnTo>
                    <a:lnTo>
                      <a:pt x="43" y="26"/>
                    </a:lnTo>
                    <a:lnTo>
                      <a:pt x="39" y="28"/>
                    </a:lnTo>
                    <a:lnTo>
                      <a:pt x="35" y="29"/>
                    </a:lnTo>
                    <a:lnTo>
                      <a:pt x="31" y="31"/>
                    </a:lnTo>
                    <a:lnTo>
                      <a:pt x="27" y="33"/>
                    </a:lnTo>
                    <a:lnTo>
                      <a:pt x="23" y="35"/>
                    </a:lnTo>
                    <a:lnTo>
                      <a:pt x="19" y="36"/>
                    </a:lnTo>
                    <a:lnTo>
                      <a:pt x="16" y="37"/>
                    </a:lnTo>
                    <a:lnTo>
                      <a:pt x="14" y="38"/>
                    </a:lnTo>
                    <a:lnTo>
                      <a:pt x="11" y="40"/>
                    </a:lnTo>
                    <a:lnTo>
                      <a:pt x="9" y="42"/>
                    </a:lnTo>
                    <a:lnTo>
                      <a:pt x="5" y="43"/>
                    </a:lnTo>
                    <a:lnTo>
                      <a:pt x="3" y="43"/>
                    </a:lnTo>
                    <a:lnTo>
                      <a:pt x="1" y="44"/>
                    </a:lnTo>
                    <a:lnTo>
                      <a:pt x="0" y="44"/>
                    </a:lnTo>
                    <a:lnTo>
                      <a:pt x="1" y="4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57" name="Freeform 926"/>
              <p:cNvSpPr>
                <a:spLocks/>
              </p:cNvSpPr>
              <p:nvPr/>
            </p:nvSpPr>
            <p:spPr bwMode="auto">
              <a:xfrm>
                <a:off x="3129" y="2122"/>
                <a:ext cx="14" cy="4"/>
              </a:xfrm>
              <a:custGeom>
                <a:avLst/>
                <a:gdLst>
                  <a:gd name="T0" fmla="*/ 0 w 14"/>
                  <a:gd name="T1" fmla="*/ 1 h 4"/>
                  <a:gd name="T2" fmla="*/ 0 w 14"/>
                  <a:gd name="T3" fmla="*/ 1 h 4"/>
                  <a:gd name="T4" fmla="*/ 1 w 14"/>
                  <a:gd name="T5" fmla="*/ 2 h 4"/>
                  <a:gd name="T6" fmla="*/ 3 w 14"/>
                  <a:gd name="T7" fmla="*/ 3 h 4"/>
                  <a:gd name="T8" fmla="*/ 7 w 14"/>
                  <a:gd name="T9" fmla="*/ 3 h 4"/>
                  <a:gd name="T10" fmla="*/ 7 w 14"/>
                  <a:gd name="T11" fmla="*/ 3 h 4"/>
                  <a:gd name="T12" fmla="*/ 10 w 14"/>
                  <a:gd name="T13" fmla="*/ 4 h 4"/>
                  <a:gd name="T14" fmla="*/ 11 w 14"/>
                  <a:gd name="T15" fmla="*/ 4 h 4"/>
                  <a:gd name="T16" fmla="*/ 13 w 14"/>
                  <a:gd name="T17" fmla="*/ 4 h 4"/>
                  <a:gd name="T18" fmla="*/ 14 w 14"/>
                  <a:gd name="T19" fmla="*/ 4 h 4"/>
                  <a:gd name="T20" fmla="*/ 13 w 14"/>
                  <a:gd name="T21" fmla="*/ 2 h 4"/>
                  <a:gd name="T22" fmla="*/ 11 w 14"/>
                  <a:gd name="T23" fmla="*/ 2 h 4"/>
                  <a:gd name="T24" fmla="*/ 10 w 14"/>
                  <a:gd name="T25" fmla="*/ 2 h 4"/>
                  <a:gd name="T26" fmla="*/ 9 w 14"/>
                  <a:gd name="T27" fmla="*/ 2 h 4"/>
                  <a:gd name="T28" fmla="*/ 7 w 14"/>
                  <a:gd name="T29" fmla="*/ 1 h 4"/>
                  <a:gd name="T30" fmla="*/ 3 w 14"/>
                  <a:gd name="T31" fmla="*/ 1 h 4"/>
                  <a:gd name="T32" fmla="*/ 2 w 14"/>
                  <a:gd name="T33" fmla="*/ 1 h 4"/>
                  <a:gd name="T34" fmla="*/ 1 w 14"/>
                  <a:gd name="T35" fmla="*/ 0 h 4"/>
                  <a:gd name="T36" fmla="*/ 0 w 14"/>
                  <a:gd name="T37" fmla="*/ 1 h 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4"/>
                  <a:gd name="T59" fmla="*/ 14 w 14"/>
                  <a:gd name="T60" fmla="*/ 4 h 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4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3" y="3"/>
                    </a:lnTo>
                    <a:lnTo>
                      <a:pt x="7" y="3"/>
                    </a:lnTo>
                    <a:lnTo>
                      <a:pt x="10" y="4"/>
                    </a:lnTo>
                    <a:lnTo>
                      <a:pt x="11" y="4"/>
                    </a:lnTo>
                    <a:lnTo>
                      <a:pt x="13" y="4"/>
                    </a:lnTo>
                    <a:lnTo>
                      <a:pt x="14" y="4"/>
                    </a:lnTo>
                    <a:lnTo>
                      <a:pt x="13" y="2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2"/>
                    </a:lnTo>
                    <a:lnTo>
                      <a:pt x="7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58" name="Freeform 927"/>
              <p:cNvSpPr>
                <a:spLocks/>
              </p:cNvSpPr>
              <p:nvPr/>
            </p:nvSpPr>
            <p:spPr bwMode="auto">
              <a:xfrm>
                <a:off x="3015" y="2061"/>
                <a:ext cx="115" cy="62"/>
              </a:xfrm>
              <a:custGeom>
                <a:avLst/>
                <a:gdLst>
                  <a:gd name="T0" fmla="*/ 0 w 115"/>
                  <a:gd name="T1" fmla="*/ 1 h 62"/>
                  <a:gd name="T2" fmla="*/ 2 w 115"/>
                  <a:gd name="T3" fmla="*/ 2 h 62"/>
                  <a:gd name="T4" fmla="*/ 5 w 115"/>
                  <a:gd name="T5" fmla="*/ 4 h 62"/>
                  <a:gd name="T6" fmla="*/ 11 w 115"/>
                  <a:gd name="T7" fmla="*/ 8 h 62"/>
                  <a:gd name="T8" fmla="*/ 18 w 115"/>
                  <a:gd name="T9" fmla="*/ 11 h 62"/>
                  <a:gd name="T10" fmla="*/ 26 w 115"/>
                  <a:gd name="T11" fmla="*/ 16 h 62"/>
                  <a:gd name="T12" fmla="*/ 35 w 115"/>
                  <a:gd name="T13" fmla="*/ 20 h 62"/>
                  <a:gd name="T14" fmla="*/ 45 w 115"/>
                  <a:gd name="T15" fmla="*/ 25 h 62"/>
                  <a:gd name="T16" fmla="*/ 54 w 115"/>
                  <a:gd name="T17" fmla="*/ 30 h 62"/>
                  <a:gd name="T18" fmla="*/ 64 w 115"/>
                  <a:gd name="T19" fmla="*/ 36 h 62"/>
                  <a:gd name="T20" fmla="*/ 75 w 115"/>
                  <a:gd name="T21" fmla="*/ 40 h 62"/>
                  <a:gd name="T22" fmla="*/ 83 w 115"/>
                  <a:gd name="T23" fmla="*/ 46 h 62"/>
                  <a:gd name="T24" fmla="*/ 93 w 115"/>
                  <a:gd name="T25" fmla="*/ 51 h 62"/>
                  <a:gd name="T26" fmla="*/ 99 w 115"/>
                  <a:gd name="T27" fmla="*/ 54 h 62"/>
                  <a:gd name="T28" fmla="*/ 107 w 115"/>
                  <a:gd name="T29" fmla="*/ 57 h 62"/>
                  <a:gd name="T30" fmla="*/ 112 w 115"/>
                  <a:gd name="T31" fmla="*/ 61 h 62"/>
                  <a:gd name="T32" fmla="*/ 114 w 115"/>
                  <a:gd name="T33" fmla="*/ 62 h 62"/>
                  <a:gd name="T34" fmla="*/ 114 w 115"/>
                  <a:gd name="T35" fmla="*/ 59 h 62"/>
                  <a:gd name="T36" fmla="*/ 110 w 115"/>
                  <a:gd name="T37" fmla="*/ 57 h 62"/>
                  <a:gd name="T38" fmla="*/ 104 w 115"/>
                  <a:gd name="T39" fmla="*/ 54 h 62"/>
                  <a:gd name="T40" fmla="*/ 97 w 115"/>
                  <a:gd name="T41" fmla="*/ 51 h 62"/>
                  <a:gd name="T42" fmla="*/ 90 w 115"/>
                  <a:gd name="T43" fmla="*/ 46 h 62"/>
                  <a:gd name="T44" fmla="*/ 80 w 115"/>
                  <a:gd name="T45" fmla="*/ 41 h 62"/>
                  <a:gd name="T46" fmla="*/ 70 w 115"/>
                  <a:gd name="T47" fmla="*/ 37 h 62"/>
                  <a:gd name="T48" fmla="*/ 61 w 115"/>
                  <a:gd name="T49" fmla="*/ 32 h 62"/>
                  <a:gd name="T50" fmla="*/ 51 w 115"/>
                  <a:gd name="T51" fmla="*/ 25 h 62"/>
                  <a:gd name="T52" fmla="*/ 41 w 115"/>
                  <a:gd name="T53" fmla="*/ 21 h 62"/>
                  <a:gd name="T54" fmla="*/ 32 w 115"/>
                  <a:gd name="T55" fmla="*/ 17 h 62"/>
                  <a:gd name="T56" fmla="*/ 23 w 115"/>
                  <a:gd name="T57" fmla="*/ 12 h 62"/>
                  <a:gd name="T58" fmla="*/ 16 w 115"/>
                  <a:gd name="T59" fmla="*/ 8 h 62"/>
                  <a:gd name="T60" fmla="*/ 8 w 115"/>
                  <a:gd name="T61" fmla="*/ 4 h 62"/>
                  <a:gd name="T62" fmla="*/ 4 w 115"/>
                  <a:gd name="T63" fmla="*/ 2 h 62"/>
                  <a:gd name="T64" fmla="*/ 1 w 115"/>
                  <a:gd name="T65" fmla="*/ 0 h 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2"/>
                  <a:gd name="T101" fmla="*/ 115 w 115"/>
                  <a:gd name="T102" fmla="*/ 62 h 6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2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5" y="4"/>
                    </a:lnTo>
                    <a:lnTo>
                      <a:pt x="7" y="5"/>
                    </a:lnTo>
                    <a:lnTo>
                      <a:pt x="11" y="8"/>
                    </a:lnTo>
                    <a:lnTo>
                      <a:pt x="15" y="10"/>
                    </a:lnTo>
                    <a:lnTo>
                      <a:pt x="18" y="11"/>
                    </a:lnTo>
                    <a:lnTo>
                      <a:pt x="22" y="14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0"/>
                    </a:lnTo>
                    <a:lnTo>
                      <a:pt x="39" y="22"/>
                    </a:lnTo>
                    <a:lnTo>
                      <a:pt x="45" y="25"/>
                    </a:lnTo>
                    <a:lnTo>
                      <a:pt x="49" y="27"/>
                    </a:lnTo>
                    <a:lnTo>
                      <a:pt x="54" y="30"/>
                    </a:lnTo>
                    <a:lnTo>
                      <a:pt x="60" y="34"/>
                    </a:lnTo>
                    <a:lnTo>
                      <a:pt x="64" y="36"/>
                    </a:lnTo>
                    <a:lnTo>
                      <a:pt x="70" y="38"/>
                    </a:lnTo>
                    <a:lnTo>
                      <a:pt x="75" y="40"/>
                    </a:lnTo>
                    <a:lnTo>
                      <a:pt x="79" y="43"/>
                    </a:lnTo>
                    <a:lnTo>
                      <a:pt x="83" y="46"/>
                    </a:lnTo>
                    <a:lnTo>
                      <a:pt x="88" y="49"/>
                    </a:lnTo>
                    <a:lnTo>
                      <a:pt x="93" y="51"/>
                    </a:lnTo>
                    <a:lnTo>
                      <a:pt x="96" y="53"/>
                    </a:lnTo>
                    <a:lnTo>
                      <a:pt x="99" y="54"/>
                    </a:lnTo>
                    <a:lnTo>
                      <a:pt x="102" y="56"/>
                    </a:lnTo>
                    <a:lnTo>
                      <a:pt x="107" y="57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3" y="61"/>
                    </a:lnTo>
                    <a:lnTo>
                      <a:pt x="114" y="62"/>
                    </a:lnTo>
                    <a:lnTo>
                      <a:pt x="115" y="61"/>
                    </a:lnTo>
                    <a:lnTo>
                      <a:pt x="114" y="59"/>
                    </a:lnTo>
                    <a:lnTo>
                      <a:pt x="112" y="58"/>
                    </a:lnTo>
                    <a:lnTo>
                      <a:pt x="110" y="57"/>
                    </a:lnTo>
                    <a:lnTo>
                      <a:pt x="107" y="56"/>
                    </a:lnTo>
                    <a:lnTo>
                      <a:pt x="104" y="54"/>
                    </a:lnTo>
                    <a:lnTo>
                      <a:pt x="100" y="53"/>
                    </a:lnTo>
                    <a:lnTo>
                      <a:pt x="97" y="51"/>
                    </a:lnTo>
                    <a:lnTo>
                      <a:pt x="94" y="49"/>
                    </a:lnTo>
                    <a:lnTo>
                      <a:pt x="90" y="46"/>
                    </a:lnTo>
                    <a:lnTo>
                      <a:pt x="84" y="43"/>
                    </a:lnTo>
                    <a:lnTo>
                      <a:pt x="80" y="41"/>
                    </a:lnTo>
                    <a:lnTo>
                      <a:pt x="76" y="39"/>
                    </a:lnTo>
                    <a:lnTo>
                      <a:pt x="70" y="37"/>
                    </a:lnTo>
                    <a:lnTo>
                      <a:pt x="65" y="35"/>
                    </a:lnTo>
                    <a:lnTo>
                      <a:pt x="61" y="32"/>
                    </a:lnTo>
                    <a:lnTo>
                      <a:pt x="55" y="30"/>
                    </a:lnTo>
                    <a:lnTo>
                      <a:pt x="51" y="25"/>
                    </a:lnTo>
                    <a:lnTo>
                      <a:pt x="46" y="23"/>
                    </a:lnTo>
                    <a:lnTo>
                      <a:pt x="41" y="21"/>
                    </a:lnTo>
                    <a:lnTo>
                      <a:pt x="36" y="19"/>
                    </a:lnTo>
                    <a:lnTo>
                      <a:pt x="32" y="17"/>
                    </a:lnTo>
                    <a:lnTo>
                      <a:pt x="27" y="15"/>
                    </a:lnTo>
                    <a:lnTo>
                      <a:pt x="23" y="12"/>
                    </a:lnTo>
                    <a:lnTo>
                      <a:pt x="19" y="10"/>
                    </a:lnTo>
                    <a:lnTo>
                      <a:pt x="16" y="8"/>
                    </a:lnTo>
                    <a:lnTo>
                      <a:pt x="13" y="5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59" name="Freeform 928"/>
              <p:cNvSpPr>
                <a:spLocks/>
              </p:cNvSpPr>
              <p:nvPr/>
            </p:nvSpPr>
            <p:spPr bwMode="auto">
              <a:xfrm>
                <a:off x="3010" y="2053"/>
                <a:ext cx="6" cy="9"/>
              </a:xfrm>
              <a:custGeom>
                <a:avLst/>
                <a:gdLst>
                  <a:gd name="T0" fmla="*/ 4 w 6"/>
                  <a:gd name="T1" fmla="*/ 0 h 9"/>
                  <a:gd name="T2" fmla="*/ 4 w 6"/>
                  <a:gd name="T3" fmla="*/ 0 h 9"/>
                  <a:gd name="T4" fmla="*/ 2 w 6"/>
                  <a:gd name="T5" fmla="*/ 1 h 9"/>
                  <a:gd name="T6" fmla="*/ 1 w 6"/>
                  <a:gd name="T7" fmla="*/ 3 h 9"/>
                  <a:gd name="T8" fmla="*/ 0 w 6"/>
                  <a:gd name="T9" fmla="*/ 3 h 9"/>
                  <a:gd name="T10" fmla="*/ 0 w 6"/>
                  <a:gd name="T11" fmla="*/ 6 h 9"/>
                  <a:gd name="T12" fmla="*/ 1 w 6"/>
                  <a:gd name="T13" fmla="*/ 7 h 9"/>
                  <a:gd name="T14" fmla="*/ 2 w 6"/>
                  <a:gd name="T15" fmla="*/ 8 h 9"/>
                  <a:gd name="T16" fmla="*/ 4 w 6"/>
                  <a:gd name="T17" fmla="*/ 8 h 9"/>
                  <a:gd name="T18" fmla="*/ 5 w 6"/>
                  <a:gd name="T19" fmla="*/ 9 h 9"/>
                  <a:gd name="T20" fmla="*/ 6 w 6"/>
                  <a:gd name="T21" fmla="*/ 8 h 9"/>
                  <a:gd name="T22" fmla="*/ 4 w 6"/>
                  <a:gd name="T23" fmla="*/ 7 h 9"/>
                  <a:gd name="T24" fmla="*/ 3 w 6"/>
                  <a:gd name="T25" fmla="*/ 6 h 9"/>
                  <a:gd name="T26" fmla="*/ 2 w 6"/>
                  <a:gd name="T27" fmla="*/ 6 h 9"/>
                  <a:gd name="T28" fmla="*/ 2 w 6"/>
                  <a:gd name="T29" fmla="*/ 3 h 9"/>
                  <a:gd name="T30" fmla="*/ 3 w 6"/>
                  <a:gd name="T31" fmla="*/ 3 h 9"/>
                  <a:gd name="T32" fmla="*/ 5 w 6"/>
                  <a:gd name="T33" fmla="*/ 1 h 9"/>
                  <a:gd name="T34" fmla="*/ 4 w 6"/>
                  <a:gd name="T35" fmla="*/ 0 h 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"/>
                  <a:gd name="T55" fmla="*/ 0 h 9"/>
                  <a:gd name="T56" fmla="*/ 6 w 6"/>
                  <a:gd name="T57" fmla="*/ 9 h 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" h="9">
                    <a:moveTo>
                      <a:pt x="4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1" y="7"/>
                    </a:lnTo>
                    <a:lnTo>
                      <a:pt x="2" y="8"/>
                    </a:lnTo>
                    <a:lnTo>
                      <a:pt x="4" y="8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4" y="7"/>
                    </a:lnTo>
                    <a:lnTo>
                      <a:pt x="3" y="6"/>
                    </a:lnTo>
                    <a:lnTo>
                      <a:pt x="2" y="6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60" name="Freeform 929"/>
              <p:cNvSpPr>
                <a:spLocks/>
              </p:cNvSpPr>
              <p:nvPr/>
            </p:nvSpPr>
            <p:spPr bwMode="auto">
              <a:xfrm>
                <a:off x="3137" y="2112"/>
                <a:ext cx="106" cy="49"/>
              </a:xfrm>
              <a:custGeom>
                <a:avLst/>
                <a:gdLst>
                  <a:gd name="T0" fmla="*/ 106 w 106"/>
                  <a:gd name="T1" fmla="*/ 0 h 49"/>
                  <a:gd name="T2" fmla="*/ 104 w 106"/>
                  <a:gd name="T3" fmla="*/ 0 h 49"/>
                  <a:gd name="T4" fmla="*/ 102 w 106"/>
                  <a:gd name="T5" fmla="*/ 1 h 49"/>
                  <a:gd name="T6" fmla="*/ 100 w 106"/>
                  <a:gd name="T7" fmla="*/ 2 h 49"/>
                  <a:gd name="T8" fmla="*/ 98 w 106"/>
                  <a:gd name="T9" fmla="*/ 3 h 49"/>
                  <a:gd name="T10" fmla="*/ 95 w 106"/>
                  <a:gd name="T11" fmla="*/ 4 h 49"/>
                  <a:gd name="T12" fmla="*/ 92 w 106"/>
                  <a:gd name="T13" fmla="*/ 5 h 49"/>
                  <a:gd name="T14" fmla="*/ 88 w 106"/>
                  <a:gd name="T15" fmla="*/ 7 h 49"/>
                  <a:gd name="T16" fmla="*/ 85 w 106"/>
                  <a:gd name="T17" fmla="*/ 10 h 49"/>
                  <a:gd name="T18" fmla="*/ 82 w 106"/>
                  <a:gd name="T19" fmla="*/ 10 h 49"/>
                  <a:gd name="T20" fmla="*/ 79 w 106"/>
                  <a:gd name="T21" fmla="*/ 13 h 49"/>
                  <a:gd name="T22" fmla="*/ 75 w 106"/>
                  <a:gd name="T23" fmla="*/ 15 h 49"/>
                  <a:gd name="T24" fmla="*/ 70 w 106"/>
                  <a:gd name="T25" fmla="*/ 16 h 49"/>
                  <a:gd name="T26" fmla="*/ 66 w 106"/>
                  <a:gd name="T27" fmla="*/ 18 h 49"/>
                  <a:gd name="T28" fmla="*/ 62 w 106"/>
                  <a:gd name="T29" fmla="*/ 20 h 49"/>
                  <a:gd name="T30" fmla="*/ 57 w 106"/>
                  <a:gd name="T31" fmla="*/ 22 h 49"/>
                  <a:gd name="T32" fmla="*/ 53 w 106"/>
                  <a:gd name="T33" fmla="*/ 23 h 49"/>
                  <a:gd name="T34" fmla="*/ 50 w 106"/>
                  <a:gd name="T35" fmla="*/ 26 h 49"/>
                  <a:gd name="T36" fmla="*/ 45 w 106"/>
                  <a:gd name="T37" fmla="*/ 29 h 49"/>
                  <a:gd name="T38" fmla="*/ 40 w 106"/>
                  <a:gd name="T39" fmla="*/ 31 h 49"/>
                  <a:gd name="T40" fmla="*/ 36 w 106"/>
                  <a:gd name="T41" fmla="*/ 32 h 49"/>
                  <a:gd name="T42" fmla="*/ 31 w 106"/>
                  <a:gd name="T43" fmla="*/ 34 h 49"/>
                  <a:gd name="T44" fmla="*/ 28 w 106"/>
                  <a:gd name="T45" fmla="*/ 36 h 49"/>
                  <a:gd name="T46" fmla="*/ 23 w 106"/>
                  <a:gd name="T47" fmla="*/ 37 h 49"/>
                  <a:gd name="T48" fmla="*/ 20 w 106"/>
                  <a:gd name="T49" fmla="*/ 39 h 49"/>
                  <a:gd name="T50" fmla="*/ 17 w 106"/>
                  <a:gd name="T51" fmla="*/ 42 h 49"/>
                  <a:gd name="T52" fmla="*/ 14 w 106"/>
                  <a:gd name="T53" fmla="*/ 42 h 49"/>
                  <a:gd name="T54" fmla="*/ 10 w 106"/>
                  <a:gd name="T55" fmla="*/ 45 h 49"/>
                  <a:gd name="T56" fmla="*/ 8 w 106"/>
                  <a:gd name="T57" fmla="*/ 46 h 49"/>
                  <a:gd name="T58" fmla="*/ 5 w 106"/>
                  <a:gd name="T59" fmla="*/ 47 h 49"/>
                  <a:gd name="T60" fmla="*/ 3 w 106"/>
                  <a:gd name="T61" fmla="*/ 48 h 49"/>
                  <a:gd name="T62" fmla="*/ 1 w 106"/>
                  <a:gd name="T63" fmla="*/ 48 h 49"/>
                  <a:gd name="T64" fmla="*/ 0 w 106"/>
                  <a:gd name="T65" fmla="*/ 49 h 49"/>
                  <a:gd name="T66" fmla="*/ 106 w 106"/>
                  <a:gd name="T67" fmla="*/ 0 h 49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6"/>
                  <a:gd name="T103" fmla="*/ 0 h 49"/>
                  <a:gd name="T104" fmla="*/ 106 w 106"/>
                  <a:gd name="T105" fmla="*/ 49 h 49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6" h="49">
                    <a:moveTo>
                      <a:pt x="106" y="0"/>
                    </a:moveTo>
                    <a:lnTo>
                      <a:pt x="104" y="0"/>
                    </a:lnTo>
                    <a:lnTo>
                      <a:pt x="102" y="1"/>
                    </a:lnTo>
                    <a:lnTo>
                      <a:pt x="100" y="2"/>
                    </a:lnTo>
                    <a:lnTo>
                      <a:pt x="98" y="3"/>
                    </a:lnTo>
                    <a:lnTo>
                      <a:pt x="95" y="4"/>
                    </a:lnTo>
                    <a:lnTo>
                      <a:pt x="92" y="5"/>
                    </a:lnTo>
                    <a:lnTo>
                      <a:pt x="88" y="7"/>
                    </a:lnTo>
                    <a:lnTo>
                      <a:pt x="85" y="10"/>
                    </a:lnTo>
                    <a:lnTo>
                      <a:pt x="82" y="10"/>
                    </a:lnTo>
                    <a:lnTo>
                      <a:pt x="79" y="13"/>
                    </a:lnTo>
                    <a:lnTo>
                      <a:pt x="75" y="15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0"/>
                    </a:lnTo>
                    <a:lnTo>
                      <a:pt x="57" y="22"/>
                    </a:lnTo>
                    <a:lnTo>
                      <a:pt x="53" y="23"/>
                    </a:lnTo>
                    <a:lnTo>
                      <a:pt x="50" y="26"/>
                    </a:lnTo>
                    <a:lnTo>
                      <a:pt x="45" y="29"/>
                    </a:lnTo>
                    <a:lnTo>
                      <a:pt x="40" y="31"/>
                    </a:lnTo>
                    <a:lnTo>
                      <a:pt x="36" y="32"/>
                    </a:lnTo>
                    <a:lnTo>
                      <a:pt x="31" y="34"/>
                    </a:lnTo>
                    <a:lnTo>
                      <a:pt x="28" y="36"/>
                    </a:lnTo>
                    <a:lnTo>
                      <a:pt x="23" y="37"/>
                    </a:lnTo>
                    <a:lnTo>
                      <a:pt x="20" y="39"/>
                    </a:lnTo>
                    <a:lnTo>
                      <a:pt x="17" y="42"/>
                    </a:lnTo>
                    <a:lnTo>
                      <a:pt x="14" y="42"/>
                    </a:lnTo>
                    <a:lnTo>
                      <a:pt x="10" y="45"/>
                    </a:lnTo>
                    <a:lnTo>
                      <a:pt x="8" y="46"/>
                    </a:lnTo>
                    <a:lnTo>
                      <a:pt x="5" y="47"/>
                    </a:lnTo>
                    <a:lnTo>
                      <a:pt x="3" y="48"/>
                    </a:lnTo>
                    <a:lnTo>
                      <a:pt x="1" y="48"/>
                    </a:lnTo>
                    <a:lnTo>
                      <a:pt x="0" y="49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61" name="Freeform 930"/>
              <p:cNvSpPr>
                <a:spLocks/>
              </p:cNvSpPr>
              <p:nvPr/>
            </p:nvSpPr>
            <p:spPr bwMode="auto">
              <a:xfrm>
                <a:off x="3136" y="2112"/>
                <a:ext cx="107" cy="50"/>
              </a:xfrm>
              <a:custGeom>
                <a:avLst/>
                <a:gdLst>
                  <a:gd name="T0" fmla="*/ 2 w 107"/>
                  <a:gd name="T1" fmla="*/ 49 h 50"/>
                  <a:gd name="T2" fmla="*/ 6 w 107"/>
                  <a:gd name="T3" fmla="*/ 48 h 50"/>
                  <a:gd name="T4" fmla="*/ 10 w 107"/>
                  <a:gd name="T5" fmla="*/ 46 h 50"/>
                  <a:gd name="T6" fmla="*/ 18 w 107"/>
                  <a:gd name="T7" fmla="*/ 42 h 50"/>
                  <a:gd name="T8" fmla="*/ 24 w 107"/>
                  <a:gd name="T9" fmla="*/ 38 h 50"/>
                  <a:gd name="T10" fmla="*/ 32 w 107"/>
                  <a:gd name="T11" fmla="*/ 35 h 50"/>
                  <a:gd name="T12" fmla="*/ 41 w 107"/>
                  <a:gd name="T13" fmla="*/ 32 h 50"/>
                  <a:gd name="T14" fmla="*/ 49 w 107"/>
                  <a:gd name="T15" fmla="*/ 28 h 50"/>
                  <a:gd name="T16" fmla="*/ 58 w 107"/>
                  <a:gd name="T17" fmla="*/ 23 h 50"/>
                  <a:gd name="T18" fmla="*/ 67 w 107"/>
                  <a:gd name="T19" fmla="*/ 19 h 50"/>
                  <a:gd name="T20" fmla="*/ 76 w 107"/>
                  <a:gd name="T21" fmla="*/ 16 h 50"/>
                  <a:gd name="T22" fmla="*/ 83 w 107"/>
                  <a:gd name="T23" fmla="*/ 13 h 50"/>
                  <a:gd name="T24" fmla="*/ 89 w 107"/>
                  <a:gd name="T25" fmla="*/ 10 h 50"/>
                  <a:gd name="T26" fmla="*/ 96 w 107"/>
                  <a:gd name="T27" fmla="*/ 6 h 50"/>
                  <a:gd name="T28" fmla="*/ 101 w 107"/>
                  <a:gd name="T29" fmla="*/ 4 h 50"/>
                  <a:gd name="T30" fmla="*/ 105 w 107"/>
                  <a:gd name="T31" fmla="*/ 2 h 50"/>
                  <a:gd name="T32" fmla="*/ 105 w 107"/>
                  <a:gd name="T33" fmla="*/ 0 h 50"/>
                  <a:gd name="T34" fmla="*/ 103 w 107"/>
                  <a:gd name="T35" fmla="*/ 1 h 50"/>
                  <a:gd name="T36" fmla="*/ 99 w 107"/>
                  <a:gd name="T37" fmla="*/ 3 h 50"/>
                  <a:gd name="T38" fmla="*/ 92 w 107"/>
                  <a:gd name="T39" fmla="*/ 5 h 50"/>
                  <a:gd name="T40" fmla="*/ 86 w 107"/>
                  <a:gd name="T41" fmla="*/ 10 h 50"/>
                  <a:gd name="T42" fmla="*/ 79 w 107"/>
                  <a:gd name="T43" fmla="*/ 13 h 50"/>
                  <a:gd name="T44" fmla="*/ 70 w 107"/>
                  <a:gd name="T45" fmla="*/ 16 h 50"/>
                  <a:gd name="T46" fmla="*/ 62 w 107"/>
                  <a:gd name="T47" fmla="*/ 20 h 50"/>
                  <a:gd name="T48" fmla="*/ 52 w 107"/>
                  <a:gd name="T49" fmla="*/ 23 h 50"/>
                  <a:gd name="T50" fmla="*/ 45 w 107"/>
                  <a:gd name="T51" fmla="*/ 29 h 50"/>
                  <a:gd name="T52" fmla="*/ 35 w 107"/>
                  <a:gd name="T53" fmla="*/ 32 h 50"/>
                  <a:gd name="T54" fmla="*/ 27 w 107"/>
                  <a:gd name="T55" fmla="*/ 35 h 50"/>
                  <a:gd name="T56" fmla="*/ 20 w 107"/>
                  <a:gd name="T57" fmla="*/ 38 h 50"/>
                  <a:gd name="T58" fmla="*/ 12 w 107"/>
                  <a:gd name="T59" fmla="*/ 42 h 50"/>
                  <a:gd name="T60" fmla="*/ 7 w 107"/>
                  <a:gd name="T61" fmla="*/ 45 h 50"/>
                  <a:gd name="T62" fmla="*/ 3 w 107"/>
                  <a:gd name="T63" fmla="*/ 47 h 50"/>
                  <a:gd name="T64" fmla="*/ 0 w 107"/>
                  <a:gd name="T65" fmla="*/ 49 h 5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50"/>
                  <a:gd name="T101" fmla="*/ 107 w 107"/>
                  <a:gd name="T102" fmla="*/ 50 h 5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50">
                    <a:moveTo>
                      <a:pt x="1" y="50"/>
                    </a:moveTo>
                    <a:lnTo>
                      <a:pt x="2" y="49"/>
                    </a:lnTo>
                    <a:lnTo>
                      <a:pt x="4" y="49"/>
                    </a:lnTo>
                    <a:lnTo>
                      <a:pt x="6" y="48"/>
                    </a:lnTo>
                    <a:lnTo>
                      <a:pt x="8" y="47"/>
                    </a:lnTo>
                    <a:lnTo>
                      <a:pt x="10" y="46"/>
                    </a:lnTo>
                    <a:lnTo>
                      <a:pt x="15" y="44"/>
                    </a:lnTo>
                    <a:lnTo>
                      <a:pt x="18" y="42"/>
                    </a:lnTo>
                    <a:lnTo>
                      <a:pt x="21" y="41"/>
                    </a:lnTo>
                    <a:lnTo>
                      <a:pt x="24" y="38"/>
                    </a:lnTo>
                    <a:lnTo>
                      <a:pt x="29" y="37"/>
                    </a:lnTo>
                    <a:lnTo>
                      <a:pt x="32" y="35"/>
                    </a:lnTo>
                    <a:lnTo>
                      <a:pt x="37" y="33"/>
                    </a:lnTo>
                    <a:lnTo>
                      <a:pt x="41" y="32"/>
                    </a:lnTo>
                    <a:lnTo>
                      <a:pt x="45" y="30"/>
                    </a:lnTo>
                    <a:lnTo>
                      <a:pt x="49" y="28"/>
                    </a:lnTo>
                    <a:lnTo>
                      <a:pt x="54" y="26"/>
                    </a:lnTo>
                    <a:lnTo>
                      <a:pt x="58" y="23"/>
                    </a:lnTo>
                    <a:lnTo>
                      <a:pt x="63" y="21"/>
                    </a:lnTo>
                    <a:lnTo>
                      <a:pt x="67" y="19"/>
                    </a:lnTo>
                    <a:lnTo>
                      <a:pt x="71" y="18"/>
                    </a:lnTo>
                    <a:lnTo>
                      <a:pt x="76" y="16"/>
                    </a:lnTo>
                    <a:lnTo>
                      <a:pt x="80" y="14"/>
                    </a:lnTo>
                    <a:lnTo>
                      <a:pt x="83" y="13"/>
                    </a:lnTo>
                    <a:lnTo>
                      <a:pt x="86" y="10"/>
                    </a:lnTo>
                    <a:lnTo>
                      <a:pt x="89" y="10"/>
                    </a:lnTo>
                    <a:lnTo>
                      <a:pt x="93" y="7"/>
                    </a:lnTo>
                    <a:lnTo>
                      <a:pt x="96" y="6"/>
                    </a:lnTo>
                    <a:lnTo>
                      <a:pt x="99" y="5"/>
                    </a:lnTo>
                    <a:lnTo>
                      <a:pt x="101" y="4"/>
                    </a:lnTo>
                    <a:lnTo>
                      <a:pt x="103" y="3"/>
                    </a:lnTo>
                    <a:lnTo>
                      <a:pt x="105" y="2"/>
                    </a:lnTo>
                    <a:lnTo>
                      <a:pt x="107" y="2"/>
                    </a:lnTo>
                    <a:lnTo>
                      <a:pt x="105" y="0"/>
                    </a:lnTo>
                    <a:lnTo>
                      <a:pt x="104" y="1"/>
                    </a:lnTo>
                    <a:lnTo>
                      <a:pt x="103" y="1"/>
                    </a:lnTo>
                    <a:lnTo>
                      <a:pt x="101" y="2"/>
                    </a:lnTo>
                    <a:lnTo>
                      <a:pt x="99" y="3"/>
                    </a:lnTo>
                    <a:lnTo>
                      <a:pt x="96" y="4"/>
                    </a:lnTo>
                    <a:lnTo>
                      <a:pt x="92" y="5"/>
                    </a:lnTo>
                    <a:lnTo>
                      <a:pt x="89" y="7"/>
                    </a:lnTo>
                    <a:lnTo>
                      <a:pt x="86" y="10"/>
                    </a:lnTo>
                    <a:lnTo>
                      <a:pt x="82" y="10"/>
                    </a:lnTo>
                    <a:lnTo>
                      <a:pt x="79" y="13"/>
                    </a:lnTo>
                    <a:lnTo>
                      <a:pt x="73" y="15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0"/>
                    </a:lnTo>
                    <a:lnTo>
                      <a:pt x="57" y="21"/>
                    </a:lnTo>
                    <a:lnTo>
                      <a:pt x="52" y="23"/>
                    </a:lnTo>
                    <a:lnTo>
                      <a:pt x="49" y="26"/>
                    </a:lnTo>
                    <a:lnTo>
                      <a:pt x="45" y="29"/>
                    </a:lnTo>
                    <a:lnTo>
                      <a:pt x="40" y="30"/>
                    </a:lnTo>
                    <a:lnTo>
                      <a:pt x="35" y="32"/>
                    </a:lnTo>
                    <a:lnTo>
                      <a:pt x="31" y="34"/>
                    </a:lnTo>
                    <a:lnTo>
                      <a:pt x="27" y="35"/>
                    </a:lnTo>
                    <a:lnTo>
                      <a:pt x="24" y="37"/>
                    </a:lnTo>
                    <a:lnTo>
                      <a:pt x="20" y="38"/>
                    </a:lnTo>
                    <a:lnTo>
                      <a:pt x="17" y="41"/>
                    </a:lnTo>
                    <a:lnTo>
                      <a:pt x="12" y="42"/>
                    </a:lnTo>
                    <a:lnTo>
                      <a:pt x="10" y="44"/>
                    </a:lnTo>
                    <a:lnTo>
                      <a:pt x="7" y="45"/>
                    </a:lnTo>
                    <a:lnTo>
                      <a:pt x="5" y="46"/>
                    </a:lnTo>
                    <a:lnTo>
                      <a:pt x="3" y="47"/>
                    </a:lnTo>
                    <a:lnTo>
                      <a:pt x="1" y="48"/>
                    </a:lnTo>
                    <a:lnTo>
                      <a:pt x="0" y="49"/>
                    </a:lnTo>
                    <a:lnTo>
                      <a:pt x="1" y="5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62" name="Freeform 931"/>
              <p:cNvSpPr>
                <a:spLocks/>
              </p:cNvSpPr>
              <p:nvPr/>
            </p:nvSpPr>
            <p:spPr bwMode="auto">
              <a:xfrm>
                <a:off x="2998" y="2015"/>
                <a:ext cx="252" cy="110"/>
              </a:xfrm>
              <a:custGeom>
                <a:avLst/>
                <a:gdLst>
                  <a:gd name="T0" fmla="*/ 2 w 252"/>
                  <a:gd name="T1" fmla="*/ 29 h 110"/>
                  <a:gd name="T2" fmla="*/ 1 w 252"/>
                  <a:gd name="T3" fmla="*/ 15 h 110"/>
                  <a:gd name="T4" fmla="*/ 12 w 252"/>
                  <a:gd name="T5" fmla="*/ 0 h 110"/>
                  <a:gd name="T6" fmla="*/ 18 w 252"/>
                  <a:gd name="T7" fmla="*/ 0 h 110"/>
                  <a:gd name="T8" fmla="*/ 34 w 252"/>
                  <a:gd name="T9" fmla="*/ 1 h 110"/>
                  <a:gd name="T10" fmla="*/ 58 w 252"/>
                  <a:gd name="T11" fmla="*/ 2 h 110"/>
                  <a:gd name="T12" fmla="*/ 86 w 252"/>
                  <a:gd name="T13" fmla="*/ 4 h 110"/>
                  <a:gd name="T14" fmla="*/ 118 w 252"/>
                  <a:gd name="T15" fmla="*/ 6 h 110"/>
                  <a:gd name="T16" fmla="*/ 149 w 252"/>
                  <a:gd name="T17" fmla="*/ 8 h 110"/>
                  <a:gd name="T18" fmla="*/ 180 w 252"/>
                  <a:gd name="T19" fmla="*/ 13 h 110"/>
                  <a:gd name="T20" fmla="*/ 208 w 252"/>
                  <a:gd name="T21" fmla="*/ 15 h 110"/>
                  <a:gd name="T22" fmla="*/ 228 w 252"/>
                  <a:gd name="T23" fmla="*/ 17 h 110"/>
                  <a:gd name="T24" fmla="*/ 241 w 252"/>
                  <a:gd name="T25" fmla="*/ 19 h 110"/>
                  <a:gd name="T26" fmla="*/ 245 w 252"/>
                  <a:gd name="T27" fmla="*/ 36 h 110"/>
                  <a:gd name="T28" fmla="*/ 247 w 252"/>
                  <a:gd name="T29" fmla="*/ 56 h 110"/>
                  <a:gd name="T30" fmla="*/ 251 w 252"/>
                  <a:gd name="T31" fmla="*/ 60 h 110"/>
                  <a:gd name="T32" fmla="*/ 251 w 252"/>
                  <a:gd name="T33" fmla="*/ 63 h 110"/>
                  <a:gd name="T34" fmla="*/ 247 w 252"/>
                  <a:gd name="T35" fmla="*/ 66 h 110"/>
                  <a:gd name="T36" fmla="*/ 238 w 252"/>
                  <a:gd name="T37" fmla="*/ 69 h 110"/>
                  <a:gd name="T38" fmla="*/ 230 w 252"/>
                  <a:gd name="T39" fmla="*/ 73 h 110"/>
                  <a:gd name="T40" fmla="*/ 218 w 252"/>
                  <a:gd name="T41" fmla="*/ 78 h 110"/>
                  <a:gd name="T42" fmla="*/ 205 w 252"/>
                  <a:gd name="T43" fmla="*/ 83 h 110"/>
                  <a:gd name="T44" fmla="*/ 193 w 252"/>
                  <a:gd name="T45" fmla="*/ 89 h 110"/>
                  <a:gd name="T46" fmla="*/ 180 w 252"/>
                  <a:gd name="T47" fmla="*/ 94 h 110"/>
                  <a:gd name="T48" fmla="*/ 170 w 252"/>
                  <a:gd name="T49" fmla="*/ 99 h 110"/>
                  <a:gd name="T50" fmla="*/ 159 w 252"/>
                  <a:gd name="T51" fmla="*/ 103 h 110"/>
                  <a:gd name="T52" fmla="*/ 150 w 252"/>
                  <a:gd name="T53" fmla="*/ 108 h 110"/>
                  <a:gd name="T54" fmla="*/ 145 w 252"/>
                  <a:gd name="T55" fmla="*/ 110 h 110"/>
                  <a:gd name="T56" fmla="*/ 141 w 252"/>
                  <a:gd name="T57" fmla="*/ 110 h 110"/>
                  <a:gd name="T58" fmla="*/ 134 w 252"/>
                  <a:gd name="T59" fmla="*/ 108 h 110"/>
                  <a:gd name="T60" fmla="*/ 130 w 252"/>
                  <a:gd name="T61" fmla="*/ 107 h 110"/>
                  <a:gd name="T62" fmla="*/ 124 w 252"/>
                  <a:gd name="T63" fmla="*/ 101 h 110"/>
                  <a:gd name="T64" fmla="*/ 113 w 252"/>
                  <a:gd name="T65" fmla="*/ 97 h 110"/>
                  <a:gd name="T66" fmla="*/ 101 w 252"/>
                  <a:gd name="T67" fmla="*/ 91 h 110"/>
                  <a:gd name="T68" fmla="*/ 87 w 252"/>
                  <a:gd name="T69" fmla="*/ 82 h 110"/>
                  <a:gd name="T70" fmla="*/ 72 w 252"/>
                  <a:gd name="T71" fmla="*/ 74 h 110"/>
                  <a:gd name="T72" fmla="*/ 58 w 252"/>
                  <a:gd name="T73" fmla="*/ 66 h 110"/>
                  <a:gd name="T74" fmla="*/ 44 w 252"/>
                  <a:gd name="T75" fmla="*/ 60 h 110"/>
                  <a:gd name="T76" fmla="*/ 33 w 252"/>
                  <a:gd name="T77" fmla="*/ 53 h 110"/>
                  <a:gd name="T78" fmla="*/ 23 w 252"/>
                  <a:gd name="T79" fmla="*/ 48 h 110"/>
                  <a:gd name="T80" fmla="*/ 18 w 252"/>
                  <a:gd name="T81" fmla="*/ 46 h 110"/>
                  <a:gd name="T82" fmla="*/ 15 w 252"/>
                  <a:gd name="T83" fmla="*/ 44 h 110"/>
                  <a:gd name="T84" fmla="*/ 10 w 252"/>
                  <a:gd name="T85" fmla="*/ 40 h 110"/>
                  <a:gd name="T86" fmla="*/ 5 w 252"/>
                  <a:gd name="T87" fmla="*/ 37 h 11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252"/>
                  <a:gd name="T133" fmla="*/ 0 h 110"/>
                  <a:gd name="T134" fmla="*/ 252 w 252"/>
                  <a:gd name="T135" fmla="*/ 110 h 11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252" h="110">
                    <a:moveTo>
                      <a:pt x="5" y="37"/>
                    </a:moveTo>
                    <a:lnTo>
                      <a:pt x="3" y="34"/>
                    </a:lnTo>
                    <a:lnTo>
                      <a:pt x="2" y="29"/>
                    </a:lnTo>
                    <a:lnTo>
                      <a:pt x="1" y="24"/>
                    </a:lnTo>
                    <a:lnTo>
                      <a:pt x="0" y="20"/>
                    </a:lnTo>
                    <a:lnTo>
                      <a:pt x="1" y="15"/>
                    </a:lnTo>
                    <a:lnTo>
                      <a:pt x="2" y="8"/>
                    </a:lnTo>
                    <a:lnTo>
                      <a:pt x="5" y="4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8" y="0"/>
                    </a:lnTo>
                    <a:lnTo>
                      <a:pt x="34" y="1"/>
                    </a:lnTo>
                    <a:lnTo>
                      <a:pt x="40" y="1"/>
                    </a:lnTo>
                    <a:lnTo>
                      <a:pt x="49" y="2"/>
                    </a:lnTo>
                    <a:lnTo>
                      <a:pt x="58" y="2"/>
                    </a:lnTo>
                    <a:lnTo>
                      <a:pt x="67" y="3"/>
                    </a:lnTo>
                    <a:lnTo>
                      <a:pt x="76" y="3"/>
                    </a:lnTo>
                    <a:lnTo>
                      <a:pt x="86" y="4"/>
                    </a:lnTo>
                    <a:lnTo>
                      <a:pt x="96" y="5"/>
                    </a:lnTo>
                    <a:lnTo>
                      <a:pt x="107" y="5"/>
                    </a:lnTo>
                    <a:lnTo>
                      <a:pt x="118" y="6"/>
                    </a:lnTo>
                    <a:lnTo>
                      <a:pt x="128" y="7"/>
                    </a:lnTo>
                    <a:lnTo>
                      <a:pt x="140" y="8"/>
                    </a:lnTo>
                    <a:lnTo>
                      <a:pt x="149" y="8"/>
                    </a:lnTo>
                    <a:lnTo>
                      <a:pt x="160" y="9"/>
                    </a:lnTo>
                    <a:lnTo>
                      <a:pt x="170" y="10"/>
                    </a:lnTo>
                    <a:lnTo>
                      <a:pt x="180" y="13"/>
                    </a:lnTo>
                    <a:lnTo>
                      <a:pt x="189" y="13"/>
                    </a:lnTo>
                    <a:lnTo>
                      <a:pt x="199" y="13"/>
                    </a:lnTo>
                    <a:lnTo>
                      <a:pt x="208" y="15"/>
                    </a:lnTo>
                    <a:lnTo>
                      <a:pt x="215" y="16"/>
                    </a:lnTo>
                    <a:lnTo>
                      <a:pt x="222" y="16"/>
                    </a:lnTo>
                    <a:lnTo>
                      <a:pt x="228" y="17"/>
                    </a:lnTo>
                    <a:lnTo>
                      <a:pt x="234" y="18"/>
                    </a:lnTo>
                    <a:lnTo>
                      <a:pt x="237" y="18"/>
                    </a:lnTo>
                    <a:lnTo>
                      <a:pt x="241" y="19"/>
                    </a:lnTo>
                    <a:lnTo>
                      <a:pt x="243" y="19"/>
                    </a:lnTo>
                    <a:lnTo>
                      <a:pt x="245" y="29"/>
                    </a:lnTo>
                    <a:lnTo>
                      <a:pt x="245" y="36"/>
                    </a:lnTo>
                    <a:lnTo>
                      <a:pt x="245" y="45"/>
                    </a:lnTo>
                    <a:lnTo>
                      <a:pt x="246" y="55"/>
                    </a:lnTo>
                    <a:lnTo>
                      <a:pt x="247" y="56"/>
                    </a:lnTo>
                    <a:lnTo>
                      <a:pt x="249" y="57"/>
                    </a:lnTo>
                    <a:lnTo>
                      <a:pt x="250" y="58"/>
                    </a:lnTo>
                    <a:lnTo>
                      <a:pt x="251" y="60"/>
                    </a:lnTo>
                    <a:lnTo>
                      <a:pt x="252" y="61"/>
                    </a:lnTo>
                    <a:lnTo>
                      <a:pt x="252" y="62"/>
                    </a:lnTo>
                    <a:lnTo>
                      <a:pt x="251" y="63"/>
                    </a:lnTo>
                    <a:lnTo>
                      <a:pt x="249" y="64"/>
                    </a:lnTo>
                    <a:lnTo>
                      <a:pt x="248" y="66"/>
                    </a:lnTo>
                    <a:lnTo>
                      <a:pt x="247" y="66"/>
                    </a:lnTo>
                    <a:lnTo>
                      <a:pt x="245" y="66"/>
                    </a:lnTo>
                    <a:lnTo>
                      <a:pt x="241" y="68"/>
                    </a:lnTo>
                    <a:lnTo>
                      <a:pt x="238" y="69"/>
                    </a:lnTo>
                    <a:lnTo>
                      <a:pt x="236" y="70"/>
                    </a:lnTo>
                    <a:lnTo>
                      <a:pt x="233" y="71"/>
                    </a:lnTo>
                    <a:lnTo>
                      <a:pt x="230" y="73"/>
                    </a:lnTo>
                    <a:lnTo>
                      <a:pt x="226" y="74"/>
                    </a:lnTo>
                    <a:lnTo>
                      <a:pt x="222" y="77"/>
                    </a:lnTo>
                    <a:lnTo>
                      <a:pt x="218" y="78"/>
                    </a:lnTo>
                    <a:lnTo>
                      <a:pt x="215" y="80"/>
                    </a:lnTo>
                    <a:lnTo>
                      <a:pt x="210" y="81"/>
                    </a:lnTo>
                    <a:lnTo>
                      <a:pt x="205" y="83"/>
                    </a:lnTo>
                    <a:lnTo>
                      <a:pt x="202" y="85"/>
                    </a:lnTo>
                    <a:lnTo>
                      <a:pt x="197" y="87"/>
                    </a:lnTo>
                    <a:lnTo>
                      <a:pt x="193" y="89"/>
                    </a:lnTo>
                    <a:lnTo>
                      <a:pt x="189" y="91"/>
                    </a:lnTo>
                    <a:lnTo>
                      <a:pt x="185" y="93"/>
                    </a:lnTo>
                    <a:lnTo>
                      <a:pt x="180" y="94"/>
                    </a:lnTo>
                    <a:lnTo>
                      <a:pt x="177" y="96"/>
                    </a:lnTo>
                    <a:lnTo>
                      <a:pt x="173" y="98"/>
                    </a:lnTo>
                    <a:lnTo>
                      <a:pt x="170" y="99"/>
                    </a:lnTo>
                    <a:lnTo>
                      <a:pt x="165" y="101"/>
                    </a:lnTo>
                    <a:lnTo>
                      <a:pt x="162" y="103"/>
                    </a:lnTo>
                    <a:lnTo>
                      <a:pt x="159" y="103"/>
                    </a:lnTo>
                    <a:lnTo>
                      <a:pt x="156" y="105"/>
                    </a:lnTo>
                    <a:lnTo>
                      <a:pt x="154" y="107"/>
                    </a:lnTo>
                    <a:lnTo>
                      <a:pt x="150" y="108"/>
                    </a:lnTo>
                    <a:lnTo>
                      <a:pt x="148" y="109"/>
                    </a:lnTo>
                    <a:lnTo>
                      <a:pt x="146" y="109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10"/>
                    </a:lnTo>
                    <a:lnTo>
                      <a:pt x="141" y="110"/>
                    </a:lnTo>
                    <a:lnTo>
                      <a:pt x="140" y="109"/>
                    </a:lnTo>
                    <a:lnTo>
                      <a:pt x="138" y="109"/>
                    </a:lnTo>
                    <a:lnTo>
                      <a:pt x="134" y="108"/>
                    </a:lnTo>
                    <a:lnTo>
                      <a:pt x="132" y="107"/>
                    </a:lnTo>
                    <a:lnTo>
                      <a:pt x="130" y="107"/>
                    </a:lnTo>
                    <a:lnTo>
                      <a:pt x="129" y="105"/>
                    </a:lnTo>
                    <a:lnTo>
                      <a:pt x="127" y="103"/>
                    </a:lnTo>
                    <a:lnTo>
                      <a:pt x="124" y="101"/>
                    </a:lnTo>
                    <a:lnTo>
                      <a:pt x="122" y="101"/>
                    </a:lnTo>
                    <a:lnTo>
                      <a:pt x="118" y="99"/>
                    </a:lnTo>
                    <a:lnTo>
                      <a:pt x="113" y="97"/>
                    </a:lnTo>
                    <a:lnTo>
                      <a:pt x="110" y="95"/>
                    </a:lnTo>
                    <a:lnTo>
                      <a:pt x="106" y="93"/>
                    </a:lnTo>
                    <a:lnTo>
                      <a:pt x="101" y="91"/>
                    </a:lnTo>
                    <a:lnTo>
                      <a:pt x="96" y="88"/>
                    </a:lnTo>
                    <a:lnTo>
                      <a:pt x="92" y="85"/>
                    </a:lnTo>
                    <a:lnTo>
                      <a:pt x="87" y="82"/>
                    </a:lnTo>
                    <a:lnTo>
                      <a:pt x="82" y="80"/>
                    </a:lnTo>
                    <a:lnTo>
                      <a:pt x="77" y="78"/>
                    </a:lnTo>
                    <a:lnTo>
                      <a:pt x="72" y="74"/>
                    </a:lnTo>
                    <a:lnTo>
                      <a:pt x="67" y="72"/>
                    </a:lnTo>
                    <a:lnTo>
                      <a:pt x="63" y="70"/>
                    </a:lnTo>
                    <a:lnTo>
                      <a:pt x="58" y="66"/>
                    </a:lnTo>
                    <a:lnTo>
                      <a:pt x="53" y="64"/>
                    </a:lnTo>
                    <a:lnTo>
                      <a:pt x="49" y="62"/>
                    </a:lnTo>
                    <a:lnTo>
                      <a:pt x="44" y="60"/>
                    </a:lnTo>
                    <a:lnTo>
                      <a:pt x="39" y="57"/>
                    </a:lnTo>
                    <a:lnTo>
                      <a:pt x="36" y="55"/>
                    </a:lnTo>
                    <a:lnTo>
                      <a:pt x="33" y="53"/>
                    </a:lnTo>
                    <a:lnTo>
                      <a:pt x="30" y="52"/>
                    </a:lnTo>
                    <a:lnTo>
                      <a:pt x="25" y="50"/>
                    </a:lnTo>
                    <a:lnTo>
                      <a:pt x="23" y="48"/>
                    </a:lnTo>
                    <a:lnTo>
                      <a:pt x="21" y="48"/>
                    </a:lnTo>
                    <a:lnTo>
                      <a:pt x="19" y="46"/>
                    </a:lnTo>
                    <a:lnTo>
                      <a:pt x="18" y="46"/>
                    </a:lnTo>
                    <a:lnTo>
                      <a:pt x="17" y="45"/>
                    </a:lnTo>
                    <a:lnTo>
                      <a:pt x="16" y="44"/>
                    </a:lnTo>
                    <a:lnTo>
                      <a:pt x="15" y="44"/>
                    </a:lnTo>
                    <a:lnTo>
                      <a:pt x="13" y="42"/>
                    </a:lnTo>
                    <a:lnTo>
                      <a:pt x="12" y="41"/>
                    </a:lnTo>
                    <a:lnTo>
                      <a:pt x="10" y="40"/>
                    </a:lnTo>
                    <a:lnTo>
                      <a:pt x="8" y="39"/>
                    </a:lnTo>
                    <a:lnTo>
                      <a:pt x="6" y="38"/>
                    </a:lnTo>
                    <a:lnTo>
                      <a:pt x="5" y="37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63" name="Freeform 932"/>
              <p:cNvSpPr>
                <a:spLocks/>
              </p:cNvSpPr>
              <p:nvPr/>
            </p:nvSpPr>
            <p:spPr bwMode="auto">
              <a:xfrm>
                <a:off x="2997" y="2014"/>
                <a:ext cx="14" cy="38"/>
              </a:xfrm>
              <a:custGeom>
                <a:avLst/>
                <a:gdLst>
                  <a:gd name="T0" fmla="*/ 13 w 14"/>
                  <a:gd name="T1" fmla="*/ 0 h 38"/>
                  <a:gd name="T2" fmla="*/ 13 w 14"/>
                  <a:gd name="T3" fmla="*/ 0 h 38"/>
                  <a:gd name="T4" fmla="*/ 6 w 14"/>
                  <a:gd name="T5" fmla="*/ 4 h 38"/>
                  <a:gd name="T6" fmla="*/ 2 w 14"/>
                  <a:gd name="T7" fmla="*/ 10 h 38"/>
                  <a:gd name="T8" fmla="*/ 0 w 14"/>
                  <a:gd name="T9" fmla="*/ 16 h 38"/>
                  <a:gd name="T10" fmla="*/ 0 w 14"/>
                  <a:gd name="T11" fmla="*/ 20 h 38"/>
                  <a:gd name="T12" fmla="*/ 0 w 14"/>
                  <a:gd name="T13" fmla="*/ 25 h 38"/>
                  <a:gd name="T14" fmla="*/ 2 w 14"/>
                  <a:gd name="T15" fmla="*/ 30 h 38"/>
                  <a:gd name="T16" fmla="*/ 4 w 14"/>
                  <a:gd name="T17" fmla="*/ 35 h 38"/>
                  <a:gd name="T18" fmla="*/ 6 w 14"/>
                  <a:gd name="T19" fmla="*/ 38 h 38"/>
                  <a:gd name="T20" fmla="*/ 8 w 14"/>
                  <a:gd name="T21" fmla="*/ 37 h 38"/>
                  <a:gd name="T22" fmla="*/ 6 w 14"/>
                  <a:gd name="T23" fmla="*/ 34 h 38"/>
                  <a:gd name="T24" fmla="*/ 4 w 14"/>
                  <a:gd name="T25" fmla="*/ 30 h 38"/>
                  <a:gd name="T26" fmla="*/ 2 w 14"/>
                  <a:gd name="T27" fmla="*/ 25 h 38"/>
                  <a:gd name="T28" fmla="*/ 2 w 14"/>
                  <a:gd name="T29" fmla="*/ 20 h 38"/>
                  <a:gd name="T30" fmla="*/ 2 w 14"/>
                  <a:gd name="T31" fmla="*/ 16 h 38"/>
                  <a:gd name="T32" fmla="*/ 4 w 14"/>
                  <a:gd name="T33" fmla="*/ 10 h 38"/>
                  <a:gd name="T34" fmla="*/ 8 w 14"/>
                  <a:gd name="T35" fmla="*/ 5 h 38"/>
                  <a:gd name="T36" fmla="*/ 14 w 14"/>
                  <a:gd name="T37" fmla="*/ 2 h 38"/>
                  <a:gd name="T38" fmla="*/ 13 w 14"/>
                  <a:gd name="T39" fmla="*/ 0 h 3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4"/>
                  <a:gd name="T61" fmla="*/ 0 h 38"/>
                  <a:gd name="T62" fmla="*/ 14 w 14"/>
                  <a:gd name="T63" fmla="*/ 38 h 3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4" h="38">
                    <a:moveTo>
                      <a:pt x="13" y="0"/>
                    </a:moveTo>
                    <a:lnTo>
                      <a:pt x="13" y="0"/>
                    </a:lnTo>
                    <a:lnTo>
                      <a:pt x="6" y="4"/>
                    </a:lnTo>
                    <a:lnTo>
                      <a:pt x="2" y="10"/>
                    </a:lnTo>
                    <a:lnTo>
                      <a:pt x="0" y="16"/>
                    </a:lnTo>
                    <a:lnTo>
                      <a:pt x="0" y="20"/>
                    </a:lnTo>
                    <a:lnTo>
                      <a:pt x="0" y="25"/>
                    </a:lnTo>
                    <a:lnTo>
                      <a:pt x="2" y="30"/>
                    </a:lnTo>
                    <a:lnTo>
                      <a:pt x="4" y="35"/>
                    </a:lnTo>
                    <a:lnTo>
                      <a:pt x="6" y="38"/>
                    </a:lnTo>
                    <a:lnTo>
                      <a:pt x="8" y="37"/>
                    </a:lnTo>
                    <a:lnTo>
                      <a:pt x="6" y="34"/>
                    </a:lnTo>
                    <a:lnTo>
                      <a:pt x="4" y="30"/>
                    </a:lnTo>
                    <a:lnTo>
                      <a:pt x="2" y="25"/>
                    </a:lnTo>
                    <a:lnTo>
                      <a:pt x="2" y="20"/>
                    </a:lnTo>
                    <a:lnTo>
                      <a:pt x="2" y="16"/>
                    </a:lnTo>
                    <a:lnTo>
                      <a:pt x="4" y="10"/>
                    </a:lnTo>
                    <a:lnTo>
                      <a:pt x="8" y="5"/>
                    </a:lnTo>
                    <a:lnTo>
                      <a:pt x="14" y="2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64" name="Freeform 933"/>
              <p:cNvSpPr>
                <a:spLocks/>
              </p:cNvSpPr>
              <p:nvPr/>
            </p:nvSpPr>
            <p:spPr bwMode="auto">
              <a:xfrm>
                <a:off x="3010" y="2014"/>
                <a:ext cx="231" cy="21"/>
              </a:xfrm>
              <a:custGeom>
                <a:avLst/>
                <a:gdLst>
                  <a:gd name="T0" fmla="*/ 231 w 231"/>
                  <a:gd name="T1" fmla="*/ 20 h 21"/>
                  <a:gd name="T2" fmla="*/ 228 w 231"/>
                  <a:gd name="T3" fmla="*/ 18 h 21"/>
                  <a:gd name="T4" fmla="*/ 221 w 231"/>
                  <a:gd name="T5" fmla="*/ 18 h 21"/>
                  <a:gd name="T6" fmla="*/ 210 w 231"/>
                  <a:gd name="T7" fmla="*/ 16 h 21"/>
                  <a:gd name="T8" fmla="*/ 195 w 231"/>
                  <a:gd name="T9" fmla="*/ 15 h 21"/>
                  <a:gd name="T10" fmla="*/ 178 w 231"/>
                  <a:gd name="T11" fmla="*/ 12 h 21"/>
                  <a:gd name="T12" fmla="*/ 158 w 231"/>
                  <a:gd name="T13" fmla="*/ 11 h 21"/>
                  <a:gd name="T14" fmla="*/ 137 w 231"/>
                  <a:gd name="T15" fmla="*/ 9 h 21"/>
                  <a:gd name="T16" fmla="*/ 116 w 231"/>
                  <a:gd name="T17" fmla="*/ 8 h 21"/>
                  <a:gd name="T18" fmla="*/ 96 w 231"/>
                  <a:gd name="T19" fmla="*/ 5 h 21"/>
                  <a:gd name="T20" fmla="*/ 74 w 231"/>
                  <a:gd name="T21" fmla="*/ 5 h 21"/>
                  <a:gd name="T22" fmla="*/ 55 w 231"/>
                  <a:gd name="T23" fmla="*/ 2 h 21"/>
                  <a:gd name="T24" fmla="*/ 38 w 231"/>
                  <a:gd name="T25" fmla="*/ 2 h 21"/>
                  <a:gd name="T26" fmla="*/ 22 w 231"/>
                  <a:gd name="T27" fmla="*/ 1 h 21"/>
                  <a:gd name="T28" fmla="*/ 10 w 231"/>
                  <a:gd name="T29" fmla="*/ 0 h 21"/>
                  <a:gd name="T30" fmla="*/ 3 w 231"/>
                  <a:gd name="T31" fmla="*/ 0 h 21"/>
                  <a:gd name="T32" fmla="*/ 0 w 231"/>
                  <a:gd name="T33" fmla="*/ 0 h 21"/>
                  <a:gd name="T34" fmla="*/ 3 w 231"/>
                  <a:gd name="T35" fmla="*/ 2 h 21"/>
                  <a:gd name="T36" fmla="*/ 10 w 231"/>
                  <a:gd name="T37" fmla="*/ 2 h 21"/>
                  <a:gd name="T38" fmla="*/ 22 w 231"/>
                  <a:gd name="T39" fmla="*/ 2 h 21"/>
                  <a:gd name="T40" fmla="*/ 38 w 231"/>
                  <a:gd name="T41" fmla="*/ 3 h 21"/>
                  <a:gd name="T42" fmla="*/ 55 w 231"/>
                  <a:gd name="T43" fmla="*/ 5 h 21"/>
                  <a:gd name="T44" fmla="*/ 74 w 231"/>
                  <a:gd name="T45" fmla="*/ 5 h 21"/>
                  <a:gd name="T46" fmla="*/ 96 w 231"/>
                  <a:gd name="T47" fmla="*/ 8 h 21"/>
                  <a:gd name="T48" fmla="*/ 116 w 231"/>
                  <a:gd name="T49" fmla="*/ 9 h 21"/>
                  <a:gd name="T50" fmla="*/ 137 w 231"/>
                  <a:gd name="T51" fmla="*/ 11 h 21"/>
                  <a:gd name="T52" fmla="*/ 158 w 231"/>
                  <a:gd name="T53" fmla="*/ 12 h 21"/>
                  <a:gd name="T54" fmla="*/ 178 w 231"/>
                  <a:gd name="T55" fmla="*/ 15 h 21"/>
                  <a:gd name="T56" fmla="*/ 195 w 231"/>
                  <a:gd name="T57" fmla="*/ 16 h 21"/>
                  <a:gd name="T58" fmla="*/ 210 w 231"/>
                  <a:gd name="T59" fmla="*/ 18 h 21"/>
                  <a:gd name="T60" fmla="*/ 221 w 231"/>
                  <a:gd name="T61" fmla="*/ 20 h 21"/>
                  <a:gd name="T62" fmla="*/ 228 w 231"/>
                  <a:gd name="T63" fmla="*/ 21 h 21"/>
                  <a:gd name="T64" fmla="*/ 229 w 231"/>
                  <a:gd name="T65" fmla="*/ 20 h 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31"/>
                  <a:gd name="T100" fmla="*/ 0 h 21"/>
                  <a:gd name="T101" fmla="*/ 231 w 231"/>
                  <a:gd name="T102" fmla="*/ 21 h 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31" h="21">
                    <a:moveTo>
                      <a:pt x="231" y="20"/>
                    </a:moveTo>
                    <a:lnTo>
                      <a:pt x="231" y="20"/>
                    </a:lnTo>
                    <a:lnTo>
                      <a:pt x="230" y="18"/>
                    </a:lnTo>
                    <a:lnTo>
                      <a:pt x="228" y="18"/>
                    </a:lnTo>
                    <a:lnTo>
                      <a:pt x="225" y="18"/>
                    </a:lnTo>
                    <a:lnTo>
                      <a:pt x="221" y="18"/>
                    </a:lnTo>
                    <a:lnTo>
                      <a:pt x="215" y="16"/>
                    </a:lnTo>
                    <a:lnTo>
                      <a:pt x="210" y="16"/>
                    </a:lnTo>
                    <a:lnTo>
                      <a:pt x="202" y="15"/>
                    </a:lnTo>
                    <a:lnTo>
                      <a:pt x="195" y="15"/>
                    </a:lnTo>
                    <a:lnTo>
                      <a:pt x="187" y="14"/>
                    </a:lnTo>
                    <a:lnTo>
                      <a:pt x="178" y="12"/>
                    </a:lnTo>
                    <a:lnTo>
                      <a:pt x="167" y="11"/>
                    </a:lnTo>
                    <a:lnTo>
                      <a:pt x="158" y="11"/>
                    </a:lnTo>
                    <a:lnTo>
                      <a:pt x="148" y="10"/>
                    </a:lnTo>
                    <a:lnTo>
                      <a:pt x="137" y="9"/>
                    </a:lnTo>
                    <a:lnTo>
                      <a:pt x="127" y="8"/>
                    </a:lnTo>
                    <a:lnTo>
                      <a:pt x="116" y="8"/>
                    </a:lnTo>
                    <a:lnTo>
                      <a:pt x="106" y="7"/>
                    </a:lnTo>
                    <a:lnTo>
                      <a:pt x="96" y="5"/>
                    </a:lnTo>
                    <a:lnTo>
                      <a:pt x="84" y="5"/>
                    </a:lnTo>
                    <a:lnTo>
                      <a:pt x="74" y="5"/>
                    </a:lnTo>
                    <a:lnTo>
                      <a:pt x="65" y="3"/>
                    </a:lnTo>
                    <a:lnTo>
                      <a:pt x="55" y="2"/>
                    </a:lnTo>
                    <a:lnTo>
                      <a:pt x="46" y="2"/>
                    </a:lnTo>
                    <a:lnTo>
                      <a:pt x="38" y="2"/>
                    </a:lnTo>
                    <a:lnTo>
                      <a:pt x="29" y="1"/>
                    </a:lnTo>
                    <a:lnTo>
                      <a:pt x="22" y="1"/>
                    </a:lnTo>
                    <a:lnTo>
                      <a:pt x="17" y="1"/>
                    </a:lnTo>
                    <a:lnTo>
                      <a:pt x="10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6" y="2"/>
                    </a:lnTo>
                    <a:lnTo>
                      <a:pt x="10" y="2"/>
                    </a:lnTo>
                    <a:lnTo>
                      <a:pt x="17" y="2"/>
                    </a:lnTo>
                    <a:lnTo>
                      <a:pt x="22" y="2"/>
                    </a:lnTo>
                    <a:lnTo>
                      <a:pt x="29" y="3"/>
                    </a:lnTo>
                    <a:lnTo>
                      <a:pt x="38" y="3"/>
                    </a:lnTo>
                    <a:lnTo>
                      <a:pt x="46" y="5"/>
                    </a:lnTo>
                    <a:lnTo>
                      <a:pt x="55" y="5"/>
                    </a:lnTo>
                    <a:lnTo>
                      <a:pt x="65" y="5"/>
                    </a:lnTo>
                    <a:lnTo>
                      <a:pt x="74" y="5"/>
                    </a:lnTo>
                    <a:lnTo>
                      <a:pt x="84" y="7"/>
                    </a:lnTo>
                    <a:lnTo>
                      <a:pt x="96" y="8"/>
                    </a:lnTo>
                    <a:lnTo>
                      <a:pt x="106" y="8"/>
                    </a:lnTo>
                    <a:lnTo>
                      <a:pt x="116" y="9"/>
                    </a:lnTo>
                    <a:lnTo>
                      <a:pt x="127" y="10"/>
                    </a:lnTo>
                    <a:lnTo>
                      <a:pt x="137" y="11"/>
                    </a:lnTo>
                    <a:lnTo>
                      <a:pt x="148" y="11"/>
                    </a:lnTo>
                    <a:lnTo>
                      <a:pt x="158" y="12"/>
                    </a:lnTo>
                    <a:lnTo>
                      <a:pt x="167" y="14"/>
                    </a:lnTo>
                    <a:lnTo>
                      <a:pt x="178" y="15"/>
                    </a:lnTo>
                    <a:lnTo>
                      <a:pt x="187" y="15"/>
                    </a:lnTo>
                    <a:lnTo>
                      <a:pt x="195" y="16"/>
                    </a:lnTo>
                    <a:lnTo>
                      <a:pt x="202" y="18"/>
                    </a:lnTo>
                    <a:lnTo>
                      <a:pt x="210" y="18"/>
                    </a:lnTo>
                    <a:lnTo>
                      <a:pt x="215" y="18"/>
                    </a:lnTo>
                    <a:lnTo>
                      <a:pt x="221" y="20"/>
                    </a:lnTo>
                    <a:lnTo>
                      <a:pt x="225" y="20"/>
                    </a:lnTo>
                    <a:lnTo>
                      <a:pt x="228" y="21"/>
                    </a:lnTo>
                    <a:lnTo>
                      <a:pt x="229" y="21"/>
                    </a:lnTo>
                    <a:lnTo>
                      <a:pt x="229" y="20"/>
                    </a:lnTo>
                    <a:lnTo>
                      <a:pt x="231" y="2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65" name="Freeform 934"/>
              <p:cNvSpPr>
                <a:spLocks/>
              </p:cNvSpPr>
              <p:nvPr/>
            </p:nvSpPr>
            <p:spPr bwMode="auto">
              <a:xfrm>
                <a:off x="3239" y="2035"/>
                <a:ext cx="5" cy="35"/>
              </a:xfrm>
              <a:custGeom>
                <a:avLst/>
                <a:gdLst>
                  <a:gd name="T0" fmla="*/ 4 w 5"/>
                  <a:gd name="T1" fmla="*/ 33 h 35"/>
                  <a:gd name="T2" fmla="*/ 5 w 5"/>
                  <a:gd name="T3" fmla="*/ 34 h 35"/>
                  <a:gd name="T4" fmla="*/ 4 w 5"/>
                  <a:gd name="T5" fmla="*/ 26 h 35"/>
                  <a:gd name="T6" fmla="*/ 4 w 5"/>
                  <a:gd name="T7" fmla="*/ 16 h 35"/>
                  <a:gd name="T8" fmla="*/ 2 w 5"/>
                  <a:gd name="T9" fmla="*/ 9 h 35"/>
                  <a:gd name="T10" fmla="*/ 2 w 5"/>
                  <a:gd name="T11" fmla="*/ 0 h 35"/>
                  <a:gd name="T12" fmla="*/ 0 w 5"/>
                  <a:gd name="T13" fmla="*/ 0 h 35"/>
                  <a:gd name="T14" fmla="*/ 0 w 5"/>
                  <a:gd name="T15" fmla="*/ 9 h 35"/>
                  <a:gd name="T16" fmla="*/ 1 w 5"/>
                  <a:gd name="T17" fmla="*/ 16 h 35"/>
                  <a:gd name="T18" fmla="*/ 1 w 5"/>
                  <a:gd name="T19" fmla="*/ 26 h 35"/>
                  <a:gd name="T20" fmla="*/ 2 w 5"/>
                  <a:gd name="T21" fmla="*/ 34 h 35"/>
                  <a:gd name="T22" fmla="*/ 4 w 5"/>
                  <a:gd name="T23" fmla="*/ 35 h 35"/>
                  <a:gd name="T24" fmla="*/ 2 w 5"/>
                  <a:gd name="T25" fmla="*/ 34 h 35"/>
                  <a:gd name="T26" fmla="*/ 2 w 5"/>
                  <a:gd name="T27" fmla="*/ 35 h 35"/>
                  <a:gd name="T28" fmla="*/ 4 w 5"/>
                  <a:gd name="T29" fmla="*/ 35 h 35"/>
                  <a:gd name="T30" fmla="*/ 4 w 5"/>
                  <a:gd name="T31" fmla="*/ 33 h 3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"/>
                  <a:gd name="T49" fmla="*/ 0 h 35"/>
                  <a:gd name="T50" fmla="*/ 5 w 5"/>
                  <a:gd name="T51" fmla="*/ 35 h 3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" h="35">
                    <a:moveTo>
                      <a:pt x="4" y="33"/>
                    </a:moveTo>
                    <a:lnTo>
                      <a:pt x="5" y="34"/>
                    </a:lnTo>
                    <a:lnTo>
                      <a:pt x="4" y="26"/>
                    </a:lnTo>
                    <a:lnTo>
                      <a:pt x="4" y="16"/>
                    </a:lnTo>
                    <a:lnTo>
                      <a:pt x="2" y="9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1" y="16"/>
                    </a:lnTo>
                    <a:lnTo>
                      <a:pt x="1" y="26"/>
                    </a:lnTo>
                    <a:lnTo>
                      <a:pt x="2" y="34"/>
                    </a:lnTo>
                    <a:lnTo>
                      <a:pt x="4" y="35"/>
                    </a:lnTo>
                    <a:lnTo>
                      <a:pt x="2" y="34"/>
                    </a:lnTo>
                    <a:lnTo>
                      <a:pt x="2" y="35"/>
                    </a:lnTo>
                    <a:lnTo>
                      <a:pt x="4" y="35"/>
                    </a:lnTo>
                    <a:lnTo>
                      <a:pt x="4" y="33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66" name="Freeform 935"/>
              <p:cNvSpPr>
                <a:spLocks/>
              </p:cNvSpPr>
              <p:nvPr/>
            </p:nvSpPr>
            <p:spPr bwMode="auto">
              <a:xfrm>
                <a:off x="3241" y="2069"/>
                <a:ext cx="9" cy="12"/>
              </a:xfrm>
              <a:custGeom>
                <a:avLst/>
                <a:gdLst>
                  <a:gd name="T0" fmla="*/ 5 w 9"/>
                  <a:gd name="T1" fmla="*/ 12 h 12"/>
                  <a:gd name="T2" fmla="*/ 5 w 9"/>
                  <a:gd name="T3" fmla="*/ 12 h 12"/>
                  <a:gd name="T4" fmla="*/ 8 w 9"/>
                  <a:gd name="T5" fmla="*/ 11 h 12"/>
                  <a:gd name="T6" fmla="*/ 9 w 9"/>
                  <a:gd name="T7" fmla="*/ 9 h 12"/>
                  <a:gd name="T8" fmla="*/ 9 w 9"/>
                  <a:gd name="T9" fmla="*/ 8 h 12"/>
                  <a:gd name="T10" fmla="*/ 8 w 9"/>
                  <a:gd name="T11" fmla="*/ 4 h 12"/>
                  <a:gd name="T12" fmla="*/ 7 w 9"/>
                  <a:gd name="T13" fmla="*/ 3 h 12"/>
                  <a:gd name="T14" fmla="*/ 5 w 9"/>
                  <a:gd name="T15" fmla="*/ 2 h 12"/>
                  <a:gd name="T16" fmla="*/ 3 w 9"/>
                  <a:gd name="T17" fmla="*/ 1 h 12"/>
                  <a:gd name="T18" fmla="*/ 2 w 9"/>
                  <a:gd name="T19" fmla="*/ 0 h 12"/>
                  <a:gd name="T20" fmla="*/ 0 w 9"/>
                  <a:gd name="T21" fmla="*/ 2 h 12"/>
                  <a:gd name="T22" fmla="*/ 2 w 9"/>
                  <a:gd name="T23" fmla="*/ 2 h 12"/>
                  <a:gd name="T24" fmla="*/ 4 w 9"/>
                  <a:gd name="T25" fmla="*/ 3 h 12"/>
                  <a:gd name="T26" fmla="*/ 5 w 9"/>
                  <a:gd name="T27" fmla="*/ 4 h 12"/>
                  <a:gd name="T28" fmla="*/ 7 w 9"/>
                  <a:gd name="T29" fmla="*/ 7 h 12"/>
                  <a:gd name="T30" fmla="*/ 7 w 9"/>
                  <a:gd name="T31" fmla="*/ 8 h 12"/>
                  <a:gd name="T32" fmla="*/ 7 w 9"/>
                  <a:gd name="T33" fmla="*/ 9 h 12"/>
                  <a:gd name="T34" fmla="*/ 4 w 9"/>
                  <a:gd name="T35" fmla="*/ 11 h 12"/>
                  <a:gd name="T36" fmla="*/ 5 w 9"/>
                  <a:gd name="T37" fmla="*/ 12 h 1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12"/>
                  <a:gd name="T59" fmla="*/ 9 w 9"/>
                  <a:gd name="T60" fmla="*/ 12 h 1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12">
                    <a:moveTo>
                      <a:pt x="5" y="12"/>
                    </a:moveTo>
                    <a:lnTo>
                      <a:pt x="5" y="12"/>
                    </a:lnTo>
                    <a:lnTo>
                      <a:pt x="8" y="11"/>
                    </a:lnTo>
                    <a:lnTo>
                      <a:pt x="9" y="9"/>
                    </a:lnTo>
                    <a:lnTo>
                      <a:pt x="9" y="8"/>
                    </a:lnTo>
                    <a:lnTo>
                      <a:pt x="8" y="4"/>
                    </a:lnTo>
                    <a:lnTo>
                      <a:pt x="7" y="3"/>
                    </a:lnTo>
                    <a:lnTo>
                      <a:pt x="5" y="2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4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7" y="9"/>
                    </a:lnTo>
                    <a:lnTo>
                      <a:pt x="4" y="11"/>
                    </a:ln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67" name="Freeform 936"/>
              <p:cNvSpPr>
                <a:spLocks/>
              </p:cNvSpPr>
              <p:nvPr/>
            </p:nvSpPr>
            <p:spPr bwMode="auto">
              <a:xfrm>
                <a:off x="3143" y="2078"/>
                <a:ext cx="103" cy="47"/>
              </a:xfrm>
              <a:custGeom>
                <a:avLst/>
                <a:gdLst>
                  <a:gd name="T0" fmla="*/ 1 w 103"/>
                  <a:gd name="T1" fmla="*/ 47 h 47"/>
                  <a:gd name="T2" fmla="*/ 3 w 103"/>
                  <a:gd name="T3" fmla="*/ 46 h 47"/>
                  <a:gd name="T4" fmla="*/ 9 w 103"/>
                  <a:gd name="T5" fmla="*/ 44 h 47"/>
                  <a:gd name="T6" fmla="*/ 14 w 103"/>
                  <a:gd name="T7" fmla="*/ 40 h 47"/>
                  <a:gd name="T8" fmla="*/ 20 w 103"/>
                  <a:gd name="T9" fmla="*/ 38 h 47"/>
                  <a:gd name="T10" fmla="*/ 27 w 103"/>
                  <a:gd name="T11" fmla="*/ 35 h 47"/>
                  <a:gd name="T12" fmla="*/ 35 w 103"/>
                  <a:gd name="T13" fmla="*/ 32 h 47"/>
                  <a:gd name="T14" fmla="*/ 44 w 103"/>
                  <a:gd name="T15" fmla="*/ 28 h 47"/>
                  <a:gd name="T16" fmla="*/ 52 w 103"/>
                  <a:gd name="T17" fmla="*/ 24 h 47"/>
                  <a:gd name="T18" fmla="*/ 61 w 103"/>
                  <a:gd name="T19" fmla="*/ 20 h 47"/>
                  <a:gd name="T20" fmla="*/ 70 w 103"/>
                  <a:gd name="T21" fmla="*/ 17 h 47"/>
                  <a:gd name="T22" fmla="*/ 77 w 103"/>
                  <a:gd name="T23" fmla="*/ 14 h 47"/>
                  <a:gd name="T24" fmla="*/ 83 w 103"/>
                  <a:gd name="T25" fmla="*/ 10 h 47"/>
                  <a:gd name="T26" fmla="*/ 90 w 103"/>
                  <a:gd name="T27" fmla="*/ 6 h 47"/>
                  <a:gd name="T28" fmla="*/ 96 w 103"/>
                  <a:gd name="T29" fmla="*/ 4 h 47"/>
                  <a:gd name="T30" fmla="*/ 100 w 103"/>
                  <a:gd name="T31" fmla="*/ 3 h 47"/>
                  <a:gd name="T32" fmla="*/ 103 w 103"/>
                  <a:gd name="T33" fmla="*/ 1 h 47"/>
                  <a:gd name="T34" fmla="*/ 101 w 103"/>
                  <a:gd name="T35" fmla="*/ 0 h 47"/>
                  <a:gd name="T36" fmla="*/ 97 w 103"/>
                  <a:gd name="T37" fmla="*/ 2 h 47"/>
                  <a:gd name="T38" fmla="*/ 92 w 103"/>
                  <a:gd name="T39" fmla="*/ 4 h 47"/>
                  <a:gd name="T40" fmla="*/ 86 w 103"/>
                  <a:gd name="T41" fmla="*/ 6 h 47"/>
                  <a:gd name="T42" fmla="*/ 79 w 103"/>
                  <a:gd name="T43" fmla="*/ 10 h 47"/>
                  <a:gd name="T44" fmla="*/ 72 w 103"/>
                  <a:gd name="T45" fmla="*/ 14 h 47"/>
                  <a:gd name="T46" fmla="*/ 64 w 103"/>
                  <a:gd name="T47" fmla="*/ 17 h 47"/>
                  <a:gd name="T48" fmla="*/ 56 w 103"/>
                  <a:gd name="T49" fmla="*/ 20 h 47"/>
                  <a:gd name="T50" fmla="*/ 47 w 103"/>
                  <a:gd name="T51" fmla="*/ 24 h 47"/>
                  <a:gd name="T52" fmla="*/ 39 w 103"/>
                  <a:gd name="T53" fmla="*/ 29 h 47"/>
                  <a:gd name="T54" fmla="*/ 31 w 103"/>
                  <a:gd name="T55" fmla="*/ 32 h 47"/>
                  <a:gd name="T56" fmla="*/ 23 w 103"/>
                  <a:gd name="T57" fmla="*/ 35 h 47"/>
                  <a:gd name="T58" fmla="*/ 16 w 103"/>
                  <a:gd name="T59" fmla="*/ 38 h 47"/>
                  <a:gd name="T60" fmla="*/ 11 w 103"/>
                  <a:gd name="T61" fmla="*/ 40 h 47"/>
                  <a:gd name="T62" fmla="*/ 5 w 103"/>
                  <a:gd name="T63" fmla="*/ 44 h 47"/>
                  <a:gd name="T64" fmla="*/ 1 w 103"/>
                  <a:gd name="T65" fmla="*/ 45 h 47"/>
                  <a:gd name="T66" fmla="*/ 1 w 103"/>
                  <a:gd name="T67" fmla="*/ 47 h 4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7"/>
                  <a:gd name="T104" fmla="*/ 103 w 103"/>
                  <a:gd name="T105" fmla="*/ 47 h 4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7">
                    <a:moveTo>
                      <a:pt x="1" y="47"/>
                    </a:moveTo>
                    <a:lnTo>
                      <a:pt x="1" y="47"/>
                    </a:lnTo>
                    <a:lnTo>
                      <a:pt x="2" y="46"/>
                    </a:lnTo>
                    <a:lnTo>
                      <a:pt x="3" y="46"/>
                    </a:lnTo>
                    <a:lnTo>
                      <a:pt x="5" y="45"/>
                    </a:lnTo>
                    <a:lnTo>
                      <a:pt x="9" y="44"/>
                    </a:lnTo>
                    <a:lnTo>
                      <a:pt x="12" y="42"/>
                    </a:lnTo>
                    <a:lnTo>
                      <a:pt x="14" y="40"/>
                    </a:lnTo>
                    <a:lnTo>
                      <a:pt x="17" y="40"/>
                    </a:lnTo>
                    <a:lnTo>
                      <a:pt x="20" y="38"/>
                    </a:lnTo>
                    <a:lnTo>
                      <a:pt x="24" y="36"/>
                    </a:lnTo>
                    <a:lnTo>
                      <a:pt x="27" y="35"/>
                    </a:lnTo>
                    <a:lnTo>
                      <a:pt x="31" y="33"/>
                    </a:lnTo>
                    <a:lnTo>
                      <a:pt x="35" y="32"/>
                    </a:lnTo>
                    <a:lnTo>
                      <a:pt x="40" y="30"/>
                    </a:lnTo>
                    <a:lnTo>
                      <a:pt x="44" y="28"/>
                    </a:lnTo>
                    <a:lnTo>
                      <a:pt x="47" y="26"/>
                    </a:lnTo>
                    <a:lnTo>
                      <a:pt x="52" y="24"/>
                    </a:lnTo>
                    <a:lnTo>
                      <a:pt x="57" y="22"/>
                    </a:lnTo>
                    <a:lnTo>
                      <a:pt x="61" y="20"/>
                    </a:lnTo>
                    <a:lnTo>
                      <a:pt x="64" y="18"/>
                    </a:lnTo>
                    <a:lnTo>
                      <a:pt x="70" y="17"/>
                    </a:lnTo>
                    <a:lnTo>
                      <a:pt x="73" y="15"/>
                    </a:lnTo>
                    <a:lnTo>
                      <a:pt x="77" y="14"/>
                    </a:lnTo>
                    <a:lnTo>
                      <a:pt x="80" y="11"/>
                    </a:lnTo>
                    <a:lnTo>
                      <a:pt x="83" y="10"/>
                    </a:lnTo>
                    <a:lnTo>
                      <a:pt x="87" y="9"/>
                    </a:lnTo>
                    <a:lnTo>
                      <a:pt x="90" y="6"/>
                    </a:lnTo>
                    <a:lnTo>
                      <a:pt x="92" y="6"/>
                    </a:lnTo>
                    <a:lnTo>
                      <a:pt x="96" y="4"/>
                    </a:lnTo>
                    <a:lnTo>
                      <a:pt x="98" y="3"/>
                    </a:lnTo>
                    <a:lnTo>
                      <a:pt x="100" y="3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100" y="1"/>
                    </a:lnTo>
                    <a:lnTo>
                      <a:pt x="97" y="2"/>
                    </a:lnTo>
                    <a:lnTo>
                      <a:pt x="95" y="3"/>
                    </a:lnTo>
                    <a:lnTo>
                      <a:pt x="92" y="4"/>
                    </a:lnTo>
                    <a:lnTo>
                      <a:pt x="89" y="6"/>
                    </a:lnTo>
                    <a:lnTo>
                      <a:pt x="86" y="6"/>
                    </a:lnTo>
                    <a:lnTo>
                      <a:pt x="82" y="8"/>
                    </a:lnTo>
                    <a:lnTo>
                      <a:pt x="79" y="10"/>
                    </a:lnTo>
                    <a:lnTo>
                      <a:pt x="76" y="11"/>
                    </a:lnTo>
                    <a:lnTo>
                      <a:pt x="72" y="14"/>
                    </a:lnTo>
                    <a:lnTo>
                      <a:pt x="67" y="15"/>
                    </a:lnTo>
                    <a:lnTo>
                      <a:pt x="64" y="17"/>
                    </a:lnTo>
                    <a:lnTo>
                      <a:pt x="60" y="18"/>
                    </a:lnTo>
                    <a:lnTo>
                      <a:pt x="56" y="20"/>
                    </a:lnTo>
                    <a:lnTo>
                      <a:pt x="52" y="22"/>
                    </a:lnTo>
                    <a:lnTo>
                      <a:pt x="47" y="24"/>
                    </a:lnTo>
                    <a:lnTo>
                      <a:pt x="43" y="26"/>
                    </a:lnTo>
                    <a:lnTo>
                      <a:pt x="39" y="29"/>
                    </a:lnTo>
                    <a:lnTo>
                      <a:pt x="35" y="30"/>
                    </a:lnTo>
                    <a:lnTo>
                      <a:pt x="31" y="32"/>
                    </a:lnTo>
                    <a:lnTo>
                      <a:pt x="27" y="33"/>
                    </a:lnTo>
                    <a:lnTo>
                      <a:pt x="23" y="35"/>
                    </a:lnTo>
                    <a:lnTo>
                      <a:pt x="19" y="36"/>
                    </a:lnTo>
                    <a:lnTo>
                      <a:pt x="16" y="38"/>
                    </a:lnTo>
                    <a:lnTo>
                      <a:pt x="14" y="38"/>
                    </a:lnTo>
                    <a:lnTo>
                      <a:pt x="11" y="40"/>
                    </a:lnTo>
                    <a:lnTo>
                      <a:pt x="9" y="42"/>
                    </a:lnTo>
                    <a:lnTo>
                      <a:pt x="5" y="44"/>
                    </a:lnTo>
                    <a:lnTo>
                      <a:pt x="3" y="44"/>
                    </a:lnTo>
                    <a:lnTo>
                      <a:pt x="1" y="45"/>
                    </a:lnTo>
                    <a:lnTo>
                      <a:pt x="0" y="45"/>
                    </a:lnTo>
                    <a:lnTo>
                      <a:pt x="1" y="47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68" name="Freeform 937"/>
              <p:cNvSpPr>
                <a:spLocks/>
              </p:cNvSpPr>
              <p:nvPr/>
            </p:nvSpPr>
            <p:spPr bwMode="auto">
              <a:xfrm>
                <a:off x="3129" y="2120"/>
                <a:ext cx="14" cy="6"/>
              </a:xfrm>
              <a:custGeom>
                <a:avLst/>
                <a:gdLst>
                  <a:gd name="T0" fmla="*/ 0 w 14"/>
                  <a:gd name="T1" fmla="*/ 3 h 6"/>
                  <a:gd name="T2" fmla="*/ 0 w 14"/>
                  <a:gd name="T3" fmla="*/ 3 h 6"/>
                  <a:gd name="T4" fmla="*/ 1 w 14"/>
                  <a:gd name="T5" fmla="*/ 3 h 6"/>
                  <a:gd name="T6" fmla="*/ 3 w 14"/>
                  <a:gd name="T7" fmla="*/ 4 h 6"/>
                  <a:gd name="T8" fmla="*/ 7 w 14"/>
                  <a:gd name="T9" fmla="*/ 5 h 6"/>
                  <a:gd name="T10" fmla="*/ 7 w 14"/>
                  <a:gd name="T11" fmla="*/ 5 h 6"/>
                  <a:gd name="T12" fmla="*/ 10 w 14"/>
                  <a:gd name="T13" fmla="*/ 6 h 6"/>
                  <a:gd name="T14" fmla="*/ 11 w 14"/>
                  <a:gd name="T15" fmla="*/ 6 h 6"/>
                  <a:gd name="T16" fmla="*/ 13 w 14"/>
                  <a:gd name="T17" fmla="*/ 6 h 6"/>
                  <a:gd name="T18" fmla="*/ 14 w 14"/>
                  <a:gd name="T19" fmla="*/ 6 h 6"/>
                  <a:gd name="T20" fmla="*/ 13 w 14"/>
                  <a:gd name="T21" fmla="*/ 4 h 6"/>
                  <a:gd name="T22" fmla="*/ 11 w 14"/>
                  <a:gd name="T23" fmla="*/ 4 h 6"/>
                  <a:gd name="T24" fmla="*/ 10 w 14"/>
                  <a:gd name="T25" fmla="*/ 4 h 6"/>
                  <a:gd name="T26" fmla="*/ 9 w 14"/>
                  <a:gd name="T27" fmla="*/ 3 h 6"/>
                  <a:gd name="T28" fmla="*/ 7 w 14"/>
                  <a:gd name="T29" fmla="*/ 3 h 6"/>
                  <a:gd name="T30" fmla="*/ 3 w 14"/>
                  <a:gd name="T31" fmla="*/ 2 h 6"/>
                  <a:gd name="T32" fmla="*/ 2 w 14"/>
                  <a:gd name="T33" fmla="*/ 2 h 6"/>
                  <a:gd name="T34" fmla="*/ 1 w 14"/>
                  <a:gd name="T35" fmla="*/ 0 h 6"/>
                  <a:gd name="T36" fmla="*/ 0 w 14"/>
                  <a:gd name="T37" fmla="*/ 3 h 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6"/>
                  <a:gd name="T59" fmla="*/ 14 w 14"/>
                  <a:gd name="T60" fmla="*/ 6 h 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6">
                    <a:moveTo>
                      <a:pt x="0" y="3"/>
                    </a:moveTo>
                    <a:lnTo>
                      <a:pt x="0" y="3"/>
                    </a:lnTo>
                    <a:lnTo>
                      <a:pt x="1" y="3"/>
                    </a:lnTo>
                    <a:lnTo>
                      <a:pt x="3" y="4"/>
                    </a:lnTo>
                    <a:lnTo>
                      <a:pt x="7" y="5"/>
                    </a:lnTo>
                    <a:lnTo>
                      <a:pt x="10" y="6"/>
                    </a:lnTo>
                    <a:lnTo>
                      <a:pt x="11" y="6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3" y="4"/>
                    </a:lnTo>
                    <a:lnTo>
                      <a:pt x="11" y="4"/>
                    </a:lnTo>
                    <a:lnTo>
                      <a:pt x="10" y="4"/>
                    </a:lnTo>
                    <a:lnTo>
                      <a:pt x="9" y="3"/>
                    </a:lnTo>
                    <a:lnTo>
                      <a:pt x="7" y="3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1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69" name="Freeform 938"/>
              <p:cNvSpPr>
                <a:spLocks/>
              </p:cNvSpPr>
              <p:nvPr/>
            </p:nvSpPr>
            <p:spPr bwMode="auto">
              <a:xfrm>
                <a:off x="3015" y="2060"/>
                <a:ext cx="115" cy="63"/>
              </a:xfrm>
              <a:custGeom>
                <a:avLst/>
                <a:gdLst>
                  <a:gd name="T0" fmla="*/ 0 w 115"/>
                  <a:gd name="T1" fmla="*/ 2 h 63"/>
                  <a:gd name="T2" fmla="*/ 2 w 115"/>
                  <a:gd name="T3" fmla="*/ 3 h 63"/>
                  <a:gd name="T4" fmla="*/ 5 w 115"/>
                  <a:gd name="T5" fmla="*/ 4 h 63"/>
                  <a:gd name="T6" fmla="*/ 11 w 115"/>
                  <a:gd name="T7" fmla="*/ 7 h 63"/>
                  <a:gd name="T8" fmla="*/ 18 w 115"/>
                  <a:gd name="T9" fmla="*/ 12 h 63"/>
                  <a:gd name="T10" fmla="*/ 26 w 115"/>
                  <a:gd name="T11" fmla="*/ 16 h 63"/>
                  <a:gd name="T12" fmla="*/ 35 w 115"/>
                  <a:gd name="T13" fmla="*/ 21 h 63"/>
                  <a:gd name="T14" fmla="*/ 45 w 115"/>
                  <a:gd name="T15" fmla="*/ 25 h 63"/>
                  <a:gd name="T16" fmla="*/ 54 w 115"/>
                  <a:gd name="T17" fmla="*/ 31 h 63"/>
                  <a:gd name="T18" fmla="*/ 64 w 115"/>
                  <a:gd name="T19" fmla="*/ 37 h 63"/>
                  <a:gd name="T20" fmla="*/ 75 w 115"/>
                  <a:gd name="T21" fmla="*/ 41 h 63"/>
                  <a:gd name="T22" fmla="*/ 83 w 115"/>
                  <a:gd name="T23" fmla="*/ 47 h 63"/>
                  <a:gd name="T24" fmla="*/ 93 w 115"/>
                  <a:gd name="T25" fmla="*/ 52 h 63"/>
                  <a:gd name="T26" fmla="*/ 99 w 115"/>
                  <a:gd name="T27" fmla="*/ 55 h 63"/>
                  <a:gd name="T28" fmla="*/ 107 w 115"/>
                  <a:gd name="T29" fmla="*/ 58 h 63"/>
                  <a:gd name="T30" fmla="*/ 112 w 115"/>
                  <a:gd name="T31" fmla="*/ 62 h 63"/>
                  <a:gd name="T32" fmla="*/ 114 w 115"/>
                  <a:gd name="T33" fmla="*/ 63 h 63"/>
                  <a:gd name="T34" fmla="*/ 114 w 115"/>
                  <a:gd name="T35" fmla="*/ 60 h 63"/>
                  <a:gd name="T36" fmla="*/ 110 w 115"/>
                  <a:gd name="T37" fmla="*/ 58 h 63"/>
                  <a:gd name="T38" fmla="*/ 104 w 115"/>
                  <a:gd name="T39" fmla="*/ 55 h 63"/>
                  <a:gd name="T40" fmla="*/ 97 w 115"/>
                  <a:gd name="T41" fmla="*/ 52 h 63"/>
                  <a:gd name="T42" fmla="*/ 90 w 115"/>
                  <a:gd name="T43" fmla="*/ 47 h 63"/>
                  <a:gd name="T44" fmla="*/ 80 w 115"/>
                  <a:gd name="T45" fmla="*/ 42 h 63"/>
                  <a:gd name="T46" fmla="*/ 70 w 115"/>
                  <a:gd name="T47" fmla="*/ 37 h 63"/>
                  <a:gd name="T48" fmla="*/ 61 w 115"/>
                  <a:gd name="T49" fmla="*/ 33 h 63"/>
                  <a:gd name="T50" fmla="*/ 51 w 115"/>
                  <a:gd name="T51" fmla="*/ 26 h 63"/>
                  <a:gd name="T52" fmla="*/ 41 w 115"/>
                  <a:gd name="T53" fmla="*/ 21 h 63"/>
                  <a:gd name="T54" fmla="*/ 32 w 115"/>
                  <a:gd name="T55" fmla="*/ 17 h 63"/>
                  <a:gd name="T56" fmla="*/ 23 w 115"/>
                  <a:gd name="T57" fmla="*/ 12 h 63"/>
                  <a:gd name="T58" fmla="*/ 16 w 115"/>
                  <a:gd name="T59" fmla="*/ 7 h 63"/>
                  <a:gd name="T60" fmla="*/ 8 w 115"/>
                  <a:gd name="T61" fmla="*/ 4 h 63"/>
                  <a:gd name="T62" fmla="*/ 4 w 115"/>
                  <a:gd name="T63" fmla="*/ 2 h 63"/>
                  <a:gd name="T64" fmla="*/ 1 w 115"/>
                  <a:gd name="T65" fmla="*/ 0 h 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3"/>
                  <a:gd name="T101" fmla="*/ 115 w 115"/>
                  <a:gd name="T102" fmla="*/ 63 h 6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3">
                    <a:moveTo>
                      <a:pt x="0" y="2"/>
                    </a:moveTo>
                    <a:lnTo>
                      <a:pt x="0" y="2"/>
                    </a:lnTo>
                    <a:lnTo>
                      <a:pt x="1" y="2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5" y="4"/>
                    </a:lnTo>
                    <a:lnTo>
                      <a:pt x="7" y="6"/>
                    </a:lnTo>
                    <a:lnTo>
                      <a:pt x="11" y="7"/>
                    </a:lnTo>
                    <a:lnTo>
                      <a:pt x="15" y="9"/>
                    </a:lnTo>
                    <a:lnTo>
                      <a:pt x="18" y="12"/>
                    </a:lnTo>
                    <a:lnTo>
                      <a:pt x="22" y="12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1"/>
                    </a:lnTo>
                    <a:lnTo>
                      <a:pt x="39" y="23"/>
                    </a:lnTo>
                    <a:lnTo>
                      <a:pt x="45" y="25"/>
                    </a:lnTo>
                    <a:lnTo>
                      <a:pt x="49" y="27"/>
                    </a:lnTo>
                    <a:lnTo>
                      <a:pt x="54" y="31"/>
                    </a:lnTo>
                    <a:lnTo>
                      <a:pt x="60" y="34"/>
                    </a:lnTo>
                    <a:lnTo>
                      <a:pt x="64" y="37"/>
                    </a:lnTo>
                    <a:lnTo>
                      <a:pt x="70" y="39"/>
                    </a:lnTo>
                    <a:lnTo>
                      <a:pt x="75" y="41"/>
                    </a:lnTo>
                    <a:lnTo>
                      <a:pt x="79" y="43"/>
                    </a:lnTo>
                    <a:lnTo>
                      <a:pt x="83" y="47"/>
                    </a:lnTo>
                    <a:lnTo>
                      <a:pt x="88" y="50"/>
                    </a:lnTo>
                    <a:lnTo>
                      <a:pt x="93" y="52"/>
                    </a:lnTo>
                    <a:lnTo>
                      <a:pt x="96" y="54"/>
                    </a:lnTo>
                    <a:lnTo>
                      <a:pt x="99" y="55"/>
                    </a:lnTo>
                    <a:lnTo>
                      <a:pt x="102" y="57"/>
                    </a:lnTo>
                    <a:lnTo>
                      <a:pt x="107" y="58"/>
                    </a:lnTo>
                    <a:lnTo>
                      <a:pt x="110" y="60"/>
                    </a:lnTo>
                    <a:lnTo>
                      <a:pt x="112" y="62"/>
                    </a:lnTo>
                    <a:lnTo>
                      <a:pt x="113" y="62"/>
                    </a:lnTo>
                    <a:lnTo>
                      <a:pt x="114" y="63"/>
                    </a:lnTo>
                    <a:lnTo>
                      <a:pt x="115" y="62"/>
                    </a:lnTo>
                    <a:lnTo>
                      <a:pt x="114" y="60"/>
                    </a:lnTo>
                    <a:lnTo>
                      <a:pt x="112" y="59"/>
                    </a:lnTo>
                    <a:lnTo>
                      <a:pt x="110" y="58"/>
                    </a:lnTo>
                    <a:lnTo>
                      <a:pt x="107" y="57"/>
                    </a:lnTo>
                    <a:lnTo>
                      <a:pt x="104" y="55"/>
                    </a:lnTo>
                    <a:lnTo>
                      <a:pt x="100" y="54"/>
                    </a:lnTo>
                    <a:lnTo>
                      <a:pt x="97" y="52"/>
                    </a:lnTo>
                    <a:lnTo>
                      <a:pt x="94" y="50"/>
                    </a:lnTo>
                    <a:lnTo>
                      <a:pt x="90" y="47"/>
                    </a:lnTo>
                    <a:lnTo>
                      <a:pt x="84" y="44"/>
                    </a:lnTo>
                    <a:lnTo>
                      <a:pt x="80" y="42"/>
                    </a:lnTo>
                    <a:lnTo>
                      <a:pt x="76" y="40"/>
                    </a:lnTo>
                    <a:lnTo>
                      <a:pt x="70" y="37"/>
                    </a:lnTo>
                    <a:lnTo>
                      <a:pt x="65" y="35"/>
                    </a:lnTo>
                    <a:lnTo>
                      <a:pt x="61" y="33"/>
                    </a:lnTo>
                    <a:lnTo>
                      <a:pt x="55" y="28"/>
                    </a:lnTo>
                    <a:lnTo>
                      <a:pt x="51" y="26"/>
                    </a:lnTo>
                    <a:lnTo>
                      <a:pt x="46" y="24"/>
                    </a:lnTo>
                    <a:lnTo>
                      <a:pt x="41" y="21"/>
                    </a:lnTo>
                    <a:lnTo>
                      <a:pt x="36" y="19"/>
                    </a:lnTo>
                    <a:lnTo>
                      <a:pt x="32" y="17"/>
                    </a:lnTo>
                    <a:lnTo>
                      <a:pt x="27" y="15"/>
                    </a:lnTo>
                    <a:lnTo>
                      <a:pt x="23" y="12"/>
                    </a:lnTo>
                    <a:lnTo>
                      <a:pt x="19" y="9"/>
                    </a:lnTo>
                    <a:lnTo>
                      <a:pt x="16" y="7"/>
                    </a:lnTo>
                    <a:lnTo>
                      <a:pt x="13" y="6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70" name="Freeform 939"/>
              <p:cNvSpPr>
                <a:spLocks/>
              </p:cNvSpPr>
              <p:nvPr/>
            </p:nvSpPr>
            <p:spPr bwMode="auto">
              <a:xfrm>
                <a:off x="3003" y="2051"/>
                <a:ext cx="13" cy="11"/>
              </a:xfrm>
              <a:custGeom>
                <a:avLst/>
                <a:gdLst>
                  <a:gd name="T0" fmla="*/ 0 w 13"/>
                  <a:gd name="T1" fmla="*/ 1 h 11"/>
                  <a:gd name="T2" fmla="*/ 0 w 13"/>
                  <a:gd name="T3" fmla="*/ 1 h 11"/>
                  <a:gd name="T4" fmla="*/ 1 w 13"/>
                  <a:gd name="T5" fmla="*/ 3 h 11"/>
                  <a:gd name="T6" fmla="*/ 2 w 13"/>
                  <a:gd name="T7" fmla="*/ 5 h 11"/>
                  <a:gd name="T8" fmla="*/ 5 w 13"/>
                  <a:gd name="T9" fmla="*/ 5 h 11"/>
                  <a:gd name="T10" fmla="*/ 7 w 13"/>
                  <a:gd name="T11" fmla="*/ 8 h 11"/>
                  <a:gd name="T12" fmla="*/ 8 w 13"/>
                  <a:gd name="T13" fmla="*/ 9 h 11"/>
                  <a:gd name="T14" fmla="*/ 9 w 13"/>
                  <a:gd name="T15" fmla="*/ 9 h 11"/>
                  <a:gd name="T16" fmla="*/ 11 w 13"/>
                  <a:gd name="T17" fmla="*/ 10 h 11"/>
                  <a:gd name="T18" fmla="*/ 12 w 13"/>
                  <a:gd name="T19" fmla="*/ 11 h 11"/>
                  <a:gd name="T20" fmla="*/ 13 w 13"/>
                  <a:gd name="T21" fmla="*/ 9 h 11"/>
                  <a:gd name="T22" fmla="*/ 11 w 13"/>
                  <a:gd name="T23" fmla="*/ 9 h 11"/>
                  <a:gd name="T24" fmla="*/ 10 w 13"/>
                  <a:gd name="T25" fmla="*/ 8 h 11"/>
                  <a:gd name="T26" fmla="*/ 9 w 13"/>
                  <a:gd name="T27" fmla="*/ 5 h 11"/>
                  <a:gd name="T28" fmla="*/ 8 w 13"/>
                  <a:gd name="T29" fmla="*/ 5 h 11"/>
                  <a:gd name="T30" fmla="*/ 7 w 13"/>
                  <a:gd name="T31" fmla="*/ 5 h 11"/>
                  <a:gd name="T32" fmla="*/ 5 w 13"/>
                  <a:gd name="T33" fmla="*/ 3 h 11"/>
                  <a:gd name="T34" fmla="*/ 2 w 13"/>
                  <a:gd name="T35" fmla="*/ 1 h 11"/>
                  <a:gd name="T36" fmla="*/ 1 w 13"/>
                  <a:gd name="T37" fmla="*/ 0 h 11"/>
                  <a:gd name="T38" fmla="*/ 0 w 13"/>
                  <a:gd name="T39" fmla="*/ 1 h 1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11"/>
                  <a:gd name="T62" fmla="*/ 13 w 13"/>
                  <a:gd name="T63" fmla="*/ 11 h 1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11">
                    <a:moveTo>
                      <a:pt x="0" y="1"/>
                    </a:moveTo>
                    <a:lnTo>
                      <a:pt x="0" y="1"/>
                    </a:lnTo>
                    <a:lnTo>
                      <a:pt x="1" y="3"/>
                    </a:lnTo>
                    <a:lnTo>
                      <a:pt x="2" y="5"/>
                    </a:lnTo>
                    <a:lnTo>
                      <a:pt x="5" y="5"/>
                    </a:lnTo>
                    <a:lnTo>
                      <a:pt x="7" y="8"/>
                    </a:lnTo>
                    <a:lnTo>
                      <a:pt x="8" y="9"/>
                    </a:lnTo>
                    <a:lnTo>
                      <a:pt x="9" y="9"/>
                    </a:lnTo>
                    <a:lnTo>
                      <a:pt x="11" y="10"/>
                    </a:lnTo>
                    <a:lnTo>
                      <a:pt x="12" y="11"/>
                    </a:lnTo>
                    <a:lnTo>
                      <a:pt x="13" y="9"/>
                    </a:lnTo>
                    <a:lnTo>
                      <a:pt x="11" y="9"/>
                    </a:lnTo>
                    <a:lnTo>
                      <a:pt x="10" y="8"/>
                    </a:lnTo>
                    <a:lnTo>
                      <a:pt x="9" y="5"/>
                    </a:lnTo>
                    <a:lnTo>
                      <a:pt x="8" y="5"/>
                    </a:lnTo>
                    <a:lnTo>
                      <a:pt x="7" y="5"/>
                    </a:lnTo>
                    <a:lnTo>
                      <a:pt x="5" y="3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71" name="Freeform 940"/>
              <p:cNvSpPr>
                <a:spLocks/>
              </p:cNvSpPr>
              <p:nvPr/>
            </p:nvSpPr>
            <p:spPr bwMode="auto">
              <a:xfrm>
                <a:off x="3132" y="2083"/>
                <a:ext cx="10" cy="41"/>
              </a:xfrm>
              <a:custGeom>
                <a:avLst/>
                <a:gdLst>
                  <a:gd name="T0" fmla="*/ 10 w 10"/>
                  <a:gd name="T1" fmla="*/ 41 h 41"/>
                  <a:gd name="T2" fmla="*/ 8 w 10"/>
                  <a:gd name="T3" fmla="*/ 41 h 41"/>
                  <a:gd name="T4" fmla="*/ 7 w 10"/>
                  <a:gd name="T5" fmla="*/ 40 h 41"/>
                  <a:gd name="T6" fmla="*/ 6 w 10"/>
                  <a:gd name="T7" fmla="*/ 39 h 41"/>
                  <a:gd name="T8" fmla="*/ 4 w 10"/>
                  <a:gd name="T9" fmla="*/ 36 h 41"/>
                  <a:gd name="T10" fmla="*/ 4 w 10"/>
                  <a:gd name="T11" fmla="*/ 33 h 41"/>
                  <a:gd name="T12" fmla="*/ 2 w 10"/>
                  <a:gd name="T13" fmla="*/ 30 h 41"/>
                  <a:gd name="T14" fmla="*/ 0 w 10"/>
                  <a:gd name="T15" fmla="*/ 27 h 41"/>
                  <a:gd name="T16" fmla="*/ 0 w 10"/>
                  <a:gd name="T17" fmla="*/ 25 h 41"/>
                  <a:gd name="T18" fmla="*/ 0 w 10"/>
                  <a:gd name="T19" fmla="*/ 20 h 41"/>
                  <a:gd name="T20" fmla="*/ 0 w 10"/>
                  <a:gd name="T21" fmla="*/ 17 h 41"/>
                  <a:gd name="T22" fmla="*/ 0 w 10"/>
                  <a:gd name="T23" fmla="*/ 13 h 41"/>
                  <a:gd name="T24" fmla="*/ 2 w 10"/>
                  <a:gd name="T25" fmla="*/ 9 h 41"/>
                  <a:gd name="T26" fmla="*/ 4 w 10"/>
                  <a:gd name="T27" fmla="*/ 5 h 41"/>
                  <a:gd name="T28" fmla="*/ 4 w 10"/>
                  <a:gd name="T29" fmla="*/ 3 h 41"/>
                  <a:gd name="T30" fmla="*/ 6 w 10"/>
                  <a:gd name="T31" fmla="*/ 1 h 41"/>
                  <a:gd name="T32" fmla="*/ 8 w 10"/>
                  <a:gd name="T33" fmla="*/ 0 h 41"/>
                  <a:gd name="T34" fmla="*/ 10 w 10"/>
                  <a:gd name="T35" fmla="*/ 41 h 4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"/>
                  <a:gd name="T55" fmla="*/ 0 h 41"/>
                  <a:gd name="T56" fmla="*/ 10 w 10"/>
                  <a:gd name="T57" fmla="*/ 41 h 4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" h="41">
                    <a:moveTo>
                      <a:pt x="10" y="41"/>
                    </a:moveTo>
                    <a:lnTo>
                      <a:pt x="8" y="41"/>
                    </a:lnTo>
                    <a:lnTo>
                      <a:pt x="7" y="40"/>
                    </a:lnTo>
                    <a:lnTo>
                      <a:pt x="6" y="39"/>
                    </a:lnTo>
                    <a:lnTo>
                      <a:pt x="4" y="36"/>
                    </a:lnTo>
                    <a:lnTo>
                      <a:pt x="4" y="33"/>
                    </a:lnTo>
                    <a:lnTo>
                      <a:pt x="2" y="30"/>
                    </a:lnTo>
                    <a:lnTo>
                      <a:pt x="0" y="27"/>
                    </a:lnTo>
                    <a:lnTo>
                      <a:pt x="0" y="25"/>
                    </a:lnTo>
                    <a:lnTo>
                      <a:pt x="0" y="20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2" y="9"/>
                    </a:lnTo>
                    <a:lnTo>
                      <a:pt x="4" y="5"/>
                    </a:lnTo>
                    <a:lnTo>
                      <a:pt x="4" y="3"/>
                    </a:lnTo>
                    <a:lnTo>
                      <a:pt x="6" y="1"/>
                    </a:lnTo>
                    <a:lnTo>
                      <a:pt x="8" y="0"/>
                    </a:lnTo>
                    <a:lnTo>
                      <a:pt x="1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72" name="Freeform 941"/>
              <p:cNvSpPr>
                <a:spLocks/>
              </p:cNvSpPr>
              <p:nvPr/>
            </p:nvSpPr>
            <p:spPr bwMode="auto">
              <a:xfrm>
                <a:off x="3132" y="2108"/>
                <a:ext cx="10" cy="17"/>
              </a:xfrm>
              <a:custGeom>
                <a:avLst/>
                <a:gdLst>
                  <a:gd name="T0" fmla="*/ 0 w 10"/>
                  <a:gd name="T1" fmla="*/ 0 h 17"/>
                  <a:gd name="T2" fmla="*/ 0 w 10"/>
                  <a:gd name="T3" fmla="*/ 0 h 17"/>
                  <a:gd name="T4" fmla="*/ 0 w 10"/>
                  <a:gd name="T5" fmla="*/ 2 h 17"/>
                  <a:gd name="T6" fmla="*/ 2 w 10"/>
                  <a:gd name="T7" fmla="*/ 5 h 17"/>
                  <a:gd name="T8" fmla="*/ 2 w 10"/>
                  <a:gd name="T9" fmla="*/ 8 h 17"/>
                  <a:gd name="T10" fmla="*/ 3 w 10"/>
                  <a:gd name="T11" fmla="*/ 10 h 17"/>
                  <a:gd name="T12" fmla="*/ 5 w 10"/>
                  <a:gd name="T13" fmla="*/ 14 h 17"/>
                  <a:gd name="T14" fmla="*/ 6 w 10"/>
                  <a:gd name="T15" fmla="*/ 16 h 17"/>
                  <a:gd name="T16" fmla="*/ 8 w 10"/>
                  <a:gd name="T17" fmla="*/ 17 h 17"/>
                  <a:gd name="T18" fmla="*/ 10 w 10"/>
                  <a:gd name="T19" fmla="*/ 17 h 17"/>
                  <a:gd name="T20" fmla="*/ 10 w 10"/>
                  <a:gd name="T21" fmla="*/ 15 h 17"/>
                  <a:gd name="T22" fmla="*/ 8 w 10"/>
                  <a:gd name="T23" fmla="*/ 15 h 17"/>
                  <a:gd name="T24" fmla="*/ 7 w 10"/>
                  <a:gd name="T25" fmla="*/ 14 h 17"/>
                  <a:gd name="T26" fmla="*/ 6 w 10"/>
                  <a:gd name="T27" fmla="*/ 12 h 17"/>
                  <a:gd name="T28" fmla="*/ 5 w 10"/>
                  <a:gd name="T29" fmla="*/ 10 h 17"/>
                  <a:gd name="T30" fmla="*/ 4 w 10"/>
                  <a:gd name="T31" fmla="*/ 8 h 17"/>
                  <a:gd name="T32" fmla="*/ 3 w 10"/>
                  <a:gd name="T33" fmla="*/ 5 h 17"/>
                  <a:gd name="T34" fmla="*/ 3 w 10"/>
                  <a:gd name="T35" fmla="*/ 2 h 17"/>
                  <a:gd name="T36" fmla="*/ 3 w 10"/>
                  <a:gd name="T37" fmla="*/ 0 h 17"/>
                  <a:gd name="T38" fmla="*/ 0 w 10"/>
                  <a:gd name="T39" fmla="*/ 0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"/>
                  <a:gd name="T61" fmla="*/ 0 h 17"/>
                  <a:gd name="T62" fmla="*/ 10 w 10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" h="17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5"/>
                    </a:lnTo>
                    <a:lnTo>
                      <a:pt x="2" y="8"/>
                    </a:lnTo>
                    <a:lnTo>
                      <a:pt x="3" y="10"/>
                    </a:lnTo>
                    <a:lnTo>
                      <a:pt x="5" y="14"/>
                    </a:lnTo>
                    <a:lnTo>
                      <a:pt x="6" y="16"/>
                    </a:lnTo>
                    <a:lnTo>
                      <a:pt x="8" y="17"/>
                    </a:lnTo>
                    <a:lnTo>
                      <a:pt x="10" y="17"/>
                    </a:lnTo>
                    <a:lnTo>
                      <a:pt x="10" y="15"/>
                    </a:lnTo>
                    <a:lnTo>
                      <a:pt x="8" y="15"/>
                    </a:lnTo>
                    <a:lnTo>
                      <a:pt x="7" y="14"/>
                    </a:lnTo>
                    <a:lnTo>
                      <a:pt x="6" y="12"/>
                    </a:lnTo>
                    <a:lnTo>
                      <a:pt x="5" y="10"/>
                    </a:lnTo>
                    <a:lnTo>
                      <a:pt x="4" y="8"/>
                    </a:lnTo>
                    <a:lnTo>
                      <a:pt x="3" y="5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73" name="Freeform 942"/>
              <p:cNvSpPr>
                <a:spLocks/>
              </p:cNvSpPr>
              <p:nvPr/>
            </p:nvSpPr>
            <p:spPr bwMode="auto">
              <a:xfrm>
                <a:off x="3132" y="2082"/>
                <a:ext cx="9" cy="26"/>
              </a:xfrm>
              <a:custGeom>
                <a:avLst/>
                <a:gdLst>
                  <a:gd name="T0" fmla="*/ 8 w 9"/>
                  <a:gd name="T1" fmla="*/ 0 h 26"/>
                  <a:gd name="T2" fmla="*/ 6 w 9"/>
                  <a:gd name="T3" fmla="*/ 2 h 26"/>
                  <a:gd name="T4" fmla="*/ 4 w 9"/>
                  <a:gd name="T5" fmla="*/ 3 h 26"/>
                  <a:gd name="T6" fmla="*/ 3 w 9"/>
                  <a:gd name="T7" fmla="*/ 6 h 26"/>
                  <a:gd name="T8" fmla="*/ 2 w 9"/>
                  <a:gd name="T9" fmla="*/ 10 h 26"/>
                  <a:gd name="T10" fmla="*/ 0 w 9"/>
                  <a:gd name="T11" fmla="*/ 14 h 26"/>
                  <a:gd name="T12" fmla="*/ 0 w 9"/>
                  <a:gd name="T13" fmla="*/ 17 h 26"/>
                  <a:gd name="T14" fmla="*/ 0 w 9"/>
                  <a:gd name="T15" fmla="*/ 21 h 26"/>
                  <a:gd name="T16" fmla="*/ 0 w 9"/>
                  <a:gd name="T17" fmla="*/ 26 h 26"/>
                  <a:gd name="T18" fmla="*/ 3 w 9"/>
                  <a:gd name="T19" fmla="*/ 26 h 26"/>
                  <a:gd name="T20" fmla="*/ 3 w 9"/>
                  <a:gd name="T21" fmla="*/ 21 h 26"/>
                  <a:gd name="T22" fmla="*/ 3 w 9"/>
                  <a:gd name="T23" fmla="*/ 17 h 26"/>
                  <a:gd name="T24" fmla="*/ 3 w 9"/>
                  <a:gd name="T25" fmla="*/ 14 h 26"/>
                  <a:gd name="T26" fmla="*/ 4 w 9"/>
                  <a:gd name="T27" fmla="*/ 10 h 26"/>
                  <a:gd name="T28" fmla="*/ 4 w 9"/>
                  <a:gd name="T29" fmla="*/ 6 h 26"/>
                  <a:gd name="T30" fmla="*/ 6 w 9"/>
                  <a:gd name="T31" fmla="*/ 4 h 26"/>
                  <a:gd name="T32" fmla="*/ 7 w 9"/>
                  <a:gd name="T33" fmla="*/ 3 h 26"/>
                  <a:gd name="T34" fmla="*/ 9 w 9"/>
                  <a:gd name="T35" fmla="*/ 2 h 26"/>
                  <a:gd name="T36" fmla="*/ 8 w 9"/>
                  <a:gd name="T37" fmla="*/ 0 h 2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26"/>
                  <a:gd name="T59" fmla="*/ 9 w 9"/>
                  <a:gd name="T60" fmla="*/ 26 h 2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26">
                    <a:moveTo>
                      <a:pt x="8" y="0"/>
                    </a:moveTo>
                    <a:lnTo>
                      <a:pt x="6" y="2"/>
                    </a:lnTo>
                    <a:lnTo>
                      <a:pt x="4" y="3"/>
                    </a:lnTo>
                    <a:lnTo>
                      <a:pt x="3" y="6"/>
                    </a:lnTo>
                    <a:lnTo>
                      <a:pt x="2" y="10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0" y="21"/>
                    </a:lnTo>
                    <a:lnTo>
                      <a:pt x="0" y="26"/>
                    </a:lnTo>
                    <a:lnTo>
                      <a:pt x="3" y="26"/>
                    </a:lnTo>
                    <a:lnTo>
                      <a:pt x="3" y="21"/>
                    </a:lnTo>
                    <a:lnTo>
                      <a:pt x="3" y="17"/>
                    </a:lnTo>
                    <a:lnTo>
                      <a:pt x="3" y="14"/>
                    </a:lnTo>
                    <a:lnTo>
                      <a:pt x="4" y="10"/>
                    </a:lnTo>
                    <a:lnTo>
                      <a:pt x="4" y="6"/>
                    </a:lnTo>
                    <a:lnTo>
                      <a:pt x="6" y="4"/>
                    </a:lnTo>
                    <a:lnTo>
                      <a:pt x="7" y="3"/>
                    </a:lnTo>
                    <a:lnTo>
                      <a:pt x="9" y="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74" name="Freeform 943"/>
              <p:cNvSpPr>
                <a:spLocks/>
              </p:cNvSpPr>
              <p:nvPr/>
            </p:nvSpPr>
            <p:spPr bwMode="auto">
              <a:xfrm>
                <a:off x="3011" y="1968"/>
                <a:ext cx="239" cy="115"/>
              </a:xfrm>
              <a:custGeom>
                <a:avLst/>
                <a:gdLst>
                  <a:gd name="T0" fmla="*/ 8 w 239"/>
                  <a:gd name="T1" fmla="*/ 41 h 115"/>
                  <a:gd name="T2" fmla="*/ 24 w 239"/>
                  <a:gd name="T3" fmla="*/ 34 h 115"/>
                  <a:gd name="T4" fmla="*/ 45 w 239"/>
                  <a:gd name="T5" fmla="*/ 23 h 115"/>
                  <a:gd name="T6" fmla="*/ 67 w 239"/>
                  <a:gd name="T7" fmla="*/ 14 h 115"/>
                  <a:gd name="T8" fmla="*/ 85 w 239"/>
                  <a:gd name="T9" fmla="*/ 4 h 115"/>
                  <a:gd name="T10" fmla="*/ 94 w 239"/>
                  <a:gd name="T11" fmla="*/ 0 h 115"/>
                  <a:gd name="T12" fmla="*/ 99 w 239"/>
                  <a:gd name="T13" fmla="*/ 0 h 115"/>
                  <a:gd name="T14" fmla="*/ 104 w 239"/>
                  <a:gd name="T15" fmla="*/ 1 h 115"/>
                  <a:gd name="T16" fmla="*/ 108 w 239"/>
                  <a:gd name="T17" fmla="*/ 2 h 115"/>
                  <a:gd name="T18" fmla="*/ 114 w 239"/>
                  <a:gd name="T19" fmla="*/ 5 h 115"/>
                  <a:gd name="T20" fmla="*/ 126 w 239"/>
                  <a:gd name="T21" fmla="*/ 10 h 115"/>
                  <a:gd name="T22" fmla="*/ 140 w 239"/>
                  <a:gd name="T23" fmla="*/ 18 h 115"/>
                  <a:gd name="T24" fmla="*/ 155 w 239"/>
                  <a:gd name="T25" fmla="*/ 24 h 115"/>
                  <a:gd name="T26" fmla="*/ 172 w 239"/>
                  <a:gd name="T27" fmla="*/ 33 h 115"/>
                  <a:gd name="T28" fmla="*/ 188 w 239"/>
                  <a:gd name="T29" fmla="*/ 40 h 115"/>
                  <a:gd name="T30" fmla="*/ 204 w 239"/>
                  <a:gd name="T31" fmla="*/ 48 h 115"/>
                  <a:gd name="T32" fmla="*/ 217 w 239"/>
                  <a:gd name="T33" fmla="*/ 53 h 115"/>
                  <a:gd name="T34" fmla="*/ 226 w 239"/>
                  <a:gd name="T35" fmla="*/ 57 h 115"/>
                  <a:gd name="T36" fmla="*/ 233 w 239"/>
                  <a:gd name="T37" fmla="*/ 61 h 115"/>
                  <a:gd name="T38" fmla="*/ 237 w 239"/>
                  <a:gd name="T39" fmla="*/ 63 h 115"/>
                  <a:gd name="T40" fmla="*/ 239 w 239"/>
                  <a:gd name="T41" fmla="*/ 67 h 115"/>
                  <a:gd name="T42" fmla="*/ 235 w 239"/>
                  <a:gd name="T43" fmla="*/ 71 h 115"/>
                  <a:gd name="T44" fmla="*/ 228 w 239"/>
                  <a:gd name="T45" fmla="*/ 73 h 115"/>
                  <a:gd name="T46" fmla="*/ 220 w 239"/>
                  <a:gd name="T47" fmla="*/ 77 h 115"/>
                  <a:gd name="T48" fmla="*/ 209 w 239"/>
                  <a:gd name="T49" fmla="*/ 81 h 115"/>
                  <a:gd name="T50" fmla="*/ 197 w 239"/>
                  <a:gd name="T51" fmla="*/ 87 h 115"/>
                  <a:gd name="T52" fmla="*/ 184 w 239"/>
                  <a:gd name="T53" fmla="*/ 93 h 115"/>
                  <a:gd name="T54" fmla="*/ 172 w 239"/>
                  <a:gd name="T55" fmla="*/ 98 h 115"/>
                  <a:gd name="T56" fmla="*/ 160 w 239"/>
                  <a:gd name="T57" fmla="*/ 104 h 115"/>
                  <a:gd name="T58" fmla="*/ 149 w 239"/>
                  <a:gd name="T59" fmla="*/ 109 h 115"/>
                  <a:gd name="T60" fmla="*/ 141 w 239"/>
                  <a:gd name="T61" fmla="*/ 112 h 115"/>
                  <a:gd name="T62" fmla="*/ 134 w 239"/>
                  <a:gd name="T63" fmla="*/ 114 h 115"/>
                  <a:gd name="T64" fmla="*/ 130 w 239"/>
                  <a:gd name="T65" fmla="*/ 115 h 115"/>
                  <a:gd name="T66" fmla="*/ 125 w 239"/>
                  <a:gd name="T67" fmla="*/ 114 h 115"/>
                  <a:gd name="T68" fmla="*/ 120 w 239"/>
                  <a:gd name="T69" fmla="*/ 112 h 115"/>
                  <a:gd name="T70" fmla="*/ 114 w 239"/>
                  <a:gd name="T71" fmla="*/ 110 h 115"/>
                  <a:gd name="T72" fmla="*/ 105 w 239"/>
                  <a:gd name="T73" fmla="*/ 104 h 115"/>
                  <a:gd name="T74" fmla="*/ 94 w 239"/>
                  <a:gd name="T75" fmla="*/ 98 h 115"/>
                  <a:gd name="T76" fmla="*/ 80 w 239"/>
                  <a:gd name="T77" fmla="*/ 91 h 115"/>
                  <a:gd name="T78" fmla="*/ 66 w 239"/>
                  <a:gd name="T79" fmla="*/ 82 h 115"/>
                  <a:gd name="T80" fmla="*/ 51 w 239"/>
                  <a:gd name="T81" fmla="*/ 74 h 115"/>
                  <a:gd name="T82" fmla="*/ 36 w 239"/>
                  <a:gd name="T83" fmla="*/ 67 h 115"/>
                  <a:gd name="T84" fmla="*/ 23 w 239"/>
                  <a:gd name="T85" fmla="*/ 61 h 115"/>
                  <a:gd name="T86" fmla="*/ 14 w 239"/>
                  <a:gd name="T87" fmla="*/ 55 h 115"/>
                  <a:gd name="T88" fmla="*/ 8 w 239"/>
                  <a:gd name="T89" fmla="*/ 52 h 115"/>
                  <a:gd name="T90" fmla="*/ 3 w 239"/>
                  <a:gd name="T91" fmla="*/ 50 h 115"/>
                  <a:gd name="T92" fmla="*/ 0 w 239"/>
                  <a:gd name="T93" fmla="*/ 48 h 115"/>
                  <a:gd name="T94" fmla="*/ 4 w 239"/>
                  <a:gd name="T95" fmla="*/ 44 h 11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39"/>
                  <a:gd name="T145" fmla="*/ 0 h 115"/>
                  <a:gd name="T146" fmla="*/ 239 w 239"/>
                  <a:gd name="T147" fmla="*/ 115 h 115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39" h="115">
                    <a:moveTo>
                      <a:pt x="4" y="44"/>
                    </a:moveTo>
                    <a:lnTo>
                      <a:pt x="5" y="44"/>
                    </a:lnTo>
                    <a:lnTo>
                      <a:pt x="8" y="41"/>
                    </a:lnTo>
                    <a:lnTo>
                      <a:pt x="14" y="39"/>
                    </a:lnTo>
                    <a:lnTo>
                      <a:pt x="18" y="37"/>
                    </a:lnTo>
                    <a:lnTo>
                      <a:pt x="24" y="34"/>
                    </a:lnTo>
                    <a:lnTo>
                      <a:pt x="31" y="32"/>
                    </a:lnTo>
                    <a:lnTo>
                      <a:pt x="37" y="27"/>
                    </a:lnTo>
                    <a:lnTo>
                      <a:pt x="45" y="23"/>
                    </a:lnTo>
                    <a:lnTo>
                      <a:pt x="52" y="20"/>
                    </a:lnTo>
                    <a:lnTo>
                      <a:pt x="61" y="17"/>
                    </a:lnTo>
                    <a:lnTo>
                      <a:pt x="67" y="14"/>
                    </a:lnTo>
                    <a:lnTo>
                      <a:pt x="73" y="10"/>
                    </a:lnTo>
                    <a:lnTo>
                      <a:pt x="80" y="6"/>
                    </a:lnTo>
                    <a:lnTo>
                      <a:pt x="85" y="4"/>
                    </a:lnTo>
                    <a:lnTo>
                      <a:pt x="89" y="2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6" y="0"/>
                    </a:lnTo>
                    <a:lnTo>
                      <a:pt x="97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3" y="1"/>
                    </a:lnTo>
                    <a:lnTo>
                      <a:pt x="104" y="1"/>
                    </a:lnTo>
                    <a:lnTo>
                      <a:pt x="105" y="1"/>
                    </a:lnTo>
                    <a:lnTo>
                      <a:pt x="106" y="2"/>
                    </a:lnTo>
                    <a:lnTo>
                      <a:pt x="108" y="2"/>
                    </a:lnTo>
                    <a:lnTo>
                      <a:pt x="110" y="3"/>
                    </a:lnTo>
                    <a:lnTo>
                      <a:pt x="112" y="4"/>
                    </a:lnTo>
                    <a:lnTo>
                      <a:pt x="114" y="5"/>
                    </a:lnTo>
                    <a:lnTo>
                      <a:pt x="118" y="7"/>
                    </a:lnTo>
                    <a:lnTo>
                      <a:pt x="123" y="8"/>
                    </a:lnTo>
                    <a:lnTo>
                      <a:pt x="126" y="10"/>
                    </a:lnTo>
                    <a:lnTo>
                      <a:pt x="130" y="14"/>
                    </a:lnTo>
                    <a:lnTo>
                      <a:pt x="134" y="16"/>
                    </a:lnTo>
                    <a:lnTo>
                      <a:pt x="140" y="18"/>
                    </a:lnTo>
                    <a:lnTo>
                      <a:pt x="145" y="20"/>
                    </a:lnTo>
                    <a:lnTo>
                      <a:pt x="149" y="22"/>
                    </a:lnTo>
                    <a:lnTo>
                      <a:pt x="155" y="24"/>
                    </a:lnTo>
                    <a:lnTo>
                      <a:pt x="161" y="26"/>
                    </a:lnTo>
                    <a:lnTo>
                      <a:pt x="166" y="31"/>
                    </a:lnTo>
                    <a:lnTo>
                      <a:pt x="172" y="33"/>
                    </a:lnTo>
                    <a:lnTo>
                      <a:pt x="178" y="35"/>
                    </a:lnTo>
                    <a:lnTo>
                      <a:pt x="183" y="37"/>
                    </a:lnTo>
                    <a:lnTo>
                      <a:pt x="188" y="40"/>
                    </a:lnTo>
                    <a:lnTo>
                      <a:pt x="194" y="42"/>
                    </a:lnTo>
                    <a:lnTo>
                      <a:pt x="198" y="45"/>
                    </a:lnTo>
                    <a:lnTo>
                      <a:pt x="204" y="48"/>
                    </a:lnTo>
                    <a:lnTo>
                      <a:pt x="209" y="50"/>
                    </a:lnTo>
                    <a:lnTo>
                      <a:pt x="213" y="52"/>
                    </a:lnTo>
                    <a:lnTo>
                      <a:pt x="217" y="53"/>
                    </a:lnTo>
                    <a:lnTo>
                      <a:pt x="220" y="55"/>
                    </a:lnTo>
                    <a:lnTo>
                      <a:pt x="223" y="56"/>
                    </a:lnTo>
                    <a:lnTo>
                      <a:pt x="226" y="57"/>
                    </a:lnTo>
                    <a:lnTo>
                      <a:pt x="228" y="58"/>
                    </a:lnTo>
                    <a:lnTo>
                      <a:pt x="232" y="60"/>
                    </a:lnTo>
                    <a:lnTo>
                      <a:pt x="233" y="61"/>
                    </a:lnTo>
                    <a:lnTo>
                      <a:pt x="234" y="61"/>
                    </a:lnTo>
                    <a:lnTo>
                      <a:pt x="236" y="62"/>
                    </a:lnTo>
                    <a:lnTo>
                      <a:pt x="237" y="63"/>
                    </a:lnTo>
                    <a:lnTo>
                      <a:pt x="238" y="64"/>
                    </a:lnTo>
                    <a:lnTo>
                      <a:pt x="239" y="67"/>
                    </a:lnTo>
                    <a:lnTo>
                      <a:pt x="238" y="69"/>
                    </a:lnTo>
                    <a:lnTo>
                      <a:pt x="236" y="69"/>
                    </a:lnTo>
                    <a:lnTo>
                      <a:pt x="235" y="71"/>
                    </a:lnTo>
                    <a:lnTo>
                      <a:pt x="234" y="71"/>
                    </a:lnTo>
                    <a:lnTo>
                      <a:pt x="232" y="72"/>
                    </a:lnTo>
                    <a:lnTo>
                      <a:pt x="228" y="73"/>
                    </a:lnTo>
                    <a:lnTo>
                      <a:pt x="225" y="74"/>
                    </a:lnTo>
                    <a:lnTo>
                      <a:pt x="223" y="76"/>
                    </a:lnTo>
                    <a:lnTo>
                      <a:pt x="220" y="77"/>
                    </a:lnTo>
                    <a:lnTo>
                      <a:pt x="217" y="79"/>
                    </a:lnTo>
                    <a:lnTo>
                      <a:pt x="213" y="80"/>
                    </a:lnTo>
                    <a:lnTo>
                      <a:pt x="209" y="81"/>
                    </a:lnTo>
                    <a:lnTo>
                      <a:pt x="205" y="83"/>
                    </a:lnTo>
                    <a:lnTo>
                      <a:pt x="202" y="84"/>
                    </a:lnTo>
                    <a:lnTo>
                      <a:pt x="197" y="87"/>
                    </a:lnTo>
                    <a:lnTo>
                      <a:pt x="192" y="89"/>
                    </a:lnTo>
                    <a:lnTo>
                      <a:pt x="190" y="91"/>
                    </a:lnTo>
                    <a:lnTo>
                      <a:pt x="184" y="93"/>
                    </a:lnTo>
                    <a:lnTo>
                      <a:pt x="180" y="94"/>
                    </a:lnTo>
                    <a:lnTo>
                      <a:pt x="176" y="96"/>
                    </a:lnTo>
                    <a:lnTo>
                      <a:pt x="172" y="98"/>
                    </a:lnTo>
                    <a:lnTo>
                      <a:pt x="167" y="99"/>
                    </a:lnTo>
                    <a:lnTo>
                      <a:pt x="164" y="101"/>
                    </a:lnTo>
                    <a:lnTo>
                      <a:pt x="160" y="104"/>
                    </a:lnTo>
                    <a:lnTo>
                      <a:pt x="157" y="104"/>
                    </a:lnTo>
                    <a:lnTo>
                      <a:pt x="152" y="107"/>
                    </a:lnTo>
                    <a:lnTo>
                      <a:pt x="149" y="109"/>
                    </a:lnTo>
                    <a:lnTo>
                      <a:pt x="146" y="110"/>
                    </a:lnTo>
                    <a:lnTo>
                      <a:pt x="143" y="111"/>
                    </a:lnTo>
                    <a:lnTo>
                      <a:pt x="141" y="112"/>
                    </a:lnTo>
                    <a:lnTo>
                      <a:pt x="137" y="113"/>
                    </a:lnTo>
                    <a:lnTo>
                      <a:pt x="135" y="114"/>
                    </a:lnTo>
                    <a:lnTo>
                      <a:pt x="134" y="114"/>
                    </a:lnTo>
                    <a:lnTo>
                      <a:pt x="132" y="115"/>
                    </a:lnTo>
                    <a:lnTo>
                      <a:pt x="131" y="115"/>
                    </a:lnTo>
                    <a:lnTo>
                      <a:pt x="130" y="115"/>
                    </a:lnTo>
                    <a:lnTo>
                      <a:pt x="128" y="115"/>
                    </a:lnTo>
                    <a:lnTo>
                      <a:pt x="127" y="114"/>
                    </a:lnTo>
                    <a:lnTo>
                      <a:pt x="125" y="114"/>
                    </a:lnTo>
                    <a:lnTo>
                      <a:pt x="124" y="113"/>
                    </a:lnTo>
                    <a:lnTo>
                      <a:pt x="121" y="113"/>
                    </a:lnTo>
                    <a:lnTo>
                      <a:pt x="120" y="112"/>
                    </a:lnTo>
                    <a:lnTo>
                      <a:pt x="118" y="112"/>
                    </a:lnTo>
                    <a:lnTo>
                      <a:pt x="116" y="111"/>
                    </a:lnTo>
                    <a:lnTo>
                      <a:pt x="114" y="110"/>
                    </a:lnTo>
                    <a:lnTo>
                      <a:pt x="112" y="108"/>
                    </a:lnTo>
                    <a:lnTo>
                      <a:pt x="109" y="107"/>
                    </a:lnTo>
                    <a:lnTo>
                      <a:pt x="105" y="104"/>
                    </a:lnTo>
                    <a:lnTo>
                      <a:pt x="102" y="102"/>
                    </a:lnTo>
                    <a:lnTo>
                      <a:pt x="97" y="100"/>
                    </a:lnTo>
                    <a:lnTo>
                      <a:pt x="94" y="98"/>
                    </a:lnTo>
                    <a:lnTo>
                      <a:pt x="89" y="96"/>
                    </a:lnTo>
                    <a:lnTo>
                      <a:pt x="85" y="94"/>
                    </a:lnTo>
                    <a:lnTo>
                      <a:pt x="80" y="91"/>
                    </a:lnTo>
                    <a:lnTo>
                      <a:pt x="74" y="88"/>
                    </a:lnTo>
                    <a:lnTo>
                      <a:pt x="70" y="85"/>
                    </a:lnTo>
                    <a:lnTo>
                      <a:pt x="66" y="82"/>
                    </a:lnTo>
                    <a:lnTo>
                      <a:pt x="61" y="80"/>
                    </a:lnTo>
                    <a:lnTo>
                      <a:pt x="55" y="78"/>
                    </a:lnTo>
                    <a:lnTo>
                      <a:pt x="51" y="74"/>
                    </a:lnTo>
                    <a:lnTo>
                      <a:pt x="45" y="72"/>
                    </a:lnTo>
                    <a:lnTo>
                      <a:pt x="40" y="69"/>
                    </a:lnTo>
                    <a:lnTo>
                      <a:pt x="36" y="67"/>
                    </a:lnTo>
                    <a:lnTo>
                      <a:pt x="32" y="65"/>
                    </a:lnTo>
                    <a:lnTo>
                      <a:pt x="27" y="63"/>
                    </a:lnTo>
                    <a:lnTo>
                      <a:pt x="23" y="61"/>
                    </a:lnTo>
                    <a:lnTo>
                      <a:pt x="20" y="58"/>
                    </a:lnTo>
                    <a:lnTo>
                      <a:pt x="17" y="56"/>
                    </a:lnTo>
                    <a:lnTo>
                      <a:pt x="14" y="55"/>
                    </a:lnTo>
                    <a:lnTo>
                      <a:pt x="11" y="54"/>
                    </a:lnTo>
                    <a:lnTo>
                      <a:pt x="8" y="53"/>
                    </a:lnTo>
                    <a:lnTo>
                      <a:pt x="8" y="52"/>
                    </a:lnTo>
                    <a:lnTo>
                      <a:pt x="6" y="51"/>
                    </a:lnTo>
                    <a:lnTo>
                      <a:pt x="5" y="51"/>
                    </a:lnTo>
                    <a:lnTo>
                      <a:pt x="3" y="50"/>
                    </a:lnTo>
                    <a:lnTo>
                      <a:pt x="2" y="48"/>
                    </a:lnTo>
                    <a:lnTo>
                      <a:pt x="1" y="48"/>
                    </a:lnTo>
                    <a:lnTo>
                      <a:pt x="0" y="48"/>
                    </a:lnTo>
                    <a:lnTo>
                      <a:pt x="0" y="46"/>
                    </a:lnTo>
                    <a:lnTo>
                      <a:pt x="2" y="45"/>
                    </a:lnTo>
                    <a:lnTo>
                      <a:pt x="4" y="44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75" name="Freeform 944"/>
              <p:cNvSpPr>
                <a:spLocks/>
              </p:cNvSpPr>
              <p:nvPr/>
            </p:nvSpPr>
            <p:spPr bwMode="auto">
              <a:xfrm>
                <a:off x="3014" y="1968"/>
                <a:ext cx="90" cy="45"/>
              </a:xfrm>
              <a:custGeom>
                <a:avLst/>
                <a:gdLst>
                  <a:gd name="T0" fmla="*/ 89 w 90"/>
                  <a:gd name="T1" fmla="*/ 0 h 45"/>
                  <a:gd name="T2" fmla="*/ 89 w 90"/>
                  <a:gd name="T3" fmla="*/ 0 h 45"/>
                  <a:gd name="T4" fmla="*/ 85 w 90"/>
                  <a:gd name="T5" fmla="*/ 1 h 45"/>
                  <a:gd name="T6" fmla="*/ 81 w 90"/>
                  <a:gd name="T7" fmla="*/ 3 h 45"/>
                  <a:gd name="T8" fmla="*/ 77 w 90"/>
                  <a:gd name="T9" fmla="*/ 5 h 45"/>
                  <a:gd name="T10" fmla="*/ 69 w 90"/>
                  <a:gd name="T11" fmla="*/ 8 h 45"/>
                  <a:gd name="T12" fmla="*/ 63 w 90"/>
                  <a:gd name="T13" fmla="*/ 13 h 45"/>
                  <a:gd name="T14" fmla="*/ 55 w 90"/>
                  <a:gd name="T15" fmla="*/ 16 h 45"/>
                  <a:gd name="T16" fmla="*/ 49 w 90"/>
                  <a:gd name="T17" fmla="*/ 19 h 45"/>
                  <a:gd name="T18" fmla="*/ 42 w 90"/>
                  <a:gd name="T19" fmla="*/ 22 h 45"/>
                  <a:gd name="T20" fmla="*/ 34 w 90"/>
                  <a:gd name="T21" fmla="*/ 26 h 45"/>
                  <a:gd name="T22" fmla="*/ 28 w 90"/>
                  <a:gd name="T23" fmla="*/ 30 h 45"/>
                  <a:gd name="T24" fmla="*/ 20 w 90"/>
                  <a:gd name="T25" fmla="*/ 34 h 45"/>
                  <a:gd name="T26" fmla="*/ 15 w 90"/>
                  <a:gd name="T27" fmla="*/ 36 h 45"/>
                  <a:gd name="T28" fmla="*/ 8 w 90"/>
                  <a:gd name="T29" fmla="*/ 39 h 45"/>
                  <a:gd name="T30" fmla="*/ 4 w 90"/>
                  <a:gd name="T31" fmla="*/ 40 h 45"/>
                  <a:gd name="T32" fmla="*/ 2 w 90"/>
                  <a:gd name="T33" fmla="*/ 42 h 45"/>
                  <a:gd name="T34" fmla="*/ 0 w 90"/>
                  <a:gd name="T35" fmla="*/ 42 h 45"/>
                  <a:gd name="T36" fmla="*/ 1 w 90"/>
                  <a:gd name="T37" fmla="*/ 45 h 45"/>
                  <a:gd name="T38" fmla="*/ 2 w 90"/>
                  <a:gd name="T39" fmla="*/ 44 h 45"/>
                  <a:gd name="T40" fmla="*/ 5 w 90"/>
                  <a:gd name="T41" fmla="*/ 42 h 45"/>
                  <a:gd name="T42" fmla="*/ 11 w 90"/>
                  <a:gd name="T43" fmla="*/ 40 h 45"/>
                  <a:gd name="T44" fmla="*/ 15 w 90"/>
                  <a:gd name="T45" fmla="*/ 38 h 45"/>
                  <a:gd name="T46" fmla="*/ 21 w 90"/>
                  <a:gd name="T47" fmla="*/ 35 h 45"/>
                  <a:gd name="T48" fmla="*/ 28 w 90"/>
                  <a:gd name="T49" fmla="*/ 32 h 45"/>
                  <a:gd name="T50" fmla="*/ 35 w 90"/>
                  <a:gd name="T51" fmla="*/ 27 h 45"/>
                  <a:gd name="T52" fmla="*/ 42 w 90"/>
                  <a:gd name="T53" fmla="*/ 24 h 45"/>
                  <a:gd name="T54" fmla="*/ 50 w 90"/>
                  <a:gd name="T55" fmla="*/ 21 h 45"/>
                  <a:gd name="T56" fmla="*/ 56 w 90"/>
                  <a:gd name="T57" fmla="*/ 18 h 45"/>
                  <a:gd name="T58" fmla="*/ 63 w 90"/>
                  <a:gd name="T59" fmla="*/ 15 h 45"/>
                  <a:gd name="T60" fmla="*/ 70 w 90"/>
                  <a:gd name="T61" fmla="*/ 10 h 45"/>
                  <a:gd name="T62" fmla="*/ 77 w 90"/>
                  <a:gd name="T63" fmla="*/ 7 h 45"/>
                  <a:gd name="T64" fmla="*/ 82 w 90"/>
                  <a:gd name="T65" fmla="*/ 5 h 45"/>
                  <a:gd name="T66" fmla="*/ 86 w 90"/>
                  <a:gd name="T67" fmla="*/ 3 h 45"/>
                  <a:gd name="T68" fmla="*/ 90 w 90"/>
                  <a:gd name="T69" fmla="*/ 1 h 45"/>
                  <a:gd name="T70" fmla="*/ 89 w 90"/>
                  <a:gd name="T71" fmla="*/ 0 h 4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90"/>
                  <a:gd name="T109" fmla="*/ 0 h 45"/>
                  <a:gd name="T110" fmla="*/ 90 w 90"/>
                  <a:gd name="T111" fmla="*/ 45 h 4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90" h="45">
                    <a:moveTo>
                      <a:pt x="89" y="0"/>
                    </a:moveTo>
                    <a:lnTo>
                      <a:pt x="89" y="0"/>
                    </a:lnTo>
                    <a:lnTo>
                      <a:pt x="85" y="1"/>
                    </a:lnTo>
                    <a:lnTo>
                      <a:pt x="81" y="3"/>
                    </a:lnTo>
                    <a:lnTo>
                      <a:pt x="77" y="5"/>
                    </a:lnTo>
                    <a:lnTo>
                      <a:pt x="69" y="8"/>
                    </a:lnTo>
                    <a:lnTo>
                      <a:pt x="63" y="13"/>
                    </a:lnTo>
                    <a:lnTo>
                      <a:pt x="55" y="16"/>
                    </a:lnTo>
                    <a:lnTo>
                      <a:pt x="49" y="19"/>
                    </a:lnTo>
                    <a:lnTo>
                      <a:pt x="42" y="22"/>
                    </a:lnTo>
                    <a:lnTo>
                      <a:pt x="34" y="26"/>
                    </a:lnTo>
                    <a:lnTo>
                      <a:pt x="28" y="30"/>
                    </a:lnTo>
                    <a:lnTo>
                      <a:pt x="20" y="34"/>
                    </a:lnTo>
                    <a:lnTo>
                      <a:pt x="15" y="36"/>
                    </a:lnTo>
                    <a:lnTo>
                      <a:pt x="8" y="39"/>
                    </a:lnTo>
                    <a:lnTo>
                      <a:pt x="4" y="40"/>
                    </a:lnTo>
                    <a:lnTo>
                      <a:pt x="2" y="42"/>
                    </a:lnTo>
                    <a:lnTo>
                      <a:pt x="0" y="42"/>
                    </a:lnTo>
                    <a:lnTo>
                      <a:pt x="1" y="45"/>
                    </a:lnTo>
                    <a:lnTo>
                      <a:pt x="2" y="44"/>
                    </a:lnTo>
                    <a:lnTo>
                      <a:pt x="5" y="42"/>
                    </a:lnTo>
                    <a:lnTo>
                      <a:pt x="11" y="40"/>
                    </a:lnTo>
                    <a:lnTo>
                      <a:pt x="15" y="38"/>
                    </a:lnTo>
                    <a:lnTo>
                      <a:pt x="21" y="35"/>
                    </a:lnTo>
                    <a:lnTo>
                      <a:pt x="28" y="32"/>
                    </a:lnTo>
                    <a:lnTo>
                      <a:pt x="35" y="27"/>
                    </a:lnTo>
                    <a:lnTo>
                      <a:pt x="42" y="24"/>
                    </a:lnTo>
                    <a:lnTo>
                      <a:pt x="50" y="21"/>
                    </a:lnTo>
                    <a:lnTo>
                      <a:pt x="56" y="18"/>
                    </a:lnTo>
                    <a:lnTo>
                      <a:pt x="63" y="15"/>
                    </a:lnTo>
                    <a:lnTo>
                      <a:pt x="70" y="10"/>
                    </a:lnTo>
                    <a:lnTo>
                      <a:pt x="77" y="7"/>
                    </a:lnTo>
                    <a:lnTo>
                      <a:pt x="82" y="5"/>
                    </a:lnTo>
                    <a:lnTo>
                      <a:pt x="86" y="3"/>
                    </a:lnTo>
                    <a:lnTo>
                      <a:pt x="90" y="1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76" name="Freeform 945"/>
              <p:cNvSpPr>
                <a:spLocks/>
              </p:cNvSpPr>
              <p:nvPr/>
            </p:nvSpPr>
            <p:spPr bwMode="auto">
              <a:xfrm>
                <a:off x="3103" y="1967"/>
                <a:ext cx="13" cy="3"/>
              </a:xfrm>
              <a:custGeom>
                <a:avLst/>
                <a:gdLst>
                  <a:gd name="T0" fmla="*/ 13 w 13"/>
                  <a:gd name="T1" fmla="*/ 1 h 3"/>
                  <a:gd name="T2" fmla="*/ 13 w 13"/>
                  <a:gd name="T3" fmla="*/ 1 h 3"/>
                  <a:gd name="T4" fmla="*/ 12 w 13"/>
                  <a:gd name="T5" fmla="*/ 1 h 3"/>
                  <a:gd name="T6" fmla="*/ 10 w 13"/>
                  <a:gd name="T7" fmla="*/ 1 h 3"/>
                  <a:gd name="T8" fmla="*/ 9 w 13"/>
                  <a:gd name="T9" fmla="*/ 0 h 3"/>
                  <a:gd name="T10" fmla="*/ 6 w 13"/>
                  <a:gd name="T11" fmla="*/ 0 h 3"/>
                  <a:gd name="T12" fmla="*/ 5 w 13"/>
                  <a:gd name="T13" fmla="*/ 0 h 3"/>
                  <a:gd name="T14" fmla="*/ 3 w 13"/>
                  <a:gd name="T15" fmla="*/ 0 h 3"/>
                  <a:gd name="T16" fmla="*/ 2 w 13"/>
                  <a:gd name="T17" fmla="*/ 0 h 3"/>
                  <a:gd name="T18" fmla="*/ 0 w 13"/>
                  <a:gd name="T19" fmla="*/ 1 h 3"/>
                  <a:gd name="T20" fmla="*/ 0 w 13"/>
                  <a:gd name="T21" fmla="*/ 2 h 3"/>
                  <a:gd name="T22" fmla="*/ 2 w 13"/>
                  <a:gd name="T23" fmla="*/ 2 h 3"/>
                  <a:gd name="T24" fmla="*/ 3 w 13"/>
                  <a:gd name="T25" fmla="*/ 2 h 3"/>
                  <a:gd name="T26" fmla="*/ 5 w 13"/>
                  <a:gd name="T27" fmla="*/ 2 h 3"/>
                  <a:gd name="T28" fmla="*/ 6 w 13"/>
                  <a:gd name="T29" fmla="*/ 2 h 3"/>
                  <a:gd name="T30" fmla="*/ 9 w 13"/>
                  <a:gd name="T31" fmla="*/ 2 h 3"/>
                  <a:gd name="T32" fmla="*/ 10 w 13"/>
                  <a:gd name="T33" fmla="*/ 2 h 3"/>
                  <a:gd name="T34" fmla="*/ 11 w 13"/>
                  <a:gd name="T35" fmla="*/ 3 h 3"/>
                  <a:gd name="T36" fmla="*/ 12 w 13"/>
                  <a:gd name="T37" fmla="*/ 3 h 3"/>
                  <a:gd name="T38" fmla="*/ 13 w 13"/>
                  <a:gd name="T39" fmla="*/ 1 h 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3"/>
                  <a:gd name="T62" fmla="*/ 13 w 13"/>
                  <a:gd name="T63" fmla="*/ 3 h 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3">
                    <a:moveTo>
                      <a:pt x="13" y="1"/>
                    </a:moveTo>
                    <a:lnTo>
                      <a:pt x="13" y="1"/>
                    </a:lnTo>
                    <a:lnTo>
                      <a:pt x="12" y="1"/>
                    </a:lnTo>
                    <a:lnTo>
                      <a:pt x="10" y="1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6" y="2"/>
                    </a:lnTo>
                    <a:lnTo>
                      <a:pt x="9" y="2"/>
                    </a:lnTo>
                    <a:lnTo>
                      <a:pt x="10" y="2"/>
                    </a:lnTo>
                    <a:lnTo>
                      <a:pt x="11" y="3"/>
                    </a:lnTo>
                    <a:lnTo>
                      <a:pt x="12" y="3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77" name="Freeform 946"/>
              <p:cNvSpPr>
                <a:spLocks/>
              </p:cNvSpPr>
              <p:nvPr/>
            </p:nvSpPr>
            <p:spPr bwMode="auto">
              <a:xfrm>
                <a:off x="3115" y="1969"/>
                <a:ext cx="128" cy="60"/>
              </a:xfrm>
              <a:custGeom>
                <a:avLst/>
                <a:gdLst>
                  <a:gd name="T0" fmla="*/ 128 w 128"/>
                  <a:gd name="T1" fmla="*/ 59 h 60"/>
                  <a:gd name="T2" fmla="*/ 124 w 128"/>
                  <a:gd name="T3" fmla="*/ 56 h 60"/>
                  <a:gd name="T4" fmla="*/ 119 w 128"/>
                  <a:gd name="T5" fmla="*/ 54 h 60"/>
                  <a:gd name="T6" fmla="*/ 111 w 128"/>
                  <a:gd name="T7" fmla="*/ 51 h 60"/>
                  <a:gd name="T8" fmla="*/ 104 w 128"/>
                  <a:gd name="T9" fmla="*/ 47 h 60"/>
                  <a:gd name="T10" fmla="*/ 94 w 128"/>
                  <a:gd name="T11" fmla="*/ 43 h 60"/>
                  <a:gd name="T12" fmla="*/ 84 w 128"/>
                  <a:gd name="T13" fmla="*/ 38 h 60"/>
                  <a:gd name="T14" fmla="*/ 73 w 128"/>
                  <a:gd name="T15" fmla="*/ 33 h 60"/>
                  <a:gd name="T16" fmla="*/ 62 w 128"/>
                  <a:gd name="T17" fmla="*/ 28 h 60"/>
                  <a:gd name="T18" fmla="*/ 51 w 128"/>
                  <a:gd name="T19" fmla="*/ 22 h 60"/>
                  <a:gd name="T20" fmla="*/ 41 w 128"/>
                  <a:gd name="T21" fmla="*/ 18 h 60"/>
                  <a:gd name="T22" fmla="*/ 30 w 128"/>
                  <a:gd name="T23" fmla="*/ 13 h 60"/>
                  <a:gd name="T24" fmla="*/ 22 w 128"/>
                  <a:gd name="T25" fmla="*/ 8 h 60"/>
                  <a:gd name="T26" fmla="*/ 14 w 128"/>
                  <a:gd name="T27" fmla="*/ 5 h 60"/>
                  <a:gd name="T28" fmla="*/ 8 w 128"/>
                  <a:gd name="T29" fmla="*/ 3 h 60"/>
                  <a:gd name="T30" fmla="*/ 4 w 128"/>
                  <a:gd name="T31" fmla="*/ 1 h 60"/>
                  <a:gd name="T32" fmla="*/ 0 w 128"/>
                  <a:gd name="T33" fmla="*/ 2 h 60"/>
                  <a:gd name="T34" fmla="*/ 2 w 128"/>
                  <a:gd name="T35" fmla="*/ 3 h 60"/>
                  <a:gd name="T36" fmla="*/ 7 w 128"/>
                  <a:gd name="T37" fmla="*/ 4 h 60"/>
                  <a:gd name="T38" fmla="*/ 13 w 128"/>
                  <a:gd name="T39" fmla="*/ 7 h 60"/>
                  <a:gd name="T40" fmla="*/ 21 w 128"/>
                  <a:gd name="T41" fmla="*/ 10 h 60"/>
                  <a:gd name="T42" fmla="*/ 29 w 128"/>
                  <a:gd name="T43" fmla="*/ 16 h 60"/>
                  <a:gd name="T44" fmla="*/ 40 w 128"/>
                  <a:gd name="T45" fmla="*/ 20 h 60"/>
                  <a:gd name="T46" fmla="*/ 50 w 128"/>
                  <a:gd name="T47" fmla="*/ 24 h 60"/>
                  <a:gd name="T48" fmla="*/ 61 w 128"/>
                  <a:gd name="T49" fmla="*/ 29 h 60"/>
                  <a:gd name="T50" fmla="*/ 72 w 128"/>
                  <a:gd name="T51" fmla="*/ 35 h 60"/>
                  <a:gd name="T52" fmla="*/ 83 w 128"/>
                  <a:gd name="T53" fmla="*/ 39 h 60"/>
                  <a:gd name="T54" fmla="*/ 94 w 128"/>
                  <a:gd name="T55" fmla="*/ 44 h 60"/>
                  <a:gd name="T56" fmla="*/ 103 w 128"/>
                  <a:gd name="T57" fmla="*/ 49 h 60"/>
                  <a:gd name="T58" fmla="*/ 110 w 128"/>
                  <a:gd name="T59" fmla="*/ 53 h 60"/>
                  <a:gd name="T60" fmla="*/ 119 w 128"/>
                  <a:gd name="T61" fmla="*/ 55 h 60"/>
                  <a:gd name="T62" fmla="*/ 123 w 128"/>
                  <a:gd name="T63" fmla="*/ 59 h 60"/>
                  <a:gd name="T64" fmla="*/ 126 w 128"/>
                  <a:gd name="T65" fmla="*/ 60 h 6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8"/>
                  <a:gd name="T100" fmla="*/ 0 h 60"/>
                  <a:gd name="T101" fmla="*/ 128 w 128"/>
                  <a:gd name="T102" fmla="*/ 60 h 6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8" h="60">
                    <a:moveTo>
                      <a:pt x="128" y="59"/>
                    </a:moveTo>
                    <a:lnTo>
                      <a:pt x="128" y="59"/>
                    </a:lnTo>
                    <a:lnTo>
                      <a:pt x="126" y="57"/>
                    </a:lnTo>
                    <a:lnTo>
                      <a:pt x="124" y="56"/>
                    </a:lnTo>
                    <a:lnTo>
                      <a:pt x="122" y="55"/>
                    </a:lnTo>
                    <a:lnTo>
                      <a:pt x="119" y="54"/>
                    </a:lnTo>
                    <a:lnTo>
                      <a:pt x="115" y="53"/>
                    </a:lnTo>
                    <a:lnTo>
                      <a:pt x="111" y="51"/>
                    </a:lnTo>
                    <a:lnTo>
                      <a:pt x="108" y="50"/>
                    </a:lnTo>
                    <a:lnTo>
                      <a:pt x="104" y="47"/>
                    </a:lnTo>
                    <a:lnTo>
                      <a:pt x="99" y="45"/>
                    </a:lnTo>
                    <a:lnTo>
                      <a:pt x="94" y="43"/>
                    </a:lnTo>
                    <a:lnTo>
                      <a:pt x="89" y="40"/>
                    </a:lnTo>
                    <a:lnTo>
                      <a:pt x="84" y="38"/>
                    </a:lnTo>
                    <a:lnTo>
                      <a:pt x="78" y="36"/>
                    </a:lnTo>
                    <a:lnTo>
                      <a:pt x="73" y="33"/>
                    </a:lnTo>
                    <a:lnTo>
                      <a:pt x="68" y="31"/>
                    </a:lnTo>
                    <a:lnTo>
                      <a:pt x="62" y="28"/>
                    </a:lnTo>
                    <a:lnTo>
                      <a:pt x="57" y="25"/>
                    </a:lnTo>
                    <a:lnTo>
                      <a:pt x="51" y="22"/>
                    </a:lnTo>
                    <a:lnTo>
                      <a:pt x="45" y="20"/>
                    </a:lnTo>
                    <a:lnTo>
                      <a:pt x="41" y="18"/>
                    </a:lnTo>
                    <a:lnTo>
                      <a:pt x="36" y="16"/>
                    </a:lnTo>
                    <a:lnTo>
                      <a:pt x="30" y="13"/>
                    </a:lnTo>
                    <a:lnTo>
                      <a:pt x="26" y="10"/>
                    </a:lnTo>
                    <a:lnTo>
                      <a:pt x="22" y="8"/>
                    </a:lnTo>
                    <a:lnTo>
                      <a:pt x="17" y="7"/>
                    </a:lnTo>
                    <a:lnTo>
                      <a:pt x="14" y="5"/>
                    </a:lnTo>
                    <a:lnTo>
                      <a:pt x="11" y="4"/>
                    </a:lnTo>
                    <a:lnTo>
                      <a:pt x="8" y="3"/>
                    </a:lnTo>
                    <a:lnTo>
                      <a:pt x="5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2" y="3"/>
                    </a:lnTo>
                    <a:lnTo>
                      <a:pt x="5" y="3"/>
                    </a:lnTo>
                    <a:lnTo>
                      <a:pt x="7" y="4"/>
                    </a:lnTo>
                    <a:lnTo>
                      <a:pt x="9" y="5"/>
                    </a:lnTo>
                    <a:lnTo>
                      <a:pt x="13" y="7"/>
                    </a:lnTo>
                    <a:lnTo>
                      <a:pt x="17" y="8"/>
                    </a:lnTo>
                    <a:lnTo>
                      <a:pt x="21" y="10"/>
                    </a:lnTo>
                    <a:lnTo>
                      <a:pt x="25" y="13"/>
                    </a:lnTo>
                    <a:lnTo>
                      <a:pt x="29" y="16"/>
                    </a:lnTo>
                    <a:lnTo>
                      <a:pt x="36" y="18"/>
                    </a:lnTo>
                    <a:lnTo>
                      <a:pt x="40" y="20"/>
                    </a:lnTo>
                    <a:lnTo>
                      <a:pt x="45" y="22"/>
                    </a:lnTo>
                    <a:lnTo>
                      <a:pt x="50" y="24"/>
                    </a:lnTo>
                    <a:lnTo>
                      <a:pt x="56" y="26"/>
                    </a:lnTo>
                    <a:lnTo>
                      <a:pt x="61" y="29"/>
                    </a:lnTo>
                    <a:lnTo>
                      <a:pt x="67" y="33"/>
                    </a:lnTo>
                    <a:lnTo>
                      <a:pt x="72" y="35"/>
                    </a:lnTo>
                    <a:lnTo>
                      <a:pt x="78" y="37"/>
                    </a:lnTo>
                    <a:lnTo>
                      <a:pt x="83" y="39"/>
                    </a:lnTo>
                    <a:lnTo>
                      <a:pt x="88" y="41"/>
                    </a:lnTo>
                    <a:lnTo>
                      <a:pt x="94" y="44"/>
                    </a:lnTo>
                    <a:lnTo>
                      <a:pt x="99" y="47"/>
                    </a:lnTo>
                    <a:lnTo>
                      <a:pt x="103" y="49"/>
                    </a:lnTo>
                    <a:lnTo>
                      <a:pt x="107" y="51"/>
                    </a:lnTo>
                    <a:lnTo>
                      <a:pt x="110" y="53"/>
                    </a:lnTo>
                    <a:lnTo>
                      <a:pt x="115" y="54"/>
                    </a:lnTo>
                    <a:lnTo>
                      <a:pt x="119" y="55"/>
                    </a:lnTo>
                    <a:lnTo>
                      <a:pt x="121" y="57"/>
                    </a:lnTo>
                    <a:lnTo>
                      <a:pt x="123" y="59"/>
                    </a:lnTo>
                    <a:lnTo>
                      <a:pt x="125" y="59"/>
                    </a:lnTo>
                    <a:lnTo>
                      <a:pt x="126" y="60"/>
                    </a:lnTo>
                    <a:lnTo>
                      <a:pt x="128" y="59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78" name="Freeform 947"/>
              <p:cNvSpPr>
                <a:spLocks/>
              </p:cNvSpPr>
              <p:nvPr/>
            </p:nvSpPr>
            <p:spPr bwMode="auto">
              <a:xfrm>
                <a:off x="3241" y="2028"/>
                <a:ext cx="9" cy="11"/>
              </a:xfrm>
              <a:custGeom>
                <a:avLst/>
                <a:gdLst>
                  <a:gd name="T0" fmla="*/ 5 w 9"/>
                  <a:gd name="T1" fmla="*/ 11 h 11"/>
                  <a:gd name="T2" fmla="*/ 5 w 9"/>
                  <a:gd name="T3" fmla="*/ 11 h 11"/>
                  <a:gd name="T4" fmla="*/ 8 w 9"/>
                  <a:gd name="T5" fmla="*/ 10 h 11"/>
                  <a:gd name="T6" fmla="*/ 9 w 9"/>
                  <a:gd name="T7" fmla="*/ 8 h 11"/>
                  <a:gd name="T8" fmla="*/ 9 w 9"/>
                  <a:gd name="T9" fmla="*/ 7 h 11"/>
                  <a:gd name="T10" fmla="*/ 8 w 9"/>
                  <a:gd name="T11" fmla="*/ 4 h 11"/>
                  <a:gd name="T12" fmla="*/ 7 w 9"/>
                  <a:gd name="T13" fmla="*/ 3 h 11"/>
                  <a:gd name="T14" fmla="*/ 5 w 9"/>
                  <a:gd name="T15" fmla="*/ 2 h 11"/>
                  <a:gd name="T16" fmla="*/ 3 w 9"/>
                  <a:gd name="T17" fmla="*/ 1 h 11"/>
                  <a:gd name="T18" fmla="*/ 2 w 9"/>
                  <a:gd name="T19" fmla="*/ 0 h 11"/>
                  <a:gd name="T20" fmla="*/ 0 w 9"/>
                  <a:gd name="T21" fmla="*/ 1 h 11"/>
                  <a:gd name="T22" fmla="*/ 2 w 9"/>
                  <a:gd name="T23" fmla="*/ 2 h 11"/>
                  <a:gd name="T24" fmla="*/ 4 w 9"/>
                  <a:gd name="T25" fmla="*/ 3 h 11"/>
                  <a:gd name="T26" fmla="*/ 5 w 9"/>
                  <a:gd name="T27" fmla="*/ 4 h 11"/>
                  <a:gd name="T28" fmla="*/ 7 w 9"/>
                  <a:gd name="T29" fmla="*/ 5 h 11"/>
                  <a:gd name="T30" fmla="*/ 7 w 9"/>
                  <a:gd name="T31" fmla="*/ 7 h 11"/>
                  <a:gd name="T32" fmla="*/ 7 w 9"/>
                  <a:gd name="T33" fmla="*/ 8 h 11"/>
                  <a:gd name="T34" fmla="*/ 4 w 9"/>
                  <a:gd name="T35" fmla="*/ 10 h 11"/>
                  <a:gd name="T36" fmla="*/ 5 w 9"/>
                  <a:gd name="T37" fmla="*/ 11 h 1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11"/>
                  <a:gd name="T59" fmla="*/ 9 w 9"/>
                  <a:gd name="T60" fmla="*/ 11 h 1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11">
                    <a:moveTo>
                      <a:pt x="5" y="11"/>
                    </a:moveTo>
                    <a:lnTo>
                      <a:pt x="5" y="11"/>
                    </a:lnTo>
                    <a:lnTo>
                      <a:pt x="8" y="10"/>
                    </a:lnTo>
                    <a:lnTo>
                      <a:pt x="9" y="8"/>
                    </a:lnTo>
                    <a:lnTo>
                      <a:pt x="9" y="7"/>
                    </a:lnTo>
                    <a:lnTo>
                      <a:pt x="8" y="4"/>
                    </a:lnTo>
                    <a:lnTo>
                      <a:pt x="7" y="3"/>
                    </a:lnTo>
                    <a:lnTo>
                      <a:pt x="5" y="2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4"/>
                    </a:lnTo>
                    <a:lnTo>
                      <a:pt x="7" y="5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4" y="10"/>
                    </a:lnTo>
                    <a:lnTo>
                      <a:pt x="5" y="1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79" name="Freeform 948"/>
              <p:cNvSpPr>
                <a:spLocks/>
              </p:cNvSpPr>
              <p:nvPr/>
            </p:nvSpPr>
            <p:spPr bwMode="auto">
              <a:xfrm>
                <a:off x="3143" y="2037"/>
                <a:ext cx="103" cy="46"/>
              </a:xfrm>
              <a:custGeom>
                <a:avLst/>
                <a:gdLst>
                  <a:gd name="T0" fmla="*/ 1 w 103"/>
                  <a:gd name="T1" fmla="*/ 46 h 46"/>
                  <a:gd name="T2" fmla="*/ 3 w 103"/>
                  <a:gd name="T3" fmla="*/ 45 h 46"/>
                  <a:gd name="T4" fmla="*/ 9 w 103"/>
                  <a:gd name="T5" fmla="*/ 43 h 46"/>
                  <a:gd name="T6" fmla="*/ 14 w 103"/>
                  <a:gd name="T7" fmla="*/ 41 h 46"/>
                  <a:gd name="T8" fmla="*/ 20 w 103"/>
                  <a:gd name="T9" fmla="*/ 38 h 46"/>
                  <a:gd name="T10" fmla="*/ 27 w 103"/>
                  <a:gd name="T11" fmla="*/ 35 h 46"/>
                  <a:gd name="T12" fmla="*/ 35 w 103"/>
                  <a:gd name="T13" fmla="*/ 30 h 46"/>
                  <a:gd name="T14" fmla="*/ 44 w 103"/>
                  <a:gd name="T15" fmla="*/ 27 h 46"/>
                  <a:gd name="T16" fmla="*/ 52 w 103"/>
                  <a:gd name="T17" fmla="*/ 24 h 46"/>
                  <a:gd name="T18" fmla="*/ 61 w 103"/>
                  <a:gd name="T19" fmla="*/ 20 h 46"/>
                  <a:gd name="T20" fmla="*/ 70 w 103"/>
                  <a:gd name="T21" fmla="*/ 17 h 46"/>
                  <a:gd name="T22" fmla="*/ 77 w 103"/>
                  <a:gd name="T23" fmla="*/ 13 h 46"/>
                  <a:gd name="T24" fmla="*/ 83 w 103"/>
                  <a:gd name="T25" fmla="*/ 11 h 46"/>
                  <a:gd name="T26" fmla="*/ 90 w 103"/>
                  <a:gd name="T27" fmla="*/ 7 h 46"/>
                  <a:gd name="T28" fmla="*/ 96 w 103"/>
                  <a:gd name="T29" fmla="*/ 4 h 46"/>
                  <a:gd name="T30" fmla="*/ 100 w 103"/>
                  <a:gd name="T31" fmla="*/ 3 h 46"/>
                  <a:gd name="T32" fmla="*/ 103 w 103"/>
                  <a:gd name="T33" fmla="*/ 1 h 46"/>
                  <a:gd name="T34" fmla="*/ 101 w 103"/>
                  <a:gd name="T35" fmla="*/ 0 h 46"/>
                  <a:gd name="T36" fmla="*/ 97 w 103"/>
                  <a:gd name="T37" fmla="*/ 2 h 46"/>
                  <a:gd name="T38" fmla="*/ 92 w 103"/>
                  <a:gd name="T39" fmla="*/ 4 h 46"/>
                  <a:gd name="T40" fmla="*/ 86 w 103"/>
                  <a:gd name="T41" fmla="*/ 7 h 46"/>
                  <a:gd name="T42" fmla="*/ 79 w 103"/>
                  <a:gd name="T43" fmla="*/ 11 h 46"/>
                  <a:gd name="T44" fmla="*/ 72 w 103"/>
                  <a:gd name="T45" fmla="*/ 13 h 46"/>
                  <a:gd name="T46" fmla="*/ 64 w 103"/>
                  <a:gd name="T47" fmla="*/ 17 h 46"/>
                  <a:gd name="T48" fmla="*/ 56 w 103"/>
                  <a:gd name="T49" fmla="*/ 20 h 46"/>
                  <a:gd name="T50" fmla="*/ 47 w 103"/>
                  <a:gd name="T51" fmla="*/ 24 h 46"/>
                  <a:gd name="T52" fmla="*/ 39 w 103"/>
                  <a:gd name="T53" fmla="*/ 28 h 46"/>
                  <a:gd name="T54" fmla="*/ 31 w 103"/>
                  <a:gd name="T55" fmla="*/ 31 h 46"/>
                  <a:gd name="T56" fmla="*/ 23 w 103"/>
                  <a:gd name="T57" fmla="*/ 35 h 46"/>
                  <a:gd name="T58" fmla="*/ 16 w 103"/>
                  <a:gd name="T59" fmla="*/ 38 h 46"/>
                  <a:gd name="T60" fmla="*/ 11 w 103"/>
                  <a:gd name="T61" fmla="*/ 41 h 46"/>
                  <a:gd name="T62" fmla="*/ 5 w 103"/>
                  <a:gd name="T63" fmla="*/ 42 h 46"/>
                  <a:gd name="T64" fmla="*/ 1 w 103"/>
                  <a:gd name="T65" fmla="*/ 44 h 46"/>
                  <a:gd name="T66" fmla="*/ 1 w 103"/>
                  <a:gd name="T67" fmla="*/ 46 h 4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6"/>
                  <a:gd name="T104" fmla="*/ 103 w 103"/>
                  <a:gd name="T105" fmla="*/ 46 h 4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6">
                    <a:moveTo>
                      <a:pt x="1" y="46"/>
                    </a:moveTo>
                    <a:lnTo>
                      <a:pt x="1" y="46"/>
                    </a:lnTo>
                    <a:lnTo>
                      <a:pt x="2" y="45"/>
                    </a:lnTo>
                    <a:lnTo>
                      <a:pt x="3" y="45"/>
                    </a:lnTo>
                    <a:lnTo>
                      <a:pt x="5" y="44"/>
                    </a:lnTo>
                    <a:lnTo>
                      <a:pt x="9" y="43"/>
                    </a:lnTo>
                    <a:lnTo>
                      <a:pt x="12" y="42"/>
                    </a:lnTo>
                    <a:lnTo>
                      <a:pt x="14" y="41"/>
                    </a:lnTo>
                    <a:lnTo>
                      <a:pt x="17" y="40"/>
                    </a:lnTo>
                    <a:lnTo>
                      <a:pt x="20" y="38"/>
                    </a:lnTo>
                    <a:lnTo>
                      <a:pt x="24" y="35"/>
                    </a:lnTo>
                    <a:lnTo>
                      <a:pt x="27" y="35"/>
                    </a:lnTo>
                    <a:lnTo>
                      <a:pt x="31" y="32"/>
                    </a:lnTo>
                    <a:lnTo>
                      <a:pt x="35" y="30"/>
                    </a:lnTo>
                    <a:lnTo>
                      <a:pt x="40" y="29"/>
                    </a:lnTo>
                    <a:lnTo>
                      <a:pt x="44" y="27"/>
                    </a:lnTo>
                    <a:lnTo>
                      <a:pt x="47" y="26"/>
                    </a:lnTo>
                    <a:lnTo>
                      <a:pt x="52" y="24"/>
                    </a:lnTo>
                    <a:lnTo>
                      <a:pt x="57" y="23"/>
                    </a:lnTo>
                    <a:lnTo>
                      <a:pt x="61" y="20"/>
                    </a:lnTo>
                    <a:lnTo>
                      <a:pt x="64" y="18"/>
                    </a:lnTo>
                    <a:lnTo>
                      <a:pt x="70" y="17"/>
                    </a:lnTo>
                    <a:lnTo>
                      <a:pt x="73" y="15"/>
                    </a:lnTo>
                    <a:lnTo>
                      <a:pt x="77" y="13"/>
                    </a:lnTo>
                    <a:lnTo>
                      <a:pt x="80" y="11"/>
                    </a:lnTo>
                    <a:lnTo>
                      <a:pt x="83" y="11"/>
                    </a:lnTo>
                    <a:lnTo>
                      <a:pt x="87" y="9"/>
                    </a:lnTo>
                    <a:lnTo>
                      <a:pt x="90" y="7"/>
                    </a:lnTo>
                    <a:lnTo>
                      <a:pt x="92" y="5"/>
                    </a:lnTo>
                    <a:lnTo>
                      <a:pt x="96" y="4"/>
                    </a:lnTo>
                    <a:lnTo>
                      <a:pt x="98" y="3"/>
                    </a:lnTo>
                    <a:lnTo>
                      <a:pt x="100" y="3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100" y="1"/>
                    </a:lnTo>
                    <a:lnTo>
                      <a:pt x="97" y="2"/>
                    </a:lnTo>
                    <a:lnTo>
                      <a:pt x="95" y="3"/>
                    </a:lnTo>
                    <a:lnTo>
                      <a:pt x="92" y="4"/>
                    </a:lnTo>
                    <a:lnTo>
                      <a:pt x="89" y="5"/>
                    </a:lnTo>
                    <a:lnTo>
                      <a:pt x="86" y="7"/>
                    </a:lnTo>
                    <a:lnTo>
                      <a:pt x="82" y="8"/>
                    </a:lnTo>
                    <a:lnTo>
                      <a:pt x="79" y="11"/>
                    </a:lnTo>
                    <a:lnTo>
                      <a:pt x="76" y="11"/>
                    </a:lnTo>
                    <a:lnTo>
                      <a:pt x="72" y="13"/>
                    </a:lnTo>
                    <a:lnTo>
                      <a:pt x="67" y="15"/>
                    </a:lnTo>
                    <a:lnTo>
                      <a:pt x="64" y="17"/>
                    </a:lnTo>
                    <a:lnTo>
                      <a:pt x="60" y="18"/>
                    </a:lnTo>
                    <a:lnTo>
                      <a:pt x="56" y="20"/>
                    </a:lnTo>
                    <a:lnTo>
                      <a:pt x="52" y="23"/>
                    </a:lnTo>
                    <a:lnTo>
                      <a:pt x="47" y="24"/>
                    </a:lnTo>
                    <a:lnTo>
                      <a:pt x="43" y="26"/>
                    </a:lnTo>
                    <a:lnTo>
                      <a:pt x="39" y="28"/>
                    </a:lnTo>
                    <a:lnTo>
                      <a:pt x="35" y="29"/>
                    </a:lnTo>
                    <a:lnTo>
                      <a:pt x="31" y="31"/>
                    </a:lnTo>
                    <a:lnTo>
                      <a:pt x="27" y="32"/>
                    </a:lnTo>
                    <a:lnTo>
                      <a:pt x="23" y="35"/>
                    </a:lnTo>
                    <a:lnTo>
                      <a:pt x="19" y="35"/>
                    </a:lnTo>
                    <a:lnTo>
                      <a:pt x="16" y="38"/>
                    </a:lnTo>
                    <a:lnTo>
                      <a:pt x="14" y="39"/>
                    </a:lnTo>
                    <a:lnTo>
                      <a:pt x="11" y="41"/>
                    </a:lnTo>
                    <a:lnTo>
                      <a:pt x="9" y="42"/>
                    </a:lnTo>
                    <a:lnTo>
                      <a:pt x="5" y="42"/>
                    </a:lnTo>
                    <a:lnTo>
                      <a:pt x="3" y="43"/>
                    </a:lnTo>
                    <a:lnTo>
                      <a:pt x="1" y="44"/>
                    </a:lnTo>
                    <a:lnTo>
                      <a:pt x="0" y="44"/>
                    </a:lnTo>
                    <a:lnTo>
                      <a:pt x="1" y="4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80" name="Freeform 949"/>
              <p:cNvSpPr>
                <a:spLocks/>
              </p:cNvSpPr>
              <p:nvPr/>
            </p:nvSpPr>
            <p:spPr bwMode="auto">
              <a:xfrm>
                <a:off x="3129" y="2078"/>
                <a:ext cx="14" cy="6"/>
              </a:xfrm>
              <a:custGeom>
                <a:avLst/>
                <a:gdLst>
                  <a:gd name="T0" fmla="*/ 0 w 14"/>
                  <a:gd name="T1" fmla="*/ 3 h 6"/>
                  <a:gd name="T2" fmla="*/ 0 w 14"/>
                  <a:gd name="T3" fmla="*/ 3 h 6"/>
                  <a:gd name="T4" fmla="*/ 1 w 14"/>
                  <a:gd name="T5" fmla="*/ 3 h 6"/>
                  <a:gd name="T6" fmla="*/ 3 w 14"/>
                  <a:gd name="T7" fmla="*/ 3 h 6"/>
                  <a:gd name="T8" fmla="*/ 7 w 14"/>
                  <a:gd name="T9" fmla="*/ 5 h 6"/>
                  <a:gd name="T10" fmla="*/ 7 w 14"/>
                  <a:gd name="T11" fmla="*/ 5 h 6"/>
                  <a:gd name="T12" fmla="*/ 10 w 14"/>
                  <a:gd name="T13" fmla="*/ 6 h 6"/>
                  <a:gd name="T14" fmla="*/ 11 w 14"/>
                  <a:gd name="T15" fmla="*/ 6 h 6"/>
                  <a:gd name="T16" fmla="*/ 13 w 14"/>
                  <a:gd name="T17" fmla="*/ 6 h 6"/>
                  <a:gd name="T18" fmla="*/ 14 w 14"/>
                  <a:gd name="T19" fmla="*/ 6 h 6"/>
                  <a:gd name="T20" fmla="*/ 13 w 14"/>
                  <a:gd name="T21" fmla="*/ 3 h 6"/>
                  <a:gd name="T22" fmla="*/ 11 w 14"/>
                  <a:gd name="T23" fmla="*/ 3 h 6"/>
                  <a:gd name="T24" fmla="*/ 10 w 14"/>
                  <a:gd name="T25" fmla="*/ 3 h 6"/>
                  <a:gd name="T26" fmla="*/ 9 w 14"/>
                  <a:gd name="T27" fmla="*/ 3 h 6"/>
                  <a:gd name="T28" fmla="*/ 7 w 14"/>
                  <a:gd name="T29" fmla="*/ 3 h 6"/>
                  <a:gd name="T30" fmla="*/ 3 w 14"/>
                  <a:gd name="T31" fmla="*/ 1 h 6"/>
                  <a:gd name="T32" fmla="*/ 2 w 14"/>
                  <a:gd name="T33" fmla="*/ 1 h 6"/>
                  <a:gd name="T34" fmla="*/ 1 w 14"/>
                  <a:gd name="T35" fmla="*/ 0 h 6"/>
                  <a:gd name="T36" fmla="*/ 0 w 14"/>
                  <a:gd name="T37" fmla="*/ 3 h 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6"/>
                  <a:gd name="T59" fmla="*/ 14 w 14"/>
                  <a:gd name="T60" fmla="*/ 6 h 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6">
                    <a:moveTo>
                      <a:pt x="0" y="3"/>
                    </a:moveTo>
                    <a:lnTo>
                      <a:pt x="0" y="3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7" y="5"/>
                    </a:lnTo>
                    <a:lnTo>
                      <a:pt x="10" y="6"/>
                    </a:lnTo>
                    <a:lnTo>
                      <a:pt x="11" y="6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3" y="3"/>
                    </a:lnTo>
                    <a:lnTo>
                      <a:pt x="11" y="3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3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81" name="Freeform 950"/>
              <p:cNvSpPr>
                <a:spLocks/>
              </p:cNvSpPr>
              <p:nvPr/>
            </p:nvSpPr>
            <p:spPr bwMode="auto">
              <a:xfrm>
                <a:off x="3015" y="2018"/>
                <a:ext cx="115" cy="63"/>
              </a:xfrm>
              <a:custGeom>
                <a:avLst/>
                <a:gdLst>
                  <a:gd name="T0" fmla="*/ 0 w 115"/>
                  <a:gd name="T1" fmla="*/ 1 h 63"/>
                  <a:gd name="T2" fmla="*/ 2 w 115"/>
                  <a:gd name="T3" fmla="*/ 2 h 63"/>
                  <a:gd name="T4" fmla="*/ 5 w 115"/>
                  <a:gd name="T5" fmla="*/ 4 h 63"/>
                  <a:gd name="T6" fmla="*/ 11 w 115"/>
                  <a:gd name="T7" fmla="*/ 7 h 63"/>
                  <a:gd name="T8" fmla="*/ 18 w 115"/>
                  <a:gd name="T9" fmla="*/ 11 h 63"/>
                  <a:gd name="T10" fmla="*/ 26 w 115"/>
                  <a:gd name="T11" fmla="*/ 16 h 63"/>
                  <a:gd name="T12" fmla="*/ 35 w 115"/>
                  <a:gd name="T13" fmla="*/ 21 h 63"/>
                  <a:gd name="T14" fmla="*/ 45 w 115"/>
                  <a:gd name="T15" fmla="*/ 26 h 63"/>
                  <a:gd name="T16" fmla="*/ 54 w 115"/>
                  <a:gd name="T17" fmla="*/ 31 h 63"/>
                  <a:gd name="T18" fmla="*/ 64 w 115"/>
                  <a:gd name="T19" fmla="*/ 37 h 63"/>
                  <a:gd name="T20" fmla="*/ 75 w 115"/>
                  <a:gd name="T21" fmla="*/ 42 h 63"/>
                  <a:gd name="T22" fmla="*/ 83 w 115"/>
                  <a:gd name="T23" fmla="*/ 47 h 63"/>
                  <a:gd name="T24" fmla="*/ 93 w 115"/>
                  <a:gd name="T25" fmla="*/ 51 h 63"/>
                  <a:gd name="T26" fmla="*/ 99 w 115"/>
                  <a:gd name="T27" fmla="*/ 54 h 63"/>
                  <a:gd name="T28" fmla="*/ 107 w 115"/>
                  <a:gd name="T29" fmla="*/ 59 h 63"/>
                  <a:gd name="T30" fmla="*/ 112 w 115"/>
                  <a:gd name="T31" fmla="*/ 62 h 63"/>
                  <a:gd name="T32" fmla="*/ 114 w 115"/>
                  <a:gd name="T33" fmla="*/ 63 h 63"/>
                  <a:gd name="T34" fmla="*/ 114 w 115"/>
                  <a:gd name="T35" fmla="*/ 61 h 63"/>
                  <a:gd name="T36" fmla="*/ 110 w 115"/>
                  <a:gd name="T37" fmla="*/ 59 h 63"/>
                  <a:gd name="T38" fmla="*/ 104 w 115"/>
                  <a:gd name="T39" fmla="*/ 54 h 63"/>
                  <a:gd name="T40" fmla="*/ 97 w 115"/>
                  <a:gd name="T41" fmla="*/ 51 h 63"/>
                  <a:gd name="T42" fmla="*/ 90 w 115"/>
                  <a:gd name="T43" fmla="*/ 47 h 63"/>
                  <a:gd name="T44" fmla="*/ 80 w 115"/>
                  <a:gd name="T45" fmla="*/ 43 h 63"/>
                  <a:gd name="T46" fmla="*/ 70 w 115"/>
                  <a:gd name="T47" fmla="*/ 37 h 63"/>
                  <a:gd name="T48" fmla="*/ 61 w 115"/>
                  <a:gd name="T49" fmla="*/ 32 h 63"/>
                  <a:gd name="T50" fmla="*/ 51 w 115"/>
                  <a:gd name="T51" fmla="*/ 27 h 63"/>
                  <a:gd name="T52" fmla="*/ 41 w 115"/>
                  <a:gd name="T53" fmla="*/ 21 h 63"/>
                  <a:gd name="T54" fmla="*/ 32 w 115"/>
                  <a:gd name="T55" fmla="*/ 17 h 63"/>
                  <a:gd name="T56" fmla="*/ 23 w 115"/>
                  <a:gd name="T57" fmla="*/ 13 h 63"/>
                  <a:gd name="T58" fmla="*/ 16 w 115"/>
                  <a:gd name="T59" fmla="*/ 7 h 63"/>
                  <a:gd name="T60" fmla="*/ 8 w 115"/>
                  <a:gd name="T61" fmla="*/ 4 h 63"/>
                  <a:gd name="T62" fmla="*/ 4 w 115"/>
                  <a:gd name="T63" fmla="*/ 2 h 63"/>
                  <a:gd name="T64" fmla="*/ 1 w 115"/>
                  <a:gd name="T65" fmla="*/ 0 h 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3"/>
                  <a:gd name="T101" fmla="*/ 115 w 115"/>
                  <a:gd name="T102" fmla="*/ 63 h 6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3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5" y="4"/>
                    </a:lnTo>
                    <a:lnTo>
                      <a:pt x="7" y="6"/>
                    </a:lnTo>
                    <a:lnTo>
                      <a:pt x="11" y="7"/>
                    </a:lnTo>
                    <a:lnTo>
                      <a:pt x="15" y="11"/>
                    </a:lnTo>
                    <a:lnTo>
                      <a:pt x="18" y="11"/>
                    </a:lnTo>
                    <a:lnTo>
                      <a:pt x="22" y="14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1"/>
                    </a:lnTo>
                    <a:lnTo>
                      <a:pt x="39" y="23"/>
                    </a:lnTo>
                    <a:lnTo>
                      <a:pt x="45" y="26"/>
                    </a:lnTo>
                    <a:lnTo>
                      <a:pt x="49" y="28"/>
                    </a:lnTo>
                    <a:lnTo>
                      <a:pt x="54" y="31"/>
                    </a:lnTo>
                    <a:lnTo>
                      <a:pt x="60" y="33"/>
                    </a:lnTo>
                    <a:lnTo>
                      <a:pt x="64" y="37"/>
                    </a:lnTo>
                    <a:lnTo>
                      <a:pt x="70" y="39"/>
                    </a:lnTo>
                    <a:lnTo>
                      <a:pt x="75" y="42"/>
                    </a:lnTo>
                    <a:lnTo>
                      <a:pt x="79" y="44"/>
                    </a:lnTo>
                    <a:lnTo>
                      <a:pt x="83" y="47"/>
                    </a:lnTo>
                    <a:lnTo>
                      <a:pt x="88" y="49"/>
                    </a:lnTo>
                    <a:lnTo>
                      <a:pt x="93" y="51"/>
                    </a:lnTo>
                    <a:lnTo>
                      <a:pt x="96" y="54"/>
                    </a:lnTo>
                    <a:lnTo>
                      <a:pt x="99" y="54"/>
                    </a:lnTo>
                    <a:lnTo>
                      <a:pt x="102" y="58"/>
                    </a:lnTo>
                    <a:lnTo>
                      <a:pt x="107" y="59"/>
                    </a:lnTo>
                    <a:lnTo>
                      <a:pt x="110" y="61"/>
                    </a:lnTo>
                    <a:lnTo>
                      <a:pt x="112" y="62"/>
                    </a:lnTo>
                    <a:lnTo>
                      <a:pt x="113" y="62"/>
                    </a:lnTo>
                    <a:lnTo>
                      <a:pt x="114" y="63"/>
                    </a:lnTo>
                    <a:lnTo>
                      <a:pt x="115" y="62"/>
                    </a:lnTo>
                    <a:lnTo>
                      <a:pt x="114" y="61"/>
                    </a:lnTo>
                    <a:lnTo>
                      <a:pt x="112" y="60"/>
                    </a:lnTo>
                    <a:lnTo>
                      <a:pt x="110" y="59"/>
                    </a:lnTo>
                    <a:lnTo>
                      <a:pt x="107" y="58"/>
                    </a:lnTo>
                    <a:lnTo>
                      <a:pt x="104" y="54"/>
                    </a:lnTo>
                    <a:lnTo>
                      <a:pt x="100" y="54"/>
                    </a:lnTo>
                    <a:lnTo>
                      <a:pt x="97" y="51"/>
                    </a:lnTo>
                    <a:lnTo>
                      <a:pt x="94" y="49"/>
                    </a:lnTo>
                    <a:lnTo>
                      <a:pt x="90" y="47"/>
                    </a:lnTo>
                    <a:lnTo>
                      <a:pt x="84" y="45"/>
                    </a:lnTo>
                    <a:lnTo>
                      <a:pt x="80" y="43"/>
                    </a:lnTo>
                    <a:lnTo>
                      <a:pt x="76" y="41"/>
                    </a:lnTo>
                    <a:lnTo>
                      <a:pt x="70" y="37"/>
                    </a:lnTo>
                    <a:lnTo>
                      <a:pt x="65" y="35"/>
                    </a:lnTo>
                    <a:lnTo>
                      <a:pt x="61" y="32"/>
                    </a:lnTo>
                    <a:lnTo>
                      <a:pt x="55" y="30"/>
                    </a:lnTo>
                    <a:lnTo>
                      <a:pt x="51" y="27"/>
                    </a:lnTo>
                    <a:lnTo>
                      <a:pt x="46" y="24"/>
                    </a:lnTo>
                    <a:lnTo>
                      <a:pt x="41" y="21"/>
                    </a:lnTo>
                    <a:lnTo>
                      <a:pt x="36" y="19"/>
                    </a:lnTo>
                    <a:lnTo>
                      <a:pt x="32" y="17"/>
                    </a:lnTo>
                    <a:lnTo>
                      <a:pt x="27" y="15"/>
                    </a:lnTo>
                    <a:lnTo>
                      <a:pt x="23" y="13"/>
                    </a:lnTo>
                    <a:lnTo>
                      <a:pt x="19" y="11"/>
                    </a:lnTo>
                    <a:lnTo>
                      <a:pt x="16" y="7"/>
                    </a:lnTo>
                    <a:lnTo>
                      <a:pt x="13" y="6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82" name="Freeform 951"/>
              <p:cNvSpPr>
                <a:spLocks/>
              </p:cNvSpPr>
              <p:nvPr/>
            </p:nvSpPr>
            <p:spPr bwMode="auto">
              <a:xfrm>
                <a:off x="3010" y="2012"/>
                <a:ext cx="6" cy="8"/>
              </a:xfrm>
              <a:custGeom>
                <a:avLst/>
                <a:gdLst>
                  <a:gd name="T0" fmla="*/ 4 w 6"/>
                  <a:gd name="T1" fmla="*/ 0 h 8"/>
                  <a:gd name="T2" fmla="*/ 4 w 6"/>
                  <a:gd name="T3" fmla="*/ 0 h 8"/>
                  <a:gd name="T4" fmla="*/ 2 w 6"/>
                  <a:gd name="T5" fmla="*/ 1 h 8"/>
                  <a:gd name="T6" fmla="*/ 1 w 6"/>
                  <a:gd name="T7" fmla="*/ 2 h 8"/>
                  <a:gd name="T8" fmla="*/ 0 w 6"/>
                  <a:gd name="T9" fmla="*/ 4 h 8"/>
                  <a:gd name="T10" fmla="*/ 0 w 6"/>
                  <a:gd name="T11" fmla="*/ 4 h 8"/>
                  <a:gd name="T12" fmla="*/ 1 w 6"/>
                  <a:gd name="T13" fmla="*/ 6 h 8"/>
                  <a:gd name="T14" fmla="*/ 2 w 6"/>
                  <a:gd name="T15" fmla="*/ 7 h 8"/>
                  <a:gd name="T16" fmla="*/ 4 w 6"/>
                  <a:gd name="T17" fmla="*/ 7 h 8"/>
                  <a:gd name="T18" fmla="*/ 5 w 6"/>
                  <a:gd name="T19" fmla="*/ 8 h 8"/>
                  <a:gd name="T20" fmla="*/ 6 w 6"/>
                  <a:gd name="T21" fmla="*/ 7 h 8"/>
                  <a:gd name="T22" fmla="*/ 4 w 6"/>
                  <a:gd name="T23" fmla="*/ 6 h 8"/>
                  <a:gd name="T24" fmla="*/ 3 w 6"/>
                  <a:gd name="T25" fmla="*/ 4 h 8"/>
                  <a:gd name="T26" fmla="*/ 2 w 6"/>
                  <a:gd name="T27" fmla="*/ 4 h 8"/>
                  <a:gd name="T28" fmla="*/ 2 w 6"/>
                  <a:gd name="T29" fmla="*/ 4 h 8"/>
                  <a:gd name="T30" fmla="*/ 3 w 6"/>
                  <a:gd name="T31" fmla="*/ 2 h 8"/>
                  <a:gd name="T32" fmla="*/ 5 w 6"/>
                  <a:gd name="T33" fmla="*/ 2 h 8"/>
                  <a:gd name="T34" fmla="*/ 4 w 6"/>
                  <a:gd name="T35" fmla="*/ 0 h 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"/>
                  <a:gd name="T55" fmla="*/ 0 h 8"/>
                  <a:gd name="T56" fmla="*/ 6 w 6"/>
                  <a:gd name="T57" fmla="*/ 8 h 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" h="8">
                    <a:moveTo>
                      <a:pt x="4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6"/>
                    </a:lnTo>
                    <a:lnTo>
                      <a:pt x="2" y="7"/>
                    </a:lnTo>
                    <a:lnTo>
                      <a:pt x="4" y="7"/>
                    </a:lnTo>
                    <a:lnTo>
                      <a:pt x="5" y="8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3" y="4"/>
                    </a:lnTo>
                    <a:lnTo>
                      <a:pt x="2" y="4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83" name="Freeform 952"/>
              <p:cNvSpPr>
                <a:spLocks/>
              </p:cNvSpPr>
              <p:nvPr/>
            </p:nvSpPr>
            <p:spPr bwMode="auto">
              <a:xfrm>
                <a:off x="3137" y="2070"/>
                <a:ext cx="106" cy="48"/>
              </a:xfrm>
              <a:custGeom>
                <a:avLst/>
                <a:gdLst>
                  <a:gd name="T0" fmla="*/ 106 w 106"/>
                  <a:gd name="T1" fmla="*/ 0 h 48"/>
                  <a:gd name="T2" fmla="*/ 104 w 106"/>
                  <a:gd name="T3" fmla="*/ 1 h 48"/>
                  <a:gd name="T4" fmla="*/ 102 w 106"/>
                  <a:gd name="T5" fmla="*/ 1 h 48"/>
                  <a:gd name="T6" fmla="*/ 100 w 106"/>
                  <a:gd name="T7" fmla="*/ 2 h 48"/>
                  <a:gd name="T8" fmla="*/ 98 w 106"/>
                  <a:gd name="T9" fmla="*/ 3 h 48"/>
                  <a:gd name="T10" fmla="*/ 95 w 106"/>
                  <a:gd name="T11" fmla="*/ 5 h 48"/>
                  <a:gd name="T12" fmla="*/ 92 w 106"/>
                  <a:gd name="T13" fmla="*/ 6 h 48"/>
                  <a:gd name="T14" fmla="*/ 88 w 106"/>
                  <a:gd name="T15" fmla="*/ 8 h 48"/>
                  <a:gd name="T16" fmla="*/ 85 w 106"/>
                  <a:gd name="T17" fmla="*/ 9 h 48"/>
                  <a:gd name="T18" fmla="*/ 82 w 106"/>
                  <a:gd name="T19" fmla="*/ 11 h 48"/>
                  <a:gd name="T20" fmla="*/ 79 w 106"/>
                  <a:gd name="T21" fmla="*/ 13 h 48"/>
                  <a:gd name="T22" fmla="*/ 75 w 106"/>
                  <a:gd name="T23" fmla="*/ 15 h 48"/>
                  <a:gd name="T24" fmla="*/ 70 w 106"/>
                  <a:gd name="T25" fmla="*/ 16 h 48"/>
                  <a:gd name="T26" fmla="*/ 66 w 106"/>
                  <a:gd name="T27" fmla="*/ 18 h 48"/>
                  <a:gd name="T28" fmla="*/ 62 w 106"/>
                  <a:gd name="T29" fmla="*/ 21 h 48"/>
                  <a:gd name="T30" fmla="*/ 57 w 106"/>
                  <a:gd name="T31" fmla="*/ 23 h 48"/>
                  <a:gd name="T32" fmla="*/ 53 w 106"/>
                  <a:gd name="T33" fmla="*/ 24 h 48"/>
                  <a:gd name="T34" fmla="*/ 50 w 106"/>
                  <a:gd name="T35" fmla="*/ 26 h 48"/>
                  <a:gd name="T36" fmla="*/ 45 w 106"/>
                  <a:gd name="T37" fmla="*/ 28 h 48"/>
                  <a:gd name="T38" fmla="*/ 40 w 106"/>
                  <a:gd name="T39" fmla="*/ 30 h 48"/>
                  <a:gd name="T40" fmla="*/ 36 w 106"/>
                  <a:gd name="T41" fmla="*/ 31 h 48"/>
                  <a:gd name="T42" fmla="*/ 31 w 106"/>
                  <a:gd name="T43" fmla="*/ 33 h 48"/>
                  <a:gd name="T44" fmla="*/ 28 w 106"/>
                  <a:gd name="T45" fmla="*/ 36 h 48"/>
                  <a:gd name="T46" fmla="*/ 23 w 106"/>
                  <a:gd name="T47" fmla="*/ 38 h 48"/>
                  <a:gd name="T48" fmla="*/ 20 w 106"/>
                  <a:gd name="T49" fmla="*/ 40 h 48"/>
                  <a:gd name="T50" fmla="*/ 17 w 106"/>
                  <a:gd name="T51" fmla="*/ 41 h 48"/>
                  <a:gd name="T52" fmla="*/ 14 w 106"/>
                  <a:gd name="T53" fmla="*/ 42 h 48"/>
                  <a:gd name="T54" fmla="*/ 10 w 106"/>
                  <a:gd name="T55" fmla="*/ 44 h 48"/>
                  <a:gd name="T56" fmla="*/ 8 w 106"/>
                  <a:gd name="T57" fmla="*/ 45 h 48"/>
                  <a:gd name="T58" fmla="*/ 5 w 106"/>
                  <a:gd name="T59" fmla="*/ 46 h 48"/>
                  <a:gd name="T60" fmla="*/ 3 w 106"/>
                  <a:gd name="T61" fmla="*/ 47 h 48"/>
                  <a:gd name="T62" fmla="*/ 1 w 106"/>
                  <a:gd name="T63" fmla="*/ 47 h 48"/>
                  <a:gd name="T64" fmla="*/ 0 w 106"/>
                  <a:gd name="T65" fmla="*/ 48 h 48"/>
                  <a:gd name="T66" fmla="*/ 106 w 106"/>
                  <a:gd name="T67" fmla="*/ 0 h 4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6"/>
                  <a:gd name="T103" fmla="*/ 0 h 48"/>
                  <a:gd name="T104" fmla="*/ 106 w 106"/>
                  <a:gd name="T105" fmla="*/ 48 h 4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6" h="48">
                    <a:moveTo>
                      <a:pt x="106" y="0"/>
                    </a:moveTo>
                    <a:lnTo>
                      <a:pt x="104" y="1"/>
                    </a:lnTo>
                    <a:lnTo>
                      <a:pt x="102" y="1"/>
                    </a:lnTo>
                    <a:lnTo>
                      <a:pt x="100" y="2"/>
                    </a:lnTo>
                    <a:lnTo>
                      <a:pt x="98" y="3"/>
                    </a:lnTo>
                    <a:lnTo>
                      <a:pt x="95" y="5"/>
                    </a:lnTo>
                    <a:lnTo>
                      <a:pt x="92" y="6"/>
                    </a:lnTo>
                    <a:lnTo>
                      <a:pt x="88" y="8"/>
                    </a:lnTo>
                    <a:lnTo>
                      <a:pt x="85" y="9"/>
                    </a:lnTo>
                    <a:lnTo>
                      <a:pt x="82" y="11"/>
                    </a:lnTo>
                    <a:lnTo>
                      <a:pt x="79" y="13"/>
                    </a:lnTo>
                    <a:lnTo>
                      <a:pt x="75" y="15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1"/>
                    </a:lnTo>
                    <a:lnTo>
                      <a:pt x="57" y="23"/>
                    </a:lnTo>
                    <a:lnTo>
                      <a:pt x="53" y="24"/>
                    </a:lnTo>
                    <a:lnTo>
                      <a:pt x="50" y="26"/>
                    </a:lnTo>
                    <a:lnTo>
                      <a:pt x="45" y="28"/>
                    </a:lnTo>
                    <a:lnTo>
                      <a:pt x="40" y="30"/>
                    </a:lnTo>
                    <a:lnTo>
                      <a:pt x="36" y="31"/>
                    </a:lnTo>
                    <a:lnTo>
                      <a:pt x="31" y="33"/>
                    </a:lnTo>
                    <a:lnTo>
                      <a:pt x="28" y="36"/>
                    </a:lnTo>
                    <a:lnTo>
                      <a:pt x="23" y="38"/>
                    </a:lnTo>
                    <a:lnTo>
                      <a:pt x="20" y="40"/>
                    </a:lnTo>
                    <a:lnTo>
                      <a:pt x="17" y="41"/>
                    </a:lnTo>
                    <a:lnTo>
                      <a:pt x="14" y="42"/>
                    </a:lnTo>
                    <a:lnTo>
                      <a:pt x="10" y="44"/>
                    </a:lnTo>
                    <a:lnTo>
                      <a:pt x="8" y="45"/>
                    </a:lnTo>
                    <a:lnTo>
                      <a:pt x="5" y="46"/>
                    </a:lnTo>
                    <a:lnTo>
                      <a:pt x="3" y="47"/>
                    </a:lnTo>
                    <a:lnTo>
                      <a:pt x="1" y="47"/>
                    </a:lnTo>
                    <a:lnTo>
                      <a:pt x="0" y="48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84" name="Freeform 953"/>
              <p:cNvSpPr>
                <a:spLocks/>
              </p:cNvSpPr>
              <p:nvPr/>
            </p:nvSpPr>
            <p:spPr bwMode="auto">
              <a:xfrm>
                <a:off x="3136" y="2069"/>
                <a:ext cx="107" cy="49"/>
              </a:xfrm>
              <a:custGeom>
                <a:avLst/>
                <a:gdLst>
                  <a:gd name="T0" fmla="*/ 2 w 107"/>
                  <a:gd name="T1" fmla="*/ 48 h 49"/>
                  <a:gd name="T2" fmla="*/ 6 w 107"/>
                  <a:gd name="T3" fmla="*/ 47 h 49"/>
                  <a:gd name="T4" fmla="*/ 10 w 107"/>
                  <a:gd name="T5" fmla="*/ 45 h 49"/>
                  <a:gd name="T6" fmla="*/ 18 w 107"/>
                  <a:gd name="T7" fmla="*/ 42 h 49"/>
                  <a:gd name="T8" fmla="*/ 24 w 107"/>
                  <a:gd name="T9" fmla="*/ 39 h 49"/>
                  <a:gd name="T10" fmla="*/ 32 w 107"/>
                  <a:gd name="T11" fmla="*/ 35 h 49"/>
                  <a:gd name="T12" fmla="*/ 41 w 107"/>
                  <a:gd name="T13" fmla="*/ 31 h 49"/>
                  <a:gd name="T14" fmla="*/ 50 w 107"/>
                  <a:gd name="T15" fmla="*/ 27 h 49"/>
                  <a:gd name="T16" fmla="*/ 58 w 107"/>
                  <a:gd name="T17" fmla="*/ 24 h 49"/>
                  <a:gd name="T18" fmla="*/ 67 w 107"/>
                  <a:gd name="T19" fmla="*/ 19 h 49"/>
                  <a:gd name="T20" fmla="*/ 76 w 107"/>
                  <a:gd name="T21" fmla="*/ 16 h 49"/>
                  <a:gd name="T22" fmla="*/ 83 w 107"/>
                  <a:gd name="T23" fmla="*/ 12 h 49"/>
                  <a:gd name="T24" fmla="*/ 89 w 107"/>
                  <a:gd name="T25" fmla="*/ 9 h 49"/>
                  <a:gd name="T26" fmla="*/ 96 w 107"/>
                  <a:gd name="T27" fmla="*/ 7 h 49"/>
                  <a:gd name="T28" fmla="*/ 101 w 107"/>
                  <a:gd name="T29" fmla="*/ 4 h 49"/>
                  <a:gd name="T30" fmla="*/ 105 w 107"/>
                  <a:gd name="T31" fmla="*/ 2 h 49"/>
                  <a:gd name="T32" fmla="*/ 105 w 107"/>
                  <a:gd name="T33" fmla="*/ 0 h 49"/>
                  <a:gd name="T34" fmla="*/ 103 w 107"/>
                  <a:gd name="T35" fmla="*/ 1 h 49"/>
                  <a:gd name="T36" fmla="*/ 99 w 107"/>
                  <a:gd name="T37" fmla="*/ 3 h 49"/>
                  <a:gd name="T38" fmla="*/ 93 w 107"/>
                  <a:gd name="T39" fmla="*/ 7 h 49"/>
                  <a:gd name="T40" fmla="*/ 86 w 107"/>
                  <a:gd name="T41" fmla="*/ 9 h 49"/>
                  <a:gd name="T42" fmla="*/ 79 w 107"/>
                  <a:gd name="T43" fmla="*/ 12 h 49"/>
                  <a:gd name="T44" fmla="*/ 70 w 107"/>
                  <a:gd name="T45" fmla="*/ 16 h 49"/>
                  <a:gd name="T46" fmla="*/ 62 w 107"/>
                  <a:gd name="T47" fmla="*/ 20 h 49"/>
                  <a:gd name="T48" fmla="*/ 52 w 107"/>
                  <a:gd name="T49" fmla="*/ 24 h 49"/>
                  <a:gd name="T50" fmla="*/ 45 w 107"/>
                  <a:gd name="T51" fmla="*/ 28 h 49"/>
                  <a:gd name="T52" fmla="*/ 35 w 107"/>
                  <a:gd name="T53" fmla="*/ 31 h 49"/>
                  <a:gd name="T54" fmla="*/ 27 w 107"/>
                  <a:gd name="T55" fmla="*/ 35 h 49"/>
                  <a:gd name="T56" fmla="*/ 20 w 107"/>
                  <a:gd name="T57" fmla="*/ 39 h 49"/>
                  <a:gd name="T58" fmla="*/ 12 w 107"/>
                  <a:gd name="T59" fmla="*/ 42 h 49"/>
                  <a:gd name="T60" fmla="*/ 7 w 107"/>
                  <a:gd name="T61" fmla="*/ 44 h 49"/>
                  <a:gd name="T62" fmla="*/ 3 w 107"/>
                  <a:gd name="T63" fmla="*/ 46 h 49"/>
                  <a:gd name="T64" fmla="*/ 0 w 107"/>
                  <a:gd name="T65" fmla="*/ 48 h 4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49"/>
                  <a:gd name="T101" fmla="*/ 107 w 107"/>
                  <a:gd name="T102" fmla="*/ 49 h 4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49">
                    <a:moveTo>
                      <a:pt x="1" y="49"/>
                    </a:moveTo>
                    <a:lnTo>
                      <a:pt x="2" y="48"/>
                    </a:lnTo>
                    <a:lnTo>
                      <a:pt x="4" y="48"/>
                    </a:lnTo>
                    <a:lnTo>
                      <a:pt x="6" y="47"/>
                    </a:lnTo>
                    <a:lnTo>
                      <a:pt x="8" y="46"/>
                    </a:lnTo>
                    <a:lnTo>
                      <a:pt x="10" y="45"/>
                    </a:lnTo>
                    <a:lnTo>
                      <a:pt x="15" y="43"/>
                    </a:lnTo>
                    <a:lnTo>
                      <a:pt x="18" y="42"/>
                    </a:lnTo>
                    <a:lnTo>
                      <a:pt x="21" y="41"/>
                    </a:lnTo>
                    <a:lnTo>
                      <a:pt x="24" y="39"/>
                    </a:lnTo>
                    <a:lnTo>
                      <a:pt x="29" y="37"/>
                    </a:lnTo>
                    <a:lnTo>
                      <a:pt x="32" y="35"/>
                    </a:lnTo>
                    <a:lnTo>
                      <a:pt x="37" y="33"/>
                    </a:lnTo>
                    <a:lnTo>
                      <a:pt x="41" y="31"/>
                    </a:lnTo>
                    <a:lnTo>
                      <a:pt x="46" y="29"/>
                    </a:lnTo>
                    <a:lnTo>
                      <a:pt x="50" y="27"/>
                    </a:lnTo>
                    <a:lnTo>
                      <a:pt x="54" y="25"/>
                    </a:lnTo>
                    <a:lnTo>
                      <a:pt x="58" y="24"/>
                    </a:lnTo>
                    <a:lnTo>
                      <a:pt x="63" y="22"/>
                    </a:lnTo>
                    <a:lnTo>
                      <a:pt x="67" y="19"/>
                    </a:lnTo>
                    <a:lnTo>
                      <a:pt x="71" y="18"/>
                    </a:lnTo>
                    <a:lnTo>
                      <a:pt x="76" y="16"/>
                    </a:lnTo>
                    <a:lnTo>
                      <a:pt x="80" y="14"/>
                    </a:lnTo>
                    <a:lnTo>
                      <a:pt x="83" y="12"/>
                    </a:lnTo>
                    <a:lnTo>
                      <a:pt x="86" y="11"/>
                    </a:lnTo>
                    <a:lnTo>
                      <a:pt x="89" y="9"/>
                    </a:lnTo>
                    <a:lnTo>
                      <a:pt x="93" y="9"/>
                    </a:lnTo>
                    <a:lnTo>
                      <a:pt x="96" y="7"/>
                    </a:lnTo>
                    <a:lnTo>
                      <a:pt x="99" y="4"/>
                    </a:lnTo>
                    <a:lnTo>
                      <a:pt x="101" y="4"/>
                    </a:lnTo>
                    <a:lnTo>
                      <a:pt x="103" y="3"/>
                    </a:lnTo>
                    <a:lnTo>
                      <a:pt x="105" y="2"/>
                    </a:lnTo>
                    <a:lnTo>
                      <a:pt x="107" y="1"/>
                    </a:lnTo>
                    <a:lnTo>
                      <a:pt x="105" y="0"/>
                    </a:lnTo>
                    <a:lnTo>
                      <a:pt x="104" y="0"/>
                    </a:lnTo>
                    <a:lnTo>
                      <a:pt x="103" y="1"/>
                    </a:lnTo>
                    <a:lnTo>
                      <a:pt x="101" y="2"/>
                    </a:lnTo>
                    <a:lnTo>
                      <a:pt x="99" y="3"/>
                    </a:lnTo>
                    <a:lnTo>
                      <a:pt x="96" y="4"/>
                    </a:lnTo>
                    <a:lnTo>
                      <a:pt x="93" y="7"/>
                    </a:lnTo>
                    <a:lnTo>
                      <a:pt x="89" y="7"/>
                    </a:lnTo>
                    <a:lnTo>
                      <a:pt x="86" y="9"/>
                    </a:lnTo>
                    <a:lnTo>
                      <a:pt x="82" y="11"/>
                    </a:lnTo>
                    <a:lnTo>
                      <a:pt x="79" y="12"/>
                    </a:lnTo>
                    <a:lnTo>
                      <a:pt x="73" y="15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0"/>
                    </a:lnTo>
                    <a:lnTo>
                      <a:pt x="57" y="22"/>
                    </a:lnTo>
                    <a:lnTo>
                      <a:pt x="52" y="24"/>
                    </a:lnTo>
                    <a:lnTo>
                      <a:pt x="49" y="26"/>
                    </a:lnTo>
                    <a:lnTo>
                      <a:pt x="45" y="28"/>
                    </a:lnTo>
                    <a:lnTo>
                      <a:pt x="40" y="29"/>
                    </a:lnTo>
                    <a:lnTo>
                      <a:pt x="35" y="31"/>
                    </a:lnTo>
                    <a:lnTo>
                      <a:pt x="32" y="34"/>
                    </a:lnTo>
                    <a:lnTo>
                      <a:pt x="27" y="35"/>
                    </a:lnTo>
                    <a:lnTo>
                      <a:pt x="24" y="37"/>
                    </a:lnTo>
                    <a:lnTo>
                      <a:pt x="20" y="39"/>
                    </a:lnTo>
                    <a:lnTo>
                      <a:pt x="17" y="41"/>
                    </a:lnTo>
                    <a:lnTo>
                      <a:pt x="12" y="42"/>
                    </a:lnTo>
                    <a:lnTo>
                      <a:pt x="10" y="43"/>
                    </a:lnTo>
                    <a:lnTo>
                      <a:pt x="7" y="44"/>
                    </a:lnTo>
                    <a:lnTo>
                      <a:pt x="5" y="45"/>
                    </a:lnTo>
                    <a:lnTo>
                      <a:pt x="3" y="46"/>
                    </a:lnTo>
                    <a:lnTo>
                      <a:pt x="1" y="47"/>
                    </a:lnTo>
                    <a:lnTo>
                      <a:pt x="0" y="48"/>
                    </a:lnTo>
                    <a:lnTo>
                      <a:pt x="1" y="49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85" name="Freeform 954"/>
              <p:cNvSpPr>
                <a:spLocks/>
              </p:cNvSpPr>
              <p:nvPr/>
            </p:nvSpPr>
            <p:spPr bwMode="auto">
              <a:xfrm>
                <a:off x="2998" y="1972"/>
                <a:ext cx="252" cy="110"/>
              </a:xfrm>
              <a:custGeom>
                <a:avLst/>
                <a:gdLst>
                  <a:gd name="T0" fmla="*/ 2 w 252"/>
                  <a:gd name="T1" fmla="*/ 30 h 110"/>
                  <a:gd name="T2" fmla="*/ 1 w 252"/>
                  <a:gd name="T3" fmla="*/ 15 h 110"/>
                  <a:gd name="T4" fmla="*/ 12 w 252"/>
                  <a:gd name="T5" fmla="*/ 0 h 110"/>
                  <a:gd name="T6" fmla="*/ 18 w 252"/>
                  <a:gd name="T7" fmla="*/ 0 h 110"/>
                  <a:gd name="T8" fmla="*/ 34 w 252"/>
                  <a:gd name="T9" fmla="*/ 1 h 110"/>
                  <a:gd name="T10" fmla="*/ 58 w 252"/>
                  <a:gd name="T11" fmla="*/ 2 h 110"/>
                  <a:gd name="T12" fmla="*/ 86 w 252"/>
                  <a:gd name="T13" fmla="*/ 4 h 110"/>
                  <a:gd name="T14" fmla="*/ 118 w 252"/>
                  <a:gd name="T15" fmla="*/ 6 h 110"/>
                  <a:gd name="T16" fmla="*/ 149 w 252"/>
                  <a:gd name="T17" fmla="*/ 10 h 110"/>
                  <a:gd name="T18" fmla="*/ 180 w 252"/>
                  <a:gd name="T19" fmla="*/ 13 h 110"/>
                  <a:gd name="T20" fmla="*/ 208 w 252"/>
                  <a:gd name="T21" fmla="*/ 15 h 110"/>
                  <a:gd name="T22" fmla="*/ 228 w 252"/>
                  <a:gd name="T23" fmla="*/ 17 h 110"/>
                  <a:gd name="T24" fmla="*/ 241 w 252"/>
                  <a:gd name="T25" fmla="*/ 19 h 110"/>
                  <a:gd name="T26" fmla="*/ 245 w 252"/>
                  <a:gd name="T27" fmla="*/ 37 h 110"/>
                  <a:gd name="T28" fmla="*/ 247 w 252"/>
                  <a:gd name="T29" fmla="*/ 57 h 110"/>
                  <a:gd name="T30" fmla="*/ 251 w 252"/>
                  <a:gd name="T31" fmla="*/ 60 h 110"/>
                  <a:gd name="T32" fmla="*/ 251 w 252"/>
                  <a:gd name="T33" fmla="*/ 64 h 110"/>
                  <a:gd name="T34" fmla="*/ 247 w 252"/>
                  <a:gd name="T35" fmla="*/ 66 h 110"/>
                  <a:gd name="T36" fmla="*/ 238 w 252"/>
                  <a:gd name="T37" fmla="*/ 69 h 110"/>
                  <a:gd name="T38" fmla="*/ 230 w 252"/>
                  <a:gd name="T39" fmla="*/ 74 h 110"/>
                  <a:gd name="T40" fmla="*/ 218 w 252"/>
                  <a:gd name="T41" fmla="*/ 78 h 110"/>
                  <a:gd name="T42" fmla="*/ 205 w 252"/>
                  <a:gd name="T43" fmla="*/ 84 h 110"/>
                  <a:gd name="T44" fmla="*/ 193 w 252"/>
                  <a:gd name="T45" fmla="*/ 90 h 110"/>
                  <a:gd name="T46" fmla="*/ 180 w 252"/>
                  <a:gd name="T47" fmla="*/ 94 h 110"/>
                  <a:gd name="T48" fmla="*/ 170 w 252"/>
                  <a:gd name="T49" fmla="*/ 100 h 110"/>
                  <a:gd name="T50" fmla="*/ 159 w 252"/>
                  <a:gd name="T51" fmla="*/ 105 h 110"/>
                  <a:gd name="T52" fmla="*/ 150 w 252"/>
                  <a:gd name="T53" fmla="*/ 108 h 110"/>
                  <a:gd name="T54" fmla="*/ 145 w 252"/>
                  <a:gd name="T55" fmla="*/ 110 h 110"/>
                  <a:gd name="T56" fmla="*/ 141 w 252"/>
                  <a:gd name="T57" fmla="*/ 110 h 110"/>
                  <a:gd name="T58" fmla="*/ 134 w 252"/>
                  <a:gd name="T59" fmla="*/ 108 h 110"/>
                  <a:gd name="T60" fmla="*/ 130 w 252"/>
                  <a:gd name="T61" fmla="*/ 107 h 110"/>
                  <a:gd name="T62" fmla="*/ 124 w 252"/>
                  <a:gd name="T63" fmla="*/ 104 h 110"/>
                  <a:gd name="T64" fmla="*/ 113 w 252"/>
                  <a:gd name="T65" fmla="*/ 97 h 110"/>
                  <a:gd name="T66" fmla="*/ 101 w 252"/>
                  <a:gd name="T67" fmla="*/ 91 h 110"/>
                  <a:gd name="T68" fmla="*/ 87 w 252"/>
                  <a:gd name="T69" fmla="*/ 83 h 110"/>
                  <a:gd name="T70" fmla="*/ 72 w 252"/>
                  <a:gd name="T71" fmla="*/ 75 h 110"/>
                  <a:gd name="T72" fmla="*/ 58 w 252"/>
                  <a:gd name="T73" fmla="*/ 67 h 110"/>
                  <a:gd name="T74" fmla="*/ 44 w 252"/>
                  <a:gd name="T75" fmla="*/ 60 h 110"/>
                  <a:gd name="T76" fmla="*/ 33 w 252"/>
                  <a:gd name="T77" fmla="*/ 53 h 110"/>
                  <a:gd name="T78" fmla="*/ 23 w 252"/>
                  <a:gd name="T79" fmla="*/ 49 h 110"/>
                  <a:gd name="T80" fmla="*/ 18 w 252"/>
                  <a:gd name="T81" fmla="*/ 47 h 110"/>
                  <a:gd name="T82" fmla="*/ 15 w 252"/>
                  <a:gd name="T83" fmla="*/ 44 h 110"/>
                  <a:gd name="T84" fmla="*/ 10 w 252"/>
                  <a:gd name="T85" fmla="*/ 41 h 110"/>
                  <a:gd name="T86" fmla="*/ 5 w 252"/>
                  <a:gd name="T87" fmla="*/ 37 h 11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252"/>
                  <a:gd name="T133" fmla="*/ 0 h 110"/>
                  <a:gd name="T134" fmla="*/ 252 w 252"/>
                  <a:gd name="T135" fmla="*/ 110 h 11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252" h="110">
                    <a:moveTo>
                      <a:pt x="5" y="37"/>
                    </a:moveTo>
                    <a:lnTo>
                      <a:pt x="3" y="34"/>
                    </a:lnTo>
                    <a:lnTo>
                      <a:pt x="2" y="30"/>
                    </a:lnTo>
                    <a:lnTo>
                      <a:pt x="1" y="25"/>
                    </a:lnTo>
                    <a:lnTo>
                      <a:pt x="0" y="20"/>
                    </a:lnTo>
                    <a:lnTo>
                      <a:pt x="1" y="15"/>
                    </a:lnTo>
                    <a:lnTo>
                      <a:pt x="2" y="11"/>
                    </a:lnTo>
                    <a:lnTo>
                      <a:pt x="5" y="4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8" y="1"/>
                    </a:lnTo>
                    <a:lnTo>
                      <a:pt x="34" y="1"/>
                    </a:lnTo>
                    <a:lnTo>
                      <a:pt x="40" y="1"/>
                    </a:lnTo>
                    <a:lnTo>
                      <a:pt x="49" y="2"/>
                    </a:lnTo>
                    <a:lnTo>
                      <a:pt x="58" y="2"/>
                    </a:lnTo>
                    <a:lnTo>
                      <a:pt x="67" y="3"/>
                    </a:lnTo>
                    <a:lnTo>
                      <a:pt x="76" y="3"/>
                    </a:lnTo>
                    <a:lnTo>
                      <a:pt x="86" y="4"/>
                    </a:lnTo>
                    <a:lnTo>
                      <a:pt x="96" y="6"/>
                    </a:lnTo>
                    <a:lnTo>
                      <a:pt x="107" y="6"/>
                    </a:lnTo>
                    <a:lnTo>
                      <a:pt x="118" y="6"/>
                    </a:lnTo>
                    <a:lnTo>
                      <a:pt x="128" y="9"/>
                    </a:lnTo>
                    <a:lnTo>
                      <a:pt x="140" y="10"/>
                    </a:lnTo>
                    <a:lnTo>
                      <a:pt x="149" y="10"/>
                    </a:lnTo>
                    <a:lnTo>
                      <a:pt x="160" y="11"/>
                    </a:lnTo>
                    <a:lnTo>
                      <a:pt x="170" y="12"/>
                    </a:lnTo>
                    <a:lnTo>
                      <a:pt x="180" y="13"/>
                    </a:lnTo>
                    <a:lnTo>
                      <a:pt x="189" y="14"/>
                    </a:lnTo>
                    <a:lnTo>
                      <a:pt x="199" y="14"/>
                    </a:lnTo>
                    <a:lnTo>
                      <a:pt x="208" y="15"/>
                    </a:lnTo>
                    <a:lnTo>
                      <a:pt x="215" y="16"/>
                    </a:lnTo>
                    <a:lnTo>
                      <a:pt x="222" y="16"/>
                    </a:lnTo>
                    <a:lnTo>
                      <a:pt x="228" y="17"/>
                    </a:lnTo>
                    <a:lnTo>
                      <a:pt x="234" y="18"/>
                    </a:lnTo>
                    <a:lnTo>
                      <a:pt x="237" y="18"/>
                    </a:lnTo>
                    <a:lnTo>
                      <a:pt x="241" y="19"/>
                    </a:lnTo>
                    <a:lnTo>
                      <a:pt x="243" y="19"/>
                    </a:lnTo>
                    <a:lnTo>
                      <a:pt x="245" y="29"/>
                    </a:lnTo>
                    <a:lnTo>
                      <a:pt x="245" y="37"/>
                    </a:lnTo>
                    <a:lnTo>
                      <a:pt x="245" y="47"/>
                    </a:lnTo>
                    <a:lnTo>
                      <a:pt x="246" y="56"/>
                    </a:lnTo>
                    <a:lnTo>
                      <a:pt x="247" y="57"/>
                    </a:lnTo>
                    <a:lnTo>
                      <a:pt x="249" y="58"/>
                    </a:lnTo>
                    <a:lnTo>
                      <a:pt x="250" y="60"/>
                    </a:lnTo>
                    <a:lnTo>
                      <a:pt x="251" y="60"/>
                    </a:lnTo>
                    <a:lnTo>
                      <a:pt x="252" y="62"/>
                    </a:lnTo>
                    <a:lnTo>
                      <a:pt x="252" y="63"/>
                    </a:lnTo>
                    <a:lnTo>
                      <a:pt x="251" y="64"/>
                    </a:lnTo>
                    <a:lnTo>
                      <a:pt x="249" y="65"/>
                    </a:lnTo>
                    <a:lnTo>
                      <a:pt x="248" y="66"/>
                    </a:lnTo>
                    <a:lnTo>
                      <a:pt x="247" y="66"/>
                    </a:lnTo>
                    <a:lnTo>
                      <a:pt x="245" y="67"/>
                    </a:lnTo>
                    <a:lnTo>
                      <a:pt x="241" y="68"/>
                    </a:lnTo>
                    <a:lnTo>
                      <a:pt x="238" y="69"/>
                    </a:lnTo>
                    <a:lnTo>
                      <a:pt x="236" y="70"/>
                    </a:lnTo>
                    <a:lnTo>
                      <a:pt x="233" y="72"/>
                    </a:lnTo>
                    <a:lnTo>
                      <a:pt x="230" y="74"/>
                    </a:lnTo>
                    <a:lnTo>
                      <a:pt x="226" y="75"/>
                    </a:lnTo>
                    <a:lnTo>
                      <a:pt x="222" y="77"/>
                    </a:lnTo>
                    <a:lnTo>
                      <a:pt x="218" y="78"/>
                    </a:lnTo>
                    <a:lnTo>
                      <a:pt x="215" y="81"/>
                    </a:lnTo>
                    <a:lnTo>
                      <a:pt x="210" y="81"/>
                    </a:lnTo>
                    <a:lnTo>
                      <a:pt x="205" y="84"/>
                    </a:lnTo>
                    <a:lnTo>
                      <a:pt x="202" y="85"/>
                    </a:lnTo>
                    <a:lnTo>
                      <a:pt x="197" y="88"/>
                    </a:lnTo>
                    <a:lnTo>
                      <a:pt x="193" y="90"/>
                    </a:lnTo>
                    <a:lnTo>
                      <a:pt x="189" y="91"/>
                    </a:lnTo>
                    <a:lnTo>
                      <a:pt x="185" y="93"/>
                    </a:lnTo>
                    <a:lnTo>
                      <a:pt x="180" y="94"/>
                    </a:lnTo>
                    <a:lnTo>
                      <a:pt x="177" y="97"/>
                    </a:lnTo>
                    <a:lnTo>
                      <a:pt x="173" y="99"/>
                    </a:lnTo>
                    <a:lnTo>
                      <a:pt x="170" y="100"/>
                    </a:lnTo>
                    <a:lnTo>
                      <a:pt x="165" y="101"/>
                    </a:lnTo>
                    <a:lnTo>
                      <a:pt x="162" y="104"/>
                    </a:lnTo>
                    <a:lnTo>
                      <a:pt x="159" y="105"/>
                    </a:lnTo>
                    <a:lnTo>
                      <a:pt x="156" y="106"/>
                    </a:lnTo>
                    <a:lnTo>
                      <a:pt x="154" y="107"/>
                    </a:lnTo>
                    <a:lnTo>
                      <a:pt x="150" y="108"/>
                    </a:lnTo>
                    <a:lnTo>
                      <a:pt x="148" y="109"/>
                    </a:lnTo>
                    <a:lnTo>
                      <a:pt x="146" y="109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10"/>
                    </a:lnTo>
                    <a:lnTo>
                      <a:pt x="141" y="110"/>
                    </a:lnTo>
                    <a:lnTo>
                      <a:pt x="140" y="109"/>
                    </a:lnTo>
                    <a:lnTo>
                      <a:pt x="138" y="109"/>
                    </a:lnTo>
                    <a:lnTo>
                      <a:pt x="134" y="108"/>
                    </a:lnTo>
                    <a:lnTo>
                      <a:pt x="132" y="107"/>
                    </a:lnTo>
                    <a:lnTo>
                      <a:pt x="130" y="107"/>
                    </a:lnTo>
                    <a:lnTo>
                      <a:pt x="129" y="106"/>
                    </a:lnTo>
                    <a:lnTo>
                      <a:pt x="127" y="105"/>
                    </a:lnTo>
                    <a:lnTo>
                      <a:pt x="124" y="104"/>
                    </a:lnTo>
                    <a:lnTo>
                      <a:pt x="122" y="101"/>
                    </a:lnTo>
                    <a:lnTo>
                      <a:pt x="118" y="100"/>
                    </a:lnTo>
                    <a:lnTo>
                      <a:pt x="113" y="97"/>
                    </a:lnTo>
                    <a:lnTo>
                      <a:pt x="110" y="95"/>
                    </a:lnTo>
                    <a:lnTo>
                      <a:pt x="106" y="93"/>
                    </a:lnTo>
                    <a:lnTo>
                      <a:pt x="101" y="91"/>
                    </a:lnTo>
                    <a:lnTo>
                      <a:pt x="96" y="89"/>
                    </a:lnTo>
                    <a:lnTo>
                      <a:pt x="92" y="87"/>
                    </a:lnTo>
                    <a:lnTo>
                      <a:pt x="87" y="83"/>
                    </a:lnTo>
                    <a:lnTo>
                      <a:pt x="82" y="81"/>
                    </a:lnTo>
                    <a:lnTo>
                      <a:pt x="77" y="78"/>
                    </a:lnTo>
                    <a:lnTo>
                      <a:pt x="72" y="75"/>
                    </a:lnTo>
                    <a:lnTo>
                      <a:pt x="67" y="73"/>
                    </a:lnTo>
                    <a:lnTo>
                      <a:pt x="63" y="69"/>
                    </a:lnTo>
                    <a:lnTo>
                      <a:pt x="58" y="67"/>
                    </a:lnTo>
                    <a:lnTo>
                      <a:pt x="53" y="65"/>
                    </a:lnTo>
                    <a:lnTo>
                      <a:pt x="49" y="63"/>
                    </a:lnTo>
                    <a:lnTo>
                      <a:pt x="44" y="60"/>
                    </a:lnTo>
                    <a:lnTo>
                      <a:pt x="39" y="58"/>
                    </a:lnTo>
                    <a:lnTo>
                      <a:pt x="36" y="56"/>
                    </a:lnTo>
                    <a:lnTo>
                      <a:pt x="33" y="53"/>
                    </a:lnTo>
                    <a:lnTo>
                      <a:pt x="30" y="52"/>
                    </a:lnTo>
                    <a:lnTo>
                      <a:pt x="25" y="50"/>
                    </a:lnTo>
                    <a:lnTo>
                      <a:pt x="23" y="49"/>
                    </a:lnTo>
                    <a:lnTo>
                      <a:pt x="21" y="48"/>
                    </a:lnTo>
                    <a:lnTo>
                      <a:pt x="19" y="47"/>
                    </a:lnTo>
                    <a:lnTo>
                      <a:pt x="18" y="47"/>
                    </a:lnTo>
                    <a:lnTo>
                      <a:pt x="17" y="46"/>
                    </a:lnTo>
                    <a:lnTo>
                      <a:pt x="16" y="44"/>
                    </a:lnTo>
                    <a:lnTo>
                      <a:pt x="15" y="44"/>
                    </a:lnTo>
                    <a:lnTo>
                      <a:pt x="13" y="44"/>
                    </a:lnTo>
                    <a:lnTo>
                      <a:pt x="12" y="42"/>
                    </a:lnTo>
                    <a:lnTo>
                      <a:pt x="10" y="41"/>
                    </a:lnTo>
                    <a:lnTo>
                      <a:pt x="8" y="40"/>
                    </a:lnTo>
                    <a:lnTo>
                      <a:pt x="6" y="38"/>
                    </a:lnTo>
                    <a:lnTo>
                      <a:pt x="5" y="37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86" name="Freeform 955"/>
              <p:cNvSpPr>
                <a:spLocks/>
              </p:cNvSpPr>
              <p:nvPr/>
            </p:nvSpPr>
            <p:spPr bwMode="auto">
              <a:xfrm>
                <a:off x="2997" y="1972"/>
                <a:ext cx="14" cy="37"/>
              </a:xfrm>
              <a:custGeom>
                <a:avLst/>
                <a:gdLst>
                  <a:gd name="T0" fmla="*/ 13 w 14"/>
                  <a:gd name="T1" fmla="*/ 0 h 37"/>
                  <a:gd name="T2" fmla="*/ 13 w 14"/>
                  <a:gd name="T3" fmla="*/ 0 h 37"/>
                  <a:gd name="T4" fmla="*/ 6 w 14"/>
                  <a:gd name="T5" fmla="*/ 4 h 37"/>
                  <a:gd name="T6" fmla="*/ 2 w 14"/>
                  <a:gd name="T7" fmla="*/ 10 h 37"/>
                  <a:gd name="T8" fmla="*/ 0 w 14"/>
                  <a:gd name="T9" fmla="*/ 15 h 37"/>
                  <a:gd name="T10" fmla="*/ 0 w 14"/>
                  <a:gd name="T11" fmla="*/ 20 h 37"/>
                  <a:gd name="T12" fmla="*/ 0 w 14"/>
                  <a:gd name="T13" fmla="*/ 25 h 37"/>
                  <a:gd name="T14" fmla="*/ 2 w 14"/>
                  <a:gd name="T15" fmla="*/ 31 h 37"/>
                  <a:gd name="T16" fmla="*/ 4 w 14"/>
                  <a:gd name="T17" fmla="*/ 34 h 37"/>
                  <a:gd name="T18" fmla="*/ 6 w 14"/>
                  <a:gd name="T19" fmla="*/ 37 h 37"/>
                  <a:gd name="T20" fmla="*/ 8 w 14"/>
                  <a:gd name="T21" fmla="*/ 36 h 37"/>
                  <a:gd name="T22" fmla="*/ 6 w 14"/>
                  <a:gd name="T23" fmla="*/ 34 h 37"/>
                  <a:gd name="T24" fmla="*/ 4 w 14"/>
                  <a:gd name="T25" fmla="*/ 29 h 37"/>
                  <a:gd name="T26" fmla="*/ 2 w 14"/>
                  <a:gd name="T27" fmla="*/ 25 h 37"/>
                  <a:gd name="T28" fmla="*/ 2 w 14"/>
                  <a:gd name="T29" fmla="*/ 20 h 37"/>
                  <a:gd name="T30" fmla="*/ 2 w 14"/>
                  <a:gd name="T31" fmla="*/ 15 h 37"/>
                  <a:gd name="T32" fmla="*/ 4 w 14"/>
                  <a:gd name="T33" fmla="*/ 11 h 37"/>
                  <a:gd name="T34" fmla="*/ 8 w 14"/>
                  <a:gd name="T35" fmla="*/ 6 h 37"/>
                  <a:gd name="T36" fmla="*/ 14 w 14"/>
                  <a:gd name="T37" fmla="*/ 1 h 37"/>
                  <a:gd name="T38" fmla="*/ 13 w 14"/>
                  <a:gd name="T39" fmla="*/ 0 h 3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4"/>
                  <a:gd name="T61" fmla="*/ 0 h 37"/>
                  <a:gd name="T62" fmla="*/ 14 w 14"/>
                  <a:gd name="T63" fmla="*/ 37 h 3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4" h="37">
                    <a:moveTo>
                      <a:pt x="13" y="0"/>
                    </a:moveTo>
                    <a:lnTo>
                      <a:pt x="13" y="0"/>
                    </a:lnTo>
                    <a:lnTo>
                      <a:pt x="6" y="4"/>
                    </a:lnTo>
                    <a:lnTo>
                      <a:pt x="2" y="10"/>
                    </a:lnTo>
                    <a:lnTo>
                      <a:pt x="0" y="15"/>
                    </a:lnTo>
                    <a:lnTo>
                      <a:pt x="0" y="20"/>
                    </a:lnTo>
                    <a:lnTo>
                      <a:pt x="0" y="25"/>
                    </a:lnTo>
                    <a:lnTo>
                      <a:pt x="2" y="31"/>
                    </a:lnTo>
                    <a:lnTo>
                      <a:pt x="4" y="34"/>
                    </a:lnTo>
                    <a:lnTo>
                      <a:pt x="6" y="37"/>
                    </a:lnTo>
                    <a:lnTo>
                      <a:pt x="8" y="36"/>
                    </a:lnTo>
                    <a:lnTo>
                      <a:pt x="6" y="34"/>
                    </a:lnTo>
                    <a:lnTo>
                      <a:pt x="4" y="29"/>
                    </a:lnTo>
                    <a:lnTo>
                      <a:pt x="2" y="25"/>
                    </a:lnTo>
                    <a:lnTo>
                      <a:pt x="2" y="20"/>
                    </a:lnTo>
                    <a:lnTo>
                      <a:pt x="2" y="15"/>
                    </a:lnTo>
                    <a:lnTo>
                      <a:pt x="4" y="11"/>
                    </a:lnTo>
                    <a:lnTo>
                      <a:pt x="8" y="6"/>
                    </a:lnTo>
                    <a:lnTo>
                      <a:pt x="14" y="1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87" name="Freeform 956"/>
              <p:cNvSpPr>
                <a:spLocks/>
              </p:cNvSpPr>
              <p:nvPr/>
            </p:nvSpPr>
            <p:spPr bwMode="auto">
              <a:xfrm>
                <a:off x="3010" y="1971"/>
                <a:ext cx="231" cy="21"/>
              </a:xfrm>
              <a:custGeom>
                <a:avLst/>
                <a:gdLst>
                  <a:gd name="T0" fmla="*/ 231 w 231"/>
                  <a:gd name="T1" fmla="*/ 21 h 21"/>
                  <a:gd name="T2" fmla="*/ 228 w 231"/>
                  <a:gd name="T3" fmla="*/ 19 h 21"/>
                  <a:gd name="T4" fmla="*/ 221 w 231"/>
                  <a:gd name="T5" fmla="*/ 18 h 21"/>
                  <a:gd name="T6" fmla="*/ 210 w 231"/>
                  <a:gd name="T7" fmla="*/ 17 h 21"/>
                  <a:gd name="T8" fmla="*/ 195 w 231"/>
                  <a:gd name="T9" fmla="*/ 15 h 21"/>
                  <a:gd name="T10" fmla="*/ 178 w 231"/>
                  <a:gd name="T11" fmla="*/ 13 h 21"/>
                  <a:gd name="T12" fmla="*/ 158 w 231"/>
                  <a:gd name="T13" fmla="*/ 11 h 21"/>
                  <a:gd name="T14" fmla="*/ 137 w 231"/>
                  <a:gd name="T15" fmla="*/ 11 h 21"/>
                  <a:gd name="T16" fmla="*/ 116 w 231"/>
                  <a:gd name="T17" fmla="*/ 7 h 21"/>
                  <a:gd name="T18" fmla="*/ 96 w 231"/>
                  <a:gd name="T19" fmla="*/ 5 h 21"/>
                  <a:gd name="T20" fmla="*/ 74 w 231"/>
                  <a:gd name="T21" fmla="*/ 4 h 21"/>
                  <a:gd name="T22" fmla="*/ 55 w 231"/>
                  <a:gd name="T23" fmla="*/ 3 h 21"/>
                  <a:gd name="T24" fmla="*/ 38 w 231"/>
                  <a:gd name="T25" fmla="*/ 2 h 21"/>
                  <a:gd name="T26" fmla="*/ 22 w 231"/>
                  <a:gd name="T27" fmla="*/ 1 h 21"/>
                  <a:gd name="T28" fmla="*/ 10 w 231"/>
                  <a:gd name="T29" fmla="*/ 0 h 21"/>
                  <a:gd name="T30" fmla="*/ 3 w 231"/>
                  <a:gd name="T31" fmla="*/ 0 h 21"/>
                  <a:gd name="T32" fmla="*/ 0 w 231"/>
                  <a:gd name="T33" fmla="*/ 0 h 21"/>
                  <a:gd name="T34" fmla="*/ 3 w 231"/>
                  <a:gd name="T35" fmla="*/ 2 h 21"/>
                  <a:gd name="T36" fmla="*/ 10 w 231"/>
                  <a:gd name="T37" fmla="*/ 2 h 21"/>
                  <a:gd name="T38" fmla="*/ 22 w 231"/>
                  <a:gd name="T39" fmla="*/ 3 h 21"/>
                  <a:gd name="T40" fmla="*/ 38 w 231"/>
                  <a:gd name="T41" fmla="*/ 3 h 21"/>
                  <a:gd name="T42" fmla="*/ 55 w 231"/>
                  <a:gd name="T43" fmla="*/ 4 h 21"/>
                  <a:gd name="T44" fmla="*/ 74 w 231"/>
                  <a:gd name="T45" fmla="*/ 6 h 21"/>
                  <a:gd name="T46" fmla="*/ 96 w 231"/>
                  <a:gd name="T47" fmla="*/ 7 h 21"/>
                  <a:gd name="T48" fmla="*/ 116 w 231"/>
                  <a:gd name="T49" fmla="*/ 11 h 21"/>
                  <a:gd name="T50" fmla="*/ 137 w 231"/>
                  <a:gd name="T51" fmla="*/ 11 h 21"/>
                  <a:gd name="T52" fmla="*/ 158 w 231"/>
                  <a:gd name="T53" fmla="*/ 13 h 21"/>
                  <a:gd name="T54" fmla="*/ 178 w 231"/>
                  <a:gd name="T55" fmla="*/ 15 h 21"/>
                  <a:gd name="T56" fmla="*/ 195 w 231"/>
                  <a:gd name="T57" fmla="*/ 17 h 21"/>
                  <a:gd name="T58" fmla="*/ 210 w 231"/>
                  <a:gd name="T59" fmla="*/ 18 h 21"/>
                  <a:gd name="T60" fmla="*/ 221 w 231"/>
                  <a:gd name="T61" fmla="*/ 20 h 21"/>
                  <a:gd name="T62" fmla="*/ 228 w 231"/>
                  <a:gd name="T63" fmla="*/ 21 h 21"/>
                  <a:gd name="T64" fmla="*/ 231 w 231"/>
                  <a:gd name="T65" fmla="*/ 21 h 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31"/>
                  <a:gd name="T100" fmla="*/ 0 h 21"/>
                  <a:gd name="T101" fmla="*/ 231 w 231"/>
                  <a:gd name="T102" fmla="*/ 21 h 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31" h="21">
                    <a:moveTo>
                      <a:pt x="231" y="21"/>
                    </a:moveTo>
                    <a:lnTo>
                      <a:pt x="231" y="21"/>
                    </a:lnTo>
                    <a:lnTo>
                      <a:pt x="230" y="19"/>
                    </a:lnTo>
                    <a:lnTo>
                      <a:pt x="228" y="19"/>
                    </a:lnTo>
                    <a:lnTo>
                      <a:pt x="225" y="18"/>
                    </a:lnTo>
                    <a:lnTo>
                      <a:pt x="221" y="18"/>
                    </a:lnTo>
                    <a:lnTo>
                      <a:pt x="215" y="17"/>
                    </a:lnTo>
                    <a:lnTo>
                      <a:pt x="210" y="17"/>
                    </a:lnTo>
                    <a:lnTo>
                      <a:pt x="202" y="16"/>
                    </a:lnTo>
                    <a:lnTo>
                      <a:pt x="195" y="15"/>
                    </a:lnTo>
                    <a:lnTo>
                      <a:pt x="187" y="13"/>
                    </a:lnTo>
                    <a:lnTo>
                      <a:pt x="178" y="13"/>
                    </a:lnTo>
                    <a:lnTo>
                      <a:pt x="167" y="13"/>
                    </a:lnTo>
                    <a:lnTo>
                      <a:pt x="158" y="11"/>
                    </a:lnTo>
                    <a:lnTo>
                      <a:pt x="148" y="11"/>
                    </a:lnTo>
                    <a:lnTo>
                      <a:pt x="137" y="11"/>
                    </a:lnTo>
                    <a:lnTo>
                      <a:pt x="127" y="8"/>
                    </a:lnTo>
                    <a:lnTo>
                      <a:pt x="116" y="7"/>
                    </a:lnTo>
                    <a:lnTo>
                      <a:pt x="106" y="6"/>
                    </a:lnTo>
                    <a:lnTo>
                      <a:pt x="96" y="5"/>
                    </a:lnTo>
                    <a:lnTo>
                      <a:pt x="84" y="5"/>
                    </a:lnTo>
                    <a:lnTo>
                      <a:pt x="74" y="4"/>
                    </a:lnTo>
                    <a:lnTo>
                      <a:pt x="65" y="3"/>
                    </a:lnTo>
                    <a:lnTo>
                      <a:pt x="55" y="3"/>
                    </a:lnTo>
                    <a:lnTo>
                      <a:pt x="46" y="2"/>
                    </a:lnTo>
                    <a:lnTo>
                      <a:pt x="38" y="2"/>
                    </a:lnTo>
                    <a:lnTo>
                      <a:pt x="29" y="1"/>
                    </a:lnTo>
                    <a:lnTo>
                      <a:pt x="22" y="1"/>
                    </a:lnTo>
                    <a:lnTo>
                      <a:pt x="17" y="1"/>
                    </a:lnTo>
                    <a:lnTo>
                      <a:pt x="10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6" y="2"/>
                    </a:lnTo>
                    <a:lnTo>
                      <a:pt x="10" y="2"/>
                    </a:lnTo>
                    <a:lnTo>
                      <a:pt x="17" y="2"/>
                    </a:lnTo>
                    <a:lnTo>
                      <a:pt x="22" y="3"/>
                    </a:lnTo>
                    <a:lnTo>
                      <a:pt x="29" y="3"/>
                    </a:lnTo>
                    <a:lnTo>
                      <a:pt x="38" y="3"/>
                    </a:lnTo>
                    <a:lnTo>
                      <a:pt x="46" y="4"/>
                    </a:lnTo>
                    <a:lnTo>
                      <a:pt x="55" y="4"/>
                    </a:lnTo>
                    <a:lnTo>
                      <a:pt x="65" y="5"/>
                    </a:lnTo>
                    <a:lnTo>
                      <a:pt x="74" y="6"/>
                    </a:lnTo>
                    <a:lnTo>
                      <a:pt x="84" y="6"/>
                    </a:lnTo>
                    <a:lnTo>
                      <a:pt x="96" y="7"/>
                    </a:lnTo>
                    <a:lnTo>
                      <a:pt x="106" y="8"/>
                    </a:lnTo>
                    <a:lnTo>
                      <a:pt x="116" y="11"/>
                    </a:lnTo>
                    <a:lnTo>
                      <a:pt x="127" y="11"/>
                    </a:lnTo>
                    <a:lnTo>
                      <a:pt x="137" y="11"/>
                    </a:lnTo>
                    <a:lnTo>
                      <a:pt x="148" y="13"/>
                    </a:lnTo>
                    <a:lnTo>
                      <a:pt x="158" y="13"/>
                    </a:lnTo>
                    <a:lnTo>
                      <a:pt x="167" y="15"/>
                    </a:lnTo>
                    <a:lnTo>
                      <a:pt x="178" y="15"/>
                    </a:lnTo>
                    <a:lnTo>
                      <a:pt x="187" y="16"/>
                    </a:lnTo>
                    <a:lnTo>
                      <a:pt x="195" y="17"/>
                    </a:lnTo>
                    <a:lnTo>
                      <a:pt x="202" y="18"/>
                    </a:lnTo>
                    <a:lnTo>
                      <a:pt x="210" y="18"/>
                    </a:lnTo>
                    <a:lnTo>
                      <a:pt x="215" y="19"/>
                    </a:lnTo>
                    <a:lnTo>
                      <a:pt x="221" y="20"/>
                    </a:lnTo>
                    <a:lnTo>
                      <a:pt x="225" y="20"/>
                    </a:lnTo>
                    <a:lnTo>
                      <a:pt x="228" y="21"/>
                    </a:lnTo>
                    <a:lnTo>
                      <a:pt x="229" y="21"/>
                    </a:lnTo>
                    <a:lnTo>
                      <a:pt x="231" y="2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88" name="Freeform 957"/>
              <p:cNvSpPr>
                <a:spLocks/>
              </p:cNvSpPr>
              <p:nvPr/>
            </p:nvSpPr>
            <p:spPr bwMode="auto">
              <a:xfrm>
                <a:off x="3239" y="1991"/>
                <a:ext cx="5" cy="38"/>
              </a:xfrm>
              <a:custGeom>
                <a:avLst/>
                <a:gdLst>
                  <a:gd name="T0" fmla="*/ 4 w 5"/>
                  <a:gd name="T1" fmla="*/ 37 h 38"/>
                  <a:gd name="T2" fmla="*/ 5 w 5"/>
                  <a:gd name="T3" fmla="*/ 37 h 38"/>
                  <a:gd name="T4" fmla="*/ 4 w 5"/>
                  <a:gd name="T5" fmla="*/ 28 h 38"/>
                  <a:gd name="T6" fmla="*/ 4 w 5"/>
                  <a:gd name="T7" fmla="*/ 17 h 38"/>
                  <a:gd name="T8" fmla="*/ 2 w 5"/>
                  <a:gd name="T9" fmla="*/ 9 h 38"/>
                  <a:gd name="T10" fmla="*/ 2 w 5"/>
                  <a:gd name="T11" fmla="*/ 0 h 38"/>
                  <a:gd name="T12" fmla="*/ 0 w 5"/>
                  <a:gd name="T13" fmla="*/ 0 h 38"/>
                  <a:gd name="T14" fmla="*/ 0 w 5"/>
                  <a:gd name="T15" fmla="*/ 9 h 38"/>
                  <a:gd name="T16" fmla="*/ 1 w 5"/>
                  <a:gd name="T17" fmla="*/ 17 h 38"/>
                  <a:gd name="T18" fmla="*/ 1 w 5"/>
                  <a:gd name="T19" fmla="*/ 28 h 38"/>
                  <a:gd name="T20" fmla="*/ 2 w 5"/>
                  <a:gd name="T21" fmla="*/ 37 h 38"/>
                  <a:gd name="T22" fmla="*/ 4 w 5"/>
                  <a:gd name="T23" fmla="*/ 38 h 38"/>
                  <a:gd name="T24" fmla="*/ 2 w 5"/>
                  <a:gd name="T25" fmla="*/ 37 h 38"/>
                  <a:gd name="T26" fmla="*/ 2 w 5"/>
                  <a:gd name="T27" fmla="*/ 38 h 38"/>
                  <a:gd name="T28" fmla="*/ 4 w 5"/>
                  <a:gd name="T29" fmla="*/ 38 h 38"/>
                  <a:gd name="T30" fmla="*/ 4 w 5"/>
                  <a:gd name="T31" fmla="*/ 37 h 3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"/>
                  <a:gd name="T49" fmla="*/ 0 h 38"/>
                  <a:gd name="T50" fmla="*/ 5 w 5"/>
                  <a:gd name="T51" fmla="*/ 38 h 3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" h="38">
                    <a:moveTo>
                      <a:pt x="4" y="37"/>
                    </a:moveTo>
                    <a:lnTo>
                      <a:pt x="5" y="37"/>
                    </a:lnTo>
                    <a:lnTo>
                      <a:pt x="4" y="28"/>
                    </a:lnTo>
                    <a:lnTo>
                      <a:pt x="4" y="17"/>
                    </a:lnTo>
                    <a:lnTo>
                      <a:pt x="2" y="9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1" y="17"/>
                    </a:lnTo>
                    <a:lnTo>
                      <a:pt x="1" y="28"/>
                    </a:lnTo>
                    <a:lnTo>
                      <a:pt x="2" y="37"/>
                    </a:lnTo>
                    <a:lnTo>
                      <a:pt x="4" y="38"/>
                    </a:lnTo>
                    <a:lnTo>
                      <a:pt x="2" y="37"/>
                    </a:lnTo>
                    <a:lnTo>
                      <a:pt x="2" y="38"/>
                    </a:lnTo>
                    <a:lnTo>
                      <a:pt x="4" y="38"/>
                    </a:lnTo>
                    <a:lnTo>
                      <a:pt x="4" y="37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89" name="Freeform 958"/>
              <p:cNvSpPr>
                <a:spLocks/>
              </p:cNvSpPr>
              <p:nvPr/>
            </p:nvSpPr>
            <p:spPr bwMode="auto">
              <a:xfrm>
                <a:off x="3241" y="2026"/>
                <a:ext cx="9" cy="11"/>
              </a:xfrm>
              <a:custGeom>
                <a:avLst/>
                <a:gdLst>
                  <a:gd name="T0" fmla="*/ 5 w 9"/>
                  <a:gd name="T1" fmla="*/ 11 h 11"/>
                  <a:gd name="T2" fmla="*/ 5 w 9"/>
                  <a:gd name="T3" fmla="*/ 11 h 11"/>
                  <a:gd name="T4" fmla="*/ 8 w 9"/>
                  <a:gd name="T5" fmla="*/ 10 h 11"/>
                  <a:gd name="T6" fmla="*/ 9 w 9"/>
                  <a:gd name="T7" fmla="*/ 8 h 11"/>
                  <a:gd name="T8" fmla="*/ 9 w 9"/>
                  <a:gd name="T9" fmla="*/ 7 h 11"/>
                  <a:gd name="T10" fmla="*/ 8 w 9"/>
                  <a:gd name="T11" fmla="*/ 5 h 11"/>
                  <a:gd name="T12" fmla="*/ 7 w 9"/>
                  <a:gd name="T13" fmla="*/ 4 h 11"/>
                  <a:gd name="T14" fmla="*/ 5 w 9"/>
                  <a:gd name="T15" fmla="*/ 3 h 11"/>
                  <a:gd name="T16" fmla="*/ 3 w 9"/>
                  <a:gd name="T17" fmla="*/ 2 h 11"/>
                  <a:gd name="T18" fmla="*/ 2 w 9"/>
                  <a:gd name="T19" fmla="*/ 0 h 11"/>
                  <a:gd name="T20" fmla="*/ 0 w 9"/>
                  <a:gd name="T21" fmla="*/ 2 h 11"/>
                  <a:gd name="T22" fmla="*/ 2 w 9"/>
                  <a:gd name="T23" fmla="*/ 3 h 11"/>
                  <a:gd name="T24" fmla="*/ 4 w 9"/>
                  <a:gd name="T25" fmla="*/ 4 h 11"/>
                  <a:gd name="T26" fmla="*/ 5 w 9"/>
                  <a:gd name="T27" fmla="*/ 5 h 11"/>
                  <a:gd name="T28" fmla="*/ 7 w 9"/>
                  <a:gd name="T29" fmla="*/ 6 h 11"/>
                  <a:gd name="T30" fmla="*/ 7 w 9"/>
                  <a:gd name="T31" fmla="*/ 7 h 11"/>
                  <a:gd name="T32" fmla="*/ 7 w 9"/>
                  <a:gd name="T33" fmla="*/ 8 h 11"/>
                  <a:gd name="T34" fmla="*/ 4 w 9"/>
                  <a:gd name="T35" fmla="*/ 10 h 11"/>
                  <a:gd name="T36" fmla="*/ 5 w 9"/>
                  <a:gd name="T37" fmla="*/ 11 h 1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11"/>
                  <a:gd name="T59" fmla="*/ 9 w 9"/>
                  <a:gd name="T60" fmla="*/ 11 h 1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11">
                    <a:moveTo>
                      <a:pt x="5" y="11"/>
                    </a:moveTo>
                    <a:lnTo>
                      <a:pt x="5" y="11"/>
                    </a:lnTo>
                    <a:lnTo>
                      <a:pt x="8" y="10"/>
                    </a:lnTo>
                    <a:lnTo>
                      <a:pt x="9" y="8"/>
                    </a:lnTo>
                    <a:lnTo>
                      <a:pt x="9" y="7"/>
                    </a:lnTo>
                    <a:lnTo>
                      <a:pt x="8" y="5"/>
                    </a:lnTo>
                    <a:lnTo>
                      <a:pt x="7" y="4"/>
                    </a:lnTo>
                    <a:lnTo>
                      <a:pt x="5" y="3"/>
                    </a:lnTo>
                    <a:lnTo>
                      <a:pt x="3" y="2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2" y="3"/>
                    </a:lnTo>
                    <a:lnTo>
                      <a:pt x="4" y="4"/>
                    </a:lnTo>
                    <a:lnTo>
                      <a:pt x="5" y="5"/>
                    </a:lnTo>
                    <a:lnTo>
                      <a:pt x="7" y="6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4" y="10"/>
                    </a:lnTo>
                    <a:lnTo>
                      <a:pt x="5" y="1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90" name="Freeform 959"/>
              <p:cNvSpPr>
                <a:spLocks/>
              </p:cNvSpPr>
              <p:nvPr/>
            </p:nvSpPr>
            <p:spPr bwMode="auto">
              <a:xfrm>
                <a:off x="3143" y="2037"/>
                <a:ext cx="103" cy="46"/>
              </a:xfrm>
              <a:custGeom>
                <a:avLst/>
                <a:gdLst>
                  <a:gd name="T0" fmla="*/ 1 w 103"/>
                  <a:gd name="T1" fmla="*/ 46 h 46"/>
                  <a:gd name="T2" fmla="*/ 3 w 103"/>
                  <a:gd name="T3" fmla="*/ 45 h 46"/>
                  <a:gd name="T4" fmla="*/ 9 w 103"/>
                  <a:gd name="T5" fmla="*/ 43 h 46"/>
                  <a:gd name="T6" fmla="*/ 14 w 103"/>
                  <a:gd name="T7" fmla="*/ 41 h 46"/>
                  <a:gd name="T8" fmla="*/ 20 w 103"/>
                  <a:gd name="T9" fmla="*/ 38 h 46"/>
                  <a:gd name="T10" fmla="*/ 27 w 103"/>
                  <a:gd name="T11" fmla="*/ 35 h 46"/>
                  <a:gd name="T12" fmla="*/ 35 w 103"/>
                  <a:gd name="T13" fmla="*/ 31 h 46"/>
                  <a:gd name="T14" fmla="*/ 44 w 103"/>
                  <a:gd name="T15" fmla="*/ 27 h 46"/>
                  <a:gd name="T16" fmla="*/ 52 w 103"/>
                  <a:gd name="T17" fmla="*/ 24 h 46"/>
                  <a:gd name="T18" fmla="*/ 61 w 103"/>
                  <a:gd name="T19" fmla="*/ 20 h 46"/>
                  <a:gd name="T20" fmla="*/ 70 w 103"/>
                  <a:gd name="T21" fmla="*/ 17 h 46"/>
                  <a:gd name="T22" fmla="*/ 77 w 103"/>
                  <a:gd name="T23" fmla="*/ 13 h 46"/>
                  <a:gd name="T24" fmla="*/ 83 w 103"/>
                  <a:gd name="T25" fmla="*/ 11 h 46"/>
                  <a:gd name="T26" fmla="*/ 90 w 103"/>
                  <a:gd name="T27" fmla="*/ 7 h 46"/>
                  <a:gd name="T28" fmla="*/ 96 w 103"/>
                  <a:gd name="T29" fmla="*/ 4 h 46"/>
                  <a:gd name="T30" fmla="*/ 100 w 103"/>
                  <a:gd name="T31" fmla="*/ 3 h 46"/>
                  <a:gd name="T32" fmla="*/ 103 w 103"/>
                  <a:gd name="T33" fmla="*/ 1 h 46"/>
                  <a:gd name="T34" fmla="*/ 101 w 103"/>
                  <a:gd name="T35" fmla="*/ 0 h 46"/>
                  <a:gd name="T36" fmla="*/ 97 w 103"/>
                  <a:gd name="T37" fmla="*/ 2 h 46"/>
                  <a:gd name="T38" fmla="*/ 92 w 103"/>
                  <a:gd name="T39" fmla="*/ 4 h 46"/>
                  <a:gd name="T40" fmla="*/ 86 w 103"/>
                  <a:gd name="T41" fmla="*/ 7 h 46"/>
                  <a:gd name="T42" fmla="*/ 79 w 103"/>
                  <a:gd name="T43" fmla="*/ 11 h 46"/>
                  <a:gd name="T44" fmla="*/ 72 w 103"/>
                  <a:gd name="T45" fmla="*/ 13 h 46"/>
                  <a:gd name="T46" fmla="*/ 64 w 103"/>
                  <a:gd name="T47" fmla="*/ 17 h 46"/>
                  <a:gd name="T48" fmla="*/ 56 w 103"/>
                  <a:gd name="T49" fmla="*/ 20 h 46"/>
                  <a:gd name="T50" fmla="*/ 47 w 103"/>
                  <a:gd name="T51" fmla="*/ 24 h 46"/>
                  <a:gd name="T52" fmla="*/ 39 w 103"/>
                  <a:gd name="T53" fmla="*/ 28 h 46"/>
                  <a:gd name="T54" fmla="*/ 31 w 103"/>
                  <a:gd name="T55" fmla="*/ 31 h 46"/>
                  <a:gd name="T56" fmla="*/ 23 w 103"/>
                  <a:gd name="T57" fmla="*/ 35 h 46"/>
                  <a:gd name="T58" fmla="*/ 16 w 103"/>
                  <a:gd name="T59" fmla="*/ 38 h 46"/>
                  <a:gd name="T60" fmla="*/ 11 w 103"/>
                  <a:gd name="T61" fmla="*/ 41 h 46"/>
                  <a:gd name="T62" fmla="*/ 5 w 103"/>
                  <a:gd name="T63" fmla="*/ 43 h 46"/>
                  <a:gd name="T64" fmla="*/ 1 w 103"/>
                  <a:gd name="T65" fmla="*/ 44 h 46"/>
                  <a:gd name="T66" fmla="*/ 1 w 103"/>
                  <a:gd name="T67" fmla="*/ 46 h 4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6"/>
                  <a:gd name="T104" fmla="*/ 103 w 103"/>
                  <a:gd name="T105" fmla="*/ 46 h 4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6">
                    <a:moveTo>
                      <a:pt x="1" y="46"/>
                    </a:moveTo>
                    <a:lnTo>
                      <a:pt x="1" y="46"/>
                    </a:lnTo>
                    <a:lnTo>
                      <a:pt x="2" y="45"/>
                    </a:lnTo>
                    <a:lnTo>
                      <a:pt x="3" y="45"/>
                    </a:lnTo>
                    <a:lnTo>
                      <a:pt x="5" y="44"/>
                    </a:lnTo>
                    <a:lnTo>
                      <a:pt x="9" y="43"/>
                    </a:lnTo>
                    <a:lnTo>
                      <a:pt x="12" y="42"/>
                    </a:lnTo>
                    <a:lnTo>
                      <a:pt x="14" y="41"/>
                    </a:lnTo>
                    <a:lnTo>
                      <a:pt x="17" y="40"/>
                    </a:lnTo>
                    <a:lnTo>
                      <a:pt x="20" y="38"/>
                    </a:lnTo>
                    <a:lnTo>
                      <a:pt x="24" y="35"/>
                    </a:lnTo>
                    <a:lnTo>
                      <a:pt x="27" y="35"/>
                    </a:lnTo>
                    <a:lnTo>
                      <a:pt x="31" y="32"/>
                    </a:lnTo>
                    <a:lnTo>
                      <a:pt x="35" y="31"/>
                    </a:lnTo>
                    <a:lnTo>
                      <a:pt x="40" y="29"/>
                    </a:lnTo>
                    <a:lnTo>
                      <a:pt x="44" y="27"/>
                    </a:lnTo>
                    <a:lnTo>
                      <a:pt x="47" y="26"/>
                    </a:lnTo>
                    <a:lnTo>
                      <a:pt x="52" y="24"/>
                    </a:lnTo>
                    <a:lnTo>
                      <a:pt x="57" y="23"/>
                    </a:lnTo>
                    <a:lnTo>
                      <a:pt x="61" y="20"/>
                    </a:lnTo>
                    <a:lnTo>
                      <a:pt x="64" y="18"/>
                    </a:lnTo>
                    <a:lnTo>
                      <a:pt x="70" y="17"/>
                    </a:lnTo>
                    <a:lnTo>
                      <a:pt x="73" y="15"/>
                    </a:lnTo>
                    <a:lnTo>
                      <a:pt x="77" y="13"/>
                    </a:lnTo>
                    <a:lnTo>
                      <a:pt x="80" y="11"/>
                    </a:lnTo>
                    <a:lnTo>
                      <a:pt x="83" y="11"/>
                    </a:lnTo>
                    <a:lnTo>
                      <a:pt x="87" y="9"/>
                    </a:lnTo>
                    <a:lnTo>
                      <a:pt x="90" y="7"/>
                    </a:lnTo>
                    <a:lnTo>
                      <a:pt x="92" y="5"/>
                    </a:lnTo>
                    <a:lnTo>
                      <a:pt x="96" y="4"/>
                    </a:lnTo>
                    <a:lnTo>
                      <a:pt x="98" y="3"/>
                    </a:lnTo>
                    <a:lnTo>
                      <a:pt x="100" y="3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100" y="1"/>
                    </a:lnTo>
                    <a:lnTo>
                      <a:pt x="97" y="2"/>
                    </a:lnTo>
                    <a:lnTo>
                      <a:pt x="95" y="3"/>
                    </a:lnTo>
                    <a:lnTo>
                      <a:pt x="92" y="4"/>
                    </a:lnTo>
                    <a:lnTo>
                      <a:pt x="89" y="5"/>
                    </a:lnTo>
                    <a:lnTo>
                      <a:pt x="86" y="7"/>
                    </a:lnTo>
                    <a:lnTo>
                      <a:pt x="82" y="8"/>
                    </a:lnTo>
                    <a:lnTo>
                      <a:pt x="79" y="11"/>
                    </a:lnTo>
                    <a:lnTo>
                      <a:pt x="76" y="11"/>
                    </a:lnTo>
                    <a:lnTo>
                      <a:pt x="72" y="13"/>
                    </a:lnTo>
                    <a:lnTo>
                      <a:pt x="67" y="15"/>
                    </a:lnTo>
                    <a:lnTo>
                      <a:pt x="64" y="17"/>
                    </a:lnTo>
                    <a:lnTo>
                      <a:pt x="60" y="18"/>
                    </a:lnTo>
                    <a:lnTo>
                      <a:pt x="56" y="20"/>
                    </a:lnTo>
                    <a:lnTo>
                      <a:pt x="52" y="23"/>
                    </a:lnTo>
                    <a:lnTo>
                      <a:pt x="47" y="24"/>
                    </a:lnTo>
                    <a:lnTo>
                      <a:pt x="43" y="26"/>
                    </a:lnTo>
                    <a:lnTo>
                      <a:pt x="39" y="28"/>
                    </a:lnTo>
                    <a:lnTo>
                      <a:pt x="35" y="29"/>
                    </a:lnTo>
                    <a:lnTo>
                      <a:pt x="31" y="31"/>
                    </a:lnTo>
                    <a:lnTo>
                      <a:pt x="27" y="32"/>
                    </a:lnTo>
                    <a:lnTo>
                      <a:pt x="23" y="35"/>
                    </a:lnTo>
                    <a:lnTo>
                      <a:pt x="19" y="35"/>
                    </a:lnTo>
                    <a:lnTo>
                      <a:pt x="16" y="38"/>
                    </a:lnTo>
                    <a:lnTo>
                      <a:pt x="14" y="39"/>
                    </a:lnTo>
                    <a:lnTo>
                      <a:pt x="11" y="41"/>
                    </a:lnTo>
                    <a:lnTo>
                      <a:pt x="9" y="42"/>
                    </a:lnTo>
                    <a:lnTo>
                      <a:pt x="5" y="43"/>
                    </a:lnTo>
                    <a:lnTo>
                      <a:pt x="3" y="43"/>
                    </a:lnTo>
                    <a:lnTo>
                      <a:pt x="1" y="44"/>
                    </a:lnTo>
                    <a:lnTo>
                      <a:pt x="0" y="44"/>
                    </a:lnTo>
                    <a:lnTo>
                      <a:pt x="1" y="4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91" name="Freeform 960"/>
              <p:cNvSpPr>
                <a:spLocks/>
              </p:cNvSpPr>
              <p:nvPr/>
            </p:nvSpPr>
            <p:spPr bwMode="auto">
              <a:xfrm>
                <a:off x="3129" y="2078"/>
                <a:ext cx="14" cy="5"/>
              </a:xfrm>
              <a:custGeom>
                <a:avLst/>
                <a:gdLst>
                  <a:gd name="T0" fmla="*/ 0 w 14"/>
                  <a:gd name="T1" fmla="*/ 1 h 5"/>
                  <a:gd name="T2" fmla="*/ 0 w 14"/>
                  <a:gd name="T3" fmla="*/ 1 h 5"/>
                  <a:gd name="T4" fmla="*/ 1 w 14"/>
                  <a:gd name="T5" fmla="*/ 3 h 5"/>
                  <a:gd name="T6" fmla="*/ 3 w 14"/>
                  <a:gd name="T7" fmla="*/ 3 h 5"/>
                  <a:gd name="T8" fmla="*/ 7 w 14"/>
                  <a:gd name="T9" fmla="*/ 4 h 5"/>
                  <a:gd name="T10" fmla="*/ 7 w 14"/>
                  <a:gd name="T11" fmla="*/ 4 h 5"/>
                  <a:gd name="T12" fmla="*/ 10 w 14"/>
                  <a:gd name="T13" fmla="*/ 5 h 5"/>
                  <a:gd name="T14" fmla="*/ 11 w 14"/>
                  <a:gd name="T15" fmla="*/ 5 h 5"/>
                  <a:gd name="T16" fmla="*/ 13 w 14"/>
                  <a:gd name="T17" fmla="*/ 5 h 5"/>
                  <a:gd name="T18" fmla="*/ 14 w 14"/>
                  <a:gd name="T19" fmla="*/ 5 h 5"/>
                  <a:gd name="T20" fmla="*/ 13 w 14"/>
                  <a:gd name="T21" fmla="*/ 3 h 5"/>
                  <a:gd name="T22" fmla="*/ 11 w 14"/>
                  <a:gd name="T23" fmla="*/ 3 h 5"/>
                  <a:gd name="T24" fmla="*/ 10 w 14"/>
                  <a:gd name="T25" fmla="*/ 3 h 5"/>
                  <a:gd name="T26" fmla="*/ 9 w 14"/>
                  <a:gd name="T27" fmla="*/ 3 h 5"/>
                  <a:gd name="T28" fmla="*/ 7 w 14"/>
                  <a:gd name="T29" fmla="*/ 3 h 5"/>
                  <a:gd name="T30" fmla="*/ 3 w 14"/>
                  <a:gd name="T31" fmla="*/ 1 h 5"/>
                  <a:gd name="T32" fmla="*/ 2 w 14"/>
                  <a:gd name="T33" fmla="*/ 1 h 5"/>
                  <a:gd name="T34" fmla="*/ 1 w 14"/>
                  <a:gd name="T35" fmla="*/ 0 h 5"/>
                  <a:gd name="T36" fmla="*/ 0 w 14"/>
                  <a:gd name="T37" fmla="*/ 1 h 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5"/>
                  <a:gd name="T59" fmla="*/ 14 w 14"/>
                  <a:gd name="T60" fmla="*/ 5 h 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5">
                    <a:moveTo>
                      <a:pt x="0" y="1"/>
                    </a:moveTo>
                    <a:lnTo>
                      <a:pt x="0" y="1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7" y="4"/>
                    </a:lnTo>
                    <a:lnTo>
                      <a:pt x="10" y="5"/>
                    </a:lnTo>
                    <a:lnTo>
                      <a:pt x="11" y="5"/>
                    </a:lnTo>
                    <a:lnTo>
                      <a:pt x="13" y="5"/>
                    </a:lnTo>
                    <a:lnTo>
                      <a:pt x="14" y="5"/>
                    </a:lnTo>
                    <a:lnTo>
                      <a:pt x="13" y="3"/>
                    </a:lnTo>
                    <a:lnTo>
                      <a:pt x="11" y="3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3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92" name="Freeform 961"/>
              <p:cNvSpPr>
                <a:spLocks/>
              </p:cNvSpPr>
              <p:nvPr/>
            </p:nvSpPr>
            <p:spPr bwMode="auto">
              <a:xfrm>
                <a:off x="3015" y="2018"/>
                <a:ext cx="115" cy="62"/>
              </a:xfrm>
              <a:custGeom>
                <a:avLst/>
                <a:gdLst>
                  <a:gd name="T0" fmla="*/ 0 w 115"/>
                  <a:gd name="T1" fmla="*/ 1 h 62"/>
                  <a:gd name="T2" fmla="*/ 2 w 115"/>
                  <a:gd name="T3" fmla="*/ 2 h 62"/>
                  <a:gd name="T4" fmla="*/ 5 w 115"/>
                  <a:gd name="T5" fmla="*/ 4 h 62"/>
                  <a:gd name="T6" fmla="*/ 11 w 115"/>
                  <a:gd name="T7" fmla="*/ 7 h 62"/>
                  <a:gd name="T8" fmla="*/ 18 w 115"/>
                  <a:gd name="T9" fmla="*/ 11 h 62"/>
                  <a:gd name="T10" fmla="*/ 26 w 115"/>
                  <a:gd name="T11" fmla="*/ 16 h 62"/>
                  <a:gd name="T12" fmla="*/ 35 w 115"/>
                  <a:gd name="T13" fmla="*/ 20 h 62"/>
                  <a:gd name="T14" fmla="*/ 45 w 115"/>
                  <a:gd name="T15" fmla="*/ 26 h 62"/>
                  <a:gd name="T16" fmla="*/ 54 w 115"/>
                  <a:gd name="T17" fmla="*/ 30 h 62"/>
                  <a:gd name="T18" fmla="*/ 64 w 115"/>
                  <a:gd name="T19" fmla="*/ 36 h 62"/>
                  <a:gd name="T20" fmla="*/ 75 w 115"/>
                  <a:gd name="T21" fmla="*/ 42 h 62"/>
                  <a:gd name="T22" fmla="*/ 83 w 115"/>
                  <a:gd name="T23" fmla="*/ 46 h 62"/>
                  <a:gd name="T24" fmla="*/ 93 w 115"/>
                  <a:gd name="T25" fmla="*/ 51 h 62"/>
                  <a:gd name="T26" fmla="*/ 99 w 115"/>
                  <a:gd name="T27" fmla="*/ 54 h 62"/>
                  <a:gd name="T28" fmla="*/ 107 w 115"/>
                  <a:gd name="T29" fmla="*/ 58 h 62"/>
                  <a:gd name="T30" fmla="*/ 112 w 115"/>
                  <a:gd name="T31" fmla="*/ 61 h 62"/>
                  <a:gd name="T32" fmla="*/ 114 w 115"/>
                  <a:gd name="T33" fmla="*/ 62 h 62"/>
                  <a:gd name="T34" fmla="*/ 114 w 115"/>
                  <a:gd name="T35" fmla="*/ 60 h 62"/>
                  <a:gd name="T36" fmla="*/ 110 w 115"/>
                  <a:gd name="T37" fmla="*/ 58 h 62"/>
                  <a:gd name="T38" fmla="*/ 104 w 115"/>
                  <a:gd name="T39" fmla="*/ 55 h 62"/>
                  <a:gd name="T40" fmla="*/ 97 w 115"/>
                  <a:gd name="T41" fmla="*/ 51 h 62"/>
                  <a:gd name="T42" fmla="*/ 90 w 115"/>
                  <a:gd name="T43" fmla="*/ 46 h 62"/>
                  <a:gd name="T44" fmla="*/ 80 w 115"/>
                  <a:gd name="T45" fmla="*/ 42 h 62"/>
                  <a:gd name="T46" fmla="*/ 70 w 115"/>
                  <a:gd name="T47" fmla="*/ 37 h 62"/>
                  <a:gd name="T48" fmla="*/ 61 w 115"/>
                  <a:gd name="T49" fmla="*/ 32 h 62"/>
                  <a:gd name="T50" fmla="*/ 51 w 115"/>
                  <a:gd name="T51" fmla="*/ 26 h 62"/>
                  <a:gd name="T52" fmla="*/ 41 w 115"/>
                  <a:gd name="T53" fmla="*/ 21 h 62"/>
                  <a:gd name="T54" fmla="*/ 32 w 115"/>
                  <a:gd name="T55" fmla="*/ 17 h 62"/>
                  <a:gd name="T56" fmla="*/ 23 w 115"/>
                  <a:gd name="T57" fmla="*/ 11 h 62"/>
                  <a:gd name="T58" fmla="*/ 16 w 115"/>
                  <a:gd name="T59" fmla="*/ 7 h 62"/>
                  <a:gd name="T60" fmla="*/ 8 w 115"/>
                  <a:gd name="T61" fmla="*/ 4 h 62"/>
                  <a:gd name="T62" fmla="*/ 4 w 115"/>
                  <a:gd name="T63" fmla="*/ 2 h 62"/>
                  <a:gd name="T64" fmla="*/ 1 w 115"/>
                  <a:gd name="T65" fmla="*/ 0 h 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2"/>
                  <a:gd name="T101" fmla="*/ 115 w 115"/>
                  <a:gd name="T102" fmla="*/ 62 h 6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2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5" y="4"/>
                    </a:lnTo>
                    <a:lnTo>
                      <a:pt x="7" y="5"/>
                    </a:lnTo>
                    <a:lnTo>
                      <a:pt x="11" y="7"/>
                    </a:lnTo>
                    <a:lnTo>
                      <a:pt x="15" y="8"/>
                    </a:lnTo>
                    <a:lnTo>
                      <a:pt x="18" y="11"/>
                    </a:lnTo>
                    <a:lnTo>
                      <a:pt x="22" y="14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0"/>
                    </a:lnTo>
                    <a:lnTo>
                      <a:pt x="39" y="22"/>
                    </a:lnTo>
                    <a:lnTo>
                      <a:pt x="45" y="26"/>
                    </a:lnTo>
                    <a:lnTo>
                      <a:pt x="49" y="28"/>
                    </a:lnTo>
                    <a:lnTo>
                      <a:pt x="54" y="30"/>
                    </a:lnTo>
                    <a:lnTo>
                      <a:pt x="60" y="32"/>
                    </a:lnTo>
                    <a:lnTo>
                      <a:pt x="64" y="36"/>
                    </a:lnTo>
                    <a:lnTo>
                      <a:pt x="70" y="38"/>
                    </a:lnTo>
                    <a:lnTo>
                      <a:pt x="75" y="42"/>
                    </a:lnTo>
                    <a:lnTo>
                      <a:pt x="79" y="44"/>
                    </a:lnTo>
                    <a:lnTo>
                      <a:pt x="83" y="46"/>
                    </a:lnTo>
                    <a:lnTo>
                      <a:pt x="88" y="48"/>
                    </a:lnTo>
                    <a:lnTo>
                      <a:pt x="93" y="51"/>
                    </a:lnTo>
                    <a:lnTo>
                      <a:pt x="96" y="53"/>
                    </a:lnTo>
                    <a:lnTo>
                      <a:pt x="99" y="54"/>
                    </a:lnTo>
                    <a:lnTo>
                      <a:pt x="102" y="57"/>
                    </a:lnTo>
                    <a:lnTo>
                      <a:pt x="107" y="58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3" y="61"/>
                    </a:lnTo>
                    <a:lnTo>
                      <a:pt x="114" y="62"/>
                    </a:lnTo>
                    <a:lnTo>
                      <a:pt x="115" y="60"/>
                    </a:lnTo>
                    <a:lnTo>
                      <a:pt x="114" y="60"/>
                    </a:lnTo>
                    <a:lnTo>
                      <a:pt x="112" y="59"/>
                    </a:lnTo>
                    <a:lnTo>
                      <a:pt x="110" y="58"/>
                    </a:lnTo>
                    <a:lnTo>
                      <a:pt x="107" y="57"/>
                    </a:lnTo>
                    <a:lnTo>
                      <a:pt x="104" y="55"/>
                    </a:lnTo>
                    <a:lnTo>
                      <a:pt x="100" y="53"/>
                    </a:lnTo>
                    <a:lnTo>
                      <a:pt x="97" y="51"/>
                    </a:lnTo>
                    <a:lnTo>
                      <a:pt x="94" y="48"/>
                    </a:lnTo>
                    <a:lnTo>
                      <a:pt x="90" y="46"/>
                    </a:lnTo>
                    <a:lnTo>
                      <a:pt x="84" y="44"/>
                    </a:lnTo>
                    <a:lnTo>
                      <a:pt x="80" y="42"/>
                    </a:lnTo>
                    <a:lnTo>
                      <a:pt x="76" y="39"/>
                    </a:lnTo>
                    <a:lnTo>
                      <a:pt x="70" y="37"/>
                    </a:lnTo>
                    <a:lnTo>
                      <a:pt x="65" y="34"/>
                    </a:lnTo>
                    <a:lnTo>
                      <a:pt x="61" y="32"/>
                    </a:lnTo>
                    <a:lnTo>
                      <a:pt x="55" y="30"/>
                    </a:lnTo>
                    <a:lnTo>
                      <a:pt x="51" y="26"/>
                    </a:lnTo>
                    <a:lnTo>
                      <a:pt x="46" y="23"/>
                    </a:lnTo>
                    <a:lnTo>
                      <a:pt x="41" y="21"/>
                    </a:lnTo>
                    <a:lnTo>
                      <a:pt x="36" y="19"/>
                    </a:lnTo>
                    <a:lnTo>
                      <a:pt x="32" y="17"/>
                    </a:lnTo>
                    <a:lnTo>
                      <a:pt x="27" y="14"/>
                    </a:lnTo>
                    <a:lnTo>
                      <a:pt x="23" y="11"/>
                    </a:lnTo>
                    <a:lnTo>
                      <a:pt x="19" y="11"/>
                    </a:lnTo>
                    <a:lnTo>
                      <a:pt x="16" y="7"/>
                    </a:lnTo>
                    <a:lnTo>
                      <a:pt x="13" y="5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93" name="Freeform 962"/>
              <p:cNvSpPr>
                <a:spLocks/>
              </p:cNvSpPr>
              <p:nvPr/>
            </p:nvSpPr>
            <p:spPr bwMode="auto">
              <a:xfrm>
                <a:off x="3003" y="2008"/>
                <a:ext cx="13" cy="11"/>
              </a:xfrm>
              <a:custGeom>
                <a:avLst/>
                <a:gdLst>
                  <a:gd name="T0" fmla="*/ 0 w 13"/>
                  <a:gd name="T1" fmla="*/ 1 h 11"/>
                  <a:gd name="T2" fmla="*/ 0 w 13"/>
                  <a:gd name="T3" fmla="*/ 1 h 11"/>
                  <a:gd name="T4" fmla="*/ 1 w 13"/>
                  <a:gd name="T5" fmla="*/ 4 h 11"/>
                  <a:gd name="T6" fmla="*/ 3 w 13"/>
                  <a:gd name="T7" fmla="*/ 5 h 11"/>
                  <a:gd name="T8" fmla="*/ 5 w 13"/>
                  <a:gd name="T9" fmla="*/ 6 h 11"/>
                  <a:gd name="T10" fmla="*/ 7 w 13"/>
                  <a:gd name="T11" fmla="*/ 8 h 11"/>
                  <a:gd name="T12" fmla="*/ 8 w 13"/>
                  <a:gd name="T13" fmla="*/ 8 h 11"/>
                  <a:gd name="T14" fmla="*/ 9 w 13"/>
                  <a:gd name="T15" fmla="*/ 8 h 11"/>
                  <a:gd name="T16" fmla="*/ 11 w 13"/>
                  <a:gd name="T17" fmla="*/ 10 h 11"/>
                  <a:gd name="T18" fmla="*/ 12 w 13"/>
                  <a:gd name="T19" fmla="*/ 11 h 11"/>
                  <a:gd name="T20" fmla="*/ 13 w 13"/>
                  <a:gd name="T21" fmla="*/ 10 h 11"/>
                  <a:gd name="T22" fmla="*/ 11 w 13"/>
                  <a:gd name="T23" fmla="*/ 8 h 11"/>
                  <a:gd name="T24" fmla="*/ 10 w 13"/>
                  <a:gd name="T25" fmla="*/ 8 h 11"/>
                  <a:gd name="T26" fmla="*/ 9 w 13"/>
                  <a:gd name="T27" fmla="*/ 6 h 11"/>
                  <a:gd name="T28" fmla="*/ 8 w 13"/>
                  <a:gd name="T29" fmla="*/ 5 h 11"/>
                  <a:gd name="T30" fmla="*/ 7 w 13"/>
                  <a:gd name="T31" fmla="*/ 5 h 11"/>
                  <a:gd name="T32" fmla="*/ 5 w 13"/>
                  <a:gd name="T33" fmla="*/ 4 h 11"/>
                  <a:gd name="T34" fmla="*/ 2 w 13"/>
                  <a:gd name="T35" fmla="*/ 1 h 11"/>
                  <a:gd name="T36" fmla="*/ 1 w 13"/>
                  <a:gd name="T37" fmla="*/ 0 h 11"/>
                  <a:gd name="T38" fmla="*/ 0 w 13"/>
                  <a:gd name="T39" fmla="*/ 1 h 1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11"/>
                  <a:gd name="T62" fmla="*/ 13 w 13"/>
                  <a:gd name="T63" fmla="*/ 11 h 1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11">
                    <a:moveTo>
                      <a:pt x="0" y="1"/>
                    </a:moveTo>
                    <a:lnTo>
                      <a:pt x="0" y="1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5" y="6"/>
                    </a:lnTo>
                    <a:lnTo>
                      <a:pt x="7" y="8"/>
                    </a:lnTo>
                    <a:lnTo>
                      <a:pt x="8" y="8"/>
                    </a:lnTo>
                    <a:lnTo>
                      <a:pt x="9" y="8"/>
                    </a:lnTo>
                    <a:lnTo>
                      <a:pt x="11" y="10"/>
                    </a:lnTo>
                    <a:lnTo>
                      <a:pt x="12" y="11"/>
                    </a:lnTo>
                    <a:lnTo>
                      <a:pt x="13" y="10"/>
                    </a:lnTo>
                    <a:lnTo>
                      <a:pt x="11" y="8"/>
                    </a:lnTo>
                    <a:lnTo>
                      <a:pt x="10" y="8"/>
                    </a:lnTo>
                    <a:lnTo>
                      <a:pt x="9" y="6"/>
                    </a:lnTo>
                    <a:lnTo>
                      <a:pt x="8" y="5"/>
                    </a:lnTo>
                    <a:lnTo>
                      <a:pt x="7" y="5"/>
                    </a:lnTo>
                    <a:lnTo>
                      <a:pt x="5" y="4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94" name="Freeform 963"/>
              <p:cNvSpPr>
                <a:spLocks/>
              </p:cNvSpPr>
              <p:nvPr/>
            </p:nvSpPr>
            <p:spPr bwMode="auto">
              <a:xfrm>
                <a:off x="3132" y="2040"/>
                <a:ext cx="10" cy="42"/>
              </a:xfrm>
              <a:custGeom>
                <a:avLst/>
                <a:gdLst>
                  <a:gd name="T0" fmla="*/ 10 w 10"/>
                  <a:gd name="T1" fmla="*/ 42 h 42"/>
                  <a:gd name="T2" fmla="*/ 8 w 10"/>
                  <a:gd name="T3" fmla="*/ 42 h 42"/>
                  <a:gd name="T4" fmla="*/ 7 w 10"/>
                  <a:gd name="T5" fmla="*/ 41 h 42"/>
                  <a:gd name="T6" fmla="*/ 6 w 10"/>
                  <a:gd name="T7" fmla="*/ 40 h 42"/>
                  <a:gd name="T8" fmla="*/ 4 w 10"/>
                  <a:gd name="T9" fmla="*/ 37 h 42"/>
                  <a:gd name="T10" fmla="*/ 4 w 10"/>
                  <a:gd name="T11" fmla="*/ 35 h 42"/>
                  <a:gd name="T12" fmla="*/ 2 w 10"/>
                  <a:gd name="T13" fmla="*/ 32 h 42"/>
                  <a:gd name="T14" fmla="*/ 0 w 10"/>
                  <a:gd name="T15" fmla="*/ 29 h 42"/>
                  <a:gd name="T16" fmla="*/ 0 w 10"/>
                  <a:gd name="T17" fmla="*/ 26 h 42"/>
                  <a:gd name="T18" fmla="*/ 0 w 10"/>
                  <a:gd name="T19" fmla="*/ 22 h 42"/>
                  <a:gd name="T20" fmla="*/ 0 w 10"/>
                  <a:gd name="T21" fmla="*/ 17 h 42"/>
                  <a:gd name="T22" fmla="*/ 0 w 10"/>
                  <a:gd name="T23" fmla="*/ 13 h 42"/>
                  <a:gd name="T24" fmla="*/ 2 w 10"/>
                  <a:gd name="T25" fmla="*/ 9 h 42"/>
                  <a:gd name="T26" fmla="*/ 4 w 10"/>
                  <a:gd name="T27" fmla="*/ 7 h 42"/>
                  <a:gd name="T28" fmla="*/ 4 w 10"/>
                  <a:gd name="T29" fmla="*/ 4 h 42"/>
                  <a:gd name="T30" fmla="*/ 6 w 10"/>
                  <a:gd name="T31" fmla="*/ 1 h 42"/>
                  <a:gd name="T32" fmla="*/ 8 w 10"/>
                  <a:gd name="T33" fmla="*/ 0 h 42"/>
                  <a:gd name="T34" fmla="*/ 10 w 10"/>
                  <a:gd name="T35" fmla="*/ 42 h 4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"/>
                  <a:gd name="T55" fmla="*/ 0 h 42"/>
                  <a:gd name="T56" fmla="*/ 10 w 10"/>
                  <a:gd name="T57" fmla="*/ 42 h 4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" h="42">
                    <a:moveTo>
                      <a:pt x="10" y="42"/>
                    </a:moveTo>
                    <a:lnTo>
                      <a:pt x="8" y="42"/>
                    </a:lnTo>
                    <a:lnTo>
                      <a:pt x="7" y="41"/>
                    </a:lnTo>
                    <a:lnTo>
                      <a:pt x="6" y="40"/>
                    </a:lnTo>
                    <a:lnTo>
                      <a:pt x="4" y="37"/>
                    </a:lnTo>
                    <a:lnTo>
                      <a:pt x="4" y="35"/>
                    </a:lnTo>
                    <a:lnTo>
                      <a:pt x="2" y="32"/>
                    </a:lnTo>
                    <a:lnTo>
                      <a:pt x="0" y="29"/>
                    </a:lnTo>
                    <a:lnTo>
                      <a:pt x="0" y="26"/>
                    </a:lnTo>
                    <a:lnTo>
                      <a:pt x="0" y="22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2" y="9"/>
                    </a:lnTo>
                    <a:lnTo>
                      <a:pt x="4" y="7"/>
                    </a:lnTo>
                    <a:lnTo>
                      <a:pt x="4" y="4"/>
                    </a:lnTo>
                    <a:lnTo>
                      <a:pt x="6" y="1"/>
                    </a:lnTo>
                    <a:lnTo>
                      <a:pt x="8" y="0"/>
                    </a:lnTo>
                    <a:lnTo>
                      <a:pt x="10" y="42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95" name="Freeform 964"/>
              <p:cNvSpPr>
                <a:spLocks/>
              </p:cNvSpPr>
              <p:nvPr/>
            </p:nvSpPr>
            <p:spPr bwMode="auto">
              <a:xfrm>
                <a:off x="3132" y="2066"/>
                <a:ext cx="10" cy="17"/>
              </a:xfrm>
              <a:custGeom>
                <a:avLst/>
                <a:gdLst>
                  <a:gd name="T0" fmla="*/ 0 w 10"/>
                  <a:gd name="T1" fmla="*/ 0 h 17"/>
                  <a:gd name="T2" fmla="*/ 0 w 10"/>
                  <a:gd name="T3" fmla="*/ 0 h 17"/>
                  <a:gd name="T4" fmla="*/ 0 w 10"/>
                  <a:gd name="T5" fmla="*/ 3 h 17"/>
                  <a:gd name="T6" fmla="*/ 2 w 10"/>
                  <a:gd name="T7" fmla="*/ 6 h 17"/>
                  <a:gd name="T8" fmla="*/ 2 w 10"/>
                  <a:gd name="T9" fmla="*/ 10 h 17"/>
                  <a:gd name="T10" fmla="*/ 3 w 10"/>
                  <a:gd name="T11" fmla="*/ 12 h 17"/>
                  <a:gd name="T12" fmla="*/ 5 w 10"/>
                  <a:gd name="T13" fmla="*/ 14 h 17"/>
                  <a:gd name="T14" fmla="*/ 6 w 10"/>
                  <a:gd name="T15" fmla="*/ 16 h 17"/>
                  <a:gd name="T16" fmla="*/ 8 w 10"/>
                  <a:gd name="T17" fmla="*/ 17 h 17"/>
                  <a:gd name="T18" fmla="*/ 10 w 10"/>
                  <a:gd name="T19" fmla="*/ 17 h 17"/>
                  <a:gd name="T20" fmla="*/ 10 w 10"/>
                  <a:gd name="T21" fmla="*/ 15 h 17"/>
                  <a:gd name="T22" fmla="*/ 8 w 10"/>
                  <a:gd name="T23" fmla="*/ 15 h 17"/>
                  <a:gd name="T24" fmla="*/ 7 w 10"/>
                  <a:gd name="T25" fmla="*/ 15 h 17"/>
                  <a:gd name="T26" fmla="*/ 6 w 10"/>
                  <a:gd name="T27" fmla="*/ 13 h 17"/>
                  <a:gd name="T28" fmla="*/ 5 w 10"/>
                  <a:gd name="T29" fmla="*/ 11 h 17"/>
                  <a:gd name="T30" fmla="*/ 4 w 10"/>
                  <a:gd name="T31" fmla="*/ 9 h 17"/>
                  <a:gd name="T32" fmla="*/ 3 w 10"/>
                  <a:gd name="T33" fmla="*/ 6 h 17"/>
                  <a:gd name="T34" fmla="*/ 3 w 10"/>
                  <a:gd name="T35" fmla="*/ 2 h 17"/>
                  <a:gd name="T36" fmla="*/ 3 w 10"/>
                  <a:gd name="T37" fmla="*/ 0 h 17"/>
                  <a:gd name="T38" fmla="*/ 0 w 10"/>
                  <a:gd name="T39" fmla="*/ 0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"/>
                  <a:gd name="T61" fmla="*/ 0 h 17"/>
                  <a:gd name="T62" fmla="*/ 10 w 10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" h="17">
                    <a:moveTo>
                      <a:pt x="0" y="0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2" y="6"/>
                    </a:lnTo>
                    <a:lnTo>
                      <a:pt x="2" y="10"/>
                    </a:lnTo>
                    <a:lnTo>
                      <a:pt x="3" y="12"/>
                    </a:lnTo>
                    <a:lnTo>
                      <a:pt x="5" y="14"/>
                    </a:lnTo>
                    <a:lnTo>
                      <a:pt x="6" y="16"/>
                    </a:lnTo>
                    <a:lnTo>
                      <a:pt x="8" y="17"/>
                    </a:lnTo>
                    <a:lnTo>
                      <a:pt x="10" y="17"/>
                    </a:lnTo>
                    <a:lnTo>
                      <a:pt x="10" y="15"/>
                    </a:lnTo>
                    <a:lnTo>
                      <a:pt x="8" y="15"/>
                    </a:lnTo>
                    <a:lnTo>
                      <a:pt x="7" y="15"/>
                    </a:lnTo>
                    <a:lnTo>
                      <a:pt x="6" y="13"/>
                    </a:lnTo>
                    <a:lnTo>
                      <a:pt x="5" y="11"/>
                    </a:lnTo>
                    <a:lnTo>
                      <a:pt x="4" y="9"/>
                    </a:lnTo>
                    <a:lnTo>
                      <a:pt x="3" y="6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96" name="Freeform 965"/>
              <p:cNvSpPr>
                <a:spLocks/>
              </p:cNvSpPr>
              <p:nvPr/>
            </p:nvSpPr>
            <p:spPr bwMode="auto">
              <a:xfrm>
                <a:off x="3132" y="2040"/>
                <a:ext cx="9" cy="26"/>
              </a:xfrm>
              <a:custGeom>
                <a:avLst/>
                <a:gdLst>
                  <a:gd name="T0" fmla="*/ 8 w 9"/>
                  <a:gd name="T1" fmla="*/ 0 h 26"/>
                  <a:gd name="T2" fmla="*/ 6 w 9"/>
                  <a:gd name="T3" fmla="*/ 1 h 26"/>
                  <a:gd name="T4" fmla="*/ 4 w 9"/>
                  <a:gd name="T5" fmla="*/ 4 h 26"/>
                  <a:gd name="T6" fmla="*/ 3 w 9"/>
                  <a:gd name="T7" fmla="*/ 7 h 26"/>
                  <a:gd name="T8" fmla="*/ 2 w 9"/>
                  <a:gd name="T9" fmla="*/ 10 h 26"/>
                  <a:gd name="T10" fmla="*/ 0 w 9"/>
                  <a:gd name="T11" fmla="*/ 13 h 26"/>
                  <a:gd name="T12" fmla="*/ 0 w 9"/>
                  <a:gd name="T13" fmla="*/ 17 h 26"/>
                  <a:gd name="T14" fmla="*/ 0 w 9"/>
                  <a:gd name="T15" fmla="*/ 22 h 26"/>
                  <a:gd name="T16" fmla="*/ 0 w 9"/>
                  <a:gd name="T17" fmla="*/ 26 h 26"/>
                  <a:gd name="T18" fmla="*/ 3 w 9"/>
                  <a:gd name="T19" fmla="*/ 26 h 26"/>
                  <a:gd name="T20" fmla="*/ 3 w 9"/>
                  <a:gd name="T21" fmla="*/ 22 h 26"/>
                  <a:gd name="T22" fmla="*/ 3 w 9"/>
                  <a:gd name="T23" fmla="*/ 17 h 26"/>
                  <a:gd name="T24" fmla="*/ 3 w 9"/>
                  <a:gd name="T25" fmla="*/ 13 h 26"/>
                  <a:gd name="T26" fmla="*/ 4 w 9"/>
                  <a:gd name="T27" fmla="*/ 10 h 26"/>
                  <a:gd name="T28" fmla="*/ 4 w 9"/>
                  <a:gd name="T29" fmla="*/ 7 h 26"/>
                  <a:gd name="T30" fmla="*/ 6 w 9"/>
                  <a:gd name="T31" fmla="*/ 5 h 26"/>
                  <a:gd name="T32" fmla="*/ 7 w 9"/>
                  <a:gd name="T33" fmla="*/ 4 h 26"/>
                  <a:gd name="T34" fmla="*/ 9 w 9"/>
                  <a:gd name="T35" fmla="*/ 1 h 26"/>
                  <a:gd name="T36" fmla="*/ 8 w 9"/>
                  <a:gd name="T37" fmla="*/ 0 h 2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26"/>
                  <a:gd name="T59" fmla="*/ 9 w 9"/>
                  <a:gd name="T60" fmla="*/ 26 h 2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26">
                    <a:moveTo>
                      <a:pt x="8" y="0"/>
                    </a:moveTo>
                    <a:lnTo>
                      <a:pt x="6" y="1"/>
                    </a:lnTo>
                    <a:lnTo>
                      <a:pt x="4" y="4"/>
                    </a:lnTo>
                    <a:lnTo>
                      <a:pt x="3" y="7"/>
                    </a:lnTo>
                    <a:lnTo>
                      <a:pt x="2" y="10"/>
                    </a:lnTo>
                    <a:lnTo>
                      <a:pt x="0" y="13"/>
                    </a:lnTo>
                    <a:lnTo>
                      <a:pt x="0" y="17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3" y="26"/>
                    </a:lnTo>
                    <a:lnTo>
                      <a:pt x="3" y="22"/>
                    </a:lnTo>
                    <a:lnTo>
                      <a:pt x="3" y="17"/>
                    </a:lnTo>
                    <a:lnTo>
                      <a:pt x="3" y="13"/>
                    </a:lnTo>
                    <a:lnTo>
                      <a:pt x="4" y="10"/>
                    </a:lnTo>
                    <a:lnTo>
                      <a:pt x="4" y="7"/>
                    </a:lnTo>
                    <a:lnTo>
                      <a:pt x="6" y="5"/>
                    </a:lnTo>
                    <a:lnTo>
                      <a:pt x="7" y="4"/>
                    </a:lnTo>
                    <a:lnTo>
                      <a:pt x="9" y="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97" name="Freeform 966"/>
              <p:cNvSpPr>
                <a:spLocks/>
              </p:cNvSpPr>
              <p:nvPr/>
            </p:nvSpPr>
            <p:spPr bwMode="auto">
              <a:xfrm>
                <a:off x="3011" y="1926"/>
                <a:ext cx="239" cy="114"/>
              </a:xfrm>
              <a:custGeom>
                <a:avLst/>
                <a:gdLst>
                  <a:gd name="T0" fmla="*/ 8 w 239"/>
                  <a:gd name="T1" fmla="*/ 42 h 114"/>
                  <a:gd name="T2" fmla="*/ 24 w 239"/>
                  <a:gd name="T3" fmla="*/ 34 h 114"/>
                  <a:gd name="T4" fmla="*/ 45 w 239"/>
                  <a:gd name="T5" fmla="*/ 24 h 114"/>
                  <a:gd name="T6" fmla="*/ 67 w 239"/>
                  <a:gd name="T7" fmla="*/ 14 h 114"/>
                  <a:gd name="T8" fmla="*/ 85 w 239"/>
                  <a:gd name="T9" fmla="*/ 4 h 114"/>
                  <a:gd name="T10" fmla="*/ 94 w 239"/>
                  <a:gd name="T11" fmla="*/ 0 h 114"/>
                  <a:gd name="T12" fmla="*/ 99 w 239"/>
                  <a:gd name="T13" fmla="*/ 0 h 114"/>
                  <a:gd name="T14" fmla="*/ 104 w 239"/>
                  <a:gd name="T15" fmla="*/ 1 h 114"/>
                  <a:gd name="T16" fmla="*/ 108 w 239"/>
                  <a:gd name="T17" fmla="*/ 2 h 114"/>
                  <a:gd name="T18" fmla="*/ 114 w 239"/>
                  <a:gd name="T19" fmla="*/ 5 h 114"/>
                  <a:gd name="T20" fmla="*/ 126 w 239"/>
                  <a:gd name="T21" fmla="*/ 12 h 114"/>
                  <a:gd name="T22" fmla="*/ 140 w 239"/>
                  <a:gd name="T23" fmla="*/ 18 h 114"/>
                  <a:gd name="T24" fmla="*/ 155 w 239"/>
                  <a:gd name="T25" fmla="*/ 25 h 114"/>
                  <a:gd name="T26" fmla="*/ 172 w 239"/>
                  <a:gd name="T27" fmla="*/ 33 h 114"/>
                  <a:gd name="T28" fmla="*/ 188 w 239"/>
                  <a:gd name="T29" fmla="*/ 40 h 114"/>
                  <a:gd name="T30" fmla="*/ 204 w 239"/>
                  <a:gd name="T31" fmla="*/ 47 h 114"/>
                  <a:gd name="T32" fmla="*/ 217 w 239"/>
                  <a:gd name="T33" fmla="*/ 53 h 114"/>
                  <a:gd name="T34" fmla="*/ 226 w 239"/>
                  <a:gd name="T35" fmla="*/ 58 h 114"/>
                  <a:gd name="T36" fmla="*/ 233 w 239"/>
                  <a:gd name="T37" fmla="*/ 60 h 114"/>
                  <a:gd name="T38" fmla="*/ 237 w 239"/>
                  <a:gd name="T39" fmla="*/ 63 h 114"/>
                  <a:gd name="T40" fmla="*/ 239 w 239"/>
                  <a:gd name="T41" fmla="*/ 67 h 114"/>
                  <a:gd name="T42" fmla="*/ 235 w 239"/>
                  <a:gd name="T43" fmla="*/ 71 h 114"/>
                  <a:gd name="T44" fmla="*/ 228 w 239"/>
                  <a:gd name="T45" fmla="*/ 73 h 114"/>
                  <a:gd name="T46" fmla="*/ 220 w 239"/>
                  <a:gd name="T47" fmla="*/ 77 h 114"/>
                  <a:gd name="T48" fmla="*/ 209 w 239"/>
                  <a:gd name="T49" fmla="*/ 81 h 114"/>
                  <a:gd name="T50" fmla="*/ 197 w 239"/>
                  <a:gd name="T51" fmla="*/ 87 h 114"/>
                  <a:gd name="T52" fmla="*/ 184 w 239"/>
                  <a:gd name="T53" fmla="*/ 92 h 114"/>
                  <a:gd name="T54" fmla="*/ 172 w 239"/>
                  <a:gd name="T55" fmla="*/ 97 h 114"/>
                  <a:gd name="T56" fmla="*/ 160 w 239"/>
                  <a:gd name="T57" fmla="*/ 103 h 114"/>
                  <a:gd name="T58" fmla="*/ 149 w 239"/>
                  <a:gd name="T59" fmla="*/ 108 h 114"/>
                  <a:gd name="T60" fmla="*/ 141 w 239"/>
                  <a:gd name="T61" fmla="*/ 111 h 114"/>
                  <a:gd name="T62" fmla="*/ 134 w 239"/>
                  <a:gd name="T63" fmla="*/ 113 h 114"/>
                  <a:gd name="T64" fmla="*/ 130 w 239"/>
                  <a:gd name="T65" fmla="*/ 114 h 114"/>
                  <a:gd name="T66" fmla="*/ 125 w 239"/>
                  <a:gd name="T67" fmla="*/ 113 h 114"/>
                  <a:gd name="T68" fmla="*/ 120 w 239"/>
                  <a:gd name="T69" fmla="*/ 111 h 114"/>
                  <a:gd name="T70" fmla="*/ 114 w 239"/>
                  <a:gd name="T71" fmla="*/ 109 h 114"/>
                  <a:gd name="T72" fmla="*/ 105 w 239"/>
                  <a:gd name="T73" fmla="*/ 104 h 114"/>
                  <a:gd name="T74" fmla="*/ 94 w 239"/>
                  <a:gd name="T75" fmla="*/ 97 h 114"/>
                  <a:gd name="T76" fmla="*/ 80 w 239"/>
                  <a:gd name="T77" fmla="*/ 91 h 114"/>
                  <a:gd name="T78" fmla="*/ 66 w 239"/>
                  <a:gd name="T79" fmla="*/ 82 h 114"/>
                  <a:gd name="T80" fmla="*/ 51 w 239"/>
                  <a:gd name="T81" fmla="*/ 75 h 114"/>
                  <a:gd name="T82" fmla="*/ 36 w 239"/>
                  <a:gd name="T83" fmla="*/ 67 h 114"/>
                  <a:gd name="T84" fmla="*/ 23 w 239"/>
                  <a:gd name="T85" fmla="*/ 60 h 114"/>
                  <a:gd name="T86" fmla="*/ 14 w 239"/>
                  <a:gd name="T87" fmla="*/ 56 h 114"/>
                  <a:gd name="T88" fmla="*/ 8 w 239"/>
                  <a:gd name="T89" fmla="*/ 52 h 114"/>
                  <a:gd name="T90" fmla="*/ 3 w 239"/>
                  <a:gd name="T91" fmla="*/ 49 h 114"/>
                  <a:gd name="T92" fmla="*/ 0 w 239"/>
                  <a:gd name="T93" fmla="*/ 47 h 114"/>
                  <a:gd name="T94" fmla="*/ 4 w 239"/>
                  <a:gd name="T95" fmla="*/ 44 h 11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39"/>
                  <a:gd name="T145" fmla="*/ 0 h 114"/>
                  <a:gd name="T146" fmla="*/ 239 w 239"/>
                  <a:gd name="T147" fmla="*/ 114 h 114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39" h="114">
                    <a:moveTo>
                      <a:pt x="4" y="44"/>
                    </a:moveTo>
                    <a:lnTo>
                      <a:pt x="5" y="43"/>
                    </a:lnTo>
                    <a:lnTo>
                      <a:pt x="8" y="42"/>
                    </a:lnTo>
                    <a:lnTo>
                      <a:pt x="14" y="40"/>
                    </a:lnTo>
                    <a:lnTo>
                      <a:pt x="18" y="37"/>
                    </a:lnTo>
                    <a:lnTo>
                      <a:pt x="24" y="34"/>
                    </a:lnTo>
                    <a:lnTo>
                      <a:pt x="31" y="30"/>
                    </a:lnTo>
                    <a:lnTo>
                      <a:pt x="37" y="28"/>
                    </a:lnTo>
                    <a:lnTo>
                      <a:pt x="45" y="24"/>
                    </a:lnTo>
                    <a:lnTo>
                      <a:pt x="52" y="20"/>
                    </a:lnTo>
                    <a:lnTo>
                      <a:pt x="61" y="17"/>
                    </a:lnTo>
                    <a:lnTo>
                      <a:pt x="67" y="14"/>
                    </a:lnTo>
                    <a:lnTo>
                      <a:pt x="73" y="11"/>
                    </a:lnTo>
                    <a:lnTo>
                      <a:pt x="80" y="6"/>
                    </a:lnTo>
                    <a:lnTo>
                      <a:pt x="85" y="4"/>
                    </a:lnTo>
                    <a:lnTo>
                      <a:pt x="89" y="2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6" y="0"/>
                    </a:lnTo>
                    <a:lnTo>
                      <a:pt x="97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3" y="0"/>
                    </a:lnTo>
                    <a:lnTo>
                      <a:pt x="104" y="1"/>
                    </a:lnTo>
                    <a:lnTo>
                      <a:pt x="105" y="1"/>
                    </a:lnTo>
                    <a:lnTo>
                      <a:pt x="106" y="2"/>
                    </a:lnTo>
                    <a:lnTo>
                      <a:pt x="108" y="2"/>
                    </a:lnTo>
                    <a:lnTo>
                      <a:pt x="110" y="3"/>
                    </a:lnTo>
                    <a:lnTo>
                      <a:pt x="112" y="4"/>
                    </a:lnTo>
                    <a:lnTo>
                      <a:pt x="114" y="5"/>
                    </a:lnTo>
                    <a:lnTo>
                      <a:pt x="118" y="9"/>
                    </a:lnTo>
                    <a:lnTo>
                      <a:pt x="123" y="9"/>
                    </a:lnTo>
                    <a:lnTo>
                      <a:pt x="126" y="12"/>
                    </a:lnTo>
                    <a:lnTo>
                      <a:pt x="130" y="14"/>
                    </a:lnTo>
                    <a:lnTo>
                      <a:pt x="134" y="16"/>
                    </a:lnTo>
                    <a:lnTo>
                      <a:pt x="140" y="18"/>
                    </a:lnTo>
                    <a:lnTo>
                      <a:pt x="145" y="20"/>
                    </a:lnTo>
                    <a:lnTo>
                      <a:pt x="149" y="22"/>
                    </a:lnTo>
                    <a:lnTo>
                      <a:pt x="155" y="25"/>
                    </a:lnTo>
                    <a:lnTo>
                      <a:pt x="161" y="28"/>
                    </a:lnTo>
                    <a:lnTo>
                      <a:pt x="166" y="30"/>
                    </a:lnTo>
                    <a:lnTo>
                      <a:pt x="172" y="33"/>
                    </a:lnTo>
                    <a:lnTo>
                      <a:pt x="178" y="35"/>
                    </a:lnTo>
                    <a:lnTo>
                      <a:pt x="183" y="37"/>
                    </a:lnTo>
                    <a:lnTo>
                      <a:pt x="188" y="40"/>
                    </a:lnTo>
                    <a:lnTo>
                      <a:pt x="194" y="43"/>
                    </a:lnTo>
                    <a:lnTo>
                      <a:pt x="198" y="45"/>
                    </a:lnTo>
                    <a:lnTo>
                      <a:pt x="204" y="47"/>
                    </a:lnTo>
                    <a:lnTo>
                      <a:pt x="209" y="49"/>
                    </a:lnTo>
                    <a:lnTo>
                      <a:pt x="213" y="51"/>
                    </a:lnTo>
                    <a:lnTo>
                      <a:pt x="217" y="53"/>
                    </a:lnTo>
                    <a:lnTo>
                      <a:pt x="220" y="56"/>
                    </a:lnTo>
                    <a:lnTo>
                      <a:pt x="223" y="57"/>
                    </a:lnTo>
                    <a:lnTo>
                      <a:pt x="226" y="58"/>
                    </a:lnTo>
                    <a:lnTo>
                      <a:pt x="228" y="59"/>
                    </a:lnTo>
                    <a:lnTo>
                      <a:pt x="232" y="60"/>
                    </a:lnTo>
                    <a:lnTo>
                      <a:pt x="233" y="60"/>
                    </a:lnTo>
                    <a:lnTo>
                      <a:pt x="234" y="61"/>
                    </a:lnTo>
                    <a:lnTo>
                      <a:pt x="236" y="62"/>
                    </a:lnTo>
                    <a:lnTo>
                      <a:pt x="237" y="63"/>
                    </a:lnTo>
                    <a:lnTo>
                      <a:pt x="238" y="65"/>
                    </a:lnTo>
                    <a:lnTo>
                      <a:pt x="239" y="65"/>
                    </a:lnTo>
                    <a:lnTo>
                      <a:pt x="239" y="67"/>
                    </a:lnTo>
                    <a:lnTo>
                      <a:pt x="238" y="69"/>
                    </a:lnTo>
                    <a:lnTo>
                      <a:pt x="236" y="71"/>
                    </a:lnTo>
                    <a:lnTo>
                      <a:pt x="235" y="71"/>
                    </a:lnTo>
                    <a:lnTo>
                      <a:pt x="234" y="72"/>
                    </a:lnTo>
                    <a:lnTo>
                      <a:pt x="232" y="72"/>
                    </a:lnTo>
                    <a:lnTo>
                      <a:pt x="228" y="73"/>
                    </a:lnTo>
                    <a:lnTo>
                      <a:pt x="225" y="74"/>
                    </a:lnTo>
                    <a:lnTo>
                      <a:pt x="223" y="76"/>
                    </a:lnTo>
                    <a:lnTo>
                      <a:pt x="220" y="77"/>
                    </a:lnTo>
                    <a:lnTo>
                      <a:pt x="217" y="78"/>
                    </a:lnTo>
                    <a:lnTo>
                      <a:pt x="213" y="79"/>
                    </a:lnTo>
                    <a:lnTo>
                      <a:pt x="209" y="81"/>
                    </a:lnTo>
                    <a:lnTo>
                      <a:pt x="205" y="82"/>
                    </a:lnTo>
                    <a:lnTo>
                      <a:pt x="202" y="84"/>
                    </a:lnTo>
                    <a:lnTo>
                      <a:pt x="197" y="87"/>
                    </a:lnTo>
                    <a:lnTo>
                      <a:pt x="192" y="89"/>
                    </a:lnTo>
                    <a:lnTo>
                      <a:pt x="190" y="91"/>
                    </a:lnTo>
                    <a:lnTo>
                      <a:pt x="184" y="92"/>
                    </a:lnTo>
                    <a:lnTo>
                      <a:pt x="180" y="94"/>
                    </a:lnTo>
                    <a:lnTo>
                      <a:pt x="176" y="95"/>
                    </a:lnTo>
                    <a:lnTo>
                      <a:pt x="172" y="97"/>
                    </a:lnTo>
                    <a:lnTo>
                      <a:pt x="167" y="99"/>
                    </a:lnTo>
                    <a:lnTo>
                      <a:pt x="164" y="100"/>
                    </a:lnTo>
                    <a:lnTo>
                      <a:pt x="160" y="103"/>
                    </a:lnTo>
                    <a:lnTo>
                      <a:pt x="157" y="104"/>
                    </a:lnTo>
                    <a:lnTo>
                      <a:pt x="152" y="106"/>
                    </a:lnTo>
                    <a:lnTo>
                      <a:pt x="149" y="108"/>
                    </a:lnTo>
                    <a:lnTo>
                      <a:pt x="146" y="109"/>
                    </a:lnTo>
                    <a:lnTo>
                      <a:pt x="143" y="110"/>
                    </a:lnTo>
                    <a:lnTo>
                      <a:pt x="141" y="111"/>
                    </a:lnTo>
                    <a:lnTo>
                      <a:pt x="137" y="112"/>
                    </a:lnTo>
                    <a:lnTo>
                      <a:pt x="135" y="113"/>
                    </a:lnTo>
                    <a:lnTo>
                      <a:pt x="134" y="113"/>
                    </a:lnTo>
                    <a:lnTo>
                      <a:pt x="132" y="114"/>
                    </a:lnTo>
                    <a:lnTo>
                      <a:pt x="131" y="114"/>
                    </a:lnTo>
                    <a:lnTo>
                      <a:pt x="130" y="114"/>
                    </a:lnTo>
                    <a:lnTo>
                      <a:pt x="128" y="114"/>
                    </a:lnTo>
                    <a:lnTo>
                      <a:pt x="127" y="113"/>
                    </a:lnTo>
                    <a:lnTo>
                      <a:pt x="125" y="113"/>
                    </a:lnTo>
                    <a:lnTo>
                      <a:pt x="124" y="112"/>
                    </a:lnTo>
                    <a:lnTo>
                      <a:pt x="121" y="112"/>
                    </a:lnTo>
                    <a:lnTo>
                      <a:pt x="120" y="111"/>
                    </a:lnTo>
                    <a:lnTo>
                      <a:pt x="118" y="111"/>
                    </a:lnTo>
                    <a:lnTo>
                      <a:pt x="116" y="110"/>
                    </a:lnTo>
                    <a:lnTo>
                      <a:pt x="114" y="109"/>
                    </a:lnTo>
                    <a:lnTo>
                      <a:pt x="112" y="106"/>
                    </a:lnTo>
                    <a:lnTo>
                      <a:pt x="109" y="106"/>
                    </a:lnTo>
                    <a:lnTo>
                      <a:pt x="105" y="104"/>
                    </a:lnTo>
                    <a:lnTo>
                      <a:pt x="102" y="102"/>
                    </a:lnTo>
                    <a:lnTo>
                      <a:pt x="97" y="99"/>
                    </a:lnTo>
                    <a:lnTo>
                      <a:pt x="94" y="97"/>
                    </a:lnTo>
                    <a:lnTo>
                      <a:pt x="89" y="95"/>
                    </a:lnTo>
                    <a:lnTo>
                      <a:pt x="85" y="93"/>
                    </a:lnTo>
                    <a:lnTo>
                      <a:pt x="80" y="91"/>
                    </a:lnTo>
                    <a:lnTo>
                      <a:pt x="74" y="87"/>
                    </a:lnTo>
                    <a:lnTo>
                      <a:pt x="70" y="84"/>
                    </a:lnTo>
                    <a:lnTo>
                      <a:pt x="66" y="82"/>
                    </a:lnTo>
                    <a:lnTo>
                      <a:pt x="61" y="80"/>
                    </a:lnTo>
                    <a:lnTo>
                      <a:pt x="55" y="77"/>
                    </a:lnTo>
                    <a:lnTo>
                      <a:pt x="51" y="75"/>
                    </a:lnTo>
                    <a:lnTo>
                      <a:pt x="45" y="72"/>
                    </a:lnTo>
                    <a:lnTo>
                      <a:pt x="40" y="69"/>
                    </a:lnTo>
                    <a:lnTo>
                      <a:pt x="36" y="67"/>
                    </a:lnTo>
                    <a:lnTo>
                      <a:pt x="32" y="65"/>
                    </a:lnTo>
                    <a:lnTo>
                      <a:pt x="27" y="62"/>
                    </a:lnTo>
                    <a:lnTo>
                      <a:pt x="23" y="60"/>
                    </a:lnTo>
                    <a:lnTo>
                      <a:pt x="20" y="59"/>
                    </a:lnTo>
                    <a:lnTo>
                      <a:pt x="17" y="57"/>
                    </a:lnTo>
                    <a:lnTo>
                      <a:pt x="14" y="56"/>
                    </a:lnTo>
                    <a:lnTo>
                      <a:pt x="11" y="53"/>
                    </a:lnTo>
                    <a:lnTo>
                      <a:pt x="8" y="52"/>
                    </a:lnTo>
                    <a:lnTo>
                      <a:pt x="6" y="51"/>
                    </a:lnTo>
                    <a:lnTo>
                      <a:pt x="5" y="51"/>
                    </a:lnTo>
                    <a:lnTo>
                      <a:pt x="3" y="49"/>
                    </a:lnTo>
                    <a:lnTo>
                      <a:pt x="2" y="49"/>
                    </a:lnTo>
                    <a:lnTo>
                      <a:pt x="1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2" y="45"/>
                    </a:lnTo>
                    <a:lnTo>
                      <a:pt x="4" y="44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98" name="Freeform 967"/>
              <p:cNvSpPr>
                <a:spLocks/>
              </p:cNvSpPr>
              <p:nvPr/>
            </p:nvSpPr>
            <p:spPr bwMode="auto">
              <a:xfrm>
                <a:off x="3014" y="1926"/>
                <a:ext cx="90" cy="44"/>
              </a:xfrm>
              <a:custGeom>
                <a:avLst/>
                <a:gdLst>
                  <a:gd name="T0" fmla="*/ 89 w 90"/>
                  <a:gd name="T1" fmla="*/ 0 h 44"/>
                  <a:gd name="T2" fmla="*/ 89 w 90"/>
                  <a:gd name="T3" fmla="*/ 0 h 44"/>
                  <a:gd name="T4" fmla="*/ 85 w 90"/>
                  <a:gd name="T5" fmla="*/ 1 h 44"/>
                  <a:gd name="T6" fmla="*/ 81 w 90"/>
                  <a:gd name="T7" fmla="*/ 3 h 44"/>
                  <a:gd name="T8" fmla="*/ 77 w 90"/>
                  <a:gd name="T9" fmla="*/ 5 h 44"/>
                  <a:gd name="T10" fmla="*/ 69 w 90"/>
                  <a:gd name="T11" fmla="*/ 9 h 44"/>
                  <a:gd name="T12" fmla="*/ 63 w 90"/>
                  <a:gd name="T13" fmla="*/ 13 h 44"/>
                  <a:gd name="T14" fmla="*/ 55 w 90"/>
                  <a:gd name="T15" fmla="*/ 16 h 44"/>
                  <a:gd name="T16" fmla="*/ 49 w 90"/>
                  <a:gd name="T17" fmla="*/ 19 h 44"/>
                  <a:gd name="T18" fmla="*/ 42 w 90"/>
                  <a:gd name="T19" fmla="*/ 22 h 44"/>
                  <a:gd name="T20" fmla="*/ 34 w 90"/>
                  <a:gd name="T21" fmla="*/ 26 h 44"/>
                  <a:gd name="T22" fmla="*/ 28 w 90"/>
                  <a:gd name="T23" fmla="*/ 29 h 44"/>
                  <a:gd name="T24" fmla="*/ 20 w 90"/>
                  <a:gd name="T25" fmla="*/ 33 h 44"/>
                  <a:gd name="T26" fmla="*/ 15 w 90"/>
                  <a:gd name="T27" fmla="*/ 35 h 44"/>
                  <a:gd name="T28" fmla="*/ 8 w 90"/>
                  <a:gd name="T29" fmla="*/ 39 h 44"/>
                  <a:gd name="T30" fmla="*/ 4 w 90"/>
                  <a:gd name="T31" fmla="*/ 40 h 44"/>
                  <a:gd name="T32" fmla="*/ 2 w 90"/>
                  <a:gd name="T33" fmla="*/ 42 h 44"/>
                  <a:gd name="T34" fmla="*/ 0 w 90"/>
                  <a:gd name="T35" fmla="*/ 42 h 44"/>
                  <a:gd name="T36" fmla="*/ 1 w 90"/>
                  <a:gd name="T37" fmla="*/ 44 h 44"/>
                  <a:gd name="T38" fmla="*/ 2 w 90"/>
                  <a:gd name="T39" fmla="*/ 43 h 44"/>
                  <a:gd name="T40" fmla="*/ 5 w 90"/>
                  <a:gd name="T41" fmla="*/ 42 h 44"/>
                  <a:gd name="T42" fmla="*/ 11 w 90"/>
                  <a:gd name="T43" fmla="*/ 40 h 44"/>
                  <a:gd name="T44" fmla="*/ 15 w 90"/>
                  <a:gd name="T45" fmla="*/ 37 h 44"/>
                  <a:gd name="T46" fmla="*/ 21 w 90"/>
                  <a:gd name="T47" fmla="*/ 33 h 44"/>
                  <a:gd name="T48" fmla="*/ 28 w 90"/>
                  <a:gd name="T49" fmla="*/ 31 h 44"/>
                  <a:gd name="T50" fmla="*/ 35 w 90"/>
                  <a:gd name="T51" fmla="*/ 27 h 44"/>
                  <a:gd name="T52" fmla="*/ 42 w 90"/>
                  <a:gd name="T53" fmla="*/ 25 h 44"/>
                  <a:gd name="T54" fmla="*/ 50 w 90"/>
                  <a:gd name="T55" fmla="*/ 20 h 44"/>
                  <a:gd name="T56" fmla="*/ 56 w 90"/>
                  <a:gd name="T57" fmla="*/ 17 h 44"/>
                  <a:gd name="T58" fmla="*/ 63 w 90"/>
                  <a:gd name="T59" fmla="*/ 14 h 44"/>
                  <a:gd name="T60" fmla="*/ 70 w 90"/>
                  <a:gd name="T61" fmla="*/ 11 h 44"/>
                  <a:gd name="T62" fmla="*/ 77 w 90"/>
                  <a:gd name="T63" fmla="*/ 9 h 44"/>
                  <a:gd name="T64" fmla="*/ 82 w 90"/>
                  <a:gd name="T65" fmla="*/ 5 h 44"/>
                  <a:gd name="T66" fmla="*/ 86 w 90"/>
                  <a:gd name="T67" fmla="*/ 3 h 44"/>
                  <a:gd name="T68" fmla="*/ 90 w 90"/>
                  <a:gd name="T69" fmla="*/ 1 h 44"/>
                  <a:gd name="T70" fmla="*/ 89 w 90"/>
                  <a:gd name="T71" fmla="*/ 0 h 4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90"/>
                  <a:gd name="T109" fmla="*/ 0 h 44"/>
                  <a:gd name="T110" fmla="*/ 90 w 90"/>
                  <a:gd name="T111" fmla="*/ 44 h 4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90" h="44">
                    <a:moveTo>
                      <a:pt x="89" y="0"/>
                    </a:moveTo>
                    <a:lnTo>
                      <a:pt x="89" y="0"/>
                    </a:lnTo>
                    <a:lnTo>
                      <a:pt x="85" y="1"/>
                    </a:lnTo>
                    <a:lnTo>
                      <a:pt x="81" y="3"/>
                    </a:lnTo>
                    <a:lnTo>
                      <a:pt x="77" y="5"/>
                    </a:lnTo>
                    <a:lnTo>
                      <a:pt x="69" y="9"/>
                    </a:lnTo>
                    <a:lnTo>
                      <a:pt x="63" y="13"/>
                    </a:lnTo>
                    <a:lnTo>
                      <a:pt x="55" y="16"/>
                    </a:lnTo>
                    <a:lnTo>
                      <a:pt x="49" y="19"/>
                    </a:lnTo>
                    <a:lnTo>
                      <a:pt x="42" y="22"/>
                    </a:lnTo>
                    <a:lnTo>
                      <a:pt x="34" y="26"/>
                    </a:lnTo>
                    <a:lnTo>
                      <a:pt x="28" y="29"/>
                    </a:lnTo>
                    <a:lnTo>
                      <a:pt x="20" y="33"/>
                    </a:lnTo>
                    <a:lnTo>
                      <a:pt x="15" y="35"/>
                    </a:lnTo>
                    <a:lnTo>
                      <a:pt x="8" y="39"/>
                    </a:lnTo>
                    <a:lnTo>
                      <a:pt x="4" y="40"/>
                    </a:lnTo>
                    <a:lnTo>
                      <a:pt x="2" y="42"/>
                    </a:lnTo>
                    <a:lnTo>
                      <a:pt x="0" y="42"/>
                    </a:lnTo>
                    <a:lnTo>
                      <a:pt x="1" y="44"/>
                    </a:lnTo>
                    <a:lnTo>
                      <a:pt x="2" y="43"/>
                    </a:lnTo>
                    <a:lnTo>
                      <a:pt x="5" y="42"/>
                    </a:lnTo>
                    <a:lnTo>
                      <a:pt x="11" y="40"/>
                    </a:lnTo>
                    <a:lnTo>
                      <a:pt x="15" y="37"/>
                    </a:lnTo>
                    <a:lnTo>
                      <a:pt x="21" y="33"/>
                    </a:lnTo>
                    <a:lnTo>
                      <a:pt x="28" y="31"/>
                    </a:lnTo>
                    <a:lnTo>
                      <a:pt x="35" y="27"/>
                    </a:lnTo>
                    <a:lnTo>
                      <a:pt x="42" y="25"/>
                    </a:lnTo>
                    <a:lnTo>
                      <a:pt x="50" y="20"/>
                    </a:lnTo>
                    <a:lnTo>
                      <a:pt x="56" y="17"/>
                    </a:lnTo>
                    <a:lnTo>
                      <a:pt x="63" y="14"/>
                    </a:lnTo>
                    <a:lnTo>
                      <a:pt x="70" y="11"/>
                    </a:lnTo>
                    <a:lnTo>
                      <a:pt x="77" y="9"/>
                    </a:lnTo>
                    <a:lnTo>
                      <a:pt x="82" y="5"/>
                    </a:lnTo>
                    <a:lnTo>
                      <a:pt x="86" y="3"/>
                    </a:lnTo>
                    <a:lnTo>
                      <a:pt x="90" y="1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99" name="Freeform 968"/>
              <p:cNvSpPr>
                <a:spLocks/>
              </p:cNvSpPr>
              <p:nvPr/>
            </p:nvSpPr>
            <p:spPr bwMode="auto">
              <a:xfrm>
                <a:off x="3103" y="1925"/>
                <a:ext cx="13" cy="3"/>
              </a:xfrm>
              <a:custGeom>
                <a:avLst/>
                <a:gdLst>
                  <a:gd name="T0" fmla="*/ 13 w 13"/>
                  <a:gd name="T1" fmla="*/ 2 h 3"/>
                  <a:gd name="T2" fmla="*/ 13 w 13"/>
                  <a:gd name="T3" fmla="*/ 2 h 3"/>
                  <a:gd name="T4" fmla="*/ 12 w 13"/>
                  <a:gd name="T5" fmla="*/ 1 h 3"/>
                  <a:gd name="T6" fmla="*/ 10 w 13"/>
                  <a:gd name="T7" fmla="*/ 1 h 3"/>
                  <a:gd name="T8" fmla="*/ 9 w 13"/>
                  <a:gd name="T9" fmla="*/ 0 h 3"/>
                  <a:gd name="T10" fmla="*/ 6 w 13"/>
                  <a:gd name="T11" fmla="*/ 0 h 3"/>
                  <a:gd name="T12" fmla="*/ 5 w 13"/>
                  <a:gd name="T13" fmla="*/ 0 h 3"/>
                  <a:gd name="T14" fmla="*/ 3 w 13"/>
                  <a:gd name="T15" fmla="*/ 0 h 3"/>
                  <a:gd name="T16" fmla="*/ 2 w 13"/>
                  <a:gd name="T17" fmla="*/ 0 h 3"/>
                  <a:gd name="T18" fmla="*/ 0 w 13"/>
                  <a:gd name="T19" fmla="*/ 1 h 3"/>
                  <a:gd name="T20" fmla="*/ 0 w 13"/>
                  <a:gd name="T21" fmla="*/ 2 h 3"/>
                  <a:gd name="T22" fmla="*/ 2 w 13"/>
                  <a:gd name="T23" fmla="*/ 2 h 3"/>
                  <a:gd name="T24" fmla="*/ 3 w 13"/>
                  <a:gd name="T25" fmla="*/ 2 h 3"/>
                  <a:gd name="T26" fmla="*/ 5 w 13"/>
                  <a:gd name="T27" fmla="*/ 2 h 3"/>
                  <a:gd name="T28" fmla="*/ 6 w 13"/>
                  <a:gd name="T29" fmla="*/ 2 h 3"/>
                  <a:gd name="T30" fmla="*/ 9 w 13"/>
                  <a:gd name="T31" fmla="*/ 2 h 3"/>
                  <a:gd name="T32" fmla="*/ 10 w 13"/>
                  <a:gd name="T33" fmla="*/ 2 h 3"/>
                  <a:gd name="T34" fmla="*/ 11 w 13"/>
                  <a:gd name="T35" fmla="*/ 3 h 3"/>
                  <a:gd name="T36" fmla="*/ 12 w 13"/>
                  <a:gd name="T37" fmla="*/ 3 h 3"/>
                  <a:gd name="T38" fmla="*/ 13 w 13"/>
                  <a:gd name="T39" fmla="*/ 2 h 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3"/>
                  <a:gd name="T62" fmla="*/ 13 w 13"/>
                  <a:gd name="T63" fmla="*/ 3 h 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3">
                    <a:moveTo>
                      <a:pt x="13" y="2"/>
                    </a:moveTo>
                    <a:lnTo>
                      <a:pt x="13" y="2"/>
                    </a:lnTo>
                    <a:lnTo>
                      <a:pt x="12" y="1"/>
                    </a:lnTo>
                    <a:lnTo>
                      <a:pt x="10" y="1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6" y="2"/>
                    </a:lnTo>
                    <a:lnTo>
                      <a:pt x="9" y="2"/>
                    </a:lnTo>
                    <a:lnTo>
                      <a:pt x="10" y="2"/>
                    </a:lnTo>
                    <a:lnTo>
                      <a:pt x="11" y="3"/>
                    </a:lnTo>
                    <a:lnTo>
                      <a:pt x="12" y="3"/>
                    </a:ln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00" name="Freeform 969"/>
              <p:cNvSpPr>
                <a:spLocks/>
              </p:cNvSpPr>
              <p:nvPr/>
            </p:nvSpPr>
            <p:spPr bwMode="auto">
              <a:xfrm>
                <a:off x="3115" y="1926"/>
                <a:ext cx="128" cy="61"/>
              </a:xfrm>
              <a:custGeom>
                <a:avLst/>
                <a:gdLst>
                  <a:gd name="T0" fmla="*/ 128 w 128"/>
                  <a:gd name="T1" fmla="*/ 60 h 61"/>
                  <a:gd name="T2" fmla="*/ 124 w 128"/>
                  <a:gd name="T3" fmla="*/ 58 h 61"/>
                  <a:gd name="T4" fmla="*/ 119 w 128"/>
                  <a:gd name="T5" fmla="*/ 56 h 61"/>
                  <a:gd name="T6" fmla="*/ 111 w 128"/>
                  <a:gd name="T7" fmla="*/ 52 h 61"/>
                  <a:gd name="T8" fmla="*/ 104 w 128"/>
                  <a:gd name="T9" fmla="*/ 48 h 61"/>
                  <a:gd name="T10" fmla="*/ 94 w 128"/>
                  <a:gd name="T11" fmla="*/ 44 h 61"/>
                  <a:gd name="T12" fmla="*/ 84 w 128"/>
                  <a:gd name="T13" fmla="*/ 39 h 61"/>
                  <a:gd name="T14" fmla="*/ 73 w 128"/>
                  <a:gd name="T15" fmla="*/ 33 h 61"/>
                  <a:gd name="T16" fmla="*/ 62 w 128"/>
                  <a:gd name="T17" fmla="*/ 28 h 61"/>
                  <a:gd name="T18" fmla="*/ 51 w 128"/>
                  <a:gd name="T19" fmla="*/ 24 h 61"/>
                  <a:gd name="T20" fmla="*/ 41 w 128"/>
                  <a:gd name="T21" fmla="*/ 18 h 61"/>
                  <a:gd name="T22" fmla="*/ 30 w 128"/>
                  <a:gd name="T23" fmla="*/ 14 h 61"/>
                  <a:gd name="T24" fmla="*/ 22 w 128"/>
                  <a:gd name="T25" fmla="*/ 9 h 61"/>
                  <a:gd name="T26" fmla="*/ 14 w 128"/>
                  <a:gd name="T27" fmla="*/ 5 h 61"/>
                  <a:gd name="T28" fmla="*/ 8 w 128"/>
                  <a:gd name="T29" fmla="*/ 3 h 61"/>
                  <a:gd name="T30" fmla="*/ 4 w 128"/>
                  <a:gd name="T31" fmla="*/ 1 h 61"/>
                  <a:gd name="T32" fmla="*/ 0 w 128"/>
                  <a:gd name="T33" fmla="*/ 1 h 61"/>
                  <a:gd name="T34" fmla="*/ 2 w 128"/>
                  <a:gd name="T35" fmla="*/ 2 h 61"/>
                  <a:gd name="T36" fmla="*/ 7 w 128"/>
                  <a:gd name="T37" fmla="*/ 4 h 61"/>
                  <a:gd name="T38" fmla="*/ 13 w 128"/>
                  <a:gd name="T39" fmla="*/ 9 h 61"/>
                  <a:gd name="T40" fmla="*/ 21 w 128"/>
                  <a:gd name="T41" fmla="*/ 12 h 61"/>
                  <a:gd name="T42" fmla="*/ 29 w 128"/>
                  <a:gd name="T43" fmla="*/ 16 h 61"/>
                  <a:gd name="T44" fmla="*/ 40 w 128"/>
                  <a:gd name="T45" fmla="*/ 20 h 61"/>
                  <a:gd name="T46" fmla="*/ 50 w 128"/>
                  <a:gd name="T47" fmla="*/ 25 h 61"/>
                  <a:gd name="T48" fmla="*/ 61 w 128"/>
                  <a:gd name="T49" fmla="*/ 30 h 61"/>
                  <a:gd name="T50" fmla="*/ 72 w 128"/>
                  <a:gd name="T51" fmla="*/ 35 h 61"/>
                  <a:gd name="T52" fmla="*/ 83 w 128"/>
                  <a:gd name="T53" fmla="*/ 41 h 61"/>
                  <a:gd name="T54" fmla="*/ 94 w 128"/>
                  <a:gd name="T55" fmla="*/ 45 h 61"/>
                  <a:gd name="T56" fmla="*/ 103 w 128"/>
                  <a:gd name="T57" fmla="*/ 49 h 61"/>
                  <a:gd name="T58" fmla="*/ 110 w 128"/>
                  <a:gd name="T59" fmla="*/ 55 h 61"/>
                  <a:gd name="T60" fmla="*/ 119 w 128"/>
                  <a:gd name="T61" fmla="*/ 57 h 61"/>
                  <a:gd name="T62" fmla="*/ 123 w 128"/>
                  <a:gd name="T63" fmla="*/ 60 h 61"/>
                  <a:gd name="T64" fmla="*/ 126 w 128"/>
                  <a:gd name="T65" fmla="*/ 61 h 6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8"/>
                  <a:gd name="T100" fmla="*/ 0 h 61"/>
                  <a:gd name="T101" fmla="*/ 128 w 128"/>
                  <a:gd name="T102" fmla="*/ 61 h 6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8" h="61">
                    <a:moveTo>
                      <a:pt x="128" y="60"/>
                    </a:moveTo>
                    <a:lnTo>
                      <a:pt x="128" y="60"/>
                    </a:lnTo>
                    <a:lnTo>
                      <a:pt x="126" y="59"/>
                    </a:lnTo>
                    <a:lnTo>
                      <a:pt x="124" y="58"/>
                    </a:lnTo>
                    <a:lnTo>
                      <a:pt x="122" y="57"/>
                    </a:lnTo>
                    <a:lnTo>
                      <a:pt x="119" y="56"/>
                    </a:lnTo>
                    <a:lnTo>
                      <a:pt x="115" y="55"/>
                    </a:lnTo>
                    <a:lnTo>
                      <a:pt x="111" y="52"/>
                    </a:lnTo>
                    <a:lnTo>
                      <a:pt x="108" y="49"/>
                    </a:lnTo>
                    <a:lnTo>
                      <a:pt x="104" y="48"/>
                    </a:lnTo>
                    <a:lnTo>
                      <a:pt x="99" y="46"/>
                    </a:lnTo>
                    <a:lnTo>
                      <a:pt x="94" y="44"/>
                    </a:lnTo>
                    <a:lnTo>
                      <a:pt x="89" y="41"/>
                    </a:lnTo>
                    <a:lnTo>
                      <a:pt x="84" y="39"/>
                    </a:lnTo>
                    <a:lnTo>
                      <a:pt x="78" y="36"/>
                    </a:lnTo>
                    <a:lnTo>
                      <a:pt x="73" y="33"/>
                    </a:lnTo>
                    <a:lnTo>
                      <a:pt x="68" y="31"/>
                    </a:lnTo>
                    <a:lnTo>
                      <a:pt x="62" y="28"/>
                    </a:lnTo>
                    <a:lnTo>
                      <a:pt x="57" y="26"/>
                    </a:lnTo>
                    <a:lnTo>
                      <a:pt x="51" y="24"/>
                    </a:lnTo>
                    <a:lnTo>
                      <a:pt x="45" y="21"/>
                    </a:lnTo>
                    <a:lnTo>
                      <a:pt x="41" y="18"/>
                    </a:lnTo>
                    <a:lnTo>
                      <a:pt x="36" y="16"/>
                    </a:lnTo>
                    <a:lnTo>
                      <a:pt x="30" y="14"/>
                    </a:lnTo>
                    <a:lnTo>
                      <a:pt x="26" y="12"/>
                    </a:lnTo>
                    <a:lnTo>
                      <a:pt x="22" y="9"/>
                    </a:lnTo>
                    <a:lnTo>
                      <a:pt x="17" y="9"/>
                    </a:lnTo>
                    <a:lnTo>
                      <a:pt x="14" y="5"/>
                    </a:lnTo>
                    <a:lnTo>
                      <a:pt x="11" y="4"/>
                    </a:lnTo>
                    <a:lnTo>
                      <a:pt x="8" y="3"/>
                    </a:lnTo>
                    <a:lnTo>
                      <a:pt x="5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5" y="3"/>
                    </a:lnTo>
                    <a:lnTo>
                      <a:pt x="7" y="4"/>
                    </a:lnTo>
                    <a:lnTo>
                      <a:pt x="9" y="5"/>
                    </a:lnTo>
                    <a:lnTo>
                      <a:pt x="13" y="9"/>
                    </a:lnTo>
                    <a:lnTo>
                      <a:pt x="17" y="9"/>
                    </a:lnTo>
                    <a:lnTo>
                      <a:pt x="21" y="12"/>
                    </a:lnTo>
                    <a:lnTo>
                      <a:pt x="25" y="14"/>
                    </a:lnTo>
                    <a:lnTo>
                      <a:pt x="29" y="16"/>
                    </a:lnTo>
                    <a:lnTo>
                      <a:pt x="36" y="18"/>
                    </a:lnTo>
                    <a:lnTo>
                      <a:pt x="40" y="20"/>
                    </a:lnTo>
                    <a:lnTo>
                      <a:pt x="45" y="22"/>
                    </a:lnTo>
                    <a:lnTo>
                      <a:pt x="50" y="25"/>
                    </a:lnTo>
                    <a:lnTo>
                      <a:pt x="56" y="28"/>
                    </a:lnTo>
                    <a:lnTo>
                      <a:pt x="61" y="30"/>
                    </a:lnTo>
                    <a:lnTo>
                      <a:pt x="67" y="33"/>
                    </a:lnTo>
                    <a:lnTo>
                      <a:pt x="72" y="35"/>
                    </a:lnTo>
                    <a:lnTo>
                      <a:pt x="78" y="39"/>
                    </a:lnTo>
                    <a:lnTo>
                      <a:pt x="83" y="41"/>
                    </a:lnTo>
                    <a:lnTo>
                      <a:pt x="88" y="43"/>
                    </a:lnTo>
                    <a:lnTo>
                      <a:pt x="94" y="45"/>
                    </a:lnTo>
                    <a:lnTo>
                      <a:pt x="99" y="47"/>
                    </a:lnTo>
                    <a:lnTo>
                      <a:pt x="103" y="49"/>
                    </a:lnTo>
                    <a:lnTo>
                      <a:pt x="107" y="52"/>
                    </a:lnTo>
                    <a:lnTo>
                      <a:pt x="110" y="55"/>
                    </a:lnTo>
                    <a:lnTo>
                      <a:pt x="115" y="56"/>
                    </a:lnTo>
                    <a:lnTo>
                      <a:pt x="119" y="57"/>
                    </a:lnTo>
                    <a:lnTo>
                      <a:pt x="121" y="59"/>
                    </a:lnTo>
                    <a:lnTo>
                      <a:pt x="123" y="60"/>
                    </a:lnTo>
                    <a:lnTo>
                      <a:pt x="125" y="60"/>
                    </a:lnTo>
                    <a:lnTo>
                      <a:pt x="126" y="61"/>
                    </a:lnTo>
                    <a:lnTo>
                      <a:pt x="128" y="6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01" name="Freeform 970"/>
              <p:cNvSpPr>
                <a:spLocks/>
              </p:cNvSpPr>
              <p:nvPr/>
            </p:nvSpPr>
            <p:spPr bwMode="auto">
              <a:xfrm>
                <a:off x="3241" y="1986"/>
                <a:ext cx="9" cy="9"/>
              </a:xfrm>
              <a:custGeom>
                <a:avLst/>
                <a:gdLst>
                  <a:gd name="T0" fmla="*/ 5 w 9"/>
                  <a:gd name="T1" fmla="*/ 9 h 9"/>
                  <a:gd name="T2" fmla="*/ 5 w 9"/>
                  <a:gd name="T3" fmla="*/ 9 h 9"/>
                  <a:gd name="T4" fmla="*/ 8 w 9"/>
                  <a:gd name="T5" fmla="*/ 8 h 9"/>
                  <a:gd name="T6" fmla="*/ 9 w 9"/>
                  <a:gd name="T7" fmla="*/ 7 h 9"/>
                  <a:gd name="T8" fmla="*/ 9 w 9"/>
                  <a:gd name="T9" fmla="*/ 5 h 9"/>
                  <a:gd name="T10" fmla="*/ 8 w 9"/>
                  <a:gd name="T11" fmla="*/ 4 h 9"/>
                  <a:gd name="T12" fmla="*/ 7 w 9"/>
                  <a:gd name="T13" fmla="*/ 2 h 9"/>
                  <a:gd name="T14" fmla="*/ 5 w 9"/>
                  <a:gd name="T15" fmla="*/ 1 h 9"/>
                  <a:gd name="T16" fmla="*/ 3 w 9"/>
                  <a:gd name="T17" fmla="*/ 1 h 9"/>
                  <a:gd name="T18" fmla="*/ 2 w 9"/>
                  <a:gd name="T19" fmla="*/ 0 h 9"/>
                  <a:gd name="T20" fmla="*/ 0 w 9"/>
                  <a:gd name="T21" fmla="*/ 1 h 9"/>
                  <a:gd name="T22" fmla="*/ 2 w 9"/>
                  <a:gd name="T23" fmla="*/ 2 h 9"/>
                  <a:gd name="T24" fmla="*/ 4 w 9"/>
                  <a:gd name="T25" fmla="*/ 3 h 9"/>
                  <a:gd name="T26" fmla="*/ 5 w 9"/>
                  <a:gd name="T27" fmla="*/ 4 h 9"/>
                  <a:gd name="T28" fmla="*/ 7 w 9"/>
                  <a:gd name="T29" fmla="*/ 5 h 9"/>
                  <a:gd name="T30" fmla="*/ 7 w 9"/>
                  <a:gd name="T31" fmla="*/ 6 h 9"/>
                  <a:gd name="T32" fmla="*/ 7 w 9"/>
                  <a:gd name="T33" fmla="*/ 7 h 9"/>
                  <a:gd name="T34" fmla="*/ 4 w 9"/>
                  <a:gd name="T35" fmla="*/ 8 h 9"/>
                  <a:gd name="T36" fmla="*/ 5 w 9"/>
                  <a:gd name="T37" fmla="*/ 9 h 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9"/>
                  <a:gd name="T59" fmla="*/ 9 w 9"/>
                  <a:gd name="T60" fmla="*/ 9 h 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9">
                    <a:moveTo>
                      <a:pt x="5" y="9"/>
                    </a:moveTo>
                    <a:lnTo>
                      <a:pt x="5" y="9"/>
                    </a:lnTo>
                    <a:lnTo>
                      <a:pt x="8" y="8"/>
                    </a:lnTo>
                    <a:lnTo>
                      <a:pt x="9" y="7"/>
                    </a:lnTo>
                    <a:lnTo>
                      <a:pt x="9" y="5"/>
                    </a:lnTo>
                    <a:lnTo>
                      <a:pt x="8" y="4"/>
                    </a:lnTo>
                    <a:lnTo>
                      <a:pt x="7" y="2"/>
                    </a:lnTo>
                    <a:lnTo>
                      <a:pt x="5" y="1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4"/>
                    </a:lnTo>
                    <a:lnTo>
                      <a:pt x="7" y="5"/>
                    </a:lnTo>
                    <a:lnTo>
                      <a:pt x="7" y="6"/>
                    </a:lnTo>
                    <a:lnTo>
                      <a:pt x="7" y="7"/>
                    </a:lnTo>
                    <a:lnTo>
                      <a:pt x="4" y="8"/>
                    </a:lnTo>
                    <a:lnTo>
                      <a:pt x="5" y="9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02" name="Freeform 971"/>
              <p:cNvSpPr>
                <a:spLocks/>
              </p:cNvSpPr>
              <p:nvPr/>
            </p:nvSpPr>
            <p:spPr bwMode="auto">
              <a:xfrm>
                <a:off x="3143" y="1994"/>
                <a:ext cx="103" cy="47"/>
              </a:xfrm>
              <a:custGeom>
                <a:avLst/>
                <a:gdLst>
                  <a:gd name="T0" fmla="*/ 1 w 103"/>
                  <a:gd name="T1" fmla="*/ 47 h 47"/>
                  <a:gd name="T2" fmla="*/ 3 w 103"/>
                  <a:gd name="T3" fmla="*/ 46 h 47"/>
                  <a:gd name="T4" fmla="*/ 9 w 103"/>
                  <a:gd name="T5" fmla="*/ 44 h 47"/>
                  <a:gd name="T6" fmla="*/ 14 w 103"/>
                  <a:gd name="T7" fmla="*/ 42 h 47"/>
                  <a:gd name="T8" fmla="*/ 20 w 103"/>
                  <a:gd name="T9" fmla="*/ 38 h 47"/>
                  <a:gd name="T10" fmla="*/ 27 w 103"/>
                  <a:gd name="T11" fmla="*/ 36 h 47"/>
                  <a:gd name="T12" fmla="*/ 35 w 103"/>
                  <a:gd name="T13" fmla="*/ 32 h 47"/>
                  <a:gd name="T14" fmla="*/ 44 w 103"/>
                  <a:gd name="T15" fmla="*/ 28 h 47"/>
                  <a:gd name="T16" fmla="*/ 52 w 103"/>
                  <a:gd name="T17" fmla="*/ 25 h 47"/>
                  <a:gd name="T18" fmla="*/ 60 w 103"/>
                  <a:gd name="T19" fmla="*/ 22 h 47"/>
                  <a:gd name="T20" fmla="*/ 70 w 103"/>
                  <a:gd name="T21" fmla="*/ 18 h 47"/>
                  <a:gd name="T22" fmla="*/ 77 w 103"/>
                  <a:gd name="T23" fmla="*/ 14 h 47"/>
                  <a:gd name="T24" fmla="*/ 83 w 103"/>
                  <a:gd name="T25" fmla="*/ 11 h 47"/>
                  <a:gd name="T26" fmla="*/ 90 w 103"/>
                  <a:gd name="T27" fmla="*/ 8 h 47"/>
                  <a:gd name="T28" fmla="*/ 96 w 103"/>
                  <a:gd name="T29" fmla="*/ 5 h 47"/>
                  <a:gd name="T30" fmla="*/ 100 w 103"/>
                  <a:gd name="T31" fmla="*/ 4 h 47"/>
                  <a:gd name="T32" fmla="*/ 103 w 103"/>
                  <a:gd name="T33" fmla="*/ 1 h 47"/>
                  <a:gd name="T34" fmla="*/ 101 w 103"/>
                  <a:gd name="T35" fmla="*/ 0 h 47"/>
                  <a:gd name="T36" fmla="*/ 97 w 103"/>
                  <a:gd name="T37" fmla="*/ 3 h 47"/>
                  <a:gd name="T38" fmla="*/ 92 w 103"/>
                  <a:gd name="T39" fmla="*/ 5 h 47"/>
                  <a:gd name="T40" fmla="*/ 86 w 103"/>
                  <a:gd name="T41" fmla="*/ 8 h 47"/>
                  <a:gd name="T42" fmla="*/ 79 w 103"/>
                  <a:gd name="T43" fmla="*/ 11 h 47"/>
                  <a:gd name="T44" fmla="*/ 73 w 103"/>
                  <a:gd name="T45" fmla="*/ 14 h 47"/>
                  <a:gd name="T46" fmla="*/ 64 w 103"/>
                  <a:gd name="T47" fmla="*/ 18 h 47"/>
                  <a:gd name="T48" fmla="*/ 56 w 103"/>
                  <a:gd name="T49" fmla="*/ 22 h 47"/>
                  <a:gd name="T50" fmla="*/ 47 w 103"/>
                  <a:gd name="T51" fmla="*/ 25 h 47"/>
                  <a:gd name="T52" fmla="*/ 39 w 103"/>
                  <a:gd name="T53" fmla="*/ 29 h 47"/>
                  <a:gd name="T54" fmla="*/ 31 w 103"/>
                  <a:gd name="T55" fmla="*/ 32 h 47"/>
                  <a:gd name="T56" fmla="*/ 23 w 103"/>
                  <a:gd name="T57" fmla="*/ 36 h 47"/>
                  <a:gd name="T58" fmla="*/ 16 w 103"/>
                  <a:gd name="T59" fmla="*/ 38 h 47"/>
                  <a:gd name="T60" fmla="*/ 11 w 103"/>
                  <a:gd name="T61" fmla="*/ 42 h 47"/>
                  <a:gd name="T62" fmla="*/ 5 w 103"/>
                  <a:gd name="T63" fmla="*/ 44 h 47"/>
                  <a:gd name="T64" fmla="*/ 1 w 103"/>
                  <a:gd name="T65" fmla="*/ 45 h 47"/>
                  <a:gd name="T66" fmla="*/ 1 w 103"/>
                  <a:gd name="T67" fmla="*/ 47 h 4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7"/>
                  <a:gd name="T104" fmla="*/ 103 w 103"/>
                  <a:gd name="T105" fmla="*/ 47 h 4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7">
                    <a:moveTo>
                      <a:pt x="1" y="47"/>
                    </a:moveTo>
                    <a:lnTo>
                      <a:pt x="1" y="47"/>
                    </a:lnTo>
                    <a:lnTo>
                      <a:pt x="2" y="46"/>
                    </a:lnTo>
                    <a:lnTo>
                      <a:pt x="3" y="46"/>
                    </a:lnTo>
                    <a:lnTo>
                      <a:pt x="5" y="45"/>
                    </a:lnTo>
                    <a:lnTo>
                      <a:pt x="9" y="44"/>
                    </a:lnTo>
                    <a:lnTo>
                      <a:pt x="12" y="43"/>
                    </a:lnTo>
                    <a:lnTo>
                      <a:pt x="14" y="42"/>
                    </a:lnTo>
                    <a:lnTo>
                      <a:pt x="17" y="41"/>
                    </a:lnTo>
                    <a:lnTo>
                      <a:pt x="20" y="38"/>
                    </a:lnTo>
                    <a:lnTo>
                      <a:pt x="24" y="38"/>
                    </a:lnTo>
                    <a:lnTo>
                      <a:pt x="27" y="36"/>
                    </a:lnTo>
                    <a:lnTo>
                      <a:pt x="31" y="34"/>
                    </a:lnTo>
                    <a:lnTo>
                      <a:pt x="35" y="32"/>
                    </a:lnTo>
                    <a:lnTo>
                      <a:pt x="40" y="30"/>
                    </a:lnTo>
                    <a:lnTo>
                      <a:pt x="44" y="28"/>
                    </a:lnTo>
                    <a:lnTo>
                      <a:pt x="47" y="27"/>
                    </a:lnTo>
                    <a:lnTo>
                      <a:pt x="52" y="25"/>
                    </a:lnTo>
                    <a:lnTo>
                      <a:pt x="57" y="24"/>
                    </a:lnTo>
                    <a:lnTo>
                      <a:pt x="60" y="22"/>
                    </a:lnTo>
                    <a:lnTo>
                      <a:pt x="64" y="19"/>
                    </a:lnTo>
                    <a:lnTo>
                      <a:pt x="70" y="18"/>
                    </a:lnTo>
                    <a:lnTo>
                      <a:pt x="73" y="15"/>
                    </a:lnTo>
                    <a:lnTo>
                      <a:pt x="77" y="14"/>
                    </a:lnTo>
                    <a:lnTo>
                      <a:pt x="80" y="12"/>
                    </a:lnTo>
                    <a:lnTo>
                      <a:pt x="83" y="11"/>
                    </a:lnTo>
                    <a:lnTo>
                      <a:pt x="87" y="10"/>
                    </a:lnTo>
                    <a:lnTo>
                      <a:pt x="90" y="8"/>
                    </a:lnTo>
                    <a:lnTo>
                      <a:pt x="92" y="6"/>
                    </a:lnTo>
                    <a:lnTo>
                      <a:pt x="96" y="5"/>
                    </a:lnTo>
                    <a:lnTo>
                      <a:pt x="98" y="4"/>
                    </a:lnTo>
                    <a:lnTo>
                      <a:pt x="100" y="4"/>
                    </a:lnTo>
                    <a:lnTo>
                      <a:pt x="102" y="3"/>
                    </a:lnTo>
                    <a:lnTo>
                      <a:pt x="103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100" y="1"/>
                    </a:lnTo>
                    <a:lnTo>
                      <a:pt x="97" y="3"/>
                    </a:lnTo>
                    <a:lnTo>
                      <a:pt x="95" y="4"/>
                    </a:lnTo>
                    <a:lnTo>
                      <a:pt x="92" y="5"/>
                    </a:lnTo>
                    <a:lnTo>
                      <a:pt x="89" y="6"/>
                    </a:lnTo>
                    <a:lnTo>
                      <a:pt x="86" y="8"/>
                    </a:lnTo>
                    <a:lnTo>
                      <a:pt x="82" y="9"/>
                    </a:lnTo>
                    <a:lnTo>
                      <a:pt x="79" y="11"/>
                    </a:lnTo>
                    <a:lnTo>
                      <a:pt x="76" y="12"/>
                    </a:lnTo>
                    <a:lnTo>
                      <a:pt x="73" y="14"/>
                    </a:lnTo>
                    <a:lnTo>
                      <a:pt x="67" y="15"/>
                    </a:lnTo>
                    <a:lnTo>
                      <a:pt x="64" y="18"/>
                    </a:lnTo>
                    <a:lnTo>
                      <a:pt x="60" y="19"/>
                    </a:lnTo>
                    <a:lnTo>
                      <a:pt x="56" y="22"/>
                    </a:lnTo>
                    <a:lnTo>
                      <a:pt x="50" y="24"/>
                    </a:lnTo>
                    <a:lnTo>
                      <a:pt x="47" y="25"/>
                    </a:lnTo>
                    <a:lnTo>
                      <a:pt x="43" y="27"/>
                    </a:lnTo>
                    <a:lnTo>
                      <a:pt x="39" y="29"/>
                    </a:lnTo>
                    <a:lnTo>
                      <a:pt x="35" y="30"/>
                    </a:lnTo>
                    <a:lnTo>
                      <a:pt x="31" y="32"/>
                    </a:lnTo>
                    <a:lnTo>
                      <a:pt x="27" y="34"/>
                    </a:lnTo>
                    <a:lnTo>
                      <a:pt x="23" y="36"/>
                    </a:lnTo>
                    <a:lnTo>
                      <a:pt x="19" y="38"/>
                    </a:lnTo>
                    <a:lnTo>
                      <a:pt x="16" y="38"/>
                    </a:lnTo>
                    <a:lnTo>
                      <a:pt x="14" y="40"/>
                    </a:lnTo>
                    <a:lnTo>
                      <a:pt x="11" y="42"/>
                    </a:lnTo>
                    <a:lnTo>
                      <a:pt x="9" y="43"/>
                    </a:lnTo>
                    <a:lnTo>
                      <a:pt x="5" y="44"/>
                    </a:lnTo>
                    <a:lnTo>
                      <a:pt x="3" y="44"/>
                    </a:lnTo>
                    <a:lnTo>
                      <a:pt x="1" y="45"/>
                    </a:lnTo>
                    <a:lnTo>
                      <a:pt x="0" y="45"/>
                    </a:lnTo>
                    <a:lnTo>
                      <a:pt x="1" y="47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03" name="Freeform 972"/>
              <p:cNvSpPr>
                <a:spLocks/>
              </p:cNvSpPr>
              <p:nvPr/>
            </p:nvSpPr>
            <p:spPr bwMode="auto">
              <a:xfrm>
                <a:off x="3129" y="2037"/>
                <a:ext cx="14" cy="4"/>
              </a:xfrm>
              <a:custGeom>
                <a:avLst/>
                <a:gdLst>
                  <a:gd name="T0" fmla="*/ 0 w 14"/>
                  <a:gd name="T1" fmla="*/ 1 h 4"/>
                  <a:gd name="T2" fmla="*/ 0 w 14"/>
                  <a:gd name="T3" fmla="*/ 1 h 4"/>
                  <a:gd name="T4" fmla="*/ 1 w 14"/>
                  <a:gd name="T5" fmla="*/ 2 h 4"/>
                  <a:gd name="T6" fmla="*/ 3 w 14"/>
                  <a:gd name="T7" fmla="*/ 3 h 4"/>
                  <a:gd name="T8" fmla="*/ 7 w 14"/>
                  <a:gd name="T9" fmla="*/ 3 h 4"/>
                  <a:gd name="T10" fmla="*/ 7 w 14"/>
                  <a:gd name="T11" fmla="*/ 3 h 4"/>
                  <a:gd name="T12" fmla="*/ 10 w 14"/>
                  <a:gd name="T13" fmla="*/ 4 h 4"/>
                  <a:gd name="T14" fmla="*/ 11 w 14"/>
                  <a:gd name="T15" fmla="*/ 4 h 4"/>
                  <a:gd name="T16" fmla="*/ 13 w 14"/>
                  <a:gd name="T17" fmla="*/ 4 h 4"/>
                  <a:gd name="T18" fmla="*/ 14 w 14"/>
                  <a:gd name="T19" fmla="*/ 4 h 4"/>
                  <a:gd name="T20" fmla="*/ 13 w 14"/>
                  <a:gd name="T21" fmla="*/ 2 h 4"/>
                  <a:gd name="T22" fmla="*/ 11 w 14"/>
                  <a:gd name="T23" fmla="*/ 2 h 4"/>
                  <a:gd name="T24" fmla="*/ 10 w 14"/>
                  <a:gd name="T25" fmla="*/ 2 h 4"/>
                  <a:gd name="T26" fmla="*/ 9 w 14"/>
                  <a:gd name="T27" fmla="*/ 2 h 4"/>
                  <a:gd name="T28" fmla="*/ 7 w 14"/>
                  <a:gd name="T29" fmla="*/ 1 h 4"/>
                  <a:gd name="T30" fmla="*/ 3 w 14"/>
                  <a:gd name="T31" fmla="*/ 1 h 4"/>
                  <a:gd name="T32" fmla="*/ 2 w 14"/>
                  <a:gd name="T33" fmla="*/ 1 h 4"/>
                  <a:gd name="T34" fmla="*/ 1 w 14"/>
                  <a:gd name="T35" fmla="*/ 0 h 4"/>
                  <a:gd name="T36" fmla="*/ 0 w 14"/>
                  <a:gd name="T37" fmla="*/ 1 h 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4"/>
                  <a:gd name="T59" fmla="*/ 14 w 14"/>
                  <a:gd name="T60" fmla="*/ 4 h 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4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3" y="3"/>
                    </a:lnTo>
                    <a:lnTo>
                      <a:pt x="7" y="3"/>
                    </a:lnTo>
                    <a:lnTo>
                      <a:pt x="10" y="4"/>
                    </a:lnTo>
                    <a:lnTo>
                      <a:pt x="11" y="4"/>
                    </a:lnTo>
                    <a:lnTo>
                      <a:pt x="13" y="4"/>
                    </a:lnTo>
                    <a:lnTo>
                      <a:pt x="14" y="4"/>
                    </a:lnTo>
                    <a:lnTo>
                      <a:pt x="13" y="2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2"/>
                    </a:lnTo>
                    <a:lnTo>
                      <a:pt x="7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04" name="Freeform 973"/>
              <p:cNvSpPr>
                <a:spLocks/>
              </p:cNvSpPr>
              <p:nvPr/>
            </p:nvSpPr>
            <p:spPr bwMode="auto">
              <a:xfrm>
                <a:off x="3015" y="1975"/>
                <a:ext cx="115" cy="62"/>
              </a:xfrm>
              <a:custGeom>
                <a:avLst/>
                <a:gdLst>
                  <a:gd name="T0" fmla="*/ 0 w 115"/>
                  <a:gd name="T1" fmla="*/ 1 h 62"/>
                  <a:gd name="T2" fmla="*/ 2 w 115"/>
                  <a:gd name="T3" fmla="*/ 2 h 62"/>
                  <a:gd name="T4" fmla="*/ 5 w 115"/>
                  <a:gd name="T5" fmla="*/ 4 h 62"/>
                  <a:gd name="T6" fmla="*/ 11 w 115"/>
                  <a:gd name="T7" fmla="*/ 9 h 62"/>
                  <a:gd name="T8" fmla="*/ 18 w 115"/>
                  <a:gd name="T9" fmla="*/ 12 h 62"/>
                  <a:gd name="T10" fmla="*/ 26 w 115"/>
                  <a:gd name="T11" fmla="*/ 16 h 62"/>
                  <a:gd name="T12" fmla="*/ 35 w 115"/>
                  <a:gd name="T13" fmla="*/ 20 h 62"/>
                  <a:gd name="T14" fmla="*/ 45 w 115"/>
                  <a:gd name="T15" fmla="*/ 26 h 62"/>
                  <a:gd name="T16" fmla="*/ 54 w 115"/>
                  <a:gd name="T17" fmla="*/ 31 h 62"/>
                  <a:gd name="T18" fmla="*/ 64 w 115"/>
                  <a:gd name="T19" fmla="*/ 37 h 62"/>
                  <a:gd name="T20" fmla="*/ 75 w 115"/>
                  <a:gd name="T21" fmla="*/ 42 h 62"/>
                  <a:gd name="T22" fmla="*/ 83 w 115"/>
                  <a:gd name="T23" fmla="*/ 47 h 62"/>
                  <a:gd name="T24" fmla="*/ 93 w 115"/>
                  <a:gd name="T25" fmla="*/ 51 h 62"/>
                  <a:gd name="T26" fmla="*/ 99 w 115"/>
                  <a:gd name="T27" fmla="*/ 55 h 62"/>
                  <a:gd name="T28" fmla="*/ 107 w 115"/>
                  <a:gd name="T29" fmla="*/ 58 h 62"/>
                  <a:gd name="T30" fmla="*/ 112 w 115"/>
                  <a:gd name="T31" fmla="*/ 61 h 62"/>
                  <a:gd name="T32" fmla="*/ 114 w 115"/>
                  <a:gd name="T33" fmla="*/ 62 h 62"/>
                  <a:gd name="T34" fmla="*/ 114 w 115"/>
                  <a:gd name="T35" fmla="*/ 60 h 62"/>
                  <a:gd name="T36" fmla="*/ 110 w 115"/>
                  <a:gd name="T37" fmla="*/ 58 h 62"/>
                  <a:gd name="T38" fmla="*/ 104 w 115"/>
                  <a:gd name="T39" fmla="*/ 55 h 62"/>
                  <a:gd name="T40" fmla="*/ 97 w 115"/>
                  <a:gd name="T41" fmla="*/ 51 h 62"/>
                  <a:gd name="T42" fmla="*/ 90 w 115"/>
                  <a:gd name="T43" fmla="*/ 47 h 62"/>
                  <a:gd name="T44" fmla="*/ 80 w 115"/>
                  <a:gd name="T45" fmla="*/ 42 h 62"/>
                  <a:gd name="T46" fmla="*/ 70 w 115"/>
                  <a:gd name="T47" fmla="*/ 38 h 62"/>
                  <a:gd name="T48" fmla="*/ 61 w 115"/>
                  <a:gd name="T49" fmla="*/ 32 h 62"/>
                  <a:gd name="T50" fmla="*/ 51 w 115"/>
                  <a:gd name="T51" fmla="*/ 28 h 62"/>
                  <a:gd name="T52" fmla="*/ 41 w 115"/>
                  <a:gd name="T53" fmla="*/ 22 h 62"/>
                  <a:gd name="T54" fmla="*/ 32 w 115"/>
                  <a:gd name="T55" fmla="*/ 17 h 62"/>
                  <a:gd name="T56" fmla="*/ 23 w 115"/>
                  <a:gd name="T57" fmla="*/ 12 h 62"/>
                  <a:gd name="T58" fmla="*/ 16 w 115"/>
                  <a:gd name="T59" fmla="*/ 9 h 62"/>
                  <a:gd name="T60" fmla="*/ 8 w 115"/>
                  <a:gd name="T61" fmla="*/ 4 h 62"/>
                  <a:gd name="T62" fmla="*/ 4 w 115"/>
                  <a:gd name="T63" fmla="*/ 2 h 62"/>
                  <a:gd name="T64" fmla="*/ 1 w 115"/>
                  <a:gd name="T65" fmla="*/ 0 h 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2"/>
                  <a:gd name="T101" fmla="*/ 115 w 115"/>
                  <a:gd name="T102" fmla="*/ 62 h 6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2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5" y="4"/>
                    </a:lnTo>
                    <a:lnTo>
                      <a:pt x="7" y="7"/>
                    </a:lnTo>
                    <a:lnTo>
                      <a:pt x="11" y="9"/>
                    </a:lnTo>
                    <a:lnTo>
                      <a:pt x="15" y="9"/>
                    </a:lnTo>
                    <a:lnTo>
                      <a:pt x="18" y="12"/>
                    </a:lnTo>
                    <a:lnTo>
                      <a:pt x="22" y="14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0"/>
                    </a:lnTo>
                    <a:lnTo>
                      <a:pt x="39" y="23"/>
                    </a:lnTo>
                    <a:lnTo>
                      <a:pt x="45" y="26"/>
                    </a:lnTo>
                    <a:lnTo>
                      <a:pt x="49" y="28"/>
                    </a:lnTo>
                    <a:lnTo>
                      <a:pt x="54" y="31"/>
                    </a:lnTo>
                    <a:lnTo>
                      <a:pt x="60" y="34"/>
                    </a:lnTo>
                    <a:lnTo>
                      <a:pt x="64" y="37"/>
                    </a:lnTo>
                    <a:lnTo>
                      <a:pt x="70" y="39"/>
                    </a:lnTo>
                    <a:lnTo>
                      <a:pt x="75" y="42"/>
                    </a:lnTo>
                    <a:lnTo>
                      <a:pt x="79" y="44"/>
                    </a:lnTo>
                    <a:lnTo>
                      <a:pt x="83" y="47"/>
                    </a:lnTo>
                    <a:lnTo>
                      <a:pt x="88" y="49"/>
                    </a:lnTo>
                    <a:lnTo>
                      <a:pt x="93" y="51"/>
                    </a:lnTo>
                    <a:lnTo>
                      <a:pt x="96" y="54"/>
                    </a:lnTo>
                    <a:lnTo>
                      <a:pt x="99" y="55"/>
                    </a:lnTo>
                    <a:lnTo>
                      <a:pt x="102" y="57"/>
                    </a:lnTo>
                    <a:lnTo>
                      <a:pt x="107" y="58"/>
                    </a:lnTo>
                    <a:lnTo>
                      <a:pt x="110" y="60"/>
                    </a:lnTo>
                    <a:lnTo>
                      <a:pt x="112" y="61"/>
                    </a:lnTo>
                    <a:lnTo>
                      <a:pt x="113" y="61"/>
                    </a:lnTo>
                    <a:lnTo>
                      <a:pt x="114" y="62"/>
                    </a:lnTo>
                    <a:lnTo>
                      <a:pt x="115" y="61"/>
                    </a:lnTo>
                    <a:lnTo>
                      <a:pt x="114" y="60"/>
                    </a:lnTo>
                    <a:lnTo>
                      <a:pt x="112" y="59"/>
                    </a:lnTo>
                    <a:lnTo>
                      <a:pt x="110" y="58"/>
                    </a:lnTo>
                    <a:lnTo>
                      <a:pt x="107" y="57"/>
                    </a:lnTo>
                    <a:lnTo>
                      <a:pt x="104" y="55"/>
                    </a:lnTo>
                    <a:lnTo>
                      <a:pt x="100" y="54"/>
                    </a:lnTo>
                    <a:lnTo>
                      <a:pt x="97" y="51"/>
                    </a:lnTo>
                    <a:lnTo>
                      <a:pt x="94" y="49"/>
                    </a:lnTo>
                    <a:lnTo>
                      <a:pt x="90" y="47"/>
                    </a:lnTo>
                    <a:lnTo>
                      <a:pt x="84" y="44"/>
                    </a:lnTo>
                    <a:lnTo>
                      <a:pt x="80" y="42"/>
                    </a:lnTo>
                    <a:lnTo>
                      <a:pt x="76" y="40"/>
                    </a:lnTo>
                    <a:lnTo>
                      <a:pt x="70" y="38"/>
                    </a:lnTo>
                    <a:lnTo>
                      <a:pt x="65" y="34"/>
                    </a:lnTo>
                    <a:lnTo>
                      <a:pt x="61" y="32"/>
                    </a:lnTo>
                    <a:lnTo>
                      <a:pt x="55" y="30"/>
                    </a:lnTo>
                    <a:lnTo>
                      <a:pt x="51" y="28"/>
                    </a:lnTo>
                    <a:lnTo>
                      <a:pt x="46" y="24"/>
                    </a:lnTo>
                    <a:lnTo>
                      <a:pt x="41" y="22"/>
                    </a:lnTo>
                    <a:lnTo>
                      <a:pt x="36" y="19"/>
                    </a:lnTo>
                    <a:lnTo>
                      <a:pt x="32" y="17"/>
                    </a:lnTo>
                    <a:lnTo>
                      <a:pt x="27" y="14"/>
                    </a:lnTo>
                    <a:lnTo>
                      <a:pt x="23" y="12"/>
                    </a:lnTo>
                    <a:lnTo>
                      <a:pt x="19" y="11"/>
                    </a:lnTo>
                    <a:lnTo>
                      <a:pt x="16" y="9"/>
                    </a:lnTo>
                    <a:lnTo>
                      <a:pt x="13" y="7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05" name="Freeform 974"/>
              <p:cNvSpPr>
                <a:spLocks/>
              </p:cNvSpPr>
              <p:nvPr/>
            </p:nvSpPr>
            <p:spPr bwMode="auto">
              <a:xfrm>
                <a:off x="3010" y="1969"/>
                <a:ext cx="6" cy="7"/>
              </a:xfrm>
              <a:custGeom>
                <a:avLst/>
                <a:gdLst>
                  <a:gd name="T0" fmla="*/ 4 w 6"/>
                  <a:gd name="T1" fmla="*/ 0 h 7"/>
                  <a:gd name="T2" fmla="*/ 4 w 6"/>
                  <a:gd name="T3" fmla="*/ 0 h 7"/>
                  <a:gd name="T4" fmla="*/ 2 w 6"/>
                  <a:gd name="T5" fmla="*/ 1 h 7"/>
                  <a:gd name="T6" fmla="*/ 1 w 6"/>
                  <a:gd name="T7" fmla="*/ 2 h 7"/>
                  <a:gd name="T8" fmla="*/ 0 w 6"/>
                  <a:gd name="T9" fmla="*/ 3 h 7"/>
                  <a:gd name="T10" fmla="*/ 0 w 6"/>
                  <a:gd name="T11" fmla="*/ 4 h 7"/>
                  <a:gd name="T12" fmla="*/ 1 w 6"/>
                  <a:gd name="T13" fmla="*/ 5 h 7"/>
                  <a:gd name="T14" fmla="*/ 2 w 6"/>
                  <a:gd name="T15" fmla="*/ 5 h 7"/>
                  <a:gd name="T16" fmla="*/ 4 w 6"/>
                  <a:gd name="T17" fmla="*/ 6 h 7"/>
                  <a:gd name="T18" fmla="*/ 5 w 6"/>
                  <a:gd name="T19" fmla="*/ 7 h 7"/>
                  <a:gd name="T20" fmla="*/ 6 w 6"/>
                  <a:gd name="T21" fmla="*/ 6 h 7"/>
                  <a:gd name="T22" fmla="*/ 4 w 6"/>
                  <a:gd name="T23" fmla="*/ 5 h 7"/>
                  <a:gd name="T24" fmla="*/ 3 w 6"/>
                  <a:gd name="T25" fmla="*/ 4 h 7"/>
                  <a:gd name="T26" fmla="*/ 2 w 6"/>
                  <a:gd name="T27" fmla="*/ 4 h 7"/>
                  <a:gd name="T28" fmla="*/ 2 w 6"/>
                  <a:gd name="T29" fmla="*/ 3 h 7"/>
                  <a:gd name="T30" fmla="*/ 3 w 6"/>
                  <a:gd name="T31" fmla="*/ 3 h 7"/>
                  <a:gd name="T32" fmla="*/ 5 w 6"/>
                  <a:gd name="T33" fmla="*/ 1 h 7"/>
                  <a:gd name="T34" fmla="*/ 4 w 6"/>
                  <a:gd name="T35" fmla="*/ 0 h 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"/>
                  <a:gd name="T55" fmla="*/ 0 h 7"/>
                  <a:gd name="T56" fmla="*/ 6 w 6"/>
                  <a:gd name="T57" fmla="*/ 7 h 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" h="7">
                    <a:moveTo>
                      <a:pt x="4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2" y="5"/>
                    </a:lnTo>
                    <a:lnTo>
                      <a:pt x="4" y="6"/>
                    </a:lnTo>
                    <a:lnTo>
                      <a:pt x="5" y="7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3" y="4"/>
                    </a:lnTo>
                    <a:lnTo>
                      <a:pt x="2" y="4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06" name="Freeform 975"/>
              <p:cNvSpPr>
                <a:spLocks/>
              </p:cNvSpPr>
              <p:nvPr/>
            </p:nvSpPr>
            <p:spPr bwMode="auto">
              <a:xfrm>
                <a:off x="3137" y="2028"/>
                <a:ext cx="106" cy="48"/>
              </a:xfrm>
              <a:custGeom>
                <a:avLst/>
                <a:gdLst>
                  <a:gd name="T0" fmla="*/ 106 w 106"/>
                  <a:gd name="T1" fmla="*/ 0 h 48"/>
                  <a:gd name="T2" fmla="*/ 104 w 106"/>
                  <a:gd name="T3" fmla="*/ 1 h 48"/>
                  <a:gd name="T4" fmla="*/ 102 w 106"/>
                  <a:gd name="T5" fmla="*/ 1 h 48"/>
                  <a:gd name="T6" fmla="*/ 100 w 106"/>
                  <a:gd name="T7" fmla="*/ 2 h 48"/>
                  <a:gd name="T8" fmla="*/ 98 w 106"/>
                  <a:gd name="T9" fmla="*/ 3 h 48"/>
                  <a:gd name="T10" fmla="*/ 95 w 106"/>
                  <a:gd name="T11" fmla="*/ 4 h 48"/>
                  <a:gd name="T12" fmla="*/ 92 w 106"/>
                  <a:gd name="T13" fmla="*/ 5 h 48"/>
                  <a:gd name="T14" fmla="*/ 88 w 106"/>
                  <a:gd name="T15" fmla="*/ 7 h 48"/>
                  <a:gd name="T16" fmla="*/ 85 w 106"/>
                  <a:gd name="T17" fmla="*/ 8 h 48"/>
                  <a:gd name="T18" fmla="*/ 82 w 106"/>
                  <a:gd name="T19" fmla="*/ 10 h 48"/>
                  <a:gd name="T20" fmla="*/ 79 w 106"/>
                  <a:gd name="T21" fmla="*/ 12 h 48"/>
                  <a:gd name="T22" fmla="*/ 75 w 106"/>
                  <a:gd name="T23" fmla="*/ 14 h 48"/>
                  <a:gd name="T24" fmla="*/ 70 w 106"/>
                  <a:gd name="T25" fmla="*/ 16 h 48"/>
                  <a:gd name="T26" fmla="*/ 66 w 106"/>
                  <a:gd name="T27" fmla="*/ 18 h 48"/>
                  <a:gd name="T28" fmla="*/ 62 w 106"/>
                  <a:gd name="T29" fmla="*/ 20 h 48"/>
                  <a:gd name="T30" fmla="*/ 57 w 106"/>
                  <a:gd name="T31" fmla="*/ 22 h 48"/>
                  <a:gd name="T32" fmla="*/ 53 w 106"/>
                  <a:gd name="T33" fmla="*/ 23 h 48"/>
                  <a:gd name="T34" fmla="*/ 50 w 106"/>
                  <a:gd name="T35" fmla="*/ 25 h 48"/>
                  <a:gd name="T36" fmla="*/ 45 w 106"/>
                  <a:gd name="T37" fmla="*/ 27 h 48"/>
                  <a:gd name="T38" fmla="*/ 40 w 106"/>
                  <a:gd name="T39" fmla="*/ 29 h 48"/>
                  <a:gd name="T40" fmla="*/ 36 w 106"/>
                  <a:gd name="T41" fmla="*/ 31 h 48"/>
                  <a:gd name="T42" fmla="*/ 31 w 106"/>
                  <a:gd name="T43" fmla="*/ 33 h 48"/>
                  <a:gd name="T44" fmla="*/ 28 w 106"/>
                  <a:gd name="T45" fmla="*/ 35 h 48"/>
                  <a:gd name="T46" fmla="*/ 23 w 106"/>
                  <a:gd name="T47" fmla="*/ 37 h 48"/>
                  <a:gd name="T48" fmla="*/ 20 w 106"/>
                  <a:gd name="T49" fmla="*/ 39 h 48"/>
                  <a:gd name="T50" fmla="*/ 17 w 106"/>
                  <a:gd name="T51" fmla="*/ 40 h 48"/>
                  <a:gd name="T52" fmla="*/ 14 w 106"/>
                  <a:gd name="T53" fmla="*/ 41 h 48"/>
                  <a:gd name="T54" fmla="*/ 10 w 106"/>
                  <a:gd name="T55" fmla="*/ 43 h 48"/>
                  <a:gd name="T56" fmla="*/ 8 w 106"/>
                  <a:gd name="T57" fmla="*/ 44 h 48"/>
                  <a:gd name="T58" fmla="*/ 5 w 106"/>
                  <a:gd name="T59" fmla="*/ 45 h 48"/>
                  <a:gd name="T60" fmla="*/ 3 w 106"/>
                  <a:gd name="T61" fmla="*/ 47 h 48"/>
                  <a:gd name="T62" fmla="*/ 1 w 106"/>
                  <a:gd name="T63" fmla="*/ 47 h 48"/>
                  <a:gd name="T64" fmla="*/ 0 w 106"/>
                  <a:gd name="T65" fmla="*/ 48 h 48"/>
                  <a:gd name="T66" fmla="*/ 106 w 106"/>
                  <a:gd name="T67" fmla="*/ 0 h 4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6"/>
                  <a:gd name="T103" fmla="*/ 0 h 48"/>
                  <a:gd name="T104" fmla="*/ 106 w 106"/>
                  <a:gd name="T105" fmla="*/ 48 h 4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6" h="48">
                    <a:moveTo>
                      <a:pt x="106" y="0"/>
                    </a:moveTo>
                    <a:lnTo>
                      <a:pt x="104" y="1"/>
                    </a:lnTo>
                    <a:lnTo>
                      <a:pt x="102" y="1"/>
                    </a:lnTo>
                    <a:lnTo>
                      <a:pt x="100" y="2"/>
                    </a:lnTo>
                    <a:lnTo>
                      <a:pt x="98" y="3"/>
                    </a:lnTo>
                    <a:lnTo>
                      <a:pt x="95" y="4"/>
                    </a:lnTo>
                    <a:lnTo>
                      <a:pt x="92" y="5"/>
                    </a:lnTo>
                    <a:lnTo>
                      <a:pt x="88" y="7"/>
                    </a:lnTo>
                    <a:lnTo>
                      <a:pt x="85" y="8"/>
                    </a:lnTo>
                    <a:lnTo>
                      <a:pt x="82" y="10"/>
                    </a:lnTo>
                    <a:lnTo>
                      <a:pt x="79" y="12"/>
                    </a:lnTo>
                    <a:lnTo>
                      <a:pt x="75" y="14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0"/>
                    </a:lnTo>
                    <a:lnTo>
                      <a:pt x="57" y="22"/>
                    </a:lnTo>
                    <a:lnTo>
                      <a:pt x="53" y="23"/>
                    </a:lnTo>
                    <a:lnTo>
                      <a:pt x="50" y="25"/>
                    </a:lnTo>
                    <a:lnTo>
                      <a:pt x="45" y="27"/>
                    </a:lnTo>
                    <a:lnTo>
                      <a:pt x="40" y="29"/>
                    </a:lnTo>
                    <a:lnTo>
                      <a:pt x="36" y="31"/>
                    </a:lnTo>
                    <a:lnTo>
                      <a:pt x="31" y="33"/>
                    </a:lnTo>
                    <a:lnTo>
                      <a:pt x="28" y="35"/>
                    </a:lnTo>
                    <a:lnTo>
                      <a:pt x="23" y="37"/>
                    </a:lnTo>
                    <a:lnTo>
                      <a:pt x="20" y="39"/>
                    </a:lnTo>
                    <a:lnTo>
                      <a:pt x="17" y="40"/>
                    </a:lnTo>
                    <a:lnTo>
                      <a:pt x="14" y="41"/>
                    </a:lnTo>
                    <a:lnTo>
                      <a:pt x="10" y="43"/>
                    </a:lnTo>
                    <a:lnTo>
                      <a:pt x="8" y="44"/>
                    </a:lnTo>
                    <a:lnTo>
                      <a:pt x="5" y="45"/>
                    </a:lnTo>
                    <a:lnTo>
                      <a:pt x="3" y="47"/>
                    </a:lnTo>
                    <a:lnTo>
                      <a:pt x="1" y="47"/>
                    </a:lnTo>
                    <a:lnTo>
                      <a:pt x="0" y="48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07" name="Freeform 976"/>
              <p:cNvSpPr>
                <a:spLocks/>
              </p:cNvSpPr>
              <p:nvPr/>
            </p:nvSpPr>
            <p:spPr bwMode="auto">
              <a:xfrm>
                <a:off x="3136" y="2028"/>
                <a:ext cx="107" cy="50"/>
              </a:xfrm>
              <a:custGeom>
                <a:avLst/>
                <a:gdLst>
                  <a:gd name="T0" fmla="*/ 2 w 107"/>
                  <a:gd name="T1" fmla="*/ 49 h 50"/>
                  <a:gd name="T2" fmla="*/ 6 w 107"/>
                  <a:gd name="T3" fmla="*/ 48 h 50"/>
                  <a:gd name="T4" fmla="*/ 10 w 107"/>
                  <a:gd name="T5" fmla="*/ 45 h 50"/>
                  <a:gd name="T6" fmla="*/ 18 w 107"/>
                  <a:gd name="T7" fmla="*/ 41 h 50"/>
                  <a:gd name="T8" fmla="*/ 24 w 107"/>
                  <a:gd name="T9" fmla="*/ 38 h 50"/>
                  <a:gd name="T10" fmla="*/ 32 w 107"/>
                  <a:gd name="T11" fmla="*/ 35 h 50"/>
                  <a:gd name="T12" fmla="*/ 41 w 107"/>
                  <a:gd name="T13" fmla="*/ 32 h 50"/>
                  <a:gd name="T14" fmla="*/ 49 w 107"/>
                  <a:gd name="T15" fmla="*/ 27 h 50"/>
                  <a:gd name="T16" fmla="*/ 58 w 107"/>
                  <a:gd name="T17" fmla="*/ 23 h 50"/>
                  <a:gd name="T18" fmla="*/ 67 w 107"/>
                  <a:gd name="T19" fmla="*/ 19 h 50"/>
                  <a:gd name="T20" fmla="*/ 76 w 107"/>
                  <a:gd name="T21" fmla="*/ 16 h 50"/>
                  <a:gd name="T22" fmla="*/ 83 w 107"/>
                  <a:gd name="T23" fmla="*/ 12 h 50"/>
                  <a:gd name="T24" fmla="*/ 89 w 107"/>
                  <a:gd name="T25" fmla="*/ 9 h 50"/>
                  <a:gd name="T26" fmla="*/ 96 w 107"/>
                  <a:gd name="T27" fmla="*/ 6 h 50"/>
                  <a:gd name="T28" fmla="*/ 101 w 107"/>
                  <a:gd name="T29" fmla="*/ 4 h 50"/>
                  <a:gd name="T30" fmla="*/ 105 w 107"/>
                  <a:gd name="T31" fmla="*/ 2 h 50"/>
                  <a:gd name="T32" fmla="*/ 105 w 107"/>
                  <a:gd name="T33" fmla="*/ 0 h 50"/>
                  <a:gd name="T34" fmla="*/ 103 w 107"/>
                  <a:gd name="T35" fmla="*/ 1 h 50"/>
                  <a:gd name="T36" fmla="*/ 99 w 107"/>
                  <a:gd name="T37" fmla="*/ 3 h 50"/>
                  <a:gd name="T38" fmla="*/ 92 w 107"/>
                  <a:gd name="T39" fmla="*/ 5 h 50"/>
                  <a:gd name="T40" fmla="*/ 86 w 107"/>
                  <a:gd name="T41" fmla="*/ 9 h 50"/>
                  <a:gd name="T42" fmla="*/ 79 w 107"/>
                  <a:gd name="T43" fmla="*/ 12 h 50"/>
                  <a:gd name="T44" fmla="*/ 70 w 107"/>
                  <a:gd name="T45" fmla="*/ 16 h 50"/>
                  <a:gd name="T46" fmla="*/ 62 w 107"/>
                  <a:gd name="T47" fmla="*/ 20 h 50"/>
                  <a:gd name="T48" fmla="*/ 52 w 107"/>
                  <a:gd name="T49" fmla="*/ 23 h 50"/>
                  <a:gd name="T50" fmla="*/ 45 w 107"/>
                  <a:gd name="T51" fmla="*/ 28 h 50"/>
                  <a:gd name="T52" fmla="*/ 35 w 107"/>
                  <a:gd name="T53" fmla="*/ 32 h 50"/>
                  <a:gd name="T54" fmla="*/ 27 w 107"/>
                  <a:gd name="T55" fmla="*/ 35 h 50"/>
                  <a:gd name="T56" fmla="*/ 20 w 107"/>
                  <a:gd name="T57" fmla="*/ 38 h 50"/>
                  <a:gd name="T58" fmla="*/ 12 w 107"/>
                  <a:gd name="T59" fmla="*/ 41 h 50"/>
                  <a:gd name="T60" fmla="*/ 7 w 107"/>
                  <a:gd name="T61" fmla="*/ 44 h 50"/>
                  <a:gd name="T62" fmla="*/ 3 w 107"/>
                  <a:gd name="T63" fmla="*/ 47 h 50"/>
                  <a:gd name="T64" fmla="*/ 0 w 107"/>
                  <a:gd name="T65" fmla="*/ 48 h 5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50"/>
                  <a:gd name="T101" fmla="*/ 107 w 107"/>
                  <a:gd name="T102" fmla="*/ 50 h 5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50">
                    <a:moveTo>
                      <a:pt x="1" y="50"/>
                    </a:moveTo>
                    <a:lnTo>
                      <a:pt x="2" y="49"/>
                    </a:lnTo>
                    <a:lnTo>
                      <a:pt x="4" y="49"/>
                    </a:lnTo>
                    <a:lnTo>
                      <a:pt x="6" y="48"/>
                    </a:lnTo>
                    <a:lnTo>
                      <a:pt x="8" y="47"/>
                    </a:lnTo>
                    <a:lnTo>
                      <a:pt x="10" y="45"/>
                    </a:lnTo>
                    <a:lnTo>
                      <a:pt x="15" y="43"/>
                    </a:lnTo>
                    <a:lnTo>
                      <a:pt x="18" y="41"/>
                    </a:lnTo>
                    <a:lnTo>
                      <a:pt x="21" y="40"/>
                    </a:lnTo>
                    <a:lnTo>
                      <a:pt x="24" y="38"/>
                    </a:lnTo>
                    <a:lnTo>
                      <a:pt x="29" y="37"/>
                    </a:lnTo>
                    <a:lnTo>
                      <a:pt x="32" y="35"/>
                    </a:lnTo>
                    <a:lnTo>
                      <a:pt x="37" y="33"/>
                    </a:lnTo>
                    <a:lnTo>
                      <a:pt x="41" y="32"/>
                    </a:lnTo>
                    <a:lnTo>
                      <a:pt x="45" y="29"/>
                    </a:lnTo>
                    <a:lnTo>
                      <a:pt x="49" y="27"/>
                    </a:lnTo>
                    <a:lnTo>
                      <a:pt x="54" y="24"/>
                    </a:lnTo>
                    <a:lnTo>
                      <a:pt x="58" y="23"/>
                    </a:lnTo>
                    <a:lnTo>
                      <a:pt x="63" y="21"/>
                    </a:lnTo>
                    <a:lnTo>
                      <a:pt x="67" y="19"/>
                    </a:lnTo>
                    <a:lnTo>
                      <a:pt x="71" y="18"/>
                    </a:lnTo>
                    <a:lnTo>
                      <a:pt x="76" y="16"/>
                    </a:lnTo>
                    <a:lnTo>
                      <a:pt x="80" y="13"/>
                    </a:lnTo>
                    <a:lnTo>
                      <a:pt x="83" y="12"/>
                    </a:lnTo>
                    <a:lnTo>
                      <a:pt x="86" y="9"/>
                    </a:lnTo>
                    <a:lnTo>
                      <a:pt x="89" y="9"/>
                    </a:lnTo>
                    <a:lnTo>
                      <a:pt x="93" y="7"/>
                    </a:lnTo>
                    <a:lnTo>
                      <a:pt x="96" y="6"/>
                    </a:lnTo>
                    <a:lnTo>
                      <a:pt x="99" y="5"/>
                    </a:lnTo>
                    <a:lnTo>
                      <a:pt x="101" y="4"/>
                    </a:lnTo>
                    <a:lnTo>
                      <a:pt x="103" y="3"/>
                    </a:lnTo>
                    <a:lnTo>
                      <a:pt x="105" y="2"/>
                    </a:lnTo>
                    <a:lnTo>
                      <a:pt x="107" y="1"/>
                    </a:lnTo>
                    <a:lnTo>
                      <a:pt x="105" y="0"/>
                    </a:lnTo>
                    <a:lnTo>
                      <a:pt x="104" y="0"/>
                    </a:lnTo>
                    <a:lnTo>
                      <a:pt x="103" y="1"/>
                    </a:lnTo>
                    <a:lnTo>
                      <a:pt x="101" y="2"/>
                    </a:lnTo>
                    <a:lnTo>
                      <a:pt x="99" y="3"/>
                    </a:lnTo>
                    <a:lnTo>
                      <a:pt x="96" y="4"/>
                    </a:lnTo>
                    <a:lnTo>
                      <a:pt x="92" y="5"/>
                    </a:lnTo>
                    <a:lnTo>
                      <a:pt x="89" y="7"/>
                    </a:lnTo>
                    <a:lnTo>
                      <a:pt x="86" y="9"/>
                    </a:lnTo>
                    <a:lnTo>
                      <a:pt x="82" y="9"/>
                    </a:lnTo>
                    <a:lnTo>
                      <a:pt x="79" y="12"/>
                    </a:lnTo>
                    <a:lnTo>
                      <a:pt x="73" y="13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0"/>
                    </a:lnTo>
                    <a:lnTo>
                      <a:pt x="57" y="21"/>
                    </a:lnTo>
                    <a:lnTo>
                      <a:pt x="52" y="23"/>
                    </a:lnTo>
                    <a:lnTo>
                      <a:pt x="49" y="25"/>
                    </a:lnTo>
                    <a:lnTo>
                      <a:pt x="45" y="28"/>
                    </a:lnTo>
                    <a:lnTo>
                      <a:pt x="40" y="29"/>
                    </a:lnTo>
                    <a:lnTo>
                      <a:pt x="35" y="32"/>
                    </a:lnTo>
                    <a:lnTo>
                      <a:pt x="31" y="34"/>
                    </a:lnTo>
                    <a:lnTo>
                      <a:pt x="27" y="35"/>
                    </a:lnTo>
                    <a:lnTo>
                      <a:pt x="24" y="37"/>
                    </a:lnTo>
                    <a:lnTo>
                      <a:pt x="20" y="38"/>
                    </a:lnTo>
                    <a:lnTo>
                      <a:pt x="17" y="40"/>
                    </a:lnTo>
                    <a:lnTo>
                      <a:pt x="12" y="41"/>
                    </a:lnTo>
                    <a:lnTo>
                      <a:pt x="10" y="43"/>
                    </a:lnTo>
                    <a:lnTo>
                      <a:pt x="7" y="44"/>
                    </a:lnTo>
                    <a:lnTo>
                      <a:pt x="5" y="45"/>
                    </a:lnTo>
                    <a:lnTo>
                      <a:pt x="3" y="47"/>
                    </a:lnTo>
                    <a:lnTo>
                      <a:pt x="1" y="48"/>
                    </a:lnTo>
                    <a:lnTo>
                      <a:pt x="0" y="48"/>
                    </a:lnTo>
                    <a:lnTo>
                      <a:pt x="1" y="5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08" name="Freeform 977"/>
              <p:cNvSpPr>
                <a:spLocks/>
              </p:cNvSpPr>
              <p:nvPr/>
            </p:nvSpPr>
            <p:spPr bwMode="auto">
              <a:xfrm>
                <a:off x="3075" y="1868"/>
                <a:ext cx="80" cy="127"/>
              </a:xfrm>
              <a:custGeom>
                <a:avLst/>
                <a:gdLst>
                  <a:gd name="T0" fmla="*/ 68 w 80"/>
                  <a:gd name="T1" fmla="*/ 105 h 127"/>
                  <a:gd name="T2" fmla="*/ 67 w 80"/>
                  <a:gd name="T3" fmla="*/ 108 h 127"/>
                  <a:gd name="T4" fmla="*/ 69 w 80"/>
                  <a:gd name="T5" fmla="*/ 109 h 127"/>
                  <a:gd name="T6" fmla="*/ 73 w 80"/>
                  <a:gd name="T7" fmla="*/ 111 h 127"/>
                  <a:gd name="T8" fmla="*/ 73 w 80"/>
                  <a:gd name="T9" fmla="*/ 114 h 127"/>
                  <a:gd name="T10" fmla="*/ 71 w 80"/>
                  <a:gd name="T11" fmla="*/ 117 h 127"/>
                  <a:gd name="T12" fmla="*/ 69 w 80"/>
                  <a:gd name="T13" fmla="*/ 119 h 127"/>
                  <a:gd name="T14" fmla="*/ 66 w 80"/>
                  <a:gd name="T15" fmla="*/ 122 h 127"/>
                  <a:gd name="T16" fmla="*/ 62 w 80"/>
                  <a:gd name="T17" fmla="*/ 124 h 127"/>
                  <a:gd name="T18" fmla="*/ 55 w 80"/>
                  <a:gd name="T19" fmla="*/ 125 h 127"/>
                  <a:gd name="T20" fmla="*/ 50 w 80"/>
                  <a:gd name="T21" fmla="*/ 126 h 127"/>
                  <a:gd name="T22" fmla="*/ 44 w 80"/>
                  <a:gd name="T23" fmla="*/ 127 h 127"/>
                  <a:gd name="T24" fmla="*/ 36 w 80"/>
                  <a:gd name="T25" fmla="*/ 127 h 127"/>
                  <a:gd name="T26" fmla="*/ 30 w 80"/>
                  <a:gd name="T27" fmla="*/ 126 h 127"/>
                  <a:gd name="T28" fmla="*/ 24 w 80"/>
                  <a:gd name="T29" fmla="*/ 125 h 127"/>
                  <a:gd name="T30" fmla="*/ 19 w 80"/>
                  <a:gd name="T31" fmla="*/ 124 h 127"/>
                  <a:gd name="T32" fmla="*/ 14 w 80"/>
                  <a:gd name="T33" fmla="*/ 122 h 127"/>
                  <a:gd name="T34" fmla="*/ 10 w 80"/>
                  <a:gd name="T35" fmla="*/ 119 h 127"/>
                  <a:gd name="T36" fmla="*/ 8 w 80"/>
                  <a:gd name="T37" fmla="*/ 117 h 127"/>
                  <a:gd name="T38" fmla="*/ 6 w 80"/>
                  <a:gd name="T39" fmla="*/ 114 h 127"/>
                  <a:gd name="T40" fmla="*/ 6 w 80"/>
                  <a:gd name="T41" fmla="*/ 110 h 127"/>
                  <a:gd name="T42" fmla="*/ 8 w 80"/>
                  <a:gd name="T43" fmla="*/ 107 h 127"/>
                  <a:gd name="T44" fmla="*/ 12 w 80"/>
                  <a:gd name="T45" fmla="*/ 105 h 127"/>
                  <a:gd name="T46" fmla="*/ 10 w 80"/>
                  <a:gd name="T47" fmla="*/ 102 h 127"/>
                  <a:gd name="T48" fmla="*/ 3 w 80"/>
                  <a:gd name="T49" fmla="*/ 94 h 127"/>
                  <a:gd name="T50" fmla="*/ 1 w 80"/>
                  <a:gd name="T51" fmla="*/ 75 h 127"/>
                  <a:gd name="T52" fmla="*/ 0 w 80"/>
                  <a:gd name="T53" fmla="*/ 51 h 127"/>
                  <a:gd name="T54" fmla="*/ 3 w 80"/>
                  <a:gd name="T55" fmla="*/ 32 h 127"/>
                  <a:gd name="T56" fmla="*/ 8 w 80"/>
                  <a:gd name="T57" fmla="*/ 25 h 127"/>
                  <a:gd name="T58" fmla="*/ 12 w 80"/>
                  <a:gd name="T59" fmla="*/ 22 h 127"/>
                  <a:gd name="T60" fmla="*/ 8 w 80"/>
                  <a:gd name="T61" fmla="*/ 20 h 127"/>
                  <a:gd name="T62" fmla="*/ 6 w 80"/>
                  <a:gd name="T63" fmla="*/ 17 h 127"/>
                  <a:gd name="T64" fmla="*/ 6 w 80"/>
                  <a:gd name="T65" fmla="*/ 13 h 127"/>
                  <a:gd name="T66" fmla="*/ 8 w 80"/>
                  <a:gd name="T67" fmla="*/ 10 h 127"/>
                  <a:gd name="T68" fmla="*/ 10 w 80"/>
                  <a:gd name="T69" fmla="*/ 8 h 127"/>
                  <a:gd name="T70" fmla="*/ 14 w 80"/>
                  <a:gd name="T71" fmla="*/ 6 h 127"/>
                  <a:gd name="T72" fmla="*/ 19 w 80"/>
                  <a:gd name="T73" fmla="*/ 4 h 127"/>
                  <a:gd name="T74" fmla="*/ 24 w 80"/>
                  <a:gd name="T75" fmla="*/ 1 h 127"/>
                  <a:gd name="T76" fmla="*/ 30 w 80"/>
                  <a:gd name="T77" fmla="*/ 1 h 127"/>
                  <a:gd name="T78" fmla="*/ 36 w 80"/>
                  <a:gd name="T79" fmla="*/ 0 h 127"/>
                  <a:gd name="T80" fmla="*/ 44 w 80"/>
                  <a:gd name="T81" fmla="*/ 0 h 127"/>
                  <a:gd name="T82" fmla="*/ 50 w 80"/>
                  <a:gd name="T83" fmla="*/ 1 h 127"/>
                  <a:gd name="T84" fmla="*/ 55 w 80"/>
                  <a:gd name="T85" fmla="*/ 1 h 127"/>
                  <a:gd name="T86" fmla="*/ 62 w 80"/>
                  <a:gd name="T87" fmla="*/ 4 h 127"/>
                  <a:gd name="T88" fmla="*/ 66 w 80"/>
                  <a:gd name="T89" fmla="*/ 6 h 127"/>
                  <a:gd name="T90" fmla="*/ 69 w 80"/>
                  <a:gd name="T91" fmla="*/ 8 h 127"/>
                  <a:gd name="T92" fmla="*/ 71 w 80"/>
                  <a:gd name="T93" fmla="*/ 10 h 127"/>
                  <a:gd name="T94" fmla="*/ 73 w 80"/>
                  <a:gd name="T95" fmla="*/ 13 h 127"/>
                  <a:gd name="T96" fmla="*/ 73 w 80"/>
                  <a:gd name="T97" fmla="*/ 17 h 127"/>
                  <a:gd name="T98" fmla="*/ 70 w 80"/>
                  <a:gd name="T99" fmla="*/ 20 h 127"/>
                  <a:gd name="T100" fmla="*/ 68 w 80"/>
                  <a:gd name="T101" fmla="*/ 21 h 127"/>
                  <a:gd name="T102" fmla="*/ 70 w 80"/>
                  <a:gd name="T103" fmla="*/ 24 h 127"/>
                  <a:gd name="T104" fmla="*/ 77 w 80"/>
                  <a:gd name="T105" fmla="*/ 32 h 127"/>
                  <a:gd name="T106" fmla="*/ 80 w 80"/>
                  <a:gd name="T107" fmla="*/ 54 h 127"/>
                  <a:gd name="T108" fmla="*/ 79 w 80"/>
                  <a:gd name="T109" fmla="*/ 80 h 127"/>
                  <a:gd name="T110" fmla="*/ 73 w 80"/>
                  <a:gd name="T111" fmla="*/ 100 h 127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80"/>
                  <a:gd name="T169" fmla="*/ 0 h 127"/>
                  <a:gd name="T170" fmla="*/ 80 w 80"/>
                  <a:gd name="T171" fmla="*/ 127 h 127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80" h="127">
                    <a:moveTo>
                      <a:pt x="70" y="103"/>
                    </a:moveTo>
                    <a:lnTo>
                      <a:pt x="68" y="105"/>
                    </a:lnTo>
                    <a:lnTo>
                      <a:pt x="67" y="107"/>
                    </a:lnTo>
                    <a:lnTo>
                      <a:pt x="67" y="108"/>
                    </a:lnTo>
                    <a:lnTo>
                      <a:pt x="68" y="109"/>
                    </a:lnTo>
                    <a:lnTo>
                      <a:pt x="69" y="109"/>
                    </a:lnTo>
                    <a:lnTo>
                      <a:pt x="71" y="110"/>
                    </a:lnTo>
                    <a:lnTo>
                      <a:pt x="73" y="111"/>
                    </a:lnTo>
                    <a:lnTo>
                      <a:pt x="73" y="113"/>
                    </a:lnTo>
                    <a:lnTo>
                      <a:pt x="73" y="114"/>
                    </a:lnTo>
                    <a:lnTo>
                      <a:pt x="73" y="116"/>
                    </a:lnTo>
                    <a:lnTo>
                      <a:pt x="71" y="117"/>
                    </a:lnTo>
                    <a:lnTo>
                      <a:pt x="70" y="119"/>
                    </a:lnTo>
                    <a:lnTo>
                      <a:pt x="69" y="119"/>
                    </a:lnTo>
                    <a:lnTo>
                      <a:pt x="68" y="121"/>
                    </a:lnTo>
                    <a:lnTo>
                      <a:pt x="66" y="122"/>
                    </a:lnTo>
                    <a:lnTo>
                      <a:pt x="64" y="123"/>
                    </a:lnTo>
                    <a:lnTo>
                      <a:pt x="62" y="124"/>
                    </a:lnTo>
                    <a:lnTo>
                      <a:pt x="60" y="125"/>
                    </a:lnTo>
                    <a:lnTo>
                      <a:pt x="55" y="125"/>
                    </a:lnTo>
                    <a:lnTo>
                      <a:pt x="53" y="126"/>
                    </a:lnTo>
                    <a:lnTo>
                      <a:pt x="50" y="126"/>
                    </a:lnTo>
                    <a:lnTo>
                      <a:pt x="47" y="127"/>
                    </a:lnTo>
                    <a:lnTo>
                      <a:pt x="44" y="127"/>
                    </a:lnTo>
                    <a:lnTo>
                      <a:pt x="39" y="127"/>
                    </a:lnTo>
                    <a:lnTo>
                      <a:pt x="36" y="127"/>
                    </a:lnTo>
                    <a:lnTo>
                      <a:pt x="33" y="127"/>
                    </a:lnTo>
                    <a:lnTo>
                      <a:pt x="30" y="126"/>
                    </a:lnTo>
                    <a:lnTo>
                      <a:pt x="28" y="126"/>
                    </a:lnTo>
                    <a:lnTo>
                      <a:pt x="24" y="125"/>
                    </a:lnTo>
                    <a:lnTo>
                      <a:pt x="22" y="125"/>
                    </a:lnTo>
                    <a:lnTo>
                      <a:pt x="19" y="124"/>
                    </a:lnTo>
                    <a:lnTo>
                      <a:pt x="16" y="123"/>
                    </a:lnTo>
                    <a:lnTo>
                      <a:pt x="14" y="122"/>
                    </a:lnTo>
                    <a:lnTo>
                      <a:pt x="13" y="121"/>
                    </a:lnTo>
                    <a:lnTo>
                      <a:pt x="10" y="119"/>
                    </a:lnTo>
                    <a:lnTo>
                      <a:pt x="8" y="119"/>
                    </a:lnTo>
                    <a:lnTo>
                      <a:pt x="8" y="117"/>
                    </a:lnTo>
                    <a:lnTo>
                      <a:pt x="6" y="116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6" y="110"/>
                    </a:lnTo>
                    <a:lnTo>
                      <a:pt x="8" y="108"/>
                    </a:lnTo>
                    <a:lnTo>
                      <a:pt x="8" y="107"/>
                    </a:lnTo>
                    <a:lnTo>
                      <a:pt x="12" y="106"/>
                    </a:lnTo>
                    <a:lnTo>
                      <a:pt x="12" y="105"/>
                    </a:lnTo>
                    <a:lnTo>
                      <a:pt x="12" y="104"/>
                    </a:lnTo>
                    <a:lnTo>
                      <a:pt x="10" y="102"/>
                    </a:lnTo>
                    <a:lnTo>
                      <a:pt x="6" y="100"/>
                    </a:lnTo>
                    <a:lnTo>
                      <a:pt x="3" y="94"/>
                    </a:lnTo>
                    <a:lnTo>
                      <a:pt x="2" y="87"/>
                    </a:lnTo>
                    <a:lnTo>
                      <a:pt x="1" y="75"/>
                    </a:lnTo>
                    <a:lnTo>
                      <a:pt x="0" y="63"/>
                    </a:lnTo>
                    <a:lnTo>
                      <a:pt x="0" y="51"/>
                    </a:lnTo>
                    <a:lnTo>
                      <a:pt x="1" y="41"/>
                    </a:lnTo>
                    <a:lnTo>
                      <a:pt x="3" y="32"/>
                    </a:lnTo>
                    <a:lnTo>
                      <a:pt x="6" y="27"/>
                    </a:lnTo>
                    <a:lnTo>
                      <a:pt x="8" y="25"/>
                    </a:lnTo>
                    <a:lnTo>
                      <a:pt x="12" y="23"/>
                    </a:lnTo>
                    <a:lnTo>
                      <a:pt x="12" y="22"/>
                    </a:lnTo>
                    <a:lnTo>
                      <a:pt x="12" y="21"/>
                    </a:lnTo>
                    <a:lnTo>
                      <a:pt x="8" y="20"/>
                    </a:lnTo>
                    <a:lnTo>
                      <a:pt x="8" y="19"/>
                    </a:lnTo>
                    <a:lnTo>
                      <a:pt x="6" y="17"/>
                    </a:lnTo>
                    <a:lnTo>
                      <a:pt x="6" y="15"/>
                    </a:lnTo>
                    <a:lnTo>
                      <a:pt x="6" y="13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3" y="7"/>
                    </a:lnTo>
                    <a:lnTo>
                      <a:pt x="14" y="6"/>
                    </a:lnTo>
                    <a:lnTo>
                      <a:pt x="16" y="5"/>
                    </a:lnTo>
                    <a:lnTo>
                      <a:pt x="19" y="4"/>
                    </a:lnTo>
                    <a:lnTo>
                      <a:pt x="22" y="2"/>
                    </a:lnTo>
                    <a:lnTo>
                      <a:pt x="24" y="1"/>
                    </a:lnTo>
                    <a:lnTo>
                      <a:pt x="28" y="1"/>
                    </a:lnTo>
                    <a:lnTo>
                      <a:pt x="30" y="1"/>
                    </a:lnTo>
                    <a:lnTo>
                      <a:pt x="33" y="0"/>
                    </a:lnTo>
                    <a:lnTo>
                      <a:pt x="36" y="0"/>
                    </a:lnTo>
                    <a:lnTo>
                      <a:pt x="39" y="0"/>
                    </a:lnTo>
                    <a:lnTo>
                      <a:pt x="44" y="0"/>
                    </a:lnTo>
                    <a:lnTo>
                      <a:pt x="47" y="0"/>
                    </a:lnTo>
                    <a:lnTo>
                      <a:pt x="50" y="1"/>
                    </a:lnTo>
                    <a:lnTo>
                      <a:pt x="53" y="1"/>
                    </a:lnTo>
                    <a:lnTo>
                      <a:pt x="55" y="1"/>
                    </a:lnTo>
                    <a:lnTo>
                      <a:pt x="60" y="2"/>
                    </a:lnTo>
                    <a:lnTo>
                      <a:pt x="62" y="4"/>
                    </a:lnTo>
                    <a:lnTo>
                      <a:pt x="64" y="5"/>
                    </a:lnTo>
                    <a:lnTo>
                      <a:pt x="66" y="6"/>
                    </a:lnTo>
                    <a:lnTo>
                      <a:pt x="68" y="7"/>
                    </a:lnTo>
                    <a:lnTo>
                      <a:pt x="69" y="8"/>
                    </a:lnTo>
                    <a:lnTo>
                      <a:pt x="70" y="9"/>
                    </a:lnTo>
                    <a:lnTo>
                      <a:pt x="71" y="10"/>
                    </a:lnTo>
                    <a:lnTo>
                      <a:pt x="73" y="11"/>
                    </a:lnTo>
                    <a:lnTo>
                      <a:pt x="73" y="13"/>
                    </a:lnTo>
                    <a:lnTo>
                      <a:pt x="73" y="15"/>
                    </a:lnTo>
                    <a:lnTo>
                      <a:pt x="73" y="17"/>
                    </a:lnTo>
                    <a:lnTo>
                      <a:pt x="71" y="19"/>
                    </a:lnTo>
                    <a:lnTo>
                      <a:pt x="70" y="20"/>
                    </a:lnTo>
                    <a:lnTo>
                      <a:pt x="69" y="20"/>
                    </a:lnTo>
                    <a:lnTo>
                      <a:pt x="68" y="21"/>
                    </a:lnTo>
                    <a:lnTo>
                      <a:pt x="68" y="22"/>
                    </a:lnTo>
                    <a:lnTo>
                      <a:pt x="70" y="24"/>
                    </a:lnTo>
                    <a:lnTo>
                      <a:pt x="73" y="26"/>
                    </a:lnTo>
                    <a:lnTo>
                      <a:pt x="77" y="32"/>
                    </a:lnTo>
                    <a:lnTo>
                      <a:pt x="79" y="42"/>
                    </a:lnTo>
                    <a:lnTo>
                      <a:pt x="80" y="54"/>
                    </a:lnTo>
                    <a:lnTo>
                      <a:pt x="80" y="67"/>
                    </a:lnTo>
                    <a:lnTo>
                      <a:pt x="79" y="80"/>
                    </a:lnTo>
                    <a:lnTo>
                      <a:pt x="77" y="90"/>
                    </a:lnTo>
                    <a:lnTo>
                      <a:pt x="73" y="100"/>
                    </a:lnTo>
                    <a:lnTo>
                      <a:pt x="70" y="103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09" name="Freeform 978"/>
              <p:cNvSpPr>
                <a:spLocks/>
              </p:cNvSpPr>
              <p:nvPr/>
            </p:nvSpPr>
            <p:spPr bwMode="auto">
              <a:xfrm>
                <a:off x="3141" y="1970"/>
                <a:ext cx="9" cy="12"/>
              </a:xfrm>
              <a:custGeom>
                <a:avLst/>
                <a:gdLst>
                  <a:gd name="T0" fmla="*/ 9 w 9"/>
                  <a:gd name="T1" fmla="*/ 12 h 12"/>
                  <a:gd name="T2" fmla="*/ 9 w 9"/>
                  <a:gd name="T3" fmla="*/ 12 h 12"/>
                  <a:gd name="T4" fmla="*/ 7 w 9"/>
                  <a:gd name="T5" fmla="*/ 9 h 12"/>
                  <a:gd name="T6" fmla="*/ 6 w 9"/>
                  <a:gd name="T7" fmla="*/ 8 h 12"/>
                  <a:gd name="T8" fmla="*/ 4 w 9"/>
                  <a:gd name="T9" fmla="*/ 7 h 12"/>
                  <a:gd name="T10" fmla="*/ 3 w 9"/>
                  <a:gd name="T11" fmla="*/ 5 h 12"/>
                  <a:gd name="T12" fmla="*/ 2 w 9"/>
                  <a:gd name="T13" fmla="*/ 5 h 12"/>
                  <a:gd name="T14" fmla="*/ 2 w 9"/>
                  <a:gd name="T15" fmla="*/ 4 h 12"/>
                  <a:gd name="T16" fmla="*/ 3 w 9"/>
                  <a:gd name="T17" fmla="*/ 3 h 12"/>
                  <a:gd name="T18" fmla="*/ 5 w 9"/>
                  <a:gd name="T19" fmla="*/ 2 h 12"/>
                  <a:gd name="T20" fmla="*/ 4 w 9"/>
                  <a:gd name="T21" fmla="*/ 0 h 12"/>
                  <a:gd name="T22" fmla="*/ 1 w 9"/>
                  <a:gd name="T23" fmla="*/ 2 h 12"/>
                  <a:gd name="T24" fmla="*/ 0 w 9"/>
                  <a:gd name="T25" fmla="*/ 4 h 12"/>
                  <a:gd name="T26" fmla="*/ 0 w 9"/>
                  <a:gd name="T27" fmla="*/ 7 h 12"/>
                  <a:gd name="T28" fmla="*/ 2 w 9"/>
                  <a:gd name="T29" fmla="*/ 8 h 12"/>
                  <a:gd name="T30" fmla="*/ 3 w 9"/>
                  <a:gd name="T31" fmla="*/ 9 h 12"/>
                  <a:gd name="T32" fmla="*/ 5 w 9"/>
                  <a:gd name="T33" fmla="*/ 11 h 12"/>
                  <a:gd name="T34" fmla="*/ 6 w 9"/>
                  <a:gd name="T35" fmla="*/ 11 h 12"/>
                  <a:gd name="T36" fmla="*/ 6 w 9"/>
                  <a:gd name="T37" fmla="*/ 12 h 12"/>
                  <a:gd name="T38" fmla="*/ 9 w 9"/>
                  <a:gd name="T39" fmla="*/ 12 h 1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9"/>
                  <a:gd name="T61" fmla="*/ 0 h 12"/>
                  <a:gd name="T62" fmla="*/ 9 w 9"/>
                  <a:gd name="T63" fmla="*/ 12 h 1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9" h="12">
                    <a:moveTo>
                      <a:pt x="9" y="12"/>
                    </a:moveTo>
                    <a:lnTo>
                      <a:pt x="9" y="12"/>
                    </a:lnTo>
                    <a:lnTo>
                      <a:pt x="7" y="9"/>
                    </a:lnTo>
                    <a:lnTo>
                      <a:pt x="6" y="8"/>
                    </a:lnTo>
                    <a:lnTo>
                      <a:pt x="4" y="7"/>
                    </a:lnTo>
                    <a:lnTo>
                      <a:pt x="3" y="5"/>
                    </a:lnTo>
                    <a:lnTo>
                      <a:pt x="2" y="5"/>
                    </a:lnTo>
                    <a:lnTo>
                      <a:pt x="2" y="4"/>
                    </a:lnTo>
                    <a:lnTo>
                      <a:pt x="3" y="3"/>
                    </a:lnTo>
                    <a:lnTo>
                      <a:pt x="5" y="2"/>
                    </a:lnTo>
                    <a:lnTo>
                      <a:pt x="4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2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6" y="11"/>
                    </a:lnTo>
                    <a:lnTo>
                      <a:pt x="6" y="12"/>
                    </a:lnTo>
                    <a:lnTo>
                      <a:pt x="9" y="12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10" name="Freeform 979"/>
              <p:cNvSpPr>
                <a:spLocks/>
              </p:cNvSpPr>
              <p:nvPr/>
            </p:nvSpPr>
            <p:spPr bwMode="auto">
              <a:xfrm>
                <a:off x="3115" y="1982"/>
                <a:ext cx="35" cy="13"/>
              </a:xfrm>
              <a:custGeom>
                <a:avLst/>
                <a:gdLst>
                  <a:gd name="T0" fmla="*/ 0 w 35"/>
                  <a:gd name="T1" fmla="*/ 13 h 13"/>
                  <a:gd name="T2" fmla="*/ 0 w 35"/>
                  <a:gd name="T3" fmla="*/ 13 h 13"/>
                  <a:gd name="T4" fmla="*/ 4 w 35"/>
                  <a:gd name="T5" fmla="*/ 13 h 13"/>
                  <a:gd name="T6" fmla="*/ 7 w 35"/>
                  <a:gd name="T7" fmla="*/ 13 h 13"/>
                  <a:gd name="T8" fmla="*/ 10 w 35"/>
                  <a:gd name="T9" fmla="*/ 12 h 13"/>
                  <a:gd name="T10" fmla="*/ 13 w 35"/>
                  <a:gd name="T11" fmla="*/ 12 h 13"/>
                  <a:gd name="T12" fmla="*/ 17 w 35"/>
                  <a:gd name="T13" fmla="*/ 12 h 13"/>
                  <a:gd name="T14" fmla="*/ 20 w 35"/>
                  <a:gd name="T15" fmla="*/ 11 h 13"/>
                  <a:gd name="T16" fmla="*/ 22 w 35"/>
                  <a:gd name="T17" fmla="*/ 10 h 13"/>
                  <a:gd name="T18" fmla="*/ 25 w 35"/>
                  <a:gd name="T19" fmla="*/ 9 h 13"/>
                  <a:gd name="T20" fmla="*/ 27 w 35"/>
                  <a:gd name="T21" fmla="*/ 8 h 13"/>
                  <a:gd name="T22" fmla="*/ 28 w 35"/>
                  <a:gd name="T23" fmla="*/ 8 h 13"/>
                  <a:gd name="T24" fmla="*/ 30 w 35"/>
                  <a:gd name="T25" fmla="*/ 6 h 13"/>
                  <a:gd name="T26" fmla="*/ 31 w 35"/>
                  <a:gd name="T27" fmla="*/ 5 h 13"/>
                  <a:gd name="T28" fmla="*/ 32 w 35"/>
                  <a:gd name="T29" fmla="*/ 4 h 13"/>
                  <a:gd name="T30" fmla="*/ 33 w 35"/>
                  <a:gd name="T31" fmla="*/ 3 h 13"/>
                  <a:gd name="T32" fmla="*/ 35 w 35"/>
                  <a:gd name="T33" fmla="*/ 1 h 13"/>
                  <a:gd name="T34" fmla="*/ 35 w 35"/>
                  <a:gd name="T35" fmla="*/ 0 h 13"/>
                  <a:gd name="T36" fmla="*/ 32 w 35"/>
                  <a:gd name="T37" fmla="*/ 0 h 13"/>
                  <a:gd name="T38" fmla="*/ 32 w 35"/>
                  <a:gd name="T39" fmla="*/ 1 h 13"/>
                  <a:gd name="T40" fmla="*/ 32 w 35"/>
                  <a:gd name="T41" fmla="*/ 2 h 13"/>
                  <a:gd name="T42" fmla="*/ 31 w 35"/>
                  <a:gd name="T43" fmla="*/ 3 h 13"/>
                  <a:gd name="T44" fmla="*/ 30 w 35"/>
                  <a:gd name="T45" fmla="*/ 4 h 13"/>
                  <a:gd name="T46" fmla="*/ 29 w 35"/>
                  <a:gd name="T47" fmla="*/ 5 h 13"/>
                  <a:gd name="T48" fmla="*/ 27 w 35"/>
                  <a:gd name="T49" fmla="*/ 6 h 13"/>
                  <a:gd name="T50" fmla="*/ 26 w 35"/>
                  <a:gd name="T51" fmla="*/ 7 h 13"/>
                  <a:gd name="T52" fmla="*/ 24 w 35"/>
                  <a:gd name="T53" fmla="*/ 8 h 13"/>
                  <a:gd name="T54" fmla="*/ 22 w 35"/>
                  <a:gd name="T55" fmla="*/ 9 h 13"/>
                  <a:gd name="T56" fmla="*/ 20 w 35"/>
                  <a:gd name="T57" fmla="*/ 9 h 13"/>
                  <a:gd name="T58" fmla="*/ 15 w 35"/>
                  <a:gd name="T59" fmla="*/ 10 h 13"/>
                  <a:gd name="T60" fmla="*/ 13 w 35"/>
                  <a:gd name="T61" fmla="*/ 10 h 13"/>
                  <a:gd name="T62" fmla="*/ 10 w 35"/>
                  <a:gd name="T63" fmla="*/ 11 h 13"/>
                  <a:gd name="T64" fmla="*/ 7 w 35"/>
                  <a:gd name="T65" fmla="*/ 11 h 13"/>
                  <a:gd name="T66" fmla="*/ 4 w 35"/>
                  <a:gd name="T67" fmla="*/ 11 h 13"/>
                  <a:gd name="T68" fmla="*/ 0 w 35"/>
                  <a:gd name="T69" fmla="*/ 11 h 13"/>
                  <a:gd name="T70" fmla="*/ 0 w 35"/>
                  <a:gd name="T71" fmla="*/ 13 h 1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5"/>
                  <a:gd name="T109" fmla="*/ 0 h 13"/>
                  <a:gd name="T110" fmla="*/ 35 w 35"/>
                  <a:gd name="T111" fmla="*/ 13 h 1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5" h="13">
                    <a:moveTo>
                      <a:pt x="0" y="13"/>
                    </a:moveTo>
                    <a:lnTo>
                      <a:pt x="0" y="13"/>
                    </a:lnTo>
                    <a:lnTo>
                      <a:pt x="4" y="13"/>
                    </a:lnTo>
                    <a:lnTo>
                      <a:pt x="7" y="13"/>
                    </a:lnTo>
                    <a:lnTo>
                      <a:pt x="10" y="12"/>
                    </a:lnTo>
                    <a:lnTo>
                      <a:pt x="13" y="12"/>
                    </a:lnTo>
                    <a:lnTo>
                      <a:pt x="17" y="12"/>
                    </a:lnTo>
                    <a:lnTo>
                      <a:pt x="20" y="11"/>
                    </a:lnTo>
                    <a:lnTo>
                      <a:pt x="22" y="10"/>
                    </a:lnTo>
                    <a:lnTo>
                      <a:pt x="25" y="9"/>
                    </a:lnTo>
                    <a:lnTo>
                      <a:pt x="27" y="8"/>
                    </a:lnTo>
                    <a:lnTo>
                      <a:pt x="28" y="8"/>
                    </a:lnTo>
                    <a:lnTo>
                      <a:pt x="30" y="6"/>
                    </a:lnTo>
                    <a:lnTo>
                      <a:pt x="31" y="5"/>
                    </a:lnTo>
                    <a:lnTo>
                      <a:pt x="32" y="4"/>
                    </a:lnTo>
                    <a:lnTo>
                      <a:pt x="33" y="3"/>
                    </a:lnTo>
                    <a:lnTo>
                      <a:pt x="35" y="1"/>
                    </a:lnTo>
                    <a:lnTo>
                      <a:pt x="35" y="0"/>
                    </a:lnTo>
                    <a:lnTo>
                      <a:pt x="32" y="0"/>
                    </a:lnTo>
                    <a:lnTo>
                      <a:pt x="32" y="1"/>
                    </a:lnTo>
                    <a:lnTo>
                      <a:pt x="32" y="2"/>
                    </a:lnTo>
                    <a:lnTo>
                      <a:pt x="31" y="3"/>
                    </a:lnTo>
                    <a:lnTo>
                      <a:pt x="30" y="4"/>
                    </a:lnTo>
                    <a:lnTo>
                      <a:pt x="29" y="5"/>
                    </a:lnTo>
                    <a:lnTo>
                      <a:pt x="27" y="6"/>
                    </a:lnTo>
                    <a:lnTo>
                      <a:pt x="26" y="7"/>
                    </a:lnTo>
                    <a:lnTo>
                      <a:pt x="24" y="8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5" y="10"/>
                    </a:lnTo>
                    <a:lnTo>
                      <a:pt x="13" y="10"/>
                    </a:lnTo>
                    <a:lnTo>
                      <a:pt x="10" y="11"/>
                    </a:lnTo>
                    <a:lnTo>
                      <a:pt x="7" y="11"/>
                    </a:lnTo>
                    <a:lnTo>
                      <a:pt x="4" y="11"/>
                    </a:lnTo>
                    <a:lnTo>
                      <a:pt x="0" y="11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11" name="Freeform 980"/>
              <p:cNvSpPr>
                <a:spLocks/>
              </p:cNvSpPr>
              <p:nvPr/>
            </p:nvSpPr>
            <p:spPr bwMode="auto">
              <a:xfrm>
                <a:off x="3080" y="1982"/>
                <a:ext cx="35" cy="13"/>
              </a:xfrm>
              <a:custGeom>
                <a:avLst/>
                <a:gdLst>
                  <a:gd name="T0" fmla="*/ 0 w 35"/>
                  <a:gd name="T1" fmla="*/ 0 h 13"/>
                  <a:gd name="T2" fmla="*/ 0 w 35"/>
                  <a:gd name="T3" fmla="*/ 0 h 13"/>
                  <a:gd name="T4" fmla="*/ 0 w 35"/>
                  <a:gd name="T5" fmla="*/ 1 h 13"/>
                  <a:gd name="T6" fmla="*/ 1 w 35"/>
                  <a:gd name="T7" fmla="*/ 3 h 13"/>
                  <a:gd name="T8" fmla="*/ 1 w 35"/>
                  <a:gd name="T9" fmla="*/ 4 h 13"/>
                  <a:gd name="T10" fmla="*/ 3 w 35"/>
                  <a:gd name="T11" fmla="*/ 5 h 13"/>
                  <a:gd name="T12" fmla="*/ 4 w 35"/>
                  <a:gd name="T13" fmla="*/ 6 h 13"/>
                  <a:gd name="T14" fmla="*/ 7 w 35"/>
                  <a:gd name="T15" fmla="*/ 8 h 13"/>
                  <a:gd name="T16" fmla="*/ 8 w 35"/>
                  <a:gd name="T17" fmla="*/ 8 h 13"/>
                  <a:gd name="T18" fmla="*/ 11 w 35"/>
                  <a:gd name="T19" fmla="*/ 9 h 13"/>
                  <a:gd name="T20" fmla="*/ 14 w 35"/>
                  <a:gd name="T21" fmla="*/ 10 h 13"/>
                  <a:gd name="T22" fmla="*/ 16 w 35"/>
                  <a:gd name="T23" fmla="*/ 11 h 13"/>
                  <a:gd name="T24" fmla="*/ 19 w 35"/>
                  <a:gd name="T25" fmla="*/ 12 h 13"/>
                  <a:gd name="T26" fmla="*/ 21 w 35"/>
                  <a:gd name="T27" fmla="*/ 12 h 13"/>
                  <a:gd name="T28" fmla="*/ 25 w 35"/>
                  <a:gd name="T29" fmla="*/ 12 h 13"/>
                  <a:gd name="T30" fmla="*/ 29 w 35"/>
                  <a:gd name="T31" fmla="*/ 13 h 13"/>
                  <a:gd name="T32" fmla="*/ 32 w 35"/>
                  <a:gd name="T33" fmla="*/ 13 h 13"/>
                  <a:gd name="T34" fmla="*/ 35 w 35"/>
                  <a:gd name="T35" fmla="*/ 13 h 13"/>
                  <a:gd name="T36" fmla="*/ 35 w 35"/>
                  <a:gd name="T37" fmla="*/ 11 h 13"/>
                  <a:gd name="T38" fmla="*/ 32 w 35"/>
                  <a:gd name="T39" fmla="*/ 11 h 13"/>
                  <a:gd name="T40" fmla="*/ 29 w 35"/>
                  <a:gd name="T41" fmla="*/ 11 h 13"/>
                  <a:gd name="T42" fmla="*/ 25 w 35"/>
                  <a:gd name="T43" fmla="*/ 11 h 13"/>
                  <a:gd name="T44" fmla="*/ 21 w 35"/>
                  <a:gd name="T45" fmla="*/ 10 h 13"/>
                  <a:gd name="T46" fmla="*/ 19 w 35"/>
                  <a:gd name="T47" fmla="*/ 10 h 13"/>
                  <a:gd name="T48" fmla="*/ 16 w 35"/>
                  <a:gd name="T49" fmla="*/ 9 h 13"/>
                  <a:gd name="T50" fmla="*/ 14 w 35"/>
                  <a:gd name="T51" fmla="*/ 9 h 13"/>
                  <a:gd name="T52" fmla="*/ 11 w 35"/>
                  <a:gd name="T53" fmla="*/ 8 h 13"/>
                  <a:gd name="T54" fmla="*/ 9 w 35"/>
                  <a:gd name="T55" fmla="*/ 7 h 13"/>
                  <a:gd name="T56" fmla="*/ 8 w 35"/>
                  <a:gd name="T57" fmla="*/ 6 h 13"/>
                  <a:gd name="T58" fmla="*/ 5 w 35"/>
                  <a:gd name="T59" fmla="*/ 5 h 13"/>
                  <a:gd name="T60" fmla="*/ 4 w 35"/>
                  <a:gd name="T61" fmla="*/ 4 h 13"/>
                  <a:gd name="T62" fmla="*/ 3 w 35"/>
                  <a:gd name="T63" fmla="*/ 3 h 13"/>
                  <a:gd name="T64" fmla="*/ 2 w 35"/>
                  <a:gd name="T65" fmla="*/ 2 h 13"/>
                  <a:gd name="T66" fmla="*/ 2 w 35"/>
                  <a:gd name="T67" fmla="*/ 1 h 13"/>
                  <a:gd name="T68" fmla="*/ 2 w 35"/>
                  <a:gd name="T69" fmla="*/ 0 h 13"/>
                  <a:gd name="T70" fmla="*/ 0 w 35"/>
                  <a:gd name="T71" fmla="*/ 0 h 1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5"/>
                  <a:gd name="T109" fmla="*/ 0 h 13"/>
                  <a:gd name="T110" fmla="*/ 35 w 35"/>
                  <a:gd name="T111" fmla="*/ 13 h 1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5" h="13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4" y="6"/>
                    </a:lnTo>
                    <a:lnTo>
                      <a:pt x="7" y="8"/>
                    </a:lnTo>
                    <a:lnTo>
                      <a:pt x="8" y="8"/>
                    </a:lnTo>
                    <a:lnTo>
                      <a:pt x="11" y="9"/>
                    </a:lnTo>
                    <a:lnTo>
                      <a:pt x="14" y="10"/>
                    </a:lnTo>
                    <a:lnTo>
                      <a:pt x="16" y="11"/>
                    </a:lnTo>
                    <a:lnTo>
                      <a:pt x="19" y="12"/>
                    </a:lnTo>
                    <a:lnTo>
                      <a:pt x="21" y="12"/>
                    </a:lnTo>
                    <a:lnTo>
                      <a:pt x="25" y="12"/>
                    </a:lnTo>
                    <a:lnTo>
                      <a:pt x="29" y="13"/>
                    </a:lnTo>
                    <a:lnTo>
                      <a:pt x="32" y="13"/>
                    </a:lnTo>
                    <a:lnTo>
                      <a:pt x="35" y="13"/>
                    </a:lnTo>
                    <a:lnTo>
                      <a:pt x="35" y="11"/>
                    </a:lnTo>
                    <a:lnTo>
                      <a:pt x="32" y="11"/>
                    </a:lnTo>
                    <a:lnTo>
                      <a:pt x="29" y="11"/>
                    </a:lnTo>
                    <a:lnTo>
                      <a:pt x="25" y="11"/>
                    </a:lnTo>
                    <a:lnTo>
                      <a:pt x="21" y="10"/>
                    </a:lnTo>
                    <a:lnTo>
                      <a:pt x="19" y="10"/>
                    </a:lnTo>
                    <a:lnTo>
                      <a:pt x="16" y="9"/>
                    </a:lnTo>
                    <a:lnTo>
                      <a:pt x="14" y="9"/>
                    </a:lnTo>
                    <a:lnTo>
                      <a:pt x="11" y="8"/>
                    </a:lnTo>
                    <a:lnTo>
                      <a:pt x="9" y="7"/>
                    </a:lnTo>
                    <a:lnTo>
                      <a:pt x="8" y="6"/>
                    </a:lnTo>
                    <a:lnTo>
                      <a:pt x="5" y="5"/>
                    </a:lnTo>
                    <a:lnTo>
                      <a:pt x="4" y="4"/>
                    </a:lnTo>
                    <a:lnTo>
                      <a:pt x="3" y="3"/>
                    </a:lnTo>
                    <a:lnTo>
                      <a:pt x="2" y="2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12" name="Freeform 981"/>
              <p:cNvSpPr>
                <a:spLocks/>
              </p:cNvSpPr>
              <p:nvPr/>
            </p:nvSpPr>
            <p:spPr bwMode="auto">
              <a:xfrm>
                <a:off x="3080" y="1967"/>
                <a:ext cx="8" cy="15"/>
              </a:xfrm>
              <a:custGeom>
                <a:avLst/>
                <a:gdLst>
                  <a:gd name="T0" fmla="*/ 0 w 8"/>
                  <a:gd name="T1" fmla="*/ 1 h 15"/>
                  <a:gd name="T2" fmla="*/ 0 w 8"/>
                  <a:gd name="T3" fmla="*/ 2 h 15"/>
                  <a:gd name="T4" fmla="*/ 3 w 8"/>
                  <a:gd name="T5" fmla="*/ 4 h 15"/>
                  <a:gd name="T6" fmla="*/ 5 w 8"/>
                  <a:gd name="T7" fmla="*/ 5 h 15"/>
                  <a:gd name="T8" fmla="*/ 5 w 8"/>
                  <a:gd name="T9" fmla="*/ 6 h 15"/>
                  <a:gd name="T10" fmla="*/ 5 w 8"/>
                  <a:gd name="T11" fmla="*/ 8 h 15"/>
                  <a:gd name="T12" fmla="*/ 3 w 8"/>
                  <a:gd name="T13" fmla="*/ 8 h 15"/>
                  <a:gd name="T14" fmla="*/ 2 w 8"/>
                  <a:gd name="T15" fmla="*/ 10 h 15"/>
                  <a:gd name="T16" fmla="*/ 1 w 8"/>
                  <a:gd name="T17" fmla="*/ 12 h 15"/>
                  <a:gd name="T18" fmla="*/ 0 w 8"/>
                  <a:gd name="T19" fmla="*/ 15 h 15"/>
                  <a:gd name="T20" fmla="*/ 2 w 8"/>
                  <a:gd name="T21" fmla="*/ 15 h 15"/>
                  <a:gd name="T22" fmla="*/ 2 w 8"/>
                  <a:gd name="T23" fmla="*/ 12 h 15"/>
                  <a:gd name="T24" fmla="*/ 3 w 8"/>
                  <a:gd name="T25" fmla="*/ 11 h 15"/>
                  <a:gd name="T26" fmla="*/ 5 w 8"/>
                  <a:gd name="T27" fmla="*/ 10 h 15"/>
                  <a:gd name="T28" fmla="*/ 7 w 8"/>
                  <a:gd name="T29" fmla="*/ 8 h 15"/>
                  <a:gd name="T30" fmla="*/ 8 w 8"/>
                  <a:gd name="T31" fmla="*/ 6 h 15"/>
                  <a:gd name="T32" fmla="*/ 8 w 8"/>
                  <a:gd name="T33" fmla="*/ 5 h 15"/>
                  <a:gd name="T34" fmla="*/ 5 w 8"/>
                  <a:gd name="T35" fmla="*/ 3 h 15"/>
                  <a:gd name="T36" fmla="*/ 1 w 8"/>
                  <a:gd name="T37" fmla="*/ 0 h 15"/>
                  <a:gd name="T38" fmla="*/ 0 w 8"/>
                  <a:gd name="T39" fmla="*/ 1 h 1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"/>
                  <a:gd name="T61" fmla="*/ 0 h 15"/>
                  <a:gd name="T62" fmla="*/ 8 w 8"/>
                  <a:gd name="T63" fmla="*/ 15 h 1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" h="15">
                    <a:moveTo>
                      <a:pt x="0" y="1"/>
                    </a:moveTo>
                    <a:lnTo>
                      <a:pt x="0" y="2"/>
                    </a:lnTo>
                    <a:lnTo>
                      <a:pt x="3" y="4"/>
                    </a:lnTo>
                    <a:lnTo>
                      <a:pt x="5" y="5"/>
                    </a:lnTo>
                    <a:lnTo>
                      <a:pt x="5" y="6"/>
                    </a:lnTo>
                    <a:lnTo>
                      <a:pt x="5" y="8"/>
                    </a:lnTo>
                    <a:lnTo>
                      <a:pt x="3" y="8"/>
                    </a:lnTo>
                    <a:lnTo>
                      <a:pt x="2" y="10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2" y="15"/>
                    </a:lnTo>
                    <a:lnTo>
                      <a:pt x="2" y="12"/>
                    </a:lnTo>
                    <a:lnTo>
                      <a:pt x="3" y="11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8" y="6"/>
                    </a:lnTo>
                    <a:lnTo>
                      <a:pt x="8" y="5"/>
                    </a:lnTo>
                    <a:lnTo>
                      <a:pt x="5" y="3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13" name="Freeform 982"/>
              <p:cNvSpPr>
                <a:spLocks/>
              </p:cNvSpPr>
              <p:nvPr/>
            </p:nvSpPr>
            <p:spPr bwMode="auto">
              <a:xfrm>
                <a:off x="3074" y="1894"/>
                <a:ext cx="8" cy="74"/>
              </a:xfrm>
              <a:custGeom>
                <a:avLst/>
                <a:gdLst>
                  <a:gd name="T0" fmla="*/ 7 w 8"/>
                  <a:gd name="T1" fmla="*/ 0 h 74"/>
                  <a:gd name="T2" fmla="*/ 7 w 8"/>
                  <a:gd name="T3" fmla="*/ 0 h 74"/>
                  <a:gd name="T4" fmla="*/ 3 w 8"/>
                  <a:gd name="T5" fmla="*/ 6 h 74"/>
                  <a:gd name="T6" fmla="*/ 1 w 8"/>
                  <a:gd name="T7" fmla="*/ 14 h 74"/>
                  <a:gd name="T8" fmla="*/ 0 w 8"/>
                  <a:gd name="T9" fmla="*/ 25 h 74"/>
                  <a:gd name="T10" fmla="*/ 0 w 8"/>
                  <a:gd name="T11" fmla="*/ 37 h 74"/>
                  <a:gd name="T12" fmla="*/ 1 w 8"/>
                  <a:gd name="T13" fmla="*/ 50 h 74"/>
                  <a:gd name="T14" fmla="*/ 2 w 8"/>
                  <a:gd name="T15" fmla="*/ 60 h 74"/>
                  <a:gd name="T16" fmla="*/ 3 w 8"/>
                  <a:gd name="T17" fmla="*/ 69 h 74"/>
                  <a:gd name="T18" fmla="*/ 7 w 8"/>
                  <a:gd name="T19" fmla="*/ 74 h 74"/>
                  <a:gd name="T20" fmla="*/ 8 w 8"/>
                  <a:gd name="T21" fmla="*/ 73 h 74"/>
                  <a:gd name="T22" fmla="*/ 6 w 8"/>
                  <a:gd name="T23" fmla="*/ 68 h 74"/>
                  <a:gd name="T24" fmla="*/ 4 w 8"/>
                  <a:gd name="T25" fmla="*/ 60 h 74"/>
                  <a:gd name="T26" fmla="*/ 2 w 8"/>
                  <a:gd name="T27" fmla="*/ 50 h 74"/>
                  <a:gd name="T28" fmla="*/ 2 w 8"/>
                  <a:gd name="T29" fmla="*/ 37 h 74"/>
                  <a:gd name="T30" fmla="*/ 2 w 8"/>
                  <a:gd name="T31" fmla="*/ 25 h 74"/>
                  <a:gd name="T32" fmla="*/ 3 w 8"/>
                  <a:gd name="T33" fmla="*/ 15 h 74"/>
                  <a:gd name="T34" fmla="*/ 4 w 8"/>
                  <a:gd name="T35" fmla="*/ 6 h 74"/>
                  <a:gd name="T36" fmla="*/ 8 w 8"/>
                  <a:gd name="T37" fmla="*/ 2 h 74"/>
                  <a:gd name="T38" fmla="*/ 7 w 8"/>
                  <a:gd name="T39" fmla="*/ 0 h 7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"/>
                  <a:gd name="T61" fmla="*/ 0 h 74"/>
                  <a:gd name="T62" fmla="*/ 8 w 8"/>
                  <a:gd name="T63" fmla="*/ 74 h 7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" h="74">
                    <a:moveTo>
                      <a:pt x="7" y="0"/>
                    </a:moveTo>
                    <a:lnTo>
                      <a:pt x="7" y="0"/>
                    </a:lnTo>
                    <a:lnTo>
                      <a:pt x="3" y="6"/>
                    </a:lnTo>
                    <a:lnTo>
                      <a:pt x="1" y="14"/>
                    </a:lnTo>
                    <a:lnTo>
                      <a:pt x="0" y="25"/>
                    </a:lnTo>
                    <a:lnTo>
                      <a:pt x="0" y="37"/>
                    </a:lnTo>
                    <a:lnTo>
                      <a:pt x="1" y="50"/>
                    </a:lnTo>
                    <a:lnTo>
                      <a:pt x="2" y="60"/>
                    </a:lnTo>
                    <a:lnTo>
                      <a:pt x="3" y="69"/>
                    </a:lnTo>
                    <a:lnTo>
                      <a:pt x="7" y="74"/>
                    </a:lnTo>
                    <a:lnTo>
                      <a:pt x="8" y="73"/>
                    </a:lnTo>
                    <a:lnTo>
                      <a:pt x="6" y="68"/>
                    </a:lnTo>
                    <a:lnTo>
                      <a:pt x="4" y="60"/>
                    </a:lnTo>
                    <a:lnTo>
                      <a:pt x="2" y="50"/>
                    </a:lnTo>
                    <a:lnTo>
                      <a:pt x="2" y="37"/>
                    </a:lnTo>
                    <a:lnTo>
                      <a:pt x="2" y="25"/>
                    </a:lnTo>
                    <a:lnTo>
                      <a:pt x="3" y="15"/>
                    </a:lnTo>
                    <a:lnTo>
                      <a:pt x="4" y="6"/>
                    </a:lnTo>
                    <a:lnTo>
                      <a:pt x="8" y="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14" name="Freeform 983"/>
              <p:cNvSpPr>
                <a:spLocks/>
              </p:cNvSpPr>
              <p:nvPr/>
            </p:nvSpPr>
            <p:spPr bwMode="auto">
              <a:xfrm>
                <a:off x="3080" y="1883"/>
                <a:ext cx="8" cy="14"/>
              </a:xfrm>
              <a:custGeom>
                <a:avLst/>
                <a:gdLst>
                  <a:gd name="T0" fmla="*/ 0 w 8"/>
                  <a:gd name="T1" fmla="*/ 0 h 14"/>
                  <a:gd name="T2" fmla="*/ 0 w 8"/>
                  <a:gd name="T3" fmla="*/ 0 h 14"/>
                  <a:gd name="T4" fmla="*/ 1 w 8"/>
                  <a:gd name="T5" fmla="*/ 2 h 14"/>
                  <a:gd name="T6" fmla="*/ 2 w 8"/>
                  <a:gd name="T7" fmla="*/ 5 h 14"/>
                  <a:gd name="T8" fmla="*/ 4 w 8"/>
                  <a:gd name="T9" fmla="*/ 6 h 14"/>
                  <a:gd name="T10" fmla="*/ 5 w 8"/>
                  <a:gd name="T11" fmla="*/ 7 h 14"/>
                  <a:gd name="T12" fmla="*/ 5 w 8"/>
                  <a:gd name="T13" fmla="*/ 8 h 14"/>
                  <a:gd name="T14" fmla="*/ 4 w 8"/>
                  <a:gd name="T15" fmla="*/ 10 h 14"/>
                  <a:gd name="T16" fmla="*/ 0 w 8"/>
                  <a:gd name="T17" fmla="*/ 12 h 14"/>
                  <a:gd name="T18" fmla="*/ 1 w 8"/>
                  <a:gd name="T19" fmla="*/ 14 h 14"/>
                  <a:gd name="T20" fmla="*/ 5 w 8"/>
                  <a:gd name="T21" fmla="*/ 12 h 14"/>
                  <a:gd name="T22" fmla="*/ 8 w 8"/>
                  <a:gd name="T23" fmla="*/ 10 h 14"/>
                  <a:gd name="T24" fmla="*/ 8 w 8"/>
                  <a:gd name="T25" fmla="*/ 7 h 14"/>
                  <a:gd name="T26" fmla="*/ 7 w 8"/>
                  <a:gd name="T27" fmla="*/ 6 h 14"/>
                  <a:gd name="T28" fmla="*/ 5 w 8"/>
                  <a:gd name="T29" fmla="*/ 5 h 14"/>
                  <a:gd name="T30" fmla="*/ 3 w 8"/>
                  <a:gd name="T31" fmla="*/ 4 h 14"/>
                  <a:gd name="T32" fmla="*/ 2 w 8"/>
                  <a:gd name="T33" fmla="*/ 2 h 14"/>
                  <a:gd name="T34" fmla="*/ 2 w 8"/>
                  <a:gd name="T35" fmla="*/ 0 h 14"/>
                  <a:gd name="T36" fmla="*/ 0 w 8"/>
                  <a:gd name="T37" fmla="*/ 0 h 1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"/>
                  <a:gd name="T58" fmla="*/ 0 h 14"/>
                  <a:gd name="T59" fmla="*/ 8 w 8"/>
                  <a:gd name="T60" fmla="*/ 14 h 1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" h="14">
                    <a:moveTo>
                      <a:pt x="0" y="0"/>
                    </a:moveTo>
                    <a:lnTo>
                      <a:pt x="0" y="0"/>
                    </a:lnTo>
                    <a:lnTo>
                      <a:pt x="1" y="2"/>
                    </a:lnTo>
                    <a:lnTo>
                      <a:pt x="2" y="5"/>
                    </a:lnTo>
                    <a:lnTo>
                      <a:pt x="4" y="6"/>
                    </a:lnTo>
                    <a:lnTo>
                      <a:pt x="5" y="7"/>
                    </a:lnTo>
                    <a:lnTo>
                      <a:pt x="5" y="8"/>
                    </a:lnTo>
                    <a:lnTo>
                      <a:pt x="4" y="10"/>
                    </a:lnTo>
                    <a:lnTo>
                      <a:pt x="0" y="12"/>
                    </a:lnTo>
                    <a:lnTo>
                      <a:pt x="1" y="14"/>
                    </a:lnTo>
                    <a:lnTo>
                      <a:pt x="5" y="12"/>
                    </a:lnTo>
                    <a:lnTo>
                      <a:pt x="8" y="10"/>
                    </a:lnTo>
                    <a:lnTo>
                      <a:pt x="8" y="7"/>
                    </a:lnTo>
                    <a:lnTo>
                      <a:pt x="7" y="6"/>
                    </a:lnTo>
                    <a:lnTo>
                      <a:pt x="5" y="5"/>
                    </a:lnTo>
                    <a:lnTo>
                      <a:pt x="3" y="4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15" name="Freeform 984"/>
              <p:cNvSpPr>
                <a:spLocks/>
              </p:cNvSpPr>
              <p:nvPr/>
            </p:nvSpPr>
            <p:spPr bwMode="auto">
              <a:xfrm>
                <a:off x="3080" y="1867"/>
                <a:ext cx="35" cy="16"/>
              </a:xfrm>
              <a:custGeom>
                <a:avLst/>
                <a:gdLst>
                  <a:gd name="T0" fmla="*/ 35 w 35"/>
                  <a:gd name="T1" fmla="*/ 0 h 16"/>
                  <a:gd name="T2" fmla="*/ 35 w 35"/>
                  <a:gd name="T3" fmla="*/ 0 h 16"/>
                  <a:gd name="T4" fmla="*/ 32 w 35"/>
                  <a:gd name="T5" fmla="*/ 0 h 16"/>
                  <a:gd name="T6" fmla="*/ 29 w 35"/>
                  <a:gd name="T7" fmla="*/ 0 h 16"/>
                  <a:gd name="T8" fmla="*/ 25 w 35"/>
                  <a:gd name="T9" fmla="*/ 1 h 16"/>
                  <a:gd name="T10" fmla="*/ 21 w 35"/>
                  <a:gd name="T11" fmla="*/ 1 h 16"/>
                  <a:gd name="T12" fmla="*/ 19 w 35"/>
                  <a:gd name="T13" fmla="*/ 2 h 16"/>
                  <a:gd name="T14" fmla="*/ 16 w 35"/>
                  <a:gd name="T15" fmla="*/ 2 h 16"/>
                  <a:gd name="T16" fmla="*/ 14 w 35"/>
                  <a:gd name="T17" fmla="*/ 3 h 16"/>
                  <a:gd name="T18" fmla="*/ 11 w 35"/>
                  <a:gd name="T19" fmla="*/ 5 h 16"/>
                  <a:gd name="T20" fmla="*/ 8 w 35"/>
                  <a:gd name="T21" fmla="*/ 6 h 16"/>
                  <a:gd name="T22" fmla="*/ 7 w 35"/>
                  <a:gd name="T23" fmla="*/ 7 h 16"/>
                  <a:gd name="T24" fmla="*/ 4 w 35"/>
                  <a:gd name="T25" fmla="*/ 9 h 16"/>
                  <a:gd name="T26" fmla="*/ 3 w 35"/>
                  <a:gd name="T27" fmla="*/ 10 h 16"/>
                  <a:gd name="T28" fmla="*/ 1 w 35"/>
                  <a:gd name="T29" fmla="*/ 12 h 16"/>
                  <a:gd name="T30" fmla="*/ 1 w 35"/>
                  <a:gd name="T31" fmla="*/ 13 h 16"/>
                  <a:gd name="T32" fmla="*/ 0 w 35"/>
                  <a:gd name="T33" fmla="*/ 15 h 16"/>
                  <a:gd name="T34" fmla="*/ 0 w 35"/>
                  <a:gd name="T35" fmla="*/ 16 h 16"/>
                  <a:gd name="T36" fmla="*/ 2 w 35"/>
                  <a:gd name="T37" fmla="*/ 16 h 16"/>
                  <a:gd name="T38" fmla="*/ 2 w 35"/>
                  <a:gd name="T39" fmla="*/ 15 h 16"/>
                  <a:gd name="T40" fmla="*/ 2 w 35"/>
                  <a:gd name="T41" fmla="*/ 14 h 16"/>
                  <a:gd name="T42" fmla="*/ 3 w 35"/>
                  <a:gd name="T43" fmla="*/ 13 h 16"/>
                  <a:gd name="T44" fmla="*/ 4 w 35"/>
                  <a:gd name="T45" fmla="*/ 11 h 16"/>
                  <a:gd name="T46" fmla="*/ 5 w 35"/>
                  <a:gd name="T47" fmla="*/ 10 h 16"/>
                  <a:gd name="T48" fmla="*/ 8 w 35"/>
                  <a:gd name="T49" fmla="*/ 9 h 16"/>
                  <a:gd name="T50" fmla="*/ 9 w 35"/>
                  <a:gd name="T51" fmla="*/ 7 h 16"/>
                  <a:gd name="T52" fmla="*/ 11 w 35"/>
                  <a:gd name="T53" fmla="*/ 7 h 16"/>
                  <a:gd name="T54" fmla="*/ 14 w 35"/>
                  <a:gd name="T55" fmla="*/ 6 h 16"/>
                  <a:gd name="T56" fmla="*/ 16 w 35"/>
                  <a:gd name="T57" fmla="*/ 5 h 16"/>
                  <a:gd name="T58" fmla="*/ 19 w 35"/>
                  <a:gd name="T59" fmla="*/ 3 h 16"/>
                  <a:gd name="T60" fmla="*/ 21 w 35"/>
                  <a:gd name="T61" fmla="*/ 3 h 16"/>
                  <a:gd name="T62" fmla="*/ 25 w 35"/>
                  <a:gd name="T63" fmla="*/ 2 h 16"/>
                  <a:gd name="T64" fmla="*/ 29 w 35"/>
                  <a:gd name="T65" fmla="*/ 2 h 16"/>
                  <a:gd name="T66" fmla="*/ 32 w 35"/>
                  <a:gd name="T67" fmla="*/ 2 h 16"/>
                  <a:gd name="T68" fmla="*/ 35 w 35"/>
                  <a:gd name="T69" fmla="*/ 2 h 16"/>
                  <a:gd name="T70" fmla="*/ 35 w 35"/>
                  <a:gd name="T71" fmla="*/ 0 h 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5"/>
                  <a:gd name="T109" fmla="*/ 0 h 16"/>
                  <a:gd name="T110" fmla="*/ 35 w 35"/>
                  <a:gd name="T111" fmla="*/ 16 h 1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5" h="16">
                    <a:moveTo>
                      <a:pt x="35" y="0"/>
                    </a:moveTo>
                    <a:lnTo>
                      <a:pt x="35" y="0"/>
                    </a:lnTo>
                    <a:lnTo>
                      <a:pt x="32" y="0"/>
                    </a:lnTo>
                    <a:lnTo>
                      <a:pt x="29" y="0"/>
                    </a:lnTo>
                    <a:lnTo>
                      <a:pt x="25" y="1"/>
                    </a:lnTo>
                    <a:lnTo>
                      <a:pt x="21" y="1"/>
                    </a:lnTo>
                    <a:lnTo>
                      <a:pt x="19" y="2"/>
                    </a:lnTo>
                    <a:lnTo>
                      <a:pt x="16" y="2"/>
                    </a:lnTo>
                    <a:lnTo>
                      <a:pt x="14" y="3"/>
                    </a:lnTo>
                    <a:lnTo>
                      <a:pt x="11" y="5"/>
                    </a:lnTo>
                    <a:lnTo>
                      <a:pt x="8" y="6"/>
                    </a:lnTo>
                    <a:lnTo>
                      <a:pt x="7" y="7"/>
                    </a:lnTo>
                    <a:lnTo>
                      <a:pt x="4" y="9"/>
                    </a:lnTo>
                    <a:lnTo>
                      <a:pt x="3" y="10"/>
                    </a:lnTo>
                    <a:lnTo>
                      <a:pt x="1" y="12"/>
                    </a:lnTo>
                    <a:lnTo>
                      <a:pt x="1" y="13"/>
                    </a:lnTo>
                    <a:lnTo>
                      <a:pt x="0" y="15"/>
                    </a:lnTo>
                    <a:lnTo>
                      <a:pt x="0" y="16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3" y="13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8" y="9"/>
                    </a:lnTo>
                    <a:lnTo>
                      <a:pt x="9" y="7"/>
                    </a:lnTo>
                    <a:lnTo>
                      <a:pt x="11" y="7"/>
                    </a:lnTo>
                    <a:lnTo>
                      <a:pt x="14" y="6"/>
                    </a:lnTo>
                    <a:lnTo>
                      <a:pt x="16" y="5"/>
                    </a:lnTo>
                    <a:lnTo>
                      <a:pt x="19" y="3"/>
                    </a:lnTo>
                    <a:lnTo>
                      <a:pt x="21" y="3"/>
                    </a:lnTo>
                    <a:lnTo>
                      <a:pt x="25" y="2"/>
                    </a:lnTo>
                    <a:lnTo>
                      <a:pt x="29" y="2"/>
                    </a:lnTo>
                    <a:lnTo>
                      <a:pt x="32" y="2"/>
                    </a:lnTo>
                    <a:lnTo>
                      <a:pt x="35" y="2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16" name="Freeform 985"/>
              <p:cNvSpPr>
                <a:spLocks/>
              </p:cNvSpPr>
              <p:nvPr/>
            </p:nvSpPr>
            <p:spPr bwMode="auto">
              <a:xfrm>
                <a:off x="3115" y="1867"/>
                <a:ext cx="35" cy="16"/>
              </a:xfrm>
              <a:custGeom>
                <a:avLst/>
                <a:gdLst>
                  <a:gd name="T0" fmla="*/ 35 w 35"/>
                  <a:gd name="T1" fmla="*/ 16 h 16"/>
                  <a:gd name="T2" fmla="*/ 35 w 35"/>
                  <a:gd name="T3" fmla="*/ 16 h 16"/>
                  <a:gd name="T4" fmla="*/ 35 w 35"/>
                  <a:gd name="T5" fmla="*/ 15 h 16"/>
                  <a:gd name="T6" fmla="*/ 33 w 35"/>
                  <a:gd name="T7" fmla="*/ 13 h 16"/>
                  <a:gd name="T8" fmla="*/ 32 w 35"/>
                  <a:gd name="T9" fmla="*/ 12 h 16"/>
                  <a:gd name="T10" fmla="*/ 31 w 35"/>
                  <a:gd name="T11" fmla="*/ 10 h 16"/>
                  <a:gd name="T12" fmla="*/ 30 w 35"/>
                  <a:gd name="T13" fmla="*/ 9 h 16"/>
                  <a:gd name="T14" fmla="*/ 28 w 35"/>
                  <a:gd name="T15" fmla="*/ 7 h 16"/>
                  <a:gd name="T16" fmla="*/ 27 w 35"/>
                  <a:gd name="T17" fmla="*/ 6 h 16"/>
                  <a:gd name="T18" fmla="*/ 25 w 35"/>
                  <a:gd name="T19" fmla="*/ 5 h 16"/>
                  <a:gd name="T20" fmla="*/ 22 w 35"/>
                  <a:gd name="T21" fmla="*/ 3 h 16"/>
                  <a:gd name="T22" fmla="*/ 20 w 35"/>
                  <a:gd name="T23" fmla="*/ 2 h 16"/>
                  <a:gd name="T24" fmla="*/ 17 w 35"/>
                  <a:gd name="T25" fmla="*/ 2 h 16"/>
                  <a:gd name="T26" fmla="*/ 13 w 35"/>
                  <a:gd name="T27" fmla="*/ 1 h 16"/>
                  <a:gd name="T28" fmla="*/ 10 w 35"/>
                  <a:gd name="T29" fmla="*/ 1 h 16"/>
                  <a:gd name="T30" fmla="*/ 7 w 35"/>
                  <a:gd name="T31" fmla="*/ 0 h 16"/>
                  <a:gd name="T32" fmla="*/ 4 w 35"/>
                  <a:gd name="T33" fmla="*/ 0 h 16"/>
                  <a:gd name="T34" fmla="*/ 0 w 35"/>
                  <a:gd name="T35" fmla="*/ 0 h 16"/>
                  <a:gd name="T36" fmla="*/ 0 w 35"/>
                  <a:gd name="T37" fmla="*/ 2 h 16"/>
                  <a:gd name="T38" fmla="*/ 4 w 35"/>
                  <a:gd name="T39" fmla="*/ 2 h 16"/>
                  <a:gd name="T40" fmla="*/ 7 w 35"/>
                  <a:gd name="T41" fmla="*/ 2 h 16"/>
                  <a:gd name="T42" fmla="*/ 10 w 35"/>
                  <a:gd name="T43" fmla="*/ 2 h 16"/>
                  <a:gd name="T44" fmla="*/ 13 w 35"/>
                  <a:gd name="T45" fmla="*/ 3 h 16"/>
                  <a:gd name="T46" fmla="*/ 15 w 35"/>
                  <a:gd name="T47" fmla="*/ 3 h 16"/>
                  <a:gd name="T48" fmla="*/ 20 w 35"/>
                  <a:gd name="T49" fmla="*/ 5 h 16"/>
                  <a:gd name="T50" fmla="*/ 22 w 35"/>
                  <a:gd name="T51" fmla="*/ 6 h 16"/>
                  <a:gd name="T52" fmla="*/ 24 w 35"/>
                  <a:gd name="T53" fmla="*/ 7 h 16"/>
                  <a:gd name="T54" fmla="*/ 26 w 35"/>
                  <a:gd name="T55" fmla="*/ 7 h 16"/>
                  <a:gd name="T56" fmla="*/ 27 w 35"/>
                  <a:gd name="T57" fmla="*/ 9 h 16"/>
                  <a:gd name="T58" fmla="*/ 29 w 35"/>
                  <a:gd name="T59" fmla="*/ 10 h 16"/>
                  <a:gd name="T60" fmla="*/ 30 w 35"/>
                  <a:gd name="T61" fmla="*/ 11 h 16"/>
                  <a:gd name="T62" fmla="*/ 31 w 35"/>
                  <a:gd name="T63" fmla="*/ 13 h 16"/>
                  <a:gd name="T64" fmla="*/ 32 w 35"/>
                  <a:gd name="T65" fmla="*/ 14 h 16"/>
                  <a:gd name="T66" fmla="*/ 32 w 35"/>
                  <a:gd name="T67" fmla="*/ 15 h 16"/>
                  <a:gd name="T68" fmla="*/ 32 w 35"/>
                  <a:gd name="T69" fmla="*/ 16 h 16"/>
                  <a:gd name="T70" fmla="*/ 35 w 35"/>
                  <a:gd name="T71" fmla="*/ 16 h 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5"/>
                  <a:gd name="T109" fmla="*/ 0 h 16"/>
                  <a:gd name="T110" fmla="*/ 35 w 35"/>
                  <a:gd name="T111" fmla="*/ 16 h 1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5" h="16">
                    <a:moveTo>
                      <a:pt x="35" y="16"/>
                    </a:moveTo>
                    <a:lnTo>
                      <a:pt x="35" y="16"/>
                    </a:lnTo>
                    <a:lnTo>
                      <a:pt x="35" y="15"/>
                    </a:lnTo>
                    <a:lnTo>
                      <a:pt x="33" y="13"/>
                    </a:lnTo>
                    <a:lnTo>
                      <a:pt x="32" y="12"/>
                    </a:lnTo>
                    <a:lnTo>
                      <a:pt x="31" y="10"/>
                    </a:lnTo>
                    <a:lnTo>
                      <a:pt x="30" y="9"/>
                    </a:lnTo>
                    <a:lnTo>
                      <a:pt x="28" y="7"/>
                    </a:lnTo>
                    <a:lnTo>
                      <a:pt x="27" y="6"/>
                    </a:lnTo>
                    <a:lnTo>
                      <a:pt x="25" y="5"/>
                    </a:lnTo>
                    <a:lnTo>
                      <a:pt x="22" y="3"/>
                    </a:lnTo>
                    <a:lnTo>
                      <a:pt x="20" y="2"/>
                    </a:lnTo>
                    <a:lnTo>
                      <a:pt x="17" y="2"/>
                    </a:lnTo>
                    <a:lnTo>
                      <a:pt x="13" y="1"/>
                    </a:lnTo>
                    <a:lnTo>
                      <a:pt x="10" y="1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4" y="2"/>
                    </a:lnTo>
                    <a:lnTo>
                      <a:pt x="7" y="2"/>
                    </a:lnTo>
                    <a:lnTo>
                      <a:pt x="10" y="2"/>
                    </a:lnTo>
                    <a:lnTo>
                      <a:pt x="13" y="3"/>
                    </a:lnTo>
                    <a:lnTo>
                      <a:pt x="15" y="3"/>
                    </a:lnTo>
                    <a:lnTo>
                      <a:pt x="20" y="5"/>
                    </a:lnTo>
                    <a:lnTo>
                      <a:pt x="22" y="6"/>
                    </a:lnTo>
                    <a:lnTo>
                      <a:pt x="24" y="7"/>
                    </a:lnTo>
                    <a:lnTo>
                      <a:pt x="26" y="7"/>
                    </a:lnTo>
                    <a:lnTo>
                      <a:pt x="27" y="9"/>
                    </a:lnTo>
                    <a:lnTo>
                      <a:pt x="29" y="10"/>
                    </a:lnTo>
                    <a:lnTo>
                      <a:pt x="30" y="11"/>
                    </a:lnTo>
                    <a:lnTo>
                      <a:pt x="31" y="13"/>
                    </a:lnTo>
                    <a:lnTo>
                      <a:pt x="32" y="14"/>
                    </a:lnTo>
                    <a:lnTo>
                      <a:pt x="32" y="15"/>
                    </a:lnTo>
                    <a:lnTo>
                      <a:pt x="32" y="16"/>
                    </a:lnTo>
                    <a:lnTo>
                      <a:pt x="35" y="1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17" name="Freeform 986"/>
              <p:cNvSpPr>
                <a:spLocks/>
              </p:cNvSpPr>
              <p:nvPr/>
            </p:nvSpPr>
            <p:spPr bwMode="auto">
              <a:xfrm>
                <a:off x="3142" y="1883"/>
                <a:ext cx="8" cy="12"/>
              </a:xfrm>
              <a:custGeom>
                <a:avLst/>
                <a:gdLst>
                  <a:gd name="T0" fmla="*/ 6 w 8"/>
                  <a:gd name="T1" fmla="*/ 11 h 12"/>
                  <a:gd name="T2" fmla="*/ 6 w 8"/>
                  <a:gd name="T3" fmla="*/ 11 h 12"/>
                  <a:gd name="T4" fmla="*/ 3 w 8"/>
                  <a:gd name="T5" fmla="*/ 8 h 12"/>
                  <a:gd name="T6" fmla="*/ 2 w 8"/>
                  <a:gd name="T7" fmla="*/ 7 h 12"/>
                  <a:gd name="T8" fmla="*/ 2 w 8"/>
                  <a:gd name="T9" fmla="*/ 6 h 12"/>
                  <a:gd name="T10" fmla="*/ 3 w 8"/>
                  <a:gd name="T11" fmla="*/ 6 h 12"/>
                  <a:gd name="T12" fmla="*/ 5 w 8"/>
                  <a:gd name="T13" fmla="*/ 5 h 12"/>
                  <a:gd name="T14" fmla="*/ 6 w 8"/>
                  <a:gd name="T15" fmla="*/ 2 h 12"/>
                  <a:gd name="T16" fmla="*/ 8 w 8"/>
                  <a:gd name="T17" fmla="*/ 0 h 12"/>
                  <a:gd name="T18" fmla="*/ 5 w 8"/>
                  <a:gd name="T19" fmla="*/ 0 h 12"/>
                  <a:gd name="T20" fmla="*/ 5 w 8"/>
                  <a:gd name="T21" fmla="*/ 2 h 12"/>
                  <a:gd name="T22" fmla="*/ 4 w 8"/>
                  <a:gd name="T23" fmla="*/ 4 h 12"/>
                  <a:gd name="T24" fmla="*/ 2 w 8"/>
                  <a:gd name="T25" fmla="*/ 4 h 12"/>
                  <a:gd name="T26" fmla="*/ 1 w 8"/>
                  <a:gd name="T27" fmla="*/ 5 h 12"/>
                  <a:gd name="T28" fmla="*/ 0 w 8"/>
                  <a:gd name="T29" fmla="*/ 6 h 12"/>
                  <a:gd name="T30" fmla="*/ 0 w 8"/>
                  <a:gd name="T31" fmla="*/ 7 h 12"/>
                  <a:gd name="T32" fmla="*/ 2 w 8"/>
                  <a:gd name="T33" fmla="*/ 9 h 12"/>
                  <a:gd name="T34" fmla="*/ 5 w 8"/>
                  <a:gd name="T35" fmla="*/ 12 h 12"/>
                  <a:gd name="T36" fmla="*/ 6 w 8"/>
                  <a:gd name="T37" fmla="*/ 11 h 1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"/>
                  <a:gd name="T58" fmla="*/ 0 h 12"/>
                  <a:gd name="T59" fmla="*/ 8 w 8"/>
                  <a:gd name="T60" fmla="*/ 12 h 1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" h="12">
                    <a:moveTo>
                      <a:pt x="6" y="11"/>
                    </a:moveTo>
                    <a:lnTo>
                      <a:pt x="6" y="11"/>
                    </a:lnTo>
                    <a:lnTo>
                      <a:pt x="3" y="8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3" y="6"/>
                    </a:lnTo>
                    <a:lnTo>
                      <a:pt x="5" y="5"/>
                    </a:lnTo>
                    <a:lnTo>
                      <a:pt x="6" y="2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5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5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2" y="9"/>
                    </a:lnTo>
                    <a:lnTo>
                      <a:pt x="5" y="12"/>
                    </a:lnTo>
                    <a:lnTo>
                      <a:pt x="6" y="1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18" name="Freeform 987"/>
              <p:cNvSpPr>
                <a:spLocks/>
              </p:cNvSpPr>
              <p:nvPr/>
            </p:nvSpPr>
            <p:spPr bwMode="auto">
              <a:xfrm>
                <a:off x="3145" y="1894"/>
                <a:ext cx="11" cy="78"/>
              </a:xfrm>
              <a:custGeom>
                <a:avLst/>
                <a:gdLst>
                  <a:gd name="T0" fmla="*/ 1 w 11"/>
                  <a:gd name="T1" fmla="*/ 78 h 78"/>
                  <a:gd name="T2" fmla="*/ 1 w 11"/>
                  <a:gd name="T3" fmla="*/ 78 h 78"/>
                  <a:gd name="T4" fmla="*/ 6 w 11"/>
                  <a:gd name="T5" fmla="*/ 74 h 78"/>
                  <a:gd name="T6" fmla="*/ 8 w 11"/>
                  <a:gd name="T7" fmla="*/ 65 h 78"/>
                  <a:gd name="T8" fmla="*/ 10 w 11"/>
                  <a:gd name="T9" fmla="*/ 53 h 78"/>
                  <a:gd name="T10" fmla="*/ 11 w 11"/>
                  <a:gd name="T11" fmla="*/ 41 h 78"/>
                  <a:gd name="T12" fmla="*/ 11 w 11"/>
                  <a:gd name="T13" fmla="*/ 28 h 78"/>
                  <a:gd name="T14" fmla="*/ 10 w 11"/>
                  <a:gd name="T15" fmla="*/ 16 h 78"/>
                  <a:gd name="T16" fmla="*/ 8 w 11"/>
                  <a:gd name="T17" fmla="*/ 6 h 78"/>
                  <a:gd name="T18" fmla="*/ 3 w 11"/>
                  <a:gd name="T19" fmla="*/ 0 h 78"/>
                  <a:gd name="T20" fmla="*/ 2 w 11"/>
                  <a:gd name="T21" fmla="*/ 1 h 78"/>
                  <a:gd name="T22" fmla="*/ 6 w 11"/>
                  <a:gd name="T23" fmla="*/ 6 h 78"/>
                  <a:gd name="T24" fmla="*/ 8 w 11"/>
                  <a:gd name="T25" fmla="*/ 17 h 78"/>
                  <a:gd name="T26" fmla="*/ 9 w 11"/>
                  <a:gd name="T27" fmla="*/ 28 h 78"/>
                  <a:gd name="T28" fmla="*/ 9 w 11"/>
                  <a:gd name="T29" fmla="*/ 41 h 78"/>
                  <a:gd name="T30" fmla="*/ 8 w 11"/>
                  <a:gd name="T31" fmla="*/ 53 h 78"/>
                  <a:gd name="T32" fmla="*/ 6 w 11"/>
                  <a:gd name="T33" fmla="*/ 65 h 78"/>
                  <a:gd name="T34" fmla="*/ 2 w 11"/>
                  <a:gd name="T35" fmla="*/ 73 h 78"/>
                  <a:gd name="T36" fmla="*/ 0 w 11"/>
                  <a:gd name="T37" fmla="*/ 77 h 78"/>
                  <a:gd name="T38" fmla="*/ 1 w 11"/>
                  <a:gd name="T39" fmla="*/ 78 h 7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"/>
                  <a:gd name="T61" fmla="*/ 0 h 78"/>
                  <a:gd name="T62" fmla="*/ 11 w 11"/>
                  <a:gd name="T63" fmla="*/ 78 h 7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" h="78">
                    <a:moveTo>
                      <a:pt x="1" y="78"/>
                    </a:moveTo>
                    <a:lnTo>
                      <a:pt x="1" y="78"/>
                    </a:lnTo>
                    <a:lnTo>
                      <a:pt x="6" y="74"/>
                    </a:lnTo>
                    <a:lnTo>
                      <a:pt x="8" y="65"/>
                    </a:lnTo>
                    <a:lnTo>
                      <a:pt x="10" y="53"/>
                    </a:lnTo>
                    <a:lnTo>
                      <a:pt x="11" y="41"/>
                    </a:lnTo>
                    <a:lnTo>
                      <a:pt x="11" y="28"/>
                    </a:lnTo>
                    <a:lnTo>
                      <a:pt x="10" y="16"/>
                    </a:lnTo>
                    <a:lnTo>
                      <a:pt x="8" y="6"/>
                    </a:lnTo>
                    <a:lnTo>
                      <a:pt x="3" y="0"/>
                    </a:lnTo>
                    <a:lnTo>
                      <a:pt x="2" y="1"/>
                    </a:lnTo>
                    <a:lnTo>
                      <a:pt x="6" y="6"/>
                    </a:lnTo>
                    <a:lnTo>
                      <a:pt x="8" y="17"/>
                    </a:lnTo>
                    <a:lnTo>
                      <a:pt x="9" y="28"/>
                    </a:lnTo>
                    <a:lnTo>
                      <a:pt x="9" y="41"/>
                    </a:lnTo>
                    <a:lnTo>
                      <a:pt x="8" y="53"/>
                    </a:lnTo>
                    <a:lnTo>
                      <a:pt x="6" y="65"/>
                    </a:lnTo>
                    <a:lnTo>
                      <a:pt x="2" y="73"/>
                    </a:lnTo>
                    <a:lnTo>
                      <a:pt x="0" y="77"/>
                    </a:lnTo>
                    <a:lnTo>
                      <a:pt x="1" y="78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19" name="Freeform 988"/>
              <p:cNvSpPr>
                <a:spLocks/>
              </p:cNvSpPr>
              <p:nvPr/>
            </p:nvSpPr>
            <p:spPr bwMode="auto">
              <a:xfrm>
                <a:off x="3348" y="1912"/>
                <a:ext cx="36" cy="34"/>
              </a:xfrm>
              <a:custGeom>
                <a:avLst/>
                <a:gdLst>
                  <a:gd name="T0" fmla="*/ 17 w 36"/>
                  <a:gd name="T1" fmla="*/ 34 h 34"/>
                  <a:gd name="T2" fmla="*/ 22 w 36"/>
                  <a:gd name="T3" fmla="*/ 34 h 34"/>
                  <a:gd name="T4" fmla="*/ 24 w 36"/>
                  <a:gd name="T5" fmla="*/ 33 h 34"/>
                  <a:gd name="T6" fmla="*/ 27 w 36"/>
                  <a:gd name="T7" fmla="*/ 31 h 34"/>
                  <a:gd name="T8" fmla="*/ 29 w 36"/>
                  <a:gd name="T9" fmla="*/ 30 h 34"/>
                  <a:gd name="T10" fmla="*/ 32 w 36"/>
                  <a:gd name="T11" fmla="*/ 26 h 34"/>
                  <a:gd name="T12" fmla="*/ 35 w 36"/>
                  <a:gd name="T13" fmla="*/ 24 h 34"/>
                  <a:gd name="T14" fmla="*/ 36 w 36"/>
                  <a:gd name="T15" fmla="*/ 20 h 34"/>
                  <a:gd name="T16" fmla="*/ 36 w 36"/>
                  <a:gd name="T17" fmla="*/ 17 h 34"/>
                  <a:gd name="T18" fmla="*/ 36 w 36"/>
                  <a:gd name="T19" fmla="*/ 14 h 34"/>
                  <a:gd name="T20" fmla="*/ 35 w 36"/>
                  <a:gd name="T21" fmla="*/ 10 h 34"/>
                  <a:gd name="T22" fmla="*/ 32 w 36"/>
                  <a:gd name="T23" fmla="*/ 8 h 34"/>
                  <a:gd name="T24" fmla="*/ 29 w 36"/>
                  <a:gd name="T25" fmla="*/ 4 h 34"/>
                  <a:gd name="T26" fmla="*/ 27 w 36"/>
                  <a:gd name="T27" fmla="*/ 3 h 34"/>
                  <a:gd name="T28" fmla="*/ 24 w 36"/>
                  <a:gd name="T29" fmla="*/ 1 h 34"/>
                  <a:gd name="T30" fmla="*/ 22 w 36"/>
                  <a:gd name="T31" fmla="*/ 0 h 34"/>
                  <a:gd name="T32" fmla="*/ 17 w 36"/>
                  <a:gd name="T33" fmla="*/ 0 h 34"/>
                  <a:gd name="T34" fmla="*/ 13 w 36"/>
                  <a:gd name="T35" fmla="*/ 0 h 34"/>
                  <a:gd name="T36" fmla="*/ 11 w 36"/>
                  <a:gd name="T37" fmla="*/ 1 h 34"/>
                  <a:gd name="T38" fmla="*/ 8 w 36"/>
                  <a:gd name="T39" fmla="*/ 3 h 34"/>
                  <a:gd name="T40" fmla="*/ 6 w 36"/>
                  <a:gd name="T41" fmla="*/ 4 h 34"/>
                  <a:gd name="T42" fmla="*/ 4 w 36"/>
                  <a:gd name="T43" fmla="*/ 8 h 34"/>
                  <a:gd name="T44" fmla="*/ 1 w 36"/>
                  <a:gd name="T45" fmla="*/ 10 h 34"/>
                  <a:gd name="T46" fmla="*/ 0 w 36"/>
                  <a:gd name="T47" fmla="*/ 14 h 34"/>
                  <a:gd name="T48" fmla="*/ 0 w 36"/>
                  <a:gd name="T49" fmla="*/ 17 h 34"/>
                  <a:gd name="T50" fmla="*/ 0 w 36"/>
                  <a:gd name="T51" fmla="*/ 20 h 34"/>
                  <a:gd name="T52" fmla="*/ 1 w 36"/>
                  <a:gd name="T53" fmla="*/ 24 h 34"/>
                  <a:gd name="T54" fmla="*/ 4 w 36"/>
                  <a:gd name="T55" fmla="*/ 26 h 34"/>
                  <a:gd name="T56" fmla="*/ 6 w 36"/>
                  <a:gd name="T57" fmla="*/ 30 h 34"/>
                  <a:gd name="T58" fmla="*/ 8 w 36"/>
                  <a:gd name="T59" fmla="*/ 31 h 34"/>
                  <a:gd name="T60" fmla="*/ 11 w 36"/>
                  <a:gd name="T61" fmla="*/ 33 h 34"/>
                  <a:gd name="T62" fmla="*/ 13 w 36"/>
                  <a:gd name="T63" fmla="*/ 34 h 34"/>
                  <a:gd name="T64" fmla="*/ 17 w 36"/>
                  <a:gd name="T65" fmla="*/ 34 h 3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6"/>
                  <a:gd name="T100" fmla="*/ 0 h 34"/>
                  <a:gd name="T101" fmla="*/ 36 w 36"/>
                  <a:gd name="T102" fmla="*/ 34 h 3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6" h="34">
                    <a:moveTo>
                      <a:pt x="17" y="34"/>
                    </a:moveTo>
                    <a:lnTo>
                      <a:pt x="22" y="34"/>
                    </a:lnTo>
                    <a:lnTo>
                      <a:pt x="24" y="33"/>
                    </a:lnTo>
                    <a:lnTo>
                      <a:pt x="27" y="31"/>
                    </a:lnTo>
                    <a:lnTo>
                      <a:pt x="29" y="30"/>
                    </a:lnTo>
                    <a:lnTo>
                      <a:pt x="32" y="26"/>
                    </a:lnTo>
                    <a:lnTo>
                      <a:pt x="35" y="24"/>
                    </a:lnTo>
                    <a:lnTo>
                      <a:pt x="36" y="20"/>
                    </a:lnTo>
                    <a:lnTo>
                      <a:pt x="36" y="17"/>
                    </a:lnTo>
                    <a:lnTo>
                      <a:pt x="36" y="14"/>
                    </a:lnTo>
                    <a:lnTo>
                      <a:pt x="35" y="10"/>
                    </a:lnTo>
                    <a:lnTo>
                      <a:pt x="32" y="8"/>
                    </a:lnTo>
                    <a:lnTo>
                      <a:pt x="29" y="4"/>
                    </a:lnTo>
                    <a:lnTo>
                      <a:pt x="27" y="3"/>
                    </a:lnTo>
                    <a:lnTo>
                      <a:pt x="24" y="1"/>
                    </a:lnTo>
                    <a:lnTo>
                      <a:pt x="22" y="0"/>
                    </a:lnTo>
                    <a:lnTo>
                      <a:pt x="17" y="0"/>
                    </a:lnTo>
                    <a:lnTo>
                      <a:pt x="13" y="0"/>
                    </a:lnTo>
                    <a:lnTo>
                      <a:pt x="11" y="1"/>
                    </a:lnTo>
                    <a:lnTo>
                      <a:pt x="8" y="3"/>
                    </a:lnTo>
                    <a:lnTo>
                      <a:pt x="6" y="4"/>
                    </a:lnTo>
                    <a:lnTo>
                      <a:pt x="4" y="8"/>
                    </a:lnTo>
                    <a:lnTo>
                      <a:pt x="1" y="10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0" y="20"/>
                    </a:lnTo>
                    <a:lnTo>
                      <a:pt x="1" y="24"/>
                    </a:lnTo>
                    <a:lnTo>
                      <a:pt x="4" y="26"/>
                    </a:lnTo>
                    <a:lnTo>
                      <a:pt x="6" y="30"/>
                    </a:lnTo>
                    <a:lnTo>
                      <a:pt x="8" y="31"/>
                    </a:lnTo>
                    <a:lnTo>
                      <a:pt x="11" y="33"/>
                    </a:lnTo>
                    <a:lnTo>
                      <a:pt x="13" y="34"/>
                    </a:lnTo>
                    <a:lnTo>
                      <a:pt x="17" y="34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520" name="Freeform 989"/>
              <p:cNvSpPr>
                <a:spLocks/>
              </p:cNvSpPr>
              <p:nvPr/>
            </p:nvSpPr>
            <p:spPr bwMode="auto">
              <a:xfrm>
                <a:off x="3156" y="1912"/>
                <a:ext cx="209" cy="34"/>
              </a:xfrm>
              <a:custGeom>
                <a:avLst/>
                <a:gdLst>
                  <a:gd name="T0" fmla="*/ 209 w 209"/>
                  <a:gd name="T1" fmla="*/ 0 h 34"/>
                  <a:gd name="T2" fmla="*/ 0 w 209"/>
                  <a:gd name="T3" fmla="*/ 10 h 34"/>
                  <a:gd name="T4" fmla="*/ 0 w 209"/>
                  <a:gd name="T5" fmla="*/ 26 h 34"/>
                  <a:gd name="T6" fmla="*/ 209 w 209"/>
                  <a:gd name="T7" fmla="*/ 34 h 34"/>
                  <a:gd name="T8" fmla="*/ 209 w 209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9"/>
                  <a:gd name="T16" fmla="*/ 0 h 34"/>
                  <a:gd name="T17" fmla="*/ 209 w 209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9" h="34">
                    <a:moveTo>
                      <a:pt x="209" y="0"/>
                    </a:moveTo>
                    <a:lnTo>
                      <a:pt x="0" y="10"/>
                    </a:lnTo>
                    <a:lnTo>
                      <a:pt x="0" y="26"/>
                    </a:lnTo>
                    <a:lnTo>
                      <a:pt x="209" y="34"/>
                    </a:lnTo>
                    <a:lnTo>
                      <a:pt x="209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2308" name="Rectangle 990"/>
            <p:cNvSpPr>
              <a:spLocks noChangeArrowheads="1"/>
            </p:cNvSpPr>
            <p:nvPr/>
          </p:nvSpPr>
          <p:spPr bwMode="auto">
            <a:xfrm>
              <a:off x="3439" y="2687"/>
              <a:ext cx="317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Selection</a:t>
              </a:r>
              <a:endParaRPr lang="en-US" sz="1000" b="0">
                <a:latin typeface="Times New Roman" pitchFamily="18" charset="0"/>
              </a:endParaRPr>
            </a:p>
          </p:txBody>
        </p:sp>
        <p:sp>
          <p:nvSpPr>
            <p:cNvPr id="12309" name="Rectangle 991"/>
            <p:cNvSpPr>
              <a:spLocks noChangeArrowheads="1"/>
            </p:cNvSpPr>
            <p:nvPr/>
          </p:nvSpPr>
          <p:spPr bwMode="auto">
            <a:xfrm>
              <a:off x="2258" y="2721"/>
              <a:ext cx="592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Risk Assessment</a:t>
              </a:r>
              <a:endParaRPr lang="en-US" sz="1000" b="0">
                <a:latin typeface="Times New Roman" pitchFamily="18" charset="0"/>
              </a:endParaRPr>
            </a:p>
          </p:txBody>
        </p:sp>
        <p:grpSp>
          <p:nvGrpSpPr>
            <p:cNvPr id="12310" name="Group 992"/>
            <p:cNvGrpSpPr>
              <a:grpSpLocks/>
            </p:cNvGrpSpPr>
            <p:nvPr/>
          </p:nvGrpSpPr>
          <p:grpSpPr bwMode="auto">
            <a:xfrm>
              <a:off x="2372" y="2391"/>
              <a:ext cx="312" cy="302"/>
              <a:chOff x="2028" y="1892"/>
              <a:chExt cx="263" cy="282"/>
            </a:xfrm>
          </p:grpSpPr>
          <p:sp>
            <p:nvSpPr>
              <p:cNvPr id="12412" name="Freeform 993"/>
              <p:cNvSpPr>
                <a:spLocks/>
              </p:cNvSpPr>
              <p:nvPr/>
            </p:nvSpPr>
            <p:spPr bwMode="auto">
              <a:xfrm>
                <a:off x="2028" y="1892"/>
                <a:ext cx="263" cy="282"/>
              </a:xfrm>
              <a:custGeom>
                <a:avLst/>
                <a:gdLst>
                  <a:gd name="T0" fmla="*/ 24 w 263"/>
                  <a:gd name="T1" fmla="*/ 282 h 282"/>
                  <a:gd name="T2" fmla="*/ 239 w 263"/>
                  <a:gd name="T3" fmla="*/ 282 h 282"/>
                  <a:gd name="T4" fmla="*/ 239 w 263"/>
                  <a:gd name="T5" fmla="*/ 255 h 282"/>
                  <a:gd name="T6" fmla="*/ 263 w 263"/>
                  <a:gd name="T7" fmla="*/ 255 h 282"/>
                  <a:gd name="T8" fmla="*/ 263 w 263"/>
                  <a:gd name="T9" fmla="*/ 27 h 282"/>
                  <a:gd name="T10" fmla="*/ 239 w 263"/>
                  <a:gd name="T11" fmla="*/ 27 h 282"/>
                  <a:gd name="T12" fmla="*/ 239 w 263"/>
                  <a:gd name="T13" fmla="*/ 0 h 282"/>
                  <a:gd name="T14" fmla="*/ 24 w 263"/>
                  <a:gd name="T15" fmla="*/ 0 h 282"/>
                  <a:gd name="T16" fmla="*/ 24 w 263"/>
                  <a:gd name="T17" fmla="*/ 27 h 282"/>
                  <a:gd name="T18" fmla="*/ 0 w 263"/>
                  <a:gd name="T19" fmla="*/ 27 h 282"/>
                  <a:gd name="T20" fmla="*/ 0 w 263"/>
                  <a:gd name="T21" fmla="*/ 255 h 282"/>
                  <a:gd name="T22" fmla="*/ 24 w 263"/>
                  <a:gd name="T23" fmla="*/ 255 h 282"/>
                  <a:gd name="T24" fmla="*/ 24 w 263"/>
                  <a:gd name="T25" fmla="*/ 282 h 282"/>
                  <a:gd name="T26" fmla="*/ 24 w 263"/>
                  <a:gd name="T27" fmla="*/ 282 h 28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63"/>
                  <a:gd name="T43" fmla="*/ 0 h 282"/>
                  <a:gd name="T44" fmla="*/ 263 w 263"/>
                  <a:gd name="T45" fmla="*/ 282 h 28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63" h="282">
                    <a:moveTo>
                      <a:pt x="24" y="282"/>
                    </a:moveTo>
                    <a:lnTo>
                      <a:pt x="239" y="282"/>
                    </a:lnTo>
                    <a:lnTo>
                      <a:pt x="239" y="255"/>
                    </a:lnTo>
                    <a:lnTo>
                      <a:pt x="263" y="255"/>
                    </a:lnTo>
                    <a:lnTo>
                      <a:pt x="263" y="27"/>
                    </a:lnTo>
                    <a:lnTo>
                      <a:pt x="239" y="27"/>
                    </a:lnTo>
                    <a:lnTo>
                      <a:pt x="239" y="0"/>
                    </a:lnTo>
                    <a:lnTo>
                      <a:pt x="24" y="0"/>
                    </a:lnTo>
                    <a:lnTo>
                      <a:pt x="24" y="27"/>
                    </a:lnTo>
                    <a:lnTo>
                      <a:pt x="0" y="27"/>
                    </a:lnTo>
                    <a:lnTo>
                      <a:pt x="0" y="255"/>
                    </a:lnTo>
                    <a:lnTo>
                      <a:pt x="24" y="255"/>
                    </a:lnTo>
                    <a:lnTo>
                      <a:pt x="24" y="28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13" name="Freeform 994"/>
              <p:cNvSpPr>
                <a:spLocks/>
              </p:cNvSpPr>
              <p:nvPr/>
            </p:nvSpPr>
            <p:spPr bwMode="auto">
              <a:xfrm>
                <a:off x="2028" y="1892"/>
                <a:ext cx="263" cy="282"/>
              </a:xfrm>
              <a:custGeom>
                <a:avLst/>
                <a:gdLst>
                  <a:gd name="T0" fmla="*/ 24 w 263"/>
                  <a:gd name="T1" fmla="*/ 282 h 282"/>
                  <a:gd name="T2" fmla="*/ 239 w 263"/>
                  <a:gd name="T3" fmla="*/ 282 h 282"/>
                  <a:gd name="T4" fmla="*/ 239 w 263"/>
                  <a:gd name="T5" fmla="*/ 255 h 282"/>
                  <a:gd name="T6" fmla="*/ 263 w 263"/>
                  <a:gd name="T7" fmla="*/ 255 h 282"/>
                  <a:gd name="T8" fmla="*/ 263 w 263"/>
                  <a:gd name="T9" fmla="*/ 27 h 282"/>
                  <a:gd name="T10" fmla="*/ 239 w 263"/>
                  <a:gd name="T11" fmla="*/ 27 h 282"/>
                  <a:gd name="T12" fmla="*/ 239 w 263"/>
                  <a:gd name="T13" fmla="*/ 0 h 282"/>
                  <a:gd name="T14" fmla="*/ 24 w 263"/>
                  <a:gd name="T15" fmla="*/ 0 h 282"/>
                  <a:gd name="T16" fmla="*/ 24 w 263"/>
                  <a:gd name="T17" fmla="*/ 27 h 282"/>
                  <a:gd name="T18" fmla="*/ 0 w 263"/>
                  <a:gd name="T19" fmla="*/ 27 h 282"/>
                  <a:gd name="T20" fmla="*/ 0 w 263"/>
                  <a:gd name="T21" fmla="*/ 255 h 282"/>
                  <a:gd name="T22" fmla="*/ 24 w 263"/>
                  <a:gd name="T23" fmla="*/ 255 h 282"/>
                  <a:gd name="T24" fmla="*/ 24 w 263"/>
                  <a:gd name="T25" fmla="*/ 282 h 28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63"/>
                  <a:gd name="T40" fmla="*/ 0 h 282"/>
                  <a:gd name="T41" fmla="*/ 263 w 263"/>
                  <a:gd name="T42" fmla="*/ 282 h 28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63" h="282">
                    <a:moveTo>
                      <a:pt x="24" y="282"/>
                    </a:moveTo>
                    <a:lnTo>
                      <a:pt x="239" y="282"/>
                    </a:lnTo>
                    <a:lnTo>
                      <a:pt x="239" y="255"/>
                    </a:lnTo>
                    <a:lnTo>
                      <a:pt x="263" y="255"/>
                    </a:lnTo>
                    <a:lnTo>
                      <a:pt x="263" y="27"/>
                    </a:lnTo>
                    <a:lnTo>
                      <a:pt x="239" y="27"/>
                    </a:lnTo>
                    <a:lnTo>
                      <a:pt x="239" y="0"/>
                    </a:lnTo>
                    <a:lnTo>
                      <a:pt x="24" y="0"/>
                    </a:lnTo>
                    <a:lnTo>
                      <a:pt x="24" y="27"/>
                    </a:lnTo>
                    <a:lnTo>
                      <a:pt x="0" y="27"/>
                    </a:lnTo>
                    <a:lnTo>
                      <a:pt x="0" y="255"/>
                    </a:lnTo>
                    <a:lnTo>
                      <a:pt x="24" y="255"/>
                    </a:lnTo>
                    <a:lnTo>
                      <a:pt x="24" y="28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14" name="Line 995"/>
              <p:cNvSpPr>
                <a:spLocks noChangeShapeType="1"/>
              </p:cNvSpPr>
              <p:nvPr/>
            </p:nvSpPr>
            <p:spPr bwMode="auto">
              <a:xfrm>
                <a:off x="2086" y="1914"/>
                <a:ext cx="17" cy="32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15" name="Line 996"/>
              <p:cNvSpPr>
                <a:spLocks noChangeShapeType="1"/>
              </p:cNvSpPr>
              <p:nvPr/>
            </p:nvSpPr>
            <p:spPr bwMode="auto">
              <a:xfrm>
                <a:off x="2053" y="1942"/>
                <a:ext cx="29" cy="25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16" name="Line 997"/>
              <p:cNvSpPr>
                <a:spLocks noChangeShapeType="1"/>
              </p:cNvSpPr>
              <p:nvPr/>
            </p:nvSpPr>
            <p:spPr bwMode="auto">
              <a:xfrm flipV="1">
                <a:off x="2041" y="2030"/>
                <a:ext cx="34" cy="3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17" name="Line 998"/>
              <p:cNvSpPr>
                <a:spLocks noChangeShapeType="1"/>
              </p:cNvSpPr>
              <p:nvPr/>
            </p:nvSpPr>
            <p:spPr bwMode="auto">
              <a:xfrm flipH="1">
                <a:off x="2054" y="2069"/>
                <a:ext cx="37" cy="37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18" name="Line 999"/>
              <p:cNvSpPr>
                <a:spLocks noChangeShapeType="1"/>
              </p:cNvSpPr>
              <p:nvPr/>
            </p:nvSpPr>
            <p:spPr bwMode="auto">
              <a:xfrm flipH="1">
                <a:off x="2169" y="1903"/>
                <a:ext cx="2" cy="28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19" name="Line 1000"/>
              <p:cNvSpPr>
                <a:spLocks noChangeShapeType="1"/>
              </p:cNvSpPr>
              <p:nvPr/>
            </p:nvSpPr>
            <p:spPr bwMode="auto">
              <a:xfrm flipH="1">
                <a:off x="2218" y="1916"/>
                <a:ext cx="28" cy="36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20" name="Line 1001"/>
              <p:cNvSpPr>
                <a:spLocks noChangeShapeType="1"/>
              </p:cNvSpPr>
              <p:nvPr/>
            </p:nvSpPr>
            <p:spPr bwMode="auto">
              <a:xfrm flipV="1">
                <a:off x="2241" y="2006"/>
                <a:ext cx="40" cy="6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21" name="Line 1002"/>
              <p:cNvSpPr>
                <a:spLocks noChangeShapeType="1"/>
              </p:cNvSpPr>
              <p:nvPr/>
            </p:nvSpPr>
            <p:spPr bwMode="auto">
              <a:xfrm>
                <a:off x="2231" y="2061"/>
                <a:ext cx="34" cy="40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22" name="Line 1003"/>
              <p:cNvSpPr>
                <a:spLocks noChangeShapeType="1"/>
              </p:cNvSpPr>
              <p:nvPr/>
            </p:nvSpPr>
            <p:spPr bwMode="auto">
              <a:xfrm>
                <a:off x="2241" y="2037"/>
                <a:ext cx="25" cy="7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23" name="Line 1004"/>
              <p:cNvSpPr>
                <a:spLocks noChangeShapeType="1"/>
              </p:cNvSpPr>
              <p:nvPr/>
            </p:nvSpPr>
            <p:spPr bwMode="auto">
              <a:xfrm flipH="1">
                <a:off x="2060" y="2049"/>
                <a:ext cx="16" cy="7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24" name="Line 1005"/>
              <p:cNvSpPr>
                <a:spLocks noChangeShapeType="1"/>
              </p:cNvSpPr>
              <p:nvPr/>
            </p:nvSpPr>
            <p:spPr bwMode="auto">
              <a:xfrm flipV="1">
                <a:off x="2192" y="1917"/>
                <a:ext cx="6" cy="15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25" name="Freeform 1006"/>
              <p:cNvSpPr>
                <a:spLocks/>
              </p:cNvSpPr>
              <p:nvPr/>
            </p:nvSpPr>
            <p:spPr bwMode="auto">
              <a:xfrm>
                <a:off x="2096" y="2125"/>
                <a:ext cx="127" cy="39"/>
              </a:xfrm>
              <a:custGeom>
                <a:avLst/>
                <a:gdLst>
                  <a:gd name="T0" fmla="*/ 64 w 127"/>
                  <a:gd name="T1" fmla="*/ 39 h 39"/>
                  <a:gd name="T2" fmla="*/ 70 w 127"/>
                  <a:gd name="T3" fmla="*/ 39 h 39"/>
                  <a:gd name="T4" fmla="*/ 76 w 127"/>
                  <a:gd name="T5" fmla="*/ 38 h 39"/>
                  <a:gd name="T6" fmla="*/ 82 w 127"/>
                  <a:gd name="T7" fmla="*/ 38 h 39"/>
                  <a:gd name="T8" fmla="*/ 89 w 127"/>
                  <a:gd name="T9" fmla="*/ 37 h 39"/>
                  <a:gd name="T10" fmla="*/ 95 w 127"/>
                  <a:gd name="T11" fmla="*/ 36 h 39"/>
                  <a:gd name="T12" fmla="*/ 100 w 127"/>
                  <a:gd name="T13" fmla="*/ 34 h 39"/>
                  <a:gd name="T14" fmla="*/ 107 w 127"/>
                  <a:gd name="T15" fmla="*/ 33 h 39"/>
                  <a:gd name="T16" fmla="*/ 112 w 127"/>
                  <a:gd name="T17" fmla="*/ 31 h 39"/>
                  <a:gd name="T18" fmla="*/ 117 w 127"/>
                  <a:gd name="T19" fmla="*/ 28 h 39"/>
                  <a:gd name="T20" fmla="*/ 123 w 127"/>
                  <a:gd name="T21" fmla="*/ 25 h 39"/>
                  <a:gd name="T22" fmla="*/ 124 w 127"/>
                  <a:gd name="T23" fmla="*/ 24 h 39"/>
                  <a:gd name="T24" fmla="*/ 126 w 127"/>
                  <a:gd name="T25" fmla="*/ 22 h 39"/>
                  <a:gd name="T26" fmla="*/ 127 w 127"/>
                  <a:gd name="T27" fmla="*/ 19 h 39"/>
                  <a:gd name="T28" fmla="*/ 127 w 127"/>
                  <a:gd name="T29" fmla="*/ 15 h 39"/>
                  <a:gd name="T30" fmla="*/ 127 w 127"/>
                  <a:gd name="T31" fmla="*/ 11 h 39"/>
                  <a:gd name="T32" fmla="*/ 126 w 127"/>
                  <a:gd name="T33" fmla="*/ 7 h 39"/>
                  <a:gd name="T34" fmla="*/ 125 w 127"/>
                  <a:gd name="T35" fmla="*/ 4 h 39"/>
                  <a:gd name="T36" fmla="*/ 122 w 127"/>
                  <a:gd name="T37" fmla="*/ 1 h 39"/>
                  <a:gd name="T38" fmla="*/ 119 w 127"/>
                  <a:gd name="T39" fmla="*/ 0 h 39"/>
                  <a:gd name="T40" fmla="*/ 113 w 127"/>
                  <a:gd name="T41" fmla="*/ 0 h 39"/>
                  <a:gd name="T42" fmla="*/ 14 w 127"/>
                  <a:gd name="T43" fmla="*/ 0 h 39"/>
                  <a:gd name="T44" fmla="*/ 8 w 127"/>
                  <a:gd name="T45" fmla="*/ 0 h 39"/>
                  <a:gd name="T46" fmla="*/ 5 w 127"/>
                  <a:gd name="T47" fmla="*/ 1 h 39"/>
                  <a:gd name="T48" fmla="*/ 2 w 127"/>
                  <a:gd name="T49" fmla="*/ 4 h 39"/>
                  <a:gd name="T50" fmla="*/ 1 w 127"/>
                  <a:gd name="T51" fmla="*/ 7 h 39"/>
                  <a:gd name="T52" fmla="*/ 0 w 127"/>
                  <a:gd name="T53" fmla="*/ 11 h 39"/>
                  <a:gd name="T54" fmla="*/ 0 w 127"/>
                  <a:gd name="T55" fmla="*/ 15 h 39"/>
                  <a:gd name="T56" fmla="*/ 1 w 127"/>
                  <a:gd name="T57" fmla="*/ 19 h 39"/>
                  <a:gd name="T58" fmla="*/ 2 w 127"/>
                  <a:gd name="T59" fmla="*/ 22 h 39"/>
                  <a:gd name="T60" fmla="*/ 3 w 127"/>
                  <a:gd name="T61" fmla="*/ 24 h 39"/>
                  <a:gd name="T62" fmla="*/ 4 w 127"/>
                  <a:gd name="T63" fmla="*/ 25 h 39"/>
                  <a:gd name="T64" fmla="*/ 10 w 127"/>
                  <a:gd name="T65" fmla="*/ 28 h 39"/>
                  <a:gd name="T66" fmla="*/ 15 w 127"/>
                  <a:gd name="T67" fmla="*/ 31 h 39"/>
                  <a:gd name="T68" fmla="*/ 20 w 127"/>
                  <a:gd name="T69" fmla="*/ 33 h 39"/>
                  <a:gd name="T70" fmla="*/ 27 w 127"/>
                  <a:gd name="T71" fmla="*/ 34 h 39"/>
                  <a:gd name="T72" fmla="*/ 32 w 127"/>
                  <a:gd name="T73" fmla="*/ 36 h 39"/>
                  <a:gd name="T74" fmla="*/ 38 w 127"/>
                  <a:gd name="T75" fmla="*/ 37 h 39"/>
                  <a:gd name="T76" fmla="*/ 45 w 127"/>
                  <a:gd name="T77" fmla="*/ 38 h 39"/>
                  <a:gd name="T78" fmla="*/ 50 w 127"/>
                  <a:gd name="T79" fmla="*/ 38 h 39"/>
                  <a:gd name="T80" fmla="*/ 58 w 127"/>
                  <a:gd name="T81" fmla="*/ 39 h 39"/>
                  <a:gd name="T82" fmla="*/ 64 w 127"/>
                  <a:gd name="T83" fmla="*/ 39 h 3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27"/>
                  <a:gd name="T127" fmla="*/ 0 h 39"/>
                  <a:gd name="T128" fmla="*/ 127 w 127"/>
                  <a:gd name="T129" fmla="*/ 39 h 3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27" h="39">
                    <a:moveTo>
                      <a:pt x="64" y="39"/>
                    </a:moveTo>
                    <a:lnTo>
                      <a:pt x="70" y="39"/>
                    </a:lnTo>
                    <a:lnTo>
                      <a:pt x="76" y="38"/>
                    </a:lnTo>
                    <a:lnTo>
                      <a:pt x="82" y="38"/>
                    </a:lnTo>
                    <a:lnTo>
                      <a:pt x="89" y="37"/>
                    </a:lnTo>
                    <a:lnTo>
                      <a:pt x="95" y="36"/>
                    </a:lnTo>
                    <a:lnTo>
                      <a:pt x="100" y="34"/>
                    </a:lnTo>
                    <a:lnTo>
                      <a:pt x="107" y="33"/>
                    </a:lnTo>
                    <a:lnTo>
                      <a:pt x="112" y="31"/>
                    </a:lnTo>
                    <a:lnTo>
                      <a:pt x="117" y="28"/>
                    </a:lnTo>
                    <a:lnTo>
                      <a:pt x="123" y="25"/>
                    </a:lnTo>
                    <a:lnTo>
                      <a:pt x="124" y="24"/>
                    </a:lnTo>
                    <a:lnTo>
                      <a:pt x="126" y="22"/>
                    </a:lnTo>
                    <a:lnTo>
                      <a:pt x="127" y="19"/>
                    </a:lnTo>
                    <a:lnTo>
                      <a:pt x="127" y="15"/>
                    </a:lnTo>
                    <a:lnTo>
                      <a:pt x="127" y="11"/>
                    </a:lnTo>
                    <a:lnTo>
                      <a:pt x="126" y="7"/>
                    </a:lnTo>
                    <a:lnTo>
                      <a:pt x="125" y="4"/>
                    </a:lnTo>
                    <a:lnTo>
                      <a:pt x="122" y="1"/>
                    </a:lnTo>
                    <a:lnTo>
                      <a:pt x="119" y="0"/>
                    </a:lnTo>
                    <a:lnTo>
                      <a:pt x="113" y="0"/>
                    </a:lnTo>
                    <a:lnTo>
                      <a:pt x="14" y="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1" y="19"/>
                    </a:lnTo>
                    <a:lnTo>
                      <a:pt x="2" y="22"/>
                    </a:lnTo>
                    <a:lnTo>
                      <a:pt x="3" y="24"/>
                    </a:lnTo>
                    <a:lnTo>
                      <a:pt x="4" y="25"/>
                    </a:lnTo>
                    <a:lnTo>
                      <a:pt x="10" y="28"/>
                    </a:lnTo>
                    <a:lnTo>
                      <a:pt x="15" y="31"/>
                    </a:lnTo>
                    <a:lnTo>
                      <a:pt x="20" y="33"/>
                    </a:lnTo>
                    <a:lnTo>
                      <a:pt x="27" y="34"/>
                    </a:lnTo>
                    <a:lnTo>
                      <a:pt x="32" y="36"/>
                    </a:lnTo>
                    <a:lnTo>
                      <a:pt x="38" y="37"/>
                    </a:lnTo>
                    <a:lnTo>
                      <a:pt x="45" y="38"/>
                    </a:lnTo>
                    <a:lnTo>
                      <a:pt x="50" y="38"/>
                    </a:lnTo>
                    <a:lnTo>
                      <a:pt x="58" y="39"/>
                    </a:lnTo>
                    <a:lnTo>
                      <a:pt x="64" y="3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26" name="Freeform 1007"/>
              <p:cNvSpPr>
                <a:spLocks/>
              </p:cNvSpPr>
              <p:nvPr/>
            </p:nvSpPr>
            <p:spPr bwMode="auto">
              <a:xfrm>
                <a:off x="2096" y="2125"/>
                <a:ext cx="127" cy="39"/>
              </a:xfrm>
              <a:custGeom>
                <a:avLst/>
                <a:gdLst>
                  <a:gd name="T0" fmla="*/ 64 w 127"/>
                  <a:gd name="T1" fmla="*/ 39 h 39"/>
                  <a:gd name="T2" fmla="*/ 70 w 127"/>
                  <a:gd name="T3" fmla="*/ 39 h 39"/>
                  <a:gd name="T4" fmla="*/ 76 w 127"/>
                  <a:gd name="T5" fmla="*/ 38 h 39"/>
                  <a:gd name="T6" fmla="*/ 82 w 127"/>
                  <a:gd name="T7" fmla="*/ 38 h 39"/>
                  <a:gd name="T8" fmla="*/ 89 w 127"/>
                  <a:gd name="T9" fmla="*/ 37 h 39"/>
                  <a:gd name="T10" fmla="*/ 95 w 127"/>
                  <a:gd name="T11" fmla="*/ 36 h 39"/>
                  <a:gd name="T12" fmla="*/ 100 w 127"/>
                  <a:gd name="T13" fmla="*/ 34 h 39"/>
                  <a:gd name="T14" fmla="*/ 107 w 127"/>
                  <a:gd name="T15" fmla="*/ 33 h 39"/>
                  <a:gd name="T16" fmla="*/ 112 w 127"/>
                  <a:gd name="T17" fmla="*/ 31 h 39"/>
                  <a:gd name="T18" fmla="*/ 117 w 127"/>
                  <a:gd name="T19" fmla="*/ 28 h 39"/>
                  <a:gd name="T20" fmla="*/ 123 w 127"/>
                  <a:gd name="T21" fmla="*/ 25 h 39"/>
                  <a:gd name="T22" fmla="*/ 124 w 127"/>
                  <a:gd name="T23" fmla="*/ 24 h 39"/>
                  <a:gd name="T24" fmla="*/ 126 w 127"/>
                  <a:gd name="T25" fmla="*/ 22 h 39"/>
                  <a:gd name="T26" fmla="*/ 127 w 127"/>
                  <a:gd name="T27" fmla="*/ 19 h 39"/>
                  <a:gd name="T28" fmla="*/ 127 w 127"/>
                  <a:gd name="T29" fmla="*/ 15 h 39"/>
                  <a:gd name="T30" fmla="*/ 127 w 127"/>
                  <a:gd name="T31" fmla="*/ 11 h 39"/>
                  <a:gd name="T32" fmla="*/ 126 w 127"/>
                  <a:gd name="T33" fmla="*/ 7 h 39"/>
                  <a:gd name="T34" fmla="*/ 125 w 127"/>
                  <a:gd name="T35" fmla="*/ 4 h 39"/>
                  <a:gd name="T36" fmla="*/ 122 w 127"/>
                  <a:gd name="T37" fmla="*/ 1 h 39"/>
                  <a:gd name="T38" fmla="*/ 119 w 127"/>
                  <a:gd name="T39" fmla="*/ 0 h 39"/>
                  <a:gd name="T40" fmla="*/ 113 w 127"/>
                  <a:gd name="T41" fmla="*/ 0 h 39"/>
                  <a:gd name="T42" fmla="*/ 14 w 127"/>
                  <a:gd name="T43" fmla="*/ 0 h 39"/>
                  <a:gd name="T44" fmla="*/ 8 w 127"/>
                  <a:gd name="T45" fmla="*/ 0 h 39"/>
                  <a:gd name="T46" fmla="*/ 5 w 127"/>
                  <a:gd name="T47" fmla="*/ 1 h 39"/>
                  <a:gd name="T48" fmla="*/ 2 w 127"/>
                  <a:gd name="T49" fmla="*/ 4 h 39"/>
                  <a:gd name="T50" fmla="*/ 1 w 127"/>
                  <a:gd name="T51" fmla="*/ 7 h 39"/>
                  <a:gd name="T52" fmla="*/ 0 w 127"/>
                  <a:gd name="T53" fmla="*/ 11 h 39"/>
                  <a:gd name="T54" fmla="*/ 0 w 127"/>
                  <a:gd name="T55" fmla="*/ 15 h 39"/>
                  <a:gd name="T56" fmla="*/ 1 w 127"/>
                  <a:gd name="T57" fmla="*/ 19 h 39"/>
                  <a:gd name="T58" fmla="*/ 2 w 127"/>
                  <a:gd name="T59" fmla="*/ 22 h 39"/>
                  <a:gd name="T60" fmla="*/ 3 w 127"/>
                  <a:gd name="T61" fmla="*/ 24 h 39"/>
                  <a:gd name="T62" fmla="*/ 4 w 127"/>
                  <a:gd name="T63" fmla="*/ 25 h 39"/>
                  <a:gd name="T64" fmla="*/ 10 w 127"/>
                  <a:gd name="T65" fmla="*/ 28 h 39"/>
                  <a:gd name="T66" fmla="*/ 15 w 127"/>
                  <a:gd name="T67" fmla="*/ 31 h 39"/>
                  <a:gd name="T68" fmla="*/ 20 w 127"/>
                  <a:gd name="T69" fmla="*/ 33 h 39"/>
                  <a:gd name="T70" fmla="*/ 27 w 127"/>
                  <a:gd name="T71" fmla="*/ 34 h 39"/>
                  <a:gd name="T72" fmla="*/ 32 w 127"/>
                  <a:gd name="T73" fmla="*/ 36 h 39"/>
                  <a:gd name="T74" fmla="*/ 38 w 127"/>
                  <a:gd name="T75" fmla="*/ 37 h 39"/>
                  <a:gd name="T76" fmla="*/ 45 w 127"/>
                  <a:gd name="T77" fmla="*/ 38 h 39"/>
                  <a:gd name="T78" fmla="*/ 50 w 127"/>
                  <a:gd name="T79" fmla="*/ 38 h 39"/>
                  <a:gd name="T80" fmla="*/ 58 w 127"/>
                  <a:gd name="T81" fmla="*/ 39 h 39"/>
                  <a:gd name="T82" fmla="*/ 64 w 127"/>
                  <a:gd name="T83" fmla="*/ 39 h 3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27"/>
                  <a:gd name="T127" fmla="*/ 0 h 39"/>
                  <a:gd name="T128" fmla="*/ 127 w 127"/>
                  <a:gd name="T129" fmla="*/ 39 h 3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27" h="39">
                    <a:moveTo>
                      <a:pt x="64" y="39"/>
                    </a:moveTo>
                    <a:lnTo>
                      <a:pt x="70" y="39"/>
                    </a:lnTo>
                    <a:lnTo>
                      <a:pt x="76" y="38"/>
                    </a:lnTo>
                    <a:lnTo>
                      <a:pt x="82" y="38"/>
                    </a:lnTo>
                    <a:lnTo>
                      <a:pt x="89" y="37"/>
                    </a:lnTo>
                    <a:lnTo>
                      <a:pt x="95" y="36"/>
                    </a:lnTo>
                    <a:lnTo>
                      <a:pt x="100" y="34"/>
                    </a:lnTo>
                    <a:lnTo>
                      <a:pt x="107" y="33"/>
                    </a:lnTo>
                    <a:lnTo>
                      <a:pt x="112" y="31"/>
                    </a:lnTo>
                    <a:lnTo>
                      <a:pt x="117" y="28"/>
                    </a:lnTo>
                    <a:lnTo>
                      <a:pt x="123" y="25"/>
                    </a:lnTo>
                    <a:lnTo>
                      <a:pt x="124" y="24"/>
                    </a:lnTo>
                    <a:lnTo>
                      <a:pt x="126" y="22"/>
                    </a:lnTo>
                    <a:lnTo>
                      <a:pt x="127" y="19"/>
                    </a:lnTo>
                    <a:lnTo>
                      <a:pt x="127" y="15"/>
                    </a:lnTo>
                    <a:lnTo>
                      <a:pt x="127" y="11"/>
                    </a:lnTo>
                    <a:lnTo>
                      <a:pt x="126" y="7"/>
                    </a:lnTo>
                    <a:lnTo>
                      <a:pt x="125" y="4"/>
                    </a:lnTo>
                    <a:lnTo>
                      <a:pt x="122" y="1"/>
                    </a:lnTo>
                    <a:lnTo>
                      <a:pt x="119" y="0"/>
                    </a:lnTo>
                    <a:lnTo>
                      <a:pt x="113" y="0"/>
                    </a:lnTo>
                    <a:lnTo>
                      <a:pt x="14" y="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1" y="19"/>
                    </a:lnTo>
                    <a:lnTo>
                      <a:pt x="2" y="22"/>
                    </a:lnTo>
                    <a:lnTo>
                      <a:pt x="3" y="24"/>
                    </a:lnTo>
                    <a:lnTo>
                      <a:pt x="4" y="25"/>
                    </a:lnTo>
                    <a:lnTo>
                      <a:pt x="10" y="28"/>
                    </a:lnTo>
                    <a:lnTo>
                      <a:pt x="15" y="31"/>
                    </a:lnTo>
                    <a:lnTo>
                      <a:pt x="20" y="33"/>
                    </a:lnTo>
                    <a:lnTo>
                      <a:pt x="27" y="34"/>
                    </a:lnTo>
                    <a:lnTo>
                      <a:pt x="32" y="36"/>
                    </a:lnTo>
                    <a:lnTo>
                      <a:pt x="38" y="37"/>
                    </a:lnTo>
                    <a:lnTo>
                      <a:pt x="45" y="38"/>
                    </a:lnTo>
                    <a:lnTo>
                      <a:pt x="50" y="38"/>
                    </a:lnTo>
                    <a:lnTo>
                      <a:pt x="58" y="39"/>
                    </a:lnTo>
                    <a:lnTo>
                      <a:pt x="64" y="39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27" name="Freeform 1008"/>
              <p:cNvSpPr>
                <a:spLocks/>
              </p:cNvSpPr>
              <p:nvPr/>
            </p:nvSpPr>
            <p:spPr bwMode="auto">
              <a:xfrm>
                <a:off x="2103" y="2093"/>
                <a:ext cx="113" cy="49"/>
              </a:xfrm>
              <a:custGeom>
                <a:avLst/>
                <a:gdLst>
                  <a:gd name="T0" fmla="*/ 56 w 113"/>
                  <a:gd name="T1" fmla="*/ 49 h 49"/>
                  <a:gd name="T2" fmla="*/ 62 w 113"/>
                  <a:gd name="T3" fmla="*/ 49 h 49"/>
                  <a:gd name="T4" fmla="*/ 69 w 113"/>
                  <a:gd name="T5" fmla="*/ 48 h 49"/>
                  <a:gd name="T6" fmla="*/ 74 w 113"/>
                  <a:gd name="T7" fmla="*/ 48 h 49"/>
                  <a:gd name="T8" fmla="*/ 79 w 113"/>
                  <a:gd name="T9" fmla="*/ 47 h 49"/>
                  <a:gd name="T10" fmla="*/ 85 w 113"/>
                  <a:gd name="T11" fmla="*/ 46 h 49"/>
                  <a:gd name="T12" fmla="*/ 90 w 113"/>
                  <a:gd name="T13" fmla="*/ 43 h 49"/>
                  <a:gd name="T14" fmla="*/ 95 w 113"/>
                  <a:gd name="T15" fmla="*/ 41 h 49"/>
                  <a:gd name="T16" fmla="*/ 101 w 113"/>
                  <a:gd name="T17" fmla="*/ 39 h 49"/>
                  <a:gd name="T18" fmla="*/ 105 w 113"/>
                  <a:gd name="T19" fmla="*/ 37 h 49"/>
                  <a:gd name="T20" fmla="*/ 109 w 113"/>
                  <a:gd name="T21" fmla="*/ 35 h 49"/>
                  <a:gd name="T22" fmla="*/ 112 w 113"/>
                  <a:gd name="T23" fmla="*/ 33 h 49"/>
                  <a:gd name="T24" fmla="*/ 113 w 113"/>
                  <a:gd name="T25" fmla="*/ 29 h 49"/>
                  <a:gd name="T26" fmla="*/ 113 w 113"/>
                  <a:gd name="T27" fmla="*/ 24 h 49"/>
                  <a:gd name="T28" fmla="*/ 112 w 113"/>
                  <a:gd name="T29" fmla="*/ 19 h 49"/>
                  <a:gd name="T30" fmla="*/ 110 w 113"/>
                  <a:gd name="T31" fmla="*/ 14 h 49"/>
                  <a:gd name="T32" fmla="*/ 109 w 113"/>
                  <a:gd name="T33" fmla="*/ 8 h 49"/>
                  <a:gd name="T34" fmla="*/ 107 w 113"/>
                  <a:gd name="T35" fmla="*/ 4 h 49"/>
                  <a:gd name="T36" fmla="*/ 104 w 113"/>
                  <a:gd name="T37" fmla="*/ 1 h 49"/>
                  <a:gd name="T38" fmla="*/ 101 w 113"/>
                  <a:gd name="T39" fmla="*/ 0 h 49"/>
                  <a:gd name="T40" fmla="*/ 97 w 113"/>
                  <a:gd name="T41" fmla="*/ 1 h 49"/>
                  <a:gd name="T42" fmla="*/ 16 w 113"/>
                  <a:gd name="T43" fmla="*/ 1 h 49"/>
                  <a:gd name="T44" fmla="*/ 12 w 113"/>
                  <a:gd name="T45" fmla="*/ 0 h 49"/>
                  <a:gd name="T46" fmla="*/ 9 w 113"/>
                  <a:gd name="T47" fmla="*/ 1 h 49"/>
                  <a:gd name="T48" fmla="*/ 6 w 113"/>
                  <a:gd name="T49" fmla="*/ 4 h 49"/>
                  <a:gd name="T50" fmla="*/ 4 w 113"/>
                  <a:gd name="T51" fmla="*/ 8 h 49"/>
                  <a:gd name="T52" fmla="*/ 3 w 113"/>
                  <a:gd name="T53" fmla="*/ 14 h 49"/>
                  <a:gd name="T54" fmla="*/ 0 w 113"/>
                  <a:gd name="T55" fmla="*/ 19 h 49"/>
                  <a:gd name="T56" fmla="*/ 0 w 113"/>
                  <a:gd name="T57" fmla="*/ 24 h 49"/>
                  <a:gd name="T58" fmla="*/ 0 w 113"/>
                  <a:gd name="T59" fmla="*/ 29 h 49"/>
                  <a:gd name="T60" fmla="*/ 1 w 113"/>
                  <a:gd name="T61" fmla="*/ 33 h 49"/>
                  <a:gd name="T62" fmla="*/ 4 w 113"/>
                  <a:gd name="T63" fmla="*/ 35 h 49"/>
                  <a:gd name="T64" fmla="*/ 8 w 113"/>
                  <a:gd name="T65" fmla="*/ 37 h 49"/>
                  <a:gd name="T66" fmla="*/ 12 w 113"/>
                  <a:gd name="T67" fmla="*/ 39 h 49"/>
                  <a:gd name="T68" fmla="*/ 17 w 113"/>
                  <a:gd name="T69" fmla="*/ 41 h 49"/>
                  <a:gd name="T70" fmla="*/ 23 w 113"/>
                  <a:gd name="T71" fmla="*/ 43 h 49"/>
                  <a:gd name="T72" fmla="*/ 28 w 113"/>
                  <a:gd name="T73" fmla="*/ 46 h 49"/>
                  <a:gd name="T74" fmla="*/ 34 w 113"/>
                  <a:gd name="T75" fmla="*/ 47 h 49"/>
                  <a:gd name="T76" fmla="*/ 39 w 113"/>
                  <a:gd name="T77" fmla="*/ 48 h 49"/>
                  <a:gd name="T78" fmla="*/ 44 w 113"/>
                  <a:gd name="T79" fmla="*/ 48 h 49"/>
                  <a:gd name="T80" fmla="*/ 51 w 113"/>
                  <a:gd name="T81" fmla="*/ 49 h 49"/>
                  <a:gd name="T82" fmla="*/ 56 w 113"/>
                  <a:gd name="T83" fmla="*/ 49 h 4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13"/>
                  <a:gd name="T127" fmla="*/ 0 h 49"/>
                  <a:gd name="T128" fmla="*/ 113 w 113"/>
                  <a:gd name="T129" fmla="*/ 49 h 4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13" h="49">
                    <a:moveTo>
                      <a:pt x="56" y="49"/>
                    </a:moveTo>
                    <a:lnTo>
                      <a:pt x="62" y="49"/>
                    </a:lnTo>
                    <a:lnTo>
                      <a:pt x="69" y="48"/>
                    </a:lnTo>
                    <a:lnTo>
                      <a:pt x="74" y="48"/>
                    </a:lnTo>
                    <a:lnTo>
                      <a:pt x="79" y="47"/>
                    </a:lnTo>
                    <a:lnTo>
                      <a:pt x="85" y="46"/>
                    </a:lnTo>
                    <a:lnTo>
                      <a:pt x="90" y="43"/>
                    </a:lnTo>
                    <a:lnTo>
                      <a:pt x="95" y="41"/>
                    </a:lnTo>
                    <a:lnTo>
                      <a:pt x="101" y="39"/>
                    </a:lnTo>
                    <a:lnTo>
                      <a:pt x="105" y="37"/>
                    </a:lnTo>
                    <a:lnTo>
                      <a:pt x="109" y="35"/>
                    </a:lnTo>
                    <a:lnTo>
                      <a:pt x="112" y="33"/>
                    </a:lnTo>
                    <a:lnTo>
                      <a:pt x="113" y="29"/>
                    </a:lnTo>
                    <a:lnTo>
                      <a:pt x="113" y="24"/>
                    </a:lnTo>
                    <a:lnTo>
                      <a:pt x="112" y="19"/>
                    </a:lnTo>
                    <a:lnTo>
                      <a:pt x="110" y="14"/>
                    </a:lnTo>
                    <a:lnTo>
                      <a:pt x="109" y="8"/>
                    </a:lnTo>
                    <a:lnTo>
                      <a:pt x="107" y="4"/>
                    </a:lnTo>
                    <a:lnTo>
                      <a:pt x="104" y="1"/>
                    </a:lnTo>
                    <a:lnTo>
                      <a:pt x="101" y="0"/>
                    </a:lnTo>
                    <a:lnTo>
                      <a:pt x="97" y="1"/>
                    </a:lnTo>
                    <a:lnTo>
                      <a:pt x="16" y="1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4"/>
                    </a:lnTo>
                    <a:lnTo>
                      <a:pt x="4" y="8"/>
                    </a:lnTo>
                    <a:lnTo>
                      <a:pt x="3" y="14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0" y="29"/>
                    </a:lnTo>
                    <a:lnTo>
                      <a:pt x="1" y="33"/>
                    </a:lnTo>
                    <a:lnTo>
                      <a:pt x="4" y="35"/>
                    </a:lnTo>
                    <a:lnTo>
                      <a:pt x="8" y="37"/>
                    </a:lnTo>
                    <a:lnTo>
                      <a:pt x="12" y="39"/>
                    </a:lnTo>
                    <a:lnTo>
                      <a:pt x="17" y="41"/>
                    </a:lnTo>
                    <a:lnTo>
                      <a:pt x="23" y="43"/>
                    </a:lnTo>
                    <a:lnTo>
                      <a:pt x="28" y="46"/>
                    </a:lnTo>
                    <a:lnTo>
                      <a:pt x="34" y="47"/>
                    </a:lnTo>
                    <a:lnTo>
                      <a:pt x="39" y="48"/>
                    </a:lnTo>
                    <a:lnTo>
                      <a:pt x="44" y="48"/>
                    </a:lnTo>
                    <a:lnTo>
                      <a:pt x="51" y="49"/>
                    </a:lnTo>
                    <a:lnTo>
                      <a:pt x="56" y="4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28" name="Freeform 1009"/>
              <p:cNvSpPr>
                <a:spLocks/>
              </p:cNvSpPr>
              <p:nvPr/>
            </p:nvSpPr>
            <p:spPr bwMode="auto">
              <a:xfrm>
                <a:off x="2103" y="2093"/>
                <a:ext cx="113" cy="49"/>
              </a:xfrm>
              <a:custGeom>
                <a:avLst/>
                <a:gdLst>
                  <a:gd name="T0" fmla="*/ 56 w 113"/>
                  <a:gd name="T1" fmla="*/ 49 h 49"/>
                  <a:gd name="T2" fmla="*/ 62 w 113"/>
                  <a:gd name="T3" fmla="*/ 49 h 49"/>
                  <a:gd name="T4" fmla="*/ 69 w 113"/>
                  <a:gd name="T5" fmla="*/ 48 h 49"/>
                  <a:gd name="T6" fmla="*/ 74 w 113"/>
                  <a:gd name="T7" fmla="*/ 48 h 49"/>
                  <a:gd name="T8" fmla="*/ 79 w 113"/>
                  <a:gd name="T9" fmla="*/ 47 h 49"/>
                  <a:gd name="T10" fmla="*/ 85 w 113"/>
                  <a:gd name="T11" fmla="*/ 46 h 49"/>
                  <a:gd name="T12" fmla="*/ 90 w 113"/>
                  <a:gd name="T13" fmla="*/ 43 h 49"/>
                  <a:gd name="T14" fmla="*/ 95 w 113"/>
                  <a:gd name="T15" fmla="*/ 41 h 49"/>
                  <a:gd name="T16" fmla="*/ 101 w 113"/>
                  <a:gd name="T17" fmla="*/ 39 h 49"/>
                  <a:gd name="T18" fmla="*/ 105 w 113"/>
                  <a:gd name="T19" fmla="*/ 37 h 49"/>
                  <a:gd name="T20" fmla="*/ 109 w 113"/>
                  <a:gd name="T21" fmla="*/ 35 h 49"/>
                  <a:gd name="T22" fmla="*/ 112 w 113"/>
                  <a:gd name="T23" fmla="*/ 33 h 49"/>
                  <a:gd name="T24" fmla="*/ 113 w 113"/>
                  <a:gd name="T25" fmla="*/ 29 h 49"/>
                  <a:gd name="T26" fmla="*/ 113 w 113"/>
                  <a:gd name="T27" fmla="*/ 24 h 49"/>
                  <a:gd name="T28" fmla="*/ 112 w 113"/>
                  <a:gd name="T29" fmla="*/ 19 h 49"/>
                  <a:gd name="T30" fmla="*/ 110 w 113"/>
                  <a:gd name="T31" fmla="*/ 14 h 49"/>
                  <a:gd name="T32" fmla="*/ 109 w 113"/>
                  <a:gd name="T33" fmla="*/ 8 h 49"/>
                  <a:gd name="T34" fmla="*/ 107 w 113"/>
                  <a:gd name="T35" fmla="*/ 4 h 49"/>
                  <a:gd name="T36" fmla="*/ 104 w 113"/>
                  <a:gd name="T37" fmla="*/ 1 h 49"/>
                  <a:gd name="T38" fmla="*/ 101 w 113"/>
                  <a:gd name="T39" fmla="*/ 0 h 49"/>
                  <a:gd name="T40" fmla="*/ 97 w 113"/>
                  <a:gd name="T41" fmla="*/ 1 h 49"/>
                  <a:gd name="T42" fmla="*/ 16 w 113"/>
                  <a:gd name="T43" fmla="*/ 1 h 49"/>
                  <a:gd name="T44" fmla="*/ 12 w 113"/>
                  <a:gd name="T45" fmla="*/ 0 h 49"/>
                  <a:gd name="T46" fmla="*/ 9 w 113"/>
                  <a:gd name="T47" fmla="*/ 1 h 49"/>
                  <a:gd name="T48" fmla="*/ 6 w 113"/>
                  <a:gd name="T49" fmla="*/ 4 h 49"/>
                  <a:gd name="T50" fmla="*/ 4 w 113"/>
                  <a:gd name="T51" fmla="*/ 8 h 49"/>
                  <a:gd name="T52" fmla="*/ 3 w 113"/>
                  <a:gd name="T53" fmla="*/ 14 h 49"/>
                  <a:gd name="T54" fmla="*/ 0 w 113"/>
                  <a:gd name="T55" fmla="*/ 19 h 49"/>
                  <a:gd name="T56" fmla="*/ 0 w 113"/>
                  <a:gd name="T57" fmla="*/ 24 h 49"/>
                  <a:gd name="T58" fmla="*/ 0 w 113"/>
                  <a:gd name="T59" fmla="*/ 29 h 49"/>
                  <a:gd name="T60" fmla="*/ 1 w 113"/>
                  <a:gd name="T61" fmla="*/ 33 h 49"/>
                  <a:gd name="T62" fmla="*/ 4 w 113"/>
                  <a:gd name="T63" fmla="*/ 35 h 49"/>
                  <a:gd name="T64" fmla="*/ 8 w 113"/>
                  <a:gd name="T65" fmla="*/ 37 h 49"/>
                  <a:gd name="T66" fmla="*/ 12 w 113"/>
                  <a:gd name="T67" fmla="*/ 39 h 49"/>
                  <a:gd name="T68" fmla="*/ 17 w 113"/>
                  <a:gd name="T69" fmla="*/ 41 h 49"/>
                  <a:gd name="T70" fmla="*/ 23 w 113"/>
                  <a:gd name="T71" fmla="*/ 43 h 49"/>
                  <a:gd name="T72" fmla="*/ 28 w 113"/>
                  <a:gd name="T73" fmla="*/ 46 h 49"/>
                  <a:gd name="T74" fmla="*/ 34 w 113"/>
                  <a:gd name="T75" fmla="*/ 47 h 49"/>
                  <a:gd name="T76" fmla="*/ 39 w 113"/>
                  <a:gd name="T77" fmla="*/ 48 h 49"/>
                  <a:gd name="T78" fmla="*/ 44 w 113"/>
                  <a:gd name="T79" fmla="*/ 48 h 49"/>
                  <a:gd name="T80" fmla="*/ 51 w 113"/>
                  <a:gd name="T81" fmla="*/ 49 h 49"/>
                  <a:gd name="T82" fmla="*/ 56 w 113"/>
                  <a:gd name="T83" fmla="*/ 49 h 4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13"/>
                  <a:gd name="T127" fmla="*/ 0 h 49"/>
                  <a:gd name="T128" fmla="*/ 113 w 113"/>
                  <a:gd name="T129" fmla="*/ 49 h 4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13" h="49">
                    <a:moveTo>
                      <a:pt x="56" y="49"/>
                    </a:moveTo>
                    <a:lnTo>
                      <a:pt x="62" y="49"/>
                    </a:lnTo>
                    <a:lnTo>
                      <a:pt x="69" y="48"/>
                    </a:lnTo>
                    <a:lnTo>
                      <a:pt x="74" y="48"/>
                    </a:lnTo>
                    <a:lnTo>
                      <a:pt x="79" y="47"/>
                    </a:lnTo>
                    <a:lnTo>
                      <a:pt x="85" y="46"/>
                    </a:lnTo>
                    <a:lnTo>
                      <a:pt x="90" y="43"/>
                    </a:lnTo>
                    <a:lnTo>
                      <a:pt x="95" y="41"/>
                    </a:lnTo>
                    <a:lnTo>
                      <a:pt x="101" y="39"/>
                    </a:lnTo>
                    <a:lnTo>
                      <a:pt x="105" y="37"/>
                    </a:lnTo>
                    <a:lnTo>
                      <a:pt x="109" y="35"/>
                    </a:lnTo>
                    <a:lnTo>
                      <a:pt x="112" y="33"/>
                    </a:lnTo>
                    <a:lnTo>
                      <a:pt x="113" y="29"/>
                    </a:lnTo>
                    <a:lnTo>
                      <a:pt x="113" y="24"/>
                    </a:lnTo>
                    <a:lnTo>
                      <a:pt x="112" y="19"/>
                    </a:lnTo>
                    <a:lnTo>
                      <a:pt x="110" y="14"/>
                    </a:lnTo>
                    <a:lnTo>
                      <a:pt x="109" y="8"/>
                    </a:lnTo>
                    <a:lnTo>
                      <a:pt x="107" y="4"/>
                    </a:lnTo>
                    <a:lnTo>
                      <a:pt x="104" y="1"/>
                    </a:lnTo>
                    <a:lnTo>
                      <a:pt x="101" y="0"/>
                    </a:lnTo>
                    <a:lnTo>
                      <a:pt x="97" y="1"/>
                    </a:lnTo>
                    <a:lnTo>
                      <a:pt x="16" y="1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4"/>
                    </a:lnTo>
                    <a:lnTo>
                      <a:pt x="4" y="8"/>
                    </a:lnTo>
                    <a:lnTo>
                      <a:pt x="3" y="14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0" y="29"/>
                    </a:lnTo>
                    <a:lnTo>
                      <a:pt x="1" y="33"/>
                    </a:lnTo>
                    <a:lnTo>
                      <a:pt x="4" y="35"/>
                    </a:lnTo>
                    <a:lnTo>
                      <a:pt x="8" y="37"/>
                    </a:lnTo>
                    <a:lnTo>
                      <a:pt x="12" y="39"/>
                    </a:lnTo>
                    <a:lnTo>
                      <a:pt x="17" y="41"/>
                    </a:lnTo>
                    <a:lnTo>
                      <a:pt x="23" y="43"/>
                    </a:lnTo>
                    <a:lnTo>
                      <a:pt x="28" y="46"/>
                    </a:lnTo>
                    <a:lnTo>
                      <a:pt x="34" y="47"/>
                    </a:lnTo>
                    <a:lnTo>
                      <a:pt x="39" y="48"/>
                    </a:lnTo>
                    <a:lnTo>
                      <a:pt x="44" y="48"/>
                    </a:lnTo>
                    <a:lnTo>
                      <a:pt x="51" y="49"/>
                    </a:lnTo>
                    <a:lnTo>
                      <a:pt x="56" y="49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29" name="Freeform 1010"/>
              <p:cNvSpPr>
                <a:spLocks/>
              </p:cNvSpPr>
              <p:nvPr/>
            </p:nvSpPr>
            <p:spPr bwMode="auto">
              <a:xfrm>
                <a:off x="2110" y="2070"/>
                <a:ext cx="99" cy="38"/>
              </a:xfrm>
              <a:custGeom>
                <a:avLst/>
                <a:gdLst>
                  <a:gd name="T0" fmla="*/ 49 w 99"/>
                  <a:gd name="T1" fmla="*/ 38 h 38"/>
                  <a:gd name="T2" fmla="*/ 54 w 99"/>
                  <a:gd name="T3" fmla="*/ 38 h 38"/>
                  <a:gd name="T4" fmla="*/ 59 w 99"/>
                  <a:gd name="T5" fmla="*/ 38 h 38"/>
                  <a:gd name="T6" fmla="*/ 63 w 99"/>
                  <a:gd name="T7" fmla="*/ 37 h 38"/>
                  <a:gd name="T8" fmla="*/ 67 w 99"/>
                  <a:gd name="T9" fmla="*/ 36 h 38"/>
                  <a:gd name="T10" fmla="*/ 71 w 99"/>
                  <a:gd name="T11" fmla="*/ 34 h 38"/>
                  <a:gd name="T12" fmla="*/ 76 w 99"/>
                  <a:gd name="T13" fmla="*/ 33 h 38"/>
                  <a:gd name="T14" fmla="*/ 80 w 99"/>
                  <a:gd name="T15" fmla="*/ 32 h 38"/>
                  <a:gd name="T16" fmla="*/ 84 w 99"/>
                  <a:gd name="T17" fmla="*/ 30 h 38"/>
                  <a:gd name="T18" fmla="*/ 88 w 99"/>
                  <a:gd name="T19" fmla="*/ 28 h 38"/>
                  <a:gd name="T20" fmla="*/ 92 w 99"/>
                  <a:gd name="T21" fmla="*/ 26 h 38"/>
                  <a:gd name="T22" fmla="*/ 94 w 99"/>
                  <a:gd name="T23" fmla="*/ 25 h 38"/>
                  <a:gd name="T24" fmla="*/ 96 w 99"/>
                  <a:gd name="T25" fmla="*/ 23 h 38"/>
                  <a:gd name="T26" fmla="*/ 97 w 99"/>
                  <a:gd name="T27" fmla="*/ 21 h 38"/>
                  <a:gd name="T28" fmla="*/ 98 w 99"/>
                  <a:gd name="T29" fmla="*/ 17 h 38"/>
                  <a:gd name="T30" fmla="*/ 99 w 99"/>
                  <a:gd name="T31" fmla="*/ 15 h 38"/>
                  <a:gd name="T32" fmla="*/ 99 w 99"/>
                  <a:gd name="T33" fmla="*/ 12 h 38"/>
                  <a:gd name="T34" fmla="*/ 98 w 99"/>
                  <a:gd name="T35" fmla="*/ 9 h 38"/>
                  <a:gd name="T36" fmla="*/ 95 w 99"/>
                  <a:gd name="T37" fmla="*/ 6 h 38"/>
                  <a:gd name="T38" fmla="*/ 92 w 99"/>
                  <a:gd name="T39" fmla="*/ 2 h 38"/>
                  <a:gd name="T40" fmla="*/ 86 w 99"/>
                  <a:gd name="T41" fmla="*/ 0 h 38"/>
                  <a:gd name="T42" fmla="*/ 13 w 99"/>
                  <a:gd name="T43" fmla="*/ 0 h 38"/>
                  <a:gd name="T44" fmla="*/ 7 w 99"/>
                  <a:gd name="T45" fmla="*/ 2 h 38"/>
                  <a:gd name="T46" fmla="*/ 4 w 99"/>
                  <a:gd name="T47" fmla="*/ 6 h 38"/>
                  <a:gd name="T48" fmla="*/ 1 w 99"/>
                  <a:gd name="T49" fmla="*/ 9 h 38"/>
                  <a:gd name="T50" fmla="*/ 0 w 99"/>
                  <a:gd name="T51" fmla="*/ 12 h 38"/>
                  <a:gd name="T52" fmla="*/ 0 w 99"/>
                  <a:gd name="T53" fmla="*/ 15 h 38"/>
                  <a:gd name="T54" fmla="*/ 1 w 99"/>
                  <a:gd name="T55" fmla="*/ 17 h 38"/>
                  <a:gd name="T56" fmla="*/ 2 w 99"/>
                  <a:gd name="T57" fmla="*/ 21 h 38"/>
                  <a:gd name="T58" fmla="*/ 3 w 99"/>
                  <a:gd name="T59" fmla="*/ 23 h 38"/>
                  <a:gd name="T60" fmla="*/ 5 w 99"/>
                  <a:gd name="T61" fmla="*/ 25 h 38"/>
                  <a:gd name="T62" fmla="*/ 7 w 99"/>
                  <a:gd name="T63" fmla="*/ 26 h 38"/>
                  <a:gd name="T64" fmla="*/ 10 w 99"/>
                  <a:gd name="T65" fmla="*/ 28 h 38"/>
                  <a:gd name="T66" fmla="*/ 15 w 99"/>
                  <a:gd name="T67" fmla="*/ 30 h 38"/>
                  <a:gd name="T68" fmla="*/ 19 w 99"/>
                  <a:gd name="T69" fmla="*/ 32 h 38"/>
                  <a:gd name="T70" fmla="*/ 23 w 99"/>
                  <a:gd name="T71" fmla="*/ 33 h 38"/>
                  <a:gd name="T72" fmla="*/ 28 w 99"/>
                  <a:gd name="T73" fmla="*/ 34 h 38"/>
                  <a:gd name="T74" fmla="*/ 32 w 99"/>
                  <a:gd name="T75" fmla="*/ 36 h 38"/>
                  <a:gd name="T76" fmla="*/ 36 w 99"/>
                  <a:gd name="T77" fmla="*/ 37 h 38"/>
                  <a:gd name="T78" fmla="*/ 40 w 99"/>
                  <a:gd name="T79" fmla="*/ 38 h 38"/>
                  <a:gd name="T80" fmla="*/ 45 w 99"/>
                  <a:gd name="T81" fmla="*/ 38 h 38"/>
                  <a:gd name="T82" fmla="*/ 49 w 99"/>
                  <a:gd name="T83" fmla="*/ 38 h 3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9"/>
                  <a:gd name="T127" fmla="*/ 0 h 38"/>
                  <a:gd name="T128" fmla="*/ 99 w 99"/>
                  <a:gd name="T129" fmla="*/ 38 h 3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9" h="38">
                    <a:moveTo>
                      <a:pt x="49" y="38"/>
                    </a:moveTo>
                    <a:lnTo>
                      <a:pt x="54" y="38"/>
                    </a:lnTo>
                    <a:lnTo>
                      <a:pt x="59" y="38"/>
                    </a:lnTo>
                    <a:lnTo>
                      <a:pt x="63" y="37"/>
                    </a:lnTo>
                    <a:lnTo>
                      <a:pt x="67" y="36"/>
                    </a:lnTo>
                    <a:lnTo>
                      <a:pt x="71" y="34"/>
                    </a:lnTo>
                    <a:lnTo>
                      <a:pt x="76" y="33"/>
                    </a:lnTo>
                    <a:lnTo>
                      <a:pt x="80" y="32"/>
                    </a:lnTo>
                    <a:lnTo>
                      <a:pt x="84" y="30"/>
                    </a:lnTo>
                    <a:lnTo>
                      <a:pt x="88" y="28"/>
                    </a:lnTo>
                    <a:lnTo>
                      <a:pt x="92" y="26"/>
                    </a:lnTo>
                    <a:lnTo>
                      <a:pt x="94" y="25"/>
                    </a:lnTo>
                    <a:lnTo>
                      <a:pt x="96" y="23"/>
                    </a:lnTo>
                    <a:lnTo>
                      <a:pt x="97" y="21"/>
                    </a:lnTo>
                    <a:lnTo>
                      <a:pt x="98" y="17"/>
                    </a:lnTo>
                    <a:lnTo>
                      <a:pt x="99" y="15"/>
                    </a:lnTo>
                    <a:lnTo>
                      <a:pt x="99" y="12"/>
                    </a:lnTo>
                    <a:lnTo>
                      <a:pt x="98" y="9"/>
                    </a:lnTo>
                    <a:lnTo>
                      <a:pt x="95" y="6"/>
                    </a:lnTo>
                    <a:lnTo>
                      <a:pt x="92" y="2"/>
                    </a:lnTo>
                    <a:lnTo>
                      <a:pt x="86" y="0"/>
                    </a:lnTo>
                    <a:lnTo>
                      <a:pt x="13" y="0"/>
                    </a:lnTo>
                    <a:lnTo>
                      <a:pt x="7" y="2"/>
                    </a:lnTo>
                    <a:lnTo>
                      <a:pt x="4" y="6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17"/>
                    </a:lnTo>
                    <a:lnTo>
                      <a:pt x="2" y="21"/>
                    </a:lnTo>
                    <a:lnTo>
                      <a:pt x="3" y="23"/>
                    </a:lnTo>
                    <a:lnTo>
                      <a:pt x="5" y="25"/>
                    </a:lnTo>
                    <a:lnTo>
                      <a:pt x="7" y="26"/>
                    </a:lnTo>
                    <a:lnTo>
                      <a:pt x="10" y="28"/>
                    </a:lnTo>
                    <a:lnTo>
                      <a:pt x="15" y="30"/>
                    </a:lnTo>
                    <a:lnTo>
                      <a:pt x="19" y="32"/>
                    </a:lnTo>
                    <a:lnTo>
                      <a:pt x="23" y="33"/>
                    </a:lnTo>
                    <a:lnTo>
                      <a:pt x="28" y="34"/>
                    </a:lnTo>
                    <a:lnTo>
                      <a:pt x="32" y="36"/>
                    </a:lnTo>
                    <a:lnTo>
                      <a:pt x="36" y="37"/>
                    </a:lnTo>
                    <a:lnTo>
                      <a:pt x="40" y="38"/>
                    </a:lnTo>
                    <a:lnTo>
                      <a:pt x="45" y="38"/>
                    </a:lnTo>
                    <a:lnTo>
                      <a:pt x="49" y="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30" name="Freeform 1011"/>
              <p:cNvSpPr>
                <a:spLocks/>
              </p:cNvSpPr>
              <p:nvPr/>
            </p:nvSpPr>
            <p:spPr bwMode="auto">
              <a:xfrm>
                <a:off x="2110" y="2070"/>
                <a:ext cx="99" cy="38"/>
              </a:xfrm>
              <a:custGeom>
                <a:avLst/>
                <a:gdLst>
                  <a:gd name="T0" fmla="*/ 49 w 99"/>
                  <a:gd name="T1" fmla="*/ 38 h 38"/>
                  <a:gd name="T2" fmla="*/ 54 w 99"/>
                  <a:gd name="T3" fmla="*/ 38 h 38"/>
                  <a:gd name="T4" fmla="*/ 59 w 99"/>
                  <a:gd name="T5" fmla="*/ 38 h 38"/>
                  <a:gd name="T6" fmla="*/ 63 w 99"/>
                  <a:gd name="T7" fmla="*/ 37 h 38"/>
                  <a:gd name="T8" fmla="*/ 67 w 99"/>
                  <a:gd name="T9" fmla="*/ 36 h 38"/>
                  <a:gd name="T10" fmla="*/ 71 w 99"/>
                  <a:gd name="T11" fmla="*/ 34 h 38"/>
                  <a:gd name="T12" fmla="*/ 76 w 99"/>
                  <a:gd name="T13" fmla="*/ 33 h 38"/>
                  <a:gd name="T14" fmla="*/ 80 w 99"/>
                  <a:gd name="T15" fmla="*/ 32 h 38"/>
                  <a:gd name="T16" fmla="*/ 84 w 99"/>
                  <a:gd name="T17" fmla="*/ 30 h 38"/>
                  <a:gd name="T18" fmla="*/ 88 w 99"/>
                  <a:gd name="T19" fmla="*/ 28 h 38"/>
                  <a:gd name="T20" fmla="*/ 92 w 99"/>
                  <a:gd name="T21" fmla="*/ 26 h 38"/>
                  <a:gd name="T22" fmla="*/ 94 w 99"/>
                  <a:gd name="T23" fmla="*/ 25 h 38"/>
                  <a:gd name="T24" fmla="*/ 96 w 99"/>
                  <a:gd name="T25" fmla="*/ 23 h 38"/>
                  <a:gd name="T26" fmla="*/ 97 w 99"/>
                  <a:gd name="T27" fmla="*/ 21 h 38"/>
                  <a:gd name="T28" fmla="*/ 98 w 99"/>
                  <a:gd name="T29" fmla="*/ 17 h 38"/>
                  <a:gd name="T30" fmla="*/ 99 w 99"/>
                  <a:gd name="T31" fmla="*/ 15 h 38"/>
                  <a:gd name="T32" fmla="*/ 99 w 99"/>
                  <a:gd name="T33" fmla="*/ 12 h 38"/>
                  <a:gd name="T34" fmla="*/ 98 w 99"/>
                  <a:gd name="T35" fmla="*/ 9 h 38"/>
                  <a:gd name="T36" fmla="*/ 95 w 99"/>
                  <a:gd name="T37" fmla="*/ 6 h 38"/>
                  <a:gd name="T38" fmla="*/ 92 w 99"/>
                  <a:gd name="T39" fmla="*/ 2 h 38"/>
                  <a:gd name="T40" fmla="*/ 86 w 99"/>
                  <a:gd name="T41" fmla="*/ 0 h 38"/>
                  <a:gd name="T42" fmla="*/ 13 w 99"/>
                  <a:gd name="T43" fmla="*/ 0 h 38"/>
                  <a:gd name="T44" fmla="*/ 7 w 99"/>
                  <a:gd name="T45" fmla="*/ 2 h 38"/>
                  <a:gd name="T46" fmla="*/ 4 w 99"/>
                  <a:gd name="T47" fmla="*/ 6 h 38"/>
                  <a:gd name="T48" fmla="*/ 1 w 99"/>
                  <a:gd name="T49" fmla="*/ 9 h 38"/>
                  <a:gd name="T50" fmla="*/ 0 w 99"/>
                  <a:gd name="T51" fmla="*/ 12 h 38"/>
                  <a:gd name="T52" fmla="*/ 0 w 99"/>
                  <a:gd name="T53" fmla="*/ 15 h 38"/>
                  <a:gd name="T54" fmla="*/ 1 w 99"/>
                  <a:gd name="T55" fmla="*/ 17 h 38"/>
                  <a:gd name="T56" fmla="*/ 2 w 99"/>
                  <a:gd name="T57" fmla="*/ 21 h 38"/>
                  <a:gd name="T58" fmla="*/ 3 w 99"/>
                  <a:gd name="T59" fmla="*/ 23 h 38"/>
                  <a:gd name="T60" fmla="*/ 5 w 99"/>
                  <a:gd name="T61" fmla="*/ 25 h 38"/>
                  <a:gd name="T62" fmla="*/ 7 w 99"/>
                  <a:gd name="T63" fmla="*/ 26 h 38"/>
                  <a:gd name="T64" fmla="*/ 10 w 99"/>
                  <a:gd name="T65" fmla="*/ 28 h 38"/>
                  <a:gd name="T66" fmla="*/ 15 w 99"/>
                  <a:gd name="T67" fmla="*/ 30 h 38"/>
                  <a:gd name="T68" fmla="*/ 19 w 99"/>
                  <a:gd name="T69" fmla="*/ 32 h 38"/>
                  <a:gd name="T70" fmla="*/ 23 w 99"/>
                  <a:gd name="T71" fmla="*/ 33 h 38"/>
                  <a:gd name="T72" fmla="*/ 28 w 99"/>
                  <a:gd name="T73" fmla="*/ 34 h 38"/>
                  <a:gd name="T74" fmla="*/ 32 w 99"/>
                  <a:gd name="T75" fmla="*/ 36 h 38"/>
                  <a:gd name="T76" fmla="*/ 36 w 99"/>
                  <a:gd name="T77" fmla="*/ 37 h 38"/>
                  <a:gd name="T78" fmla="*/ 40 w 99"/>
                  <a:gd name="T79" fmla="*/ 38 h 38"/>
                  <a:gd name="T80" fmla="*/ 45 w 99"/>
                  <a:gd name="T81" fmla="*/ 38 h 38"/>
                  <a:gd name="T82" fmla="*/ 49 w 99"/>
                  <a:gd name="T83" fmla="*/ 38 h 3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9"/>
                  <a:gd name="T127" fmla="*/ 0 h 38"/>
                  <a:gd name="T128" fmla="*/ 99 w 99"/>
                  <a:gd name="T129" fmla="*/ 38 h 3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9" h="38">
                    <a:moveTo>
                      <a:pt x="49" y="38"/>
                    </a:moveTo>
                    <a:lnTo>
                      <a:pt x="54" y="38"/>
                    </a:lnTo>
                    <a:lnTo>
                      <a:pt x="59" y="38"/>
                    </a:lnTo>
                    <a:lnTo>
                      <a:pt x="63" y="37"/>
                    </a:lnTo>
                    <a:lnTo>
                      <a:pt x="67" y="36"/>
                    </a:lnTo>
                    <a:lnTo>
                      <a:pt x="71" y="34"/>
                    </a:lnTo>
                    <a:lnTo>
                      <a:pt x="76" y="33"/>
                    </a:lnTo>
                    <a:lnTo>
                      <a:pt x="80" y="32"/>
                    </a:lnTo>
                    <a:lnTo>
                      <a:pt x="84" y="30"/>
                    </a:lnTo>
                    <a:lnTo>
                      <a:pt x="88" y="28"/>
                    </a:lnTo>
                    <a:lnTo>
                      <a:pt x="92" y="26"/>
                    </a:lnTo>
                    <a:lnTo>
                      <a:pt x="94" y="25"/>
                    </a:lnTo>
                    <a:lnTo>
                      <a:pt x="96" y="23"/>
                    </a:lnTo>
                    <a:lnTo>
                      <a:pt x="97" y="21"/>
                    </a:lnTo>
                    <a:lnTo>
                      <a:pt x="98" y="17"/>
                    </a:lnTo>
                    <a:lnTo>
                      <a:pt x="99" y="15"/>
                    </a:lnTo>
                    <a:lnTo>
                      <a:pt x="99" y="12"/>
                    </a:lnTo>
                    <a:lnTo>
                      <a:pt x="98" y="9"/>
                    </a:lnTo>
                    <a:lnTo>
                      <a:pt x="95" y="6"/>
                    </a:lnTo>
                    <a:lnTo>
                      <a:pt x="92" y="2"/>
                    </a:lnTo>
                    <a:lnTo>
                      <a:pt x="86" y="0"/>
                    </a:lnTo>
                    <a:lnTo>
                      <a:pt x="13" y="0"/>
                    </a:lnTo>
                    <a:lnTo>
                      <a:pt x="7" y="2"/>
                    </a:lnTo>
                    <a:lnTo>
                      <a:pt x="4" y="6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17"/>
                    </a:lnTo>
                    <a:lnTo>
                      <a:pt x="2" y="21"/>
                    </a:lnTo>
                    <a:lnTo>
                      <a:pt x="3" y="23"/>
                    </a:lnTo>
                    <a:lnTo>
                      <a:pt x="5" y="25"/>
                    </a:lnTo>
                    <a:lnTo>
                      <a:pt x="7" y="26"/>
                    </a:lnTo>
                    <a:lnTo>
                      <a:pt x="10" y="28"/>
                    </a:lnTo>
                    <a:lnTo>
                      <a:pt x="15" y="30"/>
                    </a:lnTo>
                    <a:lnTo>
                      <a:pt x="19" y="32"/>
                    </a:lnTo>
                    <a:lnTo>
                      <a:pt x="23" y="33"/>
                    </a:lnTo>
                    <a:lnTo>
                      <a:pt x="28" y="34"/>
                    </a:lnTo>
                    <a:lnTo>
                      <a:pt x="32" y="36"/>
                    </a:lnTo>
                    <a:lnTo>
                      <a:pt x="36" y="37"/>
                    </a:lnTo>
                    <a:lnTo>
                      <a:pt x="40" y="38"/>
                    </a:lnTo>
                    <a:lnTo>
                      <a:pt x="45" y="38"/>
                    </a:lnTo>
                    <a:lnTo>
                      <a:pt x="49" y="38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31" name="Freeform 1012"/>
              <p:cNvSpPr>
                <a:spLocks/>
              </p:cNvSpPr>
              <p:nvPr/>
            </p:nvSpPr>
            <p:spPr bwMode="auto">
              <a:xfrm>
                <a:off x="2089" y="1941"/>
                <a:ext cx="140" cy="150"/>
              </a:xfrm>
              <a:custGeom>
                <a:avLst/>
                <a:gdLst>
                  <a:gd name="T0" fmla="*/ 71 w 140"/>
                  <a:gd name="T1" fmla="*/ 150 h 150"/>
                  <a:gd name="T2" fmla="*/ 82 w 140"/>
                  <a:gd name="T3" fmla="*/ 148 h 150"/>
                  <a:gd name="T4" fmla="*/ 92 w 140"/>
                  <a:gd name="T5" fmla="*/ 145 h 150"/>
                  <a:gd name="T6" fmla="*/ 103 w 140"/>
                  <a:gd name="T7" fmla="*/ 141 h 150"/>
                  <a:gd name="T8" fmla="*/ 112 w 140"/>
                  <a:gd name="T9" fmla="*/ 135 h 150"/>
                  <a:gd name="T10" fmla="*/ 120 w 140"/>
                  <a:gd name="T11" fmla="*/ 127 h 150"/>
                  <a:gd name="T12" fmla="*/ 127 w 140"/>
                  <a:gd name="T13" fmla="*/ 119 h 150"/>
                  <a:gd name="T14" fmla="*/ 133 w 140"/>
                  <a:gd name="T15" fmla="*/ 109 h 150"/>
                  <a:gd name="T16" fmla="*/ 137 w 140"/>
                  <a:gd name="T17" fmla="*/ 98 h 150"/>
                  <a:gd name="T18" fmla="*/ 139 w 140"/>
                  <a:gd name="T19" fmla="*/ 87 h 150"/>
                  <a:gd name="T20" fmla="*/ 140 w 140"/>
                  <a:gd name="T21" fmla="*/ 75 h 150"/>
                  <a:gd name="T22" fmla="*/ 139 w 140"/>
                  <a:gd name="T23" fmla="*/ 63 h 150"/>
                  <a:gd name="T24" fmla="*/ 137 w 140"/>
                  <a:gd name="T25" fmla="*/ 51 h 150"/>
                  <a:gd name="T26" fmla="*/ 133 w 140"/>
                  <a:gd name="T27" fmla="*/ 41 h 150"/>
                  <a:gd name="T28" fmla="*/ 127 w 140"/>
                  <a:gd name="T29" fmla="*/ 31 h 150"/>
                  <a:gd name="T30" fmla="*/ 120 w 140"/>
                  <a:gd name="T31" fmla="*/ 21 h 150"/>
                  <a:gd name="T32" fmla="*/ 112 w 140"/>
                  <a:gd name="T33" fmla="*/ 15 h 150"/>
                  <a:gd name="T34" fmla="*/ 103 w 140"/>
                  <a:gd name="T35" fmla="*/ 9 h 150"/>
                  <a:gd name="T36" fmla="*/ 92 w 140"/>
                  <a:gd name="T37" fmla="*/ 4 h 150"/>
                  <a:gd name="T38" fmla="*/ 82 w 140"/>
                  <a:gd name="T39" fmla="*/ 1 h 150"/>
                  <a:gd name="T40" fmla="*/ 71 w 140"/>
                  <a:gd name="T41" fmla="*/ 0 h 150"/>
                  <a:gd name="T42" fmla="*/ 59 w 140"/>
                  <a:gd name="T43" fmla="*/ 1 h 150"/>
                  <a:gd name="T44" fmla="*/ 49 w 140"/>
                  <a:gd name="T45" fmla="*/ 4 h 150"/>
                  <a:gd name="T46" fmla="*/ 38 w 140"/>
                  <a:gd name="T47" fmla="*/ 9 h 150"/>
                  <a:gd name="T48" fmla="*/ 29 w 140"/>
                  <a:gd name="T49" fmla="*/ 15 h 150"/>
                  <a:gd name="T50" fmla="*/ 21 w 140"/>
                  <a:gd name="T51" fmla="*/ 21 h 150"/>
                  <a:gd name="T52" fmla="*/ 14 w 140"/>
                  <a:gd name="T53" fmla="*/ 31 h 150"/>
                  <a:gd name="T54" fmla="*/ 8 w 140"/>
                  <a:gd name="T55" fmla="*/ 41 h 150"/>
                  <a:gd name="T56" fmla="*/ 4 w 140"/>
                  <a:gd name="T57" fmla="*/ 51 h 150"/>
                  <a:gd name="T58" fmla="*/ 2 w 140"/>
                  <a:gd name="T59" fmla="*/ 63 h 150"/>
                  <a:gd name="T60" fmla="*/ 0 w 140"/>
                  <a:gd name="T61" fmla="*/ 75 h 150"/>
                  <a:gd name="T62" fmla="*/ 2 w 140"/>
                  <a:gd name="T63" fmla="*/ 87 h 150"/>
                  <a:gd name="T64" fmla="*/ 4 w 140"/>
                  <a:gd name="T65" fmla="*/ 98 h 150"/>
                  <a:gd name="T66" fmla="*/ 8 w 140"/>
                  <a:gd name="T67" fmla="*/ 109 h 150"/>
                  <a:gd name="T68" fmla="*/ 14 w 140"/>
                  <a:gd name="T69" fmla="*/ 119 h 150"/>
                  <a:gd name="T70" fmla="*/ 21 w 140"/>
                  <a:gd name="T71" fmla="*/ 127 h 150"/>
                  <a:gd name="T72" fmla="*/ 29 w 140"/>
                  <a:gd name="T73" fmla="*/ 135 h 150"/>
                  <a:gd name="T74" fmla="*/ 38 w 140"/>
                  <a:gd name="T75" fmla="*/ 141 h 150"/>
                  <a:gd name="T76" fmla="*/ 49 w 140"/>
                  <a:gd name="T77" fmla="*/ 145 h 150"/>
                  <a:gd name="T78" fmla="*/ 59 w 140"/>
                  <a:gd name="T79" fmla="*/ 148 h 150"/>
                  <a:gd name="T80" fmla="*/ 71 w 140"/>
                  <a:gd name="T81" fmla="*/ 150 h 150"/>
                  <a:gd name="T82" fmla="*/ 71 w 140"/>
                  <a:gd name="T83" fmla="*/ 150 h 15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40"/>
                  <a:gd name="T127" fmla="*/ 0 h 150"/>
                  <a:gd name="T128" fmla="*/ 140 w 140"/>
                  <a:gd name="T129" fmla="*/ 150 h 15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40" h="150">
                    <a:moveTo>
                      <a:pt x="71" y="150"/>
                    </a:moveTo>
                    <a:lnTo>
                      <a:pt x="82" y="148"/>
                    </a:lnTo>
                    <a:lnTo>
                      <a:pt x="92" y="145"/>
                    </a:lnTo>
                    <a:lnTo>
                      <a:pt x="103" y="141"/>
                    </a:lnTo>
                    <a:lnTo>
                      <a:pt x="112" y="135"/>
                    </a:lnTo>
                    <a:lnTo>
                      <a:pt x="120" y="127"/>
                    </a:lnTo>
                    <a:lnTo>
                      <a:pt x="127" y="119"/>
                    </a:lnTo>
                    <a:lnTo>
                      <a:pt x="133" y="109"/>
                    </a:lnTo>
                    <a:lnTo>
                      <a:pt x="137" y="98"/>
                    </a:lnTo>
                    <a:lnTo>
                      <a:pt x="139" y="87"/>
                    </a:lnTo>
                    <a:lnTo>
                      <a:pt x="140" y="75"/>
                    </a:lnTo>
                    <a:lnTo>
                      <a:pt x="139" y="63"/>
                    </a:lnTo>
                    <a:lnTo>
                      <a:pt x="137" y="51"/>
                    </a:lnTo>
                    <a:lnTo>
                      <a:pt x="133" y="41"/>
                    </a:lnTo>
                    <a:lnTo>
                      <a:pt x="127" y="31"/>
                    </a:lnTo>
                    <a:lnTo>
                      <a:pt x="120" y="21"/>
                    </a:lnTo>
                    <a:lnTo>
                      <a:pt x="112" y="15"/>
                    </a:lnTo>
                    <a:lnTo>
                      <a:pt x="103" y="9"/>
                    </a:lnTo>
                    <a:lnTo>
                      <a:pt x="92" y="4"/>
                    </a:lnTo>
                    <a:lnTo>
                      <a:pt x="82" y="1"/>
                    </a:lnTo>
                    <a:lnTo>
                      <a:pt x="71" y="0"/>
                    </a:lnTo>
                    <a:lnTo>
                      <a:pt x="59" y="1"/>
                    </a:lnTo>
                    <a:lnTo>
                      <a:pt x="49" y="4"/>
                    </a:lnTo>
                    <a:lnTo>
                      <a:pt x="38" y="9"/>
                    </a:lnTo>
                    <a:lnTo>
                      <a:pt x="29" y="15"/>
                    </a:lnTo>
                    <a:lnTo>
                      <a:pt x="21" y="21"/>
                    </a:lnTo>
                    <a:lnTo>
                      <a:pt x="14" y="31"/>
                    </a:lnTo>
                    <a:lnTo>
                      <a:pt x="8" y="41"/>
                    </a:lnTo>
                    <a:lnTo>
                      <a:pt x="4" y="51"/>
                    </a:lnTo>
                    <a:lnTo>
                      <a:pt x="2" y="63"/>
                    </a:lnTo>
                    <a:lnTo>
                      <a:pt x="0" y="75"/>
                    </a:lnTo>
                    <a:lnTo>
                      <a:pt x="2" y="87"/>
                    </a:lnTo>
                    <a:lnTo>
                      <a:pt x="4" y="98"/>
                    </a:lnTo>
                    <a:lnTo>
                      <a:pt x="8" y="109"/>
                    </a:lnTo>
                    <a:lnTo>
                      <a:pt x="14" y="119"/>
                    </a:lnTo>
                    <a:lnTo>
                      <a:pt x="21" y="127"/>
                    </a:lnTo>
                    <a:lnTo>
                      <a:pt x="29" y="135"/>
                    </a:lnTo>
                    <a:lnTo>
                      <a:pt x="38" y="141"/>
                    </a:lnTo>
                    <a:lnTo>
                      <a:pt x="49" y="145"/>
                    </a:lnTo>
                    <a:lnTo>
                      <a:pt x="59" y="148"/>
                    </a:lnTo>
                    <a:lnTo>
                      <a:pt x="71" y="15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32" name="Freeform 1013"/>
              <p:cNvSpPr>
                <a:spLocks/>
              </p:cNvSpPr>
              <p:nvPr/>
            </p:nvSpPr>
            <p:spPr bwMode="auto">
              <a:xfrm>
                <a:off x="2089" y="1941"/>
                <a:ext cx="140" cy="150"/>
              </a:xfrm>
              <a:custGeom>
                <a:avLst/>
                <a:gdLst>
                  <a:gd name="T0" fmla="*/ 71 w 140"/>
                  <a:gd name="T1" fmla="*/ 150 h 150"/>
                  <a:gd name="T2" fmla="*/ 82 w 140"/>
                  <a:gd name="T3" fmla="*/ 148 h 150"/>
                  <a:gd name="T4" fmla="*/ 92 w 140"/>
                  <a:gd name="T5" fmla="*/ 145 h 150"/>
                  <a:gd name="T6" fmla="*/ 103 w 140"/>
                  <a:gd name="T7" fmla="*/ 141 h 150"/>
                  <a:gd name="T8" fmla="*/ 112 w 140"/>
                  <a:gd name="T9" fmla="*/ 135 h 150"/>
                  <a:gd name="T10" fmla="*/ 120 w 140"/>
                  <a:gd name="T11" fmla="*/ 127 h 150"/>
                  <a:gd name="T12" fmla="*/ 127 w 140"/>
                  <a:gd name="T13" fmla="*/ 119 h 150"/>
                  <a:gd name="T14" fmla="*/ 133 w 140"/>
                  <a:gd name="T15" fmla="*/ 109 h 150"/>
                  <a:gd name="T16" fmla="*/ 137 w 140"/>
                  <a:gd name="T17" fmla="*/ 98 h 150"/>
                  <a:gd name="T18" fmla="*/ 139 w 140"/>
                  <a:gd name="T19" fmla="*/ 87 h 150"/>
                  <a:gd name="T20" fmla="*/ 140 w 140"/>
                  <a:gd name="T21" fmla="*/ 75 h 150"/>
                  <a:gd name="T22" fmla="*/ 139 w 140"/>
                  <a:gd name="T23" fmla="*/ 63 h 150"/>
                  <a:gd name="T24" fmla="*/ 137 w 140"/>
                  <a:gd name="T25" fmla="*/ 51 h 150"/>
                  <a:gd name="T26" fmla="*/ 133 w 140"/>
                  <a:gd name="T27" fmla="*/ 41 h 150"/>
                  <a:gd name="T28" fmla="*/ 127 w 140"/>
                  <a:gd name="T29" fmla="*/ 31 h 150"/>
                  <a:gd name="T30" fmla="*/ 120 w 140"/>
                  <a:gd name="T31" fmla="*/ 21 h 150"/>
                  <a:gd name="T32" fmla="*/ 112 w 140"/>
                  <a:gd name="T33" fmla="*/ 15 h 150"/>
                  <a:gd name="T34" fmla="*/ 103 w 140"/>
                  <a:gd name="T35" fmla="*/ 9 h 150"/>
                  <a:gd name="T36" fmla="*/ 92 w 140"/>
                  <a:gd name="T37" fmla="*/ 4 h 150"/>
                  <a:gd name="T38" fmla="*/ 82 w 140"/>
                  <a:gd name="T39" fmla="*/ 1 h 150"/>
                  <a:gd name="T40" fmla="*/ 71 w 140"/>
                  <a:gd name="T41" fmla="*/ 0 h 150"/>
                  <a:gd name="T42" fmla="*/ 59 w 140"/>
                  <a:gd name="T43" fmla="*/ 1 h 150"/>
                  <a:gd name="T44" fmla="*/ 49 w 140"/>
                  <a:gd name="T45" fmla="*/ 4 h 150"/>
                  <a:gd name="T46" fmla="*/ 38 w 140"/>
                  <a:gd name="T47" fmla="*/ 9 h 150"/>
                  <a:gd name="T48" fmla="*/ 29 w 140"/>
                  <a:gd name="T49" fmla="*/ 15 h 150"/>
                  <a:gd name="T50" fmla="*/ 21 w 140"/>
                  <a:gd name="T51" fmla="*/ 21 h 150"/>
                  <a:gd name="T52" fmla="*/ 14 w 140"/>
                  <a:gd name="T53" fmla="*/ 31 h 150"/>
                  <a:gd name="T54" fmla="*/ 8 w 140"/>
                  <a:gd name="T55" fmla="*/ 41 h 150"/>
                  <a:gd name="T56" fmla="*/ 4 w 140"/>
                  <a:gd name="T57" fmla="*/ 51 h 150"/>
                  <a:gd name="T58" fmla="*/ 2 w 140"/>
                  <a:gd name="T59" fmla="*/ 63 h 150"/>
                  <a:gd name="T60" fmla="*/ 0 w 140"/>
                  <a:gd name="T61" fmla="*/ 75 h 150"/>
                  <a:gd name="T62" fmla="*/ 2 w 140"/>
                  <a:gd name="T63" fmla="*/ 87 h 150"/>
                  <a:gd name="T64" fmla="*/ 4 w 140"/>
                  <a:gd name="T65" fmla="*/ 98 h 150"/>
                  <a:gd name="T66" fmla="*/ 8 w 140"/>
                  <a:gd name="T67" fmla="*/ 109 h 150"/>
                  <a:gd name="T68" fmla="*/ 14 w 140"/>
                  <a:gd name="T69" fmla="*/ 119 h 150"/>
                  <a:gd name="T70" fmla="*/ 21 w 140"/>
                  <a:gd name="T71" fmla="*/ 127 h 150"/>
                  <a:gd name="T72" fmla="*/ 29 w 140"/>
                  <a:gd name="T73" fmla="*/ 135 h 150"/>
                  <a:gd name="T74" fmla="*/ 38 w 140"/>
                  <a:gd name="T75" fmla="*/ 141 h 150"/>
                  <a:gd name="T76" fmla="*/ 49 w 140"/>
                  <a:gd name="T77" fmla="*/ 145 h 150"/>
                  <a:gd name="T78" fmla="*/ 59 w 140"/>
                  <a:gd name="T79" fmla="*/ 148 h 150"/>
                  <a:gd name="T80" fmla="*/ 71 w 140"/>
                  <a:gd name="T81" fmla="*/ 150 h 15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0"/>
                  <a:gd name="T124" fmla="*/ 0 h 150"/>
                  <a:gd name="T125" fmla="*/ 140 w 140"/>
                  <a:gd name="T126" fmla="*/ 150 h 15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0" h="150">
                    <a:moveTo>
                      <a:pt x="71" y="150"/>
                    </a:moveTo>
                    <a:lnTo>
                      <a:pt x="82" y="148"/>
                    </a:lnTo>
                    <a:lnTo>
                      <a:pt x="92" y="145"/>
                    </a:lnTo>
                    <a:lnTo>
                      <a:pt x="103" y="141"/>
                    </a:lnTo>
                    <a:lnTo>
                      <a:pt x="112" y="135"/>
                    </a:lnTo>
                    <a:lnTo>
                      <a:pt x="120" y="127"/>
                    </a:lnTo>
                    <a:lnTo>
                      <a:pt x="127" y="119"/>
                    </a:lnTo>
                    <a:lnTo>
                      <a:pt x="133" y="109"/>
                    </a:lnTo>
                    <a:lnTo>
                      <a:pt x="137" y="98"/>
                    </a:lnTo>
                    <a:lnTo>
                      <a:pt x="139" y="87"/>
                    </a:lnTo>
                    <a:lnTo>
                      <a:pt x="140" y="75"/>
                    </a:lnTo>
                    <a:lnTo>
                      <a:pt x="139" y="63"/>
                    </a:lnTo>
                    <a:lnTo>
                      <a:pt x="137" y="51"/>
                    </a:lnTo>
                    <a:lnTo>
                      <a:pt x="133" y="41"/>
                    </a:lnTo>
                    <a:lnTo>
                      <a:pt x="127" y="31"/>
                    </a:lnTo>
                    <a:lnTo>
                      <a:pt x="120" y="21"/>
                    </a:lnTo>
                    <a:lnTo>
                      <a:pt x="112" y="15"/>
                    </a:lnTo>
                    <a:lnTo>
                      <a:pt x="103" y="9"/>
                    </a:lnTo>
                    <a:lnTo>
                      <a:pt x="92" y="4"/>
                    </a:lnTo>
                    <a:lnTo>
                      <a:pt x="82" y="1"/>
                    </a:lnTo>
                    <a:lnTo>
                      <a:pt x="71" y="0"/>
                    </a:lnTo>
                    <a:lnTo>
                      <a:pt x="59" y="1"/>
                    </a:lnTo>
                    <a:lnTo>
                      <a:pt x="49" y="4"/>
                    </a:lnTo>
                    <a:lnTo>
                      <a:pt x="38" y="9"/>
                    </a:lnTo>
                    <a:lnTo>
                      <a:pt x="29" y="15"/>
                    </a:lnTo>
                    <a:lnTo>
                      <a:pt x="21" y="21"/>
                    </a:lnTo>
                    <a:lnTo>
                      <a:pt x="14" y="31"/>
                    </a:lnTo>
                    <a:lnTo>
                      <a:pt x="8" y="41"/>
                    </a:lnTo>
                    <a:lnTo>
                      <a:pt x="4" y="51"/>
                    </a:lnTo>
                    <a:lnTo>
                      <a:pt x="2" y="63"/>
                    </a:lnTo>
                    <a:lnTo>
                      <a:pt x="0" y="75"/>
                    </a:lnTo>
                    <a:lnTo>
                      <a:pt x="2" y="87"/>
                    </a:lnTo>
                    <a:lnTo>
                      <a:pt x="4" y="98"/>
                    </a:lnTo>
                    <a:lnTo>
                      <a:pt x="8" y="109"/>
                    </a:lnTo>
                    <a:lnTo>
                      <a:pt x="14" y="119"/>
                    </a:lnTo>
                    <a:lnTo>
                      <a:pt x="21" y="127"/>
                    </a:lnTo>
                    <a:lnTo>
                      <a:pt x="29" y="135"/>
                    </a:lnTo>
                    <a:lnTo>
                      <a:pt x="38" y="141"/>
                    </a:lnTo>
                    <a:lnTo>
                      <a:pt x="49" y="145"/>
                    </a:lnTo>
                    <a:lnTo>
                      <a:pt x="59" y="148"/>
                    </a:lnTo>
                    <a:lnTo>
                      <a:pt x="71" y="15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33" name="Freeform 1014"/>
              <p:cNvSpPr>
                <a:spLocks/>
              </p:cNvSpPr>
              <p:nvPr/>
            </p:nvSpPr>
            <p:spPr bwMode="auto">
              <a:xfrm>
                <a:off x="2120" y="2023"/>
                <a:ext cx="25" cy="31"/>
              </a:xfrm>
              <a:custGeom>
                <a:avLst/>
                <a:gdLst>
                  <a:gd name="T0" fmla="*/ 0 w 25"/>
                  <a:gd name="T1" fmla="*/ 0 h 31"/>
                  <a:gd name="T2" fmla="*/ 0 w 25"/>
                  <a:gd name="T3" fmla="*/ 5 h 31"/>
                  <a:gd name="T4" fmla="*/ 2 w 25"/>
                  <a:gd name="T5" fmla="*/ 10 h 31"/>
                  <a:gd name="T6" fmla="*/ 4 w 25"/>
                  <a:gd name="T7" fmla="*/ 14 h 31"/>
                  <a:gd name="T8" fmla="*/ 6 w 25"/>
                  <a:gd name="T9" fmla="*/ 17 h 31"/>
                  <a:gd name="T10" fmla="*/ 8 w 25"/>
                  <a:gd name="T11" fmla="*/ 22 h 31"/>
                  <a:gd name="T12" fmla="*/ 11 w 25"/>
                  <a:gd name="T13" fmla="*/ 25 h 31"/>
                  <a:gd name="T14" fmla="*/ 14 w 25"/>
                  <a:gd name="T15" fmla="*/ 27 h 31"/>
                  <a:gd name="T16" fmla="*/ 18 w 25"/>
                  <a:gd name="T17" fmla="*/ 29 h 31"/>
                  <a:gd name="T18" fmla="*/ 22 w 25"/>
                  <a:gd name="T19" fmla="*/ 30 h 31"/>
                  <a:gd name="T20" fmla="*/ 25 w 25"/>
                  <a:gd name="T21" fmla="*/ 31 h 3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5"/>
                  <a:gd name="T34" fmla="*/ 0 h 31"/>
                  <a:gd name="T35" fmla="*/ 25 w 25"/>
                  <a:gd name="T36" fmla="*/ 31 h 3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5" h="31">
                    <a:moveTo>
                      <a:pt x="0" y="0"/>
                    </a:moveTo>
                    <a:lnTo>
                      <a:pt x="0" y="5"/>
                    </a:lnTo>
                    <a:lnTo>
                      <a:pt x="2" y="10"/>
                    </a:lnTo>
                    <a:lnTo>
                      <a:pt x="4" y="14"/>
                    </a:lnTo>
                    <a:lnTo>
                      <a:pt x="6" y="17"/>
                    </a:lnTo>
                    <a:lnTo>
                      <a:pt x="8" y="22"/>
                    </a:lnTo>
                    <a:lnTo>
                      <a:pt x="11" y="25"/>
                    </a:lnTo>
                    <a:lnTo>
                      <a:pt x="14" y="27"/>
                    </a:lnTo>
                    <a:lnTo>
                      <a:pt x="18" y="29"/>
                    </a:lnTo>
                    <a:lnTo>
                      <a:pt x="22" y="30"/>
                    </a:lnTo>
                    <a:lnTo>
                      <a:pt x="25" y="31"/>
                    </a:lnTo>
                  </a:path>
                </a:pathLst>
              </a:custGeom>
              <a:noFill/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34" name="Freeform 1015"/>
              <p:cNvSpPr>
                <a:spLocks/>
              </p:cNvSpPr>
              <p:nvPr/>
            </p:nvSpPr>
            <p:spPr bwMode="auto">
              <a:xfrm>
                <a:off x="2144" y="2016"/>
                <a:ext cx="45" cy="45"/>
              </a:xfrm>
              <a:custGeom>
                <a:avLst/>
                <a:gdLst>
                  <a:gd name="T0" fmla="*/ 22 w 45"/>
                  <a:gd name="T1" fmla="*/ 0 h 45"/>
                  <a:gd name="T2" fmla="*/ 28 w 45"/>
                  <a:gd name="T3" fmla="*/ 17 h 45"/>
                  <a:gd name="T4" fmla="*/ 45 w 45"/>
                  <a:gd name="T5" fmla="*/ 17 h 45"/>
                  <a:gd name="T6" fmla="*/ 31 w 45"/>
                  <a:gd name="T7" fmla="*/ 28 h 45"/>
                  <a:gd name="T8" fmla="*/ 36 w 45"/>
                  <a:gd name="T9" fmla="*/ 45 h 45"/>
                  <a:gd name="T10" fmla="*/ 22 w 45"/>
                  <a:gd name="T11" fmla="*/ 35 h 45"/>
                  <a:gd name="T12" fmla="*/ 9 w 45"/>
                  <a:gd name="T13" fmla="*/ 45 h 45"/>
                  <a:gd name="T14" fmla="*/ 14 w 45"/>
                  <a:gd name="T15" fmla="*/ 28 h 45"/>
                  <a:gd name="T16" fmla="*/ 0 w 45"/>
                  <a:gd name="T17" fmla="*/ 17 h 45"/>
                  <a:gd name="T18" fmla="*/ 17 w 45"/>
                  <a:gd name="T19" fmla="*/ 17 h 45"/>
                  <a:gd name="T20" fmla="*/ 22 w 45"/>
                  <a:gd name="T21" fmla="*/ 0 h 45"/>
                  <a:gd name="T22" fmla="*/ 22 w 45"/>
                  <a:gd name="T23" fmla="*/ 0 h 4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5"/>
                  <a:gd name="T37" fmla="*/ 0 h 45"/>
                  <a:gd name="T38" fmla="*/ 45 w 45"/>
                  <a:gd name="T39" fmla="*/ 45 h 4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5" h="45">
                    <a:moveTo>
                      <a:pt x="22" y="0"/>
                    </a:moveTo>
                    <a:lnTo>
                      <a:pt x="28" y="17"/>
                    </a:lnTo>
                    <a:lnTo>
                      <a:pt x="45" y="17"/>
                    </a:lnTo>
                    <a:lnTo>
                      <a:pt x="31" y="28"/>
                    </a:lnTo>
                    <a:lnTo>
                      <a:pt x="36" y="45"/>
                    </a:lnTo>
                    <a:lnTo>
                      <a:pt x="22" y="35"/>
                    </a:lnTo>
                    <a:lnTo>
                      <a:pt x="9" y="45"/>
                    </a:lnTo>
                    <a:lnTo>
                      <a:pt x="14" y="28"/>
                    </a:lnTo>
                    <a:lnTo>
                      <a:pt x="0" y="17"/>
                    </a:lnTo>
                    <a:lnTo>
                      <a:pt x="17" y="17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35" name="Freeform 1016"/>
              <p:cNvSpPr>
                <a:spLocks/>
              </p:cNvSpPr>
              <p:nvPr/>
            </p:nvSpPr>
            <p:spPr bwMode="auto">
              <a:xfrm>
                <a:off x="2036" y="1968"/>
                <a:ext cx="42" cy="41"/>
              </a:xfrm>
              <a:custGeom>
                <a:avLst/>
                <a:gdLst>
                  <a:gd name="T0" fmla="*/ 20 w 42"/>
                  <a:gd name="T1" fmla="*/ 0 h 41"/>
                  <a:gd name="T2" fmla="*/ 26 w 42"/>
                  <a:gd name="T3" fmla="*/ 16 h 41"/>
                  <a:gd name="T4" fmla="*/ 42 w 42"/>
                  <a:gd name="T5" fmla="*/ 16 h 41"/>
                  <a:gd name="T6" fmla="*/ 29 w 42"/>
                  <a:gd name="T7" fmla="*/ 25 h 41"/>
                  <a:gd name="T8" fmla="*/ 34 w 42"/>
                  <a:gd name="T9" fmla="*/ 41 h 41"/>
                  <a:gd name="T10" fmla="*/ 21 w 42"/>
                  <a:gd name="T11" fmla="*/ 32 h 41"/>
                  <a:gd name="T12" fmla="*/ 8 w 42"/>
                  <a:gd name="T13" fmla="*/ 41 h 41"/>
                  <a:gd name="T14" fmla="*/ 13 w 42"/>
                  <a:gd name="T15" fmla="*/ 25 h 41"/>
                  <a:gd name="T16" fmla="*/ 0 w 42"/>
                  <a:gd name="T17" fmla="*/ 16 h 41"/>
                  <a:gd name="T18" fmla="*/ 16 w 42"/>
                  <a:gd name="T19" fmla="*/ 16 h 41"/>
                  <a:gd name="T20" fmla="*/ 21 w 42"/>
                  <a:gd name="T21" fmla="*/ 0 h 41"/>
                  <a:gd name="T22" fmla="*/ 20 w 42"/>
                  <a:gd name="T23" fmla="*/ 0 h 4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2"/>
                  <a:gd name="T37" fmla="*/ 0 h 41"/>
                  <a:gd name="T38" fmla="*/ 42 w 42"/>
                  <a:gd name="T39" fmla="*/ 41 h 4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2" h="41">
                    <a:moveTo>
                      <a:pt x="20" y="0"/>
                    </a:moveTo>
                    <a:lnTo>
                      <a:pt x="26" y="16"/>
                    </a:lnTo>
                    <a:lnTo>
                      <a:pt x="42" y="16"/>
                    </a:lnTo>
                    <a:lnTo>
                      <a:pt x="29" y="25"/>
                    </a:lnTo>
                    <a:lnTo>
                      <a:pt x="34" y="41"/>
                    </a:lnTo>
                    <a:lnTo>
                      <a:pt x="21" y="32"/>
                    </a:lnTo>
                    <a:lnTo>
                      <a:pt x="8" y="41"/>
                    </a:lnTo>
                    <a:lnTo>
                      <a:pt x="13" y="25"/>
                    </a:lnTo>
                    <a:lnTo>
                      <a:pt x="0" y="16"/>
                    </a:lnTo>
                    <a:lnTo>
                      <a:pt x="16" y="16"/>
                    </a:lnTo>
                    <a:lnTo>
                      <a:pt x="21" y="0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36" name="Freeform 1017"/>
              <p:cNvSpPr>
                <a:spLocks/>
              </p:cNvSpPr>
              <p:nvPr/>
            </p:nvSpPr>
            <p:spPr bwMode="auto">
              <a:xfrm>
                <a:off x="2110" y="1897"/>
                <a:ext cx="41" cy="42"/>
              </a:xfrm>
              <a:custGeom>
                <a:avLst/>
                <a:gdLst>
                  <a:gd name="T0" fmla="*/ 20 w 41"/>
                  <a:gd name="T1" fmla="*/ 0 h 42"/>
                  <a:gd name="T2" fmla="*/ 25 w 41"/>
                  <a:gd name="T3" fmla="*/ 15 h 42"/>
                  <a:gd name="T4" fmla="*/ 41 w 41"/>
                  <a:gd name="T5" fmla="*/ 16 h 42"/>
                  <a:gd name="T6" fmla="*/ 29 w 41"/>
                  <a:gd name="T7" fmla="*/ 26 h 42"/>
                  <a:gd name="T8" fmla="*/ 34 w 41"/>
                  <a:gd name="T9" fmla="*/ 42 h 42"/>
                  <a:gd name="T10" fmla="*/ 20 w 41"/>
                  <a:gd name="T11" fmla="*/ 32 h 42"/>
                  <a:gd name="T12" fmla="*/ 7 w 41"/>
                  <a:gd name="T13" fmla="*/ 42 h 42"/>
                  <a:gd name="T14" fmla="*/ 13 w 41"/>
                  <a:gd name="T15" fmla="*/ 26 h 42"/>
                  <a:gd name="T16" fmla="*/ 0 w 41"/>
                  <a:gd name="T17" fmla="*/ 16 h 42"/>
                  <a:gd name="T18" fmla="*/ 16 w 41"/>
                  <a:gd name="T19" fmla="*/ 15 h 42"/>
                  <a:gd name="T20" fmla="*/ 20 w 41"/>
                  <a:gd name="T21" fmla="*/ 0 h 42"/>
                  <a:gd name="T22" fmla="*/ 20 w 41"/>
                  <a:gd name="T23" fmla="*/ 0 h 4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1"/>
                  <a:gd name="T37" fmla="*/ 0 h 42"/>
                  <a:gd name="T38" fmla="*/ 41 w 41"/>
                  <a:gd name="T39" fmla="*/ 42 h 4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1" h="42">
                    <a:moveTo>
                      <a:pt x="20" y="0"/>
                    </a:moveTo>
                    <a:lnTo>
                      <a:pt x="25" y="15"/>
                    </a:lnTo>
                    <a:lnTo>
                      <a:pt x="41" y="16"/>
                    </a:lnTo>
                    <a:lnTo>
                      <a:pt x="29" y="26"/>
                    </a:lnTo>
                    <a:lnTo>
                      <a:pt x="34" y="42"/>
                    </a:lnTo>
                    <a:lnTo>
                      <a:pt x="20" y="32"/>
                    </a:lnTo>
                    <a:lnTo>
                      <a:pt x="7" y="42"/>
                    </a:lnTo>
                    <a:lnTo>
                      <a:pt x="13" y="26"/>
                    </a:lnTo>
                    <a:lnTo>
                      <a:pt x="0" y="16"/>
                    </a:lnTo>
                    <a:lnTo>
                      <a:pt x="16" y="1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37" name="Freeform 1018"/>
              <p:cNvSpPr>
                <a:spLocks/>
              </p:cNvSpPr>
              <p:nvPr/>
            </p:nvSpPr>
            <p:spPr bwMode="auto">
              <a:xfrm>
                <a:off x="2240" y="1944"/>
                <a:ext cx="42" cy="42"/>
              </a:xfrm>
              <a:custGeom>
                <a:avLst/>
                <a:gdLst>
                  <a:gd name="T0" fmla="*/ 20 w 42"/>
                  <a:gd name="T1" fmla="*/ 0 h 42"/>
                  <a:gd name="T2" fmla="*/ 26 w 42"/>
                  <a:gd name="T3" fmla="*/ 16 h 42"/>
                  <a:gd name="T4" fmla="*/ 42 w 42"/>
                  <a:gd name="T5" fmla="*/ 16 h 42"/>
                  <a:gd name="T6" fmla="*/ 29 w 42"/>
                  <a:gd name="T7" fmla="*/ 26 h 42"/>
                  <a:gd name="T8" fmla="*/ 34 w 42"/>
                  <a:gd name="T9" fmla="*/ 42 h 42"/>
                  <a:gd name="T10" fmla="*/ 20 w 42"/>
                  <a:gd name="T11" fmla="*/ 32 h 42"/>
                  <a:gd name="T12" fmla="*/ 8 w 42"/>
                  <a:gd name="T13" fmla="*/ 42 h 42"/>
                  <a:gd name="T14" fmla="*/ 13 w 42"/>
                  <a:gd name="T15" fmla="*/ 26 h 42"/>
                  <a:gd name="T16" fmla="*/ 0 w 42"/>
                  <a:gd name="T17" fmla="*/ 16 h 42"/>
                  <a:gd name="T18" fmla="*/ 16 w 42"/>
                  <a:gd name="T19" fmla="*/ 16 h 42"/>
                  <a:gd name="T20" fmla="*/ 20 w 42"/>
                  <a:gd name="T21" fmla="*/ 0 h 42"/>
                  <a:gd name="T22" fmla="*/ 20 w 42"/>
                  <a:gd name="T23" fmla="*/ 0 h 4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2"/>
                  <a:gd name="T37" fmla="*/ 0 h 42"/>
                  <a:gd name="T38" fmla="*/ 42 w 42"/>
                  <a:gd name="T39" fmla="*/ 42 h 4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2" h="42">
                    <a:moveTo>
                      <a:pt x="20" y="0"/>
                    </a:moveTo>
                    <a:lnTo>
                      <a:pt x="26" y="16"/>
                    </a:lnTo>
                    <a:lnTo>
                      <a:pt x="42" y="16"/>
                    </a:lnTo>
                    <a:lnTo>
                      <a:pt x="29" y="26"/>
                    </a:lnTo>
                    <a:lnTo>
                      <a:pt x="34" y="42"/>
                    </a:lnTo>
                    <a:lnTo>
                      <a:pt x="20" y="32"/>
                    </a:lnTo>
                    <a:lnTo>
                      <a:pt x="8" y="42"/>
                    </a:lnTo>
                    <a:lnTo>
                      <a:pt x="13" y="26"/>
                    </a:lnTo>
                    <a:lnTo>
                      <a:pt x="0" y="16"/>
                    </a:lnTo>
                    <a:lnTo>
                      <a:pt x="16" y="16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438" name="Freeform 1019"/>
              <p:cNvSpPr>
                <a:spLocks/>
              </p:cNvSpPr>
              <p:nvPr/>
            </p:nvSpPr>
            <p:spPr bwMode="auto">
              <a:xfrm>
                <a:off x="2101" y="1975"/>
                <a:ext cx="44" cy="47"/>
              </a:xfrm>
              <a:custGeom>
                <a:avLst/>
                <a:gdLst>
                  <a:gd name="T0" fmla="*/ 18 w 44"/>
                  <a:gd name="T1" fmla="*/ 0 h 47"/>
                  <a:gd name="T2" fmla="*/ 28 w 44"/>
                  <a:gd name="T3" fmla="*/ 15 h 47"/>
                  <a:gd name="T4" fmla="*/ 44 w 44"/>
                  <a:gd name="T5" fmla="*/ 12 h 47"/>
                  <a:gd name="T6" fmla="*/ 33 w 44"/>
                  <a:gd name="T7" fmla="*/ 26 h 47"/>
                  <a:gd name="T8" fmla="*/ 41 w 44"/>
                  <a:gd name="T9" fmla="*/ 41 h 47"/>
                  <a:gd name="T10" fmla="*/ 26 w 44"/>
                  <a:gd name="T11" fmla="*/ 34 h 47"/>
                  <a:gd name="T12" fmla="*/ 14 w 44"/>
                  <a:gd name="T13" fmla="*/ 47 h 47"/>
                  <a:gd name="T14" fmla="*/ 15 w 44"/>
                  <a:gd name="T15" fmla="*/ 29 h 47"/>
                  <a:gd name="T16" fmla="*/ 0 w 44"/>
                  <a:gd name="T17" fmla="*/ 22 h 47"/>
                  <a:gd name="T18" fmla="*/ 16 w 44"/>
                  <a:gd name="T19" fmla="*/ 17 h 47"/>
                  <a:gd name="T20" fmla="*/ 18 w 44"/>
                  <a:gd name="T21" fmla="*/ 0 h 47"/>
                  <a:gd name="T22" fmla="*/ 18 w 44"/>
                  <a:gd name="T23" fmla="*/ 0 h 4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4"/>
                  <a:gd name="T37" fmla="*/ 0 h 47"/>
                  <a:gd name="T38" fmla="*/ 44 w 44"/>
                  <a:gd name="T39" fmla="*/ 47 h 4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4" h="47">
                    <a:moveTo>
                      <a:pt x="18" y="0"/>
                    </a:moveTo>
                    <a:lnTo>
                      <a:pt x="28" y="15"/>
                    </a:lnTo>
                    <a:lnTo>
                      <a:pt x="44" y="12"/>
                    </a:lnTo>
                    <a:lnTo>
                      <a:pt x="33" y="26"/>
                    </a:lnTo>
                    <a:lnTo>
                      <a:pt x="41" y="41"/>
                    </a:lnTo>
                    <a:lnTo>
                      <a:pt x="26" y="34"/>
                    </a:lnTo>
                    <a:lnTo>
                      <a:pt x="14" y="47"/>
                    </a:lnTo>
                    <a:lnTo>
                      <a:pt x="15" y="29"/>
                    </a:lnTo>
                    <a:lnTo>
                      <a:pt x="0" y="22"/>
                    </a:lnTo>
                    <a:lnTo>
                      <a:pt x="16" y="1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2311" name="Rectangle 1020"/>
            <p:cNvSpPr>
              <a:spLocks noChangeArrowheads="1"/>
            </p:cNvSpPr>
            <p:nvPr/>
          </p:nvSpPr>
          <p:spPr bwMode="auto">
            <a:xfrm>
              <a:off x="2998" y="2789"/>
              <a:ext cx="123" cy="57"/>
            </a:xfrm>
            <a:prstGeom prst="rect">
              <a:avLst/>
            </a:prstGeom>
            <a:solidFill>
              <a:srgbClr val="FFFF66"/>
            </a:solidFill>
            <a:ln w="444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312" name="Oval 1021"/>
            <p:cNvSpPr>
              <a:spLocks noChangeArrowheads="1"/>
            </p:cNvSpPr>
            <p:nvPr/>
          </p:nvSpPr>
          <p:spPr bwMode="auto">
            <a:xfrm>
              <a:off x="2954" y="2717"/>
              <a:ext cx="210" cy="94"/>
            </a:xfrm>
            <a:prstGeom prst="ellipse">
              <a:avLst/>
            </a:prstGeom>
            <a:solidFill>
              <a:srgbClr val="FFFF66"/>
            </a:solidFill>
            <a:ln w="44450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313" name="Rectangle 1022"/>
            <p:cNvSpPr>
              <a:spLocks noChangeArrowheads="1"/>
            </p:cNvSpPr>
            <p:nvPr/>
          </p:nvSpPr>
          <p:spPr bwMode="auto">
            <a:xfrm>
              <a:off x="3012" y="2789"/>
              <a:ext cx="95" cy="71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314" name="Rectangle 1023"/>
            <p:cNvSpPr>
              <a:spLocks noChangeArrowheads="1"/>
            </p:cNvSpPr>
            <p:nvPr/>
          </p:nvSpPr>
          <p:spPr bwMode="auto">
            <a:xfrm>
              <a:off x="2292" y="2195"/>
              <a:ext cx="682" cy="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315" name="Rectangle 1024"/>
            <p:cNvSpPr>
              <a:spLocks noChangeArrowheads="1"/>
            </p:cNvSpPr>
            <p:nvPr/>
          </p:nvSpPr>
          <p:spPr bwMode="auto">
            <a:xfrm>
              <a:off x="2261" y="2230"/>
              <a:ext cx="1721" cy="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900" u="sng">
                  <a:solidFill>
                    <a:srgbClr val="000000"/>
                  </a:solidFill>
                  <a:latin typeface="Arial Narrow" pitchFamily="34" charset="0"/>
                </a:rPr>
                <a:t>Administration Phase</a:t>
              </a:r>
              <a:r>
                <a:rPr lang="en-US" sz="900">
                  <a:solidFill>
                    <a:srgbClr val="000000"/>
                  </a:solidFill>
                  <a:latin typeface="Arial Narrow" pitchFamily="34" charset="0"/>
                </a:rPr>
                <a:t>: Select A Qualified Contractor</a:t>
              </a:r>
            </a:p>
          </p:txBody>
        </p:sp>
        <p:grpSp>
          <p:nvGrpSpPr>
            <p:cNvPr id="12316" name="Group 1025"/>
            <p:cNvGrpSpPr>
              <a:grpSpLocks/>
            </p:cNvGrpSpPr>
            <p:nvPr/>
          </p:nvGrpSpPr>
          <p:grpSpPr bwMode="auto">
            <a:xfrm>
              <a:off x="2800" y="2908"/>
              <a:ext cx="528" cy="463"/>
              <a:chOff x="2736" y="2379"/>
              <a:chExt cx="427" cy="395"/>
            </a:xfrm>
          </p:grpSpPr>
          <p:sp>
            <p:nvSpPr>
              <p:cNvPr id="12364" name="Rectangle 1026"/>
              <p:cNvSpPr>
                <a:spLocks noChangeArrowheads="1"/>
              </p:cNvSpPr>
              <p:nvPr/>
            </p:nvSpPr>
            <p:spPr bwMode="auto">
              <a:xfrm>
                <a:off x="2736" y="2690"/>
                <a:ext cx="427" cy="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84238" eaLnBrk="0" hangingPunct="0"/>
                <a:r>
                  <a:rPr lang="en-US" sz="1000" b="0">
                    <a:solidFill>
                      <a:srgbClr val="000000"/>
                    </a:solidFill>
                    <a:latin typeface="Arial Narrow" pitchFamily="34" charset="0"/>
                  </a:rPr>
                  <a:t>Contract Award</a:t>
                </a:r>
                <a:endParaRPr lang="en-US" sz="1000" b="0">
                  <a:latin typeface="Times New Roman" pitchFamily="18" charset="0"/>
                </a:endParaRPr>
              </a:p>
            </p:txBody>
          </p:sp>
          <p:grpSp>
            <p:nvGrpSpPr>
              <p:cNvPr id="12365" name="Group 1027"/>
              <p:cNvGrpSpPr>
                <a:grpSpLocks/>
              </p:cNvGrpSpPr>
              <p:nvPr/>
            </p:nvGrpSpPr>
            <p:grpSpPr bwMode="auto">
              <a:xfrm>
                <a:off x="2814" y="2379"/>
                <a:ext cx="252" cy="268"/>
                <a:chOff x="2509" y="2443"/>
                <a:chExt cx="286" cy="292"/>
              </a:xfrm>
            </p:grpSpPr>
            <p:sp>
              <p:nvSpPr>
                <p:cNvPr id="12366" name="Freeform 1028"/>
                <p:cNvSpPr>
                  <a:spLocks/>
                </p:cNvSpPr>
                <p:nvPr/>
              </p:nvSpPr>
              <p:spPr bwMode="auto">
                <a:xfrm>
                  <a:off x="2509" y="2443"/>
                  <a:ext cx="286" cy="292"/>
                </a:xfrm>
                <a:custGeom>
                  <a:avLst/>
                  <a:gdLst>
                    <a:gd name="T0" fmla="*/ 28 w 286"/>
                    <a:gd name="T1" fmla="*/ 0 h 292"/>
                    <a:gd name="T2" fmla="*/ 23 w 286"/>
                    <a:gd name="T3" fmla="*/ 1 h 292"/>
                    <a:gd name="T4" fmla="*/ 18 w 286"/>
                    <a:gd name="T5" fmla="*/ 2 h 292"/>
                    <a:gd name="T6" fmla="*/ 8 w 286"/>
                    <a:gd name="T7" fmla="*/ 9 h 292"/>
                    <a:gd name="T8" fmla="*/ 3 w 286"/>
                    <a:gd name="T9" fmla="*/ 17 h 292"/>
                    <a:gd name="T10" fmla="*/ 2 w 286"/>
                    <a:gd name="T11" fmla="*/ 23 h 292"/>
                    <a:gd name="T12" fmla="*/ 0 w 286"/>
                    <a:gd name="T13" fmla="*/ 28 h 292"/>
                    <a:gd name="T14" fmla="*/ 0 w 286"/>
                    <a:gd name="T15" fmla="*/ 264 h 292"/>
                    <a:gd name="T16" fmla="*/ 2 w 286"/>
                    <a:gd name="T17" fmla="*/ 269 h 292"/>
                    <a:gd name="T18" fmla="*/ 3 w 286"/>
                    <a:gd name="T19" fmla="*/ 275 h 292"/>
                    <a:gd name="T20" fmla="*/ 8 w 286"/>
                    <a:gd name="T21" fmla="*/ 284 h 292"/>
                    <a:gd name="T22" fmla="*/ 18 w 286"/>
                    <a:gd name="T23" fmla="*/ 290 h 292"/>
                    <a:gd name="T24" fmla="*/ 23 w 286"/>
                    <a:gd name="T25" fmla="*/ 292 h 292"/>
                    <a:gd name="T26" fmla="*/ 28 w 286"/>
                    <a:gd name="T27" fmla="*/ 292 h 292"/>
                    <a:gd name="T28" fmla="*/ 258 w 286"/>
                    <a:gd name="T29" fmla="*/ 292 h 292"/>
                    <a:gd name="T30" fmla="*/ 263 w 286"/>
                    <a:gd name="T31" fmla="*/ 292 h 292"/>
                    <a:gd name="T32" fmla="*/ 269 w 286"/>
                    <a:gd name="T33" fmla="*/ 290 h 292"/>
                    <a:gd name="T34" fmla="*/ 278 w 286"/>
                    <a:gd name="T35" fmla="*/ 284 h 292"/>
                    <a:gd name="T36" fmla="*/ 284 w 286"/>
                    <a:gd name="T37" fmla="*/ 275 h 292"/>
                    <a:gd name="T38" fmla="*/ 286 w 286"/>
                    <a:gd name="T39" fmla="*/ 269 h 292"/>
                    <a:gd name="T40" fmla="*/ 286 w 286"/>
                    <a:gd name="T41" fmla="*/ 264 h 292"/>
                    <a:gd name="T42" fmla="*/ 286 w 286"/>
                    <a:gd name="T43" fmla="*/ 28 h 292"/>
                    <a:gd name="T44" fmla="*/ 286 w 286"/>
                    <a:gd name="T45" fmla="*/ 23 h 292"/>
                    <a:gd name="T46" fmla="*/ 284 w 286"/>
                    <a:gd name="T47" fmla="*/ 17 h 292"/>
                    <a:gd name="T48" fmla="*/ 278 w 286"/>
                    <a:gd name="T49" fmla="*/ 9 h 292"/>
                    <a:gd name="T50" fmla="*/ 269 w 286"/>
                    <a:gd name="T51" fmla="*/ 2 h 292"/>
                    <a:gd name="T52" fmla="*/ 263 w 286"/>
                    <a:gd name="T53" fmla="*/ 1 h 292"/>
                    <a:gd name="T54" fmla="*/ 258 w 286"/>
                    <a:gd name="T55" fmla="*/ 0 h 292"/>
                    <a:gd name="T56" fmla="*/ 28 w 286"/>
                    <a:gd name="T57" fmla="*/ 0 h 29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286"/>
                    <a:gd name="T88" fmla="*/ 0 h 292"/>
                    <a:gd name="T89" fmla="*/ 286 w 286"/>
                    <a:gd name="T90" fmla="*/ 292 h 292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286" h="292">
                      <a:moveTo>
                        <a:pt x="28" y="0"/>
                      </a:moveTo>
                      <a:lnTo>
                        <a:pt x="23" y="1"/>
                      </a:lnTo>
                      <a:lnTo>
                        <a:pt x="18" y="2"/>
                      </a:lnTo>
                      <a:lnTo>
                        <a:pt x="8" y="9"/>
                      </a:lnTo>
                      <a:lnTo>
                        <a:pt x="3" y="17"/>
                      </a:lnTo>
                      <a:lnTo>
                        <a:pt x="2" y="23"/>
                      </a:lnTo>
                      <a:lnTo>
                        <a:pt x="0" y="28"/>
                      </a:lnTo>
                      <a:lnTo>
                        <a:pt x="0" y="264"/>
                      </a:lnTo>
                      <a:lnTo>
                        <a:pt x="2" y="269"/>
                      </a:lnTo>
                      <a:lnTo>
                        <a:pt x="3" y="275"/>
                      </a:lnTo>
                      <a:lnTo>
                        <a:pt x="8" y="284"/>
                      </a:lnTo>
                      <a:lnTo>
                        <a:pt x="18" y="290"/>
                      </a:lnTo>
                      <a:lnTo>
                        <a:pt x="23" y="292"/>
                      </a:lnTo>
                      <a:lnTo>
                        <a:pt x="28" y="292"/>
                      </a:lnTo>
                      <a:lnTo>
                        <a:pt x="258" y="292"/>
                      </a:lnTo>
                      <a:lnTo>
                        <a:pt x="263" y="292"/>
                      </a:lnTo>
                      <a:lnTo>
                        <a:pt x="269" y="290"/>
                      </a:lnTo>
                      <a:lnTo>
                        <a:pt x="278" y="284"/>
                      </a:lnTo>
                      <a:lnTo>
                        <a:pt x="284" y="275"/>
                      </a:lnTo>
                      <a:lnTo>
                        <a:pt x="286" y="269"/>
                      </a:lnTo>
                      <a:lnTo>
                        <a:pt x="286" y="264"/>
                      </a:lnTo>
                      <a:lnTo>
                        <a:pt x="286" y="28"/>
                      </a:lnTo>
                      <a:lnTo>
                        <a:pt x="286" y="23"/>
                      </a:lnTo>
                      <a:lnTo>
                        <a:pt x="284" y="17"/>
                      </a:lnTo>
                      <a:lnTo>
                        <a:pt x="278" y="9"/>
                      </a:lnTo>
                      <a:lnTo>
                        <a:pt x="269" y="2"/>
                      </a:lnTo>
                      <a:lnTo>
                        <a:pt x="263" y="1"/>
                      </a:lnTo>
                      <a:lnTo>
                        <a:pt x="258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317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367" name="Freeform 1029"/>
                <p:cNvSpPr>
                  <a:spLocks/>
                </p:cNvSpPr>
                <p:nvPr/>
              </p:nvSpPr>
              <p:spPr bwMode="auto">
                <a:xfrm>
                  <a:off x="2524" y="2483"/>
                  <a:ext cx="256" cy="213"/>
                </a:xfrm>
                <a:custGeom>
                  <a:avLst/>
                  <a:gdLst>
                    <a:gd name="T0" fmla="*/ 253 w 256"/>
                    <a:gd name="T1" fmla="*/ 118 h 213"/>
                    <a:gd name="T2" fmla="*/ 249 w 256"/>
                    <a:gd name="T3" fmla="*/ 120 h 213"/>
                    <a:gd name="T4" fmla="*/ 245 w 256"/>
                    <a:gd name="T5" fmla="*/ 120 h 213"/>
                    <a:gd name="T6" fmla="*/ 243 w 256"/>
                    <a:gd name="T7" fmla="*/ 117 h 213"/>
                    <a:gd name="T8" fmla="*/ 228 w 256"/>
                    <a:gd name="T9" fmla="*/ 130 h 213"/>
                    <a:gd name="T10" fmla="*/ 228 w 256"/>
                    <a:gd name="T11" fmla="*/ 137 h 213"/>
                    <a:gd name="T12" fmla="*/ 228 w 256"/>
                    <a:gd name="T13" fmla="*/ 144 h 213"/>
                    <a:gd name="T14" fmla="*/ 223 w 256"/>
                    <a:gd name="T15" fmla="*/ 151 h 213"/>
                    <a:gd name="T16" fmla="*/ 217 w 256"/>
                    <a:gd name="T17" fmla="*/ 156 h 213"/>
                    <a:gd name="T18" fmla="*/ 203 w 256"/>
                    <a:gd name="T19" fmla="*/ 159 h 213"/>
                    <a:gd name="T20" fmla="*/ 200 w 256"/>
                    <a:gd name="T21" fmla="*/ 166 h 213"/>
                    <a:gd name="T22" fmla="*/ 196 w 256"/>
                    <a:gd name="T23" fmla="*/ 172 h 213"/>
                    <a:gd name="T24" fmla="*/ 191 w 256"/>
                    <a:gd name="T25" fmla="*/ 174 h 213"/>
                    <a:gd name="T26" fmla="*/ 184 w 256"/>
                    <a:gd name="T27" fmla="*/ 175 h 213"/>
                    <a:gd name="T28" fmla="*/ 180 w 256"/>
                    <a:gd name="T29" fmla="*/ 176 h 213"/>
                    <a:gd name="T30" fmla="*/ 174 w 256"/>
                    <a:gd name="T31" fmla="*/ 184 h 213"/>
                    <a:gd name="T32" fmla="*/ 164 w 256"/>
                    <a:gd name="T33" fmla="*/ 191 h 213"/>
                    <a:gd name="T34" fmla="*/ 154 w 256"/>
                    <a:gd name="T35" fmla="*/ 194 h 213"/>
                    <a:gd name="T36" fmla="*/ 151 w 256"/>
                    <a:gd name="T37" fmla="*/ 200 h 213"/>
                    <a:gd name="T38" fmla="*/ 145 w 256"/>
                    <a:gd name="T39" fmla="*/ 206 h 213"/>
                    <a:gd name="T40" fmla="*/ 135 w 256"/>
                    <a:gd name="T41" fmla="*/ 208 h 213"/>
                    <a:gd name="T42" fmla="*/ 125 w 256"/>
                    <a:gd name="T43" fmla="*/ 207 h 213"/>
                    <a:gd name="T44" fmla="*/ 119 w 256"/>
                    <a:gd name="T45" fmla="*/ 207 h 213"/>
                    <a:gd name="T46" fmla="*/ 113 w 256"/>
                    <a:gd name="T47" fmla="*/ 211 h 213"/>
                    <a:gd name="T48" fmla="*/ 104 w 256"/>
                    <a:gd name="T49" fmla="*/ 213 h 213"/>
                    <a:gd name="T50" fmla="*/ 96 w 256"/>
                    <a:gd name="T51" fmla="*/ 212 h 213"/>
                    <a:gd name="T52" fmla="*/ 89 w 256"/>
                    <a:gd name="T53" fmla="*/ 207 h 213"/>
                    <a:gd name="T54" fmla="*/ 81 w 256"/>
                    <a:gd name="T55" fmla="*/ 195 h 213"/>
                    <a:gd name="T56" fmla="*/ 71 w 256"/>
                    <a:gd name="T57" fmla="*/ 193 h 213"/>
                    <a:gd name="T58" fmla="*/ 62 w 256"/>
                    <a:gd name="T59" fmla="*/ 187 h 213"/>
                    <a:gd name="T60" fmla="*/ 59 w 256"/>
                    <a:gd name="T61" fmla="*/ 179 h 213"/>
                    <a:gd name="T62" fmla="*/ 54 w 256"/>
                    <a:gd name="T63" fmla="*/ 178 h 213"/>
                    <a:gd name="T64" fmla="*/ 49 w 256"/>
                    <a:gd name="T65" fmla="*/ 176 h 213"/>
                    <a:gd name="T66" fmla="*/ 42 w 256"/>
                    <a:gd name="T67" fmla="*/ 171 h 213"/>
                    <a:gd name="T68" fmla="*/ 39 w 256"/>
                    <a:gd name="T69" fmla="*/ 163 h 213"/>
                    <a:gd name="T70" fmla="*/ 31 w 256"/>
                    <a:gd name="T71" fmla="*/ 160 h 213"/>
                    <a:gd name="T72" fmla="*/ 22 w 256"/>
                    <a:gd name="T73" fmla="*/ 156 h 213"/>
                    <a:gd name="T74" fmla="*/ 15 w 256"/>
                    <a:gd name="T75" fmla="*/ 147 h 213"/>
                    <a:gd name="T76" fmla="*/ 14 w 256"/>
                    <a:gd name="T77" fmla="*/ 135 h 213"/>
                    <a:gd name="T78" fmla="*/ 18 w 256"/>
                    <a:gd name="T79" fmla="*/ 126 h 213"/>
                    <a:gd name="T80" fmla="*/ 9 w 256"/>
                    <a:gd name="T81" fmla="*/ 124 h 213"/>
                    <a:gd name="T82" fmla="*/ 5 w 256"/>
                    <a:gd name="T83" fmla="*/ 121 h 213"/>
                    <a:gd name="T84" fmla="*/ 1 w 256"/>
                    <a:gd name="T85" fmla="*/ 118 h 213"/>
                    <a:gd name="T86" fmla="*/ 7 w 256"/>
                    <a:gd name="T87" fmla="*/ 77 h 213"/>
                    <a:gd name="T88" fmla="*/ 29 w 256"/>
                    <a:gd name="T89" fmla="*/ 28 h 213"/>
                    <a:gd name="T90" fmla="*/ 76 w 256"/>
                    <a:gd name="T91" fmla="*/ 12 h 213"/>
                    <a:gd name="T92" fmla="*/ 77 w 256"/>
                    <a:gd name="T93" fmla="*/ 20 h 213"/>
                    <a:gd name="T94" fmla="*/ 84 w 256"/>
                    <a:gd name="T95" fmla="*/ 21 h 213"/>
                    <a:gd name="T96" fmla="*/ 91 w 256"/>
                    <a:gd name="T97" fmla="*/ 18 h 213"/>
                    <a:gd name="T98" fmla="*/ 183 w 256"/>
                    <a:gd name="T99" fmla="*/ 18 h 213"/>
                    <a:gd name="T100" fmla="*/ 209 w 256"/>
                    <a:gd name="T101" fmla="*/ 7 h 213"/>
                    <a:gd name="T102" fmla="*/ 241 w 256"/>
                    <a:gd name="T103" fmla="*/ 50 h 213"/>
                    <a:gd name="T104" fmla="*/ 256 w 256"/>
                    <a:gd name="T105" fmla="*/ 101 h 213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256"/>
                    <a:gd name="T160" fmla="*/ 0 h 213"/>
                    <a:gd name="T161" fmla="*/ 256 w 256"/>
                    <a:gd name="T162" fmla="*/ 213 h 213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256" h="213">
                      <a:moveTo>
                        <a:pt x="256" y="116"/>
                      </a:moveTo>
                      <a:lnTo>
                        <a:pt x="255" y="116"/>
                      </a:lnTo>
                      <a:lnTo>
                        <a:pt x="254" y="117"/>
                      </a:lnTo>
                      <a:lnTo>
                        <a:pt x="253" y="118"/>
                      </a:lnTo>
                      <a:lnTo>
                        <a:pt x="252" y="118"/>
                      </a:lnTo>
                      <a:lnTo>
                        <a:pt x="252" y="119"/>
                      </a:lnTo>
                      <a:lnTo>
                        <a:pt x="250" y="119"/>
                      </a:lnTo>
                      <a:lnTo>
                        <a:pt x="249" y="120"/>
                      </a:lnTo>
                      <a:lnTo>
                        <a:pt x="247" y="121"/>
                      </a:lnTo>
                      <a:lnTo>
                        <a:pt x="245" y="121"/>
                      </a:lnTo>
                      <a:lnTo>
                        <a:pt x="245" y="120"/>
                      </a:lnTo>
                      <a:lnTo>
                        <a:pt x="244" y="120"/>
                      </a:lnTo>
                      <a:lnTo>
                        <a:pt x="244" y="119"/>
                      </a:lnTo>
                      <a:lnTo>
                        <a:pt x="243" y="118"/>
                      </a:lnTo>
                      <a:lnTo>
                        <a:pt x="243" y="117"/>
                      </a:lnTo>
                      <a:lnTo>
                        <a:pt x="242" y="116"/>
                      </a:lnTo>
                      <a:lnTo>
                        <a:pt x="228" y="126"/>
                      </a:lnTo>
                      <a:lnTo>
                        <a:pt x="228" y="128"/>
                      </a:lnTo>
                      <a:lnTo>
                        <a:pt x="228" y="130"/>
                      </a:lnTo>
                      <a:lnTo>
                        <a:pt x="228" y="131"/>
                      </a:lnTo>
                      <a:lnTo>
                        <a:pt x="228" y="133"/>
                      </a:lnTo>
                      <a:lnTo>
                        <a:pt x="228" y="135"/>
                      </a:lnTo>
                      <a:lnTo>
                        <a:pt x="228" y="137"/>
                      </a:lnTo>
                      <a:lnTo>
                        <a:pt x="228" y="139"/>
                      </a:lnTo>
                      <a:lnTo>
                        <a:pt x="228" y="142"/>
                      </a:lnTo>
                      <a:lnTo>
                        <a:pt x="228" y="144"/>
                      </a:lnTo>
                      <a:lnTo>
                        <a:pt x="226" y="147"/>
                      </a:lnTo>
                      <a:lnTo>
                        <a:pt x="225" y="148"/>
                      </a:lnTo>
                      <a:lnTo>
                        <a:pt x="224" y="150"/>
                      </a:lnTo>
                      <a:lnTo>
                        <a:pt x="223" y="151"/>
                      </a:lnTo>
                      <a:lnTo>
                        <a:pt x="222" y="152"/>
                      </a:lnTo>
                      <a:lnTo>
                        <a:pt x="219" y="153"/>
                      </a:lnTo>
                      <a:lnTo>
                        <a:pt x="218" y="156"/>
                      </a:lnTo>
                      <a:lnTo>
                        <a:pt x="217" y="156"/>
                      </a:lnTo>
                      <a:lnTo>
                        <a:pt x="215" y="157"/>
                      </a:lnTo>
                      <a:lnTo>
                        <a:pt x="213" y="158"/>
                      </a:lnTo>
                      <a:lnTo>
                        <a:pt x="206" y="158"/>
                      </a:lnTo>
                      <a:lnTo>
                        <a:pt x="203" y="159"/>
                      </a:lnTo>
                      <a:lnTo>
                        <a:pt x="203" y="161"/>
                      </a:lnTo>
                      <a:lnTo>
                        <a:pt x="202" y="163"/>
                      </a:lnTo>
                      <a:lnTo>
                        <a:pt x="201" y="165"/>
                      </a:lnTo>
                      <a:lnTo>
                        <a:pt x="200" y="166"/>
                      </a:lnTo>
                      <a:lnTo>
                        <a:pt x="199" y="167"/>
                      </a:lnTo>
                      <a:lnTo>
                        <a:pt x="198" y="169"/>
                      </a:lnTo>
                      <a:lnTo>
                        <a:pt x="197" y="171"/>
                      </a:lnTo>
                      <a:lnTo>
                        <a:pt x="196" y="172"/>
                      </a:lnTo>
                      <a:lnTo>
                        <a:pt x="194" y="173"/>
                      </a:lnTo>
                      <a:lnTo>
                        <a:pt x="193" y="173"/>
                      </a:lnTo>
                      <a:lnTo>
                        <a:pt x="192" y="174"/>
                      </a:lnTo>
                      <a:lnTo>
                        <a:pt x="191" y="174"/>
                      </a:lnTo>
                      <a:lnTo>
                        <a:pt x="190" y="174"/>
                      </a:lnTo>
                      <a:lnTo>
                        <a:pt x="188" y="174"/>
                      </a:lnTo>
                      <a:lnTo>
                        <a:pt x="186" y="175"/>
                      </a:lnTo>
                      <a:lnTo>
                        <a:pt x="184" y="175"/>
                      </a:lnTo>
                      <a:lnTo>
                        <a:pt x="183" y="175"/>
                      </a:lnTo>
                      <a:lnTo>
                        <a:pt x="182" y="174"/>
                      </a:lnTo>
                      <a:lnTo>
                        <a:pt x="181" y="174"/>
                      </a:lnTo>
                      <a:lnTo>
                        <a:pt x="180" y="176"/>
                      </a:lnTo>
                      <a:lnTo>
                        <a:pt x="179" y="179"/>
                      </a:lnTo>
                      <a:lnTo>
                        <a:pt x="177" y="182"/>
                      </a:lnTo>
                      <a:lnTo>
                        <a:pt x="176" y="184"/>
                      </a:lnTo>
                      <a:lnTo>
                        <a:pt x="174" y="184"/>
                      </a:lnTo>
                      <a:lnTo>
                        <a:pt x="171" y="188"/>
                      </a:lnTo>
                      <a:lnTo>
                        <a:pt x="170" y="189"/>
                      </a:lnTo>
                      <a:lnTo>
                        <a:pt x="167" y="190"/>
                      </a:lnTo>
                      <a:lnTo>
                        <a:pt x="164" y="191"/>
                      </a:lnTo>
                      <a:lnTo>
                        <a:pt x="162" y="191"/>
                      </a:lnTo>
                      <a:lnTo>
                        <a:pt x="155" y="191"/>
                      </a:lnTo>
                      <a:lnTo>
                        <a:pt x="155" y="192"/>
                      </a:lnTo>
                      <a:lnTo>
                        <a:pt x="154" y="194"/>
                      </a:lnTo>
                      <a:lnTo>
                        <a:pt x="154" y="195"/>
                      </a:lnTo>
                      <a:lnTo>
                        <a:pt x="153" y="197"/>
                      </a:lnTo>
                      <a:lnTo>
                        <a:pt x="152" y="198"/>
                      </a:lnTo>
                      <a:lnTo>
                        <a:pt x="151" y="200"/>
                      </a:lnTo>
                      <a:lnTo>
                        <a:pt x="150" y="203"/>
                      </a:lnTo>
                      <a:lnTo>
                        <a:pt x="148" y="204"/>
                      </a:lnTo>
                      <a:lnTo>
                        <a:pt x="146" y="205"/>
                      </a:lnTo>
                      <a:lnTo>
                        <a:pt x="145" y="206"/>
                      </a:lnTo>
                      <a:lnTo>
                        <a:pt x="143" y="207"/>
                      </a:lnTo>
                      <a:lnTo>
                        <a:pt x="140" y="208"/>
                      </a:lnTo>
                      <a:lnTo>
                        <a:pt x="137" y="208"/>
                      </a:lnTo>
                      <a:lnTo>
                        <a:pt x="135" y="208"/>
                      </a:lnTo>
                      <a:lnTo>
                        <a:pt x="133" y="208"/>
                      </a:lnTo>
                      <a:lnTo>
                        <a:pt x="131" y="208"/>
                      </a:lnTo>
                      <a:lnTo>
                        <a:pt x="129" y="207"/>
                      </a:lnTo>
                      <a:lnTo>
                        <a:pt x="125" y="207"/>
                      </a:lnTo>
                      <a:lnTo>
                        <a:pt x="123" y="205"/>
                      </a:lnTo>
                      <a:lnTo>
                        <a:pt x="121" y="204"/>
                      </a:lnTo>
                      <a:lnTo>
                        <a:pt x="120" y="206"/>
                      </a:lnTo>
                      <a:lnTo>
                        <a:pt x="119" y="207"/>
                      </a:lnTo>
                      <a:lnTo>
                        <a:pt x="117" y="208"/>
                      </a:lnTo>
                      <a:lnTo>
                        <a:pt x="116" y="210"/>
                      </a:lnTo>
                      <a:lnTo>
                        <a:pt x="115" y="210"/>
                      </a:lnTo>
                      <a:lnTo>
                        <a:pt x="113" y="211"/>
                      </a:lnTo>
                      <a:lnTo>
                        <a:pt x="110" y="212"/>
                      </a:lnTo>
                      <a:lnTo>
                        <a:pt x="109" y="213"/>
                      </a:lnTo>
                      <a:lnTo>
                        <a:pt x="106" y="213"/>
                      </a:lnTo>
                      <a:lnTo>
                        <a:pt x="104" y="213"/>
                      </a:lnTo>
                      <a:lnTo>
                        <a:pt x="102" y="213"/>
                      </a:lnTo>
                      <a:lnTo>
                        <a:pt x="100" y="213"/>
                      </a:lnTo>
                      <a:lnTo>
                        <a:pt x="98" y="213"/>
                      </a:lnTo>
                      <a:lnTo>
                        <a:pt x="96" y="212"/>
                      </a:lnTo>
                      <a:lnTo>
                        <a:pt x="93" y="211"/>
                      </a:lnTo>
                      <a:lnTo>
                        <a:pt x="92" y="210"/>
                      </a:lnTo>
                      <a:lnTo>
                        <a:pt x="90" y="209"/>
                      </a:lnTo>
                      <a:lnTo>
                        <a:pt x="89" y="207"/>
                      </a:lnTo>
                      <a:lnTo>
                        <a:pt x="87" y="206"/>
                      </a:lnTo>
                      <a:lnTo>
                        <a:pt x="85" y="204"/>
                      </a:lnTo>
                      <a:lnTo>
                        <a:pt x="83" y="196"/>
                      </a:lnTo>
                      <a:lnTo>
                        <a:pt x="81" y="195"/>
                      </a:lnTo>
                      <a:lnTo>
                        <a:pt x="77" y="195"/>
                      </a:lnTo>
                      <a:lnTo>
                        <a:pt x="75" y="195"/>
                      </a:lnTo>
                      <a:lnTo>
                        <a:pt x="73" y="194"/>
                      </a:lnTo>
                      <a:lnTo>
                        <a:pt x="71" y="193"/>
                      </a:lnTo>
                      <a:lnTo>
                        <a:pt x="68" y="192"/>
                      </a:lnTo>
                      <a:lnTo>
                        <a:pt x="66" y="190"/>
                      </a:lnTo>
                      <a:lnTo>
                        <a:pt x="63" y="189"/>
                      </a:lnTo>
                      <a:lnTo>
                        <a:pt x="62" y="187"/>
                      </a:lnTo>
                      <a:lnTo>
                        <a:pt x="61" y="182"/>
                      </a:lnTo>
                      <a:lnTo>
                        <a:pt x="60" y="180"/>
                      </a:lnTo>
                      <a:lnTo>
                        <a:pt x="59" y="179"/>
                      </a:lnTo>
                      <a:lnTo>
                        <a:pt x="58" y="178"/>
                      </a:lnTo>
                      <a:lnTo>
                        <a:pt x="57" y="178"/>
                      </a:lnTo>
                      <a:lnTo>
                        <a:pt x="55" y="178"/>
                      </a:lnTo>
                      <a:lnTo>
                        <a:pt x="54" y="178"/>
                      </a:lnTo>
                      <a:lnTo>
                        <a:pt x="52" y="178"/>
                      </a:lnTo>
                      <a:lnTo>
                        <a:pt x="51" y="177"/>
                      </a:lnTo>
                      <a:lnTo>
                        <a:pt x="49" y="177"/>
                      </a:lnTo>
                      <a:lnTo>
                        <a:pt x="49" y="176"/>
                      </a:lnTo>
                      <a:lnTo>
                        <a:pt x="45" y="175"/>
                      </a:lnTo>
                      <a:lnTo>
                        <a:pt x="44" y="174"/>
                      </a:lnTo>
                      <a:lnTo>
                        <a:pt x="43" y="173"/>
                      </a:lnTo>
                      <a:lnTo>
                        <a:pt x="42" y="171"/>
                      </a:lnTo>
                      <a:lnTo>
                        <a:pt x="41" y="169"/>
                      </a:lnTo>
                      <a:lnTo>
                        <a:pt x="40" y="167"/>
                      </a:lnTo>
                      <a:lnTo>
                        <a:pt x="40" y="166"/>
                      </a:lnTo>
                      <a:lnTo>
                        <a:pt x="39" y="163"/>
                      </a:lnTo>
                      <a:lnTo>
                        <a:pt x="38" y="161"/>
                      </a:lnTo>
                      <a:lnTo>
                        <a:pt x="36" y="161"/>
                      </a:lnTo>
                      <a:lnTo>
                        <a:pt x="34" y="161"/>
                      </a:lnTo>
                      <a:lnTo>
                        <a:pt x="31" y="160"/>
                      </a:lnTo>
                      <a:lnTo>
                        <a:pt x="28" y="159"/>
                      </a:lnTo>
                      <a:lnTo>
                        <a:pt x="26" y="159"/>
                      </a:lnTo>
                      <a:lnTo>
                        <a:pt x="23" y="158"/>
                      </a:lnTo>
                      <a:lnTo>
                        <a:pt x="22" y="156"/>
                      </a:lnTo>
                      <a:lnTo>
                        <a:pt x="20" y="153"/>
                      </a:lnTo>
                      <a:lnTo>
                        <a:pt x="18" y="152"/>
                      </a:lnTo>
                      <a:lnTo>
                        <a:pt x="16" y="149"/>
                      </a:lnTo>
                      <a:lnTo>
                        <a:pt x="15" y="147"/>
                      </a:lnTo>
                      <a:lnTo>
                        <a:pt x="15" y="144"/>
                      </a:lnTo>
                      <a:lnTo>
                        <a:pt x="14" y="142"/>
                      </a:lnTo>
                      <a:lnTo>
                        <a:pt x="14" y="139"/>
                      </a:lnTo>
                      <a:lnTo>
                        <a:pt x="14" y="135"/>
                      </a:lnTo>
                      <a:lnTo>
                        <a:pt x="15" y="133"/>
                      </a:lnTo>
                      <a:lnTo>
                        <a:pt x="15" y="130"/>
                      </a:lnTo>
                      <a:lnTo>
                        <a:pt x="16" y="128"/>
                      </a:lnTo>
                      <a:lnTo>
                        <a:pt x="18" y="126"/>
                      </a:lnTo>
                      <a:lnTo>
                        <a:pt x="19" y="122"/>
                      </a:lnTo>
                      <a:lnTo>
                        <a:pt x="13" y="118"/>
                      </a:lnTo>
                      <a:lnTo>
                        <a:pt x="10" y="124"/>
                      </a:lnTo>
                      <a:lnTo>
                        <a:pt x="9" y="124"/>
                      </a:lnTo>
                      <a:lnTo>
                        <a:pt x="7" y="122"/>
                      </a:lnTo>
                      <a:lnTo>
                        <a:pt x="7" y="121"/>
                      </a:lnTo>
                      <a:lnTo>
                        <a:pt x="5" y="121"/>
                      </a:lnTo>
                      <a:lnTo>
                        <a:pt x="4" y="120"/>
                      </a:lnTo>
                      <a:lnTo>
                        <a:pt x="3" y="119"/>
                      </a:lnTo>
                      <a:lnTo>
                        <a:pt x="1" y="119"/>
                      </a:lnTo>
                      <a:lnTo>
                        <a:pt x="1" y="118"/>
                      </a:lnTo>
                      <a:lnTo>
                        <a:pt x="0" y="117"/>
                      </a:lnTo>
                      <a:lnTo>
                        <a:pt x="0" y="103"/>
                      </a:lnTo>
                      <a:lnTo>
                        <a:pt x="3" y="90"/>
                      </a:lnTo>
                      <a:lnTo>
                        <a:pt x="7" y="77"/>
                      </a:lnTo>
                      <a:lnTo>
                        <a:pt x="10" y="63"/>
                      </a:lnTo>
                      <a:lnTo>
                        <a:pt x="15" y="52"/>
                      </a:lnTo>
                      <a:lnTo>
                        <a:pt x="22" y="39"/>
                      </a:lnTo>
                      <a:lnTo>
                        <a:pt x="29" y="28"/>
                      </a:lnTo>
                      <a:lnTo>
                        <a:pt x="38" y="19"/>
                      </a:lnTo>
                      <a:lnTo>
                        <a:pt x="49" y="8"/>
                      </a:lnTo>
                      <a:lnTo>
                        <a:pt x="58" y="1"/>
                      </a:lnTo>
                      <a:lnTo>
                        <a:pt x="76" y="12"/>
                      </a:lnTo>
                      <a:lnTo>
                        <a:pt x="73" y="18"/>
                      </a:lnTo>
                      <a:lnTo>
                        <a:pt x="74" y="18"/>
                      </a:lnTo>
                      <a:lnTo>
                        <a:pt x="76" y="19"/>
                      </a:lnTo>
                      <a:lnTo>
                        <a:pt x="77" y="20"/>
                      </a:lnTo>
                      <a:lnTo>
                        <a:pt x="79" y="20"/>
                      </a:lnTo>
                      <a:lnTo>
                        <a:pt x="81" y="21"/>
                      </a:lnTo>
                      <a:lnTo>
                        <a:pt x="82" y="21"/>
                      </a:lnTo>
                      <a:lnTo>
                        <a:pt x="84" y="21"/>
                      </a:lnTo>
                      <a:lnTo>
                        <a:pt x="85" y="22"/>
                      </a:lnTo>
                      <a:lnTo>
                        <a:pt x="87" y="22"/>
                      </a:lnTo>
                      <a:lnTo>
                        <a:pt x="89" y="23"/>
                      </a:lnTo>
                      <a:lnTo>
                        <a:pt x="91" y="18"/>
                      </a:lnTo>
                      <a:lnTo>
                        <a:pt x="128" y="6"/>
                      </a:lnTo>
                      <a:lnTo>
                        <a:pt x="181" y="18"/>
                      </a:lnTo>
                      <a:lnTo>
                        <a:pt x="182" y="18"/>
                      </a:lnTo>
                      <a:lnTo>
                        <a:pt x="183" y="18"/>
                      </a:lnTo>
                      <a:lnTo>
                        <a:pt x="183" y="17"/>
                      </a:lnTo>
                      <a:lnTo>
                        <a:pt x="180" y="10"/>
                      </a:lnTo>
                      <a:lnTo>
                        <a:pt x="197" y="0"/>
                      </a:lnTo>
                      <a:lnTo>
                        <a:pt x="209" y="7"/>
                      </a:lnTo>
                      <a:lnTo>
                        <a:pt x="218" y="17"/>
                      </a:lnTo>
                      <a:lnTo>
                        <a:pt x="226" y="26"/>
                      </a:lnTo>
                      <a:lnTo>
                        <a:pt x="234" y="38"/>
                      </a:lnTo>
                      <a:lnTo>
                        <a:pt x="241" y="50"/>
                      </a:lnTo>
                      <a:lnTo>
                        <a:pt x="247" y="62"/>
                      </a:lnTo>
                      <a:lnTo>
                        <a:pt x="250" y="74"/>
                      </a:lnTo>
                      <a:lnTo>
                        <a:pt x="254" y="88"/>
                      </a:lnTo>
                      <a:lnTo>
                        <a:pt x="256" y="101"/>
                      </a:lnTo>
                      <a:lnTo>
                        <a:pt x="256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368" name="Freeform 1030"/>
                <p:cNvSpPr>
                  <a:spLocks/>
                </p:cNvSpPr>
                <p:nvPr/>
              </p:nvSpPr>
              <p:spPr bwMode="auto">
                <a:xfrm>
                  <a:off x="2524" y="2483"/>
                  <a:ext cx="256" cy="213"/>
                </a:xfrm>
                <a:custGeom>
                  <a:avLst/>
                  <a:gdLst>
                    <a:gd name="T0" fmla="*/ 253 w 256"/>
                    <a:gd name="T1" fmla="*/ 118 h 213"/>
                    <a:gd name="T2" fmla="*/ 249 w 256"/>
                    <a:gd name="T3" fmla="*/ 120 h 213"/>
                    <a:gd name="T4" fmla="*/ 245 w 256"/>
                    <a:gd name="T5" fmla="*/ 120 h 213"/>
                    <a:gd name="T6" fmla="*/ 243 w 256"/>
                    <a:gd name="T7" fmla="*/ 117 h 213"/>
                    <a:gd name="T8" fmla="*/ 228 w 256"/>
                    <a:gd name="T9" fmla="*/ 130 h 213"/>
                    <a:gd name="T10" fmla="*/ 228 w 256"/>
                    <a:gd name="T11" fmla="*/ 137 h 213"/>
                    <a:gd name="T12" fmla="*/ 228 w 256"/>
                    <a:gd name="T13" fmla="*/ 144 h 213"/>
                    <a:gd name="T14" fmla="*/ 223 w 256"/>
                    <a:gd name="T15" fmla="*/ 151 h 213"/>
                    <a:gd name="T16" fmla="*/ 217 w 256"/>
                    <a:gd name="T17" fmla="*/ 156 h 213"/>
                    <a:gd name="T18" fmla="*/ 203 w 256"/>
                    <a:gd name="T19" fmla="*/ 159 h 213"/>
                    <a:gd name="T20" fmla="*/ 200 w 256"/>
                    <a:gd name="T21" fmla="*/ 166 h 213"/>
                    <a:gd name="T22" fmla="*/ 196 w 256"/>
                    <a:gd name="T23" fmla="*/ 172 h 213"/>
                    <a:gd name="T24" fmla="*/ 191 w 256"/>
                    <a:gd name="T25" fmla="*/ 174 h 213"/>
                    <a:gd name="T26" fmla="*/ 184 w 256"/>
                    <a:gd name="T27" fmla="*/ 175 h 213"/>
                    <a:gd name="T28" fmla="*/ 180 w 256"/>
                    <a:gd name="T29" fmla="*/ 176 h 213"/>
                    <a:gd name="T30" fmla="*/ 174 w 256"/>
                    <a:gd name="T31" fmla="*/ 184 h 213"/>
                    <a:gd name="T32" fmla="*/ 164 w 256"/>
                    <a:gd name="T33" fmla="*/ 191 h 213"/>
                    <a:gd name="T34" fmla="*/ 154 w 256"/>
                    <a:gd name="T35" fmla="*/ 194 h 213"/>
                    <a:gd name="T36" fmla="*/ 151 w 256"/>
                    <a:gd name="T37" fmla="*/ 200 h 213"/>
                    <a:gd name="T38" fmla="*/ 145 w 256"/>
                    <a:gd name="T39" fmla="*/ 206 h 213"/>
                    <a:gd name="T40" fmla="*/ 135 w 256"/>
                    <a:gd name="T41" fmla="*/ 208 h 213"/>
                    <a:gd name="T42" fmla="*/ 125 w 256"/>
                    <a:gd name="T43" fmla="*/ 207 h 213"/>
                    <a:gd name="T44" fmla="*/ 119 w 256"/>
                    <a:gd name="T45" fmla="*/ 207 h 213"/>
                    <a:gd name="T46" fmla="*/ 113 w 256"/>
                    <a:gd name="T47" fmla="*/ 211 h 213"/>
                    <a:gd name="T48" fmla="*/ 104 w 256"/>
                    <a:gd name="T49" fmla="*/ 213 h 213"/>
                    <a:gd name="T50" fmla="*/ 96 w 256"/>
                    <a:gd name="T51" fmla="*/ 212 h 213"/>
                    <a:gd name="T52" fmla="*/ 89 w 256"/>
                    <a:gd name="T53" fmla="*/ 207 h 213"/>
                    <a:gd name="T54" fmla="*/ 81 w 256"/>
                    <a:gd name="T55" fmla="*/ 195 h 213"/>
                    <a:gd name="T56" fmla="*/ 71 w 256"/>
                    <a:gd name="T57" fmla="*/ 193 h 213"/>
                    <a:gd name="T58" fmla="*/ 62 w 256"/>
                    <a:gd name="T59" fmla="*/ 187 h 213"/>
                    <a:gd name="T60" fmla="*/ 59 w 256"/>
                    <a:gd name="T61" fmla="*/ 179 h 213"/>
                    <a:gd name="T62" fmla="*/ 54 w 256"/>
                    <a:gd name="T63" fmla="*/ 178 h 213"/>
                    <a:gd name="T64" fmla="*/ 49 w 256"/>
                    <a:gd name="T65" fmla="*/ 176 h 213"/>
                    <a:gd name="T66" fmla="*/ 42 w 256"/>
                    <a:gd name="T67" fmla="*/ 171 h 213"/>
                    <a:gd name="T68" fmla="*/ 39 w 256"/>
                    <a:gd name="T69" fmla="*/ 163 h 213"/>
                    <a:gd name="T70" fmla="*/ 31 w 256"/>
                    <a:gd name="T71" fmla="*/ 160 h 213"/>
                    <a:gd name="T72" fmla="*/ 22 w 256"/>
                    <a:gd name="T73" fmla="*/ 156 h 213"/>
                    <a:gd name="T74" fmla="*/ 15 w 256"/>
                    <a:gd name="T75" fmla="*/ 147 h 213"/>
                    <a:gd name="T76" fmla="*/ 14 w 256"/>
                    <a:gd name="T77" fmla="*/ 135 h 213"/>
                    <a:gd name="T78" fmla="*/ 18 w 256"/>
                    <a:gd name="T79" fmla="*/ 126 h 213"/>
                    <a:gd name="T80" fmla="*/ 9 w 256"/>
                    <a:gd name="T81" fmla="*/ 124 h 213"/>
                    <a:gd name="T82" fmla="*/ 5 w 256"/>
                    <a:gd name="T83" fmla="*/ 121 h 213"/>
                    <a:gd name="T84" fmla="*/ 1 w 256"/>
                    <a:gd name="T85" fmla="*/ 118 h 213"/>
                    <a:gd name="T86" fmla="*/ 7 w 256"/>
                    <a:gd name="T87" fmla="*/ 77 h 213"/>
                    <a:gd name="T88" fmla="*/ 29 w 256"/>
                    <a:gd name="T89" fmla="*/ 28 h 213"/>
                    <a:gd name="T90" fmla="*/ 76 w 256"/>
                    <a:gd name="T91" fmla="*/ 12 h 213"/>
                    <a:gd name="T92" fmla="*/ 77 w 256"/>
                    <a:gd name="T93" fmla="*/ 20 h 213"/>
                    <a:gd name="T94" fmla="*/ 84 w 256"/>
                    <a:gd name="T95" fmla="*/ 21 h 213"/>
                    <a:gd name="T96" fmla="*/ 91 w 256"/>
                    <a:gd name="T97" fmla="*/ 18 h 213"/>
                    <a:gd name="T98" fmla="*/ 183 w 256"/>
                    <a:gd name="T99" fmla="*/ 18 h 213"/>
                    <a:gd name="T100" fmla="*/ 209 w 256"/>
                    <a:gd name="T101" fmla="*/ 7 h 213"/>
                    <a:gd name="T102" fmla="*/ 241 w 256"/>
                    <a:gd name="T103" fmla="*/ 50 h 213"/>
                    <a:gd name="T104" fmla="*/ 256 w 256"/>
                    <a:gd name="T105" fmla="*/ 101 h 213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256"/>
                    <a:gd name="T160" fmla="*/ 0 h 213"/>
                    <a:gd name="T161" fmla="*/ 256 w 256"/>
                    <a:gd name="T162" fmla="*/ 213 h 213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256" h="213">
                      <a:moveTo>
                        <a:pt x="256" y="116"/>
                      </a:moveTo>
                      <a:lnTo>
                        <a:pt x="255" y="116"/>
                      </a:lnTo>
                      <a:lnTo>
                        <a:pt x="254" y="117"/>
                      </a:lnTo>
                      <a:lnTo>
                        <a:pt x="253" y="118"/>
                      </a:lnTo>
                      <a:lnTo>
                        <a:pt x="252" y="118"/>
                      </a:lnTo>
                      <a:lnTo>
                        <a:pt x="252" y="119"/>
                      </a:lnTo>
                      <a:lnTo>
                        <a:pt x="250" y="119"/>
                      </a:lnTo>
                      <a:lnTo>
                        <a:pt x="249" y="120"/>
                      </a:lnTo>
                      <a:lnTo>
                        <a:pt x="247" y="121"/>
                      </a:lnTo>
                      <a:lnTo>
                        <a:pt x="245" y="121"/>
                      </a:lnTo>
                      <a:lnTo>
                        <a:pt x="245" y="120"/>
                      </a:lnTo>
                      <a:lnTo>
                        <a:pt x="244" y="120"/>
                      </a:lnTo>
                      <a:lnTo>
                        <a:pt x="244" y="119"/>
                      </a:lnTo>
                      <a:lnTo>
                        <a:pt x="243" y="118"/>
                      </a:lnTo>
                      <a:lnTo>
                        <a:pt x="243" y="117"/>
                      </a:lnTo>
                      <a:lnTo>
                        <a:pt x="242" y="116"/>
                      </a:lnTo>
                      <a:lnTo>
                        <a:pt x="228" y="126"/>
                      </a:lnTo>
                      <a:lnTo>
                        <a:pt x="228" y="128"/>
                      </a:lnTo>
                      <a:lnTo>
                        <a:pt x="228" y="130"/>
                      </a:lnTo>
                      <a:lnTo>
                        <a:pt x="228" y="131"/>
                      </a:lnTo>
                      <a:lnTo>
                        <a:pt x="228" y="133"/>
                      </a:lnTo>
                      <a:lnTo>
                        <a:pt x="228" y="135"/>
                      </a:lnTo>
                      <a:lnTo>
                        <a:pt x="228" y="137"/>
                      </a:lnTo>
                      <a:lnTo>
                        <a:pt x="228" y="139"/>
                      </a:lnTo>
                      <a:lnTo>
                        <a:pt x="228" y="142"/>
                      </a:lnTo>
                      <a:lnTo>
                        <a:pt x="228" y="144"/>
                      </a:lnTo>
                      <a:lnTo>
                        <a:pt x="226" y="147"/>
                      </a:lnTo>
                      <a:lnTo>
                        <a:pt x="225" y="148"/>
                      </a:lnTo>
                      <a:lnTo>
                        <a:pt x="224" y="150"/>
                      </a:lnTo>
                      <a:lnTo>
                        <a:pt x="223" y="151"/>
                      </a:lnTo>
                      <a:lnTo>
                        <a:pt x="222" y="152"/>
                      </a:lnTo>
                      <a:lnTo>
                        <a:pt x="219" y="153"/>
                      </a:lnTo>
                      <a:lnTo>
                        <a:pt x="218" y="156"/>
                      </a:lnTo>
                      <a:lnTo>
                        <a:pt x="217" y="156"/>
                      </a:lnTo>
                      <a:lnTo>
                        <a:pt x="215" y="157"/>
                      </a:lnTo>
                      <a:lnTo>
                        <a:pt x="213" y="158"/>
                      </a:lnTo>
                      <a:lnTo>
                        <a:pt x="206" y="158"/>
                      </a:lnTo>
                      <a:lnTo>
                        <a:pt x="203" y="159"/>
                      </a:lnTo>
                      <a:lnTo>
                        <a:pt x="203" y="161"/>
                      </a:lnTo>
                      <a:lnTo>
                        <a:pt x="202" y="163"/>
                      </a:lnTo>
                      <a:lnTo>
                        <a:pt x="201" y="165"/>
                      </a:lnTo>
                      <a:lnTo>
                        <a:pt x="200" y="166"/>
                      </a:lnTo>
                      <a:lnTo>
                        <a:pt x="199" y="167"/>
                      </a:lnTo>
                      <a:lnTo>
                        <a:pt x="198" y="169"/>
                      </a:lnTo>
                      <a:lnTo>
                        <a:pt x="197" y="171"/>
                      </a:lnTo>
                      <a:lnTo>
                        <a:pt x="196" y="172"/>
                      </a:lnTo>
                      <a:lnTo>
                        <a:pt x="194" y="173"/>
                      </a:lnTo>
                      <a:lnTo>
                        <a:pt x="193" y="173"/>
                      </a:lnTo>
                      <a:lnTo>
                        <a:pt x="192" y="174"/>
                      </a:lnTo>
                      <a:lnTo>
                        <a:pt x="191" y="174"/>
                      </a:lnTo>
                      <a:lnTo>
                        <a:pt x="190" y="174"/>
                      </a:lnTo>
                      <a:lnTo>
                        <a:pt x="188" y="174"/>
                      </a:lnTo>
                      <a:lnTo>
                        <a:pt x="186" y="175"/>
                      </a:lnTo>
                      <a:lnTo>
                        <a:pt x="184" y="175"/>
                      </a:lnTo>
                      <a:lnTo>
                        <a:pt x="183" y="175"/>
                      </a:lnTo>
                      <a:lnTo>
                        <a:pt x="182" y="174"/>
                      </a:lnTo>
                      <a:lnTo>
                        <a:pt x="181" y="174"/>
                      </a:lnTo>
                      <a:lnTo>
                        <a:pt x="180" y="176"/>
                      </a:lnTo>
                      <a:lnTo>
                        <a:pt x="179" y="179"/>
                      </a:lnTo>
                      <a:lnTo>
                        <a:pt x="177" y="182"/>
                      </a:lnTo>
                      <a:lnTo>
                        <a:pt x="176" y="184"/>
                      </a:lnTo>
                      <a:lnTo>
                        <a:pt x="174" y="184"/>
                      </a:lnTo>
                      <a:lnTo>
                        <a:pt x="171" y="188"/>
                      </a:lnTo>
                      <a:lnTo>
                        <a:pt x="170" y="189"/>
                      </a:lnTo>
                      <a:lnTo>
                        <a:pt x="167" y="190"/>
                      </a:lnTo>
                      <a:lnTo>
                        <a:pt x="164" y="191"/>
                      </a:lnTo>
                      <a:lnTo>
                        <a:pt x="162" y="191"/>
                      </a:lnTo>
                      <a:lnTo>
                        <a:pt x="155" y="191"/>
                      </a:lnTo>
                      <a:lnTo>
                        <a:pt x="155" y="192"/>
                      </a:lnTo>
                      <a:lnTo>
                        <a:pt x="154" y="194"/>
                      </a:lnTo>
                      <a:lnTo>
                        <a:pt x="154" y="195"/>
                      </a:lnTo>
                      <a:lnTo>
                        <a:pt x="153" y="197"/>
                      </a:lnTo>
                      <a:lnTo>
                        <a:pt x="152" y="198"/>
                      </a:lnTo>
                      <a:lnTo>
                        <a:pt x="151" y="200"/>
                      </a:lnTo>
                      <a:lnTo>
                        <a:pt x="150" y="203"/>
                      </a:lnTo>
                      <a:lnTo>
                        <a:pt x="148" y="204"/>
                      </a:lnTo>
                      <a:lnTo>
                        <a:pt x="146" y="205"/>
                      </a:lnTo>
                      <a:lnTo>
                        <a:pt x="145" y="206"/>
                      </a:lnTo>
                      <a:lnTo>
                        <a:pt x="143" y="207"/>
                      </a:lnTo>
                      <a:lnTo>
                        <a:pt x="140" y="208"/>
                      </a:lnTo>
                      <a:lnTo>
                        <a:pt x="137" y="208"/>
                      </a:lnTo>
                      <a:lnTo>
                        <a:pt x="135" y="208"/>
                      </a:lnTo>
                      <a:lnTo>
                        <a:pt x="133" y="208"/>
                      </a:lnTo>
                      <a:lnTo>
                        <a:pt x="131" y="208"/>
                      </a:lnTo>
                      <a:lnTo>
                        <a:pt x="129" y="207"/>
                      </a:lnTo>
                      <a:lnTo>
                        <a:pt x="125" y="207"/>
                      </a:lnTo>
                      <a:lnTo>
                        <a:pt x="123" y="205"/>
                      </a:lnTo>
                      <a:lnTo>
                        <a:pt x="121" y="204"/>
                      </a:lnTo>
                      <a:lnTo>
                        <a:pt x="120" y="206"/>
                      </a:lnTo>
                      <a:lnTo>
                        <a:pt x="119" y="207"/>
                      </a:lnTo>
                      <a:lnTo>
                        <a:pt x="117" y="208"/>
                      </a:lnTo>
                      <a:lnTo>
                        <a:pt x="116" y="210"/>
                      </a:lnTo>
                      <a:lnTo>
                        <a:pt x="115" y="210"/>
                      </a:lnTo>
                      <a:lnTo>
                        <a:pt x="113" y="211"/>
                      </a:lnTo>
                      <a:lnTo>
                        <a:pt x="110" y="212"/>
                      </a:lnTo>
                      <a:lnTo>
                        <a:pt x="109" y="213"/>
                      </a:lnTo>
                      <a:lnTo>
                        <a:pt x="106" y="213"/>
                      </a:lnTo>
                      <a:lnTo>
                        <a:pt x="104" y="213"/>
                      </a:lnTo>
                      <a:lnTo>
                        <a:pt x="102" y="213"/>
                      </a:lnTo>
                      <a:lnTo>
                        <a:pt x="100" y="213"/>
                      </a:lnTo>
                      <a:lnTo>
                        <a:pt x="98" y="213"/>
                      </a:lnTo>
                      <a:lnTo>
                        <a:pt x="96" y="212"/>
                      </a:lnTo>
                      <a:lnTo>
                        <a:pt x="93" y="211"/>
                      </a:lnTo>
                      <a:lnTo>
                        <a:pt x="92" y="210"/>
                      </a:lnTo>
                      <a:lnTo>
                        <a:pt x="90" y="209"/>
                      </a:lnTo>
                      <a:lnTo>
                        <a:pt x="89" y="207"/>
                      </a:lnTo>
                      <a:lnTo>
                        <a:pt x="87" y="206"/>
                      </a:lnTo>
                      <a:lnTo>
                        <a:pt x="85" y="204"/>
                      </a:lnTo>
                      <a:lnTo>
                        <a:pt x="83" y="196"/>
                      </a:lnTo>
                      <a:lnTo>
                        <a:pt x="81" y="195"/>
                      </a:lnTo>
                      <a:lnTo>
                        <a:pt x="77" y="195"/>
                      </a:lnTo>
                      <a:lnTo>
                        <a:pt x="75" y="195"/>
                      </a:lnTo>
                      <a:lnTo>
                        <a:pt x="73" y="194"/>
                      </a:lnTo>
                      <a:lnTo>
                        <a:pt x="71" y="193"/>
                      </a:lnTo>
                      <a:lnTo>
                        <a:pt x="68" y="192"/>
                      </a:lnTo>
                      <a:lnTo>
                        <a:pt x="66" y="190"/>
                      </a:lnTo>
                      <a:lnTo>
                        <a:pt x="63" y="189"/>
                      </a:lnTo>
                      <a:lnTo>
                        <a:pt x="62" y="187"/>
                      </a:lnTo>
                      <a:lnTo>
                        <a:pt x="61" y="182"/>
                      </a:lnTo>
                      <a:lnTo>
                        <a:pt x="60" y="180"/>
                      </a:lnTo>
                      <a:lnTo>
                        <a:pt x="59" y="179"/>
                      </a:lnTo>
                      <a:lnTo>
                        <a:pt x="58" y="178"/>
                      </a:lnTo>
                      <a:lnTo>
                        <a:pt x="57" y="178"/>
                      </a:lnTo>
                      <a:lnTo>
                        <a:pt x="55" y="178"/>
                      </a:lnTo>
                      <a:lnTo>
                        <a:pt x="54" y="178"/>
                      </a:lnTo>
                      <a:lnTo>
                        <a:pt x="52" y="178"/>
                      </a:lnTo>
                      <a:lnTo>
                        <a:pt x="51" y="177"/>
                      </a:lnTo>
                      <a:lnTo>
                        <a:pt x="49" y="177"/>
                      </a:lnTo>
                      <a:lnTo>
                        <a:pt x="49" y="176"/>
                      </a:lnTo>
                      <a:lnTo>
                        <a:pt x="45" y="175"/>
                      </a:lnTo>
                      <a:lnTo>
                        <a:pt x="44" y="174"/>
                      </a:lnTo>
                      <a:lnTo>
                        <a:pt x="43" y="173"/>
                      </a:lnTo>
                      <a:lnTo>
                        <a:pt x="42" y="171"/>
                      </a:lnTo>
                      <a:lnTo>
                        <a:pt x="41" y="169"/>
                      </a:lnTo>
                      <a:lnTo>
                        <a:pt x="40" y="167"/>
                      </a:lnTo>
                      <a:lnTo>
                        <a:pt x="40" y="166"/>
                      </a:lnTo>
                      <a:lnTo>
                        <a:pt x="39" y="163"/>
                      </a:lnTo>
                      <a:lnTo>
                        <a:pt x="38" y="161"/>
                      </a:lnTo>
                      <a:lnTo>
                        <a:pt x="36" y="161"/>
                      </a:lnTo>
                      <a:lnTo>
                        <a:pt x="34" y="161"/>
                      </a:lnTo>
                      <a:lnTo>
                        <a:pt x="31" y="160"/>
                      </a:lnTo>
                      <a:lnTo>
                        <a:pt x="28" y="159"/>
                      </a:lnTo>
                      <a:lnTo>
                        <a:pt x="26" y="159"/>
                      </a:lnTo>
                      <a:lnTo>
                        <a:pt x="23" y="158"/>
                      </a:lnTo>
                      <a:lnTo>
                        <a:pt x="22" y="156"/>
                      </a:lnTo>
                      <a:lnTo>
                        <a:pt x="20" y="153"/>
                      </a:lnTo>
                      <a:lnTo>
                        <a:pt x="18" y="152"/>
                      </a:lnTo>
                      <a:lnTo>
                        <a:pt x="16" y="149"/>
                      </a:lnTo>
                      <a:lnTo>
                        <a:pt x="15" y="147"/>
                      </a:lnTo>
                      <a:lnTo>
                        <a:pt x="15" y="144"/>
                      </a:lnTo>
                      <a:lnTo>
                        <a:pt x="14" y="142"/>
                      </a:lnTo>
                      <a:lnTo>
                        <a:pt x="14" y="139"/>
                      </a:lnTo>
                      <a:lnTo>
                        <a:pt x="14" y="135"/>
                      </a:lnTo>
                      <a:lnTo>
                        <a:pt x="15" y="133"/>
                      </a:lnTo>
                      <a:lnTo>
                        <a:pt x="15" y="130"/>
                      </a:lnTo>
                      <a:lnTo>
                        <a:pt x="16" y="128"/>
                      </a:lnTo>
                      <a:lnTo>
                        <a:pt x="18" y="126"/>
                      </a:lnTo>
                      <a:lnTo>
                        <a:pt x="19" y="122"/>
                      </a:lnTo>
                      <a:lnTo>
                        <a:pt x="13" y="118"/>
                      </a:lnTo>
                      <a:lnTo>
                        <a:pt x="10" y="124"/>
                      </a:lnTo>
                      <a:lnTo>
                        <a:pt x="9" y="124"/>
                      </a:lnTo>
                      <a:lnTo>
                        <a:pt x="7" y="122"/>
                      </a:lnTo>
                      <a:lnTo>
                        <a:pt x="7" y="121"/>
                      </a:lnTo>
                      <a:lnTo>
                        <a:pt x="5" y="121"/>
                      </a:lnTo>
                      <a:lnTo>
                        <a:pt x="4" y="120"/>
                      </a:lnTo>
                      <a:lnTo>
                        <a:pt x="3" y="119"/>
                      </a:lnTo>
                      <a:lnTo>
                        <a:pt x="1" y="119"/>
                      </a:lnTo>
                      <a:lnTo>
                        <a:pt x="1" y="118"/>
                      </a:lnTo>
                      <a:lnTo>
                        <a:pt x="0" y="117"/>
                      </a:lnTo>
                      <a:lnTo>
                        <a:pt x="0" y="103"/>
                      </a:lnTo>
                      <a:lnTo>
                        <a:pt x="3" y="90"/>
                      </a:lnTo>
                      <a:lnTo>
                        <a:pt x="7" y="77"/>
                      </a:lnTo>
                      <a:lnTo>
                        <a:pt x="10" y="63"/>
                      </a:lnTo>
                      <a:lnTo>
                        <a:pt x="15" y="52"/>
                      </a:lnTo>
                      <a:lnTo>
                        <a:pt x="22" y="39"/>
                      </a:lnTo>
                      <a:lnTo>
                        <a:pt x="29" y="28"/>
                      </a:lnTo>
                      <a:lnTo>
                        <a:pt x="38" y="19"/>
                      </a:lnTo>
                      <a:lnTo>
                        <a:pt x="49" y="8"/>
                      </a:lnTo>
                      <a:lnTo>
                        <a:pt x="58" y="1"/>
                      </a:lnTo>
                      <a:lnTo>
                        <a:pt x="76" y="12"/>
                      </a:lnTo>
                      <a:lnTo>
                        <a:pt x="73" y="18"/>
                      </a:lnTo>
                      <a:lnTo>
                        <a:pt x="74" y="18"/>
                      </a:lnTo>
                      <a:lnTo>
                        <a:pt x="76" y="19"/>
                      </a:lnTo>
                      <a:lnTo>
                        <a:pt x="77" y="20"/>
                      </a:lnTo>
                      <a:lnTo>
                        <a:pt x="79" y="20"/>
                      </a:lnTo>
                      <a:lnTo>
                        <a:pt x="81" y="21"/>
                      </a:lnTo>
                      <a:lnTo>
                        <a:pt x="82" y="21"/>
                      </a:lnTo>
                      <a:lnTo>
                        <a:pt x="84" y="21"/>
                      </a:lnTo>
                      <a:lnTo>
                        <a:pt x="85" y="22"/>
                      </a:lnTo>
                      <a:lnTo>
                        <a:pt x="87" y="22"/>
                      </a:lnTo>
                      <a:lnTo>
                        <a:pt x="89" y="23"/>
                      </a:lnTo>
                      <a:lnTo>
                        <a:pt x="91" y="18"/>
                      </a:lnTo>
                      <a:lnTo>
                        <a:pt x="128" y="6"/>
                      </a:lnTo>
                      <a:lnTo>
                        <a:pt x="181" y="18"/>
                      </a:lnTo>
                      <a:lnTo>
                        <a:pt x="182" y="18"/>
                      </a:lnTo>
                      <a:lnTo>
                        <a:pt x="183" y="18"/>
                      </a:lnTo>
                      <a:lnTo>
                        <a:pt x="183" y="17"/>
                      </a:lnTo>
                      <a:lnTo>
                        <a:pt x="180" y="10"/>
                      </a:lnTo>
                      <a:lnTo>
                        <a:pt x="197" y="0"/>
                      </a:lnTo>
                      <a:lnTo>
                        <a:pt x="209" y="7"/>
                      </a:lnTo>
                      <a:lnTo>
                        <a:pt x="218" y="17"/>
                      </a:lnTo>
                      <a:lnTo>
                        <a:pt x="226" y="26"/>
                      </a:lnTo>
                      <a:lnTo>
                        <a:pt x="234" y="38"/>
                      </a:lnTo>
                      <a:lnTo>
                        <a:pt x="241" y="50"/>
                      </a:lnTo>
                      <a:lnTo>
                        <a:pt x="247" y="62"/>
                      </a:lnTo>
                      <a:lnTo>
                        <a:pt x="250" y="74"/>
                      </a:lnTo>
                      <a:lnTo>
                        <a:pt x="254" y="88"/>
                      </a:lnTo>
                      <a:lnTo>
                        <a:pt x="256" y="101"/>
                      </a:lnTo>
                      <a:lnTo>
                        <a:pt x="256" y="116"/>
                      </a:lnTo>
                    </a:path>
                  </a:pathLst>
                </a:custGeom>
                <a:no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369" name="Freeform 1031"/>
                <p:cNvSpPr>
                  <a:spLocks/>
                </p:cNvSpPr>
                <p:nvPr/>
              </p:nvSpPr>
              <p:spPr bwMode="auto">
                <a:xfrm>
                  <a:off x="2715" y="2488"/>
                  <a:ext cx="63" cy="107"/>
                </a:xfrm>
                <a:custGeom>
                  <a:avLst/>
                  <a:gdLst>
                    <a:gd name="T0" fmla="*/ 63 w 63"/>
                    <a:gd name="T1" fmla="*/ 104 h 107"/>
                    <a:gd name="T2" fmla="*/ 56 w 63"/>
                    <a:gd name="T3" fmla="*/ 107 h 107"/>
                    <a:gd name="T4" fmla="*/ 0 w 63"/>
                    <a:gd name="T5" fmla="*/ 7 h 107"/>
                    <a:gd name="T6" fmla="*/ 11 w 63"/>
                    <a:gd name="T7" fmla="*/ 0 h 107"/>
                    <a:gd name="T8" fmla="*/ 21 w 63"/>
                    <a:gd name="T9" fmla="*/ 7 h 107"/>
                    <a:gd name="T10" fmla="*/ 28 w 63"/>
                    <a:gd name="T11" fmla="*/ 16 h 107"/>
                    <a:gd name="T12" fmla="*/ 36 w 63"/>
                    <a:gd name="T13" fmla="*/ 25 h 107"/>
                    <a:gd name="T14" fmla="*/ 42 w 63"/>
                    <a:gd name="T15" fmla="*/ 35 h 107"/>
                    <a:gd name="T16" fmla="*/ 48 w 63"/>
                    <a:gd name="T17" fmla="*/ 45 h 107"/>
                    <a:gd name="T18" fmla="*/ 53 w 63"/>
                    <a:gd name="T19" fmla="*/ 56 h 107"/>
                    <a:gd name="T20" fmla="*/ 56 w 63"/>
                    <a:gd name="T21" fmla="*/ 67 h 107"/>
                    <a:gd name="T22" fmla="*/ 61 w 63"/>
                    <a:gd name="T23" fmla="*/ 78 h 107"/>
                    <a:gd name="T24" fmla="*/ 62 w 63"/>
                    <a:gd name="T25" fmla="*/ 91 h 107"/>
                    <a:gd name="T26" fmla="*/ 63 w 63"/>
                    <a:gd name="T27" fmla="*/ 104 h 10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63"/>
                    <a:gd name="T43" fmla="*/ 0 h 107"/>
                    <a:gd name="T44" fmla="*/ 63 w 63"/>
                    <a:gd name="T45" fmla="*/ 107 h 10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63" h="107">
                      <a:moveTo>
                        <a:pt x="63" y="104"/>
                      </a:moveTo>
                      <a:lnTo>
                        <a:pt x="56" y="107"/>
                      </a:lnTo>
                      <a:lnTo>
                        <a:pt x="0" y="7"/>
                      </a:lnTo>
                      <a:lnTo>
                        <a:pt x="11" y="0"/>
                      </a:lnTo>
                      <a:lnTo>
                        <a:pt x="21" y="7"/>
                      </a:lnTo>
                      <a:lnTo>
                        <a:pt x="28" y="16"/>
                      </a:lnTo>
                      <a:lnTo>
                        <a:pt x="36" y="25"/>
                      </a:lnTo>
                      <a:lnTo>
                        <a:pt x="42" y="35"/>
                      </a:lnTo>
                      <a:lnTo>
                        <a:pt x="48" y="45"/>
                      </a:lnTo>
                      <a:lnTo>
                        <a:pt x="53" y="56"/>
                      </a:lnTo>
                      <a:lnTo>
                        <a:pt x="56" y="67"/>
                      </a:lnTo>
                      <a:lnTo>
                        <a:pt x="61" y="78"/>
                      </a:lnTo>
                      <a:lnTo>
                        <a:pt x="62" y="91"/>
                      </a:lnTo>
                      <a:lnTo>
                        <a:pt x="63" y="10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370" name="Freeform 1032"/>
                <p:cNvSpPr>
                  <a:spLocks/>
                </p:cNvSpPr>
                <p:nvPr/>
              </p:nvSpPr>
              <p:spPr bwMode="auto">
                <a:xfrm>
                  <a:off x="2715" y="2488"/>
                  <a:ext cx="63" cy="107"/>
                </a:xfrm>
                <a:custGeom>
                  <a:avLst/>
                  <a:gdLst>
                    <a:gd name="T0" fmla="*/ 63 w 63"/>
                    <a:gd name="T1" fmla="*/ 104 h 107"/>
                    <a:gd name="T2" fmla="*/ 56 w 63"/>
                    <a:gd name="T3" fmla="*/ 107 h 107"/>
                    <a:gd name="T4" fmla="*/ 0 w 63"/>
                    <a:gd name="T5" fmla="*/ 7 h 107"/>
                    <a:gd name="T6" fmla="*/ 11 w 63"/>
                    <a:gd name="T7" fmla="*/ 0 h 107"/>
                    <a:gd name="T8" fmla="*/ 21 w 63"/>
                    <a:gd name="T9" fmla="*/ 7 h 107"/>
                    <a:gd name="T10" fmla="*/ 28 w 63"/>
                    <a:gd name="T11" fmla="*/ 16 h 107"/>
                    <a:gd name="T12" fmla="*/ 36 w 63"/>
                    <a:gd name="T13" fmla="*/ 25 h 107"/>
                    <a:gd name="T14" fmla="*/ 42 w 63"/>
                    <a:gd name="T15" fmla="*/ 35 h 107"/>
                    <a:gd name="T16" fmla="*/ 48 w 63"/>
                    <a:gd name="T17" fmla="*/ 45 h 107"/>
                    <a:gd name="T18" fmla="*/ 53 w 63"/>
                    <a:gd name="T19" fmla="*/ 56 h 107"/>
                    <a:gd name="T20" fmla="*/ 56 w 63"/>
                    <a:gd name="T21" fmla="*/ 67 h 107"/>
                    <a:gd name="T22" fmla="*/ 61 w 63"/>
                    <a:gd name="T23" fmla="*/ 78 h 107"/>
                    <a:gd name="T24" fmla="*/ 62 w 63"/>
                    <a:gd name="T25" fmla="*/ 91 h 107"/>
                    <a:gd name="T26" fmla="*/ 63 w 63"/>
                    <a:gd name="T27" fmla="*/ 104 h 10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63"/>
                    <a:gd name="T43" fmla="*/ 0 h 107"/>
                    <a:gd name="T44" fmla="*/ 63 w 63"/>
                    <a:gd name="T45" fmla="*/ 107 h 10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63" h="107">
                      <a:moveTo>
                        <a:pt x="63" y="104"/>
                      </a:moveTo>
                      <a:lnTo>
                        <a:pt x="56" y="107"/>
                      </a:lnTo>
                      <a:lnTo>
                        <a:pt x="0" y="7"/>
                      </a:lnTo>
                      <a:lnTo>
                        <a:pt x="11" y="0"/>
                      </a:lnTo>
                      <a:lnTo>
                        <a:pt x="21" y="7"/>
                      </a:lnTo>
                      <a:lnTo>
                        <a:pt x="28" y="16"/>
                      </a:lnTo>
                      <a:lnTo>
                        <a:pt x="36" y="25"/>
                      </a:lnTo>
                      <a:lnTo>
                        <a:pt x="42" y="35"/>
                      </a:lnTo>
                      <a:lnTo>
                        <a:pt x="48" y="45"/>
                      </a:lnTo>
                      <a:lnTo>
                        <a:pt x="53" y="56"/>
                      </a:lnTo>
                      <a:lnTo>
                        <a:pt x="56" y="67"/>
                      </a:lnTo>
                      <a:lnTo>
                        <a:pt x="61" y="78"/>
                      </a:lnTo>
                      <a:lnTo>
                        <a:pt x="62" y="91"/>
                      </a:lnTo>
                      <a:lnTo>
                        <a:pt x="63" y="104"/>
                      </a:lnTo>
                    </a:path>
                  </a:pathLst>
                </a:custGeom>
                <a:no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371" name="Freeform 1033"/>
                <p:cNvSpPr>
                  <a:spLocks/>
                </p:cNvSpPr>
                <p:nvPr/>
              </p:nvSpPr>
              <p:spPr bwMode="auto">
                <a:xfrm>
                  <a:off x="2527" y="2490"/>
                  <a:ext cx="63" cy="107"/>
                </a:xfrm>
                <a:custGeom>
                  <a:avLst/>
                  <a:gdLst>
                    <a:gd name="T0" fmla="*/ 63 w 63"/>
                    <a:gd name="T1" fmla="*/ 9 h 107"/>
                    <a:gd name="T2" fmla="*/ 5 w 63"/>
                    <a:gd name="T3" fmla="*/ 107 h 107"/>
                    <a:gd name="T4" fmla="*/ 4 w 63"/>
                    <a:gd name="T5" fmla="*/ 107 h 107"/>
                    <a:gd name="T6" fmla="*/ 3 w 63"/>
                    <a:gd name="T7" fmla="*/ 107 h 107"/>
                    <a:gd name="T8" fmla="*/ 2 w 63"/>
                    <a:gd name="T9" fmla="*/ 106 h 107"/>
                    <a:gd name="T10" fmla="*/ 1 w 63"/>
                    <a:gd name="T11" fmla="*/ 106 h 107"/>
                    <a:gd name="T12" fmla="*/ 1 w 63"/>
                    <a:gd name="T13" fmla="*/ 105 h 107"/>
                    <a:gd name="T14" fmla="*/ 0 w 63"/>
                    <a:gd name="T15" fmla="*/ 104 h 107"/>
                    <a:gd name="T16" fmla="*/ 1 w 63"/>
                    <a:gd name="T17" fmla="*/ 92 h 107"/>
                    <a:gd name="T18" fmla="*/ 2 w 63"/>
                    <a:gd name="T19" fmla="*/ 80 h 107"/>
                    <a:gd name="T20" fmla="*/ 5 w 63"/>
                    <a:gd name="T21" fmla="*/ 68 h 107"/>
                    <a:gd name="T22" fmla="*/ 8 w 63"/>
                    <a:gd name="T23" fmla="*/ 57 h 107"/>
                    <a:gd name="T24" fmla="*/ 12 w 63"/>
                    <a:gd name="T25" fmla="*/ 46 h 107"/>
                    <a:gd name="T26" fmla="*/ 19 w 63"/>
                    <a:gd name="T27" fmla="*/ 35 h 107"/>
                    <a:gd name="T28" fmla="*/ 25 w 63"/>
                    <a:gd name="T29" fmla="*/ 27 h 107"/>
                    <a:gd name="T30" fmla="*/ 32 w 63"/>
                    <a:gd name="T31" fmla="*/ 17 h 107"/>
                    <a:gd name="T32" fmla="*/ 40 w 63"/>
                    <a:gd name="T33" fmla="*/ 9 h 107"/>
                    <a:gd name="T34" fmla="*/ 49 w 63"/>
                    <a:gd name="T35" fmla="*/ 0 h 107"/>
                    <a:gd name="T36" fmla="*/ 50 w 63"/>
                    <a:gd name="T37" fmla="*/ 0 h 107"/>
                    <a:gd name="T38" fmla="*/ 52 w 63"/>
                    <a:gd name="T39" fmla="*/ 1 h 107"/>
                    <a:gd name="T40" fmla="*/ 54 w 63"/>
                    <a:gd name="T41" fmla="*/ 2 h 107"/>
                    <a:gd name="T42" fmla="*/ 54 w 63"/>
                    <a:gd name="T43" fmla="*/ 3 h 107"/>
                    <a:gd name="T44" fmla="*/ 56 w 63"/>
                    <a:gd name="T45" fmla="*/ 3 h 107"/>
                    <a:gd name="T46" fmla="*/ 57 w 63"/>
                    <a:gd name="T47" fmla="*/ 4 h 107"/>
                    <a:gd name="T48" fmla="*/ 58 w 63"/>
                    <a:gd name="T49" fmla="*/ 5 h 107"/>
                    <a:gd name="T50" fmla="*/ 60 w 63"/>
                    <a:gd name="T51" fmla="*/ 7 h 107"/>
                    <a:gd name="T52" fmla="*/ 62 w 63"/>
                    <a:gd name="T53" fmla="*/ 9 h 107"/>
                    <a:gd name="T54" fmla="*/ 63 w 63"/>
                    <a:gd name="T55" fmla="*/ 9 h 107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w 63"/>
                    <a:gd name="T85" fmla="*/ 0 h 107"/>
                    <a:gd name="T86" fmla="*/ 63 w 63"/>
                    <a:gd name="T87" fmla="*/ 107 h 107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T84" t="T85" r="T86" b="T87"/>
                  <a:pathLst>
                    <a:path w="63" h="107">
                      <a:moveTo>
                        <a:pt x="63" y="9"/>
                      </a:moveTo>
                      <a:lnTo>
                        <a:pt x="5" y="107"/>
                      </a:lnTo>
                      <a:lnTo>
                        <a:pt x="4" y="107"/>
                      </a:lnTo>
                      <a:lnTo>
                        <a:pt x="3" y="107"/>
                      </a:lnTo>
                      <a:lnTo>
                        <a:pt x="2" y="106"/>
                      </a:lnTo>
                      <a:lnTo>
                        <a:pt x="1" y="106"/>
                      </a:lnTo>
                      <a:lnTo>
                        <a:pt x="1" y="105"/>
                      </a:lnTo>
                      <a:lnTo>
                        <a:pt x="0" y="104"/>
                      </a:lnTo>
                      <a:lnTo>
                        <a:pt x="1" y="92"/>
                      </a:lnTo>
                      <a:lnTo>
                        <a:pt x="2" y="80"/>
                      </a:lnTo>
                      <a:lnTo>
                        <a:pt x="5" y="68"/>
                      </a:lnTo>
                      <a:lnTo>
                        <a:pt x="8" y="57"/>
                      </a:lnTo>
                      <a:lnTo>
                        <a:pt x="12" y="46"/>
                      </a:lnTo>
                      <a:lnTo>
                        <a:pt x="19" y="35"/>
                      </a:lnTo>
                      <a:lnTo>
                        <a:pt x="25" y="27"/>
                      </a:lnTo>
                      <a:lnTo>
                        <a:pt x="32" y="17"/>
                      </a:lnTo>
                      <a:lnTo>
                        <a:pt x="40" y="9"/>
                      </a:lnTo>
                      <a:lnTo>
                        <a:pt x="49" y="0"/>
                      </a:lnTo>
                      <a:lnTo>
                        <a:pt x="50" y="0"/>
                      </a:lnTo>
                      <a:lnTo>
                        <a:pt x="52" y="1"/>
                      </a:lnTo>
                      <a:lnTo>
                        <a:pt x="54" y="2"/>
                      </a:lnTo>
                      <a:lnTo>
                        <a:pt x="54" y="3"/>
                      </a:lnTo>
                      <a:lnTo>
                        <a:pt x="56" y="3"/>
                      </a:lnTo>
                      <a:lnTo>
                        <a:pt x="57" y="4"/>
                      </a:lnTo>
                      <a:lnTo>
                        <a:pt x="58" y="5"/>
                      </a:lnTo>
                      <a:lnTo>
                        <a:pt x="60" y="7"/>
                      </a:lnTo>
                      <a:lnTo>
                        <a:pt x="62" y="9"/>
                      </a:lnTo>
                      <a:lnTo>
                        <a:pt x="63" y="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372" name="Freeform 1034"/>
                <p:cNvSpPr>
                  <a:spLocks/>
                </p:cNvSpPr>
                <p:nvPr/>
              </p:nvSpPr>
              <p:spPr bwMode="auto">
                <a:xfrm>
                  <a:off x="2527" y="2490"/>
                  <a:ext cx="63" cy="107"/>
                </a:xfrm>
                <a:custGeom>
                  <a:avLst/>
                  <a:gdLst>
                    <a:gd name="T0" fmla="*/ 63 w 63"/>
                    <a:gd name="T1" fmla="*/ 9 h 107"/>
                    <a:gd name="T2" fmla="*/ 5 w 63"/>
                    <a:gd name="T3" fmla="*/ 107 h 107"/>
                    <a:gd name="T4" fmla="*/ 4 w 63"/>
                    <a:gd name="T5" fmla="*/ 107 h 107"/>
                    <a:gd name="T6" fmla="*/ 3 w 63"/>
                    <a:gd name="T7" fmla="*/ 107 h 107"/>
                    <a:gd name="T8" fmla="*/ 2 w 63"/>
                    <a:gd name="T9" fmla="*/ 106 h 107"/>
                    <a:gd name="T10" fmla="*/ 1 w 63"/>
                    <a:gd name="T11" fmla="*/ 106 h 107"/>
                    <a:gd name="T12" fmla="*/ 1 w 63"/>
                    <a:gd name="T13" fmla="*/ 105 h 107"/>
                    <a:gd name="T14" fmla="*/ 0 w 63"/>
                    <a:gd name="T15" fmla="*/ 104 h 107"/>
                    <a:gd name="T16" fmla="*/ 1 w 63"/>
                    <a:gd name="T17" fmla="*/ 92 h 107"/>
                    <a:gd name="T18" fmla="*/ 2 w 63"/>
                    <a:gd name="T19" fmla="*/ 80 h 107"/>
                    <a:gd name="T20" fmla="*/ 5 w 63"/>
                    <a:gd name="T21" fmla="*/ 68 h 107"/>
                    <a:gd name="T22" fmla="*/ 8 w 63"/>
                    <a:gd name="T23" fmla="*/ 57 h 107"/>
                    <a:gd name="T24" fmla="*/ 12 w 63"/>
                    <a:gd name="T25" fmla="*/ 46 h 107"/>
                    <a:gd name="T26" fmla="*/ 19 w 63"/>
                    <a:gd name="T27" fmla="*/ 35 h 107"/>
                    <a:gd name="T28" fmla="*/ 25 w 63"/>
                    <a:gd name="T29" fmla="*/ 27 h 107"/>
                    <a:gd name="T30" fmla="*/ 32 w 63"/>
                    <a:gd name="T31" fmla="*/ 17 h 107"/>
                    <a:gd name="T32" fmla="*/ 40 w 63"/>
                    <a:gd name="T33" fmla="*/ 9 h 107"/>
                    <a:gd name="T34" fmla="*/ 49 w 63"/>
                    <a:gd name="T35" fmla="*/ 0 h 107"/>
                    <a:gd name="T36" fmla="*/ 50 w 63"/>
                    <a:gd name="T37" fmla="*/ 0 h 107"/>
                    <a:gd name="T38" fmla="*/ 52 w 63"/>
                    <a:gd name="T39" fmla="*/ 1 h 107"/>
                    <a:gd name="T40" fmla="*/ 54 w 63"/>
                    <a:gd name="T41" fmla="*/ 2 h 107"/>
                    <a:gd name="T42" fmla="*/ 54 w 63"/>
                    <a:gd name="T43" fmla="*/ 3 h 107"/>
                    <a:gd name="T44" fmla="*/ 56 w 63"/>
                    <a:gd name="T45" fmla="*/ 3 h 107"/>
                    <a:gd name="T46" fmla="*/ 57 w 63"/>
                    <a:gd name="T47" fmla="*/ 4 h 107"/>
                    <a:gd name="T48" fmla="*/ 58 w 63"/>
                    <a:gd name="T49" fmla="*/ 5 h 107"/>
                    <a:gd name="T50" fmla="*/ 60 w 63"/>
                    <a:gd name="T51" fmla="*/ 7 h 107"/>
                    <a:gd name="T52" fmla="*/ 62 w 63"/>
                    <a:gd name="T53" fmla="*/ 9 h 107"/>
                    <a:gd name="T54" fmla="*/ 63 w 63"/>
                    <a:gd name="T55" fmla="*/ 9 h 107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w 63"/>
                    <a:gd name="T85" fmla="*/ 0 h 107"/>
                    <a:gd name="T86" fmla="*/ 63 w 63"/>
                    <a:gd name="T87" fmla="*/ 107 h 107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T84" t="T85" r="T86" b="T87"/>
                  <a:pathLst>
                    <a:path w="63" h="107">
                      <a:moveTo>
                        <a:pt x="63" y="9"/>
                      </a:moveTo>
                      <a:lnTo>
                        <a:pt x="5" y="107"/>
                      </a:lnTo>
                      <a:lnTo>
                        <a:pt x="4" y="107"/>
                      </a:lnTo>
                      <a:lnTo>
                        <a:pt x="3" y="107"/>
                      </a:lnTo>
                      <a:lnTo>
                        <a:pt x="2" y="106"/>
                      </a:lnTo>
                      <a:lnTo>
                        <a:pt x="1" y="106"/>
                      </a:lnTo>
                      <a:lnTo>
                        <a:pt x="1" y="105"/>
                      </a:lnTo>
                      <a:lnTo>
                        <a:pt x="0" y="104"/>
                      </a:lnTo>
                      <a:lnTo>
                        <a:pt x="1" y="92"/>
                      </a:lnTo>
                      <a:lnTo>
                        <a:pt x="2" y="80"/>
                      </a:lnTo>
                      <a:lnTo>
                        <a:pt x="5" y="68"/>
                      </a:lnTo>
                      <a:lnTo>
                        <a:pt x="8" y="57"/>
                      </a:lnTo>
                      <a:lnTo>
                        <a:pt x="12" y="46"/>
                      </a:lnTo>
                      <a:lnTo>
                        <a:pt x="19" y="35"/>
                      </a:lnTo>
                      <a:lnTo>
                        <a:pt x="25" y="27"/>
                      </a:lnTo>
                      <a:lnTo>
                        <a:pt x="32" y="17"/>
                      </a:lnTo>
                      <a:lnTo>
                        <a:pt x="40" y="9"/>
                      </a:lnTo>
                      <a:lnTo>
                        <a:pt x="49" y="0"/>
                      </a:lnTo>
                      <a:lnTo>
                        <a:pt x="50" y="0"/>
                      </a:lnTo>
                      <a:lnTo>
                        <a:pt x="52" y="1"/>
                      </a:lnTo>
                      <a:lnTo>
                        <a:pt x="54" y="2"/>
                      </a:lnTo>
                      <a:lnTo>
                        <a:pt x="54" y="3"/>
                      </a:lnTo>
                      <a:lnTo>
                        <a:pt x="56" y="3"/>
                      </a:lnTo>
                      <a:lnTo>
                        <a:pt x="57" y="4"/>
                      </a:lnTo>
                      <a:lnTo>
                        <a:pt x="58" y="5"/>
                      </a:lnTo>
                      <a:lnTo>
                        <a:pt x="60" y="7"/>
                      </a:lnTo>
                      <a:lnTo>
                        <a:pt x="62" y="9"/>
                      </a:lnTo>
                      <a:lnTo>
                        <a:pt x="63" y="9"/>
                      </a:lnTo>
                    </a:path>
                  </a:pathLst>
                </a:custGeom>
                <a:no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373" name="Freeform 1035"/>
                <p:cNvSpPr>
                  <a:spLocks/>
                </p:cNvSpPr>
                <p:nvPr/>
              </p:nvSpPr>
              <p:spPr bwMode="auto">
                <a:xfrm>
                  <a:off x="2603" y="2498"/>
                  <a:ext cx="162" cy="107"/>
                </a:xfrm>
                <a:custGeom>
                  <a:avLst/>
                  <a:gdLst>
                    <a:gd name="T0" fmla="*/ 102 w 162"/>
                    <a:gd name="T1" fmla="*/ 12 h 107"/>
                    <a:gd name="T2" fmla="*/ 104 w 162"/>
                    <a:gd name="T3" fmla="*/ 10 h 107"/>
                    <a:gd name="T4" fmla="*/ 106 w 162"/>
                    <a:gd name="T5" fmla="*/ 8 h 107"/>
                    <a:gd name="T6" fmla="*/ 108 w 162"/>
                    <a:gd name="T7" fmla="*/ 7 h 107"/>
                    <a:gd name="T8" fmla="*/ 111 w 162"/>
                    <a:gd name="T9" fmla="*/ 6 h 107"/>
                    <a:gd name="T10" fmla="*/ 162 w 162"/>
                    <a:gd name="T11" fmla="*/ 94 h 107"/>
                    <a:gd name="T12" fmla="*/ 158 w 162"/>
                    <a:gd name="T13" fmla="*/ 96 h 107"/>
                    <a:gd name="T14" fmla="*/ 153 w 162"/>
                    <a:gd name="T15" fmla="*/ 99 h 107"/>
                    <a:gd name="T16" fmla="*/ 149 w 162"/>
                    <a:gd name="T17" fmla="*/ 103 h 107"/>
                    <a:gd name="T18" fmla="*/ 145 w 162"/>
                    <a:gd name="T19" fmla="*/ 105 h 107"/>
                    <a:gd name="T20" fmla="*/ 140 w 162"/>
                    <a:gd name="T21" fmla="*/ 107 h 107"/>
                    <a:gd name="T22" fmla="*/ 128 w 162"/>
                    <a:gd name="T23" fmla="*/ 94 h 107"/>
                    <a:gd name="T24" fmla="*/ 116 w 162"/>
                    <a:gd name="T25" fmla="*/ 80 h 107"/>
                    <a:gd name="T26" fmla="*/ 104 w 162"/>
                    <a:gd name="T27" fmla="*/ 67 h 107"/>
                    <a:gd name="T28" fmla="*/ 91 w 162"/>
                    <a:gd name="T29" fmla="*/ 53 h 107"/>
                    <a:gd name="T30" fmla="*/ 78 w 162"/>
                    <a:gd name="T31" fmla="*/ 41 h 107"/>
                    <a:gd name="T32" fmla="*/ 73 w 162"/>
                    <a:gd name="T33" fmla="*/ 38 h 107"/>
                    <a:gd name="T34" fmla="*/ 66 w 162"/>
                    <a:gd name="T35" fmla="*/ 36 h 107"/>
                    <a:gd name="T36" fmla="*/ 60 w 162"/>
                    <a:gd name="T37" fmla="*/ 33 h 107"/>
                    <a:gd name="T38" fmla="*/ 55 w 162"/>
                    <a:gd name="T39" fmla="*/ 31 h 107"/>
                    <a:gd name="T40" fmla="*/ 48 w 162"/>
                    <a:gd name="T41" fmla="*/ 28 h 107"/>
                    <a:gd name="T42" fmla="*/ 50 w 162"/>
                    <a:gd name="T43" fmla="*/ 26 h 107"/>
                    <a:gd name="T44" fmla="*/ 50 w 162"/>
                    <a:gd name="T45" fmla="*/ 23 h 107"/>
                    <a:gd name="T46" fmla="*/ 44 w 162"/>
                    <a:gd name="T47" fmla="*/ 28 h 107"/>
                    <a:gd name="T48" fmla="*/ 36 w 162"/>
                    <a:gd name="T49" fmla="*/ 37 h 107"/>
                    <a:gd name="T50" fmla="*/ 26 w 162"/>
                    <a:gd name="T51" fmla="*/ 46 h 107"/>
                    <a:gd name="T52" fmla="*/ 18 w 162"/>
                    <a:gd name="T53" fmla="*/ 51 h 107"/>
                    <a:gd name="T54" fmla="*/ 6 w 162"/>
                    <a:gd name="T55" fmla="*/ 52 h 107"/>
                    <a:gd name="T56" fmla="*/ 11 w 162"/>
                    <a:gd name="T57" fmla="*/ 24 h 107"/>
                    <a:gd name="T58" fmla="*/ 13 w 162"/>
                    <a:gd name="T59" fmla="*/ 26 h 107"/>
                    <a:gd name="T60" fmla="*/ 15 w 162"/>
                    <a:gd name="T61" fmla="*/ 26 h 107"/>
                    <a:gd name="T62" fmla="*/ 17 w 162"/>
                    <a:gd name="T63" fmla="*/ 28 h 107"/>
                    <a:gd name="T64" fmla="*/ 17 w 162"/>
                    <a:gd name="T65" fmla="*/ 31 h 107"/>
                    <a:gd name="T66" fmla="*/ 18 w 162"/>
                    <a:gd name="T67" fmla="*/ 34 h 107"/>
                    <a:gd name="T68" fmla="*/ 17 w 162"/>
                    <a:gd name="T69" fmla="*/ 37 h 107"/>
                    <a:gd name="T70" fmla="*/ 14 w 162"/>
                    <a:gd name="T71" fmla="*/ 40 h 107"/>
                    <a:gd name="T72" fmla="*/ 13 w 162"/>
                    <a:gd name="T73" fmla="*/ 42 h 107"/>
                    <a:gd name="T74" fmla="*/ 11 w 162"/>
                    <a:gd name="T75" fmla="*/ 46 h 107"/>
                    <a:gd name="T76" fmla="*/ 14 w 162"/>
                    <a:gd name="T77" fmla="*/ 46 h 107"/>
                    <a:gd name="T78" fmla="*/ 15 w 162"/>
                    <a:gd name="T79" fmla="*/ 41 h 107"/>
                    <a:gd name="T80" fmla="*/ 18 w 162"/>
                    <a:gd name="T81" fmla="*/ 38 h 107"/>
                    <a:gd name="T82" fmla="*/ 19 w 162"/>
                    <a:gd name="T83" fmla="*/ 35 h 107"/>
                    <a:gd name="T84" fmla="*/ 20 w 162"/>
                    <a:gd name="T85" fmla="*/ 32 h 107"/>
                    <a:gd name="T86" fmla="*/ 19 w 162"/>
                    <a:gd name="T87" fmla="*/ 29 h 107"/>
                    <a:gd name="T88" fmla="*/ 18 w 162"/>
                    <a:gd name="T89" fmla="*/ 26 h 107"/>
                    <a:gd name="T90" fmla="*/ 17 w 162"/>
                    <a:gd name="T91" fmla="*/ 24 h 107"/>
                    <a:gd name="T92" fmla="*/ 14 w 162"/>
                    <a:gd name="T93" fmla="*/ 23 h 107"/>
                    <a:gd name="T94" fmla="*/ 19 w 162"/>
                    <a:gd name="T95" fmla="*/ 10 h 107"/>
                    <a:gd name="T96" fmla="*/ 101 w 162"/>
                    <a:gd name="T97" fmla="*/ 12 h 107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62"/>
                    <a:gd name="T148" fmla="*/ 0 h 107"/>
                    <a:gd name="T149" fmla="*/ 162 w 162"/>
                    <a:gd name="T150" fmla="*/ 107 h 107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62" h="107">
                      <a:moveTo>
                        <a:pt x="101" y="12"/>
                      </a:moveTo>
                      <a:lnTo>
                        <a:pt x="102" y="12"/>
                      </a:lnTo>
                      <a:lnTo>
                        <a:pt x="103" y="10"/>
                      </a:lnTo>
                      <a:lnTo>
                        <a:pt x="104" y="10"/>
                      </a:lnTo>
                      <a:lnTo>
                        <a:pt x="105" y="10"/>
                      </a:lnTo>
                      <a:lnTo>
                        <a:pt x="106" y="8"/>
                      </a:lnTo>
                      <a:lnTo>
                        <a:pt x="107" y="8"/>
                      </a:lnTo>
                      <a:lnTo>
                        <a:pt x="108" y="7"/>
                      </a:lnTo>
                      <a:lnTo>
                        <a:pt x="111" y="6"/>
                      </a:lnTo>
                      <a:lnTo>
                        <a:pt x="113" y="6"/>
                      </a:lnTo>
                      <a:lnTo>
                        <a:pt x="162" y="94"/>
                      </a:lnTo>
                      <a:lnTo>
                        <a:pt x="160" y="95"/>
                      </a:lnTo>
                      <a:lnTo>
                        <a:pt x="158" y="96"/>
                      </a:lnTo>
                      <a:lnTo>
                        <a:pt x="155" y="97"/>
                      </a:lnTo>
                      <a:lnTo>
                        <a:pt x="153" y="99"/>
                      </a:lnTo>
                      <a:lnTo>
                        <a:pt x="151" y="101"/>
                      </a:lnTo>
                      <a:lnTo>
                        <a:pt x="149" y="103"/>
                      </a:lnTo>
                      <a:lnTo>
                        <a:pt x="147" y="104"/>
                      </a:lnTo>
                      <a:lnTo>
                        <a:pt x="145" y="105"/>
                      </a:lnTo>
                      <a:lnTo>
                        <a:pt x="143" y="106"/>
                      </a:lnTo>
                      <a:lnTo>
                        <a:pt x="140" y="107"/>
                      </a:lnTo>
                      <a:lnTo>
                        <a:pt x="134" y="101"/>
                      </a:lnTo>
                      <a:lnTo>
                        <a:pt x="128" y="94"/>
                      </a:lnTo>
                      <a:lnTo>
                        <a:pt x="122" y="87"/>
                      </a:lnTo>
                      <a:lnTo>
                        <a:pt x="116" y="80"/>
                      </a:lnTo>
                      <a:lnTo>
                        <a:pt x="111" y="73"/>
                      </a:lnTo>
                      <a:lnTo>
                        <a:pt x="104" y="67"/>
                      </a:lnTo>
                      <a:lnTo>
                        <a:pt x="98" y="59"/>
                      </a:lnTo>
                      <a:lnTo>
                        <a:pt x="91" y="53"/>
                      </a:lnTo>
                      <a:lnTo>
                        <a:pt x="85" y="48"/>
                      </a:lnTo>
                      <a:lnTo>
                        <a:pt x="78" y="41"/>
                      </a:lnTo>
                      <a:lnTo>
                        <a:pt x="75" y="40"/>
                      </a:lnTo>
                      <a:lnTo>
                        <a:pt x="73" y="38"/>
                      </a:lnTo>
                      <a:lnTo>
                        <a:pt x="69" y="37"/>
                      </a:lnTo>
                      <a:lnTo>
                        <a:pt x="66" y="36"/>
                      </a:lnTo>
                      <a:lnTo>
                        <a:pt x="64" y="35"/>
                      </a:lnTo>
                      <a:lnTo>
                        <a:pt x="60" y="33"/>
                      </a:lnTo>
                      <a:lnTo>
                        <a:pt x="57" y="32"/>
                      </a:lnTo>
                      <a:lnTo>
                        <a:pt x="55" y="31"/>
                      </a:lnTo>
                      <a:lnTo>
                        <a:pt x="52" y="29"/>
                      </a:lnTo>
                      <a:lnTo>
                        <a:pt x="48" y="28"/>
                      </a:lnTo>
                      <a:lnTo>
                        <a:pt x="50" y="26"/>
                      </a:lnTo>
                      <a:lnTo>
                        <a:pt x="50" y="24"/>
                      </a:lnTo>
                      <a:lnTo>
                        <a:pt x="50" y="23"/>
                      </a:lnTo>
                      <a:lnTo>
                        <a:pt x="44" y="28"/>
                      </a:lnTo>
                      <a:lnTo>
                        <a:pt x="40" y="33"/>
                      </a:lnTo>
                      <a:lnTo>
                        <a:pt x="36" y="37"/>
                      </a:lnTo>
                      <a:lnTo>
                        <a:pt x="30" y="40"/>
                      </a:lnTo>
                      <a:lnTo>
                        <a:pt x="26" y="46"/>
                      </a:lnTo>
                      <a:lnTo>
                        <a:pt x="22" y="48"/>
                      </a:lnTo>
                      <a:lnTo>
                        <a:pt x="18" y="51"/>
                      </a:lnTo>
                      <a:lnTo>
                        <a:pt x="11" y="52"/>
                      </a:lnTo>
                      <a:lnTo>
                        <a:pt x="6" y="52"/>
                      </a:lnTo>
                      <a:lnTo>
                        <a:pt x="0" y="48"/>
                      </a:lnTo>
                      <a:lnTo>
                        <a:pt x="11" y="24"/>
                      </a:lnTo>
                      <a:lnTo>
                        <a:pt x="13" y="24"/>
                      </a:lnTo>
                      <a:lnTo>
                        <a:pt x="13" y="26"/>
                      </a:lnTo>
                      <a:lnTo>
                        <a:pt x="14" y="26"/>
                      </a:lnTo>
                      <a:lnTo>
                        <a:pt x="15" y="26"/>
                      </a:lnTo>
                      <a:lnTo>
                        <a:pt x="15" y="28"/>
                      </a:lnTo>
                      <a:lnTo>
                        <a:pt x="17" y="28"/>
                      </a:lnTo>
                      <a:lnTo>
                        <a:pt x="17" y="29"/>
                      </a:lnTo>
                      <a:lnTo>
                        <a:pt x="17" y="31"/>
                      </a:lnTo>
                      <a:lnTo>
                        <a:pt x="18" y="32"/>
                      </a:lnTo>
                      <a:lnTo>
                        <a:pt x="18" y="34"/>
                      </a:lnTo>
                      <a:lnTo>
                        <a:pt x="17" y="35"/>
                      </a:lnTo>
                      <a:lnTo>
                        <a:pt x="17" y="37"/>
                      </a:lnTo>
                      <a:lnTo>
                        <a:pt x="15" y="38"/>
                      </a:lnTo>
                      <a:lnTo>
                        <a:pt x="14" y="40"/>
                      </a:lnTo>
                      <a:lnTo>
                        <a:pt x="13" y="41"/>
                      </a:lnTo>
                      <a:lnTo>
                        <a:pt x="13" y="42"/>
                      </a:lnTo>
                      <a:lnTo>
                        <a:pt x="11" y="43"/>
                      </a:lnTo>
                      <a:lnTo>
                        <a:pt x="11" y="46"/>
                      </a:lnTo>
                      <a:lnTo>
                        <a:pt x="13" y="46"/>
                      </a:lnTo>
                      <a:lnTo>
                        <a:pt x="14" y="46"/>
                      </a:lnTo>
                      <a:lnTo>
                        <a:pt x="15" y="42"/>
                      </a:lnTo>
                      <a:lnTo>
                        <a:pt x="15" y="41"/>
                      </a:lnTo>
                      <a:lnTo>
                        <a:pt x="17" y="40"/>
                      </a:lnTo>
                      <a:lnTo>
                        <a:pt x="18" y="38"/>
                      </a:lnTo>
                      <a:lnTo>
                        <a:pt x="19" y="37"/>
                      </a:lnTo>
                      <a:lnTo>
                        <a:pt x="19" y="35"/>
                      </a:lnTo>
                      <a:lnTo>
                        <a:pt x="19" y="34"/>
                      </a:lnTo>
                      <a:lnTo>
                        <a:pt x="20" y="32"/>
                      </a:lnTo>
                      <a:lnTo>
                        <a:pt x="19" y="31"/>
                      </a:lnTo>
                      <a:lnTo>
                        <a:pt x="19" y="29"/>
                      </a:lnTo>
                      <a:lnTo>
                        <a:pt x="19" y="28"/>
                      </a:lnTo>
                      <a:lnTo>
                        <a:pt x="18" y="26"/>
                      </a:lnTo>
                      <a:lnTo>
                        <a:pt x="17" y="26"/>
                      </a:lnTo>
                      <a:lnTo>
                        <a:pt x="17" y="24"/>
                      </a:lnTo>
                      <a:lnTo>
                        <a:pt x="15" y="24"/>
                      </a:lnTo>
                      <a:lnTo>
                        <a:pt x="14" y="23"/>
                      </a:lnTo>
                      <a:lnTo>
                        <a:pt x="13" y="22"/>
                      </a:lnTo>
                      <a:lnTo>
                        <a:pt x="19" y="10"/>
                      </a:lnTo>
                      <a:lnTo>
                        <a:pt x="48" y="0"/>
                      </a:lnTo>
                      <a:lnTo>
                        <a:pt x="101" y="12"/>
                      </a:lnTo>
                      <a:close/>
                    </a:path>
                  </a:pathLst>
                </a:custGeom>
                <a:solidFill>
                  <a:srgbClr val="4A29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12374" name="Group 1036"/>
                <p:cNvGrpSpPr>
                  <a:grpSpLocks/>
                </p:cNvGrpSpPr>
                <p:nvPr/>
              </p:nvGrpSpPr>
              <p:grpSpPr bwMode="auto">
                <a:xfrm>
                  <a:off x="2603" y="2498"/>
                  <a:ext cx="162" cy="107"/>
                  <a:chOff x="2603" y="2498"/>
                  <a:chExt cx="162" cy="107"/>
                </a:xfrm>
              </p:grpSpPr>
              <p:sp>
                <p:nvSpPr>
                  <p:cNvPr id="12410" name="Freeform 1037"/>
                  <p:cNvSpPr>
                    <a:spLocks/>
                  </p:cNvSpPr>
                  <p:nvPr/>
                </p:nvSpPr>
                <p:spPr bwMode="auto">
                  <a:xfrm>
                    <a:off x="2603" y="2498"/>
                    <a:ext cx="162" cy="107"/>
                  </a:xfrm>
                  <a:custGeom>
                    <a:avLst/>
                    <a:gdLst>
                      <a:gd name="T0" fmla="*/ 102 w 162"/>
                      <a:gd name="T1" fmla="*/ 12 h 107"/>
                      <a:gd name="T2" fmla="*/ 104 w 162"/>
                      <a:gd name="T3" fmla="*/ 10 h 107"/>
                      <a:gd name="T4" fmla="*/ 106 w 162"/>
                      <a:gd name="T5" fmla="*/ 8 h 107"/>
                      <a:gd name="T6" fmla="*/ 108 w 162"/>
                      <a:gd name="T7" fmla="*/ 7 h 107"/>
                      <a:gd name="T8" fmla="*/ 111 w 162"/>
                      <a:gd name="T9" fmla="*/ 6 h 107"/>
                      <a:gd name="T10" fmla="*/ 162 w 162"/>
                      <a:gd name="T11" fmla="*/ 94 h 107"/>
                      <a:gd name="T12" fmla="*/ 158 w 162"/>
                      <a:gd name="T13" fmla="*/ 96 h 107"/>
                      <a:gd name="T14" fmla="*/ 153 w 162"/>
                      <a:gd name="T15" fmla="*/ 99 h 107"/>
                      <a:gd name="T16" fmla="*/ 149 w 162"/>
                      <a:gd name="T17" fmla="*/ 103 h 107"/>
                      <a:gd name="T18" fmla="*/ 145 w 162"/>
                      <a:gd name="T19" fmla="*/ 105 h 107"/>
                      <a:gd name="T20" fmla="*/ 140 w 162"/>
                      <a:gd name="T21" fmla="*/ 107 h 107"/>
                      <a:gd name="T22" fmla="*/ 128 w 162"/>
                      <a:gd name="T23" fmla="*/ 94 h 107"/>
                      <a:gd name="T24" fmla="*/ 116 w 162"/>
                      <a:gd name="T25" fmla="*/ 80 h 107"/>
                      <a:gd name="T26" fmla="*/ 104 w 162"/>
                      <a:gd name="T27" fmla="*/ 67 h 107"/>
                      <a:gd name="T28" fmla="*/ 91 w 162"/>
                      <a:gd name="T29" fmla="*/ 53 h 107"/>
                      <a:gd name="T30" fmla="*/ 78 w 162"/>
                      <a:gd name="T31" fmla="*/ 41 h 107"/>
                      <a:gd name="T32" fmla="*/ 73 w 162"/>
                      <a:gd name="T33" fmla="*/ 38 h 107"/>
                      <a:gd name="T34" fmla="*/ 66 w 162"/>
                      <a:gd name="T35" fmla="*/ 36 h 107"/>
                      <a:gd name="T36" fmla="*/ 60 w 162"/>
                      <a:gd name="T37" fmla="*/ 33 h 107"/>
                      <a:gd name="T38" fmla="*/ 55 w 162"/>
                      <a:gd name="T39" fmla="*/ 31 h 107"/>
                      <a:gd name="T40" fmla="*/ 48 w 162"/>
                      <a:gd name="T41" fmla="*/ 28 h 107"/>
                      <a:gd name="T42" fmla="*/ 50 w 162"/>
                      <a:gd name="T43" fmla="*/ 26 h 107"/>
                      <a:gd name="T44" fmla="*/ 50 w 162"/>
                      <a:gd name="T45" fmla="*/ 23 h 107"/>
                      <a:gd name="T46" fmla="*/ 44 w 162"/>
                      <a:gd name="T47" fmla="*/ 28 h 107"/>
                      <a:gd name="T48" fmla="*/ 36 w 162"/>
                      <a:gd name="T49" fmla="*/ 37 h 107"/>
                      <a:gd name="T50" fmla="*/ 26 w 162"/>
                      <a:gd name="T51" fmla="*/ 46 h 107"/>
                      <a:gd name="T52" fmla="*/ 18 w 162"/>
                      <a:gd name="T53" fmla="*/ 51 h 107"/>
                      <a:gd name="T54" fmla="*/ 6 w 162"/>
                      <a:gd name="T55" fmla="*/ 52 h 107"/>
                      <a:gd name="T56" fmla="*/ 11 w 162"/>
                      <a:gd name="T57" fmla="*/ 24 h 107"/>
                      <a:gd name="T58" fmla="*/ 13 w 162"/>
                      <a:gd name="T59" fmla="*/ 26 h 107"/>
                      <a:gd name="T60" fmla="*/ 15 w 162"/>
                      <a:gd name="T61" fmla="*/ 26 h 107"/>
                      <a:gd name="T62" fmla="*/ 17 w 162"/>
                      <a:gd name="T63" fmla="*/ 28 h 107"/>
                      <a:gd name="T64" fmla="*/ 17 w 162"/>
                      <a:gd name="T65" fmla="*/ 31 h 107"/>
                      <a:gd name="T66" fmla="*/ 18 w 162"/>
                      <a:gd name="T67" fmla="*/ 34 h 107"/>
                      <a:gd name="T68" fmla="*/ 17 w 162"/>
                      <a:gd name="T69" fmla="*/ 37 h 107"/>
                      <a:gd name="T70" fmla="*/ 14 w 162"/>
                      <a:gd name="T71" fmla="*/ 40 h 107"/>
                      <a:gd name="T72" fmla="*/ 13 w 162"/>
                      <a:gd name="T73" fmla="*/ 42 h 107"/>
                      <a:gd name="T74" fmla="*/ 11 w 162"/>
                      <a:gd name="T75" fmla="*/ 46 h 107"/>
                      <a:gd name="T76" fmla="*/ 14 w 162"/>
                      <a:gd name="T77" fmla="*/ 46 h 107"/>
                      <a:gd name="T78" fmla="*/ 15 w 162"/>
                      <a:gd name="T79" fmla="*/ 41 h 107"/>
                      <a:gd name="T80" fmla="*/ 18 w 162"/>
                      <a:gd name="T81" fmla="*/ 38 h 107"/>
                      <a:gd name="T82" fmla="*/ 19 w 162"/>
                      <a:gd name="T83" fmla="*/ 35 h 107"/>
                      <a:gd name="T84" fmla="*/ 20 w 162"/>
                      <a:gd name="T85" fmla="*/ 32 h 107"/>
                      <a:gd name="T86" fmla="*/ 19 w 162"/>
                      <a:gd name="T87" fmla="*/ 29 h 107"/>
                      <a:gd name="T88" fmla="*/ 18 w 162"/>
                      <a:gd name="T89" fmla="*/ 26 h 107"/>
                      <a:gd name="T90" fmla="*/ 17 w 162"/>
                      <a:gd name="T91" fmla="*/ 24 h 107"/>
                      <a:gd name="T92" fmla="*/ 14 w 162"/>
                      <a:gd name="T93" fmla="*/ 23 h 107"/>
                      <a:gd name="T94" fmla="*/ 19 w 162"/>
                      <a:gd name="T95" fmla="*/ 10 h 107"/>
                      <a:gd name="T96" fmla="*/ 101 w 162"/>
                      <a:gd name="T97" fmla="*/ 12 h 107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62"/>
                      <a:gd name="T148" fmla="*/ 0 h 107"/>
                      <a:gd name="T149" fmla="*/ 162 w 162"/>
                      <a:gd name="T150" fmla="*/ 107 h 107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62" h="107">
                        <a:moveTo>
                          <a:pt x="101" y="12"/>
                        </a:moveTo>
                        <a:lnTo>
                          <a:pt x="102" y="12"/>
                        </a:lnTo>
                        <a:lnTo>
                          <a:pt x="103" y="10"/>
                        </a:lnTo>
                        <a:lnTo>
                          <a:pt x="104" y="10"/>
                        </a:lnTo>
                        <a:lnTo>
                          <a:pt x="105" y="10"/>
                        </a:lnTo>
                        <a:lnTo>
                          <a:pt x="106" y="8"/>
                        </a:lnTo>
                        <a:lnTo>
                          <a:pt x="107" y="8"/>
                        </a:lnTo>
                        <a:lnTo>
                          <a:pt x="108" y="7"/>
                        </a:lnTo>
                        <a:lnTo>
                          <a:pt x="111" y="6"/>
                        </a:lnTo>
                        <a:lnTo>
                          <a:pt x="113" y="6"/>
                        </a:lnTo>
                        <a:lnTo>
                          <a:pt x="162" y="94"/>
                        </a:lnTo>
                        <a:lnTo>
                          <a:pt x="160" y="95"/>
                        </a:lnTo>
                        <a:lnTo>
                          <a:pt x="158" y="96"/>
                        </a:lnTo>
                        <a:lnTo>
                          <a:pt x="155" y="97"/>
                        </a:lnTo>
                        <a:lnTo>
                          <a:pt x="153" y="99"/>
                        </a:lnTo>
                        <a:lnTo>
                          <a:pt x="151" y="101"/>
                        </a:lnTo>
                        <a:lnTo>
                          <a:pt x="149" y="103"/>
                        </a:lnTo>
                        <a:lnTo>
                          <a:pt x="147" y="104"/>
                        </a:lnTo>
                        <a:lnTo>
                          <a:pt x="145" y="105"/>
                        </a:lnTo>
                        <a:lnTo>
                          <a:pt x="143" y="106"/>
                        </a:lnTo>
                        <a:lnTo>
                          <a:pt x="140" y="107"/>
                        </a:lnTo>
                        <a:lnTo>
                          <a:pt x="134" y="101"/>
                        </a:lnTo>
                        <a:lnTo>
                          <a:pt x="128" y="94"/>
                        </a:lnTo>
                        <a:lnTo>
                          <a:pt x="122" y="87"/>
                        </a:lnTo>
                        <a:lnTo>
                          <a:pt x="116" y="80"/>
                        </a:lnTo>
                        <a:lnTo>
                          <a:pt x="111" y="73"/>
                        </a:lnTo>
                        <a:lnTo>
                          <a:pt x="104" y="67"/>
                        </a:lnTo>
                        <a:lnTo>
                          <a:pt x="98" y="59"/>
                        </a:lnTo>
                        <a:lnTo>
                          <a:pt x="91" y="53"/>
                        </a:lnTo>
                        <a:lnTo>
                          <a:pt x="85" y="48"/>
                        </a:lnTo>
                        <a:lnTo>
                          <a:pt x="78" y="41"/>
                        </a:lnTo>
                        <a:lnTo>
                          <a:pt x="75" y="40"/>
                        </a:lnTo>
                        <a:lnTo>
                          <a:pt x="73" y="38"/>
                        </a:lnTo>
                        <a:lnTo>
                          <a:pt x="69" y="37"/>
                        </a:lnTo>
                        <a:lnTo>
                          <a:pt x="66" y="36"/>
                        </a:lnTo>
                        <a:lnTo>
                          <a:pt x="64" y="35"/>
                        </a:lnTo>
                        <a:lnTo>
                          <a:pt x="60" y="33"/>
                        </a:lnTo>
                        <a:lnTo>
                          <a:pt x="57" y="32"/>
                        </a:lnTo>
                        <a:lnTo>
                          <a:pt x="55" y="31"/>
                        </a:lnTo>
                        <a:lnTo>
                          <a:pt x="52" y="29"/>
                        </a:lnTo>
                        <a:lnTo>
                          <a:pt x="48" y="28"/>
                        </a:lnTo>
                        <a:lnTo>
                          <a:pt x="50" y="26"/>
                        </a:lnTo>
                        <a:lnTo>
                          <a:pt x="50" y="24"/>
                        </a:lnTo>
                        <a:lnTo>
                          <a:pt x="50" y="23"/>
                        </a:lnTo>
                        <a:lnTo>
                          <a:pt x="44" y="28"/>
                        </a:lnTo>
                        <a:lnTo>
                          <a:pt x="40" y="33"/>
                        </a:lnTo>
                        <a:lnTo>
                          <a:pt x="36" y="37"/>
                        </a:lnTo>
                        <a:lnTo>
                          <a:pt x="30" y="40"/>
                        </a:lnTo>
                        <a:lnTo>
                          <a:pt x="26" y="46"/>
                        </a:lnTo>
                        <a:lnTo>
                          <a:pt x="22" y="48"/>
                        </a:lnTo>
                        <a:lnTo>
                          <a:pt x="18" y="51"/>
                        </a:lnTo>
                        <a:lnTo>
                          <a:pt x="11" y="52"/>
                        </a:lnTo>
                        <a:lnTo>
                          <a:pt x="6" y="52"/>
                        </a:lnTo>
                        <a:lnTo>
                          <a:pt x="0" y="48"/>
                        </a:lnTo>
                        <a:lnTo>
                          <a:pt x="11" y="24"/>
                        </a:lnTo>
                        <a:lnTo>
                          <a:pt x="13" y="24"/>
                        </a:lnTo>
                        <a:lnTo>
                          <a:pt x="13" y="26"/>
                        </a:lnTo>
                        <a:lnTo>
                          <a:pt x="14" y="26"/>
                        </a:lnTo>
                        <a:lnTo>
                          <a:pt x="15" y="26"/>
                        </a:lnTo>
                        <a:lnTo>
                          <a:pt x="15" y="28"/>
                        </a:lnTo>
                        <a:lnTo>
                          <a:pt x="17" y="28"/>
                        </a:lnTo>
                        <a:lnTo>
                          <a:pt x="17" y="29"/>
                        </a:lnTo>
                        <a:lnTo>
                          <a:pt x="17" y="31"/>
                        </a:lnTo>
                        <a:lnTo>
                          <a:pt x="18" y="32"/>
                        </a:lnTo>
                        <a:lnTo>
                          <a:pt x="18" y="34"/>
                        </a:lnTo>
                        <a:lnTo>
                          <a:pt x="17" y="35"/>
                        </a:lnTo>
                        <a:lnTo>
                          <a:pt x="17" y="37"/>
                        </a:lnTo>
                        <a:lnTo>
                          <a:pt x="15" y="38"/>
                        </a:lnTo>
                        <a:lnTo>
                          <a:pt x="14" y="40"/>
                        </a:lnTo>
                        <a:lnTo>
                          <a:pt x="13" y="41"/>
                        </a:lnTo>
                        <a:lnTo>
                          <a:pt x="13" y="42"/>
                        </a:lnTo>
                        <a:lnTo>
                          <a:pt x="11" y="43"/>
                        </a:lnTo>
                        <a:lnTo>
                          <a:pt x="11" y="46"/>
                        </a:lnTo>
                        <a:lnTo>
                          <a:pt x="13" y="46"/>
                        </a:lnTo>
                        <a:lnTo>
                          <a:pt x="14" y="46"/>
                        </a:lnTo>
                        <a:lnTo>
                          <a:pt x="15" y="42"/>
                        </a:lnTo>
                        <a:lnTo>
                          <a:pt x="15" y="41"/>
                        </a:lnTo>
                        <a:lnTo>
                          <a:pt x="17" y="40"/>
                        </a:lnTo>
                        <a:lnTo>
                          <a:pt x="18" y="38"/>
                        </a:lnTo>
                        <a:lnTo>
                          <a:pt x="19" y="37"/>
                        </a:lnTo>
                        <a:lnTo>
                          <a:pt x="19" y="35"/>
                        </a:lnTo>
                        <a:lnTo>
                          <a:pt x="19" y="34"/>
                        </a:lnTo>
                        <a:lnTo>
                          <a:pt x="20" y="32"/>
                        </a:lnTo>
                        <a:lnTo>
                          <a:pt x="19" y="31"/>
                        </a:lnTo>
                        <a:lnTo>
                          <a:pt x="19" y="29"/>
                        </a:lnTo>
                        <a:lnTo>
                          <a:pt x="19" y="28"/>
                        </a:lnTo>
                        <a:lnTo>
                          <a:pt x="18" y="26"/>
                        </a:lnTo>
                        <a:lnTo>
                          <a:pt x="17" y="26"/>
                        </a:lnTo>
                        <a:lnTo>
                          <a:pt x="17" y="24"/>
                        </a:lnTo>
                        <a:lnTo>
                          <a:pt x="15" y="24"/>
                        </a:lnTo>
                        <a:lnTo>
                          <a:pt x="14" y="23"/>
                        </a:lnTo>
                        <a:lnTo>
                          <a:pt x="13" y="22"/>
                        </a:lnTo>
                        <a:lnTo>
                          <a:pt x="19" y="10"/>
                        </a:lnTo>
                        <a:lnTo>
                          <a:pt x="48" y="0"/>
                        </a:lnTo>
                        <a:lnTo>
                          <a:pt x="101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411" name="Freeform 1038"/>
                  <p:cNvSpPr>
                    <a:spLocks/>
                  </p:cNvSpPr>
                  <p:nvPr/>
                </p:nvSpPr>
                <p:spPr bwMode="auto">
                  <a:xfrm>
                    <a:off x="2603" y="2498"/>
                    <a:ext cx="162" cy="107"/>
                  </a:xfrm>
                  <a:custGeom>
                    <a:avLst/>
                    <a:gdLst>
                      <a:gd name="T0" fmla="*/ 102 w 162"/>
                      <a:gd name="T1" fmla="*/ 12 h 107"/>
                      <a:gd name="T2" fmla="*/ 104 w 162"/>
                      <a:gd name="T3" fmla="*/ 10 h 107"/>
                      <a:gd name="T4" fmla="*/ 106 w 162"/>
                      <a:gd name="T5" fmla="*/ 8 h 107"/>
                      <a:gd name="T6" fmla="*/ 108 w 162"/>
                      <a:gd name="T7" fmla="*/ 7 h 107"/>
                      <a:gd name="T8" fmla="*/ 111 w 162"/>
                      <a:gd name="T9" fmla="*/ 6 h 107"/>
                      <a:gd name="T10" fmla="*/ 162 w 162"/>
                      <a:gd name="T11" fmla="*/ 94 h 107"/>
                      <a:gd name="T12" fmla="*/ 158 w 162"/>
                      <a:gd name="T13" fmla="*/ 96 h 107"/>
                      <a:gd name="T14" fmla="*/ 153 w 162"/>
                      <a:gd name="T15" fmla="*/ 99 h 107"/>
                      <a:gd name="T16" fmla="*/ 149 w 162"/>
                      <a:gd name="T17" fmla="*/ 103 h 107"/>
                      <a:gd name="T18" fmla="*/ 145 w 162"/>
                      <a:gd name="T19" fmla="*/ 105 h 107"/>
                      <a:gd name="T20" fmla="*/ 140 w 162"/>
                      <a:gd name="T21" fmla="*/ 107 h 107"/>
                      <a:gd name="T22" fmla="*/ 128 w 162"/>
                      <a:gd name="T23" fmla="*/ 94 h 107"/>
                      <a:gd name="T24" fmla="*/ 116 w 162"/>
                      <a:gd name="T25" fmla="*/ 80 h 107"/>
                      <a:gd name="T26" fmla="*/ 104 w 162"/>
                      <a:gd name="T27" fmla="*/ 67 h 107"/>
                      <a:gd name="T28" fmla="*/ 91 w 162"/>
                      <a:gd name="T29" fmla="*/ 53 h 107"/>
                      <a:gd name="T30" fmla="*/ 78 w 162"/>
                      <a:gd name="T31" fmla="*/ 41 h 107"/>
                      <a:gd name="T32" fmla="*/ 73 w 162"/>
                      <a:gd name="T33" fmla="*/ 38 h 107"/>
                      <a:gd name="T34" fmla="*/ 66 w 162"/>
                      <a:gd name="T35" fmla="*/ 36 h 107"/>
                      <a:gd name="T36" fmla="*/ 60 w 162"/>
                      <a:gd name="T37" fmla="*/ 33 h 107"/>
                      <a:gd name="T38" fmla="*/ 55 w 162"/>
                      <a:gd name="T39" fmla="*/ 31 h 107"/>
                      <a:gd name="T40" fmla="*/ 48 w 162"/>
                      <a:gd name="T41" fmla="*/ 28 h 107"/>
                      <a:gd name="T42" fmla="*/ 50 w 162"/>
                      <a:gd name="T43" fmla="*/ 26 h 107"/>
                      <a:gd name="T44" fmla="*/ 50 w 162"/>
                      <a:gd name="T45" fmla="*/ 23 h 107"/>
                      <a:gd name="T46" fmla="*/ 44 w 162"/>
                      <a:gd name="T47" fmla="*/ 28 h 107"/>
                      <a:gd name="T48" fmla="*/ 36 w 162"/>
                      <a:gd name="T49" fmla="*/ 37 h 107"/>
                      <a:gd name="T50" fmla="*/ 26 w 162"/>
                      <a:gd name="T51" fmla="*/ 46 h 107"/>
                      <a:gd name="T52" fmla="*/ 18 w 162"/>
                      <a:gd name="T53" fmla="*/ 51 h 107"/>
                      <a:gd name="T54" fmla="*/ 6 w 162"/>
                      <a:gd name="T55" fmla="*/ 52 h 107"/>
                      <a:gd name="T56" fmla="*/ 11 w 162"/>
                      <a:gd name="T57" fmla="*/ 24 h 107"/>
                      <a:gd name="T58" fmla="*/ 13 w 162"/>
                      <a:gd name="T59" fmla="*/ 26 h 107"/>
                      <a:gd name="T60" fmla="*/ 15 w 162"/>
                      <a:gd name="T61" fmla="*/ 26 h 107"/>
                      <a:gd name="T62" fmla="*/ 17 w 162"/>
                      <a:gd name="T63" fmla="*/ 28 h 107"/>
                      <a:gd name="T64" fmla="*/ 17 w 162"/>
                      <a:gd name="T65" fmla="*/ 31 h 107"/>
                      <a:gd name="T66" fmla="*/ 18 w 162"/>
                      <a:gd name="T67" fmla="*/ 34 h 107"/>
                      <a:gd name="T68" fmla="*/ 17 w 162"/>
                      <a:gd name="T69" fmla="*/ 37 h 107"/>
                      <a:gd name="T70" fmla="*/ 14 w 162"/>
                      <a:gd name="T71" fmla="*/ 40 h 107"/>
                      <a:gd name="T72" fmla="*/ 13 w 162"/>
                      <a:gd name="T73" fmla="*/ 42 h 107"/>
                      <a:gd name="T74" fmla="*/ 11 w 162"/>
                      <a:gd name="T75" fmla="*/ 46 h 107"/>
                      <a:gd name="T76" fmla="*/ 14 w 162"/>
                      <a:gd name="T77" fmla="*/ 46 h 107"/>
                      <a:gd name="T78" fmla="*/ 15 w 162"/>
                      <a:gd name="T79" fmla="*/ 41 h 107"/>
                      <a:gd name="T80" fmla="*/ 18 w 162"/>
                      <a:gd name="T81" fmla="*/ 38 h 107"/>
                      <a:gd name="T82" fmla="*/ 19 w 162"/>
                      <a:gd name="T83" fmla="*/ 35 h 107"/>
                      <a:gd name="T84" fmla="*/ 20 w 162"/>
                      <a:gd name="T85" fmla="*/ 32 h 107"/>
                      <a:gd name="T86" fmla="*/ 19 w 162"/>
                      <a:gd name="T87" fmla="*/ 29 h 107"/>
                      <a:gd name="T88" fmla="*/ 18 w 162"/>
                      <a:gd name="T89" fmla="*/ 26 h 107"/>
                      <a:gd name="T90" fmla="*/ 17 w 162"/>
                      <a:gd name="T91" fmla="*/ 24 h 107"/>
                      <a:gd name="T92" fmla="*/ 14 w 162"/>
                      <a:gd name="T93" fmla="*/ 23 h 107"/>
                      <a:gd name="T94" fmla="*/ 19 w 162"/>
                      <a:gd name="T95" fmla="*/ 10 h 107"/>
                      <a:gd name="T96" fmla="*/ 101 w 162"/>
                      <a:gd name="T97" fmla="*/ 12 h 107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62"/>
                      <a:gd name="T148" fmla="*/ 0 h 107"/>
                      <a:gd name="T149" fmla="*/ 162 w 162"/>
                      <a:gd name="T150" fmla="*/ 107 h 107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62" h="107">
                        <a:moveTo>
                          <a:pt x="101" y="12"/>
                        </a:moveTo>
                        <a:lnTo>
                          <a:pt x="102" y="12"/>
                        </a:lnTo>
                        <a:lnTo>
                          <a:pt x="103" y="10"/>
                        </a:lnTo>
                        <a:lnTo>
                          <a:pt x="104" y="10"/>
                        </a:lnTo>
                        <a:lnTo>
                          <a:pt x="105" y="10"/>
                        </a:lnTo>
                        <a:lnTo>
                          <a:pt x="106" y="8"/>
                        </a:lnTo>
                        <a:lnTo>
                          <a:pt x="107" y="8"/>
                        </a:lnTo>
                        <a:lnTo>
                          <a:pt x="108" y="7"/>
                        </a:lnTo>
                        <a:lnTo>
                          <a:pt x="111" y="6"/>
                        </a:lnTo>
                        <a:lnTo>
                          <a:pt x="113" y="6"/>
                        </a:lnTo>
                        <a:lnTo>
                          <a:pt x="162" y="94"/>
                        </a:lnTo>
                        <a:lnTo>
                          <a:pt x="160" y="95"/>
                        </a:lnTo>
                        <a:lnTo>
                          <a:pt x="158" y="96"/>
                        </a:lnTo>
                        <a:lnTo>
                          <a:pt x="155" y="97"/>
                        </a:lnTo>
                        <a:lnTo>
                          <a:pt x="153" y="99"/>
                        </a:lnTo>
                        <a:lnTo>
                          <a:pt x="151" y="101"/>
                        </a:lnTo>
                        <a:lnTo>
                          <a:pt x="149" y="103"/>
                        </a:lnTo>
                        <a:lnTo>
                          <a:pt x="147" y="104"/>
                        </a:lnTo>
                        <a:lnTo>
                          <a:pt x="145" y="105"/>
                        </a:lnTo>
                        <a:lnTo>
                          <a:pt x="143" y="106"/>
                        </a:lnTo>
                        <a:lnTo>
                          <a:pt x="140" y="107"/>
                        </a:lnTo>
                        <a:lnTo>
                          <a:pt x="134" y="101"/>
                        </a:lnTo>
                        <a:lnTo>
                          <a:pt x="128" y="94"/>
                        </a:lnTo>
                        <a:lnTo>
                          <a:pt x="122" y="87"/>
                        </a:lnTo>
                        <a:lnTo>
                          <a:pt x="116" y="80"/>
                        </a:lnTo>
                        <a:lnTo>
                          <a:pt x="111" y="73"/>
                        </a:lnTo>
                        <a:lnTo>
                          <a:pt x="104" y="67"/>
                        </a:lnTo>
                        <a:lnTo>
                          <a:pt x="98" y="59"/>
                        </a:lnTo>
                        <a:lnTo>
                          <a:pt x="91" y="53"/>
                        </a:lnTo>
                        <a:lnTo>
                          <a:pt x="85" y="48"/>
                        </a:lnTo>
                        <a:lnTo>
                          <a:pt x="78" y="41"/>
                        </a:lnTo>
                        <a:lnTo>
                          <a:pt x="75" y="40"/>
                        </a:lnTo>
                        <a:lnTo>
                          <a:pt x="73" y="38"/>
                        </a:lnTo>
                        <a:lnTo>
                          <a:pt x="69" y="37"/>
                        </a:lnTo>
                        <a:lnTo>
                          <a:pt x="66" y="36"/>
                        </a:lnTo>
                        <a:lnTo>
                          <a:pt x="64" y="35"/>
                        </a:lnTo>
                        <a:lnTo>
                          <a:pt x="60" y="33"/>
                        </a:lnTo>
                        <a:lnTo>
                          <a:pt x="57" y="32"/>
                        </a:lnTo>
                        <a:lnTo>
                          <a:pt x="55" y="31"/>
                        </a:lnTo>
                        <a:lnTo>
                          <a:pt x="52" y="29"/>
                        </a:lnTo>
                        <a:lnTo>
                          <a:pt x="48" y="28"/>
                        </a:lnTo>
                        <a:lnTo>
                          <a:pt x="50" y="26"/>
                        </a:lnTo>
                        <a:lnTo>
                          <a:pt x="50" y="24"/>
                        </a:lnTo>
                        <a:lnTo>
                          <a:pt x="50" y="23"/>
                        </a:lnTo>
                        <a:lnTo>
                          <a:pt x="44" y="28"/>
                        </a:lnTo>
                        <a:lnTo>
                          <a:pt x="40" y="33"/>
                        </a:lnTo>
                        <a:lnTo>
                          <a:pt x="36" y="37"/>
                        </a:lnTo>
                        <a:lnTo>
                          <a:pt x="30" y="40"/>
                        </a:lnTo>
                        <a:lnTo>
                          <a:pt x="26" y="46"/>
                        </a:lnTo>
                        <a:lnTo>
                          <a:pt x="22" y="48"/>
                        </a:lnTo>
                        <a:lnTo>
                          <a:pt x="18" y="51"/>
                        </a:lnTo>
                        <a:lnTo>
                          <a:pt x="11" y="52"/>
                        </a:lnTo>
                        <a:lnTo>
                          <a:pt x="6" y="52"/>
                        </a:lnTo>
                        <a:lnTo>
                          <a:pt x="0" y="48"/>
                        </a:lnTo>
                        <a:lnTo>
                          <a:pt x="11" y="24"/>
                        </a:lnTo>
                        <a:lnTo>
                          <a:pt x="13" y="24"/>
                        </a:lnTo>
                        <a:lnTo>
                          <a:pt x="13" y="26"/>
                        </a:lnTo>
                        <a:lnTo>
                          <a:pt x="14" y="26"/>
                        </a:lnTo>
                        <a:lnTo>
                          <a:pt x="15" y="26"/>
                        </a:lnTo>
                        <a:lnTo>
                          <a:pt x="15" y="28"/>
                        </a:lnTo>
                        <a:lnTo>
                          <a:pt x="17" y="28"/>
                        </a:lnTo>
                        <a:lnTo>
                          <a:pt x="17" y="29"/>
                        </a:lnTo>
                        <a:lnTo>
                          <a:pt x="17" y="31"/>
                        </a:lnTo>
                        <a:lnTo>
                          <a:pt x="18" y="32"/>
                        </a:lnTo>
                        <a:lnTo>
                          <a:pt x="18" y="34"/>
                        </a:lnTo>
                        <a:lnTo>
                          <a:pt x="17" y="35"/>
                        </a:lnTo>
                        <a:lnTo>
                          <a:pt x="17" y="37"/>
                        </a:lnTo>
                        <a:lnTo>
                          <a:pt x="15" y="38"/>
                        </a:lnTo>
                        <a:lnTo>
                          <a:pt x="14" y="40"/>
                        </a:lnTo>
                        <a:lnTo>
                          <a:pt x="13" y="41"/>
                        </a:lnTo>
                        <a:lnTo>
                          <a:pt x="13" y="42"/>
                        </a:lnTo>
                        <a:lnTo>
                          <a:pt x="11" y="43"/>
                        </a:lnTo>
                        <a:lnTo>
                          <a:pt x="11" y="46"/>
                        </a:lnTo>
                        <a:lnTo>
                          <a:pt x="13" y="46"/>
                        </a:lnTo>
                        <a:lnTo>
                          <a:pt x="14" y="46"/>
                        </a:lnTo>
                        <a:lnTo>
                          <a:pt x="15" y="42"/>
                        </a:lnTo>
                        <a:lnTo>
                          <a:pt x="15" y="41"/>
                        </a:lnTo>
                        <a:lnTo>
                          <a:pt x="17" y="40"/>
                        </a:lnTo>
                        <a:lnTo>
                          <a:pt x="18" y="38"/>
                        </a:lnTo>
                        <a:lnTo>
                          <a:pt x="19" y="37"/>
                        </a:lnTo>
                        <a:lnTo>
                          <a:pt x="19" y="35"/>
                        </a:lnTo>
                        <a:lnTo>
                          <a:pt x="19" y="34"/>
                        </a:lnTo>
                        <a:lnTo>
                          <a:pt x="20" y="32"/>
                        </a:lnTo>
                        <a:lnTo>
                          <a:pt x="19" y="31"/>
                        </a:lnTo>
                        <a:lnTo>
                          <a:pt x="19" y="29"/>
                        </a:lnTo>
                        <a:lnTo>
                          <a:pt x="19" y="28"/>
                        </a:lnTo>
                        <a:lnTo>
                          <a:pt x="18" y="26"/>
                        </a:lnTo>
                        <a:lnTo>
                          <a:pt x="17" y="26"/>
                        </a:lnTo>
                        <a:lnTo>
                          <a:pt x="17" y="24"/>
                        </a:lnTo>
                        <a:lnTo>
                          <a:pt x="15" y="24"/>
                        </a:lnTo>
                        <a:lnTo>
                          <a:pt x="14" y="23"/>
                        </a:lnTo>
                        <a:lnTo>
                          <a:pt x="13" y="22"/>
                        </a:lnTo>
                        <a:lnTo>
                          <a:pt x="19" y="10"/>
                        </a:lnTo>
                        <a:lnTo>
                          <a:pt x="48" y="0"/>
                        </a:lnTo>
                        <a:lnTo>
                          <a:pt x="101" y="12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375" name="Freeform 1039"/>
                <p:cNvSpPr>
                  <a:spLocks/>
                </p:cNvSpPr>
                <p:nvPr/>
              </p:nvSpPr>
              <p:spPr bwMode="auto">
                <a:xfrm>
                  <a:off x="2539" y="2506"/>
                  <a:ext cx="207" cy="175"/>
                </a:xfrm>
                <a:custGeom>
                  <a:avLst/>
                  <a:gdLst>
                    <a:gd name="T0" fmla="*/ 69 w 207"/>
                    <a:gd name="T1" fmla="*/ 44 h 175"/>
                    <a:gd name="T2" fmla="*/ 76 w 207"/>
                    <a:gd name="T3" fmla="*/ 46 h 175"/>
                    <a:gd name="T4" fmla="*/ 94 w 207"/>
                    <a:gd name="T5" fmla="*/ 39 h 175"/>
                    <a:gd name="T6" fmla="*/ 112 w 207"/>
                    <a:gd name="T7" fmla="*/ 24 h 175"/>
                    <a:gd name="T8" fmla="*/ 132 w 207"/>
                    <a:gd name="T9" fmla="*/ 30 h 175"/>
                    <a:gd name="T10" fmla="*/ 151 w 207"/>
                    <a:gd name="T11" fmla="*/ 41 h 175"/>
                    <a:gd name="T12" fmla="*/ 175 w 207"/>
                    <a:gd name="T13" fmla="*/ 67 h 175"/>
                    <a:gd name="T14" fmla="*/ 201 w 207"/>
                    <a:gd name="T15" fmla="*/ 99 h 175"/>
                    <a:gd name="T16" fmla="*/ 207 w 207"/>
                    <a:gd name="T17" fmla="*/ 111 h 175"/>
                    <a:gd name="T18" fmla="*/ 206 w 207"/>
                    <a:gd name="T19" fmla="*/ 117 h 175"/>
                    <a:gd name="T20" fmla="*/ 203 w 207"/>
                    <a:gd name="T21" fmla="*/ 122 h 175"/>
                    <a:gd name="T22" fmla="*/ 198 w 207"/>
                    <a:gd name="T23" fmla="*/ 125 h 175"/>
                    <a:gd name="T24" fmla="*/ 192 w 207"/>
                    <a:gd name="T25" fmla="*/ 127 h 175"/>
                    <a:gd name="T26" fmla="*/ 186 w 207"/>
                    <a:gd name="T27" fmla="*/ 123 h 175"/>
                    <a:gd name="T28" fmla="*/ 182 w 207"/>
                    <a:gd name="T29" fmla="*/ 123 h 175"/>
                    <a:gd name="T30" fmla="*/ 182 w 207"/>
                    <a:gd name="T31" fmla="*/ 133 h 175"/>
                    <a:gd name="T32" fmla="*/ 179 w 207"/>
                    <a:gd name="T33" fmla="*/ 139 h 175"/>
                    <a:gd name="T34" fmla="*/ 171 w 207"/>
                    <a:gd name="T35" fmla="*/ 143 h 175"/>
                    <a:gd name="T36" fmla="*/ 165 w 207"/>
                    <a:gd name="T37" fmla="*/ 143 h 175"/>
                    <a:gd name="T38" fmla="*/ 148 w 207"/>
                    <a:gd name="T39" fmla="*/ 123 h 175"/>
                    <a:gd name="T40" fmla="*/ 131 w 207"/>
                    <a:gd name="T41" fmla="*/ 104 h 175"/>
                    <a:gd name="T42" fmla="*/ 157 w 207"/>
                    <a:gd name="T43" fmla="*/ 140 h 175"/>
                    <a:gd name="T44" fmla="*/ 157 w 207"/>
                    <a:gd name="T45" fmla="*/ 148 h 175"/>
                    <a:gd name="T46" fmla="*/ 155 w 207"/>
                    <a:gd name="T47" fmla="*/ 155 h 175"/>
                    <a:gd name="T48" fmla="*/ 150 w 207"/>
                    <a:gd name="T49" fmla="*/ 158 h 175"/>
                    <a:gd name="T50" fmla="*/ 142 w 207"/>
                    <a:gd name="T51" fmla="*/ 159 h 175"/>
                    <a:gd name="T52" fmla="*/ 134 w 207"/>
                    <a:gd name="T53" fmla="*/ 154 h 175"/>
                    <a:gd name="T54" fmla="*/ 126 w 207"/>
                    <a:gd name="T55" fmla="*/ 145 h 175"/>
                    <a:gd name="T56" fmla="*/ 116 w 207"/>
                    <a:gd name="T57" fmla="*/ 133 h 175"/>
                    <a:gd name="T58" fmla="*/ 107 w 207"/>
                    <a:gd name="T59" fmla="*/ 123 h 175"/>
                    <a:gd name="T60" fmla="*/ 134 w 207"/>
                    <a:gd name="T61" fmla="*/ 163 h 175"/>
                    <a:gd name="T62" fmla="*/ 132 w 207"/>
                    <a:gd name="T63" fmla="*/ 170 h 175"/>
                    <a:gd name="T64" fmla="*/ 125 w 207"/>
                    <a:gd name="T65" fmla="*/ 175 h 175"/>
                    <a:gd name="T66" fmla="*/ 116 w 207"/>
                    <a:gd name="T67" fmla="*/ 174 h 175"/>
                    <a:gd name="T68" fmla="*/ 109 w 207"/>
                    <a:gd name="T69" fmla="*/ 170 h 175"/>
                    <a:gd name="T70" fmla="*/ 104 w 207"/>
                    <a:gd name="T71" fmla="*/ 161 h 175"/>
                    <a:gd name="T72" fmla="*/ 100 w 207"/>
                    <a:gd name="T73" fmla="*/ 154 h 175"/>
                    <a:gd name="T74" fmla="*/ 92 w 207"/>
                    <a:gd name="T75" fmla="*/ 151 h 175"/>
                    <a:gd name="T76" fmla="*/ 84 w 207"/>
                    <a:gd name="T77" fmla="*/ 149 h 175"/>
                    <a:gd name="T78" fmla="*/ 84 w 207"/>
                    <a:gd name="T79" fmla="*/ 141 h 175"/>
                    <a:gd name="T80" fmla="*/ 81 w 207"/>
                    <a:gd name="T81" fmla="*/ 136 h 175"/>
                    <a:gd name="T82" fmla="*/ 75 w 207"/>
                    <a:gd name="T83" fmla="*/ 132 h 175"/>
                    <a:gd name="T84" fmla="*/ 69 w 207"/>
                    <a:gd name="T85" fmla="*/ 130 h 175"/>
                    <a:gd name="T86" fmla="*/ 63 w 207"/>
                    <a:gd name="T87" fmla="*/ 132 h 175"/>
                    <a:gd name="T88" fmla="*/ 63 w 207"/>
                    <a:gd name="T89" fmla="*/ 127 h 175"/>
                    <a:gd name="T90" fmla="*/ 61 w 207"/>
                    <a:gd name="T91" fmla="*/ 120 h 175"/>
                    <a:gd name="T92" fmla="*/ 58 w 207"/>
                    <a:gd name="T93" fmla="*/ 114 h 175"/>
                    <a:gd name="T94" fmla="*/ 53 w 207"/>
                    <a:gd name="T95" fmla="*/ 111 h 175"/>
                    <a:gd name="T96" fmla="*/ 46 w 207"/>
                    <a:gd name="T97" fmla="*/ 111 h 175"/>
                    <a:gd name="T98" fmla="*/ 41 w 207"/>
                    <a:gd name="T99" fmla="*/ 113 h 175"/>
                    <a:gd name="T100" fmla="*/ 42 w 207"/>
                    <a:gd name="T101" fmla="*/ 106 h 175"/>
                    <a:gd name="T102" fmla="*/ 41 w 207"/>
                    <a:gd name="T103" fmla="*/ 99 h 175"/>
                    <a:gd name="T104" fmla="*/ 37 w 207"/>
                    <a:gd name="T105" fmla="*/ 94 h 175"/>
                    <a:gd name="T106" fmla="*/ 30 w 207"/>
                    <a:gd name="T107" fmla="*/ 91 h 175"/>
                    <a:gd name="T108" fmla="*/ 22 w 207"/>
                    <a:gd name="T109" fmla="*/ 92 h 175"/>
                    <a:gd name="T110" fmla="*/ 15 w 207"/>
                    <a:gd name="T111" fmla="*/ 97 h 175"/>
                    <a:gd name="T112" fmla="*/ 63 w 207"/>
                    <a:gd name="T113" fmla="*/ 40 h 175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07"/>
                    <a:gd name="T172" fmla="*/ 0 h 175"/>
                    <a:gd name="T173" fmla="*/ 207 w 207"/>
                    <a:gd name="T174" fmla="*/ 175 h 175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07" h="175">
                      <a:moveTo>
                        <a:pt x="63" y="40"/>
                      </a:moveTo>
                      <a:lnTo>
                        <a:pt x="64" y="41"/>
                      </a:lnTo>
                      <a:lnTo>
                        <a:pt x="66" y="42"/>
                      </a:lnTo>
                      <a:lnTo>
                        <a:pt x="67" y="43"/>
                      </a:lnTo>
                      <a:lnTo>
                        <a:pt x="69" y="44"/>
                      </a:lnTo>
                      <a:lnTo>
                        <a:pt x="71" y="44"/>
                      </a:lnTo>
                      <a:lnTo>
                        <a:pt x="72" y="46"/>
                      </a:lnTo>
                      <a:lnTo>
                        <a:pt x="73" y="46"/>
                      </a:lnTo>
                      <a:lnTo>
                        <a:pt x="75" y="46"/>
                      </a:lnTo>
                      <a:lnTo>
                        <a:pt x="76" y="46"/>
                      </a:lnTo>
                      <a:lnTo>
                        <a:pt x="78" y="46"/>
                      </a:lnTo>
                      <a:lnTo>
                        <a:pt x="83" y="44"/>
                      </a:lnTo>
                      <a:lnTo>
                        <a:pt x="86" y="43"/>
                      </a:lnTo>
                      <a:lnTo>
                        <a:pt x="90" y="41"/>
                      </a:lnTo>
                      <a:lnTo>
                        <a:pt x="94" y="39"/>
                      </a:lnTo>
                      <a:lnTo>
                        <a:pt x="98" y="35"/>
                      </a:lnTo>
                      <a:lnTo>
                        <a:pt x="100" y="33"/>
                      </a:lnTo>
                      <a:lnTo>
                        <a:pt x="104" y="30"/>
                      </a:lnTo>
                      <a:lnTo>
                        <a:pt x="108" y="27"/>
                      </a:lnTo>
                      <a:lnTo>
                        <a:pt x="112" y="24"/>
                      </a:lnTo>
                      <a:lnTo>
                        <a:pt x="115" y="21"/>
                      </a:lnTo>
                      <a:lnTo>
                        <a:pt x="118" y="24"/>
                      </a:lnTo>
                      <a:lnTo>
                        <a:pt x="123" y="26"/>
                      </a:lnTo>
                      <a:lnTo>
                        <a:pt x="128" y="27"/>
                      </a:lnTo>
                      <a:lnTo>
                        <a:pt x="132" y="30"/>
                      </a:lnTo>
                      <a:lnTo>
                        <a:pt x="135" y="32"/>
                      </a:lnTo>
                      <a:lnTo>
                        <a:pt x="140" y="34"/>
                      </a:lnTo>
                      <a:lnTo>
                        <a:pt x="142" y="36"/>
                      </a:lnTo>
                      <a:lnTo>
                        <a:pt x="148" y="39"/>
                      </a:lnTo>
                      <a:lnTo>
                        <a:pt x="151" y="41"/>
                      </a:lnTo>
                      <a:lnTo>
                        <a:pt x="154" y="44"/>
                      </a:lnTo>
                      <a:lnTo>
                        <a:pt x="160" y="50"/>
                      </a:lnTo>
                      <a:lnTo>
                        <a:pt x="165" y="56"/>
                      </a:lnTo>
                      <a:lnTo>
                        <a:pt x="170" y="62"/>
                      </a:lnTo>
                      <a:lnTo>
                        <a:pt x="175" y="67"/>
                      </a:lnTo>
                      <a:lnTo>
                        <a:pt x="181" y="75"/>
                      </a:lnTo>
                      <a:lnTo>
                        <a:pt x="185" y="80"/>
                      </a:lnTo>
                      <a:lnTo>
                        <a:pt x="191" y="87"/>
                      </a:lnTo>
                      <a:lnTo>
                        <a:pt x="195" y="94"/>
                      </a:lnTo>
                      <a:lnTo>
                        <a:pt x="201" y="99"/>
                      </a:lnTo>
                      <a:lnTo>
                        <a:pt x="206" y="106"/>
                      </a:lnTo>
                      <a:lnTo>
                        <a:pt x="206" y="108"/>
                      </a:lnTo>
                      <a:lnTo>
                        <a:pt x="207" y="108"/>
                      </a:lnTo>
                      <a:lnTo>
                        <a:pt x="207" y="110"/>
                      </a:lnTo>
                      <a:lnTo>
                        <a:pt x="207" y="111"/>
                      </a:lnTo>
                      <a:lnTo>
                        <a:pt x="207" y="112"/>
                      </a:lnTo>
                      <a:lnTo>
                        <a:pt x="207" y="113"/>
                      </a:lnTo>
                      <a:lnTo>
                        <a:pt x="207" y="114"/>
                      </a:lnTo>
                      <a:lnTo>
                        <a:pt x="207" y="116"/>
                      </a:lnTo>
                      <a:lnTo>
                        <a:pt x="206" y="117"/>
                      </a:lnTo>
                      <a:lnTo>
                        <a:pt x="206" y="118"/>
                      </a:lnTo>
                      <a:lnTo>
                        <a:pt x="206" y="119"/>
                      </a:lnTo>
                      <a:lnTo>
                        <a:pt x="204" y="120"/>
                      </a:lnTo>
                      <a:lnTo>
                        <a:pt x="203" y="121"/>
                      </a:lnTo>
                      <a:lnTo>
                        <a:pt x="203" y="122"/>
                      </a:lnTo>
                      <a:lnTo>
                        <a:pt x="202" y="123"/>
                      </a:lnTo>
                      <a:lnTo>
                        <a:pt x="201" y="123"/>
                      </a:lnTo>
                      <a:lnTo>
                        <a:pt x="200" y="124"/>
                      </a:lnTo>
                      <a:lnTo>
                        <a:pt x="198" y="124"/>
                      </a:lnTo>
                      <a:lnTo>
                        <a:pt x="198" y="125"/>
                      </a:lnTo>
                      <a:lnTo>
                        <a:pt x="196" y="125"/>
                      </a:lnTo>
                      <a:lnTo>
                        <a:pt x="195" y="127"/>
                      </a:lnTo>
                      <a:lnTo>
                        <a:pt x="194" y="127"/>
                      </a:lnTo>
                      <a:lnTo>
                        <a:pt x="193" y="127"/>
                      </a:lnTo>
                      <a:lnTo>
                        <a:pt x="192" y="127"/>
                      </a:lnTo>
                      <a:lnTo>
                        <a:pt x="191" y="125"/>
                      </a:lnTo>
                      <a:lnTo>
                        <a:pt x="190" y="125"/>
                      </a:lnTo>
                      <a:lnTo>
                        <a:pt x="188" y="124"/>
                      </a:lnTo>
                      <a:lnTo>
                        <a:pt x="187" y="124"/>
                      </a:lnTo>
                      <a:lnTo>
                        <a:pt x="186" y="123"/>
                      </a:lnTo>
                      <a:lnTo>
                        <a:pt x="185" y="123"/>
                      </a:lnTo>
                      <a:lnTo>
                        <a:pt x="151" y="82"/>
                      </a:lnTo>
                      <a:lnTo>
                        <a:pt x="150" y="82"/>
                      </a:lnTo>
                      <a:lnTo>
                        <a:pt x="149" y="82"/>
                      </a:lnTo>
                      <a:lnTo>
                        <a:pt x="182" y="123"/>
                      </a:lnTo>
                      <a:lnTo>
                        <a:pt x="182" y="124"/>
                      </a:lnTo>
                      <a:lnTo>
                        <a:pt x="183" y="127"/>
                      </a:lnTo>
                      <a:lnTo>
                        <a:pt x="183" y="129"/>
                      </a:lnTo>
                      <a:lnTo>
                        <a:pt x="183" y="130"/>
                      </a:lnTo>
                      <a:lnTo>
                        <a:pt x="182" y="133"/>
                      </a:lnTo>
                      <a:lnTo>
                        <a:pt x="182" y="134"/>
                      </a:lnTo>
                      <a:lnTo>
                        <a:pt x="182" y="136"/>
                      </a:lnTo>
                      <a:lnTo>
                        <a:pt x="181" y="137"/>
                      </a:lnTo>
                      <a:lnTo>
                        <a:pt x="179" y="138"/>
                      </a:lnTo>
                      <a:lnTo>
                        <a:pt x="179" y="139"/>
                      </a:lnTo>
                      <a:lnTo>
                        <a:pt x="177" y="140"/>
                      </a:lnTo>
                      <a:lnTo>
                        <a:pt x="176" y="141"/>
                      </a:lnTo>
                      <a:lnTo>
                        <a:pt x="175" y="141"/>
                      </a:lnTo>
                      <a:lnTo>
                        <a:pt x="173" y="143"/>
                      </a:lnTo>
                      <a:lnTo>
                        <a:pt x="171" y="143"/>
                      </a:lnTo>
                      <a:lnTo>
                        <a:pt x="170" y="143"/>
                      </a:lnTo>
                      <a:lnTo>
                        <a:pt x="169" y="143"/>
                      </a:lnTo>
                      <a:lnTo>
                        <a:pt x="168" y="143"/>
                      </a:lnTo>
                      <a:lnTo>
                        <a:pt x="166" y="143"/>
                      </a:lnTo>
                      <a:lnTo>
                        <a:pt x="165" y="143"/>
                      </a:lnTo>
                      <a:lnTo>
                        <a:pt x="162" y="139"/>
                      </a:lnTo>
                      <a:lnTo>
                        <a:pt x="156" y="136"/>
                      </a:lnTo>
                      <a:lnTo>
                        <a:pt x="153" y="132"/>
                      </a:lnTo>
                      <a:lnTo>
                        <a:pt x="150" y="127"/>
                      </a:lnTo>
                      <a:lnTo>
                        <a:pt x="148" y="123"/>
                      </a:lnTo>
                      <a:lnTo>
                        <a:pt x="145" y="120"/>
                      </a:lnTo>
                      <a:lnTo>
                        <a:pt x="140" y="116"/>
                      </a:lnTo>
                      <a:lnTo>
                        <a:pt x="137" y="112"/>
                      </a:lnTo>
                      <a:lnTo>
                        <a:pt x="134" y="108"/>
                      </a:lnTo>
                      <a:lnTo>
                        <a:pt x="131" y="104"/>
                      </a:lnTo>
                      <a:lnTo>
                        <a:pt x="131" y="103"/>
                      </a:lnTo>
                      <a:lnTo>
                        <a:pt x="130" y="103"/>
                      </a:lnTo>
                      <a:lnTo>
                        <a:pt x="130" y="102"/>
                      </a:lnTo>
                      <a:lnTo>
                        <a:pt x="129" y="103"/>
                      </a:lnTo>
                      <a:lnTo>
                        <a:pt x="157" y="140"/>
                      </a:lnTo>
                      <a:lnTo>
                        <a:pt x="157" y="141"/>
                      </a:lnTo>
                      <a:lnTo>
                        <a:pt x="160" y="143"/>
                      </a:lnTo>
                      <a:lnTo>
                        <a:pt x="160" y="145"/>
                      </a:lnTo>
                      <a:lnTo>
                        <a:pt x="157" y="148"/>
                      </a:lnTo>
                      <a:lnTo>
                        <a:pt x="157" y="149"/>
                      </a:lnTo>
                      <a:lnTo>
                        <a:pt x="157" y="150"/>
                      </a:lnTo>
                      <a:lnTo>
                        <a:pt x="156" y="152"/>
                      </a:lnTo>
                      <a:lnTo>
                        <a:pt x="155" y="153"/>
                      </a:lnTo>
                      <a:lnTo>
                        <a:pt x="155" y="155"/>
                      </a:lnTo>
                      <a:lnTo>
                        <a:pt x="154" y="155"/>
                      </a:lnTo>
                      <a:lnTo>
                        <a:pt x="153" y="156"/>
                      </a:lnTo>
                      <a:lnTo>
                        <a:pt x="152" y="157"/>
                      </a:lnTo>
                      <a:lnTo>
                        <a:pt x="151" y="157"/>
                      </a:lnTo>
                      <a:lnTo>
                        <a:pt x="150" y="158"/>
                      </a:lnTo>
                      <a:lnTo>
                        <a:pt x="149" y="158"/>
                      </a:lnTo>
                      <a:lnTo>
                        <a:pt x="148" y="158"/>
                      </a:lnTo>
                      <a:lnTo>
                        <a:pt x="147" y="158"/>
                      </a:lnTo>
                      <a:lnTo>
                        <a:pt x="146" y="159"/>
                      </a:lnTo>
                      <a:lnTo>
                        <a:pt x="142" y="159"/>
                      </a:lnTo>
                      <a:lnTo>
                        <a:pt x="140" y="158"/>
                      </a:lnTo>
                      <a:lnTo>
                        <a:pt x="137" y="157"/>
                      </a:lnTo>
                      <a:lnTo>
                        <a:pt x="136" y="155"/>
                      </a:lnTo>
                      <a:lnTo>
                        <a:pt x="134" y="154"/>
                      </a:lnTo>
                      <a:lnTo>
                        <a:pt x="133" y="152"/>
                      </a:lnTo>
                      <a:lnTo>
                        <a:pt x="132" y="151"/>
                      </a:lnTo>
                      <a:lnTo>
                        <a:pt x="130" y="149"/>
                      </a:lnTo>
                      <a:lnTo>
                        <a:pt x="129" y="148"/>
                      </a:lnTo>
                      <a:lnTo>
                        <a:pt x="126" y="145"/>
                      </a:lnTo>
                      <a:lnTo>
                        <a:pt x="125" y="143"/>
                      </a:lnTo>
                      <a:lnTo>
                        <a:pt x="123" y="140"/>
                      </a:lnTo>
                      <a:lnTo>
                        <a:pt x="121" y="137"/>
                      </a:lnTo>
                      <a:lnTo>
                        <a:pt x="118" y="135"/>
                      </a:lnTo>
                      <a:lnTo>
                        <a:pt x="116" y="133"/>
                      </a:lnTo>
                      <a:lnTo>
                        <a:pt x="115" y="130"/>
                      </a:lnTo>
                      <a:lnTo>
                        <a:pt x="113" y="127"/>
                      </a:lnTo>
                      <a:lnTo>
                        <a:pt x="110" y="124"/>
                      </a:lnTo>
                      <a:lnTo>
                        <a:pt x="108" y="122"/>
                      </a:lnTo>
                      <a:lnTo>
                        <a:pt x="107" y="123"/>
                      </a:lnTo>
                      <a:lnTo>
                        <a:pt x="134" y="156"/>
                      </a:lnTo>
                      <a:lnTo>
                        <a:pt x="134" y="157"/>
                      </a:lnTo>
                      <a:lnTo>
                        <a:pt x="134" y="159"/>
                      </a:lnTo>
                      <a:lnTo>
                        <a:pt x="134" y="160"/>
                      </a:lnTo>
                      <a:lnTo>
                        <a:pt x="134" y="163"/>
                      </a:lnTo>
                      <a:lnTo>
                        <a:pt x="134" y="165"/>
                      </a:lnTo>
                      <a:lnTo>
                        <a:pt x="133" y="168"/>
                      </a:lnTo>
                      <a:lnTo>
                        <a:pt x="133" y="169"/>
                      </a:lnTo>
                      <a:lnTo>
                        <a:pt x="132" y="170"/>
                      </a:lnTo>
                      <a:lnTo>
                        <a:pt x="131" y="171"/>
                      </a:lnTo>
                      <a:lnTo>
                        <a:pt x="130" y="172"/>
                      </a:lnTo>
                      <a:lnTo>
                        <a:pt x="129" y="173"/>
                      </a:lnTo>
                      <a:lnTo>
                        <a:pt x="126" y="174"/>
                      </a:lnTo>
                      <a:lnTo>
                        <a:pt x="125" y="175"/>
                      </a:lnTo>
                      <a:lnTo>
                        <a:pt x="123" y="175"/>
                      </a:lnTo>
                      <a:lnTo>
                        <a:pt x="121" y="175"/>
                      </a:lnTo>
                      <a:lnTo>
                        <a:pt x="119" y="175"/>
                      </a:lnTo>
                      <a:lnTo>
                        <a:pt x="118" y="175"/>
                      </a:lnTo>
                      <a:lnTo>
                        <a:pt x="116" y="174"/>
                      </a:lnTo>
                      <a:lnTo>
                        <a:pt x="115" y="174"/>
                      </a:lnTo>
                      <a:lnTo>
                        <a:pt x="114" y="173"/>
                      </a:lnTo>
                      <a:lnTo>
                        <a:pt x="112" y="172"/>
                      </a:lnTo>
                      <a:lnTo>
                        <a:pt x="110" y="171"/>
                      </a:lnTo>
                      <a:lnTo>
                        <a:pt x="109" y="170"/>
                      </a:lnTo>
                      <a:lnTo>
                        <a:pt x="108" y="169"/>
                      </a:lnTo>
                      <a:lnTo>
                        <a:pt x="106" y="167"/>
                      </a:lnTo>
                      <a:lnTo>
                        <a:pt x="106" y="165"/>
                      </a:lnTo>
                      <a:lnTo>
                        <a:pt x="104" y="165"/>
                      </a:lnTo>
                      <a:lnTo>
                        <a:pt x="104" y="161"/>
                      </a:lnTo>
                      <a:lnTo>
                        <a:pt x="104" y="159"/>
                      </a:lnTo>
                      <a:lnTo>
                        <a:pt x="103" y="158"/>
                      </a:lnTo>
                      <a:lnTo>
                        <a:pt x="102" y="157"/>
                      </a:lnTo>
                      <a:lnTo>
                        <a:pt x="101" y="155"/>
                      </a:lnTo>
                      <a:lnTo>
                        <a:pt x="100" y="154"/>
                      </a:lnTo>
                      <a:lnTo>
                        <a:pt x="99" y="153"/>
                      </a:lnTo>
                      <a:lnTo>
                        <a:pt x="97" y="152"/>
                      </a:lnTo>
                      <a:lnTo>
                        <a:pt x="95" y="152"/>
                      </a:lnTo>
                      <a:lnTo>
                        <a:pt x="93" y="152"/>
                      </a:lnTo>
                      <a:lnTo>
                        <a:pt x="92" y="151"/>
                      </a:lnTo>
                      <a:lnTo>
                        <a:pt x="90" y="151"/>
                      </a:lnTo>
                      <a:lnTo>
                        <a:pt x="83" y="152"/>
                      </a:lnTo>
                      <a:lnTo>
                        <a:pt x="84" y="151"/>
                      </a:lnTo>
                      <a:lnTo>
                        <a:pt x="84" y="150"/>
                      </a:lnTo>
                      <a:lnTo>
                        <a:pt x="84" y="149"/>
                      </a:lnTo>
                      <a:lnTo>
                        <a:pt x="84" y="148"/>
                      </a:lnTo>
                      <a:lnTo>
                        <a:pt x="84" y="145"/>
                      </a:lnTo>
                      <a:lnTo>
                        <a:pt x="84" y="143"/>
                      </a:lnTo>
                      <a:lnTo>
                        <a:pt x="84" y="141"/>
                      </a:lnTo>
                      <a:lnTo>
                        <a:pt x="83" y="140"/>
                      </a:lnTo>
                      <a:lnTo>
                        <a:pt x="83" y="139"/>
                      </a:lnTo>
                      <a:lnTo>
                        <a:pt x="82" y="138"/>
                      </a:lnTo>
                      <a:lnTo>
                        <a:pt x="82" y="137"/>
                      </a:lnTo>
                      <a:lnTo>
                        <a:pt x="81" y="136"/>
                      </a:lnTo>
                      <a:lnTo>
                        <a:pt x="79" y="135"/>
                      </a:lnTo>
                      <a:lnTo>
                        <a:pt x="78" y="134"/>
                      </a:lnTo>
                      <a:lnTo>
                        <a:pt x="77" y="133"/>
                      </a:lnTo>
                      <a:lnTo>
                        <a:pt x="76" y="133"/>
                      </a:lnTo>
                      <a:lnTo>
                        <a:pt x="75" y="132"/>
                      </a:lnTo>
                      <a:lnTo>
                        <a:pt x="74" y="132"/>
                      </a:lnTo>
                      <a:lnTo>
                        <a:pt x="73" y="130"/>
                      </a:lnTo>
                      <a:lnTo>
                        <a:pt x="72" y="130"/>
                      </a:lnTo>
                      <a:lnTo>
                        <a:pt x="71" y="130"/>
                      </a:lnTo>
                      <a:lnTo>
                        <a:pt x="69" y="130"/>
                      </a:lnTo>
                      <a:lnTo>
                        <a:pt x="67" y="130"/>
                      </a:lnTo>
                      <a:lnTo>
                        <a:pt x="66" y="132"/>
                      </a:lnTo>
                      <a:lnTo>
                        <a:pt x="64" y="132"/>
                      </a:lnTo>
                      <a:lnTo>
                        <a:pt x="63" y="132"/>
                      </a:lnTo>
                      <a:lnTo>
                        <a:pt x="62" y="133"/>
                      </a:lnTo>
                      <a:lnTo>
                        <a:pt x="62" y="132"/>
                      </a:lnTo>
                      <a:lnTo>
                        <a:pt x="62" y="130"/>
                      </a:lnTo>
                      <a:lnTo>
                        <a:pt x="62" y="127"/>
                      </a:lnTo>
                      <a:lnTo>
                        <a:pt x="63" y="127"/>
                      </a:lnTo>
                      <a:lnTo>
                        <a:pt x="62" y="125"/>
                      </a:lnTo>
                      <a:lnTo>
                        <a:pt x="62" y="124"/>
                      </a:lnTo>
                      <a:lnTo>
                        <a:pt x="62" y="123"/>
                      </a:lnTo>
                      <a:lnTo>
                        <a:pt x="62" y="121"/>
                      </a:lnTo>
                      <a:lnTo>
                        <a:pt x="61" y="120"/>
                      </a:lnTo>
                      <a:lnTo>
                        <a:pt x="61" y="119"/>
                      </a:lnTo>
                      <a:lnTo>
                        <a:pt x="60" y="118"/>
                      </a:lnTo>
                      <a:lnTo>
                        <a:pt x="60" y="117"/>
                      </a:lnTo>
                      <a:lnTo>
                        <a:pt x="59" y="116"/>
                      </a:lnTo>
                      <a:lnTo>
                        <a:pt x="58" y="114"/>
                      </a:lnTo>
                      <a:lnTo>
                        <a:pt x="57" y="114"/>
                      </a:lnTo>
                      <a:lnTo>
                        <a:pt x="56" y="113"/>
                      </a:lnTo>
                      <a:lnTo>
                        <a:pt x="55" y="112"/>
                      </a:lnTo>
                      <a:lnTo>
                        <a:pt x="54" y="112"/>
                      </a:lnTo>
                      <a:lnTo>
                        <a:pt x="53" y="111"/>
                      </a:lnTo>
                      <a:lnTo>
                        <a:pt x="52" y="111"/>
                      </a:lnTo>
                      <a:lnTo>
                        <a:pt x="50" y="111"/>
                      </a:lnTo>
                      <a:lnTo>
                        <a:pt x="47" y="111"/>
                      </a:lnTo>
                      <a:lnTo>
                        <a:pt x="46" y="111"/>
                      </a:lnTo>
                      <a:lnTo>
                        <a:pt x="45" y="111"/>
                      </a:lnTo>
                      <a:lnTo>
                        <a:pt x="44" y="111"/>
                      </a:lnTo>
                      <a:lnTo>
                        <a:pt x="43" y="111"/>
                      </a:lnTo>
                      <a:lnTo>
                        <a:pt x="42" y="112"/>
                      </a:lnTo>
                      <a:lnTo>
                        <a:pt x="41" y="113"/>
                      </a:lnTo>
                      <a:lnTo>
                        <a:pt x="41" y="111"/>
                      </a:lnTo>
                      <a:lnTo>
                        <a:pt x="41" y="110"/>
                      </a:lnTo>
                      <a:lnTo>
                        <a:pt x="42" y="108"/>
                      </a:lnTo>
                      <a:lnTo>
                        <a:pt x="42" y="106"/>
                      </a:lnTo>
                      <a:lnTo>
                        <a:pt x="42" y="104"/>
                      </a:lnTo>
                      <a:lnTo>
                        <a:pt x="42" y="103"/>
                      </a:lnTo>
                      <a:lnTo>
                        <a:pt x="41" y="102"/>
                      </a:lnTo>
                      <a:lnTo>
                        <a:pt x="41" y="101"/>
                      </a:lnTo>
                      <a:lnTo>
                        <a:pt x="41" y="99"/>
                      </a:lnTo>
                      <a:lnTo>
                        <a:pt x="40" y="98"/>
                      </a:lnTo>
                      <a:lnTo>
                        <a:pt x="39" y="97"/>
                      </a:lnTo>
                      <a:lnTo>
                        <a:pt x="39" y="96"/>
                      </a:lnTo>
                      <a:lnTo>
                        <a:pt x="38" y="94"/>
                      </a:lnTo>
                      <a:lnTo>
                        <a:pt x="37" y="94"/>
                      </a:lnTo>
                      <a:lnTo>
                        <a:pt x="36" y="93"/>
                      </a:lnTo>
                      <a:lnTo>
                        <a:pt x="35" y="92"/>
                      </a:lnTo>
                      <a:lnTo>
                        <a:pt x="34" y="91"/>
                      </a:lnTo>
                      <a:lnTo>
                        <a:pt x="32" y="91"/>
                      </a:lnTo>
                      <a:lnTo>
                        <a:pt x="30" y="91"/>
                      </a:lnTo>
                      <a:lnTo>
                        <a:pt x="28" y="91"/>
                      </a:lnTo>
                      <a:lnTo>
                        <a:pt x="26" y="91"/>
                      </a:lnTo>
                      <a:lnTo>
                        <a:pt x="24" y="91"/>
                      </a:lnTo>
                      <a:lnTo>
                        <a:pt x="23" y="91"/>
                      </a:lnTo>
                      <a:lnTo>
                        <a:pt x="22" y="92"/>
                      </a:lnTo>
                      <a:lnTo>
                        <a:pt x="20" y="92"/>
                      </a:lnTo>
                      <a:lnTo>
                        <a:pt x="19" y="93"/>
                      </a:lnTo>
                      <a:lnTo>
                        <a:pt x="17" y="94"/>
                      </a:lnTo>
                      <a:lnTo>
                        <a:pt x="16" y="95"/>
                      </a:lnTo>
                      <a:lnTo>
                        <a:pt x="15" y="97"/>
                      </a:lnTo>
                      <a:lnTo>
                        <a:pt x="0" y="87"/>
                      </a:lnTo>
                      <a:lnTo>
                        <a:pt x="50" y="0"/>
                      </a:lnTo>
                      <a:lnTo>
                        <a:pt x="77" y="9"/>
                      </a:lnTo>
                      <a:lnTo>
                        <a:pt x="63" y="41"/>
                      </a:lnTo>
                      <a:lnTo>
                        <a:pt x="63" y="4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376" name="Freeform 1040"/>
                <p:cNvSpPr>
                  <a:spLocks/>
                </p:cNvSpPr>
                <p:nvPr/>
              </p:nvSpPr>
              <p:spPr bwMode="auto">
                <a:xfrm>
                  <a:off x="2539" y="2506"/>
                  <a:ext cx="207" cy="175"/>
                </a:xfrm>
                <a:custGeom>
                  <a:avLst/>
                  <a:gdLst>
                    <a:gd name="T0" fmla="*/ 69 w 207"/>
                    <a:gd name="T1" fmla="*/ 44 h 175"/>
                    <a:gd name="T2" fmla="*/ 76 w 207"/>
                    <a:gd name="T3" fmla="*/ 46 h 175"/>
                    <a:gd name="T4" fmla="*/ 94 w 207"/>
                    <a:gd name="T5" fmla="*/ 39 h 175"/>
                    <a:gd name="T6" fmla="*/ 112 w 207"/>
                    <a:gd name="T7" fmla="*/ 24 h 175"/>
                    <a:gd name="T8" fmla="*/ 132 w 207"/>
                    <a:gd name="T9" fmla="*/ 30 h 175"/>
                    <a:gd name="T10" fmla="*/ 151 w 207"/>
                    <a:gd name="T11" fmla="*/ 41 h 175"/>
                    <a:gd name="T12" fmla="*/ 175 w 207"/>
                    <a:gd name="T13" fmla="*/ 67 h 175"/>
                    <a:gd name="T14" fmla="*/ 201 w 207"/>
                    <a:gd name="T15" fmla="*/ 99 h 175"/>
                    <a:gd name="T16" fmla="*/ 207 w 207"/>
                    <a:gd name="T17" fmla="*/ 111 h 175"/>
                    <a:gd name="T18" fmla="*/ 206 w 207"/>
                    <a:gd name="T19" fmla="*/ 117 h 175"/>
                    <a:gd name="T20" fmla="*/ 203 w 207"/>
                    <a:gd name="T21" fmla="*/ 122 h 175"/>
                    <a:gd name="T22" fmla="*/ 198 w 207"/>
                    <a:gd name="T23" fmla="*/ 125 h 175"/>
                    <a:gd name="T24" fmla="*/ 192 w 207"/>
                    <a:gd name="T25" fmla="*/ 127 h 175"/>
                    <a:gd name="T26" fmla="*/ 186 w 207"/>
                    <a:gd name="T27" fmla="*/ 123 h 175"/>
                    <a:gd name="T28" fmla="*/ 182 w 207"/>
                    <a:gd name="T29" fmla="*/ 123 h 175"/>
                    <a:gd name="T30" fmla="*/ 182 w 207"/>
                    <a:gd name="T31" fmla="*/ 133 h 175"/>
                    <a:gd name="T32" fmla="*/ 179 w 207"/>
                    <a:gd name="T33" fmla="*/ 139 h 175"/>
                    <a:gd name="T34" fmla="*/ 171 w 207"/>
                    <a:gd name="T35" fmla="*/ 143 h 175"/>
                    <a:gd name="T36" fmla="*/ 165 w 207"/>
                    <a:gd name="T37" fmla="*/ 143 h 175"/>
                    <a:gd name="T38" fmla="*/ 148 w 207"/>
                    <a:gd name="T39" fmla="*/ 123 h 175"/>
                    <a:gd name="T40" fmla="*/ 131 w 207"/>
                    <a:gd name="T41" fmla="*/ 104 h 175"/>
                    <a:gd name="T42" fmla="*/ 157 w 207"/>
                    <a:gd name="T43" fmla="*/ 140 h 175"/>
                    <a:gd name="T44" fmla="*/ 157 w 207"/>
                    <a:gd name="T45" fmla="*/ 148 h 175"/>
                    <a:gd name="T46" fmla="*/ 155 w 207"/>
                    <a:gd name="T47" fmla="*/ 155 h 175"/>
                    <a:gd name="T48" fmla="*/ 150 w 207"/>
                    <a:gd name="T49" fmla="*/ 158 h 175"/>
                    <a:gd name="T50" fmla="*/ 142 w 207"/>
                    <a:gd name="T51" fmla="*/ 159 h 175"/>
                    <a:gd name="T52" fmla="*/ 134 w 207"/>
                    <a:gd name="T53" fmla="*/ 154 h 175"/>
                    <a:gd name="T54" fmla="*/ 126 w 207"/>
                    <a:gd name="T55" fmla="*/ 145 h 175"/>
                    <a:gd name="T56" fmla="*/ 116 w 207"/>
                    <a:gd name="T57" fmla="*/ 133 h 175"/>
                    <a:gd name="T58" fmla="*/ 107 w 207"/>
                    <a:gd name="T59" fmla="*/ 123 h 175"/>
                    <a:gd name="T60" fmla="*/ 134 w 207"/>
                    <a:gd name="T61" fmla="*/ 163 h 175"/>
                    <a:gd name="T62" fmla="*/ 132 w 207"/>
                    <a:gd name="T63" fmla="*/ 170 h 175"/>
                    <a:gd name="T64" fmla="*/ 125 w 207"/>
                    <a:gd name="T65" fmla="*/ 175 h 175"/>
                    <a:gd name="T66" fmla="*/ 116 w 207"/>
                    <a:gd name="T67" fmla="*/ 174 h 175"/>
                    <a:gd name="T68" fmla="*/ 109 w 207"/>
                    <a:gd name="T69" fmla="*/ 170 h 175"/>
                    <a:gd name="T70" fmla="*/ 104 w 207"/>
                    <a:gd name="T71" fmla="*/ 161 h 175"/>
                    <a:gd name="T72" fmla="*/ 100 w 207"/>
                    <a:gd name="T73" fmla="*/ 154 h 175"/>
                    <a:gd name="T74" fmla="*/ 92 w 207"/>
                    <a:gd name="T75" fmla="*/ 151 h 175"/>
                    <a:gd name="T76" fmla="*/ 84 w 207"/>
                    <a:gd name="T77" fmla="*/ 149 h 175"/>
                    <a:gd name="T78" fmla="*/ 84 w 207"/>
                    <a:gd name="T79" fmla="*/ 141 h 175"/>
                    <a:gd name="T80" fmla="*/ 81 w 207"/>
                    <a:gd name="T81" fmla="*/ 136 h 175"/>
                    <a:gd name="T82" fmla="*/ 75 w 207"/>
                    <a:gd name="T83" fmla="*/ 132 h 175"/>
                    <a:gd name="T84" fmla="*/ 69 w 207"/>
                    <a:gd name="T85" fmla="*/ 130 h 175"/>
                    <a:gd name="T86" fmla="*/ 63 w 207"/>
                    <a:gd name="T87" fmla="*/ 132 h 175"/>
                    <a:gd name="T88" fmla="*/ 63 w 207"/>
                    <a:gd name="T89" fmla="*/ 127 h 175"/>
                    <a:gd name="T90" fmla="*/ 61 w 207"/>
                    <a:gd name="T91" fmla="*/ 120 h 175"/>
                    <a:gd name="T92" fmla="*/ 58 w 207"/>
                    <a:gd name="T93" fmla="*/ 114 h 175"/>
                    <a:gd name="T94" fmla="*/ 53 w 207"/>
                    <a:gd name="T95" fmla="*/ 111 h 175"/>
                    <a:gd name="T96" fmla="*/ 46 w 207"/>
                    <a:gd name="T97" fmla="*/ 111 h 175"/>
                    <a:gd name="T98" fmla="*/ 41 w 207"/>
                    <a:gd name="T99" fmla="*/ 113 h 175"/>
                    <a:gd name="T100" fmla="*/ 42 w 207"/>
                    <a:gd name="T101" fmla="*/ 106 h 175"/>
                    <a:gd name="T102" fmla="*/ 41 w 207"/>
                    <a:gd name="T103" fmla="*/ 99 h 175"/>
                    <a:gd name="T104" fmla="*/ 37 w 207"/>
                    <a:gd name="T105" fmla="*/ 94 h 175"/>
                    <a:gd name="T106" fmla="*/ 30 w 207"/>
                    <a:gd name="T107" fmla="*/ 91 h 175"/>
                    <a:gd name="T108" fmla="*/ 22 w 207"/>
                    <a:gd name="T109" fmla="*/ 92 h 175"/>
                    <a:gd name="T110" fmla="*/ 15 w 207"/>
                    <a:gd name="T111" fmla="*/ 97 h 175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207"/>
                    <a:gd name="T169" fmla="*/ 0 h 175"/>
                    <a:gd name="T170" fmla="*/ 207 w 207"/>
                    <a:gd name="T171" fmla="*/ 175 h 175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207" h="175">
                      <a:moveTo>
                        <a:pt x="63" y="40"/>
                      </a:moveTo>
                      <a:lnTo>
                        <a:pt x="64" y="41"/>
                      </a:lnTo>
                      <a:lnTo>
                        <a:pt x="66" y="42"/>
                      </a:lnTo>
                      <a:lnTo>
                        <a:pt x="67" y="43"/>
                      </a:lnTo>
                      <a:lnTo>
                        <a:pt x="69" y="44"/>
                      </a:lnTo>
                      <a:lnTo>
                        <a:pt x="71" y="44"/>
                      </a:lnTo>
                      <a:lnTo>
                        <a:pt x="72" y="46"/>
                      </a:lnTo>
                      <a:lnTo>
                        <a:pt x="73" y="46"/>
                      </a:lnTo>
                      <a:lnTo>
                        <a:pt x="75" y="46"/>
                      </a:lnTo>
                      <a:lnTo>
                        <a:pt x="76" y="46"/>
                      </a:lnTo>
                      <a:lnTo>
                        <a:pt x="78" y="46"/>
                      </a:lnTo>
                      <a:lnTo>
                        <a:pt x="83" y="44"/>
                      </a:lnTo>
                      <a:lnTo>
                        <a:pt x="86" y="43"/>
                      </a:lnTo>
                      <a:lnTo>
                        <a:pt x="90" y="41"/>
                      </a:lnTo>
                      <a:lnTo>
                        <a:pt x="94" y="39"/>
                      </a:lnTo>
                      <a:lnTo>
                        <a:pt x="98" y="35"/>
                      </a:lnTo>
                      <a:lnTo>
                        <a:pt x="100" y="33"/>
                      </a:lnTo>
                      <a:lnTo>
                        <a:pt x="104" y="30"/>
                      </a:lnTo>
                      <a:lnTo>
                        <a:pt x="108" y="27"/>
                      </a:lnTo>
                      <a:lnTo>
                        <a:pt x="112" y="24"/>
                      </a:lnTo>
                      <a:lnTo>
                        <a:pt x="115" y="21"/>
                      </a:lnTo>
                      <a:lnTo>
                        <a:pt x="118" y="24"/>
                      </a:lnTo>
                      <a:lnTo>
                        <a:pt x="123" y="26"/>
                      </a:lnTo>
                      <a:lnTo>
                        <a:pt x="128" y="27"/>
                      </a:lnTo>
                      <a:lnTo>
                        <a:pt x="132" y="30"/>
                      </a:lnTo>
                      <a:lnTo>
                        <a:pt x="135" y="32"/>
                      </a:lnTo>
                      <a:lnTo>
                        <a:pt x="140" y="34"/>
                      </a:lnTo>
                      <a:lnTo>
                        <a:pt x="142" y="36"/>
                      </a:lnTo>
                      <a:lnTo>
                        <a:pt x="148" y="39"/>
                      </a:lnTo>
                      <a:lnTo>
                        <a:pt x="151" y="41"/>
                      </a:lnTo>
                      <a:lnTo>
                        <a:pt x="154" y="44"/>
                      </a:lnTo>
                      <a:lnTo>
                        <a:pt x="160" y="50"/>
                      </a:lnTo>
                      <a:lnTo>
                        <a:pt x="165" y="56"/>
                      </a:lnTo>
                      <a:lnTo>
                        <a:pt x="170" y="62"/>
                      </a:lnTo>
                      <a:lnTo>
                        <a:pt x="175" y="67"/>
                      </a:lnTo>
                      <a:lnTo>
                        <a:pt x="181" y="75"/>
                      </a:lnTo>
                      <a:lnTo>
                        <a:pt x="185" y="80"/>
                      </a:lnTo>
                      <a:lnTo>
                        <a:pt x="191" y="87"/>
                      </a:lnTo>
                      <a:lnTo>
                        <a:pt x="195" y="94"/>
                      </a:lnTo>
                      <a:lnTo>
                        <a:pt x="201" y="99"/>
                      </a:lnTo>
                      <a:lnTo>
                        <a:pt x="206" y="106"/>
                      </a:lnTo>
                      <a:lnTo>
                        <a:pt x="206" y="108"/>
                      </a:lnTo>
                      <a:lnTo>
                        <a:pt x="207" y="108"/>
                      </a:lnTo>
                      <a:lnTo>
                        <a:pt x="207" y="110"/>
                      </a:lnTo>
                      <a:lnTo>
                        <a:pt x="207" y="111"/>
                      </a:lnTo>
                      <a:lnTo>
                        <a:pt x="207" y="112"/>
                      </a:lnTo>
                      <a:lnTo>
                        <a:pt x="207" y="113"/>
                      </a:lnTo>
                      <a:lnTo>
                        <a:pt x="207" y="114"/>
                      </a:lnTo>
                      <a:lnTo>
                        <a:pt x="207" y="116"/>
                      </a:lnTo>
                      <a:lnTo>
                        <a:pt x="206" y="117"/>
                      </a:lnTo>
                      <a:lnTo>
                        <a:pt x="206" y="118"/>
                      </a:lnTo>
                      <a:lnTo>
                        <a:pt x="206" y="119"/>
                      </a:lnTo>
                      <a:lnTo>
                        <a:pt x="204" y="120"/>
                      </a:lnTo>
                      <a:lnTo>
                        <a:pt x="203" y="121"/>
                      </a:lnTo>
                      <a:lnTo>
                        <a:pt x="203" y="122"/>
                      </a:lnTo>
                      <a:lnTo>
                        <a:pt x="202" y="123"/>
                      </a:lnTo>
                      <a:lnTo>
                        <a:pt x="201" y="123"/>
                      </a:lnTo>
                      <a:lnTo>
                        <a:pt x="200" y="124"/>
                      </a:lnTo>
                      <a:lnTo>
                        <a:pt x="198" y="124"/>
                      </a:lnTo>
                      <a:lnTo>
                        <a:pt x="198" y="125"/>
                      </a:lnTo>
                      <a:lnTo>
                        <a:pt x="196" y="125"/>
                      </a:lnTo>
                      <a:lnTo>
                        <a:pt x="195" y="127"/>
                      </a:lnTo>
                      <a:lnTo>
                        <a:pt x="194" y="127"/>
                      </a:lnTo>
                      <a:lnTo>
                        <a:pt x="193" y="127"/>
                      </a:lnTo>
                      <a:lnTo>
                        <a:pt x="192" y="127"/>
                      </a:lnTo>
                      <a:lnTo>
                        <a:pt x="191" y="125"/>
                      </a:lnTo>
                      <a:lnTo>
                        <a:pt x="190" y="125"/>
                      </a:lnTo>
                      <a:lnTo>
                        <a:pt x="188" y="124"/>
                      </a:lnTo>
                      <a:lnTo>
                        <a:pt x="187" y="124"/>
                      </a:lnTo>
                      <a:lnTo>
                        <a:pt x="186" y="123"/>
                      </a:lnTo>
                      <a:lnTo>
                        <a:pt x="185" y="123"/>
                      </a:lnTo>
                      <a:lnTo>
                        <a:pt x="151" y="82"/>
                      </a:lnTo>
                      <a:lnTo>
                        <a:pt x="150" y="82"/>
                      </a:lnTo>
                      <a:lnTo>
                        <a:pt x="149" y="82"/>
                      </a:lnTo>
                      <a:lnTo>
                        <a:pt x="182" y="123"/>
                      </a:lnTo>
                      <a:lnTo>
                        <a:pt x="182" y="124"/>
                      </a:lnTo>
                      <a:lnTo>
                        <a:pt x="183" y="127"/>
                      </a:lnTo>
                      <a:lnTo>
                        <a:pt x="183" y="129"/>
                      </a:lnTo>
                      <a:lnTo>
                        <a:pt x="183" y="130"/>
                      </a:lnTo>
                      <a:lnTo>
                        <a:pt x="182" y="133"/>
                      </a:lnTo>
                      <a:lnTo>
                        <a:pt x="182" y="134"/>
                      </a:lnTo>
                      <a:lnTo>
                        <a:pt x="182" y="136"/>
                      </a:lnTo>
                      <a:lnTo>
                        <a:pt x="181" y="137"/>
                      </a:lnTo>
                      <a:lnTo>
                        <a:pt x="179" y="138"/>
                      </a:lnTo>
                      <a:lnTo>
                        <a:pt x="179" y="139"/>
                      </a:lnTo>
                      <a:lnTo>
                        <a:pt x="177" y="140"/>
                      </a:lnTo>
                      <a:lnTo>
                        <a:pt x="176" y="141"/>
                      </a:lnTo>
                      <a:lnTo>
                        <a:pt x="175" y="141"/>
                      </a:lnTo>
                      <a:lnTo>
                        <a:pt x="173" y="143"/>
                      </a:lnTo>
                      <a:lnTo>
                        <a:pt x="171" y="143"/>
                      </a:lnTo>
                      <a:lnTo>
                        <a:pt x="170" y="143"/>
                      </a:lnTo>
                      <a:lnTo>
                        <a:pt x="169" y="143"/>
                      </a:lnTo>
                      <a:lnTo>
                        <a:pt x="168" y="143"/>
                      </a:lnTo>
                      <a:lnTo>
                        <a:pt x="166" y="143"/>
                      </a:lnTo>
                      <a:lnTo>
                        <a:pt x="165" y="143"/>
                      </a:lnTo>
                      <a:lnTo>
                        <a:pt x="162" y="139"/>
                      </a:lnTo>
                      <a:lnTo>
                        <a:pt x="156" y="136"/>
                      </a:lnTo>
                      <a:lnTo>
                        <a:pt x="153" y="132"/>
                      </a:lnTo>
                      <a:lnTo>
                        <a:pt x="150" y="127"/>
                      </a:lnTo>
                      <a:lnTo>
                        <a:pt x="148" y="123"/>
                      </a:lnTo>
                      <a:lnTo>
                        <a:pt x="145" y="120"/>
                      </a:lnTo>
                      <a:lnTo>
                        <a:pt x="140" y="116"/>
                      </a:lnTo>
                      <a:lnTo>
                        <a:pt x="137" y="112"/>
                      </a:lnTo>
                      <a:lnTo>
                        <a:pt x="134" y="108"/>
                      </a:lnTo>
                      <a:lnTo>
                        <a:pt x="131" y="104"/>
                      </a:lnTo>
                      <a:lnTo>
                        <a:pt x="131" y="103"/>
                      </a:lnTo>
                      <a:lnTo>
                        <a:pt x="130" y="103"/>
                      </a:lnTo>
                      <a:lnTo>
                        <a:pt x="130" y="102"/>
                      </a:lnTo>
                      <a:lnTo>
                        <a:pt x="129" y="103"/>
                      </a:lnTo>
                      <a:lnTo>
                        <a:pt x="157" y="140"/>
                      </a:lnTo>
                      <a:lnTo>
                        <a:pt x="157" y="141"/>
                      </a:lnTo>
                      <a:lnTo>
                        <a:pt x="160" y="143"/>
                      </a:lnTo>
                      <a:lnTo>
                        <a:pt x="160" y="145"/>
                      </a:lnTo>
                      <a:lnTo>
                        <a:pt x="157" y="148"/>
                      </a:lnTo>
                      <a:lnTo>
                        <a:pt x="157" y="149"/>
                      </a:lnTo>
                      <a:lnTo>
                        <a:pt x="157" y="150"/>
                      </a:lnTo>
                      <a:lnTo>
                        <a:pt x="156" y="152"/>
                      </a:lnTo>
                      <a:lnTo>
                        <a:pt x="155" y="153"/>
                      </a:lnTo>
                      <a:lnTo>
                        <a:pt x="155" y="155"/>
                      </a:lnTo>
                      <a:lnTo>
                        <a:pt x="154" y="155"/>
                      </a:lnTo>
                      <a:lnTo>
                        <a:pt x="153" y="156"/>
                      </a:lnTo>
                      <a:lnTo>
                        <a:pt x="152" y="157"/>
                      </a:lnTo>
                      <a:lnTo>
                        <a:pt x="151" y="157"/>
                      </a:lnTo>
                      <a:lnTo>
                        <a:pt x="150" y="158"/>
                      </a:lnTo>
                      <a:lnTo>
                        <a:pt x="149" y="158"/>
                      </a:lnTo>
                      <a:lnTo>
                        <a:pt x="148" y="158"/>
                      </a:lnTo>
                      <a:lnTo>
                        <a:pt x="147" y="158"/>
                      </a:lnTo>
                      <a:lnTo>
                        <a:pt x="146" y="159"/>
                      </a:lnTo>
                      <a:lnTo>
                        <a:pt x="142" y="159"/>
                      </a:lnTo>
                      <a:lnTo>
                        <a:pt x="140" y="158"/>
                      </a:lnTo>
                      <a:lnTo>
                        <a:pt x="137" y="157"/>
                      </a:lnTo>
                      <a:lnTo>
                        <a:pt x="136" y="155"/>
                      </a:lnTo>
                      <a:lnTo>
                        <a:pt x="134" y="154"/>
                      </a:lnTo>
                      <a:lnTo>
                        <a:pt x="133" y="152"/>
                      </a:lnTo>
                      <a:lnTo>
                        <a:pt x="132" y="151"/>
                      </a:lnTo>
                      <a:lnTo>
                        <a:pt x="130" y="149"/>
                      </a:lnTo>
                      <a:lnTo>
                        <a:pt x="129" y="148"/>
                      </a:lnTo>
                      <a:lnTo>
                        <a:pt x="126" y="145"/>
                      </a:lnTo>
                      <a:lnTo>
                        <a:pt x="125" y="143"/>
                      </a:lnTo>
                      <a:lnTo>
                        <a:pt x="123" y="140"/>
                      </a:lnTo>
                      <a:lnTo>
                        <a:pt x="121" y="137"/>
                      </a:lnTo>
                      <a:lnTo>
                        <a:pt x="118" y="135"/>
                      </a:lnTo>
                      <a:lnTo>
                        <a:pt x="116" y="133"/>
                      </a:lnTo>
                      <a:lnTo>
                        <a:pt x="115" y="130"/>
                      </a:lnTo>
                      <a:lnTo>
                        <a:pt x="113" y="127"/>
                      </a:lnTo>
                      <a:lnTo>
                        <a:pt x="110" y="124"/>
                      </a:lnTo>
                      <a:lnTo>
                        <a:pt x="108" y="122"/>
                      </a:lnTo>
                      <a:lnTo>
                        <a:pt x="107" y="123"/>
                      </a:lnTo>
                      <a:lnTo>
                        <a:pt x="134" y="156"/>
                      </a:lnTo>
                      <a:lnTo>
                        <a:pt x="134" y="157"/>
                      </a:lnTo>
                      <a:lnTo>
                        <a:pt x="134" y="159"/>
                      </a:lnTo>
                      <a:lnTo>
                        <a:pt x="134" y="160"/>
                      </a:lnTo>
                      <a:lnTo>
                        <a:pt x="134" y="163"/>
                      </a:lnTo>
                      <a:lnTo>
                        <a:pt x="134" y="165"/>
                      </a:lnTo>
                      <a:lnTo>
                        <a:pt x="133" y="168"/>
                      </a:lnTo>
                      <a:lnTo>
                        <a:pt x="133" y="169"/>
                      </a:lnTo>
                      <a:lnTo>
                        <a:pt x="132" y="170"/>
                      </a:lnTo>
                      <a:lnTo>
                        <a:pt x="131" y="171"/>
                      </a:lnTo>
                      <a:lnTo>
                        <a:pt x="130" y="172"/>
                      </a:lnTo>
                      <a:lnTo>
                        <a:pt x="129" y="173"/>
                      </a:lnTo>
                      <a:lnTo>
                        <a:pt x="126" y="174"/>
                      </a:lnTo>
                      <a:lnTo>
                        <a:pt x="125" y="175"/>
                      </a:lnTo>
                      <a:lnTo>
                        <a:pt x="123" y="175"/>
                      </a:lnTo>
                      <a:lnTo>
                        <a:pt x="121" y="175"/>
                      </a:lnTo>
                      <a:lnTo>
                        <a:pt x="119" y="175"/>
                      </a:lnTo>
                      <a:lnTo>
                        <a:pt x="118" y="175"/>
                      </a:lnTo>
                      <a:lnTo>
                        <a:pt x="116" y="174"/>
                      </a:lnTo>
                      <a:lnTo>
                        <a:pt x="115" y="174"/>
                      </a:lnTo>
                      <a:lnTo>
                        <a:pt x="114" y="173"/>
                      </a:lnTo>
                      <a:lnTo>
                        <a:pt x="112" y="172"/>
                      </a:lnTo>
                      <a:lnTo>
                        <a:pt x="110" y="171"/>
                      </a:lnTo>
                      <a:lnTo>
                        <a:pt x="109" y="170"/>
                      </a:lnTo>
                      <a:lnTo>
                        <a:pt x="108" y="169"/>
                      </a:lnTo>
                      <a:lnTo>
                        <a:pt x="106" y="167"/>
                      </a:lnTo>
                      <a:lnTo>
                        <a:pt x="106" y="165"/>
                      </a:lnTo>
                      <a:lnTo>
                        <a:pt x="104" y="165"/>
                      </a:lnTo>
                      <a:lnTo>
                        <a:pt x="104" y="161"/>
                      </a:lnTo>
                      <a:lnTo>
                        <a:pt x="104" y="159"/>
                      </a:lnTo>
                      <a:lnTo>
                        <a:pt x="103" y="158"/>
                      </a:lnTo>
                      <a:lnTo>
                        <a:pt x="102" y="157"/>
                      </a:lnTo>
                      <a:lnTo>
                        <a:pt x="101" y="155"/>
                      </a:lnTo>
                      <a:lnTo>
                        <a:pt x="100" y="154"/>
                      </a:lnTo>
                      <a:lnTo>
                        <a:pt x="99" y="153"/>
                      </a:lnTo>
                      <a:lnTo>
                        <a:pt x="97" y="152"/>
                      </a:lnTo>
                      <a:lnTo>
                        <a:pt x="95" y="152"/>
                      </a:lnTo>
                      <a:lnTo>
                        <a:pt x="93" y="152"/>
                      </a:lnTo>
                      <a:lnTo>
                        <a:pt x="92" y="151"/>
                      </a:lnTo>
                      <a:lnTo>
                        <a:pt x="90" y="151"/>
                      </a:lnTo>
                      <a:lnTo>
                        <a:pt x="83" y="152"/>
                      </a:lnTo>
                      <a:lnTo>
                        <a:pt x="84" y="151"/>
                      </a:lnTo>
                      <a:lnTo>
                        <a:pt x="84" y="150"/>
                      </a:lnTo>
                      <a:lnTo>
                        <a:pt x="84" y="149"/>
                      </a:lnTo>
                      <a:lnTo>
                        <a:pt x="84" y="148"/>
                      </a:lnTo>
                      <a:lnTo>
                        <a:pt x="84" y="145"/>
                      </a:lnTo>
                      <a:lnTo>
                        <a:pt x="84" y="143"/>
                      </a:lnTo>
                      <a:lnTo>
                        <a:pt x="84" y="141"/>
                      </a:lnTo>
                      <a:lnTo>
                        <a:pt x="83" y="140"/>
                      </a:lnTo>
                      <a:lnTo>
                        <a:pt x="83" y="139"/>
                      </a:lnTo>
                      <a:lnTo>
                        <a:pt x="82" y="138"/>
                      </a:lnTo>
                      <a:lnTo>
                        <a:pt x="82" y="137"/>
                      </a:lnTo>
                      <a:lnTo>
                        <a:pt x="81" y="136"/>
                      </a:lnTo>
                      <a:lnTo>
                        <a:pt x="79" y="135"/>
                      </a:lnTo>
                      <a:lnTo>
                        <a:pt x="78" y="134"/>
                      </a:lnTo>
                      <a:lnTo>
                        <a:pt x="77" y="133"/>
                      </a:lnTo>
                      <a:lnTo>
                        <a:pt x="76" y="133"/>
                      </a:lnTo>
                      <a:lnTo>
                        <a:pt x="75" y="132"/>
                      </a:lnTo>
                      <a:lnTo>
                        <a:pt x="74" y="132"/>
                      </a:lnTo>
                      <a:lnTo>
                        <a:pt x="73" y="130"/>
                      </a:lnTo>
                      <a:lnTo>
                        <a:pt x="72" y="130"/>
                      </a:lnTo>
                      <a:lnTo>
                        <a:pt x="71" y="130"/>
                      </a:lnTo>
                      <a:lnTo>
                        <a:pt x="69" y="130"/>
                      </a:lnTo>
                      <a:lnTo>
                        <a:pt x="67" y="130"/>
                      </a:lnTo>
                      <a:lnTo>
                        <a:pt x="66" y="132"/>
                      </a:lnTo>
                      <a:lnTo>
                        <a:pt x="64" y="132"/>
                      </a:lnTo>
                      <a:lnTo>
                        <a:pt x="63" y="132"/>
                      </a:lnTo>
                      <a:lnTo>
                        <a:pt x="62" y="133"/>
                      </a:lnTo>
                      <a:lnTo>
                        <a:pt x="62" y="132"/>
                      </a:lnTo>
                      <a:lnTo>
                        <a:pt x="62" y="130"/>
                      </a:lnTo>
                      <a:lnTo>
                        <a:pt x="62" y="127"/>
                      </a:lnTo>
                      <a:lnTo>
                        <a:pt x="63" y="127"/>
                      </a:lnTo>
                      <a:lnTo>
                        <a:pt x="62" y="125"/>
                      </a:lnTo>
                      <a:lnTo>
                        <a:pt x="62" y="124"/>
                      </a:lnTo>
                      <a:lnTo>
                        <a:pt x="62" y="123"/>
                      </a:lnTo>
                      <a:lnTo>
                        <a:pt x="62" y="121"/>
                      </a:lnTo>
                      <a:lnTo>
                        <a:pt x="61" y="120"/>
                      </a:lnTo>
                      <a:lnTo>
                        <a:pt x="61" y="119"/>
                      </a:lnTo>
                      <a:lnTo>
                        <a:pt x="60" y="118"/>
                      </a:lnTo>
                      <a:lnTo>
                        <a:pt x="60" y="117"/>
                      </a:lnTo>
                      <a:lnTo>
                        <a:pt x="59" y="116"/>
                      </a:lnTo>
                      <a:lnTo>
                        <a:pt x="58" y="114"/>
                      </a:lnTo>
                      <a:lnTo>
                        <a:pt x="57" y="114"/>
                      </a:lnTo>
                      <a:lnTo>
                        <a:pt x="56" y="113"/>
                      </a:lnTo>
                      <a:lnTo>
                        <a:pt x="55" y="112"/>
                      </a:lnTo>
                      <a:lnTo>
                        <a:pt x="54" y="112"/>
                      </a:lnTo>
                      <a:lnTo>
                        <a:pt x="53" y="111"/>
                      </a:lnTo>
                      <a:lnTo>
                        <a:pt x="52" y="111"/>
                      </a:lnTo>
                      <a:lnTo>
                        <a:pt x="50" y="111"/>
                      </a:lnTo>
                      <a:lnTo>
                        <a:pt x="47" y="111"/>
                      </a:lnTo>
                      <a:lnTo>
                        <a:pt x="46" y="111"/>
                      </a:lnTo>
                      <a:lnTo>
                        <a:pt x="45" y="111"/>
                      </a:lnTo>
                      <a:lnTo>
                        <a:pt x="44" y="111"/>
                      </a:lnTo>
                      <a:lnTo>
                        <a:pt x="43" y="111"/>
                      </a:lnTo>
                      <a:lnTo>
                        <a:pt x="42" y="112"/>
                      </a:lnTo>
                      <a:lnTo>
                        <a:pt x="41" y="113"/>
                      </a:lnTo>
                      <a:lnTo>
                        <a:pt x="41" y="111"/>
                      </a:lnTo>
                      <a:lnTo>
                        <a:pt x="41" y="110"/>
                      </a:lnTo>
                      <a:lnTo>
                        <a:pt x="42" y="108"/>
                      </a:lnTo>
                      <a:lnTo>
                        <a:pt x="42" y="106"/>
                      </a:lnTo>
                      <a:lnTo>
                        <a:pt x="42" y="104"/>
                      </a:lnTo>
                      <a:lnTo>
                        <a:pt x="42" y="103"/>
                      </a:lnTo>
                      <a:lnTo>
                        <a:pt x="41" y="102"/>
                      </a:lnTo>
                      <a:lnTo>
                        <a:pt x="41" y="101"/>
                      </a:lnTo>
                      <a:lnTo>
                        <a:pt x="41" y="99"/>
                      </a:lnTo>
                      <a:lnTo>
                        <a:pt x="40" y="98"/>
                      </a:lnTo>
                      <a:lnTo>
                        <a:pt x="39" y="97"/>
                      </a:lnTo>
                      <a:lnTo>
                        <a:pt x="39" y="96"/>
                      </a:lnTo>
                      <a:lnTo>
                        <a:pt x="38" y="94"/>
                      </a:lnTo>
                      <a:lnTo>
                        <a:pt x="37" y="94"/>
                      </a:lnTo>
                      <a:lnTo>
                        <a:pt x="36" y="93"/>
                      </a:lnTo>
                      <a:lnTo>
                        <a:pt x="35" y="92"/>
                      </a:lnTo>
                      <a:lnTo>
                        <a:pt x="34" y="91"/>
                      </a:lnTo>
                      <a:lnTo>
                        <a:pt x="32" y="91"/>
                      </a:lnTo>
                      <a:lnTo>
                        <a:pt x="30" y="91"/>
                      </a:lnTo>
                      <a:lnTo>
                        <a:pt x="28" y="91"/>
                      </a:lnTo>
                      <a:lnTo>
                        <a:pt x="26" y="91"/>
                      </a:lnTo>
                      <a:lnTo>
                        <a:pt x="24" y="91"/>
                      </a:lnTo>
                      <a:lnTo>
                        <a:pt x="23" y="91"/>
                      </a:lnTo>
                      <a:lnTo>
                        <a:pt x="22" y="92"/>
                      </a:lnTo>
                      <a:lnTo>
                        <a:pt x="20" y="92"/>
                      </a:lnTo>
                      <a:lnTo>
                        <a:pt x="19" y="93"/>
                      </a:lnTo>
                      <a:lnTo>
                        <a:pt x="17" y="94"/>
                      </a:lnTo>
                      <a:lnTo>
                        <a:pt x="16" y="95"/>
                      </a:lnTo>
                      <a:lnTo>
                        <a:pt x="15" y="97"/>
                      </a:lnTo>
                      <a:lnTo>
                        <a:pt x="0" y="87"/>
                      </a:lnTo>
                      <a:lnTo>
                        <a:pt x="50" y="0"/>
                      </a:lnTo>
                      <a:lnTo>
                        <a:pt x="77" y="9"/>
                      </a:lnTo>
                      <a:lnTo>
                        <a:pt x="63" y="41"/>
                      </a:lnTo>
                    </a:path>
                  </a:pathLst>
                </a:custGeom>
                <a:no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12377" name="Group 1041"/>
                <p:cNvGrpSpPr>
                  <a:grpSpLocks/>
                </p:cNvGrpSpPr>
                <p:nvPr/>
              </p:nvGrpSpPr>
              <p:grpSpPr bwMode="auto">
                <a:xfrm>
                  <a:off x="2547" y="2599"/>
                  <a:ext cx="95" cy="88"/>
                  <a:chOff x="2547" y="2599"/>
                  <a:chExt cx="95" cy="88"/>
                </a:xfrm>
              </p:grpSpPr>
              <p:sp>
                <p:nvSpPr>
                  <p:cNvPr id="12378" name="Freeform 1042"/>
                  <p:cNvSpPr>
                    <a:spLocks/>
                  </p:cNvSpPr>
                  <p:nvPr/>
                </p:nvSpPr>
                <p:spPr bwMode="auto">
                  <a:xfrm>
                    <a:off x="2547" y="2599"/>
                    <a:ext cx="32" cy="36"/>
                  </a:xfrm>
                  <a:custGeom>
                    <a:avLst/>
                    <a:gdLst>
                      <a:gd name="T0" fmla="*/ 28 w 32"/>
                      <a:gd name="T1" fmla="*/ 3 h 36"/>
                      <a:gd name="T2" fmla="*/ 29 w 32"/>
                      <a:gd name="T3" fmla="*/ 3 h 36"/>
                      <a:gd name="T4" fmla="*/ 30 w 32"/>
                      <a:gd name="T5" fmla="*/ 6 h 36"/>
                      <a:gd name="T6" fmla="*/ 31 w 32"/>
                      <a:gd name="T7" fmla="*/ 6 h 36"/>
                      <a:gd name="T8" fmla="*/ 31 w 32"/>
                      <a:gd name="T9" fmla="*/ 9 h 36"/>
                      <a:gd name="T10" fmla="*/ 31 w 32"/>
                      <a:gd name="T11" fmla="*/ 10 h 36"/>
                      <a:gd name="T12" fmla="*/ 32 w 32"/>
                      <a:gd name="T13" fmla="*/ 12 h 36"/>
                      <a:gd name="T14" fmla="*/ 32 w 32"/>
                      <a:gd name="T15" fmla="*/ 13 h 36"/>
                      <a:gd name="T16" fmla="*/ 32 w 32"/>
                      <a:gd name="T17" fmla="*/ 15 h 36"/>
                      <a:gd name="T18" fmla="*/ 32 w 32"/>
                      <a:gd name="T19" fmla="*/ 16 h 36"/>
                      <a:gd name="T20" fmla="*/ 32 w 32"/>
                      <a:gd name="T21" fmla="*/ 17 h 36"/>
                      <a:gd name="T22" fmla="*/ 31 w 32"/>
                      <a:gd name="T23" fmla="*/ 19 h 36"/>
                      <a:gd name="T24" fmla="*/ 30 w 32"/>
                      <a:gd name="T25" fmla="*/ 21 h 36"/>
                      <a:gd name="T26" fmla="*/ 29 w 32"/>
                      <a:gd name="T27" fmla="*/ 24 h 36"/>
                      <a:gd name="T28" fmla="*/ 28 w 32"/>
                      <a:gd name="T29" fmla="*/ 26 h 36"/>
                      <a:gd name="T30" fmla="*/ 26 w 32"/>
                      <a:gd name="T31" fmla="*/ 28 h 36"/>
                      <a:gd name="T32" fmla="*/ 24 w 32"/>
                      <a:gd name="T33" fmla="*/ 31 h 36"/>
                      <a:gd name="T34" fmla="*/ 22 w 32"/>
                      <a:gd name="T35" fmla="*/ 32 h 36"/>
                      <a:gd name="T36" fmla="*/ 20 w 32"/>
                      <a:gd name="T37" fmla="*/ 34 h 36"/>
                      <a:gd name="T38" fmla="*/ 18 w 32"/>
                      <a:gd name="T39" fmla="*/ 35 h 36"/>
                      <a:gd name="T40" fmla="*/ 16 w 32"/>
                      <a:gd name="T41" fmla="*/ 35 h 36"/>
                      <a:gd name="T42" fmla="*/ 15 w 32"/>
                      <a:gd name="T43" fmla="*/ 36 h 36"/>
                      <a:gd name="T44" fmla="*/ 14 w 32"/>
                      <a:gd name="T45" fmla="*/ 36 h 36"/>
                      <a:gd name="T46" fmla="*/ 13 w 32"/>
                      <a:gd name="T47" fmla="*/ 36 h 36"/>
                      <a:gd name="T48" fmla="*/ 12 w 32"/>
                      <a:gd name="T49" fmla="*/ 36 h 36"/>
                      <a:gd name="T50" fmla="*/ 11 w 32"/>
                      <a:gd name="T51" fmla="*/ 36 h 36"/>
                      <a:gd name="T52" fmla="*/ 9 w 32"/>
                      <a:gd name="T53" fmla="*/ 35 h 36"/>
                      <a:gd name="T54" fmla="*/ 8 w 32"/>
                      <a:gd name="T55" fmla="*/ 35 h 36"/>
                      <a:gd name="T56" fmla="*/ 6 w 32"/>
                      <a:gd name="T57" fmla="*/ 34 h 36"/>
                      <a:gd name="T58" fmla="*/ 6 w 32"/>
                      <a:gd name="T59" fmla="*/ 34 h 36"/>
                      <a:gd name="T60" fmla="*/ 4 w 32"/>
                      <a:gd name="T61" fmla="*/ 33 h 36"/>
                      <a:gd name="T62" fmla="*/ 3 w 32"/>
                      <a:gd name="T63" fmla="*/ 32 h 36"/>
                      <a:gd name="T64" fmla="*/ 2 w 32"/>
                      <a:gd name="T65" fmla="*/ 31 h 36"/>
                      <a:gd name="T66" fmla="*/ 2 w 32"/>
                      <a:gd name="T67" fmla="*/ 30 h 36"/>
                      <a:gd name="T68" fmla="*/ 1 w 32"/>
                      <a:gd name="T69" fmla="*/ 28 h 36"/>
                      <a:gd name="T70" fmla="*/ 1 w 32"/>
                      <a:gd name="T71" fmla="*/ 28 h 36"/>
                      <a:gd name="T72" fmla="*/ 0 w 32"/>
                      <a:gd name="T73" fmla="*/ 26 h 36"/>
                      <a:gd name="T74" fmla="*/ 0 w 32"/>
                      <a:gd name="T75" fmla="*/ 24 h 36"/>
                      <a:gd name="T76" fmla="*/ 0 w 32"/>
                      <a:gd name="T77" fmla="*/ 23 h 36"/>
                      <a:gd name="T78" fmla="*/ 0 w 32"/>
                      <a:gd name="T79" fmla="*/ 21 h 36"/>
                      <a:gd name="T80" fmla="*/ 1 w 32"/>
                      <a:gd name="T81" fmla="*/ 18 h 36"/>
                      <a:gd name="T82" fmla="*/ 1 w 32"/>
                      <a:gd name="T83" fmla="*/ 16 h 36"/>
                      <a:gd name="T84" fmla="*/ 2 w 32"/>
                      <a:gd name="T85" fmla="*/ 14 h 36"/>
                      <a:gd name="T86" fmla="*/ 4 w 32"/>
                      <a:gd name="T87" fmla="*/ 12 h 36"/>
                      <a:gd name="T88" fmla="*/ 6 w 32"/>
                      <a:gd name="T89" fmla="*/ 10 h 36"/>
                      <a:gd name="T90" fmla="*/ 6 w 32"/>
                      <a:gd name="T91" fmla="*/ 6 h 36"/>
                      <a:gd name="T92" fmla="*/ 9 w 32"/>
                      <a:gd name="T93" fmla="*/ 4 h 36"/>
                      <a:gd name="T94" fmla="*/ 12 w 32"/>
                      <a:gd name="T95" fmla="*/ 2 h 36"/>
                      <a:gd name="T96" fmla="*/ 13 w 32"/>
                      <a:gd name="T97" fmla="*/ 1 h 36"/>
                      <a:gd name="T98" fmla="*/ 16 w 32"/>
                      <a:gd name="T99" fmla="*/ 0 h 36"/>
                      <a:gd name="T100" fmla="*/ 17 w 32"/>
                      <a:gd name="T101" fmla="*/ 0 h 36"/>
                      <a:gd name="T102" fmla="*/ 18 w 32"/>
                      <a:gd name="T103" fmla="*/ 0 h 36"/>
                      <a:gd name="T104" fmla="*/ 19 w 32"/>
                      <a:gd name="T105" fmla="*/ 0 h 36"/>
                      <a:gd name="T106" fmla="*/ 20 w 32"/>
                      <a:gd name="T107" fmla="*/ 0 h 36"/>
                      <a:gd name="T108" fmla="*/ 22 w 32"/>
                      <a:gd name="T109" fmla="*/ 0 h 36"/>
                      <a:gd name="T110" fmla="*/ 22 w 32"/>
                      <a:gd name="T111" fmla="*/ 1 h 36"/>
                      <a:gd name="T112" fmla="*/ 24 w 32"/>
                      <a:gd name="T113" fmla="*/ 1 h 36"/>
                      <a:gd name="T114" fmla="*/ 26 w 32"/>
                      <a:gd name="T115" fmla="*/ 1 h 36"/>
                      <a:gd name="T116" fmla="*/ 27 w 32"/>
                      <a:gd name="T117" fmla="*/ 2 h 36"/>
                      <a:gd name="T118" fmla="*/ 28 w 32"/>
                      <a:gd name="T119" fmla="*/ 3 h 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60000 65536"/>
                      <a:gd name="T175" fmla="*/ 0 60000 65536"/>
                      <a:gd name="T176" fmla="*/ 0 60000 65536"/>
                      <a:gd name="T177" fmla="*/ 0 60000 65536"/>
                      <a:gd name="T178" fmla="*/ 0 60000 65536"/>
                      <a:gd name="T179" fmla="*/ 0 60000 65536"/>
                      <a:gd name="T180" fmla="*/ 0 w 32"/>
                      <a:gd name="T181" fmla="*/ 0 h 36"/>
                      <a:gd name="T182" fmla="*/ 32 w 32"/>
                      <a:gd name="T183" fmla="*/ 36 h 36"/>
                    </a:gdLst>
                    <a:ahLst/>
                    <a:cxnLst>
                      <a:cxn ang="T120">
                        <a:pos x="T0" y="T1"/>
                      </a:cxn>
                      <a:cxn ang="T121">
                        <a:pos x="T2" y="T3"/>
                      </a:cxn>
                      <a:cxn ang="T122">
                        <a:pos x="T4" y="T5"/>
                      </a:cxn>
                      <a:cxn ang="T123">
                        <a:pos x="T6" y="T7"/>
                      </a:cxn>
                      <a:cxn ang="T124">
                        <a:pos x="T8" y="T9"/>
                      </a:cxn>
                      <a:cxn ang="T125">
                        <a:pos x="T10" y="T11"/>
                      </a:cxn>
                      <a:cxn ang="T126">
                        <a:pos x="T12" y="T13"/>
                      </a:cxn>
                      <a:cxn ang="T127">
                        <a:pos x="T14" y="T15"/>
                      </a:cxn>
                      <a:cxn ang="T128">
                        <a:pos x="T16" y="T17"/>
                      </a:cxn>
                      <a:cxn ang="T129">
                        <a:pos x="T18" y="T19"/>
                      </a:cxn>
                      <a:cxn ang="T130">
                        <a:pos x="T20" y="T21"/>
                      </a:cxn>
                      <a:cxn ang="T131">
                        <a:pos x="T22" y="T23"/>
                      </a:cxn>
                      <a:cxn ang="T132">
                        <a:pos x="T24" y="T25"/>
                      </a:cxn>
                      <a:cxn ang="T133">
                        <a:pos x="T26" y="T27"/>
                      </a:cxn>
                      <a:cxn ang="T134">
                        <a:pos x="T28" y="T29"/>
                      </a:cxn>
                      <a:cxn ang="T135">
                        <a:pos x="T30" y="T31"/>
                      </a:cxn>
                      <a:cxn ang="T136">
                        <a:pos x="T32" y="T33"/>
                      </a:cxn>
                      <a:cxn ang="T137">
                        <a:pos x="T34" y="T35"/>
                      </a:cxn>
                      <a:cxn ang="T138">
                        <a:pos x="T36" y="T37"/>
                      </a:cxn>
                      <a:cxn ang="T139">
                        <a:pos x="T38" y="T39"/>
                      </a:cxn>
                      <a:cxn ang="T140">
                        <a:pos x="T40" y="T41"/>
                      </a:cxn>
                      <a:cxn ang="T141">
                        <a:pos x="T42" y="T43"/>
                      </a:cxn>
                      <a:cxn ang="T142">
                        <a:pos x="T44" y="T45"/>
                      </a:cxn>
                      <a:cxn ang="T143">
                        <a:pos x="T46" y="T47"/>
                      </a:cxn>
                      <a:cxn ang="T144">
                        <a:pos x="T48" y="T49"/>
                      </a:cxn>
                      <a:cxn ang="T145">
                        <a:pos x="T50" y="T51"/>
                      </a:cxn>
                      <a:cxn ang="T146">
                        <a:pos x="T52" y="T53"/>
                      </a:cxn>
                      <a:cxn ang="T147">
                        <a:pos x="T54" y="T55"/>
                      </a:cxn>
                      <a:cxn ang="T148">
                        <a:pos x="T56" y="T57"/>
                      </a:cxn>
                      <a:cxn ang="T149">
                        <a:pos x="T58" y="T59"/>
                      </a:cxn>
                      <a:cxn ang="T150">
                        <a:pos x="T60" y="T61"/>
                      </a:cxn>
                      <a:cxn ang="T151">
                        <a:pos x="T62" y="T63"/>
                      </a:cxn>
                      <a:cxn ang="T152">
                        <a:pos x="T64" y="T65"/>
                      </a:cxn>
                      <a:cxn ang="T153">
                        <a:pos x="T66" y="T67"/>
                      </a:cxn>
                      <a:cxn ang="T154">
                        <a:pos x="T68" y="T69"/>
                      </a:cxn>
                      <a:cxn ang="T155">
                        <a:pos x="T70" y="T71"/>
                      </a:cxn>
                      <a:cxn ang="T156">
                        <a:pos x="T72" y="T73"/>
                      </a:cxn>
                      <a:cxn ang="T157">
                        <a:pos x="T74" y="T75"/>
                      </a:cxn>
                      <a:cxn ang="T158">
                        <a:pos x="T76" y="T77"/>
                      </a:cxn>
                      <a:cxn ang="T159">
                        <a:pos x="T78" y="T79"/>
                      </a:cxn>
                      <a:cxn ang="T160">
                        <a:pos x="T80" y="T81"/>
                      </a:cxn>
                      <a:cxn ang="T161">
                        <a:pos x="T82" y="T83"/>
                      </a:cxn>
                      <a:cxn ang="T162">
                        <a:pos x="T84" y="T85"/>
                      </a:cxn>
                      <a:cxn ang="T163">
                        <a:pos x="T86" y="T87"/>
                      </a:cxn>
                      <a:cxn ang="T164">
                        <a:pos x="T88" y="T89"/>
                      </a:cxn>
                      <a:cxn ang="T165">
                        <a:pos x="T90" y="T91"/>
                      </a:cxn>
                      <a:cxn ang="T166">
                        <a:pos x="T92" y="T93"/>
                      </a:cxn>
                      <a:cxn ang="T167">
                        <a:pos x="T94" y="T95"/>
                      </a:cxn>
                      <a:cxn ang="T168">
                        <a:pos x="T96" y="T97"/>
                      </a:cxn>
                      <a:cxn ang="T169">
                        <a:pos x="T98" y="T99"/>
                      </a:cxn>
                      <a:cxn ang="T170">
                        <a:pos x="T100" y="T101"/>
                      </a:cxn>
                      <a:cxn ang="T171">
                        <a:pos x="T102" y="T103"/>
                      </a:cxn>
                      <a:cxn ang="T172">
                        <a:pos x="T104" y="T105"/>
                      </a:cxn>
                      <a:cxn ang="T173">
                        <a:pos x="T106" y="T107"/>
                      </a:cxn>
                      <a:cxn ang="T174">
                        <a:pos x="T108" y="T109"/>
                      </a:cxn>
                      <a:cxn ang="T175">
                        <a:pos x="T110" y="T111"/>
                      </a:cxn>
                      <a:cxn ang="T176">
                        <a:pos x="T112" y="T113"/>
                      </a:cxn>
                      <a:cxn ang="T177">
                        <a:pos x="T114" y="T115"/>
                      </a:cxn>
                      <a:cxn ang="T178">
                        <a:pos x="T116" y="T117"/>
                      </a:cxn>
                      <a:cxn ang="T179">
                        <a:pos x="T118" y="T119"/>
                      </a:cxn>
                    </a:cxnLst>
                    <a:rect l="T180" t="T181" r="T182" b="T183"/>
                    <a:pathLst>
                      <a:path w="32" h="36">
                        <a:moveTo>
                          <a:pt x="28" y="3"/>
                        </a:moveTo>
                        <a:lnTo>
                          <a:pt x="29" y="3"/>
                        </a:lnTo>
                        <a:lnTo>
                          <a:pt x="30" y="6"/>
                        </a:lnTo>
                        <a:lnTo>
                          <a:pt x="31" y="6"/>
                        </a:lnTo>
                        <a:lnTo>
                          <a:pt x="31" y="9"/>
                        </a:lnTo>
                        <a:lnTo>
                          <a:pt x="31" y="10"/>
                        </a:lnTo>
                        <a:lnTo>
                          <a:pt x="32" y="12"/>
                        </a:lnTo>
                        <a:lnTo>
                          <a:pt x="32" y="13"/>
                        </a:lnTo>
                        <a:lnTo>
                          <a:pt x="32" y="15"/>
                        </a:lnTo>
                        <a:lnTo>
                          <a:pt x="32" y="16"/>
                        </a:lnTo>
                        <a:lnTo>
                          <a:pt x="32" y="17"/>
                        </a:lnTo>
                        <a:lnTo>
                          <a:pt x="31" y="19"/>
                        </a:lnTo>
                        <a:lnTo>
                          <a:pt x="30" y="21"/>
                        </a:lnTo>
                        <a:lnTo>
                          <a:pt x="29" y="24"/>
                        </a:lnTo>
                        <a:lnTo>
                          <a:pt x="28" y="26"/>
                        </a:lnTo>
                        <a:lnTo>
                          <a:pt x="26" y="28"/>
                        </a:lnTo>
                        <a:lnTo>
                          <a:pt x="24" y="31"/>
                        </a:lnTo>
                        <a:lnTo>
                          <a:pt x="22" y="32"/>
                        </a:lnTo>
                        <a:lnTo>
                          <a:pt x="20" y="34"/>
                        </a:lnTo>
                        <a:lnTo>
                          <a:pt x="18" y="35"/>
                        </a:lnTo>
                        <a:lnTo>
                          <a:pt x="16" y="35"/>
                        </a:lnTo>
                        <a:lnTo>
                          <a:pt x="15" y="36"/>
                        </a:lnTo>
                        <a:lnTo>
                          <a:pt x="14" y="36"/>
                        </a:lnTo>
                        <a:lnTo>
                          <a:pt x="13" y="36"/>
                        </a:lnTo>
                        <a:lnTo>
                          <a:pt x="12" y="36"/>
                        </a:lnTo>
                        <a:lnTo>
                          <a:pt x="11" y="36"/>
                        </a:lnTo>
                        <a:lnTo>
                          <a:pt x="9" y="35"/>
                        </a:lnTo>
                        <a:lnTo>
                          <a:pt x="8" y="35"/>
                        </a:lnTo>
                        <a:lnTo>
                          <a:pt x="6" y="34"/>
                        </a:lnTo>
                        <a:lnTo>
                          <a:pt x="4" y="33"/>
                        </a:lnTo>
                        <a:lnTo>
                          <a:pt x="3" y="32"/>
                        </a:lnTo>
                        <a:lnTo>
                          <a:pt x="2" y="31"/>
                        </a:lnTo>
                        <a:lnTo>
                          <a:pt x="2" y="30"/>
                        </a:lnTo>
                        <a:lnTo>
                          <a:pt x="1" y="28"/>
                        </a:lnTo>
                        <a:lnTo>
                          <a:pt x="0" y="26"/>
                        </a:lnTo>
                        <a:lnTo>
                          <a:pt x="0" y="24"/>
                        </a:lnTo>
                        <a:lnTo>
                          <a:pt x="0" y="23"/>
                        </a:lnTo>
                        <a:lnTo>
                          <a:pt x="0" y="21"/>
                        </a:lnTo>
                        <a:lnTo>
                          <a:pt x="1" y="18"/>
                        </a:lnTo>
                        <a:lnTo>
                          <a:pt x="1" y="16"/>
                        </a:lnTo>
                        <a:lnTo>
                          <a:pt x="2" y="14"/>
                        </a:lnTo>
                        <a:lnTo>
                          <a:pt x="4" y="12"/>
                        </a:lnTo>
                        <a:lnTo>
                          <a:pt x="6" y="10"/>
                        </a:lnTo>
                        <a:lnTo>
                          <a:pt x="6" y="6"/>
                        </a:lnTo>
                        <a:lnTo>
                          <a:pt x="9" y="4"/>
                        </a:lnTo>
                        <a:lnTo>
                          <a:pt x="12" y="2"/>
                        </a:lnTo>
                        <a:lnTo>
                          <a:pt x="13" y="1"/>
                        </a:lnTo>
                        <a:lnTo>
                          <a:pt x="16" y="0"/>
                        </a:lnTo>
                        <a:lnTo>
                          <a:pt x="17" y="0"/>
                        </a:lnTo>
                        <a:lnTo>
                          <a:pt x="18" y="0"/>
                        </a:lnTo>
                        <a:lnTo>
                          <a:pt x="19" y="0"/>
                        </a:lnTo>
                        <a:lnTo>
                          <a:pt x="20" y="0"/>
                        </a:lnTo>
                        <a:lnTo>
                          <a:pt x="22" y="0"/>
                        </a:lnTo>
                        <a:lnTo>
                          <a:pt x="22" y="1"/>
                        </a:lnTo>
                        <a:lnTo>
                          <a:pt x="24" y="1"/>
                        </a:lnTo>
                        <a:lnTo>
                          <a:pt x="26" y="1"/>
                        </a:lnTo>
                        <a:lnTo>
                          <a:pt x="27" y="2"/>
                        </a:lnTo>
                        <a:lnTo>
                          <a:pt x="28" y="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2379" name="Group 1043"/>
                  <p:cNvGrpSpPr>
                    <a:grpSpLocks/>
                  </p:cNvGrpSpPr>
                  <p:nvPr/>
                </p:nvGrpSpPr>
                <p:grpSpPr bwMode="auto">
                  <a:xfrm>
                    <a:off x="2547" y="2599"/>
                    <a:ext cx="32" cy="36"/>
                    <a:chOff x="2547" y="2599"/>
                    <a:chExt cx="32" cy="36"/>
                  </a:xfrm>
                </p:grpSpPr>
                <p:sp>
                  <p:nvSpPr>
                    <p:cNvPr id="12408" name="Freeform 1044"/>
                    <p:cNvSpPr>
                      <a:spLocks/>
                    </p:cNvSpPr>
                    <p:nvPr/>
                  </p:nvSpPr>
                  <p:spPr bwMode="auto">
                    <a:xfrm>
                      <a:off x="2547" y="2599"/>
                      <a:ext cx="32" cy="36"/>
                    </a:xfrm>
                    <a:custGeom>
                      <a:avLst/>
                      <a:gdLst>
                        <a:gd name="T0" fmla="*/ 28 w 32"/>
                        <a:gd name="T1" fmla="*/ 3 h 36"/>
                        <a:gd name="T2" fmla="*/ 29 w 32"/>
                        <a:gd name="T3" fmla="*/ 3 h 36"/>
                        <a:gd name="T4" fmla="*/ 30 w 32"/>
                        <a:gd name="T5" fmla="*/ 6 h 36"/>
                        <a:gd name="T6" fmla="*/ 31 w 32"/>
                        <a:gd name="T7" fmla="*/ 6 h 36"/>
                        <a:gd name="T8" fmla="*/ 31 w 32"/>
                        <a:gd name="T9" fmla="*/ 9 h 36"/>
                        <a:gd name="T10" fmla="*/ 31 w 32"/>
                        <a:gd name="T11" fmla="*/ 10 h 36"/>
                        <a:gd name="T12" fmla="*/ 32 w 32"/>
                        <a:gd name="T13" fmla="*/ 12 h 36"/>
                        <a:gd name="T14" fmla="*/ 32 w 32"/>
                        <a:gd name="T15" fmla="*/ 13 h 36"/>
                        <a:gd name="T16" fmla="*/ 32 w 32"/>
                        <a:gd name="T17" fmla="*/ 15 h 36"/>
                        <a:gd name="T18" fmla="*/ 32 w 32"/>
                        <a:gd name="T19" fmla="*/ 16 h 36"/>
                        <a:gd name="T20" fmla="*/ 32 w 32"/>
                        <a:gd name="T21" fmla="*/ 17 h 36"/>
                        <a:gd name="T22" fmla="*/ 31 w 32"/>
                        <a:gd name="T23" fmla="*/ 19 h 36"/>
                        <a:gd name="T24" fmla="*/ 30 w 32"/>
                        <a:gd name="T25" fmla="*/ 21 h 36"/>
                        <a:gd name="T26" fmla="*/ 29 w 32"/>
                        <a:gd name="T27" fmla="*/ 24 h 36"/>
                        <a:gd name="T28" fmla="*/ 28 w 32"/>
                        <a:gd name="T29" fmla="*/ 26 h 36"/>
                        <a:gd name="T30" fmla="*/ 26 w 32"/>
                        <a:gd name="T31" fmla="*/ 28 h 36"/>
                        <a:gd name="T32" fmla="*/ 24 w 32"/>
                        <a:gd name="T33" fmla="*/ 31 h 36"/>
                        <a:gd name="T34" fmla="*/ 22 w 32"/>
                        <a:gd name="T35" fmla="*/ 32 h 36"/>
                        <a:gd name="T36" fmla="*/ 20 w 32"/>
                        <a:gd name="T37" fmla="*/ 34 h 36"/>
                        <a:gd name="T38" fmla="*/ 18 w 32"/>
                        <a:gd name="T39" fmla="*/ 35 h 36"/>
                        <a:gd name="T40" fmla="*/ 16 w 32"/>
                        <a:gd name="T41" fmla="*/ 35 h 36"/>
                        <a:gd name="T42" fmla="*/ 15 w 32"/>
                        <a:gd name="T43" fmla="*/ 36 h 36"/>
                        <a:gd name="T44" fmla="*/ 14 w 32"/>
                        <a:gd name="T45" fmla="*/ 36 h 36"/>
                        <a:gd name="T46" fmla="*/ 13 w 32"/>
                        <a:gd name="T47" fmla="*/ 36 h 36"/>
                        <a:gd name="T48" fmla="*/ 12 w 32"/>
                        <a:gd name="T49" fmla="*/ 36 h 36"/>
                        <a:gd name="T50" fmla="*/ 11 w 32"/>
                        <a:gd name="T51" fmla="*/ 36 h 36"/>
                        <a:gd name="T52" fmla="*/ 9 w 32"/>
                        <a:gd name="T53" fmla="*/ 35 h 36"/>
                        <a:gd name="T54" fmla="*/ 8 w 32"/>
                        <a:gd name="T55" fmla="*/ 35 h 36"/>
                        <a:gd name="T56" fmla="*/ 6 w 32"/>
                        <a:gd name="T57" fmla="*/ 34 h 36"/>
                        <a:gd name="T58" fmla="*/ 6 w 32"/>
                        <a:gd name="T59" fmla="*/ 34 h 36"/>
                        <a:gd name="T60" fmla="*/ 4 w 32"/>
                        <a:gd name="T61" fmla="*/ 33 h 36"/>
                        <a:gd name="T62" fmla="*/ 3 w 32"/>
                        <a:gd name="T63" fmla="*/ 32 h 36"/>
                        <a:gd name="T64" fmla="*/ 2 w 32"/>
                        <a:gd name="T65" fmla="*/ 31 h 36"/>
                        <a:gd name="T66" fmla="*/ 2 w 32"/>
                        <a:gd name="T67" fmla="*/ 30 h 36"/>
                        <a:gd name="T68" fmla="*/ 1 w 32"/>
                        <a:gd name="T69" fmla="*/ 28 h 36"/>
                        <a:gd name="T70" fmla="*/ 1 w 32"/>
                        <a:gd name="T71" fmla="*/ 28 h 36"/>
                        <a:gd name="T72" fmla="*/ 0 w 32"/>
                        <a:gd name="T73" fmla="*/ 26 h 36"/>
                        <a:gd name="T74" fmla="*/ 0 w 32"/>
                        <a:gd name="T75" fmla="*/ 24 h 36"/>
                        <a:gd name="T76" fmla="*/ 0 w 32"/>
                        <a:gd name="T77" fmla="*/ 23 h 36"/>
                        <a:gd name="T78" fmla="*/ 0 w 32"/>
                        <a:gd name="T79" fmla="*/ 21 h 36"/>
                        <a:gd name="T80" fmla="*/ 1 w 32"/>
                        <a:gd name="T81" fmla="*/ 18 h 36"/>
                        <a:gd name="T82" fmla="*/ 1 w 32"/>
                        <a:gd name="T83" fmla="*/ 16 h 36"/>
                        <a:gd name="T84" fmla="*/ 2 w 32"/>
                        <a:gd name="T85" fmla="*/ 14 h 36"/>
                        <a:gd name="T86" fmla="*/ 4 w 32"/>
                        <a:gd name="T87" fmla="*/ 12 h 36"/>
                        <a:gd name="T88" fmla="*/ 6 w 32"/>
                        <a:gd name="T89" fmla="*/ 10 h 36"/>
                        <a:gd name="T90" fmla="*/ 6 w 32"/>
                        <a:gd name="T91" fmla="*/ 6 h 36"/>
                        <a:gd name="T92" fmla="*/ 9 w 32"/>
                        <a:gd name="T93" fmla="*/ 4 h 36"/>
                        <a:gd name="T94" fmla="*/ 12 w 32"/>
                        <a:gd name="T95" fmla="*/ 2 h 36"/>
                        <a:gd name="T96" fmla="*/ 13 w 32"/>
                        <a:gd name="T97" fmla="*/ 1 h 36"/>
                        <a:gd name="T98" fmla="*/ 16 w 32"/>
                        <a:gd name="T99" fmla="*/ 0 h 36"/>
                        <a:gd name="T100" fmla="*/ 17 w 32"/>
                        <a:gd name="T101" fmla="*/ 0 h 36"/>
                        <a:gd name="T102" fmla="*/ 18 w 32"/>
                        <a:gd name="T103" fmla="*/ 0 h 36"/>
                        <a:gd name="T104" fmla="*/ 19 w 32"/>
                        <a:gd name="T105" fmla="*/ 0 h 36"/>
                        <a:gd name="T106" fmla="*/ 20 w 32"/>
                        <a:gd name="T107" fmla="*/ 0 h 36"/>
                        <a:gd name="T108" fmla="*/ 22 w 32"/>
                        <a:gd name="T109" fmla="*/ 0 h 36"/>
                        <a:gd name="T110" fmla="*/ 22 w 32"/>
                        <a:gd name="T111" fmla="*/ 1 h 36"/>
                        <a:gd name="T112" fmla="*/ 24 w 32"/>
                        <a:gd name="T113" fmla="*/ 1 h 36"/>
                        <a:gd name="T114" fmla="*/ 26 w 32"/>
                        <a:gd name="T115" fmla="*/ 1 h 36"/>
                        <a:gd name="T116" fmla="*/ 27 w 32"/>
                        <a:gd name="T117" fmla="*/ 2 h 36"/>
                        <a:gd name="T118" fmla="*/ 28 w 32"/>
                        <a:gd name="T119" fmla="*/ 3 h 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w 32"/>
                        <a:gd name="T181" fmla="*/ 0 h 36"/>
                        <a:gd name="T182" fmla="*/ 32 w 32"/>
                        <a:gd name="T183" fmla="*/ 36 h 36"/>
                      </a:gdLst>
                      <a:ahLst/>
                      <a:cxnLst>
                        <a:cxn ang="T120">
                          <a:pos x="T0" y="T1"/>
                        </a:cxn>
                        <a:cxn ang="T121">
                          <a:pos x="T2" y="T3"/>
                        </a:cxn>
                        <a:cxn ang="T122">
                          <a:pos x="T4" y="T5"/>
                        </a:cxn>
                        <a:cxn ang="T123">
                          <a:pos x="T6" y="T7"/>
                        </a:cxn>
                        <a:cxn ang="T124">
                          <a:pos x="T8" y="T9"/>
                        </a:cxn>
                        <a:cxn ang="T125">
                          <a:pos x="T10" y="T11"/>
                        </a:cxn>
                        <a:cxn ang="T126">
                          <a:pos x="T12" y="T13"/>
                        </a:cxn>
                        <a:cxn ang="T127">
                          <a:pos x="T14" y="T15"/>
                        </a:cxn>
                        <a:cxn ang="T128">
                          <a:pos x="T16" y="T17"/>
                        </a:cxn>
                        <a:cxn ang="T129">
                          <a:pos x="T18" y="T19"/>
                        </a:cxn>
                        <a:cxn ang="T130">
                          <a:pos x="T20" y="T21"/>
                        </a:cxn>
                        <a:cxn ang="T131">
                          <a:pos x="T22" y="T23"/>
                        </a:cxn>
                        <a:cxn ang="T132">
                          <a:pos x="T24" y="T25"/>
                        </a:cxn>
                        <a:cxn ang="T133">
                          <a:pos x="T26" y="T27"/>
                        </a:cxn>
                        <a:cxn ang="T134">
                          <a:pos x="T28" y="T29"/>
                        </a:cxn>
                        <a:cxn ang="T135">
                          <a:pos x="T30" y="T31"/>
                        </a:cxn>
                        <a:cxn ang="T136">
                          <a:pos x="T32" y="T33"/>
                        </a:cxn>
                        <a:cxn ang="T137">
                          <a:pos x="T34" y="T35"/>
                        </a:cxn>
                        <a:cxn ang="T138">
                          <a:pos x="T36" y="T37"/>
                        </a:cxn>
                        <a:cxn ang="T139">
                          <a:pos x="T38" y="T39"/>
                        </a:cxn>
                        <a:cxn ang="T140">
                          <a:pos x="T40" y="T41"/>
                        </a:cxn>
                        <a:cxn ang="T141">
                          <a:pos x="T42" y="T43"/>
                        </a:cxn>
                        <a:cxn ang="T142">
                          <a:pos x="T44" y="T45"/>
                        </a:cxn>
                        <a:cxn ang="T143">
                          <a:pos x="T46" y="T47"/>
                        </a:cxn>
                        <a:cxn ang="T144">
                          <a:pos x="T48" y="T49"/>
                        </a:cxn>
                        <a:cxn ang="T145">
                          <a:pos x="T50" y="T51"/>
                        </a:cxn>
                        <a:cxn ang="T146">
                          <a:pos x="T52" y="T53"/>
                        </a:cxn>
                        <a:cxn ang="T147">
                          <a:pos x="T54" y="T55"/>
                        </a:cxn>
                        <a:cxn ang="T148">
                          <a:pos x="T56" y="T57"/>
                        </a:cxn>
                        <a:cxn ang="T149">
                          <a:pos x="T58" y="T59"/>
                        </a:cxn>
                        <a:cxn ang="T150">
                          <a:pos x="T60" y="T61"/>
                        </a:cxn>
                        <a:cxn ang="T151">
                          <a:pos x="T62" y="T63"/>
                        </a:cxn>
                        <a:cxn ang="T152">
                          <a:pos x="T64" y="T65"/>
                        </a:cxn>
                        <a:cxn ang="T153">
                          <a:pos x="T66" y="T67"/>
                        </a:cxn>
                        <a:cxn ang="T154">
                          <a:pos x="T68" y="T69"/>
                        </a:cxn>
                        <a:cxn ang="T155">
                          <a:pos x="T70" y="T71"/>
                        </a:cxn>
                        <a:cxn ang="T156">
                          <a:pos x="T72" y="T73"/>
                        </a:cxn>
                        <a:cxn ang="T157">
                          <a:pos x="T74" y="T75"/>
                        </a:cxn>
                        <a:cxn ang="T158">
                          <a:pos x="T76" y="T77"/>
                        </a:cxn>
                        <a:cxn ang="T159">
                          <a:pos x="T78" y="T79"/>
                        </a:cxn>
                        <a:cxn ang="T160">
                          <a:pos x="T80" y="T81"/>
                        </a:cxn>
                        <a:cxn ang="T161">
                          <a:pos x="T82" y="T83"/>
                        </a:cxn>
                        <a:cxn ang="T162">
                          <a:pos x="T84" y="T85"/>
                        </a:cxn>
                        <a:cxn ang="T163">
                          <a:pos x="T86" y="T87"/>
                        </a:cxn>
                        <a:cxn ang="T164">
                          <a:pos x="T88" y="T89"/>
                        </a:cxn>
                        <a:cxn ang="T165">
                          <a:pos x="T90" y="T91"/>
                        </a:cxn>
                        <a:cxn ang="T166">
                          <a:pos x="T92" y="T93"/>
                        </a:cxn>
                        <a:cxn ang="T167">
                          <a:pos x="T94" y="T95"/>
                        </a:cxn>
                        <a:cxn ang="T168">
                          <a:pos x="T96" y="T97"/>
                        </a:cxn>
                        <a:cxn ang="T169">
                          <a:pos x="T98" y="T99"/>
                        </a:cxn>
                        <a:cxn ang="T170">
                          <a:pos x="T100" y="T101"/>
                        </a:cxn>
                        <a:cxn ang="T171">
                          <a:pos x="T102" y="T103"/>
                        </a:cxn>
                        <a:cxn ang="T172">
                          <a:pos x="T104" y="T105"/>
                        </a:cxn>
                        <a:cxn ang="T173">
                          <a:pos x="T106" y="T107"/>
                        </a:cxn>
                        <a:cxn ang="T174">
                          <a:pos x="T108" y="T109"/>
                        </a:cxn>
                        <a:cxn ang="T175">
                          <a:pos x="T110" y="T111"/>
                        </a:cxn>
                        <a:cxn ang="T176">
                          <a:pos x="T112" y="T113"/>
                        </a:cxn>
                        <a:cxn ang="T177">
                          <a:pos x="T114" y="T115"/>
                        </a:cxn>
                        <a:cxn ang="T178">
                          <a:pos x="T116" y="T117"/>
                        </a:cxn>
                        <a:cxn ang="T179">
                          <a:pos x="T118" y="T119"/>
                        </a:cxn>
                      </a:cxnLst>
                      <a:rect l="T180" t="T181" r="T182" b="T183"/>
                      <a:pathLst>
                        <a:path w="32" h="36">
                          <a:moveTo>
                            <a:pt x="28" y="3"/>
                          </a:moveTo>
                          <a:lnTo>
                            <a:pt x="29" y="3"/>
                          </a:lnTo>
                          <a:lnTo>
                            <a:pt x="30" y="6"/>
                          </a:lnTo>
                          <a:lnTo>
                            <a:pt x="31" y="6"/>
                          </a:lnTo>
                          <a:lnTo>
                            <a:pt x="31" y="9"/>
                          </a:lnTo>
                          <a:lnTo>
                            <a:pt x="31" y="10"/>
                          </a:lnTo>
                          <a:lnTo>
                            <a:pt x="32" y="12"/>
                          </a:lnTo>
                          <a:lnTo>
                            <a:pt x="32" y="13"/>
                          </a:lnTo>
                          <a:lnTo>
                            <a:pt x="32" y="15"/>
                          </a:lnTo>
                          <a:lnTo>
                            <a:pt x="32" y="16"/>
                          </a:lnTo>
                          <a:lnTo>
                            <a:pt x="32" y="17"/>
                          </a:lnTo>
                          <a:lnTo>
                            <a:pt x="31" y="19"/>
                          </a:lnTo>
                          <a:lnTo>
                            <a:pt x="30" y="21"/>
                          </a:lnTo>
                          <a:lnTo>
                            <a:pt x="29" y="24"/>
                          </a:lnTo>
                          <a:lnTo>
                            <a:pt x="28" y="26"/>
                          </a:lnTo>
                          <a:lnTo>
                            <a:pt x="26" y="28"/>
                          </a:lnTo>
                          <a:lnTo>
                            <a:pt x="24" y="31"/>
                          </a:lnTo>
                          <a:lnTo>
                            <a:pt x="22" y="32"/>
                          </a:lnTo>
                          <a:lnTo>
                            <a:pt x="20" y="34"/>
                          </a:lnTo>
                          <a:lnTo>
                            <a:pt x="18" y="35"/>
                          </a:lnTo>
                          <a:lnTo>
                            <a:pt x="16" y="35"/>
                          </a:lnTo>
                          <a:lnTo>
                            <a:pt x="15" y="36"/>
                          </a:lnTo>
                          <a:lnTo>
                            <a:pt x="14" y="36"/>
                          </a:lnTo>
                          <a:lnTo>
                            <a:pt x="13" y="36"/>
                          </a:lnTo>
                          <a:lnTo>
                            <a:pt x="12" y="36"/>
                          </a:lnTo>
                          <a:lnTo>
                            <a:pt x="11" y="36"/>
                          </a:lnTo>
                          <a:lnTo>
                            <a:pt x="9" y="35"/>
                          </a:lnTo>
                          <a:lnTo>
                            <a:pt x="8" y="35"/>
                          </a:lnTo>
                          <a:lnTo>
                            <a:pt x="6" y="34"/>
                          </a:lnTo>
                          <a:lnTo>
                            <a:pt x="4" y="33"/>
                          </a:lnTo>
                          <a:lnTo>
                            <a:pt x="3" y="32"/>
                          </a:lnTo>
                          <a:lnTo>
                            <a:pt x="2" y="31"/>
                          </a:lnTo>
                          <a:lnTo>
                            <a:pt x="2" y="30"/>
                          </a:lnTo>
                          <a:lnTo>
                            <a:pt x="1" y="28"/>
                          </a:lnTo>
                          <a:lnTo>
                            <a:pt x="0" y="26"/>
                          </a:lnTo>
                          <a:lnTo>
                            <a:pt x="0" y="24"/>
                          </a:lnTo>
                          <a:lnTo>
                            <a:pt x="0" y="23"/>
                          </a:lnTo>
                          <a:lnTo>
                            <a:pt x="0" y="21"/>
                          </a:lnTo>
                          <a:lnTo>
                            <a:pt x="1" y="18"/>
                          </a:lnTo>
                          <a:lnTo>
                            <a:pt x="1" y="16"/>
                          </a:lnTo>
                          <a:lnTo>
                            <a:pt x="2" y="14"/>
                          </a:lnTo>
                          <a:lnTo>
                            <a:pt x="4" y="12"/>
                          </a:lnTo>
                          <a:lnTo>
                            <a:pt x="6" y="10"/>
                          </a:lnTo>
                          <a:lnTo>
                            <a:pt x="6" y="6"/>
                          </a:lnTo>
                          <a:lnTo>
                            <a:pt x="9" y="4"/>
                          </a:lnTo>
                          <a:lnTo>
                            <a:pt x="12" y="2"/>
                          </a:lnTo>
                          <a:lnTo>
                            <a:pt x="13" y="1"/>
                          </a:lnTo>
                          <a:lnTo>
                            <a:pt x="16" y="0"/>
                          </a:lnTo>
                          <a:lnTo>
                            <a:pt x="17" y="0"/>
                          </a:lnTo>
                          <a:lnTo>
                            <a:pt x="18" y="0"/>
                          </a:lnTo>
                          <a:lnTo>
                            <a:pt x="19" y="0"/>
                          </a:lnTo>
                          <a:lnTo>
                            <a:pt x="20" y="0"/>
                          </a:lnTo>
                          <a:lnTo>
                            <a:pt x="22" y="0"/>
                          </a:lnTo>
                          <a:lnTo>
                            <a:pt x="22" y="1"/>
                          </a:lnTo>
                          <a:lnTo>
                            <a:pt x="24" y="1"/>
                          </a:lnTo>
                          <a:lnTo>
                            <a:pt x="26" y="1"/>
                          </a:lnTo>
                          <a:lnTo>
                            <a:pt x="27" y="2"/>
                          </a:lnTo>
                          <a:lnTo>
                            <a:pt x="28" y="3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409" name="Freeform 1045"/>
                    <p:cNvSpPr>
                      <a:spLocks/>
                    </p:cNvSpPr>
                    <p:nvPr/>
                  </p:nvSpPr>
                  <p:spPr bwMode="auto">
                    <a:xfrm>
                      <a:off x="2547" y="2599"/>
                      <a:ext cx="32" cy="36"/>
                    </a:xfrm>
                    <a:custGeom>
                      <a:avLst/>
                      <a:gdLst>
                        <a:gd name="T0" fmla="*/ 28 w 32"/>
                        <a:gd name="T1" fmla="*/ 3 h 36"/>
                        <a:gd name="T2" fmla="*/ 29 w 32"/>
                        <a:gd name="T3" fmla="*/ 3 h 36"/>
                        <a:gd name="T4" fmla="*/ 30 w 32"/>
                        <a:gd name="T5" fmla="*/ 6 h 36"/>
                        <a:gd name="T6" fmla="*/ 31 w 32"/>
                        <a:gd name="T7" fmla="*/ 6 h 36"/>
                        <a:gd name="T8" fmla="*/ 31 w 32"/>
                        <a:gd name="T9" fmla="*/ 9 h 36"/>
                        <a:gd name="T10" fmla="*/ 31 w 32"/>
                        <a:gd name="T11" fmla="*/ 10 h 36"/>
                        <a:gd name="T12" fmla="*/ 32 w 32"/>
                        <a:gd name="T13" fmla="*/ 12 h 36"/>
                        <a:gd name="T14" fmla="*/ 32 w 32"/>
                        <a:gd name="T15" fmla="*/ 13 h 36"/>
                        <a:gd name="T16" fmla="*/ 32 w 32"/>
                        <a:gd name="T17" fmla="*/ 15 h 36"/>
                        <a:gd name="T18" fmla="*/ 32 w 32"/>
                        <a:gd name="T19" fmla="*/ 16 h 36"/>
                        <a:gd name="T20" fmla="*/ 32 w 32"/>
                        <a:gd name="T21" fmla="*/ 17 h 36"/>
                        <a:gd name="T22" fmla="*/ 31 w 32"/>
                        <a:gd name="T23" fmla="*/ 19 h 36"/>
                        <a:gd name="T24" fmla="*/ 30 w 32"/>
                        <a:gd name="T25" fmla="*/ 21 h 36"/>
                        <a:gd name="T26" fmla="*/ 29 w 32"/>
                        <a:gd name="T27" fmla="*/ 24 h 36"/>
                        <a:gd name="T28" fmla="*/ 28 w 32"/>
                        <a:gd name="T29" fmla="*/ 26 h 36"/>
                        <a:gd name="T30" fmla="*/ 26 w 32"/>
                        <a:gd name="T31" fmla="*/ 28 h 36"/>
                        <a:gd name="T32" fmla="*/ 24 w 32"/>
                        <a:gd name="T33" fmla="*/ 31 h 36"/>
                        <a:gd name="T34" fmla="*/ 22 w 32"/>
                        <a:gd name="T35" fmla="*/ 32 h 36"/>
                        <a:gd name="T36" fmla="*/ 20 w 32"/>
                        <a:gd name="T37" fmla="*/ 34 h 36"/>
                        <a:gd name="T38" fmla="*/ 18 w 32"/>
                        <a:gd name="T39" fmla="*/ 35 h 36"/>
                        <a:gd name="T40" fmla="*/ 16 w 32"/>
                        <a:gd name="T41" fmla="*/ 35 h 36"/>
                        <a:gd name="T42" fmla="*/ 15 w 32"/>
                        <a:gd name="T43" fmla="*/ 36 h 36"/>
                        <a:gd name="T44" fmla="*/ 14 w 32"/>
                        <a:gd name="T45" fmla="*/ 36 h 36"/>
                        <a:gd name="T46" fmla="*/ 13 w 32"/>
                        <a:gd name="T47" fmla="*/ 36 h 36"/>
                        <a:gd name="T48" fmla="*/ 12 w 32"/>
                        <a:gd name="T49" fmla="*/ 36 h 36"/>
                        <a:gd name="T50" fmla="*/ 11 w 32"/>
                        <a:gd name="T51" fmla="*/ 36 h 36"/>
                        <a:gd name="T52" fmla="*/ 9 w 32"/>
                        <a:gd name="T53" fmla="*/ 35 h 36"/>
                        <a:gd name="T54" fmla="*/ 8 w 32"/>
                        <a:gd name="T55" fmla="*/ 35 h 36"/>
                        <a:gd name="T56" fmla="*/ 6 w 32"/>
                        <a:gd name="T57" fmla="*/ 34 h 36"/>
                        <a:gd name="T58" fmla="*/ 6 w 32"/>
                        <a:gd name="T59" fmla="*/ 34 h 36"/>
                        <a:gd name="T60" fmla="*/ 4 w 32"/>
                        <a:gd name="T61" fmla="*/ 33 h 36"/>
                        <a:gd name="T62" fmla="*/ 3 w 32"/>
                        <a:gd name="T63" fmla="*/ 32 h 36"/>
                        <a:gd name="T64" fmla="*/ 2 w 32"/>
                        <a:gd name="T65" fmla="*/ 31 h 36"/>
                        <a:gd name="T66" fmla="*/ 2 w 32"/>
                        <a:gd name="T67" fmla="*/ 30 h 36"/>
                        <a:gd name="T68" fmla="*/ 1 w 32"/>
                        <a:gd name="T69" fmla="*/ 28 h 36"/>
                        <a:gd name="T70" fmla="*/ 1 w 32"/>
                        <a:gd name="T71" fmla="*/ 28 h 36"/>
                        <a:gd name="T72" fmla="*/ 0 w 32"/>
                        <a:gd name="T73" fmla="*/ 26 h 36"/>
                        <a:gd name="T74" fmla="*/ 0 w 32"/>
                        <a:gd name="T75" fmla="*/ 24 h 36"/>
                        <a:gd name="T76" fmla="*/ 0 w 32"/>
                        <a:gd name="T77" fmla="*/ 23 h 36"/>
                        <a:gd name="T78" fmla="*/ 0 w 32"/>
                        <a:gd name="T79" fmla="*/ 21 h 36"/>
                        <a:gd name="T80" fmla="*/ 1 w 32"/>
                        <a:gd name="T81" fmla="*/ 18 h 36"/>
                        <a:gd name="T82" fmla="*/ 1 w 32"/>
                        <a:gd name="T83" fmla="*/ 16 h 36"/>
                        <a:gd name="T84" fmla="*/ 2 w 32"/>
                        <a:gd name="T85" fmla="*/ 14 h 36"/>
                        <a:gd name="T86" fmla="*/ 4 w 32"/>
                        <a:gd name="T87" fmla="*/ 12 h 36"/>
                        <a:gd name="T88" fmla="*/ 6 w 32"/>
                        <a:gd name="T89" fmla="*/ 10 h 36"/>
                        <a:gd name="T90" fmla="*/ 6 w 32"/>
                        <a:gd name="T91" fmla="*/ 6 h 36"/>
                        <a:gd name="T92" fmla="*/ 9 w 32"/>
                        <a:gd name="T93" fmla="*/ 4 h 36"/>
                        <a:gd name="T94" fmla="*/ 12 w 32"/>
                        <a:gd name="T95" fmla="*/ 2 h 36"/>
                        <a:gd name="T96" fmla="*/ 13 w 32"/>
                        <a:gd name="T97" fmla="*/ 1 h 36"/>
                        <a:gd name="T98" fmla="*/ 16 w 32"/>
                        <a:gd name="T99" fmla="*/ 0 h 36"/>
                        <a:gd name="T100" fmla="*/ 17 w 32"/>
                        <a:gd name="T101" fmla="*/ 0 h 36"/>
                        <a:gd name="T102" fmla="*/ 18 w 32"/>
                        <a:gd name="T103" fmla="*/ 0 h 36"/>
                        <a:gd name="T104" fmla="*/ 19 w 32"/>
                        <a:gd name="T105" fmla="*/ 0 h 36"/>
                        <a:gd name="T106" fmla="*/ 20 w 32"/>
                        <a:gd name="T107" fmla="*/ 0 h 36"/>
                        <a:gd name="T108" fmla="*/ 22 w 32"/>
                        <a:gd name="T109" fmla="*/ 0 h 36"/>
                        <a:gd name="T110" fmla="*/ 22 w 32"/>
                        <a:gd name="T111" fmla="*/ 1 h 36"/>
                        <a:gd name="T112" fmla="*/ 24 w 32"/>
                        <a:gd name="T113" fmla="*/ 1 h 36"/>
                        <a:gd name="T114" fmla="*/ 26 w 32"/>
                        <a:gd name="T115" fmla="*/ 1 h 36"/>
                        <a:gd name="T116" fmla="*/ 27 w 32"/>
                        <a:gd name="T117" fmla="*/ 2 h 36"/>
                        <a:gd name="T118" fmla="*/ 28 w 32"/>
                        <a:gd name="T119" fmla="*/ 3 h 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w 32"/>
                        <a:gd name="T181" fmla="*/ 0 h 36"/>
                        <a:gd name="T182" fmla="*/ 32 w 32"/>
                        <a:gd name="T183" fmla="*/ 36 h 36"/>
                      </a:gdLst>
                      <a:ahLst/>
                      <a:cxnLst>
                        <a:cxn ang="T120">
                          <a:pos x="T0" y="T1"/>
                        </a:cxn>
                        <a:cxn ang="T121">
                          <a:pos x="T2" y="T3"/>
                        </a:cxn>
                        <a:cxn ang="T122">
                          <a:pos x="T4" y="T5"/>
                        </a:cxn>
                        <a:cxn ang="T123">
                          <a:pos x="T6" y="T7"/>
                        </a:cxn>
                        <a:cxn ang="T124">
                          <a:pos x="T8" y="T9"/>
                        </a:cxn>
                        <a:cxn ang="T125">
                          <a:pos x="T10" y="T11"/>
                        </a:cxn>
                        <a:cxn ang="T126">
                          <a:pos x="T12" y="T13"/>
                        </a:cxn>
                        <a:cxn ang="T127">
                          <a:pos x="T14" y="T15"/>
                        </a:cxn>
                        <a:cxn ang="T128">
                          <a:pos x="T16" y="T17"/>
                        </a:cxn>
                        <a:cxn ang="T129">
                          <a:pos x="T18" y="T19"/>
                        </a:cxn>
                        <a:cxn ang="T130">
                          <a:pos x="T20" y="T21"/>
                        </a:cxn>
                        <a:cxn ang="T131">
                          <a:pos x="T22" y="T23"/>
                        </a:cxn>
                        <a:cxn ang="T132">
                          <a:pos x="T24" y="T25"/>
                        </a:cxn>
                        <a:cxn ang="T133">
                          <a:pos x="T26" y="T27"/>
                        </a:cxn>
                        <a:cxn ang="T134">
                          <a:pos x="T28" y="T29"/>
                        </a:cxn>
                        <a:cxn ang="T135">
                          <a:pos x="T30" y="T31"/>
                        </a:cxn>
                        <a:cxn ang="T136">
                          <a:pos x="T32" y="T33"/>
                        </a:cxn>
                        <a:cxn ang="T137">
                          <a:pos x="T34" y="T35"/>
                        </a:cxn>
                        <a:cxn ang="T138">
                          <a:pos x="T36" y="T37"/>
                        </a:cxn>
                        <a:cxn ang="T139">
                          <a:pos x="T38" y="T39"/>
                        </a:cxn>
                        <a:cxn ang="T140">
                          <a:pos x="T40" y="T41"/>
                        </a:cxn>
                        <a:cxn ang="T141">
                          <a:pos x="T42" y="T43"/>
                        </a:cxn>
                        <a:cxn ang="T142">
                          <a:pos x="T44" y="T45"/>
                        </a:cxn>
                        <a:cxn ang="T143">
                          <a:pos x="T46" y="T47"/>
                        </a:cxn>
                        <a:cxn ang="T144">
                          <a:pos x="T48" y="T49"/>
                        </a:cxn>
                        <a:cxn ang="T145">
                          <a:pos x="T50" y="T51"/>
                        </a:cxn>
                        <a:cxn ang="T146">
                          <a:pos x="T52" y="T53"/>
                        </a:cxn>
                        <a:cxn ang="T147">
                          <a:pos x="T54" y="T55"/>
                        </a:cxn>
                        <a:cxn ang="T148">
                          <a:pos x="T56" y="T57"/>
                        </a:cxn>
                        <a:cxn ang="T149">
                          <a:pos x="T58" y="T59"/>
                        </a:cxn>
                        <a:cxn ang="T150">
                          <a:pos x="T60" y="T61"/>
                        </a:cxn>
                        <a:cxn ang="T151">
                          <a:pos x="T62" y="T63"/>
                        </a:cxn>
                        <a:cxn ang="T152">
                          <a:pos x="T64" y="T65"/>
                        </a:cxn>
                        <a:cxn ang="T153">
                          <a:pos x="T66" y="T67"/>
                        </a:cxn>
                        <a:cxn ang="T154">
                          <a:pos x="T68" y="T69"/>
                        </a:cxn>
                        <a:cxn ang="T155">
                          <a:pos x="T70" y="T71"/>
                        </a:cxn>
                        <a:cxn ang="T156">
                          <a:pos x="T72" y="T73"/>
                        </a:cxn>
                        <a:cxn ang="T157">
                          <a:pos x="T74" y="T75"/>
                        </a:cxn>
                        <a:cxn ang="T158">
                          <a:pos x="T76" y="T77"/>
                        </a:cxn>
                        <a:cxn ang="T159">
                          <a:pos x="T78" y="T79"/>
                        </a:cxn>
                        <a:cxn ang="T160">
                          <a:pos x="T80" y="T81"/>
                        </a:cxn>
                        <a:cxn ang="T161">
                          <a:pos x="T82" y="T83"/>
                        </a:cxn>
                        <a:cxn ang="T162">
                          <a:pos x="T84" y="T85"/>
                        </a:cxn>
                        <a:cxn ang="T163">
                          <a:pos x="T86" y="T87"/>
                        </a:cxn>
                        <a:cxn ang="T164">
                          <a:pos x="T88" y="T89"/>
                        </a:cxn>
                        <a:cxn ang="T165">
                          <a:pos x="T90" y="T91"/>
                        </a:cxn>
                        <a:cxn ang="T166">
                          <a:pos x="T92" y="T93"/>
                        </a:cxn>
                        <a:cxn ang="T167">
                          <a:pos x="T94" y="T95"/>
                        </a:cxn>
                        <a:cxn ang="T168">
                          <a:pos x="T96" y="T97"/>
                        </a:cxn>
                        <a:cxn ang="T169">
                          <a:pos x="T98" y="T99"/>
                        </a:cxn>
                        <a:cxn ang="T170">
                          <a:pos x="T100" y="T101"/>
                        </a:cxn>
                        <a:cxn ang="T171">
                          <a:pos x="T102" y="T103"/>
                        </a:cxn>
                        <a:cxn ang="T172">
                          <a:pos x="T104" y="T105"/>
                        </a:cxn>
                        <a:cxn ang="T173">
                          <a:pos x="T106" y="T107"/>
                        </a:cxn>
                        <a:cxn ang="T174">
                          <a:pos x="T108" y="T109"/>
                        </a:cxn>
                        <a:cxn ang="T175">
                          <a:pos x="T110" y="T111"/>
                        </a:cxn>
                        <a:cxn ang="T176">
                          <a:pos x="T112" y="T113"/>
                        </a:cxn>
                        <a:cxn ang="T177">
                          <a:pos x="T114" y="T115"/>
                        </a:cxn>
                        <a:cxn ang="T178">
                          <a:pos x="T116" y="T117"/>
                        </a:cxn>
                        <a:cxn ang="T179">
                          <a:pos x="T118" y="T119"/>
                        </a:cxn>
                      </a:cxnLst>
                      <a:rect l="T180" t="T181" r="T182" b="T183"/>
                      <a:pathLst>
                        <a:path w="32" h="36">
                          <a:moveTo>
                            <a:pt x="28" y="3"/>
                          </a:moveTo>
                          <a:lnTo>
                            <a:pt x="29" y="3"/>
                          </a:lnTo>
                          <a:lnTo>
                            <a:pt x="30" y="6"/>
                          </a:lnTo>
                          <a:lnTo>
                            <a:pt x="31" y="6"/>
                          </a:lnTo>
                          <a:lnTo>
                            <a:pt x="31" y="9"/>
                          </a:lnTo>
                          <a:lnTo>
                            <a:pt x="31" y="10"/>
                          </a:lnTo>
                          <a:lnTo>
                            <a:pt x="32" y="12"/>
                          </a:lnTo>
                          <a:lnTo>
                            <a:pt x="32" y="13"/>
                          </a:lnTo>
                          <a:lnTo>
                            <a:pt x="32" y="15"/>
                          </a:lnTo>
                          <a:lnTo>
                            <a:pt x="32" y="16"/>
                          </a:lnTo>
                          <a:lnTo>
                            <a:pt x="32" y="17"/>
                          </a:lnTo>
                          <a:lnTo>
                            <a:pt x="31" y="19"/>
                          </a:lnTo>
                          <a:lnTo>
                            <a:pt x="30" y="21"/>
                          </a:lnTo>
                          <a:lnTo>
                            <a:pt x="29" y="24"/>
                          </a:lnTo>
                          <a:lnTo>
                            <a:pt x="28" y="26"/>
                          </a:lnTo>
                          <a:lnTo>
                            <a:pt x="26" y="28"/>
                          </a:lnTo>
                          <a:lnTo>
                            <a:pt x="24" y="31"/>
                          </a:lnTo>
                          <a:lnTo>
                            <a:pt x="22" y="32"/>
                          </a:lnTo>
                          <a:lnTo>
                            <a:pt x="20" y="34"/>
                          </a:lnTo>
                          <a:lnTo>
                            <a:pt x="18" y="35"/>
                          </a:lnTo>
                          <a:lnTo>
                            <a:pt x="16" y="35"/>
                          </a:lnTo>
                          <a:lnTo>
                            <a:pt x="15" y="36"/>
                          </a:lnTo>
                          <a:lnTo>
                            <a:pt x="14" y="36"/>
                          </a:lnTo>
                          <a:lnTo>
                            <a:pt x="13" y="36"/>
                          </a:lnTo>
                          <a:lnTo>
                            <a:pt x="12" y="36"/>
                          </a:lnTo>
                          <a:lnTo>
                            <a:pt x="11" y="36"/>
                          </a:lnTo>
                          <a:lnTo>
                            <a:pt x="9" y="35"/>
                          </a:lnTo>
                          <a:lnTo>
                            <a:pt x="8" y="35"/>
                          </a:lnTo>
                          <a:lnTo>
                            <a:pt x="6" y="34"/>
                          </a:lnTo>
                          <a:lnTo>
                            <a:pt x="4" y="33"/>
                          </a:lnTo>
                          <a:lnTo>
                            <a:pt x="3" y="32"/>
                          </a:lnTo>
                          <a:lnTo>
                            <a:pt x="2" y="31"/>
                          </a:lnTo>
                          <a:lnTo>
                            <a:pt x="2" y="30"/>
                          </a:lnTo>
                          <a:lnTo>
                            <a:pt x="1" y="28"/>
                          </a:lnTo>
                          <a:lnTo>
                            <a:pt x="0" y="26"/>
                          </a:lnTo>
                          <a:lnTo>
                            <a:pt x="0" y="24"/>
                          </a:lnTo>
                          <a:lnTo>
                            <a:pt x="0" y="23"/>
                          </a:lnTo>
                          <a:lnTo>
                            <a:pt x="0" y="21"/>
                          </a:lnTo>
                          <a:lnTo>
                            <a:pt x="1" y="18"/>
                          </a:lnTo>
                          <a:lnTo>
                            <a:pt x="1" y="16"/>
                          </a:lnTo>
                          <a:lnTo>
                            <a:pt x="2" y="14"/>
                          </a:lnTo>
                          <a:lnTo>
                            <a:pt x="4" y="12"/>
                          </a:lnTo>
                          <a:lnTo>
                            <a:pt x="6" y="10"/>
                          </a:lnTo>
                          <a:lnTo>
                            <a:pt x="6" y="6"/>
                          </a:lnTo>
                          <a:lnTo>
                            <a:pt x="9" y="4"/>
                          </a:lnTo>
                          <a:lnTo>
                            <a:pt x="12" y="2"/>
                          </a:lnTo>
                          <a:lnTo>
                            <a:pt x="13" y="1"/>
                          </a:lnTo>
                          <a:lnTo>
                            <a:pt x="16" y="0"/>
                          </a:lnTo>
                          <a:lnTo>
                            <a:pt x="17" y="0"/>
                          </a:lnTo>
                          <a:lnTo>
                            <a:pt x="18" y="0"/>
                          </a:lnTo>
                          <a:lnTo>
                            <a:pt x="19" y="0"/>
                          </a:lnTo>
                          <a:lnTo>
                            <a:pt x="20" y="0"/>
                          </a:lnTo>
                          <a:lnTo>
                            <a:pt x="22" y="0"/>
                          </a:lnTo>
                          <a:lnTo>
                            <a:pt x="22" y="1"/>
                          </a:lnTo>
                          <a:lnTo>
                            <a:pt x="24" y="1"/>
                          </a:lnTo>
                          <a:lnTo>
                            <a:pt x="26" y="1"/>
                          </a:lnTo>
                          <a:lnTo>
                            <a:pt x="27" y="2"/>
                          </a:lnTo>
                          <a:lnTo>
                            <a:pt x="28" y="3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2380" name="Freeform 1046"/>
                  <p:cNvSpPr>
                    <a:spLocks/>
                  </p:cNvSpPr>
                  <p:nvPr/>
                </p:nvSpPr>
                <p:spPr bwMode="auto">
                  <a:xfrm>
                    <a:off x="2560" y="2603"/>
                    <a:ext cx="15" cy="14"/>
                  </a:xfrm>
                  <a:custGeom>
                    <a:avLst/>
                    <a:gdLst>
                      <a:gd name="T0" fmla="*/ 15 w 15"/>
                      <a:gd name="T1" fmla="*/ 14 h 14"/>
                      <a:gd name="T2" fmla="*/ 15 w 15"/>
                      <a:gd name="T3" fmla="*/ 14 h 14"/>
                      <a:gd name="T4" fmla="*/ 13 w 15"/>
                      <a:gd name="T5" fmla="*/ 13 h 14"/>
                      <a:gd name="T6" fmla="*/ 11 w 15"/>
                      <a:gd name="T7" fmla="*/ 12 h 14"/>
                      <a:gd name="T8" fmla="*/ 10 w 15"/>
                      <a:gd name="T9" fmla="*/ 11 h 14"/>
                      <a:gd name="T10" fmla="*/ 8 w 15"/>
                      <a:gd name="T11" fmla="*/ 10 h 14"/>
                      <a:gd name="T12" fmla="*/ 6 w 15"/>
                      <a:gd name="T13" fmla="*/ 7 h 14"/>
                      <a:gd name="T14" fmla="*/ 6 w 15"/>
                      <a:gd name="T15" fmla="*/ 6 h 14"/>
                      <a:gd name="T16" fmla="*/ 3 w 15"/>
                      <a:gd name="T17" fmla="*/ 5 h 14"/>
                      <a:gd name="T18" fmla="*/ 2 w 15"/>
                      <a:gd name="T19" fmla="*/ 4 h 14"/>
                      <a:gd name="T20" fmla="*/ 1 w 15"/>
                      <a:gd name="T21" fmla="*/ 1 h 14"/>
                      <a:gd name="T22" fmla="*/ 0 w 15"/>
                      <a:gd name="T23" fmla="*/ 0 h 14"/>
                      <a:gd name="T24" fmla="*/ 1 w 15"/>
                      <a:gd name="T25" fmla="*/ 1 h 14"/>
                      <a:gd name="T26" fmla="*/ 3 w 15"/>
                      <a:gd name="T27" fmla="*/ 2 h 14"/>
                      <a:gd name="T28" fmla="*/ 4 w 15"/>
                      <a:gd name="T29" fmla="*/ 4 h 14"/>
                      <a:gd name="T30" fmla="*/ 6 w 15"/>
                      <a:gd name="T31" fmla="*/ 5 h 14"/>
                      <a:gd name="T32" fmla="*/ 8 w 15"/>
                      <a:gd name="T33" fmla="*/ 7 h 14"/>
                      <a:gd name="T34" fmla="*/ 9 w 15"/>
                      <a:gd name="T35" fmla="*/ 9 h 14"/>
                      <a:gd name="T36" fmla="*/ 10 w 15"/>
                      <a:gd name="T37" fmla="*/ 10 h 14"/>
                      <a:gd name="T38" fmla="*/ 11 w 15"/>
                      <a:gd name="T39" fmla="*/ 11 h 14"/>
                      <a:gd name="T40" fmla="*/ 14 w 15"/>
                      <a:gd name="T41" fmla="*/ 13 h 14"/>
                      <a:gd name="T42" fmla="*/ 15 w 15"/>
                      <a:gd name="T43" fmla="*/ 14 h 14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5"/>
                      <a:gd name="T67" fmla="*/ 0 h 14"/>
                      <a:gd name="T68" fmla="*/ 15 w 15"/>
                      <a:gd name="T69" fmla="*/ 14 h 14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5" h="14">
                        <a:moveTo>
                          <a:pt x="15" y="14"/>
                        </a:moveTo>
                        <a:lnTo>
                          <a:pt x="15" y="14"/>
                        </a:lnTo>
                        <a:lnTo>
                          <a:pt x="13" y="13"/>
                        </a:lnTo>
                        <a:lnTo>
                          <a:pt x="11" y="12"/>
                        </a:lnTo>
                        <a:lnTo>
                          <a:pt x="10" y="11"/>
                        </a:lnTo>
                        <a:lnTo>
                          <a:pt x="8" y="10"/>
                        </a:lnTo>
                        <a:lnTo>
                          <a:pt x="6" y="7"/>
                        </a:lnTo>
                        <a:lnTo>
                          <a:pt x="6" y="6"/>
                        </a:lnTo>
                        <a:lnTo>
                          <a:pt x="3" y="5"/>
                        </a:lnTo>
                        <a:lnTo>
                          <a:pt x="2" y="4"/>
                        </a:lnTo>
                        <a:lnTo>
                          <a:pt x="1" y="1"/>
                        </a:lnTo>
                        <a:lnTo>
                          <a:pt x="0" y="0"/>
                        </a:ln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4" y="4"/>
                        </a:lnTo>
                        <a:lnTo>
                          <a:pt x="6" y="5"/>
                        </a:lnTo>
                        <a:lnTo>
                          <a:pt x="8" y="7"/>
                        </a:lnTo>
                        <a:lnTo>
                          <a:pt x="9" y="9"/>
                        </a:lnTo>
                        <a:lnTo>
                          <a:pt x="10" y="10"/>
                        </a:lnTo>
                        <a:lnTo>
                          <a:pt x="11" y="11"/>
                        </a:lnTo>
                        <a:lnTo>
                          <a:pt x="14" y="13"/>
                        </a:lnTo>
                        <a:lnTo>
                          <a:pt x="15" y="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2381" name="Group 1047"/>
                  <p:cNvGrpSpPr>
                    <a:grpSpLocks/>
                  </p:cNvGrpSpPr>
                  <p:nvPr/>
                </p:nvGrpSpPr>
                <p:grpSpPr bwMode="auto">
                  <a:xfrm>
                    <a:off x="2560" y="2603"/>
                    <a:ext cx="15" cy="14"/>
                    <a:chOff x="2560" y="2603"/>
                    <a:chExt cx="15" cy="14"/>
                  </a:xfrm>
                </p:grpSpPr>
                <p:sp>
                  <p:nvSpPr>
                    <p:cNvPr id="12406" name="Freeform 1048"/>
                    <p:cNvSpPr>
                      <a:spLocks/>
                    </p:cNvSpPr>
                    <p:nvPr/>
                  </p:nvSpPr>
                  <p:spPr bwMode="auto">
                    <a:xfrm>
                      <a:off x="2560" y="2603"/>
                      <a:ext cx="15" cy="14"/>
                    </a:xfrm>
                    <a:custGeom>
                      <a:avLst/>
                      <a:gdLst>
                        <a:gd name="T0" fmla="*/ 15 w 15"/>
                        <a:gd name="T1" fmla="*/ 14 h 14"/>
                        <a:gd name="T2" fmla="*/ 15 w 15"/>
                        <a:gd name="T3" fmla="*/ 14 h 14"/>
                        <a:gd name="T4" fmla="*/ 13 w 15"/>
                        <a:gd name="T5" fmla="*/ 13 h 14"/>
                        <a:gd name="T6" fmla="*/ 11 w 15"/>
                        <a:gd name="T7" fmla="*/ 12 h 14"/>
                        <a:gd name="T8" fmla="*/ 10 w 15"/>
                        <a:gd name="T9" fmla="*/ 11 h 14"/>
                        <a:gd name="T10" fmla="*/ 8 w 15"/>
                        <a:gd name="T11" fmla="*/ 10 h 14"/>
                        <a:gd name="T12" fmla="*/ 6 w 15"/>
                        <a:gd name="T13" fmla="*/ 7 h 14"/>
                        <a:gd name="T14" fmla="*/ 6 w 15"/>
                        <a:gd name="T15" fmla="*/ 6 h 14"/>
                        <a:gd name="T16" fmla="*/ 3 w 15"/>
                        <a:gd name="T17" fmla="*/ 5 h 14"/>
                        <a:gd name="T18" fmla="*/ 2 w 15"/>
                        <a:gd name="T19" fmla="*/ 4 h 14"/>
                        <a:gd name="T20" fmla="*/ 1 w 15"/>
                        <a:gd name="T21" fmla="*/ 1 h 14"/>
                        <a:gd name="T22" fmla="*/ 0 w 15"/>
                        <a:gd name="T23" fmla="*/ 0 h 14"/>
                        <a:gd name="T24" fmla="*/ 1 w 15"/>
                        <a:gd name="T25" fmla="*/ 1 h 14"/>
                        <a:gd name="T26" fmla="*/ 3 w 15"/>
                        <a:gd name="T27" fmla="*/ 2 h 14"/>
                        <a:gd name="T28" fmla="*/ 4 w 15"/>
                        <a:gd name="T29" fmla="*/ 4 h 14"/>
                        <a:gd name="T30" fmla="*/ 6 w 15"/>
                        <a:gd name="T31" fmla="*/ 5 h 14"/>
                        <a:gd name="T32" fmla="*/ 8 w 15"/>
                        <a:gd name="T33" fmla="*/ 7 h 14"/>
                        <a:gd name="T34" fmla="*/ 9 w 15"/>
                        <a:gd name="T35" fmla="*/ 9 h 14"/>
                        <a:gd name="T36" fmla="*/ 10 w 15"/>
                        <a:gd name="T37" fmla="*/ 10 h 14"/>
                        <a:gd name="T38" fmla="*/ 11 w 15"/>
                        <a:gd name="T39" fmla="*/ 11 h 14"/>
                        <a:gd name="T40" fmla="*/ 14 w 15"/>
                        <a:gd name="T41" fmla="*/ 13 h 14"/>
                        <a:gd name="T42" fmla="*/ 15 w 15"/>
                        <a:gd name="T43" fmla="*/ 14 h 14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w 15"/>
                        <a:gd name="T67" fmla="*/ 0 h 14"/>
                        <a:gd name="T68" fmla="*/ 15 w 15"/>
                        <a:gd name="T69" fmla="*/ 14 h 14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T66" t="T67" r="T68" b="T69"/>
                      <a:pathLst>
                        <a:path w="15" h="14">
                          <a:moveTo>
                            <a:pt x="15" y="14"/>
                          </a:moveTo>
                          <a:lnTo>
                            <a:pt x="15" y="14"/>
                          </a:lnTo>
                          <a:lnTo>
                            <a:pt x="13" y="13"/>
                          </a:lnTo>
                          <a:lnTo>
                            <a:pt x="11" y="12"/>
                          </a:lnTo>
                          <a:lnTo>
                            <a:pt x="10" y="11"/>
                          </a:lnTo>
                          <a:lnTo>
                            <a:pt x="8" y="10"/>
                          </a:lnTo>
                          <a:lnTo>
                            <a:pt x="6" y="7"/>
                          </a:lnTo>
                          <a:lnTo>
                            <a:pt x="6" y="6"/>
                          </a:lnTo>
                          <a:lnTo>
                            <a:pt x="3" y="5"/>
                          </a:lnTo>
                          <a:lnTo>
                            <a:pt x="2" y="4"/>
                          </a:lnTo>
                          <a:lnTo>
                            <a:pt x="1" y="1"/>
                          </a:lnTo>
                          <a:lnTo>
                            <a:pt x="0" y="0"/>
                          </a:lnTo>
                          <a:lnTo>
                            <a:pt x="1" y="1"/>
                          </a:lnTo>
                          <a:lnTo>
                            <a:pt x="3" y="2"/>
                          </a:lnTo>
                          <a:lnTo>
                            <a:pt x="4" y="4"/>
                          </a:lnTo>
                          <a:lnTo>
                            <a:pt x="6" y="5"/>
                          </a:lnTo>
                          <a:lnTo>
                            <a:pt x="8" y="7"/>
                          </a:lnTo>
                          <a:lnTo>
                            <a:pt x="9" y="9"/>
                          </a:lnTo>
                          <a:lnTo>
                            <a:pt x="10" y="10"/>
                          </a:lnTo>
                          <a:lnTo>
                            <a:pt x="11" y="11"/>
                          </a:lnTo>
                          <a:lnTo>
                            <a:pt x="14" y="13"/>
                          </a:lnTo>
                          <a:lnTo>
                            <a:pt x="15" y="1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407" name="Freeform 1049"/>
                    <p:cNvSpPr>
                      <a:spLocks/>
                    </p:cNvSpPr>
                    <p:nvPr/>
                  </p:nvSpPr>
                  <p:spPr bwMode="auto">
                    <a:xfrm>
                      <a:off x="2560" y="2603"/>
                      <a:ext cx="15" cy="14"/>
                    </a:xfrm>
                    <a:custGeom>
                      <a:avLst/>
                      <a:gdLst>
                        <a:gd name="T0" fmla="*/ 15 w 15"/>
                        <a:gd name="T1" fmla="*/ 14 h 14"/>
                        <a:gd name="T2" fmla="*/ 15 w 15"/>
                        <a:gd name="T3" fmla="*/ 14 h 14"/>
                        <a:gd name="T4" fmla="*/ 13 w 15"/>
                        <a:gd name="T5" fmla="*/ 13 h 14"/>
                        <a:gd name="T6" fmla="*/ 11 w 15"/>
                        <a:gd name="T7" fmla="*/ 12 h 14"/>
                        <a:gd name="T8" fmla="*/ 10 w 15"/>
                        <a:gd name="T9" fmla="*/ 11 h 14"/>
                        <a:gd name="T10" fmla="*/ 8 w 15"/>
                        <a:gd name="T11" fmla="*/ 10 h 14"/>
                        <a:gd name="T12" fmla="*/ 6 w 15"/>
                        <a:gd name="T13" fmla="*/ 7 h 14"/>
                        <a:gd name="T14" fmla="*/ 6 w 15"/>
                        <a:gd name="T15" fmla="*/ 6 h 14"/>
                        <a:gd name="T16" fmla="*/ 3 w 15"/>
                        <a:gd name="T17" fmla="*/ 5 h 14"/>
                        <a:gd name="T18" fmla="*/ 2 w 15"/>
                        <a:gd name="T19" fmla="*/ 4 h 14"/>
                        <a:gd name="T20" fmla="*/ 1 w 15"/>
                        <a:gd name="T21" fmla="*/ 1 h 14"/>
                        <a:gd name="T22" fmla="*/ 0 w 15"/>
                        <a:gd name="T23" fmla="*/ 0 h 14"/>
                        <a:gd name="T24" fmla="*/ 1 w 15"/>
                        <a:gd name="T25" fmla="*/ 1 h 14"/>
                        <a:gd name="T26" fmla="*/ 3 w 15"/>
                        <a:gd name="T27" fmla="*/ 2 h 14"/>
                        <a:gd name="T28" fmla="*/ 4 w 15"/>
                        <a:gd name="T29" fmla="*/ 4 h 14"/>
                        <a:gd name="T30" fmla="*/ 6 w 15"/>
                        <a:gd name="T31" fmla="*/ 5 h 14"/>
                        <a:gd name="T32" fmla="*/ 8 w 15"/>
                        <a:gd name="T33" fmla="*/ 7 h 14"/>
                        <a:gd name="T34" fmla="*/ 9 w 15"/>
                        <a:gd name="T35" fmla="*/ 9 h 14"/>
                        <a:gd name="T36" fmla="*/ 10 w 15"/>
                        <a:gd name="T37" fmla="*/ 10 h 14"/>
                        <a:gd name="T38" fmla="*/ 11 w 15"/>
                        <a:gd name="T39" fmla="*/ 11 h 14"/>
                        <a:gd name="T40" fmla="*/ 14 w 15"/>
                        <a:gd name="T41" fmla="*/ 13 h 14"/>
                        <a:gd name="T42" fmla="*/ 15 w 15"/>
                        <a:gd name="T43" fmla="*/ 14 h 14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w 15"/>
                        <a:gd name="T67" fmla="*/ 0 h 14"/>
                        <a:gd name="T68" fmla="*/ 15 w 15"/>
                        <a:gd name="T69" fmla="*/ 14 h 14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T66" t="T67" r="T68" b="T69"/>
                      <a:pathLst>
                        <a:path w="15" h="14">
                          <a:moveTo>
                            <a:pt x="15" y="14"/>
                          </a:moveTo>
                          <a:lnTo>
                            <a:pt x="15" y="14"/>
                          </a:lnTo>
                          <a:lnTo>
                            <a:pt x="13" y="13"/>
                          </a:lnTo>
                          <a:lnTo>
                            <a:pt x="11" y="12"/>
                          </a:lnTo>
                          <a:lnTo>
                            <a:pt x="10" y="11"/>
                          </a:lnTo>
                          <a:lnTo>
                            <a:pt x="8" y="10"/>
                          </a:lnTo>
                          <a:lnTo>
                            <a:pt x="6" y="7"/>
                          </a:lnTo>
                          <a:lnTo>
                            <a:pt x="6" y="6"/>
                          </a:lnTo>
                          <a:lnTo>
                            <a:pt x="3" y="5"/>
                          </a:lnTo>
                          <a:lnTo>
                            <a:pt x="2" y="4"/>
                          </a:lnTo>
                          <a:lnTo>
                            <a:pt x="1" y="1"/>
                          </a:lnTo>
                          <a:lnTo>
                            <a:pt x="0" y="0"/>
                          </a:lnTo>
                          <a:lnTo>
                            <a:pt x="1" y="1"/>
                          </a:lnTo>
                          <a:lnTo>
                            <a:pt x="3" y="2"/>
                          </a:lnTo>
                          <a:lnTo>
                            <a:pt x="4" y="4"/>
                          </a:lnTo>
                          <a:lnTo>
                            <a:pt x="6" y="5"/>
                          </a:lnTo>
                          <a:lnTo>
                            <a:pt x="8" y="7"/>
                          </a:lnTo>
                          <a:lnTo>
                            <a:pt x="9" y="9"/>
                          </a:lnTo>
                          <a:lnTo>
                            <a:pt x="10" y="10"/>
                          </a:lnTo>
                          <a:lnTo>
                            <a:pt x="11" y="11"/>
                          </a:lnTo>
                          <a:lnTo>
                            <a:pt x="14" y="13"/>
                          </a:lnTo>
                          <a:lnTo>
                            <a:pt x="15" y="14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2382" name="Freeform 1050"/>
                  <p:cNvSpPr>
                    <a:spLocks/>
                  </p:cNvSpPr>
                  <p:nvPr/>
                </p:nvSpPr>
                <p:spPr bwMode="auto">
                  <a:xfrm>
                    <a:off x="2569" y="2619"/>
                    <a:ext cx="30" cy="33"/>
                  </a:xfrm>
                  <a:custGeom>
                    <a:avLst/>
                    <a:gdLst>
                      <a:gd name="T0" fmla="*/ 29 w 30"/>
                      <a:gd name="T1" fmla="*/ 8 h 33"/>
                      <a:gd name="T2" fmla="*/ 30 w 30"/>
                      <a:gd name="T3" fmla="*/ 11 h 33"/>
                      <a:gd name="T4" fmla="*/ 30 w 30"/>
                      <a:gd name="T5" fmla="*/ 13 h 33"/>
                      <a:gd name="T6" fmla="*/ 30 w 30"/>
                      <a:gd name="T7" fmla="*/ 16 h 33"/>
                      <a:gd name="T8" fmla="*/ 29 w 30"/>
                      <a:gd name="T9" fmla="*/ 19 h 33"/>
                      <a:gd name="T10" fmla="*/ 29 w 30"/>
                      <a:gd name="T11" fmla="*/ 21 h 33"/>
                      <a:gd name="T12" fmla="*/ 28 w 30"/>
                      <a:gd name="T13" fmla="*/ 24 h 33"/>
                      <a:gd name="T14" fmla="*/ 27 w 30"/>
                      <a:gd name="T15" fmla="*/ 24 h 33"/>
                      <a:gd name="T16" fmla="*/ 25 w 30"/>
                      <a:gd name="T17" fmla="*/ 27 h 33"/>
                      <a:gd name="T18" fmla="*/ 24 w 30"/>
                      <a:gd name="T19" fmla="*/ 29 h 33"/>
                      <a:gd name="T20" fmla="*/ 23 w 30"/>
                      <a:gd name="T21" fmla="*/ 31 h 33"/>
                      <a:gd name="T22" fmla="*/ 21 w 30"/>
                      <a:gd name="T23" fmla="*/ 31 h 33"/>
                      <a:gd name="T24" fmla="*/ 20 w 30"/>
                      <a:gd name="T25" fmla="*/ 32 h 33"/>
                      <a:gd name="T26" fmla="*/ 18 w 30"/>
                      <a:gd name="T27" fmla="*/ 32 h 33"/>
                      <a:gd name="T28" fmla="*/ 17 w 30"/>
                      <a:gd name="T29" fmla="*/ 33 h 33"/>
                      <a:gd name="T30" fmla="*/ 16 w 30"/>
                      <a:gd name="T31" fmla="*/ 33 h 33"/>
                      <a:gd name="T32" fmla="*/ 14 w 30"/>
                      <a:gd name="T33" fmla="*/ 33 h 33"/>
                      <a:gd name="T34" fmla="*/ 13 w 30"/>
                      <a:gd name="T35" fmla="*/ 33 h 33"/>
                      <a:gd name="T36" fmla="*/ 12 w 30"/>
                      <a:gd name="T37" fmla="*/ 33 h 33"/>
                      <a:gd name="T38" fmla="*/ 11 w 30"/>
                      <a:gd name="T39" fmla="*/ 33 h 33"/>
                      <a:gd name="T40" fmla="*/ 10 w 30"/>
                      <a:gd name="T41" fmla="*/ 33 h 33"/>
                      <a:gd name="T42" fmla="*/ 9 w 30"/>
                      <a:gd name="T43" fmla="*/ 32 h 33"/>
                      <a:gd name="T44" fmla="*/ 7 w 30"/>
                      <a:gd name="T45" fmla="*/ 32 h 33"/>
                      <a:gd name="T46" fmla="*/ 7 w 30"/>
                      <a:gd name="T47" fmla="*/ 31 h 33"/>
                      <a:gd name="T48" fmla="*/ 5 w 30"/>
                      <a:gd name="T49" fmla="*/ 30 h 33"/>
                      <a:gd name="T50" fmla="*/ 4 w 30"/>
                      <a:gd name="T51" fmla="*/ 29 h 33"/>
                      <a:gd name="T52" fmla="*/ 2 w 30"/>
                      <a:gd name="T53" fmla="*/ 29 h 33"/>
                      <a:gd name="T54" fmla="*/ 2 w 30"/>
                      <a:gd name="T55" fmla="*/ 28 h 33"/>
                      <a:gd name="T56" fmla="*/ 1 w 30"/>
                      <a:gd name="T57" fmla="*/ 27 h 33"/>
                      <a:gd name="T58" fmla="*/ 1 w 30"/>
                      <a:gd name="T59" fmla="*/ 26 h 33"/>
                      <a:gd name="T60" fmla="*/ 0 w 30"/>
                      <a:gd name="T61" fmla="*/ 24 h 33"/>
                      <a:gd name="T62" fmla="*/ 0 w 30"/>
                      <a:gd name="T63" fmla="*/ 20 h 33"/>
                      <a:gd name="T64" fmla="*/ 0 w 30"/>
                      <a:gd name="T65" fmla="*/ 17 h 33"/>
                      <a:gd name="T66" fmla="*/ 1 w 30"/>
                      <a:gd name="T67" fmla="*/ 16 h 33"/>
                      <a:gd name="T68" fmla="*/ 1 w 30"/>
                      <a:gd name="T69" fmla="*/ 14 h 33"/>
                      <a:gd name="T70" fmla="*/ 2 w 30"/>
                      <a:gd name="T71" fmla="*/ 12 h 33"/>
                      <a:gd name="T72" fmla="*/ 4 w 30"/>
                      <a:gd name="T73" fmla="*/ 10 h 33"/>
                      <a:gd name="T74" fmla="*/ 7 w 30"/>
                      <a:gd name="T75" fmla="*/ 8 h 33"/>
                      <a:gd name="T76" fmla="*/ 7 w 30"/>
                      <a:gd name="T77" fmla="*/ 6 h 33"/>
                      <a:gd name="T78" fmla="*/ 9 w 30"/>
                      <a:gd name="T79" fmla="*/ 4 h 33"/>
                      <a:gd name="T80" fmla="*/ 11 w 30"/>
                      <a:gd name="T81" fmla="*/ 3 h 33"/>
                      <a:gd name="T82" fmla="*/ 13 w 30"/>
                      <a:gd name="T83" fmla="*/ 1 h 33"/>
                      <a:gd name="T84" fmla="*/ 15 w 30"/>
                      <a:gd name="T85" fmla="*/ 0 h 33"/>
                      <a:gd name="T86" fmla="*/ 17 w 30"/>
                      <a:gd name="T87" fmla="*/ 0 h 33"/>
                      <a:gd name="T88" fmla="*/ 20 w 30"/>
                      <a:gd name="T89" fmla="*/ 0 h 33"/>
                      <a:gd name="T90" fmla="*/ 23 w 30"/>
                      <a:gd name="T91" fmla="*/ 1 h 33"/>
                      <a:gd name="T92" fmla="*/ 25 w 30"/>
                      <a:gd name="T93" fmla="*/ 3 h 33"/>
                      <a:gd name="T94" fmla="*/ 27 w 30"/>
                      <a:gd name="T95" fmla="*/ 4 h 33"/>
                      <a:gd name="T96" fmla="*/ 28 w 30"/>
                      <a:gd name="T97" fmla="*/ 6 h 33"/>
                      <a:gd name="T98" fmla="*/ 29 w 30"/>
                      <a:gd name="T99" fmla="*/ 8 h 33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w 30"/>
                      <a:gd name="T151" fmla="*/ 0 h 33"/>
                      <a:gd name="T152" fmla="*/ 30 w 30"/>
                      <a:gd name="T153" fmla="*/ 33 h 33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T150" t="T151" r="T152" b="T153"/>
                    <a:pathLst>
                      <a:path w="30" h="33">
                        <a:moveTo>
                          <a:pt x="29" y="8"/>
                        </a:moveTo>
                        <a:lnTo>
                          <a:pt x="30" y="11"/>
                        </a:lnTo>
                        <a:lnTo>
                          <a:pt x="30" y="13"/>
                        </a:lnTo>
                        <a:lnTo>
                          <a:pt x="30" y="16"/>
                        </a:lnTo>
                        <a:lnTo>
                          <a:pt x="29" y="19"/>
                        </a:lnTo>
                        <a:lnTo>
                          <a:pt x="29" y="21"/>
                        </a:lnTo>
                        <a:lnTo>
                          <a:pt x="28" y="24"/>
                        </a:lnTo>
                        <a:lnTo>
                          <a:pt x="27" y="24"/>
                        </a:lnTo>
                        <a:lnTo>
                          <a:pt x="25" y="27"/>
                        </a:lnTo>
                        <a:lnTo>
                          <a:pt x="24" y="29"/>
                        </a:lnTo>
                        <a:lnTo>
                          <a:pt x="23" y="31"/>
                        </a:lnTo>
                        <a:lnTo>
                          <a:pt x="21" y="31"/>
                        </a:lnTo>
                        <a:lnTo>
                          <a:pt x="20" y="32"/>
                        </a:lnTo>
                        <a:lnTo>
                          <a:pt x="18" y="32"/>
                        </a:lnTo>
                        <a:lnTo>
                          <a:pt x="17" y="33"/>
                        </a:lnTo>
                        <a:lnTo>
                          <a:pt x="16" y="33"/>
                        </a:lnTo>
                        <a:lnTo>
                          <a:pt x="14" y="33"/>
                        </a:lnTo>
                        <a:lnTo>
                          <a:pt x="13" y="33"/>
                        </a:lnTo>
                        <a:lnTo>
                          <a:pt x="12" y="33"/>
                        </a:lnTo>
                        <a:lnTo>
                          <a:pt x="11" y="33"/>
                        </a:lnTo>
                        <a:lnTo>
                          <a:pt x="10" y="33"/>
                        </a:lnTo>
                        <a:lnTo>
                          <a:pt x="9" y="32"/>
                        </a:lnTo>
                        <a:lnTo>
                          <a:pt x="7" y="32"/>
                        </a:lnTo>
                        <a:lnTo>
                          <a:pt x="7" y="31"/>
                        </a:lnTo>
                        <a:lnTo>
                          <a:pt x="5" y="30"/>
                        </a:lnTo>
                        <a:lnTo>
                          <a:pt x="4" y="29"/>
                        </a:lnTo>
                        <a:lnTo>
                          <a:pt x="2" y="29"/>
                        </a:lnTo>
                        <a:lnTo>
                          <a:pt x="2" y="28"/>
                        </a:lnTo>
                        <a:lnTo>
                          <a:pt x="1" y="27"/>
                        </a:lnTo>
                        <a:lnTo>
                          <a:pt x="1" y="26"/>
                        </a:lnTo>
                        <a:lnTo>
                          <a:pt x="0" y="24"/>
                        </a:lnTo>
                        <a:lnTo>
                          <a:pt x="0" y="20"/>
                        </a:lnTo>
                        <a:lnTo>
                          <a:pt x="0" y="17"/>
                        </a:lnTo>
                        <a:lnTo>
                          <a:pt x="1" y="16"/>
                        </a:lnTo>
                        <a:lnTo>
                          <a:pt x="1" y="14"/>
                        </a:lnTo>
                        <a:lnTo>
                          <a:pt x="2" y="12"/>
                        </a:lnTo>
                        <a:lnTo>
                          <a:pt x="4" y="10"/>
                        </a:lnTo>
                        <a:lnTo>
                          <a:pt x="7" y="8"/>
                        </a:lnTo>
                        <a:lnTo>
                          <a:pt x="7" y="6"/>
                        </a:lnTo>
                        <a:lnTo>
                          <a:pt x="9" y="4"/>
                        </a:lnTo>
                        <a:lnTo>
                          <a:pt x="11" y="3"/>
                        </a:lnTo>
                        <a:lnTo>
                          <a:pt x="13" y="1"/>
                        </a:lnTo>
                        <a:lnTo>
                          <a:pt x="15" y="0"/>
                        </a:lnTo>
                        <a:lnTo>
                          <a:pt x="17" y="0"/>
                        </a:lnTo>
                        <a:lnTo>
                          <a:pt x="20" y="0"/>
                        </a:lnTo>
                        <a:lnTo>
                          <a:pt x="23" y="1"/>
                        </a:lnTo>
                        <a:lnTo>
                          <a:pt x="25" y="3"/>
                        </a:lnTo>
                        <a:lnTo>
                          <a:pt x="27" y="4"/>
                        </a:lnTo>
                        <a:lnTo>
                          <a:pt x="28" y="6"/>
                        </a:lnTo>
                        <a:lnTo>
                          <a:pt x="29" y="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2383" name="Group 1051"/>
                  <p:cNvGrpSpPr>
                    <a:grpSpLocks/>
                  </p:cNvGrpSpPr>
                  <p:nvPr/>
                </p:nvGrpSpPr>
                <p:grpSpPr bwMode="auto">
                  <a:xfrm>
                    <a:off x="2569" y="2619"/>
                    <a:ext cx="30" cy="33"/>
                    <a:chOff x="2569" y="2619"/>
                    <a:chExt cx="30" cy="33"/>
                  </a:xfrm>
                </p:grpSpPr>
                <p:sp>
                  <p:nvSpPr>
                    <p:cNvPr id="12404" name="Freeform 1052"/>
                    <p:cNvSpPr>
                      <a:spLocks/>
                    </p:cNvSpPr>
                    <p:nvPr/>
                  </p:nvSpPr>
                  <p:spPr bwMode="auto">
                    <a:xfrm>
                      <a:off x="2569" y="2619"/>
                      <a:ext cx="30" cy="33"/>
                    </a:xfrm>
                    <a:custGeom>
                      <a:avLst/>
                      <a:gdLst>
                        <a:gd name="T0" fmla="*/ 29 w 30"/>
                        <a:gd name="T1" fmla="*/ 8 h 33"/>
                        <a:gd name="T2" fmla="*/ 30 w 30"/>
                        <a:gd name="T3" fmla="*/ 11 h 33"/>
                        <a:gd name="T4" fmla="*/ 30 w 30"/>
                        <a:gd name="T5" fmla="*/ 13 h 33"/>
                        <a:gd name="T6" fmla="*/ 30 w 30"/>
                        <a:gd name="T7" fmla="*/ 16 h 33"/>
                        <a:gd name="T8" fmla="*/ 29 w 30"/>
                        <a:gd name="T9" fmla="*/ 19 h 33"/>
                        <a:gd name="T10" fmla="*/ 29 w 30"/>
                        <a:gd name="T11" fmla="*/ 21 h 33"/>
                        <a:gd name="T12" fmla="*/ 28 w 30"/>
                        <a:gd name="T13" fmla="*/ 24 h 33"/>
                        <a:gd name="T14" fmla="*/ 27 w 30"/>
                        <a:gd name="T15" fmla="*/ 24 h 33"/>
                        <a:gd name="T16" fmla="*/ 25 w 30"/>
                        <a:gd name="T17" fmla="*/ 27 h 33"/>
                        <a:gd name="T18" fmla="*/ 24 w 30"/>
                        <a:gd name="T19" fmla="*/ 29 h 33"/>
                        <a:gd name="T20" fmla="*/ 23 w 30"/>
                        <a:gd name="T21" fmla="*/ 31 h 33"/>
                        <a:gd name="T22" fmla="*/ 21 w 30"/>
                        <a:gd name="T23" fmla="*/ 31 h 33"/>
                        <a:gd name="T24" fmla="*/ 20 w 30"/>
                        <a:gd name="T25" fmla="*/ 32 h 33"/>
                        <a:gd name="T26" fmla="*/ 18 w 30"/>
                        <a:gd name="T27" fmla="*/ 32 h 33"/>
                        <a:gd name="T28" fmla="*/ 17 w 30"/>
                        <a:gd name="T29" fmla="*/ 33 h 33"/>
                        <a:gd name="T30" fmla="*/ 16 w 30"/>
                        <a:gd name="T31" fmla="*/ 33 h 33"/>
                        <a:gd name="T32" fmla="*/ 14 w 30"/>
                        <a:gd name="T33" fmla="*/ 33 h 33"/>
                        <a:gd name="T34" fmla="*/ 13 w 30"/>
                        <a:gd name="T35" fmla="*/ 33 h 33"/>
                        <a:gd name="T36" fmla="*/ 12 w 30"/>
                        <a:gd name="T37" fmla="*/ 33 h 33"/>
                        <a:gd name="T38" fmla="*/ 11 w 30"/>
                        <a:gd name="T39" fmla="*/ 33 h 33"/>
                        <a:gd name="T40" fmla="*/ 10 w 30"/>
                        <a:gd name="T41" fmla="*/ 33 h 33"/>
                        <a:gd name="T42" fmla="*/ 9 w 30"/>
                        <a:gd name="T43" fmla="*/ 32 h 33"/>
                        <a:gd name="T44" fmla="*/ 7 w 30"/>
                        <a:gd name="T45" fmla="*/ 32 h 33"/>
                        <a:gd name="T46" fmla="*/ 7 w 30"/>
                        <a:gd name="T47" fmla="*/ 31 h 33"/>
                        <a:gd name="T48" fmla="*/ 5 w 30"/>
                        <a:gd name="T49" fmla="*/ 30 h 33"/>
                        <a:gd name="T50" fmla="*/ 4 w 30"/>
                        <a:gd name="T51" fmla="*/ 29 h 33"/>
                        <a:gd name="T52" fmla="*/ 2 w 30"/>
                        <a:gd name="T53" fmla="*/ 29 h 33"/>
                        <a:gd name="T54" fmla="*/ 2 w 30"/>
                        <a:gd name="T55" fmla="*/ 28 h 33"/>
                        <a:gd name="T56" fmla="*/ 1 w 30"/>
                        <a:gd name="T57" fmla="*/ 27 h 33"/>
                        <a:gd name="T58" fmla="*/ 1 w 30"/>
                        <a:gd name="T59" fmla="*/ 26 h 33"/>
                        <a:gd name="T60" fmla="*/ 0 w 30"/>
                        <a:gd name="T61" fmla="*/ 24 h 33"/>
                        <a:gd name="T62" fmla="*/ 0 w 30"/>
                        <a:gd name="T63" fmla="*/ 20 h 33"/>
                        <a:gd name="T64" fmla="*/ 0 w 30"/>
                        <a:gd name="T65" fmla="*/ 17 h 33"/>
                        <a:gd name="T66" fmla="*/ 1 w 30"/>
                        <a:gd name="T67" fmla="*/ 16 h 33"/>
                        <a:gd name="T68" fmla="*/ 1 w 30"/>
                        <a:gd name="T69" fmla="*/ 14 h 33"/>
                        <a:gd name="T70" fmla="*/ 2 w 30"/>
                        <a:gd name="T71" fmla="*/ 12 h 33"/>
                        <a:gd name="T72" fmla="*/ 4 w 30"/>
                        <a:gd name="T73" fmla="*/ 10 h 33"/>
                        <a:gd name="T74" fmla="*/ 7 w 30"/>
                        <a:gd name="T75" fmla="*/ 8 h 33"/>
                        <a:gd name="T76" fmla="*/ 7 w 30"/>
                        <a:gd name="T77" fmla="*/ 6 h 33"/>
                        <a:gd name="T78" fmla="*/ 9 w 30"/>
                        <a:gd name="T79" fmla="*/ 4 h 33"/>
                        <a:gd name="T80" fmla="*/ 11 w 30"/>
                        <a:gd name="T81" fmla="*/ 3 h 33"/>
                        <a:gd name="T82" fmla="*/ 13 w 30"/>
                        <a:gd name="T83" fmla="*/ 1 h 33"/>
                        <a:gd name="T84" fmla="*/ 15 w 30"/>
                        <a:gd name="T85" fmla="*/ 0 h 33"/>
                        <a:gd name="T86" fmla="*/ 17 w 30"/>
                        <a:gd name="T87" fmla="*/ 0 h 33"/>
                        <a:gd name="T88" fmla="*/ 20 w 30"/>
                        <a:gd name="T89" fmla="*/ 0 h 33"/>
                        <a:gd name="T90" fmla="*/ 23 w 30"/>
                        <a:gd name="T91" fmla="*/ 1 h 33"/>
                        <a:gd name="T92" fmla="*/ 25 w 30"/>
                        <a:gd name="T93" fmla="*/ 3 h 33"/>
                        <a:gd name="T94" fmla="*/ 27 w 30"/>
                        <a:gd name="T95" fmla="*/ 4 h 33"/>
                        <a:gd name="T96" fmla="*/ 28 w 30"/>
                        <a:gd name="T97" fmla="*/ 6 h 33"/>
                        <a:gd name="T98" fmla="*/ 29 w 30"/>
                        <a:gd name="T99" fmla="*/ 8 h 33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w 30"/>
                        <a:gd name="T151" fmla="*/ 0 h 33"/>
                        <a:gd name="T152" fmla="*/ 30 w 30"/>
                        <a:gd name="T153" fmla="*/ 33 h 33"/>
                      </a:gdLst>
                      <a:ahLst/>
                      <a:cxnLst>
                        <a:cxn ang="T100">
                          <a:pos x="T0" y="T1"/>
                        </a:cxn>
                        <a:cxn ang="T101">
                          <a:pos x="T2" y="T3"/>
                        </a:cxn>
                        <a:cxn ang="T102">
                          <a:pos x="T4" y="T5"/>
                        </a:cxn>
                        <a:cxn ang="T103">
                          <a:pos x="T6" y="T7"/>
                        </a:cxn>
                        <a:cxn ang="T104">
                          <a:pos x="T8" y="T9"/>
                        </a:cxn>
                        <a:cxn ang="T105">
                          <a:pos x="T10" y="T11"/>
                        </a:cxn>
                        <a:cxn ang="T106">
                          <a:pos x="T12" y="T13"/>
                        </a:cxn>
                        <a:cxn ang="T107">
                          <a:pos x="T14" y="T15"/>
                        </a:cxn>
                        <a:cxn ang="T108">
                          <a:pos x="T16" y="T17"/>
                        </a:cxn>
                        <a:cxn ang="T109">
                          <a:pos x="T18" y="T19"/>
                        </a:cxn>
                        <a:cxn ang="T110">
                          <a:pos x="T20" y="T21"/>
                        </a:cxn>
                        <a:cxn ang="T111">
                          <a:pos x="T22" y="T23"/>
                        </a:cxn>
                        <a:cxn ang="T112">
                          <a:pos x="T24" y="T25"/>
                        </a:cxn>
                        <a:cxn ang="T113">
                          <a:pos x="T26" y="T27"/>
                        </a:cxn>
                        <a:cxn ang="T114">
                          <a:pos x="T28" y="T29"/>
                        </a:cxn>
                        <a:cxn ang="T115">
                          <a:pos x="T30" y="T31"/>
                        </a:cxn>
                        <a:cxn ang="T116">
                          <a:pos x="T32" y="T33"/>
                        </a:cxn>
                        <a:cxn ang="T117">
                          <a:pos x="T34" y="T35"/>
                        </a:cxn>
                        <a:cxn ang="T118">
                          <a:pos x="T36" y="T37"/>
                        </a:cxn>
                        <a:cxn ang="T119">
                          <a:pos x="T38" y="T39"/>
                        </a:cxn>
                        <a:cxn ang="T120">
                          <a:pos x="T40" y="T41"/>
                        </a:cxn>
                        <a:cxn ang="T121">
                          <a:pos x="T42" y="T43"/>
                        </a:cxn>
                        <a:cxn ang="T122">
                          <a:pos x="T44" y="T45"/>
                        </a:cxn>
                        <a:cxn ang="T123">
                          <a:pos x="T46" y="T47"/>
                        </a:cxn>
                        <a:cxn ang="T124">
                          <a:pos x="T48" y="T49"/>
                        </a:cxn>
                        <a:cxn ang="T125">
                          <a:pos x="T50" y="T51"/>
                        </a:cxn>
                        <a:cxn ang="T126">
                          <a:pos x="T52" y="T53"/>
                        </a:cxn>
                        <a:cxn ang="T127">
                          <a:pos x="T54" y="T55"/>
                        </a:cxn>
                        <a:cxn ang="T128">
                          <a:pos x="T56" y="T57"/>
                        </a:cxn>
                        <a:cxn ang="T129">
                          <a:pos x="T58" y="T59"/>
                        </a:cxn>
                        <a:cxn ang="T130">
                          <a:pos x="T60" y="T61"/>
                        </a:cxn>
                        <a:cxn ang="T131">
                          <a:pos x="T62" y="T63"/>
                        </a:cxn>
                        <a:cxn ang="T132">
                          <a:pos x="T64" y="T65"/>
                        </a:cxn>
                        <a:cxn ang="T133">
                          <a:pos x="T66" y="T67"/>
                        </a:cxn>
                        <a:cxn ang="T134">
                          <a:pos x="T68" y="T69"/>
                        </a:cxn>
                        <a:cxn ang="T135">
                          <a:pos x="T70" y="T71"/>
                        </a:cxn>
                        <a:cxn ang="T136">
                          <a:pos x="T72" y="T73"/>
                        </a:cxn>
                        <a:cxn ang="T137">
                          <a:pos x="T74" y="T75"/>
                        </a:cxn>
                        <a:cxn ang="T138">
                          <a:pos x="T76" y="T77"/>
                        </a:cxn>
                        <a:cxn ang="T139">
                          <a:pos x="T78" y="T79"/>
                        </a:cxn>
                        <a:cxn ang="T140">
                          <a:pos x="T80" y="T81"/>
                        </a:cxn>
                        <a:cxn ang="T141">
                          <a:pos x="T82" y="T83"/>
                        </a:cxn>
                        <a:cxn ang="T142">
                          <a:pos x="T84" y="T85"/>
                        </a:cxn>
                        <a:cxn ang="T143">
                          <a:pos x="T86" y="T87"/>
                        </a:cxn>
                        <a:cxn ang="T144">
                          <a:pos x="T88" y="T89"/>
                        </a:cxn>
                        <a:cxn ang="T145">
                          <a:pos x="T90" y="T91"/>
                        </a:cxn>
                        <a:cxn ang="T146">
                          <a:pos x="T92" y="T93"/>
                        </a:cxn>
                        <a:cxn ang="T147">
                          <a:pos x="T94" y="T95"/>
                        </a:cxn>
                        <a:cxn ang="T148">
                          <a:pos x="T96" y="T97"/>
                        </a:cxn>
                        <a:cxn ang="T149">
                          <a:pos x="T98" y="T99"/>
                        </a:cxn>
                      </a:cxnLst>
                      <a:rect l="T150" t="T151" r="T152" b="T153"/>
                      <a:pathLst>
                        <a:path w="30" h="33">
                          <a:moveTo>
                            <a:pt x="29" y="8"/>
                          </a:moveTo>
                          <a:lnTo>
                            <a:pt x="30" y="11"/>
                          </a:lnTo>
                          <a:lnTo>
                            <a:pt x="30" y="13"/>
                          </a:lnTo>
                          <a:lnTo>
                            <a:pt x="30" y="16"/>
                          </a:lnTo>
                          <a:lnTo>
                            <a:pt x="29" y="19"/>
                          </a:lnTo>
                          <a:lnTo>
                            <a:pt x="29" y="21"/>
                          </a:lnTo>
                          <a:lnTo>
                            <a:pt x="28" y="24"/>
                          </a:lnTo>
                          <a:lnTo>
                            <a:pt x="27" y="24"/>
                          </a:lnTo>
                          <a:lnTo>
                            <a:pt x="25" y="27"/>
                          </a:lnTo>
                          <a:lnTo>
                            <a:pt x="24" y="29"/>
                          </a:lnTo>
                          <a:lnTo>
                            <a:pt x="23" y="31"/>
                          </a:lnTo>
                          <a:lnTo>
                            <a:pt x="21" y="31"/>
                          </a:lnTo>
                          <a:lnTo>
                            <a:pt x="20" y="32"/>
                          </a:lnTo>
                          <a:lnTo>
                            <a:pt x="18" y="32"/>
                          </a:lnTo>
                          <a:lnTo>
                            <a:pt x="17" y="33"/>
                          </a:lnTo>
                          <a:lnTo>
                            <a:pt x="16" y="33"/>
                          </a:lnTo>
                          <a:lnTo>
                            <a:pt x="14" y="33"/>
                          </a:lnTo>
                          <a:lnTo>
                            <a:pt x="13" y="33"/>
                          </a:lnTo>
                          <a:lnTo>
                            <a:pt x="12" y="33"/>
                          </a:lnTo>
                          <a:lnTo>
                            <a:pt x="11" y="33"/>
                          </a:lnTo>
                          <a:lnTo>
                            <a:pt x="10" y="33"/>
                          </a:lnTo>
                          <a:lnTo>
                            <a:pt x="9" y="32"/>
                          </a:lnTo>
                          <a:lnTo>
                            <a:pt x="7" y="32"/>
                          </a:lnTo>
                          <a:lnTo>
                            <a:pt x="7" y="31"/>
                          </a:lnTo>
                          <a:lnTo>
                            <a:pt x="5" y="30"/>
                          </a:lnTo>
                          <a:lnTo>
                            <a:pt x="4" y="29"/>
                          </a:lnTo>
                          <a:lnTo>
                            <a:pt x="2" y="29"/>
                          </a:lnTo>
                          <a:lnTo>
                            <a:pt x="2" y="28"/>
                          </a:lnTo>
                          <a:lnTo>
                            <a:pt x="1" y="27"/>
                          </a:lnTo>
                          <a:lnTo>
                            <a:pt x="1" y="26"/>
                          </a:lnTo>
                          <a:lnTo>
                            <a:pt x="0" y="24"/>
                          </a:lnTo>
                          <a:lnTo>
                            <a:pt x="0" y="20"/>
                          </a:lnTo>
                          <a:lnTo>
                            <a:pt x="0" y="17"/>
                          </a:lnTo>
                          <a:lnTo>
                            <a:pt x="1" y="16"/>
                          </a:lnTo>
                          <a:lnTo>
                            <a:pt x="1" y="14"/>
                          </a:lnTo>
                          <a:lnTo>
                            <a:pt x="2" y="12"/>
                          </a:lnTo>
                          <a:lnTo>
                            <a:pt x="4" y="10"/>
                          </a:lnTo>
                          <a:lnTo>
                            <a:pt x="7" y="8"/>
                          </a:lnTo>
                          <a:lnTo>
                            <a:pt x="7" y="6"/>
                          </a:lnTo>
                          <a:lnTo>
                            <a:pt x="9" y="4"/>
                          </a:lnTo>
                          <a:lnTo>
                            <a:pt x="11" y="3"/>
                          </a:lnTo>
                          <a:lnTo>
                            <a:pt x="13" y="1"/>
                          </a:lnTo>
                          <a:lnTo>
                            <a:pt x="15" y="0"/>
                          </a:lnTo>
                          <a:lnTo>
                            <a:pt x="17" y="0"/>
                          </a:lnTo>
                          <a:lnTo>
                            <a:pt x="20" y="0"/>
                          </a:lnTo>
                          <a:lnTo>
                            <a:pt x="23" y="1"/>
                          </a:lnTo>
                          <a:lnTo>
                            <a:pt x="25" y="3"/>
                          </a:lnTo>
                          <a:lnTo>
                            <a:pt x="27" y="4"/>
                          </a:lnTo>
                          <a:lnTo>
                            <a:pt x="28" y="6"/>
                          </a:lnTo>
                          <a:lnTo>
                            <a:pt x="29" y="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405" name="Freeform 1053"/>
                    <p:cNvSpPr>
                      <a:spLocks/>
                    </p:cNvSpPr>
                    <p:nvPr/>
                  </p:nvSpPr>
                  <p:spPr bwMode="auto">
                    <a:xfrm>
                      <a:off x="2569" y="2619"/>
                      <a:ext cx="30" cy="33"/>
                    </a:xfrm>
                    <a:custGeom>
                      <a:avLst/>
                      <a:gdLst>
                        <a:gd name="T0" fmla="*/ 29 w 30"/>
                        <a:gd name="T1" fmla="*/ 8 h 33"/>
                        <a:gd name="T2" fmla="*/ 30 w 30"/>
                        <a:gd name="T3" fmla="*/ 11 h 33"/>
                        <a:gd name="T4" fmla="*/ 30 w 30"/>
                        <a:gd name="T5" fmla="*/ 13 h 33"/>
                        <a:gd name="T6" fmla="*/ 30 w 30"/>
                        <a:gd name="T7" fmla="*/ 16 h 33"/>
                        <a:gd name="T8" fmla="*/ 29 w 30"/>
                        <a:gd name="T9" fmla="*/ 19 h 33"/>
                        <a:gd name="T10" fmla="*/ 29 w 30"/>
                        <a:gd name="T11" fmla="*/ 21 h 33"/>
                        <a:gd name="T12" fmla="*/ 28 w 30"/>
                        <a:gd name="T13" fmla="*/ 24 h 33"/>
                        <a:gd name="T14" fmla="*/ 27 w 30"/>
                        <a:gd name="T15" fmla="*/ 24 h 33"/>
                        <a:gd name="T16" fmla="*/ 25 w 30"/>
                        <a:gd name="T17" fmla="*/ 27 h 33"/>
                        <a:gd name="T18" fmla="*/ 24 w 30"/>
                        <a:gd name="T19" fmla="*/ 29 h 33"/>
                        <a:gd name="T20" fmla="*/ 23 w 30"/>
                        <a:gd name="T21" fmla="*/ 31 h 33"/>
                        <a:gd name="T22" fmla="*/ 21 w 30"/>
                        <a:gd name="T23" fmla="*/ 31 h 33"/>
                        <a:gd name="T24" fmla="*/ 20 w 30"/>
                        <a:gd name="T25" fmla="*/ 32 h 33"/>
                        <a:gd name="T26" fmla="*/ 18 w 30"/>
                        <a:gd name="T27" fmla="*/ 32 h 33"/>
                        <a:gd name="T28" fmla="*/ 17 w 30"/>
                        <a:gd name="T29" fmla="*/ 33 h 33"/>
                        <a:gd name="T30" fmla="*/ 16 w 30"/>
                        <a:gd name="T31" fmla="*/ 33 h 33"/>
                        <a:gd name="T32" fmla="*/ 14 w 30"/>
                        <a:gd name="T33" fmla="*/ 33 h 33"/>
                        <a:gd name="T34" fmla="*/ 13 w 30"/>
                        <a:gd name="T35" fmla="*/ 33 h 33"/>
                        <a:gd name="T36" fmla="*/ 12 w 30"/>
                        <a:gd name="T37" fmla="*/ 33 h 33"/>
                        <a:gd name="T38" fmla="*/ 11 w 30"/>
                        <a:gd name="T39" fmla="*/ 33 h 33"/>
                        <a:gd name="T40" fmla="*/ 10 w 30"/>
                        <a:gd name="T41" fmla="*/ 33 h 33"/>
                        <a:gd name="T42" fmla="*/ 9 w 30"/>
                        <a:gd name="T43" fmla="*/ 32 h 33"/>
                        <a:gd name="T44" fmla="*/ 7 w 30"/>
                        <a:gd name="T45" fmla="*/ 32 h 33"/>
                        <a:gd name="T46" fmla="*/ 7 w 30"/>
                        <a:gd name="T47" fmla="*/ 31 h 33"/>
                        <a:gd name="T48" fmla="*/ 5 w 30"/>
                        <a:gd name="T49" fmla="*/ 30 h 33"/>
                        <a:gd name="T50" fmla="*/ 4 w 30"/>
                        <a:gd name="T51" fmla="*/ 29 h 33"/>
                        <a:gd name="T52" fmla="*/ 2 w 30"/>
                        <a:gd name="T53" fmla="*/ 29 h 33"/>
                        <a:gd name="T54" fmla="*/ 2 w 30"/>
                        <a:gd name="T55" fmla="*/ 28 h 33"/>
                        <a:gd name="T56" fmla="*/ 1 w 30"/>
                        <a:gd name="T57" fmla="*/ 27 h 33"/>
                        <a:gd name="T58" fmla="*/ 1 w 30"/>
                        <a:gd name="T59" fmla="*/ 26 h 33"/>
                        <a:gd name="T60" fmla="*/ 0 w 30"/>
                        <a:gd name="T61" fmla="*/ 24 h 33"/>
                        <a:gd name="T62" fmla="*/ 0 w 30"/>
                        <a:gd name="T63" fmla="*/ 20 h 33"/>
                        <a:gd name="T64" fmla="*/ 0 w 30"/>
                        <a:gd name="T65" fmla="*/ 17 h 33"/>
                        <a:gd name="T66" fmla="*/ 1 w 30"/>
                        <a:gd name="T67" fmla="*/ 16 h 33"/>
                        <a:gd name="T68" fmla="*/ 1 w 30"/>
                        <a:gd name="T69" fmla="*/ 14 h 33"/>
                        <a:gd name="T70" fmla="*/ 2 w 30"/>
                        <a:gd name="T71" fmla="*/ 12 h 33"/>
                        <a:gd name="T72" fmla="*/ 4 w 30"/>
                        <a:gd name="T73" fmla="*/ 10 h 33"/>
                        <a:gd name="T74" fmla="*/ 7 w 30"/>
                        <a:gd name="T75" fmla="*/ 8 h 33"/>
                        <a:gd name="T76" fmla="*/ 7 w 30"/>
                        <a:gd name="T77" fmla="*/ 6 h 33"/>
                        <a:gd name="T78" fmla="*/ 9 w 30"/>
                        <a:gd name="T79" fmla="*/ 4 h 33"/>
                        <a:gd name="T80" fmla="*/ 11 w 30"/>
                        <a:gd name="T81" fmla="*/ 3 h 33"/>
                        <a:gd name="T82" fmla="*/ 13 w 30"/>
                        <a:gd name="T83" fmla="*/ 1 h 33"/>
                        <a:gd name="T84" fmla="*/ 15 w 30"/>
                        <a:gd name="T85" fmla="*/ 0 h 33"/>
                        <a:gd name="T86" fmla="*/ 17 w 30"/>
                        <a:gd name="T87" fmla="*/ 0 h 33"/>
                        <a:gd name="T88" fmla="*/ 20 w 30"/>
                        <a:gd name="T89" fmla="*/ 0 h 33"/>
                        <a:gd name="T90" fmla="*/ 23 w 30"/>
                        <a:gd name="T91" fmla="*/ 1 h 33"/>
                        <a:gd name="T92" fmla="*/ 25 w 30"/>
                        <a:gd name="T93" fmla="*/ 3 h 33"/>
                        <a:gd name="T94" fmla="*/ 27 w 30"/>
                        <a:gd name="T95" fmla="*/ 4 h 33"/>
                        <a:gd name="T96" fmla="*/ 28 w 30"/>
                        <a:gd name="T97" fmla="*/ 6 h 33"/>
                        <a:gd name="T98" fmla="*/ 29 w 30"/>
                        <a:gd name="T99" fmla="*/ 8 h 33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w 30"/>
                        <a:gd name="T151" fmla="*/ 0 h 33"/>
                        <a:gd name="T152" fmla="*/ 30 w 30"/>
                        <a:gd name="T153" fmla="*/ 33 h 33"/>
                      </a:gdLst>
                      <a:ahLst/>
                      <a:cxnLst>
                        <a:cxn ang="T100">
                          <a:pos x="T0" y="T1"/>
                        </a:cxn>
                        <a:cxn ang="T101">
                          <a:pos x="T2" y="T3"/>
                        </a:cxn>
                        <a:cxn ang="T102">
                          <a:pos x="T4" y="T5"/>
                        </a:cxn>
                        <a:cxn ang="T103">
                          <a:pos x="T6" y="T7"/>
                        </a:cxn>
                        <a:cxn ang="T104">
                          <a:pos x="T8" y="T9"/>
                        </a:cxn>
                        <a:cxn ang="T105">
                          <a:pos x="T10" y="T11"/>
                        </a:cxn>
                        <a:cxn ang="T106">
                          <a:pos x="T12" y="T13"/>
                        </a:cxn>
                        <a:cxn ang="T107">
                          <a:pos x="T14" y="T15"/>
                        </a:cxn>
                        <a:cxn ang="T108">
                          <a:pos x="T16" y="T17"/>
                        </a:cxn>
                        <a:cxn ang="T109">
                          <a:pos x="T18" y="T19"/>
                        </a:cxn>
                        <a:cxn ang="T110">
                          <a:pos x="T20" y="T21"/>
                        </a:cxn>
                        <a:cxn ang="T111">
                          <a:pos x="T22" y="T23"/>
                        </a:cxn>
                        <a:cxn ang="T112">
                          <a:pos x="T24" y="T25"/>
                        </a:cxn>
                        <a:cxn ang="T113">
                          <a:pos x="T26" y="T27"/>
                        </a:cxn>
                        <a:cxn ang="T114">
                          <a:pos x="T28" y="T29"/>
                        </a:cxn>
                        <a:cxn ang="T115">
                          <a:pos x="T30" y="T31"/>
                        </a:cxn>
                        <a:cxn ang="T116">
                          <a:pos x="T32" y="T33"/>
                        </a:cxn>
                        <a:cxn ang="T117">
                          <a:pos x="T34" y="T35"/>
                        </a:cxn>
                        <a:cxn ang="T118">
                          <a:pos x="T36" y="T37"/>
                        </a:cxn>
                        <a:cxn ang="T119">
                          <a:pos x="T38" y="T39"/>
                        </a:cxn>
                        <a:cxn ang="T120">
                          <a:pos x="T40" y="T41"/>
                        </a:cxn>
                        <a:cxn ang="T121">
                          <a:pos x="T42" y="T43"/>
                        </a:cxn>
                        <a:cxn ang="T122">
                          <a:pos x="T44" y="T45"/>
                        </a:cxn>
                        <a:cxn ang="T123">
                          <a:pos x="T46" y="T47"/>
                        </a:cxn>
                        <a:cxn ang="T124">
                          <a:pos x="T48" y="T49"/>
                        </a:cxn>
                        <a:cxn ang="T125">
                          <a:pos x="T50" y="T51"/>
                        </a:cxn>
                        <a:cxn ang="T126">
                          <a:pos x="T52" y="T53"/>
                        </a:cxn>
                        <a:cxn ang="T127">
                          <a:pos x="T54" y="T55"/>
                        </a:cxn>
                        <a:cxn ang="T128">
                          <a:pos x="T56" y="T57"/>
                        </a:cxn>
                        <a:cxn ang="T129">
                          <a:pos x="T58" y="T59"/>
                        </a:cxn>
                        <a:cxn ang="T130">
                          <a:pos x="T60" y="T61"/>
                        </a:cxn>
                        <a:cxn ang="T131">
                          <a:pos x="T62" y="T63"/>
                        </a:cxn>
                        <a:cxn ang="T132">
                          <a:pos x="T64" y="T65"/>
                        </a:cxn>
                        <a:cxn ang="T133">
                          <a:pos x="T66" y="T67"/>
                        </a:cxn>
                        <a:cxn ang="T134">
                          <a:pos x="T68" y="T69"/>
                        </a:cxn>
                        <a:cxn ang="T135">
                          <a:pos x="T70" y="T71"/>
                        </a:cxn>
                        <a:cxn ang="T136">
                          <a:pos x="T72" y="T73"/>
                        </a:cxn>
                        <a:cxn ang="T137">
                          <a:pos x="T74" y="T75"/>
                        </a:cxn>
                        <a:cxn ang="T138">
                          <a:pos x="T76" y="T77"/>
                        </a:cxn>
                        <a:cxn ang="T139">
                          <a:pos x="T78" y="T79"/>
                        </a:cxn>
                        <a:cxn ang="T140">
                          <a:pos x="T80" y="T81"/>
                        </a:cxn>
                        <a:cxn ang="T141">
                          <a:pos x="T82" y="T83"/>
                        </a:cxn>
                        <a:cxn ang="T142">
                          <a:pos x="T84" y="T85"/>
                        </a:cxn>
                        <a:cxn ang="T143">
                          <a:pos x="T86" y="T87"/>
                        </a:cxn>
                        <a:cxn ang="T144">
                          <a:pos x="T88" y="T89"/>
                        </a:cxn>
                        <a:cxn ang="T145">
                          <a:pos x="T90" y="T91"/>
                        </a:cxn>
                        <a:cxn ang="T146">
                          <a:pos x="T92" y="T93"/>
                        </a:cxn>
                        <a:cxn ang="T147">
                          <a:pos x="T94" y="T95"/>
                        </a:cxn>
                        <a:cxn ang="T148">
                          <a:pos x="T96" y="T97"/>
                        </a:cxn>
                        <a:cxn ang="T149">
                          <a:pos x="T98" y="T99"/>
                        </a:cxn>
                      </a:cxnLst>
                      <a:rect l="T150" t="T151" r="T152" b="T153"/>
                      <a:pathLst>
                        <a:path w="30" h="33">
                          <a:moveTo>
                            <a:pt x="29" y="8"/>
                          </a:moveTo>
                          <a:lnTo>
                            <a:pt x="30" y="11"/>
                          </a:lnTo>
                          <a:lnTo>
                            <a:pt x="30" y="13"/>
                          </a:lnTo>
                          <a:lnTo>
                            <a:pt x="30" y="16"/>
                          </a:lnTo>
                          <a:lnTo>
                            <a:pt x="29" y="19"/>
                          </a:lnTo>
                          <a:lnTo>
                            <a:pt x="29" y="21"/>
                          </a:lnTo>
                          <a:lnTo>
                            <a:pt x="28" y="24"/>
                          </a:lnTo>
                          <a:lnTo>
                            <a:pt x="27" y="24"/>
                          </a:lnTo>
                          <a:lnTo>
                            <a:pt x="25" y="27"/>
                          </a:lnTo>
                          <a:lnTo>
                            <a:pt x="24" y="29"/>
                          </a:lnTo>
                          <a:lnTo>
                            <a:pt x="23" y="31"/>
                          </a:lnTo>
                          <a:lnTo>
                            <a:pt x="21" y="31"/>
                          </a:lnTo>
                          <a:lnTo>
                            <a:pt x="20" y="32"/>
                          </a:lnTo>
                          <a:lnTo>
                            <a:pt x="18" y="32"/>
                          </a:lnTo>
                          <a:lnTo>
                            <a:pt x="17" y="33"/>
                          </a:lnTo>
                          <a:lnTo>
                            <a:pt x="16" y="33"/>
                          </a:lnTo>
                          <a:lnTo>
                            <a:pt x="14" y="33"/>
                          </a:lnTo>
                          <a:lnTo>
                            <a:pt x="13" y="33"/>
                          </a:lnTo>
                          <a:lnTo>
                            <a:pt x="12" y="33"/>
                          </a:lnTo>
                          <a:lnTo>
                            <a:pt x="11" y="33"/>
                          </a:lnTo>
                          <a:lnTo>
                            <a:pt x="10" y="33"/>
                          </a:lnTo>
                          <a:lnTo>
                            <a:pt x="9" y="32"/>
                          </a:lnTo>
                          <a:lnTo>
                            <a:pt x="7" y="32"/>
                          </a:lnTo>
                          <a:lnTo>
                            <a:pt x="7" y="31"/>
                          </a:lnTo>
                          <a:lnTo>
                            <a:pt x="5" y="30"/>
                          </a:lnTo>
                          <a:lnTo>
                            <a:pt x="4" y="29"/>
                          </a:lnTo>
                          <a:lnTo>
                            <a:pt x="2" y="29"/>
                          </a:lnTo>
                          <a:lnTo>
                            <a:pt x="2" y="28"/>
                          </a:lnTo>
                          <a:lnTo>
                            <a:pt x="1" y="27"/>
                          </a:lnTo>
                          <a:lnTo>
                            <a:pt x="1" y="26"/>
                          </a:lnTo>
                          <a:lnTo>
                            <a:pt x="0" y="24"/>
                          </a:lnTo>
                          <a:lnTo>
                            <a:pt x="0" y="20"/>
                          </a:lnTo>
                          <a:lnTo>
                            <a:pt x="0" y="17"/>
                          </a:lnTo>
                          <a:lnTo>
                            <a:pt x="1" y="16"/>
                          </a:lnTo>
                          <a:lnTo>
                            <a:pt x="1" y="14"/>
                          </a:lnTo>
                          <a:lnTo>
                            <a:pt x="2" y="12"/>
                          </a:lnTo>
                          <a:lnTo>
                            <a:pt x="4" y="10"/>
                          </a:lnTo>
                          <a:lnTo>
                            <a:pt x="7" y="8"/>
                          </a:lnTo>
                          <a:lnTo>
                            <a:pt x="7" y="6"/>
                          </a:lnTo>
                          <a:lnTo>
                            <a:pt x="9" y="4"/>
                          </a:lnTo>
                          <a:lnTo>
                            <a:pt x="11" y="3"/>
                          </a:lnTo>
                          <a:lnTo>
                            <a:pt x="13" y="1"/>
                          </a:lnTo>
                          <a:lnTo>
                            <a:pt x="15" y="0"/>
                          </a:lnTo>
                          <a:lnTo>
                            <a:pt x="17" y="0"/>
                          </a:lnTo>
                          <a:lnTo>
                            <a:pt x="20" y="0"/>
                          </a:lnTo>
                          <a:lnTo>
                            <a:pt x="23" y="1"/>
                          </a:lnTo>
                          <a:lnTo>
                            <a:pt x="25" y="3"/>
                          </a:lnTo>
                          <a:lnTo>
                            <a:pt x="27" y="4"/>
                          </a:lnTo>
                          <a:lnTo>
                            <a:pt x="28" y="6"/>
                          </a:lnTo>
                          <a:lnTo>
                            <a:pt x="29" y="8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2384" name="Freeform 1054"/>
                  <p:cNvSpPr>
                    <a:spLocks/>
                  </p:cNvSpPr>
                  <p:nvPr/>
                </p:nvSpPr>
                <p:spPr bwMode="auto">
                  <a:xfrm>
                    <a:off x="2582" y="2625"/>
                    <a:ext cx="13" cy="11"/>
                  </a:xfrm>
                  <a:custGeom>
                    <a:avLst/>
                    <a:gdLst>
                      <a:gd name="T0" fmla="*/ 13 w 13"/>
                      <a:gd name="T1" fmla="*/ 11 h 11"/>
                      <a:gd name="T2" fmla="*/ 13 w 13"/>
                      <a:gd name="T3" fmla="*/ 11 h 11"/>
                      <a:gd name="T4" fmla="*/ 0 w 13"/>
                      <a:gd name="T5" fmla="*/ 1 h 11"/>
                      <a:gd name="T6" fmla="*/ 1 w 13"/>
                      <a:gd name="T7" fmla="*/ 0 h 11"/>
                      <a:gd name="T8" fmla="*/ 2 w 13"/>
                      <a:gd name="T9" fmla="*/ 1 h 11"/>
                      <a:gd name="T10" fmla="*/ 3 w 13"/>
                      <a:gd name="T11" fmla="*/ 2 h 11"/>
                      <a:gd name="T12" fmla="*/ 4 w 13"/>
                      <a:gd name="T13" fmla="*/ 3 h 11"/>
                      <a:gd name="T14" fmla="*/ 5 w 13"/>
                      <a:gd name="T15" fmla="*/ 4 h 11"/>
                      <a:gd name="T16" fmla="*/ 7 w 13"/>
                      <a:gd name="T17" fmla="*/ 5 h 11"/>
                      <a:gd name="T18" fmla="*/ 9 w 13"/>
                      <a:gd name="T19" fmla="*/ 6 h 11"/>
                      <a:gd name="T20" fmla="*/ 10 w 13"/>
                      <a:gd name="T21" fmla="*/ 7 h 11"/>
                      <a:gd name="T22" fmla="*/ 11 w 13"/>
                      <a:gd name="T23" fmla="*/ 9 h 11"/>
                      <a:gd name="T24" fmla="*/ 12 w 13"/>
                      <a:gd name="T25" fmla="*/ 10 h 11"/>
                      <a:gd name="T26" fmla="*/ 13 w 13"/>
                      <a:gd name="T27" fmla="*/ 11 h 1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3"/>
                      <a:gd name="T43" fmla="*/ 0 h 11"/>
                      <a:gd name="T44" fmla="*/ 13 w 13"/>
                      <a:gd name="T45" fmla="*/ 11 h 1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3" h="11">
                        <a:moveTo>
                          <a:pt x="13" y="11"/>
                        </a:moveTo>
                        <a:lnTo>
                          <a:pt x="13" y="11"/>
                        </a:lnTo>
                        <a:lnTo>
                          <a:pt x="0" y="1"/>
                        </a:lnTo>
                        <a:lnTo>
                          <a:pt x="1" y="0"/>
                        </a:lnTo>
                        <a:lnTo>
                          <a:pt x="2" y="1"/>
                        </a:lnTo>
                        <a:lnTo>
                          <a:pt x="3" y="2"/>
                        </a:lnTo>
                        <a:lnTo>
                          <a:pt x="4" y="3"/>
                        </a:lnTo>
                        <a:lnTo>
                          <a:pt x="5" y="4"/>
                        </a:lnTo>
                        <a:lnTo>
                          <a:pt x="7" y="5"/>
                        </a:lnTo>
                        <a:lnTo>
                          <a:pt x="9" y="6"/>
                        </a:lnTo>
                        <a:lnTo>
                          <a:pt x="10" y="7"/>
                        </a:lnTo>
                        <a:lnTo>
                          <a:pt x="11" y="9"/>
                        </a:lnTo>
                        <a:lnTo>
                          <a:pt x="12" y="10"/>
                        </a:lnTo>
                        <a:lnTo>
                          <a:pt x="13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2385" name="Group 1055"/>
                  <p:cNvGrpSpPr>
                    <a:grpSpLocks/>
                  </p:cNvGrpSpPr>
                  <p:nvPr/>
                </p:nvGrpSpPr>
                <p:grpSpPr bwMode="auto">
                  <a:xfrm>
                    <a:off x="2582" y="2625"/>
                    <a:ext cx="13" cy="11"/>
                    <a:chOff x="2582" y="2625"/>
                    <a:chExt cx="13" cy="11"/>
                  </a:xfrm>
                </p:grpSpPr>
                <p:sp>
                  <p:nvSpPr>
                    <p:cNvPr id="12402" name="Freeform 1056"/>
                    <p:cNvSpPr>
                      <a:spLocks/>
                    </p:cNvSpPr>
                    <p:nvPr/>
                  </p:nvSpPr>
                  <p:spPr bwMode="auto">
                    <a:xfrm>
                      <a:off x="2582" y="2625"/>
                      <a:ext cx="13" cy="11"/>
                    </a:xfrm>
                    <a:custGeom>
                      <a:avLst/>
                      <a:gdLst>
                        <a:gd name="T0" fmla="*/ 13 w 13"/>
                        <a:gd name="T1" fmla="*/ 11 h 11"/>
                        <a:gd name="T2" fmla="*/ 13 w 13"/>
                        <a:gd name="T3" fmla="*/ 11 h 11"/>
                        <a:gd name="T4" fmla="*/ 0 w 13"/>
                        <a:gd name="T5" fmla="*/ 1 h 11"/>
                        <a:gd name="T6" fmla="*/ 1 w 13"/>
                        <a:gd name="T7" fmla="*/ 0 h 11"/>
                        <a:gd name="T8" fmla="*/ 2 w 13"/>
                        <a:gd name="T9" fmla="*/ 1 h 11"/>
                        <a:gd name="T10" fmla="*/ 3 w 13"/>
                        <a:gd name="T11" fmla="*/ 2 h 11"/>
                        <a:gd name="T12" fmla="*/ 4 w 13"/>
                        <a:gd name="T13" fmla="*/ 3 h 11"/>
                        <a:gd name="T14" fmla="*/ 5 w 13"/>
                        <a:gd name="T15" fmla="*/ 4 h 11"/>
                        <a:gd name="T16" fmla="*/ 7 w 13"/>
                        <a:gd name="T17" fmla="*/ 5 h 11"/>
                        <a:gd name="T18" fmla="*/ 9 w 13"/>
                        <a:gd name="T19" fmla="*/ 6 h 11"/>
                        <a:gd name="T20" fmla="*/ 10 w 13"/>
                        <a:gd name="T21" fmla="*/ 7 h 11"/>
                        <a:gd name="T22" fmla="*/ 11 w 13"/>
                        <a:gd name="T23" fmla="*/ 9 h 11"/>
                        <a:gd name="T24" fmla="*/ 12 w 13"/>
                        <a:gd name="T25" fmla="*/ 10 h 11"/>
                        <a:gd name="T26" fmla="*/ 13 w 13"/>
                        <a:gd name="T27" fmla="*/ 11 h 11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3"/>
                        <a:gd name="T43" fmla="*/ 0 h 11"/>
                        <a:gd name="T44" fmla="*/ 13 w 13"/>
                        <a:gd name="T45" fmla="*/ 11 h 11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3" h="11">
                          <a:moveTo>
                            <a:pt x="13" y="11"/>
                          </a:moveTo>
                          <a:lnTo>
                            <a:pt x="13" y="11"/>
                          </a:lnTo>
                          <a:lnTo>
                            <a:pt x="0" y="1"/>
                          </a:lnTo>
                          <a:lnTo>
                            <a:pt x="1" y="0"/>
                          </a:lnTo>
                          <a:lnTo>
                            <a:pt x="2" y="1"/>
                          </a:lnTo>
                          <a:lnTo>
                            <a:pt x="3" y="2"/>
                          </a:lnTo>
                          <a:lnTo>
                            <a:pt x="4" y="3"/>
                          </a:lnTo>
                          <a:lnTo>
                            <a:pt x="5" y="4"/>
                          </a:lnTo>
                          <a:lnTo>
                            <a:pt x="7" y="5"/>
                          </a:lnTo>
                          <a:lnTo>
                            <a:pt x="9" y="6"/>
                          </a:lnTo>
                          <a:lnTo>
                            <a:pt x="10" y="7"/>
                          </a:lnTo>
                          <a:lnTo>
                            <a:pt x="11" y="9"/>
                          </a:lnTo>
                          <a:lnTo>
                            <a:pt x="12" y="10"/>
                          </a:lnTo>
                          <a:lnTo>
                            <a:pt x="13" y="1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403" name="Freeform 1057"/>
                    <p:cNvSpPr>
                      <a:spLocks/>
                    </p:cNvSpPr>
                    <p:nvPr/>
                  </p:nvSpPr>
                  <p:spPr bwMode="auto">
                    <a:xfrm>
                      <a:off x="2582" y="2625"/>
                      <a:ext cx="13" cy="11"/>
                    </a:xfrm>
                    <a:custGeom>
                      <a:avLst/>
                      <a:gdLst>
                        <a:gd name="T0" fmla="*/ 13 w 13"/>
                        <a:gd name="T1" fmla="*/ 11 h 11"/>
                        <a:gd name="T2" fmla="*/ 13 w 13"/>
                        <a:gd name="T3" fmla="*/ 11 h 11"/>
                        <a:gd name="T4" fmla="*/ 0 w 13"/>
                        <a:gd name="T5" fmla="*/ 1 h 11"/>
                        <a:gd name="T6" fmla="*/ 1 w 13"/>
                        <a:gd name="T7" fmla="*/ 0 h 11"/>
                        <a:gd name="T8" fmla="*/ 2 w 13"/>
                        <a:gd name="T9" fmla="*/ 1 h 11"/>
                        <a:gd name="T10" fmla="*/ 3 w 13"/>
                        <a:gd name="T11" fmla="*/ 2 h 11"/>
                        <a:gd name="T12" fmla="*/ 4 w 13"/>
                        <a:gd name="T13" fmla="*/ 3 h 11"/>
                        <a:gd name="T14" fmla="*/ 5 w 13"/>
                        <a:gd name="T15" fmla="*/ 4 h 11"/>
                        <a:gd name="T16" fmla="*/ 7 w 13"/>
                        <a:gd name="T17" fmla="*/ 5 h 11"/>
                        <a:gd name="T18" fmla="*/ 9 w 13"/>
                        <a:gd name="T19" fmla="*/ 6 h 11"/>
                        <a:gd name="T20" fmla="*/ 10 w 13"/>
                        <a:gd name="T21" fmla="*/ 7 h 11"/>
                        <a:gd name="T22" fmla="*/ 11 w 13"/>
                        <a:gd name="T23" fmla="*/ 9 h 11"/>
                        <a:gd name="T24" fmla="*/ 12 w 13"/>
                        <a:gd name="T25" fmla="*/ 10 h 11"/>
                        <a:gd name="T26" fmla="*/ 13 w 13"/>
                        <a:gd name="T27" fmla="*/ 11 h 11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3"/>
                        <a:gd name="T43" fmla="*/ 0 h 11"/>
                        <a:gd name="T44" fmla="*/ 13 w 13"/>
                        <a:gd name="T45" fmla="*/ 11 h 11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3" h="11">
                          <a:moveTo>
                            <a:pt x="13" y="11"/>
                          </a:moveTo>
                          <a:lnTo>
                            <a:pt x="13" y="11"/>
                          </a:lnTo>
                          <a:lnTo>
                            <a:pt x="0" y="1"/>
                          </a:lnTo>
                          <a:lnTo>
                            <a:pt x="1" y="0"/>
                          </a:lnTo>
                          <a:lnTo>
                            <a:pt x="2" y="1"/>
                          </a:lnTo>
                          <a:lnTo>
                            <a:pt x="3" y="2"/>
                          </a:lnTo>
                          <a:lnTo>
                            <a:pt x="4" y="3"/>
                          </a:lnTo>
                          <a:lnTo>
                            <a:pt x="5" y="4"/>
                          </a:lnTo>
                          <a:lnTo>
                            <a:pt x="7" y="5"/>
                          </a:lnTo>
                          <a:lnTo>
                            <a:pt x="9" y="6"/>
                          </a:lnTo>
                          <a:lnTo>
                            <a:pt x="10" y="7"/>
                          </a:lnTo>
                          <a:lnTo>
                            <a:pt x="11" y="9"/>
                          </a:lnTo>
                          <a:lnTo>
                            <a:pt x="12" y="10"/>
                          </a:lnTo>
                          <a:lnTo>
                            <a:pt x="13" y="11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2386" name="Freeform 1058"/>
                  <p:cNvSpPr>
                    <a:spLocks/>
                  </p:cNvSpPr>
                  <p:nvPr/>
                </p:nvSpPr>
                <p:spPr bwMode="auto">
                  <a:xfrm>
                    <a:off x="2592" y="2639"/>
                    <a:ext cx="29" cy="31"/>
                  </a:xfrm>
                  <a:custGeom>
                    <a:avLst/>
                    <a:gdLst>
                      <a:gd name="T0" fmla="*/ 25 w 29"/>
                      <a:gd name="T1" fmla="*/ 4 h 31"/>
                      <a:gd name="T2" fmla="*/ 26 w 29"/>
                      <a:gd name="T3" fmla="*/ 5 h 31"/>
                      <a:gd name="T4" fmla="*/ 28 w 29"/>
                      <a:gd name="T5" fmla="*/ 7 h 31"/>
                      <a:gd name="T6" fmla="*/ 28 w 29"/>
                      <a:gd name="T7" fmla="*/ 7 h 31"/>
                      <a:gd name="T8" fmla="*/ 29 w 29"/>
                      <a:gd name="T9" fmla="*/ 9 h 31"/>
                      <a:gd name="T10" fmla="*/ 29 w 29"/>
                      <a:gd name="T11" fmla="*/ 10 h 31"/>
                      <a:gd name="T12" fmla="*/ 29 w 29"/>
                      <a:gd name="T13" fmla="*/ 12 h 31"/>
                      <a:gd name="T14" fmla="*/ 29 w 29"/>
                      <a:gd name="T15" fmla="*/ 13 h 31"/>
                      <a:gd name="T16" fmla="*/ 29 w 29"/>
                      <a:gd name="T17" fmla="*/ 15 h 31"/>
                      <a:gd name="T18" fmla="*/ 29 w 29"/>
                      <a:gd name="T19" fmla="*/ 17 h 31"/>
                      <a:gd name="T20" fmla="*/ 29 w 29"/>
                      <a:gd name="T21" fmla="*/ 18 h 31"/>
                      <a:gd name="T22" fmla="*/ 28 w 29"/>
                      <a:gd name="T23" fmla="*/ 19 h 31"/>
                      <a:gd name="T24" fmla="*/ 26 w 29"/>
                      <a:gd name="T25" fmla="*/ 21 h 31"/>
                      <a:gd name="T26" fmla="*/ 25 w 29"/>
                      <a:gd name="T27" fmla="*/ 23 h 31"/>
                      <a:gd name="T28" fmla="*/ 24 w 29"/>
                      <a:gd name="T29" fmla="*/ 23 h 31"/>
                      <a:gd name="T30" fmla="*/ 23 w 29"/>
                      <a:gd name="T31" fmla="*/ 25 h 31"/>
                      <a:gd name="T32" fmla="*/ 23 w 29"/>
                      <a:gd name="T33" fmla="*/ 27 h 31"/>
                      <a:gd name="T34" fmla="*/ 21 w 29"/>
                      <a:gd name="T35" fmla="*/ 28 h 31"/>
                      <a:gd name="T36" fmla="*/ 19 w 29"/>
                      <a:gd name="T37" fmla="*/ 30 h 31"/>
                      <a:gd name="T38" fmla="*/ 19 w 29"/>
                      <a:gd name="T39" fmla="*/ 30 h 31"/>
                      <a:gd name="T40" fmla="*/ 16 w 29"/>
                      <a:gd name="T41" fmla="*/ 31 h 31"/>
                      <a:gd name="T42" fmla="*/ 15 w 29"/>
                      <a:gd name="T43" fmla="*/ 31 h 31"/>
                      <a:gd name="T44" fmla="*/ 14 w 29"/>
                      <a:gd name="T45" fmla="*/ 31 h 31"/>
                      <a:gd name="T46" fmla="*/ 13 w 29"/>
                      <a:gd name="T47" fmla="*/ 31 h 31"/>
                      <a:gd name="T48" fmla="*/ 11 w 29"/>
                      <a:gd name="T49" fmla="*/ 31 h 31"/>
                      <a:gd name="T50" fmla="*/ 9 w 29"/>
                      <a:gd name="T51" fmla="*/ 30 h 31"/>
                      <a:gd name="T52" fmla="*/ 8 w 29"/>
                      <a:gd name="T53" fmla="*/ 30 h 31"/>
                      <a:gd name="T54" fmla="*/ 7 w 29"/>
                      <a:gd name="T55" fmla="*/ 28 h 31"/>
                      <a:gd name="T56" fmla="*/ 6 w 29"/>
                      <a:gd name="T57" fmla="*/ 28 h 31"/>
                      <a:gd name="T58" fmla="*/ 6 w 29"/>
                      <a:gd name="T59" fmla="*/ 27 h 31"/>
                      <a:gd name="T60" fmla="*/ 3 w 29"/>
                      <a:gd name="T61" fmla="*/ 27 h 31"/>
                      <a:gd name="T62" fmla="*/ 3 w 29"/>
                      <a:gd name="T63" fmla="*/ 26 h 31"/>
                      <a:gd name="T64" fmla="*/ 2 w 29"/>
                      <a:gd name="T65" fmla="*/ 25 h 31"/>
                      <a:gd name="T66" fmla="*/ 2 w 29"/>
                      <a:gd name="T67" fmla="*/ 23 h 31"/>
                      <a:gd name="T68" fmla="*/ 1 w 29"/>
                      <a:gd name="T69" fmla="*/ 23 h 31"/>
                      <a:gd name="T70" fmla="*/ 1 w 29"/>
                      <a:gd name="T71" fmla="*/ 21 h 31"/>
                      <a:gd name="T72" fmla="*/ 0 w 29"/>
                      <a:gd name="T73" fmla="*/ 20 h 31"/>
                      <a:gd name="T74" fmla="*/ 0 w 29"/>
                      <a:gd name="T75" fmla="*/ 19 h 31"/>
                      <a:gd name="T76" fmla="*/ 0 w 29"/>
                      <a:gd name="T77" fmla="*/ 18 h 31"/>
                      <a:gd name="T78" fmla="*/ 0 w 29"/>
                      <a:gd name="T79" fmla="*/ 17 h 31"/>
                      <a:gd name="T80" fmla="*/ 0 w 29"/>
                      <a:gd name="T81" fmla="*/ 16 h 31"/>
                      <a:gd name="T82" fmla="*/ 1 w 29"/>
                      <a:gd name="T83" fmla="*/ 13 h 31"/>
                      <a:gd name="T84" fmla="*/ 1 w 29"/>
                      <a:gd name="T85" fmla="*/ 11 h 31"/>
                      <a:gd name="T86" fmla="*/ 2 w 29"/>
                      <a:gd name="T87" fmla="*/ 9 h 31"/>
                      <a:gd name="T88" fmla="*/ 3 w 29"/>
                      <a:gd name="T89" fmla="*/ 7 h 31"/>
                      <a:gd name="T90" fmla="*/ 4 w 29"/>
                      <a:gd name="T91" fmla="*/ 5 h 31"/>
                      <a:gd name="T92" fmla="*/ 6 w 29"/>
                      <a:gd name="T93" fmla="*/ 4 h 31"/>
                      <a:gd name="T94" fmla="*/ 7 w 29"/>
                      <a:gd name="T95" fmla="*/ 2 h 31"/>
                      <a:gd name="T96" fmla="*/ 9 w 29"/>
                      <a:gd name="T97" fmla="*/ 2 h 31"/>
                      <a:gd name="T98" fmla="*/ 11 w 29"/>
                      <a:gd name="T99" fmla="*/ 1 h 31"/>
                      <a:gd name="T100" fmla="*/ 14 w 29"/>
                      <a:gd name="T101" fmla="*/ 0 h 31"/>
                      <a:gd name="T102" fmla="*/ 15 w 29"/>
                      <a:gd name="T103" fmla="*/ 0 h 31"/>
                      <a:gd name="T104" fmla="*/ 16 w 29"/>
                      <a:gd name="T105" fmla="*/ 0 h 31"/>
                      <a:gd name="T106" fmla="*/ 17 w 29"/>
                      <a:gd name="T107" fmla="*/ 0 h 31"/>
                      <a:gd name="T108" fmla="*/ 19 w 29"/>
                      <a:gd name="T109" fmla="*/ 0 h 31"/>
                      <a:gd name="T110" fmla="*/ 19 w 29"/>
                      <a:gd name="T111" fmla="*/ 1 h 31"/>
                      <a:gd name="T112" fmla="*/ 22 w 29"/>
                      <a:gd name="T113" fmla="*/ 1 h 31"/>
                      <a:gd name="T114" fmla="*/ 23 w 29"/>
                      <a:gd name="T115" fmla="*/ 2 h 31"/>
                      <a:gd name="T116" fmla="*/ 24 w 29"/>
                      <a:gd name="T117" fmla="*/ 2 h 31"/>
                      <a:gd name="T118" fmla="*/ 25 w 29"/>
                      <a:gd name="T119" fmla="*/ 3 h 31"/>
                      <a:gd name="T120" fmla="*/ 25 w 29"/>
                      <a:gd name="T121" fmla="*/ 4 h 31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60000 65536"/>
                      <a:gd name="T175" fmla="*/ 0 60000 65536"/>
                      <a:gd name="T176" fmla="*/ 0 60000 65536"/>
                      <a:gd name="T177" fmla="*/ 0 60000 65536"/>
                      <a:gd name="T178" fmla="*/ 0 60000 65536"/>
                      <a:gd name="T179" fmla="*/ 0 60000 65536"/>
                      <a:gd name="T180" fmla="*/ 0 60000 65536"/>
                      <a:gd name="T181" fmla="*/ 0 60000 65536"/>
                      <a:gd name="T182" fmla="*/ 0 60000 65536"/>
                      <a:gd name="T183" fmla="*/ 0 w 29"/>
                      <a:gd name="T184" fmla="*/ 0 h 31"/>
                      <a:gd name="T185" fmla="*/ 29 w 29"/>
                      <a:gd name="T186" fmla="*/ 31 h 31"/>
                    </a:gdLst>
                    <a:ahLst/>
                    <a:cxnLst>
                      <a:cxn ang="T122">
                        <a:pos x="T0" y="T1"/>
                      </a:cxn>
                      <a:cxn ang="T123">
                        <a:pos x="T2" y="T3"/>
                      </a:cxn>
                      <a:cxn ang="T124">
                        <a:pos x="T4" y="T5"/>
                      </a:cxn>
                      <a:cxn ang="T125">
                        <a:pos x="T6" y="T7"/>
                      </a:cxn>
                      <a:cxn ang="T126">
                        <a:pos x="T8" y="T9"/>
                      </a:cxn>
                      <a:cxn ang="T127">
                        <a:pos x="T10" y="T11"/>
                      </a:cxn>
                      <a:cxn ang="T128">
                        <a:pos x="T12" y="T13"/>
                      </a:cxn>
                      <a:cxn ang="T129">
                        <a:pos x="T14" y="T15"/>
                      </a:cxn>
                      <a:cxn ang="T130">
                        <a:pos x="T16" y="T17"/>
                      </a:cxn>
                      <a:cxn ang="T131">
                        <a:pos x="T18" y="T19"/>
                      </a:cxn>
                      <a:cxn ang="T132">
                        <a:pos x="T20" y="T21"/>
                      </a:cxn>
                      <a:cxn ang="T133">
                        <a:pos x="T22" y="T23"/>
                      </a:cxn>
                      <a:cxn ang="T134">
                        <a:pos x="T24" y="T25"/>
                      </a:cxn>
                      <a:cxn ang="T135">
                        <a:pos x="T26" y="T27"/>
                      </a:cxn>
                      <a:cxn ang="T136">
                        <a:pos x="T28" y="T29"/>
                      </a:cxn>
                      <a:cxn ang="T137">
                        <a:pos x="T30" y="T31"/>
                      </a:cxn>
                      <a:cxn ang="T138">
                        <a:pos x="T32" y="T33"/>
                      </a:cxn>
                      <a:cxn ang="T139">
                        <a:pos x="T34" y="T35"/>
                      </a:cxn>
                      <a:cxn ang="T140">
                        <a:pos x="T36" y="T37"/>
                      </a:cxn>
                      <a:cxn ang="T141">
                        <a:pos x="T38" y="T39"/>
                      </a:cxn>
                      <a:cxn ang="T142">
                        <a:pos x="T40" y="T41"/>
                      </a:cxn>
                      <a:cxn ang="T143">
                        <a:pos x="T42" y="T43"/>
                      </a:cxn>
                      <a:cxn ang="T144">
                        <a:pos x="T44" y="T45"/>
                      </a:cxn>
                      <a:cxn ang="T145">
                        <a:pos x="T46" y="T47"/>
                      </a:cxn>
                      <a:cxn ang="T146">
                        <a:pos x="T48" y="T49"/>
                      </a:cxn>
                      <a:cxn ang="T147">
                        <a:pos x="T50" y="T51"/>
                      </a:cxn>
                      <a:cxn ang="T148">
                        <a:pos x="T52" y="T53"/>
                      </a:cxn>
                      <a:cxn ang="T149">
                        <a:pos x="T54" y="T55"/>
                      </a:cxn>
                      <a:cxn ang="T150">
                        <a:pos x="T56" y="T57"/>
                      </a:cxn>
                      <a:cxn ang="T151">
                        <a:pos x="T58" y="T59"/>
                      </a:cxn>
                      <a:cxn ang="T152">
                        <a:pos x="T60" y="T61"/>
                      </a:cxn>
                      <a:cxn ang="T153">
                        <a:pos x="T62" y="T63"/>
                      </a:cxn>
                      <a:cxn ang="T154">
                        <a:pos x="T64" y="T65"/>
                      </a:cxn>
                      <a:cxn ang="T155">
                        <a:pos x="T66" y="T67"/>
                      </a:cxn>
                      <a:cxn ang="T156">
                        <a:pos x="T68" y="T69"/>
                      </a:cxn>
                      <a:cxn ang="T157">
                        <a:pos x="T70" y="T71"/>
                      </a:cxn>
                      <a:cxn ang="T158">
                        <a:pos x="T72" y="T73"/>
                      </a:cxn>
                      <a:cxn ang="T159">
                        <a:pos x="T74" y="T75"/>
                      </a:cxn>
                      <a:cxn ang="T160">
                        <a:pos x="T76" y="T77"/>
                      </a:cxn>
                      <a:cxn ang="T161">
                        <a:pos x="T78" y="T79"/>
                      </a:cxn>
                      <a:cxn ang="T162">
                        <a:pos x="T80" y="T81"/>
                      </a:cxn>
                      <a:cxn ang="T163">
                        <a:pos x="T82" y="T83"/>
                      </a:cxn>
                      <a:cxn ang="T164">
                        <a:pos x="T84" y="T85"/>
                      </a:cxn>
                      <a:cxn ang="T165">
                        <a:pos x="T86" y="T87"/>
                      </a:cxn>
                      <a:cxn ang="T166">
                        <a:pos x="T88" y="T89"/>
                      </a:cxn>
                      <a:cxn ang="T167">
                        <a:pos x="T90" y="T91"/>
                      </a:cxn>
                      <a:cxn ang="T168">
                        <a:pos x="T92" y="T93"/>
                      </a:cxn>
                      <a:cxn ang="T169">
                        <a:pos x="T94" y="T95"/>
                      </a:cxn>
                      <a:cxn ang="T170">
                        <a:pos x="T96" y="T97"/>
                      </a:cxn>
                      <a:cxn ang="T171">
                        <a:pos x="T98" y="T99"/>
                      </a:cxn>
                      <a:cxn ang="T172">
                        <a:pos x="T100" y="T101"/>
                      </a:cxn>
                      <a:cxn ang="T173">
                        <a:pos x="T102" y="T103"/>
                      </a:cxn>
                      <a:cxn ang="T174">
                        <a:pos x="T104" y="T105"/>
                      </a:cxn>
                      <a:cxn ang="T175">
                        <a:pos x="T106" y="T107"/>
                      </a:cxn>
                      <a:cxn ang="T176">
                        <a:pos x="T108" y="T109"/>
                      </a:cxn>
                      <a:cxn ang="T177">
                        <a:pos x="T110" y="T111"/>
                      </a:cxn>
                      <a:cxn ang="T178">
                        <a:pos x="T112" y="T113"/>
                      </a:cxn>
                      <a:cxn ang="T179">
                        <a:pos x="T114" y="T115"/>
                      </a:cxn>
                      <a:cxn ang="T180">
                        <a:pos x="T116" y="T117"/>
                      </a:cxn>
                      <a:cxn ang="T181">
                        <a:pos x="T118" y="T119"/>
                      </a:cxn>
                      <a:cxn ang="T182">
                        <a:pos x="T120" y="T121"/>
                      </a:cxn>
                    </a:cxnLst>
                    <a:rect l="T183" t="T184" r="T185" b="T186"/>
                    <a:pathLst>
                      <a:path w="29" h="31">
                        <a:moveTo>
                          <a:pt x="25" y="4"/>
                        </a:moveTo>
                        <a:lnTo>
                          <a:pt x="26" y="5"/>
                        </a:lnTo>
                        <a:lnTo>
                          <a:pt x="28" y="7"/>
                        </a:lnTo>
                        <a:lnTo>
                          <a:pt x="29" y="9"/>
                        </a:lnTo>
                        <a:lnTo>
                          <a:pt x="29" y="10"/>
                        </a:lnTo>
                        <a:lnTo>
                          <a:pt x="29" y="12"/>
                        </a:lnTo>
                        <a:lnTo>
                          <a:pt x="29" y="13"/>
                        </a:lnTo>
                        <a:lnTo>
                          <a:pt x="29" y="15"/>
                        </a:lnTo>
                        <a:lnTo>
                          <a:pt x="29" y="17"/>
                        </a:lnTo>
                        <a:lnTo>
                          <a:pt x="29" y="18"/>
                        </a:lnTo>
                        <a:lnTo>
                          <a:pt x="28" y="19"/>
                        </a:lnTo>
                        <a:lnTo>
                          <a:pt x="26" y="21"/>
                        </a:lnTo>
                        <a:lnTo>
                          <a:pt x="25" y="23"/>
                        </a:lnTo>
                        <a:lnTo>
                          <a:pt x="24" y="23"/>
                        </a:lnTo>
                        <a:lnTo>
                          <a:pt x="23" y="25"/>
                        </a:lnTo>
                        <a:lnTo>
                          <a:pt x="23" y="27"/>
                        </a:lnTo>
                        <a:lnTo>
                          <a:pt x="21" y="28"/>
                        </a:lnTo>
                        <a:lnTo>
                          <a:pt x="19" y="30"/>
                        </a:lnTo>
                        <a:lnTo>
                          <a:pt x="16" y="31"/>
                        </a:lnTo>
                        <a:lnTo>
                          <a:pt x="15" y="31"/>
                        </a:lnTo>
                        <a:lnTo>
                          <a:pt x="14" y="31"/>
                        </a:lnTo>
                        <a:lnTo>
                          <a:pt x="13" y="31"/>
                        </a:lnTo>
                        <a:lnTo>
                          <a:pt x="11" y="31"/>
                        </a:lnTo>
                        <a:lnTo>
                          <a:pt x="9" y="30"/>
                        </a:lnTo>
                        <a:lnTo>
                          <a:pt x="8" y="30"/>
                        </a:lnTo>
                        <a:lnTo>
                          <a:pt x="7" y="28"/>
                        </a:lnTo>
                        <a:lnTo>
                          <a:pt x="6" y="28"/>
                        </a:lnTo>
                        <a:lnTo>
                          <a:pt x="6" y="27"/>
                        </a:lnTo>
                        <a:lnTo>
                          <a:pt x="3" y="27"/>
                        </a:lnTo>
                        <a:lnTo>
                          <a:pt x="3" y="26"/>
                        </a:lnTo>
                        <a:lnTo>
                          <a:pt x="2" y="25"/>
                        </a:lnTo>
                        <a:lnTo>
                          <a:pt x="2" y="23"/>
                        </a:lnTo>
                        <a:lnTo>
                          <a:pt x="1" y="23"/>
                        </a:lnTo>
                        <a:lnTo>
                          <a:pt x="1" y="21"/>
                        </a:lnTo>
                        <a:lnTo>
                          <a:pt x="0" y="20"/>
                        </a:lnTo>
                        <a:lnTo>
                          <a:pt x="0" y="19"/>
                        </a:lnTo>
                        <a:lnTo>
                          <a:pt x="0" y="18"/>
                        </a:lnTo>
                        <a:lnTo>
                          <a:pt x="0" y="17"/>
                        </a:lnTo>
                        <a:lnTo>
                          <a:pt x="0" y="16"/>
                        </a:lnTo>
                        <a:lnTo>
                          <a:pt x="1" y="13"/>
                        </a:lnTo>
                        <a:lnTo>
                          <a:pt x="1" y="11"/>
                        </a:lnTo>
                        <a:lnTo>
                          <a:pt x="2" y="9"/>
                        </a:lnTo>
                        <a:lnTo>
                          <a:pt x="3" y="7"/>
                        </a:lnTo>
                        <a:lnTo>
                          <a:pt x="4" y="5"/>
                        </a:lnTo>
                        <a:lnTo>
                          <a:pt x="6" y="4"/>
                        </a:lnTo>
                        <a:lnTo>
                          <a:pt x="7" y="2"/>
                        </a:lnTo>
                        <a:lnTo>
                          <a:pt x="9" y="2"/>
                        </a:lnTo>
                        <a:lnTo>
                          <a:pt x="11" y="1"/>
                        </a:lnTo>
                        <a:lnTo>
                          <a:pt x="14" y="0"/>
                        </a:lnTo>
                        <a:lnTo>
                          <a:pt x="15" y="0"/>
                        </a:lnTo>
                        <a:lnTo>
                          <a:pt x="16" y="0"/>
                        </a:lnTo>
                        <a:lnTo>
                          <a:pt x="17" y="0"/>
                        </a:lnTo>
                        <a:lnTo>
                          <a:pt x="19" y="0"/>
                        </a:lnTo>
                        <a:lnTo>
                          <a:pt x="19" y="1"/>
                        </a:lnTo>
                        <a:lnTo>
                          <a:pt x="22" y="1"/>
                        </a:lnTo>
                        <a:lnTo>
                          <a:pt x="23" y="2"/>
                        </a:lnTo>
                        <a:lnTo>
                          <a:pt x="24" y="2"/>
                        </a:lnTo>
                        <a:lnTo>
                          <a:pt x="25" y="3"/>
                        </a:lnTo>
                        <a:lnTo>
                          <a:pt x="25" y="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2387" name="Group 1059"/>
                  <p:cNvGrpSpPr>
                    <a:grpSpLocks/>
                  </p:cNvGrpSpPr>
                  <p:nvPr/>
                </p:nvGrpSpPr>
                <p:grpSpPr bwMode="auto">
                  <a:xfrm>
                    <a:off x="2592" y="2639"/>
                    <a:ext cx="29" cy="31"/>
                    <a:chOff x="2592" y="2639"/>
                    <a:chExt cx="29" cy="31"/>
                  </a:xfrm>
                </p:grpSpPr>
                <p:sp>
                  <p:nvSpPr>
                    <p:cNvPr id="12400" name="Freeform 1060"/>
                    <p:cNvSpPr>
                      <a:spLocks/>
                    </p:cNvSpPr>
                    <p:nvPr/>
                  </p:nvSpPr>
                  <p:spPr bwMode="auto">
                    <a:xfrm>
                      <a:off x="2592" y="2639"/>
                      <a:ext cx="29" cy="31"/>
                    </a:xfrm>
                    <a:custGeom>
                      <a:avLst/>
                      <a:gdLst>
                        <a:gd name="T0" fmla="*/ 25 w 29"/>
                        <a:gd name="T1" fmla="*/ 4 h 31"/>
                        <a:gd name="T2" fmla="*/ 26 w 29"/>
                        <a:gd name="T3" fmla="*/ 5 h 31"/>
                        <a:gd name="T4" fmla="*/ 28 w 29"/>
                        <a:gd name="T5" fmla="*/ 7 h 31"/>
                        <a:gd name="T6" fmla="*/ 28 w 29"/>
                        <a:gd name="T7" fmla="*/ 7 h 31"/>
                        <a:gd name="T8" fmla="*/ 29 w 29"/>
                        <a:gd name="T9" fmla="*/ 9 h 31"/>
                        <a:gd name="T10" fmla="*/ 29 w 29"/>
                        <a:gd name="T11" fmla="*/ 10 h 31"/>
                        <a:gd name="T12" fmla="*/ 29 w 29"/>
                        <a:gd name="T13" fmla="*/ 12 h 31"/>
                        <a:gd name="T14" fmla="*/ 29 w 29"/>
                        <a:gd name="T15" fmla="*/ 13 h 31"/>
                        <a:gd name="T16" fmla="*/ 29 w 29"/>
                        <a:gd name="T17" fmla="*/ 15 h 31"/>
                        <a:gd name="T18" fmla="*/ 29 w 29"/>
                        <a:gd name="T19" fmla="*/ 17 h 31"/>
                        <a:gd name="T20" fmla="*/ 29 w 29"/>
                        <a:gd name="T21" fmla="*/ 18 h 31"/>
                        <a:gd name="T22" fmla="*/ 28 w 29"/>
                        <a:gd name="T23" fmla="*/ 19 h 31"/>
                        <a:gd name="T24" fmla="*/ 26 w 29"/>
                        <a:gd name="T25" fmla="*/ 21 h 31"/>
                        <a:gd name="T26" fmla="*/ 25 w 29"/>
                        <a:gd name="T27" fmla="*/ 23 h 31"/>
                        <a:gd name="T28" fmla="*/ 24 w 29"/>
                        <a:gd name="T29" fmla="*/ 23 h 31"/>
                        <a:gd name="T30" fmla="*/ 23 w 29"/>
                        <a:gd name="T31" fmla="*/ 25 h 31"/>
                        <a:gd name="T32" fmla="*/ 23 w 29"/>
                        <a:gd name="T33" fmla="*/ 27 h 31"/>
                        <a:gd name="T34" fmla="*/ 21 w 29"/>
                        <a:gd name="T35" fmla="*/ 28 h 31"/>
                        <a:gd name="T36" fmla="*/ 19 w 29"/>
                        <a:gd name="T37" fmla="*/ 30 h 31"/>
                        <a:gd name="T38" fmla="*/ 19 w 29"/>
                        <a:gd name="T39" fmla="*/ 30 h 31"/>
                        <a:gd name="T40" fmla="*/ 16 w 29"/>
                        <a:gd name="T41" fmla="*/ 31 h 31"/>
                        <a:gd name="T42" fmla="*/ 15 w 29"/>
                        <a:gd name="T43" fmla="*/ 31 h 31"/>
                        <a:gd name="T44" fmla="*/ 14 w 29"/>
                        <a:gd name="T45" fmla="*/ 31 h 31"/>
                        <a:gd name="T46" fmla="*/ 13 w 29"/>
                        <a:gd name="T47" fmla="*/ 31 h 31"/>
                        <a:gd name="T48" fmla="*/ 11 w 29"/>
                        <a:gd name="T49" fmla="*/ 31 h 31"/>
                        <a:gd name="T50" fmla="*/ 9 w 29"/>
                        <a:gd name="T51" fmla="*/ 30 h 31"/>
                        <a:gd name="T52" fmla="*/ 8 w 29"/>
                        <a:gd name="T53" fmla="*/ 30 h 31"/>
                        <a:gd name="T54" fmla="*/ 7 w 29"/>
                        <a:gd name="T55" fmla="*/ 28 h 31"/>
                        <a:gd name="T56" fmla="*/ 6 w 29"/>
                        <a:gd name="T57" fmla="*/ 28 h 31"/>
                        <a:gd name="T58" fmla="*/ 6 w 29"/>
                        <a:gd name="T59" fmla="*/ 27 h 31"/>
                        <a:gd name="T60" fmla="*/ 3 w 29"/>
                        <a:gd name="T61" fmla="*/ 27 h 31"/>
                        <a:gd name="T62" fmla="*/ 3 w 29"/>
                        <a:gd name="T63" fmla="*/ 26 h 31"/>
                        <a:gd name="T64" fmla="*/ 2 w 29"/>
                        <a:gd name="T65" fmla="*/ 25 h 31"/>
                        <a:gd name="T66" fmla="*/ 2 w 29"/>
                        <a:gd name="T67" fmla="*/ 23 h 31"/>
                        <a:gd name="T68" fmla="*/ 1 w 29"/>
                        <a:gd name="T69" fmla="*/ 23 h 31"/>
                        <a:gd name="T70" fmla="*/ 1 w 29"/>
                        <a:gd name="T71" fmla="*/ 21 h 31"/>
                        <a:gd name="T72" fmla="*/ 0 w 29"/>
                        <a:gd name="T73" fmla="*/ 20 h 31"/>
                        <a:gd name="T74" fmla="*/ 0 w 29"/>
                        <a:gd name="T75" fmla="*/ 19 h 31"/>
                        <a:gd name="T76" fmla="*/ 0 w 29"/>
                        <a:gd name="T77" fmla="*/ 18 h 31"/>
                        <a:gd name="T78" fmla="*/ 0 w 29"/>
                        <a:gd name="T79" fmla="*/ 17 h 31"/>
                        <a:gd name="T80" fmla="*/ 0 w 29"/>
                        <a:gd name="T81" fmla="*/ 16 h 31"/>
                        <a:gd name="T82" fmla="*/ 1 w 29"/>
                        <a:gd name="T83" fmla="*/ 13 h 31"/>
                        <a:gd name="T84" fmla="*/ 1 w 29"/>
                        <a:gd name="T85" fmla="*/ 11 h 31"/>
                        <a:gd name="T86" fmla="*/ 2 w 29"/>
                        <a:gd name="T87" fmla="*/ 9 h 31"/>
                        <a:gd name="T88" fmla="*/ 3 w 29"/>
                        <a:gd name="T89" fmla="*/ 7 h 31"/>
                        <a:gd name="T90" fmla="*/ 4 w 29"/>
                        <a:gd name="T91" fmla="*/ 5 h 31"/>
                        <a:gd name="T92" fmla="*/ 6 w 29"/>
                        <a:gd name="T93" fmla="*/ 4 h 31"/>
                        <a:gd name="T94" fmla="*/ 7 w 29"/>
                        <a:gd name="T95" fmla="*/ 2 h 31"/>
                        <a:gd name="T96" fmla="*/ 9 w 29"/>
                        <a:gd name="T97" fmla="*/ 2 h 31"/>
                        <a:gd name="T98" fmla="*/ 11 w 29"/>
                        <a:gd name="T99" fmla="*/ 1 h 31"/>
                        <a:gd name="T100" fmla="*/ 14 w 29"/>
                        <a:gd name="T101" fmla="*/ 0 h 31"/>
                        <a:gd name="T102" fmla="*/ 15 w 29"/>
                        <a:gd name="T103" fmla="*/ 0 h 31"/>
                        <a:gd name="T104" fmla="*/ 16 w 29"/>
                        <a:gd name="T105" fmla="*/ 0 h 31"/>
                        <a:gd name="T106" fmla="*/ 17 w 29"/>
                        <a:gd name="T107" fmla="*/ 0 h 31"/>
                        <a:gd name="T108" fmla="*/ 19 w 29"/>
                        <a:gd name="T109" fmla="*/ 0 h 31"/>
                        <a:gd name="T110" fmla="*/ 19 w 29"/>
                        <a:gd name="T111" fmla="*/ 1 h 31"/>
                        <a:gd name="T112" fmla="*/ 22 w 29"/>
                        <a:gd name="T113" fmla="*/ 1 h 31"/>
                        <a:gd name="T114" fmla="*/ 23 w 29"/>
                        <a:gd name="T115" fmla="*/ 2 h 31"/>
                        <a:gd name="T116" fmla="*/ 24 w 29"/>
                        <a:gd name="T117" fmla="*/ 2 h 31"/>
                        <a:gd name="T118" fmla="*/ 25 w 29"/>
                        <a:gd name="T119" fmla="*/ 3 h 31"/>
                        <a:gd name="T120" fmla="*/ 25 w 29"/>
                        <a:gd name="T121" fmla="*/ 4 h 31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29"/>
                        <a:gd name="T184" fmla="*/ 0 h 31"/>
                        <a:gd name="T185" fmla="*/ 29 w 29"/>
                        <a:gd name="T186" fmla="*/ 31 h 31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29" h="31">
                          <a:moveTo>
                            <a:pt x="25" y="4"/>
                          </a:moveTo>
                          <a:lnTo>
                            <a:pt x="26" y="5"/>
                          </a:lnTo>
                          <a:lnTo>
                            <a:pt x="28" y="7"/>
                          </a:lnTo>
                          <a:lnTo>
                            <a:pt x="29" y="9"/>
                          </a:lnTo>
                          <a:lnTo>
                            <a:pt x="29" y="10"/>
                          </a:lnTo>
                          <a:lnTo>
                            <a:pt x="29" y="12"/>
                          </a:lnTo>
                          <a:lnTo>
                            <a:pt x="29" y="13"/>
                          </a:lnTo>
                          <a:lnTo>
                            <a:pt x="29" y="15"/>
                          </a:lnTo>
                          <a:lnTo>
                            <a:pt x="29" y="17"/>
                          </a:lnTo>
                          <a:lnTo>
                            <a:pt x="29" y="18"/>
                          </a:lnTo>
                          <a:lnTo>
                            <a:pt x="28" y="19"/>
                          </a:lnTo>
                          <a:lnTo>
                            <a:pt x="26" y="21"/>
                          </a:lnTo>
                          <a:lnTo>
                            <a:pt x="25" y="23"/>
                          </a:lnTo>
                          <a:lnTo>
                            <a:pt x="24" y="23"/>
                          </a:lnTo>
                          <a:lnTo>
                            <a:pt x="23" y="25"/>
                          </a:lnTo>
                          <a:lnTo>
                            <a:pt x="23" y="27"/>
                          </a:lnTo>
                          <a:lnTo>
                            <a:pt x="21" y="28"/>
                          </a:lnTo>
                          <a:lnTo>
                            <a:pt x="19" y="30"/>
                          </a:lnTo>
                          <a:lnTo>
                            <a:pt x="16" y="31"/>
                          </a:lnTo>
                          <a:lnTo>
                            <a:pt x="15" y="31"/>
                          </a:lnTo>
                          <a:lnTo>
                            <a:pt x="14" y="31"/>
                          </a:lnTo>
                          <a:lnTo>
                            <a:pt x="13" y="31"/>
                          </a:lnTo>
                          <a:lnTo>
                            <a:pt x="11" y="31"/>
                          </a:lnTo>
                          <a:lnTo>
                            <a:pt x="9" y="30"/>
                          </a:lnTo>
                          <a:lnTo>
                            <a:pt x="8" y="30"/>
                          </a:lnTo>
                          <a:lnTo>
                            <a:pt x="7" y="28"/>
                          </a:lnTo>
                          <a:lnTo>
                            <a:pt x="6" y="28"/>
                          </a:lnTo>
                          <a:lnTo>
                            <a:pt x="6" y="27"/>
                          </a:lnTo>
                          <a:lnTo>
                            <a:pt x="3" y="27"/>
                          </a:lnTo>
                          <a:lnTo>
                            <a:pt x="3" y="26"/>
                          </a:lnTo>
                          <a:lnTo>
                            <a:pt x="2" y="25"/>
                          </a:lnTo>
                          <a:lnTo>
                            <a:pt x="2" y="23"/>
                          </a:lnTo>
                          <a:lnTo>
                            <a:pt x="1" y="23"/>
                          </a:lnTo>
                          <a:lnTo>
                            <a:pt x="1" y="21"/>
                          </a:lnTo>
                          <a:lnTo>
                            <a:pt x="0" y="20"/>
                          </a:lnTo>
                          <a:lnTo>
                            <a:pt x="0" y="19"/>
                          </a:lnTo>
                          <a:lnTo>
                            <a:pt x="0" y="18"/>
                          </a:lnTo>
                          <a:lnTo>
                            <a:pt x="0" y="17"/>
                          </a:lnTo>
                          <a:lnTo>
                            <a:pt x="0" y="16"/>
                          </a:lnTo>
                          <a:lnTo>
                            <a:pt x="1" y="13"/>
                          </a:lnTo>
                          <a:lnTo>
                            <a:pt x="1" y="11"/>
                          </a:lnTo>
                          <a:lnTo>
                            <a:pt x="2" y="9"/>
                          </a:lnTo>
                          <a:lnTo>
                            <a:pt x="3" y="7"/>
                          </a:lnTo>
                          <a:lnTo>
                            <a:pt x="4" y="5"/>
                          </a:lnTo>
                          <a:lnTo>
                            <a:pt x="6" y="4"/>
                          </a:lnTo>
                          <a:lnTo>
                            <a:pt x="7" y="2"/>
                          </a:lnTo>
                          <a:lnTo>
                            <a:pt x="9" y="2"/>
                          </a:lnTo>
                          <a:lnTo>
                            <a:pt x="11" y="1"/>
                          </a:lnTo>
                          <a:lnTo>
                            <a:pt x="14" y="0"/>
                          </a:lnTo>
                          <a:lnTo>
                            <a:pt x="15" y="0"/>
                          </a:lnTo>
                          <a:lnTo>
                            <a:pt x="16" y="0"/>
                          </a:lnTo>
                          <a:lnTo>
                            <a:pt x="17" y="0"/>
                          </a:lnTo>
                          <a:lnTo>
                            <a:pt x="19" y="0"/>
                          </a:lnTo>
                          <a:lnTo>
                            <a:pt x="19" y="1"/>
                          </a:lnTo>
                          <a:lnTo>
                            <a:pt x="22" y="1"/>
                          </a:lnTo>
                          <a:lnTo>
                            <a:pt x="23" y="2"/>
                          </a:lnTo>
                          <a:lnTo>
                            <a:pt x="24" y="2"/>
                          </a:lnTo>
                          <a:lnTo>
                            <a:pt x="25" y="3"/>
                          </a:lnTo>
                          <a:lnTo>
                            <a:pt x="25" y="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401" name="Freeform 1061"/>
                    <p:cNvSpPr>
                      <a:spLocks/>
                    </p:cNvSpPr>
                    <p:nvPr/>
                  </p:nvSpPr>
                  <p:spPr bwMode="auto">
                    <a:xfrm>
                      <a:off x="2592" y="2639"/>
                      <a:ext cx="29" cy="31"/>
                    </a:xfrm>
                    <a:custGeom>
                      <a:avLst/>
                      <a:gdLst>
                        <a:gd name="T0" fmla="*/ 25 w 29"/>
                        <a:gd name="T1" fmla="*/ 4 h 31"/>
                        <a:gd name="T2" fmla="*/ 26 w 29"/>
                        <a:gd name="T3" fmla="*/ 5 h 31"/>
                        <a:gd name="T4" fmla="*/ 28 w 29"/>
                        <a:gd name="T5" fmla="*/ 7 h 31"/>
                        <a:gd name="T6" fmla="*/ 28 w 29"/>
                        <a:gd name="T7" fmla="*/ 7 h 31"/>
                        <a:gd name="T8" fmla="*/ 29 w 29"/>
                        <a:gd name="T9" fmla="*/ 9 h 31"/>
                        <a:gd name="T10" fmla="*/ 29 w 29"/>
                        <a:gd name="T11" fmla="*/ 10 h 31"/>
                        <a:gd name="T12" fmla="*/ 29 w 29"/>
                        <a:gd name="T13" fmla="*/ 12 h 31"/>
                        <a:gd name="T14" fmla="*/ 29 w 29"/>
                        <a:gd name="T15" fmla="*/ 13 h 31"/>
                        <a:gd name="T16" fmla="*/ 29 w 29"/>
                        <a:gd name="T17" fmla="*/ 15 h 31"/>
                        <a:gd name="T18" fmla="*/ 29 w 29"/>
                        <a:gd name="T19" fmla="*/ 17 h 31"/>
                        <a:gd name="T20" fmla="*/ 29 w 29"/>
                        <a:gd name="T21" fmla="*/ 18 h 31"/>
                        <a:gd name="T22" fmla="*/ 28 w 29"/>
                        <a:gd name="T23" fmla="*/ 19 h 31"/>
                        <a:gd name="T24" fmla="*/ 26 w 29"/>
                        <a:gd name="T25" fmla="*/ 21 h 31"/>
                        <a:gd name="T26" fmla="*/ 25 w 29"/>
                        <a:gd name="T27" fmla="*/ 23 h 31"/>
                        <a:gd name="T28" fmla="*/ 24 w 29"/>
                        <a:gd name="T29" fmla="*/ 23 h 31"/>
                        <a:gd name="T30" fmla="*/ 23 w 29"/>
                        <a:gd name="T31" fmla="*/ 25 h 31"/>
                        <a:gd name="T32" fmla="*/ 23 w 29"/>
                        <a:gd name="T33" fmla="*/ 27 h 31"/>
                        <a:gd name="T34" fmla="*/ 21 w 29"/>
                        <a:gd name="T35" fmla="*/ 28 h 31"/>
                        <a:gd name="T36" fmla="*/ 19 w 29"/>
                        <a:gd name="T37" fmla="*/ 30 h 31"/>
                        <a:gd name="T38" fmla="*/ 19 w 29"/>
                        <a:gd name="T39" fmla="*/ 30 h 31"/>
                        <a:gd name="T40" fmla="*/ 16 w 29"/>
                        <a:gd name="T41" fmla="*/ 31 h 31"/>
                        <a:gd name="T42" fmla="*/ 15 w 29"/>
                        <a:gd name="T43" fmla="*/ 31 h 31"/>
                        <a:gd name="T44" fmla="*/ 14 w 29"/>
                        <a:gd name="T45" fmla="*/ 31 h 31"/>
                        <a:gd name="T46" fmla="*/ 13 w 29"/>
                        <a:gd name="T47" fmla="*/ 31 h 31"/>
                        <a:gd name="T48" fmla="*/ 11 w 29"/>
                        <a:gd name="T49" fmla="*/ 31 h 31"/>
                        <a:gd name="T50" fmla="*/ 9 w 29"/>
                        <a:gd name="T51" fmla="*/ 30 h 31"/>
                        <a:gd name="T52" fmla="*/ 8 w 29"/>
                        <a:gd name="T53" fmla="*/ 30 h 31"/>
                        <a:gd name="T54" fmla="*/ 7 w 29"/>
                        <a:gd name="T55" fmla="*/ 28 h 31"/>
                        <a:gd name="T56" fmla="*/ 6 w 29"/>
                        <a:gd name="T57" fmla="*/ 28 h 31"/>
                        <a:gd name="T58" fmla="*/ 6 w 29"/>
                        <a:gd name="T59" fmla="*/ 27 h 31"/>
                        <a:gd name="T60" fmla="*/ 3 w 29"/>
                        <a:gd name="T61" fmla="*/ 27 h 31"/>
                        <a:gd name="T62" fmla="*/ 3 w 29"/>
                        <a:gd name="T63" fmla="*/ 26 h 31"/>
                        <a:gd name="T64" fmla="*/ 2 w 29"/>
                        <a:gd name="T65" fmla="*/ 25 h 31"/>
                        <a:gd name="T66" fmla="*/ 2 w 29"/>
                        <a:gd name="T67" fmla="*/ 23 h 31"/>
                        <a:gd name="T68" fmla="*/ 1 w 29"/>
                        <a:gd name="T69" fmla="*/ 23 h 31"/>
                        <a:gd name="T70" fmla="*/ 1 w 29"/>
                        <a:gd name="T71" fmla="*/ 21 h 31"/>
                        <a:gd name="T72" fmla="*/ 0 w 29"/>
                        <a:gd name="T73" fmla="*/ 20 h 31"/>
                        <a:gd name="T74" fmla="*/ 0 w 29"/>
                        <a:gd name="T75" fmla="*/ 19 h 31"/>
                        <a:gd name="T76" fmla="*/ 0 w 29"/>
                        <a:gd name="T77" fmla="*/ 18 h 31"/>
                        <a:gd name="T78" fmla="*/ 0 w 29"/>
                        <a:gd name="T79" fmla="*/ 17 h 31"/>
                        <a:gd name="T80" fmla="*/ 0 w 29"/>
                        <a:gd name="T81" fmla="*/ 16 h 31"/>
                        <a:gd name="T82" fmla="*/ 1 w 29"/>
                        <a:gd name="T83" fmla="*/ 13 h 31"/>
                        <a:gd name="T84" fmla="*/ 1 w 29"/>
                        <a:gd name="T85" fmla="*/ 11 h 31"/>
                        <a:gd name="T86" fmla="*/ 2 w 29"/>
                        <a:gd name="T87" fmla="*/ 9 h 31"/>
                        <a:gd name="T88" fmla="*/ 3 w 29"/>
                        <a:gd name="T89" fmla="*/ 7 h 31"/>
                        <a:gd name="T90" fmla="*/ 4 w 29"/>
                        <a:gd name="T91" fmla="*/ 5 h 31"/>
                        <a:gd name="T92" fmla="*/ 6 w 29"/>
                        <a:gd name="T93" fmla="*/ 4 h 31"/>
                        <a:gd name="T94" fmla="*/ 7 w 29"/>
                        <a:gd name="T95" fmla="*/ 2 h 31"/>
                        <a:gd name="T96" fmla="*/ 9 w 29"/>
                        <a:gd name="T97" fmla="*/ 2 h 31"/>
                        <a:gd name="T98" fmla="*/ 11 w 29"/>
                        <a:gd name="T99" fmla="*/ 1 h 31"/>
                        <a:gd name="T100" fmla="*/ 14 w 29"/>
                        <a:gd name="T101" fmla="*/ 0 h 31"/>
                        <a:gd name="T102" fmla="*/ 15 w 29"/>
                        <a:gd name="T103" fmla="*/ 0 h 31"/>
                        <a:gd name="T104" fmla="*/ 16 w 29"/>
                        <a:gd name="T105" fmla="*/ 0 h 31"/>
                        <a:gd name="T106" fmla="*/ 17 w 29"/>
                        <a:gd name="T107" fmla="*/ 0 h 31"/>
                        <a:gd name="T108" fmla="*/ 19 w 29"/>
                        <a:gd name="T109" fmla="*/ 0 h 31"/>
                        <a:gd name="T110" fmla="*/ 19 w 29"/>
                        <a:gd name="T111" fmla="*/ 1 h 31"/>
                        <a:gd name="T112" fmla="*/ 22 w 29"/>
                        <a:gd name="T113" fmla="*/ 1 h 31"/>
                        <a:gd name="T114" fmla="*/ 23 w 29"/>
                        <a:gd name="T115" fmla="*/ 2 h 31"/>
                        <a:gd name="T116" fmla="*/ 24 w 29"/>
                        <a:gd name="T117" fmla="*/ 2 h 31"/>
                        <a:gd name="T118" fmla="*/ 25 w 29"/>
                        <a:gd name="T119" fmla="*/ 3 h 31"/>
                        <a:gd name="T120" fmla="*/ 25 w 29"/>
                        <a:gd name="T121" fmla="*/ 4 h 31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29"/>
                        <a:gd name="T184" fmla="*/ 0 h 31"/>
                        <a:gd name="T185" fmla="*/ 29 w 29"/>
                        <a:gd name="T186" fmla="*/ 31 h 31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29" h="31">
                          <a:moveTo>
                            <a:pt x="25" y="4"/>
                          </a:moveTo>
                          <a:lnTo>
                            <a:pt x="26" y="5"/>
                          </a:lnTo>
                          <a:lnTo>
                            <a:pt x="28" y="7"/>
                          </a:lnTo>
                          <a:lnTo>
                            <a:pt x="29" y="9"/>
                          </a:lnTo>
                          <a:lnTo>
                            <a:pt x="29" y="10"/>
                          </a:lnTo>
                          <a:lnTo>
                            <a:pt x="29" y="12"/>
                          </a:lnTo>
                          <a:lnTo>
                            <a:pt x="29" y="13"/>
                          </a:lnTo>
                          <a:lnTo>
                            <a:pt x="29" y="15"/>
                          </a:lnTo>
                          <a:lnTo>
                            <a:pt x="29" y="17"/>
                          </a:lnTo>
                          <a:lnTo>
                            <a:pt x="29" y="18"/>
                          </a:lnTo>
                          <a:lnTo>
                            <a:pt x="28" y="19"/>
                          </a:lnTo>
                          <a:lnTo>
                            <a:pt x="26" y="21"/>
                          </a:lnTo>
                          <a:lnTo>
                            <a:pt x="25" y="23"/>
                          </a:lnTo>
                          <a:lnTo>
                            <a:pt x="24" y="23"/>
                          </a:lnTo>
                          <a:lnTo>
                            <a:pt x="23" y="25"/>
                          </a:lnTo>
                          <a:lnTo>
                            <a:pt x="23" y="27"/>
                          </a:lnTo>
                          <a:lnTo>
                            <a:pt x="21" y="28"/>
                          </a:lnTo>
                          <a:lnTo>
                            <a:pt x="19" y="30"/>
                          </a:lnTo>
                          <a:lnTo>
                            <a:pt x="16" y="31"/>
                          </a:lnTo>
                          <a:lnTo>
                            <a:pt x="15" y="31"/>
                          </a:lnTo>
                          <a:lnTo>
                            <a:pt x="14" y="31"/>
                          </a:lnTo>
                          <a:lnTo>
                            <a:pt x="13" y="31"/>
                          </a:lnTo>
                          <a:lnTo>
                            <a:pt x="11" y="31"/>
                          </a:lnTo>
                          <a:lnTo>
                            <a:pt x="9" y="30"/>
                          </a:lnTo>
                          <a:lnTo>
                            <a:pt x="8" y="30"/>
                          </a:lnTo>
                          <a:lnTo>
                            <a:pt x="7" y="28"/>
                          </a:lnTo>
                          <a:lnTo>
                            <a:pt x="6" y="28"/>
                          </a:lnTo>
                          <a:lnTo>
                            <a:pt x="6" y="27"/>
                          </a:lnTo>
                          <a:lnTo>
                            <a:pt x="3" y="27"/>
                          </a:lnTo>
                          <a:lnTo>
                            <a:pt x="3" y="26"/>
                          </a:lnTo>
                          <a:lnTo>
                            <a:pt x="2" y="25"/>
                          </a:lnTo>
                          <a:lnTo>
                            <a:pt x="2" y="23"/>
                          </a:lnTo>
                          <a:lnTo>
                            <a:pt x="1" y="23"/>
                          </a:lnTo>
                          <a:lnTo>
                            <a:pt x="1" y="21"/>
                          </a:lnTo>
                          <a:lnTo>
                            <a:pt x="0" y="20"/>
                          </a:lnTo>
                          <a:lnTo>
                            <a:pt x="0" y="19"/>
                          </a:lnTo>
                          <a:lnTo>
                            <a:pt x="0" y="18"/>
                          </a:lnTo>
                          <a:lnTo>
                            <a:pt x="0" y="17"/>
                          </a:lnTo>
                          <a:lnTo>
                            <a:pt x="0" y="16"/>
                          </a:lnTo>
                          <a:lnTo>
                            <a:pt x="1" y="13"/>
                          </a:lnTo>
                          <a:lnTo>
                            <a:pt x="1" y="11"/>
                          </a:lnTo>
                          <a:lnTo>
                            <a:pt x="2" y="9"/>
                          </a:lnTo>
                          <a:lnTo>
                            <a:pt x="3" y="7"/>
                          </a:lnTo>
                          <a:lnTo>
                            <a:pt x="4" y="5"/>
                          </a:lnTo>
                          <a:lnTo>
                            <a:pt x="6" y="4"/>
                          </a:lnTo>
                          <a:lnTo>
                            <a:pt x="7" y="2"/>
                          </a:lnTo>
                          <a:lnTo>
                            <a:pt x="9" y="2"/>
                          </a:lnTo>
                          <a:lnTo>
                            <a:pt x="11" y="1"/>
                          </a:lnTo>
                          <a:lnTo>
                            <a:pt x="14" y="0"/>
                          </a:lnTo>
                          <a:lnTo>
                            <a:pt x="15" y="0"/>
                          </a:lnTo>
                          <a:lnTo>
                            <a:pt x="16" y="0"/>
                          </a:lnTo>
                          <a:lnTo>
                            <a:pt x="17" y="0"/>
                          </a:lnTo>
                          <a:lnTo>
                            <a:pt x="19" y="0"/>
                          </a:lnTo>
                          <a:lnTo>
                            <a:pt x="19" y="1"/>
                          </a:lnTo>
                          <a:lnTo>
                            <a:pt x="22" y="1"/>
                          </a:lnTo>
                          <a:lnTo>
                            <a:pt x="23" y="2"/>
                          </a:lnTo>
                          <a:lnTo>
                            <a:pt x="24" y="2"/>
                          </a:lnTo>
                          <a:lnTo>
                            <a:pt x="25" y="3"/>
                          </a:lnTo>
                          <a:lnTo>
                            <a:pt x="25" y="4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2388" name="Freeform 1062"/>
                  <p:cNvSpPr>
                    <a:spLocks/>
                  </p:cNvSpPr>
                  <p:nvPr/>
                </p:nvSpPr>
                <p:spPr bwMode="auto">
                  <a:xfrm>
                    <a:off x="2603" y="2643"/>
                    <a:ext cx="13" cy="12"/>
                  </a:xfrm>
                  <a:custGeom>
                    <a:avLst/>
                    <a:gdLst>
                      <a:gd name="T0" fmla="*/ 13 w 13"/>
                      <a:gd name="T1" fmla="*/ 11 h 12"/>
                      <a:gd name="T2" fmla="*/ 13 w 13"/>
                      <a:gd name="T3" fmla="*/ 12 h 12"/>
                      <a:gd name="T4" fmla="*/ 0 w 13"/>
                      <a:gd name="T5" fmla="*/ 1 h 12"/>
                      <a:gd name="T6" fmla="*/ 0 w 13"/>
                      <a:gd name="T7" fmla="*/ 0 h 12"/>
                      <a:gd name="T8" fmla="*/ 2 w 13"/>
                      <a:gd name="T9" fmla="*/ 1 h 12"/>
                      <a:gd name="T10" fmla="*/ 4 w 13"/>
                      <a:gd name="T11" fmla="*/ 2 h 12"/>
                      <a:gd name="T12" fmla="*/ 5 w 13"/>
                      <a:gd name="T13" fmla="*/ 3 h 12"/>
                      <a:gd name="T14" fmla="*/ 6 w 13"/>
                      <a:gd name="T15" fmla="*/ 3 h 12"/>
                      <a:gd name="T16" fmla="*/ 8 w 13"/>
                      <a:gd name="T17" fmla="*/ 4 h 12"/>
                      <a:gd name="T18" fmla="*/ 8 w 13"/>
                      <a:gd name="T19" fmla="*/ 6 h 12"/>
                      <a:gd name="T20" fmla="*/ 10 w 13"/>
                      <a:gd name="T21" fmla="*/ 7 h 12"/>
                      <a:gd name="T22" fmla="*/ 11 w 13"/>
                      <a:gd name="T23" fmla="*/ 8 h 12"/>
                      <a:gd name="T24" fmla="*/ 12 w 13"/>
                      <a:gd name="T25" fmla="*/ 9 h 12"/>
                      <a:gd name="T26" fmla="*/ 13 w 13"/>
                      <a:gd name="T27" fmla="*/ 12 h 12"/>
                      <a:gd name="T28" fmla="*/ 13 w 13"/>
                      <a:gd name="T29" fmla="*/ 11 h 12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3"/>
                      <a:gd name="T46" fmla="*/ 0 h 12"/>
                      <a:gd name="T47" fmla="*/ 13 w 13"/>
                      <a:gd name="T48" fmla="*/ 12 h 12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3" h="12">
                        <a:moveTo>
                          <a:pt x="13" y="11"/>
                        </a:moveTo>
                        <a:lnTo>
                          <a:pt x="13" y="12"/>
                        </a:lnTo>
                        <a:lnTo>
                          <a:pt x="0" y="1"/>
                        </a:lnTo>
                        <a:lnTo>
                          <a:pt x="0" y="0"/>
                        </a:lnTo>
                        <a:lnTo>
                          <a:pt x="2" y="1"/>
                        </a:lnTo>
                        <a:lnTo>
                          <a:pt x="4" y="2"/>
                        </a:lnTo>
                        <a:lnTo>
                          <a:pt x="5" y="3"/>
                        </a:lnTo>
                        <a:lnTo>
                          <a:pt x="6" y="3"/>
                        </a:lnTo>
                        <a:lnTo>
                          <a:pt x="8" y="4"/>
                        </a:lnTo>
                        <a:lnTo>
                          <a:pt x="8" y="6"/>
                        </a:lnTo>
                        <a:lnTo>
                          <a:pt x="10" y="7"/>
                        </a:lnTo>
                        <a:lnTo>
                          <a:pt x="11" y="8"/>
                        </a:lnTo>
                        <a:lnTo>
                          <a:pt x="12" y="9"/>
                        </a:lnTo>
                        <a:lnTo>
                          <a:pt x="13" y="12"/>
                        </a:lnTo>
                        <a:lnTo>
                          <a:pt x="13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2389" name="Group 1063"/>
                  <p:cNvGrpSpPr>
                    <a:grpSpLocks/>
                  </p:cNvGrpSpPr>
                  <p:nvPr/>
                </p:nvGrpSpPr>
                <p:grpSpPr bwMode="auto">
                  <a:xfrm>
                    <a:off x="2603" y="2643"/>
                    <a:ext cx="13" cy="12"/>
                    <a:chOff x="2603" y="2643"/>
                    <a:chExt cx="13" cy="12"/>
                  </a:xfrm>
                </p:grpSpPr>
                <p:sp>
                  <p:nvSpPr>
                    <p:cNvPr id="12398" name="Freeform 1064"/>
                    <p:cNvSpPr>
                      <a:spLocks/>
                    </p:cNvSpPr>
                    <p:nvPr/>
                  </p:nvSpPr>
                  <p:spPr bwMode="auto">
                    <a:xfrm>
                      <a:off x="2603" y="2643"/>
                      <a:ext cx="13" cy="12"/>
                    </a:xfrm>
                    <a:custGeom>
                      <a:avLst/>
                      <a:gdLst>
                        <a:gd name="T0" fmla="*/ 13 w 13"/>
                        <a:gd name="T1" fmla="*/ 11 h 12"/>
                        <a:gd name="T2" fmla="*/ 13 w 13"/>
                        <a:gd name="T3" fmla="*/ 12 h 12"/>
                        <a:gd name="T4" fmla="*/ 0 w 13"/>
                        <a:gd name="T5" fmla="*/ 1 h 12"/>
                        <a:gd name="T6" fmla="*/ 0 w 13"/>
                        <a:gd name="T7" fmla="*/ 0 h 12"/>
                        <a:gd name="T8" fmla="*/ 2 w 13"/>
                        <a:gd name="T9" fmla="*/ 1 h 12"/>
                        <a:gd name="T10" fmla="*/ 4 w 13"/>
                        <a:gd name="T11" fmla="*/ 2 h 12"/>
                        <a:gd name="T12" fmla="*/ 5 w 13"/>
                        <a:gd name="T13" fmla="*/ 3 h 12"/>
                        <a:gd name="T14" fmla="*/ 6 w 13"/>
                        <a:gd name="T15" fmla="*/ 3 h 12"/>
                        <a:gd name="T16" fmla="*/ 8 w 13"/>
                        <a:gd name="T17" fmla="*/ 4 h 12"/>
                        <a:gd name="T18" fmla="*/ 8 w 13"/>
                        <a:gd name="T19" fmla="*/ 6 h 12"/>
                        <a:gd name="T20" fmla="*/ 10 w 13"/>
                        <a:gd name="T21" fmla="*/ 7 h 12"/>
                        <a:gd name="T22" fmla="*/ 11 w 13"/>
                        <a:gd name="T23" fmla="*/ 8 h 12"/>
                        <a:gd name="T24" fmla="*/ 12 w 13"/>
                        <a:gd name="T25" fmla="*/ 9 h 12"/>
                        <a:gd name="T26" fmla="*/ 13 w 13"/>
                        <a:gd name="T27" fmla="*/ 12 h 12"/>
                        <a:gd name="T28" fmla="*/ 13 w 13"/>
                        <a:gd name="T29" fmla="*/ 11 h 12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3"/>
                        <a:gd name="T46" fmla="*/ 0 h 12"/>
                        <a:gd name="T47" fmla="*/ 13 w 13"/>
                        <a:gd name="T48" fmla="*/ 12 h 12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3" h="12">
                          <a:moveTo>
                            <a:pt x="13" y="11"/>
                          </a:moveTo>
                          <a:lnTo>
                            <a:pt x="13" y="12"/>
                          </a:ln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2" y="1"/>
                          </a:lnTo>
                          <a:lnTo>
                            <a:pt x="4" y="2"/>
                          </a:lnTo>
                          <a:lnTo>
                            <a:pt x="5" y="3"/>
                          </a:lnTo>
                          <a:lnTo>
                            <a:pt x="6" y="3"/>
                          </a:lnTo>
                          <a:lnTo>
                            <a:pt x="8" y="4"/>
                          </a:lnTo>
                          <a:lnTo>
                            <a:pt x="8" y="6"/>
                          </a:lnTo>
                          <a:lnTo>
                            <a:pt x="10" y="7"/>
                          </a:lnTo>
                          <a:lnTo>
                            <a:pt x="11" y="8"/>
                          </a:lnTo>
                          <a:lnTo>
                            <a:pt x="12" y="9"/>
                          </a:lnTo>
                          <a:lnTo>
                            <a:pt x="13" y="12"/>
                          </a:lnTo>
                          <a:lnTo>
                            <a:pt x="13" y="1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99" name="Freeform 1065"/>
                    <p:cNvSpPr>
                      <a:spLocks/>
                    </p:cNvSpPr>
                    <p:nvPr/>
                  </p:nvSpPr>
                  <p:spPr bwMode="auto">
                    <a:xfrm>
                      <a:off x="2603" y="2643"/>
                      <a:ext cx="13" cy="12"/>
                    </a:xfrm>
                    <a:custGeom>
                      <a:avLst/>
                      <a:gdLst>
                        <a:gd name="T0" fmla="*/ 13 w 13"/>
                        <a:gd name="T1" fmla="*/ 11 h 12"/>
                        <a:gd name="T2" fmla="*/ 13 w 13"/>
                        <a:gd name="T3" fmla="*/ 12 h 12"/>
                        <a:gd name="T4" fmla="*/ 0 w 13"/>
                        <a:gd name="T5" fmla="*/ 1 h 12"/>
                        <a:gd name="T6" fmla="*/ 0 w 13"/>
                        <a:gd name="T7" fmla="*/ 0 h 12"/>
                        <a:gd name="T8" fmla="*/ 2 w 13"/>
                        <a:gd name="T9" fmla="*/ 1 h 12"/>
                        <a:gd name="T10" fmla="*/ 4 w 13"/>
                        <a:gd name="T11" fmla="*/ 2 h 12"/>
                        <a:gd name="T12" fmla="*/ 5 w 13"/>
                        <a:gd name="T13" fmla="*/ 3 h 12"/>
                        <a:gd name="T14" fmla="*/ 6 w 13"/>
                        <a:gd name="T15" fmla="*/ 3 h 12"/>
                        <a:gd name="T16" fmla="*/ 8 w 13"/>
                        <a:gd name="T17" fmla="*/ 4 h 12"/>
                        <a:gd name="T18" fmla="*/ 8 w 13"/>
                        <a:gd name="T19" fmla="*/ 6 h 12"/>
                        <a:gd name="T20" fmla="*/ 10 w 13"/>
                        <a:gd name="T21" fmla="*/ 7 h 12"/>
                        <a:gd name="T22" fmla="*/ 11 w 13"/>
                        <a:gd name="T23" fmla="*/ 8 h 12"/>
                        <a:gd name="T24" fmla="*/ 12 w 13"/>
                        <a:gd name="T25" fmla="*/ 9 h 12"/>
                        <a:gd name="T26" fmla="*/ 13 w 13"/>
                        <a:gd name="T27" fmla="*/ 12 h 12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3"/>
                        <a:gd name="T43" fmla="*/ 0 h 12"/>
                        <a:gd name="T44" fmla="*/ 13 w 13"/>
                        <a:gd name="T45" fmla="*/ 12 h 12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3" h="12">
                          <a:moveTo>
                            <a:pt x="13" y="11"/>
                          </a:moveTo>
                          <a:lnTo>
                            <a:pt x="13" y="12"/>
                          </a:ln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2" y="1"/>
                          </a:lnTo>
                          <a:lnTo>
                            <a:pt x="4" y="2"/>
                          </a:lnTo>
                          <a:lnTo>
                            <a:pt x="5" y="3"/>
                          </a:lnTo>
                          <a:lnTo>
                            <a:pt x="6" y="3"/>
                          </a:lnTo>
                          <a:lnTo>
                            <a:pt x="8" y="4"/>
                          </a:lnTo>
                          <a:lnTo>
                            <a:pt x="8" y="6"/>
                          </a:lnTo>
                          <a:lnTo>
                            <a:pt x="10" y="7"/>
                          </a:lnTo>
                          <a:lnTo>
                            <a:pt x="11" y="8"/>
                          </a:lnTo>
                          <a:lnTo>
                            <a:pt x="12" y="9"/>
                          </a:lnTo>
                          <a:lnTo>
                            <a:pt x="13" y="12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2390" name="Freeform 1066"/>
                  <p:cNvSpPr>
                    <a:spLocks/>
                  </p:cNvSpPr>
                  <p:nvPr/>
                </p:nvSpPr>
                <p:spPr bwMode="auto">
                  <a:xfrm>
                    <a:off x="2616" y="2658"/>
                    <a:ext cx="26" cy="29"/>
                  </a:xfrm>
                  <a:custGeom>
                    <a:avLst/>
                    <a:gdLst>
                      <a:gd name="T0" fmla="*/ 22 w 26"/>
                      <a:gd name="T1" fmla="*/ 2 h 29"/>
                      <a:gd name="T2" fmla="*/ 22 w 26"/>
                      <a:gd name="T3" fmla="*/ 3 h 29"/>
                      <a:gd name="T4" fmla="*/ 23 w 26"/>
                      <a:gd name="T5" fmla="*/ 4 h 29"/>
                      <a:gd name="T6" fmla="*/ 24 w 26"/>
                      <a:gd name="T7" fmla="*/ 5 h 29"/>
                      <a:gd name="T8" fmla="*/ 24 w 26"/>
                      <a:gd name="T9" fmla="*/ 7 h 29"/>
                      <a:gd name="T10" fmla="*/ 25 w 26"/>
                      <a:gd name="T11" fmla="*/ 7 h 29"/>
                      <a:gd name="T12" fmla="*/ 25 w 26"/>
                      <a:gd name="T13" fmla="*/ 9 h 29"/>
                      <a:gd name="T14" fmla="*/ 26 w 26"/>
                      <a:gd name="T15" fmla="*/ 9 h 29"/>
                      <a:gd name="T16" fmla="*/ 26 w 26"/>
                      <a:gd name="T17" fmla="*/ 12 h 29"/>
                      <a:gd name="T18" fmla="*/ 26 w 26"/>
                      <a:gd name="T19" fmla="*/ 13 h 29"/>
                      <a:gd name="T20" fmla="*/ 26 w 26"/>
                      <a:gd name="T21" fmla="*/ 15 h 29"/>
                      <a:gd name="T22" fmla="*/ 26 w 26"/>
                      <a:gd name="T23" fmla="*/ 16 h 29"/>
                      <a:gd name="T24" fmla="*/ 26 w 26"/>
                      <a:gd name="T25" fmla="*/ 18 h 29"/>
                      <a:gd name="T26" fmla="*/ 25 w 26"/>
                      <a:gd name="T27" fmla="*/ 19 h 29"/>
                      <a:gd name="T28" fmla="*/ 24 w 26"/>
                      <a:gd name="T29" fmla="*/ 21 h 29"/>
                      <a:gd name="T30" fmla="*/ 24 w 26"/>
                      <a:gd name="T31" fmla="*/ 22 h 29"/>
                      <a:gd name="T32" fmla="*/ 23 w 26"/>
                      <a:gd name="T33" fmla="*/ 23 h 29"/>
                      <a:gd name="T34" fmla="*/ 22 w 26"/>
                      <a:gd name="T35" fmla="*/ 25 h 29"/>
                      <a:gd name="T36" fmla="*/ 21 w 26"/>
                      <a:gd name="T37" fmla="*/ 27 h 29"/>
                      <a:gd name="T38" fmla="*/ 18 w 26"/>
                      <a:gd name="T39" fmla="*/ 28 h 29"/>
                      <a:gd name="T40" fmla="*/ 17 w 26"/>
                      <a:gd name="T41" fmla="*/ 29 h 29"/>
                      <a:gd name="T42" fmla="*/ 16 w 26"/>
                      <a:gd name="T43" fmla="*/ 29 h 29"/>
                      <a:gd name="T44" fmla="*/ 14 w 26"/>
                      <a:gd name="T45" fmla="*/ 29 h 29"/>
                      <a:gd name="T46" fmla="*/ 14 w 26"/>
                      <a:gd name="T47" fmla="*/ 29 h 29"/>
                      <a:gd name="T48" fmla="*/ 12 w 26"/>
                      <a:gd name="T49" fmla="*/ 29 h 29"/>
                      <a:gd name="T50" fmla="*/ 11 w 26"/>
                      <a:gd name="T51" fmla="*/ 29 h 29"/>
                      <a:gd name="T52" fmla="*/ 10 w 26"/>
                      <a:gd name="T53" fmla="*/ 29 h 29"/>
                      <a:gd name="T54" fmla="*/ 9 w 26"/>
                      <a:gd name="T55" fmla="*/ 29 h 29"/>
                      <a:gd name="T56" fmla="*/ 7 w 26"/>
                      <a:gd name="T57" fmla="*/ 28 h 29"/>
                      <a:gd name="T58" fmla="*/ 6 w 26"/>
                      <a:gd name="T59" fmla="*/ 28 h 29"/>
                      <a:gd name="T60" fmla="*/ 5 w 26"/>
                      <a:gd name="T61" fmla="*/ 27 h 29"/>
                      <a:gd name="T62" fmla="*/ 4 w 26"/>
                      <a:gd name="T63" fmla="*/ 25 h 29"/>
                      <a:gd name="T64" fmla="*/ 2 w 26"/>
                      <a:gd name="T65" fmla="*/ 23 h 29"/>
                      <a:gd name="T66" fmla="*/ 1 w 26"/>
                      <a:gd name="T67" fmla="*/ 21 h 29"/>
                      <a:gd name="T68" fmla="*/ 1 w 26"/>
                      <a:gd name="T69" fmla="*/ 20 h 29"/>
                      <a:gd name="T70" fmla="*/ 0 w 26"/>
                      <a:gd name="T71" fmla="*/ 18 h 29"/>
                      <a:gd name="T72" fmla="*/ 0 w 26"/>
                      <a:gd name="T73" fmla="*/ 17 h 29"/>
                      <a:gd name="T74" fmla="*/ 0 w 26"/>
                      <a:gd name="T75" fmla="*/ 15 h 29"/>
                      <a:gd name="T76" fmla="*/ 0 w 26"/>
                      <a:gd name="T77" fmla="*/ 14 h 29"/>
                      <a:gd name="T78" fmla="*/ 0 w 26"/>
                      <a:gd name="T79" fmla="*/ 12 h 29"/>
                      <a:gd name="T80" fmla="*/ 0 w 26"/>
                      <a:gd name="T81" fmla="*/ 9 h 29"/>
                      <a:gd name="T82" fmla="*/ 1 w 26"/>
                      <a:gd name="T83" fmla="*/ 7 h 29"/>
                      <a:gd name="T84" fmla="*/ 2 w 26"/>
                      <a:gd name="T85" fmla="*/ 7 h 29"/>
                      <a:gd name="T86" fmla="*/ 2 w 26"/>
                      <a:gd name="T87" fmla="*/ 5 h 29"/>
                      <a:gd name="T88" fmla="*/ 4 w 26"/>
                      <a:gd name="T89" fmla="*/ 4 h 29"/>
                      <a:gd name="T90" fmla="*/ 5 w 26"/>
                      <a:gd name="T91" fmla="*/ 3 h 29"/>
                      <a:gd name="T92" fmla="*/ 6 w 26"/>
                      <a:gd name="T93" fmla="*/ 3 h 29"/>
                      <a:gd name="T94" fmla="*/ 7 w 26"/>
                      <a:gd name="T95" fmla="*/ 2 h 29"/>
                      <a:gd name="T96" fmla="*/ 8 w 26"/>
                      <a:gd name="T97" fmla="*/ 1 h 29"/>
                      <a:gd name="T98" fmla="*/ 9 w 26"/>
                      <a:gd name="T99" fmla="*/ 1 h 29"/>
                      <a:gd name="T100" fmla="*/ 10 w 26"/>
                      <a:gd name="T101" fmla="*/ 0 h 29"/>
                      <a:gd name="T102" fmla="*/ 11 w 26"/>
                      <a:gd name="T103" fmla="*/ 0 h 29"/>
                      <a:gd name="T104" fmla="*/ 12 w 26"/>
                      <a:gd name="T105" fmla="*/ 0 h 29"/>
                      <a:gd name="T106" fmla="*/ 14 w 26"/>
                      <a:gd name="T107" fmla="*/ 0 h 29"/>
                      <a:gd name="T108" fmla="*/ 14 w 26"/>
                      <a:gd name="T109" fmla="*/ 0 h 29"/>
                      <a:gd name="T110" fmla="*/ 16 w 26"/>
                      <a:gd name="T111" fmla="*/ 0 h 29"/>
                      <a:gd name="T112" fmla="*/ 17 w 26"/>
                      <a:gd name="T113" fmla="*/ 1 h 29"/>
                      <a:gd name="T114" fmla="*/ 18 w 26"/>
                      <a:gd name="T115" fmla="*/ 1 h 29"/>
                      <a:gd name="T116" fmla="*/ 20 w 26"/>
                      <a:gd name="T117" fmla="*/ 1 h 29"/>
                      <a:gd name="T118" fmla="*/ 21 w 26"/>
                      <a:gd name="T119" fmla="*/ 2 h 29"/>
                      <a:gd name="T120" fmla="*/ 22 w 26"/>
                      <a:gd name="T121" fmla="*/ 2 h 29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60000 65536"/>
                      <a:gd name="T175" fmla="*/ 0 60000 65536"/>
                      <a:gd name="T176" fmla="*/ 0 60000 65536"/>
                      <a:gd name="T177" fmla="*/ 0 60000 65536"/>
                      <a:gd name="T178" fmla="*/ 0 60000 65536"/>
                      <a:gd name="T179" fmla="*/ 0 60000 65536"/>
                      <a:gd name="T180" fmla="*/ 0 60000 65536"/>
                      <a:gd name="T181" fmla="*/ 0 60000 65536"/>
                      <a:gd name="T182" fmla="*/ 0 60000 65536"/>
                      <a:gd name="T183" fmla="*/ 0 w 26"/>
                      <a:gd name="T184" fmla="*/ 0 h 29"/>
                      <a:gd name="T185" fmla="*/ 26 w 26"/>
                      <a:gd name="T186" fmla="*/ 29 h 29"/>
                    </a:gdLst>
                    <a:ahLst/>
                    <a:cxnLst>
                      <a:cxn ang="T122">
                        <a:pos x="T0" y="T1"/>
                      </a:cxn>
                      <a:cxn ang="T123">
                        <a:pos x="T2" y="T3"/>
                      </a:cxn>
                      <a:cxn ang="T124">
                        <a:pos x="T4" y="T5"/>
                      </a:cxn>
                      <a:cxn ang="T125">
                        <a:pos x="T6" y="T7"/>
                      </a:cxn>
                      <a:cxn ang="T126">
                        <a:pos x="T8" y="T9"/>
                      </a:cxn>
                      <a:cxn ang="T127">
                        <a:pos x="T10" y="T11"/>
                      </a:cxn>
                      <a:cxn ang="T128">
                        <a:pos x="T12" y="T13"/>
                      </a:cxn>
                      <a:cxn ang="T129">
                        <a:pos x="T14" y="T15"/>
                      </a:cxn>
                      <a:cxn ang="T130">
                        <a:pos x="T16" y="T17"/>
                      </a:cxn>
                      <a:cxn ang="T131">
                        <a:pos x="T18" y="T19"/>
                      </a:cxn>
                      <a:cxn ang="T132">
                        <a:pos x="T20" y="T21"/>
                      </a:cxn>
                      <a:cxn ang="T133">
                        <a:pos x="T22" y="T23"/>
                      </a:cxn>
                      <a:cxn ang="T134">
                        <a:pos x="T24" y="T25"/>
                      </a:cxn>
                      <a:cxn ang="T135">
                        <a:pos x="T26" y="T27"/>
                      </a:cxn>
                      <a:cxn ang="T136">
                        <a:pos x="T28" y="T29"/>
                      </a:cxn>
                      <a:cxn ang="T137">
                        <a:pos x="T30" y="T31"/>
                      </a:cxn>
                      <a:cxn ang="T138">
                        <a:pos x="T32" y="T33"/>
                      </a:cxn>
                      <a:cxn ang="T139">
                        <a:pos x="T34" y="T35"/>
                      </a:cxn>
                      <a:cxn ang="T140">
                        <a:pos x="T36" y="T37"/>
                      </a:cxn>
                      <a:cxn ang="T141">
                        <a:pos x="T38" y="T39"/>
                      </a:cxn>
                      <a:cxn ang="T142">
                        <a:pos x="T40" y="T41"/>
                      </a:cxn>
                      <a:cxn ang="T143">
                        <a:pos x="T42" y="T43"/>
                      </a:cxn>
                      <a:cxn ang="T144">
                        <a:pos x="T44" y="T45"/>
                      </a:cxn>
                      <a:cxn ang="T145">
                        <a:pos x="T46" y="T47"/>
                      </a:cxn>
                      <a:cxn ang="T146">
                        <a:pos x="T48" y="T49"/>
                      </a:cxn>
                      <a:cxn ang="T147">
                        <a:pos x="T50" y="T51"/>
                      </a:cxn>
                      <a:cxn ang="T148">
                        <a:pos x="T52" y="T53"/>
                      </a:cxn>
                      <a:cxn ang="T149">
                        <a:pos x="T54" y="T55"/>
                      </a:cxn>
                      <a:cxn ang="T150">
                        <a:pos x="T56" y="T57"/>
                      </a:cxn>
                      <a:cxn ang="T151">
                        <a:pos x="T58" y="T59"/>
                      </a:cxn>
                      <a:cxn ang="T152">
                        <a:pos x="T60" y="T61"/>
                      </a:cxn>
                      <a:cxn ang="T153">
                        <a:pos x="T62" y="T63"/>
                      </a:cxn>
                      <a:cxn ang="T154">
                        <a:pos x="T64" y="T65"/>
                      </a:cxn>
                      <a:cxn ang="T155">
                        <a:pos x="T66" y="T67"/>
                      </a:cxn>
                      <a:cxn ang="T156">
                        <a:pos x="T68" y="T69"/>
                      </a:cxn>
                      <a:cxn ang="T157">
                        <a:pos x="T70" y="T71"/>
                      </a:cxn>
                      <a:cxn ang="T158">
                        <a:pos x="T72" y="T73"/>
                      </a:cxn>
                      <a:cxn ang="T159">
                        <a:pos x="T74" y="T75"/>
                      </a:cxn>
                      <a:cxn ang="T160">
                        <a:pos x="T76" y="T77"/>
                      </a:cxn>
                      <a:cxn ang="T161">
                        <a:pos x="T78" y="T79"/>
                      </a:cxn>
                      <a:cxn ang="T162">
                        <a:pos x="T80" y="T81"/>
                      </a:cxn>
                      <a:cxn ang="T163">
                        <a:pos x="T82" y="T83"/>
                      </a:cxn>
                      <a:cxn ang="T164">
                        <a:pos x="T84" y="T85"/>
                      </a:cxn>
                      <a:cxn ang="T165">
                        <a:pos x="T86" y="T87"/>
                      </a:cxn>
                      <a:cxn ang="T166">
                        <a:pos x="T88" y="T89"/>
                      </a:cxn>
                      <a:cxn ang="T167">
                        <a:pos x="T90" y="T91"/>
                      </a:cxn>
                      <a:cxn ang="T168">
                        <a:pos x="T92" y="T93"/>
                      </a:cxn>
                      <a:cxn ang="T169">
                        <a:pos x="T94" y="T95"/>
                      </a:cxn>
                      <a:cxn ang="T170">
                        <a:pos x="T96" y="T97"/>
                      </a:cxn>
                      <a:cxn ang="T171">
                        <a:pos x="T98" y="T99"/>
                      </a:cxn>
                      <a:cxn ang="T172">
                        <a:pos x="T100" y="T101"/>
                      </a:cxn>
                      <a:cxn ang="T173">
                        <a:pos x="T102" y="T103"/>
                      </a:cxn>
                      <a:cxn ang="T174">
                        <a:pos x="T104" y="T105"/>
                      </a:cxn>
                      <a:cxn ang="T175">
                        <a:pos x="T106" y="T107"/>
                      </a:cxn>
                      <a:cxn ang="T176">
                        <a:pos x="T108" y="T109"/>
                      </a:cxn>
                      <a:cxn ang="T177">
                        <a:pos x="T110" y="T111"/>
                      </a:cxn>
                      <a:cxn ang="T178">
                        <a:pos x="T112" y="T113"/>
                      </a:cxn>
                      <a:cxn ang="T179">
                        <a:pos x="T114" y="T115"/>
                      </a:cxn>
                      <a:cxn ang="T180">
                        <a:pos x="T116" y="T117"/>
                      </a:cxn>
                      <a:cxn ang="T181">
                        <a:pos x="T118" y="T119"/>
                      </a:cxn>
                      <a:cxn ang="T182">
                        <a:pos x="T120" y="T121"/>
                      </a:cxn>
                    </a:cxnLst>
                    <a:rect l="T183" t="T184" r="T185" b="T186"/>
                    <a:pathLst>
                      <a:path w="26" h="29">
                        <a:moveTo>
                          <a:pt x="22" y="2"/>
                        </a:moveTo>
                        <a:lnTo>
                          <a:pt x="22" y="3"/>
                        </a:lnTo>
                        <a:lnTo>
                          <a:pt x="23" y="4"/>
                        </a:lnTo>
                        <a:lnTo>
                          <a:pt x="24" y="5"/>
                        </a:lnTo>
                        <a:lnTo>
                          <a:pt x="24" y="7"/>
                        </a:lnTo>
                        <a:lnTo>
                          <a:pt x="25" y="7"/>
                        </a:lnTo>
                        <a:lnTo>
                          <a:pt x="25" y="9"/>
                        </a:lnTo>
                        <a:lnTo>
                          <a:pt x="26" y="9"/>
                        </a:lnTo>
                        <a:lnTo>
                          <a:pt x="26" y="12"/>
                        </a:lnTo>
                        <a:lnTo>
                          <a:pt x="26" y="13"/>
                        </a:lnTo>
                        <a:lnTo>
                          <a:pt x="26" y="15"/>
                        </a:lnTo>
                        <a:lnTo>
                          <a:pt x="26" y="16"/>
                        </a:lnTo>
                        <a:lnTo>
                          <a:pt x="26" y="18"/>
                        </a:lnTo>
                        <a:lnTo>
                          <a:pt x="25" y="19"/>
                        </a:lnTo>
                        <a:lnTo>
                          <a:pt x="24" y="21"/>
                        </a:lnTo>
                        <a:lnTo>
                          <a:pt x="24" y="22"/>
                        </a:lnTo>
                        <a:lnTo>
                          <a:pt x="23" y="23"/>
                        </a:lnTo>
                        <a:lnTo>
                          <a:pt x="22" y="25"/>
                        </a:lnTo>
                        <a:lnTo>
                          <a:pt x="21" y="27"/>
                        </a:lnTo>
                        <a:lnTo>
                          <a:pt x="18" y="28"/>
                        </a:lnTo>
                        <a:lnTo>
                          <a:pt x="17" y="29"/>
                        </a:lnTo>
                        <a:lnTo>
                          <a:pt x="16" y="29"/>
                        </a:lnTo>
                        <a:lnTo>
                          <a:pt x="14" y="29"/>
                        </a:lnTo>
                        <a:lnTo>
                          <a:pt x="12" y="29"/>
                        </a:lnTo>
                        <a:lnTo>
                          <a:pt x="11" y="29"/>
                        </a:lnTo>
                        <a:lnTo>
                          <a:pt x="10" y="29"/>
                        </a:lnTo>
                        <a:lnTo>
                          <a:pt x="9" y="29"/>
                        </a:lnTo>
                        <a:lnTo>
                          <a:pt x="7" y="28"/>
                        </a:lnTo>
                        <a:lnTo>
                          <a:pt x="6" y="28"/>
                        </a:lnTo>
                        <a:lnTo>
                          <a:pt x="5" y="27"/>
                        </a:lnTo>
                        <a:lnTo>
                          <a:pt x="4" y="25"/>
                        </a:lnTo>
                        <a:lnTo>
                          <a:pt x="2" y="23"/>
                        </a:lnTo>
                        <a:lnTo>
                          <a:pt x="1" y="21"/>
                        </a:lnTo>
                        <a:lnTo>
                          <a:pt x="1" y="20"/>
                        </a:lnTo>
                        <a:lnTo>
                          <a:pt x="0" y="18"/>
                        </a:lnTo>
                        <a:lnTo>
                          <a:pt x="0" y="17"/>
                        </a:lnTo>
                        <a:lnTo>
                          <a:pt x="0" y="15"/>
                        </a:lnTo>
                        <a:lnTo>
                          <a:pt x="0" y="14"/>
                        </a:lnTo>
                        <a:lnTo>
                          <a:pt x="0" y="12"/>
                        </a:lnTo>
                        <a:lnTo>
                          <a:pt x="0" y="9"/>
                        </a:lnTo>
                        <a:lnTo>
                          <a:pt x="1" y="7"/>
                        </a:lnTo>
                        <a:lnTo>
                          <a:pt x="2" y="7"/>
                        </a:lnTo>
                        <a:lnTo>
                          <a:pt x="2" y="5"/>
                        </a:lnTo>
                        <a:lnTo>
                          <a:pt x="4" y="4"/>
                        </a:lnTo>
                        <a:lnTo>
                          <a:pt x="5" y="3"/>
                        </a:lnTo>
                        <a:lnTo>
                          <a:pt x="6" y="3"/>
                        </a:lnTo>
                        <a:lnTo>
                          <a:pt x="7" y="2"/>
                        </a:lnTo>
                        <a:lnTo>
                          <a:pt x="8" y="1"/>
                        </a:lnTo>
                        <a:lnTo>
                          <a:pt x="9" y="1"/>
                        </a:lnTo>
                        <a:lnTo>
                          <a:pt x="10" y="0"/>
                        </a:lnTo>
                        <a:lnTo>
                          <a:pt x="11" y="0"/>
                        </a:lnTo>
                        <a:lnTo>
                          <a:pt x="12" y="0"/>
                        </a:lnTo>
                        <a:lnTo>
                          <a:pt x="14" y="0"/>
                        </a:lnTo>
                        <a:lnTo>
                          <a:pt x="16" y="0"/>
                        </a:lnTo>
                        <a:lnTo>
                          <a:pt x="17" y="1"/>
                        </a:lnTo>
                        <a:lnTo>
                          <a:pt x="18" y="1"/>
                        </a:lnTo>
                        <a:lnTo>
                          <a:pt x="20" y="1"/>
                        </a:lnTo>
                        <a:lnTo>
                          <a:pt x="21" y="2"/>
                        </a:lnTo>
                        <a:lnTo>
                          <a:pt x="22" y="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2391" name="Group 1067"/>
                  <p:cNvGrpSpPr>
                    <a:grpSpLocks/>
                  </p:cNvGrpSpPr>
                  <p:nvPr/>
                </p:nvGrpSpPr>
                <p:grpSpPr bwMode="auto">
                  <a:xfrm>
                    <a:off x="2616" y="2658"/>
                    <a:ext cx="26" cy="29"/>
                    <a:chOff x="2616" y="2658"/>
                    <a:chExt cx="26" cy="29"/>
                  </a:xfrm>
                </p:grpSpPr>
                <p:sp>
                  <p:nvSpPr>
                    <p:cNvPr id="12396" name="Freeform 1068"/>
                    <p:cNvSpPr>
                      <a:spLocks/>
                    </p:cNvSpPr>
                    <p:nvPr/>
                  </p:nvSpPr>
                  <p:spPr bwMode="auto">
                    <a:xfrm>
                      <a:off x="2616" y="2658"/>
                      <a:ext cx="26" cy="29"/>
                    </a:xfrm>
                    <a:custGeom>
                      <a:avLst/>
                      <a:gdLst>
                        <a:gd name="T0" fmla="*/ 22 w 26"/>
                        <a:gd name="T1" fmla="*/ 2 h 29"/>
                        <a:gd name="T2" fmla="*/ 22 w 26"/>
                        <a:gd name="T3" fmla="*/ 3 h 29"/>
                        <a:gd name="T4" fmla="*/ 23 w 26"/>
                        <a:gd name="T5" fmla="*/ 4 h 29"/>
                        <a:gd name="T6" fmla="*/ 24 w 26"/>
                        <a:gd name="T7" fmla="*/ 5 h 29"/>
                        <a:gd name="T8" fmla="*/ 24 w 26"/>
                        <a:gd name="T9" fmla="*/ 7 h 29"/>
                        <a:gd name="T10" fmla="*/ 25 w 26"/>
                        <a:gd name="T11" fmla="*/ 7 h 29"/>
                        <a:gd name="T12" fmla="*/ 25 w 26"/>
                        <a:gd name="T13" fmla="*/ 9 h 29"/>
                        <a:gd name="T14" fmla="*/ 26 w 26"/>
                        <a:gd name="T15" fmla="*/ 9 h 29"/>
                        <a:gd name="T16" fmla="*/ 26 w 26"/>
                        <a:gd name="T17" fmla="*/ 12 h 29"/>
                        <a:gd name="T18" fmla="*/ 26 w 26"/>
                        <a:gd name="T19" fmla="*/ 13 h 29"/>
                        <a:gd name="T20" fmla="*/ 26 w 26"/>
                        <a:gd name="T21" fmla="*/ 15 h 29"/>
                        <a:gd name="T22" fmla="*/ 26 w 26"/>
                        <a:gd name="T23" fmla="*/ 16 h 29"/>
                        <a:gd name="T24" fmla="*/ 26 w 26"/>
                        <a:gd name="T25" fmla="*/ 18 h 29"/>
                        <a:gd name="T26" fmla="*/ 25 w 26"/>
                        <a:gd name="T27" fmla="*/ 19 h 29"/>
                        <a:gd name="T28" fmla="*/ 24 w 26"/>
                        <a:gd name="T29" fmla="*/ 21 h 29"/>
                        <a:gd name="T30" fmla="*/ 24 w 26"/>
                        <a:gd name="T31" fmla="*/ 22 h 29"/>
                        <a:gd name="T32" fmla="*/ 23 w 26"/>
                        <a:gd name="T33" fmla="*/ 23 h 29"/>
                        <a:gd name="T34" fmla="*/ 22 w 26"/>
                        <a:gd name="T35" fmla="*/ 25 h 29"/>
                        <a:gd name="T36" fmla="*/ 21 w 26"/>
                        <a:gd name="T37" fmla="*/ 27 h 29"/>
                        <a:gd name="T38" fmla="*/ 18 w 26"/>
                        <a:gd name="T39" fmla="*/ 28 h 29"/>
                        <a:gd name="T40" fmla="*/ 17 w 26"/>
                        <a:gd name="T41" fmla="*/ 29 h 29"/>
                        <a:gd name="T42" fmla="*/ 16 w 26"/>
                        <a:gd name="T43" fmla="*/ 29 h 29"/>
                        <a:gd name="T44" fmla="*/ 14 w 26"/>
                        <a:gd name="T45" fmla="*/ 29 h 29"/>
                        <a:gd name="T46" fmla="*/ 14 w 26"/>
                        <a:gd name="T47" fmla="*/ 29 h 29"/>
                        <a:gd name="T48" fmla="*/ 12 w 26"/>
                        <a:gd name="T49" fmla="*/ 29 h 29"/>
                        <a:gd name="T50" fmla="*/ 11 w 26"/>
                        <a:gd name="T51" fmla="*/ 29 h 29"/>
                        <a:gd name="T52" fmla="*/ 10 w 26"/>
                        <a:gd name="T53" fmla="*/ 29 h 29"/>
                        <a:gd name="T54" fmla="*/ 9 w 26"/>
                        <a:gd name="T55" fmla="*/ 29 h 29"/>
                        <a:gd name="T56" fmla="*/ 7 w 26"/>
                        <a:gd name="T57" fmla="*/ 28 h 29"/>
                        <a:gd name="T58" fmla="*/ 6 w 26"/>
                        <a:gd name="T59" fmla="*/ 28 h 29"/>
                        <a:gd name="T60" fmla="*/ 5 w 26"/>
                        <a:gd name="T61" fmla="*/ 27 h 29"/>
                        <a:gd name="T62" fmla="*/ 4 w 26"/>
                        <a:gd name="T63" fmla="*/ 25 h 29"/>
                        <a:gd name="T64" fmla="*/ 2 w 26"/>
                        <a:gd name="T65" fmla="*/ 23 h 29"/>
                        <a:gd name="T66" fmla="*/ 1 w 26"/>
                        <a:gd name="T67" fmla="*/ 21 h 29"/>
                        <a:gd name="T68" fmla="*/ 1 w 26"/>
                        <a:gd name="T69" fmla="*/ 20 h 29"/>
                        <a:gd name="T70" fmla="*/ 0 w 26"/>
                        <a:gd name="T71" fmla="*/ 18 h 29"/>
                        <a:gd name="T72" fmla="*/ 0 w 26"/>
                        <a:gd name="T73" fmla="*/ 17 h 29"/>
                        <a:gd name="T74" fmla="*/ 0 w 26"/>
                        <a:gd name="T75" fmla="*/ 15 h 29"/>
                        <a:gd name="T76" fmla="*/ 0 w 26"/>
                        <a:gd name="T77" fmla="*/ 14 h 29"/>
                        <a:gd name="T78" fmla="*/ 0 w 26"/>
                        <a:gd name="T79" fmla="*/ 12 h 29"/>
                        <a:gd name="T80" fmla="*/ 0 w 26"/>
                        <a:gd name="T81" fmla="*/ 9 h 29"/>
                        <a:gd name="T82" fmla="*/ 1 w 26"/>
                        <a:gd name="T83" fmla="*/ 7 h 29"/>
                        <a:gd name="T84" fmla="*/ 2 w 26"/>
                        <a:gd name="T85" fmla="*/ 7 h 29"/>
                        <a:gd name="T86" fmla="*/ 2 w 26"/>
                        <a:gd name="T87" fmla="*/ 5 h 29"/>
                        <a:gd name="T88" fmla="*/ 4 w 26"/>
                        <a:gd name="T89" fmla="*/ 4 h 29"/>
                        <a:gd name="T90" fmla="*/ 5 w 26"/>
                        <a:gd name="T91" fmla="*/ 3 h 29"/>
                        <a:gd name="T92" fmla="*/ 6 w 26"/>
                        <a:gd name="T93" fmla="*/ 3 h 29"/>
                        <a:gd name="T94" fmla="*/ 7 w 26"/>
                        <a:gd name="T95" fmla="*/ 2 h 29"/>
                        <a:gd name="T96" fmla="*/ 8 w 26"/>
                        <a:gd name="T97" fmla="*/ 1 h 29"/>
                        <a:gd name="T98" fmla="*/ 9 w 26"/>
                        <a:gd name="T99" fmla="*/ 1 h 29"/>
                        <a:gd name="T100" fmla="*/ 10 w 26"/>
                        <a:gd name="T101" fmla="*/ 0 h 29"/>
                        <a:gd name="T102" fmla="*/ 11 w 26"/>
                        <a:gd name="T103" fmla="*/ 0 h 29"/>
                        <a:gd name="T104" fmla="*/ 12 w 26"/>
                        <a:gd name="T105" fmla="*/ 0 h 29"/>
                        <a:gd name="T106" fmla="*/ 14 w 26"/>
                        <a:gd name="T107" fmla="*/ 0 h 29"/>
                        <a:gd name="T108" fmla="*/ 14 w 26"/>
                        <a:gd name="T109" fmla="*/ 0 h 29"/>
                        <a:gd name="T110" fmla="*/ 16 w 26"/>
                        <a:gd name="T111" fmla="*/ 0 h 29"/>
                        <a:gd name="T112" fmla="*/ 17 w 26"/>
                        <a:gd name="T113" fmla="*/ 1 h 29"/>
                        <a:gd name="T114" fmla="*/ 18 w 26"/>
                        <a:gd name="T115" fmla="*/ 1 h 29"/>
                        <a:gd name="T116" fmla="*/ 20 w 26"/>
                        <a:gd name="T117" fmla="*/ 1 h 29"/>
                        <a:gd name="T118" fmla="*/ 21 w 26"/>
                        <a:gd name="T119" fmla="*/ 2 h 29"/>
                        <a:gd name="T120" fmla="*/ 22 w 26"/>
                        <a:gd name="T121" fmla="*/ 2 h 29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26"/>
                        <a:gd name="T184" fmla="*/ 0 h 29"/>
                        <a:gd name="T185" fmla="*/ 26 w 26"/>
                        <a:gd name="T186" fmla="*/ 29 h 29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26" h="29">
                          <a:moveTo>
                            <a:pt x="22" y="2"/>
                          </a:moveTo>
                          <a:lnTo>
                            <a:pt x="22" y="3"/>
                          </a:lnTo>
                          <a:lnTo>
                            <a:pt x="23" y="4"/>
                          </a:lnTo>
                          <a:lnTo>
                            <a:pt x="24" y="5"/>
                          </a:lnTo>
                          <a:lnTo>
                            <a:pt x="24" y="7"/>
                          </a:lnTo>
                          <a:lnTo>
                            <a:pt x="25" y="7"/>
                          </a:lnTo>
                          <a:lnTo>
                            <a:pt x="25" y="9"/>
                          </a:lnTo>
                          <a:lnTo>
                            <a:pt x="26" y="9"/>
                          </a:lnTo>
                          <a:lnTo>
                            <a:pt x="26" y="12"/>
                          </a:lnTo>
                          <a:lnTo>
                            <a:pt x="26" y="13"/>
                          </a:lnTo>
                          <a:lnTo>
                            <a:pt x="26" y="15"/>
                          </a:lnTo>
                          <a:lnTo>
                            <a:pt x="26" y="16"/>
                          </a:lnTo>
                          <a:lnTo>
                            <a:pt x="26" y="18"/>
                          </a:lnTo>
                          <a:lnTo>
                            <a:pt x="25" y="19"/>
                          </a:lnTo>
                          <a:lnTo>
                            <a:pt x="24" y="21"/>
                          </a:lnTo>
                          <a:lnTo>
                            <a:pt x="24" y="22"/>
                          </a:lnTo>
                          <a:lnTo>
                            <a:pt x="23" y="23"/>
                          </a:lnTo>
                          <a:lnTo>
                            <a:pt x="22" y="25"/>
                          </a:lnTo>
                          <a:lnTo>
                            <a:pt x="21" y="27"/>
                          </a:lnTo>
                          <a:lnTo>
                            <a:pt x="18" y="28"/>
                          </a:lnTo>
                          <a:lnTo>
                            <a:pt x="17" y="29"/>
                          </a:lnTo>
                          <a:lnTo>
                            <a:pt x="16" y="29"/>
                          </a:lnTo>
                          <a:lnTo>
                            <a:pt x="14" y="29"/>
                          </a:lnTo>
                          <a:lnTo>
                            <a:pt x="12" y="29"/>
                          </a:lnTo>
                          <a:lnTo>
                            <a:pt x="11" y="29"/>
                          </a:lnTo>
                          <a:lnTo>
                            <a:pt x="10" y="29"/>
                          </a:lnTo>
                          <a:lnTo>
                            <a:pt x="9" y="29"/>
                          </a:lnTo>
                          <a:lnTo>
                            <a:pt x="7" y="28"/>
                          </a:lnTo>
                          <a:lnTo>
                            <a:pt x="6" y="28"/>
                          </a:lnTo>
                          <a:lnTo>
                            <a:pt x="5" y="27"/>
                          </a:lnTo>
                          <a:lnTo>
                            <a:pt x="4" y="25"/>
                          </a:lnTo>
                          <a:lnTo>
                            <a:pt x="2" y="23"/>
                          </a:lnTo>
                          <a:lnTo>
                            <a:pt x="1" y="21"/>
                          </a:lnTo>
                          <a:lnTo>
                            <a:pt x="1" y="20"/>
                          </a:lnTo>
                          <a:lnTo>
                            <a:pt x="0" y="18"/>
                          </a:lnTo>
                          <a:lnTo>
                            <a:pt x="0" y="17"/>
                          </a:lnTo>
                          <a:lnTo>
                            <a:pt x="0" y="15"/>
                          </a:lnTo>
                          <a:lnTo>
                            <a:pt x="0" y="14"/>
                          </a:lnTo>
                          <a:lnTo>
                            <a:pt x="0" y="12"/>
                          </a:lnTo>
                          <a:lnTo>
                            <a:pt x="0" y="9"/>
                          </a:lnTo>
                          <a:lnTo>
                            <a:pt x="1" y="7"/>
                          </a:lnTo>
                          <a:lnTo>
                            <a:pt x="2" y="7"/>
                          </a:lnTo>
                          <a:lnTo>
                            <a:pt x="2" y="5"/>
                          </a:lnTo>
                          <a:lnTo>
                            <a:pt x="4" y="4"/>
                          </a:lnTo>
                          <a:lnTo>
                            <a:pt x="5" y="3"/>
                          </a:lnTo>
                          <a:lnTo>
                            <a:pt x="6" y="3"/>
                          </a:lnTo>
                          <a:lnTo>
                            <a:pt x="7" y="2"/>
                          </a:lnTo>
                          <a:lnTo>
                            <a:pt x="8" y="1"/>
                          </a:lnTo>
                          <a:lnTo>
                            <a:pt x="9" y="1"/>
                          </a:lnTo>
                          <a:lnTo>
                            <a:pt x="10" y="0"/>
                          </a:lnTo>
                          <a:lnTo>
                            <a:pt x="11" y="0"/>
                          </a:lnTo>
                          <a:lnTo>
                            <a:pt x="12" y="0"/>
                          </a:lnTo>
                          <a:lnTo>
                            <a:pt x="14" y="0"/>
                          </a:lnTo>
                          <a:lnTo>
                            <a:pt x="16" y="0"/>
                          </a:lnTo>
                          <a:lnTo>
                            <a:pt x="17" y="1"/>
                          </a:lnTo>
                          <a:lnTo>
                            <a:pt x="18" y="1"/>
                          </a:lnTo>
                          <a:lnTo>
                            <a:pt x="20" y="1"/>
                          </a:lnTo>
                          <a:lnTo>
                            <a:pt x="21" y="2"/>
                          </a:lnTo>
                          <a:lnTo>
                            <a:pt x="22" y="2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97" name="Freeform 1069"/>
                    <p:cNvSpPr>
                      <a:spLocks/>
                    </p:cNvSpPr>
                    <p:nvPr/>
                  </p:nvSpPr>
                  <p:spPr bwMode="auto">
                    <a:xfrm>
                      <a:off x="2616" y="2658"/>
                      <a:ext cx="26" cy="29"/>
                    </a:xfrm>
                    <a:custGeom>
                      <a:avLst/>
                      <a:gdLst>
                        <a:gd name="T0" fmla="*/ 22 w 26"/>
                        <a:gd name="T1" fmla="*/ 2 h 29"/>
                        <a:gd name="T2" fmla="*/ 22 w 26"/>
                        <a:gd name="T3" fmla="*/ 3 h 29"/>
                        <a:gd name="T4" fmla="*/ 23 w 26"/>
                        <a:gd name="T5" fmla="*/ 4 h 29"/>
                        <a:gd name="T6" fmla="*/ 24 w 26"/>
                        <a:gd name="T7" fmla="*/ 5 h 29"/>
                        <a:gd name="T8" fmla="*/ 24 w 26"/>
                        <a:gd name="T9" fmla="*/ 7 h 29"/>
                        <a:gd name="T10" fmla="*/ 25 w 26"/>
                        <a:gd name="T11" fmla="*/ 7 h 29"/>
                        <a:gd name="T12" fmla="*/ 25 w 26"/>
                        <a:gd name="T13" fmla="*/ 9 h 29"/>
                        <a:gd name="T14" fmla="*/ 26 w 26"/>
                        <a:gd name="T15" fmla="*/ 9 h 29"/>
                        <a:gd name="T16" fmla="*/ 26 w 26"/>
                        <a:gd name="T17" fmla="*/ 12 h 29"/>
                        <a:gd name="T18" fmla="*/ 26 w 26"/>
                        <a:gd name="T19" fmla="*/ 13 h 29"/>
                        <a:gd name="T20" fmla="*/ 26 w 26"/>
                        <a:gd name="T21" fmla="*/ 15 h 29"/>
                        <a:gd name="T22" fmla="*/ 26 w 26"/>
                        <a:gd name="T23" fmla="*/ 16 h 29"/>
                        <a:gd name="T24" fmla="*/ 26 w 26"/>
                        <a:gd name="T25" fmla="*/ 18 h 29"/>
                        <a:gd name="T26" fmla="*/ 25 w 26"/>
                        <a:gd name="T27" fmla="*/ 19 h 29"/>
                        <a:gd name="T28" fmla="*/ 24 w 26"/>
                        <a:gd name="T29" fmla="*/ 21 h 29"/>
                        <a:gd name="T30" fmla="*/ 24 w 26"/>
                        <a:gd name="T31" fmla="*/ 22 h 29"/>
                        <a:gd name="T32" fmla="*/ 23 w 26"/>
                        <a:gd name="T33" fmla="*/ 23 h 29"/>
                        <a:gd name="T34" fmla="*/ 22 w 26"/>
                        <a:gd name="T35" fmla="*/ 25 h 29"/>
                        <a:gd name="T36" fmla="*/ 21 w 26"/>
                        <a:gd name="T37" fmla="*/ 27 h 29"/>
                        <a:gd name="T38" fmla="*/ 18 w 26"/>
                        <a:gd name="T39" fmla="*/ 28 h 29"/>
                        <a:gd name="T40" fmla="*/ 17 w 26"/>
                        <a:gd name="T41" fmla="*/ 29 h 29"/>
                        <a:gd name="T42" fmla="*/ 16 w 26"/>
                        <a:gd name="T43" fmla="*/ 29 h 29"/>
                        <a:gd name="T44" fmla="*/ 14 w 26"/>
                        <a:gd name="T45" fmla="*/ 29 h 29"/>
                        <a:gd name="T46" fmla="*/ 14 w 26"/>
                        <a:gd name="T47" fmla="*/ 29 h 29"/>
                        <a:gd name="T48" fmla="*/ 12 w 26"/>
                        <a:gd name="T49" fmla="*/ 29 h 29"/>
                        <a:gd name="T50" fmla="*/ 11 w 26"/>
                        <a:gd name="T51" fmla="*/ 29 h 29"/>
                        <a:gd name="T52" fmla="*/ 10 w 26"/>
                        <a:gd name="T53" fmla="*/ 29 h 29"/>
                        <a:gd name="T54" fmla="*/ 9 w 26"/>
                        <a:gd name="T55" fmla="*/ 29 h 29"/>
                        <a:gd name="T56" fmla="*/ 7 w 26"/>
                        <a:gd name="T57" fmla="*/ 28 h 29"/>
                        <a:gd name="T58" fmla="*/ 6 w 26"/>
                        <a:gd name="T59" fmla="*/ 28 h 29"/>
                        <a:gd name="T60" fmla="*/ 5 w 26"/>
                        <a:gd name="T61" fmla="*/ 27 h 29"/>
                        <a:gd name="T62" fmla="*/ 4 w 26"/>
                        <a:gd name="T63" fmla="*/ 25 h 29"/>
                        <a:gd name="T64" fmla="*/ 2 w 26"/>
                        <a:gd name="T65" fmla="*/ 23 h 29"/>
                        <a:gd name="T66" fmla="*/ 1 w 26"/>
                        <a:gd name="T67" fmla="*/ 21 h 29"/>
                        <a:gd name="T68" fmla="*/ 1 w 26"/>
                        <a:gd name="T69" fmla="*/ 20 h 29"/>
                        <a:gd name="T70" fmla="*/ 0 w 26"/>
                        <a:gd name="T71" fmla="*/ 18 h 29"/>
                        <a:gd name="T72" fmla="*/ 0 w 26"/>
                        <a:gd name="T73" fmla="*/ 17 h 29"/>
                        <a:gd name="T74" fmla="*/ 0 w 26"/>
                        <a:gd name="T75" fmla="*/ 15 h 29"/>
                        <a:gd name="T76" fmla="*/ 0 w 26"/>
                        <a:gd name="T77" fmla="*/ 14 h 29"/>
                        <a:gd name="T78" fmla="*/ 0 w 26"/>
                        <a:gd name="T79" fmla="*/ 12 h 29"/>
                        <a:gd name="T80" fmla="*/ 0 w 26"/>
                        <a:gd name="T81" fmla="*/ 9 h 29"/>
                        <a:gd name="T82" fmla="*/ 1 w 26"/>
                        <a:gd name="T83" fmla="*/ 7 h 29"/>
                        <a:gd name="T84" fmla="*/ 2 w 26"/>
                        <a:gd name="T85" fmla="*/ 7 h 29"/>
                        <a:gd name="T86" fmla="*/ 2 w 26"/>
                        <a:gd name="T87" fmla="*/ 5 h 29"/>
                        <a:gd name="T88" fmla="*/ 4 w 26"/>
                        <a:gd name="T89" fmla="*/ 4 h 29"/>
                        <a:gd name="T90" fmla="*/ 5 w 26"/>
                        <a:gd name="T91" fmla="*/ 3 h 29"/>
                        <a:gd name="T92" fmla="*/ 6 w 26"/>
                        <a:gd name="T93" fmla="*/ 3 h 29"/>
                        <a:gd name="T94" fmla="*/ 7 w 26"/>
                        <a:gd name="T95" fmla="*/ 2 h 29"/>
                        <a:gd name="T96" fmla="*/ 8 w 26"/>
                        <a:gd name="T97" fmla="*/ 1 h 29"/>
                        <a:gd name="T98" fmla="*/ 9 w 26"/>
                        <a:gd name="T99" fmla="*/ 1 h 29"/>
                        <a:gd name="T100" fmla="*/ 10 w 26"/>
                        <a:gd name="T101" fmla="*/ 0 h 29"/>
                        <a:gd name="T102" fmla="*/ 11 w 26"/>
                        <a:gd name="T103" fmla="*/ 0 h 29"/>
                        <a:gd name="T104" fmla="*/ 12 w 26"/>
                        <a:gd name="T105" fmla="*/ 0 h 29"/>
                        <a:gd name="T106" fmla="*/ 14 w 26"/>
                        <a:gd name="T107" fmla="*/ 0 h 29"/>
                        <a:gd name="T108" fmla="*/ 14 w 26"/>
                        <a:gd name="T109" fmla="*/ 0 h 29"/>
                        <a:gd name="T110" fmla="*/ 16 w 26"/>
                        <a:gd name="T111" fmla="*/ 0 h 29"/>
                        <a:gd name="T112" fmla="*/ 17 w 26"/>
                        <a:gd name="T113" fmla="*/ 1 h 29"/>
                        <a:gd name="T114" fmla="*/ 18 w 26"/>
                        <a:gd name="T115" fmla="*/ 1 h 29"/>
                        <a:gd name="T116" fmla="*/ 20 w 26"/>
                        <a:gd name="T117" fmla="*/ 1 h 29"/>
                        <a:gd name="T118" fmla="*/ 21 w 26"/>
                        <a:gd name="T119" fmla="*/ 2 h 29"/>
                        <a:gd name="T120" fmla="*/ 22 w 26"/>
                        <a:gd name="T121" fmla="*/ 2 h 29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26"/>
                        <a:gd name="T184" fmla="*/ 0 h 29"/>
                        <a:gd name="T185" fmla="*/ 26 w 26"/>
                        <a:gd name="T186" fmla="*/ 29 h 29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26" h="29">
                          <a:moveTo>
                            <a:pt x="22" y="2"/>
                          </a:moveTo>
                          <a:lnTo>
                            <a:pt x="22" y="3"/>
                          </a:lnTo>
                          <a:lnTo>
                            <a:pt x="23" y="4"/>
                          </a:lnTo>
                          <a:lnTo>
                            <a:pt x="24" y="5"/>
                          </a:lnTo>
                          <a:lnTo>
                            <a:pt x="24" y="7"/>
                          </a:lnTo>
                          <a:lnTo>
                            <a:pt x="25" y="7"/>
                          </a:lnTo>
                          <a:lnTo>
                            <a:pt x="25" y="9"/>
                          </a:lnTo>
                          <a:lnTo>
                            <a:pt x="26" y="9"/>
                          </a:lnTo>
                          <a:lnTo>
                            <a:pt x="26" y="12"/>
                          </a:lnTo>
                          <a:lnTo>
                            <a:pt x="26" y="13"/>
                          </a:lnTo>
                          <a:lnTo>
                            <a:pt x="26" y="15"/>
                          </a:lnTo>
                          <a:lnTo>
                            <a:pt x="26" y="16"/>
                          </a:lnTo>
                          <a:lnTo>
                            <a:pt x="26" y="18"/>
                          </a:lnTo>
                          <a:lnTo>
                            <a:pt x="25" y="19"/>
                          </a:lnTo>
                          <a:lnTo>
                            <a:pt x="24" y="21"/>
                          </a:lnTo>
                          <a:lnTo>
                            <a:pt x="24" y="22"/>
                          </a:lnTo>
                          <a:lnTo>
                            <a:pt x="23" y="23"/>
                          </a:lnTo>
                          <a:lnTo>
                            <a:pt x="22" y="25"/>
                          </a:lnTo>
                          <a:lnTo>
                            <a:pt x="21" y="27"/>
                          </a:lnTo>
                          <a:lnTo>
                            <a:pt x="18" y="28"/>
                          </a:lnTo>
                          <a:lnTo>
                            <a:pt x="17" y="29"/>
                          </a:lnTo>
                          <a:lnTo>
                            <a:pt x="16" y="29"/>
                          </a:lnTo>
                          <a:lnTo>
                            <a:pt x="14" y="29"/>
                          </a:lnTo>
                          <a:lnTo>
                            <a:pt x="12" y="29"/>
                          </a:lnTo>
                          <a:lnTo>
                            <a:pt x="11" y="29"/>
                          </a:lnTo>
                          <a:lnTo>
                            <a:pt x="10" y="29"/>
                          </a:lnTo>
                          <a:lnTo>
                            <a:pt x="9" y="29"/>
                          </a:lnTo>
                          <a:lnTo>
                            <a:pt x="7" y="28"/>
                          </a:lnTo>
                          <a:lnTo>
                            <a:pt x="6" y="28"/>
                          </a:lnTo>
                          <a:lnTo>
                            <a:pt x="5" y="27"/>
                          </a:lnTo>
                          <a:lnTo>
                            <a:pt x="4" y="25"/>
                          </a:lnTo>
                          <a:lnTo>
                            <a:pt x="2" y="23"/>
                          </a:lnTo>
                          <a:lnTo>
                            <a:pt x="1" y="21"/>
                          </a:lnTo>
                          <a:lnTo>
                            <a:pt x="1" y="20"/>
                          </a:lnTo>
                          <a:lnTo>
                            <a:pt x="0" y="18"/>
                          </a:lnTo>
                          <a:lnTo>
                            <a:pt x="0" y="17"/>
                          </a:lnTo>
                          <a:lnTo>
                            <a:pt x="0" y="15"/>
                          </a:lnTo>
                          <a:lnTo>
                            <a:pt x="0" y="14"/>
                          </a:lnTo>
                          <a:lnTo>
                            <a:pt x="0" y="12"/>
                          </a:lnTo>
                          <a:lnTo>
                            <a:pt x="0" y="9"/>
                          </a:lnTo>
                          <a:lnTo>
                            <a:pt x="1" y="7"/>
                          </a:lnTo>
                          <a:lnTo>
                            <a:pt x="2" y="7"/>
                          </a:lnTo>
                          <a:lnTo>
                            <a:pt x="2" y="5"/>
                          </a:lnTo>
                          <a:lnTo>
                            <a:pt x="4" y="4"/>
                          </a:lnTo>
                          <a:lnTo>
                            <a:pt x="5" y="3"/>
                          </a:lnTo>
                          <a:lnTo>
                            <a:pt x="6" y="3"/>
                          </a:lnTo>
                          <a:lnTo>
                            <a:pt x="7" y="2"/>
                          </a:lnTo>
                          <a:lnTo>
                            <a:pt x="8" y="1"/>
                          </a:lnTo>
                          <a:lnTo>
                            <a:pt x="9" y="1"/>
                          </a:lnTo>
                          <a:lnTo>
                            <a:pt x="10" y="0"/>
                          </a:lnTo>
                          <a:lnTo>
                            <a:pt x="11" y="0"/>
                          </a:lnTo>
                          <a:lnTo>
                            <a:pt x="12" y="0"/>
                          </a:lnTo>
                          <a:lnTo>
                            <a:pt x="14" y="0"/>
                          </a:lnTo>
                          <a:lnTo>
                            <a:pt x="16" y="0"/>
                          </a:lnTo>
                          <a:lnTo>
                            <a:pt x="17" y="1"/>
                          </a:lnTo>
                          <a:lnTo>
                            <a:pt x="18" y="1"/>
                          </a:lnTo>
                          <a:lnTo>
                            <a:pt x="20" y="1"/>
                          </a:lnTo>
                          <a:lnTo>
                            <a:pt x="21" y="2"/>
                          </a:lnTo>
                          <a:lnTo>
                            <a:pt x="22" y="2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2392" name="Freeform 1070"/>
                  <p:cNvSpPr>
                    <a:spLocks/>
                  </p:cNvSpPr>
                  <p:nvPr/>
                </p:nvSpPr>
                <p:spPr bwMode="auto">
                  <a:xfrm>
                    <a:off x="2625" y="2662"/>
                    <a:ext cx="14" cy="12"/>
                  </a:xfrm>
                  <a:custGeom>
                    <a:avLst/>
                    <a:gdLst>
                      <a:gd name="T0" fmla="*/ 14 w 14"/>
                      <a:gd name="T1" fmla="*/ 12 h 12"/>
                      <a:gd name="T2" fmla="*/ 13 w 14"/>
                      <a:gd name="T3" fmla="*/ 12 h 12"/>
                      <a:gd name="T4" fmla="*/ 12 w 14"/>
                      <a:gd name="T5" fmla="*/ 11 h 12"/>
                      <a:gd name="T6" fmla="*/ 9 w 14"/>
                      <a:gd name="T7" fmla="*/ 10 h 12"/>
                      <a:gd name="T8" fmla="*/ 8 w 14"/>
                      <a:gd name="T9" fmla="*/ 9 h 12"/>
                      <a:gd name="T10" fmla="*/ 6 w 14"/>
                      <a:gd name="T11" fmla="*/ 8 h 12"/>
                      <a:gd name="T12" fmla="*/ 5 w 14"/>
                      <a:gd name="T13" fmla="*/ 5 h 12"/>
                      <a:gd name="T14" fmla="*/ 4 w 14"/>
                      <a:gd name="T15" fmla="*/ 4 h 12"/>
                      <a:gd name="T16" fmla="*/ 2 w 14"/>
                      <a:gd name="T17" fmla="*/ 3 h 12"/>
                      <a:gd name="T18" fmla="*/ 1 w 14"/>
                      <a:gd name="T19" fmla="*/ 2 h 12"/>
                      <a:gd name="T20" fmla="*/ 0 w 14"/>
                      <a:gd name="T21" fmla="*/ 1 h 12"/>
                      <a:gd name="T22" fmla="*/ 0 w 14"/>
                      <a:gd name="T23" fmla="*/ 0 h 12"/>
                      <a:gd name="T24" fmla="*/ 2 w 14"/>
                      <a:gd name="T25" fmla="*/ 1 h 12"/>
                      <a:gd name="T26" fmla="*/ 3 w 14"/>
                      <a:gd name="T27" fmla="*/ 2 h 12"/>
                      <a:gd name="T28" fmla="*/ 4 w 14"/>
                      <a:gd name="T29" fmla="*/ 3 h 12"/>
                      <a:gd name="T30" fmla="*/ 5 w 14"/>
                      <a:gd name="T31" fmla="*/ 4 h 12"/>
                      <a:gd name="T32" fmla="*/ 8 w 14"/>
                      <a:gd name="T33" fmla="*/ 5 h 12"/>
                      <a:gd name="T34" fmla="*/ 9 w 14"/>
                      <a:gd name="T35" fmla="*/ 8 h 12"/>
                      <a:gd name="T36" fmla="*/ 11 w 14"/>
                      <a:gd name="T37" fmla="*/ 9 h 12"/>
                      <a:gd name="T38" fmla="*/ 12 w 14"/>
                      <a:gd name="T39" fmla="*/ 10 h 12"/>
                      <a:gd name="T40" fmla="*/ 13 w 14"/>
                      <a:gd name="T41" fmla="*/ 11 h 12"/>
                      <a:gd name="T42" fmla="*/ 14 w 14"/>
                      <a:gd name="T43" fmla="*/ 12 h 12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4"/>
                      <a:gd name="T67" fmla="*/ 0 h 12"/>
                      <a:gd name="T68" fmla="*/ 14 w 14"/>
                      <a:gd name="T69" fmla="*/ 12 h 12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4" h="12">
                        <a:moveTo>
                          <a:pt x="14" y="12"/>
                        </a:moveTo>
                        <a:lnTo>
                          <a:pt x="13" y="12"/>
                        </a:lnTo>
                        <a:lnTo>
                          <a:pt x="12" y="11"/>
                        </a:lnTo>
                        <a:lnTo>
                          <a:pt x="9" y="10"/>
                        </a:lnTo>
                        <a:lnTo>
                          <a:pt x="8" y="9"/>
                        </a:lnTo>
                        <a:lnTo>
                          <a:pt x="6" y="8"/>
                        </a:lnTo>
                        <a:lnTo>
                          <a:pt x="5" y="5"/>
                        </a:lnTo>
                        <a:lnTo>
                          <a:pt x="4" y="4"/>
                        </a:lnTo>
                        <a:lnTo>
                          <a:pt x="2" y="3"/>
                        </a:lnTo>
                        <a:lnTo>
                          <a:pt x="1" y="2"/>
                        </a:lnTo>
                        <a:lnTo>
                          <a:pt x="0" y="1"/>
                        </a:lnTo>
                        <a:lnTo>
                          <a:pt x="0" y="0"/>
                        </a:lnTo>
                        <a:lnTo>
                          <a:pt x="2" y="1"/>
                        </a:lnTo>
                        <a:lnTo>
                          <a:pt x="3" y="2"/>
                        </a:lnTo>
                        <a:lnTo>
                          <a:pt x="4" y="3"/>
                        </a:lnTo>
                        <a:lnTo>
                          <a:pt x="5" y="4"/>
                        </a:lnTo>
                        <a:lnTo>
                          <a:pt x="8" y="5"/>
                        </a:lnTo>
                        <a:lnTo>
                          <a:pt x="9" y="8"/>
                        </a:lnTo>
                        <a:lnTo>
                          <a:pt x="11" y="9"/>
                        </a:lnTo>
                        <a:lnTo>
                          <a:pt x="12" y="10"/>
                        </a:lnTo>
                        <a:lnTo>
                          <a:pt x="13" y="11"/>
                        </a:lnTo>
                        <a:lnTo>
                          <a:pt x="14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2393" name="Group 1071"/>
                  <p:cNvGrpSpPr>
                    <a:grpSpLocks/>
                  </p:cNvGrpSpPr>
                  <p:nvPr/>
                </p:nvGrpSpPr>
                <p:grpSpPr bwMode="auto">
                  <a:xfrm>
                    <a:off x="2625" y="2662"/>
                    <a:ext cx="14" cy="12"/>
                    <a:chOff x="2625" y="2662"/>
                    <a:chExt cx="14" cy="12"/>
                  </a:xfrm>
                </p:grpSpPr>
                <p:sp>
                  <p:nvSpPr>
                    <p:cNvPr id="12394" name="Freeform 1072"/>
                    <p:cNvSpPr>
                      <a:spLocks/>
                    </p:cNvSpPr>
                    <p:nvPr/>
                  </p:nvSpPr>
                  <p:spPr bwMode="auto">
                    <a:xfrm>
                      <a:off x="2625" y="2662"/>
                      <a:ext cx="14" cy="12"/>
                    </a:xfrm>
                    <a:custGeom>
                      <a:avLst/>
                      <a:gdLst>
                        <a:gd name="T0" fmla="*/ 14 w 14"/>
                        <a:gd name="T1" fmla="*/ 12 h 12"/>
                        <a:gd name="T2" fmla="*/ 13 w 14"/>
                        <a:gd name="T3" fmla="*/ 12 h 12"/>
                        <a:gd name="T4" fmla="*/ 12 w 14"/>
                        <a:gd name="T5" fmla="*/ 11 h 12"/>
                        <a:gd name="T6" fmla="*/ 9 w 14"/>
                        <a:gd name="T7" fmla="*/ 10 h 12"/>
                        <a:gd name="T8" fmla="*/ 8 w 14"/>
                        <a:gd name="T9" fmla="*/ 9 h 12"/>
                        <a:gd name="T10" fmla="*/ 6 w 14"/>
                        <a:gd name="T11" fmla="*/ 8 h 12"/>
                        <a:gd name="T12" fmla="*/ 5 w 14"/>
                        <a:gd name="T13" fmla="*/ 5 h 12"/>
                        <a:gd name="T14" fmla="*/ 4 w 14"/>
                        <a:gd name="T15" fmla="*/ 4 h 12"/>
                        <a:gd name="T16" fmla="*/ 2 w 14"/>
                        <a:gd name="T17" fmla="*/ 3 h 12"/>
                        <a:gd name="T18" fmla="*/ 1 w 14"/>
                        <a:gd name="T19" fmla="*/ 2 h 12"/>
                        <a:gd name="T20" fmla="*/ 0 w 14"/>
                        <a:gd name="T21" fmla="*/ 1 h 12"/>
                        <a:gd name="T22" fmla="*/ 0 w 14"/>
                        <a:gd name="T23" fmla="*/ 0 h 12"/>
                        <a:gd name="T24" fmla="*/ 2 w 14"/>
                        <a:gd name="T25" fmla="*/ 1 h 12"/>
                        <a:gd name="T26" fmla="*/ 3 w 14"/>
                        <a:gd name="T27" fmla="*/ 2 h 12"/>
                        <a:gd name="T28" fmla="*/ 4 w 14"/>
                        <a:gd name="T29" fmla="*/ 3 h 12"/>
                        <a:gd name="T30" fmla="*/ 5 w 14"/>
                        <a:gd name="T31" fmla="*/ 4 h 12"/>
                        <a:gd name="T32" fmla="*/ 8 w 14"/>
                        <a:gd name="T33" fmla="*/ 5 h 12"/>
                        <a:gd name="T34" fmla="*/ 9 w 14"/>
                        <a:gd name="T35" fmla="*/ 8 h 12"/>
                        <a:gd name="T36" fmla="*/ 11 w 14"/>
                        <a:gd name="T37" fmla="*/ 9 h 12"/>
                        <a:gd name="T38" fmla="*/ 12 w 14"/>
                        <a:gd name="T39" fmla="*/ 10 h 12"/>
                        <a:gd name="T40" fmla="*/ 13 w 14"/>
                        <a:gd name="T41" fmla="*/ 11 h 12"/>
                        <a:gd name="T42" fmla="*/ 14 w 14"/>
                        <a:gd name="T43" fmla="*/ 12 h 12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w 14"/>
                        <a:gd name="T67" fmla="*/ 0 h 12"/>
                        <a:gd name="T68" fmla="*/ 14 w 14"/>
                        <a:gd name="T69" fmla="*/ 12 h 12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T66" t="T67" r="T68" b="T69"/>
                      <a:pathLst>
                        <a:path w="14" h="12">
                          <a:moveTo>
                            <a:pt x="14" y="12"/>
                          </a:moveTo>
                          <a:lnTo>
                            <a:pt x="13" y="12"/>
                          </a:lnTo>
                          <a:lnTo>
                            <a:pt x="12" y="11"/>
                          </a:lnTo>
                          <a:lnTo>
                            <a:pt x="9" y="10"/>
                          </a:lnTo>
                          <a:lnTo>
                            <a:pt x="8" y="9"/>
                          </a:lnTo>
                          <a:lnTo>
                            <a:pt x="6" y="8"/>
                          </a:lnTo>
                          <a:lnTo>
                            <a:pt x="5" y="5"/>
                          </a:lnTo>
                          <a:lnTo>
                            <a:pt x="4" y="4"/>
                          </a:lnTo>
                          <a:lnTo>
                            <a:pt x="2" y="3"/>
                          </a:lnTo>
                          <a:lnTo>
                            <a:pt x="1" y="2"/>
                          </a:ln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2" y="1"/>
                          </a:lnTo>
                          <a:lnTo>
                            <a:pt x="3" y="2"/>
                          </a:lnTo>
                          <a:lnTo>
                            <a:pt x="4" y="3"/>
                          </a:lnTo>
                          <a:lnTo>
                            <a:pt x="5" y="4"/>
                          </a:lnTo>
                          <a:lnTo>
                            <a:pt x="8" y="5"/>
                          </a:lnTo>
                          <a:lnTo>
                            <a:pt x="9" y="8"/>
                          </a:lnTo>
                          <a:lnTo>
                            <a:pt x="11" y="9"/>
                          </a:lnTo>
                          <a:lnTo>
                            <a:pt x="12" y="10"/>
                          </a:lnTo>
                          <a:lnTo>
                            <a:pt x="13" y="11"/>
                          </a:lnTo>
                          <a:lnTo>
                            <a:pt x="14" y="12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95" name="Freeform 1073"/>
                    <p:cNvSpPr>
                      <a:spLocks/>
                    </p:cNvSpPr>
                    <p:nvPr/>
                  </p:nvSpPr>
                  <p:spPr bwMode="auto">
                    <a:xfrm>
                      <a:off x="2625" y="2662"/>
                      <a:ext cx="14" cy="12"/>
                    </a:xfrm>
                    <a:custGeom>
                      <a:avLst/>
                      <a:gdLst>
                        <a:gd name="T0" fmla="*/ 14 w 14"/>
                        <a:gd name="T1" fmla="*/ 12 h 12"/>
                        <a:gd name="T2" fmla="*/ 13 w 14"/>
                        <a:gd name="T3" fmla="*/ 12 h 12"/>
                        <a:gd name="T4" fmla="*/ 12 w 14"/>
                        <a:gd name="T5" fmla="*/ 11 h 12"/>
                        <a:gd name="T6" fmla="*/ 9 w 14"/>
                        <a:gd name="T7" fmla="*/ 10 h 12"/>
                        <a:gd name="T8" fmla="*/ 8 w 14"/>
                        <a:gd name="T9" fmla="*/ 9 h 12"/>
                        <a:gd name="T10" fmla="*/ 6 w 14"/>
                        <a:gd name="T11" fmla="*/ 8 h 12"/>
                        <a:gd name="T12" fmla="*/ 5 w 14"/>
                        <a:gd name="T13" fmla="*/ 5 h 12"/>
                        <a:gd name="T14" fmla="*/ 4 w 14"/>
                        <a:gd name="T15" fmla="*/ 4 h 12"/>
                        <a:gd name="T16" fmla="*/ 2 w 14"/>
                        <a:gd name="T17" fmla="*/ 3 h 12"/>
                        <a:gd name="T18" fmla="*/ 1 w 14"/>
                        <a:gd name="T19" fmla="*/ 2 h 12"/>
                        <a:gd name="T20" fmla="*/ 0 w 14"/>
                        <a:gd name="T21" fmla="*/ 1 h 12"/>
                        <a:gd name="T22" fmla="*/ 0 w 14"/>
                        <a:gd name="T23" fmla="*/ 0 h 12"/>
                        <a:gd name="T24" fmla="*/ 2 w 14"/>
                        <a:gd name="T25" fmla="*/ 1 h 12"/>
                        <a:gd name="T26" fmla="*/ 3 w 14"/>
                        <a:gd name="T27" fmla="*/ 2 h 12"/>
                        <a:gd name="T28" fmla="*/ 4 w 14"/>
                        <a:gd name="T29" fmla="*/ 3 h 12"/>
                        <a:gd name="T30" fmla="*/ 5 w 14"/>
                        <a:gd name="T31" fmla="*/ 4 h 12"/>
                        <a:gd name="T32" fmla="*/ 8 w 14"/>
                        <a:gd name="T33" fmla="*/ 5 h 12"/>
                        <a:gd name="T34" fmla="*/ 9 w 14"/>
                        <a:gd name="T35" fmla="*/ 8 h 12"/>
                        <a:gd name="T36" fmla="*/ 11 w 14"/>
                        <a:gd name="T37" fmla="*/ 9 h 12"/>
                        <a:gd name="T38" fmla="*/ 12 w 14"/>
                        <a:gd name="T39" fmla="*/ 10 h 12"/>
                        <a:gd name="T40" fmla="*/ 13 w 14"/>
                        <a:gd name="T41" fmla="*/ 11 h 12"/>
                        <a:gd name="T42" fmla="*/ 14 w 14"/>
                        <a:gd name="T43" fmla="*/ 12 h 12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w 14"/>
                        <a:gd name="T67" fmla="*/ 0 h 12"/>
                        <a:gd name="T68" fmla="*/ 14 w 14"/>
                        <a:gd name="T69" fmla="*/ 12 h 12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T66" t="T67" r="T68" b="T69"/>
                      <a:pathLst>
                        <a:path w="14" h="12">
                          <a:moveTo>
                            <a:pt x="14" y="12"/>
                          </a:moveTo>
                          <a:lnTo>
                            <a:pt x="13" y="12"/>
                          </a:lnTo>
                          <a:lnTo>
                            <a:pt x="12" y="11"/>
                          </a:lnTo>
                          <a:lnTo>
                            <a:pt x="9" y="10"/>
                          </a:lnTo>
                          <a:lnTo>
                            <a:pt x="8" y="9"/>
                          </a:lnTo>
                          <a:lnTo>
                            <a:pt x="6" y="8"/>
                          </a:lnTo>
                          <a:lnTo>
                            <a:pt x="5" y="5"/>
                          </a:lnTo>
                          <a:lnTo>
                            <a:pt x="4" y="4"/>
                          </a:lnTo>
                          <a:lnTo>
                            <a:pt x="2" y="3"/>
                          </a:lnTo>
                          <a:lnTo>
                            <a:pt x="1" y="2"/>
                          </a:ln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2" y="1"/>
                          </a:lnTo>
                          <a:lnTo>
                            <a:pt x="3" y="2"/>
                          </a:lnTo>
                          <a:lnTo>
                            <a:pt x="4" y="3"/>
                          </a:lnTo>
                          <a:lnTo>
                            <a:pt x="5" y="4"/>
                          </a:lnTo>
                          <a:lnTo>
                            <a:pt x="8" y="5"/>
                          </a:lnTo>
                          <a:lnTo>
                            <a:pt x="9" y="8"/>
                          </a:lnTo>
                          <a:lnTo>
                            <a:pt x="11" y="9"/>
                          </a:lnTo>
                          <a:lnTo>
                            <a:pt x="12" y="10"/>
                          </a:lnTo>
                          <a:lnTo>
                            <a:pt x="13" y="11"/>
                          </a:lnTo>
                          <a:lnTo>
                            <a:pt x="14" y="12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12317" name="Rectangle 1074"/>
            <p:cNvSpPr>
              <a:spLocks noChangeArrowheads="1"/>
            </p:cNvSpPr>
            <p:nvPr/>
          </p:nvSpPr>
          <p:spPr bwMode="auto">
            <a:xfrm>
              <a:off x="2199" y="3488"/>
              <a:ext cx="1720" cy="643"/>
            </a:xfrm>
            <a:prstGeom prst="rect">
              <a:avLst/>
            </a:prstGeom>
            <a:solidFill>
              <a:srgbClr val="FF0000"/>
            </a:solidFill>
            <a:ln w="444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grpSp>
          <p:nvGrpSpPr>
            <p:cNvPr id="12318" name="Group 1075"/>
            <p:cNvGrpSpPr>
              <a:grpSpLocks/>
            </p:cNvGrpSpPr>
            <p:nvPr/>
          </p:nvGrpSpPr>
          <p:grpSpPr bwMode="auto">
            <a:xfrm>
              <a:off x="2329" y="3692"/>
              <a:ext cx="301" cy="274"/>
              <a:chOff x="1983" y="3136"/>
              <a:chExt cx="306" cy="300"/>
            </a:xfrm>
          </p:grpSpPr>
          <p:sp>
            <p:nvSpPr>
              <p:cNvPr id="12344" name="Freeform 1076"/>
              <p:cNvSpPr>
                <a:spLocks/>
              </p:cNvSpPr>
              <p:nvPr/>
            </p:nvSpPr>
            <p:spPr bwMode="auto">
              <a:xfrm>
                <a:off x="1983" y="3136"/>
                <a:ext cx="300" cy="300"/>
              </a:xfrm>
              <a:custGeom>
                <a:avLst/>
                <a:gdLst>
                  <a:gd name="T0" fmla="*/ 171 w 300"/>
                  <a:gd name="T1" fmla="*/ 298 h 300"/>
                  <a:gd name="T2" fmla="*/ 199 w 300"/>
                  <a:gd name="T3" fmla="*/ 292 h 300"/>
                  <a:gd name="T4" fmla="*/ 225 w 300"/>
                  <a:gd name="T5" fmla="*/ 280 h 300"/>
                  <a:gd name="T6" fmla="*/ 249 w 300"/>
                  <a:gd name="T7" fmla="*/ 264 h 300"/>
                  <a:gd name="T8" fmla="*/ 268 w 300"/>
                  <a:gd name="T9" fmla="*/ 243 h 300"/>
                  <a:gd name="T10" fmla="*/ 283 w 300"/>
                  <a:gd name="T11" fmla="*/ 219 h 300"/>
                  <a:gd name="T12" fmla="*/ 293 w 300"/>
                  <a:gd name="T13" fmla="*/ 192 h 300"/>
                  <a:gd name="T14" fmla="*/ 299 w 300"/>
                  <a:gd name="T15" fmla="*/ 163 h 300"/>
                  <a:gd name="T16" fmla="*/ 299 w 300"/>
                  <a:gd name="T17" fmla="*/ 133 h 300"/>
                  <a:gd name="T18" fmla="*/ 293 w 300"/>
                  <a:gd name="T19" fmla="*/ 104 h 300"/>
                  <a:gd name="T20" fmla="*/ 282 w 300"/>
                  <a:gd name="T21" fmla="*/ 77 h 300"/>
                  <a:gd name="T22" fmla="*/ 266 w 300"/>
                  <a:gd name="T23" fmla="*/ 54 h 300"/>
                  <a:gd name="T24" fmla="*/ 245 w 300"/>
                  <a:gd name="T25" fmla="*/ 35 h 300"/>
                  <a:gd name="T26" fmla="*/ 222 w 300"/>
                  <a:gd name="T27" fmla="*/ 19 h 300"/>
                  <a:gd name="T28" fmla="*/ 195 w 300"/>
                  <a:gd name="T29" fmla="*/ 7 h 300"/>
                  <a:gd name="T30" fmla="*/ 166 w 300"/>
                  <a:gd name="T31" fmla="*/ 1 h 300"/>
                  <a:gd name="T32" fmla="*/ 136 w 300"/>
                  <a:gd name="T33" fmla="*/ 1 h 300"/>
                  <a:gd name="T34" fmla="*/ 108 w 300"/>
                  <a:gd name="T35" fmla="*/ 6 h 300"/>
                  <a:gd name="T36" fmla="*/ 81 w 300"/>
                  <a:gd name="T37" fmla="*/ 16 h 300"/>
                  <a:gd name="T38" fmla="*/ 56 w 300"/>
                  <a:gd name="T39" fmla="*/ 30 h 300"/>
                  <a:gd name="T40" fmla="*/ 36 w 300"/>
                  <a:gd name="T41" fmla="*/ 50 h 300"/>
                  <a:gd name="T42" fmla="*/ 19 w 300"/>
                  <a:gd name="T43" fmla="*/ 73 h 300"/>
                  <a:gd name="T44" fmla="*/ 7 w 300"/>
                  <a:gd name="T45" fmla="*/ 101 h 300"/>
                  <a:gd name="T46" fmla="*/ 1 w 300"/>
                  <a:gd name="T47" fmla="*/ 131 h 300"/>
                  <a:gd name="T48" fmla="*/ 1 w 300"/>
                  <a:gd name="T49" fmla="*/ 164 h 300"/>
                  <a:gd name="T50" fmla="*/ 7 w 300"/>
                  <a:gd name="T51" fmla="*/ 195 h 300"/>
                  <a:gd name="T52" fmla="*/ 19 w 300"/>
                  <a:gd name="T53" fmla="*/ 223 h 300"/>
                  <a:gd name="T54" fmla="*/ 36 w 300"/>
                  <a:gd name="T55" fmla="*/ 246 h 300"/>
                  <a:gd name="T56" fmla="*/ 58 w 300"/>
                  <a:gd name="T57" fmla="*/ 266 h 300"/>
                  <a:gd name="T58" fmla="*/ 83 w 300"/>
                  <a:gd name="T59" fmla="*/ 282 h 300"/>
                  <a:gd name="T60" fmla="*/ 111 w 300"/>
                  <a:gd name="T61" fmla="*/ 293 h 300"/>
                  <a:gd name="T62" fmla="*/ 141 w 300"/>
                  <a:gd name="T63" fmla="*/ 298 h 300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00"/>
                  <a:gd name="T97" fmla="*/ 0 h 300"/>
                  <a:gd name="T98" fmla="*/ 300 w 300"/>
                  <a:gd name="T99" fmla="*/ 300 h 300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00" h="300">
                    <a:moveTo>
                      <a:pt x="156" y="300"/>
                    </a:moveTo>
                    <a:lnTo>
                      <a:pt x="171" y="298"/>
                    </a:lnTo>
                    <a:lnTo>
                      <a:pt x="186" y="296"/>
                    </a:lnTo>
                    <a:lnTo>
                      <a:pt x="199" y="292"/>
                    </a:lnTo>
                    <a:lnTo>
                      <a:pt x="213" y="288"/>
                    </a:lnTo>
                    <a:lnTo>
                      <a:pt x="225" y="280"/>
                    </a:lnTo>
                    <a:lnTo>
                      <a:pt x="237" y="273"/>
                    </a:lnTo>
                    <a:lnTo>
                      <a:pt x="249" y="264"/>
                    </a:lnTo>
                    <a:lnTo>
                      <a:pt x="258" y="254"/>
                    </a:lnTo>
                    <a:lnTo>
                      <a:pt x="268" y="243"/>
                    </a:lnTo>
                    <a:lnTo>
                      <a:pt x="276" y="231"/>
                    </a:lnTo>
                    <a:lnTo>
                      <a:pt x="283" y="219"/>
                    </a:lnTo>
                    <a:lnTo>
                      <a:pt x="289" y="206"/>
                    </a:lnTo>
                    <a:lnTo>
                      <a:pt x="293" y="192"/>
                    </a:lnTo>
                    <a:lnTo>
                      <a:pt x="297" y="178"/>
                    </a:lnTo>
                    <a:lnTo>
                      <a:pt x="299" y="163"/>
                    </a:lnTo>
                    <a:lnTo>
                      <a:pt x="300" y="148"/>
                    </a:lnTo>
                    <a:lnTo>
                      <a:pt x="299" y="133"/>
                    </a:lnTo>
                    <a:lnTo>
                      <a:pt x="297" y="118"/>
                    </a:lnTo>
                    <a:lnTo>
                      <a:pt x="293" y="104"/>
                    </a:lnTo>
                    <a:lnTo>
                      <a:pt x="288" y="90"/>
                    </a:lnTo>
                    <a:lnTo>
                      <a:pt x="282" y="77"/>
                    </a:lnTo>
                    <a:lnTo>
                      <a:pt x="274" y="66"/>
                    </a:lnTo>
                    <a:lnTo>
                      <a:pt x="266" y="54"/>
                    </a:lnTo>
                    <a:lnTo>
                      <a:pt x="256" y="43"/>
                    </a:lnTo>
                    <a:lnTo>
                      <a:pt x="245" y="35"/>
                    </a:lnTo>
                    <a:lnTo>
                      <a:pt x="235" y="25"/>
                    </a:lnTo>
                    <a:lnTo>
                      <a:pt x="222" y="19"/>
                    </a:lnTo>
                    <a:lnTo>
                      <a:pt x="209" y="12"/>
                    </a:lnTo>
                    <a:lnTo>
                      <a:pt x="195" y="7"/>
                    </a:lnTo>
                    <a:lnTo>
                      <a:pt x="181" y="4"/>
                    </a:lnTo>
                    <a:lnTo>
                      <a:pt x="166" y="1"/>
                    </a:lnTo>
                    <a:lnTo>
                      <a:pt x="151" y="0"/>
                    </a:lnTo>
                    <a:lnTo>
                      <a:pt x="136" y="1"/>
                    </a:lnTo>
                    <a:lnTo>
                      <a:pt x="121" y="3"/>
                    </a:lnTo>
                    <a:lnTo>
                      <a:pt x="108" y="6"/>
                    </a:lnTo>
                    <a:lnTo>
                      <a:pt x="94" y="10"/>
                    </a:lnTo>
                    <a:lnTo>
                      <a:pt x="81" y="16"/>
                    </a:lnTo>
                    <a:lnTo>
                      <a:pt x="68" y="23"/>
                    </a:lnTo>
                    <a:lnTo>
                      <a:pt x="56" y="30"/>
                    </a:lnTo>
                    <a:lnTo>
                      <a:pt x="46" y="40"/>
                    </a:lnTo>
                    <a:lnTo>
                      <a:pt x="36" y="50"/>
                    </a:lnTo>
                    <a:lnTo>
                      <a:pt x="26" y="61"/>
                    </a:lnTo>
                    <a:lnTo>
                      <a:pt x="19" y="73"/>
                    </a:lnTo>
                    <a:lnTo>
                      <a:pt x="12" y="86"/>
                    </a:lnTo>
                    <a:lnTo>
                      <a:pt x="7" y="101"/>
                    </a:lnTo>
                    <a:lnTo>
                      <a:pt x="3" y="116"/>
                    </a:lnTo>
                    <a:lnTo>
                      <a:pt x="1" y="131"/>
                    </a:lnTo>
                    <a:lnTo>
                      <a:pt x="0" y="148"/>
                    </a:lnTo>
                    <a:lnTo>
                      <a:pt x="1" y="164"/>
                    </a:lnTo>
                    <a:lnTo>
                      <a:pt x="3" y="180"/>
                    </a:lnTo>
                    <a:lnTo>
                      <a:pt x="7" y="195"/>
                    </a:lnTo>
                    <a:lnTo>
                      <a:pt x="12" y="209"/>
                    </a:lnTo>
                    <a:lnTo>
                      <a:pt x="19" y="223"/>
                    </a:lnTo>
                    <a:lnTo>
                      <a:pt x="27" y="234"/>
                    </a:lnTo>
                    <a:lnTo>
                      <a:pt x="36" y="246"/>
                    </a:lnTo>
                    <a:lnTo>
                      <a:pt x="47" y="257"/>
                    </a:lnTo>
                    <a:lnTo>
                      <a:pt x="58" y="266"/>
                    </a:lnTo>
                    <a:lnTo>
                      <a:pt x="70" y="275"/>
                    </a:lnTo>
                    <a:lnTo>
                      <a:pt x="83" y="282"/>
                    </a:lnTo>
                    <a:lnTo>
                      <a:pt x="97" y="288"/>
                    </a:lnTo>
                    <a:lnTo>
                      <a:pt x="111" y="293"/>
                    </a:lnTo>
                    <a:lnTo>
                      <a:pt x="126" y="296"/>
                    </a:lnTo>
                    <a:lnTo>
                      <a:pt x="141" y="298"/>
                    </a:lnTo>
                    <a:lnTo>
                      <a:pt x="156" y="30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45" name="Freeform 1077"/>
              <p:cNvSpPr>
                <a:spLocks/>
              </p:cNvSpPr>
              <p:nvPr/>
            </p:nvSpPr>
            <p:spPr bwMode="auto">
              <a:xfrm>
                <a:off x="2140" y="3136"/>
                <a:ext cx="149" cy="300"/>
              </a:xfrm>
              <a:custGeom>
                <a:avLst/>
                <a:gdLst>
                  <a:gd name="T0" fmla="*/ 146 w 149"/>
                  <a:gd name="T1" fmla="*/ 116 h 300"/>
                  <a:gd name="T2" fmla="*/ 147 w 149"/>
                  <a:gd name="T3" fmla="*/ 179 h 300"/>
                  <a:gd name="T4" fmla="*/ 123 w 149"/>
                  <a:gd name="T5" fmla="*/ 235 h 300"/>
                  <a:gd name="T6" fmla="*/ 106 w 149"/>
                  <a:gd name="T7" fmla="*/ 256 h 300"/>
                  <a:gd name="T8" fmla="*/ 85 w 149"/>
                  <a:gd name="T9" fmla="*/ 273 h 300"/>
                  <a:gd name="T10" fmla="*/ 63 w 149"/>
                  <a:gd name="T11" fmla="*/ 286 h 300"/>
                  <a:gd name="T12" fmla="*/ 38 w 149"/>
                  <a:gd name="T13" fmla="*/ 294 h 300"/>
                  <a:gd name="T14" fmla="*/ 13 w 149"/>
                  <a:gd name="T15" fmla="*/ 298 h 300"/>
                  <a:gd name="T16" fmla="*/ 6 w 149"/>
                  <a:gd name="T17" fmla="*/ 292 h 300"/>
                  <a:gd name="T18" fmla="*/ 13 w 149"/>
                  <a:gd name="T19" fmla="*/ 282 h 300"/>
                  <a:gd name="T20" fmla="*/ 23 w 149"/>
                  <a:gd name="T21" fmla="*/ 277 h 300"/>
                  <a:gd name="T22" fmla="*/ 25 w 149"/>
                  <a:gd name="T23" fmla="*/ 265 h 300"/>
                  <a:gd name="T24" fmla="*/ 29 w 149"/>
                  <a:gd name="T25" fmla="*/ 254 h 300"/>
                  <a:gd name="T26" fmla="*/ 37 w 149"/>
                  <a:gd name="T27" fmla="*/ 247 h 300"/>
                  <a:gd name="T28" fmla="*/ 50 w 149"/>
                  <a:gd name="T29" fmla="*/ 246 h 300"/>
                  <a:gd name="T30" fmla="*/ 63 w 149"/>
                  <a:gd name="T31" fmla="*/ 246 h 300"/>
                  <a:gd name="T32" fmla="*/ 75 w 149"/>
                  <a:gd name="T33" fmla="*/ 245 h 300"/>
                  <a:gd name="T34" fmla="*/ 87 w 149"/>
                  <a:gd name="T35" fmla="*/ 243 h 300"/>
                  <a:gd name="T36" fmla="*/ 99 w 149"/>
                  <a:gd name="T37" fmla="*/ 240 h 300"/>
                  <a:gd name="T38" fmla="*/ 102 w 149"/>
                  <a:gd name="T39" fmla="*/ 224 h 300"/>
                  <a:gd name="T40" fmla="*/ 99 w 149"/>
                  <a:gd name="T41" fmla="*/ 213 h 300"/>
                  <a:gd name="T42" fmla="*/ 100 w 149"/>
                  <a:gd name="T43" fmla="*/ 206 h 300"/>
                  <a:gd name="T44" fmla="*/ 103 w 149"/>
                  <a:gd name="T45" fmla="*/ 198 h 300"/>
                  <a:gd name="T46" fmla="*/ 98 w 149"/>
                  <a:gd name="T47" fmla="*/ 196 h 300"/>
                  <a:gd name="T48" fmla="*/ 100 w 149"/>
                  <a:gd name="T49" fmla="*/ 193 h 300"/>
                  <a:gd name="T50" fmla="*/ 101 w 149"/>
                  <a:gd name="T51" fmla="*/ 186 h 300"/>
                  <a:gd name="T52" fmla="*/ 97 w 149"/>
                  <a:gd name="T53" fmla="*/ 172 h 300"/>
                  <a:gd name="T54" fmla="*/ 107 w 149"/>
                  <a:gd name="T55" fmla="*/ 168 h 300"/>
                  <a:gd name="T56" fmla="*/ 114 w 149"/>
                  <a:gd name="T57" fmla="*/ 162 h 300"/>
                  <a:gd name="T58" fmla="*/ 85 w 149"/>
                  <a:gd name="T59" fmla="*/ 119 h 300"/>
                  <a:gd name="T60" fmla="*/ 87 w 149"/>
                  <a:gd name="T61" fmla="*/ 96 h 300"/>
                  <a:gd name="T62" fmla="*/ 76 w 149"/>
                  <a:gd name="T63" fmla="*/ 69 h 300"/>
                  <a:gd name="T64" fmla="*/ 61 w 149"/>
                  <a:gd name="T65" fmla="*/ 44 h 300"/>
                  <a:gd name="T66" fmla="*/ 63 w 149"/>
                  <a:gd name="T67" fmla="*/ 40 h 300"/>
                  <a:gd name="T68" fmla="*/ 67 w 149"/>
                  <a:gd name="T69" fmla="*/ 37 h 300"/>
                  <a:gd name="T70" fmla="*/ 66 w 149"/>
                  <a:gd name="T71" fmla="*/ 31 h 300"/>
                  <a:gd name="T72" fmla="*/ 53 w 149"/>
                  <a:gd name="T73" fmla="*/ 27 h 300"/>
                  <a:gd name="T74" fmla="*/ 40 w 149"/>
                  <a:gd name="T75" fmla="*/ 24 h 300"/>
                  <a:gd name="T76" fmla="*/ 28 w 149"/>
                  <a:gd name="T77" fmla="*/ 21 h 300"/>
                  <a:gd name="T78" fmla="*/ 14 w 149"/>
                  <a:gd name="T79" fmla="*/ 20 h 300"/>
                  <a:gd name="T80" fmla="*/ 0 w 149"/>
                  <a:gd name="T81" fmla="*/ 19 h 300"/>
                  <a:gd name="T82" fmla="*/ 0 w 149"/>
                  <a:gd name="T83" fmla="*/ 4 h 300"/>
                  <a:gd name="T84" fmla="*/ 21 w 149"/>
                  <a:gd name="T85" fmla="*/ 3 h 300"/>
                  <a:gd name="T86" fmla="*/ 50 w 149"/>
                  <a:gd name="T87" fmla="*/ 10 h 300"/>
                  <a:gd name="T88" fmla="*/ 77 w 149"/>
                  <a:gd name="T89" fmla="*/ 23 h 300"/>
                  <a:gd name="T90" fmla="*/ 100 w 149"/>
                  <a:gd name="T91" fmla="*/ 40 h 300"/>
                  <a:gd name="T92" fmla="*/ 120 w 149"/>
                  <a:gd name="T93" fmla="*/ 61 h 300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49"/>
                  <a:gd name="T142" fmla="*/ 0 h 300"/>
                  <a:gd name="T143" fmla="*/ 149 w 149"/>
                  <a:gd name="T144" fmla="*/ 300 h 300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49" h="300">
                    <a:moveTo>
                      <a:pt x="131" y="78"/>
                    </a:moveTo>
                    <a:lnTo>
                      <a:pt x="140" y="97"/>
                    </a:lnTo>
                    <a:lnTo>
                      <a:pt x="146" y="116"/>
                    </a:lnTo>
                    <a:lnTo>
                      <a:pt x="149" y="137"/>
                    </a:lnTo>
                    <a:lnTo>
                      <a:pt x="149" y="159"/>
                    </a:lnTo>
                    <a:lnTo>
                      <a:pt x="147" y="179"/>
                    </a:lnTo>
                    <a:lnTo>
                      <a:pt x="142" y="200"/>
                    </a:lnTo>
                    <a:lnTo>
                      <a:pt x="134" y="218"/>
                    </a:lnTo>
                    <a:lnTo>
                      <a:pt x="123" y="235"/>
                    </a:lnTo>
                    <a:lnTo>
                      <a:pt x="117" y="243"/>
                    </a:lnTo>
                    <a:lnTo>
                      <a:pt x="112" y="249"/>
                    </a:lnTo>
                    <a:lnTo>
                      <a:pt x="106" y="256"/>
                    </a:lnTo>
                    <a:lnTo>
                      <a:pt x="99" y="262"/>
                    </a:lnTo>
                    <a:lnTo>
                      <a:pt x="93" y="267"/>
                    </a:lnTo>
                    <a:lnTo>
                      <a:pt x="85" y="273"/>
                    </a:lnTo>
                    <a:lnTo>
                      <a:pt x="78" y="277"/>
                    </a:lnTo>
                    <a:lnTo>
                      <a:pt x="70" y="281"/>
                    </a:lnTo>
                    <a:lnTo>
                      <a:pt x="63" y="286"/>
                    </a:lnTo>
                    <a:lnTo>
                      <a:pt x="55" y="289"/>
                    </a:lnTo>
                    <a:lnTo>
                      <a:pt x="47" y="292"/>
                    </a:lnTo>
                    <a:lnTo>
                      <a:pt x="38" y="294"/>
                    </a:lnTo>
                    <a:lnTo>
                      <a:pt x="30" y="296"/>
                    </a:lnTo>
                    <a:lnTo>
                      <a:pt x="21" y="297"/>
                    </a:lnTo>
                    <a:lnTo>
                      <a:pt x="13" y="298"/>
                    </a:lnTo>
                    <a:lnTo>
                      <a:pt x="3" y="300"/>
                    </a:lnTo>
                    <a:lnTo>
                      <a:pt x="5" y="295"/>
                    </a:lnTo>
                    <a:lnTo>
                      <a:pt x="6" y="292"/>
                    </a:lnTo>
                    <a:lnTo>
                      <a:pt x="8" y="289"/>
                    </a:lnTo>
                    <a:lnTo>
                      <a:pt x="10" y="286"/>
                    </a:lnTo>
                    <a:lnTo>
                      <a:pt x="13" y="282"/>
                    </a:lnTo>
                    <a:lnTo>
                      <a:pt x="16" y="280"/>
                    </a:lnTo>
                    <a:lnTo>
                      <a:pt x="19" y="278"/>
                    </a:lnTo>
                    <a:lnTo>
                      <a:pt x="23" y="277"/>
                    </a:lnTo>
                    <a:lnTo>
                      <a:pt x="23" y="273"/>
                    </a:lnTo>
                    <a:lnTo>
                      <a:pt x="24" y="270"/>
                    </a:lnTo>
                    <a:lnTo>
                      <a:pt x="25" y="265"/>
                    </a:lnTo>
                    <a:lnTo>
                      <a:pt x="25" y="261"/>
                    </a:lnTo>
                    <a:lnTo>
                      <a:pt x="26" y="258"/>
                    </a:lnTo>
                    <a:lnTo>
                      <a:pt x="29" y="254"/>
                    </a:lnTo>
                    <a:lnTo>
                      <a:pt x="31" y="250"/>
                    </a:lnTo>
                    <a:lnTo>
                      <a:pt x="33" y="248"/>
                    </a:lnTo>
                    <a:lnTo>
                      <a:pt x="37" y="247"/>
                    </a:lnTo>
                    <a:lnTo>
                      <a:pt x="41" y="247"/>
                    </a:lnTo>
                    <a:lnTo>
                      <a:pt x="46" y="247"/>
                    </a:lnTo>
                    <a:lnTo>
                      <a:pt x="50" y="246"/>
                    </a:lnTo>
                    <a:lnTo>
                      <a:pt x="54" y="246"/>
                    </a:lnTo>
                    <a:lnTo>
                      <a:pt x="58" y="246"/>
                    </a:lnTo>
                    <a:lnTo>
                      <a:pt x="63" y="246"/>
                    </a:lnTo>
                    <a:lnTo>
                      <a:pt x="67" y="246"/>
                    </a:lnTo>
                    <a:lnTo>
                      <a:pt x="71" y="245"/>
                    </a:lnTo>
                    <a:lnTo>
                      <a:pt x="75" y="245"/>
                    </a:lnTo>
                    <a:lnTo>
                      <a:pt x="79" y="244"/>
                    </a:lnTo>
                    <a:lnTo>
                      <a:pt x="83" y="244"/>
                    </a:lnTo>
                    <a:lnTo>
                      <a:pt x="87" y="243"/>
                    </a:lnTo>
                    <a:lnTo>
                      <a:pt x="91" y="242"/>
                    </a:lnTo>
                    <a:lnTo>
                      <a:pt x="95" y="241"/>
                    </a:lnTo>
                    <a:lnTo>
                      <a:pt x="99" y="240"/>
                    </a:lnTo>
                    <a:lnTo>
                      <a:pt x="102" y="234"/>
                    </a:lnTo>
                    <a:lnTo>
                      <a:pt x="102" y="229"/>
                    </a:lnTo>
                    <a:lnTo>
                      <a:pt x="102" y="224"/>
                    </a:lnTo>
                    <a:lnTo>
                      <a:pt x="100" y="218"/>
                    </a:lnTo>
                    <a:lnTo>
                      <a:pt x="99" y="215"/>
                    </a:lnTo>
                    <a:lnTo>
                      <a:pt x="99" y="213"/>
                    </a:lnTo>
                    <a:lnTo>
                      <a:pt x="99" y="211"/>
                    </a:lnTo>
                    <a:lnTo>
                      <a:pt x="99" y="208"/>
                    </a:lnTo>
                    <a:lnTo>
                      <a:pt x="100" y="206"/>
                    </a:lnTo>
                    <a:lnTo>
                      <a:pt x="101" y="203"/>
                    </a:lnTo>
                    <a:lnTo>
                      <a:pt x="102" y="200"/>
                    </a:lnTo>
                    <a:lnTo>
                      <a:pt x="103" y="198"/>
                    </a:lnTo>
                    <a:lnTo>
                      <a:pt x="101" y="197"/>
                    </a:lnTo>
                    <a:lnTo>
                      <a:pt x="100" y="197"/>
                    </a:lnTo>
                    <a:lnTo>
                      <a:pt x="98" y="196"/>
                    </a:lnTo>
                    <a:lnTo>
                      <a:pt x="98" y="194"/>
                    </a:lnTo>
                    <a:lnTo>
                      <a:pt x="99" y="193"/>
                    </a:lnTo>
                    <a:lnTo>
                      <a:pt x="100" y="193"/>
                    </a:lnTo>
                    <a:lnTo>
                      <a:pt x="102" y="192"/>
                    </a:lnTo>
                    <a:lnTo>
                      <a:pt x="103" y="191"/>
                    </a:lnTo>
                    <a:lnTo>
                      <a:pt x="101" y="186"/>
                    </a:lnTo>
                    <a:lnTo>
                      <a:pt x="100" y="182"/>
                    </a:lnTo>
                    <a:lnTo>
                      <a:pt x="99" y="177"/>
                    </a:lnTo>
                    <a:lnTo>
                      <a:pt x="97" y="172"/>
                    </a:lnTo>
                    <a:lnTo>
                      <a:pt x="100" y="170"/>
                    </a:lnTo>
                    <a:lnTo>
                      <a:pt x="103" y="169"/>
                    </a:lnTo>
                    <a:lnTo>
                      <a:pt x="107" y="168"/>
                    </a:lnTo>
                    <a:lnTo>
                      <a:pt x="109" y="166"/>
                    </a:lnTo>
                    <a:lnTo>
                      <a:pt x="112" y="164"/>
                    </a:lnTo>
                    <a:lnTo>
                      <a:pt x="114" y="162"/>
                    </a:lnTo>
                    <a:lnTo>
                      <a:pt x="115" y="160"/>
                    </a:lnTo>
                    <a:lnTo>
                      <a:pt x="115" y="155"/>
                    </a:lnTo>
                    <a:lnTo>
                      <a:pt x="85" y="119"/>
                    </a:lnTo>
                    <a:lnTo>
                      <a:pt x="93" y="114"/>
                    </a:lnTo>
                    <a:lnTo>
                      <a:pt x="91" y="105"/>
                    </a:lnTo>
                    <a:lnTo>
                      <a:pt x="87" y="96"/>
                    </a:lnTo>
                    <a:lnTo>
                      <a:pt x="84" y="86"/>
                    </a:lnTo>
                    <a:lnTo>
                      <a:pt x="81" y="77"/>
                    </a:lnTo>
                    <a:lnTo>
                      <a:pt x="76" y="69"/>
                    </a:lnTo>
                    <a:lnTo>
                      <a:pt x="71" y="60"/>
                    </a:lnTo>
                    <a:lnTo>
                      <a:pt x="66" y="52"/>
                    </a:lnTo>
                    <a:lnTo>
                      <a:pt x="61" y="44"/>
                    </a:lnTo>
                    <a:lnTo>
                      <a:pt x="62" y="43"/>
                    </a:lnTo>
                    <a:lnTo>
                      <a:pt x="63" y="41"/>
                    </a:lnTo>
                    <a:lnTo>
                      <a:pt x="63" y="40"/>
                    </a:lnTo>
                    <a:lnTo>
                      <a:pt x="65" y="39"/>
                    </a:lnTo>
                    <a:lnTo>
                      <a:pt x="66" y="38"/>
                    </a:lnTo>
                    <a:lnTo>
                      <a:pt x="67" y="37"/>
                    </a:lnTo>
                    <a:lnTo>
                      <a:pt x="69" y="35"/>
                    </a:lnTo>
                    <a:lnTo>
                      <a:pt x="70" y="34"/>
                    </a:lnTo>
                    <a:lnTo>
                      <a:pt x="66" y="31"/>
                    </a:lnTo>
                    <a:lnTo>
                      <a:pt x="62" y="30"/>
                    </a:lnTo>
                    <a:lnTo>
                      <a:pt x="57" y="28"/>
                    </a:lnTo>
                    <a:lnTo>
                      <a:pt x="53" y="27"/>
                    </a:lnTo>
                    <a:lnTo>
                      <a:pt x="49" y="26"/>
                    </a:lnTo>
                    <a:lnTo>
                      <a:pt x="45" y="25"/>
                    </a:lnTo>
                    <a:lnTo>
                      <a:pt x="40" y="24"/>
                    </a:lnTo>
                    <a:lnTo>
                      <a:pt x="36" y="23"/>
                    </a:lnTo>
                    <a:lnTo>
                      <a:pt x="32" y="22"/>
                    </a:lnTo>
                    <a:lnTo>
                      <a:pt x="28" y="21"/>
                    </a:lnTo>
                    <a:lnTo>
                      <a:pt x="23" y="21"/>
                    </a:lnTo>
                    <a:lnTo>
                      <a:pt x="18" y="20"/>
                    </a:lnTo>
                    <a:lnTo>
                      <a:pt x="14" y="20"/>
                    </a:lnTo>
                    <a:lnTo>
                      <a:pt x="9" y="19"/>
                    </a:lnTo>
                    <a:lnTo>
                      <a:pt x="4" y="19"/>
                    </a:lnTo>
                    <a:lnTo>
                      <a:pt x="0" y="19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11" y="1"/>
                    </a:lnTo>
                    <a:lnTo>
                      <a:pt x="21" y="3"/>
                    </a:lnTo>
                    <a:lnTo>
                      <a:pt x="31" y="5"/>
                    </a:lnTo>
                    <a:lnTo>
                      <a:pt x="40" y="7"/>
                    </a:lnTo>
                    <a:lnTo>
                      <a:pt x="50" y="10"/>
                    </a:lnTo>
                    <a:lnTo>
                      <a:pt x="58" y="14"/>
                    </a:lnTo>
                    <a:lnTo>
                      <a:pt x="68" y="18"/>
                    </a:lnTo>
                    <a:lnTo>
                      <a:pt x="77" y="23"/>
                    </a:lnTo>
                    <a:lnTo>
                      <a:pt x="85" y="28"/>
                    </a:lnTo>
                    <a:lnTo>
                      <a:pt x="93" y="34"/>
                    </a:lnTo>
                    <a:lnTo>
                      <a:pt x="100" y="40"/>
                    </a:lnTo>
                    <a:lnTo>
                      <a:pt x="108" y="46"/>
                    </a:lnTo>
                    <a:lnTo>
                      <a:pt x="114" y="54"/>
                    </a:lnTo>
                    <a:lnTo>
                      <a:pt x="120" y="61"/>
                    </a:lnTo>
                    <a:lnTo>
                      <a:pt x="126" y="70"/>
                    </a:lnTo>
                    <a:lnTo>
                      <a:pt x="131" y="7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46" name="Freeform 1078"/>
              <p:cNvSpPr>
                <a:spLocks/>
              </p:cNvSpPr>
              <p:nvPr/>
            </p:nvSpPr>
            <p:spPr bwMode="auto">
              <a:xfrm>
                <a:off x="2114" y="3137"/>
                <a:ext cx="21" cy="23"/>
              </a:xfrm>
              <a:custGeom>
                <a:avLst/>
                <a:gdLst>
                  <a:gd name="T0" fmla="*/ 20 w 21"/>
                  <a:gd name="T1" fmla="*/ 23 h 23"/>
                  <a:gd name="T2" fmla="*/ 12 w 21"/>
                  <a:gd name="T3" fmla="*/ 23 h 23"/>
                  <a:gd name="T4" fmla="*/ 13 w 21"/>
                  <a:gd name="T5" fmla="*/ 20 h 23"/>
                  <a:gd name="T6" fmla="*/ 13 w 21"/>
                  <a:gd name="T7" fmla="*/ 17 h 23"/>
                  <a:gd name="T8" fmla="*/ 12 w 21"/>
                  <a:gd name="T9" fmla="*/ 13 h 23"/>
                  <a:gd name="T10" fmla="*/ 11 w 21"/>
                  <a:gd name="T11" fmla="*/ 11 h 23"/>
                  <a:gd name="T12" fmla="*/ 9 w 21"/>
                  <a:gd name="T13" fmla="*/ 9 h 23"/>
                  <a:gd name="T14" fmla="*/ 8 w 21"/>
                  <a:gd name="T15" fmla="*/ 7 h 23"/>
                  <a:gd name="T16" fmla="*/ 4 w 21"/>
                  <a:gd name="T17" fmla="*/ 5 h 23"/>
                  <a:gd name="T18" fmla="*/ 2 w 21"/>
                  <a:gd name="T19" fmla="*/ 4 h 23"/>
                  <a:gd name="T20" fmla="*/ 0 w 21"/>
                  <a:gd name="T21" fmla="*/ 2 h 23"/>
                  <a:gd name="T22" fmla="*/ 2 w 21"/>
                  <a:gd name="T23" fmla="*/ 2 h 23"/>
                  <a:gd name="T24" fmla="*/ 4 w 21"/>
                  <a:gd name="T25" fmla="*/ 2 h 23"/>
                  <a:gd name="T26" fmla="*/ 8 w 21"/>
                  <a:gd name="T27" fmla="*/ 0 h 23"/>
                  <a:gd name="T28" fmla="*/ 10 w 21"/>
                  <a:gd name="T29" fmla="*/ 0 h 23"/>
                  <a:gd name="T30" fmla="*/ 13 w 21"/>
                  <a:gd name="T31" fmla="*/ 0 h 23"/>
                  <a:gd name="T32" fmla="*/ 16 w 21"/>
                  <a:gd name="T33" fmla="*/ 0 h 23"/>
                  <a:gd name="T34" fmla="*/ 19 w 21"/>
                  <a:gd name="T35" fmla="*/ 0 h 23"/>
                  <a:gd name="T36" fmla="*/ 21 w 21"/>
                  <a:gd name="T37" fmla="*/ 2 h 23"/>
                  <a:gd name="T38" fmla="*/ 20 w 21"/>
                  <a:gd name="T39" fmla="*/ 23 h 2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"/>
                  <a:gd name="T61" fmla="*/ 0 h 23"/>
                  <a:gd name="T62" fmla="*/ 21 w 21"/>
                  <a:gd name="T63" fmla="*/ 23 h 2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" h="23">
                    <a:moveTo>
                      <a:pt x="20" y="23"/>
                    </a:moveTo>
                    <a:lnTo>
                      <a:pt x="12" y="23"/>
                    </a:lnTo>
                    <a:lnTo>
                      <a:pt x="13" y="20"/>
                    </a:lnTo>
                    <a:lnTo>
                      <a:pt x="13" y="17"/>
                    </a:lnTo>
                    <a:lnTo>
                      <a:pt x="12" y="13"/>
                    </a:lnTo>
                    <a:lnTo>
                      <a:pt x="11" y="11"/>
                    </a:lnTo>
                    <a:lnTo>
                      <a:pt x="9" y="9"/>
                    </a:lnTo>
                    <a:lnTo>
                      <a:pt x="8" y="7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3" y="0"/>
                    </a:lnTo>
                    <a:lnTo>
                      <a:pt x="16" y="0"/>
                    </a:lnTo>
                    <a:lnTo>
                      <a:pt x="19" y="0"/>
                    </a:lnTo>
                    <a:lnTo>
                      <a:pt x="21" y="2"/>
                    </a:lnTo>
                    <a:lnTo>
                      <a:pt x="20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47" name="Freeform 1079"/>
              <p:cNvSpPr>
                <a:spLocks/>
              </p:cNvSpPr>
              <p:nvPr/>
            </p:nvSpPr>
            <p:spPr bwMode="auto">
              <a:xfrm>
                <a:off x="2018" y="3141"/>
                <a:ext cx="104" cy="270"/>
              </a:xfrm>
              <a:custGeom>
                <a:avLst/>
                <a:gdLst>
                  <a:gd name="T0" fmla="*/ 104 w 104"/>
                  <a:gd name="T1" fmla="*/ 19 h 270"/>
                  <a:gd name="T2" fmla="*/ 102 w 104"/>
                  <a:gd name="T3" fmla="*/ 33 h 270"/>
                  <a:gd name="T4" fmla="*/ 97 w 104"/>
                  <a:gd name="T5" fmla="*/ 45 h 270"/>
                  <a:gd name="T6" fmla="*/ 92 w 104"/>
                  <a:gd name="T7" fmla="*/ 48 h 270"/>
                  <a:gd name="T8" fmla="*/ 85 w 104"/>
                  <a:gd name="T9" fmla="*/ 52 h 270"/>
                  <a:gd name="T10" fmla="*/ 83 w 104"/>
                  <a:gd name="T11" fmla="*/ 57 h 270"/>
                  <a:gd name="T12" fmla="*/ 83 w 104"/>
                  <a:gd name="T13" fmla="*/ 66 h 270"/>
                  <a:gd name="T14" fmla="*/ 85 w 104"/>
                  <a:gd name="T15" fmla="*/ 71 h 270"/>
                  <a:gd name="T16" fmla="*/ 91 w 104"/>
                  <a:gd name="T17" fmla="*/ 68 h 270"/>
                  <a:gd name="T18" fmla="*/ 93 w 104"/>
                  <a:gd name="T19" fmla="*/ 62 h 270"/>
                  <a:gd name="T20" fmla="*/ 98 w 104"/>
                  <a:gd name="T21" fmla="*/ 60 h 270"/>
                  <a:gd name="T22" fmla="*/ 96 w 104"/>
                  <a:gd name="T23" fmla="*/ 80 h 270"/>
                  <a:gd name="T24" fmla="*/ 91 w 104"/>
                  <a:gd name="T25" fmla="*/ 91 h 270"/>
                  <a:gd name="T26" fmla="*/ 85 w 104"/>
                  <a:gd name="T27" fmla="*/ 101 h 270"/>
                  <a:gd name="T28" fmla="*/ 88 w 104"/>
                  <a:gd name="T29" fmla="*/ 127 h 270"/>
                  <a:gd name="T30" fmla="*/ 86 w 104"/>
                  <a:gd name="T31" fmla="*/ 120 h 270"/>
                  <a:gd name="T32" fmla="*/ 85 w 104"/>
                  <a:gd name="T33" fmla="*/ 114 h 270"/>
                  <a:gd name="T34" fmla="*/ 73 w 104"/>
                  <a:gd name="T35" fmla="*/ 103 h 270"/>
                  <a:gd name="T36" fmla="*/ 66 w 104"/>
                  <a:gd name="T37" fmla="*/ 107 h 270"/>
                  <a:gd name="T38" fmla="*/ 62 w 104"/>
                  <a:gd name="T39" fmla="*/ 112 h 270"/>
                  <a:gd name="T40" fmla="*/ 55 w 104"/>
                  <a:gd name="T41" fmla="*/ 107 h 270"/>
                  <a:gd name="T42" fmla="*/ 46 w 104"/>
                  <a:gd name="T43" fmla="*/ 105 h 270"/>
                  <a:gd name="T44" fmla="*/ 38 w 104"/>
                  <a:gd name="T45" fmla="*/ 109 h 270"/>
                  <a:gd name="T46" fmla="*/ 39 w 104"/>
                  <a:gd name="T47" fmla="*/ 121 h 270"/>
                  <a:gd name="T48" fmla="*/ 38 w 104"/>
                  <a:gd name="T49" fmla="*/ 127 h 270"/>
                  <a:gd name="T50" fmla="*/ 32 w 104"/>
                  <a:gd name="T51" fmla="*/ 134 h 270"/>
                  <a:gd name="T52" fmla="*/ 26 w 104"/>
                  <a:gd name="T53" fmla="*/ 143 h 270"/>
                  <a:gd name="T54" fmla="*/ 34 w 104"/>
                  <a:gd name="T55" fmla="*/ 166 h 270"/>
                  <a:gd name="T56" fmla="*/ 47 w 104"/>
                  <a:gd name="T57" fmla="*/ 186 h 270"/>
                  <a:gd name="T58" fmla="*/ 65 w 104"/>
                  <a:gd name="T59" fmla="*/ 194 h 270"/>
                  <a:gd name="T60" fmla="*/ 74 w 104"/>
                  <a:gd name="T61" fmla="*/ 203 h 270"/>
                  <a:gd name="T62" fmla="*/ 77 w 104"/>
                  <a:gd name="T63" fmla="*/ 213 h 270"/>
                  <a:gd name="T64" fmla="*/ 63 w 104"/>
                  <a:gd name="T65" fmla="*/ 226 h 270"/>
                  <a:gd name="T66" fmla="*/ 61 w 104"/>
                  <a:gd name="T67" fmla="*/ 248 h 270"/>
                  <a:gd name="T68" fmla="*/ 60 w 104"/>
                  <a:gd name="T69" fmla="*/ 270 h 270"/>
                  <a:gd name="T70" fmla="*/ 47 w 104"/>
                  <a:gd name="T71" fmla="*/ 261 h 270"/>
                  <a:gd name="T72" fmla="*/ 37 w 104"/>
                  <a:gd name="T73" fmla="*/ 248 h 270"/>
                  <a:gd name="T74" fmla="*/ 30 w 104"/>
                  <a:gd name="T75" fmla="*/ 234 h 270"/>
                  <a:gd name="T76" fmla="*/ 24 w 104"/>
                  <a:gd name="T77" fmla="*/ 221 h 270"/>
                  <a:gd name="T78" fmla="*/ 14 w 104"/>
                  <a:gd name="T79" fmla="*/ 213 h 270"/>
                  <a:gd name="T80" fmla="*/ 4 w 104"/>
                  <a:gd name="T81" fmla="*/ 170 h 270"/>
                  <a:gd name="T82" fmla="*/ 13 w 104"/>
                  <a:gd name="T83" fmla="*/ 162 h 270"/>
                  <a:gd name="T84" fmla="*/ 21 w 104"/>
                  <a:gd name="T85" fmla="*/ 151 h 270"/>
                  <a:gd name="T86" fmla="*/ 24 w 104"/>
                  <a:gd name="T87" fmla="*/ 112 h 270"/>
                  <a:gd name="T88" fmla="*/ 19 w 104"/>
                  <a:gd name="T89" fmla="*/ 111 h 270"/>
                  <a:gd name="T90" fmla="*/ 14 w 104"/>
                  <a:gd name="T91" fmla="*/ 110 h 270"/>
                  <a:gd name="T92" fmla="*/ 13 w 104"/>
                  <a:gd name="T93" fmla="*/ 60 h 270"/>
                  <a:gd name="T94" fmla="*/ 7 w 104"/>
                  <a:gd name="T95" fmla="*/ 56 h 270"/>
                  <a:gd name="T96" fmla="*/ 4 w 104"/>
                  <a:gd name="T97" fmla="*/ 53 h 270"/>
                  <a:gd name="T98" fmla="*/ 6 w 104"/>
                  <a:gd name="T99" fmla="*/ 45 h 270"/>
                  <a:gd name="T100" fmla="*/ 20 w 104"/>
                  <a:gd name="T101" fmla="*/ 32 h 270"/>
                  <a:gd name="T102" fmla="*/ 35 w 104"/>
                  <a:gd name="T103" fmla="*/ 21 h 270"/>
                  <a:gd name="T104" fmla="*/ 51 w 104"/>
                  <a:gd name="T105" fmla="*/ 13 h 270"/>
                  <a:gd name="T106" fmla="*/ 69 w 104"/>
                  <a:gd name="T107" fmla="*/ 5 h 270"/>
                  <a:gd name="T108" fmla="*/ 86 w 104"/>
                  <a:gd name="T109" fmla="*/ 0 h 270"/>
                  <a:gd name="T110" fmla="*/ 94 w 104"/>
                  <a:gd name="T111" fmla="*/ 2 h 270"/>
                  <a:gd name="T112" fmla="*/ 99 w 104"/>
                  <a:gd name="T113" fmla="*/ 7 h 27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104"/>
                  <a:gd name="T172" fmla="*/ 0 h 270"/>
                  <a:gd name="T173" fmla="*/ 104 w 104"/>
                  <a:gd name="T174" fmla="*/ 270 h 270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104" h="270">
                    <a:moveTo>
                      <a:pt x="104" y="10"/>
                    </a:moveTo>
                    <a:lnTo>
                      <a:pt x="104" y="15"/>
                    </a:lnTo>
                    <a:lnTo>
                      <a:pt x="104" y="19"/>
                    </a:lnTo>
                    <a:lnTo>
                      <a:pt x="104" y="24"/>
                    </a:lnTo>
                    <a:lnTo>
                      <a:pt x="102" y="29"/>
                    </a:lnTo>
                    <a:lnTo>
                      <a:pt x="102" y="33"/>
                    </a:lnTo>
                    <a:lnTo>
                      <a:pt x="101" y="37"/>
                    </a:lnTo>
                    <a:lnTo>
                      <a:pt x="99" y="40"/>
                    </a:lnTo>
                    <a:lnTo>
                      <a:pt x="97" y="45"/>
                    </a:lnTo>
                    <a:lnTo>
                      <a:pt x="95" y="46"/>
                    </a:lnTo>
                    <a:lnTo>
                      <a:pt x="94" y="47"/>
                    </a:lnTo>
                    <a:lnTo>
                      <a:pt x="92" y="48"/>
                    </a:lnTo>
                    <a:lnTo>
                      <a:pt x="90" y="49"/>
                    </a:lnTo>
                    <a:lnTo>
                      <a:pt x="88" y="50"/>
                    </a:lnTo>
                    <a:lnTo>
                      <a:pt x="85" y="52"/>
                    </a:lnTo>
                    <a:lnTo>
                      <a:pt x="84" y="53"/>
                    </a:lnTo>
                    <a:lnTo>
                      <a:pt x="82" y="55"/>
                    </a:lnTo>
                    <a:lnTo>
                      <a:pt x="83" y="57"/>
                    </a:lnTo>
                    <a:lnTo>
                      <a:pt x="83" y="60"/>
                    </a:lnTo>
                    <a:lnTo>
                      <a:pt x="83" y="63"/>
                    </a:lnTo>
                    <a:lnTo>
                      <a:pt x="83" y="66"/>
                    </a:lnTo>
                    <a:lnTo>
                      <a:pt x="83" y="68"/>
                    </a:lnTo>
                    <a:lnTo>
                      <a:pt x="84" y="70"/>
                    </a:lnTo>
                    <a:lnTo>
                      <a:pt x="85" y="71"/>
                    </a:lnTo>
                    <a:lnTo>
                      <a:pt x="89" y="72"/>
                    </a:lnTo>
                    <a:lnTo>
                      <a:pt x="90" y="70"/>
                    </a:lnTo>
                    <a:lnTo>
                      <a:pt x="91" y="68"/>
                    </a:lnTo>
                    <a:lnTo>
                      <a:pt x="91" y="66"/>
                    </a:lnTo>
                    <a:lnTo>
                      <a:pt x="92" y="64"/>
                    </a:lnTo>
                    <a:lnTo>
                      <a:pt x="93" y="62"/>
                    </a:lnTo>
                    <a:lnTo>
                      <a:pt x="95" y="60"/>
                    </a:lnTo>
                    <a:lnTo>
                      <a:pt x="96" y="60"/>
                    </a:lnTo>
                    <a:lnTo>
                      <a:pt x="98" y="60"/>
                    </a:lnTo>
                    <a:lnTo>
                      <a:pt x="102" y="73"/>
                    </a:lnTo>
                    <a:lnTo>
                      <a:pt x="99" y="77"/>
                    </a:lnTo>
                    <a:lnTo>
                      <a:pt x="96" y="80"/>
                    </a:lnTo>
                    <a:lnTo>
                      <a:pt x="94" y="83"/>
                    </a:lnTo>
                    <a:lnTo>
                      <a:pt x="92" y="87"/>
                    </a:lnTo>
                    <a:lnTo>
                      <a:pt x="91" y="91"/>
                    </a:lnTo>
                    <a:lnTo>
                      <a:pt x="89" y="95"/>
                    </a:lnTo>
                    <a:lnTo>
                      <a:pt x="88" y="98"/>
                    </a:lnTo>
                    <a:lnTo>
                      <a:pt x="85" y="101"/>
                    </a:lnTo>
                    <a:lnTo>
                      <a:pt x="92" y="126"/>
                    </a:lnTo>
                    <a:lnTo>
                      <a:pt x="90" y="127"/>
                    </a:lnTo>
                    <a:lnTo>
                      <a:pt x="88" y="127"/>
                    </a:lnTo>
                    <a:lnTo>
                      <a:pt x="86" y="126"/>
                    </a:lnTo>
                    <a:lnTo>
                      <a:pt x="86" y="124"/>
                    </a:lnTo>
                    <a:lnTo>
                      <a:pt x="86" y="120"/>
                    </a:lnTo>
                    <a:lnTo>
                      <a:pt x="86" y="118"/>
                    </a:lnTo>
                    <a:lnTo>
                      <a:pt x="86" y="115"/>
                    </a:lnTo>
                    <a:lnTo>
                      <a:pt x="85" y="114"/>
                    </a:lnTo>
                    <a:lnTo>
                      <a:pt x="78" y="101"/>
                    </a:lnTo>
                    <a:lnTo>
                      <a:pt x="76" y="102"/>
                    </a:lnTo>
                    <a:lnTo>
                      <a:pt x="73" y="103"/>
                    </a:lnTo>
                    <a:lnTo>
                      <a:pt x="70" y="103"/>
                    </a:lnTo>
                    <a:lnTo>
                      <a:pt x="68" y="104"/>
                    </a:lnTo>
                    <a:lnTo>
                      <a:pt x="66" y="107"/>
                    </a:lnTo>
                    <a:lnTo>
                      <a:pt x="64" y="108"/>
                    </a:lnTo>
                    <a:lnTo>
                      <a:pt x="63" y="110"/>
                    </a:lnTo>
                    <a:lnTo>
                      <a:pt x="62" y="112"/>
                    </a:lnTo>
                    <a:lnTo>
                      <a:pt x="61" y="109"/>
                    </a:lnTo>
                    <a:lnTo>
                      <a:pt x="59" y="108"/>
                    </a:lnTo>
                    <a:lnTo>
                      <a:pt x="55" y="107"/>
                    </a:lnTo>
                    <a:lnTo>
                      <a:pt x="52" y="107"/>
                    </a:lnTo>
                    <a:lnTo>
                      <a:pt x="49" y="107"/>
                    </a:lnTo>
                    <a:lnTo>
                      <a:pt x="46" y="105"/>
                    </a:lnTo>
                    <a:lnTo>
                      <a:pt x="43" y="105"/>
                    </a:lnTo>
                    <a:lnTo>
                      <a:pt x="41" y="105"/>
                    </a:lnTo>
                    <a:lnTo>
                      <a:pt x="38" y="109"/>
                    </a:lnTo>
                    <a:lnTo>
                      <a:pt x="38" y="113"/>
                    </a:lnTo>
                    <a:lnTo>
                      <a:pt x="38" y="117"/>
                    </a:lnTo>
                    <a:lnTo>
                      <a:pt x="39" y="121"/>
                    </a:lnTo>
                    <a:lnTo>
                      <a:pt x="46" y="126"/>
                    </a:lnTo>
                    <a:lnTo>
                      <a:pt x="42" y="126"/>
                    </a:lnTo>
                    <a:lnTo>
                      <a:pt x="38" y="127"/>
                    </a:lnTo>
                    <a:lnTo>
                      <a:pt x="36" y="129"/>
                    </a:lnTo>
                    <a:lnTo>
                      <a:pt x="34" y="131"/>
                    </a:lnTo>
                    <a:lnTo>
                      <a:pt x="32" y="134"/>
                    </a:lnTo>
                    <a:lnTo>
                      <a:pt x="30" y="136"/>
                    </a:lnTo>
                    <a:lnTo>
                      <a:pt x="28" y="141"/>
                    </a:lnTo>
                    <a:lnTo>
                      <a:pt x="26" y="143"/>
                    </a:lnTo>
                    <a:lnTo>
                      <a:pt x="29" y="150"/>
                    </a:lnTo>
                    <a:lnTo>
                      <a:pt x="32" y="158"/>
                    </a:lnTo>
                    <a:lnTo>
                      <a:pt x="34" y="166"/>
                    </a:lnTo>
                    <a:lnTo>
                      <a:pt x="37" y="174"/>
                    </a:lnTo>
                    <a:lnTo>
                      <a:pt x="42" y="180"/>
                    </a:lnTo>
                    <a:lnTo>
                      <a:pt x="47" y="186"/>
                    </a:lnTo>
                    <a:lnTo>
                      <a:pt x="54" y="189"/>
                    </a:lnTo>
                    <a:lnTo>
                      <a:pt x="64" y="191"/>
                    </a:lnTo>
                    <a:lnTo>
                      <a:pt x="65" y="194"/>
                    </a:lnTo>
                    <a:lnTo>
                      <a:pt x="68" y="197"/>
                    </a:lnTo>
                    <a:lnTo>
                      <a:pt x="71" y="199"/>
                    </a:lnTo>
                    <a:lnTo>
                      <a:pt x="74" y="203"/>
                    </a:lnTo>
                    <a:lnTo>
                      <a:pt x="76" y="206"/>
                    </a:lnTo>
                    <a:lnTo>
                      <a:pt x="77" y="210"/>
                    </a:lnTo>
                    <a:lnTo>
                      <a:pt x="77" y="213"/>
                    </a:lnTo>
                    <a:lnTo>
                      <a:pt x="74" y="217"/>
                    </a:lnTo>
                    <a:lnTo>
                      <a:pt x="67" y="221"/>
                    </a:lnTo>
                    <a:lnTo>
                      <a:pt x="63" y="226"/>
                    </a:lnTo>
                    <a:lnTo>
                      <a:pt x="61" y="233"/>
                    </a:lnTo>
                    <a:lnTo>
                      <a:pt x="61" y="240"/>
                    </a:lnTo>
                    <a:lnTo>
                      <a:pt x="61" y="248"/>
                    </a:lnTo>
                    <a:lnTo>
                      <a:pt x="61" y="255"/>
                    </a:lnTo>
                    <a:lnTo>
                      <a:pt x="61" y="262"/>
                    </a:lnTo>
                    <a:lnTo>
                      <a:pt x="60" y="270"/>
                    </a:lnTo>
                    <a:lnTo>
                      <a:pt x="55" y="268"/>
                    </a:lnTo>
                    <a:lnTo>
                      <a:pt x="51" y="265"/>
                    </a:lnTo>
                    <a:lnTo>
                      <a:pt x="47" y="261"/>
                    </a:lnTo>
                    <a:lnTo>
                      <a:pt x="44" y="257"/>
                    </a:lnTo>
                    <a:lnTo>
                      <a:pt x="41" y="252"/>
                    </a:lnTo>
                    <a:lnTo>
                      <a:pt x="37" y="248"/>
                    </a:lnTo>
                    <a:lnTo>
                      <a:pt x="34" y="242"/>
                    </a:lnTo>
                    <a:lnTo>
                      <a:pt x="32" y="238"/>
                    </a:lnTo>
                    <a:lnTo>
                      <a:pt x="30" y="234"/>
                    </a:lnTo>
                    <a:lnTo>
                      <a:pt x="29" y="229"/>
                    </a:lnTo>
                    <a:lnTo>
                      <a:pt x="27" y="225"/>
                    </a:lnTo>
                    <a:lnTo>
                      <a:pt x="24" y="221"/>
                    </a:lnTo>
                    <a:lnTo>
                      <a:pt x="21" y="218"/>
                    </a:lnTo>
                    <a:lnTo>
                      <a:pt x="18" y="215"/>
                    </a:lnTo>
                    <a:lnTo>
                      <a:pt x="14" y="213"/>
                    </a:lnTo>
                    <a:lnTo>
                      <a:pt x="10" y="212"/>
                    </a:lnTo>
                    <a:lnTo>
                      <a:pt x="0" y="172"/>
                    </a:lnTo>
                    <a:lnTo>
                      <a:pt x="4" y="170"/>
                    </a:lnTo>
                    <a:lnTo>
                      <a:pt x="7" y="167"/>
                    </a:lnTo>
                    <a:lnTo>
                      <a:pt x="11" y="165"/>
                    </a:lnTo>
                    <a:lnTo>
                      <a:pt x="13" y="162"/>
                    </a:lnTo>
                    <a:lnTo>
                      <a:pt x="16" y="159"/>
                    </a:lnTo>
                    <a:lnTo>
                      <a:pt x="18" y="155"/>
                    </a:lnTo>
                    <a:lnTo>
                      <a:pt x="21" y="151"/>
                    </a:lnTo>
                    <a:lnTo>
                      <a:pt x="23" y="148"/>
                    </a:lnTo>
                    <a:lnTo>
                      <a:pt x="27" y="113"/>
                    </a:lnTo>
                    <a:lnTo>
                      <a:pt x="24" y="112"/>
                    </a:lnTo>
                    <a:lnTo>
                      <a:pt x="23" y="112"/>
                    </a:lnTo>
                    <a:lnTo>
                      <a:pt x="21" y="111"/>
                    </a:lnTo>
                    <a:lnTo>
                      <a:pt x="19" y="111"/>
                    </a:lnTo>
                    <a:lnTo>
                      <a:pt x="17" y="111"/>
                    </a:lnTo>
                    <a:lnTo>
                      <a:pt x="16" y="110"/>
                    </a:lnTo>
                    <a:lnTo>
                      <a:pt x="14" y="110"/>
                    </a:lnTo>
                    <a:lnTo>
                      <a:pt x="12" y="110"/>
                    </a:lnTo>
                    <a:lnTo>
                      <a:pt x="4" y="81"/>
                    </a:lnTo>
                    <a:lnTo>
                      <a:pt x="13" y="60"/>
                    </a:lnTo>
                    <a:lnTo>
                      <a:pt x="11" y="58"/>
                    </a:lnTo>
                    <a:lnTo>
                      <a:pt x="10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5" y="54"/>
                    </a:lnTo>
                    <a:lnTo>
                      <a:pt x="4" y="53"/>
                    </a:lnTo>
                    <a:lnTo>
                      <a:pt x="3" y="52"/>
                    </a:lnTo>
                    <a:lnTo>
                      <a:pt x="2" y="50"/>
                    </a:lnTo>
                    <a:lnTo>
                      <a:pt x="6" y="45"/>
                    </a:lnTo>
                    <a:lnTo>
                      <a:pt x="11" y="40"/>
                    </a:lnTo>
                    <a:lnTo>
                      <a:pt x="15" y="36"/>
                    </a:lnTo>
                    <a:lnTo>
                      <a:pt x="20" y="32"/>
                    </a:lnTo>
                    <a:lnTo>
                      <a:pt x="24" y="29"/>
                    </a:lnTo>
                    <a:lnTo>
                      <a:pt x="30" y="24"/>
                    </a:lnTo>
                    <a:lnTo>
                      <a:pt x="35" y="21"/>
                    </a:lnTo>
                    <a:lnTo>
                      <a:pt x="41" y="18"/>
                    </a:lnTo>
                    <a:lnTo>
                      <a:pt x="46" y="15"/>
                    </a:lnTo>
                    <a:lnTo>
                      <a:pt x="51" y="13"/>
                    </a:lnTo>
                    <a:lnTo>
                      <a:pt x="58" y="9"/>
                    </a:lnTo>
                    <a:lnTo>
                      <a:pt x="63" y="7"/>
                    </a:lnTo>
                    <a:lnTo>
                      <a:pt x="69" y="5"/>
                    </a:lnTo>
                    <a:lnTo>
                      <a:pt x="75" y="3"/>
                    </a:lnTo>
                    <a:lnTo>
                      <a:pt x="81" y="1"/>
                    </a:lnTo>
                    <a:lnTo>
                      <a:pt x="86" y="0"/>
                    </a:lnTo>
                    <a:lnTo>
                      <a:pt x="90" y="0"/>
                    </a:lnTo>
                    <a:lnTo>
                      <a:pt x="92" y="1"/>
                    </a:lnTo>
                    <a:lnTo>
                      <a:pt x="94" y="2"/>
                    </a:lnTo>
                    <a:lnTo>
                      <a:pt x="96" y="4"/>
                    </a:lnTo>
                    <a:lnTo>
                      <a:pt x="97" y="5"/>
                    </a:lnTo>
                    <a:lnTo>
                      <a:pt x="99" y="7"/>
                    </a:lnTo>
                    <a:lnTo>
                      <a:pt x="101" y="8"/>
                    </a:lnTo>
                    <a:lnTo>
                      <a:pt x="104" y="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48" name="Freeform 1080"/>
              <p:cNvSpPr>
                <a:spLocks/>
              </p:cNvSpPr>
              <p:nvPr/>
            </p:nvSpPr>
            <p:spPr bwMode="auto">
              <a:xfrm>
                <a:off x="2107" y="3164"/>
                <a:ext cx="26" cy="38"/>
              </a:xfrm>
              <a:custGeom>
                <a:avLst/>
                <a:gdLst>
                  <a:gd name="T0" fmla="*/ 26 w 26"/>
                  <a:gd name="T1" fmla="*/ 38 h 38"/>
                  <a:gd name="T2" fmla="*/ 24 w 26"/>
                  <a:gd name="T3" fmla="*/ 37 h 38"/>
                  <a:gd name="T4" fmla="*/ 23 w 26"/>
                  <a:gd name="T5" fmla="*/ 37 h 38"/>
                  <a:gd name="T6" fmla="*/ 21 w 26"/>
                  <a:gd name="T7" fmla="*/ 38 h 38"/>
                  <a:gd name="T8" fmla="*/ 19 w 26"/>
                  <a:gd name="T9" fmla="*/ 38 h 38"/>
                  <a:gd name="T10" fmla="*/ 17 w 26"/>
                  <a:gd name="T11" fmla="*/ 38 h 38"/>
                  <a:gd name="T12" fmla="*/ 16 w 26"/>
                  <a:gd name="T13" fmla="*/ 37 h 38"/>
                  <a:gd name="T14" fmla="*/ 15 w 26"/>
                  <a:gd name="T15" fmla="*/ 35 h 38"/>
                  <a:gd name="T16" fmla="*/ 15 w 26"/>
                  <a:gd name="T17" fmla="*/ 34 h 38"/>
                  <a:gd name="T18" fmla="*/ 13 w 26"/>
                  <a:gd name="T19" fmla="*/ 32 h 38"/>
                  <a:gd name="T20" fmla="*/ 12 w 26"/>
                  <a:gd name="T21" fmla="*/ 31 h 38"/>
                  <a:gd name="T22" fmla="*/ 10 w 26"/>
                  <a:gd name="T23" fmla="*/ 30 h 38"/>
                  <a:gd name="T24" fmla="*/ 9 w 26"/>
                  <a:gd name="T25" fmla="*/ 31 h 38"/>
                  <a:gd name="T26" fmla="*/ 7 w 26"/>
                  <a:gd name="T27" fmla="*/ 31 h 38"/>
                  <a:gd name="T28" fmla="*/ 6 w 26"/>
                  <a:gd name="T29" fmla="*/ 32 h 38"/>
                  <a:gd name="T30" fmla="*/ 4 w 26"/>
                  <a:gd name="T31" fmla="*/ 32 h 38"/>
                  <a:gd name="T32" fmla="*/ 2 w 26"/>
                  <a:gd name="T33" fmla="*/ 32 h 38"/>
                  <a:gd name="T34" fmla="*/ 0 w 26"/>
                  <a:gd name="T35" fmla="*/ 35 h 38"/>
                  <a:gd name="T36" fmla="*/ 1 w 26"/>
                  <a:gd name="T37" fmla="*/ 33 h 38"/>
                  <a:gd name="T38" fmla="*/ 3 w 26"/>
                  <a:gd name="T39" fmla="*/ 30 h 38"/>
                  <a:gd name="T40" fmla="*/ 6 w 26"/>
                  <a:gd name="T41" fmla="*/ 27 h 38"/>
                  <a:gd name="T42" fmla="*/ 9 w 26"/>
                  <a:gd name="T43" fmla="*/ 25 h 38"/>
                  <a:gd name="T44" fmla="*/ 12 w 26"/>
                  <a:gd name="T45" fmla="*/ 22 h 38"/>
                  <a:gd name="T46" fmla="*/ 16 w 26"/>
                  <a:gd name="T47" fmla="*/ 18 h 38"/>
                  <a:gd name="T48" fmla="*/ 18 w 26"/>
                  <a:gd name="T49" fmla="*/ 14 h 38"/>
                  <a:gd name="T50" fmla="*/ 19 w 26"/>
                  <a:gd name="T51" fmla="*/ 10 h 38"/>
                  <a:gd name="T52" fmla="*/ 19 w 26"/>
                  <a:gd name="T53" fmla="*/ 7 h 38"/>
                  <a:gd name="T54" fmla="*/ 19 w 26"/>
                  <a:gd name="T55" fmla="*/ 4 h 38"/>
                  <a:gd name="T56" fmla="*/ 19 w 26"/>
                  <a:gd name="T57" fmla="*/ 1 h 38"/>
                  <a:gd name="T58" fmla="*/ 21 w 26"/>
                  <a:gd name="T59" fmla="*/ 0 h 38"/>
                  <a:gd name="T60" fmla="*/ 26 w 26"/>
                  <a:gd name="T61" fmla="*/ 1 h 38"/>
                  <a:gd name="T62" fmla="*/ 26 w 26"/>
                  <a:gd name="T63" fmla="*/ 38 h 3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6"/>
                  <a:gd name="T97" fmla="*/ 0 h 38"/>
                  <a:gd name="T98" fmla="*/ 26 w 26"/>
                  <a:gd name="T99" fmla="*/ 38 h 38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6" h="38">
                    <a:moveTo>
                      <a:pt x="26" y="38"/>
                    </a:moveTo>
                    <a:lnTo>
                      <a:pt x="24" y="37"/>
                    </a:lnTo>
                    <a:lnTo>
                      <a:pt x="23" y="37"/>
                    </a:lnTo>
                    <a:lnTo>
                      <a:pt x="21" y="38"/>
                    </a:lnTo>
                    <a:lnTo>
                      <a:pt x="19" y="38"/>
                    </a:lnTo>
                    <a:lnTo>
                      <a:pt x="17" y="38"/>
                    </a:lnTo>
                    <a:lnTo>
                      <a:pt x="16" y="37"/>
                    </a:lnTo>
                    <a:lnTo>
                      <a:pt x="15" y="35"/>
                    </a:lnTo>
                    <a:lnTo>
                      <a:pt x="15" y="34"/>
                    </a:lnTo>
                    <a:lnTo>
                      <a:pt x="13" y="32"/>
                    </a:lnTo>
                    <a:lnTo>
                      <a:pt x="12" y="31"/>
                    </a:lnTo>
                    <a:lnTo>
                      <a:pt x="10" y="30"/>
                    </a:lnTo>
                    <a:lnTo>
                      <a:pt x="9" y="31"/>
                    </a:lnTo>
                    <a:lnTo>
                      <a:pt x="7" y="31"/>
                    </a:lnTo>
                    <a:lnTo>
                      <a:pt x="6" y="32"/>
                    </a:lnTo>
                    <a:lnTo>
                      <a:pt x="4" y="32"/>
                    </a:lnTo>
                    <a:lnTo>
                      <a:pt x="2" y="32"/>
                    </a:lnTo>
                    <a:lnTo>
                      <a:pt x="0" y="35"/>
                    </a:lnTo>
                    <a:lnTo>
                      <a:pt x="1" y="33"/>
                    </a:lnTo>
                    <a:lnTo>
                      <a:pt x="3" y="30"/>
                    </a:lnTo>
                    <a:lnTo>
                      <a:pt x="6" y="27"/>
                    </a:lnTo>
                    <a:lnTo>
                      <a:pt x="9" y="25"/>
                    </a:lnTo>
                    <a:lnTo>
                      <a:pt x="12" y="22"/>
                    </a:lnTo>
                    <a:lnTo>
                      <a:pt x="16" y="18"/>
                    </a:lnTo>
                    <a:lnTo>
                      <a:pt x="18" y="14"/>
                    </a:lnTo>
                    <a:lnTo>
                      <a:pt x="19" y="10"/>
                    </a:lnTo>
                    <a:lnTo>
                      <a:pt x="19" y="7"/>
                    </a:lnTo>
                    <a:lnTo>
                      <a:pt x="19" y="4"/>
                    </a:lnTo>
                    <a:lnTo>
                      <a:pt x="19" y="1"/>
                    </a:lnTo>
                    <a:lnTo>
                      <a:pt x="21" y="0"/>
                    </a:lnTo>
                    <a:lnTo>
                      <a:pt x="26" y="1"/>
                    </a:lnTo>
                    <a:lnTo>
                      <a:pt x="26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49" name="Freeform 1081"/>
              <p:cNvSpPr>
                <a:spLocks/>
              </p:cNvSpPr>
              <p:nvPr/>
            </p:nvSpPr>
            <p:spPr bwMode="auto">
              <a:xfrm>
                <a:off x="2140" y="3173"/>
                <a:ext cx="37" cy="68"/>
              </a:xfrm>
              <a:custGeom>
                <a:avLst/>
                <a:gdLst>
                  <a:gd name="T0" fmla="*/ 11 w 37"/>
                  <a:gd name="T1" fmla="*/ 5 h 68"/>
                  <a:gd name="T2" fmla="*/ 16 w 37"/>
                  <a:gd name="T3" fmla="*/ 3 h 68"/>
                  <a:gd name="T4" fmla="*/ 20 w 37"/>
                  <a:gd name="T5" fmla="*/ 3 h 68"/>
                  <a:gd name="T6" fmla="*/ 22 w 37"/>
                  <a:gd name="T7" fmla="*/ 5 h 68"/>
                  <a:gd name="T8" fmla="*/ 25 w 37"/>
                  <a:gd name="T9" fmla="*/ 7 h 68"/>
                  <a:gd name="T10" fmla="*/ 28 w 37"/>
                  <a:gd name="T11" fmla="*/ 10 h 68"/>
                  <a:gd name="T12" fmla="*/ 30 w 37"/>
                  <a:gd name="T13" fmla="*/ 13 h 68"/>
                  <a:gd name="T14" fmla="*/ 33 w 37"/>
                  <a:gd name="T15" fmla="*/ 15 h 68"/>
                  <a:gd name="T16" fmla="*/ 37 w 37"/>
                  <a:gd name="T17" fmla="*/ 15 h 68"/>
                  <a:gd name="T18" fmla="*/ 37 w 37"/>
                  <a:gd name="T19" fmla="*/ 20 h 68"/>
                  <a:gd name="T20" fmla="*/ 35 w 37"/>
                  <a:gd name="T21" fmla="*/ 23 h 68"/>
                  <a:gd name="T22" fmla="*/ 32 w 37"/>
                  <a:gd name="T23" fmla="*/ 25 h 68"/>
                  <a:gd name="T24" fmla="*/ 28 w 37"/>
                  <a:gd name="T25" fmla="*/ 28 h 68"/>
                  <a:gd name="T26" fmla="*/ 23 w 37"/>
                  <a:gd name="T27" fmla="*/ 29 h 68"/>
                  <a:gd name="T28" fmla="*/ 19 w 37"/>
                  <a:gd name="T29" fmla="*/ 31 h 68"/>
                  <a:gd name="T30" fmla="*/ 16 w 37"/>
                  <a:gd name="T31" fmla="*/ 34 h 68"/>
                  <a:gd name="T32" fmla="*/ 13 w 37"/>
                  <a:gd name="T33" fmla="*/ 38 h 68"/>
                  <a:gd name="T34" fmla="*/ 11 w 37"/>
                  <a:gd name="T35" fmla="*/ 42 h 68"/>
                  <a:gd name="T36" fmla="*/ 11 w 37"/>
                  <a:gd name="T37" fmla="*/ 46 h 68"/>
                  <a:gd name="T38" fmla="*/ 10 w 37"/>
                  <a:gd name="T39" fmla="*/ 50 h 68"/>
                  <a:gd name="T40" fmla="*/ 9 w 37"/>
                  <a:gd name="T41" fmla="*/ 54 h 68"/>
                  <a:gd name="T42" fmla="*/ 8 w 37"/>
                  <a:gd name="T43" fmla="*/ 59 h 68"/>
                  <a:gd name="T44" fmla="*/ 7 w 37"/>
                  <a:gd name="T45" fmla="*/ 63 h 68"/>
                  <a:gd name="T46" fmla="*/ 4 w 37"/>
                  <a:gd name="T47" fmla="*/ 66 h 68"/>
                  <a:gd name="T48" fmla="*/ 1 w 37"/>
                  <a:gd name="T49" fmla="*/ 68 h 68"/>
                  <a:gd name="T50" fmla="*/ 0 w 37"/>
                  <a:gd name="T51" fmla="*/ 0 h 68"/>
                  <a:gd name="T52" fmla="*/ 2 w 37"/>
                  <a:gd name="T53" fmla="*/ 0 h 68"/>
                  <a:gd name="T54" fmla="*/ 4 w 37"/>
                  <a:gd name="T55" fmla="*/ 0 h 68"/>
                  <a:gd name="T56" fmla="*/ 5 w 37"/>
                  <a:gd name="T57" fmla="*/ 0 h 68"/>
                  <a:gd name="T58" fmla="*/ 6 w 37"/>
                  <a:gd name="T59" fmla="*/ 1 h 68"/>
                  <a:gd name="T60" fmla="*/ 7 w 37"/>
                  <a:gd name="T61" fmla="*/ 2 h 68"/>
                  <a:gd name="T62" fmla="*/ 9 w 37"/>
                  <a:gd name="T63" fmla="*/ 3 h 68"/>
                  <a:gd name="T64" fmla="*/ 10 w 37"/>
                  <a:gd name="T65" fmla="*/ 3 h 68"/>
                  <a:gd name="T66" fmla="*/ 11 w 37"/>
                  <a:gd name="T67" fmla="*/ 5 h 6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37"/>
                  <a:gd name="T103" fmla="*/ 0 h 68"/>
                  <a:gd name="T104" fmla="*/ 37 w 37"/>
                  <a:gd name="T105" fmla="*/ 68 h 6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37" h="68">
                    <a:moveTo>
                      <a:pt x="11" y="5"/>
                    </a:moveTo>
                    <a:lnTo>
                      <a:pt x="16" y="3"/>
                    </a:lnTo>
                    <a:lnTo>
                      <a:pt x="20" y="3"/>
                    </a:lnTo>
                    <a:lnTo>
                      <a:pt x="22" y="5"/>
                    </a:lnTo>
                    <a:lnTo>
                      <a:pt x="25" y="7"/>
                    </a:lnTo>
                    <a:lnTo>
                      <a:pt x="28" y="10"/>
                    </a:lnTo>
                    <a:lnTo>
                      <a:pt x="30" y="13"/>
                    </a:lnTo>
                    <a:lnTo>
                      <a:pt x="33" y="15"/>
                    </a:lnTo>
                    <a:lnTo>
                      <a:pt x="37" y="15"/>
                    </a:lnTo>
                    <a:lnTo>
                      <a:pt x="37" y="20"/>
                    </a:lnTo>
                    <a:lnTo>
                      <a:pt x="35" y="23"/>
                    </a:lnTo>
                    <a:lnTo>
                      <a:pt x="32" y="25"/>
                    </a:lnTo>
                    <a:lnTo>
                      <a:pt x="28" y="28"/>
                    </a:lnTo>
                    <a:lnTo>
                      <a:pt x="23" y="29"/>
                    </a:lnTo>
                    <a:lnTo>
                      <a:pt x="19" y="31"/>
                    </a:lnTo>
                    <a:lnTo>
                      <a:pt x="16" y="34"/>
                    </a:lnTo>
                    <a:lnTo>
                      <a:pt x="13" y="38"/>
                    </a:lnTo>
                    <a:lnTo>
                      <a:pt x="11" y="42"/>
                    </a:lnTo>
                    <a:lnTo>
                      <a:pt x="11" y="46"/>
                    </a:lnTo>
                    <a:lnTo>
                      <a:pt x="10" y="50"/>
                    </a:lnTo>
                    <a:lnTo>
                      <a:pt x="9" y="54"/>
                    </a:lnTo>
                    <a:lnTo>
                      <a:pt x="8" y="59"/>
                    </a:lnTo>
                    <a:lnTo>
                      <a:pt x="7" y="63"/>
                    </a:lnTo>
                    <a:lnTo>
                      <a:pt x="4" y="66"/>
                    </a:lnTo>
                    <a:lnTo>
                      <a:pt x="1" y="68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7" y="2"/>
                    </a:lnTo>
                    <a:lnTo>
                      <a:pt x="9" y="3"/>
                    </a:lnTo>
                    <a:lnTo>
                      <a:pt x="10" y="3"/>
                    </a:lnTo>
                    <a:lnTo>
                      <a:pt x="11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50" name="Freeform 1082"/>
              <p:cNvSpPr>
                <a:spLocks/>
              </p:cNvSpPr>
              <p:nvPr/>
            </p:nvSpPr>
            <p:spPr bwMode="auto">
              <a:xfrm>
                <a:off x="2013" y="3194"/>
                <a:ext cx="6" cy="8"/>
              </a:xfrm>
              <a:custGeom>
                <a:avLst/>
                <a:gdLst>
                  <a:gd name="T0" fmla="*/ 5 w 6"/>
                  <a:gd name="T1" fmla="*/ 8 h 8"/>
                  <a:gd name="T2" fmla="*/ 0 w 6"/>
                  <a:gd name="T3" fmla="*/ 7 h 8"/>
                  <a:gd name="T4" fmla="*/ 3 w 6"/>
                  <a:gd name="T5" fmla="*/ 0 h 8"/>
                  <a:gd name="T6" fmla="*/ 5 w 6"/>
                  <a:gd name="T7" fmla="*/ 2 h 8"/>
                  <a:gd name="T8" fmla="*/ 6 w 6"/>
                  <a:gd name="T9" fmla="*/ 3 h 8"/>
                  <a:gd name="T10" fmla="*/ 6 w 6"/>
                  <a:gd name="T11" fmla="*/ 7 h 8"/>
                  <a:gd name="T12" fmla="*/ 5 w 6"/>
                  <a:gd name="T13" fmla="*/ 8 h 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"/>
                  <a:gd name="T22" fmla="*/ 0 h 8"/>
                  <a:gd name="T23" fmla="*/ 6 w 6"/>
                  <a:gd name="T24" fmla="*/ 8 h 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" h="8">
                    <a:moveTo>
                      <a:pt x="5" y="8"/>
                    </a:moveTo>
                    <a:lnTo>
                      <a:pt x="0" y="7"/>
                    </a:lnTo>
                    <a:lnTo>
                      <a:pt x="3" y="0"/>
                    </a:lnTo>
                    <a:lnTo>
                      <a:pt x="5" y="2"/>
                    </a:lnTo>
                    <a:lnTo>
                      <a:pt x="6" y="3"/>
                    </a:lnTo>
                    <a:lnTo>
                      <a:pt x="6" y="7"/>
                    </a:lnTo>
                    <a:lnTo>
                      <a:pt x="5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51" name="Freeform 1083"/>
              <p:cNvSpPr>
                <a:spLocks/>
              </p:cNvSpPr>
              <p:nvPr/>
            </p:nvSpPr>
            <p:spPr bwMode="auto">
              <a:xfrm>
                <a:off x="2140" y="3203"/>
                <a:ext cx="77" cy="202"/>
              </a:xfrm>
              <a:custGeom>
                <a:avLst/>
                <a:gdLst>
                  <a:gd name="T0" fmla="*/ 44 w 77"/>
                  <a:gd name="T1" fmla="*/ 5 h 202"/>
                  <a:gd name="T2" fmla="*/ 51 w 77"/>
                  <a:gd name="T3" fmla="*/ 17 h 202"/>
                  <a:gd name="T4" fmla="*/ 56 w 77"/>
                  <a:gd name="T5" fmla="*/ 30 h 202"/>
                  <a:gd name="T6" fmla="*/ 60 w 77"/>
                  <a:gd name="T7" fmla="*/ 45 h 202"/>
                  <a:gd name="T8" fmla="*/ 55 w 77"/>
                  <a:gd name="T9" fmla="*/ 57 h 202"/>
                  <a:gd name="T10" fmla="*/ 60 w 77"/>
                  <a:gd name="T11" fmla="*/ 66 h 202"/>
                  <a:gd name="T12" fmla="*/ 65 w 77"/>
                  <a:gd name="T13" fmla="*/ 73 h 202"/>
                  <a:gd name="T14" fmla="*/ 70 w 77"/>
                  <a:gd name="T15" fmla="*/ 81 h 202"/>
                  <a:gd name="T16" fmla="*/ 77 w 77"/>
                  <a:gd name="T17" fmla="*/ 88 h 202"/>
                  <a:gd name="T18" fmla="*/ 76 w 77"/>
                  <a:gd name="T19" fmla="*/ 95 h 202"/>
                  <a:gd name="T20" fmla="*/ 70 w 77"/>
                  <a:gd name="T21" fmla="*/ 99 h 202"/>
                  <a:gd name="T22" fmla="*/ 67 w 77"/>
                  <a:gd name="T23" fmla="*/ 100 h 202"/>
                  <a:gd name="T24" fmla="*/ 64 w 77"/>
                  <a:gd name="T25" fmla="*/ 101 h 202"/>
                  <a:gd name="T26" fmla="*/ 67 w 77"/>
                  <a:gd name="T27" fmla="*/ 114 h 202"/>
                  <a:gd name="T28" fmla="*/ 64 w 77"/>
                  <a:gd name="T29" fmla="*/ 115 h 202"/>
                  <a:gd name="T30" fmla="*/ 63 w 77"/>
                  <a:gd name="T31" fmla="*/ 117 h 202"/>
                  <a:gd name="T32" fmla="*/ 65 w 77"/>
                  <a:gd name="T33" fmla="*/ 118 h 202"/>
                  <a:gd name="T34" fmla="*/ 67 w 77"/>
                  <a:gd name="T35" fmla="*/ 119 h 202"/>
                  <a:gd name="T36" fmla="*/ 67 w 77"/>
                  <a:gd name="T37" fmla="*/ 121 h 202"/>
                  <a:gd name="T38" fmla="*/ 63 w 77"/>
                  <a:gd name="T39" fmla="*/ 126 h 202"/>
                  <a:gd name="T40" fmla="*/ 63 w 77"/>
                  <a:gd name="T41" fmla="*/ 133 h 202"/>
                  <a:gd name="T42" fmla="*/ 65 w 77"/>
                  <a:gd name="T43" fmla="*/ 141 h 202"/>
                  <a:gd name="T44" fmla="*/ 64 w 77"/>
                  <a:gd name="T45" fmla="*/ 148 h 202"/>
                  <a:gd name="T46" fmla="*/ 55 w 77"/>
                  <a:gd name="T47" fmla="*/ 151 h 202"/>
                  <a:gd name="T48" fmla="*/ 46 w 77"/>
                  <a:gd name="T49" fmla="*/ 153 h 202"/>
                  <a:gd name="T50" fmla="*/ 37 w 77"/>
                  <a:gd name="T51" fmla="*/ 155 h 202"/>
                  <a:gd name="T52" fmla="*/ 29 w 77"/>
                  <a:gd name="T53" fmla="*/ 158 h 202"/>
                  <a:gd name="T54" fmla="*/ 20 w 77"/>
                  <a:gd name="T55" fmla="*/ 165 h 202"/>
                  <a:gd name="T56" fmla="*/ 14 w 77"/>
                  <a:gd name="T57" fmla="*/ 175 h 202"/>
                  <a:gd name="T58" fmla="*/ 8 w 77"/>
                  <a:gd name="T59" fmla="*/ 186 h 202"/>
                  <a:gd name="T60" fmla="*/ 3 w 77"/>
                  <a:gd name="T61" fmla="*/ 196 h 202"/>
                  <a:gd name="T62" fmla="*/ 0 w 77"/>
                  <a:gd name="T63" fmla="*/ 64 h 202"/>
                  <a:gd name="T64" fmla="*/ 5 w 77"/>
                  <a:gd name="T65" fmla="*/ 59 h 202"/>
                  <a:gd name="T66" fmla="*/ 11 w 77"/>
                  <a:gd name="T67" fmla="*/ 54 h 202"/>
                  <a:gd name="T68" fmla="*/ 16 w 77"/>
                  <a:gd name="T69" fmla="*/ 48 h 202"/>
                  <a:gd name="T70" fmla="*/ 18 w 77"/>
                  <a:gd name="T71" fmla="*/ 41 h 202"/>
                  <a:gd name="T72" fmla="*/ 16 w 77"/>
                  <a:gd name="T73" fmla="*/ 24 h 202"/>
                  <a:gd name="T74" fmla="*/ 19 w 77"/>
                  <a:gd name="T75" fmla="*/ 8 h 202"/>
                  <a:gd name="T76" fmla="*/ 23 w 77"/>
                  <a:gd name="T77" fmla="*/ 5 h 202"/>
                  <a:gd name="T78" fmla="*/ 28 w 77"/>
                  <a:gd name="T79" fmla="*/ 2 h 202"/>
                  <a:gd name="T80" fmla="*/ 33 w 77"/>
                  <a:gd name="T81" fmla="*/ 0 h 202"/>
                  <a:gd name="T82" fmla="*/ 39 w 77"/>
                  <a:gd name="T83" fmla="*/ 0 h 202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77"/>
                  <a:gd name="T127" fmla="*/ 0 h 202"/>
                  <a:gd name="T128" fmla="*/ 77 w 77"/>
                  <a:gd name="T129" fmla="*/ 202 h 202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77" h="202">
                    <a:moveTo>
                      <a:pt x="39" y="0"/>
                    </a:moveTo>
                    <a:lnTo>
                      <a:pt x="44" y="5"/>
                    </a:lnTo>
                    <a:lnTo>
                      <a:pt x="48" y="11"/>
                    </a:lnTo>
                    <a:lnTo>
                      <a:pt x="51" y="17"/>
                    </a:lnTo>
                    <a:lnTo>
                      <a:pt x="54" y="23"/>
                    </a:lnTo>
                    <a:lnTo>
                      <a:pt x="56" y="30"/>
                    </a:lnTo>
                    <a:lnTo>
                      <a:pt x="58" y="37"/>
                    </a:lnTo>
                    <a:lnTo>
                      <a:pt x="60" y="45"/>
                    </a:lnTo>
                    <a:lnTo>
                      <a:pt x="60" y="52"/>
                    </a:lnTo>
                    <a:lnTo>
                      <a:pt x="55" y="57"/>
                    </a:lnTo>
                    <a:lnTo>
                      <a:pt x="56" y="62"/>
                    </a:lnTo>
                    <a:lnTo>
                      <a:pt x="60" y="66"/>
                    </a:lnTo>
                    <a:lnTo>
                      <a:pt x="62" y="70"/>
                    </a:lnTo>
                    <a:lnTo>
                      <a:pt x="65" y="73"/>
                    </a:lnTo>
                    <a:lnTo>
                      <a:pt x="67" y="77"/>
                    </a:lnTo>
                    <a:lnTo>
                      <a:pt x="70" y="81"/>
                    </a:lnTo>
                    <a:lnTo>
                      <a:pt x="73" y="84"/>
                    </a:lnTo>
                    <a:lnTo>
                      <a:pt x="77" y="88"/>
                    </a:lnTo>
                    <a:lnTo>
                      <a:pt x="77" y="92"/>
                    </a:lnTo>
                    <a:lnTo>
                      <a:pt x="76" y="95"/>
                    </a:lnTo>
                    <a:lnTo>
                      <a:pt x="73" y="97"/>
                    </a:lnTo>
                    <a:lnTo>
                      <a:pt x="70" y="99"/>
                    </a:lnTo>
                    <a:lnTo>
                      <a:pt x="69" y="99"/>
                    </a:lnTo>
                    <a:lnTo>
                      <a:pt x="67" y="100"/>
                    </a:lnTo>
                    <a:lnTo>
                      <a:pt x="65" y="100"/>
                    </a:lnTo>
                    <a:lnTo>
                      <a:pt x="64" y="101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5" y="115"/>
                    </a:lnTo>
                    <a:lnTo>
                      <a:pt x="64" y="115"/>
                    </a:lnTo>
                    <a:lnTo>
                      <a:pt x="62" y="117"/>
                    </a:lnTo>
                    <a:lnTo>
                      <a:pt x="63" y="117"/>
                    </a:lnTo>
                    <a:lnTo>
                      <a:pt x="64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7" y="121"/>
                    </a:lnTo>
                    <a:lnTo>
                      <a:pt x="66" y="123"/>
                    </a:lnTo>
                    <a:lnTo>
                      <a:pt x="63" y="126"/>
                    </a:lnTo>
                    <a:lnTo>
                      <a:pt x="62" y="129"/>
                    </a:lnTo>
                    <a:lnTo>
                      <a:pt x="63" y="133"/>
                    </a:lnTo>
                    <a:lnTo>
                      <a:pt x="64" y="137"/>
                    </a:lnTo>
                    <a:lnTo>
                      <a:pt x="65" y="141"/>
                    </a:lnTo>
                    <a:lnTo>
                      <a:pt x="65" y="145"/>
                    </a:lnTo>
                    <a:lnTo>
                      <a:pt x="64" y="148"/>
                    </a:lnTo>
                    <a:lnTo>
                      <a:pt x="60" y="151"/>
                    </a:lnTo>
                    <a:lnTo>
                      <a:pt x="55" y="151"/>
                    </a:lnTo>
                    <a:lnTo>
                      <a:pt x="51" y="152"/>
                    </a:lnTo>
                    <a:lnTo>
                      <a:pt x="46" y="153"/>
                    </a:lnTo>
                    <a:lnTo>
                      <a:pt x="41" y="155"/>
                    </a:lnTo>
                    <a:lnTo>
                      <a:pt x="37" y="155"/>
                    </a:lnTo>
                    <a:lnTo>
                      <a:pt x="33" y="157"/>
                    </a:lnTo>
                    <a:lnTo>
                      <a:pt x="29" y="158"/>
                    </a:lnTo>
                    <a:lnTo>
                      <a:pt x="24" y="161"/>
                    </a:lnTo>
                    <a:lnTo>
                      <a:pt x="20" y="165"/>
                    </a:lnTo>
                    <a:lnTo>
                      <a:pt x="17" y="170"/>
                    </a:lnTo>
                    <a:lnTo>
                      <a:pt x="14" y="175"/>
                    </a:lnTo>
                    <a:lnTo>
                      <a:pt x="10" y="180"/>
                    </a:lnTo>
                    <a:lnTo>
                      <a:pt x="8" y="186"/>
                    </a:lnTo>
                    <a:lnTo>
                      <a:pt x="5" y="191"/>
                    </a:lnTo>
                    <a:lnTo>
                      <a:pt x="3" y="196"/>
                    </a:lnTo>
                    <a:lnTo>
                      <a:pt x="0" y="202"/>
                    </a:lnTo>
                    <a:lnTo>
                      <a:pt x="0" y="64"/>
                    </a:lnTo>
                    <a:lnTo>
                      <a:pt x="3" y="62"/>
                    </a:lnTo>
                    <a:lnTo>
                      <a:pt x="5" y="59"/>
                    </a:lnTo>
                    <a:lnTo>
                      <a:pt x="8" y="56"/>
                    </a:lnTo>
                    <a:lnTo>
                      <a:pt x="11" y="54"/>
                    </a:lnTo>
                    <a:lnTo>
                      <a:pt x="14" y="51"/>
                    </a:lnTo>
                    <a:lnTo>
                      <a:pt x="16" y="48"/>
                    </a:lnTo>
                    <a:lnTo>
                      <a:pt x="17" y="45"/>
                    </a:lnTo>
                    <a:lnTo>
                      <a:pt x="18" y="41"/>
                    </a:lnTo>
                    <a:lnTo>
                      <a:pt x="17" y="33"/>
                    </a:lnTo>
                    <a:lnTo>
                      <a:pt x="16" y="24"/>
                    </a:lnTo>
                    <a:lnTo>
                      <a:pt x="17" y="17"/>
                    </a:lnTo>
                    <a:lnTo>
                      <a:pt x="19" y="8"/>
                    </a:lnTo>
                    <a:lnTo>
                      <a:pt x="21" y="7"/>
                    </a:lnTo>
                    <a:lnTo>
                      <a:pt x="23" y="5"/>
                    </a:lnTo>
                    <a:lnTo>
                      <a:pt x="25" y="3"/>
                    </a:lnTo>
                    <a:lnTo>
                      <a:pt x="28" y="2"/>
                    </a:lnTo>
                    <a:lnTo>
                      <a:pt x="31" y="1"/>
                    </a:lnTo>
                    <a:lnTo>
                      <a:pt x="33" y="0"/>
                    </a:lnTo>
                    <a:lnTo>
                      <a:pt x="36" y="0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52" name="Freeform 1084"/>
              <p:cNvSpPr>
                <a:spLocks/>
              </p:cNvSpPr>
              <p:nvPr/>
            </p:nvSpPr>
            <p:spPr bwMode="auto">
              <a:xfrm>
                <a:off x="1991" y="3205"/>
                <a:ext cx="32" cy="37"/>
              </a:xfrm>
              <a:custGeom>
                <a:avLst/>
                <a:gdLst>
                  <a:gd name="T0" fmla="*/ 32 w 32"/>
                  <a:gd name="T1" fmla="*/ 0 h 37"/>
                  <a:gd name="T2" fmla="*/ 30 w 32"/>
                  <a:gd name="T3" fmla="*/ 5 h 37"/>
                  <a:gd name="T4" fmla="*/ 28 w 32"/>
                  <a:gd name="T5" fmla="*/ 9 h 37"/>
                  <a:gd name="T6" fmla="*/ 28 w 32"/>
                  <a:gd name="T7" fmla="*/ 14 h 37"/>
                  <a:gd name="T8" fmla="*/ 28 w 32"/>
                  <a:gd name="T9" fmla="*/ 18 h 37"/>
                  <a:gd name="T10" fmla="*/ 28 w 32"/>
                  <a:gd name="T11" fmla="*/ 23 h 37"/>
                  <a:gd name="T12" fmla="*/ 29 w 32"/>
                  <a:gd name="T13" fmla="*/ 28 h 37"/>
                  <a:gd name="T14" fmla="*/ 30 w 32"/>
                  <a:gd name="T15" fmla="*/ 33 h 37"/>
                  <a:gd name="T16" fmla="*/ 31 w 32"/>
                  <a:gd name="T17" fmla="*/ 37 h 37"/>
                  <a:gd name="T18" fmla="*/ 0 w 32"/>
                  <a:gd name="T19" fmla="*/ 37 h 37"/>
                  <a:gd name="T20" fmla="*/ 2 w 32"/>
                  <a:gd name="T21" fmla="*/ 31 h 37"/>
                  <a:gd name="T22" fmla="*/ 4 w 32"/>
                  <a:gd name="T23" fmla="*/ 24 h 37"/>
                  <a:gd name="T24" fmla="*/ 7 w 32"/>
                  <a:gd name="T25" fmla="*/ 18 h 37"/>
                  <a:gd name="T26" fmla="*/ 10 w 32"/>
                  <a:gd name="T27" fmla="*/ 12 h 37"/>
                  <a:gd name="T28" fmla="*/ 13 w 32"/>
                  <a:gd name="T29" fmla="*/ 6 h 37"/>
                  <a:gd name="T30" fmla="*/ 18 w 32"/>
                  <a:gd name="T31" fmla="*/ 2 h 37"/>
                  <a:gd name="T32" fmla="*/ 24 w 32"/>
                  <a:gd name="T33" fmla="*/ 0 h 37"/>
                  <a:gd name="T34" fmla="*/ 32 w 32"/>
                  <a:gd name="T35" fmla="*/ 0 h 3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2"/>
                  <a:gd name="T55" fmla="*/ 0 h 37"/>
                  <a:gd name="T56" fmla="*/ 32 w 32"/>
                  <a:gd name="T57" fmla="*/ 37 h 3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2" h="37">
                    <a:moveTo>
                      <a:pt x="32" y="0"/>
                    </a:moveTo>
                    <a:lnTo>
                      <a:pt x="30" y="5"/>
                    </a:lnTo>
                    <a:lnTo>
                      <a:pt x="28" y="9"/>
                    </a:lnTo>
                    <a:lnTo>
                      <a:pt x="28" y="14"/>
                    </a:lnTo>
                    <a:lnTo>
                      <a:pt x="28" y="18"/>
                    </a:lnTo>
                    <a:lnTo>
                      <a:pt x="28" y="23"/>
                    </a:lnTo>
                    <a:lnTo>
                      <a:pt x="29" y="28"/>
                    </a:lnTo>
                    <a:lnTo>
                      <a:pt x="30" y="33"/>
                    </a:lnTo>
                    <a:lnTo>
                      <a:pt x="31" y="37"/>
                    </a:lnTo>
                    <a:lnTo>
                      <a:pt x="0" y="37"/>
                    </a:lnTo>
                    <a:lnTo>
                      <a:pt x="2" y="31"/>
                    </a:lnTo>
                    <a:lnTo>
                      <a:pt x="4" y="24"/>
                    </a:lnTo>
                    <a:lnTo>
                      <a:pt x="7" y="18"/>
                    </a:lnTo>
                    <a:lnTo>
                      <a:pt x="10" y="12"/>
                    </a:lnTo>
                    <a:lnTo>
                      <a:pt x="13" y="6"/>
                    </a:lnTo>
                    <a:lnTo>
                      <a:pt x="18" y="2"/>
                    </a:lnTo>
                    <a:lnTo>
                      <a:pt x="24" y="0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53" name="Freeform 1085"/>
              <p:cNvSpPr>
                <a:spLocks/>
              </p:cNvSpPr>
              <p:nvPr/>
            </p:nvSpPr>
            <p:spPr bwMode="auto">
              <a:xfrm>
                <a:off x="2109" y="3205"/>
                <a:ext cx="24" cy="37"/>
              </a:xfrm>
              <a:custGeom>
                <a:avLst/>
                <a:gdLst>
                  <a:gd name="T0" fmla="*/ 24 w 24"/>
                  <a:gd name="T1" fmla="*/ 37 h 37"/>
                  <a:gd name="T2" fmla="*/ 0 w 24"/>
                  <a:gd name="T3" fmla="*/ 37 h 37"/>
                  <a:gd name="T4" fmla="*/ 2 w 24"/>
                  <a:gd name="T5" fmla="*/ 34 h 37"/>
                  <a:gd name="T6" fmla="*/ 3 w 24"/>
                  <a:gd name="T7" fmla="*/ 31 h 37"/>
                  <a:gd name="T8" fmla="*/ 4 w 24"/>
                  <a:gd name="T9" fmla="*/ 27 h 37"/>
                  <a:gd name="T10" fmla="*/ 6 w 24"/>
                  <a:gd name="T11" fmla="*/ 23 h 37"/>
                  <a:gd name="T12" fmla="*/ 7 w 24"/>
                  <a:gd name="T13" fmla="*/ 20 h 37"/>
                  <a:gd name="T14" fmla="*/ 9 w 24"/>
                  <a:gd name="T15" fmla="*/ 17 h 37"/>
                  <a:gd name="T16" fmla="*/ 13 w 24"/>
                  <a:gd name="T17" fmla="*/ 14 h 37"/>
                  <a:gd name="T18" fmla="*/ 16 w 24"/>
                  <a:gd name="T19" fmla="*/ 12 h 37"/>
                  <a:gd name="T20" fmla="*/ 15 w 24"/>
                  <a:gd name="T21" fmla="*/ 0 h 37"/>
                  <a:gd name="T22" fmla="*/ 24 w 24"/>
                  <a:gd name="T23" fmla="*/ 0 h 37"/>
                  <a:gd name="T24" fmla="*/ 24 w 24"/>
                  <a:gd name="T25" fmla="*/ 37 h 3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"/>
                  <a:gd name="T40" fmla="*/ 0 h 37"/>
                  <a:gd name="T41" fmla="*/ 24 w 24"/>
                  <a:gd name="T42" fmla="*/ 37 h 3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" h="37">
                    <a:moveTo>
                      <a:pt x="24" y="37"/>
                    </a:moveTo>
                    <a:lnTo>
                      <a:pt x="0" y="37"/>
                    </a:lnTo>
                    <a:lnTo>
                      <a:pt x="2" y="34"/>
                    </a:lnTo>
                    <a:lnTo>
                      <a:pt x="3" y="31"/>
                    </a:lnTo>
                    <a:lnTo>
                      <a:pt x="4" y="27"/>
                    </a:lnTo>
                    <a:lnTo>
                      <a:pt x="6" y="23"/>
                    </a:lnTo>
                    <a:lnTo>
                      <a:pt x="7" y="20"/>
                    </a:lnTo>
                    <a:lnTo>
                      <a:pt x="9" y="17"/>
                    </a:lnTo>
                    <a:lnTo>
                      <a:pt x="13" y="14"/>
                    </a:lnTo>
                    <a:lnTo>
                      <a:pt x="16" y="12"/>
                    </a:lnTo>
                    <a:lnTo>
                      <a:pt x="15" y="0"/>
                    </a:lnTo>
                    <a:lnTo>
                      <a:pt x="24" y="0"/>
                    </a:lnTo>
                    <a:lnTo>
                      <a:pt x="24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54" name="Freeform 1086"/>
              <p:cNvSpPr>
                <a:spLocks/>
              </p:cNvSpPr>
              <p:nvPr/>
            </p:nvSpPr>
            <p:spPr bwMode="auto">
              <a:xfrm>
                <a:off x="2140" y="3236"/>
                <a:ext cx="11" cy="25"/>
              </a:xfrm>
              <a:custGeom>
                <a:avLst/>
                <a:gdLst>
                  <a:gd name="T0" fmla="*/ 0 w 11"/>
                  <a:gd name="T1" fmla="*/ 25 h 25"/>
                  <a:gd name="T2" fmla="*/ 0 w 11"/>
                  <a:gd name="T3" fmla="*/ 10 h 25"/>
                  <a:gd name="T4" fmla="*/ 10 w 11"/>
                  <a:gd name="T5" fmla="*/ 0 h 25"/>
                  <a:gd name="T6" fmla="*/ 11 w 11"/>
                  <a:gd name="T7" fmla="*/ 4 h 25"/>
                  <a:gd name="T8" fmla="*/ 11 w 11"/>
                  <a:gd name="T9" fmla="*/ 8 h 25"/>
                  <a:gd name="T10" fmla="*/ 10 w 11"/>
                  <a:gd name="T11" fmla="*/ 12 h 25"/>
                  <a:gd name="T12" fmla="*/ 9 w 11"/>
                  <a:gd name="T13" fmla="*/ 15 h 25"/>
                  <a:gd name="T14" fmla="*/ 7 w 11"/>
                  <a:gd name="T15" fmla="*/ 18 h 25"/>
                  <a:gd name="T16" fmla="*/ 5 w 11"/>
                  <a:gd name="T17" fmla="*/ 20 h 25"/>
                  <a:gd name="T18" fmla="*/ 2 w 11"/>
                  <a:gd name="T19" fmla="*/ 23 h 25"/>
                  <a:gd name="T20" fmla="*/ 0 w 11"/>
                  <a:gd name="T21" fmla="*/ 25 h 2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1"/>
                  <a:gd name="T34" fmla="*/ 0 h 25"/>
                  <a:gd name="T35" fmla="*/ 11 w 11"/>
                  <a:gd name="T36" fmla="*/ 25 h 2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1" h="25">
                    <a:moveTo>
                      <a:pt x="0" y="25"/>
                    </a:moveTo>
                    <a:lnTo>
                      <a:pt x="0" y="10"/>
                    </a:lnTo>
                    <a:lnTo>
                      <a:pt x="10" y="0"/>
                    </a:lnTo>
                    <a:lnTo>
                      <a:pt x="11" y="4"/>
                    </a:lnTo>
                    <a:lnTo>
                      <a:pt x="11" y="8"/>
                    </a:lnTo>
                    <a:lnTo>
                      <a:pt x="10" y="12"/>
                    </a:lnTo>
                    <a:lnTo>
                      <a:pt x="9" y="15"/>
                    </a:lnTo>
                    <a:lnTo>
                      <a:pt x="7" y="18"/>
                    </a:lnTo>
                    <a:lnTo>
                      <a:pt x="5" y="20"/>
                    </a:lnTo>
                    <a:lnTo>
                      <a:pt x="2" y="23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55" name="Freeform 1087"/>
              <p:cNvSpPr>
                <a:spLocks/>
              </p:cNvSpPr>
              <p:nvPr/>
            </p:nvSpPr>
            <p:spPr bwMode="auto">
              <a:xfrm>
                <a:off x="1984" y="3246"/>
                <a:ext cx="54" cy="38"/>
              </a:xfrm>
              <a:custGeom>
                <a:avLst/>
                <a:gdLst>
                  <a:gd name="T0" fmla="*/ 38 w 54"/>
                  <a:gd name="T1" fmla="*/ 0 h 38"/>
                  <a:gd name="T2" fmla="*/ 38 w 54"/>
                  <a:gd name="T3" fmla="*/ 4 h 38"/>
                  <a:gd name="T4" fmla="*/ 39 w 54"/>
                  <a:gd name="T5" fmla="*/ 6 h 38"/>
                  <a:gd name="T6" fmla="*/ 41 w 54"/>
                  <a:gd name="T7" fmla="*/ 7 h 38"/>
                  <a:gd name="T8" fmla="*/ 44 w 54"/>
                  <a:gd name="T9" fmla="*/ 8 h 38"/>
                  <a:gd name="T10" fmla="*/ 47 w 54"/>
                  <a:gd name="T11" fmla="*/ 9 h 38"/>
                  <a:gd name="T12" fmla="*/ 49 w 54"/>
                  <a:gd name="T13" fmla="*/ 9 h 38"/>
                  <a:gd name="T14" fmla="*/ 52 w 54"/>
                  <a:gd name="T15" fmla="*/ 10 h 38"/>
                  <a:gd name="T16" fmla="*/ 54 w 54"/>
                  <a:gd name="T17" fmla="*/ 10 h 38"/>
                  <a:gd name="T18" fmla="*/ 53 w 54"/>
                  <a:gd name="T19" fmla="*/ 37 h 38"/>
                  <a:gd name="T20" fmla="*/ 49 w 54"/>
                  <a:gd name="T21" fmla="*/ 37 h 38"/>
                  <a:gd name="T22" fmla="*/ 46 w 54"/>
                  <a:gd name="T23" fmla="*/ 37 h 38"/>
                  <a:gd name="T24" fmla="*/ 42 w 54"/>
                  <a:gd name="T25" fmla="*/ 37 h 38"/>
                  <a:gd name="T26" fmla="*/ 39 w 54"/>
                  <a:gd name="T27" fmla="*/ 38 h 38"/>
                  <a:gd name="T28" fmla="*/ 36 w 54"/>
                  <a:gd name="T29" fmla="*/ 38 h 38"/>
                  <a:gd name="T30" fmla="*/ 32 w 54"/>
                  <a:gd name="T31" fmla="*/ 38 h 38"/>
                  <a:gd name="T32" fmla="*/ 29 w 54"/>
                  <a:gd name="T33" fmla="*/ 38 h 38"/>
                  <a:gd name="T34" fmla="*/ 25 w 54"/>
                  <a:gd name="T35" fmla="*/ 38 h 38"/>
                  <a:gd name="T36" fmla="*/ 22 w 54"/>
                  <a:gd name="T37" fmla="*/ 38 h 38"/>
                  <a:gd name="T38" fmla="*/ 18 w 54"/>
                  <a:gd name="T39" fmla="*/ 38 h 38"/>
                  <a:gd name="T40" fmla="*/ 15 w 54"/>
                  <a:gd name="T41" fmla="*/ 38 h 38"/>
                  <a:gd name="T42" fmla="*/ 11 w 54"/>
                  <a:gd name="T43" fmla="*/ 38 h 38"/>
                  <a:gd name="T44" fmla="*/ 8 w 54"/>
                  <a:gd name="T45" fmla="*/ 37 h 38"/>
                  <a:gd name="T46" fmla="*/ 5 w 54"/>
                  <a:gd name="T47" fmla="*/ 37 h 38"/>
                  <a:gd name="T48" fmla="*/ 3 w 54"/>
                  <a:gd name="T49" fmla="*/ 37 h 38"/>
                  <a:gd name="T50" fmla="*/ 0 w 54"/>
                  <a:gd name="T51" fmla="*/ 36 h 38"/>
                  <a:gd name="T52" fmla="*/ 5 w 54"/>
                  <a:gd name="T53" fmla="*/ 0 h 38"/>
                  <a:gd name="T54" fmla="*/ 38 w 54"/>
                  <a:gd name="T55" fmla="*/ 0 h 38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54"/>
                  <a:gd name="T85" fmla="*/ 0 h 38"/>
                  <a:gd name="T86" fmla="*/ 54 w 54"/>
                  <a:gd name="T87" fmla="*/ 38 h 38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54" h="38">
                    <a:moveTo>
                      <a:pt x="38" y="0"/>
                    </a:moveTo>
                    <a:lnTo>
                      <a:pt x="38" y="4"/>
                    </a:lnTo>
                    <a:lnTo>
                      <a:pt x="39" y="6"/>
                    </a:lnTo>
                    <a:lnTo>
                      <a:pt x="41" y="7"/>
                    </a:lnTo>
                    <a:lnTo>
                      <a:pt x="44" y="8"/>
                    </a:lnTo>
                    <a:lnTo>
                      <a:pt x="47" y="9"/>
                    </a:lnTo>
                    <a:lnTo>
                      <a:pt x="49" y="9"/>
                    </a:lnTo>
                    <a:lnTo>
                      <a:pt x="52" y="10"/>
                    </a:lnTo>
                    <a:lnTo>
                      <a:pt x="54" y="10"/>
                    </a:lnTo>
                    <a:lnTo>
                      <a:pt x="53" y="37"/>
                    </a:lnTo>
                    <a:lnTo>
                      <a:pt x="49" y="37"/>
                    </a:lnTo>
                    <a:lnTo>
                      <a:pt x="46" y="37"/>
                    </a:lnTo>
                    <a:lnTo>
                      <a:pt x="42" y="37"/>
                    </a:lnTo>
                    <a:lnTo>
                      <a:pt x="39" y="38"/>
                    </a:lnTo>
                    <a:lnTo>
                      <a:pt x="36" y="38"/>
                    </a:lnTo>
                    <a:lnTo>
                      <a:pt x="32" y="38"/>
                    </a:lnTo>
                    <a:lnTo>
                      <a:pt x="29" y="38"/>
                    </a:lnTo>
                    <a:lnTo>
                      <a:pt x="25" y="38"/>
                    </a:lnTo>
                    <a:lnTo>
                      <a:pt x="22" y="38"/>
                    </a:lnTo>
                    <a:lnTo>
                      <a:pt x="18" y="38"/>
                    </a:lnTo>
                    <a:lnTo>
                      <a:pt x="15" y="38"/>
                    </a:lnTo>
                    <a:lnTo>
                      <a:pt x="11" y="38"/>
                    </a:lnTo>
                    <a:lnTo>
                      <a:pt x="8" y="37"/>
                    </a:lnTo>
                    <a:lnTo>
                      <a:pt x="5" y="37"/>
                    </a:lnTo>
                    <a:lnTo>
                      <a:pt x="3" y="37"/>
                    </a:lnTo>
                    <a:lnTo>
                      <a:pt x="0" y="36"/>
                    </a:lnTo>
                    <a:lnTo>
                      <a:pt x="5" y="0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56" name="Freeform 1088"/>
              <p:cNvSpPr>
                <a:spLocks/>
              </p:cNvSpPr>
              <p:nvPr/>
            </p:nvSpPr>
            <p:spPr bwMode="auto">
              <a:xfrm>
                <a:off x="2050" y="3246"/>
                <a:ext cx="84" cy="38"/>
              </a:xfrm>
              <a:custGeom>
                <a:avLst/>
                <a:gdLst>
                  <a:gd name="T0" fmla="*/ 84 w 84"/>
                  <a:gd name="T1" fmla="*/ 2 h 38"/>
                  <a:gd name="T2" fmla="*/ 84 w 84"/>
                  <a:gd name="T3" fmla="*/ 38 h 38"/>
                  <a:gd name="T4" fmla="*/ 0 w 84"/>
                  <a:gd name="T5" fmla="*/ 38 h 38"/>
                  <a:gd name="T6" fmla="*/ 2 w 84"/>
                  <a:gd name="T7" fmla="*/ 34 h 38"/>
                  <a:gd name="T8" fmla="*/ 4 w 84"/>
                  <a:gd name="T9" fmla="*/ 30 h 38"/>
                  <a:gd name="T10" fmla="*/ 7 w 84"/>
                  <a:gd name="T11" fmla="*/ 27 h 38"/>
                  <a:gd name="T12" fmla="*/ 11 w 84"/>
                  <a:gd name="T13" fmla="*/ 26 h 38"/>
                  <a:gd name="T14" fmla="*/ 15 w 84"/>
                  <a:gd name="T15" fmla="*/ 24 h 38"/>
                  <a:gd name="T16" fmla="*/ 19 w 84"/>
                  <a:gd name="T17" fmla="*/ 23 h 38"/>
                  <a:gd name="T18" fmla="*/ 23 w 84"/>
                  <a:gd name="T19" fmla="*/ 22 h 38"/>
                  <a:gd name="T20" fmla="*/ 27 w 84"/>
                  <a:gd name="T21" fmla="*/ 21 h 38"/>
                  <a:gd name="T22" fmla="*/ 25 w 84"/>
                  <a:gd name="T23" fmla="*/ 19 h 38"/>
                  <a:gd name="T24" fmla="*/ 21 w 84"/>
                  <a:gd name="T25" fmla="*/ 18 h 38"/>
                  <a:gd name="T26" fmla="*/ 19 w 84"/>
                  <a:gd name="T27" fmla="*/ 16 h 38"/>
                  <a:gd name="T28" fmla="*/ 16 w 84"/>
                  <a:gd name="T29" fmla="*/ 15 h 38"/>
                  <a:gd name="T30" fmla="*/ 14 w 84"/>
                  <a:gd name="T31" fmla="*/ 14 h 38"/>
                  <a:gd name="T32" fmla="*/ 12 w 84"/>
                  <a:gd name="T33" fmla="*/ 12 h 38"/>
                  <a:gd name="T34" fmla="*/ 12 w 84"/>
                  <a:gd name="T35" fmla="*/ 9 h 38"/>
                  <a:gd name="T36" fmla="*/ 13 w 84"/>
                  <a:gd name="T37" fmla="*/ 5 h 38"/>
                  <a:gd name="T38" fmla="*/ 15 w 84"/>
                  <a:gd name="T39" fmla="*/ 5 h 38"/>
                  <a:gd name="T40" fmla="*/ 17 w 84"/>
                  <a:gd name="T41" fmla="*/ 5 h 38"/>
                  <a:gd name="T42" fmla="*/ 20 w 84"/>
                  <a:gd name="T43" fmla="*/ 6 h 38"/>
                  <a:gd name="T44" fmla="*/ 23 w 84"/>
                  <a:gd name="T45" fmla="*/ 7 h 38"/>
                  <a:gd name="T46" fmla="*/ 26 w 84"/>
                  <a:gd name="T47" fmla="*/ 8 h 38"/>
                  <a:gd name="T48" fmla="*/ 27 w 84"/>
                  <a:gd name="T49" fmla="*/ 10 h 38"/>
                  <a:gd name="T50" fmla="*/ 28 w 84"/>
                  <a:gd name="T51" fmla="*/ 12 h 38"/>
                  <a:gd name="T52" fmla="*/ 29 w 84"/>
                  <a:gd name="T53" fmla="*/ 15 h 38"/>
                  <a:gd name="T54" fmla="*/ 30 w 84"/>
                  <a:gd name="T55" fmla="*/ 16 h 38"/>
                  <a:gd name="T56" fmla="*/ 32 w 84"/>
                  <a:gd name="T57" fmla="*/ 14 h 38"/>
                  <a:gd name="T58" fmla="*/ 33 w 84"/>
                  <a:gd name="T59" fmla="*/ 12 h 38"/>
                  <a:gd name="T60" fmla="*/ 34 w 84"/>
                  <a:gd name="T61" fmla="*/ 10 h 38"/>
                  <a:gd name="T62" fmla="*/ 35 w 84"/>
                  <a:gd name="T63" fmla="*/ 7 h 38"/>
                  <a:gd name="T64" fmla="*/ 36 w 84"/>
                  <a:gd name="T65" fmla="*/ 5 h 38"/>
                  <a:gd name="T66" fmla="*/ 37 w 84"/>
                  <a:gd name="T67" fmla="*/ 4 h 38"/>
                  <a:gd name="T68" fmla="*/ 39 w 84"/>
                  <a:gd name="T69" fmla="*/ 2 h 38"/>
                  <a:gd name="T70" fmla="*/ 43 w 84"/>
                  <a:gd name="T71" fmla="*/ 2 h 38"/>
                  <a:gd name="T72" fmla="*/ 47 w 84"/>
                  <a:gd name="T73" fmla="*/ 7 h 38"/>
                  <a:gd name="T74" fmla="*/ 48 w 84"/>
                  <a:gd name="T75" fmla="*/ 12 h 38"/>
                  <a:gd name="T76" fmla="*/ 49 w 84"/>
                  <a:gd name="T77" fmla="*/ 19 h 38"/>
                  <a:gd name="T78" fmla="*/ 50 w 84"/>
                  <a:gd name="T79" fmla="*/ 25 h 38"/>
                  <a:gd name="T80" fmla="*/ 64 w 84"/>
                  <a:gd name="T81" fmla="*/ 25 h 38"/>
                  <a:gd name="T82" fmla="*/ 64 w 84"/>
                  <a:gd name="T83" fmla="*/ 19 h 38"/>
                  <a:gd name="T84" fmla="*/ 62 w 84"/>
                  <a:gd name="T85" fmla="*/ 13 h 38"/>
                  <a:gd name="T86" fmla="*/ 61 w 84"/>
                  <a:gd name="T87" fmla="*/ 7 h 38"/>
                  <a:gd name="T88" fmla="*/ 60 w 84"/>
                  <a:gd name="T89" fmla="*/ 0 h 38"/>
                  <a:gd name="T90" fmla="*/ 63 w 84"/>
                  <a:gd name="T91" fmla="*/ 0 h 38"/>
                  <a:gd name="T92" fmla="*/ 66 w 84"/>
                  <a:gd name="T93" fmla="*/ 2 h 38"/>
                  <a:gd name="T94" fmla="*/ 69 w 84"/>
                  <a:gd name="T95" fmla="*/ 2 h 38"/>
                  <a:gd name="T96" fmla="*/ 72 w 84"/>
                  <a:gd name="T97" fmla="*/ 2 h 38"/>
                  <a:gd name="T98" fmla="*/ 75 w 84"/>
                  <a:gd name="T99" fmla="*/ 2 h 38"/>
                  <a:gd name="T100" fmla="*/ 78 w 84"/>
                  <a:gd name="T101" fmla="*/ 2 h 38"/>
                  <a:gd name="T102" fmla="*/ 81 w 84"/>
                  <a:gd name="T103" fmla="*/ 2 h 38"/>
                  <a:gd name="T104" fmla="*/ 84 w 84"/>
                  <a:gd name="T105" fmla="*/ 2 h 38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84"/>
                  <a:gd name="T160" fmla="*/ 0 h 38"/>
                  <a:gd name="T161" fmla="*/ 84 w 84"/>
                  <a:gd name="T162" fmla="*/ 38 h 38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84" h="38">
                    <a:moveTo>
                      <a:pt x="84" y="2"/>
                    </a:moveTo>
                    <a:lnTo>
                      <a:pt x="84" y="38"/>
                    </a:lnTo>
                    <a:lnTo>
                      <a:pt x="0" y="38"/>
                    </a:lnTo>
                    <a:lnTo>
                      <a:pt x="2" y="34"/>
                    </a:lnTo>
                    <a:lnTo>
                      <a:pt x="4" y="30"/>
                    </a:lnTo>
                    <a:lnTo>
                      <a:pt x="7" y="27"/>
                    </a:lnTo>
                    <a:lnTo>
                      <a:pt x="11" y="26"/>
                    </a:lnTo>
                    <a:lnTo>
                      <a:pt x="15" y="24"/>
                    </a:lnTo>
                    <a:lnTo>
                      <a:pt x="19" y="23"/>
                    </a:lnTo>
                    <a:lnTo>
                      <a:pt x="23" y="22"/>
                    </a:lnTo>
                    <a:lnTo>
                      <a:pt x="27" y="21"/>
                    </a:lnTo>
                    <a:lnTo>
                      <a:pt x="25" y="19"/>
                    </a:lnTo>
                    <a:lnTo>
                      <a:pt x="21" y="18"/>
                    </a:lnTo>
                    <a:lnTo>
                      <a:pt x="19" y="16"/>
                    </a:lnTo>
                    <a:lnTo>
                      <a:pt x="16" y="15"/>
                    </a:lnTo>
                    <a:lnTo>
                      <a:pt x="14" y="14"/>
                    </a:lnTo>
                    <a:lnTo>
                      <a:pt x="12" y="12"/>
                    </a:lnTo>
                    <a:lnTo>
                      <a:pt x="12" y="9"/>
                    </a:lnTo>
                    <a:lnTo>
                      <a:pt x="13" y="5"/>
                    </a:lnTo>
                    <a:lnTo>
                      <a:pt x="15" y="5"/>
                    </a:lnTo>
                    <a:lnTo>
                      <a:pt x="17" y="5"/>
                    </a:lnTo>
                    <a:lnTo>
                      <a:pt x="20" y="6"/>
                    </a:lnTo>
                    <a:lnTo>
                      <a:pt x="23" y="7"/>
                    </a:lnTo>
                    <a:lnTo>
                      <a:pt x="26" y="8"/>
                    </a:lnTo>
                    <a:lnTo>
                      <a:pt x="27" y="10"/>
                    </a:lnTo>
                    <a:lnTo>
                      <a:pt x="28" y="12"/>
                    </a:lnTo>
                    <a:lnTo>
                      <a:pt x="29" y="15"/>
                    </a:lnTo>
                    <a:lnTo>
                      <a:pt x="30" y="16"/>
                    </a:lnTo>
                    <a:lnTo>
                      <a:pt x="32" y="14"/>
                    </a:lnTo>
                    <a:lnTo>
                      <a:pt x="33" y="12"/>
                    </a:lnTo>
                    <a:lnTo>
                      <a:pt x="34" y="10"/>
                    </a:lnTo>
                    <a:lnTo>
                      <a:pt x="35" y="7"/>
                    </a:lnTo>
                    <a:lnTo>
                      <a:pt x="36" y="5"/>
                    </a:lnTo>
                    <a:lnTo>
                      <a:pt x="37" y="4"/>
                    </a:lnTo>
                    <a:lnTo>
                      <a:pt x="39" y="2"/>
                    </a:lnTo>
                    <a:lnTo>
                      <a:pt x="43" y="2"/>
                    </a:lnTo>
                    <a:lnTo>
                      <a:pt x="47" y="7"/>
                    </a:lnTo>
                    <a:lnTo>
                      <a:pt x="48" y="12"/>
                    </a:lnTo>
                    <a:lnTo>
                      <a:pt x="49" y="19"/>
                    </a:lnTo>
                    <a:lnTo>
                      <a:pt x="50" y="25"/>
                    </a:lnTo>
                    <a:lnTo>
                      <a:pt x="64" y="25"/>
                    </a:lnTo>
                    <a:lnTo>
                      <a:pt x="64" y="19"/>
                    </a:lnTo>
                    <a:lnTo>
                      <a:pt x="62" y="13"/>
                    </a:lnTo>
                    <a:lnTo>
                      <a:pt x="61" y="7"/>
                    </a:lnTo>
                    <a:lnTo>
                      <a:pt x="60" y="0"/>
                    </a:lnTo>
                    <a:lnTo>
                      <a:pt x="63" y="0"/>
                    </a:lnTo>
                    <a:lnTo>
                      <a:pt x="66" y="2"/>
                    </a:lnTo>
                    <a:lnTo>
                      <a:pt x="69" y="2"/>
                    </a:lnTo>
                    <a:lnTo>
                      <a:pt x="72" y="2"/>
                    </a:lnTo>
                    <a:lnTo>
                      <a:pt x="75" y="2"/>
                    </a:lnTo>
                    <a:lnTo>
                      <a:pt x="78" y="2"/>
                    </a:lnTo>
                    <a:lnTo>
                      <a:pt x="81" y="2"/>
                    </a:lnTo>
                    <a:lnTo>
                      <a:pt x="84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57" name="Freeform 1089"/>
              <p:cNvSpPr>
                <a:spLocks/>
              </p:cNvSpPr>
              <p:nvPr/>
            </p:nvSpPr>
            <p:spPr bwMode="auto">
              <a:xfrm>
                <a:off x="1984" y="3288"/>
                <a:ext cx="51" cy="38"/>
              </a:xfrm>
              <a:custGeom>
                <a:avLst/>
                <a:gdLst>
                  <a:gd name="T0" fmla="*/ 51 w 51"/>
                  <a:gd name="T1" fmla="*/ 1 h 38"/>
                  <a:gd name="T2" fmla="*/ 49 w 51"/>
                  <a:gd name="T3" fmla="*/ 8 h 38"/>
                  <a:gd name="T4" fmla="*/ 46 w 51"/>
                  <a:gd name="T5" fmla="*/ 12 h 38"/>
                  <a:gd name="T6" fmla="*/ 40 w 51"/>
                  <a:gd name="T7" fmla="*/ 15 h 38"/>
                  <a:gd name="T8" fmla="*/ 35 w 51"/>
                  <a:gd name="T9" fmla="*/ 17 h 38"/>
                  <a:gd name="T10" fmla="*/ 30 w 51"/>
                  <a:gd name="T11" fmla="*/ 20 h 38"/>
                  <a:gd name="T12" fmla="*/ 26 w 51"/>
                  <a:gd name="T13" fmla="*/ 25 h 38"/>
                  <a:gd name="T14" fmla="*/ 26 w 51"/>
                  <a:gd name="T15" fmla="*/ 30 h 38"/>
                  <a:gd name="T16" fmla="*/ 30 w 51"/>
                  <a:gd name="T17" fmla="*/ 38 h 38"/>
                  <a:gd name="T18" fmla="*/ 5 w 51"/>
                  <a:gd name="T19" fmla="*/ 38 h 38"/>
                  <a:gd name="T20" fmla="*/ 3 w 51"/>
                  <a:gd name="T21" fmla="*/ 28 h 38"/>
                  <a:gd name="T22" fmla="*/ 1 w 51"/>
                  <a:gd name="T23" fmla="*/ 19 h 38"/>
                  <a:gd name="T24" fmla="*/ 0 w 51"/>
                  <a:gd name="T25" fmla="*/ 10 h 38"/>
                  <a:gd name="T26" fmla="*/ 1 w 51"/>
                  <a:gd name="T27" fmla="*/ 0 h 38"/>
                  <a:gd name="T28" fmla="*/ 51 w 51"/>
                  <a:gd name="T29" fmla="*/ 1 h 3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1"/>
                  <a:gd name="T46" fmla="*/ 0 h 38"/>
                  <a:gd name="T47" fmla="*/ 51 w 51"/>
                  <a:gd name="T48" fmla="*/ 38 h 3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1" h="38">
                    <a:moveTo>
                      <a:pt x="51" y="1"/>
                    </a:moveTo>
                    <a:lnTo>
                      <a:pt x="49" y="8"/>
                    </a:lnTo>
                    <a:lnTo>
                      <a:pt x="46" y="12"/>
                    </a:lnTo>
                    <a:lnTo>
                      <a:pt x="40" y="15"/>
                    </a:lnTo>
                    <a:lnTo>
                      <a:pt x="35" y="17"/>
                    </a:lnTo>
                    <a:lnTo>
                      <a:pt x="30" y="20"/>
                    </a:lnTo>
                    <a:lnTo>
                      <a:pt x="26" y="25"/>
                    </a:lnTo>
                    <a:lnTo>
                      <a:pt x="26" y="30"/>
                    </a:lnTo>
                    <a:lnTo>
                      <a:pt x="30" y="38"/>
                    </a:lnTo>
                    <a:lnTo>
                      <a:pt x="5" y="38"/>
                    </a:lnTo>
                    <a:lnTo>
                      <a:pt x="3" y="28"/>
                    </a:lnTo>
                    <a:lnTo>
                      <a:pt x="1" y="19"/>
                    </a:lnTo>
                    <a:lnTo>
                      <a:pt x="0" y="10"/>
                    </a:lnTo>
                    <a:lnTo>
                      <a:pt x="1" y="0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58" name="Freeform 1090"/>
              <p:cNvSpPr>
                <a:spLocks/>
              </p:cNvSpPr>
              <p:nvPr/>
            </p:nvSpPr>
            <p:spPr bwMode="auto">
              <a:xfrm>
                <a:off x="2052" y="3288"/>
                <a:ext cx="82" cy="38"/>
              </a:xfrm>
              <a:custGeom>
                <a:avLst/>
                <a:gdLst>
                  <a:gd name="T0" fmla="*/ 82 w 82"/>
                  <a:gd name="T1" fmla="*/ 38 h 38"/>
                  <a:gd name="T2" fmla="*/ 21 w 82"/>
                  <a:gd name="T3" fmla="*/ 38 h 38"/>
                  <a:gd name="T4" fmla="*/ 17 w 82"/>
                  <a:gd name="T5" fmla="*/ 35 h 38"/>
                  <a:gd name="T6" fmla="*/ 13 w 82"/>
                  <a:gd name="T7" fmla="*/ 32 h 38"/>
                  <a:gd name="T8" fmla="*/ 9 w 82"/>
                  <a:gd name="T9" fmla="*/ 28 h 38"/>
                  <a:gd name="T10" fmla="*/ 7 w 82"/>
                  <a:gd name="T11" fmla="*/ 23 h 38"/>
                  <a:gd name="T12" fmla="*/ 4 w 82"/>
                  <a:gd name="T13" fmla="*/ 17 h 38"/>
                  <a:gd name="T14" fmla="*/ 2 w 82"/>
                  <a:gd name="T15" fmla="*/ 11 h 38"/>
                  <a:gd name="T16" fmla="*/ 1 w 82"/>
                  <a:gd name="T17" fmla="*/ 5 h 38"/>
                  <a:gd name="T18" fmla="*/ 0 w 82"/>
                  <a:gd name="T19" fmla="*/ 0 h 38"/>
                  <a:gd name="T20" fmla="*/ 82 w 82"/>
                  <a:gd name="T21" fmla="*/ 1 h 38"/>
                  <a:gd name="T22" fmla="*/ 82 w 82"/>
                  <a:gd name="T23" fmla="*/ 38 h 3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2"/>
                  <a:gd name="T37" fmla="*/ 0 h 38"/>
                  <a:gd name="T38" fmla="*/ 82 w 82"/>
                  <a:gd name="T39" fmla="*/ 38 h 3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2" h="38">
                    <a:moveTo>
                      <a:pt x="82" y="38"/>
                    </a:moveTo>
                    <a:lnTo>
                      <a:pt x="21" y="38"/>
                    </a:lnTo>
                    <a:lnTo>
                      <a:pt x="17" y="35"/>
                    </a:lnTo>
                    <a:lnTo>
                      <a:pt x="13" y="32"/>
                    </a:lnTo>
                    <a:lnTo>
                      <a:pt x="9" y="28"/>
                    </a:lnTo>
                    <a:lnTo>
                      <a:pt x="7" y="23"/>
                    </a:lnTo>
                    <a:lnTo>
                      <a:pt x="4" y="17"/>
                    </a:lnTo>
                    <a:lnTo>
                      <a:pt x="2" y="11"/>
                    </a:lnTo>
                    <a:lnTo>
                      <a:pt x="1" y="5"/>
                    </a:lnTo>
                    <a:lnTo>
                      <a:pt x="0" y="0"/>
                    </a:lnTo>
                    <a:lnTo>
                      <a:pt x="82" y="1"/>
                    </a:lnTo>
                    <a:lnTo>
                      <a:pt x="82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59" name="Freeform 1091"/>
              <p:cNvSpPr>
                <a:spLocks/>
              </p:cNvSpPr>
              <p:nvPr/>
            </p:nvSpPr>
            <p:spPr bwMode="auto">
              <a:xfrm>
                <a:off x="1991" y="3330"/>
                <a:ext cx="47" cy="36"/>
              </a:xfrm>
              <a:custGeom>
                <a:avLst/>
                <a:gdLst>
                  <a:gd name="T0" fmla="*/ 24 w 47"/>
                  <a:gd name="T1" fmla="*/ 1 h 36"/>
                  <a:gd name="T2" fmla="*/ 26 w 47"/>
                  <a:gd name="T3" fmla="*/ 5 h 36"/>
                  <a:gd name="T4" fmla="*/ 27 w 47"/>
                  <a:gd name="T5" fmla="*/ 10 h 36"/>
                  <a:gd name="T6" fmla="*/ 28 w 47"/>
                  <a:gd name="T7" fmla="*/ 15 h 36"/>
                  <a:gd name="T8" fmla="*/ 29 w 47"/>
                  <a:gd name="T9" fmla="*/ 20 h 36"/>
                  <a:gd name="T10" fmla="*/ 30 w 47"/>
                  <a:gd name="T11" fmla="*/ 24 h 36"/>
                  <a:gd name="T12" fmla="*/ 32 w 47"/>
                  <a:gd name="T13" fmla="*/ 29 h 36"/>
                  <a:gd name="T14" fmla="*/ 37 w 47"/>
                  <a:gd name="T15" fmla="*/ 31 h 36"/>
                  <a:gd name="T16" fmla="*/ 42 w 47"/>
                  <a:gd name="T17" fmla="*/ 32 h 36"/>
                  <a:gd name="T18" fmla="*/ 44 w 47"/>
                  <a:gd name="T19" fmla="*/ 32 h 36"/>
                  <a:gd name="T20" fmla="*/ 45 w 47"/>
                  <a:gd name="T21" fmla="*/ 32 h 36"/>
                  <a:gd name="T22" fmla="*/ 46 w 47"/>
                  <a:gd name="T23" fmla="*/ 33 h 36"/>
                  <a:gd name="T24" fmla="*/ 47 w 47"/>
                  <a:gd name="T25" fmla="*/ 34 h 36"/>
                  <a:gd name="T26" fmla="*/ 47 w 47"/>
                  <a:gd name="T27" fmla="*/ 36 h 36"/>
                  <a:gd name="T28" fmla="*/ 17 w 47"/>
                  <a:gd name="T29" fmla="*/ 36 h 36"/>
                  <a:gd name="T30" fmla="*/ 14 w 47"/>
                  <a:gd name="T31" fmla="*/ 32 h 36"/>
                  <a:gd name="T32" fmla="*/ 12 w 47"/>
                  <a:gd name="T33" fmla="*/ 28 h 36"/>
                  <a:gd name="T34" fmla="*/ 9 w 47"/>
                  <a:gd name="T35" fmla="*/ 23 h 36"/>
                  <a:gd name="T36" fmla="*/ 8 w 47"/>
                  <a:gd name="T37" fmla="*/ 19 h 36"/>
                  <a:gd name="T38" fmla="*/ 4 w 47"/>
                  <a:gd name="T39" fmla="*/ 14 h 36"/>
                  <a:gd name="T40" fmla="*/ 3 w 47"/>
                  <a:gd name="T41" fmla="*/ 9 h 36"/>
                  <a:gd name="T42" fmla="*/ 1 w 47"/>
                  <a:gd name="T43" fmla="*/ 5 h 36"/>
                  <a:gd name="T44" fmla="*/ 0 w 47"/>
                  <a:gd name="T45" fmla="*/ 0 h 36"/>
                  <a:gd name="T46" fmla="*/ 24 w 47"/>
                  <a:gd name="T47" fmla="*/ 1 h 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7"/>
                  <a:gd name="T73" fmla="*/ 0 h 36"/>
                  <a:gd name="T74" fmla="*/ 47 w 47"/>
                  <a:gd name="T75" fmla="*/ 36 h 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7" h="36">
                    <a:moveTo>
                      <a:pt x="24" y="1"/>
                    </a:moveTo>
                    <a:lnTo>
                      <a:pt x="26" y="5"/>
                    </a:lnTo>
                    <a:lnTo>
                      <a:pt x="27" y="10"/>
                    </a:lnTo>
                    <a:lnTo>
                      <a:pt x="28" y="15"/>
                    </a:lnTo>
                    <a:lnTo>
                      <a:pt x="29" y="20"/>
                    </a:lnTo>
                    <a:lnTo>
                      <a:pt x="30" y="24"/>
                    </a:lnTo>
                    <a:lnTo>
                      <a:pt x="32" y="29"/>
                    </a:lnTo>
                    <a:lnTo>
                      <a:pt x="37" y="31"/>
                    </a:lnTo>
                    <a:lnTo>
                      <a:pt x="42" y="32"/>
                    </a:lnTo>
                    <a:lnTo>
                      <a:pt x="44" y="32"/>
                    </a:lnTo>
                    <a:lnTo>
                      <a:pt x="45" y="32"/>
                    </a:lnTo>
                    <a:lnTo>
                      <a:pt x="46" y="33"/>
                    </a:lnTo>
                    <a:lnTo>
                      <a:pt x="47" y="34"/>
                    </a:lnTo>
                    <a:lnTo>
                      <a:pt x="47" y="36"/>
                    </a:lnTo>
                    <a:lnTo>
                      <a:pt x="17" y="36"/>
                    </a:lnTo>
                    <a:lnTo>
                      <a:pt x="14" y="32"/>
                    </a:lnTo>
                    <a:lnTo>
                      <a:pt x="12" y="28"/>
                    </a:lnTo>
                    <a:lnTo>
                      <a:pt x="9" y="23"/>
                    </a:lnTo>
                    <a:lnTo>
                      <a:pt x="8" y="19"/>
                    </a:lnTo>
                    <a:lnTo>
                      <a:pt x="4" y="14"/>
                    </a:lnTo>
                    <a:lnTo>
                      <a:pt x="3" y="9"/>
                    </a:lnTo>
                    <a:lnTo>
                      <a:pt x="1" y="5"/>
                    </a:lnTo>
                    <a:lnTo>
                      <a:pt x="0" y="0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60" name="Freeform 1092"/>
              <p:cNvSpPr>
                <a:spLocks/>
              </p:cNvSpPr>
              <p:nvPr/>
            </p:nvSpPr>
            <p:spPr bwMode="auto">
              <a:xfrm>
                <a:off x="2086" y="3330"/>
                <a:ext cx="47" cy="37"/>
              </a:xfrm>
              <a:custGeom>
                <a:avLst/>
                <a:gdLst>
                  <a:gd name="T0" fmla="*/ 47 w 47"/>
                  <a:gd name="T1" fmla="*/ 36 h 37"/>
                  <a:gd name="T2" fmla="*/ 45 w 47"/>
                  <a:gd name="T3" fmla="*/ 36 h 37"/>
                  <a:gd name="T4" fmla="*/ 42 w 47"/>
                  <a:gd name="T5" fmla="*/ 36 h 37"/>
                  <a:gd name="T6" fmla="*/ 40 w 47"/>
                  <a:gd name="T7" fmla="*/ 37 h 37"/>
                  <a:gd name="T8" fmla="*/ 37 w 47"/>
                  <a:gd name="T9" fmla="*/ 37 h 37"/>
                  <a:gd name="T10" fmla="*/ 33 w 47"/>
                  <a:gd name="T11" fmla="*/ 37 h 37"/>
                  <a:gd name="T12" fmla="*/ 30 w 47"/>
                  <a:gd name="T13" fmla="*/ 37 h 37"/>
                  <a:gd name="T14" fmla="*/ 28 w 47"/>
                  <a:gd name="T15" fmla="*/ 37 h 37"/>
                  <a:gd name="T16" fmla="*/ 25 w 47"/>
                  <a:gd name="T17" fmla="*/ 37 h 37"/>
                  <a:gd name="T18" fmla="*/ 22 w 47"/>
                  <a:gd name="T19" fmla="*/ 37 h 37"/>
                  <a:gd name="T20" fmla="*/ 20 w 47"/>
                  <a:gd name="T21" fmla="*/ 37 h 37"/>
                  <a:gd name="T22" fmla="*/ 16 w 47"/>
                  <a:gd name="T23" fmla="*/ 37 h 37"/>
                  <a:gd name="T24" fmla="*/ 13 w 47"/>
                  <a:gd name="T25" fmla="*/ 37 h 37"/>
                  <a:gd name="T26" fmla="*/ 11 w 47"/>
                  <a:gd name="T27" fmla="*/ 37 h 37"/>
                  <a:gd name="T28" fmla="*/ 9 w 47"/>
                  <a:gd name="T29" fmla="*/ 37 h 37"/>
                  <a:gd name="T30" fmla="*/ 7 w 47"/>
                  <a:gd name="T31" fmla="*/ 37 h 37"/>
                  <a:gd name="T32" fmla="*/ 5 w 47"/>
                  <a:gd name="T33" fmla="*/ 36 h 37"/>
                  <a:gd name="T34" fmla="*/ 6 w 47"/>
                  <a:gd name="T35" fmla="*/ 35 h 37"/>
                  <a:gd name="T36" fmla="*/ 7 w 47"/>
                  <a:gd name="T37" fmla="*/ 34 h 37"/>
                  <a:gd name="T38" fmla="*/ 9 w 47"/>
                  <a:gd name="T39" fmla="*/ 31 h 37"/>
                  <a:gd name="T40" fmla="*/ 10 w 47"/>
                  <a:gd name="T41" fmla="*/ 29 h 37"/>
                  <a:gd name="T42" fmla="*/ 11 w 47"/>
                  <a:gd name="T43" fmla="*/ 26 h 37"/>
                  <a:gd name="T44" fmla="*/ 12 w 47"/>
                  <a:gd name="T45" fmla="*/ 23 h 37"/>
                  <a:gd name="T46" fmla="*/ 13 w 47"/>
                  <a:gd name="T47" fmla="*/ 20 h 37"/>
                  <a:gd name="T48" fmla="*/ 14 w 47"/>
                  <a:gd name="T49" fmla="*/ 18 h 37"/>
                  <a:gd name="T50" fmla="*/ 12 w 47"/>
                  <a:gd name="T51" fmla="*/ 16 h 37"/>
                  <a:gd name="T52" fmla="*/ 10 w 47"/>
                  <a:gd name="T53" fmla="*/ 14 h 37"/>
                  <a:gd name="T54" fmla="*/ 8 w 47"/>
                  <a:gd name="T55" fmla="*/ 12 h 37"/>
                  <a:gd name="T56" fmla="*/ 7 w 47"/>
                  <a:gd name="T57" fmla="*/ 9 h 37"/>
                  <a:gd name="T58" fmla="*/ 5 w 47"/>
                  <a:gd name="T59" fmla="*/ 7 h 37"/>
                  <a:gd name="T60" fmla="*/ 2 w 47"/>
                  <a:gd name="T61" fmla="*/ 5 h 37"/>
                  <a:gd name="T62" fmla="*/ 1 w 47"/>
                  <a:gd name="T63" fmla="*/ 2 h 37"/>
                  <a:gd name="T64" fmla="*/ 0 w 47"/>
                  <a:gd name="T65" fmla="*/ 0 h 37"/>
                  <a:gd name="T66" fmla="*/ 47 w 47"/>
                  <a:gd name="T67" fmla="*/ 1 h 37"/>
                  <a:gd name="T68" fmla="*/ 47 w 47"/>
                  <a:gd name="T69" fmla="*/ 36 h 3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7"/>
                  <a:gd name="T106" fmla="*/ 0 h 37"/>
                  <a:gd name="T107" fmla="*/ 47 w 47"/>
                  <a:gd name="T108" fmla="*/ 37 h 3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7" h="37">
                    <a:moveTo>
                      <a:pt x="47" y="36"/>
                    </a:moveTo>
                    <a:lnTo>
                      <a:pt x="45" y="36"/>
                    </a:lnTo>
                    <a:lnTo>
                      <a:pt x="42" y="36"/>
                    </a:lnTo>
                    <a:lnTo>
                      <a:pt x="40" y="37"/>
                    </a:lnTo>
                    <a:lnTo>
                      <a:pt x="37" y="37"/>
                    </a:lnTo>
                    <a:lnTo>
                      <a:pt x="33" y="37"/>
                    </a:lnTo>
                    <a:lnTo>
                      <a:pt x="30" y="37"/>
                    </a:lnTo>
                    <a:lnTo>
                      <a:pt x="28" y="37"/>
                    </a:lnTo>
                    <a:lnTo>
                      <a:pt x="25" y="37"/>
                    </a:lnTo>
                    <a:lnTo>
                      <a:pt x="22" y="37"/>
                    </a:lnTo>
                    <a:lnTo>
                      <a:pt x="20" y="37"/>
                    </a:lnTo>
                    <a:lnTo>
                      <a:pt x="16" y="37"/>
                    </a:lnTo>
                    <a:lnTo>
                      <a:pt x="13" y="37"/>
                    </a:lnTo>
                    <a:lnTo>
                      <a:pt x="11" y="37"/>
                    </a:lnTo>
                    <a:lnTo>
                      <a:pt x="9" y="37"/>
                    </a:lnTo>
                    <a:lnTo>
                      <a:pt x="7" y="37"/>
                    </a:lnTo>
                    <a:lnTo>
                      <a:pt x="5" y="36"/>
                    </a:lnTo>
                    <a:lnTo>
                      <a:pt x="6" y="35"/>
                    </a:lnTo>
                    <a:lnTo>
                      <a:pt x="7" y="34"/>
                    </a:lnTo>
                    <a:lnTo>
                      <a:pt x="9" y="31"/>
                    </a:lnTo>
                    <a:lnTo>
                      <a:pt x="10" y="29"/>
                    </a:lnTo>
                    <a:lnTo>
                      <a:pt x="11" y="26"/>
                    </a:lnTo>
                    <a:lnTo>
                      <a:pt x="12" y="23"/>
                    </a:lnTo>
                    <a:lnTo>
                      <a:pt x="13" y="20"/>
                    </a:lnTo>
                    <a:lnTo>
                      <a:pt x="14" y="18"/>
                    </a:lnTo>
                    <a:lnTo>
                      <a:pt x="12" y="16"/>
                    </a:lnTo>
                    <a:lnTo>
                      <a:pt x="10" y="14"/>
                    </a:lnTo>
                    <a:lnTo>
                      <a:pt x="8" y="12"/>
                    </a:lnTo>
                    <a:lnTo>
                      <a:pt x="7" y="9"/>
                    </a:lnTo>
                    <a:lnTo>
                      <a:pt x="5" y="7"/>
                    </a:lnTo>
                    <a:lnTo>
                      <a:pt x="2" y="5"/>
                    </a:lnTo>
                    <a:lnTo>
                      <a:pt x="1" y="2"/>
                    </a:lnTo>
                    <a:lnTo>
                      <a:pt x="0" y="0"/>
                    </a:lnTo>
                    <a:lnTo>
                      <a:pt x="47" y="1"/>
                    </a:lnTo>
                    <a:lnTo>
                      <a:pt x="47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61" name="Freeform 1093"/>
              <p:cNvSpPr>
                <a:spLocks/>
              </p:cNvSpPr>
              <p:nvPr/>
            </p:nvSpPr>
            <p:spPr bwMode="auto">
              <a:xfrm>
                <a:off x="2013" y="3370"/>
                <a:ext cx="50" cy="38"/>
              </a:xfrm>
              <a:custGeom>
                <a:avLst/>
                <a:gdLst>
                  <a:gd name="T0" fmla="*/ 28 w 50"/>
                  <a:gd name="T1" fmla="*/ 1 h 38"/>
                  <a:gd name="T2" fmla="*/ 31 w 50"/>
                  <a:gd name="T3" fmla="*/ 7 h 38"/>
                  <a:gd name="T4" fmla="*/ 33 w 50"/>
                  <a:gd name="T5" fmla="*/ 11 h 38"/>
                  <a:gd name="T6" fmla="*/ 35 w 50"/>
                  <a:gd name="T7" fmla="*/ 15 h 38"/>
                  <a:gd name="T8" fmla="*/ 38 w 50"/>
                  <a:gd name="T9" fmla="*/ 20 h 38"/>
                  <a:gd name="T10" fmla="*/ 41 w 50"/>
                  <a:gd name="T11" fmla="*/ 24 h 38"/>
                  <a:gd name="T12" fmla="*/ 44 w 50"/>
                  <a:gd name="T13" fmla="*/ 28 h 38"/>
                  <a:gd name="T14" fmla="*/ 47 w 50"/>
                  <a:gd name="T15" fmla="*/ 32 h 38"/>
                  <a:gd name="T16" fmla="*/ 50 w 50"/>
                  <a:gd name="T17" fmla="*/ 38 h 38"/>
                  <a:gd name="T18" fmla="*/ 46 w 50"/>
                  <a:gd name="T19" fmla="*/ 38 h 38"/>
                  <a:gd name="T20" fmla="*/ 41 w 50"/>
                  <a:gd name="T21" fmla="*/ 37 h 38"/>
                  <a:gd name="T22" fmla="*/ 37 w 50"/>
                  <a:gd name="T23" fmla="*/ 37 h 38"/>
                  <a:gd name="T24" fmla="*/ 33 w 50"/>
                  <a:gd name="T25" fmla="*/ 35 h 38"/>
                  <a:gd name="T26" fmla="*/ 29 w 50"/>
                  <a:gd name="T27" fmla="*/ 33 h 38"/>
                  <a:gd name="T28" fmla="*/ 26 w 50"/>
                  <a:gd name="T29" fmla="*/ 31 h 38"/>
                  <a:gd name="T30" fmla="*/ 23 w 50"/>
                  <a:gd name="T31" fmla="*/ 29 h 38"/>
                  <a:gd name="T32" fmla="*/ 20 w 50"/>
                  <a:gd name="T33" fmla="*/ 26 h 38"/>
                  <a:gd name="T34" fmla="*/ 18 w 50"/>
                  <a:gd name="T35" fmla="*/ 23 h 38"/>
                  <a:gd name="T36" fmla="*/ 15 w 50"/>
                  <a:gd name="T37" fmla="*/ 20 h 38"/>
                  <a:gd name="T38" fmla="*/ 12 w 50"/>
                  <a:gd name="T39" fmla="*/ 16 h 38"/>
                  <a:gd name="T40" fmla="*/ 9 w 50"/>
                  <a:gd name="T41" fmla="*/ 13 h 38"/>
                  <a:gd name="T42" fmla="*/ 7 w 50"/>
                  <a:gd name="T43" fmla="*/ 10 h 38"/>
                  <a:gd name="T44" fmla="*/ 5 w 50"/>
                  <a:gd name="T45" fmla="*/ 7 h 38"/>
                  <a:gd name="T46" fmla="*/ 2 w 50"/>
                  <a:gd name="T47" fmla="*/ 4 h 38"/>
                  <a:gd name="T48" fmla="*/ 0 w 50"/>
                  <a:gd name="T49" fmla="*/ 0 h 38"/>
                  <a:gd name="T50" fmla="*/ 28 w 50"/>
                  <a:gd name="T51" fmla="*/ 1 h 3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50"/>
                  <a:gd name="T79" fmla="*/ 0 h 38"/>
                  <a:gd name="T80" fmla="*/ 50 w 50"/>
                  <a:gd name="T81" fmla="*/ 38 h 38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50" h="38">
                    <a:moveTo>
                      <a:pt x="28" y="1"/>
                    </a:moveTo>
                    <a:lnTo>
                      <a:pt x="31" y="7"/>
                    </a:lnTo>
                    <a:lnTo>
                      <a:pt x="33" y="11"/>
                    </a:lnTo>
                    <a:lnTo>
                      <a:pt x="35" y="15"/>
                    </a:lnTo>
                    <a:lnTo>
                      <a:pt x="38" y="20"/>
                    </a:lnTo>
                    <a:lnTo>
                      <a:pt x="41" y="24"/>
                    </a:lnTo>
                    <a:lnTo>
                      <a:pt x="44" y="28"/>
                    </a:lnTo>
                    <a:lnTo>
                      <a:pt x="47" y="32"/>
                    </a:lnTo>
                    <a:lnTo>
                      <a:pt x="50" y="38"/>
                    </a:lnTo>
                    <a:lnTo>
                      <a:pt x="46" y="38"/>
                    </a:lnTo>
                    <a:lnTo>
                      <a:pt x="41" y="37"/>
                    </a:lnTo>
                    <a:lnTo>
                      <a:pt x="37" y="37"/>
                    </a:lnTo>
                    <a:lnTo>
                      <a:pt x="33" y="35"/>
                    </a:lnTo>
                    <a:lnTo>
                      <a:pt x="29" y="33"/>
                    </a:lnTo>
                    <a:lnTo>
                      <a:pt x="26" y="31"/>
                    </a:lnTo>
                    <a:lnTo>
                      <a:pt x="23" y="29"/>
                    </a:lnTo>
                    <a:lnTo>
                      <a:pt x="20" y="26"/>
                    </a:lnTo>
                    <a:lnTo>
                      <a:pt x="18" y="23"/>
                    </a:lnTo>
                    <a:lnTo>
                      <a:pt x="15" y="20"/>
                    </a:lnTo>
                    <a:lnTo>
                      <a:pt x="12" y="16"/>
                    </a:lnTo>
                    <a:lnTo>
                      <a:pt x="9" y="13"/>
                    </a:lnTo>
                    <a:lnTo>
                      <a:pt x="7" y="10"/>
                    </a:lnTo>
                    <a:lnTo>
                      <a:pt x="5" y="7"/>
                    </a:lnTo>
                    <a:lnTo>
                      <a:pt x="2" y="4"/>
                    </a:lnTo>
                    <a:lnTo>
                      <a:pt x="0" y="0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62" name="Freeform 1094"/>
              <p:cNvSpPr>
                <a:spLocks/>
              </p:cNvSpPr>
              <p:nvPr/>
            </p:nvSpPr>
            <p:spPr bwMode="auto">
              <a:xfrm>
                <a:off x="2083" y="3370"/>
                <a:ext cx="50" cy="38"/>
              </a:xfrm>
              <a:custGeom>
                <a:avLst/>
                <a:gdLst>
                  <a:gd name="T0" fmla="*/ 50 w 50"/>
                  <a:gd name="T1" fmla="*/ 1 h 38"/>
                  <a:gd name="T2" fmla="*/ 50 w 50"/>
                  <a:gd name="T3" fmla="*/ 10 h 38"/>
                  <a:gd name="T4" fmla="*/ 50 w 50"/>
                  <a:gd name="T5" fmla="*/ 19 h 38"/>
                  <a:gd name="T6" fmla="*/ 50 w 50"/>
                  <a:gd name="T7" fmla="*/ 29 h 38"/>
                  <a:gd name="T8" fmla="*/ 50 w 50"/>
                  <a:gd name="T9" fmla="*/ 38 h 38"/>
                  <a:gd name="T10" fmla="*/ 0 w 50"/>
                  <a:gd name="T11" fmla="*/ 38 h 38"/>
                  <a:gd name="T12" fmla="*/ 2 w 50"/>
                  <a:gd name="T13" fmla="*/ 0 h 38"/>
                  <a:gd name="T14" fmla="*/ 4 w 50"/>
                  <a:gd name="T15" fmla="*/ 0 h 38"/>
                  <a:gd name="T16" fmla="*/ 8 w 50"/>
                  <a:gd name="T17" fmla="*/ 0 h 38"/>
                  <a:gd name="T18" fmla="*/ 11 w 50"/>
                  <a:gd name="T19" fmla="*/ 1 h 38"/>
                  <a:gd name="T20" fmla="*/ 13 w 50"/>
                  <a:gd name="T21" fmla="*/ 1 h 38"/>
                  <a:gd name="T22" fmla="*/ 16 w 50"/>
                  <a:gd name="T23" fmla="*/ 1 h 38"/>
                  <a:gd name="T24" fmla="*/ 19 w 50"/>
                  <a:gd name="T25" fmla="*/ 1 h 38"/>
                  <a:gd name="T26" fmla="*/ 23 w 50"/>
                  <a:gd name="T27" fmla="*/ 1 h 38"/>
                  <a:gd name="T28" fmla="*/ 26 w 50"/>
                  <a:gd name="T29" fmla="*/ 1 h 38"/>
                  <a:gd name="T30" fmla="*/ 29 w 50"/>
                  <a:gd name="T31" fmla="*/ 1 h 38"/>
                  <a:gd name="T32" fmla="*/ 32 w 50"/>
                  <a:gd name="T33" fmla="*/ 1 h 38"/>
                  <a:gd name="T34" fmla="*/ 35 w 50"/>
                  <a:gd name="T35" fmla="*/ 1 h 38"/>
                  <a:gd name="T36" fmla="*/ 39 w 50"/>
                  <a:gd name="T37" fmla="*/ 1 h 38"/>
                  <a:gd name="T38" fmla="*/ 41 w 50"/>
                  <a:gd name="T39" fmla="*/ 1 h 38"/>
                  <a:gd name="T40" fmla="*/ 44 w 50"/>
                  <a:gd name="T41" fmla="*/ 1 h 38"/>
                  <a:gd name="T42" fmla="*/ 47 w 50"/>
                  <a:gd name="T43" fmla="*/ 1 h 38"/>
                  <a:gd name="T44" fmla="*/ 50 w 50"/>
                  <a:gd name="T45" fmla="*/ 1 h 3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50"/>
                  <a:gd name="T70" fmla="*/ 0 h 38"/>
                  <a:gd name="T71" fmla="*/ 50 w 50"/>
                  <a:gd name="T72" fmla="*/ 38 h 38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50" h="38">
                    <a:moveTo>
                      <a:pt x="50" y="1"/>
                    </a:moveTo>
                    <a:lnTo>
                      <a:pt x="50" y="10"/>
                    </a:lnTo>
                    <a:lnTo>
                      <a:pt x="50" y="19"/>
                    </a:lnTo>
                    <a:lnTo>
                      <a:pt x="50" y="29"/>
                    </a:lnTo>
                    <a:lnTo>
                      <a:pt x="50" y="38"/>
                    </a:lnTo>
                    <a:lnTo>
                      <a:pt x="0" y="38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8" y="0"/>
                    </a:lnTo>
                    <a:lnTo>
                      <a:pt x="11" y="1"/>
                    </a:lnTo>
                    <a:lnTo>
                      <a:pt x="13" y="1"/>
                    </a:lnTo>
                    <a:lnTo>
                      <a:pt x="16" y="1"/>
                    </a:lnTo>
                    <a:lnTo>
                      <a:pt x="19" y="1"/>
                    </a:lnTo>
                    <a:lnTo>
                      <a:pt x="23" y="1"/>
                    </a:lnTo>
                    <a:lnTo>
                      <a:pt x="26" y="1"/>
                    </a:lnTo>
                    <a:lnTo>
                      <a:pt x="29" y="1"/>
                    </a:lnTo>
                    <a:lnTo>
                      <a:pt x="32" y="1"/>
                    </a:lnTo>
                    <a:lnTo>
                      <a:pt x="35" y="1"/>
                    </a:lnTo>
                    <a:lnTo>
                      <a:pt x="39" y="1"/>
                    </a:lnTo>
                    <a:lnTo>
                      <a:pt x="41" y="1"/>
                    </a:lnTo>
                    <a:lnTo>
                      <a:pt x="44" y="1"/>
                    </a:lnTo>
                    <a:lnTo>
                      <a:pt x="47" y="1"/>
                    </a:lnTo>
                    <a:lnTo>
                      <a:pt x="5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63" name="Freeform 1095"/>
              <p:cNvSpPr>
                <a:spLocks/>
              </p:cNvSpPr>
              <p:nvPr/>
            </p:nvSpPr>
            <p:spPr bwMode="auto">
              <a:xfrm>
                <a:off x="2056" y="3412"/>
                <a:ext cx="77" cy="24"/>
              </a:xfrm>
              <a:custGeom>
                <a:avLst/>
                <a:gdLst>
                  <a:gd name="T0" fmla="*/ 27 w 77"/>
                  <a:gd name="T1" fmla="*/ 5 h 24"/>
                  <a:gd name="T2" fmla="*/ 28 w 77"/>
                  <a:gd name="T3" fmla="*/ 4 h 24"/>
                  <a:gd name="T4" fmla="*/ 28 w 77"/>
                  <a:gd name="T5" fmla="*/ 3 h 24"/>
                  <a:gd name="T6" fmla="*/ 28 w 77"/>
                  <a:gd name="T7" fmla="*/ 2 h 24"/>
                  <a:gd name="T8" fmla="*/ 28 w 77"/>
                  <a:gd name="T9" fmla="*/ 1 h 24"/>
                  <a:gd name="T10" fmla="*/ 77 w 77"/>
                  <a:gd name="T11" fmla="*/ 1 h 24"/>
                  <a:gd name="T12" fmla="*/ 77 w 77"/>
                  <a:gd name="T13" fmla="*/ 24 h 24"/>
                  <a:gd name="T14" fmla="*/ 72 w 77"/>
                  <a:gd name="T15" fmla="*/ 24 h 24"/>
                  <a:gd name="T16" fmla="*/ 67 w 77"/>
                  <a:gd name="T17" fmla="*/ 22 h 24"/>
                  <a:gd name="T18" fmla="*/ 62 w 77"/>
                  <a:gd name="T19" fmla="*/ 22 h 24"/>
                  <a:gd name="T20" fmla="*/ 57 w 77"/>
                  <a:gd name="T21" fmla="*/ 21 h 24"/>
                  <a:gd name="T22" fmla="*/ 52 w 77"/>
                  <a:gd name="T23" fmla="*/ 20 h 24"/>
                  <a:gd name="T24" fmla="*/ 47 w 77"/>
                  <a:gd name="T25" fmla="*/ 19 h 24"/>
                  <a:gd name="T26" fmla="*/ 42 w 77"/>
                  <a:gd name="T27" fmla="*/ 18 h 24"/>
                  <a:gd name="T28" fmla="*/ 38 w 77"/>
                  <a:gd name="T29" fmla="*/ 17 h 24"/>
                  <a:gd name="T30" fmla="*/ 32 w 77"/>
                  <a:gd name="T31" fmla="*/ 16 h 24"/>
                  <a:gd name="T32" fmla="*/ 27 w 77"/>
                  <a:gd name="T33" fmla="*/ 14 h 24"/>
                  <a:gd name="T34" fmla="*/ 23 w 77"/>
                  <a:gd name="T35" fmla="*/ 13 h 24"/>
                  <a:gd name="T36" fmla="*/ 19 w 77"/>
                  <a:gd name="T37" fmla="*/ 11 h 24"/>
                  <a:gd name="T38" fmla="*/ 13 w 77"/>
                  <a:gd name="T39" fmla="*/ 9 h 24"/>
                  <a:gd name="T40" fmla="*/ 9 w 77"/>
                  <a:gd name="T41" fmla="*/ 6 h 24"/>
                  <a:gd name="T42" fmla="*/ 5 w 77"/>
                  <a:gd name="T43" fmla="*/ 3 h 24"/>
                  <a:gd name="T44" fmla="*/ 0 w 77"/>
                  <a:gd name="T45" fmla="*/ 1 h 24"/>
                  <a:gd name="T46" fmla="*/ 4 w 77"/>
                  <a:gd name="T47" fmla="*/ 0 h 24"/>
                  <a:gd name="T48" fmla="*/ 7 w 77"/>
                  <a:gd name="T49" fmla="*/ 0 h 24"/>
                  <a:gd name="T50" fmla="*/ 10 w 77"/>
                  <a:gd name="T51" fmla="*/ 0 h 24"/>
                  <a:gd name="T52" fmla="*/ 13 w 77"/>
                  <a:gd name="T53" fmla="*/ 1 h 24"/>
                  <a:gd name="T54" fmla="*/ 16 w 77"/>
                  <a:gd name="T55" fmla="*/ 2 h 24"/>
                  <a:gd name="T56" fmla="*/ 20 w 77"/>
                  <a:gd name="T57" fmla="*/ 3 h 24"/>
                  <a:gd name="T58" fmla="*/ 24 w 77"/>
                  <a:gd name="T59" fmla="*/ 4 h 24"/>
                  <a:gd name="T60" fmla="*/ 27 w 77"/>
                  <a:gd name="T61" fmla="*/ 5 h 24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77"/>
                  <a:gd name="T94" fmla="*/ 0 h 24"/>
                  <a:gd name="T95" fmla="*/ 77 w 77"/>
                  <a:gd name="T96" fmla="*/ 24 h 24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77" h="24">
                    <a:moveTo>
                      <a:pt x="27" y="5"/>
                    </a:moveTo>
                    <a:lnTo>
                      <a:pt x="28" y="4"/>
                    </a:lnTo>
                    <a:lnTo>
                      <a:pt x="28" y="3"/>
                    </a:lnTo>
                    <a:lnTo>
                      <a:pt x="28" y="2"/>
                    </a:lnTo>
                    <a:lnTo>
                      <a:pt x="28" y="1"/>
                    </a:lnTo>
                    <a:lnTo>
                      <a:pt x="77" y="1"/>
                    </a:lnTo>
                    <a:lnTo>
                      <a:pt x="77" y="24"/>
                    </a:lnTo>
                    <a:lnTo>
                      <a:pt x="72" y="24"/>
                    </a:lnTo>
                    <a:lnTo>
                      <a:pt x="67" y="22"/>
                    </a:lnTo>
                    <a:lnTo>
                      <a:pt x="62" y="22"/>
                    </a:lnTo>
                    <a:lnTo>
                      <a:pt x="57" y="21"/>
                    </a:lnTo>
                    <a:lnTo>
                      <a:pt x="52" y="20"/>
                    </a:lnTo>
                    <a:lnTo>
                      <a:pt x="47" y="19"/>
                    </a:lnTo>
                    <a:lnTo>
                      <a:pt x="42" y="18"/>
                    </a:lnTo>
                    <a:lnTo>
                      <a:pt x="38" y="17"/>
                    </a:lnTo>
                    <a:lnTo>
                      <a:pt x="32" y="16"/>
                    </a:lnTo>
                    <a:lnTo>
                      <a:pt x="27" y="14"/>
                    </a:lnTo>
                    <a:lnTo>
                      <a:pt x="23" y="13"/>
                    </a:lnTo>
                    <a:lnTo>
                      <a:pt x="19" y="11"/>
                    </a:lnTo>
                    <a:lnTo>
                      <a:pt x="13" y="9"/>
                    </a:lnTo>
                    <a:lnTo>
                      <a:pt x="9" y="6"/>
                    </a:lnTo>
                    <a:lnTo>
                      <a:pt x="5" y="3"/>
                    </a:lnTo>
                    <a:lnTo>
                      <a:pt x="0" y="1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6" y="2"/>
                    </a:lnTo>
                    <a:lnTo>
                      <a:pt x="20" y="3"/>
                    </a:lnTo>
                    <a:lnTo>
                      <a:pt x="24" y="4"/>
                    </a:lnTo>
                    <a:lnTo>
                      <a:pt x="27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2319" name="Rectangle 1096"/>
            <p:cNvSpPr>
              <a:spLocks noChangeArrowheads="1"/>
            </p:cNvSpPr>
            <p:nvPr/>
          </p:nvSpPr>
          <p:spPr bwMode="auto">
            <a:xfrm>
              <a:off x="2258" y="4007"/>
              <a:ext cx="532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Pre Job Activity</a:t>
              </a:r>
              <a:endParaRPr lang="en-US" sz="1000" b="0">
                <a:latin typeface="Times New Roman" pitchFamily="18" charset="0"/>
              </a:endParaRPr>
            </a:p>
          </p:txBody>
        </p:sp>
        <p:sp>
          <p:nvSpPr>
            <p:cNvPr id="12320" name="Rectangle 1097"/>
            <p:cNvSpPr>
              <a:spLocks noChangeArrowheads="1"/>
            </p:cNvSpPr>
            <p:nvPr/>
          </p:nvSpPr>
          <p:spPr bwMode="auto">
            <a:xfrm>
              <a:off x="2704" y="3740"/>
              <a:ext cx="719" cy="1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grpSp>
          <p:nvGrpSpPr>
            <p:cNvPr id="12321" name="Group 1098"/>
            <p:cNvGrpSpPr>
              <a:grpSpLocks/>
            </p:cNvGrpSpPr>
            <p:nvPr/>
          </p:nvGrpSpPr>
          <p:grpSpPr bwMode="auto">
            <a:xfrm>
              <a:off x="2872" y="3695"/>
              <a:ext cx="326" cy="268"/>
              <a:chOff x="2492" y="3139"/>
              <a:chExt cx="331" cy="295"/>
            </a:xfrm>
          </p:grpSpPr>
          <p:sp>
            <p:nvSpPr>
              <p:cNvPr id="12339" name="Freeform 1099"/>
              <p:cNvSpPr>
                <a:spLocks/>
              </p:cNvSpPr>
              <p:nvPr/>
            </p:nvSpPr>
            <p:spPr bwMode="auto">
              <a:xfrm>
                <a:off x="2514" y="3139"/>
                <a:ext cx="285" cy="295"/>
              </a:xfrm>
              <a:custGeom>
                <a:avLst/>
                <a:gdLst>
                  <a:gd name="T0" fmla="*/ 227 w 285"/>
                  <a:gd name="T1" fmla="*/ 295 h 295"/>
                  <a:gd name="T2" fmla="*/ 238 w 285"/>
                  <a:gd name="T3" fmla="*/ 295 h 295"/>
                  <a:gd name="T4" fmla="*/ 247 w 285"/>
                  <a:gd name="T5" fmla="*/ 292 h 295"/>
                  <a:gd name="T6" fmla="*/ 254 w 285"/>
                  <a:gd name="T7" fmla="*/ 289 h 295"/>
                  <a:gd name="T8" fmla="*/ 262 w 285"/>
                  <a:gd name="T9" fmla="*/ 284 h 295"/>
                  <a:gd name="T10" fmla="*/ 268 w 285"/>
                  <a:gd name="T11" fmla="*/ 278 h 295"/>
                  <a:gd name="T12" fmla="*/ 274 w 285"/>
                  <a:gd name="T13" fmla="*/ 272 h 295"/>
                  <a:gd name="T14" fmla="*/ 279 w 285"/>
                  <a:gd name="T15" fmla="*/ 263 h 295"/>
                  <a:gd name="T16" fmla="*/ 282 w 285"/>
                  <a:gd name="T17" fmla="*/ 255 h 295"/>
                  <a:gd name="T18" fmla="*/ 285 w 285"/>
                  <a:gd name="T19" fmla="*/ 246 h 295"/>
                  <a:gd name="T20" fmla="*/ 285 w 285"/>
                  <a:gd name="T21" fmla="*/ 236 h 295"/>
                  <a:gd name="T22" fmla="*/ 285 w 285"/>
                  <a:gd name="T23" fmla="*/ 58 h 295"/>
                  <a:gd name="T24" fmla="*/ 285 w 285"/>
                  <a:gd name="T25" fmla="*/ 49 h 295"/>
                  <a:gd name="T26" fmla="*/ 282 w 285"/>
                  <a:gd name="T27" fmla="*/ 40 h 295"/>
                  <a:gd name="T28" fmla="*/ 279 w 285"/>
                  <a:gd name="T29" fmla="*/ 32 h 295"/>
                  <a:gd name="T30" fmla="*/ 274 w 285"/>
                  <a:gd name="T31" fmla="*/ 23 h 295"/>
                  <a:gd name="T32" fmla="*/ 268 w 285"/>
                  <a:gd name="T33" fmla="*/ 17 h 295"/>
                  <a:gd name="T34" fmla="*/ 262 w 285"/>
                  <a:gd name="T35" fmla="*/ 11 h 295"/>
                  <a:gd name="T36" fmla="*/ 254 w 285"/>
                  <a:gd name="T37" fmla="*/ 6 h 295"/>
                  <a:gd name="T38" fmla="*/ 247 w 285"/>
                  <a:gd name="T39" fmla="*/ 3 h 295"/>
                  <a:gd name="T40" fmla="*/ 238 w 285"/>
                  <a:gd name="T41" fmla="*/ 0 h 295"/>
                  <a:gd name="T42" fmla="*/ 227 w 285"/>
                  <a:gd name="T43" fmla="*/ 0 h 295"/>
                  <a:gd name="T44" fmla="*/ 57 w 285"/>
                  <a:gd name="T45" fmla="*/ 0 h 295"/>
                  <a:gd name="T46" fmla="*/ 48 w 285"/>
                  <a:gd name="T47" fmla="*/ 0 h 295"/>
                  <a:gd name="T48" fmla="*/ 39 w 285"/>
                  <a:gd name="T49" fmla="*/ 3 h 295"/>
                  <a:gd name="T50" fmla="*/ 31 w 285"/>
                  <a:gd name="T51" fmla="*/ 6 h 295"/>
                  <a:gd name="T52" fmla="*/ 23 w 285"/>
                  <a:gd name="T53" fmla="*/ 11 h 295"/>
                  <a:gd name="T54" fmla="*/ 17 w 285"/>
                  <a:gd name="T55" fmla="*/ 17 h 295"/>
                  <a:gd name="T56" fmla="*/ 11 w 285"/>
                  <a:gd name="T57" fmla="*/ 23 h 295"/>
                  <a:gd name="T58" fmla="*/ 6 w 285"/>
                  <a:gd name="T59" fmla="*/ 32 h 295"/>
                  <a:gd name="T60" fmla="*/ 3 w 285"/>
                  <a:gd name="T61" fmla="*/ 40 h 295"/>
                  <a:gd name="T62" fmla="*/ 1 w 285"/>
                  <a:gd name="T63" fmla="*/ 49 h 295"/>
                  <a:gd name="T64" fmla="*/ 0 w 285"/>
                  <a:gd name="T65" fmla="*/ 58 h 295"/>
                  <a:gd name="T66" fmla="*/ 0 w 285"/>
                  <a:gd name="T67" fmla="*/ 236 h 295"/>
                  <a:gd name="T68" fmla="*/ 1 w 285"/>
                  <a:gd name="T69" fmla="*/ 246 h 295"/>
                  <a:gd name="T70" fmla="*/ 3 w 285"/>
                  <a:gd name="T71" fmla="*/ 255 h 295"/>
                  <a:gd name="T72" fmla="*/ 6 w 285"/>
                  <a:gd name="T73" fmla="*/ 263 h 295"/>
                  <a:gd name="T74" fmla="*/ 11 w 285"/>
                  <a:gd name="T75" fmla="*/ 272 h 295"/>
                  <a:gd name="T76" fmla="*/ 17 w 285"/>
                  <a:gd name="T77" fmla="*/ 278 h 295"/>
                  <a:gd name="T78" fmla="*/ 23 w 285"/>
                  <a:gd name="T79" fmla="*/ 284 h 295"/>
                  <a:gd name="T80" fmla="*/ 31 w 285"/>
                  <a:gd name="T81" fmla="*/ 289 h 295"/>
                  <a:gd name="T82" fmla="*/ 39 w 285"/>
                  <a:gd name="T83" fmla="*/ 292 h 295"/>
                  <a:gd name="T84" fmla="*/ 48 w 285"/>
                  <a:gd name="T85" fmla="*/ 295 h 295"/>
                  <a:gd name="T86" fmla="*/ 57 w 285"/>
                  <a:gd name="T87" fmla="*/ 295 h 295"/>
                  <a:gd name="T88" fmla="*/ 227 w 285"/>
                  <a:gd name="T89" fmla="*/ 295 h 295"/>
                  <a:gd name="T90" fmla="*/ 227 w 285"/>
                  <a:gd name="T91" fmla="*/ 295 h 295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285"/>
                  <a:gd name="T139" fmla="*/ 0 h 295"/>
                  <a:gd name="T140" fmla="*/ 285 w 285"/>
                  <a:gd name="T141" fmla="*/ 295 h 295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285" h="295">
                    <a:moveTo>
                      <a:pt x="227" y="295"/>
                    </a:moveTo>
                    <a:lnTo>
                      <a:pt x="238" y="295"/>
                    </a:lnTo>
                    <a:lnTo>
                      <a:pt x="247" y="292"/>
                    </a:lnTo>
                    <a:lnTo>
                      <a:pt x="254" y="289"/>
                    </a:lnTo>
                    <a:lnTo>
                      <a:pt x="262" y="284"/>
                    </a:lnTo>
                    <a:lnTo>
                      <a:pt x="268" y="278"/>
                    </a:lnTo>
                    <a:lnTo>
                      <a:pt x="274" y="272"/>
                    </a:lnTo>
                    <a:lnTo>
                      <a:pt x="279" y="263"/>
                    </a:lnTo>
                    <a:lnTo>
                      <a:pt x="282" y="255"/>
                    </a:lnTo>
                    <a:lnTo>
                      <a:pt x="285" y="246"/>
                    </a:lnTo>
                    <a:lnTo>
                      <a:pt x="285" y="236"/>
                    </a:lnTo>
                    <a:lnTo>
                      <a:pt x="285" y="58"/>
                    </a:lnTo>
                    <a:lnTo>
                      <a:pt x="285" y="49"/>
                    </a:lnTo>
                    <a:lnTo>
                      <a:pt x="282" y="40"/>
                    </a:lnTo>
                    <a:lnTo>
                      <a:pt x="279" y="32"/>
                    </a:lnTo>
                    <a:lnTo>
                      <a:pt x="274" y="23"/>
                    </a:lnTo>
                    <a:lnTo>
                      <a:pt x="268" y="17"/>
                    </a:lnTo>
                    <a:lnTo>
                      <a:pt x="262" y="11"/>
                    </a:lnTo>
                    <a:lnTo>
                      <a:pt x="254" y="6"/>
                    </a:lnTo>
                    <a:lnTo>
                      <a:pt x="247" y="3"/>
                    </a:lnTo>
                    <a:lnTo>
                      <a:pt x="238" y="0"/>
                    </a:lnTo>
                    <a:lnTo>
                      <a:pt x="227" y="0"/>
                    </a:lnTo>
                    <a:lnTo>
                      <a:pt x="57" y="0"/>
                    </a:lnTo>
                    <a:lnTo>
                      <a:pt x="48" y="0"/>
                    </a:lnTo>
                    <a:lnTo>
                      <a:pt x="39" y="3"/>
                    </a:lnTo>
                    <a:lnTo>
                      <a:pt x="31" y="6"/>
                    </a:lnTo>
                    <a:lnTo>
                      <a:pt x="23" y="11"/>
                    </a:lnTo>
                    <a:lnTo>
                      <a:pt x="17" y="17"/>
                    </a:lnTo>
                    <a:lnTo>
                      <a:pt x="11" y="23"/>
                    </a:lnTo>
                    <a:lnTo>
                      <a:pt x="6" y="32"/>
                    </a:lnTo>
                    <a:lnTo>
                      <a:pt x="3" y="40"/>
                    </a:lnTo>
                    <a:lnTo>
                      <a:pt x="1" y="49"/>
                    </a:lnTo>
                    <a:lnTo>
                      <a:pt x="0" y="58"/>
                    </a:lnTo>
                    <a:lnTo>
                      <a:pt x="0" y="236"/>
                    </a:lnTo>
                    <a:lnTo>
                      <a:pt x="1" y="246"/>
                    </a:lnTo>
                    <a:lnTo>
                      <a:pt x="3" y="255"/>
                    </a:lnTo>
                    <a:lnTo>
                      <a:pt x="6" y="263"/>
                    </a:lnTo>
                    <a:lnTo>
                      <a:pt x="11" y="272"/>
                    </a:lnTo>
                    <a:lnTo>
                      <a:pt x="17" y="278"/>
                    </a:lnTo>
                    <a:lnTo>
                      <a:pt x="23" y="284"/>
                    </a:lnTo>
                    <a:lnTo>
                      <a:pt x="31" y="289"/>
                    </a:lnTo>
                    <a:lnTo>
                      <a:pt x="39" y="292"/>
                    </a:lnTo>
                    <a:lnTo>
                      <a:pt x="48" y="295"/>
                    </a:lnTo>
                    <a:lnTo>
                      <a:pt x="57" y="295"/>
                    </a:lnTo>
                    <a:lnTo>
                      <a:pt x="227" y="29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40" name="Freeform 1100"/>
              <p:cNvSpPr>
                <a:spLocks/>
              </p:cNvSpPr>
              <p:nvPr/>
            </p:nvSpPr>
            <p:spPr bwMode="auto">
              <a:xfrm>
                <a:off x="2492" y="3152"/>
                <a:ext cx="178" cy="185"/>
              </a:xfrm>
              <a:custGeom>
                <a:avLst/>
                <a:gdLst>
                  <a:gd name="T0" fmla="*/ 156 w 178"/>
                  <a:gd name="T1" fmla="*/ 103 h 185"/>
                  <a:gd name="T2" fmla="*/ 156 w 178"/>
                  <a:gd name="T3" fmla="*/ 100 h 185"/>
                  <a:gd name="T4" fmla="*/ 156 w 178"/>
                  <a:gd name="T5" fmla="*/ 97 h 185"/>
                  <a:gd name="T6" fmla="*/ 156 w 178"/>
                  <a:gd name="T7" fmla="*/ 94 h 185"/>
                  <a:gd name="T8" fmla="*/ 156 w 178"/>
                  <a:gd name="T9" fmla="*/ 91 h 185"/>
                  <a:gd name="T10" fmla="*/ 156 w 178"/>
                  <a:gd name="T11" fmla="*/ 88 h 185"/>
                  <a:gd name="T12" fmla="*/ 156 w 178"/>
                  <a:gd name="T13" fmla="*/ 85 h 185"/>
                  <a:gd name="T14" fmla="*/ 178 w 178"/>
                  <a:gd name="T15" fmla="*/ 76 h 185"/>
                  <a:gd name="T16" fmla="*/ 148 w 178"/>
                  <a:gd name="T17" fmla="*/ 58 h 185"/>
                  <a:gd name="T18" fmla="*/ 145 w 178"/>
                  <a:gd name="T19" fmla="*/ 54 h 185"/>
                  <a:gd name="T20" fmla="*/ 141 w 178"/>
                  <a:gd name="T21" fmla="*/ 49 h 185"/>
                  <a:gd name="T22" fmla="*/ 137 w 178"/>
                  <a:gd name="T23" fmla="*/ 44 h 185"/>
                  <a:gd name="T24" fmla="*/ 119 w 178"/>
                  <a:gd name="T25" fmla="*/ 30 h 185"/>
                  <a:gd name="T26" fmla="*/ 114 w 178"/>
                  <a:gd name="T27" fmla="*/ 28 h 185"/>
                  <a:gd name="T28" fmla="*/ 108 w 178"/>
                  <a:gd name="T29" fmla="*/ 26 h 185"/>
                  <a:gd name="T30" fmla="*/ 103 w 178"/>
                  <a:gd name="T31" fmla="*/ 24 h 185"/>
                  <a:gd name="T32" fmla="*/ 77 w 178"/>
                  <a:gd name="T33" fmla="*/ 0 h 185"/>
                  <a:gd name="T34" fmla="*/ 74 w 178"/>
                  <a:gd name="T35" fmla="*/ 25 h 185"/>
                  <a:gd name="T36" fmla="*/ 69 w 178"/>
                  <a:gd name="T37" fmla="*/ 26 h 185"/>
                  <a:gd name="T38" fmla="*/ 63 w 178"/>
                  <a:gd name="T39" fmla="*/ 28 h 185"/>
                  <a:gd name="T40" fmla="*/ 46 w 178"/>
                  <a:gd name="T41" fmla="*/ 11 h 185"/>
                  <a:gd name="T42" fmla="*/ 39 w 178"/>
                  <a:gd name="T43" fmla="*/ 46 h 185"/>
                  <a:gd name="T44" fmla="*/ 36 w 178"/>
                  <a:gd name="T45" fmla="*/ 51 h 185"/>
                  <a:gd name="T46" fmla="*/ 32 w 178"/>
                  <a:gd name="T47" fmla="*/ 55 h 185"/>
                  <a:gd name="T48" fmla="*/ 30 w 178"/>
                  <a:gd name="T49" fmla="*/ 60 h 185"/>
                  <a:gd name="T50" fmla="*/ 23 w 178"/>
                  <a:gd name="T51" fmla="*/ 83 h 185"/>
                  <a:gd name="T52" fmla="*/ 23 w 178"/>
                  <a:gd name="T53" fmla="*/ 87 h 185"/>
                  <a:gd name="T54" fmla="*/ 22 w 178"/>
                  <a:gd name="T55" fmla="*/ 89 h 185"/>
                  <a:gd name="T56" fmla="*/ 22 w 178"/>
                  <a:gd name="T57" fmla="*/ 92 h 185"/>
                  <a:gd name="T58" fmla="*/ 22 w 178"/>
                  <a:gd name="T59" fmla="*/ 94 h 185"/>
                  <a:gd name="T60" fmla="*/ 22 w 178"/>
                  <a:gd name="T61" fmla="*/ 98 h 185"/>
                  <a:gd name="T62" fmla="*/ 23 w 178"/>
                  <a:gd name="T63" fmla="*/ 101 h 185"/>
                  <a:gd name="T64" fmla="*/ 0 w 178"/>
                  <a:gd name="T65" fmla="*/ 109 h 185"/>
                  <a:gd name="T66" fmla="*/ 31 w 178"/>
                  <a:gd name="T67" fmla="*/ 128 h 185"/>
                  <a:gd name="T68" fmla="*/ 35 w 178"/>
                  <a:gd name="T69" fmla="*/ 132 h 185"/>
                  <a:gd name="T70" fmla="*/ 37 w 178"/>
                  <a:gd name="T71" fmla="*/ 137 h 185"/>
                  <a:gd name="T72" fmla="*/ 41 w 178"/>
                  <a:gd name="T73" fmla="*/ 141 h 185"/>
                  <a:gd name="T74" fmla="*/ 60 w 178"/>
                  <a:gd name="T75" fmla="*/ 155 h 185"/>
                  <a:gd name="T76" fmla="*/ 64 w 178"/>
                  <a:gd name="T77" fmla="*/ 159 h 185"/>
                  <a:gd name="T78" fmla="*/ 71 w 178"/>
                  <a:gd name="T79" fmla="*/ 160 h 185"/>
                  <a:gd name="T80" fmla="*/ 75 w 178"/>
                  <a:gd name="T81" fmla="*/ 162 h 185"/>
                  <a:gd name="T82" fmla="*/ 101 w 178"/>
                  <a:gd name="T83" fmla="*/ 185 h 185"/>
                  <a:gd name="T84" fmla="*/ 105 w 178"/>
                  <a:gd name="T85" fmla="*/ 161 h 185"/>
                  <a:gd name="T86" fmla="*/ 110 w 178"/>
                  <a:gd name="T87" fmla="*/ 160 h 185"/>
                  <a:gd name="T88" fmla="*/ 115 w 178"/>
                  <a:gd name="T89" fmla="*/ 157 h 185"/>
                  <a:gd name="T90" fmla="*/ 133 w 178"/>
                  <a:gd name="T91" fmla="*/ 175 h 185"/>
                  <a:gd name="T92" fmla="*/ 139 w 178"/>
                  <a:gd name="T93" fmla="*/ 139 h 185"/>
                  <a:gd name="T94" fmla="*/ 142 w 178"/>
                  <a:gd name="T95" fmla="*/ 135 h 185"/>
                  <a:gd name="T96" fmla="*/ 146 w 178"/>
                  <a:gd name="T97" fmla="*/ 131 h 185"/>
                  <a:gd name="T98" fmla="*/ 148 w 178"/>
                  <a:gd name="T99" fmla="*/ 127 h 185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78"/>
                  <a:gd name="T151" fmla="*/ 0 h 185"/>
                  <a:gd name="T152" fmla="*/ 178 w 178"/>
                  <a:gd name="T153" fmla="*/ 185 h 185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78" h="185">
                    <a:moveTo>
                      <a:pt x="170" y="133"/>
                    </a:moveTo>
                    <a:lnTo>
                      <a:pt x="178" y="109"/>
                    </a:lnTo>
                    <a:lnTo>
                      <a:pt x="156" y="103"/>
                    </a:lnTo>
                    <a:lnTo>
                      <a:pt x="156" y="101"/>
                    </a:lnTo>
                    <a:lnTo>
                      <a:pt x="156" y="100"/>
                    </a:lnTo>
                    <a:lnTo>
                      <a:pt x="156" y="99"/>
                    </a:lnTo>
                    <a:lnTo>
                      <a:pt x="156" y="98"/>
                    </a:lnTo>
                    <a:lnTo>
                      <a:pt x="156" y="97"/>
                    </a:lnTo>
                    <a:lnTo>
                      <a:pt x="156" y="96"/>
                    </a:lnTo>
                    <a:lnTo>
                      <a:pt x="156" y="94"/>
                    </a:lnTo>
                    <a:lnTo>
                      <a:pt x="156" y="92"/>
                    </a:lnTo>
                    <a:lnTo>
                      <a:pt x="156" y="91"/>
                    </a:lnTo>
                    <a:lnTo>
                      <a:pt x="156" y="90"/>
                    </a:lnTo>
                    <a:lnTo>
                      <a:pt x="156" y="89"/>
                    </a:lnTo>
                    <a:lnTo>
                      <a:pt x="156" y="88"/>
                    </a:lnTo>
                    <a:lnTo>
                      <a:pt x="156" y="87"/>
                    </a:lnTo>
                    <a:lnTo>
                      <a:pt x="156" y="85"/>
                    </a:lnTo>
                    <a:lnTo>
                      <a:pt x="156" y="83"/>
                    </a:lnTo>
                    <a:lnTo>
                      <a:pt x="178" y="76"/>
                    </a:lnTo>
                    <a:lnTo>
                      <a:pt x="170" y="53"/>
                    </a:lnTo>
                    <a:lnTo>
                      <a:pt x="148" y="60"/>
                    </a:lnTo>
                    <a:lnTo>
                      <a:pt x="148" y="58"/>
                    </a:lnTo>
                    <a:lnTo>
                      <a:pt x="147" y="57"/>
                    </a:lnTo>
                    <a:lnTo>
                      <a:pt x="146" y="55"/>
                    </a:lnTo>
                    <a:lnTo>
                      <a:pt x="145" y="54"/>
                    </a:lnTo>
                    <a:lnTo>
                      <a:pt x="144" y="52"/>
                    </a:lnTo>
                    <a:lnTo>
                      <a:pt x="142" y="51"/>
                    </a:lnTo>
                    <a:lnTo>
                      <a:pt x="141" y="49"/>
                    </a:lnTo>
                    <a:lnTo>
                      <a:pt x="140" y="47"/>
                    </a:lnTo>
                    <a:lnTo>
                      <a:pt x="139" y="46"/>
                    </a:lnTo>
                    <a:lnTo>
                      <a:pt x="137" y="44"/>
                    </a:lnTo>
                    <a:lnTo>
                      <a:pt x="151" y="25"/>
                    </a:lnTo>
                    <a:lnTo>
                      <a:pt x="133" y="11"/>
                    </a:lnTo>
                    <a:lnTo>
                      <a:pt x="119" y="30"/>
                    </a:lnTo>
                    <a:lnTo>
                      <a:pt x="117" y="29"/>
                    </a:lnTo>
                    <a:lnTo>
                      <a:pt x="115" y="28"/>
                    </a:lnTo>
                    <a:lnTo>
                      <a:pt x="114" y="28"/>
                    </a:lnTo>
                    <a:lnTo>
                      <a:pt x="111" y="27"/>
                    </a:lnTo>
                    <a:lnTo>
                      <a:pt x="110" y="26"/>
                    </a:lnTo>
                    <a:lnTo>
                      <a:pt x="108" y="26"/>
                    </a:lnTo>
                    <a:lnTo>
                      <a:pt x="107" y="25"/>
                    </a:lnTo>
                    <a:lnTo>
                      <a:pt x="105" y="25"/>
                    </a:lnTo>
                    <a:lnTo>
                      <a:pt x="103" y="24"/>
                    </a:lnTo>
                    <a:lnTo>
                      <a:pt x="101" y="24"/>
                    </a:lnTo>
                    <a:lnTo>
                      <a:pt x="101" y="0"/>
                    </a:lnTo>
                    <a:lnTo>
                      <a:pt x="77" y="0"/>
                    </a:lnTo>
                    <a:lnTo>
                      <a:pt x="77" y="24"/>
                    </a:lnTo>
                    <a:lnTo>
                      <a:pt x="75" y="24"/>
                    </a:lnTo>
                    <a:lnTo>
                      <a:pt x="74" y="25"/>
                    </a:lnTo>
                    <a:lnTo>
                      <a:pt x="72" y="25"/>
                    </a:lnTo>
                    <a:lnTo>
                      <a:pt x="71" y="26"/>
                    </a:lnTo>
                    <a:lnTo>
                      <a:pt x="69" y="26"/>
                    </a:lnTo>
                    <a:lnTo>
                      <a:pt x="67" y="27"/>
                    </a:lnTo>
                    <a:lnTo>
                      <a:pt x="64" y="28"/>
                    </a:lnTo>
                    <a:lnTo>
                      <a:pt x="63" y="28"/>
                    </a:lnTo>
                    <a:lnTo>
                      <a:pt x="61" y="29"/>
                    </a:lnTo>
                    <a:lnTo>
                      <a:pt x="60" y="30"/>
                    </a:lnTo>
                    <a:lnTo>
                      <a:pt x="46" y="11"/>
                    </a:lnTo>
                    <a:lnTo>
                      <a:pt x="27" y="25"/>
                    </a:lnTo>
                    <a:lnTo>
                      <a:pt x="41" y="44"/>
                    </a:lnTo>
                    <a:lnTo>
                      <a:pt x="39" y="46"/>
                    </a:lnTo>
                    <a:lnTo>
                      <a:pt x="38" y="47"/>
                    </a:lnTo>
                    <a:lnTo>
                      <a:pt x="37" y="49"/>
                    </a:lnTo>
                    <a:lnTo>
                      <a:pt x="36" y="51"/>
                    </a:lnTo>
                    <a:lnTo>
                      <a:pt x="35" y="52"/>
                    </a:lnTo>
                    <a:lnTo>
                      <a:pt x="35" y="54"/>
                    </a:lnTo>
                    <a:lnTo>
                      <a:pt x="32" y="55"/>
                    </a:lnTo>
                    <a:lnTo>
                      <a:pt x="31" y="57"/>
                    </a:lnTo>
                    <a:lnTo>
                      <a:pt x="31" y="58"/>
                    </a:lnTo>
                    <a:lnTo>
                      <a:pt x="30" y="60"/>
                    </a:lnTo>
                    <a:lnTo>
                      <a:pt x="9" y="53"/>
                    </a:lnTo>
                    <a:lnTo>
                      <a:pt x="0" y="76"/>
                    </a:lnTo>
                    <a:lnTo>
                      <a:pt x="23" y="83"/>
                    </a:lnTo>
                    <a:lnTo>
                      <a:pt x="23" y="85"/>
                    </a:lnTo>
                    <a:lnTo>
                      <a:pt x="23" y="87"/>
                    </a:lnTo>
                    <a:lnTo>
                      <a:pt x="22" y="87"/>
                    </a:lnTo>
                    <a:lnTo>
                      <a:pt x="22" y="88"/>
                    </a:lnTo>
                    <a:lnTo>
                      <a:pt x="22" y="89"/>
                    </a:lnTo>
                    <a:lnTo>
                      <a:pt x="22" y="90"/>
                    </a:lnTo>
                    <a:lnTo>
                      <a:pt x="22" y="91"/>
                    </a:lnTo>
                    <a:lnTo>
                      <a:pt x="22" y="92"/>
                    </a:lnTo>
                    <a:lnTo>
                      <a:pt x="22" y="94"/>
                    </a:lnTo>
                    <a:lnTo>
                      <a:pt x="22" y="96"/>
                    </a:lnTo>
                    <a:lnTo>
                      <a:pt x="22" y="97"/>
                    </a:lnTo>
                    <a:lnTo>
                      <a:pt x="22" y="98"/>
                    </a:lnTo>
                    <a:lnTo>
                      <a:pt x="22" y="99"/>
                    </a:lnTo>
                    <a:lnTo>
                      <a:pt x="23" y="100"/>
                    </a:lnTo>
                    <a:lnTo>
                      <a:pt x="23" y="101"/>
                    </a:lnTo>
                    <a:lnTo>
                      <a:pt x="23" y="103"/>
                    </a:lnTo>
                    <a:lnTo>
                      <a:pt x="0" y="109"/>
                    </a:lnTo>
                    <a:lnTo>
                      <a:pt x="9" y="133"/>
                    </a:lnTo>
                    <a:lnTo>
                      <a:pt x="30" y="127"/>
                    </a:lnTo>
                    <a:lnTo>
                      <a:pt x="31" y="128"/>
                    </a:lnTo>
                    <a:lnTo>
                      <a:pt x="31" y="129"/>
                    </a:lnTo>
                    <a:lnTo>
                      <a:pt x="32" y="131"/>
                    </a:lnTo>
                    <a:lnTo>
                      <a:pt x="35" y="132"/>
                    </a:lnTo>
                    <a:lnTo>
                      <a:pt x="35" y="134"/>
                    </a:lnTo>
                    <a:lnTo>
                      <a:pt x="36" y="135"/>
                    </a:lnTo>
                    <a:lnTo>
                      <a:pt x="37" y="137"/>
                    </a:lnTo>
                    <a:lnTo>
                      <a:pt x="38" y="138"/>
                    </a:lnTo>
                    <a:lnTo>
                      <a:pt x="39" y="139"/>
                    </a:lnTo>
                    <a:lnTo>
                      <a:pt x="41" y="141"/>
                    </a:lnTo>
                    <a:lnTo>
                      <a:pt x="27" y="161"/>
                    </a:lnTo>
                    <a:lnTo>
                      <a:pt x="46" y="175"/>
                    </a:lnTo>
                    <a:lnTo>
                      <a:pt x="60" y="155"/>
                    </a:lnTo>
                    <a:lnTo>
                      <a:pt x="61" y="156"/>
                    </a:lnTo>
                    <a:lnTo>
                      <a:pt x="63" y="157"/>
                    </a:lnTo>
                    <a:lnTo>
                      <a:pt x="64" y="159"/>
                    </a:lnTo>
                    <a:lnTo>
                      <a:pt x="67" y="159"/>
                    </a:lnTo>
                    <a:lnTo>
                      <a:pt x="69" y="160"/>
                    </a:lnTo>
                    <a:lnTo>
                      <a:pt x="71" y="160"/>
                    </a:lnTo>
                    <a:lnTo>
                      <a:pt x="72" y="160"/>
                    </a:lnTo>
                    <a:lnTo>
                      <a:pt x="74" y="161"/>
                    </a:lnTo>
                    <a:lnTo>
                      <a:pt x="75" y="162"/>
                    </a:lnTo>
                    <a:lnTo>
                      <a:pt x="77" y="162"/>
                    </a:lnTo>
                    <a:lnTo>
                      <a:pt x="77" y="185"/>
                    </a:lnTo>
                    <a:lnTo>
                      <a:pt x="101" y="185"/>
                    </a:lnTo>
                    <a:lnTo>
                      <a:pt x="101" y="162"/>
                    </a:lnTo>
                    <a:lnTo>
                      <a:pt x="103" y="162"/>
                    </a:lnTo>
                    <a:lnTo>
                      <a:pt x="105" y="161"/>
                    </a:lnTo>
                    <a:lnTo>
                      <a:pt x="107" y="160"/>
                    </a:lnTo>
                    <a:lnTo>
                      <a:pt x="108" y="160"/>
                    </a:lnTo>
                    <a:lnTo>
                      <a:pt x="110" y="160"/>
                    </a:lnTo>
                    <a:lnTo>
                      <a:pt x="111" y="159"/>
                    </a:lnTo>
                    <a:lnTo>
                      <a:pt x="114" y="157"/>
                    </a:lnTo>
                    <a:lnTo>
                      <a:pt x="115" y="157"/>
                    </a:lnTo>
                    <a:lnTo>
                      <a:pt x="117" y="156"/>
                    </a:lnTo>
                    <a:lnTo>
                      <a:pt x="119" y="155"/>
                    </a:lnTo>
                    <a:lnTo>
                      <a:pt x="133" y="175"/>
                    </a:lnTo>
                    <a:lnTo>
                      <a:pt x="151" y="161"/>
                    </a:lnTo>
                    <a:lnTo>
                      <a:pt x="137" y="141"/>
                    </a:lnTo>
                    <a:lnTo>
                      <a:pt x="139" y="139"/>
                    </a:lnTo>
                    <a:lnTo>
                      <a:pt x="140" y="138"/>
                    </a:lnTo>
                    <a:lnTo>
                      <a:pt x="141" y="137"/>
                    </a:lnTo>
                    <a:lnTo>
                      <a:pt x="142" y="135"/>
                    </a:lnTo>
                    <a:lnTo>
                      <a:pt x="144" y="134"/>
                    </a:lnTo>
                    <a:lnTo>
                      <a:pt x="145" y="132"/>
                    </a:lnTo>
                    <a:lnTo>
                      <a:pt x="146" y="131"/>
                    </a:lnTo>
                    <a:lnTo>
                      <a:pt x="147" y="129"/>
                    </a:lnTo>
                    <a:lnTo>
                      <a:pt x="148" y="128"/>
                    </a:lnTo>
                    <a:lnTo>
                      <a:pt x="148" y="127"/>
                    </a:lnTo>
                    <a:lnTo>
                      <a:pt x="170" y="13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41" name="Freeform 1101"/>
              <p:cNvSpPr>
                <a:spLocks/>
              </p:cNvSpPr>
              <p:nvPr/>
            </p:nvSpPr>
            <p:spPr bwMode="auto">
              <a:xfrm>
                <a:off x="2645" y="3234"/>
                <a:ext cx="178" cy="184"/>
              </a:xfrm>
              <a:custGeom>
                <a:avLst/>
                <a:gdLst>
                  <a:gd name="T0" fmla="*/ 156 w 178"/>
                  <a:gd name="T1" fmla="*/ 102 h 184"/>
                  <a:gd name="T2" fmla="*/ 156 w 178"/>
                  <a:gd name="T3" fmla="*/ 99 h 184"/>
                  <a:gd name="T4" fmla="*/ 156 w 178"/>
                  <a:gd name="T5" fmla="*/ 96 h 184"/>
                  <a:gd name="T6" fmla="*/ 156 w 178"/>
                  <a:gd name="T7" fmla="*/ 94 h 184"/>
                  <a:gd name="T8" fmla="*/ 156 w 178"/>
                  <a:gd name="T9" fmla="*/ 90 h 184"/>
                  <a:gd name="T10" fmla="*/ 156 w 178"/>
                  <a:gd name="T11" fmla="*/ 87 h 184"/>
                  <a:gd name="T12" fmla="*/ 156 w 178"/>
                  <a:gd name="T13" fmla="*/ 84 h 184"/>
                  <a:gd name="T14" fmla="*/ 178 w 178"/>
                  <a:gd name="T15" fmla="*/ 75 h 184"/>
                  <a:gd name="T16" fmla="*/ 148 w 178"/>
                  <a:gd name="T17" fmla="*/ 58 h 184"/>
                  <a:gd name="T18" fmla="*/ 144 w 178"/>
                  <a:gd name="T19" fmla="*/ 53 h 184"/>
                  <a:gd name="T20" fmla="*/ 141 w 178"/>
                  <a:gd name="T21" fmla="*/ 48 h 184"/>
                  <a:gd name="T22" fmla="*/ 137 w 178"/>
                  <a:gd name="T23" fmla="*/ 45 h 184"/>
                  <a:gd name="T24" fmla="*/ 119 w 178"/>
                  <a:gd name="T25" fmla="*/ 30 h 184"/>
                  <a:gd name="T26" fmla="*/ 113 w 178"/>
                  <a:gd name="T27" fmla="*/ 27 h 184"/>
                  <a:gd name="T28" fmla="*/ 108 w 178"/>
                  <a:gd name="T29" fmla="*/ 25 h 184"/>
                  <a:gd name="T30" fmla="*/ 103 w 178"/>
                  <a:gd name="T31" fmla="*/ 23 h 184"/>
                  <a:gd name="T32" fmla="*/ 77 w 178"/>
                  <a:gd name="T33" fmla="*/ 0 h 184"/>
                  <a:gd name="T34" fmla="*/ 74 w 178"/>
                  <a:gd name="T35" fmla="*/ 24 h 184"/>
                  <a:gd name="T36" fmla="*/ 69 w 178"/>
                  <a:gd name="T37" fmla="*/ 25 h 184"/>
                  <a:gd name="T38" fmla="*/ 63 w 178"/>
                  <a:gd name="T39" fmla="*/ 27 h 184"/>
                  <a:gd name="T40" fmla="*/ 46 w 178"/>
                  <a:gd name="T41" fmla="*/ 10 h 184"/>
                  <a:gd name="T42" fmla="*/ 39 w 178"/>
                  <a:gd name="T43" fmla="*/ 46 h 184"/>
                  <a:gd name="T44" fmla="*/ 35 w 178"/>
                  <a:gd name="T45" fmla="*/ 50 h 184"/>
                  <a:gd name="T46" fmla="*/ 32 w 178"/>
                  <a:gd name="T47" fmla="*/ 54 h 184"/>
                  <a:gd name="T48" fmla="*/ 30 w 178"/>
                  <a:gd name="T49" fmla="*/ 59 h 184"/>
                  <a:gd name="T50" fmla="*/ 23 w 178"/>
                  <a:gd name="T51" fmla="*/ 82 h 184"/>
                  <a:gd name="T52" fmla="*/ 23 w 178"/>
                  <a:gd name="T53" fmla="*/ 86 h 184"/>
                  <a:gd name="T54" fmla="*/ 22 w 178"/>
                  <a:gd name="T55" fmla="*/ 88 h 184"/>
                  <a:gd name="T56" fmla="*/ 22 w 178"/>
                  <a:gd name="T57" fmla="*/ 92 h 184"/>
                  <a:gd name="T58" fmla="*/ 22 w 178"/>
                  <a:gd name="T59" fmla="*/ 95 h 184"/>
                  <a:gd name="T60" fmla="*/ 22 w 178"/>
                  <a:gd name="T61" fmla="*/ 97 h 184"/>
                  <a:gd name="T62" fmla="*/ 23 w 178"/>
                  <a:gd name="T63" fmla="*/ 100 h 184"/>
                  <a:gd name="T64" fmla="*/ 0 w 178"/>
                  <a:gd name="T65" fmla="*/ 109 h 184"/>
                  <a:gd name="T66" fmla="*/ 31 w 178"/>
                  <a:gd name="T67" fmla="*/ 127 h 184"/>
                  <a:gd name="T68" fmla="*/ 34 w 178"/>
                  <a:gd name="T69" fmla="*/ 132 h 184"/>
                  <a:gd name="T70" fmla="*/ 36 w 178"/>
                  <a:gd name="T71" fmla="*/ 136 h 184"/>
                  <a:gd name="T72" fmla="*/ 41 w 178"/>
                  <a:gd name="T73" fmla="*/ 141 h 184"/>
                  <a:gd name="T74" fmla="*/ 60 w 178"/>
                  <a:gd name="T75" fmla="*/ 155 h 184"/>
                  <a:gd name="T76" fmla="*/ 64 w 178"/>
                  <a:gd name="T77" fmla="*/ 158 h 184"/>
                  <a:gd name="T78" fmla="*/ 71 w 178"/>
                  <a:gd name="T79" fmla="*/ 159 h 184"/>
                  <a:gd name="T80" fmla="*/ 75 w 178"/>
                  <a:gd name="T81" fmla="*/ 161 h 184"/>
                  <a:gd name="T82" fmla="*/ 101 w 178"/>
                  <a:gd name="T83" fmla="*/ 184 h 184"/>
                  <a:gd name="T84" fmla="*/ 105 w 178"/>
                  <a:gd name="T85" fmla="*/ 160 h 184"/>
                  <a:gd name="T86" fmla="*/ 110 w 178"/>
                  <a:gd name="T87" fmla="*/ 159 h 184"/>
                  <a:gd name="T88" fmla="*/ 115 w 178"/>
                  <a:gd name="T89" fmla="*/ 157 h 184"/>
                  <a:gd name="T90" fmla="*/ 133 w 178"/>
                  <a:gd name="T91" fmla="*/ 174 h 184"/>
                  <a:gd name="T92" fmla="*/ 139 w 178"/>
                  <a:gd name="T93" fmla="*/ 140 h 184"/>
                  <a:gd name="T94" fmla="*/ 142 w 178"/>
                  <a:gd name="T95" fmla="*/ 134 h 184"/>
                  <a:gd name="T96" fmla="*/ 145 w 178"/>
                  <a:gd name="T97" fmla="*/ 130 h 184"/>
                  <a:gd name="T98" fmla="*/ 148 w 178"/>
                  <a:gd name="T99" fmla="*/ 126 h 18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78"/>
                  <a:gd name="T151" fmla="*/ 0 h 184"/>
                  <a:gd name="T152" fmla="*/ 178 w 178"/>
                  <a:gd name="T153" fmla="*/ 184 h 18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78" h="184">
                    <a:moveTo>
                      <a:pt x="170" y="132"/>
                    </a:moveTo>
                    <a:lnTo>
                      <a:pt x="178" y="109"/>
                    </a:lnTo>
                    <a:lnTo>
                      <a:pt x="156" y="102"/>
                    </a:lnTo>
                    <a:lnTo>
                      <a:pt x="156" y="100"/>
                    </a:lnTo>
                    <a:lnTo>
                      <a:pt x="156" y="99"/>
                    </a:lnTo>
                    <a:lnTo>
                      <a:pt x="156" y="98"/>
                    </a:lnTo>
                    <a:lnTo>
                      <a:pt x="156" y="97"/>
                    </a:lnTo>
                    <a:lnTo>
                      <a:pt x="156" y="96"/>
                    </a:lnTo>
                    <a:lnTo>
                      <a:pt x="156" y="95"/>
                    </a:lnTo>
                    <a:lnTo>
                      <a:pt x="156" y="94"/>
                    </a:lnTo>
                    <a:lnTo>
                      <a:pt x="156" y="93"/>
                    </a:lnTo>
                    <a:lnTo>
                      <a:pt x="156" y="92"/>
                    </a:lnTo>
                    <a:lnTo>
                      <a:pt x="156" y="90"/>
                    </a:lnTo>
                    <a:lnTo>
                      <a:pt x="156" y="89"/>
                    </a:lnTo>
                    <a:lnTo>
                      <a:pt x="156" y="88"/>
                    </a:lnTo>
                    <a:lnTo>
                      <a:pt x="156" y="87"/>
                    </a:lnTo>
                    <a:lnTo>
                      <a:pt x="156" y="86"/>
                    </a:lnTo>
                    <a:lnTo>
                      <a:pt x="156" y="84"/>
                    </a:lnTo>
                    <a:lnTo>
                      <a:pt x="156" y="82"/>
                    </a:lnTo>
                    <a:lnTo>
                      <a:pt x="178" y="75"/>
                    </a:lnTo>
                    <a:lnTo>
                      <a:pt x="170" y="52"/>
                    </a:lnTo>
                    <a:lnTo>
                      <a:pt x="148" y="59"/>
                    </a:lnTo>
                    <a:lnTo>
                      <a:pt x="148" y="58"/>
                    </a:lnTo>
                    <a:lnTo>
                      <a:pt x="147" y="56"/>
                    </a:lnTo>
                    <a:lnTo>
                      <a:pt x="145" y="54"/>
                    </a:lnTo>
                    <a:lnTo>
                      <a:pt x="144" y="53"/>
                    </a:lnTo>
                    <a:lnTo>
                      <a:pt x="143" y="51"/>
                    </a:lnTo>
                    <a:lnTo>
                      <a:pt x="142" y="50"/>
                    </a:lnTo>
                    <a:lnTo>
                      <a:pt x="141" y="48"/>
                    </a:lnTo>
                    <a:lnTo>
                      <a:pt x="140" y="47"/>
                    </a:lnTo>
                    <a:lnTo>
                      <a:pt x="139" y="46"/>
                    </a:lnTo>
                    <a:lnTo>
                      <a:pt x="137" y="45"/>
                    </a:lnTo>
                    <a:lnTo>
                      <a:pt x="151" y="24"/>
                    </a:lnTo>
                    <a:lnTo>
                      <a:pt x="133" y="10"/>
                    </a:lnTo>
                    <a:lnTo>
                      <a:pt x="119" y="30"/>
                    </a:lnTo>
                    <a:lnTo>
                      <a:pt x="117" y="28"/>
                    </a:lnTo>
                    <a:lnTo>
                      <a:pt x="115" y="27"/>
                    </a:lnTo>
                    <a:lnTo>
                      <a:pt x="113" y="27"/>
                    </a:lnTo>
                    <a:lnTo>
                      <a:pt x="111" y="26"/>
                    </a:lnTo>
                    <a:lnTo>
                      <a:pt x="110" y="25"/>
                    </a:lnTo>
                    <a:lnTo>
                      <a:pt x="108" y="25"/>
                    </a:lnTo>
                    <a:lnTo>
                      <a:pt x="107" y="25"/>
                    </a:lnTo>
                    <a:lnTo>
                      <a:pt x="105" y="24"/>
                    </a:lnTo>
                    <a:lnTo>
                      <a:pt x="103" y="23"/>
                    </a:lnTo>
                    <a:lnTo>
                      <a:pt x="101" y="23"/>
                    </a:lnTo>
                    <a:lnTo>
                      <a:pt x="101" y="0"/>
                    </a:lnTo>
                    <a:lnTo>
                      <a:pt x="77" y="0"/>
                    </a:lnTo>
                    <a:lnTo>
                      <a:pt x="77" y="23"/>
                    </a:lnTo>
                    <a:lnTo>
                      <a:pt x="75" y="23"/>
                    </a:lnTo>
                    <a:lnTo>
                      <a:pt x="74" y="24"/>
                    </a:lnTo>
                    <a:lnTo>
                      <a:pt x="72" y="25"/>
                    </a:lnTo>
                    <a:lnTo>
                      <a:pt x="71" y="25"/>
                    </a:lnTo>
                    <a:lnTo>
                      <a:pt x="69" y="25"/>
                    </a:lnTo>
                    <a:lnTo>
                      <a:pt x="66" y="26"/>
                    </a:lnTo>
                    <a:lnTo>
                      <a:pt x="64" y="27"/>
                    </a:lnTo>
                    <a:lnTo>
                      <a:pt x="63" y="27"/>
                    </a:lnTo>
                    <a:lnTo>
                      <a:pt x="62" y="28"/>
                    </a:lnTo>
                    <a:lnTo>
                      <a:pt x="60" y="30"/>
                    </a:lnTo>
                    <a:lnTo>
                      <a:pt x="46" y="10"/>
                    </a:lnTo>
                    <a:lnTo>
                      <a:pt x="27" y="24"/>
                    </a:lnTo>
                    <a:lnTo>
                      <a:pt x="41" y="45"/>
                    </a:lnTo>
                    <a:lnTo>
                      <a:pt x="39" y="46"/>
                    </a:lnTo>
                    <a:lnTo>
                      <a:pt x="38" y="47"/>
                    </a:lnTo>
                    <a:lnTo>
                      <a:pt x="36" y="49"/>
                    </a:lnTo>
                    <a:lnTo>
                      <a:pt x="35" y="50"/>
                    </a:lnTo>
                    <a:lnTo>
                      <a:pt x="34" y="51"/>
                    </a:lnTo>
                    <a:lnTo>
                      <a:pt x="34" y="53"/>
                    </a:lnTo>
                    <a:lnTo>
                      <a:pt x="32" y="54"/>
                    </a:lnTo>
                    <a:lnTo>
                      <a:pt x="31" y="56"/>
                    </a:lnTo>
                    <a:lnTo>
                      <a:pt x="31" y="58"/>
                    </a:lnTo>
                    <a:lnTo>
                      <a:pt x="30" y="59"/>
                    </a:lnTo>
                    <a:lnTo>
                      <a:pt x="9" y="52"/>
                    </a:lnTo>
                    <a:lnTo>
                      <a:pt x="0" y="75"/>
                    </a:lnTo>
                    <a:lnTo>
                      <a:pt x="23" y="82"/>
                    </a:lnTo>
                    <a:lnTo>
                      <a:pt x="23" y="84"/>
                    </a:lnTo>
                    <a:lnTo>
                      <a:pt x="23" y="86"/>
                    </a:lnTo>
                    <a:lnTo>
                      <a:pt x="22" y="86"/>
                    </a:lnTo>
                    <a:lnTo>
                      <a:pt x="22" y="87"/>
                    </a:lnTo>
                    <a:lnTo>
                      <a:pt x="22" y="88"/>
                    </a:lnTo>
                    <a:lnTo>
                      <a:pt x="22" y="89"/>
                    </a:lnTo>
                    <a:lnTo>
                      <a:pt x="22" y="90"/>
                    </a:lnTo>
                    <a:lnTo>
                      <a:pt x="22" y="92"/>
                    </a:lnTo>
                    <a:lnTo>
                      <a:pt x="22" y="93"/>
                    </a:lnTo>
                    <a:lnTo>
                      <a:pt x="22" y="94"/>
                    </a:lnTo>
                    <a:lnTo>
                      <a:pt x="22" y="95"/>
                    </a:lnTo>
                    <a:lnTo>
                      <a:pt x="22" y="96"/>
                    </a:lnTo>
                    <a:lnTo>
                      <a:pt x="22" y="97"/>
                    </a:lnTo>
                    <a:lnTo>
                      <a:pt x="22" y="98"/>
                    </a:lnTo>
                    <a:lnTo>
                      <a:pt x="23" y="99"/>
                    </a:lnTo>
                    <a:lnTo>
                      <a:pt x="23" y="100"/>
                    </a:lnTo>
                    <a:lnTo>
                      <a:pt x="23" y="101"/>
                    </a:lnTo>
                    <a:lnTo>
                      <a:pt x="23" y="102"/>
                    </a:lnTo>
                    <a:lnTo>
                      <a:pt x="0" y="109"/>
                    </a:lnTo>
                    <a:lnTo>
                      <a:pt x="9" y="132"/>
                    </a:lnTo>
                    <a:lnTo>
                      <a:pt x="30" y="126"/>
                    </a:lnTo>
                    <a:lnTo>
                      <a:pt x="31" y="127"/>
                    </a:lnTo>
                    <a:lnTo>
                      <a:pt x="31" y="128"/>
                    </a:lnTo>
                    <a:lnTo>
                      <a:pt x="32" y="130"/>
                    </a:lnTo>
                    <a:lnTo>
                      <a:pt x="34" y="132"/>
                    </a:lnTo>
                    <a:lnTo>
                      <a:pt x="34" y="133"/>
                    </a:lnTo>
                    <a:lnTo>
                      <a:pt x="35" y="134"/>
                    </a:lnTo>
                    <a:lnTo>
                      <a:pt x="36" y="136"/>
                    </a:lnTo>
                    <a:lnTo>
                      <a:pt x="38" y="137"/>
                    </a:lnTo>
                    <a:lnTo>
                      <a:pt x="39" y="140"/>
                    </a:lnTo>
                    <a:lnTo>
                      <a:pt x="41" y="141"/>
                    </a:lnTo>
                    <a:lnTo>
                      <a:pt x="27" y="160"/>
                    </a:lnTo>
                    <a:lnTo>
                      <a:pt x="46" y="174"/>
                    </a:lnTo>
                    <a:lnTo>
                      <a:pt x="60" y="155"/>
                    </a:lnTo>
                    <a:lnTo>
                      <a:pt x="62" y="156"/>
                    </a:lnTo>
                    <a:lnTo>
                      <a:pt x="63" y="157"/>
                    </a:lnTo>
                    <a:lnTo>
                      <a:pt x="64" y="158"/>
                    </a:lnTo>
                    <a:lnTo>
                      <a:pt x="66" y="158"/>
                    </a:lnTo>
                    <a:lnTo>
                      <a:pt x="69" y="159"/>
                    </a:lnTo>
                    <a:lnTo>
                      <a:pt x="71" y="159"/>
                    </a:lnTo>
                    <a:lnTo>
                      <a:pt x="72" y="160"/>
                    </a:lnTo>
                    <a:lnTo>
                      <a:pt x="74" y="160"/>
                    </a:lnTo>
                    <a:lnTo>
                      <a:pt x="75" y="161"/>
                    </a:lnTo>
                    <a:lnTo>
                      <a:pt x="77" y="161"/>
                    </a:lnTo>
                    <a:lnTo>
                      <a:pt x="77" y="184"/>
                    </a:lnTo>
                    <a:lnTo>
                      <a:pt x="101" y="184"/>
                    </a:lnTo>
                    <a:lnTo>
                      <a:pt x="101" y="161"/>
                    </a:lnTo>
                    <a:lnTo>
                      <a:pt x="103" y="161"/>
                    </a:lnTo>
                    <a:lnTo>
                      <a:pt x="105" y="160"/>
                    </a:lnTo>
                    <a:lnTo>
                      <a:pt x="107" y="160"/>
                    </a:lnTo>
                    <a:lnTo>
                      <a:pt x="108" y="159"/>
                    </a:lnTo>
                    <a:lnTo>
                      <a:pt x="110" y="159"/>
                    </a:lnTo>
                    <a:lnTo>
                      <a:pt x="111" y="158"/>
                    </a:lnTo>
                    <a:lnTo>
                      <a:pt x="113" y="158"/>
                    </a:lnTo>
                    <a:lnTo>
                      <a:pt x="115" y="157"/>
                    </a:lnTo>
                    <a:lnTo>
                      <a:pt x="117" y="156"/>
                    </a:lnTo>
                    <a:lnTo>
                      <a:pt x="119" y="155"/>
                    </a:lnTo>
                    <a:lnTo>
                      <a:pt x="133" y="174"/>
                    </a:lnTo>
                    <a:lnTo>
                      <a:pt x="151" y="160"/>
                    </a:lnTo>
                    <a:lnTo>
                      <a:pt x="137" y="141"/>
                    </a:lnTo>
                    <a:lnTo>
                      <a:pt x="139" y="140"/>
                    </a:lnTo>
                    <a:lnTo>
                      <a:pt x="140" y="137"/>
                    </a:lnTo>
                    <a:lnTo>
                      <a:pt x="141" y="136"/>
                    </a:lnTo>
                    <a:lnTo>
                      <a:pt x="142" y="134"/>
                    </a:lnTo>
                    <a:lnTo>
                      <a:pt x="143" y="133"/>
                    </a:lnTo>
                    <a:lnTo>
                      <a:pt x="144" y="131"/>
                    </a:lnTo>
                    <a:lnTo>
                      <a:pt x="145" y="130"/>
                    </a:lnTo>
                    <a:lnTo>
                      <a:pt x="147" y="128"/>
                    </a:lnTo>
                    <a:lnTo>
                      <a:pt x="148" y="127"/>
                    </a:lnTo>
                    <a:lnTo>
                      <a:pt x="148" y="126"/>
                    </a:lnTo>
                    <a:lnTo>
                      <a:pt x="170" y="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42" name="Freeform 1102"/>
              <p:cNvSpPr>
                <a:spLocks/>
              </p:cNvSpPr>
              <p:nvPr/>
            </p:nvSpPr>
            <p:spPr bwMode="auto">
              <a:xfrm>
                <a:off x="2545" y="3207"/>
                <a:ext cx="72" cy="76"/>
              </a:xfrm>
              <a:custGeom>
                <a:avLst/>
                <a:gdLst>
                  <a:gd name="T0" fmla="*/ 0 w 72"/>
                  <a:gd name="T1" fmla="*/ 37 h 76"/>
                  <a:gd name="T2" fmla="*/ 0 w 72"/>
                  <a:gd name="T3" fmla="*/ 32 h 76"/>
                  <a:gd name="T4" fmla="*/ 2 w 72"/>
                  <a:gd name="T5" fmla="*/ 27 h 76"/>
                  <a:gd name="T6" fmla="*/ 4 w 72"/>
                  <a:gd name="T7" fmla="*/ 20 h 76"/>
                  <a:gd name="T8" fmla="*/ 6 w 72"/>
                  <a:gd name="T9" fmla="*/ 16 h 76"/>
                  <a:gd name="T10" fmla="*/ 10 w 72"/>
                  <a:gd name="T11" fmla="*/ 11 h 76"/>
                  <a:gd name="T12" fmla="*/ 15 w 72"/>
                  <a:gd name="T13" fmla="*/ 7 h 76"/>
                  <a:gd name="T14" fmla="*/ 20 w 72"/>
                  <a:gd name="T15" fmla="*/ 4 h 76"/>
                  <a:gd name="T16" fmla="*/ 25 w 72"/>
                  <a:gd name="T17" fmla="*/ 2 h 76"/>
                  <a:gd name="T18" fmla="*/ 31 w 72"/>
                  <a:gd name="T19" fmla="*/ 0 h 76"/>
                  <a:gd name="T20" fmla="*/ 36 w 72"/>
                  <a:gd name="T21" fmla="*/ 0 h 76"/>
                  <a:gd name="T22" fmla="*/ 42 w 72"/>
                  <a:gd name="T23" fmla="*/ 0 h 76"/>
                  <a:gd name="T24" fmla="*/ 48 w 72"/>
                  <a:gd name="T25" fmla="*/ 2 h 76"/>
                  <a:gd name="T26" fmla="*/ 53 w 72"/>
                  <a:gd name="T27" fmla="*/ 4 h 76"/>
                  <a:gd name="T28" fmla="*/ 57 w 72"/>
                  <a:gd name="T29" fmla="*/ 7 h 76"/>
                  <a:gd name="T30" fmla="*/ 62 w 72"/>
                  <a:gd name="T31" fmla="*/ 11 h 76"/>
                  <a:gd name="T32" fmla="*/ 66 w 72"/>
                  <a:gd name="T33" fmla="*/ 16 h 76"/>
                  <a:gd name="T34" fmla="*/ 68 w 72"/>
                  <a:gd name="T35" fmla="*/ 20 h 76"/>
                  <a:gd name="T36" fmla="*/ 70 w 72"/>
                  <a:gd name="T37" fmla="*/ 27 h 76"/>
                  <a:gd name="T38" fmla="*/ 72 w 72"/>
                  <a:gd name="T39" fmla="*/ 32 h 76"/>
                  <a:gd name="T40" fmla="*/ 72 w 72"/>
                  <a:gd name="T41" fmla="*/ 37 h 76"/>
                  <a:gd name="T42" fmla="*/ 72 w 72"/>
                  <a:gd name="T43" fmla="*/ 44 h 76"/>
                  <a:gd name="T44" fmla="*/ 70 w 72"/>
                  <a:gd name="T45" fmla="*/ 50 h 76"/>
                  <a:gd name="T46" fmla="*/ 68 w 72"/>
                  <a:gd name="T47" fmla="*/ 55 h 76"/>
                  <a:gd name="T48" fmla="*/ 66 w 72"/>
                  <a:gd name="T49" fmla="*/ 60 h 76"/>
                  <a:gd name="T50" fmla="*/ 62 w 72"/>
                  <a:gd name="T51" fmla="*/ 65 h 76"/>
                  <a:gd name="T52" fmla="*/ 57 w 72"/>
                  <a:gd name="T53" fmla="*/ 69 h 76"/>
                  <a:gd name="T54" fmla="*/ 53 w 72"/>
                  <a:gd name="T55" fmla="*/ 72 h 76"/>
                  <a:gd name="T56" fmla="*/ 48 w 72"/>
                  <a:gd name="T57" fmla="*/ 74 h 76"/>
                  <a:gd name="T58" fmla="*/ 42 w 72"/>
                  <a:gd name="T59" fmla="*/ 76 h 76"/>
                  <a:gd name="T60" fmla="*/ 36 w 72"/>
                  <a:gd name="T61" fmla="*/ 76 h 76"/>
                  <a:gd name="T62" fmla="*/ 31 w 72"/>
                  <a:gd name="T63" fmla="*/ 76 h 76"/>
                  <a:gd name="T64" fmla="*/ 25 w 72"/>
                  <a:gd name="T65" fmla="*/ 74 h 76"/>
                  <a:gd name="T66" fmla="*/ 20 w 72"/>
                  <a:gd name="T67" fmla="*/ 72 h 76"/>
                  <a:gd name="T68" fmla="*/ 15 w 72"/>
                  <a:gd name="T69" fmla="*/ 69 h 76"/>
                  <a:gd name="T70" fmla="*/ 10 w 72"/>
                  <a:gd name="T71" fmla="*/ 65 h 76"/>
                  <a:gd name="T72" fmla="*/ 6 w 72"/>
                  <a:gd name="T73" fmla="*/ 60 h 76"/>
                  <a:gd name="T74" fmla="*/ 4 w 72"/>
                  <a:gd name="T75" fmla="*/ 55 h 76"/>
                  <a:gd name="T76" fmla="*/ 2 w 72"/>
                  <a:gd name="T77" fmla="*/ 50 h 76"/>
                  <a:gd name="T78" fmla="*/ 0 w 72"/>
                  <a:gd name="T79" fmla="*/ 44 h 76"/>
                  <a:gd name="T80" fmla="*/ 0 w 72"/>
                  <a:gd name="T81" fmla="*/ 37 h 76"/>
                  <a:gd name="T82" fmla="*/ 0 w 72"/>
                  <a:gd name="T83" fmla="*/ 37 h 7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72"/>
                  <a:gd name="T127" fmla="*/ 0 h 76"/>
                  <a:gd name="T128" fmla="*/ 72 w 72"/>
                  <a:gd name="T129" fmla="*/ 76 h 7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72" h="76">
                    <a:moveTo>
                      <a:pt x="0" y="37"/>
                    </a:moveTo>
                    <a:lnTo>
                      <a:pt x="0" y="32"/>
                    </a:lnTo>
                    <a:lnTo>
                      <a:pt x="2" y="27"/>
                    </a:lnTo>
                    <a:lnTo>
                      <a:pt x="4" y="20"/>
                    </a:lnTo>
                    <a:lnTo>
                      <a:pt x="6" y="16"/>
                    </a:lnTo>
                    <a:lnTo>
                      <a:pt x="10" y="11"/>
                    </a:lnTo>
                    <a:lnTo>
                      <a:pt x="15" y="7"/>
                    </a:lnTo>
                    <a:lnTo>
                      <a:pt x="20" y="4"/>
                    </a:lnTo>
                    <a:lnTo>
                      <a:pt x="25" y="2"/>
                    </a:lnTo>
                    <a:lnTo>
                      <a:pt x="31" y="0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48" y="2"/>
                    </a:lnTo>
                    <a:lnTo>
                      <a:pt x="53" y="4"/>
                    </a:lnTo>
                    <a:lnTo>
                      <a:pt x="57" y="7"/>
                    </a:lnTo>
                    <a:lnTo>
                      <a:pt x="62" y="11"/>
                    </a:lnTo>
                    <a:lnTo>
                      <a:pt x="66" y="16"/>
                    </a:lnTo>
                    <a:lnTo>
                      <a:pt x="68" y="20"/>
                    </a:lnTo>
                    <a:lnTo>
                      <a:pt x="70" y="27"/>
                    </a:lnTo>
                    <a:lnTo>
                      <a:pt x="72" y="32"/>
                    </a:lnTo>
                    <a:lnTo>
                      <a:pt x="72" y="37"/>
                    </a:lnTo>
                    <a:lnTo>
                      <a:pt x="72" y="44"/>
                    </a:lnTo>
                    <a:lnTo>
                      <a:pt x="70" y="50"/>
                    </a:lnTo>
                    <a:lnTo>
                      <a:pt x="68" y="55"/>
                    </a:lnTo>
                    <a:lnTo>
                      <a:pt x="66" y="60"/>
                    </a:lnTo>
                    <a:lnTo>
                      <a:pt x="62" y="65"/>
                    </a:lnTo>
                    <a:lnTo>
                      <a:pt x="57" y="69"/>
                    </a:lnTo>
                    <a:lnTo>
                      <a:pt x="53" y="72"/>
                    </a:lnTo>
                    <a:lnTo>
                      <a:pt x="48" y="74"/>
                    </a:lnTo>
                    <a:lnTo>
                      <a:pt x="42" y="76"/>
                    </a:lnTo>
                    <a:lnTo>
                      <a:pt x="36" y="76"/>
                    </a:lnTo>
                    <a:lnTo>
                      <a:pt x="31" y="76"/>
                    </a:lnTo>
                    <a:lnTo>
                      <a:pt x="25" y="74"/>
                    </a:lnTo>
                    <a:lnTo>
                      <a:pt x="20" y="72"/>
                    </a:lnTo>
                    <a:lnTo>
                      <a:pt x="15" y="69"/>
                    </a:lnTo>
                    <a:lnTo>
                      <a:pt x="10" y="65"/>
                    </a:lnTo>
                    <a:lnTo>
                      <a:pt x="6" y="60"/>
                    </a:lnTo>
                    <a:lnTo>
                      <a:pt x="4" y="55"/>
                    </a:lnTo>
                    <a:lnTo>
                      <a:pt x="2" y="50"/>
                    </a:lnTo>
                    <a:lnTo>
                      <a:pt x="0" y="44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43" name="Freeform 1103"/>
              <p:cNvSpPr>
                <a:spLocks/>
              </p:cNvSpPr>
              <p:nvPr/>
            </p:nvSpPr>
            <p:spPr bwMode="auto">
              <a:xfrm>
                <a:off x="2698" y="3288"/>
                <a:ext cx="72" cy="76"/>
              </a:xfrm>
              <a:custGeom>
                <a:avLst/>
                <a:gdLst>
                  <a:gd name="T0" fmla="*/ 0 w 72"/>
                  <a:gd name="T1" fmla="*/ 38 h 76"/>
                  <a:gd name="T2" fmla="*/ 1 w 72"/>
                  <a:gd name="T3" fmla="*/ 32 h 76"/>
                  <a:gd name="T4" fmla="*/ 2 w 72"/>
                  <a:gd name="T5" fmla="*/ 26 h 76"/>
                  <a:gd name="T6" fmla="*/ 4 w 72"/>
                  <a:gd name="T7" fmla="*/ 20 h 76"/>
                  <a:gd name="T8" fmla="*/ 7 w 72"/>
                  <a:gd name="T9" fmla="*/ 16 h 76"/>
                  <a:gd name="T10" fmla="*/ 10 w 72"/>
                  <a:gd name="T11" fmla="*/ 11 h 76"/>
                  <a:gd name="T12" fmla="*/ 14 w 72"/>
                  <a:gd name="T13" fmla="*/ 7 h 76"/>
                  <a:gd name="T14" fmla="*/ 20 w 72"/>
                  <a:gd name="T15" fmla="*/ 4 h 76"/>
                  <a:gd name="T16" fmla="*/ 25 w 72"/>
                  <a:gd name="T17" fmla="*/ 2 h 76"/>
                  <a:gd name="T18" fmla="*/ 31 w 72"/>
                  <a:gd name="T19" fmla="*/ 0 h 76"/>
                  <a:gd name="T20" fmla="*/ 36 w 72"/>
                  <a:gd name="T21" fmla="*/ 0 h 76"/>
                  <a:gd name="T22" fmla="*/ 42 w 72"/>
                  <a:gd name="T23" fmla="*/ 0 h 76"/>
                  <a:gd name="T24" fmla="*/ 48 w 72"/>
                  <a:gd name="T25" fmla="*/ 2 h 76"/>
                  <a:gd name="T26" fmla="*/ 53 w 72"/>
                  <a:gd name="T27" fmla="*/ 4 h 76"/>
                  <a:gd name="T28" fmla="*/ 57 w 72"/>
                  <a:gd name="T29" fmla="*/ 7 h 76"/>
                  <a:gd name="T30" fmla="*/ 62 w 72"/>
                  <a:gd name="T31" fmla="*/ 11 h 76"/>
                  <a:gd name="T32" fmla="*/ 66 w 72"/>
                  <a:gd name="T33" fmla="*/ 16 h 76"/>
                  <a:gd name="T34" fmla="*/ 68 w 72"/>
                  <a:gd name="T35" fmla="*/ 20 h 76"/>
                  <a:gd name="T36" fmla="*/ 70 w 72"/>
                  <a:gd name="T37" fmla="*/ 26 h 76"/>
                  <a:gd name="T38" fmla="*/ 72 w 72"/>
                  <a:gd name="T39" fmla="*/ 32 h 76"/>
                  <a:gd name="T40" fmla="*/ 72 w 72"/>
                  <a:gd name="T41" fmla="*/ 38 h 76"/>
                  <a:gd name="T42" fmla="*/ 72 w 72"/>
                  <a:gd name="T43" fmla="*/ 45 h 76"/>
                  <a:gd name="T44" fmla="*/ 70 w 72"/>
                  <a:gd name="T45" fmla="*/ 50 h 76"/>
                  <a:gd name="T46" fmla="*/ 68 w 72"/>
                  <a:gd name="T47" fmla="*/ 56 h 76"/>
                  <a:gd name="T48" fmla="*/ 66 w 72"/>
                  <a:gd name="T49" fmla="*/ 60 h 76"/>
                  <a:gd name="T50" fmla="*/ 62 w 72"/>
                  <a:gd name="T51" fmla="*/ 65 h 76"/>
                  <a:gd name="T52" fmla="*/ 57 w 72"/>
                  <a:gd name="T53" fmla="*/ 68 h 76"/>
                  <a:gd name="T54" fmla="*/ 53 w 72"/>
                  <a:gd name="T55" fmla="*/ 72 h 76"/>
                  <a:gd name="T56" fmla="*/ 48 w 72"/>
                  <a:gd name="T57" fmla="*/ 74 h 76"/>
                  <a:gd name="T58" fmla="*/ 42 w 72"/>
                  <a:gd name="T59" fmla="*/ 76 h 76"/>
                  <a:gd name="T60" fmla="*/ 36 w 72"/>
                  <a:gd name="T61" fmla="*/ 76 h 76"/>
                  <a:gd name="T62" fmla="*/ 31 w 72"/>
                  <a:gd name="T63" fmla="*/ 76 h 76"/>
                  <a:gd name="T64" fmla="*/ 25 w 72"/>
                  <a:gd name="T65" fmla="*/ 74 h 76"/>
                  <a:gd name="T66" fmla="*/ 20 w 72"/>
                  <a:gd name="T67" fmla="*/ 72 h 76"/>
                  <a:gd name="T68" fmla="*/ 14 w 72"/>
                  <a:gd name="T69" fmla="*/ 68 h 76"/>
                  <a:gd name="T70" fmla="*/ 10 w 72"/>
                  <a:gd name="T71" fmla="*/ 65 h 76"/>
                  <a:gd name="T72" fmla="*/ 7 w 72"/>
                  <a:gd name="T73" fmla="*/ 60 h 76"/>
                  <a:gd name="T74" fmla="*/ 4 w 72"/>
                  <a:gd name="T75" fmla="*/ 56 h 76"/>
                  <a:gd name="T76" fmla="*/ 2 w 72"/>
                  <a:gd name="T77" fmla="*/ 50 h 76"/>
                  <a:gd name="T78" fmla="*/ 1 w 72"/>
                  <a:gd name="T79" fmla="*/ 45 h 76"/>
                  <a:gd name="T80" fmla="*/ 0 w 72"/>
                  <a:gd name="T81" fmla="*/ 38 h 76"/>
                  <a:gd name="T82" fmla="*/ 0 w 72"/>
                  <a:gd name="T83" fmla="*/ 38 h 7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72"/>
                  <a:gd name="T127" fmla="*/ 0 h 76"/>
                  <a:gd name="T128" fmla="*/ 72 w 72"/>
                  <a:gd name="T129" fmla="*/ 76 h 7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72" h="76">
                    <a:moveTo>
                      <a:pt x="0" y="38"/>
                    </a:moveTo>
                    <a:lnTo>
                      <a:pt x="1" y="32"/>
                    </a:lnTo>
                    <a:lnTo>
                      <a:pt x="2" y="26"/>
                    </a:lnTo>
                    <a:lnTo>
                      <a:pt x="4" y="20"/>
                    </a:lnTo>
                    <a:lnTo>
                      <a:pt x="7" y="16"/>
                    </a:lnTo>
                    <a:lnTo>
                      <a:pt x="10" y="11"/>
                    </a:lnTo>
                    <a:lnTo>
                      <a:pt x="14" y="7"/>
                    </a:lnTo>
                    <a:lnTo>
                      <a:pt x="20" y="4"/>
                    </a:lnTo>
                    <a:lnTo>
                      <a:pt x="25" y="2"/>
                    </a:lnTo>
                    <a:lnTo>
                      <a:pt x="31" y="0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48" y="2"/>
                    </a:lnTo>
                    <a:lnTo>
                      <a:pt x="53" y="4"/>
                    </a:lnTo>
                    <a:lnTo>
                      <a:pt x="57" y="7"/>
                    </a:lnTo>
                    <a:lnTo>
                      <a:pt x="62" y="11"/>
                    </a:lnTo>
                    <a:lnTo>
                      <a:pt x="66" y="16"/>
                    </a:lnTo>
                    <a:lnTo>
                      <a:pt x="68" y="20"/>
                    </a:lnTo>
                    <a:lnTo>
                      <a:pt x="70" y="26"/>
                    </a:lnTo>
                    <a:lnTo>
                      <a:pt x="72" y="32"/>
                    </a:lnTo>
                    <a:lnTo>
                      <a:pt x="72" y="38"/>
                    </a:lnTo>
                    <a:lnTo>
                      <a:pt x="72" y="45"/>
                    </a:lnTo>
                    <a:lnTo>
                      <a:pt x="70" y="50"/>
                    </a:lnTo>
                    <a:lnTo>
                      <a:pt x="68" y="56"/>
                    </a:lnTo>
                    <a:lnTo>
                      <a:pt x="66" y="60"/>
                    </a:lnTo>
                    <a:lnTo>
                      <a:pt x="62" y="65"/>
                    </a:lnTo>
                    <a:lnTo>
                      <a:pt x="57" y="68"/>
                    </a:lnTo>
                    <a:lnTo>
                      <a:pt x="53" y="72"/>
                    </a:lnTo>
                    <a:lnTo>
                      <a:pt x="48" y="74"/>
                    </a:lnTo>
                    <a:lnTo>
                      <a:pt x="42" y="76"/>
                    </a:lnTo>
                    <a:lnTo>
                      <a:pt x="36" y="76"/>
                    </a:lnTo>
                    <a:lnTo>
                      <a:pt x="31" y="76"/>
                    </a:lnTo>
                    <a:lnTo>
                      <a:pt x="25" y="74"/>
                    </a:lnTo>
                    <a:lnTo>
                      <a:pt x="20" y="72"/>
                    </a:lnTo>
                    <a:lnTo>
                      <a:pt x="14" y="68"/>
                    </a:lnTo>
                    <a:lnTo>
                      <a:pt x="10" y="65"/>
                    </a:lnTo>
                    <a:lnTo>
                      <a:pt x="7" y="60"/>
                    </a:lnTo>
                    <a:lnTo>
                      <a:pt x="4" y="56"/>
                    </a:lnTo>
                    <a:lnTo>
                      <a:pt x="2" y="50"/>
                    </a:lnTo>
                    <a:lnTo>
                      <a:pt x="1" y="45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2322" name="Rectangle 1104"/>
            <p:cNvSpPr>
              <a:spLocks noChangeArrowheads="1"/>
            </p:cNvSpPr>
            <p:nvPr/>
          </p:nvSpPr>
          <p:spPr bwMode="auto">
            <a:xfrm>
              <a:off x="2780" y="4010"/>
              <a:ext cx="595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Work In Progress</a:t>
              </a:r>
              <a:endParaRPr lang="en-US" sz="1000" b="0">
                <a:latin typeface="Times New Roman" pitchFamily="18" charset="0"/>
              </a:endParaRPr>
            </a:p>
          </p:txBody>
        </p:sp>
        <p:grpSp>
          <p:nvGrpSpPr>
            <p:cNvPr id="12323" name="Group 1105"/>
            <p:cNvGrpSpPr>
              <a:grpSpLocks/>
            </p:cNvGrpSpPr>
            <p:nvPr/>
          </p:nvGrpSpPr>
          <p:grpSpPr bwMode="auto">
            <a:xfrm>
              <a:off x="3434" y="3698"/>
              <a:ext cx="304" cy="261"/>
              <a:chOff x="3034" y="3151"/>
              <a:chExt cx="294" cy="277"/>
            </a:xfrm>
          </p:grpSpPr>
          <p:sp>
            <p:nvSpPr>
              <p:cNvPr id="12329" name="Freeform 1106"/>
              <p:cNvSpPr>
                <a:spLocks/>
              </p:cNvSpPr>
              <p:nvPr/>
            </p:nvSpPr>
            <p:spPr bwMode="auto">
              <a:xfrm>
                <a:off x="3041" y="3155"/>
                <a:ext cx="274" cy="273"/>
              </a:xfrm>
              <a:custGeom>
                <a:avLst/>
                <a:gdLst>
                  <a:gd name="T0" fmla="*/ 219 w 274"/>
                  <a:gd name="T1" fmla="*/ 273 h 273"/>
                  <a:gd name="T2" fmla="*/ 228 w 274"/>
                  <a:gd name="T3" fmla="*/ 273 h 273"/>
                  <a:gd name="T4" fmla="*/ 237 w 274"/>
                  <a:gd name="T5" fmla="*/ 271 h 273"/>
                  <a:gd name="T6" fmla="*/ 245 w 274"/>
                  <a:gd name="T7" fmla="*/ 267 h 273"/>
                  <a:gd name="T8" fmla="*/ 252 w 274"/>
                  <a:gd name="T9" fmla="*/ 262 h 273"/>
                  <a:gd name="T10" fmla="*/ 258 w 274"/>
                  <a:gd name="T11" fmla="*/ 257 h 273"/>
                  <a:gd name="T12" fmla="*/ 263 w 274"/>
                  <a:gd name="T13" fmla="*/ 251 h 273"/>
                  <a:gd name="T14" fmla="*/ 269 w 274"/>
                  <a:gd name="T15" fmla="*/ 243 h 273"/>
                  <a:gd name="T16" fmla="*/ 271 w 274"/>
                  <a:gd name="T17" fmla="*/ 236 h 273"/>
                  <a:gd name="T18" fmla="*/ 274 w 274"/>
                  <a:gd name="T19" fmla="*/ 227 h 273"/>
                  <a:gd name="T20" fmla="*/ 274 w 274"/>
                  <a:gd name="T21" fmla="*/ 219 h 273"/>
                  <a:gd name="T22" fmla="*/ 274 w 274"/>
                  <a:gd name="T23" fmla="*/ 54 h 273"/>
                  <a:gd name="T24" fmla="*/ 274 w 274"/>
                  <a:gd name="T25" fmla="*/ 46 h 273"/>
                  <a:gd name="T26" fmla="*/ 271 w 274"/>
                  <a:gd name="T27" fmla="*/ 37 h 273"/>
                  <a:gd name="T28" fmla="*/ 269 w 274"/>
                  <a:gd name="T29" fmla="*/ 29 h 273"/>
                  <a:gd name="T30" fmla="*/ 263 w 274"/>
                  <a:gd name="T31" fmla="*/ 22 h 273"/>
                  <a:gd name="T32" fmla="*/ 258 w 274"/>
                  <a:gd name="T33" fmla="*/ 16 h 273"/>
                  <a:gd name="T34" fmla="*/ 252 w 274"/>
                  <a:gd name="T35" fmla="*/ 10 h 273"/>
                  <a:gd name="T36" fmla="*/ 245 w 274"/>
                  <a:gd name="T37" fmla="*/ 6 h 273"/>
                  <a:gd name="T38" fmla="*/ 237 w 274"/>
                  <a:gd name="T39" fmla="*/ 2 h 273"/>
                  <a:gd name="T40" fmla="*/ 228 w 274"/>
                  <a:gd name="T41" fmla="*/ 0 h 273"/>
                  <a:gd name="T42" fmla="*/ 220 w 274"/>
                  <a:gd name="T43" fmla="*/ 0 h 273"/>
                  <a:gd name="T44" fmla="*/ 55 w 274"/>
                  <a:gd name="T45" fmla="*/ 0 h 273"/>
                  <a:gd name="T46" fmla="*/ 46 w 274"/>
                  <a:gd name="T47" fmla="*/ 0 h 273"/>
                  <a:gd name="T48" fmla="*/ 37 w 274"/>
                  <a:gd name="T49" fmla="*/ 2 h 273"/>
                  <a:gd name="T50" fmla="*/ 29 w 274"/>
                  <a:gd name="T51" fmla="*/ 6 h 273"/>
                  <a:gd name="T52" fmla="*/ 22 w 274"/>
                  <a:gd name="T53" fmla="*/ 10 h 273"/>
                  <a:gd name="T54" fmla="*/ 17 w 274"/>
                  <a:gd name="T55" fmla="*/ 16 h 273"/>
                  <a:gd name="T56" fmla="*/ 10 w 274"/>
                  <a:gd name="T57" fmla="*/ 22 h 273"/>
                  <a:gd name="T58" fmla="*/ 6 w 274"/>
                  <a:gd name="T59" fmla="*/ 29 h 273"/>
                  <a:gd name="T60" fmla="*/ 2 w 274"/>
                  <a:gd name="T61" fmla="*/ 37 h 273"/>
                  <a:gd name="T62" fmla="*/ 1 w 274"/>
                  <a:gd name="T63" fmla="*/ 46 h 273"/>
                  <a:gd name="T64" fmla="*/ 0 w 274"/>
                  <a:gd name="T65" fmla="*/ 54 h 273"/>
                  <a:gd name="T66" fmla="*/ 0 w 274"/>
                  <a:gd name="T67" fmla="*/ 219 h 273"/>
                  <a:gd name="T68" fmla="*/ 1 w 274"/>
                  <a:gd name="T69" fmla="*/ 227 h 273"/>
                  <a:gd name="T70" fmla="*/ 2 w 274"/>
                  <a:gd name="T71" fmla="*/ 236 h 273"/>
                  <a:gd name="T72" fmla="*/ 6 w 274"/>
                  <a:gd name="T73" fmla="*/ 243 h 273"/>
                  <a:gd name="T74" fmla="*/ 10 w 274"/>
                  <a:gd name="T75" fmla="*/ 251 h 273"/>
                  <a:gd name="T76" fmla="*/ 17 w 274"/>
                  <a:gd name="T77" fmla="*/ 257 h 273"/>
                  <a:gd name="T78" fmla="*/ 22 w 274"/>
                  <a:gd name="T79" fmla="*/ 262 h 273"/>
                  <a:gd name="T80" fmla="*/ 29 w 274"/>
                  <a:gd name="T81" fmla="*/ 267 h 273"/>
                  <a:gd name="T82" fmla="*/ 37 w 274"/>
                  <a:gd name="T83" fmla="*/ 271 h 273"/>
                  <a:gd name="T84" fmla="*/ 46 w 274"/>
                  <a:gd name="T85" fmla="*/ 273 h 273"/>
                  <a:gd name="T86" fmla="*/ 55 w 274"/>
                  <a:gd name="T87" fmla="*/ 273 h 273"/>
                  <a:gd name="T88" fmla="*/ 220 w 274"/>
                  <a:gd name="T89" fmla="*/ 273 h 273"/>
                  <a:gd name="T90" fmla="*/ 219 w 274"/>
                  <a:gd name="T91" fmla="*/ 273 h 273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274"/>
                  <a:gd name="T139" fmla="*/ 0 h 273"/>
                  <a:gd name="T140" fmla="*/ 274 w 274"/>
                  <a:gd name="T141" fmla="*/ 273 h 273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274" h="273">
                    <a:moveTo>
                      <a:pt x="219" y="273"/>
                    </a:moveTo>
                    <a:lnTo>
                      <a:pt x="228" y="273"/>
                    </a:lnTo>
                    <a:lnTo>
                      <a:pt x="237" y="271"/>
                    </a:lnTo>
                    <a:lnTo>
                      <a:pt x="245" y="267"/>
                    </a:lnTo>
                    <a:lnTo>
                      <a:pt x="252" y="262"/>
                    </a:lnTo>
                    <a:lnTo>
                      <a:pt x="258" y="257"/>
                    </a:lnTo>
                    <a:lnTo>
                      <a:pt x="263" y="251"/>
                    </a:lnTo>
                    <a:lnTo>
                      <a:pt x="269" y="243"/>
                    </a:lnTo>
                    <a:lnTo>
                      <a:pt x="271" y="236"/>
                    </a:lnTo>
                    <a:lnTo>
                      <a:pt x="274" y="227"/>
                    </a:lnTo>
                    <a:lnTo>
                      <a:pt x="274" y="219"/>
                    </a:lnTo>
                    <a:lnTo>
                      <a:pt x="274" y="54"/>
                    </a:lnTo>
                    <a:lnTo>
                      <a:pt x="274" y="46"/>
                    </a:lnTo>
                    <a:lnTo>
                      <a:pt x="271" y="37"/>
                    </a:lnTo>
                    <a:lnTo>
                      <a:pt x="269" y="29"/>
                    </a:lnTo>
                    <a:lnTo>
                      <a:pt x="263" y="22"/>
                    </a:lnTo>
                    <a:lnTo>
                      <a:pt x="258" y="16"/>
                    </a:lnTo>
                    <a:lnTo>
                      <a:pt x="252" y="10"/>
                    </a:lnTo>
                    <a:lnTo>
                      <a:pt x="245" y="6"/>
                    </a:lnTo>
                    <a:lnTo>
                      <a:pt x="237" y="2"/>
                    </a:lnTo>
                    <a:lnTo>
                      <a:pt x="228" y="0"/>
                    </a:lnTo>
                    <a:lnTo>
                      <a:pt x="220" y="0"/>
                    </a:lnTo>
                    <a:lnTo>
                      <a:pt x="55" y="0"/>
                    </a:lnTo>
                    <a:lnTo>
                      <a:pt x="46" y="0"/>
                    </a:lnTo>
                    <a:lnTo>
                      <a:pt x="37" y="2"/>
                    </a:lnTo>
                    <a:lnTo>
                      <a:pt x="29" y="6"/>
                    </a:lnTo>
                    <a:lnTo>
                      <a:pt x="22" y="10"/>
                    </a:lnTo>
                    <a:lnTo>
                      <a:pt x="17" y="16"/>
                    </a:lnTo>
                    <a:lnTo>
                      <a:pt x="10" y="22"/>
                    </a:lnTo>
                    <a:lnTo>
                      <a:pt x="6" y="29"/>
                    </a:lnTo>
                    <a:lnTo>
                      <a:pt x="2" y="37"/>
                    </a:lnTo>
                    <a:lnTo>
                      <a:pt x="1" y="46"/>
                    </a:lnTo>
                    <a:lnTo>
                      <a:pt x="0" y="54"/>
                    </a:lnTo>
                    <a:lnTo>
                      <a:pt x="0" y="219"/>
                    </a:lnTo>
                    <a:lnTo>
                      <a:pt x="1" y="227"/>
                    </a:lnTo>
                    <a:lnTo>
                      <a:pt x="2" y="236"/>
                    </a:lnTo>
                    <a:lnTo>
                      <a:pt x="6" y="243"/>
                    </a:lnTo>
                    <a:lnTo>
                      <a:pt x="10" y="251"/>
                    </a:lnTo>
                    <a:lnTo>
                      <a:pt x="17" y="257"/>
                    </a:lnTo>
                    <a:lnTo>
                      <a:pt x="22" y="262"/>
                    </a:lnTo>
                    <a:lnTo>
                      <a:pt x="29" y="267"/>
                    </a:lnTo>
                    <a:lnTo>
                      <a:pt x="37" y="271"/>
                    </a:lnTo>
                    <a:lnTo>
                      <a:pt x="46" y="273"/>
                    </a:lnTo>
                    <a:lnTo>
                      <a:pt x="55" y="273"/>
                    </a:lnTo>
                    <a:lnTo>
                      <a:pt x="220" y="273"/>
                    </a:lnTo>
                    <a:lnTo>
                      <a:pt x="219" y="27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30" name="Line 1107"/>
              <p:cNvSpPr>
                <a:spLocks noChangeShapeType="1"/>
              </p:cNvSpPr>
              <p:nvPr/>
            </p:nvSpPr>
            <p:spPr bwMode="auto">
              <a:xfrm>
                <a:off x="3034" y="3180"/>
                <a:ext cx="294" cy="1"/>
              </a:xfrm>
              <a:prstGeom prst="line">
                <a:avLst/>
              </a:prstGeom>
              <a:noFill/>
              <a:ln w="7938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31" name="Line 1108"/>
              <p:cNvSpPr>
                <a:spLocks noChangeShapeType="1"/>
              </p:cNvSpPr>
              <p:nvPr/>
            </p:nvSpPr>
            <p:spPr bwMode="auto">
              <a:xfrm>
                <a:off x="3034" y="3254"/>
                <a:ext cx="294" cy="1"/>
              </a:xfrm>
              <a:prstGeom prst="line">
                <a:avLst/>
              </a:prstGeom>
              <a:noFill/>
              <a:ln w="7938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32" name="Line 1109"/>
              <p:cNvSpPr>
                <a:spLocks noChangeShapeType="1"/>
              </p:cNvSpPr>
              <p:nvPr/>
            </p:nvSpPr>
            <p:spPr bwMode="auto">
              <a:xfrm>
                <a:off x="3034" y="3328"/>
                <a:ext cx="294" cy="1"/>
              </a:xfrm>
              <a:prstGeom prst="line">
                <a:avLst/>
              </a:prstGeom>
              <a:noFill/>
              <a:ln w="7938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33" name="Line 1110"/>
              <p:cNvSpPr>
                <a:spLocks noChangeShapeType="1"/>
              </p:cNvSpPr>
              <p:nvPr/>
            </p:nvSpPr>
            <p:spPr bwMode="auto">
              <a:xfrm>
                <a:off x="3034" y="3401"/>
                <a:ext cx="294" cy="1"/>
              </a:xfrm>
              <a:prstGeom prst="line">
                <a:avLst/>
              </a:prstGeom>
              <a:noFill/>
              <a:ln w="7938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34" name="Freeform 1111"/>
              <p:cNvSpPr>
                <a:spLocks/>
              </p:cNvSpPr>
              <p:nvPr/>
            </p:nvSpPr>
            <p:spPr bwMode="auto">
              <a:xfrm>
                <a:off x="3136" y="3194"/>
                <a:ext cx="84" cy="218"/>
              </a:xfrm>
              <a:custGeom>
                <a:avLst/>
                <a:gdLst>
                  <a:gd name="T0" fmla="*/ 46 w 84"/>
                  <a:gd name="T1" fmla="*/ 218 h 218"/>
                  <a:gd name="T2" fmla="*/ 47 w 84"/>
                  <a:gd name="T3" fmla="*/ 201 h 218"/>
                  <a:gd name="T4" fmla="*/ 50 w 84"/>
                  <a:gd name="T5" fmla="*/ 185 h 218"/>
                  <a:gd name="T6" fmla="*/ 54 w 84"/>
                  <a:gd name="T7" fmla="*/ 169 h 218"/>
                  <a:gd name="T8" fmla="*/ 59 w 84"/>
                  <a:gd name="T9" fmla="*/ 155 h 218"/>
                  <a:gd name="T10" fmla="*/ 65 w 84"/>
                  <a:gd name="T11" fmla="*/ 142 h 218"/>
                  <a:gd name="T12" fmla="*/ 71 w 84"/>
                  <a:gd name="T13" fmla="*/ 132 h 218"/>
                  <a:gd name="T14" fmla="*/ 77 w 84"/>
                  <a:gd name="T15" fmla="*/ 123 h 218"/>
                  <a:gd name="T16" fmla="*/ 80 w 84"/>
                  <a:gd name="T17" fmla="*/ 117 h 218"/>
                  <a:gd name="T18" fmla="*/ 83 w 84"/>
                  <a:gd name="T19" fmla="*/ 112 h 218"/>
                  <a:gd name="T20" fmla="*/ 84 w 84"/>
                  <a:gd name="T21" fmla="*/ 110 h 218"/>
                  <a:gd name="T22" fmla="*/ 74 w 84"/>
                  <a:gd name="T23" fmla="*/ 0 h 218"/>
                  <a:gd name="T24" fmla="*/ 41 w 84"/>
                  <a:gd name="T25" fmla="*/ 0 h 218"/>
                  <a:gd name="T26" fmla="*/ 9 w 84"/>
                  <a:gd name="T27" fmla="*/ 0 h 218"/>
                  <a:gd name="T28" fmla="*/ 0 w 84"/>
                  <a:gd name="T29" fmla="*/ 110 h 218"/>
                  <a:gd name="T30" fmla="*/ 1 w 84"/>
                  <a:gd name="T31" fmla="*/ 112 h 218"/>
                  <a:gd name="T32" fmla="*/ 4 w 84"/>
                  <a:gd name="T33" fmla="*/ 117 h 218"/>
                  <a:gd name="T34" fmla="*/ 7 w 84"/>
                  <a:gd name="T35" fmla="*/ 123 h 218"/>
                  <a:gd name="T36" fmla="*/ 12 w 84"/>
                  <a:gd name="T37" fmla="*/ 132 h 218"/>
                  <a:gd name="T38" fmla="*/ 19 w 84"/>
                  <a:gd name="T39" fmla="*/ 142 h 218"/>
                  <a:gd name="T40" fmla="*/ 24 w 84"/>
                  <a:gd name="T41" fmla="*/ 155 h 218"/>
                  <a:gd name="T42" fmla="*/ 30 w 84"/>
                  <a:gd name="T43" fmla="*/ 169 h 218"/>
                  <a:gd name="T44" fmla="*/ 34 w 84"/>
                  <a:gd name="T45" fmla="*/ 185 h 218"/>
                  <a:gd name="T46" fmla="*/ 37 w 84"/>
                  <a:gd name="T47" fmla="*/ 201 h 218"/>
                  <a:gd name="T48" fmla="*/ 38 w 84"/>
                  <a:gd name="T49" fmla="*/ 218 h 218"/>
                  <a:gd name="T50" fmla="*/ 46 w 84"/>
                  <a:gd name="T51" fmla="*/ 218 h 218"/>
                  <a:gd name="T52" fmla="*/ 46 w 84"/>
                  <a:gd name="T53" fmla="*/ 218 h 21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84"/>
                  <a:gd name="T82" fmla="*/ 0 h 218"/>
                  <a:gd name="T83" fmla="*/ 84 w 84"/>
                  <a:gd name="T84" fmla="*/ 218 h 21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84" h="218">
                    <a:moveTo>
                      <a:pt x="46" y="218"/>
                    </a:moveTo>
                    <a:lnTo>
                      <a:pt x="47" y="201"/>
                    </a:lnTo>
                    <a:lnTo>
                      <a:pt x="50" y="185"/>
                    </a:lnTo>
                    <a:lnTo>
                      <a:pt x="54" y="169"/>
                    </a:lnTo>
                    <a:lnTo>
                      <a:pt x="59" y="155"/>
                    </a:lnTo>
                    <a:lnTo>
                      <a:pt x="65" y="142"/>
                    </a:lnTo>
                    <a:lnTo>
                      <a:pt x="71" y="132"/>
                    </a:lnTo>
                    <a:lnTo>
                      <a:pt x="77" y="123"/>
                    </a:lnTo>
                    <a:lnTo>
                      <a:pt x="80" y="117"/>
                    </a:lnTo>
                    <a:lnTo>
                      <a:pt x="83" y="112"/>
                    </a:lnTo>
                    <a:lnTo>
                      <a:pt x="84" y="110"/>
                    </a:lnTo>
                    <a:lnTo>
                      <a:pt x="74" y="0"/>
                    </a:lnTo>
                    <a:lnTo>
                      <a:pt x="41" y="0"/>
                    </a:lnTo>
                    <a:lnTo>
                      <a:pt x="9" y="0"/>
                    </a:lnTo>
                    <a:lnTo>
                      <a:pt x="0" y="110"/>
                    </a:lnTo>
                    <a:lnTo>
                      <a:pt x="1" y="112"/>
                    </a:lnTo>
                    <a:lnTo>
                      <a:pt x="4" y="117"/>
                    </a:lnTo>
                    <a:lnTo>
                      <a:pt x="7" y="123"/>
                    </a:lnTo>
                    <a:lnTo>
                      <a:pt x="12" y="132"/>
                    </a:lnTo>
                    <a:lnTo>
                      <a:pt x="19" y="142"/>
                    </a:lnTo>
                    <a:lnTo>
                      <a:pt x="24" y="155"/>
                    </a:lnTo>
                    <a:lnTo>
                      <a:pt x="30" y="169"/>
                    </a:lnTo>
                    <a:lnTo>
                      <a:pt x="34" y="185"/>
                    </a:lnTo>
                    <a:lnTo>
                      <a:pt x="37" y="201"/>
                    </a:lnTo>
                    <a:lnTo>
                      <a:pt x="38" y="218"/>
                    </a:lnTo>
                    <a:lnTo>
                      <a:pt x="46" y="2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35" name="Freeform 1112"/>
              <p:cNvSpPr>
                <a:spLocks/>
              </p:cNvSpPr>
              <p:nvPr/>
            </p:nvSpPr>
            <p:spPr bwMode="auto">
              <a:xfrm>
                <a:off x="3130" y="3189"/>
                <a:ext cx="96" cy="229"/>
              </a:xfrm>
              <a:custGeom>
                <a:avLst/>
                <a:gdLst>
                  <a:gd name="T0" fmla="*/ 59 w 96"/>
                  <a:gd name="T1" fmla="*/ 207 h 229"/>
                  <a:gd name="T2" fmla="*/ 61 w 96"/>
                  <a:gd name="T3" fmla="*/ 191 h 229"/>
                  <a:gd name="T4" fmla="*/ 65 w 96"/>
                  <a:gd name="T5" fmla="*/ 176 h 229"/>
                  <a:gd name="T6" fmla="*/ 71 w 96"/>
                  <a:gd name="T7" fmla="*/ 162 h 229"/>
                  <a:gd name="T8" fmla="*/ 76 w 96"/>
                  <a:gd name="T9" fmla="*/ 150 h 229"/>
                  <a:gd name="T10" fmla="*/ 83 w 96"/>
                  <a:gd name="T11" fmla="*/ 140 h 229"/>
                  <a:gd name="T12" fmla="*/ 91 w 96"/>
                  <a:gd name="T13" fmla="*/ 125 h 229"/>
                  <a:gd name="T14" fmla="*/ 93 w 96"/>
                  <a:gd name="T15" fmla="*/ 120 h 229"/>
                  <a:gd name="T16" fmla="*/ 95 w 96"/>
                  <a:gd name="T17" fmla="*/ 115 h 229"/>
                  <a:gd name="T18" fmla="*/ 85 w 96"/>
                  <a:gd name="T19" fmla="*/ 1 h 229"/>
                  <a:gd name="T20" fmla="*/ 15 w 96"/>
                  <a:gd name="T21" fmla="*/ 0 h 229"/>
                  <a:gd name="T22" fmla="*/ 10 w 96"/>
                  <a:gd name="T23" fmla="*/ 5 h 229"/>
                  <a:gd name="T24" fmla="*/ 1 w 96"/>
                  <a:gd name="T25" fmla="*/ 118 h 229"/>
                  <a:gd name="T26" fmla="*/ 6 w 96"/>
                  <a:gd name="T27" fmla="*/ 125 h 229"/>
                  <a:gd name="T28" fmla="*/ 9 w 96"/>
                  <a:gd name="T29" fmla="*/ 131 h 229"/>
                  <a:gd name="T30" fmla="*/ 18 w 96"/>
                  <a:gd name="T31" fmla="*/ 137 h 229"/>
                  <a:gd name="T32" fmla="*/ 25 w 96"/>
                  <a:gd name="T33" fmla="*/ 147 h 229"/>
                  <a:gd name="T34" fmla="*/ 31 w 96"/>
                  <a:gd name="T35" fmla="*/ 176 h 229"/>
                  <a:gd name="T36" fmla="*/ 35 w 96"/>
                  <a:gd name="T37" fmla="*/ 192 h 229"/>
                  <a:gd name="T38" fmla="*/ 38 w 96"/>
                  <a:gd name="T39" fmla="*/ 207 h 229"/>
                  <a:gd name="T40" fmla="*/ 39 w 96"/>
                  <a:gd name="T41" fmla="*/ 224 h 229"/>
                  <a:gd name="T42" fmla="*/ 52 w 96"/>
                  <a:gd name="T43" fmla="*/ 229 h 229"/>
                  <a:gd name="T44" fmla="*/ 48 w 96"/>
                  <a:gd name="T45" fmla="*/ 219 h 229"/>
                  <a:gd name="T46" fmla="*/ 49 w 96"/>
                  <a:gd name="T47" fmla="*/ 206 h 229"/>
                  <a:gd name="T48" fmla="*/ 45 w 96"/>
                  <a:gd name="T49" fmla="*/ 189 h 229"/>
                  <a:gd name="T50" fmla="*/ 36 w 96"/>
                  <a:gd name="T51" fmla="*/ 158 h 229"/>
                  <a:gd name="T52" fmla="*/ 24 w 96"/>
                  <a:gd name="T53" fmla="*/ 134 h 229"/>
                  <a:gd name="T54" fmla="*/ 13 w 96"/>
                  <a:gd name="T55" fmla="*/ 128 h 229"/>
                  <a:gd name="T56" fmla="*/ 14 w 96"/>
                  <a:gd name="T57" fmla="*/ 118 h 229"/>
                  <a:gd name="T58" fmla="*/ 12 w 96"/>
                  <a:gd name="T59" fmla="*/ 115 h 229"/>
                  <a:gd name="T60" fmla="*/ 12 w 96"/>
                  <a:gd name="T61" fmla="*/ 116 h 229"/>
                  <a:gd name="T62" fmla="*/ 20 w 96"/>
                  <a:gd name="T63" fmla="*/ 9 h 229"/>
                  <a:gd name="T64" fmla="*/ 15 w 96"/>
                  <a:gd name="T65" fmla="*/ 12 h 229"/>
                  <a:gd name="T66" fmla="*/ 76 w 96"/>
                  <a:gd name="T67" fmla="*/ 9 h 229"/>
                  <a:gd name="T68" fmla="*/ 85 w 96"/>
                  <a:gd name="T69" fmla="*/ 116 h 229"/>
                  <a:gd name="T70" fmla="*/ 85 w 96"/>
                  <a:gd name="T71" fmla="*/ 115 h 229"/>
                  <a:gd name="T72" fmla="*/ 82 w 96"/>
                  <a:gd name="T73" fmla="*/ 118 h 229"/>
                  <a:gd name="T74" fmla="*/ 83 w 96"/>
                  <a:gd name="T75" fmla="*/ 128 h 229"/>
                  <a:gd name="T76" fmla="*/ 73 w 96"/>
                  <a:gd name="T77" fmla="*/ 134 h 229"/>
                  <a:gd name="T78" fmla="*/ 67 w 96"/>
                  <a:gd name="T79" fmla="*/ 145 h 229"/>
                  <a:gd name="T80" fmla="*/ 55 w 96"/>
                  <a:gd name="T81" fmla="*/ 173 h 229"/>
                  <a:gd name="T82" fmla="*/ 47 w 96"/>
                  <a:gd name="T83" fmla="*/ 205 h 22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6"/>
                  <a:gd name="T127" fmla="*/ 0 h 229"/>
                  <a:gd name="T128" fmla="*/ 96 w 96"/>
                  <a:gd name="T129" fmla="*/ 229 h 22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6" h="229">
                    <a:moveTo>
                      <a:pt x="46" y="223"/>
                    </a:moveTo>
                    <a:lnTo>
                      <a:pt x="58" y="224"/>
                    </a:lnTo>
                    <a:lnTo>
                      <a:pt x="59" y="207"/>
                    </a:lnTo>
                    <a:lnTo>
                      <a:pt x="53" y="206"/>
                    </a:lnTo>
                    <a:lnTo>
                      <a:pt x="58" y="207"/>
                    </a:lnTo>
                    <a:lnTo>
                      <a:pt x="61" y="191"/>
                    </a:lnTo>
                    <a:lnTo>
                      <a:pt x="56" y="190"/>
                    </a:lnTo>
                    <a:lnTo>
                      <a:pt x="61" y="192"/>
                    </a:lnTo>
                    <a:lnTo>
                      <a:pt x="65" y="176"/>
                    </a:lnTo>
                    <a:lnTo>
                      <a:pt x="60" y="174"/>
                    </a:lnTo>
                    <a:lnTo>
                      <a:pt x="65" y="176"/>
                    </a:lnTo>
                    <a:lnTo>
                      <a:pt x="71" y="162"/>
                    </a:lnTo>
                    <a:lnTo>
                      <a:pt x="76" y="149"/>
                    </a:lnTo>
                    <a:lnTo>
                      <a:pt x="71" y="147"/>
                    </a:lnTo>
                    <a:lnTo>
                      <a:pt x="76" y="150"/>
                    </a:lnTo>
                    <a:lnTo>
                      <a:pt x="83" y="140"/>
                    </a:lnTo>
                    <a:lnTo>
                      <a:pt x="77" y="137"/>
                    </a:lnTo>
                    <a:lnTo>
                      <a:pt x="83" y="140"/>
                    </a:lnTo>
                    <a:lnTo>
                      <a:pt x="88" y="131"/>
                    </a:lnTo>
                    <a:lnTo>
                      <a:pt x="91" y="125"/>
                    </a:lnTo>
                    <a:lnTo>
                      <a:pt x="86" y="122"/>
                    </a:lnTo>
                    <a:lnTo>
                      <a:pt x="90" y="125"/>
                    </a:lnTo>
                    <a:lnTo>
                      <a:pt x="93" y="120"/>
                    </a:lnTo>
                    <a:lnTo>
                      <a:pt x="94" y="120"/>
                    </a:lnTo>
                    <a:lnTo>
                      <a:pt x="95" y="118"/>
                    </a:lnTo>
                    <a:lnTo>
                      <a:pt x="95" y="115"/>
                    </a:lnTo>
                    <a:lnTo>
                      <a:pt x="96" y="115"/>
                    </a:lnTo>
                    <a:lnTo>
                      <a:pt x="87" y="5"/>
                    </a:lnTo>
                    <a:lnTo>
                      <a:pt x="85" y="1"/>
                    </a:lnTo>
                    <a:lnTo>
                      <a:pt x="80" y="0"/>
                    </a:lnTo>
                    <a:lnTo>
                      <a:pt x="47" y="0"/>
                    </a:lnTo>
                    <a:lnTo>
                      <a:pt x="15" y="0"/>
                    </a:lnTo>
                    <a:lnTo>
                      <a:pt x="11" y="1"/>
                    </a:lnTo>
                    <a:lnTo>
                      <a:pt x="10" y="5"/>
                    </a:lnTo>
                    <a:lnTo>
                      <a:pt x="0" y="115"/>
                    </a:lnTo>
                    <a:lnTo>
                      <a:pt x="1" y="118"/>
                    </a:lnTo>
                    <a:lnTo>
                      <a:pt x="2" y="120"/>
                    </a:lnTo>
                    <a:lnTo>
                      <a:pt x="6" y="125"/>
                    </a:lnTo>
                    <a:lnTo>
                      <a:pt x="10" y="122"/>
                    </a:lnTo>
                    <a:lnTo>
                      <a:pt x="6" y="125"/>
                    </a:lnTo>
                    <a:lnTo>
                      <a:pt x="9" y="131"/>
                    </a:lnTo>
                    <a:lnTo>
                      <a:pt x="14" y="140"/>
                    </a:lnTo>
                    <a:lnTo>
                      <a:pt x="18" y="137"/>
                    </a:lnTo>
                    <a:lnTo>
                      <a:pt x="14" y="140"/>
                    </a:lnTo>
                    <a:lnTo>
                      <a:pt x="21" y="150"/>
                    </a:lnTo>
                    <a:lnTo>
                      <a:pt x="25" y="147"/>
                    </a:lnTo>
                    <a:lnTo>
                      <a:pt x="21" y="149"/>
                    </a:lnTo>
                    <a:lnTo>
                      <a:pt x="26" y="162"/>
                    </a:lnTo>
                    <a:lnTo>
                      <a:pt x="31" y="176"/>
                    </a:lnTo>
                    <a:lnTo>
                      <a:pt x="36" y="174"/>
                    </a:lnTo>
                    <a:lnTo>
                      <a:pt x="30" y="176"/>
                    </a:lnTo>
                    <a:lnTo>
                      <a:pt x="35" y="192"/>
                    </a:lnTo>
                    <a:lnTo>
                      <a:pt x="40" y="190"/>
                    </a:lnTo>
                    <a:lnTo>
                      <a:pt x="35" y="191"/>
                    </a:lnTo>
                    <a:lnTo>
                      <a:pt x="38" y="207"/>
                    </a:lnTo>
                    <a:lnTo>
                      <a:pt x="43" y="206"/>
                    </a:lnTo>
                    <a:lnTo>
                      <a:pt x="38" y="207"/>
                    </a:lnTo>
                    <a:lnTo>
                      <a:pt x="39" y="224"/>
                    </a:lnTo>
                    <a:lnTo>
                      <a:pt x="40" y="227"/>
                    </a:lnTo>
                    <a:lnTo>
                      <a:pt x="44" y="229"/>
                    </a:lnTo>
                    <a:lnTo>
                      <a:pt x="52" y="229"/>
                    </a:lnTo>
                    <a:lnTo>
                      <a:pt x="52" y="218"/>
                    </a:lnTo>
                    <a:lnTo>
                      <a:pt x="44" y="218"/>
                    </a:lnTo>
                    <a:lnTo>
                      <a:pt x="48" y="219"/>
                    </a:lnTo>
                    <a:lnTo>
                      <a:pt x="44" y="223"/>
                    </a:lnTo>
                    <a:lnTo>
                      <a:pt x="51" y="223"/>
                    </a:lnTo>
                    <a:lnTo>
                      <a:pt x="49" y="206"/>
                    </a:lnTo>
                    <a:lnTo>
                      <a:pt x="48" y="205"/>
                    </a:lnTo>
                    <a:lnTo>
                      <a:pt x="45" y="189"/>
                    </a:lnTo>
                    <a:lnTo>
                      <a:pt x="41" y="173"/>
                    </a:lnTo>
                    <a:lnTo>
                      <a:pt x="41" y="172"/>
                    </a:lnTo>
                    <a:lnTo>
                      <a:pt x="36" y="158"/>
                    </a:lnTo>
                    <a:lnTo>
                      <a:pt x="30" y="145"/>
                    </a:lnTo>
                    <a:lnTo>
                      <a:pt x="24" y="134"/>
                    </a:lnTo>
                    <a:lnTo>
                      <a:pt x="24" y="133"/>
                    </a:lnTo>
                    <a:lnTo>
                      <a:pt x="18" y="125"/>
                    </a:lnTo>
                    <a:lnTo>
                      <a:pt x="13" y="128"/>
                    </a:lnTo>
                    <a:lnTo>
                      <a:pt x="18" y="126"/>
                    </a:lnTo>
                    <a:lnTo>
                      <a:pt x="15" y="119"/>
                    </a:lnTo>
                    <a:lnTo>
                      <a:pt x="14" y="118"/>
                    </a:lnTo>
                    <a:lnTo>
                      <a:pt x="11" y="114"/>
                    </a:lnTo>
                    <a:lnTo>
                      <a:pt x="7" y="117"/>
                    </a:lnTo>
                    <a:lnTo>
                      <a:pt x="12" y="115"/>
                    </a:lnTo>
                    <a:lnTo>
                      <a:pt x="11" y="113"/>
                    </a:lnTo>
                    <a:lnTo>
                      <a:pt x="6" y="115"/>
                    </a:lnTo>
                    <a:lnTo>
                      <a:pt x="12" y="116"/>
                    </a:lnTo>
                    <a:lnTo>
                      <a:pt x="22" y="6"/>
                    </a:lnTo>
                    <a:lnTo>
                      <a:pt x="15" y="10"/>
                    </a:lnTo>
                    <a:lnTo>
                      <a:pt x="20" y="9"/>
                    </a:lnTo>
                    <a:lnTo>
                      <a:pt x="21" y="5"/>
                    </a:lnTo>
                    <a:lnTo>
                      <a:pt x="15" y="5"/>
                    </a:lnTo>
                    <a:lnTo>
                      <a:pt x="15" y="12"/>
                    </a:lnTo>
                    <a:lnTo>
                      <a:pt x="47" y="12"/>
                    </a:lnTo>
                    <a:lnTo>
                      <a:pt x="80" y="12"/>
                    </a:lnTo>
                    <a:lnTo>
                      <a:pt x="76" y="9"/>
                    </a:lnTo>
                    <a:lnTo>
                      <a:pt x="80" y="5"/>
                    </a:lnTo>
                    <a:lnTo>
                      <a:pt x="75" y="6"/>
                    </a:lnTo>
                    <a:lnTo>
                      <a:pt x="85" y="116"/>
                    </a:lnTo>
                    <a:lnTo>
                      <a:pt x="90" y="115"/>
                    </a:lnTo>
                    <a:lnTo>
                      <a:pt x="86" y="113"/>
                    </a:lnTo>
                    <a:lnTo>
                      <a:pt x="85" y="115"/>
                    </a:lnTo>
                    <a:lnTo>
                      <a:pt x="89" y="117"/>
                    </a:lnTo>
                    <a:lnTo>
                      <a:pt x="85" y="114"/>
                    </a:lnTo>
                    <a:lnTo>
                      <a:pt x="82" y="118"/>
                    </a:lnTo>
                    <a:lnTo>
                      <a:pt x="82" y="119"/>
                    </a:lnTo>
                    <a:lnTo>
                      <a:pt x="78" y="126"/>
                    </a:lnTo>
                    <a:lnTo>
                      <a:pt x="83" y="128"/>
                    </a:lnTo>
                    <a:lnTo>
                      <a:pt x="78" y="125"/>
                    </a:lnTo>
                    <a:lnTo>
                      <a:pt x="73" y="133"/>
                    </a:lnTo>
                    <a:lnTo>
                      <a:pt x="73" y="134"/>
                    </a:lnTo>
                    <a:lnTo>
                      <a:pt x="67" y="145"/>
                    </a:lnTo>
                    <a:lnTo>
                      <a:pt x="65" y="147"/>
                    </a:lnTo>
                    <a:lnTo>
                      <a:pt x="67" y="145"/>
                    </a:lnTo>
                    <a:lnTo>
                      <a:pt x="61" y="158"/>
                    </a:lnTo>
                    <a:lnTo>
                      <a:pt x="56" y="172"/>
                    </a:lnTo>
                    <a:lnTo>
                      <a:pt x="55" y="173"/>
                    </a:lnTo>
                    <a:lnTo>
                      <a:pt x="51" y="189"/>
                    </a:lnTo>
                    <a:lnTo>
                      <a:pt x="47" y="205"/>
                    </a:lnTo>
                    <a:lnTo>
                      <a:pt x="47" y="206"/>
                    </a:lnTo>
                    <a:lnTo>
                      <a:pt x="46" y="22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36" name="Line 1113"/>
              <p:cNvSpPr>
                <a:spLocks noChangeShapeType="1"/>
              </p:cNvSpPr>
              <p:nvPr/>
            </p:nvSpPr>
            <p:spPr bwMode="auto">
              <a:xfrm flipV="1">
                <a:off x="3177" y="3308"/>
                <a:ext cx="1" cy="103"/>
              </a:xfrm>
              <a:prstGeom prst="line">
                <a:avLst/>
              </a:prstGeom>
              <a:noFill/>
              <a:ln w="11113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37" name="Freeform 1114"/>
              <p:cNvSpPr>
                <a:spLocks/>
              </p:cNvSpPr>
              <p:nvPr/>
            </p:nvSpPr>
            <p:spPr bwMode="auto">
              <a:xfrm>
                <a:off x="3168" y="3298"/>
                <a:ext cx="21" cy="21"/>
              </a:xfrm>
              <a:custGeom>
                <a:avLst/>
                <a:gdLst>
                  <a:gd name="T0" fmla="*/ 9 w 21"/>
                  <a:gd name="T1" fmla="*/ 21 h 21"/>
                  <a:gd name="T2" fmla="*/ 11 w 21"/>
                  <a:gd name="T3" fmla="*/ 21 h 21"/>
                  <a:gd name="T4" fmla="*/ 14 w 21"/>
                  <a:gd name="T5" fmla="*/ 20 h 21"/>
                  <a:gd name="T6" fmla="*/ 15 w 21"/>
                  <a:gd name="T7" fmla="*/ 20 h 21"/>
                  <a:gd name="T8" fmla="*/ 17 w 21"/>
                  <a:gd name="T9" fmla="*/ 19 h 21"/>
                  <a:gd name="T10" fmla="*/ 17 w 21"/>
                  <a:gd name="T11" fmla="*/ 18 h 21"/>
                  <a:gd name="T12" fmla="*/ 19 w 21"/>
                  <a:gd name="T13" fmla="*/ 17 h 21"/>
                  <a:gd name="T14" fmla="*/ 20 w 21"/>
                  <a:gd name="T15" fmla="*/ 16 h 21"/>
                  <a:gd name="T16" fmla="*/ 20 w 21"/>
                  <a:gd name="T17" fmla="*/ 14 h 21"/>
                  <a:gd name="T18" fmla="*/ 20 w 21"/>
                  <a:gd name="T19" fmla="*/ 11 h 21"/>
                  <a:gd name="T20" fmla="*/ 21 w 21"/>
                  <a:gd name="T21" fmla="*/ 10 h 21"/>
                  <a:gd name="T22" fmla="*/ 20 w 21"/>
                  <a:gd name="T23" fmla="*/ 8 h 21"/>
                  <a:gd name="T24" fmla="*/ 20 w 21"/>
                  <a:gd name="T25" fmla="*/ 7 h 21"/>
                  <a:gd name="T26" fmla="*/ 20 w 21"/>
                  <a:gd name="T27" fmla="*/ 5 h 21"/>
                  <a:gd name="T28" fmla="*/ 19 w 21"/>
                  <a:gd name="T29" fmla="*/ 4 h 21"/>
                  <a:gd name="T30" fmla="*/ 17 w 21"/>
                  <a:gd name="T31" fmla="*/ 3 h 21"/>
                  <a:gd name="T32" fmla="*/ 17 w 21"/>
                  <a:gd name="T33" fmla="*/ 2 h 21"/>
                  <a:gd name="T34" fmla="*/ 15 w 21"/>
                  <a:gd name="T35" fmla="*/ 2 h 21"/>
                  <a:gd name="T36" fmla="*/ 14 w 21"/>
                  <a:gd name="T37" fmla="*/ 0 h 21"/>
                  <a:gd name="T38" fmla="*/ 11 w 21"/>
                  <a:gd name="T39" fmla="*/ 0 h 21"/>
                  <a:gd name="T40" fmla="*/ 10 w 21"/>
                  <a:gd name="T41" fmla="*/ 0 h 21"/>
                  <a:gd name="T42" fmla="*/ 8 w 21"/>
                  <a:gd name="T43" fmla="*/ 0 h 21"/>
                  <a:gd name="T44" fmla="*/ 7 w 21"/>
                  <a:gd name="T45" fmla="*/ 0 h 21"/>
                  <a:gd name="T46" fmla="*/ 5 w 21"/>
                  <a:gd name="T47" fmla="*/ 2 h 21"/>
                  <a:gd name="T48" fmla="*/ 4 w 21"/>
                  <a:gd name="T49" fmla="*/ 2 h 21"/>
                  <a:gd name="T50" fmla="*/ 3 w 21"/>
                  <a:gd name="T51" fmla="*/ 3 h 21"/>
                  <a:gd name="T52" fmla="*/ 2 w 21"/>
                  <a:gd name="T53" fmla="*/ 4 h 21"/>
                  <a:gd name="T54" fmla="*/ 1 w 21"/>
                  <a:gd name="T55" fmla="*/ 5 h 21"/>
                  <a:gd name="T56" fmla="*/ 0 w 21"/>
                  <a:gd name="T57" fmla="*/ 7 h 21"/>
                  <a:gd name="T58" fmla="*/ 0 w 21"/>
                  <a:gd name="T59" fmla="*/ 8 h 21"/>
                  <a:gd name="T60" fmla="*/ 0 w 21"/>
                  <a:gd name="T61" fmla="*/ 10 h 21"/>
                  <a:gd name="T62" fmla="*/ 0 w 21"/>
                  <a:gd name="T63" fmla="*/ 11 h 21"/>
                  <a:gd name="T64" fmla="*/ 0 w 21"/>
                  <a:gd name="T65" fmla="*/ 14 h 21"/>
                  <a:gd name="T66" fmla="*/ 1 w 21"/>
                  <a:gd name="T67" fmla="*/ 16 h 21"/>
                  <a:gd name="T68" fmla="*/ 2 w 21"/>
                  <a:gd name="T69" fmla="*/ 17 h 21"/>
                  <a:gd name="T70" fmla="*/ 3 w 21"/>
                  <a:gd name="T71" fmla="*/ 18 h 21"/>
                  <a:gd name="T72" fmla="*/ 4 w 21"/>
                  <a:gd name="T73" fmla="*/ 19 h 21"/>
                  <a:gd name="T74" fmla="*/ 5 w 21"/>
                  <a:gd name="T75" fmla="*/ 20 h 21"/>
                  <a:gd name="T76" fmla="*/ 7 w 21"/>
                  <a:gd name="T77" fmla="*/ 20 h 21"/>
                  <a:gd name="T78" fmla="*/ 8 w 21"/>
                  <a:gd name="T79" fmla="*/ 21 h 21"/>
                  <a:gd name="T80" fmla="*/ 10 w 21"/>
                  <a:gd name="T81" fmla="*/ 21 h 21"/>
                  <a:gd name="T82" fmla="*/ 9 w 21"/>
                  <a:gd name="T83" fmla="*/ 21 h 2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1"/>
                  <a:gd name="T127" fmla="*/ 0 h 21"/>
                  <a:gd name="T128" fmla="*/ 21 w 21"/>
                  <a:gd name="T129" fmla="*/ 21 h 2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1" h="21">
                    <a:moveTo>
                      <a:pt x="9" y="21"/>
                    </a:moveTo>
                    <a:lnTo>
                      <a:pt x="11" y="21"/>
                    </a:lnTo>
                    <a:lnTo>
                      <a:pt x="14" y="20"/>
                    </a:lnTo>
                    <a:lnTo>
                      <a:pt x="15" y="20"/>
                    </a:lnTo>
                    <a:lnTo>
                      <a:pt x="17" y="19"/>
                    </a:lnTo>
                    <a:lnTo>
                      <a:pt x="17" y="18"/>
                    </a:lnTo>
                    <a:lnTo>
                      <a:pt x="19" y="17"/>
                    </a:lnTo>
                    <a:lnTo>
                      <a:pt x="20" y="16"/>
                    </a:lnTo>
                    <a:lnTo>
                      <a:pt x="20" y="14"/>
                    </a:lnTo>
                    <a:lnTo>
                      <a:pt x="20" y="11"/>
                    </a:lnTo>
                    <a:lnTo>
                      <a:pt x="21" y="10"/>
                    </a:lnTo>
                    <a:lnTo>
                      <a:pt x="20" y="8"/>
                    </a:lnTo>
                    <a:lnTo>
                      <a:pt x="20" y="7"/>
                    </a:lnTo>
                    <a:lnTo>
                      <a:pt x="20" y="5"/>
                    </a:lnTo>
                    <a:lnTo>
                      <a:pt x="19" y="4"/>
                    </a:lnTo>
                    <a:lnTo>
                      <a:pt x="17" y="3"/>
                    </a:lnTo>
                    <a:lnTo>
                      <a:pt x="17" y="2"/>
                    </a:lnTo>
                    <a:lnTo>
                      <a:pt x="15" y="2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7" y="0"/>
                    </a:lnTo>
                    <a:lnTo>
                      <a:pt x="5" y="2"/>
                    </a:lnTo>
                    <a:lnTo>
                      <a:pt x="4" y="2"/>
                    </a:lnTo>
                    <a:lnTo>
                      <a:pt x="3" y="3"/>
                    </a:lnTo>
                    <a:lnTo>
                      <a:pt x="2" y="4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2" y="17"/>
                    </a:lnTo>
                    <a:lnTo>
                      <a:pt x="3" y="18"/>
                    </a:lnTo>
                    <a:lnTo>
                      <a:pt x="4" y="19"/>
                    </a:lnTo>
                    <a:lnTo>
                      <a:pt x="5" y="20"/>
                    </a:lnTo>
                    <a:lnTo>
                      <a:pt x="7" y="20"/>
                    </a:lnTo>
                    <a:lnTo>
                      <a:pt x="8" y="21"/>
                    </a:lnTo>
                    <a:lnTo>
                      <a:pt x="10" y="21"/>
                    </a:ln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38" name="Freeform 1115"/>
              <p:cNvSpPr>
                <a:spLocks/>
              </p:cNvSpPr>
              <p:nvPr/>
            </p:nvSpPr>
            <p:spPr bwMode="auto">
              <a:xfrm>
                <a:off x="3136" y="3151"/>
                <a:ext cx="84" cy="42"/>
              </a:xfrm>
              <a:custGeom>
                <a:avLst/>
                <a:gdLst>
                  <a:gd name="T0" fmla="*/ 0 w 84"/>
                  <a:gd name="T1" fmla="*/ 0 h 42"/>
                  <a:gd name="T2" fmla="*/ 0 w 84"/>
                  <a:gd name="T3" fmla="*/ 42 h 42"/>
                  <a:gd name="T4" fmla="*/ 84 w 84"/>
                  <a:gd name="T5" fmla="*/ 42 h 42"/>
                  <a:gd name="T6" fmla="*/ 84 w 84"/>
                  <a:gd name="T7" fmla="*/ 0 h 42"/>
                  <a:gd name="T8" fmla="*/ 0 w 84"/>
                  <a:gd name="T9" fmla="*/ 0 h 42"/>
                  <a:gd name="T10" fmla="*/ 0 w 84"/>
                  <a:gd name="T11" fmla="*/ 0 h 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4"/>
                  <a:gd name="T19" fmla="*/ 0 h 42"/>
                  <a:gd name="T20" fmla="*/ 84 w 84"/>
                  <a:gd name="T21" fmla="*/ 42 h 4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4" h="42">
                    <a:moveTo>
                      <a:pt x="0" y="0"/>
                    </a:moveTo>
                    <a:lnTo>
                      <a:pt x="0" y="42"/>
                    </a:lnTo>
                    <a:lnTo>
                      <a:pt x="84" y="42"/>
                    </a:lnTo>
                    <a:lnTo>
                      <a:pt x="8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2324" name="Rectangle 1116"/>
            <p:cNvSpPr>
              <a:spLocks noChangeArrowheads="1"/>
            </p:cNvSpPr>
            <p:nvPr/>
          </p:nvSpPr>
          <p:spPr bwMode="auto">
            <a:xfrm>
              <a:off x="3358" y="4004"/>
              <a:ext cx="547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Final Evaluation</a:t>
              </a:r>
              <a:endParaRPr lang="en-US" sz="1000" b="0">
                <a:latin typeface="Times New Roman" pitchFamily="18" charset="0"/>
              </a:endParaRPr>
            </a:p>
          </p:txBody>
        </p:sp>
        <p:sp>
          <p:nvSpPr>
            <p:cNvPr id="12325" name="Rectangle 1117"/>
            <p:cNvSpPr>
              <a:spLocks noChangeArrowheads="1"/>
            </p:cNvSpPr>
            <p:nvPr/>
          </p:nvSpPr>
          <p:spPr bwMode="auto">
            <a:xfrm>
              <a:off x="2248" y="3543"/>
              <a:ext cx="1733" cy="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900" u="sng">
                  <a:solidFill>
                    <a:srgbClr val="000000"/>
                  </a:solidFill>
                  <a:latin typeface="Arial Narrow" pitchFamily="34" charset="0"/>
                </a:rPr>
                <a:t>Field Implementation Phase</a:t>
              </a:r>
              <a:r>
                <a:rPr lang="en-US" sz="900">
                  <a:solidFill>
                    <a:srgbClr val="000000"/>
                  </a:solidFill>
                  <a:latin typeface="Arial Narrow" pitchFamily="34" charset="0"/>
                </a:rPr>
                <a:t>: Ensure Field Safe Work</a:t>
              </a:r>
            </a:p>
          </p:txBody>
        </p:sp>
        <p:sp>
          <p:nvSpPr>
            <p:cNvPr id="12326" name="Rectangle 1118"/>
            <p:cNvSpPr>
              <a:spLocks noChangeArrowheads="1"/>
            </p:cNvSpPr>
            <p:nvPr/>
          </p:nvSpPr>
          <p:spPr bwMode="auto">
            <a:xfrm>
              <a:off x="3012" y="3461"/>
              <a:ext cx="95" cy="72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327" name="Rectangle 1119"/>
            <p:cNvSpPr>
              <a:spLocks noChangeArrowheads="1"/>
            </p:cNvSpPr>
            <p:nvPr/>
          </p:nvSpPr>
          <p:spPr bwMode="auto">
            <a:xfrm>
              <a:off x="3018" y="3456"/>
              <a:ext cx="92" cy="50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328" name="Rectangle 1120"/>
            <p:cNvSpPr>
              <a:spLocks noChangeArrowheads="1"/>
            </p:cNvSpPr>
            <p:nvPr/>
          </p:nvSpPr>
          <p:spPr bwMode="auto">
            <a:xfrm>
              <a:off x="3015" y="2833"/>
              <a:ext cx="88" cy="54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FFFF66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</p:grpSp>
      <p:sp>
        <p:nvSpPr>
          <p:cNvPr id="12297" name="AutoShape 1121"/>
          <p:cNvSpPr>
            <a:spLocks noChangeArrowheads="1"/>
          </p:cNvSpPr>
          <p:nvPr/>
        </p:nvSpPr>
        <p:spPr bwMode="auto">
          <a:xfrm>
            <a:off x="1692275" y="5145088"/>
            <a:ext cx="1182688" cy="433387"/>
          </a:xfrm>
          <a:custGeom>
            <a:avLst/>
            <a:gdLst>
              <a:gd name="T0" fmla="*/ 887016 w 21600"/>
              <a:gd name="T1" fmla="*/ 0 h 21600"/>
              <a:gd name="T2" fmla="*/ 0 w 21600"/>
              <a:gd name="T3" fmla="*/ 216693 h 21600"/>
              <a:gd name="T4" fmla="*/ 887016 w 21600"/>
              <a:gd name="T5" fmla="*/ 433387 h 21600"/>
              <a:gd name="T6" fmla="*/ 1182688 w 21600"/>
              <a:gd name="T7" fmla="*/ 216693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8" name="Text Box 1122"/>
          <p:cNvSpPr txBox="1">
            <a:spLocks noChangeArrowheads="1"/>
          </p:cNvSpPr>
          <p:nvPr/>
        </p:nvSpPr>
        <p:spPr bwMode="auto">
          <a:xfrm>
            <a:off x="1719263" y="4670425"/>
            <a:ext cx="97790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010" tIns="40005" rIns="80010" bIns="40005">
            <a:spAutoFit/>
          </a:bodyPr>
          <a:lstStyle/>
          <a:p>
            <a:pPr defTabSz="800100" eaLnBrk="0" hangingPunct="0"/>
            <a:r>
              <a:rPr lang="en-US" sz="2800" b="0">
                <a:latin typeface="Comic Sans MS" pitchFamily="66" charset="0"/>
              </a:rPr>
              <a:t>Field</a:t>
            </a:r>
            <a:endParaRPr lang="en-US" sz="4200" b="0">
              <a:latin typeface="Comic Sans MS" pitchFamily="66" charset="0"/>
            </a:endParaRPr>
          </a:p>
        </p:txBody>
      </p:sp>
      <p:sp>
        <p:nvSpPr>
          <p:cNvPr id="12299" name="AutoShape 1123"/>
          <p:cNvSpPr>
            <a:spLocks noChangeArrowheads="1"/>
          </p:cNvSpPr>
          <p:nvPr/>
        </p:nvSpPr>
        <p:spPr bwMode="auto">
          <a:xfrm>
            <a:off x="1682750" y="3260725"/>
            <a:ext cx="1060450" cy="419100"/>
          </a:xfrm>
          <a:custGeom>
            <a:avLst/>
            <a:gdLst>
              <a:gd name="T0" fmla="*/ 795337 w 21600"/>
              <a:gd name="T1" fmla="*/ 0 h 21600"/>
              <a:gd name="T2" fmla="*/ 0 w 21600"/>
              <a:gd name="T3" fmla="*/ 209550 h 21600"/>
              <a:gd name="T4" fmla="*/ 795337 w 21600"/>
              <a:gd name="T5" fmla="*/ 419100 h 21600"/>
              <a:gd name="T6" fmla="*/ 1060450 w 21600"/>
              <a:gd name="T7" fmla="*/ 20955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Text Box 1124"/>
          <p:cNvSpPr txBox="1">
            <a:spLocks noChangeArrowheads="1"/>
          </p:cNvSpPr>
          <p:nvPr/>
        </p:nvSpPr>
        <p:spPr bwMode="auto">
          <a:xfrm>
            <a:off x="1644650" y="2740025"/>
            <a:ext cx="1189038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010" tIns="40005" rIns="80010" bIns="40005">
            <a:spAutoFit/>
          </a:bodyPr>
          <a:lstStyle/>
          <a:p>
            <a:pPr defTabSz="800100" eaLnBrk="0" hangingPunct="0"/>
            <a:r>
              <a:rPr lang="en-US" sz="2800" b="0">
                <a:latin typeface="Comic Sans MS" pitchFamily="66" charset="0"/>
              </a:rPr>
              <a:t>Admin</a:t>
            </a:r>
            <a:endParaRPr lang="en-US" sz="4200" b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ChangeArrowheads="1"/>
          </p:cNvSpPr>
          <p:nvPr/>
        </p:nvSpPr>
        <p:spPr bwMode="auto">
          <a:xfrm>
            <a:off x="968375" y="549275"/>
            <a:ext cx="7294563" cy="557688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lIns="93685" tIns="46843" rIns="93685" bIns="46843" anchor="ctr"/>
          <a:lstStyle/>
          <a:p>
            <a:pPr defTabSz="819150" eaLnBrk="0" hangingPunct="0"/>
            <a:endParaRPr lang="en-US" sz="4600">
              <a:latin typeface="Arial Narrow" pitchFamily="34" charset="0"/>
            </a:endParaRPr>
          </a:p>
        </p:txBody>
      </p:sp>
      <p:sp>
        <p:nvSpPr>
          <p:cNvPr id="14339" name="Rectangle 5"/>
          <p:cNvSpPr>
            <a:spLocks noChangeArrowheads="1"/>
          </p:cNvSpPr>
          <p:nvPr/>
        </p:nvSpPr>
        <p:spPr bwMode="auto">
          <a:xfrm>
            <a:off x="968375" y="5437188"/>
            <a:ext cx="7294563" cy="731837"/>
          </a:xfrm>
          <a:prstGeom prst="rect">
            <a:avLst/>
          </a:prstGeom>
          <a:solidFill>
            <a:srgbClr val="0099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6"/>
          <p:cNvSpPr>
            <a:spLocks noChangeArrowheads="1"/>
          </p:cNvSpPr>
          <p:nvPr/>
        </p:nvSpPr>
        <p:spPr bwMode="auto">
          <a:xfrm>
            <a:off x="6757988" y="3135313"/>
            <a:ext cx="4762" cy="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1" name="Rectangle 7"/>
          <p:cNvSpPr>
            <a:spLocks noChangeArrowheads="1"/>
          </p:cNvSpPr>
          <p:nvPr/>
        </p:nvSpPr>
        <p:spPr bwMode="auto">
          <a:xfrm>
            <a:off x="6757988" y="3135313"/>
            <a:ext cx="4762" cy="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2" name="Rectangle 8"/>
          <p:cNvSpPr>
            <a:spLocks noChangeArrowheads="1"/>
          </p:cNvSpPr>
          <p:nvPr/>
        </p:nvSpPr>
        <p:spPr bwMode="auto">
          <a:xfrm>
            <a:off x="6762750" y="3135313"/>
            <a:ext cx="79375" cy="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3" name="Rectangle 9"/>
          <p:cNvSpPr>
            <a:spLocks noChangeArrowheads="1"/>
          </p:cNvSpPr>
          <p:nvPr/>
        </p:nvSpPr>
        <p:spPr bwMode="auto">
          <a:xfrm>
            <a:off x="6842125" y="3135313"/>
            <a:ext cx="3175" cy="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4" name="Rectangle 10"/>
          <p:cNvSpPr>
            <a:spLocks noChangeArrowheads="1"/>
          </p:cNvSpPr>
          <p:nvPr/>
        </p:nvSpPr>
        <p:spPr bwMode="auto">
          <a:xfrm>
            <a:off x="6845300" y="3135313"/>
            <a:ext cx="552450" cy="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5" name="Rectangle 11"/>
          <p:cNvSpPr>
            <a:spLocks noChangeArrowheads="1"/>
          </p:cNvSpPr>
          <p:nvPr/>
        </p:nvSpPr>
        <p:spPr bwMode="auto">
          <a:xfrm>
            <a:off x="7397750" y="3135313"/>
            <a:ext cx="1588" cy="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6" name="Rectangle 12"/>
          <p:cNvSpPr>
            <a:spLocks noChangeArrowheads="1"/>
          </p:cNvSpPr>
          <p:nvPr/>
        </p:nvSpPr>
        <p:spPr bwMode="auto">
          <a:xfrm>
            <a:off x="7399338" y="3135313"/>
            <a:ext cx="93662" cy="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7" name="Rectangle 13"/>
          <p:cNvSpPr>
            <a:spLocks noChangeArrowheads="1"/>
          </p:cNvSpPr>
          <p:nvPr/>
        </p:nvSpPr>
        <p:spPr bwMode="auto">
          <a:xfrm>
            <a:off x="7493000" y="3135313"/>
            <a:ext cx="3175" cy="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8" name="Rectangle 14"/>
          <p:cNvSpPr>
            <a:spLocks noChangeArrowheads="1"/>
          </p:cNvSpPr>
          <p:nvPr/>
        </p:nvSpPr>
        <p:spPr bwMode="auto">
          <a:xfrm>
            <a:off x="7496175" y="3135313"/>
            <a:ext cx="80963" cy="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9" name="Rectangle 15"/>
          <p:cNvSpPr>
            <a:spLocks noChangeArrowheads="1"/>
          </p:cNvSpPr>
          <p:nvPr/>
        </p:nvSpPr>
        <p:spPr bwMode="auto">
          <a:xfrm>
            <a:off x="7577138" y="3135313"/>
            <a:ext cx="3175" cy="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0" name="Rectangle 16"/>
          <p:cNvSpPr>
            <a:spLocks noChangeArrowheads="1"/>
          </p:cNvSpPr>
          <p:nvPr/>
        </p:nvSpPr>
        <p:spPr bwMode="auto">
          <a:xfrm>
            <a:off x="7580313" y="3135313"/>
            <a:ext cx="79375" cy="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1" name="Rectangle 17"/>
          <p:cNvSpPr>
            <a:spLocks noChangeArrowheads="1"/>
          </p:cNvSpPr>
          <p:nvPr/>
        </p:nvSpPr>
        <p:spPr bwMode="auto">
          <a:xfrm>
            <a:off x="7659688" y="3135313"/>
            <a:ext cx="3175" cy="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2" name="Rectangle 18"/>
          <p:cNvSpPr>
            <a:spLocks noChangeArrowheads="1"/>
          </p:cNvSpPr>
          <p:nvPr/>
        </p:nvSpPr>
        <p:spPr bwMode="auto">
          <a:xfrm>
            <a:off x="7662863" y="3135313"/>
            <a:ext cx="412750" cy="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3" name="Rectangle 19"/>
          <p:cNvSpPr>
            <a:spLocks noChangeArrowheads="1"/>
          </p:cNvSpPr>
          <p:nvPr/>
        </p:nvSpPr>
        <p:spPr bwMode="auto">
          <a:xfrm>
            <a:off x="8075613" y="3135313"/>
            <a:ext cx="3175" cy="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4" name="Rectangle 20"/>
          <p:cNvSpPr>
            <a:spLocks noChangeArrowheads="1"/>
          </p:cNvSpPr>
          <p:nvPr/>
        </p:nvSpPr>
        <p:spPr bwMode="auto">
          <a:xfrm>
            <a:off x="8075613" y="3135313"/>
            <a:ext cx="3175" cy="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5" name="Rectangle 21"/>
          <p:cNvSpPr>
            <a:spLocks noChangeArrowheads="1"/>
          </p:cNvSpPr>
          <p:nvPr/>
        </p:nvSpPr>
        <p:spPr bwMode="auto">
          <a:xfrm>
            <a:off x="6757988" y="3201988"/>
            <a:ext cx="4762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6" name="Rectangle 22"/>
          <p:cNvSpPr>
            <a:spLocks noChangeArrowheads="1"/>
          </p:cNvSpPr>
          <p:nvPr/>
        </p:nvSpPr>
        <p:spPr bwMode="auto">
          <a:xfrm>
            <a:off x="6762750" y="3201988"/>
            <a:ext cx="793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7" name="Rectangle 23"/>
          <p:cNvSpPr>
            <a:spLocks noChangeArrowheads="1"/>
          </p:cNvSpPr>
          <p:nvPr/>
        </p:nvSpPr>
        <p:spPr bwMode="auto">
          <a:xfrm>
            <a:off x="6842125" y="3201988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8" name="Rectangle 24"/>
          <p:cNvSpPr>
            <a:spLocks noChangeArrowheads="1"/>
          </p:cNvSpPr>
          <p:nvPr/>
        </p:nvSpPr>
        <p:spPr bwMode="auto">
          <a:xfrm>
            <a:off x="6845300" y="3201988"/>
            <a:ext cx="1588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9" name="Rectangle 25"/>
          <p:cNvSpPr>
            <a:spLocks noChangeArrowheads="1"/>
          </p:cNvSpPr>
          <p:nvPr/>
        </p:nvSpPr>
        <p:spPr bwMode="auto">
          <a:xfrm>
            <a:off x="6846888" y="3201988"/>
            <a:ext cx="5492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0" name="Rectangle 26"/>
          <p:cNvSpPr>
            <a:spLocks noChangeArrowheads="1"/>
          </p:cNvSpPr>
          <p:nvPr/>
        </p:nvSpPr>
        <p:spPr bwMode="auto">
          <a:xfrm>
            <a:off x="7396163" y="3201988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1" name="Rectangle 27"/>
          <p:cNvSpPr>
            <a:spLocks noChangeArrowheads="1"/>
          </p:cNvSpPr>
          <p:nvPr/>
        </p:nvSpPr>
        <p:spPr bwMode="auto">
          <a:xfrm>
            <a:off x="7399338" y="3201988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2" name="Rectangle 28"/>
          <p:cNvSpPr>
            <a:spLocks noChangeArrowheads="1"/>
          </p:cNvSpPr>
          <p:nvPr/>
        </p:nvSpPr>
        <p:spPr bwMode="auto">
          <a:xfrm>
            <a:off x="7402513" y="3201988"/>
            <a:ext cx="90487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3" name="Rectangle 29"/>
          <p:cNvSpPr>
            <a:spLocks noChangeArrowheads="1"/>
          </p:cNvSpPr>
          <p:nvPr/>
        </p:nvSpPr>
        <p:spPr bwMode="auto">
          <a:xfrm>
            <a:off x="7493000" y="3201988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4" name="Rectangle 30"/>
          <p:cNvSpPr>
            <a:spLocks noChangeArrowheads="1"/>
          </p:cNvSpPr>
          <p:nvPr/>
        </p:nvSpPr>
        <p:spPr bwMode="auto">
          <a:xfrm>
            <a:off x="7496175" y="3201988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5" name="Rectangle 31"/>
          <p:cNvSpPr>
            <a:spLocks noChangeArrowheads="1"/>
          </p:cNvSpPr>
          <p:nvPr/>
        </p:nvSpPr>
        <p:spPr bwMode="auto">
          <a:xfrm>
            <a:off x="7499350" y="3201988"/>
            <a:ext cx="76200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6" name="Rectangle 32"/>
          <p:cNvSpPr>
            <a:spLocks noChangeArrowheads="1"/>
          </p:cNvSpPr>
          <p:nvPr/>
        </p:nvSpPr>
        <p:spPr bwMode="auto">
          <a:xfrm>
            <a:off x="7575550" y="3201988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7" name="Rectangle 33"/>
          <p:cNvSpPr>
            <a:spLocks noChangeArrowheads="1"/>
          </p:cNvSpPr>
          <p:nvPr/>
        </p:nvSpPr>
        <p:spPr bwMode="auto">
          <a:xfrm>
            <a:off x="7578725" y="3201988"/>
            <a:ext cx="4763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8" name="Rectangle 34"/>
          <p:cNvSpPr>
            <a:spLocks noChangeArrowheads="1"/>
          </p:cNvSpPr>
          <p:nvPr/>
        </p:nvSpPr>
        <p:spPr bwMode="auto">
          <a:xfrm>
            <a:off x="7583488" y="3201988"/>
            <a:ext cx="74612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9" name="Rectangle 35"/>
          <p:cNvSpPr>
            <a:spLocks noChangeArrowheads="1"/>
          </p:cNvSpPr>
          <p:nvPr/>
        </p:nvSpPr>
        <p:spPr bwMode="auto">
          <a:xfrm>
            <a:off x="7658100" y="3201988"/>
            <a:ext cx="4763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70" name="Rectangle 36"/>
          <p:cNvSpPr>
            <a:spLocks noChangeArrowheads="1"/>
          </p:cNvSpPr>
          <p:nvPr/>
        </p:nvSpPr>
        <p:spPr bwMode="auto">
          <a:xfrm>
            <a:off x="7662863" y="3201988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71" name="Rectangle 37"/>
          <p:cNvSpPr>
            <a:spLocks noChangeArrowheads="1"/>
          </p:cNvSpPr>
          <p:nvPr/>
        </p:nvSpPr>
        <p:spPr bwMode="auto">
          <a:xfrm>
            <a:off x="7666038" y="3201988"/>
            <a:ext cx="4095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72" name="Rectangle 38"/>
          <p:cNvSpPr>
            <a:spLocks noChangeArrowheads="1"/>
          </p:cNvSpPr>
          <p:nvPr/>
        </p:nvSpPr>
        <p:spPr bwMode="auto">
          <a:xfrm>
            <a:off x="8075613" y="3201988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73" name="Rectangle 39"/>
          <p:cNvSpPr>
            <a:spLocks noChangeArrowheads="1"/>
          </p:cNvSpPr>
          <p:nvPr/>
        </p:nvSpPr>
        <p:spPr bwMode="auto">
          <a:xfrm>
            <a:off x="6842125" y="3205163"/>
            <a:ext cx="3175" cy="33496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74" name="Rectangle 40"/>
          <p:cNvSpPr>
            <a:spLocks noChangeArrowheads="1"/>
          </p:cNvSpPr>
          <p:nvPr/>
        </p:nvSpPr>
        <p:spPr bwMode="auto">
          <a:xfrm>
            <a:off x="7493000" y="3205163"/>
            <a:ext cx="3175" cy="33496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75" name="Rectangle 41"/>
          <p:cNvSpPr>
            <a:spLocks noChangeArrowheads="1"/>
          </p:cNvSpPr>
          <p:nvPr/>
        </p:nvSpPr>
        <p:spPr bwMode="auto">
          <a:xfrm>
            <a:off x="7575550" y="3205163"/>
            <a:ext cx="3175" cy="33496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76" name="Rectangle 42"/>
          <p:cNvSpPr>
            <a:spLocks noChangeArrowheads="1"/>
          </p:cNvSpPr>
          <p:nvPr/>
        </p:nvSpPr>
        <p:spPr bwMode="auto">
          <a:xfrm>
            <a:off x="7658100" y="3205163"/>
            <a:ext cx="4763" cy="33496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77" name="Rectangle 43"/>
          <p:cNvSpPr>
            <a:spLocks noChangeArrowheads="1"/>
          </p:cNvSpPr>
          <p:nvPr/>
        </p:nvSpPr>
        <p:spPr bwMode="auto">
          <a:xfrm>
            <a:off x="6757988" y="3540125"/>
            <a:ext cx="4762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78" name="Rectangle 44"/>
          <p:cNvSpPr>
            <a:spLocks noChangeArrowheads="1"/>
          </p:cNvSpPr>
          <p:nvPr/>
        </p:nvSpPr>
        <p:spPr bwMode="auto">
          <a:xfrm>
            <a:off x="6842125" y="3540125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79" name="Rectangle 45"/>
          <p:cNvSpPr>
            <a:spLocks noChangeArrowheads="1"/>
          </p:cNvSpPr>
          <p:nvPr/>
        </p:nvSpPr>
        <p:spPr bwMode="auto">
          <a:xfrm>
            <a:off x="7493000" y="3540125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80" name="Rectangle 46"/>
          <p:cNvSpPr>
            <a:spLocks noChangeArrowheads="1"/>
          </p:cNvSpPr>
          <p:nvPr/>
        </p:nvSpPr>
        <p:spPr bwMode="auto">
          <a:xfrm>
            <a:off x="7575550" y="3540125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81" name="Rectangle 47"/>
          <p:cNvSpPr>
            <a:spLocks noChangeArrowheads="1"/>
          </p:cNvSpPr>
          <p:nvPr/>
        </p:nvSpPr>
        <p:spPr bwMode="auto">
          <a:xfrm>
            <a:off x="7658100" y="3540125"/>
            <a:ext cx="4763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82" name="Rectangle 48"/>
          <p:cNvSpPr>
            <a:spLocks noChangeArrowheads="1"/>
          </p:cNvSpPr>
          <p:nvPr/>
        </p:nvSpPr>
        <p:spPr bwMode="auto">
          <a:xfrm>
            <a:off x="6842125" y="3543300"/>
            <a:ext cx="3175" cy="296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83" name="Rectangle 49"/>
          <p:cNvSpPr>
            <a:spLocks noChangeArrowheads="1"/>
          </p:cNvSpPr>
          <p:nvPr/>
        </p:nvSpPr>
        <p:spPr bwMode="auto">
          <a:xfrm>
            <a:off x="7493000" y="3543300"/>
            <a:ext cx="3175" cy="296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84" name="Rectangle 50"/>
          <p:cNvSpPr>
            <a:spLocks noChangeArrowheads="1"/>
          </p:cNvSpPr>
          <p:nvPr/>
        </p:nvSpPr>
        <p:spPr bwMode="auto">
          <a:xfrm>
            <a:off x="7575550" y="3543300"/>
            <a:ext cx="3175" cy="296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85" name="Rectangle 51"/>
          <p:cNvSpPr>
            <a:spLocks noChangeArrowheads="1"/>
          </p:cNvSpPr>
          <p:nvPr/>
        </p:nvSpPr>
        <p:spPr bwMode="auto">
          <a:xfrm>
            <a:off x="7658100" y="3543300"/>
            <a:ext cx="4763" cy="296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86" name="Rectangle 52"/>
          <p:cNvSpPr>
            <a:spLocks noChangeArrowheads="1"/>
          </p:cNvSpPr>
          <p:nvPr/>
        </p:nvSpPr>
        <p:spPr bwMode="auto">
          <a:xfrm>
            <a:off x="6757988" y="3840163"/>
            <a:ext cx="4762" cy="476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87" name="Rectangle 53"/>
          <p:cNvSpPr>
            <a:spLocks noChangeArrowheads="1"/>
          </p:cNvSpPr>
          <p:nvPr/>
        </p:nvSpPr>
        <p:spPr bwMode="auto">
          <a:xfrm>
            <a:off x="6842125" y="3840163"/>
            <a:ext cx="3175" cy="476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88" name="Rectangle 54"/>
          <p:cNvSpPr>
            <a:spLocks noChangeArrowheads="1"/>
          </p:cNvSpPr>
          <p:nvPr/>
        </p:nvSpPr>
        <p:spPr bwMode="auto">
          <a:xfrm>
            <a:off x="7493000" y="3840163"/>
            <a:ext cx="3175" cy="476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89" name="Rectangle 55"/>
          <p:cNvSpPr>
            <a:spLocks noChangeArrowheads="1"/>
          </p:cNvSpPr>
          <p:nvPr/>
        </p:nvSpPr>
        <p:spPr bwMode="auto">
          <a:xfrm>
            <a:off x="7575550" y="3840163"/>
            <a:ext cx="3175" cy="476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90" name="Rectangle 56"/>
          <p:cNvSpPr>
            <a:spLocks noChangeArrowheads="1"/>
          </p:cNvSpPr>
          <p:nvPr/>
        </p:nvSpPr>
        <p:spPr bwMode="auto">
          <a:xfrm>
            <a:off x="7658100" y="3840163"/>
            <a:ext cx="4763" cy="476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91" name="Rectangle 57"/>
          <p:cNvSpPr>
            <a:spLocks noChangeArrowheads="1"/>
          </p:cNvSpPr>
          <p:nvPr/>
        </p:nvSpPr>
        <p:spPr bwMode="auto">
          <a:xfrm>
            <a:off x="6842125" y="3844925"/>
            <a:ext cx="3175" cy="29210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92" name="Rectangle 58"/>
          <p:cNvSpPr>
            <a:spLocks noChangeArrowheads="1"/>
          </p:cNvSpPr>
          <p:nvPr/>
        </p:nvSpPr>
        <p:spPr bwMode="auto">
          <a:xfrm>
            <a:off x="7493000" y="3844925"/>
            <a:ext cx="3175" cy="29210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93" name="Rectangle 59"/>
          <p:cNvSpPr>
            <a:spLocks noChangeArrowheads="1"/>
          </p:cNvSpPr>
          <p:nvPr/>
        </p:nvSpPr>
        <p:spPr bwMode="auto">
          <a:xfrm>
            <a:off x="7575550" y="3844925"/>
            <a:ext cx="3175" cy="29210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94" name="Rectangle 60"/>
          <p:cNvSpPr>
            <a:spLocks noChangeArrowheads="1"/>
          </p:cNvSpPr>
          <p:nvPr/>
        </p:nvSpPr>
        <p:spPr bwMode="auto">
          <a:xfrm>
            <a:off x="7658100" y="3844925"/>
            <a:ext cx="4763" cy="29210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95" name="Rectangle 61"/>
          <p:cNvSpPr>
            <a:spLocks noChangeArrowheads="1"/>
          </p:cNvSpPr>
          <p:nvPr/>
        </p:nvSpPr>
        <p:spPr bwMode="auto">
          <a:xfrm>
            <a:off x="6842125" y="4137025"/>
            <a:ext cx="3175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96" name="Rectangle 62"/>
          <p:cNvSpPr>
            <a:spLocks noChangeArrowheads="1"/>
          </p:cNvSpPr>
          <p:nvPr/>
        </p:nvSpPr>
        <p:spPr bwMode="auto">
          <a:xfrm>
            <a:off x="7493000" y="4137025"/>
            <a:ext cx="3175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97" name="Rectangle 63"/>
          <p:cNvSpPr>
            <a:spLocks noChangeArrowheads="1"/>
          </p:cNvSpPr>
          <p:nvPr/>
        </p:nvSpPr>
        <p:spPr bwMode="auto">
          <a:xfrm>
            <a:off x="7575550" y="4137025"/>
            <a:ext cx="3175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98" name="Rectangle 64"/>
          <p:cNvSpPr>
            <a:spLocks noChangeArrowheads="1"/>
          </p:cNvSpPr>
          <p:nvPr/>
        </p:nvSpPr>
        <p:spPr bwMode="auto">
          <a:xfrm>
            <a:off x="7658100" y="4137025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99" name="Rectangle 65"/>
          <p:cNvSpPr>
            <a:spLocks noChangeArrowheads="1"/>
          </p:cNvSpPr>
          <p:nvPr/>
        </p:nvSpPr>
        <p:spPr bwMode="auto">
          <a:xfrm>
            <a:off x="7932738" y="4279900"/>
            <a:ext cx="3175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00" name="Rectangle 66"/>
          <p:cNvSpPr>
            <a:spLocks noChangeArrowheads="1"/>
          </p:cNvSpPr>
          <p:nvPr/>
        </p:nvSpPr>
        <p:spPr bwMode="auto">
          <a:xfrm>
            <a:off x="6842125" y="4141788"/>
            <a:ext cx="3175" cy="1968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01" name="Rectangle 67"/>
          <p:cNvSpPr>
            <a:spLocks noChangeArrowheads="1"/>
          </p:cNvSpPr>
          <p:nvPr/>
        </p:nvSpPr>
        <p:spPr bwMode="auto">
          <a:xfrm>
            <a:off x="7493000" y="4141788"/>
            <a:ext cx="3175" cy="1968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02" name="Rectangle 68"/>
          <p:cNvSpPr>
            <a:spLocks noChangeArrowheads="1"/>
          </p:cNvSpPr>
          <p:nvPr/>
        </p:nvSpPr>
        <p:spPr bwMode="auto">
          <a:xfrm>
            <a:off x="7575550" y="4141788"/>
            <a:ext cx="3175" cy="1968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03" name="Rectangle 69"/>
          <p:cNvSpPr>
            <a:spLocks noChangeArrowheads="1"/>
          </p:cNvSpPr>
          <p:nvPr/>
        </p:nvSpPr>
        <p:spPr bwMode="auto">
          <a:xfrm>
            <a:off x="7658100" y="4141788"/>
            <a:ext cx="4763" cy="1968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04" name="Rectangle 70"/>
          <p:cNvSpPr>
            <a:spLocks noChangeArrowheads="1"/>
          </p:cNvSpPr>
          <p:nvPr/>
        </p:nvSpPr>
        <p:spPr bwMode="auto">
          <a:xfrm>
            <a:off x="6757988" y="4338638"/>
            <a:ext cx="4762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05" name="Rectangle 71"/>
          <p:cNvSpPr>
            <a:spLocks noChangeArrowheads="1"/>
          </p:cNvSpPr>
          <p:nvPr/>
        </p:nvSpPr>
        <p:spPr bwMode="auto">
          <a:xfrm>
            <a:off x="6762750" y="4338638"/>
            <a:ext cx="793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06" name="Rectangle 72"/>
          <p:cNvSpPr>
            <a:spLocks noChangeArrowheads="1"/>
          </p:cNvSpPr>
          <p:nvPr/>
        </p:nvSpPr>
        <p:spPr bwMode="auto">
          <a:xfrm>
            <a:off x="6842125" y="4338638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07" name="Rectangle 73"/>
          <p:cNvSpPr>
            <a:spLocks noChangeArrowheads="1"/>
          </p:cNvSpPr>
          <p:nvPr/>
        </p:nvSpPr>
        <p:spPr bwMode="auto">
          <a:xfrm>
            <a:off x="6845300" y="4338638"/>
            <a:ext cx="550863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08" name="Rectangle 74"/>
          <p:cNvSpPr>
            <a:spLocks noChangeArrowheads="1"/>
          </p:cNvSpPr>
          <p:nvPr/>
        </p:nvSpPr>
        <p:spPr bwMode="auto">
          <a:xfrm>
            <a:off x="7396163" y="4338638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09" name="Rectangle 75"/>
          <p:cNvSpPr>
            <a:spLocks noChangeArrowheads="1"/>
          </p:cNvSpPr>
          <p:nvPr/>
        </p:nvSpPr>
        <p:spPr bwMode="auto">
          <a:xfrm>
            <a:off x="7399338" y="4338638"/>
            <a:ext cx="93662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10" name="Rectangle 76"/>
          <p:cNvSpPr>
            <a:spLocks noChangeArrowheads="1"/>
          </p:cNvSpPr>
          <p:nvPr/>
        </p:nvSpPr>
        <p:spPr bwMode="auto">
          <a:xfrm>
            <a:off x="7493000" y="4338638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11" name="Rectangle 77"/>
          <p:cNvSpPr>
            <a:spLocks noChangeArrowheads="1"/>
          </p:cNvSpPr>
          <p:nvPr/>
        </p:nvSpPr>
        <p:spPr bwMode="auto">
          <a:xfrm>
            <a:off x="7496175" y="4338638"/>
            <a:ext cx="793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12" name="Rectangle 78"/>
          <p:cNvSpPr>
            <a:spLocks noChangeArrowheads="1"/>
          </p:cNvSpPr>
          <p:nvPr/>
        </p:nvSpPr>
        <p:spPr bwMode="auto">
          <a:xfrm>
            <a:off x="7575550" y="4338638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13" name="Rectangle 79"/>
          <p:cNvSpPr>
            <a:spLocks noChangeArrowheads="1"/>
          </p:cNvSpPr>
          <p:nvPr/>
        </p:nvSpPr>
        <p:spPr bwMode="auto">
          <a:xfrm>
            <a:off x="7578725" y="4338638"/>
            <a:ext cx="793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14" name="Rectangle 80"/>
          <p:cNvSpPr>
            <a:spLocks noChangeArrowheads="1"/>
          </p:cNvSpPr>
          <p:nvPr/>
        </p:nvSpPr>
        <p:spPr bwMode="auto">
          <a:xfrm>
            <a:off x="7658100" y="4338638"/>
            <a:ext cx="4763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15" name="Rectangle 81"/>
          <p:cNvSpPr>
            <a:spLocks noChangeArrowheads="1"/>
          </p:cNvSpPr>
          <p:nvPr/>
        </p:nvSpPr>
        <p:spPr bwMode="auto">
          <a:xfrm>
            <a:off x="7662863" y="4338638"/>
            <a:ext cx="412750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16" name="Rectangle 82"/>
          <p:cNvSpPr>
            <a:spLocks noChangeArrowheads="1"/>
          </p:cNvSpPr>
          <p:nvPr/>
        </p:nvSpPr>
        <p:spPr bwMode="auto">
          <a:xfrm>
            <a:off x="8075613" y="4338638"/>
            <a:ext cx="3175" cy="31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17" name="Rectangle 83"/>
          <p:cNvSpPr>
            <a:spLocks noChangeArrowheads="1"/>
          </p:cNvSpPr>
          <p:nvPr/>
        </p:nvSpPr>
        <p:spPr bwMode="auto">
          <a:xfrm>
            <a:off x="6757988" y="4681538"/>
            <a:ext cx="4762" cy="15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18" name="Rectangle 84"/>
          <p:cNvSpPr>
            <a:spLocks noChangeArrowheads="1"/>
          </p:cNvSpPr>
          <p:nvPr/>
        </p:nvSpPr>
        <p:spPr bwMode="auto">
          <a:xfrm>
            <a:off x="6757988" y="4681538"/>
            <a:ext cx="4762" cy="15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19" name="Rectangle 85"/>
          <p:cNvSpPr>
            <a:spLocks noChangeArrowheads="1"/>
          </p:cNvSpPr>
          <p:nvPr/>
        </p:nvSpPr>
        <p:spPr bwMode="auto">
          <a:xfrm>
            <a:off x="6842125" y="4341813"/>
            <a:ext cx="3175" cy="3397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20" name="Rectangle 86"/>
          <p:cNvSpPr>
            <a:spLocks noChangeArrowheads="1"/>
          </p:cNvSpPr>
          <p:nvPr/>
        </p:nvSpPr>
        <p:spPr bwMode="auto">
          <a:xfrm>
            <a:off x="6842125" y="4681538"/>
            <a:ext cx="3175" cy="15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21" name="Rectangle 87"/>
          <p:cNvSpPr>
            <a:spLocks noChangeArrowheads="1"/>
          </p:cNvSpPr>
          <p:nvPr/>
        </p:nvSpPr>
        <p:spPr bwMode="auto">
          <a:xfrm>
            <a:off x="7493000" y="4341813"/>
            <a:ext cx="3175" cy="3397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22" name="Rectangle 88"/>
          <p:cNvSpPr>
            <a:spLocks noChangeArrowheads="1"/>
          </p:cNvSpPr>
          <p:nvPr/>
        </p:nvSpPr>
        <p:spPr bwMode="auto">
          <a:xfrm>
            <a:off x="7493000" y="4681538"/>
            <a:ext cx="3175" cy="15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23" name="Rectangle 89"/>
          <p:cNvSpPr>
            <a:spLocks noChangeArrowheads="1"/>
          </p:cNvSpPr>
          <p:nvPr/>
        </p:nvSpPr>
        <p:spPr bwMode="auto">
          <a:xfrm>
            <a:off x="7575550" y="4341813"/>
            <a:ext cx="3175" cy="3397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24" name="Rectangle 90"/>
          <p:cNvSpPr>
            <a:spLocks noChangeArrowheads="1"/>
          </p:cNvSpPr>
          <p:nvPr/>
        </p:nvSpPr>
        <p:spPr bwMode="auto">
          <a:xfrm>
            <a:off x="7575550" y="4681538"/>
            <a:ext cx="3175" cy="15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25" name="Rectangle 91"/>
          <p:cNvSpPr>
            <a:spLocks noChangeArrowheads="1"/>
          </p:cNvSpPr>
          <p:nvPr/>
        </p:nvSpPr>
        <p:spPr bwMode="auto">
          <a:xfrm>
            <a:off x="7658100" y="4341813"/>
            <a:ext cx="4763" cy="3397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26" name="Rectangle 92"/>
          <p:cNvSpPr>
            <a:spLocks noChangeArrowheads="1"/>
          </p:cNvSpPr>
          <p:nvPr/>
        </p:nvSpPr>
        <p:spPr bwMode="auto">
          <a:xfrm>
            <a:off x="7658100" y="4681538"/>
            <a:ext cx="4763" cy="15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27" name="Rectangle 93"/>
          <p:cNvSpPr>
            <a:spLocks noChangeArrowheads="1"/>
          </p:cNvSpPr>
          <p:nvPr/>
        </p:nvSpPr>
        <p:spPr bwMode="auto">
          <a:xfrm>
            <a:off x="1000125" y="549275"/>
            <a:ext cx="7294563" cy="1654175"/>
          </a:xfrm>
          <a:prstGeom prst="rect">
            <a:avLst/>
          </a:prstGeom>
          <a:solidFill>
            <a:srgbClr val="009900"/>
          </a:solidFill>
          <a:ln w="9525">
            <a:noFill/>
            <a:miter lim="800000"/>
            <a:headEnd/>
            <a:tailEnd/>
          </a:ln>
        </p:spPr>
        <p:txBody>
          <a:bodyPr wrap="none" lIns="76304" tIns="38154" rIns="76304" bIns="38154" anchor="ctr"/>
          <a:lstStyle/>
          <a:p>
            <a:pPr defTabSz="819150" eaLnBrk="0" hangingPunct="0"/>
            <a:endParaRPr lang="en-US" sz="4700">
              <a:latin typeface="Arial Narrow" pitchFamily="34" charset="0"/>
            </a:endParaRPr>
          </a:p>
        </p:txBody>
      </p:sp>
      <p:sp>
        <p:nvSpPr>
          <p:cNvPr id="14428" name="Rectangle 94"/>
          <p:cNvSpPr>
            <a:spLocks noChangeArrowheads="1"/>
          </p:cNvSpPr>
          <p:nvPr/>
        </p:nvSpPr>
        <p:spPr bwMode="auto">
          <a:xfrm>
            <a:off x="968375" y="2147888"/>
            <a:ext cx="7327900" cy="3617912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7A8E99"/>
            </a:prst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4429" name="Rectangle 95"/>
          <p:cNvSpPr>
            <a:spLocks noChangeArrowheads="1"/>
          </p:cNvSpPr>
          <p:nvPr/>
        </p:nvSpPr>
        <p:spPr bwMode="auto">
          <a:xfrm>
            <a:off x="1028700" y="2144713"/>
            <a:ext cx="7308850" cy="354806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30" name="Rectangle 96"/>
          <p:cNvSpPr>
            <a:spLocks noChangeArrowheads="1"/>
          </p:cNvSpPr>
          <p:nvPr/>
        </p:nvSpPr>
        <p:spPr bwMode="auto">
          <a:xfrm>
            <a:off x="4175125" y="3776663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31" name="Rectangle 97"/>
          <p:cNvSpPr>
            <a:spLocks noChangeArrowheads="1"/>
          </p:cNvSpPr>
          <p:nvPr/>
        </p:nvSpPr>
        <p:spPr bwMode="auto">
          <a:xfrm>
            <a:off x="6615113" y="3686175"/>
            <a:ext cx="4762" cy="296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32" name="Rectangle 98"/>
          <p:cNvSpPr>
            <a:spLocks noChangeArrowheads="1"/>
          </p:cNvSpPr>
          <p:nvPr/>
        </p:nvSpPr>
        <p:spPr bwMode="auto">
          <a:xfrm>
            <a:off x="6615113" y="3987800"/>
            <a:ext cx="4762" cy="29210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33" name="Rectangle 99"/>
          <p:cNvSpPr>
            <a:spLocks noChangeArrowheads="1"/>
          </p:cNvSpPr>
          <p:nvPr/>
        </p:nvSpPr>
        <p:spPr bwMode="auto">
          <a:xfrm>
            <a:off x="6615113" y="4279900"/>
            <a:ext cx="4762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34" name="Rectangle 100"/>
          <p:cNvSpPr>
            <a:spLocks noChangeArrowheads="1"/>
          </p:cNvSpPr>
          <p:nvPr/>
        </p:nvSpPr>
        <p:spPr bwMode="auto">
          <a:xfrm>
            <a:off x="7253288" y="4279900"/>
            <a:ext cx="3175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35" name="Rectangle 101"/>
          <p:cNvSpPr>
            <a:spLocks noChangeArrowheads="1"/>
          </p:cNvSpPr>
          <p:nvPr/>
        </p:nvSpPr>
        <p:spPr bwMode="auto">
          <a:xfrm>
            <a:off x="6615113" y="4284663"/>
            <a:ext cx="4762" cy="1968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36" name="Rectangle 102"/>
          <p:cNvSpPr>
            <a:spLocks noChangeArrowheads="1"/>
          </p:cNvSpPr>
          <p:nvPr/>
        </p:nvSpPr>
        <p:spPr bwMode="auto">
          <a:xfrm>
            <a:off x="6615113" y="4484688"/>
            <a:ext cx="4762" cy="3397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75" name="Text Box 103"/>
          <p:cNvSpPr txBox="1">
            <a:spLocks noChangeArrowheads="1"/>
          </p:cNvSpPr>
          <p:nvPr/>
        </p:nvSpPr>
        <p:spPr bwMode="auto">
          <a:xfrm>
            <a:off x="1527175" y="669925"/>
            <a:ext cx="4475163" cy="141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lIns="76304" tIns="38154" rIns="76304" bIns="38154" anchor="ctr"/>
          <a:lstStyle/>
          <a:p>
            <a:pPr defTabSz="819150" eaLnBrk="0" hangingPunct="0">
              <a:defRPr/>
            </a:pPr>
            <a:r>
              <a:rPr lang="en-US" sz="4700">
                <a:latin typeface="Arial Narrow" pitchFamily="34" charset="0"/>
              </a:rPr>
              <a:t>CSMS Distribution </a:t>
            </a:r>
            <a:br>
              <a:rPr lang="en-US" sz="4700">
                <a:latin typeface="Arial Narrow" pitchFamily="34" charset="0"/>
              </a:rPr>
            </a:br>
            <a:r>
              <a:rPr lang="en-US" sz="4700">
                <a:latin typeface="Arial Narrow" pitchFamily="34" charset="0"/>
              </a:rPr>
              <a:t>of Responsibility</a:t>
            </a:r>
            <a:endParaRPr lang="en-US" sz="4700" b="0">
              <a:latin typeface="Arial Narrow" pitchFamily="34" charset="0"/>
            </a:endParaRPr>
          </a:p>
        </p:txBody>
      </p:sp>
      <p:sp>
        <p:nvSpPr>
          <p:cNvPr id="14438" name="Rectangle 104"/>
          <p:cNvSpPr>
            <a:spLocks noChangeArrowheads="1"/>
          </p:cNvSpPr>
          <p:nvPr/>
        </p:nvSpPr>
        <p:spPr bwMode="auto">
          <a:xfrm>
            <a:off x="1227138" y="2611438"/>
            <a:ext cx="1023937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39" name="Rectangle 105"/>
          <p:cNvSpPr>
            <a:spLocks noChangeArrowheads="1"/>
          </p:cNvSpPr>
          <p:nvPr/>
        </p:nvSpPr>
        <p:spPr bwMode="auto">
          <a:xfrm>
            <a:off x="2260600" y="2611438"/>
            <a:ext cx="1762125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40" name="Rectangle 106"/>
          <p:cNvSpPr>
            <a:spLocks noChangeArrowheads="1"/>
          </p:cNvSpPr>
          <p:nvPr/>
        </p:nvSpPr>
        <p:spPr bwMode="auto">
          <a:xfrm>
            <a:off x="1227138" y="2611438"/>
            <a:ext cx="14287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41" name="Rectangle 107"/>
          <p:cNvSpPr>
            <a:spLocks noChangeArrowheads="1"/>
          </p:cNvSpPr>
          <p:nvPr/>
        </p:nvSpPr>
        <p:spPr bwMode="auto">
          <a:xfrm>
            <a:off x="1241425" y="2611438"/>
            <a:ext cx="1009650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42" name="Rectangle 108"/>
          <p:cNvSpPr>
            <a:spLocks noChangeArrowheads="1"/>
          </p:cNvSpPr>
          <p:nvPr/>
        </p:nvSpPr>
        <p:spPr bwMode="auto">
          <a:xfrm>
            <a:off x="1273175" y="3768725"/>
            <a:ext cx="20638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70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443" name="Rectangle 109"/>
          <p:cNvSpPr>
            <a:spLocks noChangeArrowheads="1"/>
          </p:cNvSpPr>
          <p:nvPr/>
        </p:nvSpPr>
        <p:spPr bwMode="auto">
          <a:xfrm>
            <a:off x="2308225" y="3768725"/>
            <a:ext cx="20638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700">
                <a:solidFill>
                  <a:srgbClr val="FFFFFF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444" name="Rectangle 110"/>
          <p:cNvSpPr>
            <a:spLocks noChangeArrowheads="1"/>
          </p:cNvSpPr>
          <p:nvPr/>
        </p:nvSpPr>
        <p:spPr bwMode="auto">
          <a:xfrm>
            <a:off x="4079875" y="3768725"/>
            <a:ext cx="20638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700">
                <a:solidFill>
                  <a:srgbClr val="FFFFFF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445" name="Rectangle 111"/>
          <p:cNvSpPr>
            <a:spLocks noChangeArrowheads="1"/>
          </p:cNvSpPr>
          <p:nvPr/>
        </p:nvSpPr>
        <p:spPr bwMode="auto">
          <a:xfrm>
            <a:off x="5849938" y="3768725"/>
            <a:ext cx="20637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700">
                <a:solidFill>
                  <a:srgbClr val="FFFFFF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446" name="Rectangle 112"/>
          <p:cNvSpPr>
            <a:spLocks noChangeArrowheads="1"/>
          </p:cNvSpPr>
          <p:nvPr/>
        </p:nvSpPr>
        <p:spPr bwMode="auto">
          <a:xfrm>
            <a:off x="4032250" y="3719513"/>
            <a:ext cx="9525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47" name="Rectangle 113"/>
          <p:cNvSpPr>
            <a:spLocks noChangeArrowheads="1"/>
          </p:cNvSpPr>
          <p:nvPr/>
        </p:nvSpPr>
        <p:spPr bwMode="auto">
          <a:xfrm>
            <a:off x="6615113" y="3278188"/>
            <a:ext cx="4762" cy="666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48" name="Rectangle 114"/>
          <p:cNvSpPr>
            <a:spLocks noChangeArrowheads="1"/>
          </p:cNvSpPr>
          <p:nvPr/>
        </p:nvSpPr>
        <p:spPr bwMode="auto">
          <a:xfrm>
            <a:off x="6615113" y="3348038"/>
            <a:ext cx="4762" cy="33496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49" name="Rectangle 115"/>
          <p:cNvSpPr>
            <a:spLocks noChangeArrowheads="1"/>
          </p:cNvSpPr>
          <p:nvPr/>
        </p:nvSpPr>
        <p:spPr bwMode="auto">
          <a:xfrm>
            <a:off x="1273175" y="2230438"/>
            <a:ext cx="55563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 b="0">
                <a:solidFill>
                  <a:srgbClr val="00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450" name="Rectangle 116"/>
          <p:cNvSpPr>
            <a:spLocks noChangeArrowheads="1"/>
          </p:cNvSpPr>
          <p:nvPr/>
        </p:nvSpPr>
        <p:spPr bwMode="auto">
          <a:xfrm>
            <a:off x="2308225" y="2224088"/>
            <a:ext cx="1663700" cy="301625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89" name="Rectangle 117"/>
          <p:cNvSpPr>
            <a:spLocks noChangeArrowheads="1"/>
          </p:cNvSpPr>
          <p:nvPr/>
        </p:nvSpPr>
        <p:spPr bwMode="auto">
          <a:xfrm>
            <a:off x="2346325" y="2230438"/>
            <a:ext cx="163512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Risk Assessment</a:t>
            </a:r>
            <a:endParaRPr lang="en-US" sz="5400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14452" name="Rectangle 118"/>
          <p:cNvSpPr>
            <a:spLocks noChangeArrowheads="1"/>
          </p:cNvSpPr>
          <p:nvPr/>
        </p:nvSpPr>
        <p:spPr bwMode="auto">
          <a:xfrm>
            <a:off x="3935413" y="2230438"/>
            <a:ext cx="5556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453" name="Rectangle 119"/>
          <p:cNvSpPr>
            <a:spLocks noChangeArrowheads="1"/>
          </p:cNvSpPr>
          <p:nvPr/>
        </p:nvSpPr>
        <p:spPr bwMode="auto">
          <a:xfrm>
            <a:off x="2260600" y="2155825"/>
            <a:ext cx="1762125" cy="68263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54" name="Rectangle 120"/>
          <p:cNvSpPr>
            <a:spLocks noChangeArrowheads="1"/>
          </p:cNvSpPr>
          <p:nvPr/>
        </p:nvSpPr>
        <p:spPr bwMode="auto">
          <a:xfrm>
            <a:off x="2260600" y="2224088"/>
            <a:ext cx="47625" cy="301625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55" name="Rectangle 121"/>
          <p:cNvSpPr>
            <a:spLocks noChangeArrowheads="1"/>
          </p:cNvSpPr>
          <p:nvPr/>
        </p:nvSpPr>
        <p:spPr bwMode="auto">
          <a:xfrm>
            <a:off x="3971925" y="2224088"/>
            <a:ext cx="50800" cy="301625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56" name="Rectangle 122"/>
          <p:cNvSpPr>
            <a:spLocks noChangeArrowheads="1"/>
          </p:cNvSpPr>
          <p:nvPr/>
        </p:nvSpPr>
        <p:spPr bwMode="auto">
          <a:xfrm>
            <a:off x="2260600" y="2525713"/>
            <a:ext cx="1762125" cy="698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57" name="Rectangle 123"/>
          <p:cNvSpPr>
            <a:spLocks noChangeArrowheads="1"/>
          </p:cNvSpPr>
          <p:nvPr/>
        </p:nvSpPr>
        <p:spPr bwMode="auto">
          <a:xfrm>
            <a:off x="4079875" y="2224088"/>
            <a:ext cx="1665288" cy="301625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396" name="Rectangle 124"/>
          <p:cNvSpPr>
            <a:spLocks noChangeArrowheads="1"/>
          </p:cNvSpPr>
          <p:nvPr/>
        </p:nvSpPr>
        <p:spPr bwMode="auto">
          <a:xfrm>
            <a:off x="4143375" y="2230438"/>
            <a:ext cx="3175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Pre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459" name="Rectangle 125"/>
          <p:cNvSpPr>
            <a:spLocks noChangeArrowheads="1"/>
          </p:cNvSpPr>
          <p:nvPr/>
        </p:nvSpPr>
        <p:spPr bwMode="auto">
          <a:xfrm>
            <a:off x="4451350" y="2230438"/>
            <a:ext cx="6508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-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82398" name="Rectangle 126"/>
          <p:cNvSpPr>
            <a:spLocks noChangeArrowheads="1"/>
          </p:cNvSpPr>
          <p:nvPr/>
        </p:nvSpPr>
        <p:spPr bwMode="auto">
          <a:xfrm>
            <a:off x="4516438" y="2230438"/>
            <a:ext cx="119697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Qualification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461" name="Rectangle 127"/>
          <p:cNvSpPr>
            <a:spLocks noChangeArrowheads="1"/>
          </p:cNvSpPr>
          <p:nvPr/>
        </p:nvSpPr>
        <p:spPr bwMode="auto">
          <a:xfrm>
            <a:off x="5680075" y="2230438"/>
            <a:ext cx="55563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462" name="Rectangle 128"/>
          <p:cNvSpPr>
            <a:spLocks noChangeArrowheads="1"/>
          </p:cNvSpPr>
          <p:nvPr/>
        </p:nvSpPr>
        <p:spPr bwMode="auto">
          <a:xfrm>
            <a:off x="4032250" y="2155825"/>
            <a:ext cx="1758950" cy="68263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63" name="Rectangle 129"/>
          <p:cNvSpPr>
            <a:spLocks noChangeArrowheads="1"/>
          </p:cNvSpPr>
          <p:nvPr/>
        </p:nvSpPr>
        <p:spPr bwMode="auto">
          <a:xfrm>
            <a:off x="4032250" y="2224088"/>
            <a:ext cx="47625" cy="301625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64" name="Rectangle 130"/>
          <p:cNvSpPr>
            <a:spLocks noChangeArrowheads="1"/>
          </p:cNvSpPr>
          <p:nvPr/>
        </p:nvSpPr>
        <p:spPr bwMode="auto">
          <a:xfrm>
            <a:off x="5745163" y="2224088"/>
            <a:ext cx="46037" cy="301625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65" name="Rectangle 131"/>
          <p:cNvSpPr>
            <a:spLocks noChangeArrowheads="1"/>
          </p:cNvSpPr>
          <p:nvPr/>
        </p:nvSpPr>
        <p:spPr bwMode="auto">
          <a:xfrm>
            <a:off x="4032250" y="2525713"/>
            <a:ext cx="1758950" cy="698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66" name="Rectangle 132"/>
          <p:cNvSpPr>
            <a:spLocks noChangeArrowheads="1"/>
          </p:cNvSpPr>
          <p:nvPr/>
        </p:nvSpPr>
        <p:spPr bwMode="auto">
          <a:xfrm>
            <a:off x="5849938" y="2224088"/>
            <a:ext cx="1663700" cy="301625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405" name="Rectangle 133"/>
          <p:cNvSpPr>
            <a:spLocks noChangeArrowheads="1"/>
          </p:cNvSpPr>
          <p:nvPr/>
        </p:nvSpPr>
        <p:spPr bwMode="auto">
          <a:xfrm>
            <a:off x="6254750" y="2230438"/>
            <a:ext cx="87788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Selection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468" name="Rectangle 134"/>
          <p:cNvSpPr>
            <a:spLocks noChangeArrowheads="1"/>
          </p:cNvSpPr>
          <p:nvPr/>
        </p:nvSpPr>
        <p:spPr bwMode="auto">
          <a:xfrm>
            <a:off x="7107238" y="2230438"/>
            <a:ext cx="5556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469" name="Rectangle 135"/>
          <p:cNvSpPr>
            <a:spLocks noChangeArrowheads="1"/>
          </p:cNvSpPr>
          <p:nvPr/>
        </p:nvSpPr>
        <p:spPr bwMode="auto">
          <a:xfrm>
            <a:off x="5802313" y="2155825"/>
            <a:ext cx="1760537" cy="68263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70" name="Rectangle 136"/>
          <p:cNvSpPr>
            <a:spLocks noChangeArrowheads="1"/>
          </p:cNvSpPr>
          <p:nvPr/>
        </p:nvSpPr>
        <p:spPr bwMode="auto">
          <a:xfrm>
            <a:off x="5802313" y="2224088"/>
            <a:ext cx="47625" cy="301625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71" name="Rectangle 137"/>
          <p:cNvSpPr>
            <a:spLocks noChangeArrowheads="1"/>
          </p:cNvSpPr>
          <p:nvPr/>
        </p:nvSpPr>
        <p:spPr bwMode="auto">
          <a:xfrm>
            <a:off x="7513638" y="2224088"/>
            <a:ext cx="49212" cy="301625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72" name="Rectangle 138"/>
          <p:cNvSpPr>
            <a:spLocks noChangeArrowheads="1"/>
          </p:cNvSpPr>
          <p:nvPr/>
        </p:nvSpPr>
        <p:spPr bwMode="auto">
          <a:xfrm>
            <a:off x="5802313" y="2525713"/>
            <a:ext cx="1760537" cy="698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73" name="Rectangle 139"/>
          <p:cNvSpPr>
            <a:spLocks noChangeArrowheads="1"/>
          </p:cNvSpPr>
          <p:nvPr/>
        </p:nvSpPr>
        <p:spPr bwMode="auto">
          <a:xfrm>
            <a:off x="2251075" y="2144713"/>
            <a:ext cx="9525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74" name="Line 140"/>
          <p:cNvSpPr>
            <a:spLocks noChangeShapeType="1"/>
          </p:cNvSpPr>
          <p:nvPr/>
        </p:nvSpPr>
        <p:spPr bwMode="auto">
          <a:xfrm>
            <a:off x="2251075" y="2144713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75" name="Line 141"/>
          <p:cNvSpPr>
            <a:spLocks noChangeShapeType="1"/>
          </p:cNvSpPr>
          <p:nvPr/>
        </p:nvSpPr>
        <p:spPr bwMode="auto">
          <a:xfrm>
            <a:off x="2251075" y="2144713"/>
            <a:ext cx="1588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76" name="Rectangle 142"/>
          <p:cNvSpPr>
            <a:spLocks noChangeArrowheads="1"/>
          </p:cNvSpPr>
          <p:nvPr/>
        </p:nvSpPr>
        <p:spPr bwMode="auto">
          <a:xfrm>
            <a:off x="2251075" y="2144713"/>
            <a:ext cx="9525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77" name="Line 143"/>
          <p:cNvSpPr>
            <a:spLocks noChangeShapeType="1"/>
          </p:cNvSpPr>
          <p:nvPr/>
        </p:nvSpPr>
        <p:spPr bwMode="auto">
          <a:xfrm>
            <a:off x="2251075" y="2144713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78" name="Line 144"/>
          <p:cNvSpPr>
            <a:spLocks noChangeShapeType="1"/>
          </p:cNvSpPr>
          <p:nvPr/>
        </p:nvSpPr>
        <p:spPr bwMode="auto">
          <a:xfrm>
            <a:off x="2251075" y="2144713"/>
            <a:ext cx="1588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79" name="Rectangle 145"/>
          <p:cNvSpPr>
            <a:spLocks noChangeArrowheads="1"/>
          </p:cNvSpPr>
          <p:nvPr/>
        </p:nvSpPr>
        <p:spPr bwMode="auto">
          <a:xfrm>
            <a:off x="2260600" y="2144713"/>
            <a:ext cx="1762125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80" name="Line 146"/>
          <p:cNvSpPr>
            <a:spLocks noChangeShapeType="1"/>
          </p:cNvSpPr>
          <p:nvPr/>
        </p:nvSpPr>
        <p:spPr bwMode="auto">
          <a:xfrm>
            <a:off x="2260600" y="2144713"/>
            <a:ext cx="17621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81" name="Rectangle 147"/>
          <p:cNvSpPr>
            <a:spLocks noChangeArrowheads="1"/>
          </p:cNvSpPr>
          <p:nvPr/>
        </p:nvSpPr>
        <p:spPr bwMode="auto">
          <a:xfrm>
            <a:off x="4022725" y="2144713"/>
            <a:ext cx="9525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82" name="Line 148"/>
          <p:cNvSpPr>
            <a:spLocks noChangeShapeType="1"/>
          </p:cNvSpPr>
          <p:nvPr/>
        </p:nvSpPr>
        <p:spPr bwMode="auto">
          <a:xfrm>
            <a:off x="4022725" y="2144713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83" name="Line 149"/>
          <p:cNvSpPr>
            <a:spLocks noChangeShapeType="1"/>
          </p:cNvSpPr>
          <p:nvPr/>
        </p:nvSpPr>
        <p:spPr bwMode="auto">
          <a:xfrm>
            <a:off x="4022725" y="2144713"/>
            <a:ext cx="1588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84" name="Rectangle 150"/>
          <p:cNvSpPr>
            <a:spLocks noChangeArrowheads="1"/>
          </p:cNvSpPr>
          <p:nvPr/>
        </p:nvSpPr>
        <p:spPr bwMode="auto">
          <a:xfrm>
            <a:off x="4032250" y="2144713"/>
            <a:ext cx="1758950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85" name="Line 151"/>
          <p:cNvSpPr>
            <a:spLocks noChangeShapeType="1"/>
          </p:cNvSpPr>
          <p:nvPr/>
        </p:nvSpPr>
        <p:spPr bwMode="auto">
          <a:xfrm>
            <a:off x="4032250" y="2144713"/>
            <a:ext cx="17589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86" name="Rectangle 152"/>
          <p:cNvSpPr>
            <a:spLocks noChangeArrowheads="1"/>
          </p:cNvSpPr>
          <p:nvPr/>
        </p:nvSpPr>
        <p:spPr bwMode="auto">
          <a:xfrm>
            <a:off x="5791200" y="2144713"/>
            <a:ext cx="11113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87" name="Line 153"/>
          <p:cNvSpPr>
            <a:spLocks noChangeShapeType="1"/>
          </p:cNvSpPr>
          <p:nvPr/>
        </p:nvSpPr>
        <p:spPr bwMode="auto">
          <a:xfrm>
            <a:off x="5791200" y="2144713"/>
            <a:ext cx="11113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88" name="Line 154"/>
          <p:cNvSpPr>
            <a:spLocks noChangeShapeType="1"/>
          </p:cNvSpPr>
          <p:nvPr/>
        </p:nvSpPr>
        <p:spPr bwMode="auto">
          <a:xfrm>
            <a:off x="5791200" y="2144713"/>
            <a:ext cx="1588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89" name="Rectangle 155"/>
          <p:cNvSpPr>
            <a:spLocks noChangeArrowheads="1"/>
          </p:cNvSpPr>
          <p:nvPr/>
        </p:nvSpPr>
        <p:spPr bwMode="auto">
          <a:xfrm>
            <a:off x="5802313" y="2144713"/>
            <a:ext cx="1760537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90" name="Line 156"/>
          <p:cNvSpPr>
            <a:spLocks noChangeShapeType="1"/>
          </p:cNvSpPr>
          <p:nvPr/>
        </p:nvSpPr>
        <p:spPr bwMode="auto">
          <a:xfrm>
            <a:off x="5802313" y="2144713"/>
            <a:ext cx="17605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91" name="Rectangle 157"/>
          <p:cNvSpPr>
            <a:spLocks noChangeArrowheads="1"/>
          </p:cNvSpPr>
          <p:nvPr/>
        </p:nvSpPr>
        <p:spPr bwMode="auto">
          <a:xfrm>
            <a:off x="7562850" y="2144713"/>
            <a:ext cx="9525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92" name="Line 158"/>
          <p:cNvSpPr>
            <a:spLocks noChangeShapeType="1"/>
          </p:cNvSpPr>
          <p:nvPr/>
        </p:nvSpPr>
        <p:spPr bwMode="auto">
          <a:xfrm>
            <a:off x="7562850" y="2144713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93" name="Line 159"/>
          <p:cNvSpPr>
            <a:spLocks noChangeShapeType="1"/>
          </p:cNvSpPr>
          <p:nvPr/>
        </p:nvSpPr>
        <p:spPr bwMode="auto">
          <a:xfrm>
            <a:off x="7562850" y="2144713"/>
            <a:ext cx="1588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94" name="Rectangle 160"/>
          <p:cNvSpPr>
            <a:spLocks noChangeArrowheads="1"/>
          </p:cNvSpPr>
          <p:nvPr/>
        </p:nvSpPr>
        <p:spPr bwMode="auto">
          <a:xfrm>
            <a:off x="7562850" y="2144713"/>
            <a:ext cx="9525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95" name="Line 161"/>
          <p:cNvSpPr>
            <a:spLocks noChangeShapeType="1"/>
          </p:cNvSpPr>
          <p:nvPr/>
        </p:nvSpPr>
        <p:spPr bwMode="auto">
          <a:xfrm>
            <a:off x="7562850" y="2144713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96" name="Line 162"/>
          <p:cNvSpPr>
            <a:spLocks noChangeShapeType="1"/>
          </p:cNvSpPr>
          <p:nvPr/>
        </p:nvSpPr>
        <p:spPr bwMode="auto">
          <a:xfrm>
            <a:off x="7562850" y="2144713"/>
            <a:ext cx="1588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97" name="Rectangle 163"/>
          <p:cNvSpPr>
            <a:spLocks noChangeArrowheads="1"/>
          </p:cNvSpPr>
          <p:nvPr/>
        </p:nvSpPr>
        <p:spPr bwMode="auto">
          <a:xfrm>
            <a:off x="2251075" y="2155825"/>
            <a:ext cx="9525" cy="4397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98" name="Line 164"/>
          <p:cNvSpPr>
            <a:spLocks noChangeShapeType="1"/>
          </p:cNvSpPr>
          <p:nvPr/>
        </p:nvSpPr>
        <p:spPr bwMode="auto">
          <a:xfrm>
            <a:off x="2251075" y="2155825"/>
            <a:ext cx="1588" cy="439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499" name="Rectangle 165"/>
          <p:cNvSpPr>
            <a:spLocks noChangeArrowheads="1"/>
          </p:cNvSpPr>
          <p:nvPr/>
        </p:nvSpPr>
        <p:spPr bwMode="auto">
          <a:xfrm>
            <a:off x="4022725" y="2155825"/>
            <a:ext cx="9525" cy="4397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00" name="Line 166"/>
          <p:cNvSpPr>
            <a:spLocks noChangeShapeType="1"/>
          </p:cNvSpPr>
          <p:nvPr/>
        </p:nvSpPr>
        <p:spPr bwMode="auto">
          <a:xfrm>
            <a:off x="4022725" y="2155825"/>
            <a:ext cx="1588" cy="439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01" name="Rectangle 167"/>
          <p:cNvSpPr>
            <a:spLocks noChangeArrowheads="1"/>
          </p:cNvSpPr>
          <p:nvPr/>
        </p:nvSpPr>
        <p:spPr bwMode="auto">
          <a:xfrm>
            <a:off x="5791200" y="2155825"/>
            <a:ext cx="11113" cy="4397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02" name="Line 168"/>
          <p:cNvSpPr>
            <a:spLocks noChangeShapeType="1"/>
          </p:cNvSpPr>
          <p:nvPr/>
        </p:nvSpPr>
        <p:spPr bwMode="auto">
          <a:xfrm>
            <a:off x="5791200" y="2155825"/>
            <a:ext cx="1588" cy="439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03" name="Rectangle 169"/>
          <p:cNvSpPr>
            <a:spLocks noChangeArrowheads="1"/>
          </p:cNvSpPr>
          <p:nvPr/>
        </p:nvSpPr>
        <p:spPr bwMode="auto">
          <a:xfrm>
            <a:off x="7562850" y="2155825"/>
            <a:ext cx="9525" cy="4397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04" name="Line 170"/>
          <p:cNvSpPr>
            <a:spLocks noChangeShapeType="1"/>
          </p:cNvSpPr>
          <p:nvPr/>
        </p:nvSpPr>
        <p:spPr bwMode="auto">
          <a:xfrm>
            <a:off x="7562850" y="2155825"/>
            <a:ext cx="1588" cy="439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05" name="Rectangle 171"/>
          <p:cNvSpPr>
            <a:spLocks noChangeArrowheads="1"/>
          </p:cNvSpPr>
          <p:nvPr/>
        </p:nvSpPr>
        <p:spPr bwMode="auto">
          <a:xfrm>
            <a:off x="1281113" y="2781300"/>
            <a:ext cx="930275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06" name="Rectangle 172"/>
          <p:cNvSpPr>
            <a:spLocks noChangeArrowheads="1"/>
          </p:cNvSpPr>
          <p:nvPr/>
        </p:nvSpPr>
        <p:spPr bwMode="auto">
          <a:xfrm>
            <a:off x="1281113" y="2781300"/>
            <a:ext cx="93503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0100" eaLnBrk="0" hangingPunct="0"/>
            <a:r>
              <a:rPr lang="en-US" sz="1800">
                <a:latin typeface="Arial Narrow" pitchFamily="34" charset="0"/>
              </a:rPr>
              <a:t>Client</a:t>
            </a:r>
            <a:endParaRPr lang="en-US" sz="5400">
              <a:latin typeface="Arial Narrow" pitchFamily="34" charset="0"/>
            </a:endParaRPr>
          </a:p>
        </p:txBody>
      </p:sp>
      <p:sp>
        <p:nvSpPr>
          <p:cNvPr id="14507" name="Rectangle 175"/>
          <p:cNvSpPr>
            <a:spLocks noChangeArrowheads="1"/>
          </p:cNvSpPr>
          <p:nvPr/>
        </p:nvSpPr>
        <p:spPr bwMode="auto">
          <a:xfrm>
            <a:off x="2092325" y="2892425"/>
            <a:ext cx="523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508" name="Rectangle 176"/>
          <p:cNvSpPr>
            <a:spLocks noChangeArrowheads="1"/>
          </p:cNvSpPr>
          <p:nvPr/>
        </p:nvSpPr>
        <p:spPr bwMode="auto">
          <a:xfrm>
            <a:off x="1227138" y="2611438"/>
            <a:ext cx="46037" cy="55403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09" name="Rectangle 177"/>
          <p:cNvSpPr>
            <a:spLocks noChangeArrowheads="1"/>
          </p:cNvSpPr>
          <p:nvPr/>
        </p:nvSpPr>
        <p:spPr bwMode="auto">
          <a:xfrm>
            <a:off x="2203450" y="2611438"/>
            <a:ext cx="47625" cy="55403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10" name="Rectangle 178"/>
          <p:cNvSpPr>
            <a:spLocks noChangeArrowheads="1"/>
          </p:cNvSpPr>
          <p:nvPr/>
        </p:nvSpPr>
        <p:spPr bwMode="auto">
          <a:xfrm>
            <a:off x="2308225" y="2611438"/>
            <a:ext cx="1663700" cy="2778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451" name="Rectangle 179"/>
          <p:cNvSpPr>
            <a:spLocks noChangeArrowheads="1"/>
          </p:cNvSpPr>
          <p:nvPr/>
        </p:nvSpPr>
        <p:spPr bwMode="auto">
          <a:xfrm>
            <a:off x="2355850" y="2614613"/>
            <a:ext cx="15684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600">
                <a:latin typeface="Arial Narrow" pitchFamily="34" charset="0"/>
              </a:rPr>
              <a:t>End User (Contract</a:t>
            </a:r>
            <a:r>
              <a:rPr lang="en-US" sz="1800">
                <a:latin typeface="Arial Narrow" pitchFamily="34" charset="0"/>
              </a:rPr>
              <a:t> </a:t>
            </a:r>
            <a:endParaRPr lang="en-US" sz="5400">
              <a:latin typeface="Arial Narrow" pitchFamily="34" charset="0"/>
            </a:endParaRPr>
          </a:p>
        </p:txBody>
      </p:sp>
      <p:sp>
        <p:nvSpPr>
          <p:cNvPr id="14512" name="Rectangle 180"/>
          <p:cNvSpPr>
            <a:spLocks noChangeArrowheads="1"/>
          </p:cNvSpPr>
          <p:nvPr/>
        </p:nvSpPr>
        <p:spPr bwMode="auto">
          <a:xfrm>
            <a:off x="2308225" y="2889250"/>
            <a:ext cx="1663700" cy="2762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453" name="Rectangle 181"/>
          <p:cNvSpPr>
            <a:spLocks noChangeArrowheads="1"/>
          </p:cNvSpPr>
          <p:nvPr/>
        </p:nvSpPr>
        <p:spPr bwMode="auto">
          <a:xfrm>
            <a:off x="2792413" y="2924175"/>
            <a:ext cx="8016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>
                <a:latin typeface="Arial Narrow" pitchFamily="34" charset="0"/>
              </a:rPr>
              <a:t>Initiator)</a:t>
            </a:r>
            <a:r>
              <a:rPr lang="en-US" sz="1800" b="0">
                <a:solidFill>
                  <a:srgbClr val="FF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4514" name="Rectangle 182"/>
          <p:cNvSpPr>
            <a:spLocks noChangeArrowheads="1"/>
          </p:cNvSpPr>
          <p:nvPr/>
        </p:nvSpPr>
        <p:spPr bwMode="auto">
          <a:xfrm>
            <a:off x="3506788" y="2892425"/>
            <a:ext cx="523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515" name="Rectangle 183"/>
          <p:cNvSpPr>
            <a:spLocks noChangeArrowheads="1"/>
          </p:cNvSpPr>
          <p:nvPr/>
        </p:nvSpPr>
        <p:spPr bwMode="auto">
          <a:xfrm>
            <a:off x="2260600" y="2611438"/>
            <a:ext cx="47625" cy="55403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16" name="Rectangle 184"/>
          <p:cNvSpPr>
            <a:spLocks noChangeArrowheads="1"/>
          </p:cNvSpPr>
          <p:nvPr/>
        </p:nvSpPr>
        <p:spPr bwMode="auto">
          <a:xfrm>
            <a:off x="3971925" y="2611438"/>
            <a:ext cx="50800" cy="55403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17" name="Rectangle 185"/>
          <p:cNvSpPr>
            <a:spLocks noChangeArrowheads="1"/>
          </p:cNvSpPr>
          <p:nvPr/>
        </p:nvSpPr>
        <p:spPr bwMode="auto">
          <a:xfrm>
            <a:off x="4079875" y="2751138"/>
            <a:ext cx="1665288" cy="2762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18" name="Rectangle 186"/>
          <p:cNvSpPr>
            <a:spLocks noChangeArrowheads="1"/>
          </p:cNvSpPr>
          <p:nvPr/>
        </p:nvSpPr>
        <p:spPr bwMode="auto">
          <a:xfrm>
            <a:off x="5576888" y="2754313"/>
            <a:ext cx="523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519" name="Rectangle 187"/>
          <p:cNvSpPr>
            <a:spLocks noChangeArrowheads="1"/>
          </p:cNvSpPr>
          <p:nvPr/>
        </p:nvSpPr>
        <p:spPr bwMode="auto">
          <a:xfrm>
            <a:off x="4032250" y="2611438"/>
            <a:ext cx="1758950" cy="139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20" name="Rectangle 188"/>
          <p:cNvSpPr>
            <a:spLocks noChangeArrowheads="1"/>
          </p:cNvSpPr>
          <p:nvPr/>
        </p:nvSpPr>
        <p:spPr bwMode="auto">
          <a:xfrm>
            <a:off x="4032250" y="2751138"/>
            <a:ext cx="47625" cy="2762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21" name="Rectangle 189"/>
          <p:cNvSpPr>
            <a:spLocks noChangeArrowheads="1"/>
          </p:cNvSpPr>
          <p:nvPr/>
        </p:nvSpPr>
        <p:spPr bwMode="auto">
          <a:xfrm>
            <a:off x="5745163" y="2751138"/>
            <a:ext cx="46037" cy="2762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22" name="Rectangle 190"/>
          <p:cNvSpPr>
            <a:spLocks noChangeArrowheads="1"/>
          </p:cNvSpPr>
          <p:nvPr/>
        </p:nvSpPr>
        <p:spPr bwMode="auto">
          <a:xfrm>
            <a:off x="4032250" y="3027363"/>
            <a:ext cx="1758950" cy="1381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23" name="Rectangle 191"/>
          <p:cNvSpPr>
            <a:spLocks noChangeArrowheads="1"/>
          </p:cNvSpPr>
          <p:nvPr/>
        </p:nvSpPr>
        <p:spPr bwMode="auto">
          <a:xfrm>
            <a:off x="5849938" y="2751138"/>
            <a:ext cx="1663700" cy="2762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464" name="Rectangle 192"/>
          <p:cNvSpPr>
            <a:spLocks noChangeArrowheads="1"/>
          </p:cNvSpPr>
          <p:nvPr/>
        </p:nvSpPr>
        <p:spPr bwMode="auto">
          <a:xfrm>
            <a:off x="6364288" y="2754313"/>
            <a:ext cx="7524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End user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525" name="Rectangle 193"/>
          <p:cNvSpPr>
            <a:spLocks noChangeArrowheads="1"/>
          </p:cNvSpPr>
          <p:nvPr/>
        </p:nvSpPr>
        <p:spPr bwMode="auto">
          <a:xfrm>
            <a:off x="7331075" y="2754313"/>
            <a:ext cx="523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526" name="Rectangle 194"/>
          <p:cNvSpPr>
            <a:spLocks noChangeArrowheads="1"/>
          </p:cNvSpPr>
          <p:nvPr/>
        </p:nvSpPr>
        <p:spPr bwMode="auto">
          <a:xfrm>
            <a:off x="5802313" y="2611438"/>
            <a:ext cx="1760537" cy="139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27" name="Rectangle 195"/>
          <p:cNvSpPr>
            <a:spLocks noChangeArrowheads="1"/>
          </p:cNvSpPr>
          <p:nvPr/>
        </p:nvSpPr>
        <p:spPr bwMode="auto">
          <a:xfrm>
            <a:off x="5802313" y="2751138"/>
            <a:ext cx="47625" cy="2762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28" name="Rectangle 196"/>
          <p:cNvSpPr>
            <a:spLocks noChangeArrowheads="1"/>
          </p:cNvSpPr>
          <p:nvPr/>
        </p:nvSpPr>
        <p:spPr bwMode="auto">
          <a:xfrm>
            <a:off x="7513638" y="2751138"/>
            <a:ext cx="49212" cy="2762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29" name="Rectangle 197"/>
          <p:cNvSpPr>
            <a:spLocks noChangeArrowheads="1"/>
          </p:cNvSpPr>
          <p:nvPr/>
        </p:nvSpPr>
        <p:spPr bwMode="auto">
          <a:xfrm>
            <a:off x="5802313" y="3027363"/>
            <a:ext cx="1760537" cy="1381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30" name="Rectangle 198"/>
          <p:cNvSpPr>
            <a:spLocks noChangeArrowheads="1"/>
          </p:cNvSpPr>
          <p:nvPr/>
        </p:nvSpPr>
        <p:spPr bwMode="auto">
          <a:xfrm>
            <a:off x="1212850" y="2595563"/>
            <a:ext cx="14288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31" name="Line 199"/>
          <p:cNvSpPr>
            <a:spLocks noChangeShapeType="1"/>
          </p:cNvSpPr>
          <p:nvPr/>
        </p:nvSpPr>
        <p:spPr bwMode="auto">
          <a:xfrm>
            <a:off x="1212850" y="2595563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32" name="Rectangle 200"/>
          <p:cNvSpPr>
            <a:spLocks noChangeArrowheads="1"/>
          </p:cNvSpPr>
          <p:nvPr/>
        </p:nvSpPr>
        <p:spPr bwMode="auto">
          <a:xfrm>
            <a:off x="1212850" y="2595563"/>
            <a:ext cx="14288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33" name="Line 201"/>
          <p:cNvSpPr>
            <a:spLocks noChangeShapeType="1"/>
          </p:cNvSpPr>
          <p:nvPr/>
        </p:nvSpPr>
        <p:spPr bwMode="auto">
          <a:xfrm>
            <a:off x="1212850" y="2595563"/>
            <a:ext cx="142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34" name="Line 202"/>
          <p:cNvSpPr>
            <a:spLocks noChangeShapeType="1"/>
          </p:cNvSpPr>
          <p:nvPr/>
        </p:nvSpPr>
        <p:spPr bwMode="auto">
          <a:xfrm>
            <a:off x="1212850" y="2595563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35" name="Rectangle 203"/>
          <p:cNvSpPr>
            <a:spLocks noChangeArrowheads="1"/>
          </p:cNvSpPr>
          <p:nvPr/>
        </p:nvSpPr>
        <p:spPr bwMode="auto">
          <a:xfrm>
            <a:off x="1227138" y="2595563"/>
            <a:ext cx="14287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36" name="Line 204"/>
          <p:cNvSpPr>
            <a:spLocks noChangeShapeType="1"/>
          </p:cNvSpPr>
          <p:nvPr/>
        </p:nvSpPr>
        <p:spPr bwMode="auto">
          <a:xfrm>
            <a:off x="1227138" y="2595563"/>
            <a:ext cx="1428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37" name="Line 205"/>
          <p:cNvSpPr>
            <a:spLocks noChangeShapeType="1"/>
          </p:cNvSpPr>
          <p:nvPr/>
        </p:nvSpPr>
        <p:spPr bwMode="auto">
          <a:xfrm>
            <a:off x="1227138" y="2595563"/>
            <a:ext cx="1587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38" name="Rectangle 206"/>
          <p:cNvSpPr>
            <a:spLocks noChangeArrowheads="1"/>
          </p:cNvSpPr>
          <p:nvPr/>
        </p:nvSpPr>
        <p:spPr bwMode="auto">
          <a:xfrm>
            <a:off x="1241425" y="2595563"/>
            <a:ext cx="1009650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39" name="Line 207"/>
          <p:cNvSpPr>
            <a:spLocks noChangeShapeType="1"/>
          </p:cNvSpPr>
          <p:nvPr/>
        </p:nvSpPr>
        <p:spPr bwMode="auto">
          <a:xfrm>
            <a:off x="1241425" y="2595563"/>
            <a:ext cx="10096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40" name="Rectangle 208"/>
          <p:cNvSpPr>
            <a:spLocks noChangeArrowheads="1"/>
          </p:cNvSpPr>
          <p:nvPr/>
        </p:nvSpPr>
        <p:spPr bwMode="auto">
          <a:xfrm>
            <a:off x="2251075" y="2595563"/>
            <a:ext cx="9525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41" name="Line 209"/>
          <p:cNvSpPr>
            <a:spLocks noChangeShapeType="1"/>
          </p:cNvSpPr>
          <p:nvPr/>
        </p:nvSpPr>
        <p:spPr bwMode="auto">
          <a:xfrm>
            <a:off x="2251075" y="2595563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42" name="Rectangle 210"/>
          <p:cNvSpPr>
            <a:spLocks noChangeArrowheads="1"/>
          </p:cNvSpPr>
          <p:nvPr/>
        </p:nvSpPr>
        <p:spPr bwMode="auto">
          <a:xfrm>
            <a:off x="2260600" y="2595563"/>
            <a:ext cx="1762125" cy="158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43" name="Rectangle 211"/>
          <p:cNvSpPr>
            <a:spLocks noChangeArrowheads="1"/>
          </p:cNvSpPr>
          <p:nvPr/>
        </p:nvSpPr>
        <p:spPr bwMode="auto">
          <a:xfrm>
            <a:off x="4022725" y="2595563"/>
            <a:ext cx="9525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44" name="Line 212"/>
          <p:cNvSpPr>
            <a:spLocks noChangeShapeType="1"/>
          </p:cNvSpPr>
          <p:nvPr/>
        </p:nvSpPr>
        <p:spPr bwMode="auto">
          <a:xfrm>
            <a:off x="4022725" y="2595563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45" name="Rectangle 213"/>
          <p:cNvSpPr>
            <a:spLocks noChangeArrowheads="1"/>
          </p:cNvSpPr>
          <p:nvPr/>
        </p:nvSpPr>
        <p:spPr bwMode="auto">
          <a:xfrm>
            <a:off x="4032250" y="2595563"/>
            <a:ext cx="1758950" cy="158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46" name="Rectangle 214"/>
          <p:cNvSpPr>
            <a:spLocks noChangeArrowheads="1"/>
          </p:cNvSpPr>
          <p:nvPr/>
        </p:nvSpPr>
        <p:spPr bwMode="auto">
          <a:xfrm>
            <a:off x="5791200" y="2595563"/>
            <a:ext cx="11113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47" name="Line 215"/>
          <p:cNvSpPr>
            <a:spLocks noChangeShapeType="1"/>
          </p:cNvSpPr>
          <p:nvPr/>
        </p:nvSpPr>
        <p:spPr bwMode="auto">
          <a:xfrm>
            <a:off x="5791200" y="2595563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48" name="Rectangle 216"/>
          <p:cNvSpPr>
            <a:spLocks noChangeArrowheads="1"/>
          </p:cNvSpPr>
          <p:nvPr/>
        </p:nvSpPr>
        <p:spPr bwMode="auto">
          <a:xfrm>
            <a:off x="5802313" y="2595563"/>
            <a:ext cx="1760537" cy="158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49" name="Rectangle 217"/>
          <p:cNvSpPr>
            <a:spLocks noChangeArrowheads="1"/>
          </p:cNvSpPr>
          <p:nvPr/>
        </p:nvSpPr>
        <p:spPr bwMode="auto">
          <a:xfrm>
            <a:off x="7562850" y="2595563"/>
            <a:ext cx="9525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50" name="Line 218"/>
          <p:cNvSpPr>
            <a:spLocks noChangeShapeType="1"/>
          </p:cNvSpPr>
          <p:nvPr/>
        </p:nvSpPr>
        <p:spPr bwMode="auto">
          <a:xfrm>
            <a:off x="7562850" y="2595563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51" name="Rectangle 219"/>
          <p:cNvSpPr>
            <a:spLocks noChangeArrowheads="1"/>
          </p:cNvSpPr>
          <p:nvPr/>
        </p:nvSpPr>
        <p:spPr bwMode="auto">
          <a:xfrm>
            <a:off x="1212850" y="2611438"/>
            <a:ext cx="14288" cy="55403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52" name="Line 220"/>
          <p:cNvSpPr>
            <a:spLocks noChangeShapeType="1"/>
          </p:cNvSpPr>
          <p:nvPr/>
        </p:nvSpPr>
        <p:spPr bwMode="auto">
          <a:xfrm>
            <a:off x="1212850" y="2611438"/>
            <a:ext cx="1588" cy="5540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53" name="Rectangle 221"/>
          <p:cNvSpPr>
            <a:spLocks noChangeArrowheads="1"/>
          </p:cNvSpPr>
          <p:nvPr/>
        </p:nvSpPr>
        <p:spPr bwMode="auto">
          <a:xfrm>
            <a:off x="2251075" y="2611438"/>
            <a:ext cx="9525" cy="55403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54" name="Line 222"/>
          <p:cNvSpPr>
            <a:spLocks noChangeShapeType="1"/>
          </p:cNvSpPr>
          <p:nvPr/>
        </p:nvSpPr>
        <p:spPr bwMode="auto">
          <a:xfrm>
            <a:off x="2251075" y="2611438"/>
            <a:ext cx="1588" cy="5540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55" name="Rectangle 223"/>
          <p:cNvSpPr>
            <a:spLocks noChangeArrowheads="1"/>
          </p:cNvSpPr>
          <p:nvPr/>
        </p:nvSpPr>
        <p:spPr bwMode="auto">
          <a:xfrm>
            <a:off x="4022725" y="2611438"/>
            <a:ext cx="9525" cy="55403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56" name="Line 224"/>
          <p:cNvSpPr>
            <a:spLocks noChangeShapeType="1"/>
          </p:cNvSpPr>
          <p:nvPr/>
        </p:nvSpPr>
        <p:spPr bwMode="auto">
          <a:xfrm>
            <a:off x="4022725" y="2611438"/>
            <a:ext cx="1588" cy="5540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57" name="Rectangle 225"/>
          <p:cNvSpPr>
            <a:spLocks noChangeArrowheads="1"/>
          </p:cNvSpPr>
          <p:nvPr/>
        </p:nvSpPr>
        <p:spPr bwMode="auto">
          <a:xfrm>
            <a:off x="5791200" y="2611438"/>
            <a:ext cx="11113" cy="55403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58" name="Line 226"/>
          <p:cNvSpPr>
            <a:spLocks noChangeShapeType="1"/>
          </p:cNvSpPr>
          <p:nvPr/>
        </p:nvSpPr>
        <p:spPr bwMode="auto">
          <a:xfrm>
            <a:off x="5791200" y="2611438"/>
            <a:ext cx="1588" cy="5540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59" name="Rectangle 227"/>
          <p:cNvSpPr>
            <a:spLocks noChangeArrowheads="1"/>
          </p:cNvSpPr>
          <p:nvPr/>
        </p:nvSpPr>
        <p:spPr bwMode="auto">
          <a:xfrm>
            <a:off x="7562850" y="2611438"/>
            <a:ext cx="9525" cy="55403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60" name="Line 228"/>
          <p:cNvSpPr>
            <a:spLocks noChangeShapeType="1"/>
          </p:cNvSpPr>
          <p:nvPr/>
        </p:nvSpPr>
        <p:spPr bwMode="auto">
          <a:xfrm>
            <a:off x="7562850" y="2611438"/>
            <a:ext cx="1588" cy="5540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61" name="Rectangle 229"/>
          <p:cNvSpPr>
            <a:spLocks noChangeArrowheads="1"/>
          </p:cNvSpPr>
          <p:nvPr/>
        </p:nvSpPr>
        <p:spPr bwMode="auto">
          <a:xfrm>
            <a:off x="1273175" y="3302000"/>
            <a:ext cx="930275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62" name="Rectangle 230"/>
          <p:cNvSpPr>
            <a:spLocks noChangeArrowheads="1"/>
          </p:cNvSpPr>
          <p:nvPr/>
        </p:nvSpPr>
        <p:spPr bwMode="auto">
          <a:xfrm>
            <a:off x="1273175" y="3305175"/>
            <a:ext cx="90170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700">
                <a:solidFill>
                  <a:srgbClr val="010000"/>
                </a:solidFill>
                <a:latin typeface="Arial Narrow" pitchFamily="34" charset="0"/>
              </a:rPr>
              <a:t>Contractor</a:t>
            </a:r>
            <a:endParaRPr lang="en-US" sz="17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563" name="Rectangle 231"/>
          <p:cNvSpPr>
            <a:spLocks noChangeArrowheads="1"/>
          </p:cNvSpPr>
          <p:nvPr/>
        </p:nvSpPr>
        <p:spPr bwMode="auto">
          <a:xfrm>
            <a:off x="2170113" y="3305175"/>
            <a:ext cx="523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564" name="Rectangle 232"/>
          <p:cNvSpPr>
            <a:spLocks noChangeArrowheads="1"/>
          </p:cNvSpPr>
          <p:nvPr/>
        </p:nvSpPr>
        <p:spPr bwMode="auto">
          <a:xfrm>
            <a:off x="1227138" y="3165475"/>
            <a:ext cx="1023937" cy="136525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65" name="Rectangle 233"/>
          <p:cNvSpPr>
            <a:spLocks noChangeArrowheads="1"/>
          </p:cNvSpPr>
          <p:nvPr/>
        </p:nvSpPr>
        <p:spPr bwMode="auto">
          <a:xfrm>
            <a:off x="1227138" y="3302000"/>
            <a:ext cx="46037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66" name="Rectangle 234"/>
          <p:cNvSpPr>
            <a:spLocks noChangeArrowheads="1"/>
          </p:cNvSpPr>
          <p:nvPr/>
        </p:nvSpPr>
        <p:spPr bwMode="auto">
          <a:xfrm>
            <a:off x="2203450" y="3302000"/>
            <a:ext cx="47625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67" name="Rectangle 235"/>
          <p:cNvSpPr>
            <a:spLocks noChangeArrowheads="1"/>
          </p:cNvSpPr>
          <p:nvPr/>
        </p:nvSpPr>
        <p:spPr bwMode="auto">
          <a:xfrm>
            <a:off x="1227138" y="3579813"/>
            <a:ext cx="1023937" cy="139700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68" name="Rectangle 236"/>
          <p:cNvSpPr>
            <a:spLocks noChangeArrowheads="1"/>
          </p:cNvSpPr>
          <p:nvPr/>
        </p:nvSpPr>
        <p:spPr bwMode="auto">
          <a:xfrm>
            <a:off x="2308225" y="3302000"/>
            <a:ext cx="1663700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509" name="Rectangle 237"/>
          <p:cNvSpPr>
            <a:spLocks noChangeArrowheads="1"/>
          </p:cNvSpPr>
          <p:nvPr/>
        </p:nvSpPr>
        <p:spPr bwMode="auto">
          <a:xfrm>
            <a:off x="2932113" y="3305175"/>
            <a:ext cx="468312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>
                <a:latin typeface="Arial Narrow" pitchFamily="34" charset="0"/>
              </a:rPr>
              <a:t>None</a:t>
            </a:r>
            <a:endParaRPr lang="en-US" sz="5400">
              <a:latin typeface="Arial Narrow" pitchFamily="34" charset="0"/>
            </a:endParaRPr>
          </a:p>
        </p:txBody>
      </p:sp>
      <p:sp>
        <p:nvSpPr>
          <p:cNvPr id="14570" name="Rectangle 238"/>
          <p:cNvSpPr>
            <a:spLocks noChangeArrowheads="1"/>
          </p:cNvSpPr>
          <p:nvPr/>
        </p:nvSpPr>
        <p:spPr bwMode="auto">
          <a:xfrm>
            <a:off x="3351213" y="3305175"/>
            <a:ext cx="523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571" name="Rectangle 239"/>
          <p:cNvSpPr>
            <a:spLocks noChangeArrowheads="1"/>
          </p:cNvSpPr>
          <p:nvPr/>
        </p:nvSpPr>
        <p:spPr bwMode="auto">
          <a:xfrm>
            <a:off x="2260600" y="3165475"/>
            <a:ext cx="1762125" cy="136525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72" name="Rectangle 240"/>
          <p:cNvSpPr>
            <a:spLocks noChangeArrowheads="1"/>
          </p:cNvSpPr>
          <p:nvPr/>
        </p:nvSpPr>
        <p:spPr bwMode="auto">
          <a:xfrm>
            <a:off x="2260600" y="3302000"/>
            <a:ext cx="47625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73" name="Rectangle 241"/>
          <p:cNvSpPr>
            <a:spLocks noChangeArrowheads="1"/>
          </p:cNvSpPr>
          <p:nvPr/>
        </p:nvSpPr>
        <p:spPr bwMode="auto">
          <a:xfrm>
            <a:off x="3971925" y="3302000"/>
            <a:ext cx="50800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74" name="Rectangle 242"/>
          <p:cNvSpPr>
            <a:spLocks noChangeArrowheads="1"/>
          </p:cNvSpPr>
          <p:nvPr/>
        </p:nvSpPr>
        <p:spPr bwMode="auto">
          <a:xfrm>
            <a:off x="2260600" y="3579813"/>
            <a:ext cx="1762125" cy="139700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75" name="Rectangle 243"/>
          <p:cNvSpPr>
            <a:spLocks noChangeArrowheads="1"/>
          </p:cNvSpPr>
          <p:nvPr/>
        </p:nvSpPr>
        <p:spPr bwMode="auto">
          <a:xfrm>
            <a:off x="4079875" y="3165475"/>
            <a:ext cx="1665288" cy="276225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516" name="Rectangle 244"/>
          <p:cNvSpPr>
            <a:spLocks noChangeArrowheads="1"/>
          </p:cNvSpPr>
          <p:nvPr/>
        </p:nvSpPr>
        <p:spPr bwMode="auto">
          <a:xfrm>
            <a:off x="4451350" y="3167063"/>
            <a:ext cx="10350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Prepare the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577" name="Rectangle 245"/>
          <p:cNvSpPr>
            <a:spLocks noChangeArrowheads="1"/>
          </p:cNvSpPr>
          <p:nvPr/>
        </p:nvSpPr>
        <p:spPr bwMode="auto">
          <a:xfrm>
            <a:off x="4079875" y="3441700"/>
            <a:ext cx="1665288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518" name="Rectangle 246"/>
          <p:cNvSpPr>
            <a:spLocks noChangeArrowheads="1"/>
          </p:cNvSpPr>
          <p:nvPr/>
        </p:nvSpPr>
        <p:spPr bwMode="auto">
          <a:xfrm>
            <a:off x="4368800" y="3444875"/>
            <a:ext cx="1157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administrative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579" name="Rectangle 247"/>
          <p:cNvSpPr>
            <a:spLocks noChangeArrowheads="1"/>
          </p:cNvSpPr>
          <p:nvPr/>
        </p:nvSpPr>
        <p:spPr bwMode="auto">
          <a:xfrm>
            <a:off x="5454650" y="3444875"/>
            <a:ext cx="523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580" name="Rectangle 248"/>
          <p:cNvSpPr>
            <a:spLocks noChangeArrowheads="1"/>
          </p:cNvSpPr>
          <p:nvPr/>
        </p:nvSpPr>
        <p:spPr bwMode="auto">
          <a:xfrm>
            <a:off x="4032250" y="3165475"/>
            <a:ext cx="47625" cy="554038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81" name="Rectangle 249"/>
          <p:cNvSpPr>
            <a:spLocks noChangeArrowheads="1"/>
          </p:cNvSpPr>
          <p:nvPr/>
        </p:nvSpPr>
        <p:spPr bwMode="auto">
          <a:xfrm>
            <a:off x="5745163" y="3165475"/>
            <a:ext cx="46037" cy="554038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82" name="Rectangle 250"/>
          <p:cNvSpPr>
            <a:spLocks noChangeArrowheads="1"/>
          </p:cNvSpPr>
          <p:nvPr/>
        </p:nvSpPr>
        <p:spPr bwMode="auto">
          <a:xfrm>
            <a:off x="5849938" y="3165475"/>
            <a:ext cx="1663700" cy="276225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523" name="Rectangle 251"/>
          <p:cNvSpPr>
            <a:spLocks noChangeArrowheads="1"/>
          </p:cNvSpPr>
          <p:nvPr/>
        </p:nvSpPr>
        <p:spPr bwMode="auto">
          <a:xfrm>
            <a:off x="6257925" y="3167063"/>
            <a:ext cx="9604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Submit Bid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584" name="Rectangle 252"/>
          <p:cNvSpPr>
            <a:spLocks noChangeArrowheads="1"/>
          </p:cNvSpPr>
          <p:nvPr/>
        </p:nvSpPr>
        <p:spPr bwMode="auto">
          <a:xfrm>
            <a:off x="5849938" y="3441700"/>
            <a:ext cx="1663700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525" name="Rectangle 253"/>
          <p:cNvSpPr>
            <a:spLocks noChangeArrowheads="1"/>
          </p:cNvSpPr>
          <p:nvPr/>
        </p:nvSpPr>
        <p:spPr bwMode="auto">
          <a:xfrm>
            <a:off x="6237288" y="3444875"/>
            <a:ext cx="9493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Documents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586" name="Rectangle 254"/>
          <p:cNvSpPr>
            <a:spLocks noChangeArrowheads="1"/>
          </p:cNvSpPr>
          <p:nvPr/>
        </p:nvSpPr>
        <p:spPr bwMode="auto">
          <a:xfrm>
            <a:off x="7124700" y="3444875"/>
            <a:ext cx="523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587" name="Rectangle 255"/>
          <p:cNvSpPr>
            <a:spLocks noChangeArrowheads="1"/>
          </p:cNvSpPr>
          <p:nvPr/>
        </p:nvSpPr>
        <p:spPr bwMode="auto">
          <a:xfrm>
            <a:off x="5802313" y="3165475"/>
            <a:ext cx="47625" cy="554038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88" name="Rectangle 256"/>
          <p:cNvSpPr>
            <a:spLocks noChangeArrowheads="1"/>
          </p:cNvSpPr>
          <p:nvPr/>
        </p:nvSpPr>
        <p:spPr bwMode="auto">
          <a:xfrm>
            <a:off x="7513638" y="3165475"/>
            <a:ext cx="49212" cy="554038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89" name="Rectangle 257"/>
          <p:cNvSpPr>
            <a:spLocks noChangeArrowheads="1"/>
          </p:cNvSpPr>
          <p:nvPr/>
        </p:nvSpPr>
        <p:spPr bwMode="auto">
          <a:xfrm>
            <a:off x="1212850" y="3165475"/>
            <a:ext cx="14288" cy="5540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90" name="Line 258"/>
          <p:cNvSpPr>
            <a:spLocks noChangeShapeType="1"/>
          </p:cNvSpPr>
          <p:nvPr/>
        </p:nvSpPr>
        <p:spPr bwMode="auto">
          <a:xfrm>
            <a:off x="1212850" y="3165475"/>
            <a:ext cx="1588" cy="5540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91" name="Rectangle 259"/>
          <p:cNvSpPr>
            <a:spLocks noChangeArrowheads="1"/>
          </p:cNvSpPr>
          <p:nvPr/>
        </p:nvSpPr>
        <p:spPr bwMode="auto">
          <a:xfrm>
            <a:off x="2251075" y="3165475"/>
            <a:ext cx="9525" cy="5540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92" name="Line 260"/>
          <p:cNvSpPr>
            <a:spLocks noChangeShapeType="1"/>
          </p:cNvSpPr>
          <p:nvPr/>
        </p:nvSpPr>
        <p:spPr bwMode="auto">
          <a:xfrm>
            <a:off x="2251075" y="3165475"/>
            <a:ext cx="1588" cy="5540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93" name="Rectangle 261"/>
          <p:cNvSpPr>
            <a:spLocks noChangeArrowheads="1"/>
          </p:cNvSpPr>
          <p:nvPr/>
        </p:nvSpPr>
        <p:spPr bwMode="auto">
          <a:xfrm>
            <a:off x="4022725" y="3165475"/>
            <a:ext cx="9525" cy="5540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94" name="Line 262"/>
          <p:cNvSpPr>
            <a:spLocks noChangeShapeType="1"/>
          </p:cNvSpPr>
          <p:nvPr/>
        </p:nvSpPr>
        <p:spPr bwMode="auto">
          <a:xfrm>
            <a:off x="4022725" y="3165475"/>
            <a:ext cx="1588" cy="5540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95" name="Rectangle 263"/>
          <p:cNvSpPr>
            <a:spLocks noChangeArrowheads="1"/>
          </p:cNvSpPr>
          <p:nvPr/>
        </p:nvSpPr>
        <p:spPr bwMode="auto">
          <a:xfrm>
            <a:off x="5791200" y="3165475"/>
            <a:ext cx="11113" cy="5540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96" name="Line 264"/>
          <p:cNvSpPr>
            <a:spLocks noChangeShapeType="1"/>
          </p:cNvSpPr>
          <p:nvPr/>
        </p:nvSpPr>
        <p:spPr bwMode="auto">
          <a:xfrm>
            <a:off x="5791200" y="3165475"/>
            <a:ext cx="1588" cy="5540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97" name="Rectangle 265"/>
          <p:cNvSpPr>
            <a:spLocks noChangeArrowheads="1"/>
          </p:cNvSpPr>
          <p:nvPr/>
        </p:nvSpPr>
        <p:spPr bwMode="auto">
          <a:xfrm>
            <a:off x="7562850" y="3165475"/>
            <a:ext cx="9525" cy="5540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98" name="Line 266"/>
          <p:cNvSpPr>
            <a:spLocks noChangeShapeType="1"/>
          </p:cNvSpPr>
          <p:nvPr/>
        </p:nvSpPr>
        <p:spPr bwMode="auto">
          <a:xfrm>
            <a:off x="7562850" y="3165475"/>
            <a:ext cx="1588" cy="5540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599" name="Rectangle 267"/>
          <p:cNvSpPr>
            <a:spLocks noChangeArrowheads="1"/>
          </p:cNvSpPr>
          <p:nvPr/>
        </p:nvSpPr>
        <p:spPr bwMode="auto">
          <a:xfrm>
            <a:off x="1212850" y="3719513"/>
            <a:ext cx="14288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00" name="Line 268"/>
          <p:cNvSpPr>
            <a:spLocks noChangeShapeType="1"/>
          </p:cNvSpPr>
          <p:nvPr/>
        </p:nvSpPr>
        <p:spPr bwMode="auto">
          <a:xfrm>
            <a:off x="1212850" y="3719513"/>
            <a:ext cx="142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01" name="Line 269"/>
          <p:cNvSpPr>
            <a:spLocks noChangeShapeType="1"/>
          </p:cNvSpPr>
          <p:nvPr/>
        </p:nvSpPr>
        <p:spPr bwMode="auto">
          <a:xfrm>
            <a:off x="1212850" y="3719513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02" name="Rectangle 270"/>
          <p:cNvSpPr>
            <a:spLocks noChangeArrowheads="1"/>
          </p:cNvSpPr>
          <p:nvPr/>
        </p:nvSpPr>
        <p:spPr bwMode="auto">
          <a:xfrm>
            <a:off x="1212850" y="3719513"/>
            <a:ext cx="14288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03" name="Line 271"/>
          <p:cNvSpPr>
            <a:spLocks noChangeShapeType="1"/>
          </p:cNvSpPr>
          <p:nvPr/>
        </p:nvSpPr>
        <p:spPr bwMode="auto">
          <a:xfrm>
            <a:off x="1212850" y="3719513"/>
            <a:ext cx="142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04" name="Line 272"/>
          <p:cNvSpPr>
            <a:spLocks noChangeShapeType="1"/>
          </p:cNvSpPr>
          <p:nvPr/>
        </p:nvSpPr>
        <p:spPr bwMode="auto">
          <a:xfrm>
            <a:off x="1212850" y="3719513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05" name="Rectangle 273"/>
          <p:cNvSpPr>
            <a:spLocks noChangeArrowheads="1"/>
          </p:cNvSpPr>
          <p:nvPr/>
        </p:nvSpPr>
        <p:spPr bwMode="auto">
          <a:xfrm>
            <a:off x="1227138" y="3719513"/>
            <a:ext cx="14287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06" name="Line 274"/>
          <p:cNvSpPr>
            <a:spLocks noChangeShapeType="1"/>
          </p:cNvSpPr>
          <p:nvPr/>
        </p:nvSpPr>
        <p:spPr bwMode="auto">
          <a:xfrm>
            <a:off x="1227138" y="3719513"/>
            <a:ext cx="1428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07" name="Line 275"/>
          <p:cNvSpPr>
            <a:spLocks noChangeShapeType="1"/>
          </p:cNvSpPr>
          <p:nvPr/>
        </p:nvSpPr>
        <p:spPr bwMode="auto">
          <a:xfrm>
            <a:off x="1227138" y="3719513"/>
            <a:ext cx="1587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08" name="Rectangle 276"/>
          <p:cNvSpPr>
            <a:spLocks noChangeArrowheads="1"/>
          </p:cNvSpPr>
          <p:nvPr/>
        </p:nvSpPr>
        <p:spPr bwMode="auto">
          <a:xfrm>
            <a:off x="1241425" y="3719513"/>
            <a:ext cx="1009650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09" name="Line 277"/>
          <p:cNvSpPr>
            <a:spLocks noChangeShapeType="1"/>
          </p:cNvSpPr>
          <p:nvPr/>
        </p:nvSpPr>
        <p:spPr bwMode="auto">
          <a:xfrm>
            <a:off x="1241425" y="3719513"/>
            <a:ext cx="10096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10" name="Rectangle 278"/>
          <p:cNvSpPr>
            <a:spLocks noChangeArrowheads="1"/>
          </p:cNvSpPr>
          <p:nvPr/>
        </p:nvSpPr>
        <p:spPr bwMode="auto">
          <a:xfrm>
            <a:off x="2251075" y="3719513"/>
            <a:ext cx="14288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11" name="Line 279"/>
          <p:cNvSpPr>
            <a:spLocks noChangeShapeType="1"/>
          </p:cNvSpPr>
          <p:nvPr/>
        </p:nvSpPr>
        <p:spPr bwMode="auto">
          <a:xfrm>
            <a:off x="2251075" y="3719513"/>
            <a:ext cx="142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12" name="Line 280"/>
          <p:cNvSpPr>
            <a:spLocks noChangeShapeType="1"/>
          </p:cNvSpPr>
          <p:nvPr/>
        </p:nvSpPr>
        <p:spPr bwMode="auto">
          <a:xfrm>
            <a:off x="2251075" y="3719513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13" name="Rectangle 281"/>
          <p:cNvSpPr>
            <a:spLocks noChangeArrowheads="1"/>
          </p:cNvSpPr>
          <p:nvPr/>
        </p:nvSpPr>
        <p:spPr bwMode="auto">
          <a:xfrm>
            <a:off x="2260600" y="3719513"/>
            <a:ext cx="1762125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14" name="Line 282"/>
          <p:cNvSpPr>
            <a:spLocks noChangeShapeType="1"/>
          </p:cNvSpPr>
          <p:nvPr/>
        </p:nvSpPr>
        <p:spPr bwMode="auto">
          <a:xfrm>
            <a:off x="2260600" y="3719513"/>
            <a:ext cx="17621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15" name="Rectangle 283"/>
          <p:cNvSpPr>
            <a:spLocks noChangeArrowheads="1"/>
          </p:cNvSpPr>
          <p:nvPr/>
        </p:nvSpPr>
        <p:spPr bwMode="auto">
          <a:xfrm>
            <a:off x="4022725" y="3719513"/>
            <a:ext cx="9525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16" name="Line 284"/>
          <p:cNvSpPr>
            <a:spLocks noChangeShapeType="1"/>
          </p:cNvSpPr>
          <p:nvPr/>
        </p:nvSpPr>
        <p:spPr bwMode="auto">
          <a:xfrm>
            <a:off x="4022725" y="3719513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17" name="Line 285"/>
          <p:cNvSpPr>
            <a:spLocks noChangeShapeType="1"/>
          </p:cNvSpPr>
          <p:nvPr/>
        </p:nvSpPr>
        <p:spPr bwMode="auto">
          <a:xfrm>
            <a:off x="4022725" y="3719513"/>
            <a:ext cx="1588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18" name="Line 286"/>
          <p:cNvSpPr>
            <a:spLocks noChangeShapeType="1"/>
          </p:cNvSpPr>
          <p:nvPr/>
        </p:nvSpPr>
        <p:spPr bwMode="auto">
          <a:xfrm>
            <a:off x="4032250" y="3719513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19" name="Line 287"/>
          <p:cNvSpPr>
            <a:spLocks noChangeShapeType="1"/>
          </p:cNvSpPr>
          <p:nvPr/>
        </p:nvSpPr>
        <p:spPr bwMode="auto">
          <a:xfrm>
            <a:off x="4032250" y="3719513"/>
            <a:ext cx="1588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20" name="Rectangle 288"/>
          <p:cNvSpPr>
            <a:spLocks noChangeArrowheads="1"/>
          </p:cNvSpPr>
          <p:nvPr/>
        </p:nvSpPr>
        <p:spPr bwMode="auto">
          <a:xfrm>
            <a:off x="4041775" y="3719513"/>
            <a:ext cx="1749425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21" name="Line 289"/>
          <p:cNvSpPr>
            <a:spLocks noChangeShapeType="1"/>
          </p:cNvSpPr>
          <p:nvPr/>
        </p:nvSpPr>
        <p:spPr bwMode="auto">
          <a:xfrm>
            <a:off x="4041775" y="3719513"/>
            <a:ext cx="17494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22" name="Rectangle 290"/>
          <p:cNvSpPr>
            <a:spLocks noChangeArrowheads="1"/>
          </p:cNvSpPr>
          <p:nvPr/>
        </p:nvSpPr>
        <p:spPr bwMode="auto">
          <a:xfrm>
            <a:off x="5791200" y="3719513"/>
            <a:ext cx="11113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23" name="Line 291"/>
          <p:cNvSpPr>
            <a:spLocks noChangeShapeType="1"/>
          </p:cNvSpPr>
          <p:nvPr/>
        </p:nvSpPr>
        <p:spPr bwMode="auto">
          <a:xfrm>
            <a:off x="5791200" y="3719513"/>
            <a:ext cx="11113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24" name="Line 292"/>
          <p:cNvSpPr>
            <a:spLocks noChangeShapeType="1"/>
          </p:cNvSpPr>
          <p:nvPr/>
        </p:nvSpPr>
        <p:spPr bwMode="auto">
          <a:xfrm>
            <a:off x="5791200" y="3719513"/>
            <a:ext cx="1588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25" name="Rectangle 293"/>
          <p:cNvSpPr>
            <a:spLocks noChangeArrowheads="1"/>
          </p:cNvSpPr>
          <p:nvPr/>
        </p:nvSpPr>
        <p:spPr bwMode="auto">
          <a:xfrm>
            <a:off x="5802313" y="3719513"/>
            <a:ext cx="9525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26" name="Line 294"/>
          <p:cNvSpPr>
            <a:spLocks noChangeShapeType="1"/>
          </p:cNvSpPr>
          <p:nvPr/>
        </p:nvSpPr>
        <p:spPr bwMode="auto">
          <a:xfrm>
            <a:off x="5802313" y="3719513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27" name="Line 295"/>
          <p:cNvSpPr>
            <a:spLocks noChangeShapeType="1"/>
          </p:cNvSpPr>
          <p:nvPr/>
        </p:nvSpPr>
        <p:spPr bwMode="auto">
          <a:xfrm>
            <a:off x="5802313" y="3719513"/>
            <a:ext cx="1587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28" name="Rectangle 296"/>
          <p:cNvSpPr>
            <a:spLocks noChangeArrowheads="1"/>
          </p:cNvSpPr>
          <p:nvPr/>
        </p:nvSpPr>
        <p:spPr bwMode="auto">
          <a:xfrm>
            <a:off x="5811838" y="3719513"/>
            <a:ext cx="1751012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29" name="Line 297"/>
          <p:cNvSpPr>
            <a:spLocks noChangeShapeType="1"/>
          </p:cNvSpPr>
          <p:nvPr/>
        </p:nvSpPr>
        <p:spPr bwMode="auto">
          <a:xfrm>
            <a:off x="5811838" y="3719513"/>
            <a:ext cx="175101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30" name="Rectangle 298"/>
          <p:cNvSpPr>
            <a:spLocks noChangeArrowheads="1"/>
          </p:cNvSpPr>
          <p:nvPr/>
        </p:nvSpPr>
        <p:spPr bwMode="auto">
          <a:xfrm>
            <a:off x="7562850" y="3719513"/>
            <a:ext cx="9525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31" name="Line 299"/>
          <p:cNvSpPr>
            <a:spLocks noChangeShapeType="1"/>
          </p:cNvSpPr>
          <p:nvPr/>
        </p:nvSpPr>
        <p:spPr bwMode="auto">
          <a:xfrm>
            <a:off x="7562850" y="3719513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32" name="Line 300"/>
          <p:cNvSpPr>
            <a:spLocks noChangeShapeType="1"/>
          </p:cNvSpPr>
          <p:nvPr/>
        </p:nvSpPr>
        <p:spPr bwMode="auto">
          <a:xfrm>
            <a:off x="7562850" y="3719513"/>
            <a:ext cx="1588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33" name="Rectangle 301"/>
          <p:cNvSpPr>
            <a:spLocks noChangeArrowheads="1"/>
          </p:cNvSpPr>
          <p:nvPr/>
        </p:nvSpPr>
        <p:spPr bwMode="auto">
          <a:xfrm>
            <a:off x="7562850" y="3719513"/>
            <a:ext cx="9525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34" name="Line 302"/>
          <p:cNvSpPr>
            <a:spLocks noChangeShapeType="1"/>
          </p:cNvSpPr>
          <p:nvPr/>
        </p:nvSpPr>
        <p:spPr bwMode="auto">
          <a:xfrm>
            <a:off x="7562850" y="3719513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35" name="Line 303"/>
          <p:cNvSpPr>
            <a:spLocks noChangeShapeType="1"/>
          </p:cNvSpPr>
          <p:nvPr/>
        </p:nvSpPr>
        <p:spPr bwMode="auto">
          <a:xfrm>
            <a:off x="7562850" y="3719513"/>
            <a:ext cx="1588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36" name="Rectangle 304"/>
          <p:cNvSpPr>
            <a:spLocks noChangeArrowheads="1"/>
          </p:cNvSpPr>
          <p:nvPr/>
        </p:nvSpPr>
        <p:spPr bwMode="auto">
          <a:xfrm>
            <a:off x="1273175" y="4013200"/>
            <a:ext cx="55563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637" name="Rectangle 305"/>
          <p:cNvSpPr>
            <a:spLocks noChangeArrowheads="1"/>
          </p:cNvSpPr>
          <p:nvPr/>
        </p:nvSpPr>
        <p:spPr bwMode="auto">
          <a:xfrm>
            <a:off x="2308225" y="4008438"/>
            <a:ext cx="1663700" cy="300037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578" name="Rectangle 306"/>
          <p:cNvSpPr>
            <a:spLocks noChangeArrowheads="1"/>
          </p:cNvSpPr>
          <p:nvPr/>
        </p:nvSpPr>
        <p:spPr bwMode="auto">
          <a:xfrm>
            <a:off x="2308225" y="4013200"/>
            <a:ext cx="3175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Pre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639" name="Rectangle 307"/>
          <p:cNvSpPr>
            <a:spLocks noChangeArrowheads="1"/>
          </p:cNvSpPr>
          <p:nvPr/>
        </p:nvSpPr>
        <p:spPr bwMode="auto">
          <a:xfrm>
            <a:off x="2617788" y="4013200"/>
            <a:ext cx="65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-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82580" name="Rectangle 308"/>
          <p:cNvSpPr>
            <a:spLocks noChangeArrowheads="1"/>
          </p:cNvSpPr>
          <p:nvPr/>
        </p:nvSpPr>
        <p:spPr bwMode="auto">
          <a:xfrm>
            <a:off x="2682875" y="4013200"/>
            <a:ext cx="111918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Job Activity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641" name="Rectangle 309"/>
          <p:cNvSpPr>
            <a:spLocks noChangeArrowheads="1"/>
          </p:cNvSpPr>
          <p:nvPr/>
        </p:nvSpPr>
        <p:spPr bwMode="auto">
          <a:xfrm>
            <a:off x="3770313" y="4013200"/>
            <a:ext cx="5556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642" name="Rectangle 310"/>
          <p:cNvSpPr>
            <a:spLocks noChangeArrowheads="1"/>
          </p:cNvSpPr>
          <p:nvPr/>
        </p:nvSpPr>
        <p:spPr bwMode="auto">
          <a:xfrm>
            <a:off x="2260600" y="3929063"/>
            <a:ext cx="1762125" cy="79375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43" name="Rectangle 311"/>
          <p:cNvSpPr>
            <a:spLocks noChangeArrowheads="1"/>
          </p:cNvSpPr>
          <p:nvPr/>
        </p:nvSpPr>
        <p:spPr bwMode="auto">
          <a:xfrm>
            <a:off x="2260600" y="4008438"/>
            <a:ext cx="47625" cy="300037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44" name="Rectangle 312"/>
          <p:cNvSpPr>
            <a:spLocks noChangeArrowheads="1"/>
          </p:cNvSpPr>
          <p:nvPr/>
        </p:nvSpPr>
        <p:spPr bwMode="auto">
          <a:xfrm>
            <a:off x="3971925" y="4008438"/>
            <a:ext cx="50800" cy="300037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45" name="Rectangle 313"/>
          <p:cNvSpPr>
            <a:spLocks noChangeArrowheads="1"/>
          </p:cNvSpPr>
          <p:nvPr/>
        </p:nvSpPr>
        <p:spPr bwMode="auto">
          <a:xfrm>
            <a:off x="2260600" y="4308475"/>
            <a:ext cx="1762125" cy="79375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46" name="Rectangle 314"/>
          <p:cNvSpPr>
            <a:spLocks noChangeArrowheads="1"/>
          </p:cNvSpPr>
          <p:nvPr/>
        </p:nvSpPr>
        <p:spPr bwMode="auto">
          <a:xfrm>
            <a:off x="4079875" y="4008438"/>
            <a:ext cx="1665288" cy="300037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587" name="Rectangle 315"/>
          <p:cNvSpPr>
            <a:spLocks noChangeArrowheads="1"/>
          </p:cNvSpPr>
          <p:nvPr/>
        </p:nvSpPr>
        <p:spPr bwMode="auto">
          <a:xfrm>
            <a:off x="4079875" y="4013200"/>
            <a:ext cx="163512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Work In Progress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648" name="Rectangle 316"/>
          <p:cNvSpPr>
            <a:spLocks noChangeArrowheads="1"/>
          </p:cNvSpPr>
          <p:nvPr/>
        </p:nvSpPr>
        <p:spPr bwMode="auto">
          <a:xfrm>
            <a:off x="5670550" y="4013200"/>
            <a:ext cx="55563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649" name="Rectangle 317"/>
          <p:cNvSpPr>
            <a:spLocks noChangeArrowheads="1"/>
          </p:cNvSpPr>
          <p:nvPr/>
        </p:nvSpPr>
        <p:spPr bwMode="auto">
          <a:xfrm>
            <a:off x="4032250" y="3929063"/>
            <a:ext cx="1758950" cy="79375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50" name="Rectangle 318"/>
          <p:cNvSpPr>
            <a:spLocks noChangeArrowheads="1"/>
          </p:cNvSpPr>
          <p:nvPr/>
        </p:nvSpPr>
        <p:spPr bwMode="auto">
          <a:xfrm>
            <a:off x="4032250" y="4008438"/>
            <a:ext cx="47625" cy="300037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51" name="Rectangle 319"/>
          <p:cNvSpPr>
            <a:spLocks noChangeArrowheads="1"/>
          </p:cNvSpPr>
          <p:nvPr/>
        </p:nvSpPr>
        <p:spPr bwMode="auto">
          <a:xfrm>
            <a:off x="5745163" y="4008438"/>
            <a:ext cx="46037" cy="300037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52" name="Rectangle 320"/>
          <p:cNvSpPr>
            <a:spLocks noChangeArrowheads="1"/>
          </p:cNvSpPr>
          <p:nvPr/>
        </p:nvSpPr>
        <p:spPr bwMode="auto">
          <a:xfrm>
            <a:off x="4032250" y="4308475"/>
            <a:ext cx="1758950" cy="79375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53" name="Rectangle 321"/>
          <p:cNvSpPr>
            <a:spLocks noChangeArrowheads="1"/>
          </p:cNvSpPr>
          <p:nvPr/>
        </p:nvSpPr>
        <p:spPr bwMode="auto">
          <a:xfrm>
            <a:off x="5849938" y="4008438"/>
            <a:ext cx="1663700" cy="300037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594" name="Rectangle 322"/>
          <p:cNvSpPr>
            <a:spLocks noChangeArrowheads="1"/>
          </p:cNvSpPr>
          <p:nvPr/>
        </p:nvSpPr>
        <p:spPr bwMode="auto">
          <a:xfrm>
            <a:off x="5849938" y="4013200"/>
            <a:ext cx="151606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Final Evaluation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655" name="Rectangle 323"/>
          <p:cNvSpPr>
            <a:spLocks noChangeArrowheads="1"/>
          </p:cNvSpPr>
          <p:nvPr/>
        </p:nvSpPr>
        <p:spPr bwMode="auto">
          <a:xfrm>
            <a:off x="7321550" y="4013200"/>
            <a:ext cx="55563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900">
                <a:solidFill>
                  <a:srgbClr val="0000FF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656" name="Rectangle 324"/>
          <p:cNvSpPr>
            <a:spLocks noChangeArrowheads="1"/>
          </p:cNvSpPr>
          <p:nvPr/>
        </p:nvSpPr>
        <p:spPr bwMode="auto">
          <a:xfrm>
            <a:off x="5802313" y="3929063"/>
            <a:ext cx="1760537" cy="79375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57" name="Rectangle 325"/>
          <p:cNvSpPr>
            <a:spLocks noChangeArrowheads="1"/>
          </p:cNvSpPr>
          <p:nvPr/>
        </p:nvSpPr>
        <p:spPr bwMode="auto">
          <a:xfrm>
            <a:off x="5802313" y="4008438"/>
            <a:ext cx="47625" cy="300037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58" name="Rectangle 326"/>
          <p:cNvSpPr>
            <a:spLocks noChangeArrowheads="1"/>
          </p:cNvSpPr>
          <p:nvPr/>
        </p:nvSpPr>
        <p:spPr bwMode="auto">
          <a:xfrm>
            <a:off x="7513638" y="4008438"/>
            <a:ext cx="49212" cy="300037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59" name="Rectangle 327"/>
          <p:cNvSpPr>
            <a:spLocks noChangeArrowheads="1"/>
          </p:cNvSpPr>
          <p:nvPr/>
        </p:nvSpPr>
        <p:spPr bwMode="auto">
          <a:xfrm>
            <a:off x="5802313" y="4308475"/>
            <a:ext cx="1760537" cy="79375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60" name="Rectangle 328"/>
          <p:cNvSpPr>
            <a:spLocks noChangeArrowheads="1"/>
          </p:cNvSpPr>
          <p:nvPr/>
        </p:nvSpPr>
        <p:spPr bwMode="auto">
          <a:xfrm>
            <a:off x="2251075" y="391953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61" name="Line 329"/>
          <p:cNvSpPr>
            <a:spLocks noChangeShapeType="1"/>
          </p:cNvSpPr>
          <p:nvPr/>
        </p:nvSpPr>
        <p:spPr bwMode="auto">
          <a:xfrm>
            <a:off x="2251075" y="3919538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62" name="Line 330"/>
          <p:cNvSpPr>
            <a:spLocks noChangeShapeType="1"/>
          </p:cNvSpPr>
          <p:nvPr/>
        </p:nvSpPr>
        <p:spPr bwMode="auto">
          <a:xfrm>
            <a:off x="2251075" y="3919538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63" name="Rectangle 331"/>
          <p:cNvSpPr>
            <a:spLocks noChangeArrowheads="1"/>
          </p:cNvSpPr>
          <p:nvPr/>
        </p:nvSpPr>
        <p:spPr bwMode="auto">
          <a:xfrm>
            <a:off x="2251075" y="391953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64" name="Line 332"/>
          <p:cNvSpPr>
            <a:spLocks noChangeShapeType="1"/>
          </p:cNvSpPr>
          <p:nvPr/>
        </p:nvSpPr>
        <p:spPr bwMode="auto">
          <a:xfrm>
            <a:off x="2251075" y="3919538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65" name="Line 333"/>
          <p:cNvSpPr>
            <a:spLocks noChangeShapeType="1"/>
          </p:cNvSpPr>
          <p:nvPr/>
        </p:nvSpPr>
        <p:spPr bwMode="auto">
          <a:xfrm>
            <a:off x="2251075" y="3919538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66" name="Rectangle 334"/>
          <p:cNvSpPr>
            <a:spLocks noChangeArrowheads="1"/>
          </p:cNvSpPr>
          <p:nvPr/>
        </p:nvSpPr>
        <p:spPr bwMode="auto">
          <a:xfrm>
            <a:off x="2260600" y="391953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67" name="Line 335"/>
          <p:cNvSpPr>
            <a:spLocks noChangeShapeType="1"/>
          </p:cNvSpPr>
          <p:nvPr/>
        </p:nvSpPr>
        <p:spPr bwMode="auto">
          <a:xfrm>
            <a:off x="2260600" y="3919538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68" name="Line 336"/>
          <p:cNvSpPr>
            <a:spLocks noChangeShapeType="1"/>
          </p:cNvSpPr>
          <p:nvPr/>
        </p:nvSpPr>
        <p:spPr bwMode="auto">
          <a:xfrm>
            <a:off x="2260600" y="3919538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69" name="Rectangle 337"/>
          <p:cNvSpPr>
            <a:spLocks noChangeArrowheads="1"/>
          </p:cNvSpPr>
          <p:nvPr/>
        </p:nvSpPr>
        <p:spPr bwMode="auto">
          <a:xfrm>
            <a:off x="2270125" y="3919538"/>
            <a:ext cx="1752600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70" name="Line 338"/>
          <p:cNvSpPr>
            <a:spLocks noChangeShapeType="1"/>
          </p:cNvSpPr>
          <p:nvPr/>
        </p:nvSpPr>
        <p:spPr bwMode="auto">
          <a:xfrm>
            <a:off x="2270125" y="3919538"/>
            <a:ext cx="17526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71" name="Rectangle 339"/>
          <p:cNvSpPr>
            <a:spLocks noChangeArrowheads="1"/>
          </p:cNvSpPr>
          <p:nvPr/>
        </p:nvSpPr>
        <p:spPr bwMode="auto">
          <a:xfrm>
            <a:off x="4022725" y="391953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72" name="Line 340"/>
          <p:cNvSpPr>
            <a:spLocks noChangeShapeType="1"/>
          </p:cNvSpPr>
          <p:nvPr/>
        </p:nvSpPr>
        <p:spPr bwMode="auto">
          <a:xfrm>
            <a:off x="4022725" y="3919538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73" name="Line 341"/>
          <p:cNvSpPr>
            <a:spLocks noChangeShapeType="1"/>
          </p:cNvSpPr>
          <p:nvPr/>
        </p:nvSpPr>
        <p:spPr bwMode="auto">
          <a:xfrm>
            <a:off x="4022725" y="3919538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74" name="Line 342"/>
          <p:cNvSpPr>
            <a:spLocks noChangeShapeType="1"/>
          </p:cNvSpPr>
          <p:nvPr/>
        </p:nvSpPr>
        <p:spPr bwMode="auto">
          <a:xfrm>
            <a:off x="4032250" y="3919538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75" name="Line 343"/>
          <p:cNvSpPr>
            <a:spLocks noChangeShapeType="1"/>
          </p:cNvSpPr>
          <p:nvPr/>
        </p:nvSpPr>
        <p:spPr bwMode="auto">
          <a:xfrm>
            <a:off x="4032250" y="3919538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76" name="Rectangle 344"/>
          <p:cNvSpPr>
            <a:spLocks noChangeArrowheads="1"/>
          </p:cNvSpPr>
          <p:nvPr/>
        </p:nvSpPr>
        <p:spPr bwMode="auto">
          <a:xfrm>
            <a:off x="4041775" y="3919538"/>
            <a:ext cx="17494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77" name="Line 345"/>
          <p:cNvSpPr>
            <a:spLocks noChangeShapeType="1"/>
          </p:cNvSpPr>
          <p:nvPr/>
        </p:nvSpPr>
        <p:spPr bwMode="auto">
          <a:xfrm>
            <a:off x="4041775" y="3919538"/>
            <a:ext cx="17494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78" name="Rectangle 346"/>
          <p:cNvSpPr>
            <a:spLocks noChangeArrowheads="1"/>
          </p:cNvSpPr>
          <p:nvPr/>
        </p:nvSpPr>
        <p:spPr bwMode="auto">
          <a:xfrm>
            <a:off x="5791200" y="3919538"/>
            <a:ext cx="11113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79" name="Line 347"/>
          <p:cNvSpPr>
            <a:spLocks noChangeShapeType="1"/>
          </p:cNvSpPr>
          <p:nvPr/>
        </p:nvSpPr>
        <p:spPr bwMode="auto">
          <a:xfrm>
            <a:off x="5791200" y="3919538"/>
            <a:ext cx="11113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80" name="Line 348"/>
          <p:cNvSpPr>
            <a:spLocks noChangeShapeType="1"/>
          </p:cNvSpPr>
          <p:nvPr/>
        </p:nvSpPr>
        <p:spPr bwMode="auto">
          <a:xfrm>
            <a:off x="5791200" y="3919538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81" name="Rectangle 349"/>
          <p:cNvSpPr>
            <a:spLocks noChangeArrowheads="1"/>
          </p:cNvSpPr>
          <p:nvPr/>
        </p:nvSpPr>
        <p:spPr bwMode="auto">
          <a:xfrm>
            <a:off x="5802313" y="391953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82" name="Line 350"/>
          <p:cNvSpPr>
            <a:spLocks noChangeShapeType="1"/>
          </p:cNvSpPr>
          <p:nvPr/>
        </p:nvSpPr>
        <p:spPr bwMode="auto">
          <a:xfrm>
            <a:off x="5802313" y="3919538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83" name="Line 351"/>
          <p:cNvSpPr>
            <a:spLocks noChangeShapeType="1"/>
          </p:cNvSpPr>
          <p:nvPr/>
        </p:nvSpPr>
        <p:spPr bwMode="auto">
          <a:xfrm>
            <a:off x="5802313" y="3919538"/>
            <a:ext cx="1587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84" name="Rectangle 352"/>
          <p:cNvSpPr>
            <a:spLocks noChangeArrowheads="1"/>
          </p:cNvSpPr>
          <p:nvPr/>
        </p:nvSpPr>
        <p:spPr bwMode="auto">
          <a:xfrm>
            <a:off x="5811838" y="3919538"/>
            <a:ext cx="1751012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85" name="Line 353"/>
          <p:cNvSpPr>
            <a:spLocks noChangeShapeType="1"/>
          </p:cNvSpPr>
          <p:nvPr/>
        </p:nvSpPr>
        <p:spPr bwMode="auto">
          <a:xfrm>
            <a:off x="5811838" y="3919538"/>
            <a:ext cx="175101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86" name="Rectangle 354"/>
          <p:cNvSpPr>
            <a:spLocks noChangeArrowheads="1"/>
          </p:cNvSpPr>
          <p:nvPr/>
        </p:nvSpPr>
        <p:spPr bwMode="auto">
          <a:xfrm>
            <a:off x="7562850" y="391953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87" name="Line 355"/>
          <p:cNvSpPr>
            <a:spLocks noChangeShapeType="1"/>
          </p:cNvSpPr>
          <p:nvPr/>
        </p:nvSpPr>
        <p:spPr bwMode="auto">
          <a:xfrm>
            <a:off x="7562850" y="3919538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88" name="Line 356"/>
          <p:cNvSpPr>
            <a:spLocks noChangeShapeType="1"/>
          </p:cNvSpPr>
          <p:nvPr/>
        </p:nvSpPr>
        <p:spPr bwMode="auto">
          <a:xfrm>
            <a:off x="7562850" y="3919538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89" name="Rectangle 357"/>
          <p:cNvSpPr>
            <a:spLocks noChangeArrowheads="1"/>
          </p:cNvSpPr>
          <p:nvPr/>
        </p:nvSpPr>
        <p:spPr bwMode="auto">
          <a:xfrm>
            <a:off x="7562850" y="391953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90" name="Line 358"/>
          <p:cNvSpPr>
            <a:spLocks noChangeShapeType="1"/>
          </p:cNvSpPr>
          <p:nvPr/>
        </p:nvSpPr>
        <p:spPr bwMode="auto">
          <a:xfrm>
            <a:off x="7562850" y="3919538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91" name="Line 359"/>
          <p:cNvSpPr>
            <a:spLocks noChangeShapeType="1"/>
          </p:cNvSpPr>
          <p:nvPr/>
        </p:nvSpPr>
        <p:spPr bwMode="auto">
          <a:xfrm>
            <a:off x="7562850" y="3919538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92" name="Rectangle 360"/>
          <p:cNvSpPr>
            <a:spLocks noChangeArrowheads="1"/>
          </p:cNvSpPr>
          <p:nvPr/>
        </p:nvSpPr>
        <p:spPr bwMode="auto">
          <a:xfrm>
            <a:off x="2251075" y="3929063"/>
            <a:ext cx="9525" cy="4587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93" name="Line 361"/>
          <p:cNvSpPr>
            <a:spLocks noChangeShapeType="1"/>
          </p:cNvSpPr>
          <p:nvPr/>
        </p:nvSpPr>
        <p:spPr bwMode="auto">
          <a:xfrm>
            <a:off x="2251075" y="3929063"/>
            <a:ext cx="1588" cy="4587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94" name="Rectangle 362"/>
          <p:cNvSpPr>
            <a:spLocks noChangeArrowheads="1"/>
          </p:cNvSpPr>
          <p:nvPr/>
        </p:nvSpPr>
        <p:spPr bwMode="auto">
          <a:xfrm>
            <a:off x="4022725" y="3929063"/>
            <a:ext cx="9525" cy="4587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95" name="Line 363"/>
          <p:cNvSpPr>
            <a:spLocks noChangeShapeType="1"/>
          </p:cNvSpPr>
          <p:nvPr/>
        </p:nvSpPr>
        <p:spPr bwMode="auto">
          <a:xfrm>
            <a:off x="4022725" y="3929063"/>
            <a:ext cx="1588" cy="4587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96" name="Rectangle 364"/>
          <p:cNvSpPr>
            <a:spLocks noChangeArrowheads="1"/>
          </p:cNvSpPr>
          <p:nvPr/>
        </p:nvSpPr>
        <p:spPr bwMode="auto">
          <a:xfrm>
            <a:off x="5791200" y="3929063"/>
            <a:ext cx="11113" cy="4587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97" name="Line 365"/>
          <p:cNvSpPr>
            <a:spLocks noChangeShapeType="1"/>
          </p:cNvSpPr>
          <p:nvPr/>
        </p:nvSpPr>
        <p:spPr bwMode="auto">
          <a:xfrm>
            <a:off x="5791200" y="3929063"/>
            <a:ext cx="1588" cy="4587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98" name="Rectangle 366"/>
          <p:cNvSpPr>
            <a:spLocks noChangeArrowheads="1"/>
          </p:cNvSpPr>
          <p:nvPr/>
        </p:nvSpPr>
        <p:spPr bwMode="auto">
          <a:xfrm>
            <a:off x="7562850" y="3929063"/>
            <a:ext cx="9525" cy="4587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699" name="Line 367"/>
          <p:cNvSpPr>
            <a:spLocks noChangeShapeType="1"/>
          </p:cNvSpPr>
          <p:nvPr/>
        </p:nvSpPr>
        <p:spPr bwMode="auto">
          <a:xfrm>
            <a:off x="7562850" y="3929063"/>
            <a:ext cx="1588" cy="4587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00" name="Rectangle 368"/>
          <p:cNvSpPr>
            <a:spLocks noChangeArrowheads="1"/>
          </p:cNvSpPr>
          <p:nvPr/>
        </p:nvSpPr>
        <p:spPr bwMode="auto">
          <a:xfrm>
            <a:off x="1273175" y="4405313"/>
            <a:ext cx="930275" cy="2778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01" name="Rectangle 370"/>
          <p:cNvSpPr>
            <a:spLocks noChangeArrowheads="1"/>
          </p:cNvSpPr>
          <p:nvPr/>
        </p:nvSpPr>
        <p:spPr bwMode="auto">
          <a:xfrm>
            <a:off x="1273175" y="4683125"/>
            <a:ext cx="930275" cy="2762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02" name="Rectangle 371"/>
          <p:cNvSpPr>
            <a:spLocks noChangeArrowheads="1"/>
          </p:cNvSpPr>
          <p:nvPr/>
        </p:nvSpPr>
        <p:spPr bwMode="auto">
          <a:xfrm>
            <a:off x="1281113" y="4508500"/>
            <a:ext cx="5207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>
                <a:solidFill>
                  <a:srgbClr val="010000"/>
                </a:solidFill>
                <a:latin typeface="Arial Narrow" pitchFamily="34" charset="0"/>
              </a:rPr>
              <a:t>Client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03" name="Rectangle 372"/>
          <p:cNvSpPr>
            <a:spLocks noChangeArrowheads="1"/>
          </p:cNvSpPr>
          <p:nvPr/>
        </p:nvSpPr>
        <p:spPr bwMode="auto">
          <a:xfrm>
            <a:off x="2092325" y="4683125"/>
            <a:ext cx="523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04" name="Rectangle 373"/>
          <p:cNvSpPr>
            <a:spLocks noChangeArrowheads="1"/>
          </p:cNvSpPr>
          <p:nvPr/>
        </p:nvSpPr>
        <p:spPr bwMode="auto">
          <a:xfrm>
            <a:off x="1227138" y="4403725"/>
            <a:ext cx="1023937" cy="158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05" name="Rectangle 374"/>
          <p:cNvSpPr>
            <a:spLocks noChangeArrowheads="1"/>
          </p:cNvSpPr>
          <p:nvPr/>
        </p:nvSpPr>
        <p:spPr bwMode="auto">
          <a:xfrm>
            <a:off x="1227138" y="4405313"/>
            <a:ext cx="46037" cy="5524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06" name="Rectangle 375"/>
          <p:cNvSpPr>
            <a:spLocks noChangeArrowheads="1"/>
          </p:cNvSpPr>
          <p:nvPr/>
        </p:nvSpPr>
        <p:spPr bwMode="auto">
          <a:xfrm>
            <a:off x="2203450" y="4405313"/>
            <a:ext cx="47625" cy="5524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07" name="Rectangle 376"/>
          <p:cNvSpPr>
            <a:spLocks noChangeArrowheads="1"/>
          </p:cNvSpPr>
          <p:nvPr/>
        </p:nvSpPr>
        <p:spPr bwMode="auto">
          <a:xfrm>
            <a:off x="2308225" y="4543425"/>
            <a:ext cx="1663700" cy="2778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649" name="Rectangle 377"/>
          <p:cNvSpPr>
            <a:spLocks noChangeArrowheads="1"/>
          </p:cNvSpPr>
          <p:nvPr/>
        </p:nvSpPr>
        <p:spPr bwMode="auto">
          <a:xfrm>
            <a:off x="2325688" y="4546600"/>
            <a:ext cx="15446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600" b="0">
                <a:solidFill>
                  <a:srgbClr val="010000"/>
                </a:solidFill>
                <a:latin typeface="Arial Narrow" pitchFamily="34" charset="0"/>
              </a:rPr>
              <a:t>Reviewer (End User)</a:t>
            </a:r>
            <a:endParaRPr lang="en-US" sz="16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09" name="Rectangle 378"/>
          <p:cNvSpPr>
            <a:spLocks noChangeArrowheads="1"/>
          </p:cNvSpPr>
          <p:nvPr/>
        </p:nvSpPr>
        <p:spPr bwMode="auto">
          <a:xfrm>
            <a:off x="3956050" y="4546600"/>
            <a:ext cx="523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10" name="Rectangle 379"/>
          <p:cNvSpPr>
            <a:spLocks noChangeArrowheads="1"/>
          </p:cNvSpPr>
          <p:nvPr/>
        </p:nvSpPr>
        <p:spPr bwMode="auto">
          <a:xfrm>
            <a:off x="2260600" y="4403725"/>
            <a:ext cx="1762125" cy="139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11" name="Rectangle 380"/>
          <p:cNvSpPr>
            <a:spLocks noChangeArrowheads="1"/>
          </p:cNvSpPr>
          <p:nvPr/>
        </p:nvSpPr>
        <p:spPr bwMode="auto">
          <a:xfrm>
            <a:off x="2260600" y="4543425"/>
            <a:ext cx="47625" cy="2778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12" name="Rectangle 381"/>
          <p:cNvSpPr>
            <a:spLocks noChangeArrowheads="1"/>
          </p:cNvSpPr>
          <p:nvPr/>
        </p:nvSpPr>
        <p:spPr bwMode="auto">
          <a:xfrm>
            <a:off x="3971925" y="4543425"/>
            <a:ext cx="50800" cy="2778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13" name="Rectangle 382"/>
          <p:cNvSpPr>
            <a:spLocks noChangeArrowheads="1"/>
          </p:cNvSpPr>
          <p:nvPr/>
        </p:nvSpPr>
        <p:spPr bwMode="auto">
          <a:xfrm>
            <a:off x="2260600" y="4821238"/>
            <a:ext cx="1762125" cy="1365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14" name="Rectangle 383"/>
          <p:cNvSpPr>
            <a:spLocks noChangeArrowheads="1"/>
          </p:cNvSpPr>
          <p:nvPr/>
        </p:nvSpPr>
        <p:spPr bwMode="auto">
          <a:xfrm>
            <a:off x="4079875" y="4405313"/>
            <a:ext cx="1665288" cy="2778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656" name="Rectangle 384"/>
          <p:cNvSpPr>
            <a:spLocks noChangeArrowheads="1"/>
          </p:cNvSpPr>
          <p:nvPr/>
        </p:nvSpPr>
        <p:spPr bwMode="auto">
          <a:xfrm>
            <a:off x="4197350" y="4408488"/>
            <a:ext cx="15779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End User together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16" name="Rectangle 385"/>
          <p:cNvSpPr>
            <a:spLocks noChangeArrowheads="1"/>
          </p:cNvSpPr>
          <p:nvPr/>
        </p:nvSpPr>
        <p:spPr bwMode="auto">
          <a:xfrm>
            <a:off x="4079875" y="4683125"/>
            <a:ext cx="1665288" cy="2762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658" name="Rectangle 386"/>
          <p:cNvSpPr>
            <a:spLocks noChangeArrowheads="1"/>
          </p:cNvSpPr>
          <p:nvPr/>
        </p:nvSpPr>
        <p:spPr bwMode="auto">
          <a:xfrm>
            <a:off x="4338638" y="4683125"/>
            <a:ext cx="12207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with contractor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18" name="Rectangle 387"/>
          <p:cNvSpPr>
            <a:spLocks noChangeArrowheads="1"/>
          </p:cNvSpPr>
          <p:nvPr/>
        </p:nvSpPr>
        <p:spPr bwMode="auto">
          <a:xfrm>
            <a:off x="5484813" y="4683125"/>
            <a:ext cx="523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19" name="Rectangle 388"/>
          <p:cNvSpPr>
            <a:spLocks noChangeArrowheads="1"/>
          </p:cNvSpPr>
          <p:nvPr/>
        </p:nvSpPr>
        <p:spPr bwMode="auto">
          <a:xfrm>
            <a:off x="4032250" y="4403725"/>
            <a:ext cx="1758950" cy="158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20" name="Rectangle 389"/>
          <p:cNvSpPr>
            <a:spLocks noChangeArrowheads="1"/>
          </p:cNvSpPr>
          <p:nvPr/>
        </p:nvSpPr>
        <p:spPr bwMode="auto">
          <a:xfrm>
            <a:off x="4032250" y="4405313"/>
            <a:ext cx="47625" cy="5524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21" name="Rectangle 390"/>
          <p:cNvSpPr>
            <a:spLocks noChangeArrowheads="1"/>
          </p:cNvSpPr>
          <p:nvPr/>
        </p:nvSpPr>
        <p:spPr bwMode="auto">
          <a:xfrm>
            <a:off x="5745163" y="4405313"/>
            <a:ext cx="46037" cy="5524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22" name="Rectangle 391"/>
          <p:cNvSpPr>
            <a:spLocks noChangeArrowheads="1"/>
          </p:cNvSpPr>
          <p:nvPr/>
        </p:nvSpPr>
        <p:spPr bwMode="auto">
          <a:xfrm>
            <a:off x="5849938" y="4543425"/>
            <a:ext cx="1663700" cy="2778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664" name="Rectangle 392"/>
          <p:cNvSpPr>
            <a:spLocks noChangeArrowheads="1"/>
          </p:cNvSpPr>
          <p:nvPr/>
        </p:nvSpPr>
        <p:spPr bwMode="auto">
          <a:xfrm>
            <a:off x="6035675" y="4546600"/>
            <a:ext cx="1377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End User initiate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24" name="Rectangle 393"/>
          <p:cNvSpPr>
            <a:spLocks noChangeArrowheads="1"/>
          </p:cNvSpPr>
          <p:nvPr/>
        </p:nvSpPr>
        <p:spPr bwMode="auto">
          <a:xfrm>
            <a:off x="7326313" y="4546600"/>
            <a:ext cx="523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25" name="Rectangle 394"/>
          <p:cNvSpPr>
            <a:spLocks noChangeArrowheads="1"/>
          </p:cNvSpPr>
          <p:nvPr/>
        </p:nvSpPr>
        <p:spPr bwMode="auto">
          <a:xfrm>
            <a:off x="5802313" y="4403725"/>
            <a:ext cx="1760537" cy="139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26" name="Rectangle 395"/>
          <p:cNvSpPr>
            <a:spLocks noChangeArrowheads="1"/>
          </p:cNvSpPr>
          <p:nvPr/>
        </p:nvSpPr>
        <p:spPr bwMode="auto">
          <a:xfrm>
            <a:off x="5802313" y="4543425"/>
            <a:ext cx="47625" cy="2778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27" name="Rectangle 396"/>
          <p:cNvSpPr>
            <a:spLocks noChangeArrowheads="1"/>
          </p:cNvSpPr>
          <p:nvPr/>
        </p:nvSpPr>
        <p:spPr bwMode="auto">
          <a:xfrm>
            <a:off x="7513638" y="4543425"/>
            <a:ext cx="49212" cy="2778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28" name="Rectangle 397"/>
          <p:cNvSpPr>
            <a:spLocks noChangeArrowheads="1"/>
          </p:cNvSpPr>
          <p:nvPr/>
        </p:nvSpPr>
        <p:spPr bwMode="auto">
          <a:xfrm>
            <a:off x="5802313" y="4821238"/>
            <a:ext cx="1760537" cy="1365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29" name="Rectangle 398"/>
          <p:cNvSpPr>
            <a:spLocks noChangeArrowheads="1"/>
          </p:cNvSpPr>
          <p:nvPr/>
        </p:nvSpPr>
        <p:spPr bwMode="auto">
          <a:xfrm>
            <a:off x="1212850" y="4387850"/>
            <a:ext cx="14288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30" name="Line 399"/>
          <p:cNvSpPr>
            <a:spLocks noChangeShapeType="1"/>
          </p:cNvSpPr>
          <p:nvPr/>
        </p:nvSpPr>
        <p:spPr bwMode="auto">
          <a:xfrm>
            <a:off x="1212850" y="4387850"/>
            <a:ext cx="1588" cy="174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31" name="Rectangle 400"/>
          <p:cNvSpPr>
            <a:spLocks noChangeArrowheads="1"/>
          </p:cNvSpPr>
          <p:nvPr/>
        </p:nvSpPr>
        <p:spPr bwMode="auto">
          <a:xfrm>
            <a:off x="1212850" y="4387850"/>
            <a:ext cx="14288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32" name="Line 401"/>
          <p:cNvSpPr>
            <a:spLocks noChangeShapeType="1"/>
          </p:cNvSpPr>
          <p:nvPr/>
        </p:nvSpPr>
        <p:spPr bwMode="auto">
          <a:xfrm>
            <a:off x="1212850" y="4387850"/>
            <a:ext cx="142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33" name="Line 402"/>
          <p:cNvSpPr>
            <a:spLocks noChangeShapeType="1"/>
          </p:cNvSpPr>
          <p:nvPr/>
        </p:nvSpPr>
        <p:spPr bwMode="auto">
          <a:xfrm>
            <a:off x="1212850" y="4387850"/>
            <a:ext cx="1588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34" name="Rectangle 403"/>
          <p:cNvSpPr>
            <a:spLocks noChangeArrowheads="1"/>
          </p:cNvSpPr>
          <p:nvPr/>
        </p:nvSpPr>
        <p:spPr bwMode="auto">
          <a:xfrm>
            <a:off x="1227138" y="4403725"/>
            <a:ext cx="14287" cy="158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35" name="Rectangle 404"/>
          <p:cNvSpPr>
            <a:spLocks noChangeArrowheads="1"/>
          </p:cNvSpPr>
          <p:nvPr/>
        </p:nvSpPr>
        <p:spPr bwMode="auto">
          <a:xfrm>
            <a:off x="1227138" y="4387850"/>
            <a:ext cx="14287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36" name="Line 405"/>
          <p:cNvSpPr>
            <a:spLocks noChangeShapeType="1"/>
          </p:cNvSpPr>
          <p:nvPr/>
        </p:nvSpPr>
        <p:spPr bwMode="auto">
          <a:xfrm>
            <a:off x="1227138" y="4387850"/>
            <a:ext cx="1428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37" name="Line 406"/>
          <p:cNvSpPr>
            <a:spLocks noChangeShapeType="1"/>
          </p:cNvSpPr>
          <p:nvPr/>
        </p:nvSpPr>
        <p:spPr bwMode="auto">
          <a:xfrm>
            <a:off x="1227138" y="4387850"/>
            <a:ext cx="1587" cy="15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38" name="Rectangle 407"/>
          <p:cNvSpPr>
            <a:spLocks noChangeArrowheads="1"/>
          </p:cNvSpPr>
          <p:nvPr/>
        </p:nvSpPr>
        <p:spPr bwMode="auto">
          <a:xfrm>
            <a:off x="1241425" y="4387850"/>
            <a:ext cx="1009650" cy="1587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39" name="Line 408"/>
          <p:cNvSpPr>
            <a:spLocks noChangeShapeType="1"/>
          </p:cNvSpPr>
          <p:nvPr/>
        </p:nvSpPr>
        <p:spPr bwMode="auto">
          <a:xfrm>
            <a:off x="1241425" y="4387850"/>
            <a:ext cx="10096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40" name="Rectangle 409"/>
          <p:cNvSpPr>
            <a:spLocks noChangeArrowheads="1"/>
          </p:cNvSpPr>
          <p:nvPr/>
        </p:nvSpPr>
        <p:spPr bwMode="auto">
          <a:xfrm>
            <a:off x="1241425" y="4403725"/>
            <a:ext cx="1009650" cy="158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41" name="Rectangle 410"/>
          <p:cNvSpPr>
            <a:spLocks noChangeArrowheads="1"/>
          </p:cNvSpPr>
          <p:nvPr/>
        </p:nvSpPr>
        <p:spPr bwMode="auto">
          <a:xfrm>
            <a:off x="2251075" y="4387850"/>
            <a:ext cx="9525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42" name="Line 411"/>
          <p:cNvSpPr>
            <a:spLocks noChangeShapeType="1"/>
          </p:cNvSpPr>
          <p:nvPr/>
        </p:nvSpPr>
        <p:spPr bwMode="auto">
          <a:xfrm>
            <a:off x="2251075" y="4387850"/>
            <a:ext cx="1588" cy="174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43" name="Rectangle 412"/>
          <p:cNvSpPr>
            <a:spLocks noChangeArrowheads="1"/>
          </p:cNvSpPr>
          <p:nvPr/>
        </p:nvSpPr>
        <p:spPr bwMode="auto">
          <a:xfrm>
            <a:off x="2260600" y="4387850"/>
            <a:ext cx="1762125" cy="174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44" name="Rectangle 413"/>
          <p:cNvSpPr>
            <a:spLocks noChangeArrowheads="1"/>
          </p:cNvSpPr>
          <p:nvPr/>
        </p:nvSpPr>
        <p:spPr bwMode="auto">
          <a:xfrm>
            <a:off x="4022725" y="4387850"/>
            <a:ext cx="9525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45" name="Line 414"/>
          <p:cNvSpPr>
            <a:spLocks noChangeShapeType="1"/>
          </p:cNvSpPr>
          <p:nvPr/>
        </p:nvSpPr>
        <p:spPr bwMode="auto">
          <a:xfrm>
            <a:off x="4022725" y="4387850"/>
            <a:ext cx="1588" cy="174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46" name="Rectangle 415"/>
          <p:cNvSpPr>
            <a:spLocks noChangeArrowheads="1"/>
          </p:cNvSpPr>
          <p:nvPr/>
        </p:nvSpPr>
        <p:spPr bwMode="auto">
          <a:xfrm>
            <a:off x="4032250" y="4387850"/>
            <a:ext cx="1758950" cy="174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47" name="Rectangle 416"/>
          <p:cNvSpPr>
            <a:spLocks noChangeArrowheads="1"/>
          </p:cNvSpPr>
          <p:nvPr/>
        </p:nvSpPr>
        <p:spPr bwMode="auto">
          <a:xfrm>
            <a:off x="5791200" y="4387850"/>
            <a:ext cx="11113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48" name="Line 417"/>
          <p:cNvSpPr>
            <a:spLocks noChangeShapeType="1"/>
          </p:cNvSpPr>
          <p:nvPr/>
        </p:nvSpPr>
        <p:spPr bwMode="auto">
          <a:xfrm>
            <a:off x="5791200" y="4387850"/>
            <a:ext cx="1588" cy="174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49" name="Rectangle 418"/>
          <p:cNvSpPr>
            <a:spLocks noChangeArrowheads="1"/>
          </p:cNvSpPr>
          <p:nvPr/>
        </p:nvSpPr>
        <p:spPr bwMode="auto">
          <a:xfrm>
            <a:off x="5802313" y="4387850"/>
            <a:ext cx="1760537" cy="174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50" name="Rectangle 419"/>
          <p:cNvSpPr>
            <a:spLocks noChangeArrowheads="1"/>
          </p:cNvSpPr>
          <p:nvPr/>
        </p:nvSpPr>
        <p:spPr bwMode="auto">
          <a:xfrm>
            <a:off x="7562850" y="4387850"/>
            <a:ext cx="9525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51" name="Line 420"/>
          <p:cNvSpPr>
            <a:spLocks noChangeShapeType="1"/>
          </p:cNvSpPr>
          <p:nvPr/>
        </p:nvSpPr>
        <p:spPr bwMode="auto">
          <a:xfrm>
            <a:off x="7562850" y="4387850"/>
            <a:ext cx="1588" cy="174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52" name="Rectangle 421"/>
          <p:cNvSpPr>
            <a:spLocks noChangeArrowheads="1"/>
          </p:cNvSpPr>
          <p:nvPr/>
        </p:nvSpPr>
        <p:spPr bwMode="auto">
          <a:xfrm>
            <a:off x="1212850" y="4405313"/>
            <a:ext cx="14288" cy="5524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53" name="Line 422"/>
          <p:cNvSpPr>
            <a:spLocks noChangeShapeType="1"/>
          </p:cNvSpPr>
          <p:nvPr/>
        </p:nvSpPr>
        <p:spPr bwMode="auto">
          <a:xfrm>
            <a:off x="1212850" y="4405313"/>
            <a:ext cx="1588" cy="5524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54" name="Rectangle 423"/>
          <p:cNvSpPr>
            <a:spLocks noChangeArrowheads="1"/>
          </p:cNvSpPr>
          <p:nvPr/>
        </p:nvSpPr>
        <p:spPr bwMode="auto">
          <a:xfrm>
            <a:off x="2251075" y="4405313"/>
            <a:ext cx="9525" cy="5524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55" name="Line 424"/>
          <p:cNvSpPr>
            <a:spLocks noChangeShapeType="1"/>
          </p:cNvSpPr>
          <p:nvPr/>
        </p:nvSpPr>
        <p:spPr bwMode="auto">
          <a:xfrm>
            <a:off x="2251075" y="4405313"/>
            <a:ext cx="1588" cy="5524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56" name="Rectangle 425"/>
          <p:cNvSpPr>
            <a:spLocks noChangeArrowheads="1"/>
          </p:cNvSpPr>
          <p:nvPr/>
        </p:nvSpPr>
        <p:spPr bwMode="auto">
          <a:xfrm>
            <a:off x="4022725" y="4405313"/>
            <a:ext cx="9525" cy="5524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57" name="Line 426"/>
          <p:cNvSpPr>
            <a:spLocks noChangeShapeType="1"/>
          </p:cNvSpPr>
          <p:nvPr/>
        </p:nvSpPr>
        <p:spPr bwMode="auto">
          <a:xfrm>
            <a:off x="4022725" y="4405313"/>
            <a:ext cx="1588" cy="5524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58" name="Rectangle 427"/>
          <p:cNvSpPr>
            <a:spLocks noChangeArrowheads="1"/>
          </p:cNvSpPr>
          <p:nvPr/>
        </p:nvSpPr>
        <p:spPr bwMode="auto">
          <a:xfrm>
            <a:off x="5791200" y="4405313"/>
            <a:ext cx="11113" cy="5524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59" name="Line 428"/>
          <p:cNvSpPr>
            <a:spLocks noChangeShapeType="1"/>
          </p:cNvSpPr>
          <p:nvPr/>
        </p:nvSpPr>
        <p:spPr bwMode="auto">
          <a:xfrm>
            <a:off x="5791200" y="4405313"/>
            <a:ext cx="1588" cy="5524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60" name="Rectangle 429"/>
          <p:cNvSpPr>
            <a:spLocks noChangeArrowheads="1"/>
          </p:cNvSpPr>
          <p:nvPr/>
        </p:nvSpPr>
        <p:spPr bwMode="auto">
          <a:xfrm>
            <a:off x="7562850" y="4405313"/>
            <a:ext cx="9525" cy="5524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61" name="Line 430"/>
          <p:cNvSpPr>
            <a:spLocks noChangeShapeType="1"/>
          </p:cNvSpPr>
          <p:nvPr/>
        </p:nvSpPr>
        <p:spPr bwMode="auto">
          <a:xfrm>
            <a:off x="7562850" y="4405313"/>
            <a:ext cx="1588" cy="5524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62" name="Rectangle 431"/>
          <p:cNvSpPr>
            <a:spLocks noChangeArrowheads="1"/>
          </p:cNvSpPr>
          <p:nvPr/>
        </p:nvSpPr>
        <p:spPr bwMode="auto">
          <a:xfrm>
            <a:off x="1273175" y="5095875"/>
            <a:ext cx="930275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63" name="Rectangle 432"/>
          <p:cNvSpPr>
            <a:spLocks noChangeArrowheads="1"/>
          </p:cNvSpPr>
          <p:nvPr/>
        </p:nvSpPr>
        <p:spPr bwMode="auto">
          <a:xfrm>
            <a:off x="1273175" y="5099050"/>
            <a:ext cx="90170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700">
                <a:solidFill>
                  <a:srgbClr val="010000"/>
                </a:solidFill>
                <a:latin typeface="Arial Narrow" pitchFamily="34" charset="0"/>
              </a:rPr>
              <a:t>Contractor</a:t>
            </a:r>
            <a:endParaRPr lang="en-US" sz="17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64" name="Rectangle 433"/>
          <p:cNvSpPr>
            <a:spLocks noChangeArrowheads="1"/>
          </p:cNvSpPr>
          <p:nvPr/>
        </p:nvSpPr>
        <p:spPr bwMode="auto">
          <a:xfrm>
            <a:off x="2170113" y="5099050"/>
            <a:ext cx="523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65" name="Rectangle 434"/>
          <p:cNvSpPr>
            <a:spLocks noChangeArrowheads="1"/>
          </p:cNvSpPr>
          <p:nvPr/>
        </p:nvSpPr>
        <p:spPr bwMode="auto">
          <a:xfrm>
            <a:off x="1227138" y="4957763"/>
            <a:ext cx="1023937" cy="138112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66" name="Rectangle 435"/>
          <p:cNvSpPr>
            <a:spLocks noChangeArrowheads="1"/>
          </p:cNvSpPr>
          <p:nvPr/>
        </p:nvSpPr>
        <p:spPr bwMode="auto">
          <a:xfrm>
            <a:off x="1227138" y="5095875"/>
            <a:ext cx="46037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67" name="Rectangle 436"/>
          <p:cNvSpPr>
            <a:spLocks noChangeArrowheads="1"/>
          </p:cNvSpPr>
          <p:nvPr/>
        </p:nvSpPr>
        <p:spPr bwMode="auto">
          <a:xfrm>
            <a:off x="2203450" y="5095875"/>
            <a:ext cx="47625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68" name="Rectangle 437"/>
          <p:cNvSpPr>
            <a:spLocks noChangeArrowheads="1"/>
          </p:cNvSpPr>
          <p:nvPr/>
        </p:nvSpPr>
        <p:spPr bwMode="auto">
          <a:xfrm>
            <a:off x="1227138" y="5373688"/>
            <a:ext cx="1023937" cy="139700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69" name="Rectangle 438"/>
          <p:cNvSpPr>
            <a:spLocks noChangeArrowheads="1"/>
          </p:cNvSpPr>
          <p:nvPr/>
        </p:nvSpPr>
        <p:spPr bwMode="auto">
          <a:xfrm>
            <a:off x="2308225" y="5095875"/>
            <a:ext cx="1663700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711" name="Rectangle 439"/>
          <p:cNvSpPr>
            <a:spLocks noChangeArrowheads="1"/>
          </p:cNvSpPr>
          <p:nvPr/>
        </p:nvSpPr>
        <p:spPr bwMode="auto">
          <a:xfrm>
            <a:off x="2686050" y="5099050"/>
            <a:ext cx="971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Preparation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71" name="Rectangle 440"/>
          <p:cNvSpPr>
            <a:spLocks noChangeArrowheads="1"/>
          </p:cNvSpPr>
          <p:nvPr/>
        </p:nvSpPr>
        <p:spPr bwMode="auto">
          <a:xfrm>
            <a:off x="3595688" y="5099050"/>
            <a:ext cx="523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72" name="Rectangle 441"/>
          <p:cNvSpPr>
            <a:spLocks noChangeArrowheads="1"/>
          </p:cNvSpPr>
          <p:nvPr/>
        </p:nvSpPr>
        <p:spPr bwMode="auto">
          <a:xfrm>
            <a:off x="2260600" y="4957763"/>
            <a:ext cx="1762125" cy="138112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73" name="Rectangle 442"/>
          <p:cNvSpPr>
            <a:spLocks noChangeArrowheads="1"/>
          </p:cNvSpPr>
          <p:nvPr/>
        </p:nvSpPr>
        <p:spPr bwMode="auto">
          <a:xfrm>
            <a:off x="2260600" y="5095875"/>
            <a:ext cx="47625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74" name="Rectangle 443"/>
          <p:cNvSpPr>
            <a:spLocks noChangeArrowheads="1"/>
          </p:cNvSpPr>
          <p:nvPr/>
        </p:nvSpPr>
        <p:spPr bwMode="auto">
          <a:xfrm>
            <a:off x="3971925" y="5095875"/>
            <a:ext cx="50800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75" name="Rectangle 444"/>
          <p:cNvSpPr>
            <a:spLocks noChangeArrowheads="1"/>
          </p:cNvSpPr>
          <p:nvPr/>
        </p:nvSpPr>
        <p:spPr bwMode="auto">
          <a:xfrm>
            <a:off x="2260600" y="5373688"/>
            <a:ext cx="1762125" cy="139700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76" name="Rectangle 445"/>
          <p:cNvSpPr>
            <a:spLocks noChangeArrowheads="1"/>
          </p:cNvSpPr>
          <p:nvPr/>
        </p:nvSpPr>
        <p:spPr bwMode="auto">
          <a:xfrm>
            <a:off x="4079875" y="5022850"/>
            <a:ext cx="1665288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718" name="Rectangle 446"/>
          <p:cNvSpPr>
            <a:spLocks noChangeArrowheads="1"/>
          </p:cNvSpPr>
          <p:nvPr/>
        </p:nvSpPr>
        <p:spPr bwMode="auto">
          <a:xfrm>
            <a:off x="4197350" y="4941888"/>
            <a:ext cx="15779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End User together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78" name="Rectangle 447"/>
          <p:cNvSpPr>
            <a:spLocks noChangeArrowheads="1"/>
          </p:cNvSpPr>
          <p:nvPr/>
        </p:nvSpPr>
        <p:spPr bwMode="auto">
          <a:xfrm>
            <a:off x="4079875" y="5235575"/>
            <a:ext cx="1665288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720" name="Rectangle 448"/>
          <p:cNvSpPr>
            <a:spLocks noChangeArrowheads="1"/>
          </p:cNvSpPr>
          <p:nvPr/>
        </p:nvSpPr>
        <p:spPr bwMode="auto">
          <a:xfrm>
            <a:off x="4338638" y="5238750"/>
            <a:ext cx="12207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with contractor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80" name="Rectangle 449"/>
          <p:cNvSpPr>
            <a:spLocks noChangeArrowheads="1"/>
          </p:cNvSpPr>
          <p:nvPr/>
        </p:nvSpPr>
        <p:spPr bwMode="auto">
          <a:xfrm>
            <a:off x="5484813" y="5238750"/>
            <a:ext cx="523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81" name="Rectangle 450"/>
          <p:cNvSpPr>
            <a:spLocks noChangeArrowheads="1"/>
          </p:cNvSpPr>
          <p:nvPr/>
        </p:nvSpPr>
        <p:spPr bwMode="auto">
          <a:xfrm>
            <a:off x="4032250" y="4957763"/>
            <a:ext cx="47625" cy="555625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82" name="Rectangle 451"/>
          <p:cNvSpPr>
            <a:spLocks noChangeArrowheads="1"/>
          </p:cNvSpPr>
          <p:nvPr/>
        </p:nvSpPr>
        <p:spPr bwMode="auto">
          <a:xfrm>
            <a:off x="5745163" y="4957763"/>
            <a:ext cx="46037" cy="555625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83" name="Rectangle 452"/>
          <p:cNvSpPr>
            <a:spLocks noChangeArrowheads="1"/>
          </p:cNvSpPr>
          <p:nvPr/>
        </p:nvSpPr>
        <p:spPr bwMode="auto">
          <a:xfrm>
            <a:off x="5849938" y="4957763"/>
            <a:ext cx="1663700" cy="277812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725" name="Rectangle 453"/>
          <p:cNvSpPr>
            <a:spLocks noChangeArrowheads="1"/>
          </p:cNvSpPr>
          <p:nvPr/>
        </p:nvSpPr>
        <p:spPr bwMode="auto">
          <a:xfrm>
            <a:off x="5864225" y="4960938"/>
            <a:ext cx="15938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600" b="0">
                <a:solidFill>
                  <a:srgbClr val="010000"/>
                </a:solidFill>
                <a:latin typeface="Arial Narrow" pitchFamily="34" charset="0"/>
              </a:rPr>
              <a:t>Review together with</a:t>
            </a:r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85" name="Rectangle 454"/>
          <p:cNvSpPr>
            <a:spLocks noChangeArrowheads="1"/>
          </p:cNvSpPr>
          <p:nvPr/>
        </p:nvSpPr>
        <p:spPr bwMode="auto">
          <a:xfrm>
            <a:off x="5849938" y="5235575"/>
            <a:ext cx="1663700" cy="277813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2727" name="Rectangle 455"/>
          <p:cNvSpPr>
            <a:spLocks noChangeArrowheads="1"/>
          </p:cNvSpPr>
          <p:nvPr/>
        </p:nvSpPr>
        <p:spPr bwMode="auto">
          <a:xfrm>
            <a:off x="6270625" y="5238750"/>
            <a:ext cx="8763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Contractor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87" name="Rectangle 456"/>
          <p:cNvSpPr>
            <a:spLocks noChangeArrowheads="1"/>
          </p:cNvSpPr>
          <p:nvPr/>
        </p:nvSpPr>
        <p:spPr bwMode="auto">
          <a:xfrm>
            <a:off x="7091363" y="5238750"/>
            <a:ext cx="523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788" name="Rectangle 457"/>
          <p:cNvSpPr>
            <a:spLocks noChangeArrowheads="1"/>
          </p:cNvSpPr>
          <p:nvPr/>
        </p:nvSpPr>
        <p:spPr bwMode="auto">
          <a:xfrm>
            <a:off x="5802313" y="4957763"/>
            <a:ext cx="47625" cy="555625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89" name="Rectangle 458"/>
          <p:cNvSpPr>
            <a:spLocks noChangeArrowheads="1"/>
          </p:cNvSpPr>
          <p:nvPr/>
        </p:nvSpPr>
        <p:spPr bwMode="auto">
          <a:xfrm>
            <a:off x="7513638" y="4957763"/>
            <a:ext cx="49212" cy="555625"/>
          </a:xfrm>
          <a:prstGeom prst="rect">
            <a:avLst/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90" name="Rectangle 459"/>
          <p:cNvSpPr>
            <a:spLocks noChangeArrowheads="1"/>
          </p:cNvSpPr>
          <p:nvPr/>
        </p:nvSpPr>
        <p:spPr bwMode="auto">
          <a:xfrm>
            <a:off x="1212850" y="4957763"/>
            <a:ext cx="14288" cy="5556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91" name="Line 460"/>
          <p:cNvSpPr>
            <a:spLocks noChangeShapeType="1"/>
          </p:cNvSpPr>
          <p:nvPr/>
        </p:nvSpPr>
        <p:spPr bwMode="auto">
          <a:xfrm>
            <a:off x="1212850" y="4957763"/>
            <a:ext cx="1588" cy="5556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92" name="Rectangle 461"/>
          <p:cNvSpPr>
            <a:spLocks noChangeArrowheads="1"/>
          </p:cNvSpPr>
          <p:nvPr/>
        </p:nvSpPr>
        <p:spPr bwMode="auto">
          <a:xfrm>
            <a:off x="1212850" y="5513388"/>
            <a:ext cx="14288" cy="142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93" name="Line 462"/>
          <p:cNvSpPr>
            <a:spLocks noChangeShapeType="1"/>
          </p:cNvSpPr>
          <p:nvPr/>
        </p:nvSpPr>
        <p:spPr bwMode="auto">
          <a:xfrm>
            <a:off x="1212850" y="5513388"/>
            <a:ext cx="142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94" name="Line 463"/>
          <p:cNvSpPr>
            <a:spLocks noChangeShapeType="1"/>
          </p:cNvSpPr>
          <p:nvPr/>
        </p:nvSpPr>
        <p:spPr bwMode="auto">
          <a:xfrm>
            <a:off x="1212850" y="5513388"/>
            <a:ext cx="1588" cy="142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95" name="Rectangle 464"/>
          <p:cNvSpPr>
            <a:spLocks noChangeArrowheads="1"/>
          </p:cNvSpPr>
          <p:nvPr/>
        </p:nvSpPr>
        <p:spPr bwMode="auto">
          <a:xfrm>
            <a:off x="1212850" y="5513388"/>
            <a:ext cx="14288" cy="142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96" name="Line 465"/>
          <p:cNvSpPr>
            <a:spLocks noChangeShapeType="1"/>
          </p:cNvSpPr>
          <p:nvPr/>
        </p:nvSpPr>
        <p:spPr bwMode="auto">
          <a:xfrm>
            <a:off x="1212850" y="5513388"/>
            <a:ext cx="142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97" name="Line 466"/>
          <p:cNvSpPr>
            <a:spLocks noChangeShapeType="1"/>
          </p:cNvSpPr>
          <p:nvPr/>
        </p:nvSpPr>
        <p:spPr bwMode="auto">
          <a:xfrm>
            <a:off x="1212850" y="5513388"/>
            <a:ext cx="1588" cy="142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98" name="Rectangle 467"/>
          <p:cNvSpPr>
            <a:spLocks noChangeArrowheads="1"/>
          </p:cNvSpPr>
          <p:nvPr/>
        </p:nvSpPr>
        <p:spPr bwMode="auto">
          <a:xfrm>
            <a:off x="1227138" y="5513388"/>
            <a:ext cx="1023937" cy="142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99" name="Line 468"/>
          <p:cNvSpPr>
            <a:spLocks noChangeShapeType="1"/>
          </p:cNvSpPr>
          <p:nvPr/>
        </p:nvSpPr>
        <p:spPr bwMode="auto">
          <a:xfrm>
            <a:off x="1227138" y="5513388"/>
            <a:ext cx="10239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00" name="Rectangle 469"/>
          <p:cNvSpPr>
            <a:spLocks noChangeArrowheads="1"/>
          </p:cNvSpPr>
          <p:nvPr/>
        </p:nvSpPr>
        <p:spPr bwMode="auto">
          <a:xfrm>
            <a:off x="2251075" y="4957763"/>
            <a:ext cx="9525" cy="5556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01" name="Line 470"/>
          <p:cNvSpPr>
            <a:spLocks noChangeShapeType="1"/>
          </p:cNvSpPr>
          <p:nvPr/>
        </p:nvSpPr>
        <p:spPr bwMode="auto">
          <a:xfrm>
            <a:off x="2251075" y="4957763"/>
            <a:ext cx="1588" cy="5556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02" name="Rectangle 471"/>
          <p:cNvSpPr>
            <a:spLocks noChangeArrowheads="1"/>
          </p:cNvSpPr>
          <p:nvPr/>
        </p:nvSpPr>
        <p:spPr bwMode="auto">
          <a:xfrm>
            <a:off x="2251075" y="551338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03" name="Line 472"/>
          <p:cNvSpPr>
            <a:spLocks noChangeShapeType="1"/>
          </p:cNvSpPr>
          <p:nvPr/>
        </p:nvSpPr>
        <p:spPr bwMode="auto">
          <a:xfrm>
            <a:off x="2251075" y="5513388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04" name="Line 473"/>
          <p:cNvSpPr>
            <a:spLocks noChangeShapeType="1"/>
          </p:cNvSpPr>
          <p:nvPr/>
        </p:nvSpPr>
        <p:spPr bwMode="auto">
          <a:xfrm>
            <a:off x="2251075" y="5513388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05" name="Rectangle 474"/>
          <p:cNvSpPr>
            <a:spLocks noChangeArrowheads="1"/>
          </p:cNvSpPr>
          <p:nvPr/>
        </p:nvSpPr>
        <p:spPr bwMode="auto">
          <a:xfrm>
            <a:off x="2251075" y="551338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06" name="Line 475"/>
          <p:cNvSpPr>
            <a:spLocks noChangeShapeType="1"/>
          </p:cNvSpPr>
          <p:nvPr/>
        </p:nvSpPr>
        <p:spPr bwMode="auto">
          <a:xfrm>
            <a:off x="2251075" y="5513388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07" name="Line 476"/>
          <p:cNvSpPr>
            <a:spLocks noChangeShapeType="1"/>
          </p:cNvSpPr>
          <p:nvPr/>
        </p:nvSpPr>
        <p:spPr bwMode="auto">
          <a:xfrm>
            <a:off x="2251075" y="5513388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08" name="Rectangle 477"/>
          <p:cNvSpPr>
            <a:spLocks noChangeArrowheads="1"/>
          </p:cNvSpPr>
          <p:nvPr/>
        </p:nvSpPr>
        <p:spPr bwMode="auto">
          <a:xfrm>
            <a:off x="2260600" y="5513388"/>
            <a:ext cx="17621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09" name="Line 478"/>
          <p:cNvSpPr>
            <a:spLocks noChangeShapeType="1"/>
          </p:cNvSpPr>
          <p:nvPr/>
        </p:nvSpPr>
        <p:spPr bwMode="auto">
          <a:xfrm>
            <a:off x="2260600" y="5513388"/>
            <a:ext cx="17621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10" name="Rectangle 479"/>
          <p:cNvSpPr>
            <a:spLocks noChangeArrowheads="1"/>
          </p:cNvSpPr>
          <p:nvPr/>
        </p:nvSpPr>
        <p:spPr bwMode="auto">
          <a:xfrm>
            <a:off x="4022725" y="4957763"/>
            <a:ext cx="9525" cy="5556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11" name="Line 480"/>
          <p:cNvSpPr>
            <a:spLocks noChangeShapeType="1"/>
          </p:cNvSpPr>
          <p:nvPr/>
        </p:nvSpPr>
        <p:spPr bwMode="auto">
          <a:xfrm>
            <a:off x="4022725" y="4957763"/>
            <a:ext cx="1588" cy="5556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12" name="Rectangle 481"/>
          <p:cNvSpPr>
            <a:spLocks noChangeArrowheads="1"/>
          </p:cNvSpPr>
          <p:nvPr/>
        </p:nvSpPr>
        <p:spPr bwMode="auto">
          <a:xfrm>
            <a:off x="4022725" y="551338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13" name="Line 482"/>
          <p:cNvSpPr>
            <a:spLocks noChangeShapeType="1"/>
          </p:cNvSpPr>
          <p:nvPr/>
        </p:nvSpPr>
        <p:spPr bwMode="auto">
          <a:xfrm>
            <a:off x="4022725" y="5513388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14" name="Line 483"/>
          <p:cNvSpPr>
            <a:spLocks noChangeShapeType="1"/>
          </p:cNvSpPr>
          <p:nvPr/>
        </p:nvSpPr>
        <p:spPr bwMode="auto">
          <a:xfrm>
            <a:off x="4022725" y="5513388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15" name="Rectangle 484"/>
          <p:cNvSpPr>
            <a:spLocks noChangeArrowheads="1"/>
          </p:cNvSpPr>
          <p:nvPr/>
        </p:nvSpPr>
        <p:spPr bwMode="auto">
          <a:xfrm>
            <a:off x="4032250" y="5513388"/>
            <a:ext cx="1758950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16" name="Line 485"/>
          <p:cNvSpPr>
            <a:spLocks noChangeShapeType="1"/>
          </p:cNvSpPr>
          <p:nvPr/>
        </p:nvSpPr>
        <p:spPr bwMode="auto">
          <a:xfrm>
            <a:off x="4032250" y="5513388"/>
            <a:ext cx="17589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17" name="Rectangle 486"/>
          <p:cNvSpPr>
            <a:spLocks noChangeArrowheads="1"/>
          </p:cNvSpPr>
          <p:nvPr/>
        </p:nvSpPr>
        <p:spPr bwMode="auto">
          <a:xfrm>
            <a:off x="5791200" y="4957763"/>
            <a:ext cx="11113" cy="5556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18" name="Line 487"/>
          <p:cNvSpPr>
            <a:spLocks noChangeShapeType="1"/>
          </p:cNvSpPr>
          <p:nvPr/>
        </p:nvSpPr>
        <p:spPr bwMode="auto">
          <a:xfrm>
            <a:off x="5791200" y="4957763"/>
            <a:ext cx="1588" cy="5556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19" name="Rectangle 488"/>
          <p:cNvSpPr>
            <a:spLocks noChangeArrowheads="1"/>
          </p:cNvSpPr>
          <p:nvPr/>
        </p:nvSpPr>
        <p:spPr bwMode="auto">
          <a:xfrm>
            <a:off x="5791200" y="5513388"/>
            <a:ext cx="11113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20" name="Line 489"/>
          <p:cNvSpPr>
            <a:spLocks noChangeShapeType="1"/>
          </p:cNvSpPr>
          <p:nvPr/>
        </p:nvSpPr>
        <p:spPr bwMode="auto">
          <a:xfrm>
            <a:off x="5791200" y="5513388"/>
            <a:ext cx="11113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21" name="Line 490"/>
          <p:cNvSpPr>
            <a:spLocks noChangeShapeType="1"/>
          </p:cNvSpPr>
          <p:nvPr/>
        </p:nvSpPr>
        <p:spPr bwMode="auto">
          <a:xfrm>
            <a:off x="5791200" y="5513388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22" name="Rectangle 491"/>
          <p:cNvSpPr>
            <a:spLocks noChangeArrowheads="1"/>
          </p:cNvSpPr>
          <p:nvPr/>
        </p:nvSpPr>
        <p:spPr bwMode="auto">
          <a:xfrm>
            <a:off x="5802313" y="5513388"/>
            <a:ext cx="1760537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23" name="Line 492"/>
          <p:cNvSpPr>
            <a:spLocks noChangeShapeType="1"/>
          </p:cNvSpPr>
          <p:nvPr/>
        </p:nvSpPr>
        <p:spPr bwMode="auto">
          <a:xfrm>
            <a:off x="5802313" y="5513388"/>
            <a:ext cx="17605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24" name="Rectangle 493"/>
          <p:cNvSpPr>
            <a:spLocks noChangeArrowheads="1"/>
          </p:cNvSpPr>
          <p:nvPr/>
        </p:nvSpPr>
        <p:spPr bwMode="auto">
          <a:xfrm>
            <a:off x="7562850" y="4957763"/>
            <a:ext cx="9525" cy="5556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25" name="Line 494"/>
          <p:cNvSpPr>
            <a:spLocks noChangeShapeType="1"/>
          </p:cNvSpPr>
          <p:nvPr/>
        </p:nvSpPr>
        <p:spPr bwMode="auto">
          <a:xfrm>
            <a:off x="7562850" y="4957763"/>
            <a:ext cx="1588" cy="5556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26" name="Rectangle 495"/>
          <p:cNvSpPr>
            <a:spLocks noChangeArrowheads="1"/>
          </p:cNvSpPr>
          <p:nvPr/>
        </p:nvSpPr>
        <p:spPr bwMode="auto">
          <a:xfrm>
            <a:off x="7562850" y="551338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27" name="Line 496"/>
          <p:cNvSpPr>
            <a:spLocks noChangeShapeType="1"/>
          </p:cNvSpPr>
          <p:nvPr/>
        </p:nvSpPr>
        <p:spPr bwMode="auto">
          <a:xfrm>
            <a:off x="7562850" y="5513388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28" name="Line 497"/>
          <p:cNvSpPr>
            <a:spLocks noChangeShapeType="1"/>
          </p:cNvSpPr>
          <p:nvPr/>
        </p:nvSpPr>
        <p:spPr bwMode="auto">
          <a:xfrm>
            <a:off x="7562850" y="5513388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29" name="Rectangle 498"/>
          <p:cNvSpPr>
            <a:spLocks noChangeArrowheads="1"/>
          </p:cNvSpPr>
          <p:nvPr/>
        </p:nvSpPr>
        <p:spPr bwMode="auto">
          <a:xfrm>
            <a:off x="7562850" y="551338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30" name="Line 499"/>
          <p:cNvSpPr>
            <a:spLocks noChangeShapeType="1"/>
          </p:cNvSpPr>
          <p:nvPr/>
        </p:nvSpPr>
        <p:spPr bwMode="auto">
          <a:xfrm>
            <a:off x="7562850" y="5513388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31" name="Line 500"/>
          <p:cNvSpPr>
            <a:spLocks noChangeShapeType="1"/>
          </p:cNvSpPr>
          <p:nvPr/>
        </p:nvSpPr>
        <p:spPr bwMode="auto">
          <a:xfrm>
            <a:off x="7562850" y="5513388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832" name="Rectangle 501"/>
          <p:cNvSpPr>
            <a:spLocks noChangeArrowheads="1"/>
          </p:cNvSpPr>
          <p:nvPr/>
        </p:nvSpPr>
        <p:spPr bwMode="auto">
          <a:xfrm>
            <a:off x="1201738" y="5524500"/>
            <a:ext cx="3175" cy="1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100" b="0">
                <a:solidFill>
                  <a:srgbClr val="010000"/>
                </a:solidFill>
                <a:latin typeface="Book Antiqua" pitchFamily="18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833" name="Rectangle 502"/>
          <p:cNvSpPr>
            <a:spLocks noChangeArrowheads="1"/>
          </p:cNvSpPr>
          <p:nvPr/>
        </p:nvSpPr>
        <p:spPr bwMode="auto">
          <a:xfrm>
            <a:off x="1201738" y="5543550"/>
            <a:ext cx="28575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00100" eaLnBrk="0" hangingPunct="0"/>
            <a:r>
              <a:rPr lang="en-US" sz="900" b="0">
                <a:solidFill>
                  <a:srgbClr val="010000"/>
                </a:solidFill>
                <a:latin typeface="Book Antiqua" pitchFamily="18" charset="0"/>
              </a:rPr>
              <a:t>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82775" name="Rectangle 503"/>
          <p:cNvSpPr>
            <a:spLocks noChangeArrowheads="1"/>
          </p:cNvSpPr>
          <p:nvPr/>
        </p:nvSpPr>
        <p:spPr bwMode="auto">
          <a:xfrm>
            <a:off x="4259263" y="2562225"/>
            <a:ext cx="12541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C&amp;P Dept. and</a:t>
            </a:r>
          </a:p>
          <a:p>
            <a:pPr algn="ctr" defTabSz="800100" eaLnBrk="0" hangingPunct="0"/>
            <a:r>
              <a:rPr lang="en-US" sz="1800" b="0">
                <a:solidFill>
                  <a:srgbClr val="010000"/>
                </a:solidFill>
                <a:latin typeface="Arial Narrow" pitchFamily="34" charset="0"/>
              </a:rPr>
              <a:t>End User </a:t>
            </a:r>
            <a:endParaRPr lang="en-US" sz="5400">
              <a:solidFill>
                <a:schemeClr val="bg1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2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2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2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2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2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2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0" fill="hold"/>
                                        <p:tgtEl>
                                          <p:spTgt spid="182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0" fill="hold"/>
                                        <p:tgtEl>
                                          <p:spTgt spid="182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0" fill="hold"/>
                                        <p:tgtEl>
                                          <p:spTgt spid="182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0" fill="hold"/>
                                        <p:tgtEl>
                                          <p:spTgt spid="182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2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2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2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2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2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2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2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2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2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2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2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2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2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7" dur="500"/>
                                        <p:tgtEl>
                                          <p:spTgt spid="18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0" dur="500"/>
                                        <p:tgtEl>
                                          <p:spTgt spid="18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2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2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2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2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2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2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82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82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82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82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2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82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82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82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8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82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82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82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82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82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82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396" grpId="0"/>
      <p:bldP spid="182398" grpId="0"/>
      <p:bldP spid="182405" grpId="0"/>
      <p:bldP spid="182451" grpId="0"/>
      <p:bldP spid="182453" grpId="0"/>
      <p:bldP spid="182464" grpId="0"/>
      <p:bldP spid="182509" grpId="0"/>
      <p:bldP spid="182516" grpId="0"/>
      <p:bldP spid="182518" grpId="0"/>
      <p:bldP spid="182523" grpId="0"/>
      <p:bldP spid="182525" grpId="0"/>
      <p:bldP spid="182578" grpId="0"/>
      <p:bldP spid="182580" grpId="0"/>
      <p:bldP spid="182587" grpId="0"/>
      <p:bldP spid="182594" grpId="0"/>
      <p:bldP spid="182649" grpId="0"/>
      <p:bldP spid="182656" grpId="0"/>
      <p:bldP spid="182658" grpId="0"/>
      <p:bldP spid="182664" grpId="0"/>
      <p:bldP spid="182711" grpId="0"/>
      <p:bldP spid="182718" grpId="0"/>
      <p:bldP spid="182720" grpId="0"/>
      <p:bldP spid="182725" grpId="0"/>
      <p:bldP spid="182727" grpId="0"/>
      <p:bldP spid="1827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ChangeArrowheads="1"/>
          </p:cNvSpPr>
          <p:nvPr/>
        </p:nvSpPr>
        <p:spPr bwMode="auto">
          <a:xfrm>
            <a:off x="4953000" y="620713"/>
            <a:ext cx="2087563" cy="446405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0"/>
          </a:p>
        </p:txBody>
      </p:sp>
      <p:sp>
        <p:nvSpPr>
          <p:cNvPr id="166915" name="Rectangle 3"/>
          <p:cNvSpPr>
            <a:spLocks noChangeArrowheads="1"/>
          </p:cNvSpPr>
          <p:nvPr/>
        </p:nvSpPr>
        <p:spPr bwMode="auto">
          <a:xfrm>
            <a:off x="1784350" y="1125538"/>
            <a:ext cx="1944688" cy="41751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0"/>
          </a:p>
        </p:txBody>
      </p:sp>
      <p:sp>
        <p:nvSpPr>
          <p:cNvPr id="166916" name="AutoShape 4"/>
          <p:cNvSpPr>
            <a:spLocks noChangeArrowheads="1"/>
          </p:cNvSpPr>
          <p:nvPr/>
        </p:nvSpPr>
        <p:spPr bwMode="auto">
          <a:xfrm>
            <a:off x="2000250" y="260350"/>
            <a:ext cx="1584325" cy="720725"/>
          </a:xfrm>
          <a:prstGeom prst="flowChartMultidocumen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Pekerjaan yg </a:t>
            </a:r>
          </a:p>
          <a:p>
            <a:pPr algn="ctr"/>
            <a:r>
              <a:rPr lang="en-US" sz="1000" b="0"/>
              <a:t>dikontrakkan</a:t>
            </a:r>
          </a:p>
        </p:txBody>
      </p:sp>
      <p:sp>
        <p:nvSpPr>
          <p:cNvPr id="166917" name="Rectangle 5"/>
          <p:cNvSpPr>
            <a:spLocks noChangeArrowheads="1"/>
          </p:cNvSpPr>
          <p:nvPr/>
        </p:nvSpPr>
        <p:spPr bwMode="auto">
          <a:xfrm>
            <a:off x="2144713" y="1195388"/>
            <a:ext cx="1223962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Penilaian Risiko</a:t>
            </a:r>
          </a:p>
        </p:txBody>
      </p:sp>
      <p:sp>
        <p:nvSpPr>
          <p:cNvPr id="166918" name="AutoShape 6"/>
          <p:cNvSpPr>
            <a:spLocks noChangeArrowheads="1"/>
          </p:cNvSpPr>
          <p:nvPr/>
        </p:nvSpPr>
        <p:spPr bwMode="auto">
          <a:xfrm>
            <a:off x="2216150" y="1700213"/>
            <a:ext cx="1152525" cy="1081087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Pra_qualifikasi </a:t>
            </a:r>
          </a:p>
          <a:p>
            <a:pPr algn="ctr"/>
            <a:r>
              <a:rPr lang="en-US" sz="1000" b="0"/>
              <a:t>dibutuhkan?</a:t>
            </a:r>
          </a:p>
        </p:txBody>
      </p:sp>
      <p:sp>
        <p:nvSpPr>
          <p:cNvPr id="166919" name="Rectangle 7"/>
          <p:cNvSpPr>
            <a:spLocks noChangeArrowheads="1"/>
          </p:cNvSpPr>
          <p:nvPr/>
        </p:nvSpPr>
        <p:spPr bwMode="auto">
          <a:xfrm>
            <a:off x="2144713" y="2997200"/>
            <a:ext cx="12954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Pra-kualifikasi</a:t>
            </a:r>
          </a:p>
        </p:txBody>
      </p:sp>
      <p:sp>
        <p:nvSpPr>
          <p:cNvPr id="166920" name="AutoShape 8"/>
          <p:cNvSpPr>
            <a:spLocks noChangeArrowheads="1"/>
          </p:cNvSpPr>
          <p:nvPr/>
        </p:nvSpPr>
        <p:spPr bwMode="auto">
          <a:xfrm>
            <a:off x="2216150" y="3500438"/>
            <a:ext cx="1152525" cy="1081087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Dibutuhkan </a:t>
            </a:r>
          </a:p>
          <a:p>
            <a:pPr algn="ctr"/>
            <a:r>
              <a:rPr lang="en-US" sz="1000" b="0"/>
              <a:t>seleksi?</a:t>
            </a:r>
          </a:p>
        </p:txBody>
      </p:sp>
      <p:sp>
        <p:nvSpPr>
          <p:cNvPr id="166921" name="Rectangle 9"/>
          <p:cNvSpPr>
            <a:spLocks noChangeArrowheads="1"/>
          </p:cNvSpPr>
          <p:nvPr/>
        </p:nvSpPr>
        <p:spPr bwMode="auto">
          <a:xfrm>
            <a:off x="2144713" y="4797425"/>
            <a:ext cx="12954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Seleksi</a:t>
            </a:r>
          </a:p>
        </p:txBody>
      </p:sp>
      <p:sp>
        <p:nvSpPr>
          <p:cNvPr id="166922" name="Rectangle 10"/>
          <p:cNvSpPr>
            <a:spLocks noChangeArrowheads="1"/>
          </p:cNvSpPr>
          <p:nvPr/>
        </p:nvSpPr>
        <p:spPr bwMode="auto">
          <a:xfrm>
            <a:off x="2144713" y="5589588"/>
            <a:ext cx="1295400" cy="4333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Penandatanganan</a:t>
            </a:r>
          </a:p>
          <a:p>
            <a:pPr algn="ctr"/>
            <a:r>
              <a:rPr lang="en-US" sz="1000" b="0"/>
              <a:t> kontrak</a:t>
            </a:r>
          </a:p>
        </p:txBody>
      </p:sp>
      <p:sp>
        <p:nvSpPr>
          <p:cNvPr id="166923" name="Line 11"/>
          <p:cNvSpPr>
            <a:spLocks noChangeShapeType="1"/>
          </p:cNvSpPr>
          <p:nvPr/>
        </p:nvSpPr>
        <p:spPr bwMode="auto">
          <a:xfrm>
            <a:off x="2792413" y="90805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6924" name="Line 12"/>
          <p:cNvSpPr>
            <a:spLocks noChangeShapeType="1"/>
          </p:cNvSpPr>
          <p:nvPr/>
        </p:nvSpPr>
        <p:spPr bwMode="auto">
          <a:xfrm>
            <a:off x="2792413" y="148431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6925" name="Line 13"/>
          <p:cNvSpPr>
            <a:spLocks noChangeShapeType="1"/>
          </p:cNvSpPr>
          <p:nvPr/>
        </p:nvSpPr>
        <p:spPr bwMode="auto">
          <a:xfrm>
            <a:off x="2792413" y="278130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6926" name="Line 14"/>
          <p:cNvSpPr>
            <a:spLocks noChangeShapeType="1"/>
          </p:cNvSpPr>
          <p:nvPr/>
        </p:nvSpPr>
        <p:spPr bwMode="auto">
          <a:xfrm>
            <a:off x="2792413" y="3284538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6927" name="Line 15"/>
          <p:cNvSpPr>
            <a:spLocks noChangeShapeType="1"/>
          </p:cNvSpPr>
          <p:nvPr/>
        </p:nvSpPr>
        <p:spPr bwMode="auto">
          <a:xfrm>
            <a:off x="2792413" y="45815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6928" name="Line 16"/>
          <p:cNvSpPr>
            <a:spLocks noChangeShapeType="1"/>
          </p:cNvSpPr>
          <p:nvPr/>
        </p:nvSpPr>
        <p:spPr bwMode="auto">
          <a:xfrm>
            <a:off x="2792413" y="5084763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166929" name="AutoShape 17"/>
          <p:cNvCxnSpPr>
            <a:cxnSpLocks noChangeShapeType="1"/>
            <a:stCxn id="166920" idx="1"/>
          </p:cNvCxnSpPr>
          <p:nvPr/>
        </p:nvCxnSpPr>
        <p:spPr bwMode="auto">
          <a:xfrm rot="10800000" flipV="1">
            <a:off x="2073275" y="4041775"/>
            <a:ext cx="142875" cy="140335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66930" name="Line 18"/>
          <p:cNvSpPr>
            <a:spLocks noChangeShapeType="1"/>
          </p:cNvSpPr>
          <p:nvPr/>
        </p:nvSpPr>
        <p:spPr bwMode="auto">
          <a:xfrm>
            <a:off x="2073275" y="5445125"/>
            <a:ext cx="7191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6931" name="Text Box 19"/>
          <p:cNvSpPr txBox="1">
            <a:spLocks noChangeArrowheads="1"/>
          </p:cNvSpPr>
          <p:nvPr/>
        </p:nvSpPr>
        <p:spPr bwMode="auto">
          <a:xfrm>
            <a:off x="1855788" y="3789363"/>
            <a:ext cx="5762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0"/>
              <a:t>Tidak</a:t>
            </a:r>
          </a:p>
        </p:txBody>
      </p:sp>
      <p:sp>
        <p:nvSpPr>
          <p:cNvPr id="166932" name="Text Box 20"/>
          <p:cNvSpPr txBox="1">
            <a:spLocks noChangeArrowheads="1"/>
          </p:cNvSpPr>
          <p:nvPr/>
        </p:nvSpPr>
        <p:spPr bwMode="auto">
          <a:xfrm>
            <a:off x="2792413" y="4508500"/>
            <a:ext cx="3603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0"/>
              <a:t>ya</a:t>
            </a:r>
          </a:p>
        </p:txBody>
      </p:sp>
      <p:cxnSp>
        <p:nvCxnSpPr>
          <p:cNvPr id="166933" name="AutoShape 21"/>
          <p:cNvCxnSpPr>
            <a:cxnSpLocks noChangeShapeType="1"/>
            <a:stCxn id="166918" idx="1"/>
          </p:cNvCxnSpPr>
          <p:nvPr/>
        </p:nvCxnSpPr>
        <p:spPr bwMode="auto">
          <a:xfrm rot="10800000" flipH="1" flipV="1">
            <a:off x="2216150" y="2241550"/>
            <a:ext cx="576263" cy="1150938"/>
          </a:xfrm>
          <a:prstGeom prst="bentConnector4">
            <a:avLst>
              <a:gd name="adj1" fmla="val -39671"/>
              <a:gd name="adj2" fmla="val 9903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66934" name="Text Box 22"/>
          <p:cNvSpPr txBox="1">
            <a:spLocks noChangeArrowheads="1"/>
          </p:cNvSpPr>
          <p:nvPr/>
        </p:nvSpPr>
        <p:spPr bwMode="auto">
          <a:xfrm>
            <a:off x="1855788" y="2032000"/>
            <a:ext cx="5762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0"/>
              <a:t>Tidak</a:t>
            </a:r>
          </a:p>
        </p:txBody>
      </p:sp>
      <p:sp>
        <p:nvSpPr>
          <p:cNvPr id="166935" name="Text Box 23"/>
          <p:cNvSpPr txBox="1">
            <a:spLocks noChangeArrowheads="1"/>
          </p:cNvSpPr>
          <p:nvPr/>
        </p:nvSpPr>
        <p:spPr bwMode="auto">
          <a:xfrm>
            <a:off x="2792413" y="3255963"/>
            <a:ext cx="3603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0"/>
              <a:t>ya</a:t>
            </a:r>
          </a:p>
        </p:txBody>
      </p:sp>
      <p:sp>
        <p:nvSpPr>
          <p:cNvPr id="166936" name="AutoShape 24"/>
          <p:cNvSpPr>
            <a:spLocks noChangeArrowheads="1"/>
          </p:cNvSpPr>
          <p:nvPr/>
        </p:nvSpPr>
        <p:spPr bwMode="auto">
          <a:xfrm>
            <a:off x="5384800" y="620713"/>
            <a:ext cx="1296988" cy="10795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Aktivitas awal </a:t>
            </a:r>
          </a:p>
          <a:p>
            <a:pPr algn="ctr"/>
            <a:r>
              <a:rPr lang="en-US" sz="1000" b="0"/>
              <a:t>dibutuhkan?</a:t>
            </a:r>
          </a:p>
        </p:txBody>
      </p:sp>
      <p:sp>
        <p:nvSpPr>
          <p:cNvPr id="166937" name="Rectangle 25"/>
          <p:cNvSpPr>
            <a:spLocks noChangeArrowheads="1"/>
          </p:cNvSpPr>
          <p:nvPr/>
        </p:nvSpPr>
        <p:spPr bwMode="auto">
          <a:xfrm>
            <a:off x="5384800" y="2060575"/>
            <a:ext cx="129698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Aktivitas Awal</a:t>
            </a:r>
          </a:p>
        </p:txBody>
      </p:sp>
      <p:sp>
        <p:nvSpPr>
          <p:cNvPr id="166938" name="AutoShape 26"/>
          <p:cNvSpPr>
            <a:spLocks noChangeArrowheads="1"/>
          </p:cNvSpPr>
          <p:nvPr/>
        </p:nvSpPr>
        <p:spPr bwMode="auto">
          <a:xfrm>
            <a:off x="5384800" y="2708275"/>
            <a:ext cx="1296988" cy="1152525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Pekerjaan</a:t>
            </a:r>
          </a:p>
          <a:p>
            <a:pPr algn="ctr"/>
            <a:r>
              <a:rPr lang="en-US" sz="1000" b="0"/>
              <a:t>berlangsung </a:t>
            </a:r>
          </a:p>
          <a:p>
            <a:pPr algn="ctr"/>
            <a:r>
              <a:rPr lang="en-US" sz="1000" b="0"/>
              <a:t>dibutuhkan?</a:t>
            </a:r>
          </a:p>
        </p:txBody>
      </p:sp>
      <p:sp>
        <p:nvSpPr>
          <p:cNvPr id="166939" name="Rectangle 27"/>
          <p:cNvSpPr>
            <a:spLocks noChangeArrowheads="1"/>
          </p:cNvSpPr>
          <p:nvPr/>
        </p:nvSpPr>
        <p:spPr bwMode="auto">
          <a:xfrm>
            <a:off x="5384800" y="4078288"/>
            <a:ext cx="12954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Pekerjaan</a:t>
            </a:r>
          </a:p>
          <a:p>
            <a:pPr algn="ctr"/>
            <a:r>
              <a:rPr lang="en-US" sz="1000" b="0"/>
              <a:t> berlangsung</a:t>
            </a:r>
          </a:p>
        </p:txBody>
      </p:sp>
      <p:sp>
        <p:nvSpPr>
          <p:cNvPr id="166940" name="Rectangle 28"/>
          <p:cNvSpPr>
            <a:spLocks noChangeArrowheads="1"/>
          </p:cNvSpPr>
          <p:nvPr/>
        </p:nvSpPr>
        <p:spPr bwMode="auto">
          <a:xfrm>
            <a:off x="5384800" y="4652963"/>
            <a:ext cx="12954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Evaluasi Akhir</a:t>
            </a:r>
          </a:p>
        </p:txBody>
      </p:sp>
      <p:sp>
        <p:nvSpPr>
          <p:cNvPr id="166941" name="Rectangle 29"/>
          <p:cNvSpPr>
            <a:spLocks noChangeArrowheads="1"/>
          </p:cNvSpPr>
          <p:nvPr/>
        </p:nvSpPr>
        <p:spPr bwMode="auto">
          <a:xfrm>
            <a:off x="5384800" y="5229225"/>
            <a:ext cx="1295400" cy="360363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/>
              <a:t>Bank Data</a:t>
            </a:r>
          </a:p>
        </p:txBody>
      </p:sp>
      <p:sp>
        <p:nvSpPr>
          <p:cNvPr id="166942" name="Line 30"/>
          <p:cNvSpPr>
            <a:spLocks noChangeShapeType="1"/>
          </p:cNvSpPr>
          <p:nvPr/>
        </p:nvSpPr>
        <p:spPr bwMode="auto">
          <a:xfrm>
            <a:off x="6032500" y="1701800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6943" name="Line 31"/>
          <p:cNvSpPr>
            <a:spLocks noChangeShapeType="1"/>
          </p:cNvSpPr>
          <p:nvPr/>
        </p:nvSpPr>
        <p:spPr bwMode="auto">
          <a:xfrm>
            <a:off x="6032500" y="447675"/>
            <a:ext cx="0" cy="173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6944" name="Line 32"/>
          <p:cNvSpPr>
            <a:spLocks noChangeShapeType="1"/>
          </p:cNvSpPr>
          <p:nvPr/>
        </p:nvSpPr>
        <p:spPr bwMode="auto">
          <a:xfrm>
            <a:off x="2792413" y="6019800"/>
            <a:ext cx="0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15393" name="AutoShape 33"/>
          <p:cNvCxnSpPr>
            <a:cxnSpLocks noChangeShapeType="1"/>
          </p:cNvCxnSpPr>
          <p:nvPr/>
        </p:nvCxnSpPr>
        <p:spPr bwMode="auto">
          <a:xfrm rot="5400000" flipH="1" flipV="1">
            <a:off x="1553369" y="1715294"/>
            <a:ext cx="5718175" cy="3240087"/>
          </a:xfrm>
          <a:prstGeom prst="bentConnector5">
            <a:avLst>
              <a:gd name="adj1" fmla="val 301"/>
              <a:gd name="adj2" fmla="val 50023"/>
              <a:gd name="adj3" fmla="val 100329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66946" name="Line 34"/>
          <p:cNvSpPr>
            <a:spLocks noChangeShapeType="1"/>
          </p:cNvSpPr>
          <p:nvPr/>
        </p:nvSpPr>
        <p:spPr bwMode="auto">
          <a:xfrm>
            <a:off x="6032500" y="2349500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6947" name="Line 35"/>
          <p:cNvSpPr>
            <a:spLocks noChangeShapeType="1"/>
          </p:cNvSpPr>
          <p:nvPr/>
        </p:nvSpPr>
        <p:spPr bwMode="auto">
          <a:xfrm>
            <a:off x="6032500" y="386080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6948" name="Line 36"/>
          <p:cNvSpPr>
            <a:spLocks noChangeShapeType="1"/>
          </p:cNvSpPr>
          <p:nvPr/>
        </p:nvSpPr>
        <p:spPr bwMode="auto">
          <a:xfrm>
            <a:off x="6032500" y="443706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6949" name="Line 37"/>
          <p:cNvSpPr>
            <a:spLocks noChangeShapeType="1"/>
          </p:cNvSpPr>
          <p:nvPr/>
        </p:nvSpPr>
        <p:spPr bwMode="auto">
          <a:xfrm>
            <a:off x="6032500" y="50133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166950" name="AutoShape 38"/>
          <p:cNvCxnSpPr>
            <a:cxnSpLocks noChangeShapeType="1"/>
            <a:stCxn id="166936" idx="1"/>
            <a:endCxn id="166946" idx="1"/>
          </p:cNvCxnSpPr>
          <p:nvPr/>
        </p:nvCxnSpPr>
        <p:spPr bwMode="auto">
          <a:xfrm rot="10800000" flipH="1" flipV="1">
            <a:off x="5384800" y="1160463"/>
            <a:ext cx="647700" cy="1549400"/>
          </a:xfrm>
          <a:prstGeom prst="bentConnector4">
            <a:avLst>
              <a:gd name="adj1" fmla="val -35296"/>
              <a:gd name="adj2" fmla="val 8637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66951" name="Text Box 39"/>
          <p:cNvSpPr txBox="1">
            <a:spLocks noChangeArrowheads="1"/>
          </p:cNvSpPr>
          <p:nvPr/>
        </p:nvSpPr>
        <p:spPr bwMode="auto">
          <a:xfrm>
            <a:off x="5024438" y="952500"/>
            <a:ext cx="5762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0"/>
              <a:t>Tidak</a:t>
            </a:r>
          </a:p>
        </p:txBody>
      </p:sp>
      <p:sp>
        <p:nvSpPr>
          <p:cNvPr id="166952" name="Text Box 40"/>
          <p:cNvSpPr txBox="1">
            <a:spLocks noChangeArrowheads="1"/>
          </p:cNvSpPr>
          <p:nvPr/>
        </p:nvSpPr>
        <p:spPr bwMode="auto">
          <a:xfrm>
            <a:off x="2792413" y="2708275"/>
            <a:ext cx="3603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0"/>
              <a:t>ya</a:t>
            </a:r>
          </a:p>
        </p:txBody>
      </p:sp>
      <p:sp>
        <p:nvSpPr>
          <p:cNvPr id="166953" name="Text Box 41"/>
          <p:cNvSpPr txBox="1">
            <a:spLocks noChangeArrowheads="1"/>
          </p:cNvSpPr>
          <p:nvPr/>
        </p:nvSpPr>
        <p:spPr bwMode="auto">
          <a:xfrm>
            <a:off x="6105525" y="1700213"/>
            <a:ext cx="3603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0"/>
              <a:t>ya</a:t>
            </a:r>
          </a:p>
        </p:txBody>
      </p:sp>
      <p:cxnSp>
        <p:nvCxnSpPr>
          <p:cNvPr id="166954" name="AutoShape 42"/>
          <p:cNvCxnSpPr>
            <a:cxnSpLocks noChangeShapeType="1"/>
            <a:stCxn id="166955" idx="0"/>
            <a:endCxn id="166939" idx="2"/>
          </p:cNvCxnSpPr>
          <p:nvPr/>
        </p:nvCxnSpPr>
        <p:spPr bwMode="auto">
          <a:xfrm rot="5400000" flipV="1">
            <a:off x="5023644" y="3429794"/>
            <a:ext cx="1154112" cy="863600"/>
          </a:xfrm>
          <a:prstGeom prst="bentConnector5">
            <a:avLst>
              <a:gd name="adj1" fmla="val 48968"/>
              <a:gd name="adj2" fmla="val -185"/>
              <a:gd name="adj3" fmla="val 10646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66955" name="Line 43"/>
          <p:cNvSpPr>
            <a:spLocks noChangeShapeType="1"/>
          </p:cNvSpPr>
          <p:nvPr/>
        </p:nvSpPr>
        <p:spPr bwMode="auto">
          <a:xfrm>
            <a:off x="5168900" y="328453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6956" name="Text Box 44"/>
          <p:cNvSpPr txBox="1">
            <a:spLocks noChangeArrowheads="1"/>
          </p:cNvSpPr>
          <p:nvPr/>
        </p:nvSpPr>
        <p:spPr bwMode="auto">
          <a:xfrm>
            <a:off x="5024438" y="3040063"/>
            <a:ext cx="5762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0"/>
              <a:t>Tidak</a:t>
            </a:r>
          </a:p>
        </p:txBody>
      </p:sp>
      <p:sp>
        <p:nvSpPr>
          <p:cNvPr id="166957" name="Text Box 45"/>
          <p:cNvSpPr txBox="1">
            <a:spLocks noChangeArrowheads="1"/>
          </p:cNvSpPr>
          <p:nvPr/>
        </p:nvSpPr>
        <p:spPr bwMode="auto">
          <a:xfrm>
            <a:off x="6032500" y="3789363"/>
            <a:ext cx="3603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0"/>
              <a:t>ya</a:t>
            </a:r>
          </a:p>
        </p:txBody>
      </p:sp>
      <p:sp>
        <p:nvSpPr>
          <p:cNvPr id="15406" name="Line 46"/>
          <p:cNvSpPr>
            <a:spLocks noChangeShapeType="1"/>
          </p:cNvSpPr>
          <p:nvPr/>
        </p:nvSpPr>
        <p:spPr bwMode="auto">
          <a:xfrm>
            <a:off x="2792413" y="87313"/>
            <a:ext cx="0" cy="173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15407" name="AutoShape 47"/>
          <p:cNvCxnSpPr>
            <a:cxnSpLocks noChangeShapeType="1"/>
          </p:cNvCxnSpPr>
          <p:nvPr/>
        </p:nvCxnSpPr>
        <p:spPr bwMode="auto">
          <a:xfrm>
            <a:off x="2792413" y="115888"/>
            <a:ext cx="4970462" cy="2981325"/>
          </a:xfrm>
          <a:prstGeom prst="bentConnector3">
            <a:avLst>
              <a:gd name="adj1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66960" name="Rectangle 48"/>
          <p:cNvSpPr>
            <a:spLocks noChangeArrowheads="1"/>
          </p:cNvSpPr>
          <p:nvPr/>
        </p:nvSpPr>
        <p:spPr bwMode="auto">
          <a:xfrm>
            <a:off x="7113588" y="3068638"/>
            <a:ext cx="1296987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Mekanisme</a:t>
            </a:r>
          </a:p>
          <a:p>
            <a:pPr algn="ctr"/>
            <a:r>
              <a:rPr lang="en-US" sz="1000" b="0"/>
              <a:t>Umpan Balik</a:t>
            </a:r>
          </a:p>
        </p:txBody>
      </p:sp>
      <p:cxnSp>
        <p:nvCxnSpPr>
          <p:cNvPr id="166961" name="AutoShape 49"/>
          <p:cNvCxnSpPr>
            <a:cxnSpLocks noChangeShapeType="1"/>
            <a:stCxn id="166941" idx="2"/>
            <a:endCxn id="166960" idx="2"/>
          </p:cNvCxnSpPr>
          <p:nvPr/>
        </p:nvCxnSpPr>
        <p:spPr bwMode="auto">
          <a:xfrm rot="5400000" flipH="1" flipV="1">
            <a:off x="5810250" y="3651250"/>
            <a:ext cx="2174875" cy="1730375"/>
          </a:xfrm>
          <a:prstGeom prst="bentConnector3">
            <a:avLst>
              <a:gd name="adj1" fmla="val -9782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66962" name="WordArt 50"/>
          <p:cNvSpPr>
            <a:spLocks noChangeArrowheads="1" noChangeShapeType="1" noTextEdit="1"/>
          </p:cNvSpPr>
          <p:nvPr/>
        </p:nvSpPr>
        <p:spPr bwMode="auto">
          <a:xfrm>
            <a:off x="4481513" y="5876925"/>
            <a:ext cx="3351212" cy="3603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Struktur&amp;Prosedur</a:t>
            </a:r>
          </a:p>
        </p:txBody>
      </p:sp>
      <p:sp>
        <p:nvSpPr>
          <p:cNvPr id="166963" name="Text Box 51"/>
          <p:cNvSpPr txBox="1">
            <a:spLocks noChangeArrowheads="1"/>
          </p:cNvSpPr>
          <p:nvPr/>
        </p:nvSpPr>
        <p:spPr bwMode="auto">
          <a:xfrm rot="-5400000">
            <a:off x="2933700" y="2009775"/>
            <a:ext cx="2070100" cy="3365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66FF"/>
                </a:solidFill>
              </a:rPr>
              <a:t>Tahap Administrasi</a:t>
            </a:r>
          </a:p>
        </p:txBody>
      </p:sp>
      <p:sp>
        <p:nvSpPr>
          <p:cNvPr id="166964" name="Text Box 52"/>
          <p:cNvSpPr txBox="1">
            <a:spLocks noChangeArrowheads="1"/>
          </p:cNvSpPr>
          <p:nvPr/>
        </p:nvSpPr>
        <p:spPr bwMode="auto">
          <a:xfrm rot="-5400000">
            <a:off x="6248400" y="1558926"/>
            <a:ext cx="2066925" cy="336550"/>
          </a:xfrm>
          <a:prstGeom prst="rect">
            <a:avLst/>
          </a:prstGeom>
          <a:solidFill>
            <a:srgbClr val="CCFF99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FF3300"/>
                </a:solidFill>
              </a:rPr>
              <a:t>Tahap Pelaksanaan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6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6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6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6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6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6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6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6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6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6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6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6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6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6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6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6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6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66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66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66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6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66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66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66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66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66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66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66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6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66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66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66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66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66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66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66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66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66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66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66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66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66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66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66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66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66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66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66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66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66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66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66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66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66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66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66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66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66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166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66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66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166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166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66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66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166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166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66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66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66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166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166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166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4" grpId="0" animBg="1"/>
      <p:bldP spid="166915" grpId="0" animBg="1"/>
      <p:bldP spid="166916" grpId="0" animBg="1"/>
      <p:bldP spid="166917" grpId="0" animBg="1"/>
      <p:bldP spid="166918" grpId="0" animBg="1"/>
      <p:bldP spid="166919" grpId="0" animBg="1"/>
      <p:bldP spid="166920" grpId="0" animBg="1"/>
      <p:bldP spid="166921" grpId="0" animBg="1"/>
      <p:bldP spid="166922" grpId="0" animBg="1"/>
      <p:bldP spid="166923" grpId="0" animBg="1"/>
      <p:bldP spid="166924" grpId="0" animBg="1"/>
      <p:bldP spid="166925" grpId="0" animBg="1"/>
      <p:bldP spid="166926" grpId="0" animBg="1"/>
      <p:bldP spid="166927" grpId="0" animBg="1"/>
      <p:bldP spid="166928" grpId="0" animBg="1"/>
      <p:bldP spid="166930" grpId="0" animBg="1"/>
      <p:bldP spid="166931" grpId="0"/>
      <p:bldP spid="166932" grpId="0"/>
      <p:bldP spid="166934" grpId="0"/>
      <p:bldP spid="166935" grpId="0"/>
      <p:bldP spid="166936" grpId="0" animBg="1"/>
      <p:bldP spid="166937" grpId="0" animBg="1"/>
      <p:bldP spid="166938" grpId="0" animBg="1"/>
      <p:bldP spid="166939" grpId="0" animBg="1"/>
      <p:bldP spid="166940" grpId="0" animBg="1"/>
      <p:bldP spid="166941" grpId="0" animBg="1"/>
      <p:bldP spid="166942" grpId="0" animBg="1"/>
      <p:bldP spid="166943" grpId="0" animBg="1"/>
      <p:bldP spid="166944" grpId="0" animBg="1"/>
      <p:bldP spid="166946" grpId="0" animBg="1"/>
      <p:bldP spid="166947" grpId="0" animBg="1"/>
      <p:bldP spid="166948" grpId="0" animBg="1"/>
      <p:bldP spid="166949" grpId="0" animBg="1"/>
      <p:bldP spid="166951" grpId="0"/>
      <p:bldP spid="166952" grpId="0"/>
      <p:bldP spid="166953" grpId="0"/>
      <p:bldP spid="166955" grpId="0" animBg="1"/>
      <p:bldP spid="166956" grpId="0"/>
      <p:bldP spid="166957" grpId="0"/>
      <p:bldP spid="166960" grpId="0" animBg="1"/>
      <p:bldP spid="166962" grpId="0" animBg="1"/>
      <p:bldP spid="166963" grpId="0" animBg="1"/>
      <p:bldP spid="16696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 smtClean="0"/>
              <a:t>Tahap Administrasi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050" y="1412875"/>
            <a:ext cx="9359900" cy="4752975"/>
          </a:xfrm>
        </p:spPr>
        <p:txBody>
          <a:bodyPr/>
          <a:lstStyle/>
          <a:p>
            <a:pPr eaLnBrk="1" hangingPunct="1"/>
            <a:r>
              <a:rPr lang="en-US" sz="2000" b="1" smtClean="0"/>
              <a:t>Risk Assessment – Penilaian Risiko</a:t>
            </a:r>
          </a:p>
          <a:p>
            <a:pPr lvl="1" eaLnBrk="1" hangingPunct="1"/>
            <a:r>
              <a:rPr lang="en-US" smtClean="0"/>
              <a:t>Prosedur untuk meneliti risiko pekerjaan yang akan dikontrak-kan dan menentukan kategorinya (Low/ medium/ High).</a:t>
            </a:r>
          </a:p>
          <a:p>
            <a:pPr lvl="1" eaLnBrk="1" hangingPunct="1"/>
            <a:r>
              <a:rPr lang="en-US" smtClean="0"/>
              <a:t>Menentukan perlu atau tidaknya langkah – langkah Pengelolaan K3LL</a:t>
            </a:r>
          </a:p>
          <a:p>
            <a:pPr lvl="1" eaLnBrk="1" hangingPunct="1"/>
            <a:r>
              <a:rPr lang="en-US" smtClean="0"/>
              <a:t>Client bertanggung jawab terhadap penilaian awal risiko K3LL</a:t>
            </a:r>
          </a:p>
          <a:p>
            <a:pPr lvl="1" eaLnBrk="1" hangingPunct="1">
              <a:buFontTx/>
              <a:buNone/>
            </a:pPr>
            <a:endParaRPr lang="en-US" smtClean="0"/>
          </a:p>
          <a:p>
            <a:pPr eaLnBrk="1" hangingPunct="1"/>
            <a:r>
              <a:rPr lang="en-US" sz="2000" b="1" smtClean="0"/>
              <a:t>Pra – Kualifikasi</a:t>
            </a:r>
          </a:p>
          <a:p>
            <a:pPr lvl="1" eaLnBrk="1" hangingPunct="1"/>
            <a:r>
              <a:rPr lang="en-US" smtClean="0"/>
              <a:t>Meneliti kualifikasi Contractor dalam hal K3LL</a:t>
            </a:r>
          </a:p>
          <a:p>
            <a:pPr lvl="1" eaLnBrk="1" hangingPunct="1"/>
            <a:r>
              <a:rPr lang="en-US" smtClean="0"/>
              <a:t>K3LL Questionnaire </a:t>
            </a:r>
          </a:p>
          <a:p>
            <a:pPr lvl="1" eaLnBrk="1" hangingPunct="1"/>
            <a:r>
              <a:rPr lang="en-US" smtClean="0"/>
              <a:t>Contractor assessment</a:t>
            </a:r>
          </a:p>
          <a:p>
            <a:pPr lvl="1" eaLnBrk="1" hangingPunct="1">
              <a:buFontTx/>
              <a:buNone/>
            </a:pPr>
            <a:endParaRPr lang="en-US" smtClean="0"/>
          </a:p>
          <a:p>
            <a:pPr eaLnBrk="1" hangingPunct="1"/>
            <a:r>
              <a:rPr lang="en-US" sz="2000" b="1" smtClean="0"/>
              <a:t>Pemilihan/Seleksi</a:t>
            </a:r>
          </a:p>
          <a:p>
            <a:pPr lvl="1" eaLnBrk="1" hangingPunct="1"/>
            <a:r>
              <a:rPr lang="en-US" smtClean="0"/>
              <a:t>Memilih Contractor terbaik diantara Contractor yang mengikuti tender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1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1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0" fill="hold"/>
                                        <p:tgtEl>
                                          <p:spTgt spid="171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0" fill="hold"/>
                                        <p:tgtEl>
                                          <p:spTgt spid="171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71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1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1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1710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046163" y="476250"/>
            <a:ext cx="7291387" cy="557688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lIns="105949" tIns="52976" rIns="105949" bIns="52976" anchor="ctr"/>
          <a:lstStyle/>
          <a:p>
            <a:pPr defTabSz="819150" eaLnBrk="0" hangingPunct="0"/>
            <a:endParaRPr lang="en-US" sz="4600">
              <a:latin typeface="Arial Narrow" pitchFamily="34" charset="0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1046163" y="476250"/>
            <a:ext cx="7291387" cy="1652588"/>
          </a:xfrm>
          <a:prstGeom prst="rect">
            <a:avLst/>
          </a:prstGeom>
          <a:solidFill>
            <a:srgbClr val="009900"/>
          </a:solidFill>
          <a:ln w="9525">
            <a:noFill/>
            <a:miter lim="800000"/>
            <a:headEnd/>
            <a:tailEnd/>
          </a:ln>
        </p:spPr>
        <p:txBody>
          <a:bodyPr wrap="none" lIns="105949" tIns="52976" rIns="105949" bIns="52976" anchor="ctr"/>
          <a:lstStyle/>
          <a:p>
            <a:pPr defTabSz="819150" eaLnBrk="0" hangingPunct="0"/>
            <a:endParaRPr lang="en-US" sz="4600">
              <a:latin typeface="Arial Narrow" pitchFamily="34" charset="0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1046163" y="5365750"/>
            <a:ext cx="7291387" cy="730250"/>
          </a:xfrm>
          <a:prstGeom prst="rect">
            <a:avLst/>
          </a:prstGeom>
          <a:solidFill>
            <a:srgbClr val="009900"/>
          </a:solidFill>
          <a:ln w="9525">
            <a:noFill/>
            <a:miter lim="800000"/>
            <a:headEnd/>
            <a:tailEnd/>
          </a:ln>
        </p:spPr>
        <p:txBody>
          <a:bodyPr wrap="none" lIns="121123" tIns="60562" rIns="121123" bIns="60562" anchor="ctr"/>
          <a:lstStyle/>
          <a:p>
            <a:endParaRPr lang="en-US"/>
          </a:p>
        </p:txBody>
      </p:sp>
      <p:sp>
        <p:nvSpPr>
          <p:cNvPr id="177157" name="Text Box 5"/>
          <p:cNvSpPr txBox="1">
            <a:spLocks noChangeArrowheads="1"/>
          </p:cNvSpPr>
          <p:nvPr/>
        </p:nvSpPr>
        <p:spPr bwMode="auto">
          <a:xfrm>
            <a:off x="1336675" y="841375"/>
            <a:ext cx="5630863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lIns="105949" tIns="52976" rIns="105949" bIns="52976" anchor="ctr"/>
          <a:lstStyle/>
          <a:p>
            <a:pPr defTabSz="819150" eaLnBrk="0" hangingPunct="0">
              <a:defRPr/>
            </a:pPr>
            <a:r>
              <a:rPr lang="en-US" sz="4200">
                <a:latin typeface="Arial Narrow" pitchFamily="34" charset="0"/>
              </a:rPr>
              <a:t>Risk Assessment in CSMS</a:t>
            </a:r>
            <a:endParaRPr lang="en-US" sz="4200" b="0">
              <a:latin typeface="Arial Narrow" pitchFamily="34" charset="0"/>
            </a:endParaRPr>
          </a:p>
        </p:txBody>
      </p:sp>
      <p:sp>
        <p:nvSpPr>
          <p:cNvPr id="177158" name="AutoShape 6"/>
          <p:cNvSpPr>
            <a:spLocks noChangeArrowheads="1"/>
          </p:cNvSpPr>
          <p:nvPr/>
        </p:nvSpPr>
        <p:spPr bwMode="auto">
          <a:xfrm>
            <a:off x="1781175" y="1131888"/>
            <a:ext cx="2476500" cy="2420937"/>
          </a:xfrm>
          <a:prstGeom prst="irregularSeal1">
            <a:avLst/>
          </a:prstGeom>
          <a:gradFill rotWithShape="0">
            <a:gsLst>
              <a:gs pos="0">
                <a:srgbClr val="FFFF00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7415" name="Group 7"/>
          <p:cNvGrpSpPr>
            <a:grpSpLocks/>
          </p:cNvGrpSpPr>
          <p:nvPr/>
        </p:nvGrpSpPr>
        <p:grpSpPr bwMode="auto">
          <a:xfrm>
            <a:off x="3241675" y="2144713"/>
            <a:ext cx="3295650" cy="3694112"/>
            <a:chOff x="2356" y="1581"/>
            <a:chExt cx="2566" cy="2482"/>
          </a:xfrm>
        </p:grpSpPr>
        <p:grpSp>
          <p:nvGrpSpPr>
            <p:cNvPr id="18007" name="Group 8"/>
            <p:cNvGrpSpPr>
              <a:grpSpLocks/>
            </p:cNvGrpSpPr>
            <p:nvPr/>
          </p:nvGrpSpPr>
          <p:grpSpPr bwMode="auto">
            <a:xfrm>
              <a:off x="2356" y="1581"/>
              <a:ext cx="2566" cy="2482"/>
              <a:chOff x="1991" y="1131"/>
              <a:chExt cx="2362" cy="2307"/>
            </a:xfrm>
          </p:grpSpPr>
          <p:sp>
            <p:nvSpPr>
              <p:cNvPr id="18240" name="Freeform 9"/>
              <p:cNvSpPr>
                <a:spLocks/>
              </p:cNvSpPr>
              <p:nvPr/>
            </p:nvSpPr>
            <p:spPr bwMode="auto">
              <a:xfrm>
                <a:off x="1991" y="1131"/>
                <a:ext cx="2362" cy="2307"/>
              </a:xfrm>
              <a:custGeom>
                <a:avLst/>
                <a:gdLst>
                  <a:gd name="T0" fmla="*/ 1708 w 2362"/>
                  <a:gd name="T1" fmla="*/ 129 h 2307"/>
                  <a:gd name="T2" fmla="*/ 1860 w 2362"/>
                  <a:gd name="T3" fmla="*/ 221 h 2307"/>
                  <a:gd name="T4" fmla="*/ 1994 w 2362"/>
                  <a:gd name="T5" fmla="*/ 330 h 2307"/>
                  <a:gd name="T6" fmla="*/ 2110 w 2362"/>
                  <a:gd name="T7" fmla="*/ 456 h 2307"/>
                  <a:gd name="T8" fmla="*/ 2205 w 2362"/>
                  <a:gd name="T9" fmla="*/ 596 h 2307"/>
                  <a:gd name="T10" fmla="*/ 2278 w 2362"/>
                  <a:gd name="T11" fmla="*/ 747 h 2307"/>
                  <a:gd name="T12" fmla="*/ 2329 w 2362"/>
                  <a:gd name="T13" fmla="*/ 905 h 2307"/>
                  <a:gd name="T14" fmla="*/ 2358 w 2362"/>
                  <a:gd name="T15" fmla="*/ 1072 h 2307"/>
                  <a:gd name="T16" fmla="*/ 2360 w 2362"/>
                  <a:gd name="T17" fmla="*/ 1239 h 2307"/>
                  <a:gd name="T18" fmla="*/ 2337 w 2362"/>
                  <a:gd name="T19" fmla="*/ 1409 h 2307"/>
                  <a:gd name="T20" fmla="*/ 2286 w 2362"/>
                  <a:gd name="T21" fmla="*/ 1577 h 2307"/>
                  <a:gd name="T22" fmla="*/ 2210 w 2362"/>
                  <a:gd name="T23" fmla="*/ 1735 h 2307"/>
                  <a:gd name="T24" fmla="*/ 2113 w 2362"/>
                  <a:gd name="T25" fmla="*/ 1877 h 2307"/>
                  <a:gd name="T26" fmla="*/ 1997 w 2362"/>
                  <a:gd name="T27" fmla="*/ 2000 h 2307"/>
                  <a:gd name="T28" fmla="*/ 1865 w 2362"/>
                  <a:gd name="T29" fmla="*/ 2105 h 2307"/>
                  <a:gd name="T30" fmla="*/ 1720 w 2362"/>
                  <a:gd name="T31" fmla="*/ 2188 h 2307"/>
                  <a:gd name="T32" fmla="*/ 1564 w 2362"/>
                  <a:gd name="T33" fmla="*/ 2250 h 2307"/>
                  <a:gd name="T34" fmla="*/ 1398 w 2362"/>
                  <a:gd name="T35" fmla="*/ 2290 h 2307"/>
                  <a:gd name="T36" fmla="*/ 1229 w 2362"/>
                  <a:gd name="T37" fmla="*/ 2307 h 2307"/>
                  <a:gd name="T38" fmla="*/ 1054 w 2362"/>
                  <a:gd name="T39" fmla="*/ 2297 h 2307"/>
                  <a:gd name="T40" fmla="*/ 881 w 2362"/>
                  <a:gd name="T41" fmla="*/ 2264 h 2307"/>
                  <a:gd name="T42" fmla="*/ 709 w 2362"/>
                  <a:gd name="T43" fmla="*/ 2202 h 2307"/>
                  <a:gd name="T44" fmla="*/ 552 w 2362"/>
                  <a:gd name="T45" fmla="*/ 2119 h 2307"/>
                  <a:gd name="T46" fmla="*/ 411 w 2362"/>
                  <a:gd name="T47" fmla="*/ 2014 h 2307"/>
                  <a:gd name="T48" fmla="*/ 289 w 2362"/>
                  <a:gd name="T49" fmla="*/ 1894 h 2307"/>
                  <a:gd name="T50" fmla="*/ 187 w 2362"/>
                  <a:gd name="T51" fmla="*/ 1759 h 2307"/>
                  <a:gd name="T52" fmla="*/ 107 w 2362"/>
                  <a:gd name="T53" fmla="*/ 1611 h 2307"/>
                  <a:gd name="T54" fmla="*/ 47 w 2362"/>
                  <a:gd name="T55" fmla="*/ 1455 h 2307"/>
                  <a:gd name="T56" fmla="*/ 11 w 2362"/>
                  <a:gd name="T57" fmla="*/ 1292 h 2307"/>
                  <a:gd name="T58" fmla="*/ 0 w 2362"/>
                  <a:gd name="T59" fmla="*/ 1124 h 2307"/>
                  <a:gd name="T60" fmla="*/ 15 w 2362"/>
                  <a:gd name="T61" fmla="*/ 954 h 2307"/>
                  <a:gd name="T62" fmla="*/ 56 w 2362"/>
                  <a:gd name="T63" fmla="*/ 785 h 2307"/>
                  <a:gd name="T64" fmla="*/ 124 w 2362"/>
                  <a:gd name="T65" fmla="*/ 623 h 2307"/>
                  <a:gd name="T66" fmla="*/ 215 w 2362"/>
                  <a:gd name="T67" fmla="*/ 475 h 2307"/>
                  <a:gd name="T68" fmla="*/ 325 w 2362"/>
                  <a:gd name="T69" fmla="*/ 345 h 2307"/>
                  <a:gd name="T70" fmla="*/ 452 w 2362"/>
                  <a:gd name="T71" fmla="*/ 235 h 2307"/>
                  <a:gd name="T72" fmla="*/ 592 w 2362"/>
                  <a:gd name="T73" fmla="*/ 144 h 2307"/>
                  <a:gd name="T74" fmla="*/ 746 w 2362"/>
                  <a:gd name="T75" fmla="*/ 75 h 2307"/>
                  <a:gd name="T76" fmla="*/ 908 w 2362"/>
                  <a:gd name="T77" fmla="*/ 27 h 2307"/>
                  <a:gd name="T78" fmla="*/ 1077 w 2362"/>
                  <a:gd name="T79" fmla="*/ 3 h 2307"/>
                  <a:gd name="T80" fmla="*/ 1248 w 2362"/>
                  <a:gd name="T81" fmla="*/ 3 h 2307"/>
                  <a:gd name="T82" fmla="*/ 1424 w 2362"/>
                  <a:gd name="T83" fmla="*/ 30 h 2307"/>
                  <a:gd name="T84" fmla="*/ 1597 w 2362"/>
                  <a:gd name="T85" fmla="*/ 81 h 230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62"/>
                  <a:gd name="T130" fmla="*/ 0 h 2307"/>
                  <a:gd name="T131" fmla="*/ 2362 w 2362"/>
                  <a:gd name="T132" fmla="*/ 2307 h 230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62" h="2307">
                    <a:moveTo>
                      <a:pt x="1597" y="81"/>
                    </a:moveTo>
                    <a:lnTo>
                      <a:pt x="1653" y="105"/>
                    </a:lnTo>
                    <a:lnTo>
                      <a:pt x="1708" y="129"/>
                    </a:lnTo>
                    <a:lnTo>
                      <a:pt x="1759" y="158"/>
                    </a:lnTo>
                    <a:lnTo>
                      <a:pt x="1810" y="188"/>
                    </a:lnTo>
                    <a:lnTo>
                      <a:pt x="1860" y="221"/>
                    </a:lnTo>
                    <a:lnTo>
                      <a:pt x="1907" y="257"/>
                    </a:lnTo>
                    <a:lnTo>
                      <a:pt x="1950" y="292"/>
                    </a:lnTo>
                    <a:lnTo>
                      <a:pt x="1994" y="330"/>
                    </a:lnTo>
                    <a:lnTo>
                      <a:pt x="2035" y="371"/>
                    </a:lnTo>
                    <a:lnTo>
                      <a:pt x="2073" y="413"/>
                    </a:lnTo>
                    <a:lnTo>
                      <a:pt x="2110" y="456"/>
                    </a:lnTo>
                    <a:lnTo>
                      <a:pt x="2144" y="501"/>
                    </a:lnTo>
                    <a:lnTo>
                      <a:pt x="2175" y="548"/>
                    </a:lnTo>
                    <a:lnTo>
                      <a:pt x="2205" y="596"/>
                    </a:lnTo>
                    <a:lnTo>
                      <a:pt x="2231" y="644"/>
                    </a:lnTo>
                    <a:lnTo>
                      <a:pt x="2255" y="696"/>
                    </a:lnTo>
                    <a:lnTo>
                      <a:pt x="2278" y="747"/>
                    </a:lnTo>
                    <a:lnTo>
                      <a:pt x="2298" y="798"/>
                    </a:lnTo>
                    <a:lnTo>
                      <a:pt x="2315" y="853"/>
                    </a:lnTo>
                    <a:lnTo>
                      <a:pt x="2329" y="905"/>
                    </a:lnTo>
                    <a:lnTo>
                      <a:pt x="2341" y="961"/>
                    </a:lnTo>
                    <a:lnTo>
                      <a:pt x="2350" y="1016"/>
                    </a:lnTo>
                    <a:lnTo>
                      <a:pt x="2358" y="1072"/>
                    </a:lnTo>
                    <a:lnTo>
                      <a:pt x="2361" y="1126"/>
                    </a:lnTo>
                    <a:lnTo>
                      <a:pt x="2362" y="1183"/>
                    </a:lnTo>
                    <a:lnTo>
                      <a:pt x="2360" y="1239"/>
                    </a:lnTo>
                    <a:lnTo>
                      <a:pt x="2355" y="1296"/>
                    </a:lnTo>
                    <a:lnTo>
                      <a:pt x="2347" y="1353"/>
                    </a:lnTo>
                    <a:lnTo>
                      <a:pt x="2337" y="1409"/>
                    </a:lnTo>
                    <a:lnTo>
                      <a:pt x="2322" y="1466"/>
                    </a:lnTo>
                    <a:lnTo>
                      <a:pt x="2306" y="1521"/>
                    </a:lnTo>
                    <a:lnTo>
                      <a:pt x="2286" y="1577"/>
                    </a:lnTo>
                    <a:lnTo>
                      <a:pt x="2263" y="1632"/>
                    </a:lnTo>
                    <a:lnTo>
                      <a:pt x="2237" y="1684"/>
                    </a:lnTo>
                    <a:lnTo>
                      <a:pt x="2210" y="1735"/>
                    </a:lnTo>
                    <a:lnTo>
                      <a:pt x="2179" y="1784"/>
                    </a:lnTo>
                    <a:lnTo>
                      <a:pt x="2147" y="1832"/>
                    </a:lnTo>
                    <a:lnTo>
                      <a:pt x="2113" y="1877"/>
                    </a:lnTo>
                    <a:lnTo>
                      <a:pt x="2075" y="1920"/>
                    </a:lnTo>
                    <a:lnTo>
                      <a:pt x="2037" y="1962"/>
                    </a:lnTo>
                    <a:lnTo>
                      <a:pt x="1997" y="2000"/>
                    </a:lnTo>
                    <a:lnTo>
                      <a:pt x="1954" y="2037"/>
                    </a:lnTo>
                    <a:lnTo>
                      <a:pt x="1910" y="2072"/>
                    </a:lnTo>
                    <a:lnTo>
                      <a:pt x="1865" y="2105"/>
                    </a:lnTo>
                    <a:lnTo>
                      <a:pt x="1817" y="2134"/>
                    </a:lnTo>
                    <a:lnTo>
                      <a:pt x="1770" y="2162"/>
                    </a:lnTo>
                    <a:lnTo>
                      <a:pt x="1720" y="2188"/>
                    </a:lnTo>
                    <a:lnTo>
                      <a:pt x="1669" y="2211"/>
                    </a:lnTo>
                    <a:lnTo>
                      <a:pt x="1616" y="2232"/>
                    </a:lnTo>
                    <a:lnTo>
                      <a:pt x="1564" y="2250"/>
                    </a:lnTo>
                    <a:lnTo>
                      <a:pt x="1509" y="2266"/>
                    </a:lnTo>
                    <a:lnTo>
                      <a:pt x="1453" y="2279"/>
                    </a:lnTo>
                    <a:lnTo>
                      <a:pt x="1398" y="2290"/>
                    </a:lnTo>
                    <a:lnTo>
                      <a:pt x="1341" y="2298"/>
                    </a:lnTo>
                    <a:lnTo>
                      <a:pt x="1285" y="2303"/>
                    </a:lnTo>
                    <a:lnTo>
                      <a:pt x="1229" y="2307"/>
                    </a:lnTo>
                    <a:lnTo>
                      <a:pt x="1170" y="2307"/>
                    </a:lnTo>
                    <a:lnTo>
                      <a:pt x="1113" y="2303"/>
                    </a:lnTo>
                    <a:lnTo>
                      <a:pt x="1054" y="2297"/>
                    </a:lnTo>
                    <a:lnTo>
                      <a:pt x="996" y="2290"/>
                    </a:lnTo>
                    <a:lnTo>
                      <a:pt x="938" y="2277"/>
                    </a:lnTo>
                    <a:lnTo>
                      <a:pt x="881" y="2264"/>
                    </a:lnTo>
                    <a:lnTo>
                      <a:pt x="823" y="2246"/>
                    </a:lnTo>
                    <a:lnTo>
                      <a:pt x="765" y="2225"/>
                    </a:lnTo>
                    <a:lnTo>
                      <a:pt x="709" y="2202"/>
                    </a:lnTo>
                    <a:lnTo>
                      <a:pt x="654" y="2176"/>
                    </a:lnTo>
                    <a:lnTo>
                      <a:pt x="603" y="2149"/>
                    </a:lnTo>
                    <a:lnTo>
                      <a:pt x="552" y="2119"/>
                    </a:lnTo>
                    <a:lnTo>
                      <a:pt x="502" y="2086"/>
                    </a:lnTo>
                    <a:lnTo>
                      <a:pt x="455" y="2050"/>
                    </a:lnTo>
                    <a:lnTo>
                      <a:pt x="411" y="2014"/>
                    </a:lnTo>
                    <a:lnTo>
                      <a:pt x="368" y="1976"/>
                    </a:lnTo>
                    <a:lnTo>
                      <a:pt x="327" y="1935"/>
                    </a:lnTo>
                    <a:lnTo>
                      <a:pt x="289" y="1894"/>
                    </a:lnTo>
                    <a:lnTo>
                      <a:pt x="252" y="1851"/>
                    </a:lnTo>
                    <a:lnTo>
                      <a:pt x="218" y="1805"/>
                    </a:lnTo>
                    <a:lnTo>
                      <a:pt x="187" y="1759"/>
                    </a:lnTo>
                    <a:lnTo>
                      <a:pt x="157" y="1711"/>
                    </a:lnTo>
                    <a:lnTo>
                      <a:pt x="131" y="1661"/>
                    </a:lnTo>
                    <a:lnTo>
                      <a:pt x="107" y="1611"/>
                    </a:lnTo>
                    <a:lnTo>
                      <a:pt x="84" y="1560"/>
                    </a:lnTo>
                    <a:lnTo>
                      <a:pt x="64" y="1509"/>
                    </a:lnTo>
                    <a:lnTo>
                      <a:pt x="47" y="1455"/>
                    </a:lnTo>
                    <a:lnTo>
                      <a:pt x="33" y="1402"/>
                    </a:lnTo>
                    <a:lnTo>
                      <a:pt x="20" y="1346"/>
                    </a:lnTo>
                    <a:lnTo>
                      <a:pt x="11" y="1292"/>
                    </a:lnTo>
                    <a:lnTo>
                      <a:pt x="4" y="1235"/>
                    </a:lnTo>
                    <a:lnTo>
                      <a:pt x="1" y="1181"/>
                    </a:lnTo>
                    <a:lnTo>
                      <a:pt x="0" y="1124"/>
                    </a:lnTo>
                    <a:lnTo>
                      <a:pt x="2" y="1067"/>
                    </a:lnTo>
                    <a:lnTo>
                      <a:pt x="7" y="1010"/>
                    </a:lnTo>
                    <a:lnTo>
                      <a:pt x="15" y="954"/>
                    </a:lnTo>
                    <a:lnTo>
                      <a:pt x="26" y="898"/>
                    </a:lnTo>
                    <a:lnTo>
                      <a:pt x="40" y="841"/>
                    </a:lnTo>
                    <a:lnTo>
                      <a:pt x="56" y="785"/>
                    </a:lnTo>
                    <a:lnTo>
                      <a:pt x="76" y="730"/>
                    </a:lnTo>
                    <a:lnTo>
                      <a:pt x="98" y="675"/>
                    </a:lnTo>
                    <a:lnTo>
                      <a:pt x="124" y="623"/>
                    </a:lnTo>
                    <a:lnTo>
                      <a:pt x="152" y="572"/>
                    </a:lnTo>
                    <a:lnTo>
                      <a:pt x="182" y="523"/>
                    </a:lnTo>
                    <a:lnTo>
                      <a:pt x="215" y="475"/>
                    </a:lnTo>
                    <a:lnTo>
                      <a:pt x="249" y="430"/>
                    </a:lnTo>
                    <a:lnTo>
                      <a:pt x="287" y="387"/>
                    </a:lnTo>
                    <a:lnTo>
                      <a:pt x="325" y="345"/>
                    </a:lnTo>
                    <a:lnTo>
                      <a:pt x="366" y="307"/>
                    </a:lnTo>
                    <a:lnTo>
                      <a:pt x="407" y="269"/>
                    </a:lnTo>
                    <a:lnTo>
                      <a:pt x="452" y="235"/>
                    </a:lnTo>
                    <a:lnTo>
                      <a:pt x="497" y="203"/>
                    </a:lnTo>
                    <a:lnTo>
                      <a:pt x="545" y="173"/>
                    </a:lnTo>
                    <a:lnTo>
                      <a:pt x="592" y="144"/>
                    </a:lnTo>
                    <a:lnTo>
                      <a:pt x="642" y="119"/>
                    </a:lnTo>
                    <a:lnTo>
                      <a:pt x="694" y="96"/>
                    </a:lnTo>
                    <a:lnTo>
                      <a:pt x="746" y="75"/>
                    </a:lnTo>
                    <a:lnTo>
                      <a:pt x="799" y="57"/>
                    </a:lnTo>
                    <a:lnTo>
                      <a:pt x="853" y="41"/>
                    </a:lnTo>
                    <a:lnTo>
                      <a:pt x="908" y="27"/>
                    </a:lnTo>
                    <a:lnTo>
                      <a:pt x="964" y="17"/>
                    </a:lnTo>
                    <a:lnTo>
                      <a:pt x="1020" y="9"/>
                    </a:lnTo>
                    <a:lnTo>
                      <a:pt x="1077" y="3"/>
                    </a:lnTo>
                    <a:lnTo>
                      <a:pt x="1133" y="0"/>
                    </a:lnTo>
                    <a:lnTo>
                      <a:pt x="1191" y="0"/>
                    </a:lnTo>
                    <a:lnTo>
                      <a:pt x="1248" y="3"/>
                    </a:lnTo>
                    <a:lnTo>
                      <a:pt x="1308" y="9"/>
                    </a:lnTo>
                    <a:lnTo>
                      <a:pt x="1366" y="17"/>
                    </a:lnTo>
                    <a:lnTo>
                      <a:pt x="1424" y="30"/>
                    </a:lnTo>
                    <a:lnTo>
                      <a:pt x="1481" y="43"/>
                    </a:lnTo>
                    <a:lnTo>
                      <a:pt x="1539" y="61"/>
                    </a:lnTo>
                    <a:lnTo>
                      <a:pt x="1597" y="81"/>
                    </a:lnTo>
                    <a:close/>
                  </a:path>
                </a:pathLst>
              </a:custGeom>
              <a:solidFill>
                <a:srgbClr val="CCCC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41" name="Freeform 10"/>
              <p:cNvSpPr>
                <a:spLocks/>
              </p:cNvSpPr>
              <p:nvPr/>
            </p:nvSpPr>
            <p:spPr bwMode="auto">
              <a:xfrm>
                <a:off x="3708" y="3026"/>
                <a:ext cx="153" cy="126"/>
              </a:xfrm>
              <a:custGeom>
                <a:avLst/>
                <a:gdLst>
                  <a:gd name="T0" fmla="*/ 0 w 153"/>
                  <a:gd name="T1" fmla="*/ 59 h 126"/>
                  <a:gd name="T2" fmla="*/ 153 w 153"/>
                  <a:gd name="T3" fmla="*/ 0 h 126"/>
                  <a:gd name="T4" fmla="*/ 60 w 153"/>
                  <a:gd name="T5" fmla="*/ 126 h 126"/>
                  <a:gd name="T6" fmla="*/ 0 w 153"/>
                  <a:gd name="T7" fmla="*/ 59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3"/>
                  <a:gd name="T13" fmla="*/ 0 h 126"/>
                  <a:gd name="T14" fmla="*/ 153 w 15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3" h="126">
                    <a:moveTo>
                      <a:pt x="0" y="59"/>
                    </a:moveTo>
                    <a:lnTo>
                      <a:pt x="153" y="0"/>
                    </a:lnTo>
                    <a:lnTo>
                      <a:pt x="60" y="126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42" name="Freeform 11"/>
              <p:cNvSpPr>
                <a:spLocks/>
              </p:cNvSpPr>
              <p:nvPr/>
            </p:nvSpPr>
            <p:spPr bwMode="auto">
              <a:xfrm>
                <a:off x="3707" y="3010"/>
                <a:ext cx="176" cy="83"/>
              </a:xfrm>
              <a:custGeom>
                <a:avLst/>
                <a:gdLst>
                  <a:gd name="T0" fmla="*/ 146 w 176"/>
                  <a:gd name="T1" fmla="*/ 15 h 83"/>
                  <a:gd name="T2" fmla="*/ 155 w 176"/>
                  <a:gd name="T3" fmla="*/ 24 h 83"/>
                  <a:gd name="T4" fmla="*/ 2 w 176"/>
                  <a:gd name="T5" fmla="*/ 83 h 83"/>
                  <a:gd name="T6" fmla="*/ 0 w 176"/>
                  <a:gd name="T7" fmla="*/ 68 h 83"/>
                  <a:gd name="T8" fmla="*/ 153 w 176"/>
                  <a:gd name="T9" fmla="*/ 9 h 83"/>
                  <a:gd name="T10" fmla="*/ 161 w 176"/>
                  <a:gd name="T11" fmla="*/ 20 h 83"/>
                  <a:gd name="T12" fmla="*/ 153 w 176"/>
                  <a:gd name="T13" fmla="*/ 9 h 83"/>
                  <a:gd name="T14" fmla="*/ 176 w 176"/>
                  <a:gd name="T15" fmla="*/ 0 h 83"/>
                  <a:gd name="T16" fmla="*/ 161 w 176"/>
                  <a:gd name="T17" fmla="*/ 20 h 83"/>
                  <a:gd name="T18" fmla="*/ 146 w 176"/>
                  <a:gd name="T19" fmla="*/ 15 h 8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6"/>
                  <a:gd name="T31" fmla="*/ 0 h 83"/>
                  <a:gd name="T32" fmla="*/ 176 w 176"/>
                  <a:gd name="T33" fmla="*/ 83 h 8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6" h="83">
                    <a:moveTo>
                      <a:pt x="146" y="15"/>
                    </a:moveTo>
                    <a:lnTo>
                      <a:pt x="155" y="24"/>
                    </a:lnTo>
                    <a:lnTo>
                      <a:pt x="2" y="83"/>
                    </a:lnTo>
                    <a:lnTo>
                      <a:pt x="0" y="68"/>
                    </a:lnTo>
                    <a:lnTo>
                      <a:pt x="153" y="9"/>
                    </a:lnTo>
                    <a:lnTo>
                      <a:pt x="161" y="20"/>
                    </a:lnTo>
                    <a:lnTo>
                      <a:pt x="153" y="9"/>
                    </a:lnTo>
                    <a:lnTo>
                      <a:pt x="176" y="0"/>
                    </a:lnTo>
                    <a:lnTo>
                      <a:pt x="161" y="20"/>
                    </a:lnTo>
                    <a:lnTo>
                      <a:pt x="146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43" name="Freeform 12"/>
              <p:cNvSpPr>
                <a:spLocks/>
              </p:cNvSpPr>
              <p:nvPr/>
            </p:nvSpPr>
            <p:spPr bwMode="auto">
              <a:xfrm>
                <a:off x="3760" y="3024"/>
                <a:ext cx="108" cy="142"/>
              </a:xfrm>
              <a:custGeom>
                <a:avLst/>
                <a:gdLst>
                  <a:gd name="T0" fmla="*/ 17 w 108"/>
                  <a:gd name="T1" fmla="*/ 122 h 142"/>
                  <a:gd name="T2" fmla="*/ 1 w 108"/>
                  <a:gd name="T3" fmla="*/ 126 h 142"/>
                  <a:gd name="T4" fmla="*/ 92 w 108"/>
                  <a:gd name="T5" fmla="*/ 0 h 142"/>
                  <a:gd name="T6" fmla="*/ 108 w 108"/>
                  <a:gd name="T7" fmla="*/ 6 h 142"/>
                  <a:gd name="T8" fmla="*/ 16 w 108"/>
                  <a:gd name="T9" fmla="*/ 132 h 142"/>
                  <a:gd name="T10" fmla="*/ 0 w 108"/>
                  <a:gd name="T11" fmla="*/ 134 h 142"/>
                  <a:gd name="T12" fmla="*/ 16 w 108"/>
                  <a:gd name="T13" fmla="*/ 132 h 142"/>
                  <a:gd name="T14" fmla="*/ 7 w 108"/>
                  <a:gd name="T15" fmla="*/ 142 h 142"/>
                  <a:gd name="T16" fmla="*/ 0 w 108"/>
                  <a:gd name="T17" fmla="*/ 134 h 142"/>
                  <a:gd name="T18" fmla="*/ 17 w 108"/>
                  <a:gd name="T19" fmla="*/ 122 h 1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8"/>
                  <a:gd name="T31" fmla="*/ 0 h 142"/>
                  <a:gd name="T32" fmla="*/ 108 w 108"/>
                  <a:gd name="T33" fmla="*/ 142 h 1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8" h="142">
                    <a:moveTo>
                      <a:pt x="17" y="122"/>
                    </a:moveTo>
                    <a:lnTo>
                      <a:pt x="1" y="126"/>
                    </a:lnTo>
                    <a:lnTo>
                      <a:pt x="92" y="0"/>
                    </a:lnTo>
                    <a:lnTo>
                      <a:pt x="108" y="6"/>
                    </a:lnTo>
                    <a:lnTo>
                      <a:pt x="16" y="132"/>
                    </a:lnTo>
                    <a:lnTo>
                      <a:pt x="0" y="134"/>
                    </a:lnTo>
                    <a:lnTo>
                      <a:pt x="16" y="132"/>
                    </a:lnTo>
                    <a:lnTo>
                      <a:pt x="7" y="142"/>
                    </a:lnTo>
                    <a:lnTo>
                      <a:pt x="0" y="134"/>
                    </a:lnTo>
                    <a:lnTo>
                      <a:pt x="17" y="1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44" name="Freeform 13"/>
              <p:cNvSpPr>
                <a:spLocks/>
              </p:cNvSpPr>
              <p:nvPr/>
            </p:nvSpPr>
            <p:spPr bwMode="auto">
              <a:xfrm>
                <a:off x="3691" y="3077"/>
                <a:ext cx="86" cy="81"/>
              </a:xfrm>
              <a:custGeom>
                <a:avLst/>
                <a:gdLst>
                  <a:gd name="T0" fmla="*/ 17 w 86"/>
                  <a:gd name="T1" fmla="*/ 16 h 81"/>
                  <a:gd name="T2" fmla="*/ 25 w 86"/>
                  <a:gd name="T3" fmla="*/ 1 h 81"/>
                  <a:gd name="T4" fmla="*/ 86 w 86"/>
                  <a:gd name="T5" fmla="*/ 68 h 81"/>
                  <a:gd name="T6" fmla="*/ 69 w 86"/>
                  <a:gd name="T7" fmla="*/ 81 h 81"/>
                  <a:gd name="T8" fmla="*/ 7 w 86"/>
                  <a:gd name="T9" fmla="*/ 13 h 81"/>
                  <a:gd name="T10" fmla="*/ 15 w 86"/>
                  <a:gd name="T11" fmla="*/ 0 h 81"/>
                  <a:gd name="T12" fmla="*/ 7 w 86"/>
                  <a:gd name="T13" fmla="*/ 13 h 81"/>
                  <a:gd name="T14" fmla="*/ 0 w 86"/>
                  <a:gd name="T15" fmla="*/ 5 h 81"/>
                  <a:gd name="T16" fmla="*/ 15 w 86"/>
                  <a:gd name="T17" fmla="*/ 0 h 81"/>
                  <a:gd name="T18" fmla="*/ 17 w 86"/>
                  <a:gd name="T19" fmla="*/ 16 h 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6"/>
                  <a:gd name="T31" fmla="*/ 0 h 81"/>
                  <a:gd name="T32" fmla="*/ 86 w 86"/>
                  <a:gd name="T33" fmla="*/ 81 h 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6" h="81">
                    <a:moveTo>
                      <a:pt x="17" y="16"/>
                    </a:moveTo>
                    <a:lnTo>
                      <a:pt x="25" y="1"/>
                    </a:lnTo>
                    <a:lnTo>
                      <a:pt x="86" y="68"/>
                    </a:lnTo>
                    <a:lnTo>
                      <a:pt x="69" y="81"/>
                    </a:lnTo>
                    <a:lnTo>
                      <a:pt x="7" y="13"/>
                    </a:lnTo>
                    <a:lnTo>
                      <a:pt x="15" y="0"/>
                    </a:lnTo>
                    <a:lnTo>
                      <a:pt x="7" y="13"/>
                    </a:lnTo>
                    <a:lnTo>
                      <a:pt x="0" y="5"/>
                    </a:lnTo>
                    <a:lnTo>
                      <a:pt x="15" y="0"/>
                    </a:lnTo>
                    <a:lnTo>
                      <a:pt x="17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45" name="Freeform 14"/>
              <p:cNvSpPr>
                <a:spLocks/>
              </p:cNvSpPr>
              <p:nvPr/>
            </p:nvSpPr>
            <p:spPr bwMode="auto">
              <a:xfrm>
                <a:off x="3807" y="3037"/>
                <a:ext cx="39" cy="37"/>
              </a:xfrm>
              <a:custGeom>
                <a:avLst/>
                <a:gdLst>
                  <a:gd name="T0" fmla="*/ 0 w 39"/>
                  <a:gd name="T1" fmla="*/ 14 h 37"/>
                  <a:gd name="T2" fmla="*/ 17 w 39"/>
                  <a:gd name="T3" fmla="*/ 0 h 37"/>
                  <a:gd name="T4" fmla="*/ 39 w 39"/>
                  <a:gd name="T5" fmla="*/ 24 h 37"/>
                  <a:gd name="T6" fmla="*/ 22 w 39"/>
                  <a:gd name="T7" fmla="*/ 37 h 37"/>
                  <a:gd name="T8" fmla="*/ 0 w 39"/>
                  <a:gd name="T9" fmla="*/ 14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9"/>
                  <a:gd name="T16" fmla="*/ 0 h 37"/>
                  <a:gd name="T17" fmla="*/ 39 w 39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9" h="37">
                    <a:moveTo>
                      <a:pt x="0" y="14"/>
                    </a:moveTo>
                    <a:lnTo>
                      <a:pt x="17" y="0"/>
                    </a:lnTo>
                    <a:lnTo>
                      <a:pt x="39" y="24"/>
                    </a:lnTo>
                    <a:lnTo>
                      <a:pt x="22" y="37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46" name="Freeform 15"/>
              <p:cNvSpPr>
                <a:spLocks/>
              </p:cNvSpPr>
              <p:nvPr/>
            </p:nvSpPr>
            <p:spPr bwMode="auto">
              <a:xfrm>
                <a:off x="3611" y="3052"/>
                <a:ext cx="215" cy="153"/>
              </a:xfrm>
              <a:custGeom>
                <a:avLst/>
                <a:gdLst>
                  <a:gd name="T0" fmla="*/ 0 w 215"/>
                  <a:gd name="T1" fmla="*/ 124 h 153"/>
                  <a:gd name="T2" fmla="*/ 0 w 215"/>
                  <a:gd name="T3" fmla="*/ 124 h 153"/>
                  <a:gd name="T4" fmla="*/ 53 w 215"/>
                  <a:gd name="T5" fmla="*/ 95 h 153"/>
                  <a:gd name="T6" fmla="*/ 101 w 215"/>
                  <a:gd name="T7" fmla="*/ 66 h 153"/>
                  <a:gd name="T8" fmla="*/ 149 w 215"/>
                  <a:gd name="T9" fmla="*/ 33 h 153"/>
                  <a:gd name="T10" fmla="*/ 193 w 215"/>
                  <a:gd name="T11" fmla="*/ 0 h 153"/>
                  <a:gd name="T12" fmla="*/ 215 w 215"/>
                  <a:gd name="T13" fmla="*/ 22 h 153"/>
                  <a:gd name="T14" fmla="*/ 168 w 215"/>
                  <a:gd name="T15" fmla="*/ 59 h 153"/>
                  <a:gd name="T16" fmla="*/ 119 w 215"/>
                  <a:gd name="T17" fmla="*/ 92 h 153"/>
                  <a:gd name="T18" fmla="*/ 66 w 215"/>
                  <a:gd name="T19" fmla="*/ 124 h 153"/>
                  <a:gd name="T20" fmla="*/ 11 w 215"/>
                  <a:gd name="T21" fmla="*/ 153 h 153"/>
                  <a:gd name="T22" fmla="*/ 0 w 215"/>
                  <a:gd name="T23" fmla="*/ 124 h 15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5"/>
                  <a:gd name="T37" fmla="*/ 0 h 153"/>
                  <a:gd name="T38" fmla="*/ 215 w 215"/>
                  <a:gd name="T39" fmla="*/ 153 h 15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5" h="153">
                    <a:moveTo>
                      <a:pt x="0" y="124"/>
                    </a:moveTo>
                    <a:lnTo>
                      <a:pt x="0" y="124"/>
                    </a:lnTo>
                    <a:lnTo>
                      <a:pt x="53" y="95"/>
                    </a:lnTo>
                    <a:lnTo>
                      <a:pt x="101" y="66"/>
                    </a:lnTo>
                    <a:lnTo>
                      <a:pt x="149" y="33"/>
                    </a:lnTo>
                    <a:lnTo>
                      <a:pt x="193" y="0"/>
                    </a:lnTo>
                    <a:lnTo>
                      <a:pt x="215" y="22"/>
                    </a:lnTo>
                    <a:lnTo>
                      <a:pt x="168" y="59"/>
                    </a:lnTo>
                    <a:lnTo>
                      <a:pt x="119" y="92"/>
                    </a:lnTo>
                    <a:lnTo>
                      <a:pt x="66" y="124"/>
                    </a:lnTo>
                    <a:lnTo>
                      <a:pt x="11" y="153"/>
                    </a:lnTo>
                    <a:lnTo>
                      <a:pt x="0" y="12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47" name="Freeform 16"/>
              <p:cNvSpPr>
                <a:spLocks/>
              </p:cNvSpPr>
              <p:nvPr/>
            </p:nvSpPr>
            <p:spPr bwMode="auto">
              <a:xfrm>
                <a:off x="3423" y="3174"/>
                <a:ext cx="197" cy="103"/>
              </a:xfrm>
              <a:custGeom>
                <a:avLst/>
                <a:gdLst>
                  <a:gd name="T0" fmla="*/ 1 w 197"/>
                  <a:gd name="T1" fmla="*/ 68 h 103"/>
                  <a:gd name="T2" fmla="*/ 24 w 197"/>
                  <a:gd name="T3" fmla="*/ 62 h 103"/>
                  <a:gd name="T4" fmla="*/ 47 w 197"/>
                  <a:gd name="T5" fmla="*/ 56 h 103"/>
                  <a:gd name="T6" fmla="*/ 70 w 197"/>
                  <a:gd name="T7" fmla="*/ 49 h 103"/>
                  <a:gd name="T8" fmla="*/ 93 w 197"/>
                  <a:gd name="T9" fmla="*/ 39 h 103"/>
                  <a:gd name="T10" fmla="*/ 116 w 197"/>
                  <a:gd name="T11" fmla="*/ 30 h 103"/>
                  <a:gd name="T12" fmla="*/ 140 w 197"/>
                  <a:gd name="T13" fmla="*/ 21 h 103"/>
                  <a:gd name="T14" fmla="*/ 163 w 197"/>
                  <a:gd name="T15" fmla="*/ 12 h 103"/>
                  <a:gd name="T16" fmla="*/ 185 w 197"/>
                  <a:gd name="T17" fmla="*/ 0 h 103"/>
                  <a:gd name="T18" fmla="*/ 197 w 197"/>
                  <a:gd name="T19" fmla="*/ 30 h 103"/>
                  <a:gd name="T20" fmla="*/ 173 w 197"/>
                  <a:gd name="T21" fmla="*/ 41 h 103"/>
                  <a:gd name="T22" fmla="*/ 148 w 197"/>
                  <a:gd name="T23" fmla="*/ 52 h 103"/>
                  <a:gd name="T24" fmla="*/ 123 w 197"/>
                  <a:gd name="T25" fmla="*/ 63 h 103"/>
                  <a:gd name="T26" fmla="*/ 99 w 197"/>
                  <a:gd name="T27" fmla="*/ 74 h 103"/>
                  <a:gd name="T28" fmla="*/ 74 w 197"/>
                  <a:gd name="T29" fmla="*/ 81 h 103"/>
                  <a:gd name="T30" fmla="*/ 50 w 197"/>
                  <a:gd name="T31" fmla="*/ 90 h 103"/>
                  <a:gd name="T32" fmla="*/ 26 w 197"/>
                  <a:gd name="T33" fmla="*/ 97 h 103"/>
                  <a:gd name="T34" fmla="*/ 0 w 197"/>
                  <a:gd name="T35" fmla="*/ 103 h 103"/>
                  <a:gd name="T36" fmla="*/ 1 w 197"/>
                  <a:gd name="T37" fmla="*/ 68 h 1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7"/>
                  <a:gd name="T58" fmla="*/ 0 h 103"/>
                  <a:gd name="T59" fmla="*/ 197 w 197"/>
                  <a:gd name="T60" fmla="*/ 103 h 1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7" h="103">
                    <a:moveTo>
                      <a:pt x="1" y="68"/>
                    </a:moveTo>
                    <a:lnTo>
                      <a:pt x="24" y="62"/>
                    </a:lnTo>
                    <a:lnTo>
                      <a:pt x="47" y="56"/>
                    </a:lnTo>
                    <a:lnTo>
                      <a:pt x="70" y="49"/>
                    </a:lnTo>
                    <a:lnTo>
                      <a:pt x="93" y="39"/>
                    </a:lnTo>
                    <a:lnTo>
                      <a:pt x="116" y="30"/>
                    </a:lnTo>
                    <a:lnTo>
                      <a:pt x="140" y="21"/>
                    </a:lnTo>
                    <a:lnTo>
                      <a:pt x="163" y="12"/>
                    </a:lnTo>
                    <a:lnTo>
                      <a:pt x="185" y="0"/>
                    </a:lnTo>
                    <a:lnTo>
                      <a:pt x="197" y="30"/>
                    </a:lnTo>
                    <a:lnTo>
                      <a:pt x="173" y="41"/>
                    </a:lnTo>
                    <a:lnTo>
                      <a:pt x="148" y="52"/>
                    </a:lnTo>
                    <a:lnTo>
                      <a:pt x="123" y="63"/>
                    </a:lnTo>
                    <a:lnTo>
                      <a:pt x="99" y="74"/>
                    </a:lnTo>
                    <a:lnTo>
                      <a:pt x="74" y="81"/>
                    </a:lnTo>
                    <a:lnTo>
                      <a:pt x="50" y="90"/>
                    </a:lnTo>
                    <a:lnTo>
                      <a:pt x="26" y="97"/>
                    </a:lnTo>
                    <a:lnTo>
                      <a:pt x="0" y="103"/>
                    </a:lnTo>
                    <a:lnTo>
                      <a:pt x="1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48" name="Freeform 17"/>
              <p:cNvSpPr>
                <a:spLocks/>
              </p:cNvSpPr>
              <p:nvPr/>
            </p:nvSpPr>
            <p:spPr bwMode="auto">
              <a:xfrm>
                <a:off x="3402" y="3241"/>
                <a:ext cx="22" cy="40"/>
              </a:xfrm>
              <a:custGeom>
                <a:avLst/>
                <a:gdLst>
                  <a:gd name="T0" fmla="*/ 21 w 22"/>
                  <a:gd name="T1" fmla="*/ 34 h 40"/>
                  <a:gd name="T2" fmla="*/ 0 w 22"/>
                  <a:gd name="T3" fmla="*/ 40 h 40"/>
                  <a:gd name="T4" fmla="*/ 1 w 22"/>
                  <a:gd name="T5" fmla="*/ 7 h 40"/>
                  <a:gd name="T6" fmla="*/ 22 w 22"/>
                  <a:gd name="T7" fmla="*/ 0 h 40"/>
                  <a:gd name="T8" fmla="*/ 21 w 22"/>
                  <a:gd name="T9" fmla="*/ 34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40"/>
                  <a:gd name="T17" fmla="*/ 22 w 22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40">
                    <a:moveTo>
                      <a:pt x="21" y="34"/>
                    </a:moveTo>
                    <a:lnTo>
                      <a:pt x="0" y="40"/>
                    </a:lnTo>
                    <a:lnTo>
                      <a:pt x="1" y="7"/>
                    </a:lnTo>
                    <a:lnTo>
                      <a:pt x="22" y="0"/>
                    </a:lnTo>
                    <a:lnTo>
                      <a:pt x="21" y="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49" name="Freeform 18"/>
              <p:cNvSpPr>
                <a:spLocks/>
              </p:cNvSpPr>
              <p:nvPr/>
            </p:nvSpPr>
            <p:spPr bwMode="auto">
              <a:xfrm>
                <a:off x="3708" y="3026"/>
                <a:ext cx="153" cy="126"/>
              </a:xfrm>
              <a:custGeom>
                <a:avLst/>
                <a:gdLst>
                  <a:gd name="T0" fmla="*/ 0 w 153"/>
                  <a:gd name="T1" fmla="*/ 59 h 126"/>
                  <a:gd name="T2" fmla="*/ 153 w 153"/>
                  <a:gd name="T3" fmla="*/ 0 h 126"/>
                  <a:gd name="T4" fmla="*/ 60 w 153"/>
                  <a:gd name="T5" fmla="*/ 126 h 126"/>
                  <a:gd name="T6" fmla="*/ 0 w 153"/>
                  <a:gd name="T7" fmla="*/ 59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3"/>
                  <a:gd name="T13" fmla="*/ 0 h 126"/>
                  <a:gd name="T14" fmla="*/ 153 w 15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3" h="126">
                    <a:moveTo>
                      <a:pt x="0" y="59"/>
                    </a:moveTo>
                    <a:lnTo>
                      <a:pt x="153" y="0"/>
                    </a:lnTo>
                    <a:lnTo>
                      <a:pt x="60" y="126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50" name="Freeform 19"/>
              <p:cNvSpPr>
                <a:spLocks/>
              </p:cNvSpPr>
              <p:nvPr/>
            </p:nvSpPr>
            <p:spPr bwMode="auto">
              <a:xfrm>
                <a:off x="3706" y="3018"/>
                <a:ext cx="167" cy="72"/>
              </a:xfrm>
              <a:custGeom>
                <a:avLst/>
                <a:gdLst>
                  <a:gd name="T0" fmla="*/ 150 w 167"/>
                  <a:gd name="T1" fmla="*/ 8 h 72"/>
                  <a:gd name="T2" fmla="*/ 154 w 167"/>
                  <a:gd name="T3" fmla="*/ 15 h 72"/>
                  <a:gd name="T4" fmla="*/ 1 w 167"/>
                  <a:gd name="T5" fmla="*/ 72 h 72"/>
                  <a:gd name="T6" fmla="*/ 0 w 167"/>
                  <a:gd name="T7" fmla="*/ 64 h 72"/>
                  <a:gd name="T8" fmla="*/ 153 w 167"/>
                  <a:gd name="T9" fmla="*/ 5 h 72"/>
                  <a:gd name="T10" fmla="*/ 158 w 167"/>
                  <a:gd name="T11" fmla="*/ 11 h 72"/>
                  <a:gd name="T12" fmla="*/ 153 w 167"/>
                  <a:gd name="T13" fmla="*/ 5 h 72"/>
                  <a:gd name="T14" fmla="*/ 167 w 167"/>
                  <a:gd name="T15" fmla="*/ 0 h 72"/>
                  <a:gd name="T16" fmla="*/ 158 w 167"/>
                  <a:gd name="T17" fmla="*/ 11 h 72"/>
                  <a:gd name="T18" fmla="*/ 150 w 167"/>
                  <a:gd name="T19" fmla="*/ 8 h 7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7"/>
                  <a:gd name="T31" fmla="*/ 0 h 72"/>
                  <a:gd name="T32" fmla="*/ 167 w 167"/>
                  <a:gd name="T33" fmla="*/ 72 h 7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7" h="72">
                    <a:moveTo>
                      <a:pt x="150" y="8"/>
                    </a:moveTo>
                    <a:lnTo>
                      <a:pt x="154" y="15"/>
                    </a:lnTo>
                    <a:lnTo>
                      <a:pt x="1" y="72"/>
                    </a:lnTo>
                    <a:lnTo>
                      <a:pt x="0" y="64"/>
                    </a:lnTo>
                    <a:lnTo>
                      <a:pt x="153" y="5"/>
                    </a:lnTo>
                    <a:lnTo>
                      <a:pt x="158" y="11"/>
                    </a:lnTo>
                    <a:lnTo>
                      <a:pt x="153" y="5"/>
                    </a:lnTo>
                    <a:lnTo>
                      <a:pt x="167" y="0"/>
                    </a:lnTo>
                    <a:lnTo>
                      <a:pt x="158" y="11"/>
                    </a:lnTo>
                    <a:lnTo>
                      <a:pt x="150" y="8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51" name="Freeform 20"/>
              <p:cNvSpPr>
                <a:spLocks/>
              </p:cNvSpPr>
              <p:nvPr/>
            </p:nvSpPr>
            <p:spPr bwMode="auto">
              <a:xfrm>
                <a:off x="3764" y="3024"/>
                <a:ext cx="102" cy="136"/>
              </a:xfrm>
              <a:custGeom>
                <a:avLst/>
                <a:gdLst>
                  <a:gd name="T0" fmla="*/ 10 w 102"/>
                  <a:gd name="T1" fmla="*/ 123 h 136"/>
                  <a:gd name="T2" fmla="*/ 1 w 102"/>
                  <a:gd name="T3" fmla="*/ 125 h 136"/>
                  <a:gd name="T4" fmla="*/ 93 w 102"/>
                  <a:gd name="T5" fmla="*/ 0 h 136"/>
                  <a:gd name="T6" fmla="*/ 102 w 102"/>
                  <a:gd name="T7" fmla="*/ 3 h 136"/>
                  <a:gd name="T8" fmla="*/ 9 w 102"/>
                  <a:gd name="T9" fmla="*/ 130 h 136"/>
                  <a:gd name="T10" fmla="*/ 0 w 102"/>
                  <a:gd name="T11" fmla="*/ 132 h 136"/>
                  <a:gd name="T12" fmla="*/ 9 w 102"/>
                  <a:gd name="T13" fmla="*/ 130 h 136"/>
                  <a:gd name="T14" fmla="*/ 4 w 102"/>
                  <a:gd name="T15" fmla="*/ 136 h 136"/>
                  <a:gd name="T16" fmla="*/ 0 w 102"/>
                  <a:gd name="T17" fmla="*/ 132 h 136"/>
                  <a:gd name="T18" fmla="*/ 10 w 102"/>
                  <a:gd name="T19" fmla="*/ 123 h 1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2"/>
                  <a:gd name="T31" fmla="*/ 0 h 136"/>
                  <a:gd name="T32" fmla="*/ 102 w 102"/>
                  <a:gd name="T33" fmla="*/ 136 h 1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2" h="136">
                    <a:moveTo>
                      <a:pt x="10" y="123"/>
                    </a:moveTo>
                    <a:lnTo>
                      <a:pt x="1" y="125"/>
                    </a:lnTo>
                    <a:lnTo>
                      <a:pt x="93" y="0"/>
                    </a:lnTo>
                    <a:lnTo>
                      <a:pt x="102" y="3"/>
                    </a:lnTo>
                    <a:lnTo>
                      <a:pt x="9" y="130"/>
                    </a:lnTo>
                    <a:lnTo>
                      <a:pt x="0" y="132"/>
                    </a:lnTo>
                    <a:lnTo>
                      <a:pt x="9" y="130"/>
                    </a:lnTo>
                    <a:lnTo>
                      <a:pt x="4" y="136"/>
                    </a:lnTo>
                    <a:lnTo>
                      <a:pt x="0" y="132"/>
                    </a:lnTo>
                    <a:lnTo>
                      <a:pt x="10" y="123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52" name="Freeform 21"/>
              <p:cNvSpPr>
                <a:spLocks/>
              </p:cNvSpPr>
              <p:nvPr/>
            </p:nvSpPr>
            <p:spPr bwMode="auto">
              <a:xfrm>
                <a:off x="3700" y="3080"/>
                <a:ext cx="71" cy="77"/>
              </a:xfrm>
              <a:custGeom>
                <a:avLst/>
                <a:gdLst>
                  <a:gd name="T0" fmla="*/ 8 w 71"/>
                  <a:gd name="T1" fmla="*/ 8 h 77"/>
                  <a:gd name="T2" fmla="*/ 13 w 71"/>
                  <a:gd name="T3" fmla="*/ 1 h 77"/>
                  <a:gd name="T4" fmla="*/ 71 w 71"/>
                  <a:gd name="T5" fmla="*/ 70 h 77"/>
                  <a:gd name="T6" fmla="*/ 63 w 71"/>
                  <a:gd name="T7" fmla="*/ 77 h 77"/>
                  <a:gd name="T8" fmla="*/ 3 w 71"/>
                  <a:gd name="T9" fmla="*/ 8 h 77"/>
                  <a:gd name="T10" fmla="*/ 6 w 71"/>
                  <a:gd name="T11" fmla="*/ 0 h 77"/>
                  <a:gd name="T12" fmla="*/ 3 w 71"/>
                  <a:gd name="T13" fmla="*/ 8 h 77"/>
                  <a:gd name="T14" fmla="*/ 0 w 71"/>
                  <a:gd name="T15" fmla="*/ 3 h 77"/>
                  <a:gd name="T16" fmla="*/ 6 w 71"/>
                  <a:gd name="T17" fmla="*/ 0 h 77"/>
                  <a:gd name="T18" fmla="*/ 8 w 71"/>
                  <a:gd name="T19" fmla="*/ 8 h 7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1"/>
                  <a:gd name="T31" fmla="*/ 0 h 77"/>
                  <a:gd name="T32" fmla="*/ 71 w 71"/>
                  <a:gd name="T33" fmla="*/ 77 h 7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1" h="77">
                    <a:moveTo>
                      <a:pt x="8" y="8"/>
                    </a:moveTo>
                    <a:lnTo>
                      <a:pt x="13" y="1"/>
                    </a:lnTo>
                    <a:lnTo>
                      <a:pt x="71" y="70"/>
                    </a:lnTo>
                    <a:lnTo>
                      <a:pt x="63" y="77"/>
                    </a:lnTo>
                    <a:lnTo>
                      <a:pt x="3" y="8"/>
                    </a:lnTo>
                    <a:lnTo>
                      <a:pt x="6" y="0"/>
                    </a:lnTo>
                    <a:lnTo>
                      <a:pt x="3" y="8"/>
                    </a:lnTo>
                    <a:lnTo>
                      <a:pt x="0" y="3"/>
                    </a:lnTo>
                    <a:lnTo>
                      <a:pt x="6" y="0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53" name="Freeform 22"/>
              <p:cNvSpPr>
                <a:spLocks/>
              </p:cNvSpPr>
              <p:nvPr/>
            </p:nvSpPr>
            <p:spPr bwMode="auto">
              <a:xfrm>
                <a:off x="3808" y="3039"/>
                <a:ext cx="34" cy="32"/>
              </a:xfrm>
              <a:custGeom>
                <a:avLst/>
                <a:gdLst>
                  <a:gd name="T0" fmla="*/ 0 w 34"/>
                  <a:gd name="T1" fmla="*/ 13 h 32"/>
                  <a:gd name="T2" fmla="*/ 16 w 34"/>
                  <a:gd name="T3" fmla="*/ 0 h 32"/>
                  <a:gd name="T4" fmla="*/ 34 w 34"/>
                  <a:gd name="T5" fmla="*/ 21 h 32"/>
                  <a:gd name="T6" fmla="*/ 18 w 34"/>
                  <a:gd name="T7" fmla="*/ 32 h 32"/>
                  <a:gd name="T8" fmla="*/ 0 w 34"/>
                  <a:gd name="T9" fmla="*/ 13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32"/>
                  <a:gd name="T17" fmla="*/ 34 w 34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32">
                    <a:moveTo>
                      <a:pt x="0" y="13"/>
                    </a:moveTo>
                    <a:lnTo>
                      <a:pt x="16" y="0"/>
                    </a:lnTo>
                    <a:lnTo>
                      <a:pt x="34" y="21"/>
                    </a:lnTo>
                    <a:lnTo>
                      <a:pt x="18" y="32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54" name="Freeform 23"/>
              <p:cNvSpPr>
                <a:spLocks/>
              </p:cNvSpPr>
              <p:nvPr/>
            </p:nvSpPr>
            <p:spPr bwMode="auto">
              <a:xfrm>
                <a:off x="3612" y="3053"/>
                <a:ext cx="213" cy="151"/>
              </a:xfrm>
              <a:custGeom>
                <a:avLst/>
                <a:gdLst>
                  <a:gd name="T0" fmla="*/ 0 w 213"/>
                  <a:gd name="T1" fmla="*/ 125 h 151"/>
                  <a:gd name="T2" fmla="*/ 0 w 213"/>
                  <a:gd name="T3" fmla="*/ 125 h 151"/>
                  <a:gd name="T4" fmla="*/ 52 w 213"/>
                  <a:gd name="T5" fmla="*/ 97 h 151"/>
                  <a:gd name="T6" fmla="*/ 102 w 213"/>
                  <a:gd name="T7" fmla="*/ 67 h 151"/>
                  <a:gd name="T8" fmla="*/ 149 w 213"/>
                  <a:gd name="T9" fmla="*/ 35 h 151"/>
                  <a:gd name="T10" fmla="*/ 194 w 213"/>
                  <a:gd name="T11" fmla="*/ 0 h 151"/>
                  <a:gd name="T12" fmla="*/ 213 w 213"/>
                  <a:gd name="T13" fmla="*/ 19 h 151"/>
                  <a:gd name="T14" fmla="*/ 165 w 213"/>
                  <a:gd name="T15" fmla="*/ 57 h 151"/>
                  <a:gd name="T16" fmla="*/ 117 w 213"/>
                  <a:gd name="T17" fmla="*/ 90 h 151"/>
                  <a:gd name="T18" fmla="*/ 64 w 213"/>
                  <a:gd name="T19" fmla="*/ 121 h 151"/>
                  <a:gd name="T20" fmla="*/ 9 w 213"/>
                  <a:gd name="T21" fmla="*/ 151 h 151"/>
                  <a:gd name="T22" fmla="*/ 0 w 213"/>
                  <a:gd name="T23" fmla="*/ 125 h 15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3"/>
                  <a:gd name="T37" fmla="*/ 0 h 151"/>
                  <a:gd name="T38" fmla="*/ 213 w 213"/>
                  <a:gd name="T39" fmla="*/ 151 h 15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3" h="151">
                    <a:moveTo>
                      <a:pt x="0" y="125"/>
                    </a:moveTo>
                    <a:lnTo>
                      <a:pt x="0" y="125"/>
                    </a:lnTo>
                    <a:lnTo>
                      <a:pt x="52" y="97"/>
                    </a:lnTo>
                    <a:lnTo>
                      <a:pt x="102" y="67"/>
                    </a:lnTo>
                    <a:lnTo>
                      <a:pt x="149" y="35"/>
                    </a:lnTo>
                    <a:lnTo>
                      <a:pt x="194" y="0"/>
                    </a:lnTo>
                    <a:lnTo>
                      <a:pt x="213" y="19"/>
                    </a:lnTo>
                    <a:lnTo>
                      <a:pt x="165" y="57"/>
                    </a:lnTo>
                    <a:lnTo>
                      <a:pt x="117" y="90"/>
                    </a:lnTo>
                    <a:lnTo>
                      <a:pt x="64" y="121"/>
                    </a:lnTo>
                    <a:lnTo>
                      <a:pt x="9" y="151"/>
                    </a:lnTo>
                    <a:lnTo>
                      <a:pt x="0" y="125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55" name="Freeform 24"/>
              <p:cNvSpPr>
                <a:spLocks/>
              </p:cNvSpPr>
              <p:nvPr/>
            </p:nvSpPr>
            <p:spPr bwMode="auto">
              <a:xfrm>
                <a:off x="3424" y="3175"/>
                <a:ext cx="194" cy="98"/>
              </a:xfrm>
              <a:custGeom>
                <a:avLst/>
                <a:gdLst>
                  <a:gd name="T0" fmla="*/ 0 w 194"/>
                  <a:gd name="T1" fmla="*/ 69 h 98"/>
                  <a:gd name="T2" fmla="*/ 23 w 194"/>
                  <a:gd name="T3" fmla="*/ 63 h 98"/>
                  <a:gd name="T4" fmla="*/ 47 w 194"/>
                  <a:gd name="T5" fmla="*/ 57 h 98"/>
                  <a:gd name="T6" fmla="*/ 70 w 194"/>
                  <a:gd name="T7" fmla="*/ 48 h 98"/>
                  <a:gd name="T8" fmla="*/ 93 w 194"/>
                  <a:gd name="T9" fmla="*/ 40 h 98"/>
                  <a:gd name="T10" fmla="*/ 116 w 194"/>
                  <a:gd name="T11" fmla="*/ 32 h 98"/>
                  <a:gd name="T12" fmla="*/ 139 w 194"/>
                  <a:gd name="T13" fmla="*/ 21 h 98"/>
                  <a:gd name="T14" fmla="*/ 162 w 194"/>
                  <a:gd name="T15" fmla="*/ 11 h 98"/>
                  <a:gd name="T16" fmla="*/ 185 w 194"/>
                  <a:gd name="T17" fmla="*/ 0 h 98"/>
                  <a:gd name="T18" fmla="*/ 194 w 194"/>
                  <a:gd name="T19" fmla="*/ 26 h 98"/>
                  <a:gd name="T20" fmla="*/ 170 w 194"/>
                  <a:gd name="T21" fmla="*/ 37 h 98"/>
                  <a:gd name="T22" fmla="*/ 147 w 194"/>
                  <a:gd name="T23" fmla="*/ 48 h 98"/>
                  <a:gd name="T24" fmla="*/ 121 w 194"/>
                  <a:gd name="T25" fmla="*/ 59 h 98"/>
                  <a:gd name="T26" fmla="*/ 96 w 194"/>
                  <a:gd name="T27" fmla="*/ 67 h 98"/>
                  <a:gd name="T28" fmla="*/ 73 w 194"/>
                  <a:gd name="T29" fmla="*/ 76 h 98"/>
                  <a:gd name="T30" fmla="*/ 47 w 194"/>
                  <a:gd name="T31" fmla="*/ 85 h 98"/>
                  <a:gd name="T32" fmla="*/ 24 w 194"/>
                  <a:gd name="T33" fmla="*/ 92 h 98"/>
                  <a:gd name="T34" fmla="*/ 0 w 194"/>
                  <a:gd name="T35" fmla="*/ 98 h 98"/>
                  <a:gd name="T36" fmla="*/ 0 w 194"/>
                  <a:gd name="T37" fmla="*/ 69 h 9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4"/>
                  <a:gd name="T58" fmla="*/ 0 h 98"/>
                  <a:gd name="T59" fmla="*/ 194 w 194"/>
                  <a:gd name="T60" fmla="*/ 98 h 9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4" h="98">
                    <a:moveTo>
                      <a:pt x="0" y="69"/>
                    </a:moveTo>
                    <a:lnTo>
                      <a:pt x="23" y="63"/>
                    </a:lnTo>
                    <a:lnTo>
                      <a:pt x="47" y="57"/>
                    </a:lnTo>
                    <a:lnTo>
                      <a:pt x="70" y="48"/>
                    </a:lnTo>
                    <a:lnTo>
                      <a:pt x="93" y="40"/>
                    </a:lnTo>
                    <a:lnTo>
                      <a:pt x="116" y="32"/>
                    </a:lnTo>
                    <a:lnTo>
                      <a:pt x="139" y="21"/>
                    </a:lnTo>
                    <a:lnTo>
                      <a:pt x="162" y="11"/>
                    </a:lnTo>
                    <a:lnTo>
                      <a:pt x="185" y="0"/>
                    </a:lnTo>
                    <a:lnTo>
                      <a:pt x="194" y="26"/>
                    </a:lnTo>
                    <a:lnTo>
                      <a:pt x="170" y="37"/>
                    </a:lnTo>
                    <a:lnTo>
                      <a:pt x="147" y="48"/>
                    </a:lnTo>
                    <a:lnTo>
                      <a:pt x="121" y="59"/>
                    </a:lnTo>
                    <a:lnTo>
                      <a:pt x="96" y="67"/>
                    </a:lnTo>
                    <a:lnTo>
                      <a:pt x="73" y="76"/>
                    </a:lnTo>
                    <a:lnTo>
                      <a:pt x="47" y="85"/>
                    </a:lnTo>
                    <a:lnTo>
                      <a:pt x="24" y="92"/>
                    </a:lnTo>
                    <a:lnTo>
                      <a:pt x="0" y="98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56" name="Freeform 25"/>
              <p:cNvSpPr>
                <a:spLocks/>
              </p:cNvSpPr>
              <p:nvPr/>
            </p:nvSpPr>
            <p:spPr bwMode="auto">
              <a:xfrm>
                <a:off x="3404" y="3242"/>
                <a:ext cx="18" cy="35"/>
              </a:xfrm>
              <a:custGeom>
                <a:avLst/>
                <a:gdLst>
                  <a:gd name="T0" fmla="*/ 18 w 18"/>
                  <a:gd name="T1" fmla="*/ 31 h 35"/>
                  <a:gd name="T2" fmla="*/ 0 w 18"/>
                  <a:gd name="T3" fmla="*/ 35 h 35"/>
                  <a:gd name="T4" fmla="*/ 0 w 18"/>
                  <a:gd name="T5" fmla="*/ 4 h 35"/>
                  <a:gd name="T6" fmla="*/ 18 w 18"/>
                  <a:gd name="T7" fmla="*/ 0 h 35"/>
                  <a:gd name="T8" fmla="*/ 18 w 18"/>
                  <a:gd name="T9" fmla="*/ 31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35"/>
                  <a:gd name="T17" fmla="*/ 18 w 18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35">
                    <a:moveTo>
                      <a:pt x="18" y="31"/>
                    </a:moveTo>
                    <a:lnTo>
                      <a:pt x="0" y="35"/>
                    </a:lnTo>
                    <a:lnTo>
                      <a:pt x="0" y="4"/>
                    </a:lnTo>
                    <a:lnTo>
                      <a:pt x="18" y="0"/>
                    </a:lnTo>
                    <a:lnTo>
                      <a:pt x="18" y="31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57" name="Freeform 26"/>
              <p:cNvSpPr>
                <a:spLocks/>
              </p:cNvSpPr>
              <p:nvPr/>
            </p:nvSpPr>
            <p:spPr bwMode="auto">
              <a:xfrm>
                <a:off x="3738" y="3001"/>
                <a:ext cx="152" cy="128"/>
              </a:xfrm>
              <a:custGeom>
                <a:avLst/>
                <a:gdLst>
                  <a:gd name="T0" fmla="*/ 0 w 152"/>
                  <a:gd name="T1" fmla="*/ 63 h 128"/>
                  <a:gd name="T2" fmla="*/ 152 w 152"/>
                  <a:gd name="T3" fmla="*/ 0 h 128"/>
                  <a:gd name="T4" fmla="*/ 66 w 152"/>
                  <a:gd name="T5" fmla="*/ 128 h 128"/>
                  <a:gd name="T6" fmla="*/ 0 w 152"/>
                  <a:gd name="T7" fmla="*/ 63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2"/>
                  <a:gd name="T13" fmla="*/ 0 h 128"/>
                  <a:gd name="T14" fmla="*/ 152 w 152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2" h="128">
                    <a:moveTo>
                      <a:pt x="0" y="63"/>
                    </a:moveTo>
                    <a:lnTo>
                      <a:pt x="152" y="0"/>
                    </a:lnTo>
                    <a:lnTo>
                      <a:pt x="66" y="128"/>
                    </a:lnTo>
                    <a:lnTo>
                      <a:pt x="0" y="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58" name="Freeform 27"/>
              <p:cNvSpPr>
                <a:spLocks/>
              </p:cNvSpPr>
              <p:nvPr/>
            </p:nvSpPr>
            <p:spPr bwMode="auto">
              <a:xfrm>
                <a:off x="3737" y="2985"/>
                <a:ext cx="174" cy="87"/>
              </a:xfrm>
              <a:custGeom>
                <a:avLst/>
                <a:gdLst>
                  <a:gd name="T0" fmla="*/ 145 w 174"/>
                  <a:gd name="T1" fmla="*/ 15 h 87"/>
                  <a:gd name="T2" fmla="*/ 155 w 174"/>
                  <a:gd name="T3" fmla="*/ 23 h 87"/>
                  <a:gd name="T4" fmla="*/ 3 w 174"/>
                  <a:gd name="T5" fmla="*/ 87 h 87"/>
                  <a:gd name="T6" fmla="*/ 0 w 174"/>
                  <a:gd name="T7" fmla="*/ 73 h 87"/>
                  <a:gd name="T8" fmla="*/ 151 w 174"/>
                  <a:gd name="T9" fmla="*/ 10 h 87"/>
                  <a:gd name="T10" fmla="*/ 161 w 174"/>
                  <a:gd name="T11" fmla="*/ 18 h 87"/>
                  <a:gd name="T12" fmla="*/ 151 w 174"/>
                  <a:gd name="T13" fmla="*/ 10 h 87"/>
                  <a:gd name="T14" fmla="*/ 174 w 174"/>
                  <a:gd name="T15" fmla="*/ 0 h 87"/>
                  <a:gd name="T16" fmla="*/ 161 w 174"/>
                  <a:gd name="T17" fmla="*/ 18 h 87"/>
                  <a:gd name="T18" fmla="*/ 145 w 174"/>
                  <a:gd name="T19" fmla="*/ 15 h 8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4"/>
                  <a:gd name="T31" fmla="*/ 0 h 87"/>
                  <a:gd name="T32" fmla="*/ 174 w 174"/>
                  <a:gd name="T33" fmla="*/ 87 h 8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4" h="87">
                    <a:moveTo>
                      <a:pt x="145" y="15"/>
                    </a:moveTo>
                    <a:lnTo>
                      <a:pt x="155" y="23"/>
                    </a:lnTo>
                    <a:lnTo>
                      <a:pt x="3" y="87"/>
                    </a:lnTo>
                    <a:lnTo>
                      <a:pt x="0" y="73"/>
                    </a:lnTo>
                    <a:lnTo>
                      <a:pt x="151" y="10"/>
                    </a:lnTo>
                    <a:lnTo>
                      <a:pt x="161" y="18"/>
                    </a:lnTo>
                    <a:lnTo>
                      <a:pt x="151" y="10"/>
                    </a:lnTo>
                    <a:lnTo>
                      <a:pt x="174" y="0"/>
                    </a:lnTo>
                    <a:lnTo>
                      <a:pt x="161" y="18"/>
                    </a:lnTo>
                    <a:lnTo>
                      <a:pt x="145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59" name="Freeform 28"/>
              <p:cNvSpPr>
                <a:spLocks/>
              </p:cNvSpPr>
              <p:nvPr/>
            </p:nvSpPr>
            <p:spPr bwMode="auto">
              <a:xfrm>
                <a:off x="3796" y="2999"/>
                <a:ext cx="102" cy="144"/>
              </a:xfrm>
              <a:custGeom>
                <a:avLst/>
                <a:gdLst>
                  <a:gd name="T0" fmla="*/ 17 w 102"/>
                  <a:gd name="T1" fmla="*/ 124 h 144"/>
                  <a:gd name="T2" fmla="*/ 0 w 102"/>
                  <a:gd name="T3" fmla="*/ 128 h 144"/>
                  <a:gd name="T4" fmla="*/ 86 w 102"/>
                  <a:gd name="T5" fmla="*/ 0 h 144"/>
                  <a:gd name="T6" fmla="*/ 102 w 102"/>
                  <a:gd name="T7" fmla="*/ 3 h 144"/>
                  <a:gd name="T8" fmla="*/ 16 w 102"/>
                  <a:gd name="T9" fmla="*/ 131 h 144"/>
                  <a:gd name="T10" fmla="*/ 0 w 102"/>
                  <a:gd name="T11" fmla="*/ 135 h 144"/>
                  <a:gd name="T12" fmla="*/ 16 w 102"/>
                  <a:gd name="T13" fmla="*/ 131 h 144"/>
                  <a:gd name="T14" fmla="*/ 8 w 102"/>
                  <a:gd name="T15" fmla="*/ 144 h 144"/>
                  <a:gd name="T16" fmla="*/ 0 w 102"/>
                  <a:gd name="T17" fmla="*/ 135 h 144"/>
                  <a:gd name="T18" fmla="*/ 17 w 102"/>
                  <a:gd name="T19" fmla="*/ 124 h 14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2"/>
                  <a:gd name="T31" fmla="*/ 0 h 144"/>
                  <a:gd name="T32" fmla="*/ 102 w 102"/>
                  <a:gd name="T33" fmla="*/ 144 h 14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2" h="144">
                    <a:moveTo>
                      <a:pt x="17" y="124"/>
                    </a:moveTo>
                    <a:lnTo>
                      <a:pt x="0" y="128"/>
                    </a:lnTo>
                    <a:lnTo>
                      <a:pt x="86" y="0"/>
                    </a:lnTo>
                    <a:lnTo>
                      <a:pt x="102" y="3"/>
                    </a:lnTo>
                    <a:lnTo>
                      <a:pt x="16" y="131"/>
                    </a:lnTo>
                    <a:lnTo>
                      <a:pt x="0" y="135"/>
                    </a:lnTo>
                    <a:lnTo>
                      <a:pt x="16" y="131"/>
                    </a:lnTo>
                    <a:lnTo>
                      <a:pt x="8" y="144"/>
                    </a:lnTo>
                    <a:lnTo>
                      <a:pt x="0" y="135"/>
                    </a:lnTo>
                    <a:lnTo>
                      <a:pt x="17" y="12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60" name="Freeform 29"/>
              <p:cNvSpPr>
                <a:spLocks/>
              </p:cNvSpPr>
              <p:nvPr/>
            </p:nvSpPr>
            <p:spPr bwMode="auto">
              <a:xfrm>
                <a:off x="3721" y="3055"/>
                <a:ext cx="89" cy="77"/>
              </a:xfrm>
              <a:custGeom>
                <a:avLst/>
                <a:gdLst>
                  <a:gd name="T0" fmla="*/ 18 w 89"/>
                  <a:gd name="T1" fmla="*/ 15 h 77"/>
                  <a:gd name="T2" fmla="*/ 25 w 89"/>
                  <a:gd name="T3" fmla="*/ 1 h 77"/>
                  <a:gd name="T4" fmla="*/ 89 w 89"/>
                  <a:gd name="T5" fmla="*/ 63 h 77"/>
                  <a:gd name="T6" fmla="*/ 72 w 89"/>
                  <a:gd name="T7" fmla="*/ 77 h 77"/>
                  <a:gd name="T8" fmla="*/ 8 w 89"/>
                  <a:gd name="T9" fmla="*/ 14 h 77"/>
                  <a:gd name="T10" fmla="*/ 15 w 89"/>
                  <a:gd name="T11" fmla="*/ 0 h 77"/>
                  <a:gd name="T12" fmla="*/ 8 w 89"/>
                  <a:gd name="T13" fmla="*/ 14 h 77"/>
                  <a:gd name="T14" fmla="*/ 0 w 89"/>
                  <a:gd name="T15" fmla="*/ 6 h 77"/>
                  <a:gd name="T16" fmla="*/ 15 w 89"/>
                  <a:gd name="T17" fmla="*/ 0 h 77"/>
                  <a:gd name="T18" fmla="*/ 18 w 89"/>
                  <a:gd name="T19" fmla="*/ 15 h 7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9"/>
                  <a:gd name="T31" fmla="*/ 0 h 77"/>
                  <a:gd name="T32" fmla="*/ 89 w 89"/>
                  <a:gd name="T33" fmla="*/ 77 h 7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9" h="77">
                    <a:moveTo>
                      <a:pt x="18" y="15"/>
                    </a:moveTo>
                    <a:lnTo>
                      <a:pt x="25" y="1"/>
                    </a:lnTo>
                    <a:lnTo>
                      <a:pt x="89" y="63"/>
                    </a:lnTo>
                    <a:lnTo>
                      <a:pt x="72" y="77"/>
                    </a:lnTo>
                    <a:lnTo>
                      <a:pt x="8" y="14"/>
                    </a:lnTo>
                    <a:lnTo>
                      <a:pt x="15" y="0"/>
                    </a:lnTo>
                    <a:lnTo>
                      <a:pt x="8" y="14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18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61" name="Freeform 30"/>
              <p:cNvSpPr>
                <a:spLocks/>
              </p:cNvSpPr>
              <p:nvPr/>
            </p:nvSpPr>
            <p:spPr bwMode="auto">
              <a:xfrm>
                <a:off x="3835" y="3013"/>
                <a:ext cx="42" cy="37"/>
              </a:xfrm>
              <a:custGeom>
                <a:avLst/>
                <a:gdLst>
                  <a:gd name="T0" fmla="*/ 0 w 42"/>
                  <a:gd name="T1" fmla="*/ 14 h 37"/>
                  <a:gd name="T2" fmla="*/ 18 w 42"/>
                  <a:gd name="T3" fmla="*/ 0 h 37"/>
                  <a:gd name="T4" fmla="*/ 42 w 42"/>
                  <a:gd name="T5" fmla="*/ 22 h 37"/>
                  <a:gd name="T6" fmla="*/ 24 w 42"/>
                  <a:gd name="T7" fmla="*/ 37 h 37"/>
                  <a:gd name="T8" fmla="*/ 0 w 42"/>
                  <a:gd name="T9" fmla="*/ 14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"/>
                  <a:gd name="T16" fmla="*/ 0 h 37"/>
                  <a:gd name="T17" fmla="*/ 42 w 42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" h="37">
                    <a:moveTo>
                      <a:pt x="0" y="14"/>
                    </a:moveTo>
                    <a:lnTo>
                      <a:pt x="18" y="0"/>
                    </a:lnTo>
                    <a:lnTo>
                      <a:pt x="42" y="22"/>
                    </a:lnTo>
                    <a:lnTo>
                      <a:pt x="24" y="37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62" name="Freeform 31"/>
              <p:cNvSpPr>
                <a:spLocks/>
              </p:cNvSpPr>
              <p:nvPr/>
            </p:nvSpPr>
            <p:spPr bwMode="auto">
              <a:xfrm>
                <a:off x="3645" y="3027"/>
                <a:ext cx="212" cy="159"/>
              </a:xfrm>
              <a:custGeom>
                <a:avLst/>
                <a:gdLst>
                  <a:gd name="T0" fmla="*/ 0 w 212"/>
                  <a:gd name="T1" fmla="*/ 131 h 159"/>
                  <a:gd name="T2" fmla="*/ 0 w 212"/>
                  <a:gd name="T3" fmla="*/ 131 h 159"/>
                  <a:gd name="T4" fmla="*/ 26 w 212"/>
                  <a:gd name="T5" fmla="*/ 116 h 159"/>
                  <a:gd name="T6" fmla="*/ 52 w 212"/>
                  <a:gd name="T7" fmla="*/ 102 h 159"/>
                  <a:gd name="T8" fmla="*/ 76 w 212"/>
                  <a:gd name="T9" fmla="*/ 86 h 159"/>
                  <a:gd name="T10" fmla="*/ 100 w 212"/>
                  <a:gd name="T11" fmla="*/ 70 h 159"/>
                  <a:gd name="T12" fmla="*/ 122 w 212"/>
                  <a:gd name="T13" fmla="*/ 53 h 159"/>
                  <a:gd name="T14" fmla="*/ 145 w 212"/>
                  <a:gd name="T15" fmla="*/ 36 h 159"/>
                  <a:gd name="T16" fmla="*/ 167 w 212"/>
                  <a:gd name="T17" fmla="*/ 19 h 159"/>
                  <a:gd name="T18" fmla="*/ 188 w 212"/>
                  <a:gd name="T19" fmla="*/ 0 h 159"/>
                  <a:gd name="T20" fmla="*/ 212 w 212"/>
                  <a:gd name="T21" fmla="*/ 22 h 159"/>
                  <a:gd name="T22" fmla="*/ 191 w 212"/>
                  <a:gd name="T23" fmla="*/ 41 h 159"/>
                  <a:gd name="T24" fmla="*/ 167 w 212"/>
                  <a:gd name="T25" fmla="*/ 59 h 159"/>
                  <a:gd name="T26" fmla="*/ 143 w 212"/>
                  <a:gd name="T27" fmla="*/ 77 h 159"/>
                  <a:gd name="T28" fmla="*/ 118 w 212"/>
                  <a:gd name="T29" fmla="*/ 94 h 159"/>
                  <a:gd name="T30" fmla="*/ 93 w 212"/>
                  <a:gd name="T31" fmla="*/ 113 h 159"/>
                  <a:gd name="T32" fmla="*/ 68 w 212"/>
                  <a:gd name="T33" fmla="*/ 129 h 159"/>
                  <a:gd name="T34" fmla="*/ 41 w 212"/>
                  <a:gd name="T35" fmla="*/ 144 h 159"/>
                  <a:gd name="T36" fmla="*/ 14 w 212"/>
                  <a:gd name="T37" fmla="*/ 159 h 159"/>
                  <a:gd name="T38" fmla="*/ 0 w 212"/>
                  <a:gd name="T39" fmla="*/ 131 h 15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2"/>
                  <a:gd name="T61" fmla="*/ 0 h 159"/>
                  <a:gd name="T62" fmla="*/ 212 w 212"/>
                  <a:gd name="T63" fmla="*/ 159 h 15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2" h="159">
                    <a:moveTo>
                      <a:pt x="0" y="131"/>
                    </a:moveTo>
                    <a:lnTo>
                      <a:pt x="0" y="131"/>
                    </a:lnTo>
                    <a:lnTo>
                      <a:pt x="26" y="116"/>
                    </a:lnTo>
                    <a:lnTo>
                      <a:pt x="52" y="102"/>
                    </a:lnTo>
                    <a:lnTo>
                      <a:pt x="76" y="86"/>
                    </a:lnTo>
                    <a:lnTo>
                      <a:pt x="100" y="70"/>
                    </a:lnTo>
                    <a:lnTo>
                      <a:pt x="122" y="53"/>
                    </a:lnTo>
                    <a:lnTo>
                      <a:pt x="145" y="36"/>
                    </a:lnTo>
                    <a:lnTo>
                      <a:pt x="167" y="19"/>
                    </a:lnTo>
                    <a:lnTo>
                      <a:pt x="188" y="0"/>
                    </a:lnTo>
                    <a:lnTo>
                      <a:pt x="212" y="22"/>
                    </a:lnTo>
                    <a:lnTo>
                      <a:pt x="191" y="41"/>
                    </a:lnTo>
                    <a:lnTo>
                      <a:pt x="167" y="59"/>
                    </a:lnTo>
                    <a:lnTo>
                      <a:pt x="143" y="77"/>
                    </a:lnTo>
                    <a:lnTo>
                      <a:pt x="118" y="94"/>
                    </a:lnTo>
                    <a:lnTo>
                      <a:pt x="93" y="113"/>
                    </a:lnTo>
                    <a:lnTo>
                      <a:pt x="68" y="129"/>
                    </a:lnTo>
                    <a:lnTo>
                      <a:pt x="41" y="144"/>
                    </a:lnTo>
                    <a:lnTo>
                      <a:pt x="14" y="159"/>
                    </a:lnTo>
                    <a:lnTo>
                      <a:pt x="0" y="1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63" name="Freeform 32"/>
              <p:cNvSpPr>
                <a:spLocks/>
              </p:cNvSpPr>
              <p:nvPr/>
            </p:nvSpPr>
            <p:spPr bwMode="auto">
              <a:xfrm>
                <a:off x="3459" y="3156"/>
                <a:ext cx="196" cy="111"/>
              </a:xfrm>
              <a:custGeom>
                <a:avLst/>
                <a:gdLst>
                  <a:gd name="T0" fmla="*/ 0 w 196"/>
                  <a:gd name="T1" fmla="*/ 77 h 111"/>
                  <a:gd name="T2" fmla="*/ 23 w 196"/>
                  <a:gd name="T3" fmla="*/ 69 h 111"/>
                  <a:gd name="T4" fmla="*/ 47 w 196"/>
                  <a:gd name="T5" fmla="*/ 61 h 111"/>
                  <a:gd name="T6" fmla="*/ 70 w 196"/>
                  <a:gd name="T7" fmla="*/ 53 h 111"/>
                  <a:gd name="T8" fmla="*/ 92 w 196"/>
                  <a:gd name="T9" fmla="*/ 42 h 111"/>
                  <a:gd name="T10" fmla="*/ 115 w 196"/>
                  <a:gd name="T11" fmla="*/ 33 h 111"/>
                  <a:gd name="T12" fmla="*/ 137 w 196"/>
                  <a:gd name="T13" fmla="*/ 22 h 111"/>
                  <a:gd name="T14" fmla="*/ 160 w 196"/>
                  <a:gd name="T15" fmla="*/ 10 h 111"/>
                  <a:gd name="T16" fmla="*/ 183 w 196"/>
                  <a:gd name="T17" fmla="*/ 0 h 111"/>
                  <a:gd name="T18" fmla="*/ 196 w 196"/>
                  <a:gd name="T19" fmla="*/ 28 h 111"/>
                  <a:gd name="T20" fmla="*/ 172 w 196"/>
                  <a:gd name="T21" fmla="*/ 40 h 111"/>
                  <a:gd name="T22" fmla="*/ 149 w 196"/>
                  <a:gd name="T23" fmla="*/ 53 h 111"/>
                  <a:gd name="T24" fmla="*/ 123 w 196"/>
                  <a:gd name="T25" fmla="*/ 64 h 111"/>
                  <a:gd name="T26" fmla="*/ 100 w 196"/>
                  <a:gd name="T27" fmla="*/ 74 h 111"/>
                  <a:gd name="T28" fmla="*/ 75 w 196"/>
                  <a:gd name="T29" fmla="*/ 85 h 111"/>
                  <a:gd name="T30" fmla="*/ 51 w 196"/>
                  <a:gd name="T31" fmla="*/ 94 h 111"/>
                  <a:gd name="T32" fmla="*/ 26 w 196"/>
                  <a:gd name="T33" fmla="*/ 102 h 111"/>
                  <a:gd name="T34" fmla="*/ 2 w 196"/>
                  <a:gd name="T35" fmla="*/ 111 h 111"/>
                  <a:gd name="T36" fmla="*/ 0 w 196"/>
                  <a:gd name="T37" fmla="*/ 77 h 11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6"/>
                  <a:gd name="T58" fmla="*/ 0 h 111"/>
                  <a:gd name="T59" fmla="*/ 196 w 196"/>
                  <a:gd name="T60" fmla="*/ 111 h 11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6" h="111">
                    <a:moveTo>
                      <a:pt x="0" y="77"/>
                    </a:moveTo>
                    <a:lnTo>
                      <a:pt x="23" y="69"/>
                    </a:lnTo>
                    <a:lnTo>
                      <a:pt x="47" y="61"/>
                    </a:lnTo>
                    <a:lnTo>
                      <a:pt x="70" y="53"/>
                    </a:lnTo>
                    <a:lnTo>
                      <a:pt x="92" y="42"/>
                    </a:lnTo>
                    <a:lnTo>
                      <a:pt x="115" y="33"/>
                    </a:lnTo>
                    <a:lnTo>
                      <a:pt x="137" y="22"/>
                    </a:lnTo>
                    <a:lnTo>
                      <a:pt x="160" y="10"/>
                    </a:lnTo>
                    <a:lnTo>
                      <a:pt x="183" y="0"/>
                    </a:lnTo>
                    <a:lnTo>
                      <a:pt x="196" y="28"/>
                    </a:lnTo>
                    <a:lnTo>
                      <a:pt x="172" y="40"/>
                    </a:lnTo>
                    <a:lnTo>
                      <a:pt x="149" y="53"/>
                    </a:lnTo>
                    <a:lnTo>
                      <a:pt x="123" y="64"/>
                    </a:lnTo>
                    <a:lnTo>
                      <a:pt x="100" y="74"/>
                    </a:lnTo>
                    <a:lnTo>
                      <a:pt x="75" y="85"/>
                    </a:lnTo>
                    <a:lnTo>
                      <a:pt x="51" y="94"/>
                    </a:lnTo>
                    <a:lnTo>
                      <a:pt x="26" y="102"/>
                    </a:lnTo>
                    <a:lnTo>
                      <a:pt x="2" y="111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64" name="Freeform 33"/>
              <p:cNvSpPr>
                <a:spLocks/>
              </p:cNvSpPr>
              <p:nvPr/>
            </p:nvSpPr>
            <p:spPr bwMode="auto">
              <a:xfrm>
                <a:off x="3437" y="3233"/>
                <a:ext cx="22" cy="40"/>
              </a:xfrm>
              <a:custGeom>
                <a:avLst/>
                <a:gdLst>
                  <a:gd name="T0" fmla="*/ 22 w 22"/>
                  <a:gd name="T1" fmla="*/ 34 h 40"/>
                  <a:gd name="T2" fmla="*/ 2 w 22"/>
                  <a:gd name="T3" fmla="*/ 40 h 40"/>
                  <a:gd name="T4" fmla="*/ 0 w 22"/>
                  <a:gd name="T5" fmla="*/ 6 h 40"/>
                  <a:gd name="T6" fmla="*/ 20 w 22"/>
                  <a:gd name="T7" fmla="*/ 0 h 40"/>
                  <a:gd name="T8" fmla="*/ 22 w 22"/>
                  <a:gd name="T9" fmla="*/ 34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40"/>
                  <a:gd name="T17" fmla="*/ 22 w 22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40">
                    <a:moveTo>
                      <a:pt x="22" y="34"/>
                    </a:moveTo>
                    <a:lnTo>
                      <a:pt x="2" y="40"/>
                    </a:lnTo>
                    <a:lnTo>
                      <a:pt x="0" y="6"/>
                    </a:lnTo>
                    <a:lnTo>
                      <a:pt x="20" y="0"/>
                    </a:lnTo>
                    <a:lnTo>
                      <a:pt x="22" y="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65" name="Freeform 34"/>
              <p:cNvSpPr>
                <a:spLocks/>
              </p:cNvSpPr>
              <p:nvPr/>
            </p:nvSpPr>
            <p:spPr bwMode="auto">
              <a:xfrm>
                <a:off x="3738" y="3001"/>
                <a:ext cx="152" cy="128"/>
              </a:xfrm>
              <a:custGeom>
                <a:avLst/>
                <a:gdLst>
                  <a:gd name="T0" fmla="*/ 0 w 152"/>
                  <a:gd name="T1" fmla="*/ 63 h 128"/>
                  <a:gd name="T2" fmla="*/ 152 w 152"/>
                  <a:gd name="T3" fmla="*/ 0 h 128"/>
                  <a:gd name="T4" fmla="*/ 66 w 152"/>
                  <a:gd name="T5" fmla="*/ 128 h 128"/>
                  <a:gd name="T6" fmla="*/ 0 w 152"/>
                  <a:gd name="T7" fmla="*/ 63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2"/>
                  <a:gd name="T13" fmla="*/ 0 h 128"/>
                  <a:gd name="T14" fmla="*/ 152 w 152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2" h="128">
                    <a:moveTo>
                      <a:pt x="0" y="63"/>
                    </a:moveTo>
                    <a:lnTo>
                      <a:pt x="152" y="0"/>
                    </a:lnTo>
                    <a:lnTo>
                      <a:pt x="66" y="128"/>
                    </a:lnTo>
                    <a:lnTo>
                      <a:pt x="0" y="63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66" name="Freeform 35"/>
              <p:cNvSpPr>
                <a:spLocks/>
              </p:cNvSpPr>
              <p:nvPr/>
            </p:nvSpPr>
            <p:spPr bwMode="auto">
              <a:xfrm>
                <a:off x="3735" y="2992"/>
                <a:ext cx="166" cy="79"/>
              </a:xfrm>
              <a:custGeom>
                <a:avLst/>
                <a:gdLst>
                  <a:gd name="T0" fmla="*/ 149 w 166"/>
                  <a:gd name="T1" fmla="*/ 9 h 79"/>
                  <a:gd name="T2" fmla="*/ 155 w 166"/>
                  <a:gd name="T3" fmla="*/ 14 h 79"/>
                  <a:gd name="T4" fmla="*/ 2 w 166"/>
                  <a:gd name="T5" fmla="*/ 79 h 79"/>
                  <a:gd name="T6" fmla="*/ 0 w 166"/>
                  <a:gd name="T7" fmla="*/ 72 h 79"/>
                  <a:gd name="T8" fmla="*/ 152 w 166"/>
                  <a:gd name="T9" fmla="*/ 7 h 79"/>
                  <a:gd name="T10" fmla="*/ 157 w 166"/>
                  <a:gd name="T11" fmla="*/ 12 h 79"/>
                  <a:gd name="T12" fmla="*/ 152 w 166"/>
                  <a:gd name="T13" fmla="*/ 7 h 79"/>
                  <a:gd name="T14" fmla="*/ 166 w 166"/>
                  <a:gd name="T15" fmla="*/ 0 h 79"/>
                  <a:gd name="T16" fmla="*/ 157 w 166"/>
                  <a:gd name="T17" fmla="*/ 12 h 79"/>
                  <a:gd name="T18" fmla="*/ 149 w 166"/>
                  <a:gd name="T19" fmla="*/ 9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6"/>
                  <a:gd name="T31" fmla="*/ 0 h 79"/>
                  <a:gd name="T32" fmla="*/ 166 w 166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6" h="79">
                    <a:moveTo>
                      <a:pt x="149" y="9"/>
                    </a:moveTo>
                    <a:lnTo>
                      <a:pt x="155" y="14"/>
                    </a:lnTo>
                    <a:lnTo>
                      <a:pt x="2" y="79"/>
                    </a:lnTo>
                    <a:lnTo>
                      <a:pt x="0" y="72"/>
                    </a:lnTo>
                    <a:lnTo>
                      <a:pt x="152" y="7"/>
                    </a:lnTo>
                    <a:lnTo>
                      <a:pt x="157" y="12"/>
                    </a:lnTo>
                    <a:lnTo>
                      <a:pt x="152" y="7"/>
                    </a:lnTo>
                    <a:lnTo>
                      <a:pt x="166" y="0"/>
                    </a:lnTo>
                    <a:lnTo>
                      <a:pt x="157" y="12"/>
                    </a:lnTo>
                    <a:lnTo>
                      <a:pt x="149" y="9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67" name="Freeform 36"/>
              <p:cNvSpPr>
                <a:spLocks/>
              </p:cNvSpPr>
              <p:nvPr/>
            </p:nvSpPr>
            <p:spPr bwMode="auto">
              <a:xfrm>
                <a:off x="3799" y="2996"/>
                <a:ext cx="95" cy="139"/>
              </a:xfrm>
              <a:custGeom>
                <a:avLst/>
                <a:gdLst>
                  <a:gd name="T0" fmla="*/ 10 w 95"/>
                  <a:gd name="T1" fmla="*/ 127 h 139"/>
                  <a:gd name="T2" fmla="*/ 0 w 95"/>
                  <a:gd name="T3" fmla="*/ 130 h 139"/>
                  <a:gd name="T4" fmla="*/ 87 w 95"/>
                  <a:gd name="T5" fmla="*/ 0 h 139"/>
                  <a:gd name="T6" fmla="*/ 95 w 95"/>
                  <a:gd name="T7" fmla="*/ 4 h 139"/>
                  <a:gd name="T8" fmla="*/ 9 w 95"/>
                  <a:gd name="T9" fmla="*/ 132 h 139"/>
                  <a:gd name="T10" fmla="*/ 0 w 95"/>
                  <a:gd name="T11" fmla="*/ 135 h 139"/>
                  <a:gd name="T12" fmla="*/ 9 w 95"/>
                  <a:gd name="T13" fmla="*/ 132 h 139"/>
                  <a:gd name="T14" fmla="*/ 5 w 95"/>
                  <a:gd name="T15" fmla="*/ 139 h 139"/>
                  <a:gd name="T16" fmla="*/ 0 w 95"/>
                  <a:gd name="T17" fmla="*/ 135 h 139"/>
                  <a:gd name="T18" fmla="*/ 10 w 95"/>
                  <a:gd name="T19" fmla="*/ 127 h 13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5"/>
                  <a:gd name="T31" fmla="*/ 0 h 139"/>
                  <a:gd name="T32" fmla="*/ 95 w 95"/>
                  <a:gd name="T33" fmla="*/ 139 h 13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5" h="139">
                    <a:moveTo>
                      <a:pt x="10" y="127"/>
                    </a:moveTo>
                    <a:lnTo>
                      <a:pt x="0" y="130"/>
                    </a:lnTo>
                    <a:lnTo>
                      <a:pt x="87" y="0"/>
                    </a:lnTo>
                    <a:lnTo>
                      <a:pt x="95" y="4"/>
                    </a:lnTo>
                    <a:lnTo>
                      <a:pt x="9" y="132"/>
                    </a:lnTo>
                    <a:lnTo>
                      <a:pt x="0" y="135"/>
                    </a:lnTo>
                    <a:lnTo>
                      <a:pt x="9" y="132"/>
                    </a:lnTo>
                    <a:lnTo>
                      <a:pt x="5" y="139"/>
                    </a:lnTo>
                    <a:lnTo>
                      <a:pt x="0" y="135"/>
                    </a:lnTo>
                    <a:lnTo>
                      <a:pt x="10" y="127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68" name="Freeform 37"/>
              <p:cNvSpPr>
                <a:spLocks/>
              </p:cNvSpPr>
              <p:nvPr/>
            </p:nvSpPr>
            <p:spPr bwMode="auto">
              <a:xfrm>
                <a:off x="3726" y="3062"/>
                <a:ext cx="79" cy="71"/>
              </a:xfrm>
              <a:custGeom>
                <a:avLst/>
                <a:gdLst>
                  <a:gd name="T0" fmla="*/ 11 w 79"/>
                  <a:gd name="T1" fmla="*/ 7 h 71"/>
                  <a:gd name="T2" fmla="*/ 14 w 79"/>
                  <a:gd name="T3" fmla="*/ 0 h 71"/>
                  <a:gd name="T4" fmla="*/ 79 w 79"/>
                  <a:gd name="T5" fmla="*/ 65 h 71"/>
                  <a:gd name="T6" fmla="*/ 70 w 79"/>
                  <a:gd name="T7" fmla="*/ 71 h 71"/>
                  <a:gd name="T8" fmla="*/ 4 w 79"/>
                  <a:gd name="T9" fmla="*/ 7 h 71"/>
                  <a:gd name="T10" fmla="*/ 8 w 79"/>
                  <a:gd name="T11" fmla="*/ 0 h 71"/>
                  <a:gd name="T12" fmla="*/ 4 w 79"/>
                  <a:gd name="T13" fmla="*/ 7 h 71"/>
                  <a:gd name="T14" fmla="*/ 0 w 79"/>
                  <a:gd name="T15" fmla="*/ 3 h 71"/>
                  <a:gd name="T16" fmla="*/ 8 w 79"/>
                  <a:gd name="T17" fmla="*/ 0 h 71"/>
                  <a:gd name="T18" fmla="*/ 11 w 79"/>
                  <a:gd name="T19" fmla="*/ 7 h 7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9"/>
                  <a:gd name="T31" fmla="*/ 0 h 71"/>
                  <a:gd name="T32" fmla="*/ 79 w 79"/>
                  <a:gd name="T33" fmla="*/ 71 h 7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9" h="71">
                    <a:moveTo>
                      <a:pt x="11" y="7"/>
                    </a:moveTo>
                    <a:lnTo>
                      <a:pt x="14" y="0"/>
                    </a:lnTo>
                    <a:lnTo>
                      <a:pt x="79" y="65"/>
                    </a:lnTo>
                    <a:lnTo>
                      <a:pt x="70" y="71"/>
                    </a:lnTo>
                    <a:lnTo>
                      <a:pt x="4" y="7"/>
                    </a:lnTo>
                    <a:lnTo>
                      <a:pt x="8" y="0"/>
                    </a:lnTo>
                    <a:lnTo>
                      <a:pt x="4" y="7"/>
                    </a:lnTo>
                    <a:lnTo>
                      <a:pt x="0" y="3"/>
                    </a:lnTo>
                    <a:lnTo>
                      <a:pt x="8" y="0"/>
                    </a:lnTo>
                    <a:lnTo>
                      <a:pt x="11" y="7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69" name="Freeform 38"/>
              <p:cNvSpPr>
                <a:spLocks/>
              </p:cNvSpPr>
              <p:nvPr/>
            </p:nvSpPr>
            <p:spPr bwMode="auto">
              <a:xfrm>
                <a:off x="3838" y="3018"/>
                <a:ext cx="35" cy="31"/>
              </a:xfrm>
              <a:custGeom>
                <a:avLst/>
                <a:gdLst>
                  <a:gd name="T0" fmla="*/ 0 w 35"/>
                  <a:gd name="T1" fmla="*/ 12 h 31"/>
                  <a:gd name="T2" fmla="*/ 13 w 35"/>
                  <a:gd name="T3" fmla="*/ 0 h 31"/>
                  <a:gd name="T4" fmla="*/ 35 w 35"/>
                  <a:gd name="T5" fmla="*/ 18 h 31"/>
                  <a:gd name="T6" fmla="*/ 20 w 35"/>
                  <a:gd name="T7" fmla="*/ 31 h 31"/>
                  <a:gd name="T8" fmla="*/ 0 w 35"/>
                  <a:gd name="T9" fmla="*/ 12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31"/>
                  <a:gd name="T17" fmla="*/ 35 w 35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31">
                    <a:moveTo>
                      <a:pt x="0" y="12"/>
                    </a:moveTo>
                    <a:lnTo>
                      <a:pt x="13" y="0"/>
                    </a:lnTo>
                    <a:lnTo>
                      <a:pt x="35" y="18"/>
                    </a:lnTo>
                    <a:lnTo>
                      <a:pt x="20" y="31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70" name="Freeform 39"/>
              <p:cNvSpPr>
                <a:spLocks/>
              </p:cNvSpPr>
              <p:nvPr/>
            </p:nvSpPr>
            <p:spPr bwMode="auto">
              <a:xfrm>
                <a:off x="3646" y="3030"/>
                <a:ext cx="209" cy="153"/>
              </a:xfrm>
              <a:custGeom>
                <a:avLst/>
                <a:gdLst>
                  <a:gd name="T0" fmla="*/ 0 w 209"/>
                  <a:gd name="T1" fmla="*/ 130 h 153"/>
                  <a:gd name="T2" fmla="*/ 0 w 209"/>
                  <a:gd name="T3" fmla="*/ 130 h 153"/>
                  <a:gd name="T4" fmla="*/ 26 w 209"/>
                  <a:gd name="T5" fmla="*/ 115 h 153"/>
                  <a:gd name="T6" fmla="*/ 52 w 209"/>
                  <a:gd name="T7" fmla="*/ 101 h 153"/>
                  <a:gd name="T8" fmla="*/ 76 w 209"/>
                  <a:gd name="T9" fmla="*/ 85 h 153"/>
                  <a:gd name="T10" fmla="*/ 100 w 209"/>
                  <a:gd name="T11" fmla="*/ 69 h 153"/>
                  <a:gd name="T12" fmla="*/ 124 w 209"/>
                  <a:gd name="T13" fmla="*/ 52 h 153"/>
                  <a:gd name="T14" fmla="*/ 147 w 209"/>
                  <a:gd name="T15" fmla="*/ 36 h 153"/>
                  <a:gd name="T16" fmla="*/ 168 w 209"/>
                  <a:gd name="T17" fmla="*/ 18 h 153"/>
                  <a:gd name="T18" fmla="*/ 190 w 209"/>
                  <a:gd name="T19" fmla="*/ 0 h 153"/>
                  <a:gd name="T20" fmla="*/ 209 w 209"/>
                  <a:gd name="T21" fmla="*/ 17 h 153"/>
                  <a:gd name="T22" fmla="*/ 187 w 209"/>
                  <a:gd name="T23" fmla="*/ 36 h 153"/>
                  <a:gd name="T24" fmla="*/ 164 w 209"/>
                  <a:gd name="T25" fmla="*/ 55 h 153"/>
                  <a:gd name="T26" fmla="*/ 140 w 209"/>
                  <a:gd name="T27" fmla="*/ 72 h 153"/>
                  <a:gd name="T28" fmla="*/ 116 w 209"/>
                  <a:gd name="T29" fmla="*/ 89 h 153"/>
                  <a:gd name="T30" fmla="*/ 91 w 209"/>
                  <a:gd name="T31" fmla="*/ 106 h 153"/>
                  <a:gd name="T32" fmla="*/ 65 w 209"/>
                  <a:gd name="T33" fmla="*/ 122 h 153"/>
                  <a:gd name="T34" fmla="*/ 39 w 209"/>
                  <a:gd name="T35" fmla="*/ 138 h 153"/>
                  <a:gd name="T36" fmla="*/ 12 w 209"/>
                  <a:gd name="T37" fmla="*/ 153 h 153"/>
                  <a:gd name="T38" fmla="*/ 0 w 209"/>
                  <a:gd name="T39" fmla="*/ 130 h 1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9"/>
                  <a:gd name="T61" fmla="*/ 0 h 153"/>
                  <a:gd name="T62" fmla="*/ 209 w 209"/>
                  <a:gd name="T63" fmla="*/ 153 h 1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9" h="153">
                    <a:moveTo>
                      <a:pt x="0" y="130"/>
                    </a:moveTo>
                    <a:lnTo>
                      <a:pt x="0" y="130"/>
                    </a:lnTo>
                    <a:lnTo>
                      <a:pt x="26" y="115"/>
                    </a:lnTo>
                    <a:lnTo>
                      <a:pt x="52" y="101"/>
                    </a:lnTo>
                    <a:lnTo>
                      <a:pt x="76" y="85"/>
                    </a:lnTo>
                    <a:lnTo>
                      <a:pt x="100" y="69"/>
                    </a:lnTo>
                    <a:lnTo>
                      <a:pt x="124" y="52"/>
                    </a:lnTo>
                    <a:lnTo>
                      <a:pt x="147" y="36"/>
                    </a:lnTo>
                    <a:lnTo>
                      <a:pt x="168" y="18"/>
                    </a:lnTo>
                    <a:lnTo>
                      <a:pt x="190" y="0"/>
                    </a:lnTo>
                    <a:lnTo>
                      <a:pt x="209" y="17"/>
                    </a:lnTo>
                    <a:lnTo>
                      <a:pt x="187" y="36"/>
                    </a:lnTo>
                    <a:lnTo>
                      <a:pt x="164" y="55"/>
                    </a:lnTo>
                    <a:lnTo>
                      <a:pt x="140" y="72"/>
                    </a:lnTo>
                    <a:lnTo>
                      <a:pt x="116" y="89"/>
                    </a:lnTo>
                    <a:lnTo>
                      <a:pt x="91" y="106"/>
                    </a:lnTo>
                    <a:lnTo>
                      <a:pt x="65" y="122"/>
                    </a:lnTo>
                    <a:lnTo>
                      <a:pt x="39" y="138"/>
                    </a:lnTo>
                    <a:lnTo>
                      <a:pt x="12" y="153"/>
                    </a:lnTo>
                    <a:lnTo>
                      <a:pt x="0" y="130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71" name="Freeform 40"/>
              <p:cNvSpPr>
                <a:spLocks/>
              </p:cNvSpPr>
              <p:nvPr/>
            </p:nvSpPr>
            <p:spPr bwMode="auto">
              <a:xfrm>
                <a:off x="3458" y="3159"/>
                <a:ext cx="195" cy="106"/>
              </a:xfrm>
              <a:custGeom>
                <a:avLst/>
                <a:gdLst>
                  <a:gd name="T0" fmla="*/ 0 w 195"/>
                  <a:gd name="T1" fmla="*/ 78 h 106"/>
                  <a:gd name="T2" fmla="*/ 23 w 195"/>
                  <a:gd name="T3" fmla="*/ 69 h 106"/>
                  <a:gd name="T4" fmla="*/ 47 w 195"/>
                  <a:gd name="T5" fmla="*/ 62 h 106"/>
                  <a:gd name="T6" fmla="*/ 70 w 195"/>
                  <a:gd name="T7" fmla="*/ 52 h 106"/>
                  <a:gd name="T8" fmla="*/ 93 w 195"/>
                  <a:gd name="T9" fmla="*/ 44 h 106"/>
                  <a:gd name="T10" fmla="*/ 116 w 195"/>
                  <a:gd name="T11" fmla="*/ 34 h 106"/>
                  <a:gd name="T12" fmla="*/ 138 w 195"/>
                  <a:gd name="T13" fmla="*/ 23 h 106"/>
                  <a:gd name="T14" fmla="*/ 161 w 195"/>
                  <a:gd name="T15" fmla="*/ 13 h 106"/>
                  <a:gd name="T16" fmla="*/ 183 w 195"/>
                  <a:gd name="T17" fmla="*/ 0 h 106"/>
                  <a:gd name="T18" fmla="*/ 195 w 195"/>
                  <a:gd name="T19" fmla="*/ 24 h 106"/>
                  <a:gd name="T20" fmla="*/ 171 w 195"/>
                  <a:gd name="T21" fmla="*/ 37 h 106"/>
                  <a:gd name="T22" fmla="*/ 148 w 195"/>
                  <a:gd name="T23" fmla="*/ 48 h 106"/>
                  <a:gd name="T24" fmla="*/ 122 w 195"/>
                  <a:gd name="T25" fmla="*/ 60 h 106"/>
                  <a:gd name="T26" fmla="*/ 99 w 195"/>
                  <a:gd name="T27" fmla="*/ 69 h 106"/>
                  <a:gd name="T28" fmla="*/ 75 w 195"/>
                  <a:gd name="T29" fmla="*/ 80 h 106"/>
                  <a:gd name="T30" fmla="*/ 52 w 195"/>
                  <a:gd name="T31" fmla="*/ 89 h 106"/>
                  <a:gd name="T32" fmla="*/ 26 w 195"/>
                  <a:gd name="T33" fmla="*/ 97 h 106"/>
                  <a:gd name="T34" fmla="*/ 3 w 195"/>
                  <a:gd name="T35" fmla="*/ 106 h 106"/>
                  <a:gd name="T36" fmla="*/ 0 w 195"/>
                  <a:gd name="T37" fmla="*/ 78 h 1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5"/>
                  <a:gd name="T58" fmla="*/ 0 h 106"/>
                  <a:gd name="T59" fmla="*/ 195 w 195"/>
                  <a:gd name="T60" fmla="*/ 106 h 1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5" h="106">
                    <a:moveTo>
                      <a:pt x="0" y="78"/>
                    </a:moveTo>
                    <a:lnTo>
                      <a:pt x="23" y="69"/>
                    </a:lnTo>
                    <a:lnTo>
                      <a:pt x="47" y="62"/>
                    </a:lnTo>
                    <a:lnTo>
                      <a:pt x="70" y="52"/>
                    </a:lnTo>
                    <a:lnTo>
                      <a:pt x="93" y="44"/>
                    </a:lnTo>
                    <a:lnTo>
                      <a:pt x="116" y="34"/>
                    </a:lnTo>
                    <a:lnTo>
                      <a:pt x="138" y="23"/>
                    </a:lnTo>
                    <a:lnTo>
                      <a:pt x="161" y="13"/>
                    </a:lnTo>
                    <a:lnTo>
                      <a:pt x="183" y="0"/>
                    </a:lnTo>
                    <a:lnTo>
                      <a:pt x="195" y="24"/>
                    </a:lnTo>
                    <a:lnTo>
                      <a:pt x="171" y="37"/>
                    </a:lnTo>
                    <a:lnTo>
                      <a:pt x="148" y="48"/>
                    </a:lnTo>
                    <a:lnTo>
                      <a:pt x="122" y="60"/>
                    </a:lnTo>
                    <a:lnTo>
                      <a:pt x="99" y="69"/>
                    </a:lnTo>
                    <a:lnTo>
                      <a:pt x="75" y="80"/>
                    </a:lnTo>
                    <a:lnTo>
                      <a:pt x="52" y="89"/>
                    </a:lnTo>
                    <a:lnTo>
                      <a:pt x="26" y="97"/>
                    </a:lnTo>
                    <a:lnTo>
                      <a:pt x="3" y="106"/>
                    </a:lnTo>
                    <a:lnTo>
                      <a:pt x="0" y="78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72" name="Freeform 41"/>
              <p:cNvSpPr>
                <a:spLocks/>
              </p:cNvSpPr>
              <p:nvPr/>
            </p:nvSpPr>
            <p:spPr bwMode="auto">
              <a:xfrm>
                <a:off x="3439" y="3235"/>
                <a:ext cx="20" cy="34"/>
              </a:xfrm>
              <a:custGeom>
                <a:avLst/>
                <a:gdLst>
                  <a:gd name="T0" fmla="*/ 20 w 20"/>
                  <a:gd name="T1" fmla="*/ 29 h 34"/>
                  <a:gd name="T2" fmla="*/ 2 w 20"/>
                  <a:gd name="T3" fmla="*/ 34 h 34"/>
                  <a:gd name="T4" fmla="*/ 0 w 20"/>
                  <a:gd name="T5" fmla="*/ 5 h 34"/>
                  <a:gd name="T6" fmla="*/ 18 w 20"/>
                  <a:gd name="T7" fmla="*/ 0 h 34"/>
                  <a:gd name="T8" fmla="*/ 20 w 20"/>
                  <a:gd name="T9" fmla="*/ 29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34"/>
                  <a:gd name="T17" fmla="*/ 20 w 2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34">
                    <a:moveTo>
                      <a:pt x="20" y="29"/>
                    </a:moveTo>
                    <a:lnTo>
                      <a:pt x="2" y="34"/>
                    </a:lnTo>
                    <a:lnTo>
                      <a:pt x="0" y="5"/>
                    </a:lnTo>
                    <a:lnTo>
                      <a:pt x="18" y="0"/>
                    </a:lnTo>
                    <a:lnTo>
                      <a:pt x="20" y="29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73" name="Freeform 42"/>
              <p:cNvSpPr>
                <a:spLocks/>
              </p:cNvSpPr>
              <p:nvPr/>
            </p:nvSpPr>
            <p:spPr bwMode="auto">
              <a:xfrm>
                <a:off x="3766" y="2973"/>
                <a:ext cx="151" cy="129"/>
              </a:xfrm>
              <a:custGeom>
                <a:avLst/>
                <a:gdLst>
                  <a:gd name="T0" fmla="*/ 0 w 151"/>
                  <a:gd name="T1" fmla="*/ 69 h 129"/>
                  <a:gd name="T2" fmla="*/ 151 w 151"/>
                  <a:gd name="T3" fmla="*/ 0 h 129"/>
                  <a:gd name="T4" fmla="*/ 72 w 151"/>
                  <a:gd name="T5" fmla="*/ 129 h 129"/>
                  <a:gd name="T6" fmla="*/ 0 w 151"/>
                  <a:gd name="T7" fmla="*/ 69 h 1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1"/>
                  <a:gd name="T13" fmla="*/ 0 h 129"/>
                  <a:gd name="T14" fmla="*/ 151 w 151"/>
                  <a:gd name="T15" fmla="*/ 129 h 1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1" h="129">
                    <a:moveTo>
                      <a:pt x="0" y="69"/>
                    </a:moveTo>
                    <a:lnTo>
                      <a:pt x="151" y="0"/>
                    </a:lnTo>
                    <a:lnTo>
                      <a:pt x="72" y="129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74" name="Freeform 43"/>
              <p:cNvSpPr>
                <a:spLocks/>
              </p:cNvSpPr>
              <p:nvPr/>
            </p:nvSpPr>
            <p:spPr bwMode="auto">
              <a:xfrm>
                <a:off x="3764" y="2956"/>
                <a:ext cx="174" cy="96"/>
              </a:xfrm>
              <a:custGeom>
                <a:avLst/>
                <a:gdLst>
                  <a:gd name="T0" fmla="*/ 146 w 174"/>
                  <a:gd name="T1" fmla="*/ 16 h 96"/>
                  <a:gd name="T2" fmla="*/ 156 w 174"/>
                  <a:gd name="T3" fmla="*/ 27 h 96"/>
                  <a:gd name="T4" fmla="*/ 5 w 174"/>
                  <a:gd name="T5" fmla="*/ 96 h 96"/>
                  <a:gd name="T6" fmla="*/ 0 w 174"/>
                  <a:gd name="T7" fmla="*/ 83 h 96"/>
                  <a:gd name="T8" fmla="*/ 151 w 174"/>
                  <a:gd name="T9" fmla="*/ 11 h 96"/>
                  <a:gd name="T10" fmla="*/ 161 w 174"/>
                  <a:gd name="T11" fmla="*/ 20 h 96"/>
                  <a:gd name="T12" fmla="*/ 151 w 174"/>
                  <a:gd name="T13" fmla="*/ 11 h 96"/>
                  <a:gd name="T14" fmla="*/ 174 w 174"/>
                  <a:gd name="T15" fmla="*/ 0 h 96"/>
                  <a:gd name="T16" fmla="*/ 161 w 174"/>
                  <a:gd name="T17" fmla="*/ 20 h 96"/>
                  <a:gd name="T18" fmla="*/ 146 w 174"/>
                  <a:gd name="T19" fmla="*/ 16 h 9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4"/>
                  <a:gd name="T31" fmla="*/ 0 h 96"/>
                  <a:gd name="T32" fmla="*/ 174 w 174"/>
                  <a:gd name="T33" fmla="*/ 96 h 9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4" h="96">
                    <a:moveTo>
                      <a:pt x="146" y="16"/>
                    </a:moveTo>
                    <a:lnTo>
                      <a:pt x="156" y="27"/>
                    </a:lnTo>
                    <a:lnTo>
                      <a:pt x="5" y="96"/>
                    </a:lnTo>
                    <a:lnTo>
                      <a:pt x="0" y="83"/>
                    </a:lnTo>
                    <a:lnTo>
                      <a:pt x="151" y="11"/>
                    </a:lnTo>
                    <a:lnTo>
                      <a:pt x="161" y="20"/>
                    </a:lnTo>
                    <a:lnTo>
                      <a:pt x="151" y="11"/>
                    </a:lnTo>
                    <a:lnTo>
                      <a:pt x="174" y="0"/>
                    </a:lnTo>
                    <a:lnTo>
                      <a:pt x="161" y="20"/>
                    </a:lnTo>
                    <a:lnTo>
                      <a:pt x="146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75" name="Freeform 44"/>
              <p:cNvSpPr>
                <a:spLocks/>
              </p:cNvSpPr>
              <p:nvPr/>
            </p:nvSpPr>
            <p:spPr bwMode="auto">
              <a:xfrm>
                <a:off x="3831" y="2971"/>
                <a:ext cx="94" cy="146"/>
              </a:xfrm>
              <a:custGeom>
                <a:avLst/>
                <a:gdLst>
                  <a:gd name="T0" fmla="*/ 16 w 94"/>
                  <a:gd name="T1" fmla="*/ 126 h 146"/>
                  <a:gd name="T2" fmla="*/ 0 w 94"/>
                  <a:gd name="T3" fmla="*/ 130 h 146"/>
                  <a:gd name="T4" fmla="*/ 78 w 94"/>
                  <a:gd name="T5" fmla="*/ 0 h 146"/>
                  <a:gd name="T6" fmla="*/ 94 w 94"/>
                  <a:gd name="T7" fmla="*/ 4 h 146"/>
                  <a:gd name="T8" fmla="*/ 16 w 94"/>
                  <a:gd name="T9" fmla="*/ 133 h 146"/>
                  <a:gd name="T10" fmla="*/ 0 w 94"/>
                  <a:gd name="T11" fmla="*/ 140 h 146"/>
                  <a:gd name="T12" fmla="*/ 16 w 94"/>
                  <a:gd name="T13" fmla="*/ 133 h 146"/>
                  <a:gd name="T14" fmla="*/ 9 w 94"/>
                  <a:gd name="T15" fmla="*/ 146 h 146"/>
                  <a:gd name="T16" fmla="*/ 0 w 94"/>
                  <a:gd name="T17" fmla="*/ 140 h 146"/>
                  <a:gd name="T18" fmla="*/ 16 w 94"/>
                  <a:gd name="T19" fmla="*/ 126 h 14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4"/>
                  <a:gd name="T31" fmla="*/ 0 h 146"/>
                  <a:gd name="T32" fmla="*/ 94 w 94"/>
                  <a:gd name="T33" fmla="*/ 146 h 14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4" h="146">
                    <a:moveTo>
                      <a:pt x="16" y="126"/>
                    </a:moveTo>
                    <a:lnTo>
                      <a:pt x="0" y="130"/>
                    </a:lnTo>
                    <a:lnTo>
                      <a:pt x="78" y="0"/>
                    </a:lnTo>
                    <a:lnTo>
                      <a:pt x="94" y="4"/>
                    </a:lnTo>
                    <a:lnTo>
                      <a:pt x="16" y="133"/>
                    </a:lnTo>
                    <a:lnTo>
                      <a:pt x="0" y="140"/>
                    </a:lnTo>
                    <a:lnTo>
                      <a:pt x="16" y="133"/>
                    </a:lnTo>
                    <a:lnTo>
                      <a:pt x="9" y="146"/>
                    </a:lnTo>
                    <a:lnTo>
                      <a:pt x="0" y="140"/>
                    </a:lnTo>
                    <a:lnTo>
                      <a:pt x="16" y="12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76" name="Freeform 45"/>
              <p:cNvSpPr>
                <a:spLocks/>
              </p:cNvSpPr>
              <p:nvPr/>
            </p:nvSpPr>
            <p:spPr bwMode="auto">
              <a:xfrm>
                <a:off x="3749" y="3036"/>
                <a:ext cx="94" cy="74"/>
              </a:xfrm>
              <a:custGeom>
                <a:avLst/>
                <a:gdLst>
                  <a:gd name="T0" fmla="*/ 19 w 94"/>
                  <a:gd name="T1" fmla="*/ 15 h 74"/>
                  <a:gd name="T2" fmla="*/ 24 w 94"/>
                  <a:gd name="T3" fmla="*/ 0 h 74"/>
                  <a:gd name="T4" fmla="*/ 94 w 94"/>
                  <a:gd name="T5" fmla="*/ 60 h 74"/>
                  <a:gd name="T6" fmla="*/ 78 w 94"/>
                  <a:gd name="T7" fmla="*/ 74 h 74"/>
                  <a:gd name="T8" fmla="*/ 9 w 94"/>
                  <a:gd name="T9" fmla="*/ 14 h 74"/>
                  <a:gd name="T10" fmla="*/ 14 w 94"/>
                  <a:gd name="T11" fmla="*/ 0 h 74"/>
                  <a:gd name="T12" fmla="*/ 9 w 94"/>
                  <a:gd name="T13" fmla="*/ 14 h 74"/>
                  <a:gd name="T14" fmla="*/ 0 w 94"/>
                  <a:gd name="T15" fmla="*/ 6 h 74"/>
                  <a:gd name="T16" fmla="*/ 14 w 94"/>
                  <a:gd name="T17" fmla="*/ 0 h 74"/>
                  <a:gd name="T18" fmla="*/ 19 w 94"/>
                  <a:gd name="T19" fmla="*/ 15 h 7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4"/>
                  <a:gd name="T31" fmla="*/ 0 h 74"/>
                  <a:gd name="T32" fmla="*/ 94 w 94"/>
                  <a:gd name="T33" fmla="*/ 74 h 7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4" h="74">
                    <a:moveTo>
                      <a:pt x="19" y="15"/>
                    </a:moveTo>
                    <a:lnTo>
                      <a:pt x="24" y="0"/>
                    </a:lnTo>
                    <a:lnTo>
                      <a:pt x="94" y="60"/>
                    </a:lnTo>
                    <a:lnTo>
                      <a:pt x="78" y="74"/>
                    </a:lnTo>
                    <a:lnTo>
                      <a:pt x="9" y="14"/>
                    </a:lnTo>
                    <a:lnTo>
                      <a:pt x="14" y="0"/>
                    </a:lnTo>
                    <a:lnTo>
                      <a:pt x="9" y="14"/>
                    </a:lnTo>
                    <a:lnTo>
                      <a:pt x="0" y="6"/>
                    </a:lnTo>
                    <a:lnTo>
                      <a:pt x="14" y="0"/>
                    </a:lnTo>
                    <a:lnTo>
                      <a:pt x="19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77" name="Freeform 46"/>
              <p:cNvSpPr>
                <a:spLocks/>
              </p:cNvSpPr>
              <p:nvPr/>
            </p:nvSpPr>
            <p:spPr bwMode="auto">
              <a:xfrm>
                <a:off x="3862" y="2989"/>
                <a:ext cx="42" cy="34"/>
              </a:xfrm>
              <a:custGeom>
                <a:avLst/>
                <a:gdLst>
                  <a:gd name="T0" fmla="*/ 0 w 42"/>
                  <a:gd name="T1" fmla="*/ 15 h 34"/>
                  <a:gd name="T2" fmla="*/ 16 w 42"/>
                  <a:gd name="T3" fmla="*/ 0 h 34"/>
                  <a:gd name="T4" fmla="*/ 42 w 42"/>
                  <a:gd name="T5" fmla="*/ 19 h 34"/>
                  <a:gd name="T6" fmla="*/ 26 w 42"/>
                  <a:gd name="T7" fmla="*/ 34 h 34"/>
                  <a:gd name="T8" fmla="*/ 0 w 42"/>
                  <a:gd name="T9" fmla="*/ 15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"/>
                  <a:gd name="T16" fmla="*/ 0 h 34"/>
                  <a:gd name="T17" fmla="*/ 42 w 42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" h="34">
                    <a:moveTo>
                      <a:pt x="0" y="15"/>
                    </a:moveTo>
                    <a:lnTo>
                      <a:pt x="16" y="0"/>
                    </a:lnTo>
                    <a:lnTo>
                      <a:pt x="42" y="19"/>
                    </a:lnTo>
                    <a:lnTo>
                      <a:pt x="26" y="34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78" name="Freeform 47"/>
              <p:cNvSpPr>
                <a:spLocks/>
              </p:cNvSpPr>
              <p:nvPr/>
            </p:nvSpPr>
            <p:spPr bwMode="auto">
              <a:xfrm>
                <a:off x="3680" y="3004"/>
                <a:ext cx="209" cy="166"/>
              </a:xfrm>
              <a:custGeom>
                <a:avLst/>
                <a:gdLst>
                  <a:gd name="T0" fmla="*/ 0 w 209"/>
                  <a:gd name="T1" fmla="*/ 138 h 166"/>
                  <a:gd name="T2" fmla="*/ 0 w 209"/>
                  <a:gd name="T3" fmla="*/ 138 h 166"/>
                  <a:gd name="T4" fmla="*/ 24 w 209"/>
                  <a:gd name="T5" fmla="*/ 122 h 166"/>
                  <a:gd name="T6" fmla="*/ 49 w 209"/>
                  <a:gd name="T7" fmla="*/ 106 h 166"/>
                  <a:gd name="T8" fmla="*/ 73 w 209"/>
                  <a:gd name="T9" fmla="*/ 90 h 166"/>
                  <a:gd name="T10" fmla="*/ 97 w 209"/>
                  <a:gd name="T11" fmla="*/ 73 h 166"/>
                  <a:gd name="T12" fmla="*/ 119 w 209"/>
                  <a:gd name="T13" fmla="*/ 57 h 166"/>
                  <a:gd name="T14" fmla="*/ 141 w 209"/>
                  <a:gd name="T15" fmla="*/ 38 h 166"/>
                  <a:gd name="T16" fmla="*/ 162 w 209"/>
                  <a:gd name="T17" fmla="*/ 19 h 166"/>
                  <a:gd name="T18" fmla="*/ 183 w 209"/>
                  <a:gd name="T19" fmla="*/ 0 h 166"/>
                  <a:gd name="T20" fmla="*/ 209 w 209"/>
                  <a:gd name="T21" fmla="*/ 20 h 166"/>
                  <a:gd name="T22" fmla="*/ 188 w 209"/>
                  <a:gd name="T23" fmla="*/ 39 h 166"/>
                  <a:gd name="T24" fmla="*/ 165 w 209"/>
                  <a:gd name="T25" fmla="*/ 60 h 166"/>
                  <a:gd name="T26" fmla="*/ 141 w 209"/>
                  <a:gd name="T27" fmla="*/ 79 h 166"/>
                  <a:gd name="T28" fmla="*/ 117 w 209"/>
                  <a:gd name="T29" fmla="*/ 97 h 166"/>
                  <a:gd name="T30" fmla="*/ 93 w 209"/>
                  <a:gd name="T31" fmla="*/ 114 h 166"/>
                  <a:gd name="T32" fmla="*/ 68 w 209"/>
                  <a:gd name="T33" fmla="*/ 132 h 166"/>
                  <a:gd name="T34" fmla="*/ 42 w 209"/>
                  <a:gd name="T35" fmla="*/ 148 h 166"/>
                  <a:gd name="T36" fmla="*/ 15 w 209"/>
                  <a:gd name="T37" fmla="*/ 166 h 166"/>
                  <a:gd name="T38" fmla="*/ 0 w 209"/>
                  <a:gd name="T39" fmla="*/ 138 h 16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9"/>
                  <a:gd name="T61" fmla="*/ 0 h 166"/>
                  <a:gd name="T62" fmla="*/ 209 w 209"/>
                  <a:gd name="T63" fmla="*/ 166 h 16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9" h="166">
                    <a:moveTo>
                      <a:pt x="0" y="138"/>
                    </a:moveTo>
                    <a:lnTo>
                      <a:pt x="0" y="138"/>
                    </a:lnTo>
                    <a:lnTo>
                      <a:pt x="24" y="122"/>
                    </a:lnTo>
                    <a:lnTo>
                      <a:pt x="49" y="106"/>
                    </a:lnTo>
                    <a:lnTo>
                      <a:pt x="73" y="90"/>
                    </a:lnTo>
                    <a:lnTo>
                      <a:pt x="97" y="73"/>
                    </a:lnTo>
                    <a:lnTo>
                      <a:pt x="119" y="57"/>
                    </a:lnTo>
                    <a:lnTo>
                      <a:pt x="141" y="38"/>
                    </a:lnTo>
                    <a:lnTo>
                      <a:pt x="162" y="19"/>
                    </a:lnTo>
                    <a:lnTo>
                      <a:pt x="183" y="0"/>
                    </a:lnTo>
                    <a:lnTo>
                      <a:pt x="209" y="20"/>
                    </a:lnTo>
                    <a:lnTo>
                      <a:pt x="188" y="39"/>
                    </a:lnTo>
                    <a:lnTo>
                      <a:pt x="165" y="60"/>
                    </a:lnTo>
                    <a:lnTo>
                      <a:pt x="141" y="79"/>
                    </a:lnTo>
                    <a:lnTo>
                      <a:pt x="117" y="97"/>
                    </a:lnTo>
                    <a:lnTo>
                      <a:pt x="93" y="114"/>
                    </a:lnTo>
                    <a:lnTo>
                      <a:pt x="68" y="132"/>
                    </a:lnTo>
                    <a:lnTo>
                      <a:pt x="42" y="148"/>
                    </a:lnTo>
                    <a:lnTo>
                      <a:pt x="15" y="166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79" name="Freeform 48"/>
              <p:cNvSpPr>
                <a:spLocks/>
              </p:cNvSpPr>
              <p:nvPr/>
            </p:nvSpPr>
            <p:spPr bwMode="auto">
              <a:xfrm>
                <a:off x="3495" y="3137"/>
                <a:ext cx="195" cy="117"/>
              </a:xfrm>
              <a:custGeom>
                <a:avLst/>
                <a:gdLst>
                  <a:gd name="T0" fmla="*/ 0 w 195"/>
                  <a:gd name="T1" fmla="*/ 84 h 117"/>
                  <a:gd name="T2" fmla="*/ 22 w 195"/>
                  <a:gd name="T3" fmla="*/ 76 h 117"/>
                  <a:gd name="T4" fmla="*/ 45 w 195"/>
                  <a:gd name="T5" fmla="*/ 67 h 117"/>
                  <a:gd name="T6" fmla="*/ 68 w 195"/>
                  <a:gd name="T7" fmla="*/ 58 h 117"/>
                  <a:gd name="T8" fmla="*/ 91 w 195"/>
                  <a:gd name="T9" fmla="*/ 47 h 117"/>
                  <a:gd name="T10" fmla="*/ 113 w 195"/>
                  <a:gd name="T11" fmla="*/ 37 h 117"/>
                  <a:gd name="T12" fmla="*/ 135 w 195"/>
                  <a:gd name="T13" fmla="*/ 25 h 117"/>
                  <a:gd name="T14" fmla="*/ 157 w 195"/>
                  <a:gd name="T15" fmla="*/ 13 h 117"/>
                  <a:gd name="T16" fmla="*/ 179 w 195"/>
                  <a:gd name="T17" fmla="*/ 0 h 117"/>
                  <a:gd name="T18" fmla="*/ 195 w 195"/>
                  <a:gd name="T19" fmla="*/ 28 h 117"/>
                  <a:gd name="T20" fmla="*/ 172 w 195"/>
                  <a:gd name="T21" fmla="*/ 42 h 117"/>
                  <a:gd name="T22" fmla="*/ 148 w 195"/>
                  <a:gd name="T23" fmla="*/ 54 h 117"/>
                  <a:gd name="T24" fmla="*/ 125 w 195"/>
                  <a:gd name="T25" fmla="*/ 67 h 117"/>
                  <a:gd name="T26" fmla="*/ 100 w 195"/>
                  <a:gd name="T27" fmla="*/ 80 h 117"/>
                  <a:gd name="T28" fmla="*/ 77 w 195"/>
                  <a:gd name="T29" fmla="*/ 89 h 117"/>
                  <a:gd name="T30" fmla="*/ 52 w 195"/>
                  <a:gd name="T31" fmla="*/ 100 h 117"/>
                  <a:gd name="T32" fmla="*/ 27 w 195"/>
                  <a:gd name="T33" fmla="*/ 108 h 117"/>
                  <a:gd name="T34" fmla="*/ 4 w 195"/>
                  <a:gd name="T35" fmla="*/ 117 h 117"/>
                  <a:gd name="T36" fmla="*/ 0 w 195"/>
                  <a:gd name="T37" fmla="*/ 84 h 11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5"/>
                  <a:gd name="T58" fmla="*/ 0 h 117"/>
                  <a:gd name="T59" fmla="*/ 195 w 195"/>
                  <a:gd name="T60" fmla="*/ 117 h 11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5" h="117">
                    <a:moveTo>
                      <a:pt x="0" y="84"/>
                    </a:moveTo>
                    <a:lnTo>
                      <a:pt x="22" y="76"/>
                    </a:lnTo>
                    <a:lnTo>
                      <a:pt x="45" y="67"/>
                    </a:lnTo>
                    <a:lnTo>
                      <a:pt x="68" y="58"/>
                    </a:lnTo>
                    <a:lnTo>
                      <a:pt x="91" y="47"/>
                    </a:lnTo>
                    <a:lnTo>
                      <a:pt x="113" y="37"/>
                    </a:lnTo>
                    <a:lnTo>
                      <a:pt x="135" y="25"/>
                    </a:lnTo>
                    <a:lnTo>
                      <a:pt x="157" y="13"/>
                    </a:lnTo>
                    <a:lnTo>
                      <a:pt x="179" y="0"/>
                    </a:lnTo>
                    <a:lnTo>
                      <a:pt x="195" y="28"/>
                    </a:lnTo>
                    <a:lnTo>
                      <a:pt x="172" y="42"/>
                    </a:lnTo>
                    <a:lnTo>
                      <a:pt x="148" y="54"/>
                    </a:lnTo>
                    <a:lnTo>
                      <a:pt x="125" y="67"/>
                    </a:lnTo>
                    <a:lnTo>
                      <a:pt x="100" y="80"/>
                    </a:lnTo>
                    <a:lnTo>
                      <a:pt x="77" y="89"/>
                    </a:lnTo>
                    <a:lnTo>
                      <a:pt x="52" y="100"/>
                    </a:lnTo>
                    <a:lnTo>
                      <a:pt x="27" y="108"/>
                    </a:lnTo>
                    <a:lnTo>
                      <a:pt x="4" y="117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80" name="Freeform 49"/>
              <p:cNvSpPr>
                <a:spLocks/>
              </p:cNvSpPr>
              <p:nvPr/>
            </p:nvSpPr>
            <p:spPr bwMode="auto">
              <a:xfrm>
                <a:off x="3472" y="3221"/>
                <a:ext cx="25" cy="40"/>
              </a:xfrm>
              <a:custGeom>
                <a:avLst/>
                <a:gdLst>
                  <a:gd name="T0" fmla="*/ 25 w 25"/>
                  <a:gd name="T1" fmla="*/ 34 h 40"/>
                  <a:gd name="T2" fmla="*/ 5 w 25"/>
                  <a:gd name="T3" fmla="*/ 40 h 40"/>
                  <a:gd name="T4" fmla="*/ 0 w 25"/>
                  <a:gd name="T5" fmla="*/ 6 h 40"/>
                  <a:gd name="T6" fmla="*/ 21 w 25"/>
                  <a:gd name="T7" fmla="*/ 0 h 40"/>
                  <a:gd name="T8" fmla="*/ 25 w 25"/>
                  <a:gd name="T9" fmla="*/ 34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40"/>
                  <a:gd name="T17" fmla="*/ 25 w 25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40">
                    <a:moveTo>
                      <a:pt x="25" y="34"/>
                    </a:moveTo>
                    <a:lnTo>
                      <a:pt x="5" y="40"/>
                    </a:lnTo>
                    <a:lnTo>
                      <a:pt x="0" y="6"/>
                    </a:lnTo>
                    <a:lnTo>
                      <a:pt x="21" y="0"/>
                    </a:lnTo>
                    <a:lnTo>
                      <a:pt x="25" y="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81" name="Freeform 50"/>
              <p:cNvSpPr>
                <a:spLocks/>
              </p:cNvSpPr>
              <p:nvPr/>
            </p:nvSpPr>
            <p:spPr bwMode="auto">
              <a:xfrm>
                <a:off x="3766" y="2973"/>
                <a:ext cx="151" cy="129"/>
              </a:xfrm>
              <a:custGeom>
                <a:avLst/>
                <a:gdLst>
                  <a:gd name="T0" fmla="*/ 0 w 151"/>
                  <a:gd name="T1" fmla="*/ 69 h 129"/>
                  <a:gd name="T2" fmla="*/ 151 w 151"/>
                  <a:gd name="T3" fmla="*/ 0 h 129"/>
                  <a:gd name="T4" fmla="*/ 72 w 151"/>
                  <a:gd name="T5" fmla="*/ 129 h 129"/>
                  <a:gd name="T6" fmla="*/ 0 w 151"/>
                  <a:gd name="T7" fmla="*/ 69 h 1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1"/>
                  <a:gd name="T13" fmla="*/ 0 h 129"/>
                  <a:gd name="T14" fmla="*/ 151 w 151"/>
                  <a:gd name="T15" fmla="*/ 129 h 1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1" h="129">
                    <a:moveTo>
                      <a:pt x="0" y="69"/>
                    </a:moveTo>
                    <a:lnTo>
                      <a:pt x="151" y="0"/>
                    </a:lnTo>
                    <a:lnTo>
                      <a:pt x="72" y="129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82" name="Freeform 51"/>
              <p:cNvSpPr>
                <a:spLocks/>
              </p:cNvSpPr>
              <p:nvPr/>
            </p:nvSpPr>
            <p:spPr bwMode="auto">
              <a:xfrm>
                <a:off x="3766" y="2964"/>
                <a:ext cx="165" cy="85"/>
              </a:xfrm>
              <a:custGeom>
                <a:avLst/>
                <a:gdLst>
                  <a:gd name="T0" fmla="*/ 148 w 165"/>
                  <a:gd name="T1" fmla="*/ 11 h 85"/>
                  <a:gd name="T2" fmla="*/ 153 w 165"/>
                  <a:gd name="T3" fmla="*/ 15 h 85"/>
                  <a:gd name="T4" fmla="*/ 3 w 165"/>
                  <a:gd name="T5" fmla="*/ 85 h 85"/>
                  <a:gd name="T6" fmla="*/ 0 w 165"/>
                  <a:gd name="T7" fmla="*/ 77 h 85"/>
                  <a:gd name="T8" fmla="*/ 151 w 165"/>
                  <a:gd name="T9" fmla="*/ 7 h 85"/>
                  <a:gd name="T10" fmla="*/ 156 w 165"/>
                  <a:gd name="T11" fmla="*/ 13 h 85"/>
                  <a:gd name="T12" fmla="*/ 151 w 165"/>
                  <a:gd name="T13" fmla="*/ 7 h 85"/>
                  <a:gd name="T14" fmla="*/ 165 w 165"/>
                  <a:gd name="T15" fmla="*/ 0 h 85"/>
                  <a:gd name="T16" fmla="*/ 156 w 165"/>
                  <a:gd name="T17" fmla="*/ 13 h 85"/>
                  <a:gd name="T18" fmla="*/ 148 w 165"/>
                  <a:gd name="T19" fmla="*/ 11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85"/>
                  <a:gd name="T32" fmla="*/ 165 w 165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85">
                    <a:moveTo>
                      <a:pt x="148" y="11"/>
                    </a:moveTo>
                    <a:lnTo>
                      <a:pt x="153" y="15"/>
                    </a:lnTo>
                    <a:lnTo>
                      <a:pt x="3" y="85"/>
                    </a:lnTo>
                    <a:lnTo>
                      <a:pt x="0" y="77"/>
                    </a:lnTo>
                    <a:lnTo>
                      <a:pt x="151" y="7"/>
                    </a:lnTo>
                    <a:lnTo>
                      <a:pt x="156" y="13"/>
                    </a:lnTo>
                    <a:lnTo>
                      <a:pt x="151" y="7"/>
                    </a:lnTo>
                    <a:lnTo>
                      <a:pt x="165" y="0"/>
                    </a:lnTo>
                    <a:lnTo>
                      <a:pt x="156" y="13"/>
                    </a:lnTo>
                    <a:lnTo>
                      <a:pt x="148" y="11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83" name="Freeform 52"/>
              <p:cNvSpPr>
                <a:spLocks/>
              </p:cNvSpPr>
              <p:nvPr/>
            </p:nvSpPr>
            <p:spPr bwMode="auto">
              <a:xfrm>
                <a:off x="3833" y="2973"/>
                <a:ext cx="88" cy="140"/>
              </a:xfrm>
              <a:custGeom>
                <a:avLst/>
                <a:gdLst>
                  <a:gd name="T0" fmla="*/ 11 w 88"/>
                  <a:gd name="T1" fmla="*/ 127 h 140"/>
                  <a:gd name="T2" fmla="*/ 0 w 88"/>
                  <a:gd name="T3" fmla="*/ 131 h 140"/>
                  <a:gd name="T4" fmla="*/ 78 w 88"/>
                  <a:gd name="T5" fmla="*/ 0 h 140"/>
                  <a:gd name="T6" fmla="*/ 88 w 88"/>
                  <a:gd name="T7" fmla="*/ 2 h 140"/>
                  <a:gd name="T8" fmla="*/ 9 w 88"/>
                  <a:gd name="T9" fmla="*/ 134 h 140"/>
                  <a:gd name="T10" fmla="*/ 0 w 88"/>
                  <a:gd name="T11" fmla="*/ 136 h 140"/>
                  <a:gd name="T12" fmla="*/ 9 w 88"/>
                  <a:gd name="T13" fmla="*/ 134 h 140"/>
                  <a:gd name="T14" fmla="*/ 5 w 88"/>
                  <a:gd name="T15" fmla="*/ 140 h 140"/>
                  <a:gd name="T16" fmla="*/ 0 w 88"/>
                  <a:gd name="T17" fmla="*/ 136 h 140"/>
                  <a:gd name="T18" fmla="*/ 11 w 88"/>
                  <a:gd name="T19" fmla="*/ 127 h 1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8"/>
                  <a:gd name="T31" fmla="*/ 0 h 140"/>
                  <a:gd name="T32" fmla="*/ 88 w 88"/>
                  <a:gd name="T33" fmla="*/ 140 h 1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8" h="140">
                    <a:moveTo>
                      <a:pt x="11" y="127"/>
                    </a:moveTo>
                    <a:lnTo>
                      <a:pt x="0" y="131"/>
                    </a:lnTo>
                    <a:lnTo>
                      <a:pt x="78" y="0"/>
                    </a:lnTo>
                    <a:lnTo>
                      <a:pt x="88" y="2"/>
                    </a:lnTo>
                    <a:lnTo>
                      <a:pt x="9" y="134"/>
                    </a:lnTo>
                    <a:lnTo>
                      <a:pt x="0" y="136"/>
                    </a:lnTo>
                    <a:lnTo>
                      <a:pt x="9" y="134"/>
                    </a:lnTo>
                    <a:lnTo>
                      <a:pt x="5" y="140"/>
                    </a:lnTo>
                    <a:lnTo>
                      <a:pt x="0" y="136"/>
                    </a:lnTo>
                    <a:lnTo>
                      <a:pt x="11" y="127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84" name="Freeform 53"/>
              <p:cNvSpPr>
                <a:spLocks/>
              </p:cNvSpPr>
              <p:nvPr/>
            </p:nvSpPr>
            <p:spPr bwMode="auto">
              <a:xfrm>
                <a:off x="3754" y="3039"/>
                <a:ext cx="86" cy="68"/>
              </a:xfrm>
              <a:custGeom>
                <a:avLst/>
                <a:gdLst>
                  <a:gd name="T0" fmla="*/ 12 w 86"/>
                  <a:gd name="T1" fmla="*/ 9 h 68"/>
                  <a:gd name="T2" fmla="*/ 15 w 86"/>
                  <a:gd name="T3" fmla="*/ 0 h 68"/>
                  <a:gd name="T4" fmla="*/ 86 w 86"/>
                  <a:gd name="T5" fmla="*/ 59 h 68"/>
                  <a:gd name="T6" fmla="*/ 77 w 86"/>
                  <a:gd name="T7" fmla="*/ 68 h 68"/>
                  <a:gd name="T8" fmla="*/ 5 w 86"/>
                  <a:gd name="T9" fmla="*/ 8 h 68"/>
                  <a:gd name="T10" fmla="*/ 10 w 86"/>
                  <a:gd name="T11" fmla="*/ 0 h 68"/>
                  <a:gd name="T12" fmla="*/ 5 w 86"/>
                  <a:gd name="T13" fmla="*/ 8 h 68"/>
                  <a:gd name="T14" fmla="*/ 0 w 86"/>
                  <a:gd name="T15" fmla="*/ 4 h 68"/>
                  <a:gd name="T16" fmla="*/ 10 w 86"/>
                  <a:gd name="T17" fmla="*/ 0 h 68"/>
                  <a:gd name="T18" fmla="*/ 12 w 86"/>
                  <a:gd name="T19" fmla="*/ 9 h 6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6"/>
                  <a:gd name="T31" fmla="*/ 0 h 68"/>
                  <a:gd name="T32" fmla="*/ 86 w 86"/>
                  <a:gd name="T33" fmla="*/ 68 h 6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6" h="68">
                    <a:moveTo>
                      <a:pt x="12" y="9"/>
                    </a:moveTo>
                    <a:lnTo>
                      <a:pt x="15" y="0"/>
                    </a:lnTo>
                    <a:lnTo>
                      <a:pt x="86" y="59"/>
                    </a:lnTo>
                    <a:lnTo>
                      <a:pt x="77" y="68"/>
                    </a:lnTo>
                    <a:lnTo>
                      <a:pt x="5" y="8"/>
                    </a:lnTo>
                    <a:lnTo>
                      <a:pt x="10" y="0"/>
                    </a:lnTo>
                    <a:lnTo>
                      <a:pt x="5" y="8"/>
                    </a:lnTo>
                    <a:lnTo>
                      <a:pt x="0" y="4"/>
                    </a:lnTo>
                    <a:lnTo>
                      <a:pt x="10" y="0"/>
                    </a:lnTo>
                    <a:lnTo>
                      <a:pt x="12" y="9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85" name="Freeform 54"/>
              <p:cNvSpPr>
                <a:spLocks/>
              </p:cNvSpPr>
              <p:nvPr/>
            </p:nvSpPr>
            <p:spPr bwMode="auto">
              <a:xfrm>
                <a:off x="3856" y="3003"/>
                <a:ext cx="35" cy="28"/>
              </a:xfrm>
              <a:custGeom>
                <a:avLst/>
                <a:gdLst>
                  <a:gd name="T0" fmla="*/ 0 w 35"/>
                  <a:gd name="T1" fmla="*/ 12 h 28"/>
                  <a:gd name="T2" fmla="*/ 14 w 35"/>
                  <a:gd name="T3" fmla="*/ 0 h 28"/>
                  <a:gd name="T4" fmla="*/ 35 w 35"/>
                  <a:gd name="T5" fmla="*/ 16 h 28"/>
                  <a:gd name="T6" fmla="*/ 21 w 35"/>
                  <a:gd name="T7" fmla="*/ 28 h 28"/>
                  <a:gd name="T8" fmla="*/ 0 w 35"/>
                  <a:gd name="T9" fmla="*/ 12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28"/>
                  <a:gd name="T17" fmla="*/ 35 w 35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28">
                    <a:moveTo>
                      <a:pt x="0" y="12"/>
                    </a:moveTo>
                    <a:lnTo>
                      <a:pt x="14" y="0"/>
                    </a:lnTo>
                    <a:lnTo>
                      <a:pt x="35" y="16"/>
                    </a:lnTo>
                    <a:lnTo>
                      <a:pt x="21" y="2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86" name="Freeform 55"/>
              <p:cNvSpPr>
                <a:spLocks/>
              </p:cNvSpPr>
              <p:nvPr/>
            </p:nvSpPr>
            <p:spPr bwMode="auto">
              <a:xfrm>
                <a:off x="3669" y="3015"/>
                <a:ext cx="206" cy="160"/>
              </a:xfrm>
              <a:custGeom>
                <a:avLst/>
                <a:gdLst>
                  <a:gd name="T0" fmla="*/ 0 w 206"/>
                  <a:gd name="T1" fmla="*/ 137 h 160"/>
                  <a:gd name="T2" fmla="*/ 0 w 206"/>
                  <a:gd name="T3" fmla="*/ 137 h 160"/>
                  <a:gd name="T4" fmla="*/ 26 w 206"/>
                  <a:gd name="T5" fmla="*/ 121 h 160"/>
                  <a:gd name="T6" fmla="*/ 51 w 206"/>
                  <a:gd name="T7" fmla="*/ 105 h 160"/>
                  <a:gd name="T8" fmla="*/ 75 w 206"/>
                  <a:gd name="T9" fmla="*/ 89 h 160"/>
                  <a:gd name="T10" fmla="*/ 98 w 206"/>
                  <a:gd name="T11" fmla="*/ 72 h 160"/>
                  <a:gd name="T12" fmla="*/ 121 w 206"/>
                  <a:gd name="T13" fmla="*/ 55 h 160"/>
                  <a:gd name="T14" fmla="*/ 143 w 206"/>
                  <a:gd name="T15" fmla="*/ 37 h 160"/>
                  <a:gd name="T16" fmla="*/ 164 w 206"/>
                  <a:gd name="T17" fmla="*/ 18 h 160"/>
                  <a:gd name="T18" fmla="*/ 184 w 206"/>
                  <a:gd name="T19" fmla="*/ 0 h 160"/>
                  <a:gd name="T20" fmla="*/ 206 w 206"/>
                  <a:gd name="T21" fmla="*/ 16 h 160"/>
                  <a:gd name="T22" fmla="*/ 184 w 206"/>
                  <a:gd name="T23" fmla="*/ 36 h 160"/>
                  <a:gd name="T24" fmla="*/ 162 w 206"/>
                  <a:gd name="T25" fmla="*/ 55 h 160"/>
                  <a:gd name="T26" fmla="*/ 140 w 206"/>
                  <a:gd name="T27" fmla="*/ 74 h 160"/>
                  <a:gd name="T28" fmla="*/ 114 w 206"/>
                  <a:gd name="T29" fmla="*/ 92 h 160"/>
                  <a:gd name="T30" fmla="*/ 91 w 206"/>
                  <a:gd name="T31" fmla="*/ 111 h 160"/>
                  <a:gd name="T32" fmla="*/ 66 w 206"/>
                  <a:gd name="T33" fmla="*/ 127 h 160"/>
                  <a:gd name="T34" fmla="*/ 40 w 206"/>
                  <a:gd name="T35" fmla="*/ 144 h 160"/>
                  <a:gd name="T36" fmla="*/ 14 w 206"/>
                  <a:gd name="T37" fmla="*/ 160 h 160"/>
                  <a:gd name="T38" fmla="*/ 0 w 206"/>
                  <a:gd name="T39" fmla="*/ 137 h 16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6"/>
                  <a:gd name="T61" fmla="*/ 0 h 160"/>
                  <a:gd name="T62" fmla="*/ 206 w 206"/>
                  <a:gd name="T63" fmla="*/ 160 h 16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6" h="160">
                    <a:moveTo>
                      <a:pt x="0" y="137"/>
                    </a:moveTo>
                    <a:lnTo>
                      <a:pt x="0" y="137"/>
                    </a:lnTo>
                    <a:lnTo>
                      <a:pt x="26" y="121"/>
                    </a:lnTo>
                    <a:lnTo>
                      <a:pt x="51" y="105"/>
                    </a:lnTo>
                    <a:lnTo>
                      <a:pt x="75" y="89"/>
                    </a:lnTo>
                    <a:lnTo>
                      <a:pt x="98" y="72"/>
                    </a:lnTo>
                    <a:lnTo>
                      <a:pt x="121" y="55"/>
                    </a:lnTo>
                    <a:lnTo>
                      <a:pt x="143" y="37"/>
                    </a:lnTo>
                    <a:lnTo>
                      <a:pt x="164" y="18"/>
                    </a:lnTo>
                    <a:lnTo>
                      <a:pt x="184" y="0"/>
                    </a:lnTo>
                    <a:lnTo>
                      <a:pt x="206" y="16"/>
                    </a:lnTo>
                    <a:lnTo>
                      <a:pt x="184" y="36"/>
                    </a:lnTo>
                    <a:lnTo>
                      <a:pt x="162" y="55"/>
                    </a:lnTo>
                    <a:lnTo>
                      <a:pt x="140" y="74"/>
                    </a:lnTo>
                    <a:lnTo>
                      <a:pt x="114" y="92"/>
                    </a:lnTo>
                    <a:lnTo>
                      <a:pt x="91" y="111"/>
                    </a:lnTo>
                    <a:lnTo>
                      <a:pt x="66" y="127"/>
                    </a:lnTo>
                    <a:lnTo>
                      <a:pt x="40" y="144"/>
                    </a:lnTo>
                    <a:lnTo>
                      <a:pt x="14" y="160"/>
                    </a:lnTo>
                    <a:lnTo>
                      <a:pt x="0" y="137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87" name="Freeform 56"/>
              <p:cNvSpPr>
                <a:spLocks/>
              </p:cNvSpPr>
              <p:nvPr/>
            </p:nvSpPr>
            <p:spPr bwMode="auto">
              <a:xfrm>
                <a:off x="3484" y="3151"/>
                <a:ext cx="193" cy="111"/>
              </a:xfrm>
              <a:custGeom>
                <a:avLst/>
                <a:gdLst>
                  <a:gd name="T0" fmla="*/ 0 w 193"/>
                  <a:gd name="T1" fmla="*/ 84 h 111"/>
                  <a:gd name="T2" fmla="*/ 22 w 193"/>
                  <a:gd name="T3" fmla="*/ 75 h 111"/>
                  <a:gd name="T4" fmla="*/ 45 w 193"/>
                  <a:gd name="T5" fmla="*/ 67 h 111"/>
                  <a:gd name="T6" fmla="*/ 68 w 193"/>
                  <a:gd name="T7" fmla="*/ 58 h 111"/>
                  <a:gd name="T8" fmla="*/ 91 w 193"/>
                  <a:gd name="T9" fmla="*/ 47 h 111"/>
                  <a:gd name="T10" fmla="*/ 113 w 193"/>
                  <a:gd name="T11" fmla="*/ 37 h 111"/>
                  <a:gd name="T12" fmla="*/ 136 w 193"/>
                  <a:gd name="T13" fmla="*/ 25 h 111"/>
                  <a:gd name="T14" fmla="*/ 157 w 193"/>
                  <a:gd name="T15" fmla="*/ 13 h 111"/>
                  <a:gd name="T16" fmla="*/ 180 w 193"/>
                  <a:gd name="T17" fmla="*/ 0 h 111"/>
                  <a:gd name="T18" fmla="*/ 193 w 193"/>
                  <a:gd name="T19" fmla="*/ 23 h 111"/>
                  <a:gd name="T20" fmla="*/ 171 w 193"/>
                  <a:gd name="T21" fmla="*/ 37 h 111"/>
                  <a:gd name="T22" fmla="*/ 146 w 193"/>
                  <a:gd name="T23" fmla="*/ 50 h 111"/>
                  <a:gd name="T24" fmla="*/ 122 w 193"/>
                  <a:gd name="T25" fmla="*/ 62 h 111"/>
                  <a:gd name="T26" fmla="*/ 98 w 193"/>
                  <a:gd name="T27" fmla="*/ 72 h 111"/>
                  <a:gd name="T28" fmla="*/ 75 w 193"/>
                  <a:gd name="T29" fmla="*/ 84 h 111"/>
                  <a:gd name="T30" fmla="*/ 51 w 193"/>
                  <a:gd name="T31" fmla="*/ 93 h 111"/>
                  <a:gd name="T32" fmla="*/ 28 w 193"/>
                  <a:gd name="T33" fmla="*/ 103 h 111"/>
                  <a:gd name="T34" fmla="*/ 3 w 193"/>
                  <a:gd name="T35" fmla="*/ 111 h 111"/>
                  <a:gd name="T36" fmla="*/ 0 w 193"/>
                  <a:gd name="T37" fmla="*/ 84 h 11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3"/>
                  <a:gd name="T58" fmla="*/ 0 h 111"/>
                  <a:gd name="T59" fmla="*/ 193 w 193"/>
                  <a:gd name="T60" fmla="*/ 111 h 11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3" h="111">
                    <a:moveTo>
                      <a:pt x="0" y="84"/>
                    </a:moveTo>
                    <a:lnTo>
                      <a:pt x="22" y="75"/>
                    </a:lnTo>
                    <a:lnTo>
                      <a:pt x="45" y="67"/>
                    </a:lnTo>
                    <a:lnTo>
                      <a:pt x="68" y="58"/>
                    </a:lnTo>
                    <a:lnTo>
                      <a:pt x="91" y="47"/>
                    </a:lnTo>
                    <a:lnTo>
                      <a:pt x="113" y="37"/>
                    </a:lnTo>
                    <a:lnTo>
                      <a:pt x="136" y="25"/>
                    </a:lnTo>
                    <a:lnTo>
                      <a:pt x="157" y="13"/>
                    </a:lnTo>
                    <a:lnTo>
                      <a:pt x="180" y="0"/>
                    </a:lnTo>
                    <a:lnTo>
                      <a:pt x="193" y="23"/>
                    </a:lnTo>
                    <a:lnTo>
                      <a:pt x="171" y="37"/>
                    </a:lnTo>
                    <a:lnTo>
                      <a:pt x="146" y="50"/>
                    </a:lnTo>
                    <a:lnTo>
                      <a:pt x="122" y="62"/>
                    </a:lnTo>
                    <a:lnTo>
                      <a:pt x="98" y="72"/>
                    </a:lnTo>
                    <a:lnTo>
                      <a:pt x="75" y="84"/>
                    </a:lnTo>
                    <a:lnTo>
                      <a:pt x="51" y="93"/>
                    </a:lnTo>
                    <a:lnTo>
                      <a:pt x="28" y="103"/>
                    </a:lnTo>
                    <a:lnTo>
                      <a:pt x="3" y="111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88" name="Freeform 57"/>
              <p:cNvSpPr>
                <a:spLocks/>
              </p:cNvSpPr>
              <p:nvPr/>
            </p:nvSpPr>
            <p:spPr bwMode="auto">
              <a:xfrm>
                <a:off x="3466" y="3235"/>
                <a:ext cx="21" cy="34"/>
              </a:xfrm>
              <a:custGeom>
                <a:avLst/>
                <a:gdLst>
                  <a:gd name="T0" fmla="*/ 21 w 21"/>
                  <a:gd name="T1" fmla="*/ 27 h 34"/>
                  <a:gd name="T2" fmla="*/ 3 w 21"/>
                  <a:gd name="T3" fmla="*/ 34 h 34"/>
                  <a:gd name="T4" fmla="*/ 0 w 21"/>
                  <a:gd name="T5" fmla="*/ 6 h 34"/>
                  <a:gd name="T6" fmla="*/ 18 w 21"/>
                  <a:gd name="T7" fmla="*/ 0 h 34"/>
                  <a:gd name="T8" fmla="*/ 21 w 21"/>
                  <a:gd name="T9" fmla="*/ 27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34"/>
                  <a:gd name="T17" fmla="*/ 21 w 21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34">
                    <a:moveTo>
                      <a:pt x="21" y="27"/>
                    </a:moveTo>
                    <a:lnTo>
                      <a:pt x="3" y="34"/>
                    </a:lnTo>
                    <a:lnTo>
                      <a:pt x="0" y="6"/>
                    </a:lnTo>
                    <a:lnTo>
                      <a:pt x="18" y="0"/>
                    </a:lnTo>
                    <a:lnTo>
                      <a:pt x="21" y="27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89" name="Freeform 58"/>
              <p:cNvSpPr>
                <a:spLocks/>
              </p:cNvSpPr>
              <p:nvPr/>
            </p:nvSpPr>
            <p:spPr bwMode="auto">
              <a:xfrm>
                <a:off x="3795" y="2946"/>
                <a:ext cx="147" cy="132"/>
              </a:xfrm>
              <a:custGeom>
                <a:avLst/>
                <a:gdLst>
                  <a:gd name="T0" fmla="*/ 0 w 147"/>
                  <a:gd name="T1" fmla="*/ 75 h 132"/>
                  <a:gd name="T2" fmla="*/ 147 w 147"/>
                  <a:gd name="T3" fmla="*/ 0 h 132"/>
                  <a:gd name="T4" fmla="*/ 75 w 147"/>
                  <a:gd name="T5" fmla="*/ 132 h 132"/>
                  <a:gd name="T6" fmla="*/ 0 w 147"/>
                  <a:gd name="T7" fmla="*/ 75 h 1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7"/>
                  <a:gd name="T13" fmla="*/ 0 h 132"/>
                  <a:gd name="T14" fmla="*/ 147 w 147"/>
                  <a:gd name="T15" fmla="*/ 132 h 1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7" h="132">
                    <a:moveTo>
                      <a:pt x="0" y="75"/>
                    </a:moveTo>
                    <a:lnTo>
                      <a:pt x="147" y="0"/>
                    </a:lnTo>
                    <a:lnTo>
                      <a:pt x="75" y="132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90" name="Freeform 59"/>
              <p:cNvSpPr>
                <a:spLocks/>
              </p:cNvSpPr>
              <p:nvPr/>
            </p:nvSpPr>
            <p:spPr bwMode="auto">
              <a:xfrm>
                <a:off x="3789" y="2929"/>
                <a:ext cx="169" cy="101"/>
              </a:xfrm>
              <a:custGeom>
                <a:avLst/>
                <a:gdLst>
                  <a:gd name="T0" fmla="*/ 143 w 169"/>
                  <a:gd name="T1" fmla="*/ 17 h 101"/>
                  <a:gd name="T2" fmla="*/ 155 w 169"/>
                  <a:gd name="T3" fmla="*/ 25 h 101"/>
                  <a:gd name="T4" fmla="*/ 6 w 169"/>
                  <a:gd name="T5" fmla="*/ 101 h 101"/>
                  <a:gd name="T6" fmla="*/ 0 w 169"/>
                  <a:gd name="T7" fmla="*/ 86 h 101"/>
                  <a:gd name="T8" fmla="*/ 148 w 169"/>
                  <a:gd name="T9" fmla="*/ 11 h 101"/>
                  <a:gd name="T10" fmla="*/ 159 w 169"/>
                  <a:gd name="T11" fmla="*/ 19 h 101"/>
                  <a:gd name="T12" fmla="*/ 148 w 169"/>
                  <a:gd name="T13" fmla="*/ 11 h 101"/>
                  <a:gd name="T14" fmla="*/ 169 w 169"/>
                  <a:gd name="T15" fmla="*/ 0 h 101"/>
                  <a:gd name="T16" fmla="*/ 159 w 169"/>
                  <a:gd name="T17" fmla="*/ 19 h 101"/>
                  <a:gd name="T18" fmla="*/ 143 w 169"/>
                  <a:gd name="T19" fmla="*/ 17 h 10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9"/>
                  <a:gd name="T31" fmla="*/ 0 h 101"/>
                  <a:gd name="T32" fmla="*/ 169 w 169"/>
                  <a:gd name="T33" fmla="*/ 101 h 10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9" h="101">
                    <a:moveTo>
                      <a:pt x="143" y="17"/>
                    </a:moveTo>
                    <a:lnTo>
                      <a:pt x="155" y="25"/>
                    </a:lnTo>
                    <a:lnTo>
                      <a:pt x="6" y="101"/>
                    </a:lnTo>
                    <a:lnTo>
                      <a:pt x="0" y="86"/>
                    </a:lnTo>
                    <a:lnTo>
                      <a:pt x="148" y="11"/>
                    </a:lnTo>
                    <a:lnTo>
                      <a:pt x="159" y="19"/>
                    </a:lnTo>
                    <a:lnTo>
                      <a:pt x="148" y="11"/>
                    </a:lnTo>
                    <a:lnTo>
                      <a:pt x="169" y="0"/>
                    </a:lnTo>
                    <a:lnTo>
                      <a:pt x="159" y="19"/>
                    </a:lnTo>
                    <a:lnTo>
                      <a:pt x="143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91" name="Freeform 60"/>
              <p:cNvSpPr>
                <a:spLocks/>
              </p:cNvSpPr>
              <p:nvPr/>
            </p:nvSpPr>
            <p:spPr bwMode="auto">
              <a:xfrm>
                <a:off x="3861" y="2946"/>
                <a:ext cx="89" cy="147"/>
              </a:xfrm>
              <a:custGeom>
                <a:avLst/>
                <a:gdLst>
                  <a:gd name="T0" fmla="*/ 16 w 89"/>
                  <a:gd name="T1" fmla="*/ 126 h 147"/>
                  <a:gd name="T2" fmla="*/ 0 w 89"/>
                  <a:gd name="T3" fmla="*/ 131 h 147"/>
                  <a:gd name="T4" fmla="*/ 73 w 89"/>
                  <a:gd name="T5" fmla="*/ 0 h 147"/>
                  <a:gd name="T6" fmla="*/ 89 w 89"/>
                  <a:gd name="T7" fmla="*/ 3 h 147"/>
                  <a:gd name="T8" fmla="*/ 16 w 89"/>
                  <a:gd name="T9" fmla="*/ 134 h 147"/>
                  <a:gd name="T10" fmla="*/ 1 w 89"/>
                  <a:gd name="T11" fmla="*/ 140 h 147"/>
                  <a:gd name="T12" fmla="*/ 16 w 89"/>
                  <a:gd name="T13" fmla="*/ 134 h 147"/>
                  <a:gd name="T14" fmla="*/ 11 w 89"/>
                  <a:gd name="T15" fmla="*/ 147 h 147"/>
                  <a:gd name="T16" fmla="*/ 1 w 89"/>
                  <a:gd name="T17" fmla="*/ 140 h 147"/>
                  <a:gd name="T18" fmla="*/ 16 w 89"/>
                  <a:gd name="T19" fmla="*/ 126 h 14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9"/>
                  <a:gd name="T31" fmla="*/ 0 h 147"/>
                  <a:gd name="T32" fmla="*/ 89 w 89"/>
                  <a:gd name="T33" fmla="*/ 147 h 14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9" h="147">
                    <a:moveTo>
                      <a:pt x="16" y="126"/>
                    </a:moveTo>
                    <a:lnTo>
                      <a:pt x="0" y="131"/>
                    </a:lnTo>
                    <a:lnTo>
                      <a:pt x="73" y="0"/>
                    </a:lnTo>
                    <a:lnTo>
                      <a:pt x="89" y="3"/>
                    </a:lnTo>
                    <a:lnTo>
                      <a:pt x="16" y="134"/>
                    </a:lnTo>
                    <a:lnTo>
                      <a:pt x="1" y="140"/>
                    </a:lnTo>
                    <a:lnTo>
                      <a:pt x="16" y="134"/>
                    </a:lnTo>
                    <a:lnTo>
                      <a:pt x="11" y="147"/>
                    </a:lnTo>
                    <a:lnTo>
                      <a:pt x="1" y="140"/>
                    </a:lnTo>
                    <a:lnTo>
                      <a:pt x="16" y="12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92" name="Freeform 61"/>
              <p:cNvSpPr>
                <a:spLocks/>
              </p:cNvSpPr>
              <p:nvPr/>
            </p:nvSpPr>
            <p:spPr bwMode="auto">
              <a:xfrm>
                <a:off x="3778" y="3015"/>
                <a:ext cx="99" cy="70"/>
              </a:xfrm>
              <a:custGeom>
                <a:avLst/>
                <a:gdLst>
                  <a:gd name="T0" fmla="*/ 19 w 99"/>
                  <a:gd name="T1" fmla="*/ 14 h 70"/>
                  <a:gd name="T2" fmla="*/ 23 w 99"/>
                  <a:gd name="T3" fmla="*/ 0 h 70"/>
                  <a:gd name="T4" fmla="*/ 99 w 99"/>
                  <a:gd name="T5" fmla="*/ 56 h 70"/>
                  <a:gd name="T6" fmla="*/ 84 w 99"/>
                  <a:gd name="T7" fmla="*/ 70 h 70"/>
                  <a:gd name="T8" fmla="*/ 8 w 99"/>
                  <a:gd name="T9" fmla="*/ 14 h 70"/>
                  <a:gd name="T10" fmla="*/ 14 w 99"/>
                  <a:gd name="T11" fmla="*/ 0 h 70"/>
                  <a:gd name="T12" fmla="*/ 8 w 99"/>
                  <a:gd name="T13" fmla="*/ 14 h 70"/>
                  <a:gd name="T14" fmla="*/ 0 w 99"/>
                  <a:gd name="T15" fmla="*/ 8 h 70"/>
                  <a:gd name="T16" fmla="*/ 14 w 99"/>
                  <a:gd name="T17" fmla="*/ 0 h 70"/>
                  <a:gd name="T18" fmla="*/ 19 w 99"/>
                  <a:gd name="T19" fmla="*/ 14 h 7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9"/>
                  <a:gd name="T31" fmla="*/ 0 h 70"/>
                  <a:gd name="T32" fmla="*/ 99 w 99"/>
                  <a:gd name="T33" fmla="*/ 70 h 7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9" h="70">
                    <a:moveTo>
                      <a:pt x="19" y="14"/>
                    </a:moveTo>
                    <a:lnTo>
                      <a:pt x="23" y="0"/>
                    </a:lnTo>
                    <a:lnTo>
                      <a:pt x="99" y="56"/>
                    </a:lnTo>
                    <a:lnTo>
                      <a:pt x="84" y="70"/>
                    </a:lnTo>
                    <a:lnTo>
                      <a:pt x="8" y="14"/>
                    </a:lnTo>
                    <a:lnTo>
                      <a:pt x="14" y="0"/>
                    </a:lnTo>
                    <a:lnTo>
                      <a:pt x="8" y="14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19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93" name="Freeform 62"/>
              <p:cNvSpPr>
                <a:spLocks/>
              </p:cNvSpPr>
              <p:nvPr/>
            </p:nvSpPr>
            <p:spPr bwMode="auto">
              <a:xfrm>
                <a:off x="3891" y="2963"/>
                <a:ext cx="44" cy="36"/>
              </a:xfrm>
              <a:custGeom>
                <a:avLst/>
                <a:gdLst>
                  <a:gd name="T0" fmla="*/ 0 w 44"/>
                  <a:gd name="T1" fmla="*/ 16 h 36"/>
                  <a:gd name="T2" fmla="*/ 16 w 44"/>
                  <a:gd name="T3" fmla="*/ 0 h 36"/>
                  <a:gd name="T4" fmla="*/ 44 w 44"/>
                  <a:gd name="T5" fmla="*/ 20 h 36"/>
                  <a:gd name="T6" fmla="*/ 28 w 44"/>
                  <a:gd name="T7" fmla="*/ 36 h 36"/>
                  <a:gd name="T8" fmla="*/ 0 w 44"/>
                  <a:gd name="T9" fmla="*/ 16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"/>
                  <a:gd name="T16" fmla="*/ 0 h 36"/>
                  <a:gd name="T17" fmla="*/ 44 w 44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" h="36">
                    <a:moveTo>
                      <a:pt x="0" y="16"/>
                    </a:moveTo>
                    <a:lnTo>
                      <a:pt x="16" y="0"/>
                    </a:lnTo>
                    <a:lnTo>
                      <a:pt x="44" y="20"/>
                    </a:lnTo>
                    <a:lnTo>
                      <a:pt x="28" y="36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94" name="Freeform 63"/>
              <p:cNvSpPr>
                <a:spLocks/>
              </p:cNvSpPr>
              <p:nvPr/>
            </p:nvSpPr>
            <p:spPr bwMode="auto">
              <a:xfrm>
                <a:off x="3709" y="2976"/>
                <a:ext cx="207" cy="171"/>
              </a:xfrm>
              <a:custGeom>
                <a:avLst/>
                <a:gdLst>
                  <a:gd name="T0" fmla="*/ 0 w 207"/>
                  <a:gd name="T1" fmla="*/ 144 h 171"/>
                  <a:gd name="T2" fmla="*/ 0 w 207"/>
                  <a:gd name="T3" fmla="*/ 144 h 171"/>
                  <a:gd name="T4" fmla="*/ 26 w 207"/>
                  <a:gd name="T5" fmla="*/ 127 h 171"/>
                  <a:gd name="T6" fmla="*/ 51 w 207"/>
                  <a:gd name="T7" fmla="*/ 110 h 171"/>
                  <a:gd name="T8" fmla="*/ 73 w 207"/>
                  <a:gd name="T9" fmla="*/ 93 h 171"/>
                  <a:gd name="T10" fmla="*/ 96 w 207"/>
                  <a:gd name="T11" fmla="*/ 76 h 171"/>
                  <a:gd name="T12" fmla="*/ 119 w 207"/>
                  <a:gd name="T13" fmla="*/ 58 h 171"/>
                  <a:gd name="T14" fmla="*/ 139 w 207"/>
                  <a:gd name="T15" fmla="*/ 40 h 171"/>
                  <a:gd name="T16" fmla="*/ 160 w 207"/>
                  <a:gd name="T17" fmla="*/ 19 h 171"/>
                  <a:gd name="T18" fmla="*/ 179 w 207"/>
                  <a:gd name="T19" fmla="*/ 0 h 171"/>
                  <a:gd name="T20" fmla="*/ 207 w 207"/>
                  <a:gd name="T21" fmla="*/ 19 h 171"/>
                  <a:gd name="T22" fmla="*/ 186 w 207"/>
                  <a:gd name="T23" fmla="*/ 40 h 171"/>
                  <a:gd name="T24" fmla="*/ 164 w 207"/>
                  <a:gd name="T25" fmla="*/ 60 h 171"/>
                  <a:gd name="T26" fmla="*/ 142 w 207"/>
                  <a:gd name="T27" fmla="*/ 80 h 171"/>
                  <a:gd name="T28" fmla="*/ 119 w 207"/>
                  <a:gd name="T29" fmla="*/ 100 h 171"/>
                  <a:gd name="T30" fmla="*/ 95 w 207"/>
                  <a:gd name="T31" fmla="*/ 118 h 171"/>
                  <a:gd name="T32" fmla="*/ 70 w 207"/>
                  <a:gd name="T33" fmla="*/ 137 h 171"/>
                  <a:gd name="T34" fmla="*/ 45 w 207"/>
                  <a:gd name="T35" fmla="*/ 153 h 171"/>
                  <a:gd name="T36" fmla="*/ 19 w 207"/>
                  <a:gd name="T37" fmla="*/ 171 h 171"/>
                  <a:gd name="T38" fmla="*/ 0 w 207"/>
                  <a:gd name="T39" fmla="*/ 144 h 17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7"/>
                  <a:gd name="T61" fmla="*/ 0 h 171"/>
                  <a:gd name="T62" fmla="*/ 207 w 207"/>
                  <a:gd name="T63" fmla="*/ 171 h 17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7" h="171">
                    <a:moveTo>
                      <a:pt x="0" y="144"/>
                    </a:moveTo>
                    <a:lnTo>
                      <a:pt x="0" y="144"/>
                    </a:lnTo>
                    <a:lnTo>
                      <a:pt x="26" y="127"/>
                    </a:lnTo>
                    <a:lnTo>
                      <a:pt x="51" y="110"/>
                    </a:lnTo>
                    <a:lnTo>
                      <a:pt x="73" y="93"/>
                    </a:lnTo>
                    <a:lnTo>
                      <a:pt x="96" y="76"/>
                    </a:lnTo>
                    <a:lnTo>
                      <a:pt x="119" y="58"/>
                    </a:lnTo>
                    <a:lnTo>
                      <a:pt x="139" y="40"/>
                    </a:lnTo>
                    <a:lnTo>
                      <a:pt x="160" y="19"/>
                    </a:lnTo>
                    <a:lnTo>
                      <a:pt x="179" y="0"/>
                    </a:lnTo>
                    <a:lnTo>
                      <a:pt x="207" y="19"/>
                    </a:lnTo>
                    <a:lnTo>
                      <a:pt x="186" y="40"/>
                    </a:lnTo>
                    <a:lnTo>
                      <a:pt x="164" y="60"/>
                    </a:lnTo>
                    <a:lnTo>
                      <a:pt x="142" y="80"/>
                    </a:lnTo>
                    <a:lnTo>
                      <a:pt x="119" y="100"/>
                    </a:lnTo>
                    <a:lnTo>
                      <a:pt x="95" y="118"/>
                    </a:lnTo>
                    <a:lnTo>
                      <a:pt x="70" y="137"/>
                    </a:lnTo>
                    <a:lnTo>
                      <a:pt x="45" y="153"/>
                    </a:lnTo>
                    <a:lnTo>
                      <a:pt x="19" y="171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95" name="Freeform 64"/>
              <p:cNvSpPr>
                <a:spLocks/>
              </p:cNvSpPr>
              <p:nvPr/>
            </p:nvSpPr>
            <p:spPr bwMode="auto">
              <a:xfrm>
                <a:off x="3531" y="3118"/>
                <a:ext cx="196" cy="123"/>
              </a:xfrm>
              <a:custGeom>
                <a:avLst/>
                <a:gdLst>
                  <a:gd name="T0" fmla="*/ 0 w 196"/>
                  <a:gd name="T1" fmla="*/ 92 h 123"/>
                  <a:gd name="T2" fmla="*/ 22 w 196"/>
                  <a:gd name="T3" fmla="*/ 81 h 123"/>
                  <a:gd name="T4" fmla="*/ 45 w 196"/>
                  <a:gd name="T5" fmla="*/ 73 h 123"/>
                  <a:gd name="T6" fmla="*/ 68 w 196"/>
                  <a:gd name="T7" fmla="*/ 62 h 123"/>
                  <a:gd name="T8" fmla="*/ 90 w 196"/>
                  <a:gd name="T9" fmla="*/ 52 h 123"/>
                  <a:gd name="T10" fmla="*/ 112 w 196"/>
                  <a:gd name="T11" fmla="*/ 40 h 123"/>
                  <a:gd name="T12" fmla="*/ 134 w 196"/>
                  <a:gd name="T13" fmla="*/ 27 h 123"/>
                  <a:gd name="T14" fmla="*/ 156 w 196"/>
                  <a:gd name="T15" fmla="*/ 15 h 123"/>
                  <a:gd name="T16" fmla="*/ 177 w 196"/>
                  <a:gd name="T17" fmla="*/ 0 h 123"/>
                  <a:gd name="T18" fmla="*/ 196 w 196"/>
                  <a:gd name="T19" fmla="*/ 27 h 123"/>
                  <a:gd name="T20" fmla="*/ 172 w 196"/>
                  <a:gd name="T21" fmla="*/ 42 h 123"/>
                  <a:gd name="T22" fmla="*/ 150 w 196"/>
                  <a:gd name="T23" fmla="*/ 56 h 123"/>
                  <a:gd name="T24" fmla="*/ 125 w 196"/>
                  <a:gd name="T25" fmla="*/ 68 h 123"/>
                  <a:gd name="T26" fmla="*/ 102 w 196"/>
                  <a:gd name="T27" fmla="*/ 81 h 123"/>
                  <a:gd name="T28" fmla="*/ 78 w 196"/>
                  <a:gd name="T29" fmla="*/ 93 h 123"/>
                  <a:gd name="T30" fmla="*/ 55 w 196"/>
                  <a:gd name="T31" fmla="*/ 103 h 123"/>
                  <a:gd name="T32" fmla="*/ 30 w 196"/>
                  <a:gd name="T33" fmla="*/ 115 h 123"/>
                  <a:gd name="T34" fmla="*/ 6 w 196"/>
                  <a:gd name="T35" fmla="*/ 123 h 123"/>
                  <a:gd name="T36" fmla="*/ 0 w 196"/>
                  <a:gd name="T37" fmla="*/ 92 h 12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6"/>
                  <a:gd name="T58" fmla="*/ 0 h 123"/>
                  <a:gd name="T59" fmla="*/ 196 w 196"/>
                  <a:gd name="T60" fmla="*/ 123 h 12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6" h="123">
                    <a:moveTo>
                      <a:pt x="0" y="92"/>
                    </a:moveTo>
                    <a:lnTo>
                      <a:pt x="22" y="81"/>
                    </a:lnTo>
                    <a:lnTo>
                      <a:pt x="45" y="73"/>
                    </a:lnTo>
                    <a:lnTo>
                      <a:pt x="68" y="62"/>
                    </a:lnTo>
                    <a:lnTo>
                      <a:pt x="90" y="52"/>
                    </a:lnTo>
                    <a:lnTo>
                      <a:pt x="112" y="40"/>
                    </a:lnTo>
                    <a:lnTo>
                      <a:pt x="134" y="27"/>
                    </a:lnTo>
                    <a:lnTo>
                      <a:pt x="156" y="15"/>
                    </a:lnTo>
                    <a:lnTo>
                      <a:pt x="177" y="0"/>
                    </a:lnTo>
                    <a:lnTo>
                      <a:pt x="196" y="27"/>
                    </a:lnTo>
                    <a:lnTo>
                      <a:pt x="172" y="42"/>
                    </a:lnTo>
                    <a:lnTo>
                      <a:pt x="150" y="56"/>
                    </a:lnTo>
                    <a:lnTo>
                      <a:pt x="125" y="68"/>
                    </a:lnTo>
                    <a:lnTo>
                      <a:pt x="102" y="81"/>
                    </a:lnTo>
                    <a:lnTo>
                      <a:pt x="78" y="93"/>
                    </a:lnTo>
                    <a:lnTo>
                      <a:pt x="55" y="103"/>
                    </a:lnTo>
                    <a:lnTo>
                      <a:pt x="30" y="115"/>
                    </a:lnTo>
                    <a:lnTo>
                      <a:pt x="6" y="123"/>
                    </a:lnTo>
                    <a:lnTo>
                      <a:pt x="0" y="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96" name="Freeform 65"/>
              <p:cNvSpPr>
                <a:spLocks/>
              </p:cNvSpPr>
              <p:nvPr/>
            </p:nvSpPr>
            <p:spPr bwMode="auto">
              <a:xfrm>
                <a:off x="3506" y="3207"/>
                <a:ext cx="28" cy="41"/>
              </a:xfrm>
              <a:custGeom>
                <a:avLst/>
                <a:gdLst>
                  <a:gd name="T0" fmla="*/ 28 w 28"/>
                  <a:gd name="T1" fmla="*/ 32 h 41"/>
                  <a:gd name="T2" fmla="*/ 7 w 28"/>
                  <a:gd name="T3" fmla="*/ 41 h 41"/>
                  <a:gd name="T4" fmla="*/ 0 w 28"/>
                  <a:gd name="T5" fmla="*/ 8 h 41"/>
                  <a:gd name="T6" fmla="*/ 21 w 28"/>
                  <a:gd name="T7" fmla="*/ 0 h 41"/>
                  <a:gd name="T8" fmla="*/ 28 w 28"/>
                  <a:gd name="T9" fmla="*/ 32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41"/>
                  <a:gd name="T17" fmla="*/ 28 w 28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41">
                    <a:moveTo>
                      <a:pt x="28" y="32"/>
                    </a:moveTo>
                    <a:lnTo>
                      <a:pt x="7" y="41"/>
                    </a:lnTo>
                    <a:lnTo>
                      <a:pt x="0" y="8"/>
                    </a:lnTo>
                    <a:lnTo>
                      <a:pt x="21" y="0"/>
                    </a:lnTo>
                    <a:lnTo>
                      <a:pt x="28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97" name="Freeform 66"/>
              <p:cNvSpPr>
                <a:spLocks/>
              </p:cNvSpPr>
              <p:nvPr/>
            </p:nvSpPr>
            <p:spPr bwMode="auto">
              <a:xfrm>
                <a:off x="3795" y="2946"/>
                <a:ext cx="147" cy="132"/>
              </a:xfrm>
              <a:custGeom>
                <a:avLst/>
                <a:gdLst>
                  <a:gd name="T0" fmla="*/ 0 w 147"/>
                  <a:gd name="T1" fmla="*/ 75 h 132"/>
                  <a:gd name="T2" fmla="*/ 147 w 147"/>
                  <a:gd name="T3" fmla="*/ 0 h 132"/>
                  <a:gd name="T4" fmla="*/ 75 w 147"/>
                  <a:gd name="T5" fmla="*/ 132 h 132"/>
                  <a:gd name="T6" fmla="*/ 0 w 147"/>
                  <a:gd name="T7" fmla="*/ 75 h 1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7"/>
                  <a:gd name="T13" fmla="*/ 0 h 132"/>
                  <a:gd name="T14" fmla="*/ 147 w 147"/>
                  <a:gd name="T15" fmla="*/ 132 h 1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7" h="132">
                    <a:moveTo>
                      <a:pt x="0" y="75"/>
                    </a:moveTo>
                    <a:lnTo>
                      <a:pt x="147" y="0"/>
                    </a:lnTo>
                    <a:lnTo>
                      <a:pt x="75" y="132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98" name="Freeform 67"/>
              <p:cNvSpPr>
                <a:spLocks/>
              </p:cNvSpPr>
              <p:nvPr/>
            </p:nvSpPr>
            <p:spPr bwMode="auto">
              <a:xfrm>
                <a:off x="3793" y="2936"/>
                <a:ext cx="160" cy="89"/>
              </a:xfrm>
              <a:custGeom>
                <a:avLst/>
                <a:gdLst>
                  <a:gd name="T0" fmla="*/ 144 w 160"/>
                  <a:gd name="T1" fmla="*/ 9 h 89"/>
                  <a:gd name="T2" fmla="*/ 152 w 160"/>
                  <a:gd name="T3" fmla="*/ 13 h 89"/>
                  <a:gd name="T4" fmla="*/ 3 w 160"/>
                  <a:gd name="T5" fmla="*/ 89 h 89"/>
                  <a:gd name="T6" fmla="*/ 0 w 160"/>
                  <a:gd name="T7" fmla="*/ 81 h 89"/>
                  <a:gd name="T8" fmla="*/ 146 w 160"/>
                  <a:gd name="T9" fmla="*/ 6 h 89"/>
                  <a:gd name="T10" fmla="*/ 155 w 160"/>
                  <a:gd name="T11" fmla="*/ 11 h 89"/>
                  <a:gd name="T12" fmla="*/ 146 w 160"/>
                  <a:gd name="T13" fmla="*/ 6 h 89"/>
                  <a:gd name="T14" fmla="*/ 160 w 160"/>
                  <a:gd name="T15" fmla="*/ 0 h 89"/>
                  <a:gd name="T16" fmla="*/ 155 w 160"/>
                  <a:gd name="T17" fmla="*/ 11 h 89"/>
                  <a:gd name="T18" fmla="*/ 144 w 160"/>
                  <a:gd name="T19" fmla="*/ 9 h 8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0"/>
                  <a:gd name="T31" fmla="*/ 0 h 89"/>
                  <a:gd name="T32" fmla="*/ 160 w 160"/>
                  <a:gd name="T33" fmla="*/ 89 h 8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0" h="89">
                    <a:moveTo>
                      <a:pt x="144" y="9"/>
                    </a:moveTo>
                    <a:lnTo>
                      <a:pt x="152" y="13"/>
                    </a:lnTo>
                    <a:lnTo>
                      <a:pt x="3" y="89"/>
                    </a:lnTo>
                    <a:lnTo>
                      <a:pt x="0" y="81"/>
                    </a:lnTo>
                    <a:lnTo>
                      <a:pt x="146" y="6"/>
                    </a:lnTo>
                    <a:lnTo>
                      <a:pt x="155" y="11"/>
                    </a:lnTo>
                    <a:lnTo>
                      <a:pt x="146" y="6"/>
                    </a:lnTo>
                    <a:lnTo>
                      <a:pt x="160" y="0"/>
                    </a:lnTo>
                    <a:lnTo>
                      <a:pt x="155" y="11"/>
                    </a:lnTo>
                    <a:lnTo>
                      <a:pt x="144" y="9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99" name="Freeform 68"/>
              <p:cNvSpPr>
                <a:spLocks/>
              </p:cNvSpPr>
              <p:nvPr/>
            </p:nvSpPr>
            <p:spPr bwMode="auto">
              <a:xfrm>
                <a:off x="3868" y="2945"/>
                <a:ext cx="83" cy="140"/>
              </a:xfrm>
              <a:custGeom>
                <a:avLst/>
                <a:gdLst>
                  <a:gd name="T0" fmla="*/ 9 w 83"/>
                  <a:gd name="T1" fmla="*/ 127 h 140"/>
                  <a:gd name="T2" fmla="*/ 0 w 83"/>
                  <a:gd name="T3" fmla="*/ 132 h 140"/>
                  <a:gd name="T4" fmla="*/ 72 w 83"/>
                  <a:gd name="T5" fmla="*/ 0 h 140"/>
                  <a:gd name="T6" fmla="*/ 83 w 83"/>
                  <a:gd name="T7" fmla="*/ 1 h 140"/>
                  <a:gd name="T8" fmla="*/ 9 w 83"/>
                  <a:gd name="T9" fmla="*/ 132 h 140"/>
                  <a:gd name="T10" fmla="*/ 0 w 83"/>
                  <a:gd name="T11" fmla="*/ 136 h 140"/>
                  <a:gd name="T12" fmla="*/ 9 w 83"/>
                  <a:gd name="T13" fmla="*/ 132 h 140"/>
                  <a:gd name="T14" fmla="*/ 5 w 83"/>
                  <a:gd name="T15" fmla="*/ 140 h 140"/>
                  <a:gd name="T16" fmla="*/ 0 w 83"/>
                  <a:gd name="T17" fmla="*/ 136 h 140"/>
                  <a:gd name="T18" fmla="*/ 9 w 83"/>
                  <a:gd name="T19" fmla="*/ 127 h 1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3"/>
                  <a:gd name="T31" fmla="*/ 0 h 140"/>
                  <a:gd name="T32" fmla="*/ 83 w 83"/>
                  <a:gd name="T33" fmla="*/ 140 h 1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3" h="140">
                    <a:moveTo>
                      <a:pt x="9" y="127"/>
                    </a:moveTo>
                    <a:lnTo>
                      <a:pt x="0" y="132"/>
                    </a:lnTo>
                    <a:lnTo>
                      <a:pt x="72" y="0"/>
                    </a:lnTo>
                    <a:lnTo>
                      <a:pt x="83" y="1"/>
                    </a:lnTo>
                    <a:lnTo>
                      <a:pt x="9" y="132"/>
                    </a:lnTo>
                    <a:lnTo>
                      <a:pt x="0" y="136"/>
                    </a:lnTo>
                    <a:lnTo>
                      <a:pt x="9" y="132"/>
                    </a:lnTo>
                    <a:lnTo>
                      <a:pt x="5" y="140"/>
                    </a:lnTo>
                    <a:lnTo>
                      <a:pt x="0" y="136"/>
                    </a:lnTo>
                    <a:lnTo>
                      <a:pt x="9" y="127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00" name="Freeform 69"/>
              <p:cNvSpPr>
                <a:spLocks/>
              </p:cNvSpPr>
              <p:nvPr/>
            </p:nvSpPr>
            <p:spPr bwMode="auto">
              <a:xfrm>
                <a:off x="3784" y="3017"/>
                <a:ext cx="90" cy="64"/>
              </a:xfrm>
              <a:custGeom>
                <a:avLst/>
                <a:gdLst>
                  <a:gd name="T0" fmla="*/ 12 w 90"/>
                  <a:gd name="T1" fmla="*/ 8 h 64"/>
                  <a:gd name="T2" fmla="*/ 15 w 90"/>
                  <a:gd name="T3" fmla="*/ 0 h 64"/>
                  <a:gd name="T4" fmla="*/ 90 w 90"/>
                  <a:gd name="T5" fmla="*/ 55 h 64"/>
                  <a:gd name="T6" fmla="*/ 82 w 90"/>
                  <a:gd name="T7" fmla="*/ 64 h 64"/>
                  <a:gd name="T8" fmla="*/ 6 w 90"/>
                  <a:gd name="T9" fmla="*/ 8 h 64"/>
                  <a:gd name="T10" fmla="*/ 9 w 90"/>
                  <a:gd name="T11" fmla="*/ 0 h 64"/>
                  <a:gd name="T12" fmla="*/ 6 w 90"/>
                  <a:gd name="T13" fmla="*/ 8 h 64"/>
                  <a:gd name="T14" fmla="*/ 0 w 90"/>
                  <a:gd name="T15" fmla="*/ 4 h 64"/>
                  <a:gd name="T16" fmla="*/ 9 w 90"/>
                  <a:gd name="T17" fmla="*/ 0 h 64"/>
                  <a:gd name="T18" fmla="*/ 12 w 90"/>
                  <a:gd name="T19" fmla="*/ 8 h 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0"/>
                  <a:gd name="T31" fmla="*/ 0 h 64"/>
                  <a:gd name="T32" fmla="*/ 90 w 90"/>
                  <a:gd name="T33" fmla="*/ 64 h 6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0" h="64">
                    <a:moveTo>
                      <a:pt x="12" y="8"/>
                    </a:moveTo>
                    <a:lnTo>
                      <a:pt x="15" y="0"/>
                    </a:lnTo>
                    <a:lnTo>
                      <a:pt x="90" y="55"/>
                    </a:lnTo>
                    <a:lnTo>
                      <a:pt x="82" y="64"/>
                    </a:lnTo>
                    <a:lnTo>
                      <a:pt x="6" y="8"/>
                    </a:lnTo>
                    <a:lnTo>
                      <a:pt x="9" y="0"/>
                    </a:lnTo>
                    <a:lnTo>
                      <a:pt x="6" y="8"/>
                    </a:lnTo>
                    <a:lnTo>
                      <a:pt x="0" y="4"/>
                    </a:lnTo>
                    <a:lnTo>
                      <a:pt x="9" y="0"/>
                    </a:lnTo>
                    <a:lnTo>
                      <a:pt x="12" y="8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01" name="Freeform 70"/>
              <p:cNvSpPr>
                <a:spLocks/>
              </p:cNvSpPr>
              <p:nvPr/>
            </p:nvSpPr>
            <p:spPr bwMode="auto">
              <a:xfrm>
                <a:off x="3894" y="2967"/>
                <a:ext cx="37" cy="28"/>
              </a:xfrm>
              <a:custGeom>
                <a:avLst/>
                <a:gdLst>
                  <a:gd name="T0" fmla="*/ 0 w 37"/>
                  <a:gd name="T1" fmla="*/ 12 h 28"/>
                  <a:gd name="T2" fmla="*/ 14 w 37"/>
                  <a:gd name="T3" fmla="*/ 0 h 28"/>
                  <a:gd name="T4" fmla="*/ 37 w 37"/>
                  <a:gd name="T5" fmla="*/ 16 h 28"/>
                  <a:gd name="T6" fmla="*/ 23 w 37"/>
                  <a:gd name="T7" fmla="*/ 28 h 28"/>
                  <a:gd name="T8" fmla="*/ 0 w 37"/>
                  <a:gd name="T9" fmla="*/ 12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28"/>
                  <a:gd name="T17" fmla="*/ 37 w 37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28">
                    <a:moveTo>
                      <a:pt x="0" y="12"/>
                    </a:moveTo>
                    <a:lnTo>
                      <a:pt x="14" y="0"/>
                    </a:lnTo>
                    <a:lnTo>
                      <a:pt x="37" y="16"/>
                    </a:lnTo>
                    <a:lnTo>
                      <a:pt x="23" y="2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02" name="Freeform 71"/>
              <p:cNvSpPr>
                <a:spLocks/>
              </p:cNvSpPr>
              <p:nvPr/>
            </p:nvSpPr>
            <p:spPr bwMode="auto">
              <a:xfrm>
                <a:off x="3713" y="2977"/>
                <a:ext cx="202" cy="168"/>
              </a:xfrm>
              <a:custGeom>
                <a:avLst/>
                <a:gdLst>
                  <a:gd name="T0" fmla="*/ 0 w 202"/>
                  <a:gd name="T1" fmla="*/ 146 h 168"/>
                  <a:gd name="T2" fmla="*/ 0 w 202"/>
                  <a:gd name="T3" fmla="*/ 146 h 168"/>
                  <a:gd name="T4" fmla="*/ 25 w 202"/>
                  <a:gd name="T5" fmla="*/ 128 h 168"/>
                  <a:gd name="T6" fmla="*/ 50 w 202"/>
                  <a:gd name="T7" fmla="*/ 111 h 168"/>
                  <a:gd name="T8" fmla="*/ 72 w 202"/>
                  <a:gd name="T9" fmla="*/ 94 h 168"/>
                  <a:gd name="T10" fmla="*/ 95 w 202"/>
                  <a:gd name="T11" fmla="*/ 76 h 168"/>
                  <a:gd name="T12" fmla="*/ 118 w 202"/>
                  <a:gd name="T13" fmla="*/ 58 h 168"/>
                  <a:gd name="T14" fmla="*/ 138 w 202"/>
                  <a:gd name="T15" fmla="*/ 40 h 168"/>
                  <a:gd name="T16" fmla="*/ 159 w 202"/>
                  <a:gd name="T17" fmla="*/ 21 h 168"/>
                  <a:gd name="T18" fmla="*/ 178 w 202"/>
                  <a:gd name="T19" fmla="*/ 0 h 168"/>
                  <a:gd name="T20" fmla="*/ 202 w 202"/>
                  <a:gd name="T21" fmla="*/ 16 h 168"/>
                  <a:gd name="T22" fmla="*/ 181 w 202"/>
                  <a:gd name="T23" fmla="*/ 37 h 168"/>
                  <a:gd name="T24" fmla="*/ 160 w 202"/>
                  <a:gd name="T25" fmla="*/ 57 h 168"/>
                  <a:gd name="T26" fmla="*/ 138 w 202"/>
                  <a:gd name="T27" fmla="*/ 76 h 168"/>
                  <a:gd name="T28" fmla="*/ 114 w 202"/>
                  <a:gd name="T29" fmla="*/ 96 h 168"/>
                  <a:gd name="T30" fmla="*/ 91 w 202"/>
                  <a:gd name="T31" fmla="*/ 115 h 168"/>
                  <a:gd name="T32" fmla="*/ 66 w 202"/>
                  <a:gd name="T33" fmla="*/ 133 h 168"/>
                  <a:gd name="T34" fmla="*/ 40 w 202"/>
                  <a:gd name="T35" fmla="*/ 151 h 168"/>
                  <a:gd name="T36" fmla="*/ 15 w 202"/>
                  <a:gd name="T37" fmla="*/ 168 h 168"/>
                  <a:gd name="T38" fmla="*/ 0 w 202"/>
                  <a:gd name="T39" fmla="*/ 146 h 1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2"/>
                  <a:gd name="T61" fmla="*/ 0 h 168"/>
                  <a:gd name="T62" fmla="*/ 202 w 202"/>
                  <a:gd name="T63" fmla="*/ 168 h 1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2" h="168">
                    <a:moveTo>
                      <a:pt x="0" y="146"/>
                    </a:moveTo>
                    <a:lnTo>
                      <a:pt x="0" y="146"/>
                    </a:lnTo>
                    <a:lnTo>
                      <a:pt x="25" y="128"/>
                    </a:lnTo>
                    <a:lnTo>
                      <a:pt x="50" y="111"/>
                    </a:lnTo>
                    <a:lnTo>
                      <a:pt x="72" y="94"/>
                    </a:lnTo>
                    <a:lnTo>
                      <a:pt x="95" y="76"/>
                    </a:lnTo>
                    <a:lnTo>
                      <a:pt x="118" y="58"/>
                    </a:lnTo>
                    <a:lnTo>
                      <a:pt x="138" y="40"/>
                    </a:lnTo>
                    <a:lnTo>
                      <a:pt x="159" y="21"/>
                    </a:lnTo>
                    <a:lnTo>
                      <a:pt x="178" y="0"/>
                    </a:lnTo>
                    <a:lnTo>
                      <a:pt x="202" y="16"/>
                    </a:lnTo>
                    <a:lnTo>
                      <a:pt x="181" y="37"/>
                    </a:lnTo>
                    <a:lnTo>
                      <a:pt x="160" y="57"/>
                    </a:lnTo>
                    <a:lnTo>
                      <a:pt x="138" y="76"/>
                    </a:lnTo>
                    <a:lnTo>
                      <a:pt x="114" y="96"/>
                    </a:lnTo>
                    <a:lnTo>
                      <a:pt x="91" y="115"/>
                    </a:lnTo>
                    <a:lnTo>
                      <a:pt x="66" y="133"/>
                    </a:lnTo>
                    <a:lnTo>
                      <a:pt x="40" y="151"/>
                    </a:lnTo>
                    <a:lnTo>
                      <a:pt x="15" y="168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03" name="Freeform 72"/>
              <p:cNvSpPr>
                <a:spLocks/>
              </p:cNvSpPr>
              <p:nvPr/>
            </p:nvSpPr>
            <p:spPr bwMode="auto">
              <a:xfrm>
                <a:off x="3530" y="3120"/>
                <a:ext cx="192" cy="119"/>
              </a:xfrm>
              <a:custGeom>
                <a:avLst/>
                <a:gdLst>
                  <a:gd name="T0" fmla="*/ 0 w 192"/>
                  <a:gd name="T1" fmla="*/ 92 h 119"/>
                  <a:gd name="T2" fmla="*/ 22 w 192"/>
                  <a:gd name="T3" fmla="*/ 83 h 119"/>
                  <a:gd name="T4" fmla="*/ 47 w 192"/>
                  <a:gd name="T5" fmla="*/ 73 h 119"/>
                  <a:gd name="T6" fmla="*/ 69 w 192"/>
                  <a:gd name="T7" fmla="*/ 62 h 119"/>
                  <a:gd name="T8" fmla="*/ 90 w 192"/>
                  <a:gd name="T9" fmla="*/ 53 h 119"/>
                  <a:gd name="T10" fmla="*/ 112 w 192"/>
                  <a:gd name="T11" fmla="*/ 40 h 119"/>
                  <a:gd name="T12" fmla="*/ 135 w 192"/>
                  <a:gd name="T13" fmla="*/ 27 h 119"/>
                  <a:gd name="T14" fmla="*/ 157 w 192"/>
                  <a:gd name="T15" fmla="*/ 14 h 119"/>
                  <a:gd name="T16" fmla="*/ 178 w 192"/>
                  <a:gd name="T17" fmla="*/ 0 h 119"/>
                  <a:gd name="T18" fmla="*/ 192 w 192"/>
                  <a:gd name="T19" fmla="*/ 23 h 119"/>
                  <a:gd name="T20" fmla="*/ 170 w 192"/>
                  <a:gd name="T21" fmla="*/ 38 h 119"/>
                  <a:gd name="T22" fmla="*/ 147 w 192"/>
                  <a:gd name="T23" fmla="*/ 52 h 119"/>
                  <a:gd name="T24" fmla="*/ 123 w 192"/>
                  <a:gd name="T25" fmla="*/ 63 h 119"/>
                  <a:gd name="T26" fmla="*/ 100 w 192"/>
                  <a:gd name="T27" fmla="*/ 77 h 119"/>
                  <a:gd name="T28" fmla="*/ 76 w 192"/>
                  <a:gd name="T29" fmla="*/ 89 h 119"/>
                  <a:gd name="T30" fmla="*/ 52 w 192"/>
                  <a:gd name="T31" fmla="*/ 99 h 119"/>
                  <a:gd name="T32" fmla="*/ 30 w 192"/>
                  <a:gd name="T33" fmla="*/ 108 h 119"/>
                  <a:gd name="T34" fmla="*/ 6 w 192"/>
                  <a:gd name="T35" fmla="*/ 119 h 119"/>
                  <a:gd name="T36" fmla="*/ 0 w 192"/>
                  <a:gd name="T37" fmla="*/ 92 h 11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2"/>
                  <a:gd name="T58" fmla="*/ 0 h 119"/>
                  <a:gd name="T59" fmla="*/ 192 w 192"/>
                  <a:gd name="T60" fmla="*/ 119 h 11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2" h="119">
                    <a:moveTo>
                      <a:pt x="0" y="92"/>
                    </a:moveTo>
                    <a:lnTo>
                      <a:pt x="22" y="83"/>
                    </a:lnTo>
                    <a:lnTo>
                      <a:pt x="47" y="73"/>
                    </a:lnTo>
                    <a:lnTo>
                      <a:pt x="69" y="62"/>
                    </a:lnTo>
                    <a:lnTo>
                      <a:pt x="90" y="53"/>
                    </a:lnTo>
                    <a:lnTo>
                      <a:pt x="112" y="40"/>
                    </a:lnTo>
                    <a:lnTo>
                      <a:pt x="135" y="27"/>
                    </a:lnTo>
                    <a:lnTo>
                      <a:pt x="157" y="14"/>
                    </a:lnTo>
                    <a:lnTo>
                      <a:pt x="178" y="0"/>
                    </a:lnTo>
                    <a:lnTo>
                      <a:pt x="192" y="23"/>
                    </a:lnTo>
                    <a:lnTo>
                      <a:pt x="170" y="38"/>
                    </a:lnTo>
                    <a:lnTo>
                      <a:pt x="147" y="52"/>
                    </a:lnTo>
                    <a:lnTo>
                      <a:pt x="123" y="63"/>
                    </a:lnTo>
                    <a:lnTo>
                      <a:pt x="100" y="77"/>
                    </a:lnTo>
                    <a:lnTo>
                      <a:pt x="76" y="89"/>
                    </a:lnTo>
                    <a:lnTo>
                      <a:pt x="52" y="99"/>
                    </a:lnTo>
                    <a:lnTo>
                      <a:pt x="30" y="108"/>
                    </a:lnTo>
                    <a:lnTo>
                      <a:pt x="6" y="119"/>
                    </a:lnTo>
                    <a:lnTo>
                      <a:pt x="0" y="92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04" name="Freeform 73"/>
              <p:cNvSpPr>
                <a:spLocks/>
              </p:cNvSpPr>
              <p:nvPr/>
            </p:nvSpPr>
            <p:spPr bwMode="auto">
              <a:xfrm>
                <a:off x="3513" y="3212"/>
                <a:ext cx="22" cy="32"/>
              </a:xfrm>
              <a:custGeom>
                <a:avLst/>
                <a:gdLst>
                  <a:gd name="T0" fmla="*/ 22 w 22"/>
                  <a:gd name="T1" fmla="*/ 26 h 32"/>
                  <a:gd name="T2" fmla="*/ 5 w 22"/>
                  <a:gd name="T3" fmla="*/ 32 h 32"/>
                  <a:gd name="T4" fmla="*/ 0 w 22"/>
                  <a:gd name="T5" fmla="*/ 7 h 32"/>
                  <a:gd name="T6" fmla="*/ 16 w 22"/>
                  <a:gd name="T7" fmla="*/ 0 h 32"/>
                  <a:gd name="T8" fmla="*/ 22 w 22"/>
                  <a:gd name="T9" fmla="*/ 26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32"/>
                  <a:gd name="T17" fmla="*/ 22 w 22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32">
                    <a:moveTo>
                      <a:pt x="22" y="26"/>
                    </a:moveTo>
                    <a:lnTo>
                      <a:pt x="5" y="32"/>
                    </a:lnTo>
                    <a:lnTo>
                      <a:pt x="0" y="7"/>
                    </a:lnTo>
                    <a:lnTo>
                      <a:pt x="16" y="0"/>
                    </a:lnTo>
                    <a:lnTo>
                      <a:pt x="22" y="26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05" name="Freeform 74"/>
              <p:cNvSpPr>
                <a:spLocks/>
              </p:cNvSpPr>
              <p:nvPr/>
            </p:nvSpPr>
            <p:spPr bwMode="auto">
              <a:xfrm>
                <a:off x="3818" y="2920"/>
                <a:ext cx="146" cy="133"/>
              </a:xfrm>
              <a:custGeom>
                <a:avLst/>
                <a:gdLst>
                  <a:gd name="T0" fmla="*/ 0 w 146"/>
                  <a:gd name="T1" fmla="*/ 81 h 133"/>
                  <a:gd name="T2" fmla="*/ 146 w 146"/>
                  <a:gd name="T3" fmla="*/ 0 h 133"/>
                  <a:gd name="T4" fmla="*/ 81 w 146"/>
                  <a:gd name="T5" fmla="*/ 133 h 133"/>
                  <a:gd name="T6" fmla="*/ 0 w 146"/>
                  <a:gd name="T7" fmla="*/ 81 h 1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6"/>
                  <a:gd name="T13" fmla="*/ 0 h 133"/>
                  <a:gd name="T14" fmla="*/ 146 w 146"/>
                  <a:gd name="T15" fmla="*/ 133 h 1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6" h="133">
                    <a:moveTo>
                      <a:pt x="0" y="81"/>
                    </a:moveTo>
                    <a:lnTo>
                      <a:pt x="146" y="0"/>
                    </a:lnTo>
                    <a:lnTo>
                      <a:pt x="81" y="133"/>
                    </a:lnTo>
                    <a:lnTo>
                      <a:pt x="0" y="8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06" name="Freeform 75"/>
              <p:cNvSpPr>
                <a:spLocks/>
              </p:cNvSpPr>
              <p:nvPr/>
            </p:nvSpPr>
            <p:spPr bwMode="auto">
              <a:xfrm>
                <a:off x="3816" y="2905"/>
                <a:ext cx="167" cy="105"/>
              </a:xfrm>
              <a:custGeom>
                <a:avLst/>
                <a:gdLst>
                  <a:gd name="T0" fmla="*/ 139 w 167"/>
                  <a:gd name="T1" fmla="*/ 17 h 105"/>
                  <a:gd name="T2" fmla="*/ 152 w 167"/>
                  <a:gd name="T3" fmla="*/ 24 h 105"/>
                  <a:gd name="T4" fmla="*/ 7 w 167"/>
                  <a:gd name="T5" fmla="*/ 105 h 105"/>
                  <a:gd name="T6" fmla="*/ 0 w 167"/>
                  <a:gd name="T7" fmla="*/ 91 h 105"/>
                  <a:gd name="T8" fmla="*/ 146 w 167"/>
                  <a:gd name="T9" fmla="*/ 10 h 105"/>
                  <a:gd name="T10" fmla="*/ 156 w 167"/>
                  <a:gd name="T11" fmla="*/ 19 h 105"/>
                  <a:gd name="T12" fmla="*/ 146 w 167"/>
                  <a:gd name="T13" fmla="*/ 10 h 105"/>
                  <a:gd name="T14" fmla="*/ 167 w 167"/>
                  <a:gd name="T15" fmla="*/ 0 h 105"/>
                  <a:gd name="T16" fmla="*/ 156 w 167"/>
                  <a:gd name="T17" fmla="*/ 19 h 105"/>
                  <a:gd name="T18" fmla="*/ 139 w 167"/>
                  <a:gd name="T19" fmla="*/ 17 h 10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7"/>
                  <a:gd name="T31" fmla="*/ 0 h 105"/>
                  <a:gd name="T32" fmla="*/ 167 w 167"/>
                  <a:gd name="T33" fmla="*/ 105 h 10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7" h="105">
                    <a:moveTo>
                      <a:pt x="139" y="17"/>
                    </a:moveTo>
                    <a:lnTo>
                      <a:pt x="152" y="24"/>
                    </a:lnTo>
                    <a:lnTo>
                      <a:pt x="7" y="105"/>
                    </a:lnTo>
                    <a:lnTo>
                      <a:pt x="0" y="91"/>
                    </a:lnTo>
                    <a:lnTo>
                      <a:pt x="146" y="10"/>
                    </a:lnTo>
                    <a:lnTo>
                      <a:pt x="156" y="19"/>
                    </a:lnTo>
                    <a:lnTo>
                      <a:pt x="146" y="10"/>
                    </a:lnTo>
                    <a:lnTo>
                      <a:pt x="167" y="0"/>
                    </a:lnTo>
                    <a:lnTo>
                      <a:pt x="156" y="19"/>
                    </a:lnTo>
                    <a:lnTo>
                      <a:pt x="139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07" name="Freeform 76"/>
              <p:cNvSpPr>
                <a:spLocks/>
              </p:cNvSpPr>
              <p:nvPr/>
            </p:nvSpPr>
            <p:spPr bwMode="auto">
              <a:xfrm>
                <a:off x="3890" y="2917"/>
                <a:ext cx="83" cy="149"/>
              </a:xfrm>
              <a:custGeom>
                <a:avLst/>
                <a:gdLst>
                  <a:gd name="T0" fmla="*/ 17 w 83"/>
                  <a:gd name="T1" fmla="*/ 129 h 149"/>
                  <a:gd name="T2" fmla="*/ 0 w 83"/>
                  <a:gd name="T3" fmla="*/ 134 h 149"/>
                  <a:gd name="T4" fmla="*/ 66 w 83"/>
                  <a:gd name="T5" fmla="*/ 0 h 149"/>
                  <a:gd name="T6" fmla="*/ 83 w 83"/>
                  <a:gd name="T7" fmla="*/ 3 h 149"/>
                  <a:gd name="T8" fmla="*/ 18 w 83"/>
                  <a:gd name="T9" fmla="*/ 136 h 149"/>
                  <a:gd name="T10" fmla="*/ 2 w 83"/>
                  <a:gd name="T11" fmla="*/ 143 h 149"/>
                  <a:gd name="T12" fmla="*/ 18 w 83"/>
                  <a:gd name="T13" fmla="*/ 136 h 149"/>
                  <a:gd name="T14" fmla="*/ 13 w 83"/>
                  <a:gd name="T15" fmla="*/ 149 h 149"/>
                  <a:gd name="T16" fmla="*/ 2 w 83"/>
                  <a:gd name="T17" fmla="*/ 143 h 149"/>
                  <a:gd name="T18" fmla="*/ 17 w 83"/>
                  <a:gd name="T19" fmla="*/ 129 h 14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3"/>
                  <a:gd name="T31" fmla="*/ 0 h 149"/>
                  <a:gd name="T32" fmla="*/ 83 w 83"/>
                  <a:gd name="T33" fmla="*/ 149 h 14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3" h="149">
                    <a:moveTo>
                      <a:pt x="17" y="129"/>
                    </a:moveTo>
                    <a:lnTo>
                      <a:pt x="0" y="134"/>
                    </a:lnTo>
                    <a:lnTo>
                      <a:pt x="66" y="0"/>
                    </a:lnTo>
                    <a:lnTo>
                      <a:pt x="83" y="3"/>
                    </a:lnTo>
                    <a:lnTo>
                      <a:pt x="18" y="136"/>
                    </a:lnTo>
                    <a:lnTo>
                      <a:pt x="2" y="143"/>
                    </a:lnTo>
                    <a:lnTo>
                      <a:pt x="18" y="136"/>
                    </a:lnTo>
                    <a:lnTo>
                      <a:pt x="13" y="149"/>
                    </a:lnTo>
                    <a:lnTo>
                      <a:pt x="2" y="143"/>
                    </a:lnTo>
                    <a:lnTo>
                      <a:pt x="17" y="1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08" name="Freeform 77"/>
              <p:cNvSpPr>
                <a:spLocks/>
              </p:cNvSpPr>
              <p:nvPr/>
            </p:nvSpPr>
            <p:spPr bwMode="auto">
              <a:xfrm>
                <a:off x="3800" y="2993"/>
                <a:ext cx="104" cy="65"/>
              </a:xfrm>
              <a:custGeom>
                <a:avLst/>
                <a:gdLst>
                  <a:gd name="T0" fmla="*/ 21 w 104"/>
                  <a:gd name="T1" fmla="*/ 14 h 65"/>
                  <a:gd name="T2" fmla="*/ 24 w 104"/>
                  <a:gd name="T3" fmla="*/ 0 h 65"/>
                  <a:gd name="T4" fmla="*/ 104 w 104"/>
                  <a:gd name="T5" fmla="*/ 52 h 65"/>
                  <a:gd name="T6" fmla="*/ 89 w 104"/>
                  <a:gd name="T7" fmla="*/ 65 h 65"/>
                  <a:gd name="T8" fmla="*/ 11 w 104"/>
                  <a:gd name="T9" fmla="*/ 14 h 65"/>
                  <a:gd name="T10" fmla="*/ 14 w 104"/>
                  <a:gd name="T11" fmla="*/ 0 h 65"/>
                  <a:gd name="T12" fmla="*/ 11 w 104"/>
                  <a:gd name="T13" fmla="*/ 14 h 65"/>
                  <a:gd name="T14" fmla="*/ 0 w 104"/>
                  <a:gd name="T15" fmla="*/ 8 h 65"/>
                  <a:gd name="T16" fmla="*/ 14 w 104"/>
                  <a:gd name="T17" fmla="*/ 0 h 65"/>
                  <a:gd name="T18" fmla="*/ 21 w 104"/>
                  <a:gd name="T19" fmla="*/ 14 h 6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4"/>
                  <a:gd name="T31" fmla="*/ 0 h 65"/>
                  <a:gd name="T32" fmla="*/ 104 w 104"/>
                  <a:gd name="T33" fmla="*/ 65 h 6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4" h="65">
                    <a:moveTo>
                      <a:pt x="21" y="14"/>
                    </a:moveTo>
                    <a:lnTo>
                      <a:pt x="24" y="0"/>
                    </a:lnTo>
                    <a:lnTo>
                      <a:pt x="104" y="52"/>
                    </a:lnTo>
                    <a:lnTo>
                      <a:pt x="89" y="65"/>
                    </a:lnTo>
                    <a:lnTo>
                      <a:pt x="11" y="14"/>
                    </a:lnTo>
                    <a:lnTo>
                      <a:pt x="14" y="0"/>
                    </a:lnTo>
                    <a:lnTo>
                      <a:pt x="11" y="14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21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09" name="Freeform 78"/>
              <p:cNvSpPr>
                <a:spLocks/>
              </p:cNvSpPr>
              <p:nvPr/>
            </p:nvSpPr>
            <p:spPr bwMode="auto">
              <a:xfrm>
                <a:off x="3902" y="2948"/>
                <a:ext cx="45" cy="31"/>
              </a:xfrm>
              <a:custGeom>
                <a:avLst/>
                <a:gdLst>
                  <a:gd name="T0" fmla="*/ 0 w 45"/>
                  <a:gd name="T1" fmla="*/ 15 h 31"/>
                  <a:gd name="T2" fmla="*/ 15 w 45"/>
                  <a:gd name="T3" fmla="*/ 0 h 31"/>
                  <a:gd name="T4" fmla="*/ 45 w 45"/>
                  <a:gd name="T5" fmla="*/ 15 h 31"/>
                  <a:gd name="T6" fmla="*/ 30 w 45"/>
                  <a:gd name="T7" fmla="*/ 31 h 31"/>
                  <a:gd name="T8" fmla="*/ 0 w 45"/>
                  <a:gd name="T9" fmla="*/ 15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31"/>
                  <a:gd name="T17" fmla="*/ 45 w 45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31">
                    <a:moveTo>
                      <a:pt x="0" y="15"/>
                    </a:moveTo>
                    <a:lnTo>
                      <a:pt x="15" y="0"/>
                    </a:lnTo>
                    <a:lnTo>
                      <a:pt x="45" y="15"/>
                    </a:lnTo>
                    <a:lnTo>
                      <a:pt x="30" y="31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10" name="Freeform 79"/>
              <p:cNvSpPr>
                <a:spLocks/>
              </p:cNvSpPr>
              <p:nvPr/>
            </p:nvSpPr>
            <p:spPr bwMode="auto">
              <a:xfrm>
                <a:off x="3739" y="2962"/>
                <a:ext cx="192" cy="164"/>
              </a:xfrm>
              <a:custGeom>
                <a:avLst/>
                <a:gdLst>
                  <a:gd name="T0" fmla="*/ 0 w 192"/>
                  <a:gd name="T1" fmla="*/ 138 h 164"/>
                  <a:gd name="T2" fmla="*/ 0 w 192"/>
                  <a:gd name="T3" fmla="*/ 138 h 164"/>
                  <a:gd name="T4" fmla="*/ 24 w 192"/>
                  <a:gd name="T5" fmla="*/ 121 h 164"/>
                  <a:gd name="T6" fmla="*/ 45 w 192"/>
                  <a:gd name="T7" fmla="*/ 106 h 164"/>
                  <a:gd name="T8" fmla="*/ 68 w 192"/>
                  <a:gd name="T9" fmla="*/ 89 h 164"/>
                  <a:gd name="T10" fmla="*/ 88 w 192"/>
                  <a:gd name="T11" fmla="*/ 72 h 164"/>
                  <a:gd name="T12" fmla="*/ 106 w 192"/>
                  <a:gd name="T13" fmla="*/ 55 h 164"/>
                  <a:gd name="T14" fmla="*/ 125 w 192"/>
                  <a:gd name="T15" fmla="*/ 39 h 164"/>
                  <a:gd name="T16" fmla="*/ 145 w 192"/>
                  <a:gd name="T17" fmla="*/ 21 h 164"/>
                  <a:gd name="T18" fmla="*/ 161 w 192"/>
                  <a:gd name="T19" fmla="*/ 0 h 164"/>
                  <a:gd name="T20" fmla="*/ 192 w 192"/>
                  <a:gd name="T21" fmla="*/ 17 h 164"/>
                  <a:gd name="T22" fmla="*/ 171 w 192"/>
                  <a:gd name="T23" fmla="*/ 38 h 164"/>
                  <a:gd name="T24" fmla="*/ 152 w 192"/>
                  <a:gd name="T25" fmla="*/ 58 h 164"/>
                  <a:gd name="T26" fmla="*/ 132 w 192"/>
                  <a:gd name="T27" fmla="*/ 75 h 164"/>
                  <a:gd name="T28" fmla="*/ 112 w 192"/>
                  <a:gd name="T29" fmla="*/ 94 h 164"/>
                  <a:gd name="T30" fmla="*/ 90 w 192"/>
                  <a:gd name="T31" fmla="*/ 111 h 164"/>
                  <a:gd name="T32" fmla="*/ 68 w 192"/>
                  <a:gd name="T33" fmla="*/ 130 h 164"/>
                  <a:gd name="T34" fmla="*/ 43 w 192"/>
                  <a:gd name="T35" fmla="*/ 146 h 164"/>
                  <a:gd name="T36" fmla="*/ 19 w 192"/>
                  <a:gd name="T37" fmla="*/ 164 h 164"/>
                  <a:gd name="T38" fmla="*/ 0 w 192"/>
                  <a:gd name="T39" fmla="*/ 138 h 16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92"/>
                  <a:gd name="T61" fmla="*/ 0 h 164"/>
                  <a:gd name="T62" fmla="*/ 192 w 192"/>
                  <a:gd name="T63" fmla="*/ 164 h 16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92" h="164">
                    <a:moveTo>
                      <a:pt x="0" y="138"/>
                    </a:moveTo>
                    <a:lnTo>
                      <a:pt x="0" y="138"/>
                    </a:lnTo>
                    <a:lnTo>
                      <a:pt x="24" y="121"/>
                    </a:lnTo>
                    <a:lnTo>
                      <a:pt x="45" y="106"/>
                    </a:lnTo>
                    <a:lnTo>
                      <a:pt x="68" y="89"/>
                    </a:lnTo>
                    <a:lnTo>
                      <a:pt x="88" y="72"/>
                    </a:lnTo>
                    <a:lnTo>
                      <a:pt x="106" y="55"/>
                    </a:lnTo>
                    <a:lnTo>
                      <a:pt x="125" y="39"/>
                    </a:lnTo>
                    <a:lnTo>
                      <a:pt x="145" y="21"/>
                    </a:lnTo>
                    <a:lnTo>
                      <a:pt x="161" y="0"/>
                    </a:lnTo>
                    <a:lnTo>
                      <a:pt x="192" y="17"/>
                    </a:lnTo>
                    <a:lnTo>
                      <a:pt x="171" y="38"/>
                    </a:lnTo>
                    <a:lnTo>
                      <a:pt x="152" y="58"/>
                    </a:lnTo>
                    <a:lnTo>
                      <a:pt x="132" y="75"/>
                    </a:lnTo>
                    <a:lnTo>
                      <a:pt x="112" y="94"/>
                    </a:lnTo>
                    <a:lnTo>
                      <a:pt x="90" y="111"/>
                    </a:lnTo>
                    <a:lnTo>
                      <a:pt x="68" y="130"/>
                    </a:lnTo>
                    <a:lnTo>
                      <a:pt x="43" y="146"/>
                    </a:lnTo>
                    <a:lnTo>
                      <a:pt x="19" y="164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11" name="Freeform 80"/>
              <p:cNvSpPr>
                <a:spLocks/>
              </p:cNvSpPr>
              <p:nvPr/>
            </p:nvSpPr>
            <p:spPr bwMode="auto">
              <a:xfrm>
                <a:off x="3559" y="3100"/>
                <a:ext cx="193" cy="128"/>
              </a:xfrm>
              <a:custGeom>
                <a:avLst/>
                <a:gdLst>
                  <a:gd name="T0" fmla="*/ 0 w 193"/>
                  <a:gd name="T1" fmla="*/ 98 h 128"/>
                  <a:gd name="T2" fmla="*/ 22 w 193"/>
                  <a:gd name="T3" fmla="*/ 87 h 128"/>
                  <a:gd name="T4" fmla="*/ 45 w 193"/>
                  <a:gd name="T5" fmla="*/ 77 h 128"/>
                  <a:gd name="T6" fmla="*/ 66 w 193"/>
                  <a:gd name="T7" fmla="*/ 65 h 128"/>
                  <a:gd name="T8" fmla="*/ 90 w 193"/>
                  <a:gd name="T9" fmla="*/ 54 h 128"/>
                  <a:gd name="T10" fmla="*/ 111 w 193"/>
                  <a:gd name="T11" fmla="*/ 42 h 128"/>
                  <a:gd name="T12" fmla="*/ 132 w 193"/>
                  <a:gd name="T13" fmla="*/ 28 h 128"/>
                  <a:gd name="T14" fmla="*/ 154 w 193"/>
                  <a:gd name="T15" fmla="*/ 13 h 128"/>
                  <a:gd name="T16" fmla="*/ 175 w 193"/>
                  <a:gd name="T17" fmla="*/ 0 h 128"/>
                  <a:gd name="T18" fmla="*/ 193 w 193"/>
                  <a:gd name="T19" fmla="*/ 25 h 128"/>
                  <a:gd name="T20" fmla="*/ 172 w 193"/>
                  <a:gd name="T21" fmla="*/ 41 h 128"/>
                  <a:gd name="T22" fmla="*/ 149 w 193"/>
                  <a:gd name="T23" fmla="*/ 56 h 128"/>
                  <a:gd name="T24" fmla="*/ 125 w 193"/>
                  <a:gd name="T25" fmla="*/ 68 h 128"/>
                  <a:gd name="T26" fmla="*/ 102 w 193"/>
                  <a:gd name="T27" fmla="*/ 82 h 128"/>
                  <a:gd name="T28" fmla="*/ 80 w 193"/>
                  <a:gd name="T29" fmla="*/ 94 h 128"/>
                  <a:gd name="T30" fmla="*/ 56 w 193"/>
                  <a:gd name="T31" fmla="*/ 107 h 128"/>
                  <a:gd name="T32" fmla="*/ 33 w 193"/>
                  <a:gd name="T33" fmla="*/ 119 h 128"/>
                  <a:gd name="T34" fmla="*/ 8 w 193"/>
                  <a:gd name="T35" fmla="*/ 128 h 128"/>
                  <a:gd name="T36" fmla="*/ 0 w 193"/>
                  <a:gd name="T37" fmla="*/ 98 h 12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3"/>
                  <a:gd name="T58" fmla="*/ 0 h 128"/>
                  <a:gd name="T59" fmla="*/ 193 w 193"/>
                  <a:gd name="T60" fmla="*/ 128 h 12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3" h="128">
                    <a:moveTo>
                      <a:pt x="0" y="98"/>
                    </a:moveTo>
                    <a:lnTo>
                      <a:pt x="22" y="87"/>
                    </a:lnTo>
                    <a:lnTo>
                      <a:pt x="45" y="77"/>
                    </a:lnTo>
                    <a:lnTo>
                      <a:pt x="66" y="65"/>
                    </a:lnTo>
                    <a:lnTo>
                      <a:pt x="90" y="54"/>
                    </a:lnTo>
                    <a:lnTo>
                      <a:pt x="111" y="42"/>
                    </a:lnTo>
                    <a:lnTo>
                      <a:pt x="132" y="28"/>
                    </a:lnTo>
                    <a:lnTo>
                      <a:pt x="154" y="13"/>
                    </a:lnTo>
                    <a:lnTo>
                      <a:pt x="175" y="0"/>
                    </a:lnTo>
                    <a:lnTo>
                      <a:pt x="193" y="25"/>
                    </a:lnTo>
                    <a:lnTo>
                      <a:pt x="172" y="41"/>
                    </a:lnTo>
                    <a:lnTo>
                      <a:pt x="149" y="56"/>
                    </a:lnTo>
                    <a:lnTo>
                      <a:pt x="125" y="68"/>
                    </a:lnTo>
                    <a:lnTo>
                      <a:pt x="102" y="82"/>
                    </a:lnTo>
                    <a:lnTo>
                      <a:pt x="80" y="94"/>
                    </a:lnTo>
                    <a:lnTo>
                      <a:pt x="56" y="107"/>
                    </a:lnTo>
                    <a:lnTo>
                      <a:pt x="33" y="119"/>
                    </a:lnTo>
                    <a:lnTo>
                      <a:pt x="8" y="128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12" name="Freeform 81"/>
              <p:cNvSpPr>
                <a:spLocks/>
              </p:cNvSpPr>
              <p:nvPr/>
            </p:nvSpPr>
            <p:spPr bwMode="auto">
              <a:xfrm>
                <a:off x="3540" y="3196"/>
                <a:ext cx="28" cy="40"/>
              </a:xfrm>
              <a:custGeom>
                <a:avLst/>
                <a:gdLst>
                  <a:gd name="T0" fmla="*/ 28 w 28"/>
                  <a:gd name="T1" fmla="*/ 31 h 40"/>
                  <a:gd name="T2" fmla="*/ 8 w 28"/>
                  <a:gd name="T3" fmla="*/ 40 h 40"/>
                  <a:gd name="T4" fmla="*/ 0 w 28"/>
                  <a:gd name="T5" fmla="*/ 9 h 40"/>
                  <a:gd name="T6" fmla="*/ 19 w 28"/>
                  <a:gd name="T7" fmla="*/ 0 h 40"/>
                  <a:gd name="T8" fmla="*/ 28 w 28"/>
                  <a:gd name="T9" fmla="*/ 31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40"/>
                  <a:gd name="T17" fmla="*/ 28 w 28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40">
                    <a:moveTo>
                      <a:pt x="28" y="31"/>
                    </a:moveTo>
                    <a:lnTo>
                      <a:pt x="8" y="40"/>
                    </a:lnTo>
                    <a:lnTo>
                      <a:pt x="0" y="9"/>
                    </a:lnTo>
                    <a:lnTo>
                      <a:pt x="19" y="0"/>
                    </a:lnTo>
                    <a:lnTo>
                      <a:pt x="28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13" name="Freeform 82"/>
              <p:cNvSpPr>
                <a:spLocks/>
              </p:cNvSpPr>
              <p:nvPr/>
            </p:nvSpPr>
            <p:spPr bwMode="auto">
              <a:xfrm>
                <a:off x="3818" y="2920"/>
                <a:ext cx="146" cy="133"/>
              </a:xfrm>
              <a:custGeom>
                <a:avLst/>
                <a:gdLst>
                  <a:gd name="T0" fmla="*/ 0 w 146"/>
                  <a:gd name="T1" fmla="*/ 81 h 133"/>
                  <a:gd name="T2" fmla="*/ 146 w 146"/>
                  <a:gd name="T3" fmla="*/ 0 h 133"/>
                  <a:gd name="T4" fmla="*/ 81 w 146"/>
                  <a:gd name="T5" fmla="*/ 133 h 133"/>
                  <a:gd name="T6" fmla="*/ 0 w 146"/>
                  <a:gd name="T7" fmla="*/ 81 h 1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6"/>
                  <a:gd name="T13" fmla="*/ 0 h 133"/>
                  <a:gd name="T14" fmla="*/ 146 w 146"/>
                  <a:gd name="T15" fmla="*/ 133 h 1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6" h="133">
                    <a:moveTo>
                      <a:pt x="0" y="81"/>
                    </a:moveTo>
                    <a:lnTo>
                      <a:pt x="146" y="0"/>
                    </a:lnTo>
                    <a:lnTo>
                      <a:pt x="81" y="133"/>
                    </a:lnTo>
                    <a:lnTo>
                      <a:pt x="0" y="81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14" name="Freeform 83"/>
              <p:cNvSpPr>
                <a:spLocks/>
              </p:cNvSpPr>
              <p:nvPr/>
            </p:nvSpPr>
            <p:spPr bwMode="auto">
              <a:xfrm>
                <a:off x="3814" y="2909"/>
                <a:ext cx="159" cy="97"/>
              </a:xfrm>
              <a:custGeom>
                <a:avLst/>
                <a:gdLst>
                  <a:gd name="T0" fmla="*/ 143 w 159"/>
                  <a:gd name="T1" fmla="*/ 11 h 97"/>
                  <a:gd name="T2" fmla="*/ 150 w 159"/>
                  <a:gd name="T3" fmla="*/ 15 h 97"/>
                  <a:gd name="T4" fmla="*/ 6 w 159"/>
                  <a:gd name="T5" fmla="*/ 97 h 97"/>
                  <a:gd name="T6" fmla="*/ 0 w 159"/>
                  <a:gd name="T7" fmla="*/ 90 h 97"/>
                  <a:gd name="T8" fmla="*/ 146 w 159"/>
                  <a:gd name="T9" fmla="*/ 8 h 97"/>
                  <a:gd name="T10" fmla="*/ 153 w 159"/>
                  <a:gd name="T11" fmla="*/ 11 h 97"/>
                  <a:gd name="T12" fmla="*/ 146 w 159"/>
                  <a:gd name="T13" fmla="*/ 8 h 97"/>
                  <a:gd name="T14" fmla="*/ 159 w 159"/>
                  <a:gd name="T15" fmla="*/ 0 h 97"/>
                  <a:gd name="T16" fmla="*/ 153 w 159"/>
                  <a:gd name="T17" fmla="*/ 11 h 97"/>
                  <a:gd name="T18" fmla="*/ 143 w 159"/>
                  <a:gd name="T19" fmla="*/ 11 h 9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59"/>
                  <a:gd name="T31" fmla="*/ 0 h 97"/>
                  <a:gd name="T32" fmla="*/ 159 w 159"/>
                  <a:gd name="T33" fmla="*/ 97 h 9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59" h="97">
                    <a:moveTo>
                      <a:pt x="143" y="11"/>
                    </a:moveTo>
                    <a:lnTo>
                      <a:pt x="150" y="15"/>
                    </a:lnTo>
                    <a:lnTo>
                      <a:pt x="6" y="97"/>
                    </a:lnTo>
                    <a:lnTo>
                      <a:pt x="0" y="90"/>
                    </a:lnTo>
                    <a:lnTo>
                      <a:pt x="146" y="8"/>
                    </a:lnTo>
                    <a:lnTo>
                      <a:pt x="153" y="11"/>
                    </a:lnTo>
                    <a:lnTo>
                      <a:pt x="146" y="8"/>
                    </a:lnTo>
                    <a:lnTo>
                      <a:pt x="159" y="0"/>
                    </a:lnTo>
                    <a:lnTo>
                      <a:pt x="153" y="11"/>
                    </a:lnTo>
                    <a:lnTo>
                      <a:pt x="143" y="11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15" name="Freeform 84"/>
              <p:cNvSpPr>
                <a:spLocks/>
              </p:cNvSpPr>
              <p:nvPr/>
            </p:nvSpPr>
            <p:spPr bwMode="auto">
              <a:xfrm>
                <a:off x="3893" y="2920"/>
                <a:ext cx="75" cy="140"/>
              </a:xfrm>
              <a:custGeom>
                <a:avLst/>
                <a:gdLst>
                  <a:gd name="T0" fmla="*/ 10 w 75"/>
                  <a:gd name="T1" fmla="*/ 127 h 140"/>
                  <a:gd name="T2" fmla="*/ 0 w 75"/>
                  <a:gd name="T3" fmla="*/ 131 h 140"/>
                  <a:gd name="T4" fmla="*/ 67 w 75"/>
                  <a:gd name="T5" fmla="*/ 0 h 140"/>
                  <a:gd name="T6" fmla="*/ 75 w 75"/>
                  <a:gd name="T7" fmla="*/ 1 h 140"/>
                  <a:gd name="T8" fmla="*/ 11 w 75"/>
                  <a:gd name="T9" fmla="*/ 133 h 140"/>
                  <a:gd name="T10" fmla="*/ 1 w 75"/>
                  <a:gd name="T11" fmla="*/ 136 h 140"/>
                  <a:gd name="T12" fmla="*/ 11 w 75"/>
                  <a:gd name="T13" fmla="*/ 133 h 140"/>
                  <a:gd name="T14" fmla="*/ 7 w 75"/>
                  <a:gd name="T15" fmla="*/ 140 h 140"/>
                  <a:gd name="T16" fmla="*/ 1 w 75"/>
                  <a:gd name="T17" fmla="*/ 136 h 140"/>
                  <a:gd name="T18" fmla="*/ 10 w 75"/>
                  <a:gd name="T19" fmla="*/ 127 h 1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5"/>
                  <a:gd name="T31" fmla="*/ 0 h 140"/>
                  <a:gd name="T32" fmla="*/ 75 w 75"/>
                  <a:gd name="T33" fmla="*/ 140 h 1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5" h="140">
                    <a:moveTo>
                      <a:pt x="10" y="127"/>
                    </a:moveTo>
                    <a:lnTo>
                      <a:pt x="0" y="131"/>
                    </a:lnTo>
                    <a:lnTo>
                      <a:pt x="67" y="0"/>
                    </a:lnTo>
                    <a:lnTo>
                      <a:pt x="75" y="1"/>
                    </a:lnTo>
                    <a:lnTo>
                      <a:pt x="11" y="133"/>
                    </a:lnTo>
                    <a:lnTo>
                      <a:pt x="1" y="136"/>
                    </a:lnTo>
                    <a:lnTo>
                      <a:pt x="11" y="133"/>
                    </a:lnTo>
                    <a:lnTo>
                      <a:pt x="7" y="140"/>
                    </a:lnTo>
                    <a:lnTo>
                      <a:pt x="1" y="136"/>
                    </a:lnTo>
                    <a:lnTo>
                      <a:pt x="10" y="127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16" name="Freeform 85"/>
              <p:cNvSpPr>
                <a:spLocks/>
              </p:cNvSpPr>
              <p:nvPr/>
            </p:nvSpPr>
            <p:spPr bwMode="auto">
              <a:xfrm>
                <a:off x="3807" y="2996"/>
                <a:ext cx="94" cy="60"/>
              </a:xfrm>
              <a:custGeom>
                <a:avLst/>
                <a:gdLst>
                  <a:gd name="T0" fmla="*/ 11 w 94"/>
                  <a:gd name="T1" fmla="*/ 8 h 60"/>
                  <a:gd name="T2" fmla="*/ 14 w 94"/>
                  <a:gd name="T3" fmla="*/ 0 h 60"/>
                  <a:gd name="T4" fmla="*/ 94 w 94"/>
                  <a:gd name="T5" fmla="*/ 52 h 60"/>
                  <a:gd name="T6" fmla="*/ 85 w 94"/>
                  <a:gd name="T7" fmla="*/ 60 h 60"/>
                  <a:gd name="T8" fmla="*/ 4 w 94"/>
                  <a:gd name="T9" fmla="*/ 9 h 60"/>
                  <a:gd name="T10" fmla="*/ 6 w 94"/>
                  <a:gd name="T11" fmla="*/ 2 h 60"/>
                  <a:gd name="T12" fmla="*/ 4 w 94"/>
                  <a:gd name="T13" fmla="*/ 9 h 60"/>
                  <a:gd name="T14" fmla="*/ 0 w 94"/>
                  <a:gd name="T15" fmla="*/ 6 h 60"/>
                  <a:gd name="T16" fmla="*/ 6 w 94"/>
                  <a:gd name="T17" fmla="*/ 2 h 60"/>
                  <a:gd name="T18" fmla="*/ 11 w 94"/>
                  <a:gd name="T19" fmla="*/ 8 h 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4"/>
                  <a:gd name="T31" fmla="*/ 0 h 60"/>
                  <a:gd name="T32" fmla="*/ 94 w 94"/>
                  <a:gd name="T33" fmla="*/ 60 h 6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4" h="60">
                    <a:moveTo>
                      <a:pt x="11" y="8"/>
                    </a:moveTo>
                    <a:lnTo>
                      <a:pt x="14" y="0"/>
                    </a:lnTo>
                    <a:lnTo>
                      <a:pt x="94" y="52"/>
                    </a:lnTo>
                    <a:lnTo>
                      <a:pt x="85" y="60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4" y="9"/>
                    </a:lnTo>
                    <a:lnTo>
                      <a:pt x="0" y="6"/>
                    </a:lnTo>
                    <a:lnTo>
                      <a:pt x="6" y="2"/>
                    </a:lnTo>
                    <a:lnTo>
                      <a:pt x="11" y="8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17" name="Freeform 86"/>
              <p:cNvSpPr>
                <a:spLocks/>
              </p:cNvSpPr>
              <p:nvPr/>
            </p:nvSpPr>
            <p:spPr bwMode="auto">
              <a:xfrm>
                <a:off x="3904" y="2952"/>
                <a:ext cx="37" cy="27"/>
              </a:xfrm>
              <a:custGeom>
                <a:avLst/>
                <a:gdLst>
                  <a:gd name="T0" fmla="*/ 0 w 37"/>
                  <a:gd name="T1" fmla="*/ 13 h 27"/>
                  <a:gd name="T2" fmla="*/ 13 w 37"/>
                  <a:gd name="T3" fmla="*/ 0 h 27"/>
                  <a:gd name="T4" fmla="*/ 37 w 37"/>
                  <a:gd name="T5" fmla="*/ 13 h 27"/>
                  <a:gd name="T6" fmla="*/ 25 w 37"/>
                  <a:gd name="T7" fmla="*/ 27 h 27"/>
                  <a:gd name="T8" fmla="*/ 0 w 37"/>
                  <a:gd name="T9" fmla="*/ 13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27"/>
                  <a:gd name="T17" fmla="*/ 37 w 37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27">
                    <a:moveTo>
                      <a:pt x="0" y="13"/>
                    </a:moveTo>
                    <a:lnTo>
                      <a:pt x="13" y="0"/>
                    </a:lnTo>
                    <a:lnTo>
                      <a:pt x="37" y="13"/>
                    </a:lnTo>
                    <a:lnTo>
                      <a:pt x="25" y="27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18" name="Freeform 87"/>
              <p:cNvSpPr>
                <a:spLocks/>
              </p:cNvSpPr>
              <p:nvPr/>
            </p:nvSpPr>
            <p:spPr bwMode="auto">
              <a:xfrm>
                <a:off x="3743" y="2964"/>
                <a:ext cx="187" cy="160"/>
              </a:xfrm>
              <a:custGeom>
                <a:avLst/>
                <a:gdLst>
                  <a:gd name="T0" fmla="*/ 0 w 187"/>
                  <a:gd name="T1" fmla="*/ 138 h 160"/>
                  <a:gd name="T2" fmla="*/ 0 w 187"/>
                  <a:gd name="T3" fmla="*/ 138 h 160"/>
                  <a:gd name="T4" fmla="*/ 23 w 187"/>
                  <a:gd name="T5" fmla="*/ 121 h 160"/>
                  <a:gd name="T6" fmla="*/ 47 w 187"/>
                  <a:gd name="T7" fmla="*/ 106 h 160"/>
                  <a:gd name="T8" fmla="*/ 66 w 187"/>
                  <a:gd name="T9" fmla="*/ 89 h 160"/>
                  <a:gd name="T10" fmla="*/ 88 w 187"/>
                  <a:gd name="T11" fmla="*/ 72 h 160"/>
                  <a:gd name="T12" fmla="*/ 108 w 187"/>
                  <a:gd name="T13" fmla="*/ 56 h 160"/>
                  <a:gd name="T14" fmla="*/ 126 w 187"/>
                  <a:gd name="T15" fmla="*/ 39 h 160"/>
                  <a:gd name="T16" fmla="*/ 145 w 187"/>
                  <a:gd name="T17" fmla="*/ 20 h 160"/>
                  <a:gd name="T18" fmla="*/ 163 w 187"/>
                  <a:gd name="T19" fmla="*/ 0 h 160"/>
                  <a:gd name="T20" fmla="*/ 187 w 187"/>
                  <a:gd name="T21" fmla="*/ 13 h 160"/>
                  <a:gd name="T22" fmla="*/ 167 w 187"/>
                  <a:gd name="T23" fmla="*/ 35 h 160"/>
                  <a:gd name="T24" fmla="*/ 148 w 187"/>
                  <a:gd name="T25" fmla="*/ 54 h 160"/>
                  <a:gd name="T26" fmla="*/ 128 w 187"/>
                  <a:gd name="T27" fmla="*/ 72 h 160"/>
                  <a:gd name="T28" fmla="*/ 106 w 187"/>
                  <a:gd name="T29" fmla="*/ 90 h 160"/>
                  <a:gd name="T30" fmla="*/ 85 w 187"/>
                  <a:gd name="T31" fmla="*/ 108 h 160"/>
                  <a:gd name="T32" fmla="*/ 64 w 187"/>
                  <a:gd name="T33" fmla="*/ 124 h 160"/>
                  <a:gd name="T34" fmla="*/ 40 w 187"/>
                  <a:gd name="T35" fmla="*/ 141 h 160"/>
                  <a:gd name="T36" fmla="*/ 15 w 187"/>
                  <a:gd name="T37" fmla="*/ 160 h 160"/>
                  <a:gd name="T38" fmla="*/ 0 w 187"/>
                  <a:gd name="T39" fmla="*/ 138 h 16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87"/>
                  <a:gd name="T61" fmla="*/ 0 h 160"/>
                  <a:gd name="T62" fmla="*/ 187 w 187"/>
                  <a:gd name="T63" fmla="*/ 160 h 16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87" h="160">
                    <a:moveTo>
                      <a:pt x="0" y="138"/>
                    </a:moveTo>
                    <a:lnTo>
                      <a:pt x="0" y="138"/>
                    </a:lnTo>
                    <a:lnTo>
                      <a:pt x="23" y="121"/>
                    </a:lnTo>
                    <a:lnTo>
                      <a:pt x="47" y="106"/>
                    </a:lnTo>
                    <a:lnTo>
                      <a:pt x="66" y="89"/>
                    </a:lnTo>
                    <a:lnTo>
                      <a:pt x="88" y="72"/>
                    </a:lnTo>
                    <a:lnTo>
                      <a:pt x="108" y="56"/>
                    </a:lnTo>
                    <a:lnTo>
                      <a:pt x="126" y="39"/>
                    </a:lnTo>
                    <a:lnTo>
                      <a:pt x="145" y="20"/>
                    </a:lnTo>
                    <a:lnTo>
                      <a:pt x="163" y="0"/>
                    </a:lnTo>
                    <a:lnTo>
                      <a:pt x="187" y="13"/>
                    </a:lnTo>
                    <a:lnTo>
                      <a:pt x="167" y="35"/>
                    </a:lnTo>
                    <a:lnTo>
                      <a:pt x="148" y="54"/>
                    </a:lnTo>
                    <a:lnTo>
                      <a:pt x="128" y="72"/>
                    </a:lnTo>
                    <a:lnTo>
                      <a:pt x="106" y="90"/>
                    </a:lnTo>
                    <a:lnTo>
                      <a:pt x="85" y="108"/>
                    </a:lnTo>
                    <a:lnTo>
                      <a:pt x="64" y="124"/>
                    </a:lnTo>
                    <a:lnTo>
                      <a:pt x="40" y="141"/>
                    </a:lnTo>
                    <a:lnTo>
                      <a:pt x="15" y="16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19" name="Freeform 88"/>
              <p:cNvSpPr>
                <a:spLocks/>
              </p:cNvSpPr>
              <p:nvPr/>
            </p:nvSpPr>
            <p:spPr bwMode="auto">
              <a:xfrm>
                <a:off x="3561" y="3101"/>
                <a:ext cx="191" cy="125"/>
              </a:xfrm>
              <a:custGeom>
                <a:avLst/>
                <a:gdLst>
                  <a:gd name="T0" fmla="*/ 0 w 191"/>
                  <a:gd name="T1" fmla="*/ 100 h 125"/>
                  <a:gd name="T2" fmla="*/ 22 w 191"/>
                  <a:gd name="T3" fmla="*/ 89 h 125"/>
                  <a:gd name="T4" fmla="*/ 45 w 191"/>
                  <a:gd name="T5" fmla="*/ 78 h 125"/>
                  <a:gd name="T6" fmla="*/ 67 w 191"/>
                  <a:gd name="T7" fmla="*/ 66 h 125"/>
                  <a:gd name="T8" fmla="*/ 89 w 191"/>
                  <a:gd name="T9" fmla="*/ 56 h 125"/>
                  <a:gd name="T10" fmla="*/ 111 w 191"/>
                  <a:gd name="T11" fmla="*/ 42 h 125"/>
                  <a:gd name="T12" fmla="*/ 132 w 191"/>
                  <a:gd name="T13" fmla="*/ 30 h 125"/>
                  <a:gd name="T14" fmla="*/ 155 w 191"/>
                  <a:gd name="T15" fmla="*/ 15 h 125"/>
                  <a:gd name="T16" fmla="*/ 176 w 191"/>
                  <a:gd name="T17" fmla="*/ 0 h 125"/>
                  <a:gd name="T18" fmla="*/ 191 w 191"/>
                  <a:gd name="T19" fmla="*/ 22 h 125"/>
                  <a:gd name="T20" fmla="*/ 170 w 191"/>
                  <a:gd name="T21" fmla="*/ 36 h 125"/>
                  <a:gd name="T22" fmla="*/ 147 w 191"/>
                  <a:gd name="T23" fmla="*/ 51 h 125"/>
                  <a:gd name="T24" fmla="*/ 125 w 191"/>
                  <a:gd name="T25" fmla="*/ 64 h 125"/>
                  <a:gd name="T26" fmla="*/ 100 w 191"/>
                  <a:gd name="T27" fmla="*/ 78 h 125"/>
                  <a:gd name="T28" fmla="*/ 77 w 191"/>
                  <a:gd name="T29" fmla="*/ 91 h 125"/>
                  <a:gd name="T30" fmla="*/ 54 w 191"/>
                  <a:gd name="T31" fmla="*/ 103 h 125"/>
                  <a:gd name="T32" fmla="*/ 31 w 191"/>
                  <a:gd name="T33" fmla="*/ 114 h 125"/>
                  <a:gd name="T34" fmla="*/ 6 w 191"/>
                  <a:gd name="T35" fmla="*/ 125 h 125"/>
                  <a:gd name="T36" fmla="*/ 0 w 191"/>
                  <a:gd name="T37" fmla="*/ 100 h 12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1"/>
                  <a:gd name="T58" fmla="*/ 0 h 125"/>
                  <a:gd name="T59" fmla="*/ 191 w 191"/>
                  <a:gd name="T60" fmla="*/ 125 h 12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1" h="125">
                    <a:moveTo>
                      <a:pt x="0" y="100"/>
                    </a:moveTo>
                    <a:lnTo>
                      <a:pt x="22" y="89"/>
                    </a:lnTo>
                    <a:lnTo>
                      <a:pt x="45" y="78"/>
                    </a:lnTo>
                    <a:lnTo>
                      <a:pt x="67" y="66"/>
                    </a:lnTo>
                    <a:lnTo>
                      <a:pt x="89" y="56"/>
                    </a:lnTo>
                    <a:lnTo>
                      <a:pt x="111" y="42"/>
                    </a:lnTo>
                    <a:lnTo>
                      <a:pt x="132" y="30"/>
                    </a:lnTo>
                    <a:lnTo>
                      <a:pt x="155" y="15"/>
                    </a:lnTo>
                    <a:lnTo>
                      <a:pt x="176" y="0"/>
                    </a:lnTo>
                    <a:lnTo>
                      <a:pt x="191" y="22"/>
                    </a:lnTo>
                    <a:lnTo>
                      <a:pt x="170" y="36"/>
                    </a:lnTo>
                    <a:lnTo>
                      <a:pt x="147" y="51"/>
                    </a:lnTo>
                    <a:lnTo>
                      <a:pt x="125" y="64"/>
                    </a:lnTo>
                    <a:lnTo>
                      <a:pt x="100" y="78"/>
                    </a:lnTo>
                    <a:lnTo>
                      <a:pt x="77" y="91"/>
                    </a:lnTo>
                    <a:lnTo>
                      <a:pt x="54" y="103"/>
                    </a:lnTo>
                    <a:lnTo>
                      <a:pt x="31" y="114"/>
                    </a:lnTo>
                    <a:lnTo>
                      <a:pt x="6" y="125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20" name="Freeform 89"/>
              <p:cNvSpPr>
                <a:spLocks/>
              </p:cNvSpPr>
              <p:nvPr/>
            </p:nvSpPr>
            <p:spPr bwMode="auto">
              <a:xfrm>
                <a:off x="3545" y="3199"/>
                <a:ext cx="22" cy="34"/>
              </a:xfrm>
              <a:custGeom>
                <a:avLst/>
                <a:gdLst>
                  <a:gd name="T0" fmla="*/ 22 w 22"/>
                  <a:gd name="T1" fmla="*/ 27 h 34"/>
                  <a:gd name="T2" fmla="*/ 5 w 22"/>
                  <a:gd name="T3" fmla="*/ 34 h 34"/>
                  <a:gd name="T4" fmla="*/ 0 w 22"/>
                  <a:gd name="T5" fmla="*/ 8 h 34"/>
                  <a:gd name="T6" fmla="*/ 16 w 22"/>
                  <a:gd name="T7" fmla="*/ 0 h 34"/>
                  <a:gd name="T8" fmla="*/ 22 w 22"/>
                  <a:gd name="T9" fmla="*/ 27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34"/>
                  <a:gd name="T17" fmla="*/ 22 w 22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34">
                    <a:moveTo>
                      <a:pt x="22" y="27"/>
                    </a:moveTo>
                    <a:lnTo>
                      <a:pt x="5" y="34"/>
                    </a:lnTo>
                    <a:lnTo>
                      <a:pt x="0" y="8"/>
                    </a:lnTo>
                    <a:lnTo>
                      <a:pt x="16" y="0"/>
                    </a:lnTo>
                    <a:lnTo>
                      <a:pt x="22" y="27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21" name="Freeform 90"/>
              <p:cNvSpPr>
                <a:spLocks/>
              </p:cNvSpPr>
              <p:nvPr/>
            </p:nvSpPr>
            <p:spPr bwMode="auto">
              <a:xfrm>
                <a:off x="4033" y="1825"/>
                <a:ext cx="102" cy="162"/>
              </a:xfrm>
              <a:custGeom>
                <a:avLst/>
                <a:gdLst>
                  <a:gd name="T0" fmla="*/ 22 w 102"/>
                  <a:gd name="T1" fmla="*/ 162 h 162"/>
                  <a:gd name="T2" fmla="*/ 0 w 102"/>
                  <a:gd name="T3" fmla="*/ 0 h 162"/>
                  <a:gd name="T4" fmla="*/ 102 w 102"/>
                  <a:gd name="T5" fmla="*/ 120 h 162"/>
                  <a:gd name="T6" fmla="*/ 22 w 102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2"/>
                  <a:gd name="T13" fmla="*/ 0 h 162"/>
                  <a:gd name="T14" fmla="*/ 102 w 102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2" h="162">
                    <a:moveTo>
                      <a:pt x="22" y="162"/>
                    </a:moveTo>
                    <a:lnTo>
                      <a:pt x="0" y="0"/>
                    </a:lnTo>
                    <a:lnTo>
                      <a:pt x="102" y="120"/>
                    </a:lnTo>
                    <a:lnTo>
                      <a:pt x="22" y="1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22" name="Freeform 91"/>
              <p:cNvSpPr>
                <a:spLocks/>
              </p:cNvSpPr>
              <p:nvPr/>
            </p:nvSpPr>
            <p:spPr bwMode="auto">
              <a:xfrm>
                <a:off x="4022" y="1801"/>
                <a:ext cx="40" cy="186"/>
              </a:xfrm>
              <a:custGeom>
                <a:avLst/>
                <a:gdLst>
                  <a:gd name="T0" fmla="*/ 6 w 40"/>
                  <a:gd name="T1" fmla="*/ 32 h 186"/>
                  <a:gd name="T2" fmla="*/ 19 w 40"/>
                  <a:gd name="T3" fmla="*/ 26 h 186"/>
                  <a:gd name="T4" fmla="*/ 40 w 40"/>
                  <a:gd name="T5" fmla="*/ 186 h 186"/>
                  <a:gd name="T6" fmla="*/ 24 w 40"/>
                  <a:gd name="T7" fmla="*/ 185 h 186"/>
                  <a:gd name="T8" fmla="*/ 3 w 40"/>
                  <a:gd name="T9" fmla="*/ 25 h 186"/>
                  <a:gd name="T10" fmla="*/ 14 w 40"/>
                  <a:gd name="T11" fmla="*/ 18 h 186"/>
                  <a:gd name="T12" fmla="*/ 3 w 40"/>
                  <a:gd name="T13" fmla="*/ 25 h 186"/>
                  <a:gd name="T14" fmla="*/ 0 w 40"/>
                  <a:gd name="T15" fmla="*/ 0 h 186"/>
                  <a:gd name="T16" fmla="*/ 14 w 40"/>
                  <a:gd name="T17" fmla="*/ 18 h 186"/>
                  <a:gd name="T18" fmla="*/ 6 w 40"/>
                  <a:gd name="T19" fmla="*/ 32 h 18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0"/>
                  <a:gd name="T31" fmla="*/ 0 h 186"/>
                  <a:gd name="T32" fmla="*/ 40 w 40"/>
                  <a:gd name="T33" fmla="*/ 186 h 18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0" h="186">
                    <a:moveTo>
                      <a:pt x="6" y="32"/>
                    </a:moveTo>
                    <a:lnTo>
                      <a:pt x="19" y="26"/>
                    </a:lnTo>
                    <a:lnTo>
                      <a:pt x="40" y="186"/>
                    </a:lnTo>
                    <a:lnTo>
                      <a:pt x="24" y="185"/>
                    </a:lnTo>
                    <a:lnTo>
                      <a:pt x="3" y="25"/>
                    </a:lnTo>
                    <a:lnTo>
                      <a:pt x="14" y="18"/>
                    </a:lnTo>
                    <a:lnTo>
                      <a:pt x="3" y="25"/>
                    </a:lnTo>
                    <a:lnTo>
                      <a:pt x="0" y="0"/>
                    </a:lnTo>
                    <a:lnTo>
                      <a:pt x="14" y="18"/>
                    </a:lnTo>
                    <a:lnTo>
                      <a:pt x="6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23" name="Freeform 92"/>
              <p:cNvSpPr>
                <a:spLocks/>
              </p:cNvSpPr>
              <p:nvPr/>
            </p:nvSpPr>
            <p:spPr bwMode="auto">
              <a:xfrm>
                <a:off x="4029" y="1818"/>
                <a:ext cx="120" cy="135"/>
              </a:xfrm>
              <a:custGeom>
                <a:avLst/>
                <a:gdLst>
                  <a:gd name="T0" fmla="*/ 102 w 120"/>
                  <a:gd name="T1" fmla="*/ 116 h 135"/>
                  <a:gd name="T2" fmla="*/ 102 w 120"/>
                  <a:gd name="T3" fmla="*/ 133 h 135"/>
                  <a:gd name="T4" fmla="*/ 0 w 120"/>
                  <a:gd name="T5" fmla="*/ 14 h 135"/>
                  <a:gd name="T6" fmla="*/ 9 w 120"/>
                  <a:gd name="T7" fmla="*/ 0 h 135"/>
                  <a:gd name="T8" fmla="*/ 109 w 120"/>
                  <a:gd name="T9" fmla="*/ 119 h 135"/>
                  <a:gd name="T10" fmla="*/ 109 w 120"/>
                  <a:gd name="T11" fmla="*/ 135 h 135"/>
                  <a:gd name="T12" fmla="*/ 109 w 120"/>
                  <a:gd name="T13" fmla="*/ 119 h 135"/>
                  <a:gd name="T14" fmla="*/ 120 w 120"/>
                  <a:gd name="T15" fmla="*/ 128 h 135"/>
                  <a:gd name="T16" fmla="*/ 109 w 120"/>
                  <a:gd name="T17" fmla="*/ 135 h 135"/>
                  <a:gd name="T18" fmla="*/ 102 w 120"/>
                  <a:gd name="T19" fmla="*/ 116 h 13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0"/>
                  <a:gd name="T31" fmla="*/ 0 h 135"/>
                  <a:gd name="T32" fmla="*/ 120 w 120"/>
                  <a:gd name="T33" fmla="*/ 135 h 13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0" h="135">
                    <a:moveTo>
                      <a:pt x="102" y="116"/>
                    </a:moveTo>
                    <a:lnTo>
                      <a:pt x="102" y="133"/>
                    </a:lnTo>
                    <a:lnTo>
                      <a:pt x="0" y="14"/>
                    </a:lnTo>
                    <a:lnTo>
                      <a:pt x="9" y="0"/>
                    </a:lnTo>
                    <a:lnTo>
                      <a:pt x="109" y="119"/>
                    </a:lnTo>
                    <a:lnTo>
                      <a:pt x="109" y="135"/>
                    </a:lnTo>
                    <a:lnTo>
                      <a:pt x="109" y="119"/>
                    </a:lnTo>
                    <a:lnTo>
                      <a:pt x="120" y="128"/>
                    </a:lnTo>
                    <a:lnTo>
                      <a:pt x="109" y="135"/>
                    </a:lnTo>
                    <a:lnTo>
                      <a:pt x="102" y="1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24" name="Freeform 93"/>
              <p:cNvSpPr>
                <a:spLocks/>
              </p:cNvSpPr>
              <p:nvPr/>
            </p:nvSpPr>
            <p:spPr bwMode="auto">
              <a:xfrm>
                <a:off x="4047" y="1935"/>
                <a:ext cx="93" cy="67"/>
              </a:xfrm>
              <a:custGeom>
                <a:avLst/>
                <a:gdLst>
                  <a:gd name="T0" fmla="*/ 16 w 93"/>
                  <a:gd name="T1" fmla="*/ 53 h 67"/>
                  <a:gd name="T2" fmla="*/ 4 w 93"/>
                  <a:gd name="T3" fmla="*/ 43 h 67"/>
                  <a:gd name="T4" fmla="*/ 85 w 93"/>
                  <a:gd name="T5" fmla="*/ 0 h 67"/>
                  <a:gd name="T6" fmla="*/ 93 w 93"/>
                  <a:gd name="T7" fmla="*/ 19 h 67"/>
                  <a:gd name="T8" fmla="*/ 13 w 93"/>
                  <a:gd name="T9" fmla="*/ 63 h 67"/>
                  <a:gd name="T10" fmla="*/ 0 w 93"/>
                  <a:gd name="T11" fmla="*/ 52 h 67"/>
                  <a:gd name="T12" fmla="*/ 13 w 93"/>
                  <a:gd name="T13" fmla="*/ 63 h 67"/>
                  <a:gd name="T14" fmla="*/ 2 w 93"/>
                  <a:gd name="T15" fmla="*/ 67 h 67"/>
                  <a:gd name="T16" fmla="*/ 0 w 93"/>
                  <a:gd name="T17" fmla="*/ 52 h 67"/>
                  <a:gd name="T18" fmla="*/ 16 w 93"/>
                  <a:gd name="T19" fmla="*/ 53 h 6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3"/>
                  <a:gd name="T31" fmla="*/ 0 h 67"/>
                  <a:gd name="T32" fmla="*/ 93 w 93"/>
                  <a:gd name="T33" fmla="*/ 67 h 6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3" h="67">
                    <a:moveTo>
                      <a:pt x="16" y="53"/>
                    </a:moveTo>
                    <a:lnTo>
                      <a:pt x="4" y="43"/>
                    </a:lnTo>
                    <a:lnTo>
                      <a:pt x="85" y="0"/>
                    </a:lnTo>
                    <a:lnTo>
                      <a:pt x="93" y="19"/>
                    </a:lnTo>
                    <a:lnTo>
                      <a:pt x="13" y="63"/>
                    </a:lnTo>
                    <a:lnTo>
                      <a:pt x="0" y="52"/>
                    </a:lnTo>
                    <a:lnTo>
                      <a:pt x="13" y="63"/>
                    </a:lnTo>
                    <a:lnTo>
                      <a:pt x="2" y="67"/>
                    </a:lnTo>
                    <a:lnTo>
                      <a:pt x="0" y="52"/>
                    </a:lnTo>
                    <a:lnTo>
                      <a:pt x="16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25" name="Freeform 94"/>
              <p:cNvSpPr>
                <a:spLocks/>
              </p:cNvSpPr>
              <p:nvPr/>
            </p:nvSpPr>
            <p:spPr bwMode="auto">
              <a:xfrm>
                <a:off x="4032" y="1845"/>
                <a:ext cx="39" cy="37"/>
              </a:xfrm>
              <a:custGeom>
                <a:avLst/>
                <a:gdLst>
                  <a:gd name="T0" fmla="*/ 11 w 39"/>
                  <a:gd name="T1" fmla="*/ 37 h 37"/>
                  <a:gd name="T2" fmla="*/ 0 w 39"/>
                  <a:gd name="T3" fmla="*/ 17 h 37"/>
                  <a:gd name="T4" fmla="*/ 28 w 39"/>
                  <a:gd name="T5" fmla="*/ 0 h 37"/>
                  <a:gd name="T6" fmla="*/ 39 w 39"/>
                  <a:gd name="T7" fmla="*/ 20 h 37"/>
                  <a:gd name="T8" fmla="*/ 11 w 39"/>
                  <a:gd name="T9" fmla="*/ 37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9"/>
                  <a:gd name="T16" fmla="*/ 0 h 37"/>
                  <a:gd name="T17" fmla="*/ 39 w 39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9" h="37">
                    <a:moveTo>
                      <a:pt x="11" y="37"/>
                    </a:moveTo>
                    <a:lnTo>
                      <a:pt x="0" y="17"/>
                    </a:lnTo>
                    <a:lnTo>
                      <a:pt x="28" y="0"/>
                    </a:lnTo>
                    <a:lnTo>
                      <a:pt x="39" y="20"/>
                    </a:lnTo>
                    <a:lnTo>
                      <a:pt x="11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26" name="Freeform 95"/>
              <p:cNvSpPr>
                <a:spLocks/>
              </p:cNvSpPr>
              <p:nvPr/>
            </p:nvSpPr>
            <p:spPr bwMode="auto">
              <a:xfrm>
                <a:off x="4046" y="1869"/>
                <a:ext cx="108" cy="231"/>
              </a:xfrm>
              <a:custGeom>
                <a:avLst/>
                <a:gdLst>
                  <a:gd name="T0" fmla="*/ 77 w 108"/>
                  <a:gd name="T1" fmla="*/ 231 h 231"/>
                  <a:gd name="T2" fmla="*/ 77 w 108"/>
                  <a:gd name="T3" fmla="*/ 231 h 231"/>
                  <a:gd name="T4" fmla="*/ 62 w 108"/>
                  <a:gd name="T5" fmla="*/ 176 h 231"/>
                  <a:gd name="T6" fmla="*/ 44 w 108"/>
                  <a:gd name="T7" fmla="*/ 120 h 231"/>
                  <a:gd name="T8" fmla="*/ 24 w 108"/>
                  <a:gd name="T9" fmla="*/ 68 h 231"/>
                  <a:gd name="T10" fmla="*/ 0 w 108"/>
                  <a:gd name="T11" fmla="*/ 16 h 231"/>
                  <a:gd name="T12" fmla="*/ 27 w 108"/>
                  <a:gd name="T13" fmla="*/ 0 h 231"/>
                  <a:gd name="T14" fmla="*/ 52 w 108"/>
                  <a:gd name="T15" fmla="*/ 55 h 231"/>
                  <a:gd name="T16" fmla="*/ 73 w 108"/>
                  <a:gd name="T17" fmla="*/ 110 h 231"/>
                  <a:gd name="T18" fmla="*/ 92 w 108"/>
                  <a:gd name="T19" fmla="*/ 168 h 231"/>
                  <a:gd name="T20" fmla="*/ 108 w 108"/>
                  <a:gd name="T21" fmla="*/ 228 h 231"/>
                  <a:gd name="T22" fmla="*/ 77 w 108"/>
                  <a:gd name="T23" fmla="*/ 231 h 23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08"/>
                  <a:gd name="T37" fmla="*/ 0 h 231"/>
                  <a:gd name="T38" fmla="*/ 108 w 108"/>
                  <a:gd name="T39" fmla="*/ 231 h 23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08" h="231">
                    <a:moveTo>
                      <a:pt x="77" y="231"/>
                    </a:moveTo>
                    <a:lnTo>
                      <a:pt x="77" y="231"/>
                    </a:lnTo>
                    <a:lnTo>
                      <a:pt x="62" y="176"/>
                    </a:lnTo>
                    <a:lnTo>
                      <a:pt x="44" y="120"/>
                    </a:lnTo>
                    <a:lnTo>
                      <a:pt x="24" y="68"/>
                    </a:lnTo>
                    <a:lnTo>
                      <a:pt x="0" y="16"/>
                    </a:lnTo>
                    <a:lnTo>
                      <a:pt x="27" y="0"/>
                    </a:lnTo>
                    <a:lnTo>
                      <a:pt x="52" y="55"/>
                    </a:lnTo>
                    <a:lnTo>
                      <a:pt x="73" y="110"/>
                    </a:lnTo>
                    <a:lnTo>
                      <a:pt x="92" y="168"/>
                    </a:lnTo>
                    <a:lnTo>
                      <a:pt x="108" y="228"/>
                    </a:lnTo>
                    <a:lnTo>
                      <a:pt x="77" y="2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27" name="Freeform 96"/>
              <p:cNvSpPr>
                <a:spLocks/>
              </p:cNvSpPr>
              <p:nvPr/>
            </p:nvSpPr>
            <p:spPr bwMode="auto">
              <a:xfrm>
                <a:off x="4127" y="2097"/>
                <a:ext cx="59" cy="206"/>
              </a:xfrm>
              <a:custGeom>
                <a:avLst/>
                <a:gdLst>
                  <a:gd name="T0" fmla="*/ 24 w 59"/>
                  <a:gd name="T1" fmla="*/ 199 h 206"/>
                  <a:gd name="T2" fmla="*/ 24 w 59"/>
                  <a:gd name="T3" fmla="*/ 174 h 206"/>
                  <a:gd name="T4" fmla="*/ 23 w 59"/>
                  <a:gd name="T5" fmla="*/ 151 h 206"/>
                  <a:gd name="T6" fmla="*/ 21 w 59"/>
                  <a:gd name="T7" fmla="*/ 127 h 206"/>
                  <a:gd name="T8" fmla="*/ 17 w 59"/>
                  <a:gd name="T9" fmla="*/ 103 h 206"/>
                  <a:gd name="T10" fmla="*/ 15 w 59"/>
                  <a:gd name="T11" fmla="*/ 78 h 206"/>
                  <a:gd name="T12" fmla="*/ 11 w 59"/>
                  <a:gd name="T13" fmla="*/ 54 h 206"/>
                  <a:gd name="T14" fmla="*/ 6 w 59"/>
                  <a:gd name="T15" fmla="*/ 30 h 206"/>
                  <a:gd name="T16" fmla="*/ 0 w 59"/>
                  <a:gd name="T17" fmla="*/ 4 h 206"/>
                  <a:gd name="T18" fmla="*/ 33 w 59"/>
                  <a:gd name="T19" fmla="*/ 0 h 206"/>
                  <a:gd name="T20" fmla="*/ 39 w 59"/>
                  <a:gd name="T21" fmla="*/ 26 h 206"/>
                  <a:gd name="T22" fmla="*/ 43 w 59"/>
                  <a:gd name="T23" fmla="*/ 53 h 206"/>
                  <a:gd name="T24" fmla="*/ 48 w 59"/>
                  <a:gd name="T25" fmla="*/ 79 h 206"/>
                  <a:gd name="T26" fmla="*/ 52 w 59"/>
                  <a:gd name="T27" fmla="*/ 105 h 206"/>
                  <a:gd name="T28" fmla="*/ 54 w 59"/>
                  <a:gd name="T29" fmla="*/ 130 h 206"/>
                  <a:gd name="T30" fmla="*/ 57 w 59"/>
                  <a:gd name="T31" fmla="*/ 155 h 206"/>
                  <a:gd name="T32" fmla="*/ 58 w 59"/>
                  <a:gd name="T33" fmla="*/ 182 h 206"/>
                  <a:gd name="T34" fmla="*/ 59 w 59"/>
                  <a:gd name="T35" fmla="*/ 206 h 206"/>
                  <a:gd name="T36" fmla="*/ 24 w 59"/>
                  <a:gd name="T37" fmla="*/ 199 h 2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9"/>
                  <a:gd name="T58" fmla="*/ 0 h 206"/>
                  <a:gd name="T59" fmla="*/ 59 w 59"/>
                  <a:gd name="T60" fmla="*/ 206 h 2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9" h="206">
                    <a:moveTo>
                      <a:pt x="24" y="199"/>
                    </a:moveTo>
                    <a:lnTo>
                      <a:pt x="24" y="174"/>
                    </a:lnTo>
                    <a:lnTo>
                      <a:pt x="23" y="151"/>
                    </a:lnTo>
                    <a:lnTo>
                      <a:pt x="21" y="127"/>
                    </a:lnTo>
                    <a:lnTo>
                      <a:pt x="17" y="103"/>
                    </a:lnTo>
                    <a:lnTo>
                      <a:pt x="15" y="78"/>
                    </a:lnTo>
                    <a:lnTo>
                      <a:pt x="11" y="54"/>
                    </a:lnTo>
                    <a:lnTo>
                      <a:pt x="6" y="30"/>
                    </a:lnTo>
                    <a:lnTo>
                      <a:pt x="0" y="4"/>
                    </a:lnTo>
                    <a:lnTo>
                      <a:pt x="33" y="0"/>
                    </a:lnTo>
                    <a:lnTo>
                      <a:pt x="39" y="26"/>
                    </a:lnTo>
                    <a:lnTo>
                      <a:pt x="43" y="53"/>
                    </a:lnTo>
                    <a:lnTo>
                      <a:pt x="48" y="79"/>
                    </a:lnTo>
                    <a:lnTo>
                      <a:pt x="52" y="105"/>
                    </a:lnTo>
                    <a:lnTo>
                      <a:pt x="54" y="130"/>
                    </a:lnTo>
                    <a:lnTo>
                      <a:pt x="57" y="155"/>
                    </a:lnTo>
                    <a:lnTo>
                      <a:pt x="58" y="182"/>
                    </a:lnTo>
                    <a:lnTo>
                      <a:pt x="59" y="206"/>
                    </a:lnTo>
                    <a:lnTo>
                      <a:pt x="24" y="19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28" name="Freeform 97"/>
              <p:cNvSpPr>
                <a:spLocks/>
              </p:cNvSpPr>
              <p:nvPr/>
            </p:nvSpPr>
            <p:spPr bwMode="auto">
              <a:xfrm>
                <a:off x="4154" y="2295"/>
                <a:ext cx="34" cy="31"/>
              </a:xfrm>
              <a:custGeom>
                <a:avLst/>
                <a:gdLst>
                  <a:gd name="T0" fmla="*/ 34 w 34"/>
                  <a:gd name="T1" fmla="*/ 8 h 31"/>
                  <a:gd name="T2" fmla="*/ 34 w 34"/>
                  <a:gd name="T3" fmla="*/ 31 h 31"/>
                  <a:gd name="T4" fmla="*/ 0 w 34"/>
                  <a:gd name="T5" fmla="*/ 22 h 31"/>
                  <a:gd name="T6" fmla="*/ 0 w 34"/>
                  <a:gd name="T7" fmla="*/ 0 h 31"/>
                  <a:gd name="T8" fmla="*/ 34 w 34"/>
                  <a:gd name="T9" fmla="*/ 8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31"/>
                  <a:gd name="T17" fmla="*/ 34 w 34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31">
                    <a:moveTo>
                      <a:pt x="34" y="8"/>
                    </a:moveTo>
                    <a:lnTo>
                      <a:pt x="34" y="31"/>
                    </a:lnTo>
                    <a:lnTo>
                      <a:pt x="0" y="22"/>
                    </a:lnTo>
                    <a:lnTo>
                      <a:pt x="0" y="0"/>
                    </a:lnTo>
                    <a:lnTo>
                      <a:pt x="34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29" name="Freeform 98"/>
              <p:cNvSpPr>
                <a:spLocks/>
              </p:cNvSpPr>
              <p:nvPr/>
            </p:nvSpPr>
            <p:spPr bwMode="auto">
              <a:xfrm>
                <a:off x="4033" y="1825"/>
                <a:ext cx="102" cy="162"/>
              </a:xfrm>
              <a:custGeom>
                <a:avLst/>
                <a:gdLst>
                  <a:gd name="T0" fmla="*/ 22 w 102"/>
                  <a:gd name="T1" fmla="*/ 162 h 162"/>
                  <a:gd name="T2" fmla="*/ 0 w 102"/>
                  <a:gd name="T3" fmla="*/ 0 h 162"/>
                  <a:gd name="T4" fmla="*/ 102 w 102"/>
                  <a:gd name="T5" fmla="*/ 120 h 162"/>
                  <a:gd name="T6" fmla="*/ 22 w 102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2"/>
                  <a:gd name="T13" fmla="*/ 0 h 162"/>
                  <a:gd name="T14" fmla="*/ 102 w 102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2" h="162">
                    <a:moveTo>
                      <a:pt x="22" y="162"/>
                    </a:moveTo>
                    <a:lnTo>
                      <a:pt x="0" y="0"/>
                    </a:lnTo>
                    <a:lnTo>
                      <a:pt x="102" y="120"/>
                    </a:lnTo>
                    <a:lnTo>
                      <a:pt x="22" y="162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30" name="Freeform 99"/>
              <p:cNvSpPr>
                <a:spLocks/>
              </p:cNvSpPr>
              <p:nvPr/>
            </p:nvSpPr>
            <p:spPr bwMode="auto">
              <a:xfrm>
                <a:off x="4026" y="1811"/>
                <a:ext cx="32" cy="176"/>
              </a:xfrm>
              <a:custGeom>
                <a:avLst/>
                <a:gdLst>
                  <a:gd name="T0" fmla="*/ 3 w 32"/>
                  <a:gd name="T1" fmla="*/ 18 h 176"/>
                  <a:gd name="T2" fmla="*/ 12 w 32"/>
                  <a:gd name="T3" fmla="*/ 15 h 176"/>
                  <a:gd name="T4" fmla="*/ 32 w 32"/>
                  <a:gd name="T5" fmla="*/ 176 h 176"/>
                  <a:gd name="T6" fmla="*/ 23 w 32"/>
                  <a:gd name="T7" fmla="*/ 176 h 176"/>
                  <a:gd name="T8" fmla="*/ 2 w 32"/>
                  <a:gd name="T9" fmla="*/ 14 h 176"/>
                  <a:gd name="T10" fmla="*/ 9 w 32"/>
                  <a:gd name="T11" fmla="*/ 10 h 176"/>
                  <a:gd name="T12" fmla="*/ 2 w 32"/>
                  <a:gd name="T13" fmla="*/ 14 h 176"/>
                  <a:gd name="T14" fmla="*/ 0 w 32"/>
                  <a:gd name="T15" fmla="*/ 0 h 176"/>
                  <a:gd name="T16" fmla="*/ 9 w 32"/>
                  <a:gd name="T17" fmla="*/ 10 h 176"/>
                  <a:gd name="T18" fmla="*/ 3 w 32"/>
                  <a:gd name="T19" fmla="*/ 18 h 1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"/>
                  <a:gd name="T31" fmla="*/ 0 h 176"/>
                  <a:gd name="T32" fmla="*/ 32 w 32"/>
                  <a:gd name="T33" fmla="*/ 176 h 1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" h="176">
                    <a:moveTo>
                      <a:pt x="3" y="18"/>
                    </a:moveTo>
                    <a:lnTo>
                      <a:pt x="12" y="15"/>
                    </a:lnTo>
                    <a:lnTo>
                      <a:pt x="32" y="176"/>
                    </a:lnTo>
                    <a:lnTo>
                      <a:pt x="23" y="176"/>
                    </a:lnTo>
                    <a:lnTo>
                      <a:pt x="2" y="14"/>
                    </a:lnTo>
                    <a:lnTo>
                      <a:pt x="9" y="10"/>
                    </a:lnTo>
                    <a:lnTo>
                      <a:pt x="2" y="14"/>
                    </a:lnTo>
                    <a:lnTo>
                      <a:pt x="0" y="0"/>
                    </a:lnTo>
                    <a:lnTo>
                      <a:pt x="9" y="10"/>
                    </a:lnTo>
                    <a:lnTo>
                      <a:pt x="3" y="18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31" name="Freeform 100"/>
              <p:cNvSpPr>
                <a:spLocks/>
              </p:cNvSpPr>
              <p:nvPr/>
            </p:nvSpPr>
            <p:spPr bwMode="auto">
              <a:xfrm>
                <a:off x="4030" y="1822"/>
                <a:ext cx="113" cy="129"/>
              </a:xfrm>
              <a:custGeom>
                <a:avLst/>
                <a:gdLst>
                  <a:gd name="T0" fmla="*/ 103 w 113"/>
                  <a:gd name="T1" fmla="*/ 118 h 129"/>
                  <a:gd name="T2" fmla="*/ 102 w 113"/>
                  <a:gd name="T3" fmla="*/ 126 h 129"/>
                  <a:gd name="T4" fmla="*/ 0 w 113"/>
                  <a:gd name="T5" fmla="*/ 7 h 129"/>
                  <a:gd name="T6" fmla="*/ 5 w 113"/>
                  <a:gd name="T7" fmla="*/ 0 h 129"/>
                  <a:gd name="T8" fmla="*/ 108 w 113"/>
                  <a:gd name="T9" fmla="*/ 120 h 129"/>
                  <a:gd name="T10" fmla="*/ 108 w 113"/>
                  <a:gd name="T11" fmla="*/ 129 h 129"/>
                  <a:gd name="T12" fmla="*/ 108 w 113"/>
                  <a:gd name="T13" fmla="*/ 120 h 129"/>
                  <a:gd name="T14" fmla="*/ 113 w 113"/>
                  <a:gd name="T15" fmla="*/ 125 h 129"/>
                  <a:gd name="T16" fmla="*/ 108 w 113"/>
                  <a:gd name="T17" fmla="*/ 129 h 129"/>
                  <a:gd name="T18" fmla="*/ 103 w 113"/>
                  <a:gd name="T19" fmla="*/ 118 h 12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3"/>
                  <a:gd name="T31" fmla="*/ 0 h 129"/>
                  <a:gd name="T32" fmla="*/ 113 w 113"/>
                  <a:gd name="T33" fmla="*/ 129 h 12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3" h="129">
                    <a:moveTo>
                      <a:pt x="103" y="118"/>
                    </a:moveTo>
                    <a:lnTo>
                      <a:pt x="102" y="126"/>
                    </a:lnTo>
                    <a:lnTo>
                      <a:pt x="0" y="7"/>
                    </a:lnTo>
                    <a:lnTo>
                      <a:pt x="5" y="0"/>
                    </a:lnTo>
                    <a:lnTo>
                      <a:pt x="108" y="120"/>
                    </a:lnTo>
                    <a:lnTo>
                      <a:pt x="108" y="129"/>
                    </a:lnTo>
                    <a:lnTo>
                      <a:pt x="108" y="120"/>
                    </a:lnTo>
                    <a:lnTo>
                      <a:pt x="113" y="125"/>
                    </a:lnTo>
                    <a:lnTo>
                      <a:pt x="108" y="129"/>
                    </a:lnTo>
                    <a:lnTo>
                      <a:pt x="103" y="118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32" name="Freeform 101"/>
              <p:cNvSpPr>
                <a:spLocks/>
              </p:cNvSpPr>
              <p:nvPr/>
            </p:nvSpPr>
            <p:spPr bwMode="auto">
              <a:xfrm>
                <a:off x="4053" y="1941"/>
                <a:ext cx="87" cy="54"/>
              </a:xfrm>
              <a:custGeom>
                <a:avLst/>
                <a:gdLst>
                  <a:gd name="T0" fmla="*/ 8 w 87"/>
                  <a:gd name="T1" fmla="*/ 46 h 54"/>
                  <a:gd name="T2" fmla="*/ 2 w 87"/>
                  <a:gd name="T3" fmla="*/ 41 h 54"/>
                  <a:gd name="T4" fmla="*/ 83 w 87"/>
                  <a:gd name="T5" fmla="*/ 0 h 54"/>
                  <a:gd name="T6" fmla="*/ 87 w 87"/>
                  <a:gd name="T7" fmla="*/ 10 h 54"/>
                  <a:gd name="T8" fmla="*/ 6 w 87"/>
                  <a:gd name="T9" fmla="*/ 51 h 54"/>
                  <a:gd name="T10" fmla="*/ 0 w 87"/>
                  <a:gd name="T11" fmla="*/ 46 h 54"/>
                  <a:gd name="T12" fmla="*/ 6 w 87"/>
                  <a:gd name="T13" fmla="*/ 51 h 54"/>
                  <a:gd name="T14" fmla="*/ 1 w 87"/>
                  <a:gd name="T15" fmla="*/ 54 h 54"/>
                  <a:gd name="T16" fmla="*/ 0 w 87"/>
                  <a:gd name="T17" fmla="*/ 46 h 54"/>
                  <a:gd name="T18" fmla="*/ 8 w 87"/>
                  <a:gd name="T19" fmla="*/ 46 h 5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7"/>
                  <a:gd name="T31" fmla="*/ 0 h 54"/>
                  <a:gd name="T32" fmla="*/ 87 w 87"/>
                  <a:gd name="T33" fmla="*/ 54 h 5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7" h="54">
                    <a:moveTo>
                      <a:pt x="8" y="46"/>
                    </a:moveTo>
                    <a:lnTo>
                      <a:pt x="2" y="41"/>
                    </a:lnTo>
                    <a:lnTo>
                      <a:pt x="83" y="0"/>
                    </a:lnTo>
                    <a:lnTo>
                      <a:pt x="87" y="10"/>
                    </a:lnTo>
                    <a:lnTo>
                      <a:pt x="6" y="51"/>
                    </a:lnTo>
                    <a:lnTo>
                      <a:pt x="0" y="46"/>
                    </a:lnTo>
                    <a:lnTo>
                      <a:pt x="6" y="51"/>
                    </a:lnTo>
                    <a:lnTo>
                      <a:pt x="1" y="54"/>
                    </a:lnTo>
                    <a:lnTo>
                      <a:pt x="0" y="46"/>
                    </a:lnTo>
                    <a:lnTo>
                      <a:pt x="8" y="46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33" name="Freeform 102"/>
              <p:cNvSpPr>
                <a:spLocks/>
              </p:cNvSpPr>
              <p:nvPr/>
            </p:nvSpPr>
            <p:spPr bwMode="auto">
              <a:xfrm>
                <a:off x="4036" y="1851"/>
                <a:ext cx="31" cy="31"/>
              </a:xfrm>
              <a:custGeom>
                <a:avLst/>
                <a:gdLst>
                  <a:gd name="T0" fmla="*/ 8 w 31"/>
                  <a:gd name="T1" fmla="*/ 31 h 31"/>
                  <a:gd name="T2" fmla="*/ 0 w 31"/>
                  <a:gd name="T3" fmla="*/ 14 h 31"/>
                  <a:gd name="T4" fmla="*/ 24 w 31"/>
                  <a:gd name="T5" fmla="*/ 0 h 31"/>
                  <a:gd name="T6" fmla="*/ 31 w 31"/>
                  <a:gd name="T7" fmla="*/ 17 h 31"/>
                  <a:gd name="T8" fmla="*/ 8 w 31"/>
                  <a:gd name="T9" fmla="*/ 31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31"/>
                  <a:gd name="T17" fmla="*/ 31 w 31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31">
                    <a:moveTo>
                      <a:pt x="8" y="31"/>
                    </a:moveTo>
                    <a:lnTo>
                      <a:pt x="0" y="14"/>
                    </a:lnTo>
                    <a:lnTo>
                      <a:pt x="24" y="0"/>
                    </a:lnTo>
                    <a:lnTo>
                      <a:pt x="31" y="17"/>
                    </a:lnTo>
                    <a:lnTo>
                      <a:pt x="8" y="31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34" name="Freeform 103"/>
              <p:cNvSpPr>
                <a:spLocks/>
              </p:cNvSpPr>
              <p:nvPr/>
            </p:nvSpPr>
            <p:spPr bwMode="auto">
              <a:xfrm>
                <a:off x="4049" y="1869"/>
                <a:ext cx="103" cy="231"/>
              </a:xfrm>
              <a:custGeom>
                <a:avLst/>
                <a:gdLst>
                  <a:gd name="T0" fmla="*/ 77 w 103"/>
                  <a:gd name="T1" fmla="*/ 231 h 231"/>
                  <a:gd name="T2" fmla="*/ 77 w 103"/>
                  <a:gd name="T3" fmla="*/ 231 h 231"/>
                  <a:gd name="T4" fmla="*/ 62 w 103"/>
                  <a:gd name="T5" fmla="*/ 173 h 231"/>
                  <a:gd name="T6" fmla="*/ 44 w 103"/>
                  <a:gd name="T7" fmla="*/ 119 h 231"/>
                  <a:gd name="T8" fmla="*/ 24 w 103"/>
                  <a:gd name="T9" fmla="*/ 66 h 231"/>
                  <a:gd name="T10" fmla="*/ 0 w 103"/>
                  <a:gd name="T11" fmla="*/ 14 h 231"/>
                  <a:gd name="T12" fmla="*/ 23 w 103"/>
                  <a:gd name="T13" fmla="*/ 0 h 231"/>
                  <a:gd name="T14" fmla="*/ 46 w 103"/>
                  <a:gd name="T15" fmla="*/ 55 h 231"/>
                  <a:gd name="T16" fmla="*/ 70 w 103"/>
                  <a:gd name="T17" fmla="*/ 110 h 231"/>
                  <a:gd name="T18" fmla="*/ 87 w 103"/>
                  <a:gd name="T19" fmla="*/ 168 h 231"/>
                  <a:gd name="T20" fmla="*/ 103 w 103"/>
                  <a:gd name="T21" fmla="*/ 228 h 231"/>
                  <a:gd name="T22" fmla="*/ 77 w 103"/>
                  <a:gd name="T23" fmla="*/ 231 h 23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03"/>
                  <a:gd name="T37" fmla="*/ 0 h 231"/>
                  <a:gd name="T38" fmla="*/ 103 w 103"/>
                  <a:gd name="T39" fmla="*/ 231 h 23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03" h="231">
                    <a:moveTo>
                      <a:pt x="77" y="231"/>
                    </a:moveTo>
                    <a:lnTo>
                      <a:pt x="77" y="231"/>
                    </a:lnTo>
                    <a:lnTo>
                      <a:pt x="62" y="173"/>
                    </a:lnTo>
                    <a:lnTo>
                      <a:pt x="44" y="119"/>
                    </a:lnTo>
                    <a:lnTo>
                      <a:pt x="24" y="66"/>
                    </a:lnTo>
                    <a:lnTo>
                      <a:pt x="0" y="14"/>
                    </a:lnTo>
                    <a:lnTo>
                      <a:pt x="23" y="0"/>
                    </a:lnTo>
                    <a:lnTo>
                      <a:pt x="46" y="55"/>
                    </a:lnTo>
                    <a:lnTo>
                      <a:pt x="70" y="110"/>
                    </a:lnTo>
                    <a:lnTo>
                      <a:pt x="87" y="168"/>
                    </a:lnTo>
                    <a:lnTo>
                      <a:pt x="103" y="228"/>
                    </a:lnTo>
                    <a:lnTo>
                      <a:pt x="77" y="231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35" name="Freeform 104"/>
              <p:cNvSpPr>
                <a:spLocks/>
              </p:cNvSpPr>
              <p:nvPr/>
            </p:nvSpPr>
            <p:spPr bwMode="auto">
              <a:xfrm>
                <a:off x="4129" y="2097"/>
                <a:ext cx="54" cy="205"/>
              </a:xfrm>
              <a:custGeom>
                <a:avLst/>
                <a:gdLst>
                  <a:gd name="T0" fmla="*/ 25 w 54"/>
                  <a:gd name="T1" fmla="*/ 199 h 205"/>
                  <a:gd name="T2" fmla="*/ 25 w 54"/>
                  <a:gd name="T3" fmla="*/ 174 h 205"/>
                  <a:gd name="T4" fmla="*/ 23 w 54"/>
                  <a:gd name="T5" fmla="*/ 151 h 205"/>
                  <a:gd name="T6" fmla="*/ 21 w 54"/>
                  <a:gd name="T7" fmla="*/ 126 h 205"/>
                  <a:gd name="T8" fmla="*/ 19 w 54"/>
                  <a:gd name="T9" fmla="*/ 101 h 205"/>
                  <a:gd name="T10" fmla="*/ 15 w 54"/>
                  <a:gd name="T11" fmla="*/ 78 h 205"/>
                  <a:gd name="T12" fmla="*/ 11 w 54"/>
                  <a:gd name="T13" fmla="*/ 52 h 205"/>
                  <a:gd name="T14" fmla="*/ 6 w 54"/>
                  <a:gd name="T15" fmla="*/ 28 h 205"/>
                  <a:gd name="T16" fmla="*/ 0 w 54"/>
                  <a:gd name="T17" fmla="*/ 3 h 205"/>
                  <a:gd name="T18" fmla="*/ 28 w 54"/>
                  <a:gd name="T19" fmla="*/ 0 h 205"/>
                  <a:gd name="T20" fmla="*/ 34 w 54"/>
                  <a:gd name="T21" fmla="*/ 26 h 205"/>
                  <a:gd name="T22" fmla="*/ 38 w 54"/>
                  <a:gd name="T23" fmla="*/ 52 h 205"/>
                  <a:gd name="T24" fmla="*/ 43 w 54"/>
                  <a:gd name="T25" fmla="*/ 79 h 205"/>
                  <a:gd name="T26" fmla="*/ 46 w 54"/>
                  <a:gd name="T27" fmla="*/ 104 h 205"/>
                  <a:gd name="T28" fmla="*/ 50 w 54"/>
                  <a:gd name="T29" fmla="*/ 129 h 205"/>
                  <a:gd name="T30" fmla="*/ 52 w 54"/>
                  <a:gd name="T31" fmla="*/ 155 h 205"/>
                  <a:gd name="T32" fmla="*/ 53 w 54"/>
                  <a:gd name="T33" fmla="*/ 179 h 205"/>
                  <a:gd name="T34" fmla="*/ 54 w 54"/>
                  <a:gd name="T35" fmla="*/ 205 h 205"/>
                  <a:gd name="T36" fmla="*/ 25 w 54"/>
                  <a:gd name="T37" fmla="*/ 199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4"/>
                  <a:gd name="T58" fmla="*/ 0 h 205"/>
                  <a:gd name="T59" fmla="*/ 54 w 54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4" h="205">
                    <a:moveTo>
                      <a:pt x="25" y="199"/>
                    </a:moveTo>
                    <a:lnTo>
                      <a:pt x="25" y="174"/>
                    </a:lnTo>
                    <a:lnTo>
                      <a:pt x="23" y="151"/>
                    </a:lnTo>
                    <a:lnTo>
                      <a:pt x="21" y="126"/>
                    </a:lnTo>
                    <a:lnTo>
                      <a:pt x="19" y="101"/>
                    </a:lnTo>
                    <a:lnTo>
                      <a:pt x="15" y="78"/>
                    </a:lnTo>
                    <a:lnTo>
                      <a:pt x="11" y="52"/>
                    </a:lnTo>
                    <a:lnTo>
                      <a:pt x="6" y="28"/>
                    </a:lnTo>
                    <a:lnTo>
                      <a:pt x="0" y="3"/>
                    </a:lnTo>
                    <a:lnTo>
                      <a:pt x="28" y="0"/>
                    </a:lnTo>
                    <a:lnTo>
                      <a:pt x="34" y="26"/>
                    </a:lnTo>
                    <a:lnTo>
                      <a:pt x="38" y="52"/>
                    </a:lnTo>
                    <a:lnTo>
                      <a:pt x="43" y="79"/>
                    </a:lnTo>
                    <a:lnTo>
                      <a:pt x="46" y="104"/>
                    </a:lnTo>
                    <a:lnTo>
                      <a:pt x="50" y="129"/>
                    </a:lnTo>
                    <a:lnTo>
                      <a:pt x="52" y="155"/>
                    </a:lnTo>
                    <a:lnTo>
                      <a:pt x="53" y="179"/>
                    </a:lnTo>
                    <a:lnTo>
                      <a:pt x="54" y="205"/>
                    </a:lnTo>
                    <a:lnTo>
                      <a:pt x="25" y="199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36" name="Freeform 105"/>
              <p:cNvSpPr>
                <a:spLocks/>
              </p:cNvSpPr>
              <p:nvPr/>
            </p:nvSpPr>
            <p:spPr bwMode="auto">
              <a:xfrm>
                <a:off x="4157" y="2297"/>
                <a:ext cx="28" cy="24"/>
              </a:xfrm>
              <a:custGeom>
                <a:avLst/>
                <a:gdLst>
                  <a:gd name="T0" fmla="*/ 28 w 28"/>
                  <a:gd name="T1" fmla="*/ 6 h 24"/>
                  <a:gd name="T2" fmla="*/ 28 w 28"/>
                  <a:gd name="T3" fmla="*/ 24 h 24"/>
                  <a:gd name="T4" fmla="*/ 0 w 28"/>
                  <a:gd name="T5" fmla="*/ 18 h 24"/>
                  <a:gd name="T6" fmla="*/ 0 w 28"/>
                  <a:gd name="T7" fmla="*/ 0 h 24"/>
                  <a:gd name="T8" fmla="*/ 28 w 28"/>
                  <a:gd name="T9" fmla="*/ 6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24"/>
                  <a:gd name="T17" fmla="*/ 28 w 28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24">
                    <a:moveTo>
                      <a:pt x="28" y="6"/>
                    </a:moveTo>
                    <a:lnTo>
                      <a:pt x="28" y="24"/>
                    </a:lnTo>
                    <a:lnTo>
                      <a:pt x="0" y="18"/>
                    </a:lnTo>
                    <a:lnTo>
                      <a:pt x="0" y="0"/>
                    </a:lnTo>
                    <a:lnTo>
                      <a:pt x="28" y="6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37" name="Freeform 106"/>
              <p:cNvSpPr>
                <a:spLocks/>
              </p:cNvSpPr>
              <p:nvPr/>
            </p:nvSpPr>
            <p:spPr bwMode="auto">
              <a:xfrm>
                <a:off x="4013" y="1791"/>
                <a:ext cx="106" cy="162"/>
              </a:xfrm>
              <a:custGeom>
                <a:avLst/>
                <a:gdLst>
                  <a:gd name="T0" fmla="*/ 28 w 106"/>
                  <a:gd name="T1" fmla="*/ 162 h 162"/>
                  <a:gd name="T2" fmla="*/ 0 w 106"/>
                  <a:gd name="T3" fmla="*/ 0 h 162"/>
                  <a:gd name="T4" fmla="*/ 106 w 106"/>
                  <a:gd name="T5" fmla="*/ 113 h 162"/>
                  <a:gd name="T6" fmla="*/ 28 w 106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6"/>
                  <a:gd name="T13" fmla="*/ 0 h 162"/>
                  <a:gd name="T14" fmla="*/ 106 w 106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6" h="162">
                    <a:moveTo>
                      <a:pt x="28" y="162"/>
                    </a:moveTo>
                    <a:lnTo>
                      <a:pt x="0" y="0"/>
                    </a:lnTo>
                    <a:lnTo>
                      <a:pt x="106" y="113"/>
                    </a:lnTo>
                    <a:lnTo>
                      <a:pt x="28" y="1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38" name="Freeform 107"/>
              <p:cNvSpPr>
                <a:spLocks/>
              </p:cNvSpPr>
              <p:nvPr/>
            </p:nvSpPr>
            <p:spPr bwMode="auto">
              <a:xfrm>
                <a:off x="4002" y="1766"/>
                <a:ext cx="46" cy="185"/>
              </a:xfrm>
              <a:custGeom>
                <a:avLst/>
                <a:gdLst>
                  <a:gd name="T0" fmla="*/ 7 w 46"/>
                  <a:gd name="T1" fmla="*/ 31 h 185"/>
                  <a:gd name="T2" fmla="*/ 18 w 46"/>
                  <a:gd name="T3" fmla="*/ 24 h 185"/>
                  <a:gd name="T4" fmla="*/ 46 w 46"/>
                  <a:gd name="T5" fmla="*/ 185 h 185"/>
                  <a:gd name="T6" fmla="*/ 31 w 46"/>
                  <a:gd name="T7" fmla="*/ 185 h 185"/>
                  <a:gd name="T8" fmla="*/ 5 w 46"/>
                  <a:gd name="T9" fmla="*/ 24 h 185"/>
                  <a:gd name="T10" fmla="*/ 15 w 46"/>
                  <a:gd name="T11" fmla="*/ 18 h 185"/>
                  <a:gd name="T12" fmla="*/ 5 w 46"/>
                  <a:gd name="T13" fmla="*/ 24 h 185"/>
                  <a:gd name="T14" fmla="*/ 0 w 46"/>
                  <a:gd name="T15" fmla="*/ 0 h 185"/>
                  <a:gd name="T16" fmla="*/ 15 w 46"/>
                  <a:gd name="T17" fmla="*/ 18 h 185"/>
                  <a:gd name="T18" fmla="*/ 7 w 46"/>
                  <a:gd name="T19" fmla="*/ 31 h 1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6"/>
                  <a:gd name="T31" fmla="*/ 0 h 185"/>
                  <a:gd name="T32" fmla="*/ 46 w 46"/>
                  <a:gd name="T33" fmla="*/ 185 h 1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6" h="185">
                    <a:moveTo>
                      <a:pt x="7" y="31"/>
                    </a:moveTo>
                    <a:lnTo>
                      <a:pt x="18" y="24"/>
                    </a:lnTo>
                    <a:lnTo>
                      <a:pt x="46" y="185"/>
                    </a:lnTo>
                    <a:lnTo>
                      <a:pt x="31" y="185"/>
                    </a:lnTo>
                    <a:lnTo>
                      <a:pt x="5" y="24"/>
                    </a:lnTo>
                    <a:lnTo>
                      <a:pt x="15" y="18"/>
                    </a:lnTo>
                    <a:lnTo>
                      <a:pt x="5" y="24"/>
                    </a:lnTo>
                    <a:lnTo>
                      <a:pt x="0" y="0"/>
                    </a:lnTo>
                    <a:lnTo>
                      <a:pt x="15" y="18"/>
                    </a:lnTo>
                    <a:lnTo>
                      <a:pt x="7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39" name="Freeform 108"/>
              <p:cNvSpPr>
                <a:spLocks/>
              </p:cNvSpPr>
              <p:nvPr/>
            </p:nvSpPr>
            <p:spPr bwMode="auto">
              <a:xfrm>
                <a:off x="4010" y="1784"/>
                <a:ext cx="123" cy="129"/>
              </a:xfrm>
              <a:custGeom>
                <a:avLst/>
                <a:gdLst>
                  <a:gd name="T0" fmla="*/ 104 w 123"/>
                  <a:gd name="T1" fmla="*/ 111 h 129"/>
                  <a:gd name="T2" fmla="*/ 104 w 123"/>
                  <a:gd name="T3" fmla="*/ 127 h 129"/>
                  <a:gd name="T4" fmla="*/ 0 w 123"/>
                  <a:gd name="T5" fmla="*/ 15 h 129"/>
                  <a:gd name="T6" fmla="*/ 6 w 123"/>
                  <a:gd name="T7" fmla="*/ 0 h 129"/>
                  <a:gd name="T8" fmla="*/ 112 w 123"/>
                  <a:gd name="T9" fmla="*/ 113 h 129"/>
                  <a:gd name="T10" fmla="*/ 112 w 123"/>
                  <a:gd name="T11" fmla="*/ 129 h 129"/>
                  <a:gd name="T12" fmla="*/ 112 w 123"/>
                  <a:gd name="T13" fmla="*/ 113 h 129"/>
                  <a:gd name="T14" fmla="*/ 123 w 123"/>
                  <a:gd name="T15" fmla="*/ 124 h 129"/>
                  <a:gd name="T16" fmla="*/ 112 w 123"/>
                  <a:gd name="T17" fmla="*/ 129 h 129"/>
                  <a:gd name="T18" fmla="*/ 104 w 123"/>
                  <a:gd name="T19" fmla="*/ 111 h 12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3"/>
                  <a:gd name="T31" fmla="*/ 0 h 129"/>
                  <a:gd name="T32" fmla="*/ 123 w 123"/>
                  <a:gd name="T33" fmla="*/ 129 h 12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3" h="129">
                    <a:moveTo>
                      <a:pt x="104" y="111"/>
                    </a:moveTo>
                    <a:lnTo>
                      <a:pt x="104" y="127"/>
                    </a:lnTo>
                    <a:lnTo>
                      <a:pt x="0" y="15"/>
                    </a:lnTo>
                    <a:lnTo>
                      <a:pt x="6" y="0"/>
                    </a:lnTo>
                    <a:lnTo>
                      <a:pt x="112" y="113"/>
                    </a:lnTo>
                    <a:lnTo>
                      <a:pt x="112" y="129"/>
                    </a:lnTo>
                    <a:lnTo>
                      <a:pt x="112" y="113"/>
                    </a:lnTo>
                    <a:lnTo>
                      <a:pt x="123" y="124"/>
                    </a:lnTo>
                    <a:lnTo>
                      <a:pt x="112" y="129"/>
                    </a:lnTo>
                    <a:lnTo>
                      <a:pt x="104" y="1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40" name="Freeform 109"/>
              <p:cNvSpPr>
                <a:spLocks/>
              </p:cNvSpPr>
              <p:nvPr/>
            </p:nvSpPr>
            <p:spPr bwMode="auto">
              <a:xfrm>
                <a:off x="4034" y="1895"/>
                <a:ext cx="89" cy="74"/>
              </a:xfrm>
              <a:custGeom>
                <a:avLst/>
                <a:gdLst>
                  <a:gd name="T0" fmla="*/ 15 w 89"/>
                  <a:gd name="T1" fmla="*/ 58 h 74"/>
                  <a:gd name="T2" fmla="*/ 2 w 89"/>
                  <a:gd name="T3" fmla="*/ 48 h 74"/>
                  <a:gd name="T4" fmla="*/ 82 w 89"/>
                  <a:gd name="T5" fmla="*/ 0 h 74"/>
                  <a:gd name="T6" fmla="*/ 89 w 89"/>
                  <a:gd name="T7" fmla="*/ 19 h 74"/>
                  <a:gd name="T8" fmla="*/ 11 w 89"/>
                  <a:gd name="T9" fmla="*/ 67 h 74"/>
                  <a:gd name="T10" fmla="*/ 0 w 89"/>
                  <a:gd name="T11" fmla="*/ 58 h 74"/>
                  <a:gd name="T12" fmla="*/ 11 w 89"/>
                  <a:gd name="T13" fmla="*/ 67 h 74"/>
                  <a:gd name="T14" fmla="*/ 2 w 89"/>
                  <a:gd name="T15" fmla="*/ 74 h 74"/>
                  <a:gd name="T16" fmla="*/ 0 w 89"/>
                  <a:gd name="T17" fmla="*/ 58 h 74"/>
                  <a:gd name="T18" fmla="*/ 15 w 89"/>
                  <a:gd name="T19" fmla="*/ 58 h 7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9"/>
                  <a:gd name="T31" fmla="*/ 0 h 74"/>
                  <a:gd name="T32" fmla="*/ 89 w 89"/>
                  <a:gd name="T33" fmla="*/ 74 h 7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9" h="74">
                    <a:moveTo>
                      <a:pt x="15" y="58"/>
                    </a:moveTo>
                    <a:lnTo>
                      <a:pt x="2" y="48"/>
                    </a:lnTo>
                    <a:lnTo>
                      <a:pt x="82" y="0"/>
                    </a:lnTo>
                    <a:lnTo>
                      <a:pt x="89" y="19"/>
                    </a:lnTo>
                    <a:lnTo>
                      <a:pt x="11" y="67"/>
                    </a:lnTo>
                    <a:lnTo>
                      <a:pt x="0" y="58"/>
                    </a:lnTo>
                    <a:lnTo>
                      <a:pt x="11" y="67"/>
                    </a:lnTo>
                    <a:lnTo>
                      <a:pt x="2" y="74"/>
                    </a:lnTo>
                    <a:lnTo>
                      <a:pt x="0" y="58"/>
                    </a:lnTo>
                    <a:lnTo>
                      <a:pt x="15" y="5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41" name="Freeform 110"/>
              <p:cNvSpPr>
                <a:spLocks/>
              </p:cNvSpPr>
              <p:nvPr/>
            </p:nvSpPr>
            <p:spPr bwMode="auto">
              <a:xfrm>
                <a:off x="4015" y="1812"/>
                <a:ext cx="36" cy="38"/>
              </a:xfrm>
              <a:custGeom>
                <a:avLst/>
                <a:gdLst>
                  <a:gd name="T0" fmla="*/ 10 w 36"/>
                  <a:gd name="T1" fmla="*/ 38 h 38"/>
                  <a:gd name="T2" fmla="*/ 0 w 36"/>
                  <a:gd name="T3" fmla="*/ 18 h 38"/>
                  <a:gd name="T4" fmla="*/ 26 w 36"/>
                  <a:gd name="T5" fmla="*/ 0 h 38"/>
                  <a:gd name="T6" fmla="*/ 36 w 36"/>
                  <a:gd name="T7" fmla="*/ 20 h 38"/>
                  <a:gd name="T8" fmla="*/ 10 w 36"/>
                  <a:gd name="T9" fmla="*/ 38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38"/>
                  <a:gd name="T17" fmla="*/ 36 w 36"/>
                  <a:gd name="T18" fmla="*/ 38 h 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38">
                    <a:moveTo>
                      <a:pt x="10" y="38"/>
                    </a:moveTo>
                    <a:lnTo>
                      <a:pt x="0" y="18"/>
                    </a:lnTo>
                    <a:lnTo>
                      <a:pt x="26" y="0"/>
                    </a:lnTo>
                    <a:lnTo>
                      <a:pt x="36" y="20"/>
                    </a:lnTo>
                    <a:lnTo>
                      <a:pt x="10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42" name="Freeform 111"/>
              <p:cNvSpPr>
                <a:spLocks/>
              </p:cNvSpPr>
              <p:nvPr/>
            </p:nvSpPr>
            <p:spPr bwMode="auto">
              <a:xfrm>
                <a:off x="4028" y="1832"/>
                <a:ext cx="115" cy="232"/>
              </a:xfrm>
              <a:custGeom>
                <a:avLst/>
                <a:gdLst>
                  <a:gd name="T0" fmla="*/ 83 w 115"/>
                  <a:gd name="T1" fmla="*/ 232 h 232"/>
                  <a:gd name="T2" fmla="*/ 83 w 115"/>
                  <a:gd name="T3" fmla="*/ 232 h 232"/>
                  <a:gd name="T4" fmla="*/ 76 w 115"/>
                  <a:gd name="T5" fmla="*/ 204 h 232"/>
                  <a:gd name="T6" fmla="*/ 66 w 115"/>
                  <a:gd name="T7" fmla="*/ 175 h 232"/>
                  <a:gd name="T8" fmla="*/ 57 w 115"/>
                  <a:gd name="T9" fmla="*/ 149 h 232"/>
                  <a:gd name="T10" fmla="*/ 47 w 115"/>
                  <a:gd name="T11" fmla="*/ 122 h 232"/>
                  <a:gd name="T12" fmla="*/ 36 w 115"/>
                  <a:gd name="T13" fmla="*/ 95 h 232"/>
                  <a:gd name="T14" fmla="*/ 25 w 115"/>
                  <a:gd name="T15" fmla="*/ 69 h 232"/>
                  <a:gd name="T16" fmla="*/ 13 w 115"/>
                  <a:gd name="T17" fmla="*/ 44 h 232"/>
                  <a:gd name="T18" fmla="*/ 0 w 115"/>
                  <a:gd name="T19" fmla="*/ 19 h 232"/>
                  <a:gd name="T20" fmla="*/ 26 w 115"/>
                  <a:gd name="T21" fmla="*/ 0 h 232"/>
                  <a:gd name="T22" fmla="*/ 39 w 115"/>
                  <a:gd name="T23" fmla="*/ 26 h 232"/>
                  <a:gd name="T24" fmla="*/ 51 w 115"/>
                  <a:gd name="T25" fmla="*/ 53 h 232"/>
                  <a:gd name="T26" fmla="*/ 64 w 115"/>
                  <a:gd name="T27" fmla="*/ 81 h 232"/>
                  <a:gd name="T28" fmla="*/ 76 w 115"/>
                  <a:gd name="T29" fmla="*/ 110 h 232"/>
                  <a:gd name="T30" fmla="*/ 88 w 115"/>
                  <a:gd name="T31" fmla="*/ 137 h 232"/>
                  <a:gd name="T32" fmla="*/ 97 w 115"/>
                  <a:gd name="T33" fmla="*/ 167 h 232"/>
                  <a:gd name="T34" fmla="*/ 107 w 115"/>
                  <a:gd name="T35" fmla="*/ 196 h 232"/>
                  <a:gd name="T36" fmla="*/ 115 w 115"/>
                  <a:gd name="T37" fmla="*/ 227 h 232"/>
                  <a:gd name="T38" fmla="*/ 83 w 115"/>
                  <a:gd name="T39" fmla="*/ 232 h 23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5"/>
                  <a:gd name="T61" fmla="*/ 0 h 232"/>
                  <a:gd name="T62" fmla="*/ 115 w 115"/>
                  <a:gd name="T63" fmla="*/ 232 h 23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5" h="232">
                    <a:moveTo>
                      <a:pt x="83" y="232"/>
                    </a:moveTo>
                    <a:lnTo>
                      <a:pt x="83" y="232"/>
                    </a:lnTo>
                    <a:lnTo>
                      <a:pt x="76" y="204"/>
                    </a:lnTo>
                    <a:lnTo>
                      <a:pt x="66" y="175"/>
                    </a:lnTo>
                    <a:lnTo>
                      <a:pt x="57" y="149"/>
                    </a:lnTo>
                    <a:lnTo>
                      <a:pt x="47" y="122"/>
                    </a:lnTo>
                    <a:lnTo>
                      <a:pt x="36" y="95"/>
                    </a:lnTo>
                    <a:lnTo>
                      <a:pt x="25" y="69"/>
                    </a:lnTo>
                    <a:lnTo>
                      <a:pt x="13" y="44"/>
                    </a:lnTo>
                    <a:lnTo>
                      <a:pt x="0" y="19"/>
                    </a:lnTo>
                    <a:lnTo>
                      <a:pt x="26" y="0"/>
                    </a:lnTo>
                    <a:lnTo>
                      <a:pt x="39" y="26"/>
                    </a:lnTo>
                    <a:lnTo>
                      <a:pt x="51" y="53"/>
                    </a:lnTo>
                    <a:lnTo>
                      <a:pt x="64" y="81"/>
                    </a:lnTo>
                    <a:lnTo>
                      <a:pt x="76" y="110"/>
                    </a:lnTo>
                    <a:lnTo>
                      <a:pt x="88" y="137"/>
                    </a:lnTo>
                    <a:lnTo>
                      <a:pt x="97" y="167"/>
                    </a:lnTo>
                    <a:lnTo>
                      <a:pt x="107" y="196"/>
                    </a:lnTo>
                    <a:lnTo>
                      <a:pt x="115" y="227"/>
                    </a:lnTo>
                    <a:lnTo>
                      <a:pt x="83" y="2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43" name="Freeform 112"/>
              <p:cNvSpPr>
                <a:spLocks/>
              </p:cNvSpPr>
              <p:nvPr/>
            </p:nvSpPr>
            <p:spPr bwMode="auto">
              <a:xfrm>
                <a:off x="4118" y="2060"/>
                <a:ext cx="65" cy="205"/>
              </a:xfrm>
              <a:custGeom>
                <a:avLst/>
                <a:gdLst>
                  <a:gd name="T0" fmla="*/ 32 w 65"/>
                  <a:gd name="T1" fmla="*/ 198 h 205"/>
                  <a:gd name="T2" fmla="*/ 30 w 65"/>
                  <a:gd name="T3" fmla="*/ 175 h 205"/>
                  <a:gd name="T4" fmla="*/ 26 w 65"/>
                  <a:gd name="T5" fmla="*/ 150 h 205"/>
                  <a:gd name="T6" fmla="*/ 24 w 65"/>
                  <a:gd name="T7" fmla="*/ 127 h 205"/>
                  <a:gd name="T8" fmla="*/ 20 w 65"/>
                  <a:gd name="T9" fmla="*/ 102 h 205"/>
                  <a:gd name="T10" fmla="*/ 16 w 65"/>
                  <a:gd name="T11" fmla="*/ 78 h 205"/>
                  <a:gd name="T12" fmla="*/ 10 w 65"/>
                  <a:gd name="T13" fmla="*/ 54 h 205"/>
                  <a:gd name="T14" fmla="*/ 5 w 65"/>
                  <a:gd name="T15" fmla="*/ 29 h 205"/>
                  <a:gd name="T16" fmla="*/ 0 w 65"/>
                  <a:gd name="T17" fmla="*/ 5 h 205"/>
                  <a:gd name="T18" fmla="*/ 30 w 65"/>
                  <a:gd name="T19" fmla="*/ 0 h 205"/>
                  <a:gd name="T20" fmla="*/ 37 w 65"/>
                  <a:gd name="T21" fmla="*/ 25 h 205"/>
                  <a:gd name="T22" fmla="*/ 42 w 65"/>
                  <a:gd name="T23" fmla="*/ 51 h 205"/>
                  <a:gd name="T24" fmla="*/ 48 w 65"/>
                  <a:gd name="T25" fmla="*/ 76 h 205"/>
                  <a:gd name="T26" fmla="*/ 52 w 65"/>
                  <a:gd name="T27" fmla="*/ 102 h 205"/>
                  <a:gd name="T28" fmla="*/ 57 w 65"/>
                  <a:gd name="T29" fmla="*/ 128 h 205"/>
                  <a:gd name="T30" fmla="*/ 61 w 65"/>
                  <a:gd name="T31" fmla="*/ 154 h 205"/>
                  <a:gd name="T32" fmla="*/ 63 w 65"/>
                  <a:gd name="T33" fmla="*/ 179 h 205"/>
                  <a:gd name="T34" fmla="*/ 65 w 65"/>
                  <a:gd name="T35" fmla="*/ 205 h 205"/>
                  <a:gd name="T36" fmla="*/ 32 w 65"/>
                  <a:gd name="T37" fmla="*/ 198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5"/>
                  <a:gd name="T58" fmla="*/ 0 h 205"/>
                  <a:gd name="T59" fmla="*/ 65 w 65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5" h="205">
                    <a:moveTo>
                      <a:pt x="32" y="198"/>
                    </a:moveTo>
                    <a:lnTo>
                      <a:pt x="30" y="175"/>
                    </a:lnTo>
                    <a:lnTo>
                      <a:pt x="26" y="150"/>
                    </a:lnTo>
                    <a:lnTo>
                      <a:pt x="24" y="127"/>
                    </a:lnTo>
                    <a:lnTo>
                      <a:pt x="20" y="102"/>
                    </a:lnTo>
                    <a:lnTo>
                      <a:pt x="16" y="78"/>
                    </a:lnTo>
                    <a:lnTo>
                      <a:pt x="10" y="54"/>
                    </a:lnTo>
                    <a:lnTo>
                      <a:pt x="5" y="29"/>
                    </a:lnTo>
                    <a:lnTo>
                      <a:pt x="0" y="5"/>
                    </a:lnTo>
                    <a:lnTo>
                      <a:pt x="30" y="0"/>
                    </a:lnTo>
                    <a:lnTo>
                      <a:pt x="37" y="25"/>
                    </a:lnTo>
                    <a:lnTo>
                      <a:pt x="42" y="51"/>
                    </a:lnTo>
                    <a:lnTo>
                      <a:pt x="48" y="76"/>
                    </a:lnTo>
                    <a:lnTo>
                      <a:pt x="52" y="102"/>
                    </a:lnTo>
                    <a:lnTo>
                      <a:pt x="57" y="128"/>
                    </a:lnTo>
                    <a:lnTo>
                      <a:pt x="61" y="154"/>
                    </a:lnTo>
                    <a:lnTo>
                      <a:pt x="63" y="179"/>
                    </a:lnTo>
                    <a:lnTo>
                      <a:pt x="65" y="205"/>
                    </a:lnTo>
                    <a:lnTo>
                      <a:pt x="32" y="1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44" name="Freeform 113"/>
              <p:cNvSpPr>
                <a:spLocks/>
              </p:cNvSpPr>
              <p:nvPr/>
            </p:nvSpPr>
            <p:spPr bwMode="auto">
              <a:xfrm>
                <a:off x="4154" y="2259"/>
                <a:ext cx="34" cy="28"/>
              </a:xfrm>
              <a:custGeom>
                <a:avLst/>
                <a:gdLst>
                  <a:gd name="T0" fmla="*/ 32 w 34"/>
                  <a:gd name="T1" fmla="*/ 7 h 28"/>
                  <a:gd name="T2" fmla="*/ 34 w 34"/>
                  <a:gd name="T3" fmla="*/ 28 h 28"/>
                  <a:gd name="T4" fmla="*/ 2 w 34"/>
                  <a:gd name="T5" fmla="*/ 23 h 28"/>
                  <a:gd name="T6" fmla="*/ 0 w 34"/>
                  <a:gd name="T7" fmla="*/ 0 h 28"/>
                  <a:gd name="T8" fmla="*/ 32 w 34"/>
                  <a:gd name="T9" fmla="*/ 7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28"/>
                  <a:gd name="T17" fmla="*/ 34 w 34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28">
                    <a:moveTo>
                      <a:pt x="32" y="7"/>
                    </a:moveTo>
                    <a:lnTo>
                      <a:pt x="34" y="28"/>
                    </a:lnTo>
                    <a:lnTo>
                      <a:pt x="2" y="23"/>
                    </a:lnTo>
                    <a:lnTo>
                      <a:pt x="0" y="0"/>
                    </a:lnTo>
                    <a:lnTo>
                      <a:pt x="32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45" name="Freeform 114"/>
              <p:cNvSpPr>
                <a:spLocks/>
              </p:cNvSpPr>
              <p:nvPr/>
            </p:nvSpPr>
            <p:spPr bwMode="auto">
              <a:xfrm>
                <a:off x="4013" y="1791"/>
                <a:ext cx="106" cy="162"/>
              </a:xfrm>
              <a:custGeom>
                <a:avLst/>
                <a:gdLst>
                  <a:gd name="T0" fmla="*/ 28 w 106"/>
                  <a:gd name="T1" fmla="*/ 162 h 162"/>
                  <a:gd name="T2" fmla="*/ 0 w 106"/>
                  <a:gd name="T3" fmla="*/ 0 h 162"/>
                  <a:gd name="T4" fmla="*/ 106 w 106"/>
                  <a:gd name="T5" fmla="*/ 113 h 162"/>
                  <a:gd name="T6" fmla="*/ 28 w 106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6"/>
                  <a:gd name="T13" fmla="*/ 0 h 162"/>
                  <a:gd name="T14" fmla="*/ 106 w 106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6" h="162">
                    <a:moveTo>
                      <a:pt x="28" y="162"/>
                    </a:moveTo>
                    <a:lnTo>
                      <a:pt x="0" y="0"/>
                    </a:lnTo>
                    <a:lnTo>
                      <a:pt x="106" y="113"/>
                    </a:lnTo>
                    <a:lnTo>
                      <a:pt x="28" y="162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46" name="Freeform 115"/>
              <p:cNvSpPr>
                <a:spLocks/>
              </p:cNvSpPr>
              <p:nvPr/>
            </p:nvSpPr>
            <p:spPr bwMode="auto">
              <a:xfrm>
                <a:off x="4005" y="1779"/>
                <a:ext cx="39" cy="175"/>
              </a:xfrm>
              <a:custGeom>
                <a:avLst/>
                <a:gdLst>
                  <a:gd name="T0" fmla="*/ 5 w 39"/>
                  <a:gd name="T1" fmla="*/ 18 h 175"/>
                  <a:gd name="T2" fmla="*/ 11 w 39"/>
                  <a:gd name="T3" fmla="*/ 12 h 175"/>
                  <a:gd name="T4" fmla="*/ 39 w 39"/>
                  <a:gd name="T5" fmla="*/ 174 h 175"/>
                  <a:gd name="T6" fmla="*/ 30 w 39"/>
                  <a:gd name="T7" fmla="*/ 175 h 175"/>
                  <a:gd name="T8" fmla="*/ 3 w 39"/>
                  <a:gd name="T9" fmla="*/ 15 h 175"/>
                  <a:gd name="T10" fmla="*/ 9 w 39"/>
                  <a:gd name="T11" fmla="*/ 9 h 175"/>
                  <a:gd name="T12" fmla="*/ 3 w 39"/>
                  <a:gd name="T13" fmla="*/ 15 h 175"/>
                  <a:gd name="T14" fmla="*/ 0 w 39"/>
                  <a:gd name="T15" fmla="*/ 0 h 175"/>
                  <a:gd name="T16" fmla="*/ 9 w 39"/>
                  <a:gd name="T17" fmla="*/ 9 h 175"/>
                  <a:gd name="T18" fmla="*/ 5 w 39"/>
                  <a:gd name="T19" fmla="*/ 18 h 1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9"/>
                  <a:gd name="T31" fmla="*/ 0 h 175"/>
                  <a:gd name="T32" fmla="*/ 39 w 39"/>
                  <a:gd name="T33" fmla="*/ 175 h 1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9" h="175">
                    <a:moveTo>
                      <a:pt x="5" y="18"/>
                    </a:moveTo>
                    <a:lnTo>
                      <a:pt x="11" y="12"/>
                    </a:lnTo>
                    <a:lnTo>
                      <a:pt x="39" y="174"/>
                    </a:lnTo>
                    <a:lnTo>
                      <a:pt x="30" y="175"/>
                    </a:lnTo>
                    <a:lnTo>
                      <a:pt x="3" y="15"/>
                    </a:lnTo>
                    <a:lnTo>
                      <a:pt x="9" y="9"/>
                    </a:lnTo>
                    <a:lnTo>
                      <a:pt x="3" y="15"/>
                    </a:lnTo>
                    <a:lnTo>
                      <a:pt x="0" y="0"/>
                    </a:lnTo>
                    <a:lnTo>
                      <a:pt x="9" y="9"/>
                    </a:lnTo>
                    <a:lnTo>
                      <a:pt x="5" y="18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47" name="Freeform 116"/>
              <p:cNvSpPr>
                <a:spLocks/>
              </p:cNvSpPr>
              <p:nvPr/>
            </p:nvSpPr>
            <p:spPr bwMode="auto">
              <a:xfrm>
                <a:off x="4010" y="1787"/>
                <a:ext cx="115" cy="123"/>
              </a:xfrm>
              <a:custGeom>
                <a:avLst/>
                <a:gdLst>
                  <a:gd name="T0" fmla="*/ 106 w 115"/>
                  <a:gd name="T1" fmla="*/ 113 h 123"/>
                  <a:gd name="T2" fmla="*/ 106 w 115"/>
                  <a:gd name="T3" fmla="*/ 122 h 123"/>
                  <a:gd name="T4" fmla="*/ 0 w 115"/>
                  <a:gd name="T5" fmla="*/ 9 h 123"/>
                  <a:gd name="T6" fmla="*/ 4 w 115"/>
                  <a:gd name="T7" fmla="*/ 0 h 123"/>
                  <a:gd name="T8" fmla="*/ 110 w 115"/>
                  <a:gd name="T9" fmla="*/ 114 h 123"/>
                  <a:gd name="T10" fmla="*/ 110 w 115"/>
                  <a:gd name="T11" fmla="*/ 123 h 123"/>
                  <a:gd name="T12" fmla="*/ 110 w 115"/>
                  <a:gd name="T13" fmla="*/ 114 h 123"/>
                  <a:gd name="T14" fmla="*/ 115 w 115"/>
                  <a:gd name="T15" fmla="*/ 120 h 123"/>
                  <a:gd name="T16" fmla="*/ 110 w 115"/>
                  <a:gd name="T17" fmla="*/ 123 h 123"/>
                  <a:gd name="T18" fmla="*/ 106 w 115"/>
                  <a:gd name="T19" fmla="*/ 113 h 12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5"/>
                  <a:gd name="T31" fmla="*/ 0 h 123"/>
                  <a:gd name="T32" fmla="*/ 115 w 115"/>
                  <a:gd name="T33" fmla="*/ 123 h 12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5" h="123">
                    <a:moveTo>
                      <a:pt x="106" y="113"/>
                    </a:moveTo>
                    <a:lnTo>
                      <a:pt x="106" y="122"/>
                    </a:lnTo>
                    <a:lnTo>
                      <a:pt x="0" y="9"/>
                    </a:lnTo>
                    <a:lnTo>
                      <a:pt x="4" y="0"/>
                    </a:lnTo>
                    <a:lnTo>
                      <a:pt x="110" y="114"/>
                    </a:lnTo>
                    <a:lnTo>
                      <a:pt x="110" y="123"/>
                    </a:lnTo>
                    <a:lnTo>
                      <a:pt x="110" y="114"/>
                    </a:lnTo>
                    <a:lnTo>
                      <a:pt x="115" y="120"/>
                    </a:lnTo>
                    <a:lnTo>
                      <a:pt x="110" y="123"/>
                    </a:lnTo>
                    <a:lnTo>
                      <a:pt x="106" y="113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48" name="Freeform 117"/>
              <p:cNvSpPr>
                <a:spLocks/>
              </p:cNvSpPr>
              <p:nvPr/>
            </p:nvSpPr>
            <p:spPr bwMode="auto">
              <a:xfrm>
                <a:off x="4038" y="1900"/>
                <a:ext cx="84" cy="63"/>
              </a:xfrm>
              <a:custGeom>
                <a:avLst/>
                <a:gdLst>
                  <a:gd name="T0" fmla="*/ 9 w 84"/>
                  <a:gd name="T1" fmla="*/ 55 h 63"/>
                  <a:gd name="T2" fmla="*/ 2 w 84"/>
                  <a:gd name="T3" fmla="*/ 48 h 63"/>
                  <a:gd name="T4" fmla="*/ 80 w 84"/>
                  <a:gd name="T5" fmla="*/ 0 h 63"/>
                  <a:gd name="T6" fmla="*/ 84 w 84"/>
                  <a:gd name="T7" fmla="*/ 11 h 63"/>
                  <a:gd name="T8" fmla="*/ 6 w 84"/>
                  <a:gd name="T9" fmla="*/ 60 h 63"/>
                  <a:gd name="T10" fmla="*/ 0 w 84"/>
                  <a:gd name="T11" fmla="*/ 55 h 63"/>
                  <a:gd name="T12" fmla="*/ 6 w 84"/>
                  <a:gd name="T13" fmla="*/ 60 h 63"/>
                  <a:gd name="T14" fmla="*/ 2 w 84"/>
                  <a:gd name="T15" fmla="*/ 63 h 63"/>
                  <a:gd name="T16" fmla="*/ 0 w 84"/>
                  <a:gd name="T17" fmla="*/ 55 h 63"/>
                  <a:gd name="T18" fmla="*/ 9 w 84"/>
                  <a:gd name="T19" fmla="*/ 55 h 6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4"/>
                  <a:gd name="T31" fmla="*/ 0 h 63"/>
                  <a:gd name="T32" fmla="*/ 84 w 84"/>
                  <a:gd name="T33" fmla="*/ 63 h 6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4" h="63">
                    <a:moveTo>
                      <a:pt x="9" y="55"/>
                    </a:moveTo>
                    <a:lnTo>
                      <a:pt x="2" y="48"/>
                    </a:lnTo>
                    <a:lnTo>
                      <a:pt x="80" y="0"/>
                    </a:lnTo>
                    <a:lnTo>
                      <a:pt x="84" y="11"/>
                    </a:lnTo>
                    <a:lnTo>
                      <a:pt x="6" y="60"/>
                    </a:lnTo>
                    <a:lnTo>
                      <a:pt x="0" y="55"/>
                    </a:lnTo>
                    <a:lnTo>
                      <a:pt x="6" y="60"/>
                    </a:lnTo>
                    <a:lnTo>
                      <a:pt x="2" y="63"/>
                    </a:lnTo>
                    <a:lnTo>
                      <a:pt x="0" y="55"/>
                    </a:lnTo>
                    <a:lnTo>
                      <a:pt x="9" y="55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49" name="Freeform 118"/>
              <p:cNvSpPr>
                <a:spLocks/>
              </p:cNvSpPr>
              <p:nvPr/>
            </p:nvSpPr>
            <p:spPr bwMode="auto">
              <a:xfrm>
                <a:off x="4022" y="1816"/>
                <a:ext cx="29" cy="33"/>
              </a:xfrm>
              <a:custGeom>
                <a:avLst/>
                <a:gdLst>
                  <a:gd name="T0" fmla="*/ 8 w 29"/>
                  <a:gd name="T1" fmla="*/ 33 h 33"/>
                  <a:gd name="T2" fmla="*/ 0 w 29"/>
                  <a:gd name="T3" fmla="*/ 16 h 33"/>
                  <a:gd name="T4" fmla="*/ 21 w 29"/>
                  <a:gd name="T5" fmla="*/ 0 h 33"/>
                  <a:gd name="T6" fmla="*/ 29 w 29"/>
                  <a:gd name="T7" fmla="*/ 17 h 33"/>
                  <a:gd name="T8" fmla="*/ 8 w 29"/>
                  <a:gd name="T9" fmla="*/ 33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33"/>
                  <a:gd name="T17" fmla="*/ 29 w 29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33">
                    <a:moveTo>
                      <a:pt x="8" y="33"/>
                    </a:moveTo>
                    <a:lnTo>
                      <a:pt x="0" y="16"/>
                    </a:lnTo>
                    <a:lnTo>
                      <a:pt x="21" y="0"/>
                    </a:lnTo>
                    <a:lnTo>
                      <a:pt x="29" y="17"/>
                    </a:lnTo>
                    <a:lnTo>
                      <a:pt x="8" y="33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50" name="Freeform 119"/>
              <p:cNvSpPr>
                <a:spLocks/>
              </p:cNvSpPr>
              <p:nvPr/>
            </p:nvSpPr>
            <p:spPr bwMode="auto">
              <a:xfrm>
                <a:off x="4030" y="1835"/>
                <a:ext cx="110" cy="228"/>
              </a:xfrm>
              <a:custGeom>
                <a:avLst/>
                <a:gdLst>
                  <a:gd name="T0" fmla="*/ 86 w 110"/>
                  <a:gd name="T1" fmla="*/ 228 h 228"/>
                  <a:gd name="T2" fmla="*/ 86 w 110"/>
                  <a:gd name="T3" fmla="*/ 228 h 228"/>
                  <a:gd name="T4" fmla="*/ 77 w 110"/>
                  <a:gd name="T5" fmla="*/ 200 h 228"/>
                  <a:gd name="T6" fmla="*/ 68 w 110"/>
                  <a:gd name="T7" fmla="*/ 172 h 228"/>
                  <a:gd name="T8" fmla="*/ 58 w 110"/>
                  <a:gd name="T9" fmla="*/ 144 h 228"/>
                  <a:gd name="T10" fmla="*/ 47 w 110"/>
                  <a:gd name="T11" fmla="*/ 117 h 228"/>
                  <a:gd name="T12" fmla="*/ 36 w 110"/>
                  <a:gd name="T13" fmla="*/ 91 h 228"/>
                  <a:gd name="T14" fmla="*/ 25 w 110"/>
                  <a:gd name="T15" fmla="*/ 65 h 228"/>
                  <a:gd name="T16" fmla="*/ 13 w 110"/>
                  <a:gd name="T17" fmla="*/ 40 h 228"/>
                  <a:gd name="T18" fmla="*/ 0 w 110"/>
                  <a:gd name="T19" fmla="*/ 15 h 228"/>
                  <a:gd name="T20" fmla="*/ 21 w 110"/>
                  <a:gd name="T21" fmla="*/ 0 h 228"/>
                  <a:gd name="T22" fmla="*/ 35 w 110"/>
                  <a:gd name="T23" fmla="*/ 26 h 228"/>
                  <a:gd name="T24" fmla="*/ 47 w 110"/>
                  <a:gd name="T25" fmla="*/ 54 h 228"/>
                  <a:gd name="T26" fmla="*/ 60 w 110"/>
                  <a:gd name="T27" fmla="*/ 80 h 228"/>
                  <a:gd name="T28" fmla="*/ 72 w 110"/>
                  <a:gd name="T29" fmla="*/ 107 h 228"/>
                  <a:gd name="T30" fmla="*/ 82 w 110"/>
                  <a:gd name="T31" fmla="*/ 135 h 228"/>
                  <a:gd name="T32" fmla="*/ 92 w 110"/>
                  <a:gd name="T33" fmla="*/ 164 h 228"/>
                  <a:gd name="T34" fmla="*/ 102 w 110"/>
                  <a:gd name="T35" fmla="*/ 193 h 228"/>
                  <a:gd name="T36" fmla="*/ 110 w 110"/>
                  <a:gd name="T37" fmla="*/ 221 h 228"/>
                  <a:gd name="T38" fmla="*/ 86 w 110"/>
                  <a:gd name="T39" fmla="*/ 228 h 22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0"/>
                  <a:gd name="T61" fmla="*/ 0 h 228"/>
                  <a:gd name="T62" fmla="*/ 110 w 110"/>
                  <a:gd name="T63" fmla="*/ 228 h 22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0" h="228">
                    <a:moveTo>
                      <a:pt x="86" y="228"/>
                    </a:moveTo>
                    <a:lnTo>
                      <a:pt x="86" y="228"/>
                    </a:lnTo>
                    <a:lnTo>
                      <a:pt x="77" y="200"/>
                    </a:lnTo>
                    <a:lnTo>
                      <a:pt x="68" y="172"/>
                    </a:lnTo>
                    <a:lnTo>
                      <a:pt x="58" y="144"/>
                    </a:lnTo>
                    <a:lnTo>
                      <a:pt x="47" y="117"/>
                    </a:lnTo>
                    <a:lnTo>
                      <a:pt x="36" y="91"/>
                    </a:lnTo>
                    <a:lnTo>
                      <a:pt x="25" y="65"/>
                    </a:lnTo>
                    <a:lnTo>
                      <a:pt x="13" y="40"/>
                    </a:lnTo>
                    <a:lnTo>
                      <a:pt x="0" y="15"/>
                    </a:lnTo>
                    <a:lnTo>
                      <a:pt x="21" y="0"/>
                    </a:lnTo>
                    <a:lnTo>
                      <a:pt x="35" y="26"/>
                    </a:lnTo>
                    <a:lnTo>
                      <a:pt x="47" y="54"/>
                    </a:lnTo>
                    <a:lnTo>
                      <a:pt x="60" y="80"/>
                    </a:lnTo>
                    <a:lnTo>
                      <a:pt x="72" y="107"/>
                    </a:lnTo>
                    <a:lnTo>
                      <a:pt x="82" y="135"/>
                    </a:lnTo>
                    <a:lnTo>
                      <a:pt x="92" y="164"/>
                    </a:lnTo>
                    <a:lnTo>
                      <a:pt x="102" y="193"/>
                    </a:lnTo>
                    <a:lnTo>
                      <a:pt x="110" y="221"/>
                    </a:lnTo>
                    <a:lnTo>
                      <a:pt x="86" y="228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51" name="Freeform 120"/>
              <p:cNvSpPr>
                <a:spLocks/>
              </p:cNvSpPr>
              <p:nvPr/>
            </p:nvSpPr>
            <p:spPr bwMode="auto">
              <a:xfrm>
                <a:off x="4121" y="2060"/>
                <a:ext cx="60" cy="205"/>
              </a:xfrm>
              <a:custGeom>
                <a:avLst/>
                <a:gdLst>
                  <a:gd name="T0" fmla="*/ 33 w 60"/>
                  <a:gd name="T1" fmla="*/ 201 h 205"/>
                  <a:gd name="T2" fmla="*/ 30 w 60"/>
                  <a:gd name="T3" fmla="*/ 177 h 205"/>
                  <a:gd name="T4" fmla="*/ 28 w 60"/>
                  <a:gd name="T5" fmla="*/ 152 h 205"/>
                  <a:gd name="T6" fmla="*/ 24 w 60"/>
                  <a:gd name="T7" fmla="*/ 128 h 205"/>
                  <a:gd name="T8" fmla="*/ 21 w 60"/>
                  <a:gd name="T9" fmla="*/ 103 h 205"/>
                  <a:gd name="T10" fmla="*/ 17 w 60"/>
                  <a:gd name="T11" fmla="*/ 79 h 205"/>
                  <a:gd name="T12" fmla="*/ 13 w 60"/>
                  <a:gd name="T13" fmla="*/ 55 h 205"/>
                  <a:gd name="T14" fmla="*/ 5 w 60"/>
                  <a:gd name="T15" fmla="*/ 29 h 205"/>
                  <a:gd name="T16" fmla="*/ 0 w 60"/>
                  <a:gd name="T17" fmla="*/ 5 h 205"/>
                  <a:gd name="T18" fmla="*/ 24 w 60"/>
                  <a:gd name="T19" fmla="*/ 0 h 205"/>
                  <a:gd name="T20" fmla="*/ 32 w 60"/>
                  <a:gd name="T21" fmla="*/ 25 h 205"/>
                  <a:gd name="T22" fmla="*/ 37 w 60"/>
                  <a:gd name="T23" fmla="*/ 51 h 205"/>
                  <a:gd name="T24" fmla="*/ 43 w 60"/>
                  <a:gd name="T25" fmla="*/ 79 h 205"/>
                  <a:gd name="T26" fmla="*/ 47 w 60"/>
                  <a:gd name="T27" fmla="*/ 103 h 205"/>
                  <a:gd name="T28" fmla="*/ 52 w 60"/>
                  <a:gd name="T29" fmla="*/ 129 h 205"/>
                  <a:gd name="T30" fmla="*/ 55 w 60"/>
                  <a:gd name="T31" fmla="*/ 156 h 205"/>
                  <a:gd name="T32" fmla="*/ 58 w 60"/>
                  <a:gd name="T33" fmla="*/ 180 h 205"/>
                  <a:gd name="T34" fmla="*/ 60 w 60"/>
                  <a:gd name="T35" fmla="*/ 205 h 205"/>
                  <a:gd name="T36" fmla="*/ 33 w 60"/>
                  <a:gd name="T37" fmla="*/ 201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0"/>
                  <a:gd name="T58" fmla="*/ 0 h 205"/>
                  <a:gd name="T59" fmla="*/ 60 w 60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0" h="205">
                    <a:moveTo>
                      <a:pt x="33" y="201"/>
                    </a:moveTo>
                    <a:lnTo>
                      <a:pt x="30" y="177"/>
                    </a:lnTo>
                    <a:lnTo>
                      <a:pt x="28" y="152"/>
                    </a:lnTo>
                    <a:lnTo>
                      <a:pt x="24" y="128"/>
                    </a:lnTo>
                    <a:lnTo>
                      <a:pt x="21" y="103"/>
                    </a:lnTo>
                    <a:lnTo>
                      <a:pt x="17" y="79"/>
                    </a:lnTo>
                    <a:lnTo>
                      <a:pt x="13" y="55"/>
                    </a:lnTo>
                    <a:lnTo>
                      <a:pt x="5" y="29"/>
                    </a:lnTo>
                    <a:lnTo>
                      <a:pt x="0" y="5"/>
                    </a:lnTo>
                    <a:lnTo>
                      <a:pt x="24" y="0"/>
                    </a:lnTo>
                    <a:lnTo>
                      <a:pt x="32" y="25"/>
                    </a:lnTo>
                    <a:lnTo>
                      <a:pt x="37" y="51"/>
                    </a:lnTo>
                    <a:lnTo>
                      <a:pt x="43" y="79"/>
                    </a:lnTo>
                    <a:lnTo>
                      <a:pt x="47" y="103"/>
                    </a:lnTo>
                    <a:lnTo>
                      <a:pt x="52" y="129"/>
                    </a:lnTo>
                    <a:lnTo>
                      <a:pt x="55" y="156"/>
                    </a:lnTo>
                    <a:lnTo>
                      <a:pt x="58" y="180"/>
                    </a:lnTo>
                    <a:lnTo>
                      <a:pt x="60" y="205"/>
                    </a:lnTo>
                    <a:lnTo>
                      <a:pt x="33" y="201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52" name="Freeform 121"/>
              <p:cNvSpPr>
                <a:spLocks/>
              </p:cNvSpPr>
              <p:nvPr/>
            </p:nvSpPr>
            <p:spPr bwMode="auto">
              <a:xfrm>
                <a:off x="4154" y="2263"/>
                <a:ext cx="30" cy="21"/>
              </a:xfrm>
              <a:custGeom>
                <a:avLst/>
                <a:gdLst>
                  <a:gd name="T0" fmla="*/ 29 w 30"/>
                  <a:gd name="T1" fmla="*/ 3 h 21"/>
                  <a:gd name="T2" fmla="*/ 30 w 30"/>
                  <a:gd name="T3" fmla="*/ 21 h 21"/>
                  <a:gd name="T4" fmla="*/ 1 w 30"/>
                  <a:gd name="T5" fmla="*/ 18 h 21"/>
                  <a:gd name="T6" fmla="*/ 0 w 30"/>
                  <a:gd name="T7" fmla="*/ 0 h 21"/>
                  <a:gd name="T8" fmla="*/ 29 w 30"/>
                  <a:gd name="T9" fmla="*/ 3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21"/>
                  <a:gd name="T17" fmla="*/ 30 w 30"/>
                  <a:gd name="T18" fmla="*/ 21 h 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21">
                    <a:moveTo>
                      <a:pt x="29" y="3"/>
                    </a:moveTo>
                    <a:lnTo>
                      <a:pt x="30" y="21"/>
                    </a:lnTo>
                    <a:lnTo>
                      <a:pt x="1" y="18"/>
                    </a:lnTo>
                    <a:lnTo>
                      <a:pt x="0" y="0"/>
                    </a:lnTo>
                    <a:lnTo>
                      <a:pt x="29" y="3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53" name="Freeform 122"/>
              <p:cNvSpPr>
                <a:spLocks/>
              </p:cNvSpPr>
              <p:nvPr/>
            </p:nvSpPr>
            <p:spPr bwMode="auto">
              <a:xfrm>
                <a:off x="3992" y="1759"/>
                <a:ext cx="108" cy="162"/>
              </a:xfrm>
              <a:custGeom>
                <a:avLst/>
                <a:gdLst>
                  <a:gd name="T0" fmla="*/ 34 w 108"/>
                  <a:gd name="T1" fmla="*/ 162 h 162"/>
                  <a:gd name="T2" fmla="*/ 0 w 108"/>
                  <a:gd name="T3" fmla="*/ 0 h 162"/>
                  <a:gd name="T4" fmla="*/ 108 w 108"/>
                  <a:gd name="T5" fmla="*/ 107 h 162"/>
                  <a:gd name="T6" fmla="*/ 34 w 108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8"/>
                  <a:gd name="T13" fmla="*/ 0 h 162"/>
                  <a:gd name="T14" fmla="*/ 108 w 108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8" h="162">
                    <a:moveTo>
                      <a:pt x="34" y="162"/>
                    </a:moveTo>
                    <a:lnTo>
                      <a:pt x="0" y="0"/>
                    </a:lnTo>
                    <a:lnTo>
                      <a:pt x="108" y="107"/>
                    </a:lnTo>
                    <a:lnTo>
                      <a:pt x="34" y="1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54" name="Freeform 123"/>
              <p:cNvSpPr>
                <a:spLocks/>
              </p:cNvSpPr>
              <p:nvPr/>
            </p:nvSpPr>
            <p:spPr bwMode="auto">
              <a:xfrm>
                <a:off x="3981" y="1735"/>
                <a:ext cx="53" cy="187"/>
              </a:xfrm>
              <a:custGeom>
                <a:avLst/>
                <a:gdLst>
                  <a:gd name="T0" fmla="*/ 8 w 53"/>
                  <a:gd name="T1" fmla="*/ 30 h 187"/>
                  <a:gd name="T2" fmla="*/ 20 w 53"/>
                  <a:gd name="T3" fmla="*/ 22 h 187"/>
                  <a:gd name="T4" fmla="*/ 53 w 53"/>
                  <a:gd name="T5" fmla="*/ 185 h 187"/>
                  <a:gd name="T6" fmla="*/ 38 w 53"/>
                  <a:gd name="T7" fmla="*/ 187 h 187"/>
                  <a:gd name="T8" fmla="*/ 4 w 53"/>
                  <a:gd name="T9" fmla="*/ 24 h 187"/>
                  <a:gd name="T10" fmla="*/ 16 w 53"/>
                  <a:gd name="T11" fmla="*/ 16 h 187"/>
                  <a:gd name="T12" fmla="*/ 4 w 53"/>
                  <a:gd name="T13" fmla="*/ 24 h 187"/>
                  <a:gd name="T14" fmla="*/ 0 w 53"/>
                  <a:gd name="T15" fmla="*/ 0 h 187"/>
                  <a:gd name="T16" fmla="*/ 16 w 53"/>
                  <a:gd name="T17" fmla="*/ 16 h 187"/>
                  <a:gd name="T18" fmla="*/ 8 w 53"/>
                  <a:gd name="T19" fmla="*/ 30 h 18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3"/>
                  <a:gd name="T31" fmla="*/ 0 h 187"/>
                  <a:gd name="T32" fmla="*/ 53 w 53"/>
                  <a:gd name="T33" fmla="*/ 187 h 18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3" h="187">
                    <a:moveTo>
                      <a:pt x="8" y="30"/>
                    </a:moveTo>
                    <a:lnTo>
                      <a:pt x="20" y="22"/>
                    </a:lnTo>
                    <a:lnTo>
                      <a:pt x="53" y="185"/>
                    </a:lnTo>
                    <a:lnTo>
                      <a:pt x="38" y="187"/>
                    </a:lnTo>
                    <a:lnTo>
                      <a:pt x="4" y="24"/>
                    </a:lnTo>
                    <a:lnTo>
                      <a:pt x="16" y="16"/>
                    </a:lnTo>
                    <a:lnTo>
                      <a:pt x="4" y="24"/>
                    </a:lnTo>
                    <a:lnTo>
                      <a:pt x="0" y="0"/>
                    </a:lnTo>
                    <a:lnTo>
                      <a:pt x="16" y="16"/>
                    </a:lnTo>
                    <a:lnTo>
                      <a:pt x="8" y="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55" name="Freeform 124"/>
              <p:cNvSpPr>
                <a:spLocks/>
              </p:cNvSpPr>
              <p:nvPr/>
            </p:nvSpPr>
            <p:spPr bwMode="auto">
              <a:xfrm>
                <a:off x="3987" y="1752"/>
                <a:ext cx="129" cy="126"/>
              </a:xfrm>
              <a:custGeom>
                <a:avLst/>
                <a:gdLst>
                  <a:gd name="T0" fmla="*/ 109 w 129"/>
                  <a:gd name="T1" fmla="*/ 107 h 126"/>
                  <a:gd name="T2" fmla="*/ 110 w 129"/>
                  <a:gd name="T3" fmla="*/ 124 h 126"/>
                  <a:gd name="T4" fmla="*/ 0 w 129"/>
                  <a:gd name="T5" fmla="*/ 15 h 126"/>
                  <a:gd name="T6" fmla="*/ 9 w 129"/>
                  <a:gd name="T7" fmla="*/ 0 h 126"/>
                  <a:gd name="T8" fmla="*/ 118 w 129"/>
                  <a:gd name="T9" fmla="*/ 109 h 126"/>
                  <a:gd name="T10" fmla="*/ 119 w 129"/>
                  <a:gd name="T11" fmla="*/ 126 h 126"/>
                  <a:gd name="T12" fmla="*/ 118 w 129"/>
                  <a:gd name="T13" fmla="*/ 109 h 126"/>
                  <a:gd name="T14" fmla="*/ 129 w 129"/>
                  <a:gd name="T15" fmla="*/ 117 h 126"/>
                  <a:gd name="T16" fmla="*/ 119 w 129"/>
                  <a:gd name="T17" fmla="*/ 126 h 126"/>
                  <a:gd name="T18" fmla="*/ 109 w 129"/>
                  <a:gd name="T19" fmla="*/ 107 h 12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9"/>
                  <a:gd name="T31" fmla="*/ 0 h 126"/>
                  <a:gd name="T32" fmla="*/ 129 w 129"/>
                  <a:gd name="T33" fmla="*/ 126 h 12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9" h="126">
                    <a:moveTo>
                      <a:pt x="109" y="107"/>
                    </a:moveTo>
                    <a:lnTo>
                      <a:pt x="110" y="124"/>
                    </a:lnTo>
                    <a:lnTo>
                      <a:pt x="0" y="15"/>
                    </a:lnTo>
                    <a:lnTo>
                      <a:pt x="9" y="0"/>
                    </a:lnTo>
                    <a:lnTo>
                      <a:pt x="118" y="109"/>
                    </a:lnTo>
                    <a:lnTo>
                      <a:pt x="119" y="126"/>
                    </a:lnTo>
                    <a:lnTo>
                      <a:pt x="118" y="109"/>
                    </a:lnTo>
                    <a:lnTo>
                      <a:pt x="129" y="117"/>
                    </a:lnTo>
                    <a:lnTo>
                      <a:pt x="119" y="126"/>
                    </a:lnTo>
                    <a:lnTo>
                      <a:pt x="109" y="10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56" name="Freeform 125"/>
              <p:cNvSpPr>
                <a:spLocks/>
              </p:cNvSpPr>
              <p:nvPr/>
            </p:nvSpPr>
            <p:spPr bwMode="auto">
              <a:xfrm>
                <a:off x="4018" y="1859"/>
                <a:ext cx="88" cy="79"/>
              </a:xfrm>
              <a:custGeom>
                <a:avLst/>
                <a:gdLst>
                  <a:gd name="T0" fmla="*/ 15 w 88"/>
                  <a:gd name="T1" fmla="*/ 63 h 79"/>
                  <a:gd name="T2" fmla="*/ 4 w 88"/>
                  <a:gd name="T3" fmla="*/ 53 h 79"/>
                  <a:gd name="T4" fmla="*/ 79 w 88"/>
                  <a:gd name="T5" fmla="*/ 0 h 79"/>
                  <a:gd name="T6" fmla="*/ 88 w 88"/>
                  <a:gd name="T7" fmla="*/ 19 h 79"/>
                  <a:gd name="T8" fmla="*/ 13 w 88"/>
                  <a:gd name="T9" fmla="*/ 72 h 79"/>
                  <a:gd name="T10" fmla="*/ 0 w 88"/>
                  <a:gd name="T11" fmla="*/ 63 h 79"/>
                  <a:gd name="T12" fmla="*/ 13 w 88"/>
                  <a:gd name="T13" fmla="*/ 72 h 79"/>
                  <a:gd name="T14" fmla="*/ 4 w 88"/>
                  <a:gd name="T15" fmla="*/ 79 h 79"/>
                  <a:gd name="T16" fmla="*/ 0 w 88"/>
                  <a:gd name="T17" fmla="*/ 63 h 79"/>
                  <a:gd name="T18" fmla="*/ 15 w 88"/>
                  <a:gd name="T19" fmla="*/ 63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8"/>
                  <a:gd name="T31" fmla="*/ 0 h 79"/>
                  <a:gd name="T32" fmla="*/ 88 w 88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8" h="79">
                    <a:moveTo>
                      <a:pt x="15" y="63"/>
                    </a:moveTo>
                    <a:lnTo>
                      <a:pt x="4" y="53"/>
                    </a:lnTo>
                    <a:lnTo>
                      <a:pt x="79" y="0"/>
                    </a:lnTo>
                    <a:lnTo>
                      <a:pt x="88" y="19"/>
                    </a:lnTo>
                    <a:lnTo>
                      <a:pt x="13" y="72"/>
                    </a:lnTo>
                    <a:lnTo>
                      <a:pt x="0" y="63"/>
                    </a:lnTo>
                    <a:lnTo>
                      <a:pt x="13" y="72"/>
                    </a:lnTo>
                    <a:lnTo>
                      <a:pt x="4" y="79"/>
                    </a:lnTo>
                    <a:lnTo>
                      <a:pt x="0" y="63"/>
                    </a:lnTo>
                    <a:lnTo>
                      <a:pt x="15" y="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57" name="Freeform 126"/>
              <p:cNvSpPr>
                <a:spLocks/>
              </p:cNvSpPr>
              <p:nvPr/>
            </p:nvSpPr>
            <p:spPr bwMode="auto">
              <a:xfrm>
                <a:off x="3995" y="1779"/>
                <a:ext cx="37" cy="39"/>
              </a:xfrm>
              <a:custGeom>
                <a:avLst/>
                <a:gdLst>
                  <a:gd name="T0" fmla="*/ 10 w 37"/>
                  <a:gd name="T1" fmla="*/ 39 h 39"/>
                  <a:gd name="T2" fmla="*/ 0 w 37"/>
                  <a:gd name="T3" fmla="*/ 20 h 39"/>
                  <a:gd name="T4" fmla="*/ 27 w 37"/>
                  <a:gd name="T5" fmla="*/ 0 h 39"/>
                  <a:gd name="T6" fmla="*/ 37 w 37"/>
                  <a:gd name="T7" fmla="*/ 19 h 39"/>
                  <a:gd name="T8" fmla="*/ 10 w 37"/>
                  <a:gd name="T9" fmla="*/ 39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39"/>
                  <a:gd name="T17" fmla="*/ 37 w 37"/>
                  <a:gd name="T18" fmla="*/ 39 h 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39">
                    <a:moveTo>
                      <a:pt x="10" y="39"/>
                    </a:moveTo>
                    <a:lnTo>
                      <a:pt x="0" y="20"/>
                    </a:lnTo>
                    <a:lnTo>
                      <a:pt x="27" y="0"/>
                    </a:lnTo>
                    <a:lnTo>
                      <a:pt x="37" y="19"/>
                    </a:lnTo>
                    <a:lnTo>
                      <a:pt x="10" y="3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58" name="Freeform 127"/>
              <p:cNvSpPr>
                <a:spLocks/>
              </p:cNvSpPr>
              <p:nvPr/>
            </p:nvSpPr>
            <p:spPr bwMode="auto">
              <a:xfrm>
                <a:off x="4011" y="1797"/>
                <a:ext cx="122" cy="231"/>
              </a:xfrm>
              <a:custGeom>
                <a:avLst/>
                <a:gdLst>
                  <a:gd name="T0" fmla="*/ 91 w 122"/>
                  <a:gd name="T1" fmla="*/ 231 h 231"/>
                  <a:gd name="T2" fmla="*/ 91 w 122"/>
                  <a:gd name="T3" fmla="*/ 231 h 231"/>
                  <a:gd name="T4" fmla="*/ 81 w 122"/>
                  <a:gd name="T5" fmla="*/ 203 h 231"/>
                  <a:gd name="T6" fmla="*/ 71 w 122"/>
                  <a:gd name="T7" fmla="*/ 175 h 231"/>
                  <a:gd name="T8" fmla="*/ 61 w 122"/>
                  <a:gd name="T9" fmla="*/ 148 h 231"/>
                  <a:gd name="T10" fmla="*/ 49 w 122"/>
                  <a:gd name="T11" fmla="*/ 120 h 231"/>
                  <a:gd name="T12" fmla="*/ 38 w 122"/>
                  <a:gd name="T13" fmla="*/ 96 h 231"/>
                  <a:gd name="T14" fmla="*/ 25 w 122"/>
                  <a:gd name="T15" fmla="*/ 70 h 231"/>
                  <a:gd name="T16" fmla="*/ 13 w 122"/>
                  <a:gd name="T17" fmla="*/ 45 h 231"/>
                  <a:gd name="T18" fmla="*/ 0 w 122"/>
                  <a:gd name="T19" fmla="*/ 21 h 231"/>
                  <a:gd name="T20" fmla="*/ 24 w 122"/>
                  <a:gd name="T21" fmla="*/ 0 h 231"/>
                  <a:gd name="T22" fmla="*/ 38 w 122"/>
                  <a:gd name="T23" fmla="*/ 25 h 231"/>
                  <a:gd name="T24" fmla="*/ 52 w 122"/>
                  <a:gd name="T25" fmla="*/ 52 h 231"/>
                  <a:gd name="T26" fmla="*/ 66 w 122"/>
                  <a:gd name="T27" fmla="*/ 79 h 231"/>
                  <a:gd name="T28" fmla="*/ 79 w 122"/>
                  <a:gd name="T29" fmla="*/ 108 h 231"/>
                  <a:gd name="T30" fmla="*/ 91 w 122"/>
                  <a:gd name="T31" fmla="*/ 134 h 231"/>
                  <a:gd name="T32" fmla="*/ 101 w 122"/>
                  <a:gd name="T33" fmla="*/ 163 h 231"/>
                  <a:gd name="T34" fmla="*/ 111 w 122"/>
                  <a:gd name="T35" fmla="*/ 192 h 231"/>
                  <a:gd name="T36" fmla="*/ 122 w 122"/>
                  <a:gd name="T37" fmla="*/ 222 h 231"/>
                  <a:gd name="T38" fmla="*/ 91 w 122"/>
                  <a:gd name="T39" fmla="*/ 231 h 23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2"/>
                  <a:gd name="T61" fmla="*/ 0 h 231"/>
                  <a:gd name="T62" fmla="*/ 122 w 122"/>
                  <a:gd name="T63" fmla="*/ 231 h 23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2" h="231">
                    <a:moveTo>
                      <a:pt x="91" y="231"/>
                    </a:moveTo>
                    <a:lnTo>
                      <a:pt x="91" y="231"/>
                    </a:lnTo>
                    <a:lnTo>
                      <a:pt x="81" y="203"/>
                    </a:lnTo>
                    <a:lnTo>
                      <a:pt x="71" y="175"/>
                    </a:lnTo>
                    <a:lnTo>
                      <a:pt x="61" y="148"/>
                    </a:lnTo>
                    <a:lnTo>
                      <a:pt x="49" y="120"/>
                    </a:lnTo>
                    <a:lnTo>
                      <a:pt x="38" y="96"/>
                    </a:lnTo>
                    <a:lnTo>
                      <a:pt x="25" y="70"/>
                    </a:lnTo>
                    <a:lnTo>
                      <a:pt x="13" y="45"/>
                    </a:lnTo>
                    <a:lnTo>
                      <a:pt x="0" y="21"/>
                    </a:lnTo>
                    <a:lnTo>
                      <a:pt x="24" y="0"/>
                    </a:lnTo>
                    <a:lnTo>
                      <a:pt x="38" y="25"/>
                    </a:lnTo>
                    <a:lnTo>
                      <a:pt x="52" y="52"/>
                    </a:lnTo>
                    <a:lnTo>
                      <a:pt x="66" y="79"/>
                    </a:lnTo>
                    <a:lnTo>
                      <a:pt x="79" y="108"/>
                    </a:lnTo>
                    <a:lnTo>
                      <a:pt x="91" y="134"/>
                    </a:lnTo>
                    <a:lnTo>
                      <a:pt x="101" y="163"/>
                    </a:lnTo>
                    <a:lnTo>
                      <a:pt x="111" y="192"/>
                    </a:lnTo>
                    <a:lnTo>
                      <a:pt x="122" y="222"/>
                    </a:lnTo>
                    <a:lnTo>
                      <a:pt x="91" y="2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59" name="Freeform 128"/>
              <p:cNvSpPr>
                <a:spLocks/>
              </p:cNvSpPr>
              <p:nvPr/>
            </p:nvSpPr>
            <p:spPr bwMode="auto">
              <a:xfrm>
                <a:off x="4107" y="2021"/>
                <a:ext cx="73" cy="206"/>
              </a:xfrm>
              <a:custGeom>
                <a:avLst/>
                <a:gdLst>
                  <a:gd name="T0" fmla="*/ 40 w 73"/>
                  <a:gd name="T1" fmla="*/ 202 h 206"/>
                  <a:gd name="T2" fmla="*/ 36 w 73"/>
                  <a:gd name="T3" fmla="*/ 179 h 206"/>
                  <a:gd name="T4" fmla="*/ 33 w 73"/>
                  <a:gd name="T5" fmla="*/ 154 h 206"/>
                  <a:gd name="T6" fmla="*/ 30 w 73"/>
                  <a:gd name="T7" fmla="*/ 130 h 206"/>
                  <a:gd name="T8" fmla="*/ 25 w 73"/>
                  <a:gd name="T9" fmla="*/ 106 h 206"/>
                  <a:gd name="T10" fmla="*/ 19 w 73"/>
                  <a:gd name="T11" fmla="*/ 82 h 206"/>
                  <a:gd name="T12" fmla="*/ 13 w 73"/>
                  <a:gd name="T13" fmla="*/ 58 h 206"/>
                  <a:gd name="T14" fmla="*/ 6 w 73"/>
                  <a:gd name="T15" fmla="*/ 34 h 206"/>
                  <a:gd name="T16" fmla="*/ 0 w 73"/>
                  <a:gd name="T17" fmla="*/ 9 h 206"/>
                  <a:gd name="T18" fmla="*/ 31 w 73"/>
                  <a:gd name="T19" fmla="*/ 0 h 206"/>
                  <a:gd name="T20" fmla="*/ 38 w 73"/>
                  <a:gd name="T21" fmla="*/ 26 h 206"/>
                  <a:gd name="T22" fmla="*/ 45 w 73"/>
                  <a:gd name="T23" fmla="*/ 51 h 206"/>
                  <a:gd name="T24" fmla="*/ 51 w 73"/>
                  <a:gd name="T25" fmla="*/ 79 h 206"/>
                  <a:gd name="T26" fmla="*/ 58 w 73"/>
                  <a:gd name="T27" fmla="*/ 104 h 206"/>
                  <a:gd name="T28" fmla="*/ 62 w 73"/>
                  <a:gd name="T29" fmla="*/ 129 h 206"/>
                  <a:gd name="T30" fmla="*/ 66 w 73"/>
                  <a:gd name="T31" fmla="*/ 155 h 206"/>
                  <a:gd name="T32" fmla="*/ 71 w 73"/>
                  <a:gd name="T33" fmla="*/ 181 h 206"/>
                  <a:gd name="T34" fmla="*/ 73 w 73"/>
                  <a:gd name="T35" fmla="*/ 206 h 206"/>
                  <a:gd name="T36" fmla="*/ 40 w 73"/>
                  <a:gd name="T37" fmla="*/ 202 h 2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3"/>
                  <a:gd name="T58" fmla="*/ 0 h 206"/>
                  <a:gd name="T59" fmla="*/ 73 w 73"/>
                  <a:gd name="T60" fmla="*/ 206 h 2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3" h="206">
                    <a:moveTo>
                      <a:pt x="40" y="202"/>
                    </a:moveTo>
                    <a:lnTo>
                      <a:pt x="36" y="179"/>
                    </a:lnTo>
                    <a:lnTo>
                      <a:pt x="33" y="154"/>
                    </a:lnTo>
                    <a:lnTo>
                      <a:pt x="30" y="130"/>
                    </a:lnTo>
                    <a:lnTo>
                      <a:pt x="25" y="106"/>
                    </a:lnTo>
                    <a:lnTo>
                      <a:pt x="19" y="82"/>
                    </a:lnTo>
                    <a:lnTo>
                      <a:pt x="13" y="58"/>
                    </a:lnTo>
                    <a:lnTo>
                      <a:pt x="6" y="34"/>
                    </a:lnTo>
                    <a:lnTo>
                      <a:pt x="0" y="9"/>
                    </a:lnTo>
                    <a:lnTo>
                      <a:pt x="31" y="0"/>
                    </a:lnTo>
                    <a:lnTo>
                      <a:pt x="38" y="26"/>
                    </a:lnTo>
                    <a:lnTo>
                      <a:pt x="45" y="51"/>
                    </a:lnTo>
                    <a:lnTo>
                      <a:pt x="51" y="79"/>
                    </a:lnTo>
                    <a:lnTo>
                      <a:pt x="58" y="104"/>
                    </a:lnTo>
                    <a:lnTo>
                      <a:pt x="62" y="129"/>
                    </a:lnTo>
                    <a:lnTo>
                      <a:pt x="66" y="155"/>
                    </a:lnTo>
                    <a:lnTo>
                      <a:pt x="71" y="181"/>
                    </a:lnTo>
                    <a:lnTo>
                      <a:pt x="73" y="206"/>
                    </a:lnTo>
                    <a:lnTo>
                      <a:pt x="40" y="20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60" name="Freeform 129"/>
              <p:cNvSpPr>
                <a:spLocks/>
              </p:cNvSpPr>
              <p:nvPr/>
            </p:nvSpPr>
            <p:spPr bwMode="auto">
              <a:xfrm>
                <a:off x="4149" y="2222"/>
                <a:ext cx="36" cy="27"/>
              </a:xfrm>
              <a:custGeom>
                <a:avLst/>
                <a:gdLst>
                  <a:gd name="T0" fmla="*/ 34 w 36"/>
                  <a:gd name="T1" fmla="*/ 3 h 27"/>
                  <a:gd name="T2" fmla="*/ 36 w 36"/>
                  <a:gd name="T3" fmla="*/ 27 h 27"/>
                  <a:gd name="T4" fmla="*/ 2 w 36"/>
                  <a:gd name="T5" fmla="*/ 23 h 27"/>
                  <a:gd name="T6" fmla="*/ 0 w 36"/>
                  <a:gd name="T7" fmla="*/ 0 h 27"/>
                  <a:gd name="T8" fmla="*/ 34 w 36"/>
                  <a:gd name="T9" fmla="*/ 3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27"/>
                  <a:gd name="T17" fmla="*/ 36 w 36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27">
                    <a:moveTo>
                      <a:pt x="34" y="3"/>
                    </a:moveTo>
                    <a:lnTo>
                      <a:pt x="36" y="27"/>
                    </a:lnTo>
                    <a:lnTo>
                      <a:pt x="2" y="23"/>
                    </a:lnTo>
                    <a:lnTo>
                      <a:pt x="0" y="0"/>
                    </a:lnTo>
                    <a:lnTo>
                      <a:pt x="34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61" name="Freeform 130"/>
              <p:cNvSpPr>
                <a:spLocks/>
              </p:cNvSpPr>
              <p:nvPr/>
            </p:nvSpPr>
            <p:spPr bwMode="auto">
              <a:xfrm>
                <a:off x="3992" y="1759"/>
                <a:ext cx="108" cy="162"/>
              </a:xfrm>
              <a:custGeom>
                <a:avLst/>
                <a:gdLst>
                  <a:gd name="T0" fmla="*/ 34 w 108"/>
                  <a:gd name="T1" fmla="*/ 162 h 162"/>
                  <a:gd name="T2" fmla="*/ 0 w 108"/>
                  <a:gd name="T3" fmla="*/ 0 h 162"/>
                  <a:gd name="T4" fmla="*/ 108 w 108"/>
                  <a:gd name="T5" fmla="*/ 107 h 162"/>
                  <a:gd name="T6" fmla="*/ 34 w 108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8"/>
                  <a:gd name="T13" fmla="*/ 0 h 162"/>
                  <a:gd name="T14" fmla="*/ 108 w 108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8" h="162">
                    <a:moveTo>
                      <a:pt x="34" y="162"/>
                    </a:moveTo>
                    <a:lnTo>
                      <a:pt x="0" y="0"/>
                    </a:lnTo>
                    <a:lnTo>
                      <a:pt x="108" y="107"/>
                    </a:lnTo>
                    <a:lnTo>
                      <a:pt x="34" y="16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62" name="Freeform 131"/>
              <p:cNvSpPr>
                <a:spLocks/>
              </p:cNvSpPr>
              <p:nvPr/>
            </p:nvSpPr>
            <p:spPr bwMode="auto">
              <a:xfrm>
                <a:off x="3986" y="1744"/>
                <a:ext cx="45" cy="175"/>
              </a:xfrm>
              <a:custGeom>
                <a:avLst/>
                <a:gdLst>
                  <a:gd name="T0" fmla="*/ 6 w 45"/>
                  <a:gd name="T1" fmla="*/ 19 h 175"/>
                  <a:gd name="T2" fmla="*/ 11 w 45"/>
                  <a:gd name="T3" fmla="*/ 14 h 175"/>
                  <a:gd name="T4" fmla="*/ 45 w 45"/>
                  <a:gd name="T5" fmla="*/ 173 h 175"/>
                  <a:gd name="T6" fmla="*/ 36 w 45"/>
                  <a:gd name="T7" fmla="*/ 175 h 175"/>
                  <a:gd name="T8" fmla="*/ 3 w 45"/>
                  <a:gd name="T9" fmla="*/ 15 h 175"/>
                  <a:gd name="T10" fmla="*/ 10 w 45"/>
                  <a:gd name="T11" fmla="*/ 11 h 175"/>
                  <a:gd name="T12" fmla="*/ 3 w 45"/>
                  <a:gd name="T13" fmla="*/ 15 h 175"/>
                  <a:gd name="T14" fmla="*/ 0 w 45"/>
                  <a:gd name="T15" fmla="*/ 0 h 175"/>
                  <a:gd name="T16" fmla="*/ 10 w 45"/>
                  <a:gd name="T17" fmla="*/ 11 h 175"/>
                  <a:gd name="T18" fmla="*/ 6 w 45"/>
                  <a:gd name="T19" fmla="*/ 19 h 1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5"/>
                  <a:gd name="T31" fmla="*/ 0 h 175"/>
                  <a:gd name="T32" fmla="*/ 45 w 45"/>
                  <a:gd name="T33" fmla="*/ 175 h 1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5" h="175">
                    <a:moveTo>
                      <a:pt x="6" y="19"/>
                    </a:moveTo>
                    <a:lnTo>
                      <a:pt x="11" y="14"/>
                    </a:lnTo>
                    <a:lnTo>
                      <a:pt x="45" y="173"/>
                    </a:lnTo>
                    <a:lnTo>
                      <a:pt x="36" y="175"/>
                    </a:lnTo>
                    <a:lnTo>
                      <a:pt x="3" y="15"/>
                    </a:lnTo>
                    <a:lnTo>
                      <a:pt x="10" y="11"/>
                    </a:lnTo>
                    <a:lnTo>
                      <a:pt x="3" y="15"/>
                    </a:lnTo>
                    <a:lnTo>
                      <a:pt x="0" y="0"/>
                    </a:lnTo>
                    <a:lnTo>
                      <a:pt x="10" y="11"/>
                    </a:lnTo>
                    <a:lnTo>
                      <a:pt x="6" y="19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63" name="Freeform 132"/>
              <p:cNvSpPr>
                <a:spLocks/>
              </p:cNvSpPr>
              <p:nvPr/>
            </p:nvSpPr>
            <p:spPr bwMode="auto">
              <a:xfrm>
                <a:off x="3989" y="1754"/>
                <a:ext cx="119" cy="118"/>
              </a:xfrm>
              <a:custGeom>
                <a:avLst/>
                <a:gdLst>
                  <a:gd name="T0" fmla="*/ 107 w 119"/>
                  <a:gd name="T1" fmla="*/ 106 h 118"/>
                  <a:gd name="T2" fmla="*/ 108 w 119"/>
                  <a:gd name="T3" fmla="*/ 115 h 118"/>
                  <a:gd name="T4" fmla="*/ 0 w 119"/>
                  <a:gd name="T5" fmla="*/ 9 h 118"/>
                  <a:gd name="T6" fmla="*/ 5 w 119"/>
                  <a:gd name="T7" fmla="*/ 0 h 118"/>
                  <a:gd name="T8" fmla="*/ 113 w 119"/>
                  <a:gd name="T9" fmla="*/ 107 h 118"/>
                  <a:gd name="T10" fmla="*/ 115 w 119"/>
                  <a:gd name="T11" fmla="*/ 118 h 118"/>
                  <a:gd name="T12" fmla="*/ 113 w 119"/>
                  <a:gd name="T13" fmla="*/ 107 h 118"/>
                  <a:gd name="T14" fmla="*/ 119 w 119"/>
                  <a:gd name="T15" fmla="*/ 113 h 118"/>
                  <a:gd name="T16" fmla="*/ 115 w 119"/>
                  <a:gd name="T17" fmla="*/ 118 h 118"/>
                  <a:gd name="T18" fmla="*/ 107 w 119"/>
                  <a:gd name="T19" fmla="*/ 106 h 1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9"/>
                  <a:gd name="T31" fmla="*/ 0 h 118"/>
                  <a:gd name="T32" fmla="*/ 119 w 119"/>
                  <a:gd name="T33" fmla="*/ 118 h 1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9" h="118">
                    <a:moveTo>
                      <a:pt x="107" y="106"/>
                    </a:moveTo>
                    <a:lnTo>
                      <a:pt x="108" y="115"/>
                    </a:lnTo>
                    <a:lnTo>
                      <a:pt x="0" y="9"/>
                    </a:lnTo>
                    <a:lnTo>
                      <a:pt x="5" y="0"/>
                    </a:lnTo>
                    <a:lnTo>
                      <a:pt x="113" y="107"/>
                    </a:lnTo>
                    <a:lnTo>
                      <a:pt x="115" y="118"/>
                    </a:lnTo>
                    <a:lnTo>
                      <a:pt x="113" y="107"/>
                    </a:lnTo>
                    <a:lnTo>
                      <a:pt x="119" y="113"/>
                    </a:lnTo>
                    <a:lnTo>
                      <a:pt x="115" y="118"/>
                    </a:lnTo>
                    <a:lnTo>
                      <a:pt x="107" y="106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64" name="Freeform 133"/>
              <p:cNvSpPr>
                <a:spLocks/>
              </p:cNvSpPr>
              <p:nvPr/>
            </p:nvSpPr>
            <p:spPr bwMode="auto">
              <a:xfrm>
                <a:off x="4022" y="1861"/>
                <a:ext cx="82" cy="68"/>
              </a:xfrm>
              <a:custGeom>
                <a:avLst/>
                <a:gdLst>
                  <a:gd name="T0" fmla="*/ 9 w 82"/>
                  <a:gd name="T1" fmla="*/ 60 h 68"/>
                  <a:gd name="T2" fmla="*/ 1 w 82"/>
                  <a:gd name="T3" fmla="*/ 53 h 68"/>
                  <a:gd name="T4" fmla="*/ 76 w 82"/>
                  <a:gd name="T5" fmla="*/ 0 h 68"/>
                  <a:gd name="T6" fmla="*/ 82 w 82"/>
                  <a:gd name="T7" fmla="*/ 12 h 68"/>
                  <a:gd name="T8" fmla="*/ 6 w 82"/>
                  <a:gd name="T9" fmla="*/ 65 h 68"/>
                  <a:gd name="T10" fmla="*/ 0 w 82"/>
                  <a:gd name="T11" fmla="*/ 60 h 68"/>
                  <a:gd name="T12" fmla="*/ 6 w 82"/>
                  <a:gd name="T13" fmla="*/ 65 h 68"/>
                  <a:gd name="T14" fmla="*/ 1 w 82"/>
                  <a:gd name="T15" fmla="*/ 68 h 68"/>
                  <a:gd name="T16" fmla="*/ 0 w 82"/>
                  <a:gd name="T17" fmla="*/ 60 h 68"/>
                  <a:gd name="T18" fmla="*/ 9 w 82"/>
                  <a:gd name="T19" fmla="*/ 60 h 6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2"/>
                  <a:gd name="T31" fmla="*/ 0 h 68"/>
                  <a:gd name="T32" fmla="*/ 82 w 82"/>
                  <a:gd name="T33" fmla="*/ 68 h 6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2" h="68">
                    <a:moveTo>
                      <a:pt x="9" y="60"/>
                    </a:moveTo>
                    <a:lnTo>
                      <a:pt x="1" y="53"/>
                    </a:lnTo>
                    <a:lnTo>
                      <a:pt x="76" y="0"/>
                    </a:lnTo>
                    <a:lnTo>
                      <a:pt x="82" y="12"/>
                    </a:lnTo>
                    <a:lnTo>
                      <a:pt x="6" y="65"/>
                    </a:lnTo>
                    <a:lnTo>
                      <a:pt x="0" y="60"/>
                    </a:lnTo>
                    <a:lnTo>
                      <a:pt x="6" y="65"/>
                    </a:lnTo>
                    <a:lnTo>
                      <a:pt x="1" y="68"/>
                    </a:lnTo>
                    <a:lnTo>
                      <a:pt x="0" y="60"/>
                    </a:lnTo>
                    <a:lnTo>
                      <a:pt x="9" y="6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65" name="Freeform 134"/>
              <p:cNvSpPr>
                <a:spLocks/>
              </p:cNvSpPr>
              <p:nvPr/>
            </p:nvSpPr>
            <p:spPr bwMode="auto">
              <a:xfrm>
                <a:off x="4009" y="1795"/>
                <a:ext cx="29" cy="32"/>
              </a:xfrm>
              <a:custGeom>
                <a:avLst/>
                <a:gdLst>
                  <a:gd name="T0" fmla="*/ 9 w 29"/>
                  <a:gd name="T1" fmla="*/ 32 h 32"/>
                  <a:gd name="T2" fmla="*/ 0 w 29"/>
                  <a:gd name="T3" fmla="*/ 16 h 32"/>
                  <a:gd name="T4" fmla="*/ 19 w 29"/>
                  <a:gd name="T5" fmla="*/ 0 h 32"/>
                  <a:gd name="T6" fmla="*/ 29 w 29"/>
                  <a:gd name="T7" fmla="*/ 15 h 32"/>
                  <a:gd name="T8" fmla="*/ 9 w 29"/>
                  <a:gd name="T9" fmla="*/ 3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32"/>
                  <a:gd name="T17" fmla="*/ 29 w 29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32">
                    <a:moveTo>
                      <a:pt x="9" y="32"/>
                    </a:moveTo>
                    <a:lnTo>
                      <a:pt x="0" y="16"/>
                    </a:lnTo>
                    <a:lnTo>
                      <a:pt x="19" y="0"/>
                    </a:lnTo>
                    <a:lnTo>
                      <a:pt x="29" y="15"/>
                    </a:lnTo>
                    <a:lnTo>
                      <a:pt x="9" y="3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66" name="Freeform 135"/>
              <p:cNvSpPr>
                <a:spLocks/>
              </p:cNvSpPr>
              <p:nvPr/>
            </p:nvSpPr>
            <p:spPr bwMode="auto">
              <a:xfrm>
                <a:off x="4019" y="1812"/>
                <a:ext cx="119" cy="228"/>
              </a:xfrm>
              <a:custGeom>
                <a:avLst/>
                <a:gdLst>
                  <a:gd name="T0" fmla="*/ 93 w 119"/>
                  <a:gd name="T1" fmla="*/ 228 h 228"/>
                  <a:gd name="T2" fmla="*/ 93 w 119"/>
                  <a:gd name="T3" fmla="*/ 228 h 228"/>
                  <a:gd name="T4" fmla="*/ 84 w 119"/>
                  <a:gd name="T5" fmla="*/ 198 h 228"/>
                  <a:gd name="T6" fmla="*/ 73 w 119"/>
                  <a:gd name="T7" fmla="*/ 172 h 228"/>
                  <a:gd name="T8" fmla="*/ 63 w 119"/>
                  <a:gd name="T9" fmla="*/ 144 h 228"/>
                  <a:gd name="T10" fmla="*/ 52 w 119"/>
                  <a:gd name="T11" fmla="*/ 117 h 228"/>
                  <a:gd name="T12" fmla="*/ 40 w 119"/>
                  <a:gd name="T13" fmla="*/ 92 h 228"/>
                  <a:gd name="T14" fmla="*/ 28 w 119"/>
                  <a:gd name="T15" fmla="*/ 66 h 228"/>
                  <a:gd name="T16" fmla="*/ 14 w 119"/>
                  <a:gd name="T17" fmla="*/ 41 h 228"/>
                  <a:gd name="T18" fmla="*/ 0 w 119"/>
                  <a:gd name="T19" fmla="*/ 18 h 228"/>
                  <a:gd name="T20" fmla="*/ 22 w 119"/>
                  <a:gd name="T21" fmla="*/ 0 h 228"/>
                  <a:gd name="T22" fmla="*/ 36 w 119"/>
                  <a:gd name="T23" fmla="*/ 25 h 228"/>
                  <a:gd name="T24" fmla="*/ 51 w 119"/>
                  <a:gd name="T25" fmla="*/ 52 h 228"/>
                  <a:gd name="T26" fmla="*/ 63 w 119"/>
                  <a:gd name="T27" fmla="*/ 78 h 228"/>
                  <a:gd name="T28" fmla="*/ 75 w 119"/>
                  <a:gd name="T29" fmla="*/ 107 h 228"/>
                  <a:gd name="T30" fmla="*/ 88 w 119"/>
                  <a:gd name="T31" fmla="*/ 133 h 228"/>
                  <a:gd name="T32" fmla="*/ 99 w 119"/>
                  <a:gd name="T33" fmla="*/ 163 h 228"/>
                  <a:gd name="T34" fmla="*/ 108 w 119"/>
                  <a:gd name="T35" fmla="*/ 190 h 228"/>
                  <a:gd name="T36" fmla="*/ 119 w 119"/>
                  <a:gd name="T37" fmla="*/ 220 h 228"/>
                  <a:gd name="T38" fmla="*/ 93 w 119"/>
                  <a:gd name="T39" fmla="*/ 228 h 22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9"/>
                  <a:gd name="T61" fmla="*/ 0 h 228"/>
                  <a:gd name="T62" fmla="*/ 119 w 119"/>
                  <a:gd name="T63" fmla="*/ 228 h 22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9" h="228">
                    <a:moveTo>
                      <a:pt x="93" y="228"/>
                    </a:moveTo>
                    <a:lnTo>
                      <a:pt x="93" y="228"/>
                    </a:lnTo>
                    <a:lnTo>
                      <a:pt x="84" y="198"/>
                    </a:lnTo>
                    <a:lnTo>
                      <a:pt x="73" y="172"/>
                    </a:lnTo>
                    <a:lnTo>
                      <a:pt x="63" y="144"/>
                    </a:lnTo>
                    <a:lnTo>
                      <a:pt x="52" y="117"/>
                    </a:lnTo>
                    <a:lnTo>
                      <a:pt x="40" y="92"/>
                    </a:lnTo>
                    <a:lnTo>
                      <a:pt x="28" y="66"/>
                    </a:lnTo>
                    <a:lnTo>
                      <a:pt x="14" y="41"/>
                    </a:lnTo>
                    <a:lnTo>
                      <a:pt x="0" y="18"/>
                    </a:lnTo>
                    <a:lnTo>
                      <a:pt x="22" y="0"/>
                    </a:lnTo>
                    <a:lnTo>
                      <a:pt x="36" y="25"/>
                    </a:lnTo>
                    <a:lnTo>
                      <a:pt x="51" y="52"/>
                    </a:lnTo>
                    <a:lnTo>
                      <a:pt x="63" y="78"/>
                    </a:lnTo>
                    <a:lnTo>
                      <a:pt x="75" y="107"/>
                    </a:lnTo>
                    <a:lnTo>
                      <a:pt x="88" y="133"/>
                    </a:lnTo>
                    <a:lnTo>
                      <a:pt x="99" y="163"/>
                    </a:lnTo>
                    <a:lnTo>
                      <a:pt x="108" y="190"/>
                    </a:lnTo>
                    <a:lnTo>
                      <a:pt x="119" y="220"/>
                    </a:lnTo>
                    <a:lnTo>
                      <a:pt x="93" y="228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67" name="Freeform 136"/>
              <p:cNvSpPr>
                <a:spLocks/>
              </p:cNvSpPr>
              <p:nvPr/>
            </p:nvSpPr>
            <p:spPr bwMode="auto">
              <a:xfrm>
                <a:off x="4116" y="2033"/>
                <a:ext cx="68" cy="205"/>
              </a:xfrm>
              <a:custGeom>
                <a:avLst/>
                <a:gdLst>
                  <a:gd name="T0" fmla="*/ 41 w 68"/>
                  <a:gd name="T1" fmla="*/ 203 h 205"/>
                  <a:gd name="T2" fmla="*/ 37 w 68"/>
                  <a:gd name="T3" fmla="*/ 179 h 205"/>
                  <a:gd name="T4" fmla="*/ 34 w 68"/>
                  <a:gd name="T5" fmla="*/ 154 h 205"/>
                  <a:gd name="T6" fmla="*/ 31 w 68"/>
                  <a:gd name="T7" fmla="*/ 129 h 205"/>
                  <a:gd name="T8" fmla="*/ 26 w 68"/>
                  <a:gd name="T9" fmla="*/ 106 h 205"/>
                  <a:gd name="T10" fmla="*/ 20 w 68"/>
                  <a:gd name="T11" fmla="*/ 81 h 205"/>
                  <a:gd name="T12" fmla="*/ 13 w 68"/>
                  <a:gd name="T13" fmla="*/ 56 h 205"/>
                  <a:gd name="T14" fmla="*/ 8 w 68"/>
                  <a:gd name="T15" fmla="*/ 32 h 205"/>
                  <a:gd name="T16" fmla="*/ 0 w 68"/>
                  <a:gd name="T17" fmla="*/ 7 h 205"/>
                  <a:gd name="T18" fmla="*/ 26 w 68"/>
                  <a:gd name="T19" fmla="*/ 0 h 205"/>
                  <a:gd name="T20" fmla="*/ 34 w 68"/>
                  <a:gd name="T21" fmla="*/ 26 h 205"/>
                  <a:gd name="T22" fmla="*/ 41 w 68"/>
                  <a:gd name="T23" fmla="*/ 51 h 205"/>
                  <a:gd name="T24" fmla="*/ 48 w 68"/>
                  <a:gd name="T25" fmla="*/ 79 h 205"/>
                  <a:gd name="T26" fmla="*/ 52 w 68"/>
                  <a:gd name="T27" fmla="*/ 103 h 205"/>
                  <a:gd name="T28" fmla="*/ 57 w 68"/>
                  <a:gd name="T29" fmla="*/ 129 h 205"/>
                  <a:gd name="T30" fmla="*/ 63 w 68"/>
                  <a:gd name="T31" fmla="*/ 156 h 205"/>
                  <a:gd name="T32" fmla="*/ 66 w 68"/>
                  <a:gd name="T33" fmla="*/ 180 h 205"/>
                  <a:gd name="T34" fmla="*/ 68 w 68"/>
                  <a:gd name="T35" fmla="*/ 205 h 205"/>
                  <a:gd name="T36" fmla="*/ 41 w 68"/>
                  <a:gd name="T37" fmla="*/ 203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8"/>
                  <a:gd name="T58" fmla="*/ 0 h 205"/>
                  <a:gd name="T59" fmla="*/ 68 w 68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8" h="205">
                    <a:moveTo>
                      <a:pt x="41" y="203"/>
                    </a:moveTo>
                    <a:lnTo>
                      <a:pt x="37" y="179"/>
                    </a:lnTo>
                    <a:lnTo>
                      <a:pt x="34" y="154"/>
                    </a:lnTo>
                    <a:lnTo>
                      <a:pt x="31" y="129"/>
                    </a:lnTo>
                    <a:lnTo>
                      <a:pt x="26" y="106"/>
                    </a:lnTo>
                    <a:lnTo>
                      <a:pt x="20" y="81"/>
                    </a:lnTo>
                    <a:lnTo>
                      <a:pt x="13" y="56"/>
                    </a:lnTo>
                    <a:lnTo>
                      <a:pt x="8" y="32"/>
                    </a:lnTo>
                    <a:lnTo>
                      <a:pt x="0" y="7"/>
                    </a:lnTo>
                    <a:lnTo>
                      <a:pt x="26" y="0"/>
                    </a:lnTo>
                    <a:lnTo>
                      <a:pt x="34" y="26"/>
                    </a:lnTo>
                    <a:lnTo>
                      <a:pt x="41" y="51"/>
                    </a:lnTo>
                    <a:lnTo>
                      <a:pt x="48" y="79"/>
                    </a:lnTo>
                    <a:lnTo>
                      <a:pt x="52" y="103"/>
                    </a:lnTo>
                    <a:lnTo>
                      <a:pt x="57" y="129"/>
                    </a:lnTo>
                    <a:lnTo>
                      <a:pt x="63" y="156"/>
                    </a:lnTo>
                    <a:lnTo>
                      <a:pt x="66" y="180"/>
                    </a:lnTo>
                    <a:lnTo>
                      <a:pt x="68" y="205"/>
                    </a:lnTo>
                    <a:lnTo>
                      <a:pt x="41" y="203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68" name="Freeform 137"/>
              <p:cNvSpPr>
                <a:spLocks/>
              </p:cNvSpPr>
              <p:nvPr/>
            </p:nvSpPr>
            <p:spPr bwMode="auto">
              <a:xfrm>
                <a:off x="4160" y="2235"/>
                <a:ext cx="29" cy="20"/>
              </a:xfrm>
              <a:custGeom>
                <a:avLst/>
                <a:gdLst>
                  <a:gd name="T0" fmla="*/ 27 w 29"/>
                  <a:gd name="T1" fmla="*/ 2 h 20"/>
                  <a:gd name="T2" fmla="*/ 29 w 29"/>
                  <a:gd name="T3" fmla="*/ 20 h 20"/>
                  <a:gd name="T4" fmla="*/ 3 w 29"/>
                  <a:gd name="T5" fmla="*/ 18 h 20"/>
                  <a:gd name="T6" fmla="*/ 0 w 29"/>
                  <a:gd name="T7" fmla="*/ 0 h 20"/>
                  <a:gd name="T8" fmla="*/ 27 w 29"/>
                  <a:gd name="T9" fmla="*/ 2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20"/>
                  <a:gd name="T17" fmla="*/ 29 w 29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20">
                    <a:moveTo>
                      <a:pt x="27" y="2"/>
                    </a:moveTo>
                    <a:lnTo>
                      <a:pt x="29" y="20"/>
                    </a:lnTo>
                    <a:lnTo>
                      <a:pt x="3" y="18"/>
                    </a:lnTo>
                    <a:lnTo>
                      <a:pt x="0" y="0"/>
                    </a:lnTo>
                    <a:lnTo>
                      <a:pt x="27" y="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69" name="Freeform 138"/>
              <p:cNvSpPr>
                <a:spLocks/>
              </p:cNvSpPr>
              <p:nvPr/>
            </p:nvSpPr>
            <p:spPr bwMode="auto">
              <a:xfrm>
                <a:off x="3968" y="1726"/>
                <a:ext cx="113" cy="163"/>
              </a:xfrm>
              <a:custGeom>
                <a:avLst/>
                <a:gdLst>
                  <a:gd name="T0" fmla="*/ 41 w 113"/>
                  <a:gd name="T1" fmla="*/ 163 h 163"/>
                  <a:gd name="T2" fmla="*/ 0 w 113"/>
                  <a:gd name="T3" fmla="*/ 0 h 163"/>
                  <a:gd name="T4" fmla="*/ 113 w 113"/>
                  <a:gd name="T5" fmla="*/ 102 h 163"/>
                  <a:gd name="T6" fmla="*/ 41 w 113"/>
                  <a:gd name="T7" fmla="*/ 163 h 1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3"/>
                  <a:gd name="T13" fmla="*/ 0 h 163"/>
                  <a:gd name="T14" fmla="*/ 113 w 113"/>
                  <a:gd name="T15" fmla="*/ 163 h 1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3" h="163">
                    <a:moveTo>
                      <a:pt x="41" y="163"/>
                    </a:moveTo>
                    <a:lnTo>
                      <a:pt x="0" y="0"/>
                    </a:lnTo>
                    <a:lnTo>
                      <a:pt x="113" y="102"/>
                    </a:lnTo>
                    <a:lnTo>
                      <a:pt x="41" y="1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70" name="Freeform 139"/>
              <p:cNvSpPr>
                <a:spLocks/>
              </p:cNvSpPr>
              <p:nvPr/>
            </p:nvSpPr>
            <p:spPr bwMode="auto">
              <a:xfrm>
                <a:off x="3956" y="1706"/>
                <a:ext cx="60" cy="185"/>
              </a:xfrm>
              <a:custGeom>
                <a:avLst/>
                <a:gdLst>
                  <a:gd name="T0" fmla="*/ 11 w 60"/>
                  <a:gd name="T1" fmla="*/ 29 h 185"/>
                  <a:gd name="T2" fmla="*/ 21 w 60"/>
                  <a:gd name="T3" fmla="*/ 20 h 185"/>
                  <a:gd name="T4" fmla="*/ 60 w 60"/>
                  <a:gd name="T5" fmla="*/ 182 h 185"/>
                  <a:gd name="T6" fmla="*/ 45 w 60"/>
                  <a:gd name="T7" fmla="*/ 185 h 185"/>
                  <a:gd name="T8" fmla="*/ 6 w 60"/>
                  <a:gd name="T9" fmla="*/ 23 h 185"/>
                  <a:gd name="T10" fmla="*/ 17 w 60"/>
                  <a:gd name="T11" fmla="*/ 15 h 185"/>
                  <a:gd name="T12" fmla="*/ 6 w 60"/>
                  <a:gd name="T13" fmla="*/ 23 h 185"/>
                  <a:gd name="T14" fmla="*/ 0 w 60"/>
                  <a:gd name="T15" fmla="*/ 0 h 185"/>
                  <a:gd name="T16" fmla="*/ 17 w 60"/>
                  <a:gd name="T17" fmla="*/ 15 h 185"/>
                  <a:gd name="T18" fmla="*/ 11 w 60"/>
                  <a:gd name="T19" fmla="*/ 29 h 1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0"/>
                  <a:gd name="T31" fmla="*/ 0 h 185"/>
                  <a:gd name="T32" fmla="*/ 60 w 60"/>
                  <a:gd name="T33" fmla="*/ 185 h 1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0" h="185">
                    <a:moveTo>
                      <a:pt x="11" y="29"/>
                    </a:moveTo>
                    <a:lnTo>
                      <a:pt x="21" y="20"/>
                    </a:lnTo>
                    <a:lnTo>
                      <a:pt x="60" y="182"/>
                    </a:lnTo>
                    <a:lnTo>
                      <a:pt x="45" y="185"/>
                    </a:lnTo>
                    <a:lnTo>
                      <a:pt x="6" y="23"/>
                    </a:lnTo>
                    <a:lnTo>
                      <a:pt x="17" y="15"/>
                    </a:lnTo>
                    <a:lnTo>
                      <a:pt x="6" y="23"/>
                    </a:lnTo>
                    <a:lnTo>
                      <a:pt x="0" y="0"/>
                    </a:lnTo>
                    <a:lnTo>
                      <a:pt x="17" y="15"/>
                    </a:lnTo>
                    <a:lnTo>
                      <a:pt x="11" y="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71" name="Freeform 140"/>
              <p:cNvSpPr>
                <a:spLocks/>
              </p:cNvSpPr>
              <p:nvPr/>
            </p:nvSpPr>
            <p:spPr bwMode="auto">
              <a:xfrm>
                <a:off x="3966" y="1722"/>
                <a:ext cx="127" cy="115"/>
              </a:xfrm>
              <a:custGeom>
                <a:avLst/>
                <a:gdLst>
                  <a:gd name="T0" fmla="*/ 108 w 127"/>
                  <a:gd name="T1" fmla="*/ 98 h 115"/>
                  <a:gd name="T2" fmla="*/ 110 w 127"/>
                  <a:gd name="T3" fmla="*/ 114 h 115"/>
                  <a:gd name="T4" fmla="*/ 0 w 127"/>
                  <a:gd name="T5" fmla="*/ 15 h 115"/>
                  <a:gd name="T6" fmla="*/ 5 w 127"/>
                  <a:gd name="T7" fmla="*/ 0 h 115"/>
                  <a:gd name="T8" fmla="*/ 116 w 127"/>
                  <a:gd name="T9" fmla="*/ 99 h 115"/>
                  <a:gd name="T10" fmla="*/ 119 w 127"/>
                  <a:gd name="T11" fmla="*/ 115 h 115"/>
                  <a:gd name="T12" fmla="*/ 116 w 127"/>
                  <a:gd name="T13" fmla="*/ 99 h 115"/>
                  <a:gd name="T14" fmla="*/ 127 w 127"/>
                  <a:gd name="T15" fmla="*/ 109 h 115"/>
                  <a:gd name="T16" fmla="*/ 119 w 127"/>
                  <a:gd name="T17" fmla="*/ 115 h 115"/>
                  <a:gd name="T18" fmla="*/ 108 w 127"/>
                  <a:gd name="T19" fmla="*/ 98 h 1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"/>
                  <a:gd name="T31" fmla="*/ 0 h 115"/>
                  <a:gd name="T32" fmla="*/ 127 w 127"/>
                  <a:gd name="T33" fmla="*/ 115 h 11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" h="115">
                    <a:moveTo>
                      <a:pt x="108" y="98"/>
                    </a:moveTo>
                    <a:lnTo>
                      <a:pt x="110" y="114"/>
                    </a:lnTo>
                    <a:lnTo>
                      <a:pt x="0" y="15"/>
                    </a:lnTo>
                    <a:lnTo>
                      <a:pt x="5" y="0"/>
                    </a:lnTo>
                    <a:lnTo>
                      <a:pt x="116" y="99"/>
                    </a:lnTo>
                    <a:lnTo>
                      <a:pt x="119" y="115"/>
                    </a:lnTo>
                    <a:lnTo>
                      <a:pt x="116" y="99"/>
                    </a:lnTo>
                    <a:lnTo>
                      <a:pt x="127" y="109"/>
                    </a:lnTo>
                    <a:lnTo>
                      <a:pt x="119" y="115"/>
                    </a:lnTo>
                    <a:lnTo>
                      <a:pt x="108" y="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72" name="Freeform 141"/>
              <p:cNvSpPr>
                <a:spLocks/>
              </p:cNvSpPr>
              <p:nvPr/>
            </p:nvSpPr>
            <p:spPr bwMode="auto">
              <a:xfrm>
                <a:off x="4002" y="1821"/>
                <a:ext cx="86" cy="85"/>
              </a:xfrm>
              <a:custGeom>
                <a:avLst/>
                <a:gdLst>
                  <a:gd name="T0" fmla="*/ 15 w 86"/>
                  <a:gd name="T1" fmla="*/ 68 h 85"/>
                  <a:gd name="T2" fmla="*/ 2 w 86"/>
                  <a:gd name="T3" fmla="*/ 60 h 85"/>
                  <a:gd name="T4" fmla="*/ 75 w 86"/>
                  <a:gd name="T5" fmla="*/ 0 h 85"/>
                  <a:gd name="T6" fmla="*/ 86 w 86"/>
                  <a:gd name="T7" fmla="*/ 17 h 85"/>
                  <a:gd name="T8" fmla="*/ 13 w 86"/>
                  <a:gd name="T9" fmla="*/ 78 h 85"/>
                  <a:gd name="T10" fmla="*/ 0 w 86"/>
                  <a:gd name="T11" fmla="*/ 70 h 85"/>
                  <a:gd name="T12" fmla="*/ 13 w 86"/>
                  <a:gd name="T13" fmla="*/ 78 h 85"/>
                  <a:gd name="T14" fmla="*/ 5 w 86"/>
                  <a:gd name="T15" fmla="*/ 85 h 85"/>
                  <a:gd name="T16" fmla="*/ 0 w 86"/>
                  <a:gd name="T17" fmla="*/ 70 h 85"/>
                  <a:gd name="T18" fmla="*/ 15 w 86"/>
                  <a:gd name="T19" fmla="*/ 68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6"/>
                  <a:gd name="T31" fmla="*/ 0 h 85"/>
                  <a:gd name="T32" fmla="*/ 86 w 86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6" h="85">
                    <a:moveTo>
                      <a:pt x="15" y="68"/>
                    </a:moveTo>
                    <a:lnTo>
                      <a:pt x="2" y="60"/>
                    </a:lnTo>
                    <a:lnTo>
                      <a:pt x="75" y="0"/>
                    </a:lnTo>
                    <a:lnTo>
                      <a:pt x="86" y="17"/>
                    </a:lnTo>
                    <a:lnTo>
                      <a:pt x="13" y="78"/>
                    </a:lnTo>
                    <a:lnTo>
                      <a:pt x="0" y="70"/>
                    </a:lnTo>
                    <a:lnTo>
                      <a:pt x="13" y="78"/>
                    </a:lnTo>
                    <a:lnTo>
                      <a:pt x="5" y="85"/>
                    </a:lnTo>
                    <a:lnTo>
                      <a:pt x="0" y="70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73" name="Freeform 142"/>
              <p:cNvSpPr>
                <a:spLocks/>
              </p:cNvSpPr>
              <p:nvPr/>
            </p:nvSpPr>
            <p:spPr bwMode="auto">
              <a:xfrm>
                <a:off x="3977" y="1743"/>
                <a:ext cx="35" cy="42"/>
              </a:xfrm>
              <a:custGeom>
                <a:avLst/>
                <a:gdLst>
                  <a:gd name="T0" fmla="*/ 11 w 35"/>
                  <a:gd name="T1" fmla="*/ 42 h 42"/>
                  <a:gd name="T2" fmla="*/ 0 w 35"/>
                  <a:gd name="T3" fmla="*/ 23 h 42"/>
                  <a:gd name="T4" fmla="*/ 23 w 35"/>
                  <a:gd name="T5" fmla="*/ 0 h 42"/>
                  <a:gd name="T6" fmla="*/ 35 w 35"/>
                  <a:gd name="T7" fmla="*/ 20 h 42"/>
                  <a:gd name="T8" fmla="*/ 11 w 35"/>
                  <a:gd name="T9" fmla="*/ 42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42"/>
                  <a:gd name="T17" fmla="*/ 35 w 35"/>
                  <a:gd name="T18" fmla="*/ 42 h 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42">
                    <a:moveTo>
                      <a:pt x="11" y="42"/>
                    </a:moveTo>
                    <a:lnTo>
                      <a:pt x="0" y="23"/>
                    </a:lnTo>
                    <a:lnTo>
                      <a:pt x="23" y="0"/>
                    </a:lnTo>
                    <a:lnTo>
                      <a:pt x="35" y="20"/>
                    </a:lnTo>
                    <a:lnTo>
                      <a:pt x="11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74" name="Freeform 143"/>
              <p:cNvSpPr>
                <a:spLocks/>
              </p:cNvSpPr>
              <p:nvPr/>
            </p:nvSpPr>
            <p:spPr bwMode="auto">
              <a:xfrm>
                <a:off x="3991" y="1762"/>
                <a:ext cx="129" cy="228"/>
              </a:xfrm>
              <a:custGeom>
                <a:avLst/>
                <a:gdLst>
                  <a:gd name="T0" fmla="*/ 99 w 129"/>
                  <a:gd name="T1" fmla="*/ 228 h 228"/>
                  <a:gd name="T2" fmla="*/ 99 w 129"/>
                  <a:gd name="T3" fmla="*/ 228 h 228"/>
                  <a:gd name="T4" fmla="*/ 88 w 129"/>
                  <a:gd name="T5" fmla="*/ 200 h 228"/>
                  <a:gd name="T6" fmla="*/ 78 w 129"/>
                  <a:gd name="T7" fmla="*/ 173 h 228"/>
                  <a:gd name="T8" fmla="*/ 67 w 129"/>
                  <a:gd name="T9" fmla="*/ 147 h 228"/>
                  <a:gd name="T10" fmla="*/ 54 w 129"/>
                  <a:gd name="T11" fmla="*/ 121 h 228"/>
                  <a:gd name="T12" fmla="*/ 40 w 129"/>
                  <a:gd name="T13" fmla="*/ 95 h 228"/>
                  <a:gd name="T14" fmla="*/ 27 w 129"/>
                  <a:gd name="T15" fmla="*/ 70 h 228"/>
                  <a:gd name="T16" fmla="*/ 13 w 129"/>
                  <a:gd name="T17" fmla="*/ 45 h 228"/>
                  <a:gd name="T18" fmla="*/ 0 w 129"/>
                  <a:gd name="T19" fmla="*/ 23 h 228"/>
                  <a:gd name="T20" fmla="*/ 23 w 129"/>
                  <a:gd name="T21" fmla="*/ 0 h 228"/>
                  <a:gd name="T22" fmla="*/ 39 w 129"/>
                  <a:gd name="T23" fmla="*/ 25 h 228"/>
                  <a:gd name="T24" fmla="*/ 54 w 129"/>
                  <a:gd name="T25" fmla="*/ 51 h 228"/>
                  <a:gd name="T26" fmla="*/ 69 w 129"/>
                  <a:gd name="T27" fmla="*/ 78 h 228"/>
                  <a:gd name="T28" fmla="*/ 82 w 129"/>
                  <a:gd name="T29" fmla="*/ 104 h 228"/>
                  <a:gd name="T30" fmla="*/ 94 w 129"/>
                  <a:gd name="T31" fmla="*/ 131 h 228"/>
                  <a:gd name="T32" fmla="*/ 107 w 129"/>
                  <a:gd name="T33" fmla="*/ 160 h 228"/>
                  <a:gd name="T34" fmla="*/ 118 w 129"/>
                  <a:gd name="T35" fmla="*/ 188 h 228"/>
                  <a:gd name="T36" fmla="*/ 129 w 129"/>
                  <a:gd name="T37" fmla="*/ 216 h 228"/>
                  <a:gd name="T38" fmla="*/ 99 w 129"/>
                  <a:gd name="T39" fmla="*/ 228 h 22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9"/>
                  <a:gd name="T61" fmla="*/ 0 h 228"/>
                  <a:gd name="T62" fmla="*/ 129 w 129"/>
                  <a:gd name="T63" fmla="*/ 228 h 22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9" h="228">
                    <a:moveTo>
                      <a:pt x="99" y="228"/>
                    </a:moveTo>
                    <a:lnTo>
                      <a:pt x="99" y="228"/>
                    </a:lnTo>
                    <a:lnTo>
                      <a:pt x="88" y="200"/>
                    </a:lnTo>
                    <a:lnTo>
                      <a:pt x="78" y="173"/>
                    </a:lnTo>
                    <a:lnTo>
                      <a:pt x="67" y="147"/>
                    </a:lnTo>
                    <a:lnTo>
                      <a:pt x="54" y="121"/>
                    </a:lnTo>
                    <a:lnTo>
                      <a:pt x="40" y="95"/>
                    </a:lnTo>
                    <a:lnTo>
                      <a:pt x="27" y="70"/>
                    </a:lnTo>
                    <a:lnTo>
                      <a:pt x="13" y="45"/>
                    </a:lnTo>
                    <a:lnTo>
                      <a:pt x="0" y="23"/>
                    </a:lnTo>
                    <a:lnTo>
                      <a:pt x="23" y="0"/>
                    </a:lnTo>
                    <a:lnTo>
                      <a:pt x="39" y="25"/>
                    </a:lnTo>
                    <a:lnTo>
                      <a:pt x="54" y="51"/>
                    </a:lnTo>
                    <a:lnTo>
                      <a:pt x="69" y="78"/>
                    </a:lnTo>
                    <a:lnTo>
                      <a:pt x="82" y="104"/>
                    </a:lnTo>
                    <a:lnTo>
                      <a:pt x="94" y="131"/>
                    </a:lnTo>
                    <a:lnTo>
                      <a:pt x="107" y="160"/>
                    </a:lnTo>
                    <a:lnTo>
                      <a:pt x="118" y="188"/>
                    </a:lnTo>
                    <a:lnTo>
                      <a:pt x="129" y="216"/>
                    </a:lnTo>
                    <a:lnTo>
                      <a:pt x="99" y="2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75" name="Freeform 144"/>
              <p:cNvSpPr>
                <a:spLocks/>
              </p:cNvSpPr>
              <p:nvPr/>
            </p:nvSpPr>
            <p:spPr bwMode="auto">
              <a:xfrm>
                <a:off x="4093" y="1983"/>
                <a:ext cx="80" cy="205"/>
              </a:xfrm>
              <a:custGeom>
                <a:avLst/>
                <a:gdLst>
                  <a:gd name="T0" fmla="*/ 47 w 80"/>
                  <a:gd name="T1" fmla="*/ 204 h 205"/>
                  <a:gd name="T2" fmla="*/ 44 w 80"/>
                  <a:gd name="T3" fmla="*/ 180 h 205"/>
                  <a:gd name="T4" fmla="*/ 40 w 80"/>
                  <a:gd name="T5" fmla="*/ 156 h 205"/>
                  <a:gd name="T6" fmla="*/ 35 w 80"/>
                  <a:gd name="T7" fmla="*/ 130 h 205"/>
                  <a:gd name="T8" fmla="*/ 30 w 80"/>
                  <a:gd name="T9" fmla="*/ 108 h 205"/>
                  <a:gd name="T10" fmla="*/ 24 w 80"/>
                  <a:gd name="T11" fmla="*/ 83 h 205"/>
                  <a:gd name="T12" fmla="*/ 16 w 80"/>
                  <a:gd name="T13" fmla="*/ 59 h 205"/>
                  <a:gd name="T14" fmla="*/ 9 w 80"/>
                  <a:gd name="T15" fmla="*/ 35 h 205"/>
                  <a:gd name="T16" fmla="*/ 0 w 80"/>
                  <a:gd name="T17" fmla="*/ 10 h 205"/>
                  <a:gd name="T18" fmla="*/ 31 w 80"/>
                  <a:gd name="T19" fmla="*/ 0 h 205"/>
                  <a:gd name="T20" fmla="*/ 40 w 80"/>
                  <a:gd name="T21" fmla="*/ 24 h 205"/>
                  <a:gd name="T22" fmla="*/ 46 w 80"/>
                  <a:gd name="T23" fmla="*/ 51 h 205"/>
                  <a:gd name="T24" fmla="*/ 55 w 80"/>
                  <a:gd name="T25" fmla="*/ 77 h 205"/>
                  <a:gd name="T26" fmla="*/ 61 w 80"/>
                  <a:gd name="T27" fmla="*/ 102 h 205"/>
                  <a:gd name="T28" fmla="*/ 67 w 80"/>
                  <a:gd name="T29" fmla="*/ 128 h 205"/>
                  <a:gd name="T30" fmla="*/ 73 w 80"/>
                  <a:gd name="T31" fmla="*/ 155 h 205"/>
                  <a:gd name="T32" fmla="*/ 77 w 80"/>
                  <a:gd name="T33" fmla="*/ 180 h 205"/>
                  <a:gd name="T34" fmla="*/ 80 w 80"/>
                  <a:gd name="T35" fmla="*/ 205 h 205"/>
                  <a:gd name="T36" fmla="*/ 47 w 80"/>
                  <a:gd name="T37" fmla="*/ 204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0"/>
                  <a:gd name="T58" fmla="*/ 0 h 205"/>
                  <a:gd name="T59" fmla="*/ 80 w 80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0" h="205">
                    <a:moveTo>
                      <a:pt x="47" y="204"/>
                    </a:moveTo>
                    <a:lnTo>
                      <a:pt x="44" y="180"/>
                    </a:lnTo>
                    <a:lnTo>
                      <a:pt x="40" y="156"/>
                    </a:lnTo>
                    <a:lnTo>
                      <a:pt x="35" y="130"/>
                    </a:lnTo>
                    <a:lnTo>
                      <a:pt x="30" y="108"/>
                    </a:lnTo>
                    <a:lnTo>
                      <a:pt x="24" y="83"/>
                    </a:lnTo>
                    <a:lnTo>
                      <a:pt x="16" y="59"/>
                    </a:lnTo>
                    <a:lnTo>
                      <a:pt x="9" y="35"/>
                    </a:lnTo>
                    <a:lnTo>
                      <a:pt x="0" y="10"/>
                    </a:lnTo>
                    <a:lnTo>
                      <a:pt x="31" y="0"/>
                    </a:lnTo>
                    <a:lnTo>
                      <a:pt x="40" y="24"/>
                    </a:lnTo>
                    <a:lnTo>
                      <a:pt x="46" y="51"/>
                    </a:lnTo>
                    <a:lnTo>
                      <a:pt x="55" y="77"/>
                    </a:lnTo>
                    <a:lnTo>
                      <a:pt x="61" y="102"/>
                    </a:lnTo>
                    <a:lnTo>
                      <a:pt x="67" y="128"/>
                    </a:lnTo>
                    <a:lnTo>
                      <a:pt x="73" y="155"/>
                    </a:lnTo>
                    <a:lnTo>
                      <a:pt x="77" y="180"/>
                    </a:lnTo>
                    <a:lnTo>
                      <a:pt x="80" y="205"/>
                    </a:lnTo>
                    <a:lnTo>
                      <a:pt x="47" y="20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76" name="Freeform 145"/>
              <p:cNvSpPr>
                <a:spLocks/>
              </p:cNvSpPr>
              <p:nvPr/>
            </p:nvSpPr>
            <p:spPr bwMode="auto">
              <a:xfrm>
                <a:off x="4143" y="2187"/>
                <a:ext cx="38" cy="22"/>
              </a:xfrm>
              <a:custGeom>
                <a:avLst/>
                <a:gdLst>
                  <a:gd name="T0" fmla="*/ 35 w 38"/>
                  <a:gd name="T1" fmla="*/ 1 h 22"/>
                  <a:gd name="T2" fmla="*/ 38 w 38"/>
                  <a:gd name="T3" fmla="*/ 22 h 22"/>
                  <a:gd name="T4" fmla="*/ 4 w 38"/>
                  <a:gd name="T5" fmla="*/ 21 h 22"/>
                  <a:gd name="T6" fmla="*/ 0 w 38"/>
                  <a:gd name="T7" fmla="*/ 0 h 22"/>
                  <a:gd name="T8" fmla="*/ 35 w 38"/>
                  <a:gd name="T9" fmla="*/ 1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22"/>
                  <a:gd name="T17" fmla="*/ 38 w 38"/>
                  <a:gd name="T18" fmla="*/ 22 h 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22">
                    <a:moveTo>
                      <a:pt x="35" y="1"/>
                    </a:moveTo>
                    <a:lnTo>
                      <a:pt x="38" y="22"/>
                    </a:lnTo>
                    <a:lnTo>
                      <a:pt x="4" y="21"/>
                    </a:lnTo>
                    <a:lnTo>
                      <a:pt x="0" y="0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77" name="Freeform 146"/>
              <p:cNvSpPr>
                <a:spLocks/>
              </p:cNvSpPr>
              <p:nvPr/>
            </p:nvSpPr>
            <p:spPr bwMode="auto">
              <a:xfrm>
                <a:off x="3968" y="1726"/>
                <a:ext cx="113" cy="163"/>
              </a:xfrm>
              <a:custGeom>
                <a:avLst/>
                <a:gdLst>
                  <a:gd name="T0" fmla="*/ 41 w 113"/>
                  <a:gd name="T1" fmla="*/ 163 h 163"/>
                  <a:gd name="T2" fmla="*/ 0 w 113"/>
                  <a:gd name="T3" fmla="*/ 0 h 163"/>
                  <a:gd name="T4" fmla="*/ 113 w 113"/>
                  <a:gd name="T5" fmla="*/ 102 h 163"/>
                  <a:gd name="T6" fmla="*/ 41 w 113"/>
                  <a:gd name="T7" fmla="*/ 163 h 1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3"/>
                  <a:gd name="T13" fmla="*/ 0 h 163"/>
                  <a:gd name="T14" fmla="*/ 113 w 113"/>
                  <a:gd name="T15" fmla="*/ 163 h 1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3" h="163">
                    <a:moveTo>
                      <a:pt x="41" y="163"/>
                    </a:moveTo>
                    <a:lnTo>
                      <a:pt x="0" y="0"/>
                    </a:lnTo>
                    <a:lnTo>
                      <a:pt x="113" y="102"/>
                    </a:lnTo>
                    <a:lnTo>
                      <a:pt x="41" y="163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78" name="Freeform 147"/>
              <p:cNvSpPr>
                <a:spLocks/>
              </p:cNvSpPr>
              <p:nvPr/>
            </p:nvSpPr>
            <p:spPr bwMode="auto">
              <a:xfrm>
                <a:off x="3962" y="1713"/>
                <a:ext cx="51" cy="176"/>
              </a:xfrm>
              <a:custGeom>
                <a:avLst/>
                <a:gdLst>
                  <a:gd name="T0" fmla="*/ 5 w 51"/>
                  <a:gd name="T1" fmla="*/ 19 h 176"/>
                  <a:gd name="T2" fmla="*/ 11 w 51"/>
                  <a:gd name="T3" fmla="*/ 13 h 176"/>
                  <a:gd name="T4" fmla="*/ 51 w 51"/>
                  <a:gd name="T5" fmla="*/ 175 h 176"/>
                  <a:gd name="T6" fmla="*/ 42 w 51"/>
                  <a:gd name="T7" fmla="*/ 176 h 176"/>
                  <a:gd name="T8" fmla="*/ 2 w 51"/>
                  <a:gd name="T9" fmla="*/ 14 h 176"/>
                  <a:gd name="T10" fmla="*/ 8 w 51"/>
                  <a:gd name="T11" fmla="*/ 9 h 176"/>
                  <a:gd name="T12" fmla="*/ 2 w 51"/>
                  <a:gd name="T13" fmla="*/ 14 h 176"/>
                  <a:gd name="T14" fmla="*/ 0 w 51"/>
                  <a:gd name="T15" fmla="*/ 0 h 176"/>
                  <a:gd name="T16" fmla="*/ 8 w 51"/>
                  <a:gd name="T17" fmla="*/ 9 h 176"/>
                  <a:gd name="T18" fmla="*/ 5 w 51"/>
                  <a:gd name="T19" fmla="*/ 19 h 1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1"/>
                  <a:gd name="T31" fmla="*/ 0 h 176"/>
                  <a:gd name="T32" fmla="*/ 51 w 51"/>
                  <a:gd name="T33" fmla="*/ 176 h 1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1" h="176">
                    <a:moveTo>
                      <a:pt x="5" y="19"/>
                    </a:moveTo>
                    <a:lnTo>
                      <a:pt x="11" y="13"/>
                    </a:lnTo>
                    <a:lnTo>
                      <a:pt x="51" y="175"/>
                    </a:lnTo>
                    <a:lnTo>
                      <a:pt x="42" y="176"/>
                    </a:lnTo>
                    <a:lnTo>
                      <a:pt x="2" y="14"/>
                    </a:lnTo>
                    <a:lnTo>
                      <a:pt x="8" y="9"/>
                    </a:lnTo>
                    <a:lnTo>
                      <a:pt x="2" y="14"/>
                    </a:lnTo>
                    <a:lnTo>
                      <a:pt x="0" y="0"/>
                    </a:lnTo>
                    <a:lnTo>
                      <a:pt x="8" y="9"/>
                    </a:lnTo>
                    <a:lnTo>
                      <a:pt x="5" y="19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79" name="Freeform 148"/>
              <p:cNvSpPr>
                <a:spLocks/>
              </p:cNvSpPr>
              <p:nvPr/>
            </p:nvSpPr>
            <p:spPr bwMode="auto">
              <a:xfrm>
                <a:off x="3969" y="1723"/>
                <a:ext cx="120" cy="110"/>
              </a:xfrm>
              <a:custGeom>
                <a:avLst/>
                <a:gdLst>
                  <a:gd name="T0" fmla="*/ 109 w 120"/>
                  <a:gd name="T1" fmla="*/ 99 h 110"/>
                  <a:gd name="T2" fmla="*/ 110 w 120"/>
                  <a:gd name="T3" fmla="*/ 110 h 110"/>
                  <a:gd name="T4" fmla="*/ 0 w 120"/>
                  <a:gd name="T5" fmla="*/ 9 h 110"/>
                  <a:gd name="T6" fmla="*/ 3 w 120"/>
                  <a:gd name="T7" fmla="*/ 0 h 110"/>
                  <a:gd name="T8" fmla="*/ 113 w 120"/>
                  <a:gd name="T9" fmla="*/ 102 h 110"/>
                  <a:gd name="T10" fmla="*/ 116 w 120"/>
                  <a:gd name="T11" fmla="*/ 110 h 110"/>
                  <a:gd name="T12" fmla="*/ 113 w 120"/>
                  <a:gd name="T13" fmla="*/ 102 h 110"/>
                  <a:gd name="T14" fmla="*/ 120 w 120"/>
                  <a:gd name="T15" fmla="*/ 106 h 110"/>
                  <a:gd name="T16" fmla="*/ 116 w 120"/>
                  <a:gd name="T17" fmla="*/ 110 h 110"/>
                  <a:gd name="T18" fmla="*/ 109 w 120"/>
                  <a:gd name="T19" fmla="*/ 99 h 1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0"/>
                  <a:gd name="T31" fmla="*/ 0 h 110"/>
                  <a:gd name="T32" fmla="*/ 120 w 120"/>
                  <a:gd name="T33" fmla="*/ 110 h 11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0" h="110">
                    <a:moveTo>
                      <a:pt x="109" y="99"/>
                    </a:moveTo>
                    <a:lnTo>
                      <a:pt x="110" y="110"/>
                    </a:lnTo>
                    <a:lnTo>
                      <a:pt x="0" y="9"/>
                    </a:lnTo>
                    <a:lnTo>
                      <a:pt x="3" y="0"/>
                    </a:lnTo>
                    <a:lnTo>
                      <a:pt x="113" y="102"/>
                    </a:lnTo>
                    <a:lnTo>
                      <a:pt x="116" y="110"/>
                    </a:lnTo>
                    <a:lnTo>
                      <a:pt x="113" y="102"/>
                    </a:lnTo>
                    <a:lnTo>
                      <a:pt x="120" y="106"/>
                    </a:lnTo>
                    <a:lnTo>
                      <a:pt x="116" y="110"/>
                    </a:lnTo>
                    <a:lnTo>
                      <a:pt x="109" y="99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80" name="Freeform 149"/>
              <p:cNvSpPr>
                <a:spLocks/>
              </p:cNvSpPr>
              <p:nvPr/>
            </p:nvSpPr>
            <p:spPr bwMode="auto">
              <a:xfrm>
                <a:off x="4008" y="1825"/>
                <a:ext cx="78" cy="75"/>
              </a:xfrm>
              <a:custGeom>
                <a:avLst/>
                <a:gdLst>
                  <a:gd name="T0" fmla="*/ 8 w 78"/>
                  <a:gd name="T1" fmla="*/ 64 h 75"/>
                  <a:gd name="T2" fmla="*/ 1 w 78"/>
                  <a:gd name="T3" fmla="*/ 59 h 75"/>
                  <a:gd name="T4" fmla="*/ 71 w 78"/>
                  <a:gd name="T5" fmla="*/ 0 h 75"/>
                  <a:gd name="T6" fmla="*/ 78 w 78"/>
                  <a:gd name="T7" fmla="*/ 10 h 75"/>
                  <a:gd name="T8" fmla="*/ 6 w 78"/>
                  <a:gd name="T9" fmla="*/ 71 h 75"/>
                  <a:gd name="T10" fmla="*/ 0 w 78"/>
                  <a:gd name="T11" fmla="*/ 66 h 75"/>
                  <a:gd name="T12" fmla="*/ 6 w 78"/>
                  <a:gd name="T13" fmla="*/ 71 h 75"/>
                  <a:gd name="T14" fmla="*/ 1 w 78"/>
                  <a:gd name="T15" fmla="*/ 75 h 75"/>
                  <a:gd name="T16" fmla="*/ 0 w 78"/>
                  <a:gd name="T17" fmla="*/ 66 h 75"/>
                  <a:gd name="T18" fmla="*/ 8 w 78"/>
                  <a:gd name="T19" fmla="*/ 64 h 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8"/>
                  <a:gd name="T31" fmla="*/ 0 h 75"/>
                  <a:gd name="T32" fmla="*/ 78 w 78"/>
                  <a:gd name="T33" fmla="*/ 75 h 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8" h="75">
                    <a:moveTo>
                      <a:pt x="8" y="64"/>
                    </a:moveTo>
                    <a:lnTo>
                      <a:pt x="1" y="59"/>
                    </a:lnTo>
                    <a:lnTo>
                      <a:pt x="71" y="0"/>
                    </a:lnTo>
                    <a:lnTo>
                      <a:pt x="78" y="10"/>
                    </a:lnTo>
                    <a:lnTo>
                      <a:pt x="6" y="71"/>
                    </a:lnTo>
                    <a:lnTo>
                      <a:pt x="0" y="66"/>
                    </a:lnTo>
                    <a:lnTo>
                      <a:pt x="6" y="71"/>
                    </a:lnTo>
                    <a:lnTo>
                      <a:pt x="1" y="75"/>
                    </a:lnTo>
                    <a:lnTo>
                      <a:pt x="0" y="66"/>
                    </a:lnTo>
                    <a:lnTo>
                      <a:pt x="8" y="64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81" name="Freeform 150"/>
              <p:cNvSpPr>
                <a:spLocks/>
              </p:cNvSpPr>
              <p:nvPr/>
            </p:nvSpPr>
            <p:spPr bwMode="auto">
              <a:xfrm>
                <a:off x="3981" y="1748"/>
                <a:ext cx="30" cy="36"/>
              </a:xfrm>
              <a:custGeom>
                <a:avLst/>
                <a:gdLst>
                  <a:gd name="T0" fmla="*/ 10 w 30"/>
                  <a:gd name="T1" fmla="*/ 36 h 36"/>
                  <a:gd name="T2" fmla="*/ 0 w 30"/>
                  <a:gd name="T3" fmla="*/ 19 h 36"/>
                  <a:gd name="T4" fmla="*/ 20 w 30"/>
                  <a:gd name="T5" fmla="*/ 0 h 36"/>
                  <a:gd name="T6" fmla="*/ 30 w 30"/>
                  <a:gd name="T7" fmla="*/ 17 h 36"/>
                  <a:gd name="T8" fmla="*/ 10 w 30"/>
                  <a:gd name="T9" fmla="*/ 36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6"/>
                  <a:gd name="T17" fmla="*/ 30 w 3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6">
                    <a:moveTo>
                      <a:pt x="10" y="36"/>
                    </a:moveTo>
                    <a:lnTo>
                      <a:pt x="0" y="19"/>
                    </a:lnTo>
                    <a:lnTo>
                      <a:pt x="20" y="0"/>
                    </a:lnTo>
                    <a:lnTo>
                      <a:pt x="30" y="17"/>
                    </a:lnTo>
                    <a:lnTo>
                      <a:pt x="10" y="36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82" name="Freeform 151"/>
              <p:cNvSpPr>
                <a:spLocks/>
              </p:cNvSpPr>
              <p:nvPr/>
            </p:nvSpPr>
            <p:spPr bwMode="auto">
              <a:xfrm>
                <a:off x="3993" y="1766"/>
                <a:ext cx="125" cy="224"/>
              </a:xfrm>
              <a:custGeom>
                <a:avLst/>
                <a:gdLst>
                  <a:gd name="T0" fmla="*/ 100 w 125"/>
                  <a:gd name="T1" fmla="*/ 224 h 224"/>
                  <a:gd name="T2" fmla="*/ 100 w 125"/>
                  <a:gd name="T3" fmla="*/ 224 h 224"/>
                  <a:gd name="T4" fmla="*/ 88 w 125"/>
                  <a:gd name="T5" fmla="*/ 196 h 224"/>
                  <a:gd name="T6" fmla="*/ 78 w 125"/>
                  <a:gd name="T7" fmla="*/ 169 h 224"/>
                  <a:gd name="T8" fmla="*/ 67 w 125"/>
                  <a:gd name="T9" fmla="*/ 143 h 224"/>
                  <a:gd name="T10" fmla="*/ 54 w 125"/>
                  <a:gd name="T11" fmla="*/ 117 h 224"/>
                  <a:gd name="T12" fmla="*/ 41 w 125"/>
                  <a:gd name="T13" fmla="*/ 91 h 224"/>
                  <a:gd name="T14" fmla="*/ 29 w 125"/>
                  <a:gd name="T15" fmla="*/ 66 h 224"/>
                  <a:gd name="T16" fmla="*/ 15 w 125"/>
                  <a:gd name="T17" fmla="*/ 43 h 224"/>
                  <a:gd name="T18" fmla="*/ 0 w 125"/>
                  <a:gd name="T19" fmla="*/ 19 h 224"/>
                  <a:gd name="T20" fmla="*/ 20 w 125"/>
                  <a:gd name="T21" fmla="*/ 0 h 224"/>
                  <a:gd name="T22" fmla="*/ 35 w 125"/>
                  <a:gd name="T23" fmla="*/ 24 h 224"/>
                  <a:gd name="T24" fmla="*/ 50 w 125"/>
                  <a:gd name="T25" fmla="*/ 49 h 224"/>
                  <a:gd name="T26" fmla="*/ 65 w 125"/>
                  <a:gd name="T27" fmla="*/ 77 h 224"/>
                  <a:gd name="T28" fmla="*/ 78 w 125"/>
                  <a:gd name="T29" fmla="*/ 103 h 224"/>
                  <a:gd name="T30" fmla="*/ 91 w 125"/>
                  <a:gd name="T31" fmla="*/ 130 h 224"/>
                  <a:gd name="T32" fmla="*/ 103 w 125"/>
                  <a:gd name="T33" fmla="*/ 158 h 224"/>
                  <a:gd name="T34" fmla="*/ 114 w 125"/>
                  <a:gd name="T35" fmla="*/ 187 h 224"/>
                  <a:gd name="T36" fmla="*/ 125 w 125"/>
                  <a:gd name="T37" fmla="*/ 216 h 224"/>
                  <a:gd name="T38" fmla="*/ 100 w 125"/>
                  <a:gd name="T39" fmla="*/ 224 h 22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5"/>
                  <a:gd name="T61" fmla="*/ 0 h 224"/>
                  <a:gd name="T62" fmla="*/ 125 w 125"/>
                  <a:gd name="T63" fmla="*/ 224 h 22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5" h="224">
                    <a:moveTo>
                      <a:pt x="100" y="224"/>
                    </a:moveTo>
                    <a:lnTo>
                      <a:pt x="100" y="224"/>
                    </a:lnTo>
                    <a:lnTo>
                      <a:pt x="88" y="196"/>
                    </a:lnTo>
                    <a:lnTo>
                      <a:pt x="78" y="169"/>
                    </a:lnTo>
                    <a:lnTo>
                      <a:pt x="67" y="143"/>
                    </a:lnTo>
                    <a:lnTo>
                      <a:pt x="54" y="117"/>
                    </a:lnTo>
                    <a:lnTo>
                      <a:pt x="41" y="91"/>
                    </a:lnTo>
                    <a:lnTo>
                      <a:pt x="29" y="66"/>
                    </a:lnTo>
                    <a:lnTo>
                      <a:pt x="15" y="43"/>
                    </a:lnTo>
                    <a:lnTo>
                      <a:pt x="0" y="19"/>
                    </a:lnTo>
                    <a:lnTo>
                      <a:pt x="20" y="0"/>
                    </a:lnTo>
                    <a:lnTo>
                      <a:pt x="35" y="24"/>
                    </a:lnTo>
                    <a:lnTo>
                      <a:pt x="50" y="49"/>
                    </a:lnTo>
                    <a:lnTo>
                      <a:pt x="65" y="77"/>
                    </a:lnTo>
                    <a:lnTo>
                      <a:pt x="78" y="103"/>
                    </a:lnTo>
                    <a:lnTo>
                      <a:pt x="91" y="130"/>
                    </a:lnTo>
                    <a:lnTo>
                      <a:pt x="103" y="158"/>
                    </a:lnTo>
                    <a:lnTo>
                      <a:pt x="114" y="187"/>
                    </a:lnTo>
                    <a:lnTo>
                      <a:pt x="125" y="216"/>
                    </a:lnTo>
                    <a:lnTo>
                      <a:pt x="100" y="224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83" name="Freeform 152"/>
              <p:cNvSpPr>
                <a:spLocks/>
              </p:cNvSpPr>
              <p:nvPr/>
            </p:nvSpPr>
            <p:spPr bwMode="auto">
              <a:xfrm>
                <a:off x="4096" y="1984"/>
                <a:ext cx="74" cy="204"/>
              </a:xfrm>
              <a:custGeom>
                <a:avLst/>
                <a:gdLst>
                  <a:gd name="T0" fmla="*/ 46 w 74"/>
                  <a:gd name="T1" fmla="*/ 203 h 204"/>
                  <a:gd name="T2" fmla="*/ 43 w 74"/>
                  <a:gd name="T3" fmla="*/ 179 h 204"/>
                  <a:gd name="T4" fmla="*/ 39 w 74"/>
                  <a:gd name="T5" fmla="*/ 155 h 204"/>
                  <a:gd name="T6" fmla="*/ 33 w 74"/>
                  <a:gd name="T7" fmla="*/ 129 h 204"/>
                  <a:gd name="T8" fmla="*/ 28 w 74"/>
                  <a:gd name="T9" fmla="*/ 107 h 204"/>
                  <a:gd name="T10" fmla="*/ 23 w 74"/>
                  <a:gd name="T11" fmla="*/ 82 h 204"/>
                  <a:gd name="T12" fmla="*/ 14 w 74"/>
                  <a:gd name="T13" fmla="*/ 57 h 204"/>
                  <a:gd name="T14" fmla="*/ 8 w 74"/>
                  <a:gd name="T15" fmla="*/ 34 h 204"/>
                  <a:gd name="T16" fmla="*/ 0 w 74"/>
                  <a:gd name="T17" fmla="*/ 8 h 204"/>
                  <a:gd name="T18" fmla="*/ 25 w 74"/>
                  <a:gd name="T19" fmla="*/ 0 h 204"/>
                  <a:gd name="T20" fmla="*/ 32 w 74"/>
                  <a:gd name="T21" fmla="*/ 25 h 204"/>
                  <a:gd name="T22" fmla="*/ 41 w 74"/>
                  <a:gd name="T23" fmla="*/ 51 h 204"/>
                  <a:gd name="T24" fmla="*/ 48 w 74"/>
                  <a:gd name="T25" fmla="*/ 78 h 204"/>
                  <a:gd name="T26" fmla="*/ 55 w 74"/>
                  <a:gd name="T27" fmla="*/ 102 h 204"/>
                  <a:gd name="T28" fmla="*/ 61 w 74"/>
                  <a:gd name="T29" fmla="*/ 129 h 204"/>
                  <a:gd name="T30" fmla="*/ 66 w 74"/>
                  <a:gd name="T31" fmla="*/ 155 h 204"/>
                  <a:gd name="T32" fmla="*/ 70 w 74"/>
                  <a:gd name="T33" fmla="*/ 179 h 204"/>
                  <a:gd name="T34" fmla="*/ 74 w 74"/>
                  <a:gd name="T35" fmla="*/ 204 h 204"/>
                  <a:gd name="T36" fmla="*/ 46 w 74"/>
                  <a:gd name="T37" fmla="*/ 203 h 2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4"/>
                  <a:gd name="T58" fmla="*/ 0 h 204"/>
                  <a:gd name="T59" fmla="*/ 74 w 74"/>
                  <a:gd name="T60" fmla="*/ 204 h 20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4" h="204">
                    <a:moveTo>
                      <a:pt x="46" y="203"/>
                    </a:moveTo>
                    <a:lnTo>
                      <a:pt x="43" y="179"/>
                    </a:lnTo>
                    <a:lnTo>
                      <a:pt x="39" y="155"/>
                    </a:lnTo>
                    <a:lnTo>
                      <a:pt x="33" y="129"/>
                    </a:lnTo>
                    <a:lnTo>
                      <a:pt x="28" y="107"/>
                    </a:lnTo>
                    <a:lnTo>
                      <a:pt x="23" y="82"/>
                    </a:lnTo>
                    <a:lnTo>
                      <a:pt x="14" y="57"/>
                    </a:lnTo>
                    <a:lnTo>
                      <a:pt x="8" y="34"/>
                    </a:lnTo>
                    <a:lnTo>
                      <a:pt x="0" y="8"/>
                    </a:lnTo>
                    <a:lnTo>
                      <a:pt x="25" y="0"/>
                    </a:lnTo>
                    <a:lnTo>
                      <a:pt x="32" y="25"/>
                    </a:lnTo>
                    <a:lnTo>
                      <a:pt x="41" y="51"/>
                    </a:lnTo>
                    <a:lnTo>
                      <a:pt x="48" y="78"/>
                    </a:lnTo>
                    <a:lnTo>
                      <a:pt x="55" y="102"/>
                    </a:lnTo>
                    <a:lnTo>
                      <a:pt x="61" y="129"/>
                    </a:lnTo>
                    <a:lnTo>
                      <a:pt x="66" y="155"/>
                    </a:lnTo>
                    <a:lnTo>
                      <a:pt x="70" y="179"/>
                    </a:lnTo>
                    <a:lnTo>
                      <a:pt x="74" y="204"/>
                    </a:lnTo>
                    <a:lnTo>
                      <a:pt x="46" y="203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84" name="Freeform 153"/>
              <p:cNvSpPr>
                <a:spLocks/>
              </p:cNvSpPr>
              <p:nvPr/>
            </p:nvSpPr>
            <p:spPr bwMode="auto">
              <a:xfrm>
                <a:off x="4147" y="2187"/>
                <a:ext cx="32" cy="19"/>
              </a:xfrm>
              <a:custGeom>
                <a:avLst/>
                <a:gdLst>
                  <a:gd name="T0" fmla="*/ 28 w 32"/>
                  <a:gd name="T1" fmla="*/ 1 h 19"/>
                  <a:gd name="T2" fmla="*/ 32 w 32"/>
                  <a:gd name="T3" fmla="*/ 19 h 19"/>
                  <a:gd name="T4" fmla="*/ 3 w 32"/>
                  <a:gd name="T5" fmla="*/ 18 h 19"/>
                  <a:gd name="T6" fmla="*/ 0 w 32"/>
                  <a:gd name="T7" fmla="*/ 0 h 19"/>
                  <a:gd name="T8" fmla="*/ 28 w 32"/>
                  <a:gd name="T9" fmla="*/ 1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19"/>
                  <a:gd name="T17" fmla="*/ 32 w 32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19">
                    <a:moveTo>
                      <a:pt x="28" y="1"/>
                    </a:moveTo>
                    <a:lnTo>
                      <a:pt x="32" y="19"/>
                    </a:lnTo>
                    <a:lnTo>
                      <a:pt x="3" y="18"/>
                    </a:lnTo>
                    <a:lnTo>
                      <a:pt x="0" y="0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85" name="Freeform 154"/>
              <p:cNvSpPr>
                <a:spLocks/>
              </p:cNvSpPr>
              <p:nvPr/>
            </p:nvSpPr>
            <p:spPr bwMode="auto">
              <a:xfrm>
                <a:off x="3949" y="1703"/>
                <a:ext cx="114" cy="160"/>
              </a:xfrm>
              <a:custGeom>
                <a:avLst/>
                <a:gdLst>
                  <a:gd name="T0" fmla="*/ 45 w 114"/>
                  <a:gd name="T1" fmla="*/ 160 h 160"/>
                  <a:gd name="T2" fmla="*/ 0 w 114"/>
                  <a:gd name="T3" fmla="*/ 0 h 160"/>
                  <a:gd name="T4" fmla="*/ 114 w 114"/>
                  <a:gd name="T5" fmla="*/ 94 h 160"/>
                  <a:gd name="T6" fmla="*/ 45 w 114"/>
                  <a:gd name="T7" fmla="*/ 160 h 1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4"/>
                  <a:gd name="T13" fmla="*/ 0 h 160"/>
                  <a:gd name="T14" fmla="*/ 114 w 114"/>
                  <a:gd name="T15" fmla="*/ 160 h 1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4" h="160">
                    <a:moveTo>
                      <a:pt x="45" y="160"/>
                    </a:moveTo>
                    <a:lnTo>
                      <a:pt x="0" y="0"/>
                    </a:lnTo>
                    <a:lnTo>
                      <a:pt x="114" y="94"/>
                    </a:lnTo>
                    <a:lnTo>
                      <a:pt x="45" y="16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86" name="Freeform 155"/>
              <p:cNvSpPr>
                <a:spLocks/>
              </p:cNvSpPr>
              <p:nvPr/>
            </p:nvSpPr>
            <p:spPr bwMode="auto">
              <a:xfrm>
                <a:off x="3934" y="1679"/>
                <a:ext cx="66" cy="183"/>
              </a:xfrm>
              <a:custGeom>
                <a:avLst/>
                <a:gdLst>
                  <a:gd name="T0" fmla="*/ 11 w 66"/>
                  <a:gd name="T1" fmla="*/ 31 h 183"/>
                  <a:gd name="T2" fmla="*/ 21 w 66"/>
                  <a:gd name="T3" fmla="*/ 21 h 183"/>
                  <a:gd name="T4" fmla="*/ 66 w 66"/>
                  <a:gd name="T5" fmla="*/ 180 h 183"/>
                  <a:gd name="T6" fmla="*/ 52 w 66"/>
                  <a:gd name="T7" fmla="*/ 183 h 183"/>
                  <a:gd name="T8" fmla="*/ 6 w 66"/>
                  <a:gd name="T9" fmla="*/ 24 h 183"/>
                  <a:gd name="T10" fmla="*/ 17 w 66"/>
                  <a:gd name="T11" fmla="*/ 15 h 183"/>
                  <a:gd name="T12" fmla="*/ 6 w 66"/>
                  <a:gd name="T13" fmla="*/ 24 h 183"/>
                  <a:gd name="T14" fmla="*/ 0 w 66"/>
                  <a:gd name="T15" fmla="*/ 0 h 183"/>
                  <a:gd name="T16" fmla="*/ 17 w 66"/>
                  <a:gd name="T17" fmla="*/ 15 h 183"/>
                  <a:gd name="T18" fmla="*/ 11 w 66"/>
                  <a:gd name="T19" fmla="*/ 31 h 18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6"/>
                  <a:gd name="T31" fmla="*/ 0 h 183"/>
                  <a:gd name="T32" fmla="*/ 66 w 66"/>
                  <a:gd name="T33" fmla="*/ 183 h 18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6" h="183">
                    <a:moveTo>
                      <a:pt x="11" y="31"/>
                    </a:moveTo>
                    <a:lnTo>
                      <a:pt x="21" y="21"/>
                    </a:lnTo>
                    <a:lnTo>
                      <a:pt x="66" y="180"/>
                    </a:lnTo>
                    <a:lnTo>
                      <a:pt x="52" y="183"/>
                    </a:lnTo>
                    <a:lnTo>
                      <a:pt x="6" y="24"/>
                    </a:lnTo>
                    <a:lnTo>
                      <a:pt x="17" y="15"/>
                    </a:lnTo>
                    <a:lnTo>
                      <a:pt x="6" y="24"/>
                    </a:lnTo>
                    <a:lnTo>
                      <a:pt x="0" y="0"/>
                    </a:lnTo>
                    <a:lnTo>
                      <a:pt x="17" y="15"/>
                    </a:lnTo>
                    <a:lnTo>
                      <a:pt x="11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87" name="Freeform 156"/>
              <p:cNvSpPr>
                <a:spLocks/>
              </p:cNvSpPr>
              <p:nvPr/>
            </p:nvSpPr>
            <p:spPr bwMode="auto">
              <a:xfrm>
                <a:off x="3945" y="1694"/>
                <a:ext cx="129" cy="110"/>
              </a:xfrm>
              <a:custGeom>
                <a:avLst/>
                <a:gdLst>
                  <a:gd name="T0" fmla="*/ 111 w 129"/>
                  <a:gd name="T1" fmla="*/ 93 h 110"/>
                  <a:gd name="T2" fmla="*/ 113 w 129"/>
                  <a:gd name="T3" fmla="*/ 110 h 110"/>
                  <a:gd name="T4" fmla="*/ 0 w 129"/>
                  <a:gd name="T5" fmla="*/ 17 h 110"/>
                  <a:gd name="T6" fmla="*/ 5 w 129"/>
                  <a:gd name="T7" fmla="*/ 0 h 110"/>
                  <a:gd name="T8" fmla="*/ 118 w 129"/>
                  <a:gd name="T9" fmla="*/ 94 h 110"/>
                  <a:gd name="T10" fmla="*/ 121 w 129"/>
                  <a:gd name="T11" fmla="*/ 110 h 110"/>
                  <a:gd name="T12" fmla="*/ 118 w 129"/>
                  <a:gd name="T13" fmla="*/ 94 h 110"/>
                  <a:gd name="T14" fmla="*/ 129 w 129"/>
                  <a:gd name="T15" fmla="*/ 103 h 110"/>
                  <a:gd name="T16" fmla="*/ 121 w 129"/>
                  <a:gd name="T17" fmla="*/ 110 h 110"/>
                  <a:gd name="T18" fmla="*/ 111 w 129"/>
                  <a:gd name="T19" fmla="*/ 93 h 1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9"/>
                  <a:gd name="T31" fmla="*/ 0 h 110"/>
                  <a:gd name="T32" fmla="*/ 129 w 129"/>
                  <a:gd name="T33" fmla="*/ 110 h 11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9" h="110">
                    <a:moveTo>
                      <a:pt x="111" y="93"/>
                    </a:moveTo>
                    <a:lnTo>
                      <a:pt x="113" y="110"/>
                    </a:lnTo>
                    <a:lnTo>
                      <a:pt x="0" y="17"/>
                    </a:lnTo>
                    <a:lnTo>
                      <a:pt x="5" y="0"/>
                    </a:lnTo>
                    <a:lnTo>
                      <a:pt x="118" y="94"/>
                    </a:lnTo>
                    <a:lnTo>
                      <a:pt x="121" y="110"/>
                    </a:lnTo>
                    <a:lnTo>
                      <a:pt x="118" y="94"/>
                    </a:lnTo>
                    <a:lnTo>
                      <a:pt x="129" y="103"/>
                    </a:lnTo>
                    <a:lnTo>
                      <a:pt x="121" y="110"/>
                    </a:lnTo>
                    <a:lnTo>
                      <a:pt x="111" y="9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88" name="Freeform 157"/>
              <p:cNvSpPr>
                <a:spLocks/>
              </p:cNvSpPr>
              <p:nvPr/>
            </p:nvSpPr>
            <p:spPr bwMode="auto">
              <a:xfrm>
                <a:off x="3987" y="1788"/>
                <a:ext cx="80" cy="90"/>
              </a:xfrm>
              <a:custGeom>
                <a:avLst/>
                <a:gdLst>
                  <a:gd name="T0" fmla="*/ 15 w 80"/>
                  <a:gd name="T1" fmla="*/ 71 h 90"/>
                  <a:gd name="T2" fmla="*/ 1 w 80"/>
                  <a:gd name="T3" fmla="*/ 65 h 90"/>
                  <a:gd name="T4" fmla="*/ 71 w 80"/>
                  <a:gd name="T5" fmla="*/ 0 h 90"/>
                  <a:gd name="T6" fmla="*/ 80 w 80"/>
                  <a:gd name="T7" fmla="*/ 17 h 90"/>
                  <a:gd name="T8" fmla="*/ 13 w 80"/>
                  <a:gd name="T9" fmla="*/ 82 h 90"/>
                  <a:gd name="T10" fmla="*/ 0 w 80"/>
                  <a:gd name="T11" fmla="*/ 75 h 90"/>
                  <a:gd name="T12" fmla="*/ 13 w 80"/>
                  <a:gd name="T13" fmla="*/ 82 h 90"/>
                  <a:gd name="T14" fmla="*/ 5 w 80"/>
                  <a:gd name="T15" fmla="*/ 90 h 90"/>
                  <a:gd name="T16" fmla="*/ 0 w 80"/>
                  <a:gd name="T17" fmla="*/ 75 h 90"/>
                  <a:gd name="T18" fmla="*/ 15 w 80"/>
                  <a:gd name="T19" fmla="*/ 71 h 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0"/>
                  <a:gd name="T31" fmla="*/ 0 h 90"/>
                  <a:gd name="T32" fmla="*/ 80 w 80"/>
                  <a:gd name="T33" fmla="*/ 90 h 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0" h="90">
                    <a:moveTo>
                      <a:pt x="15" y="71"/>
                    </a:moveTo>
                    <a:lnTo>
                      <a:pt x="1" y="65"/>
                    </a:lnTo>
                    <a:lnTo>
                      <a:pt x="71" y="0"/>
                    </a:lnTo>
                    <a:lnTo>
                      <a:pt x="80" y="17"/>
                    </a:lnTo>
                    <a:lnTo>
                      <a:pt x="13" y="82"/>
                    </a:lnTo>
                    <a:lnTo>
                      <a:pt x="0" y="75"/>
                    </a:lnTo>
                    <a:lnTo>
                      <a:pt x="13" y="82"/>
                    </a:lnTo>
                    <a:lnTo>
                      <a:pt x="5" y="90"/>
                    </a:lnTo>
                    <a:lnTo>
                      <a:pt x="0" y="75"/>
                    </a:lnTo>
                    <a:lnTo>
                      <a:pt x="15" y="7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89" name="Freeform 158"/>
              <p:cNvSpPr>
                <a:spLocks/>
              </p:cNvSpPr>
              <p:nvPr/>
            </p:nvSpPr>
            <p:spPr bwMode="auto">
              <a:xfrm>
                <a:off x="3964" y="1726"/>
                <a:ext cx="34" cy="45"/>
              </a:xfrm>
              <a:custGeom>
                <a:avLst/>
                <a:gdLst>
                  <a:gd name="T0" fmla="*/ 12 w 34"/>
                  <a:gd name="T1" fmla="*/ 45 h 45"/>
                  <a:gd name="T2" fmla="*/ 0 w 34"/>
                  <a:gd name="T3" fmla="*/ 26 h 45"/>
                  <a:gd name="T4" fmla="*/ 22 w 34"/>
                  <a:gd name="T5" fmla="*/ 0 h 45"/>
                  <a:gd name="T6" fmla="*/ 34 w 34"/>
                  <a:gd name="T7" fmla="*/ 20 h 45"/>
                  <a:gd name="T8" fmla="*/ 12 w 34"/>
                  <a:gd name="T9" fmla="*/ 45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45"/>
                  <a:gd name="T17" fmla="*/ 34 w 34"/>
                  <a:gd name="T18" fmla="*/ 45 h 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45">
                    <a:moveTo>
                      <a:pt x="12" y="45"/>
                    </a:moveTo>
                    <a:lnTo>
                      <a:pt x="0" y="26"/>
                    </a:lnTo>
                    <a:lnTo>
                      <a:pt x="22" y="0"/>
                    </a:lnTo>
                    <a:lnTo>
                      <a:pt x="34" y="20"/>
                    </a:lnTo>
                    <a:lnTo>
                      <a:pt x="12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90" name="Freeform 159"/>
              <p:cNvSpPr>
                <a:spLocks/>
              </p:cNvSpPr>
              <p:nvPr/>
            </p:nvSpPr>
            <p:spPr bwMode="auto">
              <a:xfrm>
                <a:off x="3976" y="1746"/>
                <a:ext cx="128" cy="213"/>
              </a:xfrm>
              <a:custGeom>
                <a:avLst/>
                <a:gdLst>
                  <a:gd name="T0" fmla="*/ 98 w 128"/>
                  <a:gd name="T1" fmla="*/ 213 h 213"/>
                  <a:gd name="T2" fmla="*/ 98 w 128"/>
                  <a:gd name="T3" fmla="*/ 213 h 213"/>
                  <a:gd name="T4" fmla="*/ 87 w 128"/>
                  <a:gd name="T5" fmla="*/ 185 h 213"/>
                  <a:gd name="T6" fmla="*/ 77 w 128"/>
                  <a:gd name="T7" fmla="*/ 160 h 213"/>
                  <a:gd name="T8" fmla="*/ 65 w 128"/>
                  <a:gd name="T9" fmla="*/ 137 h 213"/>
                  <a:gd name="T10" fmla="*/ 53 w 128"/>
                  <a:gd name="T11" fmla="*/ 112 h 213"/>
                  <a:gd name="T12" fmla="*/ 41 w 128"/>
                  <a:gd name="T13" fmla="*/ 89 h 213"/>
                  <a:gd name="T14" fmla="*/ 29 w 128"/>
                  <a:gd name="T15" fmla="*/ 69 h 213"/>
                  <a:gd name="T16" fmla="*/ 16 w 128"/>
                  <a:gd name="T17" fmla="*/ 45 h 213"/>
                  <a:gd name="T18" fmla="*/ 0 w 128"/>
                  <a:gd name="T19" fmla="*/ 24 h 213"/>
                  <a:gd name="T20" fmla="*/ 23 w 128"/>
                  <a:gd name="T21" fmla="*/ 0 h 213"/>
                  <a:gd name="T22" fmla="*/ 39 w 128"/>
                  <a:gd name="T23" fmla="*/ 23 h 213"/>
                  <a:gd name="T24" fmla="*/ 54 w 128"/>
                  <a:gd name="T25" fmla="*/ 47 h 213"/>
                  <a:gd name="T26" fmla="*/ 68 w 128"/>
                  <a:gd name="T27" fmla="*/ 70 h 213"/>
                  <a:gd name="T28" fmla="*/ 80 w 128"/>
                  <a:gd name="T29" fmla="*/ 95 h 213"/>
                  <a:gd name="T30" fmla="*/ 93 w 128"/>
                  <a:gd name="T31" fmla="*/ 120 h 213"/>
                  <a:gd name="T32" fmla="*/ 105 w 128"/>
                  <a:gd name="T33" fmla="*/ 146 h 213"/>
                  <a:gd name="T34" fmla="*/ 117 w 128"/>
                  <a:gd name="T35" fmla="*/ 173 h 213"/>
                  <a:gd name="T36" fmla="*/ 128 w 128"/>
                  <a:gd name="T37" fmla="*/ 200 h 213"/>
                  <a:gd name="T38" fmla="*/ 98 w 128"/>
                  <a:gd name="T39" fmla="*/ 213 h 21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8"/>
                  <a:gd name="T61" fmla="*/ 0 h 213"/>
                  <a:gd name="T62" fmla="*/ 128 w 128"/>
                  <a:gd name="T63" fmla="*/ 213 h 21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8" h="213">
                    <a:moveTo>
                      <a:pt x="98" y="213"/>
                    </a:moveTo>
                    <a:lnTo>
                      <a:pt x="98" y="213"/>
                    </a:lnTo>
                    <a:lnTo>
                      <a:pt x="87" y="185"/>
                    </a:lnTo>
                    <a:lnTo>
                      <a:pt x="77" y="160"/>
                    </a:lnTo>
                    <a:lnTo>
                      <a:pt x="65" y="137"/>
                    </a:lnTo>
                    <a:lnTo>
                      <a:pt x="53" y="112"/>
                    </a:lnTo>
                    <a:lnTo>
                      <a:pt x="41" y="89"/>
                    </a:lnTo>
                    <a:lnTo>
                      <a:pt x="29" y="69"/>
                    </a:lnTo>
                    <a:lnTo>
                      <a:pt x="16" y="45"/>
                    </a:lnTo>
                    <a:lnTo>
                      <a:pt x="0" y="24"/>
                    </a:lnTo>
                    <a:lnTo>
                      <a:pt x="23" y="0"/>
                    </a:lnTo>
                    <a:lnTo>
                      <a:pt x="39" y="23"/>
                    </a:lnTo>
                    <a:lnTo>
                      <a:pt x="54" y="47"/>
                    </a:lnTo>
                    <a:lnTo>
                      <a:pt x="68" y="70"/>
                    </a:lnTo>
                    <a:lnTo>
                      <a:pt x="80" y="95"/>
                    </a:lnTo>
                    <a:lnTo>
                      <a:pt x="93" y="120"/>
                    </a:lnTo>
                    <a:lnTo>
                      <a:pt x="105" y="146"/>
                    </a:lnTo>
                    <a:lnTo>
                      <a:pt x="117" y="173"/>
                    </a:lnTo>
                    <a:lnTo>
                      <a:pt x="128" y="200"/>
                    </a:lnTo>
                    <a:lnTo>
                      <a:pt x="98" y="2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91" name="Freeform 160"/>
              <p:cNvSpPr>
                <a:spLocks/>
              </p:cNvSpPr>
              <p:nvPr/>
            </p:nvSpPr>
            <p:spPr bwMode="auto">
              <a:xfrm>
                <a:off x="4079" y="1950"/>
                <a:ext cx="88" cy="204"/>
              </a:xfrm>
              <a:custGeom>
                <a:avLst/>
                <a:gdLst>
                  <a:gd name="T0" fmla="*/ 56 w 88"/>
                  <a:gd name="T1" fmla="*/ 204 h 204"/>
                  <a:gd name="T2" fmla="*/ 50 w 88"/>
                  <a:gd name="T3" fmla="*/ 180 h 204"/>
                  <a:gd name="T4" fmla="*/ 46 w 88"/>
                  <a:gd name="T5" fmla="*/ 156 h 204"/>
                  <a:gd name="T6" fmla="*/ 40 w 88"/>
                  <a:gd name="T7" fmla="*/ 131 h 204"/>
                  <a:gd name="T8" fmla="*/ 33 w 88"/>
                  <a:gd name="T9" fmla="*/ 107 h 204"/>
                  <a:gd name="T10" fmla="*/ 27 w 88"/>
                  <a:gd name="T11" fmla="*/ 84 h 204"/>
                  <a:gd name="T12" fmla="*/ 18 w 88"/>
                  <a:gd name="T13" fmla="*/ 60 h 204"/>
                  <a:gd name="T14" fmla="*/ 10 w 88"/>
                  <a:gd name="T15" fmla="*/ 36 h 204"/>
                  <a:gd name="T16" fmla="*/ 0 w 88"/>
                  <a:gd name="T17" fmla="*/ 10 h 204"/>
                  <a:gd name="T18" fmla="*/ 30 w 88"/>
                  <a:gd name="T19" fmla="*/ 0 h 204"/>
                  <a:gd name="T20" fmla="*/ 40 w 88"/>
                  <a:gd name="T21" fmla="*/ 24 h 204"/>
                  <a:gd name="T22" fmla="*/ 48 w 88"/>
                  <a:gd name="T23" fmla="*/ 49 h 204"/>
                  <a:gd name="T24" fmla="*/ 57 w 88"/>
                  <a:gd name="T25" fmla="*/ 74 h 204"/>
                  <a:gd name="T26" fmla="*/ 64 w 88"/>
                  <a:gd name="T27" fmla="*/ 101 h 204"/>
                  <a:gd name="T28" fmla="*/ 71 w 88"/>
                  <a:gd name="T29" fmla="*/ 126 h 204"/>
                  <a:gd name="T30" fmla="*/ 78 w 88"/>
                  <a:gd name="T31" fmla="*/ 152 h 204"/>
                  <a:gd name="T32" fmla="*/ 84 w 88"/>
                  <a:gd name="T33" fmla="*/ 178 h 204"/>
                  <a:gd name="T34" fmla="*/ 88 w 88"/>
                  <a:gd name="T35" fmla="*/ 203 h 204"/>
                  <a:gd name="T36" fmla="*/ 56 w 88"/>
                  <a:gd name="T37" fmla="*/ 204 h 2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8"/>
                  <a:gd name="T58" fmla="*/ 0 h 204"/>
                  <a:gd name="T59" fmla="*/ 88 w 88"/>
                  <a:gd name="T60" fmla="*/ 204 h 20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8" h="204">
                    <a:moveTo>
                      <a:pt x="56" y="204"/>
                    </a:moveTo>
                    <a:lnTo>
                      <a:pt x="50" y="180"/>
                    </a:lnTo>
                    <a:lnTo>
                      <a:pt x="46" y="156"/>
                    </a:lnTo>
                    <a:lnTo>
                      <a:pt x="40" y="131"/>
                    </a:lnTo>
                    <a:lnTo>
                      <a:pt x="33" y="107"/>
                    </a:lnTo>
                    <a:lnTo>
                      <a:pt x="27" y="84"/>
                    </a:lnTo>
                    <a:lnTo>
                      <a:pt x="18" y="60"/>
                    </a:lnTo>
                    <a:lnTo>
                      <a:pt x="10" y="36"/>
                    </a:lnTo>
                    <a:lnTo>
                      <a:pt x="0" y="10"/>
                    </a:lnTo>
                    <a:lnTo>
                      <a:pt x="30" y="0"/>
                    </a:lnTo>
                    <a:lnTo>
                      <a:pt x="40" y="24"/>
                    </a:lnTo>
                    <a:lnTo>
                      <a:pt x="48" y="49"/>
                    </a:lnTo>
                    <a:lnTo>
                      <a:pt x="57" y="74"/>
                    </a:lnTo>
                    <a:lnTo>
                      <a:pt x="64" y="101"/>
                    </a:lnTo>
                    <a:lnTo>
                      <a:pt x="71" y="126"/>
                    </a:lnTo>
                    <a:lnTo>
                      <a:pt x="78" y="152"/>
                    </a:lnTo>
                    <a:lnTo>
                      <a:pt x="84" y="178"/>
                    </a:lnTo>
                    <a:lnTo>
                      <a:pt x="88" y="203"/>
                    </a:lnTo>
                    <a:lnTo>
                      <a:pt x="56" y="20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92" name="Freeform 161"/>
              <p:cNvSpPr>
                <a:spLocks/>
              </p:cNvSpPr>
              <p:nvPr/>
            </p:nvSpPr>
            <p:spPr bwMode="auto">
              <a:xfrm>
                <a:off x="4139" y="2154"/>
                <a:ext cx="34" cy="22"/>
              </a:xfrm>
              <a:custGeom>
                <a:avLst/>
                <a:gdLst>
                  <a:gd name="T0" fmla="*/ 30 w 34"/>
                  <a:gd name="T1" fmla="*/ 0 h 22"/>
                  <a:gd name="T2" fmla="*/ 34 w 34"/>
                  <a:gd name="T3" fmla="*/ 21 h 22"/>
                  <a:gd name="T4" fmla="*/ 4 w 34"/>
                  <a:gd name="T5" fmla="*/ 22 h 22"/>
                  <a:gd name="T6" fmla="*/ 0 w 34"/>
                  <a:gd name="T7" fmla="*/ 1 h 22"/>
                  <a:gd name="T8" fmla="*/ 30 w 34"/>
                  <a:gd name="T9" fmla="*/ 0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22"/>
                  <a:gd name="T17" fmla="*/ 34 w 34"/>
                  <a:gd name="T18" fmla="*/ 22 h 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22">
                    <a:moveTo>
                      <a:pt x="30" y="0"/>
                    </a:moveTo>
                    <a:lnTo>
                      <a:pt x="34" y="21"/>
                    </a:lnTo>
                    <a:lnTo>
                      <a:pt x="4" y="22"/>
                    </a:lnTo>
                    <a:lnTo>
                      <a:pt x="0" y="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93" name="Freeform 162"/>
              <p:cNvSpPr>
                <a:spLocks/>
              </p:cNvSpPr>
              <p:nvPr/>
            </p:nvSpPr>
            <p:spPr bwMode="auto">
              <a:xfrm>
                <a:off x="3949" y="1703"/>
                <a:ext cx="114" cy="160"/>
              </a:xfrm>
              <a:custGeom>
                <a:avLst/>
                <a:gdLst>
                  <a:gd name="T0" fmla="*/ 45 w 114"/>
                  <a:gd name="T1" fmla="*/ 160 h 160"/>
                  <a:gd name="T2" fmla="*/ 0 w 114"/>
                  <a:gd name="T3" fmla="*/ 0 h 160"/>
                  <a:gd name="T4" fmla="*/ 114 w 114"/>
                  <a:gd name="T5" fmla="*/ 94 h 160"/>
                  <a:gd name="T6" fmla="*/ 45 w 114"/>
                  <a:gd name="T7" fmla="*/ 160 h 1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4"/>
                  <a:gd name="T13" fmla="*/ 0 h 160"/>
                  <a:gd name="T14" fmla="*/ 114 w 114"/>
                  <a:gd name="T15" fmla="*/ 160 h 1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4" h="160">
                    <a:moveTo>
                      <a:pt x="45" y="160"/>
                    </a:moveTo>
                    <a:lnTo>
                      <a:pt x="0" y="0"/>
                    </a:lnTo>
                    <a:lnTo>
                      <a:pt x="114" y="94"/>
                    </a:lnTo>
                    <a:lnTo>
                      <a:pt x="45" y="16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94" name="Freeform 163"/>
              <p:cNvSpPr>
                <a:spLocks/>
              </p:cNvSpPr>
              <p:nvPr/>
            </p:nvSpPr>
            <p:spPr bwMode="auto">
              <a:xfrm>
                <a:off x="3938" y="1688"/>
                <a:ext cx="59" cy="174"/>
              </a:xfrm>
              <a:custGeom>
                <a:avLst/>
                <a:gdLst>
                  <a:gd name="T0" fmla="*/ 7 w 59"/>
                  <a:gd name="T1" fmla="*/ 18 h 174"/>
                  <a:gd name="T2" fmla="*/ 13 w 59"/>
                  <a:gd name="T3" fmla="*/ 10 h 174"/>
                  <a:gd name="T4" fmla="*/ 59 w 59"/>
                  <a:gd name="T5" fmla="*/ 172 h 174"/>
                  <a:gd name="T6" fmla="*/ 50 w 59"/>
                  <a:gd name="T7" fmla="*/ 174 h 174"/>
                  <a:gd name="T8" fmla="*/ 4 w 59"/>
                  <a:gd name="T9" fmla="*/ 15 h 174"/>
                  <a:gd name="T10" fmla="*/ 11 w 59"/>
                  <a:gd name="T11" fmla="*/ 8 h 174"/>
                  <a:gd name="T12" fmla="*/ 4 w 59"/>
                  <a:gd name="T13" fmla="*/ 15 h 174"/>
                  <a:gd name="T14" fmla="*/ 0 w 59"/>
                  <a:gd name="T15" fmla="*/ 0 h 174"/>
                  <a:gd name="T16" fmla="*/ 11 w 59"/>
                  <a:gd name="T17" fmla="*/ 8 h 174"/>
                  <a:gd name="T18" fmla="*/ 7 w 59"/>
                  <a:gd name="T19" fmla="*/ 18 h 17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9"/>
                  <a:gd name="T31" fmla="*/ 0 h 174"/>
                  <a:gd name="T32" fmla="*/ 59 w 59"/>
                  <a:gd name="T33" fmla="*/ 174 h 17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" h="174">
                    <a:moveTo>
                      <a:pt x="7" y="18"/>
                    </a:moveTo>
                    <a:lnTo>
                      <a:pt x="13" y="10"/>
                    </a:lnTo>
                    <a:lnTo>
                      <a:pt x="59" y="172"/>
                    </a:lnTo>
                    <a:lnTo>
                      <a:pt x="50" y="174"/>
                    </a:lnTo>
                    <a:lnTo>
                      <a:pt x="4" y="15"/>
                    </a:lnTo>
                    <a:lnTo>
                      <a:pt x="11" y="8"/>
                    </a:lnTo>
                    <a:lnTo>
                      <a:pt x="4" y="15"/>
                    </a:lnTo>
                    <a:lnTo>
                      <a:pt x="0" y="0"/>
                    </a:lnTo>
                    <a:lnTo>
                      <a:pt x="11" y="8"/>
                    </a:lnTo>
                    <a:lnTo>
                      <a:pt x="7" y="18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95" name="Freeform 164"/>
              <p:cNvSpPr>
                <a:spLocks/>
              </p:cNvSpPr>
              <p:nvPr/>
            </p:nvSpPr>
            <p:spPr bwMode="auto">
              <a:xfrm>
                <a:off x="3945" y="1697"/>
                <a:ext cx="125" cy="103"/>
              </a:xfrm>
              <a:custGeom>
                <a:avLst/>
                <a:gdLst>
                  <a:gd name="T0" fmla="*/ 113 w 125"/>
                  <a:gd name="T1" fmla="*/ 92 h 103"/>
                  <a:gd name="T2" fmla="*/ 115 w 125"/>
                  <a:gd name="T3" fmla="*/ 103 h 103"/>
                  <a:gd name="T4" fmla="*/ 0 w 125"/>
                  <a:gd name="T5" fmla="*/ 9 h 103"/>
                  <a:gd name="T6" fmla="*/ 3 w 125"/>
                  <a:gd name="T7" fmla="*/ 0 h 103"/>
                  <a:gd name="T8" fmla="*/ 118 w 125"/>
                  <a:gd name="T9" fmla="*/ 94 h 103"/>
                  <a:gd name="T10" fmla="*/ 120 w 125"/>
                  <a:gd name="T11" fmla="*/ 103 h 103"/>
                  <a:gd name="T12" fmla="*/ 118 w 125"/>
                  <a:gd name="T13" fmla="*/ 94 h 103"/>
                  <a:gd name="T14" fmla="*/ 125 w 125"/>
                  <a:gd name="T15" fmla="*/ 99 h 103"/>
                  <a:gd name="T16" fmla="*/ 120 w 125"/>
                  <a:gd name="T17" fmla="*/ 103 h 103"/>
                  <a:gd name="T18" fmla="*/ 113 w 125"/>
                  <a:gd name="T19" fmla="*/ 92 h 10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5"/>
                  <a:gd name="T31" fmla="*/ 0 h 103"/>
                  <a:gd name="T32" fmla="*/ 125 w 125"/>
                  <a:gd name="T33" fmla="*/ 103 h 10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5" h="103">
                    <a:moveTo>
                      <a:pt x="113" y="92"/>
                    </a:moveTo>
                    <a:lnTo>
                      <a:pt x="115" y="103"/>
                    </a:lnTo>
                    <a:lnTo>
                      <a:pt x="0" y="9"/>
                    </a:lnTo>
                    <a:lnTo>
                      <a:pt x="3" y="0"/>
                    </a:lnTo>
                    <a:lnTo>
                      <a:pt x="118" y="94"/>
                    </a:lnTo>
                    <a:lnTo>
                      <a:pt x="120" y="103"/>
                    </a:lnTo>
                    <a:lnTo>
                      <a:pt x="118" y="94"/>
                    </a:lnTo>
                    <a:lnTo>
                      <a:pt x="125" y="99"/>
                    </a:lnTo>
                    <a:lnTo>
                      <a:pt x="120" y="103"/>
                    </a:lnTo>
                    <a:lnTo>
                      <a:pt x="113" y="92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96" name="Freeform 165"/>
              <p:cNvSpPr>
                <a:spLocks/>
              </p:cNvSpPr>
              <p:nvPr/>
            </p:nvSpPr>
            <p:spPr bwMode="auto">
              <a:xfrm>
                <a:off x="3991" y="1790"/>
                <a:ext cx="75" cy="82"/>
              </a:xfrm>
              <a:custGeom>
                <a:avLst/>
                <a:gdLst>
                  <a:gd name="T0" fmla="*/ 8 w 75"/>
                  <a:gd name="T1" fmla="*/ 70 h 82"/>
                  <a:gd name="T2" fmla="*/ 1 w 75"/>
                  <a:gd name="T3" fmla="*/ 67 h 82"/>
                  <a:gd name="T4" fmla="*/ 69 w 75"/>
                  <a:gd name="T5" fmla="*/ 0 h 82"/>
                  <a:gd name="T6" fmla="*/ 75 w 75"/>
                  <a:gd name="T7" fmla="*/ 11 h 82"/>
                  <a:gd name="T8" fmla="*/ 8 w 75"/>
                  <a:gd name="T9" fmla="*/ 77 h 82"/>
                  <a:gd name="T10" fmla="*/ 0 w 75"/>
                  <a:gd name="T11" fmla="*/ 73 h 82"/>
                  <a:gd name="T12" fmla="*/ 8 w 75"/>
                  <a:gd name="T13" fmla="*/ 77 h 82"/>
                  <a:gd name="T14" fmla="*/ 2 w 75"/>
                  <a:gd name="T15" fmla="*/ 82 h 82"/>
                  <a:gd name="T16" fmla="*/ 0 w 75"/>
                  <a:gd name="T17" fmla="*/ 73 h 82"/>
                  <a:gd name="T18" fmla="*/ 8 w 75"/>
                  <a:gd name="T19" fmla="*/ 70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5"/>
                  <a:gd name="T31" fmla="*/ 0 h 82"/>
                  <a:gd name="T32" fmla="*/ 75 w 75"/>
                  <a:gd name="T33" fmla="*/ 82 h 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5" h="82">
                    <a:moveTo>
                      <a:pt x="8" y="70"/>
                    </a:moveTo>
                    <a:lnTo>
                      <a:pt x="1" y="67"/>
                    </a:lnTo>
                    <a:lnTo>
                      <a:pt x="69" y="0"/>
                    </a:lnTo>
                    <a:lnTo>
                      <a:pt x="75" y="11"/>
                    </a:lnTo>
                    <a:lnTo>
                      <a:pt x="8" y="77"/>
                    </a:lnTo>
                    <a:lnTo>
                      <a:pt x="0" y="73"/>
                    </a:lnTo>
                    <a:lnTo>
                      <a:pt x="8" y="77"/>
                    </a:lnTo>
                    <a:lnTo>
                      <a:pt x="2" y="82"/>
                    </a:lnTo>
                    <a:lnTo>
                      <a:pt x="0" y="73"/>
                    </a:lnTo>
                    <a:lnTo>
                      <a:pt x="8" y="7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97" name="Freeform 166"/>
              <p:cNvSpPr>
                <a:spLocks/>
              </p:cNvSpPr>
              <p:nvPr/>
            </p:nvSpPr>
            <p:spPr bwMode="auto">
              <a:xfrm>
                <a:off x="3967" y="1732"/>
                <a:ext cx="30" cy="36"/>
              </a:xfrm>
              <a:custGeom>
                <a:avLst/>
                <a:gdLst>
                  <a:gd name="T0" fmla="*/ 11 w 30"/>
                  <a:gd name="T1" fmla="*/ 36 h 36"/>
                  <a:gd name="T2" fmla="*/ 0 w 30"/>
                  <a:gd name="T3" fmla="*/ 21 h 36"/>
                  <a:gd name="T4" fmla="*/ 20 w 30"/>
                  <a:gd name="T5" fmla="*/ 0 h 36"/>
                  <a:gd name="T6" fmla="*/ 30 w 30"/>
                  <a:gd name="T7" fmla="*/ 15 h 36"/>
                  <a:gd name="T8" fmla="*/ 11 w 30"/>
                  <a:gd name="T9" fmla="*/ 36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6"/>
                  <a:gd name="T17" fmla="*/ 30 w 3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6">
                    <a:moveTo>
                      <a:pt x="11" y="36"/>
                    </a:moveTo>
                    <a:lnTo>
                      <a:pt x="0" y="21"/>
                    </a:lnTo>
                    <a:lnTo>
                      <a:pt x="20" y="0"/>
                    </a:lnTo>
                    <a:lnTo>
                      <a:pt x="30" y="15"/>
                    </a:lnTo>
                    <a:lnTo>
                      <a:pt x="11" y="36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98" name="Freeform 167"/>
              <p:cNvSpPr>
                <a:spLocks/>
              </p:cNvSpPr>
              <p:nvPr/>
            </p:nvSpPr>
            <p:spPr bwMode="auto">
              <a:xfrm>
                <a:off x="3981" y="1748"/>
                <a:ext cx="123" cy="211"/>
              </a:xfrm>
              <a:custGeom>
                <a:avLst/>
                <a:gdLst>
                  <a:gd name="T0" fmla="*/ 98 w 123"/>
                  <a:gd name="T1" fmla="*/ 211 h 211"/>
                  <a:gd name="T2" fmla="*/ 98 w 123"/>
                  <a:gd name="T3" fmla="*/ 211 h 211"/>
                  <a:gd name="T4" fmla="*/ 88 w 123"/>
                  <a:gd name="T5" fmla="*/ 183 h 211"/>
                  <a:gd name="T6" fmla="*/ 77 w 123"/>
                  <a:gd name="T7" fmla="*/ 158 h 211"/>
                  <a:gd name="T8" fmla="*/ 65 w 123"/>
                  <a:gd name="T9" fmla="*/ 133 h 211"/>
                  <a:gd name="T10" fmla="*/ 53 w 123"/>
                  <a:gd name="T11" fmla="*/ 110 h 211"/>
                  <a:gd name="T12" fmla="*/ 41 w 123"/>
                  <a:gd name="T13" fmla="*/ 87 h 211"/>
                  <a:gd name="T14" fmla="*/ 29 w 123"/>
                  <a:gd name="T15" fmla="*/ 65 h 211"/>
                  <a:gd name="T16" fmla="*/ 15 w 123"/>
                  <a:gd name="T17" fmla="*/ 42 h 211"/>
                  <a:gd name="T18" fmla="*/ 0 w 123"/>
                  <a:gd name="T19" fmla="*/ 20 h 211"/>
                  <a:gd name="T20" fmla="*/ 18 w 123"/>
                  <a:gd name="T21" fmla="*/ 0 h 211"/>
                  <a:gd name="T22" fmla="*/ 34 w 123"/>
                  <a:gd name="T23" fmla="*/ 23 h 211"/>
                  <a:gd name="T24" fmla="*/ 49 w 123"/>
                  <a:gd name="T25" fmla="*/ 47 h 211"/>
                  <a:gd name="T26" fmla="*/ 63 w 123"/>
                  <a:gd name="T27" fmla="*/ 71 h 211"/>
                  <a:gd name="T28" fmla="*/ 75 w 123"/>
                  <a:gd name="T29" fmla="*/ 96 h 211"/>
                  <a:gd name="T30" fmla="*/ 88 w 123"/>
                  <a:gd name="T31" fmla="*/ 120 h 211"/>
                  <a:gd name="T32" fmla="*/ 100 w 123"/>
                  <a:gd name="T33" fmla="*/ 146 h 211"/>
                  <a:gd name="T34" fmla="*/ 112 w 123"/>
                  <a:gd name="T35" fmla="*/ 173 h 211"/>
                  <a:gd name="T36" fmla="*/ 123 w 123"/>
                  <a:gd name="T37" fmla="*/ 200 h 211"/>
                  <a:gd name="T38" fmla="*/ 98 w 123"/>
                  <a:gd name="T39" fmla="*/ 211 h 21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3"/>
                  <a:gd name="T61" fmla="*/ 0 h 211"/>
                  <a:gd name="T62" fmla="*/ 123 w 123"/>
                  <a:gd name="T63" fmla="*/ 211 h 21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3" h="211">
                    <a:moveTo>
                      <a:pt x="98" y="211"/>
                    </a:moveTo>
                    <a:lnTo>
                      <a:pt x="98" y="211"/>
                    </a:lnTo>
                    <a:lnTo>
                      <a:pt x="88" y="183"/>
                    </a:lnTo>
                    <a:lnTo>
                      <a:pt x="77" y="158"/>
                    </a:lnTo>
                    <a:lnTo>
                      <a:pt x="65" y="133"/>
                    </a:lnTo>
                    <a:lnTo>
                      <a:pt x="53" y="110"/>
                    </a:lnTo>
                    <a:lnTo>
                      <a:pt x="41" y="87"/>
                    </a:lnTo>
                    <a:lnTo>
                      <a:pt x="29" y="65"/>
                    </a:lnTo>
                    <a:lnTo>
                      <a:pt x="15" y="42"/>
                    </a:lnTo>
                    <a:lnTo>
                      <a:pt x="0" y="20"/>
                    </a:lnTo>
                    <a:lnTo>
                      <a:pt x="18" y="0"/>
                    </a:lnTo>
                    <a:lnTo>
                      <a:pt x="34" y="23"/>
                    </a:lnTo>
                    <a:lnTo>
                      <a:pt x="49" y="47"/>
                    </a:lnTo>
                    <a:lnTo>
                      <a:pt x="63" y="71"/>
                    </a:lnTo>
                    <a:lnTo>
                      <a:pt x="75" y="96"/>
                    </a:lnTo>
                    <a:lnTo>
                      <a:pt x="88" y="120"/>
                    </a:lnTo>
                    <a:lnTo>
                      <a:pt x="100" y="146"/>
                    </a:lnTo>
                    <a:lnTo>
                      <a:pt x="112" y="173"/>
                    </a:lnTo>
                    <a:lnTo>
                      <a:pt x="123" y="200"/>
                    </a:lnTo>
                    <a:lnTo>
                      <a:pt x="98" y="211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99" name="Freeform 168"/>
              <p:cNvSpPr>
                <a:spLocks/>
              </p:cNvSpPr>
              <p:nvPr/>
            </p:nvSpPr>
            <p:spPr bwMode="auto">
              <a:xfrm>
                <a:off x="4084" y="1951"/>
                <a:ext cx="81" cy="203"/>
              </a:xfrm>
              <a:custGeom>
                <a:avLst/>
                <a:gdLst>
                  <a:gd name="T0" fmla="*/ 55 w 81"/>
                  <a:gd name="T1" fmla="*/ 203 h 203"/>
                  <a:gd name="T2" fmla="*/ 51 w 81"/>
                  <a:gd name="T3" fmla="*/ 179 h 203"/>
                  <a:gd name="T4" fmla="*/ 44 w 81"/>
                  <a:gd name="T5" fmla="*/ 155 h 203"/>
                  <a:gd name="T6" fmla="*/ 39 w 81"/>
                  <a:gd name="T7" fmla="*/ 130 h 203"/>
                  <a:gd name="T8" fmla="*/ 33 w 81"/>
                  <a:gd name="T9" fmla="*/ 106 h 203"/>
                  <a:gd name="T10" fmla="*/ 25 w 81"/>
                  <a:gd name="T11" fmla="*/ 83 h 203"/>
                  <a:gd name="T12" fmla="*/ 18 w 81"/>
                  <a:gd name="T13" fmla="*/ 58 h 203"/>
                  <a:gd name="T14" fmla="*/ 9 w 81"/>
                  <a:gd name="T15" fmla="*/ 34 h 203"/>
                  <a:gd name="T16" fmla="*/ 0 w 81"/>
                  <a:gd name="T17" fmla="*/ 8 h 203"/>
                  <a:gd name="T18" fmla="*/ 23 w 81"/>
                  <a:gd name="T19" fmla="*/ 0 h 203"/>
                  <a:gd name="T20" fmla="*/ 33 w 81"/>
                  <a:gd name="T21" fmla="*/ 24 h 203"/>
                  <a:gd name="T22" fmla="*/ 41 w 81"/>
                  <a:gd name="T23" fmla="*/ 49 h 203"/>
                  <a:gd name="T24" fmla="*/ 51 w 81"/>
                  <a:gd name="T25" fmla="*/ 75 h 203"/>
                  <a:gd name="T26" fmla="*/ 58 w 81"/>
                  <a:gd name="T27" fmla="*/ 100 h 203"/>
                  <a:gd name="T28" fmla="*/ 65 w 81"/>
                  <a:gd name="T29" fmla="*/ 126 h 203"/>
                  <a:gd name="T30" fmla="*/ 70 w 81"/>
                  <a:gd name="T31" fmla="*/ 152 h 203"/>
                  <a:gd name="T32" fmla="*/ 76 w 81"/>
                  <a:gd name="T33" fmla="*/ 177 h 203"/>
                  <a:gd name="T34" fmla="*/ 81 w 81"/>
                  <a:gd name="T35" fmla="*/ 203 h 203"/>
                  <a:gd name="T36" fmla="*/ 55 w 81"/>
                  <a:gd name="T37" fmla="*/ 203 h 2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1"/>
                  <a:gd name="T58" fmla="*/ 0 h 203"/>
                  <a:gd name="T59" fmla="*/ 81 w 81"/>
                  <a:gd name="T60" fmla="*/ 203 h 2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1" h="203">
                    <a:moveTo>
                      <a:pt x="55" y="203"/>
                    </a:moveTo>
                    <a:lnTo>
                      <a:pt x="51" y="179"/>
                    </a:lnTo>
                    <a:lnTo>
                      <a:pt x="44" y="155"/>
                    </a:lnTo>
                    <a:lnTo>
                      <a:pt x="39" y="130"/>
                    </a:lnTo>
                    <a:lnTo>
                      <a:pt x="33" y="106"/>
                    </a:lnTo>
                    <a:lnTo>
                      <a:pt x="25" y="83"/>
                    </a:lnTo>
                    <a:lnTo>
                      <a:pt x="18" y="58"/>
                    </a:lnTo>
                    <a:lnTo>
                      <a:pt x="9" y="34"/>
                    </a:lnTo>
                    <a:lnTo>
                      <a:pt x="0" y="8"/>
                    </a:lnTo>
                    <a:lnTo>
                      <a:pt x="23" y="0"/>
                    </a:lnTo>
                    <a:lnTo>
                      <a:pt x="33" y="24"/>
                    </a:lnTo>
                    <a:lnTo>
                      <a:pt x="41" y="49"/>
                    </a:lnTo>
                    <a:lnTo>
                      <a:pt x="51" y="75"/>
                    </a:lnTo>
                    <a:lnTo>
                      <a:pt x="58" y="100"/>
                    </a:lnTo>
                    <a:lnTo>
                      <a:pt x="65" y="126"/>
                    </a:lnTo>
                    <a:lnTo>
                      <a:pt x="70" y="152"/>
                    </a:lnTo>
                    <a:lnTo>
                      <a:pt x="76" y="177"/>
                    </a:lnTo>
                    <a:lnTo>
                      <a:pt x="81" y="203"/>
                    </a:lnTo>
                    <a:lnTo>
                      <a:pt x="55" y="203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00" name="Freeform 169"/>
              <p:cNvSpPr>
                <a:spLocks/>
              </p:cNvSpPr>
              <p:nvPr/>
            </p:nvSpPr>
            <p:spPr bwMode="auto">
              <a:xfrm>
                <a:off x="4140" y="2154"/>
                <a:ext cx="30" cy="18"/>
              </a:xfrm>
              <a:custGeom>
                <a:avLst/>
                <a:gdLst>
                  <a:gd name="T0" fmla="*/ 27 w 30"/>
                  <a:gd name="T1" fmla="*/ 0 h 18"/>
                  <a:gd name="T2" fmla="*/ 30 w 30"/>
                  <a:gd name="T3" fmla="*/ 18 h 18"/>
                  <a:gd name="T4" fmla="*/ 3 w 30"/>
                  <a:gd name="T5" fmla="*/ 18 h 18"/>
                  <a:gd name="T6" fmla="*/ 0 w 30"/>
                  <a:gd name="T7" fmla="*/ 0 h 18"/>
                  <a:gd name="T8" fmla="*/ 27 w 30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18"/>
                  <a:gd name="T17" fmla="*/ 30 w 30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18">
                    <a:moveTo>
                      <a:pt x="27" y="0"/>
                    </a:moveTo>
                    <a:lnTo>
                      <a:pt x="30" y="18"/>
                    </a:lnTo>
                    <a:lnTo>
                      <a:pt x="3" y="18"/>
                    </a:lnTo>
                    <a:lnTo>
                      <a:pt x="0" y="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01" name="Freeform 170"/>
              <p:cNvSpPr>
                <a:spLocks/>
              </p:cNvSpPr>
              <p:nvPr/>
            </p:nvSpPr>
            <p:spPr bwMode="auto">
              <a:xfrm>
                <a:off x="2494" y="1402"/>
                <a:ext cx="158" cy="120"/>
              </a:xfrm>
              <a:custGeom>
                <a:avLst/>
                <a:gdLst>
                  <a:gd name="T0" fmla="*/ 158 w 158"/>
                  <a:gd name="T1" fmla="*/ 69 h 120"/>
                  <a:gd name="T2" fmla="*/ 0 w 158"/>
                  <a:gd name="T3" fmla="*/ 120 h 120"/>
                  <a:gd name="T4" fmla="*/ 102 w 158"/>
                  <a:gd name="T5" fmla="*/ 0 h 120"/>
                  <a:gd name="T6" fmla="*/ 158 w 158"/>
                  <a:gd name="T7" fmla="*/ 69 h 1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8"/>
                  <a:gd name="T13" fmla="*/ 0 h 120"/>
                  <a:gd name="T14" fmla="*/ 158 w 158"/>
                  <a:gd name="T15" fmla="*/ 120 h 1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8" h="120">
                    <a:moveTo>
                      <a:pt x="158" y="69"/>
                    </a:moveTo>
                    <a:lnTo>
                      <a:pt x="0" y="120"/>
                    </a:lnTo>
                    <a:lnTo>
                      <a:pt x="102" y="0"/>
                    </a:lnTo>
                    <a:lnTo>
                      <a:pt x="158" y="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02" name="Freeform 171"/>
              <p:cNvSpPr>
                <a:spLocks/>
              </p:cNvSpPr>
              <p:nvPr/>
            </p:nvSpPr>
            <p:spPr bwMode="auto">
              <a:xfrm>
                <a:off x="2472" y="1465"/>
                <a:ext cx="180" cy="72"/>
              </a:xfrm>
              <a:custGeom>
                <a:avLst/>
                <a:gdLst>
                  <a:gd name="T0" fmla="*/ 31 w 180"/>
                  <a:gd name="T1" fmla="*/ 62 h 72"/>
                  <a:gd name="T2" fmla="*/ 22 w 180"/>
                  <a:gd name="T3" fmla="*/ 51 h 72"/>
                  <a:gd name="T4" fmla="*/ 179 w 180"/>
                  <a:gd name="T5" fmla="*/ 0 h 72"/>
                  <a:gd name="T6" fmla="*/ 180 w 180"/>
                  <a:gd name="T7" fmla="*/ 14 h 72"/>
                  <a:gd name="T8" fmla="*/ 24 w 180"/>
                  <a:gd name="T9" fmla="*/ 66 h 72"/>
                  <a:gd name="T10" fmla="*/ 16 w 180"/>
                  <a:gd name="T11" fmla="*/ 54 h 72"/>
                  <a:gd name="T12" fmla="*/ 24 w 180"/>
                  <a:gd name="T13" fmla="*/ 66 h 72"/>
                  <a:gd name="T14" fmla="*/ 0 w 180"/>
                  <a:gd name="T15" fmla="*/ 72 h 72"/>
                  <a:gd name="T16" fmla="*/ 16 w 180"/>
                  <a:gd name="T17" fmla="*/ 54 h 72"/>
                  <a:gd name="T18" fmla="*/ 31 w 180"/>
                  <a:gd name="T19" fmla="*/ 62 h 7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80"/>
                  <a:gd name="T31" fmla="*/ 0 h 72"/>
                  <a:gd name="T32" fmla="*/ 180 w 180"/>
                  <a:gd name="T33" fmla="*/ 72 h 7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80" h="72">
                    <a:moveTo>
                      <a:pt x="31" y="62"/>
                    </a:moveTo>
                    <a:lnTo>
                      <a:pt x="22" y="51"/>
                    </a:lnTo>
                    <a:lnTo>
                      <a:pt x="179" y="0"/>
                    </a:lnTo>
                    <a:lnTo>
                      <a:pt x="180" y="14"/>
                    </a:lnTo>
                    <a:lnTo>
                      <a:pt x="24" y="66"/>
                    </a:lnTo>
                    <a:lnTo>
                      <a:pt x="16" y="54"/>
                    </a:lnTo>
                    <a:lnTo>
                      <a:pt x="24" y="66"/>
                    </a:lnTo>
                    <a:lnTo>
                      <a:pt x="0" y="72"/>
                    </a:lnTo>
                    <a:lnTo>
                      <a:pt x="16" y="54"/>
                    </a:lnTo>
                    <a:lnTo>
                      <a:pt x="31" y="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03" name="Freeform 172"/>
              <p:cNvSpPr>
                <a:spLocks/>
              </p:cNvSpPr>
              <p:nvPr/>
            </p:nvSpPr>
            <p:spPr bwMode="auto">
              <a:xfrm>
                <a:off x="2487" y="1388"/>
                <a:ext cx="115" cy="137"/>
              </a:xfrm>
              <a:custGeom>
                <a:avLst/>
                <a:gdLst>
                  <a:gd name="T0" fmla="*/ 97 w 115"/>
                  <a:gd name="T1" fmla="*/ 20 h 137"/>
                  <a:gd name="T2" fmla="*/ 114 w 115"/>
                  <a:gd name="T3" fmla="*/ 18 h 137"/>
                  <a:gd name="T4" fmla="*/ 15 w 115"/>
                  <a:gd name="T5" fmla="*/ 137 h 137"/>
                  <a:gd name="T6" fmla="*/ 0 w 115"/>
                  <a:gd name="T7" fmla="*/ 131 h 137"/>
                  <a:gd name="T8" fmla="*/ 99 w 115"/>
                  <a:gd name="T9" fmla="*/ 10 h 137"/>
                  <a:gd name="T10" fmla="*/ 115 w 115"/>
                  <a:gd name="T11" fmla="*/ 8 h 137"/>
                  <a:gd name="T12" fmla="*/ 99 w 115"/>
                  <a:gd name="T13" fmla="*/ 10 h 137"/>
                  <a:gd name="T14" fmla="*/ 109 w 115"/>
                  <a:gd name="T15" fmla="*/ 0 h 137"/>
                  <a:gd name="T16" fmla="*/ 115 w 115"/>
                  <a:gd name="T17" fmla="*/ 8 h 137"/>
                  <a:gd name="T18" fmla="*/ 97 w 115"/>
                  <a:gd name="T19" fmla="*/ 20 h 1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5"/>
                  <a:gd name="T31" fmla="*/ 0 h 137"/>
                  <a:gd name="T32" fmla="*/ 115 w 115"/>
                  <a:gd name="T33" fmla="*/ 137 h 13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5" h="137">
                    <a:moveTo>
                      <a:pt x="97" y="20"/>
                    </a:moveTo>
                    <a:lnTo>
                      <a:pt x="114" y="18"/>
                    </a:lnTo>
                    <a:lnTo>
                      <a:pt x="15" y="137"/>
                    </a:lnTo>
                    <a:lnTo>
                      <a:pt x="0" y="131"/>
                    </a:lnTo>
                    <a:lnTo>
                      <a:pt x="99" y="10"/>
                    </a:lnTo>
                    <a:lnTo>
                      <a:pt x="115" y="8"/>
                    </a:lnTo>
                    <a:lnTo>
                      <a:pt x="99" y="10"/>
                    </a:lnTo>
                    <a:lnTo>
                      <a:pt x="109" y="0"/>
                    </a:lnTo>
                    <a:lnTo>
                      <a:pt x="115" y="8"/>
                    </a:lnTo>
                    <a:lnTo>
                      <a:pt x="97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04" name="Freeform 173"/>
              <p:cNvSpPr>
                <a:spLocks/>
              </p:cNvSpPr>
              <p:nvPr/>
            </p:nvSpPr>
            <p:spPr bwMode="auto">
              <a:xfrm>
                <a:off x="2585" y="1397"/>
                <a:ext cx="80" cy="85"/>
              </a:xfrm>
              <a:custGeom>
                <a:avLst/>
                <a:gdLst>
                  <a:gd name="T0" fmla="*/ 64 w 80"/>
                  <a:gd name="T1" fmla="*/ 70 h 85"/>
                  <a:gd name="T2" fmla="*/ 57 w 80"/>
                  <a:gd name="T3" fmla="*/ 82 h 85"/>
                  <a:gd name="T4" fmla="*/ 0 w 80"/>
                  <a:gd name="T5" fmla="*/ 10 h 85"/>
                  <a:gd name="T6" fmla="*/ 18 w 80"/>
                  <a:gd name="T7" fmla="*/ 0 h 85"/>
                  <a:gd name="T8" fmla="*/ 75 w 80"/>
                  <a:gd name="T9" fmla="*/ 71 h 85"/>
                  <a:gd name="T10" fmla="*/ 66 w 80"/>
                  <a:gd name="T11" fmla="*/ 85 h 85"/>
                  <a:gd name="T12" fmla="*/ 75 w 80"/>
                  <a:gd name="T13" fmla="*/ 71 h 85"/>
                  <a:gd name="T14" fmla="*/ 80 w 80"/>
                  <a:gd name="T15" fmla="*/ 80 h 85"/>
                  <a:gd name="T16" fmla="*/ 66 w 80"/>
                  <a:gd name="T17" fmla="*/ 85 h 85"/>
                  <a:gd name="T18" fmla="*/ 64 w 80"/>
                  <a:gd name="T19" fmla="*/ 70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0"/>
                  <a:gd name="T31" fmla="*/ 0 h 85"/>
                  <a:gd name="T32" fmla="*/ 80 w 80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0" h="85">
                    <a:moveTo>
                      <a:pt x="64" y="70"/>
                    </a:moveTo>
                    <a:lnTo>
                      <a:pt x="57" y="82"/>
                    </a:lnTo>
                    <a:lnTo>
                      <a:pt x="0" y="10"/>
                    </a:lnTo>
                    <a:lnTo>
                      <a:pt x="18" y="0"/>
                    </a:lnTo>
                    <a:lnTo>
                      <a:pt x="75" y="71"/>
                    </a:lnTo>
                    <a:lnTo>
                      <a:pt x="66" y="85"/>
                    </a:lnTo>
                    <a:lnTo>
                      <a:pt x="75" y="71"/>
                    </a:lnTo>
                    <a:lnTo>
                      <a:pt x="80" y="80"/>
                    </a:lnTo>
                    <a:lnTo>
                      <a:pt x="66" y="85"/>
                    </a:lnTo>
                    <a:lnTo>
                      <a:pt x="64" y="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05" name="Freeform 174"/>
              <p:cNvSpPr>
                <a:spLocks/>
              </p:cNvSpPr>
              <p:nvPr/>
            </p:nvSpPr>
            <p:spPr bwMode="auto">
              <a:xfrm>
                <a:off x="2509" y="1475"/>
                <a:ext cx="40" cy="39"/>
              </a:xfrm>
              <a:custGeom>
                <a:avLst/>
                <a:gdLst>
                  <a:gd name="T0" fmla="*/ 40 w 40"/>
                  <a:gd name="T1" fmla="*/ 25 h 39"/>
                  <a:gd name="T2" fmla="*/ 22 w 40"/>
                  <a:gd name="T3" fmla="*/ 39 h 39"/>
                  <a:gd name="T4" fmla="*/ 0 w 40"/>
                  <a:gd name="T5" fmla="*/ 13 h 39"/>
                  <a:gd name="T6" fmla="*/ 19 w 40"/>
                  <a:gd name="T7" fmla="*/ 0 h 39"/>
                  <a:gd name="T8" fmla="*/ 40 w 40"/>
                  <a:gd name="T9" fmla="*/ 25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"/>
                  <a:gd name="T16" fmla="*/ 0 h 39"/>
                  <a:gd name="T17" fmla="*/ 40 w 40"/>
                  <a:gd name="T18" fmla="*/ 39 h 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" h="39">
                    <a:moveTo>
                      <a:pt x="40" y="25"/>
                    </a:moveTo>
                    <a:lnTo>
                      <a:pt x="22" y="39"/>
                    </a:lnTo>
                    <a:lnTo>
                      <a:pt x="0" y="13"/>
                    </a:lnTo>
                    <a:lnTo>
                      <a:pt x="19" y="0"/>
                    </a:lnTo>
                    <a:lnTo>
                      <a:pt x="4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06" name="Freeform 175"/>
              <p:cNvSpPr>
                <a:spLocks/>
              </p:cNvSpPr>
              <p:nvPr/>
            </p:nvSpPr>
            <p:spPr bwMode="auto">
              <a:xfrm>
                <a:off x="2531" y="1359"/>
                <a:ext cx="220" cy="143"/>
              </a:xfrm>
              <a:custGeom>
                <a:avLst/>
                <a:gdLst>
                  <a:gd name="T0" fmla="*/ 220 w 220"/>
                  <a:gd name="T1" fmla="*/ 30 h 143"/>
                  <a:gd name="T2" fmla="*/ 220 w 220"/>
                  <a:gd name="T3" fmla="*/ 30 h 143"/>
                  <a:gd name="T4" fmla="*/ 167 w 220"/>
                  <a:gd name="T5" fmla="*/ 54 h 143"/>
                  <a:gd name="T6" fmla="*/ 115 w 220"/>
                  <a:gd name="T7" fmla="*/ 82 h 143"/>
                  <a:gd name="T8" fmla="*/ 67 w 220"/>
                  <a:gd name="T9" fmla="*/ 111 h 143"/>
                  <a:gd name="T10" fmla="*/ 20 w 220"/>
                  <a:gd name="T11" fmla="*/ 143 h 143"/>
                  <a:gd name="T12" fmla="*/ 0 w 220"/>
                  <a:gd name="T13" fmla="*/ 119 h 143"/>
                  <a:gd name="T14" fmla="*/ 49 w 220"/>
                  <a:gd name="T15" fmla="*/ 85 h 143"/>
                  <a:gd name="T16" fmla="*/ 99 w 220"/>
                  <a:gd name="T17" fmla="*/ 54 h 143"/>
                  <a:gd name="T18" fmla="*/ 154 w 220"/>
                  <a:gd name="T19" fmla="*/ 25 h 143"/>
                  <a:gd name="T20" fmla="*/ 211 w 220"/>
                  <a:gd name="T21" fmla="*/ 0 h 143"/>
                  <a:gd name="T22" fmla="*/ 220 w 220"/>
                  <a:gd name="T23" fmla="*/ 30 h 14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20"/>
                  <a:gd name="T37" fmla="*/ 0 h 143"/>
                  <a:gd name="T38" fmla="*/ 220 w 220"/>
                  <a:gd name="T39" fmla="*/ 143 h 14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20" h="143">
                    <a:moveTo>
                      <a:pt x="220" y="30"/>
                    </a:moveTo>
                    <a:lnTo>
                      <a:pt x="220" y="30"/>
                    </a:lnTo>
                    <a:lnTo>
                      <a:pt x="167" y="54"/>
                    </a:lnTo>
                    <a:lnTo>
                      <a:pt x="115" y="82"/>
                    </a:lnTo>
                    <a:lnTo>
                      <a:pt x="67" y="111"/>
                    </a:lnTo>
                    <a:lnTo>
                      <a:pt x="20" y="143"/>
                    </a:lnTo>
                    <a:lnTo>
                      <a:pt x="0" y="119"/>
                    </a:lnTo>
                    <a:lnTo>
                      <a:pt x="49" y="85"/>
                    </a:lnTo>
                    <a:lnTo>
                      <a:pt x="99" y="54"/>
                    </a:lnTo>
                    <a:lnTo>
                      <a:pt x="154" y="25"/>
                    </a:lnTo>
                    <a:lnTo>
                      <a:pt x="211" y="0"/>
                    </a:lnTo>
                    <a:lnTo>
                      <a:pt x="220" y="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07" name="Freeform 176"/>
              <p:cNvSpPr>
                <a:spLocks/>
              </p:cNvSpPr>
              <p:nvPr/>
            </p:nvSpPr>
            <p:spPr bwMode="auto">
              <a:xfrm>
                <a:off x="2746" y="1297"/>
                <a:ext cx="199" cy="93"/>
              </a:xfrm>
              <a:custGeom>
                <a:avLst/>
                <a:gdLst>
                  <a:gd name="T0" fmla="*/ 197 w 199"/>
                  <a:gd name="T1" fmla="*/ 35 h 93"/>
                  <a:gd name="T2" fmla="*/ 174 w 199"/>
                  <a:gd name="T3" fmla="*/ 39 h 93"/>
                  <a:gd name="T4" fmla="*/ 151 w 199"/>
                  <a:gd name="T5" fmla="*/ 45 h 93"/>
                  <a:gd name="T6" fmla="*/ 128 w 199"/>
                  <a:gd name="T7" fmla="*/ 52 h 93"/>
                  <a:gd name="T8" fmla="*/ 104 w 199"/>
                  <a:gd name="T9" fmla="*/ 59 h 93"/>
                  <a:gd name="T10" fmla="*/ 81 w 199"/>
                  <a:gd name="T11" fmla="*/ 66 h 93"/>
                  <a:gd name="T12" fmla="*/ 57 w 199"/>
                  <a:gd name="T13" fmla="*/ 75 h 93"/>
                  <a:gd name="T14" fmla="*/ 34 w 199"/>
                  <a:gd name="T15" fmla="*/ 84 h 93"/>
                  <a:gd name="T16" fmla="*/ 10 w 199"/>
                  <a:gd name="T17" fmla="*/ 93 h 93"/>
                  <a:gd name="T18" fmla="*/ 0 w 199"/>
                  <a:gd name="T19" fmla="*/ 62 h 93"/>
                  <a:gd name="T20" fmla="*/ 25 w 199"/>
                  <a:gd name="T21" fmla="*/ 52 h 93"/>
                  <a:gd name="T22" fmla="*/ 50 w 199"/>
                  <a:gd name="T23" fmla="*/ 41 h 93"/>
                  <a:gd name="T24" fmla="*/ 75 w 199"/>
                  <a:gd name="T25" fmla="*/ 33 h 93"/>
                  <a:gd name="T26" fmla="*/ 100 w 199"/>
                  <a:gd name="T27" fmla="*/ 24 h 93"/>
                  <a:gd name="T28" fmla="*/ 126 w 199"/>
                  <a:gd name="T29" fmla="*/ 18 h 93"/>
                  <a:gd name="T30" fmla="*/ 149 w 199"/>
                  <a:gd name="T31" fmla="*/ 10 h 93"/>
                  <a:gd name="T32" fmla="*/ 176 w 199"/>
                  <a:gd name="T33" fmla="*/ 5 h 93"/>
                  <a:gd name="T34" fmla="*/ 199 w 199"/>
                  <a:gd name="T35" fmla="*/ 0 h 93"/>
                  <a:gd name="T36" fmla="*/ 197 w 199"/>
                  <a:gd name="T37" fmla="*/ 35 h 9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9"/>
                  <a:gd name="T58" fmla="*/ 0 h 93"/>
                  <a:gd name="T59" fmla="*/ 199 w 199"/>
                  <a:gd name="T60" fmla="*/ 93 h 9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9" h="93">
                    <a:moveTo>
                      <a:pt x="197" y="35"/>
                    </a:moveTo>
                    <a:lnTo>
                      <a:pt x="174" y="39"/>
                    </a:lnTo>
                    <a:lnTo>
                      <a:pt x="151" y="45"/>
                    </a:lnTo>
                    <a:lnTo>
                      <a:pt x="128" y="52"/>
                    </a:lnTo>
                    <a:lnTo>
                      <a:pt x="104" y="59"/>
                    </a:lnTo>
                    <a:lnTo>
                      <a:pt x="81" y="66"/>
                    </a:lnTo>
                    <a:lnTo>
                      <a:pt x="57" y="75"/>
                    </a:lnTo>
                    <a:lnTo>
                      <a:pt x="34" y="84"/>
                    </a:lnTo>
                    <a:lnTo>
                      <a:pt x="10" y="93"/>
                    </a:lnTo>
                    <a:lnTo>
                      <a:pt x="0" y="62"/>
                    </a:lnTo>
                    <a:lnTo>
                      <a:pt x="25" y="52"/>
                    </a:lnTo>
                    <a:lnTo>
                      <a:pt x="50" y="41"/>
                    </a:lnTo>
                    <a:lnTo>
                      <a:pt x="75" y="33"/>
                    </a:lnTo>
                    <a:lnTo>
                      <a:pt x="100" y="24"/>
                    </a:lnTo>
                    <a:lnTo>
                      <a:pt x="126" y="18"/>
                    </a:lnTo>
                    <a:lnTo>
                      <a:pt x="149" y="10"/>
                    </a:lnTo>
                    <a:lnTo>
                      <a:pt x="176" y="5"/>
                    </a:lnTo>
                    <a:lnTo>
                      <a:pt x="199" y="0"/>
                    </a:lnTo>
                    <a:lnTo>
                      <a:pt x="197" y="3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08" name="Freeform 177"/>
              <p:cNvSpPr>
                <a:spLocks/>
              </p:cNvSpPr>
              <p:nvPr/>
            </p:nvSpPr>
            <p:spPr bwMode="auto">
              <a:xfrm>
                <a:off x="2947" y="1291"/>
                <a:ext cx="25" cy="40"/>
              </a:xfrm>
              <a:custGeom>
                <a:avLst/>
                <a:gdLst>
                  <a:gd name="T0" fmla="*/ 3 w 25"/>
                  <a:gd name="T1" fmla="*/ 5 h 40"/>
                  <a:gd name="T2" fmla="*/ 25 w 25"/>
                  <a:gd name="T3" fmla="*/ 0 h 40"/>
                  <a:gd name="T4" fmla="*/ 22 w 25"/>
                  <a:gd name="T5" fmla="*/ 36 h 40"/>
                  <a:gd name="T6" fmla="*/ 0 w 25"/>
                  <a:gd name="T7" fmla="*/ 40 h 40"/>
                  <a:gd name="T8" fmla="*/ 3 w 25"/>
                  <a:gd name="T9" fmla="*/ 5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40"/>
                  <a:gd name="T17" fmla="*/ 25 w 25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40">
                    <a:moveTo>
                      <a:pt x="3" y="5"/>
                    </a:moveTo>
                    <a:lnTo>
                      <a:pt x="25" y="0"/>
                    </a:lnTo>
                    <a:lnTo>
                      <a:pt x="22" y="36"/>
                    </a:lnTo>
                    <a:lnTo>
                      <a:pt x="0" y="40"/>
                    </a:lnTo>
                    <a:lnTo>
                      <a:pt x="3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09" name="Freeform 178"/>
              <p:cNvSpPr>
                <a:spLocks/>
              </p:cNvSpPr>
              <p:nvPr/>
            </p:nvSpPr>
            <p:spPr bwMode="auto">
              <a:xfrm>
                <a:off x="2494" y="1402"/>
                <a:ext cx="158" cy="120"/>
              </a:xfrm>
              <a:custGeom>
                <a:avLst/>
                <a:gdLst>
                  <a:gd name="T0" fmla="*/ 158 w 158"/>
                  <a:gd name="T1" fmla="*/ 69 h 120"/>
                  <a:gd name="T2" fmla="*/ 0 w 158"/>
                  <a:gd name="T3" fmla="*/ 120 h 120"/>
                  <a:gd name="T4" fmla="*/ 102 w 158"/>
                  <a:gd name="T5" fmla="*/ 0 h 120"/>
                  <a:gd name="T6" fmla="*/ 158 w 158"/>
                  <a:gd name="T7" fmla="*/ 69 h 1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8"/>
                  <a:gd name="T13" fmla="*/ 0 h 120"/>
                  <a:gd name="T14" fmla="*/ 158 w 158"/>
                  <a:gd name="T15" fmla="*/ 120 h 1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8" h="120">
                    <a:moveTo>
                      <a:pt x="158" y="69"/>
                    </a:moveTo>
                    <a:lnTo>
                      <a:pt x="0" y="120"/>
                    </a:lnTo>
                    <a:lnTo>
                      <a:pt x="102" y="0"/>
                    </a:lnTo>
                    <a:lnTo>
                      <a:pt x="158" y="69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10" name="Freeform 179"/>
              <p:cNvSpPr>
                <a:spLocks/>
              </p:cNvSpPr>
              <p:nvPr/>
            </p:nvSpPr>
            <p:spPr bwMode="auto">
              <a:xfrm>
                <a:off x="2481" y="1469"/>
                <a:ext cx="168" cy="63"/>
              </a:xfrm>
              <a:custGeom>
                <a:avLst/>
                <a:gdLst>
                  <a:gd name="T0" fmla="*/ 18 w 168"/>
                  <a:gd name="T1" fmla="*/ 56 h 63"/>
                  <a:gd name="T2" fmla="*/ 13 w 168"/>
                  <a:gd name="T3" fmla="*/ 49 h 63"/>
                  <a:gd name="T4" fmla="*/ 167 w 168"/>
                  <a:gd name="T5" fmla="*/ 0 h 63"/>
                  <a:gd name="T6" fmla="*/ 168 w 168"/>
                  <a:gd name="T7" fmla="*/ 8 h 63"/>
                  <a:gd name="T8" fmla="*/ 15 w 168"/>
                  <a:gd name="T9" fmla="*/ 59 h 63"/>
                  <a:gd name="T10" fmla="*/ 10 w 168"/>
                  <a:gd name="T11" fmla="*/ 51 h 63"/>
                  <a:gd name="T12" fmla="*/ 15 w 168"/>
                  <a:gd name="T13" fmla="*/ 59 h 63"/>
                  <a:gd name="T14" fmla="*/ 0 w 168"/>
                  <a:gd name="T15" fmla="*/ 63 h 63"/>
                  <a:gd name="T16" fmla="*/ 10 w 168"/>
                  <a:gd name="T17" fmla="*/ 51 h 63"/>
                  <a:gd name="T18" fmla="*/ 18 w 168"/>
                  <a:gd name="T19" fmla="*/ 56 h 6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8"/>
                  <a:gd name="T31" fmla="*/ 0 h 63"/>
                  <a:gd name="T32" fmla="*/ 168 w 168"/>
                  <a:gd name="T33" fmla="*/ 63 h 6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8" h="63">
                    <a:moveTo>
                      <a:pt x="18" y="56"/>
                    </a:moveTo>
                    <a:lnTo>
                      <a:pt x="13" y="49"/>
                    </a:lnTo>
                    <a:lnTo>
                      <a:pt x="167" y="0"/>
                    </a:lnTo>
                    <a:lnTo>
                      <a:pt x="168" y="8"/>
                    </a:lnTo>
                    <a:lnTo>
                      <a:pt x="15" y="59"/>
                    </a:lnTo>
                    <a:lnTo>
                      <a:pt x="10" y="51"/>
                    </a:lnTo>
                    <a:lnTo>
                      <a:pt x="15" y="59"/>
                    </a:lnTo>
                    <a:lnTo>
                      <a:pt x="0" y="63"/>
                    </a:lnTo>
                    <a:lnTo>
                      <a:pt x="10" y="51"/>
                    </a:lnTo>
                    <a:lnTo>
                      <a:pt x="18" y="56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11" name="Freeform 180"/>
              <p:cNvSpPr>
                <a:spLocks/>
              </p:cNvSpPr>
              <p:nvPr/>
            </p:nvSpPr>
            <p:spPr bwMode="auto">
              <a:xfrm>
                <a:off x="2490" y="1393"/>
                <a:ext cx="109" cy="131"/>
              </a:xfrm>
              <a:custGeom>
                <a:avLst/>
                <a:gdLst>
                  <a:gd name="T0" fmla="*/ 99 w 109"/>
                  <a:gd name="T1" fmla="*/ 13 h 131"/>
                  <a:gd name="T2" fmla="*/ 108 w 109"/>
                  <a:gd name="T3" fmla="*/ 12 h 131"/>
                  <a:gd name="T4" fmla="*/ 8 w 109"/>
                  <a:gd name="T5" fmla="*/ 131 h 131"/>
                  <a:gd name="T6" fmla="*/ 0 w 109"/>
                  <a:gd name="T7" fmla="*/ 127 h 131"/>
                  <a:gd name="T8" fmla="*/ 101 w 109"/>
                  <a:gd name="T9" fmla="*/ 6 h 131"/>
                  <a:gd name="T10" fmla="*/ 109 w 109"/>
                  <a:gd name="T11" fmla="*/ 5 h 131"/>
                  <a:gd name="T12" fmla="*/ 101 w 109"/>
                  <a:gd name="T13" fmla="*/ 6 h 131"/>
                  <a:gd name="T14" fmla="*/ 105 w 109"/>
                  <a:gd name="T15" fmla="*/ 0 h 131"/>
                  <a:gd name="T16" fmla="*/ 109 w 109"/>
                  <a:gd name="T17" fmla="*/ 5 h 131"/>
                  <a:gd name="T18" fmla="*/ 99 w 109"/>
                  <a:gd name="T19" fmla="*/ 13 h 13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9"/>
                  <a:gd name="T31" fmla="*/ 0 h 131"/>
                  <a:gd name="T32" fmla="*/ 109 w 109"/>
                  <a:gd name="T33" fmla="*/ 131 h 13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9" h="131">
                    <a:moveTo>
                      <a:pt x="99" y="13"/>
                    </a:moveTo>
                    <a:lnTo>
                      <a:pt x="108" y="12"/>
                    </a:lnTo>
                    <a:lnTo>
                      <a:pt x="8" y="131"/>
                    </a:lnTo>
                    <a:lnTo>
                      <a:pt x="0" y="127"/>
                    </a:lnTo>
                    <a:lnTo>
                      <a:pt x="101" y="6"/>
                    </a:lnTo>
                    <a:lnTo>
                      <a:pt x="109" y="5"/>
                    </a:lnTo>
                    <a:lnTo>
                      <a:pt x="101" y="6"/>
                    </a:lnTo>
                    <a:lnTo>
                      <a:pt x="105" y="0"/>
                    </a:lnTo>
                    <a:lnTo>
                      <a:pt x="109" y="5"/>
                    </a:lnTo>
                    <a:lnTo>
                      <a:pt x="99" y="13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12" name="Freeform 181"/>
              <p:cNvSpPr>
                <a:spLocks/>
              </p:cNvSpPr>
              <p:nvPr/>
            </p:nvSpPr>
            <p:spPr bwMode="auto">
              <a:xfrm>
                <a:off x="2592" y="1397"/>
                <a:ext cx="69" cy="79"/>
              </a:xfrm>
              <a:custGeom>
                <a:avLst/>
                <a:gdLst>
                  <a:gd name="T0" fmla="*/ 61 w 69"/>
                  <a:gd name="T1" fmla="*/ 71 h 79"/>
                  <a:gd name="T2" fmla="*/ 55 w 69"/>
                  <a:gd name="T3" fmla="*/ 78 h 79"/>
                  <a:gd name="T4" fmla="*/ 0 w 69"/>
                  <a:gd name="T5" fmla="*/ 7 h 79"/>
                  <a:gd name="T6" fmla="*/ 8 w 69"/>
                  <a:gd name="T7" fmla="*/ 0 h 79"/>
                  <a:gd name="T8" fmla="*/ 66 w 69"/>
                  <a:gd name="T9" fmla="*/ 72 h 79"/>
                  <a:gd name="T10" fmla="*/ 61 w 69"/>
                  <a:gd name="T11" fmla="*/ 79 h 79"/>
                  <a:gd name="T12" fmla="*/ 66 w 69"/>
                  <a:gd name="T13" fmla="*/ 72 h 79"/>
                  <a:gd name="T14" fmla="*/ 69 w 69"/>
                  <a:gd name="T15" fmla="*/ 77 h 79"/>
                  <a:gd name="T16" fmla="*/ 61 w 69"/>
                  <a:gd name="T17" fmla="*/ 79 h 79"/>
                  <a:gd name="T18" fmla="*/ 61 w 69"/>
                  <a:gd name="T19" fmla="*/ 71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9"/>
                  <a:gd name="T31" fmla="*/ 0 h 79"/>
                  <a:gd name="T32" fmla="*/ 69 w 69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9" h="79">
                    <a:moveTo>
                      <a:pt x="61" y="71"/>
                    </a:moveTo>
                    <a:lnTo>
                      <a:pt x="55" y="78"/>
                    </a:lnTo>
                    <a:lnTo>
                      <a:pt x="0" y="7"/>
                    </a:lnTo>
                    <a:lnTo>
                      <a:pt x="8" y="0"/>
                    </a:lnTo>
                    <a:lnTo>
                      <a:pt x="66" y="72"/>
                    </a:lnTo>
                    <a:lnTo>
                      <a:pt x="61" y="79"/>
                    </a:lnTo>
                    <a:lnTo>
                      <a:pt x="66" y="72"/>
                    </a:lnTo>
                    <a:lnTo>
                      <a:pt x="69" y="77"/>
                    </a:lnTo>
                    <a:lnTo>
                      <a:pt x="61" y="79"/>
                    </a:lnTo>
                    <a:lnTo>
                      <a:pt x="61" y="71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13" name="Freeform 182"/>
              <p:cNvSpPr>
                <a:spLocks/>
              </p:cNvSpPr>
              <p:nvPr/>
            </p:nvSpPr>
            <p:spPr bwMode="auto">
              <a:xfrm>
                <a:off x="2517" y="1478"/>
                <a:ext cx="32" cy="32"/>
              </a:xfrm>
              <a:custGeom>
                <a:avLst/>
                <a:gdLst>
                  <a:gd name="T0" fmla="*/ 32 w 32"/>
                  <a:gd name="T1" fmla="*/ 21 h 32"/>
                  <a:gd name="T2" fmla="*/ 17 w 32"/>
                  <a:gd name="T3" fmla="*/ 32 h 32"/>
                  <a:gd name="T4" fmla="*/ 0 w 32"/>
                  <a:gd name="T5" fmla="*/ 10 h 32"/>
                  <a:gd name="T6" fmla="*/ 15 w 32"/>
                  <a:gd name="T7" fmla="*/ 0 h 32"/>
                  <a:gd name="T8" fmla="*/ 32 w 32"/>
                  <a:gd name="T9" fmla="*/ 21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32"/>
                  <a:gd name="T17" fmla="*/ 32 w 32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32">
                    <a:moveTo>
                      <a:pt x="32" y="21"/>
                    </a:moveTo>
                    <a:lnTo>
                      <a:pt x="17" y="32"/>
                    </a:lnTo>
                    <a:lnTo>
                      <a:pt x="0" y="10"/>
                    </a:lnTo>
                    <a:lnTo>
                      <a:pt x="15" y="0"/>
                    </a:lnTo>
                    <a:lnTo>
                      <a:pt x="32" y="21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14" name="Freeform 183"/>
              <p:cNvSpPr>
                <a:spLocks/>
              </p:cNvSpPr>
              <p:nvPr/>
            </p:nvSpPr>
            <p:spPr bwMode="auto">
              <a:xfrm>
                <a:off x="2534" y="1360"/>
                <a:ext cx="217" cy="140"/>
              </a:xfrm>
              <a:custGeom>
                <a:avLst/>
                <a:gdLst>
                  <a:gd name="T0" fmla="*/ 217 w 217"/>
                  <a:gd name="T1" fmla="*/ 25 h 140"/>
                  <a:gd name="T2" fmla="*/ 217 w 217"/>
                  <a:gd name="T3" fmla="*/ 25 h 140"/>
                  <a:gd name="T4" fmla="*/ 164 w 217"/>
                  <a:gd name="T5" fmla="*/ 50 h 140"/>
                  <a:gd name="T6" fmla="*/ 112 w 217"/>
                  <a:gd name="T7" fmla="*/ 78 h 140"/>
                  <a:gd name="T8" fmla="*/ 63 w 217"/>
                  <a:gd name="T9" fmla="*/ 108 h 140"/>
                  <a:gd name="T10" fmla="*/ 17 w 217"/>
                  <a:gd name="T11" fmla="*/ 140 h 140"/>
                  <a:gd name="T12" fmla="*/ 0 w 217"/>
                  <a:gd name="T13" fmla="*/ 119 h 140"/>
                  <a:gd name="T14" fmla="*/ 48 w 217"/>
                  <a:gd name="T15" fmla="*/ 86 h 140"/>
                  <a:gd name="T16" fmla="*/ 99 w 217"/>
                  <a:gd name="T17" fmla="*/ 55 h 140"/>
                  <a:gd name="T18" fmla="*/ 153 w 217"/>
                  <a:gd name="T19" fmla="*/ 27 h 140"/>
                  <a:gd name="T20" fmla="*/ 209 w 217"/>
                  <a:gd name="T21" fmla="*/ 0 h 140"/>
                  <a:gd name="T22" fmla="*/ 217 w 217"/>
                  <a:gd name="T23" fmla="*/ 25 h 14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7"/>
                  <a:gd name="T37" fmla="*/ 0 h 140"/>
                  <a:gd name="T38" fmla="*/ 217 w 217"/>
                  <a:gd name="T39" fmla="*/ 140 h 14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7" h="140">
                    <a:moveTo>
                      <a:pt x="217" y="25"/>
                    </a:moveTo>
                    <a:lnTo>
                      <a:pt x="217" y="25"/>
                    </a:lnTo>
                    <a:lnTo>
                      <a:pt x="164" y="50"/>
                    </a:lnTo>
                    <a:lnTo>
                      <a:pt x="112" y="78"/>
                    </a:lnTo>
                    <a:lnTo>
                      <a:pt x="63" y="108"/>
                    </a:lnTo>
                    <a:lnTo>
                      <a:pt x="17" y="140"/>
                    </a:lnTo>
                    <a:lnTo>
                      <a:pt x="0" y="119"/>
                    </a:lnTo>
                    <a:lnTo>
                      <a:pt x="48" y="86"/>
                    </a:lnTo>
                    <a:lnTo>
                      <a:pt x="99" y="55"/>
                    </a:lnTo>
                    <a:lnTo>
                      <a:pt x="153" y="27"/>
                    </a:lnTo>
                    <a:lnTo>
                      <a:pt x="209" y="0"/>
                    </a:lnTo>
                    <a:lnTo>
                      <a:pt x="217" y="25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15" name="Freeform 184"/>
              <p:cNvSpPr>
                <a:spLocks/>
              </p:cNvSpPr>
              <p:nvPr/>
            </p:nvSpPr>
            <p:spPr bwMode="auto">
              <a:xfrm>
                <a:off x="2748" y="1298"/>
                <a:ext cx="195" cy="87"/>
              </a:xfrm>
              <a:custGeom>
                <a:avLst/>
                <a:gdLst>
                  <a:gd name="T0" fmla="*/ 194 w 195"/>
                  <a:gd name="T1" fmla="*/ 29 h 87"/>
                  <a:gd name="T2" fmla="*/ 171 w 195"/>
                  <a:gd name="T3" fmla="*/ 33 h 87"/>
                  <a:gd name="T4" fmla="*/ 148 w 195"/>
                  <a:gd name="T5" fmla="*/ 38 h 87"/>
                  <a:gd name="T6" fmla="*/ 124 w 195"/>
                  <a:gd name="T7" fmla="*/ 45 h 87"/>
                  <a:gd name="T8" fmla="*/ 100 w 195"/>
                  <a:gd name="T9" fmla="*/ 52 h 87"/>
                  <a:gd name="T10" fmla="*/ 78 w 195"/>
                  <a:gd name="T11" fmla="*/ 60 h 87"/>
                  <a:gd name="T12" fmla="*/ 54 w 195"/>
                  <a:gd name="T13" fmla="*/ 68 h 87"/>
                  <a:gd name="T14" fmla="*/ 31 w 195"/>
                  <a:gd name="T15" fmla="*/ 77 h 87"/>
                  <a:gd name="T16" fmla="*/ 8 w 195"/>
                  <a:gd name="T17" fmla="*/ 87 h 87"/>
                  <a:gd name="T18" fmla="*/ 0 w 195"/>
                  <a:gd name="T19" fmla="*/ 61 h 87"/>
                  <a:gd name="T20" fmla="*/ 23 w 195"/>
                  <a:gd name="T21" fmla="*/ 51 h 87"/>
                  <a:gd name="T22" fmla="*/ 49 w 195"/>
                  <a:gd name="T23" fmla="*/ 42 h 87"/>
                  <a:gd name="T24" fmla="*/ 73 w 195"/>
                  <a:gd name="T25" fmla="*/ 33 h 87"/>
                  <a:gd name="T26" fmla="*/ 98 w 195"/>
                  <a:gd name="T27" fmla="*/ 24 h 87"/>
                  <a:gd name="T28" fmla="*/ 123 w 195"/>
                  <a:gd name="T29" fmla="*/ 18 h 87"/>
                  <a:gd name="T30" fmla="*/ 148 w 195"/>
                  <a:gd name="T31" fmla="*/ 9 h 87"/>
                  <a:gd name="T32" fmla="*/ 172 w 195"/>
                  <a:gd name="T33" fmla="*/ 5 h 87"/>
                  <a:gd name="T34" fmla="*/ 195 w 195"/>
                  <a:gd name="T35" fmla="*/ 0 h 87"/>
                  <a:gd name="T36" fmla="*/ 194 w 195"/>
                  <a:gd name="T37" fmla="*/ 29 h 8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5"/>
                  <a:gd name="T58" fmla="*/ 0 h 87"/>
                  <a:gd name="T59" fmla="*/ 195 w 195"/>
                  <a:gd name="T60" fmla="*/ 87 h 8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5" h="87">
                    <a:moveTo>
                      <a:pt x="194" y="29"/>
                    </a:moveTo>
                    <a:lnTo>
                      <a:pt x="171" y="33"/>
                    </a:lnTo>
                    <a:lnTo>
                      <a:pt x="148" y="38"/>
                    </a:lnTo>
                    <a:lnTo>
                      <a:pt x="124" y="45"/>
                    </a:lnTo>
                    <a:lnTo>
                      <a:pt x="100" y="52"/>
                    </a:lnTo>
                    <a:lnTo>
                      <a:pt x="78" y="60"/>
                    </a:lnTo>
                    <a:lnTo>
                      <a:pt x="54" y="68"/>
                    </a:lnTo>
                    <a:lnTo>
                      <a:pt x="31" y="77"/>
                    </a:lnTo>
                    <a:lnTo>
                      <a:pt x="8" y="87"/>
                    </a:lnTo>
                    <a:lnTo>
                      <a:pt x="0" y="61"/>
                    </a:lnTo>
                    <a:lnTo>
                      <a:pt x="23" y="51"/>
                    </a:lnTo>
                    <a:lnTo>
                      <a:pt x="49" y="42"/>
                    </a:lnTo>
                    <a:lnTo>
                      <a:pt x="73" y="33"/>
                    </a:lnTo>
                    <a:lnTo>
                      <a:pt x="98" y="24"/>
                    </a:lnTo>
                    <a:lnTo>
                      <a:pt x="123" y="18"/>
                    </a:lnTo>
                    <a:lnTo>
                      <a:pt x="148" y="9"/>
                    </a:lnTo>
                    <a:lnTo>
                      <a:pt x="172" y="5"/>
                    </a:lnTo>
                    <a:lnTo>
                      <a:pt x="195" y="0"/>
                    </a:lnTo>
                    <a:lnTo>
                      <a:pt x="194" y="29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16" name="Freeform 185"/>
              <p:cNvSpPr>
                <a:spLocks/>
              </p:cNvSpPr>
              <p:nvPr/>
            </p:nvSpPr>
            <p:spPr bwMode="auto">
              <a:xfrm>
                <a:off x="2945" y="1296"/>
                <a:ext cx="21" cy="32"/>
              </a:xfrm>
              <a:custGeom>
                <a:avLst/>
                <a:gdLst>
                  <a:gd name="T0" fmla="*/ 3 w 21"/>
                  <a:gd name="T1" fmla="*/ 3 h 32"/>
                  <a:gd name="T2" fmla="*/ 21 w 21"/>
                  <a:gd name="T3" fmla="*/ 0 h 32"/>
                  <a:gd name="T4" fmla="*/ 19 w 21"/>
                  <a:gd name="T5" fmla="*/ 29 h 32"/>
                  <a:gd name="T6" fmla="*/ 0 w 21"/>
                  <a:gd name="T7" fmla="*/ 32 h 32"/>
                  <a:gd name="T8" fmla="*/ 3 w 21"/>
                  <a:gd name="T9" fmla="*/ 3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32"/>
                  <a:gd name="T17" fmla="*/ 21 w 21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32">
                    <a:moveTo>
                      <a:pt x="3" y="3"/>
                    </a:moveTo>
                    <a:lnTo>
                      <a:pt x="21" y="0"/>
                    </a:lnTo>
                    <a:lnTo>
                      <a:pt x="19" y="29"/>
                    </a:lnTo>
                    <a:lnTo>
                      <a:pt x="0" y="32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17" name="Freeform 186"/>
              <p:cNvSpPr>
                <a:spLocks/>
              </p:cNvSpPr>
              <p:nvPr/>
            </p:nvSpPr>
            <p:spPr bwMode="auto">
              <a:xfrm>
                <a:off x="2466" y="1422"/>
                <a:ext cx="154" cy="123"/>
              </a:xfrm>
              <a:custGeom>
                <a:avLst/>
                <a:gdLst>
                  <a:gd name="T0" fmla="*/ 154 w 154"/>
                  <a:gd name="T1" fmla="*/ 67 h 123"/>
                  <a:gd name="T2" fmla="*/ 0 w 154"/>
                  <a:gd name="T3" fmla="*/ 123 h 123"/>
                  <a:gd name="T4" fmla="*/ 93 w 154"/>
                  <a:gd name="T5" fmla="*/ 0 h 123"/>
                  <a:gd name="T6" fmla="*/ 154 w 154"/>
                  <a:gd name="T7" fmla="*/ 67 h 1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123"/>
                  <a:gd name="T14" fmla="*/ 154 w 154"/>
                  <a:gd name="T15" fmla="*/ 123 h 1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123">
                    <a:moveTo>
                      <a:pt x="154" y="67"/>
                    </a:moveTo>
                    <a:lnTo>
                      <a:pt x="0" y="123"/>
                    </a:lnTo>
                    <a:lnTo>
                      <a:pt x="93" y="0"/>
                    </a:lnTo>
                    <a:lnTo>
                      <a:pt x="154" y="6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18" name="Freeform 187"/>
              <p:cNvSpPr>
                <a:spLocks/>
              </p:cNvSpPr>
              <p:nvPr/>
            </p:nvSpPr>
            <p:spPr bwMode="auto">
              <a:xfrm>
                <a:off x="2444" y="1483"/>
                <a:ext cx="178" cy="79"/>
              </a:xfrm>
              <a:custGeom>
                <a:avLst/>
                <a:gdLst>
                  <a:gd name="T0" fmla="*/ 31 w 178"/>
                  <a:gd name="T1" fmla="*/ 65 h 79"/>
                  <a:gd name="T2" fmla="*/ 22 w 178"/>
                  <a:gd name="T3" fmla="*/ 56 h 79"/>
                  <a:gd name="T4" fmla="*/ 176 w 178"/>
                  <a:gd name="T5" fmla="*/ 0 h 79"/>
                  <a:gd name="T6" fmla="*/ 178 w 178"/>
                  <a:gd name="T7" fmla="*/ 14 h 79"/>
                  <a:gd name="T8" fmla="*/ 24 w 178"/>
                  <a:gd name="T9" fmla="*/ 70 h 79"/>
                  <a:gd name="T10" fmla="*/ 15 w 178"/>
                  <a:gd name="T11" fmla="*/ 61 h 79"/>
                  <a:gd name="T12" fmla="*/ 24 w 178"/>
                  <a:gd name="T13" fmla="*/ 70 h 79"/>
                  <a:gd name="T14" fmla="*/ 0 w 178"/>
                  <a:gd name="T15" fmla="*/ 79 h 79"/>
                  <a:gd name="T16" fmla="*/ 15 w 178"/>
                  <a:gd name="T17" fmla="*/ 61 h 79"/>
                  <a:gd name="T18" fmla="*/ 31 w 178"/>
                  <a:gd name="T19" fmla="*/ 65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8"/>
                  <a:gd name="T31" fmla="*/ 0 h 79"/>
                  <a:gd name="T32" fmla="*/ 178 w 178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8" h="79">
                    <a:moveTo>
                      <a:pt x="31" y="65"/>
                    </a:moveTo>
                    <a:lnTo>
                      <a:pt x="22" y="56"/>
                    </a:lnTo>
                    <a:lnTo>
                      <a:pt x="176" y="0"/>
                    </a:lnTo>
                    <a:lnTo>
                      <a:pt x="178" y="14"/>
                    </a:lnTo>
                    <a:lnTo>
                      <a:pt x="24" y="70"/>
                    </a:lnTo>
                    <a:lnTo>
                      <a:pt x="15" y="61"/>
                    </a:lnTo>
                    <a:lnTo>
                      <a:pt x="24" y="70"/>
                    </a:lnTo>
                    <a:lnTo>
                      <a:pt x="0" y="79"/>
                    </a:lnTo>
                    <a:lnTo>
                      <a:pt x="15" y="61"/>
                    </a:lnTo>
                    <a:lnTo>
                      <a:pt x="31" y="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19" name="Freeform 188"/>
              <p:cNvSpPr>
                <a:spLocks/>
              </p:cNvSpPr>
              <p:nvPr/>
            </p:nvSpPr>
            <p:spPr bwMode="auto">
              <a:xfrm>
                <a:off x="2456" y="1410"/>
                <a:ext cx="110" cy="138"/>
              </a:xfrm>
              <a:custGeom>
                <a:avLst/>
                <a:gdLst>
                  <a:gd name="T0" fmla="*/ 93 w 110"/>
                  <a:gd name="T1" fmla="*/ 19 h 138"/>
                  <a:gd name="T2" fmla="*/ 109 w 110"/>
                  <a:gd name="T3" fmla="*/ 16 h 138"/>
                  <a:gd name="T4" fmla="*/ 16 w 110"/>
                  <a:gd name="T5" fmla="*/ 138 h 138"/>
                  <a:gd name="T6" fmla="*/ 0 w 110"/>
                  <a:gd name="T7" fmla="*/ 134 h 138"/>
                  <a:gd name="T8" fmla="*/ 94 w 110"/>
                  <a:gd name="T9" fmla="*/ 11 h 138"/>
                  <a:gd name="T10" fmla="*/ 110 w 110"/>
                  <a:gd name="T11" fmla="*/ 8 h 138"/>
                  <a:gd name="T12" fmla="*/ 94 w 110"/>
                  <a:gd name="T13" fmla="*/ 11 h 138"/>
                  <a:gd name="T14" fmla="*/ 104 w 110"/>
                  <a:gd name="T15" fmla="*/ 0 h 138"/>
                  <a:gd name="T16" fmla="*/ 110 w 110"/>
                  <a:gd name="T17" fmla="*/ 8 h 138"/>
                  <a:gd name="T18" fmla="*/ 93 w 110"/>
                  <a:gd name="T19" fmla="*/ 19 h 1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0"/>
                  <a:gd name="T31" fmla="*/ 0 h 138"/>
                  <a:gd name="T32" fmla="*/ 110 w 110"/>
                  <a:gd name="T33" fmla="*/ 138 h 13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0" h="138">
                    <a:moveTo>
                      <a:pt x="93" y="19"/>
                    </a:moveTo>
                    <a:lnTo>
                      <a:pt x="109" y="16"/>
                    </a:lnTo>
                    <a:lnTo>
                      <a:pt x="16" y="138"/>
                    </a:lnTo>
                    <a:lnTo>
                      <a:pt x="0" y="134"/>
                    </a:lnTo>
                    <a:lnTo>
                      <a:pt x="94" y="11"/>
                    </a:lnTo>
                    <a:lnTo>
                      <a:pt x="110" y="8"/>
                    </a:lnTo>
                    <a:lnTo>
                      <a:pt x="94" y="11"/>
                    </a:lnTo>
                    <a:lnTo>
                      <a:pt x="104" y="0"/>
                    </a:lnTo>
                    <a:lnTo>
                      <a:pt x="110" y="8"/>
                    </a:lnTo>
                    <a:lnTo>
                      <a:pt x="93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20" name="Freeform 189"/>
              <p:cNvSpPr>
                <a:spLocks/>
              </p:cNvSpPr>
              <p:nvPr/>
            </p:nvSpPr>
            <p:spPr bwMode="auto">
              <a:xfrm>
                <a:off x="2550" y="1418"/>
                <a:ext cx="87" cy="80"/>
              </a:xfrm>
              <a:custGeom>
                <a:avLst/>
                <a:gdLst>
                  <a:gd name="T0" fmla="*/ 68 w 87"/>
                  <a:gd name="T1" fmla="*/ 66 h 80"/>
                  <a:gd name="T2" fmla="*/ 61 w 87"/>
                  <a:gd name="T3" fmla="*/ 79 h 80"/>
                  <a:gd name="T4" fmla="*/ 0 w 87"/>
                  <a:gd name="T5" fmla="*/ 11 h 80"/>
                  <a:gd name="T6" fmla="*/ 17 w 87"/>
                  <a:gd name="T7" fmla="*/ 0 h 80"/>
                  <a:gd name="T8" fmla="*/ 78 w 87"/>
                  <a:gd name="T9" fmla="*/ 67 h 80"/>
                  <a:gd name="T10" fmla="*/ 72 w 87"/>
                  <a:gd name="T11" fmla="*/ 80 h 80"/>
                  <a:gd name="T12" fmla="*/ 78 w 87"/>
                  <a:gd name="T13" fmla="*/ 67 h 80"/>
                  <a:gd name="T14" fmla="*/ 87 w 87"/>
                  <a:gd name="T15" fmla="*/ 75 h 80"/>
                  <a:gd name="T16" fmla="*/ 72 w 87"/>
                  <a:gd name="T17" fmla="*/ 80 h 80"/>
                  <a:gd name="T18" fmla="*/ 68 w 87"/>
                  <a:gd name="T19" fmla="*/ 66 h 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7"/>
                  <a:gd name="T31" fmla="*/ 0 h 80"/>
                  <a:gd name="T32" fmla="*/ 87 w 87"/>
                  <a:gd name="T33" fmla="*/ 80 h 8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7" h="80">
                    <a:moveTo>
                      <a:pt x="68" y="66"/>
                    </a:moveTo>
                    <a:lnTo>
                      <a:pt x="61" y="79"/>
                    </a:lnTo>
                    <a:lnTo>
                      <a:pt x="0" y="11"/>
                    </a:lnTo>
                    <a:lnTo>
                      <a:pt x="17" y="0"/>
                    </a:lnTo>
                    <a:lnTo>
                      <a:pt x="78" y="67"/>
                    </a:lnTo>
                    <a:lnTo>
                      <a:pt x="72" y="80"/>
                    </a:lnTo>
                    <a:lnTo>
                      <a:pt x="78" y="67"/>
                    </a:lnTo>
                    <a:lnTo>
                      <a:pt x="87" y="75"/>
                    </a:lnTo>
                    <a:lnTo>
                      <a:pt x="72" y="80"/>
                    </a:lnTo>
                    <a:lnTo>
                      <a:pt x="68" y="6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21" name="Freeform 190"/>
              <p:cNvSpPr>
                <a:spLocks/>
              </p:cNvSpPr>
              <p:nvPr/>
            </p:nvSpPr>
            <p:spPr bwMode="auto">
              <a:xfrm>
                <a:off x="2478" y="1500"/>
                <a:ext cx="39" cy="36"/>
              </a:xfrm>
              <a:custGeom>
                <a:avLst/>
                <a:gdLst>
                  <a:gd name="T0" fmla="*/ 39 w 39"/>
                  <a:gd name="T1" fmla="*/ 22 h 36"/>
                  <a:gd name="T2" fmla="*/ 23 w 39"/>
                  <a:gd name="T3" fmla="*/ 36 h 36"/>
                  <a:gd name="T4" fmla="*/ 0 w 39"/>
                  <a:gd name="T5" fmla="*/ 14 h 36"/>
                  <a:gd name="T6" fmla="*/ 16 w 39"/>
                  <a:gd name="T7" fmla="*/ 0 h 36"/>
                  <a:gd name="T8" fmla="*/ 39 w 39"/>
                  <a:gd name="T9" fmla="*/ 22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9"/>
                  <a:gd name="T16" fmla="*/ 0 h 36"/>
                  <a:gd name="T17" fmla="*/ 39 w 3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9" h="36">
                    <a:moveTo>
                      <a:pt x="39" y="22"/>
                    </a:moveTo>
                    <a:lnTo>
                      <a:pt x="23" y="36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39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22" name="Freeform 191"/>
              <p:cNvSpPr>
                <a:spLocks/>
              </p:cNvSpPr>
              <p:nvPr/>
            </p:nvSpPr>
            <p:spPr bwMode="auto">
              <a:xfrm>
                <a:off x="2500" y="1373"/>
                <a:ext cx="217" cy="149"/>
              </a:xfrm>
              <a:custGeom>
                <a:avLst/>
                <a:gdLst>
                  <a:gd name="T0" fmla="*/ 217 w 217"/>
                  <a:gd name="T1" fmla="*/ 29 h 149"/>
                  <a:gd name="T2" fmla="*/ 217 w 217"/>
                  <a:gd name="T3" fmla="*/ 29 h 149"/>
                  <a:gd name="T4" fmla="*/ 191 w 217"/>
                  <a:gd name="T5" fmla="*/ 41 h 149"/>
                  <a:gd name="T6" fmla="*/ 164 w 217"/>
                  <a:gd name="T7" fmla="*/ 56 h 149"/>
                  <a:gd name="T8" fmla="*/ 140 w 217"/>
                  <a:gd name="T9" fmla="*/ 70 h 149"/>
                  <a:gd name="T10" fmla="*/ 115 w 217"/>
                  <a:gd name="T11" fmla="*/ 85 h 149"/>
                  <a:gd name="T12" fmla="*/ 92 w 217"/>
                  <a:gd name="T13" fmla="*/ 100 h 149"/>
                  <a:gd name="T14" fmla="*/ 67 w 217"/>
                  <a:gd name="T15" fmla="*/ 116 h 149"/>
                  <a:gd name="T16" fmla="*/ 45 w 217"/>
                  <a:gd name="T17" fmla="*/ 132 h 149"/>
                  <a:gd name="T18" fmla="*/ 22 w 217"/>
                  <a:gd name="T19" fmla="*/ 149 h 149"/>
                  <a:gd name="T20" fmla="*/ 0 w 217"/>
                  <a:gd name="T21" fmla="*/ 127 h 149"/>
                  <a:gd name="T22" fmla="*/ 22 w 217"/>
                  <a:gd name="T23" fmla="*/ 109 h 149"/>
                  <a:gd name="T24" fmla="*/ 47 w 217"/>
                  <a:gd name="T25" fmla="*/ 92 h 149"/>
                  <a:gd name="T26" fmla="*/ 73 w 217"/>
                  <a:gd name="T27" fmla="*/ 74 h 149"/>
                  <a:gd name="T28" fmla="*/ 98 w 217"/>
                  <a:gd name="T29" fmla="*/ 58 h 149"/>
                  <a:gd name="T30" fmla="*/ 123 w 217"/>
                  <a:gd name="T31" fmla="*/ 42 h 149"/>
                  <a:gd name="T32" fmla="*/ 149 w 217"/>
                  <a:gd name="T33" fmla="*/ 27 h 149"/>
                  <a:gd name="T34" fmla="*/ 177 w 217"/>
                  <a:gd name="T35" fmla="*/ 12 h 149"/>
                  <a:gd name="T36" fmla="*/ 205 w 217"/>
                  <a:gd name="T37" fmla="*/ 0 h 149"/>
                  <a:gd name="T38" fmla="*/ 217 w 217"/>
                  <a:gd name="T39" fmla="*/ 29 h 14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7"/>
                  <a:gd name="T61" fmla="*/ 0 h 149"/>
                  <a:gd name="T62" fmla="*/ 217 w 217"/>
                  <a:gd name="T63" fmla="*/ 149 h 14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7" h="149">
                    <a:moveTo>
                      <a:pt x="217" y="29"/>
                    </a:moveTo>
                    <a:lnTo>
                      <a:pt x="217" y="29"/>
                    </a:lnTo>
                    <a:lnTo>
                      <a:pt x="191" y="41"/>
                    </a:lnTo>
                    <a:lnTo>
                      <a:pt x="164" y="56"/>
                    </a:lnTo>
                    <a:lnTo>
                      <a:pt x="140" y="70"/>
                    </a:lnTo>
                    <a:lnTo>
                      <a:pt x="115" y="85"/>
                    </a:lnTo>
                    <a:lnTo>
                      <a:pt x="92" y="100"/>
                    </a:lnTo>
                    <a:lnTo>
                      <a:pt x="67" y="116"/>
                    </a:lnTo>
                    <a:lnTo>
                      <a:pt x="45" y="132"/>
                    </a:lnTo>
                    <a:lnTo>
                      <a:pt x="22" y="149"/>
                    </a:lnTo>
                    <a:lnTo>
                      <a:pt x="0" y="127"/>
                    </a:lnTo>
                    <a:lnTo>
                      <a:pt x="22" y="109"/>
                    </a:lnTo>
                    <a:lnTo>
                      <a:pt x="47" y="92"/>
                    </a:lnTo>
                    <a:lnTo>
                      <a:pt x="73" y="74"/>
                    </a:lnTo>
                    <a:lnTo>
                      <a:pt x="98" y="58"/>
                    </a:lnTo>
                    <a:lnTo>
                      <a:pt x="123" y="42"/>
                    </a:lnTo>
                    <a:lnTo>
                      <a:pt x="149" y="27"/>
                    </a:lnTo>
                    <a:lnTo>
                      <a:pt x="177" y="12"/>
                    </a:lnTo>
                    <a:lnTo>
                      <a:pt x="205" y="0"/>
                    </a:lnTo>
                    <a:lnTo>
                      <a:pt x="217" y="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23" name="Freeform 192"/>
              <p:cNvSpPr>
                <a:spLocks/>
              </p:cNvSpPr>
              <p:nvPr/>
            </p:nvSpPr>
            <p:spPr bwMode="auto">
              <a:xfrm>
                <a:off x="2710" y="1302"/>
                <a:ext cx="198" cy="103"/>
              </a:xfrm>
              <a:custGeom>
                <a:avLst/>
                <a:gdLst>
                  <a:gd name="T0" fmla="*/ 198 w 198"/>
                  <a:gd name="T1" fmla="*/ 35 h 103"/>
                  <a:gd name="T2" fmla="*/ 175 w 198"/>
                  <a:gd name="T3" fmla="*/ 41 h 103"/>
                  <a:gd name="T4" fmla="*/ 151 w 198"/>
                  <a:gd name="T5" fmla="*/ 48 h 103"/>
                  <a:gd name="T6" fmla="*/ 128 w 198"/>
                  <a:gd name="T7" fmla="*/ 56 h 103"/>
                  <a:gd name="T8" fmla="*/ 104 w 198"/>
                  <a:gd name="T9" fmla="*/ 64 h 103"/>
                  <a:gd name="T10" fmla="*/ 82 w 198"/>
                  <a:gd name="T11" fmla="*/ 72 h 103"/>
                  <a:gd name="T12" fmla="*/ 58 w 198"/>
                  <a:gd name="T13" fmla="*/ 82 h 103"/>
                  <a:gd name="T14" fmla="*/ 36 w 198"/>
                  <a:gd name="T15" fmla="*/ 91 h 103"/>
                  <a:gd name="T16" fmla="*/ 11 w 198"/>
                  <a:gd name="T17" fmla="*/ 103 h 103"/>
                  <a:gd name="T18" fmla="*/ 0 w 198"/>
                  <a:gd name="T19" fmla="*/ 73 h 103"/>
                  <a:gd name="T20" fmla="*/ 25 w 198"/>
                  <a:gd name="T21" fmla="*/ 62 h 103"/>
                  <a:gd name="T22" fmla="*/ 50 w 198"/>
                  <a:gd name="T23" fmla="*/ 50 h 103"/>
                  <a:gd name="T24" fmla="*/ 74 w 198"/>
                  <a:gd name="T25" fmla="*/ 41 h 103"/>
                  <a:gd name="T26" fmla="*/ 99 w 198"/>
                  <a:gd name="T27" fmla="*/ 32 h 103"/>
                  <a:gd name="T28" fmla="*/ 123 w 198"/>
                  <a:gd name="T29" fmla="*/ 23 h 103"/>
                  <a:gd name="T30" fmla="*/ 149 w 198"/>
                  <a:gd name="T31" fmla="*/ 15 h 103"/>
                  <a:gd name="T32" fmla="*/ 173 w 198"/>
                  <a:gd name="T33" fmla="*/ 7 h 103"/>
                  <a:gd name="T34" fmla="*/ 198 w 198"/>
                  <a:gd name="T35" fmla="*/ 0 h 103"/>
                  <a:gd name="T36" fmla="*/ 198 w 198"/>
                  <a:gd name="T37" fmla="*/ 35 h 1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8"/>
                  <a:gd name="T58" fmla="*/ 0 h 103"/>
                  <a:gd name="T59" fmla="*/ 198 w 198"/>
                  <a:gd name="T60" fmla="*/ 103 h 1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8" h="103">
                    <a:moveTo>
                      <a:pt x="198" y="35"/>
                    </a:moveTo>
                    <a:lnTo>
                      <a:pt x="175" y="41"/>
                    </a:lnTo>
                    <a:lnTo>
                      <a:pt x="151" y="48"/>
                    </a:lnTo>
                    <a:lnTo>
                      <a:pt x="128" y="56"/>
                    </a:lnTo>
                    <a:lnTo>
                      <a:pt x="104" y="64"/>
                    </a:lnTo>
                    <a:lnTo>
                      <a:pt x="82" y="72"/>
                    </a:lnTo>
                    <a:lnTo>
                      <a:pt x="58" y="82"/>
                    </a:lnTo>
                    <a:lnTo>
                      <a:pt x="36" y="91"/>
                    </a:lnTo>
                    <a:lnTo>
                      <a:pt x="11" y="103"/>
                    </a:lnTo>
                    <a:lnTo>
                      <a:pt x="0" y="73"/>
                    </a:lnTo>
                    <a:lnTo>
                      <a:pt x="25" y="62"/>
                    </a:lnTo>
                    <a:lnTo>
                      <a:pt x="50" y="50"/>
                    </a:lnTo>
                    <a:lnTo>
                      <a:pt x="74" y="41"/>
                    </a:lnTo>
                    <a:lnTo>
                      <a:pt x="99" y="32"/>
                    </a:lnTo>
                    <a:lnTo>
                      <a:pt x="123" y="23"/>
                    </a:lnTo>
                    <a:lnTo>
                      <a:pt x="149" y="15"/>
                    </a:lnTo>
                    <a:lnTo>
                      <a:pt x="173" y="7"/>
                    </a:lnTo>
                    <a:lnTo>
                      <a:pt x="198" y="0"/>
                    </a:lnTo>
                    <a:lnTo>
                      <a:pt x="198" y="3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24" name="Freeform 193"/>
              <p:cNvSpPr>
                <a:spLocks/>
              </p:cNvSpPr>
              <p:nvPr/>
            </p:nvSpPr>
            <p:spPr bwMode="auto">
              <a:xfrm>
                <a:off x="2910" y="1298"/>
                <a:ext cx="23" cy="40"/>
              </a:xfrm>
              <a:custGeom>
                <a:avLst/>
                <a:gdLst>
                  <a:gd name="T0" fmla="*/ 0 w 23"/>
                  <a:gd name="T1" fmla="*/ 5 h 40"/>
                  <a:gd name="T2" fmla="*/ 22 w 23"/>
                  <a:gd name="T3" fmla="*/ 0 h 40"/>
                  <a:gd name="T4" fmla="*/ 23 w 23"/>
                  <a:gd name="T5" fmla="*/ 34 h 40"/>
                  <a:gd name="T6" fmla="*/ 1 w 23"/>
                  <a:gd name="T7" fmla="*/ 40 h 40"/>
                  <a:gd name="T8" fmla="*/ 0 w 23"/>
                  <a:gd name="T9" fmla="*/ 5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40"/>
                  <a:gd name="T17" fmla="*/ 23 w 23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40">
                    <a:moveTo>
                      <a:pt x="0" y="5"/>
                    </a:moveTo>
                    <a:lnTo>
                      <a:pt x="22" y="0"/>
                    </a:lnTo>
                    <a:lnTo>
                      <a:pt x="23" y="34"/>
                    </a:lnTo>
                    <a:lnTo>
                      <a:pt x="1" y="4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25" name="Freeform 194"/>
              <p:cNvSpPr>
                <a:spLocks/>
              </p:cNvSpPr>
              <p:nvPr/>
            </p:nvSpPr>
            <p:spPr bwMode="auto">
              <a:xfrm>
                <a:off x="2466" y="1422"/>
                <a:ext cx="154" cy="123"/>
              </a:xfrm>
              <a:custGeom>
                <a:avLst/>
                <a:gdLst>
                  <a:gd name="T0" fmla="*/ 154 w 154"/>
                  <a:gd name="T1" fmla="*/ 67 h 123"/>
                  <a:gd name="T2" fmla="*/ 0 w 154"/>
                  <a:gd name="T3" fmla="*/ 123 h 123"/>
                  <a:gd name="T4" fmla="*/ 93 w 154"/>
                  <a:gd name="T5" fmla="*/ 0 h 123"/>
                  <a:gd name="T6" fmla="*/ 154 w 154"/>
                  <a:gd name="T7" fmla="*/ 67 h 1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123"/>
                  <a:gd name="T14" fmla="*/ 154 w 154"/>
                  <a:gd name="T15" fmla="*/ 123 h 1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123">
                    <a:moveTo>
                      <a:pt x="154" y="67"/>
                    </a:moveTo>
                    <a:lnTo>
                      <a:pt x="0" y="123"/>
                    </a:lnTo>
                    <a:lnTo>
                      <a:pt x="93" y="0"/>
                    </a:lnTo>
                    <a:lnTo>
                      <a:pt x="154" y="67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26" name="Freeform 195"/>
              <p:cNvSpPr>
                <a:spLocks/>
              </p:cNvSpPr>
              <p:nvPr/>
            </p:nvSpPr>
            <p:spPr bwMode="auto">
              <a:xfrm>
                <a:off x="2452" y="1486"/>
                <a:ext cx="169" cy="68"/>
              </a:xfrm>
              <a:custGeom>
                <a:avLst/>
                <a:gdLst>
                  <a:gd name="T0" fmla="*/ 17 w 169"/>
                  <a:gd name="T1" fmla="*/ 60 h 68"/>
                  <a:gd name="T2" fmla="*/ 10 w 169"/>
                  <a:gd name="T3" fmla="*/ 54 h 68"/>
                  <a:gd name="T4" fmla="*/ 166 w 169"/>
                  <a:gd name="T5" fmla="*/ 0 h 68"/>
                  <a:gd name="T6" fmla="*/ 169 w 169"/>
                  <a:gd name="T7" fmla="*/ 7 h 68"/>
                  <a:gd name="T8" fmla="*/ 14 w 169"/>
                  <a:gd name="T9" fmla="*/ 64 h 68"/>
                  <a:gd name="T10" fmla="*/ 8 w 169"/>
                  <a:gd name="T11" fmla="*/ 58 h 68"/>
                  <a:gd name="T12" fmla="*/ 14 w 169"/>
                  <a:gd name="T13" fmla="*/ 64 h 68"/>
                  <a:gd name="T14" fmla="*/ 0 w 169"/>
                  <a:gd name="T15" fmla="*/ 68 h 68"/>
                  <a:gd name="T16" fmla="*/ 8 w 169"/>
                  <a:gd name="T17" fmla="*/ 58 h 68"/>
                  <a:gd name="T18" fmla="*/ 17 w 169"/>
                  <a:gd name="T19" fmla="*/ 60 h 6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9"/>
                  <a:gd name="T31" fmla="*/ 0 h 68"/>
                  <a:gd name="T32" fmla="*/ 169 w 169"/>
                  <a:gd name="T33" fmla="*/ 68 h 6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9" h="68">
                    <a:moveTo>
                      <a:pt x="17" y="60"/>
                    </a:moveTo>
                    <a:lnTo>
                      <a:pt x="10" y="54"/>
                    </a:lnTo>
                    <a:lnTo>
                      <a:pt x="166" y="0"/>
                    </a:lnTo>
                    <a:lnTo>
                      <a:pt x="169" y="7"/>
                    </a:lnTo>
                    <a:lnTo>
                      <a:pt x="14" y="64"/>
                    </a:lnTo>
                    <a:lnTo>
                      <a:pt x="8" y="58"/>
                    </a:lnTo>
                    <a:lnTo>
                      <a:pt x="14" y="64"/>
                    </a:lnTo>
                    <a:lnTo>
                      <a:pt x="0" y="68"/>
                    </a:lnTo>
                    <a:lnTo>
                      <a:pt x="8" y="58"/>
                    </a:lnTo>
                    <a:lnTo>
                      <a:pt x="17" y="60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27" name="Freeform 196"/>
              <p:cNvSpPr>
                <a:spLocks/>
              </p:cNvSpPr>
              <p:nvPr/>
            </p:nvSpPr>
            <p:spPr bwMode="auto">
              <a:xfrm>
                <a:off x="2462" y="1415"/>
                <a:ext cx="102" cy="133"/>
              </a:xfrm>
              <a:custGeom>
                <a:avLst/>
                <a:gdLst>
                  <a:gd name="T0" fmla="*/ 91 w 102"/>
                  <a:gd name="T1" fmla="*/ 11 h 133"/>
                  <a:gd name="T2" fmla="*/ 102 w 102"/>
                  <a:gd name="T3" fmla="*/ 9 h 133"/>
                  <a:gd name="T4" fmla="*/ 8 w 102"/>
                  <a:gd name="T5" fmla="*/ 133 h 133"/>
                  <a:gd name="T6" fmla="*/ 0 w 102"/>
                  <a:gd name="T7" fmla="*/ 130 h 133"/>
                  <a:gd name="T8" fmla="*/ 93 w 102"/>
                  <a:gd name="T9" fmla="*/ 7 h 133"/>
                  <a:gd name="T10" fmla="*/ 102 w 102"/>
                  <a:gd name="T11" fmla="*/ 5 h 133"/>
                  <a:gd name="T12" fmla="*/ 93 w 102"/>
                  <a:gd name="T13" fmla="*/ 7 h 133"/>
                  <a:gd name="T14" fmla="*/ 98 w 102"/>
                  <a:gd name="T15" fmla="*/ 0 h 133"/>
                  <a:gd name="T16" fmla="*/ 102 w 102"/>
                  <a:gd name="T17" fmla="*/ 5 h 133"/>
                  <a:gd name="T18" fmla="*/ 91 w 102"/>
                  <a:gd name="T19" fmla="*/ 11 h 1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2"/>
                  <a:gd name="T31" fmla="*/ 0 h 133"/>
                  <a:gd name="T32" fmla="*/ 102 w 102"/>
                  <a:gd name="T33" fmla="*/ 133 h 13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2" h="133">
                    <a:moveTo>
                      <a:pt x="91" y="11"/>
                    </a:moveTo>
                    <a:lnTo>
                      <a:pt x="102" y="9"/>
                    </a:lnTo>
                    <a:lnTo>
                      <a:pt x="8" y="133"/>
                    </a:lnTo>
                    <a:lnTo>
                      <a:pt x="0" y="130"/>
                    </a:lnTo>
                    <a:lnTo>
                      <a:pt x="93" y="7"/>
                    </a:lnTo>
                    <a:lnTo>
                      <a:pt x="102" y="5"/>
                    </a:lnTo>
                    <a:lnTo>
                      <a:pt x="93" y="7"/>
                    </a:lnTo>
                    <a:lnTo>
                      <a:pt x="98" y="0"/>
                    </a:lnTo>
                    <a:lnTo>
                      <a:pt x="102" y="5"/>
                    </a:lnTo>
                    <a:lnTo>
                      <a:pt x="91" y="11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28" name="Freeform 197"/>
              <p:cNvSpPr>
                <a:spLocks/>
              </p:cNvSpPr>
              <p:nvPr/>
            </p:nvSpPr>
            <p:spPr bwMode="auto">
              <a:xfrm>
                <a:off x="2553" y="1421"/>
                <a:ext cx="77" cy="75"/>
              </a:xfrm>
              <a:custGeom>
                <a:avLst/>
                <a:gdLst>
                  <a:gd name="T0" fmla="*/ 67 w 77"/>
                  <a:gd name="T1" fmla="*/ 66 h 75"/>
                  <a:gd name="T2" fmla="*/ 62 w 77"/>
                  <a:gd name="T3" fmla="*/ 73 h 75"/>
                  <a:gd name="T4" fmla="*/ 0 w 77"/>
                  <a:gd name="T5" fmla="*/ 6 h 75"/>
                  <a:gd name="T6" fmla="*/ 11 w 77"/>
                  <a:gd name="T7" fmla="*/ 0 h 75"/>
                  <a:gd name="T8" fmla="*/ 73 w 77"/>
                  <a:gd name="T9" fmla="*/ 67 h 75"/>
                  <a:gd name="T10" fmla="*/ 69 w 77"/>
                  <a:gd name="T11" fmla="*/ 75 h 75"/>
                  <a:gd name="T12" fmla="*/ 73 w 77"/>
                  <a:gd name="T13" fmla="*/ 67 h 75"/>
                  <a:gd name="T14" fmla="*/ 77 w 77"/>
                  <a:gd name="T15" fmla="*/ 71 h 75"/>
                  <a:gd name="T16" fmla="*/ 69 w 77"/>
                  <a:gd name="T17" fmla="*/ 75 h 75"/>
                  <a:gd name="T18" fmla="*/ 67 w 77"/>
                  <a:gd name="T19" fmla="*/ 66 h 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7"/>
                  <a:gd name="T31" fmla="*/ 0 h 75"/>
                  <a:gd name="T32" fmla="*/ 77 w 77"/>
                  <a:gd name="T33" fmla="*/ 75 h 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7" h="75">
                    <a:moveTo>
                      <a:pt x="67" y="66"/>
                    </a:moveTo>
                    <a:lnTo>
                      <a:pt x="62" y="73"/>
                    </a:lnTo>
                    <a:lnTo>
                      <a:pt x="0" y="6"/>
                    </a:lnTo>
                    <a:lnTo>
                      <a:pt x="11" y="0"/>
                    </a:lnTo>
                    <a:lnTo>
                      <a:pt x="73" y="67"/>
                    </a:lnTo>
                    <a:lnTo>
                      <a:pt x="69" y="75"/>
                    </a:lnTo>
                    <a:lnTo>
                      <a:pt x="73" y="67"/>
                    </a:lnTo>
                    <a:lnTo>
                      <a:pt x="77" y="71"/>
                    </a:lnTo>
                    <a:lnTo>
                      <a:pt x="69" y="75"/>
                    </a:lnTo>
                    <a:lnTo>
                      <a:pt x="67" y="66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29" name="Freeform 198"/>
              <p:cNvSpPr>
                <a:spLocks/>
              </p:cNvSpPr>
              <p:nvPr/>
            </p:nvSpPr>
            <p:spPr bwMode="auto">
              <a:xfrm>
                <a:off x="2485" y="1501"/>
                <a:ext cx="35" cy="31"/>
              </a:xfrm>
              <a:custGeom>
                <a:avLst/>
                <a:gdLst>
                  <a:gd name="T0" fmla="*/ 35 w 35"/>
                  <a:gd name="T1" fmla="*/ 19 h 31"/>
                  <a:gd name="T2" fmla="*/ 20 w 35"/>
                  <a:gd name="T3" fmla="*/ 31 h 31"/>
                  <a:gd name="T4" fmla="*/ 0 w 35"/>
                  <a:gd name="T5" fmla="*/ 12 h 31"/>
                  <a:gd name="T6" fmla="*/ 16 w 35"/>
                  <a:gd name="T7" fmla="*/ 0 h 31"/>
                  <a:gd name="T8" fmla="*/ 35 w 35"/>
                  <a:gd name="T9" fmla="*/ 19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31"/>
                  <a:gd name="T17" fmla="*/ 35 w 35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31">
                    <a:moveTo>
                      <a:pt x="35" y="19"/>
                    </a:moveTo>
                    <a:lnTo>
                      <a:pt x="20" y="31"/>
                    </a:lnTo>
                    <a:lnTo>
                      <a:pt x="0" y="12"/>
                    </a:lnTo>
                    <a:lnTo>
                      <a:pt x="16" y="0"/>
                    </a:lnTo>
                    <a:lnTo>
                      <a:pt x="35" y="19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30" name="Freeform 199"/>
              <p:cNvSpPr>
                <a:spLocks/>
              </p:cNvSpPr>
              <p:nvPr/>
            </p:nvSpPr>
            <p:spPr bwMode="auto">
              <a:xfrm>
                <a:off x="2502" y="1376"/>
                <a:ext cx="214" cy="144"/>
              </a:xfrm>
              <a:custGeom>
                <a:avLst/>
                <a:gdLst>
                  <a:gd name="T0" fmla="*/ 214 w 214"/>
                  <a:gd name="T1" fmla="*/ 23 h 144"/>
                  <a:gd name="T2" fmla="*/ 214 w 214"/>
                  <a:gd name="T3" fmla="*/ 23 h 144"/>
                  <a:gd name="T4" fmla="*/ 186 w 214"/>
                  <a:gd name="T5" fmla="*/ 36 h 144"/>
                  <a:gd name="T6" fmla="*/ 161 w 214"/>
                  <a:gd name="T7" fmla="*/ 49 h 144"/>
                  <a:gd name="T8" fmla="*/ 136 w 214"/>
                  <a:gd name="T9" fmla="*/ 64 h 144"/>
                  <a:gd name="T10" fmla="*/ 112 w 214"/>
                  <a:gd name="T11" fmla="*/ 80 h 144"/>
                  <a:gd name="T12" fmla="*/ 87 w 214"/>
                  <a:gd name="T13" fmla="*/ 95 h 144"/>
                  <a:gd name="T14" fmla="*/ 63 w 214"/>
                  <a:gd name="T15" fmla="*/ 110 h 144"/>
                  <a:gd name="T16" fmla="*/ 41 w 214"/>
                  <a:gd name="T17" fmla="*/ 127 h 144"/>
                  <a:gd name="T18" fmla="*/ 19 w 214"/>
                  <a:gd name="T19" fmla="*/ 144 h 144"/>
                  <a:gd name="T20" fmla="*/ 0 w 214"/>
                  <a:gd name="T21" fmla="*/ 126 h 144"/>
                  <a:gd name="T22" fmla="*/ 22 w 214"/>
                  <a:gd name="T23" fmla="*/ 108 h 144"/>
                  <a:gd name="T24" fmla="*/ 48 w 214"/>
                  <a:gd name="T25" fmla="*/ 91 h 144"/>
                  <a:gd name="T26" fmla="*/ 73 w 214"/>
                  <a:gd name="T27" fmla="*/ 75 h 144"/>
                  <a:gd name="T28" fmla="*/ 97 w 214"/>
                  <a:gd name="T29" fmla="*/ 58 h 144"/>
                  <a:gd name="T30" fmla="*/ 123 w 214"/>
                  <a:gd name="T31" fmla="*/ 43 h 144"/>
                  <a:gd name="T32" fmla="*/ 150 w 214"/>
                  <a:gd name="T33" fmla="*/ 28 h 144"/>
                  <a:gd name="T34" fmla="*/ 176 w 214"/>
                  <a:gd name="T35" fmla="*/ 13 h 144"/>
                  <a:gd name="T36" fmla="*/ 203 w 214"/>
                  <a:gd name="T37" fmla="*/ 0 h 144"/>
                  <a:gd name="T38" fmla="*/ 214 w 214"/>
                  <a:gd name="T39" fmla="*/ 23 h 14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4"/>
                  <a:gd name="T61" fmla="*/ 0 h 144"/>
                  <a:gd name="T62" fmla="*/ 214 w 214"/>
                  <a:gd name="T63" fmla="*/ 144 h 14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4" h="144">
                    <a:moveTo>
                      <a:pt x="214" y="23"/>
                    </a:moveTo>
                    <a:lnTo>
                      <a:pt x="214" y="23"/>
                    </a:lnTo>
                    <a:lnTo>
                      <a:pt x="186" y="36"/>
                    </a:lnTo>
                    <a:lnTo>
                      <a:pt x="161" y="49"/>
                    </a:lnTo>
                    <a:lnTo>
                      <a:pt x="136" y="64"/>
                    </a:lnTo>
                    <a:lnTo>
                      <a:pt x="112" y="80"/>
                    </a:lnTo>
                    <a:lnTo>
                      <a:pt x="87" y="95"/>
                    </a:lnTo>
                    <a:lnTo>
                      <a:pt x="63" y="110"/>
                    </a:lnTo>
                    <a:lnTo>
                      <a:pt x="41" y="127"/>
                    </a:lnTo>
                    <a:lnTo>
                      <a:pt x="19" y="144"/>
                    </a:lnTo>
                    <a:lnTo>
                      <a:pt x="0" y="126"/>
                    </a:lnTo>
                    <a:lnTo>
                      <a:pt x="22" y="108"/>
                    </a:lnTo>
                    <a:lnTo>
                      <a:pt x="48" y="91"/>
                    </a:lnTo>
                    <a:lnTo>
                      <a:pt x="73" y="75"/>
                    </a:lnTo>
                    <a:lnTo>
                      <a:pt x="97" y="58"/>
                    </a:lnTo>
                    <a:lnTo>
                      <a:pt x="123" y="43"/>
                    </a:lnTo>
                    <a:lnTo>
                      <a:pt x="150" y="28"/>
                    </a:lnTo>
                    <a:lnTo>
                      <a:pt x="176" y="13"/>
                    </a:lnTo>
                    <a:lnTo>
                      <a:pt x="203" y="0"/>
                    </a:lnTo>
                    <a:lnTo>
                      <a:pt x="214" y="23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31" name="Freeform 200"/>
              <p:cNvSpPr>
                <a:spLocks/>
              </p:cNvSpPr>
              <p:nvPr/>
            </p:nvSpPr>
            <p:spPr bwMode="auto">
              <a:xfrm>
                <a:off x="2710" y="1309"/>
                <a:ext cx="198" cy="94"/>
              </a:xfrm>
              <a:custGeom>
                <a:avLst/>
                <a:gdLst>
                  <a:gd name="T0" fmla="*/ 198 w 198"/>
                  <a:gd name="T1" fmla="*/ 27 h 94"/>
                  <a:gd name="T2" fmla="*/ 176 w 198"/>
                  <a:gd name="T3" fmla="*/ 33 h 94"/>
                  <a:gd name="T4" fmla="*/ 151 w 198"/>
                  <a:gd name="T5" fmla="*/ 40 h 94"/>
                  <a:gd name="T6" fmla="*/ 128 w 198"/>
                  <a:gd name="T7" fmla="*/ 48 h 94"/>
                  <a:gd name="T8" fmla="*/ 104 w 198"/>
                  <a:gd name="T9" fmla="*/ 55 h 94"/>
                  <a:gd name="T10" fmla="*/ 80 w 198"/>
                  <a:gd name="T11" fmla="*/ 65 h 94"/>
                  <a:gd name="T12" fmla="*/ 57 w 198"/>
                  <a:gd name="T13" fmla="*/ 73 h 94"/>
                  <a:gd name="T14" fmla="*/ 35 w 198"/>
                  <a:gd name="T15" fmla="*/ 83 h 94"/>
                  <a:gd name="T16" fmla="*/ 11 w 198"/>
                  <a:gd name="T17" fmla="*/ 94 h 94"/>
                  <a:gd name="T18" fmla="*/ 0 w 198"/>
                  <a:gd name="T19" fmla="*/ 69 h 94"/>
                  <a:gd name="T20" fmla="*/ 25 w 198"/>
                  <a:gd name="T21" fmla="*/ 58 h 94"/>
                  <a:gd name="T22" fmla="*/ 50 w 198"/>
                  <a:gd name="T23" fmla="*/ 48 h 94"/>
                  <a:gd name="T24" fmla="*/ 75 w 198"/>
                  <a:gd name="T25" fmla="*/ 38 h 94"/>
                  <a:gd name="T26" fmla="*/ 99 w 198"/>
                  <a:gd name="T27" fmla="*/ 31 h 94"/>
                  <a:gd name="T28" fmla="*/ 123 w 198"/>
                  <a:gd name="T29" fmla="*/ 21 h 94"/>
                  <a:gd name="T30" fmla="*/ 149 w 198"/>
                  <a:gd name="T31" fmla="*/ 13 h 94"/>
                  <a:gd name="T32" fmla="*/ 173 w 198"/>
                  <a:gd name="T33" fmla="*/ 6 h 94"/>
                  <a:gd name="T34" fmla="*/ 197 w 198"/>
                  <a:gd name="T35" fmla="*/ 0 h 94"/>
                  <a:gd name="T36" fmla="*/ 198 w 198"/>
                  <a:gd name="T37" fmla="*/ 27 h 9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8"/>
                  <a:gd name="T58" fmla="*/ 0 h 94"/>
                  <a:gd name="T59" fmla="*/ 198 w 198"/>
                  <a:gd name="T60" fmla="*/ 94 h 9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8" h="94">
                    <a:moveTo>
                      <a:pt x="198" y="27"/>
                    </a:moveTo>
                    <a:lnTo>
                      <a:pt x="176" y="33"/>
                    </a:lnTo>
                    <a:lnTo>
                      <a:pt x="151" y="40"/>
                    </a:lnTo>
                    <a:lnTo>
                      <a:pt x="128" y="48"/>
                    </a:lnTo>
                    <a:lnTo>
                      <a:pt x="104" y="55"/>
                    </a:lnTo>
                    <a:lnTo>
                      <a:pt x="80" y="65"/>
                    </a:lnTo>
                    <a:lnTo>
                      <a:pt x="57" y="73"/>
                    </a:lnTo>
                    <a:lnTo>
                      <a:pt x="35" y="83"/>
                    </a:lnTo>
                    <a:lnTo>
                      <a:pt x="11" y="94"/>
                    </a:lnTo>
                    <a:lnTo>
                      <a:pt x="0" y="69"/>
                    </a:lnTo>
                    <a:lnTo>
                      <a:pt x="25" y="58"/>
                    </a:lnTo>
                    <a:lnTo>
                      <a:pt x="50" y="48"/>
                    </a:lnTo>
                    <a:lnTo>
                      <a:pt x="75" y="38"/>
                    </a:lnTo>
                    <a:lnTo>
                      <a:pt x="99" y="31"/>
                    </a:lnTo>
                    <a:lnTo>
                      <a:pt x="123" y="21"/>
                    </a:lnTo>
                    <a:lnTo>
                      <a:pt x="149" y="13"/>
                    </a:lnTo>
                    <a:lnTo>
                      <a:pt x="173" y="6"/>
                    </a:lnTo>
                    <a:lnTo>
                      <a:pt x="197" y="0"/>
                    </a:lnTo>
                    <a:lnTo>
                      <a:pt x="198" y="27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32" name="Freeform 201"/>
              <p:cNvSpPr>
                <a:spLocks/>
              </p:cNvSpPr>
              <p:nvPr/>
            </p:nvSpPr>
            <p:spPr bwMode="auto">
              <a:xfrm>
                <a:off x="2908" y="1302"/>
                <a:ext cx="19" cy="33"/>
              </a:xfrm>
              <a:custGeom>
                <a:avLst/>
                <a:gdLst>
                  <a:gd name="T0" fmla="*/ 0 w 19"/>
                  <a:gd name="T1" fmla="*/ 4 h 33"/>
                  <a:gd name="T2" fmla="*/ 18 w 19"/>
                  <a:gd name="T3" fmla="*/ 0 h 33"/>
                  <a:gd name="T4" fmla="*/ 19 w 19"/>
                  <a:gd name="T5" fmla="*/ 29 h 33"/>
                  <a:gd name="T6" fmla="*/ 1 w 19"/>
                  <a:gd name="T7" fmla="*/ 33 h 33"/>
                  <a:gd name="T8" fmla="*/ 0 w 19"/>
                  <a:gd name="T9" fmla="*/ 4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33"/>
                  <a:gd name="T17" fmla="*/ 19 w 19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33">
                    <a:moveTo>
                      <a:pt x="0" y="4"/>
                    </a:moveTo>
                    <a:lnTo>
                      <a:pt x="18" y="0"/>
                    </a:lnTo>
                    <a:lnTo>
                      <a:pt x="19" y="29"/>
                    </a:lnTo>
                    <a:lnTo>
                      <a:pt x="1" y="3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33" name="Freeform 202"/>
              <p:cNvSpPr>
                <a:spLocks/>
              </p:cNvSpPr>
              <p:nvPr/>
            </p:nvSpPr>
            <p:spPr bwMode="auto">
              <a:xfrm>
                <a:off x="2435" y="1447"/>
                <a:ext cx="154" cy="125"/>
              </a:xfrm>
              <a:custGeom>
                <a:avLst/>
                <a:gdLst>
                  <a:gd name="T0" fmla="*/ 154 w 154"/>
                  <a:gd name="T1" fmla="*/ 63 h 125"/>
                  <a:gd name="T2" fmla="*/ 0 w 154"/>
                  <a:gd name="T3" fmla="*/ 125 h 125"/>
                  <a:gd name="T4" fmla="*/ 87 w 154"/>
                  <a:gd name="T5" fmla="*/ 0 h 125"/>
                  <a:gd name="T6" fmla="*/ 154 w 154"/>
                  <a:gd name="T7" fmla="*/ 63 h 1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125"/>
                  <a:gd name="T14" fmla="*/ 154 w 154"/>
                  <a:gd name="T15" fmla="*/ 125 h 1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125">
                    <a:moveTo>
                      <a:pt x="154" y="63"/>
                    </a:moveTo>
                    <a:lnTo>
                      <a:pt x="0" y="125"/>
                    </a:lnTo>
                    <a:lnTo>
                      <a:pt x="87" y="0"/>
                    </a:lnTo>
                    <a:lnTo>
                      <a:pt x="154" y="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34" name="Freeform 203"/>
              <p:cNvSpPr>
                <a:spLocks/>
              </p:cNvSpPr>
              <p:nvPr/>
            </p:nvSpPr>
            <p:spPr bwMode="auto">
              <a:xfrm>
                <a:off x="2415" y="1502"/>
                <a:ext cx="177" cy="85"/>
              </a:xfrm>
              <a:custGeom>
                <a:avLst/>
                <a:gdLst>
                  <a:gd name="T0" fmla="*/ 30 w 177"/>
                  <a:gd name="T1" fmla="*/ 70 h 85"/>
                  <a:gd name="T2" fmla="*/ 20 w 177"/>
                  <a:gd name="T3" fmla="*/ 61 h 85"/>
                  <a:gd name="T4" fmla="*/ 172 w 177"/>
                  <a:gd name="T5" fmla="*/ 0 h 85"/>
                  <a:gd name="T6" fmla="*/ 177 w 177"/>
                  <a:gd name="T7" fmla="*/ 15 h 85"/>
                  <a:gd name="T8" fmla="*/ 24 w 177"/>
                  <a:gd name="T9" fmla="*/ 75 h 85"/>
                  <a:gd name="T10" fmla="*/ 14 w 177"/>
                  <a:gd name="T11" fmla="*/ 65 h 85"/>
                  <a:gd name="T12" fmla="*/ 24 w 177"/>
                  <a:gd name="T13" fmla="*/ 75 h 85"/>
                  <a:gd name="T14" fmla="*/ 0 w 177"/>
                  <a:gd name="T15" fmla="*/ 85 h 85"/>
                  <a:gd name="T16" fmla="*/ 14 w 177"/>
                  <a:gd name="T17" fmla="*/ 65 h 85"/>
                  <a:gd name="T18" fmla="*/ 30 w 177"/>
                  <a:gd name="T19" fmla="*/ 70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7"/>
                  <a:gd name="T31" fmla="*/ 0 h 85"/>
                  <a:gd name="T32" fmla="*/ 177 w 177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7" h="85">
                    <a:moveTo>
                      <a:pt x="30" y="70"/>
                    </a:moveTo>
                    <a:lnTo>
                      <a:pt x="20" y="61"/>
                    </a:lnTo>
                    <a:lnTo>
                      <a:pt x="172" y="0"/>
                    </a:lnTo>
                    <a:lnTo>
                      <a:pt x="177" y="15"/>
                    </a:lnTo>
                    <a:lnTo>
                      <a:pt x="24" y="75"/>
                    </a:lnTo>
                    <a:lnTo>
                      <a:pt x="14" y="65"/>
                    </a:lnTo>
                    <a:lnTo>
                      <a:pt x="24" y="75"/>
                    </a:lnTo>
                    <a:lnTo>
                      <a:pt x="0" y="85"/>
                    </a:lnTo>
                    <a:lnTo>
                      <a:pt x="14" y="65"/>
                    </a:lnTo>
                    <a:lnTo>
                      <a:pt x="30" y="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35" name="Freeform 204"/>
              <p:cNvSpPr>
                <a:spLocks/>
              </p:cNvSpPr>
              <p:nvPr/>
            </p:nvSpPr>
            <p:spPr bwMode="auto">
              <a:xfrm>
                <a:off x="2429" y="1434"/>
                <a:ext cx="102" cy="142"/>
              </a:xfrm>
              <a:custGeom>
                <a:avLst/>
                <a:gdLst>
                  <a:gd name="T0" fmla="*/ 85 w 102"/>
                  <a:gd name="T1" fmla="*/ 20 h 142"/>
                  <a:gd name="T2" fmla="*/ 102 w 102"/>
                  <a:gd name="T3" fmla="*/ 17 h 142"/>
                  <a:gd name="T4" fmla="*/ 15 w 102"/>
                  <a:gd name="T5" fmla="*/ 142 h 142"/>
                  <a:gd name="T6" fmla="*/ 0 w 102"/>
                  <a:gd name="T7" fmla="*/ 137 h 142"/>
                  <a:gd name="T8" fmla="*/ 86 w 102"/>
                  <a:gd name="T9" fmla="*/ 11 h 142"/>
                  <a:gd name="T10" fmla="*/ 102 w 102"/>
                  <a:gd name="T11" fmla="*/ 8 h 142"/>
                  <a:gd name="T12" fmla="*/ 86 w 102"/>
                  <a:gd name="T13" fmla="*/ 11 h 142"/>
                  <a:gd name="T14" fmla="*/ 93 w 102"/>
                  <a:gd name="T15" fmla="*/ 0 h 142"/>
                  <a:gd name="T16" fmla="*/ 102 w 102"/>
                  <a:gd name="T17" fmla="*/ 8 h 142"/>
                  <a:gd name="T18" fmla="*/ 85 w 102"/>
                  <a:gd name="T19" fmla="*/ 20 h 1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2"/>
                  <a:gd name="T31" fmla="*/ 0 h 142"/>
                  <a:gd name="T32" fmla="*/ 102 w 102"/>
                  <a:gd name="T33" fmla="*/ 142 h 1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2" h="142">
                    <a:moveTo>
                      <a:pt x="85" y="20"/>
                    </a:moveTo>
                    <a:lnTo>
                      <a:pt x="102" y="17"/>
                    </a:lnTo>
                    <a:lnTo>
                      <a:pt x="15" y="142"/>
                    </a:lnTo>
                    <a:lnTo>
                      <a:pt x="0" y="137"/>
                    </a:lnTo>
                    <a:lnTo>
                      <a:pt x="86" y="11"/>
                    </a:lnTo>
                    <a:lnTo>
                      <a:pt x="102" y="8"/>
                    </a:lnTo>
                    <a:lnTo>
                      <a:pt x="86" y="11"/>
                    </a:lnTo>
                    <a:lnTo>
                      <a:pt x="93" y="0"/>
                    </a:lnTo>
                    <a:lnTo>
                      <a:pt x="102" y="8"/>
                    </a:lnTo>
                    <a:lnTo>
                      <a:pt x="85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36" name="Freeform 205"/>
              <p:cNvSpPr>
                <a:spLocks/>
              </p:cNvSpPr>
              <p:nvPr/>
            </p:nvSpPr>
            <p:spPr bwMode="auto">
              <a:xfrm>
                <a:off x="2515" y="1441"/>
                <a:ext cx="91" cy="77"/>
              </a:xfrm>
              <a:custGeom>
                <a:avLst/>
                <a:gdLst>
                  <a:gd name="T0" fmla="*/ 72 w 91"/>
                  <a:gd name="T1" fmla="*/ 62 h 77"/>
                  <a:gd name="T2" fmla="*/ 66 w 91"/>
                  <a:gd name="T3" fmla="*/ 76 h 77"/>
                  <a:gd name="T4" fmla="*/ 0 w 91"/>
                  <a:gd name="T5" fmla="*/ 13 h 77"/>
                  <a:gd name="T6" fmla="*/ 16 w 91"/>
                  <a:gd name="T7" fmla="*/ 0 h 77"/>
                  <a:gd name="T8" fmla="*/ 83 w 91"/>
                  <a:gd name="T9" fmla="*/ 63 h 77"/>
                  <a:gd name="T10" fmla="*/ 77 w 91"/>
                  <a:gd name="T11" fmla="*/ 77 h 77"/>
                  <a:gd name="T12" fmla="*/ 83 w 91"/>
                  <a:gd name="T13" fmla="*/ 63 h 77"/>
                  <a:gd name="T14" fmla="*/ 91 w 91"/>
                  <a:gd name="T15" fmla="*/ 72 h 77"/>
                  <a:gd name="T16" fmla="*/ 77 w 91"/>
                  <a:gd name="T17" fmla="*/ 77 h 77"/>
                  <a:gd name="T18" fmla="*/ 72 w 91"/>
                  <a:gd name="T19" fmla="*/ 62 h 7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77"/>
                  <a:gd name="T32" fmla="*/ 91 w 91"/>
                  <a:gd name="T33" fmla="*/ 77 h 7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77">
                    <a:moveTo>
                      <a:pt x="72" y="62"/>
                    </a:moveTo>
                    <a:lnTo>
                      <a:pt x="66" y="76"/>
                    </a:lnTo>
                    <a:lnTo>
                      <a:pt x="0" y="13"/>
                    </a:lnTo>
                    <a:lnTo>
                      <a:pt x="16" y="0"/>
                    </a:lnTo>
                    <a:lnTo>
                      <a:pt x="83" y="63"/>
                    </a:lnTo>
                    <a:lnTo>
                      <a:pt x="77" y="77"/>
                    </a:lnTo>
                    <a:lnTo>
                      <a:pt x="83" y="63"/>
                    </a:lnTo>
                    <a:lnTo>
                      <a:pt x="91" y="72"/>
                    </a:lnTo>
                    <a:lnTo>
                      <a:pt x="77" y="77"/>
                    </a:lnTo>
                    <a:lnTo>
                      <a:pt x="72" y="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37" name="Freeform 206"/>
              <p:cNvSpPr>
                <a:spLocks/>
              </p:cNvSpPr>
              <p:nvPr/>
            </p:nvSpPr>
            <p:spPr bwMode="auto">
              <a:xfrm>
                <a:off x="2447" y="1524"/>
                <a:ext cx="43" cy="35"/>
              </a:xfrm>
              <a:custGeom>
                <a:avLst/>
                <a:gdLst>
                  <a:gd name="T0" fmla="*/ 43 w 43"/>
                  <a:gd name="T1" fmla="*/ 20 h 35"/>
                  <a:gd name="T2" fmla="*/ 25 w 43"/>
                  <a:gd name="T3" fmla="*/ 35 h 35"/>
                  <a:gd name="T4" fmla="*/ 0 w 43"/>
                  <a:gd name="T5" fmla="*/ 14 h 35"/>
                  <a:gd name="T6" fmla="*/ 19 w 43"/>
                  <a:gd name="T7" fmla="*/ 0 h 35"/>
                  <a:gd name="T8" fmla="*/ 43 w 43"/>
                  <a:gd name="T9" fmla="*/ 2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35"/>
                  <a:gd name="T17" fmla="*/ 43 w 43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35">
                    <a:moveTo>
                      <a:pt x="43" y="20"/>
                    </a:moveTo>
                    <a:lnTo>
                      <a:pt x="25" y="35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43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38" name="Freeform 207"/>
              <p:cNvSpPr>
                <a:spLocks/>
              </p:cNvSpPr>
              <p:nvPr/>
            </p:nvSpPr>
            <p:spPr bwMode="auto">
              <a:xfrm>
                <a:off x="2468" y="1391"/>
                <a:ext cx="215" cy="156"/>
              </a:xfrm>
              <a:custGeom>
                <a:avLst/>
                <a:gdLst>
                  <a:gd name="T0" fmla="*/ 215 w 215"/>
                  <a:gd name="T1" fmla="*/ 29 h 156"/>
                  <a:gd name="T2" fmla="*/ 215 w 215"/>
                  <a:gd name="T3" fmla="*/ 29 h 156"/>
                  <a:gd name="T4" fmla="*/ 189 w 215"/>
                  <a:gd name="T5" fmla="*/ 43 h 156"/>
                  <a:gd name="T6" fmla="*/ 162 w 215"/>
                  <a:gd name="T7" fmla="*/ 59 h 156"/>
                  <a:gd name="T8" fmla="*/ 138 w 215"/>
                  <a:gd name="T9" fmla="*/ 72 h 156"/>
                  <a:gd name="T10" fmla="*/ 114 w 215"/>
                  <a:gd name="T11" fmla="*/ 88 h 156"/>
                  <a:gd name="T12" fmla="*/ 91 w 215"/>
                  <a:gd name="T13" fmla="*/ 103 h 156"/>
                  <a:gd name="T14" fmla="*/ 68 w 215"/>
                  <a:gd name="T15" fmla="*/ 121 h 156"/>
                  <a:gd name="T16" fmla="*/ 47 w 215"/>
                  <a:gd name="T17" fmla="*/ 138 h 156"/>
                  <a:gd name="T18" fmla="*/ 24 w 215"/>
                  <a:gd name="T19" fmla="*/ 156 h 156"/>
                  <a:gd name="T20" fmla="*/ 0 w 215"/>
                  <a:gd name="T21" fmla="*/ 134 h 156"/>
                  <a:gd name="T22" fmla="*/ 22 w 215"/>
                  <a:gd name="T23" fmla="*/ 116 h 156"/>
                  <a:gd name="T24" fmla="*/ 45 w 215"/>
                  <a:gd name="T25" fmla="*/ 97 h 156"/>
                  <a:gd name="T26" fmla="*/ 70 w 215"/>
                  <a:gd name="T27" fmla="*/ 79 h 156"/>
                  <a:gd name="T28" fmla="*/ 95 w 215"/>
                  <a:gd name="T29" fmla="*/ 63 h 156"/>
                  <a:gd name="T30" fmla="*/ 119 w 215"/>
                  <a:gd name="T31" fmla="*/ 47 h 156"/>
                  <a:gd name="T32" fmla="*/ 146 w 215"/>
                  <a:gd name="T33" fmla="*/ 30 h 156"/>
                  <a:gd name="T34" fmla="*/ 172 w 215"/>
                  <a:gd name="T35" fmla="*/ 16 h 156"/>
                  <a:gd name="T36" fmla="*/ 201 w 215"/>
                  <a:gd name="T37" fmla="*/ 0 h 156"/>
                  <a:gd name="T38" fmla="*/ 215 w 215"/>
                  <a:gd name="T39" fmla="*/ 29 h 15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5"/>
                  <a:gd name="T61" fmla="*/ 0 h 156"/>
                  <a:gd name="T62" fmla="*/ 215 w 215"/>
                  <a:gd name="T63" fmla="*/ 156 h 15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5" h="156">
                    <a:moveTo>
                      <a:pt x="215" y="29"/>
                    </a:moveTo>
                    <a:lnTo>
                      <a:pt x="215" y="29"/>
                    </a:lnTo>
                    <a:lnTo>
                      <a:pt x="189" y="43"/>
                    </a:lnTo>
                    <a:lnTo>
                      <a:pt x="162" y="59"/>
                    </a:lnTo>
                    <a:lnTo>
                      <a:pt x="138" y="72"/>
                    </a:lnTo>
                    <a:lnTo>
                      <a:pt x="114" y="88"/>
                    </a:lnTo>
                    <a:lnTo>
                      <a:pt x="91" y="103"/>
                    </a:lnTo>
                    <a:lnTo>
                      <a:pt x="68" y="121"/>
                    </a:lnTo>
                    <a:lnTo>
                      <a:pt x="47" y="138"/>
                    </a:lnTo>
                    <a:lnTo>
                      <a:pt x="24" y="156"/>
                    </a:lnTo>
                    <a:lnTo>
                      <a:pt x="0" y="134"/>
                    </a:lnTo>
                    <a:lnTo>
                      <a:pt x="22" y="116"/>
                    </a:lnTo>
                    <a:lnTo>
                      <a:pt x="45" y="97"/>
                    </a:lnTo>
                    <a:lnTo>
                      <a:pt x="70" y="79"/>
                    </a:lnTo>
                    <a:lnTo>
                      <a:pt x="95" y="63"/>
                    </a:lnTo>
                    <a:lnTo>
                      <a:pt x="119" y="47"/>
                    </a:lnTo>
                    <a:lnTo>
                      <a:pt x="146" y="30"/>
                    </a:lnTo>
                    <a:lnTo>
                      <a:pt x="172" y="16"/>
                    </a:lnTo>
                    <a:lnTo>
                      <a:pt x="201" y="0"/>
                    </a:lnTo>
                    <a:lnTo>
                      <a:pt x="215" y="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39" name="Freeform 208"/>
              <p:cNvSpPr>
                <a:spLocks/>
              </p:cNvSpPr>
              <p:nvPr/>
            </p:nvSpPr>
            <p:spPr bwMode="auto">
              <a:xfrm>
                <a:off x="2673" y="1315"/>
                <a:ext cx="198" cy="107"/>
              </a:xfrm>
              <a:custGeom>
                <a:avLst/>
                <a:gdLst>
                  <a:gd name="T0" fmla="*/ 198 w 198"/>
                  <a:gd name="T1" fmla="*/ 33 h 107"/>
                  <a:gd name="T2" fmla="*/ 175 w 198"/>
                  <a:gd name="T3" fmla="*/ 41 h 107"/>
                  <a:gd name="T4" fmla="*/ 153 w 198"/>
                  <a:gd name="T5" fmla="*/ 48 h 107"/>
                  <a:gd name="T6" fmla="*/ 128 w 198"/>
                  <a:gd name="T7" fmla="*/ 57 h 107"/>
                  <a:gd name="T8" fmla="*/ 106 w 198"/>
                  <a:gd name="T9" fmla="*/ 65 h 107"/>
                  <a:gd name="T10" fmla="*/ 83 w 198"/>
                  <a:gd name="T11" fmla="*/ 74 h 107"/>
                  <a:gd name="T12" fmla="*/ 59 w 198"/>
                  <a:gd name="T13" fmla="*/ 85 h 107"/>
                  <a:gd name="T14" fmla="*/ 37 w 198"/>
                  <a:gd name="T15" fmla="*/ 95 h 107"/>
                  <a:gd name="T16" fmla="*/ 14 w 198"/>
                  <a:gd name="T17" fmla="*/ 107 h 107"/>
                  <a:gd name="T18" fmla="*/ 0 w 198"/>
                  <a:gd name="T19" fmla="*/ 79 h 107"/>
                  <a:gd name="T20" fmla="*/ 26 w 198"/>
                  <a:gd name="T21" fmla="*/ 66 h 107"/>
                  <a:gd name="T22" fmla="*/ 48 w 198"/>
                  <a:gd name="T23" fmla="*/ 54 h 107"/>
                  <a:gd name="T24" fmla="*/ 74 w 198"/>
                  <a:gd name="T25" fmla="*/ 44 h 107"/>
                  <a:gd name="T26" fmla="*/ 98 w 198"/>
                  <a:gd name="T27" fmla="*/ 33 h 107"/>
                  <a:gd name="T28" fmla="*/ 122 w 198"/>
                  <a:gd name="T29" fmla="*/ 25 h 107"/>
                  <a:gd name="T30" fmla="*/ 147 w 198"/>
                  <a:gd name="T31" fmla="*/ 16 h 107"/>
                  <a:gd name="T32" fmla="*/ 172 w 198"/>
                  <a:gd name="T33" fmla="*/ 6 h 107"/>
                  <a:gd name="T34" fmla="*/ 196 w 198"/>
                  <a:gd name="T35" fmla="*/ 0 h 107"/>
                  <a:gd name="T36" fmla="*/ 198 w 198"/>
                  <a:gd name="T37" fmla="*/ 33 h 10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8"/>
                  <a:gd name="T58" fmla="*/ 0 h 107"/>
                  <a:gd name="T59" fmla="*/ 198 w 198"/>
                  <a:gd name="T60" fmla="*/ 107 h 10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8" h="107">
                    <a:moveTo>
                      <a:pt x="198" y="33"/>
                    </a:moveTo>
                    <a:lnTo>
                      <a:pt x="175" y="41"/>
                    </a:lnTo>
                    <a:lnTo>
                      <a:pt x="153" y="48"/>
                    </a:lnTo>
                    <a:lnTo>
                      <a:pt x="128" y="57"/>
                    </a:lnTo>
                    <a:lnTo>
                      <a:pt x="106" y="65"/>
                    </a:lnTo>
                    <a:lnTo>
                      <a:pt x="83" y="74"/>
                    </a:lnTo>
                    <a:lnTo>
                      <a:pt x="59" y="85"/>
                    </a:lnTo>
                    <a:lnTo>
                      <a:pt x="37" y="95"/>
                    </a:lnTo>
                    <a:lnTo>
                      <a:pt x="14" y="107"/>
                    </a:lnTo>
                    <a:lnTo>
                      <a:pt x="0" y="79"/>
                    </a:lnTo>
                    <a:lnTo>
                      <a:pt x="26" y="66"/>
                    </a:lnTo>
                    <a:lnTo>
                      <a:pt x="48" y="54"/>
                    </a:lnTo>
                    <a:lnTo>
                      <a:pt x="74" y="44"/>
                    </a:lnTo>
                    <a:lnTo>
                      <a:pt x="98" y="33"/>
                    </a:lnTo>
                    <a:lnTo>
                      <a:pt x="122" y="25"/>
                    </a:lnTo>
                    <a:lnTo>
                      <a:pt x="147" y="16"/>
                    </a:lnTo>
                    <a:lnTo>
                      <a:pt x="172" y="6"/>
                    </a:lnTo>
                    <a:lnTo>
                      <a:pt x="196" y="0"/>
                    </a:lnTo>
                    <a:lnTo>
                      <a:pt x="198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40" name="Freeform 209"/>
              <p:cNvSpPr>
                <a:spLocks/>
              </p:cNvSpPr>
              <p:nvPr/>
            </p:nvSpPr>
            <p:spPr bwMode="auto">
              <a:xfrm>
                <a:off x="2872" y="1307"/>
                <a:ext cx="23" cy="41"/>
              </a:xfrm>
              <a:custGeom>
                <a:avLst/>
                <a:gdLst>
                  <a:gd name="T0" fmla="*/ 0 w 23"/>
                  <a:gd name="T1" fmla="*/ 7 h 41"/>
                  <a:gd name="T2" fmla="*/ 21 w 23"/>
                  <a:gd name="T3" fmla="*/ 0 h 41"/>
                  <a:gd name="T4" fmla="*/ 23 w 23"/>
                  <a:gd name="T5" fmla="*/ 35 h 41"/>
                  <a:gd name="T6" fmla="*/ 2 w 23"/>
                  <a:gd name="T7" fmla="*/ 41 h 41"/>
                  <a:gd name="T8" fmla="*/ 0 w 23"/>
                  <a:gd name="T9" fmla="*/ 7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41"/>
                  <a:gd name="T17" fmla="*/ 23 w 23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41">
                    <a:moveTo>
                      <a:pt x="0" y="7"/>
                    </a:moveTo>
                    <a:lnTo>
                      <a:pt x="21" y="0"/>
                    </a:lnTo>
                    <a:lnTo>
                      <a:pt x="23" y="35"/>
                    </a:lnTo>
                    <a:lnTo>
                      <a:pt x="2" y="41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41" name="Freeform 210"/>
              <p:cNvSpPr>
                <a:spLocks/>
              </p:cNvSpPr>
              <p:nvPr/>
            </p:nvSpPr>
            <p:spPr bwMode="auto">
              <a:xfrm>
                <a:off x="2435" y="1447"/>
                <a:ext cx="154" cy="125"/>
              </a:xfrm>
              <a:custGeom>
                <a:avLst/>
                <a:gdLst>
                  <a:gd name="T0" fmla="*/ 154 w 154"/>
                  <a:gd name="T1" fmla="*/ 63 h 125"/>
                  <a:gd name="T2" fmla="*/ 0 w 154"/>
                  <a:gd name="T3" fmla="*/ 125 h 125"/>
                  <a:gd name="T4" fmla="*/ 87 w 154"/>
                  <a:gd name="T5" fmla="*/ 0 h 125"/>
                  <a:gd name="T6" fmla="*/ 154 w 154"/>
                  <a:gd name="T7" fmla="*/ 63 h 1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125"/>
                  <a:gd name="T14" fmla="*/ 154 w 154"/>
                  <a:gd name="T15" fmla="*/ 125 h 1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125">
                    <a:moveTo>
                      <a:pt x="154" y="63"/>
                    </a:moveTo>
                    <a:lnTo>
                      <a:pt x="0" y="125"/>
                    </a:lnTo>
                    <a:lnTo>
                      <a:pt x="87" y="0"/>
                    </a:lnTo>
                    <a:lnTo>
                      <a:pt x="154" y="63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42" name="Freeform 211"/>
              <p:cNvSpPr>
                <a:spLocks/>
              </p:cNvSpPr>
              <p:nvPr/>
            </p:nvSpPr>
            <p:spPr bwMode="auto">
              <a:xfrm>
                <a:off x="2425" y="1507"/>
                <a:ext cx="165" cy="75"/>
              </a:xfrm>
              <a:custGeom>
                <a:avLst/>
                <a:gdLst>
                  <a:gd name="T0" fmla="*/ 16 w 165"/>
                  <a:gd name="T1" fmla="*/ 67 h 75"/>
                  <a:gd name="T2" fmla="*/ 12 w 165"/>
                  <a:gd name="T3" fmla="*/ 60 h 75"/>
                  <a:gd name="T4" fmla="*/ 164 w 165"/>
                  <a:gd name="T5" fmla="*/ 0 h 75"/>
                  <a:gd name="T6" fmla="*/ 165 w 165"/>
                  <a:gd name="T7" fmla="*/ 9 h 75"/>
                  <a:gd name="T8" fmla="*/ 14 w 165"/>
                  <a:gd name="T9" fmla="*/ 70 h 75"/>
                  <a:gd name="T10" fmla="*/ 9 w 165"/>
                  <a:gd name="T11" fmla="*/ 64 h 75"/>
                  <a:gd name="T12" fmla="*/ 14 w 165"/>
                  <a:gd name="T13" fmla="*/ 70 h 75"/>
                  <a:gd name="T14" fmla="*/ 0 w 165"/>
                  <a:gd name="T15" fmla="*/ 75 h 75"/>
                  <a:gd name="T16" fmla="*/ 9 w 165"/>
                  <a:gd name="T17" fmla="*/ 64 h 75"/>
                  <a:gd name="T18" fmla="*/ 16 w 165"/>
                  <a:gd name="T19" fmla="*/ 67 h 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75"/>
                  <a:gd name="T32" fmla="*/ 165 w 165"/>
                  <a:gd name="T33" fmla="*/ 75 h 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75">
                    <a:moveTo>
                      <a:pt x="16" y="67"/>
                    </a:moveTo>
                    <a:lnTo>
                      <a:pt x="12" y="60"/>
                    </a:lnTo>
                    <a:lnTo>
                      <a:pt x="164" y="0"/>
                    </a:lnTo>
                    <a:lnTo>
                      <a:pt x="165" y="9"/>
                    </a:lnTo>
                    <a:lnTo>
                      <a:pt x="14" y="70"/>
                    </a:lnTo>
                    <a:lnTo>
                      <a:pt x="9" y="64"/>
                    </a:lnTo>
                    <a:lnTo>
                      <a:pt x="14" y="70"/>
                    </a:lnTo>
                    <a:lnTo>
                      <a:pt x="0" y="75"/>
                    </a:lnTo>
                    <a:lnTo>
                      <a:pt x="9" y="64"/>
                    </a:lnTo>
                    <a:lnTo>
                      <a:pt x="16" y="67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43" name="Freeform 212"/>
              <p:cNvSpPr>
                <a:spLocks/>
              </p:cNvSpPr>
              <p:nvPr/>
            </p:nvSpPr>
            <p:spPr bwMode="auto">
              <a:xfrm>
                <a:off x="2434" y="1438"/>
                <a:ext cx="95" cy="134"/>
              </a:xfrm>
              <a:custGeom>
                <a:avLst/>
                <a:gdLst>
                  <a:gd name="T0" fmla="*/ 84 w 95"/>
                  <a:gd name="T1" fmla="*/ 13 h 134"/>
                  <a:gd name="T2" fmla="*/ 95 w 95"/>
                  <a:gd name="T3" fmla="*/ 8 h 134"/>
                  <a:gd name="T4" fmla="*/ 8 w 95"/>
                  <a:gd name="T5" fmla="*/ 134 h 134"/>
                  <a:gd name="T6" fmla="*/ 0 w 95"/>
                  <a:gd name="T7" fmla="*/ 132 h 134"/>
                  <a:gd name="T8" fmla="*/ 86 w 95"/>
                  <a:gd name="T9" fmla="*/ 6 h 134"/>
                  <a:gd name="T10" fmla="*/ 95 w 95"/>
                  <a:gd name="T11" fmla="*/ 4 h 134"/>
                  <a:gd name="T12" fmla="*/ 86 w 95"/>
                  <a:gd name="T13" fmla="*/ 6 h 134"/>
                  <a:gd name="T14" fmla="*/ 90 w 95"/>
                  <a:gd name="T15" fmla="*/ 0 h 134"/>
                  <a:gd name="T16" fmla="*/ 95 w 95"/>
                  <a:gd name="T17" fmla="*/ 4 h 134"/>
                  <a:gd name="T18" fmla="*/ 84 w 95"/>
                  <a:gd name="T19" fmla="*/ 13 h 13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5"/>
                  <a:gd name="T31" fmla="*/ 0 h 134"/>
                  <a:gd name="T32" fmla="*/ 95 w 95"/>
                  <a:gd name="T33" fmla="*/ 134 h 13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5" h="134">
                    <a:moveTo>
                      <a:pt x="84" y="13"/>
                    </a:moveTo>
                    <a:lnTo>
                      <a:pt x="95" y="8"/>
                    </a:lnTo>
                    <a:lnTo>
                      <a:pt x="8" y="134"/>
                    </a:lnTo>
                    <a:lnTo>
                      <a:pt x="0" y="132"/>
                    </a:lnTo>
                    <a:lnTo>
                      <a:pt x="86" y="6"/>
                    </a:lnTo>
                    <a:lnTo>
                      <a:pt x="95" y="4"/>
                    </a:lnTo>
                    <a:lnTo>
                      <a:pt x="86" y="6"/>
                    </a:lnTo>
                    <a:lnTo>
                      <a:pt x="90" y="0"/>
                    </a:lnTo>
                    <a:lnTo>
                      <a:pt x="95" y="4"/>
                    </a:lnTo>
                    <a:lnTo>
                      <a:pt x="84" y="13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44" name="Freeform 213"/>
              <p:cNvSpPr>
                <a:spLocks/>
              </p:cNvSpPr>
              <p:nvPr/>
            </p:nvSpPr>
            <p:spPr bwMode="auto">
              <a:xfrm>
                <a:off x="2519" y="1441"/>
                <a:ext cx="82" cy="73"/>
              </a:xfrm>
              <a:custGeom>
                <a:avLst/>
                <a:gdLst>
                  <a:gd name="T0" fmla="*/ 72 w 82"/>
                  <a:gd name="T1" fmla="*/ 63 h 73"/>
                  <a:gd name="T2" fmla="*/ 67 w 82"/>
                  <a:gd name="T3" fmla="*/ 72 h 73"/>
                  <a:gd name="T4" fmla="*/ 0 w 82"/>
                  <a:gd name="T5" fmla="*/ 8 h 73"/>
                  <a:gd name="T6" fmla="*/ 11 w 82"/>
                  <a:gd name="T7" fmla="*/ 0 h 73"/>
                  <a:gd name="T8" fmla="*/ 77 w 82"/>
                  <a:gd name="T9" fmla="*/ 63 h 73"/>
                  <a:gd name="T10" fmla="*/ 74 w 82"/>
                  <a:gd name="T11" fmla="*/ 73 h 73"/>
                  <a:gd name="T12" fmla="*/ 77 w 82"/>
                  <a:gd name="T13" fmla="*/ 63 h 73"/>
                  <a:gd name="T14" fmla="*/ 82 w 82"/>
                  <a:gd name="T15" fmla="*/ 68 h 73"/>
                  <a:gd name="T16" fmla="*/ 74 w 82"/>
                  <a:gd name="T17" fmla="*/ 73 h 73"/>
                  <a:gd name="T18" fmla="*/ 72 w 82"/>
                  <a:gd name="T19" fmla="*/ 63 h 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2"/>
                  <a:gd name="T31" fmla="*/ 0 h 73"/>
                  <a:gd name="T32" fmla="*/ 82 w 82"/>
                  <a:gd name="T33" fmla="*/ 73 h 7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2" h="73">
                    <a:moveTo>
                      <a:pt x="72" y="63"/>
                    </a:moveTo>
                    <a:lnTo>
                      <a:pt x="67" y="72"/>
                    </a:lnTo>
                    <a:lnTo>
                      <a:pt x="0" y="8"/>
                    </a:lnTo>
                    <a:lnTo>
                      <a:pt x="11" y="0"/>
                    </a:lnTo>
                    <a:lnTo>
                      <a:pt x="77" y="63"/>
                    </a:lnTo>
                    <a:lnTo>
                      <a:pt x="74" y="73"/>
                    </a:lnTo>
                    <a:lnTo>
                      <a:pt x="77" y="63"/>
                    </a:lnTo>
                    <a:lnTo>
                      <a:pt x="82" y="68"/>
                    </a:lnTo>
                    <a:lnTo>
                      <a:pt x="74" y="73"/>
                    </a:lnTo>
                    <a:lnTo>
                      <a:pt x="72" y="63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45" name="Freeform 214"/>
              <p:cNvSpPr>
                <a:spLocks/>
              </p:cNvSpPr>
              <p:nvPr/>
            </p:nvSpPr>
            <p:spPr bwMode="auto">
              <a:xfrm>
                <a:off x="2465" y="1517"/>
                <a:ext cx="35" cy="28"/>
              </a:xfrm>
              <a:custGeom>
                <a:avLst/>
                <a:gdLst>
                  <a:gd name="T0" fmla="*/ 35 w 35"/>
                  <a:gd name="T1" fmla="*/ 16 h 28"/>
                  <a:gd name="T2" fmla="*/ 21 w 35"/>
                  <a:gd name="T3" fmla="*/ 28 h 28"/>
                  <a:gd name="T4" fmla="*/ 0 w 35"/>
                  <a:gd name="T5" fmla="*/ 12 h 28"/>
                  <a:gd name="T6" fmla="*/ 15 w 35"/>
                  <a:gd name="T7" fmla="*/ 0 h 28"/>
                  <a:gd name="T8" fmla="*/ 35 w 35"/>
                  <a:gd name="T9" fmla="*/ 16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28"/>
                  <a:gd name="T17" fmla="*/ 35 w 35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28">
                    <a:moveTo>
                      <a:pt x="35" y="16"/>
                    </a:moveTo>
                    <a:lnTo>
                      <a:pt x="21" y="28"/>
                    </a:lnTo>
                    <a:lnTo>
                      <a:pt x="0" y="12"/>
                    </a:lnTo>
                    <a:lnTo>
                      <a:pt x="15" y="0"/>
                    </a:lnTo>
                    <a:lnTo>
                      <a:pt x="35" y="16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46" name="Freeform 215"/>
              <p:cNvSpPr>
                <a:spLocks/>
              </p:cNvSpPr>
              <p:nvPr/>
            </p:nvSpPr>
            <p:spPr bwMode="auto">
              <a:xfrm>
                <a:off x="2481" y="1382"/>
                <a:ext cx="212" cy="153"/>
              </a:xfrm>
              <a:custGeom>
                <a:avLst/>
                <a:gdLst>
                  <a:gd name="T0" fmla="*/ 212 w 212"/>
                  <a:gd name="T1" fmla="*/ 25 h 153"/>
                  <a:gd name="T2" fmla="*/ 212 w 212"/>
                  <a:gd name="T3" fmla="*/ 25 h 153"/>
                  <a:gd name="T4" fmla="*/ 184 w 212"/>
                  <a:gd name="T5" fmla="*/ 39 h 153"/>
                  <a:gd name="T6" fmla="*/ 160 w 212"/>
                  <a:gd name="T7" fmla="*/ 54 h 153"/>
                  <a:gd name="T8" fmla="*/ 134 w 212"/>
                  <a:gd name="T9" fmla="*/ 69 h 153"/>
                  <a:gd name="T10" fmla="*/ 111 w 212"/>
                  <a:gd name="T11" fmla="*/ 85 h 153"/>
                  <a:gd name="T12" fmla="*/ 88 w 212"/>
                  <a:gd name="T13" fmla="*/ 101 h 153"/>
                  <a:gd name="T14" fmla="*/ 64 w 212"/>
                  <a:gd name="T15" fmla="*/ 118 h 153"/>
                  <a:gd name="T16" fmla="*/ 42 w 212"/>
                  <a:gd name="T17" fmla="*/ 136 h 153"/>
                  <a:gd name="T18" fmla="*/ 21 w 212"/>
                  <a:gd name="T19" fmla="*/ 153 h 153"/>
                  <a:gd name="T20" fmla="*/ 0 w 212"/>
                  <a:gd name="T21" fmla="*/ 135 h 153"/>
                  <a:gd name="T22" fmla="*/ 23 w 212"/>
                  <a:gd name="T23" fmla="*/ 117 h 153"/>
                  <a:gd name="T24" fmla="*/ 47 w 212"/>
                  <a:gd name="T25" fmla="*/ 97 h 153"/>
                  <a:gd name="T26" fmla="*/ 70 w 212"/>
                  <a:gd name="T27" fmla="*/ 80 h 153"/>
                  <a:gd name="T28" fmla="*/ 95 w 212"/>
                  <a:gd name="T29" fmla="*/ 62 h 153"/>
                  <a:gd name="T30" fmla="*/ 119 w 212"/>
                  <a:gd name="T31" fmla="*/ 47 h 153"/>
                  <a:gd name="T32" fmla="*/ 146 w 212"/>
                  <a:gd name="T33" fmla="*/ 30 h 153"/>
                  <a:gd name="T34" fmla="*/ 172 w 212"/>
                  <a:gd name="T35" fmla="*/ 15 h 153"/>
                  <a:gd name="T36" fmla="*/ 198 w 212"/>
                  <a:gd name="T37" fmla="*/ 0 h 153"/>
                  <a:gd name="T38" fmla="*/ 212 w 212"/>
                  <a:gd name="T39" fmla="*/ 25 h 1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2"/>
                  <a:gd name="T61" fmla="*/ 0 h 153"/>
                  <a:gd name="T62" fmla="*/ 212 w 212"/>
                  <a:gd name="T63" fmla="*/ 153 h 1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2" h="153">
                    <a:moveTo>
                      <a:pt x="212" y="25"/>
                    </a:moveTo>
                    <a:lnTo>
                      <a:pt x="212" y="25"/>
                    </a:lnTo>
                    <a:lnTo>
                      <a:pt x="184" y="39"/>
                    </a:lnTo>
                    <a:lnTo>
                      <a:pt x="160" y="54"/>
                    </a:lnTo>
                    <a:lnTo>
                      <a:pt x="134" y="69"/>
                    </a:lnTo>
                    <a:lnTo>
                      <a:pt x="111" y="85"/>
                    </a:lnTo>
                    <a:lnTo>
                      <a:pt x="88" y="101"/>
                    </a:lnTo>
                    <a:lnTo>
                      <a:pt x="64" y="118"/>
                    </a:lnTo>
                    <a:lnTo>
                      <a:pt x="42" y="136"/>
                    </a:lnTo>
                    <a:lnTo>
                      <a:pt x="21" y="153"/>
                    </a:lnTo>
                    <a:lnTo>
                      <a:pt x="0" y="135"/>
                    </a:lnTo>
                    <a:lnTo>
                      <a:pt x="23" y="117"/>
                    </a:lnTo>
                    <a:lnTo>
                      <a:pt x="47" y="97"/>
                    </a:lnTo>
                    <a:lnTo>
                      <a:pt x="70" y="80"/>
                    </a:lnTo>
                    <a:lnTo>
                      <a:pt x="95" y="62"/>
                    </a:lnTo>
                    <a:lnTo>
                      <a:pt x="119" y="47"/>
                    </a:lnTo>
                    <a:lnTo>
                      <a:pt x="146" y="30"/>
                    </a:lnTo>
                    <a:lnTo>
                      <a:pt x="172" y="15"/>
                    </a:lnTo>
                    <a:lnTo>
                      <a:pt x="198" y="0"/>
                    </a:lnTo>
                    <a:lnTo>
                      <a:pt x="212" y="25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47" name="Freeform 216"/>
              <p:cNvSpPr>
                <a:spLocks/>
              </p:cNvSpPr>
              <p:nvPr/>
            </p:nvSpPr>
            <p:spPr bwMode="auto">
              <a:xfrm>
                <a:off x="2684" y="1309"/>
                <a:ext cx="197" cy="101"/>
              </a:xfrm>
              <a:custGeom>
                <a:avLst/>
                <a:gdLst>
                  <a:gd name="T0" fmla="*/ 197 w 197"/>
                  <a:gd name="T1" fmla="*/ 27 h 101"/>
                  <a:gd name="T2" fmla="*/ 175 w 197"/>
                  <a:gd name="T3" fmla="*/ 34 h 101"/>
                  <a:gd name="T4" fmla="*/ 151 w 197"/>
                  <a:gd name="T5" fmla="*/ 41 h 101"/>
                  <a:gd name="T6" fmla="*/ 128 w 197"/>
                  <a:gd name="T7" fmla="*/ 49 h 101"/>
                  <a:gd name="T8" fmla="*/ 104 w 197"/>
                  <a:gd name="T9" fmla="*/ 58 h 101"/>
                  <a:gd name="T10" fmla="*/ 81 w 197"/>
                  <a:gd name="T11" fmla="*/ 68 h 101"/>
                  <a:gd name="T12" fmla="*/ 57 w 197"/>
                  <a:gd name="T13" fmla="*/ 79 h 101"/>
                  <a:gd name="T14" fmla="*/ 36 w 197"/>
                  <a:gd name="T15" fmla="*/ 88 h 101"/>
                  <a:gd name="T16" fmla="*/ 12 w 197"/>
                  <a:gd name="T17" fmla="*/ 101 h 101"/>
                  <a:gd name="T18" fmla="*/ 0 w 197"/>
                  <a:gd name="T19" fmla="*/ 78 h 101"/>
                  <a:gd name="T20" fmla="*/ 24 w 197"/>
                  <a:gd name="T21" fmla="*/ 65 h 101"/>
                  <a:gd name="T22" fmla="*/ 49 w 197"/>
                  <a:gd name="T23" fmla="*/ 54 h 101"/>
                  <a:gd name="T24" fmla="*/ 73 w 197"/>
                  <a:gd name="T25" fmla="*/ 42 h 101"/>
                  <a:gd name="T26" fmla="*/ 97 w 197"/>
                  <a:gd name="T27" fmla="*/ 33 h 101"/>
                  <a:gd name="T28" fmla="*/ 123 w 197"/>
                  <a:gd name="T29" fmla="*/ 23 h 101"/>
                  <a:gd name="T30" fmla="*/ 147 w 197"/>
                  <a:gd name="T31" fmla="*/ 15 h 101"/>
                  <a:gd name="T32" fmla="*/ 172 w 197"/>
                  <a:gd name="T33" fmla="*/ 6 h 101"/>
                  <a:gd name="T34" fmla="*/ 196 w 197"/>
                  <a:gd name="T35" fmla="*/ 0 h 101"/>
                  <a:gd name="T36" fmla="*/ 197 w 197"/>
                  <a:gd name="T37" fmla="*/ 27 h 10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7"/>
                  <a:gd name="T58" fmla="*/ 0 h 101"/>
                  <a:gd name="T59" fmla="*/ 197 w 197"/>
                  <a:gd name="T60" fmla="*/ 101 h 10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7" h="101">
                    <a:moveTo>
                      <a:pt x="197" y="27"/>
                    </a:moveTo>
                    <a:lnTo>
                      <a:pt x="175" y="34"/>
                    </a:lnTo>
                    <a:lnTo>
                      <a:pt x="151" y="41"/>
                    </a:lnTo>
                    <a:lnTo>
                      <a:pt x="128" y="49"/>
                    </a:lnTo>
                    <a:lnTo>
                      <a:pt x="104" y="58"/>
                    </a:lnTo>
                    <a:lnTo>
                      <a:pt x="81" y="68"/>
                    </a:lnTo>
                    <a:lnTo>
                      <a:pt x="57" y="79"/>
                    </a:lnTo>
                    <a:lnTo>
                      <a:pt x="36" y="88"/>
                    </a:lnTo>
                    <a:lnTo>
                      <a:pt x="12" y="101"/>
                    </a:lnTo>
                    <a:lnTo>
                      <a:pt x="0" y="78"/>
                    </a:lnTo>
                    <a:lnTo>
                      <a:pt x="24" y="65"/>
                    </a:lnTo>
                    <a:lnTo>
                      <a:pt x="49" y="54"/>
                    </a:lnTo>
                    <a:lnTo>
                      <a:pt x="73" y="42"/>
                    </a:lnTo>
                    <a:lnTo>
                      <a:pt x="97" y="33"/>
                    </a:lnTo>
                    <a:lnTo>
                      <a:pt x="123" y="23"/>
                    </a:lnTo>
                    <a:lnTo>
                      <a:pt x="147" y="15"/>
                    </a:lnTo>
                    <a:lnTo>
                      <a:pt x="172" y="6"/>
                    </a:lnTo>
                    <a:lnTo>
                      <a:pt x="196" y="0"/>
                    </a:lnTo>
                    <a:lnTo>
                      <a:pt x="197" y="27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48" name="Freeform 217"/>
              <p:cNvSpPr>
                <a:spLocks/>
              </p:cNvSpPr>
              <p:nvPr/>
            </p:nvSpPr>
            <p:spPr bwMode="auto">
              <a:xfrm>
                <a:off x="2882" y="1301"/>
                <a:ext cx="20" cy="34"/>
              </a:xfrm>
              <a:custGeom>
                <a:avLst/>
                <a:gdLst>
                  <a:gd name="T0" fmla="*/ 0 w 20"/>
                  <a:gd name="T1" fmla="*/ 6 h 34"/>
                  <a:gd name="T2" fmla="*/ 19 w 20"/>
                  <a:gd name="T3" fmla="*/ 0 h 34"/>
                  <a:gd name="T4" fmla="*/ 20 w 20"/>
                  <a:gd name="T5" fmla="*/ 28 h 34"/>
                  <a:gd name="T6" fmla="*/ 1 w 20"/>
                  <a:gd name="T7" fmla="*/ 34 h 34"/>
                  <a:gd name="T8" fmla="*/ 0 w 20"/>
                  <a:gd name="T9" fmla="*/ 6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34"/>
                  <a:gd name="T17" fmla="*/ 20 w 2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34">
                    <a:moveTo>
                      <a:pt x="0" y="6"/>
                    </a:moveTo>
                    <a:lnTo>
                      <a:pt x="19" y="0"/>
                    </a:lnTo>
                    <a:lnTo>
                      <a:pt x="20" y="28"/>
                    </a:lnTo>
                    <a:lnTo>
                      <a:pt x="1" y="3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49" name="Freeform 218"/>
              <p:cNvSpPr>
                <a:spLocks/>
              </p:cNvSpPr>
              <p:nvPr/>
            </p:nvSpPr>
            <p:spPr bwMode="auto">
              <a:xfrm>
                <a:off x="2411" y="1471"/>
                <a:ext cx="151" cy="127"/>
              </a:xfrm>
              <a:custGeom>
                <a:avLst/>
                <a:gdLst>
                  <a:gd name="T0" fmla="*/ 151 w 151"/>
                  <a:gd name="T1" fmla="*/ 59 h 127"/>
                  <a:gd name="T2" fmla="*/ 0 w 151"/>
                  <a:gd name="T3" fmla="*/ 127 h 127"/>
                  <a:gd name="T4" fmla="*/ 79 w 151"/>
                  <a:gd name="T5" fmla="*/ 0 h 127"/>
                  <a:gd name="T6" fmla="*/ 151 w 151"/>
                  <a:gd name="T7" fmla="*/ 59 h 12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1"/>
                  <a:gd name="T13" fmla="*/ 0 h 127"/>
                  <a:gd name="T14" fmla="*/ 151 w 151"/>
                  <a:gd name="T15" fmla="*/ 127 h 12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1" h="127">
                    <a:moveTo>
                      <a:pt x="151" y="59"/>
                    </a:moveTo>
                    <a:lnTo>
                      <a:pt x="0" y="127"/>
                    </a:lnTo>
                    <a:lnTo>
                      <a:pt x="79" y="0"/>
                    </a:lnTo>
                    <a:lnTo>
                      <a:pt x="151" y="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50" name="Freeform 219"/>
              <p:cNvSpPr>
                <a:spLocks/>
              </p:cNvSpPr>
              <p:nvPr/>
            </p:nvSpPr>
            <p:spPr bwMode="auto">
              <a:xfrm>
                <a:off x="2390" y="1522"/>
                <a:ext cx="174" cy="91"/>
              </a:xfrm>
              <a:custGeom>
                <a:avLst/>
                <a:gdLst>
                  <a:gd name="T0" fmla="*/ 28 w 174"/>
                  <a:gd name="T1" fmla="*/ 76 h 91"/>
                  <a:gd name="T2" fmla="*/ 17 w 174"/>
                  <a:gd name="T3" fmla="*/ 68 h 91"/>
                  <a:gd name="T4" fmla="*/ 169 w 174"/>
                  <a:gd name="T5" fmla="*/ 0 h 91"/>
                  <a:gd name="T6" fmla="*/ 174 w 174"/>
                  <a:gd name="T7" fmla="*/ 15 h 91"/>
                  <a:gd name="T8" fmla="*/ 22 w 174"/>
                  <a:gd name="T9" fmla="*/ 81 h 91"/>
                  <a:gd name="T10" fmla="*/ 12 w 174"/>
                  <a:gd name="T11" fmla="*/ 72 h 91"/>
                  <a:gd name="T12" fmla="*/ 22 w 174"/>
                  <a:gd name="T13" fmla="*/ 81 h 91"/>
                  <a:gd name="T14" fmla="*/ 0 w 174"/>
                  <a:gd name="T15" fmla="*/ 91 h 91"/>
                  <a:gd name="T16" fmla="*/ 12 w 174"/>
                  <a:gd name="T17" fmla="*/ 72 h 91"/>
                  <a:gd name="T18" fmla="*/ 28 w 174"/>
                  <a:gd name="T19" fmla="*/ 76 h 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4"/>
                  <a:gd name="T31" fmla="*/ 0 h 91"/>
                  <a:gd name="T32" fmla="*/ 174 w 174"/>
                  <a:gd name="T33" fmla="*/ 91 h 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4" h="91">
                    <a:moveTo>
                      <a:pt x="28" y="76"/>
                    </a:moveTo>
                    <a:lnTo>
                      <a:pt x="17" y="68"/>
                    </a:lnTo>
                    <a:lnTo>
                      <a:pt x="169" y="0"/>
                    </a:lnTo>
                    <a:lnTo>
                      <a:pt x="174" y="15"/>
                    </a:lnTo>
                    <a:lnTo>
                      <a:pt x="22" y="81"/>
                    </a:lnTo>
                    <a:lnTo>
                      <a:pt x="12" y="72"/>
                    </a:lnTo>
                    <a:lnTo>
                      <a:pt x="22" y="81"/>
                    </a:lnTo>
                    <a:lnTo>
                      <a:pt x="0" y="91"/>
                    </a:lnTo>
                    <a:lnTo>
                      <a:pt x="12" y="72"/>
                    </a:lnTo>
                    <a:lnTo>
                      <a:pt x="28" y="7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51" name="Freeform 220"/>
              <p:cNvSpPr>
                <a:spLocks/>
              </p:cNvSpPr>
              <p:nvPr/>
            </p:nvSpPr>
            <p:spPr bwMode="auto">
              <a:xfrm>
                <a:off x="2398" y="1459"/>
                <a:ext cx="96" cy="142"/>
              </a:xfrm>
              <a:custGeom>
                <a:avLst/>
                <a:gdLst>
                  <a:gd name="T0" fmla="*/ 80 w 96"/>
                  <a:gd name="T1" fmla="*/ 20 h 142"/>
                  <a:gd name="T2" fmla="*/ 96 w 96"/>
                  <a:gd name="T3" fmla="*/ 16 h 142"/>
                  <a:gd name="T4" fmla="*/ 17 w 96"/>
                  <a:gd name="T5" fmla="*/ 142 h 142"/>
                  <a:gd name="T6" fmla="*/ 0 w 96"/>
                  <a:gd name="T7" fmla="*/ 139 h 142"/>
                  <a:gd name="T8" fmla="*/ 80 w 96"/>
                  <a:gd name="T9" fmla="*/ 13 h 142"/>
                  <a:gd name="T10" fmla="*/ 95 w 96"/>
                  <a:gd name="T11" fmla="*/ 8 h 142"/>
                  <a:gd name="T12" fmla="*/ 80 w 96"/>
                  <a:gd name="T13" fmla="*/ 13 h 142"/>
                  <a:gd name="T14" fmla="*/ 88 w 96"/>
                  <a:gd name="T15" fmla="*/ 0 h 142"/>
                  <a:gd name="T16" fmla="*/ 95 w 96"/>
                  <a:gd name="T17" fmla="*/ 8 h 142"/>
                  <a:gd name="T18" fmla="*/ 80 w 96"/>
                  <a:gd name="T19" fmla="*/ 20 h 1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6"/>
                  <a:gd name="T31" fmla="*/ 0 h 142"/>
                  <a:gd name="T32" fmla="*/ 96 w 96"/>
                  <a:gd name="T33" fmla="*/ 142 h 1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6" h="142">
                    <a:moveTo>
                      <a:pt x="80" y="20"/>
                    </a:moveTo>
                    <a:lnTo>
                      <a:pt x="96" y="16"/>
                    </a:lnTo>
                    <a:lnTo>
                      <a:pt x="17" y="142"/>
                    </a:lnTo>
                    <a:lnTo>
                      <a:pt x="0" y="139"/>
                    </a:lnTo>
                    <a:lnTo>
                      <a:pt x="80" y="13"/>
                    </a:lnTo>
                    <a:lnTo>
                      <a:pt x="95" y="8"/>
                    </a:lnTo>
                    <a:lnTo>
                      <a:pt x="80" y="13"/>
                    </a:lnTo>
                    <a:lnTo>
                      <a:pt x="88" y="0"/>
                    </a:lnTo>
                    <a:lnTo>
                      <a:pt x="95" y="8"/>
                    </a:lnTo>
                    <a:lnTo>
                      <a:pt x="80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52" name="Freeform 221"/>
              <p:cNvSpPr>
                <a:spLocks/>
              </p:cNvSpPr>
              <p:nvPr/>
            </p:nvSpPr>
            <p:spPr bwMode="auto">
              <a:xfrm>
                <a:off x="2484" y="1467"/>
                <a:ext cx="96" cy="72"/>
              </a:xfrm>
              <a:custGeom>
                <a:avLst/>
                <a:gdLst>
                  <a:gd name="T0" fmla="*/ 78 w 96"/>
                  <a:gd name="T1" fmla="*/ 57 h 72"/>
                  <a:gd name="T2" fmla="*/ 72 w 96"/>
                  <a:gd name="T3" fmla="*/ 71 h 72"/>
                  <a:gd name="T4" fmla="*/ 0 w 96"/>
                  <a:gd name="T5" fmla="*/ 12 h 72"/>
                  <a:gd name="T6" fmla="*/ 15 w 96"/>
                  <a:gd name="T7" fmla="*/ 0 h 72"/>
                  <a:gd name="T8" fmla="*/ 89 w 96"/>
                  <a:gd name="T9" fmla="*/ 60 h 72"/>
                  <a:gd name="T10" fmla="*/ 82 w 96"/>
                  <a:gd name="T11" fmla="*/ 72 h 72"/>
                  <a:gd name="T12" fmla="*/ 89 w 96"/>
                  <a:gd name="T13" fmla="*/ 60 h 72"/>
                  <a:gd name="T14" fmla="*/ 96 w 96"/>
                  <a:gd name="T15" fmla="*/ 66 h 72"/>
                  <a:gd name="T16" fmla="*/ 82 w 96"/>
                  <a:gd name="T17" fmla="*/ 72 h 72"/>
                  <a:gd name="T18" fmla="*/ 78 w 96"/>
                  <a:gd name="T19" fmla="*/ 57 h 7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6"/>
                  <a:gd name="T31" fmla="*/ 0 h 72"/>
                  <a:gd name="T32" fmla="*/ 96 w 96"/>
                  <a:gd name="T33" fmla="*/ 72 h 7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6" h="72">
                    <a:moveTo>
                      <a:pt x="78" y="57"/>
                    </a:moveTo>
                    <a:lnTo>
                      <a:pt x="72" y="71"/>
                    </a:lnTo>
                    <a:lnTo>
                      <a:pt x="0" y="12"/>
                    </a:lnTo>
                    <a:lnTo>
                      <a:pt x="15" y="0"/>
                    </a:lnTo>
                    <a:lnTo>
                      <a:pt x="89" y="60"/>
                    </a:lnTo>
                    <a:lnTo>
                      <a:pt x="82" y="72"/>
                    </a:lnTo>
                    <a:lnTo>
                      <a:pt x="89" y="60"/>
                    </a:lnTo>
                    <a:lnTo>
                      <a:pt x="96" y="66"/>
                    </a:lnTo>
                    <a:lnTo>
                      <a:pt x="82" y="72"/>
                    </a:lnTo>
                    <a:lnTo>
                      <a:pt x="78" y="5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53" name="Freeform 222"/>
              <p:cNvSpPr>
                <a:spLocks/>
              </p:cNvSpPr>
              <p:nvPr/>
            </p:nvSpPr>
            <p:spPr bwMode="auto">
              <a:xfrm>
                <a:off x="2418" y="1551"/>
                <a:ext cx="44" cy="35"/>
              </a:xfrm>
              <a:custGeom>
                <a:avLst/>
                <a:gdLst>
                  <a:gd name="T0" fmla="*/ 44 w 44"/>
                  <a:gd name="T1" fmla="*/ 21 h 35"/>
                  <a:gd name="T2" fmla="*/ 27 w 44"/>
                  <a:gd name="T3" fmla="*/ 35 h 35"/>
                  <a:gd name="T4" fmla="*/ 0 w 44"/>
                  <a:gd name="T5" fmla="*/ 16 h 35"/>
                  <a:gd name="T6" fmla="*/ 17 w 44"/>
                  <a:gd name="T7" fmla="*/ 0 h 35"/>
                  <a:gd name="T8" fmla="*/ 44 w 44"/>
                  <a:gd name="T9" fmla="*/ 21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"/>
                  <a:gd name="T16" fmla="*/ 0 h 35"/>
                  <a:gd name="T17" fmla="*/ 44 w 44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" h="35">
                    <a:moveTo>
                      <a:pt x="44" y="21"/>
                    </a:moveTo>
                    <a:lnTo>
                      <a:pt x="27" y="35"/>
                    </a:lnTo>
                    <a:lnTo>
                      <a:pt x="0" y="16"/>
                    </a:lnTo>
                    <a:lnTo>
                      <a:pt x="17" y="0"/>
                    </a:lnTo>
                    <a:lnTo>
                      <a:pt x="44" y="2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54" name="Freeform 223"/>
              <p:cNvSpPr>
                <a:spLocks/>
              </p:cNvSpPr>
              <p:nvPr/>
            </p:nvSpPr>
            <p:spPr bwMode="auto">
              <a:xfrm>
                <a:off x="2436" y="1407"/>
                <a:ext cx="213" cy="162"/>
              </a:xfrm>
              <a:custGeom>
                <a:avLst/>
                <a:gdLst>
                  <a:gd name="T0" fmla="*/ 213 w 213"/>
                  <a:gd name="T1" fmla="*/ 28 h 162"/>
                  <a:gd name="T2" fmla="*/ 213 w 213"/>
                  <a:gd name="T3" fmla="*/ 28 h 162"/>
                  <a:gd name="T4" fmla="*/ 188 w 213"/>
                  <a:gd name="T5" fmla="*/ 43 h 162"/>
                  <a:gd name="T6" fmla="*/ 161 w 213"/>
                  <a:gd name="T7" fmla="*/ 59 h 162"/>
                  <a:gd name="T8" fmla="*/ 139 w 213"/>
                  <a:gd name="T9" fmla="*/ 75 h 162"/>
                  <a:gd name="T10" fmla="*/ 114 w 213"/>
                  <a:gd name="T11" fmla="*/ 92 h 162"/>
                  <a:gd name="T12" fmla="*/ 91 w 213"/>
                  <a:gd name="T13" fmla="*/ 109 h 162"/>
                  <a:gd name="T14" fmla="*/ 69 w 213"/>
                  <a:gd name="T15" fmla="*/ 126 h 162"/>
                  <a:gd name="T16" fmla="*/ 48 w 213"/>
                  <a:gd name="T17" fmla="*/ 144 h 162"/>
                  <a:gd name="T18" fmla="*/ 26 w 213"/>
                  <a:gd name="T19" fmla="*/ 162 h 162"/>
                  <a:gd name="T20" fmla="*/ 0 w 213"/>
                  <a:gd name="T21" fmla="*/ 142 h 162"/>
                  <a:gd name="T22" fmla="*/ 21 w 213"/>
                  <a:gd name="T23" fmla="*/ 123 h 162"/>
                  <a:gd name="T24" fmla="*/ 44 w 213"/>
                  <a:gd name="T25" fmla="*/ 103 h 162"/>
                  <a:gd name="T26" fmla="*/ 68 w 213"/>
                  <a:gd name="T27" fmla="*/ 84 h 162"/>
                  <a:gd name="T28" fmla="*/ 93 w 213"/>
                  <a:gd name="T29" fmla="*/ 66 h 162"/>
                  <a:gd name="T30" fmla="*/ 117 w 213"/>
                  <a:gd name="T31" fmla="*/ 50 h 162"/>
                  <a:gd name="T32" fmla="*/ 144 w 213"/>
                  <a:gd name="T33" fmla="*/ 33 h 162"/>
                  <a:gd name="T34" fmla="*/ 170 w 213"/>
                  <a:gd name="T35" fmla="*/ 17 h 162"/>
                  <a:gd name="T36" fmla="*/ 196 w 213"/>
                  <a:gd name="T37" fmla="*/ 0 h 162"/>
                  <a:gd name="T38" fmla="*/ 213 w 213"/>
                  <a:gd name="T39" fmla="*/ 28 h 16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3"/>
                  <a:gd name="T61" fmla="*/ 0 h 162"/>
                  <a:gd name="T62" fmla="*/ 213 w 213"/>
                  <a:gd name="T63" fmla="*/ 162 h 16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3" h="162">
                    <a:moveTo>
                      <a:pt x="213" y="28"/>
                    </a:moveTo>
                    <a:lnTo>
                      <a:pt x="213" y="28"/>
                    </a:lnTo>
                    <a:lnTo>
                      <a:pt x="188" y="43"/>
                    </a:lnTo>
                    <a:lnTo>
                      <a:pt x="161" y="59"/>
                    </a:lnTo>
                    <a:lnTo>
                      <a:pt x="139" y="75"/>
                    </a:lnTo>
                    <a:lnTo>
                      <a:pt x="114" y="92"/>
                    </a:lnTo>
                    <a:lnTo>
                      <a:pt x="91" y="109"/>
                    </a:lnTo>
                    <a:lnTo>
                      <a:pt x="69" y="126"/>
                    </a:lnTo>
                    <a:lnTo>
                      <a:pt x="48" y="144"/>
                    </a:lnTo>
                    <a:lnTo>
                      <a:pt x="26" y="162"/>
                    </a:lnTo>
                    <a:lnTo>
                      <a:pt x="0" y="142"/>
                    </a:lnTo>
                    <a:lnTo>
                      <a:pt x="21" y="123"/>
                    </a:lnTo>
                    <a:lnTo>
                      <a:pt x="44" y="103"/>
                    </a:lnTo>
                    <a:lnTo>
                      <a:pt x="68" y="84"/>
                    </a:lnTo>
                    <a:lnTo>
                      <a:pt x="93" y="66"/>
                    </a:lnTo>
                    <a:lnTo>
                      <a:pt x="117" y="50"/>
                    </a:lnTo>
                    <a:lnTo>
                      <a:pt x="144" y="33"/>
                    </a:lnTo>
                    <a:lnTo>
                      <a:pt x="170" y="17"/>
                    </a:lnTo>
                    <a:lnTo>
                      <a:pt x="196" y="0"/>
                    </a:lnTo>
                    <a:lnTo>
                      <a:pt x="213" y="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55" name="Freeform 224"/>
              <p:cNvSpPr>
                <a:spLocks/>
              </p:cNvSpPr>
              <p:nvPr/>
            </p:nvSpPr>
            <p:spPr bwMode="auto">
              <a:xfrm>
                <a:off x="2637" y="1326"/>
                <a:ext cx="198" cy="113"/>
              </a:xfrm>
              <a:custGeom>
                <a:avLst/>
                <a:gdLst>
                  <a:gd name="T0" fmla="*/ 198 w 198"/>
                  <a:gd name="T1" fmla="*/ 32 h 113"/>
                  <a:gd name="T2" fmla="*/ 175 w 198"/>
                  <a:gd name="T3" fmla="*/ 40 h 113"/>
                  <a:gd name="T4" fmla="*/ 151 w 198"/>
                  <a:gd name="T5" fmla="*/ 48 h 113"/>
                  <a:gd name="T6" fmla="*/ 128 w 198"/>
                  <a:gd name="T7" fmla="*/ 58 h 113"/>
                  <a:gd name="T8" fmla="*/ 106 w 198"/>
                  <a:gd name="T9" fmla="*/ 67 h 113"/>
                  <a:gd name="T10" fmla="*/ 84 w 198"/>
                  <a:gd name="T11" fmla="*/ 78 h 113"/>
                  <a:gd name="T12" fmla="*/ 61 w 198"/>
                  <a:gd name="T13" fmla="*/ 88 h 113"/>
                  <a:gd name="T14" fmla="*/ 38 w 198"/>
                  <a:gd name="T15" fmla="*/ 100 h 113"/>
                  <a:gd name="T16" fmla="*/ 16 w 198"/>
                  <a:gd name="T17" fmla="*/ 113 h 113"/>
                  <a:gd name="T18" fmla="*/ 0 w 198"/>
                  <a:gd name="T19" fmla="*/ 86 h 113"/>
                  <a:gd name="T20" fmla="*/ 23 w 198"/>
                  <a:gd name="T21" fmla="*/ 72 h 113"/>
                  <a:gd name="T22" fmla="*/ 47 w 198"/>
                  <a:gd name="T23" fmla="*/ 62 h 113"/>
                  <a:gd name="T24" fmla="*/ 71 w 198"/>
                  <a:gd name="T25" fmla="*/ 49 h 113"/>
                  <a:gd name="T26" fmla="*/ 97 w 198"/>
                  <a:gd name="T27" fmla="*/ 38 h 113"/>
                  <a:gd name="T28" fmla="*/ 120 w 198"/>
                  <a:gd name="T29" fmla="*/ 26 h 113"/>
                  <a:gd name="T30" fmla="*/ 145 w 198"/>
                  <a:gd name="T31" fmla="*/ 18 h 113"/>
                  <a:gd name="T32" fmla="*/ 168 w 198"/>
                  <a:gd name="T33" fmla="*/ 8 h 113"/>
                  <a:gd name="T34" fmla="*/ 194 w 198"/>
                  <a:gd name="T35" fmla="*/ 0 h 113"/>
                  <a:gd name="T36" fmla="*/ 198 w 198"/>
                  <a:gd name="T37" fmla="*/ 32 h 11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8"/>
                  <a:gd name="T58" fmla="*/ 0 h 113"/>
                  <a:gd name="T59" fmla="*/ 198 w 198"/>
                  <a:gd name="T60" fmla="*/ 113 h 11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8" h="113">
                    <a:moveTo>
                      <a:pt x="198" y="32"/>
                    </a:moveTo>
                    <a:lnTo>
                      <a:pt x="175" y="40"/>
                    </a:lnTo>
                    <a:lnTo>
                      <a:pt x="151" y="48"/>
                    </a:lnTo>
                    <a:lnTo>
                      <a:pt x="128" y="58"/>
                    </a:lnTo>
                    <a:lnTo>
                      <a:pt x="106" y="67"/>
                    </a:lnTo>
                    <a:lnTo>
                      <a:pt x="84" y="78"/>
                    </a:lnTo>
                    <a:lnTo>
                      <a:pt x="61" y="88"/>
                    </a:lnTo>
                    <a:lnTo>
                      <a:pt x="38" y="100"/>
                    </a:lnTo>
                    <a:lnTo>
                      <a:pt x="16" y="113"/>
                    </a:lnTo>
                    <a:lnTo>
                      <a:pt x="0" y="86"/>
                    </a:lnTo>
                    <a:lnTo>
                      <a:pt x="23" y="72"/>
                    </a:lnTo>
                    <a:lnTo>
                      <a:pt x="47" y="62"/>
                    </a:lnTo>
                    <a:lnTo>
                      <a:pt x="71" y="49"/>
                    </a:lnTo>
                    <a:lnTo>
                      <a:pt x="97" y="38"/>
                    </a:lnTo>
                    <a:lnTo>
                      <a:pt x="120" y="26"/>
                    </a:lnTo>
                    <a:lnTo>
                      <a:pt x="145" y="18"/>
                    </a:lnTo>
                    <a:lnTo>
                      <a:pt x="168" y="8"/>
                    </a:lnTo>
                    <a:lnTo>
                      <a:pt x="194" y="0"/>
                    </a:lnTo>
                    <a:lnTo>
                      <a:pt x="198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56" name="Freeform 225"/>
              <p:cNvSpPr>
                <a:spLocks/>
              </p:cNvSpPr>
              <p:nvPr/>
            </p:nvSpPr>
            <p:spPr bwMode="auto">
              <a:xfrm>
                <a:off x="2833" y="1318"/>
                <a:ext cx="26" cy="39"/>
              </a:xfrm>
              <a:custGeom>
                <a:avLst/>
                <a:gdLst>
                  <a:gd name="T0" fmla="*/ 0 w 26"/>
                  <a:gd name="T1" fmla="*/ 7 h 39"/>
                  <a:gd name="T2" fmla="*/ 22 w 26"/>
                  <a:gd name="T3" fmla="*/ 0 h 39"/>
                  <a:gd name="T4" fmla="*/ 26 w 26"/>
                  <a:gd name="T5" fmla="*/ 32 h 39"/>
                  <a:gd name="T6" fmla="*/ 5 w 26"/>
                  <a:gd name="T7" fmla="*/ 39 h 39"/>
                  <a:gd name="T8" fmla="*/ 0 w 26"/>
                  <a:gd name="T9" fmla="*/ 7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39"/>
                  <a:gd name="T17" fmla="*/ 26 w 26"/>
                  <a:gd name="T18" fmla="*/ 39 h 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39">
                    <a:moveTo>
                      <a:pt x="0" y="7"/>
                    </a:moveTo>
                    <a:lnTo>
                      <a:pt x="22" y="0"/>
                    </a:lnTo>
                    <a:lnTo>
                      <a:pt x="26" y="32"/>
                    </a:lnTo>
                    <a:lnTo>
                      <a:pt x="5" y="3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57" name="Freeform 226"/>
              <p:cNvSpPr>
                <a:spLocks/>
              </p:cNvSpPr>
              <p:nvPr/>
            </p:nvSpPr>
            <p:spPr bwMode="auto">
              <a:xfrm>
                <a:off x="2411" y="1471"/>
                <a:ext cx="151" cy="127"/>
              </a:xfrm>
              <a:custGeom>
                <a:avLst/>
                <a:gdLst>
                  <a:gd name="T0" fmla="*/ 151 w 151"/>
                  <a:gd name="T1" fmla="*/ 59 h 127"/>
                  <a:gd name="T2" fmla="*/ 0 w 151"/>
                  <a:gd name="T3" fmla="*/ 127 h 127"/>
                  <a:gd name="T4" fmla="*/ 79 w 151"/>
                  <a:gd name="T5" fmla="*/ 0 h 127"/>
                  <a:gd name="T6" fmla="*/ 151 w 151"/>
                  <a:gd name="T7" fmla="*/ 59 h 12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1"/>
                  <a:gd name="T13" fmla="*/ 0 h 127"/>
                  <a:gd name="T14" fmla="*/ 151 w 151"/>
                  <a:gd name="T15" fmla="*/ 127 h 12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1" h="127">
                    <a:moveTo>
                      <a:pt x="151" y="59"/>
                    </a:moveTo>
                    <a:lnTo>
                      <a:pt x="0" y="127"/>
                    </a:lnTo>
                    <a:lnTo>
                      <a:pt x="79" y="0"/>
                    </a:lnTo>
                    <a:lnTo>
                      <a:pt x="151" y="59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58" name="Freeform 227"/>
              <p:cNvSpPr>
                <a:spLocks/>
              </p:cNvSpPr>
              <p:nvPr/>
            </p:nvSpPr>
            <p:spPr bwMode="auto">
              <a:xfrm>
                <a:off x="2398" y="1524"/>
                <a:ext cx="166" cy="82"/>
              </a:xfrm>
              <a:custGeom>
                <a:avLst/>
                <a:gdLst>
                  <a:gd name="T0" fmla="*/ 17 w 166"/>
                  <a:gd name="T1" fmla="*/ 73 h 82"/>
                  <a:gd name="T2" fmla="*/ 11 w 166"/>
                  <a:gd name="T3" fmla="*/ 67 h 82"/>
                  <a:gd name="T4" fmla="*/ 163 w 166"/>
                  <a:gd name="T5" fmla="*/ 0 h 82"/>
                  <a:gd name="T6" fmla="*/ 166 w 166"/>
                  <a:gd name="T7" fmla="*/ 8 h 82"/>
                  <a:gd name="T8" fmla="*/ 14 w 166"/>
                  <a:gd name="T9" fmla="*/ 76 h 82"/>
                  <a:gd name="T10" fmla="*/ 7 w 166"/>
                  <a:gd name="T11" fmla="*/ 71 h 82"/>
                  <a:gd name="T12" fmla="*/ 14 w 166"/>
                  <a:gd name="T13" fmla="*/ 76 h 82"/>
                  <a:gd name="T14" fmla="*/ 0 w 166"/>
                  <a:gd name="T15" fmla="*/ 82 h 82"/>
                  <a:gd name="T16" fmla="*/ 7 w 166"/>
                  <a:gd name="T17" fmla="*/ 71 h 82"/>
                  <a:gd name="T18" fmla="*/ 17 w 166"/>
                  <a:gd name="T19" fmla="*/ 73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6"/>
                  <a:gd name="T31" fmla="*/ 0 h 82"/>
                  <a:gd name="T32" fmla="*/ 166 w 166"/>
                  <a:gd name="T33" fmla="*/ 82 h 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6" h="82">
                    <a:moveTo>
                      <a:pt x="17" y="73"/>
                    </a:moveTo>
                    <a:lnTo>
                      <a:pt x="11" y="67"/>
                    </a:lnTo>
                    <a:lnTo>
                      <a:pt x="163" y="0"/>
                    </a:lnTo>
                    <a:lnTo>
                      <a:pt x="166" y="8"/>
                    </a:lnTo>
                    <a:lnTo>
                      <a:pt x="14" y="76"/>
                    </a:lnTo>
                    <a:lnTo>
                      <a:pt x="7" y="71"/>
                    </a:lnTo>
                    <a:lnTo>
                      <a:pt x="14" y="76"/>
                    </a:lnTo>
                    <a:lnTo>
                      <a:pt x="0" y="82"/>
                    </a:lnTo>
                    <a:lnTo>
                      <a:pt x="7" y="71"/>
                    </a:lnTo>
                    <a:lnTo>
                      <a:pt x="17" y="73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59" name="Freeform 228"/>
              <p:cNvSpPr>
                <a:spLocks/>
              </p:cNvSpPr>
              <p:nvPr/>
            </p:nvSpPr>
            <p:spPr bwMode="auto">
              <a:xfrm>
                <a:off x="2402" y="1462"/>
                <a:ext cx="91" cy="137"/>
              </a:xfrm>
              <a:custGeom>
                <a:avLst/>
                <a:gdLst>
                  <a:gd name="T0" fmla="*/ 81 w 91"/>
                  <a:gd name="T1" fmla="*/ 13 h 137"/>
                  <a:gd name="T2" fmla="*/ 91 w 91"/>
                  <a:gd name="T3" fmla="*/ 9 h 137"/>
                  <a:gd name="T4" fmla="*/ 10 w 91"/>
                  <a:gd name="T5" fmla="*/ 137 h 137"/>
                  <a:gd name="T6" fmla="*/ 0 w 91"/>
                  <a:gd name="T7" fmla="*/ 135 h 137"/>
                  <a:gd name="T8" fmla="*/ 81 w 91"/>
                  <a:gd name="T9" fmla="*/ 7 h 137"/>
                  <a:gd name="T10" fmla="*/ 91 w 91"/>
                  <a:gd name="T11" fmla="*/ 5 h 137"/>
                  <a:gd name="T12" fmla="*/ 81 w 91"/>
                  <a:gd name="T13" fmla="*/ 7 h 137"/>
                  <a:gd name="T14" fmla="*/ 86 w 91"/>
                  <a:gd name="T15" fmla="*/ 0 h 137"/>
                  <a:gd name="T16" fmla="*/ 91 w 91"/>
                  <a:gd name="T17" fmla="*/ 5 h 137"/>
                  <a:gd name="T18" fmla="*/ 81 w 91"/>
                  <a:gd name="T19" fmla="*/ 13 h 1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137"/>
                  <a:gd name="T32" fmla="*/ 91 w 91"/>
                  <a:gd name="T33" fmla="*/ 137 h 13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137">
                    <a:moveTo>
                      <a:pt x="81" y="13"/>
                    </a:moveTo>
                    <a:lnTo>
                      <a:pt x="91" y="9"/>
                    </a:lnTo>
                    <a:lnTo>
                      <a:pt x="10" y="137"/>
                    </a:lnTo>
                    <a:lnTo>
                      <a:pt x="0" y="135"/>
                    </a:lnTo>
                    <a:lnTo>
                      <a:pt x="81" y="7"/>
                    </a:lnTo>
                    <a:lnTo>
                      <a:pt x="91" y="5"/>
                    </a:lnTo>
                    <a:lnTo>
                      <a:pt x="81" y="7"/>
                    </a:lnTo>
                    <a:lnTo>
                      <a:pt x="86" y="0"/>
                    </a:lnTo>
                    <a:lnTo>
                      <a:pt x="91" y="5"/>
                    </a:lnTo>
                    <a:lnTo>
                      <a:pt x="81" y="13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60" name="Freeform 229"/>
              <p:cNvSpPr>
                <a:spLocks/>
              </p:cNvSpPr>
              <p:nvPr/>
            </p:nvSpPr>
            <p:spPr bwMode="auto">
              <a:xfrm>
                <a:off x="2486" y="1469"/>
                <a:ext cx="87" cy="66"/>
              </a:xfrm>
              <a:custGeom>
                <a:avLst/>
                <a:gdLst>
                  <a:gd name="T0" fmla="*/ 76 w 87"/>
                  <a:gd name="T1" fmla="*/ 58 h 66"/>
                  <a:gd name="T2" fmla="*/ 72 w 87"/>
                  <a:gd name="T3" fmla="*/ 66 h 66"/>
                  <a:gd name="T4" fmla="*/ 0 w 87"/>
                  <a:gd name="T5" fmla="*/ 6 h 66"/>
                  <a:gd name="T6" fmla="*/ 8 w 87"/>
                  <a:gd name="T7" fmla="*/ 0 h 66"/>
                  <a:gd name="T8" fmla="*/ 81 w 87"/>
                  <a:gd name="T9" fmla="*/ 58 h 66"/>
                  <a:gd name="T10" fmla="*/ 78 w 87"/>
                  <a:gd name="T11" fmla="*/ 66 h 66"/>
                  <a:gd name="T12" fmla="*/ 81 w 87"/>
                  <a:gd name="T13" fmla="*/ 58 h 66"/>
                  <a:gd name="T14" fmla="*/ 87 w 87"/>
                  <a:gd name="T15" fmla="*/ 63 h 66"/>
                  <a:gd name="T16" fmla="*/ 78 w 87"/>
                  <a:gd name="T17" fmla="*/ 66 h 66"/>
                  <a:gd name="T18" fmla="*/ 76 w 87"/>
                  <a:gd name="T19" fmla="*/ 58 h 6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7"/>
                  <a:gd name="T31" fmla="*/ 0 h 66"/>
                  <a:gd name="T32" fmla="*/ 87 w 87"/>
                  <a:gd name="T33" fmla="*/ 66 h 6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7" h="66">
                    <a:moveTo>
                      <a:pt x="76" y="58"/>
                    </a:moveTo>
                    <a:lnTo>
                      <a:pt x="72" y="66"/>
                    </a:lnTo>
                    <a:lnTo>
                      <a:pt x="0" y="6"/>
                    </a:lnTo>
                    <a:lnTo>
                      <a:pt x="8" y="0"/>
                    </a:lnTo>
                    <a:lnTo>
                      <a:pt x="81" y="58"/>
                    </a:lnTo>
                    <a:lnTo>
                      <a:pt x="78" y="66"/>
                    </a:lnTo>
                    <a:lnTo>
                      <a:pt x="81" y="58"/>
                    </a:lnTo>
                    <a:lnTo>
                      <a:pt x="87" y="63"/>
                    </a:lnTo>
                    <a:lnTo>
                      <a:pt x="78" y="66"/>
                    </a:lnTo>
                    <a:lnTo>
                      <a:pt x="76" y="58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61" name="Freeform 230"/>
              <p:cNvSpPr>
                <a:spLocks/>
              </p:cNvSpPr>
              <p:nvPr/>
            </p:nvSpPr>
            <p:spPr bwMode="auto">
              <a:xfrm>
                <a:off x="2423" y="1551"/>
                <a:ext cx="34" cy="30"/>
              </a:xfrm>
              <a:custGeom>
                <a:avLst/>
                <a:gdLst>
                  <a:gd name="T0" fmla="*/ 34 w 34"/>
                  <a:gd name="T1" fmla="*/ 17 h 30"/>
                  <a:gd name="T2" fmla="*/ 21 w 34"/>
                  <a:gd name="T3" fmla="*/ 30 h 30"/>
                  <a:gd name="T4" fmla="*/ 0 w 34"/>
                  <a:gd name="T5" fmla="*/ 13 h 30"/>
                  <a:gd name="T6" fmla="*/ 13 w 34"/>
                  <a:gd name="T7" fmla="*/ 0 h 30"/>
                  <a:gd name="T8" fmla="*/ 34 w 34"/>
                  <a:gd name="T9" fmla="*/ 17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30"/>
                  <a:gd name="T17" fmla="*/ 34 w 34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30">
                    <a:moveTo>
                      <a:pt x="34" y="17"/>
                    </a:moveTo>
                    <a:lnTo>
                      <a:pt x="21" y="30"/>
                    </a:lnTo>
                    <a:lnTo>
                      <a:pt x="0" y="13"/>
                    </a:lnTo>
                    <a:lnTo>
                      <a:pt x="13" y="0"/>
                    </a:lnTo>
                    <a:lnTo>
                      <a:pt x="34" y="17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62" name="Freeform 231"/>
              <p:cNvSpPr>
                <a:spLocks/>
              </p:cNvSpPr>
              <p:nvPr/>
            </p:nvSpPr>
            <p:spPr bwMode="auto">
              <a:xfrm>
                <a:off x="2442" y="1411"/>
                <a:ext cx="207" cy="157"/>
              </a:xfrm>
              <a:custGeom>
                <a:avLst/>
                <a:gdLst>
                  <a:gd name="T0" fmla="*/ 207 w 207"/>
                  <a:gd name="T1" fmla="*/ 24 h 157"/>
                  <a:gd name="T2" fmla="*/ 207 w 207"/>
                  <a:gd name="T3" fmla="*/ 24 h 157"/>
                  <a:gd name="T4" fmla="*/ 182 w 207"/>
                  <a:gd name="T5" fmla="*/ 39 h 157"/>
                  <a:gd name="T6" fmla="*/ 157 w 207"/>
                  <a:gd name="T7" fmla="*/ 54 h 157"/>
                  <a:gd name="T8" fmla="*/ 134 w 207"/>
                  <a:gd name="T9" fmla="*/ 70 h 157"/>
                  <a:gd name="T10" fmla="*/ 109 w 207"/>
                  <a:gd name="T11" fmla="*/ 87 h 157"/>
                  <a:gd name="T12" fmla="*/ 86 w 207"/>
                  <a:gd name="T13" fmla="*/ 104 h 157"/>
                  <a:gd name="T14" fmla="*/ 64 w 207"/>
                  <a:gd name="T15" fmla="*/ 121 h 157"/>
                  <a:gd name="T16" fmla="*/ 43 w 207"/>
                  <a:gd name="T17" fmla="*/ 139 h 157"/>
                  <a:gd name="T18" fmla="*/ 23 w 207"/>
                  <a:gd name="T19" fmla="*/ 157 h 157"/>
                  <a:gd name="T20" fmla="*/ 0 w 207"/>
                  <a:gd name="T21" fmla="*/ 140 h 157"/>
                  <a:gd name="T22" fmla="*/ 22 w 207"/>
                  <a:gd name="T23" fmla="*/ 121 h 157"/>
                  <a:gd name="T24" fmla="*/ 44 w 207"/>
                  <a:gd name="T25" fmla="*/ 104 h 157"/>
                  <a:gd name="T26" fmla="*/ 67 w 207"/>
                  <a:gd name="T27" fmla="*/ 85 h 157"/>
                  <a:gd name="T28" fmla="*/ 92 w 207"/>
                  <a:gd name="T29" fmla="*/ 66 h 157"/>
                  <a:gd name="T30" fmla="*/ 118 w 207"/>
                  <a:gd name="T31" fmla="*/ 48 h 157"/>
                  <a:gd name="T32" fmla="*/ 142 w 207"/>
                  <a:gd name="T33" fmla="*/ 31 h 157"/>
                  <a:gd name="T34" fmla="*/ 168 w 207"/>
                  <a:gd name="T35" fmla="*/ 16 h 157"/>
                  <a:gd name="T36" fmla="*/ 195 w 207"/>
                  <a:gd name="T37" fmla="*/ 0 h 157"/>
                  <a:gd name="T38" fmla="*/ 207 w 207"/>
                  <a:gd name="T39" fmla="*/ 24 h 15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7"/>
                  <a:gd name="T61" fmla="*/ 0 h 157"/>
                  <a:gd name="T62" fmla="*/ 207 w 207"/>
                  <a:gd name="T63" fmla="*/ 157 h 15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7" h="157">
                    <a:moveTo>
                      <a:pt x="207" y="24"/>
                    </a:moveTo>
                    <a:lnTo>
                      <a:pt x="207" y="24"/>
                    </a:lnTo>
                    <a:lnTo>
                      <a:pt x="182" y="39"/>
                    </a:lnTo>
                    <a:lnTo>
                      <a:pt x="157" y="54"/>
                    </a:lnTo>
                    <a:lnTo>
                      <a:pt x="134" y="70"/>
                    </a:lnTo>
                    <a:lnTo>
                      <a:pt x="109" y="87"/>
                    </a:lnTo>
                    <a:lnTo>
                      <a:pt x="86" y="104"/>
                    </a:lnTo>
                    <a:lnTo>
                      <a:pt x="64" y="121"/>
                    </a:lnTo>
                    <a:lnTo>
                      <a:pt x="43" y="139"/>
                    </a:lnTo>
                    <a:lnTo>
                      <a:pt x="23" y="157"/>
                    </a:lnTo>
                    <a:lnTo>
                      <a:pt x="0" y="140"/>
                    </a:lnTo>
                    <a:lnTo>
                      <a:pt x="22" y="121"/>
                    </a:lnTo>
                    <a:lnTo>
                      <a:pt x="44" y="104"/>
                    </a:lnTo>
                    <a:lnTo>
                      <a:pt x="67" y="85"/>
                    </a:lnTo>
                    <a:lnTo>
                      <a:pt x="92" y="66"/>
                    </a:lnTo>
                    <a:lnTo>
                      <a:pt x="118" y="48"/>
                    </a:lnTo>
                    <a:lnTo>
                      <a:pt x="142" y="31"/>
                    </a:lnTo>
                    <a:lnTo>
                      <a:pt x="168" y="16"/>
                    </a:lnTo>
                    <a:lnTo>
                      <a:pt x="195" y="0"/>
                    </a:lnTo>
                    <a:lnTo>
                      <a:pt x="207" y="24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63" name="Freeform 232"/>
              <p:cNvSpPr>
                <a:spLocks/>
              </p:cNvSpPr>
              <p:nvPr/>
            </p:nvSpPr>
            <p:spPr bwMode="auto">
              <a:xfrm>
                <a:off x="2639" y="1329"/>
                <a:ext cx="196" cy="108"/>
              </a:xfrm>
              <a:custGeom>
                <a:avLst/>
                <a:gdLst>
                  <a:gd name="T0" fmla="*/ 196 w 196"/>
                  <a:gd name="T1" fmla="*/ 27 h 108"/>
                  <a:gd name="T2" fmla="*/ 173 w 196"/>
                  <a:gd name="T3" fmla="*/ 35 h 108"/>
                  <a:gd name="T4" fmla="*/ 148 w 196"/>
                  <a:gd name="T5" fmla="*/ 44 h 108"/>
                  <a:gd name="T6" fmla="*/ 126 w 196"/>
                  <a:gd name="T7" fmla="*/ 53 h 108"/>
                  <a:gd name="T8" fmla="*/ 103 w 196"/>
                  <a:gd name="T9" fmla="*/ 63 h 108"/>
                  <a:gd name="T10" fmla="*/ 81 w 196"/>
                  <a:gd name="T11" fmla="*/ 73 h 108"/>
                  <a:gd name="T12" fmla="*/ 59 w 196"/>
                  <a:gd name="T13" fmla="*/ 84 h 108"/>
                  <a:gd name="T14" fmla="*/ 35 w 196"/>
                  <a:gd name="T15" fmla="*/ 97 h 108"/>
                  <a:gd name="T16" fmla="*/ 14 w 196"/>
                  <a:gd name="T17" fmla="*/ 108 h 108"/>
                  <a:gd name="T18" fmla="*/ 0 w 196"/>
                  <a:gd name="T19" fmla="*/ 85 h 108"/>
                  <a:gd name="T20" fmla="*/ 23 w 196"/>
                  <a:gd name="T21" fmla="*/ 73 h 108"/>
                  <a:gd name="T22" fmla="*/ 47 w 196"/>
                  <a:gd name="T23" fmla="*/ 61 h 108"/>
                  <a:gd name="T24" fmla="*/ 71 w 196"/>
                  <a:gd name="T25" fmla="*/ 48 h 108"/>
                  <a:gd name="T26" fmla="*/ 95 w 196"/>
                  <a:gd name="T27" fmla="*/ 37 h 108"/>
                  <a:gd name="T28" fmla="*/ 119 w 196"/>
                  <a:gd name="T29" fmla="*/ 27 h 108"/>
                  <a:gd name="T30" fmla="*/ 143 w 196"/>
                  <a:gd name="T31" fmla="*/ 18 h 108"/>
                  <a:gd name="T32" fmla="*/ 168 w 196"/>
                  <a:gd name="T33" fmla="*/ 8 h 108"/>
                  <a:gd name="T34" fmla="*/ 192 w 196"/>
                  <a:gd name="T35" fmla="*/ 0 h 108"/>
                  <a:gd name="T36" fmla="*/ 196 w 196"/>
                  <a:gd name="T37" fmla="*/ 27 h 10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6"/>
                  <a:gd name="T58" fmla="*/ 0 h 108"/>
                  <a:gd name="T59" fmla="*/ 196 w 196"/>
                  <a:gd name="T60" fmla="*/ 108 h 10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6" h="108">
                    <a:moveTo>
                      <a:pt x="196" y="27"/>
                    </a:moveTo>
                    <a:lnTo>
                      <a:pt x="173" y="35"/>
                    </a:lnTo>
                    <a:lnTo>
                      <a:pt x="148" y="44"/>
                    </a:lnTo>
                    <a:lnTo>
                      <a:pt x="126" y="53"/>
                    </a:lnTo>
                    <a:lnTo>
                      <a:pt x="103" y="63"/>
                    </a:lnTo>
                    <a:lnTo>
                      <a:pt x="81" y="73"/>
                    </a:lnTo>
                    <a:lnTo>
                      <a:pt x="59" y="84"/>
                    </a:lnTo>
                    <a:lnTo>
                      <a:pt x="35" y="97"/>
                    </a:lnTo>
                    <a:lnTo>
                      <a:pt x="14" y="108"/>
                    </a:lnTo>
                    <a:lnTo>
                      <a:pt x="0" y="85"/>
                    </a:lnTo>
                    <a:lnTo>
                      <a:pt x="23" y="73"/>
                    </a:lnTo>
                    <a:lnTo>
                      <a:pt x="47" y="61"/>
                    </a:lnTo>
                    <a:lnTo>
                      <a:pt x="71" y="48"/>
                    </a:lnTo>
                    <a:lnTo>
                      <a:pt x="95" y="37"/>
                    </a:lnTo>
                    <a:lnTo>
                      <a:pt x="119" y="27"/>
                    </a:lnTo>
                    <a:lnTo>
                      <a:pt x="143" y="18"/>
                    </a:lnTo>
                    <a:lnTo>
                      <a:pt x="168" y="8"/>
                    </a:lnTo>
                    <a:lnTo>
                      <a:pt x="192" y="0"/>
                    </a:lnTo>
                    <a:lnTo>
                      <a:pt x="196" y="27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64" name="Freeform 233"/>
              <p:cNvSpPr>
                <a:spLocks/>
              </p:cNvSpPr>
              <p:nvPr/>
            </p:nvSpPr>
            <p:spPr bwMode="auto">
              <a:xfrm>
                <a:off x="2834" y="1321"/>
                <a:ext cx="22" cy="34"/>
              </a:xfrm>
              <a:custGeom>
                <a:avLst/>
                <a:gdLst>
                  <a:gd name="T0" fmla="*/ 0 w 22"/>
                  <a:gd name="T1" fmla="*/ 8 h 34"/>
                  <a:gd name="T2" fmla="*/ 18 w 22"/>
                  <a:gd name="T3" fmla="*/ 0 h 34"/>
                  <a:gd name="T4" fmla="*/ 22 w 22"/>
                  <a:gd name="T5" fmla="*/ 27 h 34"/>
                  <a:gd name="T6" fmla="*/ 4 w 22"/>
                  <a:gd name="T7" fmla="*/ 34 h 34"/>
                  <a:gd name="T8" fmla="*/ 0 w 22"/>
                  <a:gd name="T9" fmla="*/ 8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34"/>
                  <a:gd name="T17" fmla="*/ 22 w 22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34">
                    <a:moveTo>
                      <a:pt x="0" y="8"/>
                    </a:moveTo>
                    <a:lnTo>
                      <a:pt x="18" y="0"/>
                    </a:lnTo>
                    <a:lnTo>
                      <a:pt x="22" y="27"/>
                    </a:lnTo>
                    <a:lnTo>
                      <a:pt x="4" y="34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65" name="Freeform 234"/>
              <p:cNvSpPr>
                <a:spLocks/>
              </p:cNvSpPr>
              <p:nvPr/>
            </p:nvSpPr>
            <p:spPr bwMode="auto">
              <a:xfrm>
                <a:off x="2387" y="1497"/>
                <a:ext cx="149" cy="128"/>
              </a:xfrm>
              <a:custGeom>
                <a:avLst/>
                <a:gdLst>
                  <a:gd name="T0" fmla="*/ 149 w 149"/>
                  <a:gd name="T1" fmla="*/ 54 h 128"/>
                  <a:gd name="T2" fmla="*/ 0 w 149"/>
                  <a:gd name="T3" fmla="*/ 128 h 128"/>
                  <a:gd name="T4" fmla="*/ 72 w 149"/>
                  <a:gd name="T5" fmla="*/ 0 h 128"/>
                  <a:gd name="T6" fmla="*/ 149 w 149"/>
                  <a:gd name="T7" fmla="*/ 54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9"/>
                  <a:gd name="T13" fmla="*/ 0 h 128"/>
                  <a:gd name="T14" fmla="*/ 149 w 149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9" h="128">
                    <a:moveTo>
                      <a:pt x="149" y="54"/>
                    </a:moveTo>
                    <a:lnTo>
                      <a:pt x="0" y="128"/>
                    </a:lnTo>
                    <a:lnTo>
                      <a:pt x="72" y="0"/>
                    </a:lnTo>
                    <a:lnTo>
                      <a:pt x="149" y="5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66" name="Freeform 235"/>
              <p:cNvSpPr>
                <a:spLocks/>
              </p:cNvSpPr>
              <p:nvPr/>
            </p:nvSpPr>
            <p:spPr bwMode="auto">
              <a:xfrm>
                <a:off x="2366" y="1543"/>
                <a:ext cx="172" cy="98"/>
              </a:xfrm>
              <a:custGeom>
                <a:avLst/>
                <a:gdLst>
                  <a:gd name="T0" fmla="*/ 28 w 172"/>
                  <a:gd name="T1" fmla="*/ 81 h 98"/>
                  <a:gd name="T2" fmla="*/ 17 w 172"/>
                  <a:gd name="T3" fmla="*/ 73 h 98"/>
                  <a:gd name="T4" fmla="*/ 167 w 172"/>
                  <a:gd name="T5" fmla="*/ 0 h 98"/>
                  <a:gd name="T6" fmla="*/ 172 w 172"/>
                  <a:gd name="T7" fmla="*/ 13 h 98"/>
                  <a:gd name="T8" fmla="*/ 23 w 172"/>
                  <a:gd name="T9" fmla="*/ 86 h 98"/>
                  <a:gd name="T10" fmla="*/ 11 w 172"/>
                  <a:gd name="T11" fmla="*/ 79 h 98"/>
                  <a:gd name="T12" fmla="*/ 23 w 172"/>
                  <a:gd name="T13" fmla="*/ 86 h 98"/>
                  <a:gd name="T14" fmla="*/ 0 w 172"/>
                  <a:gd name="T15" fmla="*/ 98 h 98"/>
                  <a:gd name="T16" fmla="*/ 11 w 172"/>
                  <a:gd name="T17" fmla="*/ 79 h 98"/>
                  <a:gd name="T18" fmla="*/ 28 w 172"/>
                  <a:gd name="T19" fmla="*/ 81 h 9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2"/>
                  <a:gd name="T31" fmla="*/ 0 h 98"/>
                  <a:gd name="T32" fmla="*/ 172 w 172"/>
                  <a:gd name="T33" fmla="*/ 98 h 9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2" h="98">
                    <a:moveTo>
                      <a:pt x="28" y="81"/>
                    </a:moveTo>
                    <a:lnTo>
                      <a:pt x="17" y="73"/>
                    </a:lnTo>
                    <a:lnTo>
                      <a:pt x="167" y="0"/>
                    </a:lnTo>
                    <a:lnTo>
                      <a:pt x="172" y="13"/>
                    </a:lnTo>
                    <a:lnTo>
                      <a:pt x="23" y="86"/>
                    </a:lnTo>
                    <a:lnTo>
                      <a:pt x="11" y="79"/>
                    </a:lnTo>
                    <a:lnTo>
                      <a:pt x="23" y="86"/>
                    </a:lnTo>
                    <a:lnTo>
                      <a:pt x="0" y="98"/>
                    </a:lnTo>
                    <a:lnTo>
                      <a:pt x="11" y="79"/>
                    </a:lnTo>
                    <a:lnTo>
                      <a:pt x="28" y="8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67" name="Freeform 236"/>
              <p:cNvSpPr>
                <a:spLocks/>
              </p:cNvSpPr>
              <p:nvPr/>
            </p:nvSpPr>
            <p:spPr bwMode="auto">
              <a:xfrm>
                <a:off x="2377" y="1482"/>
                <a:ext cx="91" cy="143"/>
              </a:xfrm>
              <a:custGeom>
                <a:avLst/>
                <a:gdLst>
                  <a:gd name="T0" fmla="*/ 74 w 91"/>
                  <a:gd name="T1" fmla="*/ 20 h 143"/>
                  <a:gd name="T2" fmla="*/ 91 w 91"/>
                  <a:gd name="T3" fmla="*/ 15 h 143"/>
                  <a:gd name="T4" fmla="*/ 17 w 91"/>
                  <a:gd name="T5" fmla="*/ 143 h 143"/>
                  <a:gd name="T6" fmla="*/ 0 w 91"/>
                  <a:gd name="T7" fmla="*/ 141 h 143"/>
                  <a:gd name="T8" fmla="*/ 73 w 91"/>
                  <a:gd name="T9" fmla="*/ 12 h 143"/>
                  <a:gd name="T10" fmla="*/ 89 w 91"/>
                  <a:gd name="T11" fmla="*/ 6 h 143"/>
                  <a:gd name="T12" fmla="*/ 73 w 91"/>
                  <a:gd name="T13" fmla="*/ 12 h 143"/>
                  <a:gd name="T14" fmla="*/ 79 w 91"/>
                  <a:gd name="T15" fmla="*/ 0 h 143"/>
                  <a:gd name="T16" fmla="*/ 89 w 91"/>
                  <a:gd name="T17" fmla="*/ 6 h 143"/>
                  <a:gd name="T18" fmla="*/ 74 w 91"/>
                  <a:gd name="T19" fmla="*/ 20 h 14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143"/>
                  <a:gd name="T32" fmla="*/ 91 w 91"/>
                  <a:gd name="T33" fmla="*/ 143 h 14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143">
                    <a:moveTo>
                      <a:pt x="74" y="20"/>
                    </a:moveTo>
                    <a:lnTo>
                      <a:pt x="91" y="15"/>
                    </a:lnTo>
                    <a:lnTo>
                      <a:pt x="17" y="143"/>
                    </a:lnTo>
                    <a:lnTo>
                      <a:pt x="0" y="141"/>
                    </a:lnTo>
                    <a:lnTo>
                      <a:pt x="73" y="12"/>
                    </a:lnTo>
                    <a:lnTo>
                      <a:pt x="89" y="6"/>
                    </a:lnTo>
                    <a:lnTo>
                      <a:pt x="73" y="12"/>
                    </a:lnTo>
                    <a:lnTo>
                      <a:pt x="79" y="0"/>
                    </a:lnTo>
                    <a:lnTo>
                      <a:pt x="89" y="6"/>
                    </a:lnTo>
                    <a:lnTo>
                      <a:pt x="74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68" name="Freeform 237"/>
              <p:cNvSpPr>
                <a:spLocks/>
              </p:cNvSpPr>
              <p:nvPr/>
            </p:nvSpPr>
            <p:spPr bwMode="auto">
              <a:xfrm>
                <a:off x="2453" y="1488"/>
                <a:ext cx="102" cy="69"/>
              </a:xfrm>
              <a:custGeom>
                <a:avLst/>
                <a:gdLst>
                  <a:gd name="T0" fmla="*/ 82 w 102"/>
                  <a:gd name="T1" fmla="*/ 57 h 69"/>
                  <a:gd name="T2" fmla="*/ 78 w 102"/>
                  <a:gd name="T3" fmla="*/ 69 h 69"/>
                  <a:gd name="T4" fmla="*/ 0 w 102"/>
                  <a:gd name="T5" fmla="*/ 14 h 69"/>
                  <a:gd name="T6" fmla="*/ 15 w 102"/>
                  <a:gd name="T7" fmla="*/ 0 h 69"/>
                  <a:gd name="T8" fmla="*/ 92 w 102"/>
                  <a:gd name="T9" fmla="*/ 57 h 69"/>
                  <a:gd name="T10" fmla="*/ 89 w 102"/>
                  <a:gd name="T11" fmla="*/ 68 h 69"/>
                  <a:gd name="T12" fmla="*/ 92 w 102"/>
                  <a:gd name="T13" fmla="*/ 57 h 69"/>
                  <a:gd name="T14" fmla="*/ 102 w 102"/>
                  <a:gd name="T15" fmla="*/ 62 h 69"/>
                  <a:gd name="T16" fmla="*/ 89 w 102"/>
                  <a:gd name="T17" fmla="*/ 68 h 69"/>
                  <a:gd name="T18" fmla="*/ 82 w 102"/>
                  <a:gd name="T19" fmla="*/ 57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2"/>
                  <a:gd name="T31" fmla="*/ 0 h 69"/>
                  <a:gd name="T32" fmla="*/ 102 w 102"/>
                  <a:gd name="T33" fmla="*/ 69 h 6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2" h="69">
                    <a:moveTo>
                      <a:pt x="82" y="57"/>
                    </a:moveTo>
                    <a:lnTo>
                      <a:pt x="78" y="69"/>
                    </a:lnTo>
                    <a:lnTo>
                      <a:pt x="0" y="14"/>
                    </a:lnTo>
                    <a:lnTo>
                      <a:pt x="15" y="0"/>
                    </a:lnTo>
                    <a:lnTo>
                      <a:pt x="92" y="57"/>
                    </a:lnTo>
                    <a:lnTo>
                      <a:pt x="89" y="68"/>
                    </a:lnTo>
                    <a:lnTo>
                      <a:pt x="92" y="57"/>
                    </a:lnTo>
                    <a:lnTo>
                      <a:pt x="102" y="62"/>
                    </a:lnTo>
                    <a:lnTo>
                      <a:pt x="89" y="68"/>
                    </a:lnTo>
                    <a:lnTo>
                      <a:pt x="82" y="5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69" name="Freeform 238"/>
              <p:cNvSpPr>
                <a:spLocks/>
              </p:cNvSpPr>
              <p:nvPr/>
            </p:nvSpPr>
            <p:spPr bwMode="auto">
              <a:xfrm>
                <a:off x="2405" y="1565"/>
                <a:ext cx="45" cy="33"/>
              </a:xfrm>
              <a:custGeom>
                <a:avLst/>
                <a:gdLst>
                  <a:gd name="T0" fmla="*/ 45 w 45"/>
                  <a:gd name="T1" fmla="*/ 17 h 33"/>
                  <a:gd name="T2" fmla="*/ 29 w 45"/>
                  <a:gd name="T3" fmla="*/ 33 h 33"/>
                  <a:gd name="T4" fmla="*/ 0 w 45"/>
                  <a:gd name="T5" fmla="*/ 16 h 33"/>
                  <a:gd name="T6" fmla="*/ 16 w 45"/>
                  <a:gd name="T7" fmla="*/ 0 h 33"/>
                  <a:gd name="T8" fmla="*/ 45 w 45"/>
                  <a:gd name="T9" fmla="*/ 17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33"/>
                  <a:gd name="T17" fmla="*/ 45 w 45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33">
                    <a:moveTo>
                      <a:pt x="45" y="17"/>
                    </a:moveTo>
                    <a:lnTo>
                      <a:pt x="29" y="33"/>
                    </a:lnTo>
                    <a:lnTo>
                      <a:pt x="0" y="16"/>
                    </a:lnTo>
                    <a:lnTo>
                      <a:pt x="16" y="0"/>
                    </a:lnTo>
                    <a:lnTo>
                      <a:pt x="45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70" name="Freeform 239"/>
              <p:cNvSpPr>
                <a:spLocks/>
              </p:cNvSpPr>
              <p:nvPr/>
            </p:nvSpPr>
            <p:spPr bwMode="auto">
              <a:xfrm>
                <a:off x="2423" y="1429"/>
                <a:ext cx="197" cy="156"/>
              </a:xfrm>
              <a:custGeom>
                <a:avLst/>
                <a:gdLst>
                  <a:gd name="T0" fmla="*/ 197 w 197"/>
                  <a:gd name="T1" fmla="*/ 26 h 156"/>
                  <a:gd name="T2" fmla="*/ 197 w 197"/>
                  <a:gd name="T3" fmla="*/ 26 h 156"/>
                  <a:gd name="T4" fmla="*/ 172 w 197"/>
                  <a:gd name="T5" fmla="*/ 42 h 156"/>
                  <a:gd name="T6" fmla="*/ 150 w 197"/>
                  <a:gd name="T7" fmla="*/ 57 h 156"/>
                  <a:gd name="T8" fmla="*/ 127 w 197"/>
                  <a:gd name="T9" fmla="*/ 73 h 156"/>
                  <a:gd name="T10" fmla="*/ 106 w 197"/>
                  <a:gd name="T11" fmla="*/ 88 h 156"/>
                  <a:gd name="T12" fmla="*/ 85 w 197"/>
                  <a:gd name="T13" fmla="*/ 104 h 156"/>
                  <a:gd name="T14" fmla="*/ 66 w 197"/>
                  <a:gd name="T15" fmla="*/ 120 h 156"/>
                  <a:gd name="T16" fmla="*/ 47 w 197"/>
                  <a:gd name="T17" fmla="*/ 137 h 156"/>
                  <a:gd name="T18" fmla="*/ 28 w 197"/>
                  <a:gd name="T19" fmla="*/ 156 h 156"/>
                  <a:gd name="T20" fmla="*/ 0 w 197"/>
                  <a:gd name="T21" fmla="*/ 138 h 156"/>
                  <a:gd name="T22" fmla="*/ 20 w 197"/>
                  <a:gd name="T23" fmla="*/ 118 h 156"/>
                  <a:gd name="T24" fmla="*/ 41 w 197"/>
                  <a:gd name="T25" fmla="*/ 100 h 156"/>
                  <a:gd name="T26" fmla="*/ 62 w 197"/>
                  <a:gd name="T27" fmla="*/ 83 h 156"/>
                  <a:gd name="T28" fmla="*/ 83 w 197"/>
                  <a:gd name="T29" fmla="*/ 65 h 156"/>
                  <a:gd name="T30" fmla="*/ 106 w 197"/>
                  <a:gd name="T31" fmla="*/ 48 h 156"/>
                  <a:gd name="T32" fmla="*/ 129 w 197"/>
                  <a:gd name="T33" fmla="*/ 32 h 156"/>
                  <a:gd name="T34" fmla="*/ 154 w 197"/>
                  <a:gd name="T35" fmla="*/ 17 h 156"/>
                  <a:gd name="T36" fmla="*/ 179 w 197"/>
                  <a:gd name="T37" fmla="*/ 0 h 156"/>
                  <a:gd name="T38" fmla="*/ 197 w 197"/>
                  <a:gd name="T39" fmla="*/ 26 h 15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97"/>
                  <a:gd name="T61" fmla="*/ 0 h 156"/>
                  <a:gd name="T62" fmla="*/ 197 w 197"/>
                  <a:gd name="T63" fmla="*/ 156 h 15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97" h="156">
                    <a:moveTo>
                      <a:pt x="197" y="26"/>
                    </a:moveTo>
                    <a:lnTo>
                      <a:pt x="197" y="26"/>
                    </a:lnTo>
                    <a:lnTo>
                      <a:pt x="172" y="42"/>
                    </a:lnTo>
                    <a:lnTo>
                      <a:pt x="150" y="57"/>
                    </a:lnTo>
                    <a:lnTo>
                      <a:pt x="127" y="73"/>
                    </a:lnTo>
                    <a:lnTo>
                      <a:pt x="106" y="88"/>
                    </a:lnTo>
                    <a:lnTo>
                      <a:pt x="85" y="104"/>
                    </a:lnTo>
                    <a:lnTo>
                      <a:pt x="66" y="120"/>
                    </a:lnTo>
                    <a:lnTo>
                      <a:pt x="47" y="137"/>
                    </a:lnTo>
                    <a:lnTo>
                      <a:pt x="28" y="156"/>
                    </a:lnTo>
                    <a:lnTo>
                      <a:pt x="0" y="138"/>
                    </a:lnTo>
                    <a:lnTo>
                      <a:pt x="20" y="118"/>
                    </a:lnTo>
                    <a:lnTo>
                      <a:pt x="41" y="100"/>
                    </a:lnTo>
                    <a:lnTo>
                      <a:pt x="62" y="83"/>
                    </a:lnTo>
                    <a:lnTo>
                      <a:pt x="83" y="65"/>
                    </a:lnTo>
                    <a:lnTo>
                      <a:pt x="106" y="48"/>
                    </a:lnTo>
                    <a:lnTo>
                      <a:pt x="129" y="32"/>
                    </a:lnTo>
                    <a:lnTo>
                      <a:pt x="154" y="17"/>
                    </a:lnTo>
                    <a:lnTo>
                      <a:pt x="179" y="0"/>
                    </a:lnTo>
                    <a:lnTo>
                      <a:pt x="197" y="2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71" name="Freeform 240"/>
              <p:cNvSpPr>
                <a:spLocks/>
              </p:cNvSpPr>
              <p:nvPr/>
            </p:nvSpPr>
            <p:spPr bwMode="auto">
              <a:xfrm>
                <a:off x="2608" y="1336"/>
                <a:ext cx="196" cy="120"/>
              </a:xfrm>
              <a:custGeom>
                <a:avLst/>
                <a:gdLst>
                  <a:gd name="T0" fmla="*/ 196 w 196"/>
                  <a:gd name="T1" fmla="*/ 32 h 120"/>
                  <a:gd name="T2" fmla="*/ 174 w 196"/>
                  <a:gd name="T3" fmla="*/ 41 h 120"/>
                  <a:gd name="T4" fmla="*/ 152 w 196"/>
                  <a:gd name="T5" fmla="*/ 49 h 120"/>
                  <a:gd name="T6" fmla="*/ 128 w 196"/>
                  <a:gd name="T7" fmla="*/ 60 h 120"/>
                  <a:gd name="T8" fmla="*/ 106 w 196"/>
                  <a:gd name="T9" fmla="*/ 71 h 120"/>
                  <a:gd name="T10" fmla="*/ 83 w 196"/>
                  <a:gd name="T11" fmla="*/ 83 h 120"/>
                  <a:gd name="T12" fmla="*/ 61 w 196"/>
                  <a:gd name="T13" fmla="*/ 94 h 120"/>
                  <a:gd name="T14" fmla="*/ 38 w 196"/>
                  <a:gd name="T15" fmla="*/ 107 h 120"/>
                  <a:gd name="T16" fmla="*/ 17 w 196"/>
                  <a:gd name="T17" fmla="*/ 120 h 120"/>
                  <a:gd name="T18" fmla="*/ 0 w 196"/>
                  <a:gd name="T19" fmla="*/ 94 h 120"/>
                  <a:gd name="T20" fmla="*/ 22 w 196"/>
                  <a:gd name="T21" fmla="*/ 79 h 120"/>
                  <a:gd name="T22" fmla="*/ 45 w 196"/>
                  <a:gd name="T23" fmla="*/ 67 h 120"/>
                  <a:gd name="T24" fmla="*/ 70 w 196"/>
                  <a:gd name="T25" fmla="*/ 54 h 120"/>
                  <a:gd name="T26" fmla="*/ 93 w 196"/>
                  <a:gd name="T27" fmla="*/ 42 h 120"/>
                  <a:gd name="T28" fmla="*/ 116 w 196"/>
                  <a:gd name="T29" fmla="*/ 31 h 120"/>
                  <a:gd name="T30" fmla="*/ 141 w 196"/>
                  <a:gd name="T31" fmla="*/ 20 h 120"/>
                  <a:gd name="T32" fmla="*/ 165 w 196"/>
                  <a:gd name="T33" fmla="*/ 9 h 120"/>
                  <a:gd name="T34" fmla="*/ 190 w 196"/>
                  <a:gd name="T35" fmla="*/ 0 h 120"/>
                  <a:gd name="T36" fmla="*/ 196 w 196"/>
                  <a:gd name="T37" fmla="*/ 32 h 12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6"/>
                  <a:gd name="T58" fmla="*/ 0 h 120"/>
                  <a:gd name="T59" fmla="*/ 196 w 196"/>
                  <a:gd name="T60" fmla="*/ 120 h 12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6" h="120">
                    <a:moveTo>
                      <a:pt x="196" y="32"/>
                    </a:moveTo>
                    <a:lnTo>
                      <a:pt x="174" y="41"/>
                    </a:lnTo>
                    <a:lnTo>
                      <a:pt x="152" y="49"/>
                    </a:lnTo>
                    <a:lnTo>
                      <a:pt x="128" y="60"/>
                    </a:lnTo>
                    <a:lnTo>
                      <a:pt x="106" y="71"/>
                    </a:lnTo>
                    <a:lnTo>
                      <a:pt x="83" y="83"/>
                    </a:lnTo>
                    <a:lnTo>
                      <a:pt x="61" y="94"/>
                    </a:lnTo>
                    <a:lnTo>
                      <a:pt x="38" y="107"/>
                    </a:lnTo>
                    <a:lnTo>
                      <a:pt x="17" y="120"/>
                    </a:lnTo>
                    <a:lnTo>
                      <a:pt x="0" y="94"/>
                    </a:lnTo>
                    <a:lnTo>
                      <a:pt x="22" y="79"/>
                    </a:lnTo>
                    <a:lnTo>
                      <a:pt x="45" y="67"/>
                    </a:lnTo>
                    <a:lnTo>
                      <a:pt x="70" y="54"/>
                    </a:lnTo>
                    <a:lnTo>
                      <a:pt x="93" y="42"/>
                    </a:lnTo>
                    <a:lnTo>
                      <a:pt x="116" y="31"/>
                    </a:lnTo>
                    <a:lnTo>
                      <a:pt x="141" y="20"/>
                    </a:lnTo>
                    <a:lnTo>
                      <a:pt x="165" y="9"/>
                    </a:lnTo>
                    <a:lnTo>
                      <a:pt x="190" y="0"/>
                    </a:lnTo>
                    <a:lnTo>
                      <a:pt x="196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72" name="Freeform 241"/>
              <p:cNvSpPr>
                <a:spLocks/>
              </p:cNvSpPr>
              <p:nvPr/>
            </p:nvSpPr>
            <p:spPr bwMode="auto">
              <a:xfrm>
                <a:off x="2799" y="1331"/>
                <a:ext cx="27" cy="37"/>
              </a:xfrm>
              <a:custGeom>
                <a:avLst/>
                <a:gdLst>
                  <a:gd name="T0" fmla="*/ 0 w 27"/>
                  <a:gd name="T1" fmla="*/ 9 h 37"/>
                  <a:gd name="T2" fmla="*/ 19 w 27"/>
                  <a:gd name="T3" fmla="*/ 0 h 37"/>
                  <a:gd name="T4" fmla="*/ 27 w 27"/>
                  <a:gd name="T5" fmla="*/ 31 h 37"/>
                  <a:gd name="T6" fmla="*/ 8 w 27"/>
                  <a:gd name="T7" fmla="*/ 37 h 37"/>
                  <a:gd name="T8" fmla="*/ 0 w 27"/>
                  <a:gd name="T9" fmla="*/ 9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37"/>
                  <a:gd name="T17" fmla="*/ 27 w 27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37">
                    <a:moveTo>
                      <a:pt x="0" y="9"/>
                    </a:moveTo>
                    <a:lnTo>
                      <a:pt x="19" y="0"/>
                    </a:lnTo>
                    <a:lnTo>
                      <a:pt x="27" y="31"/>
                    </a:lnTo>
                    <a:lnTo>
                      <a:pt x="8" y="37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73" name="Freeform 242"/>
              <p:cNvSpPr>
                <a:spLocks/>
              </p:cNvSpPr>
              <p:nvPr/>
            </p:nvSpPr>
            <p:spPr bwMode="auto">
              <a:xfrm>
                <a:off x="2387" y="1497"/>
                <a:ext cx="149" cy="128"/>
              </a:xfrm>
              <a:custGeom>
                <a:avLst/>
                <a:gdLst>
                  <a:gd name="T0" fmla="*/ 149 w 149"/>
                  <a:gd name="T1" fmla="*/ 54 h 128"/>
                  <a:gd name="T2" fmla="*/ 0 w 149"/>
                  <a:gd name="T3" fmla="*/ 128 h 128"/>
                  <a:gd name="T4" fmla="*/ 72 w 149"/>
                  <a:gd name="T5" fmla="*/ 0 h 128"/>
                  <a:gd name="T6" fmla="*/ 149 w 149"/>
                  <a:gd name="T7" fmla="*/ 54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9"/>
                  <a:gd name="T13" fmla="*/ 0 h 128"/>
                  <a:gd name="T14" fmla="*/ 149 w 149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9" h="128">
                    <a:moveTo>
                      <a:pt x="149" y="54"/>
                    </a:moveTo>
                    <a:lnTo>
                      <a:pt x="0" y="128"/>
                    </a:lnTo>
                    <a:lnTo>
                      <a:pt x="72" y="0"/>
                    </a:lnTo>
                    <a:lnTo>
                      <a:pt x="149" y="54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74" name="Freeform 243"/>
              <p:cNvSpPr>
                <a:spLocks/>
              </p:cNvSpPr>
              <p:nvPr/>
            </p:nvSpPr>
            <p:spPr bwMode="auto">
              <a:xfrm>
                <a:off x="2376" y="1545"/>
                <a:ext cx="163" cy="87"/>
              </a:xfrm>
              <a:custGeom>
                <a:avLst/>
                <a:gdLst>
                  <a:gd name="T0" fmla="*/ 16 w 163"/>
                  <a:gd name="T1" fmla="*/ 77 h 87"/>
                  <a:gd name="T2" fmla="*/ 9 w 163"/>
                  <a:gd name="T3" fmla="*/ 72 h 87"/>
                  <a:gd name="T4" fmla="*/ 159 w 163"/>
                  <a:gd name="T5" fmla="*/ 0 h 87"/>
                  <a:gd name="T6" fmla="*/ 163 w 163"/>
                  <a:gd name="T7" fmla="*/ 8 h 87"/>
                  <a:gd name="T8" fmla="*/ 14 w 163"/>
                  <a:gd name="T9" fmla="*/ 81 h 87"/>
                  <a:gd name="T10" fmla="*/ 6 w 163"/>
                  <a:gd name="T11" fmla="*/ 77 h 87"/>
                  <a:gd name="T12" fmla="*/ 14 w 163"/>
                  <a:gd name="T13" fmla="*/ 81 h 87"/>
                  <a:gd name="T14" fmla="*/ 0 w 163"/>
                  <a:gd name="T15" fmla="*/ 87 h 87"/>
                  <a:gd name="T16" fmla="*/ 6 w 163"/>
                  <a:gd name="T17" fmla="*/ 77 h 87"/>
                  <a:gd name="T18" fmla="*/ 16 w 163"/>
                  <a:gd name="T19" fmla="*/ 77 h 8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3"/>
                  <a:gd name="T31" fmla="*/ 0 h 87"/>
                  <a:gd name="T32" fmla="*/ 163 w 163"/>
                  <a:gd name="T33" fmla="*/ 87 h 8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3" h="87">
                    <a:moveTo>
                      <a:pt x="16" y="77"/>
                    </a:moveTo>
                    <a:lnTo>
                      <a:pt x="9" y="72"/>
                    </a:lnTo>
                    <a:lnTo>
                      <a:pt x="159" y="0"/>
                    </a:lnTo>
                    <a:lnTo>
                      <a:pt x="163" y="8"/>
                    </a:lnTo>
                    <a:lnTo>
                      <a:pt x="14" y="81"/>
                    </a:lnTo>
                    <a:lnTo>
                      <a:pt x="6" y="77"/>
                    </a:lnTo>
                    <a:lnTo>
                      <a:pt x="14" y="81"/>
                    </a:lnTo>
                    <a:lnTo>
                      <a:pt x="0" y="87"/>
                    </a:lnTo>
                    <a:lnTo>
                      <a:pt x="6" y="77"/>
                    </a:lnTo>
                    <a:lnTo>
                      <a:pt x="16" y="77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75" name="Freeform 244"/>
              <p:cNvSpPr>
                <a:spLocks/>
              </p:cNvSpPr>
              <p:nvPr/>
            </p:nvSpPr>
            <p:spPr bwMode="auto">
              <a:xfrm>
                <a:off x="2380" y="1486"/>
                <a:ext cx="82" cy="138"/>
              </a:xfrm>
              <a:custGeom>
                <a:avLst/>
                <a:gdLst>
                  <a:gd name="T0" fmla="*/ 72 w 82"/>
                  <a:gd name="T1" fmla="*/ 13 h 138"/>
                  <a:gd name="T2" fmla="*/ 82 w 82"/>
                  <a:gd name="T3" fmla="*/ 8 h 138"/>
                  <a:gd name="T4" fmla="*/ 9 w 82"/>
                  <a:gd name="T5" fmla="*/ 138 h 138"/>
                  <a:gd name="T6" fmla="*/ 0 w 82"/>
                  <a:gd name="T7" fmla="*/ 136 h 138"/>
                  <a:gd name="T8" fmla="*/ 72 w 82"/>
                  <a:gd name="T9" fmla="*/ 7 h 138"/>
                  <a:gd name="T10" fmla="*/ 81 w 82"/>
                  <a:gd name="T11" fmla="*/ 4 h 138"/>
                  <a:gd name="T12" fmla="*/ 72 w 82"/>
                  <a:gd name="T13" fmla="*/ 7 h 138"/>
                  <a:gd name="T14" fmla="*/ 76 w 82"/>
                  <a:gd name="T15" fmla="*/ 0 h 138"/>
                  <a:gd name="T16" fmla="*/ 81 w 82"/>
                  <a:gd name="T17" fmla="*/ 4 h 138"/>
                  <a:gd name="T18" fmla="*/ 72 w 82"/>
                  <a:gd name="T19" fmla="*/ 13 h 1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2"/>
                  <a:gd name="T31" fmla="*/ 0 h 138"/>
                  <a:gd name="T32" fmla="*/ 82 w 82"/>
                  <a:gd name="T33" fmla="*/ 138 h 13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2" h="138">
                    <a:moveTo>
                      <a:pt x="72" y="13"/>
                    </a:moveTo>
                    <a:lnTo>
                      <a:pt x="82" y="8"/>
                    </a:lnTo>
                    <a:lnTo>
                      <a:pt x="9" y="138"/>
                    </a:lnTo>
                    <a:lnTo>
                      <a:pt x="0" y="136"/>
                    </a:lnTo>
                    <a:lnTo>
                      <a:pt x="72" y="7"/>
                    </a:lnTo>
                    <a:lnTo>
                      <a:pt x="81" y="4"/>
                    </a:lnTo>
                    <a:lnTo>
                      <a:pt x="72" y="7"/>
                    </a:lnTo>
                    <a:lnTo>
                      <a:pt x="76" y="0"/>
                    </a:lnTo>
                    <a:lnTo>
                      <a:pt x="81" y="4"/>
                    </a:lnTo>
                    <a:lnTo>
                      <a:pt x="72" y="13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76" name="Freeform 245"/>
              <p:cNvSpPr>
                <a:spLocks/>
              </p:cNvSpPr>
              <p:nvPr/>
            </p:nvSpPr>
            <p:spPr bwMode="auto">
              <a:xfrm>
                <a:off x="2454" y="1491"/>
                <a:ext cx="92" cy="63"/>
              </a:xfrm>
              <a:custGeom>
                <a:avLst/>
                <a:gdLst>
                  <a:gd name="T0" fmla="*/ 80 w 92"/>
                  <a:gd name="T1" fmla="*/ 55 h 63"/>
                  <a:gd name="T2" fmla="*/ 77 w 92"/>
                  <a:gd name="T3" fmla="*/ 63 h 63"/>
                  <a:gd name="T4" fmla="*/ 0 w 92"/>
                  <a:gd name="T5" fmla="*/ 9 h 63"/>
                  <a:gd name="T6" fmla="*/ 8 w 92"/>
                  <a:gd name="T7" fmla="*/ 0 h 63"/>
                  <a:gd name="T8" fmla="*/ 88 w 92"/>
                  <a:gd name="T9" fmla="*/ 55 h 63"/>
                  <a:gd name="T10" fmla="*/ 83 w 92"/>
                  <a:gd name="T11" fmla="*/ 63 h 63"/>
                  <a:gd name="T12" fmla="*/ 88 w 92"/>
                  <a:gd name="T13" fmla="*/ 55 h 63"/>
                  <a:gd name="T14" fmla="*/ 92 w 92"/>
                  <a:gd name="T15" fmla="*/ 60 h 63"/>
                  <a:gd name="T16" fmla="*/ 83 w 92"/>
                  <a:gd name="T17" fmla="*/ 63 h 63"/>
                  <a:gd name="T18" fmla="*/ 80 w 92"/>
                  <a:gd name="T19" fmla="*/ 55 h 6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2"/>
                  <a:gd name="T31" fmla="*/ 0 h 63"/>
                  <a:gd name="T32" fmla="*/ 92 w 92"/>
                  <a:gd name="T33" fmla="*/ 63 h 6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2" h="63">
                    <a:moveTo>
                      <a:pt x="80" y="55"/>
                    </a:moveTo>
                    <a:lnTo>
                      <a:pt x="77" y="63"/>
                    </a:lnTo>
                    <a:lnTo>
                      <a:pt x="0" y="9"/>
                    </a:lnTo>
                    <a:lnTo>
                      <a:pt x="8" y="0"/>
                    </a:lnTo>
                    <a:lnTo>
                      <a:pt x="88" y="55"/>
                    </a:lnTo>
                    <a:lnTo>
                      <a:pt x="83" y="63"/>
                    </a:lnTo>
                    <a:lnTo>
                      <a:pt x="88" y="55"/>
                    </a:lnTo>
                    <a:lnTo>
                      <a:pt x="92" y="60"/>
                    </a:lnTo>
                    <a:lnTo>
                      <a:pt x="83" y="63"/>
                    </a:lnTo>
                    <a:lnTo>
                      <a:pt x="80" y="55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77" name="Freeform 246"/>
              <p:cNvSpPr>
                <a:spLocks/>
              </p:cNvSpPr>
              <p:nvPr/>
            </p:nvSpPr>
            <p:spPr bwMode="auto">
              <a:xfrm>
                <a:off x="2409" y="1567"/>
                <a:ext cx="38" cy="28"/>
              </a:xfrm>
              <a:custGeom>
                <a:avLst/>
                <a:gdLst>
                  <a:gd name="T0" fmla="*/ 38 w 38"/>
                  <a:gd name="T1" fmla="*/ 15 h 28"/>
                  <a:gd name="T2" fmla="*/ 25 w 38"/>
                  <a:gd name="T3" fmla="*/ 28 h 28"/>
                  <a:gd name="T4" fmla="*/ 0 w 38"/>
                  <a:gd name="T5" fmla="*/ 13 h 28"/>
                  <a:gd name="T6" fmla="*/ 14 w 38"/>
                  <a:gd name="T7" fmla="*/ 0 h 28"/>
                  <a:gd name="T8" fmla="*/ 38 w 38"/>
                  <a:gd name="T9" fmla="*/ 15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28"/>
                  <a:gd name="T17" fmla="*/ 38 w 38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28">
                    <a:moveTo>
                      <a:pt x="38" y="15"/>
                    </a:moveTo>
                    <a:lnTo>
                      <a:pt x="25" y="28"/>
                    </a:lnTo>
                    <a:lnTo>
                      <a:pt x="0" y="13"/>
                    </a:lnTo>
                    <a:lnTo>
                      <a:pt x="14" y="0"/>
                    </a:lnTo>
                    <a:lnTo>
                      <a:pt x="38" y="15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78" name="Freeform 247"/>
              <p:cNvSpPr>
                <a:spLocks/>
              </p:cNvSpPr>
              <p:nvPr/>
            </p:nvSpPr>
            <p:spPr bwMode="auto">
              <a:xfrm>
                <a:off x="2425" y="1429"/>
                <a:ext cx="193" cy="153"/>
              </a:xfrm>
              <a:custGeom>
                <a:avLst/>
                <a:gdLst>
                  <a:gd name="T0" fmla="*/ 193 w 193"/>
                  <a:gd name="T1" fmla="*/ 23 h 153"/>
                  <a:gd name="T2" fmla="*/ 193 w 193"/>
                  <a:gd name="T3" fmla="*/ 23 h 153"/>
                  <a:gd name="T4" fmla="*/ 169 w 193"/>
                  <a:gd name="T5" fmla="*/ 39 h 153"/>
                  <a:gd name="T6" fmla="*/ 144 w 193"/>
                  <a:gd name="T7" fmla="*/ 54 h 153"/>
                  <a:gd name="T8" fmla="*/ 123 w 193"/>
                  <a:gd name="T9" fmla="*/ 69 h 153"/>
                  <a:gd name="T10" fmla="*/ 102 w 193"/>
                  <a:gd name="T11" fmla="*/ 85 h 153"/>
                  <a:gd name="T12" fmla="*/ 83 w 193"/>
                  <a:gd name="T13" fmla="*/ 100 h 153"/>
                  <a:gd name="T14" fmla="*/ 62 w 193"/>
                  <a:gd name="T15" fmla="*/ 117 h 153"/>
                  <a:gd name="T16" fmla="*/ 43 w 193"/>
                  <a:gd name="T17" fmla="*/ 134 h 153"/>
                  <a:gd name="T18" fmla="*/ 24 w 193"/>
                  <a:gd name="T19" fmla="*/ 153 h 153"/>
                  <a:gd name="T20" fmla="*/ 0 w 193"/>
                  <a:gd name="T21" fmla="*/ 138 h 153"/>
                  <a:gd name="T22" fmla="*/ 20 w 193"/>
                  <a:gd name="T23" fmla="*/ 119 h 153"/>
                  <a:gd name="T24" fmla="*/ 41 w 193"/>
                  <a:gd name="T25" fmla="*/ 100 h 153"/>
                  <a:gd name="T26" fmla="*/ 61 w 193"/>
                  <a:gd name="T27" fmla="*/ 83 h 153"/>
                  <a:gd name="T28" fmla="*/ 83 w 193"/>
                  <a:gd name="T29" fmla="*/ 65 h 153"/>
                  <a:gd name="T30" fmla="*/ 106 w 193"/>
                  <a:gd name="T31" fmla="*/ 48 h 153"/>
                  <a:gd name="T32" fmla="*/ 129 w 193"/>
                  <a:gd name="T33" fmla="*/ 32 h 153"/>
                  <a:gd name="T34" fmla="*/ 153 w 193"/>
                  <a:gd name="T35" fmla="*/ 16 h 153"/>
                  <a:gd name="T36" fmla="*/ 178 w 193"/>
                  <a:gd name="T37" fmla="*/ 0 h 153"/>
                  <a:gd name="T38" fmla="*/ 193 w 193"/>
                  <a:gd name="T39" fmla="*/ 23 h 1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93"/>
                  <a:gd name="T61" fmla="*/ 0 h 153"/>
                  <a:gd name="T62" fmla="*/ 193 w 193"/>
                  <a:gd name="T63" fmla="*/ 153 h 1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93" h="153">
                    <a:moveTo>
                      <a:pt x="193" y="23"/>
                    </a:moveTo>
                    <a:lnTo>
                      <a:pt x="193" y="23"/>
                    </a:lnTo>
                    <a:lnTo>
                      <a:pt x="169" y="39"/>
                    </a:lnTo>
                    <a:lnTo>
                      <a:pt x="144" y="54"/>
                    </a:lnTo>
                    <a:lnTo>
                      <a:pt x="123" y="69"/>
                    </a:lnTo>
                    <a:lnTo>
                      <a:pt x="102" y="85"/>
                    </a:lnTo>
                    <a:lnTo>
                      <a:pt x="83" y="100"/>
                    </a:lnTo>
                    <a:lnTo>
                      <a:pt x="62" y="117"/>
                    </a:lnTo>
                    <a:lnTo>
                      <a:pt x="43" y="134"/>
                    </a:lnTo>
                    <a:lnTo>
                      <a:pt x="24" y="153"/>
                    </a:lnTo>
                    <a:lnTo>
                      <a:pt x="0" y="138"/>
                    </a:lnTo>
                    <a:lnTo>
                      <a:pt x="20" y="119"/>
                    </a:lnTo>
                    <a:lnTo>
                      <a:pt x="41" y="100"/>
                    </a:lnTo>
                    <a:lnTo>
                      <a:pt x="61" y="83"/>
                    </a:lnTo>
                    <a:lnTo>
                      <a:pt x="83" y="65"/>
                    </a:lnTo>
                    <a:lnTo>
                      <a:pt x="106" y="48"/>
                    </a:lnTo>
                    <a:lnTo>
                      <a:pt x="129" y="32"/>
                    </a:lnTo>
                    <a:lnTo>
                      <a:pt x="153" y="16"/>
                    </a:lnTo>
                    <a:lnTo>
                      <a:pt x="178" y="0"/>
                    </a:lnTo>
                    <a:lnTo>
                      <a:pt x="193" y="23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79" name="Freeform 248"/>
              <p:cNvSpPr>
                <a:spLocks/>
              </p:cNvSpPr>
              <p:nvPr/>
            </p:nvSpPr>
            <p:spPr bwMode="auto">
              <a:xfrm>
                <a:off x="2607" y="1340"/>
                <a:ext cx="196" cy="115"/>
              </a:xfrm>
              <a:custGeom>
                <a:avLst/>
                <a:gdLst>
                  <a:gd name="T0" fmla="*/ 196 w 196"/>
                  <a:gd name="T1" fmla="*/ 27 h 115"/>
                  <a:gd name="T2" fmla="*/ 173 w 196"/>
                  <a:gd name="T3" fmla="*/ 36 h 115"/>
                  <a:gd name="T4" fmla="*/ 149 w 196"/>
                  <a:gd name="T5" fmla="*/ 45 h 115"/>
                  <a:gd name="T6" fmla="*/ 127 w 196"/>
                  <a:gd name="T7" fmla="*/ 55 h 115"/>
                  <a:gd name="T8" fmla="*/ 104 w 196"/>
                  <a:gd name="T9" fmla="*/ 65 h 115"/>
                  <a:gd name="T10" fmla="*/ 81 w 196"/>
                  <a:gd name="T11" fmla="*/ 76 h 115"/>
                  <a:gd name="T12" fmla="*/ 58 w 196"/>
                  <a:gd name="T13" fmla="*/ 89 h 115"/>
                  <a:gd name="T14" fmla="*/ 36 w 196"/>
                  <a:gd name="T15" fmla="*/ 102 h 115"/>
                  <a:gd name="T16" fmla="*/ 13 w 196"/>
                  <a:gd name="T17" fmla="*/ 115 h 115"/>
                  <a:gd name="T18" fmla="*/ 0 w 196"/>
                  <a:gd name="T19" fmla="*/ 94 h 115"/>
                  <a:gd name="T20" fmla="*/ 22 w 196"/>
                  <a:gd name="T21" fmla="*/ 79 h 115"/>
                  <a:gd name="T22" fmla="*/ 46 w 196"/>
                  <a:gd name="T23" fmla="*/ 65 h 115"/>
                  <a:gd name="T24" fmla="*/ 69 w 196"/>
                  <a:gd name="T25" fmla="*/ 53 h 115"/>
                  <a:gd name="T26" fmla="*/ 93 w 196"/>
                  <a:gd name="T27" fmla="*/ 41 h 115"/>
                  <a:gd name="T28" fmla="*/ 117 w 196"/>
                  <a:gd name="T29" fmla="*/ 29 h 115"/>
                  <a:gd name="T30" fmla="*/ 142 w 196"/>
                  <a:gd name="T31" fmla="*/ 19 h 115"/>
                  <a:gd name="T32" fmla="*/ 165 w 196"/>
                  <a:gd name="T33" fmla="*/ 8 h 115"/>
                  <a:gd name="T34" fmla="*/ 191 w 196"/>
                  <a:gd name="T35" fmla="*/ 0 h 115"/>
                  <a:gd name="T36" fmla="*/ 196 w 196"/>
                  <a:gd name="T37" fmla="*/ 27 h 11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6"/>
                  <a:gd name="T58" fmla="*/ 0 h 115"/>
                  <a:gd name="T59" fmla="*/ 196 w 196"/>
                  <a:gd name="T60" fmla="*/ 115 h 11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6" h="115">
                    <a:moveTo>
                      <a:pt x="196" y="27"/>
                    </a:moveTo>
                    <a:lnTo>
                      <a:pt x="173" y="36"/>
                    </a:lnTo>
                    <a:lnTo>
                      <a:pt x="149" y="45"/>
                    </a:lnTo>
                    <a:lnTo>
                      <a:pt x="127" y="55"/>
                    </a:lnTo>
                    <a:lnTo>
                      <a:pt x="104" y="65"/>
                    </a:lnTo>
                    <a:lnTo>
                      <a:pt x="81" y="76"/>
                    </a:lnTo>
                    <a:lnTo>
                      <a:pt x="58" y="89"/>
                    </a:lnTo>
                    <a:lnTo>
                      <a:pt x="36" y="102"/>
                    </a:lnTo>
                    <a:lnTo>
                      <a:pt x="13" y="115"/>
                    </a:lnTo>
                    <a:lnTo>
                      <a:pt x="0" y="94"/>
                    </a:lnTo>
                    <a:lnTo>
                      <a:pt x="22" y="79"/>
                    </a:lnTo>
                    <a:lnTo>
                      <a:pt x="46" y="65"/>
                    </a:lnTo>
                    <a:lnTo>
                      <a:pt x="69" y="53"/>
                    </a:lnTo>
                    <a:lnTo>
                      <a:pt x="93" y="41"/>
                    </a:lnTo>
                    <a:lnTo>
                      <a:pt x="117" y="29"/>
                    </a:lnTo>
                    <a:lnTo>
                      <a:pt x="142" y="19"/>
                    </a:lnTo>
                    <a:lnTo>
                      <a:pt x="165" y="8"/>
                    </a:lnTo>
                    <a:lnTo>
                      <a:pt x="191" y="0"/>
                    </a:lnTo>
                    <a:lnTo>
                      <a:pt x="196" y="27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80" name="Freeform 249"/>
              <p:cNvSpPr>
                <a:spLocks/>
              </p:cNvSpPr>
              <p:nvPr/>
            </p:nvSpPr>
            <p:spPr bwMode="auto">
              <a:xfrm>
                <a:off x="2799" y="1333"/>
                <a:ext cx="24" cy="33"/>
              </a:xfrm>
              <a:custGeom>
                <a:avLst/>
                <a:gdLst>
                  <a:gd name="T0" fmla="*/ 0 w 24"/>
                  <a:gd name="T1" fmla="*/ 7 h 33"/>
                  <a:gd name="T2" fmla="*/ 18 w 24"/>
                  <a:gd name="T3" fmla="*/ 0 h 33"/>
                  <a:gd name="T4" fmla="*/ 24 w 24"/>
                  <a:gd name="T5" fmla="*/ 27 h 33"/>
                  <a:gd name="T6" fmla="*/ 5 w 24"/>
                  <a:gd name="T7" fmla="*/ 33 h 33"/>
                  <a:gd name="T8" fmla="*/ 0 w 24"/>
                  <a:gd name="T9" fmla="*/ 7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33"/>
                  <a:gd name="T17" fmla="*/ 24 w 24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33">
                    <a:moveTo>
                      <a:pt x="0" y="7"/>
                    </a:moveTo>
                    <a:lnTo>
                      <a:pt x="18" y="0"/>
                    </a:lnTo>
                    <a:lnTo>
                      <a:pt x="24" y="27"/>
                    </a:lnTo>
                    <a:lnTo>
                      <a:pt x="5" y="33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81" name="Freeform 250"/>
              <p:cNvSpPr>
                <a:spLocks/>
              </p:cNvSpPr>
              <p:nvPr/>
            </p:nvSpPr>
            <p:spPr bwMode="auto">
              <a:xfrm>
                <a:off x="2159" y="2599"/>
                <a:ext cx="99" cy="164"/>
              </a:xfrm>
              <a:custGeom>
                <a:avLst/>
                <a:gdLst>
                  <a:gd name="T0" fmla="*/ 81 w 99"/>
                  <a:gd name="T1" fmla="*/ 0 h 164"/>
                  <a:gd name="T2" fmla="*/ 99 w 99"/>
                  <a:gd name="T3" fmla="*/ 164 h 164"/>
                  <a:gd name="T4" fmla="*/ 0 w 99"/>
                  <a:gd name="T5" fmla="*/ 41 h 164"/>
                  <a:gd name="T6" fmla="*/ 81 w 99"/>
                  <a:gd name="T7" fmla="*/ 0 h 1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164"/>
                  <a:gd name="T14" fmla="*/ 99 w 99"/>
                  <a:gd name="T15" fmla="*/ 164 h 1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164">
                    <a:moveTo>
                      <a:pt x="81" y="0"/>
                    </a:moveTo>
                    <a:lnTo>
                      <a:pt x="99" y="164"/>
                    </a:lnTo>
                    <a:lnTo>
                      <a:pt x="0" y="41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82" name="Freeform 251"/>
              <p:cNvSpPr>
                <a:spLocks/>
              </p:cNvSpPr>
              <p:nvPr/>
            </p:nvSpPr>
            <p:spPr bwMode="auto">
              <a:xfrm>
                <a:off x="2231" y="2599"/>
                <a:ext cx="35" cy="188"/>
              </a:xfrm>
              <a:custGeom>
                <a:avLst/>
                <a:gdLst>
                  <a:gd name="T0" fmla="*/ 29 w 35"/>
                  <a:gd name="T1" fmla="*/ 156 h 188"/>
                  <a:gd name="T2" fmla="*/ 18 w 35"/>
                  <a:gd name="T3" fmla="*/ 162 h 188"/>
                  <a:gd name="T4" fmla="*/ 0 w 35"/>
                  <a:gd name="T5" fmla="*/ 0 h 188"/>
                  <a:gd name="T6" fmla="*/ 15 w 35"/>
                  <a:gd name="T7" fmla="*/ 2 h 188"/>
                  <a:gd name="T8" fmla="*/ 33 w 35"/>
                  <a:gd name="T9" fmla="*/ 164 h 188"/>
                  <a:gd name="T10" fmla="*/ 20 w 35"/>
                  <a:gd name="T11" fmla="*/ 170 h 188"/>
                  <a:gd name="T12" fmla="*/ 33 w 35"/>
                  <a:gd name="T13" fmla="*/ 164 h 188"/>
                  <a:gd name="T14" fmla="*/ 35 w 35"/>
                  <a:gd name="T15" fmla="*/ 188 h 188"/>
                  <a:gd name="T16" fmla="*/ 20 w 35"/>
                  <a:gd name="T17" fmla="*/ 170 h 188"/>
                  <a:gd name="T18" fmla="*/ 29 w 35"/>
                  <a:gd name="T19" fmla="*/ 156 h 1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5"/>
                  <a:gd name="T31" fmla="*/ 0 h 188"/>
                  <a:gd name="T32" fmla="*/ 35 w 35"/>
                  <a:gd name="T33" fmla="*/ 188 h 18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5" h="188">
                    <a:moveTo>
                      <a:pt x="29" y="156"/>
                    </a:moveTo>
                    <a:lnTo>
                      <a:pt x="18" y="162"/>
                    </a:lnTo>
                    <a:lnTo>
                      <a:pt x="0" y="0"/>
                    </a:lnTo>
                    <a:lnTo>
                      <a:pt x="15" y="2"/>
                    </a:lnTo>
                    <a:lnTo>
                      <a:pt x="33" y="164"/>
                    </a:lnTo>
                    <a:lnTo>
                      <a:pt x="20" y="170"/>
                    </a:lnTo>
                    <a:lnTo>
                      <a:pt x="33" y="164"/>
                    </a:lnTo>
                    <a:lnTo>
                      <a:pt x="35" y="188"/>
                    </a:lnTo>
                    <a:lnTo>
                      <a:pt x="20" y="170"/>
                    </a:lnTo>
                    <a:lnTo>
                      <a:pt x="29" y="15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83" name="Freeform 252"/>
              <p:cNvSpPr>
                <a:spLocks/>
              </p:cNvSpPr>
              <p:nvPr/>
            </p:nvSpPr>
            <p:spPr bwMode="auto">
              <a:xfrm>
                <a:off x="2144" y="2630"/>
                <a:ext cx="116" cy="138"/>
              </a:xfrm>
              <a:custGeom>
                <a:avLst/>
                <a:gdLst>
                  <a:gd name="T0" fmla="*/ 17 w 116"/>
                  <a:gd name="T1" fmla="*/ 19 h 138"/>
                  <a:gd name="T2" fmla="*/ 18 w 116"/>
                  <a:gd name="T3" fmla="*/ 2 h 138"/>
                  <a:gd name="T4" fmla="*/ 116 w 116"/>
                  <a:gd name="T5" fmla="*/ 125 h 138"/>
                  <a:gd name="T6" fmla="*/ 108 w 116"/>
                  <a:gd name="T7" fmla="*/ 138 h 138"/>
                  <a:gd name="T8" fmla="*/ 10 w 116"/>
                  <a:gd name="T9" fmla="*/ 16 h 138"/>
                  <a:gd name="T10" fmla="*/ 11 w 116"/>
                  <a:gd name="T11" fmla="*/ 0 h 138"/>
                  <a:gd name="T12" fmla="*/ 10 w 116"/>
                  <a:gd name="T13" fmla="*/ 16 h 138"/>
                  <a:gd name="T14" fmla="*/ 0 w 116"/>
                  <a:gd name="T15" fmla="*/ 4 h 138"/>
                  <a:gd name="T16" fmla="*/ 11 w 116"/>
                  <a:gd name="T17" fmla="*/ 0 h 138"/>
                  <a:gd name="T18" fmla="*/ 17 w 116"/>
                  <a:gd name="T19" fmla="*/ 19 h 1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6"/>
                  <a:gd name="T31" fmla="*/ 0 h 138"/>
                  <a:gd name="T32" fmla="*/ 116 w 116"/>
                  <a:gd name="T33" fmla="*/ 138 h 13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6" h="138">
                    <a:moveTo>
                      <a:pt x="17" y="19"/>
                    </a:moveTo>
                    <a:lnTo>
                      <a:pt x="18" y="2"/>
                    </a:lnTo>
                    <a:lnTo>
                      <a:pt x="116" y="125"/>
                    </a:lnTo>
                    <a:lnTo>
                      <a:pt x="108" y="138"/>
                    </a:lnTo>
                    <a:lnTo>
                      <a:pt x="10" y="16"/>
                    </a:lnTo>
                    <a:lnTo>
                      <a:pt x="11" y="0"/>
                    </a:lnTo>
                    <a:lnTo>
                      <a:pt x="10" y="16"/>
                    </a:lnTo>
                    <a:lnTo>
                      <a:pt x="0" y="4"/>
                    </a:lnTo>
                    <a:lnTo>
                      <a:pt x="11" y="0"/>
                    </a:lnTo>
                    <a:lnTo>
                      <a:pt x="17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84" name="Freeform 253"/>
              <p:cNvSpPr>
                <a:spLocks/>
              </p:cNvSpPr>
              <p:nvPr/>
            </p:nvSpPr>
            <p:spPr bwMode="auto">
              <a:xfrm>
                <a:off x="2150" y="2585"/>
                <a:ext cx="94" cy="64"/>
              </a:xfrm>
              <a:custGeom>
                <a:avLst/>
                <a:gdLst>
                  <a:gd name="T0" fmla="*/ 79 w 94"/>
                  <a:gd name="T1" fmla="*/ 13 h 64"/>
                  <a:gd name="T2" fmla="*/ 91 w 94"/>
                  <a:gd name="T3" fmla="*/ 24 h 64"/>
                  <a:gd name="T4" fmla="*/ 9 w 94"/>
                  <a:gd name="T5" fmla="*/ 64 h 64"/>
                  <a:gd name="T6" fmla="*/ 0 w 94"/>
                  <a:gd name="T7" fmla="*/ 45 h 64"/>
                  <a:gd name="T8" fmla="*/ 84 w 94"/>
                  <a:gd name="T9" fmla="*/ 4 h 64"/>
                  <a:gd name="T10" fmla="*/ 94 w 94"/>
                  <a:gd name="T11" fmla="*/ 15 h 64"/>
                  <a:gd name="T12" fmla="*/ 84 w 94"/>
                  <a:gd name="T13" fmla="*/ 4 h 64"/>
                  <a:gd name="T14" fmla="*/ 93 w 94"/>
                  <a:gd name="T15" fmla="*/ 0 h 64"/>
                  <a:gd name="T16" fmla="*/ 94 w 94"/>
                  <a:gd name="T17" fmla="*/ 15 h 64"/>
                  <a:gd name="T18" fmla="*/ 79 w 94"/>
                  <a:gd name="T19" fmla="*/ 13 h 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4"/>
                  <a:gd name="T31" fmla="*/ 0 h 64"/>
                  <a:gd name="T32" fmla="*/ 94 w 94"/>
                  <a:gd name="T33" fmla="*/ 64 h 6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4" h="64">
                    <a:moveTo>
                      <a:pt x="79" y="13"/>
                    </a:moveTo>
                    <a:lnTo>
                      <a:pt x="91" y="24"/>
                    </a:lnTo>
                    <a:lnTo>
                      <a:pt x="9" y="64"/>
                    </a:lnTo>
                    <a:lnTo>
                      <a:pt x="0" y="45"/>
                    </a:lnTo>
                    <a:lnTo>
                      <a:pt x="84" y="4"/>
                    </a:lnTo>
                    <a:lnTo>
                      <a:pt x="94" y="15"/>
                    </a:lnTo>
                    <a:lnTo>
                      <a:pt x="84" y="4"/>
                    </a:lnTo>
                    <a:lnTo>
                      <a:pt x="93" y="0"/>
                    </a:lnTo>
                    <a:lnTo>
                      <a:pt x="94" y="15"/>
                    </a:lnTo>
                    <a:lnTo>
                      <a:pt x="79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85" name="Freeform 254"/>
              <p:cNvSpPr>
                <a:spLocks/>
              </p:cNvSpPr>
              <p:nvPr/>
            </p:nvSpPr>
            <p:spPr bwMode="auto">
              <a:xfrm>
                <a:off x="2220" y="2704"/>
                <a:ext cx="36" cy="34"/>
              </a:xfrm>
              <a:custGeom>
                <a:avLst/>
                <a:gdLst>
                  <a:gd name="T0" fmla="*/ 28 w 36"/>
                  <a:gd name="T1" fmla="*/ 0 h 34"/>
                  <a:gd name="T2" fmla="*/ 36 w 36"/>
                  <a:gd name="T3" fmla="*/ 19 h 34"/>
                  <a:gd name="T4" fmla="*/ 7 w 36"/>
                  <a:gd name="T5" fmla="*/ 34 h 34"/>
                  <a:gd name="T6" fmla="*/ 0 w 36"/>
                  <a:gd name="T7" fmla="*/ 15 h 34"/>
                  <a:gd name="T8" fmla="*/ 28 w 36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34"/>
                  <a:gd name="T17" fmla="*/ 36 w 36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34">
                    <a:moveTo>
                      <a:pt x="28" y="0"/>
                    </a:moveTo>
                    <a:lnTo>
                      <a:pt x="36" y="19"/>
                    </a:lnTo>
                    <a:lnTo>
                      <a:pt x="7" y="34"/>
                    </a:lnTo>
                    <a:lnTo>
                      <a:pt x="0" y="15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86" name="Freeform 255"/>
              <p:cNvSpPr>
                <a:spLocks/>
              </p:cNvSpPr>
              <p:nvPr/>
            </p:nvSpPr>
            <p:spPr bwMode="auto">
              <a:xfrm>
                <a:off x="2142" y="2485"/>
                <a:ext cx="101" cy="233"/>
              </a:xfrm>
              <a:custGeom>
                <a:avLst/>
                <a:gdLst>
                  <a:gd name="T0" fmla="*/ 32 w 101"/>
                  <a:gd name="T1" fmla="*/ 0 h 233"/>
                  <a:gd name="T2" fmla="*/ 32 w 101"/>
                  <a:gd name="T3" fmla="*/ 0 h 233"/>
                  <a:gd name="T4" fmla="*/ 45 w 101"/>
                  <a:gd name="T5" fmla="*/ 56 h 233"/>
                  <a:gd name="T6" fmla="*/ 61 w 101"/>
                  <a:gd name="T7" fmla="*/ 112 h 233"/>
                  <a:gd name="T8" fmla="*/ 80 w 101"/>
                  <a:gd name="T9" fmla="*/ 165 h 233"/>
                  <a:gd name="T10" fmla="*/ 101 w 101"/>
                  <a:gd name="T11" fmla="*/ 217 h 233"/>
                  <a:gd name="T12" fmla="*/ 75 w 101"/>
                  <a:gd name="T13" fmla="*/ 233 h 233"/>
                  <a:gd name="T14" fmla="*/ 52 w 101"/>
                  <a:gd name="T15" fmla="*/ 178 h 233"/>
                  <a:gd name="T16" fmla="*/ 31 w 101"/>
                  <a:gd name="T17" fmla="*/ 122 h 233"/>
                  <a:gd name="T18" fmla="*/ 15 w 101"/>
                  <a:gd name="T19" fmla="*/ 63 h 233"/>
                  <a:gd name="T20" fmla="*/ 0 w 101"/>
                  <a:gd name="T21" fmla="*/ 3 h 233"/>
                  <a:gd name="T22" fmla="*/ 32 w 101"/>
                  <a:gd name="T23" fmla="*/ 0 h 23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01"/>
                  <a:gd name="T37" fmla="*/ 0 h 233"/>
                  <a:gd name="T38" fmla="*/ 101 w 101"/>
                  <a:gd name="T39" fmla="*/ 233 h 23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01" h="233">
                    <a:moveTo>
                      <a:pt x="32" y="0"/>
                    </a:moveTo>
                    <a:lnTo>
                      <a:pt x="32" y="0"/>
                    </a:lnTo>
                    <a:lnTo>
                      <a:pt x="45" y="56"/>
                    </a:lnTo>
                    <a:lnTo>
                      <a:pt x="61" y="112"/>
                    </a:lnTo>
                    <a:lnTo>
                      <a:pt x="80" y="165"/>
                    </a:lnTo>
                    <a:lnTo>
                      <a:pt x="101" y="217"/>
                    </a:lnTo>
                    <a:lnTo>
                      <a:pt x="75" y="233"/>
                    </a:lnTo>
                    <a:lnTo>
                      <a:pt x="52" y="178"/>
                    </a:lnTo>
                    <a:lnTo>
                      <a:pt x="31" y="122"/>
                    </a:lnTo>
                    <a:lnTo>
                      <a:pt x="15" y="63"/>
                    </a:lnTo>
                    <a:lnTo>
                      <a:pt x="0" y="3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87" name="Freeform 256"/>
              <p:cNvSpPr>
                <a:spLocks/>
              </p:cNvSpPr>
              <p:nvPr/>
            </p:nvSpPr>
            <p:spPr bwMode="auto">
              <a:xfrm>
                <a:off x="2117" y="2281"/>
                <a:ext cx="53" cy="206"/>
              </a:xfrm>
              <a:custGeom>
                <a:avLst/>
                <a:gdLst>
                  <a:gd name="T0" fmla="*/ 33 w 53"/>
                  <a:gd name="T1" fmla="*/ 9 h 206"/>
                  <a:gd name="T2" fmla="*/ 33 w 53"/>
                  <a:gd name="T3" fmla="*/ 33 h 206"/>
                  <a:gd name="T4" fmla="*/ 33 w 53"/>
                  <a:gd name="T5" fmla="*/ 56 h 206"/>
                  <a:gd name="T6" fmla="*/ 37 w 53"/>
                  <a:gd name="T7" fmla="*/ 80 h 206"/>
                  <a:gd name="T8" fmla="*/ 39 w 53"/>
                  <a:gd name="T9" fmla="*/ 104 h 206"/>
                  <a:gd name="T10" fmla="*/ 41 w 53"/>
                  <a:gd name="T11" fmla="*/ 129 h 206"/>
                  <a:gd name="T12" fmla="*/ 44 w 53"/>
                  <a:gd name="T13" fmla="*/ 152 h 206"/>
                  <a:gd name="T14" fmla="*/ 48 w 53"/>
                  <a:gd name="T15" fmla="*/ 179 h 206"/>
                  <a:gd name="T16" fmla="*/ 53 w 53"/>
                  <a:gd name="T17" fmla="*/ 204 h 206"/>
                  <a:gd name="T18" fmla="*/ 22 w 53"/>
                  <a:gd name="T19" fmla="*/ 206 h 206"/>
                  <a:gd name="T20" fmla="*/ 16 w 53"/>
                  <a:gd name="T21" fmla="*/ 180 h 206"/>
                  <a:gd name="T22" fmla="*/ 12 w 53"/>
                  <a:gd name="T23" fmla="*/ 155 h 206"/>
                  <a:gd name="T24" fmla="*/ 8 w 53"/>
                  <a:gd name="T25" fmla="*/ 127 h 206"/>
                  <a:gd name="T26" fmla="*/ 5 w 53"/>
                  <a:gd name="T27" fmla="*/ 101 h 206"/>
                  <a:gd name="T28" fmla="*/ 3 w 53"/>
                  <a:gd name="T29" fmla="*/ 76 h 206"/>
                  <a:gd name="T30" fmla="*/ 1 w 53"/>
                  <a:gd name="T31" fmla="*/ 50 h 206"/>
                  <a:gd name="T32" fmla="*/ 1 w 53"/>
                  <a:gd name="T33" fmla="*/ 24 h 206"/>
                  <a:gd name="T34" fmla="*/ 0 w 53"/>
                  <a:gd name="T35" fmla="*/ 0 h 206"/>
                  <a:gd name="T36" fmla="*/ 33 w 53"/>
                  <a:gd name="T37" fmla="*/ 9 h 2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3"/>
                  <a:gd name="T58" fmla="*/ 0 h 206"/>
                  <a:gd name="T59" fmla="*/ 53 w 53"/>
                  <a:gd name="T60" fmla="*/ 206 h 2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3" h="206">
                    <a:moveTo>
                      <a:pt x="33" y="9"/>
                    </a:moveTo>
                    <a:lnTo>
                      <a:pt x="33" y="33"/>
                    </a:lnTo>
                    <a:lnTo>
                      <a:pt x="33" y="56"/>
                    </a:lnTo>
                    <a:lnTo>
                      <a:pt x="37" y="80"/>
                    </a:lnTo>
                    <a:lnTo>
                      <a:pt x="39" y="104"/>
                    </a:lnTo>
                    <a:lnTo>
                      <a:pt x="41" y="129"/>
                    </a:lnTo>
                    <a:lnTo>
                      <a:pt x="44" y="152"/>
                    </a:lnTo>
                    <a:lnTo>
                      <a:pt x="48" y="179"/>
                    </a:lnTo>
                    <a:lnTo>
                      <a:pt x="53" y="204"/>
                    </a:lnTo>
                    <a:lnTo>
                      <a:pt x="22" y="206"/>
                    </a:lnTo>
                    <a:lnTo>
                      <a:pt x="16" y="180"/>
                    </a:lnTo>
                    <a:lnTo>
                      <a:pt x="12" y="155"/>
                    </a:lnTo>
                    <a:lnTo>
                      <a:pt x="8" y="127"/>
                    </a:lnTo>
                    <a:lnTo>
                      <a:pt x="5" y="101"/>
                    </a:lnTo>
                    <a:lnTo>
                      <a:pt x="3" y="76"/>
                    </a:lnTo>
                    <a:lnTo>
                      <a:pt x="1" y="50"/>
                    </a:lnTo>
                    <a:lnTo>
                      <a:pt x="1" y="24"/>
                    </a:lnTo>
                    <a:lnTo>
                      <a:pt x="0" y="0"/>
                    </a:lnTo>
                    <a:lnTo>
                      <a:pt x="33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88" name="Freeform 257"/>
              <p:cNvSpPr>
                <a:spLocks/>
              </p:cNvSpPr>
              <p:nvPr/>
            </p:nvSpPr>
            <p:spPr bwMode="auto">
              <a:xfrm>
                <a:off x="2115" y="2257"/>
                <a:ext cx="33" cy="32"/>
              </a:xfrm>
              <a:custGeom>
                <a:avLst/>
                <a:gdLst>
                  <a:gd name="T0" fmla="*/ 0 w 33"/>
                  <a:gd name="T1" fmla="*/ 22 h 32"/>
                  <a:gd name="T2" fmla="*/ 0 w 33"/>
                  <a:gd name="T3" fmla="*/ 0 h 32"/>
                  <a:gd name="T4" fmla="*/ 33 w 33"/>
                  <a:gd name="T5" fmla="*/ 11 h 32"/>
                  <a:gd name="T6" fmla="*/ 33 w 33"/>
                  <a:gd name="T7" fmla="*/ 32 h 32"/>
                  <a:gd name="T8" fmla="*/ 0 w 33"/>
                  <a:gd name="T9" fmla="*/ 2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"/>
                  <a:gd name="T16" fmla="*/ 0 h 32"/>
                  <a:gd name="T17" fmla="*/ 33 w 33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" h="32">
                    <a:moveTo>
                      <a:pt x="0" y="22"/>
                    </a:moveTo>
                    <a:lnTo>
                      <a:pt x="0" y="0"/>
                    </a:lnTo>
                    <a:lnTo>
                      <a:pt x="33" y="11"/>
                    </a:lnTo>
                    <a:lnTo>
                      <a:pt x="33" y="32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89" name="Freeform 258"/>
              <p:cNvSpPr>
                <a:spLocks/>
              </p:cNvSpPr>
              <p:nvPr/>
            </p:nvSpPr>
            <p:spPr bwMode="auto">
              <a:xfrm>
                <a:off x="2159" y="2599"/>
                <a:ext cx="99" cy="164"/>
              </a:xfrm>
              <a:custGeom>
                <a:avLst/>
                <a:gdLst>
                  <a:gd name="T0" fmla="*/ 81 w 99"/>
                  <a:gd name="T1" fmla="*/ 0 h 164"/>
                  <a:gd name="T2" fmla="*/ 99 w 99"/>
                  <a:gd name="T3" fmla="*/ 164 h 164"/>
                  <a:gd name="T4" fmla="*/ 0 w 99"/>
                  <a:gd name="T5" fmla="*/ 41 h 164"/>
                  <a:gd name="T6" fmla="*/ 81 w 99"/>
                  <a:gd name="T7" fmla="*/ 0 h 1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164"/>
                  <a:gd name="T14" fmla="*/ 99 w 99"/>
                  <a:gd name="T15" fmla="*/ 164 h 1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164">
                    <a:moveTo>
                      <a:pt x="81" y="0"/>
                    </a:moveTo>
                    <a:lnTo>
                      <a:pt x="99" y="164"/>
                    </a:lnTo>
                    <a:lnTo>
                      <a:pt x="0" y="41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90" name="Freeform 259"/>
              <p:cNvSpPr>
                <a:spLocks/>
              </p:cNvSpPr>
              <p:nvPr/>
            </p:nvSpPr>
            <p:spPr bwMode="auto">
              <a:xfrm>
                <a:off x="2235" y="2601"/>
                <a:ext cx="28" cy="178"/>
              </a:xfrm>
              <a:custGeom>
                <a:avLst/>
                <a:gdLst>
                  <a:gd name="T0" fmla="*/ 24 w 28"/>
                  <a:gd name="T1" fmla="*/ 158 h 178"/>
                  <a:gd name="T2" fmla="*/ 17 w 28"/>
                  <a:gd name="T3" fmla="*/ 162 h 178"/>
                  <a:gd name="T4" fmla="*/ 0 w 28"/>
                  <a:gd name="T5" fmla="*/ 0 h 178"/>
                  <a:gd name="T6" fmla="*/ 9 w 28"/>
                  <a:gd name="T7" fmla="*/ 1 h 178"/>
                  <a:gd name="T8" fmla="*/ 27 w 28"/>
                  <a:gd name="T9" fmla="*/ 163 h 178"/>
                  <a:gd name="T10" fmla="*/ 18 w 28"/>
                  <a:gd name="T11" fmla="*/ 165 h 178"/>
                  <a:gd name="T12" fmla="*/ 27 w 28"/>
                  <a:gd name="T13" fmla="*/ 163 h 178"/>
                  <a:gd name="T14" fmla="*/ 28 w 28"/>
                  <a:gd name="T15" fmla="*/ 178 h 178"/>
                  <a:gd name="T16" fmla="*/ 18 w 28"/>
                  <a:gd name="T17" fmla="*/ 165 h 178"/>
                  <a:gd name="T18" fmla="*/ 24 w 28"/>
                  <a:gd name="T19" fmla="*/ 158 h 17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178"/>
                  <a:gd name="T32" fmla="*/ 28 w 28"/>
                  <a:gd name="T33" fmla="*/ 178 h 17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178">
                    <a:moveTo>
                      <a:pt x="24" y="158"/>
                    </a:moveTo>
                    <a:lnTo>
                      <a:pt x="17" y="162"/>
                    </a:lnTo>
                    <a:lnTo>
                      <a:pt x="0" y="0"/>
                    </a:lnTo>
                    <a:lnTo>
                      <a:pt x="9" y="1"/>
                    </a:lnTo>
                    <a:lnTo>
                      <a:pt x="27" y="163"/>
                    </a:lnTo>
                    <a:lnTo>
                      <a:pt x="18" y="165"/>
                    </a:lnTo>
                    <a:lnTo>
                      <a:pt x="27" y="163"/>
                    </a:lnTo>
                    <a:lnTo>
                      <a:pt x="28" y="178"/>
                    </a:lnTo>
                    <a:lnTo>
                      <a:pt x="18" y="165"/>
                    </a:lnTo>
                    <a:lnTo>
                      <a:pt x="24" y="158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91" name="Freeform 260"/>
              <p:cNvSpPr>
                <a:spLocks/>
              </p:cNvSpPr>
              <p:nvPr/>
            </p:nvSpPr>
            <p:spPr bwMode="auto">
              <a:xfrm>
                <a:off x="2149" y="2633"/>
                <a:ext cx="111" cy="131"/>
              </a:xfrm>
              <a:custGeom>
                <a:avLst/>
                <a:gdLst>
                  <a:gd name="T0" fmla="*/ 11 w 111"/>
                  <a:gd name="T1" fmla="*/ 12 h 131"/>
                  <a:gd name="T2" fmla="*/ 11 w 111"/>
                  <a:gd name="T3" fmla="*/ 2 h 131"/>
                  <a:gd name="T4" fmla="*/ 111 w 111"/>
                  <a:gd name="T5" fmla="*/ 125 h 131"/>
                  <a:gd name="T6" fmla="*/ 105 w 111"/>
                  <a:gd name="T7" fmla="*/ 131 h 131"/>
                  <a:gd name="T8" fmla="*/ 6 w 111"/>
                  <a:gd name="T9" fmla="*/ 9 h 131"/>
                  <a:gd name="T10" fmla="*/ 6 w 111"/>
                  <a:gd name="T11" fmla="*/ 0 h 131"/>
                  <a:gd name="T12" fmla="*/ 6 w 111"/>
                  <a:gd name="T13" fmla="*/ 9 h 131"/>
                  <a:gd name="T14" fmla="*/ 0 w 111"/>
                  <a:gd name="T15" fmla="*/ 3 h 131"/>
                  <a:gd name="T16" fmla="*/ 6 w 111"/>
                  <a:gd name="T17" fmla="*/ 0 h 131"/>
                  <a:gd name="T18" fmla="*/ 11 w 111"/>
                  <a:gd name="T19" fmla="*/ 12 h 13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1"/>
                  <a:gd name="T31" fmla="*/ 0 h 131"/>
                  <a:gd name="T32" fmla="*/ 111 w 111"/>
                  <a:gd name="T33" fmla="*/ 131 h 13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1" h="131">
                    <a:moveTo>
                      <a:pt x="11" y="12"/>
                    </a:moveTo>
                    <a:lnTo>
                      <a:pt x="11" y="2"/>
                    </a:lnTo>
                    <a:lnTo>
                      <a:pt x="111" y="125"/>
                    </a:lnTo>
                    <a:lnTo>
                      <a:pt x="105" y="131"/>
                    </a:lnTo>
                    <a:lnTo>
                      <a:pt x="6" y="9"/>
                    </a:lnTo>
                    <a:lnTo>
                      <a:pt x="6" y="0"/>
                    </a:lnTo>
                    <a:lnTo>
                      <a:pt x="6" y="9"/>
                    </a:lnTo>
                    <a:lnTo>
                      <a:pt x="0" y="3"/>
                    </a:lnTo>
                    <a:lnTo>
                      <a:pt x="6" y="0"/>
                    </a:lnTo>
                    <a:lnTo>
                      <a:pt x="11" y="12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92" name="Freeform 261"/>
              <p:cNvSpPr>
                <a:spLocks/>
              </p:cNvSpPr>
              <p:nvPr/>
            </p:nvSpPr>
            <p:spPr bwMode="auto">
              <a:xfrm>
                <a:off x="2154" y="2593"/>
                <a:ext cx="88" cy="53"/>
              </a:xfrm>
              <a:custGeom>
                <a:avLst/>
                <a:gdLst>
                  <a:gd name="T0" fmla="*/ 80 w 88"/>
                  <a:gd name="T1" fmla="*/ 7 h 53"/>
                  <a:gd name="T2" fmla="*/ 86 w 88"/>
                  <a:gd name="T3" fmla="*/ 12 h 53"/>
                  <a:gd name="T4" fmla="*/ 4 w 88"/>
                  <a:gd name="T5" fmla="*/ 53 h 53"/>
                  <a:gd name="T6" fmla="*/ 0 w 88"/>
                  <a:gd name="T7" fmla="*/ 42 h 53"/>
                  <a:gd name="T8" fmla="*/ 82 w 88"/>
                  <a:gd name="T9" fmla="*/ 2 h 53"/>
                  <a:gd name="T10" fmla="*/ 88 w 88"/>
                  <a:gd name="T11" fmla="*/ 8 h 53"/>
                  <a:gd name="T12" fmla="*/ 82 w 88"/>
                  <a:gd name="T13" fmla="*/ 2 h 53"/>
                  <a:gd name="T14" fmla="*/ 87 w 88"/>
                  <a:gd name="T15" fmla="*/ 0 h 53"/>
                  <a:gd name="T16" fmla="*/ 88 w 88"/>
                  <a:gd name="T17" fmla="*/ 8 h 53"/>
                  <a:gd name="T18" fmla="*/ 80 w 88"/>
                  <a:gd name="T19" fmla="*/ 7 h 5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8"/>
                  <a:gd name="T31" fmla="*/ 0 h 53"/>
                  <a:gd name="T32" fmla="*/ 88 w 88"/>
                  <a:gd name="T33" fmla="*/ 53 h 5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8" h="53">
                    <a:moveTo>
                      <a:pt x="80" y="7"/>
                    </a:moveTo>
                    <a:lnTo>
                      <a:pt x="86" y="12"/>
                    </a:lnTo>
                    <a:lnTo>
                      <a:pt x="4" y="53"/>
                    </a:lnTo>
                    <a:lnTo>
                      <a:pt x="0" y="42"/>
                    </a:lnTo>
                    <a:lnTo>
                      <a:pt x="82" y="2"/>
                    </a:lnTo>
                    <a:lnTo>
                      <a:pt x="88" y="8"/>
                    </a:lnTo>
                    <a:lnTo>
                      <a:pt x="82" y="2"/>
                    </a:lnTo>
                    <a:lnTo>
                      <a:pt x="87" y="0"/>
                    </a:lnTo>
                    <a:lnTo>
                      <a:pt x="88" y="8"/>
                    </a:lnTo>
                    <a:lnTo>
                      <a:pt x="80" y="7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93" name="Freeform 262"/>
              <p:cNvSpPr>
                <a:spLocks/>
              </p:cNvSpPr>
              <p:nvPr/>
            </p:nvSpPr>
            <p:spPr bwMode="auto">
              <a:xfrm>
                <a:off x="2222" y="2703"/>
                <a:ext cx="31" cy="31"/>
              </a:xfrm>
              <a:custGeom>
                <a:avLst/>
                <a:gdLst>
                  <a:gd name="T0" fmla="*/ 21 w 31"/>
                  <a:gd name="T1" fmla="*/ 0 h 31"/>
                  <a:gd name="T2" fmla="*/ 31 w 31"/>
                  <a:gd name="T3" fmla="*/ 19 h 31"/>
                  <a:gd name="T4" fmla="*/ 6 w 31"/>
                  <a:gd name="T5" fmla="*/ 31 h 31"/>
                  <a:gd name="T6" fmla="*/ 0 w 31"/>
                  <a:gd name="T7" fmla="*/ 14 h 31"/>
                  <a:gd name="T8" fmla="*/ 21 w 31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31"/>
                  <a:gd name="T17" fmla="*/ 31 w 31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31">
                    <a:moveTo>
                      <a:pt x="21" y="0"/>
                    </a:moveTo>
                    <a:lnTo>
                      <a:pt x="31" y="19"/>
                    </a:lnTo>
                    <a:lnTo>
                      <a:pt x="6" y="31"/>
                    </a:lnTo>
                    <a:lnTo>
                      <a:pt x="0" y="14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94" name="Freeform 263"/>
              <p:cNvSpPr>
                <a:spLocks/>
              </p:cNvSpPr>
              <p:nvPr/>
            </p:nvSpPr>
            <p:spPr bwMode="auto">
              <a:xfrm>
                <a:off x="2144" y="2485"/>
                <a:ext cx="98" cy="233"/>
              </a:xfrm>
              <a:custGeom>
                <a:avLst/>
                <a:gdLst>
                  <a:gd name="T0" fmla="*/ 27 w 98"/>
                  <a:gd name="T1" fmla="*/ 0 h 233"/>
                  <a:gd name="T2" fmla="*/ 27 w 98"/>
                  <a:gd name="T3" fmla="*/ 0 h 233"/>
                  <a:gd name="T4" fmla="*/ 41 w 98"/>
                  <a:gd name="T5" fmla="*/ 56 h 233"/>
                  <a:gd name="T6" fmla="*/ 57 w 98"/>
                  <a:gd name="T7" fmla="*/ 113 h 233"/>
                  <a:gd name="T8" fmla="*/ 77 w 98"/>
                  <a:gd name="T9" fmla="*/ 166 h 233"/>
                  <a:gd name="T10" fmla="*/ 98 w 98"/>
                  <a:gd name="T11" fmla="*/ 219 h 233"/>
                  <a:gd name="T12" fmla="*/ 76 w 98"/>
                  <a:gd name="T13" fmla="*/ 233 h 233"/>
                  <a:gd name="T14" fmla="*/ 52 w 98"/>
                  <a:gd name="T15" fmla="*/ 177 h 233"/>
                  <a:gd name="T16" fmla="*/ 32 w 98"/>
                  <a:gd name="T17" fmla="*/ 120 h 233"/>
                  <a:gd name="T18" fmla="*/ 15 w 98"/>
                  <a:gd name="T19" fmla="*/ 63 h 233"/>
                  <a:gd name="T20" fmla="*/ 0 w 98"/>
                  <a:gd name="T21" fmla="*/ 2 h 233"/>
                  <a:gd name="T22" fmla="*/ 27 w 98"/>
                  <a:gd name="T23" fmla="*/ 0 h 23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98"/>
                  <a:gd name="T37" fmla="*/ 0 h 233"/>
                  <a:gd name="T38" fmla="*/ 98 w 98"/>
                  <a:gd name="T39" fmla="*/ 233 h 23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98" h="233">
                    <a:moveTo>
                      <a:pt x="27" y="0"/>
                    </a:moveTo>
                    <a:lnTo>
                      <a:pt x="27" y="0"/>
                    </a:lnTo>
                    <a:lnTo>
                      <a:pt x="41" y="56"/>
                    </a:lnTo>
                    <a:lnTo>
                      <a:pt x="57" y="113"/>
                    </a:lnTo>
                    <a:lnTo>
                      <a:pt x="77" y="166"/>
                    </a:lnTo>
                    <a:lnTo>
                      <a:pt x="98" y="219"/>
                    </a:lnTo>
                    <a:lnTo>
                      <a:pt x="76" y="233"/>
                    </a:lnTo>
                    <a:lnTo>
                      <a:pt x="52" y="177"/>
                    </a:lnTo>
                    <a:lnTo>
                      <a:pt x="32" y="120"/>
                    </a:lnTo>
                    <a:lnTo>
                      <a:pt x="15" y="63"/>
                    </a:lnTo>
                    <a:lnTo>
                      <a:pt x="0" y="2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95" name="Freeform 264"/>
              <p:cNvSpPr>
                <a:spLocks/>
              </p:cNvSpPr>
              <p:nvPr/>
            </p:nvSpPr>
            <p:spPr bwMode="auto">
              <a:xfrm>
                <a:off x="2118" y="2281"/>
                <a:ext cx="47" cy="205"/>
              </a:xfrm>
              <a:custGeom>
                <a:avLst/>
                <a:gdLst>
                  <a:gd name="T0" fmla="*/ 28 w 47"/>
                  <a:gd name="T1" fmla="*/ 6 h 205"/>
                  <a:gd name="T2" fmla="*/ 28 w 47"/>
                  <a:gd name="T3" fmla="*/ 31 h 205"/>
                  <a:gd name="T4" fmla="*/ 29 w 47"/>
                  <a:gd name="T5" fmla="*/ 54 h 205"/>
                  <a:gd name="T6" fmla="*/ 30 w 47"/>
                  <a:gd name="T7" fmla="*/ 79 h 205"/>
                  <a:gd name="T8" fmla="*/ 32 w 47"/>
                  <a:gd name="T9" fmla="*/ 103 h 205"/>
                  <a:gd name="T10" fmla="*/ 36 w 47"/>
                  <a:gd name="T11" fmla="*/ 127 h 205"/>
                  <a:gd name="T12" fmla="*/ 39 w 47"/>
                  <a:gd name="T13" fmla="*/ 152 h 205"/>
                  <a:gd name="T14" fmla="*/ 43 w 47"/>
                  <a:gd name="T15" fmla="*/ 177 h 205"/>
                  <a:gd name="T16" fmla="*/ 47 w 47"/>
                  <a:gd name="T17" fmla="*/ 203 h 205"/>
                  <a:gd name="T18" fmla="*/ 21 w 47"/>
                  <a:gd name="T19" fmla="*/ 205 h 205"/>
                  <a:gd name="T20" fmla="*/ 16 w 47"/>
                  <a:gd name="T21" fmla="*/ 179 h 205"/>
                  <a:gd name="T22" fmla="*/ 11 w 47"/>
                  <a:gd name="T23" fmla="*/ 152 h 205"/>
                  <a:gd name="T24" fmla="*/ 8 w 47"/>
                  <a:gd name="T25" fmla="*/ 126 h 205"/>
                  <a:gd name="T26" fmla="*/ 5 w 47"/>
                  <a:gd name="T27" fmla="*/ 100 h 205"/>
                  <a:gd name="T28" fmla="*/ 2 w 47"/>
                  <a:gd name="T29" fmla="*/ 76 h 205"/>
                  <a:gd name="T30" fmla="*/ 1 w 47"/>
                  <a:gd name="T31" fmla="*/ 50 h 205"/>
                  <a:gd name="T32" fmla="*/ 0 w 47"/>
                  <a:gd name="T33" fmla="*/ 24 h 205"/>
                  <a:gd name="T34" fmla="*/ 0 w 47"/>
                  <a:gd name="T35" fmla="*/ 0 h 205"/>
                  <a:gd name="T36" fmla="*/ 28 w 47"/>
                  <a:gd name="T37" fmla="*/ 6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7"/>
                  <a:gd name="T58" fmla="*/ 0 h 205"/>
                  <a:gd name="T59" fmla="*/ 47 w 47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7" h="205">
                    <a:moveTo>
                      <a:pt x="28" y="6"/>
                    </a:moveTo>
                    <a:lnTo>
                      <a:pt x="28" y="31"/>
                    </a:lnTo>
                    <a:lnTo>
                      <a:pt x="29" y="54"/>
                    </a:lnTo>
                    <a:lnTo>
                      <a:pt x="30" y="79"/>
                    </a:lnTo>
                    <a:lnTo>
                      <a:pt x="32" y="103"/>
                    </a:lnTo>
                    <a:lnTo>
                      <a:pt x="36" y="127"/>
                    </a:lnTo>
                    <a:lnTo>
                      <a:pt x="39" y="152"/>
                    </a:lnTo>
                    <a:lnTo>
                      <a:pt x="43" y="177"/>
                    </a:lnTo>
                    <a:lnTo>
                      <a:pt x="47" y="203"/>
                    </a:lnTo>
                    <a:lnTo>
                      <a:pt x="21" y="205"/>
                    </a:lnTo>
                    <a:lnTo>
                      <a:pt x="16" y="179"/>
                    </a:lnTo>
                    <a:lnTo>
                      <a:pt x="11" y="152"/>
                    </a:lnTo>
                    <a:lnTo>
                      <a:pt x="8" y="126"/>
                    </a:lnTo>
                    <a:lnTo>
                      <a:pt x="5" y="100"/>
                    </a:lnTo>
                    <a:lnTo>
                      <a:pt x="2" y="76"/>
                    </a:lnTo>
                    <a:lnTo>
                      <a:pt x="1" y="50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28" y="6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96" name="Freeform 265"/>
              <p:cNvSpPr>
                <a:spLocks/>
              </p:cNvSpPr>
              <p:nvPr/>
            </p:nvSpPr>
            <p:spPr bwMode="auto">
              <a:xfrm>
                <a:off x="2117" y="2263"/>
                <a:ext cx="27" cy="24"/>
              </a:xfrm>
              <a:custGeom>
                <a:avLst/>
                <a:gdLst>
                  <a:gd name="T0" fmla="*/ 0 w 27"/>
                  <a:gd name="T1" fmla="*/ 17 h 24"/>
                  <a:gd name="T2" fmla="*/ 0 w 27"/>
                  <a:gd name="T3" fmla="*/ 0 h 24"/>
                  <a:gd name="T4" fmla="*/ 27 w 27"/>
                  <a:gd name="T5" fmla="*/ 7 h 24"/>
                  <a:gd name="T6" fmla="*/ 27 w 27"/>
                  <a:gd name="T7" fmla="*/ 24 h 24"/>
                  <a:gd name="T8" fmla="*/ 0 w 27"/>
                  <a:gd name="T9" fmla="*/ 17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24"/>
                  <a:gd name="T17" fmla="*/ 27 w 27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24">
                    <a:moveTo>
                      <a:pt x="0" y="17"/>
                    </a:moveTo>
                    <a:lnTo>
                      <a:pt x="0" y="0"/>
                    </a:lnTo>
                    <a:lnTo>
                      <a:pt x="27" y="7"/>
                    </a:lnTo>
                    <a:lnTo>
                      <a:pt x="27" y="24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97" name="Freeform 266"/>
              <p:cNvSpPr>
                <a:spLocks/>
              </p:cNvSpPr>
              <p:nvPr/>
            </p:nvSpPr>
            <p:spPr bwMode="auto">
              <a:xfrm>
                <a:off x="2173" y="2631"/>
                <a:ext cx="102" cy="162"/>
              </a:xfrm>
              <a:custGeom>
                <a:avLst/>
                <a:gdLst>
                  <a:gd name="T0" fmla="*/ 80 w 102"/>
                  <a:gd name="T1" fmla="*/ 0 h 162"/>
                  <a:gd name="T2" fmla="*/ 102 w 102"/>
                  <a:gd name="T3" fmla="*/ 162 h 162"/>
                  <a:gd name="T4" fmla="*/ 0 w 102"/>
                  <a:gd name="T5" fmla="*/ 46 h 162"/>
                  <a:gd name="T6" fmla="*/ 80 w 102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2"/>
                  <a:gd name="T13" fmla="*/ 0 h 162"/>
                  <a:gd name="T14" fmla="*/ 102 w 102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2" h="162">
                    <a:moveTo>
                      <a:pt x="80" y="0"/>
                    </a:moveTo>
                    <a:lnTo>
                      <a:pt x="102" y="162"/>
                    </a:lnTo>
                    <a:lnTo>
                      <a:pt x="0" y="46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98" name="Freeform 267"/>
              <p:cNvSpPr>
                <a:spLocks/>
              </p:cNvSpPr>
              <p:nvPr/>
            </p:nvSpPr>
            <p:spPr bwMode="auto">
              <a:xfrm>
                <a:off x="2246" y="2633"/>
                <a:ext cx="42" cy="188"/>
              </a:xfrm>
              <a:custGeom>
                <a:avLst/>
                <a:gdLst>
                  <a:gd name="T0" fmla="*/ 35 w 42"/>
                  <a:gd name="T1" fmla="*/ 156 h 188"/>
                  <a:gd name="T2" fmla="*/ 23 w 42"/>
                  <a:gd name="T3" fmla="*/ 164 h 188"/>
                  <a:gd name="T4" fmla="*/ 0 w 42"/>
                  <a:gd name="T5" fmla="*/ 0 h 188"/>
                  <a:gd name="T6" fmla="*/ 14 w 42"/>
                  <a:gd name="T7" fmla="*/ 1 h 188"/>
                  <a:gd name="T8" fmla="*/ 39 w 42"/>
                  <a:gd name="T9" fmla="*/ 164 h 188"/>
                  <a:gd name="T10" fmla="*/ 27 w 42"/>
                  <a:gd name="T11" fmla="*/ 170 h 188"/>
                  <a:gd name="T12" fmla="*/ 39 w 42"/>
                  <a:gd name="T13" fmla="*/ 164 h 188"/>
                  <a:gd name="T14" fmla="*/ 42 w 42"/>
                  <a:gd name="T15" fmla="*/ 188 h 188"/>
                  <a:gd name="T16" fmla="*/ 27 w 42"/>
                  <a:gd name="T17" fmla="*/ 170 h 188"/>
                  <a:gd name="T18" fmla="*/ 35 w 42"/>
                  <a:gd name="T19" fmla="*/ 156 h 1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2"/>
                  <a:gd name="T31" fmla="*/ 0 h 188"/>
                  <a:gd name="T32" fmla="*/ 42 w 42"/>
                  <a:gd name="T33" fmla="*/ 188 h 18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2" h="188">
                    <a:moveTo>
                      <a:pt x="35" y="156"/>
                    </a:moveTo>
                    <a:lnTo>
                      <a:pt x="23" y="164"/>
                    </a:lnTo>
                    <a:lnTo>
                      <a:pt x="0" y="0"/>
                    </a:lnTo>
                    <a:lnTo>
                      <a:pt x="14" y="1"/>
                    </a:lnTo>
                    <a:lnTo>
                      <a:pt x="39" y="164"/>
                    </a:lnTo>
                    <a:lnTo>
                      <a:pt x="27" y="170"/>
                    </a:lnTo>
                    <a:lnTo>
                      <a:pt x="39" y="164"/>
                    </a:lnTo>
                    <a:lnTo>
                      <a:pt x="42" y="188"/>
                    </a:lnTo>
                    <a:lnTo>
                      <a:pt x="27" y="170"/>
                    </a:lnTo>
                    <a:lnTo>
                      <a:pt x="35" y="15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99" name="Freeform 268"/>
              <p:cNvSpPr>
                <a:spLocks/>
              </p:cNvSpPr>
              <p:nvPr/>
            </p:nvSpPr>
            <p:spPr bwMode="auto">
              <a:xfrm>
                <a:off x="2160" y="2670"/>
                <a:ext cx="121" cy="133"/>
              </a:xfrm>
              <a:custGeom>
                <a:avLst/>
                <a:gdLst>
                  <a:gd name="T0" fmla="*/ 18 w 121"/>
                  <a:gd name="T1" fmla="*/ 19 h 133"/>
                  <a:gd name="T2" fmla="*/ 18 w 121"/>
                  <a:gd name="T3" fmla="*/ 3 h 133"/>
                  <a:gd name="T4" fmla="*/ 121 w 121"/>
                  <a:gd name="T5" fmla="*/ 118 h 133"/>
                  <a:gd name="T6" fmla="*/ 112 w 121"/>
                  <a:gd name="T7" fmla="*/ 133 h 133"/>
                  <a:gd name="T8" fmla="*/ 10 w 121"/>
                  <a:gd name="T9" fmla="*/ 17 h 133"/>
                  <a:gd name="T10" fmla="*/ 10 w 121"/>
                  <a:gd name="T11" fmla="*/ 0 h 133"/>
                  <a:gd name="T12" fmla="*/ 10 w 121"/>
                  <a:gd name="T13" fmla="*/ 17 h 133"/>
                  <a:gd name="T14" fmla="*/ 0 w 121"/>
                  <a:gd name="T15" fmla="*/ 5 h 133"/>
                  <a:gd name="T16" fmla="*/ 10 w 121"/>
                  <a:gd name="T17" fmla="*/ 0 h 133"/>
                  <a:gd name="T18" fmla="*/ 18 w 121"/>
                  <a:gd name="T19" fmla="*/ 19 h 1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1"/>
                  <a:gd name="T31" fmla="*/ 0 h 133"/>
                  <a:gd name="T32" fmla="*/ 121 w 121"/>
                  <a:gd name="T33" fmla="*/ 133 h 13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1" h="133">
                    <a:moveTo>
                      <a:pt x="18" y="19"/>
                    </a:moveTo>
                    <a:lnTo>
                      <a:pt x="18" y="3"/>
                    </a:lnTo>
                    <a:lnTo>
                      <a:pt x="121" y="118"/>
                    </a:lnTo>
                    <a:lnTo>
                      <a:pt x="112" y="133"/>
                    </a:lnTo>
                    <a:lnTo>
                      <a:pt x="10" y="17"/>
                    </a:lnTo>
                    <a:lnTo>
                      <a:pt x="10" y="0"/>
                    </a:lnTo>
                    <a:lnTo>
                      <a:pt x="10" y="17"/>
                    </a:lnTo>
                    <a:lnTo>
                      <a:pt x="0" y="5"/>
                    </a:lnTo>
                    <a:lnTo>
                      <a:pt x="10" y="0"/>
                    </a:lnTo>
                    <a:lnTo>
                      <a:pt x="18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00" name="Freeform 269"/>
              <p:cNvSpPr>
                <a:spLocks/>
              </p:cNvSpPr>
              <p:nvPr/>
            </p:nvSpPr>
            <p:spPr bwMode="auto">
              <a:xfrm>
                <a:off x="2168" y="2617"/>
                <a:ext cx="89" cy="71"/>
              </a:xfrm>
              <a:custGeom>
                <a:avLst/>
                <a:gdLst>
                  <a:gd name="T0" fmla="*/ 75 w 89"/>
                  <a:gd name="T1" fmla="*/ 16 h 71"/>
                  <a:gd name="T2" fmla="*/ 87 w 89"/>
                  <a:gd name="T3" fmla="*/ 25 h 71"/>
                  <a:gd name="T4" fmla="*/ 8 w 89"/>
                  <a:gd name="T5" fmla="*/ 71 h 71"/>
                  <a:gd name="T6" fmla="*/ 0 w 89"/>
                  <a:gd name="T7" fmla="*/ 52 h 71"/>
                  <a:gd name="T8" fmla="*/ 79 w 89"/>
                  <a:gd name="T9" fmla="*/ 6 h 71"/>
                  <a:gd name="T10" fmla="*/ 89 w 89"/>
                  <a:gd name="T11" fmla="*/ 16 h 71"/>
                  <a:gd name="T12" fmla="*/ 79 w 89"/>
                  <a:gd name="T13" fmla="*/ 6 h 71"/>
                  <a:gd name="T14" fmla="*/ 88 w 89"/>
                  <a:gd name="T15" fmla="*/ 0 h 71"/>
                  <a:gd name="T16" fmla="*/ 89 w 89"/>
                  <a:gd name="T17" fmla="*/ 16 h 71"/>
                  <a:gd name="T18" fmla="*/ 75 w 89"/>
                  <a:gd name="T19" fmla="*/ 16 h 7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9"/>
                  <a:gd name="T31" fmla="*/ 0 h 71"/>
                  <a:gd name="T32" fmla="*/ 89 w 89"/>
                  <a:gd name="T33" fmla="*/ 71 h 7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9" h="71">
                    <a:moveTo>
                      <a:pt x="75" y="16"/>
                    </a:moveTo>
                    <a:lnTo>
                      <a:pt x="87" y="25"/>
                    </a:lnTo>
                    <a:lnTo>
                      <a:pt x="8" y="71"/>
                    </a:lnTo>
                    <a:lnTo>
                      <a:pt x="0" y="52"/>
                    </a:lnTo>
                    <a:lnTo>
                      <a:pt x="79" y="6"/>
                    </a:lnTo>
                    <a:lnTo>
                      <a:pt x="89" y="16"/>
                    </a:lnTo>
                    <a:lnTo>
                      <a:pt x="79" y="6"/>
                    </a:lnTo>
                    <a:lnTo>
                      <a:pt x="88" y="0"/>
                    </a:lnTo>
                    <a:lnTo>
                      <a:pt x="89" y="16"/>
                    </a:lnTo>
                    <a:lnTo>
                      <a:pt x="75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01" name="Freeform 270"/>
              <p:cNvSpPr>
                <a:spLocks/>
              </p:cNvSpPr>
              <p:nvPr/>
            </p:nvSpPr>
            <p:spPr bwMode="auto">
              <a:xfrm>
                <a:off x="2236" y="2738"/>
                <a:ext cx="37" cy="36"/>
              </a:xfrm>
              <a:custGeom>
                <a:avLst/>
                <a:gdLst>
                  <a:gd name="T0" fmla="*/ 29 w 37"/>
                  <a:gd name="T1" fmla="*/ 0 h 36"/>
                  <a:gd name="T2" fmla="*/ 37 w 37"/>
                  <a:gd name="T3" fmla="*/ 19 h 36"/>
                  <a:gd name="T4" fmla="*/ 8 w 37"/>
                  <a:gd name="T5" fmla="*/ 36 h 36"/>
                  <a:gd name="T6" fmla="*/ 0 w 37"/>
                  <a:gd name="T7" fmla="*/ 17 h 36"/>
                  <a:gd name="T8" fmla="*/ 29 w 37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36"/>
                  <a:gd name="T17" fmla="*/ 37 w 37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36">
                    <a:moveTo>
                      <a:pt x="29" y="0"/>
                    </a:moveTo>
                    <a:lnTo>
                      <a:pt x="37" y="19"/>
                    </a:lnTo>
                    <a:lnTo>
                      <a:pt x="8" y="36"/>
                    </a:lnTo>
                    <a:lnTo>
                      <a:pt x="0" y="17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02" name="Freeform 271"/>
              <p:cNvSpPr>
                <a:spLocks/>
              </p:cNvSpPr>
              <p:nvPr/>
            </p:nvSpPr>
            <p:spPr bwMode="auto">
              <a:xfrm>
                <a:off x="2150" y="2523"/>
                <a:ext cx="112" cy="230"/>
              </a:xfrm>
              <a:custGeom>
                <a:avLst/>
                <a:gdLst>
                  <a:gd name="T0" fmla="*/ 32 w 112"/>
                  <a:gd name="T1" fmla="*/ 0 h 230"/>
                  <a:gd name="T2" fmla="*/ 32 w 112"/>
                  <a:gd name="T3" fmla="*/ 0 h 230"/>
                  <a:gd name="T4" fmla="*/ 40 w 112"/>
                  <a:gd name="T5" fmla="*/ 27 h 230"/>
                  <a:gd name="T6" fmla="*/ 48 w 112"/>
                  <a:gd name="T7" fmla="*/ 56 h 230"/>
                  <a:gd name="T8" fmla="*/ 57 w 112"/>
                  <a:gd name="T9" fmla="*/ 84 h 230"/>
                  <a:gd name="T10" fmla="*/ 67 w 112"/>
                  <a:gd name="T11" fmla="*/ 109 h 230"/>
                  <a:gd name="T12" fmla="*/ 76 w 112"/>
                  <a:gd name="T13" fmla="*/ 136 h 230"/>
                  <a:gd name="T14" fmla="*/ 88 w 112"/>
                  <a:gd name="T15" fmla="*/ 163 h 230"/>
                  <a:gd name="T16" fmla="*/ 99 w 112"/>
                  <a:gd name="T17" fmla="*/ 187 h 230"/>
                  <a:gd name="T18" fmla="*/ 112 w 112"/>
                  <a:gd name="T19" fmla="*/ 213 h 230"/>
                  <a:gd name="T20" fmla="*/ 84 w 112"/>
                  <a:gd name="T21" fmla="*/ 230 h 230"/>
                  <a:gd name="T22" fmla="*/ 71 w 112"/>
                  <a:gd name="T23" fmla="*/ 204 h 230"/>
                  <a:gd name="T24" fmla="*/ 58 w 112"/>
                  <a:gd name="T25" fmla="*/ 176 h 230"/>
                  <a:gd name="T26" fmla="*/ 47 w 112"/>
                  <a:gd name="T27" fmla="*/ 150 h 230"/>
                  <a:gd name="T28" fmla="*/ 37 w 112"/>
                  <a:gd name="T29" fmla="*/ 122 h 230"/>
                  <a:gd name="T30" fmla="*/ 26 w 112"/>
                  <a:gd name="T31" fmla="*/ 94 h 230"/>
                  <a:gd name="T32" fmla="*/ 18 w 112"/>
                  <a:gd name="T33" fmla="*/ 64 h 230"/>
                  <a:gd name="T34" fmla="*/ 9 w 112"/>
                  <a:gd name="T35" fmla="*/ 34 h 230"/>
                  <a:gd name="T36" fmla="*/ 0 w 112"/>
                  <a:gd name="T37" fmla="*/ 4 h 230"/>
                  <a:gd name="T38" fmla="*/ 32 w 112"/>
                  <a:gd name="T39" fmla="*/ 0 h 2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2"/>
                  <a:gd name="T61" fmla="*/ 0 h 230"/>
                  <a:gd name="T62" fmla="*/ 112 w 112"/>
                  <a:gd name="T63" fmla="*/ 230 h 2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2" h="230">
                    <a:moveTo>
                      <a:pt x="32" y="0"/>
                    </a:moveTo>
                    <a:lnTo>
                      <a:pt x="32" y="0"/>
                    </a:lnTo>
                    <a:lnTo>
                      <a:pt x="40" y="27"/>
                    </a:lnTo>
                    <a:lnTo>
                      <a:pt x="48" y="56"/>
                    </a:lnTo>
                    <a:lnTo>
                      <a:pt x="57" y="84"/>
                    </a:lnTo>
                    <a:lnTo>
                      <a:pt x="67" y="109"/>
                    </a:lnTo>
                    <a:lnTo>
                      <a:pt x="76" y="136"/>
                    </a:lnTo>
                    <a:lnTo>
                      <a:pt x="88" y="163"/>
                    </a:lnTo>
                    <a:lnTo>
                      <a:pt x="99" y="187"/>
                    </a:lnTo>
                    <a:lnTo>
                      <a:pt x="112" y="213"/>
                    </a:lnTo>
                    <a:lnTo>
                      <a:pt x="84" y="230"/>
                    </a:lnTo>
                    <a:lnTo>
                      <a:pt x="71" y="204"/>
                    </a:lnTo>
                    <a:lnTo>
                      <a:pt x="58" y="176"/>
                    </a:lnTo>
                    <a:lnTo>
                      <a:pt x="47" y="150"/>
                    </a:lnTo>
                    <a:lnTo>
                      <a:pt x="37" y="122"/>
                    </a:lnTo>
                    <a:lnTo>
                      <a:pt x="26" y="94"/>
                    </a:lnTo>
                    <a:lnTo>
                      <a:pt x="18" y="64"/>
                    </a:lnTo>
                    <a:lnTo>
                      <a:pt x="9" y="34"/>
                    </a:lnTo>
                    <a:lnTo>
                      <a:pt x="0" y="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03" name="Freeform 272"/>
              <p:cNvSpPr>
                <a:spLocks/>
              </p:cNvSpPr>
              <p:nvPr/>
            </p:nvSpPr>
            <p:spPr bwMode="auto">
              <a:xfrm>
                <a:off x="2117" y="2318"/>
                <a:ext cx="61" cy="206"/>
              </a:xfrm>
              <a:custGeom>
                <a:avLst/>
                <a:gdLst>
                  <a:gd name="T0" fmla="*/ 33 w 61"/>
                  <a:gd name="T1" fmla="*/ 7 h 206"/>
                  <a:gd name="T2" fmla="*/ 36 w 61"/>
                  <a:gd name="T3" fmla="*/ 31 h 206"/>
                  <a:gd name="T4" fmla="*/ 38 w 61"/>
                  <a:gd name="T5" fmla="*/ 56 h 206"/>
                  <a:gd name="T6" fmla="*/ 40 w 61"/>
                  <a:gd name="T7" fmla="*/ 79 h 206"/>
                  <a:gd name="T8" fmla="*/ 43 w 61"/>
                  <a:gd name="T9" fmla="*/ 103 h 206"/>
                  <a:gd name="T10" fmla="*/ 46 w 61"/>
                  <a:gd name="T11" fmla="*/ 127 h 206"/>
                  <a:gd name="T12" fmla="*/ 51 w 61"/>
                  <a:gd name="T13" fmla="*/ 153 h 206"/>
                  <a:gd name="T14" fmla="*/ 56 w 61"/>
                  <a:gd name="T15" fmla="*/ 176 h 206"/>
                  <a:gd name="T16" fmla="*/ 61 w 61"/>
                  <a:gd name="T17" fmla="*/ 202 h 206"/>
                  <a:gd name="T18" fmla="*/ 30 w 61"/>
                  <a:gd name="T19" fmla="*/ 206 h 206"/>
                  <a:gd name="T20" fmla="*/ 24 w 61"/>
                  <a:gd name="T21" fmla="*/ 181 h 206"/>
                  <a:gd name="T22" fmla="*/ 18 w 61"/>
                  <a:gd name="T23" fmla="*/ 155 h 206"/>
                  <a:gd name="T24" fmla="*/ 14 w 61"/>
                  <a:gd name="T25" fmla="*/ 128 h 206"/>
                  <a:gd name="T26" fmla="*/ 11 w 61"/>
                  <a:gd name="T27" fmla="*/ 103 h 206"/>
                  <a:gd name="T28" fmla="*/ 7 w 61"/>
                  <a:gd name="T29" fmla="*/ 77 h 206"/>
                  <a:gd name="T30" fmla="*/ 5 w 61"/>
                  <a:gd name="T31" fmla="*/ 51 h 206"/>
                  <a:gd name="T32" fmla="*/ 2 w 61"/>
                  <a:gd name="T33" fmla="*/ 26 h 206"/>
                  <a:gd name="T34" fmla="*/ 0 w 61"/>
                  <a:gd name="T35" fmla="*/ 0 h 206"/>
                  <a:gd name="T36" fmla="*/ 33 w 61"/>
                  <a:gd name="T37" fmla="*/ 7 h 2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1"/>
                  <a:gd name="T58" fmla="*/ 0 h 206"/>
                  <a:gd name="T59" fmla="*/ 61 w 61"/>
                  <a:gd name="T60" fmla="*/ 206 h 2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1" h="206">
                    <a:moveTo>
                      <a:pt x="33" y="7"/>
                    </a:moveTo>
                    <a:lnTo>
                      <a:pt x="36" y="31"/>
                    </a:lnTo>
                    <a:lnTo>
                      <a:pt x="38" y="56"/>
                    </a:lnTo>
                    <a:lnTo>
                      <a:pt x="40" y="79"/>
                    </a:lnTo>
                    <a:lnTo>
                      <a:pt x="43" y="103"/>
                    </a:lnTo>
                    <a:lnTo>
                      <a:pt x="46" y="127"/>
                    </a:lnTo>
                    <a:lnTo>
                      <a:pt x="51" y="153"/>
                    </a:lnTo>
                    <a:lnTo>
                      <a:pt x="56" y="176"/>
                    </a:lnTo>
                    <a:lnTo>
                      <a:pt x="61" y="202"/>
                    </a:lnTo>
                    <a:lnTo>
                      <a:pt x="30" y="206"/>
                    </a:lnTo>
                    <a:lnTo>
                      <a:pt x="24" y="181"/>
                    </a:lnTo>
                    <a:lnTo>
                      <a:pt x="18" y="155"/>
                    </a:lnTo>
                    <a:lnTo>
                      <a:pt x="14" y="128"/>
                    </a:lnTo>
                    <a:lnTo>
                      <a:pt x="11" y="103"/>
                    </a:lnTo>
                    <a:lnTo>
                      <a:pt x="7" y="77"/>
                    </a:lnTo>
                    <a:lnTo>
                      <a:pt x="5" y="51"/>
                    </a:lnTo>
                    <a:lnTo>
                      <a:pt x="2" y="26"/>
                    </a:lnTo>
                    <a:lnTo>
                      <a:pt x="0" y="0"/>
                    </a:lnTo>
                    <a:lnTo>
                      <a:pt x="3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04" name="Freeform 273"/>
              <p:cNvSpPr>
                <a:spLocks/>
              </p:cNvSpPr>
              <p:nvPr/>
            </p:nvSpPr>
            <p:spPr bwMode="auto">
              <a:xfrm>
                <a:off x="2113" y="2295"/>
                <a:ext cx="35" cy="28"/>
              </a:xfrm>
              <a:custGeom>
                <a:avLst/>
                <a:gdLst>
                  <a:gd name="T0" fmla="*/ 1 w 35"/>
                  <a:gd name="T1" fmla="*/ 22 h 28"/>
                  <a:gd name="T2" fmla="*/ 0 w 35"/>
                  <a:gd name="T3" fmla="*/ 0 h 28"/>
                  <a:gd name="T4" fmla="*/ 35 w 35"/>
                  <a:gd name="T5" fmla="*/ 6 h 28"/>
                  <a:gd name="T6" fmla="*/ 35 w 35"/>
                  <a:gd name="T7" fmla="*/ 28 h 28"/>
                  <a:gd name="T8" fmla="*/ 1 w 35"/>
                  <a:gd name="T9" fmla="*/ 22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28"/>
                  <a:gd name="T17" fmla="*/ 35 w 35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28">
                    <a:moveTo>
                      <a:pt x="1" y="22"/>
                    </a:moveTo>
                    <a:lnTo>
                      <a:pt x="0" y="0"/>
                    </a:lnTo>
                    <a:lnTo>
                      <a:pt x="35" y="6"/>
                    </a:lnTo>
                    <a:lnTo>
                      <a:pt x="35" y="28"/>
                    </a:lnTo>
                    <a:lnTo>
                      <a:pt x="1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05" name="Freeform 274"/>
              <p:cNvSpPr>
                <a:spLocks/>
              </p:cNvSpPr>
              <p:nvPr/>
            </p:nvSpPr>
            <p:spPr bwMode="auto">
              <a:xfrm>
                <a:off x="2173" y="2631"/>
                <a:ext cx="102" cy="162"/>
              </a:xfrm>
              <a:custGeom>
                <a:avLst/>
                <a:gdLst>
                  <a:gd name="T0" fmla="*/ 80 w 102"/>
                  <a:gd name="T1" fmla="*/ 0 h 162"/>
                  <a:gd name="T2" fmla="*/ 102 w 102"/>
                  <a:gd name="T3" fmla="*/ 162 h 162"/>
                  <a:gd name="T4" fmla="*/ 0 w 102"/>
                  <a:gd name="T5" fmla="*/ 46 h 162"/>
                  <a:gd name="T6" fmla="*/ 80 w 102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2"/>
                  <a:gd name="T13" fmla="*/ 0 h 162"/>
                  <a:gd name="T14" fmla="*/ 102 w 102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2" h="162">
                    <a:moveTo>
                      <a:pt x="80" y="0"/>
                    </a:moveTo>
                    <a:lnTo>
                      <a:pt x="102" y="162"/>
                    </a:lnTo>
                    <a:lnTo>
                      <a:pt x="0" y="46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06" name="Freeform 275"/>
              <p:cNvSpPr>
                <a:spLocks/>
              </p:cNvSpPr>
              <p:nvPr/>
            </p:nvSpPr>
            <p:spPr bwMode="auto">
              <a:xfrm>
                <a:off x="2248" y="2635"/>
                <a:ext cx="34" cy="176"/>
              </a:xfrm>
              <a:custGeom>
                <a:avLst/>
                <a:gdLst>
                  <a:gd name="T0" fmla="*/ 31 w 34"/>
                  <a:gd name="T1" fmla="*/ 157 h 176"/>
                  <a:gd name="T2" fmla="*/ 23 w 34"/>
                  <a:gd name="T3" fmla="*/ 162 h 176"/>
                  <a:gd name="T4" fmla="*/ 0 w 34"/>
                  <a:gd name="T5" fmla="*/ 0 h 176"/>
                  <a:gd name="T6" fmla="*/ 8 w 34"/>
                  <a:gd name="T7" fmla="*/ 0 h 176"/>
                  <a:gd name="T8" fmla="*/ 32 w 34"/>
                  <a:gd name="T9" fmla="*/ 161 h 176"/>
                  <a:gd name="T10" fmla="*/ 25 w 34"/>
                  <a:gd name="T11" fmla="*/ 165 h 176"/>
                  <a:gd name="T12" fmla="*/ 32 w 34"/>
                  <a:gd name="T13" fmla="*/ 161 h 176"/>
                  <a:gd name="T14" fmla="*/ 34 w 34"/>
                  <a:gd name="T15" fmla="*/ 176 h 176"/>
                  <a:gd name="T16" fmla="*/ 25 w 34"/>
                  <a:gd name="T17" fmla="*/ 165 h 176"/>
                  <a:gd name="T18" fmla="*/ 31 w 34"/>
                  <a:gd name="T19" fmla="*/ 157 h 1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4"/>
                  <a:gd name="T31" fmla="*/ 0 h 176"/>
                  <a:gd name="T32" fmla="*/ 34 w 34"/>
                  <a:gd name="T33" fmla="*/ 176 h 1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4" h="176">
                    <a:moveTo>
                      <a:pt x="31" y="157"/>
                    </a:moveTo>
                    <a:lnTo>
                      <a:pt x="23" y="162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32" y="161"/>
                    </a:lnTo>
                    <a:lnTo>
                      <a:pt x="25" y="165"/>
                    </a:lnTo>
                    <a:lnTo>
                      <a:pt x="32" y="161"/>
                    </a:lnTo>
                    <a:lnTo>
                      <a:pt x="34" y="176"/>
                    </a:lnTo>
                    <a:lnTo>
                      <a:pt x="25" y="165"/>
                    </a:lnTo>
                    <a:lnTo>
                      <a:pt x="31" y="157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07" name="Freeform 276"/>
              <p:cNvSpPr>
                <a:spLocks/>
              </p:cNvSpPr>
              <p:nvPr/>
            </p:nvSpPr>
            <p:spPr bwMode="auto">
              <a:xfrm>
                <a:off x="2165" y="2674"/>
                <a:ext cx="114" cy="125"/>
              </a:xfrm>
              <a:custGeom>
                <a:avLst/>
                <a:gdLst>
                  <a:gd name="T0" fmla="*/ 11 w 114"/>
                  <a:gd name="T1" fmla="*/ 11 h 125"/>
                  <a:gd name="T2" fmla="*/ 11 w 114"/>
                  <a:gd name="T3" fmla="*/ 2 h 125"/>
                  <a:gd name="T4" fmla="*/ 114 w 114"/>
                  <a:gd name="T5" fmla="*/ 116 h 125"/>
                  <a:gd name="T6" fmla="*/ 107 w 114"/>
                  <a:gd name="T7" fmla="*/ 125 h 125"/>
                  <a:gd name="T8" fmla="*/ 6 w 114"/>
                  <a:gd name="T9" fmla="*/ 9 h 125"/>
                  <a:gd name="T10" fmla="*/ 6 w 114"/>
                  <a:gd name="T11" fmla="*/ 0 h 125"/>
                  <a:gd name="T12" fmla="*/ 6 w 114"/>
                  <a:gd name="T13" fmla="*/ 9 h 125"/>
                  <a:gd name="T14" fmla="*/ 0 w 114"/>
                  <a:gd name="T15" fmla="*/ 4 h 125"/>
                  <a:gd name="T16" fmla="*/ 6 w 114"/>
                  <a:gd name="T17" fmla="*/ 0 h 125"/>
                  <a:gd name="T18" fmla="*/ 11 w 114"/>
                  <a:gd name="T19" fmla="*/ 11 h 12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4"/>
                  <a:gd name="T31" fmla="*/ 0 h 125"/>
                  <a:gd name="T32" fmla="*/ 114 w 114"/>
                  <a:gd name="T33" fmla="*/ 125 h 12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4" h="125">
                    <a:moveTo>
                      <a:pt x="11" y="11"/>
                    </a:moveTo>
                    <a:lnTo>
                      <a:pt x="11" y="2"/>
                    </a:lnTo>
                    <a:lnTo>
                      <a:pt x="114" y="116"/>
                    </a:lnTo>
                    <a:lnTo>
                      <a:pt x="107" y="125"/>
                    </a:lnTo>
                    <a:lnTo>
                      <a:pt x="6" y="9"/>
                    </a:lnTo>
                    <a:lnTo>
                      <a:pt x="6" y="0"/>
                    </a:lnTo>
                    <a:lnTo>
                      <a:pt x="6" y="9"/>
                    </a:lnTo>
                    <a:lnTo>
                      <a:pt x="0" y="4"/>
                    </a:lnTo>
                    <a:lnTo>
                      <a:pt x="6" y="0"/>
                    </a:lnTo>
                    <a:lnTo>
                      <a:pt x="11" y="11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08" name="Freeform 277"/>
              <p:cNvSpPr>
                <a:spLocks/>
              </p:cNvSpPr>
              <p:nvPr/>
            </p:nvSpPr>
            <p:spPr bwMode="auto">
              <a:xfrm>
                <a:off x="2169" y="2625"/>
                <a:ext cx="86" cy="60"/>
              </a:xfrm>
              <a:custGeom>
                <a:avLst/>
                <a:gdLst>
                  <a:gd name="T0" fmla="*/ 78 w 86"/>
                  <a:gd name="T1" fmla="*/ 8 h 60"/>
                  <a:gd name="T2" fmla="*/ 84 w 86"/>
                  <a:gd name="T3" fmla="*/ 14 h 60"/>
                  <a:gd name="T4" fmla="*/ 4 w 86"/>
                  <a:gd name="T5" fmla="*/ 60 h 60"/>
                  <a:gd name="T6" fmla="*/ 0 w 86"/>
                  <a:gd name="T7" fmla="*/ 49 h 60"/>
                  <a:gd name="T8" fmla="*/ 80 w 86"/>
                  <a:gd name="T9" fmla="*/ 3 h 60"/>
                  <a:gd name="T10" fmla="*/ 86 w 86"/>
                  <a:gd name="T11" fmla="*/ 8 h 60"/>
                  <a:gd name="T12" fmla="*/ 80 w 86"/>
                  <a:gd name="T13" fmla="*/ 3 h 60"/>
                  <a:gd name="T14" fmla="*/ 84 w 86"/>
                  <a:gd name="T15" fmla="*/ 0 h 60"/>
                  <a:gd name="T16" fmla="*/ 86 w 86"/>
                  <a:gd name="T17" fmla="*/ 8 h 60"/>
                  <a:gd name="T18" fmla="*/ 78 w 86"/>
                  <a:gd name="T19" fmla="*/ 8 h 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6"/>
                  <a:gd name="T31" fmla="*/ 0 h 60"/>
                  <a:gd name="T32" fmla="*/ 86 w 86"/>
                  <a:gd name="T33" fmla="*/ 60 h 6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6" h="60">
                    <a:moveTo>
                      <a:pt x="78" y="8"/>
                    </a:moveTo>
                    <a:lnTo>
                      <a:pt x="84" y="14"/>
                    </a:lnTo>
                    <a:lnTo>
                      <a:pt x="4" y="60"/>
                    </a:lnTo>
                    <a:lnTo>
                      <a:pt x="0" y="49"/>
                    </a:lnTo>
                    <a:lnTo>
                      <a:pt x="80" y="3"/>
                    </a:lnTo>
                    <a:lnTo>
                      <a:pt x="86" y="8"/>
                    </a:lnTo>
                    <a:lnTo>
                      <a:pt x="80" y="3"/>
                    </a:lnTo>
                    <a:lnTo>
                      <a:pt x="84" y="0"/>
                    </a:lnTo>
                    <a:lnTo>
                      <a:pt x="86" y="8"/>
                    </a:lnTo>
                    <a:lnTo>
                      <a:pt x="78" y="8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09" name="Freeform 278"/>
              <p:cNvSpPr>
                <a:spLocks/>
              </p:cNvSpPr>
              <p:nvPr/>
            </p:nvSpPr>
            <p:spPr bwMode="auto">
              <a:xfrm>
                <a:off x="2239" y="2738"/>
                <a:ext cx="32" cy="32"/>
              </a:xfrm>
              <a:custGeom>
                <a:avLst/>
                <a:gdLst>
                  <a:gd name="T0" fmla="*/ 25 w 32"/>
                  <a:gd name="T1" fmla="*/ 0 h 32"/>
                  <a:gd name="T2" fmla="*/ 32 w 32"/>
                  <a:gd name="T3" fmla="*/ 17 h 32"/>
                  <a:gd name="T4" fmla="*/ 10 w 32"/>
                  <a:gd name="T5" fmla="*/ 32 h 32"/>
                  <a:gd name="T6" fmla="*/ 0 w 32"/>
                  <a:gd name="T7" fmla="*/ 15 h 32"/>
                  <a:gd name="T8" fmla="*/ 25 w 32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32"/>
                  <a:gd name="T17" fmla="*/ 32 w 32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32">
                    <a:moveTo>
                      <a:pt x="25" y="0"/>
                    </a:moveTo>
                    <a:lnTo>
                      <a:pt x="32" y="17"/>
                    </a:lnTo>
                    <a:lnTo>
                      <a:pt x="10" y="32"/>
                    </a:lnTo>
                    <a:lnTo>
                      <a:pt x="0" y="15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10" name="Freeform 279"/>
              <p:cNvSpPr>
                <a:spLocks/>
              </p:cNvSpPr>
              <p:nvPr/>
            </p:nvSpPr>
            <p:spPr bwMode="auto">
              <a:xfrm>
                <a:off x="2154" y="2522"/>
                <a:ext cx="104" cy="231"/>
              </a:xfrm>
              <a:custGeom>
                <a:avLst/>
                <a:gdLst>
                  <a:gd name="T0" fmla="*/ 26 w 104"/>
                  <a:gd name="T1" fmla="*/ 0 h 231"/>
                  <a:gd name="T2" fmla="*/ 26 w 104"/>
                  <a:gd name="T3" fmla="*/ 0 h 231"/>
                  <a:gd name="T4" fmla="*/ 33 w 104"/>
                  <a:gd name="T5" fmla="*/ 30 h 231"/>
                  <a:gd name="T6" fmla="*/ 41 w 104"/>
                  <a:gd name="T7" fmla="*/ 57 h 231"/>
                  <a:gd name="T8" fmla="*/ 50 w 104"/>
                  <a:gd name="T9" fmla="*/ 85 h 231"/>
                  <a:gd name="T10" fmla="*/ 61 w 104"/>
                  <a:gd name="T11" fmla="*/ 111 h 231"/>
                  <a:gd name="T12" fmla="*/ 70 w 104"/>
                  <a:gd name="T13" fmla="*/ 139 h 231"/>
                  <a:gd name="T14" fmla="*/ 82 w 104"/>
                  <a:gd name="T15" fmla="*/ 166 h 231"/>
                  <a:gd name="T16" fmla="*/ 93 w 104"/>
                  <a:gd name="T17" fmla="*/ 190 h 231"/>
                  <a:gd name="T18" fmla="*/ 104 w 104"/>
                  <a:gd name="T19" fmla="*/ 215 h 231"/>
                  <a:gd name="T20" fmla="*/ 83 w 104"/>
                  <a:gd name="T21" fmla="*/ 231 h 231"/>
                  <a:gd name="T22" fmla="*/ 69 w 104"/>
                  <a:gd name="T23" fmla="*/ 205 h 231"/>
                  <a:gd name="T24" fmla="*/ 57 w 104"/>
                  <a:gd name="T25" fmla="*/ 176 h 231"/>
                  <a:gd name="T26" fmla="*/ 46 w 104"/>
                  <a:gd name="T27" fmla="*/ 150 h 231"/>
                  <a:gd name="T28" fmla="*/ 35 w 104"/>
                  <a:gd name="T29" fmla="*/ 122 h 231"/>
                  <a:gd name="T30" fmla="*/ 25 w 104"/>
                  <a:gd name="T31" fmla="*/ 93 h 231"/>
                  <a:gd name="T32" fmla="*/ 17 w 104"/>
                  <a:gd name="T33" fmla="*/ 64 h 231"/>
                  <a:gd name="T34" fmla="*/ 7 w 104"/>
                  <a:gd name="T35" fmla="*/ 35 h 231"/>
                  <a:gd name="T36" fmla="*/ 0 w 104"/>
                  <a:gd name="T37" fmla="*/ 5 h 231"/>
                  <a:gd name="T38" fmla="*/ 26 w 104"/>
                  <a:gd name="T39" fmla="*/ 0 h 23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4"/>
                  <a:gd name="T61" fmla="*/ 0 h 231"/>
                  <a:gd name="T62" fmla="*/ 104 w 104"/>
                  <a:gd name="T63" fmla="*/ 231 h 23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4" h="231">
                    <a:moveTo>
                      <a:pt x="26" y="0"/>
                    </a:moveTo>
                    <a:lnTo>
                      <a:pt x="26" y="0"/>
                    </a:lnTo>
                    <a:lnTo>
                      <a:pt x="33" y="30"/>
                    </a:lnTo>
                    <a:lnTo>
                      <a:pt x="41" y="57"/>
                    </a:lnTo>
                    <a:lnTo>
                      <a:pt x="50" y="85"/>
                    </a:lnTo>
                    <a:lnTo>
                      <a:pt x="61" y="111"/>
                    </a:lnTo>
                    <a:lnTo>
                      <a:pt x="70" y="139"/>
                    </a:lnTo>
                    <a:lnTo>
                      <a:pt x="82" y="166"/>
                    </a:lnTo>
                    <a:lnTo>
                      <a:pt x="93" y="190"/>
                    </a:lnTo>
                    <a:lnTo>
                      <a:pt x="104" y="215"/>
                    </a:lnTo>
                    <a:lnTo>
                      <a:pt x="83" y="231"/>
                    </a:lnTo>
                    <a:lnTo>
                      <a:pt x="69" y="205"/>
                    </a:lnTo>
                    <a:lnTo>
                      <a:pt x="57" y="176"/>
                    </a:lnTo>
                    <a:lnTo>
                      <a:pt x="46" y="150"/>
                    </a:lnTo>
                    <a:lnTo>
                      <a:pt x="35" y="122"/>
                    </a:lnTo>
                    <a:lnTo>
                      <a:pt x="25" y="93"/>
                    </a:lnTo>
                    <a:lnTo>
                      <a:pt x="17" y="64"/>
                    </a:lnTo>
                    <a:lnTo>
                      <a:pt x="7" y="35"/>
                    </a:lnTo>
                    <a:lnTo>
                      <a:pt x="0" y="5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11" name="Freeform 280"/>
              <p:cNvSpPr>
                <a:spLocks/>
              </p:cNvSpPr>
              <p:nvPr/>
            </p:nvSpPr>
            <p:spPr bwMode="auto">
              <a:xfrm>
                <a:off x="2120" y="2320"/>
                <a:ext cx="55" cy="205"/>
              </a:xfrm>
              <a:custGeom>
                <a:avLst/>
                <a:gdLst>
                  <a:gd name="T0" fmla="*/ 29 w 55"/>
                  <a:gd name="T1" fmla="*/ 5 h 205"/>
                  <a:gd name="T2" fmla="*/ 30 w 55"/>
                  <a:gd name="T3" fmla="*/ 28 h 205"/>
                  <a:gd name="T4" fmla="*/ 31 w 55"/>
                  <a:gd name="T5" fmla="*/ 54 h 205"/>
                  <a:gd name="T6" fmla="*/ 34 w 55"/>
                  <a:gd name="T7" fmla="*/ 77 h 205"/>
                  <a:gd name="T8" fmla="*/ 37 w 55"/>
                  <a:gd name="T9" fmla="*/ 102 h 205"/>
                  <a:gd name="T10" fmla="*/ 40 w 55"/>
                  <a:gd name="T11" fmla="*/ 126 h 205"/>
                  <a:gd name="T12" fmla="*/ 44 w 55"/>
                  <a:gd name="T13" fmla="*/ 151 h 205"/>
                  <a:gd name="T14" fmla="*/ 51 w 55"/>
                  <a:gd name="T15" fmla="*/ 175 h 205"/>
                  <a:gd name="T16" fmla="*/ 55 w 55"/>
                  <a:gd name="T17" fmla="*/ 201 h 205"/>
                  <a:gd name="T18" fmla="*/ 29 w 55"/>
                  <a:gd name="T19" fmla="*/ 205 h 205"/>
                  <a:gd name="T20" fmla="*/ 23 w 55"/>
                  <a:gd name="T21" fmla="*/ 180 h 205"/>
                  <a:gd name="T22" fmla="*/ 18 w 55"/>
                  <a:gd name="T23" fmla="*/ 154 h 205"/>
                  <a:gd name="T24" fmla="*/ 13 w 55"/>
                  <a:gd name="T25" fmla="*/ 126 h 205"/>
                  <a:gd name="T26" fmla="*/ 9 w 55"/>
                  <a:gd name="T27" fmla="*/ 102 h 205"/>
                  <a:gd name="T28" fmla="*/ 6 w 55"/>
                  <a:gd name="T29" fmla="*/ 76 h 205"/>
                  <a:gd name="T30" fmla="*/ 4 w 55"/>
                  <a:gd name="T31" fmla="*/ 50 h 205"/>
                  <a:gd name="T32" fmla="*/ 2 w 55"/>
                  <a:gd name="T33" fmla="*/ 25 h 205"/>
                  <a:gd name="T34" fmla="*/ 0 w 55"/>
                  <a:gd name="T35" fmla="*/ 0 h 205"/>
                  <a:gd name="T36" fmla="*/ 29 w 55"/>
                  <a:gd name="T37" fmla="*/ 5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5"/>
                  <a:gd name="T58" fmla="*/ 0 h 205"/>
                  <a:gd name="T59" fmla="*/ 55 w 55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5" h="205">
                    <a:moveTo>
                      <a:pt x="29" y="5"/>
                    </a:moveTo>
                    <a:lnTo>
                      <a:pt x="30" y="28"/>
                    </a:lnTo>
                    <a:lnTo>
                      <a:pt x="31" y="54"/>
                    </a:lnTo>
                    <a:lnTo>
                      <a:pt x="34" y="77"/>
                    </a:lnTo>
                    <a:lnTo>
                      <a:pt x="37" y="102"/>
                    </a:lnTo>
                    <a:lnTo>
                      <a:pt x="40" y="126"/>
                    </a:lnTo>
                    <a:lnTo>
                      <a:pt x="44" y="151"/>
                    </a:lnTo>
                    <a:lnTo>
                      <a:pt x="51" y="175"/>
                    </a:lnTo>
                    <a:lnTo>
                      <a:pt x="55" y="201"/>
                    </a:lnTo>
                    <a:lnTo>
                      <a:pt x="29" y="205"/>
                    </a:lnTo>
                    <a:lnTo>
                      <a:pt x="23" y="180"/>
                    </a:lnTo>
                    <a:lnTo>
                      <a:pt x="18" y="154"/>
                    </a:lnTo>
                    <a:lnTo>
                      <a:pt x="13" y="126"/>
                    </a:lnTo>
                    <a:lnTo>
                      <a:pt x="9" y="102"/>
                    </a:lnTo>
                    <a:lnTo>
                      <a:pt x="6" y="76"/>
                    </a:lnTo>
                    <a:lnTo>
                      <a:pt x="4" y="50"/>
                    </a:lnTo>
                    <a:lnTo>
                      <a:pt x="2" y="25"/>
                    </a:lnTo>
                    <a:lnTo>
                      <a:pt x="0" y="0"/>
                    </a:lnTo>
                    <a:lnTo>
                      <a:pt x="29" y="5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12" name="Freeform 281"/>
              <p:cNvSpPr>
                <a:spLocks/>
              </p:cNvSpPr>
              <p:nvPr/>
            </p:nvSpPr>
            <p:spPr bwMode="auto">
              <a:xfrm>
                <a:off x="2115" y="2301"/>
                <a:ext cx="31" cy="22"/>
              </a:xfrm>
              <a:custGeom>
                <a:avLst/>
                <a:gdLst>
                  <a:gd name="T0" fmla="*/ 1 w 31"/>
                  <a:gd name="T1" fmla="*/ 18 h 22"/>
                  <a:gd name="T2" fmla="*/ 0 w 31"/>
                  <a:gd name="T3" fmla="*/ 0 h 22"/>
                  <a:gd name="T4" fmla="*/ 30 w 31"/>
                  <a:gd name="T5" fmla="*/ 4 h 22"/>
                  <a:gd name="T6" fmla="*/ 31 w 31"/>
                  <a:gd name="T7" fmla="*/ 22 h 22"/>
                  <a:gd name="T8" fmla="*/ 1 w 31"/>
                  <a:gd name="T9" fmla="*/ 18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22"/>
                  <a:gd name="T17" fmla="*/ 31 w 31"/>
                  <a:gd name="T18" fmla="*/ 22 h 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22">
                    <a:moveTo>
                      <a:pt x="1" y="18"/>
                    </a:moveTo>
                    <a:lnTo>
                      <a:pt x="0" y="0"/>
                    </a:lnTo>
                    <a:lnTo>
                      <a:pt x="30" y="4"/>
                    </a:lnTo>
                    <a:lnTo>
                      <a:pt x="31" y="22"/>
                    </a:lnTo>
                    <a:lnTo>
                      <a:pt x="1" y="18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13" name="Freeform 282"/>
              <p:cNvSpPr>
                <a:spLocks/>
              </p:cNvSpPr>
              <p:nvPr/>
            </p:nvSpPr>
            <p:spPr bwMode="auto">
              <a:xfrm>
                <a:off x="2190" y="2665"/>
                <a:ext cx="106" cy="163"/>
              </a:xfrm>
              <a:custGeom>
                <a:avLst/>
                <a:gdLst>
                  <a:gd name="T0" fmla="*/ 75 w 106"/>
                  <a:gd name="T1" fmla="*/ 0 h 163"/>
                  <a:gd name="T2" fmla="*/ 106 w 106"/>
                  <a:gd name="T3" fmla="*/ 163 h 163"/>
                  <a:gd name="T4" fmla="*/ 0 w 106"/>
                  <a:gd name="T5" fmla="*/ 54 h 163"/>
                  <a:gd name="T6" fmla="*/ 75 w 106"/>
                  <a:gd name="T7" fmla="*/ 0 h 1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6"/>
                  <a:gd name="T13" fmla="*/ 0 h 163"/>
                  <a:gd name="T14" fmla="*/ 106 w 106"/>
                  <a:gd name="T15" fmla="*/ 163 h 1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6" h="163">
                    <a:moveTo>
                      <a:pt x="75" y="0"/>
                    </a:moveTo>
                    <a:lnTo>
                      <a:pt x="106" y="163"/>
                    </a:lnTo>
                    <a:lnTo>
                      <a:pt x="0" y="54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14" name="Freeform 283"/>
              <p:cNvSpPr>
                <a:spLocks/>
              </p:cNvSpPr>
              <p:nvPr/>
            </p:nvSpPr>
            <p:spPr bwMode="auto">
              <a:xfrm>
                <a:off x="2259" y="2665"/>
                <a:ext cx="48" cy="188"/>
              </a:xfrm>
              <a:custGeom>
                <a:avLst/>
                <a:gdLst>
                  <a:gd name="T0" fmla="*/ 41 w 48"/>
                  <a:gd name="T1" fmla="*/ 156 h 188"/>
                  <a:gd name="T2" fmla="*/ 29 w 48"/>
                  <a:gd name="T3" fmla="*/ 165 h 188"/>
                  <a:gd name="T4" fmla="*/ 0 w 48"/>
                  <a:gd name="T5" fmla="*/ 1 h 188"/>
                  <a:gd name="T6" fmla="*/ 15 w 48"/>
                  <a:gd name="T7" fmla="*/ 0 h 188"/>
                  <a:gd name="T8" fmla="*/ 44 w 48"/>
                  <a:gd name="T9" fmla="*/ 164 h 188"/>
                  <a:gd name="T10" fmla="*/ 32 w 48"/>
                  <a:gd name="T11" fmla="*/ 171 h 188"/>
                  <a:gd name="T12" fmla="*/ 44 w 48"/>
                  <a:gd name="T13" fmla="*/ 164 h 188"/>
                  <a:gd name="T14" fmla="*/ 48 w 48"/>
                  <a:gd name="T15" fmla="*/ 188 h 188"/>
                  <a:gd name="T16" fmla="*/ 32 w 48"/>
                  <a:gd name="T17" fmla="*/ 171 h 188"/>
                  <a:gd name="T18" fmla="*/ 41 w 48"/>
                  <a:gd name="T19" fmla="*/ 156 h 1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8"/>
                  <a:gd name="T31" fmla="*/ 0 h 188"/>
                  <a:gd name="T32" fmla="*/ 48 w 48"/>
                  <a:gd name="T33" fmla="*/ 188 h 18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8" h="188">
                    <a:moveTo>
                      <a:pt x="41" y="156"/>
                    </a:moveTo>
                    <a:lnTo>
                      <a:pt x="29" y="165"/>
                    </a:lnTo>
                    <a:lnTo>
                      <a:pt x="0" y="1"/>
                    </a:lnTo>
                    <a:lnTo>
                      <a:pt x="15" y="0"/>
                    </a:lnTo>
                    <a:lnTo>
                      <a:pt x="44" y="164"/>
                    </a:lnTo>
                    <a:lnTo>
                      <a:pt x="32" y="171"/>
                    </a:lnTo>
                    <a:lnTo>
                      <a:pt x="44" y="164"/>
                    </a:lnTo>
                    <a:lnTo>
                      <a:pt x="48" y="188"/>
                    </a:lnTo>
                    <a:lnTo>
                      <a:pt x="32" y="171"/>
                    </a:lnTo>
                    <a:lnTo>
                      <a:pt x="41" y="15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15" name="Freeform 284"/>
              <p:cNvSpPr>
                <a:spLocks/>
              </p:cNvSpPr>
              <p:nvPr/>
            </p:nvSpPr>
            <p:spPr bwMode="auto">
              <a:xfrm>
                <a:off x="2177" y="2710"/>
                <a:ext cx="123" cy="126"/>
              </a:xfrm>
              <a:custGeom>
                <a:avLst/>
                <a:gdLst>
                  <a:gd name="T0" fmla="*/ 18 w 123"/>
                  <a:gd name="T1" fmla="*/ 19 h 126"/>
                  <a:gd name="T2" fmla="*/ 18 w 123"/>
                  <a:gd name="T3" fmla="*/ 2 h 126"/>
                  <a:gd name="T4" fmla="*/ 123 w 123"/>
                  <a:gd name="T5" fmla="*/ 113 h 126"/>
                  <a:gd name="T6" fmla="*/ 114 w 123"/>
                  <a:gd name="T7" fmla="*/ 126 h 126"/>
                  <a:gd name="T8" fmla="*/ 11 w 123"/>
                  <a:gd name="T9" fmla="*/ 17 h 126"/>
                  <a:gd name="T10" fmla="*/ 9 w 123"/>
                  <a:gd name="T11" fmla="*/ 0 h 126"/>
                  <a:gd name="T12" fmla="*/ 11 w 123"/>
                  <a:gd name="T13" fmla="*/ 17 h 126"/>
                  <a:gd name="T14" fmla="*/ 0 w 123"/>
                  <a:gd name="T15" fmla="*/ 7 h 126"/>
                  <a:gd name="T16" fmla="*/ 9 w 123"/>
                  <a:gd name="T17" fmla="*/ 0 h 126"/>
                  <a:gd name="T18" fmla="*/ 18 w 123"/>
                  <a:gd name="T19" fmla="*/ 19 h 12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3"/>
                  <a:gd name="T31" fmla="*/ 0 h 126"/>
                  <a:gd name="T32" fmla="*/ 123 w 123"/>
                  <a:gd name="T33" fmla="*/ 126 h 12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3" h="126">
                    <a:moveTo>
                      <a:pt x="18" y="19"/>
                    </a:moveTo>
                    <a:lnTo>
                      <a:pt x="18" y="2"/>
                    </a:lnTo>
                    <a:lnTo>
                      <a:pt x="123" y="113"/>
                    </a:lnTo>
                    <a:lnTo>
                      <a:pt x="114" y="126"/>
                    </a:lnTo>
                    <a:lnTo>
                      <a:pt x="11" y="17"/>
                    </a:lnTo>
                    <a:lnTo>
                      <a:pt x="9" y="0"/>
                    </a:lnTo>
                    <a:lnTo>
                      <a:pt x="11" y="17"/>
                    </a:lnTo>
                    <a:lnTo>
                      <a:pt x="0" y="7"/>
                    </a:lnTo>
                    <a:lnTo>
                      <a:pt x="9" y="0"/>
                    </a:lnTo>
                    <a:lnTo>
                      <a:pt x="18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16" name="Freeform 285"/>
              <p:cNvSpPr>
                <a:spLocks/>
              </p:cNvSpPr>
              <p:nvPr/>
            </p:nvSpPr>
            <p:spPr bwMode="auto">
              <a:xfrm>
                <a:off x="2184" y="2649"/>
                <a:ext cx="88" cy="79"/>
              </a:xfrm>
              <a:custGeom>
                <a:avLst/>
                <a:gdLst>
                  <a:gd name="T0" fmla="*/ 73 w 88"/>
                  <a:gd name="T1" fmla="*/ 17 h 79"/>
                  <a:gd name="T2" fmla="*/ 86 w 88"/>
                  <a:gd name="T3" fmla="*/ 26 h 79"/>
                  <a:gd name="T4" fmla="*/ 8 w 88"/>
                  <a:gd name="T5" fmla="*/ 79 h 79"/>
                  <a:gd name="T6" fmla="*/ 0 w 88"/>
                  <a:gd name="T7" fmla="*/ 60 h 79"/>
                  <a:gd name="T8" fmla="*/ 76 w 88"/>
                  <a:gd name="T9" fmla="*/ 7 h 79"/>
                  <a:gd name="T10" fmla="*/ 88 w 88"/>
                  <a:gd name="T11" fmla="*/ 16 h 79"/>
                  <a:gd name="T12" fmla="*/ 76 w 88"/>
                  <a:gd name="T13" fmla="*/ 7 h 79"/>
                  <a:gd name="T14" fmla="*/ 86 w 88"/>
                  <a:gd name="T15" fmla="*/ 0 h 79"/>
                  <a:gd name="T16" fmla="*/ 88 w 88"/>
                  <a:gd name="T17" fmla="*/ 16 h 79"/>
                  <a:gd name="T18" fmla="*/ 73 w 88"/>
                  <a:gd name="T19" fmla="*/ 17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8"/>
                  <a:gd name="T31" fmla="*/ 0 h 79"/>
                  <a:gd name="T32" fmla="*/ 88 w 88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8" h="79">
                    <a:moveTo>
                      <a:pt x="73" y="17"/>
                    </a:moveTo>
                    <a:lnTo>
                      <a:pt x="86" y="26"/>
                    </a:lnTo>
                    <a:lnTo>
                      <a:pt x="8" y="79"/>
                    </a:lnTo>
                    <a:lnTo>
                      <a:pt x="0" y="60"/>
                    </a:lnTo>
                    <a:lnTo>
                      <a:pt x="76" y="7"/>
                    </a:lnTo>
                    <a:lnTo>
                      <a:pt x="88" y="16"/>
                    </a:lnTo>
                    <a:lnTo>
                      <a:pt x="76" y="7"/>
                    </a:lnTo>
                    <a:lnTo>
                      <a:pt x="86" y="0"/>
                    </a:lnTo>
                    <a:lnTo>
                      <a:pt x="88" y="16"/>
                    </a:lnTo>
                    <a:lnTo>
                      <a:pt x="73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17" name="Freeform 286"/>
              <p:cNvSpPr>
                <a:spLocks/>
              </p:cNvSpPr>
              <p:nvPr/>
            </p:nvSpPr>
            <p:spPr bwMode="auto">
              <a:xfrm>
                <a:off x="2255" y="2771"/>
                <a:ext cx="38" cy="40"/>
              </a:xfrm>
              <a:custGeom>
                <a:avLst/>
                <a:gdLst>
                  <a:gd name="T0" fmla="*/ 27 w 38"/>
                  <a:gd name="T1" fmla="*/ 0 h 40"/>
                  <a:gd name="T2" fmla="*/ 38 w 38"/>
                  <a:gd name="T3" fmla="*/ 19 h 40"/>
                  <a:gd name="T4" fmla="*/ 11 w 38"/>
                  <a:gd name="T5" fmla="*/ 40 h 40"/>
                  <a:gd name="T6" fmla="*/ 0 w 38"/>
                  <a:gd name="T7" fmla="*/ 20 h 40"/>
                  <a:gd name="T8" fmla="*/ 27 w 38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40"/>
                  <a:gd name="T17" fmla="*/ 38 w 38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40">
                    <a:moveTo>
                      <a:pt x="27" y="0"/>
                    </a:moveTo>
                    <a:lnTo>
                      <a:pt x="38" y="19"/>
                    </a:lnTo>
                    <a:lnTo>
                      <a:pt x="11" y="40"/>
                    </a:lnTo>
                    <a:lnTo>
                      <a:pt x="0" y="2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18" name="Freeform 287"/>
              <p:cNvSpPr>
                <a:spLocks/>
              </p:cNvSpPr>
              <p:nvPr/>
            </p:nvSpPr>
            <p:spPr bwMode="auto">
              <a:xfrm>
                <a:off x="2163" y="2558"/>
                <a:ext cx="117" cy="231"/>
              </a:xfrm>
              <a:custGeom>
                <a:avLst/>
                <a:gdLst>
                  <a:gd name="T0" fmla="*/ 31 w 117"/>
                  <a:gd name="T1" fmla="*/ 0 h 231"/>
                  <a:gd name="T2" fmla="*/ 31 w 117"/>
                  <a:gd name="T3" fmla="*/ 0 h 231"/>
                  <a:gd name="T4" fmla="*/ 40 w 117"/>
                  <a:gd name="T5" fmla="*/ 28 h 231"/>
                  <a:gd name="T6" fmla="*/ 49 w 117"/>
                  <a:gd name="T7" fmla="*/ 57 h 231"/>
                  <a:gd name="T8" fmla="*/ 58 w 117"/>
                  <a:gd name="T9" fmla="*/ 84 h 231"/>
                  <a:gd name="T10" fmla="*/ 70 w 117"/>
                  <a:gd name="T11" fmla="*/ 111 h 231"/>
                  <a:gd name="T12" fmla="*/ 79 w 117"/>
                  <a:gd name="T13" fmla="*/ 137 h 231"/>
                  <a:gd name="T14" fmla="*/ 92 w 117"/>
                  <a:gd name="T15" fmla="*/ 162 h 231"/>
                  <a:gd name="T16" fmla="*/ 104 w 117"/>
                  <a:gd name="T17" fmla="*/ 187 h 231"/>
                  <a:gd name="T18" fmla="*/ 117 w 117"/>
                  <a:gd name="T19" fmla="*/ 212 h 231"/>
                  <a:gd name="T20" fmla="*/ 92 w 117"/>
                  <a:gd name="T21" fmla="*/ 231 h 231"/>
                  <a:gd name="T22" fmla="*/ 78 w 117"/>
                  <a:gd name="T23" fmla="*/ 206 h 231"/>
                  <a:gd name="T24" fmla="*/ 64 w 117"/>
                  <a:gd name="T25" fmla="*/ 180 h 231"/>
                  <a:gd name="T26" fmla="*/ 52 w 117"/>
                  <a:gd name="T27" fmla="*/ 153 h 231"/>
                  <a:gd name="T28" fmla="*/ 40 w 117"/>
                  <a:gd name="T29" fmla="*/ 124 h 231"/>
                  <a:gd name="T30" fmla="*/ 29 w 117"/>
                  <a:gd name="T31" fmla="*/ 97 h 231"/>
                  <a:gd name="T32" fmla="*/ 18 w 117"/>
                  <a:gd name="T33" fmla="*/ 67 h 231"/>
                  <a:gd name="T34" fmla="*/ 9 w 117"/>
                  <a:gd name="T35" fmla="*/ 39 h 231"/>
                  <a:gd name="T36" fmla="*/ 0 w 117"/>
                  <a:gd name="T37" fmla="*/ 9 h 231"/>
                  <a:gd name="T38" fmla="*/ 31 w 117"/>
                  <a:gd name="T39" fmla="*/ 0 h 23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7"/>
                  <a:gd name="T61" fmla="*/ 0 h 231"/>
                  <a:gd name="T62" fmla="*/ 117 w 117"/>
                  <a:gd name="T63" fmla="*/ 231 h 23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7" h="231">
                    <a:moveTo>
                      <a:pt x="31" y="0"/>
                    </a:moveTo>
                    <a:lnTo>
                      <a:pt x="31" y="0"/>
                    </a:lnTo>
                    <a:lnTo>
                      <a:pt x="40" y="28"/>
                    </a:lnTo>
                    <a:lnTo>
                      <a:pt x="49" y="57"/>
                    </a:lnTo>
                    <a:lnTo>
                      <a:pt x="58" y="84"/>
                    </a:lnTo>
                    <a:lnTo>
                      <a:pt x="70" y="111"/>
                    </a:lnTo>
                    <a:lnTo>
                      <a:pt x="79" y="137"/>
                    </a:lnTo>
                    <a:lnTo>
                      <a:pt x="92" y="162"/>
                    </a:lnTo>
                    <a:lnTo>
                      <a:pt x="104" y="187"/>
                    </a:lnTo>
                    <a:lnTo>
                      <a:pt x="117" y="212"/>
                    </a:lnTo>
                    <a:lnTo>
                      <a:pt x="92" y="231"/>
                    </a:lnTo>
                    <a:lnTo>
                      <a:pt x="78" y="206"/>
                    </a:lnTo>
                    <a:lnTo>
                      <a:pt x="64" y="180"/>
                    </a:lnTo>
                    <a:lnTo>
                      <a:pt x="52" y="153"/>
                    </a:lnTo>
                    <a:lnTo>
                      <a:pt x="40" y="124"/>
                    </a:lnTo>
                    <a:lnTo>
                      <a:pt x="29" y="97"/>
                    </a:lnTo>
                    <a:lnTo>
                      <a:pt x="18" y="67"/>
                    </a:lnTo>
                    <a:lnTo>
                      <a:pt x="9" y="39"/>
                    </a:lnTo>
                    <a:lnTo>
                      <a:pt x="0" y="9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19" name="Freeform 288"/>
              <p:cNvSpPr>
                <a:spLocks/>
              </p:cNvSpPr>
              <p:nvPr/>
            </p:nvSpPr>
            <p:spPr bwMode="auto">
              <a:xfrm>
                <a:off x="2123" y="2358"/>
                <a:ext cx="67" cy="207"/>
              </a:xfrm>
              <a:custGeom>
                <a:avLst/>
                <a:gdLst>
                  <a:gd name="T0" fmla="*/ 31 w 67"/>
                  <a:gd name="T1" fmla="*/ 4 h 207"/>
                  <a:gd name="T2" fmla="*/ 34 w 67"/>
                  <a:gd name="T3" fmla="*/ 27 h 207"/>
                  <a:gd name="T4" fmla="*/ 37 w 67"/>
                  <a:gd name="T5" fmla="*/ 51 h 207"/>
                  <a:gd name="T6" fmla="*/ 40 w 67"/>
                  <a:gd name="T7" fmla="*/ 77 h 207"/>
                  <a:gd name="T8" fmla="*/ 45 w 67"/>
                  <a:gd name="T9" fmla="*/ 101 h 207"/>
                  <a:gd name="T10" fmla="*/ 49 w 67"/>
                  <a:gd name="T11" fmla="*/ 125 h 207"/>
                  <a:gd name="T12" fmla="*/ 55 w 67"/>
                  <a:gd name="T13" fmla="*/ 150 h 207"/>
                  <a:gd name="T14" fmla="*/ 61 w 67"/>
                  <a:gd name="T15" fmla="*/ 175 h 207"/>
                  <a:gd name="T16" fmla="*/ 67 w 67"/>
                  <a:gd name="T17" fmla="*/ 199 h 207"/>
                  <a:gd name="T18" fmla="*/ 37 w 67"/>
                  <a:gd name="T19" fmla="*/ 207 h 207"/>
                  <a:gd name="T20" fmla="*/ 31 w 67"/>
                  <a:gd name="T21" fmla="*/ 180 h 207"/>
                  <a:gd name="T22" fmla="*/ 23 w 67"/>
                  <a:gd name="T23" fmla="*/ 153 h 207"/>
                  <a:gd name="T24" fmla="*/ 18 w 67"/>
                  <a:gd name="T25" fmla="*/ 128 h 207"/>
                  <a:gd name="T26" fmla="*/ 11 w 67"/>
                  <a:gd name="T27" fmla="*/ 102 h 207"/>
                  <a:gd name="T28" fmla="*/ 8 w 67"/>
                  <a:gd name="T29" fmla="*/ 77 h 207"/>
                  <a:gd name="T30" fmla="*/ 4 w 67"/>
                  <a:gd name="T31" fmla="*/ 51 h 207"/>
                  <a:gd name="T32" fmla="*/ 1 w 67"/>
                  <a:gd name="T33" fmla="*/ 24 h 207"/>
                  <a:gd name="T34" fmla="*/ 0 w 67"/>
                  <a:gd name="T35" fmla="*/ 0 h 207"/>
                  <a:gd name="T36" fmla="*/ 31 w 67"/>
                  <a:gd name="T37" fmla="*/ 4 h 20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7"/>
                  <a:gd name="T58" fmla="*/ 0 h 207"/>
                  <a:gd name="T59" fmla="*/ 67 w 67"/>
                  <a:gd name="T60" fmla="*/ 207 h 20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7" h="207">
                    <a:moveTo>
                      <a:pt x="31" y="4"/>
                    </a:moveTo>
                    <a:lnTo>
                      <a:pt x="34" y="27"/>
                    </a:lnTo>
                    <a:lnTo>
                      <a:pt x="37" y="51"/>
                    </a:lnTo>
                    <a:lnTo>
                      <a:pt x="40" y="77"/>
                    </a:lnTo>
                    <a:lnTo>
                      <a:pt x="45" y="101"/>
                    </a:lnTo>
                    <a:lnTo>
                      <a:pt x="49" y="125"/>
                    </a:lnTo>
                    <a:lnTo>
                      <a:pt x="55" y="150"/>
                    </a:lnTo>
                    <a:lnTo>
                      <a:pt x="61" y="175"/>
                    </a:lnTo>
                    <a:lnTo>
                      <a:pt x="67" y="199"/>
                    </a:lnTo>
                    <a:lnTo>
                      <a:pt x="37" y="207"/>
                    </a:lnTo>
                    <a:lnTo>
                      <a:pt x="31" y="180"/>
                    </a:lnTo>
                    <a:lnTo>
                      <a:pt x="23" y="153"/>
                    </a:lnTo>
                    <a:lnTo>
                      <a:pt x="18" y="128"/>
                    </a:lnTo>
                    <a:lnTo>
                      <a:pt x="11" y="102"/>
                    </a:lnTo>
                    <a:lnTo>
                      <a:pt x="8" y="77"/>
                    </a:lnTo>
                    <a:lnTo>
                      <a:pt x="4" y="51"/>
                    </a:lnTo>
                    <a:lnTo>
                      <a:pt x="1" y="24"/>
                    </a:lnTo>
                    <a:lnTo>
                      <a:pt x="0" y="0"/>
                    </a:lnTo>
                    <a:lnTo>
                      <a:pt x="3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20" name="Freeform 289"/>
              <p:cNvSpPr>
                <a:spLocks/>
              </p:cNvSpPr>
              <p:nvPr/>
            </p:nvSpPr>
            <p:spPr bwMode="auto">
              <a:xfrm>
                <a:off x="2118" y="2334"/>
                <a:ext cx="36" cy="27"/>
              </a:xfrm>
              <a:custGeom>
                <a:avLst/>
                <a:gdLst>
                  <a:gd name="T0" fmla="*/ 2 w 36"/>
                  <a:gd name="T1" fmla="*/ 23 h 27"/>
                  <a:gd name="T2" fmla="*/ 0 w 36"/>
                  <a:gd name="T3" fmla="*/ 0 h 27"/>
                  <a:gd name="T4" fmla="*/ 33 w 36"/>
                  <a:gd name="T5" fmla="*/ 4 h 27"/>
                  <a:gd name="T6" fmla="*/ 36 w 36"/>
                  <a:gd name="T7" fmla="*/ 27 h 27"/>
                  <a:gd name="T8" fmla="*/ 2 w 36"/>
                  <a:gd name="T9" fmla="*/ 23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27"/>
                  <a:gd name="T17" fmla="*/ 36 w 36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27">
                    <a:moveTo>
                      <a:pt x="2" y="23"/>
                    </a:moveTo>
                    <a:lnTo>
                      <a:pt x="0" y="0"/>
                    </a:lnTo>
                    <a:lnTo>
                      <a:pt x="33" y="4"/>
                    </a:lnTo>
                    <a:lnTo>
                      <a:pt x="36" y="27"/>
                    </a:lnTo>
                    <a:lnTo>
                      <a:pt x="2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21" name="Freeform 290"/>
              <p:cNvSpPr>
                <a:spLocks/>
              </p:cNvSpPr>
              <p:nvPr/>
            </p:nvSpPr>
            <p:spPr bwMode="auto">
              <a:xfrm>
                <a:off x="2190" y="2665"/>
                <a:ext cx="106" cy="163"/>
              </a:xfrm>
              <a:custGeom>
                <a:avLst/>
                <a:gdLst>
                  <a:gd name="T0" fmla="*/ 75 w 106"/>
                  <a:gd name="T1" fmla="*/ 0 h 163"/>
                  <a:gd name="T2" fmla="*/ 106 w 106"/>
                  <a:gd name="T3" fmla="*/ 163 h 163"/>
                  <a:gd name="T4" fmla="*/ 0 w 106"/>
                  <a:gd name="T5" fmla="*/ 54 h 163"/>
                  <a:gd name="T6" fmla="*/ 75 w 106"/>
                  <a:gd name="T7" fmla="*/ 0 h 1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6"/>
                  <a:gd name="T13" fmla="*/ 0 h 163"/>
                  <a:gd name="T14" fmla="*/ 106 w 106"/>
                  <a:gd name="T15" fmla="*/ 163 h 1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6" h="163">
                    <a:moveTo>
                      <a:pt x="75" y="0"/>
                    </a:moveTo>
                    <a:lnTo>
                      <a:pt x="106" y="163"/>
                    </a:lnTo>
                    <a:lnTo>
                      <a:pt x="0" y="54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22" name="Freeform 291"/>
              <p:cNvSpPr>
                <a:spLocks/>
              </p:cNvSpPr>
              <p:nvPr/>
            </p:nvSpPr>
            <p:spPr bwMode="auto">
              <a:xfrm>
                <a:off x="2263" y="2666"/>
                <a:ext cx="40" cy="178"/>
              </a:xfrm>
              <a:custGeom>
                <a:avLst/>
                <a:gdLst>
                  <a:gd name="T0" fmla="*/ 36 w 40"/>
                  <a:gd name="T1" fmla="*/ 158 h 178"/>
                  <a:gd name="T2" fmla="*/ 28 w 40"/>
                  <a:gd name="T3" fmla="*/ 163 h 178"/>
                  <a:gd name="T4" fmla="*/ 0 w 40"/>
                  <a:gd name="T5" fmla="*/ 0 h 178"/>
                  <a:gd name="T6" fmla="*/ 8 w 40"/>
                  <a:gd name="T7" fmla="*/ 0 h 178"/>
                  <a:gd name="T8" fmla="*/ 38 w 40"/>
                  <a:gd name="T9" fmla="*/ 163 h 178"/>
                  <a:gd name="T10" fmla="*/ 32 w 40"/>
                  <a:gd name="T11" fmla="*/ 167 h 178"/>
                  <a:gd name="T12" fmla="*/ 38 w 40"/>
                  <a:gd name="T13" fmla="*/ 163 h 178"/>
                  <a:gd name="T14" fmla="*/ 40 w 40"/>
                  <a:gd name="T15" fmla="*/ 178 h 178"/>
                  <a:gd name="T16" fmla="*/ 32 w 40"/>
                  <a:gd name="T17" fmla="*/ 167 h 178"/>
                  <a:gd name="T18" fmla="*/ 36 w 40"/>
                  <a:gd name="T19" fmla="*/ 158 h 17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0"/>
                  <a:gd name="T31" fmla="*/ 0 h 178"/>
                  <a:gd name="T32" fmla="*/ 40 w 40"/>
                  <a:gd name="T33" fmla="*/ 178 h 17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0" h="178">
                    <a:moveTo>
                      <a:pt x="36" y="158"/>
                    </a:moveTo>
                    <a:lnTo>
                      <a:pt x="28" y="163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38" y="163"/>
                    </a:lnTo>
                    <a:lnTo>
                      <a:pt x="32" y="167"/>
                    </a:lnTo>
                    <a:lnTo>
                      <a:pt x="38" y="163"/>
                    </a:lnTo>
                    <a:lnTo>
                      <a:pt x="40" y="178"/>
                    </a:lnTo>
                    <a:lnTo>
                      <a:pt x="32" y="167"/>
                    </a:lnTo>
                    <a:lnTo>
                      <a:pt x="36" y="158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23" name="Freeform 292"/>
              <p:cNvSpPr>
                <a:spLocks/>
              </p:cNvSpPr>
              <p:nvPr/>
            </p:nvSpPr>
            <p:spPr bwMode="auto">
              <a:xfrm>
                <a:off x="2184" y="2711"/>
                <a:ext cx="115" cy="120"/>
              </a:xfrm>
              <a:custGeom>
                <a:avLst/>
                <a:gdLst>
                  <a:gd name="T0" fmla="*/ 10 w 115"/>
                  <a:gd name="T1" fmla="*/ 12 h 120"/>
                  <a:gd name="T2" fmla="*/ 10 w 115"/>
                  <a:gd name="T3" fmla="*/ 1 h 120"/>
                  <a:gd name="T4" fmla="*/ 115 w 115"/>
                  <a:gd name="T5" fmla="*/ 112 h 120"/>
                  <a:gd name="T6" fmla="*/ 111 w 115"/>
                  <a:gd name="T7" fmla="*/ 120 h 120"/>
                  <a:gd name="T8" fmla="*/ 5 w 115"/>
                  <a:gd name="T9" fmla="*/ 9 h 120"/>
                  <a:gd name="T10" fmla="*/ 5 w 115"/>
                  <a:gd name="T11" fmla="*/ 0 h 120"/>
                  <a:gd name="T12" fmla="*/ 5 w 115"/>
                  <a:gd name="T13" fmla="*/ 9 h 120"/>
                  <a:gd name="T14" fmla="*/ 0 w 115"/>
                  <a:gd name="T15" fmla="*/ 3 h 120"/>
                  <a:gd name="T16" fmla="*/ 5 w 115"/>
                  <a:gd name="T17" fmla="*/ 0 h 120"/>
                  <a:gd name="T18" fmla="*/ 10 w 115"/>
                  <a:gd name="T19" fmla="*/ 12 h 1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5"/>
                  <a:gd name="T31" fmla="*/ 0 h 120"/>
                  <a:gd name="T32" fmla="*/ 115 w 115"/>
                  <a:gd name="T33" fmla="*/ 120 h 12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5" h="120">
                    <a:moveTo>
                      <a:pt x="10" y="12"/>
                    </a:moveTo>
                    <a:lnTo>
                      <a:pt x="10" y="1"/>
                    </a:lnTo>
                    <a:lnTo>
                      <a:pt x="115" y="112"/>
                    </a:lnTo>
                    <a:lnTo>
                      <a:pt x="111" y="120"/>
                    </a:lnTo>
                    <a:lnTo>
                      <a:pt x="5" y="9"/>
                    </a:lnTo>
                    <a:lnTo>
                      <a:pt x="5" y="0"/>
                    </a:lnTo>
                    <a:lnTo>
                      <a:pt x="5" y="9"/>
                    </a:lnTo>
                    <a:lnTo>
                      <a:pt x="0" y="3"/>
                    </a:lnTo>
                    <a:lnTo>
                      <a:pt x="5" y="0"/>
                    </a:lnTo>
                    <a:lnTo>
                      <a:pt x="10" y="1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24" name="Freeform 293"/>
              <p:cNvSpPr>
                <a:spLocks/>
              </p:cNvSpPr>
              <p:nvPr/>
            </p:nvSpPr>
            <p:spPr bwMode="auto">
              <a:xfrm>
                <a:off x="2185" y="2657"/>
                <a:ext cx="84" cy="67"/>
              </a:xfrm>
              <a:custGeom>
                <a:avLst/>
                <a:gdLst>
                  <a:gd name="T0" fmla="*/ 75 w 84"/>
                  <a:gd name="T1" fmla="*/ 8 h 67"/>
                  <a:gd name="T2" fmla="*/ 82 w 84"/>
                  <a:gd name="T3" fmla="*/ 15 h 67"/>
                  <a:gd name="T4" fmla="*/ 5 w 84"/>
                  <a:gd name="T5" fmla="*/ 67 h 67"/>
                  <a:gd name="T6" fmla="*/ 0 w 84"/>
                  <a:gd name="T7" fmla="*/ 56 h 67"/>
                  <a:gd name="T8" fmla="*/ 75 w 84"/>
                  <a:gd name="T9" fmla="*/ 3 h 67"/>
                  <a:gd name="T10" fmla="*/ 84 w 84"/>
                  <a:gd name="T11" fmla="*/ 8 h 67"/>
                  <a:gd name="T12" fmla="*/ 75 w 84"/>
                  <a:gd name="T13" fmla="*/ 3 h 67"/>
                  <a:gd name="T14" fmla="*/ 82 w 84"/>
                  <a:gd name="T15" fmla="*/ 0 h 67"/>
                  <a:gd name="T16" fmla="*/ 84 w 84"/>
                  <a:gd name="T17" fmla="*/ 8 h 67"/>
                  <a:gd name="T18" fmla="*/ 75 w 84"/>
                  <a:gd name="T19" fmla="*/ 8 h 6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4"/>
                  <a:gd name="T31" fmla="*/ 0 h 67"/>
                  <a:gd name="T32" fmla="*/ 84 w 84"/>
                  <a:gd name="T33" fmla="*/ 67 h 6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4" h="67">
                    <a:moveTo>
                      <a:pt x="75" y="8"/>
                    </a:moveTo>
                    <a:lnTo>
                      <a:pt x="82" y="15"/>
                    </a:lnTo>
                    <a:lnTo>
                      <a:pt x="5" y="67"/>
                    </a:lnTo>
                    <a:lnTo>
                      <a:pt x="0" y="56"/>
                    </a:lnTo>
                    <a:lnTo>
                      <a:pt x="75" y="3"/>
                    </a:lnTo>
                    <a:lnTo>
                      <a:pt x="84" y="8"/>
                    </a:lnTo>
                    <a:lnTo>
                      <a:pt x="75" y="3"/>
                    </a:lnTo>
                    <a:lnTo>
                      <a:pt x="82" y="0"/>
                    </a:lnTo>
                    <a:lnTo>
                      <a:pt x="84" y="8"/>
                    </a:lnTo>
                    <a:lnTo>
                      <a:pt x="75" y="8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25" name="Freeform 294"/>
              <p:cNvSpPr>
                <a:spLocks/>
              </p:cNvSpPr>
              <p:nvPr/>
            </p:nvSpPr>
            <p:spPr bwMode="auto">
              <a:xfrm>
                <a:off x="2250" y="2758"/>
                <a:ext cx="30" cy="32"/>
              </a:xfrm>
              <a:custGeom>
                <a:avLst/>
                <a:gdLst>
                  <a:gd name="T0" fmla="*/ 20 w 30"/>
                  <a:gd name="T1" fmla="*/ 0 h 32"/>
                  <a:gd name="T2" fmla="*/ 30 w 30"/>
                  <a:gd name="T3" fmla="*/ 15 h 32"/>
                  <a:gd name="T4" fmla="*/ 9 w 30"/>
                  <a:gd name="T5" fmla="*/ 32 h 32"/>
                  <a:gd name="T6" fmla="*/ 0 w 30"/>
                  <a:gd name="T7" fmla="*/ 15 h 32"/>
                  <a:gd name="T8" fmla="*/ 20 w 30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2"/>
                  <a:gd name="T17" fmla="*/ 30 w 30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2">
                    <a:moveTo>
                      <a:pt x="20" y="0"/>
                    </a:moveTo>
                    <a:lnTo>
                      <a:pt x="30" y="15"/>
                    </a:lnTo>
                    <a:lnTo>
                      <a:pt x="9" y="32"/>
                    </a:lnTo>
                    <a:lnTo>
                      <a:pt x="0" y="1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26" name="Freeform 295"/>
              <p:cNvSpPr>
                <a:spLocks/>
              </p:cNvSpPr>
              <p:nvPr/>
            </p:nvSpPr>
            <p:spPr bwMode="auto">
              <a:xfrm>
                <a:off x="2157" y="2547"/>
                <a:ext cx="112" cy="229"/>
              </a:xfrm>
              <a:custGeom>
                <a:avLst/>
                <a:gdLst>
                  <a:gd name="T0" fmla="*/ 25 w 112"/>
                  <a:gd name="T1" fmla="*/ 0 h 229"/>
                  <a:gd name="T2" fmla="*/ 25 w 112"/>
                  <a:gd name="T3" fmla="*/ 0 h 229"/>
                  <a:gd name="T4" fmla="*/ 35 w 112"/>
                  <a:gd name="T5" fmla="*/ 27 h 229"/>
                  <a:gd name="T6" fmla="*/ 44 w 112"/>
                  <a:gd name="T7" fmla="*/ 56 h 229"/>
                  <a:gd name="T8" fmla="*/ 54 w 112"/>
                  <a:gd name="T9" fmla="*/ 84 h 229"/>
                  <a:gd name="T10" fmla="*/ 64 w 112"/>
                  <a:gd name="T11" fmla="*/ 111 h 229"/>
                  <a:gd name="T12" fmla="*/ 75 w 112"/>
                  <a:gd name="T13" fmla="*/ 136 h 229"/>
                  <a:gd name="T14" fmla="*/ 86 w 112"/>
                  <a:gd name="T15" fmla="*/ 162 h 229"/>
                  <a:gd name="T16" fmla="*/ 99 w 112"/>
                  <a:gd name="T17" fmla="*/ 188 h 229"/>
                  <a:gd name="T18" fmla="*/ 112 w 112"/>
                  <a:gd name="T19" fmla="*/ 212 h 229"/>
                  <a:gd name="T20" fmla="*/ 91 w 112"/>
                  <a:gd name="T21" fmla="*/ 229 h 229"/>
                  <a:gd name="T22" fmla="*/ 77 w 112"/>
                  <a:gd name="T23" fmla="*/ 204 h 229"/>
                  <a:gd name="T24" fmla="*/ 64 w 112"/>
                  <a:gd name="T25" fmla="*/ 176 h 229"/>
                  <a:gd name="T26" fmla="*/ 51 w 112"/>
                  <a:gd name="T27" fmla="*/ 150 h 229"/>
                  <a:gd name="T28" fmla="*/ 40 w 112"/>
                  <a:gd name="T29" fmla="*/ 120 h 229"/>
                  <a:gd name="T30" fmla="*/ 29 w 112"/>
                  <a:gd name="T31" fmla="*/ 94 h 229"/>
                  <a:gd name="T32" fmla="*/ 19 w 112"/>
                  <a:gd name="T33" fmla="*/ 65 h 229"/>
                  <a:gd name="T34" fmla="*/ 8 w 112"/>
                  <a:gd name="T35" fmla="*/ 36 h 229"/>
                  <a:gd name="T36" fmla="*/ 0 w 112"/>
                  <a:gd name="T37" fmla="*/ 6 h 229"/>
                  <a:gd name="T38" fmla="*/ 25 w 112"/>
                  <a:gd name="T39" fmla="*/ 0 h 22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2"/>
                  <a:gd name="T61" fmla="*/ 0 h 229"/>
                  <a:gd name="T62" fmla="*/ 112 w 112"/>
                  <a:gd name="T63" fmla="*/ 229 h 22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2" h="229">
                    <a:moveTo>
                      <a:pt x="25" y="0"/>
                    </a:moveTo>
                    <a:lnTo>
                      <a:pt x="25" y="0"/>
                    </a:lnTo>
                    <a:lnTo>
                      <a:pt x="35" y="27"/>
                    </a:lnTo>
                    <a:lnTo>
                      <a:pt x="44" y="56"/>
                    </a:lnTo>
                    <a:lnTo>
                      <a:pt x="54" y="84"/>
                    </a:lnTo>
                    <a:lnTo>
                      <a:pt x="64" y="111"/>
                    </a:lnTo>
                    <a:lnTo>
                      <a:pt x="75" y="136"/>
                    </a:lnTo>
                    <a:lnTo>
                      <a:pt x="86" y="162"/>
                    </a:lnTo>
                    <a:lnTo>
                      <a:pt x="99" y="188"/>
                    </a:lnTo>
                    <a:lnTo>
                      <a:pt x="112" y="212"/>
                    </a:lnTo>
                    <a:lnTo>
                      <a:pt x="91" y="229"/>
                    </a:lnTo>
                    <a:lnTo>
                      <a:pt x="77" y="204"/>
                    </a:lnTo>
                    <a:lnTo>
                      <a:pt x="64" y="176"/>
                    </a:lnTo>
                    <a:lnTo>
                      <a:pt x="51" y="150"/>
                    </a:lnTo>
                    <a:lnTo>
                      <a:pt x="40" y="120"/>
                    </a:lnTo>
                    <a:lnTo>
                      <a:pt x="29" y="94"/>
                    </a:lnTo>
                    <a:lnTo>
                      <a:pt x="19" y="65"/>
                    </a:lnTo>
                    <a:lnTo>
                      <a:pt x="8" y="36"/>
                    </a:lnTo>
                    <a:lnTo>
                      <a:pt x="0" y="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27" name="Freeform 296"/>
              <p:cNvSpPr>
                <a:spLocks/>
              </p:cNvSpPr>
              <p:nvPr/>
            </p:nvSpPr>
            <p:spPr bwMode="auto">
              <a:xfrm>
                <a:off x="2115" y="2345"/>
                <a:ext cx="63" cy="205"/>
              </a:xfrm>
              <a:custGeom>
                <a:avLst/>
                <a:gdLst>
                  <a:gd name="T0" fmla="*/ 28 w 63"/>
                  <a:gd name="T1" fmla="*/ 3 h 205"/>
                  <a:gd name="T2" fmla="*/ 31 w 63"/>
                  <a:gd name="T3" fmla="*/ 27 h 205"/>
                  <a:gd name="T4" fmla="*/ 33 w 63"/>
                  <a:gd name="T5" fmla="*/ 51 h 205"/>
                  <a:gd name="T6" fmla="*/ 36 w 63"/>
                  <a:gd name="T7" fmla="*/ 76 h 205"/>
                  <a:gd name="T8" fmla="*/ 41 w 63"/>
                  <a:gd name="T9" fmla="*/ 100 h 205"/>
                  <a:gd name="T10" fmla="*/ 46 w 63"/>
                  <a:gd name="T11" fmla="*/ 124 h 205"/>
                  <a:gd name="T12" fmla="*/ 50 w 63"/>
                  <a:gd name="T13" fmla="*/ 148 h 205"/>
                  <a:gd name="T14" fmla="*/ 57 w 63"/>
                  <a:gd name="T15" fmla="*/ 173 h 205"/>
                  <a:gd name="T16" fmla="*/ 63 w 63"/>
                  <a:gd name="T17" fmla="*/ 199 h 205"/>
                  <a:gd name="T18" fmla="*/ 39 w 63"/>
                  <a:gd name="T19" fmla="*/ 205 h 205"/>
                  <a:gd name="T20" fmla="*/ 30 w 63"/>
                  <a:gd name="T21" fmla="*/ 179 h 205"/>
                  <a:gd name="T22" fmla="*/ 25 w 63"/>
                  <a:gd name="T23" fmla="*/ 154 h 205"/>
                  <a:gd name="T24" fmla="*/ 18 w 63"/>
                  <a:gd name="T25" fmla="*/ 126 h 205"/>
                  <a:gd name="T26" fmla="*/ 14 w 63"/>
                  <a:gd name="T27" fmla="*/ 101 h 205"/>
                  <a:gd name="T28" fmla="*/ 9 w 63"/>
                  <a:gd name="T29" fmla="*/ 76 h 205"/>
                  <a:gd name="T30" fmla="*/ 4 w 63"/>
                  <a:gd name="T31" fmla="*/ 51 h 205"/>
                  <a:gd name="T32" fmla="*/ 2 w 63"/>
                  <a:gd name="T33" fmla="*/ 24 h 205"/>
                  <a:gd name="T34" fmla="*/ 0 w 63"/>
                  <a:gd name="T35" fmla="*/ 0 h 205"/>
                  <a:gd name="T36" fmla="*/ 28 w 63"/>
                  <a:gd name="T37" fmla="*/ 3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3"/>
                  <a:gd name="T58" fmla="*/ 0 h 205"/>
                  <a:gd name="T59" fmla="*/ 63 w 63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3" h="205">
                    <a:moveTo>
                      <a:pt x="28" y="3"/>
                    </a:moveTo>
                    <a:lnTo>
                      <a:pt x="31" y="27"/>
                    </a:lnTo>
                    <a:lnTo>
                      <a:pt x="33" y="51"/>
                    </a:lnTo>
                    <a:lnTo>
                      <a:pt x="36" y="76"/>
                    </a:lnTo>
                    <a:lnTo>
                      <a:pt x="41" y="100"/>
                    </a:lnTo>
                    <a:lnTo>
                      <a:pt x="46" y="124"/>
                    </a:lnTo>
                    <a:lnTo>
                      <a:pt x="50" y="148"/>
                    </a:lnTo>
                    <a:lnTo>
                      <a:pt x="57" y="173"/>
                    </a:lnTo>
                    <a:lnTo>
                      <a:pt x="63" y="199"/>
                    </a:lnTo>
                    <a:lnTo>
                      <a:pt x="39" y="205"/>
                    </a:lnTo>
                    <a:lnTo>
                      <a:pt x="30" y="179"/>
                    </a:lnTo>
                    <a:lnTo>
                      <a:pt x="25" y="154"/>
                    </a:lnTo>
                    <a:lnTo>
                      <a:pt x="18" y="126"/>
                    </a:lnTo>
                    <a:lnTo>
                      <a:pt x="14" y="101"/>
                    </a:lnTo>
                    <a:lnTo>
                      <a:pt x="9" y="76"/>
                    </a:lnTo>
                    <a:lnTo>
                      <a:pt x="4" y="51"/>
                    </a:lnTo>
                    <a:lnTo>
                      <a:pt x="2" y="24"/>
                    </a:lnTo>
                    <a:lnTo>
                      <a:pt x="0" y="0"/>
                    </a:lnTo>
                    <a:lnTo>
                      <a:pt x="28" y="3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28" name="Freeform 297"/>
              <p:cNvSpPr>
                <a:spLocks/>
              </p:cNvSpPr>
              <p:nvPr/>
            </p:nvSpPr>
            <p:spPr bwMode="auto">
              <a:xfrm>
                <a:off x="2111" y="2328"/>
                <a:ext cx="30" cy="21"/>
              </a:xfrm>
              <a:custGeom>
                <a:avLst/>
                <a:gdLst>
                  <a:gd name="T0" fmla="*/ 1 w 30"/>
                  <a:gd name="T1" fmla="*/ 18 h 21"/>
                  <a:gd name="T2" fmla="*/ 0 w 30"/>
                  <a:gd name="T3" fmla="*/ 0 h 21"/>
                  <a:gd name="T4" fmla="*/ 29 w 30"/>
                  <a:gd name="T5" fmla="*/ 3 h 21"/>
                  <a:gd name="T6" fmla="*/ 30 w 30"/>
                  <a:gd name="T7" fmla="*/ 21 h 21"/>
                  <a:gd name="T8" fmla="*/ 1 w 30"/>
                  <a:gd name="T9" fmla="*/ 18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21"/>
                  <a:gd name="T17" fmla="*/ 30 w 30"/>
                  <a:gd name="T18" fmla="*/ 21 h 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21">
                    <a:moveTo>
                      <a:pt x="1" y="18"/>
                    </a:moveTo>
                    <a:lnTo>
                      <a:pt x="0" y="0"/>
                    </a:lnTo>
                    <a:lnTo>
                      <a:pt x="29" y="3"/>
                    </a:lnTo>
                    <a:lnTo>
                      <a:pt x="30" y="21"/>
                    </a:lnTo>
                    <a:lnTo>
                      <a:pt x="1" y="18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29" name="Freeform 298"/>
              <p:cNvSpPr>
                <a:spLocks/>
              </p:cNvSpPr>
              <p:nvPr/>
            </p:nvSpPr>
            <p:spPr bwMode="auto">
              <a:xfrm>
                <a:off x="2211" y="2698"/>
                <a:ext cx="108" cy="162"/>
              </a:xfrm>
              <a:custGeom>
                <a:avLst/>
                <a:gdLst>
                  <a:gd name="T0" fmla="*/ 72 w 108"/>
                  <a:gd name="T1" fmla="*/ 0 h 162"/>
                  <a:gd name="T2" fmla="*/ 108 w 108"/>
                  <a:gd name="T3" fmla="*/ 162 h 162"/>
                  <a:gd name="T4" fmla="*/ 0 w 108"/>
                  <a:gd name="T5" fmla="*/ 59 h 162"/>
                  <a:gd name="T6" fmla="*/ 72 w 108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8"/>
                  <a:gd name="T13" fmla="*/ 0 h 162"/>
                  <a:gd name="T14" fmla="*/ 108 w 108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8" h="162">
                    <a:moveTo>
                      <a:pt x="72" y="0"/>
                    </a:moveTo>
                    <a:lnTo>
                      <a:pt x="108" y="162"/>
                    </a:lnTo>
                    <a:lnTo>
                      <a:pt x="0" y="59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30" name="Freeform 299"/>
              <p:cNvSpPr>
                <a:spLocks/>
              </p:cNvSpPr>
              <p:nvPr/>
            </p:nvSpPr>
            <p:spPr bwMode="auto">
              <a:xfrm>
                <a:off x="2274" y="2698"/>
                <a:ext cx="56" cy="186"/>
              </a:xfrm>
              <a:custGeom>
                <a:avLst/>
                <a:gdLst>
                  <a:gd name="T0" fmla="*/ 47 w 56"/>
                  <a:gd name="T1" fmla="*/ 156 h 186"/>
                  <a:gd name="T2" fmla="*/ 36 w 56"/>
                  <a:gd name="T3" fmla="*/ 165 h 186"/>
                  <a:gd name="T4" fmla="*/ 0 w 56"/>
                  <a:gd name="T5" fmla="*/ 3 h 186"/>
                  <a:gd name="T6" fmla="*/ 15 w 56"/>
                  <a:gd name="T7" fmla="*/ 0 h 186"/>
                  <a:gd name="T8" fmla="*/ 51 w 56"/>
                  <a:gd name="T9" fmla="*/ 163 h 186"/>
                  <a:gd name="T10" fmla="*/ 40 w 56"/>
                  <a:gd name="T11" fmla="*/ 170 h 186"/>
                  <a:gd name="T12" fmla="*/ 51 w 56"/>
                  <a:gd name="T13" fmla="*/ 163 h 186"/>
                  <a:gd name="T14" fmla="*/ 56 w 56"/>
                  <a:gd name="T15" fmla="*/ 186 h 186"/>
                  <a:gd name="T16" fmla="*/ 40 w 56"/>
                  <a:gd name="T17" fmla="*/ 170 h 186"/>
                  <a:gd name="T18" fmla="*/ 47 w 56"/>
                  <a:gd name="T19" fmla="*/ 156 h 18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6"/>
                  <a:gd name="T31" fmla="*/ 0 h 186"/>
                  <a:gd name="T32" fmla="*/ 56 w 56"/>
                  <a:gd name="T33" fmla="*/ 186 h 18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6" h="186">
                    <a:moveTo>
                      <a:pt x="47" y="156"/>
                    </a:moveTo>
                    <a:lnTo>
                      <a:pt x="36" y="165"/>
                    </a:lnTo>
                    <a:lnTo>
                      <a:pt x="0" y="3"/>
                    </a:lnTo>
                    <a:lnTo>
                      <a:pt x="15" y="0"/>
                    </a:lnTo>
                    <a:lnTo>
                      <a:pt x="51" y="163"/>
                    </a:lnTo>
                    <a:lnTo>
                      <a:pt x="40" y="170"/>
                    </a:lnTo>
                    <a:lnTo>
                      <a:pt x="51" y="163"/>
                    </a:lnTo>
                    <a:lnTo>
                      <a:pt x="56" y="186"/>
                    </a:lnTo>
                    <a:lnTo>
                      <a:pt x="40" y="170"/>
                    </a:lnTo>
                    <a:lnTo>
                      <a:pt x="47" y="15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31" name="Freeform 300"/>
              <p:cNvSpPr>
                <a:spLocks/>
              </p:cNvSpPr>
              <p:nvPr/>
            </p:nvSpPr>
            <p:spPr bwMode="auto">
              <a:xfrm>
                <a:off x="2196" y="2749"/>
                <a:ext cx="124" cy="119"/>
              </a:xfrm>
              <a:custGeom>
                <a:avLst/>
                <a:gdLst>
                  <a:gd name="T0" fmla="*/ 19 w 124"/>
                  <a:gd name="T1" fmla="*/ 17 h 119"/>
                  <a:gd name="T2" fmla="*/ 17 w 124"/>
                  <a:gd name="T3" fmla="*/ 1 h 119"/>
                  <a:gd name="T4" fmla="*/ 124 w 124"/>
                  <a:gd name="T5" fmla="*/ 103 h 119"/>
                  <a:gd name="T6" fmla="*/ 118 w 124"/>
                  <a:gd name="T7" fmla="*/ 119 h 119"/>
                  <a:gd name="T8" fmla="*/ 11 w 124"/>
                  <a:gd name="T9" fmla="*/ 16 h 119"/>
                  <a:gd name="T10" fmla="*/ 9 w 124"/>
                  <a:gd name="T11" fmla="*/ 0 h 119"/>
                  <a:gd name="T12" fmla="*/ 11 w 124"/>
                  <a:gd name="T13" fmla="*/ 16 h 119"/>
                  <a:gd name="T14" fmla="*/ 0 w 124"/>
                  <a:gd name="T15" fmla="*/ 6 h 119"/>
                  <a:gd name="T16" fmla="*/ 9 w 124"/>
                  <a:gd name="T17" fmla="*/ 0 h 119"/>
                  <a:gd name="T18" fmla="*/ 19 w 124"/>
                  <a:gd name="T19" fmla="*/ 17 h 11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4"/>
                  <a:gd name="T31" fmla="*/ 0 h 119"/>
                  <a:gd name="T32" fmla="*/ 124 w 124"/>
                  <a:gd name="T33" fmla="*/ 119 h 11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4" h="119">
                    <a:moveTo>
                      <a:pt x="19" y="17"/>
                    </a:moveTo>
                    <a:lnTo>
                      <a:pt x="17" y="1"/>
                    </a:lnTo>
                    <a:lnTo>
                      <a:pt x="124" y="103"/>
                    </a:lnTo>
                    <a:lnTo>
                      <a:pt x="118" y="119"/>
                    </a:lnTo>
                    <a:lnTo>
                      <a:pt x="11" y="16"/>
                    </a:lnTo>
                    <a:lnTo>
                      <a:pt x="9" y="0"/>
                    </a:lnTo>
                    <a:lnTo>
                      <a:pt x="11" y="16"/>
                    </a:lnTo>
                    <a:lnTo>
                      <a:pt x="0" y="6"/>
                    </a:lnTo>
                    <a:lnTo>
                      <a:pt x="9" y="0"/>
                    </a:lnTo>
                    <a:lnTo>
                      <a:pt x="19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32" name="Freeform 301"/>
              <p:cNvSpPr>
                <a:spLocks/>
              </p:cNvSpPr>
              <p:nvPr/>
            </p:nvSpPr>
            <p:spPr bwMode="auto">
              <a:xfrm>
                <a:off x="2204" y="2683"/>
                <a:ext cx="84" cy="82"/>
              </a:xfrm>
              <a:custGeom>
                <a:avLst/>
                <a:gdLst>
                  <a:gd name="T0" fmla="*/ 70 w 84"/>
                  <a:gd name="T1" fmla="*/ 18 h 82"/>
                  <a:gd name="T2" fmla="*/ 82 w 84"/>
                  <a:gd name="T3" fmla="*/ 24 h 82"/>
                  <a:gd name="T4" fmla="*/ 8 w 84"/>
                  <a:gd name="T5" fmla="*/ 82 h 82"/>
                  <a:gd name="T6" fmla="*/ 0 w 84"/>
                  <a:gd name="T7" fmla="*/ 65 h 82"/>
                  <a:gd name="T8" fmla="*/ 72 w 84"/>
                  <a:gd name="T9" fmla="*/ 7 h 82"/>
                  <a:gd name="T10" fmla="*/ 84 w 84"/>
                  <a:gd name="T11" fmla="*/ 15 h 82"/>
                  <a:gd name="T12" fmla="*/ 72 w 84"/>
                  <a:gd name="T13" fmla="*/ 7 h 82"/>
                  <a:gd name="T14" fmla="*/ 81 w 84"/>
                  <a:gd name="T15" fmla="*/ 0 h 82"/>
                  <a:gd name="T16" fmla="*/ 84 w 84"/>
                  <a:gd name="T17" fmla="*/ 15 h 82"/>
                  <a:gd name="T18" fmla="*/ 70 w 84"/>
                  <a:gd name="T19" fmla="*/ 18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4"/>
                  <a:gd name="T31" fmla="*/ 0 h 82"/>
                  <a:gd name="T32" fmla="*/ 84 w 84"/>
                  <a:gd name="T33" fmla="*/ 82 h 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4" h="82">
                    <a:moveTo>
                      <a:pt x="70" y="18"/>
                    </a:moveTo>
                    <a:lnTo>
                      <a:pt x="82" y="24"/>
                    </a:lnTo>
                    <a:lnTo>
                      <a:pt x="8" y="82"/>
                    </a:lnTo>
                    <a:lnTo>
                      <a:pt x="0" y="65"/>
                    </a:lnTo>
                    <a:lnTo>
                      <a:pt x="72" y="7"/>
                    </a:lnTo>
                    <a:lnTo>
                      <a:pt x="84" y="15"/>
                    </a:lnTo>
                    <a:lnTo>
                      <a:pt x="72" y="7"/>
                    </a:lnTo>
                    <a:lnTo>
                      <a:pt x="81" y="0"/>
                    </a:lnTo>
                    <a:lnTo>
                      <a:pt x="84" y="15"/>
                    </a:lnTo>
                    <a:lnTo>
                      <a:pt x="70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33" name="Freeform 302"/>
              <p:cNvSpPr>
                <a:spLocks/>
              </p:cNvSpPr>
              <p:nvPr/>
            </p:nvSpPr>
            <p:spPr bwMode="auto">
              <a:xfrm>
                <a:off x="2278" y="2803"/>
                <a:ext cx="35" cy="42"/>
              </a:xfrm>
              <a:custGeom>
                <a:avLst/>
                <a:gdLst>
                  <a:gd name="T0" fmla="*/ 24 w 35"/>
                  <a:gd name="T1" fmla="*/ 0 h 42"/>
                  <a:gd name="T2" fmla="*/ 35 w 35"/>
                  <a:gd name="T3" fmla="*/ 19 h 42"/>
                  <a:gd name="T4" fmla="*/ 10 w 35"/>
                  <a:gd name="T5" fmla="*/ 42 h 42"/>
                  <a:gd name="T6" fmla="*/ 0 w 35"/>
                  <a:gd name="T7" fmla="*/ 23 h 42"/>
                  <a:gd name="T8" fmla="*/ 24 w 35"/>
                  <a:gd name="T9" fmla="*/ 0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42"/>
                  <a:gd name="T17" fmla="*/ 35 w 35"/>
                  <a:gd name="T18" fmla="*/ 42 h 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42">
                    <a:moveTo>
                      <a:pt x="24" y="0"/>
                    </a:moveTo>
                    <a:lnTo>
                      <a:pt x="35" y="19"/>
                    </a:lnTo>
                    <a:lnTo>
                      <a:pt x="10" y="42"/>
                    </a:lnTo>
                    <a:lnTo>
                      <a:pt x="0" y="23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34" name="Freeform 303"/>
              <p:cNvSpPr>
                <a:spLocks/>
              </p:cNvSpPr>
              <p:nvPr/>
            </p:nvSpPr>
            <p:spPr bwMode="auto">
              <a:xfrm>
                <a:off x="2173" y="2593"/>
                <a:ext cx="125" cy="229"/>
              </a:xfrm>
              <a:custGeom>
                <a:avLst/>
                <a:gdLst>
                  <a:gd name="T0" fmla="*/ 31 w 125"/>
                  <a:gd name="T1" fmla="*/ 0 h 229"/>
                  <a:gd name="T2" fmla="*/ 31 w 125"/>
                  <a:gd name="T3" fmla="*/ 0 h 229"/>
                  <a:gd name="T4" fmla="*/ 40 w 125"/>
                  <a:gd name="T5" fmla="*/ 27 h 229"/>
                  <a:gd name="T6" fmla="*/ 51 w 125"/>
                  <a:gd name="T7" fmla="*/ 56 h 229"/>
                  <a:gd name="T8" fmla="*/ 61 w 125"/>
                  <a:gd name="T9" fmla="*/ 82 h 229"/>
                  <a:gd name="T10" fmla="*/ 73 w 125"/>
                  <a:gd name="T11" fmla="*/ 109 h 229"/>
                  <a:gd name="T12" fmla="*/ 85 w 125"/>
                  <a:gd name="T13" fmla="*/ 134 h 229"/>
                  <a:gd name="T14" fmla="*/ 97 w 125"/>
                  <a:gd name="T15" fmla="*/ 159 h 229"/>
                  <a:gd name="T16" fmla="*/ 111 w 125"/>
                  <a:gd name="T17" fmla="*/ 184 h 229"/>
                  <a:gd name="T18" fmla="*/ 125 w 125"/>
                  <a:gd name="T19" fmla="*/ 208 h 229"/>
                  <a:gd name="T20" fmla="*/ 99 w 125"/>
                  <a:gd name="T21" fmla="*/ 229 h 229"/>
                  <a:gd name="T22" fmla="*/ 85 w 125"/>
                  <a:gd name="T23" fmla="*/ 205 h 229"/>
                  <a:gd name="T24" fmla="*/ 71 w 125"/>
                  <a:gd name="T25" fmla="*/ 178 h 229"/>
                  <a:gd name="T26" fmla="*/ 58 w 125"/>
                  <a:gd name="T27" fmla="*/ 151 h 229"/>
                  <a:gd name="T28" fmla="*/ 45 w 125"/>
                  <a:gd name="T29" fmla="*/ 125 h 229"/>
                  <a:gd name="T30" fmla="*/ 33 w 125"/>
                  <a:gd name="T31" fmla="*/ 97 h 229"/>
                  <a:gd name="T32" fmla="*/ 20 w 125"/>
                  <a:gd name="T33" fmla="*/ 68 h 229"/>
                  <a:gd name="T34" fmla="*/ 11 w 125"/>
                  <a:gd name="T35" fmla="*/ 39 h 229"/>
                  <a:gd name="T36" fmla="*/ 0 w 125"/>
                  <a:gd name="T37" fmla="*/ 9 h 229"/>
                  <a:gd name="T38" fmla="*/ 31 w 125"/>
                  <a:gd name="T39" fmla="*/ 0 h 22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5"/>
                  <a:gd name="T61" fmla="*/ 0 h 229"/>
                  <a:gd name="T62" fmla="*/ 125 w 125"/>
                  <a:gd name="T63" fmla="*/ 229 h 22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5" h="229">
                    <a:moveTo>
                      <a:pt x="31" y="0"/>
                    </a:moveTo>
                    <a:lnTo>
                      <a:pt x="31" y="0"/>
                    </a:lnTo>
                    <a:lnTo>
                      <a:pt x="40" y="27"/>
                    </a:lnTo>
                    <a:lnTo>
                      <a:pt x="51" y="56"/>
                    </a:lnTo>
                    <a:lnTo>
                      <a:pt x="61" y="82"/>
                    </a:lnTo>
                    <a:lnTo>
                      <a:pt x="73" y="109"/>
                    </a:lnTo>
                    <a:lnTo>
                      <a:pt x="85" y="134"/>
                    </a:lnTo>
                    <a:lnTo>
                      <a:pt x="97" y="159"/>
                    </a:lnTo>
                    <a:lnTo>
                      <a:pt x="111" y="184"/>
                    </a:lnTo>
                    <a:lnTo>
                      <a:pt x="125" y="208"/>
                    </a:lnTo>
                    <a:lnTo>
                      <a:pt x="99" y="229"/>
                    </a:lnTo>
                    <a:lnTo>
                      <a:pt x="85" y="205"/>
                    </a:lnTo>
                    <a:lnTo>
                      <a:pt x="71" y="178"/>
                    </a:lnTo>
                    <a:lnTo>
                      <a:pt x="58" y="151"/>
                    </a:lnTo>
                    <a:lnTo>
                      <a:pt x="45" y="125"/>
                    </a:lnTo>
                    <a:lnTo>
                      <a:pt x="33" y="97"/>
                    </a:lnTo>
                    <a:lnTo>
                      <a:pt x="20" y="68"/>
                    </a:lnTo>
                    <a:lnTo>
                      <a:pt x="11" y="39"/>
                    </a:lnTo>
                    <a:lnTo>
                      <a:pt x="0" y="9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35" name="Freeform 304"/>
              <p:cNvSpPr>
                <a:spLocks/>
              </p:cNvSpPr>
              <p:nvPr/>
            </p:nvSpPr>
            <p:spPr bwMode="auto">
              <a:xfrm>
                <a:off x="2126" y="2396"/>
                <a:ext cx="76" cy="206"/>
              </a:xfrm>
              <a:custGeom>
                <a:avLst/>
                <a:gdLst>
                  <a:gd name="T0" fmla="*/ 33 w 76"/>
                  <a:gd name="T1" fmla="*/ 2 h 206"/>
                  <a:gd name="T2" fmla="*/ 36 w 76"/>
                  <a:gd name="T3" fmla="*/ 26 h 206"/>
                  <a:gd name="T4" fmla="*/ 39 w 76"/>
                  <a:gd name="T5" fmla="*/ 50 h 206"/>
                  <a:gd name="T6" fmla="*/ 44 w 76"/>
                  <a:gd name="T7" fmla="*/ 75 h 206"/>
                  <a:gd name="T8" fmla="*/ 48 w 76"/>
                  <a:gd name="T9" fmla="*/ 98 h 206"/>
                  <a:gd name="T10" fmla="*/ 54 w 76"/>
                  <a:gd name="T11" fmla="*/ 122 h 206"/>
                  <a:gd name="T12" fmla="*/ 61 w 76"/>
                  <a:gd name="T13" fmla="*/ 146 h 206"/>
                  <a:gd name="T14" fmla="*/ 67 w 76"/>
                  <a:gd name="T15" fmla="*/ 172 h 206"/>
                  <a:gd name="T16" fmla="*/ 76 w 76"/>
                  <a:gd name="T17" fmla="*/ 197 h 206"/>
                  <a:gd name="T18" fmla="*/ 45 w 76"/>
                  <a:gd name="T19" fmla="*/ 206 h 206"/>
                  <a:gd name="T20" fmla="*/ 37 w 76"/>
                  <a:gd name="T21" fmla="*/ 181 h 206"/>
                  <a:gd name="T22" fmla="*/ 31 w 76"/>
                  <a:gd name="T23" fmla="*/ 155 h 206"/>
                  <a:gd name="T24" fmla="*/ 23 w 76"/>
                  <a:gd name="T25" fmla="*/ 128 h 206"/>
                  <a:gd name="T26" fmla="*/ 18 w 76"/>
                  <a:gd name="T27" fmla="*/ 102 h 206"/>
                  <a:gd name="T28" fmla="*/ 13 w 76"/>
                  <a:gd name="T29" fmla="*/ 77 h 206"/>
                  <a:gd name="T30" fmla="*/ 8 w 76"/>
                  <a:gd name="T31" fmla="*/ 50 h 206"/>
                  <a:gd name="T32" fmla="*/ 3 w 76"/>
                  <a:gd name="T33" fmla="*/ 25 h 206"/>
                  <a:gd name="T34" fmla="*/ 0 w 76"/>
                  <a:gd name="T35" fmla="*/ 0 h 206"/>
                  <a:gd name="T36" fmla="*/ 33 w 76"/>
                  <a:gd name="T37" fmla="*/ 2 h 2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6"/>
                  <a:gd name="T58" fmla="*/ 0 h 206"/>
                  <a:gd name="T59" fmla="*/ 76 w 76"/>
                  <a:gd name="T60" fmla="*/ 206 h 2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6" h="206">
                    <a:moveTo>
                      <a:pt x="33" y="2"/>
                    </a:moveTo>
                    <a:lnTo>
                      <a:pt x="36" y="26"/>
                    </a:lnTo>
                    <a:lnTo>
                      <a:pt x="39" y="50"/>
                    </a:lnTo>
                    <a:lnTo>
                      <a:pt x="44" y="75"/>
                    </a:lnTo>
                    <a:lnTo>
                      <a:pt x="48" y="98"/>
                    </a:lnTo>
                    <a:lnTo>
                      <a:pt x="54" y="122"/>
                    </a:lnTo>
                    <a:lnTo>
                      <a:pt x="61" y="146"/>
                    </a:lnTo>
                    <a:lnTo>
                      <a:pt x="67" y="172"/>
                    </a:lnTo>
                    <a:lnTo>
                      <a:pt x="76" y="197"/>
                    </a:lnTo>
                    <a:lnTo>
                      <a:pt x="45" y="206"/>
                    </a:lnTo>
                    <a:lnTo>
                      <a:pt x="37" y="181"/>
                    </a:lnTo>
                    <a:lnTo>
                      <a:pt x="31" y="155"/>
                    </a:lnTo>
                    <a:lnTo>
                      <a:pt x="23" y="128"/>
                    </a:lnTo>
                    <a:lnTo>
                      <a:pt x="18" y="102"/>
                    </a:lnTo>
                    <a:lnTo>
                      <a:pt x="13" y="77"/>
                    </a:lnTo>
                    <a:lnTo>
                      <a:pt x="8" y="50"/>
                    </a:lnTo>
                    <a:lnTo>
                      <a:pt x="3" y="25"/>
                    </a:lnTo>
                    <a:lnTo>
                      <a:pt x="0" y="0"/>
                    </a:lnTo>
                    <a:lnTo>
                      <a:pt x="33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36" name="Freeform 305"/>
              <p:cNvSpPr>
                <a:spLocks/>
              </p:cNvSpPr>
              <p:nvPr/>
            </p:nvSpPr>
            <p:spPr bwMode="auto">
              <a:xfrm>
                <a:off x="2120" y="2373"/>
                <a:ext cx="34" cy="24"/>
              </a:xfrm>
              <a:custGeom>
                <a:avLst/>
                <a:gdLst>
                  <a:gd name="T0" fmla="*/ 3 w 34"/>
                  <a:gd name="T1" fmla="*/ 22 h 24"/>
                  <a:gd name="T2" fmla="*/ 0 w 34"/>
                  <a:gd name="T3" fmla="*/ 0 h 24"/>
                  <a:gd name="T4" fmla="*/ 31 w 34"/>
                  <a:gd name="T5" fmla="*/ 2 h 24"/>
                  <a:gd name="T6" fmla="*/ 34 w 34"/>
                  <a:gd name="T7" fmla="*/ 24 h 24"/>
                  <a:gd name="T8" fmla="*/ 3 w 34"/>
                  <a:gd name="T9" fmla="*/ 22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24"/>
                  <a:gd name="T17" fmla="*/ 34 w 34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24">
                    <a:moveTo>
                      <a:pt x="3" y="22"/>
                    </a:moveTo>
                    <a:lnTo>
                      <a:pt x="0" y="0"/>
                    </a:lnTo>
                    <a:lnTo>
                      <a:pt x="31" y="2"/>
                    </a:lnTo>
                    <a:lnTo>
                      <a:pt x="34" y="24"/>
                    </a:ln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37" name="Freeform 306"/>
              <p:cNvSpPr>
                <a:spLocks/>
              </p:cNvSpPr>
              <p:nvPr/>
            </p:nvSpPr>
            <p:spPr bwMode="auto">
              <a:xfrm>
                <a:off x="2211" y="2698"/>
                <a:ext cx="108" cy="162"/>
              </a:xfrm>
              <a:custGeom>
                <a:avLst/>
                <a:gdLst>
                  <a:gd name="T0" fmla="*/ 72 w 108"/>
                  <a:gd name="T1" fmla="*/ 0 h 162"/>
                  <a:gd name="T2" fmla="*/ 108 w 108"/>
                  <a:gd name="T3" fmla="*/ 162 h 162"/>
                  <a:gd name="T4" fmla="*/ 0 w 108"/>
                  <a:gd name="T5" fmla="*/ 59 h 162"/>
                  <a:gd name="T6" fmla="*/ 72 w 108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8"/>
                  <a:gd name="T13" fmla="*/ 0 h 162"/>
                  <a:gd name="T14" fmla="*/ 108 w 108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8" h="162">
                    <a:moveTo>
                      <a:pt x="72" y="0"/>
                    </a:moveTo>
                    <a:lnTo>
                      <a:pt x="108" y="162"/>
                    </a:lnTo>
                    <a:lnTo>
                      <a:pt x="0" y="59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38" name="Freeform 307"/>
              <p:cNvSpPr>
                <a:spLocks/>
              </p:cNvSpPr>
              <p:nvPr/>
            </p:nvSpPr>
            <p:spPr bwMode="auto">
              <a:xfrm>
                <a:off x="2278" y="2698"/>
                <a:ext cx="47" cy="176"/>
              </a:xfrm>
              <a:custGeom>
                <a:avLst/>
                <a:gdLst>
                  <a:gd name="T0" fmla="*/ 42 w 47"/>
                  <a:gd name="T1" fmla="*/ 156 h 176"/>
                  <a:gd name="T2" fmla="*/ 35 w 47"/>
                  <a:gd name="T3" fmla="*/ 163 h 176"/>
                  <a:gd name="T4" fmla="*/ 0 w 47"/>
                  <a:gd name="T5" fmla="*/ 1 h 176"/>
                  <a:gd name="T6" fmla="*/ 8 w 47"/>
                  <a:gd name="T7" fmla="*/ 0 h 176"/>
                  <a:gd name="T8" fmla="*/ 44 w 47"/>
                  <a:gd name="T9" fmla="*/ 161 h 176"/>
                  <a:gd name="T10" fmla="*/ 37 w 47"/>
                  <a:gd name="T11" fmla="*/ 167 h 176"/>
                  <a:gd name="T12" fmla="*/ 44 w 47"/>
                  <a:gd name="T13" fmla="*/ 161 h 176"/>
                  <a:gd name="T14" fmla="*/ 47 w 47"/>
                  <a:gd name="T15" fmla="*/ 176 h 176"/>
                  <a:gd name="T16" fmla="*/ 37 w 47"/>
                  <a:gd name="T17" fmla="*/ 167 h 176"/>
                  <a:gd name="T18" fmla="*/ 42 w 47"/>
                  <a:gd name="T19" fmla="*/ 156 h 1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176"/>
                  <a:gd name="T32" fmla="*/ 47 w 47"/>
                  <a:gd name="T33" fmla="*/ 176 h 1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176">
                    <a:moveTo>
                      <a:pt x="42" y="156"/>
                    </a:moveTo>
                    <a:lnTo>
                      <a:pt x="35" y="163"/>
                    </a:lnTo>
                    <a:lnTo>
                      <a:pt x="0" y="1"/>
                    </a:lnTo>
                    <a:lnTo>
                      <a:pt x="8" y="0"/>
                    </a:lnTo>
                    <a:lnTo>
                      <a:pt x="44" y="161"/>
                    </a:lnTo>
                    <a:lnTo>
                      <a:pt x="37" y="167"/>
                    </a:lnTo>
                    <a:lnTo>
                      <a:pt x="44" y="161"/>
                    </a:lnTo>
                    <a:lnTo>
                      <a:pt x="47" y="176"/>
                    </a:lnTo>
                    <a:lnTo>
                      <a:pt x="37" y="167"/>
                    </a:lnTo>
                    <a:lnTo>
                      <a:pt x="42" y="156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39" name="Freeform 308"/>
              <p:cNvSpPr>
                <a:spLocks/>
              </p:cNvSpPr>
              <p:nvPr/>
            </p:nvSpPr>
            <p:spPr bwMode="auto">
              <a:xfrm>
                <a:off x="2201" y="2750"/>
                <a:ext cx="118" cy="114"/>
              </a:xfrm>
              <a:custGeom>
                <a:avLst/>
                <a:gdLst>
                  <a:gd name="T0" fmla="*/ 10 w 118"/>
                  <a:gd name="T1" fmla="*/ 10 h 114"/>
                  <a:gd name="T2" fmla="*/ 10 w 118"/>
                  <a:gd name="T3" fmla="*/ 0 h 114"/>
                  <a:gd name="T4" fmla="*/ 118 w 118"/>
                  <a:gd name="T5" fmla="*/ 104 h 114"/>
                  <a:gd name="T6" fmla="*/ 114 w 118"/>
                  <a:gd name="T7" fmla="*/ 114 h 114"/>
                  <a:gd name="T8" fmla="*/ 5 w 118"/>
                  <a:gd name="T9" fmla="*/ 8 h 114"/>
                  <a:gd name="T10" fmla="*/ 5 w 118"/>
                  <a:gd name="T11" fmla="*/ 0 h 114"/>
                  <a:gd name="T12" fmla="*/ 5 w 118"/>
                  <a:gd name="T13" fmla="*/ 8 h 114"/>
                  <a:gd name="T14" fmla="*/ 0 w 118"/>
                  <a:gd name="T15" fmla="*/ 3 h 114"/>
                  <a:gd name="T16" fmla="*/ 5 w 118"/>
                  <a:gd name="T17" fmla="*/ 0 h 114"/>
                  <a:gd name="T18" fmla="*/ 10 w 118"/>
                  <a:gd name="T19" fmla="*/ 10 h 11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8"/>
                  <a:gd name="T31" fmla="*/ 0 h 114"/>
                  <a:gd name="T32" fmla="*/ 118 w 118"/>
                  <a:gd name="T33" fmla="*/ 114 h 11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8" h="114">
                    <a:moveTo>
                      <a:pt x="10" y="10"/>
                    </a:moveTo>
                    <a:lnTo>
                      <a:pt x="10" y="0"/>
                    </a:lnTo>
                    <a:lnTo>
                      <a:pt x="118" y="104"/>
                    </a:lnTo>
                    <a:lnTo>
                      <a:pt x="114" y="114"/>
                    </a:lnTo>
                    <a:lnTo>
                      <a:pt x="5" y="8"/>
                    </a:lnTo>
                    <a:lnTo>
                      <a:pt x="5" y="0"/>
                    </a:lnTo>
                    <a:lnTo>
                      <a:pt x="5" y="8"/>
                    </a:lnTo>
                    <a:lnTo>
                      <a:pt x="0" y="3"/>
                    </a:lnTo>
                    <a:lnTo>
                      <a:pt x="5" y="0"/>
                    </a:lnTo>
                    <a:lnTo>
                      <a:pt x="10" y="10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40" name="Freeform 309"/>
              <p:cNvSpPr>
                <a:spLocks/>
              </p:cNvSpPr>
              <p:nvPr/>
            </p:nvSpPr>
            <p:spPr bwMode="auto">
              <a:xfrm>
                <a:off x="2205" y="2688"/>
                <a:ext cx="80" cy="75"/>
              </a:xfrm>
              <a:custGeom>
                <a:avLst/>
                <a:gdLst>
                  <a:gd name="T0" fmla="*/ 71 w 80"/>
                  <a:gd name="T1" fmla="*/ 10 h 75"/>
                  <a:gd name="T2" fmla="*/ 79 w 80"/>
                  <a:gd name="T3" fmla="*/ 16 h 75"/>
                  <a:gd name="T4" fmla="*/ 6 w 80"/>
                  <a:gd name="T5" fmla="*/ 75 h 75"/>
                  <a:gd name="T6" fmla="*/ 0 w 80"/>
                  <a:gd name="T7" fmla="*/ 64 h 75"/>
                  <a:gd name="T8" fmla="*/ 74 w 80"/>
                  <a:gd name="T9" fmla="*/ 4 h 75"/>
                  <a:gd name="T10" fmla="*/ 80 w 80"/>
                  <a:gd name="T11" fmla="*/ 8 h 75"/>
                  <a:gd name="T12" fmla="*/ 74 w 80"/>
                  <a:gd name="T13" fmla="*/ 4 h 75"/>
                  <a:gd name="T14" fmla="*/ 78 w 80"/>
                  <a:gd name="T15" fmla="*/ 0 h 75"/>
                  <a:gd name="T16" fmla="*/ 80 w 80"/>
                  <a:gd name="T17" fmla="*/ 8 h 75"/>
                  <a:gd name="T18" fmla="*/ 71 w 80"/>
                  <a:gd name="T19" fmla="*/ 10 h 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0"/>
                  <a:gd name="T31" fmla="*/ 0 h 75"/>
                  <a:gd name="T32" fmla="*/ 80 w 80"/>
                  <a:gd name="T33" fmla="*/ 75 h 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0" h="75">
                    <a:moveTo>
                      <a:pt x="71" y="10"/>
                    </a:moveTo>
                    <a:lnTo>
                      <a:pt x="79" y="16"/>
                    </a:lnTo>
                    <a:lnTo>
                      <a:pt x="6" y="75"/>
                    </a:lnTo>
                    <a:lnTo>
                      <a:pt x="0" y="64"/>
                    </a:lnTo>
                    <a:lnTo>
                      <a:pt x="74" y="4"/>
                    </a:lnTo>
                    <a:lnTo>
                      <a:pt x="80" y="8"/>
                    </a:lnTo>
                    <a:lnTo>
                      <a:pt x="74" y="4"/>
                    </a:lnTo>
                    <a:lnTo>
                      <a:pt x="78" y="0"/>
                    </a:lnTo>
                    <a:lnTo>
                      <a:pt x="80" y="8"/>
                    </a:lnTo>
                    <a:lnTo>
                      <a:pt x="71" y="10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41" name="Freeform 310"/>
              <p:cNvSpPr>
                <a:spLocks/>
              </p:cNvSpPr>
              <p:nvPr/>
            </p:nvSpPr>
            <p:spPr bwMode="auto">
              <a:xfrm>
                <a:off x="2280" y="2806"/>
                <a:ext cx="27" cy="35"/>
              </a:xfrm>
              <a:custGeom>
                <a:avLst/>
                <a:gdLst>
                  <a:gd name="T0" fmla="*/ 19 w 27"/>
                  <a:gd name="T1" fmla="*/ 0 h 35"/>
                  <a:gd name="T2" fmla="*/ 27 w 27"/>
                  <a:gd name="T3" fmla="*/ 16 h 35"/>
                  <a:gd name="T4" fmla="*/ 8 w 27"/>
                  <a:gd name="T5" fmla="*/ 35 h 35"/>
                  <a:gd name="T6" fmla="*/ 0 w 27"/>
                  <a:gd name="T7" fmla="*/ 18 h 35"/>
                  <a:gd name="T8" fmla="*/ 19 w 27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35"/>
                  <a:gd name="T17" fmla="*/ 27 w 27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35">
                    <a:moveTo>
                      <a:pt x="19" y="0"/>
                    </a:moveTo>
                    <a:lnTo>
                      <a:pt x="27" y="16"/>
                    </a:lnTo>
                    <a:lnTo>
                      <a:pt x="8" y="35"/>
                    </a:lnTo>
                    <a:lnTo>
                      <a:pt x="0" y="18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42" name="Freeform 311"/>
              <p:cNvSpPr>
                <a:spLocks/>
              </p:cNvSpPr>
              <p:nvPr/>
            </p:nvSpPr>
            <p:spPr bwMode="auto">
              <a:xfrm>
                <a:off x="2177" y="2593"/>
                <a:ext cx="120" cy="227"/>
              </a:xfrm>
              <a:custGeom>
                <a:avLst/>
                <a:gdLst>
                  <a:gd name="T0" fmla="*/ 26 w 120"/>
                  <a:gd name="T1" fmla="*/ 0 h 227"/>
                  <a:gd name="T2" fmla="*/ 26 w 120"/>
                  <a:gd name="T3" fmla="*/ 0 h 227"/>
                  <a:gd name="T4" fmla="*/ 35 w 120"/>
                  <a:gd name="T5" fmla="*/ 27 h 227"/>
                  <a:gd name="T6" fmla="*/ 45 w 120"/>
                  <a:gd name="T7" fmla="*/ 55 h 227"/>
                  <a:gd name="T8" fmla="*/ 57 w 120"/>
                  <a:gd name="T9" fmla="*/ 82 h 227"/>
                  <a:gd name="T10" fmla="*/ 67 w 120"/>
                  <a:gd name="T11" fmla="*/ 109 h 227"/>
                  <a:gd name="T12" fmla="*/ 80 w 120"/>
                  <a:gd name="T13" fmla="*/ 135 h 227"/>
                  <a:gd name="T14" fmla="*/ 92 w 120"/>
                  <a:gd name="T15" fmla="*/ 160 h 227"/>
                  <a:gd name="T16" fmla="*/ 106 w 120"/>
                  <a:gd name="T17" fmla="*/ 183 h 227"/>
                  <a:gd name="T18" fmla="*/ 120 w 120"/>
                  <a:gd name="T19" fmla="*/ 208 h 227"/>
                  <a:gd name="T20" fmla="*/ 98 w 120"/>
                  <a:gd name="T21" fmla="*/ 227 h 227"/>
                  <a:gd name="T22" fmla="*/ 85 w 120"/>
                  <a:gd name="T23" fmla="*/ 203 h 227"/>
                  <a:gd name="T24" fmla="*/ 70 w 120"/>
                  <a:gd name="T25" fmla="*/ 176 h 227"/>
                  <a:gd name="T26" fmla="*/ 57 w 120"/>
                  <a:gd name="T27" fmla="*/ 149 h 227"/>
                  <a:gd name="T28" fmla="*/ 44 w 120"/>
                  <a:gd name="T29" fmla="*/ 121 h 227"/>
                  <a:gd name="T30" fmla="*/ 31 w 120"/>
                  <a:gd name="T31" fmla="*/ 94 h 227"/>
                  <a:gd name="T32" fmla="*/ 20 w 120"/>
                  <a:gd name="T33" fmla="*/ 67 h 227"/>
                  <a:gd name="T34" fmla="*/ 11 w 120"/>
                  <a:gd name="T35" fmla="*/ 37 h 227"/>
                  <a:gd name="T36" fmla="*/ 0 w 120"/>
                  <a:gd name="T37" fmla="*/ 8 h 227"/>
                  <a:gd name="T38" fmla="*/ 26 w 120"/>
                  <a:gd name="T39" fmla="*/ 0 h 22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0"/>
                  <a:gd name="T61" fmla="*/ 0 h 227"/>
                  <a:gd name="T62" fmla="*/ 120 w 120"/>
                  <a:gd name="T63" fmla="*/ 227 h 22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0" h="227">
                    <a:moveTo>
                      <a:pt x="26" y="0"/>
                    </a:moveTo>
                    <a:lnTo>
                      <a:pt x="26" y="0"/>
                    </a:lnTo>
                    <a:lnTo>
                      <a:pt x="35" y="27"/>
                    </a:lnTo>
                    <a:lnTo>
                      <a:pt x="45" y="55"/>
                    </a:lnTo>
                    <a:lnTo>
                      <a:pt x="57" y="82"/>
                    </a:lnTo>
                    <a:lnTo>
                      <a:pt x="67" y="109"/>
                    </a:lnTo>
                    <a:lnTo>
                      <a:pt x="80" y="135"/>
                    </a:lnTo>
                    <a:lnTo>
                      <a:pt x="92" y="160"/>
                    </a:lnTo>
                    <a:lnTo>
                      <a:pt x="106" y="183"/>
                    </a:lnTo>
                    <a:lnTo>
                      <a:pt x="120" y="208"/>
                    </a:lnTo>
                    <a:lnTo>
                      <a:pt x="98" y="227"/>
                    </a:lnTo>
                    <a:lnTo>
                      <a:pt x="85" y="203"/>
                    </a:lnTo>
                    <a:lnTo>
                      <a:pt x="70" y="176"/>
                    </a:lnTo>
                    <a:lnTo>
                      <a:pt x="57" y="149"/>
                    </a:lnTo>
                    <a:lnTo>
                      <a:pt x="44" y="121"/>
                    </a:lnTo>
                    <a:lnTo>
                      <a:pt x="31" y="94"/>
                    </a:lnTo>
                    <a:lnTo>
                      <a:pt x="20" y="67"/>
                    </a:lnTo>
                    <a:lnTo>
                      <a:pt x="11" y="37"/>
                    </a:lnTo>
                    <a:lnTo>
                      <a:pt x="0" y="8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43" name="Freeform 312"/>
              <p:cNvSpPr>
                <a:spLocks/>
              </p:cNvSpPr>
              <p:nvPr/>
            </p:nvSpPr>
            <p:spPr bwMode="auto">
              <a:xfrm>
                <a:off x="2127" y="2397"/>
                <a:ext cx="69" cy="204"/>
              </a:xfrm>
              <a:custGeom>
                <a:avLst/>
                <a:gdLst>
                  <a:gd name="T0" fmla="*/ 27 w 69"/>
                  <a:gd name="T1" fmla="*/ 1 h 204"/>
                  <a:gd name="T2" fmla="*/ 30 w 69"/>
                  <a:gd name="T3" fmla="*/ 26 h 204"/>
                  <a:gd name="T4" fmla="*/ 34 w 69"/>
                  <a:gd name="T5" fmla="*/ 51 h 204"/>
                  <a:gd name="T6" fmla="*/ 37 w 69"/>
                  <a:gd name="T7" fmla="*/ 75 h 204"/>
                  <a:gd name="T8" fmla="*/ 43 w 69"/>
                  <a:gd name="T9" fmla="*/ 98 h 204"/>
                  <a:gd name="T10" fmla="*/ 49 w 69"/>
                  <a:gd name="T11" fmla="*/ 122 h 204"/>
                  <a:gd name="T12" fmla="*/ 54 w 69"/>
                  <a:gd name="T13" fmla="*/ 147 h 204"/>
                  <a:gd name="T14" fmla="*/ 63 w 69"/>
                  <a:gd name="T15" fmla="*/ 171 h 204"/>
                  <a:gd name="T16" fmla="*/ 69 w 69"/>
                  <a:gd name="T17" fmla="*/ 196 h 204"/>
                  <a:gd name="T18" fmla="*/ 45 w 69"/>
                  <a:gd name="T19" fmla="*/ 204 h 204"/>
                  <a:gd name="T20" fmla="*/ 36 w 69"/>
                  <a:gd name="T21" fmla="*/ 179 h 204"/>
                  <a:gd name="T22" fmla="*/ 30 w 69"/>
                  <a:gd name="T23" fmla="*/ 153 h 204"/>
                  <a:gd name="T24" fmla="*/ 22 w 69"/>
                  <a:gd name="T25" fmla="*/ 127 h 204"/>
                  <a:gd name="T26" fmla="*/ 16 w 69"/>
                  <a:gd name="T27" fmla="*/ 102 h 204"/>
                  <a:gd name="T28" fmla="*/ 11 w 69"/>
                  <a:gd name="T29" fmla="*/ 76 h 204"/>
                  <a:gd name="T30" fmla="*/ 6 w 69"/>
                  <a:gd name="T31" fmla="*/ 51 h 204"/>
                  <a:gd name="T32" fmla="*/ 3 w 69"/>
                  <a:gd name="T33" fmla="*/ 25 h 204"/>
                  <a:gd name="T34" fmla="*/ 0 w 69"/>
                  <a:gd name="T35" fmla="*/ 0 h 204"/>
                  <a:gd name="T36" fmla="*/ 27 w 69"/>
                  <a:gd name="T37" fmla="*/ 1 h 2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9"/>
                  <a:gd name="T58" fmla="*/ 0 h 204"/>
                  <a:gd name="T59" fmla="*/ 69 w 69"/>
                  <a:gd name="T60" fmla="*/ 204 h 20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9" h="204">
                    <a:moveTo>
                      <a:pt x="27" y="1"/>
                    </a:moveTo>
                    <a:lnTo>
                      <a:pt x="30" y="26"/>
                    </a:lnTo>
                    <a:lnTo>
                      <a:pt x="34" y="51"/>
                    </a:lnTo>
                    <a:lnTo>
                      <a:pt x="37" y="75"/>
                    </a:lnTo>
                    <a:lnTo>
                      <a:pt x="43" y="98"/>
                    </a:lnTo>
                    <a:lnTo>
                      <a:pt x="49" y="122"/>
                    </a:lnTo>
                    <a:lnTo>
                      <a:pt x="54" y="147"/>
                    </a:lnTo>
                    <a:lnTo>
                      <a:pt x="63" y="171"/>
                    </a:lnTo>
                    <a:lnTo>
                      <a:pt x="69" y="196"/>
                    </a:lnTo>
                    <a:lnTo>
                      <a:pt x="45" y="204"/>
                    </a:lnTo>
                    <a:lnTo>
                      <a:pt x="36" y="179"/>
                    </a:lnTo>
                    <a:lnTo>
                      <a:pt x="30" y="153"/>
                    </a:lnTo>
                    <a:lnTo>
                      <a:pt x="22" y="127"/>
                    </a:lnTo>
                    <a:lnTo>
                      <a:pt x="16" y="102"/>
                    </a:lnTo>
                    <a:lnTo>
                      <a:pt x="11" y="76"/>
                    </a:lnTo>
                    <a:lnTo>
                      <a:pt x="6" y="51"/>
                    </a:lnTo>
                    <a:lnTo>
                      <a:pt x="3" y="25"/>
                    </a:lnTo>
                    <a:lnTo>
                      <a:pt x="0" y="0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44" name="Freeform 313"/>
              <p:cNvSpPr>
                <a:spLocks/>
              </p:cNvSpPr>
              <p:nvPr/>
            </p:nvSpPr>
            <p:spPr bwMode="auto">
              <a:xfrm>
                <a:off x="2124" y="2377"/>
                <a:ext cx="27" cy="19"/>
              </a:xfrm>
              <a:custGeom>
                <a:avLst/>
                <a:gdLst>
                  <a:gd name="T0" fmla="*/ 2 w 27"/>
                  <a:gd name="T1" fmla="*/ 18 h 19"/>
                  <a:gd name="T2" fmla="*/ 0 w 27"/>
                  <a:gd name="T3" fmla="*/ 0 h 19"/>
                  <a:gd name="T4" fmla="*/ 25 w 27"/>
                  <a:gd name="T5" fmla="*/ 1 h 19"/>
                  <a:gd name="T6" fmla="*/ 27 w 27"/>
                  <a:gd name="T7" fmla="*/ 19 h 19"/>
                  <a:gd name="T8" fmla="*/ 2 w 27"/>
                  <a:gd name="T9" fmla="*/ 1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19"/>
                  <a:gd name="T17" fmla="*/ 27 w 27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19">
                    <a:moveTo>
                      <a:pt x="2" y="18"/>
                    </a:moveTo>
                    <a:lnTo>
                      <a:pt x="0" y="0"/>
                    </a:lnTo>
                    <a:lnTo>
                      <a:pt x="25" y="1"/>
                    </a:lnTo>
                    <a:lnTo>
                      <a:pt x="27" y="19"/>
                    </a:lnTo>
                    <a:lnTo>
                      <a:pt x="2" y="18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45" name="Freeform 314"/>
              <p:cNvSpPr>
                <a:spLocks/>
              </p:cNvSpPr>
              <p:nvPr/>
            </p:nvSpPr>
            <p:spPr bwMode="auto">
              <a:xfrm>
                <a:off x="2226" y="2727"/>
                <a:ext cx="114" cy="162"/>
              </a:xfrm>
              <a:custGeom>
                <a:avLst/>
                <a:gdLst>
                  <a:gd name="T0" fmla="*/ 72 w 114"/>
                  <a:gd name="T1" fmla="*/ 0 h 162"/>
                  <a:gd name="T2" fmla="*/ 114 w 114"/>
                  <a:gd name="T3" fmla="*/ 162 h 162"/>
                  <a:gd name="T4" fmla="*/ 0 w 114"/>
                  <a:gd name="T5" fmla="*/ 64 h 162"/>
                  <a:gd name="T6" fmla="*/ 72 w 114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4"/>
                  <a:gd name="T13" fmla="*/ 0 h 162"/>
                  <a:gd name="T14" fmla="*/ 114 w 114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4" h="162">
                    <a:moveTo>
                      <a:pt x="72" y="0"/>
                    </a:moveTo>
                    <a:lnTo>
                      <a:pt x="114" y="162"/>
                    </a:lnTo>
                    <a:lnTo>
                      <a:pt x="0" y="64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46" name="Freeform 315"/>
              <p:cNvSpPr>
                <a:spLocks/>
              </p:cNvSpPr>
              <p:nvPr/>
            </p:nvSpPr>
            <p:spPr bwMode="auto">
              <a:xfrm>
                <a:off x="2290" y="2727"/>
                <a:ext cx="62" cy="185"/>
              </a:xfrm>
              <a:custGeom>
                <a:avLst/>
                <a:gdLst>
                  <a:gd name="T0" fmla="*/ 52 w 62"/>
                  <a:gd name="T1" fmla="*/ 155 h 185"/>
                  <a:gd name="T2" fmla="*/ 43 w 62"/>
                  <a:gd name="T3" fmla="*/ 164 h 185"/>
                  <a:gd name="T4" fmla="*/ 0 w 62"/>
                  <a:gd name="T5" fmla="*/ 3 h 185"/>
                  <a:gd name="T6" fmla="*/ 14 w 62"/>
                  <a:gd name="T7" fmla="*/ 0 h 185"/>
                  <a:gd name="T8" fmla="*/ 57 w 62"/>
                  <a:gd name="T9" fmla="*/ 161 h 185"/>
                  <a:gd name="T10" fmla="*/ 46 w 62"/>
                  <a:gd name="T11" fmla="*/ 170 h 185"/>
                  <a:gd name="T12" fmla="*/ 57 w 62"/>
                  <a:gd name="T13" fmla="*/ 161 h 185"/>
                  <a:gd name="T14" fmla="*/ 62 w 62"/>
                  <a:gd name="T15" fmla="*/ 185 h 185"/>
                  <a:gd name="T16" fmla="*/ 46 w 62"/>
                  <a:gd name="T17" fmla="*/ 170 h 185"/>
                  <a:gd name="T18" fmla="*/ 52 w 62"/>
                  <a:gd name="T19" fmla="*/ 155 h 1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2"/>
                  <a:gd name="T31" fmla="*/ 0 h 185"/>
                  <a:gd name="T32" fmla="*/ 62 w 62"/>
                  <a:gd name="T33" fmla="*/ 185 h 1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2" h="185">
                    <a:moveTo>
                      <a:pt x="52" y="155"/>
                    </a:moveTo>
                    <a:lnTo>
                      <a:pt x="43" y="164"/>
                    </a:lnTo>
                    <a:lnTo>
                      <a:pt x="0" y="3"/>
                    </a:lnTo>
                    <a:lnTo>
                      <a:pt x="14" y="0"/>
                    </a:lnTo>
                    <a:lnTo>
                      <a:pt x="57" y="161"/>
                    </a:lnTo>
                    <a:lnTo>
                      <a:pt x="46" y="170"/>
                    </a:lnTo>
                    <a:lnTo>
                      <a:pt x="57" y="161"/>
                    </a:lnTo>
                    <a:lnTo>
                      <a:pt x="62" y="185"/>
                    </a:lnTo>
                    <a:lnTo>
                      <a:pt x="46" y="170"/>
                    </a:lnTo>
                    <a:lnTo>
                      <a:pt x="52" y="15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47" name="Freeform 316"/>
              <p:cNvSpPr>
                <a:spLocks/>
              </p:cNvSpPr>
              <p:nvPr/>
            </p:nvSpPr>
            <p:spPr bwMode="auto">
              <a:xfrm>
                <a:off x="2215" y="2782"/>
                <a:ext cx="127" cy="113"/>
              </a:xfrm>
              <a:custGeom>
                <a:avLst/>
                <a:gdLst>
                  <a:gd name="T0" fmla="*/ 18 w 127"/>
                  <a:gd name="T1" fmla="*/ 18 h 113"/>
                  <a:gd name="T2" fmla="*/ 16 w 127"/>
                  <a:gd name="T3" fmla="*/ 1 h 113"/>
                  <a:gd name="T4" fmla="*/ 127 w 127"/>
                  <a:gd name="T5" fmla="*/ 97 h 113"/>
                  <a:gd name="T6" fmla="*/ 120 w 127"/>
                  <a:gd name="T7" fmla="*/ 113 h 113"/>
                  <a:gd name="T8" fmla="*/ 9 w 127"/>
                  <a:gd name="T9" fmla="*/ 17 h 113"/>
                  <a:gd name="T10" fmla="*/ 7 w 127"/>
                  <a:gd name="T11" fmla="*/ 0 h 113"/>
                  <a:gd name="T12" fmla="*/ 9 w 127"/>
                  <a:gd name="T13" fmla="*/ 17 h 113"/>
                  <a:gd name="T14" fmla="*/ 0 w 127"/>
                  <a:gd name="T15" fmla="*/ 7 h 113"/>
                  <a:gd name="T16" fmla="*/ 7 w 127"/>
                  <a:gd name="T17" fmla="*/ 0 h 113"/>
                  <a:gd name="T18" fmla="*/ 18 w 127"/>
                  <a:gd name="T19" fmla="*/ 18 h 11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"/>
                  <a:gd name="T31" fmla="*/ 0 h 113"/>
                  <a:gd name="T32" fmla="*/ 127 w 127"/>
                  <a:gd name="T33" fmla="*/ 113 h 11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" h="113">
                    <a:moveTo>
                      <a:pt x="18" y="18"/>
                    </a:moveTo>
                    <a:lnTo>
                      <a:pt x="16" y="1"/>
                    </a:lnTo>
                    <a:lnTo>
                      <a:pt x="127" y="97"/>
                    </a:lnTo>
                    <a:lnTo>
                      <a:pt x="120" y="113"/>
                    </a:lnTo>
                    <a:lnTo>
                      <a:pt x="9" y="17"/>
                    </a:lnTo>
                    <a:lnTo>
                      <a:pt x="7" y="0"/>
                    </a:lnTo>
                    <a:lnTo>
                      <a:pt x="9" y="17"/>
                    </a:lnTo>
                    <a:lnTo>
                      <a:pt x="0" y="7"/>
                    </a:lnTo>
                    <a:lnTo>
                      <a:pt x="7" y="0"/>
                    </a:lnTo>
                    <a:lnTo>
                      <a:pt x="18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48" name="Freeform 317"/>
              <p:cNvSpPr>
                <a:spLocks/>
              </p:cNvSpPr>
              <p:nvPr/>
            </p:nvSpPr>
            <p:spPr bwMode="auto">
              <a:xfrm>
                <a:off x="2220" y="2709"/>
                <a:ext cx="82" cy="90"/>
              </a:xfrm>
              <a:custGeom>
                <a:avLst/>
                <a:gdLst>
                  <a:gd name="T0" fmla="*/ 67 w 82"/>
                  <a:gd name="T1" fmla="*/ 18 h 90"/>
                  <a:gd name="T2" fmla="*/ 80 w 82"/>
                  <a:gd name="T3" fmla="*/ 25 h 90"/>
                  <a:gd name="T4" fmla="*/ 11 w 82"/>
                  <a:gd name="T5" fmla="*/ 90 h 90"/>
                  <a:gd name="T6" fmla="*/ 0 w 82"/>
                  <a:gd name="T7" fmla="*/ 72 h 90"/>
                  <a:gd name="T8" fmla="*/ 69 w 82"/>
                  <a:gd name="T9" fmla="*/ 9 h 90"/>
                  <a:gd name="T10" fmla="*/ 82 w 82"/>
                  <a:gd name="T11" fmla="*/ 15 h 90"/>
                  <a:gd name="T12" fmla="*/ 69 w 82"/>
                  <a:gd name="T13" fmla="*/ 9 h 90"/>
                  <a:gd name="T14" fmla="*/ 78 w 82"/>
                  <a:gd name="T15" fmla="*/ 0 h 90"/>
                  <a:gd name="T16" fmla="*/ 82 w 82"/>
                  <a:gd name="T17" fmla="*/ 15 h 90"/>
                  <a:gd name="T18" fmla="*/ 67 w 82"/>
                  <a:gd name="T19" fmla="*/ 18 h 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2"/>
                  <a:gd name="T31" fmla="*/ 0 h 90"/>
                  <a:gd name="T32" fmla="*/ 82 w 82"/>
                  <a:gd name="T33" fmla="*/ 90 h 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2" h="90">
                    <a:moveTo>
                      <a:pt x="67" y="18"/>
                    </a:moveTo>
                    <a:lnTo>
                      <a:pt x="80" y="25"/>
                    </a:lnTo>
                    <a:lnTo>
                      <a:pt x="11" y="90"/>
                    </a:lnTo>
                    <a:lnTo>
                      <a:pt x="0" y="72"/>
                    </a:lnTo>
                    <a:lnTo>
                      <a:pt x="69" y="9"/>
                    </a:lnTo>
                    <a:lnTo>
                      <a:pt x="82" y="15"/>
                    </a:lnTo>
                    <a:lnTo>
                      <a:pt x="69" y="9"/>
                    </a:lnTo>
                    <a:lnTo>
                      <a:pt x="78" y="0"/>
                    </a:lnTo>
                    <a:lnTo>
                      <a:pt x="82" y="15"/>
                    </a:lnTo>
                    <a:lnTo>
                      <a:pt x="67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49" name="Freeform 318"/>
              <p:cNvSpPr>
                <a:spLocks/>
              </p:cNvSpPr>
              <p:nvPr/>
            </p:nvSpPr>
            <p:spPr bwMode="auto">
              <a:xfrm>
                <a:off x="2290" y="2817"/>
                <a:ext cx="37" cy="46"/>
              </a:xfrm>
              <a:custGeom>
                <a:avLst/>
                <a:gdLst>
                  <a:gd name="T0" fmla="*/ 24 w 37"/>
                  <a:gd name="T1" fmla="*/ 0 h 46"/>
                  <a:gd name="T2" fmla="*/ 37 w 37"/>
                  <a:gd name="T3" fmla="*/ 19 h 46"/>
                  <a:gd name="T4" fmla="*/ 13 w 37"/>
                  <a:gd name="T5" fmla="*/ 46 h 46"/>
                  <a:gd name="T6" fmla="*/ 0 w 37"/>
                  <a:gd name="T7" fmla="*/ 27 h 46"/>
                  <a:gd name="T8" fmla="*/ 24 w 37"/>
                  <a:gd name="T9" fmla="*/ 0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46"/>
                  <a:gd name="T17" fmla="*/ 37 w 37"/>
                  <a:gd name="T18" fmla="*/ 46 h 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46">
                    <a:moveTo>
                      <a:pt x="24" y="0"/>
                    </a:moveTo>
                    <a:lnTo>
                      <a:pt x="37" y="19"/>
                    </a:lnTo>
                    <a:lnTo>
                      <a:pt x="13" y="46"/>
                    </a:lnTo>
                    <a:lnTo>
                      <a:pt x="0" y="2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50" name="Freeform 319"/>
              <p:cNvSpPr>
                <a:spLocks/>
              </p:cNvSpPr>
              <p:nvPr/>
            </p:nvSpPr>
            <p:spPr bwMode="auto">
              <a:xfrm>
                <a:off x="2186" y="2627"/>
                <a:ext cx="125" cy="216"/>
              </a:xfrm>
              <a:custGeom>
                <a:avLst/>
                <a:gdLst>
                  <a:gd name="T0" fmla="*/ 31 w 125"/>
                  <a:gd name="T1" fmla="*/ 0 h 216"/>
                  <a:gd name="T2" fmla="*/ 31 w 125"/>
                  <a:gd name="T3" fmla="*/ 0 h 216"/>
                  <a:gd name="T4" fmla="*/ 40 w 125"/>
                  <a:gd name="T5" fmla="*/ 28 h 216"/>
                  <a:gd name="T6" fmla="*/ 51 w 125"/>
                  <a:gd name="T7" fmla="*/ 52 h 216"/>
                  <a:gd name="T8" fmla="*/ 62 w 125"/>
                  <a:gd name="T9" fmla="*/ 77 h 216"/>
                  <a:gd name="T10" fmla="*/ 72 w 125"/>
                  <a:gd name="T11" fmla="*/ 101 h 216"/>
                  <a:gd name="T12" fmla="*/ 84 w 125"/>
                  <a:gd name="T13" fmla="*/ 125 h 216"/>
                  <a:gd name="T14" fmla="*/ 97 w 125"/>
                  <a:gd name="T15" fmla="*/ 146 h 216"/>
                  <a:gd name="T16" fmla="*/ 110 w 125"/>
                  <a:gd name="T17" fmla="*/ 169 h 216"/>
                  <a:gd name="T18" fmla="*/ 125 w 125"/>
                  <a:gd name="T19" fmla="*/ 191 h 216"/>
                  <a:gd name="T20" fmla="*/ 101 w 125"/>
                  <a:gd name="T21" fmla="*/ 216 h 216"/>
                  <a:gd name="T22" fmla="*/ 85 w 125"/>
                  <a:gd name="T23" fmla="*/ 191 h 216"/>
                  <a:gd name="T24" fmla="*/ 70 w 125"/>
                  <a:gd name="T25" fmla="*/ 168 h 216"/>
                  <a:gd name="T26" fmla="*/ 57 w 125"/>
                  <a:gd name="T27" fmla="*/ 144 h 216"/>
                  <a:gd name="T28" fmla="*/ 45 w 125"/>
                  <a:gd name="T29" fmla="*/ 118 h 216"/>
                  <a:gd name="T30" fmla="*/ 33 w 125"/>
                  <a:gd name="T31" fmla="*/ 93 h 216"/>
                  <a:gd name="T32" fmla="*/ 21 w 125"/>
                  <a:gd name="T33" fmla="*/ 67 h 216"/>
                  <a:gd name="T34" fmla="*/ 11 w 125"/>
                  <a:gd name="T35" fmla="*/ 39 h 216"/>
                  <a:gd name="T36" fmla="*/ 0 w 125"/>
                  <a:gd name="T37" fmla="*/ 11 h 216"/>
                  <a:gd name="T38" fmla="*/ 31 w 125"/>
                  <a:gd name="T39" fmla="*/ 0 h 21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5"/>
                  <a:gd name="T61" fmla="*/ 0 h 216"/>
                  <a:gd name="T62" fmla="*/ 125 w 125"/>
                  <a:gd name="T63" fmla="*/ 216 h 21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5" h="216">
                    <a:moveTo>
                      <a:pt x="31" y="0"/>
                    </a:moveTo>
                    <a:lnTo>
                      <a:pt x="31" y="0"/>
                    </a:lnTo>
                    <a:lnTo>
                      <a:pt x="40" y="28"/>
                    </a:lnTo>
                    <a:lnTo>
                      <a:pt x="51" y="52"/>
                    </a:lnTo>
                    <a:lnTo>
                      <a:pt x="62" y="77"/>
                    </a:lnTo>
                    <a:lnTo>
                      <a:pt x="72" y="101"/>
                    </a:lnTo>
                    <a:lnTo>
                      <a:pt x="84" y="125"/>
                    </a:lnTo>
                    <a:lnTo>
                      <a:pt x="97" y="146"/>
                    </a:lnTo>
                    <a:lnTo>
                      <a:pt x="110" y="169"/>
                    </a:lnTo>
                    <a:lnTo>
                      <a:pt x="125" y="191"/>
                    </a:lnTo>
                    <a:lnTo>
                      <a:pt x="101" y="216"/>
                    </a:lnTo>
                    <a:lnTo>
                      <a:pt x="85" y="191"/>
                    </a:lnTo>
                    <a:lnTo>
                      <a:pt x="70" y="168"/>
                    </a:lnTo>
                    <a:lnTo>
                      <a:pt x="57" y="144"/>
                    </a:lnTo>
                    <a:lnTo>
                      <a:pt x="45" y="118"/>
                    </a:lnTo>
                    <a:lnTo>
                      <a:pt x="33" y="93"/>
                    </a:lnTo>
                    <a:lnTo>
                      <a:pt x="21" y="67"/>
                    </a:lnTo>
                    <a:lnTo>
                      <a:pt x="11" y="39"/>
                    </a:lnTo>
                    <a:lnTo>
                      <a:pt x="0" y="11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51" name="Freeform 320"/>
              <p:cNvSpPr>
                <a:spLocks/>
              </p:cNvSpPr>
              <p:nvPr/>
            </p:nvSpPr>
            <p:spPr bwMode="auto">
              <a:xfrm>
                <a:off x="2130" y="2430"/>
                <a:ext cx="83" cy="205"/>
              </a:xfrm>
              <a:custGeom>
                <a:avLst/>
                <a:gdLst>
                  <a:gd name="T0" fmla="*/ 33 w 83"/>
                  <a:gd name="T1" fmla="*/ 0 h 205"/>
                  <a:gd name="T2" fmla="*/ 36 w 83"/>
                  <a:gd name="T3" fmla="*/ 25 h 205"/>
                  <a:gd name="T4" fmla="*/ 41 w 83"/>
                  <a:gd name="T5" fmla="*/ 49 h 205"/>
                  <a:gd name="T6" fmla="*/ 47 w 83"/>
                  <a:gd name="T7" fmla="*/ 73 h 205"/>
                  <a:gd name="T8" fmla="*/ 52 w 83"/>
                  <a:gd name="T9" fmla="*/ 97 h 205"/>
                  <a:gd name="T10" fmla="*/ 59 w 83"/>
                  <a:gd name="T11" fmla="*/ 122 h 205"/>
                  <a:gd name="T12" fmla="*/ 66 w 83"/>
                  <a:gd name="T13" fmla="*/ 146 h 205"/>
                  <a:gd name="T14" fmla="*/ 75 w 83"/>
                  <a:gd name="T15" fmla="*/ 170 h 205"/>
                  <a:gd name="T16" fmla="*/ 83 w 83"/>
                  <a:gd name="T17" fmla="*/ 195 h 205"/>
                  <a:gd name="T18" fmla="*/ 54 w 83"/>
                  <a:gd name="T19" fmla="*/ 205 h 205"/>
                  <a:gd name="T20" fmla="*/ 45 w 83"/>
                  <a:gd name="T21" fmla="*/ 181 h 205"/>
                  <a:gd name="T22" fmla="*/ 35 w 83"/>
                  <a:gd name="T23" fmla="*/ 155 h 205"/>
                  <a:gd name="T24" fmla="*/ 29 w 83"/>
                  <a:gd name="T25" fmla="*/ 130 h 205"/>
                  <a:gd name="T26" fmla="*/ 21 w 83"/>
                  <a:gd name="T27" fmla="*/ 103 h 205"/>
                  <a:gd name="T28" fmla="*/ 15 w 83"/>
                  <a:gd name="T29" fmla="*/ 78 h 205"/>
                  <a:gd name="T30" fmla="*/ 9 w 83"/>
                  <a:gd name="T31" fmla="*/ 53 h 205"/>
                  <a:gd name="T32" fmla="*/ 4 w 83"/>
                  <a:gd name="T33" fmla="*/ 27 h 205"/>
                  <a:gd name="T34" fmla="*/ 0 w 83"/>
                  <a:gd name="T35" fmla="*/ 1 h 205"/>
                  <a:gd name="T36" fmla="*/ 33 w 83"/>
                  <a:gd name="T37" fmla="*/ 0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3"/>
                  <a:gd name="T58" fmla="*/ 0 h 205"/>
                  <a:gd name="T59" fmla="*/ 83 w 83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3" h="205">
                    <a:moveTo>
                      <a:pt x="33" y="0"/>
                    </a:moveTo>
                    <a:lnTo>
                      <a:pt x="36" y="25"/>
                    </a:lnTo>
                    <a:lnTo>
                      <a:pt x="41" y="49"/>
                    </a:lnTo>
                    <a:lnTo>
                      <a:pt x="47" y="73"/>
                    </a:lnTo>
                    <a:lnTo>
                      <a:pt x="52" y="97"/>
                    </a:lnTo>
                    <a:lnTo>
                      <a:pt x="59" y="122"/>
                    </a:lnTo>
                    <a:lnTo>
                      <a:pt x="66" y="146"/>
                    </a:lnTo>
                    <a:lnTo>
                      <a:pt x="75" y="170"/>
                    </a:lnTo>
                    <a:lnTo>
                      <a:pt x="83" y="195"/>
                    </a:lnTo>
                    <a:lnTo>
                      <a:pt x="54" y="205"/>
                    </a:lnTo>
                    <a:lnTo>
                      <a:pt x="45" y="181"/>
                    </a:lnTo>
                    <a:lnTo>
                      <a:pt x="35" y="155"/>
                    </a:lnTo>
                    <a:lnTo>
                      <a:pt x="29" y="130"/>
                    </a:lnTo>
                    <a:lnTo>
                      <a:pt x="21" y="103"/>
                    </a:lnTo>
                    <a:lnTo>
                      <a:pt x="15" y="78"/>
                    </a:lnTo>
                    <a:lnTo>
                      <a:pt x="9" y="53"/>
                    </a:lnTo>
                    <a:lnTo>
                      <a:pt x="4" y="27"/>
                    </a:lnTo>
                    <a:lnTo>
                      <a:pt x="0" y="1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52" name="Freeform 321"/>
              <p:cNvSpPr>
                <a:spLocks/>
              </p:cNvSpPr>
              <p:nvPr/>
            </p:nvSpPr>
            <p:spPr bwMode="auto">
              <a:xfrm>
                <a:off x="2125" y="2409"/>
                <a:ext cx="36" cy="23"/>
              </a:xfrm>
              <a:custGeom>
                <a:avLst/>
                <a:gdLst>
                  <a:gd name="T0" fmla="*/ 3 w 36"/>
                  <a:gd name="T1" fmla="*/ 23 h 23"/>
                  <a:gd name="T2" fmla="*/ 0 w 36"/>
                  <a:gd name="T3" fmla="*/ 0 h 23"/>
                  <a:gd name="T4" fmla="*/ 33 w 36"/>
                  <a:gd name="T5" fmla="*/ 0 h 23"/>
                  <a:gd name="T6" fmla="*/ 36 w 36"/>
                  <a:gd name="T7" fmla="*/ 23 h 23"/>
                  <a:gd name="T8" fmla="*/ 3 w 36"/>
                  <a:gd name="T9" fmla="*/ 23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23"/>
                  <a:gd name="T17" fmla="*/ 36 w 36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23">
                    <a:moveTo>
                      <a:pt x="3" y="23"/>
                    </a:moveTo>
                    <a:lnTo>
                      <a:pt x="0" y="0"/>
                    </a:lnTo>
                    <a:lnTo>
                      <a:pt x="33" y="0"/>
                    </a:lnTo>
                    <a:lnTo>
                      <a:pt x="36" y="23"/>
                    </a:lnTo>
                    <a:lnTo>
                      <a:pt x="3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53" name="Freeform 322"/>
              <p:cNvSpPr>
                <a:spLocks/>
              </p:cNvSpPr>
              <p:nvPr/>
            </p:nvSpPr>
            <p:spPr bwMode="auto">
              <a:xfrm>
                <a:off x="2226" y="2727"/>
                <a:ext cx="114" cy="162"/>
              </a:xfrm>
              <a:custGeom>
                <a:avLst/>
                <a:gdLst>
                  <a:gd name="T0" fmla="*/ 72 w 114"/>
                  <a:gd name="T1" fmla="*/ 0 h 162"/>
                  <a:gd name="T2" fmla="*/ 114 w 114"/>
                  <a:gd name="T3" fmla="*/ 162 h 162"/>
                  <a:gd name="T4" fmla="*/ 0 w 114"/>
                  <a:gd name="T5" fmla="*/ 64 h 162"/>
                  <a:gd name="T6" fmla="*/ 72 w 114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4"/>
                  <a:gd name="T13" fmla="*/ 0 h 162"/>
                  <a:gd name="T14" fmla="*/ 114 w 114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4" h="162">
                    <a:moveTo>
                      <a:pt x="72" y="0"/>
                    </a:moveTo>
                    <a:lnTo>
                      <a:pt x="114" y="162"/>
                    </a:lnTo>
                    <a:lnTo>
                      <a:pt x="0" y="64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54" name="Freeform 323"/>
              <p:cNvSpPr>
                <a:spLocks/>
              </p:cNvSpPr>
              <p:nvPr/>
            </p:nvSpPr>
            <p:spPr bwMode="auto">
              <a:xfrm>
                <a:off x="2294" y="2726"/>
                <a:ext cx="54" cy="176"/>
              </a:xfrm>
              <a:custGeom>
                <a:avLst/>
                <a:gdLst>
                  <a:gd name="T0" fmla="*/ 48 w 54"/>
                  <a:gd name="T1" fmla="*/ 158 h 176"/>
                  <a:gd name="T2" fmla="*/ 41 w 54"/>
                  <a:gd name="T3" fmla="*/ 164 h 176"/>
                  <a:gd name="T4" fmla="*/ 0 w 54"/>
                  <a:gd name="T5" fmla="*/ 3 h 176"/>
                  <a:gd name="T6" fmla="*/ 8 w 54"/>
                  <a:gd name="T7" fmla="*/ 0 h 176"/>
                  <a:gd name="T8" fmla="*/ 50 w 54"/>
                  <a:gd name="T9" fmla="*/ 162 h 176"/>
                  <a:gd name="T10" fmla="*/ 43 w 54"/>
                  <a:gd name="T11" fmla="*/ 167 h 176"/>
                  <a:gd name="T12" fmla="*/ 50 w 54"/>
                  <a:gd name="T13" fmla="*/ 162 h 176"/>
                  <a:gd name="T14" fmla="*/ 54 w 54"/>
                  <a:gd name="T15" fmla="*/ 176 h 176"/>
                  <a:gd name="T16" fmla="*/ 43 w 54"/>
                  <a:gd name="T17" fmla="*/ 167 h 176"/>
                  <a:gd name="T18" fmla="*/ 48 w 54"/>
                  <a:gd name="T19" fmla="*/ 158 h 1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4"/>
                  <a:gd name="T31" fmla="*/ 0 h 176"/>
                  <a:gd name="T32" fmla="*/ 54 w 54"/>
                  <a:gd name="T33" fmla="*/ 176 h 1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4" h="176">
                    <a:moveTo>
                      <a:pt x="48" y="158"/>
                    </a:moveTo>
                    <a:lnTo>
                      <a:pt x="41" y="164"/>
                    </a:lnTo>
                    <a:lnTo>
                      <a:pt x="0" y="3"/>
                    </a:lnTo>
                    <a:lnTo>
                      <a:pt x="8" y="0"/>
                    </a:lnTo>
                    <a:lnTo>
                      <a:pt x="50" y="162"/>
                    </a:lnTo>
                    <a:lnTo>
                      <a:pt x="43" y="167"/>
                    </a:lnTo>
                    <a:lnTo>
                      <a:pt x="50" y="162"/>
                    </a:lnTo>
                    <a:lnTo>
                      <a:pt x="54" y="176"/>
                    </a:lnTo>
                    <a:lnTo>
                      <a:pt x="43" y="167"/>
                    </a:lnTo>
                    <a:lnTo>
                      <a:pt x="48" y="158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55" name="Freeform 324"/>
              <p:cNvSpPr>
                <a:spLocks/>
              </p:cNvSpPr>
              <p:nvPr/>
            </p:nvSpPr>
            <p:spPr bwMode="auto">
              <a:xfrm>
                <a:off x="2219" y="2784"/>
                <a:ext cx="122" cy="107"/>
              </a:xfrm>
              <a:custGeom>
                <a:avLst/>
                <a:gdLst>
                  <a:gd name="T0" fmla="*/ 12 w 122"/>
                  <a:gd name="T1" fmla="*/ 12 h 107"/>
                  <a:gd name="T2" fmla="*/ 10 w 122"/>
                  <a:gd name="T3" fmla="*/ 1 h 107"/>
                  <a:gd name="T4" fmla="*/ 122 w 122"/>
                  <a:gd name="T5" fmla="*/ 98 h 107"/>
                  <a:gd name="T6" fmla="*/ 118 w 122"/>
                  <a:gd name="T7" fmla="*/ 107 h 107"/>
                  <a:gd name="T8" fmla="*/ 6 w 122"/>
                  <a:gd name="T9" fmla="*/ 11 h 107"/>
                  <a:gd name="T10" fmla="*/ 4 w 122"/>
                  <a:gd name="T11" fmla="*/ 0 h 107"/>
                  <a:gd name="T12" fmla="*/ 6 w 122"/>
                  <a:gd name="T13" fmla="*/ 11 h 107"/>
                  <a:gd name="T14" fmla="*/ 0 w 122"/>
                  <a:gd name="T15" fmla="*/ 5 h 107"/>
                  <a:gd name="T16" fmla="*/ 4 w 122"/>
                  <a:gd name="T17" fmla="*/ 0 h 107"/>
                  <a:gd name="T18" fmla="*/ 12 w 122"/>
                  <a:gd name="T19" fmla="*/ 12 h 10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2"/>
                  <a:gd name="T31" fmla="*/ 0 h 107"/>
                  <a:gd name="T32" fmla="*/ 122 w 122"/>
                  <a:gd name="T33" fmla="*/ 107 h 10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2" h="107">
                    <a:moveTo>
                      <a:pt x="12" y="12"/>
                    </a:moveTo>
                    <a:lnTo>
                      <a:pt x="10" y="1"/>
                    </a:lnTo>
                    <a:lnTo>
                      <a:pt x="122" y="98"/>
                    </a:lnTo>
                    <a:lnTo>
                      <a:pt x="118" y="107"/>
                    </a:lnTo>
                    <a:lnTo>
                      <a:pt x="6" y="11"/>
                    </a:lnTo>
                    <a:lnTo>
                      <a:pt x="4" y="0"/>
                    </a:lnTo>
                    <a:lnTo>
                      <a:pt x="6" y="11"/>
                    </a:lnTo>
                    <a:lnTo>
                      <a:pt x="0" y="5"/>
                    </a:lnTo>
                    <a:lnTo>
                      <a:pt x="4" y="0"/>
                    </a:lnTo>
                    <a:lnTo>
                      <a:pt x="12" y="12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56" name="Freeform 325"/>
              <p:cNvSpPr>
                <a:spLocks/>
              </p:cNvSpPr>
              <p:nvPr/>
            </p:nvSpPr>
            <p:spPr bwMode="auto">
              <a:xfrm>
                <a:off x="2222" y="2717"/>
                <a:ext cx="78" cy="79"/>
              </a:xfrm>
              <a:custGeom>
                <a:avLst/>
                <a:gdLst>
                  <a:gd name="T0" fmla="*/ 69 w 78"/>
                  <a:gd name="T1" fmla="*/ 10 h 79"/>
                  <a:gd name="T2" fmla="*/ 77 w 78"/>
                  <a:gd name="T3" fmla="*/ 16 h 79"/>
                  <a:gd name="T4" fmla="*/ 6 w 78"/>
                  <a:gd name="T5" fmla="*/ 79 h 79"/>
                  <a:gd name="T6" fmla="*/ 0 w 78"/>
                  <a:gd name="T7" fmla="*/ 68 h 79"/>
                  <a:gd name="T8" fmla="*/ 69 w 78"/>
                  <a:gd name="T9" fmla="*/ 4 h 79"/>
                  <a:gd name="T10" fmla="*/ 78 w 78"/>
                  <a:gd name="T11" fmla="*/ 8 h 79"/>
                  <a:gd name="T12" fmla="*/ 69 w 78"/>
                  <a:gd name="T13" fmla="*/ 4 h 79"/>
                  <a:gd name="T14" fmla="*/ 75 w 78"/>
                  <a:gd name="T15" fmla="*/ 0 h 79"/>
                  <a:gd name="T16" fmla="*/ 78 w 78"/>
                  <a:gd name="T17" fmla="*/ 8 h 79"/>
                  <a:gd name="T18" fmla="*/ 69 w 78"/>
                  <a:gd name="T19" fmla="*/ 10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8"/>
                  <a:gd name="T31" fmla="*/ 0 h 79"/>
                  <a:gd name="T32" fmla="*/ 78 w 78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8" h="79">
                    <a:moveTo>
                      <a:pt x="69" y="10"/>
                    </a:moveTo>
                    <a:lnTo>
                      <a:pt x="77" y="16"/>
                    </a:lnTo>
                    <a:lnTo>
                      <a:pt x="6" y="79"/>
                    </a:lnTo>
                    <a:lnTo>
                      <a:pt x="0" y="68"/>
                    </a:lnTo>
                    <a:lnTo>
                      <a:pt x="69" y="4"/>
                    </a:lnTo>
                    <a:lnTo>
                      <a:pt x="78" y="8"/>
                    </a:lnTo>
                    <a:lnTo>
                      <a:pt x="69" y="4"/>
                    </a:lnTo>
                    <a:lnTo>
                      <a:pt x="75" y="0"/>
                    </a:lnTo>
                    <a:lnTo>
                      <a:pt x="78" y="8"/>
                    </a:lnTo>
                    <a:lnTo>
                      <a:pt x="69" y="1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57" name="Freeform 326"/>
              <p:cNvSpPr>
                <a:spLocks/>
              </p:cNvSpPr>
              <p:nvPr/>
            </p:nvSpPr>
            <p:spPr bwMode="auto">
              <a:xfrm>
                <a:off x="2290" y="2821"/>
                <a:ext cx="30" cy="37"/>
              </a:xfrm>
              <a:custGeom>
                <a:avLst/>
                <a:gdLst>
                  <a:gd name="T0" fmla="*/ 21 w 30"/>
                  <a:gd name="T1" fmla="*/ 0 h 37"/>
                  <a:gd name="T2" fmla="*/ 30 w 30"/>
                  <a:gd name="T3" fmla="*/ 16 h 37"/>
                  <a:gd name="T4" fmla="*/ 10 w 30"/>
                  <a:gd name="T5" fmla="*/ 37 h 37"/>
                  <a:gd name="T6" fmla="*/ 0 w 30"/>
                  <a:gd name="T7" fmla="*/ 22 h 37"/>
                  <a:gd name="T8" fmla="*/ 21 w 30"/>
                  <a:gd name="T9" fmla="*/ 0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7"/>
                  <a:gd name="T17" fmla="*/ 30 w 30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7">
                    <a:moveTo>
                      <a:pt x="21" y="0"/>
                    </a:moveTo>
                    <a:lnTo>
                      <a:pt x="30" y="16"/>
                    </a:lnTo>
                    <a:lnTo>
                      <a:pt x="10" y="37"/>
                    </a:lnTo>
                    <a:lnTo>
                      <a:pt x="0" y="22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58" name="Freeform 327"/>
              <p:cNvSpPr>
                <a:spLocks/>
              </p:cNvSpPr>
              <p:nvPr/>
            </p:nvSpPr>
            <p:spPr bwMode="auto">
              <a:xfrm>
                <a:off x="2190" y="2626"/>
                <a:ext cx="120" cy="213"/>
              </a:xfrm>
              <a:custGeom>
                <a:avLst/>
                <a:gdLst>
                  <a:gd name="T0" fmla="*/ 25 w 120"/>
                  <a:gd name="T1" fmla="*/ 0 h 213"/>
                  <a:gd name="T2" fmla="*/ 25 w 120"/>
                  <a:gd name="T3" fmla="*/ 0 h 213"/>
                  <a:gd name="T4" fmla="*/ 35 w 120"/>
                  <a:gd name="T5" fmla="*/ 28 h 213"/>
                  <a:gd name="T6" fmla="*/ 47 w 120"/>
                  <a:gd name="T7" fmla="*/ 54 h 213"/>
                  <a:gd name="T8" fmla="*/ 57 w 120"/>
                  <a:gd name="T9" fmla="*/ 78 h 213"/>
                  <a:gd name="T10" fmla="*/ 68 w 120"/>
                  <a:gd name="T11" fmla="*/ 102 h 213"/>
                  <a:gd name="T12" fmla="*/ 80 w 120"/>
                  <a:gd name="T13" fmla="*/ 125 h 213"/>
                  <a:gd name="T14" fmla="*/ 93 w 120"/>
                  <a:gd name="T15" fmla="*/ 147 h 213"/>
                  <a:gd name="T16" fmla="*/ 105 w 120"/>
                  <a:gd name="T17" fmla="*/ 171 h 213"/>
                  <a:gd name="T18" fmla="*/ 120 w 120"/>
                  <a:gd name="T19" fmla="*/ 193 h 213"/>
                  <a:gd name="T20" fmla="*/ 100 w 120"/>
                  <a:gd name="T21" fmla="*/ 213 h 213"/>
                  <a:gd name="T22" fmla="*/ 84 w 120"/>
                  <a:gd name="T23" fmla="*/ 188 h 213"/>
                  <a:gd name="T24" fmla="*/ 70 w 120"/>
                  <a:gd name="T25" fmla="*/ 164 h 213"/>
                  <a:gd name="T26" fmla="*/ 58 w 120"/>
                  <a:gd name="T27" fmla="*/ 141 h 213"/>
                  <a:gd name="T28" fmla="*/ 46 w 120"/>
                  <a:gd name="T29" fmla="*/ 116 h 213"/>
                  <a:gd name="T30" fmla="*/ 33 w 120"/>
                  <a:gd name="T31" fmla="*/ 92 h 213"/>
                  <a:gd name="T32" fmla="*/ 21 w 120"/>
                  <a:gd name="T33" fmla="*/ 65 h 213"/>
                  <a:gd name="T34" fmla="*/ 12 w 120"/>
                  <a:gd name="T35" fmla="*/ 38 h 213"/>
                  <a:gd name="T36" fmla="*/ 0 w 120"/>
                  <a:gd name="T37" fmla="*/ 10 h 213"/>
                  <a:gd name="T38" fmla="*/ 25 w 120"/>
                  <a:gd name="T39" fmla="*/ 0 h 21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0"/>
                  <a:gd name="T61" fmla="*/ 0 h 213"/>
                  <a:gd name="T62" fmla="*/ 120 w 120"/>
                  <a:gd name="T63" fmla="*/ 213 h 21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0" h="213">
                    <a:moveTo>
                      <a:pt x="25" y="0"/>
                    </a:moveTo>
                    <a:lnTo>
                      <a:pt x="25" y="0"/>
                    </a:lnTo>
                    <a:lnTo>
                      <a:pt x="35" y="28"/>
                    </a:lnTo>
                    <a:lnTo>
                      <a:pt x="47" y="54"/>
                    </a:lnTo>
                    <a:lnTo>
                      <a:pt x="57" y="78"/>
                    </a:lnTo>
                    <a:lnTo>
                      <a:pt x="68" y="102"/>
                    </a:lnTo>
                    <a:lnTo>
                      <a:pt x="80" y="125"/>
                    </a:lnTo>
                    <a:lnTo>
                      <a:pt x="93" y="147"/>
                    </a:lnTo>
                    <a:lnTo>
                      <a:pt x="105" y="171"/>
                    </a:lnTo>
                    <a:lnTo>
                      <a:pt x="120" y="193"/>
                    </a:lnTo>
                    <a:lnTo>
                      <a:pt x="100" y="213"/>
                    </a:lnTo>
                    <a:lnTo>
                      <a:pt x="84" y="188"/>
                    </a:lnTo>
                    <a:lnTo>
                      <a:pt x="70" y="164"/>
                    </a:lnTo>
                    <a:lnTo>
                      <a:pt x="58" y="141"/>
                    </a:lnTo>
                    <a:lnTo>
                      <a:pt x="46" y="116"/>
                    </a:lnTo>
                    <a:lnTo>
                      <a:pt x="33" y="92"/>
                    </a:lnTo>
                    <a:lnTo>
                      <a:pt x="21" y="65"/>
                    </a:lnTo>
                    <a:lnTo>
                      <a:pt x="12" y="38"/>
                    </a:lnTo>
                    <a:lnTo>
                      <a:pt x="0" y="1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59" name="Freeform 328"/>
              <p:cNvSpPr>
                <a:spLocks/>
              </p:cNvSpPr>
              <p:nvPr/>
            </p:nvSpPr>
            <p:spPr bwMode="auto">
              <a:xfrm>
                <a:off x="2134" y="2432"/>
                <a:ext cx="77" cy="204"/>
              </a:xfrm>
              <a:custGeom>
                <a:avLst/>
                <a:gdLst>
                  <a:gd name="T0" fmla="*/ 27 w 77"/>
                  <a:gd name="T1" fmla="*/ 0 h 204"/>
                  <a:gd name="T2" fmla="*/ 31 w 77"/>
                  <a:gd name="T3" fmla="*/ 25 h 204"/>
                  <a:gd name="T4" fmla="*/ 36 w 77"/>
                  <a:gd name="T5" fmla="*/ 48 h 204"/>
                  <a:gd name="T6" fmla="*/ 42 w 77"/>
                  <a:gd name="T7" fmla="*/ 73 h 204"/>
                  <a:gd name="T8" fmla="*/ 47 w 77"/>
                  <a:gd name="T9" fmla="*/ 98 h 204"/>
                  <a:gd name="T10" fmla="*/ 54 w 77"/>
                  <a:gd name="T11" fmla="*/ 121 h 204"/>
                  <a:gd name="T12" fmla="*/ 61 w 77"/>
                  <a:gd name="T13" fmla="*/ 146 h 204"/>
                  <a:gd name="T14" fmla="*/ 69 w 77"/>
                  <a:gd name="T15" fmla="*/ 170 h 204"/>
                  <a:gd name="T16" fmla="*/ 77 w 77"/>
                  <a:gd name="T17" fmla="*/ 194 h 204"/>
                  <a:gd name="T18" fmla="*/ 52 w 77"/>
                  <a:gd name="T19" fmla="*/ 204 h 204"/>
                  <a:gd name="T20" fmla="*/ 44 w 77"/>
                  <a:gd name="T21" fmla="*/ 180 h 204"/>
                  <a:gd name="T22" fmla="*/ 35 w 77"/>
                  <a:gd name="T23" fmla="*/ 153 h 204"/>
                  <a:gd name="T24" fmla="*/ 28 w 77"/>
                  <a:gd name="T25" fmla="*/ 129 h 204"/>
                  <a:gd name="T26" fmla="*/ 21 w 77"/>
                  <a:gd name="T27" fmla="*/ 103 h 204"/>
                  <a:gd name="T28" fmla="*/ 14 w 77"/>
                  <a:gd name="T29" fmla="*/ 77 h 204"/>
                  <a:gd name="T30" fmla="*/ 9 w 77"/>
                  <a:gd name="T31" fmla="*/ 52 h 204"/>
                  <a:gd name="T32" fmla="*/ 5 w 77"/>
                  <a:gd name="T33" fmla="*/ 26 h 204"/>
                  <a:gd name="T34" fmla="*/ 0 w 77"/>
                  <a:gd name="T35" fmla="*/ 0 h 204"/>
                  <a:gd name="T36" fmla="*/ 27 w 77"/>
                  <a:gd name="T37" fmla="*/ 0 h 2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7"/>
                  <a:gd name="T58" fmla="*/ 0 h 204"/>
                  <a:gd name="T59" fmla="*/ 77 w 77"/>
                  <a:gd name="T60" fmla="*/ 204 h 20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7" h="204">
                    <a:moveTo>
                      <a:pt x="27" y="0"/>
                    </a:moveTo>
                    <a:lnTo>
                      <a:pt x="31" y="25"/>
                    </a:lnTo>
                    <a:lnTo>
                      <a:pt x="36" y="48"/>
                    </a:lnTo>
                    <a:lnTo>
                      <a:pt x="42" y="73"/>
                    </a:lnTo>
                    <a:lnTo>
                      <a:pt x="47" y="98"/>
                    </a:lnTo>
                    <a:lnTo>
                      <a:pt x="54" y="121"/>
                    </a:lnTo>
                    <a:lnTo>
                      <a:pt x="61" y="146"/>
                    </a:lnTo>
                    <a:lnTo>
                      <a:pt x="69" y="170"/>
                    </a:lnTo>
                    <a:lnTo>
                      <a:pt x="77" y="194"/>
                    </a:lnTo>
                    <a:lnTo>
                      <a:pt x="52" y="204"/>
                    </a:lnTo>
                    <a:lnTo>
                      <a:pt x="44" y="180"/>
                    </a:lnTo>
                    <a:lnTo>
                      <a:pt x="35" y="153"/>
                    </a:lnTo>
                    <a:lnTo>
                      <a:pt x="28" y="129"/>
                    </a:lnTo>
                    <a:lnTo>
                      <a:pt x="21" y="103"/>
                    </a:lnTo>
                    <a:lnTo>
                      <a:pt x="14" y="77"/>
                    </a:lnTo>
                    <a:lnTo>
                      <a:pt x="9" y="52"/>
                    </a:lnTo>
                    <a:lnTo>
                      <a:pt x="5" y="26"/>
                    </a:lnTo>
                    <a:lnTo>
                      <a:pt x="0" y="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60" name="Freeform 329"/>
              <p:cNvSpPr>
                <a:spLocks/>
              </p:cNvSpPr>
              <p:nvPr/>
            </p:nvSpPr>
            <p:spPr bwMode="auto">
              <a:xfrm>
                <a:off x="2127" y="2414"/>
                <a:ext cx="31" cy="18"/>
              </a:xfrm>
              <a:custGeom>
                <a:avLst/>
                <a:gdLst>
                  <a:gd name="T0" fmla="*/ 3 w 31"/>
                  <a:gd name="T1" fmla="*/ 18 h 18"/>
                  <a:gd name="T2" fmla="*/ 0 w 31"/>
                  <a:gd name="T3" fmla="*/ 0 h 18"/>
                  <a:gd name="T4" fmla="*/ 28 w 31"/>
                  <a:gd name="T5" fmla="*/ 0 h 18"/>
                  <a:gd name="T6" fmla="*/ 31 w 31"/>
                  <a:gd name="T7" fmla="*/ 18 h 18"/>
                  <a:gd name="T8" fmla="*/ 3 w 31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18"/>
                  <a:gd name="T17" fmla="*/ 31 w 3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18">
                    <a:moveTo>
                      <a:pt x="3" y="18"/>
                    </a:moveTo>
                    <a:lnTo>
                      <a:pt x="0" y="0"/>
                    </a:lnTo>
                    <a:lnTo>
                      <a:pt x="28" y="0"/>
                    </a:lnTo>
                    <a:lnTo>
                      <a:pt x="31" y="18"/>
                    </a:lnTo>
                    <a:lnTo>
                      <a:pt x="3" y="18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8008" name="Oval 330"/>
            <p:cNvSpPr>
              <a:spLocks noChangeArrowheads="1"/>
            </p:cNvSpPr>
            <p:nvPr/>
          </p:nvSpPr>
          <p:spPr bwMode="auto">
            <a:xfrm>
              <a:off x="2669" y="1927"/>
              <a:ext cx="1873" cy="184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8009" name="Oval 331"/>
            <p:cNvSpPr>
              <a:spLocks noChangeArrowheads="1"/>
            </p:cNvSpPr>
            <p:nvPr/>
          </p:nvSpPr>
          <p:spPr bwMode="auto">
            <a:xfrm>
              <a:off x="2741" y="1930"/>
              <a:ext cx="1823" cy="1763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8010" name="Rectangle 332"/>
            <p:cNvSpPr>
              <a:spLocks noChangeArrowheads="1"/>
            </p:cNvSpPr>
            <p:nvPr/>
          </p:nvSpPr>
          <p:spPr bwMode="auto">
            <a:xfrm>
              <a:off x="3952" y="2395"/>
              <a:ext cx="706" cy="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8011" name="Rectangle 333"/>
            <p:cNvSpPr>
              <a:spLocks noChangeArrowheads="1"/>
            </p:cNvSpPr>
            <p:nvPr/>
          </p:nvSpPr>
          <p:spPr bwMode="auto">
            <a:xfrm>
              <a:off x="4022" y="2444"/>
              <a:ext cx="552" cy="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8012" name="Rectangle 334"/>
            <p:cNvSpPr>
              <a:spLocks noChangeArrowheads="1"/>
            </p:cNvSpPr>
            <p:nvPr/>
          </p:nvSpPr>
          <p:spPr bwMode="auto">
            <a:xfrm>
              <a:off x="4002" y="2549"/>
              <a:ext cx="563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2400" u="sng">
                  <a:solidFill>
                    <a:srgbClr val="000000"/>
                  </a:solidFill>
                  <a:latin typeface="Arial Narrow" pitchFamily="34" charset="0"/>
                </a:rPr>
                <a:t>CSMS</a:t>
              </a:r>
              <a:endParaRPr lang="en-US" sz="2700" b="0">
                <a:latin typeface="Times New Roman" pitchFamily="18" charset="0"/>
              </a:endParaRPr>
            </a:p>
          </p:txBody>
        </p:sp>
        <p:grpSp>
          <p:nvGrpSpPr>
            <p:cNvPr id="18013" name="Group 335"/>
            <p:cNvGrpSpPr>
              <a:grpSpLocks/>
            </p:cNvGrpSpPr>
            <p:nvPr/>
          </p:nvGrpSpPr>
          <p:grpSpPr bwMode="auto">
            <a:xfrm>
              <a:off x="3336" y="1604"/>
              <a:ext cx="731" cy="537"/>
              <a:chOff x="1254" y="3284"/>
              <a:chExt cx="592" cy="453"/>
            </a:xfrm>
          </p:grpSpPr>
          <p:grpSp>
            <p:nvGrpSpPr>
              <p:cNvPr id="18231" name="Group 336"/>
              <p:cNvGrpSpPr>
                <a:grpSpLocks/>
              </p:cNvGrpSpPr>
              <p:nvPr/>
            </p:nvGrpSpPr>
            <p:grpSpPr bwMode="auto">
              <a:xfrm>
                <a:off x="1428" y="3284"/>
                <a:ext cx="244" cy="332"/>
                <a:chOff x="3080" y="1174"/>
                <a:chExt cx="276" cy="366"/>
              </a:xfrm>
            </p:grpSpPr>
            <p:sp>
              <p:nvSpPr>
                <p:cNvPr id="18233" name="Rectangle 337"/>
                <p:cNvSpPr>
                  <a:spLocks noChangeArrowheads="1"/>
                </p:cNvSpPr>
                <p:nvPr/>
              </p:nvSpPr>
              <p:spPr bwMode="auto">
                <a:xfrm>
                  <a:off x="3129" y="1174"/>
                  <a:ext cx="227" cy="309"/>
                </a:xfrm>
                <a:prstGeom prst="rect">
                  <a:avLst/>
                </a:prstGeom>
                <a:solidFill>
                  <a:srgbClr val="99FF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234" name="Rectangle 338"/>
                <p:cNvSpPr>
                  <a:spLocks noChangeArrowheads="1"/>
                </p:cNvSpPr>
                <p:nvPr/>
              </p:nvSpPr>
              <p:spPr bwMode="auto">
                <a:xfrm>
                  <a:off x="3101" y="1212"/>
                  <a:ext cx="227" cy="309"/>
                </a:xfrm>
                <a:prstGeom prst="rect">
                  <a:avLst/>
                </a:prstGeom>
                <a:solidFill>
                  <a:srgbClr val="99FF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18235" name="Group 339"/>
                <p:cNvGrpSpPr>
                  <a:grpSpLocks/>
                </p:cNvGrpSpPr>
                <p:nvPr/>
              </p:nvGrpSpPr>
              <p:grpSpPr bwMode="auto">
                <a:xfrm>
                  <a:off x="3080" y="1247"/>
                  <a:ext cx="223" cy="293"/>
                  <a:chOff x="3080" y="1247"/>
                  <a:chExt cx="223" cy="293"/>
                </a:xfrm>
              </p:grpSpPr>
              <p:sp>
                <p:nvSpPr>
                  <p:cNvPr id="18236" name="Freeform 340"/>
                  <p:cNvSpPr>
                    <a:spLocks/>
                  </p:cNvSpPr>
                  <p:nvPr/>
                </p:nvSpPr>
                <p:spPr bwMode="auto">
                  <a:xfrm>
                    <a:off x="3080" y="1247"/>
                    <a:ext cx="223" cy="293"/>
                  </a:xfrm>
                  <a:custGeom>
                    <a:avLst/>
                    <a:gdLst>
                      <a:gd name="T0" fmla="*/ 0 w 223"/>
                      <a:gd name="T1" fmla="*/ 0 h 293"/>
                      <a:gd name="T2" fmla="*/ 0 w 223"/>
                      <a:gd name="T3" fmla="*/ 293 h 293"/>
                      <a:gd name="T4" fmla="*/ 132 w 223"/>
                      <a:gd name="T5" fmla="*/ 293 h 293"/>
                      <a:gd name="T6" fmla="*/ 223 w 223"/>
                      <a:gd name="T7" fmla="*/ 172 h 293"/>
                      <a:gd name="T8" fmla="*/ 223 w 223"/>
                      <a:gd name="T9" fmla="*/ 0 h 293"/>
                      <a:gd name="T10" fmla="*/ 0 w 223"/>
                      <a:gd name="T11" fmla="*/ 0 h 29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23"/>
                      <a:gd name="T19" fmla="*/ 0 h 293"/>
                      <a:gd name="T20" fmla="*/ 223 w 223"/>
                      <a:gd name="T21" fmla="*/ 293 h 29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23" h="293">
                        <a:moveTo>
                          <a:pt x="0" y="0"/>
                        </a:moveTo>
                        <a:lnTo>
                          <a:pt x="0" y="293"/>
                        </a:lnTo>
                        <a:lnTo>
                          <a:pt x="132" y="293"/>
                        </a:lnTo>
                        <a:lnTo>
                          <a:pt x="223" y="172"/>
                        </a:lnTo>
                        <a:lnTo>
                          <a:pt x="2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9FFCC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37" name="Freeform 341"/>
                  <p:cNvSpPr>
                    <a:spLocks/>
                  </p:cNvSpPr>
                  <p:nvPr/>
                </p:nvSpPr>
                <p:spPr bwMode="auto">
                  <a:xfrm>
                    <a:off x="3212" y="1419"/>
                    <a:ext cx="91" cy="121"/>
                  </a:xfrm>
                  <a:custGeom>
                    <a:avLst/>
                    <a:gdLst>
                      <a:gd name="T0" fmla="*/ 0 w 91"/>
                      <a:gd name="T1" fmla="*/ 121 h 121"/>
                      <a:gd name="T2" fmla="*/ 23 w 91"/>
                      <a:gd name="T3" fmla="*/ 4 h 121"/>
                      <a:gd name="T4" fmla="*/ 27 w 91"/>
                      <a:gd name="T5" fmla="*/ 10 h 121"/>
                      <a:gd name="T6" fmla="*/ 34 w 91"/>
                      <a:gd name="T7" fmla="*/ 16 h 121"/>
                      <a:gd name="T8" fmla="*/ 40 w 91"/>
                      <a:gd name="T9" fmla="*/ 18 h 121"/>
                      <a:gd name="T10" fmla="*/ 49 w 91"/>
                      <a:gd name="T11" fmla="*/ 18 h 121"/>
                      <a:gd name="T12" fmla="*/ 57 w 91"/>
                      <a:gd name="T13" fmla="*/ 17 h 121"/>
                      <a:gd name="T14" fmla="*/ 68 w 91"/>
                      <a:gd name="T15" fmla="*/ 13 h 121"/>
                      <a:gd name="T16" fmla="*/ 79 w 91"/>
                      <a:gd name="T17" fmla="*/ 7 h 121"/>
                      <a:gd name="T18" fmla="*/ 91 w 91"/>
                      <a:gd name="T19" fmla="*/ 0 h 121"/>
                      <a:gd name="T20" fmla="*/ 0 w 91"/>
                      <a:gd name="T21" fmla="*/ 121 h 12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91"/>
                      <a:gd name="T34" fmla="*/ 0 h 121"/>
                      <a:gd name="T35" fmla="*/ 91 w 91"/>
                      <a:gd name="T36" fmla="*/ 121 h 121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91" h="121">
                        <a:moveTo>
                          <a:pt x="0" y="121"/>
                        </a:moveTo>
                        <a:lnTo>
                          <a:pt x="23" y="4"/>
                        </a:lnTo>
                        <a:lnTo>
                          <a:pt x="27" y="10"/>
                        </a:lnTo>
                        <a:lnTo>
                          <a:pt x="34" y="16"/>
                        </a:lnTo>
                        <a:lnTo>
                          <a:pt x="40" y="18"/>
                        </a:lnTo>
                        <a:lnTo>
                          <a:pt x="49" y="18"/>
                        </a:lnTo>
                        <a:lnTo>
                          <a:pt x="57" y="17"/>
                        </a:lnTo>
                        <a:lnTo>
                          <a:pt x="68" y="13"/>
                        </a:lnTo>
                        <a:lnTo>
                          <a:pt x="79" y="7"/>
                        </a:lnTo>
                        <a:lnTo>
                          <a:pt x="91" y="0"/>
                        </a:lnTo>
                        <a:lnTo>
                          <a:pt x="0" y="121"/>
                        </a:lnTo>
                        <a:close/>
                      </a:path>
                    </a:pathLst>
                  </a:custGeom>
                  <a:solidFill>
                    <a:srgbClr val="99FFCC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38" name="Freeform 342"/>
                  <p:cNvSpPr>
                    <a:spLocks/>
                  </p:cNvSpPr>
                  <p:nvPr/>
                </p:nvSpPr>
                <p:spPr bwMode="auto">
                  <a:xfrm>
                    <a:off x="3080" y="1247"/>
                    <a:ext cx="223" cy="293"/>
                  </a:xfrm>
                  <a:custGeom>
                    <a:avLst/>
                    <a:gdLst>
                      <a:gd name="T0" fmla="*/ 0 w 223"/>
                      <a:gd name="T1" fmla="*/ 0 h 293"/>
                      <a:gd name="T2" fmla="*/ 0 w 223"/>
                      <a:gd name="T3" fmla="*/ 293 h 293"/>
                      <a:gd name="T4" fmla="*/ 132 w 223"/>
                      <a:gd name="T5" fmla="*/ 293 h 293"/>
                      <a:gd name="T6" fmla="*/ 223 w 223"/>
                      <a:gd name="T7" fmla="*/ 172 h 293"/>
                      <a:gd name="T8" fmla="*/ 223 w 223"/>
                      <a:gd name="T9" fmla="*/ 0 h 293"/>
                      <a:gd name="T10" fmla="*/ 0 w 223"/>
                      <a:gd name="T11" fmla="*/ 0 h 29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23"/>
                      <a:gd name="T19" fmla="*/ 0 h 293"/>
                      <a:gd name="T20" fmla="*/ 223 w 223"/>
                      <a:gd name="T21" fmla="*/ 293 h 29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23" h="293">
                        <a:moveTo>
                          <a:pt x="0" y="0"/>
                        </a:moveTo>
                        <a:lnTo>
                          <a:pt x="0" y="293"/>
                        </a:lnTo>
                        <a:lnTo>
                          <a:pt x="132" y="293"/>
                        </a:lnTo>
                        <a:lnTo>
                          <a:pt x="223" y="172"/>
                        </a:lnTo>
                        <a:lnTo>
                          <a:pt x="2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9FFCC"/>
                  </a:solidFill>
                  <a:ln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39" name="Freeform 343"/>
                  <p:cNvSpPr>
                    <a:spLocks/>
                  </p:cNvSpPr>
                  <p:nvPr/>
                </p:nvSpPr>
                <p:spPr bwMode="auto">
                  <a:xfrm>
                    <a:off x="3212" y="1419"/>
                    <a:ext cx="91" cy="121"/>
                  </a:xfrm>
                  <a:custGeom>
                    <a:avLst/>
                    <a:gdLst>
                      <a:gd name="T0" fmla="*/ 0 w 91"/>
                      <a:gd name="T1" fmla="*/ 121 h 121"/>
                      <a:gd name="T2" fmla="*/ 23 w 91"/>
                      <a:gd name="T3" fmla="*/ 4 h 121"/>
                      <a:gd name="T4" fmla="*/ 27 w 91"/>
                      <a:gd name="T5" fmla="*/ 10 h 121"/>
                      <a:gd name="T6" fmla="*/ 34 w 91"/>
                      <a:gd name="T7" fmla="*/ 16 h 121"/>
                      <a:gd name="T8" fmla="*/ 40 w 91"/>
                      <a:gd name="T9" fmla="*/ 18 h 121"/>
                      <a:gd name="T10" fmla="*/ 49 w 91"/>
                      <a:gd name="T11" fmla="*/ 18 h 121"/>
                      <a:gd name="T12" fmla="*/ 57 w 91"/>
                      <a:gd name="T13" fmla="*/ 17 h 121"/>
                      <a:gd name="T14" fmla="*/ 68 w 91"/>
                      <a:gd name="T15" fmla="*/ 13 h 121"/>
                      <a:gd name="T16" fmla="*/ 79 w 91"/>
                      <a:gd name="T17" fmla="*/ 7 h 121"/>
                      <a:gd name="T18" fmla="*/ 91 w 91"/>
                      <a:gd name="T19" fmla="*/ 0 h 121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121"/>
                      <a:gd name="T32" fmla="*/ 91 w 91"/>
                      <a:gd name="T33" fmla="*/ 121 h 121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121">
                        <a:moveTo>
                          <a:pt x="0" y="121"/>
                        </a:moveTo>
                        <a:lnTo>
                          <a:pt x="23" y="4"/>
                        </a:lnTo>
                        <a:lnTo>
                          <a:pt x="27" y="10"/>
                        </a:lnTo>
                        <a:lnTo>
                          <a:pt x="34" y="16"/>
                        </a:lnTo>
                        <a:lnTo>
                          <a:pt x="40" y="18"/>
                        </a:lnTo>
                        <a:lnTo>
                          <a:pt x="49" y="18"/>
                        </a:lnTo>
                        <a:lnTo>
                          <a:pt x="57" y="17"/>
                        </a:lnTo>
                        <a:lnTo>
                          <a:pt x="68" y="13"/>
                        </a:lnTo>
                        <a:lnTo>
                          <a:pt x="79" y="7"/>
                        </a:lnTo>
                        <a:lnTo>
                          <a:pt x="91" y="0"/>
                        </a:lnTo>
                      </a:path>
                    </a:pathLst>
                  </a:custGeom>
                  <a:solidFill>
                    <a:srgbClr val="99FFCC"/>
                  </a:solidFill>
                  <a:ln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8232" name="Rectangle 344"/>
              <p:cNvSpPr>
                <a:spLocks noChangeArrowheads="1"/>
              </p:cNvSpPr>
              <p:nvPr/>
            </p:nvSpPr>
            <p:spPr bwMode="auto">
              <a:xfrm>
                <a:off x="1254" y="3633"/>
                <a:ext cx="592" cy="1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84238" eaLnBrk="0" hangingPunct="0"/>
                <a:r>
                  <a:rPr lang="en-US" b="0">
                    <a:latin typeface="Arial Narrow" pitchFamily="34" charset="0"/>
                  </a:rPr>
                  <a:t>Contracted Work</a:t>
                </a:r>
              </a:p>
            </p:txBody>
          </p:sp>
        </p:grpSp>
        <p:grpSp>
          <p:nvGrpSpPr>
            <p:cNvPr id="18014" name="Group 345"/>
            <p:cNvGrpSpPr>
              <a:grpSpLocks/>
            </p:cNvGrpSpPr>
            <p:nvPr/>
          </p:nvGrpSpPr>
          <p:grpSpPr bwMode="auto">
            <a:xfrm>
              <a:off x="4018" y="2903"/>
              <a:ext cx="457" cy="580"/>
              <a:chOff x="3543" y="2349"/>
              <a:chExt cx="420" cy="538"/>
            </a:xfrm>
          </p:grpSpPr>
          <p:grpSp>
            <p:nvGrpSpPr>
              <p:cNvPr id="18016" name="Group 346"/>
              <p:cNvGrpSpPr>
                <a:grpSpLocks/>
              </p:cNvGrpSpPr>
              <p:nvPr/>
            </p:nvGrpSpPr>
            <p:grpSpPr bwMode="auto">
              <a:xfrm>
                <a:off x="3551" y="2349"/>
                <a:ext cx="355" cy="388"/>
                <a:chOff x="3563" y="2349"/>
                <a:chExt cx="355" cy="388"/>
              </a:xfrm>
            </p:grpSpPr>
            <p:grpSp>
              <p:nvGrpSpPr>
                <p:cNvPr id="18018" name="Group 347"/>
                <p:cNvGrpSpPr>
                  <a:grpSpLocks/>
                </p:cNvGrpSpPr>
                <p:nvPr/>
              </p:nvGrpSpPr>
              <p:grpSpPr bwMode="auto">
                <a:xfrm>
                  <a:off x="3563" y="2349"/>
                  <a:ext cx="355" cy="388"/>
                  <a:chOff x="3563" y="2349"/>
                  <a:chExt cx="355" cy="388"/>
                </a:xfrm>
              </p:grpSpPr>
              <p:sp>
                <p:nvSpPr>
                  <p:cNvPr id="18031" name="Freeform 348"/>
                  <p:cNvSpPr>
                    <a:spLocks/>
                  </p:cNvSpPr>
                  <p:nvPr/>
                </p:nvSpPr>
                <p:spPr bwMode="auto">
                  <a:xfrm>
                    <a:off x="3790" y="2349"/>
                    <a:ext cx="85" cy="75"/>
                  </a:xfrm>
                  <a:custGeom>
                    <a:avLst/>
                    <a:gdLst>
                      <a:gd name="T0" fmla="*/ 78 w 85"/>
                      <a:gd name="T1" fmla="*/ 65 h 75"/>
                      <a:gd name="T2" fmla="*/ 80 w 85"/>
                      <a:gd name="T3" fmla="*/ 58 h 75"/>
                      <a:gd name="T4" fmla="*/ 81 w 85"/>
                      <a:gd name="T5" fmla="*/ 50 h 75"/>
                      <a:gd name="T6" fmla="*/ 81 w 85"/>
                      <a:gd name="T7" fmla="*/ 48 h 75"/>
                      <a:gd name="T8" fmla="*/ 81 w 85"/>
                      <a:gd name="T9" fmla="*/ 41 h 75"/>
                      <a:gd name="T10" fmla="*/ 79 w 85"/>
                      <a:gd name="T11" fmla="*/ 33 h 75"/>
                      <a:gd name="T12" fmla="*/ 74 w 85"/>
                      <a:gd name="T13" fmla="*/ 27 h 75"/>
                      <a:gd name="T14" fmla="*/ 70 w 85"/>
                      <a:gd name="T15" fmla="*/ 20 h 75"/>
                      <a:gd name="T16" fmla="*/ 65 w 85"/>
                      <a:gd name="T17" fmla="*/ 15 h 75"/>
                      <a:gd name="T18" fmla="*/ 64 w 85"/>
                      <a:gd name="T19" fmla="*/ 14 h 75"/>
                      <a:gd name="T20" fmla="*/ 61 w 85"/>
                      <a:gd name="T21" fmla="*/ 13 h 75"/>
                      <a:gd name="T22" fmla="*/ 57 w 85"/>
                      <a:gd name="T23" fmla="*/ 10 h 75"/>
                      <a:gd name="T24" fmla="*/ 54 w 85"/>
                      <a:gd name="T25" fmla="*/ 9 h 75"/>
                      <a:gd name="T26" fmla="*/ 52 w 85"/>
                      <a:gd name="T27" fmla="*/ 8 h 75"/>
                      <a:gd name="T28" fmla="*/ 49 w 85"/>
                      <a:gd name="T29" fmla="*/ 6 h 75"/>
                      <a:gd name="T30" fmla="*/ 46 w 85"/>
                      <a:gd name="T31" fmla="*/ 6 h 75"/>
                      <a:gd name="T32" fmla="*/ 42 w 85"/>
                      <a:gd name="T33" fmla="*/ 5 h 75"/>
                      <a:gd name="T34" fmla="*/ 39 w 85"/>
                      <a:gd name="T35" fmla="*/ 4 h 75"/>
                      <a:gd name="T36" fmla="*/ 33 w 85"/>
                      <a:gd name="T37" fmla="*/ 4 h 75"/>
                      <a:gd name="T38" fmla="*/ 28 w 85"/>
                      <a:gd name="T39" fmla="*/ 5 h 75"/>
                      <a:gd name="T40" fmla="*/ 27 w 85"/>
                      <a:gd name="T41" fmla="*/ 5 h 75"/>
                      <a:gd name="T42" fmla="*/ 23 w 85"/>
                      <a:gd name="T43" fmla="*/ 6 h 75"/>
                      <a:gd name="T44" fmla="*/ 22 w 85"/>
                      <a:gd name="T45" fmla="*/ 6 h 75"/>
                      <a:gd name="T46" fmla="*/ 20 w 85"/>
                      <a:gd name="T47" fmla="*/ 6 h 75"/>
                      <a:gd name="T48" fmla="*/ 15 w 85"/>
                      <a:gd name="T49" fmla="*/ 9 h 75"/>
                      <a:gd name="T50" fmla="*/ 11 w 85"/>
                      <a:gd name="T51" fmla="*/ 11 h 75"/>
                      <a:gd name="T52" fmla="*/ 5 w 85"/>
                      <a:gd name="T53" fmla="*/ 15 h 75"/>
                      <a:gd name="T54" fmla="*/ 0 w 85"/>
                      <a:gd name="T55" fmla="*/ 19 h 75"/>
                      <a:gd name="T56" fmla="*/ 3 w 85"/>
                      <a:gd name="T57" fmla="*/ 16 h 75"/>
                      <a:gd name="T58" fmla="*/ 9 w 85"/>
                      <a:gd name="T59" fmla="*/ 10 h 75"/>
                      <a:gd name="T60" fmla="*/ 14 w 85"/>
                      <a:gd name="T61" fmla="*/ 8 h 75"/>
                      <a:gd name="T62" fmla="*/ 18 w 85"/>
                      <a:gd name="T63" fmla="*/ 5 h 75"/>
                      <a:gd name="T64" fmla="*/ 21 w 85"/>
                      <a:gd name="T65" fmla="*/ 3 h 75"/>
                      <a:gd name="T66" fmla="*/ 25 w 85"/>
                      <a:gd name="T67" fmla="*/ 2 h 75"/>
                      <a:gd name="T68" fmla="*/ 28 w 85"/>
                      <a:gd name="T69" fmla="*/ 1 h 75"/>
                      <a:gd name="T70" fmla="*/ 33 w 85"/>
                      <a:gd name="T71" fmla="*/ 1 h 75"/>
                      <a:gd name="T72" fmla="*/ 37 w 85"/>
                      <a:gd name="T73" fmla="*/ 0 h 75"/>
                      <a:gd name="T74" fmla="*/ 41 w 85"/>
                      <a:gd name="T75" fmla="*/ 1 h 75"/>
                      <a:gd name="T76" fmla="*/ 45 w 85"/>
                      <a:gd name="T77" fmla="*/ 1 h 75"/>
                      <a:gd name="T78" fmla="*/ 48 w 85"/>
                      <a:gd name="T79" fmla="*/ 1 h 75"/>
                      <a:gd name="T80" fmla="*/ 50 w 85"/>
                      <a:gd name="T81" fmla="*/ 2 h 75"/>
                      <a:gd name="T82" fmla="*/ 53 w 85"/>
                      <a:gd name="T83" fmla="*/ 2 h 75"/>
                      <a:gd name="T84" fmla="*/ 56 w 85"/>
                      <a:gd name="T85" fmla="*/ 3 h 75"/>
                      <a:gd name="T86" fmla="*/ 59 w 85"/>
                      <a:gd name="T87" fmla="*/ 4 h 75"/>
                      <a:gd name="T88" fmla="*/ 63 w 85"/>
                      <a:gd name="T89" fmla="*/ 6 h 75"/>
                      <a:gd name="T90" fmla="*/ 65 w 85"/>
                      <a:gd name="T91" fmla="*/ 9 h 75"/>
                      <a:gd name="T92" fmla="*/ 68 w 85"/>
                      <a:gd name="T93" fmla="*/ 10 h 75"/>
                      <a:gd name="T94" fmla="*/ 73 w 85"/>
                      <a:gd name="T95" fmla="*/ 15 h 75"/>
                      <a:gd name="T96" fmla="*/ 79 w 85"/>
                      <a:gd name="T97" fmla="*/ 21 h 75"/>
                      <a:gd name="T98" fmla="*/ 82 w 85"/>
                      <a:gd name="T99" fmla="*/ 28 h 75"/>
                      <a:gd name="T100" fmla="*/ 84 w 85"/>
                      <a:gd name="T101" fmla="*/ 35 h 75"/>
                      <a:gd name="T102" fmla="*/ 85 w 85"/>
                      <a:gd name="T103" fmla="*/ 43 h 75"/>
                      <a:gd name="T104" fmla="*/ 84 w 85"/>
                      <a:gd name="T105" fmla="*/ 50 h 75"/>
                      <a:gd name="T106" fmla="*/ 83 w 85"/>
                      <a:gd name="T107" fmla="*/ 58 h 75"/>
                      <a:gd name="T108" fmla="*/ 79 w 85"/>
                      <a:gd name="T109" fmla="*/ 64 h 75"/>
                      <a:gd name="T110" fmla="*/ 79 w 85"/>
                      <a:gd name="T111" fmla="*/ 66 h 75"/>
                      <a:gd name="T112" fmla="*/ 76 w 85"/>
                      <a:gd name="T113" fmla="*/ 71 h 75"/>
                      <a:gd name="T114" fmla="*/ 71 w 85"/>
                      <a:gd name="T115" fmla="*/ 75 h 75"/>
                      <a:gd name="T116" fmla="*/ 73 w 85"/>
                      <a:gd name="T117" fmla="*/ 73 h 75"/>
                      <a:gd name="T118" fmla="*/ 78 w 85"/>
                      <a:gd name="T119" fmla="*/ 65 h 75"/>
                      <a:gd name="T120" fmla="*/ 78 w 85"/>
                      <a:gd name="T121" fmla="*/ 65 h 75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60000 65536"/>
                      <a:gd name="T175" fmla="*/ 0 60000 65536"/>
                      <a:gd name="T176" fmla="*/ 0 60000 65536"/>
                      <a:gd name="T177" fmla="*/ 0 60000 65536"/>
                      <a:gd name="T178" fmla="*/ 0 60000 65536"/>
                      <a:gd name="T179" fmla="*/ 0 60000 65536"/>
                      <a:gd name="T180" fmla="*/ 0 60000 65536"/>
                      <a:gd name="T181" fmla="*/ 0 60000 65536"/>
                      <a:gd name="T182" fmla="*/ 0 60000 65536"/>
                      <a:gd name="T183" fmla="*/ 0 w 85"/>
                      <a:gd name="T184" fmla="*/ 0 h 75"/>
                      <a:gd name="T185" fmla="*/ 85 w 85"/>
                      <a:gd name="T186" fmla="*/ 75 h 75"/>
                    </a:gdLst>
                    <a:ahLst/>
                    <a:cxnLst>
                      <a:cxn ang="T122">
                        <a:pos x="T0" y="T1"/>
                      </a:cxn>
                      <a:cxn ang="T123">
                        <a:pos x="T2" y="T3"/>
                      </a:cxn>
                      <a:cxn ang="T124">
                        <a:pos x="T4" y="T5"/>
                      </a:cxn>
                      <a:cxn ang="T125">
                        <a:pos x="T6" y="T7"/>
                      </a:cxn>
                      <a:cxn ang="T126">
                        <a:pos x="T8" y="T9"/>
                      </a:cxn>
                      <a:cxn ang="T127">
                        <a:pos x="T10" y="T11"/>
                      </a:cxn>
                      <a:cxn ang="T128">
                        <a:pos x="T12" y="T13"/>
                      </a:cxn>
                      <a:cxn ang="T129">
                        <a:pos x="T14" y="T15"/>
                      </a:cxn>
                      <a:cxn ang="T130">
                        <a:pos x="T16" y="T17"/>
                      </a:cxn>
                      <a:cxn ang="T131">
                        <a:pos x="T18" y="T19"/>
                      </a:cxn>
                      <a:cxn ang="T132">
                        <a:pos x="T20" y="T21"/>
                      </a:cxn>
                      <a:cxn ang="T133">
                        <a:pos x="T22" y="T23"/>
                      </a:cxn>
                      <a:cxn ang="T134">
                        <a:pos x="T24" y="T25"/>
                      </a:cxn>
                      <a:cxn ang="T135">
                        <a:pos x="T26" y="T27"/>
                      </a:cxn>
                      <a:cxn ang="T136">
                        <a:pos x="T28" y="T29"/>
                      </a:cxn>
                      <a:cxn ang="T137">
                        <a:pos x="T30" y="T31"/>
                      </a:cxn>
                      <a:cxn ang="T138">
                        <a:pos x="T32" y="T33"/>
                      </a:cxn>
                      <a:cxn ang="T139">
                        <a:pos x="T34" y="T35"/>
                      </a:cxn>
                      <a:cxn ang="T140">
                        <a:pos x="T36" y="T37"/>
                      </a:cxn>
                      <a:cxn ang="T141">
                        <a:pos x="T38" y="T39"/>
                      </a:cxn>
                      <a:cxn ang="T142">
                        <a:pos x="T40" y="T41"/>
                      </a:cxn>
                      <a:cxn ang="T143">
                        <a:pos x="T42" y="T43"/>
                      </a:cxn>
                      <a:cxn ang="T144">
                        <a:pos x="T44" y="T45"/>
                      </a:cxn>
                      <a:cxn ang="T145">
                        <a:pos x="T46" y="T47"/>
                      </a:cxn>
                      <a:cxn ang="T146">
                        <a:pos x="T48" y="T49"/>
                      </a:cxn>
                      <a:cxn ang="T147">
                        <a:pos x="T50" y="T51"/>
                      </a:cxn>
                      <a:cxn ang="T148">
                        <a:pos x="T52" y="T53"/>
                      </a:cxn>
                      <a:cxn ang="T149">
                        <a:pos x="T54" y="T55"/>
                      </a:cxn>
                      <a:cxn ang="T150">
                        <a:pos x="T56" y="T57"/>
                      </a:cxn>
                      <a:cxn ang="T151">
                        <a:pos x="T58" y="T59"/>
                      </a:cxn>
                      <a:cxn ang="T152">
                        <a:pos x="T60" y="T61"/>
                      </a:cxn>
                      <a:cxn ang="T153">
                        <a:pos x="T62" y="T63"/>
                      </a:cxn>
                      <a:cxn ang="T154">
                        <a:pos x="T64" y="T65"/>
                      </a:cxn>
                      <a:cxn ang="T155">
                        <a:pos x="T66" y="T67"/>
                      </a:cxn>
                      <a:cxn ang="T156">
                        <a:pos x="T68" y="T69"/>
                      </a:cxn>
                      <a:cxn ang="T157">
                        <a:pos x="T70" y="T71"/>
                      </a:cxn>
                      <a:cxn ang="T158">
                        <a:pos x="T72" y="T73"/>
                      </a:cxn>
                      <a:cxn ang="T159">
                        <a:pos x="T74" y="T75"/>
                      </a:cxn>
                      <a:cxn ang="T160">
                        <a:pos x="T76" y="T77"/>
                      </a:cxn>
                      <a:cxn ang="T161">
                        <a:pos x="T78" y="T79"/>
                      </a:cxn>
                      <a:cxn ang="T162">
                        <a:pos x="T80" y="T81"/>
                      </a:cxn>
                      <a:cxn ang="T163">
                        <a:pos x="T82" y="T83"/>
                      </a:cxn>
                      <a:cxn ang="T164">
                        <a:pos x="T84" y="T85"/>
                      </a:cxn>
                      <a:cxn ang="T165">
                        <a:pos x="T86" y="T87"/>
                      </a:cxn>
                      <a:cxn ang="T166">
                        <a:pos x="T88" y="T89"/>
                      </a:cxn>
                      <a:cxn ang="T167">
                        <a:pos x="T90" y="T91"/>
                      </a:cxn>
                      <a:cxn ang="T168">
                        <a:pos x="T92" y="T93"/>
                      </a:cxn>
                      <a:cxn ang="T169">
                        <a:pos x="T94" y="T95"/>
                      </a:cxn>
                      <a:cxn ang="T170">
                        <a:pos x="T96" y="T97"/>
                      </a:cxn>
                      <a:cxn ang="T171">
                        <a:pos x="T98" y="T99"/>
                      </a:cxn>
                      <a:cxn ang="T172">
                        <a:pos x="T100" y="T101"/>
                      </a:cxn>
                      <a:cxn ang="T173">
                        <a:pos x="T102" y="T103"/>
                      </a:cxn>
                      <a:cxn ang="T174">
                        <a:pos x="T104" y="T105"/>
                      </a:cxn>
                      <a:cxn ang="T175">
                        <a:pos x="T106" y="T107"/>
                      </a:cxn>
                      <a:cxn ang="T176">
                        <a:pos x="T108" y="T109"/>
                      </a:cxn>
                      <a:cxn ang="T177">
                        <a:pos x="T110" y="T111"/>
                      </a:cxn>
                      <a:cxn ang="T178">
                        <a:pos x="T112" y="T113"/>
                      </a:cxn>
                      <a:cxn ang="T179">
                        <a:pos x="T114" y="T115"/>
                      </a:cxn>
                      <a:cxn ang="T180">
                        <a:pos x="T116" y="T117"/>
                      </a:cxn>
                      <a:cxn ang="T181">
                        <a:pos x="T118" y="T119"/>
                      </a:cxn>
                      <a:cxn ang="T182">
                        <a:pos x="T120" y="T121"/>
                      </a:cxn>
                    </a:cxnLst>
                    <a:rect l="T183" t="T184" r="T185" b="T186"/>
                    <a:pathLst>
                      <a:path w="85" h="75">
                        <a:moveTo>
                          <a:pt x="78" y="65"/>
                        </a:moveTo>
                        <a:lnTo>
                          <a:pt x="80" y="58"/>
                        </a:lnTo>
                        <a:lnTo>
                          <a:pt x="81" y="50"/>
                        </a:lnTo>
                        <a:lnTo>
                          <a:pt x="81" y="48"/>
                        </a:lnTo>
                        <a:lnTo>
                          <a:pt x="81" y="41"/>
                        </a:lnTo>
                        <a:lnTo>
                          <a:pt x="79" y="33"/>
                        </a:lnTo>
                        <a:lnTo>
                          <a:pt x="74" y="27"/>
                        </a:lnTo>
                        <a:lnTo>
                          <a:pt x="70" y="20"/>
                        </a:lnTo>
                        <a:lnTo>
                          <a:pt x="65" y="15"/>
                        </a:lnTo>
                        <a:lnTo>
                          <a:pt x="64" y="14"/>
                        </a:lnTo>
                        <a:lnTo>
                          <a:pt x="61" y="13"/>
                        </a:lnTo>
                        <a:lnTo>
                          <a:pt x="57" y="10"/>
                        </a:lnTo>
                        <a:lnTo>
                          <a:pt x="54" y="9"/>
                        </a:lnTo>
                        <a:lnTo>
                          <a:pt x="52" y="8"/>
                        </a:lnTo>
                        <a:lnTo>
                          <a:pt x="49" y="6"/>
                        </a:lnTo>
                        <a:lnTo>
                          <a:pt x="46" y="6"/>
                        </a:lnTo>
                        <a:lnTo>
                          <a:pt x="42" y="5"/>
                        </a:lnTo>
                        <a:lnTo>
                          <a:pt x="39" y="4"/>
                        </a:lnTo>
                        <a:lnTo>
                          <a:pt x="33" y="4"/>
                        </a:lnTo>
                        <a:lnTo>
                          <a:pt x="28" y="5"/>
                        </a:lnTo>
                        <a:lnTo>
                          <a:pt x="27" y="5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5" y="9"/>
                        </a:lnTo>
                        <a:lnTo>
                          <a:pt x="11" y="11"/>
                        </a:lnTo>
                        <a:lnTo>
                          <a:pt x="5" y="15"/>
                        </a:lnTo>
                        <a:lnTo>
                          <a:pt x="0" y="19"/>
                        </a:lnTo>
                        <a:lnTo>
                          <a:pt x="3" y="16"/>
                        </a:lnTo>
                        <a:lnTo>
                          <a:pt x="9" y="10"/>
                        </a:lnTo>
                        <a:lnTo>
                          <a:pt x="14" y="8"/>
                        </a:lnTo>
                        <a:lnTo>
                          <a:pt x="18" y="5"/>
                        </a:lnTo>
                        <a:lnTo>
                          <a:pt x="21" y="3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3" y="1"/>
                        </a:lnTo>
                        <a:lnTo>
                          <a:pt x="37" y="0"/>
                        </a:lnTo>
                        <a:lnTo>
                          <a:pt x="41" y="1"/>
                        </a:lnTo>
                        <a:lnTo>
                          <a:pt x="45" y="1"/>
                        </a:lnTo>
                        <a:lnTo>
                          <a:pt x="48" y="1"/>
                        </a:lnTo>
                        <a:lnTo>
                          <a:pt x="50" y="2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9" y="4"/>
                        </a:lnTo>
                        <a:lnTo>
                          <a:pt x="63" y="6"/>
                        </a:lnTo>
                        <a:lnTo>
                          <a:pt x="65" y="9"/>
                        </a:lnTo>
                        <a:lnTo>
                          <a:pt x="68" y="10"/>
                        </a:lnTo>
                        <a:lnTo>
                          <a:pt x="73" y="15"/>
                        </a:lnTo>
                        <a:lnTo>
                          <a:pt x="79" y="21"/>
                        </a:lnTo>
                        <a:lnTo>
                          <a:pt x="82" y="28"/>
                        </a:lnTo>
                        <a:lnTo>
                          <a:pt x="84" y="35"/>
                        </a:lnTo>
                        <a:lnTo>
                          <a:pt x="85" y="43"/>
                        </a:lnTo>
                        <a:lnTo>
                          <a:pt x="84" y="50"/>
                        </a:lnTo>
                        <a:lnTo>
                          <a:pt x="83" y="58"/>
                        </a:lnTo>
                        <a:lnTo>
                          <a:pt x="79" y="64"/>
                        </a:lnTo>
                        <a:lnTo>
                          <a:pt x="79" y="66"/>
                        </a:lnTo>
                        <a:lnTo>
                          <a:pt x="76" y="71"/>
                        </a:lnTo>
                        <a:lnTo>
                          <a:pt x="71" y="75"/>
                        </a:lnTo>
                        <a:lnTo>
                          <a:pt x="73" y="73"/>
                        </a:lnTo>
                        <a:lnTo>
                          <a:pt x="78" y="65"/>
                        </a:lnTo>
                        <a:close/>
                      </a:path>
                    </a:pathLst>
                  </a:custGeom>
                  <a:solidFill>
                    <a:srgbClr val="FF27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32" name="Freeform 349"/>
                  <p:cNvSpPr>
                    <a:spLocks/>
                  </p:cNvSpPr>
                  <p:nvPr/>
                </p:nvSpPr>
                <p:spPr bwMode="auto">
                  <a:xfrm>
                    <a:off x="3790" y="2349"/>
                    <a:ext cx="85" cy="75"/>
                  </a:xfrm>
                  <a:custGeom>
                    <a:avLst/>
                    <a:gdLst>
                      <a:gd name="T0" fmla="*/ 78 w 85"/>
                      <a:gd name="T1" fmla="*/ 65 h 75"/>
                      <a:gd name="T2" fmla="*/ 80 w 85"/>
                      <a:gd name="T3" fmla="*/ 58 h 75"/>
                      <a:gd name="T4" fmla="*/ 81 w 85"/>
                      <a:gd name="T5" fmla="*/ 50 h 75"/>
                      <a:gd name="T6" fmla="*/ 81 w 85"/>
                      <a:gd name="T7" fmla="*/ 48 h 75"/>
                      <a:gd name="T8" fmla="*/ 81 w 85"/>
                      <a:gd name="T9" fmla="*/ 41 h 75"/>
                      <a:gd name="T10" fmla="*/ 79 w 85"/>
                      <a:gd name="T11" fmla="*/ 33 h 75"/>
                      <a:gd name="T12" fmla="*/ 74 w 85"/>
                      <a:gd name="T13" fmla="*/ 27 h 75"/>
                      <a:gd name="T14" fmla="*/ 70 w 85"/>
                      <a:gd name="T15" fmla="*/ 20 h 75"/>
                      <a:gd name="T16" fmla="*/ 65 w 85"/>
                      <a:gd name="T17" fmla="*/ 15 h 75"/>
                      <a:gd name="T18" fmla="*/ 64 w 85"/>
                      <a:gd name="T19" fmla="*/ 14 h 75"/>
                      <a:gd name="T20" fmla="*/ 61 w 85"/>
                      <a:gd name="T21" fmla="*/ 13 h 75"/>
                      <a:gd name="T22" fmla="*/ 57 w 85"/>
                      <a:gd name="T23" fmla="*/ 10 h 75"/>
                      <a:gd name="T24" fmla="*/ 54 w 85"/>
                      <a:gd name="T25" fmla="*/ 9 h 75"/>
                      <a:gd name="T26" fmla="*/ 52 w 85"/>
                      <a:gd name="T27" fmla="*/ 8 h 75"/>
                      <a:gd name="T28" fmla="*/ 49 w 85"/>
                      <a:gd name="T29" fmla="*/ 6 h 75"/>
                      <a:gd name="T30" fmla="*/ 46 w 85"/>
                      <a:gd name="T31" fmla="*/ 6 h 75"/>
                      <a:gd name="T32" fmla="*/ 42 w 85"/>
                      <a:gd name="T33" fmla="*/ 5 h 75"/>
                      <a:gd name="T34" fmla="*/ 39 w 85"/>
                      <a:gd name="T35" fmla="*/ 4 h 75"/>
                      <a:gd name="T36" fmla="*/ 33 w 85"/>
                      <a:gd name="T37" fmla="*/ 4 h 75"/>
                      <a:gd name="T38" fmla="*/ 28 w 85"/>
                      <a:gd name="T39" fmla="*/ 5 h 75"/>
                      <a:gd name="T40" fmla="*/ 27 w 85"/>
                      <a:gd name="T41" fmla="*/ 5 h 75"/>
                      <a:gd name="T42" fmla="*/ 23 w 85"/>
                      <a:gd name="T43" fmla="*/ 6 h 75"/>
                      <a:gd name="T44" fmla="*/ 22 w 85"/>
                      <a:gd name="T45" fmla="*/ 6 h 75"/>
                      <a:gd name="T46" fmla="*/ 20 w 85"/>
                      <a:gd name="T47" fmla="*/ 6 h 75"/>
                      <a:gd name="T48" fmla="*/ 15 w 85"/>
                      <a:gd name="T49" fmla="*/ 9 h 75"/>
                      <a:gd name="T50" fmla="*/ 11 w 85"/>
                      <a:gd name="T51" fmla="*/ 11 h 75"/>
                      <a:gd name="T52" fmla="*/ 5 w 85"/>
                      <a:gd name="T53" fmla="*/ 15 h 75"/>
                      <a:gd name="T54" fmla="*/ 0 w 85"/>
                      <a:gd name="T55" fmla="*/ 19 h 75"/>
                      <a:gd name="T56" fmla="*/ 3 w 85"/>
                      <a:gd name="T57" fmla="*/ 16 h 75"/>
                      <a:gd name="T58" fmla="*/ 9 w 85"/>
                      <a:gd name="T59" fmla="*/ 10 h 75"/>
                      <a:gd name="T60" fmla="*/ 14 w 85"/>
                      <a:gd name="T61" fmla="*/ 8 h 75"/>
                      <a:gd name="T62" fmla="*/ 18 w 85"/>
                      <a:gd name="T63" fmla="*/ 5 h 75"/>
                      <a:gd name="T64" fmla="*/ 21 w 85"/>
                      <a:gd name="T65" fmla="*/ 3 h 75"/>
                      <a:gd name="T66" fmla="*/ 25 w 85"/>
                      <a:gd name="T67" fmla="*/ 2 h 75"/>
                      <a:gd name="T68" fmla="*/ 28 w 85"/>
                      <a:gd name="T69" fmla="*/ 1 h 75"/>
                      <a:gd name="T70" fmla="*/ 33 w 85"/>
                      <a:gd name="T71" fmla="*/ 1 h 75"/>
                      <a:gd name="T72" fmla="*/ 37 w 85"/>
                      <a:gd name="T73" fmla="*/ 0 h 75"/>
                      <a:gd name="T74" fmla="*/ 41 w 85"/>
                      <a:gd name="T75" fmla="*/ 1 h 75"/>
                      <a:gd name="T76" fmla="*/ 45 w 85"/>
                      <a:gd name="T77" fmla="*/ 1 h 75"/>
                      <a:gd name="T78" fmla="*/ 48 w 85"/>
                      <a:gd name="T79" fmla="*/ 1 h 75"/>
                      <a:gd name="T80" fmla="*/ 50 w 85"/>
                      <a:gd name="T81" fmla="*/ 2 h 75"/>
                      <a:gd name="T82" fmla="*/ 53 w 85"/>
                      <a:gd name="T83" fmla="*/ 2 h 75"/>
                      <a:gd name="T84" fmla="*/ 56 w 85"/>
                      <a:gd name="T85" fmla="*/ 3 h 75"/>
                      <a:gd name="T86" fmla="*/ 59 w 85"/>
                      <a:gd name="T87" fmla="*/ 4 h 75"/>
                      <a:gd name="T88" fmla="*/ 63 w 85"/>
                      <a:gd name="T89" fmla="*/ 6 h 75"/>
                      <a:gd name="T90" fmla="*/ 65 w 85"/>
                      <a:gd name="T91" fmla="*/ 9 h 75"/>
                      <a:gd name="T92" fmla="*/ 68 w 85"/>
                      <a:gd name="T93" fmla="*/ 10 h 75"/>
                      <a:gd name="T94" fmla="*/ 73 w 85"/>
                      <a:gd name="T95" fmla="*/ 15 h 75"/>
                      <a:gd name="T96" fmla="*/ 79 w 85"/>
                      <a:gd name="T97" fmla="*/ 21 h 75"/>
                      <a:gd name="T98" fmla="*/ 82 w 85"/>
                      <a:gd name="T99" fmla="*/ 28 h 75"/>
                      <a:gd name="T100" fmla="*/ 84 w 85"/>
                      <a:gd name="T101" fmla="*/ 35 h 75"/>
                      <a:gd name="T102" fmla="*/ 85 w 85"/>
                      <a:gd name="T103" fmla="*/ 43 h 75"/>
                      <a:gd name="T104" fmla="*/ 84 w 85"/>
                      <a:gd name="T105" fmla="*/ 50 h 75"/>
                      <a:gd name="T106" fmla="*/ 83 w 85"/>
                      <a:gd name="T107" fmla="*/ 58 h 75"/>
                      <a:gd name="T108" fmla="*/ 79 w 85"/>
                      <a:gd name="T109" fmla="*/ 64 h 75"/>
                      <a:gd name="T110" fmla="*/ 79 w 85"/>
                      <a:gd name="T111" fmla="*/ 66 h 75"/>
                      <a:gd name="T112" fmla="*/ 76 w 85"/>
                      <a:gd name="T113" fmla="*/ 71 h 75"/>
                      <a:gd name="T114" fmla="*/ 71 w 85"/>
                      <a:gd name="T115" fmla="*/ 75 h 75"/>
                      <a:gd name="T116" fmla="*/ 73 w 85"/>
                      <a:gd name="T117" fmla="*/ 73 h 75"/>
                      <a:gd name="T118" fmla="*/ 78 w 85"/>
                      <a:gd name="T119" fmla="*/ 65 h 75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60000 65536"/>
                      <a:gd name="T175" fmla="*/ 0 60000 65536"/>
                      <a:gd name="T176" fmla="*/ 0 60000 65536"/>
                      <a:gd name="T177" fmla="*/ 0 60000 65536"/>
                      <a:gd name="T178" fmla="*/ 0 60000 65536"/>
                      <a:gd name="T179" fmla="*/ 0 60000 65536"/>
                      <a:gd name="T180" fmla="*/ 0 w 85"/>
                      <a:gd name="T181" fmla="*/ 0 h 75"/>
                      <a:gd name="T182" fmla="*/ 85 w 85"/>
                      <a:gd name="T183" fmla="*/ 75 h 75"/>
                    </a:gdLst>
                    <a:ahLst/>
                    <a:cxnLst>
                      <a:cxn ang="T120">
                        <a:pos x="T0" y="T1"/>
                      </a:cxn>
                      <a:cxn ang="T121">
                        <a:pos x="T2" y="T3"/>
                      </a:cxn>
                      <a:cxn ang="T122">
                        <a:pos x="T4" y="T5"/>
                      </a:cxn>
                      <a:cxn ang="T123">
                        <a:pos x="T6" y="T7"/>
                      </a:cxn>
                      <a:cxn ang="T124">
                        <a:pos x="T8" y="T9"/>
                      </a:cxn>
                      <a:cxn ang="T125">
                        <a:pos x="T10" y="T11"/>
                      </a:cxn>
                      <a:cxn ang="T126">
                        <a:pos x="T12" y="T13"/>
                      </a:cxn>
                      <a:cxn ang="T127">
                        <a:pos x="T14" y="T15"/>
                      </a:cxn>
                      <a:cxn ang="T128">
                        <a:pos x="T16" y="T17"/>
                      </a:cxn>
                      <a:cxn ang="T129">
                        <a:pos x="T18" y="T19"/>
                      </a:cxn>
                      <a:cxn ang="T130">
                        <a:pos x="T20" y="T21"/>
                      </a:cxn>
                      <a:cxn ang="T131">
                        <a:pos x="T22" y="T23"/>
                      </a:cxn>
                      <a:cxn ang="T132">
                        <a:pos x="T24" y="T25"/>
                      </a:cxn>
                      <a:cxn ang="T133">
                        <a:pos x="T26" y="T27"/>
                      </a:cxn>
                      <a:cxn ang="T134">
                        <a:pos x="T28" y="T29"/>
                      </a:cxn>
                      <a:cxn ang="T135">
                        <a:pos x="T30" y="T31"/>
                      </a:cxn>
                      <a:cxn ang="T136">
                        <a:pos x="T32" y="T33"/>
                      </a:cxn>
                      <a:cxn ang="T137">
                        <a:pos x="T34" y="T35"/>
                      </a:cxn>
                      <a:cxn ang="T138">
                        <a:pos x="T36" y="T37"/>
                      </a:cxn>
                      <a:cxn ang="T139">
                        <a:pos x="T38" y="T39"/>
                      </a:cxn>
                      <a:cxn ang="T140">
                        <a:pos x="T40" y="T41"/>
                      </a:cxn>
                      <a:cxn ang="T141">
                        <a:pos x="T42" y="T43"/>
                      </a:cxn>
                      <a:cxn ang="T142">
                        <a:pos x="T44" y="T45"/>
                      </a:cxn>
                      <a:cxn ang="T143">
                        <a:pos x="T46" y="T47"/>
                      </a:cxn>
                      <a:cxn ang="T144">
                        <a:pos x="T48" y="T49"/>
                      </a:cxn>
                      <a:cxn ang="T145">
                        <a:pos x="T50" y="T51"/>
                      </a:cxn>
                      <a:cxn ang="T146">
                        <a:pos x="T52" y="T53"/>
                      </a:cxn>
                      <a:cxn ang="T147">
                        <a:pos x="T54" y="T55"/>
                      </a:cxn>
                      <a:cxn ang="T148">
                        <a:pos x="T56" y="T57"/>
                      </a:cxn>
                      <a:cxn ang="T149">
                        <a:pos x="T58" y="T59"/>
                      </a:cxn>
                      <a:cxn ang="T150">
                        <a:pos x="T60" y="T61"/>
                      </a:cxn>
                      <a:cxn ang="T151">
                        <a:pos x="T62" y="T63"/>
                      </a:cxn>
                      <a:cxn ang="T152">
                        <a:pos x="T64" y="T65"/>
                      </a:cxn>
                      <a:cxn ang="T153">
                        <a:pos x="T66" y="T67"/>
                      </a:cxn>
                      <a:cxn ang="T154">
                        <a:pos x="T68" y="T69"/>
                      </a:cxn>
                      <a:cxn ang="T155">
                        <a:pos x="T70" y="T71"/>
                      </a:cxn>
                      <a:cxn ang="T156">
                        <a:pos x="T72" y="T73"/>
                      </a:cxn>
                      <a:cxn ang="T157">
                        <a:pos x="T74" y="T75"/>
                      </a:cxn>
                      <a:cxn ang="T158">
                        <a:pos x="T76" y="T77"/>
                      </a:cxn>
                      <a:cxn ang="T159">
                        <a:pos x="T78" y="T79"/>
                      </a:cxn>
                      <a:cxn ang="T160">
                        <a:pos x="T80" y="T81"/>
                      </a:cxn>
                      <a:cxn ang="T161">
                        <a:pos x="T82" y="T83"/>
                      </a:cxn>
                      <a:cxn ang="T162">
                        <a:pos x="T84" y="T85"/>
                      </a:cxn>
                      <a:cxn ang="T163">
                        <a:pos x="T86" y="T87"/>
                      </a:cxn>
                      <a:cxn ang="T164">
                        <a:pos x="T88" y="T89"/>
                      </a:cxn>
                      <a:cxn ang="T165">
                        <a:pos x="T90" y="T91"/>
                      </a:cxn>
                      <a:cxn ang="T166">
                        <a:pos x="T92" y="T93"/>
                      </a:cxn>
                      <a:cxn ang="T167">
                        <a:pos x="T94" y="T95"/>
                      </a:cxn>
                      <a:cxn ang="T168">
                        <a:pos x="T96" y="T97"/>
                      </a:cxn>
                      <a:cxn ang="T169">
                        <a:pos x="T98" y="T99"/>
                      </a:cxn>
                      <a:cxn ang="T170">
                        <a:pos x="T100" y="T101"/>
                      </a:cxn>
                      <a:cxn ang="T171">
                        <a:pos x="T102" y="T103"/>
                      </a:cxn>
                      <a:cxn ang="T172">
                        <a:pos x="T104" y="T105"/>
                      </a:cxn>
                      <a:cxn ang="T173">
                        <a:pos x="T106" y="T107"/>
                      </a:cxn>
                      <a:cxn ang="T174">
                        <a:pos x="T108" y="T109"/>
                      </a:cxn>
                      <a:cxn ang="T175">
                        <a:pos x="T110" y="T111"/>
                      </a:cxn>
                      <a:cxn ang="T176">
                        <a:pos x="T112" y="T113"/>
                      </a:cxn>
                      <a:cxn ang="T177">
                        <a:pos x="T114" y="T115"/>
                      </a:cxn>
                      <a:cxn ang="T178">
                        <a:pos x="T116" y="T117"/>
                      </a:cxn>
                      <a:cxn ang="T179">
                        <a:pos x="T118" y="T119"/>
                      </a:cxn>
                    </a:cxnLst>
                    <a:rect l="T180" t="T181" r="T182" b="T183"/>
                    <a:pathLst>
                      <a:path w="85" h="75">
                        <a:moveTo>
                          <a:pt x="78" y="65"/>
                        </a:moveTo>
                        <a:lnTo>
                          <a:pt x="80" y="58"/>
                        </a:lnTo>
                        <a:lnTo>
                          <a:pt x="81" y="50"/>
                        </a:lnTo>
                        <a:lnTo>
                          <a:pt x="81" y="48"/>
                        </a:lnTo>
                        <a:lnTo>
                          <a:pt x="81" y="41"/>
                        </a:lnTo>
                        <a:lnTo>
                          <a:pt x="79" y="33"/>
                        </a:lnTo>
                        <a:lnTo>
                          <a:pt x="74" y="27"/>
                        </a:lnTo>
                        <a:lnTo>
                          <a:pt x="70" y="20"/>
                        </a:lnTo>
                        <a:lnTo>
                          <a:pt x="65" y="15"/>
                        </a:lnTo>
                        <a:lnTo>
                          <a:pt x="64" y="14"/>
                        </a:lnTo>
                        <a:lnTo>
                          <a:pt x="61" y="13"/>
                        </a:lnTo>
                        <a:lnTo>
                          <a:pt x="57" y="10"/>
                        </a:lnTo>
                        <a:lnTo>
                          <a:pt x="54" y="9"/>
                        </a:lnTo>
                        <a:lnTo>
                          <a:pt x="52" y="8"/>
                        </a:lnTo>
                        <a:lnTo>
                          <a:pt x="49" y="6"/>
                        </a:lnTo>
                        <a:lnTo>
                          <a:pt x="46" y="6"/>
                        </a:lnTo>
                        <a:lnTo>
                          <a:pt x="42" y="5"/>
                        </a:lnTo>
                        <a:lnTo>
                          <a:pt x="39" y="4"/>
                        </a:lnTo>
                        <a:lnTo>
                          <a:pt x="33" y="4"/>
                        </a:lnTo>
                        <a:lnTo>
                          <a:pt x="28" y="5"/>
                        </a:lnTo>
                        <a:lnTo>
                          <a:pt x="27" y="5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5" y="9"/>
                        </a:lnTo>
                        <a:lnTo>
                          <a:pt x="11" y="11"/>
                        </a:lnTo>
                        <a:lnTo>
                          <a:pt x="5" y="15"/>
                        </a:lnTo>
                        <a:lnTo>
                          <a:pt x="0" y="19"/>
                        </a:lnTo>
                        <a:lnTo>
                          <a:pt x="3" y="16"/>
                        </a:lnTo>
                        <a:lnTo>
                          <a:pt x="9" y="10"/>
                        </a:lnTo>
                        <a:lnTo>
                          <a:pt x="14" y="8"/>
                        </a:lnTo>
                        <a:lnTo>
                          <a:pt x="18" y="5"/>
                        </a:lnTo>
                        <a:lnTo>
                          <a:pt x="21" y="3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3" y="1"/>
                        </a:lnTo>
                        <a:lnTo>
                          <a:pt x="37" y="0"/>
                        </a:lnTo>
                        <a:lnTo>
                          <a:pt x="41" y="1"/>
                        </a:lnTo>
                        <a:lnTo>
                          <a:pt x="45" y="1"/>
                        </a:lnTo>
                        <a:lnTo>
                          <a:pt x="48" y="1"/>
                        </a:lnTo>
                        <a:lnTo>
                          <a:pt x="50" y="2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9" y="4"/>
                        </a:lnTo>
                        <a:lnTo>
                          <a:pt x="63" y="6"/>
                        </a:lnTo>
                        <a:lnTo>
                          <a:pt x="65" y="9"/>
                        </a:lnTo>
                        <a:lnTo>
                          <a:pt x="68" y="10"/>
                        </a:lnTo>
                        <a:lnTo>
                          <a:pt x="73" y="15"/>
                        </a:lnTo>
                        <a:lnTo>
                          <a:pt x="79" y="21"/>
                        </a:lnTo>
                        <a:lnTo>
                          <a:pt x="82" y="28"/>
                        </a:lnTo>
                        <a:lnTo>
                          <a:pt x="84" y="35"/>
                        </a:lnTo>
                        <a:lnTo>
                          <a:pt x="85" y="43"/>
                        </a:lnTo>
                        <a:lnTo>
                          <a:pt x="84" y="50"/>
                        </a:lnTo>
                        <a:lnTo>
                          <a:pt x="83" y="58"/>
                        </a:lnTo>
                        <a:lnTo>
                          <a:pt x="79" y="64"/>
                        </a:lnTo>
                        <a:lnTo>
                          <a:pt x="79" y="66"/>
                        </a:lnTo>
                        <a:lnTo>
                          <a:pt x="76" y="71"/>
                        </a:lnTo>
                        <a:lnTo>
                          <a:pt x="71" y="75"/>
                        </a:lnTo>
                        <a:lnTo>
                          <a:pt x="73" y="73"/>
                        </a:lnTo>
                        <a:lnTo>
                          <a:pt x="78" y="6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33" name="Freeform 350"/>
                  <p:cNvSpPr>
                    <a:spLocks/>
                  </p:cNvSpPr>
                  <p:nvPr/>
                </p:nvSpPr>
                <p:spPr bwMode="auto">
                  <a:xfrm>
                    <a:off x="3778" y="2353"/>
                    <a:ext cx="93" cy="87"/>
                  </a:xfrm>
                  <a:custGeom>
                    <a:avLst/>
                    <a:gdLst>
                      <a:gd name="T0" fmla="*/ 93 w 93"/>
                      <a:gd name="T1" fmla="*/ 36 h 87"/>
                      <a:gd name="T2" fmla="*/ 90 w 93"/>
                      <a:gd name="T3" fmla="*/ 29 h 87"/>
                      <a:gd name="T4" fmla="*/ 86 w 93"/>
                      <a:gd name="T5" fmla="*/ 22 h 87"/>
                      <a:gd name="T6" fmla="*/ 82 w 93"/>
                      <a:gd name="T7" fmla="*/ 16 h 87"/>
                      <a:gd name="T8" fmla="*/ 77 w 93"/>
                      <a:gd name="T9" fmla="*/ 11 h 87"/>
                      <a:gd name="T10" fmla="*/ 76 w 93"/>
                      <a:gd name="T11" fmla="*/ 9 h 87"/>
                      <a:gd name="T12" fmla="*/ 73 w 93"/>
                      <a:gd name="T13" fmla="*/ 8 h 87"/>
                      <a:gd name="T14" fmla="*/ 69 w 93"/>
                      <a:gd name="T15" fmla="*/ 6 h 87"/>
                      <a:gd name="T16" fmla="*/ 66 w 93"/>
                      <a:gd name="T17" fmla="*/ 5 h 87"/>
                      <a:gd name="T18" fmla="*/ 63 w 93"/>
                      <a:gd name="T19" fmla="*/ 4 h 87"/>
                      <a:gd name="T20" fmla="*/ 60 w 93"/>
                      <a:gd name="T21" fmla="*/ 2 h 87"/>
                      <a:gd name="T22" fmla="*/ 58 w 93"/>
                      <a:gd name="T23" fmla="*/ 1 h 87"/>
                      <a:gd name="T24" fmla="*/ 54 w 93"/>
                      <a:gd name="T25" fmla="*/ 1 h 87"/>
                      <a:gd name="T26" fmla="*/ 51 w 93"/>
                      <a:gd name="T27" fmla="*/ 0 h 87"/>
                      <a:gd name="T28" fmla="*/ 44 w 93"/>
                      <a:gd name="T29" fmla="*/ 0 h 87"/>
                      <a:gd name="T30" fmla="*/ 39 w 93"/>
                      <a:gd name="T31" fmla="*/ 1 h 87"/>
                      <a:gd name="T32" fmla="*/ 39 w 93"/>
                      <a:gd name="T33" fmla="*/ 1 h 87"/>
                      <a:gd name="T34" fmla="*/ 35 w 93"/>
                      <a:gd name="T35" fmla="*/ 1 h 87"/>
                      <a:gd name="T36" fmla="*/ 33 w 93"/>
                      <a:gd name="T37" fmla="*/ 2 h 87"/>
                      <a:gd name="T38" fmla="*/ 31 w 93"/>
                      <a:gd name="T39" fmla="*/ 2 h 87"/>
                      <a:gd name="T40" fmla="*/ 27 w 93"/>
                      <a:gd name="T41" fmla="*/ 5 h 87"/>
                      <a:gd name="T42" fmla="*/ 23 w 93"/>
                      <a:gd name="T43" fmla="*/ 7 h 87"/>
                      <a:gd name="T44" fmla="*/ 17 w 93"/>
                      <a:gd name="T45" fmla="*/ 10 h 87"/>
                      <a:gd name="T46" fmla="*/ 12 w 93"/>
                      <a:gd name="T47" fmla="*/ 15 h 87"/>
                      <a:gd name="T48" fmla="*/ 6 w 93"/>
                      <a:gd name="T49" fmla="*/ 22 h 87"/>
                      <a:gd name="T50" fmla="*/ 3 w 93"/>
                      <a:gd name="T51" fmla="*/ 28 h 87"/>
                      <a:gd name="T52" fmla="*/ 1 w 93"/>
                      <a:gd name="T53" fmla="*/ 33 h 87"/>
                      <a:gd name="T54" fmla="*/ 1 w 93"/>
                      <a:gd name="T55" fmla="*/ 36 h 87"/>
                      <a:gd name="T56" fmla="*/ 0 w 93"/>
                      <a:gd name="T57" fmla="*/ 42 h 87"/>
                      <a:gd name="T58" fmla="*/ 0 w 93"/>
                      <a:gd name="T59" fmla="*/ 51 h 87"/>
                      <a:gd name="T60" fmla="*/ 2 w 93"/>
                      <a:gd name="T61" fmla="*/ 58 h 87"/>
                      <a:gd name="T62" fmla="*/ 5 w 93"/>
                      <a:gd name="T63" fmla="*/ 64 h 87"/>
                      <a:gd name="T64" fmla="*/ 11 w 93"/>
                      <a:gd name="T65" fmla="*/ 71 h 87"/>
                      <a:gd name="T66" fmla="*/ 18 w 93"/>
                      <a:gd name="T67" fmla="*/ 77 h 87"/>
                      <a:gd name="T68" fmla="*/ 22 w 93"/>
                      <a:gd name="T69" fmla="*/ 80 h 87"/>
                      <a:gd name="T70" fmla="*/ 29 w 93"/>
                      <a:gd name="T71" fmla="*/ 84 h 87"/>
                      <a:gd name="T72" fmla="*/ 36 w 93"/>
                      <a:gd name="T73" fmla="*/ 86 h 87"/>
                      <a:gd name="T74" fmla="*/ 45 w 93"/>
                      <a:gd name="T75" fmla="*/ 87 h 87"/>
                      <a:gd name="T76" fmla="*/ 53 w 93"/>
                      <a:gd name="T77" fmla="*/ 87 h 87"/>
                      <a:gd name="T78" fmla="*/ 54 w 93"/>
                      <a:gd name="T79" fmla="*/ 86 h 87"/>
                      <a:gd name="T80" fmla="*/ 61 w 93"/>
                      <a:gd name="T81" fmla="*/ 85 h 87"/>
                      <a:gd name="T82" fmla="*/ 68 w 93"/>
                      <a:gd name="T83" fmla="*/ 82 h 87"/>
                      <a:gd name="T84" fmla="*/ 75 w 93"/>
                      <a:gd name="T85" fmla="*/ 77 h 87"/>
                      <a:gd name="T86" fmla="*/ 80 w 93"/>
                      <a:gd name="T87" fmla="*/ 73 h 87"/>
                      <a:gd name="T88" fmla="*/ 83 w 93"/>
                      <a:gd name="T89" fmla="*/ 70 h 87"/>
                      <a:gd name="T90" fmla="*/ 84 w 93"/>
                      <a:gd name="T91" fmla="*/ 68 h 87"/>
                      <a:gd name="T92" fmla="*/ 90 w 93"/>
                      <a:gd name="T93" fmla="*/ 60 h 87"/>
                      <a:gd name="T94" fmla="*/ 92 w 93"/>
                      <a:gd name="T95" fmla="*/ 53 h 87"/>
                      <a:gd name="T96" fmla="*/ 93 w 93"/>
                      <a:gd name="T97" fmla="*/ 46 h 87"/>
                      <a:gd name="T98" fmla="*/ 93 w 93"/>
                      <a:gd name="T99" fmla="*/ 44 h 87"/>
                      <a:gd name="T100" fmla="*/ 93 w 93"/>
                      <a:gd name="T101" fmla="*/ 36 h 87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93"/>
                      <a:gd name="T154" fmla="*/ 0 h 87"/>
                      <a:gd name="T155" fmla="*/ 93 w 93"/>
                      <a:gd name="T156" fmla="*/ 87 h 87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93" h="87">
                        <a:moveTo>
                          <a:pt x="93" y="36"/>
                        </a:moveTo>
                        <a:lnTo>
                          <a:pt x="90" y="29"/>
                        </a:lnTo>
                        <a:lnTo>
                          <a:pt x="86" y="22"/>
                        </a:lnTo>
                        <a:lnTo>
                          <a:pt x="82" y="16"/>
                        </a:lnTo>
                        <a:lnTo>
                          <a:pt x="77" y="11"/>
                        </a:lnTo>
                        <a:lnTo>
                          <a:pt x="76" y="9"/>
                        </a:lnTo>
                        <a:lnTo>
                          <a:pt x="73" y="8"/>
                        </a:lnTo>
                        <a:lnTo>
                          <a:pt x="69" y="6"/>
                        </a:lnTo>
                        <a:lnTo>
                          <a:pt x="66" y="5"/>
                        </a:lnTo>
                        <a:lnTo>
                          <a:pt x="63" y="4"/>
                        </a:lnTo>
                        <a:lnTo>
                          <a:pt x="60" y="2"/>
                        </a:lnTo>
                        <a:lnTo>
                          <a:pt x="58" y="1"/>
                        </a:lnTo>
                        <a:lnTo>
                          <a:pt x="54" y="1"/>
                        </a:lnTo>
                        <a:lnTo>
                          <a:pt x="51" y="0"/>
                        </a:lnTo>
                        <a:lnTo>
                          <a:pt x="44" y="0"/>
                        </a:lnTo>
                        <a:lnTo>
                          <a:pt x="39" y="1"/>
                        </a:lnTo>
                        <a:lnTo>
                          <a:pt x="35" y="1"/>
                        </a:lnTo>
                        <a:lnTo>
                          <a:pt x="33" y="2"/>
                        </a:lnTo>
                        <a:lnTo>
                          <a:pt x="31" y="2"/>
                        </a:lnTo>
                        <a:lnTo>
                          <a:pt x="27" y="5"/>
                        </a:lnTo>
                        <a:lnTo>
                          <a:pt x="23" y="7"/>
                        </a:lnTo>
                        <a:lnTo>
                          <a:pt x="17" y="10"/>
                        </a:lnTo>
                        <a:lnTo>
                          <a:pt x="12" y="15"/>
                        </a:lnTo>
                        <a:lnTo>
                          <a:pt x="6" y="22"/>
                        </a:lnTo>
                        <a:lnTo>
                          <a:pt x="3" y="28"/>
                        </a:lnTo>
                        <a:lnTo>
                          <a:pt x="1" y="33"/>
                        </a:lnTo>
                        <a:lnTo>
                          <a:pt x="1" y="36"/>
                        </a:lnTo>
                        <a:lnTo>
                          <a:pt x="0" y="42"/>
                        </a:lnTo>
                        <a:lnTo>
                          <a:pt x="0" y="51"/>
                        </a:lnTo>
                        <a:lnTo>
                          <a:pt x="2" y="58"/>
                        </a:lnTo>
                        <a:lnTo>
                          <a:pt x="5" y="64"/>
                        </a:lnTo>
                        <a:lnTo>
                          <a:pt x="11" y="71"/>
                        </a:lnTo>
                        <a:lnTo>
                          <a:pt x="18" y="77"/>
                        </a:lnTo>
                        <a:lnTo>
                          <a:pt x="22" y="80"/>
                        </a:lnTo>
                        <a:lnTo>
                          <a:pt x="29" y="84"/>
                        </a:lnTo>
                        <a:lnTo>
                          <a:pt x="36" y="86"/>
                        </a:lnTo>
                        <a:lnTo>
                          <a:pt x="45" y="87"/>
                        </a:lnTo>
                        <a:lnTo>
                          <a:pt x="53" y="87"/>
                        </a:lnTo>
                        <a:lnTo>
                          <a:pt x="54" y="86"/>
                        </a:lnTo>
                        <a:lnTo>
                          <a:pt x="61" y="85"/>
                        </a:lnTo>
                        <a:lnTo>
                          <a:pt x="68" y="82"/>
                        </a:lnTo>
                        <a:lnTo>
                          <a:pt x="75" y="77"/>
                        </a:lnTo>
                        <a:lnTo>
                          <a:pt x="80" y="73"/>
                        </a:lnTo>
                        <a:lnTo>
                          <a:pt x="83" y="70"/>
                        </a:lnTo>
                        <a:lnTo>
                          <a:pt x="84" y="68"/>
                        </a:lnTo>
                        <a:lnTo>
                          <a:pt x="90" y="60"/>
                        </a:lnTo>
                        <a:lnTo>
                          <a:pt x="92" y="53"/>
                        </a:lnTo>
                        <a:lnTo>
                          <a:pt x="93" y="46"/>
                        </a:lnTo>
                        <a:lnTo>
                          <a:pt x="93" y="44"/>
                        </a:lnTo>
                        <a:lnTo>
                          <a:pt x="93" y="36"/>
                        </a:lnTo>
                        <a:close/>
                      </a:path>
                    </a:pathLst>
                  </a:custGeom>
                  <a:solidFill>
                    <a:srgbClr val="FFC283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34" name="Freeform 351"/>
                  <p:cNvSpPr>
                    <a:spLocks/>
                  </p:cNvSpPr>
                  <p:nvPr/>
                </p:nvSpPr>
                <p:spPr bwMode="auto">
                  <a:xfrm>
                    <a:off x="3778" y="2353"/>
                    <a:ext cx="93" cy="87"/>
                  </a:xfrm>
                  <a:custGeom>
                    <a:avLst/>
                    <a:gdLst>
                      <a:gd name="T0" fmla="*/ 93 w 93"/>
                      <a:gd name="T1" fmla="*/ 36 h 87"/>
                      <a:gd name="T2" fmla="*/ 90 w 93"/>
                      <a:gd name="T3" fmla="*/ 29 h 87"/>
                      <a:gd name="T4" fmla="*/ 86 w 93"/>
                      <a:gd name="T5" fmla="*/ 22 h 87"/>
                      <a:gd name="T6" fmla="*/ 82 w 93"/>
                      <a:gd name="T7" fmla="*/ 16 h 87"/>
                      <a:gd name="T8" fmla="*/ 77 w 93"/>
                      <a:gd name="T9" fmla="*/ 11 h 87"/>
                      <a:gd name="T10" fmla="*/ 76 w 93"/>
                      <a:gd name="T11" fmla="*/ 9 h 87"/>
                      <a:gd name="T12" fmla="*/ 73 w 93"/>
                      <a:gd name="T13" fmla="*/ 8 h 87"/>
                      <a:gd name="T14" fmla="*/ 69 w 93"/>
                      <a:gd name="T15" fmla="*/ 6 h 87"/>
                      <a:gd name="T16" fmla="*/ 66 w 93"/>
                      <a:gd name="T17" fmla="*/ 5 h 87"/>
                      <a:gd name="T18" fmla="*/ 63 w 93"/>
                      <a:gd name="T19" fmla="*/ 4 h 87"/>
                      <a:gd name="T20" fmla="*/ 60 w 93"/>
                      <a:gd name="T21" fmla="*/ 2 h 87"/>
                      <a:gd name="T22" fmla="*/ 58 w 93"/>
                      <a:gd name="T23" fmla="*/ 1 h 87"/>
                      <a:gd name="T24" fmla="*/ 54 w 93"/>
                      <a:gd name="T25" fmla="*/ 1 h 87"/>
                      <a:gd name="T26" fmla="*/ 51 w 93"/>
                      <a:gd name="T27" fmla="*/ 0 h 87"/>
                      <a:gd name="T28" fmla="*/ 44 w 93"/>
                      <a:gd name="T29" fmla="*/ 0 h 87"/>
                      <a:gd name="T30" fmla="*/ 39 w 93"/>
                      <a:gd name="T31" fmla="*/ 1 h 87"/>
                      <a:gd name="T32" fmla="*/ 39 w 93"/>
                      <a:gd name="T33" fmla="*/ 1 h 87"/>
                      <a:gd name="T34" fmla="*/ 35 w 93"/>
                      <a:gd name="T35" fmla="*/ 1 h 87"/>
                      <a:gd name="T36" fmla="*/ 33 w 93"/>
                      <a:gd name="T37" fmla="*/ 2 h 87"/>
                      <a:gd name="T38" fmla="*/ 31 w 93"/>
                      <a:gd name="T39" fmla="*/ 2 h 87"/>
                      <a:gd name="T40" fmla="*/ 27 w 93"/>
                      <a:gd name="T41" fmla="*/ 5 h 87"/>
                      <a:gd name="T42" fmla="*/ 23 w 93"/>
                      <a:gd name="T43" fmla="*/ 7 h 87"/>
                      <a:gd name="T44" fmla="*/ 17 w 93"/>
                      <a:gd name="T45" fmla="*/ 10 h 87"/>
                      <a:gd name="T46" fmla="*/ 12 w 93"/>
                      <a:gd name="T47" fmla="*/ 15 h 87"/>
                      <a:gd name="T48" fmla="*/ 6 w 93"/>
                      <a:gd name="T49" fmla="*/ 22 h 87"/>
                      <a:gd name="T50" fmla="*/ 3 w 93"/>
                      <a:gd name="T51" fmla="*/ 28 h 87"/>
                      <a:gd name="T52" fmla="*/ 1 w 93"/>
                      <a:gd name="T53" fmla="*/ 33 h 87"/>
                      <a:gd name="T54" fmla="*/ 1 w 93"/>
                      <a:gd name="T55" fmla="*/ 36 h 87"/>
                      <a:gd name="T56" fmla="*/ 0 w 93"/>
                      <a:gd name="T57" fmla="*/ 42 h 87"/>
                      <a:gd name="T58" fmla="*/ 0 w 93"/>
                      <a:gd name="T59" fmla="*/ 51 h 87"/>
                      <a:gd name="T60" fmla="*/ 2 w 93"/>
                      <a:gd name="T61" fmla="*/ 58 h 87"/>
                      <a:gd name="T62" fmla="*/ 5 w 93"/>
                      <a:gd name="T63" fmla="*/ 64 h 87"/>
                      <a:gd name="T64" fmla="*/ 11 w 93"/>
                      <a:gd name="T65" fmla="*/ 71 h 87"/>
                      <a:gd name="T66" fmla="*/ 18 w 93"/>
                      <a:gd name="T67" fmla="*/ 77 h 87"/>
                      <a:gd name="T68" fmla="*/ 22 w 93"/>
                      <a:gd name="T69" fmla="*/ 80 h 87"/>
                      <a:gd name="T70" fmla="*/ 29 w 93"/>
                      <a:gd name="T71" fmla="*/ 84 h 87"/>
                      <a:gd name="T72" fmla="*/ 36 w 93"/>
                      <a:gd name="T73" fmla="*/ 86 h 87"/>
                      <a:gd name="T74" fmla="*/ 45 w 93"/>
                      <a:gd name="T75" fmla="*/ 87 h 87"/>
                      <a:gd name="T76" fmla="*/ 53 w 93"/>
                      <a:gd name="T77" fmla="*/ 87 h 87"/>
                      <a:gd name="T78" fmla="*/ 54 w 93"/>
                      <a:gd name="T79" fmla="*/ 86 h 87"/>
                      <a:gd name="T80" fmla="*/ 61 w 93"/>
                      <a:gd name="T81" fmla="*/ 85 h 87"/>
                      <a:gd name="T82" fmla="*/ 68 w 93"/>
                      <a:gd name="T83" fmla="*/ 82 h 87"/>
                      <a:gd name="T84" fmla="*/ 75 w 93"/>
                      <a:gd name="T85" fmla="*/ 77 h 87"/>
                      <a:gd name="T86" fmla="*/ 80 w 93"/>
                      <a:gd name="T87" fmla="*/ 73 h 87"/>
                      <a:gd name="T88" fmla="*/ 83 w 93"/>
                      <a:gd name="T89" fmla="*/ 70 h 87"/>
                      <a:gd name="T90" fmla="*/ 84 w 93"/>
                      <a:gd name="T91" fmla="*/ 68 h 87"/>
                      <a:gd name="T92" fmla="*/ 90 w 93"/>
                      <a:gd name="T93" fmla="*/ 60 h 87"/>
                      <a:gd name="T94" fmla="*/ 92 w 93"/>
                      <a:gd name="T95" fmla="*/ 53 h 87"/>
                      <a:gd name="T96" fmla="*/ 93 w 93"/>
                      <a:gd name="T97" fmla="*/ 46 h 87"/>
                      <a:gd name="T98" fmla="*/ 93 w 93"/>
                      <a:gd name="T99" fmla="*/ 44 h 87"/>
                      <a:gd name="T100" fmla="*/ 93 w 93"/>
                      <a:gd name="T101" fmla="*/ 36 h 87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93"/>
                      <a:gd name="T154" fmla="*/ 0 h 87"/>
                      <a:gd name="T155" fmla="*/ 93 w 93"/>
                      <a:gd name="T156" fmla="*/ 87 h 87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93" h="87">
                        <a:moveTo>
                          <a:pt x="93" y="36"/>
                        </a:moveTo>
                        <a:lnTo>
                          <a:pt x="90" y="29"/>
                        </a:lnTo>
                        <a:lnTo>
                          <a:pt x="86" y="22"/>
                        </a:lnTo>
                        <a:lnTo>
                          <a:pt x="82" y="16"/>
                        </a:lnTo>
                        <a:lnTo>
                          <a:pt x="77" y="11"/>
                        </a:lnTo>
                        <a:lnTo>
                          <a:pt x="76" y="9"/>
                        </a:lnTo>
                        <a:lnTo>
                          <a:pt x="73" y="8"/>
                        </a:lnTo>
                        <a:lnTo>
                          <a:pt x="69" y="6"/>
                        </a:lnTo>
                        <a:lnTo>
                          <a:pt x="66" y="5"/>
                        </a:lnTo>
                        <a:lnTo>
                          <a:pt x="63" y="4"/>
                        </a:lnTo>
                        <a:lnTo>
                          <a:pt x="60" y="2"/>
                        </a:lnTo>
                        <a:lnTo>
                          <a:pt x="58" y="1"/>
                        </a:lnTo>
                        <a:lnTo>
                          <a:pt x="54" y="1"/>
                        </a:lnTo>
                        <a:lnTo>
                          <a:pt x="51" y="0"/>
                        </a:lnTo>
                        <a:lnTo>
                          <a:pt x="44" y="0"/>
                        </a:lnTo>
                        <a:lnTo>
                          <a:pt x="39" y="1"/>
                        </a:lnTo>
                        <a:lnTo>
                          <a:pt x="35" y="1"/>
                        </a:lnTo>
                        <a:lnTo>
                          <a:pt x="33" y="2"/>
                        </a:lnTo>
                        <a:lnTo>
                          <a:pt x="31" y="2"/>
                        </a:lnTo>
                        <a:lnTo>
                          <a:pt x="27" y="5"/>
                        </a:lnTo>
                        <a:lnTo>
                          <a:pt x="23" y="7"/>
                        </a:lnTo>
                        <a:lnTo>
                          <a:pt x="17" y="10"/>
                        </a:lnTo>
                        <a:lnTo>
                          <a:pt x="12" y="15"/>
                        </a:lnTo>
                        <a:lnTo>
                          <a:pt x="6" y="22"/>
                        </a:lnTo>
                        <a:lnTo>
                          <a:pt x="3" y="28"/>
                        </a:lnTo>
                        <a:lnTo>
                          <a:pt x="1" y="33"/>
                        </a:lnTo>
                        <a:lnTo>
                          <a:pt x="1" y="36"/>
                        </a:lnTo>
                        <a:lnTo>
                          <a:pt x="0" y="42"/>
                        </a:lnTo>
                        <a:lnTo>
                          <a:pt x="0" y="51"/>
                        </a:lnTo>
                        <a:lnTo>
                          <a:pt x="2" y="58"/>
                        </a:lnTo>
                        <a:lnTo>
                          <a:pt x="5" y="64"/>
                        </a:lnTo>
                        <a:lnTo>
                          <a:pt x="11" y="71"/>
                        </a:lnTo>
                        <a:lnTo>
                          <a:pt x="18" y="77"/>
                        </a:lnTo>
                        <a:lnTo>
                          <a:pt x="22" y="80"/>
                        </a:lnTo>
                        <a:lnTo>
                          <a:pt x="29" y="84"/>
                        </a:lnTo>
                        <a:lnTo>
                          <a:pt x="36" y="86"/>
                        </a:lnTo>
                        <a:lnTo>
                          <a:pt x="45" y="87"/>
                        </a:lnTo>
                        <a:lnTo>
                          <a:pt x="53" y="87"/>
                        </a:lnTo>
                        <a:lnTo>
                          <a:pt x="54" y="86"/>
                        </a:lnTo>
                        <a:lnTo>
                          <a:pt x="61" y="85"/>
                        </a:lnTo>
                        <a:lnTo>
                          <a:pt x="68" y="82"/>
                        </a:lnTo>
                        <a:lnTo>
                          <a:pt x="75" y="77"/>
                        </a:lnTo>
                        <a:lnTo>
                          <a:pt x="80" y="73"/>
                        </a:lnTo>
                        <a:lnTo>
                          <a:pt x="83" y="70"/>
                        </a:lnTo>
                        <a:lnTo>
                          <a:pt x="84" y="68"/>
                        </a:lnTo>
                        <a:lnTo>
                          <a:pt x="90" y="60"/>
                        </a:lnTo>
                        <a:lnTo>
                          <a:pt x="92" y="53"/>
                        </a:lnTo>
                        <a:lnTo>
                          <a:pt x="93" y="46"/>
                        </a:lnTo>
                        <a:lnTo>
                          <a:pt x="93" y="44"/>
                        </a:lnTo>
                        <a:lnTo>
                          <a:pt x="93" y="36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35" name="Freeform 352"/>
                  <p:cNvSpPr>
                    <a:spLocks/>
                  </p:cNvSpPr>
                  <p:nvPr/>
                </p:nvSpPr>
                <p:spPr bwMode="auto">
                  <a:xfrm>
                    <a:off x="3833" y="2415"/>
                    <a:ext cx="70" cy="26"/>
                  </a:xfrm>
                  <a:custGeom>
                    <a:avLst/>
                    <a:gdLst>
                      <a:gd name="T0" fmla="*/ 36 w 70"/>
                      <a:gd name="T1" fmla="*/ 0 h 26"/>
                      <a:gd name="T2" fmla="*/ 70 w 70"/>
                      <a:gd name="T3" fmla="*/ 11 h 26"/>
                      <a:gd name="T4" fmla="*/ 70 w 70"/>
                      <a:gd name="T5" fmla="*/ 13 h 26"/>
                      <a:gd name="T6" fmla="*/ 70 w 70"/>
                      <a:gd name="T7" fmla="*/ 16 h 26"/>
                      <a:gd name="T8" fmla="*/ 69 w 70"/>
                      <a:gd name="T9" fmla="*/ 18 h 26"/>
                      <a:gd name="T10" fmla="*/ 67 w 70"/>
                      <a:gd name="T11" fmla="*/ 20 h 26"/>
                      <a:gd name="T12" fmla="*/ 60 w 70"/>
                      <a:gd name="T13" fmla="*/ 22 h 26"/>
                      <a:gd name="T14" fmla="*/ 52 w 70"/>
                      <a:gd name="T15" fmla="*/ 24 h 26"/>
                      <a:gd name="T16" fmla="*/ 42 w 70"/>
                      <a:gd name="T17" fmla="*/ 25 h 26"/>
                      <a:gd name="T18" fmla="*/ 33 w 70"/>
                      <a:gd name="T19" fmla="*/ 26 h 26"/>
                      <a:gd name="T20" fmla="*/ 23 w 70"/>
                      <a:gd name="T21" fmla="*/ 26 h 26"/>
                      <a:gd name="T22" fmla="*/ 12 w 70"/>
                      <a:gd name="T23" fmla="*/ 26 h 26"/>
                      <a:gd name="T24" fmla="*/ 5 w 70"/>
                      <a:gd name="T25" fmla="*/ 25 h 26"/>
                      <a:gd name="T26" fmla="*/ 0 w 70"/>
                      <a:gd name="T27" fmla="*/ 25 h 26"/>
                      <a:gd name="T28" fmla="*/ 6 w 70"/>
                      <a:gd name="T29" fmla="*/ 24 h 26"/>
                      <a:gd name="T30" fmla="*/ 14 w 70"/>
                      <a:gd name="T31" fmla="*/ 21 h 26"/>
                      <a:gd name="T32" fmla="*/ 20 w 70"/>
                      <a:gd name="T33" fmla="*/ 16 h 26"/>
                      <a:gd name="T34" fmla="*/ 26 w 70"/>
                      <a:gd name="T35" fmla="*/ 11 h 26"/>
                      <a:gd name="T36" fmla="*/ 29 w 70"/>
                      <a:gd name="T37" fmla="*/ 9 h 26"/>
                      <a:gd name="T38" fmla="*/ 33 w 70"/>
                      <a:gd name="T39" fmla="*/ 5 h 26"/>
                      <a:gd name="T40" fmla="*/ 36 w 70"/>
                      <a:gd name="T41" fmla="*/ 0 h 2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70"/>
                      <a:gd name="T64" fmla="*/ 0 h 26"/>
                      <a:gd name="T65" fmla="*/ 70 w 70"/>
                      <a:gd name="T66" fmla="*/ 26 h 2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70" h="26">
                        <a:moveTo>
                          <a:pt x="36" y="0"/>
                        </a:moveTo>
                        <a:lnTo>
                          <a:pt x="70" y="11"/>
                        </a:lnTo>
                        <a:lnTo>
                          <a:pt x="70" y="13"/>
                        </a:lnTo>
                        <a:lnTo>
                          <a:pt x="70" y="16"/>
                        </a:lnTo>
                        <a:lnTo>
                          <a:pt x="69" y="18"/>
                        </a:lnTo>
                        <a:lnTo>
                          <a:pt x="67" y="20"/>
                        </a:lnTo>
                        <a:lnTo>
                          <a:pt x="60" y="22"/>
                        </a:lnTo>
                        <a:lnTo>
                          <a:pt x="52" y="24"/>
                        </a:lnTo>
                        <a:lnTo>
                          <a:pt x="42" y="25"/>
                        </a:lnTo>
                        <a:lnTo>
                          <a:pt x="33" y="26"/>
                        </a:lnTo>
                        <a:lnTo>
                          <a:pt x="23" y="26"/>
                        </a:lnTo>
                        <a:lnTo>
                          <a:pt x="12" y="26"/>
                        </a:lnTo>
                        <a:lnTo>
                          <a:pt x="5" y="25"/>
                        </a:lnTo>
                        <a:lnTo>
                          <a:pt x="0" y="25"/>
                        </a:lnTo>
                        <a:lnTo>
                          <a:pt x="6" y="24"/>
                        </a:lnTo>
                        <a:lnTo>
                          <a:pt x="14" y="21"/>
                        </a:lnTo>
                        <a:lnTo>
                          <a:pt x="20" y="16"/>
                        </a:lnTo>
                        <a:lnTo>
                          <a:pt x="26" y="11"/>
                        </a:lnTo>
                        <a:lnTo>
                          <a:pt x="29" y="9"/>
                        </a:lnTo>
                        <a:lnTo>
                          <a:pt x="33" y="5"/>
                        </a:lnTo>
                        <a:lnTo>
                          <a:pt x="36" y="0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36" name="Freeform 353"/>
                  <p:cNvSpPr>
                    <a:spLocks/>
                  </p:cNvSpPr>
                  <p:nvPr/>
                </p:nvSpPr>
                <p:spPr bwMode="auto">
                  <a:xfrm>
                    <a:off x="3833" y="2415"/>
                    <a:ext cx="70" cy="26"/>
                  </a:xfrm>
                  <a:custGeom>
                    <a:avLst/>
                    <a:gdLst>
                      <a:gd name="T0" fmla="*/ 36 w 70"/>
                      <a:gd name="T1" fmla="*/ 0 h 26"/>
                      <a:gd name="T2" fmla="*/ 70 w 70"/>
                      <a:gd name="T3" fmla="*/ 11 h 26"/>
                      <a:gd name="T4" fmla="*/ 70 w 70"/>
                      <a:gd name="T5" fmla="*/ 13 h 26"/>
                      <a:gd name="T6" fmla="*/ 70 w 70"/>
                      <a:gd name="T7" fmla="*/ 16 h 26"/>
                      <a:gd name="T8" fmla="*/ 69 w 70"/>
                      <a:gd name="T9" fmla="*/ 18 h 26"/>
                      <a:gd name="T10" fmla="*/ 67 w 70"/>
                      <a:gd name="T11" fmla="*/ 20 h 26"/>
                      <a:gd name="T12" fmla="*/ 60 w 70"/>
                      <a:gd name="T13" fmla="*/ 22 h 26"/>
                      <a:gd name="T14" fmla="*/ 52 w 70"/>
                      <a:gd name="T15" fmla="*/ 24 h 26"/>
                      <a:gd name="T16" fmla="*/ 42 w 70"/>
                      <a:gd name="T17" fmla="*/ 25 h 26"/>
                      <a:gd name="T18" fmla="*/ 33 w 70"/>
                      <a:gd name="T19" fmla="*/ 26 h 26"/>
                      <a:gd name="T20" fmla="*/ 23 w 70"/>
                      <a:gd name="T21" fmla="*/ 26 h 26"/>
                      <a:gd name="T22" fmla="*/ 12 w 70"/>
                      <a:gd name="T23" fmla="*/ 26 h 26"/>
                      <a:gd name="T24" fmla="*/ 5 w 70"/>
                      <a:gd name="T25" fmla="*/ 25 h 26"/>
                      <a:gd name="T26" fmla="*/ 0 w 70"/>
                      <a:gd name="T27" fmla="*/ 25 h 26"/>
                      <a:gd name="T28" fmla="*/ 6 w 70"/>
                      <a:gd name="T29" fmla="*/ 24 h 26"/>
                      <a:gd name="T30" fmla="*/ 14 w 70"/>
                      <a:gd name="T31" fmla="*/ 21 h 26"/>
                      <a:gd name="T32" fmla="*/ 20 w 70"/>
                      <a:gd name="T33" fmla="*/ 16 h 26"/>
                      <a:gd name="T34" fmla="*/ 26 w 70"/>
                      <a:gd name="T35" fmla="*/ 11 h 26"/>
                      <a:gd name="T36" fmla="*/ 29 w 70"/>
                      <a:gd name="T37" fmla="*/ 9 h 26"/>
                      <a:gd name="T38" fmla="*/ 33 w 70"/>
                      <a:gd name="T39" fmla="*/ 5 h 26"/>
                      <a:gd name="T40" fmla="*/ 36 w 70"/>
                      <a:gd name="T41" fmla="*/ 0 h 2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70"/>
                      <a:gd name="T64" fmla="*/ 0 h 26"/>
                      <a:gd name="T65" fmla="*/ 70 w 70"/>
                      <a:gd name="T66" fmla="*/ 26 h 2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70" h="26">
                        <a:moveTo>
                          <a:pt x="36" y="0"/>
                        </a:moveTo>
                        <a:lnTo>
                          <a:pt x="70" y="11"/>
                        </a:lnTo>
                        <a:lnTo>
                          <a:pt x="70" y="13"/>
                        </a:lnTo>
                        <a:lnTo>
                          <a:pt x="70" y="16"/>
                        </a:lnTo>
                        <a:lnTo>
                          <a:pt x="69" y="18"/>
                        </a:lnTo>
                        <a:lnTo>
                          <a:pt x="67" y="20"/>
                        </a:lnTo>
                        <a:lnTo>
                          <a:pt x="60" y="22"/>
                        </a:lnTo>
                        <a:lnTo>
                          <a:pt x="52" y="24"/>
                        </a:lnTo>
                        <a:lnTo>
                          <a:pt x="42" y="25"/>
                        </a:lnTo>
                        <a:lnTo>
                          <a:pt x="33" y="26"/>
                        </a:lnTo>
                        <a:lnTo>
                          <a:pt x="23" y="26"/>
                        </a:lnTo>
                        <a:lnTo>
                          <a:pt x="12" y="26"/>
                        </a:lnTo>
                        <a:lnTo>
                          <a:pt x="5" y="25"/>
                        </a:lnTo>
                        <a:lnTo>
                          <a:pt x="0" y="25"/>
                        </a:lnTo>
                        <a:lnTo>
                          <a:pt x="6" y="24"/>
                        </a:lnTo>
                        <a:lnTo>
                          <a:pt x="14" y="21"/>
                        </a:lnTo>
                        <a:lnTo>
                          <a:pt x="20" y="16"/>
                        </a:lnTo>
                        <a:lnTo>
                          <a:pt x="26" y="11"/>
                        </a:lnTo>
                        <a:lnTo>
                          <a:pt x="29" y="9"/>
                        </a:lnTo>
                        <a:lnTo>
                          <a:pt x="33" y="5"/>
                        </a:lnTo>
                        <a:lnTo>
                          <a:pt x="36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37" name="Freeform 354"/>
                  <p:cNvSpPr>
                    <a:spLocks/>
                  </p:cNvSpPr>
                  <p:nvPr/>
                </p:nvSpPr>
                <p:spPr bwMode="auto">
                  <a:xfrm>
                    <a:off x="3759" y="2417"/>
                    <a:ext cx="37" cy="13"/>
                  </a:xfrm>
                  <a:custGeom>
                    <a:avLst/>
                    <a:gdLst>
                      <a:gd name="T0" fmla="*/ 37 w 37"/>
                      <a:gd name="T1" fmla="*/ 13 h 13"/>
                      <a:gd name="T2" fmla="*/ 30 w 37"/>
                      <a:gd name="T3" fmla="*/ 7 h 13"/>
                      <a:gd name="T4" fmla="*/ 9 w 37"/>
                      <a:gd name="T5" fmla="*/ 0 h 13"/>
                      <a:gd name="T6" fmla="*/ 0 w 37"/>
                      <a:gd name="T7" fmla="*/ 9 h 13"/>
                      <a:gd name="T8" fmla="*/ 4 w 37"/>
                      <a:gd name="T9" fmla="*/ 10 h 13"/>
                      <a:gd name="T10" fmla="*/ 10 w 37"/>
                      <a:gd name="T11" fmla="*/ 5 h 13"/>
                      <a:gd name="T12" fmla="*/ 37 w 37"/>
                      <a:gd name="T13" fmla="*/ 13 h 13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7"/>
                      <a:gd name="T22" fmla="*/ 0 h 13"/>
                      <a:gd name="T23" fmla="*/ 37 w 37"/>
                      <a:gd name="T24" fmla="*/ 13 h 13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7" h="13">
                        <a:moveTo>
                          <a:pt x="37" y="13"/>
                        </a:moveTo>
                        <a:lnTo>
                          <a:pt x="30" y="7"/>
                        </a:lnTo>
                        <a:lnTo>
                          <a:pt x="9" y="0"/>
                        </a:lnTo>
                        <a:lnTo>
                          <a:pt x="0" y="9"/>
                        </a:lnTo>
                        <a:lnTo>
                          <a:pt x="4" y="10"/>
                        </a:lnTo>
                        <a:lnTo>
                          <a:pt x="10" y="5"/>
                        </a:lnTo>
                        <a:lnTo>
                          <a:pt x="37" y="13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38" name="Freeform 355"/>
                  <p:cNvSpPr>
                    <a:spLocks/>
                  </p:cNvSpPr>
                  <p:nvPr/>
                </p:nvSpPr>
                <p:spPr bwMode="auto">
                  <a:xfrm>
                    <a:off x="3759" y="2417"/>
                    <a:ext cx="37" cy="13"/>
                  </a:xfrm>
                  <a:custGeom>
                    <a:avLst/>
                    <a:gdLst>
                      <a:gd name="T0" fmla="*/ 37 w 37"/>
                      <a:gd name="T1" fmla="*/ 13 h 13"/>
                      <a:gd name="T2" fmla="*/ 30 w 37"/>
                      <a:gd name="T3" fmla="*/ 7 h 13"/>
                      <a:gd name="T4" fmla="*/ 9 w 37"/>
                      <a:gd name="T5" fmla="*/ 0 h 13"/>
                      <a:gd name="T6" fmla="*/ 0 w 37"/>
                      <a:gd name="T7" fmla="*/ 9 h 13"/>
                      <a:gd name="T8" fmla="*/ 4 w 37"/>
                      <a:gd name="T9" fmla="*/ 10 h 13"/>
                      <a:gd name="T10" fmla="*/ 10 w 37"/>
                      <a:gd name="T11" fmla="*/ 5 h 13"/>
                      <a:gd name="T12" fmla="*/ 37 w 37"/>
                      <a:gd name="T13" fmla="*/ 13 h 13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7"/>
                      <a:gd name="T22" fmla="*/ 0 h 13"/>
                      <a:gd name="T23" fmla="*/ 37 w 37"/>
                      <a:gd name="T24" fmla="*/ 13 h 13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7" h="13">
                        <a:moveTo>
                          <a:pt x="37" y="13"/>
                        </a:moveTo>
                        <a:lnTo>
                          <a:pt x="30" y="7"/>
                        </a:lnTo>
                        <a:lnTo>
                          <a:pt x="9" y="0"/>
                        </a:lnTo>
                        <a:lnTo>
                          <a:pt x="0" y="9"/>
                        </a:lnTo>
                        <a:lnTo>
                          <a:pt x="4" y="10"/>
                        </a:lnTo>
                        <a:lnTo>
                          <a:pt x="10" y="5"/>
                        </a:lnTo>
                        <a:lnTo>
                          <a:pt x="37" y="13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39" name="Freeform 356"/>
                  <p:cNvSpPr>
                    <a:spLocks/>
                  </p:cNvSpPr>
                  <p:nvPr/>
                </p:nvSpPr>
                <p:spPr bwMode="auto">
                  <a:xfrm>
                    <a:off x="3823" y="2439"/>
                    <a:ext cx="31" cy="9"/>
                  </a:xfrm>
                  <a:custGeom>
                    <a:avLst/>
                    <a:gdLst>
                      <a:gd name="T0" fmla="*/ 8 w 31"/>
                      <a:gd name="T1" fmla="*/ 0 h 9"/>
                      <a:gd name="T2" fmla="*/ 0 w 31"/>
                      <a:gd name="T3" fmla="*/ 1 h 9"/>
                      <a:gd name="T4" fmla="*/ 26 w 31"/>
                      <a:gd name="T5" fmla="*/ 9 h 9"/>
                      <a:gd name="T6" fmla="*/ 31 w 31"/>
                      <a:gd name="T7" fmla="*/ 5 h 9"/>
                      <a:gd name="T8" fmla="*/ 10 w 31"/>
                      <a:gd name="T9" fmla="*/ 0 h 9"/>
                      <a:gd name="T10" fmla="*/ 8 w 31"/>
                      <a:gd name="T11" fmla="*/ 0 h 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1"/>
                      <a:gd name="T19" fmla="*/ 0 h 9"/>
                      <a:gd name="T20" fmla="*/ 31 w 31"/>
                      <a:gd name="T21" fmla="*/ 9 h 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1" h="9">
                        <a:moveTo>
                          <a:pt x="8" y="0"/>
                        </a:moveTo>
                        <a:lnTo>
                          <a:pt x="0" y="1"/>
                        </a:lnTo>
                        <a:lnTo>
                          <a:pt x="26" y="9"/>
                        </a:lnTo>
                        <a:lnTo>
                          <a:pt x="31" y="5"/>
                        </a:lnTo>
                        <a:lnTo>
                          <a:pt x="10" y="0"/>
                        </a:lnTo>
                        <a:lnTo>
                          <a:pt x="8" y="0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40" name="Freeform 357"/>
                  <p:cNvSpPr>
                    <a:spLocks/>
                  </p:cNvSpPr>
                  <p:nvPr/>
                </p:nvSpPr>
                <p:spPr bwMode="auto">
                  <a:xfrm>
                    <a:off x="3823" y="2439"/>
                    <a:ext cx="31" cy="9"/>
                  </a:xfrm>
                  <a:custGeom>
                    <a:avLst/>
                    <a:gdLst>
                      <a:gd name="T0" fmla="*/ 8 w 31"/>
                      <a:gd name="T1" fmla="*/ 0 h 9"/>
                      <a:gd name="T2" fmla="*/ 0 w 31"/>
                      <a:gd name="T3" fmla="*/ 1 h 9"/>
                      <a:gd name="T4" fmla="*/ 26 w 31"/>
                      <a:gd name="T5" fmla="*/ 9 h 9"/>
                      <a:gd name="T6" fmla="*/ 31 w 31"/>
                      <a:gd name="T7" fmla="*/ 5 h 9"/>
                      <a:gd name="T8" fmla="*/ 10 w 31"/>
                      <a:gd name="T9" fmla="*/ 0 h 9"/>
                      <a:gd name="T10" fmla="*/ 8 w 31"/>
                      <a:gd name="T11" fmla="*/ 0 h 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1"/>
                      <a:gd name="T19" fmla="*/ 0 h 9"/>
                      <a:gd name="T20" fmla="*/ 31 w 31"/>
                      <a:gd name="T21" fmla="*/ 9 h 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1" h="9">
                        <a:moveTo>
                          <a:pt x="8" y="0"/>
                        </a:moveTo>
                        <a:lnTo>
                          <a:pt x="0" y="1"/>
                        </a:lnTo>
                        <a:lnTo>
                          <a:pt x="26" y="9"/>
                        </a:lnTo>
                        <a:lnTo>
                          <a:pt x="31" y="5"/>
                        </a:lnTo>
                        <a:lnTo>
                          <a:pt x="10" y="0"/>
                        </a:lnTo>
                        <a:lnTo>
                          <a:pt x="8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41" name="Freeform 358"/>
                  <p:cNvSpPr>
                    <a:spLocks/>
                  </p:cNvSpPr>
                  <p:nvPr/>
                </p:nvSpPr>
                <p:spPr bwMode="auto">
                  <a:xfrm>
                    <a:off x="3763" y="2422"/>
                    <a:ext cx="86" cy="32"/>
                  </a:xfrm>
                  <a:custGeom>
                    <a:avLst/>
                    <a:gdLst>
                      <a:gd name="T0" fmla="*/ 60 w 86"/>
                      <a:gd name="T1" fmla="*/ 18 h 32"/>
                      <a:gd name="T2" fmla="*/ 52 w 86"/>
                      <a:gd name="T3" fmla="*/ 18 h 32"/>
                      <a:gd name="T4" fmla="*/ 44 w 86"/>
                      <a:gd name="T5" fmla="*/ 16 h 32"/>
                      <a:gd name="T6" fmla="*/ 37 w 86"/>
                      <a:gd name="T7" fmla="*/ 11 h 32"/>
                      <a:gd name="T8" fmla="*/ 33 w 86"/>
                      <a:gd name="T9" fmla="*/ 8 h 32"/>
                      <a:gd name="T10" fmla="*/ 6 w 86"/>
                      <a:gd name="T11" fmla="*/ 0 h 32"/>
                      <a:gd name="T12" fmla="*/ 0 w 86"/>
                      <a:gd name="T13" fmla="*/ 6 h 32"/>
                      <a:gd name="T14" fmla="*/ 81 w 86"/>
                      <a:gd name="T15" fmla="*/ 32 h 32"/>
                      <a:gd name="T16" fmla="*/ 86 w 86"/>
                      <a:gd name="T17" fmla="*/ 28 h 32"/>
                      <a:gd name="T18" fmla="*/ 60 w 86"/>
                      <a:gd name="T19" fmla="*/ 18 h 3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86"/>
                      <a:gd name="T31" fmla="*/ 0 h 32"/>
                      <a:gd name="T32" fmla="*/ 86 w 86"/>
                      <a:gd name="T33" fmla="*/ 32 h 3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86" h="32">
                        <a:moveTo>
                          <a:pt x="60" y="18"/>
                        </a:moveTo>
                        <a:lnTo>
                          <a:pt x="52" y="18"/>
                        </a:lnTo>
                        <a:lnTo>
                          <a:pt x="44" y="16"/>
                        </a:lnTo>
                        <a:lnTo>
                          <a:pt x="37" y="11"/>
                        </a:lnTo>
                        <a:lnTo>
                          <a:pt x="33" y="8"/>
                        </a:lnTo>
                        <a:lnTo>
                          <a:pt x="6" y="0"/>
                        </a:lnTo>
                        <a:lnTo>
                          <a:pt x="0" y="6"/>
                        </a:lnTo>
                        <a:lnTo>
                          <a:pt x="81" y="32"/>
                        </a:lnTo>
                        <a:lnTo>
                          <a:pt x="86" y="28"/>
                        </a:lnTo>
                        <a:lnTo>
                          <a:pt x="60" y="18"/>
                        </a:lnTo>
                        <a:close/>
                      </a:path>
                    </a:pathLst>
                  </a:custGeom>
                  <a:solidFill>
                    <a:srgbClr val="0000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42" name="Freeform 359"/>
                  <p:cNvSpPr>
                    <a:spLocks/>
                  </p:cNvSpPr>
                  <p:nvPr/>
                </p:nvSpPr>
                <p:spPr bwMode="auto">
                  <a:xfrm>
                    <a:off x="3763" y="2422"/>
                    <a:ext cx="86" cy="32"/>
                  </a:xfrm>
                  <a:custGeom>
                    <a:avLst/>
                    <a:gdLst>
                      <a:gd name="T0" fmla="*/ 60 w 86"/>
                      <a:gd name="T1" fmla="*/ 18 h 32"/>
                      <a:gd name="T2" fmla="*/ 52 w 86"/>
                      <a:gd name="T3" fmla="*/ 18 h 32"/>
                      <a:gd name="T4" fmla="*/ 44 w 86"/>
                      <a:gd name="T5" fmla="*/ 16 h 32"/>
                      <a:gd name="T6" fmla="*/ 37 w 86"/>
                      <a:gd name="T7" fmla="*/ 11 h 32"/>
                      <a:gd name="T8" fmla="*/ 33 w 86"/>
                      <a:gd name="T9" fmla="*/ 8 h 32"/>
                      <a:gd name="T10" fmla="*/ 6 w 86"/>
                      <a:gd name="T11" fmla="*/ 0 h 32"/>
                      <a:gd name="T12" fmla="*/ 0 w 86"/>
                      <a:gd name="T13" fmla="*/ 6 h 32"/>
                      <a:gd name="T14" fmla="*/ 81 w 86"/>
                      <a:gd name="T15" fmla="*/ 32 h 32"/>
                      <a:gd name="T16" fmla="*/ 86 w 86"/>
                      <a:gd name="T17" fmla="*/ 28 h 32"/>
                      <a:gd name="T18" fmla="*/ 60 w 86"/>
                      <a:gd name="T19" fmla="*/ 18 h 3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86"/>
                      <a:gd name="T31" fmla="*/ 0 h 32"/>
                      <a:gd name="T32" fmla="*/ 86 w 86"/>
                      <a:gd name="T33" fmla="*/ 32 h 3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86" h="32">
                        <a:moveTo>
                          <a:pt x="60" y="18"/>
                        </a:moveTo>
                        <a:lnTo>
                          <a:pt x="52" y="18"/>
                        </a:lnTo>
                        <a:lnTo>
                          <a:pt x="44" y="16"/>
                        </a:lnTo>
                        <a:lnTo>
                          <a:pt x="37" y="11"/>
                        </a:lnTo>
                        <a:lnTo>
                          <a:pt x="33" y="8"/>
                        </a:lnTo>
                        <a:lnTo>
                          <a:pt x="6" y="0"/>
                        </a:lnTo>
                        <a:lnTo>
                          <a:pt x="0" y="6"/>
                        </a:lnTo>
                        <a:lnTo>
                          <a:pt x="81" y="32"/>
                        </a:lnTo>
                        <a:lnTo>
                          <a:pt x="86" y="28"/>
                        </a:lnTo>
                        <a:lnTo>
                          <a:pt x="60" y="18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43" name="Freeform 360"/>
                  <p:cNvSpPr>
                    <a:spLocks/>
                  </p:cNvSpPr>
                  <p:nvPr/>
                </p:nvSpPr>
                <p:spPr bwMode="auto">
                  <a:xfrm>
                    <a:off x="3570" y="2385"/>
                    <a:ext cx="346" cy="105"/>
                  </a:xfrm>
                  <a:custGeom>
                    <a:avLst/>
                    <a:gdLst>
                      <a:gd name="T0" fmla="*/ 0 w 346"/>
                      <a:gd name="T1" fmla="*/ 105 h 105"/>
                      <a:gd name="T2" fmla="*/ 138 w 346"/>
                      <a:gd name="T3" fmla="*/ 62 h 105"/>
                      <a:gd name="T4" fmla="*/ 277 w 346"/>
                      <a:gd name="T5" fmla="*/ 105 h 105"/>
                      <a:gd name="T6" fmla="*/ 346 w 346"/>
                      <a:gd name="T7" fmla="*/ 44 h 105"/>
                      <a:gd name="T8" fmla="*/ 333 w 346"/>
                      <a:gd name="T9" fmla="*/ 41 h 105"/>
                      <a:gd name="T10" fmla="*/ 333 w 346"/>
                      <a:gd name="T11" fmla="*/ 43 h 105"/>
                      <a:gd name="T12" fmla="*/ 333 w 346"/>
                      <a:gd name="T13" fmla="*/ 46 h 105"/>
                      <a:gd name="T14" fmla="*/ 332 w 346"/>
                      <a:gd name="T15" fmla="*/ 47 h 105"/>
                      <a:gd name="T16" fmla="*/ 330 w 346"/>
                      <a:gd name="T17" fmla="*/ 50 h 105"/>
                      <a:gd name="T18" fmla="*/ 324 w 346"/>
                      <a:gd name="T19" fmla="*/ 52 h 105"/>
                      <a:gd name="T20" fmla="*/ 315 w 346"/>
                      <a:gd name="T21" fmla="*/ 54 h 105"/>
                      <a:gd name="T22" fmla="*/ 305 w 346"/>
                      <a:gd name="T23" fmla="*/ 55 h 105"/>
                      <a:gd name="T24" fmla="*/ 296 w 346"/>
                      <a:gd name="T25" fmla="*/ 56 h 105"/>
                      <a:gd name="T26" fmla="*/ 286 w 346"/>
                      <a:gd name="T27" fmla="*/ 56 h 105"/>
                      <a:gd name="T28" fmla="*/ 275 w 346"/>
                      <a:gd name="T29" fmla="*/ 55 h 105"/>
                      <a:gd name="T30" fmla="*/ 268 w 346"/>
                      <a:gd name="T31" fmla="*/ 55 h 105"/>
                      <a:gd name="T32" fmla="*/ 263 w 346"/>
                      <a:gd name="T33" fmla="*/ 55 h 105"/>
                      <a:gd name="T34" fmla="*/ 284 w 346"/>
                      <a:gd name="T35" fmla="*/ 60 h 105"/>
                      <a:gd name="T36" fmla="*/ 274 w 346"/>
                      <a:gd name="T37" fmla="*/ 69 h 105"/>
                      <a:gd name="T38" fmla="*/ 193 w 346"/>
                      <a:gd name="T39" fmla="*/ 43 h 105"/>
                      <a:gd name="T40" fmla="*/ 189 w 346"/>
                      <a:gd name="T41" fmla="*/ 41 h 105"/>
                      <a:gd name="T42" fmla="*/ 198 w 346"/>
                      <a:gd name="T43" fmla="*/ 32 h 105"/>
                      <a:gd name="T44" fmla="*/ 219 w 346"/>
                      <a:gd name="T45" fmla="*/ 39 h 105"/>
                      <a:gd name="T46" fmla="*/ 213 w 346"/>
                      <a:gd name="T47" fmla="*/ 32 h 105"/>
                      <a:gd name="T48" fmla="*/ 210 w 346"/>
                      <a:gd name="T49" fmla="*/ 26 h 105"/>
                      <a:gd name="T50" fmla="*/ 208 w 346"/>
                      <a:gd name="T51" fmla="*/ 19 h 105"/>
                      <a:gd name="T52" fmla="*/ 208 w 346"/>
                      <a:gd name="T53" fmla="*/ 11 h 105"/>
                      <a:gd name="T54" fmla="*/ 209 w 346"/>
                      <a:gd name="T55" fmla="*/ 4 h 105"/>
                      <a:gd name="T56" fmla="*/ 209 w 346"/>
                      <a:gd name="T57" fmla="*/ 1 h 105"/>
                      <a:gd name="T58" fmla="*/ 205 w 346"/>
                      <a:gd name="T59" fmla="*/ 0 h 105"/>
                      <a:gd name="T60" fmla="*/ 66 w 346"/>
                      <a:gd name="T61" fmla="*/ 44 h 105"/>
                      <a:gd name="T62" fmla="*/ 0 w 346"/>
                      <a:gd name="T63" fmla="*/ 105 h 105"/>
                      <a:gd name="T64" fmla="*/ 0 w 346"/>
                      <a:gd name="T65" fmla="*/ 105 h 105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346"/>
                      <a:gd name="T100" fmla="*/ 0 h 105"/>
                      <a:gd name="T101" fmla="*/ 346 w 346"/>
                      <a:gd name="T102" fmla="*/ 105 h 105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346" h="105">
                        <a:moveTo>
                          <a:pt x="0" y="105"/>
                        </a:moveTo>
                        <a:lnTo>
                          <a:pt x="138" y="62"/>
                        </a:lnTo>
                        <a:lnTo>
                          <a:pt x="277" y="105"/>
                        </a:lnTo>
                        <a:lnTo>
                          <a:pt x="346" y="44"/>
                        </a:lnTo>
                        <a:lnTo>
                          <a:pt x="333" y="41"/>
                        </a:lnTo>
                        <a:lnTo>
                          <a:pt x="333" y="43"/>
                        </a:lnTo>
                        <a:lnTo>
                          <a:pt x="333" y="46"/>
                        </a:lnTo>
                        <a:lnTo>
                          <a:pt x="332" y="47"/>
                        </a:lnTo>
                        <a:lnTo>
                          <a:pt x="330" y="50"/>
                        </a:lnTo>
                        <a:lnTo>
                          <a:pt x="324" y="52"/>
                        </a:lnTo>
                        <a:lnTo>
                          <a:pt x="315" y="54"/>
                        </a:lnTo>
                        <a:lnTo>
                          <a:pt x="305" y="55"/>
                        </a:lnTo>
                        <a:lnTo>
                          <a:pt x="296" y="56"/>
                        </a:lnTo>
                        <a:lnTo>
                          <a:pt x="286" y="56"/>
                        </a:lnTo>
                        <a:lnTo>
                          <a:pt x="275" y="55"/>
                        </a:lnTo>
                        <a:lnTo>
                          <a:pt x="268" y="55"/>
                        </a:lnTo>
                        <a:lnTo>
                          <a:pt x="263" y="55"/>
                        </a:lnTo>
                        <a:lnTo>
                          <a:pt x="284" y="60"/>
                        </a:lnTo>
                        <a:lnTo>
                          <a:pt x="274" y="69"/>
                        </a:lnTo>
                        <a:lnTo>
                          <a:pt x="193" y="43"/>
                        </a:lnTo>
                        <a:lnTo>
                          <a:pt x="189" y="41"/>
                        </a:lnTo>
                        <a:lnTo>
                          <a:pt x="198" y="32"/>
                        </a:lnTo>
                        <a:lnTo>
                          <a:pt x="219" y="39"/>
                        </a:lnTo>
                        <a:lnTo>
                          <a:pt x="213" y="32"/>
                        </a:lnTo>
                        <a:lnTo>
                          <a:pt x="210" y="26"/>
                        </a:lnTo>
                        <a:lnTo>
                          <a:pt x="208" y="19"/>
                        </a:lnTo>
                        <a:lnTo>
                          <a:pt x="208" y="11"/>
                        </a:lnTo>
                        <a:lnTo>
                          <a:pt x="209" y="4"/>
                        </a:lnTo>
                        <a:lnTo>
                          <a:pt x="209" y="1"/>
                        </a:lnTo>
                        <a:lnTo>
                          <a:pt x="205" y="0"/>
                        </a:lnTo>
                        <a:lnTo>
                          <a:pt x="66" y="44"/>
                        </a:lnTo>
                        <a:lnTo>
                          <a:pt x="0" y="10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44" name="Freeform 361"/>
                  <p:cNvSpPr>
                    <a:spLocks/>
                  </p:cNvSpPr>
                  <p:nvPr/>
                </p:nvSpPr>
                <p:spPr bwMode="auto">
                  <a:xfrm>
                    <a:off x="3570" y="2385"/>
                    <a:ext cx="346" cy="105"/>
                  </a:xfrm>
                  <a:custGeom>
                    <a:avLst/>
                    <a:gdLst>
                      <a:gd name="T0" fmla="*/ 0 w 346"/>
                      <a:gd name="T1" fmla="*/ 105 h 105"/>
                      <a:gd name="T2" fmla="*/ 138 w 346"/>
                      <a:gd name="T3" fmla="*/ 62 h 105"/>
                      <a:gd name="T4" fmla="*/ 277 w 346"/>
                      <a:gd name="T5" fmla="*/ 105 h 105"/>
                      <a:gd name="T6" fmla="*/ 346 w 346"/>
                      <a:gd name="T7" fmla="*/ 44 h 105"/>
                      <a:gd name="T8" fmla="*/ 333 w 346"/>
                      <a:gd name="T9" fmla="*/ 41 h 105"/>
                      <a:gd name="T10" fmla="*/ 333 w 346"/>
                      <a:gd name="T11" fmla="*/ 43 h 105"/>
                      <a:gd name="T12" fmla="*/ 333 w 346"/>
                      <a:gd name="T13" fmla="*/ 46 h 105"/>
                      <a:gd name="T14" fmla="*/ 332 w 346"/>
                      <a:gd name="T15" fmla="*/ 47 h 105"/>
                      <a:gd name="T16" fmla="*/ 330 w 346"/>
                      <a:gd name="T17" fmla="*/ 50 h 105"/>
                      <a:gd name="T18" fmla="*/ 324 w 346"/>
                      <a:gd name="T19" fmla="*/ 52 h 105"/>
                      <a:gd name="T20" fmla="*/ 315 w 346"/>
                      <a:gd name="T21" fmla="*/ 54 h 105"/>
                      <a:gd name="T22" fmla="*/ 305 w 346"/>
                      <a:gd name="T23" fmla="*/ 55 h 105"/>
                      <a:gd name="T24" fmla="*/ 296 w 346"/>
                      <a:gd name="T25" fmla="*/ 56 h 105"/>
                      <a:gd name="T26" fmla="*/ 286 w 346"/>
                      <a:gd name="T27" fmla="*/ 56 h 105"/>
                      <a:gd name="T28" fmla="*/ 275 w 346"/>
                      <a:gd name="T29" fmla="*/ 55 h 105"/>
                      <a:gd name="T30" fmla="*/ 268 w 346"/>
                      <a:gd name="T31" fmla="*/ 55 h 105"/>
                      <a:gd name="T32" fmla="*/ 263 w 346"/>
                      <a:gd name="T33" fmla="*/ 55 h 105"/>
                      <a:gd name="T34" fmla="*/ 284 w 346"/>
                      <a:gd name="T35" fmla="*/ 60 h 105"/>
                      <a:gd name="T36" fmla="*/ 274 w 346"/>
                      <a:gd name="T37" fmla="*/ 69 h 105"/>
                      <a:gd name="T38" fmla="*/ 193 w 346"/>
                      <a:gd name="T39" fmla="*/ 43 h 105"/>
                      <a:gd name="T40" fmla="*/ 189 w 346"/>
                      <a:gd name="T41" fmla="*/ 41 h 105"/>
                      <a:gd name="T42" fmla="*/ 198 w 346"/>
                      <a:gd name="T43" fmla="*/ 32 h 105"/>
                      <a:gd name="T44" fmla="*/ 219 w 346"/>
                      <a:gd name="T45" fmla="*/ 39 h 105"/>
                      <a:gd name="T46" fmla="*/ 213 w 346"/>
                      <a:gd name="T47" fmla="*/ 32 h 105"/>
                      <a:gd name="T48" fmla="*/ 210 w 346"/>
                      <a:gd name="T49" fmla="*/ 26 h 105"/>
                      <a:gd name="T50" fmla="*/ 208 w 346"/>
                      <a:gd name="T51" fmla="*/ 19 h 105"/>
                      <a:gd name="T52" fmla="*/ 208 w 346"/>
                      <a:gd name="T53" fmla="*/ 11 h 105"/>
                      <a:gd name="T54" fmla="*/ 209 w 346"/>
                      <a:gd name="T55" fmla="*/ 4 h 105"/>
                      <a:gd name="T56" fmla="*/ 209 w 346"/>
                      <a:gd name="T57" fmla="*/ 1 h 105"/>
                      <a:gd name="T58" fmla="*/ 205 w 346"/>
                      <a:gd name="T59" fmla="*/ 0 h 105"/>
                      <a:gd name="T60" fmla="*/ 66 w 346"/>
                      <a:gd name="T61" fmla="*/ 44 h 105"/>
                      <a:gd name="T62" fmla="*/ 0 w 346"/>
                      <a:gd name="T63" fmla="*/ 105 h 105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346"/>
                      <a:gd name="T97" fmla="*/ 0 h 105"/>
                      <a:gd name="T98" fmla="*/ 346 w 346"/>
                      <a:gd name="T99" fmla="*/ 105 h 105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346" h="105">
                        <a:moveTo>
                          <a:pt x="0" y="105"/>
                        </a:moveTo>
                        <a:lnTo>
                          <a:pt x="138" y="62"/>
                        </a:lnTo>
                        <a:lnTo>
                          <a:pt x="277" y="105"/>
                        </a:lnTo>
                        <a:lnTo>
                          <a:pt x="346" y="44"/>
                        </a:lnTo>
                        <a:lnTo>
                          <a:pt x="333" y="41"/>
                        </a:lnTo>
                        <a:lnTo>
                          <a:pt x="333" y="43"/>
                        </a:lnTo>
                        <a:lnTo>
                          <a:pt x="333" y="46"/>
                        </a:lnTo>
                        <a:lnTo>
                          <a:pt x="332" y="47"/>
                        </a:lnTo>
                        <a:lnTo>
                          <a:pt x="330" y="50"/>
                        </a:lnTo>
                        <a:lnTo>
                          <a:pt x="324" y="52"/>
                        </a:lnTo>
                        <a:lnTo>
                          <a:pt x="315" y="54"/>
                        </a:lnTo>
                        <a:lnTo>
                          <a:pt x="305" y="55"/>
                        </a:lnTo>
                        <a:lnTo>
                          <a:pt x="296" y="56"/>
                        </a:lnTo>
                        <a:lnTo>
                          <a:pt x="286" y="56"/>
                        </a:lnTo>
                        <a:lnTo>
                          <a:pt x="275" y="55"/>
                        </a:lnTo>
                        <a:lnTo>
                          <a:pt x="268" y="55"/>
                        </a:lnTo>
                        <a:lnTo>
                          <a:pt x="263" y="55"/>
                        </a:lnTo>
                        <a:lnTo>
                          <a:pt x="284" y="60"/>
                        </a:lnTo>
                        <a:lnTo>
                          <a:pt x="274" y="69"/>
                        </a:lnTo>
                        <a:lnTo>
                          <a:pt x="193" y="43"/>
                        </a:lnTo>
                        <a:lnTo>
                          <a:pt x="189" y="41"/>
                        </a:lnTo>
                        <a:lnTo>
                          <a:pt x="198" y="32"/>
                        </a:lnTo>
                        <a:lnTo>
                          <a:pt x="219" y="39"/>
                        </a:lnTo>
                        <a:lnTo>
                          <a:pt x="213" y="32"/>
                        </a:lnTo>
                        <a:lnTo>
                          <a:pt x="210" y="26"/>
                        </a:lnTo>
                        <a:lnTo>
                          <a:pt x="208" y="19"/>
                        </a:lnTo>
                        <a:lnTo>
                          <a:pt x="208" y="11"/>
                        </a:lnTo>
                        <a:lnTo>
                          <a:pt x="209" y="4"/>
                        </a:lnTo>
                        <a:lnTo>
                          <a:pt x="209" y="1"/>
                        </a:lnTo>
                        <a:lnTo>
                          <a:pt x="205" y="0"/>
                        </a:lnTo>
                        <a:lnTo>
                          <a:pt x="66" y="44"/>
                        </a:lnTo>
                        <a:lnTo>
                          <a:pt x="0" y="10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45" name="Freeform 362"/>
                  <p:cNvSpPr>
                    <a:spLocks/>
                  </p:cNvSpPr>
                  <p:nvPr/>
                </p:nvSpPr>
                <p:spPr bwMode="auto">
                  <a:xfrm>
                    <a:off x="3846" y="2429"/>
                    <a:ext cx="70" cy="69"/>
                  </a:xfrm>
                  <a:custGeom>
                    <a:avLst/>
                    <a:gdLst>
                      <a:gd name="T0" fmla="*/ 70 w 70"/>
                      <a:gd name="T1" fmla="*/ 0 h 69"/>
                      <a:gd name="T2" fmla="*/ 70 w 70"/>
                      <a:gd name="T3" fmla="*/ 6 h 69"/>
                      <a:gd name="T4" fmla="*/ 59 w 70"/>
                      <a:gd name="T5" fmla="*/ 15 h 69"/>
                      <a:gd name="T6" fmla="*/ 0 w 70"/>
                      <a:gd name="T7" fmla="*/ 69 h 69"/>
                      <a:gd name="T8" fmla="*/ 0 w 70"/>
                      <a:gd name="T9" fmla="*/ 64 h 69"/>
                      <a:gd name="T10" fmla="*/ 1 w 70"/>
                      <a:gd name="T11" fmla="*/ 61 h 69"/>
                      <a:gd name="T12" fmla="*/ 70 w 70"/>
                      <a:gd name="T13" fmla="*/ 0 h 6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70"/>
                      <a:gd name="T22" fmla="*/ 0 h 69"/>
                      <a:gd name="T23" fmla="*/ 70 w 70"/>
                      <a:gd name="T24" fmla="*/ 69 h 69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70" h="69">
                        <a:moveTo>
                          <a:pt x="70" y="0"/>
                        </a:moveTo>
                        <a:lnTo>
                          <a:pt x="70" y="6"/>
                        </a:lnTo>
                        <a:lnTo>
                          <a:pt x="59" y="15"/>
                        </a:lnTo>
                        <a:lnTo>
                          <a:pt x="0" y="69"/>
                        </a:lnTo>
                        <a:lnTo>
                          <a:pt x="0" y="64"/>
                        </a:lnTo>
                        <a:lnTo>
                          <a:pt x="1" y="61"/>
                        </a:lnTo>
                        <a:lnTo>
                          <a:pt x="7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46" name="Freeform 363"/>
                  <p:cNvSpPr>
                    <a:spLocks/>
                  </p:cNvSpPr>
                  <p:nvPr/>
                </p:nvSpPr>
                <p:spPr bwMode="auto">
                  <a:xfrm>
                    <a:off x="3846" y="2429"/>
                    <a:ext cx="70" cy="69"/>
                  </a:xfrm>
                  <a:custGeom>
                    <a:avLst/>
                    <a:gdLst>
                      <a:gd name="T0" fmla="*/ 70 w 70"/>
                      <a:gd name="T1" fmla="*/ 0 h 69"/>
                      <a:gd name="T2" fmla="*/ 70 w 70"/>
                      <a:gd name="T3" fmla="*/ 6 h 69"/>
                      <a:gd name="T4" fmla="*/ 59 w 70"/>
                      <a:gd name="T5" fmla="*/ 15 h 69"/>
                      <a:gd name="T6" fmla="*/ 0 w 70"/>
                      <a:gd name="T7" fmla="*/ 69 h 69"/>
                      <a:gd name="T8" fmla="*/ 0 w 70"/>
                      <a:gd name="T9" fmla="*/ 64 h 69"/>
                      <a:gd name="T10" fmla="*/ 1 w 70"/>
                      <a:gd name="T11" fmla="*/ 61 h 69"/>
                      <a:gd name="T12" fmla="*/ 70 w 70"/>
                      <a:gd name="T13" fmla="*/ 0 h 6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70"/>
                      <a:gd name="T22" fmla="*/ 0 h 69"/>
                      <a:gd name="T23" fmla="*/ 70 w 70"/>
                      <a:gd name="T24" fmla="*/ 69 h 69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70" h="69">
                        <a:moveTo>
                          <a:pt x="70" y="0"/>
                        </a:moveTo>
                        <a:lnTo>
                          <a:pt x="70" y="6"/>
                        </a:lnTo>
                        <a:lnTo>
                          <a:pt x="59" y="15"/>
                        </a:lnTo>
                        <a:lnTo>
                          <a:pt x="0" y="69"/>
                        </a:lnTo>
                        <a:lnTo>
                          <a:pt x="0" y="64"/>
                        </a:lnTo>
                        <a:lnTo>
                          <a:pt x="1" y="61"/>
                        </a:lnTo>
                        <a:lnTo>
                          <a:pt x="7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47" name="Freeform 364"/>
                  <p:cNvSpPr>
                    <a:spLocks/>
                  </p:cNvSpPr>
                  <p:nvPr/>
                </p:nvSpPr>
                <p:spPr bwMode="auto">
                  <a:xfrm>
                    <a:off x="3570" y="2447"/>
                    <a:ext cx="277" cy="46"/>
                  </a:xfrm>
                  <a:custGeom>
                    <a:avLst/>
                    <a:gdLst>
                      <a:gd name="T0" fmla="*/ 276 w 277"/>
                      <a:gd name="T1" fmla="*/ 46 h 46"/>
                      <a:gd name="T2" fmla="*/ 277 w 277"/>
                      <a:gd name="T3" fmla="*/ 43 h 46"/>
                      <a:gd name="T4" fmla="*/ 138 w 277"/>
                      <a:gd name="T5" fmla="*/ 0 h 46"/>
                      <a:gd name="T6" fmla="*/ 0 w 277"/>
                      <a:gd name="T7" fmla="*/ 43 h 46"/>
                      <a:gd name="T8" fmla="*/ 1 w 277"/>
                      <a:gd name="T9" fmla="*/ 46 h 46"/>
                      <a:gd name="T10" fmla="*/ 29 w 277"/>
                      <a:gd name="T11" fmla="*/ 46 h 46"/>
                      <a:gd name="T12" fmla="*/ 138 w 277"/>
                      <a:gd name="T13" fmla="*/ 14 h 46"/>
                      <a:gd name="T14" fmla="*/ 239 w 277"/>
                      <a:gd name="T15" fmla="*/ 46 h 46"/>
                      <a:gd name="T16" fmla="*/ 276 w 277"/>
                      <a:gd name="T17" fmla="*/ 46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277"/>
                      <a:gd name="T28" fmla="*/ 0 h 46"/>
                      <a:gd name="T29" fmla="*/ 277 w 277"/>
                      <a:gd name="T30" fmla="*/ 46 h 4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277" h="46">
                        <a:moveTo>
                          <a:pt x="276" y="46"/>
                        </a:moveTo>
                        <a:lnTo>
                          <a:pt x="277" y="43"/>
                        </a:lnTo>
                        <a:lnTo>
                          <a:pt x="138" y="0"/>
                        </a:lnTo>
                        <a:lnTo>
                          <a:pt x="0" y="43"/>
                        </a:lnTo>
                        <a:lnTo>
                          <a:pt x="1" y="46"/>
                        </a:lnTo>
                        <a:lnTo>
                          <a:pt x="29" y="46"/>
                        </a:lnTo>
                        <a:lnTo>
                          <a:pt x="138" y="14"/>
                        </a:lnTo>
                        <a:lnTo>
                          <a:pt x="239" y="46"/>
                        </a:lnTo>
                        <a:lnTo>
                          <a:pt x="276" y="4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48" name="Freeform 365"/>
                  <p:cNvSpPr>
                    <a:spLocks/>
                  </p:cNvSpPr>
                  <p:nvPr/>
                </p:nvSpPr>
                <p:spPr bwMode="auto">
                  <a:xfrm>
                    <a:off x="3570" y="2447"/>
                    <a:ext cx="277" cy="46"/>
                  </a:xfrm>
                  <a:custGeom>
                    <a:avLst/>
                    <a:gdLst>
                      <a:gd name="T0" fmla="*/ 276 w 277"/>
                      <a:gd name="T1" fmla="*/ 46 h 46"/>
                      <a:gd name="T2" fmla="*/ 277 w 277"/>
                      <a:gd name="T3" fmla="*/ 43 h 46"/>
                      <a:gd name="T4" fmla="*/ 138 w 277"/>
                      <a:gd name="T5" fmla="*/ 0 h 46"/>
                      <a:gd name="T6" fmla="*/ 0 w 277"/>
                      <a:gd name="T7" fmla="*/ 43 h 46"/>
                      <a:gd name="T8" fmla="*/ 1 w 277"/>
                      <a:gd name="T9" fmla="*/ 46 h 46"/>
                      <a:gd name="T10" fmla="*/ 29 w 277"/>
                      <a:gd name="T11" fmla="*/ 46 h 46"/>
                      <a:gd name="T12" fmla="*/ 138 w 277"/>
                      <a:gd name="T13" fmla="*/ 14 h 46"/>
                      <a:gd name="T14" fmla="*/ 239 w 277"/>
                      <a:gd name="T15" fmla="*/ 46 h 46"/>
                      <a:gd name="T16" fmla="*/ 276 w 277"/>
                      <a:gd name="T17" fmla="*/ 46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277"/>
                      <a:gd name="T28" fmla="*/ 0 h 46"/>
                      <a:gd name="T29" fmla="*/ 277 w 277"/>
                      <a:gd name="T30" fmla="*/ 46 h 4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277" h="46">
                        <a:moveTo>
                          <a:pt x="276" y="46"/>
                        </a:moveTo>
                        <a:lnTo>
                          <a:pt x="277" y="43"/>
                        </a:lnTo>
                        <a:lnTo>
                          <a:pt x="138" y="0"/>
                        </a:lnTo>
                        <a:lnTo>
                          <a:pt x="0" y="43"/>
                        </a:lnTo>
                        <a:lnTo>
                          <a:pt x="1" y="46"/>
                        </a:lnTo>
                        <a:lnTo>
                          <a:pt x="29" y="46"/>
                        </a:lnTo>
                        <a:lnTo>
                          <a:pt x="138" y="14"/>
                        </a:lnTo>
                        <a:lnTo>
                          <a:pt x="239" y="46"/>
                        </a:lnTo>
                        <a:lnTo>
                          <a:pt x="276" y="46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49" name="Freeform 366"/>
                  <p:cNvSpPr>
                    <a:spLocks/>
                  </p:cNvSpPr>
                  <p:nvPr/>
                </p:nvSpPr>
                <p:spPr bwMode="auto">
                  <a:xfrm>
                    <a:off x="3600" y="2461"/>
                    <a:ext cx="209" cy="32"/>
                  </a:xfrm>
                  <a:custGeom>
                    <a:avLst/>
                    <a:gdLst>
                      <a:gd name="T0" fmla="*/ 0 w 209"/>
                      <a:gd name="T1" fmla="*/ 32 h 32"/>
                      <a:gd name="T2" fmla="*/ 108 w 209"/>
                      <a:gd name="T3" fmla="*/ 0 h 32"/>
                      <a:gd name="T4" fmla="*/ 209 w 209"/>
                      <a:gd name="T5" fmla="*/ 32 h 32"/>
                      <a:gd name="T6" fmla="*/ 188 w 209"/>
                      <a:gd name="T7" fmla="*/ 32 h 32"/>
                      <a:gd name="T8" fmla="*/ 108 w 209"/>
                      <a:gd name="T9" fmla="*/ 7 h 32"/>
                      <a:gd name="T10" fmla="*/ 24 w 209"/>
                      <a:gd name="T11" fmla="*/ 32 h 32"/>
                      <a:gd name="T12" fmla="*/ 0 w 209"/>
                      <a:gd name="T13" fmla="*/ 32 h 3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09"/>
                      <a:gd name="T22" fmla="*/ 0 h 32"/>
                      <a:gd name="T23" fmla="*/ 209 w 209"/>
                      <a:gd name="T24" fmla="*/ 32 h 3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09" h="32">
                        <a:moveTo>
                          <a:pt x="0" y="32"/>
                        </a:moveTo>
                        <a:lnTo>
                          <a:pt x="108" y="0"/>
                        </a:lnTo>
                        <a:lnTo>
                          <a:pt x="209" y="32"/>
                        </a:lnTo>
                        <a:lnTo>
                          <a:pt x="188" y="32"/>
                        </a:lnTo>
                        <a:lnTo>
                          <a:pt x="108" y="7"/>
                        </a:lnTo>
                        <a:lnTo>
                          <a:pt x="24" y="32"/>
                        </a:lnTo>
                        <a:lnTo>
                          <a:pt x="0" y="32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50" name="Freeform 367"/>
                  <p:cNvSpPr>
                    <a:spLocks/>
                  </p:cNvSpPr>
                  <p:nvPr/>
                </p:nvSpPr>
                <p:spPr bwMode="auto">
                  <a:xfrm>
                    <a:off x="3600" y="2461"/>
                    <a:ext cx="209" cy="32"/>
                  </a:xfrm>
                  <a:custGeom>
                    <a:avLst/>
                    <a:gdLst>
                      <a:gd name="T0" fmla="*/ 0 w 209"/>
                      <a:gd name="T1" fmla="*/ 32 h 32"/>
                      <a:gd name="T2" fmla="*/ 108 w 209"/>
                      <a:gd name="T3" fmla="*/ 0 h 32"/>
                      <a:gd name="T4" fmla="*/ 209 w 209"/>
                      <a:gd name="T5" fmla="*/ 32 h 32"/>
                      <a:gd name="T6" fmla="*/ 188 w 209"/>
                      <a:gd name="T7" fmla="*/ 32 h 32"/>
                      <a:gd name="T8" fmla="*/ 108 w 209"/>
                      <a:gd name="T9" fmla="*/ 7 h 32"/>
                      <a:gd name="T10" fmla="*/ 24 w 209"/>
                      <a:gd name="T11" fmla="*/ 32 h 32"/>
                      <a:gd name="T12" fmla="*/ 0 w 209"/>
                      <a:gd name="T13" fmla="*/ 32 h 3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09"/>
                      <a:gd name="T22" fmla="*/ 0 h 32"/>
                      <a:gd name="T23" fmla="*/ 209 w 209"/>
                      <a:gd name="T24" fmla="*/ 32 h 3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09" h="32">
                        <a:moveTo>
                          <a:pt x="0" y="32"/>
                        </a:moveTo>
                        <a:lnTo>
                          <a:pt x="108" y="0"/>
                        </a:lnTo>
                        <a:lnTo>
                          <a:pt x="209" y="32"/>
                        </a:lnTo>
                        <a:lnTo>
                          <a:pt x="188" y="32"/>
                        </a:lnTo>
                        <a:lnTo>
                          <a:pt x="108" y="7"/>
                        </a:lnTo>
                        <a:lnTo>
                          <a:pt x="24" y="32"/>
                        </a:lnTo>
                        <a:lnTo>
                          <a:pt x="0" y="32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51" name="Freeform 368"/>
                  <p:cNvSpPr>
                    <a:spLocks/>
                  </p:cNvSpPr>
                  <p:nvPr/>
                </p:nvSpPr>
                <p:spPr bwMode="auto">
                  <a:xfrm>
                    <a:off x="3624" y="2468"/>
                    <a:ext cx="164" cy="25"/>
                  </a:xfrm>
                  <a:custGeom>
                    <a:avLst/>
                    <a:gdLst>
                      <a:gd name="T0" fmla="*/ 164 w 164"/>
                      <a:gd name="T1" fmla="*/ 25 h 25"/>
                      <a:gd name="T2" fmla="*/ 84 w 164"/>
                      <a:gd name="T3" fmla="*/ 0 h 25"/>
                      <a:gd name="T4" fmla="*/ 0 w 164"/>
                      <a:gd name="T5" fmla="*/ 25 h 25"/>
                      <a:gd name="T6" fmla="*/ 164 w 164"/>
                      <a:gd name="T7" fmla="*/ 25 h 2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64"/>
                      <a:gd name="T13" fmla="*/ 0 h 25"/>
                      <a:gd name="T14" fmla="*/ 164 w 164"/>
                      <a:gd name="T15" fmla="*/ 25 h 2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64" h="25">
                        <a:moveTo>
                          <a:pt x="164" y="25"/>
                        </a:moveTo>
                        <a:lnTo>
                          <a:pt x="84" y="0"/>
                        </a:lnTo>
                        <a:lnTo>
                          <a:pt x="0" y="25"/>
                        </a:lnTo>
                        <a:lnTo>
                          <a:pt x="164" y="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52" name="Freeform 369"/>
                  <p:cNvSpPr>
                    <a:spLocks/>
                  </p:cNvSpPr>
                  <p:nvPr/>
                </p:nvSpPr>
                <p:spPr bwMode="auto">
                  <a:xfrm>
                    <a:off x="3624" y="2468"/>
                    <a:ext cx="164" cy="25"/>
                  </a:xfrm>
                  <a:custGeom>
                    <a:avLst/>
                    <a:gdLst>
                      <a:gd name="T0" fmla="*/ 164 w 164"/>
                      <a:gd name="T1" fmla="*/ 25 h 25"/>
                      <a:gd name="T2" fmla="*/ 84 w 164"/>
                      <a:gd name="T3" fmla="*/ 0 h 25"/>
                      <a:gd name="T4" fmla="*/ 0 w 164"/>
                      <a:gd name="T5" fmla="*/ 25 h 25"/>
                      <a:gd name="T6" fmla="*/ 164 w 164"/>
                      <a:gd name="T7" fmla="*/ 25 h 2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64"/>
                      <a:gd name="T13" fmla="*/ 0 h 25"/>
                      <a:gd name="T14" fmla="*/ 164 w 164"/>
                      <a:gd name="T15" fmla="*/ 25 h 2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64" h="25">
                        <a:moveTo>
                          <a:pt x="164" y="25"/>
                        </a:moveTo>
                        <a:lnTo>
                          <a:pt x="84" y="0"/>
                        </a:lnTo>
                        <a:lnTo>
                          <a:pt x="0" y="25"/>
                        </a:lnTo>
                        <a:lnTo>
                          <a:pt x="164" y="2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53" name="Rectangle 370"/>
                  <p:cNvSpPr>
                    <a:spLocks noChangeArrowheads="1"/>
                  </p:cNvSpPr>
                  <p:nvPr/>
                </p:nvSpPr>
                <p:spPr bwMode="auto">
                  <a:xfrm>
                    <a:off x="3571" y="2493"/>
                    <a:ext cx="275" cy="5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54" name="Rectangle 371"/>
                  <p:cNvSpPr>
                    <a:spLocks noChangeArrowheads="1"/>
                  </p:cNvSpPr>
                  <p:nvPr/>
                </p:nvSpPr>
                <p:spPr bwMode="auto">
                  <a:xfrm>
                    <a:off x="3571" y="2493"/>
                    <a:ext cx="275" cy="5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55" name="Rectangle 372"/>
                  <p:cNvSpPr>
                    <a:spLocks noChangeArrowheads="1"/>
                  </p:cNvSpPr>
                  <p:nvPr/>
                </p:nvSpPr>
                <p:spPr bwMode="auto">
                  <a:xfrm>
                    <a:off x="3578" y="2498"/>
                    <a:ext cx="260" cy="7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56" name="Rectangle 373"/>
                  <p:cNvSpPr>
                    <a:spLocks noChangeArrowheads="1"/>
                  </p:cNvSpPr>
                  <p:nvPr/>
                </p:nvSpPr>
                <p:spPr bwMode="auto">
                  <a:xfrm>
                    <a:off x="3578" y="2498"/>
                    <a:ext cx="260" cy="7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57" name="Freeform 374"/>
                  <p:cNvSpPr>
                    <a:spLocks/>
                  </p:cNvSpPr>
                  <p:nvPr/>
                </p:nvSpPr>
                <p:spPr bwMode="auto">
                  <a:xfrm>
                    <a:off x="3838" y="2498"/>
                    <a:ext cx="8" cy="7"/>
                  </a:xfrm>
                  <a:custGeom>
                    <a:avLst/>
                    <a:gdLst>
                      <a:gd name="T0" fmla="*/ 8 w 8"/>
                      <a:gd name="T1" fmla="*/ 0 h 7"/>
                      <a:gd name="T2" fmla="*/ 0 w 8"/>
                      <a:gd name="T3" fmla="*/ 0 h 7"/>
                      <a:gd name="T4" fmla="*/ 0 w 8"/>
                      <a:gd name="T5" fmla="*/ 7 h 7"/>
                      <a:gd name="T6" fmla="*/ 8 w 8"/>
                      <a:gd name="T7" fmla="*/ 0 h 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"/>
                      <a:gd name="T13" fmla="*/ 0 h 7"/>
                      <a:gd name="T14" fmla="*/ 8 w 8"/>
                      <a:gd name="T15" fmla="*/ 7 h 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" h="7">
                        <a:moveTo>
                          <a:pt x="8" y="0"/>
                        </a:moveTo>
                        <a:lnTo>
                          <a:pt x="0" y="0"/>
                        </a:lnTo>
                        <a:lnTo>
                          <a:pt x="0" y="7"/>
                        </a:lnTo>
                        <a:lnTo>
                          <a:pt x="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58" name="Freeform 375"/>
                  <p:cNvSpPr>
                    <a:spLocks/>
                  </p:cNvSpPr>
                  <p:nvPr/>
                </p:nvSpPr>
                <p:spPr bwMode="auto">
                  <a:xfrm>
                    <a:off x="3838" y="2498"/>
                    <a:ext cx="8" cy="7"/>
                  </a:xfrm>
                  <a:custGeom>
                    <a:avLst/>
                    <a:gdLst>
                      <a:gd name="T0" fmla="*/ 8 w 8"/>
                      <a:gd name="T1" fmla="*/ 0 h 7"/>
                      <a:gd name="T2" fmla="*/ 0 w 8"/>
                      <a:gd name="T3" fmla="*/ 0 h 7"/>
                      <a:gd name="T4" fmla="*/ 0 w 8"/>
                      <a:gd name="T5" fmla="*/ 7 h 7"/>
                      <a:gd name="T6" fmla="*/ 8 w 8"/>
                      <a:gd name="T7" fmla="*/ 0 h 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"/>
                      <a:gd name="T13" fmla="*/ 0 h 7"/>
                      <a:gd name="T14" fmla="*/ 8 w 8"/>
                      <a:gd name="T15" fmla="*/ 7 h 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" h="7">
                        <a:moveTo>
                          <a:pt x="8" y="0"/>
                        </a:moveTo>
                        <a:lnTo>
                          <a:pt x="0" y="0"/>
                        </a:lnTo>
                        <a:lnTo>
                          <a:pt x="0" y="7"/>
                        </a:lnTo>
                        <a:lnTo>
                          <a:pt x="8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59" name="Rectangle 376"/>
                  <p:cNvSpPr>
                    <a:spLocks noChangeArrowheads="1"/>
                  </p:cNvSpPr>
                  <p:nvPr/>
                </p:nvSpPr>
                <p:spPr bwMode="auto">
                  <a:xfrm>
                    <a:off x="3582" y="2505"/>
                    <a:ext cx="250" cy="24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60" name="Rectangle 377"/>
                  <p:cNvSpPr>
                    <a:spLocks noChangeArrowheads="1"/>
                  </p:cNvSpPr>
                  <p:nvPr/>
                </p:nvSpPr>
                <p:spPr bwMode="auto">
                  <a:xfrm>
                    <a:off x="3582" y="2505"/>
                    <a:ext cx="250" cy="24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61" name="Freeform 378"/>
                  <p:cNvSpPr>
                    <a:spLocks/>
                  </p:cNvSpPr>
                  <p:nvPr/>
                </p:nvSpPr>
                <p:spPr bwMode="auto">
                  <a:xfrm>
                    <a:off x="3599" y="2520"/>
                    <a:ext cx="244" cy="160"/>
                  </a:xfrm>
                  <a:custGeom>
                    <a:avLst/>
                    <a:gdLst>
                      <a:gd name="T0" fmla="*/ 4 w 244"/>
                      <a:gd name="T1" fmla="*/ 12 h 160"/>
                      <a:gd name="T2" fmla="*/ 4 w 244"/>
                      <a:gd name="T3" fmla="*/ 13 h 160"/>
                      <a:gd name="T4" fmla="*/ 1 w 244"/>
                      <a:gd name="T5" fmla="*/ 14 h 160"/>
                      <a:gd name="T6" fmla="*/ 0 w 244"/>
                      <a:gd name="T7" fmla="*/ 21 h 160"/>
                      <a:gd name="T8" fmla="*/ 4 w 244"/>
                      <a:gd name="T9" fmla="*/ 21 h 160"/>
                      <a:gd name="T10" fmla="*/ 4 w 244"/>
                      <a:gd name="T11" fmla="*/ 27 h 160"/>
                      <a:gd name="T12" fmla="*/ 1 w 244"/>
                      <a:gd name="T13" fmla="*/ 28 h 160"/>
                      <a:gd name="T14" fmla="*/ 3 w 244"/>
                      <a:gd name="T15" fmla="*/ 132 h 160"/>
                      <a:gd name="T16" fmla="*/ 12 w 244"/>
                      <a:gd name="T17" fmla="*/ 146 h 160"/>
                      <a:gd name="T18" fmla="*/ 15 w 244"/>
                      <a:gd name="T19" fmla="*/ 157 h 160"/>
                      <a:gd name="T20" fmla="*/ 24 w 244"/>
                      <a:gd name="T21" fmla="*/ 157 h 160"/>
                      <a:gd name="T22" fmla="*/ 28 w 244"/>
                      <a:gd name="T23" fmla="*/ 159 h 160"/>
                      <a:gd name="T24" fmla="*/ 35 w 244"/>
                      <a:gd name="T25" fmla="*/ 160 h 160"/>
                      <a:gd name="T26" fmla="*/ 41 w 244"/>
                      <a:gd name="T27" fmla="*/ 160 h 160"/>
                      <a:gd name="T28" fmla="*/ 46 w 244"/>
                      <a:gd name="T29" fmla="*/ 158 h 160"/>
                      <a:gd name="T30" fmla="*/ 50 w 244"/>
                      <a:gd name="T31" fmla="*/ 157 h 160"/>
                      <a:gd name="T32" fmla="*/ 67 w 244"/>
                      <a:gd name="T33" fmla="*/ 157 h 160"/>
                      <a:gd name="T34" fmla="*/ 71 w 244"/>
                      <a:gd name="T35" fmla="*/ 159 h 160"/>
                      <a:gd name="T36" fmla="*/ 77 w 244"/>
                      <a:gd name="T37" fmla="*/ 160 h 160"/>
                      <a:gd name="T38" fmla="*/ 84 w 244"/>
                      <a:gd name="T39" fmla="*/ 160 h 160"/>
                      <a:gd name="T40" fmla="*/ 90 w 244"/>
                      <a:gd name="T41" fmla="*/ 158 h 160"/>
                      <a:gd name="T42" fmla="*/ 93 w 244"/>
                      <a:gd name="T43" fmla="*/ 157 h 160"/>
                      <a:gd name="T44" fmla="*/ 123 w 244"/>
                      <a:gd name="T45" fmla="*/ 157 h 160"/>
                      <a:gd name="T46" fmla="*/ 128 w 244"/>
                      <a:gd name="T47" fmla="*/ 159 h 160"/>
                      <a:gd name="T48" fmla="*/ 134 w 244"/>
                      <a:gd name="T49" fmla="*/ 160 h 160"/>
                      <a:gd name="T50" fmla="*/ 140 w 244"/>
                      <a:gd name="T51" fmla="*/ 160 h 160"/>
                      <a:gd name="T52" fmla="*/ 146 w 244"/>
                      <a:gd name="T53" fmla="*/ 158 h 160"/>
                      <a:gd name="T54" fmla="*/ 149 w 244"/>
                      <a:gd name="T55" fmla="*/ 157 h 160"/>
                      <a:gd name="T56" fmla="*/ 167 w 244"/>
                      <a:gd name="T57" fmla="*/ 157 h 160"/>
                      <a:gd name="T58" fmla="*/ 171 w 244"/>
                      <a:gd name="T59" fmla="*/ 159 h 160"/>
                      <a:gd name="T60" fmla="*/ 178 w 244"/>
                      <a:gd name="T61" fmla="*/ 160 h 160"/>
                      <a:gd name="T62" fmla="*/ 184 w 244"/>
                      <a:gd name="T63" fmla="*/ 160 h 160"/>
                      <a:gd name="T64" fmla="*/ 191 w 244"/>
                      <a:gd name="T65" fmla="*/ 158 h 160"/>
                      <a:gd name="T66" fmla="*/ 193 w 244"/>
                      <a:gd name="T67" fmla="*/ 157 h 160"/>
                      <a:gd name="T68" fmla="*/ 213 w 244"/>
                      <a:gd name="T69" fmla="*/ 141 h 160"/>
                      <a:gd name="T70" fmla="*/ 209 w 244"/>
                      <a:gd name="T71" fmla="*/ 138 h 160"/>
                      <a:gd name="T72" fmla="*/ 244 w 244"/>
                      <a:gd name="T73" fmla="*/ 131 h 160"/>
                      <a:gd name="T74" fmla="*/ 240 w 244"/>
                      <a:gd name="T75" fmla="*/ 3 h 160"/>
                      <a:gd name="T76" fmla="*/ 9 w 244"/>
                      <a:gd name="T77" fmla="*/ 9 h 160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244"/>
                      <a:gd name="T118" fmla="*/ 0 h 160"/>
                      <a:gd name="T119" fmla="*/ 244 w 244"/>
                      <a:gd name="T120" fmla="*/ 160 h 160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244" h="160">
                        <a:moveTo>
                          <a:pt x="9" y="9"/>
                        </a:moveTo>
                        <a:lnTo>
                          <a:pt x="4" y="12"/>
                        </a:lnTo>
                        <a:lnTo>
                          <a:pt x="4" y="13"/>
                        </a:lnTo>
                        <a:lnTo>
                          <a:pt x="3" y="13"/>
                        </a:lnTo>
                        <a:lnTo>
                          <a:pt x="1" y="14"/>
                        </a:lnTo>
                        <a:lnTo>
                          <a:pt x="0" y="14"/>
                        </a:lnTo>
                        <a:lnTo>
                          <a:pt x="0" y="21"/>
                        </a:lnTo>
                        <a:lnTo>
                          <a:pt x="3" y="21"/>
                        </a:lnTo>
                        <a:lnTo>
                          <a:pt x="4" y="21"/>
                        </a:lnTo>
                        <a:lnTo>
                          <a:pt x="4" y="22"/>
                        </a:lnTo>
                        <a:lnTo>
                          <a:pt x="4" y="27"/>
                        </a:lnTo>
                        <a:lnTo>
                          <a:pt x="1" y="28"/>
                        </a:lnTo>
                        <a:lnTo>
                          <a:pt x="0" y="28"/>
                        </a:lnTo>
                        <a:lnTo>
                          <a:pt x="3" y="132"/>
                        </a:lnTo>
                        <a:lnTo>
                          <a:pt x="12" y="132"/>
                        </a:lnTo>
                        <a:lnTo>
                          <a:pt x="12" y="146"/>
                        </a:lnTo>
                        <a:lnTo>
                          <a:pt x="15" y="152"/>
                        </a:lnTo>
                        <a:lnTo>
                          <a:pt x="15" y="157"/>
                        </a:lnTo>
                        <a:lnTo>
                          <a:pt x="23" y="157"/>
                        </a:lnTo>
                        <a:lnTo>
                          <a:pt x="24" y="157"/>
                        </a:lnTo>
                        <a:lnTo>
                          <a:pt x="26" y="158"/>
                        </a:lnTo>
                        <a:lnTo>
                          <a:pt x="28" y="159"/>
                        </a:lnTo>
                        <a:lnTo>
                          <a:pt x="31" y="160"/>
                        </a:lnTo>
                        <a:lnTo>
                          <a:pt x="35" y="160"/>
                        </a:lnTo>
                        <a:lnTo>
                          <a:pt x="37" y="160"/>
                        </a:lnTo>
                        <a:lnTo>
                          <a:pt x="41" y="160"/>
                        </a:lnTo>
                        <a:lnTo>
                          <a:pt x="43" y="159"/>
                        </a:lnTo>
                        <a:lnTo>
                          <a:pt x="46" y="158"/>
                        </a:lnTo>
                        <a:lnTo>
                          <a:pt x="49" y="158"/>
                        </a:lnTo>
                        <a:lnTo>
                          <a:pt x="50" y="157"/>
                        </a:lnTo>
                        <a:lnTo>
                          <a:pt x="66" y="157"/>
                        </a:lnTo>
                        <a:lnTo>
                          <a:pt x="67" y="157"/>
                        </a:lnTo>
                        <a:lnTo>
                          <a:pt x="69" y="158"/>
                        </a:lnTo>
                        <a:lnTo>
                          <a:pt x="71" y="159"/>
                        </a:lnTo>
                        <a:lnTo>
                          <a:pt x="74" y="160"/>
                        </a:lnTo>
                        <a:lnTo>
                          <a:pt x="77" y="160"/>
                        </a:lnTo>
                        <a:lnTo>
                          <a:pt x="81" y="160"/>
                        </a:lnTo>
                        <a:lnTo>
                          <a:pt x="84" y="160"/>
                        </a:lnTo>
                        <a:lnTo>
                          <a:pt x="87" y="159"/>
                        </a:lnTo>
                        <a:lnTo>
                          <a:pt x="90" y="158"/>
                        </a:lnTo>
                        <a:lnTo>
                          <a:pt x="91" y="158"/>
                        </a:lnTo>
                        <a:lnTo>
                          <a:pt x="93" y="157"/>
                        </a:lnTo>
                        <a:lnTo>
                          <a:pt x="122" y="157"/>
                        </a:lnTo>
                        <a:lnTo>
                          <a:pt x="123" y="157"/>
                        </a:lnTo>
                        <a:lnTo>
                          <a:pt x="125" y="158"/>
                        </a:lnTo>
                        <a:lnTo>
                          <a:pt x="128" y="159"/>
                        </a:lnTo>
                        <a:lnTo>
                          <a:pt x="131" y="160"/>
                        </a:lnTo>
                        <a:lnTo>
                          <a:pt x="134" y="160"/>
                        </a:lnTo>
                        <a:lnTo>
                          <a:pt x="137" y="160"/>
                        </a:lnTo>
                        <a:lnTo>
                          <a:pt x="140" y="160"/>
                        </a:lnTo>
                        <a:lnTo>
                          <a:pt x="144" y="159"/>
                        </a:lnTo>
                        <a:lnTo>
                          <a:pt x="146" y="158"/>
                        </a:lnTo>
                        <a:lnTo>
                          <a:pt x="148" y="158"/>
                        </a:lnTo>
                        <a:lnTo>
                          <a:pt x="149" y="157"/>
                        </a:lnTo>
                        <a:lnTo>
                          <a:pt x="166" y="157"/>
                        </a:lnTo>
                        <a:lnTo>
                          <a:pt x="167" y="157"/>
                        </a:lnTo>
                        <a:lnTo>
                          <a:pt x="169" y="158"/>
                        </a:lnTo>
                        <a:lnTo>
                          <a:pt x="171" y="159"/>
                        </a:lnTo>
                        <a:lnTo>
                          <a:pt x="175" y="160"/>
                        </a:lnTo>
                        <a:lnTo>
                          <a:pt x="178" y="160"/>
                        </a:lnTo>
                        <a:lnTo>
                          <a:pt x="181" y="160"/>
                        </a:lnTo>
                        <a:lnTo>
                          <a:pt x="184" y="160"/>
                        </a:lnTo>
                        <a:lnTo>
                          <a:pt x="187" y="159"/>
                        </a:lnTo>
                        <a:lnTo>
                          <a:pt x="191" y="158"/>
                        </a:lnTo>
                        <a:lnTo>
                          <a:pt x="192" y="158"/>
                        </a:lnTo>
                        <a:lnTo>
                          <a:pt x="193" y="157"/>
                        </a:lnTo>
                        <a:lnTo>
                          <a:pt x="213" y="157"/>
                        </a:lnTo>
                        <a:lnTo>
                          <a:pt x="213" y="141"/>
                        </a:lnTo>
                        <a:lnTo>
                          <a:pt x="211" y="141"/>
                        </a:lnTo>
                        <a:lnTo>
                          <a:pt x="209" y="138"/>
                        </a:lnTo>
                        <a:lnTo>
                          <a:pt x="236" y="138"/>
                        </a:lnTo>
                        <a:lnTo>
                          <a:pt x="244" y="131"/>
                        </a:lnTo>
                        <a:lnTo>
                          <a:pt x="244" y="0"/>
                        </a:lnTo>
                        <a:lnTo>
                          <a:pt x="240" y="3"/>
                        </a:lnTo>
                        <a:lnTo>
                          <a:pt x="233" y="9"/>
                        </a:lnTo>
                        <a:lnTo>
                          <a:pt x="9" y="9"/>
                        </a:lnTo>
                        <a:close/>
                      </a:path>
                    </a:pathLst>
                  </a:custGeom>
                  <a:solidFill>
                    <a:srgbClr val="0000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62" name="Freeform 379"/>
                  <p:cNvSpPr>
                    <a:spLocks/>
                  </p:cNvSpPr>
                  <p:nvPr/>
                </p:nvSpPr>
                <p:spPr bwMode="auto">
                  <a:xfrm>
                    <a:off x="3599" y="2520"/>
                    <a:ext cx="244" cy="160"/>
                  </a:xfrm>
                  <a:custGeom>
                    <a:avLst/>
                    <a:gdLst>
                      <a:gd name="T0" fmla="*/ 4 w 244"/>
                      <a:gd name="T1" fmla="*/ 12 h 160"/>
                      <a:gd name="T2" fmla="*/ 4 w 244"/>
                      <a:gd name="T3" fmla="*/ 13 h 160"/>
                      <a:gd name="T4" fmla="*/ 1 w 244"/>
                      <a:gd name="T5" fmla="*/ 14 h 160"/>
                      <a:gd name="T6" fmla="*/ 0 w 244"/>
                      <a:gd name="T7" fmla="*/ 21 h 160"/>
                      <a:gd name="T8" fmla="*/ 4 w 244"/>
                      <a:gd name="T9" fmla="*/ 21 h 160"/>
                      <a:gd name="T10" fmla="*/ 4 w 244"/>
                      <a:gd name="T11" fmla="*/ 27 h 160"/>
                      <a:gd name="T12" fmla="*/ 1 w 244"/>
                      <a:gd name="T13" fmla="*/ 28 h 160"/>
                      <a:gd name="T14" fmla="*/ 3 w 244"/>
                      <a:gd name="T15" fmla="*/ 132 h 160"/>
                      <a:gd name="T16" fmla="*/ 12 w 244"/>
                      <a:gd name="T17" fmla="*/ 146 h 160"/>
                      <a:gd name="T18" fmla="*/ 15 w 244"/>
                      <a:gd name="T19" fmla="*/ 157 h 160"/>
                      <a:gd name="T20" fmla="*/ 24 w 244"/>
                      <a:gd name="T21" fmla="*/ 157 h 160"/>
                      <a:gd name="T22" fmla="*/ 28 w 244"/>
                      <a:gd name="T23" fmla="*/ 159 h 160"/>
                      <a:gd name="T24" fmla="*/ 35 w 244"/>
                      <a:gd name="T25" fmla="*/ 160 h 160"/>
                      <a:gd name="T26" fmla="*/ 41 w 244"/>
                      <a:gd name="T27" fmla="*/ 160 h 160"/>
                      <a:gd name="T28" fmla="*/ 46 w 244"/>
                      <a:gd name="T29" fmla="*/ 158 h 160"/>
                      <a:gd name="T30" fmla="*/ 50 w 244"/>
                      <a:gd name="T31" fmla="*/ 157 h 160"/>
                      <a:gd name="T32" fmla="*/ 67 w 244"/>
                      <a:gd name="T33" fmla="*/ 157 h 160"/>
                      <a:gd name="T34" fmla="*/ 71 w 244"/>
                      <a:gd name="T35" fmla="*/ 159 h 160"/>
                      <a:gd name="T36" fmla="*/ 77 w 244"/>
                      <a:gd name="T37" fmla="*/ 160 h 160"/>
                      <a:gd name="T38" fmla="*/ 84 w 244"/>
                      <a:gd name="T39" fmla="*/ 160 h 160"/>
                      <a:gd name="T40" fmla="*/ 90 w 244"/>
                      <a:gd name="T41" fmla="*/ 158 h 160"/>
                      <a:gd name="T42" fmla="*/ 93 w 244"/>
                      <a:gd name="T43" fmla="*/ 157 h 160"/>
                      <a:gd name="T44" fmla="*/ 123 w 244"/>
                      <a:gd name="T45" fmla="*/ 157 h 160"/>
                      <a:gd name="T46" fmla="*/ 128 w 244"/>
                      <a:gd name="T47" fmla="*/ 159 h 160"/>
                      <a:gd name="T48" fmla="*/ 134 w 244"/>
                      <a:gd name="T49" fmla="*/ 160 h 160"/>
                      <a:gd name="T50" fmla="*/ 140 w 244"/>
                      <a:gd name="T51" fmla="*/ 160 h 160"/>
                      <a:gd name="T52" fmla="*/ 146 w 244"/>
                      <a:gd name="T53" fmla="*/ 158 h 160"/>
                      <a:gd name="T54" fmla="*/ 149 w 244"/>
                      <a:gd name="T55" fmla="*/ 157 h 160"/>
                      <a:gd name="T56" fmla="*/ 167 w 244"/>
                      <a:gd name="T57" fmla="*/ 157 h 160"/>
                      <a:gd name="T58" fmla="*/ 171 w 244"/>
                      <a:gd name="T59" fmla="*/ 159 h 160"/>
                      <a:gd name="T60" fmla="*/ 178 w 244"/>
                      <a:gd name="T61" fmla="*/ 160 h 160"/>
                      <a:gd name="T62" fmla="*/ 184 w 244"/>
                      <a:gd name="T63" fmla="*/ 160 h 160"/>
                      <a:gd name="T64" fmla="*/ 191 w 244"/>
                      <a:gd name="T65" fmla="*/ 158 h 160"/>
                      <a:gd name="T66" fmla="*/ 193 w 244"/>
                      <a:gd name="T67" fmla="*/ 157 h 160"/>
                      <a:gd name="T68" fmla="*/ 213 w 244"/>
                      <a:gd name="T69" fmla="*/ 141 h 160"/>
                      <a:gd name="T70" fmla="*/ 209 w 244"/>
                      <a:gd name="T71" fmla="*/ 138 h 160"/>
                      <a:gd name="T72" fmla="*/ 244 w 244"/>
                      <a:gd name="T73" fmla="*/ 131 h 160"/>
                      <a:gd name="T74" fmla="*/ 240 w 244"/>
                      <a:gd name="T75" fmla="*/ 3 h 160"/>
                      <a:gd name="T76" fmla="*/ 9 w 244"/>
                      <a:gd name="T77" fmla="*/ 9 h 160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244"/>
                      <a:gd name="T118" fmla="*/ 0 h 160"/>
                      <a:gd name="T119" fmla="*/ 244 w 244"/>
                      <a:gd name="T120" fmla="*/ 160 h 160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244" h="160">
                        <a:moveTo>
                          <a:pt x="9" y="9"/>
                        </a:moveTo>
                        <a:lnTo>
                          <a:pt x="4" y="12"/>
                        </a:lnTo>
                        <a:lnTo>
                          <a:pt x="4" y="13"/>
                        </a:lnTo>
                        <a:lnTo>
                          <a:pt x="3" y="13"/>
                        </a:lnTo>
                        <a:lnTo>
                          <a:pt x="1" y="14"/>
                        </a:lnTo>
                        <a:lnTo>
                          <a:pt x="0" y="14"/>
                        </a:lnTo>
                        <a:lnTo>
                          <a:pt x="0" y="21"/>
                        </a:lnTo>
                        <a:lnTo>
                          <a:pt x="3" y="21"/>
                        </a:lnTo>
                        <a:lnTo>
                          <a:pt x="4" y="21"/>
                        </a:lnTo>
                        <a:lnTo>
                          <a:pt x="4" y="22"/>
                        </a:lnTo>
                        <a:lnTo>
                          <a:pt x="4" y="27"/>
                        </a:lnTo>
                        <a:lnTo>
                          <a:pt x="1" y="28"/>
                        </a:lnTo>
                        <a:lnTo>
                          <a:pt x="0" y="28"/>
                        </a:lnTo>
                        <a:lnTo>
                          <a:pt x="3" y="132"/>
                        </a:lnTo>
                        <a:lnTo>
                          <a:pt x="12" y="132"/>
                        </a:lnTo>
                        <a:lnTo>
                          <a:pt x="12" y="146"/>
                        </a:lnTo>
                        <a:lnTo>
                          <a:pt x="15" y="152"/>
                        </a:lnTo>
                        <a:lnTo>
                          <a:pt x="15" y="157"/>
                        </a:lnTo>
                        <a:lnTo>
                          <a:pt x="23" y="157"/>
                        </a:lnTo>
                        <a:lnTo>
                          <a:pt x="24" y="157"/>
                        </a:lnTo>
                        <a:lnTo>
                          <a:pt x="26" y="158"/>
                        </a:lnTo>
                        <a:lnTo>
                          <a:pt x="28" y="159"/>
                        </a:lnTo>
                        <a:lnTo>
                          <a:pt x="31" y="160"/>
                        </a:lnTo>
                        <a:lnTo>
                          <a:pt x="35" y="160"/>
                        </a:lnTo>
                        <a:lnTo>
                          <a:pt x="37" y="160"/>
                        </a:lnTo>
                        <a:lnTo>
                          <a:pt x="41" y="160"/>
                        </a:lnTo>
                        <a:lnTo>
                          <a:pt x="43" y="159"/>
                        </a:lnTo>
                        <a:lnTo>
                          <a:pt x="46" y="158"/>
                        </a:lnTo>
                        <a:lnTo>
                          <a:pt x="49" y="158"/>
                        </a:lnTo>
                        <a:lnTo>
                          <a:pt x="50" y="157"/>
                        </a:lnTo>
                        <a:lnTo>
                          <a:pt x="66" y="157"/>
                        </a:lnTo>
                        <a:lnTo>
                          <a:pt x="67" y="157"/>
                        </a:lnTo>
                        <a:lnTo>
                          <a:pt x="69" y="158"/>
                        </a:lnTo>
                        <a:lnTo>
                          <a:pt x="71" y="159"/>
                        </a:lnTo>
                        <a:lnTo>
                          <a:pt x="74" y="160"/>
                        </a:lnTo>
                        <a:lnTo>
                          <a:pt x="77" y="160"/>
                        </a:lnTo>
                        <a:lnTo>
                          <a:pt x="81" y="160"/>
                        </a:lnTo>
                        <a:lnTo>
                          <a:pt x="84" y="160"/>
                        </a:lnTo>
                        <a:lnTo>
                          <a:pt x="87" y="159"/>
                        </a:lnTo>
                        <a:lnTo>
                          <a:pt x="90" y="158"/>
                        </a:lnTo>
                        <a:lnTo>
                          <a:pt x="91" y="158"/>
                        </a:lnTo>
                        <a:lnTo>
                          <a:pt x="93" y="157"/>
                        </a:lnTo>
                        <a:lnTo>
                          <a:pt x="122" y="157"/>
                        </a:lnTo>
                        <a:lnTo>
                          <a:pt x="123" y="157"/>
                        </a:lnTo>
                        <a:lnTo>
                          <a:pt x="125" y="158"/>
                        </a:lnTo>
                        <a:lnTo>
                          <a:pt x="128" y="159"/>
                        </a:lnTo>
                        <a:lnTo>
                          <a:pt x="131" y="160"/>
                        </a:lnTo>
                        <a:lnTo>
                          <a:pt x="134" y="160"/>
                        </a:lnTo>
                        <a:lnTo>
                          <a:pt x="137" y="160"/>
                        </a:lnTo>
                        <a:lnTo>
                          <a:pt x="140" y="160"/>
                        </a:lnTo>
                        <a:lnTo>
                          <a:pt x="144" y="159"/>
                        </a:lnTo>
                        <a:lnTo>
                          <a:pt x="146" y="158"/>
                        </a:lnTo>
                        <a:lnTo>
                          <a:pt x="148" y="158"/>
                        </a:lnTo>
                        <a:lnTo>
                          <a:pt x="149" y="157"/>
                        </a:lnTo>
                        <a:lnTo>
                          <a:pt x="166" y="157"/>
                        </a:lnTo>
                        <a:lnTo>
                          <a:pt x="167" y="157"/>
                        </a:lnTo>
                        <a:lnTo>
                          <a:pt x="169" y="158"/>
                        </a:lnTo>
                        <a:lnTo>
                          <a:pt x="171" y="159"/>
                        </a:lnTo>
                        <a:lnTo>
                          <a:pt x="175" y="160"/>
                        </a:lnTo>
                        <a:lnTo>
                          <a:pt x="178" y="160"/>
                        </a:lnTo>
                        <a:lnTo>
                          <a:pt x="181" y="160"/>
                        </a:lnTo>
                        <a:lnTo>
                          <a:pt x="184" y="160"/>
                        </a:lnTo>
                        <a:lnTo>
                          <a:pt x="187" y="159"/>
                        </a:lnTo>
                        <a:lnTo>
                          <a:pt x="191" y="158"/>
                        </a:lnTo>
                        <a:lnTo>
                          <a:pt x="192" y="158"/>
                        </a:lnTo>
                        <a:lnTo>
                          <a:pt x="193" y="157"/>
                        </a:lnTo>
                        <a:lnTo>
                          <a:pt x="213" y="157"/>
                        </a:lnTo>
                        <a:lnTo>
                          <a:pt x="213" y="141"/>
                        </a:lnTo>
                        <a:lnTo>
                          <a:pt x="211" y="141"/>
                        </a:lnTo>
                        <a:lnTo>
                          <a:pt x="209" y="138"/>
                        </a:lnTo>
                        <a:lnTo>
                          <a:pt x="236" y="138"/>
                        </a:lnTo>
                        <a:lnTo>
                          <a:pt x="244" y="131"/>
                        </a:lnTo>
                        <a:lnTo>
                          <a:pt x="244" y="0"/>
                        </a:lnTo>
                        <a:lnTo>
                          <a:pt x="240" y="3"/>
                        </a:lnTo>
                        <a:lnTo>
                          <a:pt x="233" y="9"/>
                        </a:lnTo>
                        <a:lnTo>
                          <a:pt x="9" y="9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63" name="Freeform 380"/>
                  <p:cNvSpPr>
                    <a:spLocks/>
                  </p:cNvSpPr>
                  <p:nvPr/>
                </p:nvSpPr>
                <p:spPr bwMode="auto">
                  <a:xfrm>
                    <a:off x="3808" y="2443"/>
                    <a:ext cx="110" cy="294"/>
                  </a:xfrm>
                  <a:custGeom>
                    <a:avLst/>
                    <a:gdLst>
                      <a:gd name="T0" fmla="*/ 35 w 110"/>
                      <a:gd name="T1" fmla="*/ 208 h 294"/>
                      <a:gd name="T2" fmla="*/ 35 w 110"/>
                      <a:gd name="T3" fmla="*/ 77 h 294"/>
                      <a:gd name="T4" fmla="*/ 31 w 110"/>
                      <a:gd name="T5" fmla="*/ 79 h 294"/>
                      <a:gd name="T6" fmla="*/ 24 w 110"/>
                      <a:gd name="T7" fmla="*/ 86 h 294"/>
                      <a:gd name="T8" fmla="*/ 24 w 110"/>
                      <a:gd name="T9" fmla="*/ 61 h 294"/>
                      <a:gd name="T10" fmla="*/ 30 w 110"/>
                      <a:gd name="T11" fmla="*/ 61 h 294"/>
                      <a:gd name="T12" fmla="*/ 38 w 110"/>
                      <a:gd name="T13" fmla="*/ 55 h 294"/>
                      <a:gd name="T14" fmla="*/ 98 w 110"/>
                      <a:gd name="T15" fmla="*/ 0 h 294"/>
                      <a:gd name="T16" fmla="*/ 98 w 110"/>
                      <a:gd name="T17" fmla="*/ 181 h 294"/>
                      <a:gd name="T18" fmla="*/ 107 w 110"/>
                      <a:gd name="T19" fmla="*/ 181 h 294"/>
                      <a:gd name="T20" fmla="*/ 98 w 110"/>
                      <a:gd name="T21" fmla="*/ 189 h 294"/>
                      <a:gd name="T22" fmla="*/ 98 w 110"/>
                      <a:gd name="T23" fmla="*/ 222 h 294"/>
                      <a:gd name="T24" fmla="*/ 110 w 110"/>
                      <a:gd name="T25" fmla="*/ 232 h 294"/>
                      <a:gd name="T26" fmla="*/ 41 w 110"/>
                      <a:gd name="T27" fmla="*/ 294 h 294"/>
                      <a:gd name="T28" fmla="*/ 29 w 110"/>
                      <a:gd name="T29" fmla="*/ 283 h 294"/>
                      <a:gd name="T30" fmla="*/ 29 w 110"/>
                      <a:gd name="T31" fmla="*/ 246 h 294"/>
                      <a:gd name="T32" fmla="*/ 32 w 110"/>
                      <a:gd name="T33" fmla="*/ 246 h 294"/>
                      <a:gd name="T34" fmla="*/ 38 w 110"/>
                      <a:gd name="T35" fmla="*/ 240 h 294"/>
                      <a:gd name="T36" fmla="*/ 27 w 110"/>
                      <a:gd name="T37" fmla="*/ 240 h 294"/>
                      <a:gd name="T38" fmla="*/ 35 w 110"/>
                      <a:gd name="T39" fmla="*/ 232 h 294"/>
                      <a:gd name="T40" fmla="*/ 35 w 110"/>
                      <a:gd name="T41" fmla="*/ 211 h 294"/>
                      <a:gd name="T42" fmla="*/ 27 w 110"/>
                      <a:gd name="T43" fmla="*/ 218 h 294"/>
                      <a:gd name="T44" fmla="*/ 1 w 110"/>
                      <a:gd name="T45" fmla="*/ 218 h 294"/>
                      <a:gd name="T46" fmla="*/ 0 w 110"/>
                      <a:gd name="T47" fmla="*/ 215 h 294"/>
                      <a:gd name="T48" fmla="*/ 27 w 110"/>
                      <a:gd name="T49" fmla="*/ 215 h 294"/>
                      <a:gd name="T50" fmla="*/ 35 w 110"/>
                      <a:gd name="T51" fmla="*/ 208 h 294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110"/>
                      <a:gd name="T79" fmla="*/ 0 h 294"/>
                      <a:gd name="T80" fmla="*/ 110 w 110"/>
                      <a:gd name="T81" fmla="*/ 294 h 294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110" h="294">
                        <a:moveTo>
                          <a:pt x="35" y="208"/>
                        </a:moveTo>
                        <a:lnTo>
                          <a:pt x="35" y="77"/>
                        </a:lnTo>
                        <a:lnTo>
                          <a:pt x="31" y="79"/>
                        </a:lnTo>
                        <a:lnTo>
                          <a:pt x="24" y="86"/>
                        </a:lnTo>
                        <a:lnTo>
                          <a:pt x="24" y="61"/>
                        </a:lnTo>
                        <a:lnTo>
                          <a:pt x="30" y="61"/>
                        </a:lnTo>
                        <a:lnTo>
                          <a:pt x="38" y="55"/>
                        </a:lnTo>
                        <a:lnTo>
                          <a:pt x="98" y="0"/>
                        </a:lnTo>
                        <a:lnTo>
                          <a:pt x="98" y="181"/>
                        </a:lnTo>
                        <a:lnTo>
                          <a:pt x="107" y="181"/>
                        </a:lnTo>
                        <a:lnTo>
                          <a:pt x="98" y="189"/>
                        </a:lnTo>
                        <a:lnTo>
                          <a:pt x="98" y="222"/>
                        </a:lnTo>
                        <a:lnTo>
                          <a:pt x="110" y="232"/>
                        </a:lnTo>
                        <a:lnTo>
                          <a:pt x="41" y="294"/>
                        </a:lnTo>
                        <a:lnTo>
                          <a:pt x="29" y="283"/>
                        </a:lnTo>
                        <a:lnTo>
                          <a:pt x="29" y="246"/>
                        </a:lnTo>
                        <a:lnTo>
                          <a:pt x="32" y="246"/>
                        </a:lnTo>
                        <a:lnTo>
                          <a:pt x="38" y="240"/>
                        </a:lnTo>
                        <a:lnTo>
                          <a:pt x="27" y="240"/>
                        </a:lnTo>
                        <a:lnTo>
                          <a:pt x="35" y="232"/>
                        </a:lnTo>
                        <a:lnTo>
                          <a:pt x="35" y="211"/>
                        </a:lnTo>
                        <a:lnTo>
                          <a:pt x="27" y="218"/>
                        </a:lnTo>
                        <a:lnTo>
                          <a:pt x="1" y="218"/>
                        </a:lnTo>
                        <a:lnTo>
                          <a:pt x="0" y="215"/>
                        </a:lnTo>
                        <a:lnTo>
                          <a:pt x="27" y="215"/>
                        </a:lnTo>
                        <a:lnTo>
                          <a:pt x="35" y="208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64" name="Freeform 381"/>
                  <p:cNvSpPr>
                    <a:spLocks/>
                  </p:cNvSpPr>
                  <p:nvPr/>
                </p:nvSpPr>
                <p:spPr bwMode="auto">
                  <a:xfrm>
                    <a:off x="3808" y="2443"/>
                    <a:ext cx="110" cy="294"/>
                  </a:xfrm>
                  <a:custGeom>
                    <a:avLst/>
                    <a:gdLst>
                      <a:gd name="T0" fmla="*/ 35 w 110"/>
                      <a:gd name="T1" fmla="*/ 208 h 294"/>
                      <a:gd name="T2" fmla="*/ 35 w 110"/>
                      <a:gd name="T3" fmla="*/ 77 h 294"/>
                      <a:gd name="T4" fmla="*/ 31 w 110"/>
                      <a:gd name="T5" fmla="*/ 79 h 294"/>
                      <a:gd name="T6" fmla="*/ 24 w 110"/>
                      <a:gd name="T7" fmla="*/ 86 h 294"/>
                      <a:gd name="T8" fmla="*/ 24 w 110"/>
                      <a:gd name="T9" fmla="*/ 61 h 294"/>
                      <a:gd name="T10" fmla="*/ 30 w 110"/>
                      <a:gd name="T11" fmla="*/ 61 h 294"/>
                      <a:gd name="T12" fmla="*/ 38 w 110"/>
                      <a:gd name="T13" fmla="*/ 55 h 294"/>
                      <a:gd name="T14" fmla="*/ 98 w 110"/>
                      <a:gd name="T15" fmla="*/ 0 h 294"/>
                      <a:gd name="T16" fmla="*/ 98 w 110"/>
                      <a:gd name="T17" fmla="*/ 181 h 294"/>
                      <a:gd name="T18" fmla="*/ 107 w 110"/>
                      <a:gd name="T19" fmla="*/ 181 h 294"/>
                      <a:gd name="T20" fmla="*/ 98 w 110"/>
                      <a:gd name="T21" fmla="*/ 189 h 294"/>
                      <a:gd name="T22" fmla="*/ 98 w 110"/>
                      <a:gd name="T23" fmla="*/ 222 h 294"/>
                      <a:gd name="T24" fmla="*/ 110 w 110"/>
                      <a:gd name="T25" fmla="*/ 232 h 294"/>
                      <a:gd name="T26" fmla="*/ 41 w 110"/>
                      <a:gd name="T27" fmla="*/ 294 h 294"/>
                      <a:gd name="T28" fmla="*/ 29 w 110"/>
                      <a:gd name="T29" fmla="*/ 283 h 294"/>
                      <a:gd name="T30" fmla="*/ 29 w 110"/>
                      <a:gd name="T31" fmla="*/ 246 h 294"/>
                      <a:gd name="T32" fmla="*/ 32 w 110"/>
                      <a:gd name="T33" fmla="*/ 246 h 294"/>
                      <a:gd name="T34" fmla="*/ 38 w 110"/>
                      <a:gd name="T35" fmla="*/ 240 h 294"/>
                      <a:gd name="T36" fmla="*/ 27 w 110"/>
                      <a:gd name="T37" fmla="*/ 240 h 294"/>
                      <a:gd name="T38" fmla="*/ 35 w 110"/>
                      <a:gd name="T39" fmla="*/ 232 h 294"/>
                      <a:gd name="T40" fmla="*/ 35 w 110"/>
                      <a:gd name="T41" fmla="*/ 211 h 294"/>
                      <a:gd name="T42" fmla="*/ 27 w 110"/>
                      <a:gd name="T43" fmla="*/ 218 h 294"/>
                      <a:gd name="T44" fmla="*/ 1 w 110"/>
                      <a:gd name="T45" fmla="*/ 218 h 294"/>
                      <a:gd name="T46" fmla="*/ 0 w 110"/>
                      <a:gd name="T47" fmla="*/ 215 h 294"/>
                      <a:gd name="T48" fmla="*/ 27 w 110"/>
                      <a:gd name="T49" fmla="*/ 215 h 294"/>
                      <a:gd name="T50" fmla="*/ 35 w 110"/>
                      <a:gd name="T51" fmla="*/ 208 h 294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110"/>
                      <a:gd name="T79" fmla="*/ 0 h 294"/>
                      <a:gd name="T80" fmla="*/ 110 w 110"/>
                      <a:gd name="T81" fmla="*/ 294 h 294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110" h="294">
                        <a:moveTo>
                          <a:pt x="35" y="208"/>
                        </a:moveTo>
                        <a:lnTo>
                          <a:pt x="35" y="77"/>
                        </a:lnTo>
                        <a:lnTo>
                          <a:pt x="31" y="79"/>
                        </a:lnTo>
                        <a:lnTo>
                          <a:pt x="24" y="86"/>
                        </a:lnTo>
                        <a:lnTo>
                          <a:pt x="24" y="61"/>
                        </a:lnTo>
                        <a:lnTo>
                          <a:pt x="30" y="61"/>
                        </a:lnTo>
                        <a:lnTo>
                          <a:pt x="38" y="55"/>
                        </a:lnTo>
                        <a:lnTo>
                          <a:pt x="98" y="0"/>
                        </a:lnTo>
                        <a:lnTo>
                          <a:pt x="98" y="181"/>
                        </a:lnTo>
                        <a:lnTo>
                          <a:pt x="107" y="181"/>
                        </a:lnTo>
                        <a:lnTo>
                          <a:pt x="98" y="189"/>
                        </a:lnTo>
                        <a:lnTo>
                          <a:pt x="98" y="222"/>
                        </a:lnTo>
                        <a:lnTo>
                          <a:pt x="110" y="232"/>
                        </a:lnTo>
                        <a:lnTo>
                          <a:pt x="41" y="294"/>
                        </a:lnTo>
                        <a:lnTo>
                          <a:pt x="29" y="283"/>
                        </a:lnTo>
                        <a:lnTo>
                          <a:pt x="29" y="246"/>
                        </a:lnTo>
                        <a:lnTo>
                          <a:pt x="32" y="246"/>
                        </a:lnTo>
                        <a:lnTo>
                          <a:pt x="38" y="240"/>
                        </a:lnTo>
                        <a:lnTo>
                          <a:pt x="27" y="240"/>
                        </a:lnTo>
                        <a:lnTo>
                          <a:pt x="35" y="232"/>
                        </a:lnTo>
                        <a:lnTo>
                          <a:pt x="35" y="211"/>
                        </a:lnTo>
                        <a:lnTo>
                          <a:pt x="27" y="218"/>
                        </a:lnTo>
                        <a:lnTo>
                          <a:pt x="1" y="218"/>
                        </a:lnTo>
                        <a:lnTo>
                          <a:pt x="0" y="215"/>
                        </a:lnTo>
                        <a:lnTo>
                          <a:pt x="27" y="215"/>
                        </a:lnTo>
                        <a:lnTo>
                          <a:pt x="35" y="208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65" name="Rectangle 382"/>
                  <p:cNvSpPr>
                    <a:spLocks noChangeArrowheads="1"/>
                  </p:cNvSpPr>
                  <p:nvPr/>
                </p:nvSpPr>
                <p:spPr bwMode="auto">
                  <a:xfrm>
                    <a:off x="3578" y="2529"/>
                    <a:ext cx="25" cy="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66" name="Rectangle 383"/>
                  <p:cNvSpPr>
                    <a:spLocks noChangeArrowheads="1"/>
                  </p:cNvSpPr>
                  <p:nvPr/>
                </p:nvSpPr>
                <p:spPr bwMode="auto">
                  <a:xfrm>
                    <a:off x="3578" y="2529"/>
                    <a:ext cx="25" cy="3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67" name="Freeform 384"/>
                  <p:cNvSpPr>
                    <a:spLocks/>
                  </p:cNvSpPr>
                  <p:nvPr/>
                </p:nvSpPr>
                <p:spPr bwMode="auto">
                  <a:xfrm>
                    <a:off x="3579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1 w 24"/>
                      <a:gd name="T5" fmla="*/ 2 h 3"/>
                      <a:gd name="T6" fmla="*/ 1 w 24"/>
                      <a:gd name="T7" fmla="*/ 2 h 3"/>
                      <a:gd name="T8" fmla="*/ 3 w 24"/>
                      <a:gd name="T9" fmla="*/ 2 h 3"/>
                      <a:gd name="T10" fmla="*/ 5 w 24"/>
                      <a:gd name="T11" fmla="*/ 3 h 3"/>
                      <a:gd name="T12" fmla="*/ 11 w 24"/>
                      <a:gd name="T13" fmla="*/ 3 h 3"/>
                      <a:gd name="T14" fmla="*/ 17 w 24"/>
                      <a:gd name="T15" fmla="*/ 3 h 3"/>
                      <a:gd name="T16" fmla="*/ 20 w 24"/>
                      <a:gd name="T17" fmla="*/ 2 h 3"/>
                      <a:gd name="T18" fmla="*/ 21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1 h 3"/>
                      <a:gd name="T24" fmla="*/ 24 w 24"/>
                      <a:gd name="T25" fmla="*/ 0 h 3"/>
                      <a:gd name="T26" fmla="*/ 0 w 24"/>
                      <a:gd name="T27" fmla="*/ 0 h 3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4"/>
                      <a:gd name="T43" fmla="*/ 0 h 3"/>
                      <a:gd name="T44" fmla="*/ 24 w 24"/>
                      <a:gd name="T45" fmla="*/ 3 h 3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1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68" name="Freeform 385"/>
                  <p:cNvSpPr>
                    <a:spLocks/>
                  </p:cNvSpPr>
                  <p:nvPr/>
                </p:nvSpPr>
                <p:spPr bwMode="auto">
                  <a:xfrm>
                    <a:off x="3579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1 w 24"/>
                      <a:gd name="T5" fmla="*/ 2 h 3"/>
                      <a:gd name="T6" fmla="*/ 1 w 24"/>
                      <a:gd name="T7" fmla="*/ 2 h 3"/>
                      <a:gd name="T8" fmla="*/ 3 w 24"/>
                      <a:gd name="T9" fmla="*/ 2 h 3"/>
                      <a:gd name="T10" fmla="*/ 5 w 24"/>
                      <a:gd name="T11" fmla="*/ 3 h 3"/>
                      <a:gd name="T12" fmla="*/ 11 w 24"/>
                      <a:gd name="T13" fmla="*/ 3 h 3"/>
                      <a:gd name="T14" fmla="*/ 17 w 24"/>
                      <a:gd name="T15" fmla="*/ 3 h 3"/>
                      <a:gd name="T16" fmla="*/ 20 w 24"/>
                      <a:gd name="T17" fmla="*/ 2 h 3"/>
                      <a:gd name="T18" fmla="*/ 21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1 h 3"/>
                      <a:gd name="T24" fmla="*/ 24 w 24"/>
                      <a:gd name="T25" fmla="*/ 0 h 3"/>
                      <a:gd name="T26" fmla="*/ 0 w 24"/>
                      <a:gd name="T27" fmla="*/ 0 h 3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4"/>
                      <a:gd name="T43" fmla="*/ 0 h 3"/>
                      <a:gd name="T44" fmla="*/ 24 w 24"/>
                      <a:gd name="T45" fmla="*/ 3 h 3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1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69" name="Freeform 386"/>
                  <p:cNvSpPr>
                    <a:spLocks/>
                  </p:cNvSpPr>
                  <p:nvPr/>
                </p:nvSpPr>
                <p:spPr bwMode="auto">
                  <a:xfrm>
                    <a:off x="3578" y="2535"/>
                    <a:ext cx="25" cy="10"/>
                  </a:xfrm>
                  <a:custGeom>
                    <a:avLst/>
                    <a:gdLst>
                      <a:gd name="T0" fmla="*/ 21 w 25"/>
                      <a:gd name="T1" fmla="*/ 0 h 10"/>
                      <a:gd name="T2" fmla="*/ 17 w 25"/>
                      <a:gd name="T3" fmla="*/ 0 h 10"/>
                      <a:gd name="T4" fmla="*/ 12 w 25"/>
                      <a:gd name="T5" fmla="*/ 1 h 10"/>
                      <a:gd name="T6" fmla="*/ 5 w 25"/>
                      <a:gd name="T7" fmla="*/ 0 h 10"/>
                      <a:gd name="T8" fmla="*/ 3 w 25"/>
                      <a:gd name="T9" fmla="*/ 0 h 10"/>
                      <a:gd name="T10" fmla="*/ 3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2 w 25"/>
                      <a:gd name="T23" fmla="*/ 9 h 10"/>
                      <a:gd name="T24" fmla="*/ 6 w 25"/>
                      <a:gd name="T25" fmla="*/ 10 h 10"/>
                      <a:gd name="T26" fmla="*/ 12 w 25"/>
                      <a:gd name="T27" fmla="*/ 10 h 10"/>
                      <a:gd name="T28" fmla="*/ 18 w 25"/>
                      <a:gd name="T29" fmla="*/ 10 h 10"/>
                      <a:gd name="T30" fmla="*/ 21 w 25"/>
                      <a:gd name="T31" fmla="*/ 9 h 10"/>
                      <a:gd name="T32" fmla="*/ 24 w 25"/>
                      <a:gd name="T33" fmla="*/ 9 h 10"/>
                      <a:gd name="T34" fmla="*/ 25 w 25"/>
                      <a:gd name="T35" fmla="*/ 7 h 10"/>
                      <a:gd name="T36" fmla="*/ 24 w 25"/>
                      <a:gd name="T37" fmla="*/ 6 h 10"/>
                      <a:gd name="T38" fmla="*/ 22 w 25"/>
                      <a:gd name="T39" fmla="*/ 6 h 10"/>
                      <a:gd name="T40" fmla="*/ 21 w 25"/>
                      <a:gd name="T41" fmla="*/ 6 h 10"/>
                      <a:gd name="T42" fmla="*/ 21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1" y="0"/>
                        </a:moveTo>
                        <a:lnTo>
                          <a:pt x="17" y="0"/>
                        </a:lnTo>
                        <a:lnTo>
                          <a:pt x="12" y="1"/>
                        </a:lnTo>
                        <a:lnTo>
                          <a:pt x="5" y="0"/>
                        </a:lnTo>
                        <a:lnTo>
                          <a:pt x="3" y="0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2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4" y="9"/>
                        </a:lnTo>
                        <a:lnTo>
                          <a:pt x="25" y="7"/>
                        </a:lnTo>
                        <a:lnTo>
                          <a:pt x="24" y="6"/>
                        </a:ln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70" name="Freeform 387"/>
                  <p:cNvSpPr>
                    <a:spLocks/>
                  </p:cNvSpPr>
                  <p:nvPr/>
                </p:nvSpPr>
                <p:spPr bwMode="auto">
                  <a:xfrm>
                    <a:off x="3578" y="2535"/>
                    <a:ext cx="25" cy="10"/>
                  </a:xfrm>
                  <a:custGeom>
                    <a:avLst/>
                    <a:gdLst>
                      <a:gd name="T0" fmla="*/ 21 w 25"/>
                      <a:gd name="T1" fmla="*/ 0 h 10"/>
                      <a:gd name="T2" fmla="*/ 17 w 25"/>
                      <a:gd name="T3" fmla="*/ 0 h 10"/>
                      <a:gd name="T4" fmla="*/ 12 w 25"/>
                      <a:gd name="T5" fmla="*/ 1 h 10"/>
                      <a:gd name="T6" fmla="*/ 5 w 25"/>
                      <a:gd name="T7" fmla="*/ 0 h 10"/>
                      <a:gd name="T8" fmla="*/ 3 w 25"/>
                      <a:gd name="T9" fmla="*/ 0 h 10"/>
                      <a:gd name="T10" fmla="*/ 3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2 w 25"/>
                      <a:gd name="T23" fmla="*/ 9 h 10"/>
                      <a:gd name="T24" fmla="*/ 6 w 25"/>
                      <a:gd name="T25" fmla="*/ 10 h 10"/>
                      <a:gd name="T26" fmla="*/ 12 w 25"/>
                      <a:gd name="T27" fmla="*/ 10 h 10"/>
                      <a:gd name="T28" fmla="*/ 18 w 25"/>
                      <a:gd name="T29" fmla="*/ 10 h 10"/>
                      <a:gd name="T30" fmla="*/ 21 w 25"/>
                      <a:gd name="T31" fmla="*/ 9 h 10"/>
                      <a:gd name="T32" fmla="*/ 24 w 25"/>
                      <a:gd name="T33" fmla="*/ 9 h 10"/>
                      <a:gd name="T34" fmla="*/ 25 w 25"/>
                      <a:gd name="T35" fmla="*/ 7 h 10"/>
                      <a:gd name="T36" fmla="*/ 24 w 25"/>
                      <a:gd name="T37" fmla="*/ 6 h 10"/>
                      <a:gd name="T38" fmla="*/ 22 w 25"/>
                      <a:gd name="T39" fmla="*/ 6 h 10"/>
                      <a:gd name="T40" fmla="*/ 21 w 25"/>
                      <a:gd name="T41" fmla="*/ 6 h 10"/>
                      <a:gd name="T42" fmla="*/ 21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1" y="0"/>
                        </a:moveTo>
                        <a:lnTo>
                          <a:pt x="17" y="0"/>
                        </a:lnTo>
                        <a:lnTo>
                          <a:pt x="12" y="1"/>
                        </a:lnTo>
                        <a:lnTo>
                          <a:pt x="5" y="0"/>
                        </a:lnTo>
                        <a:lnTo>
                          <a:pt x="3" y="0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2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4" y="9"/>
                        </a:lnTo>
                        <a:lnTo>
                          <a:pt x="25" y="7"/>
                        </a:lnTo>
                        <a:lnTo>
                          <a:pt x="24" y="6"/>
                        </a:ln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71" name="Freeform 388"/>
                  <p:cNvSpPr>
                    <a:spLocks/>
                  </p:cNvSpPr>
                  <p:nvPr/>
                </p:nvSpPr>
                <p:spPr bwMode="auto">
                  <a:xfrm>
                    <a:off x="3578" y="2542"/>
                    <a:ext cx="25" cy="7"/>
                  </a:xfrm>
                  <a:custGeom>
                    <a:avLst/>
                    <a:gdLst>
                      <a:gd name="T0" fmla="*/ 24 w 25"/>
                      <a:gd name="T1" fmla="*/ 5 h 7"/>
                      <a:gd name="T2" fmla="*/ 22 w 25"/>
                      <a:gd name="T3" fmla="*/ 6 h 7"/>
                      <a:gd name="T4" fmla="*/ 21 w 25"/>
                      <a:gd name="T5" fmla="*/ 6 h 7"/>
                      <a:gd name="T6" fmla="*/ 17 w 25"/>
                      <a:gd name="T7" fmla="*/ 7 h 7"/>
                      <a:gd name="T8" fmla="*/ 6 w 25"/>
                      <a:gd name="T9" fmla="*/ 7 h 7"/>
                      <a:gd name="T10" fmla="*/ 3 w 25"/>
                      <a:gd name="T11" fmla="*/ 6 h 7"/>
                      <a:gd name="T12" fmla="*/ 2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2 w 25"/>
                      <a:gd name="T25" fmla="*/ 2 h 7"/>
                      <a:gd name="T26" fmla="*/ 6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1 w 25"/>
                      <a:gd name="T33" fmla="*/ 2 h 7"/>
                      <a:gd name="T34" fmla="*/ 24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4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4" y="5"/>
                        </a:move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2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lnTo>
                          <a:pt x="24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72" name="Freeform 389"/>
                  <p:cNvSpPr>
                    <a:spLocks/>
                  </p:cNvSpPr>
                  <p:nvPr/>
                </p:nvSpPr>
                <p:spPr bwMode="auto">
                  <a:xfrm>
                    <a:off x="3578" y="2542"/>
                    <a:ext cx="25" cy="7"/>
                  </a:xfrm>
                  <a:custGeom>
                    <a:avLst/>
                    <a:gdLst>
                      <a:gd name="T0" fmla="*/ 24 w 25"/>
                      <a:gd name="T1" fmla="*/ 5 h 7"/>
                      <a:gd name="T2" fmla="*/ 22 w 25"/>
                      <a:gd name="T3" fmla="*/ 6 h 7"/>
                      <a:gd name="T4" fmla="*/ 21 w 25"/>
                      <a:gd name="T5" fmla="*/ 6 h 7"/>
                      <a:gd name="T6" fmla="*/ 17 w 25"/>
                      <a:gd name="T7" fmla="*/ 7 h 7"/>
                      <a:gd name="T8" fmla="*/ 6 w 25"/>
                      <a:gd name="T9" fmla="*/ 7 h 7"/>
                      <a:gd name="T10" fmla="*/ 3 w 25"/>
                      <a:gd name="T11" fmla="*/ 6 h 7"/>
                      <a:gd name="T12" fmla="*/ 2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2 w 25"/>
                      <a:gd name="T25" fmla="*/ 2 h 7"/>
                      <a:gd name="T26" fmla="*/ 6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1 w 25"/>
                      <a:gd name="T33" fmla="*/ 2 h 7"/>
                      <a:gd name="T34" fmla="*/ 24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4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4" y="5"/>
                        </a:move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2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lnTo>
                          <a:pt x="24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73" name="Freeform 390"/>
                  <p:cNvSpPr>
                    <a:spLocks/>
                  </p:cNvSpPr>
                  <p:nvPr/>
                </p:nvSpPr>
                <p:spPr bwMode="auto">
                  <a:xfrm>
                    <a:off x="3580" y="2548"/>
                    <a:ext cx="22" cy="107"/>
                  </a:xfrm>
                  <a:custGeom>
                    <a:avLst/>
                    <a:gdLst>
                      <a:gd name="T0" fmla="*/ 22 w 22"/>
                      <a:gd name="T1" fmla="*/ 104 h 107"/>
                      <a:gd name="T2" fmla="*/ 19 w 22"/>
                      <a:gd name="T3" fmla="*/ 0 h 107"/>
                      <a:gd name="T4" fmla="*/ 15 w 22"/>
                      <a:gd name="T5" fmla="*/ 1 h 107"/>
                      <a:gd name="T6" fmla="*/ 4 w 22"/>
                      <a:gd name="T7" fmla="*/ 1 h 107"/>
                      <a:gd name="T8" fmla="*/ 2 w 22"/>
                      <a:gd name="T9" fmla="*/ 0 h 107"/>
                      <a:gd name="T10" fmla="*/ 0 w 22"/>
                      <a:gd name="T11" fmla="*/ 102 h 107"/>
                      <a:gd name="T12" fmla="*/ 0 w 22"/>
                      <a:gd name="T13" fmla="*/ 106 h 107"/>
                      <a:gd name="T14" fmla="*/ 4 w 22"/>
                      <a:gd name="T15" fmla="*/ 107 h 107"/>
                      <a:gd name="T16" fmla="*/ 11 w 22"/>
                      <a:gd name="T17" fmla="*/ 107 h 107"/>
                      <a:gd name="T18" fmla="*/ 16 w 22"/>
                      <a:gd name="T19" fmla="*/ 107 h 107"/>
                      <a:gd name="T20" fmla="*/ 22 w 22"/>
                      <a:gd name="T21" fmla="*/ 106 h 107"/>
                      <a:gd name="T22" fmla="*/ 22 w 22"/>
                      <a:gd name="T23" fmla="*/ 104 h 107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2"/>
                      <a:gd name="T37" fmla="*/ 0 h 107"/>
                      <a:gd name="T38" fmla="*/ 22 w 22"/>
                      <a:gd name="T39" fmla="*/ 107 h 107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2" h="107">
                        <a:moveTo>
                          <a:pt x="22" y="104"/>
                        </a:moveTo>
                        <a:lnTo>
                          <a:pt x="19" y="0"/>
                        </a:lnTo>
                        <a:lnTo>
                          <a:pt x="15" y="1"/>
                        </a:lnTo>
                        <a:lnTo>
                          <a:pt x="4" y="1"/>
                        </a:lnTo>
                        <a:lnTo>
                          <a:pt x="2" y="0"/>
                        </a:lnTo>
                        <a:lnTo>
                          <a:pt x="0" y="102"/>
                        </a:lnTo>
                        <a:lnTo>
                          <a:pt x="0" y="106"/>
                        </a:lnTo>
                        <a:lnTo>
                          <a:pt x="4" y="107"/>
                        </a:lnTo>
                        <a:lnTo>
                          <a:pt x="11" y="107"/>
                        </a:lnTo>
                        <a:lnTo>
                          <a:pt x="16" y="107"/>
                        </a:lnTo>
                        <a:lnTo>
                          <a:pt x="22" y="106"/>
                        </a:lnTo>
                        <a:lnTo>
                          <a:pt x="22" y="10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74" name="Freeform 391"/>
                  <p:cNvSpPr>
                    <a:spLocks/>
                  </p:cNvSpPr>
                  <p:nvPr/>
                </p:nvSpPr>
                <p:spPr bwMode="auto">
                  <a:xfrm>
                    <a:off x="3580" y="2548"/>
                    <a:ext cx="22" cy="107"/>
                  </a:xfrm>
                  <a:custGeom>
                    <a:avLst/>
                    <a:gdLst>
                      <a:gd name="T0" fmla="*/ 22 w 22"/>
                      <a:gd name="T1" fmla="*/ 104 h 107"/>
                      <a:gd name="T2" fmla="*/ 19 w 22"/>
                      <a:gd name="T3" fmla="*/ 0 h 107"/>
                      <a:gd name="T4" fmla="*/ 15 w 22"/>
                      <a:gd name="T5" fmla="*/ 1 h 107"/>
                      <a:gd name="T6" fmla="*/ 4 w 22"/>
                      <a:gd name="T7" fmla="*/ 1 h 107"/>
                      <a:gd name="T8" fmla="*/ 2 w 22"/>
                      <a:gd name="T9" fmla="*/ 0 h 107"/>
                      <a:gd name="T10" fmla="*/ 0 w 22"/>
                      <a:gd name="T11" fmla="*/ 102 h 107"/>
                      <a:gd name="T12" fmla="*/ 0 w 22"/>
                      <a:gd name="T13" fmla="*/ 106 h 107"/>
                      <a:gd name="T14" fmla="*/ 4 w 22"/>
                      <a:gd name="T15" fmla="*/ 107 h 107"/>
                      <a:gd name="T16" fmla="*/ 11 w 22"/>
                      <a:gd name="T17" fmla="*/ 107 h 107"/>
                      <a:gd name="T18" fmla="*/ 16 w 22"/>
                      <a:gd name="T19" fmla="*/ 107 h 107"/>
                      <a:gd name="T20" fmla="*/ 22 w 22"/>
                      <a:gd name="T21" fmla="*/ 106 h 107"/>
                      <a:gd name="T22" fmla="*/ 22 w 22"/>
                      <a:gd name="T23" fmla="*/ 104 h 107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2"/>
                      <a:gd name="T37" fmla="*/ 0 h 107"/>
                      <a:gd name="T38" fmla="*/ 22 w 22"/>
                      <a:gd name="T39" fmla="*/ 107 h 107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2" h="107">
                        <a:moveTo>
                          <a:pt x="22" y="104"/>
                        </a:moveTo>
                        <a:lnTo>
                          <a:pt x="19" y="0"/>
                        </a:lnTo>
                        <a:lnTo>
                          <a:pt x="15" y="1"/>
                        </a:lnTo>
                        <a:lnTo>
                          <a:pt x="4" y="1"/>
                        </a:lnTo>
                        <a:lnTo>
                          <a:pt x="2" y="0"/>
                        </a:lnTo>
                        <a:lnTo>
                          <a:pt x="0" y="102"/>
                        </a:lnTo>
                        <a:lnTo>
                          <a:pt x="0" y="106"/>
                        </a:lnTo>
                        <a:lnTo>
                          <a:pt x="4" y="107"/>
                        </a:lnTo>
                        <a:lnTo>
                          <a:pt x="11" y="107"/>
                        </a:lnTo>
                        <a:lnTo>
                          <a:pt x="16" y="107"/>
                        </a:lnTo>
                        <a:lnTo>
                          <a:pt x="22" y="106"/>
                        </a:lnTo>
                        <a:lnTo>
                          <a:pt x="22" y="10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75" name="Freeform 392"/>
                  <p:cNvSpPr>
                    <a:spLocks/>
                  </p:cNvSpPr>
                  <p:nvPr/>
                </p:nvSpPr>
                <p:spPr bwMode="auto">
                  <a:xfrm>
                    <a:off x="3648" y="2529"/>
                    <a:ext cx="5" cy="3"/>
                  </a:xfrm>
                  <a:custGeom>
                    <a:avLst/>
                    <a:gdLst>
                      <a:gd name="T0" fmla="*/ 0 w 5"/>
                      <a:gd name="T1" fmla="*/ 0 h 3"/>
                      <a:gd name="T2" fmla="*/ 0 w 5"/>
                      <a:gd name="T3" fmla="*/ 3 h 3"/>
                      <a:gd name="T4" fmla="*/ 5 w 5"/>
                      <a:gd name="T5" fmla="*/ 0 h 3"/>
                      <a:gd name="T6" fmla="*/ 0 w 5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"/>
                      <a:gd name="T13" fmla="*/ 0 h 3"/>
                      <a:gd name="T14" fmla="*/ 5 w 5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76" name="Freeform 393"/>
                  <p:cNvSpPr>
                    <a:spLocks/>
                  </p:cNvSpPr>
                  <p:nvPr/>
                </p:nvSpPr>
                <p:spPr bwMode="auto">
                  <a:xfrm>
                    <a:off x="3648" y="2529"/>
                    <a:ext cx="5" cy="3"/>
                  </a:xfrm>
                  <a:custGeom>
                    <a:avLst/>
                    <a:gdLst>
                      <a:gd name="T0" fmla="*/ 0 w 5"/>
                      <a:gd name="T1" fmla="*/ 0 h 3"/>
                      <a:gd name="T2" fmla="*/ 0 w 5"/>
                      <a:gd name="T3" fmla="*/ 3 h 3"/>
                      <a:gd name="T4" fmla="*/ 5 w 5"/>
                      <a:gd name="T5" fmla="*/ 0 h 3"/>
                      <a:gd name="T6" fmla="*/ 0 w 5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"/>
                      <a:gd name="T13" fmla="*/ 0 h 3"/>
                      <a:gd name="T14" fmla="*/ 5 w 5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5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77" name="Freeform 394"/>
                  <p:cNvSpPr>
                    <a:spLocks/>
                  </p:cNvSpPr>
                  <p:nvPr/>
                </p:nvSpPr>
                <p:spPr bwMode="auto">
                  <a:xfrm>
                    <a:off x="3623" y="2529"/>
                    <a:ext cx="25" cy="3"/>
                  </a:xfrm>
                  <a:custGeom>
                    <a:avLst/>
                    <a:gdLst>
                      <a:gd name="T0" fmla="*/ 0 w 25"/>
                      <a:gd name="T1" fmla="*/ 0 h 3"/>
                      <a:gd name="T2" fmla="*/ 0 w 25"/>
                      <a:gd name="T3" fmla="*/ 3 h 3"/>
                      <a:gd name="T4" fmla="*/ 25 w 25"/>
                      <a:gd name="T5" fmla="*/ 3 h 3"/>
                      <a:gd name="T6" fmla="*/ 25 w 25"/>
                      <a:gd name="T7" fmla="*/ 0 h 3"/>
                      <a:gd name="T8" fmla="*/ 0 w 25"/>
                      <a:gd name="T9" fmla="*/ 0 h 3"/>
                      <a:gd name="T10" fmla="*/ 0 w 25"/>
                      <a:gd name="T11" fmla="*/ 0 h 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"/>
                      <a:gd name="T19" fmla="*/ 0 h 3"/>
                      <a:gd name="T20" fmla="*/ 25 w 25"/>
                      <a:gd name="T21" fmla="*/ 3 h 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25" y="3"/>
                        </a:lnTo>
                        <a:lnTo>
                          <a:pt x="2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78" name="Rectangle 395"/>
                  <p:cNvSpPr>
                    <a:spLocks noChangeArrowheads="1"/>
                  </p:cNvSpPr>
                  <p:nvPr/>
                </p:nvSpPr>
                <p:spPr bwMode="auto">
                  <a:xfrm>
                    <a:off x="3623" y="2529"/>
                    <a:ext cx="25" cy="3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79" name="Freeform 396"/>
                  <p:cNvSpPr>
                    <a:spLocks/>
                  </p:cNvSpPr>
                  <p:nvPr/>
                </p:nvSpPr>
                <p:spPr bwMode="auto">
                  <a:xfrm>
                    <a:off x="3624" y="2532"/>
                    <a:ext cx="22" cy="3"/>
                  </a:xfrm>
                  <a:custGeom>
                    <a:avLst/>
                    <a:gdLst>
                      <a:gd name="T0" fmla="*/ 0 w 22"/>
                      <a:gd name="T1" fmla="*/ 0 h 3"/>
                      <a:gd name="T2" fmla="*/ 0 w 22"/>
                      <a:gd name="T3" fmla="*/ 2 h 3"/>
                      <a:gd name="T4" fmla="*/ 1 w 22"/>
                      <a:gd name="T5" fmla="*/ 2 h 3"/>
                      <a:gd name="T6" fmla="*/ 2 w 22"/>
                      <a:gd name="T7" fmla="*/ 2 h 3"/>
                      <a:gd name="T8" fmla="*/ 5 w 22"/>
                      <a:gd name="T9" fmla="*/ 3 h 3"/>
                      <a:gd name="T10" fmla="*/ 11 w 22"/>
                      <a:gd name="T11" fmla="*/ 3 h 3"/>
                      <a:gd name="T12" fmla="*/ 17 w 22"/>
                      <a:gd name="T13" fmla="*/ 3 h 3"/>
                      <a:gd name="T14" fmla="*/ 19 w 22"/>
                      <a:gd name="T15" fmla="*/ 2 h 3"/>
                      <a:gd name="T16" fmla="*/ 21 w 22"/>
                      <a:gd name="T17" fmla="*/ 2 h 3"/>
                      <a:gd name="T18" fmla="*/ 22 w 22"/>
                      <a:gd name="T19" fmla="*/ 1 h 3"/>
                      <a:gd name="T20" fmla="*/ 22 w 22"/>
                      <a:gd name="T21" fmla="*/ 0 h 3"/>
                      <a:gd name="T22" fmla="*/ 0 w 22"/>
                      <a:gd name="T23" fmla="*/ 0 h 3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2"/>
                      <a:gd name="T37" fmla="*/ 0 h 3"/>
                      <a:gd name="T38" fmla="*/ 22 w 22"/>
                      <a:gd name="T39" fmla="*/ 3 h 3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2" h="3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2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19" y="2"/>
                        </a:lnTo>
                        <a:lnTo>
                          <a:pt x="21" y="2"/>
                        </a:lnTo>
                        <a:lnTo>
                          <a:pt x="22" y="1"/>
                        </a:lnTo>
                        <a:lnTo>
                          <a:pt x="2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80" name="Freeform 397"/>
                  <p:cNvSpPr>
                    <a:spLocks/>
                  </p:cNvSpPr>
                  <p:nvPr/>
                </p:nvSpPr>
                <p:spPr bwMode="auto">
                  <a:xfrm>
                    <a:off x="3624" y="2532"/>
                    <a:ext cx="22" cy="3"/>
                  </a:xfrm>
                  <a:custGeom>
                    <a:avLst/>
                    <a:gdLst>
                      <a:gd name="T0" fmla="*/ 0 w 22"/>
                      <a:gd name="T1" fmla="*/ 0 h 3"/>
                      <a:gd name="T2" fmla="*/ 0 w 22"/>
                      <a:gd name="T3" fmla="*/ 2 h 3"/>
                      <a:gd name="T4" fmla="*/ 1 w 22"/>
                      <a:gd name="T5" fmla="*/ 2 h 3"/>
                      <a:gd name="T6" fmla="*/ 2 w 22"/>
                      <a:gd name="T7" fmla="*/ 2 h 3"/>
                      <a:gd name="T8" fmla="*/ 5 w 22"/>
                      <a:gd name="T9" fmla="*/ 3 h 3"/>
                      <a:gd name="T10" fmla="*/ 11 w 22"/>
                      <a:gd name="T11" fmla="*/ 3 h 3"/>
                      <a:gd name="T12" fmla="*/ 17 w 22"/>
                      <a:gd name="T13" fmla="*/ 3 h 3"/>
                      <a:gd name="T14" fmla="*/ 19 w 22"/>
                      <a:gd name="T15" fmla="*/ 2 h 3"/>
                      <a:gd name="T16" fmla="*/ 21 w 22"/>
                      <a:gd name="T17" fmla="*/ 2 h 3"/>
                      <a:gd name="T18" fmla="*/ 22 w 22"/>
                      <a:gd name="T19" fmla="*/ 1 h 3"/>
                      <a:gd name="T20" fmla="*/ 22 w 22"/>
                      <a:gd name="T21" fmla="*/ 0 h 3"/>
                      <a:gd name="T22" fmla="*/ 0 w 22"/>
                      <a:gd name="T23" fmla="*/ 0 h 3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2"/>
                      <a:gd name="T37" fmla="*/ 0 h 3"/>
                      <a:gd name="T38" fmla="*/ 22 w 22"/>
                      <a:gd name="T39" fmla="*/ 3 h 3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2" h="3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2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19" y="2"/>
                        </a:lnTo>
                        <a:lnTo>
                          <a:pt x="21" y="2"/>
                        </a:lnTo>
                        <a:lnTo>
                          <a:pt x="22" y="1"/>
                        </a:lnTo>
                        <a:lnTo>
                          <a:pt x="22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81" name="Freeform 398"/>
                  <p:cNvSpPr>
                    <a:spLocks/>
                  </p:cNvSpPr>
                  <p:nvPr/>
                </p:nvSpPr>
                <p:spPr bwMode="auto">
                  <a:xfrm>
                    <a:off x="3623" y="2535"/>
                    <a:ext cx="25" cy="10"/>
                  </a:xfrm>
                  <a:custGeom>
                    <a:avLst/>
                    <a:gdLst>
                      <a:gd name="T0" fmla="*/ 20 w 25"/>
                      <a:gd name="T1" fmla="*/ 0 h 10"/>
                      <a:gd name="T2" fmla="*/ 18 w 25"/>
                      <a:gd name="T3" fmla="*/ 0 h 10"/>
                      <a:gd name="T4" fmla="*/ 12 w 25"/>
                      <a:gd name="T5" fmla="*/ 1 h 10"/>
                      <a:gd name="T6" fmla="*/ 6 w 25"/>
                      <a:gd name="T7" fmla="*/ 0 h 10"/>
                      <a:gd name="T8" fmla="*/ 4 w 25"/>
                      <a:gd name="T9" fmla="*/ 0 h 10"/>
                      <a:gd name="T10" fmla="*/ 4 w 25"/>
                      <a:gd name="T11" fmla="*/ 6 h 10"/>
                      <a:gd name="T12" fmla="*/ 2 w 25"/>
                      <a:gd name="T13" fmla="*/ 6 h 10"/>
                      <a:gd name="T14" fmla="*/ 1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7 h 10"/>
                      <a:gd name="T20" fmla="*/ 0 w 25"/>
                      <a:gd name="T21" fmla="*/ 9 h 10"/>
                      <a:gd name="T22" fmla="*/ 1 w 25"/>
                      <a:gd name="T23" fmla="*/ 9 h 10"/>
                      <a:gd name="T24" fmla="*/ 3 w 25"/>
                      <a:gd name="T25" fmla="*/ 9 h 10"/>
                      <a:gd name="T26" fmla="*/ 6 w 25"/>
                      <a:gd name="T27" fmla="*/ 10 h 10"/>
                      <a:gd name="T28" fmla="*/ 12 w 25"/>
                      <a:gd name="T29" fmla="*/ 10 h 10"/>
                      <a:gd name="T30" fmla="*/ 18 w 25"/>
                      <a:gd name="T31" fmla="*/ 10 h 10"/>
                      <a:gd name="T32" fmla="*/ 21 w 25"/>
                      <a:gd name="T33" fmla="*/ 9 h 10"/>
                      <a:gd name="T34" fmla="*/ 23 w 25"/>
                      <a:gd name="T35" fmla="*/ 9 h 10"/>
                      <a:gd name="T36" fmla="*/ 25 w 25"/>
                      <a:gd name="T37" fmla="*/ 7 h 10"/>
                      <a:gd name="T38" fmla="*/ 23 w 25"/>
                      <a:gd name="T39" fmla="*/ 6 h 10"/>
                      <a:gd name="T40" fmla="*/ 22 w 25"/>
                      <a:gd name="T41" fmla="*/ 6 h 10"/>
                      <a:gd name="T42" fmla="*/ 20 w 25"/>
                      <a:gd name="T43" fmla="*/ 6 h 10"/>
                      <a:gd name="T44" fmla="*/ 20 w 25"/>
                      <a:gd name="T45" fmla="*/ 0 h 10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5"/>
                      <a:gd name="T70" fmla="*/ 0 h 10"/>
                      <a:gd name="T71" fmla="*/ 25 w 25"/>
                      <a:gd name="T72" fmla="*/ 10 h 10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5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1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3" y="9"/>
                        </a:lnTo>
                        <a:lnTo>
                          <a:pt x="25" y="7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82" name="Freeform 399"/>
                  <p:cNvSpPr>
                    <a:spLocks/>
                  </p:cNvSpPr>
                  <p:nvPr/>
                </p:nvSpPr>
                <p:spPr bwMode="auto">
                  <a:xfrm>
                    <a:off x="3623" y="2535"/>
                    <a:ext cx="25" cy="10"/>
                  </a:xfrm>
                  <a:custGeom>
                    <a:avLst/>
                    <a:gdLst>
                      <a:gd name="T0" fmla="*/ 20 w 25"/>
                      <a:gd name="T1" fmla="*/ 0 h 10"/>
                      <a:gd name="T2" fmla="*/ 18 w 25"/>
                      <a:gd name="T3" fmla="*/ 0 h 10"/>
                      <a:gd name="T4" fmla="*/ 12 w 25"/>
                      <a:gd name="T5" fmla="*/ 1 h 10"/>
                      <a:gd name="T6" fmla="*/ 6 w 25"/>
                      <a:gd name="T7" fmla="*/ 0 h 10"/>
                      <a:gd name="T8" fmla="*/ 4 w 25"/>
                      <a:gd name="T9" fmla="*/ 0 h 10"/>
                      <a:gd name="T10" fmla="*/ 4 w 25"/>
                      <a:gd name="T11" fmla="*/ 6 h 10"/>
                      <a:gd name="T12" fmla="*/ 2 w 25"/>
                      <a:gd name="T13" fmla="*/ 6 h 10"/>
                      <a:gd name="T14" fmla="*/ 1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7 h 10"/>
                      <a:gd name="T20" fmla="*/ 0 w 25"/>
                      <a:gd name="T21" fmla="*/ 9 h 10"/>
                      <a:gd name="T22" fmla="*/ 1 w 25"/>
                      <a:gd name="T23" fmla="*/ 9 h 10"/>
                      <a:gd name="T24" fmla="*/ 3 w 25"/>
                      <a:gd name="T25" fmla="*/ 9 h 10"/>
                      <a:gd name="T26" fmla="*/ 6 w 25"/>
                      <a:gd name="T27" fmla="*/ 10 h 10"/>
                      <a:gd name="T28" fmla="*/ 12 w 25"/>
                      <a:gd name="T29" fmla="*/ 10 h 10"/>
                      <a:gd name="T30" fmla="*/ 18 w 25"/>
                      <a:gd name="T31" fmla="*/ 10 h 10"/>
                      <a:gd name="T32" fmla="*/ 21 w 25"/>
                      <a:gd name="T33" fmla="*/ 9 h 10"/>
                      <a:gd name="T34" fmla="*/ 23 w 25"/>
                      <a:gd name="T35" fmla="*/ 9 h 10"/>
                      <a:gd name="T36" fmla="*/ 25 w 25"/>
                      <a:gd name="T37" fmla="*/ 7 h 10"/>
                      <a:gd name="T38" fmla="*/ 23 w 25"/>
                      <a:gd name="T39" fmla="*/ 6 h 10"/>
                      <a:gd name="T40" fmla="*/ 22 w 25"/>
                      <a:gd name="T41" fmla="*/ 6 h 10"/>
                      <a:gd name="T42" fmla="*/ 20 w 25"/>
                      <a:gd name="T43" fmla="*/ 6 h 10"/>
                      <a:gd name="T44" fmla="*/ 20 w 25"/>
                      <a:gd name="T45" fmla="*/ 0 h 10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5"/>
                      <a:gd name="T70" fmla="*/ 0 h 10"/>
                      <a:gd name="T71" fmla="*/ 25 w 25"/>
                      <a:gd name="T72" fmla="*/ 10 h 10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5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1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3" y="9"/>
                        </a:lnTo>
                        <a:lnTo>
                          <a:pt x="25" y="7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83" name="Freeform 400"/>
                  <p:cNvSpPr>
                    <a:spLocks/>
                  </p:cNvSpPr>
                  <p:nvPr/>
                </p:nvSpPr>
                <p:spPr bwMode="auto">
                  <a:xfrm>
                    <a:off x="3623" y="2542"/>
                    <a:ext cx="25" cy="7"/>
                  </a:xfrm>
                  <a:custGeom>
                    <a:avLst/>
                    <a:gdLst>
                      <a:gd name="T0" fmla="*/ 23 w 25"/>
                      <a:gd name="T1" fmla="*/ 5 h 7"/>
                      <a:gd name="T2" fmla="*/ 21 w 25"/>
                      <a:gd name="T3" fmla="*/ 6 h 7"/>
                      <a:gd name="T4" fmla="*/ 20 w 25"/>
                      <a:gd name="T5" fmla="*/ 6 h 7"/>
                      <a:gd name="T6" fmla="*/ 17 w 25"/>
                      <a:gd name="T7" fmla="*/ 7 h 7"/>
                      <a:gd name="T8" fmla="*/ 6 w 25"/>
                      <a:gd name="T9" fmla="*/ 7 h 7"/>
                      <a:gd name="T10" fmla="*/ 4 w 25"/>
                      <a:gd name="T11" fmla="*/ 6 h 7"/>
                      <a:gd name="T12" fmla="*/ 3 w 25"/>
                      <a:gd name="T13" fmla="*/ 6 h 7"/>
                      <a:gd name="T14" fmla="*/ 1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1 w 25"/>
                      <a:gd name="T23" fmla="*/ 2 h 7"/>
                      <a:gd name="T24" fmla="*/ 3 w 25"/>
                      <a:gd name="T25" fmla="*/ 2 h 7"/>
                      <a:gd name="T26" fmla="*/ 6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1 w 25"/>
                      <a:gd name="T33" fmla="*/ 2 h 7"/>
                      <a:gd name="T34" fmla="*/ 23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3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3" y="5"/>
                        </a:moveTo>
                        <a:lnTo>
                          <a:pt x="21" y="6"/>
                        </a:lnTo>
                        <a:lnTo>
                          <a:pt x="20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lnTo>
                          <a:pt x="23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84" name="Freeform 401"/>
                  <p:cNvSpPr>
                    <a:spLocks/>
                  </p:cNvSpPr>
                  <p:nvPr/>
                </p:nvSpPr>
                <p:spPr bwMode="auto">
                  <a:xfrm>
                    <a:off x="3623" y="2542"/>
                    <a:ext cx="25" cy="7"/>
                  </a:xfrm>
                  <a:custGeom>
                    <a:avLst/>
                    <a:gdLst>
                      <a:gd name="T0" fmla="*/ 23 w 25"/>
                      <a:gd name="T1" fmla="*/ 5 h 7"/>
                      <a:gd name="T2" fmla="*/ 21 w 25"/>
                      <a:gd name="T3" fmla="*/ 6 h 7"/>
                      <a:gd name="T4" fmla="*/ 20 w 25"/>
                      <a:gd name="T5" fmla="*/ 6 h 7"/>
                      <a:gd name="T6" fmla="*/ 17 w 25"/>
                      <a:gd name="T7" fmla="*/ 7 h 7"/>
                      <a:gd name="T8" fmla="*/ 6 w 25"/>
                      <a:gd name="T9" fmla="*/ 7 h 7"/>
                      <a:gd name="T10" fmla="*/ 4 w 25"/>
                      <a:gd name="T11" fmla="*/ 6 h 7"/>
                      <a:gd name="T12" fmla="*/ 3 w 25"/>
                      <a:gd name="T13" fmla="*/ 6 h 7"/>
                      <a:gd name="T14" fmla="*/ 1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1 w 25"/>
                      <a:gd name="T23" fmla="*/ 2 h 7"/>
                      <a:gd name="T24" fmla="*/ 3 w 25"/>
                      <a:gd name="T25" fmla="*/ 2 h 7"/>
                      <a:gd name="T26" fmla="*/ 6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1 w 25"/>
                      <a:gd name="T33" fmla="*/ 2 h 7"/>
                      <a:gd name="T34" fmla="*/ 23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3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3" y="5"/>
                        </a:moveTo>
                        <a:lnTo>
                          <a:pt x="21" y="6"/>
                        </a:lnTo>
                        <a:lnTo>
                          <a:pt x="20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lnTo>
                          <a:pt x="23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85" name="Freeform 402"/>
                  <p:cNvSpPr>
                    <a:spLocks/>
                  </p:cNvSpPr>
                  <p:nvPr/>
                </p:nvSpPr>
                <p:spPr bwMode="auto">
                  <a:xfrm>
                    <a:off x="3622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3 w 27"/>
                      <a:gd name="T5" fmla="*/ 126 h 128"/>
                      <a:gd name="T6" fmla="*/ 20 w 27"/>
                      <a:gd name="T7" fmla="*/ 127 h 128"/>
                      <a:gd name="T8" fmla="*/ 18 w 27"/>
                      <a:gd name="T9" fmla="*/ 127 h 128"/>
                      <a:gd name="T10" fmla="*/ 14 w 27"/>
                      <a:gd name="T11" fmla="*/ 128 h 128"/>
                      <a:gd name="T12" fmla="*/ 12 w 27"/>
                      <a:gd name="T13" fmla="*/ 128 h 128"/>
                      <a:gd name="T14" fmla="*/ 8 w 27"/>
                      <a:gd name="T15" fmla="*/ 127 h 128"/>
                      <a:gd name="T16" fmla="*/ 5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5 w 27"/>
                      <a:gd name="T31" fmla="*/ 0 h 128"/>
                      <a:gd name="T32" fmla="*/ 7 w 27"/>
                      <a:gd name="T33" fmla="*/ 1 h 128"/>
                      <a:gd name="T34" fmla="*/ 18 w 27"/>
                      <a:gd name="T35" fmla="*/ 1 h 128"/>
                      <a:gd name="T36" fmla="*/ 21 w 27"/>
                      <a:gd name="T37" fmla="*/ 0 h 128"/>
                      <a:gd name="T38" fmla="*/ 23 w 27"/>
                      <a:gd name="T39" fmla="*/ 124 h 128"/>
                      <a:gd name="T40" fmla="*/ 24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27 w 27"/>
                      <a:gd name="T47" fmla="*/ 125 h 128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w 27"/>
                      <a:gd name="T73" fmla="*/ 0 h 128"/>
                      <a:gd name="T74" fmla="*/ 27 w 27"/>
                      <a:gd name="T75" fmla="*/ 128 h 128"/>
                    </a:gdLst>
                    <a:ahLst/>
                    <a:cxnLst>
                      <a:cxn ang="T48">
                        <a:pos x="T0" y="T1"/>
                      </a:cxn>
                      <a:cxn ang="T49">
                        <a:pos x="T2" y="T3"/>
                      </a:cxn>
                      <a:cxn ang="T50">
                        <a:pos x="T4" y="T5"/>
                      </a:cxn>
                      <a:cxn ang="T51">
                        <a:pos x="T6" y="T7"/>
                      </a:cxn>
                      <a:cxn ang="T52">
                        <a:pos x="T8" y="T9"/>
                      </a:cxn>
                      <a:cxn ang="T53">
                        <a:pos x="T10" y="T11"/>
                      </a:cxn>
                      <a:cxn ang="T54">
                        <a:pos x="T12" y="T13"/>
                      </a:cxn>
                      <a:cxn ang="T55">
                        <a:pos x="T14" y="T15"/>
                      </a:cxn>
                      <a:cxn ang="T56">
                        <a:pos x="T16" y="T17"/>
                      </a:cxn>
                      <a:cxn ang="T57">
                        <a:pos x="T18" y="T19"/>
                      </a:cxn>
                      <a:cxn ang="T58">
                        <a:pos x="T20" y="T21"/>
                      </a:cxn>
                      <a:cxn ang="T59">
                        <a:pos x="T22" y="T23"/>
                      </a:cxn>
                      <a:cxn ang="T60">
                        <a:pos x="T24" y="T25"/>
                      </a:cxn>
                      <a:cxn ang="T61">
                        <a:pos x="T26" y="T27"/>
                      </a:cxn>
                      <a:cxn ang="T62">
                        <a:pos x="T28" y="T29"/>
                      </a:cxn>
                      <a:cxn ang="T63">
                        <a:pos x="T30" y="T31"/>
                      </a:cxn>
                      <a:cxn ang="T64">
                        <a:pos x="T32" y="T33"/>
                      </a:cxn>
                      <a:cxn ang="T65">
                        <a:pos x="T34" y="T35"/>
                      </a:cxn>
                      <a:cxn ang="T66">
                        <a:pos x="T36" y="T37"/>
                      </a:cxn>
                      <a:cxn ang="T67">
                        <a:pos x="T38" y="T39"/>
                      </a:cxn>
                      <a:cxn ang="T68">
                        <a:pos x="T40" y="T41"/>
                      </a:cxn>
                      <a:cxn ang="T69">
                        <a:pos x="T42" y="T43"/>
                      </a:cxn>
                      <a:cxn ang="T70">
                        <a:pos x="T44" y="T45"/>
                      </a:cxn>
                      <a:cxn ang="T71">
                        <a:pos x="T46" y="T47"/>
                      </a:cxn>
                    </a:cxnLst>
                    <a:rect l="T72" t="T73" r="T74" b="T75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3" y="126"/>
                        </a:lnTo>
                        <a:lnTo>
                          <a:pt x="20" y="127"/>
                        </a:lnTo>
                        <a:lnTo>
                          <a:pt x="18" y="127"/>
                        </a:lnTo>
                        <a:lnTo>
                          <a:pt x="14" y="128"/>
                        </a:lnTo>
                        <a:lnTo>
                          <a:pt x="12" y="128"/>
                        </a:lnTo>
                        <a:lnTo>
                          <a:pt x="8" y="127"/>
                        </a:lnTo>
                        <a:lnTo>
                          <a:pt x="5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5" y="0"/>
                        </a:lnTo>
                        <a:lnTo>
                          <a:pt x="7" y="1"/>
                        </a:lnTo>
                        <a:lnTo>
                          <a:pt x="18" y="1"/>
                        </a:lnTo>
                        <a:lnTo>
                          <a:pt x="21" y="0"/>
                        </a:lnTo>
                        <a:lnTo>
                          <a:pt x="23" y="124"/>
                        </a:lnTo>
                        <a:lnTo>
                          <a:pt x="24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86" name="Freeform 403"/>
                  <p:cNvSpPr>
                    <a:spLocks/>
                  </p:cNvSpPr>
                  <p:nvPr/>
                </p:nvSpPr>
                <p:spPr bwMode="auto">
                  <a:xfrm>
                    <a:off x="3622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3 w 27"/>
                      <a:gd name="T5" fmla="*/ 126 h 128"/>
                      <a:gd name="T6" fmla="*/ 20 w 27"/>
                      <a:gd name="T7" fmla="*/ 127 h 128"/>
                      <a:gd name="T8" fmla="*/ 18 w 27"/>
                      <a:gd name="T9" fmla="*/ 127 h 128"/>
                      <a:gd name="T10" fmla="*/ 14 w 27"/>
                      <a:gd name="T11" fmla="*/ 128 h 128"/>
                      <a:gd name="T12" fmla="*/ 12 w 27"/>
                      <a:gd name="T13" fmla="*/ 128 h 128"/>
                      <a:gd name="T14" fmla="*/ 8 w 27"/>
                      <a:gd name="T15" fmla="*/ 127 h 128"/>
                      <a:gd name="T16" fmla="*/ 5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5 w 27"/>
                      <a:gd name="T31" fmla="*/ 0 h 128"/>
                      <a:gd name="T32" fmla="*/ 7 w 27"/>
                      <a:gd name="T33" fmla="*/ 1 h 128"/>
                      <a:gd name="T34" fmla="*/ 18 w 27"/>
                      <a:gd name="T35" fmla="*/ 1 h 128"/>
                      <a:gd name="T36" fmla="*/ 21 w 27"/>
                      <a:gd name="T37" fmla="*/ 0 h 128"/>
                      <a:gd name="T38" fmla="*/ 23 w 27"/>
                      <a:gd name="T39" fmla="*/ 124 h 128"/>
                      <a:gd name="T40" fmla="*/ 24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3" y="126"/>
                        </a:lnTo>
                        <a:lnTo>
                          <a:pt x="20" y="127"/>
                        </a:lnTo>
                        <a:lnTo>
                          <a:pt x="18" y="127"/>
                        </a:lnTo>
                        <a:lnTo>
                          <a:pt x="14" y="128"/>
                        </a:lnTo>
                        <a:lnTo>
                          <a:pt x="12" y="128"/>
                        </a:lnTo>
                        <a:lnTo>
                          <a:pt x="8" y="127"/>
                        </a:lnTo>
                        <a:lnTo>
                          <a:pt x="5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5" y="0"/>
                        </a:lnTo>
                        <a:lnTo>
                          <a:pt x="7" y="1"/>
                        </a:lnTo>
                        <a:lnTo>
                          <a:pt x="18" y="1"/>
                        </a:lnTo>
                        <a:lnTo>
                          <a:pt x="21" y="0"/>
                        </a:lnTo>
                        <a:lnTo>
                          <a:pt x="23" y="124"/>
                        </a:lnTo>
                        <a:lnTo>
                          <a:pt x="24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87" name="Freeform 404"/>
                  <p:cNvSpPr>
                    <a:spLocks/>
                  </p:cNvSpPr>
                  <p:nvPr/>
                </p:nvSpPr>
                <p:spPr bwMode="auto">
                  <a:xfrm>
                    <a:off x="3622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5 w 27"/>
                      <a:gd name="T7" fmla="*/ 2 h 7"/>
                      <a:gd name="T8" fmla="*/ 8 w 27"/>
                      <a:gd name="T9" fmla="*/ 3 h 7"/>
                      <a:gd name="T10" fmla="*/ 12 w 27"/>
                      <a:gd name="T11" fmla="*/ 3 h 7"/>
                      <a:gd name="T12" fmla="*/ 15 w 27"/>
                      <a:gd name="T13" fmla="*/ 3 h 7"/>
                      <a:gd name="T14" fmla="*/ 18 w 27"/>
                      <a:gd name="T15" fmla="*/ 3 h 7"/>
                      <a:gd name="T16" fmla="*/ 20 w 27"/>
                      <a:gd name="T17" fmla="*/ 2 h 7"/>
                      <a:gd name="T18" fmla="*/ 23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3 w 27"/>
                      <a:gd name="T29" fmla="*/ 5 h 7"/>
                      <a:gd name="T30" fmla="*/ 20 w 27"/>
                      <a:gd name="T31" fmla="*/ 6 h 7"/>
                      <a:gd name="T32" fmla="*/ 18 w 27"/>
                      <a:gd name="T33" fmla="*/ 7 h 7"/>
                      <a:gd name="T34" fmla="*/ 15 w 27"/>
                      <a:gd name="T35" fmla="*/ 7 h 7"/>
                      <a:gd name="T36" fmla="*/ 12 w 27"/>
                      <a:gd name="T37" fmla="*/ 7 h 7"/>
                      <a:gd name="T38" fmla="*/ 8 w 27"/>
                      <a:gd name="T39" fmla="*/ 7 h 7"/>
                      <a:gd name="T40" fmla="*/ 5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w 27"/>
                      <a:gd name="T51" fmla="*/ 0 h 7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27"/>
                      <a:gd name="T79" fmla="*/ 0 h 7"/>
                      <a:gd name="T80" fmla="*/ 27 w 27"/>
                      <a:gd name="T81" fmla="*/ 7 h 7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5" y="2"/>
                        </a:lnTo>
                        <a:lnTo>
                          <a:pt x="8" y="3"/>
                        </a:lnTo>
                        <a:lnTo>
                          <a:pt x="12" y="3"/>
                        </a:lnTo>
                        <a:lnTo>
                          <a:pt x="15" y="3"/>
                        </a:lnTo>
                        <a:lnTo>
                          <a:pt x="18" y="3"/>
                        </a:lnTo>
                        <a:lnTo>
                          <a:pt x="20" y="2"/>
                        </a:lnTo>
                        <a:lnTo>
                          <a:pt x="23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3" y="5"/>
                        </a:lnTo>
                        <a:lnTo>
                          <a:pt x="20" y="6"/>
                        </a:lnTo>
                        <a:lnTo>
                          <a:pt x="18" y="7"/>
                        </a:lnTo>
                        <a:lnTo>
                          <a:pt x="15" y="7"/>
                        </a:lnTo>
                        <a:lnTo>
                          <a:pt x="12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88" name="Freeform 405"/>
                  <p:cNvSpPr>
                    <a:spLocks/>
                  </p:cNvSpPr>
                  <p:nvPr/>
                </p:nvSpPr>
                <p:spPr bwMode="auto">
                  <a:xfrm>
                    <a:off x="3622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5 w 27"/>
                      <a:gd name="T7" fmla="*/ 2 h 7"/>
                      <a:gd name="T8" fmla="*/ 8 w 27"/>
                      <a:gd name="T9" fmla="*/ 3 h 7"/>
                      <a:gd name="T10" fmla="*/ 12 w 27"/>
                      <a:gd name="T11" fmla="*/ 3 h 7"/>
                      <a:gd name="T12" fmla="*/ 15 w 27"/>
                      <a:gd name="T13" fmla="*/ 3 h 7"/>
                      <a:gd name="T14" fmla="*/ 18 w 27"/>
                      <a:gd name="T15" fmla="*/ 3 h 7"/>
                      <a:gd name="T16" fmla="*/ 20 w 27"/>
                      <a:gd name="T17" fmla="*/ 2 h 7"/>
                      <a:gd name="T18" fmla="*/ 23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3 w 27"/>
                      <a:gd name="T29" fmla="*/ 5 h 7"/>
                      <a:gd name="T30" fmla="*/ 20 w 27"/>
                      <a:gd name="T31" fmla="*/ 6 h 7"/>
                      <a:gd name="T32" fmla="*/ 18 w 27"/>
                      <a:gd name="T33" fmla="*/ 7 h 7"/>
                      <a:gd name="T34" fmla="*/ 15 w 27"/>
                      <a:gd name="T35" fmla="*/ 7 h 7"/>
                      <a:gd name="T36" fmla="*/ 12 w 27"/>
                      <a:gd name="T37" fmla="*/ 7 h 7"/>
                      <a:gd name="T38" fmla="*/ 8 w 27"/>
                      <a:gd name="T39" fmla="*/ 7 h 7"/>
                      <a:gd name="T40" fmla="*/ 5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5" y="2"/>
                        </a:lnTo>
                        <a:lnTo>
                          <a:pt x="8" y="3"/>
                        </a:lnTo>
                        <a:lnTo>
                          <a:pt x="12" y="3"/>
                        </a:lnTo>
                        <a:lnTo>
                          <a:pt x="15" y="3"/>
                        </a:lnTo>
                        <a:lnTo>
                          <a:pt x="18" y="3"/>
                        </a:lnTo>
                        <a:lnTo>
                          <a:pt x="20" y="2"/>
                        </a:lnTo>
                        <a:lnTo>
                          <a:pt x="23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3" y="5"/>
                        </a:lnTo>
                        <a:lnTo>
                          <a:pt x="20" y="6"/>
                        </a:lnTo>
                        <a:lnTo>
                          <a:pt x="18" y="7"/>
                        </a:lnTo>
                        <a:lnTo>
                          <a:pt x="15" y="7"/>
                        </a:lnTo>
                        <a:lnTo>
                          <a:pt x="12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89" name="Freeform 406"/>
                  <p:cNvSpPr>
                    <a:spLocks/>
                  </p:cNvSpPr>
                  <p:nvPr/>
                </p:nvSpPr>
                <p:spPr bwMode="auto">
                  <a:xfrm>
                    <a:off x="3690" y="2529"/>
                    <a:ext cx="7" cy="3"/>
                  </a:xfrm>
                  <a:custGeom>
                    <a:avLst/>
                    <a:gdLst>
                      <a:gd name="T0" fmla="*/ 0 w 7"/>
                      <a:gd name="T1" fmla="*/ 0 h 3"/>
                      <a:gd name="T2" fmla="*/ 0 w 7"/>
                      <a:gd name="T3" fmla="*/ 3 h 3"/>
                      <a:gd name="T4" fmla="*/ 7 w 7"/>
                      <a:gd name="T5" fmla="*/ 0 h 3"/>
                      <a:gd name="T6" fmla="*/ 0 w 7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7"/>
                      <a:gd name="T13" fmla="*/ 0 h 3"/>
                      <a:gd name="T14" fmla="*/ 7 w 7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7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7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90" name="Freeform 407"/>
                  <p:cNvSpPr>
                    <a:spLocks/>
                  </p:cNvSpPr>
                  <p:nvPr/>
                </p:nvSpPr>
                <p:spPr bwMode="auto">
                  <a:xfrm>
                    <a:off x="3690" y="2529"/>
                    <a:ext cx="7" cy="3"/>
                  </a:xfrm>
                  <a:custGeom>
                    <a:avLst/>
                    <a:gdLst>
                      <a:gd name="T0" fmla="*/ 0 w 7"/>
                      <a:gd name="T1" fmla="*/ 0 h 3"/>
                      <a:gd name="T2" fmla="*/ 0 w 7"/>
                      <a:gd name="T3" fmla="*/ 3 h 3"/>
                      <a:gd name="T4" fmla="*/ 7 w 7"/>
                      <a:gd name="T5" fmla="*/ 0 h 3"/>
                      <a:gd name="T6" fmla="*/ 0 w 7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7"/>
                      <a:gd name="T13" fmla="*/ 0 h 3"/>
                      <a:gd name="T14" fmla="*/ 7 w 7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7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7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91" name="Rectangle 408"/>
                  <p:cNvSpPr>
                    <a:spLocks noChangeArrowheads="1"/>
                  </p:cNvSpPr>
                  <p:nvPr/>
                </p:nvSpPr>
                <p:spPr bwMode="auto">
                  <a:xfrm>
                    <a:off x="3666" y="2529"/>
                    <a:ext cx="24" cy="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92" name="Rectangle 409"/>
                  <p:cNvSpPr>
                    <a:spLocks noChangeArrowheads="1"/>
                  </p:cNvSpPr>
                  <p:nvPr/>
                </p:nvSpPr>
                <p:spPr bwMode="auto">
                  <a:xfrm>
                    <a:off x="3666" y="2529"/>
                    <a:ext cx="24" cy="3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93" name="Freeform 410"/>
                  <p:cNvSpPr>
                    <a:spLocks/>
                  </p:cNvSpPr>
                  <p:nvPr/>
                </p:nvSpPr>
                <p:spPr bwMode="auto">
                  <a:xfrm>
                    <a:off x="3667" y="2532"/>
                    <a:ext cx="23" cy="3"/>
                  </a:xfrm>
                  <a:custGeom>
                    <a:avLst/>
                    <a:gdLst>
                      <a:gd name="T0" fmla="*/ 0 w 23"/>
                      <a:gd name="T1" fmla="*/ 0 h 3"/>
                      <a:gd name="T2" fmla="*/ 0 w 23"/>
                      <a:gd name="T3" fmla="*/ 2 h 3"/>
                      <a:gd name="T4" fmla="*/ 1 w 23"/>
                      <a:gd name="T5" fmla="*/ 2 h 3"/>
                      <a:gd name="T6" fmla="*/ 3 w 23"/>
                      <a:gd name="T7" fmla="*/ 2 h 3"/>
                      <a:gd name="T8" fmla="*/ 5 w 23"/>
                      <a:gd name="T9" fmla="*/ 3 h 3"/>
                      <a:gd name="T10" fmla="*/ 12 w 23"/>
                      <a:gd name="T11" fmla="*/ 3 h 3"/>
                      <a:gd name="T12" fmla="*/ 17 w 23"/>
                      <a:gd name="T13" fmla="*/ 3 h 3"/>
                      <a:gd name="T14" fmla="*/ 20 w 23"/>
                      <a:gd name="T15" fmla="*/ 2 h 3"/>
                      <a:gd name="T16" fmla="*/ 22 w 23"/>
                      <a:gd name="T17" fmla="*/ 2 h 3"/>
                      <a:gd name="T18" fmla="*/ 23 w 23"/>
                      <a:gd name="T19" fmla="*/ 1 h 3"/>
                      <a:gd name="T20" fmla="*/ 23 w 23"/>
                      <a:gd name="T21" fmla="*/ 0 h 3"/>
                      <a:gd name="T22" fmla="*/ 0 w 23"/>
                      <a:gd name="T23" fmla="*/ 0 h 3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3"/>
                      <a:gd name="T37" fmla="*/ 0 h 3"/>
                      <a:gd name="T38" fmla="*/ 23 w 23"/>
                      <a:gd name="T39" fmla="*/ 3 h 3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3" h="3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2" y="2"/>
                        </a:lnTo>
                        <a:lnTo>
                          <a:pt x="23" y="1"/>
                        </a:lnTo>
                        <a:lnTo>
                          <a:pt x="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94" name="Freeform 411"/>
                  <p:cNvSpPr>
                    <a:spLocks/>
                  </p:cNvSpPr>
                  <p:nvPr/>
                </p:nvSpPr>
                <p:spPr bwMode="auto">
                  <a:xfrm>
                    <a:off x="3667" y="2532"/>
                    <a:ext cx="23" cy="3"/>
                  </a:xfrm>
                  <a:custGeom>
                    <a:avLst/>
                    <a:gdLst>
                      <a:gd name="T0" fmla="*/ 0 w 23"/>
                      <a:gd name="T1" fmla="*/ 0 h 3"/>
                      <a:gd name="T2" fmla="*/ 0 w 23"/>
                      <a:gd name="T3" fmla="*/ 2 h 3"/>
                      <a:gd name="T4" fmla="*/ 1 w 23"/>
                      <a:gd name="T5" fmla="*/ 2 h 3"/>
                      <a:gd name="T6" fmla="*/ 3 w 23"/>
                      <a:gd name="T7" fmla="*/ 2 h 3"/>
                      <a:gd name="T8" fmla="*/ 5 w 23"/>
                      <a:gd name="T9" fmla="*/ 3 h 3"/>
                      <a:gd name="T10" fmla="*/ 12 w 23"/>
                      <a:gd name="T11" fmla="*/ 3 h 3"/>
                      <a:gd name="T12" fmla="*/ 17 w 23"/>
                      <a:gd name="T13" fmla="*/ 3 h 3"/>
                      <a:gd name="T14" fmla="*/ 20 w 23"/>
                      <a:gd name="T15" fmla="*/ 2 h 3"/>
                      <a:gd name="T16" fmla="*/ 22 w 23"/>
                      <a:gd name="T17" fmla="*/ 2 h 3"/>
                      <a:gd name="T18" fmla="*/ 23 w 23"/>
                      <a:gd name="T19" fmla="*/ 1 h 3"/>
                      <a:gd name="T20" fmla="*/ 23 w 23"/>
                      <a:gd name="T21" fmla="*/ 0 h 3"/>
                      <a:gd name="T22" fmla="*/ 0 w 23"/>
                      <a:gd name="T23" fmla="*/ 0 h 3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3"/>
                      <a:gd name="T37" fmla="*/ 0 h 3"/>
                      <a:gd name="T38" fmla="*/ 23 w 23"/>
                      <a:gd name="T39" fmla="*/ 3 h 3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3" h="3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2" y="2"/>
                        </a:lnTo>
                        <a:lnTo>
                          <a:pt x="23" y="1"/>
                        </a:lnTo>
                        <a:lnTo>
                          <a:pt x="23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95" name="Freeform 412"/>
                  <p:cNvSpPr>
                    <a:spLocks/>
                  </p:cNvSpPr>
                  <p:nvPr/>
                </p:nvSpPr>
                <p:spPr bwMode="auto">
                  <a:xfrm>
                    <a:off x="3666" y="2535"/>
                    <a:ext cx="24" cy="10"/>
                  </a:xfrm>
                  <a:custGeom>
                    <a:avLst/>
                    <a:gdLst>
                      <a:gd name="T0" fmla="*/ 20 w 24"/>
                      <a:gd name="T1" fmla="*/ 0 h 10"/>
                      <a:gd name="T2" fmla="*/ 18 w 24"/>
                      <a:gd name="T3" fmla="*/ 0 h 10"/>
                      <a:gd name="T4" fmla="*/ 11 w 24"/>
                      <a:gd name="T5" fmla="*/ 1 h 10"/>
                      <a:gd name="T6" fmla="*/ 6 w 24"/>
                      <a:gd name="T7" fmla="*/ 0 h 10"/>
                      <a:gd name="T8" fmla="*/ 4 w 24"/>
                      <a:gd name="T9" fmla="*/ 0 h 10"/>
                      <a:gd name="T10" fmla="*/ 4 w 24"/>
                      <a:gd name="T11" fmla="*/ 6 h 10"/>
                      <a:gd name="T12" fmla="*/ 2 w 24"/>
                      <a:gd name="T13" fmla="*/ 6 h 10"/>
                      <a:gd name="T14" fmla="*/ 1 w 24"/>
                      <a:gd name="T15" fmla="*/ 6 h 10"/>
                      <a:gd name="T16" fmla="*/ 0 w 24"/>
                      <a:gd name="T17" fmla="*/ 7 h 10"/>
                      <a:gd name="T18" fmla="*/ 0 w 24"/>
                      <a:gd name="T19" fmla="*/ 7 h 10"/>
                      <a:gd name="T20" fmla="*/ 0 w 24"/>
                      <a:gd name="T21" fmla="*/ 9 h 10"/>
                      <a:gd name="T22" fmla="*/ 1 w 24"/>
                      <a:gd name="T23" fmla="*/ 9 h 10"/>
                      <a:gd name="T24" fmla="*/ 3 w 24"/>
                      <a:gd name="T25" fmla="*/ 9 h 10"/>
                      <a:gd name="T26" fmla="*/ 6 w 24"/>
                      <a:gd name="T27" fmla="*/ 10 h 10"/>
                      <a:gd name="T28" fmla="*/ 11 w 24"/>
                      <a:gd name="T29" fmla="*/ 10 h 10"/>
                      <a:gd name="T30" fmla="*/ 18 w 24"/>
                      <a:gd name="T31" fmla="*/ 10 h 10"/>
                      <a:gd name="T32" fmla="*/ 21 w 24"/>
                      <a:gd name="T33" fmla="*/ 9 h 10"/>
                      <a:gd name="T34" fmla="*/ 23 w 24"/>
                      <a:gd name="T35" fmla="*/ 9 h 10"/>
                      <a:gd name="T36" fmla="*/ 24 w 24"/>
                      <a:gd name="T37" fmla="*/ 7 h 10"/>
                      <a:gd name="T38" fmla="*/ 23 w 24"/>
                      <a:gd name="T39" fmla="*/ 6 h 10"/>
                      <a:gd name="T40" fmla="*/ 22 w 24"/>
                      <a:gd name="T41" fmla="*/ 6 h 10"/>
                      <a:gd name="T42" fmla="*/ 20 w 24"/>
                      <a:gd name="T43" fmla="*/ 6 h 10"/>
                      <a:gd name="T44" fmla="*/ 20 w 24"/>
                      <a:gd name="T45" fmla="*/ 0 h 10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4"/>
                      <a:gd name="T70" fmla="*/ 0 h 10"/>
                      <a:gd name="T71" fmla="*/ 24 w 24"/>
                      <a:gd name="T72" fmla="*/ 10 h 10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4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1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1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1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3" y="9"/>
                        </a:lnTo>
                        <a:lnTo>
                          <a:pt x="24" y="7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96" name="Freeform 413"/>
                  <p:cNvSpPr>
                    <a:spLocks/>
                  </p:cNvSpPr>
                  <p:nvPr/>
                </p:nvSpPr>
                <p:spPr bwMode="auto">
                  <a:xfrm>
                    <a:off x="3666" y="2535"/>
                    <a:ext cx="24" cy="10"/>
                  </a:xfrm>
                  <a:custGeom>
                    <a:avLst/>
                    <a:gdLst>
                      <a:gd name="T0" fmla="*/ 20 w 24"/>
                      <a:gd name="T1" fmla="*/ 0 h 10"/>
                      <a:gd name="T2" fmla="*/ 18 w 24"/>
                      <a:gd name="T3" fmla="*/ 0 h 10"/>
                      <a:gd name="T4" fmla="*/ 11 w 24"/>
                      <a:gd name="T5" fmla="*/ 1 h 10"/>
                      <a:gd name="T6" fmla="*/ 6 w 24"/>
                      <a:gd name="T7" fmla="*/ 0 h 10"/>
                      <a:gd name="T8" fmla="*/ 4 w 24"/>
                      <a:gd name="T9" fmla="*/ 0 h 10"/>
                      <a:gd name="T10" fmla="*/ 4 w 24"/>
                      <a:gd name="T11" fmla="*/ 6 h 10"/>
                      <a:gd name="T12" fmla="*/ 2 w 24"/>
                      <a:gd name="T13" fmla="*/ 6 h 10"/>
                      <a:gd name="T14" fmla="*/ 1 w 24"/>
                      <a:gd name="T15" fmla="*/ 6 h 10"/>
                      <a:gd name="T16" fmla="*/ 0 w 24"/>
                      <a:gd name="T17" fmla="*/ 7 h 10"/>
                      <a:gd name="T18" fmla="*/ 0 w 24"/>
                      <a:gd name="T19" fmla="*/ 7 h 10"/>
                      <a:gd name="T20" fmla="*/ 0 w 24"/>
                      <a:gd name="T21" fmla="*/ 9 h 10"/>
                      <a:gd name="T22" fmla="*/ 1 w 24"/>
                      <a:gd name="T23" fmla="*/ 9 h 10"/>
                      <a:gd name="T24" fmla="*/ 3 w 24"/>
                      <a:gd name="T25" fmla="*/ 9 h 10"/>
                      <a:gd name="T26" fmla="*/ 6 w 24"/>
                      <a:gd name="T27" fmla="*/ 10 h 10"/>
                      <a:gd name="T28" fmla="*/ 11 w 24"/>
                      <a:gd name="T29" fmla="*/ 10 h 10"/>
                      <a:gd name="T30" fmla="*/ 18 w 24"/>
                      <a:gd name="T31" fmla="*/ 10 h 10"/>
                      <a:gd name="T32" fmla="*/ 21 w 24"/>
                      <a:gd name="T33" fmla="*/ 9 h 10"/>
                      <a:gd name="T34" fmla="*/ 23 w 24"/>
                      <a:gd name="T35" fmla="*/ 9 h 10"/>
                      <a:gd name="T36" fmla="*/ 24 w 24"/>
                      <a:gd name="T37" fmla="*/ 7 h 10"/>
                      <a:gd name="T38" fmla="*/ 23 w 24"/>
                      <a:gd name="T39" fmla="*/ 6 h 10"/>
                      <a:gd name="T40" fmla="*/ 22 w 24"/>
                      <a:gd name="T41" fmla="*/ 6 h 10"/>
                      <a:gd name="T42" fmla="*/ 20 w 24"/>
                      <a:gd name="T43" fmla="*/ 6 h 10"/>
                      <a:gd name="T44" fmla="*/ 20 w 24"/>
                      <a:gd name="T45" fmla="*/ 0 h 10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4"/>
                      <a:gd name="T70" fmla="*/ 0 h 10"/>
                      <a:gd name="T71" fmla="*/ 24 w 24"/>
                      <a:gd name="T72" fmla="*/ 10 h 10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4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1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1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1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3" y="9"/>
                        </a:lnTo>
                        <a:lnTo>
                          <a:pt x="24" y="7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97" name="Freeform 414"/>
                  <p:cNvSpPr>
                    <a:spLocks/>
                  </p:cNvSpPr>
                  <p:nvPr/>
                </p:nvSpPr>
                <p:spPr bwMode="auto">
                  <a:xfrm>
                    <a:off x="3666" y="2542"/>
                    <a:ext cx="24" cy="7"/>
                  </a:xfrm>
                  <a:custGeom>
                    <a:avLst/>
                    <a:gdLst>
                      <a:gd name="T0" fmla="*/ 23 w 24"/>
                      <a:gd name="T1" fmla="*/ 5 h 7"/>
                      <a:gd name="T2" fmla="*/ 22 w 24"/>
                      <a:gd name="T3" fmla="*/ 6 h 7"/>
                      <a:gd name="T4" fmla="*/ 20 w 24"/>
                      <a:gd name="T5" fmla="*/ 6 h 7"/>
                      <a:gd name="T6" fmla="*/ 16 w 24"/>
                      <a:gd name="T7" fmla="*/ 7 h 7"/>
                      <a:gd name="T8" fmla="*/ 6 w 24"/>
                      <a:gd name="T9" fmla="*/ 7 h 7"/>
                      <a:gd name="T10" fmla="*/ 4 w 24"/>
                      <a:gd name="T11" fmla="*/ 6 h 7"/>
                      <a:gd name="T12" fmla="*/ 3 w 24"/>
                      <a:gd name="T13" fmla="*/ 6 h 7"/>
                      <a:gd name="T14" fmla="*/ 1 w 24"/>
                      <a:gd name="T15" fmla="*/ 5 h 7"/>
                      <a:gd name="T16" fmla="*/ 0 w 24"/>
                      <a:gd name="T17" fmla="*/ 5 h 7"/>
                      <a:gd name="T18" fmla="*/ 0 w 24"/>
                      <a:gd name="T19" fmla="*/ 0 h 7"/>
                      <a:gd name="T20" fmla="*/ 0 w 24"/>
                      <a:gd name="T21" fmla="*/ 2 h 7"/>
                      <a:gd name="T22" fmla="*/ 1 w 24"/>
                      <a:gd name="T23" fmla="*/ 2 h 7"/>
                      <a:gd name="T24" fmla="*/ 3 w 24"/>
                      <a:gd name="T25" fmla="*/ 2 h 7"/>
                      <a:gd name="T26" fmla="*/ 6 w 24"/>
                      <a:gd name="T27" fmla="*/ 3 h 7"/>
                      <a:gd name="T28" fmla="*/ 11 w 24"/>
                      <a:gd name="T29" fmla="*/ 3 h 7"/>
                      <a:gd name="T30" fmla="*/ 18 w 24"/>
                      <a:gd name="T31" fmla="*/ 3 h 7"/>
                      <a:gd name="T32" fmla="*/ 21 w 24"/>
                      <a:gd name="T33" fmla="*/ 2 h 7"/>
                      <a:gd name="T34" fmla="*/ 23 w 24"/>
                      <a:gd name="T35" fmla="*/ 2 h 7"/>
                      <a:gd name="T36" fmla="*/ 24 w 24"/>
                      <a:gd name="T37" fmla="*/ 0 h 7"/>
                      <a:gd name="T38" fmla="*/ 24 w 24"/>
                      <a:gd name="T39" fmla="*/ 5 h 7"/>
                      <a:gd name="T40" fmla="*/ 23 w 24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4"/>
                      <a:gd name="T64" fmla="*/ 0 h 7"/>
                      <a:gd name="T65" fmla="*/ 24 w 24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4" h="7">
                        <a:moveTo>
                          <a:pt x="23" y="5"/>
                        </a:move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6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1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0"/>
                        </a:lnTo>
                        <a:lnTo>
                          <a:pt x="24" y="5"/>
                        </a:lnTo>
                        <a:lnTo>
                          <a:pt x="23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98" name="Freeform 415"/>
                  <p:cNvSpPr>
                    <a:spLocks/>
                  </p:cNvSpPr>
                  <p:nvPr/>
                </p:nvSpPr>
                <p:spPr bwMode="auto">
                  <a:xfrm>
                    <a:off x="3666" y="2542"/>
                    <a:ext cx="24" cy="7"/>
                  </a:xfrm>
                  <a:custGeom>
                    <a:avLst/>
                    <a:gdLst>
                      <a:gd name="T0" fmla="*/ 23 w 24"/>
                      <a:gd name="T1" fmla="*/ 5 h 7"/>
                      <a:gd name="T2" fmla="*/ 22 w 24"/>
                      <a:gd name="T3" fmla="*/ 6 h 7"/>
                      <a:gd name="T4" fmla="*/ 20 w 24"/>
                      <a:gd name="T5" fmla="*/ 6 h 7"/>
                      <a:gd name="T6" fmla="*/ 16 w 24"/>
                      <a:gd name="T7" fmla="*/ 7 h 7"/>
                      <a:gd name="T8" fmla="*/ 6 w 24"/>
                      <a:gd name="T9" fmla="*/ 7 h 7"/>
                      <a:gd name="T10" fmla="*/ 4 w 24"/>
                      <a:gd name="T11" fmla="*/ 6 h 7"/>
                      <a:gd name="T12" fmla="*/ 3 w 24"/>
                      <a:gd name="T13" fmla="*/ 6 h 7"/>
                      <a:gd name="T14" fmla="*/ 1 w 24"/>
                      <a:gd name="T15" fmla="*/ 5 h 7"/>
                      <a:gd name="T16" fmla="*/ 0 w 24"/>
                      <a:gd name="T17" fmla="*/ 5 h 7"/>
                      <a:gd name="T18" fmla="*/ 0 w 24"/>
                      <a:gd name="T19" fmla="*/ 0 h 7"/>
                      <a:gd name="T20" fmla="*/ 0 w 24"/>
                      <a:gd name="T21" fmla="*/ 2 h 7"/>
                      <a:gd name="T22" fmla="*/ 1 w 24"/>
                      <a:gd name="T23" fmla="*/ 2 h 7"/>
                      <a:gd name="T24" fmla="*/ 3 w 24"/>
                      <a:gd name="T25" fmla="*/ 2 h 7"/>
                      <a:gd name="T26" fmla="*/ 6 w 24"/>
                      <a:gd name="T27" fmla="*/ 3 h 7"/>
                      <a:gd name="T28" fmla="*/ 11 w 24"/>
                      <a:gd name="T29" fmla="*/ 3 h 7"/>
                      <a:gd name="T30" fmla="*/ 18 w 24"/>
                      <a:gd name="T31" fmla="*/ 3 h 7"/>
                      <a:gd name="T32" fmla="*/ 21 w 24"/>
                      <a:gd name="T33" fmla="*/ 2 h 7"/>
                      <a:gd name="T34" fmla="*/ 23 w 24"/>
                      <a:gd name="T35" fmla="*/ 2 h 7"/>
                      <a:gd name="T36" fmla="*/ 24 w 24"/>
                      <a:gd name="T37" fmla="*/ 0 h 7"/>
                      <a:gd name="T38" fmla="*/ 24 w 24"/>
                      <a:gd name="T39" fmla="*/ 5 h 7"/>
                      <a:gd name="T40" fmla="*/ 23 w 24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4"/>
                      <a:gd name="T64" fmla="*/ 0 h 7"/>
                      <a:gd name="T65" fmla="*/ 24 w 24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4" h="7">
                        <a:moveTo>
                          <a:pt x="23" y="5"/>
                        </a:move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6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1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0"/>
                        </a:lnTo>
                        <a:lnTo>
                          <a:pt x="24" y="5"/>
                        </a:lnTo>
                        <a:lnTo>
                          <a:pt x="23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099" name="Freeform 416"/>
                  <p:cNvSpPr>
                    <a:spLocks/>
                  </p:cNvSpPr>
                  <p:nvPr/>
                </p:nvSpPr>
                <p:spPr bwMode="auto">
                  <a:xfrm>
                    <a:off x="3665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1 w 27"/>
                      <a:gd name="T7" fmla="*/ 127 h 128"/>
                      <a:gd name="T8" fmla="*/ 18 w 27"/>
                      <a:gd name="T9" fmla="*/ 127 h 128"/>
                      <a:gd name="T10" fmla="*/ 15 w 27"/>
                      <a:gd name="T11" fmla="*/ 128 h 128"/>
                      <a:gd name="T12" fmla="*/ 11 w 27"/>
                      <a:gd name="T13" fmla="*/ 128 h 128"/>
                      <a:gd name="T14" fmla="*/ 8 w 27"/>
                      <a:gd name="T15" fmla="*/ 127 h 128"/>
                      <a:gd name="T16" fmla="*/ 5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5 w 27"/>
                      <a:gd name="T31" fmla="*/ 0 h 128"/>
                      <a:gd name="T32" fmla="*/ 7 w 27"/>
                      <a:gd name="T33" fmla="*/ 1 h 128"/>
                      <a:gd name="T34" fmla="*/ 18 w 27"/>
                      <a:gd name="T35" fmla="*/ 1 h 128"/>
                      <a:gd name="T36" fmla="*/ 22 w 27"/>
                      <a:gd name="T37" fmla="*/ 0 h 128"/>
                      <a:gd name="T38" fmla="*/ 24 w 27"/>
                      <a:gd name="T39" fmla="*/ 124 h 128"/>
                      <a:gd name="T40" fmla="*/ 25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1" y="127"/>
                        </a:lnTo>
                        <a:lnTo>
                          <a:pt x="18" y="127"/>
                        </a:lnTo>
                        <a:lnTo>
                          <a:pt x="15" y="128"/>
                        </a:lnTo>
                        <a:lnTo>
                          <a:pt x="11" y="128"/>
                        </a:lnTo>
                        <a:lnTo>
                          <a:pt x="8" y="127"/>
                        </a:lnTo>
                        <a:lnTo>
                          <a:pt x="5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5" y="0"/>
                        </a:lnTo>
                        <a:lnTo>
                          <a:pt x="7" y="1"/>
                        </a:lnTo>
                        <a:lnTo>
                          <a:pt x="18" y="1"/>
                        </a:lnTo>
                        <a:lnTo>
                          <a:pt x="22" y="0"/>
                        </a:lnTo>
                        <a:lnTo>
                          <a:pt x="24" y="124"/>
                        </a:lnTo>
                        <a:lnTo>
                          <a:pt x="25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00" name="Freeform 417"/>
                  <p:cNvSpPr>
                    <a:spLocks/>
                  </p:cNvSpPr>
                  <p:nvPr/>
                </p:nvSpPr>
                <p:spPr bwMode="auto">
                  <a:xfrm>
                    <a:off x="3665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1 w 27"/>
                      <a:gd name="T7" fmla="*/ 127 h 128"/>
                      <a:gd name="T8" fmla="*/ 18 w 27"/>
                      <a:gd name="T9" fmla="*/ 127 h 128"/>
                      <a:gd name="T10" fmla="*/ 15 w 27"/>
                      <a:gd name="T11" fmla="*/ 128 h 128"/>
                      <a:gd name="T12" fmla="*/ 11 w 27"/>
                      <a:gd name="T13" fmla="*/ 128 h 128"/>
                      <a:gd name="T14" fmla="*/ 8 w 27"/>
                      <a:gd name="T15" fmla="*/ 127 h 128"/>
                      <a:gd name="T16" fmla="*/ 5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5 w 27"/>
                      <a:gd name="T31" fmla="*/ 0 h 128"/>
                      <a:gd name="T32" fmla="*/ 7 w 27"/>
                      <a:gd name="T33" fmla="*/ 1 h 128"/>
                      <a:gd name="T34" fmla="*/ 18 w 27"/>
                      <a:gd name="T35" fmla="*/ 1 h 128"/>
                      <a:gd name="T36" fmla="*/ 22 w 27"/>
                      <a:gd name="T37" fmla="*/ 0 h 128"/>
                      <a:gd name="T38" fmla="*/ 24 w 27"/>
                      <a:gd name="T39" fmla="*/ 124 h 128"/>
                      <a:gd name="T40" fmla="*/ 25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1" y="127"/>
                        </a:lnTo>
                        <a:lnTo>
                          <a:pt x="18" y="127"/>
                        </a:lnTo>
                        <a:lnTo>
                          <a:pt x="15" y="128"/>
                        </a:lnTo>
                        <a:lnTo>
                          <a:pt x="11" y="128"/>
                        </a:lnTo>
                        <a:lnTo>
                          <a:pt x="8" y="127"/>
                        </a:lnTo>
                        <a:lnTo>
                          <a:pt x="5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5" y="0"/>
                        </a:lnTo>
                        <a:lnTo>
                          <a:pt x="7" y="1"/>
                        </a:lnTo>
                        <a:lnTo>
                          <a:pt x="18" y="1"/>
                        </a:lnTo>
                        <a:lnTo>
                          <a:pt x="22" y="0"/>
                        </a:lnTo>
                        <a:lnTo>
                          <a:pt x="24" y="124"/>
                        </a:lnTo>
                        <a:lnTo>
                          <a:pt x="25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01" name="Freeform 418"/>
                  <p:cNvSpPr>
                    <a:spLocks/>
                  </p:cNvSpPr>
                  <p:nvPr/>
                </p:nvSpPr>
                <p:spPr bwMode="auto">
                  <a:xfrm>
                    <a:off x="3665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5 w 27"/>
                      <a:gd name="T7" fmla="*/ 2 h 7"/>
                      <a:gd name="T8" fmla="*/ 8 w 27"/>
                      <a:gd name="T9" fmla="*/ 3 h 7"/>
                      <a:gd name="T10" fmla="*/ 11 w 27"/>
                      <a:gd name="T11" fmla="*/ 3 h 7"/>
                      <a:gd name="T12" fmla="*/ 15 w 27"/>
                      <a:gd name="T13" fmla="*/ 3 h 7"/>
                      <a:gd name="T14" fmla="*/ 18 w 27"/>
                      <a:gd name="T15" fmla="*/ 3 h 7"/>
                      <a:gd name="T16" fmla="*/ 21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5 w 27"/>
                      <a:gd name="T27" fmla="*/ 5 h 7"/>
                      <a:gd name="T28" fmla="*/ 24 w 27"/>
                      <a:gd name="T29" fmla="*/ 5 h 7"/>
                      <a:gd name="T30" fmla="*/ 21 w 27"/>
                      <a:gd name="T31" fmla="*/ 6 h 7"/>
                      <a:gd name="T32" fmla="*/ 18 w 27"/>
                      <a:gd name="T33" fmla="*/ 7 h 7"/>
                      <a:gd name="T34" fmla="*/ 15 w 27"/>
                      <a:gd name="T35" fmla="*/ 7 h 7"/>
                      <a:gd name="T36" fmla="*/ 11 w 27"/>
                      <a:gd name="T37" fmla="*/ 7 h 7"/>
                      <a:gd name="T38" fmla="*/ 8 w 27"/>
                      <a:gd name="T39" fmla="*/ 7 h 7"/>
                      <a:gd name="T40" fmla="*/ 5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5" y="2"/>
                        </a:lnTo>
                        <a:lnTo>
                          <a:pt x="8" y="3"/>
                        </a:lnTo>
                        <a:lnTo>
                          <a:pt x="11" y="3"/>
                        </a:lnTo>
                        <a:lnTo>
                          <a:pt x="15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5" y="5"/>
                        </a:lnTo>
                        <a:lnTo>
                          <a:pt x="24" y="5"/>
                        </a:lnTo>
                        <a:lnTo>
                          <a:pt x="21" y="6"/>
                        </a:lnTo>
                        <a:lnTo>
                          <a:pt x="18" y="7"/>
                        </a:lnTo>
                        <a:lnTo>
                          <a:pt x="15" y="7"/>
                        </a:lnTo>
                        <a:lnTo>
                          <a:pt x="11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02" name="Freeform 419"/>
                  <p:cNvSpPr>
                    <a:spLocks/>
                  </p:cNvSpPr>
                  <p:nvPr/>
                </p:nvSpPr>
                <p:spPr bwMode="auto">
                  <a:xfrm>
                    <a:off x="3665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5 w 27"/>
                      <a:gd name="T7" fmla="*/ 2 h 7"/>
                      <a:gd name="T8" fmla="*/ 8 w 27"/>
                      <a:gd name="T9" fmla="*/ 3 h 7"/>
                      <a:gd name="T10" fmla="*/ 11 w 27"/>
                      <a:gd name="T11" fmla="*/ 3 h 7"/>
                      <a:gd name="T12" fmla="*/ 15 w 27"/>
                      <a:gd name="T13" fmla="*/ 3 h 7"/>
                      <a:gd name="T14" fmla="*/ 18 w 27"/>
                      <a:gd name="T15" fmla="*/ 3 h 7"/>
                      <a:gd name="T16" fmla="*/ 21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5 w 27"/>
                      <a:gd name="T27" fmla="*/ 5 h 7"/>
                      <a:gd name="T28" fmla="*/ 24 w 27"/>
                      <a:gd name="T29" fmla="*/ 5 h 7"/>
                      <a:gd name="T30" fmla="*/ 21 w 27"/>
                      <a:gd name="T31" fmla="*/ 6 h 7"/>
                      <a:gd name="T32" fmla="*/ 18 w 27"/>
                      <a:gd name="T33" fmla="*/ 7 h 7"/>
                      <a:gd name="T34" fmla="*/ 15 w 27"/>
                      <a:gd name="T35" fmla="*/ 7 h 7"/>
                      <a:gd name="T36" fmla="*/ 11 w 27"/>
                      <a:gd name="T37" fmla="*/ 7 h 7"/>
                      <a:gd name="T38" fmla="*/ 8 w 27"/>
                      <a:gd name="T39" fmla="*/ 7 h 7"/>
                      <a:gd name="T40" fmla="*/ 5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5" y="2"/>
                        </a:lnTo>
                        <a:lnTo>
                          <a:pt x="8" y="3"/>
                        </a:lnTo>
                        <a:lnTo>
                          <a:pt x="11" y="3"/>
                        </a:lnTo>
                        <a:lnTo>
                          <a:pt x="15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5" y="5"/>
                        </a:lnTo>
                        <a:lnTo>
                          <a:pt x="24" y="5"/>
                        </a:lnTo>
                        <a:lnTo>
                          <a:pt x="21" y="6"/>
                        </a:lnTo>
                        <a:lnTo>
                          <a:pt x="18" y="7"/>
                        </a:lnTo>
                        <a:lnTo>
                          <a:pt x="15" y="7"/>
                        </a:lnTo>
                        <a:lnTo>
                          <a:pt x="11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03" name="Freeform 420"/>
                  <p:cNvSpPr>
                    <a:spLocks/>
                  </p:cNvSpPr>
                  <p:nvPr/>
                </p:nvSpPr>
                <p:spPr bwMode="auto">
                  <a:xfrm>
                    <a:off x="3747" y="2529"/>
                    <a:ext cx="6" cy="3"/>
                  </a:xfrm>
                  <a:custGeom>
                    <a:avLst/>
                    <a:gdLst>
                      <a:gd name="T0" fmla="*/ 0 w 6"/>
                      <a:gd name="T1" fmla="*/ 0 h 3"/>
                      <a:gd name="T2" fmla="*/ 0 w 6"/>
                      <a:gd name="T3" fmla="*/ 3 h 3"/>
                      <a:gd name="T4" fmla="*/ 6 w 6"/>
                      <a:gd name="T5" fmla="*/ 0 h 3"/>
                      <a:gd name="T6" fmla="*/ 0 w 6"/>
                      <a:gd name="T7" fmla="*/ 0 h 3"/>
                      <a:gd name="T8" fmla="*/ 0 w 6"/>
                      <a:gd name="T9" fmla="*/ 0 h 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"/>
                      <a:gd name="T16" fmla="*/ 0 h 3"/>
                      <a:gd name="T17" fmla="*/ 6 w 6"/>
                      <a:gd name="T18" fmla="*/ 3 h 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04" name="Freeform 421"/>
                  <p:cNvSpPr>
                    <a:spLocks/>
                  </p:cNvSpPr>
                  <p:nvPr/>
                </p:nvSpPr>
                <p:spPr bwMode="auto">
                  <a:xfrm>
                    <a:off x="3747" y="2529"/>
                    <a:ext cx="6" cy="3"/>
                  </a:xfrm>
                  <a:custGeom>
                    <a:avLst/>
                    <a:gdLst>
                      <a:gd name="T0" fmla="*/ 0 w 6"/>
                      <a:gd name="T1" fmla="*/ 0 h 3"/>
                      <a:gd name="T2" fmla="*/ 0 w 6"/>
                      <a:gd name="T3" fmla="*/ 3 h 3"/>
                      <a:gd name="T4" fmla="*/ 6 w 6"/>
                      <a:gd name="T5" fmla="*/ 0 h 3"/>
                      <a:gd name="T6" fmla="*/ 0 w 6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"/>
                      <a:gd name="T13" fmla="*/ 0 h 3"/>
                      <a:gd name="T14" fmla="*/ 6 w 6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6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05" name="Rectangle 422"/>
                  <p:cNvSpPr>
                    <a:spLocks noChangeArrowheads="1"/>
                  </p:cNvSpPr>
                  <p:nvPr/>
                </p:nvSpPr>
                <p:spPr bwMode="auto">
                  <a:xfrm>
                    <a:off x="3722" y="2529"/>
                    <a:ext cx="25" cy="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06" name="Rectangle 423"/>
                  <p:cNvSpPr>
                    <a:spLocks noChangeArrowheads="1"/>
                  </p:cNvSpPr>
                  <p:nvPr/>
                </p:nvSpPr>
                <p:spPr bwMode="auto">
                  <a:xfrm>
                    <a:off x="3722" y="2529"/>
                    <a:ext cx="25" cy="3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07" name="Freeform 424"/>
                  <p:cNvSpPr>
                    <a:spLocks/>
                  </p:cNvSpPr>
                  <p:nvPr/>
                </p:nvSpPr>
                <p:spPr bwMode="auto">
                  <a:xfrm>
                    <a:off x="3723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0 w 24"/>
                      <a:gd name="T5" fmla="*/ 2 h 3"/>
                      <a:gd name="T6" fmla="*/ 1 w 24"/>
                      <a:gd name="T7" fmla="*/ 2 h 3"/>
                      <a:gd name="T8" fmla="*/ 4 w 24"/>
                      <a:gd name="T9" fmla="*/ 2 h 3"/>
                      <a:gd name="T10" fmla="*/ 6 w 24"/>
                      <a:gd name="T11" fmla="*/ 3 h 3"/>
                      <a:gd name="T12" fmla="*/ 12 w 24"/>
                      <a:gd name="T13" fmla="*/ 3 h 3"/>
                      <a:gd name="T14" fmla="*/ 17 w 24"/>
                      <a:gd name="T15" fmla="*/ 3 h 3"/>
                      <a:gd name="T16" fmla="*/ 21 w 24"/>
                      <a:gd name="T17" fmla="*/ 2 h 3"/>
                      <a:gd name="T18" fmla="*/ 23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0 h 3"/>
                      <a:gd name="T24" fmla="*/ 0 w 24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"/>
                      <a:gd name="T40" fmla="*/ 0 h 3"/>
                      <a:gd name="T41" fmla="*/ 24 w 24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4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08" name="Freeform 425"/>
                  <p:cNvSpPr>
                    <a:spLocks/>
                  </p:cNvSpPr>
                  <p:nvPr/>
                </p:nvSpPr>
                <p:spPr bwMode="auto">
                  <a:xfrm>
                    <a:off x="3723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0 w 24"/>
                      <a:gd name="T5" fmla="*/ 2 h 3"/>
                      <a:gd name="T6" fmla="*/ 1 w 24"/>
                      <a:gd name="T7" fmla="*/ 2 h 3"/>
                      <a:gd name="T8" fmla="*/ 4 w 24"/>
                      <a:gd name="T9" fmla="*/ 2 h 3"/>
                      <a:gd name="T10" fmla="*/ 6 w 24"/>
                      <a:gd name="T11" fmla="*/ 3 h 3"/>
                      <a:gd name="T12" fmla="*/ 12 w 24"/>
                      <a:gd name="T13" fmla="*/ 3 h 3"/>
                      <a:gd name="T14" fmla="*/ 17 w 24"/>
                      <a:gd name="T15" fmla="*/ 3 h 3"/>
                      <a:gd name="T16" fmla="*/ 21 w 24"/>
                      <a:gd name="T17" fmla="*/ 2 h 3"/>
                      <a:gd name="T18" fmla="*/ 23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0 h 3"/>
                      <a:gd name="T24" fmla="*/ 0 w 24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"/>
                      <a:gd name="T40" fmla="*/ 0 h 3"/>
                      <a:gd name="T41" fmla="*/ 24 w 24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4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09" name="Freeform 426"/>
                  <p:cNvSpPr>
                    <a:spLocks/>
                  </p:cNvSpPr>
                  <p:nvPr/>
                </p:nvSpPr>
                <p:spPr bwMode="auto">
                  <a:xfrm>
                    <a:off x="3722" y="2535"/>
                    <a:ext cx="25" cy="10"/>
                  </a:xfrm>
                  <a:custGeom>
                    <a:avLst/>
                    <a:gdLst>
                      <a:gd name="T0" fmla="*/ 21 w 25"/>
                      <a:gd name="T1" fmla="*/ 0 h 10"/>
                      <a:gd name="T2" fmla="*/ 18 w 25"/>
                      <a:gd name="T3" fmla="*/ 0 h 10"/>
                      <a:gd name="T4" fmla="*/ 13 w 25"/>
                      <a:gd name="T5" fmla="*/ 1 h 10"/>
                      <a:gd name="T6" fmla="*/ 7 w 25"/>
                      <a:gd name="T7" fmla="*/ 0 h 10"/>
                      <a:gd name="T8" fmla="*/ 5 w 25"/>
                      <a:gd name="T9" fmla="*/ 0 h 10"/>
                      <a:gd name="T10" fmla="*/ 5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4 w 25"/>
                      <a:gd name="T23" fmla="*/ 9 h 10"/>
                      <a:gd name="T24" fmla="*/ 8 w 25"/>
                      <a:gd name="T25" fmla="*/ 10 h 10"/>
                      <a:gd name="T26" fmla="*/ 13 w 25"/>
                      <a:gd name="T27" fmla="*/ 10 h 10"/>
                      <a:gd name="T28" fmla="*/ 18 w 25"/>
                      <a:gd name="T29" fmla="*/ 10 h 10"/>
                      <a:gd name="T30" fmla="*/ 23 w 25"/>
                      <a:gd name="T31" fmla="*/ 9 h 10"/>
                      <a:gd name="T32" fmla="*/ 25 w 25"/>
                      <a:gd name="T33" fmla="*/ 9 h 10"/>
                      <a:gd name="T34" fmla="*/ 25 w 25"/>
                      <a:gd name="T35" fmla="*/ 7 h 10"/>
                      <a:gd name="T36" fmla="*/ 25 w 25"/>
                      <a:gd name="T37" fmla="*/ 6 h 10"/>
                      <a:gd name="T38" fmla="*/ 23 w 25"/>
                      <a:gd name="T39" fmla="*/ 6 h 10"/>
                      <a:gd name="T40" fmla="*/ 21 w 25"/>
                      <a:gd name="T41" fmla="*/ 6 h 10"/>
                      <a:gd name="T42" fmla="*/ 21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1" y="0"/>
                        </a:moveTo>
                        <a:lnTo>
                          <a:pt x="18" y="0"/>
                        </a:lnTo>
                        <a:lnTo>
                          <a:pt x="13" y="1"/>
                        </a:lnTo>
                        <a:lnTo>
                          <a:pt x="7" y="0"/>
                        </a:lnTo>
                        <a:lnTo>
                          <a:pt x="5" y="0"/>
                        </a:lnTo>
                        <a:lnTo>
                          <a:pt x="5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4" y="9"/>
                        </a:lnTo>
                        <a:lnTo>
                          <a:pt x="8" y="10"/>
                        </a:lnTo>
                        <a:lnTo>
                          <a:pt x="13" y="10"/>
                        </a:lnTo>
                        <a:lnTo>
                          <a:pt x="18" y="10"/>
                        </a:lnTo>
                        <a:lnTo>
                          <a:pt x="23" y="9"/>
                        </a:lnTo>
                        <a:lnTo>
                          <a:pt x="25" y="9"/>
                        </a:lnTo>
                        <a:lnTo>
                          <a:pt x="25" y="7"/>
                        </a:lnTo>
                        <a:lnTo>
                          <a:pt x="25" y="6"/>
                        </a:lnTo>
                        <a:lnTo>
                          <a:pt x="23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10" name="Freeform 427"/>
                  <p:cNvSpPr>
                    <a:spLocks/>
                  </p:cNvSpPr>
                  <p:nvPr/>
                </p:nvSpPr>
                <p:spPr bwMode="auto">
                  <a:xfrm>
                    <a:off x="3722" y="2535"/>
                    <a:ext cx="25" cy="10"/>
                  </a:xfrm>
                  <a:custGeom>
                    <a:avLst/>
                    <a:gdLst>
                      <a:gd name="T0" fmla="*/ 21 w 25"/>
                      <a:gd name="T1" fmla="*/ 0 h 10"/>
                      <a:gd name="T2" fmla="*/ 18 w 25"/>
                      <a:gd name="T3" fmla="*/ 0 h 10"/>
                      <a:gd name="T4" fmla="*/ 13 w 25"/>
                      <a:gd name="T5" fmla="*/ 1 h 10"/>
                      <a:gd name="T6" fmla="*/ 7 w 25"/>
                      <a:gd name="T7" fmla="*/ 0 h 10"/>
                      <a:gd name="T8" fmla="*/ 5 w 25"/>
                      <a:gd name="T9" fmla="*/ 0 h 10"/>
                      <a:gd name="T10" fmla="*/ 5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4 w 25"/>
                      <a:gd name="T23" fmla="*/ 9 h 10"/>
                      <a:gd name="T24" fmla="*/ 8 w 25"/>
                      <a:gd name="T25" fmla="*/ 10 h 10"/>
                      <a:gd name="T26" fmla="*/ 13 w 25"/>
                      <a:gd name="T27" fmla="*/ 10 h 10"/>
                      <a:gd name="T28" fmla="*/ 18 w 25"/>
                      <a:gd name="T29" fmla="*/ 10 h 10"/>
                      <a:gd name="T30" fmla="*/ 23 w 25"/>
                      <a:gd name="T31" fmla="*/ 9 h 10"/>
                      <a:gd name="T32" fmla="*/ 25 w 25"/>
                      <a:gd name="T33" fmla="*/ 9 h 10"/>
                      <a:gd name="T34" fmla="*/ 25 w 25"/>
                      <a:gd name="T35" fmla="*/ 7 h 10"/>
                      <a:gd name="T36" fmla="*/ 25 w 25"/>
                      <a:gd name="T37" fmla="*/ 6 h 10"/>
                      <a:gd name="T38" fmla="*/ 23 w 25"/>
                      <a:gd name="T39" fmla="*/ 6 h 10"/>
                      <a:gd name="T40" fmla="*/ 21 w 25"/>
                      <a:gd name="T41" fmla="*/ 6 h 10"/>
                      <a:gd name="T42" fmla="*/ 21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1" y="0"/>
                        </a:moveTo>
                        <a:lnTo>
                          <a:pt x="18" y="0"/>
                        </a:lnTo>
                        <a:lnTo>
                          <a:pt x="13" y="1"/>
                        </a:lnTo>
                        <a:lnTo>
                          <a:pt x="7" y="0"/>
                        </a:lnTo>
                        <a:lnTo>
                          <a:pt x="5" y="0"/>
                        </a:lnTo>
                        <a:lnTo>
                          <a:pt x="5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4" y="9"/>
                        </a:lnTo>
                        <a:lnTo>
                          <a:pt x="8" y="10"/>
                        </a:lnTo>
                        <a:lnTo>
                          <a:pt x="13" y="10"/>
                        </a:lnTo>
                        <a:lnTo>
                          <a:pt x="18" y="10"/>
                        </a:lnTo>
                        <a:lnTo>
                          <a:pt x="23" y="9"/>
                        </a:lnTo>
                        <a:lnTo>
                          <a:pt x="25" y="9"/>
                        </a:lnTo>
                        <a:lnTo>
                          <a:pt x="25" y="7"/>
                        </a:lnTo>
                        <a:lnTo>
                          <a:pt x="25" y="6"/>
                        </a:lnTo>
                        <a:lnTo>
                          <a:pt x="23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11" name="Freeform 428"/>
                  <p:cNvSpPr>
                    <a:spLocks/>
                  </p:cNvSpPr>
                  <p:nvPr/>
                </p:nvSpPr>
                <p:spPr bwMode="auto">
                  <a:xfrm>
                    <a:off x="3722" y="2542"/>
                    <a:ext cx="25" cy="7"/>
                  </a:xfrm>
                  <a:custGeom>
                    <a:avLst/>
                    <a:gdLst>
                      <a:gd name="T0" fmla="*/ 25 w 25"/>
                      <a:gd name="T1" fmla="*/ 5 h 7"/>
                      <a:gd name="T2" fmla="*/ 23 w 25"/>
                      <a:gd name="T3" fmla="*/ 6 h 7"/>
                      <a:gd name="T4" fmla="*/ 22 w 25"/>
                      <a:gd name="T5" fmla="*/ 6 h 7"/>
                      <a:gd name="T6" fmla="*/ 17 w 25"/>
                      <a:gd name="T7" fmla="*/ 7 h 7"/>
                      <a:gd name="T8" fmla="*/ 8 w 25"/>
                      <a:gd name="T9" fmla="*/ 7 h 7"/>
                      <a:gd name="T10" fmla="*/ 5 w 25"/>
                      <a:gd name="T11" fmla="*/ 6 h 7"/>
                      <a:gd name="T12" fmla="*/ 4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4 w 25"/>
                      <a:gd name="T25" fmla="*/ 2 h 7"/>
                      <a:gd name="T26" fmla="*/ 8 w 25"/>
                      <a:gd name="T27" fmla="*/ 3 h 7"/>
                      <a:gd name="T28" fmla="*/ 13 w 25"/>
                      <a:gd name="T29" fmla="*/ 3 h 7"/>
                      <a:gd name="T30" fmla="*/ 18 w 25"/>
                      <a:gd name="T31" fmla="*/ 3 h 7"/>
                      <a:gd name="T32" fmla="*/ 23 w 25"/>
                      <a:gd name="T33" fmla="*/ 2 h 7"/>
                      <a:gd name="T34" fmla="*/ 25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5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5" y="5"/>
                        </a:move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17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4" y="2"/>
                        </a:lnTo>
                        <a:lnTo>
                          <a:pt x="8" y="3"/>
                        </a:lnTo>
                        <a:lnTo>
                          <a:pt x="13" y="3"/>
                        </a:lnTo>
                        <a:lnTo>
                          <a:pt x="18" y="3"/>
                        </a:lnTo>
                        <a:lnTo>
                          <a:pt x="23" y="2"/>
                        </a:lnTo>
                        <a:lnTo>
                          <a:pt x="25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12" name="Freeform 429"/>
                  <p:cNvSpPr>
                    <a:spLocks/>
                  </p:cNvSpPr>
                  <p:nvPr/>
                </p:nvSpPr>
                <p:spPr bwMode="auto">
                  <a:xfrm>
                    <a:off x="3722" y="2542"/>
                    <a:ext cx="25" cy="7"/>
                  </a:xfrm>
                  <a:custGeom>
                    <a:avLst/>
                    <a:gdLst>
                      <a:gd name="T0" fmla="*/ 25 w 25"/>
                      <a:gd name="T1" fmla="*/ 5 h 7"/>
                      <a:gd name="T2" fmla="*/ 23 w 25"/>
                      <a:gd name="T3" fmla="*/ 6 h 7"/>
                      <a:gd name="T4" fmla="*/ 22 w 25"/>
                      <a:gd name="T5" fmla="*/ 6 h 7"/>
                      <a:gd name="T6" fmla="*/ 17 w 25"/>
                      <a:gd name="T7" fmla="*/ 7 h 7"/>
                      <a:gd name="T8" fmla="*/ 8 w 25"/>
                      <a:gd name="T9" fmla="*/ 7 h 7"/>
                      <a:gd name="T10" fmla="*/ 5 w 25"/>
                      <a:gd name="T11" fmla="*/ 6 h 7"/>
                      <a:gd name="T12" fmla="*/ 4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4 w 25"/>
                      <a:gd name="T25" fmla="*/ 2 h 7"/>
                      <a:gd name="T26" fmla="*/ 8 w 25"/>
                      <a:gd name="T27" fmla="*/ 3 h 7"/>
                      <a:gd name="T28" fmla="*/ 13 w 25"/>
                      <a:gd name="T29" fmla="*/ 3 h 7"/>
                      <a:gd name="T30" fmla="*/ 18 w 25"/>
                      <a:gd name="T31" fmla="*/ 3 h 7"/>
                      <a:gd name="T32" fmla="*/ 23 w 25"/>
                      <a:gd name="T33" fmla="*/ 2 h 7"/>
                      <a:gd name="T34" fmla="*/ 25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5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5" y="5"/>
                        </a:move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17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4" y="2"/>
                        </a:lnTo>
                        <a:lnTo>
                          <a:pt x="8" y="3"/>
                        </a:lnTo>
                        <a:lnTo>
                          <a:pt x="13" y="3"/>
                        </a:lnTo>
                        <a:lnTo>
                          <a:pt x="18" y="3"/>
                        </a:lnTo>
                        <a:lnTo>
                          <a:pt x="23" y="2"/>
                        </a:lnTo>
                        <a:lnTo>
                          <a:pt x="25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13" name="Freeform 430"/>
                  <p:cNvSpPr>
                    <a:spLocks/>
                  </p:cNvSpPr>
                  <p:nvPr/>
                </p:nvSpPr>
                <p:spPr bwMode="auto">
                  <a:xfrm>
                    <a:off x="3721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1 w 27"/>
                      <a:gd name="T7" fmla="*/ 127 h 128"/>
                      <a:gd name="T8" fmla="*/ 17 w 27"/>
                      <a:gd name="T9" fmla="*/ 127 h 128"/>
                      <a:gd name="T10" fmla="*/ 15 w 27"/>
                      <a:gd name="T11" fmla="*/ 128 h 128"/>
                      <a:gd name="T12" fmla="*/ 12 w 27"/>
                      <a:gd name="T13" fmla="*/ 128 h 128"/>
                      <a:gd name="T14" fmla="*/ 9 w 27"/>
                      <a:gd name="T15" fmla="*/ 127 h 128"/>
                      <a:gd name="T16" fmla="*/ 6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1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6 w 27"/>
                      <a:gd name="T31" fmla="*/ 0 h 128"/>
                      <a:gd name="T32" fmla="*/ 9 w 27"/>
                      <a:gd name="T33" fmla="*/ 1 h 128"/>
                      <a:gd name="T34" fmla="*/ 18 w 27"/>
                      <a:gd name="T35" fmla="*/ 1 h 128"/>
                      <a:gd name="T36" fmla="*/ 22 w 27"/>
                      <a:gd name="T37" fmla="*/ 0 h 128"/>
                      <a:gd name="T38" fmla="*/ 24 w 27"/>
                      <a:gd name="T39" fmla="*/ 124 h 128"/>
                      <a:gd name="T40" fmla="*/ 25 w 27"/>
                      <a:gd name="T41" fmla="*/ 124 h 128"/>
                      <a:gd name="T42" fmla="*/ 26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1" y="127"/>
                        </a:lnTo>
                        <a:lnTo>
                          <a:pt x="17" y="127"/>
                        </a:lnTo>
                        <a:lnTo>
                          <a:pt x="15" y="128"/>
                        </a:lnTo>
                        <a:lnTo>
                          <a:pt x="12" y="128"/>
                        </a:lnTo>
                        <a:lnTo>
                          <a:pt x="9" y="127"/>
                        </a:lnTo>
                        <a:lnTo>
                          <a:pt x="6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1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6" y="0"/>
                        </a:lnTo>
                        <a:lnTo>
                          <a:pt x="9" y="1"/>
                        </a:lnTo>
                        <a:lnTo>
                          <a:pt x="18" y="1"/>
                        </a:lnTo>
                        <a:lnTo>
                          <a:pt x="22" y="0"/>
                        </a:lnTo>
                        <a:lnTo>
                          <a:pt x="24" y="124"/>
                        </a:lnTo>
                        <a:lnTo>
                          <a:pt x="25" y="124"/>
                        </a:lnTo>
                        <a:lnTo>
                          <a:pt x="26" y="124"/>
                        </a:lnTo>
                        <a:lnTo>
                          <a:pt x="27" y="1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14" name="Freeform 431"/>
                  <p:cNvSpPr>
                    <a:spLocks/>
                  </p:cNvSpPr>
                  <p:nvPr/>
                </p:nvSpPr>
                <p:spPr bwMode="auto">
                  <a:xfrm>
                    <a:off x="3721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1 w 27"/>
                      <a:gd name="T7" fmla="*/ 127 h 128"/>
                      <a:gd name="T8" fmla="*/ 17 w 27"/>
                      <a:gd name="T9" fmla="*/ 127 h 128"/>
                      <a:gd name="T10" fmla="*/ 15 w 27"/>
                      <a:gd name="T11" fmla="*/ 128 h 128"/>
                      <a:gd name="T12" fmla="*/ 12 w 27"/>
                      <a:gd name="T13" fmla="*/ 128 h 128"/>
                      <a:gd name="T14" fmla="*/ 9 w 27"/>
                      <a:gd name="T15" fmla="*/ 127 h 128"/>
                      <a:gd name="T16" fmla="*/ 6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1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6 w 27"/>
                      <a:gd name="T31" fmla="*/ 0 h 128"/>
                      <a:gd name="T32" fmla="*/ 9 w 27"/>
                      <a:gd name="T33" fmla="*/ 1 h 128"/>
                      <a:gd name="T34" fmla="*/ 18 w 27"/>
                      <a:gd name="T35" fmla="*/ 1 h 128"/>
                      <a:gd name="T36" fmla="*/ 22 w 27"/>
                      <a:gd name="T37" fmla="*/ 0 h 128"/>
                      <a:gd name="T38" fmla="*/ 24 w 27"/>
                      <a:gd name="T39" fmla="*/ 124 h 128"/>
                      <a:gd name="T40" fmla="*/ 25 w 27"/>
                      <a:gd name="T41" fmla="*/ 124 h 128"/>
                      <a:gd name="T42" fmla="*/ 26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1" y="127"/>
                        </a:lnTo>
                        <a:lnTo>
                          <a:pt x="17" y="127"/>
                        </a:lnTo>
                        <a:lnTo>
                          <a:pt x="15" y="128"/>
                        </a:lnTo>
                        <a:lnTo>
                          <a:pt x="12" y="128"/>
                        </a:lnTo>
                        <a:lnTo>
                          <a:pt x="9" y="127"/>
                        </a:lnTo>
                        <a:lnTo>
                          <a:pt x="6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1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6" y="0"/>
                        </a:lnTo>
                        <a:lnTo>
                          <a:pt x="9" y="1"/>
                        </a:lnTo>
                        <a:lnTo>
                          <a:pt x="18" y="1"/>
                        </a:lnTo>
                        <a:lnTo>
                          <a:pt x="22" y="0"/>
                        </a:lnTo>
                        <a:lnTo>
                          <a:pt x="24" y="124"/>
                        </a:lnTo>
                        <a:lnTo>
                          <a:pt x="25" y="124"/>
                        </a:lnTo>
                        <a:lnTo>
                          <a:pt x="26" y="124"/>
                        </a:lnTo>
                        <a:lnTo>
                          <a:pt x="27" y="12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15" name="Freeform 432"/>
                  <p:cNvSpPr>
                    <a:spLocks/>
                  </p:cNvSpPr>
                  <p:nvPr/>
                </p:nvSpPr>
                <p:spPr bwMode="auto">
                  <a:xfrm>
                    <a:off x="3721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6 w 27"/>
                      <a:gd name="T7" fmla="*/ 2 h 7"/>
                      <a:gd name="T8" fmla="*/ 9 w 27"/>
                      <a:gd name="T9" fmla="*/ 3 h 7"/>
                      <a:gd name="T10" fmla="*/ 12 w 27"/>
                      <a:gd name="T11" fmla="*/ 3 h 7"/>
                      <a:gd name="T12" fmla="*/ 15 w 27"/>
                      <a:gd name="T13" fmla="*/ 3 h 7"/>
                      <a:gd name="T14" fmla="*/ 17 w 27"/>
                      <a:gd name="T15" fmla="*/ 3 h 7"/>
                      <a:gd name="T16" fmla="*/ 21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4 w 27"/>
                      <a:gd name="T29" fmla="*/ 5 h 7"/>
                      <a:gd name="T30" fmla="*/ 21 w 27"/>
                      <a:gd name="T31" fmla="*/ 6 h 7"/>
                      <a:gd name="T32" fmla="*/ 17 w 27"/>
                      <a:gd name="T33" fmla="*/ 7 h 7"/>
                      <a:gd name="T34" fmla="*/ 15 w 27"/>
                      <a:gd name="T35" fmla="*/ 7 h 7"/>
                      <a:gd name="T36" fmla="*/ 12 w 27"/>
                      <a:gd name="T37" fmla="*/ 7 h 7"/>
                      <a:gd name="T38" fmla="*/ 9 w 27"/>
                      <a:gd name="T39" fmla="*/ 7 h 7"/>
                      <a:gd name="T40" fmla="*/ 6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6" y="2"/>
                        </a:lnTo>
                        <a:lnTo>
                          <a:pt x="9" y="3"/>
                        </a:lnTo>
                        <a:lnTo>
                          <a:pt x="12" y="3"/>
                        </a:lnTo>
                        <a:lnTo>
                          <a:pt x="15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4" y="5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15" y="7"/>
                        </a:lnTo>
                        <a:lnTo>
                          <a:pt x="12" y="7"/>
                        </a:lnTo>
                        <a:lnTo>
                          <a:pt x="9" y="7"/>
                        </a:lnTo>
                        <a:lnTo>
                          <a:pt x="6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16" name="Freeform 433"/>
                  <p:cNvSpPr>
                    <a:spLocks/>
                  </p:cNvSpPr>
                  <p:nvPr/>
                </p:nvSpPr>
                <p:spPr bwMode="auto">
                  <a:xfrm>
                    <a:off x="3721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6 w 27"/>
                      <a:gd name="T7" fmla="*/ 2 h 7"/>
                      <a:gd name="T8" fmla="*/ 9 w 27"/>
                      <a:gd name="T9" fmla="*/ 3 h 7"/>
                      <a:gd name="T10" fmla="*/ 12 w 27"/>
                      <a:gd name="T11" fmla="*/ 3 h 7"/>
                      <a:gd name="T12" fmla="*/ 15 w 27"/>
                      <a:gd name="T13" fmla="*/ 3 h 7"/>
                      <a:gd name="T14" fmla="*/ 17 w 27"/>
                      <a:gd name="T15" fmla="*/ 3 h 7"/>
                      <a:gd name="T16" fmla="*/ 21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4 w 27"/>
                      <a:gd name="T29" fmla="*/ 5 h 7"/>
                      <a:gd name="T30" fmla="*/ 21 w 27"/>
                      <a:gd name="T31" fmla="*/ 6 h 7"/>
                      <a:gd name="T32" fmla="*/ 17 w 27"/>
                      <a:gd name="T33" fmla="*/ 7 h 7"/>
                      <a:gd name="T34" fmla="*/ 15 w 27"/>
                      <a:gd name="T35" fmla="*/ 7 h 7"/>
                      <a:gd name="T36" fmla="*/ 12 w 27"/>
                      <a:gd name="T37" fmla="*/ 7 h 7"/>
                      <a:gd name="T38" fmla="*/ 9 w 27"/>
                      <a:gd name="T39" fmla="*/ 7 h 7"/>
                      <a:gd name="T40" fmla="*/ 6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6" y="2"/>
                        </a:lnTo>
                        <a:lnTo>
                          <a:pt x="9" y="3"/>
                        </a:lnTo>
                        <a:lnTo>
                          <a:pt x="12" y="3"/>
                        </a:lnTo>
                        <a:lnTo>
                          <a:pt x="15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4" y="5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15" y="7"/>
                        </a:lnTo>
                        <a:lnTo>
                          <a:pt x="12" y="7"/>
                        </a:lnTo>
                        <a:lnTo>
                          <a:pt x="9" y="7"/>
                        </a:lnTo>
                        <a:lnTo>
                          <a:pt x="6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17" name="Freeform 434"/>
                  <p:cNvSpPr>
                    <a:spLocks/>
                  </p:cNvSpPr>
                  <p:nvPr/>
                </p:nvSpPr>
                <p:spPr bwMode="auto">
                  <a:xfrm>
                    <a:off x="3791" y="2529"/>
                    <a:ext cx="6" cy="3"/>
                  </a:xfrm>
                  <a:custGeom>
                    <a:avLst/>
                    <a:gdLst>
                      <a:gd name="T0" fmla="*/ 0 w 6"/>
                      <a:gd name="T1" fmla="*/ 0 h 3"/>
                      <a:gd name="T2" fmla="*/ 0 w 6"/>
                      <a:gd name="T3" fmla="*/ 3 h 3"/>
                      <a:gd name="T4" fmla="*/ 6 w 6"/>
                      <a:gd name="T5" fmla="*/ 0 h 3"/>
                      <a:gd name="T6" fmla="*/ 0 w 6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"/>
                      <a:gd name="T13" fmla="*/ 0 h 3"/>
                      <a:gd name="T14" fmla="*/ 6 w 6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18" name="Freeform 435"/>
                  <p:cNvSpPr>
                    <a:spLocks/>
                  </p:cNvSpPr>
                  <p:nvPr/>
                </p:nvSpPr>
                <p:spPr bwMode="auto">
                  <a:xfrm>
                    <a:off x="3791" y="2529"/>
                    <a:ext cx="6" cy="3"/>
                  </a:xfrm>
                  <a:custGeom>
                    <a:avLst/>
                    <a:gdLst>
                      <a:gd name="T0" fmla="*/ 0 w 6"/>
                      <a:gd name="T1" fmla="*/ 0 h 3"/>
                      <a:gd name="T2" fmla="*/ 0 w 6"/>
                      <a:gd name="T3" fmla="*/ 3 h 3"/>
                      <a:gd name="T4" fmla="*/ 6 w 6"/>
                      <a:gd name="T5" fmla="*/ 0 h 3"/>
                      <a:gd name="T6" fmla="*/ 0 w 6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"/>
                      <a:gd name="T13" fmla="*/ 0 h 3"/>
                      <a:gd name="T14" fmla="*/ 6 w 6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6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19" name="Rectangle 436"/>
                  <p:cNvSpPr>
                    <a:spLocks noChangeArrowheads="1"/>
                  </p:cNvSpPr>
                  <p:nvPr/>
                </p:nvSpPr>
                <p:spPr bwMode="auto">
                  <a:xfrm>
                    <a:off x="3766" y="2529"/>
                    <a:ext cx="25" cy="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20" name="Rectangle 437"/>
                  <p:cNvSpPr>
                    <a:spLocks noChangeArrowheads="1"/>
                  </p:cNvSpPr>
                  <p:nvPr/>
                </p:nvSpPr>
                <p:spPr bwMode="auto">
                  <a:xfrm>
                    <a:off x="3766" y="2529"/>
                    <a:ext cx="25" cy="3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21" name="Freeform 438"/>
                  <p:cNvSpPr>
                    <a:spLocks/>
                  </p:cNvSpPr>
                  <p:nvPr/>
                </p:nvSpPr>
                <p:spPr bwMode="auto">
                  <a:xfrm>
                    <a:off x="3767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0 w 24"/>
                      <a:gd name="T5" fmla="*/ 2 h 3"/>
                      <a:gd name="T6" fmla="*/ 2 w 24"/>
                      <a:gd name="T7" fmla="*/ 2 h 3"/>
                      <a:gd name="T8" fmla="*/ 3 w 24"/>
                      <a:gd name="T9" fmla="*/ 2 h 3"/>
                      <a:gd name="T10" fmla="*/ 6 w 24"/>
                      <a:gd name="T11" fmla="*/ 3 h 3"/>
                      <a:gd name="T12" fmla="*/ 12 w 24"/>
                      <a:gd name="T13" fmla="*/ 3 h 3"/>
                      <a:gd name="T14" fmla="*/ 17 w 24"/>
                      <a:gd name="T15" fmla="*/ 3 h 3"/>
                      <a:gd name="T16" fmla="*/ 21 w 24"/>
                      <a:gd name="T17" fmla="*/ 2 h 3"/>
                      <a:gd name="T18" fmla="*/ 23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0 h 3"/>
                      <a:gd name="T24" fmla="*/ 0 w 24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"/>
                      <a:gd name="T40" fmla="*/ 0 h 3"/>
                      <a:gd name="T41" fmla="*/ 24 w 24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0" y="2"/>
                        </a:lnTo>
                        <a:lnTo>
                          <a:pt x="2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22" name="Freeform 439"/>
                  <p:cNvSpPr>
                    <a:spLocks/>
                  </p:cNvSpPr>
                  <p:nvPr/>
                </p:nvSpPr>
                <p:spPr bwMode="auto">
                  <a:xfrm>
                    <a:off x="3767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0 w 24"/>
                      <a:gd name="T5" fmla="*/ 2 h 3"/>
                      <a:gd name="T6" fmla="*/ 2 w 24"/>
                      <a:gd name="T7" fmla="*/ 2 h 3"/>
                      <a:gd name="T8" fmla="*/ 3 w 24"/>
                      <a:gd name="T9" fmla="*/ 2 h 3"/>
                      <a:gd name="T10" fmla="*/ 6 w 24"/>
                      <a:gd name="T11" fmla="*/ 3 h 3"/>
                      <a:gd name="T12" fmla="*/ 12 w 24"/>
                      <a:gd name="T13" fmla="*/ 3 h 3"/>
                      <a:gd name="T14" fmla="*/ 17 w 24"/>
                      <a:gd name="T15" fmla="*/ 3 h 3"/>
                      <a:gd name="T16" fmla="*/ 21 w 24"/>
                      <a:gd name="T17" fmla="*/ 2 h 3"/>
                      <a:gd name="T18" fmla="*/ 23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0 h 3"/>
                      <a:gd name="T24" fmla="*/ 0 w 24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"/>
                      <a:gd name="T40" fmla="*/ 0 h 3"/>
                      <a:gd name="T41" fmla="*/ 24 w 24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0" y="2"/>
                        </a:lnTo>
                        <a:lnTo>
                          <a:pt x="2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23" name="Freeform 440"/>
                  <p:cNvSpPr>
                    <a:spLocks/>
                  </p:cNvSpPr>
                  <p:nvPr/>
                </p:nvSpPr>
                <p:spPr bwMode="auto">
                  <a:xfrm>
                    <a:off x="3766" y="2535"/>
                    <a:ext cx="25" cy="10"/>
                  </a:xfrm>
                  <a:custGeom>
                    <a:avLst/>
                    <a:gdLst>
                      <a:gd name="T0" fmla="*/ 20 w 25"/>
                      <a:gd name="T1" fmla="*/ 0 h 10"/>
                      <a:gd name="T2" fmla="*/ 18 w 25"/>
                      <a:gd name="T3" fmla="*/ 0 h 10"/>
                      <a:gd name="T4" fmla="*/ 12 w 25"/>
                      <a:gd name="T5" fmla="*/ 1 h 10"/>
                      <a:gd name="T6" fmla="*/ 7 w 25"/>
                      <a:gd name="T7" fmla="*/ 0 h 10"/>
                      <a:gd name="T8" fmla="*/ 3 w 25"/>
                      <a:gd name="T9" fmla="*/ 0 h 10"/>
                      <a:gd name="T10" fmla="*/ 3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3 w 25"/>
                      <a:gd name="T23" fmla="*/ 9 h 10"/>
                      <a:gd name="T24" fmla="*/ 7 w 25"/>
                      <a:gd name="T25" fmla="*/ 10 h 10"/>
                      <a:gd name="T26" fmla="*/ 12 w 25"/>
                      <a:gd name="T27" fmla="*/ 10 h 10"/>
                      <a:gd name="T28" fmla="*/ 18 w 25"/>
                      <a:gd name="T29" fmla="*/ 10 h 10"/>
                      <a:gd name="T30" fmla="*/ 22 w 25"/>
                      <a:gd name="T31" fmla="*/ 9 h 10"/>
                      <a:gd name="T32" fmla="*/ 25 w 25"/>
                      <a:gd name="T33" fmla="*/ 9 h 10"/>
                      <a:gd name="T34" fmla="*/ 25 w 25"/>
                      <a:gd name="T35" fmla="*/ 7 h 10"/>
                      <a:gd name="T36" fmla="*/ 25 w 25"/>
                      <a:gd name="T37" fmla="*/ 6 h 10"/>
                      <a:gd name="T38" fmla="*/ 23 w 25"/>
                      <a:gd name="T39" fmla="*/ 6 h 10"/>
                      <a:gd name="T40" fmla="*/ 20 w 25"/>
                      <a:gd name="T41" fmla="*/ 6 h 10"/>
                      <a:gd name="T42" fmla="*/ 20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7" y="0"/>
                        </a:lnTo>
                        <a:lnTo>
                          <a:pt x="3" y="0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3" y="9"/>
                        </a:lnTo>
                        <a:lnTo>
                          <a:pt x="7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2" y="9"/>
                        </a:lnTo>
                        <a:lnTo>
                          <a:pt x="25" y="9"/>
                        </a:lnTo>
                        <a:lnTo>
                          <a:pt x="25" y="7"/>
                        </a:lnTo>
                        <a:lnTo>
                          <a:pt x="25" y="6"/>
                        </a:lnTo>
                        <a:lnTo>
                          <a:pt x="23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24" name="Freeform 441"/>
                  <p:cNvSpPr>
                    <a:spLocks/>
                  </p:cNvSpPr>
                  <p:nvPr/>
                </p:nvSpPr>
                <p:spPr bwMode="auto">
                  <a:xfrm>
                    <a:off x="3766" y="2535"/>
                    <a:ext cx="25" cy="10"/>
                  </a:xfrm>
                  <a:custGeom>
                    <a:avLst/>
                    <a:gdLst>
                      <a:gd name="T0" fmla="*/ 20 w 25"/>
                      <a:gd name="T1" fmla="*/ 0 h 10"/>
                      <a:gd name="T2" fmla="*/ 18 w 25"/>
                      <a:gd name="T3" fmla="*/ 0 h 10"/>
                      <a:gd name="T4" fmla="*/ 12 w 25"/>
                      <a:gd name="T5" fmla="*/ 1 h 10"/>
                      <a:gd name="T6" fmla="*/ 7 w 25"/>
                      <a:gd name="T7" fmla="*/ 0 h 10"/>
                      <a:gd name="T8" fmla="*/ 3 w 25"/>
                      <a:gd name="T9" fmla="*/ 0 h 10"/>
                      <a:gd name="T10" fmla="*/ 3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3 w 25"/>
                      <a:gd name="T23" fmla="*/ 9 h 10"/>
                      <a:gd name="T24" fmla="*/ 7 w 25"/>
                      <a:gd name="T25" fmla="*/ 10 h 10"/>
                      <a:gd name="T26" fmla="*/ 12 w 25"/>
                      <a:gd name="T27" fmla="*/ 10 h 10"/>
                      <a:gd name="T28" fmla="*/ 18 w 25"/>
                      <a:gd name="T29" fmla="*/ 10 h 10"/>
                      <a:gd name="T30" fmla="*/ 22 w 25"/>
                      <a:gd name="T31" fmla="*/ 9 h 10"/>
                      <a:gd name="T32" fmla="*/ 25 w 25"/>
                      <a:gd name="T33" fmla="*/ 9 h 10"/>
                      <a:gd name="T34" fmla="*/ 25 w 25"/>
                      <a:gd name="T35" fmla="*/ 7 h 10"/>
                      <a:gd name="T36" fmla="*/ 25 w 25"/>
                      <a:gd name="T37" fmla="*/ 6 h 10"/>
                      <a:gd name="T38" fmla="*/ 23 w 25"/>
                      <a:gd name="T39" fmla="*/ 6 h 10"/>
                      <a:gd name="T40" fmla="*/ 20 w 25"/>
                      <a:gd name="T41" fmla="*/ 6 h 10"/>
                      <a:gd name="T42" fmla="*/ 20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7" y="0"/>
                        </a:lnTo>
                        <a:lnTo>
                          <a:pt x="3" y="0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3" y="9"/>
                        </a:lnTo>
                        <a:lnTo>
                          <a:pt x="7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2" y="9"/>
                        </a:lnTo>
                        <a:lnTo>
                          <a:pt x="25" y="9"/>
                        </a:lnTo>
                        <a:lnTo>
                          <a:pt x="25" y="7"/>
                        </a:lnTo>
                        <a:lnTo>
                          <a:pt x="25" y="6"/>
                        </a:lnTo>
                        <a:lnTo>
                          <a:pt x="23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25" name="Freeform 442"/>
                  <p:cNvSpPr>
                    <a:spLocks/>
                  </p:cNvSpPr>
                  <p:nvPr/>
                </p:nvSpPr>
                <p:spPr bwMode="auto">
                  <a:xfrm>
                    <a:off x="3766" y="2542"/>
                    <a:ext cx="25" cy="7"/>
                  </a:xfrm>
                  <a:custGeom>
                    <a:avLst/>
                    <a:gdLst>
                      <a:gd name="T0" fmla="*/ 25 w 25"/>
                      <a:gd name="T1" fmla="*/ 5 h 7"/>
                      <a:gd name="T2" fmla="*/ 22 w 25"/>
                      <a:gd name="T3" fmla="*/ 6 h 7"/>
                      <a:gd name="T4" fmla="*/ 20 w 25"/>
                      <a:gd name="T5" fmla="*/ 6 h 7"/>
                      <a:gd name="T6" fmla="*/ 16 w 25"/>
                      <a:gd name="T7" fmla="*/ 7 h 7"/>
                      <a:gd name="T8" fmla="*/ 7 w 25"/>
                      <a:gd name="T9" fmla="*/ 7 h 7"/>
                      <a:gd name="T10" fmla="*/ 3 w 25"/>
                      <a:gd name="T11" fmla="*/ 6 h 7"/>
                      <a:gd name="T12" fmla="*/ 3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3 w 25"/>
                      <a:gd name="T25" fmla="*/ 2 h 7"/>
                      <a:gd name="T26" fmla="*/ 7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2 w 25"/>
                      <a:gd name="T33" fmla="*/ 2 h 7"/>
                      <a:gd name="T34" fmla="*/ 25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5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5" y="5"/>
                        </a:move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6" y="7"/>
                        </a:lnTo>
                        <a:lnTo>
                          <a:pt x="7" y="7"/>
                        </a:lnTo>
                        <a:lnTo>
                          <a:pt x="3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3" y="2"/>
                        </a:lnTo>
                        <a:lnTo>
                          <a:pt x="7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2" y="2"/>
                        </a:lnTo>
                        <a:lnTo>
                          <a:pt x="25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26" name="Freeform 443"/>
                  <p:cNvSpPr>
                    <a:spLocks/>
                  </p:cNvSpPr>
                  <p:nvPr/>
                </p:nvSpPr>
                <p:spPr bwMode="auto">
                  <a:xfrm>
                    <a:off x="3766" y="2542"/>
                    <a:ext cx="25" cy="7"/>
                  </a:xfrm>
                  <a:custGeom>
                    <a:avLst/>
                    <a:gdLst>
                      <a:gd name="T0" fmla="*/ 25 w 25"/>
                      <a:gd name="T1" fmla="*/ 5 h 7"/>
                      <a:gd name="T2" fmla="*/ 22 w 25"/>
                      <a:gd name="T3" fmla="*/ 6 h 7"/>
                      <a:gd name="T4" fmla="*/ 20 w 25"/>
                      <a:gd name="T5" fmla="*/ 6 h 7"/>
                      <a:gd name="T6" fmla="*/ 16 w 25"/>
                      <a:gd name="T7" fmla="*/ 7 h 7"/>
                      <a:gd name="T8" fmla="*/ 7 w 25"/>
                      <a:gd name="T9" fmla="*/ 7 h 7"/>
                      <a:gd name="T10" fmla="*/ 3 w 25"/>
                      <a:gd name="T11" fmla="*/ 6 h 7"/>
                      <a:gd name="T12" fmla="*/ 3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3 w 25"/>
                      <a:gd name="T25" fmla="*/ 2 h 7"/>
                      <a:gd name="T26" fmla="*/ 7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2 w 25"/>
                      <a:gd name="T33" fmla="*/ 2 h 7"/>
                      <a:gd name="T34" fmla="*/ 25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5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5" y="5"/>
                        </a:move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6" y="7"/>
                        </a:lnTo>
                        <a:lnTo>
                          <a:pt x="7" y="7"/>
                        </a:lnTo>
                        <a:lnTo>
                          <a:pt x="3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3" y="2"/>
                        </a:lnTo>
                        <a:lnTo>
                          <a:pt x="7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2" y="2"/>
                        </a:lnTo>
                        <a:lnTo>
                          <a:pt x="25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27" name="Freeform 444"/>
                  <p:cNvSpPr>
                    <a:spLocks/>
                  </p:cNvSpPr>
                  <p:nvPr/>
                </p:nvSpPr>
                <p:spPr bwMode="auto">
                  <a:xfrm>
                    <a:off x="3765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0 w 27"/>
                      <a:gd name="T7" fmla="*/ 127 h 128"/>
                      <a:gd name="T8" fmla="*/ 17 w 27"/>
                      <a:gd name="T9" fmla="*/ 127 h 128"/>
                      <a:gd name="T10" fmla="*/ 14 w 27"/>
                      <a:gd name="T11" fmla="*/ 128 h 128"/>
                      <a:gd name="T12" fmla="*/ 12 w 27"/>
                      <a:gd name="T13" fmla="*/ 128 h 128"/>
                      <a:gd name="T14" fmla="*/ 9 w 27"/>
                      <a:gd name="T15" fmla="*/ 127 h 128"/>
                      <a:gd name="T16" fmla="*/ 5 w 27"/>
                      <a:gd name="T17" fmla="*/ 127 h 128"/>
                      <a:gd name="T18" fmla="*/ 2 w 27"/>
                      <a:gd name="T19" fmla="*/ 126 h 128"/>
                      <a:gd name="T20" fmla="*/ 0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4 w 27"/>
                      <a:gd name="T31" fmla="*/ 0 h 128"/>
                      <a:gd name="T32" fmla="*/ 8 w 27"/>
                      <a:gd name="T33" fmla="*/ 1 h 128"/>
                      <a:gd name="T34" fmla="*/ 17 w 27"/>
                      <a:gd name="T35" fmla="*/ 1 h 128"/>
                      <a:gd name="T36" fmla="*/ 21 w 27"/>
                      <a:gd name="T37" fmla="*/ 0 h 128"/>
                      <a:gd name="T38" fmla="*/ 24 w 27"/>
                      <a:gd name="T39" fmla="*/ 124 h 128"/>
                      <a:gd name="T40" fmla="*/ 26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0" y="127"/>
                        </a:lnTo>
                        <a:lnTo>
                          <a:pt x="17" y="127"/>
                        </a:lnTo>
                        <a:lnTo>
                          <a:pt x="14" y="128"/>
                        </a:lnTo>
                        <a:lnTo>
                          <a:pt x="12" y="128"/>
                        </a:lnTo>
                        <a:lnTo>
                          <a:pt x="9" y="127"/>
                        </a:lnTo>
                        <a:lnTo>
                          <a:pt x="5" y="127"/>
                        </a:lnTo>
                        <a:lnTo>
                          <a:pt x="2" y="126"/>
                        </a:lnTo>
                        <a:lnTo>
                          <a:pt x="0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4" y="0"/>
                        </a:lnTo>
                        <a:lnTo>
                          <a:pt x="8" y="1"/>
                        </a:lnTo>
                        <a:lnTo>
                          <a:pt x="17" y="1"/>
                        </a:lnTo>
                        <a:lnTo>
                          <a:pt x="21" y="0"/>
                        </a:lnTo>
                        <a:lnTo>
                          <a:pt x="24" y="124"/>
                        </a:lnTo>
                        <a:lnTo>
                          <a:pt x="26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28" name="Freeform 445"/>
                  <p:cNvSpPr>
                    <a:spLocks/>
                  </p:cNvSpPr>
                  <p:nvPr/>
                </p:nvSpPr>
                <p:spPr bwMode="auto">
                  <a:xfrm>
                    <a:off x="3765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0 w 27"/>
                      <a:gd name="T7" fmla="*/ 127 h 128"/>
                      <a:gd name="T8" fmla="*/ 17 w 27"/>
                      <a:gd name="T9" fmla="*/ 127 h 128"/>
                      <a:gd name="T10" fmla="*/ 14 w 27"/>
                      <a:gd name="T11" fmla="*/ 128 h 128"/>
                      <a:gd name="T12" fmla="*/ 12 w 27"/>
                      <a:gd name="T13" fmla="*/ 128 h 128"/>
                      <a:gd name="T14" fmla="*/ 9 w 27"/>
                      <a:gd name="T15" fmla="*/ 127 h 128"/>
                      <a:gd name="T16" fmla="*/ 5 w 27"/>
                      <a:gd name="T17" fmla="*/ 127 h 128"/>
                      <a:gd name="T18" fmla="*/ 2 w 27"/>
                      <a:gd name="T19" fmla="*/ 126 h 128"/>
                      <a:gd name="T20" fmla="*/ 0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4 w 27"/>
                      <a:gd name="T31" fmla="*/ 0 h 128"/>
                      <a:gd name="T32" fmla="*/ 8 w 27"/>
                      <a:gd name="T33" fmla="*/ 1 h 128"/>
                      <a:gd name="T34" fmla="*/ 17 w 27"/>
                      <a:gd name="T35" fmla="*/ 1 h 128"/>
                      <a:gd name="T36" fmla="*/ 21 w 27"/>
                      <a:gd name="T37" fmla="*/ 0 h 128"/>
                      <a:gd name="T38" fmla="*/ 24 w 27"/>
                      <a:gd name="T39" fmla="*/ 124 h 128"/>
                      <a:gd name="T40" fmla="*/ 26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0" y="127"/>
                        </a:lnTo>
                        <a:lnTo>
                          <a:pt x="17" y="127"/>
                        </a:lnTo>
                        <a:lnTo>
                          <a:pt x="14" y="128"/>
                        </a:lnTo>
                        <a:lnTo>
                          <a:pt x="12" y="128"/>
                        </a:lnTo>
                        <a:lnTo>
                          <a:pt x="9" y="127"/>
                        </a:lnTo>
                        <a:lnTo>
                          <a:pt x="5" y="127"/>
                        </a:lnTo>
                        <a:lnTo>
                          <a:pt x="2" y="126"/>
                        </a:lnTo>
                        <a:lnTo>
                          <a:pt x="0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4" y="0"/>
                        </a:lnTo>
                        <a:lnTo>
                          <a:pt x="8" y="1"/>
                        </a:lnTo>
                        <a:lnTo>
                          <a:pt x="17" y="1"/>
                        </a:lnTo>
                        <a:lnTo>
                          <a:pt x="21" y="0"/>
                        </a:lnTo>
                        <a:lnTo>
                          <a:pt x="24" y="124"/>
                        </a:lnTo>
                        <a:lnTo>
                          <a:pt x="26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29" name="Freeform 446"/>
                  <p:cNvSpPr>
                    <a:spLocks/>
                  </p:cNvSpPr>
                  <p:nvPr/>
                </p:nvSpPr>
                <p:spPr bwMode="auto">
                  <a:xfrm>
                    <a:off x="3765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0 w 27"/>
                      <a:gd name="T3" fmla="*/ 1 h 7"/>
                      <a:gd name="T4" fmla="*/ 2 w 27"/>
                      <a:gd name="T5" fmla="*/ 2 h 7"/>
                      <a:gd name="T6" fmla="*/ 5 w 27"/>
                      <a:gd name="T7" fmla="*/ 2 h 7"/>
                      <a:gd name="T8" fmla="*/ 9 w 27"/>
                      <a:gd name="T9" fmla="*/ 3 h 7"/>
                      <a:gd name="T10" fmla="*/ 12 w 27"/>
                      <a:gd name="T11" fmla="*/ 3 h 7"/>
                      <a:gd name="T12" fmla="*/ 14 w 27"/>
                      <a:gd name="T13" fmla="*/ 3 h 7"/>
                      <a:gd name="T14" fmla="*/ 17 w 27"/>
                      <a:gd name="T15" fmla="*/ 3 h 7"/>
                      <a:gd name="T16" fmla="*/ 20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4 w 27"/>
                      <a:gd name="T29" fmla="*/ 5 h 7"/>
                      <a:gd name="T30" fmla="*/ 20 w 27"/>
                      <a:gd name="T31" fmla="*/ 6 h 7"/>
                      <a:gd name="T32" fmla="*/ 17 w 27"/>
                      <a:gd name="T33" fmla="*/ 7 h 7"/>
                      <a:gd name="T34" fmla="*/ 14 w 27"/>
                      <a:gd name="T35" fmla="*/ 7 h 7"/>
                      <a:gd name="T36" fmla="*/ 12 w 27"/>
                      <a:gd name="T37" fmla="*/ 7 h 7"/>
                      <a:gd name="T38" fmla="*/ 9 w 27"/>
                      <a:gd name="T39" fmla="*/ 7 h 7"/>
                      <a:gd name="T40" fmla="*/ 5 w 27"/>
                      <a:gd name="T41" fmla="*/ 6 h 7"/>
                      <a:gd name="T42" fmla="*/ 2 w 27"/>
                      <a:gd name="T43" fmla="*/ 5 h 7"/>
                      <a:gd name="T44" fmla="*/ 0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2" y="2"/>
                        </a:lnTo>
                        <a:lnTo>
                          <a:pt x="5" y="2"/>
                        </a:lnTo>
                        <a:lnTo>
                          <a:pt x="9" y="3"/>
                        </a:lnTo>
                        <a:lnTo>
                          <a:pt x="12" y="3"/>
                        </a:lnTo>
                        <a:lnTo>
                          <a:pt x="14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4" y="5"/>
                        </a:lnTo>
                        <a:lnTo>
                          <a:pt x="20" y="6"/>
                        </a:lnTo>
                        <a:lnTo>
                          <a:pt x="17" y="7"/>
                        </a:lnTo>
                        <a:lnTo>
                          <a:pt x="14" y="7"/>
                        </a:lnTo>
                        <a:lnTo>
                          <a:pt x="12" y="7"/>
                        </a:lnTo>
                        <a:lnTo>
                          <a:pt x="9" y="7"/>
                        </a:lnTo>
                        <a:lnTo>
                          <a:pt x="5" y="6"/>
                        </a:lnTo>
                        <a:lnTo>
                          <a:pt x="2" y="5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30" name="Freeform 447"/>
                  <p:cNvSpPr>
                    <a:spLocks/>
                  </p:cNvSpPr>
                  <p:nvPr/>
                </p:nvSpPr>
                <p:spPr bwMode="auto">
                  <a:xfrm>
                    <a:off x="3765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0 w 27"/>
                      <a:gd name="T3" fmla="*/ 1 h 7"/>
                      <a:gd name="T4" fmla="*/ 2 w 27"/>
                      <a:gd name="T5" fmla="*/ 2 h 7"/>
                      <a:gd name="T6" fmla="*/ 5 w 27"/>
                      <a:gd name="T7" fmla="*/ 2 h 7"/>
                      <a:gd name="T8" fmla="*/ 9 w 27"/>
                      <a:gd name="T9" fmla="*/ 3 h 7"/>
                      <a:gd name="T10" fmla="*/ 12 w 27"/>
                      <a:gd name="T11" fmla="*/ 3 h 7"/>
                      <a:gd name="T12" fmla="*/ 14 w 27"/>
                      <a:gd name="T13" fmla="*/ 3 h 7"/>
                      <a:gd name="T14" fmla="*/ 17 w 27"/>
                      <a:gd name="T15" fmla="*/ 3 h 7"/>
                      <a:gd name="T16" fmla="*/ 20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4 w 27"/>
                      <a:gd name="T29" fmla="*/ 5 h 7"/>
                      <a:gd name="T30" fmla="*/ 20 w 27"/>
                      <a:gd name="T31" fmla="*/ 6 h 7"/>
                      <a:gd name="T32" fmla="*/ 17 w 27"/>
                      <a:gd name="T33" fmla="*/ 7 h 7"/>
                      <a:gd name="T34" fmla="*/ 14 w 27"/>
                      <a:gd name="T35" fmla="*/ 7 h 7"/>
                      <a:gd name="T36" fmla="*/ 12 w 27"/>
                      <a:gd name="T37" fmla="*/ 7 h 7"/>
                      <a:gd name="T38" fmla="*/ 9 w 27"/>
                      <a:gd name="T39" fmla="*/ 7 h 7"/>
                      <a:gd name="T40" fmla="*/ 5 w 27"/>
                      <a:gd name="T41" fmla="*/ 6 h 7"/>
                      <a:gd name="T42" fmla="*/ 2 w 27"/>
                      <a:gd name="T43" fmla="*/ 5 h 7"/>
                      <a:gd name="T44" fmla="*/ 0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2" y="2"/>
                        </a:lnTo>
                        <a:lnTo>
                          <a:pt x="5" y="2"/>
                        </a:lnTo>
                        <a:lnTo>
                          <a:pt x="9" y="3"/>
                        </a:lnTo>
                        <a:lnTo>
                          <a:pt x="12" y="3"/>
                        </a:lnTo>
                        <a:lnTo>
                          <a:pt x="14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4" y="5"/>
                        </a:lnTo>
                        <a:lnTo>
                          <a:pt x="20" y="6"/>
                        </a:lnTo>
                        <a:lnTo>
                          <a:pt x="17" y="7"/>
                        </a:lnTo>
                        <a:lnTo>
                          <a:pt x="14" y="7"/>
                        </a:lnTo>
                        <a:lnTo>
                          <a:pt x="12" y="7"/>
                        </a:lnTo>
                        <a:lnTo>
                          <a:pt x="9" y="7"/>
                        </a:lnTo>
                        <a:lnTo>
                          <a:pt x="5" y="6"/>
                        </a:lnTo>
                        <a:lnTo>
                          <a:pt x="2" y="5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31" name="Freeform 448"/>
                  <p:cNvSpPr>
                    <a:spLocks/>
                  </p:cNvSpPr>
                  <p:nvPr/>
                </p:nvSpPr>
                <p:spPr bwMode="auto">
                  <a:xfrm>
                    <a:off x="3809" y="2523"/>
                    <a:ext cx="30" cy="9"/>
                  </a:xfrm>
                  <a:custGeom>
                    <a:avLst/>
                    <a:gdLst>
                      <a:gd name="T0" fmla="*/ 0 w 30"/>
                      <a:gd name="T1" fmla="*/ 6 h 9"/>
                      <a:gd name="T2" fmla="*/ 0 w 30"/>
                      <a:gd name="T3" fmla="*/ 9 h 9"/>
                      <a:gd name="T4" fmla="*/ 24 w 30"/>
                      <a:gd name="T5" fmla="*/ 9 h 9"/>
                      <a:gd name="T6" fmla="*/ 30 w 30"/>
                      <a:gd name="T7" fmla="*/ 4 h 9"/>
                      <a:gd name="T8" fmla="*/ 30 w 30"/>
                      <a:gd name="T9" fmla="*/ 0 h 9"/>
                      <a:gd name="T10" fmla="*/ 23 w 30"/>
                      <a:gd name="T11" fmla="*/ 6 h 9"/>
                      <a:gd name="T12" fmla="*/ 0 w 30"/>
                      <a:gd name="T13" fmla="*/ 6 h 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0"/>
                      <a:gd name="T22" fmla="*/ 0 h 9"/>
                      <a:gd name="T23" fmla="*/ 30 w 30"/>
                      <a:gd name="T24" fmla="*/ 9 h 9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0" h="9">
                        <a:moveTo>
                          <a:pt x="0" y="6"/>
                        </a:moveTo>
                        <a:lnTo>
                          <a:pt x="0" y="9"/>
                        </a:lnTo>
                        <a:lnTo>
                          <a:pt x="24" y="9"/>
                        </a:lnTo>
                        <a:lnTo>
                          <a:pt x="30" y="4"/>
                        </a:lnTo>
                        <a:lnTo>
                          <a:pt x="30" y="0"/>
                        </a:lnTo>
                        <a:lnTo>
                          <a:pt x="23" y="6"/>
                        </a:lnTo>
                        <a:lnTo>
                          <a:pt x="0" y="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32" name="Freeform 449"/>
                  <p:cNvSpPr>
                    <a:spLocks/>
                  </p:cNvSpPr>
                  <p:nvPr/>
                </p:nvSpPr>
                <p:spPr bwMode="auto">
                  <a:xfrm>
                    <a:off x="3809" y="2523"/>
                    <a:ext cx="30" cy="9"/>
                  </a:xfrm>
                  <a:custGeom>
                    <a:avLst/>
                    <a:gdLst>
                      <a:gd name="T0" fmla="*/ 0 w 30"/>
                      <a:gd name="T1" fmla="*/ 6 h 9"/>
                      <a:gd name="T2" fmla="*/ 0 w 30"/>
                      <a:gd name="T3" fmla="*/ 9 h 9"/>
                      <a:gd name="T4" fmla="*/ 24 w 30"/>
                      <a:gd name="T5" fmla="*/ 9 h 9"/>
                      <a:gd name="T6" fmla="*/ 30 w 30"/>
                      <a:gd name="T7" fmla="*/ 4 h 9"/>
                      <a:gd name="T8" fmla="*/ 30 w 30"/>
                      <a:gd name="T9" fmla="*/ 0 h 9"/>
                      <a:gd name="T10" fmla="*/ 23 w 30"/>
                      <a:gd name="T11" fmla="*/ 6 h 9"/>
                      <a:gd name="T12" fmla="*/ 0 w 30"/>
                      <a:gd name="T13" fmla="*/ 6 h 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0"/>
                      <a:gd name="T22" fmla="*/ 0 h 9"/>
                      <a:gd name="T23" fmla="*/ 30 w 30"/>
                      <a:gd name="T24" fmla="*/ 9 h 9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0" h="9">
                        <a:moveTo>
                          <a:pt x="0" y="6"/>
                        </a:moveTo>
                        <a:lnTo>
                          <a:pt x="0" y="9"/>
                        </a:lnTo>
                        <a:lnTo>
                          <a:pt x="24" y="9"/>
                        </a:lnTo>
                        <a:lnTo>
                          <a:pt x="30" y="4"/>
                        </a:lnTo>
                        <a:lnTo>
                          <a:pt x="30" y="0"/>
                        </a:lnTo>
                        <a:lnTo>
                          <a:pt x="23" y="6"/>
                        </a:lnTo>
                        <a:lnTo>
                          <a:pt x="0" y="6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33" name="Freeform 450"/>
                  <p:cNvSpPr>
                    <a:spLocks/>
                  </p:cNvSpPr>
                  <p:nvPr/>
                </p:nvSpPr>
                <p:spPr bwMode="auto">
                  <a:xfrm>
                    <a:off x="3810" y="2532"/>
                    <a:ext cx="22" cy="3"/>
                  </a:xfrm>
                  <a:custGeom>
                    <a:avLst/>
                    <a:gdLst>
                      <a:gd name="T0" fmla="*/ 0 w 22"/>
                      <a:gd name="T1" fmla="*/ 0 h 3"/>
                      <a:gd name="T2" fmla="*/ 0 w 22"/>
                      <a:gd name="T3" fmla="*/ 1 h 3"/>
                      <a:gd name="T4" fmla="*/ 1 w 22"/>
                      <a:gd name="T5" fmla="*/ 2 h 3"/>
                      <a:gd name="T6" fmla="*/ 1 w 22"/>
                      <a:gd name="T7" fmla="*/ 2 h 3"/>
                      <a:gd name="T8" fmla="*/ 3 w 22"/>
                      <a:gd name="T9" fmla="*/ 2 h 3"/>
                      <a:gd name="T10" fmla="*/ 5 w 22"/>
                      <a:gd name="T11" fmla="*/ 3 h 3"/>
                      <a:gd name="T12" fmla="*/ 11 w 22"/>
                      <a:gd name="T13" fmla="*/ 3 h 3"/>
                      <a:gd name="T14" fmla="*/ 17 w 22"/>
                      <a:gd name="T15" fmla="*/ 3 h 3"/>
                      <a:gd name="T16" fmla="*/ 19 w 22"/>
                      <a:gd name="T17" fmla="*/ 2 h 3"/>
                      <a:gd name="T18" fmla="*/ 21 w 22"/>
                      <a:gd name="T19" fmla="*/ 2 h 3"/>
                      <a:gd name="T20" fmla="*/ 22 w 22"/>
                      <a:gd name="T21" fmla="*/ 1 h 3"/>
                      <a:gd name="T22" fmla="*/ 22 w 22"/>
                      <a:gd name="T23" fmla="*/ 0 h 3"/>
                      <a:gd name="T24" fmla="*/ 0 w 22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2"/>
                      <a:gd name="T40" fmla="*/ 0 h 3"/>
                      <a:gd name="T41" fmla="*/ 22 w 22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2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19" y="2"/>
                        </a:lnTo>
                        <a:lnTo>
                          <a:pt x="21" y="2"/>
                        </a:lnTo>
                        <a:lnTo>
                          <a:pt x="22" y="1"/>
                        </a:lnTo>
                        <a:lnTo>
                          <a:pt x="2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34" name="Freeform 451"/>
                  <p:cNvSpPr>
                    <a:spLocks/>
                  </p:cNvSpPr>
                  <p:nvPr/>
                </p:nvSpPr>
                <p:spPr bwMode="auto">
                  <a:xfrm>
                    <a:off x="3810" y="2532"/>
                    <a:ext cx="22" cy="3"/>
                  </a:xfrm>
                  <a:custGeom>
                    <a:avLst/>
                    <a:gdLst>
                      <a:gd name="T0" fmla="*/ 0 w 22"/>
                      <a:gd name="T1" fmla="*/ 0 h 3"/>
                      <a:gd name="T2" fmla="*/ 0 w 22"/>
                      <a:gd name="T3" fmla="*/ 1 h 3"/>
                      <a:gd name="T4" fmla="*/ 1 w 22"/>
                      <a:gd name="T5" fmla="*/ 2 h 3"/>
                      <a:gd name="T6" fmla="*/ 1 w 22"/>
                      <a:gd name="T7" fmla="*/ 2 h 3"/>
                      <a:gd name="T8" fmla="*/ 3 w 22"/>
                      <a:gd name="T9" fmla="*/ 2 h 3"/>
                      <a:gd name="T10" fmla="*/ 5 w 22"/>
                      <a:gd name="T11" fmla="*/ 3 h 3"/>
                      <a:gd name="T12" fmla="*/ 11 w 22"/>
                      <a:gd name="T13" fmla="*/ 3 h 3"/>
                      <a:gd name="T14" fmla="*/ 17 w 22"/>
                      <a:gd name="T15" fmla="*/ 3 h 3"/>
                      <a:gd name="T16" fmla="*/ 19 w 22"/>
                      <a:gd name="T17" fmla="*/ 2 h 3"/>
                      <a:gd name="T18" fmla="*/ 21 w 22"/>
                      <a:gd name="T19" fmla="*/ 2 h 3"/>
                      <a:gd name="T20" fmla="*/ 22 w 22"/>
                      <a:gd name="T21" fmla="*/ 1 h 3"/>
                      <a:gd name="T22" fmla="*/ 22 w 22"/>
                      <a:gd name="T23" fmla="*/ 0 h 3"/>
                      <a:gd name="T24" fmla="*/ 0 w 22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2"/>
                      <a:gd name="T40" fmla="*/ 0 h 3"/>
                      <a:gd name="T41" fmla="*/ 22 w 22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2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19" y="2"/>
                        </a:lnTo>
                        <a:lnTo>
                          <a:pt x="21" y="2"/>
                        </a:lnTo>
                        <a:lnTo>
                          <a:pt x="22" y="1"/>
                        </a:lnTo>
                        <a:lnTo>
                          <a:pt x="22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35" name="Freeform 452"/>
                  <p:cNvSpPr>
                    <a:spLocks/>
                  </p:cNvSpPr>
                  <p:nvPr/>
                </p:nvSpPr>
                <p:spPr bwMode="auto">
                  <a:xfrm>
                    <a:off x="3809" y="2535"/>
                    <a:ext cx="24" cy="10"/>
                  </a:xfrm>
                  <a:custGeom>
                    <a:avLst/>
                    <a:gdLst>
                      <a:gd name="T0" fmla="*/ 21 w 24"/>
                      <a:gd name="T1" fmla="*/ 0 h 10"/>
                      <a:gd name="T2" fmla="*/ 18 w 24"/>
                      <a:gd name="T3" fmla="*/ 0 h 10"/>
                      <a:gd name="T4" fmla="*/ 12 w 24"/>
                      <a:gd name="T5" fmla="*/ 1 h 10"/>
                      <a:gd name="T6" fmla="*/ 6 w 24"/>
                      <a:gd name="T7" fmla="*/ 0 h 10"/>
                      <a:gd name="T8" fmla="*/ 4 w 24"/>
                      <a:gd name="T9" fmla="*/ 0 h 10"/>
                      <a:gd name="T10" fmla="*/ 4 w 24"/>
                      <a:gd name="T11" fmla="*/ 6 h 10"/>
                      <a:gd name="T12" fmla="*/ 2 w 24"/>
                      <a:gd name="T13" fmla="*/ 6 h 10"/>
                      <a:gd name="T14" fmla="*/ 0 w 24"/>
                      <a:gd name="T15" fmla="*/ 6 h 10"/>
                      <a:gd name="T16" fmla="*/ 0 w 24"/>
                      <a:gd name="T17" fmla="*/ 7 h 10"/>
                      <a:gd name="T18" fmla="*/ 0 w 24"/>
                      <a:gd name="T19" fmla="*/ 7 h 10"/>
                      <a:gd name="T20" fmla="*/ 0 w 24"/>
                      <a:gd name="T21" fmla="*/ 9 h 10"/>
                      <a:gd name="T22" fmla="*/ 3 w 24"/>
                      <a:gd name="T23" fmla="*/ 9 h 10"/>
                      <a:gd name="T24" fmla="*/ 6 w 24"/>
                      <a:gd name="T25" fmla="*/ 10 h 10"/>
                      <a:gd name="T26" fmla="*/ 12 w 24"/>
                      <a:gd name="T27" fmla="*/ 10 h 10"/>
                      <a:gd name="T28" fmla="*/ 18 w 24"/>
                      <a:gd name="T29" fmla="*/ 10 h 10"/>
                      <a:gd name="T30" fmla="*/ 22 w 24"/>
                      <a:gd name="T31" fmla="*/ 9 h 10"/>
                      <a:gd name="T32" fmla="*/ 24 w 24"/>
                      <a:gd name="T33" fmla="*/ 9 h 10"/>
                      <a:gd name="T34" fmla="*/ 24 w 24"/>
                      <a:gd name="T35" fmla="*/ 7 h 10"/>
                      <a:gd name="T36" fmla="*/ 24 w 24"/>
                      <a:gd name="T37" fmla="*/ 6 h 10"/>
                      <a:gd name="T38" fmla="*/ 22 w 24"/>
                      <a:gd name="T39" fmla="*/ 6 h 10"/>
                      <a:gd name="T40" fmla="*/ 21 w 24"/>
                      <a:gd name="T41" fmla="*/ 6 h 10"/>
                      <a:gd name="T42" fmla="*/ 21 w 24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4"/>
                      <a:gd name="T67" fmla="*/ 0 h 10"/>
                      <a:gd name="T68" fmla="*/ 24 w 24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4" h="10">
                        <a:moveTo>
                          <a:pt x="21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2" y="9"/>
                        </a:lnTo>
                        <a:lnTo>
                          <a:pt x="24" y="9"/>
                        </a:lnTo>
                        <a:lnTo>
                          <a:pt x="24" y="7"/>
                        </a:lnTo>
                        <a:lnTo>
                          <a:pt x="24" y="6"/>
                        </a:ln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36" name="Freeform 453"/>
                  <p:cNvSpPr>
                    <a:spLocks/>
                  </p:cNvSpPr>
                  <p:nvPr/>
                </p:nvSpPr>
                <p:spPr bwMode="auto">
                  <a:xfrm>
                    <a:off x="3809" y="2535"/>
                    <a:ext cx="24" cy="10"/>
                  </a:xfrm>
                  <a:custGeom>
                    <a:avLst/>
                    <a:gdLst>
                      <a:gd name="T0" fmla="*/ 21 w 24"/>
                      <a:gd name="T1" fmla="*/ 0 h 10"/>
                      <a:gd name="T2" fmla="*/ 18 w 24"/>
                      <a:gd name="T3" fmla="*/ 0 h 10"/>
                      <a:gd name="T4" fmla="*/ 12 w 24"/>
                      <a:gd name="T5" fmla="*/ 1 h 10"/>
                      <a:gd name="T6" fmla="*/ 6 w 24"/>
                      <a:gd name="T7" fmla="*/ 0 h 10"/>
                      <a:gd name="T8" fmla="*/ 4 w 24"/>
                      <a:gd name="T9" fmla="*/ 0 h 10"/>
                      <a:gd name="T10" fmla="*/ 4 w 24"/>
                      <a:gd name="T11" fmla="*/ 6 h 10"/>
                      <a:gd name="T12" fmla="*/ 2 w 24"/>
                      <a:gd name="T13" fmla="*/ 6 h 10"/>
                      <a:gd name="T14" fmla="*/ 0 w 24"/>
                      <a:gd name="T15" fmla="*/ 6 h 10"/>
                      <a:gd name="T16" fmla="*/ 0 w 24"/>
                      <a:gd name="T17" fmla="*/ 7 h 10"/>
                      <a:gd name="T18" fmla="*/ 0 w 24"/>
                      <a:gd name="T19" fmla="*/ 7 h 10"/>
                      <a:gd name="T20" fmla="*/ 0 w 24"/>
                      <a:gd name="T21" fmla="*/ 9 h 10"/>
                      <a:gd name="T22" fmla="*/ 3 w 24"/>
                      <a:gd name="T23" fmla="*/ 9 h 10"/>
                      <a:gd name="T24" fmla="*/ 6 w 24"/>
                      <a:gd name="T25" fmla="*/ 10 h 10"/>
                      <a:gd name="T26" fmla="*/ 12 w 24"/>
                      <a:gd name="T27" fmla="*/ 10 h 10"/>
                      <a:gd name="T28" fmla="*/ 18 w 24"/>
                      <a:gd name="T29" fmla="*/ 10 h 10"/>
                      <a:gd name="T30" fmla="*/ 22 w 24"/>
                      <a:gd name="T31" fmla="*/ 9 h 10"/>
                      <a:gd name="T32" fmla="*/ 24 w 24"/>
                      <a:gd name="T33" fmla="*/ 9 h 10"/>
                      <a:gd name="T34" fmla="*/ 24 w 24"/>
                      <a:gd name="T35" fmla="*/ 7 h 10"/>
                      <a:gd name="T36" fmla="*/ 24 w 24"/>
                      <a:gd name="T37" fmla="*/ 6 h 10"/>
                      <a:gd name="T38" fmla="*/ 22 w 24"/>
                      <a:gd name="T39" fmla="*/ 6 h 10"/>
                      <a:gd name="T40" fmla="*/ 21 w 24"/>
                      <a:gd name="T41" fmla="*/ 6 h 10"/>
                      <a:gd name="T42" fmla="*/ 21 w 24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4"/>
                      <a:gd name="T67" fmla="*/ 0 h 10"/>
                      <a:gd name="T68" fmla="*/ 24 w 24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4" h="10">
                        <a:moveTo>
                          <a:pt x="21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2" y="9"/>
                        </a:lnTo>
                        <a:lnTo>
                          <a:pt x="24" y="9"/>
                        </a:lnTo>
                        <a:lnTo>
                          <a:pt x="24" y="7"/>
                        </a:lnTo>
                        <a:lnTo>
                          <a:pt x="24" y="6"/>
                        </a:ln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37" name="Freeform 454"/>
                  <p:cNvSpPr>
                    <a:spLocks/>
                  </p:cNvSpPr>
                  <p:nvPr/>
                </p:nvSpPr>
                <p:spPr bwMode="auto">
                  <a:xfrm>
                    <a:off x="3809" y="2542"/>
                    <a:ext cx="24" cy="7"/>
                  </a:xfrm>
                  <a:custGeom>
                    <a:avLst/>
                    <a:gdLst>
                      <a:gd name="T0" fmla="*/ 24 w 24"/>
                      <a:gd name="T1" fmla="*/ 5 h 7"/>
                      <a:gd name="T2" fmla="*/ 22 w 24"/>
                      <a:gd name="T3" fmla="*/ 6 h 7"/>
                      <a:gd name="T4" fmla="*/ 21 w 24"/>
                      <a:gd name="T5" fmla="*/ 6 h 7"/>
                      <a:gd name="T6" fmla="*/ 17 w 24"/>
                      <a:gd name="T7" fmla="*/ 7 h 7"/>
                      <a:gd name="T8" fmla="*/ 6 w 24"/>
                      <a:gd name="T9" fmla="*/ 7 h 7"/>
                      <a:gd name="T10" fmla="*/ 4 w 24"/>
                      <a:gd name="T11" fmla="*/ 6 h 7"/>
                      <a:gd name="T12" fmla="*/ 3 w 24"/>
                      <a:gd name="T13" fmla="*/ 6 h 7"/>
                      <a:gd name="T14" fmla="*/ 0 w 24"/>
                      <a:gd name="T15" fmla="*/ 5 h 7"/>
                      <a:gd name="T16" fmla="*/ 0 w 24"/>
                      <a:gd name="T17" fmla="*/ 5 h 7"/>
                      <a:gd name="T18" fmla="*/ 0 w 24"/>
                      <a:gd name="T19" fmla="*/ 0 h 7"/>
                      <a:gd name="T20" fmla="*/ 0 w 24"/>
                      <a:gd name="T21" fmla="*/ 2 h 7"/>
                      <a:gd name="T22" fmla="*/ 3 w 24"/>
                      <a:gd name="T23" fmla="*/ 2 h 7"/>
                      <a:gd name="T24" fmla="*/ 6 w 24"/>
                      <a:gd name="T25" fmla="*/ 3 h 7"/>
                      <a:gd name="T26" fmla="*/ 12 w 24"/>
                      <a:gd name="T27" fmla="*/ 3 h 7"/>
                      <a:gd name="T28" fmla="*/ 18 w 24"/>
                      <a:gd name="T29" fmla="*/ 3 h 7"/>
                      <a:gd name="T30" fmla="*/ 22 w 24"/>
                      <a:gd name="T31" fmla="*/ 2 h 7"/>
                      <a:gd name="T32" fmla="*/ 24 w 24"/>
                      <a:gd name="T33" fmla="*/ 2 h 7"/>
                      <a:gd name="T34" fmla="*/ 24 w 24"/>
                      <a:gd name="T35" fmla="*/ 0 h 7"/>
                      <a:gd name="T36" fmla="*/ 24 w 24"/>
                      <a:gd name="T37" fmla="*/ 5 h 7"/>
                      <a:gd name="T38" fmla="*/ 24 w 24"/>
                      <a:gd name="T39" fmla="*/ 5 h 7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24"/>
                      <a:gd name="T61" fmla="*/ 0 h 7"/>
                      <a:gd name="T62" fmla="*/ 24 w 24"/>
                      <a:gd name="T63" fmla="*/ 7 h 7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24" h="7">
                        <a:moveTo>
                          <a:pt x="24" y="5"/>
                        </a:move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2" y="2"/>
                        </a:lnTo>
                        <a:lnTo>
                          <a:pt x="24" y="2"/>
                        </a:lnTo>
                        <a:lnTo>
                          <a:pt x="24" y="0"/>
                        </a:lnTo>
                        <a:lnTo>
                          <a:pt x="24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38" name="Freeform 455"/>
                  <p:cNvSpPr>
                    <a:spLocks/>
                  </p:cNvSpPr>
                  <p:nvPr/>
                </p:nvSpPr>
                <p:spPr bwMode="auto">
                  <a:xfrm>
                    <a:off x="3809" y="2542"/>
                    <a:ext cx="24" cy="7"/>
                  </a:xfrm>
                  <a:custGeom>
                    <a:avLst/>
                    <a:gdLst>
                      <a:gd name="T0" fmla="*/ 24 w 24"/>
                      <a:gd name="T1" fmla="*/ 5 h 7"/>
                      <a:gd name="T2" fmla="*/ 22 w 24"/>
                      <a:gd name="T3" fmla="*/ 6 h 7"/>
                      <a:gd name="T4" fmla="*/ 21 w 24"/>
                      <a:gd name="T5" fmla="*/ 6 h 7"/>
                      <a:gd name="T6" fmla="*/ 17 w 24"/>
                      <a:gd name="T7" fmla="*/ 7 h 7"/>
                      <a:gd name="T8" fmla="*/ 6 w 24"/>
                      <a:gd name="T9" fmla="*/ 7 h 7"/>
                      <a:gd name="T10" fmla="*/ 4 w 24"/>
                      <a:gd name="T11" fmla="*/ 6 h 7"/>
                      <a:gd name="T12" fmla="*/ 3 w 24"/>
                      <a:gd name="T13" fmla="*/ 6 h 7"/>
                      <a:gd name="T14" fmla="*/ 0 w 24"/>
                      <a:gd name="T15" fmla="*/ 5 h 7"/>
                      <a:gd name="T16" fmla="*/ 0 w 24"/>
                      <a:gd name="T17" fmla="*/ 5 h 7"/>
                      <a:gd name="T18" fmla="*/ 0 w 24"/>
                      <a:gd name="T19" fmla="*/ 0 h 7"/>
                      <a:gd name="T20" fmla="*/ 0 w 24"/>
                      <a:gd name="T21" fmla="*/ 2 h 7"/>
                      <a:gd name="T22" fmla="*/ 3 w 24"/>
                      <a:gd name="T23" fmla="*/ 2 h 7"/>
                      <a:gd name="T24" fmla="*/ 6 w 24"/>
                      <a:gd name="T25" fmla="*/ 3 h 7"/>
                      <a:gd name="T26" fmla="*/ 12 w 24"/>
                      <a:gd name="T27" fmla="*/ 3 h 7"/>
                      <a:gd name="T28" fmla="*/ 18 w 24"/>
                      <a:gd name="T29" fmla="*/ 3 h 7"/>
                      <a:gd name="T30" fmla="*/ 22 w 24"/>
                      <a:gd name="T31" fmla="*/ 2 h 7"/>
                      <a:gd name="T32" fmla="*/ 24 w 24"/>
                      <a:gd name="T33" fmla="*/ 2 h 7"/>
                      <a:gd name="T34" fmla="*/ 24 w 24"/>
                      <a:gd name="T35" fmla="*/ 0 h 7"/>
                      <a:gd name="T36" fmla="*/ 24 w 24"/>
                      <a:gd name="T37" fmla="*/ 5 h 7"/>
                      <a:gd name="T38" fmla="*/ 24 w 24"/>
                      <a:gd name="T39" fmla="*/ 5 h 7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24"/>
                      <a:gd name="T61" fmla="*/ 0 h 7"/>
                      <a:gd name="T62" fmla="*/ 24 w 24"/>
                      <a:gd name="T63" fmla="*/ 7 h 7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24" h="7">
                        <a:moveTo>
                          <a:pt x="24" y="5"/>
                        </a:move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2" y="2"/>
                        </a:lnTo>
                        <a:lnTo>
                          <a:pt x="24" y="2"/>
                        </a:lnTo>
                        <a:lnTo>
                          <a:pt x="24" y="0"/>
                        </a:lnTo>
                        <a:lnTo>
                          <a:pt x="24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39" name="Freeform 456"/>
                  <p:cNvSpPr>
                    <a:spLocks/>
                  </p:cNvSpPr>
                  <p:nvPr/>
                </p:nvSpPr>
                <p:spPr bwMode="auto">
                  <a:xfrm>
                    <a:off x="3810" y="2548"/>
                    <a:ext cx="21" cy="107"/>
                  </a:xfrm>
                  <a:custGeom>
                    <a:avLst/>
                    <a:gdLst>
                      <a:gd name="T0" fmla="*/ 21 w 21"/>
                      <a:gd name="T1" fmla="*/ 104 h 107"/>
                      <a:gd name="T2" fmla="*/ 19 w 21"/>
                      <a:gd name="T3" fmla="*/ 0 h 107"/>
                      <a:gd name="T4" fmla="*/ 15 w 21"/>
                      <a:gd name="T5" fmla="*/ 1 h 107"/>
                      <a:gd name="T6" fmla="*/ 5 w 21"/>
                      <a:gd name="T7" fmla="*/ 1 h 107"/>
                      <a:gd name="T8" fmla="*/ 2 w 21"/>
                      <a:gd name="T9" fmla="*/ 0 h 107"/>
                      <a:gd name="T10" fmla="*/ 0 w 21"/>
                      <a:gd name="T11" fmla="*/ 102 h 107"/>
                      <a:gd name="T12" fmla="*/ 0 w 21"/>
                      <a:gd name="T13" fmla="*/ 106 h 107"/>
                      <a:gd name="T14" fmla="*/ 4 w 21"/>
                      <a:gd name="T15" fmla="*/ 107 h 107"/>
                      <a:gd name="T16" fmla="*/ 11 w 21"/>
                      <a:gd name="T17" fmla="*/ 107 h 107"/>
                      <a:gd name="T18" fmla="*/ 17 w 21"/>
                      <a:gd name="T19" fmla="*/ 107 h 107"/>
                      <a:gd name="T20" fmla="*/ 21 w 21"/>
                      <a:gd name="T21" fmla="*/ 106 h 107"/>
                      <a:gd name="T22" fmla="*/ 21 w 21"/>
                      <a:gd name="T23" fmla="*/ 104 h 107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1"/>
                      <a:gd name="T37" fmla="*/ 0 h 107"/>
                      <a:gd name="T38" fmla="*/ 21 w 21"/>
                      <a:gd name="T39" fmla="*/ 107 h 107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1" h="107">
                        <a:moveTo>
                          <a:pt x="21" y="104"/>
                        </a:moveTo>
                        <a:lnTo>
                          <a:pt x="19" y="0"/>
                        </a:lnTo>
                        <a:lnTo>
                          <a:pt x="15" y="1"/>
                        </a:lnTo>
                        <a:lnTo>
                          <a:pt x="5" y="1"/>
                        </a:lnTo>
                        <a:lnTo>
                          <a:pt x="2" y="0"/>
                        </a:lnTo>
                        <a:lnTo>
                          <a:pt x="0" y="102"/>
                        </a:lnTo>
                        <a:lnTo>
                          <a:pt x="0" y="106"/>
                        </a:lnTo>
                        <a:lnTo>
                          <a:pt x="4" y="107"/>
                        </a:lnTo>
                        <a:lnTo>
                          <a:pt x="11" y="107"/>
                        </a:lnTo>
                        <a:lnTo>
                          <a:pt x="17" y="107"/>
                        </a:lnTo>
                        <a:lnTo>
                          <a:pt x="21" y="106"/>
                        </a:lnTo>
                        <a:lnTo>
                          <a:pt x="21" y="10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40" name="Freeform 457"/>
                  <p:cNvSpPr>
                    <a:spLocks/>
                  </p:cNvSpPr>
                  <p:nvPr/>
                </p:nvSpPr>
                <p:spPr bwMode="auto">
                  <a:xfrm>
                    <a:off x="3810" y="2548"/>
                    <a:ext cx="21" cy="107"/>
                  </a:xfrm>
                  <a:custGeom>
                    <a:avLst/>
                    <a:gdLst>
                      <a:gd name="T0" fmla="*/ 21 w 21"/>
                      <a:gd name="T1" fmla="*/ 104 h 107"/>
                      <a:gd name="T2" fmla="*/ 19 w 21"/>
                      <a:gd name="T3" fmla="*/ 0 h 107"/>
                      <a:gd name="T4" fmla="*/ 15 w 21"/>
                      <a:gd name="T5" fmla="*/ 1 h 107"/>
                      <a:gd name="T6" fmla="*/ 5 w 21"/>
                      <a:gd name="T7" fmla="*/ 1 h 107"/>
                      <a:gd name="T8" fmla="*/ 2 w 21"/>
                      <a:gd name="T9" fmla="*/ 0 h 107"/>
                      <a:gd name="T10" fmla="*/ 0 w 21"/>
                      <a:gd name="T11" fmla="*/ 102 h 107"/>
                      <a:gd name="T12" fmla="*/ 0 w 21"/>
                      <a:gd name="T13" fmla="*/ 106 h 107"/>
                      <a:gd name="T14" fmla="*/ 4 w 21"/>
                      <a:gd name="T15" fmla="*/ 107 h 107"/>
                      <a:gd name="T16" fmla="*/ 11 w 21"/>
                      <a:gd name="T17" fmla="*/ 107 h 107"/>
                      <a:gd name="T18" fmla="*/ 17 w 21"/>
                      <a:gd name="T19" fmla="*/ 107 h 107"/>
                      <a:gd name="T20" fmla="*/ 21 w 21"/>
                      <a:gd name="T21" fmla="*/ 106 h 107"/>
                      <a:gd name="T22" fmla="*/ 21 w 21"/>
                      <a:gd name="T23" fmla="*/ 104 h 107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1"/>
                      <a:gd name="T37" fmla="*/ 0 h 107"/>
                      <a:gd name="T38" fmla="*/ 21 w 21"/>
                      <a:gd name="T39" fmla="*/ 107 h 107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1" h="107">
                        <a:moveTo>
                          <a:pt x="21" y="104"/>
                        </a:moveTo>
                        <a:lnTo>
                          <a:pt x="19" y="0"/>
                        </a:lnTo>
                        <a:lnTo>
                          <a:pt x="15" y="1"/>
                        </a:lnTo>
                        <a:lnTo>
                          <a:pt x="5" y="1"/>
                        </a:lnTo>
                        <a:lnTo>
                          <a:pt x="2" y="0"/>
                        </a:lnTo>
                        <a:lnTo>
                          <a:pt x="0" y="102"/>
                        </a:lnTo>
                        <a:lnTo>
                          <a:pt x="0" y="106"/>
                        </a:lnTo>
                        <a:lnTo>
                          <a:pt x="4" y="107"/>
                        </a:lnTo>
                        <a:lnTo>
                          <a:pt x="11" y="107"/>
                        </a:lnTo>
                        <a:lnTo>
                          <a:pt x="17" y="107"/>
                        </a:lnTo>
                        <a:lnTo>
                          <a:pt x="21" y="106"/>
                        </a:lnTo>
                        <a:lnTo>
                          <a:pt x="21" y="10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41" name="Freeform 458"/>
                  <p:cNvSpPr>
                    <a:spLocks/>
                  </p:cNvSpPr>
                  <p:nvPr/>
                </p:nvSpPr>
                <p:spPr bwMode="auto">
                  <a:xfrm>
                    <a:off x="3577" y="2652"/>
                    <a:ext cx="37" cy="31"/>
                  </a:xfrm>
                  <a:custGeom>
                    <a:avLst/>
                    <a:gdLst>
                      <a:gd name="T0" fmla="*/ 25 w 37"/>
                      <a:gd name="T1" fmla="*/ 2 h 31"/>
                      <a:gd name="T2" fmla="*/ 19 w 37"/>
                      <a:gd name="T3" fmla="*/ 3 h 31"/>
                      <a:gd name="T4" fmla="*/ 13 w 37"/>
                      <a:gd name="T5" fmla="*/ 3 h 31"/>
                      <a:gd name="T6" fmla="*/ 7 w 37"/>
                      <a:gd name="T7" fmla="*/ 3 h 31"/>
                      <a:gd name="T8" fmla="*/ 3 w 37"/>
                      <a:gd name="T9" fmla="*/ 2 h 31"/>
                      <a:gd name="T10" fmla="*/ 0 w 37"/>
                      <a:gd name="T11" fmla="*/ 6 h 31"/>
                      <a:gd name="T12" fmla="*/ 29 w 37"/>
                      <a:gd name="T13" fmla="*/ 6 h 31"/>
                      <a:gd name="T14" fmla="*/ 26 w 37"/>
                      <a:gd name="T15" fmla="*/ 9 h 31"/>
                      <a:gd name="T16" fmla="*/ 26 w 37"/>
                      <a:gd name="T17" fmla="*/ 23 h 31"/>
                      <a:gd name="T18" fmla="*/ 29 w 37"/>
                      <a:gd name="T19" fmla="*/ 29 h 31"/>
                      <a:gd name="T20" fmla="*/ 29 w 37"/>
                      <a:gd name="T21" fmla="*/ 31 h 31"/>
                      <a:gd name="T22" fmla="*/ 37 w 37"/>
                      <a:gd name="T23" fmla="*/ 25 h 31"/>
                      <a:gd name="T24" fmla="*/ 37 w 37"/>
                      <a:gd name="T25" fmla="*/ 20 h 31"/>
                      <a:gd name="T26" fmla="*/ 34 w 37"/>
                      <a:gd name="T27" fmla="*/ 14 h 31"/>
                      <a:gd name="T28" fmla="*/ 34 w 37"/>
                      <a:gd name="T29" fmla="*/ 0 h 31"/>
                      <a:gd name="T30" fmla="*/ 25 w 37"/>
                      <a:gd name="T31" fmla="*/ 0 h 31"/>
                      <a:gd name="T32" fmla="*/ 25 w 37"/>
                      <a:gd name="T33" fmla="*/ 2 h 31"/>
                      <a:gd name="T34" fmla="*/ 25 w 37"/>
                      <a:gd name="T35" fmla="*/ 2 h 3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7"/>
                      <a:gd name="T55" fmla="*/ 0 h 31"/>
                      <a:gd name="T56" fmla="*/ 37 w 37"/>
                      <a:gd name="T57" fmla="*/ 31 h 3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7" h="31">
                        <a:moveTo>
                          <a:pt x="25" y="2"/>
                        </a:moveTo>
                        <a:lnTo>
                          <a:pt x="19" y="3"/>
                        </a:lnTo>
                        <a:lnTo>
                          <a:pt x="13" y="3"/>
                        </a:lnTo>
                        <a:lnTo>
                          <a:pt x="7" y="3"/>
                        </a:lnTo>
                        <a:lnTo>
                          <a:pt x="3" y="2"/>
                        </a:lnTo>
                        <a:lnTo>
                          <a:pt x="0" y="6"/>
                        </a:lnTo>
                        <a:lnTo>
                          <a:pt x="29" y="6"/>
                        </a:lnTo>
                        <a:lnTo>
                          <a:pt x="26" y="9"/>
                        </a:lnTo>
                        <a:lnTo>
                          <a:pt x="26" y="23"/>
                        </a:lnTo>
                        <a:lnTo>
                          <a:pt x="29" y="29"/>
                        </a:lnTo>
                        <a:lnTo>
                          <a:pt x="29" y="31"/>
                        </a:lnTo>
                        <a:lnTo>
                          <a:pt x="37" y="25"/>
                        </a:lnTo>
                        <a:lnTo>
                          <a:pt x="37" y="20"/>
                        </a:lnTo>
                        <a:lnTo>
                          <a:pt x="34" y="14"/>
                        </a:lnTo>
                        <a:lnTo>
                          <a:pt x="34" y="0"/>
                        </a:lnTo>
                        <a:lnTo>
                          <a:pt x="25" y="0"/>
                        </a:lnTo>
                        <a:lnTo>
                          <a:pt x="25" y="2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42" name="Freeform 459"/>
                  <p:cNvSpPr>
                    <a:spLocks/>
                  </p:cNvSpPr>
                  <p:nvPr/>
                </p:nvSpPr>
                <p:spPr bwMode="auto">
                  <a:xfrm>
                    <a:off x="3577" y="2652"/>
                    <a:ext cx="37" cy="31"/>
                  </a:xfrm>
                  <a:custGeom>
                    <a:avLst/>
                    <a:gdLst>
                      <a:gd name="T0" fmla="*/ 25 w 37"/>
                      <a:gd name="T1" fmla="*/ 2 h 31"/>
                      <a:gd name="T2" fmla="*/ 19 w 37"/>
                      <a:gd name="T3" fmla="*/ 3 h 31"/>
                      <a:gd name="T4" fmla="*/ 13 w 37"/>
                      <a:gd name="T5" fmla="*/ 3 h 31"/>
                      <a:gd name="T6" fmla="*/ 7 w 37"/>
                      <a:gd name="T7" fmla="*/ 3 h 31"/>
                      <a:gd name="T8" fmla="*/ 3 w 37"/>
                      <a:gd name="T9" fmla="*/ 2 h 31"/>
                      <a:gd name="T10" fmla="*/ 0 w 37"/>
                      <a:gd name="T11" fmla="*/ 6 h 31"/>
                      <a:gd name="T12" fmla="*/ 29 w 37"/>
                      <a:gd name="T13" fmla="*/ 6 h 31"/>
                      <a:gd name="T14" fmla="*/ 26 w 37"/>
                      <a:gd name="T15" fmla="*/ 9 h 31"/>
                      <a:gd name="T16" fmla="*/ 26 w 37"/>
                      <a:gd name="T17" fmla="*/ 23 h 31"/>
                      <a:gd name="T18" fmla="*/ 29 w 37"/>
                      <a:gd name="T19" fmla="*/ 29 h 31"/>
                      <a:gd name="T20" fmla="*/ 29 w 37"/>
                      <a:gd name="T21" fmla="*/ 31 h 31"/>
                      <a:gd name="T22" fmla="*/ 37 w 37"/>
                      <a:gd name="T23" fmla="*/ 25 h 31"/>
                      <a:gd name="T24" fmla="*/ 37 w 37"/>
                      <a:gd name="T25" fmla="*/ 20 h 31"/>
                      <a:gd name="T26" fmla="*/ 34 w 37"/>
                      <a:gd name="T27" fmla="*/ 14 h 31"/>
                      <a:gd name="T28" fmla="*/ 34 w 37"/>
                      <a:gd name="T29" fmla="*/ 0 h 31"/>
                      <a:gd name="T30" fmla="*/ 25 w 37"/>
                      <a:gd name="T31" fmla="*/ 0 h 31"/>
                      <a:gd name="T32" fmla="*/ 25 w 37"/>
                      <a:gd name="T33" fmla="*/ 2 h 31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37"/>
                      <a:gd name="T52" fmla="*/ 0 h 31"/>
                      <a:gd name="T53" fmla="*/ 37 w 37"/>
                      <a:gd name="T54" fmla="*/ 31 h 31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37" h="31">
                        <a:moveTo>
                          <a:pt x="25" y="2"/>
                        </a:moveTo>
                        <a:lnTo>
                          <a:pt x="19" y="3"/>
                        </a:lnTo>
                        <a:lnTo>
                          <a:pt x="13" y="3"/>
                        </a:lnTo>
                        <a:lnTo>
                          <a:pt x="7" y="3"/>
                        </a:lnTo>
                        <a:lnTo>
                          <a:pt x="3" y="2"/>
                        </a:lnTo>
                        <a:lnTo>
                          <a:pt x="0" y="6"/>
                        </a:lnTo>
                        <a:lnTo>
                          <a:pt x="29" y="6"/>
                        </a:lnTo>
                        <a:lnTo>
                          <a:pt x="26" y="9"/>
                        </a:lnTo>
                        <a:lnTo>
                          <a:pt x="26" y="23"/>
                        </a:lnTo>
                        <a:lnTo>
                          <a:pt x="29" y="29"/>
                        </a:lnTo>
                        <a:lnTo>
                          <a:pt x="29" y="31"/>
                        </a:lnTo>
                        <a:lnTo>
                          <a:pt x="37" y="25"/>
                        </a:lnTo>
                        <a:lnTo>
                          <a:pt x="37" y="20"/>
                        </a:lnTo>
                        <a:lnTo>
                          <a:pt x="34" y="14"/>
                        </a:lnTo>
                        <a:lnTo>
                          <a:pt x="34" y="0"/>
                        </a:lnTo>
                        <a:lnTo>
                          <a:pt x="25" y="0"/>
                        </a:lnTo>
                        <a:lnTo>
                          <a:pt x="25" y="2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43" name="Freeform 460"/>
                  <p:cNvSpPr>
                    <a:spLocks/>
                  </p:cNvSpPr>
                  <p:nvPr/>
                </p:nvSpPr>
                <p:spPr bwMode="auto">
                  <a:xfrm>
                    <a:off x="3581" y="2661"/>
                    <a:ext cx="24" cy="22"/>
                  </a:xfrm>
                  <a:custGeom>
                    <a:avLst/>
                    <a:gdLst>
                      <a:gd name="T0" fmla="*/ 0 w 24"/>
                      <a:gd name="T1" fmla="*/ 22 h 22"/>
                      <a:gd name="T2" fmla="*/ 0 w 24"/>
                      <a:gd name="T3" fmla="*/ 0 h 22"/>
                      <a:gd name="T4" fmla="*/ 21 w 24"/>
                      <a:gd name="T5" fmla="*/ 0 h 22"/>
                      <a:gd name="T6" fmla="*/ 21 w 24"/>
                      <a:gd name="T7" fmla="*/ 14 h 22"/>
                      <a:gd name="T8" fmla="*/ 24 w 24"/>
                      <a:gd name="T9" fmla="*/ 20 h 22"/>
                      <a:gd name="T10" fmla="*/ 24 w 24"/>
                      <a:gd name="T11" fmla="*/ 22 h 22"/>
                      <a:gd name="T12" fmla="*/ 0 w 24"/>
                      <a:gd name="T13" fmla="*/ 22 h 2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4"/>
                      <a:gd name="T22" fmla="*/ 0 h 22"/>
                      <a:gd name="T23" fmla="*/ 24 w 24"/>
                      <a:gd name="T24" fmla="*/ 22 h 2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4" h="22">
                        <a:moveTo>
                          <a:pt x="0" y="22"/>
                        </a:moveTo>
                        <a:lnTo>
                          <a:pt x="0" y="0"/>
                        </a:lnTo>
                        <a:lnTo>
                          <a:pt x="21" y="0"/>
                        </a:lnTo>
                        <a:lnTo>
                          <a:pt x="21" y="14"/>
                        </a:lnTo>
                        <a:lnTo>
                          <a:pt x="24" y="20"/>
                        </a:lnTo>
                        <a:lnTo>
                          <a:pt x="24" y="22"/>
                        </a:lnTo>
                        <a:lnTo>
                          <a:pt x="0" y="2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44" name="Freeform 461"/>
                  <p:cNvSpPr>
                    <a:spLocks/>
                  </p:cNvSpPr>
                  <p:nvPr/>
                </p:nvSpPr>
                <p:spPr bwMode="auto">
                  <a:xfrm>
                    <a:off x="3581" y="2661"/>
                    <a:ext cx="24" cy="22"/>
                  </a:xfrm>
                  <a:custGeom>
                    <a:avLst/>
                    <a:gdLst>
                      <a:gd name="T0" fmla="*/ 0 w 24"/>
                      <a:gd name="T1" fmla="*/ 22 h 22"/>
                      <a:gd name="T2" fmla="*/ 0 w 24"/>
                      <a:gd name="T3" fmla="*/ 0 h 22"/>
                      <a:gd name="T4" fmla="*/ 21 w 24"/>
                      <a:gd name="T5" fmla="*/ 0 h 22"/>
                      <a:gd name="T6" fmla="*/ 21 w 24"/>
                      <a:gd name="T7" fmla="*/ 14 h 22"/>
                      <a:gd name="T8" fmla="*/ 24 w 24"/>
                      <a:gd name="T9" fmla="*/ 20 h 22"/>
                      <a:gd name="T10" fmla="*/ 24 w 24"/>
                      <a:gd name="T11" fmla="*/ 22 h 22"/>
                      <a:gd name="T12" fmla="*/ 0 w 24"/>
                      <a:gd name="T13" fmla="*/ 22 h 2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4"/>
                      <a:gd name="T22" fmla="*/ 0 h 22"/>
                      <a:gd name="T23" fmla="*/ 24 w 24"/>
                      <a:gd name="T24" fmla="*/ 22 h 2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4" h="22">
                        <a:moveTo>
                          <a:pt x="0" y="22"/>
                        </a:moveTo>
                        <a:lnTo>
                          <a:pt x="0" y="0"/>
                        </a:lnTo>
                        <a:lnTo>
                          <a:pt x="21" y="0"/>
                        </a:lnTo>
                        <a:lnTo>
                          <a:pt x="21" y="14"/>
                        </a:lnTo>
                        <a:lnTo>
                          <a:pt x="24" y="20"/>
                        </a:lnTo>
                        <a:lnTo>
                          <a:pt x="24" y="22"/>
                        </a:lnTo>
                        <a:lnTo>
                          <a:pt x="0" y="22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45" name="Freeform 462"/>
                  <p:cNvSpPr>
                    <a:spLocks/>
                  </p:cNvSpPr>
                  <p:nvPr/>
                </p:nvSpPr>
                <p:spPr bwMode="auto">
                  <a:xfrm>
                    <a:off x="3570" y="2674"/>
                    <a:ext cx="11" cy="9"/>
                  </a:xfrm>
                  <a:custGeom>
                    <a:avLst/>
                    <a:gdLst>
                      <a:gd name="T0" fmla="*/ 0 w 11"/>
                      <a:gd name="T1" fmla="*/ 9 h 9"/>
                      <a:gd name="T2" fmla="*/ 11 w 11"/>
                      <a:gd name="T3" fmla="*/ 0 h 9"/>
                      <a:gd name="T4" fmla="*/ 11 w 11"/>
                      <a:gd name="T5" fmla="*/ 9 h 9"/>
                      <a:gd name="T6" fmla="*/ 0 w 11"/>
                      <a:gd name="T7" fmla="*/ 9 h 9"/>
                      <a:gd name="T8" fmla="*/ 0 w 11"/>
                      <a:gd name="T9" fmla="*/ 9 h 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"/>
                      <a:gd name="T16" fmla="*/ 0 h 9"/>
                      <a:gd name="T17" fmla="*/ 11 w 11"/>
                      <a:gd name="T18" fmla="*/ 9 h 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" h="9">
                        <a:moveTo>
                          <a:pt x="0" y="9"/>
                        </a:moveTo>
                        <a:lnTo>
                          <a:pt x="11" y="0"/>
                        </a:lnTo>
                        <a:lnTo>
                          <a:pt x="11" y="9"/>
                        </a:lnTo>
                        <a:lnTo>
                          <a:pt x="0" y="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46" name="Freeform 463"/>
                  <p:cNvSpPr>
                    <a:spLocks/>
                  </p:cNvSpPr>
                  <p:nvPr/>
                </p:nvSpPr>
                <p:spPr bwMode="auto">
                  <a:xfrm>
                    <a:off x="3570" y="2674"/>
                    <a:ext cx="11" cy="9"/>
                  </a:xfrm>
                  <a:custGeom>
                    <a:avLst/>
                    <a:gdLst>
                      <a:gd name="T0" fmla="*/ 0 w 11"/>
                      <a:gd name="T1" fmla="*/ 9 h 9"/>
                      <a:gd name="T2" fmla="*/ 11 w 11"/>
                      <a:gd name="T3" fmla="*/ 0 h 9"/>
                      <a:gd name="T4" fmla="*/ 11 w 11"/>
                      <a:gd name="T5" fmla="*/ 9 h 9"/>
                      <a:gd name="T6" fmla="*/ 0 w 11"/>
                      <a:gd name="T7" fmla="*/ 9 h 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1"/>
                      <a:gd name="T13" fmla="*/ 0 h 9"/>
                      <a:gd name="T14" fmla="*/ 11 w 11"/>
                      <a:gd name="T15" fmla="*/ 9 h 9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1" h="9">
                        <a:moveTo>
                          <a:pt x="0" y="9"/>
                        </a:moveTo>
                        <a:lnTo>
                          <a:pt x="11" y="0"/>
                        </a:lnTo>
                        <a:lnTo>
                          <a:pt x="11" y="9"/>
                        </a:lnTo>
                        <a:lnTo>
                          <a:pt x="0" y="9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47" name="Freeform 464"/>
                  <p:cNvSpPr>
                    <a:spLocks/>
                  </p:cNvSpPr>
                  <p:nvPr/>
                </p:nvSpPr>
                <p:spPr bwMode="auto">
                  <a:xfrm>
                    <a:off x="3605" y="2677"/>
                    <a:ext cx="17" cy="6"/>
                  </a:xfrm>
                  <a:custGeom>
                    <a:avLst/>
                    <a:gdLst>
                      <a:gd name="T0" fmla="*/ 9 w 17"/>
                      <a:gd name="T1" fmla="*/ 0 h 6"/>
                      <a:gd name="T2" fmla="*/ 17 w 17"/>
                      <a:gd name="T3" fmla="*/ 0 h 6"/>
                      <a:gd name="T4" fmla="*/ 16 w 17"/>
                      <a:gd name="T5" fmla="*/ 3 h 6"/>
                      <a:gd name="T6" fmla="*/ 16 w 17"/>
                      <a:gd name="T7" fmla="*/ 6 h 6"/>
                      <a:gd name="T8" fmla="*/ 0 w 17"/>
                      <a:gd name="T9" fmla="*/ 6 h 6"/>
                      <a:gd name="T10" fmla="*/ 9 w 17"/>
                      <a:gd name="T11" fmla="*/ 0 h 6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17"/>
                      <a:gd name="T19" fmla="*/ 0 h 6"/>
                      <a:gd name="T20" fmla="*/ 17 w 17"/>
                      <a:gd name="T21" fmla="*/ 6 h 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17" h="6">
                        <a:moveTo>
                          <a:pt x="9" y="0"/>
                        </a:moveTo>
                        <a:lnTo>
                          <a:pt x="17" y="0"/>
                        </a:lnTo>
                        <a:lnTo>
                          <a:pt x="16" y="3"/>
                        </a:lnTo>
                        <a:lnTo>
                          <a:pt x="16" y="6"/>
                        </a:lnTo>
                        <a:lnTo>
                          <a:pt x="0" y="6"/>
                        </a:lnTo>
                        <a:lnTo>
                          <a:pt x="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48" name="Freeform 465"/>
                  <p:cNvSpPr>
                    <a:spLocks/>
                  </p:cNvSpPr>
                  <p:nvPr/>
                </p:nvSpPr>
                <p:spPr bwMode="auto">
                  <a:xfrm>
                    <a:off x="3605" y="2677"/>
                    <a:ext cx="17" cy="6"/>
                  </a:xfrm>
                  <a:custGeom>
                    <a:avLst/>
                    <a:gdLst>
                      <a:gd name="T0" fmla="*/ 9 w 17"/>
                      <a:gd name="T1" fmla="*/ 0 h 6"/>
                      <a:gd name="T2" fmla="*/ 17 w 17"/>
                      <a:gd name="T3" fmla="*/ 0 h 6"/>
                      <a:gd name="T4" fmla="*/ 16 w 17"/>
                      <a:gd name="T5" fmla="*/ 3 h 6"/>
                      <a:gd name="T6" fmla="*/ 16 w 17"/>
                      <a:gd name="T7" fmla="*/ 6 h 6"/>
                      <a:gd name="T8" fmla="*/ 0 w 17"/>
                      <a:gd name="T9" fmla="*/ 6 h 6"/>
                      <a:gd name="T10" fmla="*/ 9 w 17"/>
                      <a:gd name="T11" fmla="*/ 0 h 6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17"/>
                      <a:gd name="T19" fmla="*/ 0 h 6"/>
                      <a:gd name="T20" fmla="*/ 17 w 17"/>
                      <a:gd name="T21" fmla="*/ 6 h 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17" h="6">
                        <a:moveTo>
                          <a:pt x="9" y="0"/>
                        </a:moveTo>
                        <a:lnTo>
                          <a:pt x="17" y="0"/>
                        </a:lnTo>
                        <a:lnTo>
                          <a:pt x="16" y="3"/>
                        </a:lnTo>
                        <a:lnTo>
                          <a:pt x="16" y="6"/>
                        </a:lnTo>
                        <a:lnTo>
                          <a:pt x="0" y="6"/>
                        </a:lnTo>
                        <a:lnTo>
                          <a:pt x="9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49" name="Freeform 466"/>
                  <p:cNvSpPr>
                    <a:spLocks/>
                  </p:cNvSpPr>
                  <p:nvPr/>
                </p:nvSpPr>
                <p:spPr bwMode="auto">
                  <a:xfrm>
                    <a:off x="3621" y="2677"/>
                    <a:ext cx="30" cy="6"/>
                  </a:xfrm>
                  <a:custGeom>
                    <a:avLst/>
                    <a:gdLst>
                      <a:gd name="T0" fmla="*/ 28 w 30"/>
                      <a:gd name="T1" fmla="*/ 0 h 6"/>
                      <a:gd name="T2" fmla="*/ 27 w 30"/>
                      <a:gd name="T3" fmla="*/ 1 h 6"/>
                      <a:gd name="T4" fmla="*/ 24 w 30"/>
                      <a:gd name="T5" fmla="*/ 2 h 6"/>
                      <a:gd name="T6" fmla="*/ 21 w 30"/>
                      <a:gd name="T7" fmla="*/ 2 h 6"/>
                      <a:gd name="T8" fmla="*/ 19 w 30"/>
                      <a:gd name="T9" fmla="*/ 3 h 6"/>
                      <a:gd name="T10" fmla="*/ 16 w 30"/>
                      <a:gd name="T11" fmla="*/ 3 h 6"/>
                      <a:gd name="T12" fmla="*/ 13 w 30"/>
                      <a:gd name="T13" fmla="*/ 3 h 6"/>
                      <a:gd name="T14" fmla="*/ 9 w 30"/>
                      <a:gd name="T15" fmla="*/ 3 h 6"/>
                      <a:gd name="T16" fmla="*/ 6 w 30"/>
                      <a:gd name="T17" fmla="*/ 2 h 6"/>
                      <a:gd name="T18" fmla="*/ 4 w 30"/>
                      <a:gd name="T19" fmla="*/ 2 h 6"/>
                      <a:gd name="T20" fmla="*/ 2 w 30"/>
                      <a:gd name="T21" fmla="*/ 0 h 6"/>
                      <a:gd name="T22" fmla="*/ 1 w 30"/>
                      <a:gd name="T23" fmla="*/ 0 h 6"/>
                      <a:gd name="T24" fmla="*/ 0 w 30"/>
                      <a:gd name="T25" fmla="*/ 3 h 6"/>
                      <a:gd name="T26" fmla="*/ 0 w 30"/>
                      <a:gd name="T27" fmla="*/ 6 h 6"/>
                      <a:gd name="T28" fmla="*/ 27 w 30"/>
                      <a:gd name="T29" fmla="*/ 6 h 6"/>
                      <a:gd name="T30" fmla="*/ 30 w 30"/>
                      <a:gd name="T31" fmla="*/ 3 h 6"/>
                      <a:gd name="T32" fmla="*/ 30 w 30"/>
                      <a:gd name="T33" fmla="*/ 0 h 6"/>
                      <a:gd name="T34" fmla="*/ 28 w 30"/>
                      <a:gd name="T35" fmla="*/ 0 h 6"/>
                      <a:gd name="T36" fmla="*/ 28 w 30"/>
                      <a:gd name="T37" fmla="*/ 0 h 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30"/>
                      <a:gd name="T58" fmla="*/ 0 h 6"/>
                      <a:gd name="T59" fmla="*/ 30 w 30"/>
                      <a:gd name="T60" fmla="*/ 6 h 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30" h="6">
                        <a:moveTo>
                          <a:pt x="28" y="0"/>
                        </a:moveTo>
                        <a:lnTo>
                          <a:pt x="27" y="1"/>
                        </a:lnTo>
                        <a:lnTo>
                          <a:pt x="24" y="2"/>
                        </a:lnTo>
                        <a:lnTo>
                          <a:pt x="21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9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7" y="6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50" name="Freeform 467"/>
                  <p:cNvSpPr>
                    <a:spLocks/>
                  </p:cNvSpPr>
                  <p:nvPr/>
                </p:nvSpPr>
                <p:spPr bwMode="auto">
                  <a:xfrm>
                    <a:off x="3621" y="2677"/>
                    <a:ext cx="30" cy="6"/>
                  </a:xfrm>
                  <a:custGeom>
                    <a:avLst/>
                    <a:gdLst>
                      <a:gd name="T0" fmla="*/ 28 w 30"/>
                      <a:gd name="T1" fmla="*/ 0 h 6"/>
                      <a:gd name="T2" fmla="*/ 27 w 30"/>
                      <a:gd name="T3" fmla="*/ 1 h 6"/>
                      <a:gd name="T4" fmla="*/ 24 w 30"/>
                      <a:gd name="T5" fmla="*/ 2 h 6"/>
                      <a:gd name="T6" fmla="*/ 21 w 30"/>
                      <a:gd name="T7" fmla="*/ 2 h 6"/>
                      <a:gd name="T8" fmla="*/ 19 w 30"/>
                      <a:gd name="T9" fmla="*/ 3 h 6"/>
                      <a:gd name="T10" fmla="*/ 16 w 30"/>
                      <a:gd name="T11" fmla="*/ 3 h 6"/>
                      <a:gd name="T12" fmla="*/ 13 w 30"/>
                      <a:gd name="T13" fmla="*/ 3 h 6"/>
                      <a:gd name="T14" fmla="*/ 9 w 30"/>
                      <a:gd name="T15" fmla="*/ 3 h 6"/>
                      <a:gd name="T16" fmla="*/ 6 w 30"/>
                      <a:gd name="T17" fmla="*/ 2 h 6"/>
                      <a:gd name="T18" fmla="*/ 4 w 30"/>
                      <a:gd name="T19" fmla="*/ 2 h 6"/>
                      <a:gd name="T20" fmla="*/ 2 w 30"/>
                      <a:gd name="T21" fmla="*/ 0 h 6"/>
                      <a:gd name="T22" fmla="*/ 1 w 30"/>
                      <a:gd name="T23" fmla="*/ 0 h 6"/>
                      <a:gd name="T24" fmla="*/ 0 w 30"/>
                      <a:gd name="T25" fmla="*/ 3 h 6"/>
                      <a:gd name="T26" fmla="*/ 0 w 30"/>
                      <a:gd name="T27" fmla="*/ 6 h 6"/>
                      <a:gd name="T28" fmla="*/ 27 w 30"/>
                      <a:gd name="T29" fmla="*/ 6 h 6"/>
                      <a:gd name="T30" fmla="*/ 30 w 30"/>
                      <a:gd name="T31" fmla="*/ 3 h 6"/>
                      <a:gd name="T32" fmla="*/ 30 w 30"/>
                      <a:gd name="T33" fmla="*/ 0 h 6"/>
                      <a:gd name="T34" fmla="*/ 28 w 30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0"/>
                      <a:gd name="T55" fmla="*/ 0 h 6"/>
                      <a:gd name="T56" fmla="*/ 30 w 30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0" h="6">
                        <a:moveTo>
                          <a:pt x="28" y="0"/>
                        </a:moveTo>
                        <a:lnTo>
                          <a:pt x="27" y="1"/>
                        </a:lnTo>
                        <a:lnTo>
                          <a:pt x="24" y="2"/>
                        </a:lnTo>
                        <a:lnTo>
                          <a:pt x="21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9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7" y="6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28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51" name="Freeform 468"/>
                  <p:cNvSpPr>
                    <a:spLocks/>
                  </p:cNvSpPr>
                  <p:nvPr/>
                </p:nvSpPr>
                <p:spPr bwMode="auto">
                  <a:xfrm>
                    <a:off x="3648" y="2677"/>
                    <a:ext cx="17" cy="6"/>
                  </a:xfrm>
                  <a:custGeom>
                    <a:avLst/>
                    <a:gdLst>
                      <a:gd name="T0" fmla="*/ 3 w 17"/>
                      <a:gd name="T1" fmla="*/ 0 h 6"/>
                      <a:gd name="T2" fmla="*/ 17 w 17"/>
                      <a:gd name="T3" fmla="*/ 0 h 6"/>
                      <a:gd name="T4" fmla="*/ 16 w 17"/>
                      <a:gd name="T5" fmla="*/ 3 h 6"/>
                      <a:gd name="T6" fmla="*/ 16 w 17"/>
                      <a:gd name="T7" fmla="*/ 6 h 6"/>
                      <a:gd name="T8" fmla="*/ 0 w 17"/>
                      <a:gd name="T9" fmla="*/ 6 h 6"/>
                      <a:gd name="T10" fmla="*/ 3 w 17"/>
                      <a:gd name="T11" fmla="*/ 3 h 6"/>
                      <a:gd name="T12" fmla="*/ 3 w 17"/>
                      <a:gd name="T13" fmla="*/ 0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7"/>
                      <a:gd name="T22" fmla="*/ 0 h 6"/>
                      <a:gd name="T23" fmla="*/ 17 w 17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7" h="6">
                        <a:moveTo>
                          <a:pt x="3" y="0"/>
                        </a:moveTo>
                        <a:lnTo>
                          <a:pt x="17" y="0"/>
                        </a:lnTo>
                        <a:lnTo>
                          <a:pt x="16" y="3"/>
                        </a:lnTo>
                        <a:lnTo>
                          <a:pt x="16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52" name="Freeform 469"/>
                  <p:cNvSpPr>
                    <a:spLocks/>
                  </p:cNvSpPr>
                  <p:nvPr/>
                </p:nvSpPr>
                <p:spPr bwMode="auto">
                  <a:xfrm>
                    <a:off x="3648" y="2677"/>
                    <a:ext cx="17" cy="6"/>
                  </a:xfrm>
                  <a:custGeom>
                    <a:avLst/>
                    <a:gdLst>
                      <a:gd name="T0" fmla="*/ 3 w 17"/>
                      <a:gd name="T1" fmla="*/ 0 h 6"/>
                      <a:gd name="T2" fmla="*/ 17 w 17"/>
                      <a:gd name="T3" fmla="*/ 0 h 6"/>
                      <a:gd name="T4" fmla="*/ 16 w 17"/>
                      <a:gd name="T5" fmla="*/ 3 h 6"/>
                      <a:gd name="T6" fmla="*/ 16 w 17"/>
                      <a:gd name="T7" fmla="*/ 6 h 6"/>
                      <a:gd name="T8" fmla="*/ 0 w 17"/>
                      <a:gd name="T9" fmla="*/ 6 h 6"/>
                      <a:gd name="T10" fmla="*/ 3 w 17"/>
                      <a:gd name="T11" fmla="*/ 3 h 6"/>
                      <a:gd name="T12" fmla="*/ 3 w 17"/>
                      <a:gd name="T13" fmla="*/ 0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7"/>
                      <a:gd name="T22" fmla="*/ 0 h 6"/>
                      <a:gd name="T23" fmla="*/ 17 w 17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7" h="6">
                        <a:moveTo>
                          <a:pt x="3" y="0"/>
                        </a:moveTo>
                        <a:lnTo>
                          <a:pt x="17" y="0"/>
                        </a:lnTo>
                        <a:lnTo>
                          <a:pt x="16" y="3"/>
                        </a:lnTo>
                        <a:lnTo>
                          <a:pt x="16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  <a:lnTo>
                          <a:pt x="3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53" name="Freeform 470"/>
                  <p:cNvSpPr>
                    <a:spLocks/>
                  </p:cNvSpPr>
                  <p:nvPr/>
                </p:nvSpPr>
                <p:spPr bwMode="auto">
                  <a:xfrm>
                    <a:off x="3664" y="2677"/>
                    <a:ext cx="31" cy="6"/>
                  </a:xfrm>
                  <a:custGeom>
                    <a:avLst/>
                    <a:gdLst>
                      <a:gd name="T0" fmla="*/ 28 w 31"/>
                      <a:gd name="T1" fmla="*/ 0 h 6"/>
                      <a:gd name="T2" fmla="*/ 26 w 31"/>
                      <a:gd name="T3" fmla="*/ 1 h 6"/>
                      <a:gd name="T4" fmla="*/ 25 w 31"/>
                      <a:gd name="T5" fmla="*/ 2 h 6"/>
                      <a:gd name="T6" fmla="*/ 22 w 31"/>
                      <a:gd name="T7" fmla="*/ 2 h 6"/>
                      <a:gd name="T8" fmla="*/ 19 w 31"/>
                      <a:gd name="T9" fmla="*/ 3 h 6"/>
                      <a:gd name="T10" fmla="*/ 16 w 31"/>
                      <a:gd name="T11" fmla="*/ 3 h 6"/>
                      <a:gd name="T12" fmla="*/ 12 w 31"/>
                      <a:gd name="T13" fmla="*/ 3 h 6"/>
                      <a:gd name="T14" fmla="*/ 9 w 31"/>
                      <a:gd name="T15" fmla="*/ 3 h 6"/>
                      <a:gd name="T16" fmla="*/ 6 w 31"/>
                      <a:gd name="T17" fmla="*/ 2 h 6"/>
                      <a:gd name="T18" fmla="*/ 4 w 31"/>
                      <a:gd name="T19" fmla="*/ 2 h 6"/>
                      <a:gd name="T20" fmla="*/ 2 w 31"/>
                      <a:gd name="T21" fmla="*/ 0 h 6"/>
                      <a:gd name="T22" fmla="*/ 1 w 31"/>
                      <a:gd name="T23" fmla="*/ 0 h 6"/>
                      <a:gd name="T24" fmla="*/ 0 w 31"/>
                      <a:gd name="T25" fmla="*/ 3 h 6"/>
                      <a:gd name="T26" fmla="*/ 0 w 31"/>
                      <a:gd name="T27" fmla="*/ 6 h 6"/>
                      <a:gd name="T28" fmla="*/ 26 w 31"/>
                      <a:gd name="T29" fmla="*/ 6 h 6"/>
                      <a:gd name="T30" fmla="*/ 31 w 31"/>
                      <a:gd name="T31" fmla="*/ 3 h 6"/>
                      <a:gd name="T32" fmla="*/ 31 w 31"/>
                      <a:gd name="T33" fmla="*/ 0 h 6"/>
                      <a:gd name="T34" fmla="*/ 28 w 31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"/>
                      <a:gd name="T55" fmla="*/ 0 h 6"/>
                      <a:gd name="T56" fmla="*/ 31 w 31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" h="6">
                        <a:moveTo>
                          <a:pt x="28" y="0"/>
                        </a:moveTo>
                        <a:lnTo>
                          <a:pt x="26" y="1"/>
                        </a:lnTo>
                        <a:lnTo>
                          <a:pt x="25" y="2"/>
                        </a:lnTo>
                        <a:lnTo>
                          <a:pt x="22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2" y="3"/>
                        </a:lnTo>
                        <a:lnTo>
                          <a:pt x="9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6" y="6"/>
                        </a:lnTo>
                        <a:lnTo>
                          <a:pt x="31" y="3"/>
                        </a:lnTo>
                        <a:lnTo>
                          <a:pt x="31" y="0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54" name="Freeform 471"/>
                  <p:cNvSpPr>
                    <a:spLocks/>
                  </p:cNvSpPr>
                  <p:nvPr/>
                </p:nvSpPr>
                <p:spPr bwMode="auto">
                  <a:xfrm>
                    <a:off x="3664" y="2677"/>
                    <a:ext cx="31" cy="6"/>
                  </a:xfrm>
                  <a:custGeom>
                    <a:avLst/>
                    <a:gdLst>
                      <a:gd name="T0" fmla="*/ 28 w 31"/>
                      <a:gd name="T1" fmla="*/ 0 h 6"/>
                      <a:gd name="T2" fmla="*/ 26 w 31"/>
                      <a:gd name="T3" fmla="*/ 1 h 6"/>
                      <a:gd name="T4" fmla="*/ 25 w 31"/>
                      <a:gd name="T5" fmla="*/ 2 h 6"/>
                      <a:gd name="T6" fmla="*/ 22 w 31"/>
                      <a:gd name="T7" fmla="*/ 2 h 6"/>
                      <a:gd name="T8" fmla="*/ 19 w 31"/>
                      <a:gd name="T9" fmla="*/ 3 h 6"/>
                      <a:gd name="T10" fmla="*/ 16 w 31"/>
                      <a:gd name="T11" fmla="*/ 3 h 6"/>
                      <a:gd name="T12" fmla="*/ 12 w 31"/>
                      <a:gd name="T13" fmla="*/ 3 h 6"/>
                      <a:gd name="T14" fmla="*/ 9 w 31"/>
                      <a:gd name="T15" fmla="*/ 3 h 6"/>
                      <a:gd name="T16" fmla="*/ 6 w 31"/>
                      <a:gd name="T17" fmla="*/ 2 h 6"/>
                      <a:gd name="T18" fmla="*/ 4 w 31"/>
                      <a:gd name="T19" fmla="*/ 2 h 6"/>
                      <a:gd name="T20" fmla="*/ 2 w 31"/>
                      <a:gd name="T21" fmla="*/ 0 h 6"/>
                      <a:gd name="T22" fmla="*/ 1 w 31"/>
                      <a:gd name="T23" fmla="*/ 0 h 6"/>
                      <a:gd name="T24" fmla="*/ 0 w 31"/>
                      <a:gd name="T25" fmla="*/ 3 h 6"/>
                      <a:gd name="T26" fmla="*/ 0 w 31"/>
                      <a:gd name="T27" fmla="*/ 6 h 6"/>
                      <a:gd name="T28" fmla="*/ 26 w 31"/>
                      <a:gd name="T29" fmla="*/ 6 h 6"/>
                      <a:gd name="T30" fmla="*/ 31 w 31"/>
                      <a:gd name="T31" fmla="*/ 3 h 6"/>
                      <a:gd name="T32" fmla="*/ 31 w 31"/>
                      <a:gd name="T33" fmla="*/ 0 h 6"/>
                      <a:gd name="T34" fmla="*/ 28 w 31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"/>
                      <a:gd name="T55" fmla="*/ 0 h 6"/>
                      <a:gd name="T56" fmla="*/ 31 w 31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" h="6">
                        <a:moveTo>
                          <a:pt x="28" y="0"/>
                        </a:moveTo>
                        <a:lnTo>
                          <a:pt x="26" y="1"/>
                        </a:lnTo>
                        <a:lnTo>
                          <a:pt x="25" y="2"/>
                        </a:lnTo>
                        <a:lnTo>
                          <a:pt x="22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2" y="3"/>
                        </a:lnTo>
                        <a:lnTo>
                          <a:pt x="9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6" y="6"/>
                        </a:lnTo>
                        <a:lnTo>
                          <a:pt x="31" y="3"/>
                        </a:lnTo>
                        <a:lnTo>
                          <a:pt x="31" y="0"/>
                        </a:lnTo>
                        <a:lnTo>
                          <a:pt x="28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55" name="Freeform 472"/>
                  <p:cNvSpPr>
                    <a:spLocks/>
                  </p:cNvSpPr>
                  <p:nvPr/>
                </p:nvSpPr>
                <p:spPr bwMode="auto">
                  <a:xfrm>
                    <a:off x="3690" y="2677"/>
                    <a:ext cx="31" cy="6"/>
                  </a:xfrm>
                  <a:custGeom>
                    <a:avLst/>
                    <a:gdLst>
                      <a:gd name="T0" fmla="*/ 5 w 31"/>
                      <a:gd name="T1" fmla="*/ 0 h 6"/>
                      <a:gd name="T2" fmla="*/ 31 w 31"/>
                      <a:gd name="T3" fmla="*/ 0 h 6"/>
                      <a:gd name="T4" fmla="*/ 30 w 31"/>
                      <a:gd name="T5" fmla="*/ 3 h 6"/>
                      <a:gd name="T6" fmla="*/ 30 w 31"/>
                      <a:gd name="T7" fmla="*/ 6 h 6"/>
                      <a:gd name="T8" fmla="*/ 0 w 31"/>
                      <a:gd name="T9" fmla="*/ 6 h 6"/>
                      <a:gd name="T10" fmla="*/ 5 w 31"/>
                      <a:gd name="T11" fmla="*/ 3 h 6"/>
                      <a:gd name="T12" fmla="*/ 5 w 31"/>
                      <a:gd name="T13" fmla="*/ 0 h 6"/>
                      <a:gd name="T14" fmla="*/ 5 w 31"/>
                      <a:gd name="T15" fmla="*/ 0 h 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1"/>
                      <a:gd name="T25" fmla="*/ 0 h 6"/>
                      <a:gd name="T26" fmla="*/ 31 w 31"/>
                      <a:gd name="T27" fmla="*/ 6 h 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1" h="6">
                        <a:moveTo>
                          <a:pt x="5" y="0"/>
                        </a:moveTo>
                        <a:lnTo>
                          <a:pt x="31" y="0"/>
                        </a:lnTo>
                        <a:lnTo>
                          <a:pt x="30" y="3"/>
                        </a:lnTo>
                        <a:lnTo>
                          <a:pt x="30" y="6"/>
                        </a:lnTo>
                        <a:lnTo>
                          <a:pt x="0" y="6"/>
                        </a:lnTo>
                        <a:lnTo>
                          <a:pt x="5" y="3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56" name="Freeform 473"/>
                  <p:cNvSpPr>
                    <a:spLocks/>
                  </p:cNvSpPr>
                  <p:nvPr/>
                </p:nvSpPr>
                <p:spPr bwMode="auto">
                  <a:xfrm>
                    <a:off x="3690" y="2677"/>
                    <a:ext cx="31" cy="6"/>
                  </a:xfrm>
                  <a:custGeom>
                    <a:avLst/>
                    <a:gdLst>
                      <a:gd name="T0" fmla="*/ 5 w 31"/>
                      <a:gd name="T1" fmla="*/ 0 h 6"/>
                      <a:gd name="T2" fmla="*/ 31 w 31"/>
                      <a:gd name="T3" fmla="*/ 0 h 6"/>
                      <a:gd name="T4" fmla="*/ 30 w 31"/>
                      <a:gd name="T5" fmla="*/ 3 h 6"/>
                      <a:gd name="T6" fmla="*/ 30 w 31"/>
                      <a:gd name="T7" fmla="*/ 6 h 6"/>
                      <a:gd name="T8" fmla="*/ 0 w 31"/>
                      <a:gd name="T9" fmla="*/ 6 h 6"/>
                      <a:gd name="T10" fmla="*/ 5 w 31"/>
                      <a:gd name="T11" fmla="*/ 3 h 6"/>
                      <a:gd name="T12" fmla="*/ 5 w 31"/>
                      <a:gd name="T13" fmla="*/ 0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1"/>
                      <a:gd name="T22" fmla="*/ 0 h 6"/>
                      <a:gd name="T23" fmla="*/ 31 w 31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1" h="6">
                        <a:moveTo>
                          <a:pt x="5" y="0"/>
                        </a:moveTo>
                        <a:lnTo>
                          <a:pt x="31" y="0"/>
                        </a:lnTo>
                        <a:lnTo>
                          <a:pt x="30" y="3"/>
                        </a:lnTo>
                        <a:lnTo>
                          <a:pt x="30" y="6"/>
                        </a:lnTo>
                        <a:lnTo>
                          <a:pt x="0" y="6"/>
                        </a:lnTo>
                        <a:lnTo>
                          <a:pt x="5" y="3"/>
                        </a:lnTo>
                        <a:lnTo>
                          <a:pt x="5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57" name="Freeform 474"/>
                  <p:cNvSpPr>
                    <a:spLocks/>
                  </p:cNvSpPr>
                  <p:nvPr/>
                </p:nvSpPr>
                <p:spPr bwMode="auto">
                  <a:xfrm>
                    <a:off x="3720" y="2677"/>
                    <a:ext cx="30" cy="6"/>
                  </a:xfrm>
                  <a:custGeom>
                    <a:avLst/>
                    <a:gdLst>
                      <a:gd name="T0" fmla="*/ 28 w 30"/>
                      <a:gd name="T1" fmla="*/ 0 h 6"/>
                      <a:gd name="T2" fmla="*/ 27 w 30"/>
                      <a:gd name="T3" fmla="*/ 1 h 6"/>
                      <a:gd name="T4" fmla="*/ 25 w 30"/>
                      <a:gd name="T5" fmla="*/ 2 h 6"/>
                      <a:gd name="T6" fmla="*/ 22 w 30"/>
                      <a:gd name="T7" fmla="*/ 2 h 6"/>
                      <a:gd name="T8" fmla="*/ 18 w 30"/>
                      <a:gd name="T9" fmla="*/ 3 h 6"/>
                      <a:gd name="T10" fmla="*/ 16 w 30"/>
                      <a:gd name="T11" fmla="*/ 3 h 6"/>
                      <a:gd name="T12" fmla="*/ 13 w 30"/>
                      <a:gd name="T13" fmla="*/ 3 h 6"/>
                      <a:gd name="T14" fmla="*/ 10 w 30"/>
                      <a:gd name="T15" fmla="*/ 3 h 6"/>
                      <a:gd name="T16" fmla="*/ 7 w 30"/>
                      <a:gd name="T17" fmla="*/ 2 h 6"/>
                      <a:gd name="T18" fmla="*/ 4 w 30"/>
                      <a:gd name="T19" fmla="*/ 2 h 6"/>
                      <a:gd name="T20" fmla="*/ 2 w 30"/>
                      <a:gd name="T21" fmla="*/ 0 h 6"/>
                      <a:gd name="T22" fmla="*/ 1 w 30"/>
                      <a:gd name="T23" fmla="*/ 0 h 6"/>
                      <a:gd name="T24" fmla="*/ 0 w 30"/>
                      <a:gd name="T25" fmla="*/ 3 h 6"/>
                      <a:gd name="T26" fmla="*/ 0 w 30"/>
                      <a:gd name="T27" fmla="*/ 6 h 6"/>
                      <a:gd name="T28" fmla="*/ 27 w 30"/>
                      <a:gd name="T29" fmla="*/ 6 h 6"/>
                      <a:gd name="T30" fmla="*/ 30 w 30"/>
                      <a:gd name="T31" fmla="*/ 3 h 6"/>
                      <a:gd name="T32" fmla="*/ 30 w 30"/>
                      <a:gd name="T33" fmla="*/ 0 h 6"/>
                      <a:gd name="T34" fmla="*/ 28 w 30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0"/>
                      <a:gd name="T55" fmla="*/ 0 h 6"/>
                      <a:gd name="T56" fmla="*/ 30 w 30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0" h="6">
                        <a:moveTo>
                          <a:pt x="28" y="0"/>
                        </a:moveTo>
                        <a:lnTo>
                          <a:pt x="27" y="1"/>
                        </a:lnTo>
                        <a:lnTo>
                          <a:pt x="25" y="2"/>
                        </a:lnTo>
                        <a:lnTo>
                          <a:pt x="22" y="2"/>
                        </a:lnTo>
                        <a:lnTo>
                          <a:pt x="18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10" y="3"/>
                        </a:lnTo>
                        <a:lnTo>
                          <a:pt x="7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7" y="6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58" name="Freeform 475"/>
                  <p:cNvSpPr>
                    <a:spLocks/>
                  </p:cNvSpPr>
                  <p:nvPr/>
                </p:nvSpPr>
                <p:spPr bwMode="auto">
                  <a:xfrm>
                    <a:off x="3720" y="2677"/>
                    <a:ext cx="30" cy="6"/>
                  </a:xfrm>
                  <a:custGeom>
                    <a:avLst/>
                    <a:gdLst>
                      <a:gd name="T0" fmla="*/ 28 w 30"/>
                      <a:gd name="T1" fmla="*/ 0 h 6"/>
                      <a:gd name="T2" fmla="*/ 27 w 30"/>
                      <a:gd name="T3" fmla="*/ 1 h 6"/>
                      <a:gd name="T4" fmla="*/ 25 w 30"/>
                      <a:gd name="T5" fmla="*/ 2 h 6"/>
                      <a:gd name="T6" fmla="*/ 22 w 30"/>
                      <a:gd name="T7" fmla="*/ 2 h 6"/>
                      <a:gd name="T8" fmla="*/ 18 w 30"/>
                      <a:gd name="T9" fmla="*/ 3 h 6"/>
                      <a:gd name="T10" fmla="*/ 16 w 30"/>
                      <a:gd name="T11" fmla="*/ 3 h 6"/>
                      <a:gd name="T12" fmla="*/ 13 w 30"/>
                      <a:gd name="T13" fmla="*/ 3 h 6"/>
                      <a:gd name="T14" fmla="*/ 10 w 30"/>
                      <a:gd name="T15" fmla="*/ 3 h 6"/>
                      <a:gd name="T16" fmla="*/ 7 w 30"/>
                      <a:gd name="T17" fmla="*/ 2 h 6"/>
                      <a:gd name="T18" fmla="*/ 4 w 30"/>
                      <a:gd name="T19" fmla="*/ 2 h 6"/>
                      <a:gd name="T20" fmla="*/ 2 w 30"/>
                      <a:gd name="T21" fmla="*/ 0 h 6"/>
                      <a:gd name="T22" fmla="*/ 1 w 30"/>
                      <a:gd name="T23" fmla="*/ 0 h 6"/>
                      <a:gd name="T24" fmla="*/ 0 w 30"/>
                      <a:gd name="T25" fmla="*/ 3 h 6"/>
                      <a:gd name="T26" fmla="*/ 0 w 30"/>
                      <a:gd name="T27" fmla="*/ 6 h 6"/>
                      <a:gd name="T28" fmla="*/ 27 w 30"/>
                      <a:gd name="T29" fmla="*/ 6 h 6"/>
                      <a:gd name="T30" fmla="*/ 30 w 30"/>
                      <a:gd name="T31" fmla="*/ 3 h 6"/>
                      <a:gd name="T32" fmla="*/ 30 w 30"/>
                      <a:gd name="T33" fmla="*/ 0 h 6"/>
                      <a:gd name="T34" fmla="*/ 28 w 30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0"/>
                      <a:gd name="T55" fmla="*/ 0 h 6"/>
                      <a:gd name="T56" fmla="*/ 30 w 30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0" h="6">
                        <a:moveTo>
                          <a:pt x="28" y="0"/>
                        </a:moveTo>
                        <a:lnTo>
                          <a:pt x="27" y="1"/>
                        </a:lnTo>
                        <a:lnTo>
                          <a:pt x="25" y="2"/>
                        </a:lnTo>
                        <a:lnTo>
                          <a:pt x="22" y="2"/>
                        </a:lnTo>
                        <a:lnTo>
                          <a:pt x="18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10" y="3"/>
                        </a:lnTo>
                        <a:lnTo>
                          <a:pt x="7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7" y="6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28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59" name="Freeform 476"/>
                  <p:cNvSpPr>
                    <a:spLocks/>
                  </p:cNvSpPr>
                  <p:nvPr/>
                </p:nvSpPr>
                <p:spPr bwMode="auto">
                  <a:xfrm>
                    <a:off x="3747" y="2677"/>
                    <a:ext cx="18" cy="6"/>
                  </a:xfrm>
                  <a:custGeom>
                    <a:avLst/>
                    <a:gdLst>
                      <a:gd name="T0" fmla="*/ 3 w 18"/>
                      <a:gd name="T1" fmla="*/ 0 h 6"/>
                      <a:gd name="T2" fmla="*/ 18 w 18"/>
                      <a:gd name="T3" fmla="*/ 0 h 6"/>
                      <a:gd name="T4" fmla="*/ 17 w 18"/>
                      <a:gd name="T5" fmla="*/ 3 h 6"/>
                      <a:gd name="T6" fmla="*/ 17 w 18"/>
                      <a:gd name="T7" fmla="*/ 6 h 6"/>
                      <a:gd name="T8" fmla="*/ 0 w 18"/>
                      <a:gd name="T9" fmla="*/ 6 h 6"/>
                      <a:gd name="T10" fmla="*/ 3 w 18"/>
                      <a:gd name="T11" fmla="*/ 3 h 6"/>
                      <a:gd name="T12" fmla="*/ 3 w 18"/>
                      <a:gd name="T13" fmla="*/ 0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8"/>
                      <a:gd name="T22" fmla="*/ 0 h 6"/>
                      <a:gd name="T23" fmla="*/ 18 w 18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8" h="6">
                        <a:moveTo>
                          <a:pt x="3" y="0"/>
                        </a:moveTo>
                        <a:lnTo>
                          <a:pt x="18" y="0"/>
                        </a:lnTo>
                        <a:lnTo>
                          <a:pt x="17" y="3"/>
                        </a:lnTo>
                        <a:lnTo>
                          <a:pt x="17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60" name="Freeform 477"/>
                  <p:cNvSpPr>
                    <a:spLocks/>
                  </p:cNvSpPr>
                  <p:nvPr/>
                </p:nvSpPr>
                <p:spPr bwMode="auto">
                  <a:xfrm>
                    <a:off x="3747" y="2677"/>
                    <a:ext cx="18" cy="6"/>
                  </a:xfrm>
                  <a:custGeom>
                    <a:avLst/>
                    <a:gdLst>
                      <a:gd name="T0" fmla="*/ 3 w 18"/>
                      <a:gd name="T1" fmla="*/ 0 h 6"/>
                      <a:gd name="T2" fmla="*/ 18 w 18"/>
                      <a:gd name="T3" fmla="*/ 0 h 6"/>
                      <a:gd name="T4" fmla="*/ 17 w 18"/>
                      <a:gd name="T5" fmla="*/ 3 h 6"/>
                      <a:gd name="T6" fmla="*/ 17 w 18"/>
                      <a:gd name="T7" fmla="*/ 6 h 6"/>
                      <a:gd name="T8" fmla="*/ 0 w 18"/>
                      <a:gd name="T9" fmla="*/ 6 h 6"/>
                      <a:gd name="T10" fmla="*/ 3 w 18"/>
                      <a:gd name="T11" fmla="*/ 3 h 6"/>
                      <a:gd name="T12" fmla="*/ 3 w 18"/>
                      <a:gd name="T13" fmla="*/ 0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8"/>
                      <a:gd name="T22" fmla="*/ 0 h 6"/>
                      <a:gd name="T23" fmla="*/ 18 w 18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8" h="6">
                        <a:moveTo>
                          <a:pt x="3" y="0"/>
                        </a:moveTo>
                        <a:lnTo>
                          <a:pt x="18" y="0"/>
                        </a:lnTo>
                        <a:lnTo>
                          <a:pt x="17" y="3"/>
                        </a:lnTo>
                        <a:lnTo>
                          <a:pt x="17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  <a:lnTo>
                          <a:pt x="3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61" name="Freeform 478"/>
                  <p:cNvSpPr>
                    <a:spLocks/>
                  </p:cNvSpPr>
                  <p:nvPr/>
                </p:nvSpPr>
                <p:spPr bwMode="auto">
                  <a:xfrm>
                    <a:off x="3764" y="2677"/>
                    <a:ext cx="31" cy="6"/>
                  </a:xfrm>
                  <a:custGeom>
                    <a:avLst/>
                    <a:gdLst>
                      <a:gd name="T0" fmla="*/ 29 w 31"/>
                      <a:gd name="T1" fmla="*/ 0 h 6"/>
                      <a:gd name="T2" fmla="*/ 28 w 31"/>
                      <a:gd name="T3" fmla="*/ 1 h 6"/>
                      <a:gd name="T4" fmla="*/ 26 w 31"/>
                      <a:gd name="T5" fmla="*/ 2 h 6"/>
                      <a:gd name="T6" fmla="*/ 22 w 31"/>
                      <a:gd name="T7" fmla="*/ 2 h 6"/>
                      <a:gd name="T8" fmla="*/ 19 w 31"/>
                      <a:gd name="T9" fmla="*/ 3 h 6"/>
                      <a:gd name="T10" fmla="*/ 16 w 31"/>
                      <a:gd name="T11" fmla="*/ 3 h 6"/>
                      <a:gd name="T12" fmla="*/ 13 w 31"/>
                      <a:gd name="T13" fmla="*/ 3 h 6"/>
                      <a:gd name="T14" fmla="*/ 11 w 31"/>
                      <a:gd name="T15" fmla="*/ 3 h 6"/>
                      <a:gd name="T16" fmla="*/ 6 w 31"/>
                      <a:gd name="T17" fmla="*/ 2 h 6"/>
                      <a:gd name="T18" fmla="*/ 4 w 31"/>
                      <a:gd name="T19" fmla="*/ 2 h 6"/>
                      <a:gd name="T20" fmla="*/ 2 w 31"/>
                      <a:gd name="T21" fmla="*/ 0 h 6"/>
                      <a:gd name="T22" fmla="*/ 1 w 31"/>
                      <a:gd name="T23" fmla="*/ 0 h 6"/>
                      <a:gd name="T24" fmla="*/ 0 w 31"/>
                      <a:gd name="T25" fmla="*/ 3 h 6"/>
                      <a:gd name="T26" fmla="*/ 0 w 31"/>
                      <a:gd name="T27" fmla="*/ 6 h 6"/>
                      <a:gd name="T28" fmla="*/ 28 w 31"/>
                      <a:gd name="T29" fmla="*/ 6 h 6"/>
                      <a:gd name="T30" fmla="*/ 31 w 31"/>
                      <a:gd name="T31" fmla="*/ 3 h 6"/>
                      <a:gd name="T32" fmla="*/ 31 w 31"/>
                      <a:gd name="T33" fmla="*/ 0 h 6"/>
                      <a:gd name="T34" fmla="*/ 29 w 31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"/>
                      <a:gd name="T55" fmla="*/ 0 h 6"/>
                      <a:gd name="T56" fmla="*/ 31 w 31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" h="6">
                        <a:moveTo>
                          <a:pt x="29" y="0"/>
                        </a:moveTo>
                        <a:lnTo>
                          <a:pt x="28" y="1"/>
                        </a:lnTo>
                        <a:lnTo>
                          <a:pt x="26" y="2"/>
                        </a:lnTo>
                        <a:lnTo>
                          <a:pt x="22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11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8" y="6"/>
                        </a:lnTo>
                        <a:lnTo>
                          <a:pt x="31" y="3"/>
                        </a:lnTo>
                        <a:lnTo>
                          <a:pt x="31" y="0"/>
                        </a:lnTo>
                        <a:lnTo>
                          <a:pt x="2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62" name="Freeform 479"/>
                  <p:cNvSpPr>
                    <a:spLocks/>
                  </p:cNvSpPr>
                  <p:nvPr/>
                </p:nvSpPr>
                <p:spPr bwMode="auto">
                  <a:xfrm>
                    <a:off x="3764" y="2677"/>
                    <a:ext cx="31" cy="6"/>
                  </a:xfrm>
                  <a:custGeom>
                    <a:avLst/>
                    <a:gdLst>
                      <a:gd name="T0" fmla="*/ 29 w 31"/>
                      <a:gd name="T1" fmla="*/ 0 h 6"/>
                      <a:gd name="T2" fmla="*/ 28 w 31"/>
                      <a:gd name="T3" fmla="*/ 1 h 6"/>
                      <a:gd name="T4" fmla="*/ 26 w 31"/>
                      <a:gd name="T5" fmla="*/ 2 h 6"/>
                      <a:gd name="T6" fmla="*/ 22 w 31"/>
                      <a:gd name="T7" fmla="*/ 2 h 6"/>
                      <a:gd name="T8" fmla="*/ 19 w 31"/>
                      <a:gd name="T9" fmla="*/ 3 h 6"/>
                      <a:gd name="T10" fmla="*/ 16 w 31"/>
                      <a:gd name="T11" fmla="*/ 3 h 6"/>
                      <a:gd name="T12" fmla="*/ 13 w 31"/>
                      <a:gd name="T13" fmla="*/ 3 h 6"/>
                      <a:gd name="T14" fmla="*/ 11 w 31"/>
                      <a:gd name="T15" fmla="*/ 3 h 6"/>
                      <a:gd name="T16" fmla="*/ 6 w 31"/>
                      <a:gd name="T17" fmla="*/ 2 h 6"/>
                      <a:gd name="T18" fmla="*/ 4 w 31"/>
                      <a:gd name="T19" fmla="*/ 2 h 6"/>
                      <a:gd name="T20" fmla="*/ 2 w 31"/>
                      <a:gd name="T21" fmla="*/ 0 h 6"/>
                      <a:gd name="T22" fmla="*/ 1 w 31"/>
                      <a:gd name="T23" fmla="*/ 0 h 6"/>
                      <a:gd name="T24" fmla="*/ 0 w 31"/>
                      <a:gd name="T25" fmla="*/ 3 h 6"/>
                      <a:gd name="T26" fmla="*/ 0 w 31"/>
                      <a:gd name="T27" fmla="*/ 6 h 6"/>
                      <a:gd name="T28" fmla="*/ 28 w 31"/>
                      <a:gd name="T29" fmla="*/ 6 h 6"/>
                      <a:gd name="T30" fmla="*/ 31 w 31"/>
                      <a:gd name="T31" fmla="*/ 3 h 6"/>
                      <a:gd name="T32" fmla="*/ 31 w 31"/>
                      <a:gd name="T33" fmla="*/ 0 h 6"/>
                      <a:gd name="T34" fmla="*/ 29 w 31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"/>
                      <a:gd name="T55" fmla="*/ 0 h 6"/>
                      <a:gd name="T56" fmla="*/ 31 w 31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" h="6">
                        <a:moveTo>
                          <a:pt x="29" y="0"/>
                        </a:moveTo>
                        <a:lnTo>
                          <a:pt x="28" y="1"/>
                        </a:lnTo>
                        <a:lnTo>
                          <a:pt x="26" y="2"/>
                        </a:lnTo>
                        <a:lnTo>
                          <a:pt x="22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11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8" y="6"/>
                        </a:lnTo>
                        <a:lnTo>
                          <a:pt x="31" y="3"/>
                        </a:lnTo>
                        <a:lnTo>
                          <a:pt x="31" y="0"/>
                        </a:lnTo>
                        <a:lnTo>
                          <a:pt x="29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63" name="Freeform 480"/>
                  <p:cNvSpPr>
                    <a:spLocks/>
                  </p:cNvSpPr>
                  <p:nvPr/>
                </p:nvSpPr>
                <p:spPr bwMode="auto">
                  <a:xfrm>
                    <a:off x="3791" y="2677"/>
                    <a:ext cx="21" cy="6"/>
                  </a:xfrm>
                  <a:custGeom>
                    <a:avLst/>
                    <a:gdLst>
                      <a:gd name="T0" fmla="*/ 3 w 21"/>
                      <a:gd name="T1" fmla="*/ 3 h 6"/>
                      <a:gd name="T2" fmla="*/ 3 w 21"/>
                      <a:gd name="T3" fmla="*/ 0 h 6"/>
                      <a:gd name="T4" fmla="*/ 21 w 21"/>
                      <a:gd name="T5" fmla="*/ 0 h 6"/>
                      <a:gd name="T6" fmla="*/ 18 w 21"/>
                      <a:gd name="T7" fmla="*/ 5 h 6"/>
                      <a:gd name="T8" fmla="*/ 18 w 21"/>
                      <a:gd name="T9" fmla="*/ 6 h 6"/>
                      <a:gd name="T10" fmla="*/ 0 w 21"/>
                      <a:gd name="T11" fmla="*/ 6 h 6"/>
                      <a:gd name="T12" fmla="*/ 3 w 21"/>
                      <a:gd name="T13" fmla="*/ 3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1"/>
                      <a:gd name="T22" fmla="*/ 0 h 6"/>
                      <a:gd name="T23" fmla="*/ 21 w 21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1" h="6">
                        <a:moveTo>
                          <a:pt x="3" y="3"/>
                        </a:moveTo>
                        <a:lnTo>
                          <a:pt x="3" y="0"/>
                        </a:lnTo>
                        <a:lnTo>
                          <a:pt x="21" y="0"/>
                        </a:lnTo>
                        <a:lnTo>
                          <a:pt x="18" y="5"/>
                        </a:lnTo>
                        <a:lnTo>
                          <a:pt x="18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64" name="Freeform 481"/>
                  <p:cNvSpPr>
                    <a:spLocks/>
                  </p:cNvSpPr>
                  <p:nvPr/>
                </p:nvSpPr>
                <p:spPr bwMode="auto">
                  <a:xfrm>
                    <a:off x="3791" y="2677"/>
                    <a:ext cx="21" cy="6"/>
                  </a:xfrm>
                  <a:custGeom>
                    <a:avLst/>
                    <a:gdLst>
                      <a:gd name="T0" fmla="*/ 3 w 21"/>
                      <a:gd name="T1" fmla="*/ 3 h 6"/>
                      <a:gd name="T2" fmla="*/ 3 w 21"/>
                      <a:gd name="T3" fmla="*/ 0 h 6"/>
                      <a:gd name="T4" fmla="*/ 21 w 21"/>
                      <a:gd name="T5" fmla="*/ 0 h 6"/>
                      <a:gd name="T6" fmla="*/ 18 w 21"/>
                      <a:gd name="T7" fmla="*/ 5 h 6"/>
                      <a:gd name="T8" fmla="*/ 18 w 21"/>
                      <a:gd name="T9" fmla="*/ 6 h 6"/>
                      <a:gd name="T10" fmla="*/ 0 w 21"/>
                      <a:gd name="T11" fmla="*/ 6 h 6"/>
                      <a:gd name="T12" fmla="*/ 3 w 21"/>
                      <a:gd name="T13" fmla="*/ 3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1"/>
                      <a:gd name="T22" fmla="*/ 0 h 6"/>
                      <a:gd name="T23" fmla="*/ 21 w 21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1" h="6">
                        <a:moveTo>
                          <a:pt x="3" y="3"/>
                        </a:moveTo>
                        <a:lnTo>
                          <a:pt x="3" y="0"/>
                        </a:lnTo>
                        <a:lnTo>
                          <a:pt x="21" y="0"/>
                        </a:lnTo>
                        <a:lnTo>
                          <a:pt x="18" y="5"/>
                        </a:lnTo>
                        <a:lnTo>
                          <a:pt x="18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65" name="Freeform 482"/>
                  <p:cNvSpPr>
                    <a:spLocks/>
                  </p:cNvSpPr>
                  <p:nvPr/>
                </p:nvSpPr>
                <p:spPr bwMode="auto">
                  <a:xfrm>
                    <a:off x="3835" y="2654"/>
                    <a:ext cx="8" cy="29"/>
                  </a:xfrm>
                  <a:custGeom>
                    <a:avLst/>
                    <a:gdLst>
                      <a:gd name="T0" fmla="*/ 0 w 8"/>
                      <a:gd name="T1" fmla="*/ 7 h 29"/>
                      <a:gd name="T2" fmla="*/ 8 w 8"/>
                      <a:gd name="T3" fmla="*/ 0 h 29"/>
                      <a:gd name="T4" fmla="*/ 8 w 8"/>
                      <a:gd name="T5" fmla="*/ 21 h 29"/>
                      <a:gd name="T6" fmla="*/ 0 w 8"/>
                      <a:gd name="T7" fmla="*/ 29 h 29"/>
                      <a:gd name="T8" fmla="*/ 0 w 8"/>
                      <a:gd name="T9" fmla="*/ 7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"/>
                      <a:gd name="T16" fmla="*/ 0 h 29"/>
                      <a:gd name="T17" fmla="*/ 8 w 8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" h="29">
                        <a:moveTo>
                          <a:pt x="0" y="7"/>
                        </a:moveTo>
                        <a:lnTo>
                          <a:pt x="8" y="0"/>
                        </a:lnTo>
                        <a:lnTo>
                          <a:pt x="8" y="21"/>
                        </a:lnTo>
                        <a:lnTo>
                          <a:pt x="0" y="29"/>
                        </a:lnTo>
                        <a:lnTo>
                          <a:pt x="0" y="7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66" name="Freeform 483"/>
                  <p:cNvSpPr>
                    <a:spLocks/>
                  </p:cNvSpPr>
                  <p:nvPr/>
                </p:nvSpPr>
                <p:spPr bwMode="auto">
                  <a:xfrm>
                    <a:off x="3835" y="2654"/>
                    <a:ext cx="8" cy="29"/>
                  </a:xfrm>
                  <a:custGeom>
                    <a:avLst/>
                    <a:gdLst>
                      <a:gd name="T0" fmla="*/ 0 w 8"/>
                      <a:gd name="T1" fmla="*/ 7 h 29"/>
                      <a:gd name="T2" fmla="*/ 8 w 8"/>
                      <a:gd name="T3" fmla="*/ 0 h 29"/>
                      <a:gd name="T4" fmla="*/ 8 w 8"/>
                      <a:gd name="T5" fmla="*/ 21 h 29"/>
                      <a:gd name="T6" fmla="*/ 0 w 8"/>
                      <a:gd name="T7" fmla="*/ 29 h 29"/>
                      <a:gd name="T8" fmla="*/ 0 w 8"/>
                      <a:gd name="T9" fmla="*/ 7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"/>
                      <a:gd name="T16" fmla="*/ 0 h 29"/>
                      <a:gd name="T17" fmla="*/ 8 w 8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" h="29">
                        <a:moveTo>
                          <a:pt x="0" y="7"/>
                        </a:moveTo>
                        <a:lnTo>
                          <a:pt x="8" y="0"/>
                        </a:lnTo>
                        <a:lnTo>
                          <a:pt x="8" y="21"/>
                        </a:lnTo>
                        <a:lnTo>
                          <a:pt x="0" y="29"/>
                        </a:lnTo>
                        <a:lnTo>
                          <a:pt x="0" y="7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67" name="Freeform 484"/>
                  <p:cNvSpPr>
                    <a:spLocks/>
                  </p:cNvSpPr>
                  <p:nvPr/>
                </p:nvSpPr>
                <p:spPr bwMode="auto">
                  <a:xfrm>
                    <a:off x="3808" y="2661"/>
                    <a:ext cx="27" cy="22"/>
                  </a:xfrm>
                  <a:custGeom>
                    <a:avLst/>
                    <a:gdLst>
                      <a:gd name="T0" fmla="*/ 0 w 27"/>
                      <a:gd name="T1" fmla="*/ 22 h 22"/>
                      <a:gd name="T2" fmla="*/ 0 w 27"/>
                      <a:gd name="T3" fmla="*/ 20 h 22"/>
                      <a:gd name="T4" fmla="*/ 3 w 27"/>
                      <a:gd name="T5" fmla="*/ 16 h 22"/>
                      <a:gd name="T6" fmla="*/ 3 w 27"/>
                      <a:gd name="T7" fmla="*/ 0 h 22"/>
                      <a:gd name="T8" fmla="*/ 27 w 27"/>
                      <a:gd name="T9" fmla="*/ 0 h 22"/>
                      <a:gd name="T10" fmla="*/ 27 w 27"/>
                      <a:gd name="T11" fmla="*/ 22 h 22"/>
                      <a:gd name="T12" fmla="*/ 0 w 27"/>
                      <a:gd name="T13" fmla="*/ 22 h 2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7"/>
                      <a:gd name="T22" fmla="*/ 0 h 22"/>
                      <a:gd name="T23" fmla="*/ 27 w 27"/>
                      <a:gd name="T24" fmla="*/ 22 h 2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7" h="22">
                        <a:moveTo>
                          <a:pt x="0" y="22"/>
                        </a:moveTo>
                        <a:lnTo>
                          <a:pt x="0" y="20"/>
                        </a:lnTo>
                        <a:lnTo>
                          <a:pt x="3" y="16"/>
                        </a:lnTo>
                        <a:lnTo>
                          <a:pt x="3" y="0"/>
                        </a:lnTo>
                        <a:lnTo>
                          <a:pt x="27" y="0"/>
                        </a:lnTo>
                        <a:lnTo>
                          <a:pt x="27" y="22"/>
                        </a:lnTo>
                        <a:lnTo>
                          <a:pt x="0" y="2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68" name="Freeform 485"/>
                  <p:cNvSpPr>
                    <a:spLocks/>
                  </p:cNvSpPr>
                  <p:nvPr/>
                </p:nvSpPr>
                <p:spPr bwMode="auto">
                  <a:xfrm>
                    <a:off x="3808" y="2661"/>
                    <a:ext cx="27" cy="22"/>
                  </a:xfrm>
                  <a:custGeom>
                    <a:avLst/>
                    <a:gdLst>
                      <a:gd name="T0" fmla="*/ 0 w 27"/>
                      <a:gd name="T1" fmla="*/ 22 h 22"/>
                      <a:gd name="T2" fmla="*/ 0 w 27"/>
                      <a:gd name="T3" fmla="*/ 20 h 22"/>
                      <a:gd name="T4" fmla="*/ 3 w 27"/>
                      <a:gd name="T5" fmla="*/ 16 h 22"/>
                      <a:gd name="T6" fmla="*/ 3 w 27"/>
                      <a:gd name="T7" fmla="*/ 0 h 22"/>
                      <a:gd name="T8" fmla="*/ 27 w 27"/>
                      <a:gd name="T9" fmla="*/ 0 h 22"/>
                      <a:gd name="T10" fmla="*/ 27 w 27"/>
                      <a:gd name="T11" fmla="*/ 22 h 22"/>
                      <a:gd name="T12" fmla="*/ 0 w 27"/>
                      <a:gd name="T13" fmla="*/ 22 h 2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7"/>
                      <a:gd name="T22" fmla="*/ 0 h 22"/>
                      <a:gd name="T23" fmla="*/ 27 w 27"/>
                      <a:gd name="T24" fmla="*/ 22 h 2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7" h="22">
                        <a:moveTo>
                          <a:pt x="0" y="22"/>
                        </a:moveTo>
                        <a:lnTo>
                          <a:pt x="0" y="20"/>
                        </a:lnTo>
                        <a:lnTo>
                          <a:pt x="3" y="16"/>
                        </a:lnTo>
                        <a:lnTo>
                          <a:pt x="3" y="0"/>
                        </a:lnTo>
                        <a:lnTo>
                          <a:pt x="27" y="0"/>
                        </a:lnTo>
                        <a:lnTo>
                          <a:pt x="27" y="22"/>
                        </a:lnTo>
                        <a:lnTo>
                          <a:pt x="0" y="22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69" name="Freeform 486"/>
                  <p:cNvSpPr>
                    <a:spLocks/>
                  </p:cNvSpPr>
                  <p:nvPr/>
                </p:nvSpPr>
                <p:spPr bwMode="auto">
                  <a:xfrm>
                    <a:off x="3570" y="2683"/>
                    <a:ext cx="35" cy="54"/>
                  </a:xfrm>
                  <a:custGeom>
                    <a:avLst/>
                    <a:gdLst>
                      <a:gd name="T0" fmla="*/ 32 w 35"/>
                      <a:gd name="T1" fmla="*/ 6 h 54"/>
                      <a:gd name="T2" fmla="*/ 3 w 35"/>
                      <a:gd name="T3" fmla="*/ 6 h 54"/>
                      <a:gd name="T4" fmla="*/ 0 w 35"/>
                      <a:gd name="T5" fmla="*/ 0 h 54"/>
                      <a:gd name="T6" fmla="*/ 35 w 35"/>
                      <a:gd name="T7" fmla="*/ 0 h 54"/>
                      <a:gd name="T8" fmla="*/ 35 w 35"/>
                      <a:gd name="T9" fmla="*/ 54 h 54"/>
                      <a:gd name="T10" fmla="*/ 32 w 35"/>
                      <a:gd name="T11" fmla="*/ 54 h 54"/>
                      <a:gd name="T12" fmla="*/ 32 w 35"/>
                      <a:gd name="T13" fmla="*/ 6 h 5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5"/>
                      <a:gd name="T22" fmla="*/ 0 h 54"/>
                      <a:gd name="T23" fmla="*/ 35 w 35"/>
                      <a:gd name="T24" fmla="*/ 54 h 54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5" h="54">
                        <a:moveTo>
                          <a:pt x="32" y="6"/>
                        </a:moveTo>
                        <a:lnTo>
                          <a:pt x="3" y="6"/>
                        </a:lnTo>
                        <a:lnTo>
                          <a:pt x="0" y="0"/>
                        </a:lnTo>
                        <a:lnTo>
                          <a:pt x="35" y="0"/>
                        </a:lnTo>
                        <a:lnTo>
                          <a:pt x="35" y="54"/>
                        </a:lnTo>
                        <a:lnTo>
                          <a:pt x="32" y="54"/>
                        </a:lnTo>
                        <a:lnTo>
                          <a:pt x="32" y="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70" name="Freeform 487"/>
                  <p:cNvSpPr>
                    <a:spLocks/>
                  </p:cNvSpPr>
                  <p:nvPr/>
                </p:nvSpPr>
                <p:spPr bwMode="auto">
                  <a:xfrm>
                    <a:off x="3570" y="2683"/>
                    <a:ext cx="35" cy="54"/>
                  </a:xfrm>
                  <a:custGeom>
                    <a:avLst/>
                    <a:gdLst>
                      <a:gd name="T0" fmla="*/ 32 w 35"/>
                      <a:gd name="T1" fmla="*/ 6 h 54"/>
                      <a:gd name="T2" fmla="*/ 3 w 35"/>
                      <a:gd name="T3" fmla="*/ 6 h 54"/>
                      <a:gd name="T4" fmla="*/ 0 w 35"/>
                      <a:gd name="T5" fmla="*/ 0 h 54"/>
                      <a:gd name="T6" fmla="*/ 35 w 35"/>
                      <a:gd name="T7" fmla="*/ 0 h 54"/>
                      <a:gd name="T8" fmla="*/ 35 w 35"/>
                      <a:gd name="T9" fmla="*/ 54 h 54"/>
                      <a:gd name="T10" fmla="*/ 32 w 35"/>
                      <a:gd name="T11" fmla="*/ 54 h 54"/>
                      <a:gd name="T12" fmla="*/ 32 w 35"/>
                      <a:gd name="T13" fmla="*/ 6 h 5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5"/>
                      <a:gd name="T22" fmla="*/ 0 h 54"/>
                      <a:gd name="T23" fmla="*/ 35 w 35"/>
                      <a:gd name="T24" fmla="*/ 54 h 54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5" h="54">
                        <a:moveTo>
                          <a:pt x="32" y="6"/>
                        </a:moveTo>
                        <a:lnTo>
                          <a:pt x="3" y="6"/>
                        </a:lnTo>
                        <a:lnTo>
                          <a:pt x="0" y="0"/>
                        </a:lnTo>
                        <a:lnTo>
                          <a:pt x="35" y="0"/>
                        </a:lnTo>
                        <a:lnTo>
                          <a:pt x="35" y="54"/>
                        </a:lnTo>
                        <a:lnTo>
                          <a:pt x="32" y="54"/>
                        </a:lnTo>
                        <a:lnTo>
                          <a:pt x="32" y="6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71" name="Freeform 488"/>
                  <p:cNvSpPr>
                    <a:spLocks/>
                  </p:cNvSpPr>
                  <p:nvPr/>
                </p:nvSpPr>
                <p:spPr bwMode="auto">
                  <a:xfrm>
                    <a:off x="3563" y="2689"/>
                    <a:ext cx="39" cy="48"/>
                  </a:xfrm>
                  <a:custGeom>
                    <a:avLst/>
                    <a:gdLst>
                      <a:gd name="T0" fmla="*/ 39 w 39"/>
                      <a:gd name="T1" fmla="*/ 48 h 48"/>
                      <a:gd name="T2" fmla="*/ 0 w 39"/>
                      <a:gd name="T3" fmla="*/ 48 h 48"/>
                      <a:gd name="T4" fmla="*/ 14 w 39"/>
                      <a:gd name="T5" fmla="*/ 36 h 48"/>
                      <a:gd name="T6" fmla="*/ 14 w 39"/>
                      <a:gd name="T7" fmla="*/ 0 h 48"/>
                      <a:gd name="T8" fmla="*/ 39 w 39"/>
                      <a:gd name="T9" fmla="*/ 0 h 48"/>
                      <a:gd name="T10" fmla="*/ 39 w 39"/>
                      <a:gd name="T11" fmla="*/ 48 h 4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9"/>
                      <a:gd name="T19" fmla="*/ 0 h 48"/>
                      <a:gd name="T20" fmla="*/ 39 w 39"/>
                      <a:gd name="T21" fmla="*/ 48 h 4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9" h="48">
                        <a:moveTo>
                          <a:pt x="39" y="48"/>
                        </a:moveTo>
                        <a:lnTo>
                          <a:pt x="0" y="48"/>
                        </a:lnTo>
                        <a:lnTo>
                          <a:pt x="14" y="36"/>
                        </a:lnTo>
                        <a:lnTo>
                          <a:pt x="14" y="0"/>
                        </a:lnTo>
                        <a:lnTo>
                          <a:pt x="39" y="0"/>
                        </a:lnTo>
                        <a:lnTo>
                          <a:pt x="39" y="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72" name="Freeform 489"/>
                  <p:cNvSpPr>
                    <a:spLocks/>
                  </p:cNvSpPr>
                  <p:nvPr/>
                </p:nvSpPr>
                <p:spPr bwMode="auto">
                  <a:xfrm>
                    <a:off x="3563" y="2689"/>
                    <a:ext cx="39" cy="48"/>
                  </a:xfrm>
                  <a:custGeom>
                    <a:avLst/>
                    <a:gdLst>
                      <a:gd name="T0" fmla="*/ 39 w 39"/>
                      <a:gd name="T1" fmla="*/ 48 h 48"/>
                      <a:gd name="T2" fmla="*/ 0 w 39"/>
                      <a:gd name="T3" fmla="*/ 48 h 48"/>
                      <a:gd name="T4" fmla="*/ 14 w 39"/>
                      <a:gd name="T5" fmla="*/ 36 h 48"/>
                      <a:gd name="T6" fmla="*/ 14 w 39"/>
                      <a:gd name="T7" fmla="*/ 0 h 48"/>
                      <a:gd name="T8" fmla="*/ 39 w 39"/>
                      <a:gd name="T9" fmla="*/ 0 h 48"/>
                      <a:gd name="T10" fmla="*/ 39 w 39"/>
                      <a:gd name="T11" fmla="*/ 48 h 4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9"/>
                      <a:gd name="T19" fmla="*/ 0 h 48"/>
                      <a:gd name="T20" fmla="*/ 39 w 39"/>
                      <a:gd name="T21" fmla="*/ 48 h 4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9" h="48">
                        <a:moveTo>
                          <a:pt x="39" y="48"/>
                        </a:moveTo>
                        <a:lnTo>
                          <a:pt x="0" y="48"/>
                        </a:lnTo>
                        <a:lnTo>
                          <a:pt x="14" y="36"/>
                        </a:lnTo>
                        <a:lnTo>
                          <a:pt x="14" y="0"/>
                        </a:lnTo>
                        <a:lnTo>
                          <a:pt x="39" y="0"/>
                        </a:lnTo>
                        <a:lnTo>
                          <a:pt x="39" y="48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73" name="Freeform 490"/>
                  <p:cNvSpPr>
                    <a:spLocks/>
                  </p:cNvSpPr>
                  <p:nvPr/>
                </p:nvSpPr>
                <p:spPr bwMode="auto">
                  <a:xfrm>
                    <a:off x="3808" y="2683"/>
                    <a:ext cx="38" cy="54"/>
                  </a:xfrm>
                  <a:custGeom>
                    <a:avLst/>
                    <a:gdLst>
                      <a:gd name="T0" fmla="*/ 0 w 38"/>
                      <a:gd name="T1" fmla="*/ 5 h 54"/>
                      <a:gd name="T2" fmla="*/ 0 w 38"/>
                      <a:gd name="T3" fmla="*/ 54 h 54"/>
                      <a:gd name="T4" fmla="*/ 5 w 38"/>
                      <a:gd name="T5" fmla="*/ 54 h 54"/>
                      <a:gd name="T6" fmla="*/ 5 w 38"/>
                      <a:gd name="T7" fmla="*/ 6 h 54"/>
                      <a:gd name="T8" fmla="*/ 33 w 38"/>
                      <a:gd name="T9" fmla="*/ 6 h 54"/>
                      <a:gd name="T10" fmla="*/ 38 w 38"/>
                      <a:gd name="T11" fmla="*/ 0 h 54"/>
                      <a:gd name="T12" fmla="*/ 0 w 38"/>
                      <a:gd name="T13" fmla="*/ 0 h 54"/>
                      <a:gd name="T14" fmla="*/ 0 w 38"/>
                      <a:gd name="T15" fmla="*/ 5 h 5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8"/>
                      <a:gd name="T25" fmla="*/ 0 h 54"/>
                      <a:gd name="T26" fmla="*/ 38 w 38"/>
                      <a:gd name="T27" fmla="*/ 54 h 5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8" h="54">
                        <a:moveTo>
                          <a:pt x="0" y="5"/>
                        </a:moveTo>
                        <a:lnTo>
                          <a:pt x="0" y="54"/>
                        </a:lnTo>
                        <a:lnTo>
                          <a:pt x="5" y="54"/>
                        </a:lnTo>
                        <a:lnTo>
                          <a:pt x="5" y="6"/>
                        </a:lnTo>
                        <a:lnTo>
                          <a:pt x="33" y="6"/>
                        </a:lnTo>
                        <a:lnTo>
                          <a:pt x="38" y="0"/>
                        </a:lnTo>
                        <a:lnTo>
                          <a:pt x="0" y="0"/>
                        </a:ln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74" name="Freeform 491"/>
                  <p:cNvSpPr>
                    <a:spLocks/>
                  </p:cNvSpPr>
                  <p:nvPr/>
                </p:nvSpPr>
                <p:spPr bwMode="auto">
                  <a:xfrm>
                    <a:off x="3808" y="2683"/>
                    <a:ext cx="38" cy="54"/>
                  </a:xfrm>
                  <a:custGeom>
                    <a:avLst/>
                    <a:gdLst>
                      <a:gd name="T0" fmla="*/ 0 w 38"/>
                      <a:gd name="T1" fmla="*/ 5 h 54"/>
                      <a:gd name="T2" fmla="*/ 0 w 38"/>
                      <a:gd name="T3" fmla="*/ 54 h 54"/>
                      <a:gd name="T4" fmla="*/ 5 w 38"/>
                      <a:gd name="T5" fmla="*/ 54 h 54"/>
                      <a:gd name="T6" fmla="*/ 5 w 38"/>
                      <a:gd name="T7" fmla="*/ 6 h 54"/>
                      <a:gd name="T8" fmla="*/ 33 w 38"/>
                      <a:gd name="T9" fmla="*/ 6 h 54"/>
                      <a:gd name="T10" fmla="*/ 38 w 38"/>
                      <a:gd name="T11" fmla="*/ 0 h 54"/>
                      <a:gd name="T12" fmla="*/ 0 w 38"/>
                      <a:gd name="T13" fmla="*/ 0 h 54"/>
                      <a:gd name="T14" fmla="*/ 0 w 38"/>
                      <a:gd name="T15" fmla="*/ 5 h 5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8"/>
                      <a:gd name="T25" fmla="*/ 0 h 54"/>
                      <a:gd name="T26" fmla="*/ 38 w 38"/>
                      <a:gd name="T27" fmla="*/ 54 h 5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8" h="54">
                        <a:moveTo>
                          <a:pt x="0" y="5"/>
                        </a:moveTo>
                        <a:lnTo>
                          <a:pt x="0" y="54"/>
                        </a:lnTo>
                        <a:lnTo>
                          <a:pt x="5" y="54"/>
                        </a:lnTo>
                        <a:lnTo>
                          <a:pt x="5" y="6"/>
                        </a:lnTo>
                        <a:lnTo>
                          <a:pt x="33" y="6"/>
                        </a:lnTo>
                        <a:lnTo>
                          <a:pt x="38" y="0"/>
                        </a:lnTo>
                        <a:lnTo>
                          <a:pt x="0" y="0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75" name="Freeform 492"/>
                  <p:cNvSpPr>
                    <a:spLocks/>
                  </p:cNvSpPr>
                  <p:nvPr/>
                </p:nvSpPr>
                <p:spPr bwMode="auto">
                  <a:xfrm>
                    <a:off x="3813" y="2689"/>
                    <a:ext cx="36" cy="48"/>
                  </a:xfrm>
                  <a:custGeom>
                    <a:avLst/>
                    <a:gdLst>
                      <a:gd name="T0" fmla="*/ 36 w 36"/>
                      <a:gd name="T1" fmla="*/ 48 h 48"/>
                      <a:gd name="T2" fmla="*/ 0 w 36"/>
                      <a:gd name="T3" fmla="*/ 48 h 48"/>
                      <a:gd name="T4" fmla="*/ 0 w 36"/>
                      <a:gd name="T5" fmla="*/ 0 h 48"/>
                      <a:gd name="T6" fmla="*/ 24 w 36"/>
                      <a:gd name="T7" fmla="*/ 0 h 48"/>
                      <a:gd name="T8" fmla="*/ 24 w 36"/>
                      <a:gd name="T9" fmla="*/ 37 h 48"/>
                      <a:gd name="T10" fmla="*/ 36 w 36"/>
                      <a:gd name="T11" fmla="*/ 48 h 4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6"/>
                      <a:gd name="T19" fmla="*/ 0 h 48"/>
                      <a:gd name="T20" fmla="*/ 36 w 36"/>
                      <a:gd name="T21" fmla="*/ 48 h 4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6" h="48">
                        <a:moveTo>
                          <a:pt x="36" y="48"/>
                        </a:moveTo>
                        <a:lnTo>
                          <a:pt x="0" y="48"/>
                        </a:lnTo>
                        <a:lnTo>
                          <a:pt x="0" y="0"/>
                        </a:lnTo>
                        <a:lnTo>
                          <a:pt x="24" y="0"/>
                        </a:lnTo>
                        <a:lnTo>
                          <a:pt x="24" y="37"/>
                        </a:lnTo>
                        <a:lnTo>
                          <a:pt x="36" y="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76" name="Freeform 493"/>
                  <p:cNvSpPr>
                    <a:spLocks/>
                  </p:cNvSpPr>
                  <p:nvPr/>
                </p:nvSpPr>
                <p:spPr bwMode="auto">
                  <a:xfrm>
                    <a:off x="3813" y="2689"/>
                    <a:ext cx="36" cy="48"/>
                  </a:xfrm>
                  <a:custGeom>
                    <a:avLst/>
                    <a:gdLst>
                      <a:gd name="T0" fmla="*/ 36 w 36"/>
                      <a:gd name="T1" fmla="*/ 48 h 48"/>
                      <a:gd name="T2" fmla="*/ 0 w 36"/>
                      <a:gd name="T3" fmla="*/ 48 h 48"/>
                      <a:gd name="T4" fmla="*/ 0 w 36"/>
                      <a:gd name="T5" fmla="*/ 0 h 48"/>
                      <a:gd name="T6" fmla="*/ 24 w 36"/>
                      <a:gd name="T7" fmla="*/ 0 h 48"/>
                      <a:gd name="T8" fmla="*/ 24 w 36"/>
                      <a:gd name="T9" fmla="*/ 37 h 48"/>
                      <a:gd name="T10" fmla="*/ 36 w 36"/>
                      <a:gd name="T11" fmla="*/ 48 h 4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6"/>
                      <a:gd name="T19" fmla="*/ 0 h 48"/>
                      <a:gd name="T20" fmla="*/ 36 w 36"/>
                      <a:gd name="T21" fmla="*/ 48 h 4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6" h="48">
                        <a:moveTo>
                          <a:pt x="36" y="48"/>
                        </a:moveTo>
                        <a:lnTo>
                          <a:pt x="0" y="48"/>
                        </a:lnTo>
                        <a:lnTo>
                          <a:pt x="0" y="0"/>
                        </a:lnTo>
                        <a:lnTo>
                          <a:pt x="24" y="0"/>
                        </a:lnTo>
                        <a:lnTo>
                          <a:pt x="24" y="37"/>
                        </a:lnTo>
                        <a:lnTo>
                          <a:pt x="36" y="48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77" name="Freeform 494"/>
                  <p:cNvSpPr>
                    <a:spLocks/>
                  </p:cNvSpPr>
                  <p:nvPr/>
                </p:nvSpPr>
                <p:spPr bwMode="auto">
                  <a:xfrm>
                    <a:off x="3605" y="2683"/>
                    <a:ext cx="12" cy="54"/>
                  </a:xfrm>
                  <a:custGeom>
                    <a:avLst/>
                    <a:gdLst>
                      <a:gd name="T0" fmla="*/ 0 w 12"/>
                      <a:gd name="T1" fmla="*/ 54 h 54"/>
                      <a:gd name="T2" fmla="*/ 1 w 12"/>
                      <a:gd name="T3" fmla="*/ 50 h 54"/>
                      <a:gd name="T4" fmla="*/ 2 w 12"/>
                      <a:gd name="T5" fmla="*/ 45 h 54"/>
                      <a:gd name="T6" fmla="*/ 3 w 12"/>
                      <a:gd name="T7" fmla="*/ 40 h 54"/>
                      <a:gd name="T8" fmla="*/ 4 w 12"/>
                      <a:gd name="T9" fmla="*/ 37 h 54"/>
                      <a:gd name="T10" fmla="*/ 4 w 12"/>
                      <a:gd name="T11" fmla="*/ 31 h 54"/>
                      <a:gd name="T12" fmla="*/ 5 w 12"/>
                      <a:gd name="T13" fmla="*/ 27 h 54"/>
                      <a:gd name="T14" fmla="*/ 7 w 12"/>
                      <a:gd name="T15" fmla="*/ 23 h 54"/>
                      <a:gd name="T16" fmla="*/ 8 w 12"/>
                      <a:gd name="T17" fmla="*/ 19 h 54"/>
                      <a:gd name="T18" fmla="*/ 8 w 12"/>
                      <a:gd name="T19" fmla="*/ 14 h 54"/>
                      <a:gd name="T20" fmla="*/ 9 w 12"/>
                      <a:gd name="T21" fmla="*/ 10 h 54"/>
                      <a:gd name="T22" fmla="*/ 10 w 12"/>
                      <a:gd name="T23" fmla="*/ 5 h 54"/>
                      <a:gd name="T24" fmla="*/ 12 w 12"/>
                      <a:gd name="T25" fmla="*/ 0 h 54"/>
                      <a:gd name="T26" fmla="*/ 0 w 12"/>
                      <a:gd name="T27" fmla="*/ 0 h 54"/>
                      <a:gd name="T28" fmla="*/ 0 w 12"/>
                      <a:gd name="T29" fmla="*/ 54 h 5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2"/>
                      <a:gd name="T46" fmla="*/ 0 h 54"/>
                      <a:gd name="T47" fmla="*/ 12 w 12"/>
                      <a:gd name="T48" fmla="*/ 54 h 54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2" h="54">
                        <a:moveTo>
                          <a:pt x="0" y="54"/>
                        </a:moveTo>
                        <a:lnTo>
                          <a:pt x="1" y="50"/>
                        </a:lnTo>
                        <a:lnTo>
                          <a:pt x="2" y="45"/>
                        </a:lnTo>
                        <a:lnTo>
                          <a:pt x="3" y="40"/>
                        </a:lnTo>
                        <a:lnTo>
                          <a:pt x="4" y="37"/>
                        </a:lnTo>
                        <a:lnTo>
                          <a:pt x="4" y="31"/>
                        </a:lnTo>
                        <a:lnTo>
                          <a:pt x="5" y="27"/>
                        </a:lnTo>
                        <a:lnTo>
                          <a:pt x="7" y="23"/>
                        </a:lnTo>
                        <a:lnTo>
                          <a:pt x="8" y="19"/>
                        </a:lnTo>
                        <a:lnTo>
                          <a:pt x="8" y="14"/>
                        </a:lnTo>
                        <a:lnTo>
                          <a:pt x="9" y="10"/>
                        </a:lnTo>
                        <a:lnTo>
                          <a:pt x="10" y="5"/>
                        </a:lnTo>
                        <a:lnTo>
                          <a:pt x="12" y="0"/>
                        </a:lnTo>
                        <a:lnTo>
                          <a:pt x="0" y="0"/>
                        </a:lnTo>
                        <a:lnTo>
                          <a:pt x="0" y="54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78" name="Freeform 495"/>
                  <p:cNvSpPr>
                    <a:spLocks/>
                  </p:cNvSpPr>
                  <p:nvPr/>
                </p:nvSpPr>
                <p:spPr bwMode="auto">
                  <a:xfrm>
                    <a:off x="3605" y="2683"/>
                    <a:ext cx="12" cy="54"/>
                  </a:xfrm>
                  <a:custGeom>
                    <a:avLst/>
                    <a:gdLst>
                      <a:gd name="T0" fmla="*/ 0 w 12"/>
                      <a:gd name="T1" fmla="*/ 54 h 54"/>
                      <a:gd name="T2" fmla="*/ 1 w 12"/>
                      <a:gd name="T3" fmla="*/ 50 h 54"/>
                      <a:gd name="T4" fmla="*/ 2 w 12"/>
                      <a:gd name="T5" fmla="*/ 45 h 54"/>
                      <a:gd name="T6" fmla="*/ 3 w 12"/>
                      <a:gd name="T7" fmla="*/ 40 h 54"/>
                      <a:gd name="T8" fmla="*/ 4 w 12"/>
                      <a:gd name="T9" fmla="*/ 37 h 54"/>
                      <a:gd name="T10" fmla="*/ 4 w 12"/>
                      <a:gd name="T11" fmla="*/ 31 h 54"/>
                      <a:gd name="T12" fmla="*/ 5 w 12"/>
                      <a:gd name="T13" fmla="*/ 27 h 54"/>
                      <a:gd name="T14" fmla="*/ 7 w 12"/>
                      <a:gd name="T15" fmla="*/ 23 h 54"/>
                      <a:gd name="T16" fmla="*/ 8 w 12"/>
                      <a:gd name="T17" fmla="*/ 19 h 54"/>
                      <a:gd name="T18" fmla="*/ 8 w 12"/>
                      <a:gd name="T19" fmla="*/ 14 h 54"/>
                      <a:gd name="T20" fmla="*/ 9 w 12"/>
                      <a:gd name="T21" fmla="*/ 10 h 54"/>
                      <a:gd name="T22" fmla="*/ 10 w 12"/>
                      <a:gd name="T23" fmla="*/ 5 h 54"/>
                      <a:gd name="T24" fmla="*/ 12 w 12"/>
                      <a:gd name="T25" fmla="*/ 0 h 54"/>
                      <a:gd name="T26" fmla="*/ 0 w 12"/>
                      <a:gd name="T27" fmla="*/ 0 h 54"/>
                      <a:gd name="T28" fmla="*/ 0 w 12"/>
                      <a:gd name="T29" fmla="*/ 54 h 5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2"/>
                      <a:gd name="T46" fmla="*/ 0 h 54"/>
                      <a:gd name="T47" fmla="*/ 12 w 12"/>
                      <a:gd name="T48" fmla="*/ 54 h 54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2" h="54">
                        <a:moveTo>
                          <a:pt x="0" y="54"/>
                        </a:moveTo>
                        <a:lnTo>
                          <a:pt x="1" y="50"/>
                        </a:lnTo>
                        <a:lnTo>
                          <a:pt x="2" y="45"/>
                        </a:lnTo>
                        <a:lnTo>
                          <a:pt x="3" y="40"/>
                        </a:lnTo>
                        <a:lnTo>
                          <a:pt x="4" y="37"/>
                        </a:lnTo>
                        <a:lnTo>
                          <a:pt x="4" y="31"/>
                        </a:lnTo>
                        <a:lnTo>
                          <a:pt x="5" y="27"/>
                        </a:lnTo>
                        <a:lnTo>
                          <a:pt x="7" y="23"/>
                        </a:lnTo>
                        <a:lnTo>
                          <a:pt x="8" y="19"/>
                        </a:lnTo>
                        <a:lnTo>
                          <a:pt x="8" y="14"/>
                        </a:lnTo>
                        <a:lnTo>
                          <a:pt x="9" y="10"/>
                        </a:lnTo>
                        <a:lnTo>
                          <a:pt x="10" y="5"/>
                        </a:lnTo>
                        <a:lnTo>
                          <a:pt x="12" y="0"/>
                        </a:lnTo>
                        <a:lnTo>
                          <a:pt x="0" y="0"/>
                        </a:lnTo>
                        <a:lnTo>
                          <a:pt x="0" y="5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79" name="Freeform 496"/>
                  <p:cNvSpPr>
                    <a:spLocks/>
                  </p:cNvSpPr>
                  <p:nvPr/>
                </p:nvSpPr>
                <p:spPr bwMode="auto">
                  <a:xfrm>
                    <a:off x="3605" y="2683"/>
                    <a:ext cx="203" cy="54"/>
                  </a:xfrm>
                  <a:custGeom>
                    <a:avLst/>
                    <a:gdLst>
                      <a:gd name="T0" fmla="*/ 0 w 203"/>
                      <a:gd name="T1" fmla="*/ 54 h 54"/>
                      <a:gd name="T2" fmla="*/ 1 w 203"/>
                      <a:gd name="T3" fmla="*/ 50 h 54"/>
                      <a:gd name="T4" fmla="*/ 2 w 203"/>
                      <a:gd name="T5" fmla="*/ 45 h 54"/>
                      <a:gd name="T6" fmla="*/ 3 w 203"/>
                      <a:gd name="T7" fmla="*/ 40 h 54"/>
                      <a:gd name="T8" fmla="*/ 3 w 203"/>
                      <a:gd name="T9" fmla="*/ 37 h 54"/>
                      <a:gd name="T10" fmla="*/ 4 w 203"/>
                      <a:gd name="T11" fmla="*/ 31 h 54"/>
                      <a:gd name="T12" fmla="*/ 5 w 203"/>
                      <a:gd name="T13" fmla="*/ 27 h 54"/>
                      <a:gd name="T14" fmla="*/ 6 w 203"/>
                      <a:gd name="T15" fmla="*/ 23 h 54"/>
                      <a:gd name="T16" fmla="*/ 7 w 203"/>
                      <a:gd name="T17" fmla="*/ 19 h 54"/>
                      <a:gd name="T18" fmla="*/ 8 w 203"/>
                      <a:gd name="T19" fmla="*/ 14 h 54"/>
                      <a:gd name="T20" fmla="*/ 9 w 203"/>
                      <a:gd name="T21" fmla="*/ 10 h 54"/>
                      <a:gd name="T22" fmla="*/ 10 w 203"/>
                      <a:gd name="T23" fmla="*/ 5 h 54"/>
                      <a:gd name="T24" fmla="*/ 12 w 203"/>
                      <a:gd name="T25" fmla="*/ 0 h 54"/>
                      <a:gd name="T26" fmla="*/ 203 w 203"/>
                      <a:gd name="T27" fmla="*/ 0 h 54"/>
                      <a:gd name="T28" fmla="*/ 203 w 203"/>
                      <a:gd name="T29" fmla="*/ 54 h 54"/>
                      <a:gd name="T30" fmla="*/ 0 w 203"/>
                      <a:gd name="T31" fmla="*/ 54 h 54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03"/>
                      <a:gd name="T49" fmla="*/ 0 h 54"/>
                      <a:gd name="T50" fmla="*/ 203 w 203"/>
                      <a:gd name="T51" fmla="*/ 54 h 54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03" h="54">
                        <a:moveTo>
                          <a:pt x="0" y="54"/>
                        </a:moveTo>
                        <a:lnTo>
                          <a:pt x="1" y="50"/>
                        </a:lnTo>
                        <a:lnTo>
                          <a:pt x="2" y="45"/>
                        </a:lnTo>
                        <a:lnTo>
                          <a:pt x="3" y="40"/>
                        </a:lnTo>
                        <a:lnTo>
                          <a:pt x="3" y="37"/>
                        </a:lnTo>
                        <a:lnTo>
                          <a:pt x="4" y="31"/>
                        </a:lnTo>
                        <a:lnTo>
                          <a:pt x="5" y="27"/>
                        </a:lnTo>
                        <a:lnTo>
                          <a:pt x="6" y="23"/>
                        </a:lnTo>
                        <a:lnTo>
                          <a:pt x="7" y="19"/>
                        </a:lnTo>
                        <a:lnTo>
                          <a:pt x="8" y="14"/>
                        </a:lnTo>
                        <a:lnTo>
                          <a:pt x="9" y="10"/>
                        </a:lnTo>
                        <a:lnTo>
                          <a:pt x="10" y="5"/>
                        </a:lnTo>
                        <a:lnTo>
                          <a:pt x="12" y="0"/>
                        </a:lnTo>
                        <a:lnTo>
                          <a:pt x="203" y="0"/>
                        </a:lnTo>
                        <a:lnTo>
                          <a:pt x="203" y="54"/>
                        </a:lnTo>
                        <a:lnTo>
                          <a:pt x="0" y="5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80" name="Freeform 497"/>
                  <p:cNvSpPr>
                    <a:spLocks/>
                  </p:cNvSpPr>
                  <p:nvPr/>
                </p:nvSpPr>
                <p:spPr bwMode="auto">
                  <a:xfrm>
                    <a:off x="3605" y="2683"/>
                    <a:ext cx="203" cy="54"/>
                  </a:xfrm>
                  <a:custGeom>
                    <a:avLst/>
                    <a:gdLst>
                      <a:gd name="T0" fmla="*/ 0 w 203"/>
                      <a:gd name="T1" fmla="*/ 54 h 54"/>
                      <a:gd name="T2" fmla="*/ 1 w 203"/>
                      <a:gd name="T3" fmla="*/ 50 h 54"/>
                      <a:gd name="T4" fmla="*/ 2 w 203"/>
                      <a:gd name="T5" fmla="*/ 45 h 54"/>
                      <a:gd name="T6" fmla="*/ 3 w 203"/>
                      <a:gd name="T7" fmla="*/ 40 h 54"/>
                      <a:gd name="T8" fmla="*/ 3 w 203"/>
                      <a:gd name="T9" fmla="*/ 37 h 54"/>
                      <a:gd name="T10" fmla="*/ 4 w 203"/>
                      <a:gd name="T11" fmla="*/ 31 h 54"/>
                      <a:gd name="T12" fmla="*/ 5 w 203"/>
                      <a:gd name="T13" fmla="*/ 27 h 54"/>
                      <a:gd name="T14" fmla="*/ 6 w 203"/>
                      <a:gd name="T15" fmla="*/ 23 h 54"/>
                      <a:gd name="T16" fmla="*/ 7 w 203"/>
                      <a:gd name="T17" fmla="*/ 19 h 54"/>
                      <a:gd name="T18" fmla="*/ 8 w 203"/>
                      <a:gd name="T19" fmla="*/ 14 h 54"/>
                      <a:gd name="T20" fmla="*/ 9 w 203"/>
                      <a:gd name="T21" fmla="*/ 10 h 54"/>
                      <a:gd name="T22" fmla="*/ 10 w 203"/>
                      <a:gd name="T23" fmla="*/ 5 h 54"/>
                      <a:gd name="T24" fmla="*/ 12 w 203"/>
                      <a:gd name="T25" fmla="*/ 0 h 54"/>
                      <a:gd name="T26" fmla="*/ 203 w 203"/>
                      <a:gd name="T27" fmla="*/ 0 h 54"/>
                      <a:gd name="T28" fmla="*/ 203 w 203"/>
                      <a:gd name="T29" fmla="*/ 54 h 54"/>
                      <a:gd name="T30" fmla="*/ 0 w 203"/>
                      <a:gd name="T31" fmla="*/ 54 h 54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03"/>
                      <a:gd name="T49" fmla="*/ 0 h 54"/>
                      <a:gd name="T50" fmla="*/ 203 w 203"/>
                      <a:gd name="T51" fmla="*/ 54 h 54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03" h="54">
                        <a:moveTo>
                          <a:pt x="0" y="54"/>
                        </a:moveTo>
                        <a:lnTo>
                          <a:pt x="1" y="50"/>
                        </a:lnTo>
                        <a:lnTo>
                          <a:pt x="2" y="45"/>
                        </a:lnTo>
                        <a:lnTo>
                          <a:pt x="3" y="40"/>
                        </a:lnTo>
                        <a:lnTo>
                          <a:pt x="3" y="37"/>
                        </a:lnTo>
                        <a:lnTo>
                          <a:pt x="4" y="31"/>
                        </a:lnTo>
                        <a:lnTo>
                          <a:pt x="5" y="27"/>
                        </a:lnTo>
                        <a:lnTo>
                          <a:pt x="6" y="23"/>
                        </a:lnTo>
                        <a:lnTo>
                          <a:pt x="7" y="19"/>
                        </a:lnTo>
                        <a:lnTo>
                          <a:pt x="8" y="14"/>
                        </a:lnTo>
                        <a:lnTo>
                          <a:pt x="9" y="10"/>
                        </a:lnTo>
                        <a:lnTo>
                          <a:pt x="10" y="5"/>
                        </a:lnTo>
                        <a:lnTo>
                          <a:pt x="12" y="0"/>
                        </a:lnTo>
                        <a:lnTo>
                          <a:pt x="203" y="0"/>
                        </a:lnTo>
                        <a:lnTo>
                          <a:pt x="203" y="54"/>
                        </a:lnTo>
                        <a:lnTo>
                          <a:pt x="0" y="5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81" name="Freeform 498"/>
                  <p:cNvSpPr>
                    <a:spLocks/>
                  </p:cNvSpPr>
                  <p:nvPr/>
                </p:nvSpPr>
                <p:spPr bwMode="auto">
                  <a:xfrm>
                    <a:off x="3805" y="2651"/>
                    <a:ext cx="38" cy="7"/>
                  </a:xfrm>
                  <a:custGeom>
                    <a:avLst/>
                    <a:gdLst>
                      <a:gd name="T0" fmla="*/ 30 w 38"/>
                      <a:gd name="T1" fmla="*/ 7 h 7"/>
                      <a:gd name="T2" fmla="*/ 0 w 38"/>
                      <a:gd name="T3" fmla="*/ 7 h 7"/>
                      <a:gd name="T4" fmla="*/ 6 w 38"/>
                      <a:gd name="T5" fmla="*/ 3 h 7"/>
                      <a:gd name="T6" fmla="*/ 10 w 38"/>
                      <a:gd name="T7" fmla="*/ 4 h 7"/>
                      <a:gd name="T8" fmla="*/ 16 w 38"/>
                      <a:gd name="T9" fmla="*/ 5 h 7"/>
                      <a:gd name="T10" fmla="*/ 22 w 38"/>
                      <a:gd name="T11" fmla="*/ 5 h 7"/>
                      <a:gd name="T12" fmla="*/ 26 w 38"/>
                      <a:gd name="T13" fmla="*/ 3 h 7"/>
                      <a:gd name="T14" fmla="*/ 26 w 38"/>
                      <a:gd name="T15" fmla="*/ 0 h 7"/>
                      <a:gd name="T16" fmla="*/ 38 w 38"/>
                      <a:gd name="T17" fmla="*/ 0 h 7"/>
                      <a:gd name="T18" fmla="*/ 30 w 38"/>
                      <a:gd name="T19" fmla="*/ 7 h 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8"/>
                      <a:gd name="T31" fmla="*/ 0 h 7"/>
                      <a:gd name="T32" fmla="*/ 38 w 38"/>
                      <a:gd name="T33" fmla="*/ 7 h 7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8" h="7">
                        <a:moveTo>
                          <a:pt x="30" y="7"/>
                        </a:moveTo>
                        <a:lnTo>
                          <a:pt x="0" y="7"/>
                        </a:lnTo>
                        <a:lnTo>
                          <a:pt x="6" y="3"/>
                        </a:lnTo>
                        <a:lnTo>
                          <a:pt x="10" y="4"/>
                        </a:lnTo>
                        <a:lnTo>
                          <a:pt x="16" y="5"/>
                        </a:lnTo>
                        <a:lnTo>
                          <a:pt x="22" y="5"/>
                        </a:lnTo>
                        <a:lnTo>
                          <a:pt x="26" y="3"/>
                        </a:lnTo>
                        <a:lnTo>
                          <a:pt x="26" y="0"/>
                        </a:lnTo>
                        <a:lnTo>
                          <a:pt x="38" y="0"/>
                        </a:lnTo>
                        <a:lnTo>
                          <a:pt x="30" y="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82" name="Freeform 499"/>
                  <p:cNvSpPr>
                    <a:spLocks/>
                  </p:cNvSpPr>
                  <p:nvPr/>
                </p:nvSpPr>
                <p:spPr bwMode="auto">
                  <a:xfrm>
                    <a:off x="3805" y="2651"/>
                    <a:ext cx="38" cy="7"/>
                  </a:xfrm>
                  <a:custGeom>
                    <a:avLst/>
                    <a:gdLst>
                      <a:gd name="T0" fmla="*/ 30 w 38"/>
                      <a:gd name="T1" fmla="*/ 7 h 7"/>
                      <a:gd name="T2" fmla="*/ 0 w 38"/>
                      <a:gd name="T3" fmla="*/ 7 h 7"/>
                      <a:gd name="T4" fmla="*/ 6 w 38"/>
                      <a:gd name="T5" fmla="*/ 3 h 7"/>
                      <a:gd name="T6" fmla="*/ 10 w 38"/>
                      <a:gd name="T7" fmla="*/ 4 h 7"/>
                      <a:gd name="T8" fmla="*/ 16 w 38"/>
                      <a:gd name="T9" fmla="*/ 5 h 7"/>
                      <a:gd name="T10" fmla="*/ 22 w 38"/>
                      <a:gd name="T11" fmla="*/ 5 h 7"/>
                      <a:gd name="T12" fmla="*/ 26 w 38"/>
                      <a:gd name="T13" fmla="*/ 3 h 7"/>
                      <a:gd name="T14" fmla="*/ 26 w 38"/>
                      <a:gd name="T15" fmla="*/ 0 h 7"/>
                      <a:gd name="T16" fmla="*/ 38 w 38"/>
                      <a:gd name="T17" fmla="*/ 0 h 7"/>
                      <a:gd name="T18" fmla="*/ 30 w 38"/>
                      <a:gd name="T19" fmla="*/ 7 h 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8"/>
                      <a:gd name="T31" fmla="*/ 0 h 7"/>
                      <a:gd name="T32" fmla="*/ 38 w 38"/>
                      <a:gd name="T33" fmla="*/ 7 h 7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8" h="7">
                        <a:moveTo>
                          <a:pt x="30" y="7"/>
                        </a:moveTo>
                        <a:lnTo>
                          <a:pt x="0" y="7"/>
                        </a:lnTo>
                        <a:lnTo>
                          <a:pt x="6" y="3"/>
                        </a:lnTo>
                        <a:lnTo>
                          <a:pt x="10" y="4"/>
                        </a:lnTo>
                        <a:lnTo>
                          <a:pt x="16" y="5"/>
                        </a:lnTo>
                        <a:lnTo>
                          <a:pt x="22" y="5"/>
                        </a:lnTo>
                        <a:lnTo>
                          <a:pt x="26" y="3"/>
                        </a:lnTo>
                        <a:lnTo>
                          <a:pt x="26" y="0"/>
                        </a:lnTo>
                        <a:lnTo>
                          <a:pt x="38" y="0"/>
                        </a:lnTo>
                        <a:lnTo>
                          <a:pt x="30" y="7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83" name="Freeform 500"/>
                  <p:cNvSpPr>
                    <a:spLocks/>
                  </p:cNvSpPr>
                  <p:nvPr/>
                </p:nvSpPr>
                <p:spPr bwMode="auto">
                  <a:xfrm>
                    <a:off x="3577" y="2658"/>
                    <a:ext cx="29" cy="3"/>
                  </a:xfrm>
                  <a:custGeom>
                    <a:avLst/>
                    <a:gdLst>
                      <a:gd name="T0" fmla="*/ 26 w 29"/>
                      <a:gd name="T1" fmla="*/ 3 h 3"/>
                      <a:gd name="T2" fmla="*/ 29 w 29"/>
                      <a:gd name="T3" fmla="*/ 0 h 3"/>
                      <a:gd name="T4" fmla="*/ 0 w 29"/>
                      <a:gd name="T5" fmla="*/ 0 h 3"/>
                      <a:gd name="T6" fmla="*/ 0 w 29"/>
                      <a:gd name="T7" fmla="*/ 3 h 3"/>
                      <a:gd name="T8" fmla="*/ 26 w 29"/>
                      <a:gd name="T9" fmla="*/ 3 h 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"/>
                      <a:gd name="T16" fmla="*/ 0 h 3"/>
                      <a:gd name="T17" fmla="*/ 29 w 29"/>
                      <a:gd name="T18" fmla="*/ 3 h 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" h="3">
                        <a:moveTo>
                          <a:pt x="26" y="3"/>
                        </a:moveTo>
                        <a:lnTo>
                          <a:pt x="29" y="0"/>
                        </a:lnTo>
                        <a:lnTo>
                          <a:pt x="0" y="0"/>
                        </a:lnTo>
                        <a:lnTo>
                          <a:pt x="0" y="3"/>
                        </a:lnTo>
                        <a:lnTo>
                          <a:pt x="26" y="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84" name="Freeform 501"/>
                  <p:cNvSpPr>
                    <a:spLocks/>
                  </p:cNvSpPr>
                  <p:nvPr/>
                </p:nvSpPr>
                <p:spPr bwMode="auto">
                  <a:xfrm>
                    <a:off x="3577" y="2658"/>
                    <a:ext cx="29" cy="3"/>
                  </a:xfrm>
                  <a:custGeom>
                    <a:avLst/>
                    <a:gdLst>
                      <a:gd name="T0" fmla="*/ 26 w 29"/>
                      <a:gd name="T1" fmla="*/ 3 h 3"/>
                      <a:gd name="T2" fmla="*/ 29 w 29"/>
                      <a:gd name="T3" fmla="*/ 0 h 3"/>
                      <a:gd name="T4" fmla="*/ 0 w 29"/>
                      <a:gd name="T5" fmla="*/ 0 h 3"/>
                      <a:gd name="T6" fmla="*/ 0 w 29"/>
                      <a:gd name="T7" fmla="*/ 3 h 3"/>
                      <a:gd name="T8" fmla="*/ 26 w 29"/>
                      <a:gd name="T9" fmla="*/ 3 h 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"/>
                      <a:gd name="T16" fmla="*/ 0 h 3"/>
                      <a:gd name="T17" fmla="*/ 29 w 29"/>
                      <a:gd name="T18" fmla="*/ 3 h 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" h="3">
                        <a:moveTo>
                          <a:pt x="26" y="3"/>
                        </a:moveTo>
                        <a:lnTo>
                          <a:pt x="29" y="0"/>
                        </a:lnTo>
                        <a:lnTo>
                          <a:pt x="0" y="0"/>
                        </a:lnTo>
                        <a:lnTo>
                          <a:pt x="0" y="3"/>
                        </a:lnTo>
                        <a:lnTo>
                          <a:pt x="26" y="3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85" name="Freeform 502"/>
                  <p:cNvSpPr>
                    <a:spLocks/>
                  </p:cNvSpPr>
                  <p:nvPr/>
                </p:nvSpPr>
                <p:spPr bwMode="auto">
                  <a:xfrm>
                    <a:off x="3808" y="2658"/>
                    <a:ext cx="27" cy="3"/>
                  </a:xfrm>
                  <a:custGeom>
                    <a:avLst/>
                    <a:gdLst>
                      <a:gd name="T0" fmla="*/ 27 w 27"/>
                      <a:gd name="T1" fmla="*/ 0 h 3"/>
                      <a:gd name="T2" fmla="*/ 0 w 27"/>
                      <a:gd name="T3" fmla="*/ 0 h 3"/>
                      <a:gd name="T4" fmla="*/ 1 w 27"/>
                      <a:gd name="T5" fmla="*/ 3 h 3"/>
                      <a:gd name="T6" fmla="*/ 27 w 27"/>
                      <a:gd name="T7" fmla="*/ 3 h 3"/>
                      <a:gd name="T8" fmla="*/ 27 w 27"/>
                      <a:gd name="T9" fmla="*/ 0 h 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"/>
                      <a:gd name="T16" fmla="*/ 0 h 3"/>
                      <a:gd name="T17" fmla="*/ 27 w 27"/>
                      <a:gd name="T18" fmla="*/ 3 h 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" h="3">
                        <a:moveTo>
                          <a:pt x="27" y="0"/>
                        </a:moveTo>
                        <a:lnTo>
                          <a:pt x="0" y="0"/>
                        </a:lnTo>
                        <a:lnTo>
                          <a:pt x="1" y="3"/>
                        </a:lnTo>
                        <a:lnTo>
                          <a:pt x="27" y="3"/>
                        </a:lnTo>
                        <a:lnTo>
                          <a:pt x="27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86" name="Freeform 503"/>
                  <p:cNvSpPr>
                    <a:spLocks/>
                  </p:cNvSpPr>
                  <p:nvPr/>
                </p:nvSpPr>
                <p:spPr bwMode="auto">
                  <a:xfrm>
                    <a:off x="3808" y="2658"/>
                    <a:ext cx="27" cy="3"/>
                  </a:xfrm>
                  <a:custGeom>
                    <a:avLst/>
                    <a:gdLst>
                      <a:gd name="T0" fmla="*/ 27 w 27"/>
                      <a:gd name="T1" fmla="*/ 0 h 3"/>
                      <a:gd name="T2" fmla="*/ 0 w 27"/>
                      <a:gd name="T3" fmla="*/ 0 h 3"/>
                      <a:gd name="T4" fmla="*/ 1 w 27"/>
                      <a:gd name="T5" fmla="*/ 3 h 3"/>
                      <a:gd name="T6" fmla="*/ 27 w 27"/>
                      <a:gd name="T7" fmla="*/ 3 h 3"/>
                      <a:gd name="T8" fmla="*/ 27 w 27"/>
                      <a:gd name="T9" fmla="*/ 0 h 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"/>
                      <a:gd name="T16" fmla="*/ 0 h 3"/>
                      <a:gd name="T17" fmla="*/ 27 w 27"/>
                      <a:gd name="T18" fmla="*/ 3 h 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" h="3">
                        <a:moveTo>
                          <a:pt x="27" y="0"/>
                        </a:moveTo>
                        <a:lnTo>
                          <a:pt x="0" y="0"/>
                        </a:lnTo>
                        <a:lnTo>
                          <a:pt x="1" y="3"/>
                        </a:lnTo>
                        <a:lnTo>
                          <a:pt x="27" y="3"/>
                        </a:lnTo>
                        <a:lnTo>
                          <a:pt x="27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87" name="Line 50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54" y="2359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88" name="Line 50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54" y="2359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89" name="Line 50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51" y="2358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90" name="Line 50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51" y="2358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91" name="Line 50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8" y="2355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92" name="Line 50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8" y="2355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93" name="Line 5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5" y="2353"/>
                    <a:ext cx="4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94" name="Line 5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5" y="2353"/>
                    <a:ext cx="4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95" name="Line 5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2" y="2353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96" name="Line 5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2" y="2353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97" name="Line 5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9" y="2351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98" name="Line 51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9" y="2351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199" name="Line 51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6" y="2351"/>
                    <a:ext cx="5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00" name="Line 5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6" y="2351"/>
                    <a:ext cx="5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01" name="Line 5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2" y="2350"/>
                    <a:ext cx="6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02" name="Line 5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2" y="2350"/>
                    <a:ext cx="6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03" name="Line 5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9" y="2349"/>
                    <a:ext cx="6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04" name="Line 5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9" y="2349"/>
                    <a:ext cx="6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05" name="Line 5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7" y="2349"/>
                    <a:ext cx="3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06" name="Line 5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7" y="2349"/>
                    <a:ext cx="3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07" name="Line 52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3" y="2349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08" name="Line 5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3" y="2349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09" name="Line 52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8" y="2349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10" name="Line 52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8" y="2349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11" name="Line 52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3" y="2350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12" name="Line 52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3" y="2350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13" name="Line 53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0" y="2351"/>
                    <a:ext cx="5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14" name="Line 53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0" y="2351"/>
                    <a:ext cx="5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15" name="Line 53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05" y="2352"/>
                    <a:ext cx="6" cy="6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16" name="Line 5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05" y="2352"/>
                    <a:ext cx="6" cy="6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17" name="Line 53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01" y="2354"/>
                    <a:ext cx="7" cy="6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18" name="Line 53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01" y="2354"/>
                    <a:ext cx="7" cy="6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19" name="Freeform 536"/>
                  <p:cNvSpPr>
                    <a:spLocks/>
                  </p:cNvSpPr>
                  <p:nvPr/>
                </p:nvSpPr>
                <p:spPr bwMode="auto">
                  <a:xfrm>
                    <a:off x="3805" y="2654"/>
                    <a:ext cx="5" cy="4"/>
                  </a:xfrm>
                  <a:custGeom>
                    <a:avLst/>
                    <a:gdLst>
                      <a:gd name="T0" fmla="*/ 5 w 5"/>
                      <a:gd name="T1" fmla="*/ 0 h 4"/>
                      <a:gd name="T2" fmla="*/ 0 w 5"/>
                      <a:gd name="T3" fmla="*/ 4 h 4"/>
                      <a:gd name="T4" fmla="*/ 3 w 5"/>
                      <a:gd name="T5" fmla="*/ 4 h 4"/>
                      <a:gd name="T6" fmla="*/ 0 60000 65536"/>
                      <a:gd name="T7" fmla="*/ 0 60000 65536"/>
                      <a:gd name="T8" fmla="*/ 0 60000 65536"/>
                      <a:gd name="T9" fmla="*/ 0 w 5"/>
                      <a:gd name="T10" fmla="*/ 0 h 4"/>
                      <a:gd name="T11" fmla="*/ 5 w 5"/>
                      <a:gd name="T12" fmla="*/ 4 h 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5" h="4">
                        <a:moveTo>
                          <a:pt x="5" y="0"/>
                        </a:moveTo>
                        <a:lnTo>
                          <a:pt x="0" y="4"/>
                        </a:lnTo>
                        <a:lnTo>
                          <a:pt x="3" y="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20" name="Freeform 537"/>
                  <p:cNvSpPr>
                    <a:spLocks/>
                  </p:cNvSpPr>
                  <p:nvPr/>
                </p:nvSpPr>
                <p:spPr bwMode="auto">
                  <a:xfrm>
                    <a:off x="3805" y="2654"/>
                    <a:ext cx="5" cy="4"/>
                  </a:xfrm>
                  <a:custGeom>
                    <a:avLst/>
                    <a:gdLst>
                      <a:gd name="T0" fmla="*/ 5 w 5"/>
                      <a:gd name="T1" fmla="*/ 0 h 4"/>
                      <a:gd name="T2" fmla="*/ 0 w 5"/>
                      <a:gd name="T3" fmla="*/ 4 h 4"/>
                      <a:gd name="T4" fmla="*/ 3 w 5"/>
                      <a:gd name="T5" fmla="*/ 4 h 4"/>
                      <a:gd name="T6" fmla="*/ 0 60000 65536"/>
                      <a:gd name="T7" fmla="*/ 0 60000 65536"/>
                      <a:gd name="T8" fmla="*/ 0 60000 65536"/>
                      <a:gd name="T9" fmla="*/ 0 w 5"/>
                      <a:gd name="T10" fmla="*/ 0 h 4"/>
                      <a:gd name="T11" fmla="*/ 5 w 5"/>
                      <a:gd name="T12" fmla="*/ 4 h 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5" h="4">
                        <a:moveTo>
                          <a:pt x="5" y="0"/>
                        </a:moveTo>
                        <a:lnTo>
                          <a:pt x="0" y="4"/>
                        </a:lnTo>
                        <a:lnTo>
                          <a:pt x="3" y="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21" name="Line 53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5" y="2688"/>
                    <a:ext cx="193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22" name="Line 53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5" y="2688"/>
                    <a:ext cx="193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23" name="Line 5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4" y="2692"/>
                    <a:ext cx="194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24" name="Line 5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4" y="2692"/>
                    <a:ext cx="194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25" name="Line 5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4" y="2697"/>
                    <a:ext cx="194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26" name="Line 54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4" y="2697"/>
                    <a:ext cx="194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27" name="Line 54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3" y="2702"/>
                    <a:ext cx="195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28" name="Line 5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3" y="2702"/>
                    <a:ext cx="195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29" name="Line 54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2" y="2706"/>
                    <a:ext cx="196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230" name="Line 54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2" y="2706"/>
                    <a:ext cx="196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8019" name="Line 548"/>
                <p:cNvSpPr>
                  <a:spLocks noChangeShapeType="1"/>
                </p:cNvSpPr>
                <p:nvPr/>
              </p:nvSpPr>
              <p:spPr bwMode="auto">
                <a:xfrm flipH="1">
                  <a:off x="3611" y="2710"/>
                  <a:ext cx="197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20" name="Line 549"/>
                <p:cNvSpPr>
                  <a:spLocks noChangeShapeType="1"/>
                </p:cNvSpPr>
                <p:nvPr/>
              </p:nvSpPr>
              <p:spPr bwMode="auto">
                <a:xfrm flipH="1">
                  <a:off x="3611" y="2710"/>
                  <a:ext cx="197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21" name="Line 550"/>
                <p:cNvSpPr>
                  <a:spLocks noChangeShapeType="1"/>
                </p:cNvSpPr>
                <p:nvPr/>
              </p:nvSpPr>
              <p:spPr bwMode="auto">
                <a:xfrm flipH="1">
                  <a:off x="3610" y="2714"/>
                  <a:ext cx="198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22" name="Line 551"/>
                <p:cNvSpPr>
                  <a:spLocks noChangeShapeType="1"/>
                </p:cNvSpPr>
                <p:nvPr/>
              </p:nvSpPr>
              <p:spPr bwMode="auto">
                <a:xfrm flipH="1">
                  <a:off x="3610" y="2714"/>
                  <a:ext cx="198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23" name="Line 552"/>
                <p:cNvSpPr>
                  <a:spLocks noChangeShapeType="1"/>
                </p:cNvSpPr>
                <p:nvPr/>
              </p:nvSpPr>
              <p:spPr bwMode="auto">
                <a:xfrm flipH="1">
                  <a:off x="3609" y="2720"/>
                  <a:ext cx="199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24" name="Line 553"/>
                <p:cNvSpPr>
                  <a:spLocks noChangeShapeType="1"/>
                </p:cNvSpPr>
                <p:nvPr/>
              </p:nvSpPr>
              <p:spPr bwMode="auto">
                <a:xfrm flipH="1">
                  <a:off x="3609" y="2720"/>
                  <a:ext cx="199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25" name="Line 554"/>
                <p:cNvSpPr>
                  <a:spLocks noChangeShapeType="1"/>
                </p:cNvSpPr>
                <p:nvPr/>
              </p:nvSpPr>
              <p:spPr bwMode="auto">
                <a:xfrm flipH="1">
                  <a:off x="3608" y="2723"/>
                  <a:ext cx="200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26" name="Line 555"/>
                <p:cNvSpPr>
                  <a:spLocks noChangeShapeType="1"/>
                </p:cNvSpPr>
                <p:nvPr/>
              </p:nvSpPr>
              <p:spPr bwMode="auto">
                <a:xfrm flipH="1">
                  <a:off x="3608" y="2723"/>
                  <a:ext cx="200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27" name="Line 556"/>
                <p:cNvSpPr>
                  <a:spLocks noChangeShapeType="1"/>
                </p:cNvSpPr>
                <p:nvPr/>
              </p:nvSpPr>
              <p:spPr bwMode="auto">
                <a:xfrm flipH="1">
                  <a:off x="3607" y="2728"/>
                  <a:ext cx="201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28" name="Line 557"/>
                <p:cNvSpPr>
                  <a:spLocks noChangeShapeType="1"/>
                </p:cNvSpPr>
                <p:nvPr/>
              </p:nvSpPr>
              <p:spPr bwMode="auto">
                <a:xfrm flipH="1">
                  <a:off x="3607" y="2728"/>
                  <a:ext cx="201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29" name="Line 558"/>
                <p:cNvSpPr>
                  <a:spLocks noChangeShapeType="1"/>
                </p:cNvSpPr>
                <p:nvPr/>
              </p:nvSpPr>
              <p:spPr bwMode="auto">
                <a:xfrm flipH="1">
                  <a:off x="3606" y="2733"/>
                  <a:ext cx="202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30" name="Line 559"/>
                <p:cNvSpPr>
                  <a:spLocks noChangeShapeType="1"/>
                </p:cNvSpPr>
                <p:nvPr/>
              </p:nvSpPr>
              <p:spPr bwMode="auto">
                <a:xfrm flipH="1">
                  <a:off x="3606" y="2733"/>
                  <a:ext cx="202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8017" name="Rectangle 560"/>
              <p:cNvSpPr>
                <a:spLocks noChangeArrowheads="1"/>
              </p:cNvSpPr>
              <p:nvPr/>
            </p:nvSpPr>
            <p:spPr bwMode="auto">
              <a:xfrm>
                <a:off x="3543" y="2773"/>
                <a:ext cx="420" cy="1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84238" eaLnBrk="0" hangingPunct="0"/>
                <a:r>
                  <a:rPr lang="en-US" b="0">
                    <a:solidFill>
                      <a:srgbClr val="000000"/>
                    </a:solidFill>
                    <a:latin typeface="Arial Narrow" pitchFamily="34" charset="0"/>
                  </a:rPr>
                  <a:t>Data Bank</a:t>
                </a:r>
                <a:endParaRPr lang="en-US" b="0">
                  <a:latin typeface="Times New Roman" pitchFamily="18" charset="0"/>
                </a:endParaRPr>
              </a:p>
            </p:txBody>
          </p:sp>
        </p:grpSp>
        <p:sp>
          <p:nvSpPr>
            <p:cNvPr id="18015" name="Rectangle 561"/>
            <p:cNvSpPr>
              <a:spLocks noChangeArrowheads="1"/>
            </p:cNvSpPr>
            <p:nvPr/>
          </p:nvSpPr>
          <p:spPr bwMode="auto">
            <a:xfrm>
              <a:off x="2944" y="2195"/>
              <a:ext cx="1025" cy="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17416" name="Group 562"/>
          <p:cNvGrpSpPr>
            <a:grpSpLocks/>
          </p:cNvGrpSpPr>
          <p:nvPr/>
        </p:nvGrpSpPr>
        <p:grpSpPr bwMode="auto">
          <a:xfrm>
            <a:off x="2913063" y="3054350"/>
            <a:ext cx="2428875" cy="2881313"/>
            <a:chOff x="2199" y="2195"/>
            <a:chExt cx="1836" cy="1936"/>
          </a:xfrm>
        </p:grpSpPr>
        <p:sp>
          <p:nvSpPr>
            <p:cNvPr id="17451" name="Rectangle 563"/>
            <p:cNvSpPr>
              <a:spLocks noChangeArrowheads="1"/>
            </p:cNvSpPr>
            <p:nvPr/>
          </p:nvSpPr>
          <p:spPr bwMode="auto">
            <a:xfrm>
              <a:off x="2199" y="2846"/>
              <a:ext cx="1720" cy="643"/>
            </a:xfrm>
            <a:prstGeom prst="rect">
              <a:avLst/>
            </a:prstGeom>
            <a:solidFill>
              <a:srgbClr val="FFFF66"/>
            </a:solidFill>
            <a:ln w="444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7452" name="Oval 564"/>
            <p:cNvSpPr>
              <a:spLocks noChangeArrowheads="1"/>
            </p:cNvSpPr>
            <p:nvPr/>
          </p:nvSpPr>
          <p:spPr bwMode="auto">
            <a:xfrm>
              <a:off x="2954" y="3389"/>
              <a:ext cx="210" cy="94"/>
            </a:xfrm>
            <a:prstGeom prst="ellipse">
              <a:avLst/>
            </a:prstGeom>
            <a:solidFill>
              <a:srgbClr val="FF0000"/>
            </a:solidFill>
            <a:ln w="44450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7453" name="Rectangle 565"/>
            <p:cNvSpPr>
              <a:spLocks noChangeArrowheads="1"/>
            </p:cNvSpPr>
            <p:nvPr/>
          </p:nvSpPr>
          <p:spPr bwMode="auto">
            <a:xfrm>
              <a:off x="3014" y="2820"/>
              <a:ext cx="90" cy="57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7454" name="Rectangle 566"/>
            <p:cNvSpPr>
              <a:spLocks noChangeArrowheads="1"/>
            </p:cNvSpPr>
            <p:nvPr/>
          </p:nvSpPr>
          <p:spPr bwMode="auto">
            <a:xfrm>
              <a:off x="2199" y="2200"/>
              <a:ext cx="1720" cy="644"/>
            </a:xfrm>
            <a:prstGeom prst="rect">
              <a:avLst/>
            </a:prstGeom>
            <a:solidFill>
              <a:srgbClr val="99FFCC"/>
            </a:solidFill>
            <a:ln w="444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grpSp>
          <p:nvGrpSpPr>
            <p:cNvPr id="17455" name="Group 567"/>
            <p:cNvGrpSpPr>
              <a:grpSpLocks/>
            </p:cNvGrpSpPr>
            <p:nvPr/>
          </p:nvGrpSpPr>
          <p:grpSpPr bwMode="auto">
            <a:xfrm>
              <a:off x="2911" y="2322"/>
              <a:ext cx="298" cy="272"/>
              <a:chOff x="2528" y="1791"/>
              <a:chExt cx="326" cy="334"/>
            </a:xfrm>
          </p:grpSpPr>
          <p:grpSp>
            <p:nvGrpSpPr>
              <p:cNvPr id="17671" name="Group 568"/>
              <p:cNvGrpSpPr>
                <a:grpSpLocks/>
              </p:cNvGrpSpPr>
              <p:nvPr/>
            </p:nvGrpSpPr>
            <p:grpSpPr bwMode="auto">
              <a:xfrm>
                <a:off x="2616" y="1878"/>
                <a:ext cx="150" cy="247"/>
                <a:chOff x="2616" y="1878"/>
                <a:chExt cx="150" cy="247"/>
              </a:xfrm>
            </p:grpSpPr>
            <p:sp>
              <p:nvSpPr>
                <p:cNvPr id="17807" name="Freeform 569"/>
                <p:cNvSpPr>
                  <a:spLocks/>
                </p:cNvSpPr>
                <p:nvPr/>
              </p:nvSpPr>
              <p:spPr bwMode="auto">
                <a:xfrm>
                  <a:off x="2689" y="2107"/>
                  <a:ext cx="6" cy="7"/>
                </a:xfrm>
                <a:custGeom>
                  <a:avLst/>
                  <a:gdLst>
                    <a:gd name="T0" fmla="*/ 3 w 6"/>
                    <a:gd name="T1" fmla="*/ 7 h 7"/>
                    <a:gd name="T2" fmla="*/ 4 w 6"/>
                    <a:gd name="T3" fmla="*/ 7 h 7"/>
                    <a:gd name="T4" fmla="*/ 5 w 6"/>
                    <a:gd name="T5" fmla="*/ 6 h 7"/>
                    <a:gd name="T6" fmla="*/ 6 w 6"/>
                    <a:gd name="T7" fmla="*/ 5 h 7"/>
                    <a:gd name="T8" fmla="*/ 6 w 6"/>
                    <a:gd name="T9" fmla="*/ 3 h 7"/>
                    <a:gd name="T10" fmla="*/ 6 w 6"/>
                    <a:gd name="T11" fmla="*/ 2 h 7"/>
                    <a:gd name="T12" fmla="*/ 5 w 6"/>
                    <a:gd name="T13" fmla="*/ 1 h 7"/>
                    <a:gd name="T14" fmla="*/ 4 w 6"/>
                    <a:gd name="T15" fmla="*/ 0 h 7"/>
                    <a:gd name="T16" fmla="*/ 3 w 6"/>
                    <a:gd name="T17" fmla="*/ 0 h 7"/>
                    <a:gd name="T18" fmla="*/ 2 w 6"/>
                    <a:gd name="T19" fmla="*/ 0 h 7"/>
                    <a:gd name="T20" fmla="*/ 1 w 6"/>
                    <a:gd name="T21" fmla="*/ 1 h 7"/>
                    <a:gd name="T22" fmla="*/ 0 w 6"/>
                    <a:gd name="T23" fmla="*/ 2 h 7"/>
                    <a:gd name="T24" fmla="*/ 0 w 6"/>
                    <a:gd name="T25" fmla="*/ 3 h 7"/>
                    <a:gd name="T26" fmla="*/ 0 w 6"/>
                    <a:gd name="T27" fmla="*/ 5 h 7"/>
                    <a:gd name="T28" fmla="*/ 1 w 6"/>
                    <a:gd name="T29" fmla="*/ 6 h 7"/>
                    <a:gd name="T30" fmla="*/ 2 w 6"/>
                    <a:gd name="T31" fmla="*/ 7 h 7"/>
                    <a:gd name="T32" fmla="*/ 3 w 6"/>
                    <a:gd name="T33" fmla="*/ 7 h 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6"/>
                    <a:gd name="T52" fmla="*/ 0 h 7"/>
                    <a:gd name="T53" fmla="*/ 6 w 6"/>
                    <a:gd name="T54" fmla="*/ 7 h 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6" h="7">
                      <a:moveTo>
                        <a:pt x="3" y="7"/>
                      </a:moveTo>
                      <a:lnTo>
                        <a:pt x="4" y="7"/>
                      </a:lnTo>
                      <a:lnTo>
                        <a:pt x="5" y="6"/>
                      </a:lnTo>
                      <a:lnTo>
                        <a:pt x="6" y="5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2" y="7"/>
                      </a:lnTo>
                      <a:lnTo>
                        <a:pt x="3" y="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08" name="Freeform 570"/>
                <p:cNvSpPr>
                  <a:spLocks/>
                </p:cNvSpPr>
                <p:nvPr/>
              </p:nvSpPr>
              <p:spPr bwMode="auto">
                <a:xfrm>
                  <a:off x="2685" y="2102"/>
                  <a:ext cx="21" cy="23"/>
                </a:xfrm>
                <a:custGeom>
                  <a:avLst/>
                  <a:gdLst>
                    <a:gd name="T0" fmla="*/ 0 w 21"/>
                    <a:gd name="T1" fmla="*/ 8 h 23"/>
                    <a:gd name="T2" fmla="*/ 0 w 21"/>
                    <a:gd name="T3" fmla="*/ 8 h 23"/>
                    <a:gd name="T4" fmla="*/ 0 w 21"/>
                    <a:gd name="T5" fmla="*/ 6 h 23"/>
                    <a:gd name="T6" fmla="*/ 2 w 21"/>
                    <a:gd name="T7" fmla="*/ 2 h 23"/>
                    <a:gd name="T8" fmla="*/ 5 w 21"/>
                    <a:gd name="T9" fmla="*/ 0 h 23"/>
                    <a:gd name="T10" fmla="*/ 7 w 21"/>
                    <a:gd name="T11" fmla="*/ 0 h 23"/>
                    <a:gd name="T12" fmla="*/ 7 w 21"/>
                    <a:gd name="T13" fmla="*/ 23 h 23"/>
                    <a:gd name="T14" fmla="*/ 11 w 21"/>
                    <a:gd name="T15" fmla="*/ 22 h 23"/>
                    <a:gd name="T16" fmla="*/ 17 w 21"/>
                    <a:gd name="T17" fmla="*/ 18 h 23"/>
                    <a:gd name="T18" fmla="*/ 20 w 21"/>
                    <a:gd name="T19" fmla="*/ 13 h 23"/>
                    <a:gd name="T20" fmla="*/ 21 w 21"/>
                    <a:gd name="T21" fmla="*/ 8 h 23"/>
                    <a:gd name="T22" fmla="*/ 0 w 21"/>
                    <a:gd name="T23" fmla="*/ 8 h 23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1"/>
                    <a:gd name="T37" fmla="*/ 0 h 23"/>
                    <a:gd name="T38" fmla="*/ 21 w 21"/>
                    <a:gd name="T39" fmla="*/ 23 h 23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1" h="23">
                      <a:moveTo>
                        <a:pt x="0" y="8"/>
                      </a:moveTo>
                      <a:lnTo>
                        <a:pt x="0" y="8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5" y="0"/>
                      </a:lnTo>
                      <a:lnTo>
                        <a:pt x="7" y="0"/>
                      </a:lnTo>
                      <a:lnTo>
                        <a:pt x="7" y="23"/>
                      </a:lnTo>
                      <a:lnTo>
                        <a:pt x="11" y="22"/>
                      </a:lnTo>
                      <a:lnTo>
                        <a:pt x="17" y="18"/>
                      </a:lnTo>
                      <a:lnTo>
                        <a:pt x="20" y="13"/>
                      </a:lnTo>
                      <a:lnTo>
                        <a:pt x="21" y="8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09" name="Freeform 571"/>
                <p:cNvSpPr>
                  <a:spLocks/>
                </p:cNvSpPr>
                <p:nvPr/>
              </p:nvSpPr>
              <p:spPr bwMode="auto">
                <a:xfrm>
                  <a:off x="2685" y="2095"/>
                  <a:ext cx="21" cy="22"/>
                </a:xfrm>
                <a:custGeom>
                  <a:avLst/>
                  <a:gdLst>
                    <a:gd name="T0" fmla="*/ 7 w 21"/>
                    <a:gd name="T1" fmla="*/ 22 h 22"/>
                    <a:gd name="T2" fmla="*/ 7 w 21"/>
                    <a:gd name="T3" fmla="*/ 22 h 22"/>
                    <a:gd name="T4" fmla="*/ 5 w 21"/>
                    <a:gd name="T5" fmla="*/ 22 h 22"/>
                    <a:gd name="T6" fmla="*/ 2 w 21"/>
                    <a:gd name="T7" fmla="*/ 20 h 22"/>
                    <a:gd name="T8" fmla="*/ 0 w 21"/>
                    <a:gd name="T9" fmla="*/ 17 h 22"/>
                    <a:gd name="T10" fmla="*/ 0 w 21"/>
                    <a:gd name="T11" fmla="*/ 15 h 22"/>
                    <a:gd name="T12" fmla="*/ 21 w 21"/>
                    <a:gd name="T13" fmla="*/ 15 h 22"/>
                    <a:gd name="T14" fmla="*/ 20 w 21"/>
                    <a:gd name="T15" fmla="*/ 9 h 22"/>
                    <a:gd name="T16" fmla="*/ 17 w 21"/>
                    <a:gd name="T17" fmla="*/ 4 h 22"/>
                    <a:gd name="T18" fmla="*/ 11 w 21"/>
                    <a:gd name="T19" fmla="*/ 1 h 22"/>
                    <a:gd name="T20" fmla="*/ 7 w 21"/>
                    <a:gd name="T21" fmla="*/ 0 h 22"/>
                    <a:gd name="T22" fmla="*/ 7 w 21"/>
                    <a:gd name="T23" fmla="*/ 22 h 2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1"/>
                    <a:gd name="T37" fmla="*/ 0 h 22"/>
                    <a:gd name="T38" fmla="*/ 21 w 21"/>
                    <a:gd name="T39" fmla="*/ 22 h 22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1" h="22">
                      <a:moveTo>
                        <a:pt x="7" y="22"/>
                      </a:moveTo>
                      <a:lnTo>
                        <a:pt x="7" y="22"/>
                      </a:lnTo>
                      <a:lnTo>
                        <a:pt x="5" y="22"/>
                      </a:lnTo>
                      <a:lnTo>
                        <a:pt x="2" y="20"/>
                      </a:lnTo>
                      <a:lnTo>
                        <a:pt x="0" y="17"/>
                      </a:lnTo>
                      <a:lnTo>
                        <a:pt x="0" y="15"/>
                      </a:lnTo>
                      <a:lnTo>
                        <a:pt x="21" y="15"/>
                      </a:lnTo>
                      <a:lnTo>
                        <a:pt x="20" y="9"/>
                      </a:lnTo>
                      <a:lnTo>
                        <a:pt x="17" y="4"/>
                      </a:lnTo>
                      <a:lnTo>
                        <a:pt x="11" y="1"/>
                      </a:lnTo>
                      <a:lnTo>
                        <a:pt x="7" y="0"/>
                      </a:lnTo>
                      <a:lnTo>
                        <a:pt x="7" y="2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10" name="Freeform 572"/>
                <p:cNvSpPr>
                  <a:spLocks/>
                </p:cNvSpPr>
                <p:nvPr/>
              </p:nvSpPr>
              <p:spPr bwMode="auto">
                <a:xfrm>
                  <a:off x="2677" y="2095"/>
                  <a:ext cx="23" cy="22"/>
                </a:xfrm>
                <a:custGeom>
                  <a:avLst/>
                  <a:gdLst>
                    <a:gd name="T0" fmla="*/ 23 w 23"/>
                    <a:gd name="T1" fmla="*/ 15 h 22"/>
                    <a:gd name="T2" fmla="*/ 23 w 23"/>
                    <a:gd name="T3" fmla="*/ 15 h 22"/>
                    <a:gd name="T4" fmla="*/ 23 w 23"/>
                    <a:gd name="T5" fmla="*/ 17 h 22"/>
                    <a:gd name="T6" fmla="*/ 21 w 23"/>
                    <a:gd name="T7" fmla="*/ 19 h 22"/>
                    <a:gd name="T8" fmla="*/ 17 w 23"/>
                    <a:gd name="T9" fmla="*/ 22 h 22"/>
                    <a:gd name="T10" fmla="*/ 15 w 23"/>
                    <a:gd name="T11" fmla="*/ 22 h 22"/>
                    <a:gd name="T12" fmla="*/ 15 w 23"/>
                    <a:gd name="T13" fmla="*/ 0 h 22"/>
                    <a:gd name="T14" fmla="*/ 10 w 23"/>
                    <a:gd name="T15" fmla="*/ 1 h 22"/>
                    <a:gd name="T16" fmla="*/ 3 w 23"/>
                    <a:gd name="T17" fmla="*/ 5 h 22"/>
                    <a:gd name="T18" fmla="*/ 1 w 23"/>
                    <a:gd name="T19" fmla="*/ 9 h 22"/>
                    <a:gd name="T20" fmla="*/ 0 w 23"/>
                    <a:gd name="T21" fmla="*/ 15 h 22"/>
                    <a:gd name="T22" fmla="*/ 23 w 23"/>
                    <a:gd name="T23" fmla="*/ 15 h 2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3"/>
                    <a:gd name="T37" fmla="*/ 0 h 22"/>
                    <a:gd name="T38" fmla="*/ 23 w 23"/>
                    <a:gd name="T39" fmla="*/ 22 h 22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3" h="22">
                      <a:moveTo>
                        <a:pt x="23" y="15"/>
                      </a:moveTo>
                      <a:lnTo>
                        <a:pt x="23" y="15"/>
                      </a:lnTo>
                      <a:lnTo>
                        <a:pt x="23" y="17"/>
                      </a:lnTo>
                      <a:lnTo>
                        <a:pt x="21" y="19"/>
                      </a:lnTo>
                      <a:lnTo>
                        <a:pt x="17" y="22"/>
                      </a:lnTo>
                      <a:lnTo>
                        <a:pt x="15" y="22"/>
                      </a:lnTo>
                      <a:lnTo>
                        <a:pt x="15" y="0"/>
                      </a:lnTo>
                      <a:lnTo>
                        <a:pt x="10" y="1"/>
                      </a:lnTo>
                      <a:lnTo>
                        <a:pt x="3" y="5"/>
                      </a:lnTo>
                      <a:lnTo>
                        <a:pt x="1" y="9"/>
                      </a:lnTo>
                      <a:lnTo>
                        <a:pt x="0" y="15"/>
                      </a:lnTo>
                      <a:lnTo>
                        <a:pt x="23" y="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11" name="Freeform 573"/>
                <p:cNvSpPr>
                  <a:spLocks/>
                </p:cNvSpPr>
                <p:nvPr/>
              </p:nvSpPr>
              <p:spPr bwMode="auto">
                <a:xfrm>
                  <a:off x="2677" y="2102"/>
                  <a:ext cx="23" cy="23"/>
                </a:xfrm>
                <a:custGeom>
                  <a:avLst/>
                  <a:gdLst>
                    <a:gd name="T0" fmla="*/ 15 w 23"/>
                    <a:gd name="T1" fmla="*/ 0 h 23"/>
                    <a:gd name="T2" fmla="*/ 15 w 23"/>
                    <a:gd name="T3" fmla="*/ 0 h 23"/>
                    <a:gd name="T4" fmla="*/ 17 w 23"/>
                    <a:gd name="T5" fmla="*/ 0 h 23"/>
                    <a:gd name="T6" fmla="*/ 21 w 23"/>
                    <a:gd name="T7" fmla="*/ 4 h 23"/>
                    <a:gd name="T8" fmla="*/ 23 w 23"/>
                    <a:gd name="T9" fmla="*/ 6 h 23"/>
                    <a:gd name="T10" fmla="*/ 23 w 23"/>
                    <a:gd name="T11" fmla="*/ 8 h 23"/>
                    <a:gd name="T12" fmla="*/ 0 w 23"/>
                    <a:gd name="T13" fmla="*/ 8 h 23"/>
                    <a:gd name="T14" fmla="*/ 1 w 23"/>
                    <a:gd name="T15" fmla="*/ 13 h 23"/>
                    <a:gd name="T16" fmla="*/ 3 w 23"/>
                    <a:gd name="T17" fmla="*/ 17 h 23"/>
                    <a:gd name="T18" fmla="*/ 10 w 23"/>
                    <a:gd name="T19" fmla="*/ 22 h 23"/>
                    <a:gd name="T20" fmla="*/ 15 w 23"/>
                    <a:gd name="T21" fmla="*/ 23 h 23"/>
                    <a:gd name="T22" fmla="*/ 15 w 23"/>
                    <a:gd name="T23" fmla="*/ 0 h 23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3"/>
                    <a:gd name="T37" fmla="*/ 0 h 23"/>
                    <a:gd name="T38" fmla="*/ 23 w 23"/>
                    <a:gd name="T39" fmla="*/ 23 h 23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3" h="23">
                      <a:moveTo>
                        <a:pt x="15" y="0"/>
                      </a:moveTo>
                      <a:lnTo>
                        <a:pt x="15" y="0"/>
                      </a:lnTo>
                      <a:lnTo>
                        <a:pt x="17" y="0"/>
                      </a:lnTo>
                      <a:lnTo>
                        <a:pt x="21" y="4"/>
                      </a:lnTo>
                      <a:lnTo>
                        <a:pt x="23" y="6"/>
                      </a:lnTo>
                      <a:lnTo>
                        <a:pt x="23" y="8"/>
                      </a:lnTo>
                      <a:lnTo>
                        <a:pt x="0" y="8"/>
                      </a:lnTo>
                      <a:lnTo>
                        <a:pt x="1" y="13"/>
                      </a:lnTo>
                      <a:lnTo>
                        <a:pt x="3" y="17"/>
                      </a:lnTo>
                      <a:lnTo>
                        <a:pt x="10" y="22"/>
                      </a:lnTo>
                      <a:lnTo>
                        <a:pt x="15" y="23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12" name="Freeform 574"/>
                <p:cNvSpPr>
                  <a:spLocks/>
                </p:cNvSpPr>
                <p:nvPr/>
              </p:nvSpPr>
              <p:spPr bwMode="auto">
                <a:xfrm>
                  <a:off x="2689" y="2107"/>
                  <a:ext cx="6" cy="7"/>
                </a:xfrm>
                <a:custGeom>
                  <a:avLst/>
                  <a:gdLst>
                    <a:gd name="T0" fmla="*/ 3 w 6"/>
                    <a:gd name="T1" fmla="*/ 7 h 7"/>
                    <a:gd name="T2" fmla="*/ 4 w 6"/>
                    <a:gd name="T3" fmla="*/ 7 h 7"/>
                    <a:gd name="T4" fmla="*/ 5 w 6"/>
                    <a:gd name="T5" fmla="*/ 6 h 7"/>
                    <a:gd name="T6" fmla="*/ 6 w 6"/>
                    <a:gd name="T7" fmla="*/ 5 h 7"/>
                    <a:gd name="T8" fmla="*/ 6 w 6"/>
                    <a:gd name="T9" fmla="*/ 3 h 7"/>
                    <a:gd name="T10" fmla="*/ 6 w 6"/>
                    <a:gd name="T11" fmla="*/ 2 h 7"/>
                    <a:gd name="T12" fmla="*/ 5 w 6"/>
                    <a:gd name="T13" fmla="*/ 1 h 7"/>
                    <a:gd name="T14" fmla="*/ 4 w 6"/>
                    <a:gd name="T15" fmla="*/ 0 h 7"/>
                    <a:gd name="T16" fmla="*/ 3 w 6"/>
                    <a:gd name="T17" fmla="*/ 0 h 7"/>
                    <a:gd name="T18" fmla="*/ 2 w 6"/>
                    <a:gd name="T19" fmla="*/ 0 h 7"/>
                    <a:gd name="T20" fmla="*/ 1 w 6"/>
                    <a:gd name="T21" fmla="*/ 1 h 7"/>
                    <a:gd name="T22" fmla="*/ 0 w 6"/>
                    <a:gd name="T23" fmla="*/ 2 h 7"/>
                    <a:gd name="T24" fmla="*/ 0 w 6"/>
                    <a:gd name="T25" fmla="*/ 3 h 7"/>
                    <a:gd name="T26" fmla="*/ 0 w 6"/>
                    <a:gd name="T27" fmla="*/ 5 h 7"/>
                    <a:gd name="T28" fmla="*/ 1 w 6"/>
                    <a:gd name="T29" fmla="*/ 6 h 7"/>
                    <a:gd name="T30" fmla="*/ 2 w 6"/>
                    <a:gd name="T31" fmla="*/ 7 h 7"/>
                    <a:gd name="T32" fmla="*/ 3 w 6"/>
                    <a:gd name="T33" fmla="*/ 7 h 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6"/>
                    <a:gd name="T52" fmla="*/ 0 h 7"/>
                    <a:gd name="T53" fmla="*/ 6 w 6"/>
                    <a:gd name="T54" fmla="*/ 7 h 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6" h="7">
                      <a:moveTo>
                        <a:pt x="3" y="7"/>
                      </a:moveTo>
                      <a:lnTo>
                        <a:pt x="4" y="7"/>
                      </a:lnTo>
                      <a:lnTo>
                        <a:pt x="5" y="6"/>
                      </a:lnTo>
                      <a:lnTo>
                        <a:pt x="6" y="5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2" y="7"/>
                      </a:lnTo>
                      <a:lnTo>
                        <a:pt x="3" y="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13" name="Freeform 575"/>
                <p:cNvSpPr>
                  <a:spLocks/>
                </p:cNvSpPr>
                <p:nvPr/>
              </p:nvSpPr>
              <p:spPr bwMode="auto">
                <a:xfrm>
                  <a:off x="2691" y="2110"/>
                  <a:ext cx="9" cy="7"/>
                </a:xfrm>
                <a:custGeom>
                  <a:avLst/>
                  <a:gdLst>
                    <a:gd name="T0" fmla="*/ 0 w 9"/>
                    <a:gd name="T1" fmla="*/ 0 h 7"/>
                    <a:gd name="T2" fmla="*/ 0 w 9"/>
                    <a:gd name="T3" fmla="*/ 0 h 7"/>
                    <a:gd name="T4" fmla="*/ 0 w 9"/>
                    <a:gd name="T5" fmla="*/ 0 h 7"/>
                    <a:gd name="T6" fmla="*/ 0 w 9"/>
                    <a:gd name="T7" fmla="*/ 0 h 7"/>
                    <a:gd name="T8" fmla="*/ 0 w 9"/>
                    <a:gd name="T9" fmla="*/ 7 h 7"/>
                    <a:gd name="T10" fmla="*/ 3 w 9"/>
                    <a:gd name="T11" fmla="*/ 6 h 7"/>
                    <a:gd name="T12" fmla="*/ 7 w 9"/>
                    <a:gd name="T13" fmla="*/ 5 h 7"/>
                    <a:gd name="T14" fmla="*/ 8 w 9"/>
                    <a:gd name="T15" fmla="*/ 3 h 7"/>
                    <a:gd name="T16" fmla="*/ 9 w 9"/>
                    <a:gd name="T17" fmla="*/ 0 h 7"/>
                    <a:gd name="T18" fmla="*/ 0 w 9"/>
                    <a:gd name="T19" fmla="*/ 0 h 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9"/>
                    <a:gd name="T31" fmla="*/ 0 h 7"/>
                    <a:gd name="T32" fmla="*/ 9 w 9"/>
                    <a:gd name="T33" fmla="*/ 7 h 7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9" h="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7"/>
                      </a:lnTo>
                      <a:lnTo>
                        <a:pt x="3" y="6"/>
                      </a:lnTo>
                      <a:lnTo>
                        <a:pt x="7" y="5"/>
                      </a:lnTo>
                      <a:lnTo>
                        <a:pt x="8" y="3"/>
                      </a:lnTo>
                      <a:lnTo>
                        <a:pt x="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14" name="Freeform 576"/>
                <p:cNvSpPr>
                  <a:spLocks/>
                </p:cNvSpPr>
                <p:nvPr/>
              </p:nvSpPr>
              <p:spPr bwMode="auto">
                <a:xfrm>
                  <a:off x="2691" y="2102"/>
                  <a:ext cx="9" cy="8"/>
                </a:xfrm>
                <a:custGeom>
                  <a:avLst/>
                  <a:gdLst>
                    <a:gd name="T0" fmla="*/ 0 w 9"/>
                    <a:gd name="T1" fmla="*/ 8 h 8"/>
                    <a:gd name="T2" fmla="*/ 0 w 9"/>
                    <a:gd name="T3" fmla="*/ 8 h 8"/>
                    <a:gd name="T4" fmla="*/ 0 w 9"/>
                    <a:gd name="T5" fmla="*/ 8 h 8"/>
                    <a:gd name="T6" fmla="*/ 0 w 9"/>
                    <a:gd name="T7" fmla="*/ 8 h 8"/>
                    <a:gd name="T8" fmla="*/ 9 w 9"/>
                    <a:gd name="T9" fmla="*/ 8 h 8"/>
                    <a:gd name="T10" fmla="*/ 8 w 9"/>
                    <a:gd name="T11" fmla="*/ 5 h 8"/>
                    <a:gd name="T12" fmla="*/ 7 w 9"/>
                    <a:gd name="T13" fmla="*/ 2 h 8"/>
                    <a:gd name="T14" fmla="*/ 3 w 9"/>
                    <a:gd name="T15" fmla="*/ 1 h 8"/>
                    <a:gd name="T16" fmla="*/ 0 w 9"/>
                    <a:gd name="T17" fmla="*/ 0 h 8"/>
                    <a:gd name="T18" fmla="*/ 0 w 9"/>
                    <a:gd name="T19" fmla="*/ 8 h 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9"/>
                    <a:gd name="T31" fmla="*/ 0 h 8"/>
                    <a:gd name="T32" fmla="*/ 9 w 9"/>
                    <a:gd name="T33" fmla="*/ 8 h 8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9" h="8">
                      <a:moveTo>
                        <a:pt x="0" y="8"/>
                      </a:moveTo>
                      <a:lnTo>
                        <a:pt x="0" y="8"/>
                      </a:lnTo>
                      <a:lnTo>
                        <a:pt x="9" y="8"/>
                      </a:lnTo>
                      <a:lnTo>
                        <a:pt x="8" y="5"/>
                      </a:lnTo>
                      <a:lnTo>
                        <a:pt x="7" y="2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15" name="Freeform 577"/>
                <p:cNvSpPr>
                  <a:spLocks/>
                </p:cNvSpPr>
                <p:nvPr/>
              </p:nvSpPr>
              <p:spPr bwMode="auto">
                <a:xfrm>
                  <a:off x="2685" y="2102"/>
                  <a:ext cx="7" cy="8"/>
                </a:xfrm>
                <a:custGeom>
                  <a:avLst/>
                  <a:gdLst>
                    <a:gd name="T0" fmla="*/ 7 w 7"/>
                    <a:gd name="T1" fmla="*/ 8 h 8"/>
                    <a:gd name="T2" fmla="*/ 7 w 7"/>
                    <a:gd name="T3" fmla="*/ 8 h 8"/>
                    <a:gd name="T4" fmla="*/ 7 w 7"/>
                    <a:gd name="T5" fmla="*/ 7 h 8"/>
                    <a:gd name="T6" fmla="*/ 6 w 7"/>
                    <a:gd name="T7" fmla="*/ 8 h 8"/>
                    <a:gd name="T8" fmla="*/ 7 w 7"/>
                    <a:gd name="T9" fmla="*/ 8 h 8"/>
                    <a:gd name="T10" fmla="*/ 7 w 7"/>
                    <a:gd name="T11" fmla="*/ 0 h 8"/>
                    <a:gd name="T12" fmla="*/ 4 w 7"/>
                    <a:gd name="T13" fmla="*/ 1 h 8"/>
                    <a:gd name="T14" fmla="*/ 2 w 7"/>
                    <a:gd name="T15" fmla="*/ 2 h 8"/>
                    <a:gd name="T16" fmla="*/ 1 w 7"/>
                    <a:gd name="T17" fmla="*/ 5 h 8"/>
                    <a:gd name="T18" fmla="*/ 0 w 7"/>
                    <a:gd name="T19" fmla="*/ 8 h 8"/>
                    <a:gd name="T20" fmla="*/ 7 w 7"/>
                    <a:gd name="T21" fmla="*/ 8 h 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"/>
                    <a:gd name="T34" fmla="*/ 0 h 8"/>
                    <a:gd name="T35" fmla="*/ 7 w 7"/>
                    <a:gd name="T36" fmla="*/ 8 h 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" h="8">
                      <a:moveTo>
                        <a:pt x="7" y="8"/>
                      </a:moveTo>
                      <a:lnTo>
                        <a:pt x="7" y="8"/>
                      </a:lnTo>
                      <a:lnTo>
                        <a:pt x="7" y="7"/>
                      </a:lnTo>
                      <a:lnTo>
                        <a:pt x="6" y="8"/>
                      </a:lnTo>
                      <a:lnTo>
                        <a:pt x="7" y="8"/>
                      </a:lnTo>
                      <a:lnTo>
                        <a:pt x="7" y="0"/>
                      </a:lnTo>
                      <a:lnTo>
                        <a:pt x="4" y="1"/>
                      </a:lnTo>
                      <a:lnTo>
                        <a:pt x="2" y="2"/>
                      </a:lnTo>
                      <a:lnTo>
                        <a:pt x="1" y="5"/>
                      </a:lnTo>
                      <a:lnTo>
                        <a:pt x="0" y="8"/>
                      </a:lnTo>
                      <a:lnTo>
                        <a:pt x="7" y="8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16" name="Freeform 578"/>
                <p:cNvSpPr>
                  <a:spLocks/>
                </p:cNvSpPr>
                <p:nvPr/>
              </p:nvSpPr>
              <p:spPr bwMode="auto">
                <a:xfrm>
                  <a:off x="2685" y="2110"/>
                  <a:ext cx="7" cy="7"/>
                </a:xfrm>
                <a:custGeom>
                  <a:avLst/>
                  <a:gdLst>
                    <a:gd name="T0" fmla="*/ 7 w 7"/>
                    <a:gd name="T1" fmla="*/ 0 h 7"/>
                    <a:gd name="T2" fmla="*/ 7 w 7"/>
                    <a:gd name="T3" fmla="*/ 0 h 7"/>
                    <a:gd name="T4" fmla="*/ 6 w 7"/>
                    <a:gd name="T5" fmla="*/ 0 h 7"/>
                    <a:gd name="T6" fmla="*/ 7 w 7"/>
                    <a:gd name="T7" fmla="*/ 1 h 7"/>
                    <a:gd name="T8" fmla="*/ 7 w 7"/>
                    <a:gd name="T9" fmla="*/ 0 h 7"/>
                    <a:gd name="T10" fmla="*/ 0 w 7"/>
                    <a:gd name="T11" fmla="*/ 0 h 7"/>
                    <a:gd name="T12" fmla="*/ 1 w 7"/>
                    <a:gd name="T13" fmla="*/ 3 h 7"/>
                    <a:gd name="T14" fmla="*/ 2 w 7"/>
                    <a:gd name="T15" fmla="*/ 5 h 7"/>
                    <a:gd name="T16" fmla="*/ 4 w 7"/>
                    <a:gd name="T17" fmla="*/ 6 h 7"/>
                    <a:gd name="T18" fmla="*/ 7 w 7"/>
                    <a:gd name="T19" fmla="*/ 7 h 7"/>
                    <a:gd name="T20" fmla="*/ 7 w 7"/>
                    <a:gd name="T21" fmla="*/ 0 h 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"/>
                    <a:gd name="T34" fmla="*/ 0 h 7"/>
                    <a:gd name="T35" fmla="*/ 7 w 7"/>
                    <a:gd name="T36" fmla="*/ 7 h 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" h="7">
                      <a:moveTo>
                        <a:pt x="7" y="0"/>
                      </a:moveTo>
                      <a:lnTo>
                        <a:pt x="7" y="0"/>
                      </a:lnTo>
                      <a:lnTo>
                        <a:pt x="6" y="0"/>
                      </a:lnTo>
                      <a:lnTo>
                        <a:pt x="7" y="1"/>
                      </a:lnTo>
                      <a:lnTo>
                        <a:pt x="7" y="0"/>
                      </a:lnTo>
                      <a:lnTo>
                        <a:pt x="0" y="0"/>
                      </a:lnTo>
                      <a:lnTo>
                        <a:pt x="1" y="3"/>
                      </a:lnTo>
                      <a:lnTo>
                        <a:pt x="2" y="5"/>
                      </a:lnTo>
                      <a:lnTo>
                        <a:pt x="4" y="6"/>
                      </a:lnTo>
                      <a:lnTo>
                        <a:pt x="7" y="7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17" name="Freeform 579"/>
                <p:cNvSpPr>
                  <a:spLocks/>
                </p:cNvSpPr>
                <p:nvPr/>
              </p:nvSpPr>
              <p:spPr bwMode="auto">
                <a:xfrm>
                  <a:off x="2625" y="1887"/>
                  <a:ext cx="131" cy="166"/>
                </a:xfrm>
                <a:custGeom>
                  <a:avLst/>
                  <a:gdLst>
                    <a:gd name="T0" fmla="*/ 89 w 131"/>
                    <a:gd name="T1" fmla="*/ 154 h 166"/>
                    <a:gd name="T2" fmla="*/ 94 w 131"/>
                    <a:gd name="T3" fmla="*/ 135 h 166"/>
                    <a:gd name="T4" fmla="*/ 102 w 131"/>
                    <a:gd name="T5" fmla="*/ 122 h 166"/>
                    <a:gd name="T6" fmla="*/ 110 w 131"/>
                    <a:gd name="T7" fmla="*/ 115 h 166"/>
                    <a:gd name="T8" fmla="*/ 117 w 131"/>
                    <a:gd name="T9" fmla="*/ 107 h 166"/>
                    <a:gd name="T10" fmla="*/ 124 w 131"/>
                    <a:gd name="T11" fmla="*/ 97 h 166"/>
                    <a:gd name="T12" fmla="*/ 128 w 131"/>
                    <a:gd name="T13" fmla="*/ 85 h 166"/>
                    <a:gd name="T14" fmla="*/ 131 w 131"/>
                    <a:gd name="T15" fmla="*/ 72 h 166"/>
                    <a:gd name="T16" fmla="*/ 131 w 131"/>
                    <a:gd name="T17" fmla="*/ 58 h 166"/>
                    <a:gd name="T18" fmla="*/ 128 w 131"/>
                    <a:gd name="T19" fmla="*/ 47 h 166"/>
                    <a:gd name="T20" fmla="*/ 124 w 131"/>
                    <a:gd name="T21" fmla="*/ 34 h 166"/>
                    <a:gd name="T22" fmla="*/ 116 w 131"/>
                    <a:gd name="T23" fmla="*/ 24 h 166"/>
                    <a:gd name="T24" fmla="*/ 108 w 131"/>
                    <a:gd name="T25" fmla="*/ 14 h 166"/>
                    <a:gd name="T26" fmla="*/ 97 w 131"/>
                    <a:gd name="T27" fmla="*/ 8 h 166"/>
                    <a:gd name="T28" fmla="*/ 85 w 131"/>
                    <a:gd name="T29" fmla="*/ 3 h 166"/>
                    <a:gd name="T30" fmla="*/ 73 w 131"/>
                    <a:gd name="T31" fmla="*/ 0 h 166"/>
                    <a:gd name="T32" fmla="*/ 59 w 131"/>
                    <a:gd name="T33" fmla="*/ 0 h 166"/>
                    <a:gd name="T34" fmla="*/ 46 w 131"/>
                    <a:gd name="T35" fmla="*/ 3 h 166"/>
                    <a:gd name="T36" fmla="*/ 34 w 131"/>
                    <a:gd name="T37" fmla="*/ 8 h 166"/>
                    <a:gd name="T38" fmla="*/ 23 w 131"/>
                    <a:gd name="T39" fmla="*/ 14 h 166"/>
                    <a:gd name="T40" fmla="*/ 15 w 131"/>
                    <a:gd name="T41" fmla="*/ 24 h 166"/>
                    <a:gd name="T42" fmla="*/ 8 w 131"/>
                    <a:gd name="T43" fmla="*/ 34 h 166"/>
                    <a:gd name="T44" fmla="*/ 3 w 131"/>
                    <a:gd name="T45" fmla="*/ 47 h 166"/>
                    <a:gd name="T46" fmla="*/ 0 w 131"/>
                    <a:gd name="T47" fmla="*/ 58 h 166"/>
                    <a:gd name="T48" fmla="*/ 0 w 131"/>
                    <a:gd name="T49" fmla="*/ 72 h 166"/>
                    <a:gd name="T50" fmla="*/ 3 w 131"/>
                    <a:gd name="T51" fmla="*/ 85 h 166"/>
                    <a:gd name="T52" fmla="*/ 7 w 131"/>
                    <a:gd name="T53" fmla="*/ 97 h 166"/>
                    <a:gd name="T54" fmla="*/ 15 w 131"/>
                    <a:gd name="T55" fmla="*/ 107 h 166"/>
                    <a:gd name="T56" fmla="*/ 21 w 131"/>
                    <a:gd name="T57" fmla="*/ 115 h 166"/>
                    <a:gd name="T58" fmla="*/ 29 w 131"/>
                    <a:gd name="T59" fmla="*/ 122 h 166"/>
                    <a:gd name="T60" fmla="*/ 37 w 131"/>
                    <a:gd name="T61" fmla="*/ 135 h 166"/>
                    <a:gd name="T62" fmla="*/ 43 w 131"/>
                    <a:gd name="T63" fmla="*/ 154 h 166"/>
                    <a:gd name="T64" fmla="*/ 87 w 131"/>
                    <a:gd name="T65" fmla="*/ 166 h 16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31"/>
                    <a:gd name="T100" fmla="*/ 0 h 166"/>
                    <a:gd name="T101" fmla="*/ 131 w 131"/>
                    <a:gd name="T102" fmla="*/ 166 h 16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31" h="166">
                      <a:moveTo>
                        <a:pt x="87" y="166"/>
                      </a:moveTo>
                      <a:lnTo>
                        <a:pt x="89" y="154"/>
                      </a:lnTo>
                      <a:lnTo>
                        <a:pt x="91" y="144"/>
                      </a:lnTo>
                      <a:lnTo>
                        <a:pt x="94" y="135"/>
                      </a:lnTo>
                      <a:lnTo>
                        <a:pt x="98" y="129"/>
                      </a:lnTo>
                      <a:lnTo>
                        <a:pt x="102" y="122"/>
                      </a:lnTo>
                      <a:lnTo>
                        <a:pt x="107" y="118"/>
                      </a:lnTo>
                      <a:lnTo>
                        <a:pt x="110" y="115"/>
                      </a:lnTo>
                      <a:lnTo>
                        <a:pt x="113" y="112"/>
                      </a:lnTo>
                      <a:lnTo>
                        <a:pt x="117" y="107"/>
                      </a:lnTo>
                      <a:lnTo>
                        <a:pt x="121" y="102"/>
                      </a:lnTo>
                      <a:lnTo>
                        <a:pt x="124" y="97"/>
                      </a:lnTo>
                      <a:lnTo>
                        <a:pt x="126" y="91"/>
                      </a:lnTo>
                      <a:lnTo>
                        <a:pt x="128" y="85"/>
                      </a:lnTo>
                      <a:lnTo>
                        <a:pt x="130" y="79"/>
                      </a:lnTo>
                      <a:lnTo>
                        <a:pt x="131" y="72"/>
                      </a:lnTo>
                      <a:lnTo>
                        <a:pt x="131" y="66"/>
                      </a:lnTo>
                      <a:lnTo>
                        <a:pt x="131" y="58"/>
                      </a:lnTo>
                      <a:lnTo>
                        <a:pt x="130" y="52"/>
                      </a:lnTo>
                      <a:lnTo>
                        <a:pt x="128" y="47"/>
                      </a:lnTo>
                      <a:lnTo>
                        <a:pt x="126" y="40"/>
                      </a:lnTo>
                      <a:lnTo>
                        <a:pt x="124" y="34"/>
                      </a:lnTo>
                      <a:lnTo>
                        <a:pt x="120" y="28"/>
                      </a:lnTo>
                      <a:lnTo>
                        <a:pt x="116" y="24"/>
                      </a:lnTo>
                      <a:lnTo>
                        <a:pt x="112" y="19"/>
                      </a:lnTo>
                      <a:lnTo>
                        <a:pt x="108" y="14"/>
                      </a:lnTo>
                      <a:lnTo>
                        <a:pt x="102" y="11"/>
                      </a:lnTo>
                      <a:lnTo>
                        <a:pt x="97" y="8"/>
                      </a:lnTo>
                      <a:lnTo>
                        <a:pt x="91" y="5"/>
                      </a:lnTo>
                      <a:lnTo>
                        <a:pt x="85" y="3"/>
                      </a:lnTo>
                      <a:lnTo>
                        <a:pt x="79" y="1"/>
                      </a:lnTo>
                      <a:lnTo>
                        <a:pt x="73" y="0"/>
                      </a:lnTo>
                      <a:lnTo>
                        <a:pt x="66" y="0"/>
                      </a:lnTo>
                      <a:lnTo>
                        <a:pt x="59" y="0"/>
                      </a:lnTo>
                      <a:lnTo>
                        <a:pt x="52" y="1"/>
                      </a:lnTo>
                      <a:lnTo>
                        <a:pt x="46" y="3"/>
                      </a:lnTo>
                      <a:lnTo>
                        <a:pt x="40" y="5"/>
                      </a:lnTo>
                      <a:lnTo>
                        <a:pt x="34" y="8"/>
                      </a:lnTo>
                      <a:lnTo>
                        <a:pt x="29" y="11"/>
                      </a:lnTo>
                      <a:lnTo>
                        <a:pt x="23" y="14"/>
                      </a:lnTo>
                      <a:lnTo>
                        <a:pt x="19" y="19"/>
                      </a:lnTo>
                      <a:lnTo>
                        <a:pt x="15" y="24"/>
                      </a:lnTo>
                      <a:lnTo>
                        <a:pt x="12" y="28"/>
                      </a:lnTo>
                      <a:lnTo>
                        <a:pt x="8" y="34"/>
                      </a:lnTo>
                      <a:lnTo>
                        <a:pt x="5" y="40"/>
                      </a:lnTo>
                      <a:lnTo>
                        <a:pt x="3" y="47"/>
                      </a:lnTo>
                      <a:lnTo>
                        <a:pt x="1" y="52"/>
                      </a:lnTo>
                      <a:lnTo>
                        <a:pt x="0" y="58"/>
                      </a:lnTo>
                      <a:lnTo>
                        <a:pt x="0" y="66"/>
                      </a:lnTo>
                      <a:lnTo>
                        <a:pt x="0" y="72"/>
                      </a:lnTo>
                      <a:lnTo>
                        <a:pt x="1" y="79"/>
                      </a:lnTo>
                      <a:lnTo>
                        <a:pt x="3" y="85"/>
                      </a:lnTo>
                      <a:lnTo>
                        <a:pt x="5" y="91"/>
                      </a:lnTo>
                      <a:lnTo>
                        <a:pt x="7" y="97"/>
                      </a:lnTo>
                      <a:lnTo>
                        <a:pt x="11" y="102"/>
                      </a:lnTo>
                      <a:lnTo>
                        <a:pt x="15" y="107"/>
                      </a:lnTo>
                      <a:lnTo>
                        <a:pt x="18" y="112"/>
                      </a:lnTo>
                      <a:lnTo>
                        <a:pt x="21" y="115"/>
                      </a:lnTo>
                      <a:lnTo>
                        <a:pt x="24" y="118"/>
                      </a:lnTo>
                      <a:lnTo>
                        <a:pt x="29" y="122"/>
                      </a:lnTo>
                      <a:lnTo>
                        <a:pt x="33" y="129"/>
                      </a:lnTo>
                      <a:lnTo>
                        <a:pt x="37" y="135"/>
                      </a:lnTo>
                      <a:lnTo>
                        <a:pt x="40" y="144"/>
                      </a:lnTo>
                      <a:lnTo>
                        <a:pt x="43" y="154"/>
                      </a:lnTo>
                      <a:lnTo>
                        <a:pt x="44" y="166"/>
                      </a:lnTo>
                      <a:lnTo>
                        <a:pt x="87" y="16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18" name="Freeform 580"/>
                <p:cNvSpPr>
                  <a:spLocks/>
                </p:cNvSpPr>
                <p:nvPr/>
              </p:nvSpPr>
              <p:spPr bwMode="auto">
                <a:xfrm>
                  <a:off x="2704" y="1992"/>
                  <a:ext cx="41" cy="61"/>
                </a:xfrm>
                <a:custGeom>
                  <a:avLst/>
                  <a:gdLst>
                    <a:gd name="T0" fmla="*/ 28 w 41"/>
                    <a:gd name="T1" fmla="*/ 0 h 61"/>
                    <a:gd name="T2" fmla="*/ 28 w 41"/>
                    <a:gd name="T3" fmla="*/ 0 h 61"/>
                    <a:gd name="T4" fmla="*/ 26 w 41"/>
                    <a:gd name="T5" fmla="*/ 3 h 61"/>
                    <a:gd name="T6" fmla="*/ 21 w 41"/>
                    <a:gd name="T7" fmla="*/ 7 h 61"/>
                    <a:gd name="T8" fmla="*/ 17 w 41"/>
                    <a:gd name="T9" fmla="*/ 12 h 61"/>
                    <a:gd name="T10" fmla="*/ 12 w 41"/>
                    <a:gd name="T11" fmla="*/ 18 h 61"/>
                    <a:gd name="T12" fmla="*/ 7 w 41"/>
                    <a:gd name="T13" fmla="*/ 27 h 61"/>
                    <a:gd name="T14" fmla="*/ 3 w 41"/>
                    <a:gd name="T15" fmla="*/ 37 h 61"/>
                    <a:gd name="T16" fmla="*/ 1 w 41"/>
                    <a:gd name="T17" fmla="*/ 48 h 61"/>
                    <a:gd name="T18" fmla="*/ 0 w 41"/>
                    <a:gd name="T19" fmla="*/ 61 h 61"/>
                    <a:gd name="T20" fmla="*/ 18 w 41"/>
                    <a:gd name="T21" fmla="*/ 61 h 61"/>
                    <a:gd name="T22" fmla="*/ 18 w 41"/>
                    <a:gd name="T23" fmla="*/ 50 h 61"/>
                    <a:gd name="T24" fmla="*/ 20 w 41"/>
                    <a:gd name="T25" fmla="*/ 41 h 61"/>
                    <a:gd name="T26" fmla="*/ 23 w 41"/>
                    <a:gd name="T27" fmla="*/ 34 h 61"/>
                    <a:gd name="T28" fmla="*/ 27 w 41"/>
                    <a:gd name="T29" fmla="*/ 28 h 61"/>
                    <a:gd name="T30" fmla="*/ 31 w 41"/>
                    <a:gd name="T31" fmla="*/ 23 h 61"/>
                    <a:gd name="T32" fmla="*/ 34 w 41"/>
                    <a:gd name="T33" fmla="*/ 20 h 61"/>
                    <a:gd name="T34" fmla="*/ 37 w 41"/>
                    <a:gd name="T35" fmla="*/ 15 h 61"/>
                    <a:gd name="T36" fmla="*/ 41 w 41"/>
                    <a:gd name="T37" fmla="*/ 13 h 61"/>
                    <a:gd name="T38" fmla="*/ 28 w 41"/>
                    <a:gd name="T39" fmla="*/ 0 h 61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41"/>
                    <a:gd name="T61" fmla="*/ 0 h 61"/>
                    <a:gd name="T62" fmla="*/ 41 w 41"/>
                    <a:gd name="T63" fmla="*/ 61 h 61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41" h="61">
                      <a:moveTo>
                        <a:pt x="28" y="0"/>
                      </a:moveTo>
                      <a:lnTo>
                        <a:pt x="28" y="0"/>
                      </a:lnTo>
                      <a:lnTo>
                        <a:pt x="26" y="3"/>
                      </a:lnTo>
                      <a:lnTo>
                        <a:pt x="21" y="7"/>
                      </a:lnTo>
                      <a:lnTo>
                        <a:pt x="17" y="12"/>
                      </a:lnTo>
                      <a:lnTo>
                        <a:pt x="12" y="18"/>
                      </a:lnTo>
                      <a:lnTo>
                        <a:pt x="7" y="27"/>
                      </a:lnTo>
                      <a:lnTo>
                        <a:pt x="3" y="37"/>
                      </a:lnTo>
                      <a:lnTo>
                        <a:pt x="1" y="48"/>
                      </a:lnTo>
                      <a:lnTo>
                        <a:pt x="0" y="61"/>
                      </a:lnTo>
                      <a:lnTo>
                        <a:pt x="18" y="61"/>
                      </a:lnTo>
                      <a:lnTo>
                        <a:pt x="18" y="50"/>
                      </a:lnTo>
                      <a:lnTo>
                        <a:pt x="20" y="41"/>
                      </a:lnTo>
                      <a:lnTo>
                        <a:pt x="23" y="34"/>
                      </a:lnTo>
                      <a:lnTo>
                        <a:pt x="27" y="28"/>
                      </a:lnTo>
                      <a:lnTo>
                        <a:pt x="31" y="23"/>
                      </a:lnTo>
                      <a:lnTo>
                        <a:pt x="34" y="20"/>
                      </a:lnTo>
                      <a:lnTo>
                        <a:pt x="37" y="15"/>
                      </a:lnTo>
                      <a:lnTo>
                        <a:pt x="41" y="13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19" name="Freeform 581"/>
                <p:cNvSpPr>
                  <a:spLocks/>
                </p:cNvSpPr>
                <p:nvPr/>
              </p:nvSpPr>
              <p:spPr bwMode="auto">
                <a:xfrm>
                  <a:off x="2733" y="1953"/>
                  <a:ext cx="33" cy="52"/>
                </a:xfrm>
                <a:custGeom>
                  <a:avLst/>
                  <a:gdLst>
                    <a:gd name="T0" fmla="*/ 15 w 33"/>
                    <a:gd name="T1" fmla="*/ 0 h 52"/>
                    <a:gd name="T2" fmla="*/ 15 w 33"/>
                    <a:gd name="T3" fmla="*/ 0 h 52"/>
                    <a:gd name="T4" fmla="*/ 15 w 33"/>
                    <a:gd name="T5" fmla="*/ 5 h 52"/>
                    <a:gd name="T6" fmla="*/ 14 w 33"/>
                    <a:gd name="T7" fmla="*/ 12 h 52"/>
                    <a:gd name="T8" fmla="*/ 13 w 33"/>
                    <a:gd name="T9" fmla="*/ 17 h 52"/>
                    <a:gd name="T10" fmla="*/ 10 w 33"/>
                    <a:gd name="T11" fmla="*/ 22 h 52"/>
                    <a:gd name="T12" fmla="*/ 9 w 33"/>
                    <a:gd name="T13" fmla="*/ 26 h 52"/>
                    <a:gd name="T14" fmla="*/ 6 w 33"/>
                    <a:gd name="T15" fmla="*/ 32 h 52"/>
                    <a:gd name="T16" fmla="*/ 3 w 33"/>
                    <a:gd name="T17" fmla="*/ 36 h 52"/>
                    <a:gd name="T18" fmla="*/ 0 w 33"/>
                    <a:gd name="T19" fmla="*/ 39 h 52"/>
                    <a:gd name="T20" fmla="*/ 12 w 33"/>
                    <a:gd name="T21" fmla="*/ 52 h 52"/>
                    <a:gd name="T22" fmla="*/ 17 w 33"/>
                    <a:gd name="T23" fmla="*/ 47 h 52"/>
                    <a:gd name="T24" fmla="*/ 21 w 33"/>
                    <a:gd name="T25" fmla="*/ 41 h 52"/>
                    <a:gd name="T26" fmla="*/ 24 w 33"/>
                    <a:gd name="T27" fmla="*/ 35 h 52"/>
                    <a:gd name="T28" fmla="*/ 28 w 33"/>
                    <a:gd name="T29" fmla="*/ 29 h 52"/>
                    <a:gd name="T30" fmla="*/ 30 w 33"/>
                    <a:gd name="T31" fmla="*/ 21 h 52"/>
                    <a:gd name="T32" fmla="*/ 31 w 33"/>
                    <a:gd name="T33" fmla="*/ 15 h 52"/>
                    <a:gd name="T34" fmla="*/ 32 w 33"/>
                    <a:gd name="T35" fmla="*/ 7 h 52"/>
                    <a:gd name="T36" fmla="*/ 33 w 33"/>
                    <a:gd name="T37" fmla="*/ 0 h 52"/>
                    <a:gd name="T38" fmla="*/ 15 w 33"/>
                    <a:gd name="T39" fmla="*/ 0 h 52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33"/>
                    <a:gd name="T61" fmla="*/ 0 h 52"/>
                    <a:gd name="T62" fmla="*/ 33 w 33"/>
                    <a:gd name="T63" fmla="*/ 52 h 52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33" h="52">
                      <a:moveTo>
                        <a:pt x="15" y="0"/>
                      </a:moveTo>
                      <a:lnTo>
                        <a:pt x="15" y="0"/>
                      </a:lnTo>
                      <a:lnTo>
                        <a:pt x="15" y="5"/>
                      </a:lnTo>
                      <a:lnTo>
                        <a:pt x="14" y="12"/>
                      </a:lnTo>
                      <a:lnTo>
                        <a:pt x="13" y="17"/>
                      </a:lnTo>
                      <a:lnTo>
                        <a:pt x="10" y="22"/>
                      </a:lnTo>
                      <a:lnTo>
                        <a:pt x="9" y="26"/>
                      </a:lnTo>
                      <a:lnTo>
                        <a:pt x="6" y="32"/>
                      </a:lnTo>
                      <a:lnTo>
                        <a:pt x="3" y="36"/>
                      </a:lnTo>
                      <a:lnTo>
                        <a:pt x="0" y="39"/>
                      </a:lnTo>
                      <a:lnTo>
                        <a:pt x="12" y="52"/>
                      </a:lnTo>
                      <a:lnTo>
                        <a:pt x="17" y="47"/>
                      </a:lnTo>
                      <a:lnTo>
                        <a:pt x="21" y="41"/>
                      </a:lnTo>
                      <a:lnTo>
                        <a:pt x="24" y="35"/>
                      </a:lnTo>
                      <a:lnTo>
                        <a:pt x="28" y="29"/>
                      </a:lnTo>
                      <a:lnTo>
                        <a:pt x="30" y="21"/>
                      </a:lnTo>
                      <a:lnTo>
                        <a:pt x="31" y="15"/>
                      </a:lnTo>
                      <a:lnTo>
                        <a:pt x="32" y="7"/>
                      </a:lnTo>
                      <a:lnTo>
                        <a:pt x="33" y="0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20" name="Freeform 582"/>
                <p:cNvSpPr>
                  <a:spLocks/>
                </p:cNvSpPr>
                <p:nvPr/>
              </p:nvSpPr>
              <p:spPr bwMode="auto">
                <a:xfrm>
                  <a:off x="2691" y="1878"/>
                  <a:ext cx="75" cy="75"/>
                </a:xfrm>
                <a:custGeom>
                  <a:avLst/>
                  <a:gdLst>
                    <a:gd name="T0" fmla="*/ 0 w 75"/>
                    <a:gd name="T1" fmla="*/ 18 h 75"/>
                    <a:gd name="T2" fmla="*/ 0 w 75"/>
                    <a:gd name="T3" fmla="*/ 18 h 75"/>
                    <a:gd name="T4" fmla="*/ 7 w 75"/>
                    <a:gd name="T5" fmla="*/ 18 h 75"/>
                    <a:gd name="T6" fmla="*/ 12 w 75"/>
                    <a:gd name="T7" fmla="*/ 19 h 75"/>
                    <a:gd name="T8" fmla="*/ 17 w 75"/>
                    <a:gd name="T9" fmla="*/ 20 h 75"/>
                    <a:gd name="T10" fmla="*/ 21 w 75"/>
                    <a:gd name="T11" fmla="*/ 22 h 75"/>
                    <a:gd name="T12" fmla="*/ 27 w 75"/>
                    <a:gd name="T13" fmla="*/ 25 h 75"/>
                    <a:gd name="T14" fmla="*/ 32 w 75"/>
                    <a:gd name="T15" fmla="*/ 28 h 75"/>
                    <a:gd name="T16" fmla="*/ 36 w 75"/>
                    <a:gd name="T17" fmla="*/ 31 h 75"/>
                    <a:gd name="T18" fmla="*/ 41 w 75"/>
                    <a:gd name="T19" fmla="*/ 34 h 75"/>
                    <a:gd name="T20" fmla="*/ 44 w 75"/>
                    <a:gd name="T21" fmla="*/ 38 h 75"/>
                    <a:gd name="T22" fmla="*/ 47 w 75"/>
                    <a:gd name="T23" fmla="*/ 43 h 75"/>
                    <a:gd name="T24" fmla="*/ 50 w 75"/>
                    <a:gd name="T25" fmla="*/ 47 h 75"/>
                    <a:gd name="T26" fmla="*/ 52 w 75"/>
                    <a:gd name="T27" fmla="*/ 52 h 75"/>
                    <a:gd name="T28" fmla="*/ 55 w 75"/>
                    <a:gd name="T29" fmla="*/ 58 h 75"/>
                    <a:gd name="T30" fmla="*/ 56 w 75"/>
                    <a:gd name="T31" fmla="*/ 63 h 75"/>
                    <a:gd name="T32" fmla="*/ 57 w 75"/>
                    <a:gd name="T33" fmla="*/ 68 h 75"/>
                    <a:gd name="T34" fmla="*/ 57 w 75"/>
                    <a:gd name="T35" fmla="*/ 75 h 75"/>
                    <a:gd name="T36" fmla="*/ 75 w 75"/>
                    <a:gd name="T37" fmla="*/ 75 h 75"/>
                    <a:gd name="T38" fmla="*/ 74 w 75"/>
                    <a:gd name="T39" fmla="*/ 67 h 75"/>
                    <a:gd name="T40" fmla="*/ 73 w 75"/>
                    <a:gd name="T41" fmla="*/ 60 h 75"/>
                    <a:gd name="T42" fmla="*/ 72 w 75"/>
                    <a:gd name="T43" fmla="*/ 52 h 75"/>
                    <a:gd name="T44" fmla="*/ 69 w 75"/>
                    <a:gd name="T45" fmla="*/ 46 h 75"/>
                    <a:gd name="T46" fmla="*/ 65 w 75"/>
                    <a:gd name="T47" fmla="*/ 39 h 75"/>
                    <a:gd name="T48" fmla="*/ 62 w 75"/>
                    <a:gd name="T49" fmla="*/ 33 h 75"/>
                    <a:gd name="T50" fmla="*/ 58 w 75"/>
                    <a:gd name="T51" fmla="*/ 28 h 75"/>
                    <a:gd name="T52" fmla="*/ 52 w 75"/>
                    <a:gd name="T53" fmla="*/ 22 h 75"/>
                    <a:gd name="T54" fmla="*/ 47 w 75"/>
                    <a:gd name="T55" fmla="*/ 17 h 75"/>
                    <a:gd name="T56" fmla="*/ 42 w 75"/>
                    <a:gd name="T57" fmla="*/ 13 h 75"/>
                    <a:gd name="T58" fmla="*/ 35 w 75"/>
                    <a:gd name="T59" fmla="*/ 10 h 75"/>
                    <a:gd name="T60" fmla="*/ 29 w 75"/>
                    <a:gd name="T61" fmla="*/ 6 h 75"/>
                    <a:gd name="T62" fmla="*/ 23 w 75"/>
                    <a:gd name="T63" fmla="*/ 3 h 75"/>
                    <a:gd name="T64" fmla="*/ 15 w 75"/>
                    <a:gd name="T65" fmla="*/ 1 h 75"/>
                    <a:gd name="T66" fmla="*/ 8 w 75"/>
                    <a:gd name="T67" fmla="*/ 1 h 75"/>
                    <a:gd name="T68" fmla="*/ 0 w 75"/>
                    <a:gd name="T69" fmla="*/ 0 h 75"/>
                    <a:gd name="T70" fmla="*/ 0 w 75"/>
                    <a:gd name="T71" fmla="*/ 18 h 75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75"/>
                    <a:gd name="T109" fmla="*/ 0 h 75"/>
                    <a:gd name="T110" fmla="*/ 75 w 75"/>
                    <a:gd name="T111" fmla="*/ 75 h 75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75" h="75">
                      <a:moveTo>
                        <a:pt x="0" y="18"/>
                      </a:moveTo>
                      <a:lnTo>
                        <a:pt x="0" y="18"/>
                      </a:lnTo>
                      <a:lnTo>
                        <a:pt x="7" y="18"/>
                      </a:lnTo>
                      <a:lnTo>
                        <a:pt x="12" y="19"/>
                      </a:lnTo>
                      <a:lnTo>
                        <a:pt x="17" y="20"/>
                      </a:lnTo>
                      <a:lnTo>
                        <a:pt x="21" y="22"/>
                      </a:lnTo>
                      <a:lnTo>
                        <a:pt x="27" y="25"/>
                      </a:lnTo>
                      <a:lnTo>
                        <a:pt x="32" y="28"/>
                      </a:lnTo>
                      <a:lnTo>
                        <a:pt x="36" y="31"/>
                      </a:lnTo>
                      <a:lnTo>
                        <a:pt x="41" y="34"/>
                      </a:lnTo>
                      <a:lnTo>
                        <a:pt x="44" y="38"/>
                      </a:lnTo>
                      <a:lnTo>
                        <a:pt x="47" y="43"/>
                      </a:lnTo>
                      <a:lnTo>
                        <a:pt x="50" y="47"/>
                      </a:lnTo>
                      <a:lnTo>
                        <a:pt x="52" y="52"/>
                      </a:lnTo>
                      <a:lnTo>
                        <a:pt x="55" y="58"/>
                      </a:lnTo>
                      <a:lnTo>
                        <a:pt x="56" y="63"/>
                      </a:lnTo>
                      <a:lnTo>
                        <a:pt x="57" y="68"/>
                      </a:lnTo>
                      <a:lnTo>
                        <a:pt x="57" y="75"/>
                      </a:lnTo>
                      <a:lnTo>
                        <a:pt x="75" y="75"/>
                      </a:lnTo>
                      <a:lnTo>
                        <a:pt x="74" y="67"/>
                      </a:lnTo>
                      <a:lnTo>
                        <a:pt x="73" y="60"/>
                      </a:lnTo>
                      <a:lnTo>
                        <a:pt x="72" y="52"/>
                      </a:lnTo>
                      <a:lnTo>
                        <a:pt x="69" y="46"/>
                      </a:lnTo>
                      <a:lnTo>
                        <a:pt x="65" y="39"/>
                      </a:lnTo>
                      <a:lnTo>
                        <a:pt x="62" y="33"/>
                      </a:lnTo>
                      <a:lnTo>
                        <a:pt x="58" y="28"/>
                      </a:lnTo>
                      <a:lnTo>
                        <a:pt x="52" y="22"/>
                      </a:lnTo>
                      <a:lnTo>
                        <a:pt x="47" y="17"/>
                      </a:lnTo>
                      <a:lnTo>
                        <a:pt x="42" y="13"/>
                      </a:lnTo>
                      <a:lnTo>
                        <a:pt x="35" y="10"/>
                      </a:lnTo>
                      <a:lnTo>
                        <a:pt x="29" y="6"/>
                      </a:lnTo>
                      <a:lnTo>
                        <a:pt x="23" y="3"/>
                      </a:lnTo>
                      <a:lnTo>
                        <a:pt x="15" y="1"/>
                      </a:lnTo>
                      <a:lnTo>
                        <a:pt x="8" y="1"/>
                      </a:lnTo>
                      <a:lnTo>
                        <a:pt x="0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21" name="Freeform 583"/>
                <p:cNvSpPr>
                  <a:spLocks/>
                </p:cNvSpPr>
                <p:nvPr/>
              </p:nvSpPr>
              <p:spPr bwMode="auto">
                <a:xfrm>
                  <a:off x="2616" y="1878"/>
                  <a:ext cx="75" cy="75"/>
                </a:xfrm>
                <a:custGeom>
                  <a:avLst/>
                  <a:gdLst>
                    <a:gd name="T0" fmla="*/ 18 w 75"/>
                    <a:gd name="T1" fmla="*/ 75 h 75"/>
                    <a:gd name="T2" fmla="*/ 18 w 75"/>
                    <a:gd name="T3" fmla="*/ 75 h 75"/>
                    <a:gd name="T4" fmla="*/ 18 w 75"/>
                    <a:gd name="T5" fmla="*/ 68 h 75"/>
                    <a:gd name="T6" fmla="*/ 20 w 75"/>
                    <a:gd name="T7" fmla="*/ 63 h 75"/>
                    <a:gd name="T8" fmla="*/ 21 w 75"/>
                    <a:gd name="T9" fmla="*/ 58 h 75"/>
                    <a:gd name="T10" fmla="*/ 23 w 75"/>
                    <a:gd name="T11" fmla="*/ 52 h 75"/>
                    <a:gd name="T12" fmla="*/ 25 w 75"/>
                    <a:gd name="T13" fmla="*/ 47 h 75"/>
                    <a:gd name="T14" fmla="*/ 28 w 75"/>
                    <a:gd name="T15" fmla="*/ 43 h 75"/>
                    <a:gd name="T16" fmla="*/ 31 w 75"/>
                    <a:gd name="T17" fmla="*/ 38 h 75"/>
                    <a:gd name="T18" fmla="*/ 36 w 75"/>
                    <a:gd name="T19" fmla="*/ 34 h 75"/>
                    <a:gd name="T20" fmla="*/ 39 w 75"/>
                    <a:gd name="T21" fmla="*/ 31 h 75"/>
                    <a:gd name="T22" fmla="*/ 43 w 75"/>
                    <a:gd name="T23" fmla="*/ 28 h 75"/>
                    <a:gd name="T24" fmla="*/ 48 w 75"/>
                    <a:gd name="T25" fmla="*/ 25 h 75"/>
                    <a:gd name="T26" fmla="*/ 53 w 75"/>
                    <a:gd name="T27" fmla="*/ 22 h 75"/>
                    <a:gd name="T28" fmla="*/ 58 w 75"/>
                    <a:gd name="T29" fmla="*/ 20 h 75"/>
                    <a:gd name="T30" fmla="*/ 63 w 75"/>
                    <a:gd name="T31" fmla="*/ 19 h 75"/>
                    <a:gd name="T32" fmla="*/ 69 w 75"/>
                    <a:gd name="T33" fmla="*/ 18 h 75"/>
                    <a:gd name="T34" fmla="*/ 75 w 75"/>
                    <a:gd name="T35" fmla="*/ 18 h 75"/>
                    <a:gd name="T36" fmla="*/ 75 w 75"/>
                    <a:gd name="T37" fmla="*/ 0 h 75"/>
                    <a:gd name="T38" fmla="*/ 68 w 75"/>
                    <a:gd name="T39" fmla="*/ 1 h 75"/>
                    <a:gd name="T40" fmla="*/ 60 w 75"/>
                    <a:gd name="T41" fmla="*/ 1 h 75"/>
                    <a:gd name="T42" fmla="*/ 53 w 75"/>
                    <a:gd name="T43" fmla="*/ 3 h 75"/>
                    <a:gd name="T44" fmla="*/ 46 w 75"/>
                    <a:gd name="T45" fmla="*/ 6 h 75"/>
                    <a:gd name="T46" fmla="*/ 40 w 75"/>
                    <a:gd name="T47" fmla="*/ 10 h 75"/>
                    <a:gd name="T48" fmla="*/ 33 w 75"/>
                    <a:gd name="T49" fmla="*/ 13 h 75"/>
                    <a:gd name="T50" fmla="*/ 28 w 75"/>
                    <a:gd name="T51" fmla="*/ 17 h 75"/>
                    <a:gd name="T52" fmla="*/ 23 w 75"/>
                    <a:gd name="T53" fmla="*/ 22 h 75"/>
                    <a:gd name="T54" fmla="*/ 17 w 75"/>
                    <a:gd name="T55" fmla="*/ 28 h 75"/>
                    <a:gd name="T56" fmla="*/ 13 w 75"/>
                    <a:gd name="T57" fmla="*/ 33 h 75"/>
                    <a:gd name="T58" fmla="*/ 10 w 75"/>
                    <a:gd name="T59" fmla="*/ 39 h 75"/>
                    <a:gd name="T60" fmla="*/ 7 w 75"/>
                    <a:gd name="T61" fmla="*/ 46 h 75"/>
                    <a:gd name="T62" fmla="*/ 4 w 75"/>
                    <a:gd name="T63" fmla="*/ 52 h 75"/>
                    <a:gd name="T64" fmla="*/ 2 w 75"/>
                    <a:gd name="T65" fmla="*/ 60 h 75"/>
                    <a:gd name="T66" fmla="*/ 1 w 75"/>
                    <a:gd name="T67" fmla="*/ 67 h 75"/>
                    <a:gd name="T68" fmla="*/ 0 w 75"/>
                    <a:gd name="T69" fmla="*/ 75 h 75"/>
                    <a:gd name="T70" fmla="*/ 18 w 75"/>
                    <a:gd name="T71" fmla="*/ 75 h 75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75"/>
                    <a:gd name="T109" fmla="*/ 0 h 75"/>
                    <a:gd name="T110" fmla="*/ 75 w 75"/>
                    <a:gd name="T111" fmla="*/ 75 h 75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75" h="75">
                      <a:moveTo>
                        <a:pt x="18" y="75"/>
                      </a:moveTo>
                      <a:lnTo>
                        <a:pt x="18" y="75"/>
                      </a:lnTo>
                      <a:lnTo>
                        <a:pt x="18" y="68"/>
                      </a:lnTo>
                      <a:lnTo>
                        <a:pt x="20" y="63"/>
                      </a:lnTo>
                      <a:lnTo>
                        <a:pt x="21" y="58"/>
                      </a:lnTo>
                      <a:lnTo>
                        <a:pt x="23" y="52"/>
                      </a:lnTo>
                      <a:lnTo>
                        <a:pt x="25" y="47"/>
                      </a:lnTo>
                      <a:lnTo>
                        <a:pt x="28" y="43"/>
                      </a:lnTo>
                      <a:lnTo>
                        <a:pt x="31" y="38"/>
                      </a:lnTo>
                      <a:lnTo>
                        <a:pt x="36" y="34"/>
                      </a:lnTo>
                      <a:lnTo>
                        <a:pt x="39" y="31"/>
                      </a:lnTo>
                      <a:lnTo>
                        <a:pt x="43" y="28"/>
                      </a:lnTo>
                      <a:lnTo>
                        <a:pt x="48" y="25"/>
                      </a:lnTo>
                      <a:lnTo>
                        <a:pt x="53" y="22"/>
                      </a:lnTo>
                      <a:lnTo>
                        <a:pt x="58" y="20"/>
                      </a:lnTo>
                      <a:lnTo>
                        <a:pt x="63" y="19"/>
                      </a:lnTo>
                      <a:lnTo>
                        <a:pt x="69" y="18"/>
                      </a:lnTo>
                      <a:lnTo>
                        <a:pt x="75" y="18"/>
                      </a:lnTo>
                      <a:lnTo>
                        <a:pt x="75" y="0"/>
                      </a:lnTo>
                      <a:lnTo>
                        <a:pt x="68" y="1"/>
                      </a:lnTo>
                      <a:lnTo>
                        <a:pt x="60" y="1"/>
                      </a:lnTo>
                      <a:lnTo>
                        <a:pt x="53" y="3"/>
                      </a:lnTo>
                      <a:lnTo>
                        <a:pt x="46" y="6"/>
                      </a:lnTo>
                      <a:lnTo>
                        <a:pt x="40" y="10"/>
                      </a:lnTo>
                      <a:lnTo>
                        <a:pt x="33" y="13"/>
                      </a:lnTo>
                      <a:lnTo>
                        <a:pt x="28" y="17"/>
                      </a:lnTo>
                      <a:lnTo>
                        <a:pt x="23" y="22"/>
                      </a:lnTo>
                      <a:lnTo>
                        <a:pt x="17" y="28"/>
                      </a:lnTo>
                      <a:lnTo>
                        <a:pt x="13" y="33"/>
                      </a:lnTo>
                      <a:lnTo>
                        <a:pt x="10" y="39"/>
                      </a:lnTo>
                      <a:lnTo>
                        <a:pt x="7" y="46"/>
                      </a:lnTo>
                      <a:lnTo>
                        <a:pt x="4" y="52"/>
                      </a:lnTo>
                      <a:lnTo>
                        <a:pt x="2" y="60"/>
                      </a:lnTo>
                      <a:lnTo>
                        <a:pt x="1" y="67"/>
                      </a:lnTo>
                      <a:lnTo>
                        <a:pt x="0" y="75"/>
                      </a:lnTo>
                      <a:lnTo>
                        <a:pt x="18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22" name="Freeform 584"/>
                <p:cNvSpPr>
                  <a:spLocks/>
                </p:cNvSpPr>
                <p:nvPr/>
              </p:nvSpPr>
              <p:spPr bwMode="auto">
                <a:xfrm>
                  <a:off x="2616" y="1953"/>
                  <a:ext cx="35" cy="52"/>
                </a:xfrm>
                <a:custGeom>
                  <a:avLst/>
                  <a:gdLst>
                    <a:gd name="T0" fmla="*/ 35 w 35"/>
                    <a:gd name="T1" fmla="*/ 39 h 52"/>
                    <a:gd name="T2" fmla="*/ 35 w 35"/>
                    <a:gd name="T3" fmla="*/ 39 h 52"/>
                    <a:gd name="T4" fmla="*/ 31 w 35"/>
                    <a:gd name="T5" fmla="*/ 36 h 52"/>
                    <a:gd name="T6" fmla="*/ 28 w 35"/>
                    <a:gd name="T7" fmla="*/ 32 h 52"/>
                    <a:gd name="T8" fmla="*/ 25 w 35"/>
                    <a:gd name="T9" fmla="*/ 26 h 52"/>
                    <a:gd name="T10" fmla="*/ 23 w 35"/>
                    <a:gd name="T11" fmla="*/ 22 h 52"/>
                    <a:gd name="T12" fmla="*/ 21 w 35"/>
                    <a:gd name="T13" fmla="*/ 17 h 52"/>
                    <a:gd name="T14" fmla="*/ 20 w 35"/>
                    <a:gd name="T15" fmla="*/ 12 h 52"/>
                    <a:gd name="T16" fmla="*/ 18 w 35"/>
                    <a:gd name="T17" fmla="*/ 5 h 52"/>
                    <a:gd name="T18" fmla="*/ 18 w 35"/>
                    <a:gd name="T19" fmla="*/ 0 h 52"/>
                    <a:gd name="T20" fmla="*/ 0 w 35"/>
                    <a:gd name="T21" fmla="*/ 0 h 52"/>
                    <a:gd name="T22" fmla="*/ 1 w 35"/>
                    <a:gd name="T23" fmla="*/ 7 h 52"/>
                    <a:gd name="T24" fmla="*/ 2 w 35"/>
                    <a:gd name="T25" fmla="*/ 15 h 52"/>
                    <a:gd name="T26" fmla="*/ 4 w 35"/>
                    <a:gd name="T27" fmla="*/ 21 h 52"/>
                    <a:gd name="T28" fmla="*/ 7 w 35"/>
                    <a:gd name="T29" fmla="*/ 29 h 52"/>
                    <a:gd name="T30" fmla="*/ 10 w 35"/>
                    <a:gd name="T31" fmla="*/ 35 h 52"/>
                    <a:gd name="T32" fmla="*/ 13 w 35"/>
                    <a:gd name="T33" fmla="*/ 41 h 52"/>
                    <a:gd name="T34" fmla="*/ 17 w 35"/>
                    <a:gd name="T35" fmla="*/ 47 h 52"/>
                    <a:gd name="T36" fmla="*/ 22 w 35"/>
                    <a:gd name="T37" fmla="*/ 52 h 52"/>
                    <a:gd name="T38" fmla="*/ 22 w 35"/>
                    <a:gd name="T39" fmla="*/ 52 h 52"/>
                    <a:gd name="T40" fmla="*/ 35 w 35"/>
                    <a:gd name="T41" fmla="*/ 39 h 52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35"/>
                    <a:gd name="T64" fmla="*/ 0 h 52"/>
                    <a:gd name="T65" fmla="*/ 35 w 35"/>
                    <a:gd name="T66" fmla="*/ 52 h 52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35" h="52">
                      <a:moveTo>
                        <a:pt x="35" y="39"/>
                      </a:moveTo>
                      <a:lnTo>
                        <a:pt x="35" y="39"/>
                      </a:lnTo>
                      <a:lnTo>
                        <a:pt x="31" y="36"/>
                      </a:lnTo>
                      <a:lnTo>
                        <a:pt x="28" y="32"/>
                      </a:lnTo>
                      <a:lnTo>
                        <a:pt x="25" y="26"/>
                      </a:lnTo>
                      <a:lnTo>
                        <a:pt x="23" y="22"/>
                      </a:lnTo>
                      <a:lnTo>
                        <a:pt x="21" y="17"/>
                      </a:lnTo>
                      <a:lnTo>
                        <a:pt x="20" y="12"/>
                      </a:lnTo>
                      <a:lnTo>
                        <a:pt x="18" y="5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1" y="7"/>
                      </a:lnTo>
                      <a:lnTo>
                        <a:pt x="2" y="15"/>
                      </a:lnTo>
                      <a:lnTo>
                        <a:pt x="4" y="21"/>
                      </a:lnTo>
                      <a:lnTo>
                        <a:pt x="7" y="29"/>
                      </a:lnTo>
                      <a:lnTo>
                        <a:pt x="10" y="35"/>
                      </a:lnTo>
                      <a:lnTo>
                        <a:pt x="13" y="41"/>
                      </a:lnTo>
                      <a:lnTo>
                        <a:pt x="17" y="47"/>
                      </a:lnTo>
                      <a:lnTo>
                        <a:pt x="22" y="52"/>
                      </a:lnTo>
                      <a:lnTo>
                        <a:pt x="35" y="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23" name="Freeform 585"/>
                <p:cNvSpPr>
                  <a:spLocks/>
                </p:cNvSpPr>
                <p:nvPr/>
              </p:nvSpPr>
              <p:spPr bwMode="auto">
                <a:xfrm>
                  <a:off x="2638" y="1992"/>
                  <a:ext cx="40" cy="71"/>
                </a:xfrm>
                <a:custGeom>
                  <a:avLst/>
                  <a:gdLst>
                    <a:gd name="T0" fmla="*/ 31 w 40"/>
                    <a:gd name="T1" fmla="*/ 53 h 71"/>
                    <a:gd name="T2" fmla="*/ 40 w 40"/>
                    <a:gd name="T3" fmla="*/ 62 h 71"/>
                    <a:gd name="T4" fmla="*/ 39 w 40"/>
                    <a:gd name="T5" fmla="*/ 48 h 71"/>
                    <a:gd name="T6" fmla="*/ 37 w 40"/>
                    <a:gd name="T7" fmla="*/ 38 h 71"/>
                    <a:gd name="T8" fmla="*/ 33 w 40"/>
                    <a:gd name="T9" fmla="*/ 27 h 71"/>
                    <a:gd name="T10" fmla="*/ 29 w 40"/>
                    <a:gd name="T11" fmla="*/ 20 h 71"/>
                    <a:gd name="T12" fmla="*/ 23 w 40"/>
                    <a:gd name="T13" fmla="*/ 12 h 71"/>
                    <a:gd name="T14" fmla="*/ 19 w 40"/>
                    <a:gd name="T15" fmla="*/ 7 h 71"/>
                    <a:gd name="T16" fmla="*/ 15 w 40"/>
                    <a:gd name="T17" fmla="*/ 3 h 71"/>
                    <a:gd name="T18" fmla="*/ 13 w 40"/>
                    <a:gd name="T19" fmla="*/ 0 h 71"/>
                    <a:gd name="T20" fmla="*/ 0 w 40"/>
                    <a:gd name="T21" fmla="*/ 13 h 71"/>
                    <a:gd name="T22" fmla="*/ 3 w 40"/>
                    <a:gd name="T23" fmla="*/ 16 h 71"/>
                    <a:gd name="T24" fmla="*/ 6 w 40"/>
                    <a:gd name="T25" fmla="*/ 20 h 71"/>
                    <a:gd name="T26" fmla="*/ 9 w 40"/>
                    <a:gd name="T27" fmla="*/ 24 h 71"/>
                    <a:gd name="T28" fmla="*/ 14 w 40"/>
                    <a:gd name="T29" fmla="*/ 28 h 71"/>
                    <a:gd name="T30" fmla="*/ 17 w 40"/>
                    <a:gd name="T31" fmla="*/ 34 h 71"/>
                    <a:gd name="T32" fmla="*/ 20 w 40"/>
                    <a:gd name="T33" fmla="*/ 42 h 71"/>
                    <a:gd name="T34" fmla="*/ 22 w 40"/>
                    <a:gd name="T35" fmla="*/ 50 h 71"/>
                    <a:gd name="T36" fmla="*/ 22 w 40"/>
                    <a:gd name="T37" fmla="*/ 62 h 71"/>
                    <a:gd name="T38" fmla="*/ 31 w 40"/>
                    <a:gd name="T39" fmla="*/ 71 h 71"/>
                    <a:gd name="T40" fmla="*/ 22 w 40"/>
                    <a:gd name="T41" fmla="*/ 62 h 71"/>
                    <a:gd name="T42" fmla="*/ 22 w 40"/>
                    <a:gd name="T43" fmla="*/ 71 h 71"/>
                    <a:gd name="T44" fmla="*/ 31 w 40"/>
                    <a:gd name="T45" fmla="*/ 71 h 71"/>
                    <a:gd name="T46" fmla="*/ 31 w 40"/>
                    <a:gd name="T47" fmla="*/ 53 h 71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40"/>
                    <a:gd name="T73" fmla="*/ 0 h 71"/>
                    <a:gd name="T74" fmla="*/ 40 w 40"/>
                    <a:gd name="T75" fmla="*/ 71 h 71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40" h="71">
                      <a:moveTo>
                        <a:pt x="31" y="53"/>
                      </a:moveTo>
                      <a:lnTo>
                        <a:pt x="40" y="62"/>
                      </a:lnTo>
                      <a:lnTo>
                        <a:pt x="39" y="48"/>
                      </a:lnTo>
                      <a:lnTo>
                        <a:pt x="37" y="38"/>
                      </a:lnTo>
                      <a:lnTo>
                        <a:pt x="33" y="27"/>
                      </a:lnTo>
                      <a:lnTo>
                        <a:pt x="29" y="20"/>
                      </a:lnTo>
                      <a:lnTo>
                        <a:pt x="23" y="12"/>
                      </a:lnTo>
                      <a:lnTo>
                        <a:pt x="19" y="7"/>
                      </a:lnTo>
                      <a:lnTo>
                        <a:pt x="15" y="3"/>
                      </a:lnTo>
                      <a:lnTo>
                        <a:pt x="13" y="0"/>
                      </a:lnTo>
                      <a:lnTo>
                        <a:pt x="0" y="13"/>
                      </a:lnTo>
                      <a:lnTo>
                        <a:pt x="3" y="16"/>
                      </a:lnTo>
                      <a:lnTo>
                        <a:pt x="6" y="20"/>
                      </a:lnTo>
                      <a:lnTo>
                        <a:pt x="9" y="24"/>
                      </a:lnTo>
                      <a:lnTo>
                        <a:pt x="14" y="28"/>
                      </a:lnTo>
                      <a:lnTo>
                        <a:pt x="17" y="34"/>
                      </a:lnTo>
                      <a:lnTo>
                        <a:pt x="20" y="42"/>
                      </a:lnTo>
                      <a:lnTo>
                        <a:pt x="22" y="50"/>
                      </a:lnTo>
                      <a:lnTo>
                        <a:pt x="22" y="62"/>
                      </a:lnTo>
                      <a:lnTo>
                        <a:pt x="31" y="71"/>
                      </a:lnTo>
                      <a:lnTo>
                        <a:pt x="22" y="62"/>
                      </a:lnTo>
                      <a:lnTo>
                        <a:pt x="22" y="71"/>
                      </a:lnTo>
                      <a:lnTo>
                        <a:pt x="31" y="71"/>
                      </a:lnTo>
                      <a:lnTo>
                        <a:pt x="31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24" name="Freeform 586"/>
                <p:cNvSpPr>
                  <a:spLocks/>
                </p:cNvSpPr>
                <p:nvPr/>
              </p:nvSpPr>
              <p:spPr bwMode="auto">
                <a:xfrm>
                  <a:off x="2669" y="2045"/>
                  <a:ext cx="53" cy="18"/>
                </a:xfrm>
                <a:custGeom>
                  <a:avLst/>
                  <a:gdLst>
                    <a:gd name="T0" fmla="*/ 35 w 53"/>
                    <a:gd name="T1" fmla="*/ 9 h 18"/>
                    <a:gd name="T2" fmla="*/ 45 w 53"/>
                    <a:gd name="T3" fmla="*/ 0 h 18"/>
                    <a:gd name="T4" fmla="*/ 0 w 53"/>
                    <a:gd name="T5" fmla="*/ 0 h 18"/>
                    <a:gd name="T6" fmla="*/ 0 w 53"/>
                    <a:gd name="T7" fmla="*/ 18 h 18"/>
                    <a:gd name="T8" fmla="*/ 45 w 53"/>
                    <a:gd name="T9" fmla="*/ 18 h 18"/>
                    <a:gd name="T10" fmla="*/ 53 w 53"/>
                    <a:gd name="T11" fmla="*/ 9 h 18"/>
                    <a:gd name="T12" fmla="*/ 45 w 53"/>
                    <a:gd name="T13" fmla="*/ 18 h 18"/>
                    <a:gd name="T14" fmla="*/ 53 w 53"/>
                    <a:gd name="T15" fmla="*/ 18 h 18"/>
                    <a:gd name="T16" fmla="*/ 53 w 53"/>
                    <a:gd name="T17" fmla="*/ 9 h 18"/>
                    <a:gd name="T18" fmla="*/ 35 w 53"/>
                    <a:gd name="T19" fmla="*/ 9 h 1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53"/>
                    <a:gd name="T31" fmla="*/ 0 h 18"/>
                    <a:gd name="T32" fmla="*/ 53 w 53"/>
                    <a:gd name="T33" fmla="*/ 18 h 18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53" h="18">
                      <a:moveTo>
                        <a:pt x="35" y="9"/>
                      </a:moveTo>
                      <a:lnTo>
                        <a:pt x="45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45" y="18"/>
                      </a:lnTo>
                      <a:lnTo>
                        <a:pt x="53" y="9"/>
                      </a:lnTo>
                      <a:lnTo>
                        <a:pt x="45" y="18"/>
                      </a:lnTo>
                      <a:lnTo>
                        <a:pt x="53" y="18"/>
                      </a:lnTo>
                      <a:lnTo>
                        <a:pt x="53" y="9"/>
                      </a:lnTo>
                      <a:lnTo>
                        <a:pt x="35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25" name="Freeform 587"/>
                <p:cNvSpPr>
                  <a:spLocks/>
                </p:cNvSpPr>
                <p:nvPr/>
              </p:nvSpPr>
              <p:spPr bwMode="auto">
                <a:xfrm>
                  <a:off x="2653" y="2056"/>
                  <a:ext cx="10" cy="20"/>
                </a:xfrm>
                <a:custGeom>
                  <a:avLst/>
                  <a:gdLst>
                    <a:gd name="T0" fmla="*/ 10 w 10"/>
                    <a:gd name="T1" fmla="*/ 0 h 20"/>
                    <a:gd name="T2" fmla="*/ 6 w 10"/>
                    <a:gd name="T3" fmla="*/ 1 h 20"/>
                    <a:gd name="T4" fmla="*/ 3 w 10"/>
                    <a:gd name="T5" fmla="*/ 4 h 20"/>
                    <a:gd name="T6" fmla="*/ 1 w 10"/>
                    <a:gd name="T7" fmla="*/ 7 h 20"/>
                    <a:gd name="T8" fmla="*/ 0 w 10"/>
                    <a:gd name="T9" fmla="*/ 10 h 20"/>
                    <a:gd name="T10" fmla="*/ 1 w 10"/>
                    <a:gd name="T11" fmla="*/ 13 h 20"/>
                    <a:gd name="T12" fmla="*/ 3 w 10"/>
                    <a:gd name="T13" fmla="*/ 16 h 20"/>
                    <a:gd name="T14" fmla="*/ 6 w 10"/>
                    <a:gd name="T15" fmla="*/ 19 h 20"/>
                    <a:gd name="T16" fmla="*/ 10 w 10"/>
                    <a:gd name="T17" fmla="*/ 20 h 20"/>
                    <a:gd name="T18" fmla="*/ 10 w 10"/>
                    <a:gd name="T19" fmla="*/ 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10" y="0"/>
                      </a:moveTo>
                      <a:lnTo>
                        <a:pt x="6" y="1"/>
                      </a:lnTo>
                      <a:lnTo>
                        <a:pt x="3" y="4"/>
                      </a:lnTo>
                      <a:lnTo>
                        <a:pt x="1" y="7"/>
                      </a:lnTo>
                      <a:lnTo>
                        <a:pt x="0" y="10"/>
                      </a:lnTo>
                      <a:lnTo>
                        <a:pt x="1" y="13"/>
                      </a:lnTo>
                      <a:lnTo>
                        <a:pt x="3" y="16"/>
                      </a:lnTo>
                      <a:lnTo>
                        <a:pt x="6" y="19"/>
                      </a:lnTo>
                      <a:lnTo>
                        <a:pt x="10" y="2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26" name="Freeform 588"/>
                <p:cNvSpPr>
                  <a:spLocks/>
                </p:cNvSpPr>
                <p:nvPr/>
              </p:nvSpPr>
              <p:spPr bwMode="auto">
                <a:xfrm>
                  <a:off x="2663" y="2056"/>
                  <a:ext cx="57" cy="20"/>
                </a:xfrm>
                <a:custGeom>
                  <a:avLst/>
                  <a:gdLst>
                    <a:gd name="T0" fmla="*/ 57 w 57"/>
                    <a:gd name="T1" fmla="*/ 10 h 20"/>
                    <a:gd name="T2" fmla="*/ 57 w 57"/>
                    <a:gd name="T3" fmla="*/ 0 h 20"/>
                    <a:gd name="T4" fmla="*/ 0 w 57"/>
                    <a:gd name="T5" fmla="*/ 0 h 20"/>
                    <a:gd name="T6" fmla="*/ 0 w 57"/>
                    <a:gd name="T7" fmla="*/ 20 h 20"/>
                    <a:gd name="T8" fmla="*/ 57 w 57"/>
                    <a:gd name="T9" fmla="*/ 20 h 20"/>
                    <a:gd name="T10" fmla="*/ 57 w 57"/>
                    <a:gd name="T11" fmla="*/ 10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20"/>
                    <a:gd name="T20" fmla="*/ 57 w 57"/>
                    <a:gd name="T21" fmla="*/ 20 h 2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20">
                      <a:moveTo>
                        <a:pt x="57" y="10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57" y="20"/>
                      </a:lnTo>
                      <a:lnTo>
                        <a:pt x="57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27" name="Freeform 589"/>
                <p:cNvSpPr>
                  <a:spLocks/>
                </p:cNvSpPr>
                <p:nvPr/>
              </p:nvSpPr>
              <p:spPr bwMode="auto">
                <a:xfrm>
                  <a:off x="2720" y="2056"/>
                  <a:ext cx="10" cy="20"/>
                </a:xfrm>
                <a:custGeom>
                  <a:avLst/>
                  <a:gdLst>
                    <a:gd name="T0" fmla="*/ 0 w 10"/>
                    <a:gd name="T1" fmla="*/ 20 h 20"/>
                    <a:gd name="T2" fmla="*/ 4 w 10"/>
                    <a:gd name="T3" fmla="*/ 19 h 20"/>
                    <a:gd name="T4" fmla="*/ 7 w 10"/>
                    <a:gd name="T5" fmla="*/ 16 h 20"/>
                    <a:gd name="T6" fmla="*/ 9 w 10"/>
                    <a:gd name="T7" fmla="*/ 13 h 20"/>
                    <a:gd name="T8" fmla="*/ 10 w 10"/>
                    <a:gd name="T9" fmla="*/ 10 h 20"/>
                    <a:gd name="T10" fmla="*/ 9 w 10"/>
                    <a:gd name="T11" fmla="*/ 7 h 20"/>
                    <a:gd name="T12" fmla="*/ 7 w 10"/>
                    <a:gd name="T13" fmla="*/ 4 h 20"/>
                    <a:gd name="T14" fmla="*/ 4 w 10"/>
                    <a:gd name="T15" fmla="*/ 1 h 20"/>
                    <a:gd name="T16" fmla="*/ 0 w 10"/>
                    <a:gd name="T17" fmla="*/ 0 h 20"/>
                    <a:gd name="T18" fmla="*/ 0 w 10"/>
                    <a:gd name="T19" fmla="*/ 2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0" y="20"/>
                      </a:moveTo>
                      <a:lnTo>
                        <a:pt x="4" y="19"/>
                      </a:lnTo>
                      <a:lnTo>
                        <a:pt x="7" y="16"/>
                      </a:lnTo>
                      <a:lnTo>
                        <a:pt x="9" y="13"/>
                      </a:lnTo>
                      <a:lnTo>
                        <a:pt x="10" y="10"/>
                      </a:lnTo>
                      <a:lnTo>
                        <a:pt x="9" y="7"/>
                      </a:lnTo>
                      <a:lnTo>
                        <a:pt x="7" y="4"/>
                      </a:lnTo>
                      <a:lnTo>
                        <a:pt x="4" y="1"/>
                      </a:lnTo>
                      <a:lnTo>
                        <a:pt x="0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28" name="Freeform 590"/>
                <p:cNvSpPr>
                  <a:spLocks/>
                </p:cNvSpPr>
                <p:nvPr/>
              </p:nvSpPr>
              <p:spPr bwMode="auto">
                <a:xfrm>
                  <a:off x="2625" y="1887"/>
                  <a:ext cx="131" cy="166"/>
                </a:xfrm>
                <a:custGeom>
                  <a:avLst/>
                  <a:gdLst>
                    <a:gd name="T0" fmla="*/ 89 w 131"/>
                    <a:gd name="T1" fmla="*/ 154 h 166"/>
                    <a:gd name="T2" fmla="*/ 94 w 131"/>
                    <a:gd name="T3" fmla="*/ 135 h 166"/>
                    <a:gd name="T4" fmla="*/ 102 w 131"/>
                    <a:gd name="T5" fmla="*/ 122 h 166"/>
                    <a:gd name="T6" fmla="*/ 110 w 131"/>
                    <a:gd name="T7" fmla="*/ 115 h 166"/>
                    <a:gd name="T8" fmla="*/ 117 w 131"/>
                    <a:gd name="T9" fmla="*/ 107 h 166"/>
                    <a:gd name="T10" fmla="*/ 124 w 131"/>
                    <a:gd name="T11" fmla="*/ 97 h 166"/>
                    <a:gd name="T12" fmla="*/ 128 w 131"/>
                    <a:gd name="T13" fmla="*/ 85 h 166"/>
                    <a:gd name="T14" fmla="*/ 131 w 131"/>
                    <a:gd name="T15" fmla="*/ 72 h 166"/>
                    <a:gd name="T16" fmla="*/ 131 w 131"/>
                    <a:gd name="T17" fmla="*/ 58 h 166"/>
                    <a:gd name="T18" fmla="*/ 128 w 131"/>
                    <a:gd name="T19" fmla="*/ 47 h 166"/>
                    <a:gd name="T20" fmla="*/ 124 w 131"/>
                    <a:gd name="T21" fmla="*/ 34 h 166"/>
                    <a:gd name="T22" fmla="*/ 116 w 131"/>
                    <a:gd name="T23" fmla="*/ 24 h 166"/>
                    <a:gd name="T24" fmla="*/ 108 w 131"/>
                    <a:gd name="T25" fmla="*/ 14 h 166"/>
                    <a:gd name="T26" fmla="*/ 97 w 131"/>
                    <a:gd name="T27" fmla="*/ 8 h 166"/>
                    <a:gd name="T28" fmla="*/ 85 w 131"/>
                    <a:gd name="T29" fmla="*/ 3 h 166"/>
                    <a:gd name="T30" fmla="*/ 73 w 131"/>
                    <a:gd name="T31" fmla="*/ 0 h 166"/>
                    <a:gd name="T32" fmla="*/ 59 w 131"/>
                    <a:gd name="T33" fmla="*/ 0 h 166"/>
                    <a:gd name="T34" fmla="*/ 46 w 131"/>
                    <a:gd name="T35" fmla="*/ 3 h 166"/>
                    <a:gd name="T36" fmla="*/ 34 w 131"/>
                    <a:gd name="T37" fmla="*/ 8 h 166"/>
                    <a:gd name="T38" fmla="*/ 23 w 131"/>
                    <a:gd name="T39" fmla="*/ 14 h 166"/>
                    <a:gd name="T40" fmla="*/ 15 w 131"/>
                    <a:gd name="T41" fmla="*/ 24 h 166"/>
                    <a:gd name="T42" fmla="*/ 8 w 131"/>
                    <a:gd name="T43" fmla="*/ 34 h 166"/>
                    <a:gd name="T44" fmla="*/ 3 w 131"/>
                    <a:gd name="T45" fmla="*/ 47 h 166"/>
                    <a:gd name="T46" fmla="*/ 0 w 131"/>
                    <a:gd name="T47" fmla="*/ 58 h 166"/>
                    <a:gd name="T48" fmla="*/ 0 w 131"/>
                    <a:gd name="T49" fmla="*/ 72 h 166"/>
                    <a:gd name="T50" fmla="*/ 3 w 131"/>
                    <a:gd name="T51" fmla="*/ 85 h 166"/>
                    <a:gd name="T52" fmla="*/ 7 w 131"/>
                    <a:gd name="T53" fmla="*/ 97 h 166"/>
                    <a:gd name="T54" fmla="*/ 15 w 131"/>
                    <a:gd name="T55" fmla="*/ 107 h 166"/>
                    <a:gd name="T56" fmla="*/ 21 w 131"/>
                    <a:gd name="T57" fmla="*/ 115 h 166"/>
                    <a:gd name="T58" fmla="*/ 29 w 131"/>
                    <a:gd name="T59" fmla="*/ 122 h 166"/>
                    <a:gd name="T60" fmla="*/ 37 w 131"/>
                    <a:gd name="T61" fmla="*/ 135 h 166"/>
                    <a:gd name="T62" fmla="*/ 43 w 131"/>
                    <a:gd name="T63" fmla="*/ 154 h 166"/>
                    <a:gd name="T64" fmla="*/ 87 w 131"/>
                    <a:gd name="T65" fmla="*/ 166 h 16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31"/>
                    <a:gd name="T100" fmla="*/ 0 h 166"/>
                    <a:gd name="T101" fmla="*/ 131 w 131"/>
                    <a:gd name="T102" fmla="*/ 166 h 16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31" h="166">
                      <a:moveTo>
                        <a:pt x="87" y="166"/>
                      </a:moveTo>
                      <a:lnTo>
                        <a:pt x="89" y="154"/>
                      </a:lnTo>
                      <a:lnTo>
                        <a:pt x="91" y="144"/>
                      </a:lnTo>
                      <a:lnTo>
                        <a:pt x="94" y="135"/>
                      </a:lnTo>
                      <a:lnTo>
                        <a:pt x="98" y="129"/>
                      </a:lnTo>
                      <a:lnTo>
                        <a:pt x="102" y="122"/>
                      </a:lnTo>
                      <a:lnTo>
                        <a:pt x="107" y="118"/>
                      </a:lnTo>
                      <a:lnTo>
                        <a:pt x="110" y="115"/>
                      </a:lnTo>
                      <a:lnTo>
                        <a:pt x="113" y="112"/>
                      </a:lnTo>
                      <a:lnTo>
                        <a:pt x="117" y="107"/>
                      </a:lnTo>
                      <a:lnTo>
                        <a:pt x="121" y="102"/>
                      </a:lnTo>
                      <a:lnTo>
                        <a:pt x="124" y="97"/>
                      </a:lnTo>
                      <a:lnTo>
                        <a:pt x="126" y="91"/>
                      </a:lnTo>
                      <a:lnTo>
                        <a:pt x="128" y="85"/>
                      </a:lnTo>
                      <a:lnTo>
                        <a:pt x="130" y="79"/>
                      </a:lnTo>
                      <a:lnTo>
                        <a:pt x="131" y="72"/>
                      </a:lnTo>
                      <a:lnTo>
                        <a:pt x="131" y="66"/>
                      </a:lnTo>
                      <a:lnTo>
                        <a:pt x="131" y="58"/>
                      </a:lnTo>
                      <a:lnTo>
                        <a:pt x="130" y="52"/>
                      </a:lnTo>
                      <a:lnTo>
                        <a:pt x="128" y="47"/>
                      </a:lnTo>
                      <a:lnTo>
                        <a:pt x="126" y="40"/>
                      </a:lnTo>
                      <a:lnTo>
                        <a:pt x="124" y="34"/>
                      </a:lnTo>
                      <a:lnTo>
                        <a:pt x="120" y="28"/>
                      </a:lnTo>
                      <a:lnTo>
                        <a:pt x="116" y="24"/>
                      </a:lnTo>
                      <a:lnTo>
                        <a:pt x="112" y="19"/>
                      </a:lnTo>
                      <a:lnTo>
                        <a:pt x="108" y="14"/>
                      </a:lnTo>
                      <a:lnTo>
                        <a:pt x="102" y="11"/>
                      </a:lnTo>
                      <a:lnTo>
                        <a:pt x="97" y="8"/>
                      </a:lnTo>
                      <a:lnTo>
                        <a:pt x="91" y="5"/>
                      </a:lnTo>
                      <a:lnTo>
                        <a:pt x="85" y="3"/>
                      </a:lnTo>
                      <a:lnTo>
                        <a:pt x="79" y="1"/>
                      </a:lnTo>
                      <a:lnTo>
                        <a:pt x="73" y="0"/>
                      </a:lnTo>
                      <a:lnTo>
                        <a:pt x="66" y="0"/>
                      </a:lnTo>
                      <a:lnTo>
                        <a:pt x="59" y="0"/>
                      </a:lnTo>
                      <a:lnTo>
                        <a:pt x="52" y="1"/>
                      </a:lnTo>
                      <a:lnTo>
                        <a:pt x="46" y="3"/>
                      </a:lnTo>
                      <a:lnTo>
                        <a:pt x="40" y="5"/>
                      </a:lnTo>
                      <a:lnTo>
                        <a:pt x="34" y="8"/>
                      </a:lnTo>
                      <a:lnTo>
                        <a:pt x="29" y="11"/>
                      </a:lnTo>
                      <a:lnTo>
                        <a:pt x="23" y="14"/>
                      </a:lnTo>
                      <a:lnTo>
                        <a:pt x="19" y="19"/>
                      </a:lnTo>
                      <a:lnTo>
                        <a:pt x="15" y="24"/>
                      </a:lnTo>
                      <a:lnTo>
                        <a:pt x="12" y="28"/>
                      </a:lnTo>
                      <a:lnTo>
                        <a:pt x="8" y="34"/>
                      </a:lnTo>
                      <a:lnTo>
                        <a:pt x="5" y="40"/>
                      </a:lnTo>
                      <a:lnTo>
                        <a:pt x="3" y="47"/>
                      </a:lnTo>
                      <a:lnTo>
                        <a:pt x="1" y="52"/>
                      </a:lnTo>
                      <a:lnTo>
                        <a:pt x="0" y="58"/>
                      </a:lnTo>
                      <a:lnTo>
                        <a:pt x="0" y="66"/>
                      </a:lnTo>
                      <a:lnTo>
                        <a:pt x="0" y="72"/>
                      </a:lnTo>
                      <a:lnTo>
                        <a:pt x="1" y="79"/>
                      </a:lnTo>
                      <a:lnTo>
                        <a:pt x="3" y="85"/>
                      </a:lnTo>
                      <a:lnTo>
                        <a:pt x="5" y="91"/>
                      </a:lnTo>
                      <a:lnTo>
                        <a:pt x="7" y="97"/>
                      </a:lnTo>
                      <a:lnTo>
                        <a:pt x="11" y="102"/>
                      </a:lnTo>
                      <a:lnTo>
                        <a:pt x="15" y="107"/>
                      </a:lnTo>
                      <a:lnTo>
                        <a:pt x="18" y="112"/>
                      </a:lnTo>
                      <a:lnTo>
                        <a:pt x="21" y="115"/>
                      </a:lnTo>
                      <a:lnTo>
                        <a:pt x="24" y="118"/>
                      </a:lnTo>
                      <a:lnTo>
                        <a:pt x="29" y="122"/>
                      </a:lnTo>
                      <a:lnTo>
                        <a:pt x="33" y="129"/>
                      </a:lnTo>
                      <a:lnTo>
                        <a:pt x="37" y="135"/>
                      </a:lnTo>
                      <a:lnTo>
                        <a:pt x="40" y="144"/>
                      </a:lnTo>
                      <a:lnTo>
                        <a:pt x="43" y="154"/>
                      </a:lnTo>
                      <a:lnTo>
                        <a:pt x="44" y="166"/>
                      </a:lnTo>
                      <a:lnTo>
                        <a:pt x="87" y="166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29" name="Freeform 591"/>
                <p:cNvSpPr>
                  <a:spLocks/>
                </p:cNvSpPr>
                <p:nvPr/>
              </p:nvSpPr>
              <p:spPr bwMode="auto">
                <a:xfrm>
                  <a:off x="2653" y="2068"/>
                  <a:ext cx="10" cy="20"/>
                </a:xfrm>
                <a:custGeom>
                  <a:avLst/>
                  <a:gdLst>
                    <a:gd name="T0" fmla="*/ 10 w 10"/>
                    <a:gd name="T1" fmla="*/ 0 h 20"/>
                    <a:gd name="T2" fmla="*/ 6 w 10"/>
                    <a:gd name="T3" fmla="*/ 1 h 20"/>
                    <a:gd name="T4" fmla="*/ 3 w 10"/>
                    <a:gd name="T5" fmla="*/ 3 h 20"/>
                    <a:gd name="T6" fmla="*/ 1 w 10"/>
                    <a:gd name="T7" fmla="*/ 7 h 20"/>
                    <a:gd name="T8" fmla="*/ 0 w 10"/>
                    <a:gd name="T9" fmla="*/ 11 h 20"/>
                    <a:gd name="T10" fmla="*/ 1 w 10"/>
                    <a:gd name="T11" fmla="*/ 14 h 20"/>
                    <a:gd name="T12" fmla="*/ 3 w 10"/>
                    <a:gd name="T13" fmla="*/ 17 h 20"/>
                    <a:gd name="T14" fmla="*/ 6 w 10"/>
                    <a:gd name="T15" fmla="*/ 19 h 20"/>
                    <a:gd name="T16" fmla="*/ 10 w 10"/>
                    <a:gd name="T17" fmla="*/ 20 h 20"/>
                    <a:gd name="T18" fmla="*/ 10 w 10"/>
                    <a:gd name="T19" fmla="*/ 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10" y="0"/>
                      </a:moveTo>
                      <a:lnTo>
                        <a:pt x="6" y="1"/>
                      </a:lnTo>
                      <a:lnTo>
                        <a:pt x="3" y="3"/>
                      </a:lnTo>
                      <a:lnTo>
                        <a:pt x="1" y="7"/>
                      </a:lnTo>
                      <a:lnTo>
                        <a:pt x="0" y="11"/>
                      </a:lnTo>
                      <a:lnTo>
                        <a:pt x="1" y="14"/>
                      </a:lnTo>
                      <a:lnTo>
                        <a:pt x="3" y="17"/>
                      </a:lnTo>
                      <a:lnTo>
                        <a:pt x="6" y="19"/>
                      </a:lnTo>
                      <a:lnTo>
                        <a:pt x="10" y="2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30" name="Freeform 592"/>
                <p:cNvSpPr>
                  <a:spLocks/>
                </p:cNvSpPr>
                <p:nvPr/>
              </p:nvSpPr>
              <p:spPr bwMode="auto">
                <a:xfrm>
                  <a:off x="2663" y="2068"/>
                  <a:ext cx="57" cy="20"/>
                </a:xfrm>
                <a:custGeom>
                  <a:avLst/>
                  <a:gdLst>
                    <a:gd name="T0" fmla="*/ 57 w 57"/>
                    <a:gd name="T1" fmla="*/ 11 h 20"/>
                    <a:gd name="T2" fmla="*/ 57 w 57"/>
                    <a:gd name="T3" fmla="*/ 0 h 20"/>
                    <a:gd name="T4" fmla="*/ 0 w 57"/>
                    <a:gd name="T5" fmla="*/ 0 h 20"/>
                    <a:gd name="T6" fmla="*/ 0 w 57"/>
                    <a:gd name="T7" fmla="*/ 20 h 20"/>
                    <a:gd name="T8" fmla="*/ 57 w 57"/>
                    <a:gd name="T9" fmla="*/ 20 h 20"/>
                    <a:gd name="T10" fmla="*/ 57 w 57"/>
                    <a:gd name="T11" fmla="*/ 11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20"/>
                    <a:gd name="T20" fmla="*/ 57 w 57"/>
                    <a:gd name="T21" fmla="*/ 20 h 2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20">
                      <a:moveTo>
                        <a:pt x="57" y="11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57" y="20"/>
                      </a:lnTo>
                      <a:lnTo>
                        <a:pt x="57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31" name="Freeform 593"/>
                <p:cNvSpPr>
                  <a:spLocks/>
                </p:cNvSpPr>
                <p:nvPr/>
              </p:nvSpPr>
              <p:spPr bwMode="auto">
                <a:xfrm>
                  <a:off x="2720" y="2068"/>
                  <a:ext cx="10" cy="20"/>
                </a:xfrm>
                <a:custGeom>
                  <a:avLst/>
                  <a:gdLst>
                    <a:gd name="T0" fmla="*/ 0 w 10"/>
                    <a:gd name="T1" fmla="*/ 20 h 20"/>
                    <a:gd name="T2" fmla="*/ 4 w 10"/>
                    <a:gd name="T3" fmla="*/ 19 h 20"/>
                    <a:gd name="T4" fmla="*/ 7 w 10"/>
                    <a:gd name="T5" fmla="*/ 17 h 20"/>
                    <a:gd name="T6" fmla="*/ 9 w 10"/>
                    <a:gd name="T7" fmla="*/ 14 h 20"/>
                    <a:gd name="T8" fmla="*/ 10 w 10"/>
                    <a:gd name="T9" fmla="*/ 11 h 20"/>
                    <a:gd name="T10" fmla="*/ 9 w 10"/>
                    <a:gd name="T11" fmla="*/ 7 h 20"/>
                    <a:gd name="T12" fmla="*/ 7 w 10"/>
                    <a:gd name="T13" fmla="*/ 3 h 20"/>
                    <a:gd name="T14" fmla="*/ 4 w 10"/>
                    <a:gd name="T15" fmla="*/ 1 h 20"/>
                    <a:gd name="T16" fmla="*/ 0 w 10"/>
                    <a:gd name="T17" fmla="*/ 0 h 20"/>
                    <a:gd name="T18" fmla="*/ 0 w 10"/>
                    <a:gd name="T19" fmla="*/ 2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0" y="20"/>
                      </a:moveTo>
                      <a:lnTo>
                        <a:pt x="4" y="19"/>
                      </a:lnTo>
                      <a:lnTo>
                        <a:pt x="7" y="17"/>
                      </a:lnTo>
                      <a:lnTo>
                        <a:pt x="9" y="14"/>
                      </a:lnTo>
                      <a:lnTo>
                        <a:pt x="10" y="11"/>
                      </a:lnTo>
                      <a:lnTo>
                        <a:pt x="9" y="7"/>
                      </a:lnTo>
                      <a:lnTo>
                        <a:pt x="7" y="3"/>
                      </a:lnTo>
                      <a:lnTo>
                        <a:pt x="4" y="1"/>
                      </a:lnTo>
                      <a:lnTo>
                        <a:pt x="0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32" name="Freeform 594"/>
                <p:cNvSpPr>
                  <a:spLocks/>
                </p:cNvSpPr>
                <p:nvPr/>
              </p:nvSpPr>
              <p:spPr bwMode="auto">
                <a:xfrm>
                  <a:off x="2653" y="2080"/>
                  <a:ext cx="10" cy="20"/>
                </a:xfrm>
                <a:custGeom>
                  <a:avLst/>
                  <a:gdLst>
                    <a:gd name="T0" fmla="*/ 10 w 10"/>
                    <a:gd name="T1" fmla="*/ 0 h 20"/>
                    <a:gd name="T2" fmla="*/ 6 w 10"/>
                    <a:gd name="T3" fmla="*/ 1 h 20"/>
                    <a:gd name="T4" fmla="*/ 3 w 10"/>
                    <a:gd name="T5" fmla="*/ 3 h 20"/>
                    <a:gd name="T6" fmla="*/ 1 w 10"/>
                    <a:gd name="T7" fmla="*/ 6 h 20"/>
                    <a:gd name="T8" fmla="*/ 0 w 10"/>
                    <a:gd name="T9" fmla="*/ 9 h 20"/>
                    <a:gd name="T10" fmla="*/ 1 w 10"/>
                    <a:gd name="T11" fmla="*/ 14 h 20"/>
                    <a:gd name="T12" fmla="*/ 3 w 10"/>
                    <a:gd name="T13" fmla="*/ 17 h 20"/>
                    <a:gd name="T14" fmla="*/ 6 w 10"/>
                    <a:gd name="T15" fmla="*/ 19 h 20"/>
                    <a:gd name="T16" fmla="*/ 10 w 10"/>
                    <a:gd name="T17" fmla="*/ 20 h 20"/>
                    <a:gd name="T18" fmla="*/ 10 w 10"/>
                    <a:gd name="T19" fmla="*/ 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10" y="0"/>
                      </a:moveTo>
                      <a:lnTo>
                        <a:pt x="6" y="1"/>
                      </a:lnTo>
                      <a:lnTo>
                        <a:pt x="3" y="3"/>
                      </a:lnTo>
                      <a:lnTo>
                        <a:pt x="1" y="6"/>
                      </a:lnTo>
                      <a:lnTo>
                        <a:pt x="0" y="9"/>
                      </a:lnTo>
                      <a:lnTo>
                        <a:pt x="1" y="14"/>
                      </a:lnTo>
                      <a:lnTo>
                        <a:pt x="3" y="17"/>
                      </a:lnTo>
                      <a:lnTo>
                        <a:pt x="6" y="19"/>
                      </a:lnTo>
                      <a:lnTo>
                        <a:pt x="10" y="2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33" name="Freeform 595"/>
                <p:cNvSpPr>
                  <a:spLocks/>
                </p:cNvSpPr>
                <p:nvPr/>
              </p:nvSpPr>
              <p:spPr bwMode="auto">
                <a:xfrm>
                  <a:off x="2663" y="2080"/>
                  <a:ext cx="57" cy="20"/>
                </a:xfrm>
                <a:custGeom>
                  <a:avLst/>
                  <a:gdLst>
                    <a:gd name="T0" fmla="*/ 57 w 57"/>
                    <a:gd name="T1" fmla="*/ 9 h 20"/>
                    <a:gd name="T2" fmla="*/ 57 w 57"/>
                    <a:gd name="T3" fmla="*/ 0 h 20"/>
                    <a:gd name="T4" fmla="*/ 0 w 57"/>
                    <a:gd name="T5" fmla="*/ 0 h 20"/>
                    <a:gd name="T6" fmla="*/ 0 w 57"/>
                    <a:gd name="T7" fmla="*/ 20 h 20"/>
                    <a:gd name="T8" fmla="*/ 57 w 57"/>
                    <a:gd name="T9" fmla="*/ 20 h 20"/>
                    <a:gd name="T10" fmla="*/ 57 w 57"/>
                    <a:gd name="T11" fmla="*/ 9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20"/>
                    <a:gd name="T20" fmla="*/ 57 w 57"/>
                    <a:gd name="T21" fmla="*/ 20 h 2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20">
                      <a:moveTo>
                        <a:pt x="57" y="9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57" y="20"/>
                      </a:lnTo>
                      <a:lnTo>
                        <a:pt x="57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34" name="Freeform 596"/>
                <p:cNvSpPr>
                  <a:spLocks/>
                </p:cNvSpPr>
                <p:nvPr/>
              </p:nvSpPr>
              <p:spPr bwMode="auto">
                <a:xfrm>
                  <a:off x="2720" y="2080"/>
                  <a:ext cx="10" cy="20"/>
                </a:xfrm>
                <a:custGeom>
                  <a:avLst/>
                  <a:gdLst>
                    <a:gd name="T0" fmla="*/ 0 w 10"/>
                    <a:gd name="T1" fmla="*/ 20 h 20"/>
                    <a:gd name="T2" fmla="*/ 4 w 10"/>
                    <a:gd name="T3" fmla="*/ 19 h 20"/>
                    <a:gd name="T4" fmla="*/ 7 w 10"/>
                    <a:gd name="T5" fmla="*/ 17 h 20"/>
                    <a:gd name="T6" fmla="*/ 9 w 10"/>
                    <a:gd name="T7" fmla="*/ 14 h 20"/>
                    <a:gd name="T8" fmla="*/ 10 w 10"/>
                    <a:gd name="T9" fmla="*/ 9 h 20"/>
                    <a:gd name="T10" fmla="*/ 9 w 10"/>
                    <a:gd name="T11" fmla="*/ 6 h 20"/>
                    <a:gd name="T12" fmla="*/ 7 w 10"/>
                    <a:gd name="T13" fmla="*/ 3 h 20"/>
                    <a:gd name="T14" fmla="*/ 4 w 10"/>
                    <a:gd name="T15" fmla="*/ 1 h 20"/>
                    <a:gd name="T16" fmla="*/ 0 w 10"/>
                    <a:gd name="T17" fmla="*/ 0 h 20"/>
                    <a:gd name="T18" fmla="*/ 0 w 10"/>
                    <a:gd name="T19" fmla="*/ 2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0" y="20"/>
                      </a:moveTo>
                      <a:lnTo>
                        <a:pt x="4" y="19"/>
                      </a:lnTo>
                      <a:lnTo>
                        <a:pt x="7" y="17"/>
                      </a:lnTo>
                      <a:lnTo>
                        <a:pt x="9" y="14"/>
                      </a:lnTo>
                      <a:lnTo>
                        <a:pt x="10" y="9"/>
                      </a:lnTo>
                      <a:lnTo>
                        <a:pt x="9" y="6"/>
                      </a:lnTo>
                      <a:lnTo>
                        <a:pt x="7" y="3"/>
                      </a:lnTo>
                      <a:lnTo>
                        <a:pt x="4" y="1"/>
                      </a:lnTo>
                      <a:lnTo>
                        <a:pt x="0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35" name="Freeform 597"/>
                <p:cNvSpPr>
                  <a:spLocks/>
                </p:cNvSpPr>
                <p:nvPr/>
              </p:nvSpPr>
              <p:spPr bwMode="auto">
                <a:xfrm>
                  <a:off x="2653" y="2092"/>
                  <a:ext cx="10" cy="20"/>
                </a:xfrm>
                <a:custGeom>
                  <a:avLst/>
                  <a:gdLst>
                    <a:gd name="T0" fmla="*/ 10 w 10"/>
                    <a:gd name="T1" fmla="*/ 0 h 20"/>
                    <a:gd name="T2" fmla="*/ 6 w 10"/>
                    <a:gd name="T3" fmla="*/ 1 h 20"/>
                    <a:gd name="T4" fmla="*/ 3 w 10"/>
                    <a:gd name="T5" fmla="*/ 3 h 20"/>
                    <a:gd name="T6" fmla="*/ 1 w 10"/>
                    <a:gd name="T7" fmla="*/ 6 h 20"/>
                    <a:gd name="T8" fmla="*/ 0 w 10"/>
                    <a:gd name="T9" fmla="*/ 9 h 20"/>
                    <a:gd name="T10" fmla="*/ 1 w 10"/>
                    <a:gd name="T11" fmla="*/ 14 h 20"/>
                    <a:gd name="T12" fmla="*/ 3 w 10"/>
                    <a:gd name="T13" fmla="*/ 17 h 20"/>
                    <a:gd name="T14" fmla="*/ 6 w 10"/>
                    <a:gd name="T15" fmla="*/ 19 h 20"/>
                    <a:gd name="T16" fmla="*/ 10 w 10"/>
                    <a:gd name="T17" fmla="*/ 20 h 20"/>
                    <a:gd name="T18" fmla="*/ 10 w 10"/>
                    <a:gd name="T19" fmla="*/ 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10" y="0"/>
                      </a:moveTo>
                      <a:lnTo>
                        <a:pt x="6" y="1"/>
                      </a:lnTo>
                      <a:lnTo>
                        <a:pt x="3" y="3"/>
                      </a:lnTo>
                      <a:lnTo>
                        <a:pt x="1" y="6"/>
                      </a:lnTo>
                      <a:lnTo>
                        <a:pt x="0" y="9"/>
                      </a:lnTo>
                      <a:lnTo>
                        <a:pt x="1" y="14"/>
                      </a:lnTo>
                      <a:lnTo>
                        <a:pt x="3" y="17"/>
                      </a:lnTo>
                      <a:lnTo>
                        <a:pt x="6" y="19"/>
                      </a:lnTo>
                      <a:lnTo>
                        <a:pt x="10" y="2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36" name="Freeform 598"/>
                <p:cNvSpPr>
                  <a:spLocks/>
                </p:cNvSpPr>
                <p:nvPr/>
              </p:nvSpPr>
              <p:spPr bwMode="auto">
                <a:xfrm>
                  <a:off x="2663" y="2092"/>
                  <a:ext cx="57" cy="20"/>
                </a:xfrm>
                <a:custGeom>
                  <a:avLst/>
                  <a:gdLst>
                    <a:gd name="T0" fmla="*/ 57 w 57"/>
                    <a:gd name="T1" fmla="*/ 9 h 20"/>
                    <a:gd name="T2" fmla="*/ 57 w 57"/>
                    <a:gd name="T3" fmla="*/ 0 h 20"/>
                    <a:gd name="T4" fmla="*/ 0 w 57"/>
                    <a:gd name="T5" fmla="*/ 0 h 20"/>
                    <a:gd name="T6" fmla="*/ 0 w 57"/>
                    <a:gd name="T7" fmla="*/ 20 h 20"/>
                    <a:gd name="T8" fmla="*/ 57 w 57"/>
                    <a:gd name="T9" fmla="*/ 20 h 20"/>
                    <a:gd name="T10" fmla="*/ 57 w 57"/>
                    <a:gd name="T11" fmla="*/ 9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20"/>
                    <a:gd name="T20" fmla="*/ 57 w 57"/>
                    <a:gd name="T21" fmla="*/ 20 h 2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20">
                      <a:moveTo>
                        <a:pt x="57" y="9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57" y="20"/>
                      </a:lnTo>
                      <a:lnTo>
                        <a:pt x="57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37" name="Freeform 599"/>
                <p:cNvSpPr>
                  <a:spLocks/>
                </p:cNvSpPr>
                <p:nvPr/>
              </p:nvSpPr>
              <p:spPr bwMode="auto">
                <a:xfrm>
                  <a:off x="2720" y="2092"/>
                  <a:ext cx="10" cy="20"/>
                </a:xfrm>
                <a:custGeom>
                  <a:avLst/>
                  <a:gdLst>
                    <a:gd name="T0" fmla="*/ 0 w 10"/>
                    <a:gd name="T1" fmla="*/ 20 h 20"/>
                    <a:gd name="T2" fmla="*/ 4 w 10"/>
                    <a:gd name="T3" fmla="*/ 19 h 20"/>
                    <a:gd name="T4" fmla="*/ 7 w 10"/>
                    <a:gd name="T5" fmla="*/ 17 h 20"/>
                    <a:gd name="T6" fmla="*/ 9 w 10"/>
                    <a:gd name="T7" fmla="*/ 14 h 20"/>
                    <a:gd name="T8" fmla="*/ 10 w 10"/>
                    <a:gd name="T9" fmla="*/ 9 h 20"/>
                    <a:gd name="T10" fmla="*/ 9 w 10"/>
                    <a:gd name="T11" fmla="*/ 6 h 20"/>
                    <a:gd name="T12" fmla="*/ 7 w 10"/>
                    <a:gd name="T13" fmla="*/ 3 h 20"/>
                    <a:gd name="T14" fmla="*/ 4 w 10"/>
                    <a:gd name="T15" fmla="*/ 1 h 20"/>
                    <a:gd name="T16" fmla="*/ 0 w 10"/>
                    <a:gd name="T17" fmla="*/ 0 h 20"/>
                    <a:gd name="T18" fmla="*/ 0 w 10"/>
                    <a:gd name="T19" fmla="*/ 2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0" y="20"/>
                      </a:moveTo>
                      <a:lnTo>
                        <a:pt x="4" y="19"/>
                      </a:lnTo>
                      <a:lnTo>
                        <a:pt x="7" y="17"/>
                      </a:lnTo>
                      <a:lnTo>
                        <a:pt x="9" y="14"/>
                      </a:lnTo>
                      <a:lnTo>
                        <a:pt x="10" y="9"/>
                      </a:lnTo>
                      <a:lnTo>
                        <a:pt x="9" y="6"/>
                      </a:lnTo>
                      <a:lnTo>
                        <a:pt x="7" y="3"/>
                      </a:lnTo>
                      <a:lnTo>
                        <a:pt x="4" y="1"/>
                      </a:lnTo>
                      <a:lnTo>
                        <a:pt x="0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38" name="Freeform 600"/>
                <p:cNvSpPr>
                  <a:spLocks/>
                </p:cNvSpPr>
                <p:nvPr/>
              </p:nvSpPr>
              <p:spPr bwMode="auto">
                <a:xfrm>
                  <a:off x="2660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39" name="Freeform 601"/>
                <p:cNvSpPr>
                  <a:spLocks/>
                </p:cNvSpPr>
                <p:nvPr/>
              </p:nvSpPr>
              <p:spPr bwMode="auto">
                <a:xfrm>
                  <a:off x="2663" y="2063"/>
                  <a:ext cx="57" cy="6"/>
                </a:xfrm>
                <a:custGeom>
                  <a:avLst/>
                  <a:gdLst>
                    <a:gd name="T0" fmla="*/ 57 w 57"/>
                    <a:gd name="T1" fmla="*/ 3 h 6"/>
                    <a:gd name="T2" fmla="*/ 57 w 57"/>
                    <a:gd name="T3" fmla="*/ 0 h 6"/>
                    <a:gd name="T4" fmla="*/ 0 w 57"/>
                    <a:gd name="T5" fmla="*/ 0 h 6"/>
                    <a:gd name="T6" fmla="*/ 0 w 57"/>
                    <a:gd name="T7" fmla="*/ 6 h 6"/>
                    <a:gd name="T8" fmla="*/ 57 w 57"/>
                    <a:gd name="T9" fmla="*/ 6 h 6"/>
                    <a:gd name="T10" fmla="*/ 57 w 5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6"/>
                    <a:gd name="T20" fmla="*/ 57 w 5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6">
                      <a:moveTo>
                        <a:pt x="57" y="3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7" y="6"/>
                      </a:lnTo>
                      <a:lnTo>
                        <a:pt x="57" y="3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40" name="Freeform 602"/>
                <p:cNvSpPr>
                  <a:spLocks/>
                </p:cNvSpPr>
                <p:nvPr/>
              </p:nvSpPr>
              <p:spPr bwMode="auto">
                <a:xfrm>
                  <a:off x="2720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41" name="Freeform 603"/>
                <p:cNvSpPr>
                  <a:spLocks/>
                </p:cNvSpPr>
                <p:nvPr/>
              </p:nvSpPr>
              <p:spPr bwMode="auto">
                <a:xfrm>
                  <a:off x="2660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42" name="Freeform 604"/>
                <p:cNvSpPr>
                  <a:spLocks/>
                </p:cNvSpPr>
                <p:nvPr/>
              </p:nvSpPr>
              <p:spPr bwMode="auto">
                <a:xfrm>
                  <a:off x="2663" y="2075"/>
                  <a:ext cx="57" cy="6"/>
                </a:xfrm>
                <a:custGeom>
                  <a:avLst/>
                  <a:gdLst>
                    <a:gd name="T0" fmla="*/ 57 w 57"/>
                    <a:gd name="T1" fmla="*/ 3 h 6"/>
                    <a:gd name="T2" fmla="*/ 57 w 57"/>
                    <a:gd name="T3" fmla="*/ 0 h 6"/>
                    <a:gd name="T4" fmla="*/ 0 w 57"/>
                    <a:gd name="T5" fmla="*/ 0 h 6"/>
                    <a:gd name="T6" fmla="*/ 0 w 57"/>
                    <a:gd name="T7" fmla="*/ 6 h 6"/>
                    <a:gd name="T8" fmla="*/ 57 w 57"/>
                    <a:gd name="T9" fmla="*/ 6 h 6"/>
                    <a:gd name="T10" fmla="*/ 57 w 5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6"/>
                    <a:gd name="T20" fmla="*/ 57 w 5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6">
                      <a:moveTo>
                        <a:pt x="57" y="3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7" y="6"/>
                      </a:lnTo>
                      <a:lnTo>
                        <a:pt x="57" y="3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43" name="Freeform 605"/>
                <p:cNvSpPr>
                  <a:spLocks/>
                </p:cNvSpPr>
                <p:nvPr/>
              </p:nvSpPr>
              <p:spPr bwMode="auto">
                <a:xfrm>
                  <a:off x="2720" y="2075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44" name="Freeform 606"/>
                <p:cNvSpPr>
                  <a:spLocks/>
                </p:cNvSpPr>
                <p:nvPr/>
              </p:nvSpPr>
              <p:spPr bwMode="auto">
                <a:xfrm>
                  <a:off x="2660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45" name="Freeform 607"/>
                <p:cNvSpPr>
                  <a:spLocks/>
                </p:cNvSpPr>
                <p:nvPr/>
              </p:nvSpPr>
              <p:spPr bwMode="auto">
                <a:xfrm>
                  <a:off x="2663" y="2087"/>
                  <a:ext cx="57" cy="6"/>
                </a:xfrm>
                <a:custGeom>
                  <a:avLst/>
                  <a:gdLst>
                    <a:gd name="T0" fmla="*/ 57 w 57"/>
                    <a:gd name="T1" fmla="*/ 2 h 6"/>
                    <a:gd name="T2" fmla="*/ 57 w 57"/>
                    <a:gd name="T3" fmla="*/ 0 h 6"/>
                    <a:gd name="T4" fmla="*/ 0 w 57"/>
                    <a:gd name="T5" fmla="*/ 0 h 6"/>
                    <a:gd name="T6" fmla="*/ 0 w 57"/>
                    <a:gd name="T7" fmla="*/ 6 h 6"/>
                    <a:gd name="T8" fmla="*/ 57 w 57"/>
                    <a:gd name="T9" fmla="*/ 6 h 6"/>
                    <a:gd name="T10" fmla="*/ 57 w 57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6"/>
                    <a:gd name="T20" fmla="*/ 57 w 5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6">
                      <a:moveTo>
                        <a:pt x="57" y="2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7" y="6"/>
                      </a:lnTo>
                      <a:lnTo>
                        <a:pt x="57" y="2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46" name="Freeform 608"/>
                <p:cNvSpPr>
                  <a:spLocks/>
                </p:cNvSpPr>
                <p:nvPr/>
              </p:nvSpPr>
              <p:spPr bwMode="auto">
                <a:xfrm>
                  <a:off x="2720" y="2087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2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47" name="Freeform 609"/>
                <p:cNvSpPr>
                  <a:spLocks/>
                </p:cNvSpPr>
                <p:nvPr/>
              </p:nvSpPr>
              <p:spPr bwMode="auto">
                <a:xfrm>
                  <a:off x="2660" y="2099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1 w 3"/>
                    <a:gd name="T3" fmla="*/ 1 h 5"/>
                    <a:gd name="T4" fmla="*/ 0 w 3"/>
                    <a:gd name="T5" fmla="*/ 2 h 5"/>
                    <a:gd name="T6" fmla="*/ 1 w 3"/>
                    <a:gd name="T7" fmla="*/ 4 h 5"/>
                    <a:gd name="T8" fmla="*/ 3 w 3"/>
                    <a:gd name="T9" fmla="*/ 5 h 5"/>
                    <a:gd name="T10" fmla="*/ 3 w 3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4"/>
                      </a:lnTo>
                      <a:lnTo>
                        <a:pt x="3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48" name="Freeform 610"/>
                <p:cNvSpPr>
                  <a:spLocks/>
                </p:cNvSpPr>
                <p:nvPr/>
              </p:nvSpPr>
              <p:spPr bwMode="auto">
                <a:xfrm>
                  <a:off x="2663" y="2099"/>
                  <a:ext cx="57" cy="5"/>
                </a:xfrm>
                <a:custGeom>
                  <a:avLst/>
                  <a:gdLst>
                    <a:gd name="T0" fmla="*/ 57 w 57"/>
                    <a:gd name="T1" fmla="*/ 2 h 5"/>
                    <a:gd name="T2" fmla="*/ 57 w 57"/>
                    <a:gd name="T3" fmla="*/ 0 h 5"/>
                    <a:gd name="T4" fmla="*/ 0 w 57"/>
                    <a:gd name="T5" fmla="*/ 0 h 5"/>
                    <a:gd name="T6" fmla="*/ 0 w 57"/>
                    <a:gd name="T7" fmla="*/ 5 h 5"/>
                    <a:gd name="T8" fmla="*/ 57 w 57"/>
                    <a:gd name="T9" fmla="*/ 5 h 5"/>
                    <a:gd name="T10" fmla="*/ 57 w 57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5"/>
                    <a:gd name="T20" fmla="*/ 57 w 57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5">
                      <a:moveTo>
                        <a:pt x="57" y="2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57" y="5"/>
                      </a:lnTo>
                      <a:lnTo>
                        <a:pt x="57" y="2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49" name="Freeform 611"/>
                <p:cNvSpPr>
                  <a:spLocks/>
                </p:cNvSpPr>
                <p:nvPr/>
              </p:nvSpPr>
              <p:spPr bwMode="auto">
                <a:xfrm>
                  <a:off x="2720" y="2099"/>
                  <a:ext cx="2" cy="5"/>
                </a:xfrm>
                <a:custGeom>
                  <a:avLst/>
                  <a:gdLst>
                    <a:gd name="T0" fmla="*/ 0 w 2"/>
                    <a:gd name="T1" fmla="*/ 5 h 5"/>
                    <a:gd name="T2" fmla="*/ 2 w 2"/>
                    <a:gd name="T3" fmla="*/ 4 h 5"/>
                    <a:gd name="T4" fmla="*/ 2 w 2"/>
                    <a:gd name="T5" fmla="*/ 2 h 5"/>
                    <a:gd name="T6" fmla="*/ 2 w 2"/>
                    <a:gd name="T7" fmla="*/ 1 h 5"/>
                    <a:gd name="T8" fmla="*/ 0 w 2"/>
                    <a:gd name="T9" fmla="*/ 0 h 5"/>
                    <a:gd name="T10" fmla="*/ 0 w 2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5"/>
                    <a:gd name="T20" fmla="*/ 2 w 2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5">
                      <a:moveTo>
                        <a:pt x="0" y="5"/>
                      </a:move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50" name="Freeform 612"/>
                <p:cNvSpPr>
                  <a:spLocks/>
                </p:cNvSpPr>
                <p:nvPr/>
              </p:nvSpPr>
              <p:spPr bwMode="auto">
                <a:xfrm>
                  <a:off x="2661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51" name="Freeform 613"/>
                <p:cNvSpPr>
                  <a:spLocks/>
                </p:cNvSpPr>
                <p:nvPr/>
              </p:nvSpPr>
              <p:spPr bwMode="auto">
                <a:xfrm>
                  <a:off x="2664" y="2063"/>
                  <a:ext cx="54" cy="6"/>
                </a:xfrm>
                <a:custGeom>
                  <a:avLst/>
                  <a:gdLst>
                    <a:gd name="T0" fmla="*/ 54 w 54"/>
                    <a:gd name="T1" fmla="*/ 3 h 6"/>
                    <a:gd name="T2" fmla="*/ 54 w 54"/>
                    <a:gd name="T3" fmla="*/ 0 h 6"/>
                    <a:gd name="T4" fmla="*/ 0 w 54"/>
                    <a:gd name="T5" fmla="*/ 0 h 6"/>
                    <a:gd name="T6" fmla="*/ 0 w 54"/>
                    <a:gd name="T7" fmla="*/ 6 h 6"/>
                    <a:gd name="T8" fmla="*/ 54 w 54"/>
                    <a:gd name="T9" fmla="*/ 6 h 6"/>
                    <a:gd name="T10" fmla="*/ 54 w 54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6"/>
                    <a:gd name="T20" fmla="*/ 54 w 5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6">
                      <a:moveTo>
                        <a:pt x="54" y="3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4" y="6"/>
                      </a:lnTo>
                      <a:lnTo>
                        <a:pt x="54" y="3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52" name="Freeform 614"/>
                <p:cNvSpPr>
                  <a:spLocks/>
                </p:cNvSpPr>
                <p:nvPr/>
              </p:nvSpPr>
              <p:spPr bwMode="auto">
                <a:xfrm>
                  <a:off x="2718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53" name="Freeform 615"/>
                <p:cNvSpPr>
                  <a:spLocks/>
                </p:cNvSpPr>
                <p:nvPr/>
              </p:nvSpPr>
              <p:spPr bwMode="auto">
                <a:xfrm>
                  <a:off x="2663" y="2063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1 w 4"/>
                    <a:gd name="T3" fmla="*/ 1 h 6"/>
                    <a:gd name="T4" fmla="*/ 0 w 4"/>
                    <a:gd name="T5" fmla="*/ 3 h 6"/>
                    <a:gd name="T6" fmla="*/ 1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5E5E5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54" name="Freeform 616"/>
                <p:cNvSpPr>
                  <a:spLocks/>
                </p:cNvSpPr>
                <p:nvPr/>
              </p:nvSpPr>
              <p:spPr bwMode="auto">
                <a:xfrm>
                  <a:off x="2667" y="2063"/>
                  <a:ext cx="50" cy="6"/>
                </a:xfrm>
                <a:custGeom>
                  <a:avLst/>
                  <a:gdLst>
                    <a:gd name="T0" fmla="*/ 50 w 50"/>
                    <a:gd name="T1" fmla="*/ 3 h 6"/>
                    <a:gd name="T2" fmla="*/ 50 w 50"/>
                    <a:gd name="T3" fmla="*/ 0 h 6"/>
                    <a:gd name="T4" fmla="*/ 0 w 50"/>
                    <a:gd name="T5" fmla="*/ 0 h 6"/>
                    <a:gd name="T6" fmla="*/ 0 w 50"/>
                    <a:gd name="T7" fmla="*/ 6 h 6"/>
                    <a:gd name="T8" fmla="*/ 50 w 50"/>
                    <a:gd name="T9" fmla="*/ 6 h 6"/>
                    <a:gd name="T10" fmla="*/ 50 w 50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0"/>
                    <a:gd name="T19" fmla="*/ 0 h 6"/>
                    <a:gd name="T20" fmla="*/ 50 w 50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0" h="6">
                      <a:moveTo>
                        <a:pt x="50" y="3"/>
                      </a:moveTo>
                      <a:lnTo>
                        <a:pt x="50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0" y="6"/>
                      </a:lnTo>
                      <a:lnTo>
                        <a:pt x="50" y="3"/>
                      </a:lnTo>
                      <a:close/>
                    </a:path>
                  </a:pathLst>
                </a:custGeom>
                <a:solidFill>
                  <a:srgbClr val="5E5E5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55" name="Freeform 617"/>
                <p:cNvSpPr>
                  <a:spLocks/>
                </p:cNvSpPr>
                <p:nvPr/>
              </p:nvSpPr>
              <p:spPr bwMode="auto">
                <a:xfrm>
                  <a:off x="2717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5E5E5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56" name="Freeform 618"/>
                <p:cNvSpPr>
                  <a:spLocks/>
                </p:cNvSpPr>
                <p:nvPr/>
              </p:nvSpPr>
              <p:spPr bwMode="auto">
                <a:xfrm>
                  <a:off x="2664" y="2063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1 w 4"/>
                    <a:gd name="T3" fmla="*/ 1 h 6"/>
                    <a:gd name="T4" fmla="*/ 0 w 4"/>
                    <a:gd name="T5" fmla="*/ 3 h 6"/>
                    <a:gd name="T6" fmla="*/ 1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68686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57" name="Freeform 619"/>
                <p:cNvSpPr>
                  <a:spLocks/>
                </p:cNvSpPr>
                <p:nvPr/>
              </p:nvSpPr>
              <p:spPr bwMode="auto">
                <a:xfrm>
                  <a:off x="2668" y="2063"/>
                  <a:ext cx="48" cy="6"/>
                </a:xfrm>
                <a:custGeom>
                  <a:avLst/>
                  <a:gdLst>
                    <a:gd name="T0" fmla="*/ 48 w 48"/>
                    <a:gd name="T1" fmla="*/ 3 h 6"/>
                    <a:gd name="T2" fmla="*/ 48 w 48"/>
                    <a:gd name="T3" fmla="*/ 0 h 6"/>
                    <a:gd name="T4" fmla="*/ 0 w 48"/>
                    <a:gd name="T5" fmla="*/ 0 h 6"/>
                    <a:gd name="T6" fmla="*/ 0 w 48"/>
                    <a:gd name="T7" fmla="*/ 6 h 6"/>
                    <a:gd name="T8" fmla="*/ 48 w 48"/>
                    <a:gd name="T9" fmla="*/ 6 h 6"/>
                    <a:gd name="T10" fmla="*/ 48 w 48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8"/>
                    <a:gd name="T19" fmla="*/ 0 h 6"/>
                    <a:gd name="T20" fmla="*/ 48 w 48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8" h="6">
                      <a:moveTo>
                        <a:pt x="48" y="3"/>
                      </a:move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8" y="6"/>
                      </a:lnTo>
                      <a:lnTo>
                        <a:pt x="48" y="3"/>
                      </a:lnTo>
                      <a:close/>
                    </a:path>
                  </a:pathLst>
                </a:custGeom>
                <a:solidFill>
                  <a:srgbClr val="68686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58" name="Freeform 620"/>
                <p:cNvSpPr>
                  <a:spLocks/>
                </p:cNvSpPr>
                <p:nvPr/>
              </p:nvSpPr>
              <p:spPr bwMode="auto">
                <a:xfrm>
                  <a:off x="2716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68686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59" name="Freeform 621"/>
                <p:cNvSpPr>
                  <a:spLocks/>
                </p:cNvSpPr>
                <p:nvPr/>
              </p:nvSpPr>
              <p:spPr bwMode="auto">
                <a:xfrm>
                  <a:off x="2667" y="2063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60" name="Freeform 622"/>
                <p:cNvSpPr>
                  <a:spLocks/>
                </p:cNvSpPr>
                <p:nvPr/>
              </p:nvSpPr>
              <p:spPr bwMode="auto">
                <a:xfrm>
                  <a:off x="2669" y="2063"/>
                  <a:ext cx="46" cy="6"/>
                </a:xfrm>
                <a:custGeom>
                  <a:avLst/>
                  <a:gdLst>
                    <a:gd name="T0" fmla="*/ 46 w 46"/>
                    <a:gd name="T1" fmla="*/ 3 h 6"/>
                    <a:gd name="T2" fmla="*/ 46 w 46"/>
                    <a:gd name="T3" fmla="*/ 0 h 6"/>
                    <a:gd name="T4" fmla="*/ 0 w 46"/>
                    <a:gd name="T5" fmla="*/ 0 h 6"/>
                    <a:gd name="T6" fmla="*/ 0 w 46"/>
                    <a:gd name="T7" fmla="*/ 6 h 6"/>
                    <a:gd name="T8" fmla="*/ 46 w 46"/>
                    <a:gd name="T9" fmla="*/ 6 h 6"/>
                    <a:gd name="T10" fmla="*/ 46 w 46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6"/>
                    <a:gd name="T19" fmla="*/ 0 h 6"/>
                    <a:gd name="T20" fmla="*/ 46 w 4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6" h="6">
                      <a:moveTo>
                        <a:pt x="46" y="3"/>
                      </a:moveTo>
                      <a:lnTo>
                        <a:pt x="4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6" y="6"/>
                      </a:lnTo>
                      <a:lnTo>
                        <a:pt x="46" y="3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61" name="Freeform 623"/>
                <p:cNvSpPr>
                  <a:spLocks/>
                </p:cNvSpPr>
                <p:nvPr/>
              </p:nvSpPr>
              <p:spPr bwMode="auto">
                <a:xfrm>
                  <a:off x="2715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62" name="Freeform 624"/>
                <p:cNvSpPr>
                  <a:spLocks/>
                </p:cNvSpPr>
                <p:nvPr/>
              </p:nvSpPr>
              <p:spPr bwMode="auto">
                <a:xfrm>
                  <a:off x="2668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A7A7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63" name="Freeform 625"/>
                <p:cNvSpPr>
                  <a:spLocks/>
                </p:cNvSpPr>
                <p:nvPr/>
              </p:nvSpPr>
              <p:spPr bwMode="auto">
                <a:xfrm>
                  <a:off x="2671" y="2063"/>
                  <a:ext cx="41" cy="6"/>
                </a:xfrm>
                <a:custGeom>
                  <a:avLst/>
                  <a:gdLst>
                    <a:gd name="T0" fmla="*/ 41 w 41"/>
                    <a:gd name="T1" fmla="*/ 3 h 6"/>
                    <a:gd name="T2" fmla="*/ 41 w 41"/>
                    <a:gd name="T3" fmla="*/ 0 h 6"/>
                    <a:gd name="T4" fmla="*/ 0 w 41"/>
                    <a:gd name="T5" fmla="*/ 0 h 6"/>
                    <a:gd name="T6" fmla="*/ 0 w 41"/>
                    <a:gd name="T7" fmla="*/ 6 h 6"/>
                    <a:gd name="T8" fmla="*/ 41 w 41"/>
                    <a:gd name="T9" fmla="*/ 6 h 6"/>
                    <a:gd name="T10" fmla="*/ 41 w 4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1"/>
                    <a:gd name="T19" fmla="*/ 0 h 6"/>
                    <a:gd name="T20" fmla="*/ 41 w 4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1" h="6">
                      <a:moveTo>
                        <a:pt x="41" y="3"/>
                      </a:move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1" y="6"/>
                      </a:lnTo>
                      <a:lnTo>
                        <a:pt x="41" y="3"/>
                      </a:lnTo>
                      <a:close/>
                    </a:path>
                  </a:pathLst>
                </a:custGeom>
                <a:solidFill>
                  <a:srgbClr val="7A7A7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64" name="Freeform 626"/>
                <p:cNvSpPr>
                  <a:spLocks/>
                </p:cNvSpPr>
                <p:nvPr/>
              </p:nvSpPr>
              <p:spPr bwMode="auto">
                <a:xfrm>
                  <a:off x="2712" y="2063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3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A7A7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65" name="Freeform 627"/>
                <p:cNvSpPr>
                  <a:spLocks/>
                </p:cNvSpPr>
                <p:nvPr/>
              </p:nvSpPr>
              <p:spPr bwMode="auto">
                <a:xfrm>
                  <a:off x="2669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4848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66" name="Freeform 628"/>
                <p:cNvSpPr>
                  <a:spLocks/>
                </p:cNvSpPr>
                <p:nvPr/>
              </p:nvSpPr>
              <p:spPr bwMode="auto">
                <a:xfrm>
                  <a:off x="2672" y="2063"/>
                  <a:ext cx="39" cy="6"/>
                </a:xfrm>
                <a:custGeom>
                  <a:avLst/>
                  <a:gdLst>
                    <a:gd name="T0" fmla="*/ 39 w 39"/>
                    <a:gd name="T1" fmla="*/ 3 h 6"/>
                    <a:gd name="T2" fmla="*/ 39 w 39"/>
                    <a:gd name="T3" fmla="*/ 0 h 6"/>
                    <a:gd name="T4" fmla="*/ 0 w 39"/>
                    <a:gd name="T5" fmla="*/ 0 h 6"/>
                    <a:gd name="T6" fmla="*/ 0 w 39"/>
                    <a:gd name="T7" fmla="*/ 6 h 6"/>
                    <a:gd name="T8" fmla="*/ 39 w 39"/>
                    <a:gd name="T9" fmla="*/ 6 h 6"/>
                    <a:gd name="T10" fmla="*/ 39 w 39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9"/>
                    <a:gd name="T19" fmla="*/ 0 h 6"/>
                    <a:gd name="T20" fmla="*/ 39 w 3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9" h="6">
                      <a:moveTo>
                        <a:pt x="39" y="3"/>
                      </a:moveTo>
                      <a:lnTo>
                        <a:pt x="3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9" y="6"/>
                      </a:lnTo>
                      <a:lnTo>
                        <a:pt x="39" y="3"/>
                      </a:lnTo>
                      <a:close/>
                    </a:path>
                  </a:pathLst>
                </a:custGeom>
                <a:solidFill>
                  <a:srgbClr val="84848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67" name="Freeform 629"/>
                <p:cNvSpPr>
                  <a:spLocks/>
                </p:cNvSpPr>
                <p:nvPr/>
              </p:nvSpPr>
              <p:spPr bwMode="auto">
                <a:xfrm>
                  <a:off x="2711" y="2063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3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84848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68" name="Freeform 630"/>
                <p:cNvSpPr>
                  <a:spLocks/>
                </p:cNvSpPr>
                <p:nvPr/>
              </p:nvSpPr>
              <p:spPr bwMode="auto">
                <a:xfrm>
                  <a:off x="2671" y="2063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E8E8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69" name="Freeform 631"/>
                <p:cNvSpPr>
                  <a:spLocks/>
                </p:cNvSpPr>
                <p:nvPr/>
              </p:nvSpPr>
              <p:spPr bwMode="auto">
                <a:xfrm>
                  <a:off x="2673" y="2063"/>
                  <a:ext cx="37" cy="6"/>
                </a:xfrm>
                <a:custGeom>
                  <a:avLst/>
                  <a:gdLst>
                    <a:gd name="T0" fmla="*/ 37 w 37"/>
                    <a:gd name="T1" fmla="*/ 3 h 6"/>
                    <a:gd name="T2" fmla="*/ 37 w 37"/>
                    <a:gd name="T3" fmla="*/ 0 h 6"/>
                    <a:gd name="T4" fmla="*/ 0 w 37"/>
                    <a:gd name="T5" fmla="*/ 0 h 6"/>
                    <a:gd name="T6" fmla="*/ 0 w 37"/>
                    <a:gd name="T7" fmla="*/ 6 h 6"/>
                    <a:gd name="T8" fmla="*/ 37 w 37"/>
                    <a:gd name="T9" fmla="*/ 6 h 6"/>
                    <a:gd name="T10" fmla="*/ 37 w 3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7"/>
                    <a:gd name="T19" fmla="*/ 0 h 6"/>
                    <a:gd name="T20" fmla="*/ 37 w 3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7" h="6">
                      <a:moveTo>
                        <a:pt x="37" y="3"/>
                      </a:moveTo>
                      <a:lnTo>
                        <a:pt x="3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7" y="6"/>
                      </a:lnTo>
                      <a:lnTo>
                        <a:pt x="37" y="3"/>
                      </a:lnTo>
                      <a:close/>
                    </a:path>
                  </a:pathLst>
                </a:custGeom>
                <a:solidFill>
                  <a:srgbClr val="8E8E8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70" name="Freeform 632"/>
                <p:cNvSpPr>
                  <a:spLocks/>
                </p:cNvSpPr>
                <p:nvPr/>
              </p:nvSpPr>
              <p:spPr bwMode="auto">
                <a:xfrm>
                  <a:off x="2710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8E8E8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71" name="Freeform 633"/>
                <p:cNvSpPr>
                  <a:spLocks/>
                </p:cNvSpPr>
                <p:nvPr/>
              </p:nvSpPr>
              <p:spPr bwMode="auto">
                <a:xfrm>
                  <a:off x="2672" y="2063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72" name="Freeform 634"/>
                <p:cNvSpPr>
                  <a:spLocks/>
                </p:cNvSpPr>
                <p:nvPr/>
              </p:nvSpPr>
              <p:spPr bwMode="auto">
                <a:xfrm>
                  <a:off x="2674" y="2063"/>
                  <a:ext cx="35" cy="6"/>
                </a:xfrm>
                <a:custGeom>
                  <a:avLst/>
                  <a:gdLst>
                    <a:gd name="T0" fmla="*/ 35 w 35"/>
                    <a:gd name="T1" fmla="*/ 3 h 6"/>
                    <a:gd name="T2" fmla="*/ 35 w 35"/>
                    <a:gd name="T3" fmla="*/ 0 h 6"/>
                    <a:gd name="T4" fmla="*/ 0 w 35"/>
                    <a:gd name="T5" fmla="*/ 0 h 6"/>
                    <a:gd name="T6" fmla="*/ 0 w 35"/>
                    <a:gd name="T7" fmla="*/ 6 h 6"/>
                    <a:gd name="T8" fmla="*/ 35 w 35"/>
                    <a:gd name="T9" fmla="*/ 6 h 6"/>
                    <a:gd name="T10" fmla="*/ 35 w 35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5"/>
                    <a:gd name="T19" fmla="*/ 0 h 6"/>
                    <a:gd name="T20" fmla="*/ 35 w 35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5" h="6">
                      <a:moveTo>
                        <a:pt x="35" y="3"/>
                      </a:moveTo>
                      <a:lnTo>
                        <a:pt x="35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5" y="6"/>
                      </a:lnTo>
                      <a:lnTo>
                        <a:pt x="35" y="3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73" name="Freeform 635"/>
                <p:cNvSpPr>
                  <a:spLocks/>
                </p:cNvSpPr>
                <p:nvPr/>
              </p:nvSpPr>
              <p:spPr bwMode="auto">
                <a:xfrm>
                  <a:off x="2709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74" name="Freeform 636"/>
                <p:cNvSpPr>
                  <a:spLocks/>
                </p:cNvSpPr>
                <p:nvPr/>
              </p:nvSpPr>
              <p:spPr bwMode="auto">
                <a:xfrm>
                  <a:off x="2673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75" name="Freeform 637"/>
                <p:cNvSpPr>
                  <a:spLocks/>
                </p:cNvSpPr>
                <p:nvPr/>
              </p:nvSpPr>
              <p:spPr bwMode="auto">
                <a:xfrm>
                  <a:off x="2676" y="2063"/>
                  <a:ext cx="32" cy="6"/>
                </a:xfrm>
                <a:custGeom>
                  <a:avLst/>
                  <a:gdLst>
                    <a:gd name="T0" fmla="*/ 32 w 32"/>
                    <a:gd name="T1" fmla="*/ 3 h 6"/>
                    <a:gd name="T2" fmla="*/ 32 w 32"/>
                    <a:gd name="T3" fmla="*/ 0 h 6"/>
                    <a:gd name="T4" fmla="*/ 0 w 32"/>
                    <a:gd name="T5" fmla="*/ 0 h 6"/>
                    <a:gd name="T6" fmla="*/ 0 w 32"/>
                    <a:gd name="T7" fmla="*/ 6 h 6"/>
                    <a:gd name="T8" fmla="*/ 32 w 32"/>
                    <a:gd name="T9" fmla="*/ 6 h 6"/>
                    <a:gd name="T10" fmla="*/ 32 w 32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2"/>
                    <a:gd name="T19" fmla="*/ 0 h 6"/>
                    <a:gd name="T20" fmla="*/ 32 w 3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2" h="6">
                      <a:moveTo>
                        <a:pt x="32" y="3"/>
                      </a:moveTo>
                      <a:lnTo>
                        <a:pt x="32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2" y="6"/>
                      </a:lnTo>
                      <a:lnTo>
                        <a:pt x="32" y="3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76" name="Freeform 638"/>
                <p:cNvSpPr>
                  <a:spLocks/>
                </p:cNvSpPr>
                <p:nvPr/>
              </p:nvSpPr>
              <p:spPr bwMode="auto">
                <a:xfrm>
                  <a:off x="2708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77" name="Freeform 639"/>
                <p:cNvSpPr>
                  <a:spLocks/>
                </p:cNvSpPr>
                <p:nvPr/>
              </p:nvSpPr>
              <p:spPr bwMode="auto">
                <a:xfrm>
                  <a:off x="2674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AAAAA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78" name="Freeform 640"/>
                <p:cNvSpPr>
                  <a:spLocks/>
                </p:cNvSpPr>
                <p:nvPr/>
              </p:nvSpPr>
              <p:spPr bwMode="auto">
                <a:xfrm>
                  <a:off x="2677" y="2063"/>
                  <a:ext cx="29" cy="6"/>
                </a:xfrm>
                <a:custGeom>
                  <a:avLst/>
                  <a:gdLst>
                    <a:gd name="T0" fmla="*/ 29 w 29"/>
                    <a:gd name="T1" fmla="*/ 3 h 6"/>
                    <a:gd name="T2" fmla="*/ 29 w 29"/>
                    <a:gd name="T3" fmla="*/ 0 h 6"/>
                    <a:gd name="T4" fmla="*/ 0 w 29"/>
                    <a:gd name="T5" fmla="*/ 0 h 6"/>
                    <a:gd name="T6" fmla="*/ 0 w 29"/>
                    <a:gd name="T7" fmla="*/ 6 h 6"/>
                    <a:gd name="T8" fmla="*/ 29 w 29"/>
                    <a:gd name="T9" fmla="*/ 6 h 6"/>
                    <a:gd name="T10" fmla="*/ 29 w 29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"/>
                    <a:gd name="T19" fmla="*/ 0 h 6"/>
                    <a:gd name="T20" fmla="*/ 29 w 2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" h="6">
                      <a:moveTo>
                        <a:pt x="29" y="3"/>
                      </a:moveTo>
                      <a:lnTo>
                        <a:pt x="2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9" y="6"/>
                      </a:lnTo>
                      <a:lnTo>
                        <a:pt x="29" y="3"/>
                      </a:lnTo>
                      <a:close/>
                    </a:path>
                  </a:pathLst>
                </a:custGeom>
                <a:solidFill>
                  <a:srgbClr val="AAAAA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79" name="Freeform 641"/>
                <p:cNvSpPr>
                  <a:spLocks/>
                </p:cNvSpPr>
                <p:nvPr/>
              </p:nvSpPr>
              <p:spPr bwMode="auto">
                <a:xfrm>
                  <a:off x="2706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AAAAA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80" name="Freeform 642"/>
                <p:cNvSpPr>
                  <a:spLocks/>
                </p:cNvSpPr>
                <p:nvPr/>
              </p:nvSpPr>
              <p:spPr bwMode="auto">
                <a:xfrm>
                  <a:off x="2676" y="2063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B5B5B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81" name="Freeform 643"/>
                <p:cNvSpPr>
                  <a:spLocks/>
                </p:cNvSpPr>
                <p:nvPr/>
              </p:nvSpPr>
              <p:spPr bwMode="auto">
                <a:xfrm>
                  <a:off x="2678" y="2063"/>
                  <a:ext cx="27" cy="6"/>
                </a:xfrm>
                <a:custGeom>
                  <a:avLst/>
                  <a:gdLst>
                    <a:gd name="T0" fmla="*/ 27 w 27"/>
                    <a:gd name="T1" fmla="*/ 3 h 6"/>
                    <a:gd name="T2" fmla="*/ 27 w 27"/>
                    <a:gd name="T3" fmla="*/ 0 h 6"/>
                    <a:gd name="T4" fmla="*/ 0 w 27"/>
                    <a:gd name="T5" fmla="*/ 0 h 6"/>
                    <a:gd name="T6" fmla="*/ 0 w 27"/>
                    <a:gd name="T7" fmla="*/ 6 h 6"/>
                    <a:gd name="T8" fmla="*/ 27 w 27"/>
                    <a:gd name="T9" fmla="*/ 6 h 6"/>
                    <a:gd name="T10" fmla="*/ 27 w 2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7"/>
                    <a:gd name="T19" fmla="*/ 0 h 6"/>
                    <a:gd name="T20" fmla="*/ 27 w 2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7" h="6">
                      <a:moveTo>
                        <a:pt x="27" y="3"/>
                      </a:moveTo>
                      <a:lnTo>
                        <a:pt x="2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7" y="6"/>
                      </a:lnTo>
                      <a:lnTo>
                        <a:pt x="27" y="3"/>
                      </a:lnTo>
                      <a:close/>
                    </a:path>
                  </a:pathLst>
                </a:custGeom>
                <a:solidFill>
                  <a:srgbClr val="B5B5B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82" name="Freeform 644"/>
                <p:cNvSpPr>
                  <a:spLocks/>
                </p:cNvSpPr>
                <p:nvPr/>
              </p:nvSpPr>
              <p:spPr bwMode="auto">
                <a:xfrm>
                  <a:off x="2705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5B5B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83" name="Freeform 645"/>
                <p:cNvSpPr>
                  <a:spLocks/>
                </p:cNvSpPr>
                <p:nvPr/>
              </p:nvSpPr>
              <p:spPr bwMode="auto">
                <a:xfrm>
                  <a:off x="2677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BCBCB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84" name="Freeform 646"/>
                <p:cNvSpPr>
                  <a:spLocks/>
                </p:cNvSpPr>
                <p:nvPr/>
              </p:nvSpPr>
              <p:spPr bwMode="auto">
                <a:xfrm>
                  <a:off x="2680" y="2063"/>
                  <a:ext cx="24" cy="6"/>
                </a:xfrm>
                <a:custGeom>
                  <a:avLst/>
                  <a:gdLst>
                    <a:gd name="T0" fmla="*/ 24 w 24"/>
                    <a:gd name="T1" fmla="*/ 3 h 6"/>
                    <a:gd name="T2" fmla="*/ 24 w 24"/>
                    <a:gd name="T3" fmla="*/ 0 h 6"/>
                    <a:gd name="T4" fmla="*/ 0 w 24"/>
                    <a:gd name="T5" fmla="*/ 0 h 6"/>
                    <a:gd name="T6" fmla="*/ 0 w 24"/>
                    <a:gd name="T7" fmla="*/ 6 h 6"/>
                    <a:gd name="T8" fmla="*/ 24 w 24"/>
                    <a:gd name="T9" fmla="*/ 6 h 6"/>
                    <a:gd name="T10" fmla="*/ 24 w 24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4"/>
                    <a:gd name="T19" fmla="*/ 0 h 6"/>
                    <a:gd name="T20" fmla="*/ 24 w 2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4" h="6">
                      <a:moveTo>
                        <a:pt x="24" y="3"/>
                      </a:moveTo>
                      <a:lnTo>
                        <a:pt x="2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4" y="6"/>
                      </a:lnTo>
                      <a:lnTo>
                        <a:pt x="24" y="3"/>
                      </a:lnTo>
                      <a:close/>
                    </a:path>
                  </a:pathLst>
                </a:custGeom>
                <a:solidFill>
                  <a:srgbClr val="BCBCB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85" name="Freeform 647"/>
                <p:cNvSpPr>
                  <a:spLocks/>
                </p:cNvSpPr>
                <p:nvPr/>
              </p:nvSpPr>
              <p:spPr bwMode="auto">
                <a:xfrm>
                  <a:off x="2704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CBCB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86" name="Freeform 648"/>
                <p:cNvSpPr>
                  <a:spLocks/>
                </p:cNvSpPr>
                <p:nvPr/>
              </p:nvSpPr>
              <p:spPr bwMode="auto">
                <a:xfrm>
                  <a:off x="2678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87" name="Freeform 649"/>
                <p:cNvSpPr>
                  <a:spLocks/>
                </p:cNvSpPr>
                <p:nvPr/>
              </p:nvSpPr>
              <p:spPr bwMode="auto">
                <a:xfrm>
                  <a:off x="2681" y="2063"/>
                  <a:ext cx="21" cy="6"/>
                </a:xfrm>
                <a:custGeom>
                  <a:avLst/>
                  <a:gdLst>
                    <a:gd name="T0" fmla="*/ 21 w 21"/>
                    <a:gd name="T1" fmla="*/ 3 h 6"/>
                    <a:gd name="T2" fmla="*/ 21 w 21"/>
                    <a:gd name="T3" fmla="*/ 0 h 6"/>
                    <a:gd name="T4" fmla="*/ 0 w 21"/>
                    <a:gd name="T5" fmla="*/ 0 h 6"/>
                    <a:gd name="T6" fmla="*/ 0 w 21"/>
                    <a:gd name="T7" fmla="*/ 6 h 6"/>
                    <a:gd name="T8" fmla="*/ 21 w 21"/>
                    <a:gd name="T9" fmla="*/ 6 h 6"/>
                    <a:gd name="T10" fmla="*/ 21 w 2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1"/>
                    <a:gd name="T19" fmla="*/ 0 h 6"/>
                    <a:gd name="T20" fmla="*/ 21 w 2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" h="6">
                      <a:moveTo>
                        <a:pt x="21" y="3"/>
                      </a:moveTo>
                      <a:lnTo>
                        <a:pt x="2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1" y="6"/>
                      </a:lnTo>
                      <a:lnTo>
                        <a:pt x="21" y="3"/>
                      </a:lnTo>
                      <a:close/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88" name="Freeform 650"/>
                <p:cNvSpPr>
                  <a:spLocks/>
                </p:cNvSpPr>
                <p:nvPr/>
              </p:nvSpPr>
              <p:spPr bwMode="auto">
                <a:xfrm>
                  <a:off x="2702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89" name="Freeform 651"/>
                <p:cNvSpPr>
                  <a:spLocks/>
                </p:cNvSpPr>
                <p:nvPr/>
              </p:nvSpPr>
              <p:spPr bwMode="auto">
                <a:xfrm>
                  <a:off x="2680" y="2063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1 w 4"/>
                    <a:gd name="T3" fmla="*/ 1 h 6"/>
                    <a:gd name="T4" fmla="*/ 0 w 4"/>
                    <a:gd name="T5" fmla="*/ 3 h 6"/>
                    <a:gd name="T6" fmla="*/ 1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D1D1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90" name="Freeform 652"/>
                <p:cNvSpPr>
                  <a:spLocks/>
                </p:cNvSpPr>
                <p:nvPr/>
              </p:nvSpPr>
              <p:spPr bwMode="auto">
                <a:xfrm>
                  <a:off x="2684" y="2063"/>
                  <a:ext cx="17" cy="6"/>
                </a:xfrm>
                <a:custGeom>
                  <a:avLst/>
                  <a:gdLst>
                    <a:gd name="T0" fmla="*/ 17 w 17"/>
                    <a:gd name="T1" fmla="*/ 3 h 6"/>
                    <a:gd name="T2" fmla="*/ 17 w 17"/>
                    <a:gd name="T3" fmla="*/ 0 h 6"/>
                    <a:gd name="T4" fmla="*/ 0 w 17"/>
                    <a:gd name="T5" fmla="*/ 0 h 6"/>
                    <a:gd name="T6" fmla="*/ 0 w 17"/>
                    <a:gd name="T7" fmla="*/ 6 h 6"/>
                    <a:gd name="T8" fmla="*/ 17 w 17"/>
                    <a:gd name="T9" fmla="*/ 6 h 6"/>
                    <a:gd name="T10" fmla="*/ 17 w 1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7"/>
                    <a:gd name="T19" fmla="*/ 0 h 6"/>
                    <a:gd name="T20" fmla="*/ 17 w 1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7" h="6">
                      <a:moveTo>
                        <a:pt x="17" y="3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7" y="6"/>
                      </a:lnTo>
                      <a:lnTo>
                        <a:pt x="17" y="3"/>
                      </a:lnTo>
                      <a:close/>
                    </a:path>
                  </a:pathLst>
                </a:custGeom>
                <a:solidFill>
                  <a:srgbClr val="D1D1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91" name="Freeform 653"/>
                <p:cNvSpPr>
                  <a:spLocks/>
                </p:cNvSpPr>
                <p:nvPr/>
              </p:nvSpPr>
              <p:spPr bwMode="auto">
                <a:xfrm>
                  <a:off x="2701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D1D1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92" name="Freeform 654"/>
                <p:cNvSpPr>
                  <a:spLocks/>
                </p:cNvSpPr>
                <p:nvPr/>
              </p:nvSpPr>
              <p:spPr bwMode="auto">
                <a:xfrm>
                  <a:off x="2681" y="2063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2 w 4"/>
                    <a:gd name="T3" fmla="*/ 1 h 6"/>
                    <a:gd name="T4" fmla="*/ 0 w 4"/>
                    <a:gd name="T5" fmla="*/ 3 h 6"/>
                    <a:gd name="T6" fmla="*/ 2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2" y="1"/>
                      </a:lnTo>
                      <a:lnTo>
                        <a:pt x="0" y="3"/>
                      </a:lnTo>
                      <a:lnTo>
                        <a:pt x="2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93" name="Freeform 655"/>
                <p:cNvSpPr>
                  <a:spLocks/>
                </p:cNvSpPr>
                <p:nvPr/>
              </p:nvSpPr>
              <p:spPr bwMode="auto">
                <a:xfrm>
                  <a:off x="2685" y="2063"/>
                  <a:ext cx="15" cy="6"/>
                </a:xfrm>
                <a:custGeom>
                  <a:avLst/>
                  <a:gdLst>
                    <a:gd name="T0" fmla="*/ 15 w 15"/>
                    <a:gd name="T1" fmla="*/ 3 h 6"/>
                    <a:gd name="T2" fmla="*/ 15 w 15"/>
                    <a:gd name="T3" fmla="*/ 0 h 6"/>
                    <a:gd name="T4" fmla="*/ 0 w 15"/>
                    <a:gd name="T5" fmla="*/ 0 h 6"/>
                    <a:gd name="T6" fmla="*/ 0 w 15"/>
                    <a:gd name="T7" fmla="*/ 6 h 6"/>
                    <a:gd name="T8" fmla="*/ 15 w 15"/>
                    <a:gd name="T9" fmla="*/ 6 h 6"/>
                    <a:gd name="T10" fmla="*/ 15 w 15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5"/>
                    <a:gd name="T19" fmla="*/ 0 h 6"/>
                    <a:gd name="T20" fmla="*/ 15 w 15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5" h="6">
                      <a:moveTo>
                        <a:pt x="15" y="3"/>
                      </a:move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5" y="6"/>
                      </a:lnTo>
                      <a:lnTo>
                        <a:pt x="15" y="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94" name="Freeform 656"/>
                <p:cNvSpPr>
                  <a:spLocks/>
                </p:cNvSpPr>
                <p:nvPr/>
              </p:nvSpPr>
              <p:spPr bwMode="auto">
                <a:xfrm>
                  <a:off x="2700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95" name="Freeform 657"/>
                <p:cNvSpPr>
                  <a:spLocks/>
                </p:cNvSpPr>
                <p:nvPr/>
              </p:nvSpPr>
              <p:spPr bwMode="auto">
                <a:xfrm>
                  <a:off x="2684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2E2E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96" name="Freeform 658"/>
                <p:cNvSpPr>
                  <a:spLocks/>
                </p:cNvSpPr>
                <p:nvPr/>
              </p:nvSpPr>
              <p:spPr bwMode="auto">
                <a:xfrm>
                  <a:off x="2687" y="2063"/>
                  <a:ext cx="11" cy="6"/>
                </a:xfrm>
                <a:custGeom>
                  <a:avLst/>
                  <a:gdLst>
                    <a:gd name="T0" fmla="*/ 11 w 11"/>
                    <a:gd name="T1" fmla="*/ 3 h 6"/>
                    <a:gd name="T2" fmla="*/ 11 w 11"/>
                    <a:gd name="T3" fmla="*/ 0 h 6"/>
                    <a:gd name="T4" fmla="*/ 0 w 11"/>
                    <a:gd name="T5" fmla="*/ 0 h 6"/>
                    <a:gd name="T6" fmla="*/ 0 w 11"/>
                    <a:gd name="T7" fmla="*/ 6 h 6"/>
                    <a:gd name="T8" fmla="*/ 11 w 11"/>
                    <a:gd name="T9" fmla="*/ 6 h 6"/>
                    <a:gd name="T10" fmla="*/ 11 w 1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1"/>
                    <a:gd name="T19" fmla="*/ 0 h 6"/>
                    <a:gd name="T20" fmla="*/ 11 w 1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1" h="6">
                      <a:moveTo>
                        <a:pt x="11" y="3"/>
                      </a:moveTo>
                      <a:lnTo>
                        <a:pt x="1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1" y="6"/>
                      </a:lnTo>
                      <a:lnTo>
                        <a:pt x="11" y="3"/>
                      </a:lnTo>
                      <a:close/>
                    </a:path>
                  </a:pathLst>
                </a:custGeom>
                <a:solidFill>
                  <a:srgbClr val="E2E2E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97" name="Freeform 659"/>
                <p:cNvSpPr>
                  <a:spLocks/>
                </p:cNvSpPr>
                <p:nvPr/>
              </p:nvSpPr>
              <p:spPr bwMode="auto">
                <a:xfrm>
                  <a:off x="2698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E2E2E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98" name="Freeform 660"/>
                <p:cNvSpPr>
                  <a:spLocks/>
                </p:cNvSpPr>
                <p:nvPr/>
              </p:nvSpPr>
              <p:spPr bwMode="auto">
                <a:xfrm>
                  <a:off x="2685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DED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99" name="Freeform 661"/>
                <p:cNvSpPr>
                  <a:spLocks/>
                </p:cNvSpPr>
                <p:nvPr/>
              </p:nvSpPr>
              <p:spPr bwMode="auto">
                <a:xfrm>
                  <a:off x="2688" y="2063"/>
                  <a:ext cx="8" cy="6"/>
                </a:xfrm>
                <a:custGeom>
                  <a:avLst/>
                  <a:gdLst>
                    <a:gd name="T0" fmla="*/ 8 w 8"/>
                    <a:gd name="T1" fmla="*/ 3 h 6"/>
                    <a:gd name="T2" fmla="*/ 8 w 8"/>
                    <a:gd name="T3" fmla="*/ 0 h 6"/>
                    <a:gd name="T4" fmla="*/ 0 w 8"/>
                    <a:gd name="T5" fmla="*/ 0 h 6"/>
                    <a:gd name="T6" fmla="*/ 0 w 8"/>
                    <a:gd name="T7" fmla="*/ 6 h 6"/>
                    <a:gd name="T8" fmla="*/ 8 w 8"/>
                    <a:gd name="T9" fmla="*/ 6 h 6"/>
                    <a:gd name="T10" fmla="*/ 8 w 8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"/>
                    <a:gd name="T19" fmla="*/ 0 h 6"/>
                    <a:gd name="T20" fmla="*/ 8 w 8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" h="6">
                      <a:moveTo>
                        <a:pt x="8" y="3"/>
                      </a:moveTo>
                      <a:lnTo>
                        <a:pt x="8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8" y="6"/>
                      </a:lnTo>
                      <a:lnTo>
                        <a:pt x="8" y="3"/>
                      </a:lnTo>
                      <a:close/>
                    </a:path>
                  </a:pathLst>
                </a:custGeom>
                <a:solidFill>
                  <a:srgbClr val="EDED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00" name="Freeform 662"/>
                <p:cNvSpPr>
                  <a:spLocks/>
                </p:cNvSpPr>
                <p:nvPr/>
              </p:nvSpPr>
              <p:spPr bwMode="auto">
                <a:xfrm>
                  <a:off x="2696" y="2063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3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EDED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01" name="Freeform 663"/>
                <p:cNvSpPr>
                  <a:spLocks/>
                </p:cNvSpPr>
                <p:nvPr/>
              </p:nvSpPr>
              <p:spPr bwMode="auto">
                <a:xfrm>
                  <a:off x="2687" y="2063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02" name="Freeform 664"/>
                <p:cNvSpPr>
                  <a:spLocks/>
                </p:cNvSpPr>
                <p:nvPr/>
              </p:nvSpPr>
              <p:spPr bwMode="auto">
                <a:xfrm>
                  <a:off x="2689" y="2063"/>
                  <a:ext cx="6" cy="6"/>
                </a:xfrm>
                <a:custGeom>
                  <a:avLst/>
                  <a:gdLst>
                    <a:gd name="T0" fmla="*/ 6 w 6"/>
                    <a:gd name="T1" fmla="*/ 3 h 6"/>
                    <a:gd name="T2" fmla="*/ 6 w 6"/>
                    <a:gd name="T3" fmla="*/ 0 h 6"/>
                    <a:gd name="T4" fmla="*/ 0 w 6"/>
                    <a:gd name="T5" fmla="*/ 0 h 6"/>
                    <a:gd name="T6" fmla="*/ 0 w 6"/>
                    <a:gd name="T7" fmla="*/ 6 h 6"/>
                    <a:gd name="T8" fmla="*/ 6 w 6"/>
                    <a:gd name="T9" fmla="*/ 6 h 6"/>
                    <a:gd name="T10" fmla="*/ 6 w 6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"/>
                    <a:gd name="T19" fmla="*/ 0 h 6"/>
                    <a:gd name="T20" fmla="*/ 6 w 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" h="6">
                      <a:moveTo>
                        <a:pt x="6" y="3"/>
                      </a:move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6" y="6"/>
                      </a:lnTo>
                      <a:lnTo>
                        <a:pt x="6" y="3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03" name="Freeform 665"/>
                <p:cNvSpPr>
                  <a:spLocks/>
                </p:cNvSpPr>
                <p:nvPr/>
              </p:nvSpPr>
              <p:spPr bwMode="auto">
                <a:xfrm>
                  <a:off x="2695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3 w 3"/>
                    <a:gd name="T3" fmla="*/ 5 h 6"/>
                    <a:gd name="T4" fmla="*/ 3 w 3"/>
                    <a:gd name="T5" fmla="*/ 3 h 6"/>
                    <a:gd name="T6" fmla="*/ 3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3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04" name="Freeform 666"/>
                <p:cNvSpPr>
                  <a:spLocks/>
                </p:cNvSpPr>
                <p:nvPr/>
              </p:nvSpPr>
              <p:spPr bwMode="auto">
                <a:xfrm>
                  <a:off x="2688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05" name="Freeform 667"/>
                <p:cNvSpPr>
                  <a:spLocks/>
                </p:cNvSpPr>
                <p:nvPr/>
              </p:nvSpPr>
              <p:spPr bwMode="auto">
                <a:xfrm>
                  <a:off x="2691" y="2063"/>
                  <a:ext cx="2" cy="6"/>
                </a:xfrm>
                <a:custGeom>
                  <a:avLst/>
                  <a:gdLst>
                    <a:gd name="T0" fmla="*/ 2 w 2"/>
                    <a:gd name="T1" fmla="*/ 3 h 6"/>
                    <a:gd name="T2" fmla="*/ 2 w 2"/>
                    <a:gd name="T3" fmla="*/ 0 h 6"/>
                    <a:gd name="T4" fmla="*/ 0 w 2"/>
                    <a:gd name="T5" fmla="*/ 0 h 6"/>
                    <a:gd name="T6" fmla="*/ 0 w 2"/>
                    <a:gd name="T7" fmla="*/ 6 h 6"/>
                    <a:gd name="T8" fmla="*/ 2 w 2"/>
                    <a:gd name="T9" fmla="*/ 6 h 6"/>
                    <a:gd name="T10" fmla="*/ 2 w 2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3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2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06" name="Freeform 668"/>
                <p:cNvSpPr>
                  <a:spLocks/>
                </p:cNvSpPr>
                <p:nvPr/>
              </p:nvSpPr>
              <p:spPr bwMode="auto">
                <a:xfrm>
                  <a:off x="2693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07" name="Freeform 669"/>
                <p:cNvSpPr>
                  <a:spLocks/>
                </p:cNvSpPr>
                <p:nvPr/>
              </p:nvSpPr>
              <p:spPr bwMode="auto">
                <a:xfrm>
                  <a:off x="2662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08" name="Freeform 670"/>
                <p:cNvSpPr>
                  <a:spLocks/>
                </p:cNvSpPr>
                <p:nvPr/>
              </p:nvSpPr>
              <p:spPr bwMode="auto">
                <a:xfrm>
                  <a:off x="2665" y="2075"/>
                  <a:ext cx="53" cy="6"/>
                </a:xfrm>
                <a:custGeom>
                  <a:avLst/>
                  <a:gdLst>
                    <a:gd name="T0" fmla="*/ 53 w 53"/>
                    <a:gd name="T1" fmla="*/ 3 h 6"/>
                    <a:gd name="T2" fmla="*/ 53 w 53"/>
                    <a:gd name="T3" fmla="*/ 0 h 6"/>
                    <a:gd name="T4" fmla="*/ 0 w 53"/>
                    <a:gd name="T5" fmla="*/ 0 h 6"/>
                    <a:gd name="T6" fmla="*/ 0 w 53"/>
                    <a:gd name="T7" fmla="*/ 6 h 6"/>
                    <a:gd name="T8" fmla="*/ 53 w 53"/>
                    <a:gd name="T9" fmla="*/ 6 h 6"/>
                    <a:gd name="T10" fmla="*/ 53 w 53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3"/>
                    <a:gd name="T19" fmla="*/ 0 h 6"/>
                    <a:gd name="T20" fmla="*/ 53 w 5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3" h="6">
                      <a:moveTo>
                        <a:pt x="53" y="3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3" y="6"/>
                      </a:lnTo>
                      <a:lnTo>
                        <a:pt x="53" y="3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09" name="Freeform 671"/>
                <p:cNvSpPr>
                  <a:spLocks/>
                </p:cNvSpPr>
                <p:nvPr/>
              </p:nvSpPr>
              <p:spPr bwMode="auto">
                <a:xfrm>
                  <a:off x="2718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10" name="Freeform 672"/>
                <p:cNvSpPr>
                  <a:spLocks/>
                </p:cNvSpPr>
                <p:nvPr/>
              </p:nvSpPr>
              <p:spPr bwMode="auto">
                <a:xfrm>
                  <a:off x="2664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0 w 3"/>
                    <a:gd name="T3" fmla="*/ 1 h 6"/>
                    <a:gd name="T4" fmla="*/ 0 w 3"/>
                    <a:gd name="T5" fmla="*/ 3 h 6"/>
                    <a:gd name="T6" fmla="*/ 0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11" name="Freeform 673"/>
                <p:cNvSpPr>
                  <a:spLocks/>
                </p:cNvSpPr>
                <p:nvPr/>
              </p:nvSpPr>
              <p:spPr bwMode="auto">
                <a:xfrm>
                  <a:off x="2667" y="2075"/>
                  <a:ext cx="49" cy="6"/>
                </a:xfrm>
                <a:custGeom>
                  <a:avLst/>
                  <a:gdLst>
                    <a:gd name="T0" fmla="*/ 49 w 49"/>
                    <a:gd name="T1" fmla="*/ 3 h 6"/>
                    <a:gd name="T2" fmla="*/ 49 w 49"/>
                    <a:gd name="T3" fmla="*/ 0 h 6"/>
                    <a:gd name="T4" fmla="*/ 0 w 49"/>
                    <a:gd name="T5" fmla="*/ 0 h 6"/>
                    <a:gd name="T6" fmla="*/ 0 w 49"/>
                    <a:gd name="T7" fmla="*/ 6 h 6"/>
                    <a:gd name="T8" fmla="*/ 49 w 49"/>
                    <a:gd name="T9" fmla="*/ 6 h 6"/>
                    <a:gd name="T10" fmla="*/ 49 w 49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9"/>
                    <a:gd name="T19" fmla="*/ 0 h 6"/>
                    <a:gd name="T20" fmla="*/ 49 w 4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9" h="6">
                      <a:moveTo>
                        <a:pt x="49" y="3"/>
                      </a:moveTo>
                      <a:lnTo>
                        <a:pt x="4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9" y="6"/>
                      </a:lnTo>
                      <a:lnTo>
                        <a:pt x="49" y="3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12" name="Freeform 674"/>
                <p:cNvSpPr>
                  <a:spLocks/>
                </p:cNvSpPr>
                <p:nvPr/>
              </p:nvSpPr>
              <p:spPr bwMode="auto">
                <a:xfrm>
                  <a:off x="2716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13" name="Freeform 675"/>
                <p:cNvSpPr>
                  <a:spLocks/>
                </p:cNvSpPr>
                <p:nvPr/>
              </p:nvSpPr>
              <p:spPr bwMode="auto">
                <a:xfrm>
                  <a:off x="2667" y="2075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14" name="Freeform 676"/>
                <p:cNvSpPr>
                  <a:spLocks/>
                </p:cNvSpPr>
                <p:nvPr/>
              </p:nvSpPr>
              <p:spPr bwMode="auto">
                <a:xfrm>
                  <a:off x="2669" y="2075"/>
                  <a:ext cx="46" cy="6"/>
                </a:xfrm>
                <a:custGeom>
                  <a:avLst/>
                  <a:gdLst>
                    <a:gd name="T0" fmla="*/ 46 w 46"/>
                    <a:gd name="T1" fmla="*/ 3 h 6"/>
                    <a:gd name="T2" fmla="*/ 46 w 46"/>
                    <a:gd name="T3" fmla="*/ 0 h 6"/>
                    <a:gd name="T4" fmla="*/ 0 w 46"/>
                    <a:gd name="T5" fmla="*/ 0 h 6"/>
                    <a:gd name="T6" fmla="*/ 0 w 46"/>
                    <a:gd name="T7" fmla="*/ 6 h 6"/>
                    <a:gd name="T8" fmla="*/ 46 w 46"/>
                    <a:gd name="T9" fmla="*/ 6 h 6"/>
                    <a:gd name="T10" fmla="*/ 46 w 46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6"/>
                    <a:gd name="T19" fmla="*/ 0 h 6"/>
                    <a:gd name="T20" fmla="*/ 46 w 4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6" h="6">
                      <a:moveTo>
                        <a:pt x="46" y="3"/>
                      </a:moveTo>
                      <a:lnTo>
                        <a:pt x="4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6" y="6"/>
                      </a:lnTo>
                      <a:lnTo>
                        <a:pt x="46" y="3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15" name="Freeform 677"/>
                <p:cNvSpPr>
                  <a:spLocks/>
                </p:cNvSpPr>
                <p:nvPr/>
              </p:nvSpPr>
              <p:spPr bwMode="auto">
                <a:xfrm>
                  <a:off x="2715" y="2075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16" name="Freeform 678"/>
                <p:cNvSpPr>
                  <a:spLocks/>
                </p:cNvSpPr>
                <p:nvPr/>
              </p:nvSpPr>
              <p:spPr bwMode="auto">
                <a:xfrm>
                  <a:off x="2668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17" name="Freeform 679"/>
                <p:cNvSpPr>
                  <a:spLocks/>
                </p:cNvSpPr>
                <p:nvPr/>
              </p:nvSpPr>
              <p:spPr bwMode="auto">
                <a:xfrm>
                  <a:off x="2671" y="2075"/>
                  <a:ext cx="41" cy="6"/>
                </a:xfrm>
                <a:custGeom>
                  <a:avLst/>
                  <a:gdLst>
                    <a:gd name="T0" fmla="*/ 41 w 41"/>
                    <a:gd name="T1" fmla="*/ 3 h 6"/>
                    <a:gd name="T2" fmla="*/ 41 w 41"/>
                    <a:gd name="T3" fmla="*/ 0 h 6"/>
                    <a:gd name="T4" fmla="*/ 0 w 41"/>
                    <a:gd name="T5" fmla="*/ 0 h 6"/>
                    <a:gd name="T6" fmla="*/ 0 w 41"/>
                    <a:gd name="T7" fmla="*/ 6 h 6"/>
                    <a:gd name="T8" fmla="*/ 41 w 41"/>
                    <a:gd name="T9" fmla="*/ 6 h 6"/>
                    <a:gd name="T10" fmla="*/ 41 w 4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1"/>
                    <a:gd name="T19" fmla="*/ 0 h 6"/>
                    <a:gd name="T20" fmla="*/ 41 w 4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1" h="6">
                      <a:moveTo>
                        <a:pt x="41" y="3"/>
                      </a:move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1" y="6"/>
                      </a:lnTo>
                      <a:lnTo>
                        <a:pt x="41" y="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18" name="Freeform 680"/>
                <p:cNvSpPr>
                  <a:spLocks/>
                </p:cNvSpPr>
                <p:nvPr/>
              </p:nvSpPr>
              <p:spPr bwMode="auto">
                <a:xfrm>
                  <a:off x="2712" y="2075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3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19" name="Freeform 681"/>
                <p:cNvSpPr>
                  <a:spLocks/>
                </p:cNvSpPr>
                <p:nvPr/>
              </p:nvSpPr>
              <p:spPr bwMode="auto">
                <a:xfrm>
                  <a:off x="2670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20" name="Freeform 682"/>
                <p:cNvSpPr>
                  <a:spLocks/>
                </p:cNvSpPr>
                <p:nvPr/>
              </p:nvSpPr>
              <p:spPr bwMode="auto">
                <a:xfrm>
                  <a:off x="2673" y="2075"/>
                  <a:ext cx="37" cy="6"/>
                </a:xfrm>
                <a:custGeom>
                  <a:avLst/>
                  <a:gdLst>
                    <a:gd name="T0" fmla="*/ 37 w 37"/>
                    <a:gd name="T1" fmla="*/ 3 h 6"/>
                    <a:gd name="T2" fmla="*/ 37 w 37"/>
                    <a:gd name="T3" fmla="*/ 0 h 6"/>
                    <a:gd name="T4" fmla="*/ 0 w 37"/>
                    <a:gd name="T5" fmla="*/ 0 h 6"/>
                    <a:gd name="T6" fmla="*/ 0 w 37"/>
                    <a:gd name="T7" fmla="*/ 6 h 6"/>
                    <a:gd name="T8" fmla="*/ 37 w 37"/>
                    <a:gd name="T9" fmla="*/ 6 h 6"/>
                    <a:gd name="T10" fmla="*/ 37 w 3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7"/>
                    <a:gd name="T19" fmla="*/ 0 h 6"/>
                    <a:gd name="T20" fmla="*/ 37 w 3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7" h="6">
                      <a:moveTo>
                        <a:pt x="37" y="3"/>
                      </a:moveTo>
                      <a:lnTo>
                        <a:pt x="3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7" y="6"/>
                      </a:lnTo>
                      <a:lnTo>
                        <a:pt x="37" y="3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21" name="Freeform 683"/>
                <p:cNvSpPr>
                  <a:spLocks/>
                </p:cNvSpPr>
                <p:nvPr/>
              </p:nvSpPr>
              <p:spPr bwMode="auto">
                <a:xfrm>
                  <a:off x="2710" y="2075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2 w 4"/>
                    <a:gd name="T3" fmla="*/ 5 h 6"/>
                    <a:gd name="T4" fmla="*/ 4 w 4"/>
                    <a:gd name="T5" fmla="*/ 3 h 6"/>
                    <a:gd name="T6" fmla="*/ 2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4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22" name="Freeform 684"/>
                <p:cNvSpPr>
                  <a:spLocks/>
                </p:cNvSpPr>
                <p:nvPr/>
              </p:nvSpPr>
              <p:spPr bwMode="auto">
                <a:xfrm>
                  <a:off x="2672" y="2075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23" name="Freeform 685"/>
                <p:cNvSpPr>
                  <a:spLocks/>
                </p:cNvSpPr>
                <p:nvPr/>
              </p:nvSpPr>
              <p:spPr bwMode="auto">
                <a:xfrm>
                  <a:off x="2674" y="2075"/>
                  <a:ext cx="34" cy="6"/>
                </a:xfrm>
                <a:custGeom>
                  <a:avLst/>
                  <a:gdLst>
                    <a:gd name="T0" fmla="*/ 34 w 34"/>
                    <a:gd name="T1" fmla="*/ 3 h 6"/>
                    <a:gd name="T2" fmla="*/ 34 w 34"/>
                    <a:gd name="T3" fmla="*/ 0 h 6"/>
                    <a:gd name="T4" fmla="*/ 0 w 34"/>
                    <a:gd name="T5" fmla="*/ 0 h 6"/>
                    <a:gd name="T6" fmla="*/ 0 w 34"/>
                    <a:gd name="T7" fmla="*/ 6 h 6"/>
                    <a:gd name="T8" fmla="*/ 34 w 34"/>
                    <a:gd name="T9" fmla="*/ 6 h 6"/>
                    <a:gd name="T10" fmla="*/ 34 w 34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4"/>
                    <a:gd name="T19" fmla="*/ 0 h 6"/>
                    <a:gd name="T20" fmla="*/ 34 w 3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4" h="6">
                      <a:moveTo>
                        <a:pt x="34" y="3"/>
                      </a:moveTo>
                      <a:lnTo>
                        <a:pt x="3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4" y="6"/>
                      </a:lnTo>
                      <a:lnTo>
                        <a:pt x="34" y="3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24" name="Freeform 686"/>
                <p:cNvSpPr>
                  <a:spLocks/>
                </p:cNvSpPr>
                <p:nvPr/>
              </p:nvSpPr>
              <p:spPr bwMode="auto">
                <a:xfrm>
                  <a:off x="2708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25" name="Freeform 687"/>
                <p:cNvSpPr>
                  <a:spLocks/>
                </p:cNvSpPr>
                <p:nvPr/>
              </p:nvSpPr>
              <p:spPr bwMode="auto">
                <a:xfrm>
                  <a:off x="2674" y="2075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26" name="Freeform 688"/>
                <p:cNvSpPr>
                  <a:spLocks/>
                </p:cNvSpPr>
                <p:nvPr/>
              </p:nvSpPr>
              <p:spPr bwMode="auto">
                <a:xfrm>
                  <a:off x="2676" y="2075"/>
                  <a:ext cx="31" cy="6"/>
                </a:xfrm>
                <a:custGeom>
                  <a:avLst/>
                  <a:gdLst>
                    <a:gd name="T0" fmla="*/ 31 w 31"/>
                    <a:gd name="T1" fmla="*/ 3 h 6"/>
                    <a:gd name="T2" fmla="*/ 31 w 31"/>
                    <a:gd name="T3" fmla="*/ 0 h 6"/>
                    <a:gd name="T4" fmla="*/ 0 w 31"/>
                    <a:gd name="T5" fmla="*/ 0 h 6"/>
                    <a:gd name="T6" fmla="*/ 0 w 31"/>
                    <a:gd name="T7" fmla="*/ 6 h 6"/>
                    <a:gd name="T8" fmla="*/ 31 w 31"/>
                    <a:gd name="T9" fmla="*/ 6 h 6"/>
                    <a:gd name="T10" fmla="*/ 31 w 3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1"/>
                    <a:gd name="T19" fmla="*/ 0 h 6"/>
                    <a:gd name="T20" fmla="*/ 31 w 3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1" h="6">
                      <a:moveTo>
                        <a:pt x="31" y="3"/>
                      </a:moveTo>
                      <a:lnTo>
                        <a:pt x="3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1" y="6"/>
                      </a:lnTo>
                      <a:lnTo>
                        <a:pt x="31" y="3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27" name="Freeform 689"/>
                <p:cNvSpPr>
                  <a:spLocks/>
                </p:cNvSpPr>
                <p:nvPr/>
              </p:nvSpPr>
              <p:spPr bwMode="auto">
                <a:xfrm>
                  <a:off x="2707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28" name="Freeform 690"/>
                <p:cNvSpPr>
                  <a:spLocks/>
                </p:cNvSpPr>
                <p:nvPr/>
              </p:nvSpPr>
              <p:spPr bwMode="auto">
                <a:xfrm>
                  <a:off x="2676" y="2075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29" name="Freeform 691"/>
                <p:cNvSpPr>
                  <a:spLocks/>
                </p:cNvSpPr>
                <p:nvPr/>
              </p:nvSpPr>
              <p:spPr bwMode="auto">
                <a:xfrm>
                  <a:off x="2678" y="2075"/>
                  <a:ext cx="27" cy="6"/>
                </a:xfrm>
                <a:custGeom>
                  <a:avLst/>
                  <a:gdLst>
                    <a:gd name="T0" fmla="*/ 27 w 27"/>
                    <a:gd name="T1" fmla="*/ 3 h 6"/>
                    <a:gd name="T2" fmla="*/ 27 w 27"/>
                    <a:gd name="T3" fmla="*/ 0 h 6"/>
                    <a:gd name="T4" fmla="*/ 0 w 27"/>
                    <a:gd name="T5" fmla="*/ 0 h 6"/>
                    <a:gd name="T6" fmla="*/ 0 w 27"/>
                    <a:gd name="T7" fmla="*/ 6 h 6"/>
                    <a:gd name="T8" fmla="*/ 27 w 27"/>
                    <a:gd name="T9" fmla="*/ 6 h 6"/>
                    <a:gd name="T10" fmla="*/ 27 w 2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7"/>
                    <a:gd name="T19" fmla="*/ 0 h 6"/>
                    <a:gd name="T20" fmla="*/ 27 w 2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7" h="6">
                      <a:moveTo>
                        <a:pt x="27" y="3"/>
                      </a:moveTo>
                      <a:lnTo>
                        <a:pt x="2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7" y="6"/>
                      </a:lnTo>
                      <a:lnTo>
                        <a:pt x="27" y="3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30" name="Freeform 692"/>
                <p:cNvSpPr>
                  <a:spLocks/>
                </p:cNvSpPr>
                <p:nvPr/>
              </p:nvSpPr>
              <p:spPr bwMode="auto">
                <a:xfrm>
                  <a:off x="2705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31" name="Freeform 693"/>
                <p:cNvSpPr>
                  <a:spLocks/>
                </p:cNvSpPr>
                <p:nvPr/>
              </p:nvSpPr>
              <p:spPr bwMode="auto">
                <a:xfrm>
                  <a:off x="2678" y="2075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32" name="Freeform 694"/>
                <p:cNvSpPr>
                  <a:spLocks/>
                </p:cNvSpPr>
                <p:nvPr/>
              </p:nvSpPr>
              <p:spPr bwMode="auto">
                <a:xfrm>
                  <a:off x="2680" y="2075"/>
                  <a:ext cx="24" cy="6"/>
                </a:xfrm>
                <a:custGeom>
                  <a:avLst/>
                  <a:gdLst>
                    <a:gd name="T0" fmla="*/ 24 w 24"/>
                    <a:gd name="T1" fmla="*/ 3 h 6"/>
                    <a:gd name="T2" fmla="*/ 24 w 24"/>
                    <a:gd name="T3" fmla="*/ 0 h 6"/>
                    <a:gd name="T4" fmla="*/ 0 w 24"/>
                    <a:gd name="T5" fmla="*/ 0 h 6"/>
                    <a:gd name="T6" fmla="*/ 0 w 24"/>
                    <a:gd name="T7" fmla="*/ 6 h 6"/>
                    <a:gd name="T8" fmla="*/ 24 w 24"/>
                    <a:gd name="T9" fmla="*/ 6 h 6"/>
                    <a:gd name="T10" fmla="*/ 24 w 24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4"/>
                    <a:gd name="T19" fmla="*/ 0 h 6"/>
                    <a:gd name="T20" fmla="*/ 24 w 2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4" h="6">
                      <a:moveTo>
                        <a:pt x="24" y="3"/>
                      </a:moveTo>
                      <a:lnTo>
                        <a:pt x="2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4" y="6"/>
                      </a:lnTo>
                      <a:lnTo>
                        <a:pt x="24" y="3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33" name="Freeform 695"/>
                <p:cNvSpPr>
                  <a:spLocks/>
                </p:cNvSpPr>
                <p:nvPr/>
              </p:nvSpPr>
              <p:spPr bwMode="auto">
                <a:xfrm>
                  <a:off x="2704" y="2075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34" name="Freeform 696"/>
                <p:cNvSpPr>
                  <a:spLocks/>
                </p:cNvSpPr>
                <p:nvPr/>
              </p:nvSpPr>
              <p:spPr bwMode="auto">
                <a:xfrm>
                  <a:off x="2680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0 w 3"/>
                    <a:gd name="T3" fmla="*/ 1 h 6"/>
                    <a:gd name="T4" fmla="*/ 0 w 3"/>
                    <a:gd name="T5" fmla="*/ 3 h 6"/>
                    <a:gd name="T6" fmla="*/ 0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35" name="Freeform 697"/>
                <p:cNvSpPr>
                  <a:spLocks/>
                </p:cNvSpPr>
                <p:nvPr/>
              </p:nvSpPr>
              <p:spPr bwMode="auto">
                <a:xfrm>
                  <a:off x="2683" y="2075"/>
                  <a:ext cx="19" cy="6"/>
                </a:xfrm>
                <a:custGeom>
                  <a:avLst/>
                  <a:gdLst>
                    <a:gd name="T0" fmla="*/ 19 w 19"/>
                    <a:gd name="T1" fmla="*/ 3 h 6"/>
                    <a:gd name="T2" fmla="*/ 19 w 19"/>
                    <a:gd name="T3" fmla="*/ 0 h 6"/>
                    <a:gd name="T4" fmla="*/ 0 w 19"/>
                    <a:gd name="T5" fmla="*/ 0 h 6"/>
                    <a:gd name="T6" fmla="*/ 0 w 19"/>
                    <a:gd name="T7" fmla="*/ 6 h 6"/>
                    <a:gd name="T8" fmla="*/ 19 w 19"/>
                    <a:gd name="T9" fmla="*/ 6 h 6"/>
                    <a:gd name="T10" fmla="*/ 19 w 19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6"/>
                    <a:gd name="T20" fmla="*/ 19 w 1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6">
                      <a:moveTo>
                        <a:pt x="19" y="3"/>
                      </a:moveTo>
                      <a:lnTo>
                        <a:pt x="1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9" y="6"/>
                      </a:lnTo>
                      <a:lnTo>
                        <a:pt x="19" y="3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36" name="Freeform 698"/>
                <p:cNvSpPr>
                  <a:spLocks/>
                </p:cNvSpPr>
                <p:nvPr/>
              </p:nvSpPr>
              <p:spPr bwMode="auto">
                <a:xfrm>
                  <a:off x="2702" y="2075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37" name="Freeform 699"/>
                <p:cNvSpPr>
                  <a:spLocks/>
                </p:cNvSpPr>
                <p:nvPr/>
              </p:nvSpPr>
              <p:spPr bwMode="auto">
                <a:xfrm>
                  <a:off x="2681" y="2075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2 w 4"/>
                    <a:gd name="T3" fmla="*/ 1 h 6"/>
                    <a:gd name="T4" fmla="*/ 0 w 4"/>
                    <a:gd name="T5" fmla="*/ 3 h 6"/>
                    <a:gd name="T6" fmla="*/ 2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2" y="1"/>
                      </a:lnTo>
                      <a:lnTo>
                        <a:pt x="0" y="3"/>
                      </a:lnTo>
                      <a:lnTo>
                        <a:pt x="2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38" name="Freeform 700"/>
                <p:cNvSpPr>
                  <a:spLocks/>
                </p:cNvSpPr>
                <p:nvPr/>
              </p:nvSpPr>
              <p:spPr bwMode="auto">
                <a:xfrm>
                  <a:off x="2685" y="2075"/>
                  <a:ext cx="15" cy="6"/>
                </a:xfrm>
                <a:custGeom>
                  <a:avLst/>
                  <a:gdLst>
                    <a:gd name="T0" fmla="*/ 15 w 15"/>
                    <a:gd name="T1" fmla="*/ 3 h 6"/>
                    <a:gd name="T2" fmla="*/ 15 w 15"/>
                    <a:gd name="T3" fmla="*/ 0 h 6"/>
                    <a:gd name="T4" fmla="*/ 0 w 15"/>
                    <a:gd name="T5" fmla="*/ 0 h 6"/>
                    <a:gd name="T6" fmla="*/ 0 w 15"/>
                    <a:gd name="T7" fmla="*/ 6 h 6"/>
                    <a:gd name="T8" fmla="*/ 15 w 15"/>
                    <a:gd name="T9" fmla="*/ 6 h 6"/>
                    <a:gd name="T10" fmla="*/ 15 w 15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5"/>
                    <a:gd name="T19" fmla="*/ 0 h 6"/>
                    <a:gd name="T20" fmla="*/ 15 w 15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5" h="6">
                      <a:moveTo>
                        <a:pt x="15" y="3"/>
                      </a:move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5" y="6"/>
                      </a:lnTo>
                      <a:lnTo>
                        <a:pt x="15" y="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39" name="Freeform 701"/>
                <p:cNvSpPr>
                  <a:spLocks/>
                </p:cNvSpPr>
                <p:nvPr/>
              </p:nvSpPr>
              <p:spPr bwMode="auto">
                <a:xfrm>
                  <a:off x="2700" y="2075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40" name="Freeform 702"/>
                <p:cNvSpPr>
                  <a:spLocks/>
                </p:cNvSpPr>
                <p:nvPr/>
              </p:nvSpPr>
              <p:spPr bwMode="auto">
                <a:xfrm>
                  <a:off x="2684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41" name="Freeform 703"/>
                <p:cNvSpPr>
                  <a:spLocks/>
                </p:cNvSpPr>
                <p:nvPr/>
              </p:nvSpPr>
              <p:spPr bwMode="auto">
                <a:xfrm>
                  <a:off x="2687" y="2075"/>
                  <a:ext cx="11" cy="6"/>
                </a:xfrm>
                <a:custGeom>
                  <a:avLst/>
                  <a:gdLst>
                    <a:gd name="T0" fmla="*/ 11 w 11"/>
                    <a:gd name="T1" fmla="*/ 3 h 6"/>
                    <a:gd name="T2" fmla="*/ 11 w 11"/>
                    <a:gd name="T3" fmla="*/ 0 h 6"/>
                    <a:gd name="T4" fmla="*/ 0 w 11"/>
                    <a:gd name="T5" fmla="*/ 0 h 6"/>
                    <a:gd name="T6" fmla="*/ 0 w 11"/>
                    <a:gd name="T7" fmla="*/ 6 h 6"/>
                    <a:gd name="T8" fmla="*/ 11 w 11"/>
                    <a:gd name="T9" fmla="*/ 6 h 6"/>
                    <a:gd name="T10" fmla="*/ 11 w 1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1"/>
                    <a:gd name="T19" fmla="*/ 0 h 6"/>
                    <a:gd name="T20" fmla="*/ 11 w 1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1" h="6">
                      <a:moveTo>
                        <a:pt x="11" y="3"/>
                      </a:moveTo>
                      <a:lnTo>
                        <a:pt x="1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1" y="6"/>
                      </a:lnTo>
                      <a:lnTo>
                        <a:pt x="11" y="3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42" name="Freeform 704"/>
                <p:cNvSpPr>
                  <a:spLocks/>
                </p:cNvSpPr>
                <p:nvPr/>
              </p:nvSpPr>
              <p:spPr bwMode="auto">
                <a:xfrm>
                  <a:off x="2698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43" name="Freeform 705"/>
                <p:cNvSpPr>
                  <a:spLocks/>
                </p:cNvSpPr>
                <p:nvPr/>
              </p:nvSpPr>
              <p:spPr bwMode="auto">
                <a:xfrm>
                  <a:off x="2686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44" name="Freeform 706"/>
                <p:cNvSpPr>
                  <a:spLocks/>
                </p:cNvSpPr>
                <p:nvPr/>
              </p:nvSpPr>
              <p:spPr bwMode="auto">
                <a:xfrm>
                  <a:off x="2689" y="2075"/>
                  <a:ext cx="6" cy="6"/>
                </a:xfrm>
                <a:custGeom>
                  <a:avLst/>
                  <a:gdLst>
                    <a:gd name="T0" fmla="*/ 6 w 6"/>
                    <a:gd name="T1" fmla="*/ 3 h 6"/>
                    <a:gd name="T2" fmla="*/ 6 w 6"/>
                    <a:gd name="T3" fmla="*/ 0 h 6"/>
                    <a:gd name="T4" fmla="*/ 0 w 6"/>
                    <a:gd name="T5" fmla="*/ 0 h 6"/>
                    <a:gd name="T6" fmla="*/ 0 w 6"/>
                    <a:gd name="T7" fmla="*/ 6 h 6"/>
                    <a:gd name="T8" fmla="*/ 6 w 6"/>
                    <a:gd name="T9" fmla="*/ 6 h 6"/>
                    <a:gd name="T10" fmla="*/ 6 w 6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"/>
                    <a:gd name="T19" fmla="*/ 0 h 6"/>
                    <a:gd name="T20" fmla="*/ 6 w 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" h="6">
                      <a:moveTo>
                        <a:pt x="6" y="3"/>
                      </a:move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6" y="6"/>
                      </a:lnTo>
                      <a:lnTo>
                        <a:pt x="6" y="3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45" name="Freeform 707"/>
                <p:cNvSpPr>
                  <a:spLocks/>
                </p:cNvSpPr>
                <p:nvPr/>
              </p:nvSpPr>
              <p:spPr bwMode="auto">
                <a:xfrm>
                  <a:off x="2695" y="2075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3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46" name="Freeform 708"/>
                <p:cNvSpPr>
                  <a:spLocks/>
                </p:cNvSpPr>
                <p:nvPr/>
              </p:nvSpPr>
              <p:spPr bwMode="auto">
                <a:xfrm>
                  <a:off x="2688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47" name="Freeform 709"/>
                <p:cNvSpPr>
                  <a:spLocks/>
                </p:cNvSpPr>
                <p:nvPr/>
              </p:nvSpPr>
              <p:spPr bwMode="auto">
                <a:xfrm>
                  <a:off x="2691" y="2075"/>
                  <a:ext cx="2" cy="6"/>
                </a:xfrm>
                <a:custGeom>
                  <a:avLst/>
                  <a:gdLst>
                    <a:gd name="T0" fmla="*/ 2 w 2"/>
                    <a:gd name="T1" fmla="*/ 3 h 6"/>
                    <a:gd name="T2" fmla="*/ 2 w 2"/>
                    <a:gd name="T3" fmla="*/ 0 h 6"/>
                    <a:gd name="T4" fmla="*/ 0 w 2"/>
                    <a:gd name="T5" fmla="*/ 0 h 6"/>
                    <a:gd name="T6" fmla="*/ 0 w 2"/>
                    <a:gd name="T7" fmla="*/ 6 h 6"/>
                    <a:gd name="T8" fmla="*/ 2 w 2"/>
                    <a:gd name="T9" fmla="*/ 6 h 6"/>
                    <a:gd name="T10" fmla="*/ 2 w 2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3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2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48" name="Freeform 710"/>
                <p:cNvSpPr>
                  <a:spLocks/>
                </p:cNvSpPr>
                <p:nvPr/>
              </p:nvSpPr>
              <p:spPr bwMode="auto">
                <a:xfrm>
                  <a:off x="2693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49" name="Freeform 711"/>
                <p:cNvSpPr>
                  <a:spLocks/>
                </p:cNvSpPr>
                <p:nvPr/>
              </p:nvSpPr>
              <p:spPr bwMode="auto">
                <a:xfrm>
                  <a:off x="2662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50" name="Freeform 712"/>
                <p:cNvSpPr>
                  <a:spLocks/>
                </p:cNvSpPr>
                <p:nvPr/>
              </p:nvSpPr>
              <p:spPr bwMode="auto">
                <a:xfrm>
                  <a:off x="2665" y="2087"/>
                  <a:ext cx="53" cy="6"/>
                </a:xfrm>
                <a:custGeom>
                  <a:avLst/>
                  <a:gdLst>
                    <a:gd name="T0" fmla="*/ 53 w 53"/>
                    <a:gd name="T1" fmla="*/ 2 h 6"/>
                    <a:gd name="T2" fmla="*/ 53 w 53"/>
                    <a:gd name="T3" fmla="*/ 0 h 6"/>
                    <a:gd name="T4" fmla="*/ 0 w 53"/>
                    <a:gd name="T5" fmla="*/ 0 h 6"/>
                    <a:gd name="T6" fmla="*/ 0 w 53"/>
                    <a:gd name="T7" fmla="*/ 6 h 6"/>
                    <a:gd name="T8" fmla="*/ 53 w 53"/>
                    <a:gd name="T9" fmla="*/ 6 h 6"/>
                    <a:gd name="T10" fmla="*/ 53 w 53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3"/>
                    <a:gd name="T19" fmla="*/ 0 h 6"/>
                    <a:gd name="T20" fmla="*/ 53 w 5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3" h="6">
                      <a:moveTo>
                        <a:pt x="53" y="2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3" y="6"/>
                      </a:lnTo>
                      <a:lnTo>
                        <a:pt x="53" y="2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51" name="Freeform 713"/>
                <p:cNvSpPr>
                  <a:spLocks/>
                </p:cNvSpPr>
                <p:nvPr/>
              </p:nvSpPr>
              <p:spPr bwMode="auto">
                <a:xfrm>
                  <a:off x="2718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52" name="Freeform 714"/>
                <p:cNvSpPr>
                  <a:spLocks/>
                </p:cNvSpPr>
                <p:nvPr/>
              </p:nvSpPr>
              <p:spPr bwMode="auto">
                <a:xfrm>
                  <a:off x="2664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0 w 3"/>
                    <a:gd name="T3" fmla="*/ 1 h 6"/>
                    <a:gd name="T4" fmla="*/ 0 w 3"/>
                    <a:gd name="T5" fmla="*/ 2 h 6"/>
                    <a:gd name="T6" fmla="*/ 0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53" name="Freeform 715"/>
                <p:cNvSpPr>
                  <a:spLocks/>
                </p:cNvSpPr>
                <p:nvPr/>
              </p:nvSpPr>
              <p:spPr bwMode="auto">
                <a:xfrm>
                  <a:off x="2667" y="2087"/>
                  <a:ext cx="49" cy="6"/>
                </a:xfrm>
                <a:custGeom>
                  <a:avLst/>
                  <a:gdLst>
                    <a:gd name="T0" fmla="*/ 49 w 49"/>
                    <a:gd name="T1" fmla="*/ 2 h 6"/>
                    <a:gd name="T2" fmla="*/ 49 w 49"/>
                    <a:gd name="T3" fmla="*/ 0 h 6"/>
                    <a:gd name="T4" fmla="*/ 0 w 49"/>
                    <a:gd name="T5" fmla="*/ 0 h 6"/>
                    <a:gd name="T6" fmla="*/ 0 w 49"/>
                    <a:gd name="T7" fmla="*/ 6 h 6"/>
                    <a:gd name="T8" fmla="*/ 49 w 49"/>
                    <a:gd name="T9" fmla="*/ 6 h 6"/>
                    <a:gd name="T10" fmla="*/ 49 w 49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9"/>
                    <a:gd name="T19" fmla="*/ 0 h 6"/>
                    <a:gd name="T20" fmla="*/ 49 w 4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9" h="6">
                      <a:moveTo>
                        <a:pt x="49" y="2"/>
                      </a:moveTo>
                      <a:lnTo>
                        <a:pt x="4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9" y="6"/>
                      </a:lnTo>
                      <a:lnTo>
                        <a:pt x="49" y="2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54" name="Freeform 716"/>
                <p:cNvSpPr>
                  <a:spLocks/>
                </p:cNvSpPr>
                <p:nvPr/>
              </p:nvSpPr>
              <p:spPr bwMode="auto">
                <a:xfrm>
                  <a:off x="2716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55" name="Freeform 717"/>
                <p:cNvSpPr>
                  <a:spLocks/>
                </p:cNvSpPr>
                <p:nvPr/>
              </p:nvSpPr>
              <p:spPr bwMode="auto">
                <a:xfrm>
                  <a:off x="2667" y="2087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2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56" name="Freeform 718"/>
                <p:cNvSpPr>
                  <a:spLocks/>
                </p:cNvSpPr>
                <p:nvPr/>
              </p:nvSpPr>
              <p:spPr bwMode="auto">
                <a:xfrm>
                  <a:off x="2669" y="2087"/>
                  <a:ext cx="46" cy="6"/>
                </a:xfrm>
                <a:custGeom>
                  <a:avLst/>
                  <a:gdLst>
                    <a:gd name="T0" fmla="*/ 46 w 46"/>
                    <a:gd name="T1" fmla="*/ 2 h 6"/>
                    <a:gd name="T2" fmla="*/ 46 w 46"/>
                    <a:gd name="T3" fmla="*/ 0 h 6"/>
                    <a:gd name="T4" fmla="*/ 0 w 46"/>
                    <a:gd name="T5" fmla="*/ 0 h 6"/>
                    <a:gd name="T6" fmla="*/ 0 w 46"/>
                    <a:gd name="T7" fmla="*/ 6 h 6"/>
                    <a:gd name="T8" fmla="*/ 46 w 46"/>
                    <a:gd name="T9" fmla="*/ 6 h 6"/>
                    <a:gd name="T10" fmla="*/ 46 w 46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6"/>
                    <a:gd name="T19" fmla="*/ 0 h 6"/>
                    <a:gd name="T20" fmla="*/ 46 w 4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6" h="6">
                      <a:moveTo>
                        <a:pt x="46" y="2"/>
                      </a:moveTo>
                      <a:lnTo>
                        <a:pt x="4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6" y="6"/>
                      </a:lnTo>
                      <a:lnTo>
                        <a:pt x="46" y="2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57" name="Freeform 719"/>
                <p:cNvSpPr>
                  <a:spLocks/>
                </p:cNvSpPr>
                <p:nvPr/>
              </p:nvSpPr>
              <p:spPr bwMode="auto">
                <a:xfrm>
                  <a:off x="2715" y="2087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2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58" name="Freeform 720"/>
                <p:cNvSpPr>
                  <a:spLocks/>
                </p:cNvSpPr>
                <p:nvPr/>
              </p:nvSpPr>
              <p:spPr bwMode="auto">
                <a:xfrm>
                  <a:off x="2668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59" name="Freeform 721"/>
                <p:cNvSpPr>
                  <a:spLocks/>
                </p:cNvSpPr>
                <p:nvPr/>
              </p:nvSpPr>
              <p:spPr bwMode="auto">
                <a:xfrm>
                  <a:off x="2671" y="2087"/>
                  <a:ext cx="41" cy="6"/>
                </a:xfrm>
                <a:custGeom>
                  <a:avLst/>
                  <a:gdLst>
                    <a:gd name="T0" fmla="*/ 41 w 41"/>
                    <a:gd name="T1" fmla="*/ 2 h 6"/>
                    <a:gd name="T2" fmla="*/ 41 w 41"/>
                    <a:gd name="T3" fmla="*/ 0 h 6"/>
                    <a:gd name="T4" fmla="*/ 0 w 41"/>
                    <a:gd name="T5" fmla="*/ 0 h 6"/>
                    <a:gd name="T6" fmla="*/ 0 w 41"/>
                    <a:gd name="T7" fmla="*/ 6 h 6"/>
                    <a:gd name="T8" fmla="*/ 41 w 41"/>
                    <a:gd name="T9" fmla="*/ 6 h 6"/>
                    <a:gd name="T10" fmla="*/ 41 w 41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1"/>
                    <a:gd name="T19" fmla="*/ 0 h 6"/>
                    <a:gd name="T20" fmla="*/ 41 w 4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1" h="6">
                      <a:moveTo>
                        <a:pt x="41" y="2"/>
                      </a:move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1" y="6"/>
                      </a:lnTo>
                      <a:lnTo>
                        <a:pt x="41" y="2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60" name="Freeform 722"/>
                <p:cNvSpPr>
                  <a:spLocks/>
                </p:cNvSpPr>
                <p:nvPr/>
              </p:nvSpPr>
              <p:spPr bwMode="auto">
                <a:xfrm>
                  <a:off x="2712" y="2087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2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2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61" name="Freeform 723"/>
                <p:cNvSpPr>
                  <a:spLocks/>
                </p:cNvSpPr>
                <p:nvPr/>
              </p:nvSpPr>
              <p:spPr bwMode="auto">
                <a:xfrm>
                  <a:off x="2670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62" name="Freeform 724"/>
                <p:cNvSpPr>
                  <a:spLocks/>
                </p:cNvSpPr>
                <p:nvPr/>
              </p:nvSpPr>
              <p:spPr bwMode="auto">
                <a:xfrm>
                  <a:off x="2673" y="2087"/>
                  <a:ext cx="37" cy="6"/>
                </a:xfrm>
                <a:custGeom>
                  <a:avLst/>
                  <a:gdLst>
                    <a:gd name="T0" fmla="*/ 37 w 37"/>
                    <a:gd name="T1" fmla="*/ 2 h 6"/>
                    <a:gd name="T2" fmla="*/ 37 w 37"/>
                    <a:gd name="T3" fmla="*/ 0 h 6"/>
                    <a:gd name="T4" fmla="*/ 0 w 37"/>
                    <a:gd name="T5" fmla="*/ 0 h 6"/>
                    <a:gd name="T6" fmla="*/ 0 w 37"/>
                    <a:gd name="T7" fmla="*/ 6 h 6"/>
                    <a:gd name="T8" fmla="*/ 37 w 37"/>
                    <a:gd name="T9" fmla="*/ 6 h 6"/>
                    <a:gd name="T10" fmla="*/ 37 w 37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7"/>
                    <a:gd name="T19" fmla="*/ 0 h 6"/>
                    <a:gd name="T20" fmla="*/ 37 w 3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7" h="6">
                      <a:moveTo>
                        <a:pt x="37" y="2"/>
                      </a:moveTo>
                      <a:lnTo>
                        <a:pt x="3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7" y="6"/>
                      </a:lnTo>
                      <a:lnTo>
                        <a:pt x="37" y="2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63" name="Freeform 725"/>
                <p:cNvSpPr>
                  <a:spLocks/>
                </p:cNvSpPr>
                <p:nvPr/>
              </p:nvSpPr>
              <p:spPr bwMode="auto">
                <a:xfrm>
                  <a:off x="2710" y="2087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2 w 4"/>
                    <a:gd name="T3" fmla="*/ 5 h 6"/>
                    <a:gd name="T4" fmla="*/ 4 w 4"/>
                    <a:gd name="T5" fmla="*/ 2 h 6"/>
                    <a:gd name="T6" fmla="*/ 2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4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64" name="Freeform 726"/>
                <p:cNvSpPr>
                  <a:spLocks/>
                </p:cNvSpPr>
                <p:nvPr/>
              </p:nvSpPr>
              <p:spPr bwMode="auto">
                <a:xfrm>
                  <a:off x="2672" y="2087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2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65" name="Freeform 727"/>
                <p:cNvSpPr>
                  <a:spLocks/>
                </p:cNvSpPr>
                <p:nvPr/>
              </p:nvSpPr>
              <p:spPr bwMode="auto">
                <a:xfrm>
                  <a:off x="2674" y="2087"/>
                  <a:ext cx="34" cy="6"/>
                </a:xfrm>
                <a:custGeom>
                  <a:avLst/>
                  <a:gdLst>
                    <a:gd name="T0" fmla="*/ 34 w 34"/>
                    <a:gd name="T1" fmla="*/ 2 h 6"/>
                    <a:gd name="T2" fmla="*/ 34 w 34"/>
                    <a:gd name="T3" fmla="*/ 0 h 6"/>
                    <a:gd name="T4" fmla="*/ 0 w 34"/>
                    <a:gd name="T5" fmla="*/ 0 h 6"/>
                    <a:gd name="T6" fmla="*/ 0 w 34"/>
                    <a:gd name="T7" fmla="*/ 6 h 6"/>
                    <a:gd name="T8" fmla="*/ 34 w 34"/>
                    <a:gd name="T9" fmla="*/ 6 h 6"/>
                    <a:gd name="T10" fmla="*/ 34 w 34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4"/>
                    <a:gd name="T19" fmla="*/ 0 h 6"/>
                    <a:gd name="T20" fmla="*/ 34 w 3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4" h="6">
                      <a:moveTo>
                        <a:pt x="34" y="2"/>
                      </a:moveTo>
                      <a:lnTo>
                        <a:pt x="3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4" y="6"/>
                      </a:lnTo>
                      <a:lnTo>
                        <a:pt x="34" y="2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66" name="Freeform 728"/>
                <p:cNvSpPr>
                  <a:spLocks/>
                </p:cNvSpPr>
                <p:nvPr/>
              </p:nvSpPr>
              <p:spPr bwMode="auto">
                <a:xfrm>
                  <a:off x="2708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67" name="Freeform 729"/>
                <p:cNvSpPr>
                  <a:spLocks/>
                </p:cNvSpPr>
                <p:nvPr/>
              </p:nvSpPr>
              <p:spPr bwMode="auto">
                <a:xfrm>
                  <a:off x="2674" y="2087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2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68" name="Freeform 730"/>
                <p:cNvSpPr>
                  <a:spLocks/>
                </p:cNvSpPr>
                <p:nvPr/>
              </p:nvSpPr>
              <p:spPr bwMode="auto">
                <a:xfrm>
                  <a:off x="2676" y="2087"/>
                  <a:ext cx="31" cy="6"/>
                </a:xfrm>
                <a:custGeom>
                  <a:avLst/>
                  <a:gdLst>
                    <a:gd name="T0" fmla="*/ 31 w 31"/>
                    <a:gd name="T1" fmla="*/ 2 h 6"/>
                    <a:gd name="T2" fmla="*/ 31 w 31"/>
                    <a:gd name="T3" fmla="*/ 0 h 6"/>
                    <a:gd name="T4" fmla="*/ 0 w 31"/>
                    <a:gd name="T5" fmla="*/ 0 h 6"/>
                    <a:gd name="T6" fmla="*/ 0 w 31"/>
                    <a:gd name="T7" fmla="*/ 6 h 6"/>
                    <a:gd name="T8" fmla="*/ 31 w 31"/>
                    <a:gd name="T9" fmla="*/ 6 h 6"/>
                    <a:gd name="T10" fmla="*/ 31 w 31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1"/>
                    <a:gd name="T19" fmla="*/ 0 h 6"/>
                    <a:gd name="T20" fmla="*/ 31 w 3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1" h="6">
                      <a:moveTo>
                        <a:pt x="31" y="2"/>
                      </a:moveTo>
                      <a:lnTo>
                        <a:pt x="3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1" y="6"/>
                      </a:lnTo>
                      <a:lnTo>
                        <a:pt x="31" y="2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69" name="Freeform 731"/>
                <p:cNvSpPr>
                  <a:spLocks/>
                </p:cNvSpPr>
                <p:nvPr/>
              </p:nvSpPr>
              <p:spPr bwMode="auto">
                <a:xfrm>
                  <a:off x="2707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70" name="Freeform 732"/>
                <p:cNvSpPr>
                  <a:spLocks/>
                </p:cNvSpPr>
                <p:nvPr/>
              </p:nvSpPr>
              <p:spPr bwMode="auto">
                <a:xfrm>
                  <a:off x="2676" y="2087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2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71" name="Freeform 733"/>
                <p:cNvSpPr>
                  <a:spLocks/>
                </p:cNvSpPr>
                <p:nvPr/>
              </p:nvSpPr>
              <p:spPr bwMode="auto">
                <a:xfrm>
                  <a:off x="2678" y="2087"/>
                  <a:ext cx="27" cy="6"/>
                </a:xfrm>
                <a:custGeom>
                  <a:avLst/>
                  <a:gdLst>
                    <a:gd name="T0" fmla="*/ 27 w 27"/>
                    <a:gd name="T1" fmla="*/ 2 h 6"/>
                    <a:gd name="T2" fmla="*/ 27 w 27"/>
                    <a:gd name="T3" fmla="*/ 0 h 6"/>
                    <a:gd name="T4" fmla="*/ 0 w 27"/>
                    <a:gd name="T5" fmla="*/ 0 h 6"/>
                    <a:gd name="T6" fmla="*/ 0 w 27"/>
                    <a:gd name="T7" fmla="*/ 6 h 6"/>
                    <a:gd name="T8" fmla="*/ 27 w 27"/>
                    <a:gd name="T9" fmla="*/ 6 h 6"/>
                    <a:gd name="T10" fmla="*/ 27 w 27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7"/>
                    <a:gd name="T19" fmla="*/ 0 h 6"/>
                    <a:gd name="T20" fmla="*/ 27 w 2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7" h="6">
                      <a:moveTo>
                        <a:pt x="27" y="2"/>
                      </a:moveTo>
                      <a:lnTo>
                        <a:pt x="2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7" y="6"/>
                      </a:lnTo>
                      <a:lnTo>
                        <a:pt x="27" y="2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72" name="Freeform 734"/>
                <p:cNvSpPr>
                  <a:spLocks/>
                </p:cNvSpPr>
                <p:nvPr/>
              </p:nvSpPr>
              <p:spPr bwMode="auto">
                <a:xfrm>
                  <a:off x="2705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73" name="Freeform 735"/>
                <p:cNvSpPr>
                  <a:spLocks/>
                </p:cNvSpPr>
                <p:nvPr/>
              </p:nvSpPr>
              <p:spPr bwMode="auto">
                <a:xfrm>
                  <a:off x="2678" y="2087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2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74" name="Freeform 736"/>
                <p:cNvSpPr>
                  <a:spLocks/>
                </p:cNvSpPr>
                <p:nvPr/>
              </p:nvSpPr>
              <p:spPr bwMode="auto">
                <a:xfrm>
                  <a:off x="2680" y="2087"/>
                  <a:ext cx="24" cy="6"/>
                </a:xfrm>
                <a:custGeom>
                  <a:avLst/>
                  <a:gdLst>
                    <a:gd name="T0" fmla="*/ 24 w 24"/>
                    <a:gd name="T1" fmla="*/ 2 h 6"/>
                    <a:gd name="T2" fmla="*/ 24 w 24"/>
                    <a:gd name="T3" fmla="*/ 0 h 6"/>
                    <a:gd name="T4" fmla="*/ 0 w 24"/>
                    <a:gd name="T5" fmla="*/ 0 h 6"/>
                    <a:gd name="T6" fmla="*/ 0 w 24"/>
                    <a:gd name="T7" fmla="*/ 6 h 6"/>
                    <a:gd name="T8" fmla="*/ 24 w 24"/>
                    <a:gd name="T9" fmla="*/ 6 h 6"/>
                    <a:gd name="T10" fmla="*/ 24 w 24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4"/>
                    <a:gd name="T19" fmla="*/ 0 h 6"/>
                    <a:gd name="T20" fmla="*/ 24 w 2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4" h="6">
                      <a:moveTo>
                        <a:pt x="24" y="2"/>
                      </a:moveTo>
                      <a:lnTo>
                        <a:pt x="2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4" y="6"/>
                      </a:lnTo>
                      <a:lnTo>
                        <a:pt x="24" y="2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75" name="Freeform 737"/>
                <p:cNvSpPr>
                  <a:spLocks/>
                </p:cNvSpPr>
                <p:nvPr/>
              </p:nvSpPr>
              <p:spPr bwMode="auto">
                <a:xfrm>
                  <a:off x="2704" y="2087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2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76" name="Freeform 738"/>
                <p:cNvSpPr>
                  <a:spLocks/>
                </p:cNvSpPr>
                <p:nvPr/>
              </p:nvSpPr>
              <p:spPr bwMode="auto">
                <a:xfrm>
                  <a:off x="2680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0 w 3"/>
                    <a:gd name="T3" fmla="*/ 1 h 6"/>
                    <a:gd name="T4" fmla="*/ 0 w 3"/>
                    <a:gd name="T5" fmla="*/ 2 h 6"/>
                    <a:gd name="T6" fmla="*/ 0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77" name="Freeform 739"/>
                <p:cNvSpPr>
                  <a:spLocks/>
                </p:cNvSpPr>
                <p:nvPr/>
              </p:nvSpPr>
              <p:spPr bwMode="auto">
                <a:xfrm>
                  <a:off x="2683" y="2087"/>
                  <a:ext cx="19" cy="6"/>
                </a:xfrm>
                <a:custGeom>
                  <a:avLst/>
                  <a:gdLst>
                    <a:gd name="T0" fmla="*/ 19 w 19"/>
                    <a:gd name="T1" fmla="*/ 2 h 6"/>
                    <a:gd name="T2" fmla="*/ 19 w 19"/>
                    <a:gd name="T3" fmla="*/ 0 h 6"/>
                    <a:gd name="T4" fmla="*/ 0 w 19"/>
                    <a:gd name="T5" fmla="*/ 0 h 6"/>
                    <a:gd name="T6" fmla="*/ 0 w 19"/>
                    <a:gd name="T7" fmla="*/ 6 h 6"/>
                    <a:gd name="T8" fmla="*/ 19 w 19"/>
                    <a:gd name="T9" fmla="*/ 6 h 6"/>
                    <a:gd name="T10" fmla="*/ 19 w 19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6"/>
                    <a:gd name="T20" fmla="*/ 19 w 1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6">
                      <a:moveTo>
                        <a:pt x="19" y="2"/>
                      </a:moveTo>
                      <a:lnTo>
                        <a:pt x="1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9" y="6"/>
                      </a:lnTo>
                      <a:lnTo>
                        <a:pt x="19" y="2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78" name="Freeform 740"/>
                <p:cNvSpPr>
                  <a:spLocks/>
                </p:cNvSpPr>
                <p:nvPr/>
              </p:nvSpPr>
              <p:spPr bwMode="auto">
                <a:xfrm>
                  <a:off x="2702" y="2087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2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79" name="Freeform 741"/>
                <p:cNvSpPr>
                  <a:spLocks/>
                </p:cNvSpPr>
                <p:nvPr/>
              </p:nvSpPr>
              <p:spPr bwMode="auto">
                <a:xfrm>
                  <a:off x="2681" y="2087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2 w 4"/>
                    <a:gd name="T3" fmla="*/ 1 h 6"/>
                    <a:gd name="T4" fmla="*/ 0 w 4"/>
                    <a:gd name="T5" fmla="*/ 2 h 6"/>
                    <a:gd name="T6" fmla="*/ 2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2" y="1"/>
                      </a:lnTo>
                      <a:lnTo>
                        <a:pt x="0" y="2"/>
                      </a:lnTo>
                      <a:lnTo>
                        <a:pt x="2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80" name="Freeform 742"/>
                <p:cNvSpPr>
                  <a:spLocks/>
                </p:cNvSpPr>
                <p:nvPr/>
              </p:nvSpPr>
              <p:spPr bwMode="auto">
                <a:xfrm>
                  <a:off x="2685" y="2087"/>
                  <a:ext cx="15" cy="6"/>
                </a:xfrm>
                <a:custGeom>
                  <a:avLst/>
                  <a:gdLst>
                    <a:gd name="T0" fmla="*/ 15 w 15"/>
                    <a:gd name="T1" fmla="*/ 2 h 6"/>
                    <a:gd name="T2" fmla="*/ 15 w 15"/>
                    <a:gd name="T3" fmla="*/ 0 h 6"/>
                    <a:gd name="T4" fmla="*/ 0 w 15"/>
                    <a:gd name="T5" fmla="*/ 0 h 6"/>
                    <a:gd name="T6" fmla="*/ 0 w 15"/>
                    <a:gd name="T7" fmla="*/ 6 h 6"/>
                    <a:gd name="T8" fmla="*/ 15 w 15"/>
                    <a:gd name="T9" fmla="*/ 6 h 6"/>
                    <a:gd name="T10" fmla="*/ 15 w 15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5"/>
                    <a:gd name="T19" fmla="*/ 0 h 6"/>
                    <a:gd name="T20" fmla="*/ 15 w 15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5" h="6">
                      <a:moveTo>
                        <a:pt x="15" y="2"/>
                      </a:move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5" y="6"/>
                      </a:lnTo>
                      <a:lnTo>
                        <a:pt x="15" y="2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81" name="Freeform 743"/>
                <p:cNvSpPr>
                  <a:spLocks/>
                </p:cNvSpPr>
                <p:nvPr/>
              </p:nvSpPr>
              <p:spPr bwMode="auto">
                <a:xfrm>
                  <a:off x="2700" y="2087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2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82" name="Freeform 744"/>
                <p:cNvSpPr>
                  <a:spLocks/>
                </p:cNvSpPr>
                <p:nvPr/>
              </p:nvSpPr>
              <p:spPr bwMode="auto">
                <a:xfrm>
                  <a:off x="2684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83" name="Freeform 745"/>
                <p:cNvSpPr>
                  <a:spLocks/>
                </p:cNvSpPr>
                <p:nvPr/>
              </p:nvSpPr>
              <p:spPr bwMode="auto">
                <a:xfrm>
                  <a:off x="2687" y="2087"/>
                  <a:ext cx="11" cy="6"/>
                </a:xfrm>
                <a:custGeom>
                  <a:avLst/>
                  <a:gdLst>
                    <a:gd name="T0" fmla="*/ 11 w 11"/>
                    <a:gd name="T1" fmla="*/ 2 h 6"/>
                    <a:gd name="T2" fmla="*/ 11 w 11"/>
                    <a:gd name="T3" fmla="*/ 0 h 6"/>
                    <a:gd name="T4" fmla="*/ 0 w 11"/>
                    <a:gd name="T5" fmla="*/ 0 h 6"/>
                    <a:gd name="T6" fmla="*/ 0 w 11"/>
                    <a:gd name="T7" fmla="*/ 6 h 6"/>
                    <a:gd name="T8" fmla="*/ 11 w 11"/>
                    <a:gd name="T9" fmla="*/ 6 h 6"/>
                    <a:gd name="T10" fmla="*/ 11 w 11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1"/>
                    <a:gd name="T19" fmla="*/ 0 h 6"/>
                    <a:gd name="T20" fmla="*/ 11 w 1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1" h="6">
                      <a:moveTo>
                        <a:pt x="11" y="2"/>
                      </a:moveTo>
                      <a:lnTo>
                        <a:pt x="1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1" y="6"/>
                      </a:lnTo>
                      <a:lnTo>
                        <a:pt x="11" y="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84" name="Freeform 746"/>
                <p:cNvSpPr>
                  <a:spLocks/>
                </p:cNvSpPr>
                <p:nvPr/>
              </p:nvSpPr>
              <p:spPr bwMode="auto">
                <a:xfrm>
                  <a:off x="2698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85" name="Freeform 747"/>
                <p:cNvSpPr>
                  <a:spLocks/>
                </p:cNvSpPr>
                <p:nvPr/>
              </p:nvSpPr>
              <p:spPr bwMode="auto">
                <a:xfrm>
                  <a:off x="2686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86" name="Freeform 748"/>
                <p:cNvSpPr>
                  <a:spLocks/>
                </p:cNvSpPr>
                <p:nvPr/>
              </p:nvSpPr>
              <p:spPr bwMode="auto">
                <a:xfrm>
                  <a:off x="2689" y="2087"/>
                  <a:ext cx="6" cy="6"/>
                </a:xfrm>
                <a:custGeom>
                  <a:avLst/>
                  <a:gdLst>
                    <a:gd name="T0" fmla="*/ 6 w 6"/>
                    <a:gd name="T1" fmla="*/ 2 h 6"/>
                    <a:gd name="T2" fmla="*/ 6 w 6"/>
                    <a:gd name="T3" fmla="*/ 0 h 6"/>
                    <a:gd name="T4" fmla="*/ 0 w 6"/>
                    <a:gd name="T5" fmla="*/ 0 h 6"/>
                    <a:gd name="T6" fmla="*/ 0 w 6"/>
                    <a:gd name="T7" fmla="*/ 6 h 6"/>
                    <a:gd name="T8" fmla="*/ 6 w 6"/>
                    <a:gd name="T9" fmla="*/ 6 h 6"/>
                    <a:gd name="T10" fmla="*/ 6 w 6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"/>
                    <a:gd name="T19" fmla="*/ 0 h 6"/>
                    <a:gd name="T20" fmla="*/ 6 w 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" h="6">
                      <a:moveTo>
                        <a:pt x="6" y="2"/>
                      </a:move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6" y="6"/>
                      </a:lnTo>
                      <a:lnTo>
                        <a:pt x="6" y="2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87" name="Freeform 749"/>
                <p:cNvSpPr>
                  <a:spLocks/>
                </p:cNvSpPr>
                <p:nvPr/>
              </p:nvSpPr>
              <p:spPr bwMode="auto">
                <a:xfrm>
                  <a:off x="2695" y="2087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2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2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88" name="Freeform 750"/>
                <p:cNvSpPr>
                  <a:spLocks/>
                </p:cNvSpPr>
                <p:nvPr/>
              </p:nvSpPr>
              <p:spPr bwMode="auto">
                <a:xfrm>
                  <a:off x="2688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89" name="Freeform 751"/>
                <p:cNvSpPr>
                  <a:spLocks/>
                </p:cNvSpPr>
                <p:nvPr/>
              </p:nvSpPr>
              <p:spPr bwMode="auto">
                <a:xfrm>
                  <a:off x="2691" y="2087"/>
                  <a:ext cx="2" cy="6"/>
                </a:xfrm>
                <a:custGeom>
                  <a:avLst/>
                  <a:gdLst>
                    <a:gd name="T0" fmla="*/ 2 w 2"/>
                    <a:gd name="T1" fmla="*/ 2 h 6"/>
                    <a:gd name="T2" fmla="*/ 2 w 2"/>
                    <a:gd name="T3" fmla="*/ 0 h 6"/>
                    <a:gd name="T4" fmla="*/ 0 w 2"/>
                    <a:gd name="T5" fmla="*/ 0 h 6"/>
                    <a:gd name="T6" fmla="*/ 0 w 2"/>
                    <a:gd name="T7" fmla="*/ 6 h 6"/>
                    <a:gd name="T8" fmla="*/ 2 w 2"/>
                    <a:gd name="T9" fmla="*/ 6 h 6"/>
                    <a:gd name="T10" fmla="*/ 2 w 2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2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2" y="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90" name="Freeform 752"/>
                <p:cNvSpPr>
                  <a:spLocks/>
                </p:cNvSpPr>
                <p:nvPr/>
              </p:nvSpPr>
              <p:spPr bwMode="auto">
                <a:xfrm>
                  <a:off x="2693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91" name="Freeform 753"/>
                <p:cNvSpPr>
                  <a:spLocks/>
                </p:cNvSpPr>
                <p:nvPr/>
              </p:nvSpPr>
              <p:spPr bwMode="auto">
                <a:xfrm>
                  <a:off x="2662" y="2099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1 w 3"/>
                    <a:gd name="T3" fmla="*/ 1 h 5"/>
                    <a:gd name="T4" fmla="*/ 0 w 3"/>
                    <a:gd name="T5" fmla="*/ 2 h 5"/>
                    <a:gd name="T6" fmla="*/ 1 w 3"/>
                    <a:gd name="T7" fmla="*/ 4 h 5"/>
                    <a:gd name="T8" fmla="*/ 3 w 3"/>
                    <a:gd name="T9" fmla="*/ 5 h 5"/>
                    <a:gd name="T10" fmla="*/ 3 w 3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4"/>
                      </a:lnTo>
                      <a:lnTo>
                        <a:pt x="3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92" name="Freeform 754"/>
                <p:cNvSpPr>
                  <a:spLocks/>
                </p:cNvSpPr>
                <p:nvPr/>
              </p:nvSpPr>
              <p:spPr bwMode="auto">
                <a:xfrm>
                  <a:off x="2665" y="2099"/>
                  <a:ext cx="53" cy="5"/>
                </a:xfrm>
                <a:custGeom>
                  <a:avLst/>
                  <a:gdLst>
                    <a:gd name="T0" fmla="*/ 53 w 53"/>
                    <a:gd name="T1" fmla="*/ 2 h 5"/>
                    <a:gd name="T2" fmla="*/ 53 w 53"/>
                    <a:gd name="T3" fmla="*/ 0 h 5"/>
                    <a:gd name="T4" fmla="*/ 0 w 53"/>
                    <a:gd name="T5" fmla="*/ 0 h 5"/>
                    <a:gd name="T6" fmla="*/ 0 w 53"/>
                    <a:gd name="T7" fmla="*/ 5 h 5"/>
                    <a:gd name="T8" fmla="*/ 53 w 53"/>
                    <a:gd name="T9" fmla="*/ 5 h 5"/>
                    <a:gd name="T10" fmla="*/ 53 w 53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3"/>
                    <a:gd name="T19" fmla="*/ 0 h 5"/>
                    <a:gd name="T20" fmla="*/ 53 w 5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3" h="5">
                      <a:moveTo>
                        <a:pt x="53" y="2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53" y="5"/>
                      </a:lnTo>
                      <a:lnTo>
                        <a:pt x="53" y="2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93" name="Freeform 755"/>
                <p:cNvSpPr>
                  <a:spLocks/>
                </p:cNvSpPr>
                <p:nvPr/>
              </p:nvSpPr>
              <p:spPr bwMode="auto">
                <a:xfrm>
                  <a:off x="2718" y="2099"/>
                  <a:ext cx="3" cy="5"/>
                </a:xfrm>
                <a:custGeom>
                  <a:avLst/>
                  <a:gdLst>
                    <a:gd name="T0" fmla="*/ 0 w 3"/>
                    <a:gd name="T1" fmla="*/ 5 h 5"/>
                    <a:gd name="T2" fmla="*/ 2 w 3"/>
                    <a:gd name="T3" fmla="*/ 4 h 5"/>
                    <a:gd name="T4" fmla="*/ 3 w 3"/>
                    <a:gd name="T5" fmla="*/ 2 h 5"/>
                    <a:gd name="T6" fmla="*/ 2 w 3"/>
                    <a:gd name="T7" fmla="*/ 1 h 5"/>
                    <a:gd name="T8" fmla="*/ 0 w 3"/>
                    <a:gd name="T9" fmla="*/ 0 h 5"/>
                    <a:gd name="T10" fmla="*/ 0 w 3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0" y="5"/>
                      </a:moveTo>
                      <a:lnTo>
                        <a:pt x="2" y="4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94" name="Freeform 756"/>
                <p:cNvSpPr>
                  <a:spLocks/>
                </p:cNvSpPr>
                <p:nvPr/>
              </p:nvSpPr>
              <p:spPr bwMode="auto">
                <a:xfrm>
                  <a:off x="2664" y="2099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0 w 3"/>
                    <a:gd name="T3" fmla="*/ 1 h 5"/>
                    <a:gd name="T4" fmla="*/ 0 w 3"/>
                    <a:gd name="T5" fmla="*/ 2 h 5"/>
                    <a:gd name="T6" fmla="*/ 0 w 3"/>
                    <a:gd name="T7" fmla="*/ 4 h 5"/>
                    <a:gd name="T8" fmla="*/ 3 w 3"/>
                    <a:gd name="T9" fmla="*/ 5 h 5"/>
                    <a:gd name="T10" fmla="*/ 3 w 3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3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4"/>
                      </a:lnTo>
                      <a:lnTo>
                        <a:pt x="3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95" name="Freeform 757"/>
                <p:cNvSpPr>
                  <a:spLocks/>
                </p:cNvSpPr>
                <p:nvPr/>
              </p:nvSpPr>
              <p:spPr bwMode="auto">
                <a:xfrm>
                  <a:off x="2667" y="2099"/>
                  <a:ext cx="49" cy="5"/>
                </a:xfrm>
                <a:custGeom>
                  <a:avLst/>
                  <a:gdLst>
                    <a:gd name="T0" fmla="*/ 49 w 49"/>
                    <a:gd name="T1" fmla="*/ 2 h 5"/>
                    <a:gd name="T2" fmla="*/ 49 w 49"/>
                    <a:gd name="T3" fmla="*/ 0 h 5"/>
                    <a:gd name="T4" fmla="*/ 0 w 49"/>
                    <a:gd name="T5" fmla="*/ 0 h 5"/>
                    <a:gd name="T6" fmla="*/ 0 w 49"/>
                    <a:gd name="T7" fmla="*/ 5 h 5"/>
                    <a:gd name="T8" fmla="*/ 49 w 49"/>
                    <a:gd name="T9" fmla="*/ 5 h 5"/>
                    <a:gd name="T10" fmla="*/ 49 w 49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9"/>
                    <a:gd name="T19" fmla="*/ 0 h 5"/>
                    <a:gd name="T20" fmla="*/ 49 w 49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9" h="5">
                      <a:moveTo>
                        <a:pt x="49" y="2"/>
                      </a:moveTo>
                      <a:lnTo>
                        <a:pt x="49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49" y="5"/>
                      </a:lnTo>
                      <a:lnTo>
                        <a:pt x="49" y="2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96" name="Freeform 758"/>
                <p:cNvSpPr>
                  <a:spLocks/>
                </p:cNvSpPr>
                <p:nvPr/>
              </p:nvSpPr>
              <p:spPr bwMode="auto">
                <a:xfrm>
                  <a:off x="2716" y="2099"/>
                  <a:ext cx="3" cy="5"/>
                </a:xfrm>
                <a:custGeom>
                  <a:avLst/>
                  <a:gdLst>
                    <a:gd name="T0" fmla="*/ 0 w 3"/>
                    <a:gd name="T1" fmla="*/ 5 h 5"/>
                    <a:gd name="T2" fmla="*/ 2 w 3"/>
                    <a:gd name="T3" fmla="*/ 4 h 5"/>
                    <a:gd name="T4" fmla="*/ 3 w 3"/>
                    <a:gd name="T5" fmla="*/ 2 h 5"/>
                    <a:gd name="T6" fmla="*/ 2 w 3"/>
                    <a:gd name="T7" fmla="*/ 1 h 5"/>
                    <a:gd name="T8" fmla="*/ 0 w 3"/>
                    <a:gd name="T9" fmla="*/ 0 h 5"/>
                    <a:gd name="T10" fmla="*/ 0 w 3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0" y="5"/>
                      </a:moveTo>
                      <a:lnTo>
                        <a:pt x="2" y="4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97" name="Freeform 759"/>
                <p:cNvSpPr>
                  <a:spLocks/>
                </p:cNvSpPr>
                <p:nvPr/>
              </p:nvSpPr>
              <p:spPr bwMode="auto">
                <a:xfrm>
                  <a:off x="2667" y="2099"/>
                  <a:ext cx="2" cy="5"/>
                </a:xfrm>
                <a:custGeom>
                  <a:avLst/>
                  <a:gdLst>
                    <a:gd name="T0" fmla="*/ 2 w 2"/>
                    <a:gd name="T1" fmla="*/ 0 h 5"/>
                    <a:gd name="T2" fmla="*/ 0 w 2"/>
                    <a:gd name="T3" fmla="*/ 1 h 5"/>
                    <a:gd name="T4" fmla="*/ 0 w 2"/>
                    <a:gd name="T5" fmla="*/ 2 h 5"/>
                    <a:gd name="T6" fmla="*/ 0 w 2"/>
                    <a:gd name="T7" fmla="*/ 4 h 5"/>
                    <a:gd name="T8" fmla="*/ 2 w 2"/>
                    <a:gd name="T9" fmla="*/ 5 h 5"/>
                    <a:gd name="T10" fmla="*/ 2 w 2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5"/>
                    <a:gd name="T20" fmla="*/ 2 w 2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5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4"/>
                      </a:lnTo>
                      <a:lnTo>
                        <a:pt x="2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98" name="Freeform 760"/>
                <p:cNvSpPr>
                  <a:spLocks/>
                </p:cNvSpPr>
                <p:nvPr/>
              </p:nvSpPr>
              <p:spPr bwMode="auto">
                <a:xfrm>
                  <a:off x="2669" y="2099"/>
                  <a:ext cx="46" cy="5"/>
                </a:xfrm>
                <a:custGeom>
                  <a:avLst/>
                  <a:gdLst>
                    <a:gd name="T0" fmla="*/ 46 w 46"/>
                    <a:gd name="T1" fmla="*/ 2 h 5"/>
                    <a:gd name="T2" fmla="*/ 46 w 46"/>
                    <a:gd name="T3" fmla="*/ 0 h 5"/>
                    <a:gd name="T4" fmla="*/ 0 w 46"/>
                    <a:gd name="T5" fmla="*/ 0 h 5"/>
                    <a:gd name="T6" fmla="*/ 0 w 46"/>
                    <a:gd name="T7" fmla="*/ 5 h 5"/>
                    <a:gd name="T8" fmla="*/ 46 w 46"/>
                    <a:gd name="T9" fmla="*/ 5 h 5"/>
                    <a:gd name="T10" fmla="*/ 46 w 46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6"/>
                    <a:gd name="T19" fmla="*/ 0 h 5"/>
                    <a:gd name="T20" fmla="*/ 46 w 46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6" h="5">
                      <a:moveTo>
                        <a:pt x="46" y="2"/>
                      </a:moveTo>
                      <a:lnTo>
                        <a:pt x="46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46" y="5"/>
                      </a:lnTo>
                      <a:lnTo>
                        <a:pt x="46" y="2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999" name="Freeform 761"/>
                <p:cNvSpPr>
                  <a:spLocks/>
                </p:cNvSpPr>
                <p:nvPr/>
              </p:nvSpPr>
              <p:spPr bwMode="auto">
                <a:xfrm>
                  <a:off x="2715" y="2099"/>
                  <a:ext cx="2" cy="5"/>
                </a:xfrm>
                <a:custGeom>
                  <a:avLst/>
                  <a:gdLst>
                    <a:gd name="T0" fmla="*/ 0 w 2"/>
                    <a:gd name="T1" fmla="*/ 5 h 5"/>
                    <a:gd name="T2" fmla="*/ 2 w 2"/>
                    <a:gd name="T3" fmla="*/ 4 h 5"/>
                    <a:gd name="T4" fmla="*/ 2 w 2"/>
                    <a:gd name="T5" fmla="*/ 2 h 5"/>
                    <a:gd name="T6" fmla="*/ 2 w 2"/>
                    <a:gd name="T7" fmla="*/ 1 h 5"/>
                    <a:gd name="T8" fmla="*/ 0 w 2"/>
                    <a:gd name="T9" fmla="*/ 0 h 5"/>
                    <a:gd name="T10" fmla="*/ 0 w 2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5"/>
                    <a:gd name="T20" fmla="*/ 2 w 2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5">
                      <a:moveTo>
                        <a:pt x="0" y="5"/>
                      </a:move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00" name="Freeform 762"/>
                <p:cNvSpPr>
                  <a:spLocks/>
                </p:cNvSpPr>
                <p:nvPr/>
              </p:nvSpPr>
              <p:spPr bwMode="auto">
                <a:xfrm>
                  <a:off x="2668" y="2099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1 w 3"/>
                    <a:gd name="T3" fmla="*/ 1 h 5"/>
                    <a:gd name="T4" fmla="*/ 0 w 3"/>
                    <a:gd name="T5" fmla="*/ 2 h 5"/>
                    <a:gd name="T6" fmla="*/ 1 w 3"/>
                    <a:gd name="T7" fmla="*/ 4 h 5"/>
                    <a:gd name="T8" fmla="*/ 3 w 3"/>
                    <a:gd name="T9" fmla="*/ 5 h 5"/>
                    <a:gd name="T10" fmla="*/ 3 w 3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4"/>
                      </a:lnTo>
                      <a:lnTo>
                        <a:pt x="3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01" name="Freeform 763"/>
                <p:cNvSpPr>
                  <a:spLocks/>
                </p:cNvSpPr>
                <p:nvPr/>
              </p:nvSpPr>
              <p:spPr bwMode="auto">
                <a:xfrm>
                  <a:off x="2671" y="2099"/>
                  <a:ext cx="41" cy="5"/>
                </a:xfrm>
                <a:custGeom>
                  <a:avLst/>
                  <a:gdLst>
                    <a:gd name="T0" fmla="*/ 41 w 41"/>
                    <a:gd name="T1" fmla="*/ 2 h 5"/>
                    <a:gd name="T2" fmla="*/ 41 w 41"/>
                    <a:gd name="T3" fmla="*/ 0 h 5"/>
                    <a:gd name="T4" fmla="*/ 0 w 41"/>
                    <a:gd name="T5" fmla="*/ 0 h 5"/>
                    <a:gd name="T6" fmla="*/ 0 w 41"/>
                    <a:gd name="T7" fmla="*/ 5 h 5"/>
                    <a:gd name="T8" fmla="*/ 41 w 41"/>
                    <a:gd name="T9" fmla="*/ 5 h 5"/>
                    <a:gd name="T10" fmla="*/ 41 w 41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1"/>
                    <a:gd name="T19" fmla="*/ 0 h 5"/>
                    <a:gd name="T20" fmla="*/ 41 w 41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1" h="5">
                      <a:moveTo>
                        <a:pt x="41" y="2"/>
                      </a:move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41" y="5"/>
                      </a:lnTo>
                      <a:lnTo>
                        <a:pt x="41" y="2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02" name="Freeform 764"/>
                <p:cNvSpPr>
                  <a:spLocks/>
                </p:cNvSpPr>
                <p:nvPr/>
              </p:nvSpPr>
              <p:spPr bwMode="auto">
                <a:xfrm>
                  <a:off x="2712" y="2099"/>
                  <a:ext cx="4" cy="5"/>
                </a:xfrm>
                <a:custGeom>
                  <a:avLst/>
                  <a:gdLst>
                    <a:gd name="T0" fmla="*/ 0 w 4"/>
                    <a:gd name="T1" fmla="*/ 5 h 5"/>
                    <a:gd name="T2" fmla="*/ 3 w 4"/>
                    <a:gd name="T3" fmla="*/ 4 h 5"/>
                    <a:gd name="T4" fmla="*/ 4 w 4"/>
                    <a:gd name="T5" fmla="*/ 2 h 5"/>
                    <a:gd name="T6" fmla="*/ 3 w 4"/>
                    <a:gd name="T7" fmla="*/ 1 h 5"/>
                    <a:gd name="T8" fmla="*/ 0 w 4"/>
                    <a:gd name="T9" fmla="*/ 0 h 5"/>
                    <a:gd name="T10" fmla="*/ 0 w 4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5"/>
                    <a:gd name="T20" fmla="*/ 4 w 4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5">
                      <a:moveTo>
                        <a:pt x="0" y="5"/>
                      </a:moveTo>
                      <a:lnTo>
                        <a:pt x="3" y="4"/>
                      </a:lnTo>
                      <a:lnTo>
                        <a:pt x="4" y="2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03" name="Freeform 765"/>
                <p:cNvSpPr>
                  <a:spLocks/>
                </p:cNvSpPr>
                <p:nvPr/>
              </p:nvSpPr>
              <p:spPr bwMode="auto">
                <a:xfrm>
                  <a:off x="2670" y="2099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1 w 3"/>
                    <a:gd name="T3" fmla="*/ 1 h 5"/>
                    <a:gd name="T4" fmla="*/ 0 w 3"/>
                    <a:gd name="T5" fmla="*/ 2 h 5"/>
                    <a:gd name="T6" fmla="*/ 1 w 3"/>
                    <a:gd name="T7" fmla="*/ 4 h 5"/>
                    <a:gd name="T8" fmla="*/ 3 w 3"/>
                    <a:gd name="T9" fmla="*/ 5 h 5"/>
                    <a:gd name="T10" fmla="*/ 3 w 3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4"/>
                      </a:lnTo>
                      <a:lnTo>
                        <a:pt x="3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04" name="Freeform 766"/>
                <p:cNvSpPr>
                  <a:spLocks/>
                </p:cNvSpPr>
                <p:nvPr/>
              </p:nvSpPr>
              <p:spPr bwMode="auto">
                <a:xfrm>
                  <a:off x="2673" y="2099"/>
                  <a:ext cx="37" cy="5"/>
                </a:xfrm>
                <a:custGeom>
                  <a:avLst/>
                  <a:gdLst>
                    <a:gd name="T0" fmla="*/ 37 w 37"/>
                    <a:gd name="T1" fmla="*/ 2 h 5"/>
                    <a:gd name="T2" fmla="*/ 37 w 37"/>
                    <a:gd name="T3" fmla="*/ 0 h 5"/>
                    <a:gd name="T4" fmla="*/ 0 w 37"/>
                    <a:gd name="T5" fmla="*/ 0 h 5"/>
                    <a:gd name="T6" fmla="*/ 0 w 37"/>
                    <a:gd name="T7" fmla="*/ 5 h 5"/>
                    <a:gd name="T8" fmla="*/ 37 w 37"/>
                    <a:gd name="T9" fmla="*/ 5 h 5"/>
                    <a:gd name="T10" fmla="*/ 37 w 37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7"/>
                    <a:gd name="T19" fmla="*/ 0 h 5"/>
                    <a:gd name="T20" fmla="*/ 37 w 37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7" h="5">
                      <a:moveTo>
                        <a:pt x="37" y="2"/>
                      </a:moveTo>
                      <a:lnTo>
                        <a:pt x="37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37" y="5"/>
                      </a:lnTo>
                      <a:lnTo>
                        <a:pt x="37" y="2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05" name="Freeform 767"/>
                <p:cNvSpPr>
                  <a:spLocks/>
                </p:cNvSpPr>
                <p:nvPr/>
              </p:nvSpPr>
              <p:spPr bwMode="auto">
                <a:xfrm>
                  <a:off x="2710" y="2099"/>
                  <a:ext cx="4" cy="5"/>
                </a:xfrm>
                <a:custGeom>
                  <a:avLst/>
                  <a:gdLst>
                    <a:gd name="T0" fmla="*/ 0 w 4"/>
                    <a:gd name="T1" fmla="*/ 5 h 5"/>
                    <a:gd name="T2" fmla="*/ 2 w 4"/>
                    <a:gd name="T3" fmla="*/ 4 h 5"/>
                    <a:gd name="T4" fmla="*/ 4 w 4"/>
                    <a:gd name="T5" fmla="*/ 2 h 5"/>
                    <a:gd name="T6" fmla="*/ 2 w 4"/>
                    <a:gd name="T7" fmla="*/ 1 h 5"/>
                    <a:gd name="T8" fmla="*/ 0 w 4"/>
                    <a:gd name="T9" fmla="*/ 0 h 5"/>
                    <a:gd name="T10" fmla="*/ 0 w 4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5"/>
                    <a:gd name="T20" fmla="*/ 4 w 4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5">
                      <a:moveTo>
                        <a:pt x="0" y="5"/>
                      </a:move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06" name="Freeform 768"/>
                <p:cNvSpPr>
                  <a:spLocks/>
                </p:cNvSpPr>
                <p:nvPr/>
              </p:nvSpPr>
              <p:spPr bwMode="auto">
                <a:xfrm>
                  <a:off x="2672" y="2099"/>
                  <a:ext cx="2" cy="5"/>
                </a:xfrm>
                <a:custGeom>
                  <a:avLst/>
                  <a:gdLst>
                    <a:gd name="T0" fmla="*/ 2 w 2"/>
                    <a:gd name="T1" fmla="*/ 0 h 5"/>
                    <a:gd name="T2" fmla="*/ 0 w 2"/>
                    <a:gd name="T3" fmla="*/ 1 h 5"/>
                    <a:gd name="T4" fmla="*/ 0 w 2"/>
                    <a:gd name="T5" fmla="*/ 2 h 5"/>
                    <a:gd name="T6" fmla="*/ 0 w 2"/>
                    <a:gd name="T7" fmla="*/ 4 h 5"/>
                    <a:gd name="T8" fmla="*/ 2 w 2"/>
                    <a:gd name="T9" fmla="*/ 5 h 5"/>
                    <a:gd name="T10" fmla="*/ 2 w 2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5"/>
                    <a:gd name="T20" fmla="*/ 2 w 2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5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4"/>
                      </a:lnTo>
                      <a:lnTo>
                        <a:pt x="2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7672" name="Freeform 769"/>
              <p:cNvSpPr>
                <a:spLocks/>
              </p:cNvSpPr>
              <p:nvPr/>
            </p:nvSpPr>
            <p:spPr bwMode="auto">
              <a:xfrm>
                <a:off x="2674" y="2099"/>
                <a:ext cx="34" cy="5"/>
              </a:xfrm>
              <a:custGeom>
                <a:avLst/>
                <a:gdLst>
                  <a:gd name="T0" fmla="*/ 34 w 34"/>
                  <a:gd name="T1" fmla="*/ 2 h 5"/>
                  <a:gd name="T2" fmla="*/ 34 w 34"/>
                  <a:gd name="T3" fmla="*/ 0 h 5"/>
                  <a:gd name="T4" fmla="*/ 0 w 34"/>
                  <a:gd name="T5" fmla="*/ 0 h 5"/>
                  <a:gd name="T6" fmla="*/ 0 w 34"/>
                  <a:gd name="T7" fmla="*/ 5 h 5"/>
                  <a:gd name="T8" fmla="*/ 34 w 34"/>
                  <a:gd name="T9" fmla="*/ 5 h 5"/>
                  <a:gd name="T10" fmla="*/ 34 w 34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4"/>
                  <a:gd name="T19" fmla="*/ 0 h 5"/>
                  <a:gd name="T20" fmla="*/ 34 w 34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4" h="5">
                    <a:moveTo>
                      <a:pt x="34" y="2"/>
                    </a:moveTo>
                    <a:lnTo>
                      <a:pt x="34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34" y="5"/>
                    </a:lnTo>
                    <a:lnTo>
                      <a:pt x="34" y="2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73" name="Freeform 770"/>
              <p:cNvSpPr>
                <a:spLocks/>
              </p:cNvSpPr>
              <p:nvPr/>
            </p:nvSpPr>
            <p:spPr bwMode="auto">
              <a:xfrm>
                <a:off x="2708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74" name="Freeform 771"/>
              <p:cNvSpPr>
                <a:spLocks/>
              </p:cNvSpPr>
              <p:nvPr/>
            </p:nvSpPr>
            <p:spPr bwMode="auto">
              <a:xfrm>
                <a:off x="2674" y="2099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0 w 2"/>
                  <a:gd name="T3" fmla="*/ 1 h 5"/>
                  <a:gd name="T4" fmla="*/ 0 w 2"/>
                  <a:gd name="T5" fmla="*/ 2 h 5"/>
                  <a:gd name="T6" fmla="*/ 0 w 2"/>
                  <a:gd name="T7" fmla="*/ 4 h 5"/>
                  <a:gd name="T8" fmla="*/ 2 w 2"/>
                  <a:gd name="T9" fmla="*/ 5 h 5"/>
                  <a:gd name="T10" fmla="*/ 2 w 2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5"/>
                  <a:gd name="T20" fmla="*/ 2 w 2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5">
                    <a:moveTo>
                      <a:pt x="2" y="0"/>
                    </a:moveTo>
                    <a:lnTo>
                      <a:pt x="0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75" name="Freeform 772"/>
              <p:cNvSpPr>
                <a:spLocks/>
              </p:cNvSpPr>
              <p:nvPr/>
            </p:nvSpPr>
            <p:spPr bwMode="auto">
              <a:xfrm>
                <a:off x="2676" y="2099"/>
                <a:ext cx="31" cy="5"/>
              </a:xfrm>
              <a:custGeom>
                <a:avLst/>
                <a:gdLst>
                  <a:gd name="T0" fmla="*/ 31 w 31"/>
                  <a:gd name="T1" fmla="*/ 2 h 5"/>
                  <a:gd name="T2" fmla="*/ 31 w 31"/>
                  <a:gd name="T3" fmla="*/ 0 h 5"/>
                  <a:gd name="T4" fmla="*/ 0 w 31"/>
                  <a:gd name="T5" fmla="*/ 0 h 5"/>
                  <a:gd name="T6" fmla="*/ 0 w 31"/>
                  <a:gd name="T7" fmla="*/ 5 h 5"/>
                  <a:gd name="T8" fmla="*/ 31 w 31"/>
                  <a:gd name="T9" fmla="*/ 5 h 5"/>
                  <a:gd name="T10" fmla="*/ 31 w 31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5"/>
                  <a:gd name="T20" fmla="*/ 31 w 31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5">
                    <a:moveTo>
                      <a:pt x="31" y="2"/>
                    </a:moveTo>
                    <a:lnTo>
                      <a:pt x="31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31" y="5"/>
                    </a:lnTo>
                    <a:lnTo>
                      <a:pt x="31" y="2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76" name="Freeform 773"/>
              <p:cNvSpPr>
                <a:spLocks/>
              </p:cNvSpPr>
              <p:nvPr/>
            </p:nvSpPr>
            <p:spPr bwMode="auto">
              <a:xfrm>
                <a:off x="2707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77" name="Freeform 774"/>
              <p:cNvSpPr>
                <a:spLocks/>
              </p:cNvSpPr>
              <p:nvPr/>
            </p:nvSpPr>
            <p:spPr bwMode="auto">
              <a:xfrm>
                <a:off x="2676" y="2099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0 w 2"/>
                  <a:gd name="T3" fmla="*/ 1 h 5"/>
                  <a:gd name="T4" fmla="*/ 0 w 2"/>
                  <a:gd name="T5" fmla="*/ 2 h 5"/>
                  <a:gd name="T6" fmla="*/ 0 w 2"/>
                  <a:gd name="T7" fmla="*/ 4 h 5"/>
                  <a:gd name="T8" fmla="*/ 2 w 2"/>
                  <a:gd name="T9" fmla="*/ 5 h 5"/>
                  <a:gd name="T10" fmla="*/ 2 w 2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5"/>
                  <a:gd name="T20" fmla="*/ 2 w 2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5">
                    <a:moveTo>
                      <a:pt x="2" y="0"/>
                    </a:moveTo>
                    <a:lnTo>
                      <a:pt x="0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78" name="Freeform 775"/>
              <p:cNvSpPr>
                <a:spLocks/>
              </p:cNvSpPr>
              <p:nvPr/>
            </p:nvSpPr>
            <p:spPr bwMode="auto">
              <a:xfrm>
                <a:off x="2678" y="2099"/>
                <a:ext cx="27" cy="5"/>
              </a:xfrm>
              <a:custGeom>
                <a:avLst/>
                <a:gdLst>
                  <a:gd name="T0" fmla="*/ 27 w 27"/>
                  <a:gd name="T1" fmla="*/ 2 h 5"/>
                  <a:gd name="T2" fmla="*/ 27 w 27"/>
                  <a:gd name="T3" fmla="*/ 0 h 5"/>
                  <a:gd name="T4" fmla="*/ 0 w 27"/>
                  <a:gd name="T5" fmla="*/ 0 h 5"/>
                  <a:gd name="T6" fmla="*/ 0 w 27"/>
                  <a:gd name="T7" fmla="*/ 5 h 5"/>
                  <a:gd name="T8" fmla="*/ 27 w 27"/>
                  <a:gd name="T9" fmla="*/ 5 h 5"/>
                  <a:gd name="T10" fmla="*/ 27 w 27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7"/>
                  <a:gd name="T19" fmla="*/ 0 h 5"/>
                  <a:gd name="T20" fmla="*/ 27 w 27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7" h="5">
                    <a:moveTo>
                      <a:pt x="27" y="2"/>
                    </a:moveTo>
                    <a:lnTo>
                      <a:pt x="2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27" y="5"/>
                    </a:lnTo>
                    <a:lnTo>
                      <a:pt x="27" y="2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79" name="Freeform 776"/>
              <p:cNvSpPr>
                <a:spLocks/>
              </p:cNvSpPr>
              <p:nvPr/>
            </p:nvSpPr>
            <p:spPr bwMode="auto">
              <a:xfrm>
                <a:off x="2705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80" name="Freeform 777"/>
              <p:cNvSpPr>
                <a:spLocks/>
              </p:cNvSpPr>
              <p:nvPr/>
            </p:nvSpPr>
            <p:spPr bwMode="auto">
              <a:xfrm>
                <a:off x="2678" y="2099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0 w 2"/>
                  <a:gd name="T3" fmla="*/ 1 h 5"/>
                  <a:gd name="T4" fmla="*/ 0 w 2"/>
                  <a:gd name="T5" fmla="*/ 2 h 5"/>
                  <a:gd name="T6" fmla="*/ 0 w 2"/>
                  <a:gd name="T7" fmla="*/ 4 h 5"/>
                  <a:gd name="T8" fmla="*/ 2 w 2"/>
                  <a:gd name="T9" fmla="*/ 5 h 5"/>
                  <a:gd name="T10" fmla="*/ 2 w 2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5"/>
                  <a:gd name="T20" fmla="*/ 2 w 2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5">
                    <a:moveTo>
                      <a:pt x="2" y="0"/>
                    </a:moveTo>
                    <a:lnTo>
                      <a:pt x="0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81" name="Freeform 778"/>
              <p:cNvSpPr>
                <a:spLocks/>
              </p:cNvSpPr>
              <p:nvPr/>
            </p:nvSpPr>
            <p:spPr bwMode="auto">
              <a:xfrm>
                <a:off x="2680" y="2099"/>
                <a:ext cx="23" cy="5"/>
              </a:xfrm>
              <a:custGeom>
                <a:avLst/>
                <a:gdLst>
                  <a:gd name="T0" fmla="*/ 23 w 23"/>
                  <a:gd name="T1" fmla="*/ 2 h 5"/>
                  <a:gd name="T2" fmla="*/ 23 w 23"/>
                  <a:gd name="T3" fmla="*/ 0 h 5"/>
                  <a:gd name="T4" fmla="*/ 0 w 23"/>
                  <a:gd name="T5" fmla="*/ 0 h 5"/>
                  <a:gd name="T6" fmla="*/ 0 w 23"/>
                  <a:gd name="T7" fmla="*/ 5 h 5"/>
                  <a:gd name="T8" fmla="*/ 23 w 23"/>
                  <a:gd name="T9" fmla="*/ 5 h 5"/>
                  <a:gd name="T10" fmla="*/ 23 w 23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"/>
                  <a:gd name="T19" fmla="*/ 0 h 5"/>
                  <a:gd name="T20" fmla="*/ 23 w 2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" h="5">
                    <a:moveTo>
                      <a:pt x="23" y="2"/>
                    </a:moveTo>
                    <a:lnTo>
                      <a:pt x="23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23" y="5"/>
                    </a:lnTo>
                    <a:lnTo>
                      <a:pt x="23" y="2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82" name="Freeform 779"/>
              <p:cNvSpPr>
                <a:spLocks/>
              </p:cNvSpPr>
              <p:nvPr/>
            </p:nvSpPr>
            <p:spPr bwMode="auto">
              <a:xfrm>
                <a:off x="2703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83" name="Freeform 780"/>
              <p:cNvSpPr>
                <a:spLocks/>
              </p:cNvSpPr>
              <p:nvPr/>
            </p:nvSpPr>
            <p:spPr bwMode="auto">
              <a:xfrm>
                <a:off x="2680" y="2099"/>
                <a:ext cx="3" cy="5"/>
              </a:xfrm>
              <a:custGeom>
                <a:avLst/>
                <a:gdLst>
                  <a:gd name="T0" fmla="*/ 3 w 3"/>
                  <a:gd name="T1" fmla="*/ 0 h 5"/>
                  <a:gd name="T2" fmla="*/ 0 w 3"/>
                  <a:gd name="T3" fmla="*/ 1 h 5"/>
                  <a:gd name="T4" fmla="*/ 0 w 3"/>
                  <a:gd name="T5" fmla="*/ 2 h 5"/>
                  <a:gd name="T6" fmla="*/ 0 w 3"/>
                  <a:gd name="T7" fmla="*/ 4 h 5"/>
                  <a:gd name="T8" fmla="*/ 3 w 3"/>
                  <a:gd name="T9" fmla="*/ 5 h 5"/>
                  <a:gd name="T10" fmla="*/ 3 w 3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3" y="0"/>
                    </a:moveTo>
                    <a:lnTo>
                      <a:pt x="0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3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84" name="Freeform 781"/>
              <p:cNvSpPr>
                <a:spLocks/>
              </p:cNvSpPr>
              <p:nvPr/>
            </p:nvSpPr>
            <p:spPr bwMode="auto">
              <a:xfrm>
                <a:off x="2683" y="2099"/>
                <a:ext cx="18" cy="5"/>
              </a:xfrm>
              <a:custGeom>
                <a:avLst/>
                <a:gdLst>
                  <a:gd name="T0" fmla="*/ 18 w 18"/>
                  <a:gd name="T1" fmla="*/ 2 h 5"/>
                  <a:gd name="T2" fmla="*/ 18 w 18"/>
                  <a:gd name="T3" fmla="*/ 0 h 5"/>
                  <a:gd name="T4" fmla="*/ 0 w 18"/>
                  <a:gd name="T5" fmla="*/ 0 h 5"/>
                  <a:gd name="T6" fmla="*/ 0 w 18"/>
                  <a:gd name="T7" fmla="*/ 5 h 5"/>
                  <a:gd name="T8" fmla="*/ 18 w 18"/>
                  <a:gd name="T9" fmla="*/ 5 h 5"/>
                  <a:gd name="T10" fmla="*/ 18 w 18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"/>
                  <a:gd name="T19" fmla="*/ 0 h 5"/>
                  <a:gd name="T20" fmla="*/ 18 w 18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" h="5">
                    <a:moveTo>
                      <a:pt x="18" y="2"/>
                    </a:moveTo>
                    <a:lnTo>
                      <a:pt x="18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8" y="5"/>
                    </a:lnTo>
                    <a:lnTo>
                      <a:pt x="18" y="2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85" name="Freeform 782"/>
              <p:cNvSpPr>
                <a:spLocks/>
              </p:cNvSpPr>
              <p:nvPr/>
            </p:nvSpPr>
            <p:spPr bwMode="auto">
              <a:xfrm>
                <a:off x="2701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86" name="Freeform 783"/>
              <p:cNvSpPr>
                <a:spLocks/>
              </p:cNvSpPr>
              <p:nvPr/>
            </p:nvSpPr>
            <p:spPr bwMode="auto">
              <a:xfrm>
                <a:off x="2681" y="2099"/>
                <a:ext cx="4" cy="5"/>
              </a:xfrm>
              <a:custGeom>
                <a:avLst/>
                <a:gdLst>
                  <a:gd name="T0" fmla="*/ 4 w 4"/>
                  <a:gd name="T1" fmla="*/ 0 h 5"/>
                  <a:gd name="T2" fmla="*/ 2 w 4"/>
                  <a:gd name="T3" fmla="*/ 1 h 5"/>
                  <a:gd name="T4" fmla="*/ 0 w 4"/>
                  <a:gd name="T5" fmla="*/ 2 h 5"/>
                  <a:gd name="T6" fmla="*/ 2 w 4"/>
                  <a:gd name="T7" fmla="*/ 4 h 5"/>
                  <a:gd name="T8" fmla="*/ 4 w 4"/>
                  <a:gd name="T9" fmla="*/ 5 h 5"/>
                  <a:gd name="T10" fmla="*/ 4 w 4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"/>
                  <a:gd name="T19" fmla="*/ 0 h 5"/>
                  <a:gd name="T20" fmla="*/ 4 w 4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" h="5">
                    <a:moveTo>
                      <a:pt x="4" y="0"/>
                    </a:moveTo>
                    <a:lnTo>
                      <a:pt x="2" y="1"/>
                    </a:lnTo>
                    <a:lnTo>
                      <a:pt x="0" y="2"/>
                    </a:lnTo>
                    <a:lnTo>
                      <a:pt x="2" y="4"/>
                    </a:lnTo>
                    <a:lnTo>
                      <a:pt x="4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87" name="Freeform 784"/>
              <p:cNvSpPr>
                <a:spLocks/>
              </p:cNvSpPr>
              <p:nvPr/>
            </p:nvSpPr>
            <p:spPr bwMode="auto">
              <a:xfrm>
                <a:off x="2685" y="2099"/>
                <a:ext cx="14" cy="5"/>
              </a:xfrm>
              <a:custGeom>
                <a:avLst/>
                <a:gdLst>
                  <a:gd name="T0" fmla="*/ 14 w 14"/>
                  <a:gd name="T1" fmla="*/ 2 h 5"/>
                  <a:gd name="T2" fmla="*/ 14 w 14"/>
                  <a:gd name="T3" fmla="*/ 0 h 5"/>
                  <a:gd name="T4" fmla="*/ 0 w 14"/>
                  <a:gd name="T5" fmla="*/ 0 h 5"/>
                  <a:gd name="T6" fmla="*/ 0 w 14"/>
                  <a:gd name="T7" fmla="*/ 5 h 5"/>
                  <a:gd name="T8" fmla="*/ 14 w 14"/>
                  <a:gd name="T9" fmla="*/ 5 h 5"/>
                  <a:gd name="T10" fmla="*/ 14 w 14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5"/>
                  <a:gd name="T20" fmla="*/ 14 w 14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5">
                    <a:moveTo>
                      <a:pt x="14" y="2"/>
                    </a:moveTo>
                    <a:lnTo>
                      <a:pt x="14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4" y="5"/>
                    </a:lnTo>
                    <a:lnTo>
                      <a:pt x="14" y="2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88" name="Freeform 785"/>
              <p:cNvSpPr>
                <a:spLocks/>
              </p:cNvSpPr>
              <p:nvPr/>
            </p:nvSpPr>
            <p:spPr bwMode="auto">
              <a:xfrm>
                <a:off x="2699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89" name="Freeform 786"/>
              <p:cNvSpPr>
                <a:spLocks/>
              </p:cNvSpPr>
              <p:nvPr/>
            </p:nvSpPr>
            <p:spPr bwMode="auto">
              <a:xfrm>
                <a:off x="2684" y="2099"/>
                <a:ext cx="3" cy="5"/>
              </a:xfrm>
              <a:custGeom>
                <a:avLst/>
                <a:gdLst>
                  <a:gd name="T0" fmla="*/ 3 w 3"/>
                  <a:gd name="T1" fmla="*/ 0 h 5"/>
                  <a:gd name="T2" fmla="*/ 1 w 3"/>
                  <a:gd name="T3" fmla="*/ 1 h 5"/>
                  <a:gd name="T4" fmla="*/ 0 w 3"/>
                  <a:gd name="T5" fmla="*/ 2 h 5"/>
                  <a:gd name="T6" fmla="*/ 1 w 3"/>
                  <a:gd name="T7" fmla="*/ 4 h 5"/>
                  <a:gd name="T8" fmla="*/ 3 w 3"/>
                  <a:gd name="T9" fmla="*/ 5 h 5"/>
                  <a:gd name="T10" fmla="*/ 3 w 3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3" y="0"/>
                    </a:moveTo>
                    <a:lnTo>
                      <a:pt x="1" y="1"/>
                    </a:lnTo>
                    <a:lnTo>
                      <a:pt x="0" y="2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90" name="Freeform 787"/>
              <p:cNvSpPr>
                <a:spLocks/>
              </p:cNvSpPr>
              <p:nvPr/>
            </p:nvSpPr>
            <p:spPr bwMode="auto">
              <a:xfrm>
                <a:off x="2687" y="2099"/>
                <a:ext cx="11" cy="5"/>
              </a:xfrm>
              <a:custGeom>
                <a:avLst/>
                <a:gdLst>
                  <a:gd name="T0" fmla="*/ 11 w 11"/>
                  <a:gd name="T1" fmla="*/ 2 h 5"/>
                  <a:gd name="T2" fmla="*/ 11 w 11"/>
                  <a:gd name="T3" fmla="*/ 0 h 5"/>
                  <a:gd name="T4" fmla="*/ 0 w 11"/>
                  <a:gd name="T5" fmla="*/ 0 h 5"/>
                  <a:gd name="T6" fmla="*/ 0 w 11"/>
                  <a:gd name="T7" fmla="*/ 5 h 5"/>
                  <a:gd name="T8" fmla="*/ 11 w 11"/>
                  <a:gd name="T9" fmla="*/ 5 h 5"/>
                  <a:gd name="T10" fmla="*/ 11 w 11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5"/>
                  <a:gd name="T20" fmla="*/ 11 w 11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5">
                    <a:moveTo>
                      <a:pt x="11" y="2"/>
                    </a:moveTo>
                    <a:lnTo>
                      <a:pt x="11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1" y="5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91" name="Freeform 788"/>
              <p:cNvSpPr>
                <a:spLocks/>
              </p:cNvSpPr>
              <p:nvPr/>
            </p:nvSpPr>
            <p:spPr bwMode="auto">
              <a:xfrm>
                <a:off x="2698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92" name="Freeform 789"/>
              <p:cNvSpPr>
                <a:spLocks/>
              </p:cNvSpPr>
              <p:nvPr/>
            </p:nvSpPr>
            <p:spPr bwMode="auto">
              <a:xfrm>
                <a:off x="2686" y="2099"/>
                <a:ext cx="3" cy="5"/>
              </a:xfrm>
              <a:custGeom>
                <a:avLst/>
                <a:gdLst>
                  <a:gd name="T0" fmla="*/ 3 w 3"/>
                  <a:gd name="T1" fmla="*/ 0 h 5"/>
                  <a:gd name="T2" fmla="*/ 1 w 3"/>
                  <a:gd name="T3" fmla="*/ 1 h 5"/>
                  <a:gd name="T4" fmla="*/ 0 w 3"/>
                  <a:gd name="T5" fmla="*/ 2 h 5"/>
                  <a:gd name="T6" fmla="*/ 1 w 3"/>
                  <a:gd name="T7" fmla="*/ 4 h 5"/>
                  <a:gd name="T8" fmla="*/ 3 w 3"/>
                  <a:gd name="T9" fmla="*/ 5 h 5"/>
                  <a:gd name="T10" fmla="*/ 3 w 3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3" y="0"/>
                    </a:moveTo>
                    <a:lnTo>
                      <a:pt x="1" y="1"/>
                    </a:lnTo>
                    <a:lnTo>
                      <a:pt x="0" y="2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93" name="Freeform 790"/>
              <p:cNvSpPr>
                <a:spLocks/>
              </p:cNvSpPr>
              <p:nvPr/>
            </p:nvSpPr>
            <p:spPr bwMode="auto">
              <a:xfrm>
                <a:off x="2689" y="2099"/>
                <a:ext cx="6" cy="5"/>
              </a:xfrm>
              <a:custGeom>
                <a:avLst/>
                <a:gdLst>
                  <a:gd name="T0" fmla="*/ 6 w 6"/>
                  <a:gd name="T1" fmla="*/ 2 h 5"/>
                  <a:gd name="T2" fmla="*/ 6 w 6"/>
                  <a:gd name="T3" fmla="*/ 0 h 5"/>
                  <a:gd name="T4" fmla="*/ 0 w 6"/>
                  <a:gd name="T5" fmla="*/ 0 h 5"/>
                  <a:gd name="T6" fmla="*/ 0 w 6"/>
                  <a:gd name="T7" fmla="*/ 5 h 5"/>
                  <a:gd name="T8" fmla="*/ 6 w 6"/>
                  <a:gd name="T9" fmla="*/ 5 h 5"/>
                  <a:gd name="T10" fmla="*/ 6 w 6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"/>
                  <a:gd name="T19" fmla="*/ 0 h 5"/>
                  <a:gd name="T20" fmla="*/ 6 w 6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" h="5">
                    <a:moveTo>
                      <a:pt x="6" y="2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6" y="5"/>
                    </a:lnTo>
                    <a:lnTo>
                      <a:pt x="6" y="2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94" name="Freeform 791"/>
              <p:cNvSpPr>
                <a:spLocks/>
              </p:cNvSpPr>
              <p:nvPr/>
            </p:nvSpPr>
            <p:spPr bwMode="auto">
              <a:xfrm>
                <a:off x="2695" y="2099"/>
                <a:ext cx="4" cy="5"/>
              </a:xfrm>
              <a:custGeom>
                <a:avLst/>
                <a:gdLst>
                  <a:gd name="T0" fmla="*/ 0 w 4"/>
                  <a:gd name="T1" fmla="*/ 5 h 5"/>
                  <a:gd name="T2" fmla="*/ 3 w 4"/>
                  <a:gd name="T3" fmla="*/ 4 h 5"/>
                  <a:gd name="T4" fmla="*/ 4 w 4"/>
                  <a:gd name="T5" fmla="*/ 2 h 5"/>
                  <a:gd name="T6" fmla="*/ 3 w 4"/>
                  <a:gd name="T7" fmla="*/ 1 h 5"/>
                  <a:gd name="T8" fmla="*/ 0 w 4"/>
                  <a:gd name="T9" fmla="*/ 0 h 5"/>
                  <a:gd name="T10" fmla="*/ 0 w 4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"/>
                  <a:gd name="T19" fmla="*/ 0 h 5"/>
                  <a:gd name="T20" fmla="*/ 4 w 4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" h="5">
                    <a:moveTo>
                      <a:pt x="0" y="5"/>
                    </a:moveTo>
                    <a:lnTo>
                      <a:pt x="3" y="4"/>
                    </a:lnTo>
                    <a:lnTo>
                      <a:pt x="4" y="2"/>
                    </a:lnTo>
                    <a:lnTo>
                      <a:pt x="3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95" name="Freeform 792"/>
              <p:cNvSpPr>
                <a:spLocks/>
              </p:cNvSpPr>
              <p:nvPr/>
            </p:nvSpPr>
            <p:spPr bwMode="auto">
              <a:xfrm>
                <a:off x="2688" y="2099"/>
                <a:ext cx="3" cy="5"/>
              </a:xfrm>
              <a:custGeom>
                <a:avLst/>
                <a:gdLst>
                  <a:gd name="T0" fmla="*/ 3 w 3"/>
                  <a:gd name="T1" fmla="*/ 0 h 5"/>
                  <a:gd name="T2" fmla="*/ 1 w 3"/>
                  <a:gd name="T3" fmla="*/ 1 h 5"/>
                  <a:gd name="T4" fmla="*/ 0 w 3"/>
                  <a:gd name="T5" fmla="*/ 2 h 5"/>
                  <a:gd name="T6" fmla="*/ 1 w 3"/>
                  <a:gd name="T7" fmla="*/ 4 h 5"/>
                  <a:gd name="T8" fmla="*/ 3 w 3"/>
                  <a:gd name="T9" fmla="*/ 5 h 5"/>
                  <a:gd name="T10" fmla="*/ 3 w 3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3" y="0"/>
                    </a:moveTo>
                    <a:lnTo>
                      <a:pt x="1" y="1"/>
                    </a:lnTo>
                    <a:lnTo>
                      <a:pt x="0" y="2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96" name="Freeform 793"/>
              <p:cNvSpPr>
                <a:spLocks/>
              </p:cNvSpPr>
              <p:nvPr/>
            </p:nvSpPr>
            <p:spPr bwMode="auto">
              <a:xfrm>
                <a:off x="2691" y="2099"/>
                <a:ext cx="2" cy="5"/>
              </a:xfrm>
              <a:custGeom>
                <a:avLst/>
                <a:gdLst>
                  <a:gd name="T0" fmla="*/ 2 w 2"/>
                  <a:gd name="T1" fmla="*/ 2 h 5"/>
                  <a:gd name="T2" fmla="*/ 2 w 2"/>
                  <a:gd name="T3" fmla="*/ 0 h 5"/>
                  <a:gd name="T4" fmla="*/ 0 w 2"/>
                  <a:gd name="T5" fmla="*/ 0 h 5"/>
                  <a:gd name="T6" fmla="*/ 0 w 2"/>
                  <a:gd name="T7" fmla="*/ 5 h 5"/>
                  <a:gd name="T8" fmla="*/ 2 w 2"/>
                  <a:gd name="T9" fmla="*/ 5 h 5"/>
                  <a:gd name="T10" fmla="*/ 2 w 2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5"/>
                  <a:gd name="T20" fmla="*/ 2 w 2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5">
                    <a:moveTo>
                      <a:pt x="2" y="2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2" y="5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97" name="Freeform 794"/>
              <p:cNvSpPr>
                <a:spLocks/>
              </p:cNvSpPr>
              <p:nvPr/>
            </p:nvSpPr>
            <p:spPr bwMode="auto">
              <a:xfrm>
                <a:off x="2693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98" name="Freeform 795"/>
              <p:cNvSpPr>
                <a:spLocks/>
              </p:cNvSpPr>
              <p:nvPr/>
            </p:nvSpPr>
            <p:spPr bwMode="auto">
              <a:xfrm>
                <a:off x="2676" y="1794"/>
                <a:ext cx="29" cy="75"/>
              </a:xfrm>
              <a:custGeom>
                <a:avLst/>
                <a:gdLst>
                  <a:gd name="T0" fmla="*/ 5 w 29"/>
                  <a:gd name="T1" fmla="*/ 0 h 75"/>
                  <a:gd name="T2" fmla="*/ 16 w 29"/>
                  <a:gd name="T3" fmla="*/ 41 h 75"/>
                  <a:gd name="T4" fmla="*/ 0 w 29"/>
                  <a:gd name="T5" fmla="*/ 38 h 75"/>
                  <a:gd name="T6" fmla="*/ 17 w 29"/>
                  <a:gd name="T7" fmla="*/ 75 h 75"/>
                  <a:gd name="T8" fmla="*/ 13 w 29"/>
                  <a:gd name="T9" fmla="*/ 49 h 75"/>
                  <a:gd name="T10" fmla="*/ 29 w 29"/>
                  <a:gd name="T11" fmla="*/ 51 h 75"/>
                  <a:gd name="T12" fmla="*/ 5 w 29"/>
                  <a:gd name="T13" fmla="*/ 0 h 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9"/>
                  <a:gd name="T22" fmla="*/ 0 h 75"/>
                  <a:gd name="T23" fmla="*/ 29 w 29"/>
                  <a:gd name="T24" fmla="*/ 75 h 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9" h="75">
                    <a:moveTo>
                      <a:pt x="5" y="0"/>
                    </a:moveTo>
                    <a:lnTo>
                      <a:pt x="16" y="41"/>
                    </a:lnTo>
                    <a:lnTo>
                      <a:pt x="0" y="38"/>
                    </a:lnTo>
                    <a:lnTo>
                      <a:pt x="17" y="75"/>
                    </a:lnTo>
                    <a:lnTo>
                      <a:pt x="13" y="49"/>
                    </a:lnTo>
                    <a:lnTo>
                      <a:pt x="29" y="51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99" name="Freeform 796"/>
              <p:cNvSpPr>
                <a:spLocks/>
              </p:cNvSpPr>
              <p:nvPr/>
            </p:nvSpPr>
            <p:spPr bwMode="auto">
              <a:xfrm>
                <a:off x="2678" y="1794"/>
                <a:ext cx="16" cy="43"/>
              </a:xfrm>
              <a:custGeom>
                <a:avLst/>
                <a:gdLst>
                  <a:gd name="T0" fmla="*/ 13 w 16"/>
                  <a:gd name="T1" fmla="*/ 43 h 43"/>
                  <a:gd name="T2" fmla="*/ 16 w 16"/>
                  <a:gd name="T3" fmla="*/ 40 h 43"/>
                  <a:gd name="T4" fmla="*/ 6 w 16"/>
                  <a:gd name="T5" fmla="*/ 0 h 43"/>
                  <a:gd name="T6" fmla="*/ 0 w 16"/>
                  <a:gd name="T7" fmla="*/ 1 h 43"/>
                  <a:gd name="T8" fmla="*/ 11 w 16"/>
                  <a:gd name="T9" fmla="*/ 41 h 43"/>
                  <a:gd name="T10" fmla="*/ 14 w 16"/>
                  <a:gd name="T11" fmla="*/ 38 h 43"/>
                  <a:gd name="T12" fmla="*/ 11 w 16"/>
                  <a:gd name="T13" fmla="*/ 41 h 43"/>
                  <a:gd name="T14" fmla="*/ 12 w 16"/>
                  <a:gd name="T15" fmla="*/ 43 h 43"/>
                  <a:gd name="T16" fmla="*/ 14 w 16"/>
                  <a:gd name="T17" fmla="*/ 43 h 43"/>
                  <a:gd name="T18" fmla="*/ 16 w 16"/>
                  <a:gd name="T19" fmla="*/ 42 h 43"/>
                  <a:gd name="T20" fmla="*/ 16 w 16"/>
                  <a:gd name="T21" fmla="*/ 40 h 43"/>
                  <a:gd name="T22" fmla="*/ 13 w 16"/>
                  <a:gd name="T23" fmla="*/ 43 h 4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6"/>
                  <a:gd name="T37" fmla="*/ 0 h 43"/>
                  <a:gd name="T38" fmla="*/ 16 w 16"/>
                  <a:gd name="T39" fmla="*/ 43 h 4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6" h="43">
                    <a:moveTo>
                      <a:pt x="13" y="43"/>
                    </a:moveTo>
                    <a:lnTo>
                      <a:pt x="16" y="40"/>
                    </a:lnTo>
                    <a:lnTo>
                      <a:pt x="6" y="0"/>
                    </a:lnTo>
                    <a:lnTo>
                      <a:pt x="0" y="1"/>
                    </a:lnTo>
                    <a:lnTo>
                      <a:pt x="11" y="41"/>
                    </a:lnTo>
                    <a:lnTo>
                      <a:pt x="14" y="38"/>
                    </a:lnTo>
                    <a:lnTo>
                      <a:pt x="11" y="41"/>
                    </a:lnTo>
                    <a:lnTo>
                      <a:pt x="12" y="43"/>
                    </a:lnTo>
                    <a:lnTo>
                      <a:pt x="14" y="43"/>
                    </a:lnTo>
                    <a:lnTo>
                      <a:pt x="16" y="42"/>
                    </a:lnTo>
                    <a:lnTo>
                      <a:pt x="16" y="40"/>
                    </a:lnTo>
                    <a:lnTo>
                      <a:pt x="13" y="4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00" name="Freeform 797"/>
              <p:cNvSpPr>
                <a:spLocks/>
              </p:cNvSpPr>
              <p:nvPr/>
            </p:nvSpPr>
            <p:spPr bwMode="auto">
              <a:xfrm>
                <a:off x="2674" y="1830"/>
                <a:ext cx="18" cy="7"/>
              </a:xfrm>
              <a:custGeom>
                <a:avLst/>
                <a:gdLst>
                  <a:gd name="T0" fmla="*/ 4 w 18"/>
                  <a:gd name="T1" fmla="*/ 2 h 7"/>
                  <a:gd name="T2" fmla="*/ 2 w 18"/>
                  <a:gd name="T3" fmla="*/ 5 h 7"/>
                  <a:gd name="T4" fmla="*/ 17 w 18"/>
                  <a:gd name="T5" fmla="*/ 7 h 7"/>
                  <a:gd name="T6" fmla="*/ 18 w 18"/>
                  <a:gd name="T7" fmla="*/ 2 h 7"/>
                  <a:gd name="T8" fmla="*/ 3 w 18"/>
                  <a:gd name="T9" fmla="*/ 0 h 7"/>
                  <a:gd name="T10" fmla="*/ 0 w 18"/>
                  <a:gd name="T11" fmla="*/ 3 h 7"/>
                  <a:gd name="T12" fmla="*/ 3 w 18"/>
                  <a:gd name="T13" fmla="*/ 0 h 7"/>
                  <a:gd name="T14" fmla="*/ 1 w 18"/>
                  <a:gd name="T15" fmla="*/ 1 h 7"/>
                  <a:gd name="T16" fmla="*/ 0 w 18"/>
                  <a:gd name="T17" fmla="*/ 2 h 7"/>
                  <a:gd name="T18" fmla="*/ 0 w 18"/>
                  <a:gd name="T19" fmla="*/ 4 h 7"/>
                  <a:gd name="T20" fmla="*/ 2 w 18"/>
                  <a:gd name="T21" fmla="*/ 5 h 7"/>
                  <a:gd name="T22" fmla="*/ 4 w 18"/>
                  <a:gd name="T23" fmla="*/ 2 h 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7"/>
                  <a:gd name="T38" fmla="*/ 18 w 18"/>
                  <a:gd name="T39" fmla="*/ 7 h 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7">
                    <a:moveTo>
                      <a:pt x="4" y="2"/>
                    </a:moveTo>
                    <a:lnTo>
                      <a:pt x="2" y="5"/>
                    </a:lnTo>
                    <a:lnTo>
                      <a:pt x="17" y="7"/>
                    </a:lnTo>
                    <a:lnTo>
                      <a:pt x="18" y="2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5"/>
                    </a:lnTo>
                    <a:lnTo>
                      <a:pt x="4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01" name="Freeform 798"/>
              <p:cNvSpPr>
                <a:spLocks/>
              </p:cNvSpPr>
              <p:nvPr/>
            </p:nvSpPr>
            <p:spPr bwMode="auto">
              <a:xfrm>
                <a:off x="2674" y="1832"/>
                <a:ext cx="21" cy="40"/>
              </a:xfrm>
              <a:custGeom>
                <a:avLst/>
                <a:gdLst>
                  <a:gd name="T0" fmla="*/ 16 w 21"/>
                  <a:gd name="T1" fmla="*/ 37 h 40"/>
                  <a:gd name="T2" fmla="*/ 21 w 21"/>
                  <a:gd name="T3" fmla="*/ 36 h 40"/>
                  <a:gd name="T4" fmla="*/ 4 w 21"/>
                  <a:gd name="T5" fmla="*/ 0 h 40"/>
                  <a:gd name="T6" fmla="*/ 0 w 21"/>
                  <a:gd name="T7" fmla="*/ 2 h 40"/>
                  <a:gd name="T8" fmla="*/ 16 w 21"/>
                  <a:gd name="T9" fmla="*/ 38 h 40"/>
                  <a:gd name="T10" fmla="*/ 21 w 21"/>
                  <a:gd name="T11" fmla="*/ 37 h 40"/>
                  <a:gd name="T12" fmla="*/ 16 w 21"/>
                  <a:gd name="T13" fmla="*/ 38 h 40"/>
                  <a:gd name="T14" fmla="*/ 18 w 21"/>
                  <a:gd name="T15" fmla="*/ 40 h 40"/>
                  <a:gd name="T16" fmla="*/ 19 w 21"/>
                  <a:gd name="T17" fmla="*/ 40 h 40"/>
                  <a:gd name="T18" fmla="*/ 21 w 21"/>
                  <a:gd name="T19" fmla="*/ 38 h 40"/>
                  <a:gd name="T20" fmla="*/ 21 w 21"/>
                  <a:gd name="T21" fmla="*/ 36 h 40"/>
                  <a:gd name="T22" fmla="*/ 16 w 21"/>
                  <a:gd name="T23" fmla="*/ 37 h 4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"/>
                  <a:gd name="T37" fmla="*/ 0 h 40"/>
                  <a:gd name="T38" fmla="*/ 21 w 21"/>
                  <a:gd name="T39" fmla="*/ 40 h 4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" h="40">
                    <a:moveTo>
                      <a:pt x="16" y="37"/>
                    </a:moveTo>
                    <a:lnTo>
                      <a:pt x="21" y="36"/>
                    </a:lnTo>
                    <a:lnTo>
                      <a:pt x="4" y="0"/>
                    </a:lnTo>
                    <a:lnTo>
                      <a:pt x="0" y="2"/>
                    </a:lnTo>
                    <a:lnTo>
                      <a:pt x="16" y="38"/>
                    </a:lnTo>
                    <a:lnTo>
                      <a:pt x="21" y="37"/>
                    </a:lnTo>
                    <a:lnTo>
                      <a:pt x="16" y="38"/>
                    </a:lnTo>
                    <a:lnTo>
                      <a:pt x="18" y="40"/>
                    </a:lnTo>
                    <a:lnTo>
                      <a:pt x="19" y="40"/>
                    </a:lnTo>
                    <a:lnTo>
                      <a:pt x="21" y="38"/>
                    </a:lnTo>
                    <a:lnTo>
                      <a:pt x="21" y="36"/>
                    </a:lnTo>
                    <a:lnTo>
                      <a:pt x="16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02" name="Freeform 799"/>
              <p:cNvSpPr>
                <a:spLocks/>
              </p:cNvSpPr>
              <p:nvPr/>
            </p:nvSpPr>
            <p:spPr bwMode="auto">
              <a:xfrm>
                <a:off x="2687" y="1841"/>
                <a:ext cx="8" cy="28"/>
              </a:xfrm>
              <a:custGeom>
                <a:avLst/>
                <a:gdLst>
                  <a:gd name="T0" fmla="*/ 3 w 8"/>
                  <a:gd name="T1" fmla="*/ 0 h 28"/>
                  <a:gd name="T2" fmla="*/ 0 w 8"/>
                  <a:gd name="T3" fmla="*/ 3 h 28"/>
                  <a:gd name="T4" fmla="*/ 3 w 8"/>
                  <a:gd name="T5" fmla="*/ 28 h 28"/>
                  <a:gd name="T6" fmla="*/ 8 w 8"/>
                  <a:gd name="T7" fmla="*/ 27 h 28"/>
                  <a:gd name="T8" fmla="*/ 4 w 8"/>
                  <a:gd name="T9" fmla="*/ 2 h 28"/>
                  <a:gd name="T10" fmla="*/ 2 w 8"/>
                  <a:gd name="T11" fmla="*/ 5 h 28"/>
                  <a:gd name="T12" fmla="*/ 4 w 8"/>
                  <a:gd name="T13" fmla="*/ 2 h 28"/>
                  <a:gd name="T14" fmla="*/ 4 w 8"/>
                  <a:gd name="T15" fmla="*/ 1 h 28"/>
                  <a:gd name="T16" fmla="*/ 2 w 8"/>
                  <a:gd name="T17" fmla="*/ 0 h 28"/>
                  <a:gd name="T18" fmla="*/ 1 w 8"/>
                  <a:gd name="T19" fmla="*/ 1 h 28"/>
                  <a:gd name="T20" fmla="*/ 0 w 8"/>
                  <a:gd name="T21" fmla="*/ 3 h 28"/>
                  <a:gd name="T22" fmla="*/ 3 w 8"/>
                  <a:gd name="T23" fmla="*/ 0 h 2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"/>
                  <a:gd name="T37" fmla="*/ 0 h 28"/>
                  <a:gd name="T38" fmla="*/ 8 w 8"/>
                  <a:gd name="T39" fmla="*/ 28 h 2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" h="28">
                    <a:moveTo>
                      <a:pt x="3" y="0"/>
                    </a:moveTo>
                    <a:lnTo>
                      <a:pt x="0" y="3"/>
                    </a:lnTo>
                    <a:lnTo>
                      <a:pt x="3" y="28"/>
                    </a:lnTo>
                    <a:lnTo>
                      <a:pt x="8" y="27"/>
                    </a:lnTo>
                    <a:lnTo>
                      <a:pt x="4" y="2"/>
                    </a:lnTo>
                    <a:lnTo>
                      <a:pt x="2" y="5"/>
                    </a:lnTo>
                    <a:lnTo>
                      <a:pt x="4" y="2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03" name="Freeform 800"/>
              <p:cNvSpPr>
                <a:spLocks/>
              </p:cNvSpPr>
              <p:nvPr/>
            </p:nvSpPr>
            <p:spPr bwMode="auto">
              <a:xfrm>
                <a:off x="2689" y="1841"/>
                <a:ext cx="18" cy="7"/>
              </a:xfrm>
              <a:custGeom>
                <a:avLst/>
                <a:gdLst>
                  <a:gd name="T0" fmla="*/ 14 w 18"/>
                  <a:gd name="T1" fmla="*/ 5 h 7"/>
                  <a:gd name="T2" fmla="*/ 16 w 18"/>
                  <a:gd name="T3" fmla="*/ 2 h 7"/>
                  <a:gd name="T4" fmla="*/ 1 w 18"/>
                  <a:gd name="T5" fmla="*/ 0 h 7"/>
                  <a:gd name="T6" fmla="*/ 0 w 18"/>
                  <a:gd name="T7" fmla="*/ 5 h 7"/>
                  <a:gd name="T8" fmla="*/ 15 w 18"/>
                  <a:gd name="T9" fmla="*/ 7 h 7"/>
                  <a:gd name="T10" fmla="*/ 18 w 18"/>
                  <a:gd name="T11" fmla="*/ 4 h 7"/>
                  <a:gd name="T12" fmla="*/ 15 w 18"/>
                  <a:gd name="T13" fmla="*/ 7 h 7"/>
                  <a:gd name="T14" fmla="*/ 17 w 18"/>
                  <a:gd name="T15" fmla="*/ 6 h 7"/>
                  <a:gd name="T16" fmla="*/ 18 w 18"/>
                  <a:gd name="T17" fmla="*/ 5 h 7"/>
                  <a:gd name="T18" fmla="*/ 17 w 18"/>
                  <a:gd name="T19" fmla="*/ 3 h 7"/>
                  <a:gd name="T20" fmla="*/ 16 w 18"/>
                  <a:gd name="T21" fmla="*/ 2 h 7"/>
                  <a:gd name="T22" fmla="*/ 14 w 18"/>
                  <a:gd name="T23" fmla="*/ 5 h 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7"/>
                  <a:gd name="T38" fmla="*/ 18 w 18"/>
                  <a:gd name="T39" fmla="*/ 7 h 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7">
                    <a:moveTo>
                      <a:pt x="14" y="5"/>
                    </a:moveTo>
                    <a:lnTo>
                      <a:pt x="16" y="2"/>
                    </a:lnTo>
                    <a:lnTo>
                      <a:pt x="1" y="0"/>
                    </a:lnTo>
                    <a:lnTo>
                      <a:pt x="0" y="5"/>
                    </a:lnTo>
                    <a:lnTo>
                      <a:pt x="15" y="7"/>
                    </a:lnTo>
                    <a:lnTo>
                      <a:pt x="18" y="4"/>
                    </a:lnTo>
                    <a:lnTo>
                      <a:pt x="15" y="7"/>
                    </a:lnTo>
                    <a:lnTo>
                      <a:pt x="17" y="6"/>
                    </a:lnTo>
                    <a:lnTo>
                      <a:pt x="18" y="5"/>
                    </a:lnTo>
                    <a:lnTo>
                      <a:pt x="17" y="3"/>
                    </a:lnTo>
                    <a:lnTo>
                      <a:pt x="16" y="2"/>
                    </a:lnTo>
                    <a:lnTo>
                      <a:pt x="14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04" name="Freeform 801"/>
              <p:cNvSpPr>
                <a:spLocks/>
              </p:cNvSpPr>
              <p:nvPr/>
            </p:nvSpPr>
            <p:spPr bwMode="auto">
              <a:xfrm>
                <a:off x="2678" y="1791"/>
                <a:ext cx="29" cy="55"/>
              </a:xfrm>
              <a:custGeom>
                <a:avLst/>
                <a:gdLst>
                  <a:gd name="T0" fmla="*/ 6 w 29"/>
                  <a:gd name="T1" fmla="*/ 2 h 55"/>
                  <a:gd name="T2" fmla="*/ 0 w 29"/>
                  <a:gd name="T3" fmla="*/ 4 h 55"/>
                  <a:gd name="T4" fmla="*/ 25 w 29"/>
                  <a:gd name="T5" fmla="*/ 55 h 55"/>
                  <a:gd name="T6" fmla="*/ 29 w 29"/>
                  <a:gd name="T7" fmla="*/ 53 h 55"/>
                  <a:gd name="T8" fmla="*/ 6 w 29"/>
                  <a:gd name="T9" fmla="*/ 2 h 55"/>
                  <a:gd name="T10" fmla="*/ 0 w 29"/>
                  <a:gd name="T11" fmla="*/ 4 h 55"/>
                  <a:gd name="T12" fmla="*/ 6 w 29"/>
                  <a:gd name="T13" fmla="*/ 2 h 55"/>
                  <a:gd name="T14" fmla="*/ 5 w 29"/>
                  <a:gd name="T15" fmla="*/ 0 h 55"/>
                  <a:gd name="T16" fmla="*/ 1 w 29"/>
                  <a:gd name="T17" fmla="*/ 0 h 55"/>
                  <a:gd name="T18" fmla="*/ 0 w 29"/>
                  <a:gd name="T19" fmla="*/ 2 h 55"/>
                  <a:gd name="T20" fmla="*/ 0 w 29"/>
                  <a:gd name="T21" fmla="*/ 4 h 55"/>
                  <a:gd name="T22" fmla="*/ 6 w 29"/>
                  <a:gd name="T23" fmla="*/ 2 h 5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9"/>
                  <a:gd name="T37" fmla="*/ 0 h 55"/>
                  <a:gd name="T38" fmla="*/ 29 w 29"/>
                  <a:gd name="T39" fmla="*/ 55 h 5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9" h="55">
                    <a:moveTo>
                      <a:pt x="6" y="2"/>
                    </a:moveTo>
                    <a:lnTo>
                      <a:pt x="0" y="4"/>
                    </a:lnTo>
                    <a:lnTo>
                      <a:pt x="25" y="55"/>
                    </a:lnTo>
                    <a:lnTo>
                      <a:pt x="29" y="53"/>
                    </a:lnTo>
                    <a:lnTo>
                      <a:pt x="6" y="2"/>
                    </a:lnTo>
                    <a:lnTo>
                      <a:pt x="0" y="4"/>
                    </a:lnTo>
                    <a:lnTo>
                      <a:pt x="6" y="2"/>
                    </a:lnTo>
                    <a:lnTo>
                      <a:pt x="5" y="0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6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05" name="Freeform 802"/>
              <p:cNvSpPr>
                <a:spLocks/>
              </p:cNvSpPr>
              <p:nvPr/>
            </p:nvSpPr>
            <p:spPr bwMode="auto">
              <a:xfrm>
                <a:off x="2677" y="1797"/>
                <a:ext cx="27" cy="70"/>
              </a:xfrm>
              <a:custGeom>
                <a:avLst/>
                <a:gdLst>
                  <a:gd name="T0" fmla="*/ 6 w 27"/>
                  <a:gd name="T1" fmla="*/ 0 h 70"/>
                  <a:gd name="T2" fmla="*/ 27 w 27"/>
                  <a:gd name="T3" fmla="*/ 48 h 70"/>
                  <a:gd name="T4" fmla="*/ 11 w 27"/>
                  <a:gd name="T5" fmla="*/ 46 h 70"/>
                  <a:gd name="T6" fmla="*/ 15 w 27"/>
                  <a:gd name="T7" fmla="*/ 70 h 70"/>
                  <a:gd name="T8" fmla="*/ 0 w 27"/>
                  <a:gd name="T9" fmla="*/ 36 h 70"/>
                  <a:gd name="T10" fmla="*/ 15 w 27"/>
                  <a:gd name="T11" fmla="*/ 38 h 70"/>
                  <a:gd name="T12" fmla="*/ 6 w 27"/>
                  <a:gd name="T13" fmla="*/ 0 h 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7"/>
                  <a:gd name="T22" fmla="*/ 0 h 70"/>
                  <a:gd name="T23" fmla="*/ 27 w 27"/>
                  <a:gd name="T24" fmla="*/ 70 h 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7" h="70">
                    <a:moveTo>
                      <a:pt x="6" y="0"/>
                    </a:moveTo>
                    <a:lnTo>
                      <a:pt x="27" y="48"/>
                    </a:lnTo>
                    <a:lnTo>
                      <a:pt x="11" y="46"/>
                    </a:lnTo>
                    <a:lnTo>
                      <a:pt x="15" y="70"/>
                    </a:lnTo>
                    <a:lnTo>
                      <a:pt x="0" y="36"/>
                    </a:lnTo>
                    <a:lnTo>
                      <a:pt x="15" y="38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06" name="Freeform 803"/>
              <p:cNvSpPr>
                <a:spLocks/>
              </p:cNvSpPr>
              <p:nvPr/>
            </p:nvSpPr>
            <p:spPr bwMode="auto">
              <a:xfrm>
                <a:off x="2677" y="1800"/>
                <a:ext cx="27" cy="65"/>
              </a:xfrm>
              <a:custGeom>
                <a:avLst/>
                <a:gdLst>
                  <a:gd name="T0" fmla="*/ 7 w 27"/>
                  <a:gd name="T1" fmla="*/ 0 h 65"/>
                  <a:gd name="T2" fmla="*/ 27 w 27"/>
                  <a:gd name="T3" fmla="*/ 44 h 65"/>
                  <a:gd name="T4" fmla="*/ 11 w 27"/>
                  <a:gd name="T5" fmla="*/ 42 h 65"/>
                  <a:gd name="T6" fmla="*/ 14 w 27"/>
                  <a:gd name="T7" fmla="*/ 65 h 65"/>
                  <a:gd name="T8" fmla="*/ 0 w 27"/>
                  <a:gd name="T9" fmla="*/ 33 h 65"/>
                  <a:gd name="T10" fmla="*/ 16 w 27"/>
                  <a:gd name="T11" fmla="*/ 35 h 65"/>
                  <a:gd name="T12" fmla="*/ 7 w 27"/>
                  <a:gd name="T13" fmla="*/ 0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7"/>
                  <a:gd name="T22" fmla="*/ 0 h 65"/>
                  <a:gd name="T23" fmla="*/ 27 w 27"/>
                  <a:gd name="T24" fmla="*/ 65 h 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7" h="65">
                    <a:moveTo>
                      <a:pt x="7" y="0"/>
                    </a:moveTo>
                    <a:lnTo>
                      <a:pt x="27" y="44"/>
                    </a:lnTo>
                    <a:lnTo>
                      <a:pt x="11" y="42"/>
                    </a:lnTo>
                    <a:lnTo>
                      <a:pt x="14" y="65"/>
                    </a:lnTo>
                    <a:lnTo>
                      <a:pt x="0" y="33"/>
                    </a:lnTo>
                    <a:lnTo>
                      <a:pt x="16" y="35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07" name="Freeform 804"/>
              <p:cNvSpPr>
                <a:spLocks/>
              </p:cNvSpPr>
              <p:nvPr/>
            </p:nvSpPr>
            <p:spPr bwMode="auto">
              <a:xfrm>
                <a:off x="2678" y="1804"/>
                <a:ext cx="25" cy="59"/>
              </a:xfrm>
              <a:custGeom>
                <a:avLst/>
                <a:gdLst>
                  <a:gd name="T0" fmla="*/ 8 w 25"/>
                  <a:gd name="T1" fmla="*/ 0 h 59"/>
                  <a:gd name="T2" fmla="*/ 25 w 25"/>
                  <a:gd name="T3" fmla="*/ 40 h 59"/>
                  <a:gd name="T4" fmla="*/ 10 w 25"/>
                  <a:gd name="T5" fmla="*/ 38 h 59"/>
                  <a:gd name="T6" fmla="*/ 13 w 25"/>
                  <a:gd name="T7" fmla="*/ 59 h 59"/>
                  <a:gd name="T8" fmla="*/ 0 w 25"/>
                  <a:gd name="T9" fmla="*/ 30 h 59"/>
                  <a:gd name="T10" fmla="*/ 15 w 25"/>
                  <a:gd name="T11" fmla="*/ 32 h 59"/>
                  <a:gd name="T12" fmla="*/ 8 w 25"/>
                  <a:gd name="T13" fmla="*/ 0 h 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59"/>
                  <a:gd name="T23" fmla="*/ 25 w 25"/>
                  <a:gd name="T24" fmla="*/ 59 h 5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59">
                    <a:moveTo>
                      <a:pt x="8" y="0"/>
                    </a:moveTo>
                    <a:lnTo>
                      <a:pt x="25" y="40"/>
                    </a:lnTo>
                    <a:lnTo>
                      <a:pt x="10" y="38"/>
                    </a:lnTo>
                    <a:lnTo>
                      <a:pt x="13" y="59"/>
                    </a:lnTo>
                    <a:lnTo>
                      <a:pt x="0" y="30"/>
                    </a:lnTo>
                    <a:lnTo>
                      <a:pt x="15" y="3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08" name="Freeform 805"/>
              <p:cNvSpPr>
                <a:spLocks/>
              </p:cNvSpPr>
              <p:nvPr/>
            </p:nvSpPr>
            <p:spPr bwMode="auto">
              <a:xfrm>
                <a:off x="2678" y="1807"/>
                <a:ext cx="25" cy="54"/>
              </a:xfrm>
              <a:custGeom>
                <a:avLst/>
                <a:gdLst>
                  <a:gd name="T0" fmla="*/ 9 w 25"/>
                  <a:gd name="T1" fmla="*/ 0 h 54"/>
                  <a:gd name="T2" fmla="*/ 25 w 25"/>
                  <a:gd name="T3" fmla="*/ 37 h 54"/>
                  <a:gd name="T4" fmla="*/ 9 w 25"/>
                  <a:gd name="T5" fmla="*/ 35 h 54"/>
                  <a:gd name="T6" fmla="*/ 12 w 25"/>
                  <a:gd name="T7" fmla="*/ 54 h 54"/>
                  <a:gd name="T8" fmla="*/ 0 w 25"/>
                  <a:gd name="T9" fmla="*/ 27 h 54"/>
                  <a:gd name="T10" fmla="*/ 16 w 25"/>
                  <a:gd name="T11" fmla="*/ 29 h 54"/>
                  <a:gd name="T12" fmla="*/ 9 w 25"/>
                  <a:gd name="T13" fmla="*/ 0 h 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54"/>
                  <a:gd name="T23" fmla="*/ 25 w 25"/>
                  <a:gd name="T24" fmla="*/ 54 h 5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54">
                    <a:moveTo>
                      <a:pt x="9" y="0"/>
                    </a:moveTo>
                    <a:lnTo>
                      <a:pt x="25" y="37"/>
                    </a:lnTo>
                    <a:lnTo>
                      <a:pt x="9" y="35"/>
                    </a:lnTo>
                    <a:lnTo>
                      <a:pt x="12" y="54"/>
                    </a:lnTo>
                    <a:lnTo>
                      <a:pt x="0" y="27"/>
                    </a:lnTo>
                    <a:lnTo>
                      <a:pt x="16" y="2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09" name="Freeform 806"/>
              <p:cNvSpPr>
                <a:spLocks/>
              </p:cNvSpPr>
              <p:nvPr/>
            </p:nvSpPr>
            <p:spPr bwMode="auto">
              <a:xfrm>
                <a:off x="2678" y="1811"/>
                <a:ext cx="24" cy="48"/>
              </a:xfrm>
              <a:custGeom>
                <a:avLst/>
                <a:gdLst>
                  <a:gd name="T0" fmla="*/ 9 w 24"/>
                  <a:gd name="T1" fmla="*/ 0 h 48"/>
                  <a:gd name="T2" fmla="*/ 24 w 24"/>
                  <a:gd name="T3" fmla="*/ 32 h 48"/>
                  <a:gd name="T4" fmla="*/ 8 w 24"/>
                  <a:gd name="T5" fmla="*/ 30 h 48"/>
                  <a:gd name="T6" fmla="*/ 11 w 24"/>
                  <a:gd name="T7" fmla="*/ 48 h 48"/>
                  <a:gd name="T8" fmla="*/ 0 w 24"/>
                  <a:gd name="T9" fmla="*/ 23 h 48"/>
                  <a:gd name="T10" fmla="*/ 16 w 24"/>
                  <a:gd name="T11" fmla="*/ 26 h 48"/>
                  <a:gd name="T12" fmla="*/ 9 w 24"/>
                  <a:gd name="T13" fmla="*/ 0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4"/>
                  <a:gd name="T22" fmla="*/ 0 h 48"/>
                  <a:gd name="T23" fmla="*/ 24 w 24"/>
                  <a:gd name="T24" fmla="*/ 48 h 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4" h="48">
                    <a:moveTo>
                      <a:pt x="9" y="0"/>
                    </a:moveTo>
                    <a:lnTo>
                      <a:pt x="24" y="32"/>
                    </a:lnTo>
                    <a:lnTo>
                      <a:pt x="8" y="30"/>
                    </a:lnTo>
                    <a:lnTo>
                      <a:pt x="11" y="48"/>
                    </a:lnTo>
                    <a:lnTo>
                      <a:pt x="0" y="23"/>
                    </a:lnTo>
                    <a:lnTo>
                      <a:pt x="16" y="2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10" name="Freeform 807"/>
              <p:cNvSpPr>
                <a:spLocks/>
              </p:cNvSpPr>
              <p:nvPr/>
            </p:nvSpPr>
            <p:spPr bwMode="auto">
              <a:xfrm>
                <a:off x="2679" y="1814"/>
                <a:ext cx="23" cy="44"/>
              </a:xfrm>
              <a:custGeom>
                <a:avLst/>
                <a:gdLst>
                  <a:gd name="T0" fmla="*/ 10 w 23"/>
                  <a:gd name="T1" fmla="*/ 0 h 44"/>
                  <a:gd name="T2" fmla="*/ 23 w 23"/>
                  <a:gd name="T3" fmla="*/ 30 h 44"/>
                  <a:gd name="T4" fmla="*/ 7 w 23"/>
                  <a:gd name="T5" fmla="*/ 27 h 44"/>
                  <a:gd name="T6" fmla="*/ 10 w 23"/>
                  <a:gd name="T7" fmla="*/ 44 h 44"/>
                  <a:gd name="T8" fmla="*/ 0 w 23"/>
                  <a:gd name="T9" fmla="*/ 21 h 44"/>
                  <a:gd name="T10" fmla="*/ 16 w 23"/>
                  <a:gd name="T11" fmla="*/ 24 h 44"/>
                  <a:gd name="T12" fmla="*/ 10 w 23"/>
                  <a:gd name="T13" fmla="*/ 0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"/>
                  <a:gd name="T22" fmla="*/ 0 h 44"/>
                  <a:gd name="T23" fmla="*/ 23 w 23"/>
                  <a:gd name="T24" fmla="*/ 44 h 4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" h="44">
                    <a:moveTo>
                      <a:pt x="10" y="0"/>
                    </a:moveTo>
                    <a:lnTo>
                      <a:pt x="23" y="30"/>
                    </a:lnTo>
                    <a:lnTo>
                      <a:pt x="7" y="27"/>
                    </a:lnTo>
                    <a:lnTo>
                      <a:pt x="10" y="44"/>
                    </a:lnTo>
                    <a:lnTo>
                      <a:pt x="0" y="21"/>
                    </a:lnTo>
                    <a:lnTo>
                      <a:pt x="16" y="24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11" name="Freeform 808"/>
              <p:cNvSpPr>
                <a:spLocks/>
              </p:cNvSpPr>
              <p:nvPr/>
            </p:nvSpPr>
            <p:spPr bwMode="auto">
              <a:xfrm>
                <a:off x="2679" y="1817"/>
                <a:ext cx="23" cy="39"/>
              </a:xfrm>
              <a:custGeom>
                <a:avLst/>
                <a:gdLst>
                  <a:gd name="T0" fmla="*/ 11 w 23"/>
                  <a:gd name="T1" fmla="*/ 0 h 39"/>
                  <a:gd name="T2" fmla="*/ 23 w 23"/>
                  <a:gd name="T3" fmla="*/ 26 h 39"/>
                  <a:gd name="T4" fmla="*/ 7 w 23"/>
                  <a:gd name="T5" fmla="*/ 24 h 39"/>
                  <a:gd name="T6" fmla="*/ 10 w 23"/>
                  <a:gd name="T7" fmla="*/ 39 h 39"/>
                  <a:gd name="T8" fmla="*/ 0 w 23"/>
                  <a:gd name="T9" fmla="*/ 19 h 39"/>
                  <a:gd name="T10" fmla="*/ 16 w 23"/>
                  <a:gd name="T11" fmla="*/ 21 h 39"/>
                  <a:gd name="T12" fmla="*/ 11 w 23"/>
                  <a:gd name="T13" fmla="*/ 0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"/>
                  <a:gd name="T22" fmla="*/ 0 h 39"/>
                  <a:gd name="T23" fmla="*/ 23 w 23"/>
                  <a:gd name="T24" fmla="*/ 39 h 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" h="39">
                    <a:moveTo>
                      <a:pt x="11" y="0"/>
                    </a:moveTo>
                    <a:lnTo>
                      <a:pt x="23" y="26"/>
                    </a:lnTo>
                    <a:lnTo>
                      <a:pt x="7" y="24"/>
                    </a:lnTo>
                    <a:lnTo>
                      <a:pt x="10" y="39"/>
                    </a:lnTo>
                    <a:lnTo>
                      <a:pt x="0" y="19"/>
                    </a:lnTo>
                    <a:lnTo>
                      <a:pt x="16" y="2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12" name="Freeform 809"/>
              <p:cNvSpPr>
                <a:spLocks/>
              </p:cNvSpPr>
              <p:nvPr/>
            </p:nvSpPr>
            <p:spPr bwMode="auto">
              <a:xfrm>
                <a:off x="2680" y="1820"/>
                <a:ext cx="21" cy="33"/>
              </a:xfrm>
              <a:custGeom>
                <a:avLst/>
                <a:gdLst>
                  <a:gd name="T0" fmla="*/ 11 w 21"/>
                  <a:gd name="T1" fmla="*/ 0 h 33"/>
                  <a:gd name="T2" fmla="*/ 21 w 21"/>
                  <a:gd name="T3" fmla="*/ 23 h 33"/>
                  <a:gd name="T4" fmla="*/ 6 w 21"/>
                  <a:gd name="T5" fmla="*/ 21 h 33"/>
                  <a:gd name="T6" fmla="*/ 8 w 21"/>
                  <a:gd name="T7" fmla="*/ 33 h 33"/>
                  <a:gd name="T8" fmla="*/ 0 w 21"/>
                  <a:gd name="T9" fmla="*/ 16 h 33"/>
                  <a:gd name="T10" fmla="*/ 15 w 21"/>
                  <a:gd name="T11" fmla="*/ 18 h 33"/>
                  <a:gd name="T12" fmla="*/ 11 w 21"/>
                  <a:gd name="T13" fmla="*/ 0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33"/>
                  <a:gd name="T23" fmla="*/ 21 w 21"/>
                  <a:gd name="T24" fmla="*/ 33 h 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33">
                    <a:moveTo>
                      <a:pt x="11" y="0"/>
                    </a:moveTo>
                    <a:lnTo>
                      <a:pt x="21" y="23"/>
                    </a:lnTo>
                    <a:lnTo>
                      <a:pt x="6" y="21"/>
                    </a:lnTo>
                    <a:lnTo>
                      <a:pt x="8" y="33"/>
                    </a:lnTo>
                    <a:lnTo>
                      <a:pt x="0" y="16"/>
                    </a:lnTo>
                    <a:lnTo>
                      <a:pt x="15" y="18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13" name="Freeform 810"/>
              <p:cNvSpPr>
                <a:spLocks/>
              </p:cNvSpPr>
              <p:nvPr/>
            </p:nvSpPr>
            <p:spPr bwMode="auto">
              <a:xfrm>
                <a:off x="2680" y="1823"/>
                <a:ext cx="21" cy="28"/>
              </a:xfrm>
              <a:custGeom>
                <a:avLst/>
                <a:gdLst>
                  <a:gd name="T0" fmla="*/ 12 w 21"/>
                  <a:gd name="T1" fmla="*/ 0 h 28"/>
                  <a:gd name="T2" fmla="*/ 21 w 21"/>
                  <a:gd name="T3" fmla="*/ 19 h 28"/>
                  <a:gd name="T4" fmla="*/ 5 w 21"/>
                  <a:gd name="T5" fmla="*/ 17 h 28"/>
                  <a:gd name="T6" fmla="*/ 7 w 21"/>
                  <a:gd name="T7" fmla="*/ 28 h 28"/>
                  <a:gd name="T8" fmla="*/ 0 w 21"/>
                  <a:gd name="T9" fmla="*/ 13 h 28"/>
                  <a:gd name="T10" fmla="*/ 16 w 21"/>
                  <a:gd name="T11" fmla="*/ 17 h 28"/>
                  <a:gd name="T12" fmla="*/ 12 w 21"/>
                  <a:gd name="T13" fmla="*/ 0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28"/>
                  <a:gd name="T23" fmla="*/ 21 w 21"/>
                  <a:gd name="T24" fmla="*/ 28 h 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28">
                    <a:moveTo>
                      <a:pt x="12" y="0"/>
                    </a:moveTo>
                    <a:lnTo>
                      <a:pt x="21" y="19"/>
                    </a:lnTo>
                    <a:lnTo>
                      <a:pt x="5" y="17"/>
                    </a:lnTo>
                    <a:lnTo>
                      <a:pt x="7" y="28"/>
                    </a:lnTo>
                    <a:lnTo>
                      <a:pt x="0" y="13"/>
                    </a:lnTo>
                    <a:lnTo>
                      <a:pt x="16" y="17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14" name="Freeform 811"/>
              <p:cNvSpPr>
                <a:spLocks/>
              </p:cNvSpPr>
              <p:nvPr/>
            </p:nvSpPr>
            <p:spPr bwMode="auto">
              <a:xfrm>
                <a:off x="2680" y="1827"/>
                <a:ext cx="20" cy="22"/>
              </a:xfrm>
              <a:custGeom>
                <a:avLst/>
                <a:gdLst>
                  <a:gd name="T0" fmla="*/ 13 w 20"/>
                  <a:gd name="T1" fmla="*/ 0 h 22"/>
                  <a:gd name="T2" fmla="*/ 16 w 20"/>
                  <a:gd name="T3" fmla="*/ 13 h 22"/>
                  <a:gd name="T4" fmla="*/ 0 w 20"/>
                  <a:gd name="T5" fmla="*/ 10 h 22"/>
                  <a:gd name="T6" fmla="*/ 6 w 20"/>
                  <a:gd name="T7" fmla="*/ 22 h 22"/>
                  <a:gd name="T8" fmla="*/ 4 w 20"/>
                  <a:gd name="T9" fmla="*/ 13 h 22"/>
                  <a:gd name="T10" fmla="*/ 20 w 20"/>
                  <a:gd name="T11" fmla="*/ 15 h 22"/>
                  <a:gd name="T12" fmla="*/ 13 w 20"/>
                  <a:gd name="T13" fmla="*/ 0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"/>
                  <a:gd name="T22" fmla="*/ 0 h 22"/>
                  <a:gd name="T23" fmla="*/ 20 w 20"/>
                  <a:gd name="T24" fmla="*/ 22 h 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" h="22">
                    <a:moveTo>
                      <a:pt x="13" y="0"/>
                    </a:moveTo>
                    <a:lnTo>
                      <a:pt x="16" y="13"/>
                    </a:lnTo>
                    <a:lnTo>
                      <a:pt x="0" y="10"/>
                    </a:lnTo>
                    <a:lnTo>
                      <a:pt x="6" y="22"/>
                    </a:lnTo>
                    <a:lnTo>
                      <a:pt x="4" y="13"/>
                    </a:lnTo>
                    <a:lnTo>
                      <a:pt x="20" y="15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15" name="Freeform 812"/>
              <p:cNvSpPr>
                <a:spLocks/>
              </p:cNvSpPr>
              <p:nvPr/>
            </p:nvSpPr>
            <p:spPr bwMode="auto">
              <a:xfrm>
                <a:off x="2570" y="1845"/>
                <a:ext cx="61" cy="46"/>
              </a:xfrm>
              <a:custGeom>
                <a:avLst/>
                <a:gdLst>
                  <a:gd name="T0" fmla="*/ 0 w 61"/>
                  <a:gd name="T1" fmla="*/ 0 h 46"/>
                  <a:gd name="T2" fmla="*/ 37 w 61"/>
                  <a:gd name="T3" fmla="*/ 22 h 46"/>
                  <a:gd name="T4" fmla="*/ 24 w 61"/>
                  <a:gd name="T5" fmla="*/ 31 h 46"/>
                  <a:gd name="T6" fmla="*/ 61 w 61"/>
                  <a:gd name="T7" fmla="*/ 46 h 46"/>
                  <a:gd name="T8" fmla="*/ 40 w 61"/>
                  <a:gd name="T9" fmla="*/ 30 h 46"/>
                  <a:gd name="T10" fmla="*/ 53 w 61"/>
                  <a:gd name="T11" fmla="*/ 20 h 46"/>
                  <a:gd name="T12" fmla="*/ 0 w 61"/>
                  <a:gd name="T13" fmla="*/ 0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1"/>
                  <a:gd name="T22" fmla="*/ 0 h 46"/>
                  <a:gd name="T23" fmla="*/ 61 w 61"/>
                  <a:gd name="T24" fmla="*/ 46 h 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1" h="46">
                    <a:moveTo>
                      <a:pt x="0" y="0"/>
                    </a:moveTo>
                    <a:lnTo>
                      <a:pt x="37" y="22"/>
                    </a:lnTo>
                    <a:lnTo>
                      <a:pt x="24" y="31"/>
                    </a:lnTo>
                    <a:lnTo>
                      <a:pt x="61" y="46"/>
                    </a:lnTo>
                    <a:lnTo>
                      <a:pt x="40" y="30"/>
                    </a:lnTo>
                    <a:lnTo>
                      <a:pt x="53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16" name="Freeform 813"/>
              <p:cNvSpPr>
                <a:spLocks/>
              </p:cNvSpPr>
              <p:nvPr/>
            </p:nvSpPr>
            <p:spPr bwMode="auto">
              <a:xfrm>
                <a:off x="2569" y="1842"/>
                <a:ext cx="41" cy="26"/>
              </a:xfrm>
              <a:custGeom>
                <a:avLst/>
                <a:gdLst>
                  <a:gd name="T0" fmla="*/ 40 w 41"/>
                  <a:gd name="T1" fmla="*/ 25 h 26"/>
                  <a:gd name="T2" fmla="*/ 40 w 41"/>
                  <a:gd name="T3" fmla="*/ 21 h 26"/>
                  <a:gd name="T4" fmla="*/ 2 w 41"/>
                  <a:gd name="T5" fmla="*/ 0 h 26"/>
                  <a:gd name="T6" fmla="*/ 0 w 41"/>
                  <a:gd name="T7" fmla="*/ 4 h 26"/>
                  <a:gd name="T8" fmla="*/ 37 w 41"/>
                  <a:gd name="T9" fmla="*/ 26 h 26"/>
                  <a:gd name="T10" fmla="*/ 37 w 41"/>
                  <a:gd name="T11" fmla="*/ 22 h 26"/>
                  <a:gd name="T12" fmla="*/ 37 w 41"/>
                  <a:gd name="T13" fmla="*/ 26 h 26"/>
                  <a:gd name="T14" fmla="*/ 39 w 41"/>
                  <a:gd name="T15" fmla="*/ 26 h 26"/>
                  <a:gd name="T16" fmla="*/ 41 w 41"/>
                  <a:gd name="T17" fmla="*/ 25 h 26"/>
                  <a:gd name="T18" fmla="*/ 41 w 41"/>
                  <a:gd name="T19" fmla="*/ 23 h 26"/>
                  <a:gd name="T20" fmla="*/ 40 w 41"/>
                  <a:gd name="T21" fmla="*/ 21 h 26"/>
                  <a:gd name="T22" fmla="*/ 40 w 41"/>
                  <a:gd name="T23" fmla="*/ 25 h 2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1"/>
                  <a:gd name="T37" fmla="*/ 0 h 26"/>
                  <a:gd name="T38" fmla="*/ 41 w 41"/>
                  <a:gd name="T39" fmla="*/ 26 h 2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1" h="26">
                    <a:moveTo>
                      <a:pt x="40" y="25"/>
                    </a:moveTo>
                    <a:lnTo>
                      <a:pt x="40" y="21"/>
                    </a:lnTo>
                    <a:lnTo>
                      <a:pt x="2" y="0"/>
                    </a:lnTo>
                    <a:lnTo>
                      <a:pt x="0" y="4"/>
                    </a:lnTo>
                    <a:lnTo>
                      <a:pt x="37" y="26"/>
                    </a:lnTo>
                    <a:lnTo>
                      <a:pt x="37" y="22"/>
                    </a:lnTo>
                    <a:lnTo>
                      <a:pt x="37" y="26"/>
                    </a:lnTo>
                    <a:lnTo>
                      <a:pt x="39" y="26"/>
                    </a:lnTo>
                    <a:lnTo>
                      <a:pt x="41" y="25"/>
                    </a:lnTo>
                    <a:lnTo>
                      <a:pt x="41" y="23"/>
                    </a:lnTo>
                    <a:lnTo>
                      <a:pt x="40" y="21"/>
                    </a:lnTo>
                    <a:lnTo>
                      <a:pt x="4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17" name="Freeform 814"/>
              <p:cNvSpPr>
                <a:spLocks/>
              </p:cNvSpPr>
              <p:nvPr/>
            </p:nvSpPr>
            <p:spPr bwMode="auto">
              <a:xfrm>
                <a:off x="2592" y="1864"/>
                <a:ext cx="16" cy="14"/>
              </a:xfrm>
              <a:custGeom>
                <a:avLst/>
                <a:gdLst>
                  <a:gd name="T0" fmla="*/ 3 w 16"/>
                  <a:gd name="T1" fmla="*/ 10 h 14"/>
                  <a:gd name="T2" fmla="*/ 3 w 16"/>
                  <a:gd name="T3" fmla="*/ 14 h 14"/>
                  <a:gd name="T4" fmla="*/ 16 w 16"/>
                  <a:gd name="T5" fmla="*/ 4 h 14"/>
                  <a:gd name="T6" fmla="*/ 13 w 16"/>
                  <a:gd name="T7" fmla="*/ 0 h 14"/>
                  <a:gd name="T8" fmla="*/ 1 w 16"/>
                  <a:gd name="T9" fmla="*/ 10 h 14"/>
                  <a:gd name="T10" fmla="*/ 1 w 16"/>
                  <a:gd name="T11" fmla="*/ 14 h 14"/>
                  <a:gd name="T12" fmla="*/ 1 w 16"/>
                  <a:gd name="T13" fmla="*/ 10 h 14"/>
                  <a:gd name="T14" fmla="*/ 0 w 16"/>
                  <a:gd name="T15" fmla="*/ 12 h 14"/>
                  <a:gd name="T16" fmla="*/ 0 w 16"/>
                  <a:gd name="T17" fmla="*/ 13 h 14"/>
                  <a:gd name="T18" fmla="*/ 1 w 16"/>
                  <a:gd name="T19" fmla="*/ 14 h 14"/>
                  <a:gd name="T20" fmla="*/ 3 w 16"/>
                  <a:gd name="T21" fmla="*/ 14 h 14"/>
                  <a:gd name="T22" fmla="*/ 3 w 16"/>
                  <a:gd name="T23" fmla="*/ 10 h 1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6"/>
                  <a:gd name="T37" fmla="*/ 0 h 14"/>
                  <a:gd name="T38" fmla="*/ 16 w 16"/>
                  <a:gd name="T39" fmla="*/ 14 h 1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6" h="14">
                    <a:moveTo>
                      <a:pt x="3" y="10"/>
                    </a:moveTo>
                    <a:lnTo>
                      <a:pt x="3" y="14"/>
                    </a:lnTo>
                    <a:lnTo>
                      <a:pt x="16" y="4"/>
                    </a:lnTo>
                    <a:lnTo>
                      <a:pt x="13" y="0"/>
                    </a:lnTo>
                    <a:lnTo>
                      <a:pt x="1" y="10"/>
                    </a:lnTo>
                    <a:lnTo>
                      <a:pt x="1" y="14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3"/>
                    </a:lnTo>
                    <a:lnTo>
                      <a:pt x="1" y="14"/>
                    </a:lnTo>
                    <a:lnTo>
                      <a:pt x="3" y="14"/>
                    </a:lnTo>
                    <a:lnTo>
                      <a:pt x="3" y="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18" name="Freeform 815"/>
              <p:cNvSpPr>
                <a:spLocks/>
              </p:cNvSpPr>
              <p:nvPr/>
            </p:nvSpPr>
            <p:spPr bwMode="auto">
              <a:xfrm>
                <a:off x="2593" y="1874"/>
                <a:ext cx="40" cy="19"/>
              </a:xfrm>
              <a:custGeom>
                <a:avLst/>
                <a:gdLst>
                  <a:gd name="T0" fmla="*/ 36 w 40"/>
                  <a:gd name="T1" fmla="*/ 19 h 19"/>
                  <a:gd name="T2" fmla="*/ 39 w 40"/>
                  <a:gd name="T3" fmla="*/ 15 h 19"/>
                  <a:gd name="T4" fmla="*/ 2 w 40"/>
                  <a:gd name="T5" fmla="*/ 0 h 19"/>
                  <a:gd name="T6" fmla="*/ 0 w 40"/>
                  <a:gd name="T7" fmla="*/ 4 h 19"/>
                  <a:gd name="T8" fmla="*/ 37 w 40"/>
                  <a:gd name="T9" fmla="*/ 19 h 19"/>
                  <a:gd name="T10" fmla="*/ 39 w 40"/>
                  <a:gd name="T11" fmla="*/ 15 h 19"/>
                  <a:gd name="T12" fmla="*/ 37 w 40"/>
                  <a:gd name="T13" fmla="*/ 19 h 19"/>
                  <a:gd name="T14" fmla="*/ 39 w 40"/>
                  <a:gd name="T15" fmla="*/ 19 h 19"/>
                  <a:gd name="T16" fmla="*/ 40 w 40"/>
                  <a:gd name="T17" fmla="*/ 18 h 19"/>
                  <a:gd name="T18" fmla="*/ 40 w 40"/>
                  <a:gd name="T19" fmla="*/ 16 h 19"/>
                  <a:gd name="T20" fmla="*/ 39 w 40"/>
                  <a:gd name="T21" fmla="*/ 15 h 19"/>
                  <a:gd name="T22" fmla="*/ 36 w 40"/>
                  <a:gd name="T23" fmla="*/ 19 h 1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0"/>
                  <a:gd name="T37" fmla="*/ 0 h 19"/>
                  <a:gd name="T38" fmla="*/ 40 w 40"/>
                  <a:gd name="T39" fmla="*/ 19 h 1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0" h="19">
                    <a:moveTo>
                      <a:pt x="36" y="19"/>
                    </a:moveTo>
                    <a:lnTo>
                      <a:pt x="39" y="15"/>
                    </a:lnTo>
                    <a:lnTo>
                      <a:pt x="2" y="0"/>
                    </a:lnTo>
                    <a:lnTo>
                      <a:pt x="0" y="4"/>
                    </a:lnTo>
                    <a:lnTo>
                      <a:pt x="37" y="19"/>
                    </a:lnTo>
                    <a:lnTo>
                      <a:pt x="39" y="15"/>
                    </a:lnTo>
                    <a:lnTo>
                      <a:pt x="37" y="19"/>
                    </a:lnTo>
                    <a:lnTo>
                      <a:pt x="39" y="19"/>
                    </a:lnTo>
                    <a:lnTo>
                      <a:pt x="40" y="18"/>
                    </a:lnTo>
                    <a:lnTo>
                      <a:pt x="40" y="16"/>
                    </a:lnTo>
                    <a:lnTo>
                      <a:pt x="39" y="15"/>
                    </a:lnTo>
                    <a:lnTo>
                      <a:pt x="36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19" name="Freeform 816"/>
              <p:cNvSpPr>
                <a:spLocks/>
              </p:cNvSpPr>
              <p:nvPr/>
            </p:nvSpPr>
            <p:spPr bwMode="auto">
              <a:xfrm>
                <a:off x="2608" y="1872"/>
                <a:ext cx="25" cy="21"/>
              </a:xfrm>
              <a:custGeom>
                <a:avLst/>
                <a:gdLst>
                  <a:gd name="T0" fmla="*/ 1 w 25"/>
                  <a:gd name="T1" fmla="*/ 1 h 21"/>
                  <a:gd name="T2" fmla="*/ 1 w 25"/>
                  <a:gd name="T3" fmla="*/ 5 h 21"/>
                  <a:gd name="T4" fmla="*/ 22 w 25"/>
                  <a:gd name="T5" fmla="*/ 21 h 21"/>
                  <a:gd name="T6" fmla="*/ 25 w 25"/>
                  <a:gd name="T7" fmla="*/ 17 h 21"/>
                  <a:gd name="T8" fmla="*/ 4 w 25"/>
                  <a:gd name="T9" fmla="*/ 1 h 21"/>
                  <a:gd name="T10" fmla="*/ 4 w 25"/>
                  <a:gd name="T11" fmla="*/ 5 h 21"/>
                  <a:gd name="T12" fmla="*/ 4 w 25"/>
                  <a:gd name="T13" fmla="*/ 1 h 21"/>
                  <a:gd name="T14" fmla="*/ 2 w 25"/>
                  <a:gd name="T15" fmla="*/ 0 h 21"/>
                  <a:gd name="T16" fmla="*/ 1 w 25"/>
                  <a:gd name="T17" fmla="*/ 1 h 21"/>
                  <a:gd name="T18" fmla="*/ 0 w 25"/>
                  <a:gd name="T19" fmla="*/ 3 h 21"/>
                  <a:gd name="T20" fmla="*/ 1 w 25"/>
                  <a:gd name="T21" fmla="*/ 5 h 21"/>
                  <a:gd name="T22" fmla="*/ 1 w 25"/>
                  <a:gd name="T23" fmla="*/ 1 h 2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5"/>
                  <a:gd name="T37" fmla="*/ 0 h 21"/>
                  <a:gd name="T38" fmla="*/ 25 w 25"/>
                  <a:gd name="T39" fmla="*/ 21 h 2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5" h="21">
                    <a:moveTo>
                      <a:pt x="1" y="1"/>
                    </a:moveTo>
                    <a:lnTo>
                      <a:pt x="1" y="5"/>
                    </a:lnTo>
                    <a:lnTo>
                      <a:pt x="22" y="21"/>
                    </a:lnTo>
                    <a:lnTo>
                      <a:pt x="25" y="17"/>
                    </a:lnTo>
                    <a:lnTo>
                      <a:pt x="4" y="1"/>
                    </a:lnTo>
                    <a:lnTo>
                      <a:pt x="4" y="5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1" y="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20" name="Freeform 817"/>
              <p:cNvSpPr>
                <a:spLocks/>
              </p:cNvSpPr>
              <p:nvPr/>
            </p:nvSpPr>
            <p:spPr bwMode="auto">
              <a:xfrm>
                <a:off x="2608" y="1862"/>
                <a:ext cx="17" cy="15"/>
              </a:xfrm>
              <a:custGeom>
                <a:avLst/>
                <a:gdLst>
                  <a:gd name="T0" fmla="*/ 14 w 17"/>
                  <a:gd name="T1" fmla="*/ 5 h 15"/>
                  <a:gd name="T2" fmla="*/ 13 w 17"/>
                  <a:gd name="T3" fmla="*/ 1 h 15"/>
                  <a:gd name="T4" fmla="*/ 0 w 17"/>
                  <a:gd name="T5" fmla="*/ 11 h 15"/>
                  <a:gd name="T6" fmla="*/ 3 w 17"/>
                  <a:gd name="T7" fmla="*/ 15 h 15"/>
                  <a:gd name="T8" fmla="*/ 16 w 17"/>
                  <a:gd name="T9" fmla="*/ 4 h 15"/>
                  <a:gd name="T10" fmla="*/ 15 w 17"/>
                  <a:gd name="T11" fmla="*/ 0 h 15"/>
                  <a:gd name="T12" fmla="*/ 16 w 17"/>
                  <a:gd name="T13" fmla="*/ 4 h 15"/>
                  <a:gd name="T14" fmla="*/ 17 w 17"/>
                  <a:gd name="T15" fmla="*/ 3 h 15"/>
                  <a:gd name="T16" fmla="*/ 16 w 17"/>
                  <a:gd name="T17" fmla="*/ 1 h 15"/>
                  <a:gd name="T18" fmla="*/ 15 w 17"/>
                  <a:gd name="T19" fmla="*/ 0 h 15"/>
                  <a:gd name="T20" fmla="*/ 13 w 17"/>
                  <a:gd name="T21" fmla="*/ 1 h 15"/>
                  <a:gd name="T22" fmla="*/ 14 w 17"/>
                  <a:gd name="T23" fmla="*/ 5 h 1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7"/>
                  <a:gd name="T37" fmla="*/ 0 h 15"/>
                  <a:gd name="T38" fmla="*/ 17 w 17"/>
                  <a:gd name="T39" fmla="*/ 15 h 1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7" h="15">
                    <a:moveTo>
                      <a:pt x="14" y="5"/>
                    </a:moveTo>
                    <a:lnTo>
                      <a:pt x="13" y="1"/>
                    </a:lnTo>
                    <a:lnTo>
                      <a:pt x="0" y="11"/>
                    </a:lnTo>
                    <a:lnTo>
                      <a:pt x="3" y="15"/>
                    </a:lnTo>
                    <a:lnTo>
                      <a:pt x="16" y="4"/>
                    </a:lnTo>
                    <a:lnTo>
                      <a:pt x="15" y="0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6" y="1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4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21" name="Freeform 818"/>
              <p:cNvSpPr>
                <a:spLocks/>
              </p:cNvSpPr>
              <p:nvPr/>
            </p:nvSpPr>
            <p:spPr bwMode="auto">
              <a:xfrm>
                <a:off x="2568" y="1842"/>
                <a:ext cx="56" cy="25"/>
              </a:xfrm>
              <a:custGeom>
                <a:avLst/>
                <a:gdLst>
                  <a:gd name="T0" fmla="*/ 3 w 56"/>
                  <a:gd name="T1" fmla="*/ 0 h 25"/>
                  <a:gd name="T2" fmla="*/ 1 w 56"/>
                  <a:gd name="T3" fmla="*/ 5 h 25"/>
                  <a:gd name="T4" fmla="*/ 54 w 56"/>
                  <a:gd name="T5" fmla="*/ 25 h 25"/>
                  <a:gd name="T6" fmla="*/ 56 w 56"/>
                  <a:gd name="T7" fmla="*/ 21 h 25"/>
                  <a:gd name="T8" fmla="*/ 3 w 56"/>
                  <a:gd name="T9" fmla="*/ 0 h 25"/>
                  <a:gd name="T10" fmla="*/ 1 w 56"/>
                  <a:gd name="T11" fmla="*/ 5 h 25"/>
                  <a:gd name="T12" fmla="*/ 3 w 56"/>
                  <a:gd name="T13" fmla="*/ 0 h 25"/>
                  <a:gd name="T14" fmla="*/ 1 w 56"/>
                  <a:gd name="T15" fmla="*/ 0 h 25"/>
                  <a:gd name="T16" fmla="*/ 0 w 56"/>
                  <a:gd name="T17" fmla="*/ 1 h 25"/>
                  <a:gd name="T18" fmla="*/ 0 w 56"/>
                  <a:gd name="T19" fmla="*/ 3 h 25"/>
                  <a:gd name="T20" fmla="*/ 1 w 56"/>
                  <a:gd name="T21" fmla="*/ 5 h 25"/>
                  <a:gd name="T22" fmla="*/ 3 w 56"/>
                  <a:gd name="T23" fmla="*/ 0 h 2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6"/>
                  <a:gd name="T37" fmla="*/ 0 h 25"/>
                  <a:gd name="T38" fmla="*/ 56 w 56"/>
                  <a:gd name="T39" fmla="*/ 25 h 2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6" h="25">
                    <a:moveTo>
                      <a:pt x="3" y="0"/>
                    </a:moveTo>
                    <a:lnTo>
                      <a:pt x="1" y="5"/>
                    </a:lnTo>
                    <a:lnTo>
                      <a:pt x="54" y="25"/>
                    </a:lnTo>
                    <a:lnTo>
                      <a:pt x="56" y="21"/>
                    </a:lnTo>
                    <a:lnTo>
                      <a:pt x="3" y="0"/>
                    </a:lnTo>
                    <a:lnTo>
                      <a:pt x="1" y="5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22" name="Freeform 819"/>
              <p:cNvSpPr>
                <a:spLocks/>
              </p:cNvSpPr>
              <p:nvPr/>
            </p:nvSpPr>
            <p:spPr bwMode="auto">
              <a:xfrm>
                <a:off x="2574" y="1846"/>
                <a:ext cx="55" cy="44"/>
              </a:xfrm>
              <a:custGeom>
                <a:avLst/>
                <a:gdLst>
                  <a:gd name="T0" fmla="*/ 0 w 55"/>
                  <a:gd name="T1" fmla="*/ 0 h 44"/>
                  <a:gd name="T2" fmla="*/ 48 w 55"/>
                  <a:gd name="T3" fmla="*/ 19 h 44"/>
                  <a:gd name="T4" fmla="*/ 36 w 55"/>
                  <a:gd name="T5" fmla="*/ 29 h 44"/>
                  <a:gd name="T6" fmla="*/ 55 w 55"/>
                  <a:gd name="T7" fmla="*/ 44 h 44"/>
                  <a:gd name="T8" fmla="*/ 21 w 55"/>
                  <a:gd name="T9" fmla="*/ 30 h 44"/>
                  <a:gd name="T10" fmla="*/ 34 w 55"/>
                  <a:gd name="T11" fmla="*/ 20 h 44"/>
                  <a:gd name="T12" fmla="*/ 0 w 55"/>
                  <a:gd name="T13" fmla="*/ 0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5"/>
                  <a:gd name="T22" fmla="*/ 0 h 44"/>
                  <a:gd name="T23" fmla="*/ 55 w 55"/>
                  <a:gd name="T24" fmla="*/ 44 h 4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5" h="44">
                    <a:moveTo>
                      <a:pt x="0" y="0"/>
                    </a:moveTo>
                    <a:lnTo>
                      <a:pt x="48" y="19"/>
                    </a:lnTo>
                    <a:lnTo>
                      <a:pt x="36" y="29"/>
                    </a:lnTo>
                    <a:lnTo>
                      <a:pt x="55" y="44"/>
                    </a:lnTo>
                    <a:lnTo>
                      <a:pt x="21" y="30"/>
                    </a:lnTo>
                    <a:lnTo>
                      <a:pt x="34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191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23" name="Freeform 820"/>
              <p:cNvSpPr>
                <a:spLocks/>
              </p:cNvSpPr>
              <p:nvPr/>
            </p:nvSpPr>
            <p:spPr bwMode="auto">
              <a:xfrm>
                <a:off x="2577" y="1847"/>
                <a:ext cx="51" cy="42"/>
              </a:xfrm>
              <a:custGeom>
                <a:avLst/>
                <a:gdLst>
                  <a:gd name="T0" fmla="*/ 0 w 51"/>
                  <a:gd name="T1" fmla="*/ 0 h 42"/>
                  <a:gd name="T2" fmla="*/ 45 w 51"/>
                  <a:gd name="T3" fmla="*/ 18 h 42"/>
                  <a:gd name="T4" fmla="*/ 32 w 51"/>
                  <a:gd name="T5" fmla="*/ 28 h 42"/>
                  <a:gd name="T6" fmla="*/ 51 w 51"/>
                  <a:gd name="T7" fmla="*/ 42 h 42"/>
                  <a:gd name="T8" fmla="*/ 18 w 51"/>
                  <a:gd name="T9" fmla="*/ 29 h 42"/>
                  <a:gd name="T10" fmla="*/ 32 w 51"/>
                  <a:gd name="T11" fmla="*/ 19 h 42"/>
                  <a:gd name="T12" fmla="*/ 0 w 51"/>
                  <a:gd name="T13" fmla="*/ 0 h 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1"/>
                  <a:gd name="T22" fmla="*/ 0 h 42"/>
                  <a:gd name="T23" fmla="*/ 51 w 51"/>
                  <a:gd name="T24" fmla="*/ 42 h 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1" h="42">
                    <a:moveTo>
                      <a:pt x="0" y="0"/>
                    </a:moveTo>
                    <a:lnTo>
                      <a:pt x="45" y="18"/>
                    </a:lnTo>
                    <a:lnTo>
                      <a:pt x="32" y="28"/>
                    </a:lnTo>
                    <a:lnTo>
                      <a:pt x="51" y="42"/>
                    </a:lnTo>
                    <a:lnTo>
                      <a:pt x="18" y="29"/>
                    </a:lnTo>
                    <a:lnTo>
                      <a:pt x="32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24" name="Freeform 821"/>
              <p:cNvSpPr>
                <a:spLocks/>
              </p:cNvSpPr>
              <p:nvPr/>
            </p:nvSpPr>
            <p:spPr bwMode="auto">
              <a:xfrm>
                <a:off x="2580" y="1849"/>
                <a:ext cx="46" cy="39"/>
              </a:xfrm>
              <a:custGeom>
                <a:avLst/>
                <a:gdLst>
                  <a:gd name="T0" fmla="*/ 0 w 46"/>
                  <a:gd name="T1" fmla="*/ 0 h 39"/>
                  <a:gd name="T2" fmla="*/ 42 w 46"/>
                  <a:gd name="T3" fmla="*/ 16 h 39"/>
                  <a:gd name="T4" fmla="*/ 29 w 46"/>
                  <a:gd name="T5" fmla="*/ 26 h 39"/>
                  <a:gd name="T6" fmla="*/ 46 w 46"/>
                  <a:gd name="T7" fmla="*/ 39 h 39"/>
                  <a:gd name="T8" fmla="*/ 16 w 46"/>
                  <a:gd name="T9" fmla="*/ 27 h 39"/>
                  <a:gd name="T10" fmla="*/ 29 w 46"/>
                  <a:gd name="T11" fmla="*/ 17 h 39"/>
                  <a:gd name="T12" fmla="*/ 0 w 46"/>
                  <a:gd name="T13" fmla="*/ 0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6"/>
                  <a:gd name="T22" fmla="*/ 0 h 39"/>
                  <a:gd name="T23" fmla="*/ 46 w 46"/>
                  <a:gd name="T24" fmla="*/ 39 h 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6" h="39">
                    <a:moveTo>
                      <a:pt x="0" y="0"/>
                    </a:moveTo>
                    <a:lnTo>
                      <a:pt x="42" y="16"/>
                    </a:lnTo>
                    <a:lnTo>
                      <a:pt x="29" y="26"/>
                    </a:lnTo>
                    <a:lnTo>
                      <a:pt x="46" y="39"/>
                    </a:lnTo>
                    <a:lnTo>
                      <a:pt x="16" y="27"/>
                    </a:lnTo>
                    <a:lnTo>
                      <a:pt x="29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25" name="Freeform 822"/>
              <p:cNvSpPr>
                <a:spLocks/>
              </p:cNvSpPr>
              <p:nvPr/>
            </p:nvSpPr>
            <p:spPr bwMode="auto">
              <a:xfrm>
                <a:off x="2583" y="1850"/>
                <a:ext cx="41" cy="37"/>
              </a:xfrm>
              <a:custGeom>
                <a:avLst/>
                <a:gdLst>
                  <a:gd name="T0" fmla="*/ 0 w 41"/>
                  <a:gd name="T1" fmla="*/ 0 h 37"/>
                  <a:gd name="T2" fmla="*/ 38 w 41"/>
                  <a:gd name="T3" fmla="*/ 15 h 37"/>
                  <a:gd name="T4" fmla="*/ 25 w 41"/>
                  <a:gd name="T5" fmla="*/ 25 h 37"/>
                  <a:gd name="T6" fmla="*/ 41 w 41"/>
                  <a:gd name="T7" fmla="*/ 37 h 37"/>
                  <a:gd name="T8" fmla="*/ 14 w 41"/>
                  <a:gd name="T9" fmla="*/ 26 h 37"/>
                  <a:gd name="T10" fmla="*/ 27 w 41"/>
                  <a:gd name="T11" fmla="*/ 16 h 37"/>
                  <a:gd name="T12" fmla="*/ 0 w 41"/>
                  <a:gd name="T13" fmla="*/ 0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1"/>
                  <a:gd name="T22" fmla="*/ 0 h 37"/>
                  <a:gd name="T23" fmla="*/ 41 w 41"/>
                  <a:gd name="T24" fmla="*/ 37 h 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1" h="37">
                    <a:moveTo>
                      <a:pt x="0" y="0"/>
                    </a:moveTo>
                    <a:lnTo>
                      <a:pt x="38" y="15"/>
                    </a:lnTo>
                    <a:lnTo>
                      <a:pt x="25" y="25"/>
                    </a:lnTo>
                    <a:lnTo>
                      <a:pt x="41" y="37"/>
                    </a:lnTo>
                    <a:lnTo>
                      <a:pt x="14" y="26"/>
                    </a:lnTo>
                    <a:lnTo>
                      <a:pt x="27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26" name="Freeform 823"/>
              <p:cNvSpPr>
                <a:spLocks/>
              </p:cNvSpPr>
              <p:nvPr/>
            </p:nvSpPr>
            <p:spPr bwMode="auto">
              <a:xfrm>
                <a:off x="2586" y="1852"/>
                <a:ext cx="36" cy="33"/>
              </a:xfrm>
              <a:custGeom>
                <a:avLst/>
                <a:gdLst>
                  <a:gd name="T0" fmla="*/ 0 w 36"/>
                  <a:gd name="T1" fmla="*/ 0 h 33"/>
                  <a:gd name="T2" fmla="*/ 34 w 36"/>
                  <a:gd name="T3" fmla="*/ 13 h 33"/>
                  <a:gd name="T4" fmla="*/ 21 w 36"/>
                  <a:gd name="T5" fmla="*/ 23 h 33"/>
                  <a:gd name="T6" fmla="*/ 36 w 36"/>
                  <a:gd name="T7" fmla="*/ 33 h 33"/>
                  <a:gd name="T8" fmla="*/ 11 w 36"/>
                  <a:gd name="T9" fmla="*/ 24 h 33"/>
                  <a:gd name="T10" fmla="*/ 24 w 36"/>
                  <a:gd name="T11" fmla="*/ 14 h 33"/>
                  <a:gd name="T12" fmla="*/ 0 w 36"/>
                  <a:gd name="T13" fmla="*/ 0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6"/>
                  <a:gd name="T22" fmla="*/ 0 h 33"/>
                  <a:gd name="T23" fmla="*/ 36 w 36"/>
                  <a:gd name="T24" fmla="*/ 33 h 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6" h="33">
                    <a:moveTo>
                      <a:pt x="0" y="0"/>
                    </a:moveTo>
                    <a:lnTo>
                      <a:pt x="34" y="13"/>
                    </a:lnTo>
                    <a:lnTo>
                      <a:pt x="21" y="23"/>
                    </a:lnTo>
                    <a:lnTo>
                      <a:pt x="36" y="33"/>
                    </a:lnTo>
                    <a:lnTo>
                      <a:pt x="11" y="24"/>
                    </a:lnTo>
                    <a:lnTo>
                      <a:pt x="2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27" name="Freeform 824"/>
              <p:cNvSpPr>
                <a:spLocks/>
              </p:cNvSpPr>
              <p:nvPr/>
            </p:nvSpPr>
            <p:spPr bwMode="auto">
              <a:xfrm>
                <a:off x="2590" y="1853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30 w 31"/>
                  <a:gd name="T3" fmla="*/ 12 h 31"/>
                  <a:gd name="T4" fmla="*/ 17 w 31"/>
                  <a:gd name="T5" fmla="*/ 22 h 31"/>
                  <a:gd name="T6" fmla="*/ 31 w 31"/>
                  <a:gd name="T7" fmla="*/ 31 h 31"/>
                  <a:gd name="T8" fmla="*/ 8 w 31"/>
                  <a:gd name="T9" fmla="*/ 23 h 31"/>
                  <a:gd name="T10" fmla="*/ 21 w 31"/>
                  <a:gd name="T11" fmla="*/ 13 h 31"/>
                  <a:gd name="T12" fmla="*/ 0 w 31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"/>
                  <a:gd name="T22" fmla="*/ 0 h 31"/>
                  <a:gd name="T23" fmla="*/ 31 w 31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" h="31">
                    <a:moveTo>
                      <a:pt x="0" y="0"/>
                    </a:moveTo>
                    <a:lnTo>
                      <a:pt x="30" y="12"/>
                    </a:lnTo>
                    <a:lnTo>
                      <a:pt x="17" y="22"/>
                    </a:lnTo>
                    <a:lnTo>
                      <a:pt x="31" y="31"/>
                    </a:lnTo>
                    <a:lnTo>
                      <a:pt x="8" y="23"/>
                    </a:lnTo>
                    <a:lnTo>
                      <a:pt x="21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28" name="Freeform 825"/>
              <p:cNvSpPr>
                <a:spLocks/>
              </p:cNvSpPr>
              <p:nvPr/>
            </p:nvSpPr>
            <p:spPr bwMode="auto">
              <a:xfrm>
                <a:off x="2593" y="1856"/>
                <a:ext cx="25" cy="27"/>
              </a:xfrm>
              <a:custGeom>
                <a:avLst/>
                <a:gdLst>
                  <a:gd name="T0" fmla="*/ 0 w 25"/>
                  <a:gd name="T1" fmla="*/ 0 h 27"/>
                  <a:gd name="T2" fmla="*/ 25 w 25"/>
                  <a:gd name="T3" fmla="*/ 9 h 27"/>
                  <a:gd name="T4" fmla="*/ 13 w 25"/>
                  <a:gd name="T5" fmla="*/ 19 h 27"/>
                  <a:gd name="T6" fmla="*/ 24 w 25"/>
                  <a:gd name="T7" fmla="*/ 27 h 27"/>
                  <a:gd name="T8" fmla="*/ 5 w 25"/>
                  <a:gd name="T9" fmla="*/ 20 h 27"/>
                  <a:gd name="T10" fmla="*/ 18 w 25"/>
                  <a:gd name="T11" fmla="*/ 10 h 27"/>
                  <a:gd name="T12" fmla="*/ 0 w 25"/>
                  <a:gd name="T13" fmla="*/ 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27"/>
                  <a:gd name="T23" fmla="*/ 25 w 25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27">
                    <a:moveTo>
                      <a:pt x="0" y="0"/>
                    </a:moveTo>
                    <a:lnTo>
                      <a:pt x="25" y="9"/>
                    </a:lnTo>
                    <a:lnTo>
                      <a:pt x="13" y="19"/>
                    </a:lnTo>
                    <a:lnTo>
                      <a:pt x="24" y="27"/>
                    </a:lnTo>
                    <a:lnTo>
                      <a:pt x="5" y="20"/>
                    </a:lnTo>
                    <a:lnTo>
                      <a:pt x="18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29" name="Freeform 826"/>
              <p:cNvSpPr>
                <a:spLocks/>
              </p:cNvSpPr>
              <p:nvPr/>
            </p:nvSpPr>
            <p:spPr bwMode="auto">
              <a:xfrm>
                <a:off x="2596" y="1857"/>
                <a:ext cx="22" cy="25"/>
              </a:xfrm>
              <a:custGeom>
                <a:avLst/>
                <a:gdLst>
                  <a:gd name="T0" fmla="*/ 0 w 22"/>
                  <a:gd name="T1" fmla="*/ 0 h 25"/>
                  <a:gd name="T2" fmla="*/ 22 w 22"/>
                  <a:gd name="T3" fmla="*/ 8 h 25"/>
                  <a:gd name="T4" fmla="*/ 10 w 22"/>
                  <a:gd name="T5" fmla="*/ 18 h 25"/>
                  <a:gd name="T6" fmla="*/ 20 w 22"/>
                  <a:gd name="T7" fmla="*/ 25 h 25"/>
                  <a:gd name="T8" fmla="*/ 3 w 22"/>
                  <a:gd name="T9" fmla="*/ 19 h 25"/>
                  <a:gd name="T10" fmla="*/ 16 w 22"/>
                  <a:gd name="T11" fmla="*/ 9 h 25"/>
                  <a:gd name="T12" fmla="*/ 0 w 22"/>
                  <a:gd name="T13" fmla="*/ 0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2"/>
                  <a:gd name="T22" fmla="*/ 0 h 25"/>
                  <a:gd name="T23" fmla="*/ 22 w 22"/>
                  <a:gd name="T24" fmla="*/ 25 h 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2" h="25">
                    <a:moveTo>
                      <a:pt x="0" y="0"/>
                    </a:moveTo>
                    <a:lnTo>
                      <a:pt x="22" y="8"/>
                    </a:lnTo>
                    <a:lnTo>
                      <a:pt x="10" y="18"/>
                    </a:lnTo>
                    <a:lnTo>
                      <a:pt x="20" y="25"/>
                    </a:lnTo>
                    <a:lnTo>
                      <a:pt x="3" y="19"/>
                    </a:lnTo>
                    <a:lnTo>
                      <a:pt x="16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30" name="Freeform 827"/>
              <p:cNvSpPr>
                <a:spLocks/>
              </p:cNvSpPr>
              <p:nvPr/>
            </p:nvSpPr>
            <p:spPr bwMode="auto">
              <a:xfrm>
                <a:off x="2599" y="1858"/>
                <a:ext cx="18" cy="23"/>
              </a:xfrm>
              <a:custGeom>
                <a:avLst/>
                <a:gdLst>
                  <a:gd name="T0" fmla="*/ 0 w 18"/>
                  <a:gd name="T1" fmla="*/ 0 h 23"/>
                  <a:gd name="T2" fmla="*/ 18 w 18"/>
                  <a:gd name="T3" fmla="*/ 7 h 23"/>
                  <a:gd name="T4" fmla="*/ 7 w 18"/>
                  <a:gd name="T5" fmla="*/ 17 h 23"/>
                  <a:gd name="T6" fmla="*/ 15 w 18"/>
                  <a:gd name="T7" fmla="*/ 23 h 23"/>
                  <a:gd name="T8" fmla="*/ 1 w 18"/>
                  <a:gd name="T9" fmla="*/ 18 h 23"/>
                  <a:gd name="T10" fmla="*/ 13 w 18"/>
                  <a:gd name="T11" fmla="*/ 8 h 23"/>
                  <a:gd name="T12" fmla="*/ 0 w 18"/>
                  <a:gd name="T13" fmla="*/ 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"/>
                  <a:gd name="T22" fmla="*/ 0 h 23"/>
                  <a:gd name="T23" fmla="*/ 18 w 18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" h="23">
                    <a:moveTo>
                      <a:pt x="0" y="0"/>
                    </a:moveTo>
                    <a:lnTo>
                      <a:pt x="18" y="7"/>
                    </a:lnTo>
                    <a:lnTo>
                      <a:pt x="7" y="17"/>
                    </a:lnTo>
                    <a:lnTo>
                      <a:pt x="15" y="23"/>
                    </a:lnTo>
                    <a:lnTo>
                      <a:pt x="1" y="18"/>
                    </a:lnTo>
                    <a:lnTo>
                      <a:pt x="13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31" name="Freeform 828"/>
              <p:cNvSpPr>
                <a:spLocks/>
              </p:cNvSpPr>
              <p:nvPr/>
            </p:nvSpPr>
            <p:spPr bwMode="auto">
              <a:xfrm>
                <a:off x="2600" y="1860"/>
                <a:ext cx="17" cy="20"/>
              </a:xfrm>
              <a:custGeom>
                <a:avLst/>
                <a:gdLst>
                  <a:gd name="T0" fmla="*/ 2 w 17"/>
                  <a:gd name="T1" fmla="*/ 0 h 20"/>
                  <a:gd name="T2" fmla="*/ 13 w 17"/>
                  <a:gd name="T3" fmla="*/ 6 h 20"/>
                  <a:gd name="T4" fmla="*/ 0 w 17"/>
                  <a:gd name="T5" fmla="*/ 16 h 20"/>
                  <a:gd name="T6" fmla="*/ 13 w 17"/>
                  <a:gd name="T7" fmla="*/ 20 h 20"/>
                  <a:gd name="T8" fmla="*/ 5 w 17"/>
                  <a:gd name="T9" fmla="*/ 15 h 20"/>
                  <a:gd name="T10" fmla="*/ 17 w 17"/>
                  <a:gd name="T11" fmla="*/ 5 h 20"/>
                  <a:gd name="T12" fmla="*/ 2 w 17"/>
                  <a:gd name="T13" fmla="*/ 0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20"/>
                  <a:gd name="T23" fmla="*/ 17 w 17"/>
                  <a:gd name="T24" fmla="*/ 20 h 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20">
                    <a:moveTo>
                      <a:pt x="2" y="0"/>
                    </a:moveTo>
                    <a:lnTo>
                      <a:pt x="13" y="6"/>
                    </a:lnTo>
                    <a:lnTo>
                      <a:pt x="0" y="16"/>
                    </a:lnTo>
                    <a:lnTo>
                      <a:pt x="13" y="20"/>
                    </a:lnTo>
                    <a:lnTo>
                      <a:pt x="5" y="15"/>
                    </a:lnTo>
                    <a:lnTo>
                      <a:pt x="17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32" name="Freeform 829"/>
              <p:cNvSpPr>
                <a:spLocks/>
              </p:cNvSpPr>
              <p:nvPr/>
            </p:nvSpPr>
            <p:spPr bwMode="auto">
              <a:xfrm>
                <a:off x="2530" y="1939"/>
                <a:ext cx="76" cy="29"/>
              </a:xfrm>
              <a:custGeom>
                <a:avLst/>
                <a:gdLst>
                  <a:gd name="T0" fmla="*/ 0 w 76"/>
                  <a:gd name="T1" fmla="*/ 23 h 29"/>
                  <a:gd name="T2" fmla="*/ 41 w 76"/>
                  <a:gd name="T3" fmla="*/ 13 h 29"/>
                  <a:gd name="T4" fmla="*/ 39 w 76"/>
                  <a:gd name="T5" fmla="*/ 29 h 29"/>
                  <a:gd name="T6" fmla="*/ 76 w 76"/>
                  <a:gd name="T7" fmla="*/ 13 h 29"/>
                  <a:gd name="T8" fmla="*/ 49 w 76"/>
                  <a:gd name="T9" fmla="*/ 16 h 29"/>
                  <a:gd name="T10" fmla="*/ 52 w 76"/>
                  <a:gd name="T11" fmla="*/ 0 h 29"/>
                  <a:gd name="T12" fmla="*/ 0 w 76"/>
                  <a:gd name="T13" fmla="*/ 23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6"/>
                  <a:gd name="T22" fmla="*/ 0 h 29"/>
                  <a:gd name="T23" fmla="*/ 76 w 76"/>
                  <a:gd name="T24" fmla="*/ 29 h 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6" h="29">
                    <a:moveTo>
                      <a:pt x="0" y="23"/>
                    </a:moveTo>
                    <a:lnTo>
                      <a:pt x="41" y="13"/>
                    </a:lnTo>
                    <a:lnTo>
                      <a:pt x="39" y="29"/>
                    </a:lnTo>
                    <a:lnTo>
                      <a:pt x="76" y="13"/>
                    </a:lnTo>
                    <a:lnTo>
                      <a:pt x="49" y="16"/>
                    </a:lnTo>
                    <a:lnTo>
                      <a:pt x="52" y="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33" name="Freeform 830"/>
              <p:cNvSpPr>
                <a:spLocks/>
              </p:cNvSpPr>
              <p:nvPr/>
            </p:nvSpPr>
            <p:spPr bwMode="auto">
              <a:xfrm>
                <a:off x="2529" y="1948"/>
                <a:ext cx="45" cy="17"/>
              </a:xfrm>
              <a:custGeom>
                <a:avLst/>
                <a:gdLst>
                  <a:gd name="T0" fmla="*/ 45 w 45"/>
                  <a:gd name="T1" fmla="*/ 4 h 17"/>
                  <a:gd name="T2" fmla="*/ 41 w 45"/>
                  <a:gd name="T3" fmla="*/ 0 h 17"/>
                  <a:gd name="T4" fmla="*/ 0 w 45"/>
                  <a:gd name="T5" fmla="*/ 11 h 17"/>
                  <a:gd name="T6" fmla="*/ 1 w 45"/>
                  <a:gd name="T7" fmla="*/ 17 h 17"/>
                  <a:gd name="T8" fmla="*/ 42 w 45"/>
                  <a:gd name="T9" fmla="*/ 6 h 17"/>
                  <a:gd name="T10" fmla="*/ 39 w 45"/>
                  <a:gd name="T11" fmla="*/ 3 h 17"/>
                  <a:gd name="T12" fmla="*/ 42 w 45"/>
                  <a:gd name="T13" fmla="*/ 6 h 17"/>
                  <a:gd name="T14" fmla="*/ 45 w 45"/>
                  <a:gd name="T15" fmla="*/ 5 h 17"/>
                  <a:gd name="T16" fmla="*/ 45 w 45"/>
                  <a:gd name="T17" fmla="*/ 3 h 17"/>
                  <a:gd name="T18" fmla="*/ 44 w 45"/>
                  <a:gd name="T19" fmla="*/ 0 h 17"/>
                  <a:gd name="T20" fmla="*/ 41 w 45"/>
                  <a:gd name="T21" fmla="*/ 0 h 17"/>
                  <a:gd name="T22" fmla="*/ 45 w 45"/>
                  <a:gd name="T23" fmla="*/ 4 h 1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5"/>
                  <a:gd name="T37" fmla="*/ 0 h 17"/>
                  <a:gd name="T38" fmla="*/ 45 w 45"/>
                  <a:gd name="T39" fmla="*/ 17 h 1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5" h="17">
                    <a:moveTo>
                      <a:pt x="45" y="4"/>
                    </a:moveTo>
                    <a:lnTo>
                      <a:pt x="41" y="0"/>
                    </a:lnTo>
                    <a:lnTo>
                      <a:pt x="0" y="11"/>
                    </a:lnTo>
                    <a:lnTo>
                      <a:pt x="1" y="17"/>
                    </a:lnTo>
                    <a:lnTo>
                      <a:pt x="42" y="6"/>
                    </a:lnTo>
                    <a:lnTo>
                      <a:pt x="39" y="3"/>
                    </a:lnTo>
                    <a:lnTo>
                      <a:pt x="42" y="6"/>
                    </a:lnTo>
                    <a:lnTo>
                      <a:pt x="45" y="5"/>
                    </a:lnTo>
                    <a:lnTo>
                      <a:pt x="45" y="3"/>
                    </a:lnTo>
                    <a:lnTo>
                      <a:pt x="44" y="0"/>
                    </a:lnTo>
                    <a:lnTo>
                      <a:pt x="41" y="0"/>
                    </a:lnTo>
                    <a:lnTo>
                      <a:pt x="45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34" name="Freeform 831"/>
              <p:cNvSpPr>
                <a:spLocks/>
              </p:cNvSpPr>
              <p:nvPr/>
            </p:nvSpPr>
            <p:spPr bwMode="auto">
              <a:xfrm>
                <a:off x="2566" y="1951"/>
                <a:ext cx="8" cy="19"/>
              </a:xfrm>
              <a:custGeom>
                <a:avLst/>
                <a:gdLst>
                  <a:gd name="T0" fmla="*/ 1 w 8"/>
                  <a:gd name="T1" fmla="*/ 15 h 19"/>
                  <a:gd name="T2" fmla="*/ 5 w 8"/>
                  <a:gd name="T3" fmla="*/ 17 h 19"/>
                  <a:gd name="T4" fmla="*/ 8 w 8"/>
                  <a:gd name="T5" fmla="*/ 1 h 19"/>
                  <a:gd name="T6" fmla="*/ 2 w 8"/>
                  <a:gd name="T7" fmla="*/ 0 h 19"/>
                  <a:gd name="T8" fmla="*/ 0 w 8"/>
                  <a:gd name="T9" fmla="*/ 16 h 19"/>
                  <a:gd name="T10" fmla="*/ 3 w 8"/>
                  <a:gd name="T11" fmla="*/ 19 h 19"/>
                  <a:gd name="T12" fmla="*/ 0 w 8"/>
                  <a:gd name="T13" fmla="*/ 16 h 19"/>
                  <a:gd name="T14" fmla="*/ 1 w 8"/>
                  <a:gd name="T15" fmla="*/ 18 h 19"/>
                  <a:gd name="T16" fmla="*/ 2 w 8"/>
                  <a:gd name="T17" fmla="*/ 19 h 19"/>
                  <a:gd name="T18" fmla="*/ 4 w 8"/>
                  <a:gd name="T19" fmla="*/ 19 h 19"/>
                  <a:gd name="T20" fmla="*/ 5 w 8"/>
                  <a:gd name="T21" fmla="*/ 17 h 19"/>
                  <a:gd name="T22" fmla="*/ 1 w 8"/>
                  <a:gd name="T23" fmla="*/ 15 h 1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"/>
                  <a:gd name="T37" fmla="*/ 0 h 19"/>
                  <a:gd name="T38" fmla="*/ 8 w 8"/>
                  <a:gd name="T39" fmla="*/ 19 h 1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" h="19">
                    <a:moveTo>
                      <a:pt x="1" y="15"/>
                    </a:moveTo>
                    <a:lnTo>
                      <a:pt x="5" y="17"/>
                    </a:lnTo>
                    <a:lnTo>
                      <a:pt x="8" y="1"/>
                    </a:lnTo>
                    <a:lnTo>
                      <a:pt x="2" y="0"/>
                    </a:lnTo>
                    <a:lnTo>
                      <a:pt x="0" y="16"/>
                    </a:lnTo>
                    <a:lnTo>
                      <a:pt x="3" y="19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2" y="19"/>
                    </a:lnTo>
                    <a:lnTo>
                      <a:pt x="4" y="19"/>
                    </a:lnTo>
                    <a:lnTo>
                      <a:pt x="5" y="17"/>
                    </a:lnTo>
                    <a:lnTo>
                      <a:pt x="1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35" name="Freeform 832"/>
              <p:cNvSpPr>
                <a:spLocks/>
              </p:cNvSpPr>
              <p:nvPr/>
            </p:nvSpPr>
            <p:spPr bwMode="auto">
              <a:xfrm>
                <a:off x="2568" y="1948"/>
                <a:ext cx="40" cy="22"/>
              </a:xfrm>
              <a:custGeom>
                <a:avLst/>
                <a:gdLst>
                  <a:gd name="T0" fmla="*/ 38 w 40"/>
                  <a:gd name="T1" fmla="*/ 6 h 22"/>
                  <a:gd name="T2" fmla="*/ 37 w 40"/>
                  <a:gd name="T3" fmla="*/ 0 h 22"/>
                  <a:gd name="T4" fmla="*/ 0 w 40"/>
                  <a:gd name="T5" fmla="*/ 18 h 22"/>
                  <a:gd name="T6" fmla="*/ 2 w 40"/>
                  <a:gd name="T7" fmla="*/ 22 h 22"/>
                  <a:gd name="T8" fmla="*/ 39 w 40"/>
                  <a:gd name="T9" fmla="*/ 5 h 22"/>
                  <a:gd name="T10" fmla="*/ 38 w 40"/>
                  <a:gd name="T11" fmla="*/ 0 h 22"/>
                  <a:gd name="T12" fmla="*/ 39 w 40"/>
                  <a:gd name="T13" fmla="*/ 5 h 22"/>
                  <a:gd name="T14" fmla="*/ 40 w 40"/>
                  <a:gd name="T15" fmla="*/ 4 h 22"/>
                  <a:gd name="T16" fmla="*/ 40 w 40"/>
                  <a:gd name="T17" fmla="*/ 2 h 22"/>
                  <a:gd name="T18" fmla="*/ 39 w 40"/>
                  <a:gd name="T19" fmla="*/ 0 h 22"/>
                  <a:gd name="T20" fmla="*/ 37 w 40"/>
                  <a:gd name="T21" fmla="*/ 0 h 22"/>
                  <a:gd name="T22" fmla="*/ 38 w 40"/>
                  <a:gd name="T23" fmla="*/ 6 h 2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0"/>
                  <a:gd name="T37" fmla="*/ 0 h 22"/>
                  <a:gd name="T38" fmla="*/ 40 w 40"/>
                  <a:gd name="T39" fmla="*/ 22 h 2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0" h="22">
                    <a:moveTo>
                      <a:pt x="38" y="6"/>
                    </a:moveTo>
                    <a:lnTo>
                      <a:pt x="37" y="0"/>
                    </a:lnTo>
                    <a:lnTo>
                      <a:pt x="0" y="18"/>
                    </a:lnTo>
                    <a:lnTo>
                      <a:pt x="2" y="22"/>
                    </a:lnTo>
                    <a:lnTo>
                      <a:pt x="39" y="5"/>
                    </a:lnTo>
                    <a:lnTo>
                      <a:pt x="38" y="0"/>
                    </a:lnTo>
                    <a:lnTo>
                      <a:pt x="39" y="5"/>
                    </a:lnTo>
                    <a:lnTo>
                      <a:pt x="40" y="4"/>
                    </a:lnTo>
                    <a:lnTo>
                      <a:pt x="40" y="2"/>
                    </a:lnTo>
                    <a:lnTo>
                      <a:pt x="39" y="0"/>
                    </a:lnTo>
                    <a:lnTo>
                      <a:pt x="37" y="0"/>
                    </a:lnTo>
                    <a:lnTo>
                      <a:pt x="38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36" name="Freeform 833"/>
              <p:cNvSpPr>
                <a:spLocks/>
              </p:cNvSpPr>
              <p:nvPr/>
            </p:nvSpPr>
            <p:spPr bwMode="auto">
              <a:xfrm>
                <a:off x="2577" y="1948"/>
                <a:ext cx="29" cy="9"/>
              </a:xfrm>
              <a:custGeom>
                <a:avLst/>
                <a:gdLst>
                  <a:gd name="T0" fmla="*/ 0 w 29"/>
                  <a:gd name="T1" fmla="*/ 6 h 9"/>
                  <a:gd name="T2" fmla="*/ 3 w 29"/>
                  <a:gd name="T3" fmla="*/ 9 h 9"/>
                  <a:gd name="T4" fmla="*/ 29 w 29"/>
                  <a:gd name="T5" fmla="*/ 6 h 9"/>
                  <a:gd name="T6" fmla="*/ 28 w 29"/>
                  <a:gd name="T7" fmla="*/ 0 h 9"/>
                  <a:gd name="T8" fmla="*/ 2 w 29"/>
                  <a:gd name="T9" fmla="*/ 4 h 9"/>
                  <a:gd name="T10" fmla="*/ 5 w 29"/>
                  <a:gd name="T11" fmla="*/ 7 h 9"/>
                  <a:gd name="T12" fmla="*/ 2 w 29"/>
                  <a:gd name="T13" fmla="*/ 4 h 9"/>
                  <a:gd name="T14" fmla="*/ 1 w 29"/>
                  <a:gd name="T15" fmla="*/ 5 h 9"/>
                  <a:gd name="T16" fmla="*/ 0 w 29"/>
                  <a:gd name="T17" fmla="*/ 7 h 9"/>
                  <a:gd name="T18" fmla="*/ 1 w 29"/>
                  <a:gd name="T19" fmla="*/ 8 h 9"/>
                  <a:gd name="T20" fmla="*/ 3 w 29"/>
                  <a:gd name="T21" fmla="*/ 9 h 9"/>
                  <a:gd name="T22" fmla="*/ 0 w 29"/>
                  <a:gd name="T23" fmla="*/ 6 h 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9"/>
                  <a:gd name="T37" fmla="*/ 0 h 9"/>
                  <a:gd name="T38" fmla="*/ 29 w 29"/>
                  <a:gd name="T39" fmla="*/ 9 h 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9" h="9">
                    <a:moveTo>
                      <a:pt x="0" y="6"/>
                    </a:moveTo>
                    <a:lnTo>
                      <a:pt x="3" y="9"/>
                    </a:lnTo>
                    <a:lnTo>
                      <a:pt x="29" y="6"/>
                    </a:lnTo>
                    <a:lnTo>
                      <a:pt x="28" y="0"/>
                    </a:lnTo>
                    <a:lnTo>
                      <a:pt x="2" y="4"/>
                    </a:lnTo>
                    <a:lnTo>
                      <a:pt x="5" y="7"/>
                    </a:lnTo>
                    <a:lnTo>
                      <a:pt x="2" y="4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1" y="8"/>
                    </a:lnTo>
                    <a:lnTo>
                      <a:pt x="3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37" name="Freeform 834"/>
              <p:cNvSpPr>
                <a:spLocks/>
              </p:cNvSpPr>
              <p:nvPr/>
            </p:nvSpPr>
            <p:spPr bwMode="auto">
              <a:xfrm>
                <a:off x="2577" y="1937"/>
                <a:ext cx="7" cy="18"/>
              </a:xfrm>
              <a:custGeom>
                <a:avLst/>
                <a:gdLst>
                  <a:gd name="T0" fmla="*/ 5 w 7"/>
                  <a:gd name="T1" fmla="*/ 4 h 18"/>
                  <a:gd name="T2" fmla="*/ 2 w 7"/>
                  <a:gd name="T3" fmla="*/ 2 h 18"/>
                  <a:gd name="T4" fmla="*/ 0 w 7"/>
                  <a:gd name="T5" fmla="*/ 17 h 18"/>
                  <a:gd name="T6" fmla="*/ 5 w 7"/>
                  <a:gd name="T7" fmla="*/ 18 h 18"/>
                  <a:gd name="T8" fmla="*/ 7 w 7"/>
                  <a:gd name="T9" fmla="*/ 3 h 18"/>
                  <a:gd name="T10" fmla="*/ 4 w 7"/>
                  <a:gd name="T11" fmla="*/ 0 h 18"/>
                  <a:gd name="T12" fmla="*/ 7 w 7"/>
                  <a:gd name="T13" fmla="*/ 3 h 18"/>
                  <a:gd name="T14" fmla="*/ 6 w 7"/>
                  <a:gd name="T15" fmla="*/ 1 h 18"/>
                  <a:gd name="T16" fmla="*/ 5 w 7"/>
                  <a:gd name="T17" fmla="*/ 0 h 18"/>
                  <a:gd name="T18" fmla="*/ 3 w 7"/>
                  <a:gd name="T19" fmla="*/ 1 h 18"/>
                  <a:gd name="T20" fmla="*/ 2 w 7"/>
                  <a:gd name="T21" fmla="*/ 2 h 18"/>
                  <a:gd name="T22" fmla="*/ 5 w 7"/>
                  <a:gd name="T23" fmla="*/ 4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"/>
                  <a:gd name="T37" fmla="*/ 0 h 18"/>
                  <a:gd name="T38" fmla="*/ 7 w 7"/>
                  <a:gd name="T39" fmla="*/ 18 h 1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" h="18">
                    <a:moveTo>
                      <a:pt x="5" y="4"/>
                    </a:moveTo>
                    <a:lnTo>
                      <a:pt x="2" y="2"/>
                    </a:lnTo>
                    <a:lnTo>
                      <a:pt x="0" y="17"/>
                    </a:lnTo>
                    <a:lnTo>
                      <a:pt x="5" y="18"/>
                    </a:lnTo>
                    <a:lnTo>
                      <a:pt x="7" y="3"/>
                    </a:lnTo>
                    <a:lnTo>
                      <a:pt x="4" y="0"/>
                    </a:lnTo>
                    <a:lnTo>
                      <a:pt x="7" y="3"/>
                    </a:lnTo>
                    <a:lnTo>
                      <a:pt x="6" y="1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2" y="2"/>
                    </a:ln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38" name="Freeform 835"/>
              <p:cNvSpPr>
                <a:spLocks/>
              </p:cNvSpPr>
              <p:nvPr/>
            </p:nvSpPr>
            <p:spPr bwMode="auto">
              <a:xfrm>
                <a:off x="2528" y="1937"/>
                <a:ext cx="54" cy="28"/>
              </a:xfrm>
              <a:custGeom>
                <a:avLst/>
                <a:gdLst>
                  <a:gd name="T0" fmla="*/ 2 w 54"/>
                  <a:gd name="T1" fmla="*/ 22 h 28"/>
                  <a:gd name="T2" fmla="*/ 3 w 54"/>
                  <a:gd name="T3" fmla="*/ 28 h 28"/>
                  <a:gd name="T4" fmla="*/ 54 w 54"/>
                  <a:gd name="T5" fmla="*/ 4 h 28"/>
                  <a:gd name="T6" fmla="*/ 52 w 54"/>
                  <a:gd name="T7" fmla="*/ 0 h 28"/>
                  <a:gd name="T8" fmla="*/ 1 w 54"/>
                  <a:gd name="T9" fmla="*/ 22 h 28"/>
                  <a:gd name="T10" fmla="*/ 3 w 54"/>
                  <a:gd name="T11" fmla="*/ 28 h 28"/>
                  <a:gd name="T12" fmla="*/ 1 w 54"/>
                  <a:gd name="T13" fmla="*/ 22 h 28"/>
                  <a:gd name="T14" fmla="*/ 0 w 54"/>
                  <a:gd name="T15" fmla="*/ 24 h 28"/>
                  <a:gd name="T16" fmla="*/ 0 w 54"/>
                  <a:gd name="T17" fmla="*/ 25 h 28"/>
                  <a:gd name="T18" fmla="*/ 1 w 54"/>
                  <a:gd name="T19" fmla="*/ 28 h 28"/>
                  <a:gd name="T20" fmla="*/ 3 w 54"/>
                  <a:gd name="T21" fmla="*/ 28 h 28"/>
                  <a:gd name="T22" fmla="*/ 2 w 54"/>
                  <a:gd name="T23" fmla="*/ 22 h 2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4"/>
                  <a:gd name="T37" fmla="*/ 0 h 28"/>
                  <a:gd name="T38" fmla="*/ 54 w 54"/>
                  <a:gd name="T39" fmla="*/ 28 h 2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4" h="28">
                    <a:moveTo>
                      <a:pt x="2" y="22"/>
                    </a:moveTo>
                    <a:lnTo>
                      <a:pt x="3" y="28"/>
                    </a:lnTo>
                    <a:lnTo>
                      <a:pt x="54" y="4"/>
                    </a:lnTo>
                    <a:lnTo>
                      <a:pt x="52" y="0"/>
                    </a:lnTo>
                    <a:lnTo>
                      <a:pt x="1" y="22"/>
                    </a:lnTo>
                    <a:lnTo>
                      <a:pt x="3" y="28"/>
                    </a:lnTo>
                    <a:lnTo>
                      <a:pt x="1" y="22"/>
                    </a:lnTo>
                    <a:lnTo>
                      <a:pt x="0" y="24"/>
                    </a:lnTo>
                    <a:lnTo>
                      <a:pt x="0" y="25"/>
                    </a:lnTo>
                    <a:lnTo>
                      <a:pt x="1" y="28"/>
                    </a:lnTo>
                    <a:lnTo>
                      <a:pt x="3" y="28"/>
                    </a:lnTo>
                    <a:lnTo>
                      <a:pt x="2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39" name="Freeform 836"/>
              <p:cNvSpPr>
                <a:spLocks/>
              </p:cNvSpPr>
              <p:nvPr/>
            </p:nvSpPr>
            <p:spPr bwMode="auto">
              <a:xfrm>
                <a:off x="2533" y="1940"/>
                <a:ext cx="70" cy="27"/>
              </a:xfrm>
              <a:custGeom>
                <a:avLst/>
                <a:gdLst>
                  <a:gd name="T0" fmla="*/ 0 w 70"/>
                  <a:gd name="T1" fmla="*/ 20 h 27"/>
                  <a:gd name="T2" fmla="*/ 48 w 70"/>
                  <a:gd name="T3" fmla="*/ 0 h 27"/>
                  <a:gd name="T4" fmla="*/ 46 w 70"/>
                  <a:gd name="T5" fmla="*/ 15 h 27"/>
                  <a:gd name="T6" fmla="*/ 70 w 70"/>
                  <a:gd name="T7" fmla="*/ 12 h 27"/>
                  <a:gd name="T8" fmla="*/ 36 w 70"/>
                  <a:gd name="T9" fmla="*/ 27 h 27"/>
                  <a:gd name="T10" fmla="*/ 38 w 70"/>
                  <a:gd name="T11" fmla="*/ 12 h 27"/>
                  <a:gd name="T12" fmla="*/ 0 w 70"/>
                  <a:gd name="T13" fmla="*/ 2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0"/>
                  <a:gd name="T22" fmla="*/ 0 h 27"/>
                  <a:gd name="T23" fmla="*/ 70 w 70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0" h="27">
                    <a:moveTo>
                      <a:pt x="0" y="20"/>
                    </a:moveTo>
                    <a:lnTo>
                      <a:pt x="48" y="0"/>
                    </a:lnTo>
                    <a:lnTo>
                      <a:pt x="46" y="15"/>
                    </a:lnTo>
                    <a:lnTo>
                      <a:pt x="70" y="12"/>
                    </a:lnTo>
                    <a:lnTo>
                      <a:pt x="36" y="27"/>
                    </a:lnTo>
                    <a:lnTo>
                      <a:pt x="38" y="12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19191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40" name="Freeform 837"/>
              <p:cNvSpPr>
                <a:spLocks/>
              </p:cNvSpPr>
              <p:nvPr/>
            </p:nvSpPr>
            <p:spPr bwMode="auto">
              <a:xfrm>
                <a:off x="2536" y="1940"/>
                <a:ext cx="65" cy="27"/>
              </a:xfrm>
              <a:custGeom>
                <a:avLst/>
                <a:gdLst>
                  <a:gd name="T0" fmla="*/ 0 w 65"/>
                  <a:gd name="T1" fmla="*/ 20 h 27"/>
                  <a:gd name="T2" fmla="*/ 44 w 65"/>
                  <a:gd name="T3" fmla="*/ 0 h 27"/>
                  <a:gd name="T4" fmla="*/ 42 w 65"/>
                  <a:gd name="T5" fmla="*/ 16 h 27"/>
                  <a:gd name="T6" fmla="*/ 65 w 65"/>
                  <a:gd name="T7" fmla="*/ 13 h 27"/>
                  <a:gd name="T8" fmla="*/ 33 w 65"/>
                  <a:gd name="T9" fmla="*/ 27 h 27"/>
                  <a:gd name="T10" fmla="*/ 35 w 65"/>
                  <a:gd name="T11" fmla="*/ 11 h 27"/>
                  <a:gd name="T12" fmla="*/ 0 w 65"/>
                  <a:gd name="T13" fmla="*/ 2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5"/>
                  <a:gd name="T22" fmla="*/ 0 h 27"/>
                  <a:gd name="T23" fmla="*/ 65 w 65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5" h="27">
                    <a:moveTo>
                      <a:pt x="0" y="20"/>
                    </a:moveTo>
                    <a:lnTo>
                      <a:pt x="44" y="0"/>
                    </a:lnTo>
                    <a:lnTo>
                      <a:pt x="42" y="16"/>
                    </a:lnTo>
                    <a:lnTo>
                      <a:pt x="65" y="13"/>
                    </a:lnTo>
                    <a:lnTo>
                      <a:pt x="33" y="27"/>
                    </a:lnTo>
                    <a:lnTo>
                      <a:pt x="35" y="11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41" name="Freeform 838"/>
              <p:cNvSpPr>
                <a:spLocks/>
              </p:cNvSpPr>
              <p:nvPr/>
            </p:nvSpPr>
            <p:spPr bwMode="auto">
              <a:xfrm>
                <a:off x="2540" y="1940"/>
                <a:ext cx="59" cy="26"/>
              </a:xfrm>
              <a:custGeom>
                <a:avLst/>
                <a:gdLst>
                  <a:gd name="T0" fmla="*/ 0 w 59"/>
                  <a:gd name="T1" fmla="*/ 18 h 26"/>
                  <a:gd name="T2" fmla="*/ 40 w 59"/>
                  <a:gd name="T3" fmla="*/ 0 h 26"/>
                  <a:gd name="T4" fmla="*/ 38 w 59"/>
                  <a:gd name="T5" fmla="*/ 16 h 26"/>
                  <a:gd name="T6" fmla="*/ 59 w 59"/>
                  <a:gd name="T7" fmla="*/ 13 h 26"/>
                  <a:gd name="T8" fmla="*/ 30 w 59"/>
                  <a:gd name="T9" fmla="*/ 26 h 26"/>
                  <a:gd name="T10" fmla="*/ 33 w 59"/>
                  <a:gd name="T11" fmla="*/ 10 h 26"/>
                  <a:gd name="T12" fmla="*/ 0 w 59"/>
                  <a:gd name="T13" fmla="*/ 18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9"/>
                  <a:gd name="T22" fmla="*/ 0 h 26"/>
                  <a:gd name="T23" fmla="*/ 59 w 59"/>
                  <a:gd name="T24" fmla="*/ 26 h 2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9" h="26">
                    <a:moveTo>
                      <a:pt x="0" y="18"/>
                    </a:moveTo>
                    <a:lnTo>
                      <a:pt x="40" y="0"/>
                    </a:lnTo>
                    <a:lnTo>
                      <a:pt x="38" y="16"/>
                    </a:lnTo>
                    <a:lnTo>
                      <a:pt x="59" y="13"/>
                    </a:lnTo>
                    <a:lnTo>
                      <a:pt x="30" y="26"/>
                    </a:lnTo>
                    <a:lnTo>
                      <a:pt x="33" y="10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42" name="Freeform 839"/>
              <p:cNvSpPr>
                <a:spLocks/>
              </p:cNvSpPr>
              <p:nvPr/>
            </p:nvSpPr>
            <p:spPr bwMode="auto">
              <a:xfrm>
                <a:off x="2543" y="1941"/>
                <a:ext cx="54" cy="25"/>
              </a:xfrm>
              <a:custGeom>
                <a:avLst/>
                <a:gdLst>
                  <a:gd name="T0" fmla="*/ 0 w 54"/>
                  <a:gd name="T1" fmla="*/ 16 h 25"/>
                  <a:gd name="T2" fmla="*/ 37 w 54"/>
                  <a:gd name="T3" fmla="*/ 0 h 25"/>
                  <a:gd name="T4" fmla="*/ 34 w 54"/>
                  <a:gd name="T5" fmla="*/ 16 h 25"/>
                  <a:gd name="T6" fmla="*/ 54 w 54"/>
                  <a:gd name="T7" fmla="*/ 12 h 25"/>
                  <a:gd name="T8" fmla="*/ 27 w 54"/>
                  <a:gd name="T9" fmla="*/ 25 h 25"/>
                  <a:gd name="T10" fmla="*/ 30 w 54"/>
                  <a:gd name="T11" fmla="*/ 9 h 25"/>
                  <a:gd name="T12" fmla="*/ 0 w 54"/>
                  <a:gd name="T13" fmla="*/ 16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5"/>
                  <a:gd name="T23" fmla="*/ 54 w 54"/>
                  <a:gd name="T24" fmla="*/ 25 h 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5">
                    <a:moveTo>
                      <a:pt x="0" y="16"/>
                    </a:moveTo>
                    <a:lnTo>
                      <a:pt x="37" y="0"/>
                    </a:lnTo>
                    <a:lnTo>
                      <a:pt x="34" y="16"/>
                    </a:lnTo>
                    <a:lnTo>
                      <a:pt x="54" y="12"/>
                    </a:lnTo>
                    <a:lnTo>
                      <a:pt x="27" y="25"/>
                    </a:lnTo>
                    <a:lnTo>
                      <a:pt x="30" y="9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43" name="Freeform 840"/>
              <p:cNvSpPr>
                <a:spLocks/>
              </p:cNvSpPr>
              <p:nvPr/>
            </p:nvSpPr>
            <p:spPr bwMode="auto">
              <a:xfrm>
                <a:off x="2547" y="1941"/>
                <a:ext cx="48" cy="25"/>
              </a:xfrm>
              <a:custGeom>
                <a:avLst/>
                <a:gdLst>
                  <a:gd name="T0" fmla="*/ 0 w 48"/>
                  <a:gd name="T1" fmla="*/ 16 h 25"/>
                  <a:gd name="T2" fmla="*/ 32 w 48"/>
                  <a:gd name="T3" fmla="*/ 0 h 25"/>
                  <a:gd name="T4" fmla="*/ 30 w 48"/>
                  <a:gd name="T5" fmla="*/ 17 h 25"/>
                  <a:gd name="T6" fmla="*/ 48 w 48"/>
                  <a:gd name="T7" fmla="*/ 13 h 25"/>
                  <a:gd name="T8" fmla="*/ 24 w 48"/>
                  <a:gd name="T9" fmla="*/ 25 h 25"/>
                  <a:gd name="T10" fmla="*/ 27 w 48"/>
                  <a:gd name="T11" fmla="*/ 9 h 25"/>
                  <a:gd name="T12" fmla="*/ 0 w 48"/>
                  <a:gd name="T13" fmla="*/ 16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"/>
                  <a:gd name="T22" fmla="*/ 0 h 25"/>
                  <a:gd name="T23" fmla="*/ 48 w 48"/>
                  <a:gd name="T24" fmla="*/ 25 h 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" h="25">
                    <a:moveTo>
                      <a:pt x="0" y="16"/>
                    </a:moveTo>
                    <a:lnTo>
                      <a:pt x="32" y="0"/>
                    </a:lnTo>
                    <a:lnTo>
                      <a:pt x="30" y="17"/>
                    </a:lnTo>
                    <a:lnTo>
                      <a:pt x="48" y="13"/>
                    </a:lnTo>
                    <a:lnTo>
                      <a:pt x="24" y="25"/>
                    </a:lnTo>
                    <a:lnTo>
                      <a:pt x="27" y="9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44" name="Freeform 841"/>
              <p:cNvSpPr>
                <a:spLocks/>
              </p:cNvSpPr>
              <p:nvPr/>
            </p:nvSpPr>
            <p:spPr bwMode="auto">
              <a:xfrm>
                <a:off x="2550" y="1942"/>
                <a:ext cx="43" cy="23"/>
              </a:xfrm>
              <a:custGeom>
                <a:avLst/>
                <a:gdLst>
                  <a:gd name="T0" fmla="*/ 0 w 43"/>
                  <a:gd name="T1" fmla="*/ 13 h 23"/>
                  <a:gd name="T2" fmla="*/ 29 w 43"/>
                  <a:gd name="T3" fmla="*/ 0 h 23"/>
                  <a:gd name="T4" fmla="*/ 27 w 43"/>
                  <a:gd name="T5" fmla="*/ 15 h 23"/>
                  <a:gd name="T6" fmla="*/ 43 w 43"/>
                  <a:gd name="T7" fmla="*/ 13 h 23"/>
                  <a:gd name="T8" fmla="*/ 21 w 43"/>
                  <a:gd name="T9" fmla="*/ 23 h 23"/>
                  <a:gd name="T10" fmla="*/ 24 w 43"/>
                  <a:gd name="T11" fmla="*/ 6 h 23"/>
                  <a:gd name="T12" fmla="*/ 0 w 43"/>
                  <a:gd name="T13" fmla="*/ 13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23"/>
                  <a:gd name="T23" fmla="*/ 43 w 43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23">
                    <a:moveTo>
                      <a:pt x="0" y="13"/>
                    </a:moveTo>
                    <a:lnTo>
                      <a:pt x="29" y="0"/>
                    </a:lnTo>
                    <a:lnTo>
                      <a:pt x="27" y="15"/>
                    </a:lnTo>
                    <a:lnTo>
                      <a:pt x="43" y="13"/>
                    </a:lnTo>
                    <a:lnTo>
                      <a:pt x="21" y="23"/>
                    </a:lnTo>
                    <a:lnTo>
                      <a:pt x="24" y="6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45" name="Freeform 842"/>
              <p:cNvSpPr>
                <a:spLocks/>
              </p:cNvSpPr>
              <p:nvPr/>
            </p:nvSpPr>
            <p:spPr bwMode="auto">
              <a:xfrm>
                <a:off x="2553" y="1942"/>
                <a:ext cx="38" cy="21"/>
              </a:xfrm>
              <a:custGeom>
                <a:avLst/>
                <a:gdLst>
                  <a:gd name="T0" fmla="*/ 0 w 38"/>
                  <a:gd name="T1" fmla="*/ 12 h 21"/>
                  <a:gd name="T2" fmla="*/ 26 w 38"/>
                  <a:gd name="T3" fmla="*/ 0 h 21"/>
                  <a:gd name="T4" fmla="*/ 24 w 38"/>
                  <a:gd name="T5" fmla="*/ 15 h 21"/>
                  <a:gd name="T6" fmla="*/ 38 w 38"/>
                  <a:gd name="T7" fmla="*/ 13 h 21"/>
                  <a:gd name="T8" fmla="*/ 18 w 38"/>
                  <a:gd name="T9" fmla="*/ 21 h 21"/>
                  <a:gd name="T10" fmla="*/ 21 w 38"/>
                  <a:gd name="T11" fmla="*/ 6 h 21"/>
                  <a:gd name="T12" fmla="*/ 0 w 38"/>
                  <a:gd name="T13" fmla="*/ 12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"/>
                  <a:gd name="T22" fmla="*/ 0 h 21"/>
                  <a:gd name="T23" fmla="*/ 38 w 38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" h="21">
                    <a:moveTo>
                      <a:pt x="0" y="12"/>
                    </a:moveTo>
                    <a:lnTo>
                      <a:pt x="26" y="0"/>
                    </a:lnTo>
                    <a:lnTo>
                      <a:pt x="24" y="15"/>
                    </a:lnTo>
                    <a:lnTo>
                      <a:pt x="38" y="13"/>
                    </a:lnTo>
                    <a:lnTo>
                      <a:pt x="18" y="21"/>
                    </a:lnTo>
                    <a:lnTo>
                      <a:pt x="21" y="6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46" name="Freeform 843"/>
              <p:cNvSpPr>
                <a:spLocks/>
              </p:cNvSpPr>
              <p:nvPr/>
            </p:nvSpPr>
            <p:spPr bwMode="auto">
              <a:xfrm>
                <a:off x="2556" y="1942"/>
                <a:ext cx="34" cy="21"/>
              </a:xfrm>
              <a:custGeom>
                <a:avLst/>
                <a:gdLst>
                  <a:gd name="T0" fmla="*/ 0 w 34"/>
                  <a:gd name="T1" fmla="*/ 10 h 21"/>
                  <a:gd name="T2" fmla="*/ 23 w 34"/>
                  <a:gd name="T3" fmla="*/ 0 h 21"/>
                  <a:gd name="T4" fmla="*/ 21 w 34"/>
                  <a:gd name="T5" fmla="*/ 16 h 21"/>
                  <a:gd name="T6" fmla="*/ 34 w 34"/>
                  <a:gd name="T7" fmla="*/ 14 h 21"/>
                  <a:gd name="T8" fmla="*/ 17 w 34"/>
                  <a:gd name="T9" fmla="*/ 21 h 21"/>
                  <a:gd name="T10" fmla="*/ 19 w 34"/>
                  <a:gd name="T11" fmla="*/ 5 h 21"/>
                  <a:gd name="T12" fmla="*/ 0 w 34"/>
                  <a:gd name="T13" fmla="*/ 10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"/>
                  <a:gd name="T22" fmla="*/ 0 h 21"/>
                  <a:gd name="T23" fmla="*/ 34 w 34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" h="21">
                    <a:moveTo>
                      <a:pt x="0" y="10"/>
                    </a:moveTo>
                    <a:lnTo>
                      <a:pt x="23" y="0"/>
                    </a:lnTo>
                    <a:lnTo>
                      <a:pt x="21" y="16"/>
                    </a:lnTo>
                    <a:lnTo>
                      <a:pt x="34" y="14"/>
                    </a:lnTo>
                    <a:lnTo>
                      <a:pt x="17" y="21"/>
                    </a:lnTo>
                    <a:lnTo>
                      <a:pt x="19" y="5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47" name="Freeform 844"/>
              <p:cNvSpPr>
                <a:spLocks/>
              </p:cNvSpPr>
              <p:nvPr/>
            </p:nvSpPr>
            <p:spPr bwMode="auto">
              <a:xfrm>
                <a:off x="2560" y="1943"/>
                <a:ext cx="27" cy="20"/>
              </a:xfrm>
              <a:custGeom>
                <a:avLst/>
                <a:gdLst>
                  <a:gd name="T0" fmla="*/ 0 w 27"/>
                  <a:gd name="T1" fmla="*/ 9 h 20"/>
                  <a:gd name="T2" fmla="*/ 18 w 27"/>
                  <a:gd name="T3" fmla="*/ 0 h 20"/>
                  <a:gd name="T4" fmla="*/ 16 w 27"/>
                  <a:gd name="T5" fmla="*/ 16 h 20"/>
                  <a:gd name="T6" fmla="*/ 27 w 27"/>
                  <a:gd name="T7" fmla="*/ 14 h 20"/>
                  <a:gd name="T8" fmla="*/ 13 w 27"/>
                  <a:gd name="T9" fmla="*/ 20 h 20"/>
                  <a:gd name="T10" fmla="*/ 16 w 27"/>
                  <a:gd name="T11" fmla="*/ 4 h 20"/>
                  <a:gd name="T12" fmla="*/ 0 w 27"/>
                  <a:gd name="T13" fmla="*/ 9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7"/>
                  <a:gd name="T22" fmla="*/ 0 h 20"/>
                  <a:gd name="T23" fmla="*/ 27 w 27"/>
                  <a:gd name="T24" fmla="*/ 20 h 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7" h="20">
                    <a:moveTo>
                      <a:pt x="0" y="9"/>
                    </a:moveTo>
                    <a:lnTo>
                      <a:pt x="18" y="0"/>
                    </a:lnTo>
                    <a:lnTo>
                      <a:pt x="16" y="16"/>
                    </a:lnTo>
                    <a:lnTo>
                      <a:pt x="27" y="14"/>
                    </a:lnTo>
                    <a:lnTo>
                      <a:pt x="13" y="20"/>
                    </a:lnTo>
                    <a:lnTo>
                      <a:pt x="16" y="4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48" name="Freeform 845"/>
              <p:cNvSpPr>
                <a:spLocks/>
              </p:cNvSpPr>
              <p:nvPr/>
            </p:nvSpPr>
            <p:spPr bwMode="auto">
              <a:xfrm>
                <a:off x="2564" y="1943"/>
                <a:ext cx="21" cy="19"/>
              </a:xfrm>
              <a:custGeom>
                <a:avLst/>
                <a:gdLst>
                  <a:gd name="T0" fmla="*/ 0 w 21"/>
                  <a:gd name="T1" fmla="*/ 7 h 19"/>
                  <a:gd name="T2" fmla="*/ 12 w 21"/>
                  <a:gd name="T3" fmla="*/ 3 h 19"/>
                  <a:gd name="T4" fmla="*/ 10 w 21"/>
                  <a:gd name="T5" fmla="*/ 19 h 19"/>
                  <a:gd name="T6" fmla="*/ 21 w 21"/>
                  <a:gd name="T7" fmla="*/ 14 h 19"/>
                  <a:gd name="T8" fmla="*/ 12 w 21"/>
                  <a:gd name="T9" fmla="*/ 16 h 19"/>
                  <a:gd name="T10" fmla="*/ 14 w 21"/>
                  <a:gd name="T11" fmla="*/ 0 h 19"/>
                  <a:gd name="T12" fmla="*/ 0 w 21"/>
                  <a:gd name="T13" fmla="*/ 7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19"/>
                  <a:gd name="T23" fmla="*/ 21 w 21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19">
                    <a:moveTo>
                      <a:pt x="0" y="7"/>
                    </a:moveTo>
                    <a:lnTo>
                      <a:pt x="12" y="3"/>
                    </a:lnTo>
                    <a:lnTo>
                      <a:pt x="10" y="19"/>
                    </a:lnTo>
                    <a:lnTo>
                      <a:pt x="21" y="14"/>
                    </a:lnTo>
                    <a:lnTo>
                      <a:pt x="12" y="16"/>
                    </a:lnTo>
                    <a:lnTo>
                      <a:pt x="14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49" name="Freeform 846"/>
              <p:cNvSpPr>
                <a:spLocks/>
              </p:cNvSpPr>
              <p:nvPr/>
            </p:nvSpPr>
            <p:spPr bwMode="auto">
              <a:xfrm>
                <a:off x="2752" y="1830"/>
                <a:ext cx="45" cy="62"/>
              </a:xfrm>
              <a:custGeom>
                <a:avLst/>
                <a:gdLst>
                  <a:gd name="T0" fmla="*/ 45 w 45"/>
                  <a:gd name="T1" fmla="*/ 0 h 62"/>
                  <a:gd name="T2" fmla="*/ 24 w 45"/>
                  <a:gd name="T3" fmla="*/ 37 h 62"/>
                  <a:gd name="T4" fmla="*/ 14 w 45"/>
                  <a:gd name="T5" fmla="*/ 24 h 62"/>
                  <a:gd name="T6" fmla="*/ 0 w 45"/>
                  <a:gd name="T7" fmla="*/ 62 h 62"/>
                  <a:gd name="T8" fmla="*/ 16 w 45"/>
                  <a:gd name="T9" fmla="*/ 40 h 62"/>
                  <a:gd name="T10" fmla="*/ 26 w 45"/>
                  <a:gd name="T11" fmla="*/ 52 h 62"/>
                  <a:gd name="T12" fmla="*/ 45 w 45"/>
                  <a:gd name="T13" fmla="*/ 0 h 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5"/>
                  <a:gd name="T22" fmla="*/ 0 h 62"/>
                  <a:gd name="T23" fmla="*/ 45 w 45"/>
                  <a:gd name="T24" fmla="*/ 62 h 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5" h="62">
                    <a:moveTo>
                      <a:pt x="45" y="0"/>
                    </a:moveTo>
                    <a:lnTo>
                      <a:pt x="24" y="37"/>
                    </a:lnTo>
                    <a:lnTo>
                      <a:pt x="14" y="24"/>
                    </a:lnTo>
                    <a:lnTo>
                      <a:pt x="0" y="62"/>
                    </a:lnTo>
                    <a:lnTo>
                      <a:pt x="16" y="40"/>
                    </a:lnTo>
                    <a:lnTo>
                      <a:pt x="26" y="5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50" name="Freeform 847"/>
              <p:cNvSpPr>
                <a:spLocks/>
              </p:cNvSpPr>
              <p:nvPr/>
            </p:nvSpPr>
            <p:spPr bwMode="auto">
              <a:xfrm>
                <a:off x="2773" y="1829"/>
                <a:ext cx="26" cy="40"/>
              </a:xfrm>
              <a:custGeom>
                <a:avLst/>
                <a:gdLst>
                  <a:gd name="T0" fmla="*/ 1 w 26"/>
                  <a:gd name="T1" fmla="*/ 39 h 40"/>
                  <a:gd name="T2" fmla="*/ 5 w 26"/>
                  <a:gd name="T3" fmla="*/ 39 h 40"/>
                  <a:gd name="T4" fmla="*/ 26 w 26"/>
                  <a:gd name="T5" fmla="*/ 2 h 40"/>
                  <a:gd name="T6" fmla="*/ 22 w 26"/>
                  <a:gd name="T7" fmla="*/ 0 h 40"/>
                  <a:gd name="T8" fmla="*/ 0 w 26"/>
                  <a:gd name="T9" fmla="*/ 36 h 40"/>
                  <a:gd name="T10" fmla="*/ 5 w 26"/>
                  <a:gd name="T11" fmla="*/ 36 h 40"/>
                  <a:gd name="T12" fmla="*/ 0 w 26"/>
                  <a:gd name="T13" fmla="*/ 36 h 40"/>
                  <a:gd name="T14" fmla="*/ 0 w 26"/>
                  <a:gd name="T15" fmla="*/ 38 h 40"/>
                  <a:gd name="T16" fmla="*/ 1 w 26"/>
                  <a:gd name="T17" fmla="*/ 40 h 40"/>
                  <a:gd name="T18" fmla="*/ 4 w 26"/>
                  <a:gd name="T19" fmla="*/ 40 h 40"/>
                  <a:gd name="T20" fmla="*/ 5 w 26"/>
                  <a:gd name="T21" fmla="*/ 39 h 40"/>
                  <a:gd name="T22" fmla="*/ 1 w 26"/>
                  <a:gd name="T23" fmla="*/ 39 h 4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6"/>
                  <a:gd name="T37" fmla="*/ 0 h 40"/>
                  <a:gd name="T38" fmla="*/ 26 w 26"/>
                  <a:gd name="T39" fmla="*/ 40 h 4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6" h="40">
                    <a:moveTo>
                      <a:pt x="1" y="39"/>
                    </a:moveTo>
                    <a:lnTo>
                      <a:pt x="5" y="39"/>
                    </a:lnTo>
                    <a:lnTo>
                      <a:pt x="26" y="2"/>
                    </a:lnTo>
                    <a:lnTo>
                      <a:pt x="22" y="0"/>
                    </a:lnTo>
                    <a:lnTo>
                      <a:pt x="0" y="36"/>
                    </a:lnTo>
                    <a:lnTo>
                      <a:pt x="5" y="36"/>
                    </a:lnTo>
                    <a:lnTo>
                      <a:pt x="0" y="36"/>
                    </a:lnTo>
                    <a:lnTo>
                      <a:pt x="0" y="38"/>
                    </a:lnTo>
                    <a:lnTo>
                      <a:pt x="1" y="40"/>
                    </a:lnTo>
                    <a:lnTo>
                      <a:pt x="4" y="40"/>
                    </a:lnTo>
                    <a:lnTo>
                      <a:pt x="5" y="39"/>
                    </a:lnTo>
                    <a:lnTo>
                      <a:pt x="1" y="3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51" name="Freeform 848"/>
              <p:cNvSpPr>
                <a:spLocks/>
              </p:cNvSpPr>
              <p:nvPr/>
            </p:nvSpPr>
            <p:spPr bwMode="auto">
              <a:xfrm>
                <a:off x="2764" y="1851"/>
                <a:ext cx="14" cy="17"/>
              </a:xfrm>
              <a:custGeom>
                <a:avLst/>
                <a:gdLst>
                  <a:gd name="T0" fmla="*/ 4 w 14"/>
                  <a:gd name="T1" fmla="*/ 3 h 17"/>
                  <a:gd name="T2" fmla="*/ 0 w 14"/>
                  <a:gd name="T3" fmla="*/ 5 h 17"/>
                  <a:gd name="T4" fmla="*/ 9 w 14"/>
                  <a:gd name="T5" fmla="*/ 17 h 17"/>
                  <a:gd name="T6" fmla="*/ 14 w 14"/>
                  <a:gd name="T7" fmla="*/ 14 h 17"/>
                  <a:gd name="T8" fmla="*/ 4 w 14"/>
                  <a:gd name="T9" fmla="*/ 1 h 17"/>
                  <a:gd name="T10" fmla="*/ 0 w 14"/>
                  <a:gd name="T11" fmla="*/ 2 h 17"/>
                  <a:gd name="T12" fmla="*/ 4 w 14"/>
                  <a:gd name="T13" fmla="*/ 1 h 17"/>
                  <a:gd name="T14" fmla="*/ 2 w 14"/>
                  <a:gd name="T15" fmla="*/ 0 h 17"/>
                  <a:gd name="T16" fmla="*/ 1 w 14"/>
                  <a:gd name="T17" fmla="*/ 1 h 17"/>
                  <a:gd name="T18" fmla="*/ 0 w 14"/>
                  <a:gd name="T19" fmla="*/ 2 h 17"/>
                  <a:gd name="T20" fmla="*/ 0 w 14"/>
                  <a:gd name="T21" fmla="*/ 5 h 17"/>
                  <a:gd name="T22" fmla="*/ 4 w 14"/>
                  <a:gd name="T23" fmla="*/ 3 h 1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4"/>
                  <a:gd name="T37" fmla="*/ 0 h 17"/>
                  <a:gd name="T38" fmla="*/ 14 w 14"/>
                  <a:gd name="T39" fmla="*/ 17 h 1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4" h="17">
                    <a:moveTo>
                      <a:pt x="4" y="3"/>
                    </a:moveTo>
                    <a:lnTo>
                      <a:pt x="0" y="5"/>
                    </a:lnTo>
                    <a:lnTo>
                      <a:pt x="9" y="17"/>
                    </a:lnTo>
                    <a:lnTo>
                      <a:pt x="14" y="14"/>
                    </a:lnTo>
                    <a:lnTo>
                      <a:pt x="4" y="1"/>
                    </a:lnTo>
                    <a:lnTo>
                      <a:pt x="0" y="2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52" name="Freeform 849"/>
              <p:cNvSpPr>
                <a:spLocks/>
              </p:cNvSpPr>
              <p:nvPr/>
            </p:nvSpPr>
            <p:spPr bwMode="auto">
              <a:xfrm>
                <a:off x="2750" y="1853"/>
                <a:ext cx="18" cy="41"/>
              </a:xfrm>
              <a:custGeom>
                <a:avLst/>
                <a:gdLst>
                  <a:gd name="T0" fmla="*/ 0 w 18"/>
                  <a:gd name="T1" fmla="*/ 37 h 41"/>
                  <a:gd name="T2" fmla="*/ 4 w 18"/>
                  <a:gd name="T3" fmla="*/ 39 h 41"/>
                  <a:gd name="T4" fmla="*/ 18 w 18"/>
                  <a:gd name="T5" fmla="*/ 1 h 41"/>
                  <a:gd name="T6" fmla="*/ 14 w 18"/>
                  <a:gd name="T7" fmla="*/ 0 h 41"/>
                  <a:gd name="T8" fmla="*/ 0 w 18"/>
                  <a:gd name="T9" fmla="*/ 38 h 41"/>
                  <a:gd name="T10" fmla="*/ 4 w 18"/>
                  <a:gd name="T11" fmla="*/ 40 h 41"/>
                  <a:gd name="T12" fmla="*/ 0 w 18"/>
                  <a:gd name="T13" fmla="*/ 38 h 41"/>
                  <a:gd name="T14" fmla="*/ 0 w 18"/>
                  <a:gd name="T15" fmla="*/ 40 h 41"/>
                  <a:gd name="T16" fmla="*/ 2 w 18"/>
                  <a:gd name="T17" fmla="*/ 41 h 41"/>
                  <a:gd name="T18" fmla="*/ 3 w 18"/>
                  <a:gd name="T19" fmla="*/ 41 h 41"/>
                  <a:gd name="T20" fmla="*/ 4 w 18"/>
                  <a:gd name="T21" fmla="*/ 39 h 41"/>
                  <a:gd name="T22" fmla="*/ 0 w 18"/>
                  <a:gd name="T23" fmla="*/ 37 h 4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41"/>
                  <a:gd name="T38" fmla="*/ 18 w 18"/>
                  <a:gd name="T39" fmla="*/ 41 h 4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41">
                    <a:moveTo>
                      <a:pt x="0" y="37"/>
                    </a:moveTo>
                    <a:lnTo>
                      <a:pt x="4" y="39"/>
                    </a:lnTo>
                    <a:lnTo>
                      <a:pt x="18" y="1"/>
                    </a:lnTo>
                    <a:lnTo>
                      <a:pt x="14" y="0"/>
                    </a:lnTo>
                    <a:lnTo>
                      <a:pt x="0" y="38"/>
                    </a:lnTo>
                    <a:lnTo>
                      <a:pt x="4" y="40"/>
                    </a:lnTo>
                    <a:lnTo>
                      <a:pt x="0" y="38"/>
                    </a:lnTo>
                    <a:lnTo>
                      <a:pt x="0" y="40"/>
                    </a:lnTo>
                    <a:lnTo>
                      <a:pt x="2" y="41"/>
                    </a:lnTo>
                    <a:lnTo>
                      <a:pt x="3" y="41"/>
                    </a:lnTo>
                    <a:lnTo>
                      <a:pt x="4" y="39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53" name="Freeform 850"/>
              <p:cNvSpPr>
                <a:spLocks/>
              </p:cNvSpPr>
              <p:nvPr/>
            </p:nvSpPr>
            <p:spPr bwMode="auto">
              <a:xfrm>
                <a:off x="2750" y="1867"/>
                <a:ext cx="21" cy="26"/>
              </a:xfrm>
              <a:custGeom>
                <a:avLst/>
                <a:gdLst>
                  <a:gd name="T0" fmla="*/ 20 w 21"/>
                  <a:gd name="T1" fmla="*/ 1 h 26"/>
                  <a:gd name="T2" fmla="*/ 17 w 21"/>
                  <a:gd name="T3" fmla="*/ 1 h 26"/>
                  <a:gd name="T4" fmla="*/ 0 w 21"/>
                  <a:gd name="T5" fmla="*/ 23 h 26"/>
                  <a:gd name="T6" fmla="*/ 4 w 21"/>
                  <a:gd name="T7" fmla="*/ 26 h 26"/>
                  <a:gd name="T8" fmla="*/ 20 w 21"/>
                  <a:gd name="T9" fmla="*/ 5 h 26"/>
                  <a:gd name="T10" fmla="*/ 17 w 21"/>
                  <a:gd name="T11" fmla="*/ 5 h 26"/>
                  <a:gd name="T12" fmla="*/ 20 w 21"/>
                  <a:gd name="T13" fmla="*/ 5 h 26"/>
                  <a:gd name="T14" fmla="*/ 21 w 21"/>
                  <a:gd name="T15" fmla="*/ 2 h 26"/>
                  <a:gd name="T16" fmla="*/ 20 w 21"/>
                  <a:gd name="T17" fmla="*/ 1 h 26"/>
                  <a:gd name="T18" fmla="*/ 18 w 21"/>
                  <a:gd name="T19" fmla="*/ 0 h 26"/>
                  <a:gd name="T20" fmla="*/ 17 w 21"/>
                  <a:gd name="T21" fmla="*/ 1 h 26"/>
                  <a:gd name="T22" fmla="*/ 20 w 21"/>
                  <a:gd name="T23" fmla="*/ 1 h 2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"/>
                  <a:gd name="T37" fmla="*/ 0 h 26"/>
                  <a:gd name="T38" fmla="*/ 21 w 21"/>
                  <a:gd name="T39" fmla="*/ 26 h 2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" h="26">
                    <a:moveTo>
                      <a:pt x="20" y="1"/>
                    </a:moveTo>
                    <a:lnTo>
                      <a:pt x="17" y="1"/>
                    </a:lnTo>
                    <a:lnTo>
                      <a:pt x="0" y="23"/>
                    </a:lnTo>
                    <a:lnTo>
                      <a:pt x="4" y="26"/>
                    </a:lnTo>
                    <a:lnTo>
                      <a:pt x="20" y="5"/>
                    </a:lnTo>
                    <a:lnTo>
                      <a:pt x="17" y="5"/>
                    </a:lnTo>
                    <a:lnTo>
                      <a:pt x="20" y="5"/>
                    </a:lnTo>
                    <a:lnTo>
                      <a:pt x="21" y="2"/>
                    </a:lnTo>
                    <a:lnTo>
                      <a:pt x="20" y="1"/>
                    </a:lnTo>
                    <a:lnTo>
                      <a:pt x="18" y="0"/>
                    </a:lnTo>
                    <a:lnTo>
                      <a:pt x="17" y="1"/>
                    </a:lnTo>
                    <a:lnTo>
                      <a:pt x="2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54" name="Freeform 851"/>
              <p:cNvSpPr>
                <a:spLocks/>
              </p:cNvSpPr>
              <p:nvPr/>
            </p:nvSpPr>
            <p:spPr bwMode="auto">
              <a:xfrm>
                <a:off x="2766" y="1868"/>
                <a:ext cx="14" cy="17"/>
              </a:xfrm>
              <a:custGeom>
                <a:avLst/>
                <a:gdLst>
                  <a:gd name="T0" fmla="*/ 8 w 14"/>
                  <a:gd name="T1" fmla="*/ 14 h 17"/>
                  <a:gd name="T2" fmla="*/ 13 w 14"/>
                  <a:gd name="T3" fmla="*/ 13 h 17"/>
                  <a:gd name="T4" fmla="*/ 4 w 14"/>
                  <a:gd name="T5" fmla="*/ 0 h 17"/>
                  <a:gd name="T6" fmla="*/ 0 w 14"/>
                  <a:gd name="T7" fmla="*/ 4 h 17"/>
                  <a:gd name="T8" fmla="*/ 10 w 14"/>
                  <a:gd name="T9" fmla="*/ 16 h 17"/>
                  <a:gd name="T10" fmla="*/ 14 w 14"/>
                  <a:gd name="T11" fmla="*/ 15 h 17"/>
                  <a:gd name="T12" fmla="*/ 10 w 14"/>
                  <a:gd name="T13" fmla="*/ 16 h 17"/>
                  <a:gd name="T14" fmla="*/ 11 w 14"/>
                  <a:gd name="T15" fmla="*/ 17 h 17"/>
                  <a:gd name="T16" fmla="*/ 13 w 14"/>
                  <a:gd name="T17" fmla="*/ 16 h 17"/>
                  <a:gd name="T18" fmla="*/ 14 w 14"/>
                  <a:gd name="T19" fmla="*/ 15 h 17"/>
                  <a:gd name="T20" fmla="*/ 13 w 14"/>
                  <a:gd name="T21" fmla="*/ 13 h 17"/>
                  <a:gd name="T22" fmla="*/ 8 w 14"/>
                  <a:gd name="T23" fmla="*/ 14 h 1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4"/>
                  <a:gd name="T37" fmla="*/ 0 h 17"/>
                  <a:gd name="T38" fmla="*/ 14 w 14"/>
                  <a:gd name="T39" fmla="*/ 17 h 1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4" h="17">
                    <a:moveTo>
                      <a:pt x="8" y="14"/>
                    </a:moveTo>
                    <a:lnTo>
                      <a:pt x="13" y="13"/>
                    </a:lnTo>
                    <a:lnTo>
                      <a:pt x="4" y="0"/>
                    </a:lnTo>
                    <a:lnTo>
                      <a:pt x="0" y="4"/>
                    </a:lnTo>
                    <a:lnTo>
                      <a:pt x="10" y="16"/>
                    </a:lnTo>
                    <a:lnTo>
                      <a:pt x="14" y="15"/>
                    </a:lnTo>
                    <a:lnTo>
                      <a:pt x="10" y="16"/>
                    </a:lnTo>
                    <a:lnTo>
                      <a:pt x="11" y="17"/>
                    </a:lnTo>
                    <a:lnTo>
                      <a:pt x="13" y="16"/>
                    </a:lnTo>
                    <a:lnTo>
                      <a:pt x="14" y="15"/>
                    </a:lnTo>
                    <a:lnTo>
                      <a:pt x="13" y="13"/>
                    </a:lnTo>
                    <a:lnTo>
                      <a:pt x="8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55" name="Freeform 852"/>
              <p:cNvSpPr>
                <a:spLocks/>
              </p:cNvSpPr>
              <p:nvPr/>
            </p:nvSpPr>
            <p:spPr bwMode="auto">
              <a:xfrm>
                <a:off x="2776" y="1828"/>
                <a:ext cx="23" cy="55"/>
              </a:xfrm>
              <a:custGeom>
                <a:avLst/>
                <a:gdLst>
                  <a:gd name="T0" fmla="*/ 23 w 23"/>
                  <a:gd name="T1" fmla="*/ 3 h 55"/>
                  <a:gd name="T2" fmla="*/ 19 w 23"/>
                  <a:gd name="T3" fmla="*/ 1 h 55"/>
                  <a:gd name="T4" fmla="*/ 0 w 23"/>
                  <a:gd name="T5" fmla="*/ 54 h 55"/>
                  <a:gd name="T6" fmla="*/ 4 w 23"/>
                  <a:gd name="T7" fmla="*/ 55 h 55"/>
                  <a:gd name="T8" fmla="*/ 23 w 23"/>
                  <a:gd name="T9" fmla="*/ 3 h 55"/>
                  <a:gd name="T10" fmla="*/ 19 w 23"/>
                  <a:gd name="T11" fmla="*/ 1 h 55"/>
                  <a:gd name="T12" fmla="*/ 23 w 23"/>
                  <a:gd name="T13" fmla="*/ 3 h 55"/>
                  <a:gd name="T14" fmla="*/ 23 w 23"/>
                  <a:gd name="T15" fmla="*/ 1 h 55"/>
                  <a:gd name="T16" fmla="*/ 21 w 23"/>
                  <a:gd name="T17" fmla="*/ 0 h 55"/>
                  <a:gd name="T18" fmla="*/ 20 w 23"/>
                  <a:gd name="T19" fmla="*/ 0 h 55"/>
                  <a:gd name="T20" fmla="*/ 19 w 23"/>
                  <a:gd name="T21" fmla="*/ 1 h 55"/>
                  <a:gd name="T22" fmla="*/ 23 w 23"/>
                  <a:gd name="T23" fmla="*/ 3 h 5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3"/>
                  <a:gd name="T37" fmla="*/ 0 h 55"/>
                  <a:gd name="T38" fmla="*/ 23 w 23"/>
                  <a:gd name="T39" fmla="*/ 55 h 5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3" h="55">
                    <a:moveTo>
                      <a:pt x="23" y="3"/>
                    </a:moveTo>
                    <a:lnTo>
                      <a:pt x="19" y="1"/>
                    </a:lnTo>
                    <a:lnTo>
                      <a:pt x="0" y="54"/>
                    </a:lnTo>
                    <a:lnTo>
                      <a:pt x="4" y="55"/>
                    </a:lnTo>
                    <a:lnTo>
                      <a:pt x="23" y="3"/>
                    </a:lnTo>
                    <a:lnTo>
                      <a:pt x="19" y="1"/>
                    </a:lnTo>
                    <a:lnTo>
                      <a:pt x="23" y="3"/>
                    </a:lnTo>
                    <a:lnTo>
                      <a:pt x="23" y="1"/>
                    </a:lnTo>
                    <a:lnTo>
                      <a:pt x="21" y="0"/>
                    </a:lnTo>
                    <a:lnTo>
                      <a:pt x="20" y="0"/>
                    </a:lnTo>
                    <a:lnTo>
                      <a:pt x="19" y="1"/>
                    </a:lnTo>
                    <a:lnTo>
                      <a:pt x="2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56" name="Freeform 853"/>
              <p:cNvSpPr>
                <a:spLocks/>
              </p:cNvSpPr>
              <p:nvPr/>
            </p:nvSpPr>
            <p:spPr bwMode="auto">
              <a:xfrm>
                <a:off x="2753" y="1833"/>
                <a:ext cx="43" cy="57"/>
              </a:xfrm>
              <a:custGeom>
                <a:avLst/>
                <a:gdLst>
                  <a:gd name="T0" fmla="*/ 43 w 43"/>
                  <a:gd name="T1" fmla="*/ 0 h 57"/>
                  <a:gd name="T2" fmla="*/ 25 w 43"/>
                  <a:gd name="T3" fmla="*/ 49 h 57"/>
                  <a:gd name="T4" fmla="*/ 15 w 43"/>
                  <a:gd name="T5" fmla="*/ 36 h 57"/>
                  <a:gd name="T6" fmla="*/ 0 w 43"/>
                  <a:gd name="T7" fmla="*/ 57 h 57"/>
                  <a:gd name="T8" fmla="*/ 13 w 43"/>
                  <a:gd name="T9" fmla="*/ 21 h 57"/>
                  <a:gd name="T10" fmla="*/ 23 w 43"/>
                  <a:gd name="T11" fmla="*/ 34 h 57"/>
                  <a:gd name="T12" fmla="*/ 43 w 43"/>
                  <a:gd name="T13" fmla="*/ 0 h 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57"/>
                  <a:gd name="T23" fmla="*/ 43 w 43"/>
                  <a:gd name="T24" fmla="*/ 57 h 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57">
                    <a:moveTo>
                      <a:pt x="43" y="0"/>
                    </a:moveTo>
                    <a:lnTo>
                      <a:pt x="25" y="49"/>
                    </a:lnTo>
                    <a:lnTo>
                      <a:pt x="15" y="36"/>
                    </a:lnTo>
                    <a:lnTo>
                      <a:pt x="0" y="57"/>
                    </a:lnTo>
                    <a:lnTo>
                      <a:pt x="13" y="21"/>
                    </a:lnTo>
                    <a:lnTo>
                      <a:pt x="23" y="34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19191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57" name="Freeform 854"/>
              <p:cNvSpPr>
                <a:spLocks/>
              </p:cNvSpPr>
              <p:nvPr/>
            </p:nvSpPr>
            <p:spPr bwMode="auto">
              <a:xfrm>
                <a:off x="2754" y="1836"/>
                <a:ext cx="41" cy="52"/>
              </a:xfrm>
              <a:custGeom>
                <a:avLst/>
                <a:gdLst>
                  <a:gd name="T0" fmla="*/ 41 w 41"/>
                  <a:gd name="T1" fmla="*/ 0 h 52"/>
                  <a:gd name="T2" fmla="*/ 24 w 41"/>
                  <a:gd name="T3" fmla="*/ 45 h 52"/>
                  <a:gd name="T4" fmla="*/ 14 w 41"/>
                  <a:gd name="T5" fmla="*/ 32 h 52"/>
                  <a:gd name="T6" fmla="*/ 0 w 41"/>
                  <a:gd name="T7" fmla="*/ 52 h 52"/>
                  <a:gd name="T8" fmla="*/ 12 w 41"/>
                  <a:gd name="T9" fmla="*/ 20 h 52"/>
                  <a:gd name="T10" fmla="*/ 23 w 41"/>
                  <a:gd name="T11" fmla="*/ 31 h 52"/>
                  <a:gd name="T12" fmla="*/ 41 w 41"/>
                  <a:gd name="T13" fmla="*/ 0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1"/>
                  <a:gd name="T22" fmla="*/ 0 h 52"/>
                  <a:gd name="T23" fmla="*/ 41 w 41"/>
                  <a:gd name="T24" fmla="*/ 52 h 5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1" h="52">
                    <a:moveTo>
                      <a:pt x="41" y="0"/>
                    </a:moveTo>
                    <a:lnTo>
                      <a:pt x="24" y="45"/>
                    </a:lnTo>
                    <a:lnTo>
                      <a:pt x="14" y="32"/>
                    </a:lnTo>
                    <a:lnTo>
                      <a:pt x="0" y="52"/>
                    </a:lnTo>
                    <a:lnTo>
                      <a:pt x="12" y="20"/>
                    </a:lnTo>
                    <a:lnTo>
                      <a:pt x="23" y="31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58" name="Freeform 855"/>
              <p:cNvSpPr>
                <a:spLocks/>
              </p:cNvSpPr>
              <p:nvPr/>
            </p:nvSpPr>
            <p:spPr bwMode="auto">
              <a:xfrm>
                <a:off x="2755" y="1840"/>
                <a:ext cx="38" cy="47"/>
              </a:xfrm>
              <a:custGeom>
                <a:avLst/>
                <a:gdLst>
                  <a:gd name="T0" fmla="*/ 38 w 38"/>
                  <a:gd name="T1" fmla="*/ 0 h 47"/>
                  <a:gd name="T2" fmla="*/ 23 w 38"/>
                  <a:gd name="T3" fmla="*/ 41 h 47"/>
                  <a:gd name="T4" fmla="*/ 13 w 38"/>
                  <a:gd name="T5" fmla="*/ 28 h 47"/>
                  <a:gd name="T6" fmla="*/ 0 w 38"/>
                  <a:gd name="T7" fmla="*/ 47 h 47"/>
                  <a:gd name="T8" fmla="*/ 11 w 38"/>
                  <a:gd name="T9" fmla="*/ 16 h 47"/>
                  <a:gd name="T10" fmla="*/ 21 w 38"/>
                  <a:gd name="T11" fmla="*/ 28 h 47"/>
                  <a:gd name="T12" fmla="*/ 38 w 38"/>
                  <a:gd name="T13" fmla="*/ 0 h 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"/>
                  <a:gd name="T22" fmla="*/ 0 h 47"/>
                  <a:gd name="T23" fmla="*/ 38 w 38"/>
                  <a:gd name="T24" fmla="*/ 47 h 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" h="47">
                    <a:moveTo>
                      <a:pt x="38" y="0"/>
                    </a:moveTo>
                    <a:lnTo>
                      <a:pt x="23" y="41"/>
                    </a:lnTo>
                    <a:lnTo>
                      <a:pt x="13" y="28"/>
                    </a:lnTo>
                    <a:lnTo>
                      <a:pt x="0" y="47"/>
                    </a:lnTo>
                    <a:lnTo>
                      <a:pt x="11" y="16"/>
                    </a:lnTo>
                    <a:lnTo>
                      <a:pt x="21" y="28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59" name="Freeform 856"/>
              <p:cNvSpPr>
                <a:spLocks/>
              </p:cNvSpPr>
              <p:nvPr/>
            </p:nvSpPr>
            <p:spPr bwMode="auto">
              <a:xfrm>
                <a:off x="2756" y="1843"/>
                <a:ext cx="36" cy="41"/>
              </a:xfrm>
              <a:custGeom>
                <a:avLst/>
                <a:gdLst>
                  <a:gd name="T0" fmla="*/ 36 w 36"/>
                  <a:gd name="T1" fmla="*/ 0 h 41"/>
                  <a:gd name="T2" fmla="*/ 22 w 36"/>
                  <a:gd name="T3" fmla="*/ 38 h 41"/>
                  <a:gd name="T4" fmla="*/ 12 w 36"/>
                  <a:gd name="T5" fmla="*/ 24 h 41"/>
                  <a:gd name="T6" fmla="*/ 0 w 36"/>
                  <a:gd name="T7" fmla="*/ 41 h 41"/>
                  <a:gd name="T8" fmla="*/ 11 w 36"/>
                  <a:gd name="T9" fmla="*/ 14 h 41"/>
                  <a:gd name="T10" fmla="*/ 21 w 36"/>
                  <a:gd name="T11" fmla="*/ 26 h 41"/>
                  <a:gd name="T12" fmla="*/ 36 w 36"/>
                  <a:gd name="T13" fmla="*/ 0 h 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6"/>
                  <a:gd name="T22" fmla="*/ 0 h 41"/>
                  <a:gd name="T23" fmla="*/ 36 w 36"/>
                  <a:gd name="T24" fmla="*/ 41 h 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6" h="41">
                    <a:moveTo>
                      <a:pt x="36" y="0"/>
                    </a:moveTo>
                    <a:lnTo>
                      <a:pt x="22" y="38"/>
                    </a:lnTo>
                    <a:lnTo>
                      <a:pt x="12" y="24"/>
                    </a:lnTo>
                    <a:lnTo>
                      <a:pt x="0" y="41"/>
                    </a:lnTo>
                    <a:lnTo>
                      <a:pt x="11" y="14"/>
                    </a:lnTo>
                    <a:lnTo>
                      <a:pt x="21" y="2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60" name="Freeform 857"/>
              <p:cNvSpPr>
                <a:spLocks/>
              </p:cNvSpPr>
              <p:nvPr/>
            </p:nvSpPr>
            <p:spPr bwMode="auto">
              <a:xfrm>
                <a:off x="2756" y="1846"/>
                <a:ext cx="34" cy="36"/>
              </a:xfrm>
              <a:custGeom>
                <a:avLst/>
                <a:gdLst>
                  <a:gd name="T0" fmla="*/ 34 w 34"/>
                  <a:gd name="T1" fmla="*/ 0 h 36"/>
                  <a:gd name="T2" fmla="*/ 22 w 34"/>
                  <a:gd name="T3" fmla="*/ 34 h 36"/>
                  <a:gd name="T4" fmla="*/ 11 w 34"/>
                  <a:gd name="T5" fmla="*/ 21 h 36"/>
                  <a:gd name="T6" fmla="*/ 0 w 34"/>
                  <a:gd name="T7" fmla="*/ 36 h 36"/>
                  <a:gd name="T8" fmla="*/ 10 w 34"/>
                  <a:gd name="T9" fmla="*/ 12 h 36"/>
                  <a:gd name="T10" fmla="*/ 20 w 34"/>
                  <a:gd name="T11" fmla="*/ 23 h 36"/>
                  <a:gd name="T12" fmla="*/ 34 w 34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"/>
                  <a:gd name="T22" fmla="*/ 0 h 36"/>
                  <a:gd name="T23" fmla="*/ 34 w 34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" h="36">
                    <a:moveTo>
                      <a:pt x="34" y="0"/>
                    </a:moveTo>
                    <a:lnTo>
                      <a:pt x="22" y="34"/>
                    </a:lnTo>
                    <a:lnTo>
                      <a:pt x="11" y="21"/>
                    </a:lnTo>
                    <a:lnTo>
                      <a:pt x="0" y="36"/>
                    </a:lnTo>
                    <a:lnTo>
                      <a:pt x="10" y="12"/>
                    </a:lnTo>
                    <a:lnTo>
                      <a:pt x="20" y="23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61" name="Freeform 858"/>
              <p:cNvSpPr>
                <a:spLocks/>
              </p:cNvSpPr>
              <p:nvPr/>
            </p:nvSpPr>
            <p:spPr bwMode="auto">
              <a:xfrm>
                <a:off x="2758" y="1849"/>
                <a:ext cx="30" cy="31"/>
              </a:xfrm>
              <a:custGeom>
                <a:avLst/>
                <a:gdLst>
                  <a:gd name="T0" fmla="*/ 30 w 30"/>
                  <a:gd name="T1" fmla="*/ 0 h 31"/>
                  <a:gd name="T2" fmla="*/ 20 w 30"/>
                  <a:gd name="T3" fmla="*/ 30 h 31"/>
                  <a:gd name="T4" fmla="*/ 10 w 30"/>
                  <a:gd name="T5" fmla="*/ 17 h 31"/>
                  <a:gd name="T6" fmla="*/ 0 w 30"/>
                  <a:gd name="T7" fmla="*/ 31 h 31"/>
                  <a:gd name="T8" fmla="*/ 9 w 30"/>
                  <a:gd name="T9" fmla="*/ 9 h 31"/>
                  <a:gd name="T10" fmla="*/ 18 w 30"/>
                  <a:gd name="T11" fmla="*/ 21 h 31"/>
                  <a:gd name="T12" fmla="*/ 30 w 30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0"/>
                  <a:gd name="T22" fmla="*/ 0 h 31"/>
                  <a:gd name="T23" fmla="*/ 30 w 30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0" h="31">
                    <a:moveTo>
                      <a:pt x="30" y="0"/>
                    </a:moveTo>
                    <a:lnTo>
                      <a:pt x="20" y="30"/>
                    </a:lnTo>
                    <a:lnTo>
                      <a:pt x="10" y="17"/>
                    </a:lnTo>
                    <a:lnTo>
                      <a:pt x="0" y="31"/>
                    </a:lnTo>
                    <a:lnTo>
                      <a:pt x="9" y="9"/>
                    </a:lnTo>
                    <a:lnTo>
                      <a:pt x="18" y="2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62" name="Freeform 859"/>
              <p:cNvSpPr>
                <a:spLocks/>
              </p:cNvSpPr>
              <p:nvPr/>
            </p:nvSpPr>
            <p:spPr bwMode="auto">
              <a:xfrm>
                <a:off x="2758" y="1852"/>
                <a:ext cx="29" cy="27"/>
              </a:xfrm>
              <a:custGeom>
                <a:avLst/>
                <a:gdLst>
                  <a:gd name="T0" fmla="*/ 29 w 29"/>
                  <a:gd name="T1" fmla="*/ 0 h 27"/>
                  <a:gd name="T2" fmla="*/ 20 w 29"/>
                  <a:gd name="T3" fmla="*/ 27 h 27"/>
                  <a:gd name="T4" fmla="*/ 9 w 29"/>
                  <a:gd name="T5" fmla="*/ 14 h 27"/>
                  <a:gd name="T6" fmla="*/ 0 w 29"/>
                  <a:gd name="T7" fmla="*/ 27 h 27"/>
                  <a:gd name="T8" fmla="*/ 8 w 29"/>
                  <a:gd name="T9" fmla="*/ 7 h 27"/>
                  <a:gd name="T10" fmla="*/ 18 w 29"/>
                  <a:gd name="T11" fmla="*/ 20 h 27"/>
                  <a:gd name="T12" fmla="*/ 29 w 29"/>
                  <a:gd name="T13" fmla="*/ 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9"/>
                  <a:gd name="T22" fmla="*/ 0 h 27"/>
                  <a:gd name="T23" fmla="*/ 29 w 29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9" h="27">
                    <a:moveTo>
                      <a:pt x="29" y="0"/>
                    </a:moveTo>
                    <a:lnTo>
                      <a:pt x="20" y="27"/>
                    </a:lnTo>
                    <a:lnTo>
                      <a:pt x="9" y="14"/>
                    </a:lnTo>
                    <a:lnTo>
                      <a:pt x="0" y="27"/>
                    </a:lnTo>
                    <a:lnTo>
                      <a:pt x="8" y="7"/>
                    </a:lnTo>
                    <a:lnTo>
                      <a:pt x="18" y="2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63" name="Freeform 860"/>
              <p:cNvSpPr>
                <a:spLocks/>
              </p:cNvSpPr>
              <p:nvPr/>
            </p:nvSpPr>
            <p:spPr bwMode="auto">
              <a:xfrm>
                <a:off x="2760" y="1856"/>
                <a:ext cx="25" cy="22"/>
              </a:xfrm>
              <a:custGeom>
                <a:avLst/>
                <a:gdLst>
                  <a:gd name="T0" fmla="*/ 25 w 25"/>
                  <a:gd name="T1" fmla="*/ 0 h 22"/>
                  <a:gd name="T2" fmla="*/ 17 w 25"/>
                  <a:gd name="T3" fmla="*/ 22 h 22"/>
                  <a:gd name="T4" fmla="*/ 7 w 25"/>
                  <a:gd name="T5" fmla="*/ 9 h 22"/>
                  <a:gd name="T6" fmla="*/ 0 w 25"/>
                  <a:gd name="T7" fmla="*/ 20 h 22"/>
                  <a:gd name="T8" fmla="*/ 6 w 25"/>
                  <a:gd name="T9" fmla="*/ 3 h 22"/>
                  <a:gd name="T10" fmla="*/ 16 w 25"/>
                  <a:gd name="T11" fmla="*/ 16 h 22"/>
                  <a:gd name="T12" fmla="*/ 25 w 25"/>
                  <a:gd name="T13" fmla="*/ 0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22"/>
                  <a:gd name="T23" fmla="*/ 25 w 25"/>
                  <a:gd name="T24" fmla="*/ 22 h 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22">
                    <a:moveTo>
                      <a:pt x="25" y="0"/>
                    </a:moveTo>
                    <a:lnTo>
                      <a:pt x="17" y="22"/>
                    </a:lnTo>
                    <a:lnTo>
                      <a:pt x="7" y="9"/>
                    </a:lnTo>
                    <a:lnTo>
                      <a:pt x="0" y="20"/>
                    </a:lnTo>
                    <a:lnTo>
                      <a:pt x="6" y="3"/>
                    </a:lnTo>
                    <a:lnTo>
                      <a:pt x="16" y="1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64" name="Freeform 861"/>
              <p:cNvSpPr>
                <a:spLocks/>
              </p:cNvSpPr>
              <p:nvPr/>
            </p:nvSpPr>
            <p:spPr bwMode="auto">
              <a:xfrm>
                <a:off x="2761" y="1859"/>
                <a:ext cx="23" cy="19"/>
              </a:xfrm>
              <a:custGeom>
                <a:avLst/>
                <a:gdLst>
                  <a:gd name="T0" fmla="*/ 23 w 23"/>
                  <a:gd name="T1" fmla="*/ 0 h 19"/>
                  <a:gd name="T2" fmla="*/ 16 w 23"/>
                  <a:gd name="T3" fmla="*/ 19 h 19"/>
                  <a:gd name="T4" fmla="*/ 6 w 23"/>
                  <a:gd name="T5" fmla="*/ 6 h 19"/>
                  <a:gd name="T6" fmla="*/ 0 w 23"/>
                  <a:gd name="T7" fmla="*/ 16 h 19"/>
                  <a:gd name="T8" fmla="*/ 5 w 23"/>
                  <a:gd name="T9" fmla="*/ 1 h 19"/>
                  <a:gd name="T10" fmla="*/ 15 w 23"/>
                  <a:gd name="T11" fmla="*/ 14 h 19"/>
                  <a:gd name="T12" fmla="*/ 23 w 23"/>
                  <a:gd name="T13" fmla="*/ 0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"/>
                  <a:gd name="T22" fmla="*/ 0 h 19"/>
                  <a:gd name="T23" fmla="*/ 23 w 23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" h="19">
                    <a:moveTo>
                      <a:pt x="23" y="0"/>
                    </a:moveTo>
                    <a:lnTo>
                      <a:pt x="16" y="19"/>
                    </a:lnTo>
                    <a:lnTo>
                      <a:pt x="6" y="6"/>
                    </a:lnTo>
                    <a:lnTo>
                      <a:pt x="0" y="16"/>
                    </a:lnTo>
                    <a:lnTo>
                      <a:pt x="5" y="1"/>
                    </a:lnTo>
                    <a:lnTo>
                      <a:pt x="15" y="14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65" name="Freeform 862"/>
              <p:cNvSpPr>
                <a:spLocks/>
              </p:cNvSpPr>
              <p:nvPr/>
            </p:nvSpPr>
            <p:spPr bwMode="auto">
              <a:xfrm>
                <a:off x="2762" y="1861"/>
                <a:ext cx="20" cy="16"/>
              </a:xfrm>
              <a:custGeom>
                <a:avLst/>
                <a:gdLst>
                  <a:gd name="T0" fmla="*/ 20 w 20"/>
                  <a:gd name="T1" fmla="*/ 2 h 16"/>
                  <a:gd name="T2" fmla="*/ 14 w 20"/>
                  <a:gd name="T3" fmla="*/ 12 h 16"/>
                  <a:gd name="T4" fmla="*/ 4 w 20"/>
                  <a:gd name="T5" fmla="*/ 0 h 16"/>
                  <a:gd name="T6" fmla="*/ 0 w 20"/>
                  <a:gd name="T7" fmla="*/ 12 h 16"/>
                  <a:gd name="T8" fmla="*/ 5 w 20"/>
                  <a:gd name="T9" fmla="*/ 3 h 16"/>
                  <a:gd name="T10" fmla="*/ 15 w 20"/>
                  <a:gd name="T11" fmla="*/ 16 h 16"/>
                  <a:gd name="T12" fmla="*/ 20 w 20"/>
                  <a:gd name="T13" fmla="*/ 2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"/>
                  <a:gd name="T22" fmla="*/ 0 h 16"/>
                  <a:gd name="T23" fmla="*/ 20 w 20"/>
                  <a:gd name="T24" fmla="*/ 16 h 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" h="16">
                    <a:moveTo>
                      <a:pt x="20" y="2"/>
                    </a:moveTo>
                    <a:lnTo>
                      <a:pt x="14" y="12"/>
                    </a:lnTo>
                    <a:lnTo>
                      <a:pt x="4" y="0"/>
                    </a:lnTo>
                    <a:lnTo>
                      <a:pt x="0" y="12"/>
                    </a:lnTo>
                    <a:lnTo>
                      <a:pt x="5" y="3"/>
                    </a:lnTo>
                    <a:lnTo>
                      <a:pt x="15" y="16"/>
                    </a:lnTo>
                    <a:lnTo>
                      <a:pt x="20" y="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66" name="Freeform 863"/>
              <p:cNvSpPr>
                <a:spLocks/>
              </p:cNvSpPr>
              <p:nvPr/>
            </p:nvSpPr>
            <p:spPr bwMode="auto">
              <a:xfrm>
                <a:off x="2776" y="1938"/>
                <a:ext cx="75" cy="29"/>
              </a:xfrm>
              <a:custGeom>
                <a:avLst/>
                <a:gdLst>
                  <a:gd name="T0" fmla="*/ 75 w 75"/>
                  <a:gd name="T1" fmla="*/ 5 h 29"/>
                  <a:gd name="T2" fmla="*/ 34 w 75"/>
                  <a:gd name="T3" fmla="*/ 16 h 29"/>
                  <a:gd name="T4" fmla="*/ 36 w 75"/>
                  <a:gd name="T5" fmla="*/ 0 h 29"/>
                  <a:gd name="T6" fmla="*/ 0 w 75"/>
                  <a:gd name="T7" fmla="*/ 16 h 29"/>
                  <a:gd name="T8" fmla="*/ 26 w 75"/>
                  <a:gd name="T9" fmla="*/ 13 h 29"/>
                  <a:gd name="T10" fmla="*/ 24 w 75"/>
                  <a:gd name="T11" fmla="*/ 29 h 29"/>
                  <a:gd name="T12" fmla="*/ 75 w 75"/>
                  <a:gd name="T13" fmla="*/ 5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5"/>
                  <a:gd name="T22" fmla="*/ 0 h 29"/>
                  <a:gd name="T23" fmla="*/ 75 w 75"/>
                  <a:gd name="T24" fmla="*/ 29 h 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5" h="29">
                    <a:moveTo>
                      <a:pt x="75" y="5"/>
                    </a:moveTo>
                    <a:lnTo>
                      <a:pt x="34" y="16"/>
                    </a:lnTo>
                    <a:lnTo>
                      <a:pt x="36" y="0"/>
                    </a:lnTo>
                    <a:lnTo>
                      <a:pt x="0" y="16"/>
                    </a:lnTo>
                    <a:lnTo>
                      <a:pt x="26" y="13"/>
                    </a:lnTo>
                    <a:lnTo>
                      <a:pt x="24" y="29"/>
                    </a:ln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67" name="Freeform 864"/>
              <p:cNvSpPr>
                <a:spLocks/>
              </p:cNvSpPr>
              <p:nvPr/>
            </p:nvSpPr>
            <p:spPr bwMode="auto">
              <a:xfrm>
                <a:off x="2808" y="1941"/>
                <a:ext cx="43" cy="16"/>
              </a:xfrm>
              <a:custGeom>
                <a:avLst/>
                <a:gdLst>
                  <a:gd name="T0" fmla="*/ 0 w 43"/>
                  <a:gd name="T1" fmla="*/ 13 h 16"/>
                  <a:gd name="T2" fmla="*/ 3 w 43"/>
                  <a:gd name="T3" fmla="*/ 16 h 16"/>
                  <a:gd name="T4" fmla="*/ 43 w 43"/>
                  <a:gd name="T5" fmla="*/ 5 h 16"/>
                  <a:gd name="T6" fmla="*/ 42 w 43"/>
                  <a:gd name="T7" fmla="*/ 0 h 16"/>
                  <a:gd name="T8" fmla="*/ 2 w 43"/>
                  <a:gd name="T9" fmla="*/ 11 h 16"/>
                  <a:gd name="T10" fmla="*/ 5 w 43"/>
                  <a:gd name="T11" fmla="*/ 14 h 16"/>
                  <a:gd name="T12" fmla="*/ 2 w 43"/>
                  <a:gd name="T13" fmla="*/ 11 h 16"/>
                  <a:gd name="T14" fmla="*/ 0 w 43"/>
                  <a:gd name="T15" fmla="*/ 12 h 16"/>
                  <a:gd name="T16" fmla="*/ 0 w 43"/>
                  <a:gd name="T17" fmla="*/ 14 h 16"/>
                  <a:gd name="T18" fmla="*/ 1 w 43"/>
                  <a:gd name="T19" fmla="*/ 16 h 16"/>
                  <a:gd name="T20" fmla="*/ 3 w 43"/>
                  <a:gd name="T21" fmla="*/ 16 h 16"/>
                  <a:gd name="T22" fmla="*/ 0 w 43"/>
                  <a:gd name="T23" fmla="*/ 13 h 1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3"/>
                  <a:gd name="T37" fmla="*/ 0 h 16"/>
                  <a:gd name="T38" fmla="*/ 43 w 43"/>
                  <a:gd name="T39" fmla="*/ 16 h 1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3" h="16">
                    <a:moveTo>
                      <a:pt x="0" y="13"/>
                    </a:moveTo>
                    <a:lnTo>
                      <a:pt x="3" y="16"/>
                    </a:lnTo>
                    <a:lnTo>
                      <a:pt x="43" y="5"/>
                    </a:lnTo>
                    <a:lnTo>
                      <a:pt x="42" y="0"/>
                    </a:lnTo>
                    <a:lnTo>
                      <a:pt x="2" y="11"/>
                    </a:lnTo>
                    <a:lnTo>
                      <a:pt x="5" y="14"/>
                    </a:lnTo>
                    <a:lnTo>
                      <a:pt x="2" y="11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3" y="16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68" name="Freeform 865"/>
              <p:cNvSpPr>
                <a:spLocks/>
              </p:cNvSpPr>
              <p:nvPr/>
            </p:nvSpPr>
            <p:spPr bwMode="auto">
              <a:xfrm>
                <a:off x="2808" y="1936"/>
                <a:ext cx="7" cy="19"/>
              </a:xfrm>
              <a:custGeom>
                <a:avLst/>
                <a:gdLst>
                  <a:gd name="T0" fmla="*/ 5 w 7"/>
                  <a:gd name="T1" fmla="*/ 5 h 19"/>
                  <a:gd name="T2" fmla="*/ 2 w 7"/>
                  <a:gd name="T3" fmla="*/ 2 h 19"/>
                  <a:gd name="T4" fmla="*/ 0 w 7"/>
                  <a:gd name="T5" fmla="*/ 18 h 19"/>
                  <a:gd name="T6" fmla="*/ 5 w 7"/>
                  <a:gd name="T7" fmla="*/ 19 h 19"/>
                  <a:gd name="T8" fmla="*/ 7 w 7"/>
                  <a:gd name="T9" fmla="*/ 3 h 19"/>
                  <a:gd name="T10" fmla="*/ 4 w 7"/>
                  <a:gd name="T11" fmla="*/ 0 h 19"/>
                  <a:gd name="T12" fmla="*/ 7 w 7"/>
                  <a:gd name="T13" fmla="*/ 3 h 19"/>
                  <a:gd name="T14" fmla="*/ 6 w 7"/>
                  <a:gd name="T15" fmla="*/ 1 h 19"/>
                  <a:gd name="T16" fmla="*/ 5 w 7"/>
                  <a:gd name="T17" fmla="*/ 0 h 19"/>
                  <a:gd name="T18" fmla="*/ 3 w 7"/>
                  <a:gd name="T19" fmla="*/ 1 h 19"/>
                  <a:gd name="T20" fmla="*/ 2 w 7"/>
                  <a:gd name="T21" fmla="*/ 2 h 19"/>
                  <a:gd name="T22" fmla="*/ 5 w 7"/>
                  <a:gd name="T23" fmla="*/ 5 h 1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"/>
                  <a:gd name="T37" fmla="*/ 0 h 19"/>
                  <a:gd name="T38" fmla="*/ 7 w 7"/>
                  <a:gd name="T39" fmla="*/ 19 h 1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" h="19">
                    <a:moveTo>
                      <a:pt x="5" y="5"/>
                    </a:moveTo>
                    <a:lnTo>
                      <a:pt x="2" y="2"/>
                    </a:lnTo>
                    <a:lnTo>
                      <a:pt x="0" y="18"/>
                    </a:lnTo>
                    <a:lnTo>
                      <a:pt x="5" y="19"/>
                    </a:lnTo>
                    <a:lnTo>
                      <a:pt x="7" y="3"/>
                    </a:lnTo>
                    <a:lnTo>
                      <a:pt x="4" y="0"/>
                    </a:lnTo>
                    <a:lnTo>
                      <a:pt x="7" y="3"/>
                    </a:lnTo>
                    <a:lnTo>
                      <a:pt x="6" y="1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2" y="2"/>
                    </a:lnTo>
                    <a:lnTo>
                      <a:pt x="5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69" name="Freeform 866"/>
              <p:cNvSpPr>
                <a:spLocks/>
              </p:cNvSpPr>
              <p:nvPr/>
            </p:nvSpPr>
            <p:spPr bwMode="auto">
              <a:xfrm>
                <a:off x="2773" y="1936"/>
                <a:ext cx="40" cy="21"/>
              </a:xfrm>
              <a:custGeom>
                <a:avLst/>
                <a:gdLst>
                  <a:gd name="T0" fmla="*/ 3 w 40"/>
                  <a:gd name="T1" fmla="*/ 16 h 21"/>
                  <a:gd name="T2" fmla="*/ 4 w 40"/>
                  <a:gd name="T3" fmla="*/ 21 h 21"/>
                  <a:gd name="T4" fmla="*/ 40 w 40"/>
                  <a:gd name="T5" fmla="*/ 4 h 21"/>
                  <a:gd name="T6" fmla="*/ 38 w 40"/>
                  <a:gd name="T7" fmla="*/ 0 h 21"/>
                  <a:gd name="T8" fmla="*/ 1 w 40"/>
                  <a:gd name="T9" fmla="*/ 16 h 21"/>
                  <a:gd name="T10" fmla="*/ 3 w 40"/>
                  <a:gd name="T11" fmla="*/ 21 h 21"/>
                  <a:gd name="T12" fmla="*/ 1 w 40"/>
                  <a:gd name="T13" fmla="*/ 16 h 21"/>
                  <a:gd name="T14" fmla="*/ 0 w 40"/>
                  <a:gd name="T15" fmla="*/ 18 h 21"/>
                  <a:gd name="T16" fmla="*/ 0 w 40"/>
                  <a:gd name="T17" fmla="*/ 19 h 21"/>
                  <a:gd name="T18" fmla="*/ 1 w 40"/>
                  <a:gd name="T19" fmla="*/ 21 h 21"/>
                  <a:gd name="T20" fmla="*/ 4 w 40"/>
                  <a:gd name="T21" fmla="*/ 21 h 21"/>
                  <a:gd name="T22" fmla="*/ 3 w 40"/>
                  <a:gd name="T23" fmla="*/ 16 h 2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0"/>
                  <a:gd name="T37" fmla="*/ 0 h 21"/>
                  <a:gd name="T38" fmla="*/ 40 w 40"/>
                  <a:gd name="T39" fmla="*/ 21 h 2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0" h="21">
                    <a:moveTo>
                      <a:pt x="3" y="16"/>
                    </a:moveTo>
                    <a:lnTo>
                      <a:pt x="4" y="21"/>
                    </a:lnTo>
                    <a:lnTo>
                      <a:pt x="40" y="4"/>
                    </a:lnTo>
                    <a:lnTo>
                      <a:pt x="38" y="0"/>
                    </a:lnTo>
                    <a:lnTo>
                      <a:pt x="1" y="16"/>
                    </a:lnTo>
                    <a:lnTo>
                      <a:pt x="3" y="21"/>
                    </a:lnTo>
                    <a:lnTo>
                      <a:pt x="1" y="16"/>
                    </a:lnTo>
                    <a:lnTo>
                      <a:pt x="0" y="18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4" y="21"/>
                    </a:lnTo>
                    <a:lnTo>
                      <a:pt x="3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70" name="Freeform 867"/>
              <p:cNvSpPr>
                <a:spLocks/>
              </p:cNvSpPr>
              <p:nvPr/>
            </p:nvSpPr>
            <p:spPr bwMode="auto">
              <a:xfrm>
                <a:off x="2776" y="1948"/>
                <a:ext cx="28" cy="9"/>
              </a:xfrm>
              <a:custGeom>
                <a:avLst/>
                <a:gdLst>
                  <a:gd name="T0" fmla="*/ 28 w 28"/>
                  <a:gd name="T1" fmla="*/ 4 h 9"/>
                  <a:gd name="T2" fmla="*/ 25 w 28"/>
                  <a:gd name="T3" fmla="*/ 0 h 9"/>
                  <a:gd name="T4" fmla="*/ 0 w 28"/>
                  <a:gd name="T5" fmla="*/ 4 h 9"/>
                  <a:gd name="T6" fmla="*/ 1 w 28"/>
                  <a:gd name="T7" fmla="*/ 9 h 9"/>
                  <a:gd name="T8" fmla="*/ 26 w 28"/>
                  <a:gd name="T9" fmla="*/ 5 h 9"/>
                  <a:gd name="T10" fmla="*/ 23 w 28"/>
                  <a:gd name="T11" fmla="*/ 3 h 9"/>
                  <a:gd name="T12" fmla="*/ 26 w 28"/>
                  <a:gd name="T13" fmla="*/ 5 h 9"/>
                  <a:gd name="T14" fmla="*/ 27 w 28"/>
                  <a:gd name="T15" fmla="*/ 5 h 9"/>
                  <a:gd name="T16" fmla="*/ 28 w 28"/>
                  <a:gd name="T17" fmla="*/ 3 h 9"/>
                  <a:gd name="T18" fmla="*/ 27 w 28"/>
                  <a:gd name="T19" fmla="*/ 2 h 9"/>
                  <a:gd name="T20" fmla="*/ 25 w 28"/>
                  <a:gd name="T21" fmla="*/ 0 h 9"/>
                  <a:gd name="T22" fmla="*/ 28 w 28"/>
                  <a:gd name="T23" fmla="*/ 4 h 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8"/>
                  <a:gd name="T37" fmla="*/ 0 h 9"/>
                  <a:gd name="T38" fmla="*/ 28 w 28"/>
                  <a:gd name="T39" fmla="*/ 9 h 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8" h="9">
                    <a:moveTo>
                      <a:pt x="28" y="4"/>
                    </a:moveTo>
                    <a:lnTo>
                      <a:pt x="25" y="0"/>
                    </a:lnTo>
                    <a:lnTo>
                      <a:pt x="0" y="4"/>
                    </a:lnTo>
                    <a:lnTo>
                      <a:pt x="1" y="9"/>
                    </a:lnTo>
                    <a:lnTo>
                      <a:pt x="26" y="5"/>
                    </a:lnTo>
                    <a:lnTo>
                      <a:pt x="23" y="3"/>
                    </a:lnTo>
                    <a:lnTo>
                      <a:pt x="26" y="5"/>
                    </a:lnTo>
                    <a:lnTo>
                      <a:pt x="27" y="5"/>
                    </a:lnTo>
                    <a:lnTo>
                      <a:pt x="28" y="3"/>
                    </a:lnTo>
                    <a:lnTo>
                      <a:pt x="27" y="2"/>
                    </a:lnTo>
                    <a:lnTo>
                      <a:pt x="25" y="0"/>
                    </a:lnTo>
                    <a:lnTo>
                      <a:pt x="28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71" name="Freeform 868"/>
              <p:cNvSpPr>
                <a:spLocks/>
              </p:cNvSpPr>
              <p:nvPr/>
            </p:nvSpPr>
            <p:spPr bwMode="auto">
              <a:xfrm>
                <a:off x="2797" y="1951"/>
                <a:ext cx="7" cy="18"/>
              </a:xfrm>
              <a:custGeom>
                <a:avLst/>
                <a:gdLst>
                  <a:gd name="T0" fmla="*/ 2 w 7"/>
                  <a:gd name="T1" fmla="*/ 14 h 18"/>
                  <a:gd name="T2" fmla="*/ 5 w 7"/>
                  <a:gd name="T3" fmla="*/ 16 h 18"/>
                  <a:gd name="T4" fmla="*/ 7 w 7"/>
                  <a:gd name="T5" fmla="*/ 1 h 18"/>
                  <a:gd name="T6" fmla="*/ 2 w 7"/>
                  <a:gd name="T7" fmla="*/ 0 h 18"/>
                  <a:gd name="T8" fmla="*/ 0 w 7"/>
                  <a:gd name="T9" fmla="*/ 16 h 18"/>
                  <a:gd name="T10" fmla="*/ 3 w 7"/>
                  <a:gd name="T11" fmla="*/ 18 h 18"/>
                  <a:gd name="T12" fmla="*/ 0 w 7"/>
                  <a:gd name="T13" fmla="*/ 16 h 18"/>
                  <a:gd name="T14" fmla="*/ 1 w 7"/>
                  <a:gd name="T15" fmla="*/ 17 h 18"/>
                  <a:gd name="T16" fmla="*/ 2 w 7"/>
                  <a:gd name="T17" fmla="*/ 18 h 18"/>
                  <a:gd name="T18" fmla="*/ 4 w 7"/>
                  <a:gd name="T19" fmla="*/ 18 h 18"/>
                  <a:gd name="T20" fmla="*/ 5 w 7"/>
                  <a:gd name="T21" fmla="*/ 16 h 18"/>
                  <a:gd name="T22" fmla="*/ 2 w 7"/>
                  <a:gd name="T23" fmla="*/ 14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"/>
                  <a:gd name="T37" fmla="*/ 0 h 18"/>
                  <a:gd name="T38" fmla="*/ 7 w 7"/>
                  <a:gd name="T39" fmla="*/ 18 h 1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" h="18">
                    <a:moveTo>
                      <a:pt x="2" y="14"/>
                    </a:moveTo>
                    <a:lnTo>
                      <a:pt x="5" y="16"/>
                    </a:lnTo>
                    <a:lnTo>
                      <a:pt x="7" y="1"/>
                    </a:lnTo>
                    <a:lnTo>
                      <a:pt x="2" y="0"/>
                    </a:lnTo>
                    <a:lnTo>
                      <a:pt x="0" y="16"/>
                    </a:lnTo>
                    <a:lnTo>
                      <a:pt x="3" y="18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2" y="18"/>
                    </a:lnTo>
                    <a:lnTo>
                      <a:pt x="4" y="18"/>
                    </a:lnTo>
                    <a:lnTo>
                      <a:pt x="5" y="16"/>
                    </a:lnTo>
                    <a:lnTo>
                      <a:pt x="2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72" name="Freeform 869"/>
              <p:cNvSpPr>
                <a:spLocks/>
              </p:cNvSpPr>
              <p:nvPr/>
            </p:nvSpPr>
            <p:spPr bwMode="auto">
              <a:xfrm>
                <a:off x="2799" y="1941"/>
                <a:ext cx="55" cy="28"/>
              </a:xfrm>
              <a:custGeom>
                <a:avLst/>
                <a:gdLst>
                  <a:gd name="T0" fmla="*/ 53 w 55"/>
                  <a:gd name="T1" fmla="*/ 5 h 28"/>
                  <a:gd name="T2" fmla="*/ 51 w 55"/>
                  <a:gd name="T3" fmla="*/ 0 h 28"/>
                  <a:gd name="T4" fmla="*/ 0 w 55"/>
                  <a:gd name="T5" fmla="*/ 24 h 28"/>
                  <a:gd name="T6" fmla="*/ 2 w 55"/>
                  <a:gd name="T7" fmla="*/ 28 h 28"/>
                  <a:gd name="T8" fmla="*/ 53 w 55"/>
                  <a:gd name="T9" fmla="*/ 4 h 28"/>
                  <a:gd name="T10" fmla="*/ 51 w 55"/>
                  <a:gd name="T11" fmla="*/ 0 h 28"/>
                  <a:gd name="T12" fmla="*/ 53 w 55"/>
                  <a:gd name="T13" fmla="*/ 4 h 28"/>
                  <a:gd name="T14" fmla="*/ 55 w 55"/>
                  <a:gd name="T15" fmla="*/ 3 h 28"/>
                  <a:gd name="T16" fmla="*/ 55 w 55"/>
                  <a:gd name="T17" fmla="*/ 1 h 28"/>
                  <a:gd name="T18" fmla="*/ 53 w 55"/>
                  <a:gd name="T19" fmla="*/ 0 h 28"/>
                  <a:gd name="T20" fmla="*/ 51 w 55"/>
                  <a:gd name="T21" fmla="*/ 0 h 28"/>
                  <a:gd name="T22" fmla="*/ 53 w 55"/>
                  <a:gd name="T23" fmla="*/ 5 h 2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5"/>
                  <a:gd name="T37" fmla="*/ 0 h 28"/>
                  <a:gd name="T38" fmla="*/ 55 w 55"/>
                  <a:gd name="T39" fmla="*/ 28 h 2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5" h="28">
                    <a:moveTo>
                      <a:pt x="53" y="5"/>
                    </a:moveTo>
                    <a:lnTo>
                      <a:pt x="51" y="0"/>
                    </a:lnTo>
                    <a:lnTo>
                      <a:pt x="0" y="24"/>
                    </a:lnTo>
                    <a:lnTo>
                      <a:pt x="2" y="28"/>
                    </a:lnTo>
                    <a:lnTo>
                      <a:pt x="53" y="4"/>
                    </a:lnTo>
                    <a:lnTo>
                      <a:pt x="51" y="0"/>
                    </a:lnTo>
                    <a:lnTo>
                      <a:pt x="53" y="4"/>
                    </a:lnTo>
                    <a:lnTo>
                      <a:pt x="55" y="3"/>
                    </a:lnTo>
                    <a:lnTo>
                      <a:pt x="55" y="1"/>
                    </a:lnTo>
                    <a:lnTo>
                      <a:pt x="53" y="0"/>
                    </a:lnTo>
                    <a:lnTo>
                      <a:pt x="51" y="0"/>
                    </a:lnTo>
                    <a:lnTo>
                      <a:pt x="53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73" name="Freeform 870"/>
              <p:cNvSpPr>
                <a:spLocks/>
              </p:cNvSpPr>
              <p:nvPr/>
            </p:nvSpPr>
            <p:spPr bwMode="auto">
              <a:xfrm>
                <a:off x="2778" y="1939"/>
                <a:ext cx="70" cy="27"/>
              </a:xfrm>
              <a:custGeom>
                <a:avLst/>
                <a:gdLst>
                  <a:gd name="T0" fmla="*/ 70 w 70"/>
                  <a:gd name="T1" fmla="*/ 6 h 27"/>
                  <a:gd name="T2" fmla="*/ 22 w 70"/>
                  <a:gd name="T3" fmla="*/ 27 h 27"/>
                  <a:gd name="T4" fmla="*/ 25 w 70"/>
                  <a:gd name="T5" fmla="*/ 12 h 27"/>
                  <a:gd name="T6" fmla="*/ 0 w 70"/>
                  <a:gd name="T7" fmla="*/ 15 h 27"/>
                  <a:gd name="T8" fmla="*/ 34 w 70"/>
                  <a:gd name="T9" fmla="*/ 0 h 27"/>
                  <a:gd name="T10" fmla="*/ 32 w 70"/>
                  <a:gd name="T11" fmla="*/ 15 h 27"/>
                  <a:gd name="T12" fmla="*/ 70 w 70"/>
                  <a:gd name="T13" fmla="*/ 6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0"/>
                  <a:gd name="T22" fmla="*/ 0 h 27"/>
                  <a:gd name="T23" fmla="*/ 70 w 70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0" h="27">
                    <a:moveTo>
                      <a:pt x="70" y="6"/>
                    </a:moveTo>
                    <a:lnTo>
                      <a:pt x="22" y="27"/>
                    </a:lnTo>
                    <a:lnTo>
                      <a:pt x="25" y="12"/>
                    </a:lnTo>
                    <a:lnTo>
                      <a:pt x="0" y="15"/>
                    </a:lnTo>
                    <a:lnTo>
                      <a:pt x="34" y="0"/>
                    </a:lnTo>
                    <a:lnTo>
                      <a:pt x="32" y="15"/>
                    </a:lnTo>
                    <a:lnTo>
                      <a:pt x="70" y="6"/>
                    </a:lnTo>
                    <a:close/>
                  </a:path>
                </a:pathLst>
              </a:custGeom>
              <a:solidFill>
                <a:srgbClr val="19191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74" name="Freeform 871"/>
              <p:cNvSpPr>
                <a:spLocks/>
              </p:cNvSpPr>
              <p:nvPr/>
            </p:nvSpPr>
            <p:spPr bwMode="auto">
              <a:xfrm>
                <a:off x="2780" y="1939"/>
                <a:ext cx="65" cy="27"/>
              </a:xfrm>
              <a:custGeom>
                <a:avLst/>
                <a:gdLst>
                  <a:gd name="T0" fmla="*/ 65 w 65"/>
                  <a:gd name="T1" fmla="*/ 7 h 27"/>
                  <a:gd name="T2" fmla="*/ 21 w 65"/>
                  <a:gd name="T3" fmla="*/ 27 h 27"/>
                  <a:gd name="T4" fmla="*/ 23 w 65"/>
                  <a:gd name="T5" fmla="*/ 11 h 27"/>
                  <a:gd name="T6" fmla="*/ 0 w 65"/>
                  <a:gd name="T7" fmla="*/ 14 h 27"/>
                  <a:gd name="T8" fmla="*/ 32 w 65"/>
                  <a:gd name="T9" fmla="*/ 0 h 27"/>
                  <a:gd name="T10" fmla="*/ 30 w 65"/>
                  <a:gd name="T11" fmla="*/ 16 h 27"/>
                  <a:gd name="T12" fmla="*/ 65 w 65"/>
                  <a:gd name="T13" fmla="*/ 7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5"/>
                  <a:gd name="T22" fmla="*/ 0 h 27"/>
                  <a:gd name="T23" fmla="*/ 65 w 65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5" h="27">
                    <a:moveTo>
                      <a:pt x="65" y="7"/>
                    </a:moveTo>
                    <a:lnTo>
                      <a:pt x="21" y="27"/>
                    </a:lnTo>
                    <a:lnTo>
                      <a:pt x="23" y="11"/>
                    </a:lnTo>
                    <a:lnTo>
                      <a:pt x="0" y="14"/>
                    </a:lnTo>
                    <a:lnTo>
                      <a:pt x="32" y="0"/>
                    </a:lnTo>
                    <a:lnTo>
                      <a:pt x="30" y="16"/>
                    </a:lnTo>
                    <a:lnTo>
                      <a:pt x="65" y="7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75" name="Freeform 872"/>
              <p:cNvSpPr>
                <a:spLocks/>
              </p:cNvSpPr>
              <p:nvPr/>
            </p:nvSpPr>
            <p:spPr bwMode="auto">
              <a:xfrm>
                <a:off x="2782" y="1940"/>
                <a:ext cx="59" cy="26"/>
              </a:xfrm>
              <a:custGeom>
                <a:avLst/>
                <a:gdLst>
                  <a:gd name="T0" fmla="*/ 59 w 59"/>
                  <a:gd name="T1" fmla="*/ 7 h 26"/>
                  <a:gd name="T2" fmla="*/ 19 w 59"/>
                  <a:gd name="T3" fmla="*/ 26 h 26"/>
                  <a:gd name="T4" fmla="*/ 21 w 59"/>
                  <a:gd name="T5" fmla="*/ 10 h 26"/>
                  <a:gd name="T6" fmla="*/ 0 w 59"/>
                  <a:gd name="T7" fmla="*/ 13 h 26"/>
                  <a:gd name="T8" fmla="*/ 29 w 59"/>
                  <a:gd name="T9" fmla="*/ 0 h 26"/>
                  <a:gd name="T10" fmla="*/ 27 w 59"/>
                  <a:gd name="T11" fmla="*/ 16 h 26"/>
                  <a:gd name="T12" fmla="*/ 59 w 59"/>
                  <a:gd name="T13" fmla="*/ 7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9"/>
                  <a:gd name="T22" fmla="*/ 0 h 26"/>
                  <a:gd name="T23" fmla="*/ 59 w 59"/>
                  <a:gd name="T24" fmla="*/ 26 h 2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9" h="26">
                    <a:moveTo>
                      <a:pt x="59" y="7"/>
                    </a:moveTo>
                    <a:lnTo>
                      <a:pt x="19" y="26"/>
                    </a:lnTo>
                    <a:lnTo>
                      <a:pt x="21" y="10"/>
                    </a:lnTo>
                    <a:lnTo>
                      <a:pt x="0" y="13"/>
                    </a:lnTo>
                    <a:lnTo>
                      <a:pt x="29" y="0"/>
                    </a:lnTo>
                    <a:lnTo>
                      <a:pt x="27" y="16"/>
                    </a:lnTo>
                    <a:lnTo>
                      <a:pt x="59" y="7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76" name="Freeform 873"/>
              <p:cNvSpPr>
                <a:spLocks/>
              </p:cNvSpPr>
              <p:nvPr/>
            </p:nvSpPr>
            <p:spPr bwMode="auto">
              <a:xfrm>
                <a:off x="2784" y="1940"/>
                <a:ext cx="54" cy="25"/>
              </a:xfrm>
              <a:custGeom>
                <a:avLst/>
                <a:gdLst>
                  <a:gd name="T0" fmla="*/ 54 w 54"/>
                  <a:gd name="T1" fmla="*/ 8 h 25"/>
                  <a:gd name="T2" fmla="*/ 17 w 54"/>
                  <a:gd name="T3" fmla="*/ 25 h 25"/>
                  <a:gd name="T4" fmla="*/ 19 w 54"/>
                  <a:gd name="T5" fmla="*/ 8 h 25"/>
                  <a:gd name="T6" fmla="*/ 0 w 54"/>
                  <a:gd name="T7" fmla="*/ 12 h 25"/>
                  <a:gd name="T8" fmla="*/ 27 w 54"/>
                  <a:gd name="T9" fmla="*/ 0 h 25"/>
                  <a:gd name="T10" fmla="*/ 25 w 54"/>
                  <a:gd name="T11" fmla="*/ 16 h 25"/>
                  <a:gd name="T12" fmla="*/ 54 w 54"/>
                  <a:gd name="T13" fmla="*/ 8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5"/>
                  <a:gd name="T23" fmla="*/ 54 w 54"/>
                  <a:gd name="T24" fmla="*/ 25 h 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5">
                    <a:moveTo>
                      <a:pt x="54" y="8"/>
                    </a:moveTo>
                    <a:lnTo>
                      <a:pt x="17" y="25"/>
                    </a:lnTo>
                    <a:lnTo>
                      <a:pt x="19" y="8"/>
                    </a:lnTo>
                    <a:lnTo>
                      <a:pt x="0" y="12"/>
                    </a:lnTo>
                    <a:lnTo>
                      <a:pt x="27" y="0"/>
                    </a:lnTo>
                    <a:lnTo>
                      <a:pt x="25" y="16"/>
                    </a:lnTo>
                    <a:lnTo>
                      <a:pt x="54" y="8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77" name="Freeform 874"/>
              <p:cNvSpPr>
                <a:spLocks/>
              </p:cNvSpPr>
              <p:nvPr/>
            </p:nvSpPr>
            <p:spPr bwMode="auto">
              <a:xfrm>
                <a:off x="2786" y="1941"/>
                <a:ext cx="48" cy="24"/>
              </a:xfrm>
              <a:custGeom>
                <a:avLst/>
                <a:gdLst>
                  <a:gd name="T0" fmla="*/ 48 w 48"/>
                  <a:gd name="T1" fmla="*/ 9 h 24"/>
                  <a:gd name="T2" fmla="*/ 16 w 48"/>
                  <a:gd name="T3" fmla="*/ 24 h 24"/>
                  <a:gd name="T4" fmla="*/ 18 w 48"/>
                  <a:gd name="T5" fmla="*/ 7 h 24"/>
                  <a:gd name="T6" fmla="*/ 0 w 48"/>
                  <a:gd name="T7" fmla="*/ 11 h 24"/>
                  <a:gd name="T8" fmla="*/ 24 w 48"/>
                  <a:gd name="T9" fmla="*/ 0 h 24"/>
                  <a:gd name="T10" fmla="*/ 22 w 48"/>
                  <a:gd name="T11" fmla="*/ 16 h 24"/>
                  <a:gd name="T12" fmla="*/ 48 w 48"/>
                  <a:gd name="T13" fmla="*/ 9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"/>
                  <a:gd name="T22" fmla="*/ 0 h 24"/>
                  <a:gd name="T23" fmla="*/ 48 w 48"/>
                  <a:gd name="T24" fmla="*/ 24 h 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" h="24">
                    <a:moveTo>
                      <a:pt x="48" y="9"/>
                    </a:moveTo>
                    <a:lnTo>
                      <a:pt x="16" y="24"/>
                    </a:lnTo>
                    <a:lnTo>
                      <a:pt x="18" y="7"/>
                    </a:lnTo>
                    <a:lnTo>
                      <a:pt x="0" y="11"/>
                    </a:lnTo>
                    <a:lnTo>
                      <a:pt x="24" y="0"/>
                    </a:lnTo>
                    <a:lnTo>
                      <a:pt x="22" y="16"/>
                    </a:lnTo>
                    <a:lnTo>
                      <a:pt x="48" y="9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78" name="Freeform 875"/>
              <p:cNvSpPr>
                <a:spLocks/>
              </p:cNvSpPr>
              <p:nvPr/>
            </p:nvSpPr>
            <p:spPr bwMode="auto">
              <a:xfrm>
                <a:off x="2788" y="1941"/>
                <a:ext cx="43" cy="22"/>
              </a:xfrm>
              <a:custGeom>
                <a:avLst/>
                <a:gdLst>
                  <a:gd name="T0" fmla="*/ 43 w 43"/>
                  <a:gd name="T1" fmla="*/ 10 h 22"/>
                  <a:gd name="T2" fmla="*/ 14 w 43"/>
                  <a:gd name="T3" fmla="*/ 22 h 22"/>
                  <a:gd name="T4" fmla="*/ 16 w 43"/>
                  <a:gd name="T5" fmla="*/ 7 h 22"/>
                  <a:gd name="T6" fmla="*/ 0 w 43"/>
                  <a:gd name="T7" fmla="*/ 10 h 22"/>
                  <a:gd name="T8" fmla="*/ 22 w 43"/>
                  <a:gd name="T9" fmla="*/ 0 h 22"/>
                  <a:gd name="T10" fmla="*/ 20 w 43"/>
                  <a:gd name="T11" fmla="*/ 16 h 22"/>
                  <a:gd name="T12" fmla="*/ 43 w 43"/>
                  <a:gd name="T13" fmla="*/ 10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22"/>
                  <a:gd name="T23" fmla="*/ 43 w 43"/>
                  <a:gd name="T24" fmla="*/ 22 h 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22">
                    <a:moveTo>
                      <a:pt x="43" y="10"/>
                    </a:moveTo>
                    <a:lnTo>
                      <a:pt x="14" y="22"/>
                    </a:lnTo>
                    <a:lnTo>
                      <a:pt x="16" y="7"/>
                    </a:lnTo>
                    <a:lnTo>
                      <a:pt x="0" y="10"/>
                    </a:lnTo>
                    <a:lnTo>
                      <a:pt x="22" y="0"/>
                    </a:lnTo>
                    <a:lnTo>
                      <a:pt x="20" y="16"/>
                    </a:lnTo>
                    <a:lnTo>
                      <a:pt x="43" y="1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79" name="Freeform 876"/>
              <p:cNvSpPr>
                <a:spLocks/>
              </p:cNvSpPr>
              <p:nvPr/>
            </p:nvSpPr>
            <p:spPr bwMode="auto">
              <a:xfrm>
                <a:off x="2790" y="1942"/>
                <a:ext cx="38" cy="21"/>
              </a:xfrm>
              <a:custGeom>
                <a:avLst/>
                <a:gdLst>
                  <a:gd name="T0" fmla="*/ 38 w 38"/>
                  <a:gd name="T1" fmla="*/ 11 h 21"/>
                  <a:gd name="T2" fmla="*/ 12 w 38"/>
                  <a:gd name="T3" fmla="*/ 21 h 21"/>
                  <a:gd name="T4" fmla="*/ 14 w 38"/>
                  <a:gd name="T5" fmla="*/ 5 h 21"/>
                  <a:gd name="T6" fmla="*/ 0 w 38"/>
                  <a:gd name="T7" fmla="*/ 9 h 21"/>
                  <a:gd name="T8" fmla="*/ 20 w 38"/>
                  <a:gd name="T9" fmla="*/ 0 h 21"/>
                  <a:gd name="T10" fmla="*/ 17 w 38"/>
                  <a:gd name="T11" fmla="*/ 15 h 21"/>
                  <a:gd name="T12" fmla="*/ 38 w 38"/>
                  <a:gd name="T13" fmla="*/ 11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"/>
                  <a:gd name="T22" fmla="*/ 0 h 21"/>
                  <a:gd name="T23" fmla="*/ 38 w 38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" h="21">
                    <a:moveTo>
                      <a:pt x="38" y="11"/>
                    </a:moveTo>
                    <a:lnTo>
                      <a:pt x="12" y="21"/>
                    </a:lnTo>
                    <a:lnTo>
                      <a:pt x="14" y="5"/>
                    </a:lnTo>
                    <a:lnTo>
                      <a:pt x="0" y="9"/>
                    </a:lnTo>
                    <a:lnTo>
                      <a:pt x="20" y="0"/>
                    </a:lnTo>
                    <a:lnTo>
                      <a:pt x="17" y="15"/>
                    </a:lnTo>
                    <a:lnTo>
                      <a:pt x="38" y="11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80" name="Freeform 877"/>
              <p:cNvSpPr>
                <a:spLocks/>
              </p:cNvSpPr>
              <p:nvPr/>
            </p:nvSpPr>
            <p:spPr bwMode="auto">
              <a:xfrm>
                <a:off x="2792" y="1942"/>
                <a:ext cx="33" cy="21"/>
              </a:xfrm>
              <a:custGeom>
                <a:avLst/>
                <a:gdLst>
                  <a:gd name="T0" fmla="*/ 33 w 33"/>
                  <a:gd name="T1" fmla="*/ 12 h 21"/>
                  <a:gd name="T2" fmla="*/ 10 w 33"/>
                  <a:gd name="T3" fmla="*/ 21 h 21"/>
                  <a:gd name="T4" fmla="*/ 12 w 33"/>
                  <a:gd name="T5" fmla="*/ 5 h 21"/>
                  <a:gd name="T6" fmla="*/ 0 w 33"/>
                  <a:gd name="T7" fmla="*/ 8 h 21"/>
                  <a:gd name="T8" fmla="*/ 17 w 33"/>
                  <a:gd name="T9" fmla="*/ 0 h 21"/>
                  <a:gd name="T10" fmla="*/ 15 w 33"/>
                  <a:gd name="T11" fmla="*/ 16 h 21"/>
                  <a:gd name="T12" fmla="*/ 33 w 33"/>
                  <a:gd name="T13" fmla="*/ 12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"/>
                  <a:gd name="T22" fmla="*/ 0 h 21"/>
                  <a:gd name="T23" fmla="*/ 33 w 33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" h="21">
                    <a:moveTo>
                      <a:pt x="33" y="12"/>
                    </a:moveTo>
                    <a:lnTo>
                      <a:pt x="10" y="21"/>
                    </a:lnTo>
                    <a:lnTo>
                      <a:pt x="12" y="5"/>
                    </a:lnTo>
                    <a:lnTo>
                      <a:pt x="0" y="8"/>
                    </a:lnTo>
                    <a:lnTo>
                      <a:pt x="17" y="0"/>
                    </a:lnTo>
                    <a:lnTo>
                      <a:pt x="15" y="16"/>
                    </a:lnTo>
                    <a:lnTo>
                      <a:pt x="33" y="12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81" name="Freeform 878"/>
              <p:cNvSpPr>
                <a:spLocks/>
              </p:cNvSpPr>
              <p:nvPr/>
            </p:nvSpPr>
            <p:spPr bwMode="auto">
              <a:xfrm>
                <a:off x="2794" y="1942"/>
                <a:ext cx="27" cy="20"/>
              </a:xfrm>
              <a:custGeom>
                <a:avLst/>
                <a:gdLst>
                  <a:gd name="T0" fmla="*/ 27 w 27"/>
                  <a:gd name="T1" fmla="*/ 12 h 20"/>
                  <a:gd name="T2" fmla="*/ 9 w 27"/>
                  <a:gd name="T3" fmla="*/ 20 h 20"/>
                  <a:gd name="T4" fmla="*/ 11 w 27"/>
                  <a:gd name="T5" fmla="*/ 4 h 20"/>
                  <a:gd name="T6" fmla="*/ 0 w 27"/>
                  <a:gd name="T7" fmla="*/ 6 h 20"/>
                  <a:gd name="T8" fmla="*/ 15 w 27"/>
                  <a:gd name="T9" fmla="*/ 0 h 20"/>
                  <a:gd name="T10" fmla="*/ 11 w 27"/>
                  <a:gd name="T11" fmla="*/ 16 h 20"/>
                  <a:gd name="T12" fmla="*/ 27 w 27"/>
                  <a:gd name="T13" fmla="*/ 12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7"/>
                  <a:gd name="T22" fmla="*/ 0 h 20"/>
                  <a:gd name="T23" fmla="*/ 27 w 27"/>
                  <a:gd name="T24" fmla="*/ 20 h 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7" h="20">
                    <a:moveTo>
                      <a:pt x="27" y="12"/>
                    </a:moveTo>
                    <a:lnTo>
                      <a:pt x="9" y="20"/>
                    </a:lnTo>
                    <a:lnTo>
                      <a:pt x="11" y="4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11" y="16"/>
                    </a:lnTo>
                    <a:lnTo>
                      <a:pt x="27" y="12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82" name="Freeform 879"/>
              <p:cNvSpPr>
                <a:spLocks/>
              </p:cNvSpPr>
              <p:nvPr/>
            </p:nvSpPr>
            <p:spPr bwMode="auto">
              <a:xfrm>
                <a:off x="2796" y="1943"/>
                <a:ext cx="21" cy="19"/>
              </a:xfrm>
              <a:custGeom>
                <a:avLst/>
                <a:gdLst>
                  <a:gd name="T0" fmla="*/ 21 w 21"/>
                  <a:gd name="T1" fmla="*/ 13 h 19"/>
                  <a:gd name="T2" fmla="*/ 9 w 21"/>
                  <a:gd name="T3" fmla="*/ 16 h 19"/>
                  <a:gd name="T4" fmla="*/ 12 w 21"/>
                  <a:gd name="T5" fmla="*/ 0 h 19"/>
                  <a:gd name="T6" fmla="*/ 0 w 21"/>
                  <a:gd name="T7" fmla="*/ 5 h 19"/>
                  <a:gd name="T8" fmla="*/ 9 w 21"/>
                  <a:gd name="T9" fmla="*/ 3 h 19"/>
                  <a:gd name="T10" fmla="*/ 7 w 21"/>
                  <a:gd name="T11" fmla="*/ 19 h 19"/>
                  <a:gd name="T12" fmla="*/ 21 w 21"/>
                  <a:gd name="T13" fmla="*/ 13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19"/>
                  <a:gd name="T23" fmla="*/ 21 w 21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19">
                    <a:moveTo>
                      <a:pt x="21" y="13"/>
                    </a:moveTo>
                    <a:lnTo>
                      <a:pt x="9" y="16"/>
                    </a:lnTo>
                    <a:lnTo>
                      <a:pt x="12" y="0"/>
                    </a:lnTo>
                    <a:lnTo>
                      <a:pt x="0" y="5"/>
                    </a:lnTo>
                    <a:lnTo>
                      <a:pt x="9" y="3"/>
                    </a:lnTo>
                    <a:lnTo>
                      <a:pt x="7" y="19"/>
                    </a:lnTo>
                    <a:lnTo>
                      <a:pt x="21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83" name="Freeform 880"/>
              <p:cNvSpPr>
                <a:spLocks/>
              </p:cNvSpPr>
              <p:nvPr/>
            </p:nvSpPr>
            <p:spPr bwMode="auto">
              <a:xfrm>
                <a:off x="2627" y="1888"/>
                <a:ext cx="128" cy="165"/>
              </a:xfrm>
              <a:custGeom>
                <a:avLst/>
                <a:gdLst>
                  <a:gd name="T0" fmla="*/ 71 w 128"/>
                  <a:gd name="T1" fmla="*/ 0 h 165"/>
                  <a:gd name="T2" fmla="*/ 83 w 128"/>
                  <a:gd name="T3" fmla="*/ 3 h 165"/>
                  <a:gd name="T4" fmla="*/ 95 w 128"/>
                  <a:gd name="T5" fmla="*/ 7 h 165"/>
                  <a:gd name="T6" fmla="*/ 105 w 128"/>
                  <a:gd name="T7" fmla="*/ 15 h 165"/>
                  <a:gd name="T8" fmla="*/ 113 w 128"/>
                  <a:gd name="T9" fmla="*/ 23 h 165"/>
                  <a:gd name="T10" fmla="*/ 121 w 128"/>
                  <a:gd name="T11" fmla="*/ 34 h 165"/>
                  <a:gd name="T12" fmla="*/ 125 w 128"/>
                  <a:gd name="T13" fmla="*/ 46 h 165"/>
                  <a:gd name="T14" fmla="*/ 128 w 128"/>
                  <a:gd name="T15" fmla="*/ 58 h 165"/>
                  <a:gd name="T16" fmla="*/ 128 w 128"/>
                  <a:gd name="T17" fmla="*/ 71 h 165"/>
                  <a:gd name="T18" fmla="*/ 125 w 128"/>
                  <a:gd name="T19" fmla="*/ 85 h 165"/>
                  <a:gd name="T20" fmla="*/ 121 w 128"/>
                  <a:gd name="T21" fmla="*/ 96 h 165"/>
                  <a:gd name="T22" fmla="*/ 113 w 128"/>
                  <a:gd name="T23" fmla="*/ 106 h 165"/>
                  <a:gd name="T24" fmla="*/ 107 w 128"/>
                  <a:gd name="T25" fmla="*/ 114 h 165"/>
                  <a:gd name="T26" fmla="*/ 99 w 128"/>
                  <a:gd name="T27" fmla="*/ 122 h 165"/>
                  <a:gd name="T28" fmla="*/ 92 w 128"/>
                  <a:gd name="T29" fmla="*/ 135 h 165"/>
                  <a:gd name="T30" fmla="*/ 87 w 128"/>
                  <a:gd name="T31" fmla="*/ 153 h 165"/>
                  <a:gd name="T32" fmla="*/ 43 w 128"/>
                  <a:gd name="T33" fmla="*/ 165 h 165"/>
                  <a:gd name="T34" fmla="*/ 40 w 128"/>
                  <a:gd name="T35" fmla="*/ 144 h 165"/>
                  <a:gd name="T36" fmla="*/ 33 w 128"/>
                  <a:gd name="T37" fmla="*/ 128 h 165"/>
                  <a:gd name="T38" fmla="*/ 25 w 128"/>
                  <a:gd name="T39" fmla="*/ 118 h 165"/>
                  <a:gd name="T40" fmla="*/ 18 w 128"/>
                  <a:gd name="T41" fmla="*/ 111 h 165"/>
                  <a:gd name="T42" fmla="*/ 11 w 128"/>
                  <a:gd name="T43" fmla="*/ 101 h 165"/>
                  <a:gd name="T44" fmla="*/ 5 w 128"/>
                  <a:gd name="T45" fmla="*/ 90 h 165"/>
                  <a:gd name="T46" fmla="*/ 1 w 128"/>
                  <a:gd name="T47" fmla="*/ 79 h 165"/>
                  <a:gd name="T48" fmla="*/ 0 w 128"/>
                  <a:gd name="T49" fmla="*/ 65 h 165"/>
                  <a:gd name="T50" fmla="*/ 1 w 128"/>
                  <a:gd name="T51" fmla="*/ 52 h 165"/>
                  <a:gd name="T52" fmla="*/ 5 w 128"/>
                  <a:gd name="T53" fmla="*/ 40 h 165"/>
                  <a:gd name="T54" fmla="*/ 11 w 128"/>
                  <a:gd name="T55" fmla="*/ 28 h 165"/>
                  <a:gd name="T56" fmla="*/ 19 w 128"/>
                  <a:gd name="T57" fmla="*/ 19 h 165"/>
                  <a:gd name="T58" fmla="*/ 28 w 128"/>
                  <a:gd name="T59" fmla="*/ 11 h 165"/>
                  <a:gd name="T60" fmla="*/ 40 w 128"/>
                  <a:gd name="T61" fmla="*/ 5 h 165"/>
                  <a:gd name="T62" fmla="*/ 51 w 128"/>
                  <a:gd name="T63" fmla="*/ 1 h 165"/>
                  <a:gd name="T64" fmla="*/ 64 w 128"/>
                  <a:gd name="T65" fmla="*/ 0 h 16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8"/>
                  <a:gd name="T100" fmla="*/ 0 h 165"/>
                  <a:gd name="T101" fmla="*/ 128 w 128"/>
                  <a:gd name="T102" fmla="*/ 165 h 165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8" h="165">
                    <a:moveTo>
                      <a:pt x="64" y="0"/>
                    </a:moveTo>
                    <a:lnTo>
                      <a:pt x="71" y="0"/>
                    </a:lnTo>
                    <a:lnTo>
                      <a:pt x="77" y="1"/>
                    </a:lnTo>
                    <a:lnTo>
                      <a:pt x="83" y="3"/>
                    </a:lnTo>
                    <a:lnTo>
                      <a:pt x="89" y="5"/>
                    </a:lnTo>
                    <a:lnTo>
                      <a:pt x="95" y="7"/>
                    </a:lnTo>
                    <a:lnTo>
                      <a:pt x="100" y="11"/>
                    </a:lnTo>
                    <a:lnTo>
                      <a:pt x="105" y="15"/>
                    </a:lnTo>
                    <a:lnTo>
                      <a:pt x="109" y="19"/>
                    </a:lnTo>
                    <a:lnTo>
                      <a:pt x="113" y="23"/>
                    </a:lnTo>
                    <a:lnTo>
                      <a:pt x="118" y="28"/>
                    </a:lnTo>
                    <a:lnTo>
                      <a:pt x="121" y="34"/>
                    </a:lnTo>
                    <a:lnTo>
                      <a:pt x="123" y="40"/>
                    </a:lnTo>
                    <a:lnTo>
                      <a:pt x="125" y="46"/>
                    </a:lnTo>
                    <a:lnTo>
                      <a:pt x="127" y="52"/>
                    </a:lnTo>
                    <a:lnTo>
                      <a:pt x="128" y="58"/>
                    </a:lnTo>
                    <a:lnTo>
                      <a:pt x="128" y="65"/>
                    </a:lnTo>
                    <a:lnTo>
                      <a:pt x="128" y="71"/>
                    </a:lnTo>
                    <a:lnTo>
                      <a:pt x="127" y="79"/>
                    </a:lnTo>
                    <a:lnTo>
                      <a:pt x="125" y="85"/>
                    </a:lnTo>
                    <a:lnTo>
                      <a:pt x="123" y="90"/>
                    </a:lnTo>
                    <a:lnTo>
                      <a:pt x="121" y="96"/>
                    </a:lnTo>
                    <a:lnTo>
                      <a:pt x="118" y="101"/>
                    </a:lnTo>
                    <a:lnTo>
                      <a:pt x="113" y="106"/>
                    </a:lnTo>
                    <a:lnTo>
                      <a:pt x="110" y="111"/>
                    </a:lnTo>
                    <a:lnTo>
                      <a:pt x="107" y="114"/>
                    </a:lnTo>
                    <a:lnTo>
                      <a:pt x="104" y="118"/>
                    </a:lnTo>
                    <a:lnTo>
                      <a:pt x="99" y="122"/>
                    </a:lnTo>
                    <a:lnTo>
                      <a:pt x="95" y="128"/>
                    </a:lnTo>
                    <a:lnTo>
                      <a:pt x="92" y="135"/>
                    </a:lnTo>
                    <a:lnTo>
                      <a:pt x="89" y="144"/>
                    </a:lnTo>
                    <a:lnTo>
                      <a:pt x="87" y="153"/>
                    </a:lnTo>
                    <a:lnTo>
                      <a:pt x="85" y="165"/>
                    </a:lnTo>
                    <a:lnTo>
                      <a:pt x="43" y="165"/>
                    </a:lnTo>
                    <a:lnTo>
                      <a:pt x="42" y="153"/>
                    </a:lnTo>
                    <a:lnTo>
                      <a:pt x="40" y="144"/>
                    </a:lnTo>
                    <a:lnTo>
                      <a:pt x="36" y="135"/>
                    </a:lnTo>
                    <a:lnTo>
                      <a:pt x="33" y="128"/>
                    </a:lnTo>
                    <a:lnTo>
                      <a:pt x="29" y="122"/>
                    </a:lnTo>
                    <a:lnTo>
                      <a:pt x="25" y="118"/>
                    </a:lnTo>
                    <a:lnTo>
                      <a:pt x="21" y="114"/>
                    </a:lnTo>
                    <a:lnTo>
                      <a:pt x="18" y="111"/>
                    </a:lnTo>
                    <a:lnTo>
                      <a:pt x="15" y="106"/>
                    </a:lnTo>
                    <a:lnTo>
                      <a:pt x="11" y="101"/>
                    </a:lnTo>
                    <a:lnTo>
                      <a:pt x="7" y="96"/>
                    </a:lnTo>
                    <a:lnTo>
                      <a:pt x="5" y="90"/>
                    </a:lnTo>
                    <a:lnTo>
                      <a:pt x="3" y="85"/>
                    </a:lnTo>
                    <a:lnTo>
                      <a:pt x="1" y="79"/>
                    </a:lnTo>
                    <a:lnTo>
                      <a:pt x="0" y="71"/>
                    </a:lnTo>
                    <a:lnTo>
                      <a:pt x="0" y="65"/>
                    </a:lnTo>
                    <a:lnTo>
                      <a:pt x="0" y="58"/>
                    </a:lnTo>
                    <a:lnTo>
                      <a:pt x="1" y="52"/>
                    </a:lnTo>
                    <a:lnTo>
                      <a:pt x="3" y="46"/>
                    </a:lnTo>
                    <a:lnTo>
                      <a:pt x="5" y="40"/>
                    </a:lnTo>
                    <a:lnTo>
                      <a:pt x="7" y="34"/>
                    </a:lnTo>
                    <a:lnTo>
                      <a:pt x="11" y="28"/>
                    </a:lnTo>
                    <a:lnTo>
                      <a:pt x="15" y="23"/>
                    </a:lnTo>
                    <a:lnTo>
                      <a:pt x="19" y="19"/>
                    </a:lnTo>
                    <a:lnTo>
                      <a:pt x="24" y="15"/>
                    </a:lnTo>
                    <a:lnTo>
                      <a:pt x="28" y="11"/>
                    </a:lnTo>
                    <a:lnTo>
                      <a:pt x="33" y="7"/>
                    </a:lnTo>
                    <a:lnTo>
                      <a:pt x="40" y="5"/>
                    </a:lnTo>
                    <a:lnTo>
                      <a:pt x="45" y="3"/>
                    </a:lnTo>
                    <a:lnTo>
                      <a:pt x="51" y="1"/>
                    </a:lnTo>
                    <a:lnTo>
                      <a:pt x="58" y="0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84" name="Freeform 881"/>
              <p:cNvSpPr>
                <a:spLocks/>
              </p:cNvSpPr>
              <p:nvPr/>
            </p:nvSpPr>
            <p:spPr bwMode="auto">
              <a:xfrm>
                <a:off x="2628" y="1889"/>
                <a:ext cx="126" cy="164"/>
              </a:xfrm>
              <a:custGeom>
                <a:avLst/>
                <a:gdLst>
                  <a:gd name="T0" fmla="*/ 70 w 126"/>
                  <a:gd name="T1" fmla="*/ 0 h 164"/>
                  <a:gd name="T2" fmla="*/ 82 w 126"/>
                  <a:gd name="T3" fmla="*/ 3 h 164"/>
                  <a:gd name="T4" fmla="*/ 93 w 126"/>
                  <a:gd name="T5" fmla="*/ 8 h 164"/>
                  <a:gd name="T6" fmla="*/ 103 w 126"/>
                  <a:gd name="T7" fmla="*/ 15 h 164"/>
                  <a:gd name="T8" fmla="*/ 112 w 126"/>
                  <a:gd name="T9" fmla="*/ 24 h 164"/>
                  <a:gd name="T10" fmla="*/ 119 w 126"/>
                  <a:gd name="T11" fmla="*/ 34 h 164"/>
                  <a:gd name="T12" fmla="*/ 123 w 126"/>
                  <a:gd name="T13" fmla="*/ 47 h 164"/>
                  <a:gd name="T14" fmla="*/ 126 w 126"/>
                  <a:gd name="T15" fmla="*/ 58 h 164"/>
                  <a:gd name="T16" fmla="*/ 126 w 126"/>
                  <a:gd name="T17" fmla="*/ 72 h 164"/>
                  <a:gd name="T18" fmla="*/ 123 w 126"/>
                  <a:gd name="T19" fmla="*/ 84 h 164"/>
                  <a:gd name="T20" fmla="*/ 119 w 126"/>
                  <a:gd name="T21" fmla="*/ 96 h 164"/>
                  <a:gd name="T22" fmla="*/ 111 w 126"/>
                  <a:gd name="T23" fmla="*/ 105 h 164"/>
                  <a:gd name="T24" fmla="*/ 105 w 126"/>
                  <a:gd name="T25" fmla="*/ 113 h 164"/>
                  <a:gd name="T26" fmla="*/ 97 w 126"/>
                  <a:gd name="T27" fmla="*/ 121 h 164"/>
                  <a:gd name="T28" fmla="*/ 90 w 126"/>
                  <a:gd name="T29" fmla="*/ 134 h 164"/>
                  <a:gd name="T30" fmla="*/ 84 w 126"/>
                  <a:gd name="T31" fmla="*/ 152 h 164"/>
                  <a:gd name="T32" fmla="*/ 43 w 126"/>
                  <a:gd name="T33" fmla="*/ 164 h 164"/>
                  <a:gd name="T34" fmla="*/ 40 w 126"/>
                  <a:gd name="T35" fmla="*/ 143 h 164"/>
                  <a:gd name="T36" fmla="*/ 33 w 126"/>
                  <a:gd name="T37" fmla="*/ 127 h 164"/>
                  <a:gd name="T38" fmla="*/ 25 w 126"/>
                  <a:gd name="T39" fmla="*/ 117 h 164"/>
                  <a:gd name="T40" fmla="*/ 18 w 126"/>
                  <a:gd name="T41" fmla="*/ 111 h 164"/>
                  <a:gd name="T42" fmla="*/ 11 w 126"/>
                  <a:gd name="T43" fmla="*/ 101 h 164"/>
                  <a:gd name="T44" fmla="*/ 5 w 126"/>
                  <a:gd name="T45" fmla="*/ 90 h 164"/>
                  <a:gd name="T46" fmla="*/ 1 w 126"/>
                  <a:gd name="T47" fmla="*/ 78 h 164"/>
                  <a:gd name="T48" fmla="*/ 0 w 126"/>
                  <a:gd name="T49" fmla="*/ 65 h 164"/>
                  <a:gd name="T50" fmla="*/ 1 w 126"/>
                  <a:gd name="T51" fmla="*/ 52 h 164"/>
                  <a:gd name="T52" fmla="*/ 5 w 126"/>
                  <a:gd name="T53" fmla="*/ 40 h 164"/>
                  <a:gd name="T54" fmla="*/ 11 w 126"/>
                  <a:gd name="T55" fmla="*/ 28 h 164"/>
                  <a:gd name="T56" fmla="*/ 18 w 126"/>
                  <a:gd name="T57" fmla="*/ 19 h 164"/>
                  <a:gd name="T58" fmla="*/ 28 w 126"/>
                  <a:gd name="T59" fmla="*/ 11 h 164"/>
                  <a:gd name="T60" fmla="*/ 39 w 126"/>
                  <a:gd name="T61" fmla="*/ 5 h 164"/>
                  <a:gd name="T62" fmla="*/ 50 w 126"/>
                  <a:gd name="T63" fmla="*/ 1 h 164"/>
                  <a:gd name="T64" fmla="*/ 63 w 126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6"/>
                  <a:gd name="T100" fmla="*/ 0 h 164"/>
                  <a:gd name="T101" fmla="*/ 126 w 126"/>
                  <a:gd name="T102" fmla="*/ 164 h 16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6" h="164">
                    <a:moveTo>
                      <a:pt x="63" y="0"/>
                    </a:moveTo>
                    <a:lnTo>
                      <a:pt x="70" y="0"/>
                    </a:lnTo>
                    <a:lnTo>
                      <a:pt x="76" y="1"/>
                    </a:lnTo>
                    <a:lnTo>
                      <a:pt x="82" y="3"/>
                    </a:lnTo>
                    <a:lnTo>
                      <a:pt x="88" y="5"/>
                    </a:lnTo>
                    <a:lnTo>
                      <a:pt x="93" y="8"/>
                    </a:lnTo>
                    <a:lnTo>
                      <a:pt x="98" y="11"/>
                    </a:lnTo>
                    <a:lnTo>
                      <a:pt x="103" y="15"/>
                    </a:lnTo>
                    <a:lnTo>
                      <a:pt x="108" y="19"/>
                    </a:lnTo>
                    <a:lnTo>
                      <a:pt x="112" y="24"/>
                    </a:lnTo>
                    <a:lnTo>
                      <a:pt x="115" y="28"/>
                    </a:lnTo>
                    <a:lnTo>
                      <a:pt x="119" y="34"/>
                    </a:lnTo>
                    <a:lnTo>
                      <a:pt x="121" y="40"/>
                    </a:lnTo>
                    <a:lnTo>
                      <a:pt x="123" y="47"/>
                    </a:lnTo>
                    <a:lnTo>
                      <a:pt x="125" y="52"/>
                    </a:lnTo>
                    <a:lnTo>
                      <a:pt x="126" y="58"/>
                    </a:lnTo>
                    <a:lnTo>
                      <a:pt x="126" y="65"/>
                    </a:lnTo>
                    <a:lnTo>
                      <a:pt x="126" y="72"/>
                    </a:lnTo>
                    <a:lnTo>
                      <a:pt x="125" y="78"/>
                    </a:lnTo>
                    <a:lnTo>
                      <a:pt x="123" y="84"/>
                    </a:lnTo>
                    <a:lnTo>
                      <a:pt x="121" y="90"/>
                    </a:lnTo>
                    <a:lnTo>
                      <a:pt x="119" y="96"/>
                    </a:lnTo>
                    <a:lnTo>
                      <a:pt x="115" y="101"/>
                    </a:lnTo>
                    <a:lnTo>
                      <a:pt x="111" y="105"/>
                    </a:lnTo>
                    <a:lnTo>
                      <a:pt x="108" y="111"/>
                    </a:lnTo>
                    <a:lnTo>
                      <a:pt x="105" y="113"/>
                    </a:lnTo>
                    <a:lnTo>
                      <a:pt x="102" y="117"/>
                    </a:lnTo>
                    <a:lnTo>
                      <a:pt x="97" y="121"/>
                    </a:lnTo>
                    <a:lnTo>
                      <a:pt x="93" y="127"/>
                    </a:lnTo>
                    <a:lnTo>
                      <a:pt x="90" y="134"/>
                    </a:lnTo>
                    <a:lnTo>
                      <a:pt x="87" y="143"/>
                    </a:lnTo>
                    <a:lnTo>
                      <a:pt x="84" y="152"/>
                    </a:lnTo>
                    <a:lnTo>
                      <a:pt x="83" y="164"/>
                    </a:lnTo>
                    <a:lnTo>
                      <a:pt x="43" y="164"/>
                    </a:lnTo>
                    <a:lnTo>
                      <a:pt x="42" y="152"/>
                    </a:lnTo>
                    <a:lnTo>
                      <a:pt x="40" y="143"/>
                    </a:lnTo>
                    <a:lnTo>
                      <a:pt x="36" y="134"/>
                    </a:lnTo>
                    <a:lnTo>
                      <a:pt x="33" y="127"/>
                    </a:lnTo>
                    <a:lnTo>
                      <a:pt x="29" y="121"/>
                    </a:lnTo>
                    <a:lnTo>
                      <a:pt x="25" y="117"/>
                    </a:lnTo>
                    <a:lnTo>
                      <a:pt x="21" y="113"/>
                    </a:lnTo>
                    <a:lnTo>
                      <a:pt x="18" y="111"/>
                    </a:lnTo>
                    <a:lnTo>
                      <a:pt x="15" y="105"/>
                    </a:lnTo>
                    <a:lnTo>
                      <a:pt x="11" y="101"/>
                    </a:lnTo>
                    <a:lnTo>
                      <a:pt x="8" y="96"/>
                    </a:lnTo>
                    <a:lnTo>
                      <a:pt x="5" y="90"/>
                    </a:lnTo>
                    <a:lnTo>
                      <a:pt x="3" y="84"/>
                    </a:lnTo>
                    <a:lnTo>
                      <a:pt x="1" y="78"/>
                    </a:lnTo>
                    <a:lnTo>
                      <a:pt x="0" y="72"/>
                    </a:lnTo>
                    <a:lnTo>
                      <a:pt x="0" y="65"/>
                    </a:lnTo>
                    <a:lnTo>
                      <a:pt x="0" y="58"/>
                    </a:lnTo>
                    <a:lnTo>
                      <a:pt x="1" y="52"/>
                    </a:lnTo>
                    <a:lnTo>
                      <a:pt x="3" y="47"/>
                    </a:lnTo>
                    <a:lnTo>
                      <a:pt x="5" y="40"/>
                    </a:lnTo>
                    <a:lnTo>
                      <a:pt x="8" y="34"/>
                    </a:lnTo>
                    <a:lnTo>
                      <a:pt x="11" y="28"/>
                    </a:lnTo>
                    <a:lnTo>
                      <a:pt x="14" y="24"/>
                    </a:lnTo>
                    <a:lnTo>
                      <a:pt x="18" y="19"/>
                    </a:lnTo>
                    <a:lnTo>
                      <a:pt x="23" y="15"/>
                    </a:lnTo>
                    <a:lnTo>
                      <a:pt x="28" y="11"/>
                    </a:lnTo>
                    <a:lnTo>
                      <a:pt x="33" y="8"/>
                    </a:lnTo>
                    <a:lnTo>
                      <a:pt x="39" y="5"/>
                    </a:lnTo>
                    <a:lnTo>
                      <a:pt x="44" y="3"/>
                    </a:lnTo>
                    <a:lnTo>
                      <a:pt x="50" y="1"/>
                    </a:lnTo>
                    <a:lnTo>
                      <a:pt x="57" y="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85" name="Freeform 882"/>
              <p:cNvSpPr>
                <a:spLocks/>
              </p:cNvSpPr>
              <p:nvPr/>
            </p:nvSpPr>
            <p:spPr bwMode="auto">
              <a:xfrm>
                <a:off x="2629" y="1890"/>
                <a:ext cx="124" cy="163"/>
              </a:xfrm>
              <a:custGeom>
                <a:avLst/>
                <a:gdLst>
                  <a:gd name="T0" fmla="*/ 69 w 124"/>
                  <a:gd name="T1" fmla="*/ 0 h 163"/>
                  <a:gd name="T2" fmla="*/ 81 w 124"/>
                  <a:gd name="T3" fmla="*/ 3 h 163"/>
                  <a:gd name="T4" fmla="*/ 92 w 124"/>
                  <a:gd name="T5" fmla="*/ 8 h 163"/>
                  <a:gd name="T6" fmla="*/ 102 w 124"/>
                  <a:gd name="T7" fmla="*/ 15 h 163"/>
                  <a:gd name="T8" fmla="*/ 110 w 124"/>
                  <a:gd name="T9" fmla="*/ 23 h 163"/>
                  <a:gd name="T10" fmla="*/ 117 w 124"/>
                  <a:gd name="T11" fmla="*/ 34 h 163"/>
                  <a:gd name="T12" fmla="*/ 121 w 124"/>
                  <a:gd name="T13" fmla="*/ 46 h 163"/>
                  <a:gd name="T14" fmla="*/ 124 w 124"/>
                  <a:gd name="T15" fmla="*/ 58 h 163"/>
                  <a:gd name="T16" fmla="*/ 124 w 124"/>
                  <a:gd name="T17" fmla="*/ 71 h 163"/>
                  <a:gd name="T18" fmla="*/ 121 w 124"/>
                  <a:gd name="T19" fmla="*/ 84 h 163"/>
                  <a:gd name="T20" fmla="*/ 116 w 124"/>
                  <a:gd name="T21" fmla="*/ 95 h 163"/>
                  <a:gd name="T22" fmla="*/ 109 w 124"/>
                  <a:gd name="T23" fmla="*/ 105 h 163"/>
                  <a:gd name="T24" fmla="*/ 103 w 124"/>
                  <a:gd name="T25" fmla="*/ 113 h 163"/>
                  <a:gd name="T26" fmla="*/ 95 w 124"/>
                  <a:gd name="T27" fmla="*/ 120 h 163"/>
                  <a:gd name="T28" fmla="*/ 88 w 124"/>
                  <a:gd name="T29" fmla="*/ 133 h 163"/>
                  <a:gd name="T30" fmla="*/ 83 w 124"/>
                  <a:gd name="T31" fmla="*/ 151 h 163"/>
                  <a:gd name="T32" fmla="*/ 42 w 124"/>
                  <a:gd name="T33" fmla="*/ 163 h 163"/>
                  <a:gd name="T34" fmla="*/ 39 w 124"/>
                  <a:gd name="T35" fmla="*/ 142 h 163"/>
                  <a:gd name="T36" fmla="*/ 32 w 124"/>
                  <a:gd name="T37" fmla="*/ 127 h 163"/>
                  <a:gd name="T38" fmla="*/ 25 w 124"/>
                  <a:gd name="T39" fmla="*/ 116 h 163"/>
                  <a:gd name="T40" fmla="*/ 18 w 124"/>
                  <a:gd name="T41" fmla="*/ 110 h 163"/>
                  <a:gd name="T42" fmla="*/ 12 w 124"/>
                  <a:gd name="T43" fmla="*/ 100 h 163"/>
                  <a:gd name="T44" fmla="*/ 5 w 124"/>
                  <a:gd name="T45" fmla="*/ 89 h 163"/>
                  <a:gd name="T46" fmla="*/ 1 w 124"/>
                  <a:gd name="T47" fmla="*/ 78 h 163"/>
                  <a:gd name="T48" fmla="*/ 0 w 124"/>
                  <a:gd name="T49" fmla="*/ 65 h 163"/>
                  <a:gd name="T50" fmla="*/ 1 w 124"/>
                  <a:gd name="T51" fmla="*/ 52 h 163"/>
                  <a:gd name="T52" fmla="*/ 5 w 124"/>
                  <a:gd name="T53" fmla="*/ 40 h 163"/>
                  <a:gd name="T54" fmla="*/ 11 w 124"/>
                  <a:gd name="T55" fmla="*/ 29 h 163"/>
                  <a:gd name="T56" fmla="*/ 18 w 124"/>
                  <a:gd name="T57" fmla="*/ 19 h 163"/>
                  <a:gd name="T58" fmla="*/ 27 w 124"/>
                  <a:gd name="T59" fmla="*/ 11 h 163"/>
                  <a:gd name="T60" fmla="*/ 38 w 124"/>
                  <a:gd name="T61" fmla="*/ 5 h 163"/>
                  <a:gd name="T62" fmla="*/ 49 w 124"/>
                  <a:gd name="T63" fmla="*/ 1 h 163"/>
                  <a:gd name="T64" fmla="*/ 62 w 124"/>
                  <a:gd name="T65" fmla="*/ 0 h 1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4"/>
                  <a:gd name="T100" fmla="*/ 0 h 163"/>
                  <a:gd name="T101" fmla="*/ 124 w 124"/>
                  <a:gd name="T102" fmla="*/ 163 h 16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4" h="163">
                    <a:moveTo>
                      <a:pt x="62" y="0"/>
                    </a:moveTo>
                    <a:lnTo>
                      <a:pt x="69" y="0"/>
                    </a:lnTo>
                    <a:lnTo>
                      <a:pt x="75" y="1"/>
                    </a:lnTo>
                    <a:lnTo>
                      <a:pt x="81" y="3"/>
                    </a:lnTo>
                    <a:lnTo>
                      <a:pt x="87" y="5"/>
                    </a:lnTo>
                    <a:lnTo>
                      <a:pt x="92" y="8"/>
                    </a:lnTo>
                    <a:lnTo>
                      <a:pt x="96" y="11"/>
                    </a:lnTo>
                    <a:lnTo>
                      <a:pt x="102" y="15"/>
                    </a:lnTo>
                    <a:lnTo>
                      <a:pt x="106" y="19"/>
                    </a:lnTo>
                    <a:lnTo>
                      <a:pt x="110" y="23"/>
                    </a:lnTo>
                    <a:lnTo>
                      <a:pt x="113" y="29"/>
                    </a:lnTo>
                    <a:lnTo>
                      <a:pt x="117" y="34"/>
                    </a:lnTo>
                    <a:lnTo>
                      <a:pt x="119" y="40"/>
                    </a:lnTo>
                    <a:lnTo>
                      <a:pt x="121" y="46"/>
                    </a:lnTo>
                    <a:lnTo>
                      <a:pt x="123" y="52"/>
                    </a:lnTo>
                    <a:lnTo>
                      <a:pt x="124" y="58"/>
                    </a:lnTo>
                    <a:lnTo>
                      <a:pt x="124" y="65"/>
                    </a:lnTo>
                    <a:lnTo>
                      <a:pt x="124" y="71"/>
                    </a:lnTo>
                    <a:lnTo>
                      <a:pt x="123" y="78"/>
                    </a:lnTo>
                    <a:lnTo>
                      <a:pt x="121" y="84"/>
                    </a:lnTo>
                    <a:lnTo>
                      <a:pt x="119" y="89"/>
                    </a:lnTo>
                    <a:lnTo>
                      <a:pt x="116" y="95"/>
                    </a:lnTo>
                    <a:lnTo>
                      <a:pt x="112" y="100"/>
                    </a:lnTo>
                    <a:lnTo>
                      <a:pt x="109" y="105"/>
                    </a:lnTo>
                    <a:lnTo>
                      <a:pt x="106" y="110"/>
                    </a:lnTo>
                    <a:lnTo>
                      <a:pt x="103" y="113"/>
                    </a:lnTo>
                    <a:lnTo>
                      <a:pt x="100" y="116"/>
                    </a:lnTo>
                    <a:lnTo>
                      <a:pt x="95" y="120"/>
                    </a:lnTo>
                    <a:lnTo>
                      <a:pt x="92" y="127"/>
                    </a:lnTo>
                    <a:lnTo>
                      <a:pt x="88" y="133"/>
                    </a:lnTo>
                    <a:lnTo>
                      <a:pt x="86" y="142"/>
                    </a:lnTo>
                    <a:lnTo>
                      <a:pt x="83" y="151"/>
                    </a:lnTo>
                    <a:lnTo>
                      <a:pt x="82" y="163"/>
                    </a:lnTo>
                    <a:lnTo>
                      <a:pt x="42" y="163"/>
                    </a:lnTo>
                    <a:lnTo>
                      <a:pt x="41" y="151"/>
                    </a:lnTo>
                    <a:lnTo>
                      <a:pt x="39" y="142"/>
                    </a:lnTo>
                    <a:lnTo>
                      <a:pt x="36" y="133"/>
                    </a:lnTo>
                    <a:lnTo>
                      <a:pt x="32" y="127"/>
                    </a:lnTo>
                    <a:lnTo>
                      <a:pt x="29" y="120"/>
                    </a:lnTo>
                    <a:lnTo>
                      <a:pt x="25" y="116"/>
                    </a:lnTo>
                    <a:lnTo>
                      <a:pt x="22" y="113"/>
                    </a:lnTo>
                    <a:lnTo>
                      <a:pt x="18" y="110"/>
                    </a:lnTo>
                    <a:lnTo>
                      <a:pt x="15" y="105"/>
                    </a:lnTo>
                    <a:lnTo>
                      <a:pt x="12" y="100"/>
                    </a:lnTo>
                    <a:lnTo>
                      <a:pt x="9" y="95"/>
                    </a:lnTo>
                    <a:lnTo>
                      <a:pt x="5" y="89"/>
                    </a:lnTo>
                    <a:lnTo>
                      <a:pt x="3" y="84"/>
                    </a:lnTo>
                    <a:lnTo>
                      <a:pt x="1" y="78"/>
                    </a:lnTo>
                    <a:lnTo>
                      <a:pt x="0" y="71"/>
                    </a:lnTo>
                    <a:lnTo>
                      <a:pt x="0" y="65"/>
                    </a:lnTo>
                    <a:lnTo>
                      <a:pt x="0" y="58"/>
                    </a:lnTo>
                    <a:lnTo>
                      <a:pt x="1" y="52"/>
                    </a:lnTo>
                    <a:lnTo>
                      <a:pt x="3" y="46"/>
                    </a:lnTo>
                    <a:lnTo>
                      <a:pt x="5" y="40"/>
                    </a:lnTo>
                    <a:lnTo>
                      <a:pt x="8" y="34"/>
                    </a:lnTo>
                    <a:lnTo>
                      <a:pt x="11" y="29"/>
                    </a:lnTo>
                    <a:lnTo>
                      <a:pt x="14" y="23"/>
                    </a:lnTo>
                    <a:lnTo>
                      <a:pt x="18" y="19"/>
                    </a:lnTo>
                    <a:lnTo>
                      <a:pt x="23" y="15"/>
                    </a:lnTo>
                    <a:lnTo>
                      <a:pt x="27" y="11"/>
                    </a:lnTo>
                    <a:lnTo>
                      <a:pt x="32" y="8"/>
                    </a:lnTo>
                    <a:lnTo>
                      <a:pt x="38" y="5"/>
                    </a:lnTo>
                    <a:lnTo>
                      <a:pt x="43" y="3"/>
                    </a:lnTo>
                    <a:lnTo>
                      <a:pt x="49" y="1"/>
                    </a:lnTo>
                    <a:lnTo>
                      <a:pt x="56" y="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86" name="Freeform 883"/>
              <p:cNvSpPr>
                <a:spLocks/>
              </p:cNvSpPr>
              <p:nvPr/>
            </p:nvSpPr>
            <p:spPr bwMode="auto">
              <a:xfrm>
                <a:off x="2630" y="1891"/>
                <a:ext cx="122" cy="162"/>
              </a:xfrm>
              <a:custGeom>
                <a:avLst/>
                <a:gdLst>
                  <a:gd name="T0" fmla="*/ 68 w 122"/>
                  <a:gd name="T1" fmla="*/ 0 h 162"/>
                  <a:gd name="T2" fmla="*/ 79 w 122"/>
                  <a:gd name="T3" fmla="*/ 3 h 162"/>
                  <a:gd name="T4" fmla="*/ 90 w 122"/>
                  <a:gd name="T5" fmla="*/ 8 h 162"/>
                  <a:gd name="T6" fmla="*/ 100 w 122"/>
                  <a:gd name="T7" fmla="*/ 15 h 162"/>
                  <a:gd name="T8" fmla="*/ 108 w 122"/>
                  <a:gd name="T9" fmla="*/ 23 h 162"/>
                  <a:gd name="T10" fmla="*/ 115 w 122"/>
                  <a:gd name="T11" fmla="*/ 34 h 162"/>
                  <a:gd name="T12" fmla="*/ 119 w 122"/>
                  <a:gd name="T13" fmla="*/ 46 h 162"/>
                  <a:gd name="T14" fmla="*/ 122 w 122"/>
                  <a:gd name="T15" fmla="*/ 59 h 162"/>
                  <a:gd name="T16" fmla="*/ 122 w 122"/>
                  <a:gd name="T17" fmla="*/ 71 h 162"/>
                  <a:gd name="T18" fmla="*/ 119 w 122"/>
                  <a:gd name="T19" fmla="*/ 83 h 162"/>
                  <a:gd name="T20" fmla="*/ 113 w 122"/>
                  <a:gd name="T21" fmla="*/ 95 h 162"/>
                  <a:gd name="T22" fmla="*/ 107 w 122"/>
                  <a:gd name="T23" fmla="*/ 104 h 162"/>
                  <a:gd name="T24" fmla="*/ 101 w 122"/>
                  <a:gd name="T25" fmla="*/ 112 h 162"/>
                  <a:gd name="T26" fmla="*/ 93 w 122"/>
                  <a:gd name="T27" fmla="*/ 121 h 162"/>
                  <a:gd name="T28" fmla="*/ 87 w 122"/>
                  <a:gd name="T29" fmla="*/ 132 h 162"/>
                  <a:gd name="T30" fmla="*/ 81 w 122"/>
                  <a:gd name="T31" fmla="*/ 150 h 162"/>
                  <a:gd name="T32" fmla="*/ 42 w 122"/>
                  <a:gd name="T33" fmla="*/ 162 h 162"/>
                  <a:gd name="T34" fmla="*/ 39 w 122"/>
                  <a:gd name="T35" fmla="*/ 141 h 162"/>
                  <a:gd name="T36" fmla="*/ 32 w 122"/>
                  <a:gd name="T37" fmla="*/ 126 h 162"/>
                  <a:gd name="T38" fmla="*/ 25 w 122"/>
                  <a:gd name="T39" fmla="*/ 115 h 162"/>
                  <a:gd name="T40" fmla="*/ 18 w 122"/>
                  <a:gd name="T41" fmla="*/ 110 h 162"/>
                  <a:gd name="T42" fmla="*/ 12 w 122"/>
                  <a:gd name="T43" fmla="*/ 100 h 162"/>
                  <a:gd name="T44" fmla="*/ 6 w 122"/>
                  <a:gd name="T45" fmla="*/ 90 h 162"/>
                  <a:gd name="T46" fmla="*/ 2 w 122"/>
                  <a:gd name="T47" fmla="*/ 78 h 162"/>
                  <a:gd name="T48" fmla="*/ 0 w 122"/>
                  <a:gd name="T49" fmla="*/ 65 h 162"/>
                  <a:gd name="T50" fmla="*/ 1 w 122"/>
                  <a:gd name="T51" fmla="*/ 52 h 162"/>
                  <a:gd name="T52" fmla="*/ 4 w 122"/>
                  <a:gd name="T53" fmla="*/ 39 h 162"/>
                  <a:gd name="T54" fmla="*/ 11 w 122"/>
                  <a:gd name="T55" fmla="*/ 29 h 162"/>
                  <a:gd name="T56" fmla="*/ 17 w 122"/>
                  <a:gd name="T57" fmla="*/ 19 h 162"/>
                  <a:gd name="T58" fmla="*/ 26 w 122"/>
                  <a:gd name="T59" fmla="*/ 12 h 162"/>
                  <a:gd name="T60" fmla="*/ 37 w 122"/>
                  <a:gd name="T61" fmla="*/ 5 h 162"/>
                  <a:gd name="T62" fmla="*/ 48 w 122"/>
                  <a:gd name="T63" fmla="*/ 1 h 162"/>
                  <a:gd name="T64" fmla="*/ 61 w 122"/>
                  <a:gd name="T65" fmla="*/ 0 h 1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2"/>
                  <a:gd name="T100" fmla="*/ 0 h 162"/>
                  <a:gd name="T101" fmla="*/ 122 w 122"/>
                  <a:gd name="T102" fmla="*/ 162 h 16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2" h="162">
                    <a:moveTo>
                      <a:pt x="61" y="0"/>
                    </a:moveTo>
                    <a:lnTo>
                      <a:pt x="68" y="0"/>
                    </a:lnTo>
                    <a:lnTo>
                      <a:pt x="74" y="1"/>
                    </a:lnTo>
                    <a:lnTo>
                      <a:pt x="79" y="3"/>
                    </a:lnTo>
                    <a:lnTo>
                      <a:pt x="85" y="5"/>
                    </a:lnTo>
                    <a:lnTo>
                      <a:pt x="90" y="8"/>
                    </a:lnTo>
                    <a:lnTo>
                      <a:pt x="95" y="12"/>
                    </a:lnTo>
                    <a:lnTo>
                      <a:pt x="100" y="15"/>
                    </a:lnTo>
                    <a:lnTo>
                      <a:pt x="104" y="19"/>
                    </a:lnTo>
                    <a:lnTo>
                      <a:pt x="108" y="23"/>
                    </a:lnTo>
                    <a:lnTo>
                      <a:pt x="111" y="29"/>
                    </a:lnTo>
                    <a:lnTo>
                      <a:pt x="115" y="34"/>
                    </a:lnTo>
                    <a:lnTo>
                      <a:pt x="117" y="39"/>
                    </a:lnTo>
                    <a:lnTo>
                      <a:pt x="119" y="46"/>
                    </a:lnTo>
                    <a:lnTo>
                      <a:pt x="121" y="52"/>
                    </a:lnTo>
                    <a:lnTo>
                      <a:pt x="122" y="59"/>
                    </a:lnTo>
                    <a:lnTo>
                      <a:pt x="122" y="65"/>
                    </a:lnTo>
                    <a:lnTo>
                      <a:pt x="122" y="71"/>
                    </a:lnTo>
                    <a:lnTo>
                      <a:pt x="120" y="78"/>
                    </a:lnTo>
                    <a:lnTo>
                      <a:pt x="119" y="83"/>
                    </a:lnTo>
                    <a:lnTo>
                      <a:pt x="117" y="90"/>
                    </a:lnTo>
                    <a:lnTo>
                      <a:pt x="113" y="95"/>
                    </a:lnTo>
                    <a:lnTo>
                      <a:pt x="110" y="100"/>
                    </a:lnTo>
                    <a:lnTo>
                      <a:pt x="107" y="104"/>
                    </a:lnTo>
                    <a:lnTo>
                      <a:pt x="104" y="110"/>
                    </a:lnTo>
                    <a:lnTo>
                      <a:pt x="101" y="112"/>
                    </a:lnTo>
                    <a:lnTo>
                      <a:pt x="97" y="115"/>
                    </a:lnTo>
                    <a:lnTo>
                      <a:pt x="93" y="121"/>
                    </a:lnTo>
                    <a:lnTo>
                      <a:pt x="90" y="126"/>
                    </a:lnTo>
                    <a:lnTo>
                      <a:pt x="87" y="132"/>
                    </a:lnTo>
                    <a:lnTo>
                      <a:pt x="84" y="141"/>
                    </a:lnTo>
                    <a:lnTo>
                      <a:pt x="81" y="150"/>
                    </a:lnTo>
                    <a:lnTo>
                      <a:pt x="80" y="162"/>
                    </a:lnTo>
                    <a:lnTo>
                      <a:pt x="42" y="162"/>
                    </a:lnTo>
                    <a:lnTo>
                      <a:pt x="41" y="150"/>
                    </a:lnTo>
                    <a:lnTo>
                      <a:pt x="39" y="141"/>
                    </a:lnTo>
                    <a:lnTo>
                      <a:pt x="35" y="132"/>
                    </a:lnTo>
                    <a:lnTo>
                      <a:pt x="32" y="126"/>
                    </a:lnTo>
                    <a:lnTo>
                      <a:pt x="29" y="121"/>
                    </a:lnTo>
                    <a:lnTo>
                      <a:pt x="25" y="115"/>
                    </a:lnTo>
                    <a:lnTo>
                      <a:pt x="22" y="112"/>
                    </a:lnTo>
                    <a:lnTo>
                      <a:pt x="18" y="110"/>
                    </a:lnTo>
                    <a:lnTo>
                      <a:pt x="15" y="104"/>
                    </a:lnTo>
                    <a:lnTo>
                      <a:pt x="12" y="100"/>
                    </a:lnTo>
                    <a:lnTo>
                      <a:pt x="9" y="95"/>
                    </a:lnTo>
                    <a:lnTo>
                      <a:pt x="6" y="90"/>
                    </a:lnTo>
                    <a:lnTo>
                      <a:pt x="3" y="83"/>
                    </a:lnTo>
                    <a:lnTo>
                      <a:pt x="2" y="78"/>
                    </a:lnTo>
                    <a:lnTo>
                      <a:pt x="0" y="71"/>
                    </a:lnTo>
                    <a:lnTo>
                      <a:pt x="0" y="65"/>
                    </a:lnTo>
                    <a:lnTo>
                      <a:pt x="0" y="59"/>
                    </a:lnTo>
                    <a:lnTo>
                      <a:pt x="1" y="52"/>
                    </a:lnTo>
                    <a:lnTo>
                      <a:pt x="3" y="46"/>
                    </a:lnTo>
                    <a:lnTo>
                      <a:pt x="4" y="39"/>
                    </a:lnTo>
                    <a:lnTo>
                      <a:pt x="8" y="34"/>
                    </a:lnTo>
                    <a:lnTo>
                      <a:pt x="11" y="29"/>
                    </a:lnTo>
                    <a:lnTo>
                      <a:pt x="14" y="23"/>
                    </a:lnTo>
                    <a:lnTo>
                      <a:pt x="17" y="19"/>
                    </a:lnTo>
                    <a:lnTo>
                      <a:pt x="22" y="15"/>
                    </a:lnTo>
                    <a:lnTo>
                      <a:pt x="26" y="12"/>
                    </a:lnTo>
                    <a:lnTo>
                      <a:pt x="31" y="8"/>
                    </a:lnTo>
                    <a:lnTo>
                      <a:pt x="37" y="5"/>
                    </a:lnTo>
                    <a:lnTo>
                      <a:pt x="43" y="3"/>
                    </a:lnTo>
                    <a:lnTo>
                      <a:pt x="48" y="1"/>
                    </a:lnTo>
                    <a:lnTo>
                      <a:pt x="55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87" name="Freeform 884"/>
              <p:cNvSpPr>
                <a:spLocks/>
              </p:cNvSpPr>
              <p:nvPr/>
            </p:nvSpPr>
            <p:spPr bwMode="auto">
              <a:xfrm>
                <a:off x="2631" y="1892"/>
                <a:ext cx="119" cy="161"/>
              </a:xfrm>
              <a:custGeom>
                <a:avLst/>
                <a:gdLst>
                  <a:gd name="T0" fmla="*/ 65 w 119"/>
                  <a:gd name="T1" fmla="*/ 0 h 161"/>
                  <a:gd name="T2" fmla="*/ 77 w 119"/>
                  <a:gd name="T3" fmla="*/ 3 h 161"/>
                  <a:gd name="T4" fmla="*/ 88 w 119"/>
                  <a:gd name="T5" fmla="*/ 8 h 161"/>
                  <a:gd name="T6" fmla="*/ 98 w 119"/>
                  <a:gd name="T7" fmla="*/ 15 h 161"/>
                  <a:gd name="T8" fmla="*/ 106 w 119"/>
                  <a:gd name="T9" fmla="*/ 23 h 161"/>
                  <a:gd name="T10" fmla="*/ 111 w 119"/>
                  <a:gd name="T11" fmla="*/ 34 h 161"/>
                  <a:gd name="T12" fmla="*/ 117 w 119"/>
                  <a:gd name="T13" fmla="*/ 46 h 161"/>
                  <a:gd name="T14" fmla="*/ 119 w 119"/>
                  <a:gd name="T15" fmla="*/ 59 h 161"/>
                  <a:gd name="T16" fmla="*/ 119 w 119"/>
                  <a:gd name="T17" fmla="*/ 71 h 161"/>
                  <a:gd name="T18" fmla="*/ 116 w 119"/>
                  <a:gd name="T19" fmla="*/ 83 h 161"/>
                  <a:gd name="T20" fmla="*/ 110 w 119"/>
                  <a:gd name="T21" fmla="*/ 95 h 161"/>
                  <a:gd name="T22" fmla="*/ 104 w 119"/>
                  <a:gd name="T23" fmla="*/ 105 h 161"/>
                  <a:gd name="T24" fmla="*/ 98 w 119"/>
                  <a:gd name="T25" fmla="*/ 111 h 161"/>
                  <a:gd name="T26" fmla="*/ 91 w 119"/>
                  <a:gd name="T27" fmla="*/ 120 h 161"/>
                  <a:gd name="T28" fmla="*/ 84 w 119"/>
                  <a:gd name="T29" fmla="*/ 132 h 161"/>
                  <a:gd name="T30" fmla="*/ 79 w 119"/>
                  <a:gd name="T31" fmla="*/ 149 h 161"/>
                  <a:gd name="T32" fmla="*/ 41 w 119"/>
                  <a:gd name="T33" fmla="*/ 161 h 161"/>
                  <a:gd name="T34" fmla="*/ 38 w 119"/>
                  <a:gd name="T35" fmla="*/ 140 h 161"/>
                  <a:gd name="T36" fmla="*/ 32 w 119"/>
                  <a:gd name="T37" fmla="*/ 125 h 161"/>
                  <a:gd name="T38" fmla="*/ 25 w 119"/>
                  <a:gd name="T39" fmla="*/ 115 h 161"/>
                  <a:gd name="T40" fmla="*/ 18 w 119"/>
                  <a:gd name="T41" fmla="*/ 109 h 161"/>
                  <a:gd name="T42" fmla="*/ 12 w 119"/>
                  <a:gd name="T43" fmla="*/ 99 h 161"/>
                  <a:gd name="T44" fmla="*/ 6 w 119"/>
                  <a:gd name="T45" fmla="*/ 89 h 161"/>
                  <a:gd name="T46" fmla="*/ 1 w 119"/>
                  <a:gd name="T47" fmla="*/ 78 h 161"/>
                  <a:gd name="T48" fmla="*/ 0 w 119"/>
                  <a:gd name="T49" fmla="*/ 65 h 161"/>
                  <a:gd name="T50" fmla="*/ 1 w 119"/>
                  <a:gd name="T51" fmla="*/ 52 h 161"/>
                  <a:gd name="T52" fmla="*/ 5 w 119"/>
                  <a:gd name="T53" fmla="*/ 40 h 161"/>
                  <a:gd name="T54" fmla="*/ 10 w 119"/>
                  <a:gd name="T55" fmla="*/ 29 h 161"/>
                  <a:gd name="T56" fmla="*/ 16 w 119"/>
                  <a:gd name="T57" fmla="*/ 19 h 161"/>
                  <a:gd name="T58" fmla="*/ 26 w 119"/>
                  <a:gd name="T59" fmla="*/ 12 h 161"/>
                  <a:gd name="T60" fmla="*/ 36 w 119"/>
                  <a:gd name="T61" fmla="*/ 5 h 161"/>
                  <a:gd name="T62" fmla="*/ 47 w 119"/>
                  <a:gd name="T63" fmla="*/ 1 h 161"/>
                  <a:gd name="T64" fmla="*/ 60 w 119"/>
                  <a:gd name="T65" fmla="*/ 0 h 16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9"/>
                  <a:gd name="T100" fmla="*/ 0 h 161"/>
                  <a:gd name="T101" fmla="*/ 119 w 119"/>
                  <a:gd name="T102" fmla="*/ 161 h 16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9" h="161">
                    <a:moveTo>
                      <a:pt x="60" y="0"/>
                    </a:moveTo>
                    <a:lnTo>
                      <a:pt x="65" y="0"/>
                    </a:lnTo>
                    <a:lnTo>
                      <a:pt x="72" y="1"/>
                    </a:lnTo>
                    <a:lnTo>
                      <a:pt x="77" y="3"/>
                    </a:lnTo>
                    <a:lnTo>
                      <a:pt x="83" y="5"/>
                    </a:lnTo>
                    <a:lnTo>
                      <a:pt x="88" y="8"/>
                    </a:lnTo>
                    <a:lnTo>
                      <a:pt x="93" y="12"/>
                    </a:lnTo>
                    <a:lnTo>
                      <a:pt x="98" y="15"/>
                    </a:lnTo>
                    <a:lnTo>
                      <a:pt x="102" y="19"/>
                    </a:lnTo>
                    <a:lnTo>
                      <a:pt x="106" y="23"/>
                    </a:lnTo>
                    <a:lnTo>
                      <a:pt x="109" y="29"/>
                    </a:lnTo>
                    <a:lnTo>
                      <a:pt x="111" y="34"/>
                    </a:lnTo>
                    <a:lnTo>
                      <a:pt x="115" y="40"/>
                    </a:lnTo>
                    <a:lnTo>
                      <a:pt x="117" y="46"/>
                    </a:lnTo>
                    <a:lnTo>
                      <a:pt x="118" y="52"/>
                    </a:lnTo>
                    <a:lnTo>
                      <a:pt x="119" y="59"/>
                    </a:lnTo>
                    <a:lnTo>
                      <a:pt x="119" y="65"/>
                    </a:lnTo>
                    <a:lnTo>
                      <a:pt x="119" y="71"/>
                    </a:lnTo>
                    <a:lnTo>
                      <a:pt x="118" y="78"/>
                    </a:lnTo>
                    <a:lnTo>
                      <a:pt x="116" y="83"/>
                    </a:lnTo>
                    <a:lnTo>
                      <a:pt x="114" y="89"/>
                    </a:lnTo>
                    <a:lnTo>
                      <a:pt x="110" y="95"/>
                    </a:lnTo>
                    <a:lnTo>
                      <a:pt x="107" y="99"/>
                    </a:lnTo>
                    <a:lnTo>
                      <a:pt x="104" y="105"/>
                    </a:lnTo>
                    <a:lnTo>
                      <a:pt x="101" y="109"/>
                    </a:lnTo>
                    <a:lnTo>
                      <a:pt x="98" y="111"/>
                    </a:lnTo>
                    <a:lnTo>
                      <a:pt x="94" y="115"/>
                    </a:lnTo>
                    <a:lnTo>
                      <a:pt x="91" y="120"/>
                    </a:lnTo>
                    <a:lnTo>
                      <a:pt x="87" y="125"/>
                    </a:lnTo>
                    <a:lnTo>
                      <a:pt x="84" y="132"/>
                    </a:lnTo>
                    <a:lnTo>
                      <a:pt x="81" y="140"/>
                    </a:lnTo>
                    <a:lnTo>
                      <a:pt x="79" y="149"/>
                    </a:lnTo>
                    <a:lnTo>
                      <a:pt x="78" y="161"/>
                    </a:lnTo>
                    <a:lnTo>
                      <a:pt x="41" y="161"/>
                    </a:lnTo>
                    <a:lnTo>
                      <a:pt x="40" y="149"/>
                    </a:lnTo>
                    <a:lnTo>
                      <a:pt x="38" y="140"/>
                    </a:lnTo>
                    <a:lnTo>
                      <a:pt x="36" y="132"/>
                    </a:lnTo>
                    <a:lnTo>
                      <a:pt x="32" y="125"/>
                    </a:lnTo>
                    <a:lnTo>
                      <a:pt x="28" y="120"/>
                    </a:lnTo>
                    <a:lnTo>
                      <a:pt x="25" y="115"/>
                    </a:lnTo>
                    <a:lnTo>
                      <a:pt x="22" y="111"/>
                    </a:lnTo>
                    <a:lnTo>
                      <a:pt x="18" y="109"/>
                    </a:lnTo>
                    <a:lnTo>
                      <a:pt x="15" y="105"/>
                    </a:lnTo>
                    <a:lnTo>
                      <a:pt x="12" y="99"/>
                    </a:lnTo>
                    <a:lnTo>
                      <a:pt x="9" y="95"/>
                    </a:lnTo>
                    <a:lnTo>
                      <a:pt x="6" y="89"/>
                    </a:lnTo>
                    <a:lnTo>
                      <a:pt x="3" y="83"/>
                    </a:lnTo>
                    <a:lnTo>
                      <a:pt x="1" y="78"/>
                    </a:lnTo>
                    <a:lnTo>
                      <a:pt x="0" y="71"/>
                    </a:lnTo>
                    <a:lnTo>
                      <a:pt x="0" y="65"/>
                    </a:lnTo>
                    <a:lnTo>
                      <a:pt x="0" y="59"/>
                    </a:lnTo>
                    <a:lnTo>
                      <a:pt x="1" y="52"/>
                    </a:lnTo>
                    <a:lnTo>
                      <a:pt x="2" y="46"/>
                    </a:lnTo>
                    <a:lnTo>
                      <a:pt x="5" y="40"/>
                    </a:lnTo>
                    <a:lnTo>
                      <a:pt x="7" y="34"/>
                    </a:lnTo>
                    <a:lnTo>
                      <a:pt x="10" y="29"/>
                    </a:lnTo>
                    <a:lnTo>
                      <a:pt x="13" y="23"/>
                    </a:lnTo>
                    <a:lnTo>
                      <a:pt x="16" y="19"/>
                    </a:lnTo>
                    <a:lnTo>
                      <a:pt x="21" y="15"/>
                    </a:lnTo>
                    <a:lnTo>
                      <a:pt x="26" y="12"/>
                    </a:lnTo>
                    <a:lnTo>
                      <a:pt x="30" y="8"/>
                    </a:lnTo>
                    <a:lnTo>
                      <a:pt x="36" y="5"/>
                    </a:lnTo>
                    <a:lnTo>
                      <a:pt x="41" y="3"/>
                    </a:lnTo>
                    <a:lnTo>
                      <a:pt x="47" y="1"/>
                    </a:lnTo>
                    <a:lnTo>
                      <a:pt x="54" y="0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88" name="Freeform 885"/>
              <p:cNvSpPr>
                <a:spLocks/>
              </p:cNvSpPr>
              <p:nvPr/>
            </p:nvSpPr>
            <p:spPr bwMode="auto">
              <a:xfrm>
                <a:off x="2633" y="1893"/>
                <a:ext cx="116" cy="160"/>
              </a:xfrm>
              <a:custGeom>
                <a:avLst/>
                <a:gdLst>
                  <a:gd name="T0" fmla="*/ 65 w 116"/>
                  <a:gd name="T1" fmla="*/ 0 h 160"/>
                  <a:gd name="T2" fmla="*/ 75 w 116"/>
                  <a:gd name="T3" fmla="*/ 3 h 160"/>
                  <a:gd name="T4" fmla="*/ 86 w 116"/>
                  <a:gd name="T5" fmla="*/ 8 h 160"/>
                  <a:gd name="T6" fmla="*/ 96 w 116"/>
                  <a:gd name="T7" fmla="*/ 15 h 160"/>
                  <a:gd name="T8" fmla="*/ 103 w 116"/>
                  <a:gd name="T9" fmla="*/ 24 h 160"/>
                  <a:gd name="T10" fmla="*/ 109 w 116"/>
                  <a:gd name="T11" fmla="*/ 34 h 160"/>
                  <a:gd name="T12" fmla="*/ 114 w 116"/>
                  <a:gd name="T13" fmla="*/ 46 h 160"/>
                  <a:gd name="T14" fmla="*/ 116 w 116"/>
                  <a:gd name="T15" fmla="*/ 59 h 160"/>
                  <a:gd name="T16" fmla="*/ 116 w 116"/>
                  <a:gd name="T17" fmla="*/ 72 h 160"/>
                  <a:gd name="T18" fmla="*/ 113 w 116"/>
                  <a:gd name="T19" fmla="*/ 83 h 160"/>
                  <a:gd name="T20" fmla="*/ 107 w 116"/>
                  <a:gd name="T21" fmla="*/ 94 h 160"/>
                  <a:gd name="T22" fmla="*/ 101 w 116"/>
                  <a:gd name="T23" fmla="*/ 104 h 160"/>
                  <a:gd name="T24" fmla="*/ 94 w 116"/>
                  <a:gd name="T25" fmla="*/ 111 h 160"/>
                  <a:gd name="T26" fmla="*/ 88 w 116"/>
                  <a:gd name="T27" fmla="*/ 119 h 160"/>
                  <a:gd name="T28" fmla="*/ 82 w 116"/>
                  <a:gd name="T29" fmla="*/ 131 h 160"/>
                  <a:gd name="T30" fmla="*/ 77 w 116"/>
                  <a:gd name="T31" fmla="*/ 148 h 160"/>
                  <a:gd name="T32" fmla="*/ 40 w 116"/>
                  <a:gd name="T33" fmla="*/ 160 h 160"/>
                  <a:gd name="T34" fmla="*/ 38 w 116"/>
                  <a:gd name="T35" fmla="*/ 139 h 160"/>
                  <a:gd name="T36" fmla="*/ 31 w 116"/>
                  <a:gd name="T37" fmla="*/ 124 h 160"/>
                  <a:gd name="T38" fmla="*/ 24 w 116"/>
                  <a:gd name="T39" fmla="*/ 114 h 160"/>
                  <a:gd name="T40" fmla="*/ 19 w 116"/>
                  <a:gd name="T41" fmla="*/ 109 h 160"/>
                  <a:gd name="T42" fmla="*/ 12 w 116"/>
                  <a:gd name="T43" fmla="*/ 99 h 160"/>
                  <a:gd name="T44" fmla="*/ 6 w 116"/>
                  <a:gd name="T45" fmla="*/ 89 h 160"/>
                  <a:gd name="T46" fmla="*/ 1 w 116"/>
                  <a:gd name="T47" fmla="*/ 77 h 160"/>
                  <a:gd name="T48" fmla="*/ 0 w 116"/>
                  <a:gd name="T49" fmla="*/ 65 h 160"/>
                  <a:gd name="T50" fmla="*/ 1 w 116"/>
                  <a:gd name="T51" fmla="*/ 52 h 160"/>
                  <a:gd name="T52" fmla="*/ 5 w 116"/>
                  <a:gd name="T53" fmla="*/ 41 h 160"/>
                  <a:gd name="T54" fmla="*/ 10 w 116"/>
                  <a:gd name="T55" fmla="*/ 29 h 160"/>
                  <a:gd name="T56" fmla="*/ 16 w 116"/>
                  <a:gd name="T57" fmla="*/ 19 h 160"/>
                  <a:gd name="T58" fmla="*/ 25 w 116"/>
                  <a:gd name="T59" fmla="*/ 12 h 160"/>
                  <a:gd name="T60" fmla="*/ 35 w 116"/>
                  <a:gd name="T61" fmla="*/ 5 h 160"/>
                  <a:gd name="T62" fmla="*/ 46 w 116"/>
                  <a:gd name="T63" fmla="*/ 1 h 160"/>
                  <a:gd name="T64" fmla="*/ 58 w 116"/>
                  <a:gd name="T65" fmla="*/ 0 h 16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6"/>
                  <a:gd name="T100" fmla="*/ 0 h 160"/>
                  <a:gd name="T101" fmla="*/ 116 w 116"/>
                  <a:gd name="T102" fmla="*/ 160 h 16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6" h="160">
                    <a:moveTo>
                      <a:pt x="58" y="0"/>
                    </a:moveTo>
                    <a:lnTo>
                      <a:pt x="65" y="0"/>
                    </a:lnTo>
                    <a:lnTo>
                      <a:pt x="70" y="1"/>
                    </a:lnTo>
                    <a:lnTo>
                      <a:pt x="75" y="3"/>
                    </a:lnTo>
                    <a:lnTo>
                      <a:pt x="81" y="5"/>
                    </a:lnTo>
                    <a:lnTo>
                      <a:pt x="86" y="8"/>
                    </a:lnTo>
                    <a:lnTo>
                      <a:pt x="90" y="12"/>
                    </a:lnTo>
                    <a:lnTo>
                      <a:pt x="96" y="15"/>
                    </a:lnTo>
                    <a:lnTo>
                      <a:pt x="99" y="19"/>
                    </a:lnTo>
                    <a:lnTo>
                      <a:pt x="103" y="24"/>
                    </a:lnTo>
                    <a:lnTo>
                      <a:pt x="106" y="29"/>
                    </a:lnTo>
                    <a:lnTo>
                      <a:pt x="109" y="34"/>
                    </a:lnTo>
                    <a:lnTo>
                      <a:pt x="112" y="41"/>
                    </a:lnTo>
                    <a:lnTo>
                      <a:pt x="114" y="46"/>
                    </a:lnTo>
                    <a:lnTo>
                      <a:pt x="115" y="52"/>
                    </a:lnTo>
                    <a:lnTo>
                      <a:pt x="116" y="59"/>
                    </a:lnTo>
                    <a:lnTo>
                      <a:pt x="116" y="65"/>
                    </a:lnTo>
                    <a:lnTo>
                      <a:pt x="116" y="72"/>
                    </a:lnTo>
                    <a:lnTo>
                      <a:pt x="115" y="77"/>
                    </a:lnTo>
                    <a:lnTo>
                      <a:pt x="113" y="83"/>
                    </a:lnTo>
                    <a:lnTo>
                      <a:pt x="110" y="89"/>
                    </a:lnTo>
                    <a:lnTo>
                      <a:pt x="107" y="94"/>
                    </a:lnTo>
                    <a:lnTo>
                      <a:pt x="104" y="99"/>
                    </a:lnTo>
                    <a:lnTo>
                      <a:pt x="101" y="104"/>
                    </a:lnTo>
                    <a:lnTo>
                      <a:pt x="98" y="109"/>
                    </a:lnTo>
                    <a:lnTo>
                      <a:pt x="94" y="111"/>
                    </a:lnTo>
                    <a:lnTo>
                      <a:pt x="92" y="114"/>
                    </a:lnTo>
                    <a:lnTo>
                      <a:pt x="88" y="119"/>
                    </a:lnTo>
                    <a:lnTo>
                      <a:pt x="85" y="124"/>
                    </a:lnTo>
                    <a:lnTo>
                      <a:pt x="82" y="131"/>
                    </a:lnTo>
                    <a:lnTo>
                      <a:pt x="78" y="139"/>
                    </a:lnTo>
                    <a:lnTo>
                      <a:pt x="77" y="148"/>
                    </a:lnTo>
                    <a:lnTo>
                      <a:pt x="76" y="160"/>
                    </a:lnTo>
                    <a:lnTo>
                      <a:pt x="40" y="160"/>
                    </a:lnTo>
                    <a:lnTo>
                      <a:pt x="39" y="148"/>
                    </a:lnTo>
                    <a:lnTo>
                      <a:pt x="38" y="139"/>
                    </a:lnTo>
                    <a:lnTo>
                      <a:pt x="35" y="131"/>
                    </a:lnTo>
                    <a:lnTo>
                      <a:pt x="31" y="124"/>
                    </a:lnTo>
                    <a:lnTo>
                      <a:pt x="28" y="119"/>
                    </a:lnTo>
                    <a:lnTo>
                      <a:pt x="24" y="114"/>
                    </a:lnTo>
                    <a:lnTo>
                      <a:pt x="22" y="111"/>
                    </a:lnTo>
                    <a:lnTo>
                      <a:pt x="19" y="109"/>
                    </a:lnTo>
                    <a:lnTo>
                      <a:pt x="15" y="104"/>
                    </a:lnTo>
                    <a:lnTo>
                      <a:pt x="12" y="99"/>
                    </a:lnTo>
                    <a:lnTo>
                      <a:pt x="9" y="94"/>
                    </a:lnTo>
                    <a:lnTo>
                      <a:pt x="6" y="89"/>
                    </a:lnTo>
                    <a:lnTo>
                      <a:pt x="4" y="83"/>
                    </a:lnTo>
                    <a:lnTo>
                      <a:pt x="1" y="77"/>
                    </a:lnTo>
                    <a:lnTo>
                      <a:pt x="0" y="72"/>
                    </a:lnTo>
                    <a:lnTo>
                      <a:pt x="0" y="65"/>
                    </a:lnTo>
                    <a:lnTo>
                      <a:pt x="0" y="59"/>
                    </a:lnTo>
                    <a:lnTo>
                      <a:pt x="1" y="52"/>
                    </a:lnTo>
                    <a:lnTo>
                      <a:pt x="3" y="46"/>
                    </a:lnTo>
                    <a:lnTo>
                      <a:pt x="5" y="41"/>
                    </a:lnTo>
                    <a:lnTo>
                      <a:pt x="7" y="34"/>
                    </a:lnTo>
                    <a:lnTo>
                      <a:pt x="10" y="29"/>
                    </a:lnTo>
                    <a:lnTo>
                      <a:pt x="13" y="24"/>
                    </a:lnTo>
                    <a:lnTo>
                      <a:pt x="16" y="19"/>
                    </a:lnTo>
                    <a:lnTo>
                      <a:pt x="21" y="15"/>
                    </a:lnTo>
                    <a:lnTo>
                      <a:pt x="25" y="12"/>
                    </a:lnTo>
                    <a:lnTo>
                      <a:pt x="29" y="8"/>
                    </a:lnTo>
                    <a:lnTo>
                      <a:pt x="35" y="5"/>
                    </a:lnTo>
                    <a:lnTo>
                      <a:pt x="40" y="3"/>
                    </a:lnTo>
                    <a:lnTo>
                      <a:pt x="46" y="1"/>
                    </a:lnTo>
                    <a:lnTo>
                      <a:pt x="52" y="0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89" name="Freeform 886"/>
              <p:cNvSpPr>
                <a:spLocks/>
              </p:cNvSpPr>
              <p:nvPr/>
            </p:nvSpPr>
            <p:spPr bwMode="auto">
              <a:xfrm>
                <a:off x="2634" y="1894"/>
                <a:ext cx="114" cy="159"/>
              </a:xfrm>
              <a:custGeom>
                <a:avLst/>
                <a:gdLst>
                  <a:gd name="T0" fmla="*/ 64 w 114"/>
                  <a:gd name="T1" fmla="*/ 0 h 159"/>
                  <a:gd name="T2" fmla="*/ 74 w 114"/>
                  <a:gd name="T3" fmla="*/ 3 h 159"/>
                  <a:gd name="T4" fmla="*/ 84 w 114"/>
                  <a:gd name="T5" fmla="*/ 9 h 159"/>
                  <a:gd name="T6" fmla="*/ 93 w 114"/>
                  <a:gd name="T7" fmla="*/ 15 h 159"/>
                  <a:gd name="T8" fmla="*/ 101 w 114"/>
                  <a:gd name="T9" fmla="*/ 23 h 159"/>
                  <a:gd name="T10" fmla="*/ 107 w 114"/>
                  <a:gd name="T11" fmla="*/ 34 h 159"/>
                  <a:gd name="T12" fmla="*/ 112 w 114"/>
                  <a:gd name="T13" fmla="*/ 46 h 159"/>
                  <a:gd name="T14" fmla="*/ 114 w 114"/>
                  <a:gd name="T15" fmla="*/ 58 h 159"/>
                  <a:gd name="T16" fmla="*/ 114 w 114"/>
                  <a:gd name="T17" fmla="*/ 71 h 159"/>
                  <a:gd name="T18" fmla="*/ 111 w 114"/>
                  <a:gd name="T19" fmla="*/ 82 h 159"/>
                  <a:gd name="T20" fmla="*/ 105 w 114"/>
                  <a:gd name="T21" fmla="*/ 94 h 159"/>
                  <a:gd name="T22" fmla="*/ 99 w 114"/>
                  <a:gd name="T23" fmla="*/ 104 h 159"/>
                  <a:gd name="T24" fmla="*/ 92 w 114"/>
                  <a:gd name="T25" fmla="*/ 110 h 159"/>
                  <a:gd name="T26" fmla="*/ 86 w 114"/>
                  <a:gd name="T27" fmla="*/ 119 h 159"/>
                  <a:gd name="T28" fmla="*/ 80 w 114"/>
                  <a:gd name="T29" fmla="*/ 130 h 159"/>
                  <a:gd name="T30" fmla="*/ 75 w 114"/>
                  <a:gd name="T31" fmla="*/ 147 h 159"/>
                  <a:gd name="T32" fmla="*/ 39 w 114"/>
                  <a:gd name="T33" fmla="*/ 159 h 159"/>
                  <a:gd name="T34" fmla="*/ 37 w 114"/>
                  <a:gd name="T35" fmla="*/ 138 h 159"/>
                  <a:gd name="T36" fmla="*/ 31 w 114"/>
                  <a:gd name="T37" fmla="*/ 124 h 159"/>
                  <a:gd name="T38" fmla="*/ 25 w 114"/>
                  <a:gd name="T39" fmla="*/ 114 h 159"/>
                  <a:gd name="T40" fmla="*/ 19 w 114"/>
                  <a:gd name="T41" fmla="*/ 108 h 159"/>
                  <a:gd name="T42" fmla="*/ 12 w 114"/>
                  <a:gd name="T43" fmla="*/ 98 h 159"/>
                  <a:gd name="T44" fmla="*/ 6 w 114"/>
                  <a:gd name="T45" fmla="*/ 89 h 159"/>
                  <a:gd name="T46" fmla="*/ 2 w 114"/>
                  <a:gd name="T47" fmla="*/ 77 h 159"/>
                  <a:gd name="T48" fmla="*/ 0 w 114"/>
                  <a:gd name="T49" fmla="*/ 64 h 159"/>
                  <a:gd name="T50" fmla="*/ 2 w 114"/>
                  <a:gd name="T51" fmla="*/ 52 h 159"/>
                  <a:gd name="T52" fmla="*/ 5 w 114"/>
                  <a:gd name="T53" fmla="*/ 41 h 159"/>
                  <a:gd name="T54" fmla="*/ 9 w 114"/>
                  <a:gd name="T55" fmla="*/ 29 h 159"/>
                  <a:gd name="T56" fmla="*/ 17 w 114"/>
                  <a:gd name="T57" fmla="*/ 19 h 159"/>
                  <a:gd name="T58" fmla="*/ 24 w 114"/>
                  <a:gd name="T59" fmla="*/ 12 h 159"/>
                  <a:gd name="T60" fmla="*/ 34 w 114"/>
                  <a:gd name="T61" fmla="*/ 5 h 159"/>
                  <a:gd name="T62" fmla="*/ 45 w 114"/>
                  <a:gd name="T63" fmla="*/ 1 h 159"/>
                  <a:gd name="T64" fmla="*/ 57 w 114"/>
                  <a:gd name="T65" fmla="*/ 0 h 15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4"/>
                  <a:gd name="T100" fmla="*/ 0 h 159"/>
                  <a:gd name="T101" fmla="*/ 114 w 114"/>
                  <a:gd name="T102" fmla="*/ 159 h 15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4" h="159">
                    <a:moveTo>
                      <a:pt x="57" y="0"/>
                    </a:moveTo>
                    <a:lnTo>
                      <a:pt x="64" y="0"/>
                    </a:lnTo>
                    <a:lnTo>
                      <a:pt x="69" y="1"/>
                    </a:lnTo>
                    <a:lnTo>
                      <a:pt x="74" y="3"/>
                    </a:lnTo>
                    <a:lnTo>
                      <a:pt x="80" y="5"/>
                    </a:lnTo>
                    <a:lnTo>
                      <a:pt x="84" y="9"/>
                    </a:lnTo>
                    <a:lnTo>
                      <a:pt x="89" y="12"/>
                    </a:lnTo>
                    <a:lnTo>
                      <a:pt x="93" y="15"/>
                    </a:lnTo>
                    <a:lnTo>
                      <a:pt x="97" y="19"/>
                    </a:lnTo>
                    <a:lnTo>
                      <a:pt x="101" y="23"/>
                    </a:lnTo>
                    <a:lnTo>
                      <a:pt x="104" y="29"/>
                    </a:lnTo>
                    <a:lnTo>
                      <a:pt x="107" y="34"/>
                    </a:lnTo>
                    <a:lnTo>
                      <a:pt x="109" y="41"/>
                    </a:lnTo>
                    <a:lnTo>
                      <a:pt x="112" y="46"/>
                    </a:lnTo>
                    <a:lnTo>
                      <a:pt x="113" y="52"/>
                    </a:lnTo>
                    <a:lnTo>
                      <a:pt x="114" y="58"/>
                    </a:lnTo>
                    <a:lnTo>
                      <a:pt x="114" y="64"/>
                    </a:lnTo>
                    <a:lnTo>
                      <a:pt x="114" y="71"/>
                    </a:lnTo>
                    <a:lnTo>
                      <a:pt x="113" y="77"/>
                    </a:lnTo>
                    <a:lnTo>
                      <a:pt x="111" y="82"/>
                    </a:lnTo>
                    <a:lnTo>
                      <a:pt x="108" y="89"/>
                    </a:lnTo>
                    <a:lnTo>
                      <a:pt x="105" y="94"/>
                    </a:lnTo>
                    <a:lnTo>
                      <a:pt x="102" y="98"/>
                    </a:lnTo>
                    <a:lnTo>
                      <a:pt x="99" y="104"/>
                    </a:lnTo>
                    <a:lnTo>
                      <a:pt x="96" y="108"/>
                    </a:lnTo>
                    <a:lnTo>
                      <a:pt x="92" y="110"/>
                    </a:lnTo>
                    <a:lnTo>
                      <a:pt x="89" y="114"/>
                    </a:lnTo>
                    <a:lnTo>
                      <a:pt x="86" y="119"/>
                    </a:lnTo>
                    <a:lnTo>
                      <a:pt x="83" y="124"/>
                    </a:lnTo>
                    <a:lnTo>
                      <a:pt x="80" y="130"/>
                    </a:lnTo>
                    <a:lnTo>
                      <a:pt x="77" y="138"/>
                    </a:lnTo>
                    <a:lnTo>
                      <a:pt x="75" y="147"/>
                    </a:lnTo>
                    <a:lnTo>
                      <a:pt x="75" y="159"/>
                    </a:lnTo>
                    <a:lnTo>
                      <a:pt x="39" y="159"/>
                    </a:lnTo>
                    <a:lnTo>
                      <a:pt x="39" y="147"/>
                    </a:lnTo>
                    <a:lnTo>
                      <a:pt x="37" y="138"/>
                    </a:lnTo>
                    <a:lnTo>
                      <a:pt x="35" y="130"/>
                    </a:lnTo>
                    <a:lnTo>
                      <a:pt x="31" y="124"/>
                    </a:lnTo>
                    <a:lnTo>
                      <a:pt x="28" y="119"/>
                    </a:lnTo>
                    <a:lnTo>
                      <a:pt x="25" y="114"/>
                    </a:lnTo>
                    <a:lnTo>
                      <a:pt x="22" y="110"/>
                    </a:lnTo>
                    <a:lnTo>
                      <a:pt x="19" y="108"/>
                    </a:lnTo>
                    <a:lnTo>
                      <a:pt x="15" y="104"/>
                    </a:lnTo>
                    <a:lnTo>
                      <a:pt x="12" y="98"/>
                    </a:lnTo>
                    <a:lnTo>
                      <a:pt x="9" y="94"/>
                    </a:lnTo>
                    <a:lnTo>
                      <a:pt x="6" y="89"/>
                    </a:lnTo>
                    <a:lnTo>
                      <a:pt x="4" y="82"/>
                    </a:lnTo>
                    <a:lnTo>
                      <a:pt x="2" y="77"/>
                    </a:lnTo>
                    <a:lnTo>
                      <a:pt x="0" y="71"/>
                    </a:lnTo>
                    <a:lnTo>
                      <a:pt x="0" y="64"/>
                    </a:lnTo>
                    <a:lnTo>
                      <a:pt x="0" y="58"/>
                    </a:lnTo>
                    <a:lnTo>
                      <a:pt x="2" y="52"/>
                    </a:lnTo>
                    <a:lnTo>
                      <a:pt x="3" y="46"/>
                    </a:lnTo>
                    <a:lnTo>
                      <a:pt x="5" y="41"/>
                    </a:lnTo>
                    <a:lnTo>
                      <a:pt x="7" y="34"/>
                    </a:lnTo>
                    <a:lnTo>
                      <a:pt x="9" y="29"/>
                    </a:lnTo>
                    <a:lnTo>
                      <a:pt x="12" y="23"/>
                    </a:lnTo>
                    <a:lnTo>
                      <a:pt x="17" y="19"/>
                    </a:lnTo>
                    <a:lnTo>
                      <a:pt x="20" y="15"/>
                    </a:lnTo>
                    <a:lnTo>
                      <a:pt x="24" y="12"/>
                    </a:lnTo>
                    <a:lnTo>
                      <a:pt x="29" y="9"/>
                    </a:lnTo>
                    <a:lnTo>
                      <a:pt x="34" y="5"/>
                    </a:lnTo>
                    <a:lnTo>
                      <a:pt x="39" y="3"/>
                    </a:lnTo>
                    <a:lnTo>
                      <a:pt x="45" y="1"/>
                    </a:lnTo>
                    <a:lnTo>
                      <a:pt x="51" y="0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90" name="Freeform 887"/>
              <p:cNvSpPr>
                <a:spLocks/>
              </p:cNvSpPr>
              <p:nvPr/>
            </p:nvSpPr>
            <p:spPr bwMode="auto">
              <a:xfrm>
                <a:off x="2636" y="1895"/>
                <a:ext cx="110" cy="158"/>
              </a:xfrm>
              <a:custGeom>
                <a:avLst/>
                <a:gdLst>
                  <a:gd name="T0" fmla="*/ 60 w 110"/>
                  <a:gd name="T1" fmla="*/ 0 h 158"/>
                  <a:gd name="T2" fmla="*/ 71 w 110"/>
                  <a:gd name="T3" fmla="*/ 3 h 158"/>
                  <a:gd name="T4" fmla="*/ 81 w 110"/>
                  <a:gd name="T5" fmla="*/ 9 h 158"/>
                  <a:gd name="T6" fmla="*/ 90 w 110"/>
                  <a:gd name="T7" fmla="*/ 15 h 158"/>
                  <a:gd name="T8" fmla="*/ 97 w 110"/>
                  <a:gd name="T9" fmla="*/ 24 h 158"/>
                  <a:gd name="T10" fmla="*/ 103 w 110"/>
                  <a:gd name="T11" fmla="*/ 34 h 158"/>
                  <a:gd name="T12" fmla="*/ 107 w 110"/>
                  <a:gd name="T13" fmla="*/ 46 h 158"/>
                  <a:gd name="T14" fmla="*/ 110 w 110"/>
                  <a:gd name="T15" fmla="*/ 58 h 158"/>
                  <a:gd name="T16" fmla="*/ 110 w 110"/>
                  <a:gd name="T17" fmla="*/ 71 h 158"/>
                  <a:gd name="T18" fmla="*/ 106 w 110"/>
                  <a:gd name="T19" fmla="*/ 82 h 158"/>
                  <a:gd name="T20" fmla="*/ 101 w 110"/>
                  <a:gd name="T21" fmla="*/ 93 h 158"/>
                  <a:gd name="T22" fmla="*/ 95 w 110"/>
                  <a:gd name="T23" fmla="*/ 104 h 158"/>
                  <a:gd name="T24" fmla="*/ 89 w 110"/>
                  <a:gd name="T25" fmla="*/ 110 h 158"/>
                  <a:gd name="T26" fmla="*/ 83 w 110"/>
                  <a:gd name="T27" fmla="*/ 118 h 158"/>
                  <a:gd name="T28" fmla="*/ 76 w 110"/>
                  <a:gd name="T29" fmla="*/ 129 h 158"/>
                  <a:gd name="T30" fmla="*/ 72 w 110"/>
                  <a:gd name="T31" fmla="*/ 147 h 158"/>
                  <a:gd name="T32" fmla="*/ 37 w 110"/>
                  <a:gd name="T33" fmla="*/ 158 h 158"/>
                  <a:gd name="T34" fmla="*/ 35 w 110"/>
                  <a:gd name="T35" fmla="*/ 138 h 158"/>
                  <a:gd name="T36" fmla="*/ 29 w 110"/>
                  <a:gd name="T37" fmla="*/ 123 h 158"/>
                  <a:gd name="T38" fmla="*/ 23 w 110"/>
                  <a:gd name="T39" fmla="*/ 113 h 158"/>
                  <a:gd name="T40" fmla="*/ 18 w 110"/>
                  <a:gd name="T41" fmla="*/ 107 h 158"/>
                  <a:gd name="T42" fmla="*/ 11 w 110"/>
                  <a:gd name="T43" fmla="*/ 98 h 158"/>
                  <a:gd name="T44" fmla="*/ 5 w 110"/>
                  <a:gd name="T45" fmla="*/ 88 h 158"/>
                  <a:gd name="T46" fmla="*/ 1 w 110"/>
                  <a:gd name="T47" fmla="*/ 76 h 158"/>
                  <a:gd name="T48" fmla="*/ 0 w 110"/>
                  <a:gd name="T49" fmla="*/ 64 h 158"/>
                  <a:gd name="T50" fmla="*/ 1 w 110"/>
                  <a:gd name="T51" fmla="*/ 52 h 158"/>
                  <a:gd name="T52" fmla="*/ 4 w 110"/>
                  <a:gd name="T53" fmla="*/ 40 h 158"/>
                  <a:gd name="T54" fmla="*/ 8 w 110"/>
                  <a:gd name="T55" fmla="*/ 29 h 158"/>
                  <a:gd name="T56" fmla="*/ 15 w 110"/>
                  <a:gd name="T57" fmla="*/ 19 h 158"/>
                  <a:gd name="T58" fmla="*/ 22 w 110"/>
                  <a:gd name="T59" fmla="*/ 12 h 158"/>
                  <a:gd name="T60" fmla="*/ 32 w 110"/>
                  <a:gd name="T61" fmla="*/ 5 h 158"/>
                  <a:gd name="T62" fmla="*/ 42 w 110"/>
                  <a:gd name="T63" fmla="*/ 1 h 158"/>
                  <a:gd name="T64" fmla="*/ 55 w 110"/>
                  <a:gd name="T65" fmla="*/ 0 h 15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0"/>
                  <a:gd name="T100" fmla="*/ 0 h 158"/>
                  <a:gd name="T101" fmla="*/ 110 w 110"/>
                  <a:gd name="T102" fmla="*/ 158 h 158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0" h="158">
                    <a:moveTo>
                      <a:pt x="55" y="0"/>
                    </a:moveTo>
                    <a:lnTo>
                      <a:pt x="60" y="0"/>
                    </a:lnTo>
                    <a:lnTo>
                      <a:pt x="66" y="1"/>
                    </a:lnTo>
                    <a:lnTo>
                      <a:pt x="71" y="3"/>
                    </a:lnTo>
                    <a:lnTo>
                      <a:pt x="76" y="5"/>
                    </a:lnTo>
                    <a:lnTo>
                      <a:pt x="81" y="9"/>
                    </a:lnTo>
                    <a:lnTo>
                      <a:pt x="86" y="12"/>
                    </a:lnTo>
                    <a:lnTo>
                      <a:pt x="90" y="15"/>
                    </a:lnTo>
                    <a:lnTo>
                      <a:pt x="94" y="19"/>
                    </a:lnTo>
                    <a:lnTo>
                      <a:pt x="97" y="24"/>
                    </a:lnTo>
                    <a:lnTo>
                      <a:pt x="100" y="29"/>
                    </a:lnTo>
                    <a:lnTo>
                      <a:pt x="103" y="34"/>
                    </a:lnTo>
                    <a:lnTo>
                      <a:pt x="105" y="40"/>
                    </a:lnTo>
                    <a:lnTo>
                      <a:pt x="107" y="46"/>
                    </a:lnTo>
                    <a:lnTo>
                      <a:pt x="109" y="52"/>
                    </a:lnTo>
                    <a:lnTo>
                      <a:pt x="110" y="58"/>
                    </a:lnTo>
                    <a:lnTo>
                      <a:pt x="110" y="64"/>
                    </a:lnTo>
                    <a:lnTo>
                      <a:pt x="110" y="71"/>
                    </a:lnTo>
                    <a:lnTo>
                      <a:pt x="107" y="76"/>
                    </a:lnTo>
                    <a:lnTo>
                      <a:pt x="106" y="82"/>
                    </a:lnTo>
                    <a:lnTo>
                      <a:pt x="103" y="88"/>
                    </a:lnTo>
                    <a:lnTo>
                      <a:pt x="101" y="93"/>
                    </a:lnTo>
                    <a:lnTo>
                      <a:pt x="98" y="98"/>
                    </a:lnTo>
                    <a:lnTo>
                      <a:pt x="95" y="104"/>
                    </a:lnTo>
                    <a:lnTo>
                      <a:pt x="91" y="107"/>
                    </a:lnTo>
                    <a:lnTo>
                      <a:pt x="89" y="110"/>
                    </a:lnTo>
                    <a:lnTo>
                      <a:pt x="86" y="113"/>
                    </a:lnTo>
                    <a:lnTo>
                      <a:pt x="83" y="118"/>
                    </a:lnTo>
                    <a:lnTo>
                      <a:pt x="80" y="123"/>
                    </a:lnTo>
                    <a:lnTo>
                      <a:pt x="76" y="129"/>
                    </a:lnTo>
                    <a:lnTo>
                      <a:pt x="74" y="138"/>
                    </a:lnTo>
                    <a:lnTo>
                      <a:pt x="72" y="147"/>
                    </a:lnTo>
                    <a:lnTo>
                      <a:pt x="71" y="158"/>
                    </a:lnTo>
                    <a:lnTo>
                      <a:pt x="37" y="158"/>
                    </a:lnTo>
                    <a:lnTo>
                      <a:pt x="37" y="147"/>
                    </a:lnTo>
                    <a:lnTo>
                      <a:pt x="35" y="138"/>
                    </a:lnTo>
                    <a:lnTo>
                      <a:pt x="33" y="129"/>
                    </a:lnTo>
                    <a:lnTo>
                      <a:pt x="29" y="123"/>
                    </a:lnTo>
                    <a:lnTo>
                      <a:pt x="26" y="118"/>
                    </a:lnTo>
                    <a:lnTo>
                      <a:pt x="23" y="113"/>
                    </a:lnTo>
                    <a:lnTo>
                      <a:pt x="20" y="110"/>
                    </a:lnTo>
                    <a:lnTo>
                      <a:pt x="18" y="107"/>
                    </a:lnTo>
                    <a:lnTo>
                      <a:pt x="15" y="104"/>
                    </a:lnTo>
                    <a:lnTo>
                      <a:pt x="11" y="98"/>
                    </a:lnTo>
                    <a:lnTo>
                      <a:pt x="8" y="93"/>
                    </a:lnTo>
                    <a:lnTo>
                      <a:pt x="5" y="88"/>
                    </a:lnTo>
                    <a:lnTo>
                      <a:pt x="3" y="82"/>
                    </a:lnTo>
                    <a:lnTo>
                      <a:pt x="1" y="76"/>
                    </a:lnTo>
                    <a:lnTo>
                      <a:pt x="0" y="71"/>
                    </a:lnTo>
                    <a:lnTo>
                      <a:pt x="0" y="64"/>
                    </a:lnTo>
                    <a:lnTo>
                      <a:pt x="0" y="58"/>
                    </a:lnTo>
                    <a:lnTo>
                      <a:pt x="1" y="52"/>
                    </a:lnTo>
                    <a:lnTo>
                      <a:pt x="2" y="46"/>
                    </a:lnTo>
                    <a:lnTo>
                      <a:pt x="4" y="40"/>
                    </a:lnTo>
                    <a:lnTo>
                      <a:pt x="6" y="34"/>
                    </a:lnTo>
                    <a:lnTo>
                      <a:pt x="8" y="29"/>
                    </a:lnTo>
                    <a:lnTo>
                      <a:pt x="11" y="24"/>
                    </a:lnTo>
                    <a:lnTo>
                      <a:pt x="15" y="19"/>
                    </a:lnTo>
                    <a:lnTo>
                      <a:pt x="18" y="15"/>
                    </a:lnTo>
                    <a:lnTo>
                      <a:pt x="22" y="12"/>
                    </a:lnTo>
                    <a:lnTo>
                      <a:pt x="27" y="9"/>
                    </a:lnTo>
                    <a:lnTo>
                      <a:pt x="32" y="5"/>
                    </a:lnTo>
                    <a:lnTo>
                      <a:pt x="37" y="3"/>
                    </a:lnTo>
                    <a:lnTo>
                      <a:pt x="42" y="1"/>
                    </a:lnTo>
                    <a:lnTo>
                      <a:pt x="49" y="0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91" name="Freeform 888"/>
              <p:cNvSpPr>
                <a:spLocks/>
              </p:cNvSpPr>
              <p:nvPr/>
            </p:nvSpPr>
            <p:spPr bwMode="auto">
              <a:xfrm>
                <a:off x="2638" y="1896"/>
                <a:ext cx="107" cy="157"/>
              </a:xfrm>
              <a:custGeom>
                <a:avLst/>
                <a:gdLst>
                  <a:gd name="T0" fmla="*/ 70 w 107"/>
                  <a:gd name="T1" fmla="*/ 146 h 157"/>
                  <a:gd name="T2" fmla="*/ 74 w 107"/>
                  <a:gd name="T3" fmla="*/ 128 h 157"/>
                  <a:gd name="T4" fmla="*/ 80 w 107"/>
                  <a:gd name="T5" fmla="*/ 118 h 157"/>
                  <a:gd name="T6" fmla="*/ 86 w 107"/>
                  <a:gd name="T7" fmla="*/ 109 h 157"/>
                  <a:gd name="T8" fmla="*/ 92 w 107"/>
                  <a:gd name="T9" fmla="*/ 103 h 157"/>
                  <a:gd name="T10" fmla="*/ 98 w 107"/>
                  <a:gd name="T11" fmla="*/ 93 h 157"/>
                  <a:gd name="T12" fmla="*/ 103 w 107"/>
                  <a:gd name="T13" fmla="*/ 82 h 157"/>
                  <a:gd name="T14" fmla="*/ 107 w 107"/>
                  <a:gd name="T15" fmla="*/ 71 h 157"/>
                  <a:gd name="T16" fmla="*/ 107 w 107"/>
                  <a:gd name="T17" fmla="*/ 58 h 157"/>
                  <a:gd name="T18" fmla="*/ 104 w 107"/>
                  <a:gd name="T19" fmla="*/ 46 h 157"/>
                  <a:gd name="T20" fmla="*/ 100 w 107"/>
                  <a:gd name="T21" fmla="*/ 34 h 157"/>
                  <a:gd name="T22" fmla="*/ 95 w 107"/>
                  <a:gd name="T23" fmla="*/ 25 h 157"/>
                  <a:gd name="T24" fmla="*/ 87 w 107"/>
                  <a:gd name="T25" fmla="*/ 15 h 157"/>
                  <a:gd name="T26" fmla="*/ 79 w 107"/>
                  <a:gd name="T27" fmla="*/ 9 h 157"/>
                  <a:gd name="T28" fmla="*/ 69 w 107"/>
                  <a:gd name="T29" fmla="*/ 3 h 157"/>
                  <a:gd name="T30" fmla="*/ 58 w 107"/>
                  <a:gd name="T31" fmla="*/ 0 h 157"/>
                  <a:gd name="T32" fmla="*/ 47 w 107"/>
                  <a:gd name="T33" fmla="*/ 0 h 157"/>
                  <a:gd name="T34" fmla="*/ 36 w 107"/>
                  <a:gd name="T35" fmla="*/ 3 h 157"/>
                  <a:gd name="T36" fmla="*/ 26 w 107"/>
                  <a:gd name="T37" fmla="*/ 9 h 157"/>
                  <a:gd name="T38" fmla="*/ 18 w 107"/>
                  <a:gd name="T39" fmla="*/ 15 h 157"/>
                  <a:gd name="T40" fmla="*/ 10 w 107"/>
                  <a:gd name="T41" fmla="*/ 25 h 157"/>
                  <a:gd name="T42" fmla="*/ 6 w 107"/>
                  <a:gd name="T43" fmla="*/ 34 h 157"/>
                  <a:gd name="T44" fmla="*/ 2 w 107"/>
                  <a:gd name="T45" fmla="*/ 46 h 157"/>
                  <a:gd name="T46" fmla="*/ 0 w 107"/>
                  <a:gd name="T47" fmla="*/ 58 h 157"/>
                  <a:gd name="T48" fmla="*/ 0 w 107"/>
                  <a:gd name="T49" fmla="*/ 71 h 157"/>
                  <a:gd name="T50" fmla="*/ 3 w 107"/>
                  <a:gd name="T51" fmla="*/ 82 h 157"/>
                  <a:gd name="T52" fmla="*/ 8 w 107"/>
                  <a:gd name="T53" fmla="*/ 93 h 157"/>
                  <a:gd name="T54" fmla="*/ 15 w 107"/>
                  <a:gd name="T55" fmla="*/ 103 h 157"/>
                  <a:gd name="T56" fmla="*/ 20 w 107"/>
                  <a:gd name="T57" fmla="*/ 109 h 157"/>
                  <a:gd name="T58" fmla="*/ 26 w 107"/>
                  <a:gd name="T59" fmla="*/ 118 h 157"/>
                  <a:gd name="T60" fmla="*/ 32 w 107"/>
                  <a:gd name="T61" fmla="*/ 128 h 157"/>
                  <a:gd name="T62" fmla="*/ 36 w 107"/>
                  <a:gd name="T63" fmla="*/ 146 h 157"/>
                  <a:gd name="T64" fmla="*/ 70 w 107"/>
                  <a:gd name="T65" fmla="*/ 157 h 15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157"/>
                  <a:gd name="T101" fmla="*/ 107 w 107"/>
                  <a:gd name="T102" fmla="*/ 157 h 15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157">
                    <a:moveTo>
                      <a:pt x="70" y="157"/>
                    </a:moveTo>
                    <a:lnTo>
                      <a:pt x="70" y="146"/>
                    </a:lnTo>
                    <a:lnTo>
                      <a:pt x="72" y="137"/>
                    </a:lnTo>
                    <a:lnTo>
                      <a:pt x="74" y="128"/>
                    </a:lnTo>
                    <a:lnTo>
                      <a:pt x="78" y="122"/>
                    </a:lnTo>
                    <a:lnTo>
                      <a:pt x="80" y="118"/>
                    </a:lnTo>
                    <a:lnTo>
                      <a:pt x="83" y="112"/>
                    </a:lnTo>
                    <a:lnTo>
                      <a:pt x="86" y="109"/>
                    </a:lnTo>
                    <a:lnTo>
                      <a:pt x="88" y="107"/>
                    </a:lnTo>
                    <a:lnTo>
                      <a:pt x="92" y="103"/>
                    </a:lnTo>
                    <a:lnTo>
                      <a:pt x="95" y="97"/>
                    </a:lnTo>
                    <a:lnTo>
                      <a:pt x="98" y="93"/>
                    </a:lnTo>
                    <a:lnTo>
                      <a:pt x="100" y="88"/>
                    </a:lnTo>
                    <a:lnTo>
                      <a:pt x="103" y="82"/>
                    </a:lnTo>
                    <a:lnTo>
                      <a:pt x="104" y="77"/>
                    </a:lnTo>
                    <a:lnTo>
                      <a:pt x="107" y="71"/>
                    </a:lnTo>
                    <a:lnTo>
                      <a:pt x="107" y="64"/>
                    </a:lnTo>
                    <a:lnTo>
                      <a:pt x="107" y="58"/>
                    </a:lnTo>
                    <a:lnTo>
                      <a:pt x="105" y="52"/>
                    </a:lnTo>
                    <a:lnTo>
                      <a:pt x="104" y="46"/>
                    </a:lnTo>
                    <a:lnTo>
                      <a:pt x="102" y="40"/>
                    </a:lnTo>
                    <a:lnTo>
                      <a:pt x="100" y="34"/>
                    </a:lnTo>
                    <a:lnTo>
                      <a:pt x="98" y="29"/>
                    </a:lnTo>
                    <a:lnTo>
                      <a:pt x="95" y="25"/>
                    </a:lnTo>
                    <a:lnTo>
                      <a:pt x="91" y="19"/>
                    </a:lnTo>
                    <a:lnTo>
                      <a:pt x="87" y="15"/>
                    </a:lnTo>
                    <a:lnTo>
                      <a:pt x="83" y="12"/>
                    </a:lnTo>
                    <a:lnTo>
                      <a:pt x="79" y="9"/>
                    </a:lnTo>
                    <a:lnTo>
                      <a:pt x="74" y="5"/>
                    </a:lnTo>
                    <a:lnTo>
                      <a:pt x="69" y="3"/>
                    </a:lnTo>
                    <a:lnTo>
                      <a:pt x="64" y="1"/>
                    </a:lnTo>
                    <a:lnTo>
                      <a:pt x="58" y="0"/>
                    </a:lnTo>
                    <a:lnTo>
                      <a:pt x="53" y="0"/>
                    </a:lnTo>
                    <a:lnTo>
                      <a:pt x="47" y="0"/>
                    </a:lnTo>
                    <a:lnTo>
                      <a:pt x="41" y="1"/>
                    </a:lnTo>
                    <a:lnTo>
                      <a:pt x="36" y="3"/>
                    </a:lnTo>
                    <a:lnTo>
                      <a:pt x="31" y="5"/>
                    </a:lnTo>
                    <a:lnTo>
                      <a:pt x="26" y="9"/>
                    </a:lnTo>
                    <a:lnTo>
                      <a:pt x="22" y="12"/>
                    </a:lnTo>
                    <a:lnTo>
                      <a:pt x="18" y="15"/>
                    </a:lnTo>
                    <a:lnTo>
                      <a:pt x="14" y="19"/>
                    </a:lnTo>
                    <a:lnTo>
                      <a:pt x="10" y="25"/>
                    </a:lnTo>
                    <a:lnTo>
                      <a:pt x="8" y="29"/>
                    </a:lnTo>
                    <a:lnTo>
                      <a:pt x="6" y="34"/>
                    </a:lnTo>
                    <a:lnTo>
                      <a:pt x="3" y="40"/>
                    </a:lnTo>
                    <a:lnTo>
                      <a:pt x="2" y="46"/>
                    </a:lnTo>
                    <a:lnTo>
                      <a:pt x="1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0" y="71"/>
                    </a:lnTo>
                    <a:lnTo>
                      <a:pt x="2" y="77"/>
                    </a:lnTo>
                    <a:lnTo>
                      <a:pt x="3" y="82"/>
                    </a:lnTo>
                    <a:lnTo>
                      <a:pt x="6" y="88"/>
                    </a:lnTo>
                    <a:lnTo>
                      <a:pt x="8" y="93"/>
                    </a:lnTo>
                    <a:lnTo>
                      <a:pt x="11" y="97"/>
                    </a:lnTo>
                    <a:lnTo>
                      <a:pt x="15" y="103"/>
                    </a:lnTo>
                    <a:lnTo>
                      <a:pt x="18" y="107"/>
                    </a:lnTo>
                    <a:lnTo>
                      <a:pt x="20" y="109"/>
                    </a:lnTo>
                    <a:lnTo>
                      <a:pt x="23" y="112"/>
                    </a:lnTo>
                    <a:lnTo>
                      <a:pt x="26" y="118"/>
                    </a:lnTo>
                    <a:lnTo>
                      <a:pt x="29" y="122"/>
                    </a:lnTo>
                    <a:lnTo>
                      <a:pt x="32" y="128"/>
                    </a:lnTo>
                    <a:lnTo>
                      <a:pt x="34" y="137"/>
                    </a:lnTo>
                    <a:lnTo>
                      <a:pt x="36" y="146"/>
                    </a:lnTo>
                    <a:lnTo>
                      <a:pt x="36" y="157"/>
                    </a:lnTo>
                    <a:lnTo>
                      <a:pt x="70" y="15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92" name="Freeform 889"/>
              <p:cNvSpPr>
                <a:spLocks/>
              </p:cNvSpPr>
              <p:nvPr/>
            </p:nvSpPr>
            <p:spPr bwMode="auto">
              <a:xfrm>
                <a:off x="2654" y="1913"/>
                <a:ext cx="72" cy="52"/>
              </a:xfrm>
              <a:custGeom>
                <a:avLst/>
                <a:gdLst>
                  <a:gd name="T0" fmla="*/ 61 w 72"/>
                  <a:gd name="T1" fmla="*/ 52 h 52"/>
                  <a:gd name="T2" fmla="*/ 72 w 72"/>
                  <a:gd name="T3" fmla="*/ 19 h 52"/>
                  <a:gd name="T4" fmla="*/ 46 w 72"/>
                  <a:gd name="T5" fmla="*/ 35 h 52"/>
                  <a:gd name="T6" fmla="*/ 35 w 72"/>
                  <a:gd name="T7" fmla="*/ 0 h 52"/>
                  <a:gd name="T8" fmla="*/ 26 w 72"/>
                  <a:gd name="T9" fmla="*/ 35 h 52"/>
                  <a:gd name="T10" fmla="*/ 0 w 72"/>
                  <a:gd name="T11" fmla="*/ 21 h 52"/>
                  <a:gd name="T12" fmla="*/ 10 w 72"/>
                  <a:gd name="T13" fmla="*/ 52 h 52"/>
                  <a:gd name="T14" fmla="*/ 19 w 72"/>
                  <a:gd name="T15" fmla="*/ 52 h 52"/>
                  <a:gd name="T16" fmla="*/ 13 w 72"/>
                  <a:gd name="T17" fmla="*/ 33 h 52"/>
                  <a:gd name="T18" fmla="*/ 27 w 72"/>
                  <a:gd name="T19" fmla="*/ 41 h 52"/>
                  <a:gd name="T20" fmla="*/ 35 w 72"/>
                  <a:gd name="T21" fmla="*/ 23 h 52"/>
                  <a:gd name="T22" fmla="*/ 44 w 72"/>
                  <a:gd name="T23" fmla="*/ 41 h 52"/>
                  <a:gd name="T24" fmla="*/ 58 w 72"/>
                  <a:gd name="T25" fmla="*/ 33 h 52"/>
                  <a:gd name="T26" fmla="*/ 53 w 72"/>
                  <a:gd name="T27" fmla="*/ 52 h 52"/>
                  <a:gd name="T28" fmla="*/ 61 w 72"/>
                  <a:gd name="T29" fmla="*/ 52 h 5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2"/>
                  <a:gd name="T46" fmla="*/ 0 h 52"/>
                  <a:gd name="T47" fmla="*/ 72 w 72"/>
                  <a:gd name="T48" fmla="*/ 52 h 5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2" h="52">
                    <a:moveTo>
                      <a:pt x="61" y="52"/>
                    </a:moveTo>
                    <a:lnTo>
                      <a:pt x="72" y="19"/>
                    </a:lnTo>
                    <a:lnTo>
                      <a:pt x="46" y="35"/>
                    </a:lnTo>
                    <a:lnTo>
                      <a:pt x="35" y="0"/>
                    </a:lnTo>
                    <a:lnTo>
                      <a:pt x="26" y="35"/>
                    </a:lnTo>
                    <a:lnTo>
                      <a:pt x="0" y="21"/>
                    </a:lnTo>
                    <a:lnTo>
                      <a:pt x="10" y="52"/>
                    </a:lnTo>
                    <a:lnTo>
                      <a:pt x="19" y="52"/>
                    </a:lnTo>
                    <a:lnTo>
                      <a:pt x="13" y="33"/>
                    </a:lnTo>
                    <a:lnTo>
                      <a:pt x="27" y="41"/>
                    </a:lnTo>
                    <a:lnTo>
                      <a:pt x="35" y="23"/>
                    </a:lnTo>
                    <a:lnTo>
                      <a:pt x="44" y="41"/>
                    </a:lnTo>
                    <a:lnTo>
                      <a:pt x="58" y="33"/>
                    </a:lnTo>
                    <a:lnTo>
                      <a:pt x="53" y="52"/>
                    </a:lnTo>
                    <a:lnTo>
                      <a:pt x="61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93" name="Freeform 890"/>
              <p:cNvSpPr>
                <a:spLocks/>
              </p:cNvSpPr>
              <p:nvPr/>
            </p:nvSpPr>
            <p:spPr bwMode="auto">
              <a:xfrm>
                <a:off x="2655" y="1914"/>
                <a:ext cx="71" cy="49"/>
              </a:xfrm>
              <a:custGeom>
                <a:avLst/>
                <a:gdLst>
                  <a:gd name="T0" fmla="*/ 35 w 71"/>
                  <a:gd name="T1" fmla="*/ 0 h 49"/>
                  <a:gd name="T2" fmla="*/ 45 w 71"/>
                  <a:gd name="T3" fmla="*/ 34 h 49"/>
                  <a:gd name="T4" fmla="*/ 71 w 71"/>
                  <a:gd name="T5" fmla="*/ 20 h 49"/>
                  <a:gd name="T6" fmla="*/ 61 w 71"/>
                  <a:gd name="T7" fmla="*/ 49 h 49"/>
                  <a:gd name="T8" fmla="*/ 52 w 71"/>
                  <a:gd name="T9" fmla="*/ 49 h 49"/>
                  <a:gd name="T10" fmla="*/ 59 w 71"/>
                  <a:gd name="T11" fmla="*/ 32 h 49"/>
                  <a:gd name="T12" fmla="*/ 44 w 71"/>
                  <a:gd name="T13" fmla="*/ 40 h 49"/>
                  <a:gd name="T14" fmla="*/ 35 w 71"/>
                  <a:gd name="T15" fmla="*/ 22 h 49"/>
                  <a:gd name="T16" fmla="*/ 26 w 71"/>
                  <a:gd name="T17" fmla="*/ 40 h 49"/>
                  <a:gd name="T18" fmla="*/ 12 w 71"/>
                  <a:gd name="T19" fmla="*/ 32 h 49"/>
                  <a:gd name="T20" fmla="*/ 18 w 71"/>
                  <a:gd name="T21" fmla="*/ 49 h 49"/>
                  <a:gd name="T22" fmla="*/ 9 w 71"/>
                  <a:gd name="T23" fmla="*/ 49 h 49"/>
                  <a:gd name="T24" fmla="*/ 0 w 71"/>
                  <a:gd name="T25" fmla="*/ 21 h 49"/>
                  <a:gd name="T26" fmla="*/ 25 w 71"/>
                  <a:gd name="T27" fmla="*/ 34 h 49"/>
                  <a:gd name="T28" fmla="*/ 35 w 71"/>
                  <a:gd name="T29" fmla="*/ 0 h 4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1"/>
                  <a:gd name="T46" fmla="*/ 0 h 49"/>
                  <a:gd name="T47" fmla="*/ 71 w 71"/>
                  <a:gd name="T48" fmla="*/ 49 h 4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1" h="49">
                    <a:moveTo>
                      <a:pt x="35" y="0"/>
                    </a:moveTo>
                    <a:lnTo>
                      <a:pt x="45" y="34"/>
                    </a:lnTo>
                    <a:lnTo>
                      <a:pt x="71" y="20"/>
                    </a:lnTo>
                    <a:lnTo>
                      <a:pt x="61" y="49"/>
                    </a:lnTo>
                    <a:lnTo>
                      <a:pt x="52" y="49"/>
                    </a:lnTo>
                    <a:lnTo>
                      <a:pt x="59" y="32"/>
                    </a:lnTo>
                    <a:lnTo>
                      <a:pt x="44" y="40"/>
                    </a:lnTo>
                    <a:lnTo>
                      <a:pt x="35" y="22"/>
                    </a:lnTo>
                    <a:lnTo>
                      <a:pt x="26" y="40"/>
                    </a:lnTo>
                    <a:lnTo>
                      <a:pt x="12" y="32"/>
                    </a:lnTo>
                    <a:lnTo>
                      <a:pt x="18" y="49"/>
                    </a:lnTo>
                    <a:lnTo>
                      <a:pt x="9" y="49"/>
                    </a:lnTo>
                    <a:lnTo>
                      <a:pt x="0" y="21"/>
                    </a:lnTo>
                    <a:lnTo>
                      <a:pt x="25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94" name="Freeform 891"/>
              <p:cNvSpPr>
                <a:spLocks/>
              </p:cNvSpPr>
              <p:nvPr/>
            </p:nvSpPr>
            <p:spPr bwMode="auto">
              <a:xfrm>
                <a:off x="2655" y="1916"/>
                <a:ext cx="70" cy="46"/>
              </a:xfrm>
              <a:custGeom>
                <a:avLst/>
                <a:gdLst>
                  <a:gd name="T0" fmla="*/ 35 w 70"/>
                  <a:gd name="T1" fmla="*/ 0 h 46"/>
                  <a:gd name="T2" fmla="*/ 45 w 70"/>
                  <a:gd name="T3" fmla="*/ 34 h 46"/>
                  <a:gd name="T4" fmla="*/ 70 w 70"/>
                  <a:gd name="T5" fmla="*/ 18 h 46"/>
                  <a:gd name="T6" fmla="*/ 61 w 70"/>
                  <a:gd name="T7" fmla="*/ 46 h 46"/>
                  <a:gd name="T8" fmla="*/ 52 w 70"/>
                  <a:gd name="T9" fmla="*/ 46 h 46"/>
                  <a:gd name="T10" fmla="*/ 59 w 70"/>
                  <a:gd name="T11" fmla="*/ 30 h 46"/>
                  <a:gd name="T12" fmla="*/ 44 w 70"/>
                  <a:gd name="T13" fmla="*/ 38 h 46"/>
                  <a:gd name="T14" fmla="*/ 35 w 70"/>
                  <a:gd name="T15" fmla="*/ 20 h 46"/>
                  <a:gd name="T16" fmla="*/ 26 w 70"/>
                  <a:gd name="T17" fmla="*/ 38 h 46"/>
                  <a:gd name="T18" fmla="*/ 10 w 70"/>
                  <a:gd name="T19" fmla="*/ 30 h 46"/>
                  <a:gd name="T20" fmla="*/ 17 w 70"/>
                  <a:gd name="T21" fmla="*/ 46 h 46"/>
                  <a:gd name="T22" fmla="*/ 9 w 70"/>
                  <a:gd name="T23" fmla="*/ 46 h 46"/>
                  <a:gd name="T24" fmla="*/ 0 w 70"/>
                  <a:gd name="T25" fmla="*/ 20 h 46"/>
                  <a:gd name="T26" fmla="*/ 25 w 70"/>
                  <a:gd name="T27" fmla="*/ 34 h 46"/>
                  <a:gd name="T28" fmla="*/ 35 w 70"/>
                  <a:gd name="T29" fmla="*/ 0 h 4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0"/>
                  <a:gd name="T46" fmla="*/ 0 h 46"/>
                  <a:gd name="T47" fmla="*/ 70 w 70"/>
                  <a:gd name="T48" fmla="*/ 46 h 4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0" h="46">
                    <a:moveTo>
                      <a:pt x="35" y="0"/>
                    </a:moveTo>
                    <a:lnTo>
                      <a:pt x="45" y="34"/>
                    </a:lnTo>
                    <a:lnTo>
                      <a:pt x="70" y="18"/>
                    </a:lnTo>
                    <a:lnTo>
                      <a:pt x="61" y="46"/>
                    </a:lnTo>
                    <a:lnTo>
                      <a:pt x="52" y="46"/>
                    </a:lnTo>
                    <a:lnTo>
                      <a:pt x="59" y="30"/>
                    </a:lnTo>
                    <a:lnTo>
                      <a:pt x="44" y="38"/>
                    </a:lnTo>
                    <a:lnTo>
                      <a:pt x="35" y="20"/>
                    </a:lnTo>
                    <a:lnTo>
                      <a:pt x="26" y="38"/>
                    </a:lnTo>
                    <a:lnTo>
                      <a:pt x="10" y="30"/>
                    </a:lnTo>
                    <a:lnTo>
                      <a:pt x="17" y="46"/>
                    </a:lnTo>
                    <a:lnTo>
                      <a:pt x="9" y="46"/>
                    </a:lnTo>
                    <a:lnTo>
                      <a:pt x="0" y="20"/>
                    </a:lnTo>
                    <a:lnTo>
                      <a:pt x="25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E8E8E8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95" name="Freeform 892"/>
              <p:cNvSpPr>
                <a:spLocks/>
              </p:cNvSpPr>
              <p:nvPr/>
            </p:nvSpPr>
            <p:spPr bwMode="auto">
              <a:xfrm>
                <a:off x="2656" y="1917"/>
                <a:ext cx="68" cy="44"/>
              </a:xfrm>
              <a:custGeom>
                <a:avLst/>
                <a:gdLst>
                  <a:gd name="T0" fmla="*/ 33 w 68"/>
                  <a:gd name="T1" fmla="*/ 0 h 44"/>
                  <a:gd name="T2" fmla="*/ 44 w 68"/>
                  <a:gd name="T3" fmla="*/ 33 h 44"/>
                  <a:gd name="T4" fmla="*/ 68 w 68"/>
                  <a:gd name="T5" fmla="*/ 18 h 44"/>
                  <a:gd name="T6" fmla="*/ 59 w 68"/>
                  <a:gd name="T7" fmla="*/ 44 h 44"/>
                  <a:gd name="T8" fmla="*/ 52 w 68"/>
                  <a:gd name="T9" fmla="*/ 44 h 44"/>
                  <a:gd name="T10" fmla="*/ 56 w 68"/>
                  <a:gd name="T11" fmla="*/ 29 h 44"/>
                  <a:gd name="T12" fmla="*/ 42 w 68"/>
                  <a:gd name="T13" fmla="*/ 37 h 44"/>
                  <a:gd name="T14" fmla="*/ 33 w 68"/>
                  <a:gd name="T15" fmla="*/ 19 h 44"/>
                  <a:gd name="T16" fmla="*/ 25 w 68"/>
                  <a:gd name="T17" fmla="*/ 37 h 44"/>
                  <a:gd name="T18" fmla="*/ 9 w 68"/>
                  <a:gd name="T19" fmla="*/ 29 h 44"/>
                  <a:gd name="T20" fmla="*/ 16 w 68"/>
                  <a:gd name="T21" fmla="*/ 44 h 44"/>
                  <a:gd name="T22" fmla="*/ 8 w 68"/>
                  <a:gd name="T23" fmla="*/ 44 h 44"/>
                  <a:gd name="T24" fmla="*/ 0 w 68"/>
                  <a:gd name="T25" fmla="*/ 19 h 44"/>
                  <a:gd name="T26" fmla="*/ 24 w 68"/>
                  <a:gd name="T27" fmla="*/ 33 h 44"/>
                  <a:gd name="T28" fmla="*/ 33 w 68"/>
                  <a:gd name="T29" fmla="*/ 0 h 4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8"/>
                  <a:gd name="T46" fmla="*/ 0 h 44"/>
                  <a:gd name="T47" fmla="*/ 68 w 68"/>
                  <a:gd name="T48" fmla="*/ 44 h 4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8" h="44">
                    <a:moveTo>
                      <a:pt x="33" y="0"/>
                    </a:moveTo>
                    <a:lnTo>
                      <a:pt x="44" y="33"/>
                    </a:lnTo>
                    <a:lnTo>
                      <a:pt x="68" y="18"/>
                    </a:lnTo>
                    <a:lnTo>
                      <a:pt x="59" y="44"/>
                    </a:lnTo>
                    <a:lnTo>
                      <a:pt x="52" y="44"/>
                    </a:lnTo>
                    <a:lnTo>
                      <a:pt x="56" y="29"/>
                    </a:lnTo>
                    <a:lnTo>
                      <a:pt x="42" y="37"/>
                    </a:lnTo>
                    <a:lnTo>
                      <a:pt x="33" y="19"/>
                    </a:lnTo>
                    <a:lnTo>
                      <a:pt x="25" y="37"/>
                    </a:lnTo>
                    <a:lnTo>
                      <a:pt x="9" y="29"/>
                    </a:lnTo>
                    <a:lnTo>
                      <a:pt x="16" y="44"/>
                    </a:lnTo>
                    <a:lnTo>
                      <a:pt x="8" y="44"/>
                    </a:lnTo>
                    <a:lnTo>
                      <a:pt x="0" y="19"/>
                    </a:lnTo>
                    <a:lnTo>
                      <a:pt x="24" y="33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DBDBDB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96" name="Freeform 893"/>
              <p:cNvSpPr>
                <a:spLocks/>
              </p:cNvSpPr>
              <p:nvPr/>
            </p:nvSpPr>
            <p:spPr bwMode="auto">
              <a:xfrm>
                <a:off x="2657" y="1919"/>
                <a:ext cx="66" cy="41"/>
              </a:xfrm>
              <a:custGeom>
                <a:avLst/>
                <a:gdLst>
                  <a:gd name="T0" fmla="*/ 33 w 66"/>
                  <a:gd name="T1" fmla="*/ 0 h 41"/>
                  <a:gd name="T2" fmla="*/ 43 w 66"/>
                  <a:gd name="T3" fmla="*/ 31 h 41"/>
                  <a:gd name="T4" fmla="*/ 66 w 66"/>
                  <a:gd name="T5" fmla="*/ 17 h 41"/>
                  <a:gd name="T6" fmla="*/ 58 w 66"/>
                  <a:gd name="T7" fmla="*/ 41 h 41"/>
                  <a:gd name="T8" fmla="*/ 51 w 66"/>
                  <a:gd name="T9" fmla="*/ 41 h 41"/>
                  <a:gd name="T10" fmla="*/ 55 w 66"/>
                  <a:gd name="T11" fmla="*/ 27 h 41"/>
                  <a:gd name="T12" fmla="*/ 41 w 66"/>
                  <a:gd name="T13" fmla="*/ 35 h 41"/>
                  <a:gd name="T14" fmla="*/ 33 w 66"/>
                  <a:gd name="T15" fmla="*/ 17 h 41"/>
                  <a:gd name="T16" fmla="*/ 24 w 66"/>
                  <a:gd name="T17" fmla="*/ 35 h 41"/>
                  <a:gd name="T18" fmla="*/ 10 w 66"/>
                  <a:gd name="T19" fmla="*/ 27 h 41"/>
                  <a:gd name="T20" fmla="*/ 15 w 66"/>
                  <a:gd name="T21" fmla="*/ 41 h 41"/>
                  <a:gd name="T22" fmla="*/ 7 w 66"/>
                  <a:gd name="T23" fmla="*/ 41 h 41"/>
                  <a:gd name="T24" fmla="*/ 0 w 66"/>
                  <a:gd name="T25" fmla="*/ 18 h 41"/>
                  <a:gd name="T26" fmla="*/ 23 w 66"/>
                  <a:gd name="T27" fmla="*/ 31 h 41"/>
                  <a:gd name="T28" fmla="*/ 33 w 66"/>
                  <a:gd name="T29" fmla="*/ 0 h 4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6"/>
                  <a:gd name="T46" fmla="*/ 0 h 41"/>
                  <a:gd name="T47" fmla="*/ 66 w 66"/>
                  <a:gd name="T48" fmla="*/ 41 h 4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6" h="41">
                    <a:moveTo>
                      <a:pt x="33" y="0"/>
                    </a:moveTo>
                    <a:lnTo>
                      <a:pt x="43" y="31"/>
                    </a:lnTo>
                    <a:lnTo>
                      <a:pt x="66" y="17"/>
                    </a:lnTo>
                    <a:lnTo>
                      <a:pt x="58" y="41"/>
                    </a:lnTo>
                    <a:lnTo>
                      <a:pt x="51" y="41"/>
                    </a:lnTo>
                    <a:lnTo>
                      <a:pt x="55" y="27"/>
                    </a:lnTo>
                    <a:lnTo>
                      <a:pt x="41" y="35"/>
                    </a:lnTo>
                    <a:lnTo>
                      <a:pt x="33" y="17"/>
                    </a:lnTo>
                    <a:lnTo>
                      <a:pt x="24" y="35"/>
                    </a:lnTo>
                    <a:lnTo>
                      <a:pt x="10" y="27"/>
                    </a:lnTo>
                    <a:lnTo>
                      <a:pt x="15" y="41"/>
                    </a:lnTo>
                    <a:lnTo>
                      <a:pt x="7" y="41"/>
                    </a:lnTo>
                    <a:lnTo>
                      <a:pt x="0" y="18"/>
                    </a:lnTo>
                    <a:lnTo>
                      <a:pt x="23" y="31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D1D1D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97" name="Freeform 894"/>
              <p:cNvSpPr>
                <a:spLocks/>
              </p:cNvSpPr>
              <p:nvPr/>
            </p:nvSpPr>
            <p:spPr bwMode="auto">
              <a:xfrm>
                <a:off x="2657" y="1921"/>
                <a:ext cx="65" cy="38"/>
              </a:xfrm>
              <a:custGeom>
                <a:avLst/>
                <a:gdLst>
                  <a:gd name="T0" fmla="*/ 32 w 65"/>
                  <a:gd name="T1" fmla="*/ 0 h 38"/>
                  <a:gd name="T2" fmla="*/ 42 w 65"/>
                  <a:gd name="T3" fmla="*/ 29 h 38"/>
                  <a:gd name="T4" fmla="*/ 65 w 65"/>
                  <a:gd name="T5" fmla="*/ 16 h 38"/>
                  <a:gd name="T6" fmla="*/ 58 w 65"/>
                  <a:gd name="T7" fmla="*/ 38 h 38"/>
                  <a:gd name="T8" fmla="*/ 51 w 65"/>
                  <a:gd name="T9" fmla="*/ 38 h 38"/>
                  <a:gd name="T10" fmla="*/ 55 w 65"/>
                  <a:gd name="T11" fmla="*/ 25 h 38"/>
                  <a:gd name="T12" fmla="*/ 41 w 65"/>
                  <a:gd name="T13" fmla="*/ 33 h 38"/>
                  <a:gd name="T14" fmla="*/ 32 w 65"/>
                  <a:gd name="T15" fmla="*/ 15 h 38"/>
                  <a:gd name="T16" fmla="*/ 24 w 65"/>
                  <a:gd name="T17" fmla="*/ 33 h 38"/>
                  <a:gd name="T18" fmla="*/ 8 w 65"/>
                  <a:gd name="T19" fmla="*/ 25 h 38"/>
                  <a:gd name="T20" fmla="*/ 14 w 65"/>
                  <a:gd name="T21" fmla="*/ 38 h 38"/>
                  <a:gd name="T22" fmla="*/ 6 w 65"/>
                  <a:gd name="T23" fmla="*/ 38 h 38"/>
                  <a:gd name="T24" fmla="*/ 0 w 65"/>
                  <a:gd name="T25" fmla="*/ 17 h 38"/>
                  <a:gd name="T26" fmla="*/ 22 w 65"/>
                  <a:gd name="T27" fmla="*/ 30 h 38"/>
                  <a:gd name="T28" fmla="*/ 32 w 65"/>
                  <a:gd name="T29" fmla="*/ 0 h 3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5"/>
                  <a:gd name="T46" fmla="*/ 0 h 38"/>
                  <a:gd name="T47" fmla="*/ 65 w 65"/>
                  <a:gd name="T48" fmla="*/ 38 h 3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5" h="38">
                    <a:moveTo>
                      <a:pt x="32" y="0"/>
                    </a:moveTo>
                    <a:lnTo>
                      <a:pt x="42" y="29"/>
                    </a:lnTo>
                    <a:lnTo>
                      <a:pt x="65" y="16"/>
                    </a:lnTo>
                    <a:lnTo>
                      <a:pt x="58" y="38"/>
                    </a:lnTo>
                    <a:lnTo>
                      <a:pt x="51" y="38"/>
                    </a:lnTo>
                    <a:lnTo>
                      <a:pt x="55" y="25"/>
                    </a:lnTo>
                    <a:lnTo>
                      <a:pt x="41" y="33"/>
                    </a:lnTo>
                    <a:lnTo>
                      <a:pt x="32" y="15"/>
                    </a:lnTo>
                    <a:lnTo>
                      <a:pt x="24" y="33"/>
                    </a:lnTo>
                    <a:lnTo>
                      <a:pt x="8" y="25"/>
                    </a:lnTo>
                    <a:lnTo>
                      <a:pt x="14" y="38"/>
                    </a:lnTo>
                    <a:lnTo>
                      <a:pt x="6" y="38"/>
                    </a:lnTo>
                    <a:lnTo>
                      <a:pt x="0" y="17"/>
                    </a:lnTo>
                    <a:lnTo>
                      <a:pt x="22" y="30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C4C4C4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98" name="Freeform 895"/>
              <p:cNvSpPr>
                <a:spLocks/>
              </p:cNvSpPr>
              <p:nvPr/>
            </p:nvSpPr>
            <p:spPr bwMode="auto">
              <a:xfrm>
                <a:off x="2658" y="1922"/>
                <a:ext cx="64" cy="36"/>
              </a:xfrm>
              <a:custGeom>
                <a:avLst/>
                <a:gdLst>
                  <a:gd name="T0" fmla="*/ 32 w 64"/>
                  <a:gd name="T1" fmla="*/ 0 h 36"/>
                  <a:gd name="T2" fmla="*/ 42 w 64"/>
                  <a:gd name="T3" fmla="*/ 28 h 36"/>
                  <a:gd name="T4" fmla="*/ 64 w 64"/>
                  <a:gd name="T5" fmla="*/ 16 h 36"/>
                  <a:gd name="T6" fmla="*/ 58 w 64"/>
                  <a:gd name="T7" fmla="*/ 36 h 36"/>
                  <a:gd name="T8" fmla="*/ 51 w 64"/>
                  <a:gd name="T9" fmla="*/ 36 h 36"/>
                  <a:gd name="T10" fmla="*/ 56 w 64"/>
                  <a:gd name="T11" fmla="*/ 24 h 36"/>
                  <a:gd name="T12" fmla="*/ 41 w 64"/>
                  <a:gd name="T13" fmla="*/ 32 h 36"/>
                  <a:gd name="T14" fmla="*/ 32 w 64"/>
                  <a:gd name="T15" fmla="*/ 14 h 36"/>
                  <a:gd name="T16" fmla="*/ 23 w 64"/>
                  <a:gd name="T17" fmla="*/ 32 h 36"/>
                  <a:gd name="T18" fmla="*/ 9 w 64"/>
                  <a:gd name="T19" fmla="*/ 24 h 36"/>
                  <a:gd name="T20" fmla="*/ 13 w 64"/>
                  <a:gd name="T21" fmla="*/ 36 h 36"/>
                  <a:gd name="T22" fmla="*/ 6 w 64"/>
                  <a:gd name="T23" fmla="*/ 36 h 36"/>
                  <a:gd name="T24" fmla="*/ 0 w 64"/>
                  <a:gd name="T25" fmla="*/ 16 h 36"/>
                  <a:gd name="T26" fmla="*/ 22 w 64"/>
                  <a:gd name="T27" fmla="*/ 29 h 36"/>
                  <a:gd name="T28" fmla="*/ 32 w 64"/>
                  <a:gd name="T29" fmla="*/ 0 h 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4"/>
                  <a:gd name="T46" fmla="*/ 0 h 36"/>
                  <a:gd name="T47" fmla="*/ 64 w 64"/>
                  <a:gd name="T48" fmla="*/ 36 h 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4" h="36">
                    <a:moveTo>
                      <a:pt x="32" y="0"/>
                    </a:moveTo>
                    <a:lnTo>
                      <a:pt x="42" y="28"/>
                    </a:lnTo>
                    <a:lnTo>
                      <a:pt x="64" y="16"/>
                    </a:lnTo>
                    <a:lnTo>
                      <a:pt x="58" y="36"/>
                    </a:lnTo>
                    <a:lnTo>
                      <a:pt x="51" y="36"/>
                    </a:lnTo>
                    <a:lnTo>
                      <a:pt x="56" y="24"/>
                    </a:lnTo>
                    <a:lnTo>
                      <a:pt x="41" y="32"/>
                    </a:lnTo>
                    <a:lnTo>
                      <a:pt x="32" y="14"/>
                    </a:lnTo>
                    <a:lnTo>
                      <a:pt x="23" y="32"/>
                    </a:lnTo>
                    <a:lnTo>
                      <a:pt x="9" y="24"/>
                    </a:lnTo>
                    <a:lnTo>
                      <a:pt x="13" y="36"/>
                    </a:lnTo>
                    <a:lnTo>
                      <a:pt x="6" y="36"/>
                    </a:lnTo>
                    <a:lnTo>
                      <a:pt x="0" y="16"/>
                    </a:lnTo>
                    <a:lnTo>
                      <a:pt x="22" y="29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B7B7B7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799" name="Freeform 896"/>
              <p:cNvSpPr>
                <a:spLocks/>
              </p:cNvSpPr>
              <p:nvPr/>
            </p:nvSpPr>
            <p:spPr bwMode="auto">
              <a:xfrm>
                <a:off x="2659" y="1923"/>
                <a:ext cx="62" cy="34"/>
              </a:xfrm>
              <a:custGeom>
                <a:avLst/>
                <a:gdLst>
                  <a:gd name="T0" fmla="*/ 31 w 62"/>
                  <a:gd name="T1" fmla="*/ 0 h 34"/>
                  <a:gd name="T2" fmla="*/ 41 w 62"/>
                  <a:gd name="T3" fmla="*/ 28 h 34"/>
                  <a:gd name="T4" fmla="*/ 62 w 62"/>
                  <a:gd name="T5" fmla="*/ 15 h 34"/>
                  <a:gd name="T6" fmla="*/ 56 w 62"/>
                  <a:gd name="T7" fmla="*/ 34 h 34"/>
                  <a:gd name="T8" fmla="*/ 50 w 62"/>
                  <a:gd name="T9" fmla="*/ 34 h 34"/>
                  <a:gd name="T10" fmla="*/ 55 w 62"/>
                  <a:gd name="T11" fmla="*/ 23 h 34"/>
                  <a:gd name="T12" fmla="*/ 40 w 62"/>
                  <a:gd name="T13" fmla="*/ 31 h 34"/>
                  <a:gd name="T14" fmla="*/ 31 w 62"/>
                  <a:gd name="T15" fmla="*/ 13 h 34"/>
                  <a:gd name="T16" fmla="*/ 22 w 62"/>
                  <a:gd name="T17" fmla="*/ 31 h 34"/>
                  <a:gd name="T18" fmla="*/ 8 w 62"/>
                  <a:gd name="T19" fmla="*/ 23 h 34"/>
                  <a:gd name="T20" fmla="*/ 12 w 62"/>
                  <a:gd name="T21" fmla="*/ 34 h 34"/>
                  <a:gd name="T22" fmla="*/ 6 w 62"/>
                  <a:gd name="T23" fmla="*/ 34 h 34"/>
                  <a:gd name="T24" fmla="*/ 0 w 62"/>
                  <a:gd name="T25" fmla="*/ 16 h 34"/>
                  <a:gd name="T26" fmla="*/ 21 w 62"/>
                  <a:gd name="T27" fmla="*/ 28 h 34"/>
                  <a:gd name="T28" fmla="*/ 31 w 62"/>
                  <a:gd name="T29" fmla="*/ 0 h 3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2"/>
                  <a:gd name="T46" fmla="*/ 0 h 34"/>
                  <a:gd name="T47" fmla="*/ 62 w 62"/>
                  <a:gd name="T48" fmla="*/ 34 h 3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2" h="34">
                    <a:moveTo>
                      <a:pt x="31" y="0"/>
                    </a:moveTo>
                    <a:lnTo>
                      <a:pt x="41" y="28"/>
                    </a:lnTo>
                    <a:lnTo>
                      <a:pt x="62" y="15"/>
                    </a:lnTo>
                    <a:lnTo>
                      <a:pt x="56" y="34"/>
                    </a:lnTo>
                    <a:lnTo>
                      <a:pt x="50" y="34"/>
                    </a:lnTo>
                    <a:lnTo>
                      <a:pt x="55" y="23"/>
                    </a:lnTo>
                    <a:lnTo>
                      <a:pt x="40" y="31"/>
                    </a:lnTo>
                    <a:lnTo>
                      <a:pt x="31" y="13"/>
                    </a:lnTo>
                    <a:lnTo>
                      <a:pt x="22" y="31"/>
                    </a:lnTo>
                    <a:lnTo>
                      <a:pt x="8" y="23"/>
                    </a:lnTo>
                    <a:lnTo>
                      <a:pt x="12" y="34"/>
                    </a:lnTo>
                    <a:lnTo>
                      <a:pt x="6" y="34"/>
                    </a:lnTo>
                    <a:lnTo>
                      <a:pt x="0" y="16"/>
                    </a:lnTo>
                    <a:lnTo>
                      <a:pt x="21" y="28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AAAAAA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800" name="Freeform 897"/>
              <p:cNvSpPr>
                <a:spLocks/>
              </p:cNvSpPr>
              <p:nvPr/>
            </p:nvSpPr>
            <p:spPr bwMode="auto">
              <a:xfrm>
                <a:off x="2659" y="1925"/>
                <a:ext cx="61" cy="32"/>
              </a:xfrm>
              <a:custGeom>
                <a:avLst/>
                <a:gdLst>
                  <a:gd name="T0" fmla="*/ 30 w 61"/>
                  <a:gd name="T1" fmla="*/ 0 h 32"/>
                  <a:gd name="T2" fmla="*/ 40 w 61"/>
                  <a:gd name="T3" fmla="*/ 27 h 32"/>
                  <a:gd name="T4" fmla="*/ 61 w 61"/>
                  <a:gd name="T5" fmla="*/ 15 h 32"/>
                  <a:gd name="T6" fmla="*/ 56 w 61"/>
                  <a:gd name="T7" fmla="*/ 32 h 32"/>
                  <a:gd name="T8" fmla="*/ 50 w 61"/>
                  <a:gd name="T9" fmla="*/ 32 h 32"/>
                  <a:gd name="T10" fmla="*/ 53 w 61"/>
                  <a:gd name="T11" fmla="*/ 21 h 32"/>
                  <a:gd name="T12" fmla="*/ 39 w 61"/>
                  <a:gd name="T13" fmla="*/ 29 h 32"/>
                  <a:gd name="T14" fmla="*/ 30 w 61"/>
                  <a:gd name="T15" fmla="*/ 12 h 32"/>
                  <a:gd name="T16" fmla="*/ 21 w 61"/>
                  <a:gd name="T17" fmla="*/ 29 h 32"/>
                  <a:gd name="T18" fmla="*/ 6 w 61"/>
                  <a:gd name="T19" fmla="*/ 21 h 32"/>
                  <a:gd name="T20" fmla="*/ 10 w 61"/>
                  <a:gd name="T21" fmla="*/ 32 h 32"/>
                  <a:gd name="T22" fmla="*/ 5 w 61"/>
                  <a:gd name="T23" fmla="*/ 32 h 32"/>
                  <a:gd name="T24" fmla="*/ 0 w 61"/>
                  <a:gd name="T25" fmla="*/ 15 h 32"/>
                  <a:gd name="T26" fmla="*/ 20 w 61"/>
                  <a:gd name="T27" fmla="*/ 27 h 32"/>
                  <a:gd name="T28" fmla="*/ 30 w 61"/>
                  <a:gd name="T29" fmla="*/ 0 h 3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1"/>
                  <a:gd name="T46" fmla="*/ 0 h 32"/>
                  <a:gd name="T47" fmla="*/ 61 w 61"/>
                  <a:gd name="T48" fmla="*/ 32 h 3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1" h="32">
                    <a:moveTo>
                      <a:pt x="30" y="0"/>
                    </a:moveTo>
                    <a:lnTo>
                      <a:pt x="40" y="27"/>
                    </a:lnTo>
                    <a:lnTo>
                      <a:pt x="61" y="15"/>
                    </a:lnTo>
                    <a:lnTo>
                      <a:pt x="56" y="32"/>
                    </a:lnTo>
                    <a:lnTo>
                      <a:pt x="50" y="32"/>
                    </a:lnTo>
                    <a:lnTo>
                      <a:pt x="53" y="21"/>
                    </a:lnTo>
                    <a:lnTo>
                      <a:pt x="39" y="29"/>
                    </a:lnTo>
                    <a:lnTo>
                      <a:pt x="30" y="12"/>
                    </a:lnTo>
                    <a:lnTo>
                      <a:pt x="21" y="29"/>
                    </a:lnTo>
                    <a:lnTo>
                      <a:pt x="6" y="21"/>
                    </a:lnTo>
                    <a:lnTo>
                      <a:pt x="10" y="32"/>
                    </a:lnTo>
                    <a:lnTo>
                      <a:pt x="5" y="32"/>
                    </a:lnTo>
                    <a:lnTo>
                      <a:pt x="0" y="15"/>
                    </a:lnTo>
                    <a:lnTo>
                      <a:pt x="20" y="27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A0A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801" name="Freeform 898"/>
              <p:cNvSpPr>
                <a:spLocks/>
              </p:cNvSpPr>
              <p:nvPr/>
            </p:nvSpPr>
            <p:spPr bwMode="auto">
              <a:xfrm>
                <a:off x="2660" y="1926"/>
                <a:ext cx="59" cy="29"/>
              </a:xfrm>
              <a:custGeom>
                <a:avLst/>
                <a:gdLst>
                  <a:gd name="T0" fmla="*/ 29 w 59"/>
                  <a:gd name="T1" fmla="*/ 0 h 29"/>
                  <a:gd name="T2" fmla="*/ 39 w 59"/>
                  <a:gd name="T3" fmla="*/ 25 h 29"/>
                  <a:gd name="T4" fmla="*/ 59 w 59"/>
                  <a:gd name="T5" fmla="*/ 14 h 29"/>
                  <a:gd name="T6" fmla="*/ 55 w 59"/>
                  <a:gd name="T7" fmla="*/ 29 h 29"/>
                  <a:gd name="T8" fmla="*/ 49 w 59"/>
                  <a:gd name="T9" fmla="*/ 29 h 29"/>
                  <a:gd name="T10" fmla="*/ 52 w 59"/>
                  <a:gd name="T11" fmla="*/ 20 h 29"/>
                  <a:gd name="T12" fmla="*/ 38 w 59"/>
                  <a:gd name="T13" fmla="*/ 27 h 29"/>
                  <a:gd name="T14" fmla="*/ 29 w 59"/>
                  <a:gd name="T15" fmla="*/ 10 h 29"/>
                  <a:gd name="T16" fmla="*/ 21 w 59"/>
                  <a:gd name="T17" fmla="*/ 27 h 29"/>
                  <a:gd name="T18" fmla="*/ 5 w 59"/>
                  <a:gd name="T19" fmla="*/ 20 h 29"/>
                  <a:gd name="T20" fmla="*/ 10 w 59"/>
                  <a:gd name="T21" fmla="*/ 29 h 29"/>
                  <a:gd name="T22" fmla="*/ 4 w 59"/>
                  <a:gd name="T23" fmla="*/ 29 h 29"/>
                  <a:gd name="T24" fmla="*/ 0 w 59"/>
                  <a:gd name="T25" fmla="*/ 14 h 29"/>
                  <a:gd name="T26" fmla="*/ 20 w 59"/>
                  <a:gd name="T27" fmla="*/ 25 h 29"/>
                  <a:gd name="T28" fmla="*/ 29 w 59"/>
                  <a:gd name="T29" fmla="*/ 0 h 2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9"/>
                  <a:gd name="T46" fmla="*/ 0 h 29"/>
                  <a:gd name="T47" fmla="*/ 59 w 59"/>
                  <a:gd name="T48" fmla="*/ 29 h 2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9" h="29">
                    <a:moveTo>
                      <a:pt x="29" y="0"/>
                    </a:moveTo>
                    <a:lnTo>
                      <a:pt x="39" y="25"/>
                    </a:lnTo>
                    <a:lnTo>
                      <a:pt x="59" y="14"/>
                    </a:lnTo>
                    <a:lnTo>
                      <a:pt x="55" y="29"/>
                    </a:lnTo>
                    <a:lnTo>
                      <a:pt x="49" y="29"/>
                    </a:lnTo>
                    <a:lnTo>
                      <a:pt x="52" y="20"/>
                    </a:lnTo>
                    <a:lnTo>
                      <a:pt x="38" y="27"/>
                    </a:lnTo>
                    <a:lnTo>
                      <a:pt x="29" y="10"/>
                    </a:lnTo>
                    <a:lnTo>
                      <a:pt x="21" y="27"/>
                    </a:lnTo>
                    <a:lnTo>
                      <a:pt x="5" y="20"/>
                    </a:lnTo>
                    <a:lnTo>
                      <a:pt x="10" y="29"/>
                    </a:lnTo>
                    <a:lnTo>
                      <a:pt x="4" y="29"/>
                    </a:lnTo>
                    <a:lnTo>
                      <a:pt x="0" y="14"/>
                    </a:lnTo>
                    <a:lnTo>
                      <a:pt x="20" y="25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93939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802" name="Freeform 899"/>
              <p:cNvSpPr>
                <a:spLocks/>
              </p:cNvSpPr>
              <p:nvPr/>
            </p:nvSpPr>
            <p:spPr bwMode="auto">
              <a:xfrm>
                <a:off x="2661" y="1927"/>
                <a:ext cx="57" cy="28"/>
              </a:xfrm>
              <a:custGeom>
                <a:avLst/>
                <a:gdLst>
                  <a:gd name="T0" fmla="*/ 28 w 57"/>
                  <a:gd name="T1" fmla="*/ 0 h 28"/>
                  <a:gd name="T2" fmla="*/ 39 w 57"/>
                  <a:gd name="T3" fmla="*/ 25 h 28"/>
                  <a:gd name="T4" fmla="*/ 57 w 57"/>
                  <a:gd name="T5" fmla="*/ 14 h 28"/>
                  <a:gd name="T6" fmla="*/ 54 w 57"/>
                  <a:gd name="T7" fmla="*/ 28 h 28"/>
                  <a:gd name="T8" fmla="*/ 49 w 57"/>
                  <a:gd name="T9" fmla="*/ 28 h 28"/>
                  <a:gd name="T10" fmla="*/ 51 w 57"/>
                  <a:gd name="T11" fmla="*/ 19 h 28"/>
                  <a:gd name="T12" fmla="*/ 37 w 57"/>
                  <a:gd name="T13" fmla="*/ 27 h 28"/>
                  <a:gd name="T14" fmla="*/ 28 w 57"/>
                  <a:gd name="T15" fmla="*/ 9 h 28"/>
                  <a:gd name="T16" fmla="*/ 20 w 57"/>
                  <a:gd name="T17" fmla="*/ 27 h 28"/>
                  <a:gd name="T18" fmla="*/ 6 w 57"/>
                  <a:gd name="T19" fmla="*/ 19 h 28"/>
                  <a:gd name="T20" fmla="*/ 9 w 57"/>
                  <a:gd name="T21" fmla="*/ 28 h 28"/>
                  <a:gd name="T22" fmla="*/ 3 w 57"/>
                  <a:gd name="T23" fmla="*/ 28 h 28"/>
                  <a:gd name="T24" fmla="*/ 0 w 57"/>
                  <a:gd name="T25" fmla="*/ 14 h 28"/>
                  <a:gd name="T26" fmla="*/ 19 w 57"/>
                  <a:gd name="T27" fmla="*/ 25 h 28"/>
                  <a:gd name="T28" fmla="*/ 28 w 57"/>
                  <a:gd name="T29" fmla="*/ 0 h 2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28"/>
                  <a:gd name="T47" fmla="*/ 57 w 57"/>
                  <a:gd name="T48" fmla="*/ 28 h 2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28">
                    <a:moveTo>
                      <a:pt x="28" y="0"/>
                    </a:moveTo>
                    <a:lnTo>
                      <a:pt x="39" y="25"/>
                    </a:lnTo>
                    <a:lnTo>
                      <a:pt x="57" y="14"/>
                    </a:lnTo>
                    <a:lnTo>
                      <a:pt x="54" y="28"/>
                    </a:lnTo>
                    <a:lnTo>
                      <a:pt x="49" y="28"/>
                    </a:lnTo>
                    <a:lnTo>
                      <a:pt x="51" y="19"/>
                    </a:lnTo>
                    <a:lnTo>
                      <a:pt x="37" y="27"/>
                    </a:lnTo>
                    <a:lnTo>
                      <a:pt x="28" y="9"/>
                    </a:lnTo>
                    <a:lnTo>
                      <a:pt x="20" y="27"/>
                    </a:lnTo>
                    <a:lnTo>
                      <a:pt x="6" y="19"/>
                    </a:lnTo>
                    <a:lnTo>
                      <a:pt x="9" y="28"/>
                    </a:lnTo>
                    <a:lnTo>
                      <a:pt x="3" y="28"/>
                    </a:lnTo>
                    <a:lnTo>
                      <a:pt x="0" y="14"/>
                    </a:lnTo>
                    <a:lnTo>
                      <a:pt x="19" y="25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89898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803" name="Freeform 900"/>
              <p:cNvSpPr>
                <a:spLocks/>
              </p:cNvSpPr>
              <p:nvPr/>
            </p:nvSpPr>
            <p:spPr bwMode="auto">
              <a:xfrm>
                <a:off x="2661" y="1928"/>
                <a:ext cx="57" cy="26"/>
              </a:xfrm>
              <a:custGeom>
                <a:avLst/>
                <a:gdLst>
                  <a:gd name="T0" fmla="*/ 28 w 57"/>
                  <a:gd name="T1" fmla="*/ 0 h 26"/>
                  <a:gd name="T2" fmla="*/ 39 w 57"/>
                  <a:gd name="T3" fmla="*/ 24 h 26"/>
                  <a:gd name="T4" fmla="*/ 57 w 57"/>
                  <a:gd name="T5" fmla="*/ 13 h 26"/>
                  <a:gd name="T6" fmla="*/ 54 w 57"/>
                  <a:gd name="T7" fmla="*/ 25 h 26"/>
                  <a:gd name="T8" fmla="*/ 50 w 57"/>
                  <a:gd name="T9" fmla="*/ 25 h 26"/>
                  <a:gd name="T10" fmla="*/ 53 w 57"/>
                  <a:gd name="T11" fmla="*/ 18 h 26"/>
                  <a:gd name="T12" fmla="*/ 38 w 57"/>
                  <a:gd name="T13" fmla="*/ 26 h 26"/>
                  <a:gd name="T14" fmla="*/ 28 w 57"/>
                  <a:gd name="T15" fmla="*/ 8 h 26"/>
                  <a:gd name="T16" fmla="*/ 20 w 57"/>
                  <a:gd name="T17" fmla="*/ 26 h 26"/>
                  <a:gd name="T18" fmla="*/ 4 w 57"/>
                  <a:gd name="T19" fmla="*/ 18 h 26"/>
                  <a:gd name="T20" fmla="*/ 8 w 57"/>
                  <a:gd name="T21" fmla="*/ 25 h 26"/>
                  <a:gd name="T22" fmla="*/ 3 w 57"/>
                  <a:gd name="T23" fmla="*/ 25 h 26"/>
                  <a:gd name="T24" fmla="*/ 0 w 57"/>
                  <a:gd name="T25" fmla="*/ 14 h 26"/>
                  <a:gd name="T26" fmla="*/ 19 w 57"/>
                  <a:gd name="T27" fmla="*/ 24 h 26"/>
                  <a:gd name="T28" fmla="*/ 28 w 57"/>
                  <a:gd name="T29" fmla="*/ 0 h 2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26"/>
                  <a:gd name="T47" fmla="*/ 57 w 57"/>
                  <a:gd name="T48" fmla="*/ 26 h 2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26">
                    <a:moveTo>
                      <a:pt x="28" y="0"/>
                    </a:moveTo>
                    <a:lnTo>
                      <a:pt x="39" y="24"/>
                    </a:lnTo>
                    <a:lnTo>
                      <a:pt x="57" y="13"/>
                    </a:lnTo>
                    <a:lnTo>
                      <a:pt x="54" y="25"/>
                    </a:lnTo>
                    <a:lnTo>
                      <a:pt x="50" y="25"/>
                    </a:lnTo>
                    <a:lnTo>
                      <a:pt x="53" y="18"/>
                    </a:lnTo>
                    <a:lnTo>
                      <a:pt x="38" y="26"/>
                    </a:lnTo>
                    <a:lnTo>
                      <a:pt x="28" y="8"/>
                    </a:lnTo>
                    <a:lnTo>
                      <a:pt x="20" y="26"/>
                    </a:lnTo>
                    <a:lnTo>
                      <a:pt x="4" y="18"/>
                    </a:lnTo>
                    <a:lnTo>
                      <a:pt x="8" y="25"/>
                    </a:lnTo>
                    <a:lnTo>
                      <a:pt x="3" y="25"/>
                    </a:lnTo>
                    <a:lnTo>
                      <a:pt x="0" y="14"/>
                    </a:lnTo>
                    <a:lnTo>
                      <a:pt x="19" y="24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C7C7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804" name="Freeform 901"/>
              <p:cNvSpPr>
                <a:spLocks/>
              </p:cNvSpPr>
              <p:nvPr/>
            </p:nvSpPr>
            <p:spPr bwMode="auto">
              <a:xfrm>
                <a:off x="2662" y="1929"/>
                <a:ext cx="55" cy="25"/>
              </a:xfrm>
              <a:custGeom>
                <a:avLst/>
                <a:gdLst>
                  <a:gd name="T0" fmla="*/ 28 w 55"/>
                  <a:gd name="T1" fmla="*/ 0 h 25"/>
                  <a:gd name="T2" fmla="*/ 38 w 55"/>
                  <a:gd name="T3" fmla="*/ 23 h 25"/>
                  <a:gd name="T4" fmla="*/ 55 w 55"/>
                  <a:gd name="T5" fmla="*/ 13 h 25"/>
                  <a:gd name="T6" fmla="*/ 53 w 55"/>
                  <a:gd name="T7" fmla="*/ 23 h 25"/>
                  <a:gd name="T8" fmla="*/ 49 w 55"/>
                  <a:gd name="T9" fmla="*/ 23 h 25"/>
                  <a:gd name="T10" fmla="*/ 52 w 55"/>
                  <a:gd name="T11" fmla="*/ 17 h 25"/>
                  <a:gd name="T12" fmla="*/ 37 w 55"/>
                  <a:gd name="T13" fmla="*/ 25 h 25"/>
                  <a:gd name="T14" fmla="*/ 28 w 55"/>
                  <a:gd name="T15" fmla="*/ 7 h 25"/>
                  <a:gd name="T16" fmla="*/ 19 w 55"/>
                  <a:gd name="T17" fmla="*/ 25 h 25"/>
                  <a:gd name="T18" fmla="*/ 5 w 55"/>
                  <a:gd name="T19" fmla="*/ 17 h 25"/>
                  <a:gd name="T20" fmla="*/ 7 w 55"/>
                  <a:gd name="T21" fmla="*/ 24 h 25"/>
                  <a:gd name="T22" fmla="*/ 2 w 55"/>
                  <a:gd name="T23" fmla="*/ 24 h 25"/>
                  <a:gd name="T24" fmla="*/ 0 w 55"/>
                  <a:gd name="T25" fmla="*/ 13 h 25"/>
                  <a:gd name="T26" fmla="*/ 18 w 55"/>
                  <a:gd name="T27" fmla="*/ 23 h 25"/>
                  <a:gd name="T28" fmla="*/ 28 w 55"/>
                  <a:gd name="T29" fmla="*/ 0 h 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5"/>
                  <a:gd name="T46" fmla="*/ 0 h 25"/>
                  <a:gd name="T47" fmla="*/ 55 w 55"/>
                  <a:gd name="T48" fmla="*/ 25 h 25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5" h="25">
                    <a:moveTo>
                      <a:pt x="28" y="0"/>
                    </a:moveTo>
                    <a:lnTo>
                      <a:pt x="38" y="23"/>
                    </a:lnTo>
                    <a:lnTo>
                      <a:pt x="55" y="13"/>
                    </a:lnTo>
                    <a:lnTo>
                      <a:pt x="53" y="23"/>
                    </a:lnTo>
                    <a:lnTo>
                      <a:pt x="49" y="23"/>
                    </a:lnTo>
                    <a:lnTo>
                      <a:pt x="52" y="17"/>
                    </a:lnTo>
                    <a:lnTo>
                      <a:pt x="37" y="25"/>
                    </a:lnTo>
                    <a:lnTo>
                      <a:pt x="28" y="7"/>
                    </a:lnTo>
                    <a:lnTo>
                      <a:pt x="19" y="25"/>
                    </a:lnTo>
                    <a:lnTo>
                      <a:pt x="5" y="17"/>
                    </a:lnTo>
                    <a:lnTo>
                      <a:pt x="7" y="24"/>
                    </a:lnTo>
                    <a:lnTo>
                      <a:pt x="2" y="24"/>
                    </a:lnTo>
                    <a:lnTo>
                      <a:pt x="0" y="13"/>
                    </a:lnTo>
                    <a:lnTo>
                      <a:pt x="18" y="23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0707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805" name="Freeform 902"/>
              <p:cNvSpPr>
                <a:spLocks/>
              </p:cNvSpPr>
              <p:nvPr/>
            </p:nvSpPr>
            <p:spPr bwMode="auto">
              <a:xfrm>
                <a:off x="2663" y="1931"/>
                <a:ext cx="53" cy="23"/>
              </a:xfrm>
              <a:custGeom>
                <a:avLst/>
                <a:gdLst>
                  <a:gd name="T0" fmla="*/ 26 w 53"/>
                  <a:gd name="T1" fmla="*/ 0 h 23"/>
                  <a:gd name="T2" fmla="*/ 37 w 53"/>
                  <a:gd name="T3" fmla="*/ 21 h 23"/>
                  <a:gd name="T4" fmla="*/ 53 w 53"/>
                  <a:gd name="T5" fmla="*/ 12 h 23"/>
                  <a:gd name="T6" fmla="*/ 51 w 53"/>
                  <a:gd name="T7" fmla="*/ 20 h 23"/>
                  <a:gd name="T8" fmla="*/ 48 w 53"/>
                  <a:gd name="T9" fmla="*/ 20 h 23"/>
                  <a:gd name="T10" fmla="*/ 49 w 53"/>
                  <a:gd name="T11" fmla="*/ 15 h 23"/>
                  <a:gd name="T12" fmla="*/ 35 w 53"/>
                  <a:gd name="T13" fmla="*/ 23 h 23"/>
                  <a:gd name="T14" fmla="*/ 26 w 53"/>
                  <a:gd name="T15" fmla="*/ 5 h 23"/>
                  <a:gd name="T16" fmla="*/ 18 w 53"/>
                  <a:gd name="T17" fmla="*/ 23 h 23"/>
                  <a:gd name="T18" fmla="*/ 4 w 53"/>
                  <a:gd name="T19" fmla="*/ 15 h 23"/>
                  <a:gd name="T20" fmla="*/ 5 w 53"/>
                  <a:gd name="T21" fmla="*/ 21 h 23"/>
                  <a:gd name="T22" fmla="*/ 1 w 53"/>
                  <a:gd name="T23" fmla="*/ 21 h 23"/>
                  <a:gd name="T24" fmla="*/ 0 w 53"/>
                  <a:gd name="T25" fmla="*/ 12 h 23"/>
                  <a:gd name="T26" fmla="*/ 17 w 53"/>
                  <a:gd name="T27" fmla="*/ 22 h 23"/>
                  <a:gd name="T28" fmla="*/ 26 w 53"/>
                  <a:gd name="T29" fmla="*/ 0 h 2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3"/>
                  <a:gd name="T46" fmla="*/ 0 h 23"/>
                  <a:gd name="T47" fmla="*/ 53 w 53"/>
                  <a:gd name="T48" fmla="*/ 23 h 2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3" h="23">
                    <a:moveTo>
                      <a:pt x="26" y="0"/>
                    </a:moveTo>
                    <a:lnTo>
                      <a:pt x="37" y="21"/>
                    </a:lnTo>
                    <a:lnTo>
                      <a:pt x="53" y="12"/>
                    </a:lnTo>
                    <a:lnTo>
                      <a:pt x="51" y="20"/>
                    </a:lnTo>
                    <a:lnTo>
                      <a:pt x="48" y="20"/>
                    </a:lnTo>
                    <a:lnTo>
                      <a:pt x="49" y="15"/>
                    </a:lnTo>
                    <a:lnTo>
                      <a:pt x="35" y="23"/>
                    </a:lnTo>
                    <a:lnTo>
                      <a:pt x="26" y="5"/>
                    </a:lnTo>
                    <a:lnTo>
                      <a:pt x="18" y="23"/>
                    </a:lnTo>
                    <a:lnTo>
                      <a:pt x="4" y="15"/>
                    </a:lnTo>
                    <a:lnTo>
                      <a:pt x="5" y="21"/>
                    </a:lnTo>
                    <a:lnTo>
                      <a:pt x="1" y="21"/>
                    </a:lnTo>
                    <a:lnTo>
                      <a:pt x="0" y="12"/>
                    </a:lnTo>
                    <a:lnTo>
                      <a:pt x="17" y="22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806" name="Freeform 903"/>
              <p:cNvSpPr>
                <a:spLocks/>
              </p:cNvSpPr>
              <p:nvPr/>
            </p:nvSpPr>
            <p:spPr bwMode="auto">
              <a:xfrm>
                <a:off x="2663" y="1932"/>
                <a:ext cx="52" cy="22"/>
              </a:xfrm>
              <a:custGeom>
                <a:avLst/>
                <a:gdLst>
                  <a:gd name="T0" fmla="*/ 51 w 52"/>
                  <a:gd name="T1" fmla="*/ 18 h 22"/>
                  <a:gd name="T2" fmla="*/ 52 w 52"/>
                  <a:gd name="T3" fmla="*/ 12 h 22"/>
                  <a:gd name="T4" fmla="*/ 36 w 52"/>
                  <a:gd name="T5" fmla="*/ 21 h 22"/>
                  <a:gd name="T6" fmla="*/ 26 w 52"/>
                  <a:gd name="T7" fmla="*/ 0 h 22"/>
                  <a:gd name="T8" fmla="*/ 16 w 52"/>
                  <a:gd name="T9" fmla="*/ 21 h 22"/>
                  <a:gd name="T10" fmla="*/ 0 w 52"/>
                  <a:gd name="T11" fmla="*/ 12 h 22"/>
                  <a:gd name="T12" fmla="*/ 1 w 52"/>
                  <a:gd name="T13" fmla="*/ 19 h 22"/>
                  <a:gd name="T14" fmla="*/ 4 w 52"/>
                  <a:gd name="T15" fmla="*/ 19 h 22"/>
                  <a:gd name="T16" fmla="*/ 2 w 52"/>
                  <a:gd name="T17" fmla="*/ 14 h 22"/>
                  <a:gd name="T18" fmla="*/ 17 w 52"/>
                  <a:gd name="T19" fmla="*/ 22 h 22"/>
                  <a:gd name="T20" fmla="*/ 26 w 52"/>
                  <a:gd name="T21" fmla="*/ 4 h 22"/>
                  <a:gd name="T22" fmla="*/ 35 w 52"/>
                  <a:gd name="T23" fmla="*/ 22 h 22"/>
                  <a:gd name="T24" fmla="*/ 49 w 52"/>
                  <a:gd name="T25" fmla="*/ 14 h 22"/>
                  <a:gd name="T26" fmla="*/ 48 w 52"/>
                  <a:gd name="T27" fmla="*/ 18 h 22"/>
                  <a:gd name="T28" fmla="*/ 51 w 52"/>
                  <a:gd name="T29" fmla="*/ 18 h 2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2"/>
                  <a:gd name="T46" fmla="*/ 0 h 22"/>
                  <a:gd name="T47" fmla="*/ 52 w 52"/>
                  <a:gd name="T48" fmla="*/ 22 h 2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2" h="22">
                    <a:moveTo>
                      <a:pt x="51" y="18"/>
                    </a:moveTo>
                    <a:lnTo>
                      <a:pt x="52" y="12"/>
                    </a:lnTo>
                    <a:lnTo>
                      <a:pt x="36" y="21"/>
                    </a:lnTo>
                    <a:lnTo>
                      <a:pt x="26" y="0"/>
                    </a:lnTo>
                    <a:lnTo>
                      <a:pt x="16" y="21"/>
                    </a:lnTo>
                    <a:lnTo>
                      <a:pt x="0" y="12"/>
                    </a:lnTo>
                    <a:lnTo>
                      <a:pt x="1" y="19"/>
                    </a:lnTo>
                    <a:lnTo>
                      <a:pt x="4" y="19"/>
                    </a:lnTo>
                    <a:lnTo>
                      <a:pt x="2" y="14"/>
                    </a:lnTo>
                    <a:lnTo>
                      <a:pt x="17" y="22"/>
                    </a:lnTo>
                    <a:lnTo>
                      <a:pt x="26" y="4"/>
                    </a:lnTo>
                    <a:lnTo>
                      <a:pt x="35" y="22"/>
                    </a:lnTo>
                    <a:lnTo>
                      <a:pt x="49" y="14"/>
                    </a:lnTo>
                    <a:lnTo>
                      <a:pt x="48" y="18"/>
                    </a:lnTo>
                    <a:lnTo>
                      <a:pt x="51" y="18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7456" name="Rectangle 904"/>
            <p:cNvSpPr>
              <a:spLocks noChangeArrowheads="1"/>
            </p:cNvSpPr>
            <p:nvPr/>
          </p:nvSpPr>
          <p:spPr bwMode="auto">
            <a:xfrm>
              <a:off x="2794" y="2595"/>
              <a:ext cx="581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Pre-Qualification</a:t>
              </a:r>
              <a:endParaRPr lang="en-US" sz="1000" b="0">
                <a:latin typeface="Times New Roman" pitchFamily="18" charset="0"/>
              </a:endParaRPr>
            </a:p>
          </p:txBody>
        </p:sp>
        <p:grpSp>
          <p:nvGrpSpPr>
            <p:cNvPr id="17457" name="Group 905"/>
            <p:cNvGrpSpPr>
              <a:grpSpLocks/>
            </p:cNvGrpSpPr>
            <p:nvPr/>
          </p:nvGrpSpPr>
          <p:grpSpPr bwMode="auto">
            <a:xfrm>
              <a:off x="3433" y="2349"/>
              <a:ext cx="422" cy="323"/>
              <a:chOff x="2997" y="1867"/>
              <a:chExt cx="387" cy="300"/>
            </a:xfrm>
          </p:grpSpPr>
          <p:sp>
            <p:nvSpPr>
              <p:cNvPr id="17589" name="Freeform 906"/>
              <p:cNvSpPr>
                <a:spLocks/>
              </p:cNvSpPr>
              <p:nvPr/>
            </p:nvSpPr>
            <p:spPr bwMode="auto">
              <a:xfrm>
                <a:off x="2998" y="2056"/>
                <a:ext cx="252" cy="110"/>
              </a:xfrm>
              <a:custGeom>
                <a:avLst/>
                <a:gdLst>
                  <a:gd name="T0" fmla="*/ 2 w 252"/>
                  <a:gd name="T1" fmla="*/ 30 h 110"/>
                  <a:gd name="T2" fmla="*/ 1 w 252"/>
                  <a:gd name="T3" fmla="*/ 15 h 110"/>
                  <a:gd name="T4" fmla="*/ 12 w 252"/>
                  <a:gd name="T5" fmla="*/ 0 h 110"/>
                  <a:gd name="T6" fmla="*/ 18 w 252"/>
                  <a:gd name="T7" fmla="*/ 0 h 110"/>
                  <a:gd name="T8" fmla="*/ 34 w 252"/>
                  <a:gd name="T9" fmla="*/ 1 h 110"/>
                  <a:gd name="T10" fmla="*/ 58 w 252"/>
                  <a:gd name="T11" fmla="*/ 3 h 110"/>
                  <a:gd name="T12" fmla="*/ 86 w 252"/>
                  <a:gd name="T13" fmla="*/ 5 h 110"/>
                  <a:gd name="T14" fmla="*/ 118 w 252"/>
                  <a:gd name="T15" fmla="*/ 7 h 110"/>
                  <a:gd name="T16" fmla="*/ 149 w 252"/>
                  <a:gd name="T17" fmla="*/ 9 h 110"/>
                  <a:gd name="T18" fmla="*/ 180 w 252"/>
                  <a:gd name="T19" fmla="*/ 13 h 110"/>
                  <a:gd name="T20" fmla="*/ 208 w 252"/>
                  <a:gd name="T21" fmla="*/ 15 h 110"/>
                  <a:gd name="T22" fmla="*/ 228 w 252"/>
                  <a:gd name="T23" fmla="*/ 17 h 110"/>
                  <a:gd name="T24" fmla="*/ 241 w 252"/>
                  <a:gd name="T25" fmla="*/ 20 h 110"/>
                  <a:gd name="T26" fmla="*/ 245 w 252"/>
                  <a:gd name="T27" fmla="*/ 38 h 110"/>
                  <a:gd name="T28" fmla="*/ 247 w 252"/>
                  <a:gd name="T29" fmla="*/ 57 h 110"/>
                  <a:gd name="T30" fmla="*/ 251 w 252"/>
                  <a:gd name="T31" fmla="*/ 60 h 110"/>
                  <a:gd name="T32" fmla="*/ 251 w 252"/>
                  <a:gd name="T33" fmla="*/ 64 h 110"/>
                  <a:gd name="T34" fmla="*/ 247 w 252"/>
                  <a:gd name="T35" fmla="*/ 68 h 110"/>
                  <a:gd name="T36" fmla="*/ 238 w 252"/>
                  <a:gd name="T37" fmla="*/ 70 h 110"/>
                  <a:gd name="T38" fmla="*/ 230 w 252"/>
                  <a:gd name="T39" fmla="*/ 74 h 110"/>
                  <a:gd name="T40" fmla="*/ 218 w 252"/>
                  <a:gd name="T41" fmla="*/ 78 h 110"/>
                  <a:gd name="T42" fmla="*/ 205 w 252"/>
                  <a:gd name="T43" fmla="*/ 85 h 110"/>
                  <a:gd name="T44" fmla="*/ 193 w 252"/>
                  <a:gd name="T45" fmla="*/ 90 h 110"/>
                  <a:gd name="T46" fmla="*/ 180 w 252"/>
                  <a:gd name="T47" fmla="*/ 95 h 110"/>
                  <a:gd name="T48" fmla="*/ 170 w 252"/>
                  <a:gd name="T49" fmla="*/ 101 h 110"/>
                  <a:gd name="T50" fmla="*/ 159 w 252"/>
                  <a:gd name="T51" fmla="*/ 105 h 110"/>
                  <a:gd name="T52" fmla="*/ 150 w 252"/>
                  <a:gd name="T53" fmla="*/ 108 h 110"/>
                  <a:gd name="T54" fmla="*/ 145 w 252"/>
                  <a:gd name="T55" fmla="*/ 110 h 110"/>
                  <a:gd name="T56" fmla="*/ 141 w 252"/>
                  <a:gd name="T57" fmla="*/ 110 h 110"/>
                  <a:gd name="T58" fmla="*/ 134 w 252"/>
                  <a:gd name="T59" fmla="*/ 108 h 110"/>
                  <a:gd name="T60" fmla="*/ 130 w 252"/>
                  <a:gd name="T61" fmla="*/ 107 h 110"/>
                  <a:gd name="T62" fmla="*/ 124 w 252"/>
                  <a:gd name="T63" fmla="*/ 104 h 110"/>
                  <a:gd name="T64" fmla="*/ 113 w 252"/>
                  <a:gd name="T65" fmla="*/ 98 h 110"/>
                  <a:gd name="T66" fmla="*/ 101 w 252"/>
                  <a:gd name="T67" fmla="*/ 91 h 110"/>
                  <a:gd name="T68" fmla="*/ 87 w 252"/>
                  <a:gd name="T69" fmla="*/ 84 h 110"/>
                  <a:gd name="T70" fmla="*/ 72 w 252"/>
                  <a:gd name="T71" fmla="*/ 75 h 110"/>
                  <a:gd name="T72" fmla="*/ 58 w 252"/>
                  <a:gd name="T73" fmla="*/ 68 h 110"/>
                  <a:gd name="T74" fmla="*/ 44 w 252"/>
                  <a:gd name="T75" fmla="*/ 60 h 110"/>
                  <a:gd name="T76" fmla="*/ 33 w 252"/>
                  <a:gd name="T77" fmla="*/ 54 h 110"/>
                  <a:gd name="T78" fmla="*/ 23 w 252"/>
                  <a:gd name="T79" fmla="*/ 50 h 110"/>
                  <a:gd name="T80" fmla="*/ 18 w 252"/>
                  <a:gd name="T81" fmla="*/ 47 h 110"/>
                  <a:gd name="T82" fmla="*/ 15 w 252"/>
                  <a:gd name="T83" fmla="*/ 44 h 110"/>
                  <a:gd name="T84" fmla="*/ 10 w 252"/>
                  <a:gd name="T85" fmla="*/ 41 h 110"/>
                  <a:gd name="T86" fmla="*/ 5 w 252"/>
                  <a:gd name="T87" fmla="*/ 38 h 11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252"/>
                  <a:gd name="T133" fmla="*/ 0 h 110"/>
                  <a:gd name="T134" fmla="*/ 252 w 252"/>
                  <a:gd name="T135" fmla="*/ 110 h 11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252" h="110">
                    <a:moveTo>
                      <a:pt x="5" y="38"/>
                    </a:moveTo>
                    <a:lnTo>
                      <a:pt x="3" y="35"/>
                    </a:lnTo>
                    <a:lnTo>
                      <a:pt x="2" y="30"/>
                    </a:lnTo>
                    <a:lnTo>
                      <a:pt x="1" y="25"/>
                    </a:lnTo>
                    <a:lnTo>
                      <a:pt x="0" y="21"/>
                    </a:lnTo>
                    <a:lnTo>
                      <a:pt x="1" y="15"/>
                    </a:lnTo>
                    <a:lnTo>
                      <a:pt x="2" y="11"/>
                    </a:lnTo>
                    <a:lnTo>
                      <a:pt x="5" y="5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8" y="1"/>
                    </a:lnTo>
                    <a:lnTo>
                      <a:pt x="34" y="1"/>
                    </a:lnTo>
                    <a:lnTo>
                      <a:pt x="40" y="1"/>
                    </a:lnTo>
                    <a:lnTo>
                      <a:pt x="49" y="3"/>
                    </a:lnTo>
                    <a:lnTo>
                      <a:pt x="58" y="3"/>
                    </a:lnTo>
                    <a:lnTo>
                      <a:pt x="67" y="4"/>
                    </a:lnTo>
                    <a:lnTo>
                      <a:pt x="76" y="4"/>
                    </a:lnTo>
                    <a:lnTo>
                      <a:pt x="86" y="5"/>
                    </a:lnTo>
                    <a:lnTo>
                      <a:pt x="96" y="7"/>
                    </a:lnTo>
                    <a:lnTo>
                      <a:pt x="107" y="7"/>
                    </a:lnTo>
                    <a:lnTo>
                      <a:pt x="118" y="7"/>
                    </a:lnTo>
                    <a:lnTo>
                      <a:pt x="128" y="9"/>
                    </a:lnTo>
                    <a:lnTo>
                      <a:pt x="140" y="9"/>
                    </a:lnTo>
                    <a:lnTo>
                      <a:pt x="149" y="9"/>
                    </a:lnTo>
                    <a:lnTo>
                      <a:pt x="160" y="11"/>
                    </a:lnTo>
                    <a:lnTo>
                      <a:pt x="170" y="12"/>
                    </a:lnTo>
                    <a:lnTo>
                      <a:pt x="180" y="13"/>
                    </a:lnTo>
                    <a:lnTo>
                      <a:pt x="189" y="14"/>
                    </a:lnTo>
                    <a:lnTo>
                      <a:pt x="199" y="14"/>
                    </a:lnTo>
                    <a:lnTo>
                      <a:pt x="208" y="15"/>
                    </a:lnTo>
                    <a:lnTo>
                      <a:pt x="215" y="16"/>
                    </a:lnTo>
                    <a:lnTo>
                      <a:pt x="222" y="17"/>
                    </a:lnTo>
                    <a:lnTo>
                      <a:pt x="228" y="17"/>
                    </a:lnTo>
                    <a:lnTo>
                      <a:pt x="234" y="19"/>
                    </a:lnTo>
                    <a:lnTo>
                      <a:pt x="237" y="19"/>
                    </a:lnTo>
                    <a:lnTo>
                      <a:pt x="241" y="20"/>
                    </a:lnTo>
                    <a:lnTo>
                      <a:pt x="243" y="20"/>
                    </a:lnTo>
                    <a:lnTo>
                      <a:pt x="245" y="29"/>
                    </a:lnTo>
                    <a:lnTo>
                      <a:pt x="245" y="38"/>
                    </a:lnTo>
                    <a:lnTo>
                      <a:pt x="245" y="47"/>
                    </a:lnTo>
                    <a:lnTo>
                      <a:pt x="246" y="56"/>
                    </a:lnTo>
                    <a:lnTo>
                      <a:pt x="247" y="57"/>
                    </a:lnTo>
                    <a:lnTo>
                      <a:pt x="249" y="58"/>
                    </a:lnTo>
                    <a:lnTo>
                      <a:pt x="250" y="60"/>
                    </a:lnTo>
                    <a:lnTo>
                      <a:pt x="251" y="60"/>
                    </a:lnTo>
                    <a:lnTo>
                      <a:pt x="252" y="62"/>
                    </a:lnTo>
                    <a:lnTo>
                      <a:pt x="251" y="64"/>
                    </a:lnTo>
                    <a:lnTo>
                      <a:pt x="249" y="66"/>
                    </a:lnTo>
                    <a:lnTo>
                      <a:pt x="248" y="67"/>
                    </a:lnTo>
                    <a:lnTo>
                      <a:pt x="247" y="68"/>
                    </a:lnTo>
                    <a:lnTo>
                      <a:pt x="245" y="68"/>
                    </a:lnTo>
                    <a:lnTo>
                      <a:pt x="241" y="69"/>
                    </a:lnTo>
                    <a:lnTo>
                      <a:pt x="238" y="70"/>
                    </a:lnTo>
                    <a:lnTo>
                      <a:pt x="236" y="71"/>
                    </a:lnTo>
                    <a:lnTo>
                      <a:pt x="233" y="73"/>
                    </a:lnTo>
                    <a:lnTo>
                      <a:pt x="230" y="74"/>
                    </a:lnTo>
                    <a:lnTo>
                      <a:pt x="226" y="75"/>
                    </a:lnTo>
                    <a:lnTo>
                      <a:pt x="222" y="77"/>
                    </a:lnTo>
                    <a:lnTo>
                      <a:pt x="218" y="78"/>
                    </a:lnTo>
                    <a:lnTo>
                      <a:pt x="215" y="82"/>
                    </a:lnTo>
                    <a:lnTo>
                      <a:pt x="210" y="82"/>
                    </a:lnTo>
                    <a:lnTo>
                      <a:pt x="205" y="85"/>
                    </a:lnTo>
                    <a:lnTo>
                      <a:pt x="202" y="86"/>
                    </a:lnTo>
                    <a:lnTo>
                      <a:pt x="197" y="88"/>
                    </a:lnTo>
                    <a:lnTo>
                      <a:pt x="193" y="90"/>
                    </a:lnTo>
                    <a:lnTo>
                      <a:pt x="189" y="91"/>
                    </a:lnTo>
                    <a:lnTo>
                      <a:pt x="185" y="93"/>
                    </a:lnTo>
                    <a:lnTo>
                      <a:pt x="180" y="95"/>
                    </a:lnTo>
                    <a:lnTo>
                      <a:pt x="177" y="98"/>
                    </a:lnTo>
                    <a:lnTo>
                      <a:pt x="173" y="98"/>
                    </a:lnTo>
                    <a:lnTo>
                      <a:pt x="170" y="101"/>
                    </a:lnTo>
                    <a:lnTo>
                      <a:pt x="165" y="102"/>
                    </a:lnTo>
                    <a:lnTo>
                      <a:pt x="162" y="104"/>
                    </a:lnTo>
                    <a:lnTo>
                      <a:pt x="159" y="105"/>
                    </a:lnTo>
                    <a:lnTo>
                      <a:pt x="156" y="106"/>
                    </a:lnTo>
                    <a:lnTo>
                      <a:pt x="154" y="107"/>
                    </a:lnTo>
                    <a:lnTo>
                      <a:pt x="150" y="108"/>
                    </a:lnTo>
                    <a:lnTo>
                      <a:pt x="148" y="109"/>
                    </a:lnTo>
                    <a:lnTo>
                      <a:pt x="146" y="109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10"/>
                    </a:lnTo>
                    <a:lnTo>
                      <a:pt x="141" y="110"/>
                    </a:lnTo>
                    <a:lnTo>
                      <a:pt x="140" y="109"/>
                    </a:lnTo>
                    <a:lnTo>
                      <a:pt x="138" y="109"/>
                    </a:lnTo>
                    <a:lnTo>
                      <a:pt x="134" y="108"/>
                    </a:lnTo>
                    <a:lnTo>
                      <a:pt x="132" y="107"/>
                    </a:lnTo>
                    <a:lnTo>
                      <a:pt x="130" y="107"/>
                    </a:lnTo>
                    <a:lnTo>
                      <a:pt x="129" y="106"/>
                    </a:lnTo>
                    <a:lnTo>
                      <a:pt x="127" y="105"/>
                    </a:lnTo>
                    <a:lnTo>
                      <a:pt x="124" y="104"/>
                    </a:lnTo>
                    <a:lnTo>
                      <a:pt x="122" y="102"/>
                    </a:lnTo>
                    <a:lnTo>
                      <a:pt x="118" y="101"/>
                    </a:lnTo>
                    <a:lnTo>
                      <a:pt x="113" y="98"/>
                    </a:lnTo>
                    <a:lnTo>
                      <a:pt x="110" y="95"/>
                    </a:lnTo>
                    <a:lnTo>
                      <a:pt x="106" y="93"/>
                    </a:lnTo>
                    <a:lnTo>
                      <a:pt x="101" y="91"/>
                    </a:lnTo>
                    <a:lnTo>
                      <a:pt x="96" y="89"/>
                    </a:lnTo>
                    <a:lnTo>
                      <a:pt x="92" y="87"/>
                    </a:lnTo>
                    <a:lnTo>
                      <a:pt x="87" y="84"/>
                    </a:lnTo>
                    <a:lnTo>
                      <a:pt x="82" y="82"/>
                    </a:lnTo>
                    <a:lnTo>
                      <a:pt x="77" y="78"/>
                    </a:lnTo>
                    <a:lnTo>
                      <a:pt x="72" y="75"/>
                    </a:lnTo>
                    <a:lnTo>
                      <a:pt x="67" y="73"/>
                    </a:lnTo>
                    <a:lnTo>
                      <a:pt x="63" y="71"/>
                    </a:lnTo>
                    <a:lnTo>
                      <a:pt x="58" y="68"/>
                    </a:lnTo>
                    <a:lnTo>
                      <a:pt x="53" y="66"/>
                    </a:lnTo>
                    <a:lnTo>
                      <a:pt x="49" y="62"/>
                    </a:lnTo>
                    <a:lnTo>
                      <a:pt x="44" y="60"/>
                    </a:lnTo>
                    <a:lnTo>
                      <a:pt x="39" y="58"/>
                    </a:lnTo>
                    <a:lnTo>
                      <a:pt x="36" y="56"/>
                    </a:lnTo>
                    <a:lnTo>
                      <a:pt x="33" y="54"/>
                    </a:lnTo>
                    <a:lnTo>
                      <a:pt x="30" y="53"/>
                    </a:lnTo>
                    <a:lnTo>
                      <a:pt x="25" y="51"/>
                    </a:lnTo>
                    <a:lnTo>
                      <a:pt x="23" y="50"/>
                    </a:lnTo>
                    <a:lnTo>
                      <a:pt x="21" y="48"/>
                    </a:lnTo>
                    <a:lnTo>
                      <a:pt x="19" y="47"/>
                    </a:lnTo>
                    <a:lnTo>
                      <a:pt x="18" y="47"/>
                    </a:lnTo>
                    <a:lnTo>
                      <a:pt x="17" y="46"/>
                    </a:lnTo>
                    <a:lnTo>
                      <a:pt x="16" y="44"/>
                    </a:lnTo>
                    <a:lnTo>
                      <a:pt x="15" y="44"/>
                    </a:lnTo>
                    <a:lnTo>
                      <a:pt x="13" y="44"/>
                    </a:lnTo>
                    <a:lnTo>
                      <a:pt x="12" y="42"/>
                    </a:lnTo>
                    <a:lnTo>
                      <a:pt x="10" y="41"/>
                    </a:lnTo>
                    <a:lnTo>
                      <a:pt x="8" y="40"/>
                    </a:lnTo>
                    <a:lnTo>
                      <a:pt x="6" y="39"/>
                    </a:lnTo>
                    <a:lnTo>
                      <a:pt x="5" y="38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90" name="Freeform 907"/>
              <p:cNvSpPr>
                <a:spLocks/>
              </p:cNvSpPr>
              <p:nvPr/>
            </p:nvSpPr>
            <p:spPr bwMode="auto">
              <a:xfrm>
                <a:off x="2997" y="2056"/>
                <a:ext cx="14" cy="38"/>
              </a:xfrm>
              <a:custGeom>
                <a:avLst/>
                <a:gdLst>
                  <a:gd name="T0" fmla="*/ 13 w 14"/>
                  <a:gd name="T1" fmla="*/ 0 h 38"/>
                  <a:gd name="T2" fmla="*/ 13 w 14"/>
                  <a:gd name="T3" fmla="*/ 0 h 38"/>
                  <a:gd name="T4" fmla="*/ 6 w 14"/>
                  <a:gd name="T5" fmla="*/ 5 h 38"/>
                  <a:gd name="T6" fmla="*/ 2 w 14"/>
                  <a:gd name="T7" fmla="*/ 10 h 38"/>
                  <a:gd name="T8" fmla="*/ 0 w 14"/>
                  <a:gd name="T9" fmla="*/ 16 h 38"/>
                  <a:gd name="T10" fmla="*/ 0 w 14"/>
                  <a:gd name="T11" fmla="*/ 20 h 38"/>
                  <a:gd name="T12" fmla="*/ 0 w 14"/>
                  <a:gd name="T13" fmla="*/ 26 h 38"/>
                  <a:gd name="T14" fmla="*/ 2 w 14"/>
                  <a:gd name="T15" fmla="*/ 30 h 38"/>
                  <a:gd name="T16" fmla="*/ 4 w 14"/>
                  <a:gd name="T17" fmla="*/ 35 h 38"/>
                  <a:gd name="T18" fmla="*/ 6 w 14"/>
                  <a:gd name="T19" fmla="*/ 38 h 38"/>
                  <a:gd name="T20" fmla="*/ 8 w 14"/>
                  <a:gd name="T21" fmla="*/ 37 h 38"/>
                  <a:gd name="T22" fmla="*/ 6 w 14"/>
                  <a:gd name="T23" fmla="*/ 33 h 38"/>
                  <a:gd name="T24" fmla="*/ 4 w 14"/>
                  <a:gd name="T25" fmla="*/ 30 h 38"/>
                  <a:gd name="T26" fmla="*/ 2 w 14"/>
                  <a:gd name="T27" fmla="*/ 26 h 38"/>
                  <a:gd name="T28" fmla="*/ 2 w 14"/>
                  <a:gd name="T29" fmla="*/ 20 h 38"/>
                  <a:gd name="T30" fmla="*/ 2 w 14"/>
                  <a:gd name="T31" fmla="*/ 16 h 38"/>
                  <a:gd name="T32" fmla="*/ 4 w 14"/>
                  <a:gd name="T33" fmla="*/ 10 h 38"/>
                  <a:gd name="T34" fmla="*/ 8 w 14"/>
                  <a:gd name="T35" fmla="*/ 6 h 38"/>
                  <a:gd name="T36" fmla="*/ 14 w 14"/>
                  <a:gd name="T37" fmla="*/ 1 h 38"/>
                  <a:gd name="T38" fmla="*/ 13 w 14"/>
                  <a:gd name="T39" fmla="*/ 0 h 3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4"/>
                  <a:gd name="T61" fmla="*/ 0 h 38"/>
                  <a:gd name="T62" fmla="*/ 14 w 14"/>
                  <a:gd name="T63" fmla="*/ 38 h 3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4" h="38">
                    <a:moveTo>
                      <a:pt x="13" y="0"/>
                    </a:moveTo>
                    <a:lnTo>
                      <a:pt x="13" y="0"/>
                    </a:lnTo>
                    <a:lnTo>
                      <a:pt x="6" y="5"/>
                    </a:lnTo>
                    <a:lnTo>
                      <a:pt x="2" y="10"/>
                    </a:lnTo>
                    <a:lnTo>
                      <a:pt x="0" y="16"/>
                    </a:lnTo>
                    <a:lnTo>
                      <a:pt x="0" y="20"/>
                    </a:lnTo>
                    <a:lnTo>
                      <a:pt x="0" y="26"/>
                    </a:lnTo>
                    <a:lnTo>
                      <a:pt x="2" y="30"/>
                    </a:lnTo>
                    <a:lnTo>
                      <a:pt x="4" y="35"/>
                    </a:lnTo>
                    <a:lnTo>
                      <a:pt x="6" y="38"/>
                    </a:lnTo>
                    <a:lnTo>
                      <a:pt x="8" y="37"/>
                    </a:lnTo>
                    <a:lnTo>
                      <a:pt x="6" y="33"/>
                    </a:lnTo>
                    <a:lnTo>
                      <a:pt x="4" y="30"/>
                    </a:lnTo>
                    <a:lnTo>
                      <a:pt x="2" y="26"/>
                    </a:lnTo>
                    <a:lnTo>
                      <a:pt x="2" y="20"/>
                    </a:lnTo>
                    <a:lnTo>
                      <a:pt x="2" y="16"/>
                    </a:lnTo>
                    <a:lnTo>
                      <a:pt x="4" y="10"/>
                    </a:lnTo>
                    <a:lnTo>
                      <a:pt x="8" y="6"/>
                    </a:lnTo>
                    <a:lnTo>
                      <a:pt x="14" y="1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91" name="Freeform 908"/>
              <p:cNvSpPr>
                <a:spLocks/>
              </p:cNvSpPr>
              <p:nvPr/>
            </p:nvSpPr>
            <p:spPr bwMode="auto">
              <a:xfrm>
                <a:off x="3010" y="2056"/>
                <a:ext cx="231" cy="22"/>
              </a:xfrm>
              <a:custGeom>
                <a:avLst/>
                <a:gdLst>
                  <a:gd name="T0" fmla="*/ 231 w 231"/>
                  <a:gd name="T1" fmla="*/ 21 h 22"/>
                  <a:gd name="T2" fmla="*/ 228 w 231"/>
                  <a:gd name="T3" fmla="*/ 20 h 22"/>
                  <a:gd name="T4" fmla="*/ 221 w 231"/>
                  <a:gd name="T5" fmla="*/ 19 h 22"/>
                  <a:gd name="T6" fmla="*/ 210 w 231"/>
                  <a:gd name="T7" fmla="*/ 17 h 22"/>
                  <a:gd name="T8" fmla="*/ 195 w 231"/>
                  <a:gd name="T9" fmla="*/ 15 h 22"/>
                  <a:gd name="T10" fmla="*/ 178 w 231"/>
                  <a:gd name="T11" fmla="*/ 13 h 22"/>
                  <a:gd name="T12" fmla="*/ 158 w 231"/>
                  <a:gd name="T13" fmla="*/ 11 h 22"/>
                  <a:gd name="T14" fmla="*/ 137 w 231"/>
                  <a:gd name="T15" fmla="*/ 9 h 22"/>
                  <a:gd name="T16" fmla="*/ 116 w 231"/>
                  <a:gd name="T17" fmla="*/ 8 h 22"/>
                  <a:gd name="T18" fmla="*/ 96 w 231"/>
                  <a:gd name="T19" fmla="*/ 6 h 22"/>
                  <a:gd name="T20" fmla="*/ 74 w 231"/>
                  <a:gd name="T21" fmla="*/ 5 h 22"/>
                  <a:gd name="T22" fmla="*/ 55 w 231"/>
                  <a:gd name="T23" fmla="*/ 4 h 22"/>
                  <a:gd name="T24" fmla="*/ 38 w 231"/>
                  <a:gd name="T25" fmla="*/ 3 h 22"/>
                  <a:gd name="T26" fmla="*/ 22 w 231"/>
                  <a:gd name="T27" fmla="*/ 1 h 22"/>
                  <a:gd name="T28" fmla="*/ 10 w 231"/>
                  <a:gd name="T29" fmla="*/ 0 h 22"/>
                  <a:gd name="T30" fmla="*/ 3 w 231"/>
                  <a:gd name="T31" fmla="*/ 0 h 22"/>
                  <a:gd name="T32" fmla="*/ 0 w 231"/>
                  <a:gd name="T33" fmla="*/ 0 h 22"/>
                  <a:gd name="T34" fmla="*/ 3 w 231"/>
                  <a:gd name="T35" fmla="*/ 3 h 22"/>
                  <a:gd name="T36" fmla="*/ 10 w 231"/>
                  <a:gd name="T37" fmla="*/ 3 h 22"/>
                  <a:gd name="T38" fmla="*/ 22 w 231"/>
                  <a:gd name="T39" fmla="*/ 3 h 22"/>
                  <a:gd name="T40" fmla="*/ 38 w 231"/>
                  <a:gd name="T41" fmla="*/ 4 h 22"/>
                  <a:gd name="T42" fmla="*/ 55 w 231"/>
                  <a:gd name="T43" fmla="*/ 5 h 22"/>
                  <a:gd name="T44" fmla="*/ 74 w 231"/>
                  <a:gd name="T45" fmla="*/ 7 h 22"/>
                  <a:gd name="T46" fmla="*/ 96 w 231"/>
                  <a:gd name="T47" fmla="*/ 8 h 22"/>
                  <a:gd name="T48" fmla="*/ 116 w 231"/>
                  <a:gd name="T49" fmla="*/ 9 h 22"/>
                  <a:gd name="T50" fmla="*/ 137 w 231"/>
                  <a:gd name="T51" fmla="*/ 11 h 22"/>
                  <a:gd name="T52" fmla="*/ 158 w 231"/>
                  <a:gd name="T53" fmla="*/ 13 h 22"/>
                  <a:gd name="T54" fmla="*/ 178 w 231"/>
                  <a:gd name="T55" fmla="*/ 15 h 22"/>
                  <a:gd name="T56" fmla="*/ 195 w 231"/>
                  <a:gd name="T57" fmla="*/ 17 h 22"/>
                  <a:gd name="T58" fmla="*/ 210 w 231"/>
                  <a:gd name="T59" fmla="*/ 19 h 22"/>
                  <a:gd name="T60" fmla="*/ 221 w 231"/>
                  <a:gd name="T61" fmla="*/ 21 h 22"/>
                  <a:gd name="T62" fmla="*/ 228 w 231"/>
                  <a:gd name="T63" fmla="*/ 22 h 22"/>
                  <a:gd name="T64" fmla="*/ 229 w 231"/>
                  <a:gd name="T65" fmla="*/ 21 h 2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31"/>
                  <a:gd name="T100" fmla="*/ 0 h 22"/>
                  <a:gd name="T101" fmla="*/ 231 w 231"/>
                  <a:gd name="T102" fmla="*/ 22 h 2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31" h="22">
                    <a:moveTo>
                      <a:pt x="231" y="21"/>
                    </a:moveTo>
                    <a:lnTo>
                      <a:pt x="231" y="21"/>
                    </a:lnTo>
                    <a:lnTo>
                      <a:pt x="230" y="20"/>
                    </a:lnTo>
                    <a:lnTo>
                      <a:pt x="228" y="20"/>
                    </a:lnTo>
                    <a:lnTo>
                      <a:pt x="225" y="19"/>
                    </a:lnTo>
                    <a:lnTo>
                      <a:pt x="221" y="19"/>
                    </a:lnTo>
                    <a:lnTo>
                      <a:pt x="215" y="17"/>
                    </a:lnTo>
                    <a:lnTo>
                      <a:pt x="210" y="17"/>
                    </a:lnTo>
                    <a:lnTo>
                      <a:pt x="202" y="16"/>
                    </a:lnTo>
                    <a:lnTo>
                      <a:pt x="195" y="15"/>
                    </a:lnTo>
                    <a:lnTo>
                      <a:pt x="187" y="13"/>
                    </a:lnTo>
                    <a:lnTo>
                      <a:pt x="178" y="13"/>
                    </a:lnTo>
                    <a:lnTo>
                      <a:pt x="167" y="13"/>
                    </a:lnTo>
                    <a:lnTo>
                      <a:pt x="158" y="11"/>
                    </a:lnTo>
                    <a:lnTo>
                      <a:pt x="148" y="10"/>
                    </a:lnTo>
                    <a:lnTo>
                      <a:pt x="137" y="9"/>
                    </a:lnTo>
                    <a:lnTo>
                      <a:pt x="127" y="9"/>
                    </a:lnTo>
                    <a:lnTo>
                      <a:pt x="116" y="8"/>
                    </a:lnTo>
                    <a:lnTo>
                      <a:pt x="106" y="7"/>
                    </a:lnTo>
                    <a:lnTo>
                      <a:pt x="96" y="6"/>
                    </a:lnTo>
                    <a:lnTo>
                      <a:pt x="84" y="6"/>
                    </a:lnTo>
                    <a:lnTo>
                      <a:pt x="74" y="5"/>
                    </a:lnTo>
                    <a:lnTo>
                      <a:pt x="65" y="4"/>
                    </a:lnTo>
                    <a:lnTo>
                      <a:pt x="55" y="4"/>
                    </a:lnTo>
                    <a:lnTo>
                      <a:pt x="46" y="3"/>
                    </a:lnTo>
                    <a:lnTo>
                      <a:pt x="38" y="3"/>
                    </a:lnTo>
                    <a:lnTo>
                      <a:pt x="29" y="1"/>
                    </a:lnTo>
                    <a:lnTo>
                      <a:pt x="22" y="1"/>
                    </a:lnTo>
                    <a:lnTo>
                      <a:pt x="17" y="0"/>
                    </a:lnTo>
                    <a:lnTo>
                      <a:pt x="10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6" y="3"/>
                    </a:lnTo>
                    <a:lnTo>
                      <a:pt x="10" y="3"/>
                    </a:lnTo>
                    <a:lnTo>
                      <a:pt x="17" y="3"/>
                    </a:lnTo>
                    <a:lnTo>
                      <a:pt x="22" y="3"/>
                    </a:lnTo>
                    <a:lnTo>
                      <a:pt x="29" y="4"/>
                    </a:lnTo>
                    <a:lnTo>
                      <a:pt x="38" y="4"/>
                    </a:lnTo>
                    <a:lnTo>
                      <a:pt x="46" y="5"/>
                    </a:lnTo>
                    <a:lnTo>
                      <a:pt x="55" y="5"/>
                    </a:lnTo>
                    <a:lnTo>
                      <a:pt x="65" y="6"/>
                    </a:lnTo>
                    <a:lnTo>
                      <a:pt x="74" y="7"/>
                    </a:lnTo>
                    <a:lnTo>
                      <a:pt x="84" y="7"/>
                    </a:lnTo>
                    <a:lnTo>
                      <a:pt x="96" y="8"/>
                    </a:lnTo>
                    <a:lnTo>
                      <a:pt x="106" y="9"/>
                    </a:lnTo>
                    <a:lnTo>
                      <a:pt x="116" y="9"/>
                    </a:lnTo>
                    <a:lnTo>
                      <a:pt x="127" y="10"/>
                    </a:lnTo>
                    <a:lnTo>
                      <a:pt x="137" y="11"/>
                    </a:lnTo>
                    <a:lnTo>
                      <a:pt x="148" y="13"/>
                    </a:lnTo>
                    <a:lnTo>
                      <a:pt x="158" y="13"/>
                    </a:lnTo>
                    <a:lnTo>
                      <a:pt x="167" y="15"/>
                    </a:lnTo>
                    <a:lnTo>
                      <a:pt x="178" y="15"/>
                    </a:lnTo>
                    <a:lnTo>
                      <a:pt x="187" y="16"/>
                    </a:lnTo>
                    <a:lnTo>
                      <a:pt x="195" y="17"/>
                    </a:lnTo>
                    <a:lnTo>
                      <a:pt x="202" y="19"/>
                    </a:lnTo>
                    <a:lnTo>
                      <a:pt x="210" y="19"/>
                    </a:lnTo>
                    <a:lnTo>
                      <a:pt x="215" y="20"/>
                    </a:lnTo>
                    <a:lnTo>
                      <a:pt x="221" y="21"/>
                    </a:lnTo>
                    <a:lnTo>
                      <a:pt x="225" y="21"/>
                    </a:lnTo>
                    <a:lnTo>
                      <a:pt x="228" y="22"/>
                    </a:lnTo>
                    <a:lnTo>
                      <a:pt x="229" y="22"/>
                    </a:lnTo>
                    <a:lnTo>
                      <a:pt x="229" y="21"/>
                    </a:lnTo>
                    <a:lnTo>
                      <a:pt x="231" y="2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92" name="Freeform 909"/>
              <p:cNvSpPr>
                <a:spLocks/>
              </p:cNvSpPr>
              <p:nvPr/>
            </p:nvSpPr>
            <p:spPr bwMode="auto">
              <a:xfrm>
                <a:off x="3239" y="2076"/>
                <a:ext cx="5" cy="37"/>
              </a:xfrm>
              <a:custGeom>
                <a:avLst/>
                <a:gdLst>
                  <a:gd name="T0" fmla="*/ 4 w 5"/>
                  <a:gd name="T1" fmla="*/ 36 h 37"/>
                  <a:gd name="T2" fmla="*/ 5 w 5"/>
                  <a:gd name="T3" fmla="*/ 36 h 37"/>
                  <a:gd name="T4" fmla="*/ 4 w 5"/>
                  <a:gd name="T5" fmla="*/ 27 h 37"/>
                  <a:gd name="T6" fmla="*/ 4 w 5"/>
                  <a:gd name="T7" fmla="*/ 17 h 37"/>
                  <a:gd name="T8" fmla="*/ 2 w 5"/>
                  <a:gd name="T9" fmla="*/ 8 h 37"/>
                  <a:gd name="T10" fmla="*/ 2 w 5"/>
                  <a:gd name="T11" fmla="*/ 0 h 37"/>
                  <a:gd name="T12" fmla="*/ 0 w 5"/>
                  <a:gd name="T13" fmla="*/ 0 h 37"/>
                  <a:gd name="T14" fmla="*/ 0 w 5"/>
                  <a:gd name="T15" fmla="*/ 8 h 37"/>
                  <a:gd name="T16" fmla="*/ 1 w 5"/>
                  <a:gd name="T17" fmla="*/ 17 h 37"/>
                  <a:gd name="T18" fmla="*/ 1 w 5"/>
                  <a:gd name="T19" fmla="*/ 27 h 37"/>
                  <a:gd name="T20" fmla="*/ 2 w 5"/>
                  <a:gd name="T21" fmla="*/ 36 h 37"/>
                  <a:gd name="T22" fmla="*/ 4 w 5"/>
                  <a:gd name="T23" fmla="*/ 37 h 37"/>
                  <a:gd name="T24" fmla="*/ 2 w 5"/>
                  <a:gd name="T25" fmla="*/ 36 h 37"/>
                  <a:gd name="T26" fmla="*/ 2 w 5"/>
                  <a:gd name="T27" fmla="*/ 37 h 37"/>
                  <a:gd name="T28" fmla="*/ 4 w 5"/>
                  <a:gd name="T29" fmla="*/ 37 h 37"/>
                  <a:gd name="T30" fmla="*/ 4 w 5"/>
                  <a:gd name="T31" fmla="*/ 36 h 3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"/>
                  <a:gd name="T49" fmla="*/ 0 h 37"/>
                  <a:gd name="T50" fmla="*/ 5 w 5"/>
                  <a:gd name="T51" fmla="*/ 37 h 3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" h="37">
                    <a:moveTo>
                      <a:pt x="4" y="36"/>
                    </a:moveTo>
                    <a:lnTo>
                      <a:pt x="5" y="36"/>
                    </a:lnTo>
                    <a:lnTo>
                      <a:pt x="4" y="27"/>
                    </a:lnTo>
                    <a:lnTo>
                      <a:pt x="4" y="17"/>
                    </a:lnTo>
                    <a:lnTo>
                      <a:pt x="2" y="8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" y="17"/>
                    </a:lnTo>
                    <a:lnTo>
                      <a:pt x="1" y="27"/>
                    </a:lnTo>
                    <a:lnTo>
                      <a:pt x="2" y="36"/>
                    </a:lnTo>
                    <a:lnTo>
                      <a:pt x="4" y="37"/>
                    </a:lnTo>
                    <a:lnTo>
                      <a:pt x="2" y="36"/>
                    </a:lnTo>
                    <a:lnTo>
                      <a:pt x="2" y="37"/>
                    </a:lnTo>
                    <a:lnTo>
                      <a:pt x="4" y="37"/>
                    </a:lnTo>
                    <a:lnTo>
                      <a:pt x="4" y="3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93" name="Freeform 910"/>
              <p:cNvSpPr>
                <a:spLocks/>
              </p:cNvSpPr>
              <p:nvPr/>
            </p:nvSpPr>
            <p:spPr bwMode="auto">
              <a:xfrm>
                <a:off x="3241" y="2111"/>
                <a:ext cx="9" cy="12"/>
              </a:xfrm>
              <a:custGeom>
                <a:avLst/>
                <a:gdLst>
                  <a:gd name="T0" fmla="*/ 5 w 9"/>
                  <a:gd name="T1" fmla="*/ 12 h 12"/>
                  <a:gd name="T2" fmla="*/ 5 w 9"/>
                  <a:gd name="T3" fmla="*/ 12 h 12"/>
                  <a:gd name="T4" fmla="*/ 8 w 9"/>
                  <a:gd name="T5" fmla="*/ 11 h 12"/>
                  <a:gd name="T6" fmla="*/ 9 w 9"/>
                  <a:gd name="T7" fmla="*/ 8 h 12"/>
                  <a:gd name="T8" fmla="*/ 9 w 9"/>
                  <a:gd name="T9" fmla="*/ 7 h 12"/>
                  <a:gd name="T10" fmla="*/ 8 w 9"/>
                  <a:gd name="T11" fmla="*/ 5 h 12"/>
                  <a:gd name="T12" fmla="*/ 7 w 9"/>
                  <a:gd name="T13" fmla="*/ 3 h 12"/>
                  <a:gd name="T14" fmla="*/ 5 w 9"/>
                  <a:gd name="T15" fmla="*/ 2 h 12"/>
                  <a:gd name="T16" fmla="*/ 3 w 9"/>
                  <a:gd name="T17" fmla="*/ 1 h 12"/>
                  <a:gd name="T18" fmla="*/ 2 w 9"/>
                  <a:gd name="T19" fmla="*/ 0 h 12"/>
                  <a:gd name="T20" fmla="*/ 0 w 9"/>
                  <a:gd name="T21" fmla="*/ 1 h 12"/>
                  <a:gd name="T22" fmla="*/ 2 w 9"/>
                  <a:gd name="T23" fmla="*/ 2 h 12"/>
                  <a:gd name="T24" fmla="*/ 4 w 9"/>
                  <a:gd name="T25" fmla="*/ 3 h 12"/>
                  <a:gd name="T26" fmla="*/ 5 w 9"/>
                  <a:gd name="T27" fmla="*/ 5 h 12"/>
                  <a:gd name="T28" fmla="*/ 7 w 9"/>
                  <a:gd name="T29" fmla="*/ 5 h 12"/>
                  <a:gd name="T30" fmla="*/ 7 w 9"/>
                  <a:gd name="T31" fmla="*/ 7 h 12"/>
                  <a:gd name="T32" fmla="*/ 7 w 9"/>
                  <a:gd name="T33" fmla="*/ 8 h 12"/>
                  <a:gd name="T34" fmla="*/ 7 w 9"/>
                  <a:gd name="T35" fmla="*/ 9 h 12"/>
                  <a:gd name="T36" fmla="*/ 4 w 9"/>
                  <a:gd name="T37" fmla="*/ 11 h 12"/>
                  <a:gd name="T38" fmla="*/ 5 w 9"/>
                  <a:gd name="T39" fmla="*/ 12 h 1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9"/>
                  <a:gd name="T61" fmla="*/ 0 h 12"/>
                  <a:gd name="T62" fmla="*/ 9 w 9"/>
                  <a:gd name="T63" fmla="*/ 12 h 1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9" h="12">
                    <a:moveTo>
                      <a:pt x="5" y="12"/>
                    </a:moveTo>
                    <a:lnTo>
                      <a:pt x="5" y="12"/>
                    </a:lnTo>
                    <a:lnTo>
                      <a:pt x="8" y="11"/>
                    </a:lnTo>
                    <a:lnTo>
                      <a:pt x="9" y="8"/>
                    </a:lnTo>
                    <a:lnTo>
                      <a:pt x="9" y="7"/>
                    </a:lnTo>
                    <a:lnTo>
                      <a:pt x="8" y="5"/>
                    </a:lnTo>
                    <a:lnTo>
                      <a:pt x="7" y="3"/>
                    </a:lnTo>
                    <a:lnTo>
                      <a:pt x="5" y="2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5"/>
                    </a:lnTo>
                    <a:lnTo>
                      <a:pt x="7" y="5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7" y="9"/>
                    </a:lnTo>
                    <a:lnTo>
                      <a:pt x="4" y="11"/>
                    </a:ln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94" name="Freeform 911"/>
              <p:cNvSpPr>
                <a:spLocks/>
              </p:cNvSpPr>
              <p:nvPr/>
            </p:nvSpPr>
            <p:spPr bwMode="auto">
              <a:xfrm>
                <a:off x="3143" y="2122"/>
                <a:ext cx="103" cy="45"/>
              </a:xfrm>
              <a:custGeom>
                <a:avLst/>
                <a:gdLst>
                  <a:gd name="T0" fmla="*/ 1 w 103"/>
                  <a:gd name="T1" fmla="*/ 45 h 45"/>
                  <a:gd name="T2" fmla="*/ 3 w 103"/>
                  <a:gd name="T3" fmla="*/ 44 h 45"/>
                  <a:gd name="T4" fmla="*/ 9 w 103"/>
                  <a:gd name="T5" fmla="*/ 42 h 45"/>
                  <a:gd name="T6" fmla="*/ 14 w 103"/>
                  <a:gd name="T7" fmla="*/ 40 h 45"/>
                  <a:gd name="T8" fmla="*/ 20 w 103"/>
                  <a:gd name="T9" fmla="*/ 37 h 45"/>
                  <a:gd name="T10" fmla="*/ 27 w 103"/>
                  <a:gd name="T11" fmla="*/ 35 h 45"/>
                  <a:gd name="T12" fmla="*/ 35 w 103"/>
                  <a:gd name="T13" fmla="*/ 31 h 45"/>
                  <a:gd name="T14" fmla="*/ 44 w 103"/>
                  <a:gd name="T15" fmla="*/ 27 h 45"/>
                  <a:gd name="T16" fmla="*/ 52 w 103"/>
                  <a:gd name="T17" fmla="*/ 23 h 45"/>
                  <a:gd name="T18" fmla="*/ 60 w 103"/>
                  <a:gd name="T19" fmla="*/ 20 h 45"/>
                  <a:gd name="T20" fmla="*/ 70 w 103"/>
                  <a:gd name="T21" fmla="*/ 17 h 45"/>
                  <a:gd name="T22" fmla="*/ 77 w 103"/>
                  <a:gd name="T23" fmla="*/ 12 h 45"/>
                  <a:gd name="T24" fmla="*/ 83 w 103"/>
                  <a:gd name="T25" fmla="*/ 9 h 45"/>
                  <a:gd name="T26" fmla="*/ 90 w 103"/>
                  <a:gd name="T27" fmla="*/ 6 h 45"/>
                  <a:gd name="T28" fmla="*/ 96 w 103"/>
                  <a:gd name="T29" fmla="*/ 4 h 45"/>
                  <a:gd name="T30" fmla="*/ 100 w 103"/>
                  <a:gd name="T31" fmla="*/ 3 h 45"/>
                  <a:gd name="T32" fmla="*/ 103 w 103"/>
                  <a:gd name="T33" fmla="*/ 1 h 45"/>
                  <a:gd name="T34" fmla="*/ 101 w 103"/>
                  <a:gd name="T35" fmla="*/ 0 h 45"/>
                  <a:gd name="T36" fmla="*/ 97 w 103"/>
                  <a:gd name="T37" fmla="*/ 2 h 45"/>
                  <a:gd name="T38" fmla="*/ 92 w 103"/>
                  <a:gd name="T39" fmla="*/ 4 h 45"/>
                  <a:gd name="T40" fmla="*/ 86 w 103"/>
                  <a:gd name="T41" fmla="*/ 6 h 45"/>
                  <a:gd name="T42" fmla="*/ 79 w 103"/>
                  <a:gd name="T43" fmla="*/ 9 h 45"/>
                  <a:gd name="T44" fmla="*/ 73 w 103"/>
                  <a:gd name="T45" fmla="*/ 12 h 45"/>
                  <a:gd name="T46" fmla="*/ 64 w 103"/>
                  <a:gd name="T47" fmla="*/ 17 h 45"/>
                  <a:gd name="T48" fmla="*/ 56 w 103"/>
                  <a:gd name="T49" fmla="*/ 20 h 45"/>
                  <a:gd name="T50" fmla="*/ 47 w 103"/>
                  <a:gd name="T51" fmla="*/ 23 h 45"/>
                  <a:gd name="T52" fmla="*/ 39 w 103"/>
                  <a:gd name="T53" fmla="*/ 27 h 45"/>
                  <a:gd name="T54" fmla="*/ 31 w 103"/>
                  <a:gd name="T55" fmla="*/ 31 h 45"/>
                  <a:gd name="T56" fmla="*/ 23 w 103"/>
                  <a:gd name="T57" fmla="*/ 35 h 45"/>
                  <a:gd name="T58" fmla="*/ 16 w 103"/>
                  <a:gd name="T59" fmla="*/ 37 h 45"/>
                  <a:gd name="T60" fmla="*/ 11 w 103"/>
                  <a:gd name="T61" fmla="*/ 40 h 45"/>
                  <a:gd name="T62" fmla="*/ 5 w 103"/>
                  <a:gd name="T63" fmla="*/ 42 h 45"/>
                  <a:gd name="T64" fmla="*/ 1 w 103"/>
                  <a:gd name="T65" fmla="*/ 43 h 45"/>
                  <a:gd name="T66" fmla="*/ 1 w 103"/>
                  <a:gd name="T67" fmla="*/ 45 h 4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5"/>
                  <a:gd name="T104" fmla="*/ 103 w 103"/>
                  <a:gd name="T105" fmla="*/ 45 h 45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5">
                    <a:moveTo>
                      <a:pt x="1" y="45"/>
                    </a:moveTo>
                    <a:lnTo>
                      <a:pt x="1" y="45"/>
                    </a:lnTo>
                    <a:lnTo>
                      <a:pt x="2" y="44"/>
                    </a:lnTo>
                    <a:lnTo>
                      <a:pt x="3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2" y="41"/>
                    </a:lnTo>
                    <a:lnTo>
                      <a:pt x="14" y="40"/>
                    </a:lnTo>
                    <a:lnTo>
                      <a:pt x="17" y="39"/>
                    </a:lnTo>
                    <a:lnTo>
                      <a:pt x="20" y="37"/>
                    </a:lnTo>
                    <a:lnTo>
                      <a:pt x="24" y="35"/>
                    </a:lnTo>
                    <a:lnTo>
                      <a:pt x="27" y="35"/>
                    </a:lnTo>
                    <a:lnTo>
                      <a:pt x="31" y="32"/>
                    </a:lnTo>
                    <a:lnTo>
                      <a:pt x="35" y="31"/>
                    </a:lnTo>
                    <a:lnTo>
                      <a:pt x="40" y="28"/>
                    </a:lnTo>
                    <a:lnTo>
                      <a:pt x="44" y="27"/>
                    </a:lnTo>
                    <a:lnTo>
                      <a:pt x="47" y="25"/>
                    </a:lnTo>
                    <a:lnTo>
                      <a:pt x="52" y="23"/>
                    </a:lnTo>
                    <a:lnTo>
                      <a:pt x="57" y="21"/>
                    </a:lnTo>
                    <a:lnTo>
                      <a:pt x="60" y="20"/>
                    </a:lnTo>
                    <a:lnTo>
                      <a:pt x="64" y="18"/>
                    </a:lnTo>
                    <a:lnTo>
                      <a:pt x="70" y="17"/>
                    </a:lnTo>
                    <a:lnTo>
                      <a:pt x="73" y="14"/>
                    </a:lnTo>
                    <a:lnTo>
                      <a:pt x="77" y="12"/>
                    </a:lnTo>
                    <a:lnTo>
                      <a:pt x="80" y="10"/>
                    </a:lnTo>
                    <a:lnTo>
                      <a:pt x="83" y="9"/>
                    </a:lnTo>
                    <a:lnTo>
                      <a:pt x="87" y="7"/>
                    </a:lnTo>
                    <a:lnTo>
                      <a:pt x="90" y="6"/>
                    </a:lnTo>
                    <a:lnTo>
                      <a:pt x="92" y="5"/>
                    </a:lnTo>
                    <a:lnTo>
                      <a:pt x="96" y="4"/>
                    </a:lnTo>
                    <a:lnTo>
                      <a:pt x="98" y="3"/>
                    </a:lnTo>
                    <a:lnTo>
                      <a:pt x="100" y="3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100" y="1"/>
                    </a:lnTo>
                    <a:lnTo>
                      <a:pt x="97" y="2"/>
                    </a:lnTo>
                    <a:lnTo>
                      <a:pt x="95" y="3"/>
                    </a:lnTo>
                    <a:lnTo>
                      <a:pt x="92" y="4"/>
                    </a:lnTo>
                    <a:lnTo>
                      <a:pt x="89" y="5"/>
                    </a:lnTo>
                    <a:lnTo>
                      <a:pt x="86" y="6"/>
                    </a:lnTo>
                    <a:lnTo>
                      <a:pt x="82" y="7"/>
                    </a:lnTo>
                    <a:lnTo>
                      <a:pt x="79" y="9"/>
                    </a:lnTo>
                    <a:lnTo>
                      <a:pt x="76" y="10"/>
                    </a:lnTo>
                    <a:lnTo>
                      <a:pt x="73" y="12"/>
                    </a:lnTo>
                    <a:lnTo>
                      <a:pt x="67" y="14"/>
                    </a:lnTo>
                    <a:lnTo>
                      <a:pt x="64" y="17"/>
                    </a:lnTo>
                    <a:lnTo>
                      <a:pt x="60" y="18"/>
                    </a:lnTo>
                    <a:lnTo>
                      <a:pt x="56" y="20"/>
                    </a:lnTo>
                    <a:lnTo>
                      <a:pt x="50" y="22"/>
                    </a:lnTo>
                    <a:lnTo>
                      <a:pt x="47" y="23"/>
                    </a:lnTo>
                    <a:lnTo>
                      <a:pt x="43" y="25"/>
                    </a:lnTo>
                    <a:lnTo>
                      <a:pt x="39" y="27"/>
                    </a:lnTo>
                    <a:lnTo>
                      <a:pt x="35" y="28"/>
                    </a:lnTo>
                    <a:lnTo>
                      <a:pt x="31" y="31"/>
                    </a:lnTo>
                    <a:lnTo>
                      <a:pt x="27" y="32"/>
                    </a:lnTo>
                    <a:lnTo>
                      <a:pt x="23" y="35"/>
                    </a:lnTo>
                    <a:lnTo>
                      <a:pt x="19" y="35"/>
                    </a:lnTo>
                    <a:lnTo>
                      <a:pt x="16" y="37"/>
                    </a:lnTo>
                    <a:lnTo>
                      <a:pt x="14" y="37"/>
                    </a:lnTo>
                    <a:lnTo>
                      <a:pt x="11" y="40"/>
                    </a:lnTo>
                    <a:lnTo>
                      <a:pt x="9" y="41"/>
                    </a:lnTo>
                    <a:lnTo>
                      <a:pt x="5" y="42"/>
                    </a:lnTo>
                    <a:lnTo>
                      <a:pt x="3" y="42"/>
                    </a:lnTo>
                    <a:lnTo>
                      <a:pt x="1" y="43"/>
                    </a:lnTo>
                    <a:lnTo>
                      <a:pt x="0" y="43"/>
                    </a:lnTo>
                    <a:lnTo>
                      <a:pt x="1" y="45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95" name="Freeform 912"/>
              <p:cNvSpPr>
                <a:spLocks/>
              </p:cNvSpPr>
              <p:nvPr/>
            </p:nvSpPr>
            <p:spPr bwMode="auto">
              <a:xfrm>
                <a:off x="3129" y="2163"/>
                <a:ext cx="14" cy="4"/>
              </a:xfrm>
              <a:custGeom>
                <a:avLst/>
                <a:gdLst>
                  <a:gd name="T0" fmla="*/ 0 w 14"/>
                  <a:gd name="T1" fmla="*/ 1 h 4"/>
                  <a:gd name="T2" fmla="*/ 0 w 14"/>
                  <a:gd name="T3" fmla="*/ 1 h 4"/>
                  <a:gd name="T4" fmla="*/ 1 w 14"/>
                  <a:gd name="T5" fmla="*/ 2 h 4"/>
                  <a:gd name="T6" fmla="*/ 3 w 14"/>
                  <a:gd name="T7" fmla="*/ 3 h 4"/>
                  <a:gd name="T8" fmla="*/ 7 w 14"/>
                  <a:gd name="T9" fmla="*/ 3 h 4"/>
                  <a:gd name="T10" fmla="*/ 7 w 14"/>
                  <a:gd name="T11" fmla="*/ 3 h 4"/>
                  <a:gd name="T12" fmla="*/ 10 w 14"/>
                  <a:gd name="T13" fmla="*/ 4 h 4"/>
                  <a:gd name="T14" fmla="*/ 11 w 14"/>
                  <a:gd name="T15" fmla="*/ 4 h 4"/>
                  <a:gd name="T16" fmla="*/ 13 w 14"/>
                  <a:gd name="T17" fmla="*/ 4 h 4"/>
                  <a:gd name="T18" fmla="*/ 14 w 14"/>
                  <a:gd name="T19" fmla="*/ 4 h 4"/>
                  <a:gd name="T20" fmla="*/ 13 w 14"/>
                  <a:gd name="T21" fmla="*/ 2 h 4"/>
                  <a:gd name="T22" fmla="*/ 11 w 14"/>
                  <a:gd name="T23" fmla="*/ 2 h 4"/>
                  <a:gd name="T24" fmla="*/ 10 w 14"/>
                  <a:gd name="T25" fmla="*/ 2 h 4"/>
                  <a:gd name="T26" fmla="*/ 9 w 14"/>
                  <a:gd name="T27" fmla="*/ 2 h 4"/>
                  <a:gd name="T28" fmla="*/ 7 w 14"/>
                  <a:gd name="T29" fmla="*/ 1 h 4"/>
                  <a:gd name="T30" fmla="*/ 3 w 14"/>
                  <a:gd name="T31" fmla="*/ 1 h 4"/>
                  <a:gd name="T32" fmla="*/ 2 w 14"/>
                  <a:gd name="T33" fmla="*/ 1 h 4"/>
                  <a:gd name="T34" fmla="*/ 1 w 14"/>
                  <a:gd name="T35" fmla="*/ 0 h 4"/>
                  <a:gd name="T36" fmla="*/ 0 w 14"/>
                  <a:gd name="T37" fmla="*/ 1 h 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4"/>
                  <a:gd name="T59" fmla="*/ 14 w 14"/>
                  <a:gd name="T60" fmla="*/ 4 h 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4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3" y="3"/>
                    </a:lnTo>
                    <a:lnTo>
                      <a:pt x="7" y="3"/>
                    </a:lnTo>
                    <a:lnTo>
                      <a:pt x="10" y="4"/>
                    </a:lnTo>
                    <a:lnTo>
                      <a:pt x="11" y="4"/>
                    </a:lnTo>
                    <a:lnTo>
                      <a:pt x="13" y="4"/>
                    </a:lnTo>
                    <a:lnTo>
                      <a:pt x="14" y="4"/>
                    </a:lnTo>
                    <a:lnTo>
                      <a:pt x="13" y="2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2"/>
                    </a:lnTo>
                    <a:lnTo>
                      <a:pt x="7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96" name="Freeform 913"/>
              <p:cNvSpPr>
                <a:spLocks/>
              </p:cNvSpPr>
              <p:nvPr/>
            </p:nvSpPr>
            <p:spPr bwMode="auto">
              <a:xfrm>
                <a:off x="3015" y="2102"/>
                <a:ext cx="115" cy="62"/>
              </a:xfrm>
              <a:custGeom>
                <a:avLst/>
                <a:gdLst>
                  <a:gd name="T0" fmla="*/ 0 w 115"/>
                  <a:gd name="T1" fmla="*/ 1 h 62"/>
                  <a:gd name="T2" fmla="*/ 2 w 115"/>
                  <a:gd name="T3" fmla="*/ 2 h 62"/>
                  <a:gd name="T4" fmla="*/ 5 w 115"/>
                  <a:gd name="T5" fmla="*/ 5 h 62"/>
                  <a:gd name="T6" fmla="*/ 11 w 115"/>
                  <a:gd name="T7" fmla="*/ 8 h 62"/>
                  <a:gd name="T8" fmla="*/ 18 w 115"/>
                  <a:gd name="T9" fmla="*/ 11 h 62"/>
                  <a:gd name="T10" fmla="*/ 26 w 115"/>
                  <a:gd name="T11" fmla="*/ 16 h 62"/>
                  <a:gd name="T12" fmla="*/ 35 w 115"/>
                  <a:gd name="T13" fmla="*/ 21 h 62"/>
                  <a:gd name="T14" fmla="*/ 45 w 115"/>
                  <a:gd name="T15" fmla="*/ 26 h 62"/>
                  <a:gd name="T16" fmla="*/ 54 w 115"/>
                  <a:gd name="T17" fmla="*/ 30 h 62"/>
                  <a:gd name="T18" fmla="*/ 64 w 115"/>
                  <a:gd name="T19" fmla="*/ 37 h 62"/>
                  <a:gd name="T20" fmla="*/ 75 w 115"/>
                  <a:gd name="T21" fmla="*/ 41 h 62"/>
                  <a:gd name="T22" fmla="*/ 83 w 115"/>
                  <a:gd name="T23" fmla="*/ 46 h 62"/>
                  <a:gd name="T24" fmla="*/ 93 w 115"/>
                  <a:gd name="T25" fmla="*/ 52 h 62"/>
                  <a:gd name="T26" fmla="*/ 99 w 115"/>
                  <a:gd name="T27" fmla="*/ 55 h 62"/>
                  <a:gd name="T28" fmla="*/ 107 w 115"/>
                  <a:gd name="T29" fmla="*/ 58 h 62"/>
                  <a:gd name="T30" fmla="*/ 112 w 115"/>
                  <a:gd name="T31" fmla="*/ 61 h 62"/>
                  <a:gd name="T32" fmla="*/ 114 w 115"/>
                  <a:gd name="T33" fmla="*/ 62 h 62"/>
                  <a:gd name="T34" fmla="*/ 114 w 115"/>
                  <a:gd name="T35" fmla="*/ 60 h 62"/>
                  <a:gd name="T36" fmla="*/ 110 w 115"/>
                  <a:gd name="T37" fmla="*/ 58 h 62"/>
                  <a:gd name="T38" fmla="*/ 104 w 115"/>
                  <a:gd name="T39" fmla="*/ 55 h 62"/>
                  <a:gd name="T40" fmla="*/ 97 w 115"/>
                  <a:gd name="T41" fmla="*/ 52 h 62"/>
                  <a:gd name="T42" fmla="*/ 90 w 115"/>
                  <a:gd name="T43" fmla="*/ 46 h 62"/>
                  <a:gd name="T44" fmla="*/ 80 w 115"/>
                  <a:gd name="T45" fmla="*/ 42 h 62"/>
                  <a:gd name="T46" fmla="*/ 70 w 115"/>
                  <a:gd name="T47" fmla="*/ 38 h 62"/>
                  <a:gd name="T48" fmla="*/ 61 w 115"/>
                  <a:gd name="T49" fmla="*/ 32 h 62"/>
                  <a:gd name="T50" fmla="*/ 51 w 115"/>
                  <a:gd name="T51" fmla="*/ 26 h 62"/>
                  <a:gd name="T52" fmla="*/ 41 w 115"/>
                  <a:gd name="T53" fmla="*/ 22 h 62"/>
                  <a:gd name="T54" fmla="*/ 32 w 115"/>
                  <a:gd name="T55" fmla="*/ 17 h 62"/>
                  <a:gd name="T56" fmla="*/ 23 w 115"/>
                  <a:gd name="T57" fmla="*/ 13 h 62"/>
                  <a:gd name="T58" fmla="*/ 16 w 115"/>
                  <a:gd name="T59" fmla="*/ 8 h 62"/>
                  <a:gd name="T60" fmla="*/ 8 w 115"/>
                  <a:gd name="T61" fmla="*/ 5 h 62"/>
                  <a:gd name="T62" fmla="*/ 4 w 115"/>
                  <a:gd name="T63" fmla="*/ 2 h 62"/>
                  <a:gd name="T64" fmla="*/ 1 w 115"/>
                  <a:gd name="T65" fmla="*/ 0 h 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2"/>
                  <a:gd name="T101" fmla="*/ 115 w 115"/>
                  <a:gd name="T102" fmla="*/ 62 h 6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2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4"/>
                    </a:lnTo>
                    <a:lnTo>
                      <a:pt x="5" y="5"/>
                    </a:lnTo>
                    <a:lnTo>
                      <a:pt x="7" y="6"/>
                    </a:lnTo>
                    <a:lnTo>
                      <a:pt x="11" y="8"/>
                    </a:lnTo>
                    <a:lnTo>
                      <a:pt x="15" y="11"/>
                    </a:lnTo>
                    <a:lnTo>
                      <a:pt x="18" y="11"/>
                    </a:lnTo>
                    <a:lnTo>
                      <a:pt x="22" y="14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1"/>
                    </a:lnTo>
                    <a:lnTo>
                      <a:pt x="39" y="23"/>
                    </a:lnTo>
                    <a:lnTo>
                      <a:pt x="45" y="26"/>
                    </a:lnTo>
                    <a:lnTo>
                      <a:pt x="49" y="28"/>
                    </a:lnTo>
                    <a:lnTo>
                      <a:pt x="54" y="30"/>
                    </a:lnTo>
                    <a:lnTo>
                      <a:pt x="60" y="34"/>
                    </a:lnTo>
                    <a:lnTo>
                      <a:pt x="64" y="37"/>
                    </a:lnTo>
                    <a:lnTo>
                      <a:pt x="70" y="39"/>
                    </a:lnTo>
                    <a:lnTo>
                      <a:pt x="75" y="41"/>
                    </a:lnTo>
                    <a:lnTo>
                      <a:pt x="79" y="44"/>
                    </a:lnTo>
                    <a:lnTo>
                      <a:pt x="83" y="46"/>
                    </a:lnTo>
                    <a:lnTo>
                      <a:pt x="88" y="48"/>
                    </a:lnTo>
                    <a:lnTo>
                      <a:pt x="93" y="52"/>
                    </a:lnTo>
                    <a:lnTo>
                      <a:pt x="96" y="54"/>
                    </a:lnTo>
                    <a:lnTo>
                      <a:pt x="99" y="55"/>
                    </a:lnTo>
                    <a:lnTo>
                      <a:pt x="102" y="57"/>
                    </a:lnTo>
                    <a:lnTo>
                      <a:pt x="107" y="58"/>
                    </a:lnTo>
                    <a:lnTo>
                      <a:pt x="110" y="60"/>
                    </a:lnTo>
                    <a:lnTo>
                      <a:pt x="112" y="61"/>
                    </a:lnTo>
                    <a:lnTo>
                      <a:pt x="113" y="61"/>
                    </a:lnTo>
                    <a:lnTo>
                      <a:pt x="114" y="62"/>
                    </a:lnTo>
                    <a:lnTo>
                      <a:pt x="115" y="61"/>
                    </a:lnTo>
                    <a:lnTo>
                      <a:pt x="114" y="60"/>
                    </a:lnTo>
                    <a:lnTo>
                      <a:pt x="112" y="59"/>
                    </a:lnTo>
                    <a:lnTo>
                      <a:pt x="110" y="58"/>
                    </a:lnTo>
                    <a:lnTo>
                      <a:pt x="107" y="57"/>
                    </a:lnTo>
                    <a:lnTo>
                      <a:pt x="104" y="55"/>
                    </a:lnTo>
                    <a:lnTo>
                      <a:pt x="100" y="54"/>
                    </a:lnTo>
                    <a:lnTo>
                      <a:pt x="97" y="52"/>
                    </a:lnTo>
                    <a:lnTo>
                      <a:pt x="94" y="48"/>
                    </a:lnTo>
                    <a:lnTo>
                      <a:pt x="90" y="46"/>
                    </a:lnTo>
                    <a:lnTo>
                      <a:pt x="84" y="44"/>
                    </a:lnTo>
                    <a:lnTo>
                      <a:pt x="80" y="42"/>
                    </a:lnTo>
                    <a:lnTo>
                      <a:pt x="76" y="40"/>
                    </a:lnTo>
                    <a:lnTo>
                      <a:pt x="70" y="38"/>
                    </a:lnTo>
                    <a:lnTo>
                      <a:pt x="65" y="36"/>
                    </a:lnTo>
                    <a:lnTo>
                      <a:pt x="61" y="32"/>
                    </a:lnTo>
                    <a:lnTo>
                      <a:pt x="55" y="29"/>
                    </a:lnTo>
                    <a:lnTo>
                      <a:pt x="51" y="26"/>
                    </a:lnTo>
                    <a:lnTo>
                      <a:pt x="46" y="24"/>
                    </a:lnTo>
                    <a:lnTo>
                      <a:pt x="41" y="22"/>
                    </a:lnTo>
                    <a:lnTo>
                      <a:pt x="36" y="20"/>
                    </a:lnTo>
                    <a:lnTo>
                      <a:pt x="32" y="17"/>
                    </a:lnTo>
                    <a:lnTo>
                      <a:pt x="27" y="15"/>
                    </a:lnTo>
                    <a:lnTo>
                      <a:pt x="23" y="13"/>
                    </a:lnTo>
                    <a:lnTo>
                      <a:pt x="19" y="11"/>
                    </a:lnTo>
                    <a:lnTo>
                      <a:pt x="16" y="8"/>
                    </a:lnTo>
                    <a:lnTo>
                      <a:pt x="13" y="6"/>
                    </a:lnTo>
                    <a:lnTo>
                      <a:pt x="8" y="5"/>
                    </a:lnTo>
                    <a:lnTo>
                      <a:pt x="6" y="4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97" name="Freeform 914"/>
              <p:cNvSpPr>
                <a:spLocks/>
              </p:cNvSpPr>
              <p:nvPr/>
            </p:nvSpPr>
            <p:spPr bwMode="auto">
              <a:xfrm>
                <a:off x="3003" y="2093"/>
                <a:ext cx="13" cy="10"/>
              </a:xfrm>
              <a:custGeom>
                <a:avLst/>
                <a:gdLst>
                  <a:gd name="T0" fmla="*/ 0 w 13"/>
                  <a:gd name="T1" fmla="*/ 1 h 10"/>
                  <a:gd name="T2" fmla="*/ 0 w 13"/>
                  <a:gd name="T3" fmla="*/ 1 h 10"/>
                  <a:gd name="T4" fmla="*/ 1 w 13"/>
                  <a:gd name="T5" fmla="*/ 3 h 10"/>
                  <a:gd name="T6" fmla="*/ 2 w 13"/>
                  <a:gd name="T7" fmla="*/ 4 h 10"/>
                  <a:gd name="T8" fmla="*/ 5 w 13"/>
                  <a:gd name="T9" fmla="*/ 5 h 10"/>
                  <a:gd name="T10" fmla="*/ 7 w 13"/>
                  <a:gd name="T11" fmla="*/ 7 h 10"/>
                  <a:gd name="T12" fmla="*/ 8 w 13"/>
                  <a:gd name="T13" fmla="*/ 7 h 10"/>
                  <a:gd name="T14" fmla="*/ 9 w 13"/>
                  <a:gd name="T15" fmla="*/ 7 h 10"/>
                  <a:gd name="T16" fmla="*/ 11 w 13"/>
                  <a:gd name="T17" fmla="*/ 9 h 10"/>
                  <a:gd name="T18" fmla="*/ 12 w 13"/>
                  <a:gd name="T19" fmla="*/ 10 h 10"/>
                  <a:gd name="T20" fmla="*/ 13 w 13"/>
                  <a:gd name="T21" fmla="*/ 9 h 10"/>
                  <a:gd name="T22" fmla="*/ 11 w 13"/>
                  <a:gd name="T23" fmla="*/ 7 h 10"/>
                  <a:gd name="T24" fmla="*/ 10 w 13"/>
                  <a:gd name="T25" fmla="*/ 7 h 10"/>
                  <a:gd name="T26" fmla="*/ 9 w 13"/>
                  <a:gd name="T27" fmla="*/ 5 h 10"/>
                  <a:gd name="T28" fmla="*/ 8 w 13"/>
                  <a:gd name="T29" fmla="*/ 4 h 10"/>
                  <a:gd name="T30" fmla="*/ 7 w 13"/>
                  <a:gd name="T31" fmla="*/ 4 h 10"/>
                  <a:gd name="T32" fmla="*/ 5 w 13"/>
                  <a:gd name="T33" fmla="*/ 3 h 10"/>
                  <a:gd name="T34" fmla="*/ 2 w 13"/>
                  <a:gd name="T35" fmla="*/ 1 h 10"/>
                  <a:gd name="T36" fmla="*/ 1 w 13"/>
                  <a:gd name="T37" fmla="*/ 0 h 10"/>
                  <a:gd name="T38" fmla="*/ 0 w 13"/>
                  <a:gd name="T39" fmla="*/ 1 h 1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10"/>
                  <a:gd name="T62" fmla="*/ 13 w 13"/>
                  <a:gd name="T63" fmla="*/ 10 h 1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10">
                    <a:moveTo>
                      <a:pt x="0" y="1"/>
                    </a:moveTo>
                    <a:lnTo>
                      <a:pt x="0" y="1"/>
                    </a:lnTo>
                    <a:lnTo>
                      <a:pt x="1" y="3"/>
                    </a:lnTo>
                    <a:lnTo>
                      <a:pt x="2" y="4"/>
                    </a:lnTo>
                    <a:lnTo>
                      <a:pt x="5" y="5"/>
                    </a:lnTo>
                    <a:lnTo>
                      <a:pt x="7" y="7"/>
                    </a:lnTo>
                    <a:lnTo>
                      <a:pt x="8" y="7"/>
                    </a:lnTo>
                    <a:lnTo>
                      <a:pt x="9" y="7"/>
                    </a:lnTo>
                    <a:lnTo>
                      <a:pt x="11" y="9"/>
                    </a:lnTo>
                    <a:lnTo>
                      <a:pt x="12" y="10"/>
                    </a:lnTo>
                    <a:lnTo>
                      <a:pt x="13" y="9"/>
                    </a:lnTo>
                    <a:lnTo>
                      <a:pt x="11" y="7"/>
                    </a:lnTo>
                    <a:lnTo>
                      <a:pt x="10" y="7"/>
                    </a:lnTo>
                    <a:lnTo>
                      <a:pt x="9" y="5"/>
                    </a:lnTo>
                    <a:lnTo>
                      <a:pt x="8" y="4"/>
                    </a:lnTo>
                    <a:lnTo>
                      <a:pt x="7" y="4"/>
                    </a:lnTo>
                    <a:lnTo>
                      <a:pt x="5" y="3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98" name="Freeform 915"/>
              <p:cNvSpPr>
                <a:spLocks/>
              </p:cNvSpPr>
              <p:nvPr/>
            </p:nvSpPr>
            <p:spPr bwMode="auto">
              <a:xfrm>
                <a:off x="3132" y="2125"/>
                <a:ext cx="10" cy="41"/>
              </a:xfrm>
              <a:custGeom>
                <a:avLst/>
                <a:gdLst>
                  <a:gd name="T0" fmla="*/ 10 w 10"/>
                  <a:gd name="T1" fmla="*/ 41 h 41"/>
                  <a:gd name="T2" fmla="*/ 8 w 10"/>
                  <a:gd name="T3" fmla="*/ 41 h 41"/>
                  <a:gd name="T4" fmla="*/ 7 w 10"/>
                  <a:gd name="T5" fmla="*/ 40 h 41"/>
                  <a:gd name="T6" fmla="*/ 6 w 10"/>
                  <a:gd name="T7" fmla="*/ 38 h 41"/>
                  <a:gd name="T8" fmla="*/ 4 w 10"/>
                  <a:gd name="T9" fmla="*/ 36 h 41"/>
                  <a:gd name="T10" fmla="*/ 4 w 10"/>
                  <a:gd name="T11" fmla="*/ 34 h 41"/>
                  <a:gd name="T12" fmla="*/ 2 w 10"/>
                  <a:gd name="T13" fmla="*/ 31 h 41"/>
                  <a:gd name="T14" fmla="*/ 0 w 10"/>
                  <a:gd name="T15" fmla="*/ 29 h 41"/>
                  <a:gd name="T16" fmla="*/ 0 w 10"/>
                  <a:gd name="T17" fmla="*/ 25 h 41"/>
                  <a:gd name="T18" fmla="*/ 0 w 10"/>
                  <a:gd name="T19" fmla="*/ 21 h 41"/>
                  <a:gd name="T20" fmla="*/ 0 w 10"/>
                  <a:gd name="T21" fmla="*/ 17 h 41"/>
                  <a:gd name="T22" fmla="*/ 0 w 10"/>
                  <a:gd name="T23" fmla="*/ 13 h 41"/>
                  <a:gd name="T24" fmla="*/ 2 w 10"/>
                  <a:gd name="T25" fmla="*/ 8 h 41"/>
                  <a:gd name="T26" fmla="*/ 4 w 10"/>
                  <a:gd name="T27" fmla="*/ 6 h 41"/>
                  <a:gd name="T28" fmla="*/ 4 w 10"/>
                  <a:gd name="T29" fmla="*/ 3 h 41"/>
                  <a:gd name="T30" fmla="*/ 6 w 10"/>
                  <a:gd name="T31" fmla="*/ 1 h 41"/>
                  <a:gd name="T32" fmla="*/ 8 w 10"/>
                  <a:gd name="T33" fmla="*/ 0 h 41"/>
                  <a:gd name="T34" fmla="*/ 10 w 10"/>
                  <a:gd name="T35" fmla="*/ 41 h 4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"/>
                  <a:gd name="T55" fmla="*/ 0 h 41"/>
                  <a:gd name="T56" fmla="*/ 10 w 10"/>
                  <a:gd name="T57" fmla="*/ 41 h 4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" h="41">
                    <a:moveTo>
                      <a:pt x="10" y="41"/>
                    </a:moveTo>
                    <a:lnTo>
                      <a:pt x="8" y="41"/>
                    </a:lnTo>
                    <a:lnTo>
                      <a:pt x="7" y="40"/>
                    </a:lnTo>
                    <a:lnTo>
                      <a:pt x="6" y="38"/>
                    </a:lnTo>
                    <a:lnTo>
                      <a:pt x="4" y="36"/>
                    </a:lnTo>
                    <a:lnTo>
                      <a:pt x="4" y="34"/>
                    </a:lnTo>
                    <a:lnTo>
                      <a:pt x="2" y="31"/>
                    </a:lnTo>
                    <a:lnTo>
                      <a:pt x="0" y="29"/>
                    </a:lnTo>
                    <a:lnTo>
                      <a:pt x="0" y="25"/>
                    </a:lnTo>
                    <a:lnTo>
                      <a:pt x="0" y="21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2" y="8"/>
                    </a:lnTo>
                    <a:lnTo>
                      <a:pt x="4" y="6"/>
                    </a:lnTo>
                    <a:lnTo>
                      <a:pt x="4" y="3"/>
                    </a:lnTo>
                    <a:lnTo>
                      <a:pt x="6" y="1"/>
                    </a:lnTo>
                    <a:lnTo>
                      <a:pt x="8" y="0"/>
                    </a:lnTo>
                    <a:lnTo>
                      <a:pt x="1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99" name="Freeform 916"/>
              <p:cNvSpPr>
                <a:spLocks/>
              </p:cNvSpPr>
              <p:nvPr/>
            </p:nvSpPr>
            <p:spPr bwMode="auto">
              <a:xfrm>
                <a:off x="3132" y="2150"/>
                <a:ext cx="10" cy="17"/>
              </a:xfrm>
              <a:custGeom>
                <a:avLst/>
                <a:gdLst>
                  <a:gd name="T0" fmla="*/ 0 w 10"/>
                  <a:gd name="T1" fmla="*/ 0 h 17"/>
                  <a:gd name="T2" fmla="*/ 0 w 10"/>
                  <a:gd name="T3" fmla="*/ 0 h 17"/>
                  <a:gd name="T4" fmla="*/ 0 w 10"/>
                  <a:gd name="T5" fmla="*/ 3 h 17"/>
                  <a:gd name="T6" fmla="*/ 2 w 10"/>
                  <a:gd name="T7" fmla="*/ 7 h 17"/>
                  <a:gd name="T8" fmla="*/ 2 w 10"/>
                  <a:gd name="T9" fmla="*/ 9 h 17"/>
                  <a:gd name="T10" fmla="*/ 3 w 10"/>
                  <a:gd name="T11" fmla="*/ 12 h 17"/>
                  <a:gd name="T12" fmla="*/ 5 w 10"/>
                  <a:gd name="T13" fmla="*/ 14 h 17"/>
                  <a:gd name="T14" fmla="*/ 6 w 10"/>
                  <a:gd name="T15" fmla="*/ 16 h 17"/>
                  <a:gd name="T16" fmla="*/ 8 w 10"/>
                  <a:gd name="T17" fmla="*/ 17 h 17"/>
                  <a:gd name="T18" fmla="*/ 10 w 10"/>
                  <a:gd name="T19" fmla="*/ 17 h 17"/>
                  <a:gd name="T20" fmla="*/ 10 w 10"/>
                  <a:gd name="T21" fmla="*/ 15 h 17"/>
                  <a:gd name="T22" fmla="*/ 8 w 10"/>
                  <a:gd name="T23" fmla="*/ 15 h 17"/>
                  <a:gd name="T24" fmla="*/ 7 w 10"/>
                  <a:gd name="T25" fmla="*/ 15 h 17"/>
                  <a:gd name="T26" fmla="*/ 6 w 10"/>
                  <a:gd name="T27" fmla="*/ 13 h 17"/>
                  <a:gd name="T28" fmla="*/ 5 w 10"/>
                  <a:gd name="T29" fmla="*/ 11 h 17"/>
                  <a:gd name="T30" fmla="*/ 4 w 10"/>
                  <a:gd name="T31" fmla="*/ 9 h 17"/>
                  <a:gd name="T32" fmla="*/ 3 w 10"/>
                  <a:gd name="T33" fmla="*/ 7 h 17"/>
                  <a:gd name="T34" fmla="*/ 3 w 10"/>
                  <a:gd name="T35" fmla="*/ 3 h 17"/>
                  <a:gd name="T36" fmla="*/ 3 w 10"/>
                  <a:gd name="T37" fmla="*/ 0 h 17"/>
                  <a:gd name="T38" fmla="*/ 0 w 10"/>
                  <a:gd name="T39" fmla="*/ 0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"/>
                  <a:gd name="T61" fmla="*/ 0 h 17"/>
                  <a:gd name="T62" fmla="*/ 10 w 10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" h="17">
                    <a:moveTo>
                      <a:pt x="0" y="0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3" y="12"/>
                    </a:lnTo>
                    <a:lnTo>
                      <a:pt x="5" y="14"/>
                    </a:lnTo>
                    <a:lnTo>
                      <a:pt x="6" y="16"/>
                    </a:lnTo>
                    <a:lnTo>
                      <a:pt x="8" y="17"/>
                    </a:lnTo>
                    <a:lnTo>
                      <a:pt x="10" y="17"/>
                    </a:lnTo>
                    <a:lnTo>
                      <a:pt x="10" y="15"/>
                    </a:lnTo>
                    <a:lnTo>
                      <a:pt x="8" y="15"/>
                    </a:lnTo>
                    <a:lnTo>
                      <a:pt x="7" y="15"/>
                    </a:lnTo>
                    <a:lnTo>
                      <a:pt x="6" y="13"/>
                    </a:lnTo>
                    <a:lnTo>
                      <a:pt x="5" y="11"/>
                    </a:lnTo>
                    <a:lnTo>
                      <a:pt x="4" y="9"/>
                    </a:lnTo>
                    <a:lnTo>
                      <a:pt x="3" y="7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00" name="Freeform 917"/>
              <p:cNvSpPr>
                <a:spLocks/>
              </p:cNvSpPr>
              <p:nvPr/>
            </p:nvSpPr>
            <p:spPr bwMode="auto">
              <a:xfrm>
                <a:off x="3132" y="2125"/>
                <a:ext cx="9" cy="25"/>
              </a:xfrm>
              <a:custGeom>
                <a:avLst/>
                <a:gdLst>
                  <a:gd name="T0" fmla="*/ 8 w 9"/>
                  <a:gd name="T1" fmla="*/ 0 h 25"/>
                  <a:gd name="T2" fmla="*/ 6 w 9"/>
                  <a:gd name="T3" fmla="*/ 1 h 25"/>
                  <a:gd name="T4" fmla="*/ 4 w 9"/>
                  <a:gd name="T5" fmla="*/ 3 h 25"/>
                  <a:gd name="T6" fmla="*/ 3 w 9"/>
                  <a:gd name="T7" fmla="*/ 6 h 25"/>
                  <a:gd name="T8" fmla="*/ 2 w 9"/>
                  <a:gd name="T9" fmla="*/ 9 h 25"/>
                  <a:gd name="T10" fmla="*/ 0 w 9"/>
                  <a:gd name="T11" fmla="*/ 13 h 25"/>
                  <a:gd name="T12" fmla="*/ 0 w 9"/>
                  <a:gd name="T13" fmla="*/ 17 h 25"/>
                  <a:gd name="T14" fmla="*/ 0 w 9"/>
                  <a:gd name="T15" fmla="*/ 21 h 25"/>
                  <a:gd name="T16" fmla="*/ 0 w 9"/>
                  <a:gd name="T17" fmla="*/ 25 h 25"/>
                  <a:gd name="T18" fmla="*/ 3 w 9"/>
                  <a:gd name="T19" fmla="*/ 25 h 25"/>
                  <a:gd name="T20" fmla="*/ 3 w 9"/>
                  <a:gd name="T21" fmla="*/ 21 h 25"/>
                  <a:gd name="T22" fmla="*/ 3 w 9"/>
                  <a:gd name="T23" fmla="*/ 17 h 25"/>
                  <a:gd name="T24" fmla="*/ 3 w 9"/>
                  <a:gd name="T25" fmla="*/ 13 h 25"/>
                  <a:gd name="T26" fmla="*/ 4 w 9"/>
                  <a:gd name="T27" fmla="*/ 9 h 25"/>
                  <a:gd name="T28" fmla="*/ 4 w 9"/>
                  <a:gd name="T29" fmla="*/ 6 h 25"/>
                  <a:gd name="T30" fmla="*/ 6 w 9"/>
                  <a:gd name="T31" fmla="*/ 4 h 25"/>
                  <a:gd name="T32" fmla="*/ 7 w 9"/>
                  <a:gd name="T33" fmla="*/ 3 h 25"/>
                  <a:gd name="T34" fmla="*/ 9 w 9"/>
                  <a:gd name="T35" fmla="*/ 1 h 25"/>
                  <a:gd name="T36" fmla="*/ 8 w 9"/>
                  <a:gd name="T37" fmla="*/ 0 h 2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25"/>
                  <a:gd name="T59" fmla="*/ 9 w 9"/>
                  <a:gd name="T60" fmla="*/ 25 h 2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25">
                    <a:moveTo>
                      <a:pt x="8" y="0"/>
                    </a:moveTo>
                    <a:lnTo>
                      <a:pt x="6" y="1"/>
                    </a:lnTo>
                    <a:lnTo>
                      <a:pt x="4" y="3"/>
                    </a:lnTo>
                    <a:lnTo>
                      <a:pt x="3" y="6"/>
                    </a:lnTo>
                    <a:lnTo>
                      <a:pt x="2" y="9"/>
                    </a:lnTo>
                    <a:lnTo>
                      <a:pt x="0" y="13"/>
                    </a:lnTo>
                    <a:lnTo>
                      <a:pt x="0" y="17"/>
                    </a:lnTo>
                    <a:lnTo>
                      <a:pt x="0" y="21"/>
                    </a:lnTo>
                    <a:lnTo>
                      <a:pt x="0" y="25"/>
                    </a:lnTo>
                    <a:lnTo>
                      <a:pt x="3" y="25"/>
                    </a:lnTo>
                    <a:lnTo>
                      <a:pt x="3" y="21"/>
                    </a:lnTo>
                    <a:lnTo>
                      <a:pt x="3" y="17"/>
                    </a:lnTo>
                    <a:lnTo>
                      <a:pt x="3" y="13"/>
                    </a:lnTo>
                    <a:lnTo>
                      <a:pt x="4" y="9"/>
                    </a:lnTo>
                    <a:lnTo>
                      <a:pt x="4" y="6"/>
                    </a:lnTo>
                    <a:lnTo>
                      <a:pt x="6" y="4"/>
                    </a:lnTo>
                    <a:lnTo>
                      <a:pt x="7" y="3"/>
                    </a:lnTo>
                    <a:lnTo>
                      <a:pt x="9" y="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01" name="Freeform 918"/>
              <p:cNvSpPr>
                <a:spLocks/>
              </p:cNvSpPr>
              <p:nvPr/>
            </p:nvSpPr>
            <p:spPr bwMode="auto">
              <a:xfrm>
                <a:off x="3011" y="2010"/>
                <a:ext cx="239" cy="115"/>
              </a:xfrm>
              <a:custGeom>
                <a:avLst/>
                <a:gdLst>
                  <a:gd name="T0" fmla="*/ 8 w 239"/>
                  <a:gd name="T1" fmla="*/ 42 h 115"/>
                  <a:gd name="T2" fmla="*/ 24 w 239"/>
                  <a:gd name="T3" fmla="*/ 35 h 115"/>
                  <a:gd name="T4" fmla="*/ 45 w 239"/>
                  <a:gd name="T5" fmla="*/ 24 h 115"/>
                  <a:gd name="T6" fmla="*/ 67 w 239"/>
                  <a:gd name="T7" fmla="*/ 14 h 115"/>
                  <a:gd name="T8" fmla="*/ 85 w 239"/>
                  <a:gd name="T9" fmla="*/ 5 h 115"/>
                  <a:gd name="T10" fmla="*/ 94 w 239"/>
                  <a:gd name="T11" fmla="*/ 0 h 115"/>
                  <a:gd name="T12" fmla="*/ 99 w 239"/>
                  <a:gd name="T13" fmla="*/ 0 h 115"/>
                  <a:gd name="T14" fmla="*/ 104 w 239"/>
                  <a:gd name="T15" fmla="*/ 2 h 115"/>
                  <a:gd name="T16" fmla="*/ 108 w 239"/>
                  <a:gd name="T17" fmla="*/ 4 h 115"/>
                  <a:gd name="T18" fmla="*/ 114 w 239"/>
                  <a:gd name="T19" fmla="*/ 7 h 115"/>
                  <a:gd name="T20" fmla="*/ 126 w 239"/>
                  <a:gd name="T21" fmla="*/ 12 h 115"/>
                  <a:gd name="T22" fmla="*/ 140 w 239"/>
                  <a:gd name="T23" fmla="*/ 19 h 115"/>
                  <a:gd name="T24" fmla="*/ 155 w 239"/>
                  <a:gd name="T25" fmla="*/ 25 h 115"/>
                  <a:gd name="T26" fmla="*/ 172 w 239"/>
                  <a:gd name="T27" fmla="*/ 34 h 115"/>
                  <a:gd name="T28" fmla="*/ 188 w 239"/>
                  <a:gd name="T29" fmla="*/ 40 h 115"/>
                  <a:gd name="T30" fmla="*/ 204 w 239"/>
                  <a:gd name="T31" fmla="*/ 47 h 115"/>
                  <a:gd name="T32" fmla="*/ 217 w 239"/>
                  <a:gd name="T33" fmla="*/ 54 h 115"/>
                  <a:gd name="T34" fmla="*/ 226 w 239"/>
                  <a:gd name="T35" fmla="*/ 58 h 115"/>
                  <a:gd name="T36" fmla="*/ 233 w 239"/>
                  <a:gd name="T37" fmla="*/ 60 h 115"/>
                  <a:gd name="T38" fmla="*/ 237 w 239"/>
                  <a:gd name="T39" fmla="*/ 63 h 115"/>
                  <a:gd name="T40" fmla="*/ 239 w 239"/>
                  <a:gd name="T41" fmla="*/ 68 h 115"/>
                  <a:gd name="T42" fmla="*/ 235 w 239"/>
                  <a:gd name="T43" fmla="*/ 71 h 115"/>
                  <a:gd name="T44" fmla="*/ 228 w 239"/>
                  <a:gd name="T45" fmla="*/ 73 h 115"/>
                  <a:gd name="T46" fmla="*/ 220 w 239"/>
                  <a:gd name="T47" fmla="*/ 77 h 115"/>
                  <a:gd name="T48" fmla="*/ 209 w 239"/>
                  <a:gd name="T49" fmla="*/ 82 h 115"/>
                  <a:gd name="T50" fmla="*/ 197 w 239"/>
                  <a:gd name="T51" fmla="*/ 87 h 115"/>
                  <a:gd name="T52" fmla="*/ 184 w 239"/>
                  <a:gd name="T53" fmla="*/ 92 h 115"/>
                  <a:gd name="T54" fmla="*/ 172 w 239"/>
                  <a:gd name="T55" fmla="*/ 98 h 115"/>
                  <a:gd name="T56" fmla="*/ 160 w 239"/>
                  <a:gd name="T57" fmla="*/ 103 h 115"/>
                  <a:gd name="T58" fmla="*/ 149 w 239"/>
                  <a:gd name="T59" fmla="*/ 108 h 115"/>
                  <a:gd name="T60" fmla="*/ 141 w 239"/>
                  <a:gd name="T61" fmla="*/ 112 h 115"/>
                  <a:gd name="T62" fmla="*/ 134 w 239"/>
                  <a:gd name="T63" fmla="*/ 114 h 115"/>
                  <a:gd name="T64" fmla="*/ 130 w 239"/>
                  <a:gd name="T65" fmla="*/ 115 h 115"/>
                  <a:gd name="T66" fmla="*/ 125 w 239"/>
                  <a:gd name="T67" fmla="*/ 114 h 115"/>
                  <a:gd name="T68" fmla="*/ 120 w 239"/>
                  <a:gd name="T69" fmla="*/ 112 h 115"/>
                  <a:gd name="T70" fmla="*/ 114 w 239"/>
                  <a:gd name="T71" fmla="*/ 108 h 115"/>
                  <a:gd name="T72" fmla="*/ 105 w 239"/>
                  <a:gd name="T73" fmla="*/ 104 h 115"/>
                  <a:gd name="T74" fmla="*/ 94 w 239"/>
                  <a:gd name="T75" fmla="*/ 98 h 115"/>
                  <a:gd name="T76" fmla="*/ 80 w 239"/>
                  <a:gd name="T77" fmla="*/ 91 h 115"/>
                  <a:gd name="T78" fmla="*/ 66 w 239"/>
                  <a:gd name="T79" fmla="*/ 83 h 115"/>
                  <a:gd name="T80" fmla="*/ 51 w 239"/>
                  <a:gd name="T81" fmla="*/ 75 h 115"/>
                  <a:gd name="T82" fmla="*/ 36 w 239"/>
                  <a:gd name="T83" fmla="*/ 68 h 115"/>
                  <a:gd name="T84" fmla="*/ 23 w 239"/>
                  <a:gd name="T85" fmla="*/ 60 h 115"/>
                  <a:gd name="T86" fmla="*/ 14 w 239"/>
                  <a:gd name="T87" fmla="*/ 55 h 115"/>
                  <a:gd name="T88" fmla="*/ 8 w 239"/>
                  <a:gd name="T89" fmla="*/ 52 h 115"/>
                  <a:gd name="T90" fmla="*/ 3 w 239"/>
                  <a:gd name="T91" fmla="*/ 50 h 115"/>
                  <a:gd name="T92" fmla="*/ 0 w 239"/>
                  <a:gd name="T93" fmla="*/ 47 h 115"/>
                  <a:gd name="T94" fmla="*/ 4 w 239"/>
                  <a:gd name="T95" fmla="*/ 44 h 11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39"/>
                  <a:gd name="T145" fmla="*/ 0 h 115"/>
                  <a:gd name="T146" fmla="*/ 239 w 239"/>
                  <a:gd name="T147" fmla="*/ 115 h 115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39" h="115">
                    <a:moveTo>
                      <a:pt x="4" y="44"/>
                    </a:moveTo>
                    <a:lnTo>
                      <a:pt x="5" y="43"/>
                    </a:lnTo>
                    <a:lnTo>
                      <a:pt x="8" y="42"/>
                    </a:lnTo>
                    <a:lnTo>
                      <a:pt x="14" y="40"/>
                    </a:lnTo>
                    <a:lnTo>
                      <a:pt x="18" y="38"/>
                    </a:lnTo>
                    <a:lnTo>
                      <a:pt x="24" y="35"/>
                    </a:lnTo>
                    <a:lnTo>
                      <a:pt x="31" y="30"/>
                    </a:lnTo>
                    <a:lnTo>
                      <a:pt x="37" y="27"/>
                    </a:lnTo>
                    <a:lnTo>
                      <a:pt x="45" y="24"/>
                    </a:lnTo>
                    <a:lnTo>
                      <a:pt x="52" y="21"/>
                    </a:lnTo>
                    <a:lnTo>
                      <a:pt x="61" y="18"/>
                    </a:lnTo>
                    <a:lnTo>
                      <a:pt x="67" y="14"/>
                    </a:lnTo>
                    <a:lnTo>
                      <a:pt x="73" y="11"/>
                    </a:lnTo>
                    <a:lnTo>
                      <a:pt x="80" y="7"/>
                    </a:lnTo>
                    <a:lnTo>
                      <a:pt x="85" y="5"/>
                    </a:lnTo>
                    <a:lnTo>
                      <a:pt x="89" y="3"/>
                    </a:lnTo>
                    <a:lnTo>
                      <a:pt x="93" y="2"/>
                    </a:lnTo>
                    <a:lnTo>
                      <a:pt x="94" y="0"/>
                    </a:lnTo>
                    <a:lnTo>
                      <a:pt x="96" y="0"/>
                    </a:lnTo>
                    <a:lnTo>
                      <a:pt x="97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3" y="2"/>
                    </a:lnTo>
                    <a:lnTo>
                      <a:pt x="104" y="2"/>
                    </a:lnTo>
                    <a:lnTo>
                      <a:pt x="105" y="3"/>
                    </a:lnTo>
                    <a:lnTo>
                      <a:pt x="106" y="3"/>
                    </a:lnTo>
                    <a:lnTo>
                      <a:pt x="108" y="4"/>
                    </a:lnTo>
                    <a:lnTo>
                      <a:pt x="110" y="4"/>
                    </a:lnTo>
                    <a:lnTo>
                      <a:pt x="112" y="5"/>
                    </a:lnTo>
                    <a:lnTo>
                      <a:pt x="114" y="7"/>
                    </a:lnTo>
                    <a:lnTo>
                      <a:pt x="118" y="9"/>
                    </a:lnTo>
                    <a:lnTo>
                      <a:pt x="123" y="9"/>
                    </a:lnTo>
                    <a:lnTo>
                      <a:pt x="126" y="12"/>
                    </a:lnTo>
                    <a:lnTo>
                      <a:pt x="130" y="14"/>
                    </a:lnTo>
                    <a:lnTo>
                      <a:pt x="134" y="16"/>
                    </a:lnTo>
                    <a:lnTo>
                      <a:pt x="140" y="19"/>
                    </a:lnTo>
                    <a:lnTo>
                      <a:pt x="145" y="21"/>
                    </a:lnTo>
                    <a:lnTo>
                      <a:pt x="149" y="23"/>
                    </a:lnTo>
                    <a:lnTo>
                      <a:pt x="155" y="25"/>
                    </a:lnTo>
                    <a:lnTo>
                      <a:pt x="161" y="27"/>
                    </a:lnTo>
                    <a:lnTo>
                      <a:pt x="166" y="30"/>
                    </a:lnTo>
                    <a:lnTo>
                      <a:pt x="172" y="34"/>
                    </a:lnTo>
                    <a:lnTo>
                      <a:pt x="178" y="36"/>
                    </a:lnTo>
                    <a:lnTo>
                      <a:pt x="183" y="38"/>
                    </a:lnTo>
                    <a:lnTo>
                      <a:pt x="188" y="40"/>
                    </a:lnTo>
                    <a:lnTo>
                      <a:pt x="194" y="42"/>
                    </a:lnTo>
                    <a:lnTo>
                      <a:pt x="198" y="45"/>
                    </a:lnTo>
                    <a:lnTo>
                      <a:pt x="204" y="47"/>
                    </a:lnTo>
                    <a:lnTo>
                      <a:pt x="209" y="50"/>
                    </a:lnTo>
                    <a:lnTo>
                      <a:pt x="213" y="52"/>
                    </a:lnTo>
                    <a:lnTo>
                      <a:pt x="217" y="54"/>
                    </a:lnTo>
                    <a:lnTo>
                      <a:pt x="220" y="55"/>
                    </a:lnTo>
                    <a:lnTo>
                      <a:pt x="223" y="57"/>
                    </a:lnTo>
                    <a:lnTo>
                      <a:pt x="226" y="58"/>
                    </a:lnTo>
                    <a:lnTo>
                      <a:pt x="228" y="59"/>
                    </a:lnTo>
                    <a:lnTo>
                      <a:pt x="232" y="60"/>
                    </a:lnTo>
                    <a:lnTo>
                      <a:pt x="233" y="60"/>
                    </a:lnTo>
                    <a:lnTo>
                      <a:pt x="234" y="61"/>
                    </a:lnTo>
                    <a:lnTo>
                      <a:pt x="236" y="62"/>
                    </a:lnTo>
                    <a:lnTo>
                      <a:pt x="237" y="63"/>
                    </a:lnTo>
                    <a:lnTo>
                      <a:pt x="238" y="66"/>
                    </a:lnTo>
                    <a:lnTo>
                      <a:pt x="239" y="66"/>
                    </a:lnTo>
                    <a:lnTo>
                      <a:pt x="239" y="68"/>
                    </a:lnTo>
                    <a:lnTo>
                      <a:pt x="238" y="68"/>
                    </a:lnTo>
                    <a:lnTo>
                      <a:pt x="236" y="70"/>
                    </a:lnTo>
                    <a:lnTo>
                      <a:pt x="235" y="71"/>
                    </a:lnTo>
                    <a:lnTo>
                      <a:pt x="234" y="72"/>
                    </a:lnTo>
                    <a:lnTo>
                      <a:pt x="232" y="72"/>
                    </a:lnTo>
                    <a:lnTo>
                      <a:pt x="228" y="73"/>
                    </a:lnTo>
                    <a:lnTo>
                      <a:pt x="225" y="74"/>
                    </a:lnTo>
                    <a:lnTo>
                      <a:pt x="223" y="75"/>
                    </a:lnTo>
                    <a:lnTo>
                      <a:pt x="220" y="77"/>
                    </a:lnTo>
                    <a:lnTo>
                      <a:pt x="217" y="78"/>
                    </a:lnTo>
                    <a:lnTo>
                      <a:pt x="213" y="79"/>
                    </a:lnTo>
                    <a:lnTo>
                      <a:pt x="209" y="82"/>
                    </a:lnTo>
                    <a:lnTo>
                      <a:pt x="205" y="83"/>
                    </a:lnTo>
                    <a:lnTo>
                      <a:pt x="202" y="85"/>
                    </a:lnTo>
                    <a:lnTo>
                      <a:pt x="197" y="87"/>
                    </a:lnTo>
                    <a:lnTo>
                      <a:pt x="192" y="89"/>
                    </a:lnTo>
                    <a:lnTo>
                      <a:pt x="190" y="90"/>
                    </a:lnTo>
                    <a:lnTo>
                      <a:pt x="184" y="92"/>
                    </a:lnTo>
                    <a:lnTo>
                      <a:pt x="180" y="94"/>
                    </a:lnTo>
                    <a:lnTo>
                      <a:pt x="176" y="96"/>
                    </a:lnTo>
                    <a:lnTo>
                      <a:pt x="172" y="98"/>
                    </a:lnTo>
                    <a:lnTo>
                      <a:pt x="167" y="100"/>
                    </a:lnTo>
                    <a:lnTo>
                      <a:pt x="164" y="101"/>
                    </a:lnTo>
                    <a:lnTo>
                      <a:pt x="160" y="103"/>
                    </a:lnTo>
                    <a:lnTo>
                      <a:pt x="157" y="104"/>
                    </a:lnTo>
                    <a:lnTo>
                      <a:pt x="152" y="106"/>
                    </a:lnTo>
                    <a:lnTo>
                      <a:pt x="149" y="108"/>
                    </a:lnTo>
                    <a:lnTo>
                      <a:pt x="146" y="108"/>
                    </a:lnTo>
                    <a:lnTo>
                      <a:pt x="143" y="110"/>
                    </a:lnTo>
                    <a:lnTo>
                      <a:pt x="141" y="112"/>
                    </a:lnTo>
                    <a:lnTo>
                      <a:pt x="137" y="113"/>
                    </a:lnTo>
                    <a:lnTo>
                      <a:pt x="135" y="114"/>
                    </a:lnTo>
                    <a:lnTo>
                      <a:pt x="134" y="114"/>
                    </a:lnTo>
                    <a:lnTo>
                      <a:pt x="132" y="115"/>
                    </a:lnTo>
                    <a:lnTo>
                      <a:pt x="131" y="115"/>
                    </a:lnTo>
                    <a:lnTo>
                      <a:pt x="130" y="115"/>
                    </a:lnTo>
                    <a:lnTo>
                      <a:pt x="128" y="115"/>
                    </a:lnTo>
                    <a:lnTo>
                      <a:pt x="127" y="114"/>
                    </a:lnTo>
                    <a:lnTo>
                      <a:pt x="125" y="114"/>
                    </a:lnTo>
                    <a:lnTo>
                      <a:pt x="124" y="113"/>
                    </a:lnTo>
                    <a:lnTo>
                      <a:pt x="121" y="113"/>
                    </a:lnTo>
                    <a:lnTo>
                      <a:pt x="120" y="112"/>
                    </a:lnTo>
                    <a:lnTo>
                      <a:pt x="118" y="112"/>
                    </a:lnTo>
                    <a:lnTo>
                      <a:pt x="116" y="110"/>
                    </a:lnTo>
                    <a:lnTo>
                      <a:pt x="114" y="108"/>
                    </a:lnTo>
                    <a:lnTo>
                      <a:pt x="112" y="108"/>
                    </a:lnTo>
                    <a:lnTo>
                      <a:pt x="109" y="106"/>
                    </a:lnTo>
                    <a:lnTo>
                      <a:pt x="105" y="104"/>
                    </a:lnTo>
                    <a:lnTo>
                      <a:pt x="102" y="102"/>
                    </a:lnTo>
                    <a:lnTo>
                      <a:pt x="97" y="100"/>
                    </a:lnTo>
                    <a:lnTo>
                      <a:pt x="94" y="98"/>
                    </a:lnTo>
                    <a:lnTo>
                      <a:pt x="89" y="96"/>
                    </a:lnTo>
                    <a:lnTo>
                      <a:pt x="85" y="93"/>
                    </a:lnTo>
                    <a:lnTo>
                      <a:pt x="80" y="91"/>
                    </a:lnTo>
                    <a:lnTo>
                      <a:pt x="74" y="87"/>
                    </a:lnTo>
                    <a:lnTo>
                      <a:pt x="70" y="85"/>
                    </a:lnTo>
                    <a:lnTo>
                      <a:pt x="66" y="83"/>
                    </a:lnTo>
                    <a:lnTo>
                      <a:pt x="61" y="79"/>
                    </a:lnTo>
                    <a:lnTo>
                      <a:pt x="55" y="77"/>
                    </a:lnTo>
                    <a:lnTo>
                      <a:pt x="51" y="75"/>
                    </a:lnTo>
                    <a:lnTo>
                      <a:pt x="45" y="72"/>
                    </a:lnTo>
                    <a:lnTo>
                      <a:pt x="40" y="70"/>
                    </a:lnTo>
                    <a:lnTo>
                      <a:pt x="36" y="68"/>
                    </a:lnTo>
                    <a:lnTo>
                      <a:pt x="32" y="66"/>
                    </a:lnTo>
                    <a:lnTo>
                      <a:pt x="27" y="62"/>
                    </a:lnTo>
                    <a:lnTo>
                      <a:pt x="23" y="60"/>
                    </a:lnTo>
                    <a:lnTo>
                      <a:pt x="20" y="59"/>
                    </a:lnTo>
                    <a:lnTo>
                      <a:pt x="17" y="57"/>
                    </a:lnTo>
                    <a:lnTo>
                      <a:pt x="14" y="55"/>
                    </a:lnTo>
                    <a:lnTo>
                      <a:pt x="11" y="54"/>
                    </a:lnTo>
                    <a:lnTo>
                      <a:pt x="8" y="53"/>
                    </a:lnTo>
                    <a:lnTo>
                      <a:pt x="8" y="52"/>
                    </a:lnTo>
                    <a:lnTo>
                      <a:pt x="6" y="52"/>
                    </a:lnTo>
                    <a:lnTo>
                      <a:pt x="5" y="50"/>
                    </a:lnTo>
                    <a:lnTo>
                      <a:pt x="3" y="50"/>
                    </a:lnTo>
                    <a:lnTo>
                      <a:pt x="2" y="50"/>
                    </a:lnTo>
                    <a:lnTo>
                      <a:pt x="1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2" y="45"/>
                    </a:lnTo>
                    <a:lnTo>
                      <a:pt x="4" y="44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02" name="Freeform 919"/>
              <p:cNvSpPr>
                <a:spLocks/>
              </p:cNvSpPr>
              <p:nvPr/>
            </p:nvSpPr>
            <p:spPr bwMode="auto">
              <a:xfrm>
                <a:off x="3014" y="2010"/>
                <a:ext cx="90" cy="44"/>
              </a:xfrm>
              <a:custGeom>
                <a:avLst/>
                <a:gdLst>
                  <a:gd name="T0" fmla="*/ 89 w 90"/>
                  <a:gd name="T1" fmla="*/ 0 h 44"/>
                  <a:gd name="T2" fmla="*/ 89 w 90"/>
                  <a:gd name="T3" fmla="*/ 0 h 44"/>
                  <a:gd name="T4" fmla="*/ 85 w 90"/>
                  <a:gd name="T5" fmla="*/ 2 h 44"/>
                  <a:gd name="T6" fmla="*/ 81 w 90"/>
                  <a:gd name="T7" fmla="*/ 4 h 44"/>
                  <a:gd name="T8" fmla="*/ 77 w 90"/>
                  <a:gd name="T9" fmla="*/ 6 h 44"/>
                  <a:gd name="T10" fmla="*/ 69 w 90"/>
                  <a:gd name="T11" fmla="*/ 9 h 44"/>
                  <a:gd name="T12" fmla="*/ 63 w 90"/>
                  <a:gd name="T13" fmla="*/ 13 h 44"/>
                  <a:gd name="T14" fmla="*/ 55 w 90"/>
                  <a:gd name="T15" fmla="*/ 16 h 44"/>
                  <a:gd name="T16" fmla="*/ 49 w 90"/>
                  <a:gd name="T17" fmla="*/ 20 h 44"/>
                  <a:gd name="T18" fmla="*/ 42 w 90"/>
                  <a:gd name="T19" fmla="*/ 23 h 44"/>
                  <a:gd name="T20" fmla="*/ 34 w 90"/>
                  <a:gd name="T21" fmla="*/ 26 h 44"/>
                  <a:gd name="T22" fmla="*/ 28 w 90"/>
                  <a:gd name="T23" fmla="*/ 29 h 44"/>
                  <a:gd name="T24" fmla="*/ 20 w 90"/>
                  <a:gd name="T25" fmla="*/ 34 h 44"/>
                  <a:gd name="T26" fmla="*/ 15 w 90"/>
                  <a:gd name="T27" fmla="*/ 36 h 44"/>
                  <a:gd name="T28" fmla="*/ 8 w 90"/>
                  <a:gd name="T29" fmla="*/ 39 h 44"/>
                  <a:gd name="T30" fmla="*/ 4 w 90"/>
                  <a:gd name="T31" fmla="*/ 40 h 44"/>
                  <a:gd name="T32" fmla="*/ 2 w 90"/>
                  <a:gd name="T33" fmla="*/ 42 h 44"/>
                  <a:gd name="T34" fmla="*/ 0 w 90"/>
                  <a:gd name="T35" fmla="*/ 43 h 44"/>
                  <a:gd name="T36" fmla="*/ 1 w 90"/>
                  <a:gd name="T37" fmla="*/ 44 h 44"/>
                  <a:gd name="T38" fmla="*/ 2 w 90"/>
                  <a:gd name="T39" fmla="*/ 43 h 44"/>
                  <a:gd name="T40" fmla="*/ 5 w 90"/>
                  <a:gd name="T41" fmla="*/ 42 h 44"/>
                  <a:gd name="T42" fmla="*/ 11 w 90"/>
                  <a:gd name="T43" fmla="*/ 40 h 44"/>
                  <a:gd name="T44" fmla="*/ 15 w 90"/>
                  <a:gd name="T45" fmla="*/ 38 h 44"/>
                  <a:gd name="T46" fmla="*/ 21 w 90"/>
                  <a:gd name="T47" fmla="*/ 34 h 44"/>
                  <a:gd name="T48" fmla="*/ 28 w 90"/>
                  <a:gd name="T49" fmla="*/ 31 h 44"/>
                  <a:gd name="T50" fmla="*/ 35 w 90"/>
                  <a:gd name="T51" fmla="*/ 28 h 44"/>
                  <a:gd name="T52" fmla="*/ 42 w 90"/>
                  <a:gd name="T53" fmla="*/ 24 h 44"/>
                  <a:gd name="T54" fmla="*/ 50 w 90"/>
                  <a:gd name="T55" fmla="*/ 21 h 44"/>
                  <a:gd name="T56" fmla="*/ 56 w 90"/>
                  <a:gd name="T57" fmla="*/ 18 h 44"/>
                  <a:gd name="T58" fmla="*/ 63 w 90"/>
                  <a:gd name="T59" fmla="*/ 14 h 44"/>
                  <a:gd name="T60" fmla="*/ 70 w 90"/>
                  <a:gd name="T61" fmla="*/ 11 h 44"/>
                  <a:gd name="T62" fmla="*/ 77 w 90"/>
                  <a:gd name="T63" fmla="*/ 9 h 44"/>
                  <a:gd name="T64" fmla="*/ 82 w 90"/>
                  <a:gd name="T65" fmla="*/ 6 h 44"/>
                  <a:gd name="T66" fmla="*/ 86 w 90"/>
                  <a:gd name="T67" fmla="*/ 4 h 44"/>
                  <a:gd name="T68" fmla="*/ 90 w 90"/>
                  <a:gd name="T69" fmla="*/ 2 h 44"/>
                  <a:gd name="T70" fmla="*/ 89 w 90"/>
                  <a:gd name="T71" fmla="*/ 0 h 4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90"/>
                  <a:gd name="T109" fmla="*/ 0 h 44"/>
                  <a:gd name="T110" fmla="*/ 90 w 90"/>
                  <a:gd name="T111" fmla="*/ 44 h 4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90" h="44">
                    <a:moveTo>
                      <a:pt x="89" y="0"/>
                    </a:moveTo>
                    <a:lnTo>
                      <a:pt x="89" y="0"/>
                    </a:lnTo>
                    <a:lnTo>
                      <a:pt x="85" y="2"/>
                    </a:lnTo>
                    <a:lnTo>
                      <a:pt x="81" y="4"/>
                    </a:lnTo>
                    <a:lnTo>
                      <a:pt x="77" y="6"/>
                    </a:lnTo>
                    <a:lnTo>
                      <a:pt x="69" y="9"/>
                    </a:lnTo>
                    <a:lnTo>
                      <a:pt x="63" y="13"/>
                    </a:lnTo>
                    <a:lnTo>
                      <a:pt x="55" y="16"/>
                    </a:lnTo>
                    <a:lnTo>
                      <a:pt x="49" y="20"/>
                    </a:lnTo>
                    <a:lnTo>
                      <a:pt x="42" y="23"/>
                    </a:lnTo>
                    <a:lnTo>
                      <a:pt x="34" y="26"/>
                    </a:lnTo>
                    <a:lnTo>
                      <a:pt x="28" y="29"/>
                    </a:lnTo>
                    <a:lnTo>
                      <a:pt x="20" y="34"/>
                    </a:lnTo>
                    <a:lnTo>
                      <a:pt x="15" y="36"/>
                    </a:lnTo>
                    <a:lnTo>
                      <a:pt x="8" y="39"/>
                    </a:lnTo>
                    <a:lnTo>
                      <a:pt x="4" y="40"/>
                    </a:lnTo>
                    <a:lnTo>
                      <a:pt x="2" y="42"/>
                    </a:lnTo>
                    <a:lnTo>
                      <a:pt x="0" y="43"/>
                    </a:lnTo>
                    <a:lnTo>
                      <a:pt x="1" y="44"/>
                    </a:lnTo>
                    <a:lnTo>
                      <a:pt x="2" y="43"/>
                    </a:lnTo>
                    <a:lnTo>
                      <a:pt x="5" y="42"/>
                    </a:lnTo>
                    <a:lnTo>
                      <a:pt x="11" y="40"/>
                    </a:lnTo>
                    <a:lnTo>
                      <a:pt x="15" y="38"/>
                    </a:lnTo>
                    <a:lnTo>
                      <a:pt x="21" y="34"/>
                    </a:lnTo>
                    <a:lnTo>
                      <a:pt x="28" y="31"/>
                    </a:lnTo>
                    <a:lnTo>
                      <a:pt x="35" y="28"/>
                    </a:lnTo>
                    <a:lnTo>
                      <a:pt x="42" y="24"/>
                    </a:lnTo>
                    <a:lnTo>
                      <a:pt x="50" y="21"/>
                    </a:lnTo>
                    <a:lnTo>
                      <a:pt x="56" y="18"/>
                    </a:lnTo>
                    <a:lnTo>
                      <a:pt x="63" y="14"/>
                    </a:lnTo>
                    <a:lnTo>
                      <a:pt x="70" y="11"/>
                    </a:lnTo>
                    <a:lnTo>
                      <a:pt x="77" y="9"/>
                    </a:lnTo>
                    <a:lnTo>
                      <a:pt x="82" y="6"/>
                    </a:lnTo>
                    <a:lnTo>
                      <a:pt x="86" y="4"/>
                    </a:lnTo>
                    <a:lnTo>
                      <a:pt x="90" y="2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03" name="Freeform 920"/>
              <p:cNvSpPr>
                <a:spLocks/>
              </p:cNvSpPr>
              <p:nvPr/>
            </p:nvSpPr>
            <p:spPr bwMode="auto">
              <a:xfrm>
                <a:off x="3103" y="2009"/>
                <a:ext cx="13" cy="4"/>
              </a:xfrm>
              <a:custGeom>
                <a:avLst/>
                <a:gdLst>
                  <a:gd name="T0" fmla="*/ 13 w 13"/>
                  <a:gd name="T1" fmla="*/ 3 h 4"/>
                  <a:gd name="T2" fmla="*/ 13 w 13"/>
                  <a:gd name="T3" fmla="*/ 3 h 4"/>
                  <a:gd name="T4" fmla="*/ 12 w 13"/>
                  <a:gd name="T5" fmla="*/ 1 h 4"/>
                  <a:gd name="T6" fmla="*/ 10 w 13"/>
                  <a:gd name="T7" fmla="*/ 1 h 4"/>
                  <a:gd name="T8" fmla="*/ 9 w 13"/>
                  <a:gd name="T9" fmla="*/ 0 h 4"/>
                  <a:gd name="T10" fmla="*/ 6 w 13"/>
                  <a:gd name="T11" fmla="*/ 0 h 4"/>
                  <a:gd name="T12" fmla="*/ 5 w 13"/>
                  <a:gd name="T13" fmla="*/ 0 h 4"/>
                  <a:gd name="T14" fmla="*/ 3 w 13"/>
                  <a:gd name="T15" fmla="*/ 0 h 4"/>
                  <a:gd name="T16" fmla="*/ 2 w 13"/>
                  <a:gd name="T17" fmla="*/ 0 h 4"/>
                  <a:gd name="T18" fmla="*/ 0 w 13"/>
                  <a:gd name="T19" fmla="*/ 1 h 4"/>
                  <a:gd name="T20" fmla="*/ 0 w 13"/>
                  <a:gd name="T21" fmla="*/ 3 h 4"/>
                  <a:gd name="T22" fmla="*/ 2 w 13"/>
                  <a:gd name="T23" fmla="*/ 3 h 4"/>
                  <a:gd name="T24" fmla="*/ 3 w 13"/>
                  <a:gd name="T25" fmla="*/ 3 h 4"/>
                  <a:gd name="T26" fmla="*/ 5 w 13"/>
                  <a:gd name="T27" fmla="*/ 3 h 4"/>
                  <a:gd name="T28" fmla="*/ 6 w 13"/>
                  <a:gd name="T29" fmla="*/ 3 h 4"/>
                  <a:gd name="T30" fmla="*/ 9 w 13"/>
                  <a:gd name="T31" fmla="*/ 3 h 4"/>
                  <a:gd name="T32" fmla="*/ 10 w 13"/>
                  <a:gd name="T33" fmla="*/ 3 h 4"/>
                  <a:gd name="T34" fmla="*/ 11 w 13"/>
                  <a:gd name="T35" fmla="*/ 3 h 4"/>
                  <a:gd name="T36" fmla="*/ 12 w 13"/>
                  <a:gd name="T37" fmla="*/ 4 h 4"/>
                  <a:gd name="T38" fmla="*/ 13 w 13"/>
                  <a:gd name="T39" fmla="*/ 3 h 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4"/>
                  <a:gd name="T62" fmla="*/ 13 w 13"/>
                  <a:gd name="T63" fmla="*/ 4 h 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4">
                    <a:moveTo>
                      <a:pt x="13" y="3"/>
                    </a:moveTo>
                    <a:lnTo>
                      <a:pt x="13" y="3"/>
                    </a:lnTo>
                    <a:lnTo>
                      <a:pt x="12" y="1"/>
                    </a:lnTo>
                    <a:lnTo>
                      <a:pt x="10" y="1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5" y="3"/>
                    </a:lnTo>
                    <a:lnTo>
                      <a:pt x="6" y="3"/>
                    </a:lnTo>
                    <a:lnTo>
                      <a:pt x="9" y="3"/>
                    </a:lnTo>
                    <a:lnTo>
                      <a:pt x="10" y="3"/>
                    </a:lnTo>
                    <a:lnTo>
                      <a:pt x="11" y="3"/>
                    </a:lnTo>
                    <a:lnTo>
                      <a:pt x="12" y="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04" name="Freeform 921"/>
              <p:cNvSpPr>
                <a:spLocks/>
              </p:cNvSpPr>
              <p:nvPr/>
            </p:nvSpPr>
            <p:spPr bwMode="auto">
              <a:xfrm>
                <a:off x="3115" y="2012"/>
                <a:ext cx="128" cy="59"/>
              </a:xfrm>
              <a:custGeom>
                <a:avLst/>
                <a:gdLst>
                  <a:gd name="T0" fmla="*/ 128 w 128"/>
                  <a:gd name="T1" fmla="*/ 58 h 59"/>
                  <a:gd name="T2" fmla="*/ 124 w 128"/>
                  <a:gd name="T3" fmla="*/ 56 h 59"/>
                  <a:gd name="T4" fmla="*/ 119 w 128"/>
                  <a:gd name="T5" fmla="*/ 53 h 59"/>
                  <a:gd name="T6" fmla="*/ 111 w 128"/>
                  <a:gd name="T7" fmla="*/ 51 h 59"/>
                  <a:gd name="T8" fmla="*/ 104 w 128"/>
                  <a:gd name="T9" fmla="*/ 47 h 59"/>
                  <a:gd name="T10" fmla="*/ 94 w 128"/>
                  <a:gd name="T11" fmla="*/ 42 h 59"/>
                  <a:gd name="T12" fmla="*/ 84 w 128"/>
                  <a:gd name="T13" fmla="*/ 38 h 59"/>
                  <a:gd name="T14" fmla="*/ 73 w 128"/>
                  <a:gd name="T15" fmla="*/ 32 h 59"/>
                  <a:gd name="T16" fmla="*/ 62 w 128"/>
                  <a:gd name="T17" fmla="*/ 27 h 59"/>
                  <a:gd name="T18" fmla="*/ 51 w 128"/>
                  <a:gd name="T19" fmla="*/ 22 h 59"/>
                  <a:gd name="T20" fmla="*/ 41 w 128"/>
                  <a:gd name="T21" fmla="*/ 18 h 59"/>
                  <a:gd name="T22" fmla="*/ 30 w 128"/>
                  <a:gd name="T23" fmla="*/ 12 h 59"/>
                  <a:gd name="T24" fmla="*/ 22 w 128"/>
                  <a:gd name="T25" fmla="*/ 8 h 59"/>
                  <a:gd name="T26" fmla="*/ 14 w 128"/>
                  <a:gd name="T27" fmla="*/ 5 h 59"/>
                  <a:gd name="T28" fmla="*/ 8 w 128"/>
                  <a:gd name="T29" fmla="*/ 3 h 59"/>
                  <a:gd name="T30" fmla="*/ 4 w 128"/>
                  <a:gd name="T31" fmla="*/ 1 h 59"/>
                  <a:gd name="T32" fmla="*/ 0 w 128"/>
                  <a:gd name="T33" fmla="*/ 2 h 59"/>
                  <a:gd name="T34" fmla="*/ 2 w 128"/>
                  <a:gd name="T35" fmla="*/ 2 h 59"/>
                  <a:gd name="T36" fmla="*/ 7 w 128"/>
                  <a:gd name="T37" fmla="*/ 4 h 59"/>
                  <a:gd name="T38" fmla="*/ 13 w 128"/>
                  <a:gd name="T39" fmla="*/ 7 h 59"/>
                  <a:gd name="T40" fmla="*/ 21 w 128"/>
                  <a:gd name="T41" fmla="*/ 10 h 59"/>
                  <a:gd name="T42" fmla="*/ 29 w 128"/>
                  <a:gd name="T43" fmla="*/ 14 h 59"/>
                  <a:gd name="T44" fmla="*/ 40 w 128"/>
                  <a:gd name="T45" fmla="*/ 20 h 59"/>
                  <a:gd name="T46" fmla="*/ 50 w 128"/>
                  <a:gd name="T47" fmla="*/ 24 h 59"/>
                  <a:gd name="T48" fmla="*/ 61 w 128"/>
                  <a:gd name="T49" fmla="*/ 28 h 59"/>
                  <a:gd name="T50" fmla="*/ 72 w 128"/>
                  <a:gd name="T51" fmla="*/ 35 h 59"/>
                  <a:gd name="T52" fmla="*/ 83 w 128"/>
                  <a:gd name="T53" fmla="*/ 39 h 59"/>
                  <a:gd name="T54" fmla="*/ 94 w 128"/>
                  <a:gd name="T55" fmla="*/ 43 h 59"/>
                  <a:gd name="T56" fmla="*/ 103 w 128"/>
                  <a:gd name="T57" fmla="*/ 48 h 59"/>
                  <a:gd name="T58" fmla="*/ 110 w 128"/>
                  <a:gd name="T59" fmla="*/ 53 h 59"/>
                  <a:gd name="T60" fmla="*/ 119 w 128"/>
                  <a:gd name="T61" fmla="*/ 55 h 59"/>
                  <a:gd name="T62" fmla="*/ 123 w 128"/>
                  <a:gd name="T63" fmla="*/ 58 h 59"/>
                  <a:gd name="T64" fmla="*/ 126 w 128"/>
                  <a:gd name="T65" fmla="*/ 59 h 5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8"/>
                  <a:gd name="T100" fmla="*/ 0 h 59"/>
                  <a:gd name="T101" fmla="*/ 128 w 128"/>
                  <a:gd name="T102" fmla="*/ 59 h 5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8" h="59">
                    <a:moveTo>
                      <a:pt x="128" y="58"/>
                    </a:moveTo>
                    <a:lnTo>
                      <a:pt x="128" y="58"/>
                    </a:lnTo>
                    <a:lnTo>
                      <a:pt x="126" y="57"/>
                    </a:lnTo>
                    <a:lnTo>
                      <a:pt x="124" y="56"/>
                    </a:lnTo>
                    <a:lnTo>
                      <a:pt x="122" y="55"/>
                    </a:lnTo>
                    <a:lnTo>
                      <a:pt x="119" y="53"/>
                    </a:lnTo>
                    <a:lnTo>
                      <a:pt x="115" y="53"/>
                    </a:lnTo>
                    <a:lnTo>
                      <a:pt x="111" y="51"/>
                    </a:lnTo>
                    <a:lnTo>
                      <a:pt x="108" y="49"/>
                    </a:lnTo>
                    <a:lnTo>
                      <a:pt x="104" y="47"/>
                    </a:lnTo>
                    <a:lnTo>
                      <a:pt x="99" y="44"/>
                    </a:lnTo>
                    <a:lnTo>
                      <a:pt x="94" y="42"/>
                    </a:lnTo>
                    <a:lnTo>
                      <a:pt x="89" y="40"/>
                    </a:lnTo>
                    <a:lnTo>
                      <a:pt x="84" y="38"/>
                    </a:lnTo>
                    <a:lnTo>
                      <a:pt x="78" y="36"/>
                    </a:lnTo>
                    <a:lnTo>
                      <a:pt x="73" y="32"/>
                    </a:lnTo>
                    <a:lnTo>
                      <a:pt x="68" y="29"/>
                    </a:lnTo>
                    <a:lnTo>
                      <a:pt x="62" y="27"/>
                    </a:lnTo>
                    <a:lnTo>
                      <a:pt x="57" y="25"/>
                    </a:lnTo>
                    <a:lnTo>
                      <a:pt x="51" y="22"/>
                    </a:lnTo>
                    <a:lnTo>
                      <a:pt x="45" y="20"/>
                    </a:lnTo>
                    <a:lnTo>
                      <a:pt x="41" y="18"/>
                    </a:lnTo>
                    <a:lnTo>
                      <a:pt x="36" y="16"/>
                    </a:lnTo>
                    <a:lnTo>
                      <a:pt x="30" y="12"/>
                    </a:lnTo>
                    <a:lnTo>
                      <a:pt x="26" y="10"/>
                    </a:lnTo>
                    <a:lnTo>
                      <a:pt x="22" y="8"/>
                    </a:lnTo>
                    <a:lnTo>
                      <a:pt x="17" y="7"/>
                    </a:lnTo>
                    <a:lnTo>
                      <a:pt x="14" y="5"/>
                    </a:lnTo>
                    <a:lnTo>
                      <a:pt x="11" y="4"/>
                    </a:lnTo>
                    <a:lnTo>
                      <a:pt x="8" y="3"/>
                    </a:lnTo>
                    <a:lnTo>
                      <a:pt x="5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5" y="3"/>
                    </a:lnTo>
                    <a:lnTo>
                      <a:pt x="7" y="4"/>
                    </a:lnTo>
                    <a:lnTo>
                      <a:pt x="9" y="5"/>
                    </a:lnTo>
                    <a:lnTo>
                      <a:pt x="13" y="7"/>
                    </a:lnTo>
                    <a:lnTo>
                      <a:pt x="17" y="8"/>
                    </a:lnTo>
                    <a:lnTo>
                      <a:pt x="21" y="10"/>
                    </a:lnTo>
                    <a:lnTo>
                      <a:pt x="25" y="12"/>
                    </a:lnTo>
                    <a:lnTo>
                      <a:pt x="29" y="14"/>
                    </a:lnTo>
                    <a:lnTo>
                      <a:pt x="36" y="17"/>
                    </a:lnTo>
                    <a:lnTo>
                      <a:pt x="40" y="20"/>
                    </a:lnTo>
                    <a:lnTo>
                      <a:pt x="45" y="22"/>
                    </a:lnTo>
                    <a:lnTo>
                      <a:pt x="50" y="24"/>
                    </a:lnTo>
                    <a:lnTo>
                      <a:pt x="56" y="26"/>
                    </a:lnTo>
                    <a:lnTo>
                      <a:pt x="61" y="28"/>
                    </a:lnTo>
                    <a:lnTo>
                      <a:pt x="67" y="32"/>
                    </a:lnTo>
                    <a:lnTo>
                      <a:pt x="72" y="35"/>
                    </a:lnTo>
                    <a:lnTo>
                      <a:pt x="78" y="37"/>
                    </a:lnTo>
                    <a:lnTo>
                      <a:pt x="83" y="39"/>
                    </a:lnTo>
                    <a:lnTo>
                      <a:pt x="88" y="41"/>
                    </a:lnTo>
                    <a:lnTo>
                      <a:pt x="94" y="43"/>
                    </a:lnTo>
                    <a:lnTo>
                      <a:pt x="99" y="45"/>
                    </a:lnTo>
                    <a:lnTo>
                      <a:pt x="103" y="48"/>
                    </a:lnTo>
                    <a:lnTo>
                      <a:pt x="107" y="51"/>
                    </a:lnTo>
                    <a:lnTo>
                      <a:pt x="110" y="53"/>
                    </a:lnTo>
                    <a:lnTo>
                      <a:pt x="115" y="53"/>
                    </a:lnTo>
                    <a:lnTo>
                      <a:pt x="119" y="55"/>
                    </a:lnTo>
                    <a:lnTo>
                      <a:pt x="121" y="57"/>
                    </a:lnTo>
                    <a:lnTo>
                      <a:pt x="123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8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05" name="Freeform 922"/>
              <p:cNvSpPr>
                <a:spLocks/>
              </p:cNvSpPr>
              <p:nvPr/>
            </p:nvSpPr>
            <p:spPr bwMode="auto">
              <a:xfrm>
                <a:off x="3241" y="2070"/>
                <a:ext cx="9" cy="11"/>
              </a:xfrm>
              <a:custGeom>
                <a:avLst/>
                <a:gdLst>
                  <a:gd name="T0" fmla="*/ 5 w 9"/>
                  <a:gd name="T1" fmla="*/ 11 h 11"/>
                  <a:gd name="T2" fmla="*/ 5 w 9"/>
                  <a:gd name="T3" fmla="*/ 11 h 11"/>
                  <a:gd name="T4" fmla="*/ 8 w 9"/>
                  <a:gd name="T5" fmla="*/ 10 h 11"/>
                  <a:gd name="T6" fmla="*/ 9 w 9"/>
                  <a:gd name="T7" fmla="*/ 8 h 11"/>
                  <a:gd name="T8" fmla="*/ 9 w 9"/>
                  <a:gd name="T9" fmla="*/ 6 h 11"/>
                  <a:gd name="T10" fmla="*/ 8 w 9"/>
                  <a:gd name="T11" fmla="*/ 6 h 11"/>
                  <a:gd name="T12" fmla="*/ 7 w 9"/>
                  <a:gd name="T13" fmla="*/ 2 h 11"/>
                  <a:gd name="T14" fmla="*/ 5 w 9"/>
                  <a:gd name="T15" fmla="*/ 1 h 11"/>
                  <a:gd name="T16" fmla="*/ 3 w 9"/>
                  <a:gd name="T17" fmla="*/ 1 h 11"/>
                  <a:gd name="T18" fmla="*/ 2 w 9"/>
                  <a:gd name="T19" fmla="*/ 0 h 11"/>
                  <a:gd name="T20" fmla="*/ 0 w 9"/>
                  <a:gd name="T21" fmla="*/ 1 h 11"/>
                  <a:gd name="T22" fmla="*/ 2 w 9"/>
                  <a:gd name="T23" fmla="*/ 2 h 11"/>
                  <a:gd name="T24" fmla="*/ 4 w 9"/>
                  <a:gd name="T25" fmla="*/ 3 h 11"/>
                  <a:gd name="T26" fmla="*/ 5 w 9"/>
                  <a:gd name="T27" fmla="*/ 6 h 11"/>
                  <a:gd name="T28" fmla="*/ 7 w 9"/>
                  <a:gd name="T29" fmla="*/ 6 h 11"/>
                  <a:gd name="T30" fmla="*/ 7 w 9"/>
                  <a:gd name="T31" fmla="*/ 6 h 11"/>
                  <a:gd name="T32" fmla="*/ 7 w 9"/>
                  <a:gd name="T33" fmla="*/ 8 h 11"/>
                  <a:gd name="T34" fmla="*/ 7 w 9"/>
                  <a:gd name="T35" fmla="*/ 8 h 11"/>
                  <a:gd name="T36" fmla="*/ 4 w 9"/>
                  <a:gd name="T37" fmla="*/ 10 h 11"/>
                  <a:gd name="T38" fmla="*/ 5 w 9"/>
                  <a:gd name="T39" fmla="*/ 11 h 1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9"/>
                  <a:gd name="T61" fmla="*/ 0 h 11"/>
                  <a:gd name="T62" fmla="*/ 9 w 9"/>
                  <a:gd name="T63" fmla="*/ 11 h 1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9" h="11">
                    <a:moveTo>
                      <a:pt x="5" y="11"/>
                    </a:moveTo>
                    <a:lnTo>
                      <a:pt x="5" y="11"/>
                    </a:lnTo>
                    <a:lnTo>
                      <a:pt x="8" y="10"/>
                    </a:lnTo>
                    <a:lnTo>
                      <a:pt x="9" y="8"/>
                    </a:lnTo>
                    <a:lnTo>
                      <a:pt x="9" y="6"/>
                    </a:lnTo>
                    <a:lnTo>
                      <a:pt x="8" y="6"/>
                    </a:lnTo>
                    <a:lnTo>
                      <a:pt x="7" y="2"/>
                    </a:lnTo>
                    <a:lnTo>
                      <a:pt x="5" y="1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6"/>
                    </a:lnTo>
                    <a:lnTo>
                      <a:pt x="7" y="6"/>
                    </a:lnTo>
                    <a:lnTo>
                      <a:pt x="7" y="8"/>
                    </a:lnTo>
                    <a:lnTo>
                      <a:pt x="4" y="10"/>
                    </a:lnTo>
                    <a:lnTo>
                      <a:pt x="5" y="1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06" name="Freeform 923"/>
              <p:cNvSpPr>
                <a:spLocks/>
              </p:cNvSpPr>
              <p:nvPr/>
            </p:nvSpPr>
            <p:spPr bwMode="auto">
              <a:xfrm>
                <a:off x="3143" y="2080"/>
                <a:ext cx="103" cy="46"/>
              </a:xfrm>
              <a:custGeom>
                <a:avLst/>
                <a:gdLst>
                  <a:gd name="T0" fmla="*/ 1 w 103"/>
                  <a:gd name="T1" fmla="*/ 46 h 46"/>
                  <a:gd name="T2" fmla="*/ 3 w 103"/>
                  <a:gd name="T3" fmla="*/ 45 h 46"/>
                  <a:gd name="T4" fmla="*/ 9 w 103"/>
                  <a:gd name="T5" fmla="*/ 43 h 46"/>
                  <a:gd name="T6" fmla="*/ 14 w 103"/>
                  <a:gd name="T7" fmla="*/ 40 h 46"/>
                  <a:gd name="T8" fmla="*/ 20 w 103"/>
                  <a:gd name="T9" fmla="*/ 37 h 46"/>
                  <a:gd name="T10" fmla="*/ 27 w 103"/>
                  <a:gd name="T11" fmla="*/ 35 h 46"/>
                  <a:gd name="T12" fmla="*/ 35 w 103"/>
                  <a:gd name="T13" fmla="*/ 31 h 46"/>
                  <a:gd name="T14" fmla="*/ 44 w 103"/>
                  <a:gd name="T15" fmla="*/ 27 h 46"/>
                  <a:gd name="T16" fmla="*/ 52 w 103"/>
                  <a:gd name="T17" fmla="*/ 23 h 46"/>
                  <a:gd name="T18" fmla="*/ 60 w 103"/>
                  <a:gd name="T19" fmla="*/ 20 h 46"/>
                  <a:gd name="T20" fmla="*/ 70 w 103"/>
                  <a:gd name="T21" fmla="*/ 17 h 46"/>
                  <a:gd name="T22" fmla="*/ 77 w 103"/>
                  <a:gd name="T23" fmla="*/ 14 h 46"/>
                  <a:gd name="T24" fmla="*/ 83 w 103"/>
                  <a:gd name="T25" fmla="*/ 11 h 46"/>
                  <a:gd name="T26" fmla="*/ 90 w 103"/>
                  <a:gd name="T27" fmla="*/ 6 h 46"/>
                  <a:gd name="T28" fmla="*/ 95 w 103"/>
                  <a:gd name="T29" fmla="*/ 4 h 46"/>
                  <a:gd name="T30" fmla="*/ 100 w 103"/>
                  <a:gd name="T31" fmla="*/ 3 h 46"/>
                  <a:gd name="T32" fmla="*/ 103 w 103"/>
                  <a:gd name="T33" fmla="*/ 2 h 46"/>
                  <a:gd name="T34" fmla="*/ 101 w 103"/>
                  <a:gd name="T35" fmla="*/ 1 h 46"/>
                  <a:gd name="T36" fmla="*/ 97 w 103"/>
                  <a:gd name="T37" fmla="*/ 2 h 46"/>
                  <a:gd name="T38" fmla="*/ 92 w 103"/>
                  <a:gd name="T39" fmla="*/ 4 h 46"/>
                  <a:gd name="T40" fmla="*/ 86 w 103"/>
                  <a:gd name="T41" fmla="*/ 6 h 46"/>
                  <a:gd name="T42" fmla="*/ 79 w 103"/>
                  <a:gd name="T43" fmla="*/ 11 h 46"/>
                  <a:gd name="T44" fmla="*/ 72 w 103"/>
                  <a:gd name="T45" fmla="*/ 14 h 46"/>
                  <a:gd name="T46" fmla="*/ 64 w 103"/>
                  <a:gd name="T47" fmla="*/ 17 h 46"/>
                  <a:gd name="T48" fmla="*/ 56 w 103"/>
                  <a:gd name="T49" fmla="*/ 20 h 46"/>
                  <a:gd name="T50" fmla="*/ 47 w 103"/>
                  <a:gd name="T51" fmla="*/ 23 h 46"/>
                  <a:gd name="T52" fmla="*/ 39 w 103"/>
                  <a:gd name="T53" fmla="*/ 28 h 46"/>
                  <a:gd name="T54" fmla="*/ 31 w 103"/>
                  <a:gd name="T55" fmla="*/ 31 h 46"/>
                  <a:gd name="T56" fmla="*/ 23 w 103"/>
                  <a:gd name="T57" fmla="*/ 35 h 46"/>
                  <a:gd name="T58" fmla="*/ 16 w 103"/>
                  <a:gd name="T59" fmla="*/ 37 h 46"/>
                  <a:gd name="T60" fmla="*/ 11 w 103"/>
                  <a:gd name="T61" fmla="*/ 40 h 46"/>
                  <a:gd name="T62" fmla="*/ 5 w 103"/>
                  <a:gd name="T63" fmla="*/ 43 h 46"/>
                  <a:gd name="T64" fmla="*/ 1 w 103"/>
                  <a:gd name="T65" fmla="*/ 44 h 46"/>
                  <a:gd name="T66" fmla="*/ 1 w 103"/>
                  <a:gd name="T67" fmla="*/ 46 h 4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6"/>
                  <a:gd name="T104" fmla="*/ 103 w 103"/>
                  <a:gd name="T105" fmla="*/ 46 h 4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6">
                    <a:moveTo>
                      <a:pt x="1" y="46"/>
                    </a:moveTo>
                    <a:lnTo>
                      <a:pt x="1" y="46"/>
                    </a:lnTo>
                    <a:lnTo>
                      <a:pt x="2" y="45"/>
                    </a:lnTo>
                    <a:lnTo>
                      <a:pt x="3" y="45"/>
                    </a:lnTo>
                    <a:lnTo>
                      <a:pt x="5" y="44"/>
                    </a:lnTo>
                    <a:lnTo>
                      <a:pt x="9" y="43"/>
                    </a:lnTo>
                    <a:lnTo>
                      <a:pt x="12" y="42"/>
                    </a:lnTo>
                    <a:lnTo>
                      <a:pt x="14" y="40"/>
                    </a:lnTo>
                    <a:lnTo>
                      <a:pt x="17" y="39"/>
                    </a:lnTo>
                    <a:lnTo>
                      <a:pt x="20" y="37"/>
                    </a:lnTo>
                    <a:lnTo>
                      <a:pt x="24" y="36"/>
                    </a:lnTo>
                    <a:lnTo>
                      <a:pt x="27" y="35"/>
                    </a:lnTo>
                    <a:lnTo>
                      <a:pt x="31" y="33"/>
                    </a:lnTo>
                    <a:lnTo>
                      <a:pt x="35" y="31"/>
                    </a:lnTo>
                    <a:lnTo>
                      <a:pt x="40" y="29"/>
                    </a:lnTo>
                    <a:lnTo>
                      <a:pt x="44" y="27"/>
                    </a:lnTo>
                    <a:lnTo>
                      <a:pt x="47" y="26"/>
                    </a:lnTo>
                    <a:lnTo>
                      <a:pt x="52" y="23"/>
                    </a:lnTo>
                    <a:lnTo>
                      <a:pt x="57" y="22"/>
                    </a:lnTo>
                    <a:lnTo>
                      <a:pt x="60" y="20"/>
                    </a:lnTo>
                    <a:lnTo>
                      <a:pt x="64" y="18"/>
                    </a:lnTo>
                    <a:lnTo>
                      <a:pt x="70" y="17"/>
                    </a:lnTo>
                    <a:lnTo>
                      <a:pt x="73" y="15"/>
                    </a:lnTo>
                    <a:lnTo>
                      <a:pt x="77" y="14"/>
                    </a:lnTo>
                    <a:lnTo>
                      <a:pt x="80" y="11"/>
                    </a:lnTo>
                    <a:lnTo>
                      <a:pt x="83" y="11"/>
                    </a:lnTo>
                    <a:lnTo>
                      <a:pt x="87" y="8"/>
                    </a:lnTo>
                    <a:lnTo>
                      <a:pt x="90" y="6"/>
                    </a:lnTo>
                    <a:lnTo>
                      <a:pt x="92" y="5"/>
                    </a:lnTo>
                    <a:lnTo>
                      <a:pt x="95" y="4"/>
                    </a:lnTo>
                    <a:lnTo>
                      <a:pt x="98" y="3"/>
                    </a:lnTo>
                    <a:lnTo>
                      <a:pt x="100" y="3"/>
                    </a:lnTo>
                    <a:lnTo>
                      <a:pt x="102" y="2"/>
                    </a:lnTo>
                    <a:lnTo>
                      <a:pt x="103" y="2"/>
                    </a:lnTo>
                    <a:lnTo>
                      <a:pt x="103" y="0"/>
                    </a:lnTo>
                    <a:lnTo>
                      <a:pt x="101" y="1"/>
                    </a:lnTo>
                    <a:lnTo>
                      <a:pt x="100" y="1"/>
                    </a:lnTo>
                    <a:lnTo>
                      <a:pt x="97" y="2"/>
                    </a:lnTo>
                    <a:lnTo>
                      <a:pt x="95" y="3"/>
                    </a:lnTo>
                    <a:lnTo>
                      <a:pt x="92" y="4"/>
                    </a:lnTo>
                    <a:lnTo>
                      <a:pt x="89" y="5"/>
                    </a:lnTo>
                    <a:lnTo>
                      <a:pt x="86" y="6"/>
                    </a:lnTo>
                    <a:lnTo>
                      <a:pt x="82" y="8"/>
                    </a:lnTo>
                    <a:lnTo>
                      <a:pt x="79" y="11"/>
                    </a:lnTo>
                    <a:lnTo>
                      <a:pt x="76" y="11"/>
                    </a:lnTo>
                    <a:lnTo>
                      <a:pt x="72" y="14"/>
                    </a:lnTo>
                    <a:lnTo>
                      <a:pt x="67" y="15"/>
                    </a:lnTo>
                    <a:lnTo>
                      <a:pt x="64" y="17"/>
                    </a:lnTo>
                    <a:lnTo>
                      <a:pt x="60" y="19"/>
                    </a:lnTo>
                    <a:lnTo>
                      <a:pt x="56" y="20"/>
                    </a:lnTo>
                    <a:lnTo>
                      <a:pt x="50" y="22"/>
                    </a:lnTo>
                    <a:lnTo>
                      <a:pt x="47" y="23"/>
                    </a:lnTo>
                    <a:lnTo>
                      <a:pt x="43" y="26"/>
                    </a:lnTo>
                    <a:lnTo>
                      <a:pt x="39" y="28"/>
                    </a:lnTo>
                    <a:lnTo>
                      <a:pt x="35" y="29"/>
                    </a:lnTo>
                    <a:lnTo>
                      <a:pt x="31" y="31"/>
                    </a:lnTo>
                    <a:lnTo>
                      <a:pt x="27" y="33"/>
                    </a:lnTo>
                    <a:lnTo>
                      <a:pt x="23" y="35"/>
                    </a:lnTo>
                    <a:lnTo>
                      <a:pt x="19" y="36"/>
                    </a:lnTo>
                    <a:lnTo>
                      <a:pt x="16" y="37"/>
                    </a:lnTo>
                    <a:lnTo>
                      <a:pt x="14" y="38"/>
                    </a:lnTo>
                    <a:lnTo>
                      <a:pt x="11" y="40"/>
                    </a:lnTo>
                    <a:lnTo>
                      <a:pt x="9" y="42"/>
                    </a:lnTo>
                    <a:lnTo>
                      <a:pt x="5" y="43"/>
                    </a:lnTo>
                    <a:lnTo>
                      <a:pt x="3" y="43"/>
                    </a:lnTo>
                    <a:lnTo>
                      <a:pt x="1" y="44"/>
                    </a:lnTo>
                    <a:lnTo>
                      <a:pt x="0" y="44"/>
                    </a:lnTo>
                    <a:lnTo>
                      <a:pt x="1" y="4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07" name="Freeform 924"/>
              <p:cNvSpPr>
                <a:spLocks/>
              </p:cNvSpPr>
              <p:nvPr/>
            </p:nvSpPr>
            <p:spPr bwMode="auto">
              <a:xfrm>
                <a:off x="3129" y="2122"/>
                <a:ext cx="14" cy="4"/>
              </a:xfrm>
              <a:custGeom>
                <a:avLst/>
                <a:gdLst>
                  <a:gd name="T0" fmla="*/ 0 w 14"/>
                  <a:gd name="T1" fmla="*/ 1 h 4"/>
                  <a:gd name="T2" fmla="*/ 0 w 14"/>
                  <a:gd name="T3" fmla="*/ 1 h 4"/>
                  <a:gd name="T4" fmla="*/ 1 w 14"/>
                  <a:gd name="T5" fmla="*/ 2 h 4"/>
                  <a:gd name="T6" fmla="*/ 3 w 14"/>
                  <a:gd name="T7" fmla="*/ 3 h 4"/>
                  <a:gd name="T8" fmla="*/ 7 w 14"/>
                  <a:gd name="T9" fmla="*/ 3 h 4"/>
                  <a:gd name="T10" fmla="*/ 7 w 14"/>
                  <a:gd name="T11" fmla="*/ 3 h 4"/>
                  <a:gd name="T12" fmla="*/ 10 w 14"/>
                  <a:gd name="T13" fmla="*/ 4 h 4"/>
                  <a:gd name="T14" fmla="*/ 11 w 14"/>
                  <a:gd name="T15" fmla="*/ 4 h 4"/>
                  <a:gd name="T16" fmla="*/ 13 w 14"/>
                  <a:gd name="T17" fmla="*/ 4 h 4"/>
                  <a:gd name="T18" fmla="*/ 14 w 14"/>
                  <a:gd name="T19" fmla="*/ 4 h 4"/>
                  <a:gd name="T20" fmla="*/ 13 w 14"/>
                  <a:gd name="T21" fmla="*/ 2 h 4"/>
                  <a:gd name="T22" fmla="*/ 11 w 14"/>
                  <a:gd name="T23" fmla="*/ 2 h 4"/>
                  <a:gd name="T24" fmla="*/ 10 w 14"/>
                  <a:gd name="T25" fmla="*/ 2 h 4"/>
                  <a:gd name="T26" fmla="*/ 9 w 14"/>
                  <a:gd name="T27" fmla="*/ 2 h 4"/>
                  <a:gd name="T28" fmla="*/ 7 w 14"/>
                  <a:gd name="T29" fmla="*/ 1 h 4"/>
                  <a:gd name="T30" fmla="*/ 3 w 14"/>
                  <a:gd name="T31" fmla="*/ 1 h 4"/>
                  <a:gd name="T32" fmla="*/ 2 w 14"/>
                  <a:gd name="T33" fmla="*/ 1 h 4"/>
                  <a:gd name="T34" fmla="*/ 1 w 14"/>
                  <a:gd name="T35" fmla="*/ 0 h 4"/>
                  <a:gd name="T36" fmla="*/ 0 w 14"/>
                  <a:gd name="T37" fmla="*/ 1 h 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4"/>
                  <a:gd name="T59" fmla="*/ 14 w 14"/>
                  <a:gd name="T60" fmla="*/ 4 h 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4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3" y="3"/>
                    </a:lnTo>
                    <a:lnTo>
                      <a:pt x="7" y="3"/>
                    </a:lnTo>
                    <a:lnTo>
                      <a:pt x="10" y="4"/>
                    </a:lnTo>
                    <a:lnTo>
                      <a:pt x="11" y="4"/>
                    </a:lnTo>
                    <a:lnTo>
                      <a:pt x="13" y="4"/>
                    </a:lnTo>
                    <a:lnTo>
                      <a:pt x="14" y="4"/>
                    </a:lnTo>
                    <a:lnTo>
                      <a:pt x="13" y="2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2"/>
                    </a:lnTo>
                    <a:lnTo>
                      <a:pt x="7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08" name="Freeform 925"/>
              <p:cNvSpPr>
                <a:spLocks/>
              </p:cNvSpPr>
              <p:nvPr/>
            </p:nvSpPr>
            <p:spPr bwMode="auto">
              <a:xfrm>
                <a:off x="3015" y="2061"/>
                <a:ext cx="115" cy="62"/>
              </a:xfrm>
              <a:custGeom>
                <a:avLst/>
                <a:gdLst>
                  <a:gd name="T0" fmla="*/ 0 w 115"/>
                  <a:gd name="T1" fmla="*/ 1 h 62"/>
                  <a:gd name="T2" fmla="*/ 2 w 115"/>
                  <a:gd name="T3" fmla="*/ 2 h 62"/>
                  <a:gd name="T4" fmla="*/ 5 w 115"/>
                  <a:gd name="T5" fmla="*/ 4 h 62"/>
                  <a:gd name="T6" fmla="*/ 11 w 115"/>
                  <a:gd name="T7" fmla="*/ 8 h 62"/>
                  <a:gd name="T8" fmla="*/ 18 w 115"/>
                  <a:gd name="T9" fmla="*/ 11 h 62"/>
                  <a:gd name="T10" fmla="*/ 26 w 115"/>
                  <a:gd name="T11" fmla="*/ 16 h 62"/>
                  <a:gd name="T12" fmla="*/ 35 w 115"/>
                  <a:gd name="T13" fmla="*/ 20 h 62"/>
                  <a:gd name="T14" fmla="*/ 45 w 115"/>
                  <a:gd name="T15" fmla="*/ 25 h 62"/>
                  <a:gd name="T16" fmla="*/ 54 w 115"/>
                  <a:gd name="T17" fmla="*/ 30 h 62"/>
                  <a:gd name="T18" fmla="*/ 64 w 115"/>
                  <a:gd name="T19" fmla="*/ 36 h 62"/>
                  <a:gd name="T20" fmla="*/ 75 w 115"/>
                  <a:gd name="T21" fmla="*/ 40 h 62"/>
                  <a:gd name="T22" fmla="*/ 83 w 115"/>
                  <a:gd name="T23" fmla="*/ 46 h 62"/>
                  <a:gd name="T24" fmla="*/ 93 w 115"/>
                  <a:gd name="T25" fmla="*/ 51 h 62"/>
                  <a:gd name="T26" fmla="*/ 99 w 115"/>
                  <a:gd name="T27" fmla="*/ 54 h 62"/>
                  <a:gd name="T28" fmla="*/ 107 w 115"/>
                  <a:gd name="T29" fmla="*/ 57 h 62"/>
                  <a:gd name="T30" fmla="*/ 112 w 115"/>
                  <a:gd name="T31" fmla="*/ 61 h 62"/>
                  <a:gd name="T32" fmla="*/ 114 w 115"/>
                  <a:gd name="T33" fmla="*/ 62 h 62"/>
                  <a:gd name="T34" fmla="*/ 114 w 115"/>
                  <a:gd name="T35" fmla="*/ 59 h 62"/>
                  <a:gd name="T36" fmla="*/ 110 w 115"/>
                  <a:gd name="T37" fmla="*/ 57 h 62"/>
                  <a:gd name="T38" fmla="*/ 104 w 115"/>
                  <a:gd name="T39" fmla="*/ 54 h 62"/>
                  <a:gd name="T40" fmla="*/ 97 w 115"/>
                  <a:gd name="T41" fmla="*/ 51 h 62"/>
                  <a:gd name="T42" fmla="*/ 90 w 115"/>
                  <a:gd name="T43" fmla="*/ 46 h 62"/>
                  <a:gd name="T44" fmla="*/ 80 w 115"/>
                  <a:gd name="T45" fmla="*/ 41 h 62"/>
                  <a:gd name="T46" fmla="*/ 70 w 115"/>
                  <a:gd name="T47" fmla="*/ 37 h 62"/>
                  <a:gd name="T48" fmla="*/ 61 w 115"/>
                  <a:gd name="T49" fmla="*/ 32 h 62"/>
                  <a:gd name="T50" fmla="*/ 51 w 115"/>
                  <a:gd name="T51" fmla="*/ 25 h 62"/>
                  <a:gd name="T52" fmla="*/ 41 w 115"/>
                  <a:gd name="T53" fmla="*/ 21 h 62"/>
                  <a:gd name="T54" fmla="*/ 32 w 115"/>
                  <a:gd name="T55" fmla="*/ 17 h 62"/>
                  <a:gd name="T56" fmla="*/ 23 w 115"/>
                  <a:gd name="T57" fmla="*/ 12 h 62"/>
                  <a:gd name="T58" fmla="*/ 16 w 115"/>
                  <a:gd name="T59" fmla="*/ 8 h 62"/>
                  <a:gd name="T60" fmla="*/ 8 w 115"/>
                  <a:gd name="T61" fmla="*/ 4 h 62"/>
                  <a:gd name="T62" fmla="*/ 4 w 115"/>
                  <a:gd name="T63" fmla="*/ 2 h 62"/>
                  <a:gd name="T64" fmla="*/ 1 w 115"/>
                  <a:gd name="T65" fmla="*/ 0 h 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2"/>
                  <a:gd name="T101" fmla="*/ 115 w 115"/>
                  <a:gd name="T102" fmla="*/ 62 h 6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2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5" y="4"/>
                    </a:lnTo>
                    <a:lnTo>
                      <a:pt x="7" y="5"/>
                    </a:lnTo>
                    <a:lnTo>
                      <a:pt x="11" y="8"/>
                    </a:lnTo>
                    <a:lnTo>
                      <a:pt x="15" y="10"/>
                    </a:lnTo>
                    <a:lnTo>
                      <a:pt x="18" y="11"/>
                    </a:lnTo>
                    <a:lnTo>
                      <a:pt x="22" y="14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0"/>
                    </a:lnTo>
                    <a:lnTo>
                      <a:pt x="39" y="22"/>
                    </a:lnTo>
                    <a:lnTo>
                      <a:pt x="45" y="25"/>
                    </a:lnTo>
                    <a:lnTo>
                      <a:pt x="49" y="27"/>
                    </a:lnTo>
                    <a:lnTo>
                      <a:pt x="54" y="30"/>
                    </a:lnTo>
                    <a:lnTo>
                      <a:pt x="60" y="34"/>
                    </a:lnTo>
                    <a:lnTo>
                      <a:pt x="64" y="36"/>
                    </a:lnTo>
                    <a:lnTo>
                      <a:pt x="70" y="38"/>
                    </a:lnTo>
                    <a:lnTo>
                      <a:pt x="75" y="40"/>
                    </a:lnTo>
                    <a:lnTo>
                      <a:pt x="79" y="43"/>
                    </a:lnTo>
                    <a:lnTo>
                      <a:pt x="83" y="46"/>
                    </a:lnTo>
                    <a:lnTo>
                      <a:pt x="88" y="49"/>
                    </a:lnTo>
                    <a:lnTo>
                      <a:pt x="93" y="51"/>
                    </a:lnTo>
                    <a:lnTo>
                      <a:pt x="96" y="53"/>
                    </a:lnTo>
                    <a:lnTo>
                      <a:pt x="99" y="54"/>
                    </a:lnTo>
                    <a:lnTo>
                      <a:pt x="102" y="56"/>
                    </a:lnTo>
                    <a:lnTo>
                      <a:pt x="107" y="57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3" y="61"/>
                    </a:lnTo>
                    <a:lnTo>
                      <a:pt x="114" y="62"/>
                    </a:lnTo>
                    <a:lnTo>
                      <a:pt x="115" y="61"/>
                    </a:lnTo>
                    <a:lnTo>
                      <a:pt x="114" y="59"/>
                    </a:lnTo>
                    <a:lnTo>
                      <a:pt x="112" y="58"/>
                    </a:lnTo>
                    <a:lnTo>
                      <a:pt x="110" y="57"/>
                    </a:lnTo>
                    <a:lnTo>
                      <a:pt x="107" y="56"/>
                    </a:lnTo>
                    <a:lnTo>
                      <a:pt x="104" y="54"/>
                    </a:lnTo>
                    <a:lnTo>
                      <a:pt x="100" y="53"/>
                    </a:lnTo>
                    <a:lnTo>
                      <a:pt x="97" y="51"/>
                    </a:lnTo>
                    <a:lnTo>
                      <a:pt x="94" y="49"/>
                    </a:lnTo>
                    <a:lnTo>
                      <a:pt x="90" y="46"/>
                    </a:lnTo>
                    <a:lnTo>
                      <a:pt x="84" y="43"/>
                    </a:lnTo>
                    <a:lnTo>
                      <a:pt x="80" y="41"/>
                    </a:lnTo>
                    <a:lnTo>
                      <a:pt x="76" y="39"/>
                    </a:lnTo>
                    <a:lnTo>
                      <a:pt x="70" y="37"/>
                    </a:lnTo>
                    <a:lnTo>
                      <a:pt x="65" y="35"/>
                    </a:lnTo>
                    <a:lnTo>
                      <a:pt x="61" y="32"/>
                    </a:lnTo>
                    <a:lnTo>
                      <a:pt x="55" y="30"/>
                    </a:lnTo>
                    <a:lnTo>
                      <a:pt x="51" y="25"/>
                    </a:lnTo>
                    <a:lnTo>
                      <a:pt x="46" y="23"/>
                    </a:lnTo>
                    <a:lnTo>
                      <a:pt x="41" y="21"/>
                    </a:lnTo>
                    <a:lnTo>
                      <a:pt x="36" y="19"/>
                    </a:lnTo>
                    <a:lnTo>
                      <a:pt x="32" y="17"/>
                    </a:lnTo>
                    <a:lnTo>
                      <a:pt x="27" y="15"/>
                    </a:lnTo>
                    <a:lnTo>
                      <a:pt x="23" y="12"/>
                    </a:lnTo>
                    <a:lnTo>
                      <a:pt x="19" y="10"/>
                    </a:lnTo>
                    <a:lnTo>
                      <a:pt x="16" y="8"/>
                    </a:lnTo>
                    <a:lnTo>
                      <a:pt x="13" y="5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09" name="Freeform 926"/>
              <p:cNvSpPr>
                <a:spLocks/>
              </p:cNvSpPr>
              <p:nvPr/>
            </p:nvSpPr>
            <p:spPr bwMode="auto">
              <a:xfrm>
                <a:off x="3010" y="2053"/>
                <a:ext cx="6" cy="9"/>
              </a:xfrm>
              <a:custGeom>
                <a:avLst/>
                <a:gdLst>
                  <a:gd name="T0" fmla="*/ 4 w 6"/>
                  <a:gd name="T1" fmla="*/ 0 h 9"/>
                  <a:gd name="T2" fmla="*/ 4 w 6"/>
                  <a:gd name="T3" fmla="*/ 0 h 9"/>
                  <a:gd name="T4" fmla="*/ 2 w 6"/>
                  <a:gd name="T5" fmla="*/ 1 h 9"/>
                  <a:gd name="T6" fmla="*/ 1 w 6"/>
                  <a:gd name="T7" fmla="*/ 3 h 9"/>
                  <a:gd name="T8" fmla="*/ 0 w 6"/>
                  <a:gd name="T9" fmla="*/ 3 h 9"/>
                  <a:gd name="T10" fmla="*/ 0 w 6"/>
                  <a:gd name="T11" fmla="*/ 6 h 9"/>
                  <a:gd name="T12" fmla="*/ 1 w 6"/>
                  <a:gd name="T13" fmla="*/ 7 h 9"/>
                  <a:gd name="T14" fmla="*/ 2 w 6"/>
                  <a:gd name="T15" fmla="*/ 8 h 9"/>
                  <a:gd name="T16" fmla="*/ 4 w 6"/>
                  <a:gd name="T17" fmla="*/ 8 h 9"/>
                  <a:gd name="T18" fmla="*/ 5 w 6"/>
                  <a:gd name="T19" fmla="*/ 9 h 9"/>
                  <a:gd name="T20" fmla="*/ 6 w 6"/>
                  <a:gd name="T21" fmla="*/ 8 h 9"/>
                  <a:gd name="T22" fmla="*/ 4 w 6"/>
                  <a:gd name="T23" fmla="*/ 7 h 9"/>
                  <a:gd name="T24" fmla="*/ 3 w 6"/>
                  <a:gd name="T25" fmla="*/ 6 h 9"/>
                  <a:gd name="T26" fmla="*/ 2 w 6"/>
                  <a:gd name="T27" fmla="*/ 6 h 9"/>
                  <a:gd name="T28" fmla="*/ 2 w 6"/>
                  <a:gd name="T29" fmla="*/ 3 h 9"/>
                  <a:gd name="T30" fmla="*/ 3 w 6"/>
                  <a:gd name="T31" fmla="*/ 3 h 9"/>
                  <a:gd name="T32" fmla="*/ 5 w 6"/>
                  <a:gd name="T33" fmla="*/ 1 h 9"/>
                  <a:gd name="T34" fmla="*/ 4 w 6"/>
                  <a:gd name="T35" fmla="*/ 0 h 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"/>
                  <a:gd name="T55" fmla="*/ 0 h 9"/>
                  <a:gd name="T56" fmla="*/ 6 w 6"/>
                  <a:gd name="T57" fmla="*/ 9 h 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" h="9">
                    <a:moveTo>
                      <a:pt x="4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1" y="7"/>
                    </a:lnTo>
                    <a:lnTo>
                      <a:pt x="2" y="8"/>
                    </a:lnTo>
                    <a:lnTo>
                      <a:pt x="4" y="8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4" y="7"/>
                    </a:lnTo>
                    <a:lnTo>
                      <a:pt x="3" y="6"/>
                    </a:lnTo>
                    <a:lnTo>
                      <a:pt x="2" y="6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10" name="Freeform 927"/>
              <p:cNvSpPr>
                <a:spLocks/>
              </p:cNvSpPr>
              <p:nvPr/>
            </p:nvSpPr>
            <p:spPr bwMode="auto">
              <a:xfrm>
                <a:off x="3137" y="2112"/>
                <a:ext cx="106" cy="49"/>
              </a:xfrm>
              <a:custGeom>
                <a:avLst/>
                <a:gdLst>
                  <a:gd name="T0" fmla="*/ 106 w 106"/>
                  <a:gd name="T1" fmla="*/ 0 h 49"/>
                  <a:gd name="T2" fmla="*/ 104 w 106"/>
                  <a:gd name="T3" fmla="*/ 0 h 49"/>
                  <a:gd name="T4" fmla="*/ 102 w 106"/>
                  <a:gd name="T5" fmla="*/ 1 h 49"/>
                  <a:gd name="T6" fmla="*/ 100 w 106"/>
                  <a:gd name="T7" fmla="*/ 2 h 49"/>
                  <a:gd name="T8" fmla="*/ 98 w 106"/>
                  <a:gd name="T9" fmla="*/ 3 h 49"/>
                  <a:gd name="T10" fmla="*/ 95 w 106"/>
                  <a:gd name="T11" fmla="*/ 4 h 49"/>
                  <a:gd name="T12" fmla="*/ 92 w 106"/>
                  <a:gd name="T13" fmla="*/ 5 h 49"/>
                  <a:gd name="T14" fmla="*/ 88 w 106"/>
                  <a:gd name="T15" fmla="*/ 7 h 49"/>
                  <a:gd name="T16" fmla="*/ 85 w 106"/>
                  <a:gd name="T17" fmla="*/ 10 h 49"/>
                  <a:gd name="T18" fmla="*/ 82 w 106"/>
                  <a:gd name="T19" fmla="*/ 10 h 49"/>
                  <a:gd name="T20" fmla="*/ 79 w 106"/>
                  <a:gd name="T21" fmla="*/ 13 h 49"/>
                  <a:gd name="T22" fmla="*/ 75 w 106"/>
                  <a:gd name="T23" fmla="*/ 15 h 49"/>
                  <a:gd name="T24" fmla="*/ 70 w 106"/>
                  <a:gd name="T25" fmla="*/ 16 h 49"/>
                  <a:gd name="T26" fmla="*/ 66 w 106"/>
                  <a:gd name="T27" fmla="*/ 18 h 49"/>
                  <a:gd name="T28" fmla="*/ 62 w 106"/>
                  <a:gd name="T29" fmla="*/ 20 h 49"/>
                  <a:gd name="T30" fmla="*/ 57 w 106"/>
                  <a:gd name="T31" fmla="*/ 22 h 49"/>
                  <a:gd name="T32" fmla="*/ 53 w 106"/>
                  <a:gd name="T33" fmla="*/ 23 h 49"/>
                  <a:gd name="T34" fmla="*/ 50 w 106"/>
                  <a:gd name="T35" fmla="*/ 26 h 49"/>
                  <a:gd name="T36" fmla="*/ 45 w 106"/>
                  <a:gd name="T37" fmla="*/ 29 h 49"/>
                  <a:gd name="T38" fmla="*/ 40 w 106"/>
                  <a:gd name="T39" fmla="*/ 31 h 49"/>
                  <a:gd name="T40" fmla="*/ 36 w 106"/>
                  <a:gd name="T41" fmla="*/ 32 h 49"/>
                  <a:gd name="T42" fmla="*/ 31 w 106"/>
                  <a:gd name="T43" fmla="*/ 34 h 49"/>
                  <a:gd name="T44" fmla="*/ 28 w 106"/>
                  <a:gd name="T45" fmla="*/ 36 h 49"/>
                  <a:gd name="T46" fmla="*/ 23 w 106"/>
                  <a:gd name="T47" fmla="*/ 37 h 49"/>
                  <a:gd name="T48" fmla="*/ 20 w 106"/>
                  <a:gd name="T49" fmla="*/ 39 h 49"/>
                  <a:gd name="T50" fmla="*/ 17 w 106"/>
                  <a:gd name="T51" fmla="*/ 42 h 49"/>
                  <a:gd name="T52" fmla="*/ 14 w 106"/>
                  <a:gd name="T53" fmla="*/ 42 h 49"/>
                  <a:gd name="T54" fmla="*/ 10 w 106"/>
                  <a:gd name="T55" fmla="*/ 45 h 49"/>
                  <a:gd name="T56" fmla="*/ 8 w 106"/>
                  <a:gd name="T57" fmla="*/ 46 h 49"/>
                  <a:gd name="T58" fmla="*/ 5 w 106"/>
                  <a:gd name="T59" fmla="*/ 47 h 49"/>
                  <a:gd name="T60" fmla="*/ 3 w 106"/>
                  <a:gd name="T61" fmla="*/ 48 h 49"/>
                  <a:gd name="T62" fmla="*/ 1 w 106"/>
                  <a:gd name="T63" fmla="*/ 48 h 49"/>
                  <a:gd name="T64" fmla="*/ 0 w 106"/>
                  <a:gd name="T65" fmla="*/ 49 h 49"/>
                  <a:gd name="T66" fmla="*/ 106 w 106"/>
                  <a:gd name="T67" fmla="*/ 0 h 49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6"/>
                  <a:gd name="T103" fmla="*/ 0 h 49"/>
                  <a:gd name="T104" fmla="*/ 106 w 106"/>
                  <a:gd name="T105" fmla="*/ 49 h 49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6" h="49">
                    <a:moveTo>
                      <a:pt x="106" y="0"/>
                    </a:moveTo>
                    <a:lnTo>
                      <a:pt x="104" y="0"/>
                    </a:lnTo>
                    <a:lnTo>
                      <a:pt x="102" y="1"/>
                    </a:lnTo>
                    <a:lnTo>
                      <a:pt x="100" y="2"/>
                    </a:lnTo>
                    <a:lnTo>
                      <a:pt x="98" y="3"/>
                    </a:lnTo>
                    <a:lnTo>
                      <a:pt x="95" y="4"/>
                    </a:lnTo>
                    <a:lnTo>
                      <a:pt x="92" y="5"/>
                    </a:lnTo>
                    <a:lnTo>
                      <a:pt x="88" y="7"/>
                    </a:lnTo>
                    <a:lnTo>
                      <a:pt x="85" y="10"/>
                    </a:lnTo>
                    <a:lnTo>
                      <a:pt x="82" y="10"/>
                    </a:lnTo>
                    <a:lnTo>
                      <a:pt x="79" y="13"/>
                    </a:lnTo>
                    <a:lnTo>
                      <a:pt x="75" y="15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0"/>
                    </a:lnTo>
                    <a:lnTo>
                      <a:pt x="57" y="22"/>
                    </a:lnTo>
                    <a:lnTo>
                      <a:pt x="53" y="23"/>
                    </a:lnTo>
                    <a:lnTo>
                      <a:pt x="50" y="26"/>
                    </a:lnTo>
                    <a:lnTo>
                      <a:pt x="45" y="29"/>
                    </a:lnTo>
                    <a:lnTo>
                      <a:pt x="40" y="31"/>
                    </a:lnTo>
                    <a:lnTo>
                      <a:pt x="36" y="32"/>
                    </a:lnTo>
                    <a:lnTo>
                      <a:pt x="31" y="34"/>
                    </a:lnTo>
                    <a:lnTo>
                      <a:pt x="28" y="36"/>
                    </a:lnTo>
                    <a:lnTo>
                      <a:pt x="23" y="37"/>
                    </a:lnTo>
                    <a:lnTo>
                      <a:pt x="20" y="39"/>
                    </a:lnTo>
                    <a:lnTo>
                      <a:pt x="17" y="42"/>
                    </a:lnTo>
                    <a:lnTo>
                      <a:pt x="14" y="42"/>
                    </a:lnTo>
                    <a:lnTo>
                      <a:pt x="10" y="45"/>
                    </a:lnTo>
                    <a:lnTo>
                      <a:pt x="8" y="46"/>
                    </a:lnTo>
                    <a:lnTo>
                      <a:pt x="5" y="47"/>
                    </a:lnTo>
                    <a:lnTo>
                      <a:pt x="3" y="48"/>
                    </a:lnTo>
                    <a:lnTo>
                      <a:pt x="1" y="48"/>
                    </a:lnTo>
                    <a:lnTo>
                      <a:pt x="0" y="49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11" name="Freeform 928"/>
              <p:cNvSpPr>
                <a:spLocks/>
              </p:cNvSpPr>
              <p:nvPr/>
            </p:nvSpPr>
            <p:spPr bwMode="auto">
              <a:xfrm>
                <a:off x="3136" y="2112"/>
                <a:ext cx="107" cy="50"/>
              </a:xfrm>
              <a:custGeom>
                <a:avLst/>
                <a:gdLst>
                  <a:gd name="T0" fmla="*/ 2 w 107"/>
                  <a:gd name="T1" fmla="*/ 49 h 50"/>
                  <a:gd name="T2" fmla="*/ 6 w 107"/>
                  <a:gd name="T3" fmla="*/ 48 h 50"/>
                  <a:gd name="T4" fmla="*/ 10 w 107"/>
                  <a:gd name="T5" fmla="*/ 46 h 50"/>
                  <a:gd name="T6" fmla="*/ 18 w 107"/>
                  <a:gd name="T7" fmla="*/ 42 h 50"/>
                  <a:gd name="T8" fmla="*/ 24 w 107"/>
                  <a:gd name="T9" fmla="*/ 38 h 50"/>
                  <a:gd name="T10" fmla="*/ 32 w 107"/>
                  <a:gd name="T11" fmla="*/ 35 h 50"/>
                  <a:gd name="T12" fmla="*/ 41 w 107"/>
                  <a:gd name="T13" fmla="*/ 32 h 50"/>
                  <a:gd name="T14" fmla="*/ 49 w 107"/>
                  <a:gd name="T15" fmla="*/ 28 h 50"/>
                  <a:gd name="T16" fmla="*/ 58 w 107"/>
                  <a:gd name="T17" fmla="*/ 23 h 50"/>
                  <a:gd name="T18" fmla="*/ 67 w 107"/>
                  <a:gd name="T19" fmla="*/ 19 h 50"/>
                  <a:gd name="T20" fmla="*/ 76 w 107"/>
                  <a:gd name="T21" fmla="*/ 16 h 50"/>
                  <a:gd name="T22" fmla="*/ 83 w 107"/>
                  <a:gd name="T23" fmla="*/ 13 h 50"/>
                  <a:gd name="T24" fmla="*/ 89 w 107"/>
                  <a:gd name="T25" fmla="*/ 10 h 50"/>
                  <a:gd name="T26" fmla="*/ 96 w 107"/>
                  <a:gd name="T27" fmla="*/ 6 h 50"/>
                  <a:gd name="T28" fmla="*/ 101 w 107"/>
                  <a:gd name="T29" fmla="*/ 4 h 50"/>
                  <a:gd name="T30" fmla="*/ 105 w 107"/>
                  <a:gd name="T31" fmla="*/ 2 h 50"/>
                  <a:gd name="T32" fmla="*/ 105 w 107"/>
                  <a:gd name="T33" fmla="*/ 0 h 50"/>
                  <a:gd name="T34" fmla="*/ 103 w 107"/>
                  <a:gd name="T35" fmla="*/ 1 h 50"/>
                  <a:gd name="T36" fmla="*/ 99 w 107"/>
                  <a:gd name="T37" fmla="*/ 3 h 50"/>
                  <a:gd name="T38" fmla="*/ 92 w 107"/>
                  <a:gd name="T39" fmla="*/ 5 h 50"/>
                  <a:gd name="T40" fmla="*/ 86 w 107"/>
                  <a:gd name="T41" fmla="*/ 10 h 50"/>
                  <a:gd name="T42" fmla="*/ 79 w 107"/>
                  <a:gd name="T43" fmla="*/ 13 h 50"/>
                  <a:gd name="T44" fmla="*/ 70 w 107"/>
                  <a:gd name="T45" fmla="*/ 16 h 50"/>
                  <a:gd name="T46" fmla="*/ 62 w 107"/>
                  <a:gd name="T47" fmla="*/ 20 h 50"/>
                  <a:gd name="T48" fmla="*/ 52 w 107"/>
                  <a:gd name="T49" fmla="*/ 23 h 50"/>
                  <a:gd name="T50" fmla="*/ 45 w 107"/>
                  <a:gd name="T51" fmla="*/ 29 h 50"/>
                  <a:gd name="T52" fmla="*/ 35 w 107"/>
                  <a:gd name="T53" fmla="*/ 32 h 50"/>
                  <a:gd name="T54" fmla="*/ 27 w 107"/>
                  <a:gd name="T55" fmla="*/ 35 h 50"/>
                  <a:gd name="T56" fmla="*/ 20 w 107"/>
                  <a:gd name="T57" fmla="*/ 38 h 50"/>
                  <a:gd name="T58" fmla="*/ 12 w 107"/>
                  <a:gd name="T59" fmla="*/ 42 h 50"/>
                  <a:gd name="T60" fmla="*/ 7 w 107"/>
                  <a:gd name="T61" fmla="*/ 45 h 50"/>
                  <a:gd name="T62" fmla="*/ 3 w 107"/>
                  <a:gd name="T63" fmla="*/ 47 h 50"/>
                  <a:gd name="T64" fmla="*/ 0 w 107"/>
                  <a:gd name="T65" fmla="*/ 49 h 5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50"/>
                  <a:gd name="T101" fmla="*/ 107 w 107"/>
                  <a:gd name="T102" fmla="*/ 50 h 5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50">
                    <a:moveTo>
                      <a:pt x="1" y="50"/>
                    </a:moveTo>
                    <a:lnTo>
                      <a:pt x="2" y="49"/>
                    </a:lnTo>
                    <a:lnTo>
                      <a:pt x="4" y="49"/>
                    </a:lnTo>
                    <a:lnTo>
                      <a:pt x="6" y="48"/>
                    </a:lnTo>
                    <a:lnTo>
                      <a:pt x="8" y="47"/>
                    </a:lnTo>
                    <a:lnTo>
                      <a:pt x="10" y="46"/>
                    </a:lnTo>
                    <a:lnTo>
                      <a:pt x="15" y="44"/>
                    </a:lnTo>
                    <a:lnTo>
                      <a:pt x="18" y="42"/>
                    </a:lnTo>
                    <a:lnTo>
                      <a:pt x="21" y="41"/>
                    </a:lnTo>
                    <a:lnTo>
                      <a:pt x="24" y="38"/>
                    </a:lnTo>
                    <a:lnTo>
                      <a:pt x="29" y="37"/>
                    </a:lnTo>
                    <a:lnTo>
                      <a:pt x="32" y="35"/>
                    </a:lnTo>
                    <a:lnTo>
                      <a:pt x="37" y="33"/>
                    </a:lnTo>
                    <a:lnTo>
                      <a:pt x="41" y="32"/>
                    </a:lnTo>
                    <a:lnTo>
                      <a:pt x="45" y="30"/>
                    </a:lnTo>
                    <a:lnTo>
                      <a:pt x="49" y="28"/>
                    </a:lnTo>
                    <a:lnTo>
                      <a:pt x="54" y="26"/>
                    </a:lnTo>
                    <a:lnTo>
                      <a:pt x="58" y="23"/>
                    </a:lnTo>
                    <a:lnTo>
                      <a:pt x="63" y="21"/>
                    </a:lnTo>
                    <a:lnTo>
                      <a:pt x="67" y="19"/>
                    </a:lnTo>
                    <a:lnTo>
                      <a:pt x="71" y="18"/>
                    </a:lnTo>
                    <a:lnTo>
                      <a:pt x="76" y="16"/>
                    </a:lnTo>
                    <a:lnTo>
                      <a:pt x="80" y="14"/>
                    </a:lnTo>
                    <a:lnTo>
                      <a:pt x="83" y="13"/>
                    </a:lnTo>
                    <a:lnTo>
                      <a:pt x="86" y="10"/>
                    </a:lnTo>
                    <a:lnTo>
                      <a:pt x="89" y="10"/>
                    </a:lnTo>
                    <a:lnTo>
                      <a:pt x="93" y="7"/>
                    </a:lnTo>
                    <a:lnTo>
                      <a:pt x="96" y="6"/>
                    </a:lnTo>
                    <a:lnTo>
                      <a:pt x="99" y="5"/>
                    </a:lnTo>
                    <a:lnTo>
                      <a:pt x="101" y="4"/>
                    </a:lnTo>
                    <a:lnTo>
                      <a:pt x="103" y="3"/>
                    </a:lnTo>
                    <a:lnTo>
                      <a:pt x="105" y="2"/>
                    </a:lnTo>
                    <a:lnTo>
                      <a:pt x="107" y="2"/>
                    </a:lnTo>
                    <a:lnTo>
                      <a:pt x="105" y="0"/>
                    </a:lnTo>
                    <a:lnTo>
                      <a:pt x="104" y="1"/>
                    </a:lnTo>
                    <a:lnTo>
                      <a:pt x="103" y="1"/>
                    </a:lnTo>
                    <a:lnTo>
                      <a:pt x="101" y="2"/>
                    </a:lnTo>
                    <a:lnTo>
                      <a:pt x="99" y="3"/>
                    </a:lnTo>
                    <a:lnTo>
                      <a:pt x="96" y="4"/>
                    </a:lnTo>
                    <a:lnTo>
                      <a:pt x="92" y="5"/>
                    </a:lnTo>
                    <a:lnTo>
                      <a:pt x="89" y="7"/>
                    </a:lnTo>
                    <a:lnTo>
                      <a:pt x="86" y="10"/>
                    </a:lnTo>
                    <a:lnTo>
                      <a:pt x="82" y="10"/>
                    </a:lnTo>
                    <a:lnTo>
                      <a:pt x="79" y="13"/>
                    </a:lnTo>
                    <a:lnTo>
                      <a:pt x="73" y="15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0"/>
                    </a:lnTo>
                    <a:lnTo>
                      <a:pt x="57" y="21"/>
                    </a:lnTo>
                    <a:lnTo>
                      <a:pt x="52" y="23"/>
                    </a:lnTo>
                    <a:lnTo>
                      <a:pt x="49" y="26"/>
                    </a:lnTo>
                    <a:lnTo>
                      <a:pt x="45" y="29"/>
                    </a:lnTo>
                    <a:lnTo>
                      <a:pt x="40" y="30"/>
                    </a:lnTo>
                    <a:lnTo>
                      <a:pt x="35" y="32"/>
                    </a:lnTo>
                    <a:lnTo>
                      <a:pt x="31" y="34"/>
                    </a:lnTo>
                    <a:lnTo>
                      <a:pt x="27" y="35"/>
                    </a:lnTo>
                    <a:lnTo>
                      <a:pt x="24" y="37"/>
                    </a:lnTo>
                    <a:lnTo>
                      <a:pt x="20" y="38"/>
                    </a:lnTo>
                    <a:lnTo>
                      <a:pt x="17" y="41"/>
                    </a:lnTo>
                    <a:lnTo>
                      <a:pt x="12" y="42"/>
                    </a:lnTo>
                    <a:lnTo>
                      <a:pt x="10" y="44"/>
                    </a:lnTo>
                    <a:lnTo>
                      <a:pt x="7" y="45"/>
                    </a:lnTo>
                    <a:lnTo>
                      <a:pt x="5" y="46"/>
                    </a:lnTo>
                    <a:lnTo>
                      <a:pt x="3" y="47"/>
                    </a:lnTo>
                    <a:lnTo>
                      <a:pt x="1" y="48"/>
                    </a:lnTo>
                    <a:lnTo>
                      <a:pt x="0" y="49"/>
                    </a:lnTo>
                    <a:lnTo>
                      <a:pt x="1" y="5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12" name="Freeform 929"/>
              <p:cNvSpPr>
                <a:spLocks/>
              </p:cNvSpPr>
              <p:nvPr/>
            </p:nvSpPr>
            <p:spPr bwMode="auto">
              <a:xfrm>
                <a:off x="2998" y="2015"/>
                <a:ext cx="252" cy="110"/>
              </a:xfrm>
              <a:custGeom>
                <a:avLst/>
                <a:gdLst>
                  <a:gd name="T0" fmla="*/ 2 w 252"/>
                  <a:gd name="T1" fmla="*/ 29 h 110"/>
                  <a:gd name="T2" fmla="*/ 1 w 252"/>
                  <a:gd name="T3" fmla="*/ 15 h 110"/>
                  <a:gd name="T4" fmla="*/ 12 w 252"/>
                  <a:gd name="T5" fmla="*/ 0 h 110"/>
                  <a:gd name="T6" fmla="*/ 18 w 252"/>
                  <a:gd name="T7" fmla="*/ 0 h 110"/>
                  <a:gd name="T8" fmla="*/ 34 w 252"/>
                  <a:gd name="T9" fmla="*/ 1 h 110"/>
                  <a:gd name="T10" fmla="*/ 58 w 252"/>
                  <a:gd name="T11" fmla="*/ 2 h 110"/>
                  <a:gd name="T12" fmla="*/ 86 w 252"/>
                  <a:gd name="T13" fmla="*/ 4 h 110"/>
                  <a:gd name="T14" fmla="*/ 118 w 252"/>
                  <a:gd name="T15" fmla="*/ 6 h 110"/>
                  <a:gd name="T16" fmla="*/ 149 w 252"/>
                  <a:gd name="T17" fmla="*/ 8 h 110"/>
                  <a:gd name="T18" fmla="*/ 180 w 252"/>
                  <a:gd name="T19" fmla="*/ 13 h 110"/>
                  <a:gd name="T20" fmla="*/ 208 w 252"/>
                  <a:gd name="T21" fmla="*/ 15 h 110"/>
                  <a:gd name="T22" fmla="*/ 228 w 252"/>
                  <a:gd name="T23" fmla="*/ 17 h 110"/>
                  <a:gd name="T24" fmla="*/ 241 w 252"/>
                  <a:gd name="T25" fmla="*/ 19 h 110"/>
                  <a:gd name="T26" fmla="*/ 245 w 252"/>
                  <a:gd name="T27" fmla="*/ 36 h 110"/>
                  <a:gd name="T28" fmla="*/ 247 w 252"/>
                  <a:gd name="T29" fmla="*/ 56 h 110"/>
                  <a:gd name="T30" fmla="*/ 251 w 252"/>
                  <a:gd name="T31" fmla="*/ 60 h 110"/>
                  <a:gd name="T32" fmla="*/ 251 w 252"/>
                  <a:gd name="T33" fmla="*/ 63 h 110"/>
                  <a:gd name="T34" fmla="*/ 247 w 252"/>
                  <a:gd name="T35" fmla="*/ 66 h 110"/>
                  <a:gd name="T36" fmla="*/ 238 w 252"/>
                  <a:gd name="T37" fmla="*/ 69 h 110"/>
                  <a:gd name="T38" fmla="*/ 230 w 252"/>
                  <a:gd name="T39" fmla="*/ 73 h 110"/>
                  <a:gd name="T40" fmla="*/ 218 w 252"/>
                  <a:gd name="T41" fmla="*/ 78 h 110"/>
                  <a:gd name="T42" fmla="*/ 205 w 252"/>
                  <a:gd name="T43" fmla="*/ 83 h 110"/>
                  <a:gd name="T44" fmla="*/ 193 w 252"/>
                  <a:gd name="T45" fmla="*/ 89 h 110"/>
                  <a:gd name="T46" fmla="*/ 180 w 252"/>
                  <a:gd name="T47" fmla="*/ 94 h 110"/>
                  <a:gd name="T48" fmla="*/ 170 w 252"/>
                  <a:gd name="T49" fmla="*/ 99 h 110"/>
                  <a:gd name="T50" fmla="*/ 159 w 252"/>
                  <a:gd name="T51" fmla="*/ 103 h 110"/>
                  <a:gd name="T52" fmla="*/ 150 w 252"/>
                  <a:gd name="T53" fmla="*/ 108 h 110"/>
                  <a:gd name="T54" fmla="*/ 145 w 252"/>
                  <a:gd name="T55" fmla="*/ 110 h 110"/>
                  <a:gd name="T56" fmla="*/ 141 w 252"/>
                  <a:gd name="T57" fmla="*/ 110 h 110"/>
                  <a:gd name="T58" fmla="*/ 134 w 252"/>
                  <a:gd name="T59" fmla="*/ 108 h 110"/>
                  <a:gd name="T60" fmla="*/ 130 w 252"/>
                  <a:gd name="T61" fmla="*/ 107 h 110"/>
                  <a:gd name="T62" fmla="*/ 124 w 252"/>
                  <a:gd name="T63" fmla="*/ 101 h 110"/>
                  <a:gd name="T64" fmla="*/ 113 w 252"/>
                  <a:gd name="T65" fmla="*/ 97 h 110"/>
                  <a:gd name="T66" fmla="*/ 101 w 252"/>
                  <a:gd name="T67" fmla="*/ 91 h 110"/>
                  <a:gd name="T68" fmla="*/ 87 w 252"/>
                  <a:gd name="T69" fmla="*/ 82 h 110"/>
                  <a:gd name="T70" fmla="*/ 72 w 252"/>
                  <a:gd name="T71" fmla="*/ 74 h 110"/>
                  <a:gd name="T72" fmla="*/ 58 w 252"/>
                  <a:gd name="T73" fmla="*/ 66 h 110"/>
                  <a:gd name="T74" fmla="*/ 44 w 252"/>
                  <a:gd name="T75" fmla="*/ 60 h 110"/>
                  <a:gd name="T76" fmla="*/ 33 w 252"/>
                  <a:gd name="T77" fmla="*/ 53 h 110"/>
                  <a:gd name="T78" fmla="*/ 23 w 252"/>
                  <a:gd name="T79" fmla="*/ 48 h 110"/>
                  <a:gd name="T80" fmla="*/ 18 w 252"/>
                  <a:gd name="T81" fmla="*/ 46 h 110"/>
                  <a:gd name="T82" fmla="*/ 15 w 252"/>
                  <a:gd name="T83" fmla="*/ 44 h 110"/>
                  <a:gd name="T84" fmla="*/ 10 w 252"/>
                  <a:gd name="T85" fmla="*/ 40 h 110"/>
                  <a:gd name="T86" fmla="*/ 5 w 252"/>
                  <a:gd name="T87" fmla="*/ 37 h 11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252"/>
                  <a:gd name="T133" fmla="*/ 0 h 110"/>
                  <a:gd name="T134" fmla="*/ 252 w 252"/>
                  <a:gd name="T135" fmla="*/ 110 h 11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252" h="110">
                    <a:moveTo>
                      <a:pt x="5" y="37"/>
                    </a:moveTo>
                    <a:lnTo>
                      <a:pt x="3" y="34"/>
                    </a:lnTo>
                    <a:lnTo>
                      <a:pt x="2" y="29"/>
                    </a:lnTo>
                    <a:lnTo>
                      <a:pt x="1" y="24"/>
                    </a:lnTo>
                    <a:lnTo>
                      <a:pt x="0" y="20"/>
                    </a:lnTo>
                    <a:lnTo>
                      <a:pt x="1" y="15"/>
                    </a:lnTo>
                    <a:lnTo>
                      <a:pt x="2" y="8"/>
                    </a:lnTo>
                    <a:lnTo>
                      <a:pt x="5" y="4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8" y="0"/>
                    </a:lnTo>
                    <a:lnTo>
                      <a:pt x="34" y="1"/>
                    </a:lnTo>
                    <a:lnTo>
                      <a:pt x="40" y="1"/>
                    </a:lnTo>
                    <a:lnTo>
                      <a:pt x="49" y="2"/>
                    </a:lnTo>
                    <a:lnTo>
                      <a:pt x="58" y="2"/>
                    </a:lnTo>
                    <a:lnTo>
                      <a:pt x="67" y="3"/>
                    </a:lnTo>
                    <a:lnTo>
                      <a:pt x="76" y="3"/>
                    </a:lnTo>
                    <a:lnTo>
                      <a:pt x="86" y="4"/>
                    </a:lnTo>
                    <a:lnTo>
                      <a:pt x="96" y="5"/>
                    </a:lnTo>
                    <a:lnTo>
                      <a:pt x="107" y="5"/>
                    </a:lnTo>
                    <a:lnTo>
                      <a:pt x="118" y="6"/>
                    </a:lnTo>
                    <a:lnTo>
                      <a:pt x="128" y="7"/>
                    </a:lnTo>
                    <a:lnTo>
                      <a:pt x="140" y="8"/>
                    </a:lnTo>
                    <a:lnTo>
                      <a:pt x="149" y="8"/>
                    </a:lnTo>
                    <a:lnTo>
                      <a:pt x="160" y="9"/>
                    </a:lnTo>
                    <a:lnTo>
                      <a:pt x="170" y="10"/>
                    </a:lnTo>
                    <a:lnTo>
                      <a:pt x="180" y="13"/>
                    </a:lnTo>
                    <a:lnTo>
                      <a:pt x="189" y="13"/>
                    </a:lnTo>
                    <a:lnTo>
                      <a:pt x="199" y="13"/>
                    </a:lnTo>
                    <a:lnTo>
                      <a:pt x="208" y="15"/>
                    </a:lnTo>
                    <a:lnTo>
                      <a:pt x="215" y="16"/>
                    </a:lnTo>
                    <a:lnTo>
                      <a:pt x="222" y="16"/>
                    </a:lnTo>
                    <a:lnTo>
                      <a:pt x="228" y="17"/>
                    </a:lnTo>
                    <a:lnTo>
                      <a:pt x="234" y="18"/>
                    </a:lnTo>
                    <a:lnTo>
                      <a:pt x="237" y="18"/>
                    </a:lnTo>
                    <a:lnTo>
                      <a:pt x="241" y="19"/>
                    </a:lnTo>
                    <a:lnTo>
                      <a:pt x="243" y="19"/>
                    </a:lnTo>
                    <a:lnTo>
                      <a:pt x="245" y="29"/>
                    </a:lnTo>
                    <a:lnTo>
                      <a:pt x="245" y="36"/>
                    </a:lnTo>
                    <a:lnTo>
                      <a:pt x="245" y="45"/>
                    </a:lnTo>
                    <a:lnTo>
                      <a:pt x="246" y="55"/>
                    </a:lnTo>
                    <a:lnTo>
                      <a:pt x="247" y="56"/>
                    </a:lnTo>
                    <a:lnTo>
                      <a:pt x="249" y="57"/>
                    </a:lnTo>
                    <a:lnTo>
                      <a:pt x="250" y="58"/>
                    </a:lnTo>
                    <a:lnTo>
                      <a:pt x="251" y="60"/>
                    </a:lnTo>
                    <a:lnTo>
                      <a:pt x="252" y="61"/>
                    </a:lnTo>
                    <a:lnTo>
                      <a:pt x="252" y="62"/>
                    </a:lnTo>
                    <a:lnTo>
                      <a:pt x="251" y="63"/>
                    </a:lnTo>
                    <a:lnTo>
                      <a:pt x="249" y="64"/>
                    </a:lnTo>
                    <a:lnTo>
                      <a:pt x="248" y="66"/>
                    </a:lnTo>
                    <a:lnTo>
                      <a:pt x="247" y="66"/>
                    </a:lnTo>
                    <a:lnTo>
                      <a:pt x="245" y="66"/>
                    </a:lnTo>
                    <a:lnTo>
                      <a:pt x="241" y="68"/>
                    </a:lnTo>
                    <a:lnTo>
                      <a:pt x="238" y="69"/>
                    </a:lnTo>
                    <a:lnTo>
                      <a:pt x="236" y="70"/>
                    </a:lnTo>
                    <a:lnTo>
                      <a:pt x="233" y="71"/>
                    </a:lnTo>
                    <a:lnTo>
                      <a:pt x="230" y="73"/>
                    </a:lnTo>
                    <a:lnTo>
                      <a:pt x="226" y="74"/>
                    </a:lnTo>
                    <a:lnTo>
                      <a:pt x="222" y="77"/>
                    </a:lnTo>
                    <a:lnTo>
                      <a:pt x="218" y="78"/>
                    </a:lnTo>
                    <a:lnTo>
                      <a:pt x="215" y="80"/>
                    </a:lnTo>
                    <a:lnTo>
                      <a:pt x="210" y="81"/>
                    </a:lnTo>
                    <a:lnTo>
                      <a:pt x="205" y="83"/>
                    </a:lnTo>
                    <a:lnTo>
                      <a:pt x="202" y="85"/>
                    </a:lnTo>
                    <a:lnTo>
                      <a:pt x="197" y="87"/>
                    </a:lnTo>
                    <a:lnTo>
                      <a:pt x="193" y="89"/>
                    </a:lnTo>
                    <a:lnTo>
                      <a:pt x="189" y="91"/>
                    </a:lnTo>
                    <a:lnTo>
                      <a:pt x="185" y="93"/>
                    </a:lnTo>
                    <a:lnTo>
                      <a:pt x="180" y="94"/>
                    </a:lnTo>
                    <a:lnTo>
                      <a:pt x="177" y="96"/>
                    </a:lnTo>
                    <a:lnTo>
                      <a:pt x="173" y="98"/>
                    </a:lnTo>
                    <a:lnTo>
                      <a:pt x="170" y="99"/>
                    </a:lnTo>
                    <a:lnTo>
                      <a:pt x="165" y="101"/>
                    </a:lnTo>
                    <a:lnTo>
                      <a:pt x="162" y="103"/>
                    </a:lnTo>
                    <a:lnTo>
                      <a:pt x="159" y="103"/>
                    </a:lnTo>
                    <a:lnTo>
                      <a:pt x="156" y="105"/>
                    </a:lnTo>
                    <a:lnTo>
                      <a:pt x="154" y="107"/>
                    </a:lnTo>
                    <a:lnTo>
                      <a:pt x="150" y="108"/>
                    </a:lnTo>
                    <a:lnTo>
                      <a:pt x="148" y="109"/>
                    </a:lnTo>
                    <a:lnTo>
                      <a:pt x="146" y="109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10"/>
                    </a:lnTo>
                    <a:lnTo>
                      <a:pt x="141" y="110"/>
                    </a:lnTo>
                    <a:lnTo>
                      <a:pt x="140" y="109"/>
                    </a:lnTo>
                    <a:lnTo>
                      <a:pt x="138" y="109"/>
                    </a:lnTo>
                    <a:lnTo>
                      <a:pt x="134" y="108"/>
                    </a:lnTo>
                    <a:lnTo>
                      <a:pt x="132" y="107"/>
                    </a:lnTo>
                    <a:lnTo>
                      <a:pt x="130" y="107"/>
                    </a:lnTo>
                    <a:lnTo>
                      <a:pt x="129" y="105"/>
                    </a:lnTo>
                    <a:lnTo>
                      <a:pt x="127" y="103"/>
                    </a:lnTo>
                    <a:lnTo>
                      <a:pt x="124" y="101"/>
                    </a:lnTo>
                    <a:lnTo>
                      <a:pt x="122" y="101"/>
                    </a:lnTo>
                    <a:lnTo>
                      <a:pt x="118" y="99"/>
                    </a:lnTo>
                    <a:lnTo>
                      <a:pt x="113" y="97"/>
                    </a:lnTo>
                    <a:lnTo>
                      <a:pt x="110" y="95"/>
                    </a:lnTo>
                    <a:lnTo>
                      <a:pt x="106" y="93"/>
                    </a:lnTo>
                    <a:lnTo>
                      <a:pt x="101" y="91"/>
                    </a:lnTo>
                    <a:lnTo>
                      <a:pt x="96" y="88"/>
                    </a:lnTo>
                    <a:lnTo>
                      <a:pt x="92" y="85"/>
                    </a:lnTo>
                    <a:lnTo>
                      <a:pt x="87" y="82"/>
                    </a:lnTo>
                    <a:lnTo>
                      <a:pt x="82" y="80"/>
                    </a:lnTo>
                    <a:lnTo>
                      <a:pt x="77" y="78"/>
                    </a:lnTo>
                    <a:lnTo>
                      <a:pt x="72" y="74"/>
                    </a:lnTo>
                    <a:lnTo>
                      <a:pt x="67" y="72"/>
                    </a:lnTo>
                    <a:lnTo>
                      <a:pt x="63" y="70"/>
                    </a:lnTo>
                    <a:lnTo>
                      <a:pt x="58" y="66"/>
                    </a:lnTo>
                    <a:lnTo>
                      <a:pt x="53" y="64"/>
                    </a:lnTo>
                    <a:lnTo>
                      <a:pt x="49" y="62"/>
                    </a:lnTo>
                    <a:lnTo>
                      <a:pt x="44" y="60"/>
                    </a:lnTo>
                    <a:lnTo>
                      <a:pt x="39" y="57"/>
                    </a:lnTo>
                    <a:lnTo>
                      <a:pt x="36" y="55"/>
                    </a:lnTo>
                    <a:lnTo>
                      <a:pt x="33" y="53"/>
                    </a:lnTo>
                    <a:lnTo>
                      <a:pt x="30" y="52"/>
                    </a:lnTo>
                    <a:lnTo>
                      <a:pt x="25" y="50"/>
                    </a:lnTo>
                    <a:lnTo>
                      <a:pt x="23" y="48"/>
                    </a:lnTo>
                    <a:lnTo>
                      <a:pt x="21" y="48"/>
                    </a:lnTo>
                    <a:lnTo>
                      <a:pt x="19" y="46"/>
                    </a:lnTo>
                    <a:lnTo>
                      <a:pt x="18" y="46"/>
                    </a:lnTo>
                    <a:lnTo>
                      <a:pt x="17" y="45"/>
                    </a:lnTo>
                    <a:lnTo>
                      <a:pt x="16" y="44"/>
                    </a:lnTo>
                    <a:lnTo>
                      <a:pt x="15" y="44"/>
                    </a:lnTo>
                    <a:lnTo>
                      <a:pt x="13" y="42"/>
                    </a:lnTo>
                    <a:lnTo>
                      <a:pt x="12" y="41"/>
                    </a:lnTo>
                    <a:lnTo>
                      <a:pt x="10" y="40"/>
                    </a:lnTo>
                    <a:lnTo>
                      <a:pt x="8" y="39"/>
                    </a:lnTo>
                    <a:lnTo>
                      <a:pt x="6" y="38"/>
                    </a:lnTo>
                    <a:lnTo>
                      <a:pt x="5" y="37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13" name="Freeform 930"/>
              <p:cNvSpPr>
                <a:spLocks/>
              </p:cNvSpPr>
              <p:nvPr/>
            </p:nvSpPr>
            <p:spPr bwMode="auto">
              <a:xfrm>
                <a:off x="2997" y="2014"/>
                <a:ext cx="14" cy="38"/>
              </a:xfrm>
              <a:custGeom>
                <a:avLst/>
                <a:gdLst>
                  <a:gd name="T0" fmla="*/ 13 w 14"/>
                  <a:gd name="T1" fmla="*/ 0 h 38"/>
                  <a:gd name="T2" fmla="*/ 13 w 14"/>
                  <a:gd name="T3" fmla="*/ 0 h 38"/>
                  <a:gd name="T4" fmla="*/ 6 w 14"/>
                  <a:gd name="T5" fmla="*/ 4 h 38"/>
                  <a:gd name="T6" fmla="*/ 2 w 14"/>
                  <a:gd name="T7" fmla="*/ 10 h 38"/>
                  <a:gd name="T8" fmla="*/ 0 w 14"/>
                  <a:gd name="T9" fmla="*/ 16 h 38"/>
                  <a:gd name="T10" fmla="*/ 0 w 14"/>
                  <a:gd name="T11" fmla="*/ 20 h 38"/>
                  <a:gd name="T12" fmla="*/ 0 w 14"/>
                  <a:gd name="T13" fmla="*/ 25 h 38"/>
                  <a:gd name="T14" fmla="*/ 2 w 14"/>
                  <a:gd name="T15" fmla="*/ 30 h 38"/>
                  <a:gd name="T16" fmla="*/ 4 w 14"/>
                  <a:gd name="T17" fmla="*/ 35 h 38"/>
                  <a:gd name="T18" fmla="*/ 6 w 14"/>
                  <a:gd name="T19" fmla="*/ 38 h 38"/>
                  <a:gd name="T20" fmla="*/ 8 w 14"/>
                  <a:gd name="T21" fmla="*/ 37 h 38"/>
                  <a:gd name="T22" fmla="*/ 6 w 14"/>
                  <a:gd name="T23" fmla="*/ 34 h 38"/>
                  <a:gd name="T24" fmla="*/ 4 w 14"/>
                  <a:gd name="T25" fmla="*/ 30 h 38"/>
                  <a:gd name="T26" fmla="*/ 2 w 14"/>
                  <a:gd name="T27" fmla="*/ 25 h 38"/>
                  <a:gd name="T28" fmla="*/ 2 w 14"/>
                  <a:gd name="T29" fmla="*/ 20 h 38"/>
                  <a:gd name="T30" fmla="*/ 2 w 14"/>
                  <a:gd name="T31" fmla="*/ 16 h 38"/>
                  <a:gd name="T32" fmla="*/ 4 w 14"/>
                  <a:gd name="T33" fmla="*/ 10 h 38"/>
                  <a:gd name="T34" fmla="*/ 8 w 14"/>
                  <a:gd name="T35" fmla="*/ 5 h 38"/>
                  <a:gd name="T36" fmla="*/ 14 w 14"/>
                  <a:gd name="T37" fmla="*/ 2 h 38"/>
                  <a:gd name="T38" fmla="*/ 13 w 14"/>
                  <a:gd name="T39" fmla="*/ 0 h 3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4"/>
                  <a:gd name="T61" fmla="*/ 0 h 38"/>
                  <a:gd name="T62" fmla="*/ 14 w 14"/>
                  <a:gd name="T63" fmla="*/ 38 h 3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4" h="38">
                    <a:moveTo>
                      <a:pt x="13" y="0"/>
                    </a:moveTo>
                    <a:lnTo>
                      <a:pt x="13" y="0"/>
                    </a:lnTo>
                    <a:lnTo>
                      <a:pt x="6" y="4"/>
                    </a:lnTo>
                    <a:lnTo>
                      <a:pt x="2" y="10"/>
                    </a:lnTo>
                    <a:lnTo>
                      <a:pt x="0" y="16"/>
                    </a:lnTo>
                    <a:lnTo>
                      <a:pt x="0" y="20"/>
                    </a:lnTo>
                    <a:lnTo>
                      <a:pt x="0" y="25"/>
                    </a:lnTo>
                    <a:lnTo>
                      <a:pt x="2" y="30"/>
                    </a:lnTo>
                    <a:lnTo>
                      <a:pt x="4" y="35"/>
                    </a:lnTo>
                    <a:lnTo>
                      <a:pt x="6" y="38"/>
                    </a:lnTo>
                    <a:lnTo>
                      <a:pt x="8" y="37"/>
                    </a:lnTo>
                    <a:lnTo>
                      <a:pt x="6" y="34"/>
                    </a:lnTo>
                    <a:lnTo>
                      <a:pt x="4" y="30"/>
                    </a:lnTo>
                    <a:lnTo>
                      <a:pt x="2" y="25"/>
                    </a:lnTo>
                    <a:lnTo>
                      <a:pt x="2" y="20"/>
                    </a:lnTo>
                    <a:lnTo>
                      <a:pt x="2" y="16"/>
                    </a:lnTo>
                    <a:lnTo>
                      <a:pt x="4" y="10"/>
                    </a:lnTo>
                    <a:lnTo>
                      <a:pt x="8" y="5"/>
                    </a:lnTo>
                    <a:lnTo>
                      <a:pt x="14" y="2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14" name="Freeform 931"/>
              <p:cNvSpPr>
                <a:spLocks/>
              </p:cNvSpPr>
              <p:nvPr/>
            </p:nvSpPr>
            <p:spPr bwMode="auto">
              <a:xfrm>
                <a:off x="3010" y="2014"/>
                <a:ext cx="231" cy="21"/>
              </a:xfrm>
              <a:custGeom>
                <a:avLst/>
                <a:gdLst>
                  <a:gd name="T0" fmla="*/ 231 w 231"/>
                  <a:gd name="T1" fmla="*/ 20 h 21"/>
                  <a:gd name="T2" fmla="*/ 228 w 231"/>
                  <a:gd name="T3" fmla="*/ 18 h 21"/>
                  <a:gd name="T4" fmla="*/ 221 w 231"/>
                  <a:gd name="T5" fmla="*/ 18 h 21"/>
                  <a:gd name="T6" fmla="*/ 210 w 231"/>
                  <a:gd name="T7" fmla="*/ 16 h 21"/>
                  <a:gd name="T8" fmla="*/ 195 w 231"/>
                  <a:gd name="T9" fmla="*/ 15 h 21"/>
                  <a:gd name="T10" fmla="*/ 178 w 231"/>
                  <a:gd name="T11" fmla="*/ 12 h 21"/>
                  <a:gd name="T12" fmla="*/ 158 w 231"/>
                  <a:gd name="T13" fmla="*/ 11 h 21"/>
                  <a:gd name="T14" fmla="*/ 137 w 231"/>
                  <a:gd name="T15" fmla="*/ 9 h 21"/>
                  <a:gd name="T16" fmla="*/ 116 w 231"/>
                  <a:gd name="T17" fmla="*/ 8 h 21"/>
                  <a:gd name="T18" fmla="*/ 96 w 231"/>
                  <a:gd name="T19" fmla="*/ 5 h 21"/>
                  <a:gd name="T20" fmla="*/ 74 w 231"/>
                  <a:gd name="T21" fmla="*/ 5 h 21"/>
                  <a:gd name="T22" fmla="*/ 55 w 231"/>
                  <a:gd name="T23" fmla="*/ 2 h 21"/>
                  <a:gd name="T24" fmla="*/ 38 w 231"/>
                  <a:gd name="T25" fmla="*/ 2 h 21"/>
                  <a:gd name="T26" fmla="*/ 22 w 231"/>
                  <a:gd name="T27" fmla="*/ 1 h 21"/>
                  <a:gd name="T28" fmla="*/ 10 w 231"/>
                  <a:gd name="T29" fmla="*/ 0 h 21"/>
                  <a:gd name="T30" fmla="*/ 3 w 231"/>
                  <a:gd name="T31" fmla="*/ 0 h 21"/>
                  <a:gd name="T32" fmla="*/ 0 w 231"/>
                  <a:gd name="T33" fmla="*/ 0 h 21"/>
                  <a:gd name="T34" fmla="*/ 3 w 231"/>
                  <a:gd name="T35" fmla="*/ 2 h 21"/>
                  <a:gd name="T36" fmla="*/ 10 w 231"/>
                  <a:gd name="T37" fmla="*/ 2 h 21"/>
                  <a:gd name="T38" fmla="*/ 22 w 231"/>
                  <a:gd name="T39" fmla="*/ 2 h 21"/>
                  <a:gd name="T40" fmla="*/ 38 w 231"/>
                  <a:gd name="T41" fmla="*/ 3 h 21"/>
                  <a:gd name="T42" fmla="*/ 55 w 231"/>
                  <a:gd name="T43" fmla="*/ 5 h 21"/>
                  <a:gd name="T44" fmla="*/ 74 w 231"/>
                  <a:gd name="T45" fmla="*/ 5 h 21"/>
                  <a:gd name="T46" fmla="*/ 96 w 231"/>
                  <a:gd name="T47" fmla="*/ 8 h 21"/>
                  <a:gd name="T48" fmla="*/ 116 w 231"/>
                  <a:gd name="T49" fmla="*/ 9 h 21"/>
                  <a:gd name="T50" fmla="*/ 137 w 231"/>
                  <a:gd name="T51" fmla="*/ 11 h 21"/>
                  <a:gd name="T52" fmla="*/ 158 w 231"/>
                  <a:gd name="T53" fmla="*/ 12 h 21"/>
                  <a:gd name="T54" fmla="*/ 178 w 231"/>
                  <a:gd name="T55" fmla="*/ 15 h 21"/>
                  <a:gd name="T56" fmla="*/ 195 w 231"/>
                  <a:gd name="T57" fmla="*/ 16 h 21"/>
                  <a:gd name="T58" fmla="*/ 210 w 231"/>
                  <a:gd name="T59" fmla="*/ 18 h 21"/>
                  <a:gd name="T60" fmla="*/ 221 w 231"/>
                  <a:gd name="T61" fmla="*/ 20 h 21"/>
                  <a:gd name="T62" fmla="*/ 228 w 231"/>
                  <a:gd name="T63" fmla="*/ 21 h 21"/>
                  <a:gd name="T64" fmla="*/ 229 w 231"/>
                  <a:gd name="T65" fmla="*/ 20 h 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31"/>
                  <a:gd name="T100" fmla="*/ 0 h 21"/>
                  <a:gd name="T101" fmla="*/ 231 w 231"/>
                  <a:gd name="T102" fmla="*/ 21 h 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31" h="21">
                    <a:moveTo>
                      <a:pt x="231" y="20"/>
                    </a:moveTo>
                    <a:lnTo>
                      <a:pt x="231" y="20"/>
                    </a:lnTo>
                    <a:lnTo>
                      <a:pt x="230" y="18"/>
                    </a:lnTo>
                    <a:lnTo>
                      <a:pt x="228" y="18"/>
                    </a:lnTo>
                    <a:lnTo>
                      <a:pt x="225" y="18"/>
                    </a:lnTo>
                    <a:lnTo>
                      <a:pt x="221" y="18"/>
                    </a:lnTo>
                    <a:lnTo>
                      <a:pt x="215" y="16"/>
                    </a:lnTo>
                    <a:lnTo>
                      <a:pt x="210" y="16"/>
                    </a:lnTo>
                    <a:lnTo>
                      <a:pt x="202" y="15"/>
                    </a:lnTo>
                    <a:lnTo>
                      <a:pt x="195" y="15"/>
                    </a:lnTo>
                    <a:lnTo>
                      <a:pt x="187" y="14"/>
                    </a:lnTo>
                    <a:lnTo>
                      <a:pt x="178" y="12"/>
                    </a:lnTo>
                    <a:lnTo>
                      <a:pt x="167" y="11"/>
                    </a:lnTo>
                    <a:lnTo>
                      <a:pt x="158" y="11"/>
                    </a:lnTo>
                    <a:lnTo>
                      <a:pt x="148" y="10"/>
                    </a:lnTo>
                    <a:lnTo>
                      <a:pt x="137" y="9"/>
                    </a:lnTo>
                    <a:lnTo>
                      <a:pt x="127" y="8"/>
                    </a:lnTo>
                    <a:lnTo>
                      <a:pt x="116" y="8"/>
                    </a:lnTo>
                    <a:lnTo>
                      <a:pt x="106" y="7"/>
                    </a:lnTo>
                    <a:lnTo>
                      <a:pt x="96" y="5"/>
                    </a:lnTo>
                    <a:lnTo>
                      <a:pt x="84" y="5"/>
                    </a:lnTo>
                    <a:lnTo>
                      <a:pt x="74" y="5"/>
                    </a:lnTo>
                    <a:lnTo>
                      <a:pt x="65" y="3"/>
                    </a:lnTo>
                    <a:lnTo>
                      <a:pt x="55" y="2"/>
                    </a:lnTo>
                    <a:lnTo>
                      <a:pt x="46" y="2"/>
                    </a:lnTo>
                    <a:lnTo>
                      <a:pt x="38" y="2"/>
                    </a:lnTo>
                    <a:lnTo>
                      <a:pt x="29" y="1"/>
                    </a:lnTo>
                    <a:lnTo>
                      <a:pt x="22" y="1"/>
                    </a:lnTo>
                    <a:lnTo>
                      <a:pt x="17" y="1"/>
                    </a:lnTo>
                    <a:lnTo>
                      <a:pt x="10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6" y="2"/>
                    </a:lnTo>
                    <a:lnTo>
                      <a:pt x="10" y="2"/>
                    </a:lnTo>
                    <a:lnTo>
                      <a:pt x="17" y="2"/>
                    </a:lnTo>
                    <a:lnTo>
                      <a:pt x="22" y="2"/>
                    </a:lnTo>
                    <a:lnTo>
                      <a:pt x="29" y="3"/>
                    </a:lnTo>
                    <a:lnTo>
                      <a:pt x="38" y="3"/>
                    </a:lnTo>
                    <a:lnTo>
                      <a:pt x="46" y="5"/>
                    </a:lnTo>
                    <a:lnTo>
                      <a:pt x="55" y="5"/>
                    </a:lnTo>
                    <a:lnTo>
                      <a:pt x="65" y="5"/>
                    </a:lnTo>
                    <a:lnTo>
                      <a:pt x="74" y="5"/>
                    </a:lnTo>
                    <a:lnTo>
                      <a:pt x="84" y="7"/>
                    </a:lnTo>
                    <a:lnTo>
                      <a:pt x="96" y="8"/>
                    </a:lnTo>
                    <a:lnTo>
                      <a:pt x="106" y="8"/>
                    </a:lnTo>
                    <a:lnTo>
                      <a:pt x="116" y="9"/>
                    </a:lnTo>
                    <a:lnTo>
                      <a:pt x="127" y="10"/>
                    </a:lnTo>
                    <a:lnTo>
                      <a:pt x="137" y="11"/>
                    </a:lnTo>
                    <a:lnTo>
                      <a:pt x="148" y="11"/>
                    </a:lnTo>
                    <a:lnTo>
                      <a:pt x="158" y="12"/>
                    </a:lnTo>
                    <a:lnTo>
                      <a:pt x="167" y="14"/>
                    </a:lnTo>
                    <a:lnTo>
                      <a:pt x="178" y="15"/>
                    </a:lnTo>
                    <a:lnTo>
                      <a:pt x="187" y="15"/>
                    </a:lnTo>
                    <a:lnTo>
                      <a:pt x="195" y="16"/>
                    </a:lnTo>
                    <a:lnTo>
                      <a:pt x="202" y="18"/>
                    </a:lnTo>
                    <a:lnTo>
                      <a:pt x="210" y="18"/>
                    </a:lnTo>
                    <a:lnTo>
                      <a:pt x="215" y="18"/>
                    </a:lnTo>
                    <a:lnTo>
                      <a:pt x="221" y="20"/>
                    </a:lnTo>
                    <a:lnTo>
                      <a:pt x="225" y="20"/>
                    </a:lnTo>
                    <a:lnTo>
                      <a:pt x="228" y="21"/>
                    </a:lnTo>
                    <a:lnTo>
                      <a:pt x="229" y="21"/>
                    </a:lnTo>
                    <a:lnTo>
                      <a:pt x="229" y="20"/>
                    </a:lnTo>
                    <a:lnTo>
                      <a:pt x="231" y="2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15" name="Freeform 932"/>
              <p:cNvSpPr>
                <a:spLocks/>
              </p:cNvSpPr>
              <p:nvPr/>
            </p:nvSpPr>
            <p:spPr bwMode="auto">
              <a:xfrm>
                <a:off x="3239" y="2035"/>
                <a:ext cx="5" cy="35"/>
              </a:xfrm>
              <a:custGeom>
                <a:avLst/>
                <a:gdLst>
                  <a:gd name="T0" fmla="*/ 4 w 5"/>
                  <a:gd name="T1" fmla="*/ 33 h 35"/>
                  <a:gd name="T2" fmla="*/ 5 w 5"/>
                  <a:gd name="T3" fmla="*/ 34 h 35"/>
                  <a:gd name="T4" fmla="*/ 4 w 5"/>
                  <a:gd name="T5" fmla="*/ 26 h 35"/>
                  <a:gd name="T6" fmla="*/ 4 w 5"/>
                  <a:gd name="T7" fmla="*/ 16 h 35"/>
                  <a:gd name="T8" fmla="*/ 2 w 5"/>
                  <a:gd name="T9" fmla="*/ 9 h 35"/>
                  <a:gd name="T10" fmla="*/ 2 w 5"/>
                  <a:gd name="T11" fmla="*/ 0 h 35"/>
                  <a:gd name="T12" fmla="*/ 0 w 5"/>
                  <a:gd name="T13" fmla="*/ 0 h 35"/>
                  <a:gd name="T14" fmla="*/ 0 w 5"/>
                  <a:gd name="T15" fmla="*/ 9 h 35"/>
                  <a:gd name="T16" fmla="*/ 1 w 5"/>
                  <a:gd name="T17" fmla="*/ 16 h 35"/>
                  <a:gd name="T18" fmla="*/ 1 w 5"/>
                  <a:gd name="T19" fmla="*/ 26 h 35"/>
                  <a:gd name="T20" fmla="*/ 2 w 5"/>
                  <a:gd name="T21" fmla="*/ 34 h 35"/>
                  <a:gd name="T22" fmla="*/ 4 w 5"/>
                  <a:gd name="T23" fmla="*/ 35 h 35"/>
                  <a:gd name="T24" fmla="*/ 2 w 5"/>
                  <a:gd name="T25" fmla="*/ 34 h 35"/>
                  <a:gd name="T26" fmla="*/ 2 w 5"/>
                  <a:gd name="T27" fmla="*/ 35 h 35"/>
                  <a:gd name="T28" fmla="*/ 4 w 5"/>
                  <a:gd name="T29" fmla="*/ 35 h 35"/>
                  <a:gd name="T30" fmla="*/ 4 w 5"/>
                  <a:gd name="T31" fmla="*/ 33 h 3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"/>
                  <a:gd name="T49" fmla="*/ 0 h 35"/>
                  <a:gd name="T50" fmla="*/ 5 w 5"/>
                  <a:gd name="T51" fmla="*/ 35 h 3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" h="35">
                    <a:moveTo>
                      <a:pt x="4" y="33"/>
                    </a:moveTo>
                    <a:lnTo>
                      <a:pt x="5" y="34"/>
                    </a:lnTo>
                    <a:lnTo>
                      <a:pt x="4" y="26"/>
                    </a:lnTo>
                    <a:lnTo>
                      <a:pt x="4" y="16"/>
                    </a:lnTo>
                    <a:lnTo>
                      <a:pt x="2" y="9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1" y="16"/>
                    </a:lnTo>
                    <a:lnTo>
                      <a:pt x="1" y="26"/>
                    </a:lnTo>
                    <a:lnTo>
                      <a:pt x="2" y="34"/>
                    </a:lnTo>
                    <a:lnTo>
                      <a:pt x="4" y="35"/>
                    </a:lnTo>
                    <a:lnTo>
                      <a:pt x="2" y="34"/>
                    </a:lnTo>
                    <a:lnTo>
                      <a:pt x="2" y="35"/>
                    </a:lnTo>
                    <a:lnTo>
                      <a:pt x="4" y="35"/>
                    </a:lnTo>
                    <a:lnTo>
                      <a:pt x="4" y="33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16" name="Freeform 933"/>
              <p:cNvSpPr>
                <a:spLocks/>
              </p:cNvSpPr>
              <p:nvPr/>
            </p:nvSpPr>
            <p:spPr bwMode="auto">
              <a:xfrm>
                <a:off x="3241" y="2069"/>
                <a:ext cx="9" cy="12"/>
              </a:xfrm>
              <a:custGeom>
                <a:avLst/>
                <a:gdLst>
                  <a:gd name="T0" fmla="*/ 5 w 9"/>
                  <a:gd name="T1" fmla="*/ 12 h 12"/>
                  <a:gd name="T2" fmla="*/ 5 w 9"/>
                  <a:gd name="T3" fmla="*/ 12 h 12"/>
                  <a:gd name="T4" fmla="*/ 8 w 9"/>
                  <a:gd name="T5" fmla="*/ 11 h 12"/>
                  <a:gd name="T6" fmla="*/ 9 w 9"/>
                  <a:gd name="T7" fmla="*/ 9 h 12"/>
                  <a:gd name="T8" fmla="*/ 9 w 9"/>
                  <a:gd name="T9" fmla="*/ 8 h 12"/>
                  <a:gd name="T10" fmla="*/ 8 w 9"/>
                  <a:gd name="T11" fmla="*/ 4 h 12"/>
                  <a:gd name="T12" fmla="*/ 7 w 9"/>
                  <a:gd name="T13" fmla="*/ 3 h 12"/>
                  <a:gd name="T14" fmla="*/ 5 w 9"/>
                  <a:gd name="T15" fmla="*/ 2 h 12"/>
                  <a:gd name="T16" fmla="*/ 3 w 9"/>
                  <a:gd name="T17" fmla="*/ 1 h 12"/>
                  <a:gd name="T18" fmla="*/ 2 w 9"/>
                  <a:gd name="T19" fmla="*/ 0 h 12"/>
                  <a:gd name="T20" fmla="*/ 0 w 9"/>
                  <a:gd name="T21" fmla="*/ 2 h 12"/>
                  <a:gd name="T22" fmla="*/ 2 w 9"/>
                  <a:gd name="T23" fmla="*/ 2 h 12"/>
                  <a:gd name="T24" fmla="*/ 4 w 9"/>
                  <a:gd name="T25" fmla="*/ 3 h 12"/>
                  <a:gd name="T26" fmla="*/ 5 w 9"/>
                  <a:gd name="T27" fmla="*/ 4 h 12"/>
                  <a:gd name="T28" fmla="*/ 7 w 9"/>
                  <a:gd name="T29" fmla="*/ 7 h 12"/>
                  <a:gd name="T30" fmla="*/ 7 w 9"/>
                  <a:gd name="T31" fmla="*/ 8 h 12"/>
                  <a:gd name="T32" fmla="*/ 7 w 9"/>
                  <a:gd name="T33" fmla="*/ 9 h 12"/>
                  <a:gd name="T34" fmla="*/ 4 w 9"/>
                  <a:gd name="T35" fmla="*/ 11 h 12"/>
                  <a:gd name="T36" fmla="*/ 5 w 9"/>
                  <a:gd name="T37" fmla="*/ 12 h 1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12"/>
                  <a:gd name="T59" fmla="*/ 9 w 9"/>
                  <a:gd name="T60" fmla="*/ 12 h 1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12">
                    <a:moveTo>
                      <a:pt x="5" y="12"/>
                    </a:moveTo>
                    <a:lnTo>
                      <a:pt x="5" y="12"/>
                    </a:lnTo>
                    <a:lnTo>
                      <a:pt x="8" y="11"/>
                    </a:lnTo>
                    <a:lnTo>
                      <a:pt x="9" y="9"/>
                    </a:lnTo>
                    <a:lnTo>
                      <a:pt x="9" y="8"/>
                    </a:lnTo>
                    <a:lnTo>
                      <a:pt x="8" y="4"/>
                    </a:lnTo>
                    <a:lnTo>
                      <a:pt x="7" y="3"/>
                    </a:lnTo>
                    <a:lnTo>
                      <a:pt x="5" y="2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4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7" y="9"/>
                    </a:lnTo>
                    <a:lnTo>
                      <a:pt x="4" y="11"/>
                    </a:ln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17" name="Freeform 934"/>
              <p:cNvSpPr>
                <a:spLocks/>
              </p:cNvSpPr>
              <p:nvPr/>
            </p:nvSpPr>
            <p:spPr bwMode="auto">
              <a:xfrm>
                <a:off x="3143" y="2078"/>
                <a:ext cx="103" cy="47"/>
              </a:xfrm>
              <a:custGeom>
                <a:avLst/>
                <a:gdLst>
                  <a:gd name="T0" fmla="*/ 1 w 103"/>
                  <a:gd name="T1" fmla="*/ 47 h 47"/>
                  <a:gd name="T2" fmla="*/ 3 w 103"/>
                  <a:gd name="T3" fmla="*/ 46 h 47"/>
                  <a:gd name="T4" fmla="*/ 9 w 103"/>
                  <a:gd name="T5" fmla="*/ 44 h 47"/>
                  <a:gd name="T6" fmla="*/ 14 w 103"/>
                  <a:gd name="T7" fmla="*/ 40 h 47"/>
                  <a:gd name="T8" fmla="*/ 20 w 103"/>
                  <a:gd name="T9" fmla="*/ 38 h 47"/>
                  <a:gd name="T10" fmla="*/ 27 w 103"/>
                  <a:gd name="T11" fmla="*/ 35 h 47"/>
                  <a:gd name="T12" fmla="*/ 35 w 103"/>
                  <a:gd name="T13" fmla="*/ 32 h 47"/>
                  <a:gd name="T14" fmla="*/ 44 w 103"/>
                  <a:gd name="T15" fmla="*/ 28 h 47"/>
                  <a:gd name="T16" fmla="*/ 52 w 103"/>
                  <a:gd name="T17" fmla="*/ 24 h 47"/>
                  <a:gd name="T18" fmla="*/ 61 w 103"/>
                  <a:gd name="T19" fmla="*/ 20 h 47"/>
                  <a:gd name="T20" fmla="*/ 70 w 103"/>
                  <a:gd name="T21" fmla="*/ 17 h 47"/>
                  <a:gd name="T22" fmla="*/ 77 w 103"/>
                  <a:gd name="T23" fmla="*/ 14 h 47"/>
                  <a:gd name="T24" fmla="*/ 83 w 103"/>
                  <a:gd name="T25" fmla="*/ 10 h 47"/>
                  <a:gd name="T26" fmla="*/ 90 w 103"/>
                  <a:gd name="T27" fmla="*/ 6 h 47"/>
                  <a:gd name="T28" fmla="*/ 96 w 103"/>
                  <a:gd name="T29" fmla="*/ 4 h 47"/>
                  <a:gd name="T30" fmla="*/ 100 w 103"/>
                  <a:gd name="T31" fmla="*/ 3 h 47"/>
                  <a:gd name="T32" fmla="*/ 103 w 103"/>
                  <a:gd name="T33" fmla="*/ 1 h 47"/>
                  <a:gd name="T34" fmla="*/ 101 w 103"/>
                  <a:gd name="T35" fmla="*/ 0 h 47"/>
                  <a:gd name="T36" fmla="*/ 97 w 103"/>
                  <a:gd name="T37" fmla="*/ 2 h 47"/>
                  <a:gd name="T38" fmla="*/ 92 w 103"/>
                  <a:gd name="T39" fmla="*/ 4 h 47"/>
                  <a:gd name="T40" fmla="*/ 86 w 103"/>
                  <a:gd name="T41" fmla="*/ 6 h 47"/>
                  <a:gd name="T42" fmla="*/ 79 w 103"/>
                  <a:gd name="T43" fmla="*/ 10 h 47"/>
                  <a:gd name="T44" fmla="*/ 72 w 103"/>
                  <a:gd name="T45" fmla="*/ 14 h 47"/>
                  <a:gd name="T46" fmla="*/ 64 w 103"/>
                  <a:gd name="T47" fmla="*/ 17 h 47"/>
                  <a:gd name="T48" fmla="*/ 56 w 103"/>
                  <a:gd name="T49" fmla="*/ 20 h 47"/>
                  <a:gd name="T50" fmla="*/ 47 w 103"/>
                  <a:gd name="T51" fmla="*/ 24 h 47"/>
                  <a:gd name="T52" fmla="*/ 39 w 103"/>
                  <a:gd name="T53" fmla="*/ 29 h 47"/>
                  <a:gd name="T54" fmla="*/ 31 w 103"/>
                  <a:gd name="T55" fmla="*/ 32 h 47"/>
                  <a:gd name="T56" fmla="*/ 23 w 103"/>
                  <a:gd name="T57" fmla="*/ 35 h 47"/>
                  <a:gd name="T58" fmla="*/ 16 w 103"/>
                  <a:gd name="T59" fmla="*/ 38 h 47"/>
                  <a:gd name="T60" fmla="*/ 11 w 103"/>
                  <a:gd name="T61" fmla="*/ 40 h 47"/>
                  <a:gd name="T62" fmla="*/ 5 w 103"/>
                  <a:gd name="T63" fmla="*/ 44 h 47"/>
                  <a:gd name="T64" fmla="*/ 1 w 103"/>
                  <a:gd name="T65" fmla="*/ 45 h 47"/>
                  <a:gd name="T66" fmla="*/ 1 w 103"/>
                  <a:gd name="T67" fmla="*/ 47 h 4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7"/>
                  <a:gd name="T104" fmla="*/ 103 w 103"/>
                  <a:gd name="T105" fmla="*/ 47 h 4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7">
                    <a:moveTo>
                      <a:pt x="1" y="47"/>
                    </a:moveTo>
                    <a:lnTo>
                      <a:pt x="1" y="47"/>
                    </a:lnTo>
                    <a:lnTo>
                      <a:pt x="2" y="46"/>
                    </a:lnTo>
                    <a:lnTo>
                      <a:pt x="3" y="46"/>
                    </a:lnTo>
                    <a:lnTo>
                      <a:pt x="5" y="45"/>
                    </a:lnTo>
                    <a:lnTo>
                      <a:pt x="9" y="44"/>
                    </a:lnTo>
                    <a:lnTo>
                      <a:pt x="12" y="42"/>
                    </a:lnTo>
                    <a:lnTo>
                      <a:pt x="14" y="40"/>
                    </a:lnTo>
                    <a:lnTo>
                      <a:pt x="17" y="40"/>
                    </a:lnTo>
                    <a:lnTo>
                      <a:pt x="20" y="38"/>
                    </a:lnTo>
                    <a:lnTo>
                      <a:pt x="24" y="36"/>
                    </a:lnTo>
                    <a:lnTo>
                      <a:pt x="27" y="35"/>
                    </a:lnTo>
                    <a:lnTo>
                      <a:pt x="31" y="33"/>
                    </a:lnTo>
                    <a:lnTo>
                      <a:pt x="35" y="32"/>
                    </a:lnTo>
                    <a:lnTo>
                      <a:pt x="40" y="30"/>
                    </a:lnTo>
                    <a:lnTo>
                      <a:pt x="44" y="28"/>
                    </a:lnTo>
                    <a:lnTo>
                      <a:pt x="47" y="26"/>
                    </a:lnTo>
                    <a:lnTo>
                      <a:pt x="52" y="24"/>
                    </a:lnTo>
                    <a:lnTo>
                      <a:pt x="57" y="22"/>
                    </a:lnTo>
                    <a:lnTo>
                      <a:pt x="61" y="20"/>
                    </a:lnTo>
                    <a:lnTo>
                      <a:pt x="64" y="18"/>
                    </a:lnTo>
                    <a:lnTo>
                      <a:pt x="70" y="17"/>
                    </a:lnTo>
                    <a:lnTo>
                      <a:pt x="73" y="15"/>
                    </a:lnTo>
                    <a:lnTo>
                      <a:pt x="77" y="14"/>
                    </a:lnTo>
                    <a:lnTo>
                      <a:pt x="80" y="11"/>
                    </a:lnTo>
                    <a:lnTo>
                      <a:pt x="83" y="10"/>
                    </a:lnTo>
                    <a:lnTo>
                      <a:pt x="87" y="9"/>
                    </a:lnTo>
                    <a:lnTo>
                      <a:pt x="90" y="6"/>
                    </a:lnTo>
                    <a:lnTo>
                      <a:pt x="92" y="6"/>
                    </a:lnTo>
                    <a:lnTo>
                      <a:pt x="96" y="4"/>
                    </a:lnTo>
                    <a:lnTo>
                      <a:pt x="98" y="3"/>
                    </a:lnTo>
                    <a:lnTo>
                      <a:pt x="100" y="3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100" y="1"/>
                    </a:lnTo>
                    <a:lnTo>
                      <a:pt x="97" y="2"/>
                    </a:lnTo>
                    <a:lnTo>
                      <a:pt x="95" y="3"/>
                    </a:lnTo>
                    <a:lnTo>
                      <a:pt x="92" y="4"/>
                    </a:lnTo>
                    <a:lnTo>
                      <a:pt x="89" y="6"/>
                    </a:lnTo>
                    <a:lnTo>
                      <a:pt x="86" y="6"/>
                    </a:lnTo>
                    <a:lnTo>
                      <a:pt x="82" y="8"/>
                    </a:lnTo>
                    <a:lnTo>
                      <a:pt x="79" y="10"/>
                    </a:lnTo>
                    <a:lnTo>
                      <a:pt x="76" y="11"/>
                    </a:lnTo>
                    <a:lnTo>
                      <a:pt x="72" y="14"/>
                    </a:lnTo>
                    <a:lnTo>
                      <a:pt x="67" y="15"/>
                    </a:lnTo>
                    <a:lnTo>
                      <a:pt x="64" y="17"/>
                    </a:lnTo>
                    <a:lnTo>
                      <a:pt x="60" y="18"/>
                    </a:lnTo>
                    <a:lnTo>
                      <a:pt x="56" y="20"/>
                    </a:lnTo>
                    <a:lnTo>
                      <a:pt x="52" y="22"/>
                    </a:lnTo>
                    <a:lnTo>
                      <a:pt x="47" y="24"/>
                    </a:lnTo>
                    <a:lnTo>
                      <a:pt x="43" y="26"/>
                    </a:lnTo>
                    <a:lnTo>
                      <a:pt x="39" y="29"/>
                    </a:lnTo>
                    <a:lnTo>
                      <a:pt x="35" y="30"/>
                    </a:lnTo>
                    <a:lnTo>
                      <a:pt x="31" y="32"/>
                    </a:lnTo>
                    <a:lnTo>
                      <a:pt x="27" y="33"/>
                    </a:lnTo>
                    <a:lnTo>
                      <a:pt x="23" y="35"/>
                    </a:lnTo>
                    <a:lnTo>
                      <a:pt x="19" y="36"/>
                    </a:lnTo>
                    <a:lnTo>
                      <a:pt x="16" y="38"/>
                    </a:lnTo>
                    <a:lnTo>
                      <a:pt x="14" y="38"/>
                    </a:lnTo>
                    <a:lnTo>
                      <a:pt x="11" y="40"/>
                    </a:lnTo>
                    <a:lnTo>
                      <a:pt x="9" y="42"/>
                    </a:lnTo>
                    <a:lnTo>
                      <a:pt x="5" y="44"/>
                    </a:lnTo>
                    <a:lnTo>
                      <a:pt x="3" y="44"/>
                    </a:lnTo>
                    <a:lnTo>
                      <a:pt x="1" y="45"/>
                    </a:lnTo>
                    <a:lnTo>
                      <a:pt x="0" y="45"/>
                    </a:lnTo>
                    <a:lnTo>
                      <a:pt x="1" y="47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18" name="Freeform 935"/>
              <p:cNvSpPr>
                <a:spLocks/>
              </p:cNvSpPr>
              <p:nvPr/>
            </p:nvSpPr>
            <p:spPr bwMode="auto">
              <a:xfrm>
                <a:off x="3129" y="2120"/>
                <a:ext cx="14" cy="6"/>
              </a:xfrm>
              <a:custGeom>
                <a:avLst/>
                <a:gdLst>
                  <a:gd name="T0" fmla="*/ 0 w 14"/>
                  <a:gd name="T1" fmla="*/ 3 h 6"/>
                  <a:gd name="T2" fmla="*/ 0 w 14"/>
                  <a:gd name="T3" fmla="*/ 3 h 6"/>
                  <a:gd name="T4" fmla="*/ 1 w 14"/>
                  <a:gd name="T5" fmla="*/ 3 h 6"/>
                  <a:gd name="T6" fmla="*/ 3 w 14"/>
                  <a:gd name="T7" fmla="*/ 4 h 6"/>
                  <a:gd name="T8" fmla="*/ 7 w 14"/>
                  <a:gd name="T9" fmla="*/ 5 h 6"/>
                  <a:gd name="T10" fmla="*/ 7 w 14"/>
                  <a:gd name="T11" fmla="*/ 5 h 6"/>
                  <a:gd name="T12" fmla="*/ 10 w 14"/>
                  <a:gd name="T13" fmla="*/ 6 h 6"/>
                  <a:gd name="T14" fmla="*/ 11 w 14"/>
                  <a:gd name="T15" fmla="*/ 6 h 6"/>
                  <a:gd name="T16" fmla="*/ 13 w 14"/>
                  <a:gd name="T17" fmla="*/ 6 h 6"/>
                  <a:gd name="T18" fmla="*/ 14 w 14"/>
                  <a:gd name="T19" fmla="*/ 6 h 6"/>
                  <a:gd name="T20" fmla="*/ 13 w 14"/>
                  <a:gd name="T21" fmla="*/ 4 h 6"/>
                  <a:gd name="T22" fmla="*/ 11 w 14"/>
                  <a:gd name="T23" fmla="*/ 4 h 6"/>
                  <a:gd name="T24" fmla="*/ 10 w 14"/>
                  <a:gd name="T25" fmla="*/ 4 h 6"/>
                  <a:gd name="T26" fmla="*/ 9 w 14"/>
                  <a:gd name="T27" fmla="*/ 3 h 6"/>
                  <a:gd name="T28" fmla="*/ 7 w 14"/>
                  <a:gd name="T29" fmla="*/ 3 h 6"/>
                  <a:gd name="T30" fmla="*/ 3 w 14"/>
                  <a:gd name="T31" fmla="*/ 2 h 6"/>
                  <a:gd name="T32" fmla="*/ 2 w 14"/>
                  <a:gd name="T33" fmla="*/ 2 h 6"/>
                  <a:gd name="T34" fmla="*/ 1 w 14"/>
                  <a:gd name="T35" fmla="*/ 0 h 6"/>
                  <a:gd name="T36" fmla="*/ 0 w 14"/>
                  <a:gd name="T37" fmla="*/ 3 h 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6"/>
                  <a:gd name="T59" fmla="*/ 14 w 14"/>
                  <a:gd name="T60" fmla="*/ 6 h 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6">
                    <a:moveTo>
                      <a:pt x="0" y="3"/>
                    </a:moveTo>
                    <a:lnTo>
                      <a:pt x="0" y="3"/>
                    </a:lnTo>
                    <a:lnTo>
                      <a:pt x="1" y="3"/>
                    </a:lnTo>
                    <a:lnTo>
                      <a:pt x="3" y="4"/>
                    </a:lnTo>
                    <a:lnTo>
                      <a:pt x="7" y="5"/>
                    </a:lnTo>
                    <a:lnTo>
                      <a:pt x="10" y="6"/>
                    </a:lnTo>
                    <a:lnTo>
                      <a:pt x="11" y="6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3" y="4"/>
                    </a:lnTo>
                    <a:lnTo>
                      <a:pt x="11" y="4"/>
                    </a:lnTo>
                    <a:lnTo>
                      <a:pt x="10" y="4"/>
                    </a:lnTo>
                    <a:lnTo>
                      <a:pt x="9" y="3"/>
                    </a:lnTo>
                    <a:lnTo>
                      <a:pt x="7" y="3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1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19" name="Freeform 936"/>
              <p:cNvSpPr>
                <a:spLocks/>
              </p:cNvSpPr>
              <p:nvPr/>
            </p:nvSpPr>
            <p:spPr bwMode="auto">
              <a:xfrm>
                <a:off x="3015" y="2060"/>
                <a:ext cx="115" cy="63"/>
              </a:xfrm>
              <a:custGeom>
                <a:avLst/>
                <a:gdLst>
                  <a:gd name="T0" fmla="*/ 0 w 115"/>
                  <a:gd name="T1" fmla="*/ 2 h 63"/>
                  <a:gd name="T2" fmla="*/ 2 w 115"/>
                  <a:gd name="T3" fmla="*/ 3 h 63"/>
                  <a:gd name="T4" fmla="*/ 5 w 115"/>
                  <a:gd name="T5" fmla="*/ 4 h 63"/>
                  <a:gd name="T6" fmla="*/ 11 w 115"/>
                  <a:gd name="T7" fmla="*/ 7 h 63"/>
                  <a:gd name="T8" fmla="*/ 18 w 115"/>
                  <a:gd name="T9" fmla="*/ 12 h 63"/>
                  <a:gd name="T10" fmla="*/ 26 w 115"/>
                  <a:gd name="T11" fmla="*/ 16 h 63"/>
                  <a:gd name="T12" fmla="*/ 35 w 115"/>
                  <a:gd name="T13" fmla="*/ 21 h 63"/>
                  <a:gd name="T14" fmla="*/ 45 w 115"/>
                  <a:gd name="T15" fmla="*/ 25 h 63"/>
                  <a:gd name="T16" fmla="*/ 54 w 115"/>
                  <a:gd name="T17" fmla="*/ 31 h 63"/>
                  <a:gd name="T18" fmla="*/ 64 w 115"/>
                  <a:gd name="T19" fmla="*/ 37 h 63"/>
                  <a:gd name="T20" fmla="*/ 75 w 115"/>
                  <a:gd name="T21" fmla="*/ 41 h 63"/>
                  <a:gd name="T22" fmla="*/ 83 w 115"/>
                  <a:gd name="T23" fmla="*/ 47 h 63"/>
                  <a:gd name="T24" fmla="*/ 93 w 115"/>
                  <a:gd name="T25" fmla="*/ 52 h 63"/>
                  <a:gd name="T26" fmla="*/ 99 w 115"/>
                  <a:gd name="T27" fmla="*/ 55 h 63"/>
                  <a:gd name="T28" fmla="*/ 107 w 115"/>
                  <a:gd name="T29" fmla="*/ 58 h 63"/>
                  <a:gd name="T30" fmla="*/ 112 w 115"/>
                  <a:gd name="T31" fmla="*/ 62 h 63"/>
                  <a:gd name="T32" fmla="*/ 114 w 115"/>
                  <a:gd name="T33" fmla="*/ 63 h 63"/>
                  <a:gd name="T34" fmla="*/ 114 w 115"/>
                  <a:gd name="T35" fmla="*/ 60 h 63"/>
                  <a:gd name="T36" fmla="*/ 110 w 115"/>
                  <a:gd name="T37" fmla="*/ 58 h 63"/>
                  <a:gd name="T38" fmla="*/ 104 w 115"/>
                  <a:gd name="T39" fmla="*/ 55 h 63"/>
                  <a:gd name="T40" fmla="*/ 97 w 115"/>
                  <a:gd name="T41" fmla="*/ 52 h 63"/>
                  <a:gd name="T42" fmla="*/ 90 w 115"/>
                  <a:gd name="T43" fmla="*/ 47 h 63"/>
                  <a:gd name="T44" fmla="*/ 80 w 115"/>
                  <a:gd name="T45" fmla="*/ 42 h 63"/>
                  <a:gd name="T46" fmla="*/ 70 w 115"/>
                  <a:gd name="T47" fmla="*/ 37 h 63"/>
                  <a:gd name="T48" fmla="*/ 61 w 115"/>
                  <a:gd name="T49" fmla="*/ 33 h 63"/>
                  <a:gd name="T50" fmla="*/ 51 w 115"/>
                  <a:gd name="T51" fmla="*/ 26 h 63"/>
                  <a:gd name="T52" fmla="*/ 41 w 115"/>
                  <a:gd name="T53" fmla="*/ 21 h 63"/>
                  <a:gd name="T54" fmla="*/ 32 w 115"/>
                  <a:gd name="T55" fmla="*/ 17 h 63"/>
                  <a:gd name="T56" fmla="*/ 23 w 115"/>
                  <a:gd name="T57" fmla="*/ 12 h 63"/>
                  <a:gd name="T58" fmla="*/ 16 w 115"/>
                  <a:gd name="T59" fmla="*/ 7 h 63"/>
                  <a:gd name="T60" fmla="*/ 8 w 115"/>
                  <a:gd name="T61" fmla="*/ 4 h 63"/>
                  <a:gd name="T62" fmla="*/ 4 w 115"/>
                  <a:gd name="T63" fmla="*/ 2 h 63"/>
                  <a:gd name="T64" fmla="*/ 1 w 115"/>
                  <a:gd name="T65" fmla="*/ 0 h 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3"/>
                  <a:gd name="T101" fmla="*/ 115 w 115"/>
                  <a:gd name="T102" fmla="*/ 63 h 6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3">
                    <a:moveTo>
                      <a:pt x="0" y="2"/>
                    </a:moveTo>
                    <a:lnTo>
                      <a:pt x="0" y="2"/>
                    </a:lnTo>
                    <a:lnTo>
                      <a:pt x="1" y="2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5" y="4"/>
                    </a:lnTo>
                    <a:lnTo>
                      <a:pt x="7" y="6"/>
                    </a:lnTo>
                    <a:lnTo>
                      <a:pt x="11" y="7"/>
                    </a:lnTo>
                    <a:lnTo>
                      <a:pt x="15" y="9"/>
                    </a:lnTo>
                    <a:lnTo>
                      <a:pt x="18" y="12"/>
                    </a:lnTo>
                    <a:lnTo>
                      <a:pt x="22" y="12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1"/>
                    </a:lnTo>
                    <a:lnTo>
                      <a:pt x="39" y="23"/>
                    </a:lnTo>
                    <a:lnTo>
                      <a:pt x="45" y="25"/>
                    </a:lnTo>
                    <a:lnTo>
                      <a:pt x="49" y="27"/>
                    </a:lnTo>
                    <a:lnTo>
                      <a:pt x="54" y="31"/>
                    </a:lnTo>
                    <a:lnTo>
                      <a:pt x="60" y="34"/>
                    </a:lnTo>
                    <a:lnTo>
                      <a:pt x="64" y="37"/>
                    </a:lnTo>
                    <a:lnTo>
                      <a:pt x="70" y="39"/>
                    </a:lnTo>
                    <a:lnTo>
                      <a:pt x="75" y="41"/>
                    </a:lnTo>
                    <a:lnTo>
                      <a:pt x="79" y="43"/>
                    </a:lnTo>
                    <a:lnTo>
                      <a:pt x="83" y="47"/>
                    </a:lnTo>
                    <a:lnTo>
                      <a:pt x="88" y="50"/>
                    </a:lnTo>
                    <a:lnTo>
                      <a:pt x="93" y="52"/>
                    </a:lnTo>
                    <a:lnTo>
                      <a:pt x="96" y="54"/>
                    </a:lnTo>
                    <a:lnTo>
                      <a:pt x="99" y="55"/>
                    </a:lnTo>
                    <a:lnTo>
                      <a:pt x="102" y="57"/>
                    </a:lnTo>
                    <a:lnTo>
                      <a:pt x="107" y="58"/>
                    </a:lnTo>
                    <a:lnTo>
                      <a:pt x="110" y="60"/>
                    </a:lnTo>
                    <a:lnTo>
                      <a:pt x="112" y="62"/>
                    </a:lnTo>
                    <a:lnTo>
                      <a:pt x="113" y="62"/>
                    </a:lnTo>
                    <a:lnTo>
                      <a:pt x="114" y="63"/>
                    </a:lnTo>
                    <a:lnTo>
                      <a:pt x="115" y="62"/>
                    </a:lnTo>
                    <a:lnTo>
                      <a:pt x="114" y="60"/>
                    </a:lnTo>
                    <a:lnTo>
                      <a:pt x="112" y="59"/>
                    </a:lnTo>
                    <a:lnTo>
                      <a:pt x="110" y="58"/>
                    </a:lnTo>
                    <a:lnTo>
                      <a:pt x="107" y="57"/>
                    </a:lnTo>
                    <a:lnTo>
                      <a:pt x="104" y="55"/>
                    </a:lnTo>
                    <a:lnTo>
                      <a:pt x="100" y="54"/>
                    </a:lnTo>
                    <a:lnTo>
                      <a:pt x="97" y="52"/>
                    </a:lnTo>
                    <a:lnTo>
                      <a:pt x="94" y="50"/>
                    </a:lnTo>
                    <a:lnTo>
                      <a:pt x="90" y="47"/>
                    </a:lnTo>
                    <a:lnTo>
                      <a:pt x="84" y="44"/>
                    </a:lnTo>
                    <a:lnTo>
                      <a:pt x="80" y="42"/>
                    </a:lnTo>
                    <a:lnTo>
                      <a:pt x="76" y="40"/>
                    </a:lnTo>
                    <a:lnTo>
                      <a:pt x="70" y="37"/>
                    </a:lnTo>
                    <a:lnTo>
                      <a:pt x="65" y="35"/>
                    </a:lnTo>
                    <a:lnTo>
                      <a:pt x="61" y="33"/>
                    </a:lnTo>
                    <a:lnTo>
                      <a:pt x="55" y="28"/>
                    </a:lnTo>
                    <a:lnTo>
                      <a:pt x="51" y="26"/>
                    </a:lnTo>
                    <a:lnTo>
                      <a:pt x="46" y="24"/>
                    </a:lnTo>
                    <a:lnTo>
                      <a:pt x="41" y="21"/>
                    </a:lnTo>
                    <a:lnTo>
                      <a:pt x="36" y="19"/>
                    </a:lnTo>
                    <a:lnTo>
                      <a:pt x="32" y="17"/>
                    </a:lnTo>
                    <a:lnTo>
                      <a:pt x="27" y="15"/>
                    </a:lnTo>
                    <a:lnTo>
                      <a:pt x="23" y="12"/>
                    </a:lnTo>
                    <a:lnTo>
                      <a:pt x="19" y="9"/>
                    </a:lnTo>
                    <a:lnTo>
                      <a:pt x="16" y="7"/>
                    </a:lnTo>
                    <a:lnTo>
                      <a:pt x="13" y="6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20" name="Freeform 937"/>
              <p:cNvSpPr>
                <a:spLocks/>
              </p:cNvSpPr>
              <p:nvPr/>
            </p:nvSpPr>
            <p:spPr bwMode="auto">
              <a:xfrm>
                <a:off x="3003" y="2051"/>
                <a:ext cx="13" cy="11"/>
              </a:xfrm>
              <a:custGeom>
                <a:avLst/>
                <a:gdLst>
                  <a:gd name="T0" fmla="*/ 0 w 13"/>
                  <a:gd name="T1" fmla="*/ 1 h 11"/>
                  <a:gd name="T2" fmla="*/ 0 w 13"/>
                  <a:gd name="T3" fmla="*/ 1 h 11"/>
                  <a:gd name="T4" fmla="*/ 1 w 13"/>
                  <a:gd name="T5" fmla="*/ 3 h 11"/>
                  <a:gd name="T6" fmla="*/ 2 w 13"/>
                  <a:gd name="T7" fmla="*/ 5 h 11"/>
                  <a:gd name="T8" fmla="*/ 5 w 13"/>
                  <a:gd name="T9" fmla="*/ 5 h 11"/>
                  <a:gd name="T10" fmla="*/ 7 w 13"/>
                  <a:gd name="T11" fmla="*/ 8 h 11"/>
                  <a:gd name="T12" fmla="*/ 8 w 13"/>
                  <a:gd name="T13" fmla="*/ 9 h 11"/>
                  <a:gd name="T14" fmla="*/ 9 w 13"/>
                  <a:gd name="T15" fmla="*/ 9 h 11"/>
                  <a:gd name="T16" fmla="*/ 11 w 13"/>
                  <a:gd name="T17" fmla="*/ 10 h 11"/>
                  <a:gd name="T18" fmla="*/ 12 w 13"/>
                  <a:gd name="T19" fmla="*/ 11 h 11"/>
                  <a:gd name="T20" fmla="*/ 13 w 13"/>
                  <a:gd name="T21" fmla="*/ 9 h 11"/>
                  <a:gd name="T22" fmla="*/ 11 w 13"/>
                  <a:gd name="T23" fmla="*/ 9 h 11"/>
                  <a:gd name="T24" fmla="*/ 10 w 13"/>
                  <a:gd name="T25" fmla="*/ 8 h 11"/>
                  <a:gd name="T26" fmla="*/ 9 w 13"/>
                  <a:gd name="T27" fmla="*/ 5 h 11"/>
                  <a:gd name="T28" fmla="*/ 8 w 13"/>
                  <a:gd name="T29" fmla="*/ 5 h 11"/>
                  <a:gd name="T30" fmla="*/ 7 w 13"/>
                  <a:gd name="T31" fmla="*/ 5 h 11"/>
                  <a:gd name="T32" fmla="*/ 5 w 13"/>
                  <a:gd name="T33" fmla="*/ 3 h 11"/>
                  <a:gd name="T34" fmla="*/ 2 w 13"/>
                  <a:gd name="T35" fmla="*/ 1 h 11"/>
                  <a:gd name="T36" fmla="*/ 1 w 13"/>
                  <a:gd name="T37" fmla="*/ 0 h 11"/>
                  <a:gd name="T38" fmla="*/ 0 w 13"/>
                  <a:gd name="T39" fmla="*/ 1 h 1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11"/>
                  <a:gd name="T62" fmla="*/ 13 w 13"/>
                  <a:gd name="T63" fmla="*/ 11 h 1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11">
                    <a:moveTo>
                      <a:pt x="0" y="1"/>
                    </a:moveTo>
                    <a:lnTo>
                      <a:pt x="0" y="1"/>
                    </a:lnTo>
                    <a:lnTo>
                      <a:pt x="1" y="3"/>
                    </a:lnTo>
                    <a:lnTo>
                      <a:pt x="2" y="5"/>
                    </a:lnTo>
                    <a:lnTo>
                      <a:pt x="5" y="5"/>
                    </a:lnTo>
                    <a:lnTo>
                      <a:pt x="7" y="8"/>
                    </a:lnTo>
                    <a:lnTo>
                      <a:pt x="8" y="9"/>
                    </a:lnTo>
                    <a:lnTo>
                      <a:pt x="9" y="9"/>
                    </a:lnTo>
                    <a:lnTo>
                      <a:pt x="11" y="10"/>
                    </a:lnTo>
                    <a:lnTo>
                      <a:pt x="12" y="11"/>
                    </a:lnTo>
                    <a:lnTo>
                      <a:pt x="13" y="9"/>
                    </a:lnTo>
                    <a:lnTo>
                      <a:pt x="11" y="9"/>
                    </a:lnTo>
                    <a:lnTo>
                      <a:pt x="10" y="8"/>
                    </a:lnTo>
                    <a:lnTo>
                      <a:pt x="9" y="5"/>
                    </a:lnTo>
                    <a:lnTo>
                      <a:pt x="8" y="5"/>
                    </a:lnTo>
                    <a:lnTo>
                      <a:pt x="7" y="5"/>
                    </a:lnTo>
                    <a:lnTo>
                      <a:pt x="5" y="3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21" name="Freeform 938"/>
              <p:cNvSpPr>
                <a:spLocks/>
              </p:cNvSpPr>
              <p:nvPr/>
            </p:nvSpPr>
            <p:spPr bwMode="auto">
              <a:xfrm>
                <a:off x="3132" y="2083"/>
                <a:ext cx="10" cy="41"/>
              </a:xfrm>
              <a:custGeom>
                <a:avLst/>
                <a:gdLst>
                  <a:gd name="T0" fmla="*/ 10 w 10"/>
                  <a:gd name="T1" fmla="*/ 41 h 41"/>
                  <a:gd name="T2" fmla="*/ 8 w 10"/>
                  <a:gd name="T3" fmla="*/ 41 h 41"/>
                  <a:gd name="T4" fmla="*/ 7 w 10"/>
                  <a:gd name="T5" fmla="*/ 40 h 41"/>
                  <a:gd name="T6" fmla="*/ 6 w 10"/>
                  <a:gd name="T7" fmla="*/ 39 h 41"/>
                  <a:gd name="T8" fmla="*/ 4 w 10"/>
                  <a:gd name="T9" fmla="*/ 36 h 41"/>
                  <a:gd name="T10" fmla="*/ 4 w 10"/>
                  <a:gd name="T11" fmla="*/ 33 h 41"/>
                  <a:gd name="T12" fmla="*/ 2 w 10"/>
                  <a:gd name="T13" fmla="*/ 30 h 41"/>
                  <a:gd name="T14" fmla="*/ 0 w 10"/>
                  <a:gd name="T15" fmla="*/ 27 h 41"/>
                  <a:gd name="T16" fmla="*/ 0 w 10"/>
                  <a:gd name="T17" fmla="*/ 25 h 41"/>
                  <a:gd name="T18" fmla="*/ 0 w 10"/>
                  <a:gd name="T19" fmla="*/ 20 h 41"/>
                  <a:gd name="T20" fmla="*/ 0 w 10"/>
                  <a:gd name="T21" fmla="*/ 17 h 41"/>
                  <a:gd name="T22" fmla="*/ 0 w 10"/>
                  <a:gd name="T23" fmla="*/ 13 h 41"/>
                  <a:gd name="T24" fmla="*/ 2 w 10"/>
                  <a:gd name="T25" fmla="*/ 9 h 41"/>
                  <a:gd name="T26" fmla="*/ 4 w 10"/>
                  <a:gd name="T27" fmla="*/ 5 h 41"/>
                  <a:gd name="T28" fmla="*/ 4 w 10"/>
                  <a:gd name="T29" fmla="*/ 3 h 41"/>
                  <a:gd name="T30" fmla="*/ 6 w 10"/>
                  <a:gd name="T31" fmla="*/ 1 h 41"/>
                  <a:gd name="T32" fmla="*/ 8 w 10"/>
                  <a:gd name="T33" fmla="*/ 0 h 41"/>
                  <a:gd name="T34" fmla="*/ 10 w 10"/>
                  <a:gd name="T35" fmla="*/ 41 h 4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"/>
                  <a:gd name="T55" fmla="*/ 0 h 41"/>
                  <a:gd name="T56" fmla="*/ 10 w 10"/>
                  <a:gd name="T57" fmla="*/ 41 h 4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" h="41">
                    <a:moveTo>
                      <a:pt x="10" y="41"/>
                    </a:moveTo>
                    <a:lnTo>
                      <a:pt x="8" y="41"/>
                    </a:lnTo>
                    <a:lnTo>
                      <a:pt x="7" y="40"/>
                    </a:lnTo>
                    <a:lnTo>
                      <a:pt x="6" y="39"/>
                    </a:lnTo>
                    <a:lnTo>
                      <a:pt x="4" y="36"/>
                    </a:lnTo>
                    <a:lnTo>
                      <a:pt x="4" y="33"/>
                    </a:lnTo>
                    <a:lnTo>
                      <a:pt x="2" y="30"/>
                    </a:lnTo>
                    <a:lnTo>
                      <a:pt x="0" y="27"/>
                    </a:lnTo>
                    <a:lnTo>
                      <a:pt x="0" y="25"/>
                    </a:lnTo>
                    <a:lnTo>
                      <a:pt x="0" y="20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2" y="9"/>
                    </a:lnTo>
                    <a:lnTo>
                      <a:pt x="4" y="5"/>
                    </a:lnTo>
                    <a:lnTo>
                      <a:pt x="4" y="3"/>
                    </a:lnTo>
                    <a:lnTo>
                      <a:pt x="6" y="1"/>
                    </a:lnTo>
                    <a:lnTo>
                      <a:pt x="8" y="0"/>
                    </a:lnTo>
                    <a:lnTo>
                      <a:pt x="1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22" name="Freeform 939"/>
              <p:cNvSpPr>
                <a:spLocks/>
              </p:cNvSpPr>
              <p:nvPr/>
            </p:nvSpPr>
            <p:spPr bwMode="auto">
              <a:xfrm>
                <a:off x="3132" y="2108"/>
                <a:ext cx="10" cy="17"/>
              </a:xfrm>
              <a:custGeom>
                <a:avLst/>
                <a:gdLst>
                  <a:gd name="T0" fmla="*/ 0 w 10"/>
                  <a:gd name="T1" fmla="*/ 0 h 17"/>
                  <a:gd name="T2" fmla="*/ 0 w 10"/>
                  <a:gd name="T3" fmla="*/ 0 h 17"/>
                  <a:gd name="T4" fmla="*/ 0 w 10"/>
                  <a:gd name="T5" fmla="*/ 2 h 17"/>
                  <a:gd name="T6" fmla="*/ 2 w 10"/>
                  <a:gd name="T7" fmla="*/ 5 h 17"/>
                  <a:gd name="T8" fmla="*/ 2 w 10"/>
                  <a:gd name="T9" fmla="*/ 8 h 17"/>
                  <a:gd name="T10" fmla="*/ 3 w 10"/>
                  <a:gd name="T11" fmla="*/ 10 h 17"/>
                  <a:gd name="T12" fmla="*/ 5 w 10"/>
                  <a:gd name="T13" fmla="*/ 14 h 17"/>
                  <a:gd name="T14" fmla="*/ 6 w 10"/>
                  <a:gd name="T15" fmla="*/ 16 h 17"/>
                  <a:gd name="T16" fmla="*/ 8 w 10"/>
                  <a:gd name="T17" fmla="*/ 17 h 17"/>
                  <a:gd name="T18" fmla="*/ 10 w 10"/>
                  <a:gd name="T19" fmla="*/ 17 h 17"/>
                  <a:gd name="T20" fmla="*/ 10 w 10"/>
                  <a:gd name="T21" fmla="*/ 15 h 17"/>
                  <a:gd name="T22" fmla="*/ 8 w 10"/>
                  <a:gd name="T23" fmla="*/ 15 h 17"/>
                  <a:gd name="T24" fmla="*/ 7 w 10"/>
                  <a:gd name="T25" fmla="*/ 14 h 17"/>
                  <a:gd name="T26" fmla="*/ 6 w 10"/>
                  <a:gd name="T27" fmla="*/ 12 h 17"/>
                  <a:gd name="T28" fmla="*/ 5 w 10"/>
                  <a:gd name="T29" fmla="*/ 10 h 17"/>
                  <a:gd name="T30" fmla="*/ 4 w 10"/>
                  <a:gd name="T31" fmla="*/ 8 h 17"/>
                  <a:gd name="T32" fmla="*/ 3 w 10"/>
                  <a:gd name="T33" fmla="*/ 5 h 17"/>
                  <a:gd name="T34" fmla="*/ 3 w 10"/>
                  <a:gd name="T35" fmla="*/ 2 h 17"/>
                  <a:gd name="T36" fmla="*/ 3 w 10"/>
                  <a:gd name="T37" fmla="*/ 0 h 17"/>
                  <a:gd name="T38" fmla="*/ 0 w 10"/>
                  <a:gd name="T39" fmla="*/ 0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"/>
                  <a:gd name="T61" fmla="*/ 0 h 17"/>
                  <a:gd name="T62" fmla="*/ 10 w 10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" h="17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5"/>
                    </a:lnTo>
                    <a:lnTo>
                      <a:pt x="2" y="8"/>
                    </a:lnTo>
                    <a:lnTo>
                      <a:pt x="3" y="10"/>
                    </a:lnTo>
                    <a:lnTo>
                      <a:pt x="5" y="14"/>
                    </a:lnTo>
                    <a:lnTo>
                      <a:pt x="6" y="16"/>
                    </a:lnTo>
                    <a:lnTo>
                      <a:pt x="8" y="17"/>
                    </a:lnTo>
                    <a:lnTo>
                      <a:pt x="10" y="17"/>
                    </a:lnTo>
                    <a:lnTo>
                      <a:pt x="10" y="15"/>
                    </a:lnTo>
                    <a:lnTo>
                      <a:pt x="8" y="15"/>
                    </a:lnTo>
                    <a:lnTo>
                      <a:pt x="7" y="14"/>
                    </a:lnTo>
                    <a:lnTo>
                      <a:pt x="6" y="12"/>
                    </a:lnTo>
                    <a:lnTo>
                      <a:pt x="5" y="10"/>
                    </a:lnTo>
                    <a:lnTo>
                      <a:pt x="4" y="8"/>
                    </a:lnTo>
                    <a:lnTo>
                      <a:pt x="3" y="5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23" name="Freeform 940"/>
              <p:cNvSpPr>
                <a:spLocks/>
              </p:cNvSpPr>
              <p:nvPr/>
            </p:nvSpPr>
            <p:spPr bwMode="auto">
              <a:xfrm>
                <a:off x="3132" y="2082"/>
                <a:ext cx="9" cy="26"/>
              </a:xfrm>
              <a:custGeom>
                <a:avLst/>
                <a:gdLst>
                  <a:gd name="T0" fmla="*/ 8 w 9"/>
                  <a:gd name="T1" fmla="*/ 0 h 26"/>
                  <a:gd name="T2" fmla="*/ 6 w 9"/>
                  <a:gd name="T3" fmla="*/ 2 h 26"/>
                  <a:gd name="T4" fmla="*/ 4 w 9"/>
                  <a:gd name="T5" fmla="*/ 3 h 26"/>
                  <a:gd name="T6" fmla="*/ 3 w 9"/>
                  <a:gd name="T7" fmla="*/ 6 h 26"/>
                  <a:gd name="T8" fmla="*/ 2 w 9"/>
                  <a:gd name="T9" fmla="*/ 10 h 26"/>
                  <a:gd name="T10" fmla="*/ 0 w 9"/>
                  <a:gd name="T11" fmla="*/ 14 h 26"/>
                  <a:gd name="T12" fmla="*/ 0 w 9"/>
                  <a:gd name="T13" fmla="*/ 17 h 26"/>
                  <a:gd name="T14" fmla="*/ 0 w 9"/>
                  <a:gd name="T15" fmla="*/ 21 h 26"/>
                  <a:gd name="T16" fmla="*/ 0 w 9"/>
                  <a:gd name="T17" fmla="*/ 26 h 26"/>
                  <a:gd name="T18" fmla="*/ 3 w 9"/>
                  <a:gd name="T19" fmla="*/ 26 h 26"/>
                  <a:gd name="T20" fmla="*/ 3 w 9"/>
                  <a:gd name="T21" fmla="*/ 21 h 26"/>
                  <a:gd name="T22" fmla="*/ 3 w 9"/>
                  <a:gd name="T23" fmla="*/ 17 h 26"/>
                  <a:gd name="T24" fmla="*/ 3 w 9"/>
                  <a:gd name="T25" fmla="*/ 14 h 26"/>
                  <a:gd name="T26" fmla="*/ 4 w 9"/>
                  <a:gd name="T27" fmla="*/ 10 h 26"/>
                  <a:gd name="T28" fmla="*/ 4 w 9"/>
                  <a:gd name="T29" fmla="*/ 6 h 26"/>
                  <a:gd name="T30" fmla="*/ 6 w 9"/>
                  <a:gd name="T31" fmla="*/ 4 h 26"/>
                  <a:gd name="T32" fmla="*/ 7 w 9"/>
                  <a:gd name="T33" fmla="*/ 3 h 26"/>
                  <a:gd name="T34" fmla="*/ 9 w 9"/>
                  <a:gd name="T35" fmla="*/ 2 h 26"/>
                  <a:gd name="T36" fmla="*/ 8 w 9"/>
                  <a:gd name="T37" fmla="*/ 0 h 2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26"/>
                  <a:gd name="T59" fmla="*/ 9 w 9"/>
                  <a:gd name="T60" fmla="*/ 26 h 2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26">
                    <a:moveTo>
                      <a:pt x="8" y="0"/>
                    </a:moveTo>
                    <a:lnTo>
                      <a:pt x="6" y="2"/>
                    </a:lnTo>
                    <a:lnTo>
                      <a:pt x="4" y="3"/>
                    </a:lnTo>
                    <a:lnTo>
                      <a:pt x="3" y="6"/>
                    </a:lnTo>
                    <a:lnTo>
                      <a:pt x="2" y="10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0" y="21"/>
                    </a:lnTo>
                    <a:lnTo>
                      <a:pt x="0" y="26"/>
                    </a:lnTo>
                    <a:lnTo>
                      <a:pt x="3" y="26"/>
                    </a:lnTo>
                    <a:lnTo>
                      <a:pt x="3" y="21"/>
                    </a:lnTo>
                    <a:lnTo>
                      <a:pt x="3" y="17"/>
                    </a:lnTo>
                    <a:lnTo>
                      <a:pt x="3" y="14"/>
                    </a:lnTo>
                    <a:lnTo>
                      <a:pt x="4" y="10"/>
                    </a:lnTo>
                    <a:lnTo>
                      <a:pt x="4" y="6"/>
                    </a:lnTo>
                    <a:lnTo>
                      <a:pt x="6" y="4"/>
                    </a:lnTo>
                    <a:lnTo>
                      <a:pt x="7" y="3"/>
                    </a:lnTo>
                    <a:lnTo>
                      <a:pt x="9" y="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24" name="Freeform 941"/>
              <p:cNvSpPr>
                <a:spLocks/>
              </p:cNvSpPr>
              <p:nvPr/>
            </p:nvSpPr>
            <p:spPr bwMode="auto">
              <a:xfrm>
                <a:off x="3011" y="1968"/>
                <a:ext cx="239" cy="115"/>
              </a:xfrm>
              <a:custGeom>
                <a:avLst/>
                <a:gdLst>
                  <a:gd name="T0" fmla="*/ 8 w 239"/>
                  <a:gd name="T1" fmla="*/ 41 h 115"/>
                  <a:gd name="T2" fmla="*/ 24 w 239"/>
                  <a:gd name="T3" fmla="*/ 34 h 115"/>
                  <a:gd name="T4" fmla="*/ 45 w 239"/>
                  <a:gd name="T5" fmla="*/ 23 h 115"/>
                  <a:gd name="T6" fmla="*/ 67 w 239"/>
                  <a:gd name="T7" fmla="*/ 14 h 115"/>
                  <a:gd name="T8" fmla="*/ 85 w 239"/>
                  <a:gd name="T9" fmla="*/ 4 h 115"/>
                  <a:gd name="T10" fmla="*/ 94 w 239"/>
                  <a:gd name="T11" fmla="*/ 0 h 115"/>
                  <a:gd name="T12" fmla="*/ 99 w 239"/>
                  <a:gd name="T13" fmla="*/ 0 h 115"/>
                  <a:gd name="T14" fmla="*/ 104 w 239"/>
                  <a:gd name="T15" fmla="*/ 1 h 115"/>
                  <a:gd name="T16" fmla="*/ 108 w 239"/>
                  <a:gd name="T17" fmla="*/ 2 h 115"/>
                  <a:gd name="T18" fmla="*/ 114 w 239"/>
                  <a:gd name="T19" fmla="*/ 5 h 115"/>
                  <a:gd name="T20" fmla="*/ 126 w 239"/>
                  <a:gd name="T21" fmla="*/ 10 h 115"/>
                  <a:gd name="T22" fmla="*/ 140 w 239"/>
                  <a:gd name="T23" fmla="*/ 18 h 115"/>
                  <a:gd name="T24" fmla="*/ 155 w 239"/>
                  <a:gd name="T25" fmla="*/ 24 h 115"/>
                  <a:gd name="T26" fmla="*/ 172 w 239"/>
                  <a:gd name="T27" fmla="*/ 33 h 115"/>
                  <a:gd name="T28" fmla="*/ 188 w 239"/>
                  <a:gd name="T29" fmla="*/ 40 h 115"/>
                  <a:gd name="T30" fmla="*/ 204 w 239"/>
                  <a:gd name="T31" fmla="*/ 48 h 115"/>
                  <a:gd name="T32" fmla="*/ 217 w 239"/>
                  <a:gd name="T33" fmla="*/ 53 h 115"/>
                  <a:gd name="T34" fmla="*/ 226 w 239"/>
                  <a:gd name="T35" fmla="*/ 57 h 115"/>
                  <a:gd name="T36" fmla="*/ 233 w 239"/>
                  <a:gd name="T37" fmla="*/ 61 h 115"/>
                  <a:gd name="T38" fmla="*/ 237 w 239"/>
                  <a:gd name="T39" fmla="*/ 63 h 115"/>
                  <a:gd name="T40" fmla="*/ 239 w 239"/>
                  <a:gd name="T41" fmla="*/ 67 h 115"/>
                  <a:gd name="T42" fmla="*/ 235 w 239"/>
                  <a:gd name="T43" fmla="*/ 71 h 115"/>
                  <a:gd name="T44" fmla="*/ 228 w 239"/>
                  <a:gd name="T45" fmla="*/ 73 h 115"/>
                  <a:gd name="T46" fmla="*/ 220 w 239"/>
                  <a:gd name="T47" fmla="*/ 77 h 115"/>
                  <a:gd name="T48" fmla="*/ 209 w 239"/>
                  <a:gd name="T49" fmla="*/ 81 h 115"/>
                  <a:gd name="T50" fmla="*/ 197 w 239"/>
                  <a:gd name="T51" fmla="*/ 87 h 115"/>
                  <a:gd name="T52" fmla="*/ 184 w 239"/>
                  <a:gd name="T53" fmla="*/ 93 h 115"/>
                  <a:gd name="T54" fmla="*/ 172 w 239"/>
                  <a:gd name="T55" fmla="*/ 98 h 115"/>
                  <a:gd name="T56" fmla="*/ 160 w 239"/>
                  <a:gd name="T57" fmla="*/ 104 h 115"/>
                  <a:gd name="T58" fmla="*/ 149 w 239"/>
                  <a:gd name="T59" fmla="*/ 109 h 115"/>
                  <a:gd name="T60" fmla="*/ 141 w 239"/>
                  <a:gd name="T61" fmla="*/ 112 h 115"/>
                  <a:gd name="T62" fmla="*/ 134 w 239"/>
                  <a:gd name="T63" fmla="*/ 114 h 115"/>
                  <a:gd name="T64" fmla="*/ 130 w 239"/>
                  <a:gd name="T65" fmla="*/ 115 h 115"/>
                  <a:gd name="T66" fmla="*/ 125 w 239"/>
                  <a:gd name="T67" fmla="*/ 114 h 115"/>
                  <a:gd name="T68" fmla="*/ 120 w 239"/>
                  <a:gd name="T69" fmla="*/ 112 h 115"/>
                  <a:gd name="T70" fmla="*/ 114 w 239"/>
                  <a:gd name="T71" fmla="*/ 110 h 115"/>
                  <a:gd name="T72" fmla="*/ 105 w 239"/>
                  <a:gd name="T73" fmla="*/ 104 h 115"/>
                  <a:gd name="T74" fmla="*/ 94 w 239"/>
                  <a:gd name="T75" fmla="*/ 98 h 115"/>
                  <a:gd name="T76" fmla="*/ 80 w 239"/>
                  <a:gd name="T77" fmla="*/ 91 h 115"/>
                  <a:gd name="T78" fmla="*/ 66 w 239"/>
                  <a:gd name="T79" fmla="*/ 82 h 115"/>
                  <a:gd name="T80" fmla="*/ 51 w 239"/>
                  <a:gd name="T81" fmla="*/ 74 h 115"/>
                  <a:gd name="T82" fmla="*/ 36 w 239"/>
                  <a:gd name="T83" fmla="*/ 67 h 115"/>
                  <a:gd name="T84" fmla="*/ 23 w 239"/>
                  <a:gd name="T85" fmla="*/ 61 h 115"/>
                  <a:gd name="T86" fmla="*/ 14 w 239"/>
                  <a:gd name="T87" fmla="*/ 55 h 115"/>
                  <a:gd name="T88" fmla="*/ 8 w 239"/>
                  <a:gd name="T89" fmla="*/ 52 h 115"/>
                  <a:gd name="T90" fmla="*/ 3 w 239"/>
                  <a:gd name="T91" fmla="*/ 50 h 115"/>
                  <a:gd name="T92" fmla="*/ 0 w 239"/>
                  <a:gd name="T93" fmla="*/ 48 h 115"/>
                  <a:gd name="T94" fmla="*/ 4 w 239"/>
                  <a:gd name="T95" fmla="*/ 44 h 11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39"/>
                  <a:gd name="T145" fmla="*/ 0 h 115"/>
                  <a:gd name="T146" fmla="*/ 239 w 239"/>
                  <a:gd name="T147" fmla="*/ 115 h 115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39" h="115">
                    <a:moveTo>
                      <a:pt x="4" y="44"/>
                    </a:moveTo>
                    <a:lnTo>
                      <a:pt x="5" y="44"/>
                    </a:lnTo>
                    <a:lnTo>
                      <a:pt x="8" y="41"/>
                    </a:lnTo>
                    <a:lnTo>
                      <a:pt x="14" y="39"/>
                    </a:lnTo>
                    <a:lnTo>
                      <a:pt x="18" y="37"/>
                    </a:lnTo>
                    <a:lnTo>
                      <a:pt x="24" y="34"/>
                    </a:lnTo>
                    <a:lnTo>
                      <a:pt x="31" y="32"/>
                    </a:lnTo>
                    <a:lnTo>
                      <a:pt x="37" y="27"/>
                    </a:lnTo>
                    <a:lnTo>
                      <a:pt x="45" y="23"/>
                    </a:lnTo>
                    <a:lnTo>
                      <a:pt x="52" y="20"/>
                    </a:lnTo>
                    <a:lnTo>
                      <a:pt x="61" y="17"/>
                    </a:lnTo>
                    <a:lnTo>
                      <a:pt x="67" y="14"/>
                    </a:lnTo>
                    <a:lnTo>
                      <a:pt x="73" y="10"/>
                    </a:lnTo>
                    <a:lnTo>
                      <a:pt x="80" y="6"/>
                    </a:lnTo>
                    <a:lnTo>
                      <a:pt x="85" y="4"/>
                    </a:lnTo>
                    <a:lnTo>
                      <a:pt x="89" y="2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6" y="0"/>
                    </a:lnTo>
                    <a:lnTo>
                      <a:pt x="97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3" y="1"/>
                    </a:lnTo>
                    <a:lnTo>
                      <a:pt x="104" y="1"/>
                    </a:lnTo>
                    <a:lnTo>
                      <a:pt x="105" y="1"/>
                    </a:lnTo>
                    <a:lnTo>
                      <a:pt x="106" y="2"/>
                    </a:lnTo>
                    <a:lnTo>
                      <a:pt x="108" y="2"/>
                    </a:lnTo>
                    <a:lnTo>
                      <a:pt x="110" y="3"/>
                    </a:lnTo>
                    <a:lnTo>
                      <a:pt x="112" y="4"/>
                    </a:lnTo>
                    <a:lnTo>
                      <a:pt x="114" y="5"/>
                    </a:lnTo>
                    <a:lnTo>
                      <a:pt x="118" y="7"/>
                    </a:lnTo>
                    <a:lnTo>
                      <a:pt x="123" y="8"/>
                    </a:lnTo>
                    <a:lnTo>
                      <a:pt x="126" y="10"/>
                    </a:lnTo>
                    <a:lnTo>
                      <a:pt x="130" y="14"/>
                    </a:lnTo>
                    <a:lnTo>
                      <a:pt x="134" y="16"/>
                    </a:lnTo>
                    <a:lnTo>
                      <a:pt x="140" y="18"/>
                    </a:lnTo>
                    <a:lnTo>
                      <a:pt x="145" y="20"/>
                    </a:lnTo>
                    <a:lnTo>
                      <a:pt x="149" y="22"/>
                    </a:lnTo>
                    <a:lnTo>
                      <a:pt x="155" y="24"/>
                    </a:lnTo>
                    <a:lnTo>
                      <a:pt x="161" y="26"/>
                    </a:lnTo>
                    <a:lnTo>
                      <a:pt x="166" y="31"/>
                    </a:lnTo>
                    <a:lnTo>
                      <a:pt x="172" y="33"/>
                    </a:lnTo>
                    <a:lnTo>
                      <a:pt x="178" y="35"/>
                    </a:lnTo>
                    <a:lnTo>
                      <a:pt x="183" y="37"/>
                    </a:lnTo>
                    <a:lnTo>
                      <a:pt x="188" y="40"/>
                    </a:lnTo>
                    <a:lnTo>
                      <a:pt x="194" y="42"/>
                    </a:lnTo>
                    <a:lnTo>
                      <a:pt x="198" y="45"/>
                    </a:lnTo>
                    <a:lnTo>
                      <a:pt x="204" y="48"/>
                    </a:lnTo>
                    <a:lnTo>
                      <a:pt x="209" y="50"/>
                    </a:lnTo>
                    <a:lnTo>
                      <a:pt x="213" y="52"/>
                    </a:lnTo>
                    <a:lnTo>
                      <a:pt x="217" y="53"/>
                    </a:lnTo>
                    <a:lnTo>
                      <a:pt x="220" y="55"/>
                    </a:lnTo>
                    <a:lnTo>
                      <a:pt x="223" y="56"/>
                    </a:lnTo>
                    <a:lnTo>
                      <a:pt x="226" y="57"/>
                    </a:lnTo>
                    <a:lnTo>
                      <a:pt x="228" y="58"/>
                    </a:lnTo>
                    <a:lnTo>
                      <a:pt x="232" y="60"/>
                    </a:lnTo>
                    <a:lnTo>
                      <a:pt x="233" y="61"/>
                    </a:lnTo>
                    <a:lnTo>
                      <a:pt x="234" y="61"/>
                    </a:lnTo>
                    <a:lnTo>
                      <a:pt x="236" y="62"/>
                    </a:lnTo>
                    <a:lnTo>
                      <a:pt x="237" y="63"/>
                    </a:lnTo>
                    <a:lnTo>
                      <a:pt x="238" y="64"/>
                    </a:lnTo>
                    <a:lnTo>
                      <a:pt x="239" y="67"/>
                    </a:lnTo>
                    <a:lnTo>
                      <a:pt x="238" y="69"/>
                    </a:lnTo>
                    <a:lnTo>
                      <a:pt x="236" y="69"/>
                    </a:lnTo>
                    <a:lnTo>
                      <a:pt x="235" y="71"/>
                    </a:lnTo>
                    <a:lnTo>
                      <a:pt x="234" y="71"/>
                    </a:lnTo>
                    <a:lnTo>
                      <a:pt x="232" y="72"/>
                    </a:lnTo>
                    <a:lnTo>
                      <a:pt x="228" y="73"/>
                    </a:lnTo>
                    <a:lnTo>
                      <a:pt x="225" y="74"/>
                    </a:lnTo>
                    <a:lnTo>
                      <a:pt x="223" y="76"/>
                    </a:lnTo>
                    <a:lnTo>
                      <a:pt x="220" y="77"/>
                    </a:lnTo>
                    <a:lnTo>
                      <a:pt x="217" y="79"/>
                    </a:lnTo>
                    <a:lnTo>
                      <a:pt x="213" y="80"/>
                    </a:lnTo>
                    <a:lnTo>
                      <a:pt x="209" y="81"/>
                    </a:lnTo>
                    <a:lnTo>
                      <a:pt x="205" y="83"/>
                    </a:lnTo>
                    <a:lnTo>
                      <a:pt x="202" y="84"/>
                    </a:lnTo>
                    <a:lnTo>
                      <a:pt x="197" y="87"/>
                    </a:lnTo>
                    <a:lnTo>
                      <a:pt x="192" y="89"/>
                    </a:lnTo>
                    <a:lnTo>
                      <a:pt x="190" y="91"/>
                    </a:lnTo>
                    <a:lnTo>
                      <a:pt x="184" y="93"/>
                    </a:lnTo>
                    <a:lnTo>
                      <a:pt x="180" y="94"/>
                    </a:lnTo>
                    <a:lnTo>
                      <a:pt x="176" y="96"/>
                    </a:lnTo>
                    <a:lnTo>
                      <a:pt x="172" y="98"/>
                    </a:lnTo>
                    <a:lnTo>
                      <a:pt x="167" y="99"/>
                    </a:lnTo>
                    <a:lnTo>
                      <a:pt x="164" y="101"/>
                    </a:lnTo>
                    <a:lnTo>
                      <a:pt x="160" y="104"/>
                    </a:lnTo>
                    <a:lnTo>
                      <a:pt x="157" y="104"/>
                    </a:lnTo>
                    <a:lnTo>
                      <a:pt x="152" y="107"/>
                    </a:lnTo>
                    <a:lnTo>
                      <a:pt x="149" y="109"/>
                    </a:lnTo>
                    <a:lnTo>
                      <a:pt x="146" y="110"/>
                    </a:lnTo>
                    <a:lnTo>
                      <a:pt x="143" y="111"/>
                    </a:lnTo>
                    <a:lnTo>
                      <a:pt x="141" y="112"/>
                    </a:lnTo>
                    <a:lnTo>
                      <a:pt x="137" y="113"/>
                    </a:lnTo>
                    <a:lnTo>
                      <a:pt x="135" y="114"/>
                    </a:lnTo>
                    <a:lnTo>
                      <a:pt x="134" y="114"/>
                    </a:lnTo>
                    <a:lnTo>
                      <a:pt x="132" y="115"/>
                    </a:lnTo>
                    <a:lnTo>
                      <a:pt x="131" y="115"/>
                    </a:lnTo>
                    <a:lnTo>
                      <a:pt x="130" y="115"/>
                    </a:lnTo>
                    <a:lnTo>
                      <a:pt x="128" y="115"/>
                    </a:lnTo>
                    <a:lnTo>
                      <a:pt x="127" y="114"/>
                    </a:lnTo>
                    <a:lnTo>
                      <a:pt x="125" y="114"/>
                    </a:lnTo>
                    <a:lnTo>
                      <a:pt x="124" y="113"/>
                    </a:lnTo>
                    <a:lnTo>
                      <a:pt x="121" y="113"/>
                    </a:lnTo>
                    <a:lnTo>
                      <a:pt x="120" y="112"/>
                    </a:lnTo>
                    <a:lnTo>
                      <a:pt x="118" y="112"/>
                    </a:lnTo>
                    <a:lnTo>
                      <a:pt x="116" y="111"/>
                    </a:lnTo>
                    <a:lnTo>
                      <a:pt x="114" y="110"/>
                    </a:lnTo>
                    <a:lnTo>
                      <a:pt x="112" y="108"/>
                    </a:lnTo>
                    <a:lnTo>
                      <a:pt x="109" y="107"/>
                    </a:lnTo>
                    <a:lnTo>
                      <a:pt x="105" y="104"/>
                    </a:lnTo>
                    <a:lnTo>
                      <a:pt x="102" y="102"/>
                    </a:lnTo>
                    <a:lnTo>
                      <a:pt x="97" y="100"/>
                    </a:lnTo>
                    <a:lnTo>
                      <a:pt x="94" y="98"/>
                    </a:lnTo>
                    <a:lnTo>
                      <a:pt x="89" y="96"/>
                    </a:lnTo>
                    <a:lnTo>
                      <a:pt x="85" y="94"/>
                    </a:lnTo>
                    <a:lnTo>
                      <a:pt x="80" y="91"/>
                    </a:lnTo>
                    <a:lnTo>
                      <a:pt x="74" y="88"/>
                    </a:lnTo>
                    <a:lnTo>
                      <a:pt x="70" y="85"/>
                    </a:lnTo>
                    <a:lnTo>
                      <a:pt x="66" y="82"/>
                    </a:lnTo>
                    <a:lnTo>
                      <a:pt x="61" y="80"/>
                    </a:lnTo>
                    <a:lnTo>
                      <a:pt x="55" y="78"/>
                    </a:lnTo>
                    <a:lnTo>
                      <a:pt x="51" y="74"/>
                    </a:lnTo>
                    <a:lnTo>
                      <a:pt x="45" y="72"/>
                    </a:lnTo>
                    <a:lnTo>
                      <a:pt x="40" y="69"/>
                    </a:lnTo>
                    <a:lnTo>
                      <a:pt x="36" y="67"/>
                    </a:lnTo>
                    <a:lnTo>
                      <a:pt x="32" y="65"/>
                    </a:lnTo>
                    <a:lnTo>
                      <a:pt x="27" y="63"/>
                    </a:lnTo>
                    <a:lnTo>
                      <a:pt x="23" y="61"/>
                    </a:lnTo>
                    <a:lnTo>
                      <a:pt x="20" y="58"/>
                    </a:lnTo>
                    <a:lnTo>
                      <a:pt x="17" y="56"/>
                    </a:lnTo>
                    <a:lnTo>
                      <a:pt x="14" y="55"/>
                    </a:lnTo>
                    <a:lnTo>
                      <a:pt x="11" y="54"/>
                    </a:lnTo>
                    <a:lnTo>
                      <a:pt x="8" y="53"/>
                    </a:lnTo>
                    <a:lnTo>
                      <a:pt x="8" y="52"/>
                    </a:lnTo>
                    <a:lnTo>
                      <a:pt x="6" y="51"/>
                    </a:lnTo>
                    <a:lnTo>
                      <a:pt x="5" y="51"/>
                    </a:lnTo>
                    <a:lnTo>
                      <a:pt x="3" y="50"/>
                    </a:lnTo>
                    <a:lnTo>
                      <a:pt x="2" y="48"/>
                    </a:lnTo>
                    <a:lnTo>
                      <a:pt x="1" y="48"/>
                    </a:lnTo>
                    <a:lnTo>
                      <a:pt x="0" y="48"/>
                    </a:lnTo>
                    <a:lnTo>
                      <a:pt x="0" y="46"/>
                    </a:lnTo>
                    <a:lnTo>
                      <a:pt x="2" y="45"/>
                    </a:lnTo>
                    <a:lnTo>
                      <a:pt x="4" y="44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25" name="Freeform 942"/>
              <p:cNvSpPr>
                <a:spLocks/>
              </p:cNvSpPr>
              <p:nvPr/>
            </p:nvSpPr>
            <p:spPr bwMode="auto">
              <a:xfrm>
                <a:off x="3014" y="1968"/>
                <a:ext cx="90" cy="45"/>
              </a:xfrm>
              <a:custGeom>
                <a:avLst/>
                <a:gdLst>
                  <a:gd name="T0" fmla="*/ 89 w 90"/>
                  <a:gd name="T1" fmla="*/ 0 h 45"/>
                  <a:gd name="T2" fmla="*/ 89 w 90"/>
                  <a:gd name="T3" fmla="*/ 0 h 45"/>
                  <a:gd name="T4" fmla="*/ 85 w 90"/>
                  <a:gd name="T5" fmla="*/ 1 h 45"/>
                  <a:gd name="T6" fmla="*/ 81 w 90"/>
                  <a:gd name="T7" fmla="*/ 3 h 45"/>
                  <a:gd name="T8" fmla="*/ 77 w 90"/>
                  <a:gd name="T9" fmla="*/ 5 h 45"/>
                  <a:gd name="T10" fmla="*/ 69 w 90"/>
                  <a:gd name="T11" fmla="*/ 8 h 45"/>
                  <a:gd name="T12" fmla="*/ 63 w 90"/>
                  <a:gd name="T13" fmla="*/ 13 h 45"/>
                  <a:gd name="T14" fmla="*/ 55 w 90"/>
                  <a:gd name="T15" fmla="*/ 16 h 45"/>
                  <a:gd name="T16" fmla="*/ 49 w 90"/>
                  <a:gd name="T17" fmla="*/ 19 h 45"/>
                  <a:gd name="T18" fmla="*/ 42 w 90"/>
                  <a:gd name="T19" fmla="*/ 22 h 45"/>
                  <a:gd name="T20" fmla="*/ 34 w 90"/>
                  <a:gd name="T21" fmla="*/ 26 h 45"/>
                  <a:gd name="T22" fmla="*/ 28 w 90"/>
                  <a:gd name="T23" fmla="*/ 30 h 45"/>
                  <a:gd name="T24" fmla="*/ 20 w 90"/>
                  <a:gd name="T25" fmla="*/ 34 h 45"/>
                  <a:gd name="T26" fmla="*/ 15 w 90"/>
                  <a:gd name="T27" fmla="*/ 36 h 45"/>
                  <a:gd name="T28" fmla="*/ 8 w 90"/>
                  <a:gd name="T29" fmla="*/ 39 h 45"/>
                  <a:gd name="T30" fmla="*/ 4 w 90"/>
                  <a:gd name="T31" fmla="*/ 40 h 45"/>
                  <a:gd name="T32" fmla="*/ 2 w 90"/>
                  <a:gd name="T33" fmla="*/ 42 h 45"/>
                  <a:gd name="T34" fmla="*/ 0 w 90"/>
                  <a:gd name="T35" fmla="*/ 42 h 45"/>
                  <a:gd name="T36" fmla="*/ 1 w 90"/>
                  <a:gd name="T37" fmla="*/ 45 h 45"/>
                  <a:gd name="T38" fmla="*/ 2 w 90"/>
                  <a:gd name="T39" fmla="*/ 44 h 45"/>
                  <a:gd name="T40" fmla="*/ 5 w 90"/>
                  <a:gd name="T41" fmla="*/ 42 h 45"/>
                  <a:gd name="T42" fmla="*/ 11 w 90"/>
                  <a:gd name="T43" fmla="*/ 40 h 45"/>
                  <a:gd name="T44" fmla="*/ 15 w 90"/>
                  <a:gd name="T45" fmla="*/ 38 h 45"/>
                  <a:gd name="T46" fmla="*/ 21 w 90"/>
                  <a:gd name="T47" fmla="*/ 35 h 45"/>
                  <a:gd name="T48" fmla="*/ 28 w 90"/>
                  <a:gd name="T49" fmla="*/ 32 h 45"/>
                  <a:gd name="T50" fmla="*/ 35 w 90"/>
                  <a:gd name="T51" fmla="*/ 27 h 45"/>
                  <a:gd name="T52" fmla="*/ 42 w 90"/>
                  <a:gd name="T53" fmla="*/ 24 h 45"/>
                  <a:gd name="T54" fmla="*/ 50 w 90"/>
                  <a:gd name="T55" fmla="*/ 21 h 45"/>
                  <a:gd name="T56" fmla="*/ 56 w 90"/>
                  <a:gd name="T57" fmla="*/ 18 h 45"/>
                  <a:gd name="T58" fmla="*/ 63 w 90"/>
                  <a:gd name="T59" fmla="*/ 15 h 45"/>
                  <a:gd name="T60" fmla="*/ 70 w 90"/>
                  <a:gd name="T61" fmla="*/ 10 h 45"/>
                  <a:gd name="T62" fmla="*/ 77 w 90"/>
                  <a:gd name="T63" fmla="*/ 7 h 45"/>
                  <a:gd name="T64" fmla="*/ 82 w 90"/>
                  <a:gd name="T65" fmla="*/ 5 h 45"/>
                  <a:gd name="T66" fmla="*/ 86 w 90"/>
                  <a:gd name="T67" fmla="*/ 3 h 45"/>
                  <a:gd name="T68" fmla="*/ 90 w 90"/>
                  <a:gd name="T69" fmla="*/ 1 h 45"/>
                  <a:gd name="T70" fmla="*/ 89 w 90"/>
                  <a:gd name="T71" fmla="*/ 0 h 4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90"/>
                  <a:gd name="T109" fmla="*/ 0 h 45"/>
                  <a:gd name="T110" fmla="*/ 90 w 90"/>
                  <a:gd name="T111" fmla="*/ 45 h 4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90" h="45">
                    <a:moveTo>
                      <a:pt x="89" y="0"/>
                    </a:moveTo>
                    <a:lnTo>
                      <a:pt x="89" y="0"/>
                    </a:lnTo>
                    <a:lnTo>
                      <a:pt x="85" y="1"/>
                    </a:lnTo>
                    <a:lnTo>
                      <a:pt x="81" y="3"/>
                    </a:lnTo>
                    <a:lnTo>
                      <a:pt x="77" y="5"/>
                    </a:lnTo>
                    <a:lnTo>
                      <a:pt x="69" y="8"/>
                    </a:lnTo>
                    <a:lnTo>
                      <a:pt x="63" y="13"/>
                    </a:lnTo>
                    <a:lnTo>
                      <a:pt x="55" y="16"/>
                    </a:lnTo>
                    <a:lnTo>
                      <a:pt x="49" y="19"/>
                    </a:lnTo>
                    <a:lnTo>
                      <a:pt x="42" y="22"/>
                    </a:lnTo>
                    <a:lnTo>
                      <a:pt x="34" y="26"/>
                    </a:lnTo>
                    <a:lnTo>
                      <a:pt x="28" y="30"/>
                    </a:lnTo>
                    <a:lnTo>
                      <a:pt x="20" y="34"/>
                    </a:lnTo>
                    <a:lnTo>
                      <a:pt x="15" y="36"/>
                    </a:lnTo>
                    <a:lnTo>
                      <a:pt x="8" y="39"/>
                    </a:lnTo>
                    <a:lnTo>
                      <a:pt x="4" y="40"/>
                    </a:lnTo>
                    <a:lnTo>
                      <a:pt x="2" y="42"/>
                    </a:lnTo>
                    <a:lnTo>
                      <a:pt x="0" y="42"/>
                    </a:lnTo>
                    <a:lnTo>
                      <a:pt x="1" y="45"/>
                    </a:lnTo>
                    <a:lnTo>
                      <a:pt x="2" y="44"/>
                    </a:lnTo>
                    <a:lnTo>
                      <a:pt x="5" y="42"/>
                    </a:lnTo>
                    <a:lnTo>
                      <a:pt x="11" y="40"/>
                    </a:lnTo>
                    <a:lnTo>
                      <a:pt x="15" y="38"/>
                    </a:lnTo>
                    <a:lnTo>
                      <a:pt x="21" y="35"/>
                    </a:lnTo>
                    <a:lnTo>
                      <a:pt x="28" y="32"/>
                    </a:lnTo>
                    <a:lnTo>
                      <a:pt x="35" y="27"/>
                    </a:lnTo>
                    <a:lnTo>
                      <a:pt x="42" y="24"/>
                    </a:lnTo>
                    <a:lnTo>
                      <a:pt x="50" y="21"/>
                    </a:lnTo>
                    <a:lnTo>
                      <a:pt x="56" y="18"/>
                    </a:lnTo>
                    <a:lnTo>
                      <a:pt x="63" y="15"/>
                    </a:lnTo>
                    <a:lnTo>
                      <a:pt x="70" y="10"/>
                    </a:lnTo>
                    <a:lnTo>
                      <a:pt x="77" y="7"/>
                    </a:lnTo>
                    <a:lnTo>
                      <a:pt x="82" y="5"/>
                    </a:lnTo>
                    <a:lnTo>
                      <a:pt x="86" y="3"/>
                    </a:lnTo>
                    <a:lnTo>
                      <a:pt x="90" y="1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26" name="Freeform 943"/>
              <p:cNvSpPr>
                <a:spLocks/>
              </p:cNvSpPr>
              <p:nvPr/>
            </p:nvSpPr>
            <p:spPr bwMode="auto">
              <a:xfrm>
                <a:off x="3103" y="1967"/>
                <a:ext cx="13" cy="3"/>
              </a:xfrm>
              <a:custGeom>
                <a:avLst/>
                <a:gdLst>
                  <a:gd name="T0" fmla="*/ 13 w 13"/>
                  <a:gd name="T1" fmla="*/ 1 h 3"/>
                  <a:gd name="T2" fmla="*/ 13 w 13"/>
                  <a:gd name="T3" fmla="*/ 1 h 3"/>
                  <a:gd name="T4" fmla="*/ 12 w 13"/>
                  <a:gd name="T5" fmla="*/ 1 h 3"/>
                  <a:gd name="T6" fmla="*/ 10 w 13"/>
                  <a:gd name="T7" fmla="*/ 1 h 3"/>
                  <a:gd name="T8" fmla="*/ 9 w 13"/>
                  <a:gd name="T9" fmla="*/ 0 h 3"/>
                  <a:gd name="T10" fmla="*/ 6 w 13"/>
                  <a:gd name="T11" fmla="*/ 0 h 3"/>
                  <a:gd name="T12" fmla="*/ 5 w 13"/>
                  <a:gd name="T13" fmla="*/ 0 h 3"/>
                  <a:gd name="T14" fmla="*/ 3 w 13"/>
                  <a:gd name="T15" fmla="*/ 0 h 3"/>
                  <a:gd name="T16" fmla="*/ 2 w 13"/>
                  <a:gd name="T17" fmla="*/ 0 h 3"/>
                  <a:gd name="T18" fmla="*/ 0 w 13"/>
                  <a:gd name="T19" fmla="*/ 1 h 3"/>
                  <a:gd name="T20" fmla="*/ 0 w 13"/>
                  <a:gd name="T21" fmla="*/ 2 h 3"/>
                  <a:gd name="T22" fmla="*/ 2 w 13"/>
                  <a:gd name="T23" fmla="*/ 2 h 3"/>
                  <a:gd name="T24" fmla="*/ 3 w 13"/>
                  <a:gd name="T25" fmla="*/ 2 h 3"/>
                  <a:gd name="T26" fmla="*/ 5 w 13"/>
                  <a:gd name="T27" fmla="*/ 2 h 3"/>
                  <a:gd name="T28" fmla="*/ 6 w 13"/>
                  <a:gd name="T29" fmla="*/ 2 h 3"/>
                  <a:gd name="T30" fmla="*/ 9 w 13"/>
                  <a:gd name="T31" fmla="*/ 2 h 3"/>
                  <a:gd name="T32" fmla="*/ 10 w 13"/>
                  <a:gd name="T33" fmla="*/ 2 h 3"/>
                  <a:gd name="T34" fmla="*/ 11 w 13"/>
                  <a:gd name="T35" fmla="*/ 3 h 3"/>
                  <a:gd name="T36" fmla="*/ 12 w 13"/>
                  <a:gd name="T37" fmla="*/ 3 h 3"/>
                  <a:gd name="T38" fmla="*/ 13 w 13"/>
                  <a:gd name="T39" fmla="*/ 1 h 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3"/>
                  <a:gd name="T62" fmla="*/ 13 w 13"/>
                  <a:gd name="T63" fmla="*/ 3 h 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3">
                    <a:moveTo>
                      <a:pt x="13" y="1"/>
                    </a:moveTo>
                    <a:lnTo>
                      <a:pt x="13" y="1"/>
                    </a:lnTo>
                    <a:lnTo>
                      <a:pt x="12" y="1"/>
                    </a:lnTo>
                    <a:lnTo>
                      <a:pt x="10" y="1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6" y="2"/>
                    </a:lnTo>
                    <a:lnTo>
                      <a:pt x="9" y="2"/>
                    </a:lnTo>
                    <a:lnTo>
                      <a:pt x="10" y="2"/>
                    </a:lnTo>
                    <a:lnTo>
                      <a:pt x="11" y="3"/>
                    </a:lnTo>
                    <a:lnTo>
                      <a:pt x="12" y="3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27" name="Freeform 944"/>
              <p:cNvSpPr>
                <a:spLocks/>
              </p:cNvSpPr>
              <p:nvPr/>
            </p:nvSpPr>
            <p:spPr bwMode="auto">
              <a:xfrm>
                <a:off x="3115" y="1969"/>
                <a:ext cx="128" cy="60"/>
              </a:xfrm>
              <a:custGeom>
                <a:avLst/>
                <a:gdLst>
                  <a:gd name="T0" fmla="*/ 128 w 128"/>
                  <a:gd name="T1" fmla="*/ 59 h 60"/>
                  <a:gd name="T2" fmla="*/ 124 w 128"/>
                  <a:gd name="T3" fmla="*/ 56 h 60"/>
                  <a:gd name="T4" fmla="*/ 119 w 128"/>
                  <a:gd name="T5" fmla="*/ 54 h 60"/>
                  <a:gd name="T6" fmla="*/ 111 w 128"/>
                  <a:gd name="T7" fmla="*/ 51 h 60"/>
                  <a:gd name="T8" fmla="*/ 104 w 128"/>
                  <a:gd name="T9" fmla="*/ 47 h 60"/>
                  <a:gd name="T10" fmla="*/ 94 w 128"/>
                  <a:gd name="T11" fmla="*/ 43 h 60"/>
                  <a:gd name="T12" fmla="*/ 84 w 128"/>
                  <a:gd name="T13" fmla="*/ 38 h 60"/>
                  <a:gd name="T14" fmla="*/ 73 w 128"/>
                  <a:gd name="T15" fmla="*/ 33 h 60"/>
                  <a:gd name="T16" fmla="*/ 62 w 128"/>
                  <a:gd name="T17" fmla="*/ 28 h 60"/>
                  <a:gd name="T18" fmla="*/ 51 w 128"/>
                  <a:gd name="T19" fmla="*/ 22 h 60"/>
                  <a:gd name="T20" fmla="*/ 41 w 128"/>
                  <a:gd name="T21" fmla="*/ 18 h 60"/>
                  <a:gd name="T22" fmla="*/ 30 w 128"/>
                  <a:gd name="T23" fmla="*/ 13 h 60"/>
                  <a:gd name="T24" fmla="*/ 22 w 128"/>
                  <a:gd name="T25" fmla="*/ 8 h 60"/>
                  <a:gd name="T26" fmla="*/ 14 w 128"/>
                  <a:gd name="T27" fmla="*/ 5 h 60"/>
                  <a:gd name="T28" fmla="*/ 8 w 128"/>
                  <a:gd name="T29" fmla="*/ 3 h 60"/>
                  <a:gd name="T30" fmla="*/ 4 w 128"/>
                  <a:gd name="T31" fmla="*/ 1 h 60"/>
                  <a:gd name="T32" fmla="*/ 0 w 128"/>
                  <a:gd name="T33" fmla="*/ 2 h 60"/>
                  <a:gd name="T34" fmla="*/ 2 w 128"/>
                  <a:gd name="T35" fmla="*/ 3 h 60"/>
                  <a:gd name="T36" fmla="*/ 7 w 128"/>
                  <a:gd name="T37" fmla="*/ 4 h 60"/>
                  <a:gd name="T38" fmla="*/ 13 w 128"/>
                  <a:gd name="T39" fmla="*/ 7 h 60"/>
                  <a:gd name="T40" fmla="*/ 21 w 128"/>
                  <a:gd name="T41" fmla="*/ 10 h 60"/>
                  <a:gd name="T42" fmla="*/ 29 w 128"/>
                  <a:gd name="T43" fmla="*/ 16 h 60"/>
                  <a:gd name="T44" fmla="*/ 40 w 128"/>
                  <a:gd name="T45" fmla="*/ 20 h 60"/>
                  <a:gd name="T46" fmla="*/ 50 w 128"/>
                  <a:gd name="T47" fmla="*/ 24 h 60"/>
                  <a:gd name="T48" fmla="*/ 61 w 128"/>
                  <a:gd name="T49" fmla="*/ 29 h 60"/>
                  <a:gd name="T50" fmla="*/ 72 w 128"/>
                  <a:gd name="T51" fmla="*/ 35 h 60"/>
                  <a:gd name="T52" fmla="*/ 83 w 128"/>
                  <a:gd name="T53" fmla="*/ 39 h 60"/>
                  <a:gd name="T54" fmla="*/ 94 w 128"/>
                  <a:gd name="T55" fmla="*/ 44 h 60"/>
                  <a:gd name="T56" fmla="*/ 103 w 128"/>
                  <a:gd name="T57" fmla="*/ 49 h 60"/>
                  <a:gd name="T58" fmla="*/ 110 w 128"/>
                  <a:gd name="T59" fmla="*/ 53 h 60"/>
                  <a:gd name="T60" fmla="*/ 119 w 128"/>
                  <a:gd name="T61" fmla="*/ 55 h 60"/>
                  <a:gd name="T62" fmla="*/ 123 w 128"/>
                  <a:gd name="T63" fmla="*/ 59 h 60"/>
                  <a:gd name="T64" fmla="*/ 126 w 128"/>
                  <a:gd name="T65" fmla="*/ 60 h 6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8"/>
                  <a:gd name="T100" fmla="*/ 0 h 60"/>
                  <a:gd name="T101" fmla="*/ 128 w 128"/>
                  <a:gd name="T102" fmla="*/ 60 h 6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8" h="60">
                    <a:moveTo>
                      <a:pt x="128" y="59"/>
                    </a:moveTo>
                    <a:lnTo>
                      <a:pt x="128" y="59"/>
                    </a:lnTo>
                    <a:lnTo>
                      <a:pt x="126" y="57"/>
                    </a:lnTo>
                    <a:lnTo>
                      <a:pt x="124" y="56"/>
                    </a:lnTo>
                    <a:lnTo>
                      <a:pt x="122" y="55"/>
                    </a:lnTo>
                    <a:lnTo>
                      <a:pt x="119" y="54"/>
                    </a:lnTo>
                    <a:lnTo>
                      <a:pt x="115" y="53"/>
                    </a:lnTo>
                    <a:lnTo>
                      <a:pt x="111" y="51"/>
                    </a:lnTo>
                    <a:lnTo>
                      <a:pt x="108" y="50"/>
                    </a:lnTo>
                    <a:lnTo>
                      <a:pt x="104" y="47"/>
                    </a:lnTo>
                    <a:lnTo>
                      <a:pt x="99" y="45"/>
                    </a:lnTo>
                    <a:lnTo>
                      <a:pt x="94" y="43"/>
                    </a:lnTo>
                    <a:lnTo>
                      <a:pt x="89" y="40"/>
                    </a:lnTo>
                    <a:lnTo>
                      <a:pt x="84" y="38"/>
                    </a:lnTo>
                    <a:lnTo>
                      <a:pt x="78" y="36"/>
                    </a:lnTo>
                    <a:lnTo>
                      <a:pt x="73" y="33"/>
                    </a:lnTo>
                    <a:lnTo>
                      <a:pt x="68" y="31"/>
                    </a:lnTo>
                    <a:lnTo>
                      <a:pt x="62" y="28"/>
                    </a:lnTo>
                    <a:lnTo>
                      <a:pt x="57" y="25"/>
                    </a:lnTo>
                    <a:lnTo>
                      <a:pt x="51" y="22"/>
                    </a:lnTo>
                    <a:lnTo>
                      <a:pt x="45" y="20"/>
                    </a:lnTo>
                    <a:lnTo>
                      <a:pt x="41" y="18"/>
                    </a:lnTo>
                    <a:lnTo>
                      <a:pt x="36" y="16"/>
                    </a:lnTo>
                    <a:lnTo>
                      <a:pt x="30" y="13"/>
                    </a:lnTo>
                    <a:lnTo>
                      <a:pt x="26" y="10"/>
                    </a:lnTo>
                    <a:lnTo>
                      <a:pt x="22" y="8"/>
                    </a:lnTo>
                    <a:lnTo>
                      <a:pt x="17" y="7"/>
                    </a:lnTo>
                    <a:lnTo>
                      <a:pt x="14" y="5"/>
                    </a:lnTo>
                    <a:lnTo>
                      <a:pt x="11" y="4"/>
                    </a:lnTo>
                    <a:lnTo>
                      <a:pt x="8" y="3"/>
                    </a:lnTo>
                    <a:lnTo>
                      <a:pt x="5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2" y="3"/>
                    </a:lnTo>
                    <a:lnTo>
                      <a:pt x="5" y="3"/>
                    </a:lnTo>
                    <a:lnTo>
                      <a:pt x="7" y="4"/>
                    </a:lnTo>
                    <a:lnTo>
                      <a:pt x="9" y="5"/>
                    </a:lnTo>
                    <a:lnTo>
                      <a:pt x="13" y="7"/>
                    </a:lnTo>
                    <a:lnTo>
                      <a:pt x="17" y="8"/>
                    </a:lnTo>
                    <a:lnTo>
                      <a:pt x="21" y="10"/>
                    </a:lnTo>
                    <a:lnTo>
                      <a:pt x="25" y="13"/>
                    </a:lnTo>
                    <a:lnTo>
                      <a:pt x="29" y="16"/>
                    </a:lnTo>
                    <a:lnTo>
                      <a:pt x="36" y="18"/>
                    </a:lnTo>
                    <a:lnTo>
                      <a:pt x="40" y="20"/>
                    </a:lnTo>
                    <a:lnTo>
                      <a:pt x="45" y="22"/>
                    </a:lnTo>
                    <a:lnTo>
                      <a:pt x="50" y="24"/>
                    </a:lnTo>
                    <a:lnTo>
                      <a:pt x="56" y="26"/>
                    </a:lnTo>
                    <a:lnTo>
                      <a:pt x="61" y="29"/>
                    </a:lnTo>
                    <a:lnTo>
                      <a:pt x="67" y="33"/>
                    </a:lnTo>
                    <a:lnTo>
                      <a:pt x="72" y="35"/>
                    </a:lnTo>
                    <a:lnTo>
                      <a:pt x="78" y="37"/>
                    </a:lnTo>
                    <a:lnTo>
                      <a:pt x="83" y="39"/>
                    </a:lnTo>
                    <a:lnTo>
                      <a:pt x="88" y="41"/>
                    </a:lnTo>
                    <a:lnTo>
                      <a:pt x="94" y="44"/>
                    </a:lnTo>
                    <a:lnTo>
                      <a:pt x="99" y="47"/>
                    </a:lnTo>
                    <a:lnTo>
                      <a:pt x="103" y="49"/>
                    </a:lnTo>
                    <a:lnTo>
                      <a:pt x="107" y="51"/>
                    </a:lnTo>
                    <a:lnTo>
                      <a:pt x="110" y="53"/>
                    </a:lnTo>
                    <a:lnTo>
                      <a:pt x="115" y="54"/>
                    </a:lnTo>
                    <a:lnTo>
                      <a:pt x="119" y="55"/>
                    </a:lnTo>
                    <a:lnTo>
                      <a:pt x="121" y="57"/>
                    </a:lnTo>
                    <a:lnTo>
                      <a:pt x="123" y="59"/>
                    </a:lnTo>
                    <a:lnTo>
                      <a:pt x="125" y="59"/>
                    </a:lnTo>
                    <a:lnTo>
                      <a:pt x="126" y="60"/>
                    </a:lnTo>
                    <a:lnTo>
                      <a:pt x="128" y="59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28" name="Freeform 945"/>
              <p:cNvSpPr>
                <a:spLocks/>
              </p:cNvSpPr>
              <p:nvPr/>
            </p:nvSpPr>
            <p:spPr bwMode="auto">
              <a:xfrm>
                <a:off x="3241" y="2028"/>
                <a:ext cx="9" cy="11"/>
              </a:xfrm>
              <a:custGeom>
                <a:avLst/>
                <a:gdLst>
                  <a:gd name="T0" fmla="*/ 5 w 9"/>
                  <a:gd name="T1" fmla="*/ 11 h 11"/>
                  <a:gd name="T2" fmla="*/ 5 w 9"/>
                  <a:gd name="T3" fmla="*/ 11 h 11"/>
                  <a:gd name="T4" fmla="*/ 8 w 9"/>
                  <a:gd name="T5" fmla="*/ 10 h 11"/>
                  <a:gd name="T6" fmla="*/ 9 w 9"/>
                  <a:gd name="T7" fmla="*/ 8 h 11"/>
                  <a:gd name="T8" fmla="*/ 9 w 9"/>
                  <a:gd name="T9" fmla="*/ 7 h 11"/>
                  <a:gd name="T10" fmla="*/ 8 w 9"/>
                  <a:gd name="T11" fmla="*/ 4 h 11"/>
                  <a:gd name="T12" fmla="*/ 7 w 9"/>
                  <a:gd name="T13" fmla="*/ 3 h 11"/>
                  <a:gd name="T14" fmla="*/ 5 w 9"/>
                  <a:gd name="T15" fmla="*/ 2 h 11"/>
                  <a:gd name="T16" fmla="*/ 3 w 9"/>
                  <a:gd name="T17" fmla="*/ 1 h 11"/>
                  <a:gd name="T18" fmla="*/ 2 w 9"/>
                  <a:gd name="T19" fmla="*/ 0 h 11"/>
                  <a:gd name="T20" fmla="*/ 0 w 9"/>
                  <a:gd name="T21" fmla="*/ 1 h 11"/>
                  <a:gd name="T22" fmla="*/ 2 w 9"/>
                  <a:gd name="T23" fmla="*/ 2 h 11"/>
                  <a:gd name="T24" fmla="*/ 4 w 9"/>
                  <a:gd name="T25" fmla="*/ 3 h 11"/>
                  <a:gd name="T26" fmla="*/ 5 w 9"/>
                  <a:gd name="T27" fmla="*/ 4 h 11"/>
                  <a:gd name="T28" fmla="*/ 7 w 9"/>
                  <a:gd name="T29" fmla="*/ 5 h 11"/>
                  <a:gd name="T30" fmla="*/ 7 w 9"/>
                  <a:gd name="T31" fmla="*/ 7 h 11"/>
                  <a:gd name="T32" fmla="*/ 7 w 9"/>
                  <a:gd name="T33" fmla="*/ 8 h 11"/>
                  <a:gd name="T34" fmla="*/ 4 w 9"/>
                  <a:gd name="T35" fmla="*/ 10 h 11"/>
                  <a:gd name="T36" fmla="*/ 5 w 9"/>
                  <a:gd name="T37" fmla="*/ 11 h 1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11"/>
                  <a:gd name="T59" fmla="*/ 9 w 9"/>
                  <a:gd name="T60" fmla="*/ 11 h 1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11">
                    <a:moveTo>
                      <a:pt x="5" y="11"/>
                    </a:moveTo>
                    <a:lnTo>
                      <a:pt x="5" y="11"/>
                    </a:lnTo>
                    <a:lnTo>
                      <a:pt x="8" y="10"/>
                    </a:lnTo>
                    <a:lnTo>
                      <a:pt x="9" y="8"/>
                    </a:lnTo>
                    <a:lnTo>
                      <a:pt x="9" y="7"/>
                    </a:lnTo>
                    <a:lnTo>
                      <a:pt x="8" y="4"/>
                    </a:lnTo>
                    <a:lnTo>
                      <a:pt x="7" y="3"/>
                    </a:lnTo>
                    <a:lnTo>
                      <a:pt x="5" y="2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4"/>
                    </a:lnTo>
                    <a:lnTo>
                      <a:pt x="7" y="5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4" y="10"/>
                    </a:lnTo>
                    <a:lnTo>
                      <a:pt x="5" y="1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29" name="Freeform 946"/>
              <p:cNvSpPr>
                <a:spLocks/>
              </p:cNvSpPr>
              <p:nvPr/>
            </p:nvSpPr>
            <p:spPr bwMode="auto">
              <a:xfrm>
                <a:off x="3143" y="2037"/>
                <a:ext cx="103" cy="46"/>
              </a:xfrm>
              <a:custGeom>
                <a:avLst/>
                <a:gdLst>
                  <a:gd name="T0" fmla="*/ 1 w 103"/>
                  <a:gd name="T1" fmla="*/ 46 h 46"/>
                  <a:gd name="T2" fmla="*/ 3 w 103"/>
                  <a:gd name="T3" fmla="*/ 45 h 46"/>
                  <a:gd name="T4" fmla="*/ 9 w 103"/>
                  <a:gd name="T5" fmla="*/ 43 h 46"/>
                  <a:gd name="T6" fmla="*/ 14 w 103"/>
                  <a:gd name="T7" fmla="*/ 41 h 46"/>
                  <a:gd name="T8" fmla="*/ 20 w 103"/>
                  <a:gd name="T9" fmla="*/ 38 h 46"/>
                  <a:gd name="T10" fmla="*/ 27 w 103"/>
                  <a:gd name="T11" fmla="*/ 35 h 46"/>
                  <a:gd name="T12" fmla="*/ 35 w 103"/>
                  <a:gd name="T13" fmla="*/ 30 h 46"/>
                  <a:gd name="T14" fmla="*/ 44 w 103"/>
                  <a:gd name="T15" fmla="*/ 27 h 46"/>
                  <a:gd name="T16" fmla="*/ 52 w 103"/>
                  <a:gd name="T17" fmla="*/ 24 h 46"/>
                  <a:gd name="T18" fmla="*/ 61 w 103"/>
                  <a:gd name="T19" fmla="*/ 20 h 46"/>
                  <a:gd name="T20" fmla="*/ 70 w 103"/>
                  <a:gd name="T21" fmla="*/ 17 h 46"/>
                  <a:gd name="T22" fmla="*/ 77 w 103"/>
                  <a:gd name="T23" fmla="*/ 13 h 46"/>
                  <a:gd name="T24" fmla="*/ 83 w 103"/>
                  <a:gd name="T25" fmla="*/ 11 h 46"/>
                  <a:gd name="T26" fmla="*/ 90 w 103"/>
                  <a:gd name="T27" fmla="*/ 7 h 46"/>
                  <a:gd name="T28" fmla="*/ 96 w 103"/>
                  <a:gd name="T29" fmla="*/ 4 h 46"/>
                  <a:gd name="T30" fmla="*/ 100 w 103"/>
                  <a:gd name="T31" fmla="*/ 3 h 46"/>
                  <a:gd name="T32" fmla="*/ 103 w 103"/>
                  <a:gd name="T33" fmla="*/ 1 h 46"/>
                  <a:gd name="T34" fmla="*/ 101 w 103"/>
                  <a:gd name="T35" fmla="*/ 0 h 46"/>
                  <a:gd name="T36" fmla="*/ 97 w 103"/>
                  <a:gd name="T37" fmla="*/ 2 h 46"/>
                  <a:gd name="T38" fmla="*/ 92 w 103"/>
                  <a:gd name="T39" fmla="*/ 4 h 46"/>
                  <a:gd name="T40" fmla="*/ 86 w 103"/>
                  <a:gd name="T41" fmla="*/ 7 h 46"/>
                  <a:gd name="T42" fmla="*/ 79 w 103"/>
                  <a:gd name="T43" fmla="*/ 11 h 46"/>
                  <a:gd name="T44" fmla="*/ 72 w 103"/>
                  <a:gd name="T45" fmla="*/ 13 h 46"/>
                  <a:gd name="T46" fmla="*/ 64 w 103"/>
                  <a:gd name="T47" fmla="*/ 17 h 46"/>
                  <a:gd name="T48" fmla="*/ 56 w 103"/>
                  <a:gd name="T49" fmla="*/ 20 h 46"/>
                  <a:gd name="T50" fmla="*/ 47 w 103"/>
                  <a:gd name="T51" fmla="*/ 24 h 46"/>
                  <a:gd name="T52" fmla="*/ 39 w 103"/>
                  <a:gd name="T53" fmla="*/ 28 h 46"/>
                  <a:gd name="T54" fmla="*/ 31 w 103"/>
                  <a:gd name="T55" fmla="*/ 31 h 46"/>
                  <a:gd name="T56" fmla="*/ 23 w 103"/>
                  <a:gd name="T57" fmla="*/ 35 h 46"/>
                  <a:gd name="T58" fmla="*/ 16 w 103"/>
                  <a:gd name="T59" fmla="*/ 38 h 46"/>
                  <a:gd name="T60" fmla="*/ 11 w 103"/>
                  <a:gd name="T61" fmla="*/ 41 h 46"/>
                  <a:gd name="T62" fmla="*/ 5 w 103"/>
                  <a:gd name="T63" fmla="*/ 42 h 46"/>
                  <a:gd name="T64" fmla="*/ 1 w 103"/>
                  <a:gd name="T65" fmla="*/ 44 h 46"/>
                  <a:gd name="T66" fmla="*/ 1 w 103"/>
                  <a:gd name="T67" fmla="*/ 46 h 4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6"/>
                  <a:gd name="T104" fmla="*/ 103 w 103"/>
                  <a:gd name="T105" fmla="*/ 46 h 4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6">
                    <a:moveTo>
                      <a:pt x="1" y="46"/>
                    </a:moveTo>
                    <a:lnTo>
                      <a:pt x="1" y="46"/>
                    </a:lnTo>
                    <a:lnTo>
                      <a:pt x="2" y="45"/>
                    </a:lnTo>
                    <a:lnTo>
                      <a:pt x="3" y="45"/>
                    </a:lnTo>
                    <a:lnTo>
                      <a:pt x="5" y="44"/>
                    </a:lnTo>
                    <a:lnTo>
                      <a:pt x="9" y="43"/>
                    </a:lnTo>
                    <a:lnTo>
                      <a:pt x="12" y="42"/>
                    </a:lnTo>
                    <a:lnTo>
                      <a:pt x="14" y="41"/>
                    </a:lnTo>
                    <a:lnTo>
                      <a:pt x="17" y="40"/>
                    </a:lnTo>
                    <a:lnTo>
                      <a:pt x="20" y="38"/>
                    </a:lnTo>
                    <a:lnTo>
                      <a:pt x="24" y="35"/>
                    </a:lnTo>
                    <a:lnTo>
                      <a:pt x="27" y="35"/>
                    </a:lnTo>
                    <a:lnTo>
                      <a:pt x="31" y="32"/>
                    </a:lnTo>
                    <a:lnTo>
                      <a:pt x="35" y="30"/>
                    </a:lnTo>
                    <a:lnTo>
                      <a:pt x="40" y="29"/>
                    </a:lnTo>
                    <a:lnTo>
                      <a:pt x="44" y="27"/>
                    </a:lnTo>
                    <a:lnTo>
                      <a:pt x="47" y="26"/>
                    </a:lnTo>
                    <a:lnTo>
                      <a:pt x="52" y="24"/>
                    </a:lnTo>
                    <a:lnTo>
                      <a:pt x="57" y="23"/>
                    </a:lnTo>
                    <a:lnTo>
                      <a:pt x="61" y="20"/>
                    </a:lnTo>
                    <a:lnTo>
                      <a:pt x="64" y="18"/>
                    </a:lnTo>
                    <a:lnTo>
                      <a:pt x="70" y="17"/>
                    </a:lnTo>
                    <a:lnTo>
                      <a:pt x="73" y="15"/>
                    </a:lnTo>
                    <a:lnTo>
                      <a:pt x="77" y="13"/>
                    </a:lnTo>
                    <a:lnTo>
                      <a:pt x="80" y="11"/>
                    </a:lnTo>
                    <a:lnTo>
                      <a:pt x="83" y="11"/>
                    </a:lnTo>
                    <a:lnTo>
                      <a:pt x="87" y="9"/>
                    </a:lnTo>
                    <a:lnTo>
                      <a:pt x="90" y="7"/>
                    </a:lnTo>
                    <a:lnTo>
                      <a:pt x="92" y="5"/>
                    </a:lnTo>
                    <a:lnTo>
                      <a:pt x="96" y="4"/>
                    </a:lnTo>
                    <a:lnTo>
                      <a:pt x="98" y="3"/>
                    </a:lnTo>
                    <a:lnTo>
                      <a:pt x="100" y="3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100" y="1"/>
                    </a:lnTo>
                    <a:lnTo>
                      <a:pt x="97" y="2"/>
                    </a:lnTo>
                    <a:lnTo>
                      <a:pt x="95" y="3"/>
                    </a:lnTo>
                    <a:lnTo>
                      <a:pt x="92" y="4"/>
                    </a:lnTo>
                    <a:lnTo>
                      <a:pt x="89" y="5"/>
                    </a:lnTo>
                    <a:lnTo>
                      <a:pt x="86" y="7"/>
                    </a:lnTo>
                    <a:lnTo>
                      <a:pt x="82" y="8"/>
                    </a:lnTo>
                    <a:lnTo>
                      <a:pt x="79" y="11"/>
                    </a:lnTo>
                    <a:lnTo>
                      <a:pt x="76" y="11"/>
                    </a:lnTo>
                    <a:lnTo>
                      <a:pt x="72" y="13"/>
                    </a:lnTo>
                    <a:lnTo>
                      <a:pt x="67" y="15"/>
                    </a:lnTo>
                    <a:lnTo>
                      <a:pt x="64" y="17"/>
                    </a:lnTo>
                    <a:lnTo>
                      <a:pt x="60" y="18"/>
                    </a:lnTo>
                    <a:lnTo>
                      <a:pt x="56" y="20"/>
                    </a:lnTo>
                    <a:lnTo>
                      <a:pt x="52" y="23"/>
                    </a:lnTo>
                    <a:lnTo>
                      <a:pt x="47" y="24"/>
                    </a:lnTo>
                    <a:lnTo>
                      <a:pt x="43" y="26"/>
                    </a:lnTo>
                    <a:lnTo>
                      <a:pt x="39" y="28"/>
                    </a:lnTo>
                    <a:lnTo>
                      <a:pt x="35" y="29"/>
                    </a:lnTo>
                    <a:lnTo>
                      <a:pt x="31" y="31"/>
                    </a:lnTo>
                    <a:lnTo>
                      <a:pt x="27" y="32"/>
                    </a:lnTo>
                    <a:lnTo>
                      <a:pt x="23" y="35"/>
                    </a:lnTo>
                    <a:lnTo>
                      <a:pt x="19" y="35"/>
                    </a:lnTo>
                    <a:lnTo>
                      <a:pt x="16" y="38"/>
                    </a:lnTo>
                    <a:lnTo>
                      <a:pt x="14" y="39"/>
                    </a:lnTo>
                    <a:lnTo>
                      <a:pt x="11" y="41"/>
                    </a:lnTo>
                    <a:lnTo>
                      <a:pt x="9" y="42"/>
                    </a:lnTo>
                    <a:lnTo>
                      <a:pt x="5" y="42"/>
                    </a:lnTo>
                    <a:lnTo>
                      <a:pt x="3" y="43"/>
                    </a:lnTo>
                    <a:lnTo>
                      <a:pt x="1" y="44"/>
                    </a:lnTo>
                    <a:lnTo>
                      <a:pt x="0" y="44"/>
                    </a:lnTo>
                    <a:lnTo>
                      <a:pt x="1" y="4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30" name="Freeform 947"/>
              <p:cNvSpPr>
                <a:spLocks/>
              </p:cNvSpPr>
              <p:nvPr/>
            </p:nvSpPr>
            <p:spPr bwMode="auto">
              <a:xfrm>
                <a:off x="3129" y="2078"/>
                <a:ext cx="14" cy="6"/>
              </a:xfrm>
              <a:custGeom>
                <a:avLst/>
                <a:gdLst>
                  <a:gd name="T0" fmla="*/ 0 w 14"/>
                  <a:gd name="T1" fmla="*/ 3 h 6"/>
                  <a:gd name="T2" fmla="*/ 0 w 14"/>
                  <a:gd name="T3" fmla="*/ 3 h 6"/>
                  <a:gd name="T4" fmla="*/ 1 w 14"/>
                  <a:gd name="T5" fmla="*/ 3 h 6"/>
                  <a:gd name="T6" fmla="*/ 3 w 14"/>
                  <a:gd name="T7" fmla="*/ 3 h 6"/>
                  <a:gd name="T8" fmla="*/ 7 w 14"/>
                  <a:gd name="T9" fmla="*/ 5 h 6"/>
                  <a:gd name="T10" fmla="*/ 7 w 14"/>
                  <a:gd name="T11" fmla="*/ 5 h 6"/>
                  <a:gd name="T12" fmla="*/ 10 w 14"/>
                  <a:gd name="T13" fmla="*/ 6 h 6"/>
                  <a:gd name="T14" fmla="*/ 11 w 14"/>
                  <a:gd name="T15" fmla="*/ 6 h 6"/>
                  <a:gd name="T16" fmla="*/ 13 w 14"/>
                  <a:gd name="T17" fmla="*/ 6 h 6"/>
                  <a:gd name="T18" fmla="*/ 14 w 14"/>
                  <a:gd name="T19" fmla="*/ 6 h 6"/>
                  <a:gd name="T20" fmla="*/ 13 w 14"/>
                  <a:gd name="T21" fmla="*/ 3 h 6"/>
                  <a:gd name="T22" fmla="*/ 11 w 14"/>
                  <a:gd name="T23" fmla="*/ 3 h 6"/>
                  <a:gd name="T24" fmla="*/ 10 w 14"/>
                  <a:gd name="T25" fmla="*/ 3 h 6"/>
                  <a:gd name="T26" fmla="*/ 9 w 14"/>
                  <a:gd name="T27" fmla="*/ 3 h 6"/>
                  <a:gd name="T28" fmla="*/ 7 w 14"/>
                  <a:gd name="T29" fmla="*/ 3 h 6"/>
                  <a:gd name="T30" fmla="*/ 3 w 14"/>
                  <a:gd name="T31" fmla="*/ 1 h 6"/>
                  <a:gd name="T32" fmla="*/ 2 w 14"/>
                  <a:gd name="T33" fmla="*/ 1 h 6"/>
                  <a:gd name="T34" fmla="*/ 1 w 14"/>
                  <a:gd name="T35" fmla="*/ 0 h 6"/>
                  <a:gd name="T36" fmla="*/ 0 w 14"/>
                  <a:gd name="T37" fmla="*/ 3 h 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6"/>
                  <a:gd name="T59" fmla="*/ 14 w 14"/>
                  <a:gd name="T60" fmla="*/ 6 h 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6">
                    <a:moveTo>
                      <a:pt x="0" y="3"/>
                    </a:moveTo>
                    <a:lnTo>
                      <a:pt x="0" y="3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7" y="5"/>
                    </a:lnTo>
                    <a:lnTo>
                      <a:pt x="10" y="6"/>
                    </a:lnTo>
                    <a:lnTo>
                      <a:pt x="11" y="6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3" y="3"/>
                    </a:lnTo>
                    <a:lnTo>
                      <a:pt x="11" y="3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3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31" name="Freeform 948"/>
              <p:cNvSpPr>
                <a:spLocks/>
              </p:cNvSpPr>
              <p:nvPr/>
            </p:nvSpPr>
            <p:spPr bwMode="auto">
              <a:xfrm>
                <a:off x="3015" y="2018"/>
                <a:ext cx="115" cy="63"/>
              </a:xfrm>
              <a:custGeom>
                <a:avLst/>
                <a:gdLst>
                  <a:gd name="T0" fmla="*/ 0 w 115"/>
                  <a:gd name="T1" fmla="*/ 1 h 63"/>
                  <a:gd name="T2" fmla="*/ 2 w 115"/>
                  <a:gd name="T3" fmla="*/ 2 h 63"/>
                  <a:gd name="T4" fmla="*/ 5 w 115"/>
                  <a:gd name="T5" fmla="*/ 4 h 63"/>
                  <a:gd name="T6" fmla="*/ 11 w 115"/>
                  <a:gd name="T7" fmla="*/ 7 h 63"/>
                  <a:gd name="T8" fmla="*/ 18 w 115"/>
                  <a:gd name="T9" fmla="*/ 11 h 63"/>
                  <a:gd name="T10" fmla="*/ 26 w 115"/>
                  <a:gd name="T11" fmla="*/ 16 h 63"/>
                  <a:gd name="T12" fmla="*/ 35 w 115"/>
                  <a:gd name="T13" fmla="*/ 21 h 63"/>
                  <a:gd name="T14" fmla="*/ 45 w 115"/>
                  <a:gd name="T15" fmla="*/ 26 h 63"/>
                  <a:gd name="T16" fmla="*/ 54 w 115"/>
                  <a:gd name="T17" fmla="*/ 31 h 63"/>
                  <a:gd name="T18" fmla="*/ 64 w 115"/>
                  <a:gd name="T19" fmla="*/ 37 h 63"/>
                  <a:gd name="T20" fmla="*/ 75 w 115"/>
                  <a:gd name="T21" fmla="*/ 42 h 63"/>
                  <a:gd name="T22" fmla="*/ 83 w 115"/>
                  <a:gd name="T23" fmla="*/ 47 h 63"/>
                  <a:gd name="T24" fmla="*/ 93 w 115"/>
                  <a:gd name="T25" fmla="*/ 51 h 63"/>
                  <a:gd name="T26" fmla="*/ 99 w 115"/>
                  <a:gd name="T27" fmla="*/ 54 h 63"/>
                  <a:gd name="T28" fmla="*/ 107 w 115"/>
                  <a:gd name="T29" fmla="*/ 59 h 63"/>
                  <a:gd name="T30" fmla="*/ 112 w 115"/>
                  <a:gd name="T31" fmla="*/ 62 h 63"/>
                  <a:gd name="T32" fmla="*/ 114 w 115"/>
                  <a:gd name="T33" fmla="*/ 63 h 63"/>
                  <a:gd name="T34" fmla="*/ 114 w 115"/>
                  <a:gd name="T35" fmla="*/ 61 h 63"/>
                  <a:gd name="T36" fmla="*/ 110 w 115"/>
                  <a:gd name="T37" fmla="*/ 59 h 63"/>
                  <a:gd name="T38" fmla="*/ 104 w 115"/>
                  <a:gd name="T39" fmla="*/ 54 h 63"/>
                  <a:gd name="T40" fmla="*/ 97 w 115"/>
                  <a:gd name="T41" fmla="*/ 51 h 63"/>
                  <a:gd name="T42" fmla="*/ 90 w 115"/>
                  <a:gd name="T43" fmla="*/ 47 h 63"/>
                  <a:gd name="T44" fmla="*/ 80 w 115"/>
                  <a:gd name="T45" fmla="*/ 43 h 63"/>
                  <a:gd name="T46" fmla="*/ 70 w 115"/>
                  <a:gd name="T47" fmla="*/ 37 h 63"/>
                  <a:gd name="T48" fmla="*/ 61 w 115"/>
                  <a:gd name="T49" fmla="*/ 32 h 63"/>
                  <a:gd name="T50" fmla="*/ 51 w 115"/>
                  <a:gd name="T51" fmla="*/ 27 h 63"/>
                  <a:gd name="T52" fmla="*/ 41 w 115"/>
                  <a:gd name="T53" fmla="*/ 21 h 63"/>
                  <a:gd name="T54" fmla="*/ 32 w 115"/>
                  <a:gd name="T55" fmla="*/ 17 h 63"/>
                  <a:gd name="T56" fmla="*/ 23 w 115"/>
                  <a:gd name="T57" fmla="*/ 13 h 63"/>
                  <a:gd name="T58" fmla="*/ 16 w 115"/>
                  <a:gd name="T59" fmla="*/ 7 h 63"/>
                  <a:gd name="T60" fmla="*/ 8 w 115"/>
                  <a:gd name="T61" fmla="*/ 4 h 63"/>
                  <a:gd name="T62" fmla="*/ 4 w 115"/>
                  <a:gd name="T63" fmla="*/ 2 h 63"/>
                  <a:gd name="T64" fmla="*/ 1 w 115"/>
                  <a:gd name="T65" fmla="*/ 0 h 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3"/>
                  <a:gd name="T101" fmla="*/ 115 w 115"/>
                  <a:gd name="T102" fmla="*/ 63 h 6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3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5" y="4"/>
                    </a:lnTo>
                    <a:lnTo>
                      <a:pt x="7" y="6"/>
                    </a:lnTo>
                    <a:lnTo>
                      <a:pt x="11" y="7"/>
                    </a:lnTo>
                    <a:lnTo>
                      <a:pt x="15" y="11"/>
                    </a:lnTo>
                    <a:lnTo>
                      <a:pt x="18" y="11"/>
                    </a:lnTo>
                    <a:lnTo>
                      <a:pt x="22" y="14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1"/>
                    </a:lnTo>
                    <a:lnTo>
                      <a:pt x="39" y="23"/>
                    </a:lnTo>
                    <a:lnTo>
                      <a:pt x="45" y="26"/>
                    </a:lnTo>
                    <a:lnTo>
                      <a:pt x="49" y="28"/>
                    </a:lnTo>
                    <a:lnTo>
                      <a:pt x="54" y="31"/>
                    </a:lnTo>
                    <a:lnTo>
                      <a:pt x="60" y="33"/>
                    </a:lnTo>
                    <a:lnTo>
                      <a:pt x="64" y="37"/>
                    </a:lnTo>
                    <a:lnTo>
                      <a:pt x="70" y="39"/>
                    </a:lnTo>
                    <a:lnTo>
                      <a:pt x="75" y="42"/>
                    </a:lnTo>
                    <a:lnTo>
                      <a:pt x="79" y="44"/>
                    </a:lnTo>
                    <a:lnTo>
                      <a:pt x="83" y="47"/>
                    </a:lnTo>
                    <a:lnTo>
                      <a:pt x="88" y="49"/>
                    </a:lnTo>
                    <a:lnTo>
                      <a:pt x="93" y="51"/>
                    </a:lnTo>
                    <a:lnTo>
                      <a:pt x="96" y="54"/>
                    </a:lnTo>
                    <a:lnTo>
                      <a:pt x="99" y="54"/>
                    </a:lnTo>
                    <a:lnTo>
                      <a:pt x="102" y="58"/>
                    </a:lnTo>
                    <a:lnTo>
                      <a:pt x="107" y="59"/>
                    </a:lnTo>
                    <a:lnTo>
                      <a:pt x="110" y="61"/>
                    </a:lnTo>
                    <a:lnTo>
                      <a:pt x="112" y="62"/>
                    </a:lnTo>
                    <a:lnTo>
                      <a:pt x="113" y="62"/>
                    </a:lnTo>
                    <a:lnTo>
                      <a:pt x="114" y="63"/>
                    </a:lnTo>
                    <a:lnTo>
                      <a:pt x="115" y="62"/>
                    </a:lnTo>
                    <a:lnTo>
                      <a:pt x="114" y="61"/>
                    </a:lnTo>
                    <a:lnTo>
                      <a:pt x="112" y="60"/>
                    </a:lnTo>
                    <a:lnTo>
                      <a:pt x="110" y="59"/>
                    </a:lnTo>
                    <a:lnTo>
                      <a:pt x="107" y="58"/>
                    </a:lnTo>
                    <a:lnTo>
                      <a:pt x="104" y="54"/>
                    </a:lnTo>
                    <a:lnTo>
                      <a:pt x="100" y="54"/>
                    </a:lnTo>
                    <a:lnTo>
                      <a:pt x="97" y="51"/>
                    </a:lnTo>
                    <a:lnTo>
                      <a:pt x="94" y="49"/>
                    </a:lnTo>
                    <a:lnTo>
                      <a:pt x="90" y="47"/>
                    </a:lnTo>
                    <a:lnTo>
                      <a:pt x="84" y="45"/>
                    </a:lnTo>
                    <a:lnTo>
                      <a:pt x="80" y="43"/>
                    </a:lnTo>
                    <a:lnTo>
                      <a:pt x="76" y="41"/>
                    </a:lnTo>
                    <a:lnTo>
                      <a:pt x="70" y="37"/>
                    </a:lnTo>
                    <a:lnTo>
                      <a:pt x="65" y="35"/>
                    </a:lnTo>
                    <a:lnTo>
                      <a:pt x="61" y="32"/>
                    </a:lnTo>
                    <a:lnTo>
                      <a:pt x="55" y="30"/>
                    </a:lnTo>
                    <a:lnTo>
                      <a:pt x="51" y="27"/>
                    </a:lnTo>
                    <a:lnTo>
                      <a:pt x="46" y="24"/>
                    </a:lnTo>
                    <a:lnTo>
                      <a:pt x="41" y="21"/>
                    </a:lnTo>
                    <a:lnTo>
                      <a:pt x="36" y="19"/>
                    </a:lnTo>
                    <a:lnTo>
                      <a:pt x="32" y="17"/>
                    </a:lnTo>
                    <a:lnTo>
                      <a:pt x="27" y="15"/>
                    </a:lnTo>
                    <a:lnTo>
                      <a:pt x="23" y="13"/>
                    </a:lnTo>
                    <a:lnTo>
                      <a:pt x="19" y="11"/>
                    </a:lnTo>
                    <a:lnTo>
                      <a:pt x="16" y="7"/>
                    </a:lnTo>
                    <a:lnTo>
                      <a:pt x="13" y="6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32" name="Freeform 949"/>
              <p:cNvSpPr>
                <a:spLocks/>
              </p:cNvSpPr>
              <p:nvPr/>
            </p:nvSpPr>
            <p:spPr bwMode="auto">
              <a:xfrm>
                <a:off x="3010" y="2012"/>
                <a:ext cx="6" cy="8"/>
              </a:xfrm>
              <a:custGeom>
                <a:avLst/>
                <a:gdLst>
                  <a:gd name="T0" fmla="*/ 4 w 6"/>
                  <a:gd name="T1" fmla="*/ 0 h 8"/>
                  <a:gd name="T2" fmla="*/ 4 w 6"/>
                  <a:gd name="T3" fmla="*/ 0 h 8"/>
                  <a:gd name="T4" fmla="*/ 2 w 6"/>
                  <a:gd name="T5" fmla="*/ 1 h 8"/>
                  <a:gd name="T6" fmla="*/ 1 w 6"/>
                  <a:gd name="T7" fmla="*/ 2 h 8"/>
                  <a:gd name="T8" fmla="*/ 0 w 6"/>
                  <a:gd name="T9" fmla="*/ 4 h 8"/>
                  <a:gd name="T10" fmla="*/ 0 w 6"/>
                  <a:gd name="T11" fmla="*/ 4 h 8"/>
                  <a:gd name="T12" fmla="*/ 1 w 6"/>
                  <a:gd name="T13" fmla="*/ 6 h 8"/>
                  <a:gd name="T14" fmla="*/ 2 w 6"/>
                  <a:gd name="T15" fmla="*/ 7 h 8"/>
                  <a:gd name="T16" fmla="*/ 4 w 6"/>
                  <a:gd name="T17" fmla="*/ 7 h 8"/>
                  <a:gd name="T18" fmla="*/ 5 w 6"/>
                  <a:gd name="T19" fmla="*/ 8 h 8"/>
                  <a:gd name="T20" fmla="*/ 6 w 6"/>
                  <a:gd name="T21" fmla="*/ 7 h 8"/>
                  <a:gd name="T22" fmla="*/ 4 w 6"/>
                  <a:gd name="T23" fmla="*/ 6 h 8"/>
                  <a:gd name="T24" fmla="*/ 3 w 6"/>
                  <a:gd name="T25" fmla="*/ 4 h 8"/>
                  <a:gd name="T26" fmla="*/ 2 w 6"/>
                  <a:gd name="T27" fmla="*/ 4 h 8"/>
                  <a:gd name="T28" fmla="*/ 2 w 6"/>
                  <a:gd name="T29" fmla="*/ 4 h 8"/>
                  <a:gd name="T30" fmla="*/ 3 w 6"/>
                  <a:gd name="T31" fmla="*/ 2 h 8"/>
                  <a:gd name="T32" fmla="*/ 5 w 6"/>
                  <a:gd name="T33" fmla="*/ 2 h 8"/>
                  <a:gd name="T34" fmla="*/ 4 w 6"/>
                  <a:gd name="T35" fmla="*/ 0 h 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"/>
                  <a:gd name="T55" fmla="*/ 0 h 8"/>
                  <a:gd name="T56" fmla="*/ 6 w 6"/>
                  <a:gd name="T57" fmla="*/ 8 h 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" h="8">
                    <a:moveTo>
                      <a:pt x="4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6"/>
                    </a:lnTo>
                    <a:lnTo>
                      <a:pt x="2" y="7"/>
                    </a:lnTo>
                    <a:lnTo>
                      <a:pt x="4" y="7"/>
                    </a:lnTo>
                    <a:lnTo>
                      <a:pt x="5" y="8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3" y="4"/>
                    </a:lnTo>
                    <a:lnTo>
                      <a:pt x="2" y="4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33" name="Freeform 950"/>
              <p:cNvSpPr>
                <a:spLocks/>
              </p:cNvSpPr>
              <p:nvPr/>
            </p:nvSpPr>
            <p:spPr bwMode="auto">
              <a:xfrm>
                <a:off x="3137" y="2070"/>
                <a:ext cx="106" cy="48"/>
              </a:xfrm>
              <a:custGeom>
                <a:avLst/>
                <a:gdLst>
                  <a:gd name="T0" fmla="*/ 106 w 106"/>
                  <a:gd name="T1" fmla="*/ 0 h 48"/>
                  <a:gd name="T2" fmla="*/ 104 w 106"/>
                  <a:gd name="T3" fmla="*/ 1 h 48"/>
                  <a:gd name="T4" fmla="*/ 102 w 106"/>
                  <a:gd name="T5" fmla="*/ 1 h 48"/>
                  <a:gd name="T6" fmla="*/ 100 w 106"/>
                  <a:gd name="T7" fmla="*/ 2 h 48"/>
                  <a:gd name="T8" fmla="*/ 98 w 106"/>
                  <a:gd name="T9" fmla="*/ 3 h 48"/>
                  <a:gd name="T10" fmla="*/ 95 w 106"/>
                  <a:gd name="T11" fmla="*/ 5 h 48"/>
                  <a:gd name="T12" fmla="*/ 92 w 106"/>
                  <a:gd name="T13" fmla="*/ 6 h 48"/>
                  <a:gd name="T14" fmla="*/ 88 w 106"/>
                  <a:gd name="T15" fmla="*/ 8 h 48"/>
                  <a:gd name="T16" fmla="*/ 85 w 106"/>
                  <a:gd name="T17" fmla="*/ 9 h 48"/>
                  <a:gd name="T18" fmla="*/ 82 w 106"/>
                  <a:gd name="T19" fmla="*/ 11 h 48"/>
                  <a:gd name="T20" fmla="*/ 79 w 106"/>
                  <a:gd name="T21" fmla="*/ 13 h 48"/>
                  <a:gd name="T22" fmla="*/ 75 w 106"/>
                  <a:gd name="T23" fmla="*/ 15 h 48"/>
                  <a:gd name="T24" fmla="*/ 70 w 106"/>
                  <a:gd name="T25" fmla="*/ 16 h 48"/>
                  <a:gd name="T26" fmla="*/ 66 w 106"/>
                  <a:gd name="T27" fmla="*/ 18 h 48"/>
                  <a:gd name="T28" fmla="*/ 62 w 106"/>
                  <a:gd name="T29" fmla="*/ 21 h 48"/>
                  <a:gd name="T30" fmla="*/ 57 w 106"/>
                  <a:gd name="T31" fmla="*/ 23 h 48"/>
                  <a:gd name="T32" fmla="*/ 53 w 106"/>
                  <a:gd name="T33" fmla="*/ 24 h 48"/>
                  <a:gd name="T34" fmla="*/ 50 w 106"/>
                  <a:gd name="T35" fmla="*/ 26 h 48"/>
                  <a:gd name="T36" fmla="*/ 45 w 106"/>
                  <a:gd name="T37" fmla="*/ 28 h 48"/>
                  <a:gd name="T38" fmla="*/ 40 w 106"/>
                  <a:gd name="T39" fmla="*/ 30 h 48"/>
                  <a:gd name="T40" fmla="*/ 36 w 106"/>
                  <a:gd name="T41" fmla="*/ 31 h 48"/>
                  <a:gd name="T42" fmla="*/ 31 w 106"/>
                  <a:gd name="T43" fmla="*/ 33 h 48"/>
                  <a:gd name="T44" fmla="*/ 28 w 106"/>
                  <a:gd name="T45" fmla="*/ 36 h 48"/>
                  <a:gd name="T46" fmla="*/ 23 w 106"/>
                  <a:gd name="T47" fmla="*/ 38 h 48"/>
                  <a:gd name="T48" fmla="*/ 20 w 106"/>
                  <a:gd name="T49" fmla="*/ 40 h 48"/>
                  <a:gd name="T50" fmla="*/ 17 w 106"/>
                  <a:gd name="T51" fmla="*/ 41 h 48"/>
                  <a:gd name="T52" fmla="*/ 14 w 106"/>
                  <a:gd name="T53" fmla="*/ 42 h 48"/>
                  <a:gd name="T54" fmla="*/ 10 w 106"/>
                  <a:gd name="T55" fmla="*/ 44 h 48"/>
                  <a:gd name="T56" fmla="*/ 8 w 106"/>
                  <a:gd name="T57" fmla="*/ 45 h 48"/>
                  <a:gd name="T58" fmla="*/ 5 w 106"/>
                  <a:gd name="T59" fmla="*/ 46 h 48"/>
                  <a:gd name="T60" fmla="*/ 3 w 106"/>
                  <a:gd name="T61" fmla="*/ 47 h 48"/>
                  <a:gd name="T62" fmla="*/ 1 w 106"/>
                  <a:gd name="T63" fmla="*/ 47 h 48"/>
                  <a:gd name="T64" fmla="*/ 0 w 106"/>
                  <a:gd name="T65" fmla="*/ 48 h 48"/>
                  <a:gd name="T66" fmla="*/ 106 w 106"/>
                  <a:gd name="T67" fmla="*/ 0 h 4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6"/>
                  <a:gd name="T103" fmla="*/ 0 h 48"/>
                  <a:gd name="T104" fmla="*/ 106 w 106"/>
                  <a:gd name="T105" fmla="*/ 48 h 4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6" h="48">
                    <a:moveTo>
                      <a:pt x="106" y="0"/>
                    </a:moveTo>
                    <a:lnTo>
                      <a:pt x="104" y="1"/>
                    </a:lnTo>
                    <a:lnTo>
                      <a:pt x="102" y="1"/>
                    </a:lnTo>
                    <a:lnTo>
                      <a:pt x="100" y="2"/>
                    </a:lnTo>
                    <a:lnTo>
                      <a:pt x="98" y="3"/>
                    </a:lnTo>
                    <a:lnTo>
                      <a:pt x="95" y="5"/>
                    </a:lnTo>
                    <a:lnTo>
                      <a:pt x="92" y="6"/>
                    </a:lnTo>
                    <a:lnTo>
                      <a:pt x="88" y="8"/>
                    </a:lnTo>
                    <a:lnTo>
                      <a:pt x="85" y="9"/>
                    </a:lnTo>
                    <a:lnTo>
                      <a:pt x="82" y="11"/>
                    </a:lnTo>
                    <a:lnTo>
                      <a:pt x="79" y="13"/>
                    </a:lnTo>
                    <a:lnTo>
                      <a:pt x="75" y="15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1"/>
                    </a:lnTo>
                    <a:lnTo>
                      <a:pt x="57" y="23"/>
                    </a:lnTo>
                    <a:lnTo>
                      <a:pt x="53" y="24"/>
                    </a:lnTo>
                    <a:lnTo>
                      <a:pt x="50" y="26"/>
                    </a:lnTo>
                    <a:lnTo>
                      <a:pt x="45" y="28"/>
                    </a:lnTo>
                    <a:lnTo>
                      <a:pt x="40" y="30"/>
                    </a:lnTo>
                    <a:lnTo>
                      <a:pt x="36" y="31"/>
                    </a:lnTo>
                    <a:lnTo>
                      <a:pt x="31" y="33"/>
                    </a:lnTo>
                    <a:lnTo>
                      <a:pt x="28" y="36"/>
                    </a:lnTo>
                    <a:lnTo>
                      <a:pt x="23" y="38"/>
                    </a:lnTo>
                    <a:lnTo>
                      <a:pt x="20" y="40"/>
                    </a:lnTo>
                    <a:lnTo>
                      <a:pt x="17" y="41"/>
                    </a:lnTo>
                    <a:lnTo>
                      <a:pt x="14" y="42"/>
                    </a:lnTo>
                    <a:lnTo>
                      <a:pt x="10" y="44"/>
                    </a:lnTo>
                    <a:lnTo>
                      <a:pt x="8" y="45"/>
                    </a:lnTo>
                    <a:lnTo>
                      <a:pt x="5" y="46"/>
                    </a:lnTo>
                    <a:lnTo>
                      <a:pt x="3" y="47"/>
                    </a:lnTo>
                    <a:lnTo>
                      <a:pt x="1" y="47"/>
                    </a:lnTo>
                    <a:lnTo>
                      <a:pt x="0" y="48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34" name="Freeform 951"/>
              <p:cNvSpPr>
                <a:spLocks/>
              </p:cNvSpPr>
              <p:nvPr/>
            </p:nvSpPr>
            <p:spPr bwMode="auto">
              <a:xfrm>
                <a:off x="3136" y="2069"/>
                <a:ext cx="107" cy="49"/>
              </a:xfrm>
              <a:custGeom>
                <a:avLst/>
                <a:gdLst>
                  <a:gd name="T0" fmla="*/ 2 w 107"/>
                  <a:gd name="T1" fmla="*/ 48 h 49"/>
                  <a:gd name="T2" fmla="*/ 6 w 107"/>
                  <a:gd name="T3" fmla="*/ 47 h 49"/>
                  <a:gd name="T4" fmla="*/ 10 w 107"/>
                  <a:gd name="T5" fmla="*/ 45 h 49"/>
                  <a:gd name="T6" fmla="*/ 18 w 107"/>
                  <a:gd name="T7" fmla="*/ 42 h 49"/>
                  <a:gd name="T8" fmla="*/ 24 w 107"/>
                  <a:gd name="T9" fmla="*/ 39 h 49"/>
                  <a:gd name="T10" fmla="*/ 32 w 107"/>
                  <a:gd name="T11" fmla="*/ 35 h 49"/>
                  <a:gd name="T12" fmla="*/ 41 w 107"/>
                  <a:gd name="T13" fmla="*/ 31 h 49"/>
                  <a:gd name="T14" fmla="*/ 50 w 107"/>
                  <a:gd name="T15" fmla="*/ 27 h 49"/>
                  <a:gd name="T16" fmla="*/ 58 w 107"/>
                  <a:gd name="T17" fmla="*/ 24 h 49"/>
                  <a:gd name="T18" fmla="*/ 67 w 107"/>
                  <a:gd name="T19" fmla="*/ 19 h 49"/>
                  <a:gd name="T20" fmla="*/ 76 w 107"/>
                  <a:gd name="T21" fmla="*/ 16 h 49"/>
                  <a:gd name="T22" fmla="*/ 83 w 107"/>
                  <a:gd name="T23" fmla="*/ 12 h 49"/>
                  <a:gd name="T24" fmla="*/ 89 w 107"/>
                  <a:gd name="T25" fmla="*/ 9 h 49"/>
                  <a:gd name="T26" fmla="*/ 96 w 107"/>
                  <a:gd name="T27" fmla="*/ 7 h 49"/>
                  <a:gd name="T28" fmla="*/ 101 w 107"/>
                  <a:gd name="T29" fmla="*/ 4 h 49"/>
                  <a:gd name="T30" fmla="*/ 105 w 107"/>
                  <a:gd name="T31" fmla="*/ 2 h 49"/>
                  <a:gd name="T32" fmla="*/ 105 w 107"/>
                  <a:gd name="T33" fmla="*/ 0 h 49"/>
                  <a:gd name="T34" fmla="*/ 103 w 107"/>
                  <a:gd name="T35" fmla="*/ 1 h 49"/>
                  <a:gd name="T36" fmla="*/ 99 w 107"/>
                  <a:gd name="T37" fmla="*/ 3 h 49"/>
                  <a:gd name="T38" fmla="*/ 93 w 107"/>
                  <a:gd name="T39" fmla="*/ 7 h 49"/>
                  <a:gd name="T40" fmla="*/ 86 w 107"/>
                  <a:gd name="T41" fmla="*/ 9 h 49"/>
                  <a:gd name="T42" fmla="*/ 79 w 107"/>
                  <a:gd name="T43" fmla="*/ 12 h 49"/>
                  <a:gd name="T44" fmla="*/ 70 w 107"/>
                  <a:gd name="T45" fmla="*/ 16 h 49"/>
                  <a:gd name="T46" fmla="*/ 62 w 107"/>
                  <a:gd name="T47" fmla="*/ 20 h 49"/>
                  <a:gd name="T48" fmla="*/ 52 w 107"/>
                  <a:gd name="T49" fmla="*/ 24 h 49"/>
                  <a:gd name="T50" fmla="*/ 45 w 107"/>
                  <a:gd name="T51" fmla="*/ 28 h 49"/>
                  <a:gd name="T52" fmla="*/ 35 w 107"/>
                  <a:gd name="T53" fmla="*/ 31 h 49"/>
                  <a:gd name="T54" fmla="*/ 27 w 107"/>
                  <a:gd name="T55" fmla="*/ 35 h 49"/>
                  <a:gd name="T56" fmla="*/ 20 w 107"/>
                  <a:gd name="T57" fmla="*/ 39 h 49"/>
                  <a:gd name="T58" fmla="*/ 12 w 107"/>
                  <a:gd name="T59" fmla="*/ 42 h 49"/>
                  <a:gd name="T60" fmla="*/ 7 w 107"/>
                  <a:gd name="T61" fmla="*/ 44 h 49"/>
                  <a:gd name="T62" fmla="*/ 3 w 107"/>
                  <a:gd name="T63" fmla="*/ 46 h 49"/>
                  <a:gd name="T64" fmla="*/ 0 w 107"/>
                  <a:gd name="T65" fmla="*/ 48 h 4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49"/>
                  <a:gd name="T101" fmla="*/ 107 w 107"/>
                  <a:gd name="T102" fmla="*/ 49 h 4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49">
                    <a:moveTo>
                      <a:pt x="1" y="49"/>
                    </a:moveTo>
                    <a:lnTo>
                      <a:pt x="2" y="48"/>
                    </a:lnTo>
                    <a:lnTo>
                      <a:pt x="4" y="48"/>
                    </a:lnTo>
                    <a:lnTo>
                      <a:pt x="6" y="47"/>
                    </a:lnTo>
                    <a:lnTo>
                      <a:pt x="8" y="46"/>
                    </a:lnTo>
                    <a:lnTo>
                      <a:pt x="10" y="45"/>
                    </a:lnTo>
                    <a:lnTo>
                      <a:pt x="15" y="43"/>
                    </a:lnTo>
                    <a:lnTo>
                      <a:pt x="18" y="42"/>
                    </a:lnTo>
                    <a:lnTo>
                      <a:pt x="21" y="41"/>
                    </a:lnTo>
                    <a:lnTo>
                      <a:pt x="24" y="39"/>
                    </a:lnTo>
                    <a:lnTo>
                      <a:pt x="29" y="37"/>
                    </a:lnTo>
                    <a:lnTo>
                      <a:pt x="32" y="35"/>
                    </a:lnTo>
                    <a:lnTo>
                      <a:pt x="37" y="33"/>
                    </a:lnTo>
                    <a:lnTo>
                      <a:pt x="41" y="31"/>
                    </a:lnTo>
                    <a:lnTo>
                      <a:pt x="46" y="29"/>
                    </a:lnTo>
                    <a:lnTo>
                      <a:pt x="50" y="27"/>
                    </a:lnTo>
                    <a:lnTo>
                      <a:pt x="54" y="25"/>
                    </a:lnTo>
                    <a:lnTo>
                      <a:pt x="58" y="24"/>
                    </a:lnTo>
                    <a:lnTo>
                      <a:pt x="63" y="22"/>
                    </a:lnTo>
                    <a:lnTo>
                      <a:pt x="67" y="19"/>
                    </a:lnTo>
                    <a:lnTo>
                      <a:pt x="71" y="18"/>
                    </a:lnTo>
                    <a:lnTo>
                      <a:pt x="76" y="16"/>
                    </a:lnTo>
                    <a:lnTo>
                      <a:pt x="80" y="14"/>
                    </a:lnTo>
                    <a:lnTo>
                      <a:pt x="83" y="12"/>
                    </a:lnTo>
                    <a:lnTo>
                      <a:pt x="86" y="11"/>
                    </a:lnTo>
                    <a:lnTo>
                      <a:pt x="89" y="9"/>
                    </a:lnTo>
                    <a:lnTo>
                      <a:pt x="93" y="9"/>
                    </a:lnTo>
                    <a:lnTo>
                      <a:pt x="96" y="7"/>
                    </a:lnTo>
                    <a:lnTo>
                      <a:pt x="99" y="4"/>
                    </a:lnTo>
                    <a:lnTo>
                      <a:pt x="101" y="4"/>
                    </a:lnTo>
                    <a:lnTo>
                      <a:pt x="103" y="3"/>
                    </a:lnTo>
                    <a:lnTo>
                      <a:pt x="105" y="2"/>
                    </a:lnTo>
                    <a:lnTo>
                      <a:pt x="107" y="1"/>
                    </a:lnTo>
                    <a:lnTo>
                      <a:pt x="105" y="0"/>
                    </a:lnTo>
                    <a:lnTo>
                      <a:pt x="104" y="0"/>
                    </a:lnTo>
                    <a:lnTo>
                      <a:pt x="103" y="1"/>
                    </a:lnTo>
                    <a:lnTo>
                      <a:pt x="101" y="2"/>
                    </a:lnTo>
                    <a:lnTo>
                      <a:pt x="99" y="3"/>
                    </a:lnTo>
                    <a:lnTo>
                      <a:pt x="96" y="4"/>
                    </a:lnTo>
                    <a:lnTo>
                      <a:pt x="93" y="7"/>
                    </a:lnTo>
                    <a:lnTo>
                      <a:pt x="89" y="7"/>
                    </a:lnTo>
                    <a:lnTo>
                      <a:pt x="86" y="9"/>
                    </a:lnTo>
                    <a:lnTo>
                      <a:pt x="82" y="11"/>
                    </a:lnTo>
                    <a:lnTo>
                      <a:pt x="79" y="12"/>
                    </a:lnTo>
                    <a:lnTo>
                      <a:pt x="73" y="15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0"/>
                    </a:lnTo>
                    <a:lnTo>
                      <a:pt x="57" y="22"/>
                    </a:lnTo>
                    <a:lnTo>
                      <a:pt x="52" y="24"/>
                    </a:lnTo>
                    <a:lnTo>
                      <a:pt x="49" y="26"/>
                    </a:lnTo>
                    <a:lnTo>
                      <a:pt x="45" y="28"/>
                    </a:lnTo>
                    <a:lnTo>
                      <a:pt x="40" y="29"/>
                    </a:lnTo>
                    <a:lnTo>
                      <a:pt x="35" y="31"/>
                    </a:lnTo>
                    <a:lnTo>
                      <a:pt x="32" y="34"/>
                    </a:lnTo>
                    <a:lnTo>
                      <a:pt x="27" y="35"/>
                    </a:lnTo>
                    <a:lnTo>
                      <a:pt x="24" y="37"/>
                    </a:lnTo>
                    <a:lnTo>
                      <a:pt x="20" y="39"/>
                    </a:lnTo>
                    <a:lnTo>
                      <a:pt x="17" y="41"/>
                    </a:lnTo>
                    <a:lnTo>
                      <a:pt x="12" y="42"/>
                    </a:lnTo>
                    <a:lnTo>
                      <a:pt x="10" y="43"/>
                    </a:lnTo>
                    <a:lnTo>
                      <a:pt x="7" y="44"/>
                    </a:lnTo>
                    <a:lnTo>
                      <a:pt x="5" y="45"/>
                    </a:lnTo>
                    <a:lnTo>
                      <a:pt x="3" y="46"/>
                    </a:lnTo>
                    <a:lnTo>
                      <a:pt x="1" y="47"/>
                    </a:lnTo>
                    <a:lnTo>
                      <a:pt x="0" y="48"/>
                    </a:lnTo>
                    <a:lnTo>
                      <a:pt x="1" y="49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35" name="Freeform 952"/>
              <p:cNvSpPr>
                <a:spLocks/>
              </p:cNvSpPr>
              <p:nvPr/>
            </p:nvSpPr>
            <p:spPr bwMode="auto">
              <a:xfrm>
                <a:off x="2998" y="1972"/>
                <a:ext cx="252" cy="110"/>
              </a:xfrm>
              <a:custGeom>
                <a:avLst/>
                <a:gdLst>
                  <a:gd name="T0" fmla="*/ 2 w 252"/>
                  <a:gd name="T1" fmla="*/ 30 h 110"/>
                  <a:gd name="T2" fmla="*/ 1 w 252"/>
                  <a:gd name="T3" fmla="*/ 15 h 110"/>
                  <a:gd name="T4" fmla="*/ 12 w 252"/>
                  <a:gd name="T5" fmla="*/ 0 h 110"/>
                  <a:gd name="T6" fmla="*/ 18 w 252"/>
                  <a:gd name="T7" fmla="*/ 0 h 110"/>
                  <a:gd name="T8" fmla="*/ 34 w 252"/>
                  <a:gd name="T9" fmla="*/ 1 h 110"/>
                  <a:gd name="T10" fmla="*/ 58 w 252"/>
                  <a:gd name="T11" fmla="*/ 2 h 110"/>
                  <a:gd name="T12" fmla="*/ 86 w 252"/>
                  <a:gd name="T13" fmla="*/ 4 h 110"/>
                  <a:gd name="T14" fmla="*/ 118 w 252"/>
                  <a:gd name="T15" fmla="*/ 6 h 110"/>
                  <a:gd name="T16" fmla="*/ 149 w 252"/>
                  <a:gd name="T17" fmla="*/ 10 h 110"/>
                  <a:gd name="T18" fmla="*/ 180 w 252"/>
                  <a:gd name="T19" fmla="*/ 13 h 110"/>
                  <a:gd name="T20" fmla="*/ 208 w 252"/>
                  <a:gd name="T21" fmla="*/ 15 h 110"/>
                  <a:gd name="T22" fmla="*/ 228 w 252"/>
                  <a:gd name="T23" fmla="*/ 17 h 110"/>
                  <a:gd name="T24" fmla="*/ 241 w 252"/>
                  <a:gd name="T25" fmla="*/ 19 h 110"/>
                  <a:gd name="T26" fmla="*/ 245 w 252"/>
                  <a:gd name="T27" fmla="*/ 37 h 110"/>
                  <a:gd name="T28" fmla="*/ 247 w 252"/>
                  <a:gd name="T29" fmla="*/ 57 h 110"/>
                  <a:gd name="T30" fmla="*/ 251 w 252"/>
                  <a:gd name="T31" fmla="*/ 60 h 110"/>
                  <a:gd name="T32" fmla="*/ 251 w 252"/>
                  <a:gd name="T33" fmla="*/ 64 h 110"/>
                  <a:gd name="T34" fmla="*/ 247 w 252"/>
                  <a:gd name="T35" fmla="*/ 66 h 110"/>
                  <a:gd name="T36" fmla="*/ 238 w 252"/>
                  <a:gd name="T37" fmla="*/ 69 h 110"/>
                  <a:gd name="T38" fmla="*/ 230 w 252"/>
                  <a:gd name="T39" fmla="*/ 74 h 110"/>
                  <a:gd name="T40" fmla="*/ 218 w 252"/>
                  <a:gd name="T41" fmla="*/ 78 h 110"/>
                  <a:gd name="T42" fmla="*/ 205 w 252"/>
                  <a:gd name="T43" fmla="*/ 84 h 110"/>
                  <a:gd name="T44" fmla="*/ 193 w 252"/>
                  <a:gd name="T45" fmla="*/ 90 h 110"/>
                  <a:gd name="T46" fmla="*/ 180 w 252"/>
                  <a:gd name="T47" fmla="*/ 94 h 110"/>
                  <a:gd name="T48" fmla="*/ 170 w 252"/>
                  <a:gd name="T49" fmla="*/ 100 h 110"/>
                  <a:gd name="T50" fmla="*/ 159 w 252"/>
                  <a:gd name="T51" fmla="*/ 105 h 110"/>
                  <a:gd name="T52" fmla="*/ 150 w 252"/>
                  <a:gd name="T53" fmla="*/ 108 h 110"/>
                  <a:gd name="T54" fmla="*/ 145 w 252"/>
                  <a:gd name="T55" fmla="*/ 110 h 110"/>
                  <a:gd name="T56" fmla="*/ 141 w 252"/>
                  <a:gd name="T57" fmla="*/ 110 h 110"/>
                  <a:gd name="T58" fmla="*/ 134 w 252"/>
                  <a:gd name="T59" fmla="*/ 108 h 110"/>
                  <a:gd name="T60" fmla="*/ 130 w 252"/>
                  <a:gd name="T61" fmla="*/ 107 h 110"/>
                  <a:gd name="T62" fmla="*/ 124 w 252"/>
                  <a:gd name="T63" fmla="*/ 104 h 110"/>
                  <a:gd name="T64" fmla="*/ 113 w 252"/>
                  <a:gd name="T65" fmla="*/ 97 h 110"/>
                  <a:gd name="T66" fmla="*/ 101 w 252"/>
                  <a:gd name="T67" fmla="*/ 91 h 110"/>
                  <a:gd name="T68" fmla="*/ 87 w 252"/>
                  <a:gd name="T69" fmla="*/ 83 h 110"/>
                  <a:gd name="T70" fmla="*/ 72 w 252"/>
                  <a:gd name="T71" fmla="*/ 75 h 110"/>
                  <a:gd name="T72" fmla="*/ 58 w 252"/>
                  <a:gd name="T73" fmla="*/ 67 h 110"/>
                  <a:gd name="T74" fmla="*/ 44 w 252"/>
                  <a:gd name="T75" fmla="*/ 60 h 110"/>
                  <a:gd name="T76" fmla="*/ 33 w 252"/>
                  <a:gd name="T77" fmla="*/ 53 h 110"/>
                  <a:gd name="T78" fmla="*/ 23 w 252"/>
                  <a:gd name="T79" fmla="*/ 49 h 110"/>
                  <a:gd name="T80" fmla="*/ 18 w 252"/>
                  <a:gd name="T81" fmla="*/ 47 h 110"/>
                  <a:gd name="T82" fmla="*/ 15 w 252"/>
                  <a:gd name="T83" fmla="*/ 44 h 110"/>
                  <a:gd name="T84" fmla="*/ 10 w 252"/>
                  <a:gd name="T85" fmla="*/ 41 h 110"/>
                  <a:gd name="T86" fmla="*/ 5 w 252"/>
                  <a:gd name="T87" fmla="*/ 37 h 11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252"/>
                  <a:gd name="T133" fmla="*/ 0 h 110"/>
                  <a:gd name="T134" fmla="*/ 252 w 252"/>
                  <a:gd name="T135" fmla="*/ 110 h 11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252" h="110">
                    <a:moveTo>
                      <a:pt x="5" y="37"/>
                    </a:moveTo>
                    <a:lnTo>
                      <a:pt x="3" y="34"/>
                    </a:lnTo>
                    <a:lnTo>
                      <a:pt x="2" y="30"/>
                    </a:lnTo>
                    <a:lnTo>
                      <a:pt x="1" y="25"/>
                    </a:lnTo>
                    <a:lnTo>
                      <a:pt x="0" y="20"/>
                    </a:lnTo>
                    <a:lnTo>
                      <a:pt x="1" y="15"/>
                    </a:lnTo>
                    <a:lnTo>
                      <a:pt x="2" y="11"/>
                    </a:lnTo>
                    <a:lnTo>
                      <a:pt x="5" y="4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8" y="1"/>
                    </a:lnTo>
                    <a:lnTo>
                      <a:pt x="34" y="1"/>
                    </a:lnTo>
                    <a:lnTo>
                      <a:pt x="40" y="1"/>
                    </a:lnTo>
                    <a:lnTo>
                      <a:pt x="49" y="2"/>
                    </a:lnTo>
                    <a:lnTo>
                      <a:pt x="58" y="2"/>
                    </a:lnTo>
                    <a:lnTo>
                      <a:pt x="67" y="3"/>
                    </a:lnTo>
                    <a:lnTo>
                      <a:pt x="76" y="3"/>
                    </a:lnTo>
                    <a:lnTo>
                      <a:pt x="86" y="4"/>
                    </a:lnTo>
                    <a:lnTo>
                      <a:pt x="96" y="6"/>
                    </a:lnTo>
                    <a:lnTo>
                      <a:pt x="107" y="6"/>
                    </a:lnTo>
                    <a:lnTo>
                      <a:pt x="118" y="6"/>
                    </a:lnTo>
                    <a:lnTo>
                      <a:pt x="128" y="9"/>
                    </a:lnTo>
                    <a:lnTo>
                      <a:pt x="140" y="10"/>
                    </a:lnTo>
                    <a:lnTo>
                      <a:pt x="149" y="10"/>
                    </a:lnTo>
                    <a:lnTo>
                      <a:pt x="160" y="11"/>
                    </a:lnTo>
                    <a:lnTo>
                      <a:pt x="170" y="12"/>
                    </a:lnTo>
                    <a:lnTo>
                      <a:pt x="180" y="13"/>
                    </a:lnTo>
                    <a:lnTo>
                      <a:pt x="189" y="14"/>
                    </a:lnTo>
                    <a:lnTo>
                      <a:pt x="199" y="14"/>
                    </a:lnTo>
                    <a:lnTo>
                      <a:pt x="208" y="15"/>
                    </a:lnTo>
                    <a:lnTo>
                      <a:pt x="215" y="16"/>
                    </a:lnTo>
                    <a:lnTo>
                      <a:pt x="222" y="16"/>
                    </a:lnTo>
                    <a:lnTo>
                      <a:pt x="228" y="17"/>
                    </a:lnTo>
                    <a:lnTo>
                      <a:pt x="234" y="18"/>
                    </a:lnTo>
                    <a:lnTo>
                      <a:pt x="237" y="18"/>
                    </a:lnTo>
                    <a:lnTo>
                      <a:pt x="241" y="19"/>
                    </a:lnTo>
                    <a:lnTo>
                      <a:pt x="243" y="19"/>
                    </a:lnTo>
                    <a:lnTo>
                      <a:pt x="245" y="29"/>
                    </a:lnTo>
                    <a:lnTo>
                      <a:pt x="245" y="37"/>
                    </a:lnTo>
                    <a:lnTo>
                      <a:pt x="245" y="47"/>
                    </a:lnTo>
                    <a:lnTo>
                      <a:pt x="246" y="56"/>
                    </a:lnTo>
                    <a:lnTo>
                      <a:pt x="247" y="57"/>
                    </a:lnTo>
                    <a:lnTo>
                      <a:pt x="249" y="58"/>
                    </a:lnTo>
                    <a:lnTo>
                      <a:pt x="250" y="60"/>
                    </a:lnTo>
                    <a:lnTo>
                      <a:pt x="251" y="60"/>
                    </a:lnTo>
                    <a:lnTo>
                      <a:pt x="252" y="62"/>
                    </a:lnTo>
                    <a:lnTo>
                      <a:pt x="252" y="63"/>
                    </a:lnTo>
                    <a:lnTo>
                      <a:pt x="251" y="64"/>
                    </a:lnTo>
                    <a:lnTo>
                      <a:pt x="249" y="65"/>
                    </a:lnTo>
                    <a:lnTo>
                      <a:pt x="248" y="66"/>
                    </a:lnTo>
                    <a:lnTo>
                      <a:pt x="247" y="66"/>
                    </a:lnTo>
                    <a:lnTo>
                      <a:pt x="245" y="67"/>
                    </a:lnTo>
                    <a:lnTo>
                      <a:pt x="241" y="68"/>
                    </a:lnTo>
                    <a:lnTo>
                      <a:pt x="238" y="69"/>
                    </a:lnTo>
                    <a:lnTo>
                      <a:pt x="236" y="70"/>
                    </a:lnTo>
                    <a:lnTo>
                      <a:pt x="233" y="72"/>
                    </a:lnTo>
                    <a:lnTo>
                      <a:pt x="230" y="74"/>
                    </a:lnTo>
                    <a:lnTo>
                      <a:pt x="226" y="75"/>
                    </a:lnTo>
                    <a:lnTo>
                      <a:pt x="222" y="77"/>
                    </a:lnTo>
                    <a:lnTo>
                      <a:pt x="218" y="78"/>
                    </a:lnTo>
                    <a:lnTo>
                      <a:pt x="215" y="81"/>
                    </a:lnTo>
                    <a:lnTo>
                      <a:pt x="210" y="81"/>
                    </a:lnTo>
                    <a:lnTo>
                      <a:pt x="205" y="84"/>
                    </a:lnTo>
                    <a:lnTo>
                      <a:pt x="202" y="85"/>
                    </a:lnTo>
                    <a:lnTo>
                      <a:pt x="197" y="88"/>
                    </a:lnTo>
                    <a:lnTo>
                      <a:pt x="193" y="90"/>
                    </a:lnTo>
                    <a:lnTo>
                      <a:pt x="189" y="91"/>
                    </a:lnTo>
                    <a:lnTo>
                      <a:pt x="185" y="93"/>
                    </a:lnTo>
                    <a:lnTo>
                      <a:pt x="180" y="94"/>
                    </a:lnTo>
                    <a:lnTo>
                      <a:pt x="177" y="97"/>
                    </a:lnTo>
                    <a:lnTo>
                      <a:pt x="173" y="99"/>
                    </a:lnTo>
                    <a:lnTo>
                      <a:pt x="170" y="100"/>
                    </a:lnTo>
                    <a:lnTo>
                      <a:pt x="165" y="101"/>
                    </a:lnTo>
                    <a:lnTo>
                      <a:pt x="162" y="104"/>
                    </a:lnTo>
                    <a:lnTo>
                      <a:pt x="159" y="105"/>
                    </a:lnTo>
                    <a:lnTo>
                      <a:pt x="156" y="106"/>
                    </a:lnTo>
                    <a:lnTo>
                      <a:pt x="154" y="107"/>
                    </a:lnTo>
                    <a:lnTo>
                      <a:pt x="150" y="108"/>
                    </a:lnTo>
                    <a:lnTo>
                      <a:pt x="148" y="109"/>
                    </a:lnTo>
                    <a:lnTo>
                      <a:pt x="146" y="109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10"/>
                    </a:lnTo>
                    <a:lnTo>
                      <a:pt x="141" y="110"/>
                    </a:lnTo>
                    <a:lnTo>
                      <a:pt x="140" y="109"/>
                    </a:lnTo>
                    <a:lnTo>
                      <a:pt x="138" y="109"/>
                    </a:lnTo>
                    <a:lnTo>
                      <a:pt x="134" y="108"/>
                    </a:lnTo>
                    <a:lnTo>
                      <a:pt x="132" y="107"/>
                    </a:lnTo>
                    <a:lnTo>
                      <a:pt x="130" y="107"/>
                    </a:lnTo>
                    <a:lnTo>
                      <a:pt x="129" y="106"/>
                    </a:lnTo>
                    <a:lnTo>
                      <a:pt x="127" y="105"/>
                    </a:lnTo>
                    <a:lnTo>
                      <a:pt x="124" y="104"/>
                    </a:lnTo>
                    <a:lnTo>
                      <a:pt x="122" y="101"/>
                    </a:lnTo>
                    <a:lnTo>
                      <a:pt x="118" y="100"/>
                    </a:lnTo>
                    <a:lnTo>
                      <a:pt x="113" y="97"/>
                    </a:lnTo>
                    <a:lnTo>
                      <a:pt x="110" y="95"/>
                    </a:lnTo>
                    <a:lnTo>
                      <a:pt x="106" y="93"/>
                    </a:lnTo>
                    <a:lnTo>
                      <a:pt x="101" y="91"/>
                    </a:lnTo>
                    <a:lnTo>
                      <a:pt x="96" y="89"/>
                    </a:lnTo>
                    <a:lnTo>
                      <a:pt x="92" y="87"/>
                    </a:lnTo>
                    <a:lnTo>
                      <a:pt x="87" y="83"/>
                    </a:lnTo>
                    <a:lnTo>
                      <a:pt x="82" y="81"/>
                    </a:lnTo>
                    <a:lnTo>
                      <a:pt x="77" y="78"/>
                    </a:lnTo>
                    <a:lnTo>
                      <a:pt x="72" y="75"/>
                    </a:lnTo>
                    <a:lnTo>
                      <a:pt x="67" y="73"/>
                    </a:lnTo>
                    <a:lnTo>
                      <a:pt x="63" y="69"/>
                    </a:lnTo>
                    <a:lnTo>
                      <a:pt x="58" y="67"/>
                    </a:lnTo>
                    <a:lnTo>
                      <a:pt x="53" y="65"/>
                    </a:lnTo>
                    <a:lnTo>
                      <a:pt x="49" y="63"/>
                    </a:lnTo>
                    <a:lnTo>
                      <a:pt x="44" y="60"/>
                    </a:lnTo>
                    <a:lnTo>
                      <a:pt x="39" y="58"/>
                    </a:lnTo>
                    <a:lnTo>
                      <a:pt x="36" y="56"/>
                    </a:lnTo>
                    <a:lnTo>
                      <a:pt x="33" y="53"/>
                    </a:lnTo>
                    <a:lnTo>
                      <a:pt x="30" y="52"/>
                    </a:lnTo>
                    <a:lnTo>
                      <a:pt x="25" y="50"/>
                    </a:lnTo>
                    <a:lnTo>
                      <a:pt x="23" y="49"/>
                    </a:lnTo>
                    <a:lnTo>
                      <a:pt x="21" y="48"/>
                    </a:lnTo>
                    <a:lnTo>
                      <a:pt x="19" y="47"/>
                    </a:lnTo>
                    <a:lnTo>
                      <a:pt x="18" y="47"/>
                    </a:lnTo>
                    <a:lnTo>
                      <a:pt x="17" y="46"/>
                    </a:lnTo>
                    <a:lnTo>
                      <a:pt x="16" y="44"/>
                    </a:lnTo>
                    <a:lnTo>
                      <a:pt x="15" y="44"/>
                    </a:lnTo>
                    <a:lnTo>
                      <a:pt x="13" y="44"/>
                    </a:lnTo>
                    <a:lnTo>
                      <a:pt x="12" y="42"/>
                    </a:lnTo>
                    <a:lnTo>
                      <a:pt x="10" y="41"/>
                    </a:lnTo>
                    <a:lnTo>
                      <a:pt x="8" y="40"/>
                    </a:lnTo>
                    <a:lnTo>
                      <a:pt x="6" y="38"/>
                    </a:lnTo>
                    <a:lnTo>
                      <a:pt x="5" y="37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36" name="Freeform 953"/>
              <p:cNvSpPr>
                <a:spLocks/>
              </p:cNvSpPr>
              <p:nvPr/>
            </p:nvSpPr>
            <p:spPr bwMode="auto">
              <a:xfrm>
                <a:off x="2997" y="1972"/>
                <a:ext cx="14" cy="37"/>
              </a:xfrm>
              <a:custGeom>
                <a:avLst/>
                <a:gdLst>
                  <a:gd name="T0" fmla="*/ 13 w 14"/>
                  <a:gd name="T1" fmla="*/ 0 h 37"/>
                  <a:gd name="T2" fmla="*/ 13 w 14"/>
                  <a:gd name="T3" fmla="*/ 0 h 37"/>
                  <a:gd name="T4" fmla="*/ 6 w 14"/>
                  <a:gd name="T5" fmla="*/ 4 h 37"/>
                  <a:gd name="T6" fmla="*/ 2 w 14"/>
                  <a:gd name="T7" fmla="*/ 10 h 37"/>
                  <a:gd name="T8" fmla="*/ 0 w 14"/>
                  <a:gd name="T9" fmla="*/ 15 h 37"/>
                  <a:gd name="T10" fmla="*/ 0 w 14"/>
                  <a:gd name="T11" fmla="*/ 20 h 37"/>
                  <a:gd name="T12" fmla="*/ 0 w 14"/>
                  <a:gd name="T13" fmla="*/ 25 h 37"/>
                  <a:gd name="T14" fmla="*/ 2 w 14"/>
                  <a:gd name="T15" fmla="*/ 31 h 37"/>
                  <a:gd name="T16" fmla="*/ 4 w 14"/>
                  <a:gd name="T17" fmla="*/ 34 h 37"/>
                  <a:gd name="T18" fmla="*/ 6 w 14"/>
                  <a:gd name="T19" fmla="*/ 37 h 37"/>
                  <a:gd name="T20" fmla="*/ 8 w 14"/>
                  <a:gd name="T21" fmla="*/ 36 h 37"/>
                  <a:gd name="T22" fmla="*/ 6 w 14"/>
                  <a:gd name="T23" fmla="*/ 34 h 37"/>
                  <a:gd name="T24" fmla="*/ 4 w 14"/>
                  <a:gd name="T25" fmla="*/ 29 h 37"/>
                  <a:gd name="T26" fmla="*/ 2 w 14"/>
                  <a:gd name="T27" fmla="*/ 25 h 37"/>
                  <a:gd name="T28" fmla="*/ 2 w 14"/>
                  <a:gd name="T29" fmla="*/ 20 h 37"/>
                  <a:gd name="T30" fmla="*/ 2 w 14"/>
                  <a:gd name="T31" fmla="*/ 15 h 37"/>
                  <a:gd name="T32" fmla="*/ 4 w 14"/>
                  <a:gd name="T33" fmla="*/ 11 h 37"/>
                  <a:gd name="T34" fmla="*/ 8 w 14"/>
                  <a:gd name="T35" fmla="*/ 6 h 37"/>
                  <a:gd name="T36" fmla="*/ 14 w 14"/>
                  <a:gd name="T37" fmla="*/ 1 h 37"/>
                  <a:gd name="T38" fmla="*/ 13 w 14"/>
                  <a:gd name="T39" fmla="*/ 0 h 3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4"/>
                  <a:gd name="T61" fmla="*/ 0 h 37"/>
                  <a:gd name="T62" fmla="*/ 14 w 14"/>
                  <a:gd name="T63" fmla="*/ 37 h 3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4" h="37">
                    <a:moveTo>
                      <a:pt x="13" y="0"/>
                    </a:moveTo>
                    <a:lnTo>
                      <a:pt x="13" y="0"/>
                    </a:lnTo>
                    <a:lnTo>
                      <a:pt x="6" y="4"/>
                    </a:lnTo>
                    <a:lnTo>
                      <a:pt x="2" y="10"/>
                    </a:lnTo>
                    <a:lnTo>
                      <a:pt x="0" y="15"/>
                    </a:lnTo>
                    <a:lnTo>
                      <a:pt x="0" y="20"/>
                    </a:lnTo>
                    <a:lnTo>
                      <a:pt x="0" y="25"/>
                    </a:lnTo>
                    <a:lnTo>
                      <a:pt x="2" y="31"/>
                    </a:lnTo>
                    <a:lnTo>
                      <a:pt x="4" y="34"/>
                    </a:lnTo>
                    <a:lnTo>
                      <a:pt x="6" y="37"/>
                    </a:lnTo>
                    <a:lnTo>
                      <a:pt x="8" y="36"/>
                    </a:lnTo>
                    <a:lnTo>
                      <a:pt x="6" y="34"/>
                    </a:lnTo>
                    <a:lnTo>
                      <a:pt x="4" y="29"/>
                    </a:lnTo>
                    <a:lnTo>
                      <a:pt x="2" y="25"/>
                    </a:lnTo>
                    <a:lnTo>
                      <a:pt x="2" y="20"/>
                    </a:lnTo>
                    <a:lnTo>
                      <a:pt x="2" y="15"/>
                    </a:lnTo>
                    <a:lnTo>
                      <a:pt x="4" y="11"/>
                    </a:lnTo>
                    <a:lnTo>
                      <a:pt x="8" y="6"/>
                    </a:lnTo>
                    <a:lnTo>
                      <a:pt x="14" y="1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37" name="Freeform 954"/>
              <p:cNvSpPr>
                <a:spLocks/>
              </p:cNvSpPr>
              <p:nvPr/>
            </p:nvSpPr>
            <p:spPr bwMode="auto">
              <a:xfrm>
                <a:off x="3010" y="1971"/>
                <a:ext cx="231" cy="21"/>
              </a:xfrm>
              <a:custGeom>
                <a:avLst/>
                <a:gdLst>
                  <a:gd name="T0" fmla="*/ 231 w 231"/>
                  <a:gd name="T1" fmla="*/ 21 h 21"/>
                  <a:gd name="T2" fmla="*/ 228 w 231"/>
                  <a:gd name="T3" fmla="*/ 19 h 21"/>
                  <a:gd name="T4" fmla="*/ 221 w 231"/>
                  <a:gd name="T5" fmla="*/ 18 h 21"/>
                  <a:gd name="T6" fmla="*/ 210 w 231"/>
                  <a:gd name="T7" fmla="*/ 17 h 21"/>
                  <a:gd name="T8" fmla="*/ 195 w 231"/>
                  <a:gd name="T9" fmla="*/ 15 h 21"/>
                  <a:gd name="T10" fmla="*/ 178 w 231"/>
                  <a:gd name="T11" fmla="*/ 13 h 21"/>
                  <a:gd name="T12" fmla="*/ 158 w 231"/>
                  <a:gd name="T13" fmla="*/ 11 h 21"/>
                  <a:gd name="T14" fmla="*/ 137 w 231"/>
                  <a:gd name="T15" fmla="*/ 11 h 21"/>
                  <a:gd name="T16" fmla="*/ 116 w 231"/>
                  <a:gd name="T17" fmla="*/ 7 h 21"/>
                  <a:gd name="T18" fmla="*/ 96 w 231"/>
                  <a:gd name="T19" fmla="*/ 5 h 21"/>
                  <a:gd name="T20" fmla="*/ 74 w 231"/>
                  <a:gd name="T21" fmla="*/ 4 h 21"/>
                  <a:gd name="T22" fmla="*/ 55 w 231"/>
                  <a:gd name="T23" fmla="*/ 3 h 21"/>
                  <a:gd name="T24" fmla="*/ 38 w 231"/>
                  <a:gd name="T25" fmla="*/ 2 h 21"/>
                  <a:gd name="T26" fmla="*/ 22 w 231"/>
                  <a:gd name="T27" fmla="*/ 1 h 21"/>
                  <a:gd name="T28" fmla="*/ 10 w 231"/>
                  <a:gd name="T29" fmla="*/ 0 h 21"/>
                  <a:gd name="T30" fmla="*/ 3 w 231"/>
                  <a:gd name="T31" fmla="*/ 0 h 21"/>
                  <a:gd name="T32" fmla="*/ 0 w 231"/>
                  <a:gd name="T33" fmla="*/ 0 h 21"/>
                  <a:gd name="T34" fmla="*/ 3 w 231"/>
                  <a:gd name="T35" fmla="*/ 2 h 21"/>
                  <a:gd name="T36" fmla="*/ 10 w 231"/>
                  <a:gd name="T37" fmla="*/ 2 h 21"/>
                  <a:gd name="T38" fmla="*/ 22 w 231"/>
                  <a:gd name="T39" fmla="*/ 3 h 21"/>
                  <a:gd name="T40" fmla="*/ 38 w 231"/>
                  <a:gd name="T41" fmla="*/ 3 h 21"/>
                  <a:gd name="T42" fmla="*/ 55 w 231"/>
                  <a:gd name="T43" fmla="*/ 4 h 21"/>
                  <a:gd name="T44" fmla="*/ 74 w 231"/>
                  <a:gd name="T45" fmla="*/ 6 h 21"/>
                  <a:gd name="T46" fmla="*/ 96 w 231"/>
                  <a:gd name="T47" fmla="*/ 7 h 21"/>
                  <a:gd name="T48" fmla="*/ 116 w 231"/>
                  <a:gd name="T49" fmla="*/ 11 h 21"/>
                  <a:gd name="T50" fmla="*/ 137 w 231"/>
                  <a:gd name="T51" fmla="*/ 11 h 21"/>
                  <a:gd name="T52" fmla="*/ 158 w 231"/>
                  <a:gd name="T53" fmla="*/ 13 h 21"/>
                  <a:gd name="T54" fmla="*/ 178 w 231"/>
                  <a:gd name="T55" fmla="*/ 15 h 21"/>
                  <a:gd name="T56" fmla="*/ 195 w 231"/>
                  <a:gd name="T57" fmla="*/ 17 h 21"/>
                  <a:gd name="T58" fmla="*/ 210 w 231"/>
                  <a:gd name="T59" fmla="*/ 18 h 21"/>
                  <a:gd name="T60" fmla="*/ 221 w 231"/>
                  <a:gd name="T61" fmla="*/ 20 h 21"/>
                  <a:gd name="T62" fmla="*/ 228 w 231"/>
                  <a:gd name="T63" fmla="*/ 21 h 21"/>
                  <a:gd name="T64" fmla="*/ 231 w 231"/>
                  <a:gd name="T65" fmla="*/ 21 h 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31"/>
                  <a:gd name="T100" fmla="*/ 0 h 21"/>
                  <a:gd name="T101" fmla="*/ 231 w 231"/>
                  <a:gd name="T102" fmla="*/ 21 h 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31" h="21">
                    <a:moveTo>
                      <a:pt x="231" y="21"/>
                    </a:moveTo>
                    <a:lnTo>
                      <a:pt x="231" y="21"/>
                    </a:lnTo>
                    <a:lnTo>
                      <a:pt x="230" y="19"/>
                    </a:lnTo>
                    <a:lnTo>
                      <a:pt x="228" y="19"/>
                    </a:lnTo>
                    <a:lnTo>
                      <a:pt x="225" y="18"/>
                    </a:lnTo>
                    <a:lnTo>
                      <a:pt x="221" y="18"/>
                    </a:lnTo>
                    <a:lnTo>
                      <a:pt x="215" y="17"/>
                    </a:lnTo>
                    <a:lnTo>
                      <a:pt x="210" y="17"/>
                    </a:lnTo>
                    <a:lnTo>
                      <a:pt x="202" y="16"/>
                    </a:lnTo>
                    <a:lnTo>
                      <a:pt x="195" y="15"/>
                    </a:lnTo>
                    <a:lnTo>
                      <a:pt x="187" y="13"/>
                    </a:lnTo>
                    <a:lnTo>
                      <a:pt x="178" y="13"/>
                    </a:lnTo>
                    <a:lnTo>
                      <a:pt x="167" y="13"/>
                    </a:lnTo>
                    <a:lnTo>
                      <a:pt x="158" y="11"/>
                    </a:lnTo>
                    <a:lnTo>
                      <a:pt x="148" y="11"/>
                    </a:lnTo>
                    <a:lnTo>
                      <a:pt x="137" y="11"/>
                    </a:lnTo>
                    <a:lnTo>
                      <a:pt x="127" y="8"/>
                    </a:lnTo>
                    <a:lnTo>
                      <a:pt x="116" y="7"/>
                    </a:lnTo>
                    <a:lnTo>
                      <a:pt x="106" y="6"/>
                    </a:lnTo>
                    <a:lnTo>
                      <a:pt x="96" y="5"/>
                    </a:lnTo>
                    <a:lnTo>
                      <a:pt x="84" y="5"/>
                    </a:lnTo>
                    <a:lnTo>
                      <a:pt x="74" y="4"/>
                    </a:lnTo>
                    <a:lnTo>
                      <a:pt x="65" y="3"/>
                    </a:lnTo>
                    <a:lnTo>
                      <a:pt x="55" y="3"/>
                    </a:lnTo>
                    <a:lnTo>
                      <a:pt x="46" y="2"/>
                    </a:lnTo>
                    <a:lnTo>
                      <a:pt x="38" y="2"/>
                    </a:lnTo>
                    <a:lnTo>
                      <a:pt x="29" y="1"/>
                    </a:lnTo>
                    <a:lnTo>
                      <a:pt x="22" y="1"/>
                    </a:lnTo>
                    <a:lnTo>
                      <a:pt x="17" y="1"/>
                    </a:lnTo>
                    <a:lnTo>
                      <a:pt x="10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6" y="2"/>
                    </a:lnTo>
                    <a:lnTo>
                      <a:pt x="10" y="2"/>
                    </a:lnTo>
                    <a:lnTo>
                      <a:pt x="17" y="2"/>
                    </a:lnTo>
                    <a:lnTo>
                      <a:pt x="22" y="3"/>
                    </a:lnTo>
                    <a:lnTo>
                      <a:pt x="29" y="3"/>
                    </a:lnTo>
                    <a:lnTo>
                      <a:pt x="38" y="3"/>
                    </a:lnTo>
                    <a:lnTo>
                      <a:pt x="46" y="4"/>
                    </a:lnTo>
                    <a:lnTo>
                      <a:pt x="55" y="4"/>
                    </a:lnTo>
                    <a:lnTo>
                      <a:pt x="65" y="5"/>
                    </a:lnTo>
                    <a:lnTo>
                      <a:pt x="74" y="6"/>
                    </a:lnTo>
                    <a:lnTo>
                      <a:pt x="84" y="6"/>
                    </a:lnTo>
                    <a:lnTo>
                      <a:pt x="96" y="7"/>
                    </a:lnTo>
                    <a:lnTo>
                      <a:pt x="106" y="8"/>
                    </a:lnTo>
                    <a:lnTo>
                      <a:pt x="116" y="11"/>
                    </a:lnTo>
                    <a:lnTo>
                      <a:pt x="127" y="11"/>
                    </a:lnTo>
                    <a:lnTo>
                      <a:pt x="137" y="11"/>
                    </a:lnTo>
                    <a:lnTo>
                      <a:pt x="148" y="13"/>
                    </a:lnTo>
                    <a:lnTo>
                      <a:pt x="158" y="13"/>
                    </a:lnTo>
                    <a:lnTo>
                      <a:pt x="167" y="15"/>
                    </a:lnTo>
                    <a:lnTo>
                      <a:pt x="178" y="15"/>
                    </a:lnTo>
                    <a:lnTo>
                      <a:pt x="187" y="16"/>
                    </a:lnTo>
                    <a:lnTo>
                      <a:pt x="195" y="17"/>
                    </a:lnTo>
                    <a:lnTo>
                      <a:pt x="202" y="18"/>
                    </a:lnTo>
                    <a:lnTo>
                      <a:pt x="210" y="18"/>
                    </a:lnTo>
                    <a:lnTo>
                      <a:pt x="215" y="19"/>
                    </a:lnTo>
                    <a:lnTo>
                      <a:pt x="221" y="20"/>
                    </a:lnTo>
                    <a:lnTo>
                      <a:pt x="225" y="20"/>
                    </a:lnTo>
                    <a:lnTo>
                      <a:pt x="228" y="21"/>
                    </a:lnTo>
                    <a:lnTo>
                      <a:pt x="229" y="21"/>
                    </a:lnTo>
                    <a:lnTo>
                      <a:pt x="231" y="2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38" name="Freeform 955"/>
              <p:cNvSpPr>
                <a:spLocks/>
              </p:cNvSpPr>
              <p:nvPr/>
            </p:nvSpPr>
            <p:spPr bwMode="auto">
              <a:xfrm>
                <a:off x="3239" y="1991"/>
                <a:ext cx="5" cy="38"/>
              </a:xfrm>
              <a:custGeom>
                <a:avLst/>
                <a:gdLst>
                  <a:gd name="T0" fmla="*/ 4 w 5"/>
                  <a:gd name="T1" fmla="*/ 37 h 38"/>
                  <a:gd name="T2" fmla="*/ 5 w 5"/>
                  <a:gd name="T3" fmla="*/ 37 h 38"/>
                  <a:gd name="T4" fmla="*/ 4 w 5"/>
                  <a:gd name="T5" fmla="*/ 28 h 38"/>
                  <a:gd name="T6" fmla="*/ 4 w 5"/>
                  <a:gd name="T7" fmla="*/ 17 h 38"/>
                  <a:gd name="T8" fmla="*/ 2 w 5"/>
                  <a:gd name="T9" fmla="*/ 9 h 38"/>
                  <a:gd name="T10" fmla="*/ 2 w 5"/>
                  <a:gd name="T11" fmla="*/ 0 h 38"/>
                  <a:gd name="T12" fmla="*/ 0 w 5"/>
                  <a:gd name="T13" fmla="*/ 0 h 38"/>
                  <a:gd name="T14" fmla="*/ 0 w 5"/>
                  <a:gd name="T15" fmla="*/ 9 h 38"/>
                  <a:gd name="T16" fmla="*/ 1 w 5"/>
                  <a:gd name="T17" fmla="*/ 17 h 38"/>
                  <a:gd name="T18" fmla="*/ 1 w 5"/>
                  <a:gd name="T19" fmla="*/ 28 h 38"/>
                  <a:gd name="T20" fmla="*/ 2 w 5"/>
                  <a:gd name="T21" fmla="*/ 37 h 38"/>
                  <a:gd name="T22" fmla="*/ 4 w 5"/>
                  <a:gd name="T23" fmla="*/ 38 h 38"/>
                  <a:gd name="T24" fmla="*/ 2 w 5"/>
                  <a:gd name="T25" fmla="*/ 37 h 38"/>
                  <a:gd name="T26" fmla="*/ 2 w 5"/>
                  <a:gd name="T27" fmla="*/ 38 h 38"/>
                  <a:gd name="T28" fmla="*/ 4 w 5"/>
                  <a:gd name="T29" fmla="*/ 38 h 38"/>
                  <a:gd name="T30" fmla="*/ 4 w 5"/>
                  <a:gd name="T31" fmla="*/ 37 h 3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"/>
                  <a:gd name="T49" fmla="*/ 0 h 38"/>
                  <a:gd name="T50" fmla="*/ 5 w 5"/>
                  <a:gd name="T51" fmla="*/ 38 h 3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" h="38">
                    <a:moveTo>
                      <a:pt x="4" y="37"/>
                    </a:moveTo>
                    <a:lnTo>
                      <a:pt x="5" y="37"/>
                    </a:lnTo>
                    <a:lnTo>
                      <a:pt x="4" y="28"/>
                    </a:lnTo>
                    <a:lnTo>
                      <a:pt x="4" y="17"/>
                    </a:lnTo>
                    <a:lnTo>
                      <a:pt x="2" y="9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1" y="17"/>
                    </a:lnTo>
                    <a:lnTo>
                      <a:pt x="1" y="28"/>
                    </a:lnTo>
                    <a:lnTo>
                      <a:pt x="2" y="37"/>
                    </a:lnTo>
                    <a:lnTo>
                      <a:pt x="4" y="38"/>
                    </a:lnTo>
                    <a:lnTo>
                      <a:pt x="2" y="37"/>
                    </a:lnTo>
                    <a:lnTo>
                      <a:pt x="2" y="38"/>
                    </a:lnTo>
                    <a:lnTo>
                      <a:pt x="4" y="38"/>
                    </a:lnTo>
                    <a:lnTo>
                      <a:pt x="4" y="37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39" name="Freeform 956"/>
              <p:cNvSpPr>
                <a:spLocks/>
              </p:cNvSpPr>
              <p:nvPr/>
            </p:nvSpPr>
            <p:spPr bwMode="auto">
              <a:xfrm>
                <a:off x="3241" y="2026"/>
                <a:ext cx="9" cy="11"/>
              </a:xfrm>
              <a:custGeom>
                <a:avLst/>
                <a:gdLst>
                  <a:gd name="T0" fmla="*/ 5 w 9"/>
                  <a:gd name="T1" fmla="*/ 11 h 11"/>
                  <a:gd name="T2" fmla="*/ 5 w 9"/>
                  <a:gd name="T3" fmla="*/ 11 h 11"/>
                  <a:gd name="T4" fmla="*/ 8 w 9"/>
                  <a:gd name="T5" fmla="*/ 10 h 11"/>
                  <a:gd name="T6" fmla="*/ 9 w 9"/>
                  <a:gd name="T7" fmla="*/ 8 h 11"/>
                  <a:gd name="T8" fmla="*/ 9 w 9"/>
                  <a:gd name="T9" fmla="*/ 7 h 11"/>
                  <a:gd name="T10" fmla="*/ 8 w 9"/>
                  <a:gd name="T11" fmla="*/ 5 h 11"/>
                  <a:gd name="T12" fmla="*/ 7 w 9"/>
                  <a:gd name="T13" fmla="*/ 4 h 11"/>
                  <a:gd name="T14" fmla="*/ 5 w 9"/>
                  <a:gd name="T15" fmla="*/ 3 h 11"/>
                  <a:gd name="T16" fmla="*/ 3 w 9"/>
                  <a:gd name="T17" fmla="*/ 2 h 11"/>
                  <a:gd name="T18" fmla="*/ 2 w 9"/>
                  <a:gd name="T19" fmla="*/ 0 h 11"/>
                  <a:gd name="T20" fmla="*/ 0 w 9"/>
                  <a:gd name="T21" fmla="*/ 2 h 11"/>
                  <a:gd name="T22" fmla="*/ 2 w 9"/>
                  <a:gd name="T23" fmla="*/ 3 h 11"/>
                  <a:gd name="T24" fmla="*/ 4 w 9"/>
                  <a:gd name="T25" fmla="*/ 4 h 11"/>
                  <a:gd name="T26" fmla="*/ 5 w 9"/>
                  <a:gd name="T27" fmla="*/ 5 h 11"/>
                  <a:gd name="T28" fmla="*/ 7 w 9"/>
                  <a:gd name="T29" fmla="*/ 6 h 11"/>
                  <a:gd name="T30" fmla="*/ 7 w 9"/>
                  <a:gd name="T31" fmla="*/ 7 h 11"/>
                  <a:gd name="T32" fmla="*/ 7 w 9"/>
                  <a:gd name="T33" fmla="*/ 8 h 11"/>
                  <a:gd name="T34" fmla="*/ 4 w 9"/>
                  <a:gd name="T35" fmla="*/ 10 h 11"/>
                  <a:gd name="T36" fmla="*/ 5 w 9"/>
                  <a:gd name="T37" fmla="*/ 11 h 1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11"/>
                  <a:gd name="T59" fmla="*/ 9 w 9"/>
                  <a:gd name="T60" fmla="*/ 11 h 1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11">
                    <a:moveTo>
                      <a:pt x="5" y="11"/>
                    </a:moveTo>
                    <a:lnTo>
                      <a:pt x="5" y="11"/>
                    </a:lnTo>
                    <a:lnTo>
                      <a:pt x="8" y="10"/>
                    </a:lnTo>
                    <a:lnTo>
                      <a:pt x="9" y="8"/>
                    </a:lnTo>
                    <a:lnTo>
                      <a:pt x="9" y="7"/>
                    </a:lnTo>
                    <a:lnTo>
                      <a:pt x="8" y="5"/>
                    </a:lnTo>
                    <a:lnTo>
                      <a:pt x="7" y="4"/>
                    </a:lnTo>
                    <a:lnTo>
                      <a:pt x="5" y="3"/>
                    </a:lnTo>
                    <a:lnTo>
                      <a:pt x="3" y="2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2" y="3"/>
                    </a:lnTo>
                    <a:lnTo>
                      <a:pt x="4" y="4"/>
                    </a:lnTo>
                    <a:lnTo>
                      <a:pt x="5" y="5"/>
                    </a:lnTo>
                    <a:lnTo>
                      <a:pt x="7" y="6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4" y="10"/>
                    </a:lnTo>
                    <a:lnTo>
                      <a:pt x="5" y="1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40" name="Freeform 957"/>
              <p:cNvSpPr>
                <a:spLocks/>
              </p:cNvSpPr>
              <p:nvPr/>
            </p:nvSpPr>
            <p:spPr bwMode="auto">
              <a:xfrm>
                <a:off x="3143" y="2037"/>
                <a:ext cx="103" cy="46"/>
              </a:xfrm>
              <a:custGeom>
                <a:avLst/>
                <a:gdLst>
                  <a:gd name="T0" fmla="*/ 1 w 103"/>
                  <a:gd name="T1" fmla="*/ 46 h 46"/>
                  <a:gd name="T2" fmla="*/ 3 w 103"/>
                  <a:gd name="T3" fmla="*/ 45 h 46"/>
                  <a:gd name="T4" fmla="*/ 9 w 103"/>
                  <a:gd name="T5" fmla="*/ 43 h 46"/>
                  <a:gd name="T6" fmla="*/ 14 w 103"/>
                  <a:gd name="T7" fmla="*/ 41 h 46"/>
                  <a:gd name="T8" fmla="*/ 20 w 103"/>
                  <a:gd name="T9" fmla="*/ 38 h 46"/>
                  <a:gd name="T10" fmla="*/ 27 w 103"/>
                  <a:gd name="T11" fmla="*/ 35 h 46"/>
                  <a:gd name="T12" fmla="*/ 35 w 103"/>
                  <a:gd name="T13" fmla="*/ 31 h 46"/>
                  <a:gd name="T14" fmla="*/ 44 w 103"/>
                  <a:gd name="T15" fmla="*/ 27 h 46"/>
                  <a:gd name="T16" fmla="*/ 52 w 103"/>
                  <a:gd name="T17" fmla="*/ 24 h 46"/>
                  <a:gd name="T18" fmla="*/ 61 w 103"/>
                  <a:gd name="T19" fmla="*/ 20 h 46"/>
                  <a:gd name="T20" fmla="*/ 70 w 103"/>
                  <a:gd name="T21" fmla="*/ 17 h 46"/>
                  <a:gd name="T22" fmla="*/ 77 w 103"/>
                  <a:gd name="T23" fmla="*/ 13 h 46"/>
                  <a:gd name="T24" fmla="*/ 83 w 103"/>
                  <a:gd name="T25" fmla="*/ 11 h 46"/>
                  <a:gd name="T26" fmla="*/ 90 w 103"/>
                  <a:gd name="T27" fmla="*/ 7 h 46"/>
                  <a:gd name="T28" fmla="*/ 96 w 103"/>
                  <a:gd name="T29" fmla="*/ 4 h 46"/>
                  <a:gd name="T30" fmla="*/ 100 w 103"/>
                  <a:gd name="T31" fmla="*/ 3 h 46"/>
                  <a:gd name="T32" fmla="*/ 103 w 103"/>
                  <a:gd name="T33" fmla="*/ 1 h 46"/>
                  <a:gd name="T34" fmla="*/ 101 w 103"/>
                  <a:gd name="T35" fmla="*/ 0 h 46"/>
                  <a:gd name="T36" fmla="*/ 97 w 103"/>
                  <a:gd name="T37" fmla="*/ 2 h 46"/>
                  <a:gd name="T38" fmla="*/ 92 w 103"/>
                  <a:gd name="T39" fmla="*/ 4 h 46"/>
                  <a:gd name="T40" fmla="*/ 86 w 103"/>
                  <a:gd name="T41" fmla="*/ 7 h 46"/>
                  <a:gd name="T42" fmla="*/ 79 w 103"/>
                  <a:gd name="T43" fmla="*/ 11 h 46"/>
                  <a:gd name="T44" fmla="*/ 72 w 103"/>
                  <a:gd name="T45" fmla="*/ 13 h 46"/>
                  <a:gd name="T46" fmla="*/ 64 w 103"/>
                  <a:gd name="T47" fmla="*/ 17 h 46"/>
                  <a:gd name="T48" fmla="*/ 56 w 103"/>
                  <a:gd name="T49" fmla="*/ 20 h 46"/>
                  <a:gd name="T50" fmla="*/ 47 w 103"/>
                  <a:gd name="T51" fmla="*/ 24 h 46"/>
                  <a:gd name="T52" fmla="*/ 39 w 103"/>
                  <a:gd name="T53" fmla="*/ 28 h 46"/>
                  <a:gd name="T54" fmla="*/ 31 w 103"/>
                  <a:gd name="T55" fmla="*/ 31 h 46"/>
                  <a:gd name="T56" fmla="*/ 23 w 103"/>
                  <a:gd name="T57" fmla="*/ 35 h 46"/>
                  <a:gd name="T58" fmla="*/ 16 w 103"/>
                  <a:gd name="T59" fmla="*/ 38 h 46"/>
                  <a:gd name="T60" fmla="*/ 11 w 103"/>
                  <a:gd name="T61" fmla="*/ 41 h 46"/>
                  <a:gd name="T62" fmla="*/ 5 w 103"/>
                  <a:gd name="T63" fmla="*/ 43 h 46"/>
                  <a:gd name="T64" fmla="*/ 1 w 103"/>
                  <a:gd name="T65" fmla="*/ 44 h 46"/>
                  <a:gd name="T66" fmla="*/ 1 w 103"/>
                  <a:gd name="T67" fmla="*/ 46 h 4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6"/>
                  <a:gd name="T104" fmla="*/ 103 w 103"/>
                  <a:gd name="T105" fmla="*/ 46 h 4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6">
                    <a:moveTo>
                      <a:pt x="1" y="46"/>
                    </a:moveTo>
                    <a:lnTo>
                      <a:pt x="1" y="46"/>
                    </a:lnTo>
                    <a:lnTo>
                      <a:pt x="2" y="45"/>
                    </a:lnTo>
                    <a:lnTo>
                      <a:pt x="3" y="45"/>
                    </a:lnTo>
                    <a:lnTo>
                      <a:pt x="5" y="44"/>
                    </a:lnTo>
                    <a:lnTo>
                      <a:pt x="9" y="43"/>
                    </a:lnTo>
                    <a:lnTo>
                      <a:pt x="12" y="42"/>
                    </a:lnTo>
                    <a:lnTo>
                      <a:pt x="14" y="41"/>
                    </a:lnTo>
                    <a:lnTo>
                      <a:pt x="17" y="40"/>
                    </a:lnTo>
                    <a:lnTo>
                      <a:pt x="20" y="38"/>
                    </a:lnTo>
                    <a:lnTo>
                      <a:pt x="24" y="35"/>
                    </a:lnTo>
                    <a:lnTo>
                      <a:pt x="27" y="35"/>
                    </a:lnTo>
                    <a:lnTo>
                      <a:pt x="31" y="32"/>
                    </a:lnTo>
                    <a:lnTo>
                      <a:pt x="35" y="31"/>
                    </a:lnTo>
                    <a:lnTo>
                      <a:pt x="40" y="29"/>
                    </a:lnTo>
                    <a:lnTo>
                      <a:pt x="44" y="27"/>
                    </a:lnTo>
                    <a:lnTo>
                      <a:pt x="47" y="26"/>
                    </a:lnTo>
                    <a:lnTo>
                      <a:pt x="52" y="24"/>
                    </a:lnTo>
                    <a:lnTo>
                      <a:pt x="57" y="23"/>
                    </a:lnTo>
                    <a:lnTo>
                      <a:pt x="61" y="20"/>
                    </a:lnTo>
                    <a:lnTo>
                      <a:pt x="64" y="18"/>
                    </a:lnTo>
                    <a:lnTo>
                      <a:pt x="70" y="17"/>
                    </a:lnTo>
                    <a:lnTo>
                      <a:pt x="73" y="15"/>
                    </a:lnTo>
                    <a:lnTo>
                      <a:pt x="77" y="13"/>
                    </a:lnTo>
                    <a:lnTo>
                      <a:pt x="80" y="11"/>
                    </a:lnTo>
                    <a:lnTo>
                      <a:pt x="83" y="11"/>
                    </a:lnTo>
                    <a:lnTo>
                      <a:pt x="87" y="9"/>
                    </a:lnTo>
                    <a:lnTo>
                      <a:pt x="90" y="7"/>
                    </a:lnTo>
                    <a:lnTo>
                      <a:pt x="92" y="5"/>
                    </a:lnTo>
                    <a:lnTo>
                      <a:pt x="96" y="4"/>
                    </a:lnTo>
                    <a:lnTo>
                      <a:pt x="98" y="3"/>
                    </a:lnTo>
                    <a:lnTo>
                      <a:pt x="100" y="3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100" y="1"/>
                    </a:lnTo>
                    <a:lnTo>
                      <a:pt x="97" y="2"/>
                    </a:lnTo>
                    <a:lnTo>
                      <a:pt x="95" y="3"/>
                    </a:lnTo>
                    <a:lnTo>
                      <a:pt x="92" y="4"/>
                    </a:lnTo>
                    <a:lnTo>
                      <a:pt x="89" y="5"/>
                    </a:lnTo>
                    <a:lnTo>
                      <a:pt x="86" y="7"/>
                    </a:lnTo>
                    <a:lnTo>
                      <a:pt x="82" y="8"/>
                    </a:lnTo>
                    <a:lnTo>
                      <a:pt x="79" y="11"/>
                    </a:lnTo>
                    <a:lnTo>
                      <a:pt x="76" y="11"/>
                    </a:lnTo>
                    <a:lnTo>
                      <a:pt x="72" y="13"/>
                    </a:lnTo>
                    <a:lnTo>
                      <a:pt x="67" y="15"/>
                    </a:lnTo>
                    <a:lnTo>
                      <a:pt x="64" y="17"/>
                    </a:lnTo>
                    <a:lnTo>
                      <a:pt x="60" y="18"/>
                    </a:lnTo>
                    <a:lnTo>
                      <a:pt x="56" y="20"/>
                    </a:lnTo>
                    <a:lnTo>
                      <a:pt x="52" y="23"/>
                    </a:lnTo>
                    <a:lnTo>
                      <a:pt x="47" y="24"/>
                    </a:lnTo>
                    <a:lnTo>
                      <a:pt x="43" y="26"/>
                    </a:lnTo>
                    <a:lnTo>
                      <a:pt x="39" y="28"/>
                    </a:lnTo>
                    <a:lnTo>
                      <a:pt x="35" y="29"/>
                    </a:lnTo>
                    <a:lnTo>
                      <a:pt x="31" y="31"/>
                    </a:lnTo>
                    <a:lnTo>
                      <a:pt x="27" y="32"/>
                    </a:lnTo>
                    <a:lnTo>
                      <a:pt x="23" y="35"/>
                    </a:lnTo>
                    <a:lnTo>
                      <a:pt x="19" y="35"/>
                    </a:lnTo>
                    <a:lnTo>
                      <a:pt x="16" y="38"/>
                    </a:lnTo>
                    <a:lnTo>
                      <a:pt x="14" y="39"/>
                    </a:lnTo>
                    <a:lnTo>
                      <a:pt x="11" y="41"/>
                    </a:lnTo>
                    <a:lnTo>
                      <a:pt x="9" y="42"/>
                    </a:lnTo>
                    <a:lnTo>
                      <a:pt x="5" y="43"/>
                    </a:lnTo>
                    <a:lnTo>
                      <a:pt x="3" y="43"/>
                    </a:lnTo>
                    <a:lnTo>
                      <a:pt x="1" y="44"/>
                    </a:lnTo>
                    <a:lnTo>
                      <a:pt x="0" y="44"/>
                    </a:lnTo>
                    <a:lnTo>
                      <a:pt x="1" y="4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41" name="Freeform 958"/>
              <p:cNvSpPr>
                <a:spLocks/>
              </p:cNvSpPr>
              <p:nvPr/>
            </p:nvSpPr>
            <p:spPr bwMode="auto">
              <a:xfrm>
                <a:off x="3129" y="2078"/>
                <a:ext cx="14" cy="5"/>
              </a:xfrm>
              <a:custGeom>
                <a:avLst/>
                <a:gdLst>
                  <a:gd name="T0" fmla="*/ 0 w 14"/>
                  <a:gd name="T1" fmla="*/ 1 h 5"/>
                  <a:gd name="T2" fmla="*/ 0 w 14"/>
                  <a:gd name="T3" fmla="*/ 1 h 5"/>
                  <a:gd name="T4" fmla="*/ 1 w 14"/>
                  <a:gd name="T5" fmla="*/ 3 h 5"/>
                  <a:gd name="T6" fmla="*/ 3 w 14"/>
                  <a:gd name="T7" fmla="*/ 3 h 5"/>
                  <a:gd name="T8" fmla="*/ 7 w 14"/>
                  <a:gd name="T9" fmla="*/ 4 h 5"/>
                  <a:gd name="T10" fmla="*/ 7 w 14"/>
                  <a:gd name="T11" fmla="*/ 4 h 5"/>
                  <a:gd name="T12" fmla="*/ 10 w 14"/>
                  <a:gd name="T13" fmla="*/ 5 h 5"/>
                  <a:gd name="T14" fmla="*/ 11 w 14"/>
                  <a:gd name="T15" fmla="*/ 5 h 5"/>
                  <a:gd name="T16" fmla="*/ 13 w 14"/>
                  <a:gd name="T17" fmla="*/ 5 h 5"/>
                  <a:gd name="T18" fmla="*/ 14 w 14"/>
                  <a:gd name="T19" fmla="*/ 5 h 5"/>
                  <a:gd name="T20" fmla="*/ 13 w 14"/>
                  <a:gd name="T21" fmla="*/ 3 h 5"/>
                  <a:gd name="T22" fmla="*/ 11 w 14"/>
                  <a:gd name="T23" fmla="*/ 3 h 5"/>
                  <a:gd name="T24" fmla="*/ 10 w 14"/>
                  <a:gd name="T25" fmla="*/ 3 h 5"/>
                  <a:gd name="T26" fmla="*/ 9 w 14"/>
                  <a:gd name="T27" fmla="*/ 3 h 5"/>
                  <a:gd name="T28" fmla="*/ 7 w 14"/>
                  <a:gd name="T29" fmla="*/ 3 h 5"/>
                  <a:gd name="T30" fmla="*/ 3 w 14"/>
                  <a:gd name="T31" fmla="*/ 1 h 5"/>
                  <a:gd name="T32" fmla="*/ 2 w 14"/>
                  <a:gd name="T33" fmla="*/ 1 h 5"/>
                  <a:gd name="T34" fmla="*/ 1 w 14"/>
                  <a:gd name="T35" fmla="*/ 0 h 5"/>
                  <a:gd name="T36" fmla="*/ 0 w 14"/>
                  <a:gd name="T37" fmla="*/ 1 h 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5"/>
                  <a:gd name="T59" fmla="*/ 14 w 14"/>
                  <a:gd name="T60" fmla="*/ 5 h 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5">
                    <a:moveTo>
                      <a:pt x="0" y="1"/>
                    </a:moveTo>
                    <a:lnTo>
                      <a:pt x="0" y="1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7" y="4"/>
                    </a:lnTo>
                    <a:lnTo>
                      <a:pt x="10" y="5"/>
                    </a:lnTo>
                    <a:lnTo>
                      <a:pt x="11" y="5"/>
                    </a:lnTo>
                    <a:lnTo>
                      <a:pt x="13" y="5"/>
                    </a:lnTo>
                    <a:lnTo>
                      <a:pt x="14" y="5"/>
                    </a:lnTo>
                    <a:lnTo>
                      <a:pt x="13" y="3"/>
                    </a:lnTo>
                    <a:lnTo>
                      <a:pt x="11" y="3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3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42" name="Freeform 959"/>
              <p:cNvSpPr>
                <a:spLocks/>
              </p:cNvSpPr>
              <p:nvPr/>
            </p:nvSpPr>
            <p:spPr bwMode="auto">
              <a:xfrm>
                <a:off x="3015" y="2018"/>
                <a:ext cx="115" cy="62"/>
              </a:xfrm>
              <a:custGeom>
                <a:avLst/>
                <a:gdLst>
                  <a:gd name="T0" fmla="*/ 0 w 115"/>
                  <a:gd name="T1" fmla="*/ 1 h 62"/>
                  <a:gd name="T2" fmla="*/ 2 w 115"/>
                  <a:gd name="T3" fmla="*/ 2 h 62"/>
                  <a:gd name="T4" fmla="*/ 5 w 115"/>
                  <a:gd name="T5" fmla="*/ 4 h 62"/>
                  <a:gd name="T6" fmla="*/ 11 w 115"/>
                  <a:gd name="T7" fmla="*/ 7 h 62"/>
                  <a:gd name="T8" fmla="*/ 18 w 115"/>
                  <a:gd name="T9" fmla="*/ 11 h 62"/>
                  <a:gd name="T10" fmla="*/ 26 w 115"/>
                  <a:gd name="T11" fmla="*/ 16 h 62"/>
                  <a:gd name="T12" fmla="*/ 35 w 115"/>
                  <a:gd name="T13" fmla="*/ 20 h 62"/>
                  <a:gd name="T14" fmla="*/ 45 w 115"/>
                  <a:gd name="T15" fmla="*/ 26 h 62"/>
                  <a:gd name="T16" fmla="*/ 54 w 115"/>
                  <a:gd name="T17" fmla="*/ 30 h 62"/>
                  <a:gd name="T18" fmla="*/ 64 w 115"/>
                  <a:gd name="T19" fmla="*/ 36 h 62"/>
                  <a:gd name="T20" fmla="*/ 75 w 115"/>
                  <a:gd name="T21" fmla="*/ 42 h 62"/>
                  <a:gd name="T22" fmla="*/ 83 w 115"/>
                  <a:gd name="T23" fmla="*/ 46 h 62"/>
                  <a:gd name="T24" fmla="*/ 93 w 115"/>
                  <a:gd name="T25" fmla="*/ 51 h 62"/>
                  <a:gd name="T26" fmla="*/ 99 w 115"/>
                  <a:gd name="T27" fmla="*/ 54 h 62"/>
                  <a:gd name="T28" fmla="*/ 107 w 115"/>
                  <a:gd name="T29" fmla="*/ 58 h 62"/>
                  <a:gd name="T30" fmla="*/ 112 w 115"/>
                  <a:gd name="T31" fmla="*/ 61 h 62"/>
                  <a:gd name="T32" fmla="*/ 114 w 115"/>
                  <a:gd name="T33" fmla="*/ 62 h 62"/>
                  <a:gd name="T34" fmla="*/ 114 w 115"/>
                  <a:gd name="T35" fmla="*/ 60 h 62"/>
                  <a:gd name="T36" fmla="*/ 110 w 115"/>
                  <a:gd name="T37" fmla="*/ 58 h 62"/>
                  <a:gd name="T38" fmla="*/ 104 w 115"/>
                  <a:gd name="T39" fmla="*/ 55 h 62"/>
                  <a:gd name="T40" fmla="*/ 97 w 115"/>
                  <a:gd name="T41" fmla="*/ 51 h 62"/>
                  <a:gd name="T42" fmla="*/ 90 w 115"/>
                  <a:gd name="T43" fmla="*/ 46 h 62"/>
                  <a:gd name="T44" fmla="*/ 80 w 115"/>
                  <a:gd name="T45" fmla="*/ 42 h 62"/>
                  <a:gd name="T46" fmla="*/ 70 w 115"/>
                  <a:gd name="T47" fmla="*/ 37 h 62"/>
                  <a:gd name="T48" fmla="*/ 61 w 115"/>
                  <a:gd name="T49" fmla="*/ 32 h 62"/>
                  <a:gd name="T50" fmla="*/ 51 w 115"/>
                  <a:gd name="T51" fmla="*/ 26 h 62"/>
                  <a:gd name="T52" fmla="*/ 41 w 115"/>
                  <a:gd name="T53" fmla="*/ 21 h 62"/>
                  <a:gd name="T54" fmla="*/ 32 w 115"/>
                  <a:gd name="T55" fmla="*/ 17 h 62"/>
                  <a:gd name="T56" fmla="*/ 23 w 115"/>
                  <a:gd name="T57" fmla="*/ 11 h 62"/>
                  <a:gd name="T58" fmla="*/ 16 w 115"/>
                  <a:gd name="T59" fmla="*/ 7 h 62"/>
                  <a:gd name="T60" fmla="*/ 8 w 115"/>
                  <a:gd name="T61" fmla="*/ 4 h 62"/>
                  <a:gd name="T62" fmla="*/ 4 w 115"/>
                  <a:gd name="T63" fmla="*/ 2 h 62"/>
                  <a:gd name="T64" fmla="*/ 1 w 115"/>
                  <a:gd name="T65" fmla="*/ 0 h 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2"/>
                  <a:gd name="T101" fmla="*/ 115 w 115"/>
                  <a:gd name="T102" fmla="*/ 62 h 6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2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5" y="4"/>
                    </a:lnTo>
                    <a:lnTo>
                      <a:pt x="7" y="5"/>
                    </a:lnTo>
                    <a:lnTo>
                      <a:pt x="11" y="7"/>
                    </a:lnTo>
                    <a:lnTo>
                      <a:pt x="15" y="8"/>
                    </a:lnTo>
                    <a:lnTo>
                      <a:pt x="18" y="11"/>
                    </a:lnTo>
                    <a:lnTo>
                      <a:pt x="22" y="14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0"/>
                    </a:lnTo>
                    <a:lnTo>
                      <a:pt x="39" y="22"/>
                    </a:lnTo>
                    <a:lnTo>
                      <a:pt x="45" y="26"/>
                    </a:lnTo>
                    <a:lnTo>
                      <a:pt x="49" y="28"/>
                    </a:lnTo>
                    <a:lnTo>
                      <a:pt x="54" y="30"/>
                    </a:lnTo>
                    <a:lnTo>
                      <a:pt x="60" y="32"/>
                    </a:lnTo>
                    <a:lnTo>
                      <a:pt x="64" y="36"/>
                    </a:lnTo>
                    <a:lnTo>
                      <a:pt x="70" y="38"/>
                    </a:lnTo>
                    <a:lnTo>
                      <a:pt x="75" y="42"/>
                    </a:lnTo>
                    <a:lnTo>
                      <a:pt x="79" y="44"/>
                    </a:lnTo>
                    <a:lnTo>
                      <a:pt x="83" y="46"/>
                    </a:lnTo>
                    <a:lnTo>
                      <a:pt x="88" y="48"/>
                    </a:lnTo>
                    <a:lnTo>
                      <a:pt x="93" y="51"/>
                    </a:lnTo>
                    <a:lnTo>
                      <a:pt x="96" y="53"/>
                    </a:lnTo>
                    <a:lnTo>
                      <a:pt x="99" y="54"/>
                    </a:lnTo>
                    <a:lnTo>
                      <a:pt x="102" y="57"/>
                    </a:lnTo>
                    <a:lnTo>
                      <a:pt x="107" y="58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3" y="61"/>
                    </a:lnTo>
                    <a:lnTo>
                      <a:pt x="114" y="62"/>
                    </a:lnTo>
                    <a:lnTo>
                      <a:pt x="115" y="60"/>
                    </a:lnTo>
                    <a:lnTo>
                      <a:pt x="114" y="60"/>
                    </a:lnTo>
                    <a:lnTo>
                      <a:pt x="112" y="59"/>
                    </a:lnTo>
                    <a:lnTo>
                      <a:pt x="110" y="58"/>
                    </a:lnTo>
                    <a:lnTo>
                      <a:pt x="107" y="57"/>
                    </a:lnTo>
                    <a:lnTo>
                      <a:pt x="104" y="55"/>
                    </a:lnTo>
                    <a:lnTo>
                      <a:pt x="100" y="53"/>
                    </a:lnTo>
                    <a:lnTo>
                      <a:pt x="97" y="51"/>
                    </a:lnTo>
                    <a:lnTo>
                      <a:pt x="94" y="48"/>
                    </a:lnTo>
                    <a:lnTo>
                      <a:pt x="90" y="46"/>
                    </a:lnTo>
                    <a:lnTo>
                      <a:pt x="84" y="44"/>
                    </a:lnTo>
                    <a:lnTo>
                      <a:pt x="80" y="42"/>
                    </a:lnTo>
                    <a:lnTo>
                      <a:pt x="76" y="39"/>
                    </a:lnTo>
                    <a:lnTo>
                      <a:pt x="70" y="37"/>
                    </a:lnTo>
                    <a:lnTo>
                      <a:pt x="65" y="34"/>
                    </a:lnTo>
                    <a:lnTo>
                      <a:pt x="61" y="32"/>
                    </a:lnTo>
                    <a:lnTo>
                      <a:pt x="55" y="30"/>
                    </a:lnTo>
                    <a:lnTo>
                      <a:pt x="51" y="26"/>
                    </a:lnTo>
                    <a:lnTo>
                      <a:pt x="46" y="23"/>
                    </a:lnTo>
                    <a:lnTo>
                      <a:pt x="41" y="21"/>
                    </a:lnTo>
                    <a:lnTo>
                      <a:pt x="36" y="19"/>
                    </a:lnTo>
                    <a:lnTo>
                      <a:pt x="32" y="17"/>
                    </a:lnTo>
                    <a:lnTo>
                      <a:pt x="27" y="14"/>
                    </a:lnTo>
                    <a:lnTo>
                      <a:pt x="23" y="11"/>
                    </a:lnTo>
                    <a:lnTo>
                      <a:pt x="19" y="11"/>
                    </a:lnTo>
                    <a:lnTo>
                      <a:pt x="16" y="7"/>
                    </a:lnTo>
                    <a:lnTo>
                      <a:pt x="13" y="5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43" name="Freeform 960"/>
              <p:cNvSpPr>
                <a:spLocks/>
              </p:cNvSpPr>
              <p:nvPr/>
            </p:nvSpPr>
            <p:spPr bwMode="auto">
              <a:xfrm>
                <a:off x="3003" y="2008"/>
                <a:ext cx="13" cy="11"/>
              </a:xfrm>
              <a:custGeom>
                <a:avLst/>
                <a:gdLst>
                  <a:gd name="T0" fmla="*/ 0 w 13"/>
                  <a:gd name="T1" fmla="*/ 1 h 11"/>
                  <a:gd name="T2" fmla="*/ 0 w 13"/>
                  <a:gd name="T3" fmla="*/ 1 h 11"/>
                  <a:gd name="T4" fmla="*/ 1 w 13"/>
                  <a:gd name="T5" fmla="*/ 4 h 11"/>
                  <a:gd name="T6" fmla="*/ 3 w 13"/>
                  <a:gd name="T7" fmla="*/ 5 h 11"/>
                  <a:gd name="T8" fmla="*/ 5 w 13"/>
                  <a:gd name="T9" fmla="*/ 6 h 11"/>
                  <a:gd name="T10" fmla="*/ 7 w 13"/>
                  <a:gd name="T11" fmla="*/ 8 h 11"/>
                  <a:gd name="T12" fmla="*/ 8 w 13"/>
                  <a:gd name="T13" fmla="*/ 8 h 11"/>
                  <a:gd name="T14" fmla="*/ 9 w 13"/>
                  <a:gd name="T15" fmla="*/ 8 h 11"/>
                  <a:gd name="T16" fmla="*/ 11 w 13"/>
                  <a:gd name="T17" fmla="*/ 10 h 11"/>
                  <a:gd name="T18" fmla="*/ 12 w 13"/>
                  <a:gd name="T19" fmla="*/ 11 h 11"/>
                  <a:gd name="T20" fmla="*/ 13 w 13"/>
                  <a:gd name="T21" fmla="*/ 10 h 11"/>
                  <a:gd name="T22" fmla="*/ 11 w 13"/>
                  <a:gd name="T23" fmla="*/ 8 h 11"/>
                  <a:gd name="T24" fmla="*/ 10 w 13"/>
                  <a:gd name="T25" fmla="*/ 8 h 11"/>
                  <a:gd name="T26" fmla="*/ 9 w 13"/>
                  <a:gd name="T27" fmla="*/ 6 h 11"/>
                  <a:gd name="T28" fmla="*/ 8 w 13"/>
                  <a:gd name="T29" fmla="*/ 5 h 11"/>
                  <a:gd name="T30" fmla="*/ 7 w 13"/>
                  <a:gd name="T31" fmla="*/ 5 h 11"/>
                  <a:gd name="T32" fmla="*/ 5 w 13"/>
                  <a:gd name="T33" fmla="*/ 4 h 11"/>
                  <a:gd name="T34" fmla="*/ 2 w 13"/>
                  <a:gd name="T35" fmla="*/ 1 h 11"/>
                  <a:gd name="T36" fmla="*/ 1 w 13"/>
                  <a:gd name="T37" fmla="*/ 0 h 11"/>
                  <a:gd name="T38" fmla="*/ 0 w 13"/>
                  <a:gd name="T39" fmla="*/ 1 h 1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11"/>
                  <a:gd name="T62" fmla="*/ 13 w 13"/>
                  <a:gd name="T63" fmla="*/ 11 h 1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11">
                    <a:moveTo>
                      <a:pt x="0" y="1"/>
                    </a:moveTo>
                    <a:lnTo>
                      <a:pt x="0" y="1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5" y="6"/>
                    </a:lnTo>
                    <a:lnTo>
                      <a:pt x="7" y="8"/>
                    </a:lnTo>
                    <a:lnTo>
                      <a:pt x="8" y="8"/>
                    </a:lnTo>
                    <a:lnTo>
                      <a:pt x="9" y="8"/>
                    </a:lnTo>
                    <a:lnTo>
                      <a:pt x="11" y="10"/>
                    </a:lnTo>
                    <a:lnTo>
                      <a:pt x="12" y="11"/>
                    </a:lnTo>
                    <a:lnTo>
                      <a:pt x="13" y="10"/>
                    </a:lnTo>
                    <a:lnTo>
                      <a:pt x="11" y="8"/>
                    </a:lnTo>
                    <a:lnTo>
                      <a:pt x="10" y="8"/>
                    </a:lnTo>
                    <a:lnTo>
                      <a:pt x="9" y="6"/>
                    </a:lnTo>
                    <a:lnTo>
                      <a:pt x="8" y="5"/>
                    </a:lnTo>
                    <a:lnTo>
                      <a:pt x="7" y="5"/>
                    </a:lnTo>
                    <a:lnTo>
                      <a:pt x="5" y="4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44" name="Freeform 961"/>
              <p:cNvSpPr>
                <a:spLocks/>
              </p:cNvSpPr>
              <p:nvPr/>
            </p:nvSpPr>
            <p:spPr bwMode="auto">
              <a:xfrm>
                <a:off x="3132" y="2040"/>
                <a:ext cx="10" cy="42"/>
              </a:xfrm>
              <a:custGeom>
                <a:avLst/>
                <a:gdLst>
                  <a:gd name="T0" fmla="*/ 10 w 10"/>
                  <a:gd name="T1" fmla="*/ 42 h 42"/>
                  <a:gd name="T2" fmla="*/ 8 w 10"/>
                  <a:gd name="T3" fmla="*/ 42 h 42"/>
                  <a:gd name="T4" fmla="*/ 7 w 10"/>
                  <a:gd name="T5" fmla="*/ 41 h 42"/>
                  <a:gd name="T6" fmla="*/ 6 w 10"/>
                  <a:gd name="T7" fmla="*/ 40 h 42"/>
                  <a:gd name="T8" fmla="*/ 4 w 10"/>
                  <a:gd name="T9" fmla="*/ 37 h 42"/>
                  <a:gd name="T10" fmla="*/ 4 w 10"/>
                  <a:gd name="T11" fmla="*/ 35 h 42"/>
                  <a:gd name="T12" fmla="*/ 2 w 10"/>
                  <a:gd name="T13" fmla="*/ 32 h 42"/>
                  <a:gd name="T14" fmla="*/ 0 w 10"/>
                  <a:gd name="T15" fmla="*/ 29 h 42"/>
                  <a:gd name="T16" fmla="*/ 0 w 10"/>
                  <a:gd name="T17" fmla="*/ 26 h 42"/>
                  <a:gd name="T18" fmla="*/ 0 w 10"/>
                  <a:gd name="T19" fmla="*/ 22 h 42"/>
                  <a:gd name="T20" fmla="*/ 0 w 10"/>
                  <a:gd name="T21" fmla="*/ 17 h 42"/>
                  <a:gd name="T22" fmla="*/ 0 w 10"/>
                  <a:gd name="T23" fmla="*/ 13 h 42"/>
                  <a:gd name="T24" fmla="*/ 2 w 10"/>
                  <a:gd name="T25" fmla="*/ 9 h 42"/>
                  <a:gd name="T26" fmla="*/ 4 w 10"/>
                  <a:gd name="T27" fmla="*/ 7 h 42"/>
                  <a:gd name="T28" fmla="*/ 4 w 10"/>
                  <a:gd name="T29" fmla="*/ 4 h 42"/>
                  <a:gd name="T30" fmla="*/ 6 w 10"/>
                  <a:gd name="T31" fmla="*/ 1 h 42"/>
                  <a:gd name="T32" fmla="*/ 8 w 10"/>
                  <a:gd name="T33" fmla="*/ 0 h 42"/>
                  <a:gd name="T34" fmla="*/ 10 w 10"/>
                  <a:gd name="T35" fmla="*/ 42 h 4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"/>
                  <a:gd name="T55" fmla="*/ 0 h 42"/>
                  <a:gd name="T56" fmla="*/ 10 w 10"/>
                  <a:gd name="T57" fmla="*/ 42 h 4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" h="42">
                    <a:moveTo>
                      <a:pt x="10" y="42"/>
                    </a:moveTo>
                    <a:lnTo>
                      <a:pt x="8" y="42"/>
                    </a:lnTo>
                    <a:lnTo>
                      <a:pt x="7" y="41"/>
                    </a:lnTo>
                    <a:lnTo>
                      <a:pt x="6" y="40"/>
                    </a:lnTo>
                    <a:lnTo>
                      <a:pt x="4" y="37"/>
                    </a:lnTo>
                    <a:lnTo>
                      <a:pt x="4" y="35"/>
                    </a:lnTo>
                    <a:lnTo>
                      <a:pt x="2" y="32"/>
                    </a:lnTo>
                    <a:lnTo>
                      <a:pt x="0" y="29"/>
                    </a:lnTo>
                    <a:lnTo>
                      <a:pt x="0" y="26"/>
                    </a:lnTo>
                    <a:lnTo>
                      <a:pt x="0" y="22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2" y="9"/>
                    </a:lnTo>
                    <a:lnTo>
                      <a:pt x="4" y="7"/>
                    </a:lnTo>
                    <a:lnTo>
                      <a:pt x="4" y="4"/>
                    </a:lnTo>
                    <a:lnTo>
                      <a:pt x="6" y="1"/>
                    </a:lnTo>
                    <a:lnTo>
                      <a:pt x="8" y="0"/>
                    </a:lnTo>
                    <a:lnTo>
                      <a:pt x="10" y="42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45" name="Freeform 962"/>
              <p:cNvSpPr>
                <a:spLocks/>
              </p:cNvSpPr>
              <p:nvPr/>
            </p:nvSpPr>
            <p:spPr bwMode="auto">
              <a:xfrm>
                <a:off x="3132" y="2066"/>
                <a:ext cx="10" cy="17"/>
              </a:xfrm>
              <a:custGeom>
                <a:avLst/>
                <a:gdLst>
                  <a:gd name="T0" fmla="*/ 0 w 10"/>
                  <a:gd name="T1" fmla="*/ 0 h 17"/>
                  <a:gd name="T2" fmla="*/ 0 w 10"/>
                  <a:gd name="T3" fmla="*/ 0 h 17"/>
                  <a:gd name="T4" fmla="*/ 0 w 10"/>
                  <a:gd name="T5" fmla="*/ 3 h 17"/>
                  <a:gd name="T6" fmla="*/ 2 w 10"/>
                  <a:gd name="T7" fmla="*/ 6 h 17"/>
                  <a:gd name="T8" fmla="*/ 2 w 10"/>
                  <a:gd name="T9" fmla="*/ 10 h 17"/>
                  <a:gd name="T10" fmla="*/ 3 w 10"/>
                  <a:gd name="T11" fmla="*/ 12 h 17"/>
                  <a:gd name="T12" fmla="*/ 5 w 10"/>
                  <a:gd name="T13" fmla="*/ 14 h 17"/>
                  <a:gd name="T14" fmla="*/ 6 w 10"/>
                  <a:gd name="T15" fmla="*/ 16 h 17"/>
                  <a:gd name="T16" fmla="*/ 8 w 10"/>
                  <a:gd name="T17" fmla="*/ 17 h 17"/>
                  <a:gd name="T18" fmla="*/ 10 w 10"/>
                  <a:gd name="T19" fmla="*/ 17 h 17"/>
                  <a:gd name="T20" fmla="*/ 10 w 10"/>
                  <a:gd name="T21" fmla="*/ 15 h 17"/>
                  <a:gd name="T22" fmla="*/ 8 w 10"/>
                  <a:gd name="T23" fmla="*/ 15 h 17"/>
                  <a:gd name="T24" fmla="*/ 7 w 10"/>
                  <a:gd name="T25" fmla="*/ 15 h 17"/>
                  <a:gd name="T26" fmla="*/ 6 w 10"/>
                  <a:gd name="T27" fmla="*/ 13 h 17"/>
                  <a:gd name="T28" fmla="*/ 5 w 10"/>
                  <a:gd name="T29" fmla="*/ 11 h 17"/>
                  <a:gd name="T30" fmla="*/ 4 w 10"/>
                  <a:gd name="T31" fmla="*/ 9 h 17"/>
                  <a:gd name="T32" fmla="*/ 3 w 10"/>
                  <a:gd name="T33" fmla="*/ 6 h 17"/>
                  <a:gd name="T34" fmla="*/ 3 w 10"/>
                  <a:gd name="T35" fmla="*/ 2 h 17"/>
                  <a:gd name="T36" fmla="*/ 3 w 10"/>
                  <a:gd name="T37" fmla="*/ 0 h 17"/>
                  <a:gd name="T38" fmla="*/ 0 w 10"/>
                  <a:gd name="T39" fmla="*/ 0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"/>
                  <a:gd name="T61" fmla="*/ 0 h 17"/>
                  <a:gd name="T62" fmla="*/ 10 w 10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" h="17">
                    <a:moveTo>
                      <a:pt x="0" y="0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2" y="6"/>
                    </a:lnTo>
                    <a:lnTo>
                      <a:pt x="2" y="10"/>
                    </a:lnTo>
                    <a:lnTo>
                      <a:pt x="3" y="12"/>
                    </a:lnTo>
                    <a:lnTo>
                      <a:pt x="5" y="14"/>
                    </a:lnTo>
                    <a:lnTo>
                      <a:pt x="6" y="16"/>
                    </a:lnTo>
                    <a:lnTo>
                      <a:pt x="8" y="17"/>
                    </a:lnTo>
                    <a:lnTo>
                      <a:pt x="10" y="17"/>
                    </a:lnTo>
                    <a:lnTo>
                      <a:pt x="10" y="15"/>
                    </a:lnTo>
                    <a:lnTo>
                      <a:pt x="8" y="15"/>
                    </a:lnTo>
                    <a:lnTo>
                      <a:pt x="7" y="15"/>
                    </a:lnTo>
                    <a:lnTo>
                      <a:pt x="6" y="13"/>
                    </a:lnTo>
                    <a:lnTo>
                      <a:pt x="5" y="11"/>
                    </a:lnTo>
                    <a:lnTo>
                      <a:pt x="4" y="9"/>
                    </a:lnTo>
                    <a:lnTo>
                      <a:pt x="3" y="6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46" name="Freeform 963"/>
              <p:cNvSpPr>
                <a:spLocks/>
              </p:cNvSpPr>
              <p:nvPr/>
            </p:nvSpPr>
            <p:spPr bwMode="auto">
              <a:xfrm>
                <a:off x="3132" y="2040"/>
                <a:ext cx="9" cy="26"/>
              </a:xfrm>
              <a:custGeom>
                <a:avLst/>
                <a:gdLst>
                  <a:gd name="T0" fmla="*/ 8 w 9"/>
                  <a:gd name="T1" fmla="*/ 0 h 26"/>
                  <a:gd name="T2" fmla="*/ 6 w 9"/>
                  <a:gd name="T3" fmla="*/ 1 h 26"/>
                  <a:gd name="T4" fmla="*/ 4 w 9"/>
                  <a:gd name="T5" fmla="*/ 4 h 26"/>
                  <a:gd name="T6" fmla="*/ 3 w 9"/>
                  <a:gd name="T7" fmla="*/ 7 h 26"/>
                  <a:gd name="T8" fmla="*/ 2 w 9"/>
                  <a:gd name="T9" fmla="*/ 10 h 26"/>
                  <a:gd name="T10" fmla="*/ 0 w 9"/>
                  <a:gd name="T11" fmla="*/ 13 h 26"/>
                  <a:gd name="T12" fmla="*/ 0 w 9"/>
                  <a:gd name="T13" fmla="*/ 17 h 26"/>
                  <a:gd name="T14" fmla="*/ 0 w 9"/>
                  <a:gd name="T15" fmla="*/ 22 h 26"/>
                  <a:gd name="T16" fmla="*/ 0 w 9"/>
                  <a:gd name="T17" fmla="*/ 26 h 26"/>
                  <a:gd name="T18" fmla="*/ 3 w 9"/>
                  <a:gd name="T19" fmla="*/ 26 h 26"/>
                  <a:gd name="T20" fmla="*/ 3 w 9"/>
                  <a:gd name="T21" fmla="*/ 22 h 26"/>
                  <a:gd name="T22" fmla="*/ 3 w 9"/>
                  <a:gd name="T23" fmla="*/ 17 h 26"/>
                  <a:gd name="T24" fmla="*/ 3 w 9"/>
                  <a:gd name="T25" fmla="*/ 13 h 26"/>
                  <a:gd name="T26" fmla="*/ 4 w 9"/>
                  <a:gd name="T27" fmla="*/ 10 h 26"/>
                  <a:gd name="T28" fmla="*/ 4 w 9"/>
                  <a:gd name="T29" fmla="*/ 7 h 26"/>
                  <a:gd name="T30" fmla="*/ 6 w 9"/>
                  <a:gd name="T31" fmla="*/ 5 h 26"/>
                  <a:gd name="T32" fmla="*/ 7 w 9"/>
                  <a:gd name="T33" fmla="*/ 4 h 26"/>
                  <a:gd name="T34" fmla="*/ 9 w 9"/>
                  <a:gd name="T35" fmla="*/ 1 h 26"/>
                  <a:gd name="T36" fmla="*/ 8 w 9"/>
                  <a:gd name="T37" fmla="*/ 0 h 2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26"/>
                  <a:gd name="T59" fmla="*/ 9 w 9"/>
                  <a:gd name="T60" fmla="*/ 26 h 2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26">
                    <a:moveTo>
                      <a:pt x="8" y="0"/>
                    </a:moveTo>
                    <a:lnTo>
                      <a:pt x="6" y="1"/>
                    </a:lnTo>
                    <a:lnTo>
                      <a:pt x="4" y="4"/>
                    </a:lnTo>
                    <a:lnTo>
                      <a:pt x="3" y="7"/>
                    </a:lnTo>
                    <a:lnTo>
                      <a:pt x="2" y="10"/>
                    </a:lnTo>
                    <a:lnTo>
                      <a:pt x="0" y="13"/>
                    </a:lnTo>
                    <a:lnTo>
                      <a:pt x="0" y="17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3" y="26"/>
                    </a:lnTo>
                    <a:lnTo>
                      <a:pt x="3" y="22"/>
                    </a:lnTo>
                    <a:lnTo>
                      <a:pt x="3" y="17"/>
                    </a:lnTo>
                    <a:lnTo>
                      <a:pt x="3" y="13"/>
                    </a:lnTo>
                    <a:lnTo>
                      <a:pt x="4" y="10"/>
                    </a:lnTo>
                    <a:lnTo>
                      <a:pt x="4" y="7"/>
                    </a:lnTo>
                    <a:lnTo>
                      <a:pt x="6" y="5"/>
                    </a:lnTo>
                    <a:lnTo>
                      <a:pt x="7" y="4"/>
                    </a:lnTo>
                    <a:lnTo>
                      <a:pt x="9" y="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47" name="Freeform 964"/>
              <p:cNvSpPr>
                <a:spLocks/>
              </p:cNvSpPr>
              <p:nvPr/>
            </p:nvSpPr>
            <p:spPr bwMode="auto">
              <a:xfrm>
                <a:off x="3011" y="1926"/>
                <a:ext cx="239" cy="114"/>
              </a:xfrm>
              <a:custGeom>
                <a:avLst/>
                <a:gdLst>
                  <a:gd name="T0" fmla="*/ 8 w 239"/>
                  <a:gd name="T1" fmla="*/ 42 h 114"/>
                  <a:gd name="T2" fmla="*/ 24 w 239"/>
                  <a:gd name="T3" fmla="*/ 34 h 114"/>
                  <a:gd name="T4" fmla="*/ 45 w 239"/>
                  <a:gd name="T5" fmla="*/ 24 h 114"/>
                  <a:gd name="T6" fmla="*/ 67 w 239"/>
                  <a:gd name="T7" fmla="*/ 14 h 114"/>
                  <a:gd name="T8" fmla="*/ 85 w 239"/>
                  <a:gd name="T9" fmla="*/ 4 h 114"/>
                  <a:gd name="T10" fmla="*/ 94 w 239"/>
                  <a:gd name="T11" fmla="*/ 0 h 114"/>
                  <a:gd name="T12" fmla="*/ 99 w 239"/>
                  <a:gd name="T13" fmla="*/ 0 h 114"/>
                  <a:gd name="T14" fmla="*/ 104 w 239"/>
                  <a:gd name="T15" fmla="*/ 1 h 114"/>
                  <a:gd name="T16" fmla="*/ 108 w 239"/>
                  <a:gd name="T17" fmla="*/ 2 h 114"/>
                  <a:gd name="T18" fmla="*/ 114 w 239"/>
                  <a:gd name="T19" fmla="*/ 5 h 114"/>
                  <a:gd name="T20" fmla="*/ 126 w 239"/>
                  <a:gd name="T21" fmla="*/ 12 h 114"/>
                  <a:gd name="T22" fmla="*/ 140 w 239"/>
                  <a:gd name="T23" fmla="*/ 18 h 114"/>
                  <a:gd name="T24" fmla="*/ 155 w 239"/>
                  <a:gd name="T25" fmla="*/ 25 h 114"/>
                  <a:gd name="T26" fmla="*/ 172 w 239"/>
                  <a:gd name="T27" fmla="*/ 33 h 114"/>
                  <a:gd name="T28" fmla="*/ 188 w 239"/>
                  <a:gd name="T29" fmla="*/ 40 h 114"/>
                  <a:gd name="T30" fmla="*/ 204 w 239"/>
                  <a:gd name="T31" fmla="*/ 47 h 114"/>
                  <a:gd name="T32" fmla="*/ 217 w 239"/>
                  <a:gd name="T33" fmla="*/ 53 h 114"/>
                  <a:gd name="T34" fmla="*/ 226 w 239"/>
                  <a:gd name="T35" fmla="*/ 58 h 114"/>
                  <a:gd name="T36" fmla="*/ 233 w 239"/>
                  <a:gd name="T37" fmla="*/ 60 h 114"/>
                  <a:gd name="T38" fmla="*/ 237 w 239"/>
                  <a:gd name="T39" fmla="*/ 63 h 114"/>
                  <a:gd name="T40" fmla="*/ 239 w 239"/>
                  <a:gd name="T41" fmla="*/ 67 h 114"/>
                  <a:gd name="T42" fmla="*/ 235 w 239"/>
                  <a:gd name="T43" fmla="*/ 71 h 114"/>
                  <a:gd name="T44" fmla="*/ 228 w 239"/>
                  <a:gd name="T45" fmla="*/ 73 h 114"/>
                  <a:gd name="T46" fmla="*/ 220 w 239"/>
                  <a:gd name="T47" fmla="*/ 77 h 114"/>
                  <a:gd name="T48" fmla="*/ 209 w 239"/>
                  <a:gd name="T49" fmla="*/ 81 h 114"/>
                  <a:gd name="T50" fmla="*/ 197 w 239"/>
                  <a:gd name="T51" fmla="*/ 87 h 114"/>
                  <a:gd name="T52" fmla="*/ 184 w 239"/>
                  <a:gd name="T53" fmla="*/ 92 h 114"/>
                  <a:gd name="T54" fmla="*/ 172 w 239"/>
                  <a:gd name="T55" fmla="*/ 97 h 114"/>
                  <a:gd name="T56" fmla="*/ 160 w 239"/>
                  <a:gd name="T57" fmla="*/ 103 h 114"/>
                  <a:gd name="T58" fmla="*/ 149 w 239"/>
                  <a:gd name="T59" fmla="*/ 108 h 114"/>
                  <a:gd name="T60" fmla="*/ 141 w 239"/>
                  <a:gd name="T61" fmla="*/ 111 h 114"/>
                  <a:gd name="T62" fmla="*/ 134 w 239"/>
                  <a:gd name="T63" fmla="*/ 113 h 114"/>
                  <a:gd name="T64" fmla="*/ 130 w 239"/>
                  <a:gd name="T65" fmla="*/ 114 h 114"/>
                  <a:gd name="T66" fmla="*/ 125 w 239"/>
                  <a:gd name="T67" fmla="*/ 113 h 114"/>
                  <a:gd name="T68" fmla="*/ 120 w 239"/>
                  <a:gd name="T69" fmla="*/ 111 h 114"/>
                  <a:gd name="T70" fmla="*/ 114 w 239"/>
                  <a:gd name="T71" fmla="*/ 109 h 114"/>
                  <a:gd name="T72" fmla="*/ 105 w 239"/>
                  <a:gd name="T73" fmla="*/ 104 h 114"/>
                  <a:gd name="T74" fmla="*/ 94 w 239"/>
                  <a:gd name="T75" fmla="*/ 97 h 114"/>
                  <a:gd name="T76" fmla="*/ 80 w 239"/>
                  <a:gd name="T77" fmla="*/ 91 h 114"/>
                  <a:gd name="T78" fmla="*/ 66 w 239"/>
                  <a:gd name="T79" fmla="*/ 82 h 114"/>
                  <a:gd name="T80" fmla="*/ 51 w 239"/>
                  <a:gd name="T81" fmla="*/ 75 h 114"/>
                  <a:gd name="T82" fmla="*/ 36 w 239"/>
                  <a:gd name="T83" fmla="*/ 67 h 114"/>
                  <a:gd name="T84" fmla="*/ 23 w 239"/>
                  <a:gd name="T85" fmla="*/ 60 h 114"/>
                  <a:gd name="T86" fmla="*/ 14 w 239"/>
                  <a:gd name="T87" fmla="*/ 56 h 114"/>
                  <a:gd name="T88" fmla="*/ 8 w 239"/>
                  <a:gd name="T89" fmla="*/ 52 h 114"/>
                  <a:gd name="T90" fmla="*/ 3 w 239"/>
                  <a:gd name="T91" fmla="*/ 49 h 114"/>
                  <a:gd name="T92" fmla="*/ 0 w 239"/>
                  <a:gd name="T93" fmla="*/ 47 h 114"/>
                  <a:gd name="T94" fmla="*/ 4 w 239"/>
                  <a:gd name="T95" fmla="*/ 44 h 11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39"/>
                  <a:gd name="T145" fmla="*/ 0 h 114"/>
                  <a:gd name="T146" fmla="*/ 239 w 239"/>
                  <a:gd name="T147" fmla="*/ 114 h 114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39" h="114">
                    <a:moveTo>
                      <a:pt x="4" y="44"/>
                    </a:moveTo>
                    <a:lnTo>
                      <a:pt x="5" y="43"/>
                    </a:lnTo>
                    <a:lnTo>
                      <a:pt x="8" y="42"/>
                    </a:lnTo>
                    <a:lnTo>
                      <a:pt x="14" y="40"/>
                    </a:lnTo>
                    <a:lnTo>
                      <a:pt x="18" y="37"/>
                    </a:lnTo>
                    <a:lnTo>
                      <a:pt x="24" y="34"/>
                    </a:lnTo>
                    <a:lnTo>
                      <a:pt x="31" y="30"/>
                    </a:lnTo>
                    <a:lnTo>
                      <a:pt x="37" y="28"/>
                    </a:lnTo>
                    <a:lnTo>
                      <a:pt x="45" y="24"/>
                    </a:lnTo>
                    <a:lnTo>
                      <a:pt x="52" y="20"/>
                    </a:lnTo>
                    <a:lnTo>
                      <a:pt x="61" y="17"/>
                    </a:lnTo>
                    <a:lnTo>
                      <a:pt x="67" y="14"/>
                    </a:lnTo>
                    <a:lnTo>
                      <a:pt x="73" y="11"/>
                    </a:lnTo>
                    <a:lnTo>
                      <a:pt x="80" y="6"/>
                    </a:lnTo>
                    <a:lnTo>
                      <a:pt x="85" y="4"/>
                    </a:lnTo>
                    <a:lnTo>
                      <a:pt x="89" y="2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6" y="0"/>
                    </a:lnTo>
                    <a:lnTo>
                      <a:pt x="97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3" y="0"/>
                    </a:lnTo>
                    <a:lnTo>
                      <a:pt x="104" y="1"/>
                    </a:lnTo>
                    <a:lnTo>
                      <a:pt x="105" y="1"/>
                    </a:lnTo>
                    <a:lnTo>
                      <a:pt x="106" y="2"/>
                    </a:lnTo>
                    <a:lnTo>
                      <a:pt x="108" y="2"/>
                    </a:lnTo>
                    <a:lnTo>
                      <a:pt x="110" y="3"/>
                    </a:lnTo>
                    <a:lnTo>
                      <a:pt x="112" y="4"/>
                    </a:lnTo>
                    <a:lnTo>
                      <a:pt x="114" y="5"/>
                    </a:lnTo>
                    <a:lnTo>
                      <a:pt x="118" y="9"/>
                    </a:lnTo>
                    <a:lnTo>
                      <a:pt x="123" y="9"/>
                    </a:lnTo>
                    <a:lnTo>
                      <a:pt x="126" y="12"/>
                    </a:lnTo>
                    <a:lnTo>
                      <a:pt x="130" y="14"/>
                    </a:lnTo>
                    <a:lnTo>
                      <a:pt x="134" y="16"/>
                    </a:lnTo>
                    <a:lnTo>
                      <a:pt x="140" y="18"/>
                    </a:lnTo>
                    <a:lnTo>
                      <a:pt x="145" y="20"/>
                    </a:lnTo>
                    <a:lnTo>
                      <a:pt x="149" y="22"/>
                    </a:lnTo>
                    <a:lnTo>
                      <a:pt x="155" y="25"/>
                    </a:lnTo>
                    <a:lnTo>
                      <a:pt x="161" y="28"/>
                    </a:lnTo>
                    <a:lnTo>
                      <a:pt x="166" y="30"/>
                    </a:lnTo>
                    <a:lnTo>
                      <a:pt x="172" y="33"/>
                    </a:lnTo>
                    <a:lnTo>
                      <a:pt x="178" y="35"/>
                    </a:lnTo>
                    <a:lnTo>
                      <a:pt x="183" y="37"/>
                    </a:lnTo>
                    <a:lnTo>
                      <a:pt x="188" y="40"/>
                    </a:lnTo>
                    <a:lnTo>
                      <a:pt x="194" y="43"/>
                    </a:lnTo>
                    <a:lnTo>
                      <a:pt x="198" y="45"/>
                    </a:lnTo>
                    <a:lnTo>
                      <a:pt x="204" y="47"/>
                    </a:lnTo>
                    <a:lnTo>
                      <a:pt x="209" y="49"/>
                    </a:lnTo>
                    <a:lnTo>
                      <a:pt x="213" y="51"/>
                    </a:lnTo>
                    <a:lnTo>
                      <a:pt x="217" y="53"/>
                    </a:lnTo>
                    <a:lnTo>
                      <a:pt x="220" y="56"/>
                    </a:lnTo>
                    <a:lnTo>
                      <a:pt x="223" y="57"/>
                    </a:lnTo>
                    <a:lnTo>
                      <a:pt x="226" y="58"/>
                    </a:lnTo>
                    <a:lnTo>
                      <a:pt x="228" y="59"/>
                    </a:lnTo>
                    <a:lnTo>
                      <a:pt x="232" y="60"/>
                    </a:lnTo>
                    <a:lnTo>
                      <a:pt x="233" y="60"/>
                    </a:lnTo>
                    <a:lnTo>
                      <a:pt x="234" y="61"/>
                    </a:lnTo>
                    <a:lnTo>
                      <a:pt x="236" y="62"/>
                    </a:lnTo>
                    <a:lnTo>
                      <a:pt x="237" y="63"/>
                    </a:lnTo>
                    <a:lnTo>
                      <a:pt x="238" y="65"/>
                    </a:lnTo>
                    <a:lnTo>
                      <a:pt x="239" y="65"/>
                    </a:lnTo>
                    <a:lnTo>
                      <a:pt x="239" y="67"/>
                    </a:lnTo>
                    <a:lnTo>
                      <a:pt x="238" y="69"/>
                    </a:lnTo>
                    <a:lnTo>
                      <a:pt x="236" y="71"/>
                    </a:lnTo>
                    <a:lnTo>
                      <a:pt x="235" y="71"/>
                    </a:lnTo>
                    <a:lnTo>
                      <a:pt x="234" y="72"/>
                    </a:lnTo>
                    <a:lnTo>
                      <a:pt x="232" y="72"/>
                    </a:lnTo>
                    <a:lnTo>
                      <a:pt x="228" y="73"/>
                    </a:lnTo>
                    <a:lnTo>
                      <a:pt x="225" y="74"/>
                    </a:lnTo>
                    <a:lnTo>
                      <a:pt x="223" y="76"/>
                    </a:lnTo>
                    <a:lnTo>
                      <a:pt x="220" y="77"/>
                    </a:lnTo>
                    <a:lnTo>
                      <a:pt x="217" y="78"/>
                    </a:lnTo>
                    <a:lnTo>
                      <a:pt x="213" y="79"/>
                    </a:lnTo>
                    <a:lnTo>
                      <a:pt x="209" y="81"/>
                    </a:lnTo>
                    <a:lnTo>
                      <a:pt x="205" y="82"/>
                    </a:lnTo>
                    <a:lnTo>
                      <a:pt x="202" y="84"/>
                    </a:lnTo>
                    <a:lnTo>
                      <a:pt x="197" y="87"/>
                    </a:lnTo>
                    <a:lnTo>
                      <a:pt x="192" y="89"/>
                    </a:lnTo>
                    <a:lnTo>
                      <a:pt x="190" y="91"/>
                    </a:lnTo>
                    <a:lnTo>
                      <a:pt x="184" y="92"/>
                    </a:lnTo>
                    <a:lnTo>
                      <a:pt x="180" y="94"/>
                    </a:lnTo>
                    <a:lnTo>
                      <a:pt x="176" y="95"/>
                    </a:lnTo>
                    <a:lnTo>
                      <a:pt x="172" y="97"/>
                    </a:lnTo>
                    <a:lnTo>
                      <a:pt x="167" y="99"/>
                    </a:lnTo>
                    <a:lnTo>
                      <a:pt x="164" y="100"/>
                    </a:lnTo>
                    <a:lnTo>
                      <a:pt x="160" y="103"/>
                    </a:lnTo>
                    <a:lnTo>
                      <a:pt x="157" y="104"/>
                    </a:lnTo>
                    <a:lnTo>
                      <a:pt x="152" y="106"/>
                    </a:lnTo>
                    <a:lnTo>
                      <a:pt x="149" y="108"/>
                    </a:lnTo>
                    <a:lnTo>
                      <a:pt x="146" y="109"/>
                    </a:lnTo>
                    <a:lnTo>
                      <a:pt x="143" y="110"/>
                    </a:lnTo>
                    <a:lnTo>
                      <a:pt x="141" y="111"/>
                    </a:lnTo>
                    <a:lnTo>
                      <a:pt x="137" y="112"/>
                    </a:lnTo>
                    <a:lnTo>
                      <a:pt x="135" y="113"/>
                    </a:lnTo>
                    <a:lnTo>
                      <a:pt x="134" y="113"/>
                    </a:lnTo>
                    <a:lnTo>
                      <a:pt x="132" y="114"/>
                    </a:lnTo>
                    <a:lnTo>
                      <a:pt x="131" y="114"/>
                    </a:lnTo>
                    <a:lnTo>
                      <a:pt x="130" y="114"/>
                    </a:lnTo>
                    <a:lnTo>
                      <a:pt x="128" y="114"/>
                    </a:lnTo>
                    <a:lnTo>
                      <a:pt x="127" y="113"/>
                    </a:lnTo>
                    <a:lnTo>
                      <a:pt x="125" y="113"/>
                    </a:lnTo>
                    <a:lnTo>
                      <a:pt x="124" y="112"/>
                    </a:lnTo>
                    <a:lnTo>
                      <a:pt x="121" y="112"/>
                    </a:lnTo>
                    <a:lnTo>
                      <a:pt x="120" y="111"/>
                    </a:lnTo>
                    <a:lnTo>
                      <a:pt x="118" y="111"/>
                    </a:lnTo>
                    <a:lnTo>
                      <a:pt x="116" y="110"/>
                    </a:lnTo>
                    <a:lnTo>
                      <a:pt x="114" y="109"/>
                    </a:lnTo>
                    <a:lnTo>
                      <a:pt x="112" y="106"/>
                    </a:lnTo>
                    <a:lnTo>
                      <a:pt x="109" y="106"/>
                    </a:lnTo>
                    <a:lnTo>
                      <a:pt x="105" y="104"/>
                    </a:lnTo>
                    <a:lnTo>
                      <a:pt x="102" y="102"/>
                    </a:lnTo>
                    <a:lnTo>
                      <a:pt x="97" y="99"/>
                    </a:lnTo>
                    <a:lnTo>
                      <a:pt x="94" y="97"/>
                    </a:lnTo>
                    <a:lnTo>
                      <a:pt x="89" y="95"/>
                    </a:lnTo>
                    <a:lnTo>
                      <a:pt x="85" y="93"/>
                    </a:lnTo>
                    <a:lnTo>
                      <a:pt x="80" y="91"/>
                    </a:lnTo>
                    <a:lnTo>
                      <a:pt x="74" y="87"/>
                    </a:lnTo>
                    <a:lnTo>
                      <a:pt x="70" y="84"/>
                    </a:lnTo>
                    <a:lnTo>
                      <a:pt x="66" y="82"/>
                    </a:lnTo>
                    <a:lnTo>
                      <a:pt x="61" y="80"/>
                    </a:lnTo>
                    <a:lnTo>
                      <a:pt x="55" y="77"/>
                    </a:lnTo>
                    <a:lnTo>
                      <a:pt x="51" y="75"/>
                    </a:lnTo>
                    <a:lnTo>
                      <a:pt x="45" y="72"/>
                    </a:lnTo>
                    <a:lnTo>
                      <a:pt x="40" y="69"/>
                    </a:lnTo>
                    <a:lnTo>
                      <a:pt x="36" y="67"/>
                    </a:lnTo>
                    <a:lnTo>
                      <a:pt x="32" y="65"/>
                    </a:lnTo>
                    <a:lnTo>
                      <a:pt x="27" y="62"/>
                    </a:lnTo>
                    <a:lnTo>
                      <a:pt x="23" y="60"/>
                    </a:lnTo>
                    <a:lnTo>
                      <a:pt x="20" y="59"/>
                    </a:lnTo>
                    <a:lnTo>
                      <a:pt x="17" y="57"/>
                    </a:lnTo>
                    <a:lnTo>
                      <a:pt x="14" y="56"/>
                    </a:lnTo>
                    <a:lnTo>
                      <a:pt x="11" y="53"/>
                    </a:lnTo>
                    <a:lnTo>
                      <a:pt x="8" y="52"/>
                    </a:lnTo>
                    <a:lnTo>
                      <a:pt x="6" y="51"/>
                    </a:lnTo>
                    <a:lnTo>
                      <a:pt x="5" y="51"/>
                    </a:lnTo>
                    <a:lnTo>
                      <a:pt x="3" y="49"/>
                    </a:lnTo>
                    <a:lnTo>
                      <a:pt x="2" y="49"/>
                    </a:lnTo>
                    <a:lnTo>
                      <a:pt x="1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2" y="45"/>
                    </a:lnTo>
                    <a:lnTo>
                      <a:pt x="4" y="44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48" name="Freeform 965"/>
              <p:cNvSpPr>
                <a:spLocks/>
              </p:cNvSpPr>
              <p:nvPr/>
            </p:nvSpPr>
            <p:spPr bwMode="auto">
              <a:xfrm>
                <a:off x="3014" y="1926"/>
                <a:ext cx="90" cy="44"/>
              </a:xfrm>
              <a:custGeom>
                <a:avLst/>
                <a:gdLst>
                  <a:gd name="T0" fmla="*/ 89 w 90"/>
                  <a:gd name="T1" fmla="*/ 0 h 44"/>
                  <a:gd name="T2" fmla="*/ 89 w 90"/>
                  <a:gd name="T3" fmla="*/ 0 h 44"/>
                  <a:gd name="T4" fmla="*/ 85 w 90"/>
                  <a:gd name="T5" fmla="*/ 1 h 44"/>
                  <a:gd name="T6" fmla="*/ 81 w 90"/>
                  <a:gd name="T7" fmla="*/ 3 h 44"/>
                  <a:gd name="T8" fmla="*/ 77 w 90"/>
                  <a:gd name="T9" fmla="*/ 5 h 44"/>
                  <a:gd name="T10" fmla="*/ 69 w 90"/>
                  <a:gd name="T11" fmla="*/ 9 h 44"/>
                  <a:gd name="T12" fmla="*/ 63 w 90"/>
                  <a:gd name="T13" fmla="*/ 13 h 44"/>
                  <a:gd name="T14" fmla="*/ 55 w 90"/>
                  <a:gd name="T15" fmla="*/ 16 h 44"/>
                  <a:gd name="T16" fmla="*/ 49 w 90"/>
                  <a:gd name="T17" fmla="*/ 19 h 44"/>
                  <a:gd name="T18" fmla="*/ 42 w 90"/>
                  <a:gd name="T19" fmla="*/ 22 h 44"/>
                  <a:gd name="T20" fmla="*/ 34 w 90"/>
                  <a:gd name="T21" fmla="*/ 26 h 44"/>
                  <a:gd name="T22" fmla="*/ 28 w 90"/>
                  <a:gd name="T23" fmla="*/ 29 h 44"/>
                  <a:gd name="T24" fmla="*/ 20 w 90"/>
                  <a:gd name="T25" fmla="*/ 33 h 44"/>
                  <a:gd name="T26" fmla="*/ 15 w 90"/>
                  <a:gd name="T27" fmla="*/ 35 h 44"/>
                  <a:gd name="T28" fmla="*/ 8 w 90"/>
                  <a:gd name="T29" fmla="*/ 39 h 44"/>
                  <a:gd name="T30" fmla="*/ 4 w 90"/>
                  <a:gd name="T31" fmla="*/ 40 h 44"/>
                  <a:gd name="T32" fmla="*/ 2 w 90"/>
                  <a:gd name="T33" fmla="*/ 42 h 44"/>
                  <a:gd name="T34" fmla="*/ 0 w 90"/>
                  <a:gd name="T35" fmla="*/ 42 h 44"/>
                  <a:gd name="T36" fmla="*/ 1 w 90"/>
                  <a:gd name="T37" fmla="*/ 44 h 44"/>
                  <a:gd name="T38" fmla="*/ 2 w 90"/>
                  <a:gd name="T39" fmla="*/ 43 h 44"/>
                  <a:gd name="T40" fmla="*/ 5 w 90"/>
                  <a:gd name="T41" fmla="*/ 42 h 44"/>
                  <a:gd name="T42" fmla="*/ 11 w 90"/>
                  <a:gd name="T43" fmla="*/ 40 h 44"/>
                  <a:gd name="T44" fmla="*/ 15 w 90"/>
                  <a:gd name="T45" fmla="*/ 37 h 44"/>
                  <a:gd name="T46" fmla="*/ 21 w 90"/>
                  <a:gd name="T47" fmla="*/ 33 h 44"/>
                  <a:gd name="T48" fmla="*/ 28 w 90"/>
                  <a:gd name="T49" fmla="*/ 31 h 44"/>
                  <a:gd name="T50" fmla="*/ 35 w 90"/>
                  <a:gd name="T51" fmla="*/ 27 h 44"/>
                  <a:gd name="T52" fmla="*/ 42 w 90"/>
                  <a:gd name="T53" fmla="*/ 25 h 44"/>
                  <a:gd name="T54" fmla="*/ 50 w 90"/>
                  <a:gd name="T55" fmla="*/ 20 h 44"/>
                  <a:gd name="T56" fmla="*/ 56 w 90"/>
                  <a:gd name="T57" fmla="*/ 17 h 44"/>
                  <a:gd name="T58" fmla="*/ 63 w 90"/>
                  <a:gd name="T59" fmla="*/ 14 h 44"/>
                  <a:gd name="T60" fmla="*/ 70 w 90"/>
                  <a:gd name="T61" fmla="*/ 11 h 44"/>
                  <a:gd name="T62" fmla="*/ 77 w 90"/>
                  <a:gd name="T63" fmla="*/ 9 h 44"/>
                  <a:gd name="T64" fmla="*/ 82 w 90"/>
                  <a:gd name="T65" fmla="*/ 5 h 44"/>
                  <a:gd name="T66" fmla="*/ 86 w 90"/>
                  <a:gd name="T67" fmla="*/ 3 h 44"/>
                  <a:gd name="T68" fmla="*/ 90 w 90"/>
                  <a:gd name="T69" fmla="*/ 1 h 44"/>
                  <a:gd name="T70" fmla="*/ 89 w 90"/>
                  <a:gd name="T71" fmla="*/ 0 h 4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90"/>
                  <a:gd name="T109" fmla="*/ 0 h 44"/>
                  <a:gd name="T110" fmla="*/ 90 w 90"/>
                  <a:gd name="T111" fmla="*/ 44 h 4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90" h="44">
                    <a:moveTo>
                      <a:pt x="89" y="0"/>
                    </a:moveTo>
                    <a:lnTo>
                      <a:pt x="89" y="0"/>
                    </a:lnTo>
                    <a:lnTo>
                      <a:pt x="85" y="1"/>
                    </a:lnTo>
                    <a:lnTo>
                      <a:pt x="81" y="3"/>
                    </a:lnTo>
                    <a:lnTo>
                      <a:pt x="77" y="5"/>
                    </a:lnTo>
                    <a:lnTo>
                      <a:pt x="69" y="9"/>
                    </a:lnTo>
                    <a:lnTo>
                      <a:pt x="63" y="13"/>
                    </a:lnTo>
                    <a:lnTo>
                      <a:pt x="55" y="16"/>
                    </a:lnTo>
                    <a:lnTo>
                      <a:pt x="49" y="19"/>
                    </a:lnTo>
                    <a:lnTo>
                      <a:pt x="42" y="22"/>
                    </a:lnTo>
                    <a:lnTo>
                      <a:pt x="34" y="26"/>
                    </a:lnTo>
                    <a:lnTo>
                      <a:pt x="28" y="29"/>
                    </a:lnTo>
                    <a:lnTo>
                      <a:pt x="20" y="33"/>
                    </a:lnTo>
                    <a:lnTo>
                      <a:pt x="15" y="35"/>
                    </a:lnTo>
                    <a:lnTo>
                      <a:pt x="8" y="39"/>
                    </a:lnTo>
                    <a:lnTo>
                      <a:pt x="4" y="40"/>
                    </a:lnTo>
                    <a:lnTo>
                      <a:pt x="2" y="42"/>
                    </a:lnTo>
                    <a:lnTo>
                      <a:pt x="0" y="42"/>
                    </a:lnTo>
                    <a:lnTo>
                      <a:pt x="1" y="44"/>
                    </a:lnTo>
                    <a:lnTo>
                      <a:pt x="2" y="43"/>
                    </a:lnTo>
                    <a:lnTo>
                      <a:pt x="5" y="42"/>
                    </a:lnTo>
                    <a:lnTo>
                      <a:pt x="11" y="40"/>
                    </a:lnTo>
                    <a:lnTo>
                      <a:pt x="15" y="37"/>
                    </a:lnTo>
                    <a:lnTo>
                      <a:pt x="21" y="33"/>
                    </a:lnTo>
                    <a:lnTo>
                      <a:pt x="28" y="31"/>
                    </a:lnTo>
                    <a:lnTo>
                      <a:pt x="35" y="27"/>
                    </a:lnTo>
                    <a:lnTo>
                      <a:pt x="42" y="25"/>
                    </a:lnTo>
                    <a:lnTo>
                      <a:pt x="50" y="20"/>
                    </a:lnTo>
                    <a:lnTo>
                      <a:pt x="56" y="17"/>
                    </a:lnTo>
                    <a:lnTo>
                      <a:pt x="63" y="14"/>
                    </a:lnTo>
                    <a:lnTo>
                      <a:pt x="70" y="11"/>
                    </a:lnTo>
                    <a:lnTo>
                      <a:pt x="77" y="9"/>
                    </a:lnTo>
                    <a:lnTo>
                      <a:pt x="82" y="5"/>
                    </a:lnTo>
                    <a:lnTo>
                      <a:pt x="86" y="3"/>
                    </a:lnTo>
                    <a:lnTo>
                      <a:pt x="90" y="1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49" name="Freeform 966"/>
              <p:cNvSpPr>
                <a:spLocks/>
              </p:cNvSpPr>
              <p:nvPr/>
            </p:nvSpPr>
            <p:spPr bwMode="auto">
              <a:xfrm>
                <a:off x="3103" y="1925"/>
                <a:ext cx="13" cy="3"/>
              </a:xfrm>
              <a:custGeom>
                <a:avLst/>
                <a:gdLst>
                  <a:gd name="T0" fmla="*/ 13 w 13"/>
                  <a:gd name="T1" fmla="*/ 2 h 3"/>
                  <a:gd name="T2" fmla="*/ 13 w 13"/>
                  <a:gd name="T3" fmla="*/ 2 h 3"/>
                  <a:gd name="T4" fmla="*/ 12 w 13"/>
                  <a:gd name="T5" fmla="*/ 1 h 3"/>
                  <a:gd name="T6" fmla="*/ 10 w 13"/>
                  <a:gd name="T7" fmla="*/ 1 h 3"/>
                  <a:gd name="T8" fmla="*/ 9 w 13"/>
                  <a:gd name="T9" fmla="*/ 0 h 3"/>
                  <a:gd name="T10" fmla="*/ 6 w 13"/>
                  <a:gd name="T11" fmla="*/ 0 h 3"/>
                  <a:gd name="T12" fmla="*/ 5 w 13"/>
                  <a:gd name="T13" fmla="*/ 0 h 3"/>
                  <a:gd name="T14" fmla="*/ 3 w 13"/>
                  <a:gd name="T15" fmla="*/ 0 h 3"/>
                  <a:gd name="T16" fmla="*/ 2 w 13"/>
                  <a:gd name="T17" fmla="*/ 0 h 3"/>
                  <a:gd name="T18" fmla="*/ 0 w 13"/>
                  <a:gd name="T19" fmla="*/ 1 h 3"/>
                  <a:gd name="T20" fmla="*/ 0 w 13"/>
                  <a:gd name="T21" fmla="*/ 2 h 3"/>
                  <a:gd name="T22" fmla="*/ 2 w 13"/>
                  <a:gd name="T23" fmla="*/ 2 h 3"/>
                  <a:gd name="T24" fmla="*/ 3 w 13"/>
                  <a:gd name="T25" fmla="*/ 2 h 3"/>
                  <a:gd name="T26" fmla="*/ 5 w 13"/>
                  <a:gd name="T27" fmla="*/ 2 h 3"/>
                  <a:gd name="T28" fmla="*/ 6 w 13"/>
                  <a:gd name="T29" fmla="*/ 2 h 3"/>
                  <a:gd name="T30" fmla="*/ 9 w 13"/>
                  <a:gd name="T31" fmla="*/ 2 h 3"/>
                  <a:gd name="T32" fmla="*/ 10 w 13"/>
                  <a:gd name="T33" fmla="*/ 2 h 3"/>
                  <a:gd name="T34" fmla="*/ 11 w 13"/>
                  <a:gd name="T35" fmla="*/ 3 h 3"/>
                  <a:gd name="T36" fmla="*/ 12 w 13"/>
                  <a:gd name="T37" fmla="*/ 3 h 3"/>
                  <a:gd name="T38" fmla="*/ 13 w 13"/>
                  <a:gd name="T39" fmla="*/ 2 h 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3"/>
                  <a:gd name="T62" fmla="*/ 13 w 13"/>
                  <a:gd name="T63" fmla="*/ 3 h 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3">
                    <a:moveTo>
                      <a:pt x="13" y="2"/>
                    </a:moveTo>
                    <a:lnTo>
                      <a:pt x="13" y="2"/>
                    </a:lnTo>
                    <a:lnTo>
                      <a:pt x="12" y="1"/>
                    </a:lnTo>
                    <a:lnTo>
                      <a:pt x="10" y="1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6" y="2"/>
                    </a:lnTo>
                    <a:lnTo>
                      <a:pt x="9" y="2"/>
                    </a:lnTo>
                    <a:lnTo>
                      <a:pt x="10" y="2"/>
                    </a:lnTo>
                    <a:lnTo>
                      <a:pt x="11" y="3"/>
                    </a:lnTo>
                    <a:lnTo>
                      <a:pt x="12" y="3"/>
                    </a:ln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50" name="Freeform 967"/>
              <p:cNvSpPr>
                <a:spLocks/>
              </p:cNvSpPr>
              <p:nvPr/>
            </p:nvSpPr>
            <p:spPr bwMode="auto">
              <a:xfrm>
                <a:off x="3115" y="1926"/>
                <a:ext cx="128" cy="61"/>
              </a:xfrm>
              <a:custGeom>
                <a:avLst/>
                <a:gdLst>
                  <a:gd name="T0" fmla="*/ 128 w 128"/>
                  <a:gd name="T1" fmla="*/ 60 h 61"/>
                  <a:gd name="T2" fmla="*/ 124 w 128"/>
                  <a:gd name="T3" fmla="*/ 58 h 61"/>
                  <a:gd name="T4" fmla="*/ 119 w 128"/>
                  <a:gd name="T5" fmla="*/ 56 h 61"/>
                  <a:gd name="T6" fmla="*/ 111 w 128"/>
                  <a:gd name="T7" fmla="*/ 52 h 61"/>
                  <a:gd name="T8" fmla="*/ 104 w 128"/>
                  <a:gd name="T9" fmla="*/ 48 h 61"/>
                  <a:gd name="T10" fmla="*/ 94 w 128"/>
                  <a:gd name="T11" fmla="*/ 44 h 61"/>
                  <a:gd name="T12" fmla="*/ 84 w 128"/>
                  <a:gd name="T13" fmla="*/ 39 h 61"/>
                  <a:gd name="T14" fmla="*/ 73 w 128"/>
                  <a:gd name="T15" fmla="*/ 33 h 61"/>
                  <a:gd name="T16" fmla="*/ 62 w 128"/>
                  <a:gd name="T17" fmla="*/ 28 h 61"/>
                  <a:gd name="T18" fmla="*/ 51 w 128"/>
                  <a:gd name="T19" fmla="*/ 24 h 61"/>
                  <a:gd name="T20" fmla="*/ 41 w 128"/>
                  <a:gd name="T21" fmla="*/ 18 h 61"/>
                  <a:gd name="T22" fmla="*/ 30 w 128"/>
                  <a:gd name="T23" fmla="*/ 14 h 61"/>
                  <a:gd name="T24" fmla="*/ 22 w 128"/>
                  <a:gd name="T25" fmla="*/ 9 h 61"/>
                  <a:gd name="T26" fmla="*/ 14 w 128"/>
                  <a:gd name="T27" fmla="*/ 5 h 61"/>
                  <a:gd name="T28" fmla="*/ 8 w 128"/>
                  <a:gd name="T29" fmla="*/ 3 h 61"/>
                  <a:gd name="T30" fmla="*/ 4 w 128"/>
                  <a:gd name="T31" fmla="*/ 1 h 61"/>
                  <a:gd name="T32" fmla="*/ 0 w 128"/>
                  <a:gd name="T33" fmla="*/ 1 h 61"/>
                  <a:gd name="T34" fmla="*/ 2 w 128"/>
                  <a:gd name="T35" fmla="*/ 2 h 61"/>
                  <a:gd name="T36" fmla="*/ 7 w 128"/>
                  <a:gd name="T37" fmla="*/ 4 h 61"/>
                  <a:gd name="T38" fmla="*/ 13 w 128"/>
                  <a:gd name="T39" fmla="*/ 9 h 61"/>
                  <a:gd name="T40" fmla="*/ 21 w 128"/>
                  <a:gd name="T41" fmla="*/ 12 h 61"/>
                  <a:gd name="T42" fmla="*/ 29 w 128"/>
                  <a:gd name="T43" fmla="*/ 16 h 61"/>
                  <a:gd name="T44" fmla="*/ 40 w 128"/>
                  <a:gd name="T45" fmla="*/ 20 h 61"/>
                  <a:gd name="T46" fmla="*/ 50 w 128"/>
                  <a:gd name="T47" fmla="*/ 25 h 61"/>
                  <a:gd name="T48" fmla="*/ 61 w 128"/>
                  <a:gd name="T49" fmla="*/ 30 h 61"/>
                  <a:gd name="T50" fmla="*/ 72 w 128"/>
                  <a:gd name="T51" fmla="*/ 35 h 61"/>
                  <a:gd name="T52" fmla="*/ 83 w 128"/>
                  <a:gd name="T53" fmla="*/ 41 h 61"/>
                  <a:gd name="T54" fmla="*/ 94 w 128"/>
                  <a:gd name="T55" fmla="*/ 45 h 61"/>
                  <a:gd name="T56" fmla="*/ 103 w 128"/>
                  <a:gd name="T57" fmla="*/ 49 h 61"/>
                  <a:gd name="T58" fmla="*/ 110 w 128"/>
                  <a:gd name="T59" fmla="*/ 55 h 61"/>
                  <a:gd name="T60" fmla="*/ 119 w 128"/>
                  <a:gd name="T61" fmla="*/ 57 h 61"/>
                  <a:gd name="T62" fmla="*/ 123 w 128"/>
                  <a:gd name="T63" fmla="*/ 60 h 61"/>
                  <a:gd name="T64" fmla="*/ 126 w 128"/>
                  <a:gd name="T65" fmla="*/ 61 h 6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8"/>
                  <a:gd name="T100" fmla="*/ 0 h 61"/>
                  <a:gd name="T101" fmla="*/ 128 w 128"/>
                  <a:gd name="T102" fmla="*/ 61 h 6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8" h="61">
                    <a:moveTo>
                      <a:pt x="128" y="60"/>
                    </a:moveTo>
                    <a:lnTo>
                      <a:pt x="128" y="60"/>
                    </a:lnTo>
                    <a:lnTo>
                      <a:pt x="126" y="59"/>
                    </a:lnTo>
                    <a:lnTo>
                      <a:pt x="124" y="58"/>
                    </a:lnTo>
                    <a:lnTo>
                      <a:pt x="122" y="57"/>
                    </a:lnTo>
                    <a:lnTo>
                      <a:pt x="119" y="56"/>
                    </a:lnTo>
                    <a:lnTo>
                      <a:pt x="115" y="55"/>
                    </a:lnTo>
                    <a:lnTo>
                      <a:pt x="111" y="52"/>
                    </a:lnTo>
                    <a:lnTo>
                      <a:pt x="108" y="49"/>
                    </a:lnTo>
                    <a:lnTo>
                      <a:pt x="104" y="48"/>
                    </a:lnTo>
                    <a:lnTo>
                      <a:pt x="99" y="46"/>
                    </a:lnTo>
                    <a:lnTo>
                      <a:pt x="94" y="44"/>
                    </a:lnTo>
                    <a:lnTo>
                      <a:pt x="89" y="41"/>
                    </a:lnTo>
                    <a:lnTo>
                      <a:pt x="84" y="39"/>
                    </a:lnTo>
                    <a:lnTo>
                      <a:pt x="78" y="36"/>
                    </a:lnTo>
                    <a:lnTo>
                      <a:pt x="73" y="33"/>
                    </a:lnTo>
                    <a:lnTo>
                      <a:pt x="68" y="31"/>
                    </a:lnTo>
                    <a:lnTo>
                      <a:pt x="62" y="28"/>
                    </a:lnTo>
                    <a:lnTo>
                      <a:pt x="57" y="26"/>
                    </a:lnTo>
                    <a:lnTo>
                      <a:pt x="51" y="24"/>
                    </a:lnTo>
                    <a:lnTo>
                      <a:pt x="45" y="21"/>
                    </a:lnTo>
                    <a:lnTo>
                      <a:pt x="41" y="18"/>
                    </a:lnTo>
                    <a:lnTo>
                      <a:pt x="36" y="16"/>
                    </a:lnTo>
                    <a:lnTo>
                      <a:pt x="30" y="14"/>
                    </a:lnTo>
                    <a:lnTo>
                      <a:pt x="26" y="12"/>
                    </a:lnTo>
                    <a:lnTo>
                      <a:pt x="22" y="9"/>
                    </a:lnTo>
                    <a:lnTo>
                      <a:pt x="17" y="9"/>
                    </a:lnTo>
                    <a:lnTo>
                      <a:pt x="14" y="5"/>
                    </a:lnTo>
                    <a:lnTo>
                      <a:pt x="11" y="4"/>
                    </a:lnTo>
                    <a:lnTo>
                      <a:pt x="8" y="3"/>
                    </a:lnTo>
                    <a:lnTo>
                      <a:pt x="5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5" y="3"/>
                    </a:lnTo>
                    <a:lnTo>
                      <a:pt x="7" y="4"/>
                    </a:lnTo>
                    <a:lnTo>
                      <a:pt x="9" y="5"/>
                    </a:lnTo>
                    <a:lnTo>
                      <a:pt x="13" y="9"/>
                    </a:lnTo>
                    <a:lnTo>
                      <a:pt x="17" y="9"/>
                    </a:lnTo>
                    <a:lnTo>
                      <a:pt x="21" y="12"/>
                    </a:lnTo>
                    <a:lnTo>
                      <a:pt x="25" y="14"/>
                    </a:lnTo>
                    <a:lnTo>
                      <a:pt x="29" y="16"/>
                    </a:lnTo>
                    <a:lnTo>
                      <a:pt x="36" y="18"/>
                    </a:lnTo>
                    <a:lnTo>
                      <a:pt x="40" y="20"/>
                    </a:lnTo>
                    <a:lnTo>
                      <a:pt x="45" y="22"/>
                    </a:lnTo>
                    <a:lnTo>
                      <a:pt x="50" y="25"/>
                    </a:lnTo>
                    <a:lnTo>
                      <a:pt x="56" y="28"/>
                    </a:lnTo>
                    <a:lnTo>
                      <a:pt x="61" y="30"/>
                    </a:lnTo>
                    <a:lnTo>
                      <a:pt x="67" y="33"/>
                    </a:lnTo>
                    <a:lnTo>
                      <a:pt x="72" y="35"/>
                    </a:lnTo>
                    <a:lnTo>
                      <a:pt x="78" y="39"/>
                    </a:lnTo>
                    <a:lnTo>
                      <a:pt x="83" y="41"/>
                    </a:lnTo>
                    <a:lnTo>
                      <a:pt x="88" y="43"/>
                    </a:lnTo>
                    <a:lnTo>
                      <a:pt x="94" y="45"/>
                    </a:lnTo>
                    <a:lnTo>
                      <a:pt x="99" y="47"/>
                    </a:lnTo>
                    <a:lnTo>
                      <a:pt x="103" y="49"/>
                    </a:lnTo>
                    <a:lnTo>
                      <a:pt x="107" y="52"/>
                    </a:lnTo>
                    <a:lnTo>
                      <a:pt x="110" y="55"/>
                    </a:lnTo>
                    <a:lnTo>
                      <a:pt x="115" y="56"/>
                    </a:lnTo>
                    <a:lnTo>
                      <a:pt x="119" y="57"/>
                    </a:lnTo>
                    <a:lnTo>
                      <a:pt x="121" y="59"/>
                    </a:lnTo>
                    <a:lnTo>
                      <a:pt x="123" y="60"/>
                    </a:lnTo>
                    <a:lnTo>
                      <a:pt x="125" y="60"/>
                    </a:lnTo>
                    <a:lnTo>
                      <a:pt x="126" y="61"/>
                    </a:lnTo>
                    <a:lnTo>
                      <a:pt x="128" y="6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51" name="Freeform 968"/>
              <p:cNvSpPr>
                <a:spLocks/>
              </p:cNvSpPr>
              <p:nvPr/>
            </p:nvSpPr>
            <p:spPr bwMode="auto">
              <a:xfrm>
                <a:off x="3241" y="1986"/>
                <a:ext cx="9" cy="9"/>
              </a:xfrm>
              <a:custGeom>
                <a:avLst/>
                <a:gdLst>
                  <a:gd name="T0" fmla="*/ 5 w 9"/>
                  <a:gd name="T1" fmla="*/ 9 h 9"/>
                  <a:gd name="T2" fmla="*/ 5 w 9"/>
                  <a:gd name="T3" fmla="*/ 9 h 9"/>
                  <a:gd name="T4" fmla="*/ 8 w 9"/>
                  <a:gd name="T5" fmla="*/ 8 h 9"/>
                  <a:gd name="T6" fmla="*/ 9 w 9"/>
                  <a:gd name="T7" fmla="*/ 7 h 9"/>
                  <a:gd name="T8" fmla="*/ 9 w 9"/>
                  <a:gd name="T9" fmla="*/ 5 h 9"/>
                  <a:gd name="T10" fmla="*/ 8 w 9"/>
                  <a:gd name="T11" fmla="*/ 4 h 9"/>
                  <a:gd name="T12" fmla="*/ 7 w 9"/>
                  <a:gd name="T13" fmla="*/ 2 h 9"/>
                  <a:gd name="T14" fmla="*/ 5 w 9"/>
                  <a:gd name="T15" fmla="*/ 1 h 9"/>
                  <a:gd name="T16" fmla="*/ 3 w 9"/>
                  <a:gd name="T17" fmla="*/ 1 h 9"/>
                  <a:gd name="T18" fmla="*/ 2 w 9"/>
                  <a:gd name="T19" fmla="*/ 0 h 9"/>
                  <a:gd name="T20" fmla="*/ 0 w 9"/>
                  <a:gd name="T21" fmla="*/ 1 h 9"/>
                  <a:gd name="T22" fmla="*/ 2 w 9"/>
                  <a:gd name="T23" fmla="*/ 2 h 9"/>
                  <a:gd name="T24" fmla="*/ 4 w 9"/>
                  <a:gd name="T25" fmla="*/ 3 h 9"/>
                  <a:gd name="T26" fmla="*/ 5 w 9"/>
                  <a:gd name="T27" fmla="*/ 4 h 9"/>
                  <a:gd name="T28" fmla="*/ 7 w 9"/>
                  <a:gd name="T29" fmla="*/ 5 h 9"/>
                  <a:gd name="T30" fmla="*/ 7 w 9"/>
                  <a:gd name="T31" fmla="*/ 6 h 9"/>
                  <a:gd name="T32" fmla="*/ 7 w 9"/>
                  <a:gd name="T33" fmla="*/ 7 h 9"/>
                  <a:gd name="T34" fmla="*/ 4 w 9"/>
                  <a:gd name="T35" fmla="*/ 8 h 9"/>
                  <a:gd name="T36" fmla="*/ 5 w 9"/>
                  <a:gd name="T37" fmla="*/ 9 h 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9"/>
                  <a:gd name="T59" fmla="*/ 9 w 9"/>
                  <a:gd name="T60" fmla="*/ 9 h 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9">
                    <a:moveTo>
                      <a:pt x="5" y="9"/>
                    </a:moveTo>
                    <a:lnTo>
                      <a:pt x="5" y="9"/>
                    </a:lnTo>
                    <a:lnTo>
                      <a:pt x="8" y="8"/>
                    </a:lnTo>
                    <a:lnTo>
                      <a:pt x="9" y="7"/>
                    </a:lnTo>
                    <a:lnTo>
                      <a:pt x="9" y="5"/>
                    </a:lnTo>
                    <a:lnTo>
                      <a:pt x="8" y="4"/>
                    </a:lnTo>
                    <a:lnTo>
                      <a:pt x="7" y="2"/>
                    </a:lnTo>
                    <a:lnTo>
                      <a:pt x="5" y="1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4"/>
                    </a:lnTo>
                    <a:lnTo>
                      <a:pt x="7" y="5"/>
                    </a:lnTo>
                    <a:lnTo>
                      <a:pt x="7" y="6"/>
                    </a:lnTo>
                    <a:lnTo>
                      <a:pt x="7" y="7"/>
                    </a:lnTo>
                    <a:lnTo>
                      <a:pt x="4" y="8"/>
                    </a:lnTo>
                    <a:lnTo>
                      <a:pt x="5" y="9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52" name="Freeform 969"/>
              <p:cNvSpPr>
                <a:spLocks/>
              </p:cNvSpPr>
              <p:nvPr/>
            </p:nvSpPr>
            <p:spPr bwMode="auto">
              <a:xfrm>
                <a:off x="3143" y="1994"/>
                <a:ext cx="103" cy="47"/>
              </a:xfrm>
              <a:custGeom>
                <a:avLst/>
                <a:gdLst>
                  <a:gd name="T0" fmla="*/ 1 w 103"/>
                  <a:gd name="T1" fmla="*/ 47 h 47"/>
                  <a:gd name="T2" fmla="*/ 3 w 103"/>
                  <a:gd name="T3" fmla="*/ 46 h 47"/>
                  <a:gd name="T4" fmla="*/ 9 w 103"/>
                  <a:gd name="T5" fmla="*/ 44 h 47"/>
                  <a:gd name="T6" fmla="*/ 14 w 103"/>
                  <a:gd name="T7" fmla="*/ 42 h 47"/>
                  <a:gd name="T8" fmla="*/ 20 w 103"/>
                  <a:gd name="T9" fmla="*/ 38 h 47"/>
                  <a:gd name="T10" fmla="*/ 27 w 103"/>
                  <a:gd name="T11" fmla="*/ 36 h 47"/>
                  <a:gd name="T12" fmla="*/ 35 w 103"/>
                  <a:gd name="T13" fmla="*/ 32 h 47"/>
                  <a:gd name="T14" fmla="*/ 44 w 103"/>
                  <a:gd name="T15" fmla="*/ 28 h 47"/>
                  <a:gd name="T16" fmla="*/ 52 w 103"/>
                  <a:gd name="T17" fmla="*/ 25 h 47"/>
                  <a:gd name="T18" fmla="*/ 60 w 103"/>
                  <a:gd name="T19" fmla="*/ 22 h 47"/>
                  <a:gd name="T20" fmla="*/ 70 w 103"/>
                  <a:gd name="T21" fmla="*/ 18 h 47"/>
                  <a:gd name="T22" fmla="*/ 77 w 103"/>
                  <a:gd name="T23" fmla="*/ 14 h 47"/>
                  <a:gd name="T24" fmla="*/ 83 w 103"/>
                  <a:gd name="T25" fmla="*/ 11 h 47"/>
                  <a:gd name="T26" fmla="*/ 90 w 103"/>
                  <a:gd name="T27" fmla="*/ 8 h 47"/>
                  <a:gd name="T28" fmla="*/ 96 w 103"/>
                  <a:gd name="T29" fmla="*/ 5 h 47"/>
                  <a:gd name="T30" fmla="*/ 100 w 103"/>
                  <a:gd name="T31" fmla="*/ 4 h 47"/>
                  <a:gd name="T32" fmla="*/ 103 w 103"/>
                  <a:gd name="T33" fmla="*/ 1 h 47"/>
                  <a:gd name="T34" fmla="*/ 101 w 103"/>
                  <a:gd name="T35" fmla="*/ 0 h 47"/>
                  <a:gd name="T36" fmla="*/ 97 w 103"/>
                  <a:gd name="T37" fmla="*/ 3 h 47"/>
                  <a:gd name="T38" fmla="*/ 92 w 103"/>
                  <a:gd name="T39" fmla="*/ 5 h 47"/>
                  <a:gd name="T40" fmla="*/ 86 w 103"/>
                  <a:gd name="T41" fmla="*/ 8 h 47"/>
                  <a:gd name="T42" fmla="*/ 79 w 103"/>
                  <a:gd name="T43" fmla="*/ 11 h 47"/>
                  <a:gd name="T44" fmla="*/ 73 w 103"/>
                  <a:gd name="T45" fmla="*/ 14 h 47"/>
                  <a:gd name="T46" fmla="*/ 64 w 103"/>
                  <a:gd name="T47" fmla="*/ 18 h 47"/>
                  <a:gd name="T48" fmla="*/ 56 w 103"/>
                  <a:gd name="T49" fmla="*/ 22 h 47"/>
                  <a:gd name="T50" fmla="*/ 47 w 103"/>
                  <a:gd name="T51" fmla="*/ 25 h 47"/>
                  <a:gd name="T52" fmla="*/ 39 w 103"/>
                  <a:gd name="T53" fmla="*/ 29 h 47"/>
                  <a:gd name="T54" fmla="*/ 31 w 103"/>
                  <a:gd name="T55" fmla="*/ 32 h 47"/>
                  <a:gd name="T56" fmla="*/ 23 w 103"/>
                  <a:gd name="T57" fmla="*/ 36 h 47"/>
                  <a:gd name="T58" fmla="*/ 16 w 103"/>
                  <a:gd name="T59" fmla="*/ 38 h 47"/>
                  <a:gd name="T60" fmla="*/ 11 w 103"/>
                  <a:gd name="T61" fmla="*/ 42 h 47"/>
                  <a:gd name="T62" fmla="*/ 5 w 103"/>
                  <a:gd name="T63" fmla="*/ 44 h 47"/>
                  <a:gd name="T64" fmla="*/ 1 w 103"/>
                  <a:gd name="T65" fmla="*/ 45 h 47"/>
                  <a:gd name="T66" fmla="*/ 1 w 103"/>
                  <a:gd name="T67" fmla="*/ 47 h 4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7"/>
                  <a:gd name="T104" fmla="*/ 103 w 103"/>
                  <a:gd name="T105" fmla="*/ 47 h 4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7">
                    <a:moveTo>
                      <a:pt x="1" y="47"/>
                    </a:moveTo>
                    <a:lnTo>
                      <a:pt x="1" y="47"/>
                    </a:lnTo>
                    <a:lnTo>
                      <a:pt x="2" y="46"/>
                    </a:lnTo>
                    <a:lnTo>
                      <a:pt x="3" y="46"/>
                    </a:lnTo>
                    <a:lnTo>
                      <a:pt x="5" y="45"/>
                    </a:lnTo>
                    <a:lnTo>
                      <a:pt x="9" y="44"/>
                    </a:lnTo>
                    <a:lnTo>
                      <a:pt x="12" y="43"/>
                    </a:lnTo>
                    <a:lnTo>
                      <a:pt x="14" y="42"/>
                    </a:lnTo>
                    <a:lnTo>
                      <a:pt x="17" y="41"/>
                    </a:lnTo>
                    <a:lnTo>
                      <a:pt x="20" y="38"/>
                    </a:lnTo>
                    <a:lnTo>
                      <a:pt x="24" y="38"/>
                    </a:lnTo>
                    <a:lnTo>
                      <a:pt x="27" y="36"/>
                    </a:lnTo>
                    <a:lnTo>
                      <a:pt x="31" y="34"/>
                    </a:lnTo>
                    <a:lnTo>
                      <a:pt x="35" y="32"/>
                    </a:lnTo>
                    <a:lnTo>
                      <a:pt x="40" y="30"/>
                    </a:lnTo>
                    <a:lnTo>
                      <a:pt x="44" y="28"/>
                    </a:lnTo>
                    <a:lnTo>
                      <a:pt x="47" y="27"/>
                    </a:lnTo>
                    <a:lnTo>
                      <a:pt x="52" y="25"/>
                    </a:lnTo>
                    <a:lnTo>
                      <a:pt x="57" y="24"/>
                    </a:lnTo>
                    <a:lnTo>
                      <a:pt x="60" y="22"/>
                    </a:lnTo>
                    <a:lnTo>
                      <a:pt x="64" y="19"/>
                    </a:lnTo>
                    <a:lnTo>
                      <a:pt x="70" y="18"/>
                    </a:lnTo>
                    <a:lnTo>
                      <a:pt x="73" y="15"/>
                    </a:lnTo>
                    <a:lnTo>
                      <a:pt x="77" y="14"/>
                    </a:lnTo>
                    <a:lnTo>
                      <a:pt x="80" y="12"/>
                    </a:lnTo>
                    <a:lnTo>
                      <a:pt x="83" y="11"/>
                    </a:lnTo>
                    <a:lnTo>
                      <a:pt x="87" y="10"/>
                    </a:lnTo>
                    <a:lnTo>
                      <a:pt x="90" y="8"/>
                    </a:lnTo>
                    <a:lnTo>
                      <a:pt x="92" y="6"/>
                    </a:lnTo>
                    <a:lnTo>
                      <a:pt x="96" y="5"/>
                    </a:lnTo>
                    <a:lnTo>
                      <a:pt x="98" y="4"/>
                    </a:lnTo>
                    <a:lnTo>
                      <a:pt x="100" y="4"/>
                    </a:lnTo>
                    <a:lnTo>
                      <a:pt x="102" y="3"/>
                    </a:lnTo>
                    <a:lnTo>
                      <a:pt x="103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100" y="1"/>
                    </a:lnTo>
                    <a:lnTo>
                      <a:pt x="97" y="3"/>
                    </a:lnTo>
                    <a:lnTo>
                      <a:pt x="95" y="4"/>
                    </a:lnTo>
                    <a:lnTo>
                      <a:pt x="92" y="5"/>
                    </a:lnTo>
                    <a:lnTo>
                      <a:pt x="89" y="6"/>
                    </a:lnTo>
                    <a:lnTo>
                      <a:pt x="86" y="8"/>
                    </a:lnTo>
                    <a:lnTo>
                      <a:pt x="82" y="9"/>
                    </a:lnTo>
                    <a:lnTo>
                      <a:pt x="79" y="11"/>
                    </a:lnTo>
                    <a:lnTo>
                      <a:pt x="76" y="12"/>
                    </a:lnTo>
                    <a:lnTo>
                      <a:pt x="73" y="14"/>
                    </a:lnTo>
                    <a:lnTo>
                      <a:pt x="67" y="15"/>
                    </a:lnTo>
                    <a:lnTo>
                      <a:pt x="64" y="18"/>
                    </a:lnTo>
                    <a:lnTo>
                      <a:pt x="60" y="19"/>
                    </a:lnTo>
                    <a:lnTo>
                      <a:pt x="56" y="22"/>
                    </a:lnTo>
                    <a:lnTo>
                      <a:pt x="50" y="24"/>
                    </a:lnTo>
                    <a:lnTo>
                      <a:pt x="47" y="25"/>
                    </a:lnTo>
                    <a:lnTo>
                      <a:pt x="43" y="27"/>
                    </a:lnTo>
                    <a:lnTo>
                      <a:pt x="39" y="29"/>
                    </a:lnTo>
                    <a:lnTo>
                      <a:pt x="35" y="30"/>
                    </a:lnTo>
                    <a:lnTo>
                      <a:pt x="31" y="32"/>
                    </a:lnTo>
                    <a:lnTo>
                      <a:pt x="27" y="34"/>
                    </a:lnTo>
                    <a:lnTo>
                      <a:pt x="23" y="36"/>
                    </a:lnTo>
                    <a:lnTo>
                      <a:pt x="19" y="38"/>
                    </a:lnTo>
                    <a:lnTo>
                      <a:pt x="16" y="38"/>
                    </a:lnTo>
                    <a:lnTo>
                      <a:pt x="14" y="40"/>
                    </a:lnTo>
                    <a:lnTo>
                      <a:pt x="11" y="42"/>
                    </a:lnTo>
                    <a:lnTo>
                      <a:pt x="9" y="43"/>
                    </a:lnTo>
                    <a:lnTo>
                      <a:pt x="5" y="44"/>
                    </a:lnTo>
                    <a:lnTo>
                      <a:pt x="3" y="44"/>
                    </a:lnTo>
                    <a:lnTo>
                      <a:pt x="1" y="45"/>
                    </a:lnTo>
                    <a:lnTo>
                      <a:pt x="0" y="45"/>
                    </a:lnTo>
                    <a:lnTo>
                      <a:pt x="1" y="47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53" name="Freeform 970"/>
              <p:cNvSpPr>
                <a:spLocks/>
              </p:cNvSpPr>
              <p:nvPr/>
            </p:nvSpPr>
            <p:spPr bwMode="auto">
              <a:xfrm>
                <a:off x="3129" y="2037"/>
                <a:ext cx="14" cy="4"/>
              </a:xfrm>
              <a:custGeom>
                <a:avLst/>
                <a:gdLst>
                  <a:gd name="T0" fmla="*/ 0 w 14"/>
                  <a:gd name="T1" fmla="*/ 1 h 4"/>
                  <a:gd name="T2" fmla="*/ 0 w 14"/>
                  <a:gd name="T3" fmla="*/ 1 h 4"/>
                  <a:gd name="T4" fmla="*/ 1 w 14"/>
                  <a:gd name="T5" fmla="*/ 2 h 4"/>
                  <a:gd name="T6" fmla="*/ 3 w 14"/>
                  <a:gd name="T7" fmla="*/ 3 h 4"/>
                  <a:gd name="T8" fmla="*/ 7 w 14"/>
                  <a:gd name="T9" fmla="*/ 3 h 4"/>
                  <a:gd name="T10" fmla="*/ 7 w 14"/>
                  <a:gd name="T11" fmla="*/ 3 h 4"/>
                  <a:gd name="T12" fmla="*/ 10 w 14"/>
                  <a:gd name="T13" fmla="*/ 4 h 4"/>
                  <a:gd name="T14" fmla="*/ 11 w 14"/>
                  <a:gd name="T15" fmla="*/ 4 h 4"/>
                  <a:gd name="T16" fmla="*/ 13 w 14"/>
                  <a:gd name="T17" fmla="*/ 4 h 4"/>
                  <a:gd name="T18" fmla="*/ 14 w 14"/>
                  <a:gd name="T19" fmla="*/ 4 h 4"/>
                  <a:gd name="T20" fmla="*/ 13 w 14"/>
                  <a:gd name="T21" fmla="*/ 2 h 4"/>
                  <a:gd name="T22" fmla="*/ 11 w 14"/>
                  <a:gd name="T23" fmla="*/ 2 h 4"/>
                  <a:gd name="T24" fmla="*/ 10 w 14"/>
                  <a:gd name="T25" fmla="*/ 2 h 4"/>
                  <a:gd name="T26" fmla="*/ 9 w 14"/>
                  <a:gd name="T27" fmla="*/ 2 h 4"/>
                  <a:gd name="T28" fmla="*/ 7 w 14"/>
                  <a:gd name="T29" fmla="*/ 1 h 4"/>
                  <a:gd name="T30" fmla="*/ 3 w 14"/>
                  <a:gd name="T31" fmla="*/ 1 h 4"/>
                  <a:gd name="T32" fmla="*/ 2 w 14"/>
                  <a:gd name="T33" fmla="*/ 1 h 4"/>
                  <a:gd name="T34" fmla="*/ 1 w 14"/>
                  <a:gd name="T35" fmla="*/ 0 h 4"/>
                  <a:gd name="T36" fmla="*/ 0 w 14"/>
                  <a:gd name="T37" fmla="*/ 1 h 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4"/>
                  <a:gd name="T59" fmla="*/ 14 w 14"/>
                  <a:gd name="T60" fmla="*/ 4 h 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4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3" y="3"/>
                    </a:lnTo>
                    <a:lnTo>
                      <a:pt x="7" y="3"/>
                    </a:lnTo>
                    <a:lnTo>
                      <a:pt x="10" y="4"/>
                    </a:lnTo>
                    <a:lnTo>
                      <a:pt x="11" y="4"/>
                    </a:lnTo>
                    <a:lnTo>
                      <a:pt x="13" y="4"/>
                    </a:lnTo>
                    <a:lnTo>
                      <a:pt x="14" y="4"/>
                    </a:lnTo>
                    <a:lnTo>
                      <a:pt x="13" y="2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2"/>
                    </a:lnTo>
                    <a:lnTo>
                      <a:pt x="7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54" name="Freeform 971"/>
              <p:cNvSpPr>
                <a:spLocks/>
              </p:cNvSpPr>
              <p:nvPr/>
            </p:nvSpPr>
            <p:spPr bwMode="auto">
              <a:xfrm>
                <a:off x="3015" y="1975"/>
                <a:ext cx="115" cy="62"/>
              </a:xfrm>
              <a:custGeom>
                <a:avLst/>
                <a:gdLst>
                  <a:gd name="T0" fmla="*/ 0 w 115"/>
                  <a:gd name="T1" fmla="*/ 1 h 62"/>
                  <a:gd name="T2" fmla="*/ 2 w 115"/>
                  <a:gd name="T3" fmla="*/ 2 h 62"/>
                  <a:gd name="T4" fmla="*/ 5 w 115"/>
                  <a:gd name="T5" fmla="*/ 4 h 62"/>
                  <a:gd name="T6" fmla="*/ 11 w 115"/>
                  <a:gd name="T7" fmla="*/ 9 h 62"/>
                  <a:gd name="T8" fmla="*/ 18 w 115"/>
                  <a:gd name="T9" fmla="*/ 12 h 62"/>
                  <a:gd name="T10" fmla="*/ 26 w 115"/>
                  <a:gd name="T11" fmla="*/ 16 h 62"/>
                  <a:gd name="T12" fmla="*/ 35 w 115"/>
                  <a:gd name="T13" fmla="*/ 20 h 62"/>
                  <a:gd name="T14" fmla="*/ 45 w 115"/>
                  <a:gd name="T15" fmla="*/ 26 h 62"/>
                  <a:gd name="T16" fmla="*/ 54 w 115"/>
                  <a:gd name="T17" fmla="*/ 31 h 62"/>
                  <a:gd name="T18" fmla="*/ 64 w 115"/>
                  <a:gd name="T19" fmla="*/ 37 h 62"/>
                  <a:gd name="T20" fmla="*/ 75 w 115"/>
                  <a:gd name="T21" fmla="*/ 42 h 62"/>
                  <a:gd name="T22" fmla="*/ 83 w 115"/>
                  <a:gd name="T23" fmla="*/ 47 h 62"/>
                  <a:gd name="T24" fmla="*/ 93 w 115"/>
                  <a:gd name="T25" fmla="*/ 51 h 62"/>
                  <a:gd name="T26" fmla="*/ 99 w 115"/>
                  <a:gd name="T27" fmla="*/ 55 h 62"/>
                  <a:gd name="T28" fmla="*/ 107 w 115"/>
                  <a:gd name="T29" fmla="*/ 58 h 62"/>
                  <a:gd name="T30" fmla="*/ 112 w 115"/>
                  <a:gd name="T31" fmla="*/ 61 h 62"/>
                  <a:gd name="T32" fmla="*/ 114 w 115"/>
                  <a:gd name="T33" fmla="*/ 62 h 62"/>
                  <a:gd name="T34" fmla="*/ 114 w 115"/>
                  <a:gd name="T35" fmla="*/ 60 h 62"/>
                  <a:gd name="T36" fmla="*/ 110 w 115"/>
                  <a:gd name="T37" fmla="*/ 58 h 62"/>
                  <a:gd name="T38" fmla="*/ 104 w 115"/>
                  <a:gd name="T39" fmla="*/ 55 h 62"/>
                  <a:gd name="T40" fmla="*/ 97 w 115"/>
                  <a:gd name="T41" fmla="*/ 51 h 62"/>
                  <a:gd name="T42" fmla="*/ 90 w 115"/>
                  <a:gd name="T43" fmla="*/ 47 h 62"/>
                  <a:gd name="T44" fmla="*/ 80 w 115"/>
                  <a:gd name="T45" fmla="*/ 42 h 62"/>
                  <a:gd name="T46" fmla="*/ 70 w 115"/>
                  <a:gd name="T47" fmla="*/ 38 h 62"/>
                  <a:gd name="T48" fmla="*/ 61 w 115"/>
                  <a:gd name="T49" fmla="*/ 32 h 62"/>
                  <a:gd name="T50" fmla="*/ 51 w 115"/>
                  <a:gd name="T51" fmla="*/ 28 h 62"/>
                  <a:gd name="T52" fmla="*/ 41 w 115"/>
                  <a:gd name="T53" fmla="*/ 22 h 62"/>
                  <a:gd name="T54" fmla="*/ 32 w 115"/>
                  <a:gd name="T55" fmla="*/ 17 h 62"/>
                  <a:gd name="T56" fmla="*/ 23 w 115"/>
                  <a:gd name="T57" fmla="*/ 12 h 62"/>
                  <a:gd name="T58" fmla="*/ 16 w 115"/>
                  <a:gd name="T59" fmla="*/ 9 h 62"/>
                  <a:gd name="T60" fmla="*/ 8 w 115"/>
                  <a:gd name="T61" fmla="*/ 4 h 62"/>
                  <a:gd name="T62" fmla="*/ 4 w 115"/>
                  <a:gd name="T63" fmla="*/ 2 h 62"/>
                  <a:gd name="T64" fmla="*/ 1 w 115"/>
                  <a:gd name="T65" fmla="*/ 0 h 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2"/>
                  <a:gd name="T101" fmla="*/ 115 w 115"/>
                  <a:gd name="T102" fmla="*/ 62 h 6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2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5" y="4"/>
                    </a:lnTo>
                    <a:lnTo>
                      <a:pt x="7" y="7"/>
                    </a:lnTo>
                    <a:lnTo>
                      <a:pt x="11" y="9"/>
                    </a:lnTo>
                    <a:lnTo>
                      <a:pt x="15" y="9"/>
                    </a:lnTo>
                    <a:lnTo>
                      <a:pt x="18" y="12"/>
                    </a:lnTo>
                    <a:lnTo>
                      <a:pt x="22" y="14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0"/>
                    </a:lnTo>
                    <a:lnTo>
                      <a:pt x="39" y="23"/>
                    </a:lnTo>
                    <a:lnTo>
                      <a:pt x="45" y="26"/>
                    </a:lnTo>
                    <a:lnTo>
                      <a:pt x="49" y="28"/>
                    </a:lnTo>
                    <a:lnTo>
                      <a:pt x="54" y="31"/>
                    </a:lnTo>
                    <a:lnTo>
                      <a:pt x="60" y="34"/>
                    </a:lnTo>
                    <a:lnTo>
                      <a:pt x="64" y="37"/>
                    </a:lnTo>
                    <a:lnTo>
                      <a:pt x="70" y="39"/>
                    </a:lnTo>
                    <a:lnTo>
                      <a:pt x="75" y="42"/>
                    </a:lnTo>
                    <a:lnTo>
                      <a:pt x="79" y="44"/>
                    </a:lnTo>
                    <a:lnTo>
                      <a:pt x="83" y="47"/>
                    </a:lnTo>
                    <a:lnTo>
                      <a:pt x="88" y="49"/>
                    </a:lnTo>
                    <a:lnTo>
                      <a:pt x="93" y="51"/>
                    </a:lnTo>
                    <a:lnTo>
                      <a:pt x="96" y="54"/>
                    </a:lnTo>
                    <a:lnTo>
                      <a:pt x="99" y="55"/>
                    </a:lnTo>
                    <a:lnTo>
                      <a:pt x="102" y="57"/>
                    </a:lnTo>
                    <a:lnTo>
                      <a:pt x="107" y="58"/>
                    </a:lnTo>
                    <a:lnTo>
                      <a:pt x="110" y="60"/>
                    </a:lnTo>
                    <a:lnTo>
                      <a:pt x="112" y="61"/>
                    </a:lnTo>
                    <a:lnTo>
                      <a:pt x="113" y="61"/>
                    </a:lnTo>
                    <a:lnTo>
                      <a:pt x="114" y="62"/>
                    </a:lnTo>
                    <a:lnTo>
                      <a:pt x="115" y="61"/>
                    </a:lnTo>
                    <a:lnTo>
                      <a:pt x="114" y="60"/>
                    </a:lnTo>
                    <a:lnTo>
                      <a:pt x="112" y="59"/>
                    </a:lnTo>
                    <a:lnTo>
                      <a:pt x="110" y="58"/>
                    </a:lnTo>
                    <a:lnTo>
                      <a:pt x="107" y="57"/>
                    </a:lnTo>
                    <a:lnTo>
                      <a:pt x="104" y="55"/>
                    </a:lnTo>
                    <a:lnTo>
                      <a:pt x="100" y="54"/>
                    </a:lnTo>
                    <a:lnTo>
                      <a:pt x="97" y="51"/>
                    </a:lnTo>
                    <a:lnTo>
                      <a:pt x="94" y="49"/>
                    </a:lnTo>
                    <a:lnTo>
                      <a:pt x="90" y="47"/>
                    </a:lnTo>
                    <a:lnTo>
                      <a:pt x="84" y="44"/>
                    </a:lnTo>
                    <a:lnTo>
                      <a:pt x="80" y="42"/>
                    </a:lnTo>
                    <a:lnTo>
                      <a:pt x="76" y="40"/>
                    </a:lnTo>
                    <a:lnTo>
                      <a:pt x="70" y="38"/>
                    </a:lnTo>
                    <a:lnTo>
                      <a:pt x="65" y="34"/>
                    </a:lnTo>
                    <a:lnTo>
                      <a:pt x="61" y="32"/>
                    </a:lnTo>
                    <a:lnTo>
                      <a:pt x="55" y="30"/>
                    </a:lnTo>
                    <a:lnTo>
                      <a:pt x="51" y="28"/>
                    </a:lnTo>
                    <a:lnTo>
                      <a:pt x="46" y="24"/>
                    </a:lnTo>
                    <a:lnTo>
                      <a:pt x="41" y="22"/>
                    </a:lnTo>
                    <a:lnTo>
                      <a:pt x="36" y="19"/>
                    </a:lnTo>
                    <a:lnTo>
                      <a:pt x="32" y="17"/>
                    </a:lnTo>
                    <a:lnTo>
                      <a:pt x="27" y="14"/>
                    </a:lnTo>
                    <a:lnTo>
                      <a:pt x="23" y="12"/>
                    </a:lnTo>
                    <a:lnTo>
                      <a:pt x="19" y="11"/>
                    </a:lnTo>
                    <a:lnTo>
                      <a:pt x="16" y="9"/>
                    </a:lnTo>
                    <a:lnTo>
                      <a:pt x="13" y="7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55" name="Freeform 972"/>
              <p:cNvSpPr>
                <a:spLocks/>
              </p:cNvSpPr>
              <p:nvPr/>
            </p:nvSpPr>
            <p:spPr bwMode="auto">
              <a:xfrm>
                <a:off x="3010" y="1969"/>
                <a:ext cx="6" cy="7"/>
              </a:xfrm>
              <a:custGeom>
                <a:avLst/>
                <a:gdLst>
                  <a:gd name="T0" fmla="*/ 4 w 6"/>
                  <a:gd name="T1" fmla="*/ 0 h 7"/>
                  <a:gd name="T2" fmla="*/ 4 w 6"/>
                  <a:gd name="T3" fmla="*/ 0 h 7"/>
                  <a:gd name="T4" fmla="*/ 2 w 6"/>
                  <a:gd name="T5" fmla="*/ 1 h 7"/>
                  <a:gd name="T6" fmla="*/ 1 w 6"/>
                  <a:gd name="T7" fmla="*/ 2 h 7"/>
                  <a:gd name="T8" fmla="*/ 0 w 6"/>
                  <a:gd name="T9" fmla="*/ 3 h 7"/>
                  <a:gd name="T10" fmla="*/ 0 w 6"/>
                  <a:gd name="T11" fmla="*/ 4 h 7"/>
                  <a:gd name="T12" fmla="*/ 1 w 6"/>
                  <a:gd name="T13" fmla="*/ 5 h 7"/>
                  <a:gd name="T14" fmla="*/ 2 w 6"/>
                  <a:gd name="T15" fmla="*/ 5 h 7"/>
                  <a:gd name="T16" fmla="*/ 4 w 6"/>
                  <a:gd name="T17" fmla="*/ 6 h 7"/>
                  <a:gd name="T18" fmla="*/ 5 w 6"/>
                  <a:gd name="T19" fmla="*/ 7 h 7"/>
                  <a:gd name="T20" fmla="*/ 6 w 6"/>
                  <a:gd name="T21" fmla="*/ 6 h 7"/>
                  <a:gd name="T22" fmla="*/ 4 w 6"/>
                  <a:gd name="T23" fmla="*/ 5 h 7"/>
                  <a:gd name="T24" fmla="*/ 3 w 6"/>
                  <a:gd name="T25" fmla="*/ 4 h 7"/>
                  <a:gd name="T26" fmla="*/ 2 w 6"/>
                  <a:gd name="T27" fmla="*/ 4 h 7"/>
                  <a:gd name="T28" fmla="*/ 2 w 6"/>
                  <a:gd name="T29" fmla="*/ 3 h 7"/>
                  <a:gd name="T30" fmla="*/ 3 w 6"/>
                  <a:gd name="T31" fmla="*/ 3 h 7"/>
                  <a:gd name="T32" fmla="*/ 5 w 6"/>
                  <a:gd name="T33" fmla="*/ 1 h 7"/>
                  <a:gd name="T34" fmla="*/ 4 w 6"/>
                  <a:gd name="T35" fmla="*/ 0 h 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"/>
                  <a:gd name="T55" fmla="*/ 0 h 7"/>
                  <a:gd name="T56" fmla="*/ 6 w 6"/>
                  <a:gd name="T57" fmla="*/ 7 h 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" h="7">
                    <a:moveTo>
                      <a:pt x="4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2" y="5"/>
                    </a:lnTo>
                    <a:lnTo>
                      <a:pt x="4" y="6"/>
                    </a:lnTo>
                    <a:lnTo>
                      <a:pt x="5" y="7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3" y="4"/>
                    </a:lnTo>
                    <a:lnTo>
                      <a:pt x="2" y="4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56" name="Freeform 973"/>
              <p:cNvSpPr>
                <a:spLocks/>
              </p:cNvSpPr>
              <p:nvPr/>
            </p:nvSpPr>
            <p:spPr bwMode="auto">
              <a:xfrm>
                <a:off x="3137" y="2028"/>
                <a:ext cx="106" cy="48"/>
              </a:xfrm>
              <a:custGeom>
                <a:avLst/>
                <a:gdLst>
                  <a:gd name="T0" fmla="*/ 106 w 106"/>
                  <a:gd name="T1" fmla="*/ 0 h 48"/>
                  <a:gd name="T2" fmla="*/ 104 w 106"/>
                  <a:gd name="T3" fmla="*/ 1 h 48"/>
                  <a:gd name="T4" fmla="*/ 102 w 106"/>
                  <a:gd name="T5" fmla="*/ 1 h 48"/>
                  <a:gd name="T6" fmla="*/ 100 w 106"/>
                  <a:gd name="T7" fmla="*/ 2 h 48"/>
                  <a:gd name="T8" fmla="*/ 98 w 106"/>
                  <a:gd name="T9" fmla="*/ 3 h 48"/>
                  <a:gd name="T10" fmla="*/ 95 w 106"/>
                  <a:gd name="T11" fmla="*/ 4 h 48"/>
                  <a:gd name="T12" fmla="*/ 92 w 106"/>
                  <a:gd name="T13" fmla="*/ 5 h 48"/>
                  <a:gd name="T14" fmla="*/ 88 w 106"/>
                  <a:gd name="T15" fmla="*/ 7 h 48"/>
                  <a:gd name="T16" fmla="*/ 85 w 106"/>
                  <a:gd name="T17" fmla="*/ 8 h 48"/>
                  <a:gd name="T18" fmla="*/ 82 w 106"/>
                  <a:gd name="T19" fmla="*/ 10 h 48"/>
                  <a:gd name="T20" fmla="*/ 79 w 106"/>
                  <a:gd name="T21" fmla="*/ 12 h 48"/>
                  <a:gd name="T22" fmla="*/ 75 w 106"/>
                  <a:gd name="T23" fmla="*/ 14 h 48"/>
                  <a:gd name="T24" fmla="*/ 70 w 106"/>
                  <a:gd name="T25" fmla="*/ 16 h 48"/>
                  <a:gd name="T26" fmla="*/ 66 w 106"/>
                  <a:gd name="T27" fmla="*/ 18 h 48"/>
                  <a:gd name="T28" fmla="*/ 62 w 106"/>
                  <a:gd name="T29" fmla="*/ 20 h 48"/>
                  <a:gd name="T30" fmla="*/ 57 w 106"/>
                  <a:gd name="T31" fmla="*/ 22 h 48"/>
                  <a:gd name="T32" fmla="*/ 53 w 106"/>
                  <a:gd name="T33" fmla="*/ 23 h 48"/>
                  <a:gd name="T34" fmla="*/ 50 w 106"/>
                  <a:gd name="T35" fmla="*/ 25 h 48"/>
                  <a:gd name="T36" fmla="*/ 45 w 106"/>
                  <a:gd name="T37" fmla="*/ 27 h 48"/>
                  <a:gd name="T38" fmla="*/ 40 w 106"/>
                  <a:gd name="T39" fmla="*/ 29 h 48"/>
                  <a:gd name="T40" fmla="*/ 36 w 106"/>
                  <a:gd name="T41" fmla="*/ 31 h 48"/>
                  <a:gd name="T42" fmla="*/ 31 w 106"/>
                  <a:gd name="T43" fmla="*/ 33 h 48"/>
                  <a:gd name="T44" fmla="*/ 28 w 106"/>
                  <a:gd name="T45" fmla="*/ 35 h 48"/>
                  <a:gd name="T46" fmla="*/ 23 w 106"/>
                  <a:gd name="T47" fmla="*/ 37 h 48"/>
                  <a:gd name="T48" fmla="*/ 20 w 106"/>
                  <a:gd name="T49" fmla="*/ 39 h 48"/>
                  <a:gd name="T50" fmla="*/ 17 w 106"/>
                  <a:gd name="T51" fmla="*/ 40 h 48"/>
                  <a:gd name="T52" fmla="*/ 14 w 106"/>
                  <a:gd name="T53" fmla="*/ 41 h 48"/>
                  <a:gd name="T54" fmla="*/ 10 w 106"/>
                  <a:gd name="T55" fmla="*/ 43 h 48"/>
                  <a:gd name="T56" fmla="*/ 8 w 106"/>
                  <a:gd name="T57" fmla="*/ 44 h 48"/>
                  <a:gd name="T58" fmla="*/ 5 w 106"/>
                  <a:gd name="T59" fmla="*/ 45 h 48"/>
                  <a:gd name="T60" fmla="*/ 3 w 106"/>
                  <a:gd name="T61" fmla="*/ 47 h 48"/>
                  <a:gd name="T62" fmla="*/ 1 w 106"/>
                  <a:gd name="T63" fmla="*/ 47 h 48"/>
                  <a:gd name="T64" fmla="*/ 0 w 106"/>
                  <a:gd name="T65" fmla="*/ 48 h 48"/>
                  <a:gd name="T66" fmla="*/ 106 w 106"/>
                  <a:gd name="T67" fmla="*/ 0 h 4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6"/>
                  <a:gd name="T103" fmla="*/ 0 h 48"/>
                  <a:gd name="T104" fmla="*/ 106 w 106"/>
                  <a:gd name="T105" fmla="*/ 48 h 4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6" h="48">
                    <a:moveTo>
                      <a:pt x="106" y="0"/>
                    </a:moveTo>
                    <a:lnTo>
                      <a:pt x="104" y="1"/>
                    </a:lnTo>
                    <a:lnTo>
                      <a:pt x="102" y="1"/>
                    </a:lnTo>
                    <a:lnTo>
                      <a:pt x="100" y="2"/>
                    </a:lnTo>
                    <a:lnTo>
                      <a:pt x="98" y="3"/>
                    </a:lnTo>
                    <a:lnTo>
                      <a:pt x="95" y="4"/>
                    </a:lnTo>
                    <a:lnTo>
                      <a:pt x="92" y="5"/>
                    </a:lnTo>
                    <a:lnTo>
                      <a:pt x="88" y="7"/>
                    </a:lnTo>
                    <a:lnTo>
                      <a:pt x="85" y="8"/>
                    </a:lnTo>
                    <a:lnTo>
                      <a:pt x="82" y="10"/>
                    </a:lnTo>
                    <a:lnTo>
                      <a:pt x="79" y="12"/>
                    </a:lnTo>
                    <a:lnTo>
                      <a:pt x="75" y="14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0"/>
                    </a:lnTo>
                    <a:lnTo>
                      <a:pt x="57" y="22"/>
                    </a:lnTo>
                    <a:lnTo>
                      <a:pt x="53" y="23"/>
                    </a:lnTo>
                    <a:lnTo>
                      <a:pt x="50" y="25"/>
                    </a:lnTo>
                    <a:lnTo>
                      <a:pt x="45" y="27"/>
                    </a:lnTo>
                    <a:lnTo>
                      <a:pt x="40" y="29"/>
                    </a:lnTo>
                    <a:lnTo>
                      <a:pt x="36" y="31"/>
                    </a:lnTo>
                    <a:lnTo>
                      <a:pt x="31" y="33"/>
                    </a:lnTo>
                    <a:lnTo>
                      <a:pt x="28" y="35"/>
                    </a:lnTo>
                    <a:lnTo>
                      <a:pt x="23" y="37"/>
                    </a:lnTo>
                    <a:lnTo>
                      <a:pt x="20" y="39"/>
                    </a:lnTo>
                    <a:lnTo>
                      <a:pt x="17" y="40"/>
                    </a:lnTo>
                    <a:lnTo>
                      <a:pt x="14" y="41"/>
                    </a:lnTo>
                    <a:lnTo>
                      <a:pt x="10" y="43"/>
                    </a:lnTo>
                    <a:lnTo>
                      <a:pt x="8" y="44"/>
                    </a:lnTo>
                    <a:lnTo>
                      <a:pt x="5" y="45"/>
                    </a:lnTo>
                    <a:lnTo>
                      <a:pt x="3" y="47"/>
                    </a:lnTo>
                    <a:lnTo>
                      <a:pt x="1" y="47"/>
                    </a:lnTo>
                    <a:lnTo>
                      <a:pt x="0" y="48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57" name="Freeform 974"/>
              <p:cNvSpPr>
                <a:spLocks/>
              </p:cNvSpPr>
              <p:nvPr/>
            </p:nvSpPr>
            <p:spPr bwMode="auto">
              <a:xfrm>
                <a:off x="3136" y="2028"/>
                <a:ext cx="107" cy="50"/>
              </a:xfrm>
              <a:custGeom>
                <a:avLst/>
                <a:gdLst>
                  <a:gd name="T0" fmla="*/ 2 w 107"/>
                  <a:gd name="T1" fmla="*/ 49 h 50"/>
                  <a:gd name="T2" fmla="*/ 6 w 107"/>
                  <a:gd name="T3" fmla="*/ 48 h 50"/>
                  <a:gd name="T4" fmla="*/ 10 w 107"/>
                  <a:gd name="T5" fmla="*/ 45 h 50"/>
                  <a:gd name="T6" fmla="*/ 18 w 107"/>
                  <a:gd name="T7" fmla="*/ 41 h 50"/>
                  <a:gd name="T8" fmla="*/ 24 w 107"/>
                  <a:gd name="T9" fmla="*/ 38 h 50"/>
                  <a:gd name="T10" fmla="*/ 32 w 107"/>
                  <a:gd name="T11" fmla="*/ 35 h 50"/>
                  <a:gd name="T12" fmla="*/ 41 w 107"/>
                  <a:gd name="T13" fmla="*/ 32 h 50"/>
                  <a:gd name="T14" fmla="*/ 49 w 107"/>
                  <a:gd name="T15" fmla="*/ 27 h 50"/>
                  <a:gd name="T16" fmla="*/ 58 w 107"/>
                  <a:gd name="T17" fmla="*/ 23 h 50"/>
                  <a:gd name="T18" fmla="*/ 67 w 107"/>
                  <a:gd name="T19" fmla="*/ 19 h 50"/>
                  <a:gd name="T20" fmla="*/ 76 w 107"/>
                  <a:gd name="T21" fmla="*/ 16 h 50"/>
                  <a:gd name="T22" fmla="*/ 83 w 107"/>
                  <a:gd name="T23" fmla="*/ 12 h 50"/>
                  <a:gd name="T24" fmla="*/ 89 w 107"/>
                  <a:gd name="T25" fmla="*/ 9 h 50"/>
                  <a:gd name="T26" fmla="*/ 96 w 107"/>
                  <a:gd name="T27" fmla="*/ 6 h 50"/>
                  <a:gd name="T28" fmla="*/ 101 w 107"/>
                  <a:gd name="T29" fmla="*/ 4 h 50"/>
                  <a:gd name="T30" fmla="*/ 105 w 107"/>
                  <a:gd name="T31" fmla="*/ 2 h 50"/>
                  <a:gd name="T32" fmla="*/ 105 w 107"/>
                  <a:gd name="T33" fmla="*/ 0 h 50"/>
                  <a:gd name="T34" fmla="*/ 103 w 107"/>
                  <a:gd name="T35" fmla="*/ 1 h 50"/>
                  <a:gd name="T36" fmla="*/ 99 w 107"/>
                  <a:gd name="T37" fmla="*/ 3 h 50"/>
                  <a:gd name="T38" fmla="*/ 92 w 107"/>
                  <a:gd name="T39" fmla="*/ 5 h 50"/>
                  <a:gd name="T40" fmla="*/ 86 w 107"/>
                  <a:gd name="T41" fmla="*/ 9 h 50"/>
                  <a:gd name="T42" fmla="*/ 79 w 107"/>
                  <a:gd name="T43" fmla="*/ 12 h 50"/>
                  <a:gd name="T44" fmla="*/ 70 w 107"/>
                  <a:gd name="T45" fmla="*/ 16 h 50"/>
                  <a:gd name="T46" fmla="*/ 62 w 107"/>
                  <a:gd name="T47" fmla="*/ 20 h 50"/>
                  <a:gd name="T48" fmla="*/ 52 w 107"/>
                  <a:gd name="T49" fmla="*/ 23 h 50"/>
                  <a:gd name="T50" fmla="*/ 45 w 107"/>
                  <a:gd name="T51" fmla="*/ 28 h 50"/>
                  <a:gd name="T52" fmla="*/ 35 w 107"/>
                  <a:gd name="T53" fmla="*/ 32 h 50"/>
                  <a:gd name="T54" fmla="*/ 27 w 107"/>
                  <a:gd name="T55" fmla="*/ 35 h 50"/>
                  <a:gd name="T56" fmla="*/ 20 w 107"/>
                  <a:gd name="T57" fmla="*/ 38 h 50"/>
                  <a:gd name="T58" fmla="*/ 12 w 107"/>
                  <a:gd name="T59" fmla="*/ 41 h 50"/>
                  <a:gd name="T60" fmla="*/ 7 w 107"/>
                  <a:gd name="T61" fmla="*/ 44 h 50"/>
                  <a:gd name="T62" fmla="*/ 3 w 107"/>
                  <a:gd name="T63" fmla="*/ 47 h 50"/>
                  <a:gd name="T64" fmla="*/ 0 w 107"/>
                  <a:gd name="T65" fmla="*/ 48 h 5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50"/>
                  <a:gd name="T101" fmla="*/ 107 w 107"/>
                  <a:gd name="T102" fmla="*/ 50 h 5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50">
                    <a:moveTo>
                      <a:pt x="1" y="50"/>
                    </a:moveTo>
                    <a:lnTo>
                      <a:pt x="2" y="49"/>
                    </a:lnTo>
                    <a:lnTo>
                      <a:pt x="4" y="49"/>
                    </a:lnTo>
                    <a:lnTo>
                      <a:pt x="6" y="48"/>
                    </a:lnTo>
                    <a:lnTo>
                      <a:pt x="8" y="47"/>
                    </a:lnTo>
                    <a:lnTo>
                      <a:pt x="10" y="45"/>
                    </a:lnTo>
                    <a:lnTo>
                      <a:pt x="15" y="43"/>
                    </a:lnTo>
                    <a:lnTo>
                      <a:pt x="18" y="41"/>
                    </a:lnTo>
                    <a:lnTo>
                      <a:pt x="21" y="40"/>
                    </a:lnTo>
                    <a:lnTo>
                      <a:pt x="24" y="38"/>
                    </a:lnTo>
                    <a:lnTo>
                      <a:pt x="29" y="37"/>
                    </a:lnTo>
                    <a:lnTo>
                      <a:pt x="32" y="35"/>
                    </a:lnTo>
                    <a:lnTo>
                      <a:pt x="37" y="33"/>
                    </a:lnTo>
                    <a:lnTo>
                      <a:pt x="41" y="32"/>
                    </a:lnTo>
                    <a:lnTo>
                      <a:pt x="45" y="29"/>
                    </a:lnTo>
                    <a:lnTo>
                      <a:pt x="49" y="27"/>
                    </a:lnTo>
                    <a:lnTo>
                      <a:pt x="54" y="24"/>
                    </a:lnTo>
                    <a:lnTo>
                      <a:pt x="58" y="23"/>
                    </a:lnTo>
                    <a:lnTo>
                      <a:pt x="63" y="21"/>
                    </a:lnTo>
                    <a:lnTo>
                      <a:pt x="67" y="19"/>
                    </a:lnTo>
                    <a:lnTo>
                      <a:pt x="71" y="18"/>
                    </a:lnTo>
                    <a:lnTo>
                      <a:pt x="76" y="16"/>
                    </a:lnTo>
                    <a:lnTo>
                      <a:pt x="80" y="13"/>
                    </a:lnTo>
                    <a:lnTo>
                      <a:pt x="83" y="12"/>
                    </a:lnTo>
                    <a:lnTo>
                      <a:pt x="86" y="9"/>
                    </a:lnTo>
                    <a:lnTo>
                      <a:pt x="89" y="9"/>
                    </a:lnTo>
                    <a:lnTo>
                      <a:pt x="93" y="7"/>
                    </a:lnTo>
                    <a:lnTo>
                      <a:pt x="96" y="6"/>
                    </a:lnTo>
                    <a:lnTo>
                      <a:pt x="99" y="5"/>
                    </a:lnTo>
                    <a:lnTo>
                      <a:pt x="101" y="4"/>
                    </a:lnTo>
                    <a:lnTo>
                      <a:pt x="103" y="3"/>
                    </a:lnTo>
                    <a:lnTo>
                      <a:pt x="105" y="2"/>
                    </a:lnTo>
                    <a:lnTo>
                      <a:pt x="107" y="1"/>
                    </a:lnTo>
                    <a:lnTo>
                      <a:pt x="105" y="0"/>
                    </a:lnTo>
                    <a:lnTo>
                      <a:pt x="104" y="0"/>
                    </a:lnTo>
                    <a:lnTo>
                      <a:pt x="103" y="1"/>
                    </a:lnTo>
                    <a:lnTo>
                      <a:pt x="101" y="2"/>
                    </a:lnTo>
                    <a:lnTo>
                      <a:pt x="99" y="3"/>
                    </a:lnTo>
                    <a:lnTo>
                      <a:pt x="96" y="4"/>
                    </a:lnTo>
                    <a:lnTo>
                      <a:pt x="92" y="5"/>
                    </a:lnTo>
                    <a:lnTo>
                      <a:pt x="89" y="7"/>
                    </a:lnTo>
                    <a:lnTo>
                      <a:pt x="86" y="9"/>
                    </a:lnTo>
                    <a:lnTo>
                      <a:pt x="82" y="9"/>
                    </a:lnTo>
                    <a:lnTo>
                      <a:pt x="79" y="12"/>
                    </a:lnTo>
                    <a:lnTo>
                      <a:pt x="73" y="13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0"/>
                    </a:lnTo>
                    <a:lnTo>
                      <a:pt x="57" y="21"/>
                    </a:lnTo>
                    <a:lnTo>
                      <a:pt x="52" y="23"/>
                    </a:lnTo>
                    <a:lnTo>
                      <a:pt x="49" y="25"/>
                    </a:lnTo>
                    <a:lnTo>
                      <a:pt x="45" y="28"/>
                    </a:lnTo>
                    <a:lnTo>
                      <a:pt x="40" y="29"/>
                    </a:lnTo>
                    <a:lnTo>
                      <a:pt x="35" y="32"/>
                    </a:lnTo>
                    <a:lnTo>
                      <a:pt x="31" y="34"/>
                    </a:lnTo>
                    <a:lnTo>
                      <a:pt x="27" y="35"/>
                    </a:lnTo>
                    <a:lnTo>
                      <a:pt x="24" y="37"/>
                    </a:lnTo>
                    <a:lnTo>
                      <a:pt x="20" y="38"/>
                    </a:lnTo>
                    <a:lnTo>
                      <a:pt x="17" y="40"/>
                    </a:lnTo>
                    <a:lnTo>
                      <a:pt x="12" y="41"/>
                    </a:lnTo>
                    <a:lnTo>
                      <a:pt x="10" y="43"/>
                    </a:lnTo>
                    <a:lnTo>
                      <a:pt x="7" y="44"/>
                    </a:lnTo>
                    <a:lnTo>
                      <a:pt x="5" y="45"/>
                    </a:lnTo>
                    <a:lnTo>
                      <a:pt x="3" y="47"/>
                    </a:lnTo>
                    <a:lnTo>
                      <a:pt x="1" y="48"/>
                    </a:lnTo>
                    <a:lnTo>
                      <a:pt x="0" y="48"/>
                    </a:lnTo>
                    <a:lnTo>
                      <a:pt x="1" y="5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58" name="Freeform 975"/>
              <p:cNvSpPr>
                <a:spLocks/>
              </p:cNvSpPr>
              <p:nvPr/>
            </p:nvSpPr>
            <p:spPr bwMode="auto">
              <a:xfrm>
                <a:off x="3075" y="1868"/>
                <a:ext cx="80" cy="127"/>
              </a:xfrm>
              <a:custGeom>
                <a:avLst/>
                <a:gdLst>
                  <a:gd name="T0" fmla="*/ 68 w 80"/>
                  <a:gd name="T1" fmla="*/ 105 h 127"/>
                  <a:gd name="T2" fmla="*/ 67 w 80"/>
                  <a:gd name="T3" fmla="*/ 108 h 127"/>
                  <a:gd name="T4" fmla="*/ 69 w 80"/>
                  <a:gd name="T5" fmla="*/ 109 h 127"/>
                  <a:gd name="T6" fmla="*/ 73 w 80"/>
                  <a:gd name="T7" fmla="*/ 111 h 127"/>
                  <a:gd name="T8" fmla="*/ 73 w 80"/>
                  <a:gd name="T9" fmla="*/ 114 h 127"/>
                  <a:gd name="T10" fmla="*/ 71 w 80"/>
                  <a:gd name="T11" fmla="*/ 117 h 127"/>
                  <a:gd name="T12" fmla="*/ 69 w 80"/>
                  <a:gd name="T13" fmla="*/ 119 h 127"/>
                  <a:gd name="T14" fmla="*/ 66 w 80"/>
                  <a:gd name="T15" fmla="*/ 122 h 127"/>
                  <a:gd name="T16" fmla="*/ 62 w 80"/>
                  <a:gd name="T17" fmla="*/ 124 h 127"/>
                  <a:gd name="T18" fmla="*/ 55 w 80"/>
                  <a:gd name="T19" fmla="*/ 125 h 127"/>
                  <a:gd name="T20" fmla="*/ 50 w 80"/>
                  <a:gd name="T21" fmla="*/ 126 h 127"/>
                  <a:gd name="T22" fmla="*/ 44 w 80"/>
                  <a:gd name="T23" fmla="*/ 127 h 127"/>
                  <a:gd name="T24" fmla="*/ 36 w 80"/>
                  <a:gd name="T25" fmla="*/ 127 h 127"/>
                  <a:gd name="T26" fmla="*/ 30 w 80"/>
                  <a:gd name="T27" fmla="*/ 126 h 127"/>
                  <a:gd name="T28" fmla="*/ 24 w 80"/>
                  <a:gd name="T29" fmla="*/ 125 h 127"/>
                  <a:gd name="T30" fmla="*/ 19 w 80"/>
                  <a:gd name="T31" fmla="*/ 124 h 127"/>
                  <a:gd name="T32" fmla="*/ 14 w 80"/>
                  <a:gd name="T33" fmla="*/ 122 h 127"/>
                  <a:gd name="T34" fmla="*/ 10 w 80"/>
                  <a:gd name="T35" fmla="*/ 119 h 127"/>
                  <a:gd name="T36" fmla="*/ 8 w 80"/>
                  <a:gd name="T37" fmla="*/ 117 h 127"/>
                  <a:gd name="T38" fmla="*/ 6 w 80"/>
                  <a:gd name="T39" fmla="*/ 114 h 127"/>
                  <a:gd name="T40" fmla="*/ 6 w 80"/>
                  <a:gd name="T41" fmla="*/ 110 h 127"/>
                  <a:gd name="T42" fmla="*/ 8 w 80"/>
                  <a:gd name="T43" fmla="*/ 107 h 127"/>
                  <a:gd name="T44" fmla="*/ 12 w 80"/>
                  <a:gd name="T45" fmla="*/ 105 h 127"/>
                  <a:gd name="T46" fmla="*/ 10 w 80"/>
                  <a:gd name="T47" fmla="*/ 102 h 127"/>
                  <a:gd name="T48" fmla="*/ 3 w 80"/>
                  <a:gd name="T49" fmla="*/ 94 h 127"/>
                  <a:gd name="T50" fmla="*/ 1 w 80"/>
                  <a:gd name="T51" fmla="*/ 75 h 127"/>
                  <a:gd name="T52" fmla="*/ 0 w 80"/>
                  <a:gd name="T53" fmla="*/ 51 h 127"/>
                  <a:gd name="T54" fmla="*/ 3 w 80"/>
                  <a:gd name="T55" fmla="*/ 32 h 127"/>
                  <a:gd name="T56" fmla="*/ 8 w 80"/>
                  <a:gd name="T57" fmla="*/ 25 h 127"/>
                  <a:gd name="T58" fmla="*/ 12 w 80"/>
                  <a:gd name="T59" fmla="*/ 22 h 127"/>
                  <a:gd name="T60" fmla="*/ 8 w 80"/>
                  <a:gd name="T61" fmla="*/ 20 h 127"/>
                  <a:gd name="T62" fmla="*/ 6 w 80"/>
                  <a:gd name="T63" fmla="*/ 17 h 127"/>
                  <a:gd name="T64" fmla="*/ 6 w 80"/>
                  <a:gd name="T65" fmla="*/ 13 h 127"/>
                  <a:gd name="T66" fmla="*/ 8 w 80"/>
                  <a:gd name="T67" fmla="*/ 10 h 127"/>
                  <a:gd name="T68" fmla="*/ 10 w 80"/>
                  <a:gd name="T69" fmla="*/ 8 h 127"/>
                  <a:gd name="T70" fmla="*/ 14 w 80"/>
                  <a:gd name="T71" fmla="*/ 6 h 127"/>
                  <a:gd name="T72" fmla="*/ 19 w 80"/>
                  <a:gd name="T73" fmla="*/ 4 h 127"/>
                  <a:gd name="T74" fmla="*/ 24 w 80"/>
                  <a:gd name="T75" fmla="*/ 1 h 127"/>
                  <a:gd name="T76" fmla="*/ 30 w 80"/>
                  <a:gd name="T77" fmla="*/ 1 h 127"/>
                  <a:gd name="T78" fmla="*/ 36 w 80"/>
                  <a:gd name="T79" fmla="*/ 0 h 127"/>
                  <a:gd name="T80" fmla="*/ 44 w 80"/>
                  <a:gd name="T81" fmla="*/ 0 h 127"/>
                  <a:gd name="T82" fmla="*/ 50 w 80"/>
                  <a:gd name="T83" fmla="*/ 1 h 127"/>
                  <a:gd name="T84" fmla="*/ 55 w 80"/>
                  <a:gd name="T85" fmla="*/ 1 h 127"/>
                  <a:gd name="T86" fmla="*/ 62 w 80"/>
                  <a:gd name="T87" fmla="*/ 4 h 127"/>
                  <a:gd name="T88" fmla="*/ 66 w 80"/>
                  <a:gd name="T89" fmla="*/ 6 h 127"/>
                  <a:gd name="T90" fmla="*/ 69 w 80"/>
                  <a:gd name="T91" fmla="*/ 8 h 127"/>
                  <a:gd name="T92" fmla="*/ 71 w 80"/>
                  <a:gd name="T93" fmla="*/ 10 h 127"/>
                  <a:gd name="T94" fmla="*/ 73 w 80"/>
                  <a:gd name="T95" fmla="*/ 13 h 127"/>
                  <a:gd name="T96" fmla="*/ 73 w 80"/>
                  <a:gd name="T97" fmla="*/ 17 h 127"/>
                  <a:gd name="T98" fmla="*/ 70 w 80"/>
                  <a:gd name="T99" fmla="*/ 20 h 127"/>
                  <a:gd name="T100" fmla="*/ 68 w 80"/>
                  <a:gd name="T101" fmla="*/ 21 h 127"/>
                  <a:gd name="T102" fmla="*/ 70 w 80"/>
                  <a:gd name="T103" fmla="*/ 24 h 127"/>
                  <a:gd name="T104" fmla="*/ 77 w 80"/>
                  <a:gd name="T105" fmla="*/ 32 h 127"/>
                  <a:gd name="T106" fmla="*/ 80 w 80"/>
                  <a:gd name="T107" fmla="*/ 54 h 127"/>
                  <a:gd name="T108" fmla="*/ 79 w 80"/>
                  <a:gd name="T109" fmla="*/ 80 h 127"/>
                  <a:gd name="T110" fmla="*/ 73 w 80"/>
                  <a:gd name="T111" fmla="*/ 100 h 127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80"/>
                  <a:gd name="T169" fmla="*/ 0 h 127"/>
                  <a:gd name="T170" fmla="*/ 80 w 80"/>
                  <a:gd name="T171" fmla="*/ 127 h 127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80" h="127">
                    <a:moveTo>
                      <a:pt x="70" y="103"/>
                    </a:moveTo>
                    <a:lnTo>
                      <a:pt x="68" y="105"/>
                    </a:lnTo>
                    <a:lnTo>
                      <a:pt x="67" y="107"/>
                    </a:lnTo>
                    <a:lnTo>
                      <a:pt x="67" y="108"/>
                    </a:lnTo>
                    <a:lnTo>
                      <a:pt x="68" y="109"/>
                    </a:lnTo>
                    <a:lnTo>
                      <a:pt x="69" y="109"/>
                    </a:lnTo>
                    <a:lnTo>
                      <a:pt x="71" y="110"/>
                    </a:lnTo>
                    <a:lnTo>
                      <a:pt x="73" y="111"/>
                    </a:lnTo>
                    <a:lnTo>
                      <a:pt x="73" y="113"/>
                    </a:lnTo>
                    <a:lnTo>
                      <a:pt x="73" y="114"/>
                    </a:lnTo>
                    <a:lnTo>
                      <a:pt x="73" y="116"/>
                    </a:lnTo>
                    <a:lnTo>
                      <a:pt x="71" y="117"/>
                    </a:lnTo>
                    <a:lnTo>
                      <a:pt x="70" y="119"/>
                    </a:lnTo>
                    <a:lnTo>
                      <a:pt x="69" y="119"/>
                    </a:lnTo>
                    <a:lnTo>
                      <a:pt x="68" y="121"/>
                    </a:lnTo>
                    <a:lnTo>
                      <a:pt x="66" y="122"/>
                    </a:lnTo>
                    <a:lnTo>
                      <a:pt x="64" y="123"/>
                    </a:lnTo>
                    <a:lnTo>
                      <a:pt x="62" y="124"/>
                    </a:lnTo>
                    <a:lnTo>
                      <a:pt x="60" y="125"/>
                    </a:lnTo>
                    <a:lnTo>
                      <a:pt x="55" y="125"/>
                    </a:lnTo>
                    <a:lnTo>
                      <a:pt x="53" y="126"/>
                    </a:lnTo>
                    <a:lnTo>
                      <a:pt x="50" y="126"/>
                    </a:lnTo>
                    <a:lnTo>
                      <a:pt x="47" y="127"/>
                    </a:lnTo>
                    <a:lnTo>
                      <a:pt x="44" y="127"/>
                    </a:lnTo>
                    <a:lnTo>
                      <a:pt x="39" y="127"/>
                    </a:lnTo>
                    <a:lnTo>
                      <a:pt x="36" y="127"/>
                    </a:lnTo>
                    <a:lnTo>
                      <a:pt x="33" y="127"/>
                    </a:lnTo>
                    <a:lnTo>
                      <a:pt x="30" y="126"/>
                    </a:lnTo>
                    <a:lnTo>
                      <a:pt x="28" y="126"/>
                    </a:lnTo>
                    <a:lnTo>
                      <a:pt x="24" y="125"/>
                    </a:lnTo>
                    <a:lnTo>
                      <a:pt x="22" y="125"/>
                    </a:lnTo>
                    <a:lnTo>
                      <a:pt x="19" y="124"/>
                    </a:lnTo>
                    <a:lnTo>
                      <a:pt x="16" y="123"/>
                    </a:lnTo>
                    <a:lnTo>
                      <a:pt x="14" y="122"/>
                    </a:lnTo>
                    <a:lnTo>
                      <a:pt x="13" y="121"/>
                    </a:lnTo>
                    <a:lnTo>
                      <a:pt x="10" y="119"/>
                    </a:lnTo>
                    <a:lnTo>
                      <a:pt x="8" y="119"/>
                    </a:lnTo>
                    <a:lnTo>
                      <a:pt x="8" y="117"/>
                    </a:lnTo>
                    <a:lnTo>
                      <a:pt x="6" y="116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6" y="110"/>
                    </a:lnTo>
                    <a:lnTo>
                      <a:pt x="8" y="108"/>
                    </a:lnTo>
                    <a:lnTo>
                      <a:pt x="8" y="107"/>
                    </a:lnTo>
                    <a:lnTo>
                      <a:pt x="12" y="106"/>
                    </a:lnTo>
                    <a:lnTo>
                      <a:pt x="12" y="105"/>
                    </a:lnTo>
                    <a:lnTo>
                      <a:pt x="12" y="104"/>
                    </a:lnTo>
                    <a:lnTo>
                      <a:pt x="10" y="102"/>
                    </a:lnTo>
                    <a:lnTo>
                      <a:pt x="6" y="100"/>
                    </a:lnTo>
                    <a:lnTo>
                      <a:pt x="3" y="94"/>
                    </a:lnTo>
                    <a:lnTo>
                      <a:pt x="2" y="87"/>
                    </a:lnTo>
                    <a:lnTo>
                      <a:pt x="1" y="75"/>
                    </a:lnTo>
                    <a:lnTo>
                      <a:pt x="0" y="63"/>
                    </a:lnTo>
                    <a:lnTo>
                      <a:pt x="0" y="51"/>
                    </a:lnTo>
                    <a:lnTo>
                      <a:pt x="1" y="41"/>
                    </a:lnTo>
                    <a:lnTo>
                      <a:pt x="3" y="32"/>
                    </a:lnTo>
                    <a:lnTo>
                      <a:pt x="6" y="27"/>
                    </a:lnTo>
                    <a:lnTo>
                      <a:pt x="8" y="25"/>
                    </a:lnTo>
                    <a:lnTo>
                      <a:pt x="12" y="23"/>
                    </a:lnTo>
                    <a:lnTo>
                      <a:pt x="12" y="22"/>
                    </a:lnTo>
                    <a:lnTo>
                      <a:pt x="12" y="21"/>
                    </a:lnTo>
                    <a:lnTo>
                      <a:pt x="8" y="20"/>
                    </a:lnTo>
                    <a:lnTo>
                      <a:pt x="8" y="19"/>
                    </a:lnTo>
                    <a:lnTo>
                      <a:pt x="6" y="17"/>
                    </a:lnTo>
                    <a:lnTo>
                      <a:pt x="6" y="15"/>
                    </a:lnTo>
                    <a:lnTo>
                      <a:pt x="6" y="13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3" y="7"/>
                    </a:lnTo>
                    <a:lnTo>
                      <a:pt x="14" y="6"/>
                    </a:lnTo>
                    <a:lnTo>
                      <a:pt x="16" y="5"/>
                    </a:lnTo>
                    <a:lnTo>
                      <a:pt x="19" y="4"/>
                    </a:lnTo>
                    <a:lnTo>
                      <a:pt x="22" y="2"/>
                    </a:lnTo>
                    <a:lnTo>
                      <a:pt x="24" y="1"/>
                    </a:lnTo>
                    <a:lnTo>
                      <a:pt x="28" y="1"/>
                    </a:lnTo>
                    <a:lnTo>
                      <a:pt x="30" y="1"/>
                    </a:lnTo>
                    <a:lnTo>
                      <a:pt x="33" y="0"/>
                    </a:lnTo>
                    <a:lnTo>
                      <a:pt x="36" y="0"/>
                    </a:lnTo>
                    <a:lnTo>
                      <a:pt x="39" y="0"/>
                    </a:lnTo>
                    <a:lnTo>
                      <a:pt x="44" y="0"/>
                    </a:lnTo>
                    <a:lnTo>
                      <a:pt x="47" y="0"/>
                    </a:lnTo>
                    <a:lnTo>
                      <a:pt x="50" y="1"/>
                    </a:lnTo>
                    <a:lnTo>
                      <a:pt x="53" y="1"/>
                    </a:lnTo>
                    <a:lnTo>
                      <a:pt x="55" y="1"/>
                    </a:lnTo>
                    <a:lnTo>
                      <a:pt x="60" y="2"/>
                    </a:lnTo>
                    <a:lnTo>
                      <a:pt x="62" y="4"/>
                    </a:lnTo>
                    <a:lnTo>
                      <a:pt x="64" y="5"/>
                    </a:lnTo>
                    <a:lnTo>
                      <a:pt x="66" y="6"/>
                    </a:lnTo>
                    <a:lnTo>
                      <a:pt x="68" y="7"/>
                    </a:lnTo>
                    <a:lnTo>
                      <a:pt x="69" y="8"/>
                    </a:lnTo>
                    <a:lnTo>
                      <a:pt x="70" y="9"/>
                    </a:lnTo>
                    <a:lnTo>
                      <a:pt x="71" y="10"/>
                    </a:lnTo>
                    <a:lnTo>
                      <a:pt x="73" y="11"/>
                    </a:lnTo>
                    <a:lnTo>
                      <a:pt x="73" y="13"/>
                    </a:lnTo>
                    <a:lnTo>
                      <a:pt x="73" y="15"/>
                    </a:lnTo>
                    <a:lnTo>
                      <a:pt x="73" y="17"/>
                    </a:lnTo>
                    <a:lnTo>
                      <a:pt x="71" y="19"/>
                    </a:lnTo>
                    <a:lnTo>
                      <a:pt x="70" y="20"/>
                    </a:lnTo>
                    <a:lnTo>
                      <a:pt x="69" y="20"/>
                    </a:lnTo>
                    <a:lnTo>
                      <a:pt x="68" y="21"/>
                    </a:lnTo>
                    <a:lnTo>
                      <a:pt x="68" y="22"/>
                    </a:lnTo>
                    <a:lnTo>
                      <a:pt x="70" y="24"/>
                    </a:lnTo>
                    <a:lnTo>
                      <a:pt x="73" y="26"/>
                    </a:lnTo>
                    <a:lnTo>
                      <a:pt x="77" y="32"/>
                    </a:lnTo>
                    <a:lnTo>
                      <a:pt x="79" y="42"/>
                    </a:lnTo>
                    <a:lnTo>
                      <a:pt x="80" y="54"/>
                    </a:lnTo>
                    <a:lnTo>
                      <a:pt x="80" y="67"/>
                    </a:lnTo>
                    <a:lnTo>
                      <a:pt x="79" y="80"/>
                    </a:lnTo>
                    <a:lnTo>
                      <a:pt x="77" y="90"/>
                    </a:lnTo>
                    <a:lnTo>
                      <a:pt x="73" y="100"/>
                    </a:lnTo>
                    <a:lnTo>
                      <a:pt x="70" y="103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59" name="Freeform 976"/>
              <p:cNvSpPr>
                <a:spLocks/>
              </p:cNvSpPr>
              <p:nvPr/>
            </p:nvSpPr>
            <p:spPr bwMode="auto">
              <a:xfrm>
                <a:off x="3141" y="1970"/>
                <a:ext cx="9" cy="12"/>
              </a:xfrm>
              <a:custGeom>
                <a:avLst/>
                <a:gdLst>
                  <a:gd name="T0" fmla="*/ 9 w 9"/>
                  <a:gd name="T1" fmla="*/ 12 h 12"/>
                  <a:gd name="T2" fmla="*/ 9 w 9"/>
                  <a:gd name="T3" fmla="*/ 12 h 12"/>
                  <a:gd name="T4" fmla="*/ 7 w 9"/>
                  <a:gd name="T5" fmla="*/ 9 h 12"/>
                  <a:gd name="T6" fmla="*/ 6 w 9"/>
                  <a:gd name="T7" fmla="*/ 8 h 12"/>
                  <a:gd name="T8" fmla="*/ 4 w 9"/>
                  <a:gd name="T9" fmla="*/ 7 h 12"/>
                  <a:gd name="T10" fmla="*/ 3 w 9"/>
                  <a:gd name="T11" fmla="*/ 5 h 12"/>
                  <a:gd name="T12" fmla="*/ 2 w 9"/>
                  <a:gd name="T13" fmla="*/ 5 h 12"/>
                  <a:gd name="T14" fmla="*/ 2 w 9"/>
                  <a:gd name="T15" fmla="*/ 4 h 12"/>
                  <a:gd name="T16" fmla="*/ 3 w 9"/>
                  <a:gd name="T17" fmla="*/ 3 h 12"/>
                  <a:gd name="T18" fmla="*/ 5 w 9"/>
                  <a:gd name="T19" fmla="*/ 2 h 12"/>
                  <a:gd name="T20" fmla="*/ 4 w 9"/>
                  <a:gd name="T21" fmla="*/ 0 h 12"/>
                  <a:gd name="T22" fmla="*/ 1 w 9"/>
                  <a:gd name="T23" fmla="*/ 2 h 12"/>
                  <a:gd name="T24" fmla="*/ 0 w 9"/>
                  <a:gd name="T25" fmla="*/ 4 h 12"/>
                  <a:gd name="T26" fmla="*/ 0 w 9"/>
                  <a:gd name="T27" fmla="*/ 7 h 12"/>
                  <a:gd name="T28" fmla="*/ 2 w 9"/>
                  <a:gd name="T29" fmla="*/ 8 h 12"/>
                  <a:gd name="T30" fmla="*/ 3 w 9"/>
                  <a:gd name="T31" fmla="*/ 9 h 12"/>
                  <a:gd name="T32" fmla="*/ 5 w 9"/>
                  <a:gd name="T33" fmla="*/ 11 h 12"/>
                  <a:gd name="T34" fmla="*/ 6 w 9"/>
                  <a:gd name="T35" fmla="*/ 11 h 12"/>
                  <a:gd name="T36" fmla="*/ 6 w 9"/>
                  <a:gd name="T37" fmla="*/ 12 h 12"/>
                  <a:gd name="T38" fmla="*/ 9 w 9"/>
                  <a:gd name="T39" fmla="*/ 12 h 1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9"/>
                  <a:gd name="T61" fmla="*/ 0 h 12"/>
                  <a:gd name="T62" fmla="*/ 9 w 9"/>
                  <a:gd name="T63" fmla="*/ 12 h 1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9" h="12">
                    <a:moveTo>
                      <a:pt x="9" y="12"/>
                    </a:moveTo>
                    <a:lnTo>
                      <a:pt x="9" y="12"/>
                    </a:lnTo>
                    <a:lnTo>
                      <a:pt x="7" y="9"/>
                    </a:lnTo>
                    <a:lnTo>
                      <a:pt x="6" y="8"/>
                    </a:lnTo>
                    <a:lnTo>
                      <a:pt x="4" y="7"/>
                    </a:lnTo>
                    <a:lnTo>
                      <a:pt x="3" y="5"/>
                    </a:lnTo>
                    <a:lnTo>
                      <a:pt x="2" y="5"/>
                    </a:lnTo>
                    <a:lnTo>
                      <a:pt x="2" y="4"/>
                    </a:lnTo>
                    <a:lnTo>
                      <a:pt x="3" y="3"/>
                    </a:lnTo>
                    <a:lnTo>
                      <a:pt x="5" y="2"/>
                    </a:lnTo>
                    <a:lnTo>
                      <a:pt x="4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2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6" y="11"/>
                    </a:lnTo>
                    <a:lnTo>
                      <a:pt x="6" y="12"/>
                    </a:lnTo>
                    <a:lnTo>
                      <a:pt x="9" y="12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60" name="Freeform 977"/>
              <p:cNvSpPr>
                <a:spLocks/>
              </p:cNvSpPr>
              <p:nvPr/>
            </p:nvSpPr>
            <p:spPr bwMode="auto">
              <a:xfrm>
                <a:off x="3115" y="1982"/>
                <a:ext cx="35" cy="13"/>
              </a:xfrm>
              <a:custGeom>
                <a:avLst/>
                <a:gdLst>
                  <a:gd name="T0" fmla="*/ 0 w 35"/>
                  <a:gd name="T1" fmla="*/ 13 h 13"/>
                  <a:gd name="T2" fmla="*/ 0 w 35"/>
                  <a:gd name="T3" fmla="*/ 13 h 13"/>
                  <a:gd name="T4" fmla="*/ 4 w 35"/>
                  <a:gd name="T5" fmla="*/ 13 h 13"/>
                  <a:gd name="T6" fmla="*/ 7 w 35"/>
                  <a:gd name="T7" fmla="*/ 13 h 13"/>
                  <a:gd name="T8" fmla="*/ 10 w 35"/>
                  <a:gd name="T9" fmla="*/ 12 h 13"/>
                  <a:gd name="T10" fmla="*/ 13 w 35"/>
                  <a:gd name="T11" fmla="*/ 12 h 13"/>
                  <a:gd name="T12" fmla="*/ 17 w 35"/>
                  <a:gd name="T13" fmla="*/ 12 h 13"/>
                  <a:gd name="T14" fmla="*/ 20 w 35"/>
                  <a:gd name="T15" fmla="*/ 11 h 13"/>
                  <a:gd name="T16" fmla="*/ 22 w 35"/>
                  <a:gd name="T17" fmla="*/ 10 h 13"/>
                  <a:gd name="T18" fmla="*/ 25 w 35"/>
                  <a:gd name="T19" fmla="*/ 9 h 13"/>
                  <a:gd name="T20" fmla="*/ 27 w 35"/>
                  <a:gd name="T21" fmla="*/ 8 h 13"/>
                  <a:gd name="T22" fmla="*/ 28 w 35"/>
                  <a:gd name="T23" fmla="*/ 8 h 13"/>
                  <a:gd name="T24" fmla="*/ 30 w 35"/>
                  <a:gd name="T25" fmla="*/ 6 h 13"/>
                  <a:gd name="T26" fmla="*/ 31 w 35"/>
                  <a:gd name="T27" fmla="*/ 5 h 13"/>
                  <a:gd name="T28" fmla="*/ 32 w 35"/>
                  <a:gd name="T29" fmla="*/ 4 h 13"/>
                  <a:gd name="T30" fmla="*/ 33 w 35"/>
                  <a:gd name="T31" fmla="*/ 3 h 13"/>
                  <a:gd name="T32" fmla="*/ 35 w 35"/>
                  <a:gd name="T33" fmla="*/ 1 h 13"/>
                  <a:gd name="T34" fmla="*/ 35 w 35"/>
                  <a:gd name="T35" fmla="*/ 0 h 13"/>
                  <a:gd name="T36" fmla="*/ 32 w 35"/>
                  <a:gd name="T37" fmla="*/ 0 h 13"/>
                  <a:gd name="T38" fmla="*/ 32 w 35"/>
                  <a:gd name="T39" fmla="*/ 1 h 13"/>
                  <a:gd name="T40" fmla="*/ 32 w 35"/>
                  <a:gd name="T41" fmla="*/ 2 h 13"/>
                  <a:gd name="T42" fmla="*/ 31 w 35"/>
                  <a:gd name="T43" fmla="*/ 3 h 13"/>
                  <a:gd name="T44" fmla="*/ 30 w 35"/>
                  <a:gd name="T45" fmla="*/ 4 h 13"/>
                  <a:gd name="T46" fmla="*/ 29 w 35"/>
                  <a:gd name="T47" fmla="*/ 5 h 13"/>
                  <a:gd name="T48" fmla="*/ 27 w 35"/>
                  <a:gd name="T49" fmla="*/ 6 h 13"/>
                  <a:gd name="T50" fmla="*/ 26 w 35"/>
                  <a:gd name="T51" fmla="*/ 7 h 13"/>
                  <a:gd name="T52" fmla="*/ 24 w 35"/>
                  <a:gd name="T53" fmla="*/ 8 h 13"/>
                  <a:gd name="T54" fmla="*/ 22 w 35"/>
                  <a:gd name="T55" fmla="*/ 9 h 13"/>
                  <a:gd name="T56" fmla="*/ 20 w 35"/>
                  <a:gd name="T57" fmla="*/ 9 h 13"/>
                  <a:gd name="T58" fmla="*/ 15 w 35"/>
                  <a:gd name="T59" fmla="*/ 10 h 13"/>
                  <a:gd name="T60" fmla="*/ 13 w 35"/>
                  <a:gd name="T61" fmla="*/ 10 h 13"/>
                  <a:gd name="T62" fmla="*/ 10 w 35"/>
                  <a:gd name="T63" fmla="*/ 11 h 13"/>
                  <a:gd name="T64" fmla="*/ 7 w 35"/>
                  <a:gd name="T65" fmla="*/ 11 h 13"/>
                  <a:gd name="T66" fmla="*/ 4 w 35"/>
                  <a:gd name="T67" fmla="*/ 11 h 13"/>
                  <a:gd name="T68" fmla="*/ 0 w 35"/>
                  <a:gd name="T69" fmla="*/ 11 h 13"/>
                  <a:gd name="T70" fmla="*/ 0 w 35"/>
                  <a:gd name="T71" fmla="*/ 13 h 1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5"/>
                  <a:gd name="T109" fmla="*/ 0 h 13"/>
                  <a:gd name="T110" fmla="*/ 35 w 35"/>
                  <a:gd name="T111" fmla="*/ 13 h 1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5" h="13">
                    <a:moveTo>
                      <a:pt x="0" y="13"/>
                    </a:moveTo>
                    <a:lnTo>
                      <a:pt x="0" y="13"/>
                    </a:lnTo>
                    <a:lnTo>
                      <a:pt x="4" y="13"/>
                    </a:lnTo>
                    <a:lnTo>
                      <a:pt x="7" y="13"/>
                    </a:lnTo>
                    <a:lnTo>
                      <a:pt x="10" y="12"/>
                    </a:lnTo>
                    <a:lnTo>
                      <a:pt x="13" y="12"/>
                    </a:lnTo>
                    <a:lnTo>
                      <a:pt x="17" y="12"/>
                    </a:lnTo>
                    <a:lnTo>
                      <a:pt x="20" y="11"/>
                    </a:lnTo>
                    <a:lnTo>
                      <a:pt x="22" y="10"/>
                    </a:lnTo>
                    <a:lnTo>
                      <a:pt x="25" y="9"/>
                    </a:lnTo>
                    <a:lnTo>
                      <a:pt x="27" y="8"/>
                    </a:lnTo>
                    <a:lnTo>
                      <a:pt x="28" y="8"/>
                    </a:lnTo>
                    <a:lnTo>
                      <a:pt x="30" y="6"/>
                    </a:lnTo>
                    <a:lnTo>
                      <a:pt x="31" y="5"/>
                    </a:lnTo>
                    <a:lnTo>
                      <a:pt x="32" y="4"/>
                    </a:lnTo>
                    <a:lnTo>
                      <a:pt x="33" y="3"/>
                    </a:lnTo>
                    <a:lnTo>
                      <a:pt x="35" y="1"/>
                    </a:lnTo>
                    <a:lnTo>
                      <a:pt x="35" y="0"/>
                    </a:lnTo>
                    <a:lnTo>
                      <a:pt x="32" y="0"/>
                    </a:lnTo>
                    <a:lnTo>
                      <a:pt x="32" y="1"/>
                    </a:lnTo>
                    <a:lnTo>
                      <a:pt x="32" y="2"/>
                    </a:lnTo>
                    <a:lnTo>
                      <a:pt x="31" y="3"/>
                    </a:lnTo>
                    <a:lnTo>
                      <a:pt x="30" y="4"/>
                    </a:lnTo>
                    <a:lnTo>
                      <a:pt x="29" y="5"/>
                    </a:lnTo>
                    <a:lnTo>
                      <a:pt x="27" y="6"/>
                    </a:lnTo>
                    <a:lnTo>
                      <a:pt x="26" y="7"/>
                    </a:lnTo>
                    <a:lnTo>
                      <a:pt x="24" y="8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5" y="10"/>
                    </a:lnTo>
                    <a:lnTo>
                      <a:pt x="13" y="10"/>
                    </a:lnTo>
                    <a:lnTo>
                      <a:pt x="10" y="11"/>
                    </a:lnTo>
                    <a:lnTo>
                      <a:pt x="7" y="11"/>
                    </a:lnTo>
                    <a:lnTo>
                      <a:pt x="4" y="11"/>
                    </a:lnTo>
                    <a:lnTo>
                      <a:pt x="0" y="11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61" name="Freeform 978"/>
              <p:cNvSpPr>
                <a:spLocks/>
              </p:cNvSpPr>
              <p:nvPr/>
            </p:nvSpPr>
            <p:spPr bwMode="auto">
              <a:xfrm>
                <a:off x="3080" y="1982"/>
                <a:ext cx="35" cy="13"/>
              </a:xfrm>
              <a:custGeom>
                <a:avLst/>
                <a:gdLst>
                  <a:gd name="T0" fmla="*/ 0 w 35"/>
                  <a:gd name="T1" fmla="*/ 0 h 13"/>
                  <a:gd name="T2" fmla="*/ 0 w 35"/>
                  <a:gd name="T3" fmla="*/ 0 h 13"/>
                  <a:gd name="T4" fmla="*/ 0 w 35"/>
                  <a:gd name="T5" fmla="*/ 1 h 13"/>
                  <a:gd name="T6" fmla="*/ 1 w 35"/>
                  <a:gd name="T7" fmla="*/ 3 h 13"/>
                  <a:gd name="T8" fmla="*/ 1 w 35"/>
                  <a:gd name="T9" fmla="*/ 4 h 13"/>
                  <a:gd name="T10" fmla="*/ 3 w 35"/>
                  <a:gd name="T11" fmla="*/ 5 h 13"/>
                  <a:gd name="T12" fmla="*/ 4 w 35"/>
                  <a:gd name="T13" fmla="*/ 6 h 13"/>
                  <a:gd name="T14" fmla="*/ 7 w 35"/>
                  <a:gd name="T15" fmla="*/ 8 h 13"/>
                  <a:gd name="T16" fmla="*/ 8 w 35"/>
                  <a:gd name="T17" fmla="*/ 8 h 13"/>
                  <a:gd name="T18" fmla="*/ 11 w 35"/>
                  <a:gd name="T19" fmla="*/ 9 h 13"/>
                  <a:gd name="T20" fmla="*/ 14 w 35"/>
                  <a:gd name="T21" fmla="*/ 10 h 13"/>
                  <a:gd name="T22" fmla="*/ 16 w 35"/>
                  <a:gd name="T23" fmla="*/ 11 h 13"/>
                  <a:gd name="T24" fmla="*/ 19 w 35"/>
                  <a:gd name="T25" fmla="*/ 12 h 13"/>
                  <a:gd name="T26" fmla="*/ 21 w 35"/>
                  <a:gd name="T27" fmla="*/ 12 h 13"/>
                  <a:gd name="T28" fmla="*/ 25 w 35"/>
                  <a:gd name="T29" fmla="*/ 12 h 13"/>
                  <a:gd name="T30" fmla="*/ 29 w 35"/>
                  <a:gd name="T31" fmla="*/ 13 h 13"/>
                  <a:gd name="T32" fmla="*/ 32 w 35"/>
                  <a:gd name="T33" fmla="*/ 13 h 13"/>
                  <a:gd name="T34" fmla="*/ 35 w 35"/>
                  <a:gd name="T35" fmla="*/ 13 h 13"/>
                  <a:gd name="T36" fmla="*/ 35 w 35"/>
                  <a:gd name="T37" fmla="*/ 11 h 13"/>
                  <a:gd name="T38" fmla="*/ 32 w 35"/>
                  <a:gd name="T39" fmla="*/ 11 h 13"/>
                  <a:gd name="T40" fmla="*/ 29 w 35"/>
                  <a:gd name="T41" fmla="*/ 11 h 13"/>
                  <a:gd name="T42" fmla="*/ 25 w 35"/>
                  <a:gd name="T43" fmla="*/ 11 h 13"/>
                  <a:gd name="T44" fmla="*/ 21 w 35"/>
                  <a:gd name="T45" fmla="*/ 10 h 13"/>
                  <a:gd name="T46" fmla="*/ 19 w 35"/>
                  <a:gd name="T47" fmla="*/ 10 h 13"/>
                  <a:gd name="T48" fmla="*/ 16 w 35"/>
                  <a:gd name="T49" fmla="*/ 9 h 13"/>
                  <a:gd name="T50" fmla="*/ 14 w 35"/>
                  <a:gd name="T51" fmla="*/ 9 h 13"/>
                  <a:gd name="T52" fmla="*/ 11 w 35"/>
                  <a:gd name="T53" fmla="*/ 8 h 13"/>
                  <a:gd name="T54" fmla="*/ 9 w 35"/>
                  <a:gd name="T55" fmla="*/ 7 h 13"/>
                  <a:gd name="T56" fmla="*/ 8 w 35"/>
                  <a:gd name="T57" fmla="*/ 6 h 13"/>
                  <a:gd name="T58" fmla="*/ 5 w 35"/>
                  <a:gd name="T59" fmla="*/ 5 h 13"/>
                  <a:gd name="T60" fmla="*/ 4 w 35"/>
                  <a:gd name="T61" fmla="*/ 4 h 13"/>
                  <a:gd name="T62" fmla="*/ 3 w 35"/>
                  <a:gd name="T63" fmla="*/ 3 h 13"/>
                  <a:gd name="T64" fmla="*/ 2 w 35"/>
                  <a:gd name="T65" fmla="*/ 2 h 13"/>
                  <a:gd name="T66" fmla="*/ 2 w 35"/>
                  <a:gd name="T67" fmla="*/ 1 h 13"/>
                  <a:gd name="T68" fmla="*/ 2 w 35"/>
                  <a:gd name="T69" fmla="*/ 0 h 13"/>
                  <a:gd name="T70" fmla="*/ 0 w 35"/>
                  <a:gd name="T71" fmla="*/ 0 h 1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5"/>
                  <a:gd name="T109" fmla="*/ 0 h 13"/>
                  <a:gd name="T110" fmla="*/ 35 w 35"/>
                  <a:gd name="T111" fmla="*/ 13 h 1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5" h="13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4" y="6"/>
                    </a:lnTo>
                    <a:lnTo>
                      <a:pt x="7" y="8"/>
                    </a:lnTo>
                    <a:lnTo>
                      <a:pt x="8" y="8"/>
                    </a:lnTo>
                    <a:lnTo>
                      <a:pt x="11" y="9"/>
                    </a:lnTo>
                    <a:lnTo>
                      <a:pt x="14" y="10"/>
                    </a:lnTo>
                    <a:lnTo>
                      <a:pt x="16" y="11"/>
                    </a:lnTo>
                    <a:lnTo>
                      <a:pt x="19" y="12"/>
                    </a:lnTo>
                    <a:lnTo>
                      <a:pt x="21" y="12"/>
                    </a:lnTo>
                    <a:lnTo>
                      <a:pt x="25" y="12"/>
                    </a:lnTo>
                    <a:lnTo>
                      <a:pt x="29" y="13"/>
                    </a:lnTo>
                    <a:lnTo>
                      <a:pt x="32" y="13"/>
                    </a:lnTo>
                    <a:lnTo>
                      <a:pt x="35" y="13"/>
                    </a:lnTo>
                    <a:lnTo>
                      <a:pt x="35" y="11"/>
                    </a:lnTo>
                    <a:lnTo>
                      <a:pt x="32" y="11"/>
                    </a:lnTo>
                    <a:lnTo>
                      <a:pt x="29" y="11"/>
                    </a:lnTo>
                    <a:lnTo>
                      <a:pt x="25" y="11"/>
                    </a:lnTo>
                    <a:lnTo>
                      <a:pt x="21" y="10"/>
                    </a:lnTo>
                    <a:lnTo>
                      <a:pt x="19" y="10"/>
                    </a:lnTo>
                    <a:lnTo>
                      <a:pt x="16" y="9"/>
                    </a:lnTo>
                    <a:lnTo>
                      <a:pt x="14" y="9"/>
                    </a:lnTo>
                    <a:lnTo>
                      <a:pt x="11" y="8"/>
                    </a:lnTo>
                    <a:lnTo>
                      <a:pt x="9" y="7"/>
                    </a:lnTo>
                    <a:lnTo>
                      <a:pt x="8" y="6"/>
                    </a:lnTo>
                    <a:lnTo>
                      <a:pt x="5" y="5"/>
                    </a:lnTo>
                    <a:lnTo>
                      <a:pt x="4" y="4"/>
                    </a:lnTo>
                    <a:lnTo>
                      <a:pt x="3" y="3"/>
                    </a:lnTo>
                    <a:lnTo>
                      <a:pt x="2" y="2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62" name="Freeform 979"/>
              <p:cNvSpPr>
                <a:spLocks/>
              </p:cNvSpPr>
              <p:nvPr/>
            </p:nvSpPr>
            <p:spPr bwMode="auto">
              <a:xfrm>
                <a:off x="3080" y="1967"/>
                <a:ext cx="8" cy="15"/>
              </a:xfrm>
              <a:custGeom>
                <a:avLst/>
                <a:gdLst>
                  <a:gd name="T0" fmla="*/ 0 w 8"/>
                  <a:gd name="T1" fmla="*/ 1 h 15"/>
                  <a:gd name="T2" fmla="*/ 0 w 8"/>
                  <a:gd name="T3" fmla="*/ 2 h 15"/>
                  <a:gd name="T4" fmla="*/ 3 w 8"/>
                  <a:gd name="T5" fmla="*/ 4 h 15"/>
                  <a:gd name="T6" fmla="*/ 5 w 8"/>
                  <a:gd name="T7" fmla="*/ 5 h 15"/>
                  <a:gd name="T8" fmla="*/ 5 w 8"/>
                  <a:gd name="T9" fmla="*/ 6 h 15"/>
                  <a:gd name="T10" fmla="*/ 5 w 8"/>
                  <a:gd name="T11" fmla="*/ 8 h 15"/>
                  <a:gd name="T12" fmla="*/ 3 w 8"/>
                  <a:gd name="T13" fmla="*/ 8 h 15"/>
                  <a:gd name="T14" fmla="*/ 2 w 8"/>
                  <a:gd name="T15" fmla="*/ 10 h 15"/>
                  <a:gd name="T16" fmla="*/ 1 w 8"/>
                  <a:gd name="T17" fmla="*/ 12 h 15"/>
                  <a:gd name="T18" fmla="*/ 0 w 8"/>
                  <a:gd name="T19" fmla="*/ 15 h 15"/>
                  <a:gd name="T20" fmla="*/ 2 w 8"/>
                  <a:gd name="T21" fmla="*/ 15 h 15"/>
                  <a:gd name="T22" fmla="*/ 2 w 8"/>
                  <a:gd name="T23" fmla="*/ 12 h 15"/>
                  <a:gd name="T24" fmla="*/ 3 w 8"/>
                  <a:gd name="T25" fmla="*/ 11 h 15"/>
                  <a:gd name="T26" fmla="*/ 5 w 8"/>
                  <a:gd name="T27" fmla="*/ 10 h 15"/>
                  <a:gd name="T28" fmla="*/ 7 w 8"/>
                  <a:gd name="T29" fmla="*/ 8 h 15"/>
                  <a:gd name="T30" fmla="*/ 8 w 8"/>
                  <a:gd name="T31" fmla="*/ 6 h 15"/>
                  <a:gd name="T32" fmla="*/ 8 w 8"/>
                  <a:gd name="T33" fmla="*/ 5 h 15"/>
                  <a:gd name="T34" fmla="*/ 5 w 8"/>
                  <a:gd name="T35" fmla="*/ 3 h 15"/>
                  <a:gd name="T36" fmla="*/ 1 w 8"/>
                  <a:gd name="T37" fmla="*/ 0 h 15"/>
                  <a:gd name="T38" fmla="*/ 0 w 8"/>
                  <a:gd name="T39" fmla="*/ 1 h 1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"/>
                  <a:gd name="T61" fmla="*/ 0 h 15"/>
                  <a:gd name="T62" fmla="*/ 8 w 8"/>
                  <a:gd name="T63" fmla="*/ 15 h 1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" h="15">
                    <a:moveTo>
                      <a:pt x="0" y="1"/>
                    </a:moveTo>
                    <a:lnTo>
                      <a:pt x="0" y="2"/>
                    </a:lnTo>
                    <a:lnTo>
                      <a:pt x="3" y="4"/>
                    </a:lnTo>
                    <a:lnTo>
                      <a:pt x="5" y="5"/>
                    </a:lnTo>
                    <a:lnTo>
                      <a:pt x="5" y="6"/>
                    </a:lnTo>
                    <a:lnTo>
                      <a:pt x="5" y="8"/>
                    </a:lnTo>
                    <a:lnTo>
                      <a:pt x="3" y="8"/>
                    </a:lnTo>
                    <a:lnTo>
                      <a:pt x="2" y="10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2" y="15"/>
                    </a:lnTo>
                    <a:lnTo>
                      <a:pt x="2" y="12"/>
                    </a:lnTo>
                    <a:lnTo>
                      <a:pt x="3" y="11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8" y="6"/>
                    </a:lnTo>
                    <a:lnTo>
                      <a:pt x="8" y="5"/>
                    </a:lnTo>
                    <a:lnTo>
                      <a:pt x="5" y="3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63" name="Freeform 980"/>
              <p:cNvSpPr>
                <a:spLocks/>
              </p:cNvSpPr>
              <p:nvPr/>
            </p:nvSpPr>
            <p:spPr bwMode="auto">
              <a:xfrm>
                <a:off x="3074" y="1894"/>
                <a:ext cx="8" cy="74"/>
              </a:xfrm>
              <a:custGeom>
                <a:avLst/>
                <a:gdLst>
                  <a:gd name="T0" fmla="*/ 7 w 8"/>
                  <a:gd name="T1" fmla="*/ 0 h 74"/>
                  <a:gd name="T2" fmla="*/ 7 w 8"/>
                  <a:gd name="T3" fmla="*/ 0 h 74"/>
                  <a:gd name="T4" fmla="*/ 3 w 8"/>
                  <a:gd name="T5" fmla="*/ 6 h 74"/>
                  <a:gd name="T6" fmla="*/ 1 w 8"/>
                  <a:gd name="T7" fmla="*/ 14 h 74"/>
                  <a:gd name="T8" fmla="*/ 0 w 8"/>
                  <a:gd name="T9" fmla="*/ 25 h 74"/>
                  <a:gd name="T10" fmla="*/ 0 w 8"/>
                  <a:gd name="T11" fmla="*/ 37 h 74"/>
                  <a:gd name="T12" fmla="*/ 1 w 8"/>
                  <a:gd name="T13" fmla="*/ 50 h 74"/>
                  <a:gd name="T14" fmla="*/ 2 w 8"/>
                  <a:gd name="T15" fmla="*/ 60 h 74"/>
                  <a:gd name="T16" fmla="*/ 3 w 8"/>
                  <a:gd name="T17" fmla="*/ 69 h 74"/>
                  <a:gd name="T18" fmla="*/ 7 w 8"/>
                  <a:gd name="T19" fmla="*/ 74 h 74"/>
                  <a:gd name="T20" fmla="*/ 8 w 8"/>
                  <a:gd name="T21" fmla="*/ 73 h 74"/>
                  <a:gd name="T22" fmla="*/ 6 w 8"/>
                  <a:gd name="T23" fmla="*/ 68 h 74"/>
                  <a:gd name="T24" fmla="*/ 4 w 8"/>
                  <a:gd name="T25" fmla="*/ 60 h 74"/>
                  <a:gd name="T26" fmla="*/ 2 w 8"/>
                  <a:gd name="T27" fmla="*/ 50 h 74"/>
                  <a:gd name="T28" fmla="*/ 2 w 8"/>
                  <a:gd name="T29" fmla="*/ 37 h 74"/>
                  <a:gd name="T30" fmla="*/ 2 w 8"/>
                  <a:gd name="T31" fmla="*/ 25 h 74"/>
                  <a:gd name="T32" fmla="*/ 3 w 8"/>
                  <a:gd name="T33" fmla="*/ 15 h 74"/>
                  <a:gd name="T34" fmla="*/ 4 w 8"/>
                  <a:gd name="T35" fmla="*/ 6 h 74"/>
                  <a:gd name="T36" fmla="*/ 8 w 8"/>
                  <a:gd name="T37" fmla="*/ 2 h 74"/>
                  <a:gd name="T38" fmla="*/ 7 w 8"/>
                  <a:gd name="T39" fmla="*/ 0 h 7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"/>
                  <a:gd name="T61" fmla="*/ 0 h 74"/>
                  <a:gd name="T62" fmla="*/ 8 w 8"/>
                  <a:gd name="T63" fmla="*/ 74 h 7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" h="74">
                    <a:moveTo>
                      <a:pt x="7" y="0"/>
                    </a:moveTo>
                    <a:lnTo>
                      <a:pt x="7" y="0"/>
                    </a:lnTo>
                    <a:lnTo>
                      <a:pt x="3" y="6"/>
                    </a:lnTo>
                    <a:lnTo>
                      <a:pt x="1" y="14"/>
                    </a:lnTo>
                    <a:lnTo>
                      <a:pt x="0" y="25"/>
                    </a:lnTo>
                    <a:lnTo>
                      <a:pt x="0" y="37"/>
                    </a:lnTo>
                    <a:lnTo>
                      <a:pt x="1" y="50"/>
                    </a:lnTo>
                    <a:lnTo>
                      <a:pt x="2" y="60"/>
                    </a:lnTo>
                    <a:lnTo>
                      <a:pt x="3" y="69"/>
                    </a:lnTo>
                    <a:lnTo>
                      <a:pt x="7" y="74"/>
                    </a:lnTo>
                    <a:lnTo>
                      <a:pt x="8" y="73"/>
                    </a:lnTo>
                    <a:lnTo>
                      <a:pt x="6" y="68"/>
                    </a:lnTo>
                    <a:lnTo>
                      <a:pt x="4" y="60"/>
                    </a:lnTo>
                    <a:lnTo>
                      <a:pt x="2" y="50"/>
                    </a:lnTo>
                    <a:lnTo>
                      <a:pt x="2" y="37"/>
                    </a:lnTo>
                    <a:lnTo>
                      <a:pt x="2" y="25"/>
                    </a:lnTo>
                    <a:lnTo>
                      <a:pt x="3" y="15"/>
                    </a:lnTo>
                    <a:lnTo>
                      <a:pt x="4" y="6"/>
                    </a:lnTo>
                    <a:lnTo>
                      <a:pt x="8" y="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64" name="Freeform 981"/>
              <p:cNvSpPr>
                <a:spLocks/>
              </p:cNvSpPr>
              <p:nvPr/>
            </p:nvSpPr>
            <p:spPr bwMode="auto">
              <a:xfrm>
                <a:off x="3080" y="1883"/>
                <a:ext cx="8" cy="14"/>
              </a:xfrm>
              <a:custGeom>
                <a:avLst/>
                <a:gdLst>
                  <a:gd name="T0" fmla="*/ 0 w 8"/>
                  <a:gd name="T1" fmla="*/ 0 h 14"/>
                  <a:gd name="T2" fmla="*/ 0 w 8"/>
                  <a:gd name="T3" fmla="*/ 0 h 14"/>
                  <a:gd name="T4" fmla="*/ 1 w 8"/>
                  <a:gd name="T5" fmla="*/ 2 h 14"/>
                  <a:gd name="T6" fmla="*/ 2 w 8"/>
                  <a:gd name="T7" fmla="*/ 5 h 14"/>
                  <a:gd name="T8" fmla="*/ 4 w 8"/>
                  <a:gd name="T9" fmla="*/ 6 h 14"/>
                  <a:gd name="T10" fmla="*/ 5 w 8"/>
                  <a:gd name="T11" fmla="*/ 7 h 14"/>
                  <a:gd name="T12" fmla="*/ 5 w 8"/>
                  <a:gd name="T13" fmla="*/ 8 h 14"/>
                  <a:gd name="T14" fmla="*/ 4 w 8"/>
                  <a:gd name="T15" fmla="*/ 10 h 14"/>
                  <a:gd name="T16" fmla="*/ 0 w 8"/>
                  <a:gd name="T17" fmla="*/ 12 h 14"/>
                  <a:gd name="T18" fmla="*/ 1 w 8"/>
                  <a:gd name="T19" fmla="*/ 14 h 14"/>
                  <a:gd name="T20" fmla="*/ 5 w 8"/>
                  <a:gd name="T21" fmla="*/ 12 h 14"/>
                  <a:gd name="T22" fmla="*/ 8 w 8"/>
                  <a:gd name="T23" fmla="*/ 10 h 14"/>
                  <a:gd name="T24" fmla="*/ 8 w 8"/>
                  <a:gd name="T25" fmla="*/ 7 h 14"/>
                  <a:gd name="T26" fmla="*/ 7 w 8"/>
                  <a:gd name="T27" fmla="*/ 6 h 14"/>
                  <a:gd name="T28" fmla="*/ 5 w 8"/>
                  <a:gd name="T29" fmla="*/ 5 h 14"/>
                  <a:gd name="T30" fmla="*/ 3 w 8"/>
                  <a:gd name="T31" fmla="*/ 4 h 14"/>
                  <a:gd name="T32" fmla="*/ 2 w 8"/>
                  <a:gd name="T33" fmla="*/ 2 h 14"/>
                  <a:gd name="T34" fmla="*/ 2 w 8"/>
                  <a:gd name="T35" fmla="*/ 0 h 14"/>
                  <a:gd name="T36" fmla="*/ 0 w 8"/>
                  <a:gd name="T37" fmla="*/ 0 h 1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"/>
                  <a:gd name="T58" fmla="*/ 0 h 14"/>
                  <a:gd name="T59" fmla="*/ 8 w 8"/>
                  <a:gd name="T60" fmla="*/ 14 h 1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" h="14">
                    <a:moveTo>
                      <a:pt x="0" y="0"/>
                    </a:moveTo>
                    <a:lnTo>
                      <a:pt x="0" y="0"/>
                    </a:lnTo>
                    <a:lnTo>
                      <a:pt x="1" y="2"/>
                    </a:lnTo>
                    <a:lnTo>
                      <a:pt x="2" y="5"/>
                    </a:lnTo>
                    <a:lnTo>
                      <a:pt x="4" y="6"/>
                    </a:lnTo>
                    <a:lnTo>
                      <a:pt x="5" y="7"/>
                    </a:lnTo>
                    <a:lnTo>
                      <a:pt x="5" y="8"/>
                    </a:lnTo>
                    <a:lnTo>
                      <a:pt x="4" y="10"/>
                    </a:lnTo>
                    <a:lnTo>
                      <a:pt x="0" y="12"/>
                    </a:lnTo>
                    <a:lnTo>
                      <a:pt x="1" y="14"/>
                    </a:lnTo>
                    <a:lnTo>
                      <a:pt x="5" y="12"/>
                    </a:lnTo>
                    <a:lnTo>
                      <a:pt x="8" y="10"/>
                    </a:lnTo>
                    <a:lnTo>
                      <a:pt x="8" y="7"/>
                    </a:lnTo>
                    <a:lnTo>
                      <a:pt x="7" y="6"/>
                    </a:lnTo>
                    <a:lnTo>
                      <a:pt x="5" y="5"/>
                    </a:lnTo>
                    <a:lnTo>
                      <a:pt x="3" y="4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65" name="Freeform 982"/>
              <p:cNvSpPr>
                <a:spLocks/>
              </p:cNvSpPr>
              <p:nvPr/>
            </p:nvSpPr>
            <p:spPr bwMode="auto">
              <a:xfrm>
                <a:off x="3080" y="1867"/>
                <a:ext cx="35" cy="16"/>
              </a:xfrm>
              <a:custGeom>
                <a:avLst/>
                <a:gdLst>
                  <a:gd name="T0" fmla="*/ 35 w 35"/>
                  <a:gd name="T1" fmla="*/ 0 h 16"/>
                  <a:gd name="T2" fmla="*/ 35 w 35"/>
                  <a:gd name="T3" fmla="*/ 0 h 16"/>
                  <a:gd name="T4" fmla="*/ 32 w 35"/>
                  <a:gd name="T5" fmla="*/ 0 h 16"/>
                  <a:gd name="T6" fmla="*/ 29 w 35"/>
                  <a:gd name="T7" fmla="*/ 0 h 16"/>
                  <a:gd name="T8" fmla="*/ 25 w 35"/>
                  <a:gd name="T9" fmla="*/ 1 h 16"/>
                  <a:gd name="T10" fmla="*/ 21 w 35"/>
                  <a:gd name="T11" fmla="*/ 1 h 16"/>
                  <a:gd name="T12" fmla="*/ 19 w 35"/>
                  <a:gd name="T13" fmla="*/ 2 h 16"/>
                  <a:gd name="T14" fmla="*/ 16 w 35"/>
                  <a:gd name="T15" fmla="*/ 2 h 16"/>
                  <a:gd name="T16" fmla="*/ 14 w 35"/>
                  <a:gd name="T17" fmla="*/ 3 h 16"/>
                  <a:gd name="T18" fmla="*/ 11 w 35"/>
                  <a:gd name="T19" fmla="*/ 5 h 16"/>
                  <a:gd name="T20" fmla="*/ 8 w 35"/>
                  <a:gd name="T21" fmla="*/ 6 h 16"/>
                  <a:gd name="T22" fmla="*/ 7 w 35"/>
                  <a:gd name="T23" fmla="*/ 7 h 16"/>
                  <a:gd name="T24" fmla="*/ 4 w 35"/>
                  <a:gd name="T25" fmla="*/ 9 h 16"/>
                  <a:gd name="T26" fmla="*/ 3 w 35"/>
                  <a:gd name="T27" fmla="*/ 10 h 16"/>
                  <a:gd name="T28" fmla="*/ 1 w 35"/>
                  <a:gd name="T29" fmla="*/ 12 h 16"/>
                  <a:gd name="T30" fmla="*/ 1 w 35"/>
                  <a:gd name="T31" fmla="*/ 13 h 16"/>
                  <a:gd name="T32" fmla="*/ 0 w 35"/>
                  <a:gd name="T33" fmla="*/ 15 h 16"/>
                  <a:gd name="T34" fmla="*/ 0 w 35"/>
                  <a:gd name="T35" fmla="*/ 16 h 16"/>
                  <a:gd name="T36" fmla="*/ 2 w 35"/>
                  <a:gd name="T37" fmla="*/ 16 h 16"/>
                  <a:gd name="T38" fmla="*/ 2 w 35"/>
                  <a:gd name="T39" fmla="*/ 15 h 16"/>
                  <a:gd name="T40" fmla="*/ 2 w 35"/>
                  <a:gd name="T41" fmla="*/ 14 h 16"/>
                  <a:gd name="T42" fmla="*/ 3 w 35"/>
                  <a:gd name="T43" fmla="*/ 13 h 16"/>
                  <a:gd name="T44" fmla="*/ 4 w 35"/>
                  <a:gd name="T45" fmla="*/ 11 h 16"/>
                  <a:gd name="T46" fmla="*/ 5 w 35"/>
                  <a:gd name="T47" fmla="*/ 10 h 16"/>
                  <a:gd name="T48" fmla="*/ 8 w 35"/>
                  <a:gd name="T49" fmla="*/ 9 h 16"/>
                  <a:gd name="T50" fmla="*/ 9 w 35"/>
                  <a:gd name="T51" fmla="*/ 7 h 16"/>
                  <a:gd name="T52" fmla="*/ 11 w 35"/>
                  <a:gd name="T53" fmla="*/ 7 h 16"/>
                  <a:gd name="T54" fmla="*/ 14 w 35"/>
                  <a:gd name="T55" fmla="*/ 6 h 16"/>
                  <a:gd name="T56" fmla="*/ 16 w 35"/>
                  <a:gd name="T57" fmla="*/ 5 h 16"/>
                  <a:gd name="T58" fmla="*/ 19 w 35"/>
                  <a:gd name="T59" fmla="*/ 3 h 16"/>
                  <a:gd name="T60" fmla="*/ 21 w 35"/>
                  <a:gd name="T61" fmla="*/ 3 h 16"/>
                  <a:gd name="T62" fmla="*/ 25 w 35"/>
                  <a:gd name="T63" fmla="*/ 2 h 16"/>
                  <a:gd name="T64" fmla="*/ 29 w 35"/>
                  <a:gd name="T65" fmla="*/ 2 h 16"/>
                  <a:gd name="T66" fmla="*/ 32 w 35"/>
                  <a:gd name="T67" fmla="*/ 2 h 16"/>
                  <a:gd name="T68" fmla="*/ 35 w 35"/>
                  <a:gd name="T69" fmla="*/ 2 h 16"/>
                  <a:gd name="T70" fmla="*/ 35 w 35"/>
                  <a:gd name="T71" fmla="*/ 0 h 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5"/>
                  <a:gd name="T109" fmla="*/ 0 h 16"/>
                  <a:gd name="T110" fmla="*/ 35 w 35"/>
                  <a:gd name="T111" fmla="*/ 16 h 1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5" h="16">
                    <a:moveTo>
                      <a:pt x="35" y="0"/>
                    </a:moveTo>
                    <a:lnTo>
                      <a:pt x="35" y="0"/>
                    </a:lnTo>
                    <a:lnTo>
                      <a:pt x="32" y="0"/>
                    </a:lnTo>
                    <a:lnTo>
                      <a:pt x="29" y="0"/>
                    </a:lnTo>
                    <a:lnTo>
                      <a:pt x="25" y="1"/>
                    </a:lnTo>
                    <a:lnTo>
                      <a:pt x="21" y="1"/>
                    </a:lnTo>
                    <a:lnTo>
                      <a:pt x="19" y="2"/>
                    </a:lnTo>
                    <a:lnTo>
                      <a:pt x="16" y="2"/>
                    </a:lnTo>
                    <a:lnTo>
                      <a:pt x="14" y="3"/>
                    </a:lnTo>
                    <a:lnTo>
                      <a:pt x="11" y="5"/>
                    </a:lnTo>
                    <a:lnTo>
                      <a:pt x="8" y="6"/>
                    </a:lnTo>
                    <a:lnTo>
                      <a:pt x="7" y="7"/>
                    </a:lnTo>
                    <a:lnTo>
                      <a:pt x="4" y="9"/>
                    </a:lnTo>
                    <a:lnTo>
                      <a:pt x="3" y="10"/>
                    </a:lnTo>
                    <a:lnTo>
                      <a:pt x="1" y="12"/>
                    </a:lnTo>
                    <a:lnTo>
                      <a:pt x="1" y="13"/>
                    </a:lnTo>
                    <a:lnTo>
                      <a:pt x="0" y="15"/>
                    </a:lnTo>
                    <a:lnTo>
                      <a:pt x="0" y="16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3" y="13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8" y="9"/>
                    </a:lnTo>
                    <a:lnTo>
                      <a:pt x="9" y="7"/>
                    </a:lnTo>
                    <a:lnTo>
                      <a:pt x="11" y="7"/>
                    </a:lnTo>
                    <a:lnTo>
                      <a:pt x="14" y="6"/>
                    </a:lnTo>
                    <a:lnTo>
                      <a:pt x="16" y="5"/>
                    </a:lnTo>
                    <a:lnTo>
                      <a:pt x="19" y="3"/>
                    </a:lnTo>
                    <a:lnTo>
                      <a:pt x="21" y="3"/>
                    </a:lnTo>
                    <a:lnTo>
                      <a:pt x="25" y="2"/>
                    </a:lnTo>
                    <a:lnTo>
                      <a:pt x="29" y="2"/>
                    </a:lnTo>
                    <a:lnTo>
                      <a:pt x="32" y="2"/>
                    </a:lnTo>
                    <a:lnTo>
                      <a:pt x="35" y="2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66" name="Freeform 983"/>
              <p:cNvSpPr>
                <a:spLocks/>
              </p:cNvSpPr>
              <p:nvPr/>
            </p:nvSpPr>
            <p:spPr bwMode="auto">
              <a:xfrm>
                <a:off x="3115" y="1867"/>
                <a:ext cx="35" cy="16"/>
              </a:xfrm>
              <a:custGeom>
                <a:avLst/>
                <a:gdLst>
                  <a:gd name="T0" fmla="*/ 35 w 35"/>
                  <a:gd name="T1" fmla="*/ 16 h 16"/>
                  <a:gd name="T2" fmla="*/ 35 w 35"/>
                  <a:gd name="T3" fmla="*/ 16 h 16"/>
                  <a:gd name="T4" fmla="*/ 35 w 35"/>
                  <a:gd name="T5" fmla="*/ 15 h 16"/>
                  <a:gd name="T6" fmla="*/ 33 w 35"/>
                  <a:gd name="T7" fmla="*/ 13 h 16"/>
                  <a:gd name="T8" fmla="*/ 32 w 35"/>
                  <a:gd name="T9" fmla="*/ 12 h 16"/>
                  <a:gd name="T10" fmla="*/ 31 w 35"/>
                  <a:gd name="T11" fmla="*/ 10 h 16"/>
                  <a:gd name="T12" fmla="*/ 30 w 35"/>
                  <a:gd name="T13" fmla="*/ 9 h 16"/>
                  <a:gd name="T14" fmla="*/ 28 w 35"/>
                  <a:gd name="T15" fmla="*/ 7 h 16"/>
                  <a:gd name="T16" fmla="*/ 27 w 35"/>
                  <a:gd name="T17" fmla="*/ 6 h 16"/>
                  <a:gd name="T18" fmla="*/ 25 w 35"/>
                  <a:gd name="T19" fmla="*/ 5 h 16"/>
                  <a:gd name="T20" fmla="*/ 22 w 35"/>
                  <a:gd name="T21" fmla="*/ 3 h 16"/>
                  <a:gd name="T22" fmla="*/ 20 w 35"/>
                  <a:gd name="T23" fmla="*/ 2 h 16"/>
                  <a:gd name="T24" fmla="*/ 17 w 35"/>
                  <a:gd name="T25" fmla="*/ 2 h 16"/>
                  <a:gd name="T26" fmla="*/ 13 w 35"/>
                  <a:gd name="T27" fmla="*/ 1 h 16"/>
                  <a:gd name="T28" fmla="*/ 10 w 35"/>
                  <a:gd name="T29" fmla="*/ 1 h 16"/>
                  <a:gd name="T30" fmla="*/ 7 w 35"/>
                  <a:gd name="T31" fmla="*/ 0 h 16"/>
                  <a:gd name="T32" fmla="*/ 4 w 35"/>
                  <a:gd name="T33" fmla="*/ 0 h 16"/>
                  <a:gd name="T34" fmla="*/ 0 w 35"/>
                  <a:gd name="T35" fmla="*/ 0 h 16"/>
                  <a:gd name="T36" fmla="*/ 0 w 35"/>
                  <a:gd name="T37" fmla="*/ 2 h 16"/>
                  <a:gd name="T38" fmla="*/ 4 w 35"/>
                  <a:gd name="T39" fmla="*/ 2 h 16"/>
                  <a:gd name="T40" fmla="*/ 7 w 35"/>
                  <a:gd name="T41" fmla="*/ 2 h 16"/>
                  <a:gd name="T42" fmla="*/ 10 w 35"/>
                  <a:gd name="T43" fmla="*/ 2 h 16"/>
                  <a:gd name="T44" fmla="*/ 13 w 35"/>
                  <a:gd name="T45" fmla="*/ 3 h 16"/>
                  <a:gd name="T46" fmla="*/ 15 w 35"/>
                  <a:gd name="T47" fmla="*/ 3 h 16"/>
                  <a:gd name="T48" fmla="*/ 20 w 35"/>
                  <a:gd name="T49" fmla="*/ 5 h 16"/>
                  <a:gd name="T50" fmla="*/ 22 w 35"/>
                  <a:gd name="T51" fmla="*/ 6 h 16"/>
                  <a:gd name="T52" fmla="*/ 24 w 35"/>
                  <a:gd name="T53" fmla="*/ 7 h 16"/>
                  <a:gd name="T54" fmla="*/ 26 w 35"/>
                  <a:gd name="T55" fmla="*/ 7 h 16"/>
                  <a:gd name="T56" fmla="*/ 27 w 35"/>
                  <a:gd name="T57" fmla="*/ 9 h 16"/>
                  <a:gd name="T58" fmla="*/ 29 w 35"/>
                  <a:gd name="T59" fmla="*/ 10 h 16"/>
                  <a:gd name="T60" fmla="*/ 30 w 35"/>
                  <a:gd name="T61" fmla="*/ 11 h 16"/>
                  <a:gd name="T62" fmla="*/ 31 w 35"/>
                  <a:gd name="T63" fmla="*/ 13 h 16"/>
                  <a:gd name="T64" fmla="*/ 32 w 35"/>
                  <a:gd name="T65" fmla="*/ 14 h 16"/>
                  <a:gd name="T66" fmla="*/ 32 w 35"/>
                  <a:gd name="T67" fmla="*/ 15 h 16"/>
                  <a:gd name="T68" fmla="*/ 32 w 35"/>
                  <a:gd name="T69" fmla="*/ 16 h 16"/>
                  <a:gd name="T70" fmla="*/ 35 w 35"/>
                  <a:gd name="T71" fmla="*/ 16 h 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5"/>
                  <a:gd name="T109" fmla="*/ 0 h 16"/>
                  <a:gd name="T110" fmla="*/ 35 w 35"/>
                  <a:gd name="T111" fmla="*/ 16 h 1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5" h="16">
                    <a:moveTo>
                      <a:pt x="35" y="16"/>
                    </a:moveTo>
                    <a:lnTo>
                      <a:pt x="35" y="16"/>
                    </a:lnTo>
                    <a:lnTo>
                      <a:pt x="35" y="15"/>
                    </a:lnTo>
                    <a:lnTo>
                      <a:pt x="33" y="13"/>
                    </a:lnTo>
                    <a:lnTo>
                      <a:pt x="32" y="12"/>
                    </a:lnTo>
                    <a:lnTo>
                      <a:pt x="31" y="10"/>
                    </a:lnTo>
                    <a:lnTo>
                      <a:pt x="30" y="9"/>
                    </a:lnTo>
                    <a:lnTo>
                      <a:pt x="28" y="7"/>
                    </a:lnTo>
                    <a:lnTo>
                      <a:pt x="27" y="6"/>
                    </a:lnTo>
                    <a:lnTo>
                      <a:pt x="25" y="5"/>
                    </a:lnTo>
                    <a:lnTo>
                      <a:pt x="22" y="3"/>
                    </a:lnTo>
                    <a:lnTo>
                      <a:pt x="20" y="2"/>
                    </a:lnTo>
                    <a:lnTo>
                      <a:pt x="17" y="2"/>
                    </a:lnTo>
                    <a:lnTo>
                      <a:pt x="13" y="1"/>
                    </a:lnTo>
                    <a:lnTo>
                      <a:pt x="10" y="1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4" y="2"/>
                    </a:lnTo>
                    <a:lnTo>
                      <a:pt x="7" y="2"/>
                    </a:lnTo>
                    <a:lnTo>
                      <a:pt x="10" y="2"/>
                    </a:lnTo>
                    <a:lnTo>
                      <a:pt x="13" y="3"/>
                    </a:lnTo>
                    <a:lnTo>
                      <a:pt x="15" y="3"/>
                    </a:lnTo>
                    <a:lnTo>
                      <a:pt x="20" y="5"/>
                    </a:lnTo>
                    <a:lnTo>
                      <a:pt x="22" y="6"/>
                    </a:lnTo>
                    <a:lnTo>
                      <a:pt x="24" y="7"/>
                    </a:lnTo>
                    <a:lnTo>
                      <a:pt x="26" y="7"/>
                    </a:lnTo>
                    <a:lnTo>
                      <a:pt x="27" y="9"/>
                    </a:lnTo>
                    <a:lnTo>
                      <a:pt x="29" y="10"/>
                    </a:lnTo>
                    <a:lnTo>
                      <a:pt x="30" y="11"/>
                    </a:lnTo>
                    <a:lnTo>
                      <a:pt x="31" y="13"/>
                    </a:lnTo>
                    <a:lnTo>
                      <a:pt x="32" y="14"/>
                    </a:lnTo>
                    <a:lnTo>
                      <a:pt x="32" y="15"/>
                    </a:lnTo>
                    <a:lnTo>
                      <a:pt x="32" y="16"/>
                    </a:lnTo>
                    <a:lnTo>
                      <a:pt x="35" y="1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67" name="Freeform 984"/>
              <p:cNvSpPr>
                <a:spLocks/>
              </p:cNvSpPr>
              <p:nvPr/>
            </p:nvSpPr>
            <p:spPr bwMode="auto">
              <a:xfrm>
                <a:off x="3142" y="1883"/>
                <a:ext cx="8" cy="12"/>
              </a:xfrm>
              <a:custGeom>
                <a:avLst/>
                <a:gdLst>
                  <a:gd name="T0" fmla="*/ 6 w 8"/>
                  <a:gd name="T1" fmla="*/ 11 h 12"/>
                  <a:gd name="T2" fmla="*/ 6 w 8"/>
                  <a:gd name="T3" fmla="*/ 11 h 12"/>
                  <a:gd name="T4" fmla="*/ 3 w 8"/>
                  <a:gd name="T5" fmla="*/ 8 h 12"/>
                  <a:gd name="T6" fmla="*/ 2 w 8"/>
                  <a:gd name="T7" fmla="*/ 7 h 12"/>
                  <a:gd name="T8" fmla="*/ 2 w 8"/>
                  <a:gd name="T9" fmla="*/ 6 h 12"/>
                  <a:gd name="T10" fmla="*/ 3 w 8"/>
                  <a:gd name="T11" fmla="*/ 6 h 12"/>
                  <a:gd name="T12" fmla="*/ 5 w 8"/>
                  <a:gd name="T13" fmla="*/ 5 h 12"/>
                  <a:gd name="T14" fmla="*/ 6 w 8"/>
                  <a:gd name="T15" fmla="*/ 2 h 12"/>
                  <a:gd name="T16" fmla="*/ 8 w 8"/>
                  <a:gd name="T17" fmla="*/ 0 h 12"/>
                  <a:gd name="T18" fmla="*/ 5 w 8"/>
                  <a:gd name="T19" fmla="*/ 0 h 12"/>
                  <a:gd name="T20" fmla="*/ 5 w 8"/>
                  <a:gd name="T21" fmla="*/ 2 h 12"/>
                  <a:gd name="T22" fmla="*/ 4 w 8"/>
                  <a:gd name="T23" fmla="*/ 4 h 12"/>
                  <a:gd name="T24" fmla="*/ 2 w 8"/>
                  <a:gd name="T25" fmla="*/ 4 h 12"/>
                  <a:gd name="T26" fmla="*/ 1 w 8"/>
                  <a:gd name="T27" fmla="*/ 5 h 12"/>
                  <a:gd name="T28" fmla="*/ 0 w 8"/>
                  <a:gd name="T29" fmla="*/ 6 h 12"/>
                  <a:gd name="T30" fmla="*/ 0 w 8"/>
                  <a:gd name="T31" fmla="*/ 7 h 12"/>
                  <a:gd name="T32" fmla="*/ 2 w 8"/>
                  <a:gd name="T33" fmla="*/ 9 h 12"/>
                  <a:gd name="T34" fmla="*/ 5 w 8"/>
                  <a:gd name="T35" fmla="*/ 12 h 12"/>
                  <a:gd name="T36" fmla="*/ 6 w 8"/>
                  <a:gd name="T37" fmla="*/ 11 h 1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"/>
                  <a:gd name="T58" fmla="*/ 0 h 12"/>
                  <a:gd name="T59" fmla="*/ 8 w 8"/>
                  <a:gd name="T60" fmla="*/ 12 h 1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" h="12">
                    <a:moveTo>
                      <a:pt x="6" y="11"/>
                    </a:moveTo>
                    <a:lnTo>
                      <a:pt x="6" y="11"/>
                    </a:lnTo>
                    <a:lnTo>
                      <a:pt x="3" y="8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3" y="6"/>
                    </a:lnTo>
                    <a:lnTo>
                      <a:pt x="5" y="5"/>
                    </a:lnTo>
                    <a:lnTo>
                      <a:pt x="6" y="2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5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5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2" y="9"/>
                    </a:lnTo>
                    <a:lnTo>
                      <a:pt x="5" y="12"/>
                    </a:lnTo>
                    <a:lnTo>
                      <a:pt x="6" y="1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68" name="Freeform 985"/>
              <p:cNvSpPr>
                <a:spLocks/>
              </p:cNvSpPr>
              <p:nvPr/>
            </p:nvSpPr>
            <p:spPr bwMode="auto">
              <a:xfrm>
                <a:off x="3145" y="1894"/>
                <a:ext cx="11" cy="78"/>
              </a:xfrm>
              <a:custGeom>
                <a:avLst/>
                <a:gdLst>
                  <a:gd name="T0" fmla="*/ 1 w 11"/>
                  <a:gd name="T1" fmla="*/ 78 h 78"/>
                  <a:gd name="T2" fmla="*/ 1 w 11"/>
                  <a:gd name="T3" fmla="*/ 78 h 78"/>
                  <a:gd name="T4" fmla="*/ 6 w 11"/>
                  <a:gd name="T5" fmla="*/ 74 h 78"/>
                  <a:gd name="T6" fmla="*/ 8 w 11"/>
                  <a:gd name="T7" fmla="*/ 65 h 78"/>
                  <a:gd name="T8" fmla="*/ 10 w 11"/>
                  <a:gd name="T9" fmla="*/ 53 h 78"/>
                  <a:gd name="T10" fmla="*/ 11 w 11"/>
                  <a:gd name="T11" fmla="*/ 41 h 78"/>
                  <a:gd name="T12" fmla="*/ 11 w 11"/>
                  <a:gd name="T13" fmla="*/ 28 h 78"/>
                  <a:gd name="T14" fmla="*/ 10 w 11"/>
                  <a:gd name="T15" fmla="*/ 16 h 78"/>
                  <a:gd name="T16" fmla="*/ 8 w 11"/>
                  <a:gd name="T17" fmla="*/ 6 h 78"/>
                  <a:gd name="T18" fmla="*/ 3 w 11"/>
                  <a:gd name="T19" fmla="*/ 0 h 78"/>
                  <a:gd name="T20" fmla="*/ 2 w 11"/>
                  <a:gd name="T21" fmla="*/ 1 h 78"/>
                  <a:gd name="T22" fmla="*/ 6 w 11"/>
                  <a:gd name="T23" fmla="*/ 6 h 78"/>
                  <a:gd name="T24" fmla="*/ 8 w 11"/>
                  <a:gd name="T25" fmla="*/ 17 h 78"/>
                  <a:gd name="T26" fmla="*/ 9 w 11"/>
                  <a:gd name="T27" fmla="*/ 28 h 78"/>
                  <a:gd name="T28" fmla="*/ 9 w 11"/>
                  <a:gd name="T29" fmla="*/ 41 h 78"/>
                  <a:gd name="T30" fmla="*/ 8 w 11"/>
                  <a:gd name="T31" fmla="*/ 53 h 78"/>
                  <a:gd name="T32" fmla="*/ 6 w 11"/>
                  <a:gd name="T33" fmla="*/ 65 h 78"/>
                  <a:gd name="T34" fmla="*/ 2 w 11"/>
                  <a:gd name="T35" fmla="*/ 73 h 78"/>
                  <a:gd name="T36" fmla="*/ 0 w 11"/>
                  <a:gd name="T37" fmla="*/ 77 h 78"/>
                  <a:gd name="T38" fmla="*/ 1 w 11"/>
                  <a:gd name="T39" fmla="*/ 78 h 7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"/>
                  <a:gd name="T61" fmla="*/ 0 h 78"/>
                  <a:gd name="T62" fmla="*/ 11 w 11"/>
                  <a:gd name="T63" fmla="*/ 78 h 7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" h="78">
                    <a:moveTo>
                      <a:pt x="1" y="78"/>
                    </a:moveTo>
                    <a:lnTo>
                      <a:pt x="1" y="78"/>
                    </a:lnTo>
                    <a:lnTo>
                      <a:pt x="6" y="74"/>
                    </a:lnTo>
                    <a:lnTo>
                      <a:pt x="8" y="65"/>
                    </a:lnTo>
                    <a:lnTo>
                      <a:pt x="10" y="53"/>
                    </a:lnTo>
                    <a:lnTo>
                      <a:pt x="11" y="41"/>
                    </a:lnTo>
                    <a:lnTo>
                      <a:pt x="11" y="28"/>
                    </a:lnTo>
                    <a:lnTo>
                      <a:pt x="10" y="16"/>
                    </a:lnTo>
                    <a:lnTo>
                      <a:pt x="8" y="6"/>
                    </a:lnTo>
                    <a:lnTo>
                      <a:pt x="3" y="0"/>
                    </a:lnTo>
                    <a:lnTo>
                      <a:pt x="2" y="1"/>
                    </a:lnTo>
                    <a:lnTo>
                      <a:pt x="6" y="6"/>
                    </a:lnTo>
                    <a:lnTo>
                      <a:pt x="8" y="17"/>
                    </a:lnTo>
                    <a:lnTo>
                      <a:pt x="9" y="28"/>
                    </a:lnTo>
                    <a:lnTo>
                      <a:pt x="9" y="41"/>
                    </a:lnTo>
                    <a:lnTo>
                      <a:pt x="8" y="53"/>
                    </a:lnTo>
                    <a:lnTo>
                      <a:pt x="6" y="65"/>
                    </a:lnTo>
                    <a:lnTo>
                      <a:pt x="2" y="73"/>
                    </a:lnTo>
                    <a:lnTo>
                      <a:pt x="0" y="77"/>
                    </a:lnTo>
                    <a:lnTo>
                      <a:pt x="1" y="78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69" name="Freeform 986"/>
              <p:cNvSpPr>
                <a:spLocks/>
              </p:cNvSpPr>
              <p:nvPr/>
            </p:nvSpPr>
            <p:spPr bwMode="auto">
              <a:xfrm>
                <a:off x="3348" y="1912"/>
                <a:ext cx="36" cy="34"/>
              </a:xfrm>
              <a:custGeom>
                <a:avLst/>
                <a:gdLst>
                  <a:gd name="T0" fmla="*/ 17 w 36"/>
                  <a:gd name="T1" fmla="*/ 34 h 34"/>
                  <a:gd name="T2" fmla="*/ 22 w 36"/>
                  <a:gd name="T3" fmla="*/ 34 h 34"/>
                  <a:gd name="T4" fmla="*/ 24 w 36"/>
                  <a:gd name="T5" fmla="*/ 33 h 34"/>
                  <a:gd name="T6" fmla="*/ 27 w 36"/>
                  <a:gd name="T7" fmla="*/ 31 h 34"/>
                  <a:gd name="T8" fmla="*/ 29 w 36"/>
                  <a:gd name="T9" fmla="*/ 30 h 34"/>
                  <a:gd name="T10" fmla="*/ 32 w 36"/>
                  <a:gd name="T11" fmla="*/ 26 h 34"/>
                  <a:gd name="T12" fmla="*/ 35 w 36"/>
                  <a:gd name="T13" fmla="*/ 24 h 34"/>
                  <a:gd name="T14" fmla="*/ 36 w 36"/>
                  <a:gd name="T15" fmla="*/ 20 h 34"/>
                  <a:gd name="T16" fmla="*/ 36 w 36"/>
                  <a:gd name="T17" fmla="*/ 17 h 34"/>
                  <a:gd name="T18" fmla="*/ 36 w 36"/>
                  <a:gd name="T19" fmla="*/ 14 h 34"/>
                  <a:gd name="T20" fmla="*/ 35 w 36"/>
                  <a:gd name="T21" fmla="*/ 10 h 34"/>
                  <a:gd name="T22" fmla="*/ 32 w 36"/>
                  <a:gd name="T23" fmla="*/ 8 h 34"/>
                  <a:gd name="T24" fmla="*/ 29 w 36"/>
                  <a:gd name="T25" fmla="*/ 4 h 34"/>
                  <a:gd name="T26" fmla="*/ 27 w 36"/>
                  <a:gd name="T27" fmla="*/ 3 h 34"/>
                  <a:gd name="T28" fmla="*/ 24 w 36"/>
                  <a:gd name="T29" fmla="*/ 1 h 34"/>
                  <a:gd name="T30" fmla="*/ 22 w 36"/>
                  <a:gd name="T31" fmla="*/ 0 h 34"/>
                  <a:gd name="T32" fmla="*/ 17 w 36"/>
                  <a:gd name="T33" fmla="*/ 0 h 34"/>
                  <a:gd name="T34" fmla="*/ 13 w 36"/>
                  <a:gd name="T35" fmla="*/ 0 h 34"/>
                  <a:gd name="T36" fmla="*/ 11 w 36"/>
                  <a:gd name="T37" fmla="*/ 1 h 34"/>
                  <a:gd name="T38" fmla="*/ 8 w 36"/>
                  <a:gd name="T39" fmla="*/ 3 h 34"/>
                  <a:gd name="T40" fmla="*/ 6 w 36"/>
                  <a:gd name="T41" fmla="*/ 4 h 34"/>
                  <a:gd name="T42" fmla="*/ 4 w 36"/>
                  <a:gd name="T43" fmla="*/ 8 h 34"/>
                  <a:gd name="T44" fmla="*/ 1 w 36"/>
                  <a:gd name="T45" fmla="*/ 10 h 34"/>
                  <a:gd name="T46" fmla="*/ 0 w 36"/>
                  <a:gd name="T47" fmla="*/ 14 h 34"/>
                  <a:gd name="T48" fmla="*/ 0 w 36"/>
                  <a:gd name="T49" fmla="*/ 17 h 34"/>
                  <a:gd name="T50" fmla="*/ 0 w 36"/>
                  <a:gd name="T51" fmla="*/ 20 h 34"/>
                  <a:gd name="T52" fmla="*/ 1 w 36"/>
                  <a:gd name="T53" fmla="*/ 24 h 34"/>
                  <a:gd name="T54" fmla="*/ 4 w 36"/>
                  <a:gd name="T55" fmla="*/ 26 h 34"/>
                  <a:gd name="T56" fmla="*/ 6 w 36"/>
                  <a:gd name="T57" fmla="*/ 30 h 34"/>
                  <a:gd name="T58" fmla="*/ 8 w 36"/>
                  <a:gd name="T59" fmla="*/ 31 h 34"/>
                  <a:gd name="T60" fmla="*/ 11 w 36"/>
                  <a:gd name="T61" fmla="*/ 33 h 34"/>
                  <a:gd name="T62" fmla="*/ 13 w 36"/>
                  <a:gd name="T63" fmla="*/ 34 h 34"/>
                  <a:gd name="T64" fmla="*/ 17 w 36"/>
                  <a:gd name="T65" fmla="*/ 34 h 3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6"/>
                  <a:gd name="T100" fmla="*/ 0 h 34"/>
                  <a:gd name="T101" fmla="*/ 36 w 36"/>
                  <a:gd name="T102" fmla="*/ 34 h 3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6" h="34">
                    <a:moveTo>
                      <a:pt x="17" y="34"/>
                    </a:moveTo>
                    <a:lnTo>
                      <a:pt x="22" y="34"/>
                    </a:lnTo>
                    <a:lnTo>
                      <a:pt x="24" y="33"/>
                    </a:lnTo>
                    <a:lnTo>
                      <a:pt x="27" y="31"/>
                    </a:lnTo>
                    <a:lnTo>
                      <a:pt x="29" y="30"/>
                    </a:lnTo>
                    <a:lnTo>
                      <a:pt x="32" y="26"/>
                    </a:lnTo>
                    <a:lnTo>
                      <a:pt x="35" y="24"/>
                    </a:lnTo>
                    <a:lnTo>
                      <a:pt x="36" y="20"/>
                    </a:lnTo>
                    <a:lnTo>
                      <a:pt x="36" y="17"/>
                    </a:lnTo>
                    <a:lnTo>
                      <a:pt x="36" y="14"/>
                    </a:lnTo>
                    <a:lnTo>
                      <a:pt x="35" y="10"/>
                    </a:lnTo>
                    <a:lnTo>
                      <a:pt x="32" y="8"/>
                    </a:lnTo>
                    <a:lnTo>
                      <a:pt x="29" y="4"/>
                    </a:lnTo>
                    <a:lnTo>
                      <a:pt x="27" y="3"/>
                    </a:lnTo>
                    <a:lnTo>
                      <a:pt x="24" y="1"/>
                    </a:lnTo>
                    <a:lnTo>
                      <a:pt x="22" y="0"/>
                    </a:lnTo>
                    <a:lnTo>
                      <a:pt x="17" y="0"/>
                    </a:lnTo>
                    <a:lnTo>
                      <a:pt x="13" y="0"/>
                    </a:lnTo>
                    <a:lnTo>
                      <a:pt x="11" y="1"/>
                    </a:lnTo>
                    <a:lnTo>
                      <a:pt x="8" y="3"/>
                    </a:lnTo>
                    <a:lnTo>
                      <a:pt x="6" y="4"/>
                    </a:lnTo>
                    <a:lnTo>
                      <a:pt x="4" y="8"/>
                    </a:lnTo>
                    <a:lnTo>
                      <a:pt x="1" y="10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0" y="20"/>
                    </a:lnTo>
                    <a:lnTo>
                      <a:pt x="1" y="24"/>
                    </a:lnTo>
                    <a:lnTo>
                      <a:pt x="4" y="26"/>
                    </a:lnTo>
                    <a:lnTo>
                      <a:pt x="6" y="30"/>
                    </a:lnTo>
                    <a:lnTo>
                      <a:pt x="8" y="31"/>
                    </a:lnTo>
                    <a:lnTo>
                      <a:pt x="11" y="33"/>
                    </a:lnTo>
                    <a:lnTo>
                      <a:pt x="13" y="34"/>
                    </a:lnTo>
                    <a:lnTo>
                      <a:pt x="17" y="34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670" name="Freeform 987"/>
              <p:cNvSpPr>
                <a:spLocks/>
              </p:cNvSpPr>
              <p:nvPr/>
            </p:nvSpPr>
            <p:spPr bwMode="auto">
              <a:xfrm>
                <a:off x="3156" y="1912"/>
                <a:ext cx="209" cy="34"/>
              </a:xfrm>
              <a:custGeom>
                <a:avLst/>
                <a:gdLst>
                  <a:gd name="T0" fmla="*/ 209 w 209"/>
                  <a:gd name="T1" fmla="*/ 0 h 34"/>
                  <a:gd name="T2" fmla="*/ 0 w 209"/>
                  <a:gd name="T3" fmla="*/ 10 h 34"/>
                  <a:gd name="T4" fmla="*/ 0 w 209"/>
                  <a:gd name="T5" fmla="*/ 26 h 34"/>
                  <a:gd name="T6" fmla="*/ 209 w 209"/>
                  <a:gd name="T7" fmla="*/ 34 h 34"/>
                  <a:gd name="T8" fmla="*/ 209 w 209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9"/>
                  <a:gd name="T16" fmla="*/ 0 h 34"/>
                  <a:gd name="T17" fmla="*/ 209 w 209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9" h="34">
                    <a:moveTo>
                      <a:pt x="209" y="0"/>
                    </a:moveTo>
                    <a:lnTo>
                      <a:pt x="0" y="10"/>
                    </a:lnTo>
                    <a:lnTo>
                      <a:pt x="0" y="26"/>
                    </a:lnTo>
                    <a:lnTo>
                      <a:pt x="209" y="34"/>
                    </a:lnTo>
                    <a:lnTo>
                      <a:pt x="209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7458" name="Rectangle 988"/>
            <p:cNvSpPr>
              <a:spLocks noChangeArrowheads="1"/>
            </p:cNvSpPr>
            <p:nvPr/>
          </p:nvSpPr>
          <p:spPr bwMode="auto">
            <a:xfrm>
              <a:off x="3440" y="2687"/>
              <a:ext cx="323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Selection</a:t>
              </a:r>
              <a:endParaRPr lang="en-US" sz="1000" b="0">
                <a:latin typeface="Times New Roman" pitchFamily="18" charset="0"/>
              </a:endParaRPr>
            </a:p>
          </p:txBody>
        </p:sp>
        <p:sp>
          <p:nvSpPr>
            <p:cNvPr id="17459" name="Rectangle 989"/>
            <p:cNvSpPr>
              <a:spLocks noChangeArrowheads="1"/>
            </p:cNvSpPr>
            <p:nvPr/>
          </p:nvSpPr>
          <p:spPr bwMode="auto">
            <a:xfrm>
              <a:off x="2258" y="2721"/>
              <a:ext cx="603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Risk Assessment</a:t>
              </a:r>
              <a:endParaRPr lang="en-US" sz="1000" b="0">
                <a:latin typeface="Times New Roman" pitchFamily="18" charset="0"/>
              </a:endParaRPr>
            </a:p>
          </p:txBody>
        </p:sp>
        <p:grpSp>
          <p:nvGrpSpPr>
            <p:cNvPr id="17460" name="Group 990"/>
            <p:cNvGrpSpPr>
              <a:grpSpLocks/>
            </p:cNvGrpSpPr>
            <p:nvPr/>
          </p:nvGrpSpPr>
          <p:grpSpPr bwMode="auto">
            <a:xfrm>
              <a:off x="2372" y="2391"/>
              <a:ext cx="312" cy="302"/>
              <a:chOff x="2028" y="1892"/>
              <a:chExt cx="263" cy="282"/>
            </a:xfrm>
          </p:grpSpPr>
          <p:sp>
            <p:nvSpPr>
              <p:cNvPr id="17562" name="Freeform 991"/>
              <p:cNvSpPr>
                <a:spLocks/>
              </p:cNvSpPr>
              <p:nvPr/>
            </p:nvSpPr>
            <p:spPr bwMode="auto">
              <a:xfrm>
                <a:off x="2028" y="1892"/>
                <a:ext cx="263" cy="282"/>
              </a:xfrm>
              <a:custGeom>
                <a:avLst/>
                <a:gdLst>
                  <a:gd name="T0" fmla="*/ 24 w 263"/>
                  <a:gd name="T1" fmla="*/ 282 h 282"/>
                  <a:gd name="T2" fmla="*/ 239 w 263"/>
                  <a:gd name="T3" fmla="*/ 282 h 282"/>
                  <a:gd name="T4" fmla="*/ 239 w 263"/>
                  <a:gd name="T5" fmla="*/ 255 h 282"/>
                  <a:gd name="T6" fmla="*/ 263 w 263"/>
                  <a:gd name="T7" fmla="*/ 255 h 282"/>
                  <a:gd name="T8" fmla="*/ 263 w 263"/>
                  <a:gd name="T9" fmla="*/ 27 h 282"/>
                  <a:gd name="T10" fmla="*/ 239 w 263"/>
                  <a:gd name="T11" fmla="*/ 27 h 282"/>
                  <a:gd name="T12" fmla="*/ 239 w 263"/>
                  <a:gd name="T13" fmla="*/ 0 h 282"/>
                  <a:gd name="T14" fmla="*/ 24 w 263"/>
                  <a:gd name="T15" fmla="*/ 0 h 282"/>
                  <a:gd name="T16" fmla="*/ 24 w 263"/>
                  <a:gd name="T17" fmla="*/ 27 h 282"/>
                  <a:gd name="T18" fmla="*/ 0 w 263"/>
                  <a:gd name="T19" fmla="*/ 27 h 282"/>
                  <a:gd name="T20" fmla="*/ 0 w 263"/>
                  <a:gd name="T21" fmla="*/ 255 h 282"/>
                  <a:gd name="T22" fmla="*/ 24 w 263"/>
                  <a:gd name="T23" fmla="*/ 255 h 282"/>
                  <a:gd name="T24" fmla="*/ 24 w 263"/>
                  <a:gd name="T25" fmla="*/ 282 h 282"/>
                  <a:gd name="T26" fmla="*/ 24 w 263"/>
                  <a:gd name="T27" fmla="*/ 282 h 28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63"/>
                  <a:gd name="T43" fmla="*/ 0 h 282"/>
                  <a:gd name="T44" fmla="*/ 263 w 263"/>
                  <a:gd name="T45" fmla="*/ 282 h 28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63" h="282">
                    <a:moveTo>
                      <a:pt x="24" y="282"/>
                    </a:moveTo>
                    <a:lnTo>
                      <a:pt x="239" y="282"/>
                    </a:lnTo>
                    <a:lnTo>
                      <a:pt x="239" y="255"/>
                    </a:lnTo>
                    <a:lnTo>
                      <a:pt x="263" y="255"/>
                    </a:lnTo>
                    <a:lnTo>
                      <a:pt x="263" y="27"/>
                    </a:lnTo>
                    <a:lnTo>
                      <a:pt x="239" y="27"/>
                    </a:lnTo>
                    <a:lnTo>
                      <a:pt x="239" y="0"/>
                    </a:lnTo>
                    <a:lnTo>
                      <a:pt x="24" y="0"/>
                    </a:lnTo>
                    <a:lnTo>
                      <a:pt x="24" y="27"/>
                    </a:lnTo>
                    <a:lnTo>
                      <a:pt x="0" y="27"/>
                    </a:lnTo>
                    <a:lnTo>
                      <a:pt x="0" y="255"/>
                    </a:lnTo>
                    <a:lnTo>
                      <a:pt x="24" y="255"/>
                    </a:lnTo>
                    <a:lnTo>
                      <a:pt x="24" y="28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63" name="Freeform 992"/>
              <p:cNvSpPr>
                <a:spLocks/>
              </p:cNvSpPr>
              <p:nvPr/>
            </p:nvSpPr>
            <p:spPr bwMode="auto">
              <a:xfrm>
                <a:off x="2028" y="1892"/>
                <a:ext cx="263" cy="282"/>
              </a:xfrm>
              <a:custGeom>
                <a:avLst/>
                <a:gdLst>
                  <a:gd name="T0" fmla="*/ 24 w 263"/>
                  <a:gd name="T1" fmla="*/ 282 h 282"/>
                  <a:gd name="T2" fmla="*/ 239 w 263"/>
                  <a:gd name="T3" fmla="*/ 282 h 282"/>
                  <a:gd name="T4" fmla="*/ 239 w 263"/>
                  <a:gd name="T5" fmla="*/ 255 h 282"/>
                  <a:gd name="T6" fmla="*/ 263 w 263"/>
                  <a:gd name="T7" fmla="*/ 255 h 282"/>
                  <a:gd name="T8" fmla="*/ 263 w 263"/>
                  <a:gd name="T9" fmla="*/ 27 h 282"/>
                  <a:gd name="T10" fmla="*/ 239 w 263"/>
                  <a:gd name="T11" fmla="*/ 27 h 282"/>
                  <a:gd name="T12" fmla="*/ 239 w 263"/>
                  <a:gd name="T13" fmla="*/ 0 h 282"/>
                  <a:gd name="T14" fmla="*/ 24 w 263"/>
                  <a:gd name="T15" fmla="*/ 0 h 282"/>
                  <a:gd name="T16" fmla="*/ 24 w 263"/>
                  <a:gd name="T17" fmla="*/ 27 h 282"/>
                  <a:gd name="T18" fmla="*/ 0 w 263"/>
                  <a:gd name="T19" fmla="*/ 27 h 282"/>
                  <a:gd name="T20" fmla="*/ 0 w 263"/>
                  <a:gd name="T21" fmla="*/ 255 h 282"/>
                  <a:gd name="T22" fmla="*/ 24 w 263"/>
                  <a:gd name="T23" fmla="*/ 255 h 282"/>
                  <a:gd name="T24" fmla="*/ 24 w 263"/>
                  <a:gd name="T25" fmla="*/ 282 h 28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63"/>
                  <a:gd name="T40" fmla="*/ 0 h 282"/>
                  <a:gd name="T41" fmla="*/ 263 w 263"/>
                  <a:gd name="T42" fmla="*/ 282 h 28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63" h="282">
                    <a:moveTo>
                      <a:pt x="24" y="282"/>
                    </a:moveTo>
                    <a:lnTo>
                      <a:pt x="239" y="282"/>
                    </a:lnTo>
                    <a:lnTo>
                      <a:pt x="239" y="255"/>
                    </a:lnTo>
                    <a:lnTo>
                      <a:pt x="263" y="255"/>
                    </a:lnTo>
                    <a:lnTo>
                      <a:pt x="263" y="27"/>
                    </a:lnTo>
                    <a:lnTo>
                      <a:pt x="239" y="27"/>
                    </a:lnTo>
                    <a:lnTo>
                      <a:pt x="239" y="0"/>
                    </a:lnTo>
                    <a:lnTo>
                      <a:pt x="24" y="0"/>
                    </a:lnTo>
                    <a:lnTo>
                      <a:pt x="24" y="27"/>
                    </a:lnTo>
                    <a:lnTo>
                      <a:pt x="0" y="27"/>
                    </a:lnTo>
                    <a:lnTo>
                      <a:pt x="0" y="255"/>
                    </a:lnTo>
                    <a:lnTo>
                      <a:pt x="24" y="255"/>
                    </a:lnTo>
                    <a:lnTo>
                      <a:pt x="24" y="28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64" name="Line 993"/>
              <p:cNvSpPr>
                <a:spLocks noChangeShapeType="1"/>
              </p:cNvSpPr>
              <p:nvPr/>
            </p:nvSpPr>
            <p:spPr bwMode="auto">
              <a:xfrm>
                <a:off x="2086" y="1914"/>
                <a:ext cx="17" cy="32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65" name="Line 994"/>
              <p:cNvSpPr>
                <a:spLocks noChangeShapeType="1"/>
              </p:cNvSpPr>
              <p:nvPr/>
            </p:nvSpPr>
            <p:spPr bwMode="auto">
              <a:xfrm>
                <a:off x="2053" y="1942"/>
                <a:ext cx="29" cy="25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66" name="Line 995"/>
              <p:cNvSpPr>
                <a:spLocks noChangeShapeType="1"/>
              </p:cNvSpPr>
              <p:nvPr/>
            </p:nvSpPr>
            <p:spPr bwMode="auto">
              <a:xfrm flipV="1">
                <a:off x="2041" y="2030"/>
                <a:ext cx="34" cy="3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67" name="Line 996"/>
              <p:cNvSpPr>
                <a:spLocks noChangeShapeType="1"/>
              </p:cNvSpPr>
              <p:nvPr/>
            </p:nvSpPr>
            <p:spPr bwMode="auto">
              <a:xfrm flipH="1">
                <a:off x="2054" y="2069"/>
                <a:ext cx="37" cy="37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68" name="Line 997"/>
              <p:cNvSpPr>
                <a:spLocks noChangeShapeType="1"/>
              </p:cNvSpPr>
              <p:nvPr/>
            </p:nvSpPr>
            <p:spPr bwMode="auto">
              <a:xfrm flipH="1">
                <a:off x="2169" y="1903"/>
                <a:ext cx="2" cy="28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69" name="Line 998"/>
              <p:cNvSpPr>
                <a:spLocks noChangeShapeType="1"/>
              </p:cNvSpPr>
              <p:nvPr/>
            </p:nvSpPr>
            <p:spPr bwMode="auto">
              <a:xfrm flipH="1">
                <a:off x="2218" y="1916"/>
                <a:ext cx="28" cy="36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70" name="Line 999"/>
              <p:cNvSpPr>
                <a:spLocks noChangeShapeType="1"/>
              </p:cNvSpPr>
              <p:nvPr/>
            </p:nvSpPr>
            <p:spPr bwMode="auto">
              <a:xfrm flipV="1">
                <a:off x="2241" y="2006"/>
                <a:ext cx="40" cy="6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71" name="Line 1000"/>
              <p:cNvSpPr>
                <a:spLocks noChangeShapeType="1"/>
              </p:cNvSpPr>
              <p:nvPr/>
            </p:nvSpPr>
            <p:spPr bwMode="auto">
              <a:xfrm>
                <a:off x="2231" y="2061"/>
                <a:ext cx="34" cy="40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72" name="Line 1001"/>
              <p:cNvSpPr>
                <a:spLocks noChangeShapeType="1"/>
              </p:cNvSpPr>
              <p:nvPr/>
            </p:nvSpPr>
            <p:spPr bwMode="auto">
              <a:xfrm>
                <a:off x="2241" y="2037"/>
                <a:ext cx="25" cy="7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73" name="Line 1002"/>
              <p:cNvSpPr>
                <a:spLocks noChangeShapeType="1"/>
              </p:cNvSpPr>
              <p:nvPr/>
            </p:nvSpPr>
            <p:spPr bwMode="auto">
              <a:xfrm flipH="1">
                <a:off x="2060" y="2049"/>
                <a:ext cx="16" cy="7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74" name="Line 1003"/>
              <p:cNvSpPr>
                <a:spLocks noChangeShapeType="1"/>
              </p:cNvSpPr>
              <p:nvPr/>
            </p:nvSpPr>
            <p:spPr bwMode="auto">
              <a:xfrm flipV="1">
                <a:off x="2192" y="1917"/>
                <a:ext cx="6" cy="15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75" name="Freeform 1004"/>
              <p:cNvSpPr>
                <a:spLocks/>
              </p:cNvSpPr>
              <p:nvPr/>
            </p:nvSpPr>
            <p:spPr bwMode="auto">
              <a:xfrm>
                <a:off x="2096" y="2125"/>
                <a:ext cx="127" cy="39"/>
              </a:xfrm>
              <a:custGeom>
                <a:avLst/>
                <a:gdLst>
                  <a:gd name="T0" fmla="*/ 64 w 127"/>
                  <a:gd name="T1" fmla="*/ 39 h 39"/>
                  <a:gd name="T2" fmla="*/ 70 w 127"/>
                  <a:gd name="T3" fmla="*/ 39 h 39"/>
                  <a:gd name="T4" fmla="*/ 76 w 127"/>
                  <a:gd name="T5" fmla="*/ 38 h 39"/>
                  <a:gd name="T6" fmla="*/ 82 w 127"/>
                  <a:gd name="T7" fmla="*/ 38 h 39"/>
                  <a:gd name="T8" fmla="*/ 89 w 127"/>
                  <a:gd name="T9" fmla="*/ 37 h 39"/>
                  <a:gd name="T10" fmla="*/ 95 w 127"/>
                  <a:gd name="T11" fmla="*/ 36 h 39"/>
                  <a:gd name="T12" fmla="*/ 100 w 127"/>
                  <a:gd name="T13" fmla="*/ 34 h 39"/>
                  <a:gd name="T14" fmla="*/ 107 w 127"/>
                  <a:gd name="T15" fmla="*/ 33 h 39"/>
                  <a:gd name="T16" fmla="*/ 112 w 127"/>
                  <a:gd name="T17" fmla="*/ 31 h 39"/>
                  <a:gd name="T18" fmla="*/ 117 w 127"/>
                  <a:gd name="T19" fmla="*/ 28 h 39"/>
                  <a:gd name="T20" fmla="*/ 123 w 127"/>
                  <a:gd name="T21" fmla="*/ 25 h 39"/>
                  <a:gd name="T22" fmla="*/ 124 w 127"/>
                  <a:gd name="T23" fmla="*/ 24 h 39"/>
                  <a:gd name="T24" fmla="*/ 126 w 127"/>
                  <a:gd name="T25" fmla="*/ 22 h 39"/>
                  <a:gd name="T26" fmla="*/ 127 w 127"/>
                  <a:gd name="T27" fmla="*/ 19 h 39"/>
                  <a:gd name="T28" fmla="*/ 127 w 127"/>
                  <a:gd name="T29" fmla="*/ 15 h 39"/>
                  <a:gd name="T30" fmla="*/ 127 w 127"/>
                  <a:gd name="T31" fmla="*/ 11 h 39"/>
                  <a:gd name="T32" fmla="*/ 126 w 127"/>
                  <a:gd name="T33" fmla="*/ 7 h 39"/>
                  <a:gd name="T34" fmla="*/ 125 w 127"/>
                  <a:gd name="T35" fmla="*/ 4 h 39"/>
                  <a:gd name="T36" fmla="*/ 122 w 127"/>
                  <a:gd name="T37" fmla="*/ 1 h 39"/>
                  <a:gd name="T38" fmla="*/ 119 w 127"/>
                  <a:gd name="T39" fmla="*/ 0 h 39"/>
                  <a:gd name="T40" fmla="*/ 113 w 127"/>
                  <a:gd name="T41" fmla="*/ 0 h 39"/>
                  <a:gd name="T42" fmla="*/ 14 w 127"/>
                  <a:gd name="T43" fmla="*/ 0 h 39"/>
                  <a:gd name="T44" fmla="*/ 8 w 127"/>
                  <a:gd name="T45" fmla="*/ 0 h 39"/>
                  <a:gd name="T46" fmla="*/ 5 w 127"/>
                  <a:gd name="T47" fmla="*/ 1 h 39"/>
                  <a:gd name="T48" fmla="*/ 2 w 127"/>
                  <a:gd name="T49" fmla="*/ 4 h 39"/>
                  <a:gd name="T50" fmla="*/ 1 w 127"/>
                  <a:gd name="T51" fmla="*/ 7 h 39"/>
                  <a:gd name="T52" fmla="*/ 0 w 127"/>
                  <a:gd name="T53" fmla="*/ 11 h 39"/>
                  <a:gd name="T54" fmla="*/ 0 w 127"/>
                  <a:gd name="T55" fmla="*/ 15 h 39"/>
                  <a:gd name="T56" fmla="*/ 1 w 127"/>
                  <a:gd name="T57" fmla="*/ 19 h 39"/>
                  <a:gd name="T58" fmla="*/ 2 w 127"/>
                  <a:gd name="T59" fmla="*/ 22 h 39"/>
                  <a:gd name="T60" fmla="*/ 3 w 127"/>
                  <a:gd name="T61" fmla="*/ 24 h 39"/>
                  <a:gd name="T62" fmla="*/ 4 w 127"/>
                  <a:gd name="T63" fmla="*/ 25 h 39"/>
                  <a:gd name="T64" fmla="*/ 10 w 127"/>
                  <a:gd name="T65" fmla="*/ 28 h 39"/>
                  <a:gd name="T66" fmla="*/ 15 w 127"/>
                  <a:gd name="T67" fmla="*/ 31 h 39"/>
                  <a:gd name="T68" fmla="*/ 20 w 127"/>
                  <a:gd name="T69" fmla="*/ 33 h 39"/>
                  <a:gd name="T70" fmla="*/ 27 w 127"/>
                  <a:gd name="T71" fmla="*/ 34 h 39"/>
                  <a:gd name="T72" fmla="*/ 32 w 127"/>
                  <a:gd name="T73" fmla="*/ 36 h 39"/>
                  <a:gd name="T74" fmla="*/ 38 w 127"/>
                  <a:gd name="T75" fmla="*/ 37 h 39"/>
                  <a:gd name="T76" fmla="*/ 45 w 127"/>
                  <a:gd name="T77" fmla="*/ 38 h 39"/>
                  <a:gd name="T78" fmla="*/ 50 w 127"/>
                  <a:gd name="T79" fmla="*/ 38 h 39"/>
                  <a:gd name="T80" fmla="*/ 58 w 127"/>
                  <a:gd name="T81" fmla="*/ 39 h 39"/>
                  <a:gd name="T82" fmla="*/ 64 w 127"/>
                  <a:gd name="T83" fmla="*/ 39 h 3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27"/>
                  <a:gd name="T127" fmla="*/ 0 h 39"/>
                  <a:gd name="T128" fmla="*/ 127 w 127"/>
                  <a:gd name="T129" fmla="*/ 39 h 3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27" h="39">
                    <a:moveTo>
                      <a:pt x="64" y="39"/>
                    </a:moveTo>
                    <a:lnTo>
                      <a:pt x="70" y="39"/>
                    </a:lnTo>
                    <a:lnTo>
                      <a:pt x="76" y="38"/>
                    </a:lnTo>
                    <a:lnTo>
                      <a:pt x="82" y="38"/>
                    </a:lnTo>
                    <a:lnTo>
                      <a:pt x="89" y="37"/>
                    </a:lnTo>
                    <a:lnTo>
                      <a:pt x="95" y="36"/>
                    </a:lnTo>
                    <a:lnTo>
                      <a:pt x="100" y="34"/>
                    </a:lnTo>
                    <a:lnTo>
                      <a:pt x="107" y="33"/>
                    </a:lnTo>
                    <a:lnTo>
                      <a:pt x="112" y="31"/>
                    </a:lnTo>
                    <a:lnTo>
                      <a:pt x="117" y="28"/>
                    </a:lnTo>
                    <a:lnTo>
                      <a:pt x="123" y="25"/>
                    </a:lnTo>
                    <a:lnTo>
                      <a:pt x="124" y="24"/>
                    </a:lnTo>
                    <a:lnTo>
                      <a:pt x="126" y="22"/>
                    </a:lnTo>
                    <a:lnTo>
                      <a:pt x="127" y="19"/>
                    </a:lnTo>
                    <a:lnTo>
                      <a:pt x="127" y="15"/>
                    </a:lnTo>
                    <a:lnTo>
                      <a:pt x="127" y="11"/>
                    </a:lnTo>
                    <a:lnTo>
                      <a:pt x="126" y="7"/>
                    </a:lnTo>
                    <a:lnTo>
                      <a:pt x="125" y="4"/>
                    </a:lnTo>
                    <a:lnTo>
                      <a:pt x="122" y="1"/>
                    </a:lnTo>
                    <a:lnTo>
                      <a:pt x="119" y="0"/>
                    </a:lnTo>
                    <a:lnTo>
                      <a:pt x="113" y="0"/>
                    </a:lnTo>
                    <a:lnTo>
                      <a:pt x="14" y="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1" y="19"/>
                    </a:lnTo>
                    <a:lnTo>
                      <a:pt x="2" y="22"/>
                    </a:lnTo>
                    <a:lnTo>
                      <a:pt x="3" y="24"/>
                    </a:lnTo>
                    <a:lnTo>
                      <a:pt x="4" y="25"/>
                    </a:lnTo>
                    <a:lnTo>
                      <a:pt x="10" y="28"/>
                    </a:lnTo>
                    <a:lnTo>
                      <a:pt x="15" y="31"/>
                    </a:lnTo>
                    <a:lnTo>
                      <a:pt x="20" y="33"/>
                    </a:lnTo>
                    <a:lnTo>
                      <a:pt x="27" y="34"/>
                    </a:lnTo>
                    <a:lnTo>
                      <a:pt x="32" y="36"/>
                    </a:lnTo>
                    <a:lnTo>
                      <a:pt x="38" y="37"/>
                    </a:lnTo>
                    <a:lnTo>
                      <a:pt x="45" y="38"/>
                    </a:lnTo>
                    <a:lnTo>
                      <a:pt x="50" y="38"/>
                    </a:lnTo>
                    <a:lnTo>
                      <a:pt x="58" y="39"/>
                    </a:lnTo>
                    <a:lnTo>
                      <a:pt x="64" y="3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76" name="Freeform 1005"/>
              <p:cNvSpPr>
                <a:spLocks/>
              </p:cNvSpPr>
              <p:nvPr/>
            </p:nvSpPr>
            <p:spPr bwMode="auto">
              <a:xfrm>
                <a:off x="2096" y="2125"/>
                <a:ext cx="127" cy="39"/>
              </a:xfrm>
              <a:custGeom>
                <a:avLst/>
                <a:gdLst>
                  <a:gd name="T0" fmla="*/ 64 w 127"/>
                  <a:gd name="T1" fmla="*/ 39 h 39"/>
                  <a:gd name="T2" fmla="*/ 70 w 127"/>
                  <a:gd name="T3" fmla="*/ 39 h 39"/>
                  <a:gd name="T4" fmla="*/ 76 w 127"/>
                  <a:gd name="T5" fmla="*/ 38 h 39"/>
                  <a:gd name="T6" fmla="*/ 82 w 127"/>
                  <a:gd name="T7" fmla="*/ 38 h 39"/>
                  <a:gd name="T8" fmla="*/ 89 w 127"/>
                  <a:gd name="T9" fmla="*/ 37 h 39"/>
                  <a:gd name="T10" fmla="*/ 95 w 127"/>
                  <a:gd name="T11" fmla="*/ 36 h 39"/>
                  <a:gd name="T12" fmla="*/ 100 w 127"/>
                  <a:gd name="T13" fmla="*/ 34 h 39"/>
                  <a:gd name="T14" fmla="*/ 107 w 127"/>
                  <a:gd name="T15" fmla="*/ 33 h 39"/>
                  <a:gd name="T16" fmla="*/ 112 w 127"/>
                  <a:gd name="T17" fmla="*/ 31 h 39"/>
                  <a:gd name="T18" fmla="*/ 117 w 127"/>
                  <a:gd name="T19" fmla="*/ 28 h 39"/>
                  <a:gd name="T20" fmla="*/ 123 w 127"/>
                  <a:gd name="T21" fmla="*/ 25 h 39"/>
                  <a:gd name="T22" fmla="*/ 124 w 127"/>
                  <a:gd name="T23" fmla="*/ 24 h 39"/>
                  <a:gd name="T24" fmla="*/ 126 w 127"/>
                  <a:gd name="T25" fmla="*/ 22 h 39"/>
                  <a:gd name="T26" fmla="*/ 127 w 127"/>
                  <a:gd name="T27" fmla="*/ 19 h 39"/>
                  <a:gd name="T28" fmla="*/ 127 w 127"/>
                  <a:gd name="T29" fmla="*/ 15 h 39"/>
                  <a:gd name="T30" fmla="*/ 127 w 127"/>
                  <a:gd name="T31" fmla="*/ 11 h 39"/>
                  <a:gd name="T32" fmla="*/ 126 w 127"/>
                  <a:gd name="T33" fmla="*/ 7 h 39"/>
                  <a:gd name="T34" fmla="*/ 125 w 127"/>
                  <a:gd name="T35" fmla="*/ 4 h 39"/>
                  <a:gd name="T36" fmla="*/ 122 w 127"/>
                  <a:gd name="T37" fmla="*/ 1 h 39"/>
                  <a:gd name="T38" fmla="*/ 119 w 127"/>
                  <a:gd name="T39" fmla="*/ 0 h 39"/>
                  <a:gd name="T40" fmla="*/ 113 w 127"/>
                  <a:gd name="T41" fmla="*/ 0 h 39"/>
                  <a:gd name="T42" fmla="*/ 14 w 127"/>
                  <a:gd name="T43" fmla="*/ 0 h 39"/>
                  <a:gd name="T44" fmla="*/ 8 w 127"/>
                  <a:gd name="T45" fmla="*/ 0 h 39"/>
                  <a:gd name="T46" fmla="*/ 5 w 127"/>
                  <a:gd name="T47" fmla="*/ 1 h 39"/>
                  <a:gd name="T48" fmla="*/ 2 w 127"/>
                  <a:gd name="T49" fmla="*/ 4 h 39"/>
                  <a:gd name="T50" fmla="*/ 1 w 127"/>
                  <a:gd name="T51" fmla="*/ 7 h 39"/>
                  <a:gd name="T52" fmla="*/ 0 w 127"/>
                  <a:gd name="T53" fmla="*/ 11 h 39"/>
                  <a:gd name="T54" fmla="*/ 0 w 127"/>
                  <a:gd name="T55" fmla="*/ 15 h 39"/>
                  <a:gd name="T56" fmla="*/ 1 w 127"/>
                  <a:gd name="T57" fmla="*/ 19 h 39"/>
                  <a:gd name="T58" fmla="*/ 2 w 127"/>
                  <a:gd name="T59" fmla="*/ 22 h 39"/>
                  <a:gd name="T60" fmla="*/ 3 w 127"/>
                  <a:gd name="T61" fmla="*/ 24 h 39"/>
                  <a:gd name="T62" fmla="*/ 4 w 127"/>
                  <a:gd name="T63" fmla="*/ 25 h 39"/>
                  <a:gd name="T64" fmla="*/ 10 w 127"/>
                  <a:gd name="T65" fmla="*/ 28 h 39"/>
                  <a:gd name="T66" fmla="*/ 15 w 127"/>
                  <a:gd name="T67" fmla="*/ 31 h 39"/>
                  <a:gd name="T68" fmla="*/ 20 w 127"/>
                  <a:gd name="T69" fmla="*/ 33 h 39"/>
                  <a:gd name="T70" fmla="*/ 27 w 127"/>
                  <a:gd name="T71" fmla="*/ 34 h 39"/>
                  <a:gd name="T72" fmla="*/ 32 w 127"/>
                  <a:gd name="T73" fmla="*/ 36 h 39"/>
                  <a:gd name="T74" fmla="*/ 38 w 127"/>
                  <a:gd name="T75" fmla="*/ 37 h 39"/>
                  <a:gd name="T76" fmla="*/ 45 w 127"/>
                  <a:gd name="T77" fmla="*/ 38 h 39"/>
                  <a:gd name="T78" fmla="*/ 50 w 127"/>
                  <a:gd name="T79" fmla="*/ 38 h 39"/>
                  <a:gd name="T80" fmla="*/ 58 w 127"/>
                  <a:gd name="T81" fmla="*/ 39 h 39"/>
                  <a:gd name="T82" fmla="*/ 64 w 127"/>
                  <a:gd name="T83" fmla="*/ 39 h 3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27"/>
                  <a:gd name="T127" fmla="*/ 0 h 39"/>
                  <a:gd name="T128" fmla="*/ 127 w 127"/>
                  <a:gd name="T129" fmla="*/ 39 h 3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27" h="39">
                    <a:moveTo>
                      <a:pt x="64" y="39"/>
                    </a:moveTo>
                    <a:lnTo>
                      <a:pt x="70" y="39"/>
                    </a:lnTo>
                    <a:lnTo>
                      <a:pt x="76" y="38"/>
                    </a:lnTo>
                    <a:lnTo>
                      <a:pt x="82" y="38"/>
                    </a:lnTo>
                    <a:lnTo>
                      <a:pt x="89" y="37"/>
                    </a:lnTo>
                    <a:lnTo>
                      <a:pt x="95" y="36"/>
                    </a:lnTo>
                    <a:lnTo>
                      <a:pt x="100" y="34"/>
                    </a:lnTo>
                    <a:lnTo>
                      <a:pt x="107" y="33"/>
                    </a:lnTo>
                    <a:lnTo>
                      <a:pt x="112" y="31"/>
                    </a:lnTo>
                    <a:lnTo>
                      <a:pt x="117" y="28"/>
                    </a:lnTo>
                    <a:lnTo>
                      <a:pt x="123" y="25"/>
                    </a:lnTo>
                    <a:lnTo>
                      <a:pt x="124" y="24"/>
                    </a:lnTo>
                    <a:lnTo>
                      <a:pt x="126" y="22"/>
                    </a:lnTo>
                    <a:lnTo>
                      <a:pt x="127" y="19"/>
                    </a:lnTo>
                    <a:lnTo>
                      <a:pt x="127" y="15"/>
                    </a:lnTo>
                    <a:lnTo>
                      <a:pt x="127" y="11"/>
                    </a:lnTo>
                    <a:lnTo>
                      <a:pt x="126" y="7"/>
                    </a:lnTo>
                    <a:lnTo>
                      <a:pt x="125" y="4"/>
                    </a:lnTo>
                    <a:lnTo>
                      <a:pt x="122" y="1"/>
                    </a:lnTo>
                    <a:lnTo>
                      <a:pt x="119" y="0"/>
                    </a:lnTo>
                    <a:lnTo>
                      <a:pt x="113" y="0"/>
                    </a:lnTo>
                    <a:lnTo>
                      <a:pt x="14" y="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1" y="19"/>
                    </a:lnTo>
                    <a:lnTo>
                      <a:pt x="2" y="22"/>
                    </a:lnTo>
                    <a:lnTo>
                      <a:pt x="3" y="24"/>
                    </a:lnTo>
                    <a:lnTo>
                      <a:pt x="4" y="25"/>
                    </a:lnTo>
                    <a:lnTo>
                      <a:pt x="10" y="28"/>
                    </a:lnTo>
                    <a:lnTo>
                      <a:pt x="15" y="31"/>
                    </a:lnTo>
                    <a:lnTo>
                      <a:pt x="20" y="33"/>
                    </a:lnTo>
                    <a:lnTo>
                      <a:pt x="27" y="34"/>
                    </a:lnTo>
                    <a:lnTo>
                      <a:pt x="32" y="36"/>
                    </a:lnTo>
                    <a:lnTo>
                      <a:pt x="38" y="37"/>
                    </a:lnTo>
                    <a:lnTo>
                      <a:pt x="45" y="38"/>
                    </a:lnTo>
                    <a:lnTo>
                      <a:pt x="50" y="38"/>
                    </a:lnTo>
                    <a:lnTo>
                      <a:pt x="58" y="39"/>
                    </a:lnTo>
                    <a:lnTo>
                      <a:pt x="64" y="39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77" name="Freeform 1006"/>
              <p:cNvSpPr>
                <a:spLocks/>
              </p:cNvSpPr>
              <p:nvPr/>
            </p:nvSpPr>
            <p:spPr bwMode="auto">
              <a:xfrm>
                <a:off x="2103" y="2093"/>
                <a:ext cx="113" cy="49"/>
              </a:xfrm>
              <a:custGeom>
                <a:avLst/>
                <a:gdLst>
                  <a:gd name="T0" fmla="*/ 56 w 113"/>
                  <a:gd name="T1" fmla="*/ 49 h 49"/>
                  <a:gd name="T2" fmla="*/ 62 w 113"/>
                  <a:gd name="T3" fmla="*/ 49 h 49"/>
                  <a:gd name="T4" fmla="*/ 69 w 113"/>
                  <a:gd name="T5" fmla="*/ 48 h 49"/>
                  <a:gd name="T6" fmla="*/ 74 w 113"/>
                  <a:gd name="T7" fmla="*/ 48 h 49"/>
                  <a:gd name="T8" fmla="*/ 79 w 113"/>
                  <a:gd name="T9" fmla="*/ 47 h 49"/>
                  <a:gd name="T10" fmla="*/ 85 w 113"/>
                  <a:gd name="T11" fmla="*/ 46 h 49"/>
                  <a:gd name="T12" fmla="*/ 90 w 113"/>
                  <a:gd name="T13" fmla="*/ 43 h 49"/>
                  <a:gd name="T14" fmla="*/ 95 w 113"/>
                  <a:gd name="T15" fmla="*/ 41 h 49"/>
                  <a:gd name="T16" fmla="*/ 101 w 113"/>
                  <a:gd name="T17" fmla="*/ 39 h 49"/>
                  <a:gd name="T18" fmla="*/ 105 w 113"/>
                  <a:gd name="T19" fmla="*/ 37 h 49"/>
                  <a:gd name="T20" fmla="*/ 109 w 113"/>
                  <a:gd name="T21" fmla="*/ 35 h 49"/>
                  <a:gd name="T22" fmla="*/ 112 w 113"/>
                  <a:gd name="T23" fmla="*/ 33 h 49"/>
                  <a:gd name="T24" fmla="*/ 113 w 113"/>
                  <a:gd name="T25" fmla="*/ 29 h 49"/>
                  <a:gd name="T26" fmla="*/ 113 w 113"/>
                  <a:gd name="T27" fmla="*/ 24 h 49"/>
                  <a:gd name="T28" fmla="*/ 112 w 113"/>
                  <a:gd name="T29" fmla="*/ 19 h 49"/>
                  <a:gd name="T30" fmla="*/ 110 w 113"/>
                  <a:gd name="T31" fmla="*/ 14 h 49"/>
                  <a:gd name="T32" fmla="*/ 109 w 113"/>
                  <a:gd name="T33" fmla="*/ 8 h 49"/>
                  <a:gd name="T34" fmla="*/ 107 w 113"/>
                  <a:gd name="T35" fmla="*/ 4 h 49"/>
                  <a:gd name="T36" fmla="*/ 104 w 113"/>
                  <a:gd name="T37" fmla="*/ 1 h 49"/>
                  <a:gd name="T38" fmla="*/ 101 w 113"/>
                  <a:gd name="T39" fmla="*/ 0 h 49"/>
                  <a:gd name="T40" fmla="*/ 97 w 113"/>
                  <a:gd name="T41" fmla="*/ 1 h 49"/>
                  <a:gd name="T42" fmla="*/ 16 w 113"/>
                  <a:gd name="T43" fmla="*/ 1 h 49"/>
                  <a:gd name="T44" fmla="*/ 12 w 113"/>
                  <a:gd name="T45" fmla="*/ 0 h 49"/>
                  <a:gd name="T46" fmla="*/ 9 w 113"/>
                  <a:gd name="T47" fmla="*/ 1 h 49"/>
                  <a:gd name="T48" fmla="*/ 6 w 113"/>
                  <a:gd name="T49" fmla="*/ 4 h 49"/>
                  <a:gd name="T50" fmla="*/ 4 w 113"/>
                  <a:gd name="T51" fmla="*/ 8 h 49"/>
                  <a:gd name="T52" fmla="*/ 3 w 113"/>
                  <a:gd name="T53" fmla="*/ 14 h 49"/>
                  <a:gd name="T54" fmla="*/ 0 w 113"/>
                  <a:gd name="T55" fmla="*/ 19 h 49"/>
                  <a:gd name="T56" fmla="*/ 0 w 113"/>
                  <a:gd name="T57" fmla="*/ 24 h 49"/>
                  <a:gd name="T58" fmla="*/ 0 w 113"/>
                  <a:gd name="T59" fmla="*/ 29 h 49"/>
                  <a:gd name="T60" fmla="*/ 1 w 113"/>
                  <a:gd name="T61" fmla="*/ 33 h 49"/>
                  <a:gd name="T62" fmla="*/ 4 w 113"/>
                  <a:gd name="T63" fmla="*/ 35 h 49"/>
                  <a:gd name="T64" fmla="*/ 8 w 113"/>
                  <a:gd name="T65" fmla="*/ 37 h 49"/>
                  <a:gd name="T66" fmla="*/ 12 w 113"/>
                  <a:gd name="T67" fmla="*/ 39 h 49"/>
                  <a:gd name="T68" fmla="*/ 17 w 113"/>
                  <a:gd name="T69" fmla="*/ 41 h 49"/>
                  <a:gd name="T70" fmla="*/ 23 w 113"/>
                  <a:gd name="T71" fmla="*/ 43 h 49"/>
                  <a:gd name="T72" fmla="*/ 28 w 113"/>
                  <a:gd name="T73" fmla="*/ 46 h 49"/>
                  <a:gd name="T74" fmla="*/ 34 w 113"/>
                  <a:gd name="T75" fmla="*/ 47 h 49"/>
                  <a:gd name="T76" fmla="*/ 39 w 113"/>
                  <a:gd name="T77" fmla="*/ 48 h 49"/>
                  <a:gd name="T78" fmla="*/ 44 w 113"/>
                  <a:gd name="T79" fmla="*/ 48 h 49"/>
                  <a:gd name="T80" fmla="*/ 51 w 113"/>
                  <a:gd name="T81" fmla="*/ 49 h 49"/>
                  <a:gd name="T82" fmla="*/ 56 w 113"/>
                  <a:gd name="T83" fmla="*/ 49 h 4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13"/>
                  <a:gd name="T127" fmla="*/ 0 h 49"/>
                  <a:gd name="T128" fmla="*/ 113 w 113"/>
                  <a:gd name="T129" fmla="*/ 49 h 4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13" h="49">
                    <a:moveTo>
                      <a:pt x="56" y="49"/>
                    </a:moveTo>
                    <a:lnTo>
                      <a:pt x="62" y="49"/>
                    </a:lnTo>
                    <a:lnTo>
                      <a:pt x="69" y="48"/>
                    </a:lnTo>
                    <a:lnTo>
                      <a:pt x="74" y="48"/>
                    </a:lnTo>
                    <a:lnTo>
                      <a:pt x="79" y="47"/>
                    </a:lnTo>
                    <a:lnTo>
                      <a:pt x="85" y="46"/>
                    </a:lnTo>
                    <a:lnTo>
                      <a:pt x="90" y="43"/>
                    </a:lnTo>
                    <a:lnTo>
                      <a:pt x="95" y="41"/>
                    </a:lnTo>
                    <a:lnTo>
                      <a:pt x="101" y="39"/>
                    </a:lnTo>
                    <a:lnTo>
                      <a:pt x="105" y="37"/>
                    </a:lnTo>
                    <a:lnTo>
                      <a:pt x="109" y="35"/>
                    </a:lnTo>
                    <a:lnTo>
                      <a:pt x="112" y="33"/>
                    </a:lnTo>
                    <a:lnTo>
                      <a:pt x="113" y="29"/>
                    </a:lnTo>
                    <a:lnTo>
                      <a:pt x="113" y="24"/>
                    </a:lnTo>
                    <a:lnTo>
                      <a:pt x="112" y="19"/>
                    </a:lnTo>
                    <a:lnTo>
                      <a:pt x="110" y="14"/>
                    </a:lnTo>
                    <a:lnTo>
                      <a:pt x="109" y="8"/>
                    </a:lnTo>
                    <a:lnTo>
                      <a:pt x="107" y="4"/>
                    </a:lnTo>
                    <a:lnTo>
                      <a:pt x="104" y="1"/>
                    </a:lnTo>
                    <a:lnTo>
                      <a:pt x="101" y="0"/>
                    </a:lnTo>
                    <a:lnTo>
                      <a:pt x="97" y="1"/>
                    </a:lnTo>
                    <a:lnTo>
                      <a:pt x="16" y="1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4"/>
                    </a:lnTo>
                    <a:lnTo>
                      <a:pt x="4" y="8"/>
                    </a:lnTo>
                    <a:lnTo>
                      <a:pt x="3" y="14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0" y="29"/>
                    </a:lnTo>
                    <a:lnTo>
                      <a:pt x="1" y="33"/>
                    </a:lnTo>
                    <a:lnTo>
                      <a:pt x="4" y="35"/>
                    </a:lnTo>
                    <a:lnTo>
                      <a:pt x="8" y="37"/>
                    </a:lnTo>
                    <a:lnTo>
                      <a:pt x="12" y="39"/>
                    </a:lnTo>
                    <a:lnTo>
                      <a:pt x="17" y="41"/>
                    </a:lnTo>
                    <a:lnTo>
                      <a:pt x="23" y="43"/>
                    </a:lnTo>
                    <a:lnTo>
                      <a:pt x="28" y="46"/>
                    </a:lnTo>
                    <a:lnTo>
                      <a:pt x="34" y="47"/>
                    </a:lnTo>
                    <a:lnTo>
                      <a:pt x="39" y="48"/>
                    </a:lnTo>
                    <a:lnTo>
                      <a:pt x="44" y="48"/>
                    </a:lnTo>
                    <a:lnTo>
                      <a:pt x="51" y="49"/>
                    </a:lnTo>
                    <a:lnTo>
                      <a:pt x="56" y="4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78" name="Freeform 1007"/>
              <p:cNvSpPr>
                <a:spLocks/>
              </p:cNvSpPr>
              <p:nvPr/>
            </p:nvSpPr>
            <p:spPr bwMode="auto">
              <a:xfrm>
                <a:off x="2103" y="2093"/>
                <a:ext cx="113" cy="49"/>
              </a:xfrm>
              <a:custGeom>
                <a:avLst/>
                <a:gdLst>
                  <a:gd name="T0" fmla="*/ 56 w 113"/>
                  <a:gd name="T1" fmla="*/ 49 h 49"/>
                  <a:gd name="T2" fmla="*/ 62 w 113"/>
                  <a:gd name="T3" fmla="*/ 49 h 49"/>
                  <a:gd name="T4" fmla="*/ 69 w 113"/>
                  <a:gd name="T5" fmla="*/ 48 h 49"/>
                  <a:gd name="T6" fmla="*/ 74 w 113"/>
                  <a:gd name="T7" fmla="*/ 48 h 49"/>
                  <a:gd name="T8" fmla="*/ 79 w 113"/>
                  <a:gd name="T9" fmla="*/ 47 h 49"/>
                  <a:gd name="T10" fmla="*/ 85 w 113"/>
                  <a:gd name="T11" fmla="*/ 46 h 49"/>
                  <a:gd name="T12" fmla="*/ 90 w 113"/>
                  <a:gd name="T13" fmla="*/ 43 h 49"/>
                  <a:gd name="T14" fmla="*/ 95 w 113"/>
                  <a:gd name="T15" fmla="*/ 41 h 49"/>
                  <a:gd name="T16" fmla="*/ 101 w 113"/>
                  <a:gd name="T17" fmla="*/ 39 h 49"/>
                  <a:gd name="T18" fmla="*/ 105 w 113"/>
                  <a:gd name="T19" fmla="*/ 37 h 49"/>
                  <a:gd name="T20" fmla="*/ 109 w 113"/>
                  <a:gd name="T21" fmla="*/ 35 h 49"/>
                  <a:gd name="T22" fmla="*/ 112 w 113"/>
                  <a:gd name="T23" fmla="*/ 33 h 49"/>
                  <a:gd name="T24" fmla="*/ 113 w 113"/>
                  <a:gd name="T25" fmla="*/ 29 h 49"/>
                  <a:gd name="T26" fmla="*/ 113 w 113"/>
                  <a:gd name="T27" fmla="*/ 24 h 49"/>
                  <a:gd name="T28" fmla="*/ 112 w 113"/>
                  <a:gd name="T29" fmla="*/ 19 h 49"/>
                  <a:gd name="T30" fmla="*/ 110 w 113"/>
                  <a:gd name="T31" fmla="*/ 14 h 49"/>
                  <a:gd name="T32" fmla="*/ 109 w 113"/>
                  <a:gd name="T33" fmla="*/ 8 h 49"/>
                  <a:gd name="T34" fmla="*/ 107 w 113"/>
                  <a:gd name="T35" fmla="*/ 4 h 49"/>
                  <a:gd name="T36" fmla="*/ 104 w 113"/>
                  <a:gd name="T37" fmla="*/ 1 h 49"/>
                  <a:gd name="T38" fmla="*/ 101 w 113"/>
                  <a:gd name="T39" fmla="*/ 0 h 49"/>
                  <a:gd name="T40" fmla="*/ 97 w 113"/>
                  <a:gd name="T41" fmla="*/ 1 h 49"/>
                  <a:gd name="T42" fmla="*/ 16 w 113"/>
                  <a:gd name="T43" fmla="*/ 1 h 49"/>
                  <a:gd name="T44" fmla="*/ 12 w 113"/>
                  <a:gd name="T45" fmla="*/ 0 h 49"/>
                  <a:gd name="T46" fmla="*/ 9 w 113"/>
                  <a:gd name="T47" fmla="*/ 1 h 49"/>
                  <a:gd name="T48" fmla="*/ 6 w 113"/>
                  <a:gd name="T49" fmla="*/ 4 h 49"/>
                  <a:gd name="T50" fmla="*/ 4 w 113"/>
                  <a:gd name="T51" fmla="*/ 8 h 49"/>
                  <a:gd name="T52" fmla="*/ 3 w 113"/>
                  <a:gd name="T53" fmla="*/ 14 h 49"/>
                  <a:gd name="T54" fmla="*/ 0 w 113"/>
                  <a:gd name="T55" fmla="*/ 19 h 49"/>
                  <a:gd name="T56" fmla="*/ 0 w 113"/>
                  <a:gd name="T57" fmla="*/ 24 h 49"/>
                  <a:gd name="T58" fmla="*/ 0 w 113"/>
                  <a:gd name="T59" fmla="*/ 29 h 49"/>
                  <a:gd name="T60" fmla="*/ 1 w 113"/>
                  <a:gd name="T61" fmla="*/ 33 h 49"/>
                  <a:gd name="T62" fmla="*/ 4 w 113"/>
                  <a:gd name="T63" fmla="*/ 35 h 49"/>
                  <a:gd name="T64" fmla="*/ 8 w 113"/>
                  <a:gd name="T65" fmla="*/ 37 h 49"/>
                  <a:gd name="T66" fmla="*/ 12 w 113"/>
                  <a:gd name="T67" fmla="*/ 39 h 49"/>
                  <a:gd name="T68" fmla="*/ 17 w 113"/>
                  <a:gd name="T69" fmla="*/ 41 h 49"/>
                  <a:gd name="T70" fmla="*/ 23 w 113"/>
                  <a:gd name="T71" fmla="*/ 43 h 49"/>
                  <a:gd name="T72" fmla="*/ 28 w 113"/>
                  <a:gd name="T73" fmla="*/ 46 h 49"/>
                  <a:gd name="T74" fmla="*/ 34 w 113"/>
                  <a:gd name="T75" fmla="*/ 47 h 49"/>
                  <a:gd name="T76" fmla="*/ 39 w 113"/>
                  <a:gd name="T77" fmla="*/ 48 h 49"/>
                  <a:gd name="T78" fmla="*/ 44 w 113"/>
                  <a:gd name="T79" fmla="*/ 48 h 49"/>
                  <a:gd name="T80" fmla="*/ 51 w 113"/>
                  <a:gd name="T81" fmla="*/ 49 h 49"/>
                  <a:gd name="T82" fmla="*/ 56 w 113"/>
                  <a:gd name="T83" fmla="*/ 49 h 4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13"/>
                  <a:gd name="T127" fmla="*/ 0 h 49"/>
                  <a:gd name="T128" fmla="*/ 113 w 113"/>
                  <a:gd name="T129" fmla="*/ 49 h 4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13" h="49">
                    <a:moveTo>
                      <a:pt x="56" y="49"/>
                    </a:moveTo>
                    <a:lnTo>
                      <a:pt x="62" y="49"/>
                    </a:lnTo>
                    <a:lnTo>
                      <a:pt x="69" y="48"/>
                    </a:lnTo>
                    <a:lnTo>
                      <a:pt x="74" y="48"/>
                    </a:lnTo>
                    <a:lnTo>
                      <a:pt x="79" y="47"/>
                    </a:lnTo>
                    <a:lnTo>
                      <a:pt x="85" y="46"/>
                    </a:lnTo>
                    <a:lnTo>
                      <a:pt x="90" y="43"/>
                    </a:lnTo>
                    <a:lnTo>
                      <a:pt x="95" y="41"/>
                    </a:lnTo>
                    <a:lnTo>
                      <a:pt x="101" y="39"/>
                    </a:lnTo>
                    <a:lnTo>
                      <a:pt x="105" y="37"/>
                    </a:lnTo>
                    <a:lnTo>
                      <a:pt x="109" y="35"/>
                    </a:lnTo>
                    <a:lnTo>
                      <a:pt x="112" y="33"/>
                    </a:lnTo>
                    <a:lnTo>
                      <a:pt x="113" y="29"/>
                    </a:lnTo>
                    <a:lnTo>
                      <a:pt x="113" y="24"/>
                    </a:lnTo>
                    <a:lnTo>
                      <a:pt x="112" y="19"/>
                    </a:lnTo>
                    <a:lnTo>
                      <a:pt x="110" y="14"/>
                    </a:lnTo>
                    <a:lnTo>
                      <a:pt x="109" y="8"/>
                    </a:lnTo>
                    <a:lnTo>
                      <a:pt x="107" y="4"/>
                    </a:lnTo>
                    <a:lnTo>
                      <a:pt x="104" y="1"/>
                    </a:lnTo>
                    <a:lnTo>
                      <a:pt x="101" y="0"/>
                    </a:lnTo>
                    <a:lnTo>
                      <a:pt x="97" y="1"/>
                    </a:lnTo>
                    <a:lnTo>
                      <a:pt x="16" y="1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4"/>
                    </a:lnTo>
                    <a:lnTo>
                      <a:pt x="4" y="8"/>
                    </a:lnTo>
                    <a:lnTo>
                      <a:pt x="3" y="14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0" y="29"/>
                    </a:lnTo>
                    <a:lnTo>
                      <a:pt x="1" y="33"/>
                    </a:lnTo>
                    <a:lnTo>
                      <a:pt x="4" y="35"/>
                    </a:lnTo>
                    <a:lnTo>
                      <a:pt x="8" y="37"/>
                    </a:lnTo>
                    <a:lnTo>
                      <a:pt x="12" y="39"/>
                    </a:lnTo>
                    <a:lnTo>
                      <a:pt x="17" y="41"/>
                    </a:lnTo>
                    <a:lnTo>
                      <a:pt x="23" y="43"/>
                    </a:lnTo>
                    <a:lnTo>
                      <a:pt x="28" y="46"/>
                    </a:lnTo>
                    <a:lnTo>
                      <a:pt x="34" y="47"/>
                    </a:lnTo>
                    <a:lnTo>
                      <a:pt x="39" y="48"/>
                    </a:lnTo>
                    <a:lnTo>
                      <a:pt x="44" y="48"/>
                    </a:lnTo>
                    <a:lnTo>
                      <a:pt x="51" y="49"/>
                    </a:lnTo>
                    <a:lnTo>
                      <a:pt x="56" y="49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79" name="Freeform 1008"/>
              <p:cNvSpPr>
                <a:spLocks/>
              </p:cNvSpPr>
              <p:nvPr/>
            </p:nvSpPr>
            <p:spPr bwMode="auto">
              <a:xfrm>
                <a:off x="2110" y="2070"/>
                <a:ext cx="99" cy="38"/>
              </a:xfrm>
              <a:custGeom>
                <a:avLst/>
                <a:gdLst>
                  <a:gd name="T0" fmla="*/ 49 w 99"/>
                  <a:gd name="T1" fmla="*/ 38 h 38"/>
                  <a:gd name="T2" fmla="*/ 54 w 99"/>
                  <a:gd name="T3" fmla="*/ 38 h 38"/>
                  <a:gd name="T4" fmla="*/ 59 w 99"/>
                  <a:gd name="T5" fmla="*/ 38 h 38"/>
                  <a:gd name="T6" fmla="*/ 63 w 99"/>
                  <a:gd name="T7" fmla="*/ 37 h 38"/>
                  <a:gd name="T8" fmla="*/ 67 w 99"/>
                  <a:gd name="T9" fmla="*/ 36 h 38"/>
                  <a:gd name="T10" fmla="*/ 71 w 99"/>
                  <a:gd name="T11" fmla="*/ 34 h 38"/>
                  <a:gd name="T12" fmla="*/ 76 w 99"/>
                  <a:gd name="T13" fmla="*/ 33 h 38"/>
                  <a:gd name="T14" fmla="*/ 80 w 99"/>
                  <a:gd name="T15" fmla="*/ 32 h 38"/>
                  <a:gd name="T16" fmla="*/ 84 w 99"/>
                  <a:gd name="T17" fmla="*/ 30 h 38"/>
                  <a:gd name="T18" fmla="*/ 88 w 99"/>
                  <a:gd name="T19" fmla="*/ 28 h 38"/>
                  <a:gd name="T20" fmla="*/ 92 w 99"/>
                  <a:gd name="T21" fmla="*/ 26 h 38"/>
                  <a:gd name="T22" fmla="*/ 94 w 99"/>
                  <a:gd name="T23" fmla="*/ 25 h 38"/>
                  <a:gd name="T24" fmla="*/ 96 w 99"/>
                  <a:gd name="T25" fmla="*/ 23 h 38"/>
                  <a:gd name="T26" fmla="*/ 97 w 99"/>
                  <a:gd name="T27" fmla="*/ 21 h 38"/>
                  <a:gd name="T28" fmla="*/ 98 w 99"/>
                  <a:gd name="T29" fmla="*/ 17 h 38"/>
                  <a:gd name="T30" fmla="*/ 99 w 99"/>
                  <a:gd name="T31" fmla="*/ 15 h 38"/>
                  <a:gd name="T32" fmla="*/ 99 w 99"/>
                  <a:gd name="T33" fmla="*/ 12 h 38"/>
                  <a:gd name="T34" fmla="*/ 98 w 99"/>
                  <a:gd name="T35" fmla="*/ 9 h 38"/>
                  <a:gd name="T36" fmla="*/ 95 w 99"/>
                  <a:gd name="T37" fmla="*/ 6 h 38"/>
                  <a:gd name="T38" fmla="*/ 92 w 99"/>
                  <a:gd name="T39" fmla="*/ 2 h 38"/>
                  <a:gd name="T40" fmla="*/ 86 w 99"/>
                  <a:gd name="T41" fmla="*/ 0 h 38"/>
                  <a:gd name="T42" fmla="*/ 13 w 99"/>
                  <a:gd name="T43" fmla="*/ 0 h 38"/>
                  <a:gd name="T44" fmla="*/ 7 w 99"/>
                  <a:gd name="T45" fmla="*/ 2 h 38"/>
                  <a:gd name="T46" fmla="*/ 4 w 99"/>
                  <a:gd name="T47" fmla="*/ 6 h 38"/>
                  <a:gd name="T48" fmla="*/ 1 w 99"/>
                  <a:gd name="T49" fmla="*/ 9 h 38"/>
                  <a:gd name="T50" fmla="*/ 0 w 99"/>
                  <a:gd name="T51" fmla="*/ 12 h 38"/>
                  <a:gd name="T52" fmla="*/ 0 w 99"/>
                  <a:gd name="T53" fmla="*/ 15 h 38"/>
                  <a:gd name="T54" fmla="*/ 1 w 99"/>
                  <a:gd name="T55" fmla="*/ 17 h 38"/>
                  <a:gd name="T56" fmla="*/ 2 w 99"/>
                  <a:gd name="T57" fmla="*/ 21 h 38"/>
                  <a:gd name="T58" fmla="*/ 3 w 99"/>
                  <a:gd name="T59" fmla="*/ 23 h 38"/>
                  <a:gd name="T60" fmla="*/ 5 w 99"/>
                  <a:gd name="T61" fmla="*/ 25 h 38"/>
                  <a:gd name="T62" fmla="*/ 7 w 99"/>
                  <a:gd name="T63" fmla="*/ 26 h 38"/>
                  <a:gd name="T64" fmla="*/ 10 w 99"/>
                  <a:gd name="T65" fmla="*/ 28 h 38"/>
                  <a:gd name="T66" fmla="*/ 15 w 99"/>
                  <a:gd name="T67" fmla="*/ 30 h 38"/>
                  <a:gd name="T68" fmla="*/ 19 w 99"/>
                  <a:gd name="T69" fmla="*/ 32 h 38"/>
                  <a:gd name="T70" fmla="*/ 23 w 99"/>
                  <a:gd name="T71" fmla="*/ 33 h 38"/>
                  <a:gd name="T72" fmla="*/ 28 w 99"/>
                  <a:gd name="T73" fmla="*/ 34 h 38"/>
                  <a:gd name="T74" fmla="*/ 32 w 99"/>
                  <a:gd name="T75" fmla="*/ 36 h 38"/>
                  <a:gd name="T76" fmla="*/ 36 w 99"/>
                  <a:gd name="T77" fmla="*/ 37 h 38"/>
                  <a:gd name="T78" fmla="*/ 40 w 99"/>
                  <a:gd name="T79" fmla="*/ 38 h 38"/>
                  <a:gd name="T80" fmla="*/ 45 w 99"/>
                  <a:gd name="T81" fmla="*/ 38 h 38"/>
                  <a:gd name="T82" fmla="*/ 49 w 99"/>
                  <a:gd name="T83" fmla="*/ 38 h 3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9"/>
                  <a:gd name="T127" fmla="*/ 0 h 38"/>
                  <a:gd name="T128" fmla="*/ 99 w 99"/>
                  <a:gd name="T129" fmla="*/ 38 h 3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9" h="38">
                    <a:moveTo>
                      <a:pt x="49" y="38"/>
                    </a:moveTo>
                    <a:lnTo>
                      <a:pt x="54" y="38"/>
                    </a:lnTo>
                    <a:lnTo>
                      <a:pt x="59" y="38"/>
                    </a:lnTo>
                    <a:lnTo>
                      <a:pt x="63" y="37"/>
                    </a:lnTo>
                    <a:lnTo>
                      <a:pt x="67" y="36"/>
                    </a:lnTo>
                    <a:lnTo>
                      <a:pt x="71" y="34"/>
                    </a:lnTo>
                    <a:lnTo>
                      <a:pt x="76" y="33"/>
                    </a:lnTo>
                    <a:lnTo>
                      <a:pt x="80" y="32"/>
                    </a:lnTo>
                    <a:lnTo>
                      <a:pt x="84" y="30"/>
                    </a:lnTo>
                    <a:lnTo>
                      <a:pt x="88" y="28"/>
                    </a:lnTo>
                    <a:lnTo>
                      <a:pt x="92" y="26"/>
                    </a:lnTo>
                    <a:lnTo>
                      <a:pt x="94" y="25"/>
                    </a:lnTo>
                    <a:lnTo>
                      <a:pt x="96" y="23"/>
                    </a:lnTo>
                    <a:lnTo>
                      <a:pt x="97" y="21"/>
                    </a:lnTo>
                    <a:lnTo>
                      <a:pt x="98" y="17"/>
                    </a:lnTo>
                    <a:lnTo>
                      <a:pt x="99" y="15"/>
                    </a:lnTo>
                    <a:lnTo>
                      <a:pt x="99" y="12"/>
                    </a:lnTo>
                    <a:lnTo>
                      <a:pt x="98" y="9"/>
                    </a:lnTo>
                    <a:lnTo>
                      <a:pt x="95" y="6"/>
                    </a:lnTo>
                    <a:lnTo>
                      <a:pt x="92" y="2"/>
                    </a:lnTo>
                    <a:lnTo>
                      <a:pt x="86" y="0"/>
                    </a:lnTo>
                    <a:lnTo>
                      <a:pt x="13" y="0"/>
                    </a:lnTo>
                    <a:lnTo>
                      <a:pt x="7" y="2"/>
                    </a:lnTo>
                    <a:lnTo>
                      <a:pt x="4" y="6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17"/>
                    </a:lnTo>
                    <a:lnTo>
                      <a:pt x="2" y="21"/>
                    </a:lnTo>
                    <a:lnTo>
                      <a:pt x="3" y="23"/>
                    </a:lnTo>
                    <a:lnTo>
                      <a:pt x="5" y="25"/>
                    </a:lnTo>
                    <a:lnTo>
                      <a:pt x="7" y="26"/>
                    </a:lnTo>
                    <a:lnTo>
                      <a:pt x="10" y="28"/>
                    </a:lnTo>
                    <a:lnTo>
                      <a:pt x="15" y="30"/>
                    </a:lnTo>
                    <a:lnTo>
                      <a:pt x="19" y="32"/>
                    </a:lnTo>
                    <a:lnTo>
                      <a:pt x="23" y="33"/>
                    </a:lnTo>
                    <a:lnTo>
                      <a:pt x="28" y="34"/>
                    </a:lnTo>
                    <a:lnTo>
                      <a:pt x="32" y="36"/>
                    </a:lnTo>
                    <a:lnTo>
                      <a:pt x="36" y="37"/>
                    </a:lnTo>
                    <a:lnTo>
                      <a:pt x="40" y="38"/>
                    </a:lnTo>
                    <a:lnTo>
                      <a:pt x="45" y="38"/>
                    </a:lnTo>
                    <a:lnTo>
                      <a:pt x="49" y="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80" name="Freeform 1009"/>
              <p:cNvSpPr>
                <a:spLocks/>
              </p:cNvSpPr>
              <p:nvPr/>
            </p:nvSpPr>
            <p:spPr bwMode="auto">
              <a:xfrm>
                <a:off x="2110" y="2070"/>
                <a:ext cx="99" cy="38"/>
              </a:xfrm>
              <a:custGeom>
                <a:avLst/>
                <a:gdLst>
                  <a:gd name="T0" fmla="*/ 49 w 99"/>
                  <a:gd name="T1" fmla="*/ 38 h 38"/>
                  <a:gd name="T2" fmla="*/ 54 w 99"/>
                  <a:gd name="T3" fmla="*/ 38 h 38"/>
                  <a:gd name="T4" fmla="*/ 59 w 99"/>
                  <a:gd name="T5" fmla="*/ 38 h 38"/>
                  <a:gd name="T6" fmla="*/ 63 w 99"/>
                  <a:gd name="T7" fmla="*/ 37 h 38"/>
                  <a:gd name="T8" fmla="*/ 67 w 99"/>
                  <a:gd name="T9" fmla="*/ 36 h 38"/>
                  <a:gd name="T10" fmla="*/ 71 w 99"/>
                  <a:gd name="T11" fmla="*/ 34 h 38"/>
                  <a:gd name="T12" fmla="*/ 76 w 99"/>
                  <a:gd name="T13" fmla="*/ 33 h 38"/>
                  <a:gd name="T14" fmla="*/ 80 w 99"/>
                  <a:gd name="T15" fmla="*/ 32 h 38"/>
                  <a:gd name="T16" fmla="*/ 84 w 99"/>
                  <a:gd name="T17" fmla="*/ 30 h 38"/>
                  <a:gd name="T18" fmla="*/ 88 w 99"/>
                  <a:gd name="T19" fmla="*/ 28 h 38"/>
                  <a:gd name="T20" fmla="*/ 92 w 99"/>
                  <a:gd name="T21" fmla="*/ 26 h 38"/>
                  <a:gd name="T22" fmla="*/ 94 w 99"/>
                  <a:gd name="T23" fmla="*/ 25 h 38"/>
                  <a:gd name="T24" fmla="*/ 96 w 99"/>
                  <a:gd name="T25" fmla="*/ 23 h 38"/>
                  <a:gd name="T26" fmla="*/ 97 w 99"/>
                  <a:gd name="T27" fmla="*/ 21 h 38"/>
                  <a:gd name="T28" fmla="*/ 98 w 99"/>
                  <a:gd name="T29" fmla="*/ 17 h 38"/>
                  <a:gd name="T30" fmla="*/ 99 w 99"/>
                  <a:gd name="T31" fmla="*/ 15 h 38"/>
                  <a:gd name="T32" fmla="*/ 99 w 99"/>
                  <a:gd name="T33" fmla="*/ 12 h 38"/>
                  <a:gd name="T34" fmla="*/ 98 w 99"/>
                  <a:gd name="T35" fmla="*/ 9 h 38"/>
                  <a:gd name="T36" fmla="*/ 95 w 99"/>
                  <a:gd name="T37" fmla="*/ 6 h 38"/>
                  <a:gd name="T38" fmla="*/ 92 w 99"/>
                  <a:gd name="T39" fmla="*/ 2 h 38"/>
                  <a:gd name="T40" fmla="*/ 86 w 99"/>
                  <a:gd name="T41" fmla="*/ 0 h 38"/>
                  <a:gd name="T42" fmla="*/ 13 w 99"/>
                  <a:gd name="T43" fmla="*/ 0 h 38"/>
                  <a:gd name="T44" fmla="*/ 7 w 99"/>
                  <a:gd name="T45" fmla="*/ 2 h 38"/>
                  <a:gd name="T46" fmla="*/ 4 w 99"/>
                  <a:gd name="T47" fmla="*/ 6 h 38"/>
                  <a:gd name="T48" fmla="*/ 1 w 99"/>
                  <a:gd name="T49" fmla="*/ 9 h 38"/>
                  <a:gd name="T50" fmla="*/ 0 w 99"/>
                  <a:gd name="T51" fmla="*/ 12 h 38"/>
                  <a:gd name="T52" fmla="*/ 0 w 99"/>
                  <a:gd name="T53" fmla="*/ 15 h 38"/>
                  <a:gd name="T54" fmla="*/ 1 w 99"/>
                  <a:gd name="T55" fmla="*/ 17 h 38"/>
                  <a:gd name="T56" fmla="*/ 2 w 99"/>
                  <a:gd name="T57" fmla="*/ 21 h 38"/>
                  <a:gd name="T58" fmla="*/ 3 w 99"/>
                  <a:gd name="T59" fmla="*/ 23 h 38"/>
                  <a:gd name="T60" fmla="*/ 5 w 99"/>
                  <a:gd name="T61" fmla="*/ 25 h 38"/>
                  <a:gd name="T62" fmla="*/ 7 w 99"/>
                  <a:gd name="T63" fmla="*/ 26 h 38"/>
                  <a:gd name="T64" fmla="*/ 10 w 99"/>
                  <a:gd name="T65" fmla="*/ 28 h 38"/>
                  <a:gd name="T66" fmla="*/ 15 w 99"/>
                  <a:gd name="T67" fmla="*/ 30 h 38"/>
                  <a:gd name="T68" fmla="*/ 19 w 99"/>
                  <a:gd name="T69" fmla="*/ 32 h 38"/>
                  <a:gd name="T70" fmla="*/ 23 w 99"/>
                  <a:gd name="T71" fmla="*/ 33 h 38"/>
                  <a:gd name="T72" fmla="*/ 28 w 99"/>
                  <a:gd name="T73" fmla="*/ 34 h 38"/>
                  <a:gd name="T74" fmla="*/ 32 w 99"/>
                  <a:gd name="T75" fmla="*/ 36 h 38"/>
                  <a:gd name="T76" fmla="*/ 36 w 99"/>
                  <a:gd name="T77" fmla="*/ 37 h 38"/>
                  <a:gd name="T78" fmla="*/ 40 w 99"/>
                  <a:gd name="T79" fmla="*/ 38 h 38"/>
                  <a:gd name="T80" fmla="*/ 45 w 99"/>
                  <a:gd name="T81" fmla="*/ 38 h 38"/>
                  <a:gd name="T82" fmla="*/ 49 w 99"/>
                  <a:gd name="T83" fmla="*/ 38 h 3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9"/>
                  <a:gd name="T127" fmla="*/ 0 h 38"/>
                  <a:gd name="T128" fmla="*/ 99 w 99"/>
                  <a:gd name="T129" fmla="*/ 38 h 3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9" h="38">
                    <a:moveTo>
                      <a:pt x="49" y="38"/>
                    </a:moveTo>
                    <a:lnTo>
                      <a:pt x="54" y="38"/>
                    </a:lnTo>
                    <a:lnTo>
                      <a:pt x="59" y="38"/>
                    </a:lnTo>
                    <a:lnTo>
                      <a:pt x="63" y="37"/>
                    </a:lnTo>
                    <a:lnTo>
                      <a:pt x="67" y="36"/>
                    </a:lnTo>
                    <a:lnTo>
                      <a:pt x="71" y="34"/>
                    </a:lnTo>
                    <a:lnTo>
                      <a:pt x="76" y="33"/>
                    </a:lnTo>
                    <a:lnTo>
                      <a:pt x="80" y="32"/>
                    </a:lnTo>
                    <a:lnTo>
                      <a:pt x="84" y="30"/>
                    </a:lnTo>
                    <a:lnTo>
                      <a:pt x="88" y="28"/>
                    </a:lnTo>
                    <a:lnTo>
                      <a:pt x="92" y="26"/>
                    </a:lnTo>
                    <a:lnTo>
                      <a:pt x="94" y="25"/>
                    </a:lnTo>
                    <a:lnTo>
                      <a:pt x="96" y="23"/>
                    </a:lnTo>
                    <a:lnTo>
                      <a:pt x="97" y="21"/>
                    </a:lnTo>
                    <a:lnTo>
                      <a:pt x="98" y="17"/>
                    </a:lnTo>
                    <a:lnTo>
                      <a:pt x="99" y="15"/>
                    </a:lnTo>
                    <a:lnTo>
                      <a:pt x="99" y="12"/>
                    </a:lnTo>
                    <a:lnTo>
                      <a:pt x="98" y="9"/>
                    </a:lnTo>
                    <a:lnTo>
                      <a:pt x="95" y="6"/>
                    </a:lnTo>
                    <a:lnTo>
                      <a:pt x="92" y="2"/>
                    </a:lnTo>
                    <a:lnTo>
                      <a:pt x="86" y="0"/>
                    </a:lnTo>
                    <a:lnTo>
                      <a:pt x="13" y="0"/>
                    </a:lnTo>
                    <a:lnTo>
                      <a:pt x="7" y="2"/>
                    </a:lnTo>
                    <a:lnTo>
                      <a:pt x="4" y="6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17"/>
                    </a:lnTo>
                    <a:lnTo>
                      <a:pt x="2" y="21"/>
                    </a:lnTo>
                    <a:lnTo>
                      <a:pt x="3" y="23"/>
                    </a:lnTo>
                    <a:lnTo>
                      <a:pt x="5" y="25"/>
                    </a:lnTo>
                    <a:lnTo>
                      <a:pt x="7" y="26"/>
                    </a:lnTo>
                    <a:lnTo>
                      <a:pt x="10" y="28"/>
                    </a:lnTo>
                    <a:lnTo>
                      <a:pt x="15" y="30"/>
                    </a:lnTo>
                    <a:lnTo>
                      <a:pt x="19" y="32"/>
                    </a:lnTo>
                    <a:lnTo>
                      <a:pt x="23" y="33"/>
                    </a:lnTo>
                    <a:lnTo>
                      <a:pt x="28" y="34"/>
                    </a:lnTo>
                    <a:lnTo>
                      <a:pt x="32" y="36"/>
                    </a:lnTo>
                    <a:lnTo>
                      <a:pt x="36" y="37"/>
                    </a:lnTo>
                    <a:lnTo>
                      <a:pt x="40" y="38"/>
                    </a:lnTo>
                    <a:lnTo>
                      <a:pt x="45" y="38"/>
                    </a:lnTo>
                    <a:lnTo>
                      <a:pt x="49" y="38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81" name="Freeform 1010"/>
              <p:cNvSpPr>
                <a:spLocks/>
              </p:cNvSpPr>
              <p:nvPr/>
            </p:nvSpPr>
            <p:spPr bwMode="auto">
              <a:xfrm>
                <a:off x="2089" y="1941"/>
                <a:ext cx="140" cy="150"/>
              </a:xfrm>
              <a:custGeom>
                <a:avLst/>
                <a:gdLst>
                  <a:gd name="T0" fmla="*/ 71 w 140"/>
                  <a:gd name="T1" fmla="*/ 150 h 150"/>
                  <a:gd name="T2" fmla="*/ 82 w 140"/>
                  <a:gd name="T3" fmla="*/ 148 h 150"/>
                  <a:gd name="T4" fmla="*/ 92 w 140"/>
                  <a:gd name="T5" fmla="*/ 145 h 150"/>
                  <a:gd name="T6" fmla="*/ 103 w 140"/>
                  <a:gd name="T7" fmla="*/ 141 h 150"/>
                  <a:gd name="T8" fmla="*/ 112 w 140"/>
                  <a:gd name="T9" fmla="*/ 135 h 150"/>
                  <a:gd name="T10" fmla="*/ 120 w 140"/>
                  <a:gd name="T11" fmla="*/ 127 h 150"/>
                  <a:gd name="T12" fmla="*/ 127 w 140"/>
                  <a:gd name="T13" fmla="*/ 119 h 150"/>
                  <a:gd name="T14" fmla="*/ 133 w 140"/>
                  <a:gd name="T15" fmla="*/ 109 h 150"/>
                  <a:gd name="T16" fmla="*/ 137 w 140"/>
                  <a:gd name="T17" fmla="*/ 98 h 150"/>
                  <a:gd name="T18" fmla="*/ 139 w 140"/>
                  <a:gd name="T19" fmla="*/ 87 h 150"/>
                  <a:gd name="T20" fmla="*/ 140 w 140"/>
                  <a:gd name="T21" fmla="*/ 75 h 150"/>
                  <a:gd name="T22" fmla="*/ 139 w 140"/>
                  <a:gd name="T23" fmla="*/ 63 h 150"/>
                  <a:gd name="T24" fmla="*/ 137 w 140"/>
                  <a:gd name="T25" fmla="*/ 51 h 150"/>
                  <a:gd name="T26" fmla="*/ 133 w 140"/>
                  <a:gd name="T27" fmla="*/ 41 h 150"/>
                  <a:gd name="T28" fmla="*/ 127 w 140"/>
                  <a:gd name="T29" fmla="*/ 31 h 150"/>
                  <a:gd name="T30" fmla="*/ 120 w 140"/>
                  <a:gd name="T31" fmla="*/ 21 h 150"/>
                  <a:gd name="T32" fmla="*/ 112 w 140"/>
                  <a:gd name="T33" fmla="*/ 15 h 150"/>
                  <a:gd name="T34" fmla="*/ 103 w 140"/>
                  <a:gd name="T35" fmla="*/ 9 h 150"/>
                  <a:gd name="T36" fmla="*/ 92 w 140"/>
                  <a:gd name="T37" fmla="*/ 4 h 150"/>
                  <a:gd name="T38" fmla="*/ 82 w 140"/>
                  <a:gd name="T39" fmla="*/ 1 h 150"/>
                  <a:gd name="T40" fmla="*/ 71 w 140"/>
                  <a:gd name="T41" fmla="*/ 0 h 150"/>
                  <a:gd name="T42" fmla="*/ 59 w 140"/>
                  <a:gd name="T43" fmla="*/ 1 h 150"/>
                  <a:gd name="T44" fmla="*/ 49 w 140"/>
                  <a:gd name="T45" fmla="*/ 4 h 150"/>
                  <a:gd name="T46" fmla="*/ 38 w 140"/>
                  <a:gd name="T47" fmla="*/ 9 h 150"/>
                  <a:gd name="T48" fmla="*/ 29 w 140"/>
                  <a:gd name="T49" fmla="*/ 15 h 150"/>
                  <a:gd name="T50" fmla="*/ 21 w 140"/>
                  <a:gd name="T51" fmla="*/ 21 h 150"/>
                  <a:gd name="T52" fmla="*/ 14 w 140"/>
                  <a:gd name="T53" fmla="*/ 31 h 150"/>
                  <a:gd name="T54" fmla="*/ 8 w 140"/>
                  <a:gd name="T55" fmla="*/ 41 h 150"/>
                  <a:gd name="T56" fmla="*/ 4 w 140"/>
                  <a:gd name="T57" fmla="*/ 51 h 150"/>
                  <a:gd name="T58" fmla="*/ 2 w 140"/>
                  <a:gd name="T59" fmla="*/ 63 h 150"/>
                  <a:gd name="T60" fmla="*/ 0 w 140"/>
                  <a:gd name="T61" fmla="*/ 75 h 150"/>
                  <a:gd name="T62" fmla="*/ 2 w 140"/>
                  <a:gd name="T63" fmla="*/ 87 h 150"/>
                  <a:gd name="T64" fmla="*/ 4 w 140"/>
                  <a:gd name="T65" fmla="*/ 98 h 150"/>
                  <a:gd name="T66" fmla="*/ 8 w 140"/>
                  <a:gd name="T67" fmla="*/ 109 h 150"/>
                  <a:gd name="T68" fmla="*/ 14 w 140"/>
                  <a:gd name="T69" fmla="*/ 119 h 150"/>
                  <a:gd name="T70" fmla="*/ 21 w 140"/>
                  <a:gd name="T71" fmla="*/ 127 h 150"/>
                  <a:gd name="T72" fmla="*/ 29 w 140"/>
                  <a:gd name="T73" fmla="*/ 135 h 150"/>
                  <a:gd name="T74" fmla="*/ 38 w 140"/>
                  <a:gd name="T75" fmla="*/ 141 h 150"/>
                  <a:gd name="T76" fmla="*/ 49 w 140"/>
                  <a:gd name="T77" fmla="*/ 145 h 150"/>
                  <a:gd name="T78" fmla="*/ 59 w 140"/>
                  <a:gd name="T79" fmla="*/ 148 h 150"/>
                  <a:gd name="T80" fmla="*/ 71 w 140"/>
                  <a:gd name="T81" fmla="*/ 150 h 150"/>
                  <a:gd name="T82" fmla="*/ 71 w 140"/>
                  <a:gd name="T83" fmla="*/ 150 h 15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40"/>
                  <a:gd name="T127" fmla="*/ 0 h 150"/>
                  <a:gd name="T128" fmla="*/ 140 w 140"/>
                  <a:gd name="T129" fmla="*/ 150 h 15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40" h="150">
                    <a:moveTo>
                      <a:pt x="71" y="150"/>
                    </a:moveTo>
                    <a:lnTo>
                      <a:pt x="82" y="148"/>
                    </a:lnTo>
                    <a:lnTo>
                      <a:pt x="92" y="145"/>
                    </a:lnTo>
                    <a:lnTo>
                      <a:pt x="103" y="141"/>
                    </a:lnTo>
                    <a:lnTo>
                      <a:pt x="112" y="135"/>
                    </a:lnTo>
                    <a:lnTo>
                      <a:pt x="120" y="127"/>
                    </a:lnTo>
                    <a:lnTo>
                      <a:pt x="127" y="119"/>
                    </a:lnTo>
                    <a:lnTo>
                      <a:pt x="133" y="109"/>
                    </a:lnTo>
                    <a:lnTo>
                      <a:pt x="137" y="98"/>
                    </a:lnTo>
                    <a:lnTo>
                      <a:pt x="139" y="87"/>
                    </a:lnTo>
                    <a:lnTo>
                      <a:pt x="140" y="75"/>
                    </a:lnTo>
                    <a:lnTo>
                      <a:pt x="139" y="63"/>
                    </a:lnTo>
                    <a:lnTo>
                      <a:pt x="137" y="51"/>
                    </a:lnTo>
                    <a:lnTo>
                      <a:pt x="133" y="41"/>
                    </a:lnTo>
                    <a:lnTo>
                      <a:pt x="127" y="31"/>
                    </a:lnTo>
                    <a:lnTo>
                      <a:pt x="120" y="21"/>
                    </a:lnTo>
                    <a:lnTo>
                      <a:pt x="112" y="15"/>
                    </a:lnTo>
                    <a:lnTo>
                      <a:pt x="103" y="9"/>
                    </a:lnTo>
                    <a:lnTo>
                      <a:pt x="92" y="4"/>
                    </a:lnTo>
                    <a:lnTo>
                      <a:pt x="82" y="1"/>
                    </a:lnTo>
                    <a:lnTo>
                      <a:pt x="71" y="0"/>
                    </a:lnTo>
                    <a:lnTo>
                      <a:pt x="59" y="1"/>
                    </a:lnTo>
                    <a:lnTo>
                      <a:pt x="49" y="4"/>
                    </a:lnTo>
                    <a:lnTo>
                      <a:pt x="38" y="9"/>
                    </a:lnTo>
                    <a:lnTo>
                      <a:pt x="29" y="15"/>
                    </a:lnTo>
                    <a:lnTo>
                      <a:pt x="21" y="21"/>
                    </a:lnTo>
                    <a:lnTo>
                      <a:pt x="14" y="31"/>
                    </a:lnTo>
                    <a:lnTo>
                      <a:pt x="8" y="41"/>
                    </a:lnTo>
                    <a:lnTo>
                      <a:pt x="4" y="51"/>
                    </a:lnTo>
                    <a:lnTo>
                      <a:pt x="2" y="63"/>
                    </a:lnTo>
                    <a:lnTo>
                      <a:pt x="0" y="75"/>
                    </a:lnTo>
                    <a:lnTo>
                      <a:pt x="2" y="87"/>
                    </a:lnTo>
                    <a:lnTo>
                      <a:pt x="4" y="98"/>
                    </a:lnTo>
                    <a:lnTo>
                      <a:pt x="8" y="109"/>
                    </a:lnTo>
                    <a:lnTo>
                      <a:pt x="14" y="119"/>
                    </a:lnTo>
                    <a:lnTo>
                      <a:pt x="21" y="127"/>
                    </a:lnTo>
                    <a:lnTo>
                      <a:pt x="29" y="135"/>
                    </a:lnTo>
                    <a:lnTo>
                      <a:pt x="38" y="141"/>
                    </a:lnTo>
                    <a:lnTo>
                      <a:pt x="49" y="145"/>
                    </a:lnTo>
                    <a:lnTo>
                      <a:pt x="59" y="148"/>
                    </a:lnTo>
                    <a:lnTo>
                      <a:pt x="71" y="15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82" name="Freeform 1011"/>
              <p:cNvSpPr>
                <a:spLocks/>
              </p:cNvSpPr>
              <p:nvPr/>
            </p:nvSpPr>
            <p:spPr bwMode="auto">
              <a:xfrm>
                <a:off x="2089" y="1941"/>
                <a:ext cx="140" cy="150"/>
              </a:xfrm>
              <a:custGeom>
                <a:avLst/>
                <a:gdLst>
                  <a:gd name="T0" fmla="*/ 71 w 140"/>
                  <a:gd name="T1" fmla="*/ 150 h 150"/>
                  <a:gd name="T2" fmla="*/ 82 w 140"/>
                  <a:gd name="T3" fmla="*/ 148 h 150"/>
                  <a:gd name="T4" fmla="*/ 92 w 140"/>
                  <a:gd name="T5" fmla="*/ 145 h 150"/>
                  <a:gd name="T6" fmla="*/ 103 w 140"/>
                  <a:gd name="T7" fmla="*/ 141 h 150"/>
                  <a:gd name="T8" fmla="*/ 112 w 140"/>
                  <a:gd name="T9" fmla="*/ 135 h 150"/>
                  <a:gd name="T10" fmla="*/ 120 w 140"/>
                  <a:gd name="T11" fmla="*/ 127 h 150"/>
                  <a:gd name="T12" fmla="*/ 127 w 140"/>
                  <a:gd name="T13" fmla="*/ 119 h 150"/>
                  <a:gd name="T14" fmla="*/ 133 w 140"/>
                  <a:gd name="T15" fmla="*/ 109 h 150"/>
                  <a:gd name="T16" fmla="*/ 137 w 140"/>
                  <a:gd name="T17" fmla="*/ 98 h 150"/>
                  <a:gd name="T18" fmla="*/ 139 w 140"/>
                  <a:gd name="T19" fmla="*/ 87 h 150"/>
                  <a:gd name="T20" fmla="*/ 140 w 140"/>
                  <a:gd name="T21" fmla="*/ 75 h 150"/>
                  <a:gd name="T22" fmla="*/ 139 w 140"/>
                  <a:gd name="T23" fmla="*/ 63 h 150"/>
                  <a:gd name="T24" fmla="*/ 137 w 140"/>
                  <a:gd name="T25" fmla="*/ 51 h 150"/>
                  <a:gd name="T26" fmla="*/ 133 w 140"/>
                  <a:gd name="T27" fmla="*/ 41 h 150"/>
                  <a:gd name="T28" fmla="*/ 127 w 140"/>
                  <a:gd name="T29" fmla="*/ 31 h 150"/>
                  <a:gd name="T30" fmla="*/ 120 w 140"/>
                  <a:gd name="T31" fmla="*/ 21 h 150"/>
                  <a:gd name="T32" fmla="*/ 112 w 140"/>
                  <a:gd name="T33" fmla="*/ 15 h 150"/>
                  <a:gd name="T34" fmla="*/ 103 w 140"/>
                  <a:gd name="T35" fmla="*/ 9 h 150"/>
                  <a:gd name="T36" fmla="*/ 92 w 140"/>
                  <a:gd name="T37" fmla="*/ 4 h 150"/>
                  <a:gd name="T38" fmla="*/ 82 w 140"/>
                  <a:gd name="T39" fmla="*/ 1 h 150"/>
                  <a:gd name="T40" fmla="*/ 71 w 140"/>
                  <a:gd name="T41" fmla="*/ 0 h 150"/>
                  <a:gd name="T42" fmla="*/ 59 w 140"/>
                  <a:gd name="T43" fmla="*/ 1 h 150"/>
                  <a:gd name="T44" fmla="*/ 49 w 140"/>
                  <a:gd name="T45" fmla="*/ 4 h 150"/>
                  <a:gd name="T46" fmla="*/ 38 w 140"/>
                  <a:gd name="T47" fmla="*/ 9 h 150"/>
                  <a:gd name="T48" fmla="*/ 29 w 140"/>
                  <a:gd name="T49" fmla="*/ 15 h 150"/>
                  <a:gd name="T50" fmla="*/ 21 w 140"/>
                  <a:gd name="T51" fmla="*/ 21 h 150"/>
                  <a:gd name="T52" fmla="*/ 14 w 140"/>
                  <a:gd name="T53" fmla="*/ 31 h 150"/>
                  <a:gd name="T54" fmla="*/ 8 w 140"/>
                  <a:gd name="T55" fmla="*/ 41 h 150"/>
                  <a:gd name="T56" fmla="*/ 4 w 140"/>
                  <a:gd name="T57" fmla="*/ 51 h 150"/>
                  <a:gd name="T58" fmla="*/ 2 w 140"/>
                  <a:gd name="T59" fmla="*/ 63 h 150"/>
                  <a:gd name="T60" fmla="*/ 0 w 140"/>
                  <a:gd name="T61" fmla="*/ 75 h 150"/>
                  <a:gd name="T62" fmla="*/ 2 w 140"/>
                  <a:gd name="T63" fmla="*/ 87 h 150"/>
                  <a:gd name="T64" fmla="*/ 4 w 140"/>
                  <a:gd name="T65" fmla="*/ 98 h 150"/>
                  <a:gd name="T66" fmla="*/ 8 w 140"/>
                  <a:gd name="T67" fmla="*/ 109 h 150"/>
                  <a:gd name="T68" fmla="*/ 14 w 140"/>
                  <a:gd name="T69" fmla="*/ 119 h 150"/>
                  <a:gd name="T70" fmla="*/ 21 w 140"/>
                  <a:gd name="T71" fmla="*/ 127 h 150"/>
                  <a:gd name="T72" fmla="*/ 29 w 140"/>
                  <a:gd name="T73" fmla="*/ 135 h 150"/>
                  <a:gd name="T74" fmla="*/ 38 w 140"/>
                  <a:gd name="T75" fmla="*/ 141 h 150"/>
                  <a:gd name="T76" fmla="*/ 49 w 140"/>
                  <a:gd name="T77" fmla="*/ 145 h 150"/>
                  <a:gd name="T78" fmla="*/ 59 w 140"/>
                  <a:gd name="T79" fmla="*/ 148 h 150"/>
                  <a:gd name="T80" fmla="*/ 71 w 140"/>
                  <a:gd name="T81" fmla="*/ 150 h 15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0"/>
                  <a:gd name="T124" fmla="*/ 0 h 150"/>
                  <a:gd name="T125" fmla="*/ 140 w 140"/>
                  <a:gd name="T126" fmla="*/ 150 h 15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0" h="150">
                    <a:moveTo>
                      <a:pt x="71" y="150"/>
                    </a:moveTo>
                    <a:lnTo>
                      <a:pt x="82" y="148"/>
                    </a:lnTo>
                    <a:lnTo>
                      <a:pt x="92" y="145"/>
                    </a:lnTo>
                    <a:lnTo>
                      <a:pt x="103" y="141"/>
                    </a:lnTo>
                    <a:lnTo>
                      <a:pt x="112" y="135"/>
                    </a:lnTo>
                    <a:lnTo>
                      <a:pt x="120" y="127"/>
                    </a:lnTo>
                    <a:lnTo>
                      <a:pt x="127" y="119"/>
                    </a:lnTo>
                    <a:lnTo>
                      <a:pt x="133" y="109"/>
                    </a:lnTo>
                    <a:lnTo>
                      <a:pt x="137" y="98"/>
                    </a:lnTo>
                    <a:lnTo>
                      <a:pt x="139" y="87"/>
                    </a:lnTo>
                    <a:lnTo>
                      <a:pt x="140" y="75"/>
                    </a:lnTo>
                    <a:lnTo>
                      <a:pt x="139" y="63"/>
                    </a:lnTo>
                    <a:lnTo>
                      <a:pt x="137" y="51"/>
                    </a:lnTo>
                    <a:lnTo>
                      <a:pt x="133" y="41"/>
                    </a:lnTo>
                    <a:lnTo>
                      <a:pt x="127" y="31"/>
                    </a:lnTo>
                    <a:lnTo>
                      <a:pt x="120" y="21"/>
                    </a:lnTo>
                    <a:lnTo>
                      <a:pt x="112" y="15"/>
                    </a:lnTo>
                    <a:lnTo>
                      <a:pt x="103" y="9"/>
                    </a:lnTo>
                    <a:lnTo>
                      <a:pt x="92" y="4"/>
                    </a:lnTo>
                    <a:lnTo>
                      <a:pt x="82" y="1"/>
                    </a:lnTo>
                    <a:lnTo>
                      <a:pt x="71" y="0"/>
                    </a:lnTo>
                    <a:lnTo>
                      <a:pt x="59" y="1"/>
                    </a:lnTo>
                    <a:lnTo>
                      <a:pt x="49" y="4"/>
                    </a:lnTo>
                    <a:lnTo>
                      <a:pt x="38" y="9"/>
                    </a:lnTo>
                    <a:lnTo>
                      <a:pt x="29" y="15"/>
                    </a:lnTo>
                    <a:lnTo>
                      <a:pt x="21" y="21"/>
                    </a:lnTo>
                    <a:lnTo>
                      <a:pt x="14" y="31"/>
                    </a:lnTo>
                    <a:lnTo>
                      <a:pt x="8" y="41"/>
                    </a:lnTo>
                    <a:lnTo>
                      <a:pt x="4" y="51"/>
                    </a:lnTo>
                    <a:lnTo>
                      <a:pt x="2" y="63"/>
                    </a:lnTo>
                    <a:lnTo>
                      <a:pt x="0" y="75"/>
                    </a:lnTo>
                    <a:lnTo>
                      <a:pt x="2" y="87"/>
                    </a:lnTo>
                    <a:lnTo>
                      <a:pt x="4" y="98"/>
                    </a:lnTo>
                    <a:lnTo>
                      <a:pt x="8" y="109"/>
                    </a:lnTo>
                    <a:lnTo>
                      <a:pt x="14" y="119"/>
                    </a:lnTo>
                    <a:lnTo>
                      <a:pt x="21" y="127"/>
                    </a:lnTo>
                    <a:lnTo>
                      <a:pt x="29" y="135"/>
                    </a:lnTo>
                    <a:lnTo>
                      <a:pt x="38" y="141"/>
                    </a:lnTo>
                    <a:lnTo>
                      <a:pt x="49" y="145"/>
                    </a:lnTo>
                    <a:lnTo>
                      <a:pt x="59" y="148"/>
                    </a:lnTo>
                    <a:lnTo>
                      <a:pt x="71" y="15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83" name="Freeform 1012"/>
              <p:cNvSpPr>
                <a:spLocks/>
              </p:cNvSpPr>
              <p:nvPr/>
            </p:nvSpPr>
            <p:spPr bwMode="auto">
              <a:xfrm>
                <a:off x="2120" y="2023"/>
                <a:ext cx="25" cy="31"/>
              </a:xfrm>
              <a:custGeom>
                <a:avLst/>
                <a:gdLst>
                  <a:gd name="T0" fmla="*/ 0 w 25"/>
                  <a:gd name="T1" fmla="*/ 0 h 31"/>
                  <a:gd name="T2" fmla="*/ 0 w 25"/>
                  <a:gd name="T3" fmla="*/ 5 h 31"/>
                  <a:gd name="T4" fmla="*/ 2 w 25"/>
                  <a:gd name="T5" fmla="*/ 10 h 31"/>
                  <a:gd name="T6" fmla="*/ 4 w 25"/>
                  <a:gd name="T7" fmla="*/ 14 h 31"/>
                  <a:gd name="T8" fmla="*/ 6 w 25"/>
                  <a:gd name="T9" fmla="*/ 17 h 31"/>
                  <a:gd name="T10" fmla="*/ 8 w 25"/>
                  <a:gd name="T11" fmla="*/ 22 h 31"/>
                  <a:gd name="T12" fmla="*/ 11 w 25"/>
                  <a:gd name="T13" fmla="*/ 25 h 31"/>
                  <a:gd name="T14" fmla="*/ 14 w 25"/>
                  <a:gd name="T15" fmla="*/ 27 h 31"/>
                  <a:gd name="T16" fmla="*/ 18 w 25"/>
                  <a:gd name="T17" fmla="*/ 29 h 31"/>
                  <a:gd name="T18" fmla="*/ 22 w 25"/>
                  <a:gd name="T19" fmla="*/ 30 h 31"/>
                  <a:gd name="T20" fmla="*/ 25 w 25"/>
                  <a:gd name="T21" fmla="*/ 31 h 3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5"/>
                  <a:gd name="T34" fmla="*/ 0 h 31"/>
                  <a:gd name="T35" fmla="*/ 25 w 25"/>
                  <a:gd name="T36" fmla="*/ 31 h 3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5" h="31">
                    <a:moveTo>
                      <a:pt x="0" y="0"/>
                    </a:moveTo>
                    <a:lnTo>
                      <a:pt x="0" y="5"/>
                    </a:lnTo>
                    <a:lnTo>
                      <a:pt x="2" y="10"/>
                    </a:lnTo>
                    <a:lnTo>
                      <a:pt x="4" y="14"/>
                    </a:lnTo>
                    <a:lnTo>
                      <a:pt x="6" y="17"/>
                    </a:lnTo>
                    <a:lnTo>
                      <a:pt x="8" y="22"/>
                    </a:lnTo>
                    <a:lnTo>
                      <a:pt x="11" y="25"/>
                    </a:lnTo>
                    <a:lnTo>
                      <a:pt x="14" y="27"/>
                    </a:lnTo>
                    <a:lnTo>
                      <a:pt x="18" y="29"/>
                    </a:lnTo>
                    <a:lnTo>
                      <a:pt x="22" y="30"/>
                    </a:lnTo>
                    <a:lnTo>
                      <a:pt x="25" y="31"/>
                    </a:lnTo>
                  </a:path>
                </a:pathLst>
              </a:custGeom>
              <a:noFill/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84" name="Freeform 1013"/>
              <p:cNvSpPr>
                <a:spLocks/>
              </p:cNvSpPr>
              <p:nvPr/>
            </p:nvSpPr>
            <p:spPr bwMode="auto">
              <a:xfrm>
                <a:off x="2144" y="2016"/>
                <a:ext cx="45" cy="45"/>
              </a:xfrm>
              <a:custGeom>
                <a:avLst/>
                <a:gdLst>
                  <a:gd name="T0" fmla="*/ 22 w 45"/>
                  <a:gd name="T1" fmla="*/ 0 h 45"/>
                  <a:gd name="T2" fmla="*/ 28 w 45"/>
                  <a:gd name="T3" fmla="*/ 17 h 45"/>
                  <a:gd name="T4" fmla="*/ 45 w 45"/>
                  <a:gd name="T5" fmla="*/ 17 h 45"/>
                  <a:gd name="T6" fmla="*/ 31 w 45"/>
                  <a:gd name="T7" fmla="*/ 28 h 45"/>
                  <a:gd name="T8" fmla="*/ 36 w 45"/>
                  <a:gd name="T9" fmla="*/ 45 h 45"/>
                  <a:gd name="T10" fmla="*/ 22 w 45"/>
                  <a:gd name="T11" fmla="*/ 35 h 45"/>
                  <a:gd name="T12" fmla="*/ 9 w 45"/>
                  <a:gd name="T13" fmla="*/ 45 h 45"/>
                  <a:gd name="T14" fmla="*/ 14 w 45"/>
                  <a:gd name="T15" fmla="*/ 28 h 45"/>
                  <a:gd name="T16" fmla="*/ 0 w 45"/>
                  <a:gd name="T17" fmla="*/ 17 h 45"/>
                  <a:gd name="T18" fmla="*/ 17 w 45"/>
                  <a:gd name="T19" fmla="*/ 17 h 45"/>
                  <a:gd name="T20" fmla="*/ 22 w 45"/>
                  <a:gd name="T21" fmla="*/ 0 h 45"/>
                  <a:gd name="T22" fmla="*/ 22 w 45"/>
                  <a:gd name="T23" fmla="*/ 0 h 4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5"/>
                  <a:gd name="T37" fmla="*/ 0 h 45"/>
                  <a:gd name="T38" fmla="*/ 45 w 45"/>
                  <a:gd name="T39" fmla="*/ 45 h 4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5" h="45">
                    <a:moveTo>
                      <a:pt x="22" y="0"/>
                    </a:moveTo>
                    <a:lnTo>
                      <a:pt x="28" y="17"/>
                    </a:lnTo>
                    <a:lnTo>
                      <a:pt x="45" y="17"/>
                    </a:lnTo>
                    <a:lnTo>
                      <a:pt x="31" y="28"/>
                    </a:lnTo>
                    <a:lnTo>
                      <a:pt x="36" y="45"/>
                    </a:lnTo>
                    <a:lnTo>
                      <a:pt x="22" y="35"/>
                    </a:lnTo>
                    <a:lnTo>
                      <a:pt x="9" y="45"/>
                    </a:lnTo>
                    <a:lnTo>
                      <a:pt x="14" y="28"/>
                    </a:lnTo>
                    <a:lnTo>
                      <a:pt x="0" y="17"/>
                    </a:lnTo>
                    <a:lnTo>
                      <a:pt x="17" y="17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85" name="Freeform 1014"/>
              <p:cNvSpPr>
                <a:spLocks/>
              </p:cNvSpPr>
              <p:nvPr/>
            </p:nvSpPr>
            <p:spPr bwMode="auto">
              <a:xfrm>
                <a:off x="2036" y="1968"/>
                <a:ext cx="42" cy="41"/>
              </a:xfrm>
              <a:custGeom>
                <a:avLst/>
                <a:gdLst>
                  <a:gd name="T0" fmla="*/ 20 w 42"/>
                  <a:gd name="T1" fmla="*/ 0 h 41"/>
                  <a:gd name="T2" fmla="*/ 26 w 42"/>
                  <a:gd name="T3" fmla="*/ 16 h 41"/>
                  <a:gd name="T4" fmla="*/ 42 w 42"/>
                  <a:gd name="T5" fmla="*/ 16 h 41"/>
                  <a:gd name="T6" fmla="*/ 29 w 42"/>
                  <a:gd name="T7" fmla="*/ 25 h 41"/>
                  <a:gd name="T8" fmla="*/ 34 w 42"/>
                  <a:gd name="T9" fmla="*/ 41 h 41"/>
                  <a:gd name="T10" fmla="*/ 21 w 42"/>
                  <a:gd name="T11" fmla="*/ 32 h 41"/>
                  <a:gd name="T12" fmla="*/ 8 w 42"/>
                  <a:gd name="T13" fmla="*/ 41 h 41"/>
                  <a:gd name="T14" fmla="*/ 13 w 42"/>
                  <a:gd name="T15" fmla="*/ 25 h 41"/>
                  <a:gd name="T16" fmla="*/ 0 w 42"/>
                  <a:gd name="T17" fmla="*/ 16 h 41"/>
                  <a:gd name="T18" fmla="*/ 16 w 42"/>
                  <a:gd name="T19" fmla="*/ 16 h 41"/>
                  <a:gd name="T20" fmla="*/ 21 w 42"/>
                  <a:gd name="T21" fmla="*/ 0 h 41"/>
                  <a:gd name="T22" fmla="*/ 20 w 42"/>
                  <a:gd name="T23" fmla="*/ 0 h 4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2"/>
                  <a:gd name="T37" fmla="*/ 0 h 41"/>
                  <a:gd name="T38" fmla="*/ 42 w 42"/>
                  <a:gd name="T39" fmla="*/ 41 h 4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2" h="41">
                    <a:moveTo>
                      <a:pt x="20" y="0"/>
                    </a:moveTo>
                    <a:lnTo>
                      <a:pt x="26" y="16"/>
                    </a:lnTo>
                    <a:lnTo>
                      <a:pt x="42" y="16"/>
                    </a:lnTo>
                    <a:lnTo>
                      <a:pt x="29" y="25"/>
                    </a:lnTo>
                    <a:lnTo>
                      <a:pt x="34" y="41"/>
                    </a:lnTo>
                    <a:lnTo>
                      <a:pt x="21" y="32"/>
                    </a:lnTo>
                    <a:lnTo>
                      <a:pt x="8" y="41"/>
                    </a:lnTo>
                    <a:lnTo>
                      <a:pt x="13" y="25"/>
                    </a:lnTo>
                    <a:lnTo>
                      <a:pt x="0" y="16"/>
                    </a:lnTo>
                    <a:lnTo>
                      <a:pt x="16" y="16"/>
                    </a:lnTo>
                    <a:lnTo>
                      <a:pt x="21" y="0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86" name="Freeform 1015"/>
              <p:cNvSpPr>
                <a:spLocks/>
              </p:cNvSpPr>
              <p:nvPr/>
            </p:nvSpPr>
            <p:spPr bwMode="auto">
              <a:xfrm>
                <a:off x="2110" y="1897"/>
                <a:ext cx="41" cy="42"/>
              </a:xfrm>
              <a:custGeom>
                <a:avLst/>
                <a:gdLst>
                  <a:gd name="T0" fmla="*/ 20 w 41"/>
                  <a:gd name="T1" fmla="*/ 0 h 42"/>
                  <a:gd name="T2" fmla="*/ 25 w 41"/>
                  <a:gd name="T3" fmla="*/ 15 h 42"/>
                  <a:gd name="T4" fmla="*/ 41 w 41"/>
                  <a:gd name="T5" fmla="*/ 16 h 42"/>
                  <a:gd name="T6" fmla="*/ 29 w 41"/>
                  <a:gd name="T7" fmla="*/ 26 h 42"/>
                  <a:gd name="T8" fmla="*/ 34 w 41"/>
                  <a:gd name="T9" fmla="*/ 42 h 42"/>
                  <a:gd name="T10" fmla="*/ 20 w 41"/>
                  <a:gd name="T11" fmla="*/ 32 h 42"/>
                  <a:gd name="T12" fmla="*/ 7 w 41"/>
                  <a:gd name="T13" fmla="*/ 42 h 42"/>
                  <a:gd name="T14" fmla="*/ 13 w 41"/>
                  <a:gd name="T15" fmla="*/ 26 h 42"/>
                  <a:gd name="T16" fmla="*/ 0 w 41"/>
                  <a:gd name="T17" fmla="*/ 16 h 42"/>
                  <a:gd name="T18" fmla="*/ 16 w 41"/>
                  <a:gd name="T19" fmla="*/ 15 h 42"/>
                  <a:gd name="T20" fmla="*/ 20 w 41"/>
                  <a:gd name="T21" fmla="*/ 0 h 42"/>
                  <a:gd name="T22" fmla="*/ 20 w 41"/>
                  <a:gd name="T23" fmla="*/ 0 h 4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1"/>
                  <a:gd name="T37" fmla="*/ 0 h 42"/>
                  <a:gd name="T38" fmla="*/ 41 w 41"/>
                  <a:gd name="T39" fmla="*/ 42 h 4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1" h="42">
                    <a:moveTo>
                      <a:pt x="20" y="0"/>
                    </a:moveTo>
                    <a:lnTo>
                      <a:pt x="25" y="15"/>
                    </a:lnTo>
                    <a:lnTo>
                      <a:pt x="41" y="16"/>
                    </a:lnTo>
                    <a:lnTo>
                      <a:pt x="29" y="26"/>
                    </a:lnTo>
                    <a:lnTo>
                      <a:pt x="34" y="42"/>
                    </a:lnTo>
                    <a:lnTo>
                      <a:pt x="20" y="32"/>
                    </a:lnTo>
                    <a:lnTo>
                      <a:pt x="7" y="42"/>
                    </a:lnTo>
                    <a:lnTo>
                      <a:pt x="13" y="26"/>
                    </a:lnTo>
                    <a:lnTo>
                      <a:pt x="0" y="16"/>
                    </a:lnTo>
                    <a:lnTo>
                      <a:pt x="16" y="1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87" name="Freeform 1016"/>
              <p:cNvSpPr>
                <a:spLocks/>
              </p:cNvSpPr>
              <p:nvPr/>
            </p:nvSpPr>
            <p:spPr bwMode="auto">
              <a:xfrm>
                <a:off x="2240" y="1944"/>
                <a:ext cx="42" cy="42"/>
              </a:xfrm>
              <a:custGeom>
                <a:avLst/>
                <a:gdLst>
                  <a:gd name="T0" fmla="*/ 20 w 42"/>
                  <a:gd name="T1" fmla="*/ 0 h 42"/>
                  <a:gd name="T2" fmla="*/ 26 w 42"/>
                  <a:gd name="T3" fmla="*/ 16 h 42"/>
                  <a:gd name="T4" fmla="*/ 42 w 42"/>
                  <a:gd name="T5" fmla="*/ 16 h 42"/>
                  <a:gd name="T6" fmla="*/ 29 w 42"/>
                  <a:gd name="T7" fmla="*/ 26 h 42"/>
                  <a:gd name="T8" fmla="*/ 34 w 42"/>
                  <a:gd name="T9" fmla="*/ 42 h 42"/>
                  <a:gd name="T10" fmla="*/ 20 w 42"/>
                  <a:gd name="T11" fmla="*/ 32 h 42"/>
                  <a:gd name="T12" fmla="*/ 8 w 42"/>
                  <a:gd name="T13" fmla="*/ 42 h 42"/>
                  <a:gd name="T14" fmla="*/ 13 w 42"/>
                  <a:gd name="T15" fmla="*/ 26 h 42"/>
                  <a:gd name="T16" fmla="*/ 0 w 42"/>
                  <a:gd name="T17" fmla="*/ 16 h 42"/>
                  <a:gd name="T18" fmla="*/ 16 w 42"/>
                  <a:gd name="T19" fmla="*/ 16 h 42"/>
                  <a:gd name="T20" fmla="*/ 20 w 42"/>
                  <a:gd name="T21" fmla="*/ 0 h 42"/>
                  <a:gd name="T22" fmla="*/ 20 w 42"/>
                  <a:gd name="T23" fmla="*/ 0 h 4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2"/>
                  <a:gd name="T37" fmla="*/ 0 h 42"/>
                  <a:gd name="T38" fmla="*/ 42 w 42"/>
                  <a:gd name="T39" fmla="*/ 42 h 4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2" h="42">
                    <a:moveTo>
                      <a:pt x="20" y="0"/>
                    </a:moveTo>
                    <a:lnTo>
                      <a:pt x="26" y="16"/>
                    </a:lnTo>
                    <a:lnTo>
                      <a:pt x="42" y="16"/>
                    </a:lnTo>
                    <a:lnTo>
                      <a:pt x="29" y="26"/>
                    </a:lnTo>
                    <a:lnTo>
                      <a:pt x="34" y="42"/>
                    </a:lnTo>
                    <a:lnTo>
                      <a:pt x="20" y="32"/>
                    </a:lnTo>
                    <a:lnTo>
                      <a:pt x="8" y="42"/>
                    </a:lnTo>
                    <a:lnTo>
                      <a:pt x="13" y="26"/>
                    </a:lnTo>
                    <a:lnTo>
                      <a:pt x="0" y="16"/>
                    </a:lnTo>
                    <a:lnTo>
                      <a:pt x="16" y="16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88" name="Freeform 1017"/>
              <p:cNvSpPr>
                <a:spLocks/>
              </p:cNvSpPr>
              <p:nvPr/>
            </p:nvSpPr>
            <p:spPr bwMode="auto">
              <a:xfrm>
                <a:off x="2101" y="1975"/>
                <a:ext cx="44" cy="47"/>
              </a:xfrm>
              <a:custGeom>
                <a:avLst/>
                <a:gdLst>
                  <a:gd name="T0" fmla="*/ 18 w 44"/>
                  <a:gd name="T1" fmla="*/ 0 h 47"/>
                  <a:gd name="T2" fmla="*/ 28 w 44"/>
                  <a:gd name="T3" fmla="*/ 15 h 47"/>
                  <a:gd name="T4" fmla="*/ 44 w 44"/>
                  <a:gd name="T5" fmla="*/ 12 h 47"/>
                  <a:gd name="T6" fmla="*/ 33 w 44"/>
                  <a:gd name="T7" fmla="*/ 26 h 47"/>
                  <a:gd name="T8" fmla="*/ 41 w 44"/>
                  <a:gd name="T9" fmla="*/ 41 h 47"/>
                  <a:gd name="T10" fmla="*/ 26 w 44"/>
                  <a:gd name="T11" fmla="*/ 34 h 47"/>
                  <a:gd name="T12" fmla="*/ 14 w 44"/>
                  <a:gd name="T13" fmla="*/ 47 h 47"/>
                  <a:gd name="T14" fmla="*/ 15 w 44"/>
                  <a:gd name="T15" fmla="*/ 29 h 47"/>
                  <a:gd name="T16" fmla="*/ 0 w 44"/>
                  <a:gd name="T17" fmla="*/ 22 h 47"/>
                  <a:gd name="T18" fmla="*/ 16 w 44"/>
                  <a:gd name="T19" fmla="*/ 17 h 47"/>
                  <a:gd name="T20" fmla="*/ 18 w 44"/>
                  <a:gd name="T21" fmla="*/ 0 h 47"/>
                  <a:gd name="T22" fmla="*/ 18 w 44"/>
                  <a:gd name="T23" fmla="*/ 0 h 4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4"/>
                  <a:gd name="T37" fmla="*/ 0 h 47"/>
                  <a:gd name="T38" fmla="*/ 44 w 44"/>
                  <a:gd name="T39" fmla="*/ 47 h 4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4" h="47">
                    <a:moveTo>
                      <a:pt x="18" y="0"/>
                    </a:moveTo>
                    <a:lnTo>
                      <a:pt x="28" y="15"/>
                    </a:lnTo>
                    <a:lnTo>
                      <a:pt x="44" y="12"/>
                    </a:lnTo>
                    <a:lnTo>
                      <a:pt x="33" y="26"/>
                    </a:lnTo>
                    <a:lnTo>
                      <a:pt x="41" y="41"/>
                    </a:lnTo>
                    <a:lnTo>
                      <a:pt x="26" y="34"/>
                    </a:lnTo>
                    <a:lnTo>
                      <a:pt x="14" y="47"/>
                    </a:lnTo>
                    <a:lnTo>
                      <a:pt x="15" y="29"/>
                    </a:lnTo>
                    <a:lnTo>
                      <a:pt x="0" y="22"/>
                    </a:lnTo>
                    <a:lnTo>
                      <a:pt x="16" y="1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7461" name="Rectangle 1018"/>
            <p:cNvSpPr>
              <a:spLocks noChangeArrowheads="1"/>
            </p:cNvSpPr>
            <p:nvPr/>
          </p:nvSpPr>
          <p:spPr bwMode="auto">
            <a:xfrm>
              <a:off x="2998" y="2789"/>
              <a:ext cx="123" cy="57"/>
            </a:xfrm>
            <a:prstGeom prst="rect">
              <a:avLst/>
            </a:prstGeom>
            <a:solidFill>
              <a:srgbClr val="FFFF66"/>
            </a:solidFill>
            <a:ln w="444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7462" name="Oval 1019"/>
            <p:cNvSpPr>
              <a:spLocks noChangeArrowheads="1"/>
            </p:cNvSpPr>
            <p:nvPr/>
          </p:nvSpPr>
          <p:spPr bwMode="auto">
            <a:xfrm>
              <a:off x="2954" y="2717"/>
              <a:ext cx="210" cy="94"/>
            </a:xfrm>
            <a:prstGeom prst="ellipse">
              <a:avLst/>
            </a:prstGeom>
            <a:solidFill>
              <a:srgbClr val="FFFF66"/>
            </a:solidFill>
            <a:ln w="44450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7463" name="Rectangle 1020"/>
            <p:cNvSpPr>
              <a:spLocks noChangeArrowheads="1"/>
            </p:cNvSpPr>
            <p:nvPr/>
          </p:nvSpPr>
          <p:spPr bwMode="auto">
            <a:xfrm>
              <a:off x="3012" y="2789"/>
              <a:ext cx="95" cy="71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7464" name="Rectangle 1021"/>
            <p:cNvSpPr>
              <a:spLocks noChangeArrowheads="1"/>
            </p:cNvSpPr>
            <p:nvPr/>
          </p:nvSpPr>
          <p:spPr bwMode="auto">
            <a:xfrm>
              <a:off x="2292" y="2195"/>
              <a:ext cx="682" cy="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7465" name="Rectangle 1022"/>
            <p:cNvSpPr>
              <a:spLocks noChangeArrowheads="1"/>
            </p:cNvSpPr>
            <p:nvPr/>
          </p:nvSpPr>
          <p:spPr bwMode="auto">
            <a:xfrm>
              <a:off x="2261" y="2230"/>
              <a:ext cx="1774" cy="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900" u="sng">
                  <a:solidFill>
                    <a:srgbClr val="000000"/>
                  </a:solidFill>
                  <a:latin typeface="Arial Narrow" pitchFamily="34" charset="0"/>
                </a:rPr>
                <a:t>Administration  Phase</a:t>
              </a:r>
              <a:r>
                <a:rPr lang="en-US" sz="900">
                  <a:solidFill>
                    <a:srgbClr val="000000"/>
                  </a:solidFill>
                  <a:latin typeface="Arial Narrow" pitchFamily="34" charset="0"/>
                </a:rPr>
                <a:t>: Select A Qualified Contractor</a:t>
              </a:r>
              <a:endParaRPr lang="en-US" sz="1000">
                <a:solidFill>
                  <a:srgbClr val="000000"/>
                </a:solidFill>
                <a:latin typeface="Arial Narrow" pitchFamily="34" charset="0"/>
              </a:endParaRPr>
            </a:p>
          </p:txBody>
        </p:sp>
        <p:grpSp>
          <p:nvGrpSpPr>
            <p:cNvPr id="17466" name="Group 1023"/>
            <p:cNvGrpSpPr>
              <a:grpSpLocks/>
            </p:cNvGrpSpPr>
            <p:nvPr/>
          </p:nvGrpSpPr>
          <p:grpSpPr bwMode="auto">
            <a:xfrm>
              <a:off x="2800" y="2908"/>
              <a:ext cx="539" cy="468"/>
              <a:chOff x="2736" y="2379"/>
              <a:chExt cx="436" cy="399"/>
            </a:xfrm>
          </p:grpSpPr>
          <p:sp>
            <p:nvSpPr>
              <p:cNvPr id="17514" name="Rectangle 1024"/>
              <p:cNvSpPr>
                <a:spLocks noChangeArrowheads="1"/>
              </p:cNvSpPr>
              <p:nvPr/>
            </p:nvSpPr>
            <p:spPr bwMode="auto">
              <a:xfrm>
                <a:off x="2736" y="2690"/>
                <a:ext cx="436" cy="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84238" eaLnBrk="0" hangingPunct="0"/>
                <a:r>
                  <a:rPr lang="en-US" sz="1000" b="0">
                    <a:solidFill>
                      <a:srgbClr val="000000"/>
                    </a:solidFill>
                    <a:latin typeface="Arial Narrow" pitchFamily="34" charset="0"/>
                  </a:rPr>
                  <a:t>Contract Award</a:t>
                </a:r>
                <a:endParaRPr lang="en-US" sz="1000" b="0">
                  <a:latin typeface="Times New Roman" pitchFamily="18" charset="0"/>
                </a:endParaRPr>
              </a:p>
            </p:txBody>
          </p:sp>
          <p:grpSp>
            <p:nvGrpSpPr>
              <p:cNvPr id="17515" name="Group 1025"/>
              <p:cNvGrpSpPr>
                <a:grpSpLocks/>
              </p:cNvGrpSpPr>
              <p:nvPr/>
            </p:nvGrpSpPr>
            <p:grpSpPr bwMode="auto">
              <a:xfrm>
                <a:off x="2814" y="2379"/>
                <a:ext cx="252" cy="268"/>
                <a:chOff x="2509" y="2443"/>
                <a:chExt cx="286" cy="292"/>
              </a:xfrm>
            </p:grpSpPr>
            <p:sp>
              <p:nvSpPr>
                <p:cNvPr id="17516" name="Freeform 1026"/>
                <p:cNvSpPr>
                  <a:spLocks/>
                </p:cNvSpPr>
                <p:nvPr/>
              </p:nvSpPr>
              <p:spPr bwMode="auto">
                <a:xfrm>
                  <a:off x="2509" y="2443"/>
                  <a:ext cx="286" cy="292"/>
                </a:xfrm>
                <a:custGeom>
                  <a:avLst/>
                  <a:gdLst>
                    <a:gd name="T0" fmla="*/ 28 w 286"/>
                    <a:gd name="T1" fmla="*/ 0 h 292"/>
                    <a:gd name="T2" fmla="*/ 23 w 286"/>
                    <a:gd name="T3" fmla="*/ 1 h 292"/>
                    <a:gd name="T4" fmla="*/ 18 w 286"/>
                    <a:gd name="T5" fmla="*/ 2 h 292"/>
                    <a:gd name="T6" fmla="*/ 8 w 286"/>
                    <a:gd name="T7" fmla="*/ 9 h 292"/>
                    <a:gd name="T8" fmla="*/ 3 w 286"/>
                    <a:gd name="T9" fmla="*/ 17 h 292"/>
                    <a:gd name="T10" fmla="*/ 2 w 286"/>
                    <a:gd name="T11" fmla="*/ 23 h 292"/>
                    <a:gd name="T12" fmla="*/ 0 w 286"/>
                    <a:gd name="T13" fmla="*/ 28 h 292"/>
                    <a:gd name="T14" fmla="*/ 0 w 286"/>
                    <a:gd name="T15" fmla="*/ 264 h 292"/>
                    <a:gd name="T16" fmla="*/ 2 w 286"/>
                    <a:gd name="T17" fmla="*/ 269 h 292"/>
                    <a:gd name="T18" fmla="*/ 3 w 286"/>
                    <a:gd name="T19" fmla="*/ 275 h 292"/>
                    <a:gd name="T20" fmla="*/ 8 w 286"/>
                    <a:gd name="T21" fmla="*/ 284 h 292"/>
                    <a:gd name="T22" fmla="*/ 18 w 286"/>
                    <a:gd name="T23" fmla="*/ 290 h 292"/>
                    <a:gd name="T24" fmla="*/ 23 w 286"/>
                    <a:gd name="T25" fmla="*/ 292 h 292"/>
                    <a:gd name="T26" fmla="*/ 28 w 286"/>
                    <a:gd name="T27" fmla="*/ 292 h 292"/>
                    <a:gd name="T28" fmla="*/ 258 w 286"/>
                    <a:gd name="T29" fmla="*/ 292 h 292"/>
                    <a:gd name="T30" fmla="*/ 263 w 286"/>
                    <a:gd name="T31" fmla="*/ 292 h 292"/>
                    <a:gd name="T32" fmla="*/ 269 w 286"/>
                    <a:gd name="T33" fmla="*/ 290 h 292"/>
                    <a:gd name="T34" fmla="*/ 278 w 286"/>
                    <a:gd name="T35" fmla="*/ 284 h 292"/>
                    <a:gd name="T36" fmla="*/ 284 w 286"/>
                    <a:gd name="T37" fmla="*/ 275 h 292"/>
                    <a:gd name="T38" fmla="*/ 286 w 286"/>
                    <a:gd name="T39" fmla="*/ 269 h 292"/>
                    <a:gd name="T40" fmla="*/ 286 w 286"/>
                    <a:gd name="T41" fmla="*/ 264 h 292"/>
                    <a:gd name="T42" fmla="*/ 286 w 286"/>
                    <a:gd name="T43" fmla="*/ 28 h 292"/>
                    <a:gd name="T44" fmla="*/ 286 w 286"/>
                    <a:gd name="T45" fmla="*/ 23 h 292"/>
                    <a:gd name="T46" fmla="*/ 284 w 286"/>
                    <a:gd name="T47" fmla="*/ 17 h 292"/>
                    <a:gd name="T48" fmla="*/ 278 w 286"/>
                    <a:gd name="T49" fmla="*/ 9 h 292"/>
                    <a:gd name="T50" fmla="*/ 269 w 286"/>
                    <a:gd name="T51" fmla="*/ 2 h 292"/>
                    <a:gd name="T52" fmla="*/ 263 w 286"/>
                    <a:gd name="T53" fmla="*/ 1 h 292"/>
                    <a:gd name="T54" fmla="*/ 258 w 286"/>
                    <a:gd name="T55" fmla="*/ 0 h 292"/>
                    <a:gd name="T56" fmla="*/ 28 w 286"/>
                    <a:gd name="T57" fmla="*/ 0 h 29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286"/>
                    <a:gd name="T88" fmla="*/ 0 h 292"/>
                    <a:gd name="T89" fmla="*/ 286 w 286"/>
                    <a:gd name="T90" fmla="*/ 292 h 292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286" h="292">
                      <a:moveTo>
                        <a:pt x="28" y="0"/>
                      </a:moveTo>
                      <a:lnTo>
                        <a:pt x="23" y="1"/>
                      </a:lnTo>
                      <a:lnTo>
                        <a:pt x="18" y="2"/>
                      </a:lnTo>
                      <a:lnTo>
                        <a:pt x="8" y="9"/>
                      </a:lnTo>
                      <a:lnTo>
                        <a:pt x="3" y="17"/>
                      </a:lnTo>
                      <a:lnTo>
                        <a:pt x="2" y="23"/>
                      </a:lnTo>
                      <a:lnTo>
                        <a:pt x="0" y="28"/>
                      </a:lnTo>
                      <a:lnTo>
                        <a:pt x="0" y="264"/>
                      </a:lnTo>
                      <a:lnTo>
                        <a:pt x="2" y="269"/>
                      </a:lnTo>
                      <a:lnTo>
                        <a:pt x="3" y="275"/>
                      </a:lnTo>
                      <a:lnTo>
                        <a:pt x="8" y="284"/>
                      </a:lnTo>
                      <a:lnTo>
                        <a:pt x="18" y="290"/>
                      </a:lnTo>
                      <a:lnTo>
                        <a:pt x="23" y="292"/>
                      </a:lnTo>
                      <a:lnTo>
                        <a:pt x="28" y="292"/>
                      </a:lnTo>
                      <a:lnTo>
                        <a:pt x="258" y="292"/>
                      </a:lnTo>
                      <a:lnTo>
                        <a:pt x="263" y="292"/>
                      </a:lnTo>
                      <a:lnTo>
                        <a:pt x="269" y="290"/>
                      </a:lnTo>
                      <a:lnTo>
                        <a:pt x="278" y="284"/>
                      </a:lnTo>
                      <a:lnTo>
                        <a:pt x="284" y="275"/>
                      </a:lnTo>
                      <a:lnTo>
                        <a:pt x="286" y="269"/>
                      </a:lnTo>
                      <a:lnTo>
                        <a:pt x="286" y="264"/>
                      </a:lnTo>
                      <a:lnTo>
                        <a:pt x="286" y="28"/>
                      </a:lnTo>
                      <a:lnTo>
                        <a:pt x="286" y="23"/>
                      </a:lnTo>
                      <a:lnTo>
                        <a:pt x="284" y="17"/>
                      </a:lnTo>
                      <a:lnTo>
                        <a:pt x="278" y="9"/>
                      </a:lnTo>
                      <a:lnTo>
                        <a:pt x="269" y="2"/>
                      </a:lnTo>
                      <a:lnTo>
                        <a:pt x="263" y="1"/>
                      </a:lnTo>
                      <a:lnTo>
                        <a:pt x="258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317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517" name="Freeform 1027"/>
                <p:cNvSpPr>
                  <a:spLocks/>
                </p:cNvSpPr>
                <p:nvPr/>
              </p:nvSpPr>
              <p:spPr bwMode="auto">
                <a:xfrm>
                  <a:off x="2524" y="2483"/>
                  <a:ext cx="256" cy="213"/>
                </a:xfrm>
                <a:custGeom>
                  <a:avLst/>
                  <a:gdLst>
                    <a:gd name="T0" fmla="*/ 253 w 256"/>
                    <a:gd name="T1" fmla="*/ 118 h 213"/>
                    <a:gd name="T2" fmla="*/ 249 w 256"/>
                    <a:gd name="T3" fmla="*/ 120 h 213"/>
                    <a:gd name="T4" fmla="*/ 245 w 256"/>
                    <a:gd name="T5" fmla="*/ 120 h 213"/>
                    <a:gd name="T6" fmla="*/ 243 w 256"/>
                    <a:gd name="T7" fmla="*/ 117 h 213"/>
                    <a:gd name="T8" fmla="*/ 228 w 256"/>
                    <a:gd name="T9" fmla="*/ 130 h 213"/>
                    <a:gd name="T10" fmla="*/ 228 w 256"/>
                    <a:gd name="T11" fmla="*/ 137 h 213"/>
                    <a:gd name="T12" fmla="*/ 228 w 256"/>
                    <a:gd name="T13" fmla="*/ 144 h 213"/>
                    <a:gd name="T14" fmla="*/ 223 w 256"/>
                    <a:gd name="T15" fmla="*/ 151 h 213"/>
                    <a:gd name="T16" fmla="*/ 217 w 256"/>
                    <a:gd name="T17" fmla="*/ 156 h 213"/>
                    <a:gd name="T18" fmla="*/ 203 w 256"/>
                    <a:gd name="T19" fmla="*/ 159 h 213"/>
                    <a:gd name="T20" fmla="*/ 200 w 256"/>
                    <a:gd name="T21" fmla="*/ 166 h 213"/>
                    <a:gd name="T22" fmla="*/ 196 w 256"/>
                    <a:gd name="T23" fmla="*/ 172 h 213"/>
                    <a:gd name="T24" fmla="*/ 191 w 256"/>
                    <a:gd name="T25" fmla="*/ 174 h 213"/>
                    <a:gd name="T26" fmla="*/ 184 w 256"/>
                    <a:gd name="T27" fmla="*/ 175 h 213"/>
                    <a:gd name="T28" fmla="*/ 180 w 256"/>
                    <a:gd name="T29" fmla="*/ 176 h 213"/>
                    <a:gd name="T30" fmla="*/ 174 w 256"/>
                    <a:gd name="T31" fmla="*/ 184 h 213"/>
                    <a:gd name="T32" fmla="*/ 164 w 256"/>
                    <a:gd name="T33" fmla="*/ 191 h 213"/>
                    <a:gd name="T34" fmla="*/ 154 w 256"/>
                    <a:gd name="T35" fmla="*/ 194 h 213"/>
                    <a:gd name="T36" fmla="*/ 151 w 256"/>
                    <a:gd name="T37" fmla="*/ 200 h 213"/>
                    <a:gd name="T38" fmla="*/ 145 w 256"/>
                    <a:gd name="T39" fmla="*/ 206 h 213"/>
                    <a:gd name="T40" fmla="*/ 135 w 256"/>
                    <a:gd name="T41" fmla="*/ 208 h 213"/>
                    <a:gd name="T42" fmla="*/ 125 w 256"/>
                    <a:gd name="T43" fmla="*/ 207 h 213"/>
                    <a:gd name="T44" fmla="*/ 119 w 256"/>
                    <a:gd name="T45" fmla="*/ 207 h 213"/>
                    <a:gd name="T46" fmla="*/ 113 w 256"/>
                    <a:gd name="T47" fmla="*/ 211 h 213"/>
                    <a:gd name="T48" fmla="*/ 104 w 256"/>
                    <a:gd name="T49" fmla="*/ 213 h 213"/>
                    <a:gd name="T50" fmla="*/ 96 w 256"/>
                    <a:gd name="T51" fmla="*/ 212 h 213"/>
                    <a:gd name="T52" fmla="*/ 89 w 256"/>
                    <a:gd name="T53" fmla="*/ 207 h 213"/>
                    <a:gd name="T54" fmla="*/ 81 w 256"/>
                    <a:gd name="T55" fmla="*/ 195 h 213"/>
                    <a:gd name="T56" fmla="*/ 71 w 256"/>
                    <a:gd name="T57" fmla="*/ 193 h 213"/>
                    <a:gd name="T58" fmla="*/ 62 w 256"/>
                    <a:gd name="T59" fmla="*/ 187 h 213"/>
                    <a:gd name="T60" fmla="*/ 59 w 256"/>
                    <a:gd name="T61" fmla="*/ 179 h 213"/>
                    <a:gd name="T62" fmla="*/ 54 w 256"/>
                    <a:gd name="T63" fmla="*/ 178 h 213"/>
                    <a:gd name="T64" fmla="*/ 49 w 256"/>
                    <a:gd name="T65" fmla="*/ 176 h 213"/>
                    <a:gd name="T66" fmla="*/ 42 w 256"/>
                    <a:gd name="T67" fmla="*/ 171 h 213"/>
                    <a:gd name="T68" fmla="*/ 39 w 256"/>
                    <a:gd name="T69" fmla="*/ 163 h 213"/>
                    <a:gd name="T70" fmla="*/ 31 w 256"/>
                    <a:gd name="T71" fmla="*/ 160 h 213"/>
                    <a:gd name="T72" fmla="*/ 22 w 256"/>
                    <a:gd name="T73" fmla="*/ 156 h 213"/>
                    <a:gd name="T74" fmla="*/ 15 w 256"/>
                    <a:gd name="T75" fmla="*/ 147 h 213"/>
                    <a:gd name="T76" fmla="*/ 14 w 256"/>
                    <a:gd name="T77" fmla="*/ 135 h 213"/>
                    <a:gd name="T78" fmla="*/ 18 w 256"/>
                    <a:gd name="T79" fmla="*/ 126 h 213"/>
                    <a:gd name="T80" fmla="*/ 9 w 256"/>
                    <a:gd name="T81" fmla="*/ 124 h 213"/>
                    <a:gd name="T82" fmla="*/ 5 w 256"/>
                    <a:gd name="T83" fmla="*/ 121 h 213"/>
                    <a:gd name="T84" fmla="*/ 1 w 256"/>
                    <a:gd name="T85" fmla="*/ 118 h 213"/>
                    <a:gd name="T86" fmla="*/ 7 w 256"/>
                    <a:gd name="T87" fmla="*/ 77 h 213"/>
                    <a:gd name="T88" fmla="*/ 29 w 256"/>
                    <a:gd name="T89" fmla="*/ 28 h 213"/>
                    <a:gd name="T90" fmla="*/ 76 w 256"/>
                    <a:gd name="T91" fmla="*/ 12 h 213"/>
                    <a:gd name="T92" fmla="*/ 77 w 256"/>
                    <a:gd name="T93" fmla="*/ 20 h 213"/>
                    <a:gd name="T94" fmla="*/ 84 w 256"/>
                    <a:gd name="T95" fmla="*/ 21 h 213"/>
                    <a:gd name="T96" fmla="*/ 91 w 256"/>
                    <a:gd name="T97" fmla="*/ 18 h 213"/>
                    <a:gd name="T98" fmla="*/ 183 w 256"/>
                    <a:gd name="T99" fmla="*/ 18 h 213"/>
                    <a:gd name="T100" fmla="*/ 209 w 256"/>
                    <a:gd name="T101" fmla="*/ 7 h 213"/>
                    <a:gd name="T102" fmla="*/ 241 w 256"/>
                    <a:gd name="T103" fmla="*/ 50 h 213"/>
                    <a:gd name="T104" fmla="*/ 256 w 256"/>
                    <a:gd name="T105" fmla="*/ 101 h 213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256"/>
                    <a:gd name="T160" fmla="*/ 0 h 213"/>
                    <a:gd name="T161" fmla="*/ 256 w 256"/>
                    <a:gd name="T162" fmla="*/ 213 h 213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256" h="213">
                      <a:moveTo>
                        <a:pt x="256" y="116"/>
                      </a:moveTo>
                      <a:lnTo>
                        <a:pt x="255" y="116"/>
                      </a:lnTo>
                      <a:lnTo>
                        <a:pt x="254" y="117"/>
                      </a:lnTo>
                      <a:lnTo>
                        <a:pt x="253" y="118"/>
                      </a:lnTo>
                      <a:lnTo>
                        <a:pt x="252" y="118"/>
                      </a:lnTo>
                      <a:lnTo>
                        <a:pt x="252" y="119"/>
                      </a:lnTo>
                      <a:lnTo>
                        <a:pt x="250" y="119"/>
                      </a:lnTo>
                      <a:lnTo>
                        <a:pt x="249" y="120"/>
                      </a:lnTo>
                      <a:lnTo>
                        <a:pt x="247" y="121"/>
                      </a:lnTo>
                      <a:lnTo>
                        <a:pt x="245" y="121"/>
                      </a:lnTo>
                      <a:lnTo>
                        <a:pt x="245" y="120"/>
                      </a:lnTo>
                      <a:lnTo>
                        <a:pt x="244" y="120"/>
                      </a:lnTo>
                      <a:lnTo>
                        <a:pt x="244" y="119"/>
                      </a:lnTo>
                      <a:lnTo>
                        <a:pt x="243" y="118"/>
                      </a:lnTo>
                      <a:lnTo>
                        <a:pt x="243" y="117"/>
                      </a:lnTo>
                      <a:lnTo>
                        <a:pt x="242" y="116"/>
                      </a:lnTo>
                      <a:lnTo>
                        <a:pt x="228" y="126"/>
                      </a:lnTo>
                      <a:lnTo>
                        <a:pt x="228" y="128"/>
                      </a:lnTo>
                      <a:lnTo>
                        <a:pt x="228" y="130"/>
                      </a:lnTo>
                      <a:lnTo>
                        <a:pt x="228" y="131"/>
                      </a:lnTo>
                      <a:lnTo>
                        <a:pt x="228" y="133"/>
                      </a:lnTo>
                      <a:lnTo>
                        <a:pt x="228" y="135"/>
                      </a:lnTo>
                      <a:lnTo>
                        <a:pt x="228" y="137"/>
                      </a:lnTo>
                      <a:lnTo>
                        <a:pt x="228" y="139"/>
                      </a:lnTo>
                      <a:lnTo>
                        <a:pt x="228" y="142"/>
                      </a:lnTo>
                      <a:lnTo>
                        <a:pt x="228" y="144"/>
                      </a:lnTo>
                      <a:lnTo>
                        <a:pt x="226" y="147"/>
                      </a:lnTo>
                      <a:lnTo>
                        <a:pt x="225" y="148"/>
                      </a:lnTo>
                      <a:lnTo>
                        <a:pt x="224" y="150"/>
                      </a:lnTo>
                      <a:lnTo>
                        <a:pt x="223" y="151"/>
                      </a:lnTo>
                      <a:lnTo>
                        <a:pt x="222" y="152"/>
                      </a:lnTo>
                      <a:lnTo>
                        <a:pt x="219" y="153"/>
                      </a:lnTo>
                      <a:lnTo>
                        <a:pt x="218" y="156"/>
                      </a:lnTo>
                      <a:lnTo>
                        <a:pt x="217" y="156"/>
                      </a:lnTo>
                      <a:lnTo>
                        <a:pt x="215" y="157"/>
                      </a:lnTo>
                      <a:lnTo>
                        <a:pt x="213" y="158"/>
                      </a:lnTo>
                      <a:lnTo>
                        <a:pt x="206" y="158"/>
                      </a:lnTo>
                      <a:lnTo>
                        <a:pt x="203" y="159"/>
                      </a:lnTo>
                      <a:lnTo>
                        <a:pt x="203" y="161"/>
                      </a:lnTo>
                      <a:lnTo>
                        <a:pt x="202" y="163"/>
                      </a:lnTo>
                      <a:lnTo>
                        <a:pt x="201" y="165"/>
                      </a:lnTo>
                      <a:lnTo>
                        <a:pt x="200" y="166"/>
                      </a:lnTo>
                      <a:lnTo>
                        <a:pt x="199" y="167"/>
                      </a:lnTo>
                      <a:lnTo>
                        <a:pt x="198" y="169"/>
                      </a:lnTo>
                      <a:lnTo>
                        <a:pt x="197" y="171"/>
                      </a:lnTo>
                      <a:lnTo>
                        <a:pt x="196" y="172"/>
                      </a:lnTo>
                      <a:lnTo>
                        <a:pt x="194" y="173"/>
                      </a:lnTo>
                      <a:lnTo>
                        <a:pt x="193" y="173"/>
                      </a:lnTo>
                      <a:lnTo>
                        <a:pt x="192" y="174"/>
                      </a:lnTo>
                      <a:lnTo>
                        <a:pt x="191" y="174"/>
                      </a:lnTo>
                      <a:lnTo>
                        <a:pt x="190" y="174"/>
                      </a:lnTo>
                      <a:lnTo>
                        <a:pt x="188" y="174"/>
                      </a:lnTo>
                      <a:lnTo>
                        <a:pt x="186" y="175"/>
                      </a:lnTo>
                      <a:lnTo>
                        <a:pt x="184" y="175"/>
                      </a:lnTo>
                      <a:lnTo>
                        <a:pt x="183" y="175"/>
                      </a:lnTo>
                      <a:lnTo>
                        <a:pt x="182" y="174"/>
                      </a:lnTo>
                      <a:lnTo>
                        <a:pt x="181" y="174"/>
                      </a:lnTo>
                      <a:lnTo>
                        <a:pt x="180" y="176"/>
                      </a:lnTo>
                      <a:lnTo>
                        <a:pt x="179" y="179"/>
                      </a:lnTo>
                      <a:lnTo>
                        <a:pt x="177" y="182"/>
                      </a:lnTo>
                      <a:lnTo>
                        <a:pt x="176" y="184"/>
                      </a:lnTo>
                      <a:lnTo>
                        <a:pt x="174" y="184"/>
                      </a:lnTo>
                      <a:lnTo>
                        <a:pt x="171" y="188"/>
                      </a:lnTo>
                      <a:lnTo>
                        <a:pt x="170" y="189"/>
                      </a:lnTo>
                      <a:lnTo>
                        <a:pt x="167" y="190"/>
                      </a:lnTo>
                      <a:lnTo>
                        <a:pt x="164" y="191"/>
                      </a:lnTo>
                      <a:lnTo>
                        <a:pt x="162" y="191"/>
                      </a:lnTo>
                      <a:lnTo>
                        <a:pt x="155" y="191"/>
                      </a:lnTo>
                      <a:lnTo>
                        <a:pt x="155" y="192"/>
                      </a:lnTo>
                      <a:lnTo>
                        <a:pt x="154" y="194"/>
                      </a:lnTo>
                      <a:lnTo>
                        <a:pt x="154" y="195"/>
                      </a:lnTo>
                      <a:lnTo>
                        <a:pt x="153" y="197"/>
                      </a:lnTo>
                      <a:lnTo>
                        <a:pt x="152" y="198"/>
                      </a:lnTo>
                      <a:lnTo>
                        <a:pt x="151" y="200"/>
                      </a:lnTo>
                      <a:lnTo>
                        <a:pt x="150" y="203"/>
                      </a:lnTo>
                      <a:lnTo>
                        <a:pt x="148" y="204"/>
                      </a:lnTo>
                      <a:lnTo>
                        <a:pt x="146" y="205"/>
                      </a:lnTo>
                      <a:lnTo>
                        <a:pt x="145" y="206"/>
                      </a:lnTo>
                      <a:lnTo>
                        <a:pt x="143" y="207"/>
                      </a:lnTo>
                      <a:lnTo>
                        <a:pt x="140" y="208"/>
                      </a:lnTo>
                      <a:lnTo>
                        <a:pt x="137" y="208"/>
                      </a:lnTo>
                      <a:lnTo>
                        <a:pt x="135" y="208"/>
                      </a:lnTo>
                      <a:lnTo>
                        <a:pt x="133" y="208"/>
                      </a:lnTo>
                      <a:lnTo>
                        <a:pt x="131" y="208"/>
                      </a:lnTo>
                      <a:lnTo>
                        <a:pt x="129" y="207"/>
                      </a:lnTo>
                      <a:lnTo>
                        <a:pt x="125" y="207"/>
                      </a:lnTo>
                      <a:lnTo>
                        <a:pt x="123" y="205"/>
                      </a:lnTo>
                      <a:lnTo>
                        <a:pt x="121" y="204"/>
                      </a:lnTo>
                      <a:lnTo>
                        <a:pt x="120" y="206"/>
                      </a:lnTo>
                      <a:lnTo>
                        <a:pt x="119" y="207"/>
                      </a:lnTo>
                      <a:lnTo>
                        <a:pt x="117" y="208"/>
                      </a:lnTo>
                      <a:lnTo>
                        <a:pt x="116" y="210"/>
                      </a:lnTo>
                      <a:lnTo>
                        <a:pt x="115" y="210"/>
                      </a:lnTo>
                      <a:lnTo>
                        <a:pt x="113" y="211"/>
                      </a:lnTo>
                      <a:lnTo>
                        <a:pt x="110" y="212"/>
                      </a:lnTo>
                      <a:lnTo>
                        <a:pt x="109" y="213"/>
                      </a:lnTo>
                      <a:lnTo>
                        <a:pt x="106" y="213"/>
                      </a:lnTo>
                      <a:lnTo>
                        <a:pt x="104" y="213"/>
                      </a:lnTo>
                      <a:lnTo>
                        <a:pt x="102" y="213"/>
                      </a:lnTo>
                      <a:lnTo>
                        <a:pt x="100" y="213"/>
                      </a:lnTo>
                      <a:lnTo>
                        <a:pt x="98" y="213"/>
                      </a:lnTo>
                      <a:lnTo>
                        <a:pt x="96" y="212"/>
                      </a:lnTo>
                      <a:lnTo>
                        <a:pt x="93" y="211"/>
                      </a:lnTo>
                      <a:lnTo>
                        <a:pt x="92" y="210"/>
                      </a:lnTo>
                      <a:lnTo>
                        <a:pt x="90" y="209"/>
                      </a:lnTo>
                      <a:lnTo>
                        <a:pt x="89" y="207"/>
                      </a:lnTo>
                      <a:lnTo>
                        <a:pt x="87" y="206"/>
                      </a:lnTo>
                      <a:lnTo>
                        <a:pt x="85" y="204"/>
                      </a:lnTo>
                      <a:lnTo>
                        <a:pt x="83" y="196"/>
                      </a:lnTo>
                      <a:lnTo>
                        <a:pt x="81" y="195"/>
                      </a:lnTo>
                      <a:lnTo>
                        <a:pt x="77" y="195"/>
                      </a:lnTo>
                      <a:lnTo>
                        <a:pt x="75" y="195"/>
                      </a:lnTo>
                      <a:lnTo>
                        <a:pt x="73" y="194"/>
                      </a:lnTo>
                      <a:lnTo>
                        <a:pt x="71" y="193"/>
                      </a:lnTo>
                      <a:lnTo>
                        <a:pt x="68" y="192"/>
                      </a:lnTo>
                      <a:lnTo>
                        <a:pt x="66" y="190"/>
                      </a:lnTo>
                      <a:lnTo>
                        <a:pt x="63" y="189"/>
                      </a:lnTo>
                      <a:lnTo>
                        <a:pt x="62" y="187"/>
                      </a:lnTo>
                      <a:lnTo>
                        <a:pt x="61" y="182"/>
                      </a:lnTo>
                      <a:lnTo>
                        <a:pt x="60" y="180"/>
                      </a:lnTo>
                      <a:lnTo>
                        <a:pt x="59" y="179"/>
                      </a:lnTo>
                      <a:lnTo>
                        <a:pt x="58" y="178"/>
                      </a:lnTo>
                      <a:lnTo>
                        <a:pt x="57" y="178"/>
                      </a:lnTo>
                      <a:lnTo>
                        <a:pt x="55" y="178"/>
                      </a:lnTo>
                      <a:lnTo>
                        <a:pt x="54" y="178"/>
                      </a:lnTo>
                      <a:lnTo>
                        <a:pt x="52" y="178"/>
                      </a:lnTo>
                      <a:lnTo>
                        <a:pt x="51" y="177"/>
                      </a:lnTo>
                      <a:lnTo>
                        <a:pt x="49" y="177"/>
                      </a:lnTo>
                      <a:lnTo>
                        <a:pt x="49" y="176"/>
                      </a:lnTo>
                      <a:lnTo>
                        <a:pt x="45" y="175"/>
                      </a:lnTo>
                      <a:lnTo>
                        <a:pt x="44" y="174"/>
                      </a:lnTo>
                      <a:lnTo>
                        <a:pt x="43" y="173"/>
                      </a:lnTo>
                      <a:lnTo>
                        <a:pt x="42" y="171"/>
                      </a:lnTo>
                      <a:lnTo>
                        <a:pt x="41" y="169"/>
                      </a:lnTo>
                      <a:lnTo>
                        <a:pt x="40" y="167"/>
                      </a:lnTo>
                      <a:lnTo>
                        <a:pt x="40" y="166"/>
                      </a:lnTo>
                      <a:lnTo>
                        <a:pt x="39" y="163"/>
                      </a:lnTo>
                      <a:lnTo>
                        <a:pt x="38" y="161"/>
                      </a:lnTo>
                      <a:lnTo>
                        <a:pt x="36" y="161"/>
                      </a:lnTo>
                      <a:lnTo>
                        <a:pt x="34" y="161"/>
                      </a:lnTo>
                      <a:lnTo>
                        <a:pt x="31" y="160"/>
                      </a:lnTo>
                      <a:lnTo>
                        <a:pt x="28" y="159"/>
                      </a:lnTo>
                      <a:lnTo>
                        <a:pt x="26" y="159"/>
                      </a:lnTo>
                      <a:lnTo>
                        <a:pt x="23" y="158"/>
                      </a:lnTo>
                      <a:lnTo>
                        <a:pt x="22" y="156"/>
                      </a:lnTo>
                      <a:lnTo>
                        <a:pt x="20" y="153"/>
                      </a:lnTo>
                      <a:lnTo>
                        <a:pt x="18" y="152"/>
                      </a:lnTo>
                      <a:lnTo>
                        <a:pt x="16" y="149"/>
                      </a:lnTo>
                      <a:lnTo>
                        <a:pt x="15" y="147"/>
                      </a:lnTo>
                      <a:lnTo>
                        <a:pt x="15" y="144"/>
                      </a:lnTo>
                      <a:lnTo>
                        <a:pt x="14" y="142"/>
                      </a:lnTo>
                      <a:lnTo>
                        <a:pt x="14" y="139"/>
                      </a:lnTo>
                      <a:lnTo>
                        <a:pt x="14" y="135"/>
                      </a:lnTo>
                      <a:lnTo>
                        <a:pt x="15" y="133"/>
                      </a:lnTo>
                      <a:lnTo>
                        <a:pt x="15" y="130"/>
                      </a:lnTo>
                      <a:lnTo>
                        <a:pt x="16" y="128"/>
                      </a:lnTo>
                      <a:lnTo>
                        <a:pt x="18" y="126"/>
                      </a:lnTo>
                      <a:lnTo>
                        <a:pt x="19" y="122"/>
                      </a:lnTo>
                      <a:lnTo>
                        <a:pt x="13" y="118"/>
                      </a:lnTo>
                      <a:lnTo>
                        <a:pt x="10" y="124"/>
                      </a:lnTo>
                      <a:lnTo>
                        <a:pt x="9" y="124"/>
                      </a:lnTo>
                      <a:lnTo>
                        <a:pt x="7" y="122"/>
                      </a:lnTo>
                      <a:lnTo>
                        <a:pt x="7" y="121"/>
                      </a:lnTo>
                      <a:lnTo>
                        <a:pt x="5" y="121"/>
                      </a:lnTo>
                      <a:lnTo>
                        <a:pt x="4" y="120"/>
                      </a:lnTo>
                      <a:lnTo>
                        <a:pt x="3" y="119"/>
                      </a:lnTo>
                      <a:lnTo>
                        <a:pt x="1" y="119"/>
                      </a:lnTo>
                      <a:lnTo>
                        <a:pt x="1" y="118"/>
                      </a:lnTo>
                      <a:lnTo>
                        <a:pt x="0" y="117"/>
                      </a:lnTo>
                      <a:lnTo>
                        <a:pt x="0" y="103"/>
                      </a:lnTo>
                      <a:lnTo>
                        <a:pt x="3" y="90"/>
                      </a:lnTo>
                      <a:lnTo>
                        <a:pt x="7" y="77"/>
                      </a:lnTo>
                      <a:lnTo>
                        <a:pt x="10" y="63"/>
                      </a:lnTo>
                      <a:lnTo>
                        <a:pt x="15" y="52"/>
                      </a:lnTo>
                      <a:lnTo>
                        <a:pt x="22" y="39"/>
                      </a:lnTo>
                      <a:lnTo>
                        <a:pt x="29" y="28"/>
                      </a:lnTo>
                      <a:lnTo>
                        <a:pt x="38" y="19"/>
                      </a:lnTo>
                      <a:lnTo>
                        <a:pt x="49" y="8"/>
                      </a:lnTo>
                      <a:lnTo>
                        <a:pt x="58" y="1"/>
                      </a:lnTo>
                      <a:lnTo>
                        <a:pt x="76" y="12"/>
                      </a:lnTo>
                      <a:lnTo>
                        <a:pt x="73" y="18"/>
                      </a:lnTo>
                      <a:lnTo>
                        <a:pt x="74" y="18"/>
                      </a:lnTo>
                      <a:lnTo>
                        <a:pt x="76" y="19"/>
                      </a:lnTo>
                      <a:lnTo>
                        <a:pt x="77" y="20"/>
                      </a:lnTo>
                      <a:lnTo>
                        <a:pt x="79" y="20"/>
                      </a:lnTo>
                      <a:lnTo>
                        <a:pt x="81" y="21"/>
                      </a:lnTo>
                      <a:lnTo>
                        <a:pt x="82" y="21"/>
                      </a:lnTo>
                      <a:lnTo>
                        <a:pt x="84" y="21"/>
                      </a:lnTo>
                      <a:lnTo>
                        <a:pt x="85" y="22"/>
                      </a:lnTo>
                      <a:lnTo>
                        <a:pt x="87" y="22"/>
                      </a:lnTo>
                      <a:lnTo>
                        <a:pt x="89" y="23"/>
                      </a:lnTo>
                      <a:lnTo>
                        <a:pt x="91" y="18"/>
                      </a:lnTo>
                      <a:lnTo>
                        <a:pt x="128" y="6"/>
                      </a:lnTo>
                      <a:lnTo>
                        <a:pt x="181" y="18"/>
                      </a:lnTo>
                      <a:lnTo>
                        <a:pt x="182" y="18"/>
                      </a:lnTo>
                      <a:lnTo>
                        <a:pt x="183" y="18"/>
                      </a:lnTo>
                      <a:lnTo>
                        <a:pt x="183" y="17"/>
                      </a:lnTo>
                      <a:lnTo>
                        <a:pt x="180" y="10"/>
                      </a:lnTo>
                      <a:lnTo>
                        <a:pt x="197" y="0"/>
                      </a:lnTo>
                      <a:lnTo>
                        <a:pt x="209" y="7"/>
                      </a:lnTo>
                      <a:lnTo>
                        <a:pt x="218" y="17"/>
                      </a:lnTo>
                      <a:lnTo>
                        <a:pt x="226" y="26"/>
                      </a:lnTo>
                      <a:lnTo>
                        <a:pt x="234" y="38"/>
                      </a:lnTo>
                      <a:lnTo>
                        <a:pt x="241" y="50"/>
                      </a:lnTo>
                      <a:lnTo>
                        <a:pt x="247" y="62"/>
                      </a:lnTo>
                      <a:lnTo>
                        <a:pt x="250" y="74"/>
                      </a:lnTo>
                      <a:lnTo>
                        <a:pt x="254" y="88"/>
                      </a:lnTo>
                      <a:lnTo>
                        <a:pt x="256" y="101"/>
                      </a:lnTo>
                      <a:lnTo>
                        <a:pt x="256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518" name="Freeform 1028"/>
                <p:cNvSpPr>
                  <a:spLocks/>
                </p:cNvSpPr>
                <p:nvPr/>
              </p:nvSpPr>
              <p:spPr bwMode="auto">
                <a:xfrm>
                  <a:off x="2524" y="2483"/>
                  <a:ext cx="256" cy="213"/>
                </a:xfrm>
                <a:custGeom>
                  <a:avLst/>
                  <a:gdLst>
                    <a:gd name="T0" fmla="*/ 253 w 256"/>
                    <a:gd name="T1" fmla="*/ 118 h 213"/>
                    <a:gd name="T2" fmla="*/ 249 w 256"/>
                    <a:gd name="T3" fmla="*/ 120 h 213"/>
                    <a:gd name="T4" fmla="*/ 245 w 256"/>
                    <a:gd name="T5" fmla="*/ 120 h 213"/>
                    <a:gd name="T6" fmla="*/ 243 w 256"/>
                    <a:gd name="T7" fmla="*/ 117 h 213"/>
                    <a:gd name="T8" fmla="*/ 228 w 256"/>
                    <a:gd name="T9" fmla="*/ 130 h 213"/>
                    <a:gd name="T10" fmla="*/ 228 w 256"/>
                    <a:gd name="T11" fmla="*/ 137 h 213"/>
                    <a:gd name="T12" fmla="*/ 228 w 256"/>
                    <a:gd name="T13" fmla="*/ 144 h 213"/>
                    <a:gd name="T14" fmla="*/ 223 w 256"/>
                    <a:gd name="T15" fmla="*/ 151 h 213"/>
                    <a:gd name="T16" fmla="*/ 217 w 256"/>
                    <a:gd name="T17" fmla="*/ 156 h 213"/>
                    <a:gd name="T18" fmla="*/ 203 w 256"/>
                    <a:gd name="T19" fmla="*/ 159 h 213"/>
                    <a:gd name="T20" fmla="*/ 200 w 256"/>
                    <a:gd name="T21" fmla="*/ 166 h 213"/>
                    <a:gd name="T22" fmla="*/ 196 w 256"/>
                    <a:gd name="T23" fmla="*/ 172 h 213"/>
                    <a:gd name="T24" fmla="*/ 191 w 256"/>
                    <a:gd name="T25" fmla="*/ 174 h 213"/>
                    <a:gd name="T26" fmla="*/ 184 w 256"/>
                    <a:gd name="T27" fmla="*/ 175 h 213"/>
                    <a:gd name="T28" fmla="*/ 180 w 256"/>
                    <a:gd name="T29" fmla="*/ 176 h 213"/>
                    <a:gd name="T30" fmla="*/ 174 w 256"/>
                    <a:gd name="T31" fmla="*/ 184 h 213"/>
                    <a:gd name="T32" fmla="*/ 164 w 256"/>
                    <a:gd name="T33" fmla="*/ 191 h 213"/>
                    <a:gd name="T34" fmla="*/ 154 w 256"/>
                    <a:gd name="T35" fmla="*/ 194 h 213"/>
                    <a:gd name="T36" fmla="*/ 151 w 256"/>
                    <a:gd name="T37" fmla="*/ 200 h 213"/>
                    <a:gd name="T38" fmla="*/ 145 w 256"/>
                    <a:gd name="T39" fmla="*/ 206 h 213"/>
                    <a:gd name="T40" fmla="*/ 135 w 256"/>
                    <a:gd name="T41" fmla="*/ 208 h 213"/>
                    <a:gd name="T42" fmla="*/ 125 w 256"/>
                    <a:gd name="T43" fmla="*/ 207 h 213"/>
                    <a:gd name="T44" fmla="*/ 119 w 256"/>
                    <a:gd name="T45" fmla="*/ 207 h 213"/>
                    <a:gd name="T46" fmla="*/ 113 w 256"/>
                    <a:gd name="T47" fmla="*/ 211 h 213"/>
                    <a:gd name="T48" fmla="*/ 104 w 256"/>
                    <a:gd name="T49" fmla="*/ 213 h 213"/>
                    <a:gd name="T50" fmla="*/ 96 w 256"/>
                    <a:gd name="T51" fmla="*/ 212 h 213"/>
                    <a:gd name="T52" fmla="*/ 89 w 256"/>
                    <a:gd name="T53" fmla="*/ 207 h 213"/>
                    <a:gd name="T54" fmla="*/ 81 w 256"/>
                    <a:gd name="T55" fmla="*/ 195 h 213"/>
                    <a:gd name="T56" fmla="*/ 71 w 256"/>
                    <a:gd name="T57" fmla="*/ 193 h 213"/>
                    <a:gd name="T58" fmla="*/ 62 w 256"/>
                    <a:gd name="T59" fmla="*/ 187 h 213"/>
                    <a:gd name="T60" fmla="*/ 59 w 256"/>
                    <a:gd name="T61" fmla="*/ 179 h 213"/>
                    <a:gd name="T62" fmla="*/ 54 w 256"/>
                    <a:gd name="T63" fmla="*/ 178 h 213"/>
                    <a:gd name="T64" fmla="*/ 49 w 256"/>
                    <a:gd name="T65" fmla="*/ 176 h 213"/>
                    <a:gd name="T66" fmla="*/ 42 w 256"/>
                    <a:gd name="T67" fmla="*/ 171 h 213"/>
                    <a:gd name="T68" fmla="*/ 39 w 256"/>
                    <a:gd name="T69" fmla="*/ 163 h 213"/>
                    <a:gd name="T70" fmla="*/ 31 w 256"/>
                    <a:gd name="T71" fmla="*/ 160 h 213"/>
                    <a:gd name="T72" fmla="*/ 22 w 256"/>
                    <a:gd name="T73" fmla="*/ 156 h 213"/>
                    <a:gd name="T74" fmla="*/ 15 w 256"/>
                    <a:gd name="T75" fmla="*/ 147 h 213"/>
                    <a:gd name="T76" fmla="*/ 14 w 256"/>
                    <a:gd name="T77" fmla="*/ 135 h 213"/>
                    <a:gd name="T78" fmla="*/ 18 w 256"/>
                    <a:gd name="T79" fmla="*/ 126 h 213"/>
                    <a:gd name="T80" fmla="*/ 9 w 256"/>
                    <a:gd name="T81" fmla="*/ 124 h 213"/>
                    <a:gd name="T82" fmla="*/ 5 w 256"/>
                    <a:gd name="T83" fmla="*/ 121 h 213"/>
                    <a:gd name="T84" fmla="*/ 1 w 256"/>
                    <a:gd name="T85" fmla="*/ 118 h 213"/>
                    <a:gd name="T86" fmla="*/ 7 w 256"/>
                    <a:gd name="T87" fmla="*/ 77 h 213"/>
                    <a:gd name="T88" fmla="*/ 29 w 256"/>
                    <a:gd name="T89" fmla="*/ 28 h 213"/>
                    <a:gd name="T90" fmla="*/ 76 w 256"/>
                    <a:gd name="T91" fmla="*/ 12 h 213"/>
                    <a:gd name="T92" fmla="*/ 77 w 256"/>
                    <a:gd name="T93" fmla="*/ 20 h 213"/>
                    <a:gd name="T94" fmla="*/ 84 w 256"/>
                    <a:gd name="T95" fmla="*/ 21 h 213"/>
                    <a:gd name="T96" fmla="*/ 91 w 256"/>
                    <a:gd name="T97" fmla="*/ 18 h 213"/>
                    <a:gd name="T98" fmla="*/ 183 w 256"/>
                    <a:gd name="T99" fmla="*/ 18 h 213"/>
                    <a:gd name="T100" fmla="*/ 209 w 256"/>
                    <a:gd name="T101" fmla="*/ 7 h 213"/>
                    <a:gd name="T102" fmla="*/ 241 w 256"/>
                    <a:gd name="T103" fmla="*/ 50 h 213"/>
                    <a:gd name="T104" fmla="*/ 256 w 256"/>
                    <a:gd name="T105" fmla="*/ 101 h 213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256"/>
                    <a:gd name="T160" fmla="*/ 0 h 213"/>
                    <a:gd name="T161" fmla="*/ 256 w 256"/>
                    <a:gd name="T162" fmla="*/ 213 h 213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256" h="213">
                      <a:moveTo>
                        <a:pt x="256" y="116"/>
                      </a:moveTo>
                      <a:lnTo>
                        <a:pt x="255" y="116"/>
                      </a:lnTo>
                      <a:lnTo>
                        <a:pt x="254" y="117"/>
                      </a:lnTo>
                      <a:lnTo>
                        <a:pt x="253" y="118"/>
                      </a:lnTo>
                      <a:lnTo>
                        <a:pt x="252" y="118"/>
                      </a:lnTo>
                      <a:lnTo>
                        <a:pt x="252" y="119"/>
                      </a:lnTo>
                      <a:lnTo>
                        <a:pt x="250" y="119"/>
                      </a:lnTo>
                      <a:lnTo>
                        <a:pt x="249" y="120"/>
                      </a:lnTo>
                      <a:lnTo>
                        <a:pt x="247" y="121"/>
                      </a:lnTo>
                      <a:lnTo>
                        <a:pt x="245" y="121"/>
                      </a:lnTo>
                      <a:lnTo>
                        <a:pt x="245" y="120"/>
                      </a:lnTo>
                      <a:lnTo>
                        <a:pt x="244" y="120"/>
                      </a:lnTo>
                      <a:lnTo>
                        <a:pt x="244" y="119"/>
                      </a:lnTo>
                      <a:lnTo>
                        <a:pt x="243" y="118"/>
                      </a:lnTo>
                      <a:lnTo>
                        <a:pt x="243" y="117"/>
                      </a:lnTo>
                      <a:lnTo>
                        <a:pt x="242" y="116"/>
                      </a:lnTo>
                      <a:lnTo>
                        <a:pt x="228" y="126"/>
                      </a:lnTo>
                      <a:lnTo>
                        <a:pt x="228" y="128"/>
                      </a:lnTo>
                      <a:lnTo>
                        <a:pt x="228" y="130"/>
                      </a:lnTo>
                      <a:lnTo>
                        <a:pt x="228" y="131"/>
                      </a:lnTo>
                      <a:lnTo>
                        <a:pt x="228" y="133"/>
                      </a:lnTo>
                      <a:lnTo>
                        <a:pt x="228" y="135"/>
                      </a:lnTo>
                      <a:lnTo>
                        <a:pt x="228" y="137"/>
                      </a:lnTo>
                      <a:lnTo>
                        <a:pt x="228" y="139"/>
                      </a:lnTo>
                      <a:lnTo>
                        <a:pt x="228" y="142"/>
                      </a:lnTo>
                      <a:lnTo>
                        <a:pt x="228" y="144"/>
                      </a:lnTo>
                      <a:lnTo>
                        <a:pt x="226" y="147"/>
                      </a:lnTo>
                      <a:lnTo>
                        <a:pt x="225" y="148"/>
                      </a:lnTo>
                      <a:lnTo>
                        <a:pt x="224" y="150"/>
                      </a:lnTo>
                      <a:lnTo>
                        <a:pt x="223" y="151"/>
                      </a:lnTo>
                      <a:lnTo>
                        <a:pt x="222" y="152"/>
                      </a:lnTo>
                      <a:lnTo>
                        <a:pt x="219" y="153"/>
                      </a:lnTo>
                      <a:lnTo>
                        <a:pt x="218" y="156"/>
                      </a:lnTo>
                      <a:lnTo>
                        <a:pt x="217" y="156"/>
                      </a:lnTo>
                      <a:lnTo>
                        <a:pt x="215" y="157"/>
                      </a:lnTo>
                      <a:lnTo>
                        <a:pt x="213" y="158"/>
                      </a:lnTo>
                      <a:lnTo>
                        <a:pt x="206" y="158"/>
                      </a:lnTo>
                      <a:lnTo>
                        <a:pt x="203" y="159"/>
                      </a:lnTo>
                      <a:lnTo>
                        <a:pt x="203" y="161"/>
                      </a:lnTo>
                      <a:lnTo>
                        <a:pt x="202" y="163"/>
                      </a:lnTo>
                      <a:lnTo>
                        <a:pt x="201" y="165"/>
                      </a:lnTo>
                      <a:lnTo>
                        <a:pt x="200" y="166"/>
                      </a:lnTo>
                      <a:lnTo>
                        <a:pt x="199" y="167"/>
                      </a:lnTo>
                      <a:lnTo>
                        <a:pt x="198" y="169"/>
                      </a:lnTo>
                      <a:lnTo>
                        <a:pt x="197" y="171"/>
                      </a:lnTo>
                      <a:lnTo>
                        <a:pt x="196" y="172"/>
                      </a:lnTo>
                      <a:lnTo>
                        <a:pt x="194" y="173"/>
                      </a:lnTo>
                      <a:lnTo>
                        <a:pt x="193" y="173"/>
                      </a:lnTo>
                      <a:lnTo>
                        <a:pt x="192" y="174"/>
                      </a:lnTo>
                      <a:lnTo>
                        <a:pt x="191" y="174"/>
                      </a:lnTo>
                      <a:lnTo>
                        <a:pt x="190" y="174"/>
                      </a:lnTo>
                      <a:lnTo>
                        <a:pt x="188" y="174"/>
                      </a:lnTo>
                      <a:lnTo>
                        <a:pt x="186" y="175"/>
                      </a:lnTo>
                      <a:lnTo>
                        <a:pt x="184" y="175"/>
                      </a:lnTo>
                      <a:lnTo>
                        <a:pt x="183" y="175"/>
                      </a:lnTo>
                      <a:lnTo>
                        <a:pt x="182" y="174"/>
                      </a:lnTo>
                      <a:lnTo>
                        <a:pt x="181" y="174"/>
                      </a:lnTo>
                      <a:lnTo>
                        <a:pt x="180" y="176"/>
                      </a:lnTo>
                      <a:lnTo>
                        <a:pt x="179" y="179"/>
                      </a:lnTo>
                      <a:lnTo>
                        <a:pt x="177" y="182"/>
                      </a:lnTo>
                      <a:lnTo>
                        <a:pt x="176" y="184"/>
                      </a:lnTo>
                      <a:lnTo>
                        <a:pt x="174" y="184"/>
                      </a:lnTo>
                      <a:lnTo>
                        <a:pt x="171" y="188"/>
                      </a:lnTo>
                      <a:lnTo>
                        <a:pt x="170" y="189"/>
                      </a:lnTo>
                      <a:lnTo>
                        <a:pt x="167" y="190"/>
                      </a:lnTo>
                      <a:lnTo>
                        <a:pt x="164" y="191"/>
                      </a:lnTo>
                      <a:lnTo>
                        <a:pt x="162" y="191"/>
                      </a:lnTo>
                      <a:lnTo>
                        <a:pt x="155" y="191"/>
                      </a:lnTo>
                      <a:lnTo>
                        <a:pt x="155" y="192"/>
                      </a:lnTo>
                      <a:lnTo>
                        <a:pt x="154" y="194"/>
                      </a:lnTo>
                      <a:lnTo>
                        <a:pt x="154" y="195"/>
                      </a:lnTo>
                      <a:lnTo>
                        <a:pt x="153" y="197"/>
                      </a:lnTo>
                      <a:lnTo>
                        <a:pt x="152" y="198"/>
                      </a:lnTo>
                      <a:lnTo>
                        <a:pt x="151" y="200"/>
                      </a:lnTo>
                      <a:lnTo>
                        <a:pt x="150" y="203"/>
                      </a:lnTo>
                      <a:lnTo>
                        <a:pt x="148" y="204"/>
                      </a:lnTo>
                      <a:lnTo>
                        <a:pt x="146" y="205"/>
                      </a:lnTo>
                      <a:lnTo>
                        <a:pt x="145" y="206"/>
                      </a:lnTo>
                      <a:lnTo>
                        <a:pt x="143" y="207"/>
                      </a:lnTo>
                      <a:lnTo>
                        <a:pt x="140" y="208"/>
                      </a:lnTo>
                      <a:lnTo>
                        <a:pt x="137" y="208"/>
                      </a:lnTo>
                      <a:lnTo>
                        <a:pt x="135" y="208"/>
                      </a:lnTo>
                      <a:lnTo>
                        <a:pt x="133" y="208"/>
                      </a:lnTo>
                      <a:lnTo>
                        <a:pt x="131" y="208"/>
                      </a:lnTo>
                      <a:lnTo>
                        <a:pt x="129" y="207"/>
                      </a:lnTo>
                      <a:lnTo>
                        <a:pt x="125" y="207"/>
                      </a:lnTo>
                      <a:lnTo>
                        <a:pt x="123" y="205"/>
                      </a:lnTo>
                      <a:lnTo>
                        <a:pt x="121" y="204"/>
                      </a:lnTo>
                      <a:lnTo>
                        <a:pt x="120" y="206"/>
                      </a:lnTo>
                      <a:lnTo>
                        <a:pt x="119" y="207"/>
                      </a:lnTo>
                      <a:lnTo>
                        <a:pt x="117" y="208"/>
                      </a:lnTo>
                      <a:lnTo>
                        <a:pt x="116" y="210"/>
                      </a:lnTo>
                      <a:lnTo>
                        <a:pt x="115" y="210"/>
                      </a:lnTo>
                      <a:lnTo>
                        <a:pt x="113" y="211"/>
                      </a:lnTo>
                      <a:lnTo>
                        <a:pt x="110" y="212"/>
                      </a:lnTo>
                      <a:lnTo>
                        <a:pt x="109" y="213"/>
                      </a:lnTo>
                      <a:lnTo>
                        <a:pt x="106" y="213"/>
                      </a:lnTo>
                      <a:lnTo>
                        <a:pt x="104" y="213"/>
                      </a:lnTo>
                      <a:lnTo>
                        <a:pt x="102" y="213"/>
                      </a:lnTo>
                      <a:lnTo>
                        <a:pt x="100" y="213"/>
                      </a:lnTo>
                      <a:lnTo>
                        <a:pt x="98" y="213"/>
                      </a:lnTo>
                      <a:lnTo>
                        <a:pt x="96" y="212"/>
                      </a:lnTo>
                      <a:lnTo>
                        <a:pt x="93" y="211"/>
                      </a:lnTo>
                      <a:lnTo>
                        <a:pt x="92" y="210"/>
                      </a:lnTo>
                      <a:lnTo>
                        <a:pt x="90" y="209"/>
                      </a:lnTo>
                      <a:lnTo>
                        <a:pt x="89" y="207"/>
                      </a:lnTo>
                      <a:lnTo>
                        <a:pt x="87" y="206"/>
                      </a:lnTo>
                      <a:lnTo>
                        <a:pt x="85" y="204"/>
                      </a:lnTo>
                      <a:lnTo>
                        <a:pt x="83" y="196"/>
                      </a:lnTo>
                      <a:lnTo>
                        <a:pt x="81" y="195"/>
                      </a:lnTo>
                      <a:lnTo>
                        <a:pt x="77" y="195"/>
                      </a:lnTo>
                      <a:lnTo>
                        <a:pt x="75" y="195"/>
                      </a:lnTo>
                      <a:lnTo>
                        <a:pt x="73" y="194"/>
                      </a:lnTo>
                      <a:lnTo>
                        <a:pt x="71" y="193"/>
                      </a:lnTo>
                      <a:lnTo>
                        <a:pt x="68" y="192"/>
                      </a:lnTo>
                      <a:lnTo>
                        <a:pt x="66" y="190"/>
                      </a:lnTo>
                      <a:lnTo>
                        <a:pt x="63" y="189"/>
                      </a:lnTo>
                      <a:lnTo>
                        <a:pt x="62" y="187"/>
                      </a:lnTo>
                      <a:lnTo>
                        <a:pt x="61" y="182"/>
                      </a:lnTo>
                      <a:lnTo>
                        <a:pt x="60" y="180"/>
                      </a:lnTo>
                      <a:lnTo>
                        <a:pt x="59" y="179"/>
                      </a:lnTo>
                      <a:lnTo>
                        <a:pt x="58" y="178"/>
                      </a:lnTo>
                      <a:lnTo>
                        <a:pt x="57" y="178"/>
                      </a:lnTo>
                      <a:lnTo>
                        <a:pt x="55" y="178"/>
                      </a:lnTo>
                      <a:lnTo>
                        <a:pt x="54" y="178"/>
                      </a:lnTo>
                      <a:lnTo>
                        <a:pt x="52" y="178"/>
                      </a:lnTo>
                      <a:lnTo>
                        <a:pt x="51" y="177"/>
                      </a:lnTo>
                      <a:lnTo>
                        <a:pt x="49" y="177"/>
                      </a:lnTo>
                      <a:lnTo>
                        <a:pt x="49" y="176"/>
                      </a:lnTo>
                      <a:lnTo>
                        <a:pt x="45" y="175"/>
                      </a:lnTo>
                      <a:lnTo>
                        <a:pt x="44" y="174"/>
                      </a:lnTo>
                      <a:lnTo>
                        <a:pt x="43" y="173"/>
                      </a:lnTo>
                      <a:lnTo>
                        <a:pt x="42" y="171"/>
                      </a:lnTo>
                      <a:lnTo>
                        <a:pt x="41" y="169"/>
                      </a:lnTo>
                      <a:lnTo>
                        <a:pt x="40" y="167"/>
                      </a:lnTo>
                      <a:lnTo>
                        <a:pt x="40" y="166"/>
                      </a:lnTo>
                      <a:lnTo>
                        <a:pt x="39" y="163"/>
                      </a:lnTo>
                      <a:lnTo>
                        <a:pt x="38" y="161"/>
                      </a:lnTo>
                      <a:lnTo>
                        <a:pt x="36" y="161"/>
                      </a:lnTo>
                      <a:lnTo>
                        <a:pt x="34" y="161"/>
                      </a:lnTo>
                      <a:lnTo>
                        <a:pt x="31" y="160"/>
                      </a:lnTo>
                      <a:lnTo>
                        <a:pt x="28" y="159"/>
                      </a:lnTo>
                      <a:lnTo>
                        <a:pt x="26" y="159"/>
                      </a:lnTo>
                      <a:lnTo>
                        <a:pt x="23" y="158"/>
                      </a:lnTo>
                      <a:lnTo>
                        <a:pt x="22" y="156"/>
                      </a:lnTo>
                      <a:lnTo>
                        <a:pt x="20" y="153"/>
                      </a:lnTo>
                      <a:lnTo>
                        <a:pt x="18" y="152"/>
                      </a:lnTo>
                      <a:lnTo>
                        <a:pt x="16" y="149"/>
                      </a:lnTo>
                      <a:lnTo>
                        <a:pt x="15" y="147"/>
                      </a:lnTo>
                      <a:lnTo>
                        <a:pt x="15" y="144"/>
                      </a:lnTo>
                      <a:lnTo>
                        <a:pt x="14" y="142"/>
                      </a:lnTo>
                      <a:lnTo>
                        <a:pt x="14" y="139"/>
                      </a:lnTo>
                      <a:lnTo>
                        <a:pt x="14" y="135"/>
                      </a:lnTo>
                      <a:lnTo>
                        <a:pt x="15" y="133"/>
                      </a:lnTo>
                      <a:lnTo>
                        <a:pt x="15" y="130"/>
                      </a:lnTo>
                      <a:lnTo>
                        <a:pt x="16" y="128"/>
                      </a:lnTo>
                      <a:lnTo>
                        <a:pt x="18" y="126"/>
                      </a:lnTo>
                      <a:lnTo>
                        <a:pt x="19" y="122"/>
                      </a:lnTo>
                      <a:lnTo>
                        <a:pt x="13" y="118"/>
                      </a:lnTo>
                      <a:lnTo>
                        <a:pt x="10" y="124"/>
                      </a:lnTo>
                      <a:lnTo>
                        <a:pt x="9" y="124"/>
                      </a:lnTo>
                      <a:lnTo>
                        <a:pt x="7" y="122"/>
                      </a:lnTo>
                      <a:lnTo>
                        <a:pt x="7" y="121"/>
                      </a:lnTo>
                      <a:lnTo>
                        <a:pt x="5" y="121"/>
                      </a:lnTo>
                      <a:lnTo>
                        <a:pt x="4" y="120"/>
                      </a:lnTo>
                      <a:lnTo>
                        <a:pt x="3" y="119"/>
                      </a:lnTo>
                      <a:lnTo>
                        <a:pt x="1" y="119"/>
                      </a:lnTo>
                      <a:lnTo>
                        <a:pt x="1" y="118"/>
                      </a:lnTo>
                      <a:lnTo>
                        <a:pt x="0" y="117"/>
                      </a:lnTo>
                      <a:lnTo>
                        <a:pt x="0" y="103"/>
                      </a:lnTo>
                      <a:lnTo>
                        <a:pt x="3" y="90"/>
                      </a:lnTo>
                      <a:lnTo>
                        <a:pt x="7" y="77"/>
                      </a:lnTo>
                      <a:lnTo>
                        <a:pt x="10" y="63"/>
                      </a:lnTo>
                      <a:lnTo>
                        <a:pt x="15" y="52"/>
                      </a:lnTo>
                      <a:lnTo>
                        <a:pt x="22" y="39"/>
                      </a:lnTo>
                      <a:lnTo>
                        <a:pt x="29" y="28"/>
                      </a:lnTo>
                      <a:lnTo>
                        <a:pt x="38" y="19"/>
                      </a:lnTo>
                      <a:lnTo>
                        <a:pt x="49" y="8"/>
                      </a:lnTo>
                      <a:lnTo>
                        <a:pt x="58" y="1"/>
                      </a:lnTo>
                      <a:lnTo>
                        <a:pt x="76" y="12"/>
                      </a:lnTo>
                      <a:lnTo>
                        <a:pt x="73" y="18"/>
                      </a:lnTo>
                      <a:lnTo>
                        <a:pt x="74" y="18"/>
                      </a:lnTo>
                      <a:lnTo>
                        <a:pt x="76" y="19"/>
                      </a:lnTo>
                      <a:lnTo>
                        <a:pt x="77" y="20"/>
                      </a:lnTo>
                      <a:lnTo>
                        <a:pt x="79" y="20"/>
                      </a:lnTo>
                      <a:lnTo>
                        <a:pt x="81" y="21"/>
                      </a:lnTo>
                      <a:lnTo>
                        <a:pt x="82" y="21"/>
                      </a:lnTo>
                      <a:lnTo>
                        <a:pt x="84" y="21"/>
                      </a:lnTo>
                      <a:lnTo>
                        <a:pt x="85" y="22"/>
                      </a:lnTo>
                      <a:lnTo>
                        <a:pt x="87" y="22"/>
                      </a:lnTo>
                      <a:lnTo>
                        <a:pt x="89" y="23"/>
                      </a:lnTo>
                      <a:lnTo>
                        <a:pt x="91" y="18"/>
                      </a:lnTo>
                      <a:lnTo>
                        <a:pt x="128" y="6"/>
                      </a:lnTo>
                      <a:lnTo>
                        <a:pt x="181" y="18"/>
                      </a:lnTo>
                      <a:lnTo>
                        <a:pt x="182" y="18"/>
                      </a:lnTo>
                      <a:lnTo>
                        <a:pt x="183" y="18"/>
                      </a:lnTo>
                      <a:lnTo>
                        <a:pt x="183" y="17"/>
                      </a:lnTo>
                      <a:lnTo>
                        <a:pt x="180" y="10"/>
                      </a:lnTo>
                      <a:lnTo>
                        <a:pt x="197" y="0"/>
                      </a:lnTo>
                      <a:lnTo>
                        <a:pt x="209" y="7"/>
                      </a:lnTo>
                      <a:lnTo>
                        <a:pt x="218" y="17"/>
                      </a:lnTo>
                      <a:lnTo>
                        <a:pt x="226" y="26"/>
                      </a:lnTo>
                      <a:lnTo>
                        <a:pt x="234" y="38"/>
                      </a:lnTo>
                      <a:lnTo>
                        <a:pt x="241" y="50"/>
                      </a:lnTo>
                      <a:lnTo>
                        <a:pt x="247" y="62"/>
                      </a:lnTo>
                      <a:lnTo>
                        <a:pt x="250" y="74"/>
                      </a:lnTo>
                      <a:lnTo>
                        <a:pt x="254" y="88"/>
                      </a:lnTo>
                      <a:lnTo>
                        <a:pt x="256" y="101"/>
                      </a:lnTo>
                      <a:lnTo>
                        <a:pt x="256" y="116"/>
                      </a:lnTo>
                    </a:path>
                  </a:pathLst>
                </a:custGeom>
                <a:no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519" name="Freeform 1029"/>
                <p:cNvSpPr>
                  <a:spLocks/>
                </p:cNvSpPr>
                <p:nvPr/>
              </p:nvSpPr>
              <p:spPr bwMode="auto">
                <a:xfrm>
                  <a:off x="2715" y="2488"/>
                  <a:ext cx="63" cy="107"/>
                </a:xfrm>
                <a:custGeom>
                  <a:avLst/>
                  <a:gdLst>
                    <a:gd name="T0" fmla="*/ 63 w 63"/>
                    <a:gd name="T1" fmla="*/ 104 h 107"/>
                    <a:gd name="T2" fmla="*/ 56 w 63"/>
                    <a:gd name="T3" fmla="*/ 107 h 107"/>
                    <a:gd name="T4" fmla="*/ 0 w 63"/>
                    <a:gd name="T5" fmla="*/ 7 h 107"/>
                    <a:gd name="T6" fmla="*/ 11 w 63"/>
                    <a:gd name="T7" fmla="*/ 0 h 107"/>
                    <a:gd name="T8" fmla="*/ 21 w 63"/>
                    <a:gd name="T9" fmla="*/ 7 h 107"/>
                    <a:gd name="T10" fmla="*/ 28 w 63"/>
                    <a:gd name="T11" fmla="*/ 16 h 107"/>
                    <a:gd name="T12" fmla="*/ 36 w 63"/>
                    <a:gd name="T13" fmla="*/ 25 h 107"/>
                    <a:gd name="T14" fmla="*/ 42 w 63"/>
                    <a:gd name="T15" fmla="*/ 35 h 107"/>
                    <a:gd name="T16" fmla="*/ 48 w 63"/>
                    <a:gd name="T17" fmla="*/ 45 h 107"/>
                    <a:gd name="T18" fmla="*/ 53 w 63"/>
                    <a:gd name="T19" fmla="*/ 56 h 107"/>
                    <a:gd name="T20" fmla="*/ 56 w 63"/>
                    <a:gd name="T21" fmla="*/ 67 h 107"/>
                    <a:gd name="T22" fmla="*/ 61 w 63"/>
                    <a:gd name="T23" fmla="*/ 78 h 107"/>
                    <a:gd name="T24" fmla="*/ 62 w 63"/>
                    <a:gd name="T25" fmla="*/ 91 h 107"/>
                    <a:gd name="T26" fmla="*/ 63 w 63"/>
                    <a:gd name="T27" fmla="*/ 104 h 10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63"/>
                    <a:gd name="T43" fmla="*/ 0 h 107"/>
                    <a:gd name="T44" fmla="*/ 63 w 63"/>
                    <a:gd name="T45" fmla="*/ 107 h 10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63" h="107">
                      <a:moveTo>
                        <a:pt x="63" y="104"/>
                      </a:moveTo>
                      <a:lnTo>
                        <a:pt x="56" y="107"/>
                      </a:lnTo>
                      <a:lnTo>
                        <a:pt x="0" y="7"/>
                      </a:lnTo>
                      <a:lnTo>
                        <a:pt x="11" y="0"/>
                      </a:lnTo>
                      <a:lnTo>
                        <a:pt x="21" y="7"/>
                      </a:lnTo>
                      <a:lnTo>
                        <a:pt x="28" y="16"/>
                      </a:lnTo>
                      <a:lnTo>
                        <a:pt x="36" y="25"/>
                      </a:lnTo>
                      <a:lnTo>
                        <a:pt x="42" y="35"/>
                      </a:lnTo>
                      <a:lnTo>
                        <a:pt x="48" y="45"/>
                      </a:lnTo>
                      <a:lnTo>
                        <a:pt x="53" y="56"/>
                      </a:lnTo>
                      <a:lnTo>
                        <a:pt x="56" y="67"/>
                      </a:lnTo>
                      <a:lnTo>
                        <a:pt x="61" y="78"/>
                      </a:lnTo>
                      <a:lnTo>
                        <a:pt x="62" y="91"/>
                      </a:lnTo>
                      <a:lnTo>
                        <a:pt x="63" y="10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520" name="Freeform 1030"/>
                <p:cNvSpPr>
                  <a:spLocks/>
                </p:cNvSpPr>
                <p:nvPr/>
              </p:nvSpPr>
              <p:spPr bwMode="auto">
                <a:xfrm>
                  <a:off x="2715" y="2488"/>
                  <a:ext cx="63" cy="107"/>
                </a:xfrm>
                <a:custGeom>
                  <a:avLst/>
                  <a:gdLst>
                    <a:gd name="T0" fmla="*/ 63 w 63"/>
                    <a:gd name="T1" fmla="*/ 104 h 107"/>
                    <a:gd name="T2" fmla="*/ 56 w 63"/>
                    <a:gd name="T3" fmla="*/ 107 h 107"/>
                    <a:gd name="T4" fmla="*/ 0 w 63"/>
                    <a:gd name="T5" fmla="*/ 7 h 107"/>
                    <a:gd name="T6" fmla="*/ 11 w 63"/>
                    <a:gd name="T7" fmla="*/ 0 h 107"/>
                    <a:gd name="T8" fmla="*/ 21 w 63"/>
                    <a:gd name="T9" fmla="*/ 7 h 107"/>
                    <a:gd name="T10" fmla="*/ 28 w 63"/>
                    <a:gd name="T11" fmla="*/ 16 h 107"/>
                    <a:gd name="T12" fmla="*/ 36 w 63"/>
                    <a:gd name="T13" fmla="*/ 25 h 107"/>
                    <a:gd name="T14" fmla="*/ 42 w 63"/>
                    <a:gd name="T15" fmla="*/ 35 h 107"/>
                    <a:gd name="T16" fmla="*/ 48 w 63"/>
                    <a:gd name="T17" fmla="*/ 45 h 107"/>
                    <a:gd name="T18" fmla="*/ 53 w 63"/>
                    <a:gd name="T19" fmla="*/ 56 h 107"/>
                    <a:gd name="T20" fmla="*/ 56 w 63"/>
                    <a:gd name="T21" fmla="*/ 67 h 107"/>
                    <a:gd name="T22" fmla="*/ 61 w 63"/>
                    <a:gd name="T23" fmla="*/ 78 h 107"/>
                    <a:gd name="T24" fmla="*/ 62 w 63"/>
                    <a:gd name="T25" fmla="*/ 91 h 107"/>
                    <a:gd name="T26" fmla="*/ 63 w 63"/>
                    <a:gd name="T27" fmla="*/ 104 h 10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63"/>
                    <a:gd name="T43" fmla="*/ 0 h 107"/>
                    <a:gd name="T44" fmla="*/ 63 w 63"/>
                    <a:gd name="T45" fmla="*/ 107 h 10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63" h="107">
                      <a:moveTo>
                        <a:pt x="63" y="104"/>
                      </a:moveTo>
                      <a:lnTo>
                        <a:pt x="56" y="107"/>
                      </a:lnTo>
                      <a:lnTo>
                        <a:pt x="0" y="7"/>
                      </a:lnTo>
                      <a:lnTo>
                        <a:pt x="11" y="0"/>
                      </a:lnTo>
                      <a:lnTo>
                        <a:pt x="21" y="7"/>
                      </a:lnTo>
                      <a:lnTo>
                        <a:pt x="28" y="16"/>
                      </a:lnTo>
                      <a:lnTo>
                        <a:pt x="36" y="25"/>
                      </a:lnTo>
                      <a:lnTo>
                        <a:pt x="42" y="35"/>
                      </a:lnTo>
                      <a:lnTo>
                        <a:pt x="48" y="45"/>
                      </a:lnTo>
                      <a:lnTo>
                        <a:pt x="53" y="56"/>
                      </a:lnTo>
                      <a:lnTo>
                        <a:pt x="56" y="67"/>
                      </a:lnTo>
                      <a:lnTo>
                        <a:pt x="61" y="78"/>
                      </a:lnTo>
                      <a:lnTo>
                        <a:pt x="62" y="91"/>
                      </a:lnTo>
                      <a:lnTo>
                        <a:pt x="63" y="104"/>
                      </a:lnTo>
                    </a:path>
                  </a:pathLst>
                </a:custGeom>
                <a:no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521" name="Freeform 1031"/>
                <p:cNvSpPr>
                  <a:spLocks/>
                </p:cNvSpPr>
                <p:nvPr/>
              </p:nvSpPr>
              <p:spPr bwMode="auto">
                <a:xfrm>
                  <a:off x="2527" y="2490"/>
                  <a:ext cx="63" cy="107"/>
                </a:xfrm>
                <a:custGeom>
                  <a:avLst/>
                  <a:gdLst>
                    <a:gd name="T0" fmla="*/ 63 w 63"/>
                    <a:gd name="T1" fmla="*/ 9 h 107"/>
                    <a:gd name="T2" fmla="*/ 5 w 63"/>
                    <a:gd name="T3" fmla="*/ 107 h 107"/>
                    <a:gd name="T4" fmla="*/ 4 w 63"/>
                    <a:gd name="T5" fmla="*/ 107 h 107"/>
                    <a:gd name="T6" fmla="*/ 3 w 63"/>
                    <a:gd name="T7" fmla="*/ 107 h 107"/>
                    <a:gd name="T8" fmla="*/ 2 w 63"/>
                    <a:gd name="T9" fmla="*/ 106 h 107"/>
                    <a:gd name="T10" fmla="*/ 1 w 63"/>
                    <a:gd name="T11" fmla="*/ 106 h 107"/>
                    <a:gd name="T12" fmla="*/ 1 w 63"/>
                    <a:gd name="T13" fmla="*/ 105 h 107"/>
                    <a:gd name="T14" fmla="*/ 0 w 63"/>
                    <a:gd name="T15" fmla="*/ 104 h 107"/>
                    <a:gd name="T16" fmla="*/ 1 w 63"/>
                    <a:gd name="T17" fmla="*/ 92 h 107"/>
                    <a:gd name="T18" fmla="*/ 2 w 63"/>
                    <a:gd name="T19" fmla="*/ 80 h 107"/>
                    <a:gd name="T20" fmla="*/ 5 w 63"/>
                    <a:gd name="T21" fmla="*/ 68 h 107"/>
                    <a:gd name="T22" fmla="*/ 8 w 63"/>
                    <a:gd name="T23" fmla="*/ 57 h 107"/>
                    <a:gd name="T24" fmla="*/ 12 w 63"/>
                    <a:gd name="T25" fmla="*/ 46 h 107"/>
                    <a:gd name="T26" fmla="*/ 19 w 63"/>
                    <a:gd name="T27" fmla="*/ 35 h 107"/>
                    <a:gd name="T28" fmla="*/ 25 w 63"/>
                    <a:gd name="T29" fmla="*/ 27 h 107"/>
                    <a:gd name="T30" fmla="*/ 32 w 63"/>
                    <a:gd name="T31" fmla="*/ 17 h 107"/>
                    <a:gd name="T32" fmla="*/ 40 w 63"/>
                    <a:gd name="T33" fmla="*/ 9 h 107"/>
                    <a:gd name="T34" fmla="*/ 49 w 63"/>
                    <a:gd name="T35" fmla="*/ 0 h 107"/>
                    <a:gd name="T36" fmla="*/ 50 w 63"/>
                    <a:gd name="T37" fmla="*/ 0 h 107"/>
                    <a:gd name="T38" fmla="*/ 52 w 63"/>
                    <a:gd name="T39" fmla="*/ 1 h 107"/>
                    <a:gd name="T40" fmla="*/ 54 w 63"/>
                    <a:gd name="T41" fmla="*/ 2 h 107"/>
                    <a:gd name="T42" fmla="*/ 54 w 63"/>
                    <a:gd name="T43" fmla="*/ 3 h 107"/>
                    <a:gd name="T44" fmla="*/ 56 w 63"/>
                    <a:gd name="T45" fmla="*/ 3 h 107"/>
                    <a:gd name="T46" fmla="*/ 57 w 63"/>
                    <a:gd name="T47" fmla="*/ 4 h 107"/>
                    <a:gd name="T48" fmla="*/ 58 w 63"/>
                    <a:gd name="T49" fmla="*/ 5 h 107"/>
                    <a:gd name="T50" fmla="*/ 60 w 63"/>
                    <a:gd name="T51" fmla="*/ 7 h 107"/>
                    <a:gd name="T52" fmla="*/ 62 w 63"/>
                    <a:gd name="T53" fmla="*/ 9 h 107"/>
                    <a:gd name="T54" fmla="*/ 63 w 63"/>
                    <a:gd name="T55" fmla="*/ 9 h 107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w 63"/>
                    <a:gd name="T85" fmla="*/ 0 h 107"/>
                    <a:gd name="T86" fmla="*/ 63 w 63"/>
                    <a:gd name="T87" fmla="*/ 107 h 107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T84" t="T85" r="T86" b="T87"/>
                  <a:pathLst>
                    <a:path w="63" h="107">
                      <a:moveTo>
                        <a:pt x="63" y="9"/>
                      </a:moveTo>
                      <a:lnTo>
                        <a:pt x="5" y="107"/>
                      </a:lnTo>
                      <a:lnTo>
                        <a:pt x="4" y="107"/>
                      </a:lnTo>
                      <a:lnTo>
                        <a:pt x="3" y="107"/>
                      </a:lnTo>
                      <a:lnTo>
                        <a:pt x="2" y="106"/>
                      </a:lnTo>
                      <a:lnTo>
                        <a:pt x="1" y="106"/>
                      </a:lnTo>
                      <a:lnTo>
                        <a:pt x="1" y="105"/>
                      </a:lnTo>
                      <a:lnTo>
                        <a:pt x="0" y="104"/>
                      </a:lnTo>
                      <a:lnTo>
                        <a:pt x="1" y="92"/>
                      </a:lnTo>
                      <a:lnTo>
                        <a:pt x="2" y="80"/>
                      </a:lnTo>
                      <a:lnTo>
                        <a:pt x="5" y="68"/>
                      </a:lnTo>
                      <a:lnTo>
                        <a:pt x="8" y="57"/>
                      </a:lnTo>
                      <a:lnTo>
                        <a:pt x="12" y="46"/>
                      </a:lnTo>
                      <a:lnTo>
                        <a:pt x="19" y="35"/>
                      </a:lnTo>
                      <a:lnTo>
                        <a:pt x="25" y="27"/>
                      </a:lnTo>
                      <a:lnTo>
                        <a:pt x="32" y="17"/>
                      </a:lnTo>
                      <a:lnTo>
                        <a:pt x="40" y="9"/>
                      </a:lnTo>
                      <a:lnTo>
                        <a:pt x="49" y="0"/>
                      </a:lnTo>
                      <a:lnTo>
                        <a:pt x="50" y="0"/>
                      </a:lnTo>
                      <a:lnTo>
                        <a:pt x="52" y="1"/>
                      </a:lnTo>
                      <a:lnTo>
                        <a:pt x="54" y="2"/>
                      </a:lnTo>
                      <a:lnTo>
                        <a:pt x="54" y="3"/>
                      </a:lnTo>
                      <a:lnTo>
                        <a:pt x="56" y="3"/>
                      </a:lnTo>
                      <a:lnTo>
                        <a:pt x="57" y="4"/>
                      </a:lnTo>
                      <a:lnTo>
                        <a:pt x="58" y="5"/>
                      </a:lnTo>
                      <a:lnTo>
                        <a:pt x="60" y="7"/>
                      </a:lnTo>
                      <a:lnTo>
                        <a:pt x="62" y="9"/>
                      </a:lnTo>
                      <a:lnTo>
                        <a:pt x="63" y="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522" name="Freeform 1032"/>
                <p:cNvSpPr>
                  <a:spLocks/>
                </p:cNvSpPr>
                <p:nvPr/>
              </p:nvSpPr>
              <p:spPr bwMode="auto">
                <a:xfrm>
                  <a:off x="2527" y="2490"/>
                  <a:ext cx="63" cy="107"/>
                </a:xfrm>
                <a:custGeom>
                  <a:avLst/>
                  <a:gdLst>
                    <a:gd name="T0" fmla="*/ 63 w 63"/>
                    <a:gd name="T1" fmla="*/ 9 h 107"/>
                    <a:gd name="T2" fmla="*/ 5 w 63"/>
                    <a:gd name="T3" fmla="*/ 107 h 107"/>
                    <a:gd name="T4" fmla="*/ 4 w 63"/>
                    <a:gd name="T5" fmla="*/ 107 h 107"/>
                    <a:gd name="T6" fmla="*/ 3 w 63"/>
                    <a:gd name="T7" fmla="*/ 107 h 107"/>
                    <a:gd name="T8" fmla="*/ 2 w 63"/>
                    <a:gd name="T9" fmla="*/ 106 h 107"/>
                    <a:gd name="T10" fmla="*/ 1 w 63"/>
                    <a:gd name="T11" fmla="*/ 106 h 107"/>
                    <a:gd name="T12" fmla="*/ 1 w 63"/>
                    <a:gd name="T13" fmla="*/ 105 h 107"/>
                    <a:gd name="T14" fmla="*/ 0 w 63"/>
                    <a:gd name="T15" fmla="*/ 104 h 107"/>
                    <a:gd name="T16" fmla="*/ 1 w 63"/>
                    <a:gd name="T17" fmla="*/ 92 h 107"/>
                    <a:gd name="T18" fmla="*/ 2 w 63"/>
                    <a:gd name="T19" fmla="*/ 80 h 107"/>
                    <a:gd name="T20" fmla="*/ 5 w 63"/>
                    <a:gd name="T21" fmla="*/ 68 h 107"/>
                    <a:gd name="T22" fmla="*/ 8 w 63"/>
                    <a:gd name="T23" fmla="*/ 57 h 107"/>
                    <a:gd name="T24" fmla="*/ 12 w 63"/>
                    <a:gd name="T25" fmla="*/ 46 h 107"/>
                    <a:gd name="T26" fmla="*/ 19 w 63"/>
                    <a:gd name="T27" fmla="*/ 35 h 107"/>
                    <a:gd name="T28" fmla="*/ 25 w 63"/>
                    <a:gd name="T29" fmla="*/ 27 h 107"/>
                    <a:gd name="T30" fmla="*/ 32 w 63"/>
                    <a:gd name="T31" fmla="*/ 17 h 107"/>
                    <a:gd name="T32" fmla="*/ 40 w 63"/>
                    <a:gd name="T33" fmla="*/ 9 h 107"/>
                    <a:gd name="T34" fmla="*/ 49 w 63"/>
                    <a:gd name="T35" fmla="*/ 0 h 107"/>
                    <a:gd name="T36" fmla="*/ 50 w 63"/>
                    <a:gd name="T37" fmla="*/ 0 h 107"/>
                    <a:gd name="T38" fmla="*/ 52 w 63"/>
                    <a:gd name="T39" fmla="*/ 1 h 107"/>
                    <a:gd name="T40" fmla="*/ 54 w 63"/>
                    <a:gd name="T41" fmla="*/ 2 h 107"/>
                    <a:gd name="T42" fmla="*/ 54 w 63"/>
                    <a:gd name="T43" fmla="*/ 3 h 107"/>
                    <a:gd name="T44" fmla="*/ 56 w 63"/>
                    <a:gd name="T45" fmla="*/ 3 h 107"/>
                    <a:gd name="T46" fmla="*/ 57 w 63"/>
                    <a:gd name="T47" fmla="*/ 4 h 107"/>
                    <a:gd name="T48" fmla="*/ 58 w 63"/>
                    <a:gd name="T49" fmla="*/ 5 h 107"/>
                    <a:gd name="T50" fmla="*/ 60 w 63"/>
                    <a:gd name="T51" fmla="*/ 7 h 107"/>
                    <a:gd name="T52" fmla="*/ 62 w 63"/>
                    <a:gd name="T53" fmla="*/ 9 h 107"/>
                    <a:gd name="T54" fmla="*/ 63 w 63"/>
                    <a:gd name="T55" fmla="*/ 9 h 107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w 63"/>
                    <a:gd name="T85" fmla="*/ 0 h 107"/>
                    <a:gd name="T86" fmla="*/ 63 w 63"/>
                    <a:gd name="T87" fmla="*/ 107 h 107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T84" t="T85" r="T86" b="T87"/>
                  <a:pathLst>
                    <a:path w="63" h="107">
                      <a:moveTo>
                        <a:pt x="63" y="9"/>
                      </a:moveTo>
                      <a:lnTo>
                        <a:pt x="5" y="107"/>
                      </a:lnTo>
                      <a:lnTo>
                        <a:pt x="4" y="107"/>
                      </a:lnTo>
                      <a:lnTo>
                        <a:pt x="3" y="107"/>
                      </a:lnTo>
                      <a:lnTo>
                        <a:pt x="2" y="106"/>
                      </a:lnTo>
                      <a:lnTo>
                        <a:pt x="1" y="106"/>
                      </a:lnTo>
                      <a:lnTo>
                        <a:pt x="1" y="105"/>
                      </a:lnTo>
                      <a:lnTo>
                        <a:pt x="0" y="104"/>
                      </a:lnTo>
                      <a:lnTo>
                        <a:pt x="1" y="92"/>
                      </a:lnTo>
                      <a:lnTo>
                        <a:pt x="2" y="80"/>
                      </a:lnTo>
                      <a:lnTo>
                        <a:pt x="5" y="68"/>
                      </a:lnTo>
                      <a:lnTo>
                        <a:pt x="8" y="57"/>
                      </a:lnTo>
                      <a:lnTo>
                        <a:pt x="12" y="46"/>
                      </a:lnTo>
                      <a:lnTo>
                        <a:pt x="19" y="35"/>
                      </a:lnTo>
                      <a:lnTo>
                        <a:pt x="25" y="27"/>
                      </a:lnTo>
                      <a:lnTo>
                        <a:pt x="32" y="17"/>
                      </a:lnTo>
                      <a:lnTo>
                        <a:pt x="40" y="9"/>
                      </a:lnTo>
                      <a:lnTo>
                        <a:pt x="49" y="0"/>
                      </a:lnTo>
                      <a:lnTo>
                        <a:pt x="50" y="0"/>
                      </a:lnTo>
                      <a:lnTo>
                        <a:pt x="52" y="1"/>
                      </a:lnTo>
                      <a:lnTo>
                        <a:pt x="54" y="2"/>
                      </a:lnTo>
                      <a:lnTo>
                        <a:pt x="54" y="3"/>
                      </a:lnTo>
                      <a:lnTo>
                        <a:pt x="56" y="3"/>
                      </a:lnTo>
                      <a:lnTo>
                        <a:pt x="57" y="4"/>
                      </a:lnTo>
                      <a:lnTo>
                        <a:pt x="58" y="5"/>
                      </a:lnTo>
                      <a:lnTo>
                        <a:pt x="60" y="7"/>
                      </a:lnTo>
                      <a:lnTo>
                        <a:pt x="62" y="9"/>
                      </a:lnTo>
                      <a:lnTo>
                        <a:pt x="63" y="9"/>
                      </a:lnTo>
                    </a:path>
                  </a:pathLst>
                </a:custGeom>
                <a:no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523" name="Freeform 1033"/>
                <p:cNvSpPr>
                  <a:spLocks/>
                </p:cNvSpPr>
                <p:nvPr/>
              </p:nvSpPr>
              <p:spPr bwMode="auto">
                <a:xfrm>
                  <a:off x="2603" y="2498"/>
                  <a:ext cx="162" cy="107"/>
                </a:xfrm>
                <a:custGeom>
                  <a:avLst/>
                  <a:gdLst>
                    <a:gd name="T0" fmla="*/ 102 w 162"/>
                    <a:gd name="T1" fmla="*/ 12 h 107"/>
                    <a:gd name="T2" fmla="*/ 104 w 162"/>
                    <a:gd name="T3" fmla="*/ 10 h 107"/>
                    <a:gd name="T4" fmla="*/ 106 w 162"/>
                    <a:gd name="T5" fmla="*/ 8 h 107"/>
                    <a:gd name="T6" fmla="*/ 108 w 162"/>
                    <a:gd name="T7" fmla="*/ 7 h 107"/>
                    <a:gd name="T8" fmla="*/ 111 w 162"/>
                    <a:gd name="T9" fmla="*/ 6 h 107"/>
                    <a:gd name="T10" fmla="*/ 162 w 162"/>
                    <a:gd name="T11" fmla="*/ 94 h 107"/>
                    <a:gd name="T12" fmla="*/ 158 w 162"/>
                    <a:gd name="T13" fmla="*/ 96 h 107"/>
                    <a:gd name="T14" fmla="*/ 153 w 162"/>
                    <a:gd name="T15" fmla="*/ 99 h 107"/>
                    <a:gd name="T16" fmla="*/ 149 w 162"/>
                    <a:gd name="T17" fmla="*/ 103 h 107"/>
                    <a:gd name="T18" fmla="*/ 145 w 162"/>
                    <a:gd name="T19" fmla="*/ 105 h 107"/>
                    <a:gd name="T20" fmla="*/ 140 w 162"/>
                    <a:gd name="T21" fmla="*/ 107 h 107"/>
                    <a:gd name="T22" fmla="*/ 128 w 162"/>
                    <a:gd name="T23" fmla="*/ 94 h 107"/>
                    <a:gd name="T24" fmla="*/ 116 w 162"/>
                    <a:gd name="T25" fmla="*/ 80 h 107"/>
                    <a:gd name="T26" fmla="*/ 104 w 162"/>
                    <a:gd name="T27" fmla="*/ 67 h 107"/>
                    <a:gd name="T28" fmla="*/ 91 w 162"/>
                    <a:gd name="T29" fmla="*/ 53 h 107"/>
                    <a:gd name="T30" fmla="*/ 78 w 162"/>
                    <a:gd name="T31" fmla="*/ 41 h 107"/>
                    <a:gd name="T32" fmla="*/ 73 w 162"/>
                    <a:gd name="T33" fmla="*/ 38 h 107"/>
                    <a:gd name="T34" fmla="*/ 66 w 162"/>
                    <a:gd name="T35" fmla="*/ 36 h 107"/>
                    <a:gd name="T36" fmla="*/ 60 w 162"/>
                    <a:gd name="T37" fmla="*/ 33 h 107"/>
                    <a:gd name="T38" fmla="*/ 55 w 162"/>
                    <a:gd name="T39" fmla="*/ 31 h 107"/>
                    <a:gd name="T40" fmla="*/ 48 w 162"/>
                    <a:gd name="T41" fmla="*/ 28 h 107"/>
                    <a:gd name="T42" fmla="*/ 50 w 162"/>
                    <a:gd name="T43" fmla="*/ 26 h 107"/>
                    <a:gd name="T44" fmla="*/ 50 w 162"/>
                    <a:gd name="T45" fmla="*/ 23 h 107"/>
                    <a:gd name="T46" fmla="*/ 44 w 162"/>
                    <a:gd name="T47" fmla="*/ 28 h 107"/>
                    <a:gd name="T48" fmla="*/ 36 w 162"/>
                    <a:gd name="T49" fmla="*/ 37 h 107"/>
                    <a:gd name="T50" fmla="*/ 26 w 162"/>
                    <a:gd name="T51" fmla="*/ 46 h 107"/>
                    <a:gd name="T52" fmla="*/ 18 w 162"/>
                    <a:gd name="T53" fmla="*/ 51 h 107"/>
                    <a:gd name="T54" fmla="*/ 6 w 162"/>
                    <a:gd name="T55" fmla="*/ 52 h 107"/>
                    <a:gd name="T56" fmla="*/ 11 w 162"/>
                    <a:gd name="T57" fmla="*/ 24 h 107"/>
                    <a:gd name="T58" fmla="*/ 13 w 162"/>
                    <a:gd name="T59" fmla="*/ 26 h 107"/>
                    <a:gd name="T60" fmla="*/ 15 w 162"/>
                    <a:gd name="T61" fmla="*/ 26 h 107"/>
                    <a:gd name="T62" fmla="*/ 17 w 162"/>
                    <a:gd name="T63" fmla="*/ 28 h 107"/>
                    <a:gd name="T64" fmla="*/ 17 w 162"/>
                    <a:gd name="T65" fmla="*/ 31 h 107"/>
                    <a:gd name="T66" fmla="*/ 18 w 162"/>
                    <a:gd name="T67" fmla="*/ 34 h 107"/>
                    <a:gd name="T68" fmla="*/ 17 w 162"/>
                    <a:gd name="T69" fmla="*/ 37 h 107"/>
                    <a:gd name="T70" fmla="*/ 14 w 162"/>
                    <a:gd name="T71" fmla="*/ 40 h 107"/>
                    <a:gd name="T72" fmla="*/ 13 w 162"/>
                    <a:gd name="T73" fmla="*/ 42 h 107"/>
                    <a:gd name="T74" fmla="*/ 11 w 162"/>
                    <a:gd name="T75" fmla="*/ 46 h 107"/>
                    <a:gd name="T76" fmla="*/ 14 w 162"/>
                    <a:gd name="T77" fmla="*/ 46 h 107"/>
                    <a:gd name="T78" fmla="*/ 15 w 162"/>
                    <a:gd name="T79" fmla="*/ 41 h 107"/>
                    <a:gd name="T80" fmla="*/ 18 w 162"/>
                    <a:gd name="T81" fmla="*/ 38 h 107"/>
                    <a:gd name="T82" fmla="*/ 19 w 162"/>
                    <a:gd name="T83" fmla="*/ 35 h 107"/>
                    <a:gd name="T84" fmla="*/ 20 w 162"/>
                    <a:gd name="T85" fmla="*/ 32 h 107"/>
                    <a:gd name="T86" fmla="*/ 19 w 162"/>
                    <a:gd name="T87" fmla="*/ 29 h 107"/>
                    <a:gd name="T88" fmla="*/ 18 w 162"/>
                    <a:gd name="T89" fmla="*/ 26 h 107"/>
                    <a:gd name="T90" fmla="*/ 17 w 162"/>
                    <a:gd name="T91" fmla="*/ 24 h 107"/>
                    <a:gd name="T92" fmla="*/ 14 w 162"/>
                    <a:gd name="T93" fmla="*/ 23 h 107"/>
                    <a:gd name="T94" fmla="*/ 19 w 162"/>
                    <a:gd name="T95" fmla="*/ 10 h 107"/>
                    <a:gd name="T96" fmla="*/ 101 w 162"/>
                    <a:gd name="T97" fmla="*/ 12 h 107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62"/>
                    <a:gd name="T148" fmla="*/ 0 h 107"/>
                    <a:gd name="T149" fmla="*/ 162 w 162"/>
                    <a:gd name="T150" fmla="*/ 107 h 107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62" h="107">
                      <a:moveTo>
                        <a:pt x="101" y="12"/>
                      </a:moveTo>
                      <a:lnTo>
                        <a:pt x="102" y="12"/>
                      </a:lnTo>
                      <a:lnTo>
                        <a:pt x="103" y="10"/>
                      </a:lnTo>
                      <a:lnTo>
                        <a:pt x="104" y="10"/>
                      </a:lnTo>
                      <a:lnTo>
                        <a:pt x="105" y="10"/>
                      </a:lnTo>
                      <a:lnTo>
                        <a:pt x="106" y="8"/>
                      </a:lnTo>
                      <a:lnTo>
                        <a:pt x="107" y="8"/>
                      </a:lnTo>
                      <a:lnTo>
                        <a:pt x="108" y="7"/>
                      </a:lnTo>
                      <a:lnTo>
                        <a:pt x="111" y="6"/>
                      </a:lnTo>
                      <a:lnTo>
                        <a:pt x="113" y="6"/>
                      </a:lnTo>
                      <a:lnTo>
                        <a:pt x="162" y="94"/>
                      </a:lnTo>
                      <a:lnTo>
                        <a:pt x="160" y="95"/>
                      </a:lnTo>
                      <a:lnTo>
                        <a:pt x="158" y="96"/>
                      </a:lnTo>
                      <a:lnTo>
                        <a:pt x="155" y="97"/>
                      </a:lnTo>
                      <a:lnTo>
                        <a:pt x="153" y="99"/>
                      </a:lnTo>
                      <a:lnTo>
                        <a:pt x="151" y="101"/>
                      </a:lnTo>
                      <a:lnTo>
                        <a:pt x="149" y="103"/>
                      </a:lnTo>
                      <a:lnTo>
                        <a:pt x="147" y="104"/>
                      </a:lnTo>
                      <a:lnTo>
                        <a:pt x="145" y="105"/>
                      </a:lnTo>
                      <a:lnTo>
                        <a:pt x="143" y="106"/>
                      </a:lnTo>
                      <a:lnTo>
                        <a:pt x="140" y="107"/>
                      </a:lnTo>
                      <a:lnTo>
                        <a:pt x="134" y="101"/>
                      </a:lnTo>
                      <a:lnTo>
                        <a:pt x="128" y="94"/>
                      </a:lnTo>
                      <a:lnTo>
                        <a:pt x="122" y="87"/>
                      </a:lnTo>
                      <a:lnTo>
                        <a:pt x="116" y="80"/>
                      </a:lnTo>
                      <a:lnTo>
                        <a:pt x="111" y="73"/>
                      </a:lnTo>
                      <a:lnTo>
                        <a:pt x="104" y="67"/>
                      </a:lnTo>
                      <a:lnTo>
                        <a:pt x="98" y="59"/>
                      </a:lnTo>
                      <a:lnTo>
                        <a:pt x="91" y="53"/>
                      </a:lnTo>
                      <a:lnTo>
                        <a:pt x="85" y="48"/>
                      </a:lnTo>
                      <a:lnTo>
                        <a:pt x="78" y="41"/>
                      </a:lnTo>
                      <a:lnTo>
                        <a:pt x="75" y="40"/>
                      </a:lnTo>
                      <a:lnTo>
                        <a:pt x="73" y="38"/>
                      </a:lnTo>
                      <a:lnTo>
                        <a:pt x="69" y="37"/>
                      </a:lnTo>
                      <a:lnTo>
                        <a:pt x="66" y="36"/>
                      </a:lnTo>
                      <a:lnTo>
                        <a:pt x="64" y="35"/>
                      </a:lnTo>
                      <a:lnTo>
                        <a:pt x="60" y="33"/>
                      </a:lnTo>
                      <a:lnTo>
                        <a:pt x="57" y="32"/>
                      </a:lnTo>
                      <a:lnTo>
                        <a:pt x="55" y="31"/>
                      </a:lnTo>
                      <a:lnTo>
                        <a:pt x="52" y="29"/>
                      </a:lnTo>
                      <a:lnTo>
                        <a:pt x="48" y="28"/>
                      </a:lnTo>
                      <a:lnTo>
                        <a:pt x="50" y="26"/>
                      </a:lnTo>
                      <a:lnTo>
                        <a:pt x="50" y="24"/>
                      </a:lnTo>
                      <a:lnTo>
                        <a:pt x="50" y="23"/>
                      </a:lnTo>
                      <a:lnTo>
                        <a:pt x="44" y="28"/>
                      </a:lnTo>
                      <a:lnTo>
                        <a:pt x="40" y="33"/>
                      </a:lnTo>
                      <a:lnTo>
                        <a:pt x="36" y="37"/>
                      </a:lnTo>
                      <a:lnTo>
                        <a:pt x="30" y="40"/>
                      </a:lnTo>
                      <a:lnTo>
                        <a:pt x="26" y="46"/>
                      </a:lnTo>
                      <a:lnTo>
                        <a:pt x="22" y="48"/>
                      </a:lnTo>
                      <a:lnTo>
                        <a:pt x="18" y="51"/>
                      </a:lnTo>
                      <a:lnTo>
                        <a:pt x="11" y="52"/>
                      </a:lnTo>
                      <a:lnTo>
                        <a:pt x="6" y="52"/>
                      </a:lnTo>
                      <a:lnTo>
                        <a:pt x="0" y="48"/>
                      </a:lnTo>
                      <a:lnTo>
                        <a:pt x="11" y="24"/>
                      </a:lnTo>
                      <a:lnTo>
                        <a:pt x="13" y="24"/>
                      </a:lnTo>
                      <a:lnTo>
                        <a:pt x="13" y="26"/>
                      </a:lnTo>
                      <a:lnTo>
                        <a:pt x="14" y="26"/>
                      </a:lnTo>
                      <a:lnTo>
                        <a:pt x="15" y="26"/>
                      </a:lnTo>
                      <a:lnTo>
                        <a:pt x="15" y="28"/>
                      </a:lnTo>
                      <a:lnTo>
                        <a:pt x="17" y="28"/>
                      </a:lnTo>
                      <a:lnTo>
                        <a:pt x="17" y="29"/>
                      </a:lnTo>
                      <a:lnTo>
                        <a:pt x="17" y="31"/>
                      </a:lnTo>
                      <a:lnTo>
                        <a:pt x="18" y="32"/>
                      </a:lnTo>
                      <a:lnTo>
                        <a:pt x="18" y="34"/>
                      </a:lnTo>
                      <a:lnTo>
                        <a:pt x="17" y="35"/>
                      </a:lnTo>
                      <a:lnTo>
                        <a:pt x="17" y="37"/>
                      </a:lnTo>
                      <a:lnTo>
                        <a:pt x="15" y="38"/>
                      </a:lnTo>
                      <a:lnTo>
                        <a:pt x="14" y="40"/>
                      </a:lnTo>
                      <a:lnTo>
                        <a:pt x="13" y="41"/>
                      </a:lnTo>
                      <a:lnTo>
                        <a:pt x="13" y="42"/>
                      </a:lnTo>
                      <a:lnTo>
                        <a:pt x="11" y="43"/>
                      </a:lnTo>
                      <a:lnTo>
                        <a:pt x="11" y="46"/>
                      </a:lnTo>
                      <a:lnTo>
                        <a:pt x="13" y="46"/>
                      </a:lnTo>
                      <a:lnTo>
                        <a:pt x="14" y="46"/>
                      </a:lnTo>
                      <a:lnTo>
                        <a:pt x="15" y="42"/>
                      </a:lnTo>
                      <a:lnTo>
                        <a:pt x="15" y="41"/>
                      </a:lnTo>
                      <a:lnTo>
                        <a:pt x="17" y="40"/>
                      </a:lnTo>
                      <a:lnTo>
                        <a:pt x="18" y="38"/>
                      </a:lnTo>
                      <a:lnTo>
                        <a:pt x="19" y="37"/>
                      </a:lnTo>
                      <a:lnTo>
                        <a:pt x="19" y="35"/>
                      </a:lnTo>
                      <a:lnTo>
                        <a:pt x="19" y="34"/>
                      </a:lnTo>
                      <a:lnTo>
                        <a:pt x="20" y="32"/>
                      </a:lnTo>
                      <a:lnTo>
                        <a:pt x="19" y="31"/>
                      </a:lnTo>
                      <a:lnTo>
                        <a:pt x="19" y="29"/>
                      </a:lnTo>
                      <a:lnTo>
                        <a:pt x="19" y="28"/>
                      </a:lnTo>
                      <a:lnTo>
                        <a:pt x="18" y="26"/>
                      </a:lnTo>
                      <a:lnTo>
                        <a:pt x="17" y="26"/>
                      </a:lnTo>
                      <a:lnTo>
                        <a:pt x="17" y="24"/>
                      </a:lnTo>
                      <a:lnTo>
                        <a:pt x="15" y="24"/>
                      </a:lnTo>
                      <a:lnTo>
                        <a:pt x="14" y="23"/>
                      </a:lnTo>
                      <a:lnTo>
                        <a:pt x="13" y="22"/>
                      </a:lnTo>
                      <a:lnTo>
                        <a:pt x="19" y="10"/>
                      </a:lnTo>
                      <a:lnTo>
                        <a:pt x="48" y="0"/>
                      </a:lnTo>
                      <a:lnTo>
                        <a:pt x="101" y="12"/>
                      </a:lnTo>
                      <a:close/>
                    </a:path>
                  </a:pathLst>
                </a:custGeom>
                <a:solidFill>
                  <a:srgbClr val="4A29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17524" name="Group 1034"/>
                <p:cNvGrpSpPr>
                  <a:grpSpLocks/>
                </p:cNvGrpSpPr>
                <p:nvPr/>
              </p:nvGrpSpPr>
              <p:grpSpPr bwMode="auto">
                <a:xfrm>
                  <a:off x="2603" y="2498"/>
                  <a:ext cx="162" cy="107"/>
                  <a:chOff x="2603" y="2498"/>
                  <a:chExt cx="162" cy="107"/>
                </a:xfrm>
              </p:grpSpPr>
              <p:sp>
                <p:nvSpPr>
                  <p:cNvPr id="17560" name="Freeform 1035"/>
                  <p:cNvSpPr>
                    <a:spLocks/>
                  </p:cNvSpPr>
                  <p:nvPr/>
                </p:nvSpPr>
                <p:spPr bwMode="auto">
                  <a:xfrm>
                    <a:off x="2603" y="2498"/>
                    <a:ext cx="162" cy="107"/>
                  </a:xfrm>
                  <a:custGeom>
                    <a:avLst/>
                    <a:gdLst>
                      <a:gd name="T0" fmla="*/ 102 w 162"/>
                      <a:gd name="T1" fmla="*/ 12 h 107"/>
                      <a:gd name="T2" fmla="*/ 104 w 162"/>
                      <a:gd name="T3" fmla="*/ 10 h 107"/>
                      <a:gd name="T4" fmla="*/ 106 w 162"/>
                      <a:gd name="T5" fmla="*/ 8 h 107"/>
                      <a:gd name="T6" fmla="*/ 108 w 162"/>
                      <a:gd name="T7" fmla="*/ 7 h 107"/>
                      <a:gd name="T8" fmla="*/ 111 w 162"/>
                      <a:gd name="T9" fmla="*/ 6 h 107"/>
                      <a:gd name="T10" fmla="*/ 162 w 162"/>
                      <a:gd name="T11" fmla="*/ 94 h 107"/>
                      <a:gd name="T12" fmla="*/ 158 w 162"/>
                      <a:gd name="T13" fmla="*/ 96 h 107"/>
                      <a:gd name="T14" fmla="*/ 153 w 162"/>
                      <a:gd name="T15" fmla="*/ 99 h 107"/>
                      <a:gd name="T16" fmla="*/ 149 w 162"/>
                      <a:gd name="T17" fmla="*/ 103 h 107"/>
                      <a:gd name="T18" fmla="*/ 145 w 162"/>
                      <a:gd name="T19" fmla="*/ 105 h 107"/>
                      <a:gd name="T20" fmla="*/ 140 w 162"/>
                      <a:gd name="T21" fmla="*/ 107 h 107"/>
                      <a:gd name="T22" fmla="*/ 128 w 162"/>
                      <a:gd name="T23" fmla="*/ 94 h 107"/>
                      <a:gd name="T24" fmla="*/ 116 w 162"/>
                      <a:gd name="T25" fmla="*/ 80 h 107"/>
                      <a:gd name="T26" fmla="*/ 104 w 162"/>
                      <a:gd name="T27" fmla="*/ 67 h 107"/>
                      <a:gd name="T28" fmla="*/ 91 w 162"/>
                      <a:gd name="T29" fmla="*/ 53 h 107"/>
                      <a:gd name="T30" fmla="*/ 78 w 162"/>
                      <a:gd name="T31" fmla="*/ 41 h 107"/>
                      <a:gd name="T32" fmla="*/ 73 w 162"/>
                      <a:gd name="T33" fmla="*/ 38 h 107"/>
                      <a:gd name="T34" fmla="*/ 66 w 162"/>
                      <a:gd name="T35" fmla="*/ 36 h 107"/>
                      <a:gd name="T36" fmla="*/ 60 w 162"/>
                      <a:gd name="T37" fmla="*/ 33 h 107"/>
                      <a:gd name="T38" fmla="*/ 55 w 162"/>
                      <a:gd name="T39" fmla="*/ 31 h 107"/>
                      <a:gd name="T40" fmla="*/ 48 w 162"/>
                      <a:gd name="T41" fmla="*/ 28 h 107"/>
                      <a:gd name="T42" fmla="*/ 50 w 162"/>
                      <a:gd name="T43" fmla="*/ 26 h 107"/>
                      <a:gd name="T44" fmla="*/ 50 w 162"/>
                      <a:gd name="T45" fmla="*/ 23 h 107"/>
                      <a:gd name="T46" fmla="*/ 44 w 162"/>
                      <a:gd name="T47" fmla="*/ 28 h 107"/>
                      <a:gd name="T48" fmla="*/ 36 w 162"/>
                      <a:gd name="T49" fmla="*/ 37 h 107"/>
                      <a:gd name="T50" fmla="*/ 26 w 162"/>
                      <a:gd name="T51" fmla="*/ 46 h 107"/>
                      <a:gd name="T52" fmla="*/ 18 w 162"/>
                      <a:gd name="T53" fmla="*/ 51 h 107"/>
                      <a:gd name="T54" fmla="*/ 6 w 162"/>
                      <a:gd name="T55" fmla="*/ 52 h 107"/>
                      <a:gd name="T56" fmla="*/ 11 w 162"/>
                      <a:gd name="T57" fmla="*/ 24 h 107"/>
                      <a:gd name="T58" fmla="*/ 13 w 162"/>
                      <a:gd name="T59" fmla="*/ 26 h 107"/>
                      <a:gd name="T60" fmla="*/ 15 w 162"/>
                      <a:gd name="T61" fmla="*/ 26 h 107"/>
                      <a:gd name="T62" fmla="*/ 17 w 162"/>
                      <a:gd name="T63" fmla="*/ 28 h 107"/>
                      <a:gd name="T64" fmla="*/ 17 w 162"/>
                      <a:gd name="T65" fmla="*/ 31 h 107"/>
                      <a:gd name="T66" fmla="*/ 18 w 162"/>
                      <a:gd name="T67" fmla="*/ 34 h 107"/>
                      <a:gd name="T68" fmla="*/ 17 w 162"/>
                      <a:gd name="T69" fmla="*/ 37 h 107"/>
                      <a:gd name="T70" fmla="*/ 14 w 162"/>
                      <a:gd name="T71" fmla="*/ 40 h 107"/>
                      <a:gd name="T72" fmla="*/ 13 w 162"/>
                      <a:gd name="T73" fmla="*/ 42 h 107"/>
                      <a:gd name="T74" fmla="*/ 11 w 162"/>
                      <a:gd name="T75" fmla="*/ 46 h 107"/>
                      <a:gd name="T76" fmla="*/ 14 w 162"/>
                      <a:gd name="T77" fmla="*/ 46 h 107"/>
                      <a:gd name="T78" fmla="*/ 15 w 162"/>
                      <a:gd name="T79" fmla="*/ 41 h 107"/>
                      <a:gd name="T80" fmla="*/ 18 w 162"/>
                      <a:gd name="T81" fmla="*/ 38 h 107"/>
                      <a:gd name="T82" fmla="*/ 19 w 162"/>
                      <a:gd name="T83" fmla="*/ 35 h 107"/>
                      <a:gd name="T84" fmla="*/ 20 w 162"/>
                      <a:gd name="T85" fmla="*/ 32 h 107"/>
                      <a:gd name="T86" fmla="*/ 19 w 162"/>
                      <a:gd name="T87" fmla="*/ 29 h 107"/>
                      <a:gd name="T88" fmla="*/ 18 w 162"/>
                      <a:gd name="T89" fmla="*/ 26 h 107"/>
                      <a:gd name="T90" fmla="*/ 17 w 162"/>
                      <a:gd name="T91" fmla="*/ 24 h 107"/>
                      <a:gd name="T92" fmla="*/ 14 w 162"/>
                      <a:gd name="T93" fmla="*/ 23 h 107"/>
                      <a:gd name="T94" fmla="*/ 19 w 162"/>
                      <a:gd name="T95" fmla="*/ 10 h 107"/>
                      <a:gd name="T96" fmla="*/ 101 w 162"/>
                      <a:gd name="T97" fmla="*/ 12 h 107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62"/>
                      <a:gd name="T148" fmla="*/ 0 h 107"/>
                      <a:gd name="T149" fmla="*/ 162 w 162"/>
                      <a:gd name="T150" fmla="*/ 107 h 107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62" h="107">
                        <a:moveTo>
                          <a:pt x="101" y="12"/>
                        </a:moveTo>
                        <a:lnTo>
                          <a:pt x="102" y="12"/>
                        </a:lnTo>
                        <a:lnTo>
                          <a:pt x="103" y="10"/>
                        </a:lnTo>
                        <a:lnTo>
                          <a:pt x="104" y="10"/>
                        </a:lnTo>
                        <a:lnTo>
                          <a:pt x="105" y="10"/>
                        </a:lnTo>
                        <a:lnTo>
                          <a:pt x="106" y="8"/>
                        </a:lnTo>
                        <a:lnTo>
                          <a:pt x="107" y="8"/>
                        </a:lnTo>
                        <a:lnTo>
                          <a:pt x="108" y="7"/>
                        </a:lnTo>
                        <a:lnTo>
                          <a:pt x="111" y="6"/>
                        </a:lnTo>
                        <a:lnTo>
                          <a:pt x="113" y="6"/>
                        </a:lnTo>
                        <a:lnTo>
                          <a:pt x="162" y="94"/>
                        </a:lnTo>
                        <a:lnTo>
                          <a:pt x="160" y="95"/>
                        </a:lnTo>
                        <a:lnTo>
                          <a:pt x="158" y="96"/>
                        </a:lnTo>
                        <a:lnTo>
                          <a:pt x="155" y="97"/>
                        </a:lnTo>
                        <a:lnTo>
                          <a:pt x="153" y="99"/>
                        </a:lnTo>
                        <a:lnTo>
                          <a:pt x="151" y="101"/>
                        </a:lnTo>
                        <a:lnTo>
                          <a:pt x="149" y="103"/>
                        </a:lnTo>
                        <a:lnTo>
                          <a:pt x="147" y="104"/>
                        </a:lnTo>
                        <a:lnTo>
                          <a:pt x="145" y="105"/>
                        </a:lnTo>
                        <a:lnTo>
                          <a:pt x="143" y="106"/>
                        </a:lnTo>
                        <a:lnTo>
                          <a:pt x="140" y="107"/>
                        </a:lnTo>
                        <a:lnTo>
                          <a:pt x="134" y="101"/>
                        </a:lnTo>
                        <a:lnTo>
                          <a:pt x="128" y="94"/>
                        </a:lnTo>
                        <a:lnTo>
                          <a:pt x="122" y="87"/>
                        </a:lnTo>
                        <a:lnTo>
                          <a:pt x="116" y="80"/>
                        </a:lnTo>
                        <a:lnTo>
                          <a:pt x="111" y="73"/>
                        </a:lnTo>
                        <a:lnTo>
                          <a:pt x="104" y="67"/>
                        </a:lnTo>
                        <a:lnTo>
                          <a:pt x="98" y="59"/>
                        </a:lnTo>
                        <a:lnTo>
                          <a:pt x="91" y="53"/>
                        </a:lnTo>
                        <a:lnTo>
                          <a:pt x="85" y="48"/>
                        </a:lnTo>
                        <a:lnTo>
                          <a:pt x="78" y="41"/>
                        </a:lnTo>
                        <a:lnTo>
                          <a:pt x="75" y="40"/>
                        </a:lnTo>
                        <a:lnTo>
                          <a:pt x="73" y="38"/>
                        </a:lnTo>
                        <a:lnTo>
                          <a:pt x="69" y="37"/>
                        </a:lnTo>
                        <a:lnTo>
                          <a:pt x="66" y="36"/>
                        </a:lnTo>
                        <a:lnTo>
                          <a:pt x="64" y="35"/>
                        </a:lnTo>
                        <a:lnTo>
                          <a:pt x="60" y="33"/>
                        </a:lnTo>
                        <a:lnTo>
                          <a:pt x="57" y="32"/>
                        </a:lnTo>
                        <a:lnTo>
                          <a:pt x="55" y="31"/>
                        </a:lnTo>
                        <a:lnTo>
                          <a:pt x="52" y="29"/>
                        </a:lnTo>
                        <a:lnTo>
                          <a:pt x="48" y="28"/>
                        </a:lnTo>
                        <a:lnTo>
                          <a:pt x="50" y="26"/>
                        </a:lnTo>
                        <a:lnTo>
                          <a:pt x="50" y="24"/>
                        </a:lnTo>
                        <a:lnTo>
                          <a:pt x="50" y="23"/>
                        </a:lnTo>
                        <a:lnTo>
                          <a:pt x="44" y="28"/>
                        </a:lnTo>
                        <a:lnTo>
                          <a:pt x="40" y="33"/>
                        </a:lnTo>
                        <a:lnTo>
                          <a:pt x="36" y="37"/>
                        </a:lnTo>
                        <a:lnTo>
                          <a:pt x="30" y="40"/>
                        </a:lnTo>
                        <a:lnTo>
                          <a:pt x="26" y="46"/>
                        </a:lnTo>
                        <a:lnTo>
                          <a:pt x="22" y="48"/>
                        </a:lnTo>
                        <a:lnTo>
                          <a:pt x="18" y="51"/>
                        </a:lnTo>
                        <a:lnTo>
                          <a:pt x="11" y="52"/>
                        </a:lnTo>
                        <a:lnTo>
                          <a:pt x="6" y="52"/>
                        </a:lnTo>
                        <a:lnTo>
                          <a:pt x="0" y="48"/>
                        </a:lnTo>
                        <a:lnTo>
                          <a:pt x="11" y="24"/>
                        </a:lnTo>
                        <a:lnTo>
                          <a:pt x="13" y="24"/>
                        </a:lnTo>
                        <a:lnTo>
                          <a:pt x="13" y="26"/>
                        </a:lnTo>
                        <a:lnTo>
                          <a:pt x="14" y="26"/>
                        </a:lnTo>
                        <a:lnTo>
                          <a:pt x="15" y="26"/>
                        </a:lnTo>
                        <a:lnTo>
                          <a:pt x="15" y="28"/>
                        </a:lnTo>
                        <a:lnTo>
                          <a:pt x="17" y="28"/>
                        </a:lnTo>
                        <a:lnTo>
                          <a:pt x="17" y="29"/>
                        </a:lnTo>
                        <a:lnTo>
                          <a:pt x="17" y="31"/>
                        </a:lnTo>
                        <a:lnTo>
                          <a:pt x="18" y="32"/>
                        </a:lnTo>
                        <a:lnTo>
                          <a:pt x="18" y="34"/>
                        </a:lnTo>
                        <a:lnTo>
                          <a:pt x="17" y="35"/>
                        </a:lnTo>
                        <a:lnTo>
                          <a:pt x="17" y="37"/>
                        </a:lnTo>
                        <a:lnTo>
                          <a:pt x="15" y="38"/>
                        </a:lnTo>
                        <a:lnTo>
                          <a:pt x="14" y="40"/>
                        </a:lnTo>
                        <a:lnTo>
                          <a:pt x="13" y="41"/>
                        </a:lnTo>
                        <a:lnTo>
                          <a:pt x="13" y="42"/>
                        </a:lnTo>
                        <a:lnTo>
                          <a:pt x="11" y="43"/>
                        </a:lnTo>
                        <a:lnTo>
                          <a:pt x="11" y="46"/>
                        </a:lnTo>
                        <a:lnTo>
                          <a:pt x="13" y="46"/>
                        </a:lnTo>
                        <a:lnTo>
                          <a:pt x="14" y="46"/>
                        </a:lnTo>
                        <a:lnTo>
                          <a:pt x="15" y="42"/>
                        </a:lnTo>
                        <a:lnTo>
                          <a:pt x="15" y="41"/>
                        </a:lnTo>
                        <a:lnTo>
                          <a:pt x="17" y="40"/>
                        </a:lnTo>
                        <a:lnTo>
                          <a:pt x="18" y="38"/>
                        </a:lnTo>
                        <a:lnTo>
                          <a:pt x="19" y="37"/>
                        </a:lnTo>
                        <a:lnTo>
                          <a:pt x="19" y="35"/>
                        </a:lnTo>
                        <a:lnTo>
                          <a:pt x="19" y="34"/>
                        </a:lnTo>
                        <a:lnTo>
                          <a:pt x="20" y="32"/>
                        </a:lnTo>
                        <a:lnTo>
                          <a:pt x="19" y="31"/>
                        </a:lnTo>
                        <a:lnTo>
                          <a:pt x="19" y="29"/>
                        </a:lnTo>
                        <a:lnTo>
                          <a:pt x="19" y="28"/>
                        </a:lnTo>
                        <a:lnTo>
                          <a:pt x="18" y="26"/>
                        </a:lnTo>
                        <a:lnTo>
                          <a:pt x="17" y="26"/>
                        </a:lnTo>
                        <a:lnTo>
                          <a:pt x="17" y="24"/>
                        </a:lnTo>
                        <a:lnTo>
                          <a:pt x="15" y="24"/>
                        </a:lnTo>
                        <a:lnTo>
                          <a:pt x="14" y="23"/>
                        </a:lnTo>
                        <a:lnTo>
                          <a:pt x="13" y="22"/>
                        </a:lnTo>
                        <a:lnTo>
                          <a:pt x="19" y="10"/>
                        </a:lnTo>
                        <a:lnTo>
                          <a:pt x="48" y="0"/>
                        </a:lnTo>
                        <a:lnTo>
                          <a:pt x="101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561" name="Freeform 1036"/>
                  <p:cNvSpPr>
                    <a:spLocks/>
                  </p:cNvSpPr>
                  <p:nvPr/>
                </p:nvSpPr>
                <p:spPr bwMode="auto">
                  <a:xfrm>
                    <a:off x="2603" y="2498"/>
                    <a:ext cx="162" cy="107"/>
                  </a:xfrm>
                  <a:custGeom>
                    <a:avLst/>
                    <a:gdLst>
                      <a:gd name="T0" fmla="*/ 102 w 162"/>
                      <a:gd name="T1" fmla="*/ 12 h 107"/>
                      <a:gd name="T2" fmla="*/ 104 w 162"/>
                      <a:gd name="T3" fmla="*/ 10 h 107"/>
                      <a:gd name="T4" fmla="*/ 106 w 162"/>
                      <a:gd name="T5" fmla="*/ 8 h 107"/>
                      <a:gd name="T6" fmla="*/ 108 w 162"/>
                      <a:gd name="T7" fmla="*/ 7 h 107"/>
                      <a:gd name="T8" fmla="*/ 111 w 162"/>
                      <a:gd name="T9" fmla="*/ 6 h 107"/>
                      <a:gd name="T10" fmla="*/ 162 w 162"/>
                      <a:gd name="T11" fmla="*/ 94 h 107"/>
                      <a:gd name="T12" fmla="*/ 158 w 162"/>
                      <a:gd name="T13" fmla="*/ 96 h 107"/>
                      <a:gd name="T14" fmla="*/ 153 w 162"/>
                      <a:gd name="T15" fmla="*/ 99 h 107"/>
                      <a:gd name="T16" fmla="*/ 149 w 162"/>
                      <a:gd name="T17" fmla="*/ 103 h 107"/>
                      <a:gd name="T18" fmla="*/ 145 w 162"/>
                      <a:gd name="T19" fmla="*/ 105 h 107"/>
                      <a:gd name="T20" fmla="*/ 140 w 162"/>
                      <a:gd name="T21" fmla="*/ 107 h 107"/>
                      <a:gd name="T22" fmla="*/ 128 w 162"/>
                      <a:gd name="T23" fmla="*/ 94 h 107"/>
                      <a:gd name="T24" fmla="*/ 116 w 162"/>
                      <a:gd name="T25" fmla="*/ 80 h 107"/>
                      <a:gd name="T26" fmla="*/ 104 w 162"/>
                      <a:gd name="T27" fmla="*/ 67 h 107"/>
                      <a:gd name="T28" fmla="*/ 91 w 162"/>
                      <a:gd name="T29" fmla="*/ 53 h 107"/>
                      <a:gd name="T30" fmla="*/ 78 w 162"/>
                      <a:gd name="T31" fmla="*/ 41 h 107"/>
                      <a:gd name="T32" fmla="*/ 73 w 162"/>
                      <a:gd name="T33" fmla="*/ 38 h 107"/>
                      <a:gd name="T34" fmla="*/ 66 w 162"/>
                      <a:gd name="T35" fmla="*/ 36 h 107"/>
                      <a:gd name="T36" fmla="*/ 60 w 162"/>
                      <a:gd name="T37" fmla="*/ 33 h 107"/>
                      <a:gd name="T38" fmla="*/ 55 w 162"/>
                      <a:gd name="T39" fmla="*/ 31 h 107"/>
                      <a:gd name="T40" fmla="*/ 48 w 162"/>
                      <a:gd name="T41" fmla="*/ 28 h 107"/>
                      <a:gd name="T42" fmla="*/ 50 w 162"/>
                      <a:gd name="T43" fmla="*/ 26 h 107"/>
                      <a:gd name="T44" fmla="*/ 50 w 162"/>
                      <a:gd name="T45" fmla="*/ 23 h 107"/>
                      <a:gd name="T46" fmla="*/ 44 w 162"/>
                      <a:gd name="T47" fmla="*/ 28 h 107"/>
                      <a:gd name="T48" fmla="*/ 36 w 162"/>
                      <a:gd name="T49" fmla="*/ 37 h 107"/>
                      <a:gd name="T50" fmla="*/ 26 w 162"/>
                      <a:gd name="T51" fmla="*/ 46 h 107"/>
                      <a:gd name="T52" fmla="*/ 18 w 162"/>
                      <a:gd name="T53" fmla="*/ 51 h 107"/>
                      <a:gd name="T54" fmla="*/ 6 w 162"/>
                      <a:gd name="T55" fmla="*/ 52 h 107"/>
                      <a:gd name="T56" fmla="*/ 11 w 162"/>
                      <a:gd name="T57" fmla="*/ 24 h 107"/>
                      <a:gd name="T58" fmla="*/ 13 w 162"/>
                      <a:gd name="T59" fmla="*/ 26 h 107"/>
                      <a:gd name="T60" fmla="*/ 15 w 162"/>
                      <a:gd name="T61" fmla="*/ 26 h 107"/>
                      <a:gd name="T62" fmla="*/ 17 w 162"/>
                      <a:gd name="T63" fmla="*/ 28 h 107"/>
                      <a:gd name="T64" fmla="*/ 17 w 162"/>
                      <a:gd name="T65" fmla="*/ 31 h 107"/>
                      <a:gd name="T66" fmla="*/ 18 w 162"/>
                      <a:gd name="T67" fmla="*/ 34 h 107"/>
                      <a:gd name="T68" fmla="*/ 17 w 162"/>
                      <a:gd name="T69" fmla="*/ 37 h 107"/>
                      <a:gd name="T70" fmla="*/ 14 w 162"/>
                      <a:gd name="T71" fmla="*/ 40 h 107"/>
                      <a:gd name="T72" fmla="*/ 13 w 162"/>
                      <a:gd name="T73" fmla="*/ 42 h 107"/>
                      <a:gd name="T74" fmla="*/ 11 w 162"/>
                      <a:gd name="T75" fmla="*/ 46 h 107"/>
                      <a:gd name="T76" fmla="*/ 14 w 162"/>
                      <a:gd name="T77" fmla="*/ 46 h 107"/>
                      <a:gd name="T78" fmla="*/ 15 w 162"/>
                      <a:gd name="T79" fmla="*/ 41 h 107"/>
                      <a:gd name="T80" fmla="*/ 18 w 162"/>
                      <a:gd name="T81" fmla="*/ 38 h 107"/>
                      <a:gd name="T82" fmla="*/ 19 w 162"/>
                      <a:gd name="T83" fmla="*/ 35 h 107"/>
                      <a:gd name="T84" fmla="*/ 20 w 162"/>
                      <a:gd name="T85" fmla="*/ 32 h 107"/>
                      <a:gd name="T86" fmla="*/ 19 w 162"/>
                      <a:gd name="T87" fmla="*/ 29 h 107"/>
                      <a:gd name="T88" fmla="*/ 18 w 162"/>
                      <a:gd name="T89" fmla="*/ 26 h 107"/>
                      <a:gd name="T90" fmla="*/ 17 w 162"/>
                      <a:gd name="T91" fmla="*/ 24 h 107"/>
                      <a:gd name="T92" fmla="*/ 14 w 162"/>
                      <a:gd name="T93" fmla="*/ 23 h 107"/>
                      <a:gd name="T94" fmla="*/ 19 w 162"/>
                      <a:gd name="T95" fmla="*/ 10 h 107"/>
                      <a:gd name="T96" fmla="*/ 101 w 162"/>
                      <a:gd name="T97" fmla="*/ 12 h 107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62"/>
                      <a:gd name="T148" fmla="*/ 0 h 107"/>
                      <a:gd name="T149" fmla="*/ 162 w 162"/>
                      <a:gd name="T150" fmla="*/ 107 h 107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62" h="107">
                        <a:moveTo>
                          <a:pt x="101" y="12"/>
                        </a:moveTo>
                        <a:lnTo>
                          <a:pt x="102" y="12"/>
                        </a:lnTo>
                        <a:lnTo>
                          <a:pt x="103" y="10"/>
                        </a:lnTo>
                        <a:lnTo>
                          <a:pt x="104" y="10"/>
                        </a:lnTo>
                        <a:lnTo>
                          <a:pt x="105" y="10"/>
                        </a:lnTo>
                        <a:lnTo>
                          <a:pt x="106" y="8"/>
                        </a:lnTo>
                        <a:lnTo>
                          <a:pt x="107" y="8"/>
                        </a:lnTo>
                        <a:lnTo>
                          <a:pt x="108" y="7"/>
                        </a:lnTo>
                        <a:lnTo>
                          <a:pt x="111" y="6"/>
                        </a:lnTo>
                        <a:lnTo>
                          <a:pt x="113" y="6"/>
                        </a:lnTo>
                        <a:lnTo>
                          <a:pt x="162" y="94"/>
                        </a:lnTo>
                        <a:lnTo>
                          <a:pt x="160" y="95"/>
                        </a:lnTo>
                        <a:lnTo>
                          <a:pt x="158" y="96"/>
                        </a:lnTo>
                        <a:lnTo>
                          <a:pt x="155" y="97"/>
                        </a:lnTo>
                        <a:lnTo>
                          <a:pt x="153" y="99"/>
                        </a:lnTo>
                        <a:lnTo>
                          <a:pt x="151" y="101"/>
                        </a:lnTo>
                        <a:lnTo>
                          <a:pt x="149" y="103"/>
                        </a:lnTo>
                        <a:lnTo>
                          <a:pt x="147" y="104"/>
                        </a:lnTo>
                        <a:lnTo>
                          <a:pt x="145" y="105"/>
                        </a:lnTo>
                        <a:lnTo>
                          <a:pt x="143" y="106"/>
                        </a:lnTo>
                        <a:lnTo>
                          <a:pt x="140" y="107"/>
                        </a:lnTo>
                        <a:lnTo>
                          <a:pt x="134" y="101"/>
                        </a:lnTo>
                        <a:lnTo>
                          <a:pt x="128" y="94"/>
                        </a:lnTo>
                        <a:lnTo>
                          <a:pt x="122" y="87"/>
                        </a:lnTo>
                        <a:lnTo>
                          <a:pt x="116" y="80"/>
                        </a:lnTo>
                        <a:lnTo>
                          <a:pt x="111" y="73"/>
                        </a:lnTo>
                        <a:lnTo>
                          <a:pt x="104" y="67"/>
                        </a:lnTo>
                        <a:lnTo>
                          <a:pt x="98" y="59"/>
                        </a:lnTo>
                        <a:lnTo>
                          <a:pt x="91" y="53"/>
                        </a:lnTo>
                        <a:lnTo>
                          <a:pt x="85" y="48"/>
                        </a:lnTo>
                        <a:lnTo>
                          <a:pt x="78" y="41"/>
                        </a:lnTo>
                        <a:lnTo>
                          <a:pt x="75" y="40"/>
                        </a:lnTo>
                        <a:lnTo>
                          <a:pt x="73" y="38"/>
                        </a:lnTo>
                        <a:lnTo>
                          <a:pt x="69" y="37"/>
                        </a:lnTo>
                        <a:lnTo>
                          <a:pt x="66" y="36"/>
                        </a:lnTo>
                        <a:lnTo>
                          <a:pt x="64" y="35"/>
                        </a:lnTo>
                        <a:lnTo>
                          <a:pt x="60" y="33"/>
                        </a:lnTo>
                        <a:lnTo>
                          <a:pt x="57" y="32"/>
                        </a:lnTo>
                        <a:lnTo>
                          <a:pt x="55" y="31"/>
                        </a:lnTo>
                        <a:lnTo>
                          <a:pt x="52" y="29"/>
                        </a:lnTo>
                        <a:lnTo>
                          <a:pt x="48" y="28"/>
                        </a:lnTo>
                        <a:lnTo>
                          <a:pt x="50" y="26"/>
                        </a:lnTo>
                        <a:lnTo>
                          <a:pt x="50" y="24"/>
                        </a:lnTo>
                        <a:lnTo>
                          <a:pt x="50" y="23"/>
                        </a:lnTo>
                        <a:lnTo>
                          <a:pt x="44" y="28"/>
                        </a:lnTo>
                        <a:lnTo>
                          <a:pt x="40" y="33"/>
                        </a:lnTo>
                        <a:lnTo>
                          <a:pt x="36" y="37"/>
                        </a:lnTo>
                        <a:lnTo>
                          <a:pt x="30" y="40"/>
                        </a:lnTo>
                        <a:lnTo>
                          <a:pt x="26" y="46"/>
                        </a:lnTo>
                        <a:lnTo>
                          <a:pt x="22" y="48"/>
                        </a:lnTo>
                        <a:lnTo>
                          <a:pt x="18" y="51"/>
                        </a:lnTo>
                        <a:lnTo>
                          <a:pt x="11" y="52"/>
                        </a:lnTo>
                        <a:lnTo>
                          <a:pt x="6" y="52"/>
                        </a:lnTo>
                        <a:lnTo>
                          <a:pt x="0" y="48"/>
                        </a:lnTo>
                        <a:lnTo>
                          <a:pt x="11" y="24"/>
                        </a:lnTo>
                        <a:lnTo>
                          <a:pt x="13" y="24"/>
                        </a:lnTo>
                        <a:lnTo>
                          <a:pt x="13" y="26"/>
                        </a:lnTo>
                        <a:lnTo>
                          <a:pt x="14" y="26"/>
                        </a:lnTo>
                        <a:lnTo>
                          <a:pt x="15" y="26"/>
                        </a:lnTo>
                        <a:lnTo>
                          <a:pt x="15" y="28"/>
                        </a:lnTo>
                        <a:lnTo>
                          <a:pt x="17" y="28"/>
                        </a:lnTo>
                        <a:lnTo>
                          <a:pt x="17" y="29"/>
                        </a:lnTo>
                        <a:lnTo>
                          <a:pt x="17" y="31"/>
                        </a:lnTo>
                        <a:lnTo>
                          <a:pt x="18" y="32"/>
                        </a:lnTo>
                        <a:lnTo>
                          <a:pt x="18" y="34"/>
                        </a:lnTo>
                        <a:lnTo>
                          <a:pt x="17" y="35"/>
                        </a:lnTo>
                        <a:lnTo>
                          <a:pt x="17" y="37"/>
                        </a:lnTo>
                        <a:lnTo>
                          <a:pt x="15" y="38"/>
                        </a:lnTo>
                        <a:lnTo>
                          <a:pt x="14" y="40"/>
                        </a:lnTo>
                        <a:lnTo>
                          <a:pt x="13" y="41"/>
                        </a:lnTo>
                        <a:lnTo>
                          <a:pt x="13" y="42"/>
                        </a:lnTo>
                        <a:lnTo>
                          <a:pt x="11" y="43"/>
                        </a:lnTo>
                        <a:lnTo>
                          <a:pt x="11" y="46"/>
                        </a:lnTo>
                        <a:lnTo>
                          <a:pt x="13" y="46"/>
                        </a:lnTo>
                        <a:lnTo>
                          <a:pt x="14" y="46"/>
                        </a:lnTo>
                        <a:lnTo>
                          <a:pt x="15" y="42"/>
                        </a:lnTo>
                        <a:lnTo>
                          <a:pt x="15" y="41"/>
                        </a:lnTo>
                        <a:lnTo>
                          <a:pt x="17" y="40"/>
                        </a:lnTo>
                        <a:lnTo>
                          <a:pt x="18" y="38"/>
                        </a:lnTo>
                        <a:lnTo>
                          <a:pt x="19" y="37"/>
                        </a:lnTo>
                        <a:lnTo>
                          <a:pt x="19" y="35"/>
                        </a:lnTo>
                        <a:lnTo>
                          <a:pt x="19" y="34"/>
                        </a:lnTo>
                        <a:lnTo>
                          <a:pt x="20" y="32"/>
                        </a:lnTo>
                        <a:lnTo>
                          <a:pt x="19" y="31"/>
                        </a:lnTo>
                        <a:lnTo>
                          <a:pt x="19" y="29"/>
                        </a:lnTo>
                        <a:lnTo>
                          <a:pt x="19" y="28"/>
                        </a:lnTo>
                        <a:lnTo>
                          <a:pt x="18" y="26"/>
                        </a:lnTo>
                        <a:lnTo>
                          <a:pt x="17" y="26"/>
                        </a:lnTo>
                        <a:lnTo>
                          <a:pt x="17" y="24"/>
                        </a:lnTo>
                        <a:lnTo>
                          <a:pt x="15" y="24"/>
                        </a:lnTo>
                        <a:lnTo>
                          <a:pt x="14" y="23"/>
                        </a:lnTo>
                        <a:lnTo>
                          <a:pt x="13" y="22"/>
                        </a:lnTo>
                        <a:lnTo>
                          <a:pt x="19" y="10"/>
                        </a:lnTo>
                        <a:lnTo>
                          <a:pt x="48" y="0"/>
                        </a:lnTo>
                        <a:lnTo>
                          <a:pt x="101" y="12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7525" name="Freeform 1037"/>
                <p:cNvSpPr>
                  <a:spLocks/>
                </p:cNvSpPr>
                <p:nvPr/>
              </p:nvSpPr>
              <p:spPr bwMode="auto">
                <a:xfrm>
                  <a:off x="2539" y="2506"/>
                  <a:ext cx="207" cy="175"/>
                </a:xfrm>
                <a:custGeom>
                  <a:avLst/>
                  <a:gdLst>
                    <a:gd name="T0" fmla="*/ 69 w 207"/>
                    <a:gd name="T1" fmla="*/ 44 h 175"/>
                    <a:gd name="T2" fmla="*/ 76 w 207"/>
                    <a:gd name="T3" fmla="*/ 46 h 175"/>
                    <a:gd name="T4" fmla="*/ 94 w 207"/>
                    <a:gd name="T5" fmla="*/ 39 h 175"/>
                    <a:gd name="T6" fmla="*/ 112 w 207"/>
                    <a:gd name="T7" fmla="*/ 24 h 175"/>
                    <a:gd name="T8" fmla="*/ 132 w 207"/>
                    <a:gd name="T9" fmla="*/ 30 h 175"/>
                    <a:gd name="T10" fmla="*/ 151 w 207"/>
                    <a:gd name="T11" fmla="*/ 41 h 175"/>
                    <a:gd name="T12" fmla="*/ 175 w 207"/>
                    <a:gd name="T13" fmla="*/ 67 h 175"/>
                    <a:gd name="T14" fmla="*/ 201 w 207"/>
                    <a:gd name="T15" fmla="*/ 99 h 175"/>
                    <a:gd name="T16" fmla="*/ 207 w 207"/>
                    <a:gd name="T17" fmla="*/ 111 h 175"/>
                    <a:gd name="T18" fmla="*/ 206 w 207"/>
                    <a:gd name="T19" fmla="*/ 117 h 175"/>
                    <a:gd name="T20" fmla="*/ 203 w 207"/>
                    <a:gd name="T21" fmla="*/ 122 h 175"/>
                    <a:gd name="T22" fmla="*/ 198 w 207"/>
                    <a:gd name="T23" fmla="*/ 125 h 175"/>
                    <a:gd name="T24" fmla="*/ 192 w 207"/>
                    <a:gd name="T25" fmla="*/ 127 h 175"/>
                    <a:gd name="T26" fmla="*/ 186 w 207"/>
                    <a:gd name="T27" fmla="*/ 123 h 175"/>
                    <a:gd name="T28" fmla="*/ 182 w 207"/>
                    <a:gd name="T29" fmla="*/ 123 h 175"/>
                    <a:gd name="T30" fmla="*/ 182 w 207"/>
                    <a:gd name="T31" fmla="*/ 133 h 175"/>
                    <a:gd name="T32" fmla="*/ 179 w 207"/>
                    <a:gd name="T33" fmla="*/ 139 h 175"/>
                    <a:gd name="T34" fmla="*/ 171 w 207"/>
                    <a:gd name="T35" fmla="*/ 143 h 175"/>
                    <a:gd name="T36" fmla="*/ 165 w 207"/>
                    <a:gd name="T37" fmla="*/ 143 h 175"/>
                    <a:gd name="T38" fmla="*/ 148 w 207"/>
                    <a:gd name="T39" fmla="*/ 123 h 175"/>
                    <a:gd name="T40" fmla="*/ 131 w 207"/>
                    <a:gd name="T41" fmla="*/ 104 h 175"/>
                    <a:gd name="T42" fmla="*/ 157 w 207"/>
                    <a:gd name="T43" fmla="*/ 140 h 175"/>
                    <a:gd name="T44" fmla="*/ 157 w 207"/>
                    <a:gd name="T45" fmla="*/ 148 h 175"/>
                    <a:gd name="T46" fmla="*/ 155 w 207"/>
                    <a:gd name="T47" fmla="*/ 155 h 175"/>
                    <a:gd name="T48" fmla="*/ 150 w 207"/>
                    <a:gd name="T49" fmla="*/ 158 h 175"/>
                    <a:gd name="T50" fmla="*/ 142 w 207"/>
                    <a:gd name="T51" fmla="*/ 159 h 175"/>
                    <a:gd name="T52" fmla="*/ 134 w 207"/>
                    <a:gd name="T53" fmla="*/ 154 h 175"/>
                    <a:gd name="T54" fmla="*/ 126 w 207"/>
                    <a:gd name="T55" fmla="*/ 145 h 175"/>
                    <a:gd name="T56" fmla="*/ 116 w 207"/>
                    <a:gd name="T57" fmla="*/ 133 h 175"/>
                    <a:gd name="T58" fmla="*/ 107 w 207"/>
                    <a:gd name="T59" fmla="*/ 123 h 175"/>
                    <a:gd name="T60" fmla="*/ 134 w 207"/>
                    <a:gd name="T61" fmla="*/ 163 h 175"/>
                    <a:gd name="T62" fmla="*/ 132 w 207"/>
                    <a:gd name="T63" fmla="*/ 170 h 175"/>
                    <a:gd name="T64" fmla="*/ 125 w 207"/>
                    <a:gd name="T65" fmla="*/ 175 h 175"/>
                    <a:gd name="T66" fmla="*/ 116 w 207"/>
                    <a:gd name="T67" fmla="*/ 174 h 175"/>
                    <a:gd name="T68" fmla="*/ 109 w 207"/>
                    <a:gd name="T69" fmla="*/ 170 h 175"/>
                    <a:gd name="T70" fmla="*/ 104 w 207"/>
                    <a:gd name="T71" fmla="*/ 161 h 175"/>
                    <a:gd name="T72" fmla="*/ 100 w 207"/>
                    <a:gd name="T73" fmla="*/ 154 h 175"/>
                    <a:gd name="T74" fmla="*/ 92 w 207"/>
                    <a:gd name="T75" fmla="*/ 151 h 175"/>
                    <a:gd name="T76" fmla="*/ 84 w 207"/>
                    <a:gd name="T77" fmla="*/ 149 h 175"/>
                    <a:gd name="T78" fmla="*/ 84 w 207"/>
                    <a:gd name="T79" fmla="*/ 141 h 175"/>
                    <a:gd name="T80" fmla="*/ 81 w 207"/>
                    <a:gd name="T81" fmla="*/ 136 h 175"/>
                    <a:gd name="T82" fmla="*/ 75 w 207"/>
                    <a:gd name="T83" fmla="*/ 132 h 175"/>
                    <a:gd name="T84" fmla="*/ 69 w 207"/>
                    <a:gd name="T85" fmla="*/ 130 h 175"/>
                    <a:gd name="T86" fmla="*/ 63 w 207"/>
                    <a:gd name="T87" fmla="*/ 132 h 175"/>
                    <a:gd name="T88" fmla="*/ 63 w 207"/>
                    <a:gd name="T89" fmla="*/ 127 h 175"/>
                    <a:gd name="T90" fmla="*/ 61 w 207"/>
                    <a:gd name="T91" fmla="*/ 120 h 175"/>
                    <a:gd name="T92" fmla="*/ 58 w 207"/>
                    <a:gd name="T93" fmla="*/ 114 h 175"/>
                    <a:gd name="T94" fmla="*/ 53 w 207"/>
                    <a:gd name="T95" fmla="*/ 111 h 175"/>
                    <a:gd name="T96" fmla="*/ 46 w 207"/>
                    <a:gd name="T97" fmla="*/ 111 h 175"/>
                    <a:gd name="T98" fmla="*/ 41 w 207"/>
                    <a:gd name="T99" fmla="*/ 113 h 175"/>
                    <a:gd name="T100" fmla="*/ 42 w 207"/>
                    <a:gd name="T101" fmla="*/ 106 h 175"/>
                    <a:gd name="T102" fmla="*/ 41 w 207"/>
                    <a:gd name="T103" fmla="*/ 99 h 175"/>
                    <a:gd name="T104" fmla="*/ 37 w 207"/>
                    <a:gd name="T105" fmla="*/ 94 h 175"/>
                    <a:gd name="T106" fmla="*/ 30 w 207"/>
                    <a:gd name="T107" fmla="*/ 91 h 175"/>
                    <a:gd name="T108" fmla="*/ 22 w 207"/>
                    <a:gd name="T109" fmla="*/ 92 h 175"/>
                    <a:gd name="T110" fmla="*/ 15 w 207"/>
                    <a:gd name="T111" fmla="*/ 97 h 175"/>
                    <a:gd name="T112" fmla="*/ 63 w 207"/>
                    <a:gd name="T113" fmla="*/ 40 h 175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07"/>
                    <a:gd name="T172" fmla="*/ 0 h 175"/>
                    <a:gd name="T173" fmla="*/ 207 w 207"/>
                    <a:gd name="T174" fmla="*/ 175 h 175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07" h="175">
                      <a:moveTo>
                        <a:pt x="63" y="40"/>
                      </a:moveTo>
                      <a:lnTo>
                        <a:pt x="64" y="41"/>
                      </a:lnTo>
                      <a:lnTo>
                        <a:pt x="66" y="42"/>
                      </a:lnTo>
                      <a:lnTo>
                        <a:pt x="67" y="43"/>
                      </a:lnTo>
                      <a:lnTo>
                        <a:pt x="69" y="44"/>
                      </a:lnTo>
                      <a:lnTo>
                        <a:pt x="71" y="44"/>
                      </a:lnTo>
                      <a:lnTo>
                        <a:pt x="72" y="46"/>
                      </a:lnTo>
                      <a:lnTo>
                        <a:pt x="73" y="46"/>
                      </a:lnTo>
                      <a:lnTo>
                        <a:pt x="75" y="46"/>
                      </a:lnTo>
                      <a:lnTo>
                        <a:pt x="76" y="46"/>
                      </a:lnTo>
                      <a:lnTo>
                        <a:pt x="78" y="46"/>
                      </a:lnTo>
                      <a:lnTo>
                        <a:pt x="83" y="44"/>
                      </a:lnTo>
                      <a:lnTo>
                        <a:pt x="86" y="43"/>
                      </a:lnTo>
                      <a:lnTo>
                        <a:pt x="90" y="41"/>
                      </a:lnTo>
                      <a:lnTo>
                        <a:pt x="94" y="39"/>
                      </a:lnTo>
                      <a:lnTo>
                        <a:pt x="98" y="35"/>
                      </a:lnTo>
                      <a:lnTo>
                        <a:pt x="100" y="33"/>
                      </a:lnTo>
                      <a:lnTo>
                        <a:pt x="104" y="30"/>
                      </a:lnTo>
                      <a:lnTo>
                        <a:pt x="108" y="27"/>
                      </a:lnTo>
                      <a:lnTo>
                        <a:pt x="112" y="24"/>
                      </a:lnTo>
                      <a:lnTo>
                        <a:pt x="115" y="21"/>
                      </a:lnTo>
                      <a:lnTo>
                        <a:pt x="118" y="24"/>
                      </a:lnTo>
                      <a:lnTo>
                        <a:pt x="123" y="26"/>
                      </a:lnTo>
                      <a:lnTo>
                        <a:pt x="128" y="27"/>
                      </a:lnTo>
                      <a:lnTo>
                        <a:pt x="132" y="30"/>
                      </a:lnTo>
                      <a:lnTo>
                        <a:pt x="135" y="32"/>
                      </a:lnTo>
                      <a:lnTo>
                        <a:pt x="140" y="34"/>
                      </a:lnTo>
                      <a:lnTo>
                        <a:pt x="142" y="36"/>
                      </a:lnTo>
                      <a:lnTo>
                        <a:pt x="148" y="39"/>
                      </a:lnTo>
                      <a:lnTo>
                        <a:pt x="151" y="41"/>
                      </a:lnTo>
                      <a:lnTo>
                        <a:pt x="154" y="44"/>
                      </a:lnTo>
                      <a:lnTo>
                        <a:pt x="160" y="50"/>
                      </a:lnTo>
                      <a:lnTo>
                        <a:pt x="165" y="56"/>
                      </a:lnTo>
                      <a:lnTo>
                        <a:pt x="170" y="62"/>
                      </a:lnTo>
                      <a:lnTo>
                        <a:pt x="175" y="67"/>
                      </a:lnTo>
                      <a:lnTo>
                        <a:pt x="181" y="75"/>
                      </a:lnTo>
                      <a:lnTo>
                        <a:pt x="185" y="80"/>
                      </a:lnTo>
                      <a:lnTo>
                        <a:pt x="191" y="87"/>
                      </a:lnTo>
                      <a:lnTo>
                        <a:pt x="195" y="94"/>
                      </a:lnTo>
                      <a:lnTo>
                        <a:pt x="201" y="99"/>
                      </a:lnTo>
                      <a:lnTo>
                        <a:pt x="206" y="106"/>
                      </a:lnTo>
                      <a:lnTo>
                        <a:pt x="206" y="108"/>
                      </a:lnTo>
                      <a:lnTo>
                        <a:pt x="207" y="108"/>
                      </a:lnTo>
                      <a:lnTo>
                        <a:pt x="207" y="110"/>
                      </a:lnTo>
                      <a:lnTo>
                        <a:pt x="207" y="111"/>
                      </a:lnTo>
                      <a:lnTo>
                        <a:pt x="207" y="112"/>
                      </a:lnTo>
                      <a:lnTo>
                        <a:pt x="207" y="113"/>
                      </a:lnTo>
                      <a:lnTo>
                        <a:pt x="207" y="114"/>
                      </a:lnTo>
                      <a:lnTo>
                        <a:pt x="207" y="116"/>
                      </a:lnTo>
                      <a:lnTo>
                        <a:pt x="206" y="117"/>
                      </a:lnTo>
                      <a:lnTo>
                        <a:pt x="206" y="118"/>
                      </a:lnTo>
                      <a:lnTo>
                        <a:pt x="206" y="119"/>
                      </a:lnTo>
                      <a:lnTo>
                        <a:pt x="204" y="120"/>
                      </a:lnTo>
                      <a:lnTo>
                        <a:pt x="203" y="121"/>
                      </a:lnTo>
                      <a:lnTo>
                        <a:pt x="203" y="122"/>
                      </a:lnTo>
                      <a:lnTo>
                        <a:pt x="202" y="123"/>
                      </a:lnTo>
                      <a:lnTo>
                        <a:pt x="201" y="123"/>
                      </a:lnTo>
                      <a:lnTo>
                        <a:pt x="200" y="124"/>
                      </a:lnTo>
                      <a:lnTo>
                        <a:pt x="198" y="124"/>
                      </a:lnTo>
                      <a:lnTo>
                        <a:pt x="198" y="125"/>
                      </a:lnTo>
                      <a:lnTo>
                        <a:pt x="196" y="125"/>
                      </a:lnTo>
                      <a:lnTo>
                        <a:pt x="195" y="127"/>
                      </a:lnTo>
                      <a:lnTo>
                        <a:pt x="194" y="127"/>
                      </a:lnTo>
                      <a:lnTo>
                        <a:pt x="193" y="127"/>
                      </a:lnTo>
                      <a:lnTo>
                        <a:pt x="192" y="127"/>
                      </a:lnTo>
                      <a:lnTo>
                        <a:pt x="191" y="125"/>
                      </a:lnTo>
                      <a:lnTo>
                        <a:pt x="190" y="125"/>
                      </a:lnTo>
                      <a:lnTo>
                        <a:pt x="188" y="124"/>
                      </a:lnTo>
                      <a:lnTo>
                        <a:pt x="187" y="124"/>
                      </a:lnTo>
                      <a:lnTo>
                        <a:pt x="186" y="123"/>
                      </a:lnTo>
                      <a:lnTo>
                        <a:pt x="185" y="123"/>
                      </a:lnTo>
                      <a:lnTo>
                        <a:pt x="151" y="82"/>
                      </a:lnTo>
                      <a:lnTo>
                        <a:pt x="150" y="82"/>
                      </a:lnTo>
                      <a:lnTo>
                        <a:pt x="149" y="82"/>
                      </a:lnTo>
                      <a:lnTo>
                        <a:pt x="182" y="123"/>
                      </a:lnTo>
                      <a:lnTo>
                        <a:pt x="182" y="124"/>
                      </a:lnTo>
                      <a:lnTo>
                        <a:pt x="183" y="127"/>
                      </a:lnTo>
                      <a:lnTo>
                        <a:pt x="183" y="129"/>
                      </a:lnTo>
                      <a:lnTo>
                        <a:pt x="183" y="130"/>
                      </a:lnTo>
                      <a:lnTo>
                        <a:pt x="182" y="133"/>
                      </a:lnTo>
                      <a:lnTo>
                        <a:pt x="182" y="134"/>
                      </a:lnTo>
                      <a:lnTo>
                        <a:pt x="182" y="136"/>
                      </a:lnTo>
                      <a:lnTo>
                        <a:pt x="181" y="137"/>
                      </a:lnTo>
                      <a:lnTo>
                        <a:pt x="179" y="138"/>
                      </a:lnTo>
                      <a:lnTo>
                        <a:pt x="179" y="139"/>
                      </a:lnTo>
                      <a:lnTo>
                        <a:pt x="177" y="140"/>
                      </a:lnTo>
                      <a:lnTo>
                        <a:pt x="176" y="141"/>
                      </a:lnTo>
                      <a:lnTo>
                        <a:pt x="175" y="141"/>
                      </a:lnTo>
                      <a:lnTo>
                        <a:pt x="173" y="143"/>
                      </a:lnTo>
                      <a:lnTo>
                        <a:pt x="171" y="143"/>
                      </a:lnTo>
                      <a:lnTo>
                        <a:pt x="170" y="143"/>
                      </a:lnTo>
                      <a:lnTo>
                        <a:pt x="169" y="143"/>
                      </a:lnTo>
                      <a:lnTo>
                        <a:pt x="168" y="143"/>
                      </a:lnTo>
                      <a:lnTo>
                        <a:pt x="166" y="143"/>
                      </a:lnTo>
                      <a:lnTo>
                        <a:pt x="165" y="143"/>
                      </a:lnTo>
                      <a:lnTo>
                        <a:pt x="162" y="139"/>
                      </a:lnTo>
                      <a:lnTo>
                        <a:pt x="156" y="136"/>
                      </a:lnTo>
                      <a:lnTo>
                        <a:pt x="153" y="132"/>
                      </a:lnTo>
                      <a:lnTo>
                        <a:pt x="150" y="127"/>
                      </a:lnTo>
                      <a:lnTo>
                        <a:pt x="148" y="123"/>
                      </a:lnTo>
                      <a:lnTo>
                        <a:pt x="145" y="120"/>
                      </a:lnTo>
                      <a:lnTo>
                        <a:pt x="140" y="116"/>
                      </a:lnTo>
                      <a:lnTo>
                        <a:pt x="137" y="112"/>
                      </a:lnTo>
                      <a:lnTo>
                        <a:pt x="134" y="108"/>
                      </a:lnTo>
                      <a:lnTo>
                        <a:pt x="131" y="104"/>
                      </a:lnTo>
                      <a:lnTo>
                        <a:pt x="131" y="103"/>
                      </a:lnTo>
                      <a:lnTo>
                        <a:pt x="130" y="103"/>
                      </a:lnTo>
                      <a:lnTo>
                        <a:pt x="130" y="102"/>
                      </a:lnTo>
                      <a:lnTo>
                        <a:pt x="129" y="103"/>
                      </a:lnTo>
                      <a:lnTo>
                        <a:pt x="157" y="140"/>
                      </a:lnTo>
                      <a:lnTo>
                        <a:pt x="157" y="141"/>
                      </a:lnTo>
                      <a:lnTo>
                        <a:pt x="160" y="143"/>
                      </a:lnTo>
                      <a:lnTo>
                        <a:pt x="160" y="145"/>
                      </a:lnTo>
                      <a:lnTo>
                        <a:pt x="157" y="148"/>
                      </a:lnTo>
                      <a:lnTo>
                        <a:pt x="157" y="149"/>
                      </a:lnTo>
                      <a:lnTo>
                        <a:pt x="157" y="150"/>
                      </a:lnTo>
                      <a:lnTo>
                        <a:pt x="156" y="152"/>
                      </a:lnTo>
                      <a:lnTo>
                        <a:pt x="155" y="153"/>
                      </a:lnTo>
                      <a:lnTo>
                        <a:pt x="155" y="155"/>
                      </a:lnTo>
                      <a:lnTo>
                        <a:pt x="154" y="155"/>
                      </a:lnTo>
                      <a:lnTo>
                        <a:pt x="153" y="156"/>
                      </a:lnTo>
                      <a:lnTo>
                        <a:pt x="152" y="157"/>
                      </a:lnTo>
                      <a:lnTo>
                        <a:pt x="151" y="157"/>
                      </a:lnTo>
                      <a:lnTo>
                        <a:pt x="150" y="158"/>
                      </a:lnTo>
                      <a:lnTo>
                        <a:pt x="149" y="158"/>
                      </a:lnTo>
                      <a:lnTo>
                        <a:pt x="148" y="158"/>
                      </a:lnTo>
                      <a:lnTo>
                        <a:pt x="147" y="158"/>
                      </a:lnTo>
                      <a:lnTo>
                        <a:pt x="146" y="159"/>
                      </a:lnTo>
                      <a:lnTo>
                        <a:pt x="142" y="159"/>
                      </a:lnTo>
                      <a:lnTo>
                        <a:pt x="140" y="158"/>
                      </a:lnTo>
                      <a:lnTo>
                        <a:pt x="137" y="157"/>
                      </a:lnTo>
                      <a:lnTo>
                        <a:pt x="136" y="155"/>
                      </a:lnTo>
                      <a:lnTo>
                        <a:pt x="134" y="154"/>
                      </a:lnTo>
                      <a:lnTo>
                        <a:pt x="133" y="152"/>
                      </a:lnTo>
                      <a:lnTo>
                        <a:pt x="132" y="151"/>
                      </a:lnTo>
                      <a:lnTo>
                        <a:pt x="130" y="149"/>
                      </a:lnTo>
                      <a:lnTo>
                        <a:pt x="129" y="148"/>
                      </a:lnTo>
                      <a:lnTo>
                        <a:pt x="126" y="145"/>
                      </a:lnTo>
                      <a:lnTo>
                        <a:pt x="125" y="143"/>
                      </a:lnTo>
                      <a:lnTo>
                        <a:pt x="123" y="140"/>
                      </a:lnTo>
                      <a:lnTo>
                        <a:pt x="121" y="137"/>
                      </a:lnTo>
                      <a:lnTo>
                        <a:pt x="118" y="135"/>
                      </a:lnTo>
                      <a:lnTo>
                        <a:pt x="116" y="133"/>
                      </a:lnTo>
                      <a:lnTo>
                        <a:pt x="115" y="130"/>
                      </a:lnTo>
                      <a:lnTo>
                        <a:pt x="113" y="127"/>
                      </a:lnTo>
                      <a:lnTo>
                        <a:pt x="110" y="124"/>
                      </a:lnTo>
                      <a:lnTo>
                        <a:pt x="108" y="122"/>
                      </a:lnTo>
                      <a:lnTo>
                        <a:pt x="107" y="123"/>
                      </a:lnTo>
                      <a:lnTo>
                        <a:pt x="134" y="156"/>
                      </a:lnTo>
                      <a:lnTo>
                        <a:pt x="134" y="157"/>
                      </a:lnTo>
                      <a:lnTo>
                        <a:pt x="134" y="159"/>
                      </a:lnTo>
                      <a:lnTo>
                        <a:pt x="134" y="160"/>
                      </a:lnTo>
                      <a:lnTo>
                        <a:pt x="134" y="163"/>
                      </a:lnTo>
                      <a:lnTo>
                        <a:pt x="134" y="165"/>
                      </a:lnTo>
                      <a:lnTo>
                        <a:pt x="133" y="168"/>
                      </a:lnTo>
                      <a:lnTo>
                        <a:pt x="133" y="169"/>
                      </a:lnTo>
                      <a:lnTo>
                        <a:pt x="132" y="170"/>
                      </a:lnTo>
                      <a:lnTo>
                        <a:pt x="131" y="171"/>
                      </a:lnTo>
                      <a:lnTo>
                        <a:pt x="130" y="172"/>
                      </a:lnTo>
                      <a:lnTo>
                        <a:pt x="129" y="173"/>
                      </a:lnTo>
                      <a:lnTo>
                        <a:pt x="126" y="174"/>
                      </a:lnTo>
                      <a:lnTo>
                        <a:pt x="125" y="175"/>
                      </a:lnTo>
                      <a:lnTo>
                        <a:pt x="123" y="175"/>
                      </a:lnTo>
                      <a:lnTo>
                        <a:pt x="121" y="175"/>
                      </a:lnTo>
                      <a:lnTo>
                        <a:pt x="119" y="175"/>
                      </a:lnTo>
                      <a:lnTo>
                        <a:pt x="118" y="175"/>
                      </a:lnTo>
                      <a:lnTo>
                        <a:pt x="116" y="174"/>
                      </a:lnTo>
                      <a:lnTo>
                        <a:pt x="115" y="174"/>
                      </a:lnTo>
                      <a:lnTo>
                        <a:pt x="114" y="173"/>
                      </a:lnTo>
                      <a:lnTo>
                        <a:pt x="112" y="172"/>
                      </a:lnTo>
                      <a:lnTo>
                        <a:pt x="110" y="171"/>
                      </a:lnTo>
                      <a:lnTo>
                        <a:pt x="109" y="170"/>
                      </a:lnTo>
                      <a:lnTo>
                        <a:pt x="108" y="169"/>
                      </a:lnTo>
                      <a:lnTo>
                        <a:pt x="106" y="167"/>
                      </a:lnTo>
                      <a:lnTo>
                        <a:pt x="106" y="165"/>
                      </a:lnTo>
                      <a:lnTo>
                        <a:pt x="104" y="165"/>
                      </a:lnTo>
                      <a:lnTo>
                        <a:pt x="104" y="161"/>
                      </a:lnTo>
                      <a:lnTo>
                        <a:pt x="104" y="159"/>
                      </a:lnTo>
                      <a:lnTo>
                        <a:pt x="103" y="158"/>
                      </a:lnTo>
                      <a:lnTo>
                        <a:pt x="102" y="157"/>
                      </a:lnTo>
                      <a:lnTo>
                        <a:pt x="101" y="155"/>
                      </a:lnTo>
                      <a:lnTo>
                        <a:pt x="100" y="154"/>
                      </a:lnTo>
                      <a:lnTo>
                        <a:pt x="99" y="153"/>
                      </a:lnTo>
                      <a:lnTo>
                        <a:pt x="97" y="152"/>
                      </a:lnTo>
                      <a:lnTo>
                        <a:pt x="95" y="152"/>
                      </a:lnTo>
                      <a:lnTo>
                        <a:pt x="93" y="152"/>
                      </a:lnTo>
                      <a:lnTo>
                        <a:pt x="92" y="151"/>
                      </a:lnTo>
                      <a:lnTo>
                        <a:pt x="90" y="151"/>
                      </a:lnTo>
                      <a:lnTo>
                        <a:pt x="83" y="152"/>
                      </a:lnTo>
                      <a:lnTo>
                        <a:pt x="84" y="151"/>
                      </a:lnTo>
                      <a:lnTo>
                        <a:pt x="84" y="150"/>
                      </a:lnTo>
                      <a:lnTo>
                        <a:pt x="84" y="149"/>
                      </a:lnTo>
                      <a:lnTo>
                        <a:pt x="84" y="148"/>
                      </a:lnTo>
                      <a:lnTo>
                        <a:pt x="84" y="145"/>
                      </a:lnTo>
                      <a:lnTo>
                        <a:pt x="84" y="143"/>
                      </a:lnTo>
                      <a:lnTo>
                        <a:pt x="84" y="141"/>
                      </a:lnTo>
                      <a:lnTo>
                        <a:pt x="83" y="140"/>
                      </a:lnTo>
                      <a:lnTo>
                        <a:pt x="83" y="139"/>
                      </a:lnTo>
                      <a:lnTo>
                        <a:pt x="82" y="138"/>
                      </a:lnTo>
                      <a:lnTo>
                        <a:pt x="82" y="137"/>
                      </a:lnTo>
                      <a:lnTo>
                        <a:pt x="81" y="136"/>
                      </a:lnTo>
                      <a:lnTo>
                        <a:pt x="79" y="135"/>
                      </a:lnTo>
                      <a:lnTo>
                        <a:pt x="78" y="134"/>
                      </a:lnTo>
                      <a:lnTo>
                        <a:pt x="77" y="133"/>
                      </a:lnTo>
                      <a:lnTo>
                        <a:pt x="76" y="133"/>
                      </a:lnTo>
                      <a:lnTo>
                        <a:pt x="75" y="132"/>
                      </a:lnTo>
                      <a:lnTo>
                        <a:pt x="74" y="132"/>
                      </a:lnTo>
                      <a:lnTo>
                        <a:pt x="73" y="130"/>
                      </a:lnTo>
                      <a:lnTo>
                        <a:pt x="72" y="130"/>
                      </a:lnTo>
                      <a:lnTo>
                        <a:pt x="71" y="130"/>
                      </a:lnTo>
                      <a:lnTo>
                        <a:pt x="69" y="130"/>
                      </a:lnTo>
                      <a:lnTo>
                        <a:pt x="67" y="130"/>
                      </a:lnTo>
                      <a:lnTo>
                        <a:pt x="66" y="132"/>
                      </a:lnTo>
                      <a:lnTo>
                        <a:pt x="64" y="132"/>
                      </a:lnTo>
                      <a:lnTo>
                        <a:pt x="63" y="132"/>
                      </a:lnTo>
                      <a:lnTo>
                        <a:pt x="62" y="133"/>
                      </a:lnTo>
                      <a:lnTo>
                        <a:pt x="62" y="132"/>
                      </a:lnTo>
                      <a:lnTo>
                        <a:pt x="62" y="130"/>
                      </a:lnTo>
                      <a:lnTo>
                        <a:pt x="62" y="127"/>
                      </a:lnTo>
                      <a:lnTo>
                        <a:pt x="63" y="127"/>
                      </a:lnTo>
                      <a:lnTo>
                        <a:pt x="62" y="125"/>
                      </a:lnTo>
                      <a:lnTo>
                        <a:pt x="62" y="124"/>
                      </a:lnTo>
                      <a:lnTo>
                        <a:pt x="62" y="123"/>
                      </a:lnTo>
                      <a:lnTo>
                        <a:pt x="62" y="121"/>
                      </a:lnTo>
                      <a:lnTo>
                        <a:pt x="61" y="120"/>
                      </a:lnTo>
                      <a:lnTo>
                        <a:pt x="61" y="119"/>
                      </a:lnTo>
                      <a:lnTo>
                        <a:pt x="60" y="118"/>
                      </a:lnTo>
                      <a:lnTo>
                        <a:pt x="60" y="117"/>
                      </a:lnTo>
                      <a:lnTo>
                        <a:pt x="59" y="116"/>
                      </a:lnTo>
                      <a:lnTo>
                        <a:pt x="58" y="114"/>
                      </a:lnTo>
                      <a:lnTo>
                        <a:pt x="57" y="114"/>
                      </a:lnTo>
                      <a:lnTo>
                        <a:pt x="56" y="113"/>
                      </a:lnTo>
                      <a:lnTo>
                        <a:pt x="55" y="112"/>
                      </a:lnTo>
                      <a:lnTo>
                        <a:pt x="54" y="112"/>
                      </a:lnTo>
                      <a:lnTo>
                        <a:pt x="53" y="111"/>
                      </a:lnTo>
                      <a:lnTo>
                        <a:pt x="52" y="111"/>
                      </a:lnTo>
                      <a:lnTo>
                        <a:pt x="50" y="111"/>
                      </a:lnTo>
                      <a:lnTo>
                        <a:pt x="47" y="111"/>
                      </a:lnTo>
                      <a:lnTo>
                        <a:pt x="46" y="111"/>
                      </a:lnTo>
                      <a:lnTo>
                        <a:pt x="45" y="111"/>
                      </a:lnTo>
                      <a:lnTo>
                        <a:pt x="44" y="111"/>
                      </a:lnTo>
                      <a:lnTo>
                        <a:pt x="43" y="111"/>
                      </a:lnTo>
                      <a:lnTo>
                        <a:pt x="42" y="112"/>
                      </a:lnTo>
                      <a:lnTo>
                        <a:pt x="41" y="113"/>
                      </a:lnTo>
                      <a:lnTo>
                        <a:pt x="41" y="111"/>
                      </a:lnTo>
                      <a:lnTo>
                        <a:pt x="41" y="110"/>
                      </a:lnTo>
                      <a:lnTo>
                        <a:pt x="42" y="108"/>
                      </a:lnTo>
                      <a:lnTo>
                        <a:pt x="42" y="106"/>
                      </a:lnTo>
                      <a:lnTo>
                        <a:pt x="42" y="104"/>
                      </a:lnTo>
                      <a:lnTo>
                        <a:pt x="42" y="103"/>
                      </a:lnTo>
                      <a:lnTo>
                        <a:pt x="41" y="102"/>
                      </a:lnTo>
                      <a:lnTo>
                        <a:pt x="41" y="101"/>
                      </a:lnTo>
                      <a:lnTo>
                        <a:pt x="41" y="99"/>
                      </a:lnTo>
                      <a:lnTo>
                        <a:pt x="40" y="98"/>
                      </a:lnTo>
                      <a:lnTo>
                        <a:pt x="39" y="97"/>
                      </a:lnTo>
                      <a:lnTo>
                        <a:pt x="39" y="96"/>
                      </a:lnTo>
                      <a:lnTo>
                        <a:pt x="38" y="94"/>
                      </a:lnTo>
                      <a:lnTo>
                        <a:pt x="37" y="94"/>
                      </a:lnTo>
                      <a:lnTo>
                        <a:pt x="36" y="93"/>
                      </a:lnTo>
                      <a:lnTo>
                        <a:pt x="35" y="92"/>
                      </a:lnTo>
                      <a:lnTo>
                        <a:pt x="34" y="91"/>
                      </a:lnTo>
                      <a:lnTo>
                        <a:pt x="32" y="91"/>
                      </a:lnTo>
                      <a:lnTo>
                        <a:pt x="30" y="91"/>
                      </a:lnTo>
                      <a:lnTo>
                        <a:pt x="28" y="91"/>
                      </a:lnTo>
                      <a:lnTo>
                        <a:pt x="26" y="91"/>
                      </a:lnTo>
                      <a:lnTo>
                        <a:pt x="24" y="91"/>
                      </a:lnTo>
                      <a:lnTo>
                        <a:pt x="23" y="91"/>
                      </a:lnTo>
                      <a:lnTo>
                        <a:pt x="22" y="92"/>
                      </a:lnTo>
                      <a:lnTo>
                        <a:pt x="20" y="92"/>
                      </a:lnTo>
                      <a:lnTo>
                        <a:pt x="19" y="93"/>
                      </a:lnTo>
                      <a:lnTo>
                        <a:pt x="17" y="94"/>
                      </a:lnTo>
                      <a:lnTo>
                        <a:pt x="16" y="95"/>
                      </a:lnTo>
                      <a:lnTo>
                        <a:pt x="15" y="97"/>
                      </a:lnTo>
                      <a:lnTo>
                        <a:pt x="0" y="87"/>
                      </a:lnTo>
                      <a:lnTo>
                        <a:pt x="50" y="0"/>
                      </a:lnTo>
                      <a:lnTo>
                        <a:pt x="77" y="9"/>
                      </a:lnTo>
                      <a:lnTo>
                        <a:pt x="63" y="41"/>
                      </a:lnTo>
                      <a:lnTo>
                        <a:pt x="63" y="4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526" name="Freeform 1038"/>
                <p:cNvSpPr>
                  <a:spLocks/>
                </p:cNvSpPr>
                <p:nvPr/>
              </p:nvSpPr>
              <p:spPr bwMode="auto">
                <a:xfrm>
                  <a:off x="2539" y="2506"/>
                  <a:ext cx="207" cy="175"/>
                </a:xfrm>
                <a:custGeom>
                  <a:avLst/>
                  <a:gdLst>
                    <a:gd name="T0" fmla="*/ 69 w 207"/>
                    <a:gd name="T1" fmla="*/ 44 h 175"/>
                    <a:gd name="T2" fmla="*/ 76 w 207"/>
                    <a:gd name="T3" fmla="*/ 46 h 175"/>
                    <a:gd name="T4" fmla="*/ 94 w 207"/>
                    <a:gd name="T5" fmla="*/ 39 h 175"/>
                    <a:gd name="T6" fmla="*/ 112 w 207"/>
                    <a:gd name="T7" fmla="*/ 24 h 175"/>
                    <a:gd name="T8" fmla="*/ 132 w 207"/>
                    <a:gd name="T9" fmla="*/ 30 h 175"/>
                    <a:gd name="T10" fmla="*/ 151 w 207"/>
                    <a:gd name="T11" fmla="*/ 41 h 175"/>
                    <a:gd name="T12" fmla="*/ 175 w 207"/>
                    <a:gd name="T13" fmla="*/ 67 h 175"/>
                    <a:gd name="T14" fmla="*/ 201 w 207"/>
                    <a:gd name="T15" fmla="*/ 99 h 175"/>
                    <a:gd name="T16" fmla="*/ 207 w 207"/>
                    <a:gd name="T17" fmla="*/ 111 h 175"/>
                    <a:gd name="T18" fmla="*/ 206 w 207"/>
                    <a:gd name="T19" fmla="*/ 117 h 175"/>
                    <a:gd name="T20" fmla="*/ 203 w 207"/>
                    <a:gd name="T21" fmla="*/ 122 h 175"/>
                    <a:gd name="T22" fmla="*/ 198 w 207"/>
                    <a:gd name="T23" fmla="*/ 125 h 175"/>
                    <a:gd name="T24" fmla="*/ 192 w 207"/>
                    <a:gd name="T25" fmla="*/ 127 h 175"/>
                    <a:gd name="T26" fmla="*/ 186 w 207"/>
                    <a:gd name="T27" fmla="*/ 123 h 175"/>
                    <a:gd name="T28" fmla="*/ 182 w 207"/>
                    <a:gd name="T29" fmla="*/ 123 h 175"/>
                    <a:gd name="T30" fmla="*/ 182 w 207"/>
                    <a:gd name="T31" fmla="*/ 133 h 175"/>
                    <a:gd name="T32" fmla="*/ 179 w 207"/>
                    <a:gd name="T33" fmla="*/ 139 h 175"/>
                    <a:gd name="T34" fmla="*/ 171 w 207"/>
                    <a:gd name="T35" fmla="*/ 143 h 175"/>
                    <a:gd name="T36" fmla="*/ 165 w 207"/>
                    <a:gd name="T37" fmla="*/ 143 h 175"/>
                    <a:gd name="T38" fmla="*/ 148 w 207"/>
                    <a:gd name="T39" fmla="*/ 123 h 175"/>
                    <a:gd name="T40" fmla="*/ 131 w 207"/>
                    <a:gd name="T41" fmla="*/ 104 h 175"/>
                    <a:gd name="T42" fmla="*/ 157 w 207"/>
                    <a:gd name="T43" fmla="*/ 140 h 175"/>
                    <a:gd name="T44" fmla="*/ 157 w 207"/>
                    <a:gd name="T45" fmla="*/ 148 h 175"/>
                    <a:gd name="T46" fmla="*/ 155 w 207"/>
                    <a:gd name="T47" fmla="*/ 155 h 175"/>
                    <a:gd name="T48" fmla="*/ 150 w 207"/>
                    <a:gd name="T49" fmla="*/ 158 h 175"/>
                    <a:gd name="T50" fmla="*/ 142 w 207"/>
                    <a:gd name="T51" fmla="*/ 159 h 175"/>
                    <a:gd name="T52" fmla="*/ 134 w 207"/>
                    <a:gd name="T53" fmla="*/ 154 h 175"/>
                    <a:gd name="T54" fmla="*/ 126 w 207"/>
                    <a:gd name="T55" fmla="*/ 145 h 175"/>
                    <a:gd name="T56" fmla="*/ 116 w 207"/>
                    <a:gd name="T57" fmla="*/ 133 h 175"/>
                    <a:gd name="T58" fmla="*/ 107 w 207"/>
                    <a:gd name="T59" fmla="*/ 123 h 175"/>
                    <a:gd name="T60" fmla="*/ 134 w 207"/>
                    <a:gd name="T61" fmla="*/ 163 h 175"/>
                    <a:gd name="T62" fmla="*/ 132 w 207"/>
                    <a:gd name="T63" fmla="*/ 170 h 175"/>
                    <a:gd name="T64" fmla="*/ 125 w 207"/>
                    <a:gd name="T65" fmla="*/ 175 h 175"/>
                    <a:gd name="T66" fmla="*/ 116 w 207"/>
                    <a:gd name="T67" fmla="*/ 174 h 175"/>
                    <a:gd name="T68" fmla="*/ 109 w 207"/>
                    <a:gd name="T69" fmla="*/ 170 h 175"/>
                    <a:gd name="T70" fmla="*/ 104 w 207"/>
                    <a:gd name="T71" fmla="*/ 161 h 175"/>
                    <a:gd name="T72" fmla="*/ 100 w 207"/>
                    <a:gd name="T73" fmla="*/ 154 h 175"/>
                    <a:gd name="T74" fmla="*/ 92 w 207"/>
                    <a:gd name="T75" fmla="*/ 151 h 175"/>
                    <a:gd name="T76" fmla="*/ 84 w 207"/>
                    <a:gd name="T77" fmla="*/ 149 h 175"/>
                    <a:gd name="T78" fmla="*/ 84 w 207"/>
                    <a:gd name="T79" fmla="*/ 141 h 175"/>
                    <a:gd name="T80" fmla="*/ 81 w 207"/>
                    <a:gd name="T81" fmla="*/ 136 h 175"/>
                    <a:gd name="T82" fmla="*/ 75 w 207"/>
                    <a:gd name="T83" fmla="*/ 132 h 175"/>
                    <a:gd name="T84" fmla="*/ 69 w 207"/>
                    <a:gd name="T85" fmla="*/ 130 h 175"/>
                    <a:gd name="T86" fmla="*/ 63 w 207"/>
                    <a:gd name="T87" fmla="*/ 132 h 175"/>
                    <a:gd name="T88" fmla="*/ 63 w 207"/>
                    <a:gd name="T89" fmla="*/ 127 h 175"/>
                    <a:gd name="T90" fmla="*/ 61 w 207"/>
                    <a:gd name="T91" fmla="*/ 120 h 175"/>
                    <a:gd name="T92" fmla="*/ 58 w 207"/>
                    <a:gd name="T93" fmla="*/ 114 h 175"/>
                    <a:gd name="T94" fmla="*/ 53 w 207"/>
                    <a:gd name="T95" fmla="*/ 111 h 175"/>
                    <a:gd name="T96" fmla="*/ 46 w 207"/>
                    <a:gd name="T97" fmla="*/ 111 h 175"/>
                    <a:gd name="T98" fmla="*/ 41 w 207"/>
                    <a:gd name="T99" fmla="*/ 113 h 175"/>
                    <a:gd name="T100" fmla="*/ 42 w 207"/>
                    <a:gd name="T101" fmla="*/ 106 h 175"/>
                    <a:gd name="T102" fmla="*/ 41 w 207"/>
                    <a:gd name="T103" fmla="*/ 99 h 175"/>
                    <a:gd name="T104" fmla="*/ 37 w 207"/>
                    <a:gd name="T105" fmla="*/ 94 h 175"/>
                    <a:gd name="T106" fmla="*/ 30 w 207"/>
                    <a:gd name="T107" fmla="*/ 91 h 175"/>
                    <a:gd name="T108" fmla="*/ 22 w 207"/>
                    <a:gd name="T109" fmla="*/ 92 h 175"/>
                    <a:gd name="T110" fmla="*/ 15 w 207"/>
                    <a:gd name="T111" fmla="*/ 97 h 175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207"/>
                    <a:gd name="T169" fmla="*/ 0 h 175"/>
                    <a:gd name="T170" fmla="*/ 207 w 207"/>
                    <a:gd name="T171" fmla="*/ 175 h 175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207" h="175">
                      <a:moveTo>
                        <a:pt x="63" y="40"/>
                      </a:moveTo>
                      <a:lnTo>
                        <a:pt x="64" y="41"/>
                      </a:lnTo>
                      <a:lnTo>
                        <a:pt x="66" y="42"/>
                      </a:lnTo>
                      <a:lnTo>
                        <a:pt x="67" y="43"/>
                      </a:lnTo>
                      <a:lnTo>
                        <a:pt x="69" y="44"/>
                      </a:lnTo>
                      <a:lnTo>
                        <a:pt x="71" y="44"/>
                      </a:lnTo>
                      <a:lnTo>
                        <a:pt x="72" y="46"/>
                      </a:lnTo>
                      <a:lnTo>
                        <a:pt x="73" y="46"/>
                      </a:lnTo>
                      <a:lnTo>
                        <a:pt x="75" y="46"/>
                      </a:lnTo>
                      <a:lnTo>
                        <a:pt x="76" y="46"/>
                      </a:lnTo>
                      <a:lnTo>
                        <a:pt x="78" y="46"/>
                      </a:lnTo>
                      <a:lnTo>
                        <a:pt x="83" y="44"/>
                      </a:lnTo>
                      <a:lnTo>
                        <a:pt x="86" y="43"/>
                      </a:lnTo>
                      <a:lnTo>
                        <a:pt x="90" y="41"/>
                      </a:lnTo>
                      <a:lnTo>
                        <a:pt x="94" y="39"/>
                      </a:lnTo>
                      <a:lnTo>
                        <a:pt x="98" y="35"/>
                      </a:lnTo>
                      <a:lnTo>
                        <a:pt x="100" y="33"/>
                      </a:lnTo>
                      <a:lnTo>
                        <a:pt x="104" y="30"/>
                      </a:lnTo>
                      <a:lnTo>
                        <a:pt x="108" y="27"/>
                      </a:lnTo>
                      <a:lnTo>
                        <a:pt x="112" y="24"/>
                      </a:lnTo>
                      <a:lnTo>
                        <a:pt x="115" y="21"/>
                      </a:lnTo>
                      <a:lnTo>
                        <a:pt x="118" y="24"/>
                      </a:lnTo>
                      <a:lnTo>
                        <a:pt x="123" y="26"/>
                      </a:lnTo>
                      <a:lnTo>
                        <a:pt x="128" y="27"/>
                      </a:lnTo>
                      <a:lnTo>
                        <a:pt x="132" y="30"/>
                      </a:lnTo>
                      <a:lnTo>
                        <a:pt x="135" y="32"/>
                      </a:lnTo>
                      <a:lnTo>
                        <a:pt x="140" y="34"/>
                      </a:lnTo>
                      <a:lnTo>
                        <a:pt x="142" y="36"/>
                      </a:lnTo>
                      <a:lnTo>
                        <a:pt x="148" y="39"/>
                      </a:lnTo>
                      <a:lnTo>
                        <a:pt x="151" y="41"/>
                      </a:lnTo>
                      <a:lnTo>
                        <a:pt x="154" y="44"/>
                      </a:lnTo>
                      <a:lnTo>
                        <a:pt x="160" y="50"/>
                      </a:lnTo>
                      <a:lnTo>
                        <a:pt x="165" y="56"/>
                      </a:lnTo>
                      <a:lnTo>
                        <a:pt x="170" y="62"/>
                      </a:lnTo>
                      <a:lnTo>
                        <a:pt x="175" y="67"/>
                      </a:lnTo>
                      <a:lnTo>
                        <a:pt x="181" y="75"/>
                      </a:lnTo>
                      <a:lnTo>
                        <a:pt x="185" y="80"/>
                      </a:lnTo>
                      <a:lnTo>
                        <a:pt x="191" y="87"/>
                      </a:lnTo>
                      <a:lnTo>
                        <a:pt x="195" y="94"/>
                      </a:lnTo>
                      <a:lnTo>
                        <a:pt x="201" y="99"/>
                      </a:lnTo>
                      <a:lnTo>
                        <a:pt x="206" y="106"/>
                      </a:lnTo>
                      <a:lnTo>
                        <a:pt x="206" y="108"/>
                      </a:lnTo>
                      <a:lnTo>
                        <a:pt x="207" y="108"/>
                      </a:lnTo>
                      <a:lnTo>
                        <a:pt x="207" y="110"/>
                      </a:lnTo>
                      <a:lnTo>
                        <a:pt x="207" y="111"/>
                      </a:lnTo>
                      <a:lnTo>
                        <a:pt x="207" y="112"/>
                      </a:lnTo>
                      <a:lnTo>
                        <a:pt x="207" y="113"/>
                      </a:lnTo>
                      <a:lnTo>
                        <a:pt x="207" y="114"/>
                      </a:lnTo>
                      <a:lnTo>
                        <a:pt x="207" y="116"/>
                      </a:lnTo>
                      <a:lnTo>
                        <a:pt x="206" y="117"/>
                      </a:lnTo>
                      <a:lnTo>
                        <a:pt x="206" y="118"/>
                      </a:lnTo>
                      <a:lnTo>
                        <a:pt x="206" y="119"/>
                      </a:lnTo>
                      <a:lnTo>
                        <a:pt x="204" y="120"/>
                      </a:lnTo>
                      <a:lnTo>
                        <a:pt x="203" y="121"/>
                      </a:lnTo>
                      <a:lnTo>
                        <a:pt x="203" y="122"/>
                      </a:lnTo>
                      <a:lnTo>
                        <a:pt x="202" y="123"/>
                      </a:lnTo>
                      <a:lnTo>
                        <a:pt x="201" y="123"/>
                      </a:lnTo>
                      <a:lnTo>
                        <a:pt x="200" y="124"/>
                      </a:lnTo>
                      <a:lnTo>
                        <a:pt x="198" y="124"/>
                      </a:lnTo>
                      <a:lnTo>
                        <a:pt x="198" y="125"/>
                      </a:lnTo>
                      <a:lnTo>
                        <a:pt x="196" y="125"/>
                      </a:lnTo>
                      <a:lnTo>
                        <a:pt x="195" y="127"/>
                      </a:lnTo>
                      <a:lnTo>
                        <a:pt x="194" y="127"/>
                      </a:lnTo>
                      <a:lnTo>
                        <a:pt x="193" y="127"/>
                      </a:lnTo>
                      <a:lnTo>
                        <a:pt x="192" y="127"/>
                      </a:lnTo>
                      <a:lnTo>
                        <a:pt x="191" y="125"/>
                      </a:lnTo>
                      <a:lnTo>
                        <a:pt x="190" y="125"/>
                      </a:lnTo>
                      <a:lnTo>
                        <a:pt x="188" y="124"/>
                      </a:lnTo>
                      <a:lnTo>
                        <a:pt x="187" y="124"/>
                      </a:lnTo>
                      <a:lnTo>
                        <a:pt x="186" y="123"/>
                      </a:lnTo>
                      <a:lnTo>
                        <a:pt x="185" y="123"/>
                      </a:lnTo>
                      <a:lnTo>
                        <a:pt x="151" y="82"/>
                      </a:lnTo>
                      <a:lnTo>
                        <a:pt x="150" y="82"/>
                      </a:lnTo>
                      <a:lnTo>
                        <a:pt x="149" y="82"/>
                      </a:lnTo>
                      <a:lnTo>
                        <a:pt x="182" y="123"/>
                      </a:lnTo>
                      <a:lnTo>
                        <a:pt x="182" y="124"/>
                      </a:lnTo>
                      <a:lnTo>
                        <a:pt x="183" y="127"/>
                      </a:lnTo>
                      <a:lnTo>
                        <a:pt x="183" y="129"/>
                      </a:lnTo>
                      <a:lnTo>
                        <a:pt x="183" y="130"/>
                      </a:lnTo>
                      <a:lnTo>
                        <a:pt x="182" y="133"/>
                      </a:lnTo>
                      <a:lnTo>
                        <a:pt x="182" y="134"/>
                      </a:lnTo>
                      <a:lnTo>
                        <a:pt x="182" y="136"/>
                      </a:lnTo>
                      <a:lnTo>
                        <a:pt x="181" y="137"/>
                      </a:lnTo>
                      <a:lnTo>
                        <a:pt x="179" y="138"/>
                      </a:lnTo>
                      <a:lnTo>
                        <a:pt x="179" y="139"/>
                      </a:lnTo>
                      <a:lnTo>
                        <a:pt x="177" y="140"/>
                      </a:lnTo>
                      <a:lnTo>
                        <a:pt x="176" y="141"/>
                      </a:lnTo>
                      <a:lnTo>
                        <a:pt x="175" y="141"/>
                      </a:lnTo>
                      <a:lnTo>
                        <a:pt x="173" y="143"/>
                      </a:lnTo>
                      <a:lnTo>
                        <a:pt x="171" y="143"/>
                      </a:lnTo>
                      <a:lnTo>
                        <a:pt x="170" y="143"/>
                      </a:lnTo>
                      <a:lnTo>
                        <a:pt x="169" y="143"/>
                      </a:lnTo>
                      <a:lnTo>
                        <a:pt x="168" y="143"/>
                      </a:lnTo>
                      <a:lnTo>
                        <a:pt x="166" y="143"/>
                      </a:lnTo>
                      <a:lnTo>
                        <a:pt x="165" y="143"/>
                      </a:lnTo>
                      <a:lnTo>
                        <a:pt x="162" y="139"/>
                      </a:lnTo>
                      <a:lnTo>
                        <a:pt x="156" y="136"/>
                      </a:lnTo>
                      <a:lnTo>
                        <a:pt x="153" y="132"/>
                      </a:lnTo>
                      <a:lnTo>
                        <a:pt x="150" y="127"/>
                      </a:lnTo>
                      <a:lnTo>
                        <a:pt x="148" y="123"/>
                      </a:lnTo>
                      <a:lnTo>
                        <a:pt x="145" y="120"/>
                      </a:lnTo>
                      <a:lnTo>
                        <a:pt x="140" y="116"/>
                      </a:lnTo>
                      <a:lnTo>
                        <a:pt x="137" y="112"/>
                      </a:lnTo>
                      <a:lnTo>
                        <a:pt x="134" y="108"/>
                      </a:lnTo>
                      <a:lnTo>
                        <a:pt x="131" y="104"/>
                      </a:lnTo>
                      <a:lnTo>
                        <a:pt x="131" y="103"/>
                      </a:lnTo>
                      <a:lnTo>
                        <a:pt x="130" y="103"/>
                      </a:lnTo>
                      <a:lnTo>
                        <a:pt x="130" y="102"/>
                      </a:lnTo>
                      <a:lnTo>
                        <a:pt x="129" y="103"/>
                      </a:lnTo>
                      <a:lnTo>
                        <a:pt x="157" y="140"/>
                      </a:lnTo>
                      <a:lnTo>
                        <a:pt x="157" y="141"/>
                      </a:lnTo>
                      <a:lnTo>
                        <a:pt x="160" y="143"/>
                      </a:lnTo>
                      <a:lnTo>
                        <a:pt x="160" y="145"/>
                      </a:lnTo>
                      <a:lnTo>
                        <a:pt x="157" y="148"/>
                      </a:lnTo>
                      <a:lnTo>
                        <a:pt x="157" y="149"/>
                      </a:lnTo>
                      <a:lnTo>
                        <a:pt x="157" y="150"/>
                      </a:lnTo>
                      <a:lnTo>
                        <a:pt x="156" y="152"/>
                      </a:lnTo>
                      <a:lnTo>
                        <a:pt x="155" y="153"/>
                      </a:lnTo>
                      <a:lnTo>
                        <a:pt x="155" y="155"/>
                      </a:lnTo>
                      <a:lnTo>
                        <a:pt x="154" y="155"/>
                      </a:lnTo>
                      <a:lnTo>
                        <a:pt x="153" y="156"/>
                      </a:lnTo>
                      <a:lnTo>
                        <a:pt x="152" y="157"/>
                      </a:lnTo>
                      <a:lnTo>
                        <a:pt x="151" y="157"/>
                      </a:lnTo>
                      <a:lnTo>
                        <a:pt x="150" y="158"/>
                      </a:lnTo>
                      <a:lnTo>
                        <a:pt x="149" y="158"/>
                      </a:lnTo>
                      <a:lnTo>
                        <a:pt x="148" y="158"/>
                      </a:lnTo>
                      <a:lnTo>
                        <a:pt x="147" y="158"/>
                      </a:lnTo>
                      <a:lnTo>
                        <a:pt x="146" y="159"/>
                      </a:lnTo>
                      <a:lnTo>
                        <a:pt x="142" y="159"/>
                      </a:lnTo>
                      <a:lnTo>
                        <a:pt x="140" y="158"/>
                      </a:lnTo>
                      <a:lnTo>
                        <a:pt x="137" y="157"/>
                      </a:lnTo>
                      <a:lnTo>
                        <a:pt x="136" y="155"/>
                      </a:lnTo>
                      <a:lnTo>
                        <a:pt x="134" y="154"/>
                      </a:lnTo>
                      <a:lnTo>
                        <a:pt x="133" y="152"/>
                      </a:lnTo>
                      <a:lnTo>
                        <a:pt x="132" y="151"/>
                      </a:lnTo>
                      <a:lnTo>
                        <a:pt x="130" y="149"/>
                      </a:lnTo>
                      <a:lnTo>
                        <a:pt x="129" y="148"/>
                      </a:lnTo>
                      <a:lnTo>
                        <a:pt x="126" y="145"/>
                      </a:lnTo>
                      <a:lnTo>
                        <a:pt x="125" y="143"/>
                      </a:lnTo>
                      <a:lnTo>
                        <a:pt x="123" y="140"/>
                      </a:lnTo>
                      <a:lnTo>
                        <a:pt x="121" y="137"/>
                      </a:lnTo>
                      <a:lnTo>
                        <a:pt x="118" y="135"/>
                      </a:lnTo>
                      <a:lnTo>
                        <a:pt x="116" y="133"/>
                      </a:lnTo>
                      <a:lnTo>
                        <a:pt x="115" y="130"/>
                      </a:lnTo>
                      <a:lnTo>
                        <a:pt x="113" y="127"/>
                      </a:lnTo>
                      <a:lnTo>
                        <a:pt x="110" y="124"/>
                      </a:lnTo>
                      <a:lnTo>
                        <a:pt x="108" y="122"/>
                      </a:lnTo>
                      <a:lnTo>
                        <a:pt x="107" y="123"/>
                      </a:lnTo>
                      <a:lnTo>
                        <a:pt x="134" y="156"/>
                      </a:lnTo>
                      <a:lnTo>
                        <a:pt x="134" y="157"/>
                      </a:lnTo>
                      <a:lnTo>
                        <a:pt x="134" y="159"/>
                      </a:lnTo>
                      <a:lnTo>
                        <a:pt x="134" y="160"/>
                      </a:lnTo>
                      <a:lnTo>
                        <a:pt x="134" y="163"/>
                      </a:lnTo>
                      <a:lnTo>
                        <a:pt x="134" y="165"/>
                      </a:lnTo>
                      <a:lnTo>
                        <a:pt x="133" y="168"/>
                      </a:lnTo>
                      <a:lnTo>
                        <a:pt x="133" y="169"/>
                      </a:lnTo>
                      <a:lnTo>
                        <a:pt x="132" y="170"/>
                      </a:lnTo>
                      <a:lnTo>
                        <a:pt x="131" y="171"/>
                      </a:lnTo>
                      <a:lnTo>
                        <a:pt x="130" y="172"/>
                      </a:lnTo>
                      <a:lnTo>
                        <a:pt x="129" y="173"/>
                      </a:lnTo>
                      <a:lnTo>
                        <a:pt x="126" y="174"/>
                      </a:lnTo>
                      <a:lnTo>
                        <a:pt x="125" y="175"/>
                      </a:lnTo>
                      <a:lnTo>
                        <a:pt x="123" y="175"/>
                      </a:lnTo>
                      <a:lnTo>
                        <a:pt x="121" y="175"/>
                      </a:lnTo>
                      <a:lnTo>
                        <a:pt x="119" y="175"/>
                      </a:lnTo>
                      <a:lnTo>
                        <a:pt x="118" y="175"/>
                      </a:lnTo>
                      <a:lnTo>
                        <a:pt x="116" y="174"/>
                      </a:lnTo>
                      <a:lnTo>
                        <a:pt x="115" y="174"/>
                      </a:lnTo>
                      <a:lnTo>
                        <a:pt x="114" y="173"/>
                      </a:lnTo>
                      <a:lnTo>
                        <a:pt x="112" y="172"/>
                      </a:lnTo>
                      <a:lnTo>
                        <a:pt x="110" y="171"/>
                      </a:lnTo>
                      <a:lnTo>
                        <a:pt x="109" y="170"/>
                      </a:lnTo>
                      <a:lnTo>
                        <a:pt x="108" y="169"/>
                      </a:lnTo>
                      <a:lnTo>
                        <a:pt x="106" y="167"/>
                      </a:lnTo>
                      <a:lnTo>
                        <a:pt x="106" y="165"/>
                      </a:lnTo>
                      <a:lnTo>
                        <a:pt x="104" y="165"/>
                      </a:lnTo>
                      <a:lnTo>
                        <a:pt x="104" y="161"/>
                      </a:lnTo>
                      <a:lnTo>
                        <a:pt x="104" y="159"/>
                      </a:lnTo>
                      <a:lnTo>
                        <a:pt x="103" y="158"/>
                      </a:lnTo>
                      <a:lnTo>
                        <a:pt x="102" y="157"/>
                      </a:lnTo>
                      <a:lnTo>
                        <a:pt x="101" y="155"/>
                      </a:lnTo>
                      <a:lnTo>
                        <a:pt x="100" y="154"/>
                      </a:lnTo>
                      <a:lnTo>
                        <a:pt x="99" y="153"/>
                      </a:lnTo>
                      <a:lnTo>
                        <a:pt x="97" y="152"/>
                      </a:lnTo>
                      <a:lnTo>
                        <a:pt x="95" y="152"/>
                      </a:lnTo>
                      <a:lnTo>
                        <a:pt x="93" y="152"/>
                      </a:lnTo>
                      <a:lnTo>
                        <a:pt x="92" y="151"/>
                      </a:lnTo>
                      <a:lnTo>
                        <a:pt x="90" y="151"/>
                      </a:lnTo>
                      <a:lnTo>
                        <a:pt x="83" y="152"/>
                      </a:lnTo>
                      <a:lnTo>
                        <a:pt x="84" y="151"/>
                      </a:lnTo>
                      <a:lnTo>
                        <a:pt x="84" y="150"/>
                      </a:lnTo>
                      <a:lnTo>
                        <a:pt x="84" y="149"/>
                      </a:lnTo>
                      <a:lnTo>
                        <a:pt x="84" y="148"/>
                      </a:lnTo>
                      <a:lnTo>
                        <a:pt x="84" y="145"/>
                      </a:lnTo>
                      <a:lnTo>
                        <a:pt x="84" y="143"/>
                      </a:lnTo>
                      <a:lnTo>
                        <a:pt x="84" y="141"/>
                      </a:lnTo>
                      <a:lnTo>
                        <a:pt x="83" y="140"/>
                      </a:lnTo>
                      <a:lnTo>
                        <a:pt x="83" y="139"/>
                      </a:lnTo>
                      <a:lnTo>
                        <a:pt x="82" y="138"/>
                      </a:lnTo>
                      <a:lnTo>
                        <a:pt x="82" y="137"/>
                      </a:lnTo>
                      <a:lnTo>
                        <a:pt x="81" y="136"/>
                      </a:lnTo>
                      <a:lnTo>
                        <a:pt x="79" y="135"/>
                      </a:lnTo>
                      <a:lnTo>
                        <a:pt x="78" y="134"/>
                      </a:lnTo>
                      <a:lnTo>
                        <a:pt x="77" y="133"/>
                      </a:lnTo>
                      <a:lnTo>
                        <a:pt x="76" y="133"/>
                      </a:lnTo>
                      <a:lnTo>
                        <a:pt x="75" y="132"/>
                      </a:lnTo>
                      <a:lnTo>
                        <a:pt x="74" y="132"/>
                      </a:lnTo>
                      <a:lnTo>
                        <a:pt x="73" y="130"/>
                      </a:lnTo>
                      <a:lnTo>
                        <a:pt x="72" y="130"/>
                      </a:lnTo>
                      <a:lnTo>
                        <a:pt x="71" y="130"/>
                      </a:lnTo>
                      <a:lnTo>
                        <a:pt x="69" y="130"/>
                      </a:lnTo>
                      <a:lnTo>
                        <a:pt x="67" y="130"/>
                      </a:lnTo>
                      <a:lnTo>
                        <a:pt x="66" y="132"/>
                      </a:lnTo>
                      <a:lnTo>
                        <a:pt x="64" y="132"/>
                      </a:lnTo>
                      <a:lnTo>
                        <a:pt x="63" y="132"/>
                      </a:lnTo>
                      <a:lnTo>
                        <a:pt x="62" y="133"/>
                      </a:lnTo>
                      <a:lnTo>
                        <a:pt x="62" y="132"/>
                      </a:lnTo>
                      <a:lnTo>
                        <a:pt x="62" y="130"/>
                      </a:lnTo>
                      <a:lnTo>
                        <a:pt x="62" y="127"/>
                      </a:lnTo>
                      <a:lnTo>
                        <a:pt x="63" y="127"/>
                      </a:lnTo>
                      <a:lnTo>
                        <a:pt x="62" y="125"/>
                      </a:lnTo>
                      <a:lnTo>
                        <a:pt x="62" y="124"/>
                      </a:lnTo>
                      <a:lnTo>
                        <a:pt x="62" y="123"/>
                      </a:lnTo>
                      <a:lnTo>
                        <a:pt x="62" y="121"/>
                      </a:lnTo>
                      <a:lnTo>
                        <a:pt x="61" y="120"/>
                      </a:lnTo>
                      <a:lnTo>
                        <a:pt x="61" y="119"/>
                      </a:lnTo>
                      <a:lnTo>
                        <a:pt x="60" y="118"/>
                      </a:lnTo>
                      <a:lnTo>
                        <a:pt x="60" y="117"/>
                      </a:lnTo>
                      <a:lnTo>
                        <a:pt x="59" y="116"/>
                      </a:lnTo>
                      <a:lnTo>
                        <a:pt x="58" y="114"/>
                      </a:lnTo>
                      <a:lnTo>
                        <a:pt x="57" y="114"/>
                      </a:lnTo>
                      <a:lnTo>
                        <a:pt x="56" y="113"/>
                      </a:lnTo>
                      <a:lnTo>
                        <a:pt x="55" y="112"/>
                      </a:lnTo>
                      <a:lnTo>
                        <a:pt x="54" y="112"/>
                      </a:lnTo>
                      <a:lnTo>
                        <a:pt x="53" y="111"/>
                      </a:lnTo>
                      <a:lnTo>
                        <a:pt x="52" y="111"/>
                      </a:lnTo>
                      <a:lnTo>
                        <a:pt x="50" y="111"/>
                      </a:lnTo>
                      <a:lnTo>
                        <a:pt x="47" y="111"/>
                      </a:lnTo>
                      <a:lnTo>
                        <a:pt x="46" y="111"/>
                      </a:lnTo>
                      <a:lnTo>
                        <a:pt x="45" y="111"/>
                      </a:lnTo>
                      <a:lnTo>
                        <a:pt x="44" y="111"/>
                      </a:lnTo>
                      <a:lnTo>
                        <a:pt x="43" y="111"/>
                      </a:lnTo>
                      <a:lnTo>
                        <a:pt x="42" y="112"/>
                      </a:lnTo>
                      <a:lnTo>
                        <a:pt x="41" y="113"/>
                      </a:lnTo>
                      <a:lnTo>
                        <a:pt x="41" y="111"/>
                      </a:lnTo>
                      <a:lnTo>
                        <a:pt x="41" y="110"/>
                      </a:lnTo>
                      <a:lnTo>
                        <a:pt x="42" y="108"/>
                      </a:lnTo>
                      <a:lnTo>
                        <a:pt x="42" y="106"/>
                      </a:lnTo>
                      <a:lnTo>
                        <a:pt x="42" y="104"/>
                      </a:lnTo>
                      <a:lnTo>
                        <a:pt x="42" y="103"/>
                      </a:lnTo>
                      <a:lnTo>
                        <a:pt x="41" y="102"/>
                      </a:lnTo>
                      <a:lnTo>
                        <a:pt x="41" y="101"/>
                      </a:lnTo>
                      <a:lnTo>
                        <a:pt x="41" y="99"/>
                      </a:lnTo>
                      <a:lnTo>
                        <a:pt x="40" y="98"/>
                      </a:lnTo>
                      <a:lnTo>
                        <a:pt x="39" y="97"/>
                      </a:lnTo>
                      <a:lnTo>
                        <a:pt x="39" y="96"/>
                      </a:lnTo>
                      <a:lnTo>
                        <a:pt x="38" y="94"/>
                      </a:lnTo>
                      <a:lnTo>
                        <a:pt x="37" y="94"/>
                      </a:lnTo>
                      <a:lnTo>
                        <a:pt x="36" y="93"/>
                      </a:lnTo>
                      <a:lnTo>
                        <a:pt x="35" y="92"/>
                      </a:lnTo>
                      <a:lnTo>
                        <a:pt x="34" y="91"/>
                      </a:lnTo>
                      <a:lnTo>
                        <a:pt x="32" y="91"/>
                      </a:lnTo>
                      <a:lnTo>
                        <a:pt x="30" y="91"/>
                      </a:lnTo>
                      <a:lnTo>
                        <a:pt x="28" y="91"/>
                      </a:lnTo>
                      <a:lnTo>
                        <a:pt x="26" y="91"/>
                      </a:lnTo>
                      <a:lnTo>
                        <a:pt x="24" y="91"/>
                      </a:lnTo>
                      <a:lnTo>
                        <a:pt x="23" y="91"/>
                      </a:lnTo>
                      <a:lnTo>
                        <a:pt x="22" y="92"/>
                      </a:lnTo>
                      <a:lnTo>
                        <a:pt x="20" y="92"/>
                      </a:lnTo>
                      <a:lnTo>
                        <a:pt x="19" y="93"/>
                      </a:lnTo>
                      <a:lnTo>
                        <a:pt x="17" y="94"/>
                      </a:lnTo>
                      <a:lnTo>
                        <a:pt x="16" y="95"/>
                      </a:lnTo>
                      <a:lnTo>
                        <a:pt x="15" y="97"/>
                      </a:lnTo>
                      <a:lnTo>
                        <a:pt x="0" y="87"/>
                      </a:lnTo>
                      <a:lnTo>
                        <a:pt x="50" y="0"/>
                      </a:lnTo>
                      <a:lnTo>
                        <a:pt x="77" y="9"/>
                      </a:lnTo>
                      <a:lnTo>
                        <a:pt x="63" y="41"/>
                      </a:lnTo>
                    </a:path>
                  </a:pathLst>
                </a:custGeom>
                <a:no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17527" name="Group 1039"/>
                <p:cNvGrpSpPr>
                  <a:grpSpLocks/>
                </p:cNvGrpSpPr>
                <p:nvPr/>
              </p:nvGrpSpPr>
              <p:grpSpPr bwMode="auto">
                <a:xfrm>
                  <a:off x="2547" y="2599"/>
                  <a:ext cx="95" cy="88"/>
                  <a:chOff x="2547" y="2599"/>
                  <a:chExt cx="95" cy="88"/>
                </a:xfrm>
              </p:grpSpPr>
              <p:sp>
                <p:nvSpPr>
                  <p:cNvPr id="17528" name="Freeform 1040"/>
                  <p:cNvSpPr>
                    <a:spLocks/>
                  </p:cNvSpPr>
                  <p:nvPr/>
                </p:nvSpPr>
                <p:spPr bwMode="auto">
                  <a:xfrm>
                    <a:off x="2547" y="2599"/>
                    <a:ext cx="32" cy="36"/>
                  </a:xfrm>
                  <a:custGeom>
                    <a:avLst/>
                    <a:gdLst>
                      <a:gd name="T0" fmla="*/ 28 w 32"/>
                      <a:gd name="T1" fmla="*/ 3 h 36"/>
                      <a:gd name="T2" fmla="*/ 29 w 32"/>
                      <a:gd name="T3" fmla="*/ 3 h 36"/>
                      <a:gd name="T4" fmla="*/ 30 w 32"/>
                      <a:gd name="T5" fmla="*/ 6 h 36"/>
                      <a:gd name="T6" fmla="*/ 31 w 32"/>
                      <a:gd name="T7" fmla="*/ 6 h 36"/>
                      <a:gd name="T8" fmla="*/ 31 w 32"/>
                      <a:gd name="T9" fmla="*/ 9 h 36"/>
                      <a:gd name="T10" fmla="*/ 31 w 32"/>
                      <a:gd name="T11" fmla="*/ 10 h 36"/>
                      <a:gd name="T12" fmla="*/ 32 w 32"/>
                      <a:gd name="T13" fmla="*/ 12 h 36"/>
                      <a:gd name="T14" fmla="*/ 32 w 32"/>
                      <a:gd name="T15" fmla="*/ 13 h 36"/>
                      <a:gd name="T16" fmla="*/ 32 w 32"/>
                      <a:gd name="T17" fmla="*/ 15 h 36"/>
                      <a:gd name="T18" fmla="*/ 32 w 32"/>
                      <a:gd name="T19" fmla="*/ 16 h 36"/>
                      <a:gd name="T20" fmla="*/ 32 w 32"/>
                      <a:gd name="T21" fmla="*/ 17 h 36"/>
                      <a:gd name="T22" fmla="*/ 31 w 32"/>
                      <a:gd name="T23" fmla="*/ 19 h 36"/>
                      <a:gd name="T24" fmla="*/ 30 w 32"/>
                      <a:gd name="T25" fmla="*/ 21 h 36"/>
                      <a:gd name="T26" fmla="*/ 29 w 32"/>
                      <a:gd name="T27" fmla="*/ 24 h 36"/>
                      <a:gd name="T28" fmla="*/ 28 w 32"/>
                      <a:gd name="T29" fmla="*/ 26 h 36"/>
                      <a:gd name="T30" fmla="*/ 26 w 32"/>
                      <a:gd name="T31" fmla="*/ 28 h 36"/>
                      <a:gd name="T32" fmla="*/ 24 w 32"/>
                      <a:gd name="T33" fmla="*/ 31 h 36"/>
                      <a:gd name="T34" fmla="*/ 22 w 32"/>
                      <a:gd name="T35" fmla="*/ 32 h 36"/>
                      <a:gd name="T36" fmla="*/ 20 w 32"/>
                      <a:gd name="T37" fmla="*/ 34 h 36"/>
                      <a:gd name="T38" fmla="*/ 18 w 32"/>
                      <a:gd name="T39" fmla="*/ 35 h 36"/>
                      <a:gd name="T40" fmla="*/ 16 w 32"/>
                      <a:gd name="T41" fmla="*/ 35 h 36"/>
                      <a:gd name="T42" fmla="*/ 15 w 32"/>
                      <a:gd name="T43" fmla="*/ 36 h 36"/>
                      <a:gd name="T44" fmla="*/ 14 w 32"/>
                      <a:gd name="T45" fmla="*/ 36 h 36"/>
                      <a:gd name="T46" fmla="*/ 13 w 32"/>
                      <a:gd name="T47" fmla="*/ 36 h 36"/>
                      <a:gd name="T48" fmla="*/ 12 w 32"/>
                      <a:gd name="T49" fmla="*/ 36 h 36"/>
                      <a:gd name="T50" fmla="*/ 11 w 32"/>
                      <a:gd name="T51" fmla="*/ 36 h 36"/>
                      <a:gd name="T52" fmla="*/ 9 w 32"/>
                      <a:gd name="T53" fmla="*/ 35 h 36"/>
                      <a:gd name="T54" fmla="*/ 8 w 32"/>
                      <a:gd name="T55" fmla="*/ 35 h 36"/>
                      <a:gd name="T56" fmla="*/ 6 w 32"/>
                      <a:gd name="T57" fmla="*/ 34 h 36"/>
                      <a:gd name="T58" fmla="*/ 6 w 32"/>
                      <a:gd name="T59" fmla="*/ 34 h 36"/>
                      <a:gd name="T60" fmla="*/ 4 w 32"/>
                      <a:gd name="T61" fmla="*/ 33 h 36"/>
                      <a:gd name="T62" fmla="*/ 3 w 32"/>
                      <a:gd name="T63" fmla="*/ 32 h 36"/>
                      <a:gd name="T64" fmla="*/ 2 w 32"/>
                      <a:gd name="T65" fmla="*/ 31 h 36"/>
                      <a:gd name="T66" fmla="*/ 2 w 32"/>
                      <a:gd name="T67" fmla="*/ 30 h 36"/>
                      <a:gd name="T68" fmla="*/ 1 w 32"/>
                      <a:gd name="T69" fmla="*/ 28 h 36"/>
                      <a:gd name="T70" fmla="*/ 1 w 32"/>
                      <a:gd name="T71" fmla="*/ 28 h 36"/>
                      <a:gd name="T72" fmla="*/ 0 w 32"/>
                      <a:gd name="T73" fmla="*/ 26 h 36"/>
                      <a:gd name="T74" fmla="*/ 0 w 32"/>
                      <a:gd name="T75" fmla="*/ 24 h 36"/>
                      <a:gd name="T76" fmla="*/ 0 w 32"/>
                      <a:gd name="T77" fmla="*/ 23 h 36"/>
                      <a:gd name="T78" fmla="*/ 0 w 32"/>
                      <a:gd name="T79" fmla="*/ 21 h 36"/>
                      <a:gd name="T80" fmla="*/ 1 w 32"/>
                      <a:gd name="T81" fmla="*/ 18 h 36"/>
                      <a:gd name="T82" fmla="*/ 1 w 32"/>
                      <a:gd name="T83" fmla="*/ 16 h 36"/>
                      <a:gd name="T84" fmla="*/ 2 w 32"/>
                      <a:gd name="T85" fmla="*/ 14 h 36"/>
                      <a:gd name="T86" fmla="*/ 4 w 32"/>
                      <a:gd name="T87" fmla="*/ 12 h 36"/>
                      <a:gd name="T88" fmla="*/ 6 w 32"/>
                      <a:gd name="T89" fmla="*/ 10 h 36"/>
                      <a:gd name="T90" fmla="*/ 6 w 32"/>
                      <a:gd name="T91" fmla="*/ 6 h 36"/>
                      <a:gd name="T92" fmla="*/ 9 w 32"/>
                      <a:gd name="T93" fmla="*/ 4 h 36"/>
                      <a:gd name="T94" fmla="*/ 12 w 32"/>
                      <a:gd name="T95" fmla="*/ 2 h 36"/>
                      <a:gd name="T96" fmla="*/ 13 w 32"/>
                      <a:gd name="T97" fmla="*/ 1 h 36"/>
                      <a:gd name="T98" fmla="*/ 16 w 32"/>
                      <a:gd name="T99" fmla="*/ 0 h 36"/>
                      <a:gd name="T100" fmla="*/ 17 w 32"/>
                      <a:gd name="T101" fmla="*/ 0 h 36"/>
                      <a:gd name="T102" fmla="*/ 18 w 32"/>
                      <a:gd name="T103" fmla="*/ 0 h 36"/>
                      <a:gd name="T104" fmla="*/ 19 w 32"/>
                      <a:gd name="T105" fmla="*/ 0 h 36"/>
                      <a:gd name="T106" fmla="*/ 20 w 32"/>
                      <a:gd name="T107" fmla="*/ 0 h 36"/>
                      <a:gd name="T108" fmla="*/ 22 w 32"/>
                      <a:gd name="T109" fmla="*/ 0 h 36"/>
                      <a:gd name="T110" fmla="*/ 22 w 32"/>
                      <a:gd name="T111" fmla="*/ 1 h 36"/>
                      <a:gd name="T112" fmla="*/ 24 w 32"/>
                      <a:gd name="T113" fmla="*/ 1 h 36"/>
                      <a:gd name="T114" fmla="*/ 26 w 32"/>
                      <a:gd name="T115" fmla="*/ 1 h 36"/>
                      <a:gd name="T116" fmla="*/ 27 w 32"/>
                      <a:gd name="T117" fmla="*/ 2 h 36"/>
                      <a:gd name="T118" fmla="*/ 28 w 32"/>
                      <a:gd name="T119" fmla="*/ 3 h 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60000 65536"/>
                      <a:gd name="T175" fmla="*/ 0 60000 65536"/>
                      <a:gd name="T176" fmla="*/ 0 60000 65536"/>
                      <a:gd name="T177" fmla="*/ 0 60000 65536"/>
                      <a:gd name="T178" fmla="*/ 0 60000 65536"/>
                      <a:gd name="T179" fmla="*/ 0 60000 65536"/>
                      <a:gd name="T180" fmla="*/ 0 w 32"/>
                      <a:gd name="T181" fmla="*/ 0 h 36"/>
                      <a:gd name="T182" fmla="*/ 32 w 32"/>
                      <a:gd name="T183" fmla="*/ 36 h 36"/>
                    </a:gdLst>
                    <a:ahLst/>
                    <a:cxnLst>
                      <a:cxn ang="T120">
                        <a:pos x="T0" y="T1"/>
                      </a:cxn>
                      <a:cxn ang="T121">
                        <a:pos x="T2" y="T3"/>
                      </a:cxn>
                      <a:cxn ang="T122">
                        <a:pos x="T4" y="T5"/>
                      </a:cxn>
                      <a:cxn ang="T123">
                        <a:pos x="T6" y="T7"/>
                      </a:cxn>
                      <a:cxn ang="T124">
                        <a:pos x="T8" y="T9"/>
                      </a:cxn>
                      <a:cxn ang="T125">
                        <a:pos x="T10" y="T11"/>
                      </a:cxn>
                      <a:cxn ang="T126">
                        <a:pos x="T12" y="T13"/>
                      </a:cxn>
                      <a:cxn ang="T127">
                        <a:pos x="T14" y="T15"/>
                      </a:cxn>
                      <a:cxn ang="T128">
                        <a:pos x="T16" y="T17"/>
                      </a:cxn>
                      <a:cxn ang="T129">
                        <a:pos x="T18" y="T19"/>
                      </a:cxn>
                      <a:cxn ang="T130">
                        <a:pos x="T20" y="T21"/>
                      </a:cxn>
                      <a:cxn ang="T131">
                        <a:pos x="T22" y="T23"/>
                      </a:cxn>
                      <a:cxn ang="T132">
                        <a:pos x="T24" y="T25"/>
                      </a:cxn>
                      <a:cxn ang="T133">
                        <a:pos x="T26" y="T27"/>
                      </a:cxn>
                      <a:cxn ang="T134">
                        <a:pos x="T28" y="T29"/>
                      </a:cxn>
                      <a:cxn ang="T135">
                        <a:pos x="T30" y="T31"/>
                      </a:cxn>
                      <a:cxn ang="T136">
                        <a:pos x="T32" y="T33"/>
                      </a:cxn>
                      <a:cxn ang="T137">
                        <a:pos x="T34" y="T35"/>
                      </a:cxn>
                      <a:cxn ang="T138">
                        <a:pos x="T36" y="T37"/>
                      </a:cxn>
                      <a:cxn ang="T139">
                        <a:pos x="T38" y="T39"/>
                      </a:cxn>
                      <a:cxn ang="T140">
                        <a:pos x="T40" y="T41"/>
                      </a:cxn>
                      <a:cxn ang="T141">
                        <a:pos x="T42" y="T43"/>
                      </a:cxn>
                      <a:cxn ang="T142">
                        <a:pos x="T44" y="T45"/>
                      </a:cxn>
                      <a:cxn ang="T143">
                        <a:pos x="T46" y="T47"/>
                      </a:cxn>
                      <a:cxn ang="T144">
                        <a:pos x="T48" y="T49"/>
                      </a:cxn>
                      <a:cxn ang="T145">
                        <a:pos x="T50" y="T51"/>
                      </a:cxn>
                      <a:cxn ang="T146">
                        <a:pos x="T52" y="T53"/>
                      </a:cxn>
                      <a:cxn ang="T147">
                        <a:pos x="T54" y="T55"/>
                      </a:cxn>
                      <a:cxn ang="T148">
                        <a:pos x="T56" y="T57"/>
                      </a:cxn>
                      <a:cxn ang="T149">
                        <a:pos x="T58" y="T59"/>
                      </a:cxn>
                      <a:cxn ang="T150">
                        <a:pos x="T60" y="T61"/>
                      </a:cxn>
                      <a:cxn ang="T151">
                        <a:pos x="T62" y="T63"/>
                      </a:cxn>
                      <a:cxn ang="T152">
                        <a:pos x="T64" y="T65"/>
                      </a:cxn>
                      <a:cxn ang="T153">
                        <a:pos x="T66" y="T67"/>
                      </a:cxn>
                      <a:cxn ang="T154">
                        <a:pos x="T68" y="T69"/>
                      </a:cxn>
                      <a:cxn ang="T155">
                        <a:pos x="T70" y="T71"/>
                      </a:cxn>
                      <a:cxn ang="T156">
                        <a:pos x="T72" y="T73"/>
                      </a:cxn>
                      <a:cxn ang="T157">
                        <a:pos x="T74" y="T75"/>
                      </a:cxn>
                      <a:cxn ang="T158">
                        <a:pos x="T76" y="T77"/>
                      </a:cxn>
                      <a:cxn ang="T159">
                        <a:pos x="T78" y="T79"/>
                      </a:cxn>
                      <a:cxn ang="T160">
                        <a:pos x="T80" y="T81"/>
                      </a:cxn>
                      <a:cxn ang="T161">
                        <a:pos x="T82" y="T83"/>
                      </a:cxn>
                      <a:cxn ang="T162">
                        <a:pos x="T84" y="T85"/>
                      </a:cxn>
                      <a:cxn ang="T163">
                        <a:pos x="T86" y="T87"/>
                      </a:cxn>
                      <a:cxn ang="T164">
                        <a:pos x="T88" y="T89"/>
                      </a:cxn>
                      <a:cxn ang="T165">
                        <a:pos x="T90" y="T91"/>
                      </a:cxn>
                      <a:cxn ang="T166">
                        <a:pos x="T92" y="T93"/>
                      </a:cxn>
                      <a:cxn ang="T167">
                        <a:pos x="T94" y="T95"/>
                      </a:cxn>
                      <a:cxn ang="T168">
                        <a:pos x="T96" y="T97"/>
                      </a:cxn>
                      <a:cxn ang="T169">
                        <a:pos x="T98" y="T99"/>
                      </a:cxn>
                      <a:cxn ang="T170">
                        <a:pos x="T100" y="T101"/>
                      </a:cxn>
                      <a:cxn ang="T171">
                        <a:pos x="T102" y="T103"/>
                      </a:cxn>
                      <a:cxn ang="T172">
                        <a:pos x="T104" y="T105"/>
                      </a:cxn>
                      <a:cxn ang="T173">
                        <a:pos x="T106" y="T107"/>
                      </a:cxn>
                      <a:cxn ang="T174">
                        <a:pos x="T108" y="T109"/>
                      </a:cxn>
                      <a:cxn ang="T175">
                        <a:pos x="T110" y="T111"/>
                      </a:cxn>
                      <a:cxn ang="T176">
                        <a:pos x="T112" y="T113"/>
                      </a:cxn>
                      <a:cxn ang="T177">
                        <a:pos x="T114" y="T115"/>
                      </a:cxn>
                      <a:cxn ang="T178">
                        <a:pos x="T116" y="T117"/>
                      </a:cxn>
                      <a:cxn ang="T179">
                        <a:pos x="T118" y="T119"/>
                      </a:cxn>
                    </a:cxnLst>
                    <a:rect l="T180" t="T181" r="T182" b="T183"/>
                    <a:pathLst>
                      <a:path w="32" h="36">
                        <a:moveTo>
                          <a:pt x="28" y="3"/>
                        </a:moveTo>
                        <a:lnTo>
                          <a:pt x="29" y="3"/>
                        </a:lnTo>
                        <a:lnTo>
                          <a:pt x="30" y="6"/>
                        </a:lnTo>
                        <a:lnTo>
                          <a:pt x="31" y="6"/>
                        </a:lnTo>
                        <a:lnTo>
                          <a:pt x="31" y="9"/>
                        </a:lnTo>
                        <a:lnTo>
                          <a:pt x="31" y="10"/>
                        </a:lnTo>
                        <a:lnTo>
                          <a:pt x="32" y="12"/>
                        </a:lnTo>
                        <a:lnTo>
                          <a:pt x="32" y="13"/>
                        </a:lnTo>
                        <a:lnTo>
                          <a:pt x="32" y="15"/>
                        </a:lnTo>
                        <a:lnTo>
                          <a:pt x="32" y="16"/>
                        </a:lnTo>
                        <a:lnTo>
                          <a:pt x="32" y="17"/>
                        </a:lnTo>
                        <a:lnTo>
                          <a:pt x="31" y="19"/>
                        </a:lnTo>
                        <a:lnTo>
                          <a:pt x="30" y="21"/>
                        </a:lnTo>
                        <a:lnTo>
                          <a:pt x="29" y="24"/>
                        </a:lnTo>
                        <a:lnTo>
                          <a:pt x="28" y="26"/>
                        </a:lnTo>
                        <a:lnTo>
                          <a:pt x="26" y="28"/>
                        </a:lnTo>
                        <a:lnTo>
                          <a:pt x="24" y="31"/>
                        </a:lnTo>
                        <a:lnTo>
                          <a:pt x="22" y="32"/>
                        </a:lnTo>
                        <a:lnTo>
                          <a:pt x="20" y="34"/>
                        </a:lnTo>
                        <a:lnTo>
                          <a:pt x="18" y="35"/>
                        </a:lnTo>
                        <a:lnTo>
                          <a:pt x="16" y="35"/>
                        </a:lnTo>
                        <a:lnTo>
                          <a:pt x="15" y="36"/>
                        </a:lnTo>
                        <a:lnTo>
                          <a:pt x="14" y="36"/>
                        </a:lnTo>
                        <a:lnTo>
                          <a:pt x="13" y="36"/>
                        </a:lnTo>
                        <a:lnTo>
                          <a:pt x="12" y="36"/>
                        </a:lnTo>
                        <a:lnTo>
                          <a:pt x="11" y="36"/>
                        </a:lnTo>
                        <a:lnTo>
                          <a:pt x="9" y="35"/>
                        </a:lnTo>
                        <a:lnTo>
                          <a:pt x="8" y="35"/>
                        </a:lnTo>
                        <a:lnTo>
                          <a:pt x="6" y="34"/>
                        </a:lnTo>
                        <a:lnTo>
                          <a:pt x="4" y="33"/>
                        </a:lnTo>
                        <a:lnTo>
                          <a:pt x="3" y="32"/>
                        </a:lnTo>
                        <a:lnTo>
                          <a:pt x="2" y="31"/>
                        </a:lnTo>
                        <a:lnTo>
                          <a:pt x="2" y="30"/>
                        </a:lnTo>
                        <a:lnTo>
                          <a:pt x="1" y="28"/>
                        </a:lnTo>
                        <a:lnTo>
                          <a:pt x="0" y="26"/>
                        </a:lnTo>
                        <a:lnTo>
                          <a:pt x="0" y="24"/>
                        </a:lnTo>
                        <a:lnTo>
                          <a:pt x="0" y="23"/>
                        </a:lnTo>
                        <a:lnTo>
                          <a:pt x="0" y="21"/>
                        </a:lnTo>
                        <a:lnTo>
                          <a:pt x="1" y="18"/>
                        </a:lnTo>
                        <a:lnTo>
                          <a:pt x="1" y="16"/>
                        </a:lnTo>
                        <a:lnTo>
                          <a:pt x="2" y="14"/>
                        </a:lnTo>
                        <a:lnTo>
                          <a:pt x="4" y="12"/>
                        </a:lnTo>
                        <a:lnTo>
                          <a:pt x="6" y="10"/>
                        </a:lnTo>
                        <a:lnTo>
                          <a:pt x="6" y="6"/>
                        </a:lnTo>
                        <a:lnTo>
                          <a:pt x="9" y="4"/>
                        </a:lnTo>
                        <a:lnTo>
                          <a:pt x="12" y="2"/>
                        </a:lnTo>
                        <a:lnTo>
                          <a:pt x="13" y="1"/>
                        </a:lnTo>
                        <a:lnTo>
                          <a:pt x="16" y="0"/>
                        </a:lnTo>
                        <a:lnTo>
                          <a:pt x="17" y="0"/>
                        </a:lnTo>
                        <a:lnTo>
                          <a:pt x="18" y="0"/>
                        </a:lnTo>
                        <a:lnTo>
                          <a:pt x="19" y="0"/>
                        </a:lnTo>
                        <a:lnTo>
                          <a:pt x="20" y="0"/>
                        </a:lnTo>
                        <a:lnTo>
                          <a:pt x="22" y="0"/>
                        </a:lnTo>
                        <a:lnTo>
                          <a:pt x="22" y="1"/>
                        </a:lnTo>
                        <a:lnTo>
                          <a:pt x="24" y="1"/>
                        </a:lnTo>
                        <a:lnTo>
                          <a:pt x="26" y="1"/>
                        </a:lnTo>
                        <a:lnTo>
                          <a:pt x="27" y="2"/>
                        </a:lnTo>
                        <a:lnTo>
                          <a:pt x="28" y="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7529" name="Group 1041"/>
                  <p:cNvGrpSpPr>
                    <a:grpSpLocks/>
                  </p:cNvGrpSpPr>
                  <p:nvPr/>
                </p:nvGrpSpPr>
                <p:grpSpPr bwMode="auto">
                  <a:xfrm>
                    <a:off x="2547" y="2599"/>
                    <a:ext cx="32" cy="36"/>
                    <a:chOff x="2547" y="2599"/>
                    <a:chExt cx="32" cy="36"/>
                  </a:xfrm>
                </p:grpSpPr>
                <p:sp>
                  <p:nvSpPr>
                    <p:cNvPr id="17558" name="Freeform 1042"/>
                    <p:cNvSpPr>
                      <a:spLocks/>
                    </p:cNvSpPr>
                    <p:nvPr/>
                  </p:nvSpPr>
                  <p:spPr bwMode="auto">
                    <a:xfrm>
                      <a:off x="2547" y="2599"/>
                      <a:ext cx="32" cy="36"/>
                    </a:xfrm>
                    <a:custGeom>
                      <a:avLst/>
                      <a:gdLst>
                        <a:gd name="T0" fmla="*/ 28 w 32"/>
                        <a:gd name="T1" fmla="*/ 3 h 36"/>
                        <a:gd name="T2" fmla="*/ 29 w 32"/>
                        <a:gd name="T3" fmla="*/ 3 h 36"/>
                        <a:gd name="T4" fmla="*/ 30 w 32"/>
                        <a:gd name="T5" fmla="*/ 6 h 36"/>
                        <a:gd name="T6" fmla="*/ 31 w 32"/>
                        <a:gd name="T7" fmla="*/ 6 h 36"/>
                        <a:gd name="T8" fmla="*/ 31 w 32"/>
                        <a:gd name="T9" fmla="*/ 9 h 36"/>
                        <a:gd name="T10" fmla="*/ 31 w 32"/>
                        <a:gd name="T11" fmla="*/ 10 h 36"/>
                        <a:gd name="T12" fmla="*/ 32 w 32"/>
                        <a:gd name="T13" fmla="*/ 12 h 36"/>
                        <a:gd name="T14" fmla="*/ 32 w 32"/>
                        <a:gd name="T15" fmla="*/ 13 h 36"/>
                        <a:gd name="T16" fmla="*/ 32 w 32"/>
                        <a:gd name="T17" fmla="*/ 15 h 36"/>
                        <a:gd name="T18" fmla="*/ 32 w 32"/>
                        <a:gd name="T19" fmla="*/ 16 h 36"/>
                        <a:gd name="T20" fmla="*/ 32 w 32"/>
                        <a:gd name="T21" fmla="*/ 17 h 36"/>
                        <a:gd name="T22" fmla="*/ 31 w 32"/>
                        <a:gd name="T23" fmla="*/ 19 h 36"/>
                        <a:gd name="T24" fmla="*/ 30 w 32"/>
                        <a:gd name="T25" fmla="*/ 21 h 36"/>
                        <a:gd name="T26" fmla="*/ 29 w 32"/>
                        <a:gd name="T27" fmla="*/ 24 h 36"/>
                        <a:gd name="T28" fmla="*/ 28 w 32"/>
                        <a:gd name="T29" fmla="*/ 26 h 36"/>
                        <a:gd name="T30" fmla="*/ 26 w 32"/>
                        <a:gd name="T31" fmla="*/ 28 h 36"/>
                        <a:gd name="T32" fmla="*/ 24 w 32"/>
                        <a:gd name="T33" fmla="*/ 31 h 36"/>
                        <a:gd name="T34" fmla="*/ 22 w 32"/>
                        <a:gd name="T35" fmla="*/ 32 h 36"/>
                        <a:gd name="T36" fmla="*/ 20 w 32"/>
                        <a:gd name="T37" fmla="*/ 34 h 36"/>
                        <a:gd name="T38" fmla="*/ 18 w 32"/>
                        <a:gd name="T39" fmla="*/ 35 h 36"/>
                        <a:gd name="T40" fmla="*/ 16 w 32"/>
                        <a:gd name="T41" fmla="*/ 35 h 36"/>
                        <a:gd name="T42" fmla="*/ 15 w 32"/>
                        <a:gd name="T43" fmla="*/ 36 h 36"/>
                        <a:gd name="T44" fmla="*/ 14 w 32"/>
                        <a:gd name="T45" fmla="*/ 36 h 36"/>
                        <a:gd name="T46" fmla="*/ 13 w 32"/>
                        <a:gd name="T47" fmla="*/ 36 h 36"/>
                        <a:gd name="T48" fmla="*/ 12 w 32"/>
                        <a:gd name="T49" fmla="*/ 36 h 36"/>
                        <a:gd name="T50" fmla="*/ 11 w 32"/>
                        <a:gd name="T51" fmla="*/ 36 h 36"/>
                        <a:gd name="T52" fmla="*/ 9 w 32"/>
                        <a:gd name="T53" fmla="*/ 35 h 36"/>
                        <a:gd name="T54" fmla="*/ 8 w 32"/>
                        <a:gd name="T55" fmla="*/ 35 h 36"/>
                        <a:gd name="T56" fmla="*/ 6 w 32"/>
                        <a:gd name="T57" fmla="*/ 34 h 36"/>
                        <a:gd name="T58" fmla="*/ 6 w 32"/>
                        <a:gd name="T59" fmla="*/ 34 h 36"/>
                        <a:gd name="T60" fmla="*/ 4 w 32"/>
                        <a:gd name="T61" fmla="*/ 33 h 36"/>
                        <a:gd name="T62" fmla="*/ 3 w 32"/>
                        <a:gd name="T63" fmla="*/ 32 h 36"/>
                        <a:gd name="T64" fmla="*/ 2 w 32"/>
                        <a:gd name="T65" fmla="*/ 31 h 36"/>
                        <a:gd name="T66" fmla="*/ 2 w 32"/>
                        <a:gd name="T67" fmla="*/ 30 h 36"/>
                        <a:gd name="T68" fmla="*/ 1 w 32"/>
                        <a:gd name="T69" fmla="*/ 28 h 36"/>
                        <a:gd name="T70" fmla="*/ 1 w 32"/>
                        <a:gd name="T71" fmla="*/ 28 h 36"/>
                        <a:gd name="T72" fmla="*/ 0 w 32"/>
                        <a:gd name="T73" fmla="*/ 26 h 36"/>
                        <a:gd name="T74" fmla="*/ 0 w 32"/>
                        <a:gd name="T75" fmla="*/ 24 h 36"/>
                        <a:gd name="T76" fmla="*/ 0 w 32"/>
                        <a:gd name="T77" fmla="*/ 23 h 36"/>
                        <a:gd name="T78" fmla="*/ 0 w 32"/>
                        <a:gd name="T79" fmla="*/ 21 h 36"/>
                        <a:gd name="T80" fmla="*/ 1 w 32"/>
                        <a:gd name="T81" fmla="*/ 18 h 36"/>
                        <a:gd name="T82" fmla="*/ 1 w 32"/>
                        <a:gd name="T83" fmla="*/ 16 h 36"/>
                        <a:gd name="T84" fmla="*/ 2 w 32"/>
                        <a:gd name="T85" fmla="*/ 14 h 36"/>
                        <a:gd name="T86" fmla="*/ 4 w 32"/>
                        <a:gd name="T87" fmla="*/ 12 h 36"/>
                        <a:gd name="T88" fmla="*/ 6 w 32"/>
                        <a:gd name="T89" fmla="*/ 10 h 36"/>
                        <a:gd name="T90" fmla="*/ 6 w 32"/>
                        <a:gd name="T91" fmla="*/ 6 h 36"/>
                        <a:gd name="T92" fmla="*/ 9 w 32"/>
                        <a:gd name="T93" fmla="*/ 4 h 36"/>
                        <a:gd name="T94" fmla="*/ 12 w 32"/>
                        <a:gd name="T95" fmla="*/ 2 h 36"/>
                        <a:gd name="T96" fmla="*/ 13 w 32"/>
                        <a:gd name="T97" fmla="*/ 1 h 36"/>
                        <a:gd name="T98" fmla="*/ 16 w 32"/>
                        <a:gd name="T99" fmla="*/ 0 h 36"/>
                        <a:gd name="T100" fmla="*/ 17 w 32"/>
                        <a:gd name="T101" fmla="*/ 0 h 36"/>
                        <a:gd name="T102" fmla="*/ 18 w 32"/>
                        <a:gd name="T103" fmla="*/ 0 h 36"/>
                        <a:gd name="T104" fmla="*/ 19 w 32"/>
                        <a:gd name="T105" fmla="*/ 0 h 36"/>
                        <a:gd name="T106" fmla="*/ 20 w 32"/>
                        <a:gd name="T107" fmla="*/ 0 h 36"/>
                        <a:gd name="T108" fmla="*/ 22 w 32"/>
                        <a:gd name="T109" fmla="*/ 0 h 36"/>
                        <a:gd name="T110" fmla="*/ 22 w 32"/>
                        <a:gd name="T111" fmla="*/ 1 h 36"/>
                        <a:gd name="T112" fmla="*/ 24 w 32"/>
                        <a:gd name="T113" fmla="*/ 1 h 36"/>
                        <a:gd name="T114" fmla="*/ 26 w 32"/>
                        <a:gd name="T115" fmla="*/ 1 h 36"/>
                        <a:gd name="T116" fmla="*/ 27 w 32"/>
                        <a:gd name="T117" fmla="*/ 2 h 36"/>
                        <a:gd name="T118" fmla="*/ 28 w 32"/>
                        <a:gd name="T119" fmla="*/ 3 h 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w 32"/>
                        <a:gd name="T181" fmla="*/ 0 h 36"/>
                        <a:gd name="T182" fmla="*/ 32 w 32"/>
                        <a:gd name="T183" fmla="*/ 36 h 36"/>
                      </a:gdLst>
                      <a:ahLst/>
                      <a:cxnLst>
                        <a:cxn ang="T120">
                          <a:pos x="T0" y="T1"/>
                        </a:cxn>
                        <a:cxn ang="T121">
                          <a:pos x="T2" y="T3"/>
                        </a:cxn>
                        <a:cxn ang="T122">
                          <a:pos x="T4" y="T5"/>
                        </a:cxn>
                        <a:cxn ang="T123">
                          <a:pos x="T6" y="T7"/>
                        </a:cxn>
                        <a:cxn ang="T124">
                          <a:pos x="T8" y="T9"/>
                        </a:cxn>
                        <a:cxn ang="T125">
                          <a:pos x="T10" y="T11"/>
                        </a:cxn>
                        <a:cxn ang="T126">
                          <a:pos x="T12" y="T13"/>
                        </a:cxn>
                        <a:cxn ang="T127">
                          <a:pos x="T14" y="T15"/>
                        </a:cxn>
                        <a:cxn ang="T128">
                          <a:pos x="T16" y="T17"/>
                        </a:cxn>
                        <a:cxn ang="T129">
                          <a:pos x="T18" y="T19"/>
                        </a:cxn>
                        <a:cxn ang="T130">
                          <a:pos x="T20" y="T21"/>
                        </a:cxn>
                        <a:cxn ang="T131">
                          <a:pos x="T22" y="T23"/>
                        </a:cxn>
                        <a:cxn ang="T132">
                          <a:pos x="T24" y="T25"/>
                        </a:cxn>
                        <a:cxn ang="T133">
                          <a:pos x="T26" y="T27"/>
                        </a:cxn>
                        <a:cxn ang="T134">
                          <a:pos x="T28" y="T29"/>
                        </a:cxn>
                        <a:cxn ang="T135">
                          <a:pos x="T30" y="T31"/>
                        </a:cxn>
                        <a:cxn ang="T136">
                          <a:pos x="T32" y="T33"/>
                        </a:cxn>
                        <a:cxn ang="T137">
                          <a:pos x="T34" y="T35"/>
                        </a:cxn>
                        <a:cxn ang="T138">
                          <a:pos x="T36" y="T37"/>
                        </a:cxn>
                        <a:cxn ang="T139">
                          <a:pos x="T38" y="T39"/>
                        </a:cxn>
                        <a:cxn ang="T140">
                          <a:pos x="T40" y="T41"/>
                        </a:cxn>
                        <a:cxn ang="T141">
                          <a:pos x="T42" y="T43"/>
                        </a:cxn>
                        <a:cxn ang="T142">
                          <a:pos x="T44" y="T45"/>
                        </a:cxn>
                        <a:cxn ang="T143">
                          <a:pos x="T46" y="T47"/>
                        </a:cxn>
                        <a:cxn ang="T144">
                          <a:pos x="T48" y="T49"/>
                        </a:cxn>
                        <a:cxn ang="T145">
                          <a:pos x="T50" y="T51"/>
                        </a:cxn>
                        <a:cxn ang="T146">
                          <a:pos x="T52" y="T53"/>
                        </a:cxn>
                        <a:cxn ang="T147">
                          <a:pos x="T54" y="T55"/>
                        </a:cxn>
                        <a:cxn ang="T148">
                          <a:pos x="T56" y="T57"/>
                        </a:cxn>
                        <a:cxn ang="T149">
                          <a:pos x="T58" y="T59"/>
                        </a:cxn>
                        <a:cxn ang="T150">
                          <a:pos x="T60" y="T61"/>
                        </a:cxn>
                        <a:cxn ang="T151">
                          <a:pos x="T62" y="T63"/>
                        </a:cxn>
                        <a:cxn ang="T152">
                          <a:pos x="T64" y="T65"/>
                        </a:cxn>
                        <a:cxn ang="T153">
                          <a:pos x="T66" y="T67"/>
                        </a:cxn>
                        <a:cxn ang="T154">
                          <a:pos x="T68" y="T69"/>
                        </a:cxn>
                        <a:cxn ang="T155">
                          <a:pos x="T70" y="T71"/>
                        </a:cxn>
                        <a:cxn ang="T156">
                          <a:pos x="T72" y="T73"/>
                        </a:cxn>
                        <a:cxn ang="T157">
                          <a:pos x="T74" y="T75"/>
                        </a:cxn>
                        <a:cxn ang="T158">
                          <a:pos x="T76" y="T77"/>
                        </a:cxn>
                        <a:cxn ang="T159">
                          <a:pos x="T78" y="T79"/>
                        </a:cxn>
                        <a:cxn ang="T160">
                          <a:pos x="T80" y="T81"/>
                        </a:cxn>
                        <a:cxn ang="T161">
                          <a:pos x="T82" y="T83"/>
                        </a:cxn>
                        <a:cxn ang="T162">
                          <a:pos x="T84" y="T85"/>
                        </a:cxn>
                        <a:cxn ang="T163">
                          <a:pos x="T86" y="T87"/>
                        </a:cxn>
                        <a:cxn ang="T164">
                          <a:pos x="T88" y="T89"/>
                        </a:cxn>
                        <a:cxn ang="T165">
                          <a:pos x="T90" y="T91"/>
                        </a:cxn>
                        <a:cxn ang="T166">
                          <a:pos x="T92" y="T93"/>
                        </a:cxn>
                        <a:cxn ang="T167">
                          <a:pos x="T94" y="T95"/>
                        </a:cxn>
                        <a:cxn ang="T168">
                          <a:pos x="T96" y="T97"/>
                        </a:cxn>
                        <a:cxn ang="T169">
                          <a:pos x="T98" y="T99"/>
                        </a:cxn>
                        <a:cxn ang="T170">
                          <a:pos x="T100" y="T101"/>
                        </a:cxn>
                        <a:cxn ang="T171">
                          <a:pos x="T102" y="T103"/>
                        </a:cxn>
                        <a:cxn ang="T172">
                          <a:pos x="T104" y="T105"/>
                        </a:cxn>
                        <a:cxn ang="T173">
                          <a:pos x="T106" y="T107"/>
                        </a:cxn>
                        <a:cxn ang="T174">
                          <a:pos x="T108" y="T109"/>
                        </a:cxn>
                        <a:cxn ang="T175">
                          <a:pos x="T110" y="T111"/>
                        </a:cxn>
                        <a:cxn ang="T176">
                          <a:pos x="T112" y="T113"/>
                        </a:cxn>
                        <a:cxn ang="T177">
                          <a:pos x="T114" y="T115"/>
                        </a:cxn>
                        <a:cxn ang="T178">
                          <a:pos x="T116" y="T117"/>
                        </a:cxn>
                        <a:cxn ang="T179">
                          <a:pos x="T118" y="T119"/>
                        </a:cxn>
                      </a:cxnLst>
                      <a:rect l="T180" t="T181" r="T182" b="T183"/>
                      <a:pathLst>
                        <a:path w="32" h="36">
                          <a:moveTo>
                            <a:pt x="28" y="3"/>
                          </a:moveTo>
                          <a:lnTo>
                            <a:pt x="29" y="3"/>
                          </a:lnTo>
                          <a:lnTo>
                            <a:pt x="30" y="6"/>
                          </a:lnTo>
                          <a:lnTo>
                            <a:pt x="31" y="6"/>
                          </a:lnTo>
                          <a:lnTo>
                            <a:pt x="31" y="9"/>
                          </a:lnTo>
                          <a:lnTo>
                            <a:pt x="31" y="10"/>
                          </a:lnTo>
                          <a:lnTo>
                            <a:pt x="32" y="12"/>
                          </a:lnTo>
                          <a:lnTo>
                            <a:pt x="32" y="13"/>
                          </a:lnTo>
                          <a:lnTo>
                            <a:pt x="32" y="15"/>
                          </a:lnTo>
                          <a:lnTo>
                            <a:pt x="32" y="16"/>
                          </a:lnTo>
                          <a:lnTo>
                            <a:pt x="32" y="17"/>
                          </a:lnTo>
                          <a:lnTo>
                            <a:pt x="31" y="19"/>
                          </a:lnTo>
                          <a:lnTo>
                            <a:pt x="30" y="21"/>
                          </a:lnTo>
                          <a:lnTo>
                            <a:pt x="29" y="24"/>
                          </a:lnTo>
                          <a:lnTo>
                            <a:pt x="28" y="26"/>
                          </a:lnTo>
                          <a:lnTo>
                            <a:pt x="26" y="28"/>
                          </a:lnTo>
                          <a:lnTo>
                            <a:pt x="24" y="31"/>
                          </a:lnTo>
                          <a:lnTo>
                            <a:pt x="22" y="32"/>
                          </a:lnTo>
                          <a:lnTo>
                            <a:pt x="20" y="34"/>
                          </a:lnTo>
                          <a:lnTo>
                            <a:pt x="18" y="35"/>
                          </a:lnTo>
                          <a:lnTo>
                            <a:pt x="16" y="35"/>
                          </a:lnTo>
                          <a:lnTo>
                            <a:pt x="15" y="36"/>
                          </a:lnTo>
                          <a:lnTo>
                            <a:pt x="14" y="36"/>
                          </a:lnTo>
                          <a:lnTo>
                            <a:pt x="13" y="36"/>
                          </a:lnTo>
                          <a:lnTo>
                            <a:pt x="12" y="36"/>
                          </a:lnTo>
                          <a:lnTo>
                            <a:pt x="11" y="36"/>
                          </a:lnTo>
                          <a:lnTo>
                            <a:pt x="9" y="35"/>
                          </a:lnTo>
                          <a:lnTo>
                            <a:pt x="8" y="35"/>
                          </a:lnTo>
                          <a:lnTo>
                            <a:pt x="6" y="34"/>
                          </a:lnTo>
                          <a:lnTo>
                            <a:pt x="4" y="33"/>
                          </a:lnTo>
                          <a:lnTo>
                            <a:pt x="3" y="32"/>
                          </a:lnTo>
                          <a:lnTo>
                            <a:pt x="2" y="31"/>
                          </a:lnTo>
                          <a:lnTo>
                            <a:pt x="2" y="30"/>
                          </a:lnTo>
                          <a:lnTo>
                            <a:pt x="1" y="28"/>
                          </a:lnTo>
                          <a:lnTo>
                            <a:pt x="0" y="26"/>
                          </a:lnTo>
                          <a:lnTo>
                            <a:pt x="0" y="24"/>
                          </a:lnTo>
                          <a:lnTo>
                            <a:pt x="0" y="23"/>
                          </a:lnTo>
                          <a:lnTo>
                            <a:pt x="0" y="21"/>
                          </a:lnTo>
                          <a:lnTo>
                            <a:pt x="1" y="18"/>
                          </a:lnTo>
                          <a:lnTo>
                            <a:pt x="1" y="16"/>
                          </a:lnTo>
                          <a:lnTo>
                            <a:pt x="2" y="14"/>
                          </a:lnTo>
                          <a:lnTo>
                            <a:pt x="4" y="12"/>
                          </a:lnTo>
                          <a:lnTo>
                            <a:pt x="6" y="10"/>
                          </a:lnTo>
                          <a:lnTo>
                            <a:pt x="6" y="6"/>
                          </a:lnTo>
                          <a:lnTo>
                            <a:pt x="9" y="4"/>
                          </a:lnTo>
                          <a:lnTo>
                            <a:pt x="12" y="2"/>
                          </a:lnTo>
                          <a:lnTo>
                            <a:pt x="13" y="1"/>
                          </a:lnTo>
                          <a:lnTo>
                            <a:pt x="16" y="0"/>
                          </a:lnTo>
                          <a:lnTo>
                            <a:pt x="17" y="0"/>
                          </a:lnTo>
                          <a:lnTo>
                            <a:pt x="18" y="0"/>
                          </a:lnTo>
                          <a:lnTo>
                            <a:pt x="19" y="0"/>
                          </a:lnTo>
                          <a:lnTo>
                            <a:pt x="20" y="0"/>
                          </a:lnTo>
                          <a:lnTo>
                            <a:pt x="22" y="0"/>
                          </a:lnTo>
                          <a:lnTo>
                            <a:pt x="22" y="1"/>
                          </a:lnTo>
                          <a:lnTo>
                            <a:pt x="24" y="1"/>
                          </a:lnTo>
                          <a:lnTo>
                            <a:pt x="26" y="1"/>
                          </a:lnTo>
                          <a:lnTo>
                            <a:pt x="27" y="2"/>
                          </a:lnTo>
                          <a:lnTo>
                            <a:pt x="28" y="3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59" name="Freeform 1043"/>
                    <p:cNvSpPr>
                      <a:spLocks/>
                    </p:cNvSpPr>
                    <p:nvPr/>
                  </p:nvSpPr>
                  <p:spPr bwMode="auto">
                    <a:xfrm>
                      <a:off x="2547" y="2599"/>
                      <a:ext cx="32" cy="36"/>
                    </a:xfrm>
                    <a:custGeom>
                      <a:avLst/>
                      <a:gdLst>
                        <a:gd name="T0" fmla="*/ 28 w 32"/>
                        <a:gd name="T1" fmla="*/ 3 h 36"/>
                        <a:gd name="T2" fmla="*/ 29 w 32"/>
                        <a:gd name="T3" fmla="*/ 3 h 36"/>
                        <a:gd name="T4" fmla="*/ 30 w 32"/>
                        <a:gd name="T5" fmla="*/ 6 h 36"/>
                        <a:gd name="T6" fmla="*/ 31 w 32"/>
                        <a:gd name="T7" fmla="*/ 6 h 36"/>
                        <a:gd name="T8" fmla="*/ 31 w 32"/>
                        <a:gd name="T9" fmla="*/ 9 h 36"/>
                        <a:gd name="T10" fmla="*/ 31 w 32"/>
                        <a:gd name="T11" fmla="*/ 10 h 36"/>
                        <a:gd name="T12" fmla="*/ 32 w 32"/>
                        <a:gd name="T13" fmla="*/ 12 h 36"/>
                        <a:gd name="T14" fmla="*/ 32 w 32"/>
                        <a:gd name="T15" fmla="*/ 13 h 36"/>
                        <a:gd name="T16" fmla="*/ 32 w 32"/>
                        <a:gd name="T17" fmla="*/ 15 h 36"/>
                        <a:gd name="T18" fmla="*/ 32 w 32"/>
                        <a:gd name="T19" fmla="*/ 16 h 36"/>
                        <a:gd name="T20" fmla="*/ 32 w 32"/>
                        <a:gd name="T21" fmla="*/ 17 h 36"/>
                        <a:gd name="T22" fmla="*/ 31 w 32"/>
                        <a:gd name="T23" fmla="*/ 19 h 36"/>
                        <a:gd name="T24" fmla="*/ 30 w 32"/>
                        <a:gd name="T25" fmla="*/ 21 h 36"/>
                        <a:gd name="T26" fmla="*/ 29 w 32"/>
                        <a:gd name="T27" fmla="*/ 24 h 36"/>
                        <a:gd name="T28" fmla="*/ 28 w 32"/>
                        <a:gd name="T29" fmla="*/ 26 h 36"/>
                        <a:gd name="T30" fmla="*/ 26 w 32"/>
                        <a:gd name="T31" fmla="*/ 28 h 36"/>
                        <a:gd name="T32" fmla="*/ 24 w 32"/>
                        <a:gd name="T33" fmla="*/ 31 h 36"/>
                        <a:gd name="T34" fmla="*/ 22 w 32"/>
                        <a:gd name="T35" fmla="*/ 32 h 36"/>
                        <a:gd name="T36" fmla="*/ 20 w 32"/>
                        <a:gd name="T37" fmla="*/ 34 h 36"/>
                        <a:gd name="T38" fmla="*/ 18 w 32"/>
                        <a:gd name="T39" fmla="*/ 35 h 36"/>
                        <a:gd name="T40" fmla="*/ 16 w 32"/>
                        <a:gd name="T41" fmla="*/ 35 h 36"/>
                        <a:gd name="T42" fmla="*/ 15 w 32"/>
                        <a:gd name="T43" fmla="*/ 36 h 36"/>
                        <a:gd name="T44" fmla="*/ 14 w 32"/>
                        <a:gd name="T45" fmla="*/ 36 h 36"/>
                        <a:gd name="T46" fmla="*/ 13 w 32"/>
                        <a:gd name="T47" fmla="*/ 36 h 36"/>
                        <a:gd name="T48" fmla="*/ 12 w 32"/>
                        <a:gd name="T49" fmla="*/ 36 h 36"/>
                        <a:gd name="T50" fmla="*/ 11 w 32"/>
                        <a:gd name="T51" fmla="*/ 36 h 36"/>
                        <a:gd name="T52" fmla="*/ 9 w 32"/>
                        <a:gd name="T53" fmla="*/ 35 h 36"/>
                        <a:gd name="T54" fmla="*/ 8 w 32"/>
                        <a:gd name="T55" fmla="*/ 35 h 36"/>
                        <a:gd name="T56" fmla="*/ 6 w 32"/>
                        <a:gd name="T57" fmla="*/ 34 h 36"/>
                        <a:gd name="T58" fmla="*/ 6 w 32"/>
                        <a:gd name="T59" fmla="*/ 34 h 36"/>
                        <a:gd name="T60" fmla="*/ 4 w 32"/>
                        <a:gd name="T61" fmla="*/ 33 h 36"/>
                        <a:gd name="T62" fmla="*/ 3 w 32"/>
                        <a:gd name="T63" fmla="*/ 32 h 36"/>
                        <a:gd name="T64" fmla="*/ 2 w 32"/>
                        <a:gd name="T65" fmla="*/ 31 h 36"/>
                        <a:gd name="T66" fmla="*/ 2 w 32"/>
                        <a:gd name="T67" fmla="*/ 30 h 36"/>
                        <a:gd name="T68" fmla="*/ 1 w 32"/>
                        <a:gd name="T69" fmla="*/ 28 h 36"/>
                        <a:gd name="T70" fmla="*/ 1 w 32"/>
                        <a:gd name="T71" fmla="*/ 28 h 36"/>
                        <a:gd name="T72" fmla="*/ 0 w 32"/>
                        <a:gd name="T73" fmla="*/ 26 h 36"/>
                        <a:gd name="T74" fmla="*/ 0 w 32"/>
                        <a:gd name="T75" fmla="*/ 24 h 36"/>
                        <a:gd name="T76" fmla="*/ 0 w 32"/>
                        <a:gd name="T77" fmla="*/ 23 h 36"/>
                        <a:gd name="T78" fmla="*/ 0 w 32"/>
                        <a:gd name="T79" fmla="*/ 21 h 36"/>
                        <a:gd name="T80" fmla="*/ 1 w 32"/>
                        <a:gd name="T81" fmla="*/ 18 h 36"/>
                        <a:gd name="T82" fmla="*/ 1 w 32"/>
                        <a:gd name="T83" fmla="*/ 16 h 36"/>
                        <a:gd name="T84" fmla="*/ 2 w 32"/>
                        <a:gd name="T85" fmla="*/ 14 h 36"/>
                        <a:gd name="T86" fmla="*/ 4 w 32"/>
                        <a:gd name="T87" fmla="*/ 12 h 36"/>
                        <a:gd name="T88" fmla="*/ 6 w 32"/>
                        <a:gd name="T89" fmla="*/ 10 h 36"/>
                        <a:gd name="T90" fmla="*/ 6 w 32"/>
                        <a:gd name="T91" fmla="*/ 6 h 36"/>
                        <a:gd name="T92" fmla="*/ 9 w 32"/>
                        <a:gd name="T93" fmla="*/ 4 h 36"/>
                        <a:gd name="T94" fmla="*/ 12 w 32"/>
                        <a:gd name="T95" fmla="*/ 2 h 36"/>
                        <a:gd name="T96" fmla="*/ 13 w 32"/>
                        <a:gd name="T97" fmla="*/ 1 h 36"/>
                        <a:gd name="T98" fmla="*/ 16 w 32"/>
                        <a:gd name="T99" fmla="*/ 0 h 36"/>
                        <a:gd name="T100" fmla="*/ 17 w 32"/>
                        <a:gd name="T101" fmla="*/ 0 h 36"/>
                        <a:gd name="T102" fmla="*/ 18 w 32"/>
                        <a:gd name="T103" fmla="*/ 0 h 36"/>
                        <a:gd name="T104" fmla="*/ 19 w 32"/>
                        <a:gd name="T105" fmla="*/ 0 h 36"/>
                        <a:gd name="T106" fmla="*/ 20 w 32"/>
                        <a:gd name="T107" fmla="*/ 0 h 36"/>
                        <a:gd name="T108" fmla="*/ 22 w 32"/>
                        <a:gd name="T109" fmla="*/ 0 h 36"/>
                        <a:gd name="T110" fmla="*/ 22 w 32"/>
                        <a:gd name="T111" fmla="*/ 1 h 36"/>
                        <a:gd name="T112" fmla="*/ 24 w 32"/>
                        <a:gd name="T113" fmla="*/ 1 h 36"/>
                        <a:gd name="T114" fmla="*/ 26 w 32"/>
                        <a:gd name="T115" fmla="*/ 1 h 36"/>
                        <a:gd name="T116" fmla="*/ 27 w 32"/>
                        <a:gd name="T117" fmla="*/ 2 h 36"/>
                        <a:gd name="T118" fmla="*/ 28 w 32"/>
                        <a:gd name="T119" fmla="*/ 3 h 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w 32"/>
                        <a:gd name="T181" fmla="*/ 0 h 36"/>
                        <a:gd name="T182" fmla="*/ 32 w 32"/>
                        <a:gd name="T183" fmla="*/ 36 h 36"/>
                      </a:gdLst>
                      <a:ahLst/>
                      <a:cxnLst>
                        <a:cxn ang="T120">
                          <a:pos x="T0" y="T1"/>
                        </a:cxn>
                        <a:cxn ang="T121">
                          <a:pos x="T2" y="T3"/>
                        </a:cxn>
                        <a:cxn ang="T122">
                          <a:pos x="T4" y="T5"/>
                        </a:cxn>
                        <a:cxn ang="T123">
                          <a:pos x="T6" y="T7"/>
                        </a:cxn>
                        <a:cxn ang="T124">
                          <a:pos x="T8" y="T9"/>
                        </a:cxn>
                        <a:cxn ang="T125">
                          <a:pos x="T10" y="T11"/>
                        </a:cxn>
                        <a:cxn ang="T126">
                          <a:pos x="T12" y="T13"/>
                        </a:cxn>
                        <a:cxn ang="T127">
                          <a:pos x="T14" y="T15"/>
                        </a:cxn>
                        <a:cxn ang="T128">
                          <a:pos x="T16" y="T17"/>
                        </a:cxn>
                        <a:cxn ang="T129">
                          <a:pos x="T18" y="T19"/>
                        </a:cxn>
                        <a:cxn ang="T130">
                          <a:pos x="T20" y="T21"/>
                        </a:cxn>
                        <a:cxn ang="T131">
                          <a:pos x="T22" y="T23"/>
                        </a:cxn>
                        <a:cxn ang="T132">
                          <a:pos x="T24" y="T25"/>
                        </a:cxn>
                        <a:cxn ang="T133">
                          <a:pos x="T26" y="T27"/>
                        </a:cxn>
                        <a:cxn ang="T134">
                          <a:pos x="T28" y="T29"/>
                        </a:cxn>
                        <a:cxn ang="T135">
                          <a:pos x="T30" y="T31"/>
                        </a:cxn>
                        <a:cxn ang="T136">
                          <a:pos x="T32" y="T33"/>
                        </a:cxn>
                        <a:cxn ang="T137">
                          <a:pos x="T34" y="T35"/>
                        </a:cxn>
                        <a:cxn ang="T138">
                          <a:pos x="T36" y="T37"/>
                        </a:cxn>
                        <a:cxn ang="T139">
                          <a:pos x="T38" y="T39"/>
                        </a:cxn>
                        <a:cxn ang="T140">
                          <a:pos x="T40" y="T41"/>
                        </a:cxn>
                        <a:cxn ang="T141">
                          <a:pos x="T42" y="T43"/>
                        </a:cxn>
                        <a:cxn ang="T142">
                          <a:pos x="T44" y="T45"/>
                        </a:cxn>
                        <a:cxn ang="T143">
                          <a:pos x="T46" y="T47"/>
                        </a:cxn>
                        <a:cxn ang="T144">
                          <a:pos x="T48" y="T49"/>
                        </a:cxn>
                        <a:cxn ang="T145">
                          <a:pos x="T50" y="T51"/>
                        </a:cxn>
                        <a:cxn ang="T146">
                          <a:pos x="T52" y="T53"/>
                        </a:cxn>
                        <a:cxn ang="T147">
                          <a:pos x="T54" y="T55"/>
                        </a:cxn>
                        <a:cxn ang="T148">
                          <a:pos x="T56" y="T57"/>
                        </a:cxn>
                        <a:cxn ang="T149">
                          <a:pos x="T58" y="T59"/>
                        </a:cxn>
                        <a:cxn ang="T150">
                          <a:pos x="T60" y="T61"/>
                        </a:cxn>
                        <a:cxn ang="T151">
                          <a:pos x="T62" y="T63"/>
                        </a:cxn>
                        <a:cxn ang="T152">
                          <a:pos x="T64" y="T65"/>
                        </a:cxn>
                        <a:cxn ang="T153">
                          <a:pos x="T66" y="T67"/>
                        </a:cxn>
                        <a:cxn ang="T154">
                          <a:pos x="T68" y="T69"/>
                        </a:cxn>
                        <a:cxn ang="T155">
                          <a:pos x="T70" y="T71"/>
                        </a:cxn>
                        <a:cxn ang="T156">
                          <a:pos x="T72" y="T73"/>
                        </a:cxn>
                        <a:cxn ang="T157">
                          <a:pos x="T74" y="T75"/>
                        </a:cxn>
                        <a:cxn ang="T158">
                          <a:pos x="T76" y="T77"/>
                        </a:cxn>
                        <a:cxn ang="T159">
                          <a:pos x="T78" y="T79"/>
                        </a:cxn>
                        <a:cxn ang="T160">
                          <a:pos x="T80" y="T81"/>
                        </a:cxn>
                        <a:cxn ang="T161">
                          <a:pos x="T82" y="T83"/>
                        </a:cxn>
                        <a:cxn ang="T162">
                          <a:pos x="T84" y="T85"/>
                        </a:cxn>
                        <a:cxn ang="T163">
                          <a:pos x="T86" y="T87"/>
                        </a:cxn>
                        <a:cxn ang="T164">
                          <a:pos x="T88" y="T89"/>
                        </a:cxn>
                        <a:cxn ang="T165">
                          <a:pos x="T90" y="T91"/>
                        </a:cxn>
                        <a:cxn ang="T166">
                          <a:pos x="T92" y="T93"/>
                        </a:cxn>
                        <a:cxn ang="T167">
                          <a:pos x="T94" y="T95"/>
                        </a:cxn>
                        <a:cxn ang="T168">
                          <a:pos x="T96" y="T97"/>
                        </a:cxn>
                        <a:cxn ang="T169">
                          <a:pos x="T98" y="T99"/>
                        </a:cxn>
                        <a:cxn ang="T170">
                          <a:pos x="T100" y="T101"/>
                        </a:cxn>
                        <a:cxn ang="T171">
                          <a:pos x="T102" y="T103"/>
                        </a:cxn>
                        <a:cxn ang="T172">
                          <a:pos x="T104" y="T105"/>
                        </a:cxn>
                        <a:cxn ang="T173">
                          <a:pos x="T106" y="T107"/>
                        </a:cxn>
                        <a:cxn ang="T174">
                          <a:pos x="T108" y="T109"/>
                        </a:cxn>
                        <a:cxn ang="T175">
                          <a:pos x="T110" y="T111"/>
                        </a:cxn>
                        <a:cxn ang="T176">
                          <a:pos x="T112" y="T113"/>
                        </a:cxn>
                        <a:cxn ang="T177">
                          <a:pos x="T114" y="T115"/>
                        </a:cxn>
                        <a:cxn ang="T178">
                          <a:pos x="T116" y="T117"/>
                        </a:cxn>
                        <a:cxn ang="T179">
                          <a:pos x="T118" y="T119"/>
                        </a:cxn>
                      </a:cxnLst>
                      <a:rect l="T180" t="T181" r="T182" b="T183"/>
                      <a:pathLst>
                        <a:path w="32" h="36">
                          <a:moveTo>
                            <a:pt x="28" y="3"/>
                          </a:moveTo>
                          <a:lnTo>
                            <a:pt x="29" y="3"/>
                          </a:lnTo>
                          <a:lnTo>
                            <a:pt x="30" y="6"/>
                          </a:lnTo>
                          <a:lnTo>
                            <a:pt x="31" y="6"/>
                          </a:lnTo>
                          <a:lnTo>
                            <a:pt x="31" y="9"/>
                          </a:lnTo>
                          <a:lnTo>
                            <a:pt x="31" y="10"/>
                          </a:lnTo>
                          <a:lnTo>
                            <a:pt x="32" y="12"/>
                          </a:lnTo>
                          <a:lnTo>
                            <a:pt x="32" y="13"/>
                          </a:lnTo>
                          <a:lnTo>
                            <a:pt x="32" y="15"/>
                          </a:lnTo>
                          <a:lnTo>
                            <a:pt x="32" y="16"/>
                          </a:lnTo>
                          <a:lnTo>
                            <a:pt x="32" y="17"/>
                          </a:lnTo>
                          <a:lnTo>
                            <a:pt x="31" y="19"/>
                          </a:lnTo>
                          <a:lnTo>
                            <a:pt x="30" y="21"/>
                          </a:lnTo>
                          <a:lnTo>
                            <a:pt x="29" y="24"/>
                          </a:lnTo>
                          <a:lnTo>
                            <a:pt x="28" y="26"/>
                          </a:lnTo>
                          <a:lnTo>
                            <a:pt x="26" y="28"/>
                          </a:lnTo>
                          <a:lnTo>
                            <a:pt x="24" y="31"/>
                          </a:lnTo>
                          <a:lnTo>
                            <a:pt x="22" y="32"/>
                          </a:lnTo>
                          <a:lnTo>
                            <a:pt x="20" y="34"/>
                          </a:lnTo>
                          <a:lnTo>
                            <a:pt x="18" y="35"/>
                          </a:lnTo>
                          <a:lnTo>
                            <a:pt x="16" y="35"/>
                          </a:lnTo>
                          <a:lnTo>
                            <a:pt x="15" y="36"/>
                          </a:lnTo>
                          <a:lnTo>
                            <a:pt x="14" y="36"/>
                          </a:lnTo>
                          <a:lnTo>
                            <a:pt x="13" y="36"/>
                          </a:lnTo>
                          <a:lnTo>
                            <a:pt x="12" y="36"/>
                          </a:lnTo>
                          <a:lnTo>
                            <a:pt x="11" y="36"/>
                          </a:lnTo>
                          <a:lnTo>
                            <a:pt x="9" y="35"/>
                          </a:lnTo>
                          <a:lnTo>
                            <a:pt x="8" y="35"/>
                          </a:lnTo>
                          <a:lnTo>
                            <a:pt x="6" y="34"/>
                          </a:lnTo>
                          <a:lnTo>
                            <a:pt x="4" y="33"/>
                          </a:lnTo>
                          <a:lnTo>
                            <a:pt x="3" y="32"/>
                          </a:lnTo>
                          <a:lnTo>
                            <a:pt x="2" y="31"/>
                          </a:lnTo>
                          <a:lnTo>
                            <a:pt x="2" y="30"/>
                          </a:lnTo>
                          <a:lnTo>
                            <a:pt x="1" y="28"/>
                          </a:lnTo>
                          <a:lnTo>
                            <a:pt x="0" y="26"/>
                          </a:lnTo>
                          <a:lnTo>
                            <a:pt x="0" y="24"/>
                          </a:lnTo>
                          <a:lnTo>
                            <a:pt x="0" y="23"/>
                          </a:lnTo>
                          <a:lnTo>
                            <a:pt x="0" y="21"/>
                          </a:lnTo>
                          <a:lnTo>
                            <a:pt x="1" y="18"/>
                          </a:lnTo>
                          <a:lnTo>
                            <a:pt x="1" y="16"/>
                          </a:lnTo>
                          <a:lnTo>
                            <a:pt x="2" y="14"/>
                          </a:lnTo>
                          <a:lnTo>
                            <a:pt x="4" y="12"/>
                          </a:lnTo>
                          <a:lnTo>
                            <a:pt x="6" y="10"/>
                          </a:lnTo>
                          <a:lnTo>
                            <a:pt x="6" y="6"/>
                          </a:lnTo>
                          <a:lnTo>
                            <a:pt x="9" y="4"/>
                          </a:lnTo>
                          <a:lnTo>
                            <a:pt x="12" y="2"/>
                          </a:lnTo>
                          <a:lnTo>
                            <a:pt x="13" y="1"/>
                          </a:lnTo>
                          <a:lnTo>
                            <a:pt x="16" y="0"/>
                          </a:lnTo>
                          <a:lnTo>
                            <a:pt x="17" y="0"/>
                          </a:lnTo>
                          <a:lnTo>
                            <a:pt x="18" y="0"/>
                          </a:lnTo>
                          <a:lnTo>
                            <a:pt x="19" y="0"/>
                          </a:lnTo>
                          <a:lnTo>
                            <a:pt x="20" y="0"/>
                          </a:lnTo>
                          <a:lnTo>
                            <a:pt x="22" y="0"/>
                          </a:lnTo>
                          <a:lnTo>
                            <a:pt x="22" y="1"/>
                          </a:lnTo>
                          <a:lnTo>
                            <a:pt x="24" y="1"/>
                          </a:lnTo>
                          <a:lnTo>
                            <a:pt x="26" y="1"/>
                          </a:lnTo>
                          <a:lnTo>
                            <a:pt x="27" y="2"/>
                          </a:lnTo>
                          <a:lnTo>
                            <a:pt x="28" y="3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7530" name="Freeform 1044"/>
                  <p:cNvSpPr>
                    <a:spLocks/>
                  </p:cNvSpPr>
                  <p:nvPr/>
                </p:nvSpPr>
                <p:spPr bwMode="auto">
                  <a:xfrm>
                    <a:off x="2560" y="2603"/>
                    <a:ext cx="15" cy="14"/>
                  </a:xfrm>
                  <a:custGeom>
                    <a:avLst/>
                    <a:gdLst>
                      <a:gd name="T0" fmla="*/ 15 w 15"/>
                      <a:gd name="T1" fmla="*/ 14 h 14"/>
                      <a:gd name="T2" fmla="*/ 15 w 15"/>
                      <a:gd name="T3" fmla="*/ 14 h 14"/>
                      <a:gd name="T4" fmla="*/ 13 w 15"/>
                      <a:gd name="T5" fmla="*/ 13 h 14"/>
                      <a:gd name="T6" fmla="*/ 11 w 15"/>
                      <a:gd name="T7" fmla="*/ 12 h 14"/>
                      <a:gd name="T8" fmla="*/ 10 w 15"/>
                      <a:gd name="T9" fmla="*/ 11 h 14"/>
                      <a:gd name="T10" fmla="*/ 8 w 15"/>
                      <a:gd name="T11" fmla="*/ 10 h 14"/>
                      <a:gd name="T12" fmla="*/ 6 w 15"/>
                      <a:gd name="T13" fmla="*/ 7 h 14"/>
                      <a:gd name="T14" fmla="*/ 6 w 15"/>
                      <a:gd name="T15" fmla="*/ 6 h 14"/>
                      <a:gd name="T16" fmla="*/ 3 w 15"/>
                      <a:gd name="T17" fmla="*/ 5 h 14"/>
                      <a:gd name="T18" fmla="*/ 2 w 15"/>
                      <a:gd name="T19" fmla="*/ 4 h 14"/>
                      <a:gd name="T20" fmla="*/ 1 w 15"/>
                      <a:gd name="T21" fmla="*/ 1 h 14"/>
                      <a:gd name="T22" fmla="*/ 0 w 15"/>
                      <a:gd name="T23" fmla="*/ 0 h 14"/>
                      <a:gd name="T24" fmla="*/ 1 w 15"/>
                      <a:gd name="T25" fmla="*/ 1 h 14"/>
                      <a:gd name="T26" fmla="*/ 3 w 15"/>
                      <a:gd name="T27" fmla="*/ 2 h 14"/>
                      <a:gd name="T28" fmla="*/ 4 w 15"/>
                      <a:gd name="T29" fmla="*/ 4 h 14"/>
                      <a:gd name="T30" fmla="*/ 6 w 15"/>
                      <a:gd name="T31" fmla="*/ 5 h 14"/>
                      <a:gd name="T32" fmla="*/ 8 w 15"/>
                      <a:gd name="T33" fmla="*/ 7 h 14"/>
                      <a:gd name="T34" fmla="*/ 9 w 15"/>
                      <a:gd name="T35" fmla="*/ 9 h 14"/>
                      <a:gd name="T36" fmla="*/ 10 w 15"/>
                      <a:gd name="T37" fmla="*/ 10 h 14"/>
                      <a:gd name="T38" fmla="*/ 11 w 15"/>
                      <a:gd name="T39" fmla="*/ 11 h 14"/>
                      <a:gd name="T40" fmla="*/ 14 w 15"/>
                      <a:gd name="T41" fmla="*/ 13 h 14"/>
                      <a:gd name="T42" fmla="*/ 15 w 15"/>
                      <a:gd name="T43" fmla="*/ 14 h 14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5"/>
                      <a:gd name="T67" fmla="*/ 0 h 14"/>
                      <a:gd name="T68" fmla="*/ 15 w 15"/>
                      <a:gd name="T69" fmla="*/ 14 h 14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5" h="14">
                        <a:moveTo>
                          <a:pt x="15" y="14"/>
                        </a:moveTo>
                        <a:lnTo>
                          <a:pt x="15" y="14"/>
                        </a:lnTo>
                        <a:lnTo>
                          <a:pt x="13" y="13"/>
                        </a:lnTo>
                        <a:lnTo>
                          <a:pt x="11" y="12"/>
                        </a:lnTo>
                        <a:lnTo>
                          <a:pt x="10" y="11"/>
                        </a:lnTo>
                        <a:lnTo>
                          <a:pt x="8" y="10"/>
                        </a:lnTo>
                        <a:lnTo>
                          <a:pt x="6" y="7"/>
                        </a:lnTo>
                        <a:lnTo>
                          <a:pt x="6" y="6"/>
                        </a:lnTo>
                        <a:lnTo>
                          <a:pt x="3" y="5"/>
                        </a:lnTo>
                        <a:lnTo>
                          <a:pt x="2" y="4"/>
                        </a:lnTo>
                        <a:lnTo>
                          <a:pt x="1" y="1"/>
                        </a:lnTo>
                        <a:lnTo>
                          <a:pt x="0" y="0"/>
                        </a:ln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4" y="4"/>
                        </a:lnTo>
                        <a:lnTo>
                          <a:pt x="6" y="5"/>
                        </a:lnTo>
                        <a:lnTo>
                          <a:pt x="8" y="7"/>
                        </a:lnTo>
                        <a:lnTo>
                          <a:pt x="9" y="9"/>
                        </a:lnTo>
                        <a:lnTo>
                          <a:pt x="10" y="10"/>
                        </a:lnTo>
                        <a:lnTo>
                          <a:pt x="11" y="11"/>
                        </a:lnTo>
                        <a:lnTo>
                          <a:pt x="14" y="13"/>
                        </a:lnTo>
                        <a:lnTo>
                          <a:pt x="15" y="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7531" name="Group 1045"/>
                  <p:cNvGrpSpPr>
                    <a:grpSpLocks/>
                  </p:cNvGrpSpPr>
                  <p:nvPr/>
                </p:nvGrpSpPr>
                <p:grpSpPr bwMode="auto">
                  <a:xfrm>
                    <a:off x="2560" y="2603"/>
                    <a:ext cx="15" cy="14"/>
                    <a:chOff x="2560" y="2603"/>
                    <a:chExt cx="15" cy="14"/>
                  </a:xfrm>
                </p:grpSpPr>
                <p:sp>
                  <p:nvSpPr>
                    <p:cNvPr id="17556" name="Freeform 1046"/>
                    <p:cNvSpPr>
                      <a:spLocks/>
                    </p:cNvSpPr>
                    <p:nvPr/>
                  </p:nvSpPr>
                  <p:spPr bwMode="auto">
                    <a:xfrm>
                      <a:off x="2560" y="2603"/>
                      <a:ext cx="15" cy="14"/>
                    </a:xfrm>
                    <a:custGeom>
                      <a:avLst/>
                      <a:gdLst>
                        <a:gd name="T0" fmla="*/ 15 w 15"/>
                        <a:gd name="T1" fmla="*/ 14 h 14"/>
                        <a:gd name="T2" fmla="*/ 15 w 15"/>
                        <a:gd name="T3" fmla="*/ 14 h 14"/>
                        <a:gd name="T4" fmla="*/ 13 w 15"/>
                        <a:gd name="T5" fmla="*/ 13 h 14"/>
                        <a:gd name="T6" fmla="*/ 11 w 15"/>
                        <a:gd name="T7" fmla="*/ 12 h 14"/>
                        <a:gd name="T8" fmla="*/ 10 w 15"/>
                        <a:gd name="T9" fmla="*/ 11 h 14"/>
                        <a:gd name="T10" fmla="*/ 8 w 15"/>
                        <a:gd name="T11" fmla="*/ 10 h 14"/>
                        <a:gd name="T12" fmla="*/ 6 w 15"/>
                        <a:gd name="T13" fmla="*/ 7 h 14"/>
                        <a:gd name="T14" fmla="*/ 6 w 15"/>
                        <a:gd name="T15" fmla="*/ 6 h 14"/>
                        <a:gd name="T16" fmla="*/ 3 w 15"/>
                        <a:gd name="T17" fmla="*/ 5 h 14"/>
                        <a:gd name="T18" fmla="*/ 2 w 15"/>
                        <a:gd name="T19" fmla="*/ 4 h 14"/>
                        <a:gd name="T20" fmla="*/ 1 w 15"/>
                        <a:gd name="T21" fmla="*/ 1 h 14"/>
                        <a:gd name="T22" fmla="*/ 0 w 15"/>
                        <a:gd name="T23" fmla="*/ 0 h 14"/>
                        <a:gd name="T24" fmla="*/ 1 w 15"/>
                        <a:gd name="T25" fmla="*/ 1 h 14"/>
                        <a:gd name="T26" fmla="*/ 3 w 15"/>
                        <a:gd name="T27" fmla="*/ 2 h 14"/>
                        <a:gd name="T28" fmla="*/ 4 w 15"/>
                        <a:gd name="T29" fmla="*/ 4 h 14"/>
                        <a:gd name="T30" fmla="*/ 6 w 15"/>
                        <a:gd name="T31" fmla="*/ 5 h 14"/>
                        <a:gd name="T32" fmla="*/ 8 w 15"/>
                        <a:gd name="T33" fmla="*/ 7 h 14"/>
                        <a:gd name="T34" fmla="*/ 9 w 15"/>
                        <a:gd name="T35" fmla="*/ 9 h 14"/>
                        <a:gd name="T36" fmla="*/ 10 w 15"/>
                        <a:gd name="T37" fmla="*/ 10 h 14"/>
                        <a:gd name="T38" fmla="*/ 11 w 15"/>
                        <a:gd name="T39" fmla="*/ 11 h 14"/>
                        <a:gd name="T40" fmla="*/ 14 w 15"/>
                        <a:gd name="T41" fmla="*/ 13 h 14"/>
                        <a:gd name="T42" fmla="*/ 15 w 15"/>
                        <a:gd name="T43" fmla="*/ 14 h 14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w 15"/>
                        <a:gd name="T67" fmla="*/ 0 h 14"/>
                        <a:gd name="T68" fmla="*/ 15 w 15"/>
                        <a:gd name="T69" fmla="*/ 14 h 14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T66" t="T67" r="T68" b="T69"/>
                      <a:pathLst>
                        <a:path w="15" h="14">
                          <a:moveTo>
                            <a:pt x="15" y="14"/>
                          </a:moveTo>
                          <a:lnTo>
                            <a:pt x="15" y="14"/>
                          </a:lnTo>
                          <a:lnTo>
                            <a:pt x="13" y="13"/>
                          </a:lnTo>
                          <a:lnTo>
                            <a:pt x="11" y="12"/>
                          </a:lnTo>
                          <a:lnTo>
                            <a:pt x="10" y="11"/>
                          </a:lnTo>
                          <a:lnTo>
                            <a:pt x="8" y="10"/>
                          </a:lnTo>
                          <a:lnTo>
                            <a:pt x="6" y="7"/>
                          </a:lnTo>
                          <a:lnTo>
                            <a:pt x="6" y="6"/>
                          </a:lnTo>
                          <a:lnTo>
                            <a:pt x="3" y="5"/>
                          </a:lnTo>
                          <a:lnTo>
                            <a:pt x="2" y="4"/>
                          </a:lnTo>
                          <a:lnTo>
                            <a:pt x="1" y="1"/>
                          </a:lnTo>
                          <a:lnTo>
                            <a:pt x="0" y="0"/>
                          </a:lnTo>
                          <a:lnTo>
                            <a:pt x="1" y="1"/>
                          </a:lnTo>
                          <a:lnTo>
                            <a:pt x="3" y="2"/>
                          </a:lnTo>
                          <a:lnTo>
                            <a:pt x="4" y="4"/>
                          </a:lnTo>
                          <a:lnTo>
                            <a:pt x="6" y="5"/>
                          </a:lnTo>
                          <a:lnTo>
                            <a:pt x="8" y="7"/>
                          </a:lnTo>
                          <a:lnTo>
                            <a:pt x="9" y="9"/>
                          </a:lnTo>
                          <a:lnTo>
                            <a:pt x="10" y="10"/>
                          </a:lnTo>
                          <a:lnTo>
                            <a:pt x="11" y="11"/>
                          </a:lnTo>
                          <a:lnTo>
                            <a:pt x="14" y="13"/>
                          </a:lnTo>
                          <a:lnTo>
                            <a:pt x="15" y="1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57" name="Freeform 1047"/>
                    <p:cNvSpPr>
                      <a:spLocks/>
                    </p:cNvSpPr>
                    <p:nvPr/>
                  </p:nvSpPr>
                  <p:spPr bwMode="auto">
                    <a:xfrm>
                      <a:off x="2560" y="2603"/>
                      <a:ext cx="15" cy="14"/>
                    </a:xfrm>
                    <a:custGeom>
                      <a:avLst/>
                      <a:gdLst>
                        <a:gd name="T0" fmla="*/ 15 w 15"/>
                        <a:gd name="T1" fmla="*/ 14 h 14"/>
                        <a:gd name="T2" fmla="*/ 15 w 15"/>
                        <a:gd name="T3" fmla="*/ 14 h 14"/>
                        <a:gd name="T4" fmla="*/ 13 w 15"/>
                        <a:gd name="T5" fmla="*/ 13 h 14"/>
                        <a:gd name="T6" fmla="*/ 11 w 15"/>
                        <a:gd name="T7" fmla="*/ 12 h 14"/>
                        <a:gd name="T8" fmla="*/ 10 w 15"/>
                        <a:gd name="T9" fmla="*/ 11 h 14"/>
                        <a:gd name="T10" fmla="*/ 8 w 15"/>
                        <a:gd name="T11" fmla="*/ 10 h 14"/>
                        <a:gd name="T12" fmla="*/ 6 w 15"/>
                        <a:gd name="T13" fmla="*/ 7 h 14"/>
                        <a:gd name="T14" fmla="*/ 6 w 15"/>
                        <a:gd name="T15" fmla="*/ 6 h 14"/>
                        <a:gd name="T16" fmla="*/ 3 w 15"/>
                        <a:gd name="T17" fmla="*/ 5 h 14"/>
                        <a:gd name="T18" fmla="*/ 2 w 15"/>
                        <a:gd name="T19" fmla="*/ 4 h 14"/>
                        <a:gd name="T20" fmla="*/ 1 w 15"/>
                        <a:gd name="T21" fmla="*/ 1 h 14"/>
                        <a:gd name="T22" fmla="*/ 0 w 15"/>
                        <a:gd name="T23" fmla="*/ 0 h 14"/>
                        <a:gd name="T24" fmla="*/ 1 w 15"/>
                        <a:gd name="T25" fmla="*/ 1 h 14"/>
                        <a:gd name="T26" fmla="*/ 3 w 15"/>
                        <a:gd name="T27" fmla="*/ 2 h 14"/>
                        <a:gd name="T28" fmla="*/ 4 w 15"/>
                        <a:gd name="T29" fmla="*/ 4 h 14"/>
                        <a:gd name="T30" fmla="*/ 6 w 15"/>
                        <a:gd name="T31" fmla="*/ 5 h 14"/>
                        <a:gd name="T32" fmla="*/ 8 w 15"/>
                        <a:gd name="T33" fmla="*/ 7 h 14"/>
                        <a:gd name="T34" fmla="*/ 9 w 15"/>
                        <a:gd name="T35" fmla="*/ 9 h 14"/>
                        <a:gd name="T36" fmla="*/ 10 w 15"/>
                        <a:gd name="T37" fmla="*/ 10 h 14"/>
                        <a:gd name="T38" fmla="*/ 11 w 15"/>
                        <a:gd name="T39" fmla="*/ 11 h 14"/>
                        <a:gd name="T40" fmla="*/ 14 w 15"/>
                        <a:gd name="T41" fmla="*/ 13 h 14"/>
                        <a:gd name="T42" fmla="*/ 15 w 15"/>
                        <a:gd name="T43" fmla="*/ 14 h 14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w 15"/>
                        <a:gd name="T67" fmla="*/ 0 h 14"/>
                        <a:gd name="T68" fmla="*/ 15 w 15"/>
                        <a:gd name="T69" fmla="*/ 14 h 14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T66" t="T67" r="T68" b="T69"/>
                      <a:pathLst>
                        <a:path w="15" h="14">
                          <a:moveTo>
                            <a:pt x="15" y="14"/>
                          </a:moveTo>
                          <a:lnTo>
                            <a:pt x="15" y="14"/>
                          </a:lnTo>
                          <a:lnTo>
                            <a:pt x="13" y="13"/>
                          </a:lnTo>
                          <a:lnTo>
                            <a:pt x="11" y="12"/>
                          </a:lnTo>
                          <a:lnTo>
                            <a:pt x="10" y="11"/>
                          </a:lnTo>
                          <a:lnTo>
                            <a:pt x="8" y="10"/>
                          </a:lnTo>
                          <a:lnTo>
                            <a:pt x="6" y="7"/>
                          </a:lnTo>
                          <a:lnTo>
                            <a:pt x="6" y="6"/>
                          </a:lnTo>
                          <a:lnTo>
                            <a:pt x="3" y="5"/>
                          </a:lnTo>
                          <a:lnTo>
                            <a:pt x="2" y="4"/>
                          </a:lnTo>
                          <a:lnTo>
                            <a:pt x="1" y="1"/>
                          </a:lnTo>
                          <a:lnTo>
                            <a:pt x="0" y="0"/>
                          </a:lnTo>
                          <a:lnTo>
                            <a:pt x="1" y="1"/>
                          </a:lnTo>
                          <a:lnTo>
                            <a:pt x="3" y="2"/>
                          </a:lnTo>
                          <a:lnTo>
                            <a:pt x="4" y="4"/>
                          </a:lnTo>
                          <a:lnTo>
                            <a:pt x="6" y="5"/>
                          </a:lnTo>
                          <a:lnTo>
                            <a:pt x="8" y="7"/>
                          </a:lnTo>
                          <a:lnTo>
                            <a:pt x="9" y="9"/>
                          </a:lnTo>
                          <a:lnTo>
                            <a:pt x="10" y="10"/>
                          </a:lnTo>
                          <a:lnTo>
                            <a:pt x="11" y="11"/>
                          </a:lnTo>
                          <a:lnTo>
                            <a:pt x="14" y="13"/>
                          </a:lnTo>
                          <a:lnTo>
                            <a:pt x="15" y="14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7532" name="Freeform 1048"/>
                  <p:cNvSpPr>
                    <a:spLocks/>
                  </p:cNvSpPr>
                  <p:nvPr/>
                </p:nvSpPr>
                <p:spPr bwMode="auto">
                  <a:xfrm>
                    <a:off x="2569" y="2619"/>
                    <a:ext cx="30" cy="33"/>
                  </a:xfrm>
                  <a:custGeom>
                    <a:avLst/>
                    <a:gdLst>
                      <a:gd name="T0" fmla="*/ 29 w 30"/>
                      <a:gd name="T1" fmla="*/ 8 h 33"/>
                      <a:gd name="T2" fmla="*/ 30 w 30"/>
                      <a:gd name="T3" fmla="*/ 11 h 33"/>
                      <a:gd name="T4" fmla="*/ 30 w 30"/>
                      <a:gd name="T5" fmla="*/ 13 h 33"/>
                      <a:gd name="T6" fmla="*/ 30 w 30"/>
                      <a:gd name="T7" fmla="*/ 16 h 33"/>
                      <a:gd name="T8" fmla="*/ 29 w 30"/>
                      <a:gd name="T9" fmla="*/ 19 h 33"/>
                      <a:gd name="T10" fmla="*/ 29 w 30"/>
                      <a:gd name="T11" fmla="*/ 21 h 33"/>
                      <a:gd name="T12" fmla="*/ 28 w 30"/>
                      <a:gd name="T13" fmla="*/ 24 h 33"/>
                      <a:gd name="T14" fmla="*/ 27 w 30"/>
                      <a:gd name="T15" fmla="*/ 24 h 33"/>
                      <a:gd name="T16" fmla="*/ 25 w 30"/>
                      <a:gd name="T17" fmla="*/ 27 h 33"/>
                      <a:gd name="T18" fmla="*/ 24 w 30"/>
                      <a:gd name="T19" fmla="*/ 29 h 33"/>
                      <a:gd name="T20" fmla="*/ 23 w 30"/>
                      <a:gd name="T21" fmla="*/ 31 h 33"/>
                      <a:gd name="T22" fmla="*/ 21 w 30"/>
                      <a:gd name="T23" fmla="*/ 31 h 33"/>
                      <a:gd name="T24" fmla="*/ 20 w 30"/>
                      <a:gd name="T25" fmla="*/ 32 h 33"/>
                      <a:gd name="T26" fmla="*/ 18 w 30"/>
                      <a:gd name="T27" fmla="*/ 32 h 33"/>
                      <a:gd name="T28" fmla="*/ 17 w 30"/>
                      <a:gd name="T29" fmla="*/ 33 h 33"/>
                      <a:gd name="T30" fmla="*/ 16 w 30"/>
                      <a:gd name="T31" fmla="*/ 33 h 33"/>
                      <a:gd name="T32" fmla="*/ 14 w 30"/>
                      <a:gd name="T33" fmla="*/ 33 h 33"/>
                      <a:gd name="T34" fmla="*/ 13 w 30"/>
                      <a:gd name="T35" fmla="*/ 33 h 33"/>
                      <a:gd name="T36" fmla="*/ 12 w 30"/>
                      <a:gd name="T37" fmla="*/ 33 h 33"/>
                      <a:gd name="T38" fmla="*/ 11 w 30"/>
                      <a:gd name="T39" fmla="*/ 33 h 33"/>
                      <a:gd name="T40" fmla="*/ 10 w 30"/>
                      <a:gd name="T41" fmla="*/ 33 h 33"/>
                      <a:gd name="T42" fmla="*/ 9 w 30"/>
                      <a:gd name="T43" fmla="*/ 32 h 33"/>
                      <a:gd name="T44" fmla="*/ 7 w 30"/>
                      <a:gd name="T45" fmla="*/ 32 h 33"/>
                      <a:gd name="T46" fmla="*/ 7 w 30"/>
                      <a:gd name="T47" fmla="*/ 31 h 33"/>
                      <a:gd name="T48" fmla="*/ 5 w 30"/>
                      <a:gd name="T49" fmla="*/ 30 h 33"/>
                      <a:gd name="T50" fmla="*/ 4 w 30"/>
                      <a:gd name="T51" fmla="*/ 29 h 33"/>
                      <a:gd name="T52" fmla="*/ 2 w 30"/>
                      <a:gd name="T53" fmla="*/ 29 h 33"/>
                      <a:gd name="T54" fmla="*/ 2 w 30"/>
                      <a:gd name="T55" fmla="*/ 28 h 33"/>
                      <a:gd name="T56" fmla="*/ 1 w 30"/>
                      <a:gd name="T57" fmla="*/ 27 h 33"/>
                      <a:gd name="T58" fmla="*/ 1 w 30"/>
                      <a:gd name="T59" fmla="*/ 26 h 33"/>
                      <a:gd name="T60" fmla="*/ 0 w 30"/>
                      <a:gd name="T61" fmla="*/ 24 h 33"/>
                      <a:gd name="T62" fmla="*/ 0 w 30"/>
                      <a:gd name="T63" fmla="*/ 20 h 33"/>
                      <a:gd name="T64" fmla="*/ 0 w 30"/>
                      <a:gd name="T65" fmla="*/ 17 h 33"/>
                      <a:gd name="T66" fmla="*/ 1 w 30"/>
                      <a:gd name="T67" fmla="*/ 16 h 33"/>
                      <a:gd name="T68" fmla="*/ 1 w 30"/>
                      <a:gd name="T69" fmla="*/ 14 h 33"/>
                      <a:gd name="T70" fmla="*/ 2 w 30"/>
                      <a:gd name="T71" fmla="*/ 12 h 33"/>
                      <a:gd name="T72" fmla="*/ 4 w 30"/>
                      <a:gd name="T73" fmla="*/ 10 h 33"/>
                      <a:gd name="T74" fmla="*/ 7 w 30"/>
                      <a:gd name="T75" fmla="*/ 8 h 33"/>
                      <a:gd name="T76" fmla="*/ 7 w 30"/>
                      <a:gd name="T77" fmla="*/ 6 h 33"/>
                      <a:gd name="T78" fmla="*/ 9 w 30"/>
                      <a:gd name="T79" fmla="*/ 4 h 33"/>
                      <a:gd name="T80" fmla="*/ 11 w 30"/>
                      <a:gd name="T81" fmla="*/ 3 h 33"/>
                      <a:gd name="T82" fmla="*/ 13 w 30"/>
                      <a:gd name="T83" fmla="*/ 1 h 33"/>
                      <a:gd name="T84" fmla="*/ 15 w 30"/>
                      <a:gd name="T85" fmla="*/ 0 h 33"/>
                      <a:gd name="T86" fmla="*/ 17 w 30"/>
                      <a:gd name="T87" fmla="*/ 0 h 33"/>
                      <a:gd name="T88" fmla="*/ 20 w 30"/>
                      <a:gd name="T89" fmla="*/ 0 h 33"/>
                      <a:gd name="T90" fmla="*/ 23 w 30"/>
                      <a:gd name="T91" fmla="*/ 1 h 33"/>
                      <a:gd name="T92" fmla="*/ 25 w 30"/>
                      <a:gd name="T93" fmla="*/ 3 h 33"/>
                      <a:gd name="T94" fmla="*/ 27 w 30"/>
                      <a:gd name="T95" fmla="*/ 4 h 33"/>
                      <a:gd name="T96" fmla="*/ 28 w 30"/>
                      <a:gd name="T97" fmla="*/ 6 h 33"/>
                      <a:gd name="T98" fmla="*/ 29 w 30"/>
                      <a:gd name="T99" fmla="*/ 8 h 33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w 30"/>
                      <a:gd name="T151" fmla="*/ 0 h 33"/>
                      <a:gd name="T152" fmla="*/ 30 w 30"/>
                      <a:gd name="T153" fmla="*/ 33 h 33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T150" t="T151" r="T152" b="T153"/>
                    <a:pathLst>
                      <a:path w="30" h="33">
                        <a:moveTo>
                          <a:pt x="29" y="8"/>
                        </a:moveTo>
                        <a:lnTo>
                          <a:pt x="30" y="11"/>
                        </a:lnTo>
                        <a:lnTo>
                          <a:pt x="30" y="13"/>
                        </a:lnTo>
                        <a:lnTo>
                          <a:pt x="30" y="16"/>
                        </a:lnTo>
                        <a:lnTo>
                          <a:pt x="29" y="19"/>
                        </a:lnTo>
                        <a:lnTo>
                          <a:pt x="29" y="21"/>
                        </a:lnTo>
                        <a:lnTo>
                          <a:pt x="28" y="24"/>
                        </a:lnTo>
                        <a:lnTo>
                          <a:pt x="27" y="24"/>
                        </a:lnTo>
                        <a:lnTo>
                          <a:pt x="25" y="27"/>
                        </a:lnTo>
                        <a:lnTo>
                          <a:pt x="24" y="29"/>
                        </a:lnTo>
                        <a:lnTo>
                          <a:pt x="23" y="31"/>
                        </a:lnTo>
                        <a:lnTo>
                          <a:pt x="21" y="31"/>
                        </a:lnTo>
                        <a:lnTo>
                          <a:pt x="20" y="32"/>
                        </a:lnTo>
                        <a:lnTo>
                          <a:pt x="18" y="32"/>
                        </a:lnTo>
                        <a:lnTo>
                          <a:pt x="17" y="33"/>
                        </a:lnTo>
                        <a:lnTo>
                          <a:pt x="16" y="33"/>
                        </a:lnTo>
                        <a:lnTo>
                          <a:pt x="14" y="33"/>
                        </a:lnTo>
                        <a:lnTo>
                          <a:pt x="13" y="33"/>
                        </a:lnTo>
                        <a:lnTo>
                          <a:pt x="12" y="33"/>
                        </a:lnTo>
                        <a:lnTo>
                          <a:pt x="11" y="33"/>
                        </a:lnTo>
                        <a:lnTo>
                          <a:pt x="10" y="33"/>
                        </a:lnTo>
                        <a:lnTo>
                          <a:pt x="9" y="32"/>
                        </a:lnTo>
                        <a:lnTo>
                          <a:pt x="7" y="32"/>
                        </a:lnTo>
                        <a:lnTo>
                          <a:pt x="7" y="31"/>
                        </a:lnTo>
                        <a:lnTo>
                          <a:pt x="5" y="30"/>
                        </a:lnTo>
                        <a:lnTo>
                          <a:pt x="4" y="29"/>
                        </a:lnTo>
                        <a:lnTo>
                          <a:pt x="2" y="29"/>
                        </a:lnTo>
                        <a:lnTo>
                          <a:pt x="2" y="28"/>
                        </a:lnTo>
                        <a:lnTo>
                          <a:pt x="1" y="27"/>
                        </a:lnTo>
                        <a:lnTo>
                          <a:pt x="1" y="26"/>
                        </a:lnTo>
                        <a:lnTo>
                          <a:pt x="0" y="24"/>
                        </a:lnTo>
                        <a:lnTo>
                          <a:pt x="0" y="20"/>
                        </a:lnTo>
                        <a:lnTo>
                          <a:pt x="0" y="17"/>
                        </a:lnTo>
                        <a:lnTo>
                          <a:pt x="1" y="16"/>
                        </a:lnTo>
                        <a:lnTo>
                          <a:pt x="1" y="14"/>
                        </a:lnTo>
                        <a:lnTo>
                          <a:pt x="2" y="12"/>
                        </a:lnTo>
                        <a:lnTo>
                          <a:pt x="4" y="10"/>
                        </a:lnTo>
                        <a:lnTo>
                          <a:pt x="7" y="8"/>
                        </a:lnTo>
                        <a:lnTo>
                          <a:pt x="7" y="6"/>
                        </a:lnTo>
                        <a:lnTo>
                          <a:pt x="9" y="4"/>
                        </a:lnTo>
                        <a:lnTo>
                          <a:pt x="11" y="3"/>
                        </a:lnTo>
                        <a:lnTo>
                          <a:pt x="13" y="1"/>
                        </a:lnTo>
                        <a:lnTo>
                          <a:pt x="15" y="0"/>
                        </a:lnTo>
                        <a:lnTo>
                          <a:pt x="17" y="0"/>
                        </a:lnTo>
                        <a:lnTo>
                          <a:pt x="20" y="0"/>
                        </a:lnTo>
                        <a:lnTo>
                          <a:pt x="23" y="1"/>
                        </a:lnTo>
                        <a:lnTo>
                          <a:pt x="25" y="3"/>
                        </a:lnTo>
                        <a:lnTo>
                          <a:pt x="27" y="4"/>
                        </a:lnTo>
                        <a:lnTo>
                          <a:pt x="28" y="6"/>
                        </a:lnTo>
                        <a:lnTo>
                          <a:pt x="29" y="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7533" name="Group 1049"/>
                  <p:cNvGrpSpPr>
                    <a:grpSpLocks/>
                  </p:cNvGrpSpPr>
                  <p:nvPr/>
                </p:nvGrpSpPr>
                <p:grpSpPr bwMode="auto">
                  <a:xfrm>
                    <a:off x="2569" y="2619"/>
                    <a:ext cx="30" cy="33"/>
                    <a:chOff x="2569" y="2619"/>
                    <a:chExt cx="30" cy="33"/>
                  </a:xfrm>
                </p:grpSpPr>
                <p:sp>
                  <p:nvSpPr>
                    <p:cNvPr id="17554" name="Freeform 1050"/>
                    <p:cNvSpPr>
                      <a:spLocks/>
                    </p:cNvSpPr>
                    <p:nvPr/>
                  </p:nvSpPr>
                  <p:spPr bwMode="auto">
                    <a:xfrm>
                      <a:off x="2569" y="2619"/>
                      <a:ext cx="30" cy="33"/>
                    </a:xfrm>
                    <a:custGeom>
                      <a:avLst/>
                      <a:gdLst>
                        <a:gd name="T0" fmla="*/ 29 w 30"/>
                        <a:gd name="T1" fmla="*/ 8 h 33"/>
                        <a:gd name="T2" fmla="*/ 30 w 30"/>
                        <a:gd name="T3" fmla="*/ 11 h 33"/>
                        <a:gd name="T4" fmla="*/ 30 w 30"/>
                        <a:gd name="T5" fmla="*/ 13 h 33"/>
                        <a:gd name="T6" fmla="*/ 30 w 30"/>
                        <a:gd name="T7" fmla="*/ 16 h 33"/>
                        <a:gd name="T8" fmla="*/ 29 w 30"/>
                        <a:gd name="T9" fmla="*/ 19 h 33"/>
                        <a:gd name="T10" fmla="*/ 29 w 30"/>
                        <a:gd name="T11" fmla="*/ 21 h 33"/>
                        <a:gd name="T12" fmla="*/ 28 w 30"/>
                        <a:gd name="T13" fmla="*/ 24 h 33"/>
                        <a:gd name="T14" fmla="*/ 27 w 30"/>
                        <a:gd name="T15" fmla="*/ 24 h 33"/>
                        <a:gd name="T16" fmla="*/ 25 w 30"/>
                        <a:gd name="T17" fmla="*/ 27 h 33"/>
                        <a:gd name="T18" fmla="*/ 24 w 30"/>
                        <a:gd name="T19" fmla="*/ 29 h 33"/>
                        <a:gd name="T20" fmla="*/ 23 w 30"/>
                        <a:gd name="T21" fmla="*/ 31 h 33"/>
                        <a:gd name="T22" fmla="*/ 21 w 30"/>
                        <a:gd name="T23" fmla="*/ 31 h 33"/>
                        <a:gd name="T24" fmla="*/ 20 w 30"/>
                        <a:gd name="T25" fmla="*/ 32 h 33"/>
                        <a:gd name="T26" fmla="*/ 18 w 30"/>
                        <a:gd name="T27" fmla="*/ 32 h 33"/>
                        <a:gd name="T28" fmla="*/ 17 w 30"/>
                        <a:gd name="T29" fmla="*/ 33 h 33"/>
                        <a:gd name="T30" fmla="*/ 16 w 30"/>
                        <a:gd name="T31" fmla="*/ 33 h 33"/>
                        <a:gd name="T32" fmla="*/ 14 w 30"/>
                        <a:gd name="T33" fmla="*/ 33 h 33"/>
                        <a:gd name="T34" fmla="*/ 13 w 30"/>
                        <a:gd name="T35" fmla="*/ 33 h 33"/>
                        <a:gd name="T36" fmla="*/ 12 w 30"/>
                        <a:gd name="T37" fmla="*/ 33 h 33"/>
                        <a:gd name="T38" fmla="*/ 11 w 30"/>
                        <a:gd name="T39" fmla="*/ 33 h 33"/>
                        <a:gd name="T40" fmla="*/ 10 w 30"/>
                        <a:gd name="T41" fmla="*/ 33 h 33"/>
                        <a:gd name="T42" fmla="*/ 9 w 30"/>
                        <a:gd name="T43" fmla="*/ 32 h 33"/>
                        <a:gd name="T44" fmla="*/ 7 w 30"/>
                        <a:gd name="T45" fmla="*/ 32 h 33"/>
                        <a:gd name="T46" fmla="*/ 7 w 30"/>
                        <a:gd name="T47" fmla="*/ 31 h 33"/>
                        <a:gd name="T48" fmla="*/ 5 w 30"/>
                        <a:gd name="T49" fmla="*/ 30 h 33"/>
                        <a:gd name="T50" fmla="*/ 4 w 30"/>
                        <a:gd name="T51" fmla="*/ 29 h 33"/>
                        <a:gd name="T52" fmla="*/ 2 w 30"/>
                        <a:gd name="T53" fmla="*/ 29 h 33"/>
                        <a:gd name="T54" fmla="*/ 2 w 30"/>
                        <a:gd name="T55" fmla="*/ 28 h 33"/>
                        <a:gd name="T56" fmla="*/ 1 w 30"/>
                        <a:gd name="T57" fmla="*/ 27 h 33"/>
                        <a:gd name="T58" fmla="*/ 1 w 30"/>
                        <a:gd name="T59" fmla="*/ 26 h 33"/>
                        <a:gd name="T60" fmla="*/ 0 w 30"/>
                        <a:gd name="T61" fmla="*/ 24 h 33"/>
                        <a:gd name="T62" fmla="*/ 0 w 30"/>
                        <a:gd name="T63" fmla="*/ 20 h 33"/>
                        <a:gd name="T64" fmla="*/ 0 w 30"/>
                        <a:gd name="T65" fmla="*/ 17 h 33"/>
                        <a:gd name="T66" fmla="*/ 1 w 30"/>
                        <a:gd name="T67" fmla="*/ 16 h 33"/>
                        <a:gd name="T68" fmla="*/ 1 w 30"/>
                        <a:gd name="T69" fmla="*/ 14 h 33"/>
                        <a:gd name="T70" fmla="*/ 2 w 30"/>
                        <a:gd name="T71" fmla="*/ 12 h 33"/>
                        <a:gd name="T72" fmla="*/ 4 w 30"/>
                        <a:gd name="T73" fmla="*/ 10 h 33"/>
                        <a:gd name="T74" fmla="*/ 7 w 30"/>
                        <a:gd name="T75" fmla="*/ 8 h 33"/>
                        <a:gd name="T76" fmla="*/ 7 w 30"/>
                        <a:gd name="T77" fmla="*/ 6 h 33"/>
                        <a:gd name="T78" fmla="*/ 9 w 30"/>
                        <a:gd name="T79" fmla="*/ 4 h 33"/>
                        <a:gd name="T80" fmla="*/ 11 w 30"/>
                        <a:gd name="T81" fmla="*/ 3 h 33"/>
                        <a:gd name="T82" fmla="*/ 13 w 30"/>
                        <a:gd name="T83" fmla="*/ 1 h 33"/>
                        <a:gd name="T84" fmla="*/ 15 w 30"/>
                        <a:gd name="T85" fmla="*/ 0 h 33"/>
                        <a:gd name="T86" fmla="*/ 17 w 30"/>
                        <a:gd name="T87" fmla="*/ 0 h 33"/>
                        <a:gd name="T88" fmla="*/ 20 w 30"/>
                        <a:gd name="T89" fmla="*/ 0 h 33"/>
                        <a:gd name="T90" fmla="*/ 23 w 30"/>
                        <a:gd name="T91" fmla="*/ 1 h 33"/>
                        <a:gd name="T92" fmla="*/ 25 w 30"/>
                        <a:gd name="T93" fmla="*/ 3 h 33"/>
                        <a:gd name="T94" fmla="*/ 27 w 30"/>
                        <a:gd name="T95" fmla="*/ 4 h 33"/>
                        <a:gd name="T96" fmla="*/ 28 w 30"/>
                        <a:gd name="T97" fmla="*/ 6 h 33"/>
                        <a:gd name="T98" fmla="*/ 29 w 30"/>
                        <a:gd name="T99" fmla="*/ 8 h 33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w 30"/>
                        <a:gd name="T151" fmla="*/ 0 h 33"/>
                        <a:gd name="T152" fmla="*/ 30 w 30"/>
                        <a:gd name="T153" fmla="*/ 33 h 33"/>
                      </a:gdLst>
                      <a:ahLst/>
                      <a:cxnLst>
                        <a:cxn ang="T100">
                          <a:pos x="T0" y="T1"/>
                        </a:cxn>
                        <a:cxn ang="T101">
                          <a:pos x="T2" y="T3"/>
                        </a:cxn>
                        <a:cxn ang="T102">
                          <a:pos x="T4" y="T5"/>
                        </a:cxn>
                        <a:cxn ang="T103">
                          <a:pos x="T6" y="T7"/>
                        </a:cxn>
                        <a:cxn ang="T104">
                          <a:pos x="T8" y="T9"/>
                        </a:cxn>
                        <a:cxn ang="T105">
                          <a:pos x="T10" y="T11"/>
                        </a:cxn>
                        <a:cxn ang="T106">
                          <a:pos x="T12" y="T13"/>
                        </a:cxn>
                        <a:cxn ang="T107">
                          <a:pos x="T14" y="T15"/>
                        </a:cxn>
                        <a:cxn ang="T108">
                          <a:pos x="T16" y="T17"/>
                        </a:cxn>
                        <a:cxn ang="T109">
                          <a:pos x="T18" y="T19"/>
                        </a:cxn>
                        <a:cxn ang="T110">
                          <a:pos x="T20" y="T21"/>
                        </a:cxn>
                        <a:cxn ang="T111">
                          <a:pos x="T22" y="T23"/>
                        </a:cxn>
                        <a:cxn ang="T112">
                          <a:pos x="T24" y="T25"/>
                        </a:cxn>
                        <a:cxn ang="T113">
                          <a:pos x="T26" y="T27"/>
                        </a:cxn>
                        <a:cxn ang="T114">
                          <a:pos x="T28" y="T29"/>
                        </a:cxn>
                        <a:cxn ang="T115">
                          <a:pos x="T30" y="T31"/>
                        </a:cxn>
                        <a:cxn ang="T116">
                          <a:pos x="T32" y="T33"/>
                        </a:cxn>
                        <a:cxn ang="T117">
                          <a:pos x="T34" y="T35"/>
                        </a:cxn>
                        <a:cxn ang="T118">
                          <a:pos x="T36" y="T37"/>
                        </a:cxn>
                        <a:cxn ang="T119">
                          <a:pos x="T38" y="T39"/>
                        </a:cxn>
                        <a:cxn ang="T120">
                          <a:pos x="T40" y="T41"/>
                        </a:cxn>
                        <a:cxn ang="T121">
                          <a:pos x="T42" y="T43"/>
                        </a:cxn>
                        <a:cxn ang="T122">
                          <a:pos x="T44" y="T45"/>
                        </a:cxn>
                        <a:cxn ang="T123">
                          <a:pos x="T46" y="T47"/>
                        </a:cxn>
                        <a:cxn ang="T124">
                          <a:pos x="T48" y="T49"/>
                        </a:cxn>
                        <a:cxn ang="T125">
                          <a:pos x="T50" y="T51"/>
                        </a:cxn>
                        <a:cxn ang="T126">
                          <a:pos x="T52" y="T53"/>
                        </a:cxn>
                        <a:cxn ang="T127">
                          <a:pos x="T54" y="T55"/>
                        </a:cxn>
                        <a:cxn ang="T128">
                          <a:pos x="T56" y="T57"/>
                        </a:cxn>
                        <a:cxn ang="T129">
                          <a:pos x="T58" y="T59"/>
                        </a:cxn>
                        <a:cxn ang="T130">
                          <a:pos x="T60" y="T61"/>
                        </a:cxn>
                        <a:cxn ang="T131">
                          <a:pos x="T62" y="T63"/>
                        </a:cxn>
                        <a:cxn ang="T132">
                          <a:pos x="T64" y="T65"/>
                        </a:cxn>
                        <a:cxn ang="T133">
                          <a:pos x="T66" y="T67"/>
                        </a:cxn>
                        <a:cxn ang="T134">
                          <a:pos x="T68" y="T69"/>
                        </a:cxn>
                        <a:cxn ang="T135">
                          <a:pos x="T70" y="T71"/>
                        </a:cxn>
                        <a:cxn ang="T136">
                          <a:pos x="T72" y="T73"/>
                        </a:cxn>
                        <a:cxn ang="T137">
                          <a:pos x="T74" y="T75"/>
                        </a:cxn>
                        <a:cxn ang="T138">
                          <a:pos x="T76" y="T77"/>
                        </a:cxn>
                        <a:cxn ang="T139">
                          <a:pos x="T78" y="T79"/>
                        </a:cxn>
                        <a:cxn ang="T140">
                          <a:pos x="T80" y="T81"/>
                        </a:cxn>
                        <a:cxn ang="T141">
                          <a:pos x="T82" y="T83"/>
                        </a:cxn>
                        <a:cxn ang="T142">
                          <a:pos x="T84" y="T85"/>
                        </a:cxn>
                        <a:cxn ang="T143">
                          <a:pos x="T86" y="T87"/>
                        </a:cxn>
                        <a:cxn ang="T144">
                          <a:pos x="T88" y="T89"/>
                        </a:cxn>
                        <a:cxn ang="T145">
                          <a:pos x="T90" y="T91"/>
                        </a:cxn>
                        <a:cxn ang="T146">
                          <a:pos x="T92" y="T93"/>
                        </a:cxn>
                        <a:cxn ang="T147">
                          <a:pos x="T94" y="T95"/>
                        </a:cxn>
                        <a:cxn ang="T148">
                          <a:pos x="T96" y="T97"/>
                        </a:cxn>
                        <a:cxn ang="T149">
                          <a:pos x="T98" y="T99"/>
                        </a:cxn>
                      </a:cxnLst>
                      <a:rect l="T150" t="T151" r="T152" b="T153"/>
                      <a:pathLst>
                        <a:path w="30" h="33">
                          <a:moveTo>
                            <a:pt x="29" y="8"/>
                          </a:moveTo>
                          <a:lnTo>
                            <a:pt x="30" y="11"/>
                          </a:lnTo>
                          <a:lnTo>
                            <a:pt x="30" y="13"/>
                          </a:lnTo>
                          <a:lnTo>
                            <a:pt x="30" y="16"/>
                          </a:lnTo>
                          <a:lnTo>
                            <a:pt x="29" y="19"/>
                          </a:lnTo>
                          <a:lnTo>
                            <a:pt x="29" y="21"/>
                          </a:lnTo>
                          <a:lnTo>
                            <a:pt x="28" y="24"/>
                          </a:lnTo>
                          <a:lnTo>
                            <a:pt x="27" y="24"/>
                          </a:lnTo>
                          <a:lnTo>
                            <a:pt x="25" y="27"/>
                          </a:lnTo>
                          <a:lnTo>
                            <a:pt x="24" y="29"/>
                          </a:lnTo>
                          <a:lnTo>
                            <a:pt x="23" y="31"/>
                          </a:lnTo>
                          <a:lnTo>
                            <a:pt x="21" y="31"/>
                          </a:lnTo>
                          <a:lnTo>
                            <a:pt x="20" y="32"/>
                          </a:lnTo>
                          <a:lnTo>
                            <a:pt x="18" y="32"/>
                          </a:lnTo>
                          <a:lnTo>
                            <a:pt x="17" y="33"/>
                          </a:lnTo>
                          <a:lnTo>
                            <a:pt x="16" y="33"/>
                          </a:lnTo>
                          <a:lnTo>
                            <a:pt x="14" y="33"/>
                          </a:lnTo>
                          <a:lnTo>
                            <a:pt x="13" y="33"/>
                          </a:lnTo>
                          <a:lnTo>
                            <a:pt x="12" y="33"/>
                          </a:lnTo>
                          <a:lnTo>
                            <a:pt x="11" y="33"/>
                          </a:lnTo>
                          <a:lnTo>
                            <a:pt x="10" y="33"/>
                          </a:lnTo>
                          <a:lnTo>
                            <a:pt x="9" y="32"/>
                          </a:lnTo>
                          <a:lnTo>
                            <a:pt x="7" y="32"/>
                          </a:lnTo>
                          <a:lnTo>
                            <a:pt x="7" y="31"/>
                          </a:lnTo>
                          <a:lnTo>
                            <a:pt x="5" y="30"/>
                          </a:lnTo>
                          <a:lnTo>
                            <a:pt x="4" y="29"/>
                          </a:lnTo>
                          <a:lnTo>
                            <a:pt x="2" y="29"/>
                          </a:lnTo>
                          <a:lnTo>
                            <a:pt x="2" y="28"/>
                          </a:lnTo>
                          <a:lnTo>
                            <a:pt x="1" y="27"/>
                          </a:lnTo>
                          <a:lnTo>
                            <a:pt x="1" y="26"/>
                          </a:lnTo>
                          <a:lnTo>
                            <a:pt x="0" y="24"/>
                          </a:lnTo>
                          <a:lnTo>
                            <a:pt x="0" y="20"/>
                          </a:lnTo>
                          <a:lnTo>
                            <a:pt x="0" y="17"/>
                          </a:lnTo>
                          <a:lnTo>
                            <a:pt x="1" y="16"/>
                          </a:lnTo>
                          <a:lnTo>
                            <a:pt x="1" y="14"/>
                          </a:lnTo>
                          <a:lnTo>
                            <a:pt x="2" y="12"/>
                          </a:lnTo>
                          <a:lnTo>
                            <a:pt x="4" y="10"/>
                          </a:lnTo>
                          <a:lnTo>
                            <a:pt x="7" y="8"/>
                          </a:lnTo>
                          <a:lnTo>
                            <a:pt x="7" y="6"/>
                          </a:lnTo>
                          <a:lnTo>
                            <a:pt x="9" y="4"/>
                          </a:lnTo>
                          <a:lnTo>
                            <a:pt x="11" y="3"/>
                          </a:lnTo>
                          <a:lnTo>
                            <a:pt x="13" y="1"/>
                          </a:lnTo>
                          <a:lnTo>
                            <a:pt x="15" y="0"/>
                          </a:lnTo>
                          <a:lnTo>
                            <a:pt x="17" y="0"/>
                          </a:lnTo>
                          <a:lnTo>
                            <a:pt x="20" y="0"/>
                          </a:lnTo>
                          <a:lnTo>
                            <a:pt x="23" y="1"/>
                          </a:lnTo>
                          <a:lnTo>
                            <a:pt x="25" y="3"/>
                          </a:lnTo>
                          <a:lnTo>
                            <a:pt x="27" y="4"/>
                          </a:lnTo>
                          <a:lnTo>
                            <a:pt x="28" y="6"/>
                          </a:lnTo>
                          <a:lnTo>
                            <a:pt x="29" y="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55" name="Freeform 1051"/>
                    <p:cNvSpPr>
                      <a:spLocks/>
                    </p:cNvSpPr>
                    <p:nvPr/>
                  </p:nvSpPr>
                  <p:spPr bwMode="auto">
                    <a:xfrm>
                      <a:off x="2569" y="2619"/>
                      <a:ext cx="30" cy="33"/>
                    </a:xfrm>
                    <a:custGeom>
                      <a:avLst/>
                      <a:gdLst>
                        <a:gd name="T0" fmla="*/ 29 w 30"/>
                        <a:gd name="T1" fmla="*/ 8 h 33"/>
                        <a:gd name="T2" fmla="*/ 30 w 30"/>
                        <a:gd name="T3" fmla="*/ 11 h 33"/>
                        <a:gd name="T4" fmla="*/ 30 w 30"/>
                        <a:gd name="T5" fmla="*/ 13 h 33"/>
                        <a:gd name="T6" fmla="*/ 30 w 30"/>
                        <a:gd name="T7" fmla="*/ 16 h 33"/>
                        <a:gd name="T8" fmla="*/ 29 w 30"/>
                        <a:gd name="T9" fmla="*/ 19 h 33"/>
                        <a:gd name="T10" fmla="*/ 29 w 30"/>
                        <a:gd name="T11" fmla="*/ 21 h 33"/>
                        <a:gd name="T12" fmla="*/ 28 w 30"/>
                        <a:gd name="T13" fmla="*/ 24 h 33"/>
                        <a:gd name="T14" fmla="*/ 27 w 30"/>
                        <a:gd name="T15" fmla="*/ 24 h 33"/>
                        <a:gd name="T16" fmla="*/ 25 w 30"/>
                        <a:gd name="T17" fmla="*/ 27 h 33"/>
                        <a:gd name="T18" fmla="*/ 24 w 30"/>
                        <a:gd name="T19" fmla="*/ 29 h 33"/>
                        <a:gd name="T20" fmla="*/ 23 w 30"/>
                        <a:gd name="T21" fmla="*/ 31 h 33"/>
                        <a:gd name="T22" fmla="*/ 21 w 30"/>
                        <a:gd name="T23" fmla="*/ 31 h 33"/>
                        <a:gd name="T24" fmla="*/ 20 w 30"/>
                        <a:gd name="T25" fmla="*/ 32 h 33"/>
                        <a:gd name="T26" fmla="*/ 18 w 30"/>
                        <a:gd name="T27" fmla="*/ 32 h 33"/>
                        <a:gd name="T28" fmla="*/ 17 w 30"/>
                        <a:gd name="T29" fmla="*/ 33 h 33"/>
                        <a:gd name="T30" fmla="*/ 16 w 30"/>
                        <a:gd name="T31" fmla="*/ 33 h 33"/>
                        <a:gd name="T32" fmla="*/ 14 w 30"/>
                        <a:gd name="T33" fmla="*/ 33 h 33"/>
                        <a:gd name="T34" fmla="*/ 13 w 30"/>
                        <a:gd name="T35" fmla="*/ 33 h 33"/>
                        <a:gd name="T36" fmla="*/ 12 w 30"/>
                        <a:gd name="T37" fmla="*/ 33 h 33"/>
                        <a:gd name="T38" fmla="*/ 11 w 30"/>
                        <a:gd name="T39" fmla="*/ 33 h 33"/>
                        <a:gd name="T40" fmla="*/ 10 w 30"/>
                        <a:gd name="T41" fmla="*/ 33 h 33"/>
                        <a:gd name="T42" fmla="*/ 9 w 30"/>
                        <a:gd name="T43" fmla="*/ 32 h 33"/>
                        <a:gd name="T44" fmla="*/ 7 w 30"/>
                        <a:gd name="T45" fmla="*/ 32 h 33"/>
                        <a:gd name="T46" fmla="*/ 7 w 30"/>
                        <a:gd name="T47" fmla="*/ 31 h 33"/>
                        <a:gd name="T48" fmla="*/ 5 w 30"/>
                        <a:gd name="T49" fmla="*/ 30 h 33"/>
                        <a:gd name="T50" fmla="*/ 4 w 30"/>
                        <a:gd name="T51" fmla="*/ 29 h 33"/>
                        <a:gd name="T52" fmla="*/ 2 w 30"/>
                        <a:gd name="T53" fmla="*/ 29 h 33"/>
                        <a:gd name="T54" fmla="*/ 2 w 30"/>
                        <a:gd name="T55" fmla="*/ 28 h 33"/>
                        <a:gd name="T56" fmla="*/ 1 w 30"/>
                        <a:gd name="T57" fmla="*/ 27 h 33"/>
                        <a:gd name="T58" fmla="*/ 1 w 30"/>
                        <a:gd name="T59" fmla="*/ 26 h 33"/>
                        <a:gd name="T60" fmla="*/ 0 w 30"/>
                        <a:gd name="T61" fmla="*/ 24 h 33"/>
                        <a:gd name="T62" fmla="*/ 0 w 30"/>
                        <a:gd name="T63" fmla="*/ 20 h 33"/>
                        <a:gd name="T64" fmla="*/ 0 w 30"/>
                        <a:gd name="T65" fmla="*/ 17 h 33"/>
                        <a:gd name="T66" fmla="*/ 1 w 30"/>
                        <a:gd name="T67" fmla="*/ 16 h 33"/>
                        <a:gd name="T68" fmla="*/ 1 w 30"/>
                        <a:gd name="T69" fmla="*/ 14 h 33"/>
                        <a:gd name="T70" fmla="*/ 2 w 30"/>
                        <a:gd name="T71" fmla="*/ 12 h 33"/>
                        <a:gd name="T72" fmla="*/ 4 w 30"/>
                        <a:gd name="T73" fmla="*/ 10 h 33"/>
                        <a:gd name="T74" fmla="*/ 7 w 30"/>
                        <a:gd name="T75" fmla="*/ 8 h 33"/>
                        <a:gd name="T76" fmla="*/ 7 w 30"/>
                        <a:gd name="T77" fmla="*/ 6 h 33"/>
                        <a:gd name="T78" fmla="*/ 9 w 30"/>
                        <a:gd name="T79" fmla="*/ 4 h 33"/>
                        <a:gd name="T80" fmla="*/ 11 w 30"/>
                        <a:gd name="T81" fmla="*/ 3 h 33"/>
                        <a:gd name="T82" fmla="*/ 13 w 30"/>
                        <a:gd name="T83" fmla="*/ 1 h 33"/>
                        <a:gd name="T84" fmla="*/ 15 w 30"/>
                        <a:gd name="T85" fmla="*/ 0 h 33"/>
                        <a:gd name="T86" fmla="*/ 17 w 30"/>
                        <a:gd name="T87" fmla="*/ 0 h 33"/>
                        <a:gd name="T88" fmla="*/ 20 w 30"/>
                        <a:gd name="T89" fmla="*/ 0 h 33"/>
                        <a:gd name="T90" fmla="*/ 23 w 30"/>
                        <a:gd name="T91" fmla="*/ 1 h 33"/>
                        <a:gd name="T92" fmla="*/ 25 w 30"/>
                        <a:gd name="T93" fmla="*/ 3 h 33"/>
                        <a:gd name="T94" fmla="*/ 27 w 30"/>
                        <a:gd name="T95" fmla="*/ 4 h 33"/>
                        <a:gd name="T96" fmla="*/ 28 w 30"/>
                        <a:gd name="T97" fmla="*/ 6 h 33"/>
                        <a:gd name="T98" fmla="*/ 29 w 30"/>
                        <a:gd name="T99" fmla="*/ 8 h 33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w 30"/>
                        <a:gd name="T151" fmla="*/ 0 h 33"/>
                        <a:gd name="T152" fmla="*/ 30 w 30"/>
                        <a:gd name="T153" fmla="*/ 33 h 33"/>
                      </a:gdLst>
                      <a:ahLst/>
                      <a:cxnLst>
                        <a:cxn ang="T100">
                          <a:pos x="T0" y="T1"/>
                        </a:cxn>
                        <a:cxn ang="T101">
                          <a:pos x="T2" y="T3"/>
                        </a:cxn>
                        <a:cxn ang="T102">
                          <a:pos x="T4" y="T5"/>
                        </a:cxn>
                        <a:cxn ang="T103">
                          <a:pos x="T6" y="T7"/>
                        </a:cxn>
                        <a:cxn ang="T104">
                          <a:pos x="T8" y="T9"/>
                        </a:cxn>
                        <a:cxn ang="T105">
                          <a:pos x="T10" y="T11"/>
                        </a:cxn>
                        <a:cxn ang="T106">
                          <a:pos x="T12" y="T13"/>
                        </a:cxn>
                        <a:cxn ang="T107">
                          <a:pos x="T14" y="T15"/>
                        </a:cxn>
                        <a:cxn ang="T108">
                          <a:pos x="T16" y="T17"/>
                        </a:cxn>
                        <a:cxn ang="T109">
                          <a:pos x="T18" y="T19"/>
                        </a:cxn>
                        <a:cxn ang="T110">
                          <a:pos x="T20" y="T21"/>
                        </a:cxn>
                        <a:cxn ang="T111">
                          <a:pos x="T22" y="T23"/>
                        </a:cxn>
                        <a:cxn ang="T112">
                          <a:pos x="T24" y="T25"/>
                        </a:cxn>
                        <a:cxn ang="T113">
                          <a:pos x="T26" y="T27"/>
                        </a:cxn>
                        <a:cxn ang="T114">
                          <a:pos x="T28" y="T29"/>
                        </a:cxn>
                        <a:cxn ang="T115">
                          <a:pos x="T30" y="T31"/>
                        </a:cxn>
                        <a:cxn ang="T116">
                          <a:pos x="T32" y="T33"/>
                        </a:cxn>
                        <a:cxn ang="T117">
                          <a:pos x="T34" y="T35"/>
                        </a:cxn>
                        <a:cxn ang="T118">
                          <a:pos x="T36" y="T37"/>
                        </a:cxn>
                        <a:cxn ang="T119">
                          <a:pos x="T38" y="T39"/>
                        </a:cxn>
                        <a:cxn ang="T120">
                          <a:pos x="T40" y="T41"/>
                        </a:cxn>
                        <a:cxn ang="T121">
                          <a:pos x="T42" y="T43"/>
                        </a:cxn>
                        <a:cxn ang="T122">
                          <a:pos x="T44" y="T45"/>
                        </a:cxn>
                        <a:cxn ang="T123">
                          <a:pos x="T46" y="T47"/>
                        </a:cxn>
                        <a:cxn ang="T124">
                          <a:pos x="T48" y="T49"/>
                        </a:cxn>
                        <a:cxn ang="T125">
                          <a:pos x="T50" y="T51"/>
                        </a:cxn>
                        <a:cxn ang="T126">
                          <a:pos x="T52" y="T53"/>
                        </a:cxn>
                        <a:cxn ang="T127">
                          <a:pos x="T54" y="T55"/>
                        </a:cxn>
                        <a:cxn ang="T128">
                          <a:pos x="T56" y="T57"/>
                        </a:cxn>
                        <a:cxn ang="T129">
                          <a:pos x="T58" y="T59"/>
                        </a:cxn>
                        <a:cxn ang="T130">
                          <a:pos x="T60" y="T61"/>
                        </a:cxn>
                        <a:cxn ang="T131">
                          <a:pos x="T62" y="T63"/>
                        </a:cxn>
                        <a:cxn ang="T132">
                          <a:pos x="T64" y="T65"/>
                        </a:cxn>
                        <a:cxn ang="T133">
                          <a:pos x="T66" y="T67"/>
                        </a:cxn>
                        <a:cxn ang="T134">
                          <a:pos x="T68" y="T69"/>
                        </a:cxn>
                        <a:cxn ang="T135">
                          <a:pos x="T70" y="T71"/>
                        </a:cxn>
                        <a:cxn ang="T136">
                          <a:pos x="T72" y="T73"/>
                        </a:cxn>
                        <a:cxn ang="T137">
                          <a:pos x="T74" y="T75"/>
                        </a:cxn>
                        <a:cxn ang="T138">
                          <a:pos x="T76" y="T77"/>
                        </a:cxn>
                        <a:cxn ang="T139">
                          <a:pos x="T78" y="T79"/>
                        </a:cxn>
                        <a:cxn ang="T140">
                          <a:pos x="T80" y="T81"/>
                        </a:cxn>
                        <a:cxn ang="T141">
                          <a:pos x="T82" y="T83"/>
                        </a:cxn>
                        <a:cxn ang="T142">
                          <a:pos x="T84" y="T85"/>
                        </a:cxn>
                        <a:cxn ang="T143">
                          <a:pos x="T86" y="T87"/>
                        </a:cxn>
                        <a:cxn ang="T144">
                          <a:pos x="T88" y="T89"/>
                        </a:cxn>
                        <a:cxn ang="T145">
                          <a:pos x="T90" y="T91"/>
                        </a:cxn>
                        <a:cxn ang="T146">
                          <a:pos x="T92" y="T93"/>
                        </a:cxn>
                        <a:cxn ang="T147">
                          <a:pos x="T94" y="T95"/>
                        </a:cxn>
                        <a:cxn ang="T148">
                          <a:pos x="T96" y="T97"/>
                        </a:cxn>
                        <a:cxn ang="T149">
                          <a:pos x="T98" y="T99"/>
                        </a:cxn>
                      </a:cxnLst>
                      <a:rect l="T150" t="T151" r="T152" b="T153"/>
                      <a:pathLst>
                        <a:path w="30" h="33">
                          <a:moveTo>
                            <a:pt x="29" y="8"/>
                          </a:moveTo>
                          <a:lnTo>
                            <a:pt x="30" y="11"/>
                          </a:lnTo>
                          <a:lnTo>
                            <a:pt x="30" y="13"/>
                          </a:lnTo>
                          <a:lnTo>
                            <a:pt x="30" y="16"/>
                          </a:lnTo>
                          <a:lnTo>
                            <a:pt x="29" y="19"/>
                          </a:lnTo>
                          <a:lnTo>
                            <a:pt x="29" y="21"/>
                          </a:lnTo>
                          <a:lnTo>
                            <a:pt x="28" y="24"/>
                          </a:lnTo>
                          <a:lnTo>
                            <a:pt x="27" y="24"/>
                          </a:lnTo>
                          <a:lnTo>
                            <a:pt x="25" y="27"/>
                          </a:lnTo>
                          <a:lnTo>
                            <a:pt x="24" y="29"/>
                          </a:lnTo>
                          <a:lnTo>
                            <a:pt x="23" y="31"/>
                          </a:lnTo>
                          <a:lnTo>
                            <a:pt x="21" y="31"/>
                          </a:lnTo>
                          <a:lnTo>
                            <a:pt x="20" y="32"/>
                          </a:lnTo>
                          <a:lnTo>
                            <a:pt x="18" y="32"/>
                          </a:lnTo>
                          <a:lnTo>
                            <a:pt x="17" y="33"/>
                          </a:lnTo>
                          <a:lnTo>
                            <a:pt x="16" y="33"/>
                          </a:lnTo>
                          <a:lnTo>
                            <a:pt x="14" y="33"/>
                          </a:lnTo>
                          <a:lnTo>
                            <a:pt x="13" y="33"/>
                          </a:lnTo>
                          <a:lnTo>
                            <a:pt x="12" y="33"/>
                          </a:lnTo>
                          <a:lnTo>
                            <a:pt x="11" y="33"/>
                          </a:lnTo>
                          <a:lnTo>
                            <a:pt x="10" y="33"/>
                          </a:lnTo>
                          <a:lnTo>
                            <a:pt x="9" y="32"/>
                          </a:lnTo>
                          <a:lnTo>
                            <a:pt x="7" y="32"/>
                          </a:lnTo>
                          <a:lnTo>
                            <a:pt x="7" y="31"/>
                          </a:lnTo>
                          <a:lnTo>
                            <a:pt x="5" y="30"/>
                          </a:lnTo>
                          <a:lnTo>
                            <a:pt x="4" y="29"/>
                          </a:lnTo>
                          <a:lnTo>
                            <a:pt x="2" y="29"/>
                          </a:lnTo>
                          <a:lnTo>
                            <a:pt x="2" y="28"/>
                          </a:lnTo>
                          <a:lnTo>
                            <a:pt x="1" y="27"/>
                          </a:lnTo>
                          <a:lnTo>
                            <a:pt x="1" y="26"/>
                          </a:lnTo>
                          <a:lnTo>
                            <a:pt x="0" y="24"/>
                          </a:lnTo>
                          <a:lnTo>
                            <a:pt x="0" y="20"/>
                          </a:lnTo>
                          <a:lnTo>
                            <a:pt x="0" y="17"/>
                          </a:lnTo>
                          <a:lnTo>
                            <a:pt x="1" y="16"/>
                          </a:lnTo>
                          <a:lnTo>
                            <a:pt x="1" y="14"/>
                          </a:lnTo>
                          <a:lnTo>
                            <a:pt x="2" y="12"/>
                          </a:lnTo>
                          <a:lnTo>
                            <a:pt x="4" y="10"/>
                          </a:lnTo>
                          <a:lnTo>
                            <a:pt x="7" y="8"/>
                          </a:lnTo>
                          <a:lnTo>
                            <a:pt x="7" y="6"/>
                          </a:lnTo>
                          <a:lnTo>
                            <a:pt x="9" y="4"/>
                          </a:lnTo>
                          <a:lnTo>
                            <a:pt x="11" y="3"/>
                          </a:lnTo>
                          <a:lnTo>
                            <a:pt x="13" y="1"/>
                          </a:lnTo>
                          <a:lnTo>
                            <a:pt x="15" y="0"/>
                          </a:lnTo>
                          <a:lnTo>
                            <a:pt x="17" y="0"/>
                          </a:lnTo>
                          <a:lnTo>
                            <a:pt x="20" y="0"/>
                          </a:lnTo>
                          <a:lnTo>
                            <a:pt x="23" y="1"/>
                          </a:lnTo>
                          <a:lnTo>
                            <a:pt x="25" y="3"/>
                          </a:lnTo>
                          <a:lnTo>
                            <a:pt x="27" y="4"/>
                          </a:lnTo>
                          <a:lnTo>
                            <a:pt x="28" y="6"/>
                          </a:lnTo>
                          <a:lnTo>
                            <a:pt x="29" y="8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7534" name="Freeform 1052"/>
                  <p:cNvSpPr>
                    <a:spLocks/>
                  </p:cNvSpPr>
                  <p:nvPr/>
                </p:nvSpPr>
                <p:spPr bwMode="auto">
                  <a:xfrm>
                    <a:off x="2582" y="2625"/>
                    <a:ext cx="13" cy="11"/>
                  </a:xfrm>
                  <a:custGeom>
                    <a:avLst/>
                    <a:gdLst>
                      <a:gd name="T0" fmla="*/ 13 w 13"/>
                      <a:gd name="T1" fmla="*/ 11 h 11"/>
                      <a:gd name="T2" fmla="*/ 13 w 13"/>
                      <a:gd name="T3" fmla="*/ 11 h 11"/>
                      <a:gd name="T4" fmla="*/ 0 w 13"/>
                      <a:gd name="T5" fmla="*/ 1 h 11"/>
                      <a:gd name="T6" fmla="*/ 1 w 13"/>
                      <a:gd name="T7" fmla="*/ 0 h 11"/>
                      <a:gd name="T8" fmla="*/ 2 w 13"/>
                      <a:gd name="T9" fmla="*/ 1 h 11"/>
                      <a:gd name="T10" fmla="*/ 3 w 13"/>
                      <a:gd name="T11" fmla="*/ 2 h 11"/>
                      <a:gd name="T12" fmla="*/ 4 w 13"/>
                      <a:gd name="T13" fmla="*/ 3 h 11"/>
                      <a:gd name="T14" fmla="*/ 5 w 13"/>
                      <a:gd name="T15" fmla="*/ 4 h 11"/>
                      <a:gd name="T16" fmla="*/ 7 w 13"/>
                      <a:gd name="T17" fmla="*/ 5 h 11"/>
                      <a:gd name="T18" fmla="*/ 9 w 13"/>
                      <a:gd name="T19" fmla="*/ 6 h 11"/>
                      <a:gd name="T20" fmla="*/ 10 w 13"/>
                      <a:gd name="T21" fmla="*/ 7 h 11"/>
                      <a:gd name="T22" fmla="*/ 11 w 13"/>
                      <a:gd name="T23" fmla="*/ 9 h 11"/>
                      <a:gd name="T24" fmla="*/ 12 w 13"/>
                      <a:gd name="T25" fmla="*/ 10 h 11"/>
                      <a:gd name="T26" fmla="*/ 13 w 13"/>
                      <a:gd name="T27" fmla="*/ 11 h 1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3"/>
                      <a:gd name="T43" fmla="*/ 0 h 11"/>
                      <a:gd name="T44" fmla="*/ 13 w 13"/>
                      <a:gd name="T45" fmla="*/ 11 h 1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3" h="11">
                        <a:moveTo>
                          <a:pt x="13" y="11"/>
                        </a:moveTo>
                        <a:lnTo>
                          <a:pt x="13" y="11"/>
                        </a:lnTo>
                        <a:lnTo>
                          <a:pt x="0" y="1"/>
                        </a:lnTo>
                        <a:lnTo>
                          <a:pt x="1" y="0"/>
                        </a:lnTo>
                        <a:lnTo>
                          <a:pt x="2" y="1"/>
                        </a:lnTo>
                        <a:lnTo>
                          <a:pt x="3" y="2"/>
                        </a:lnTo>
                        <a:lnTo>
                          <a:pt x="4" y="3"/>
                        </a:lnTo>
                        <a:lnTo>
                          <a:pt x="5" y="4"/>
                        </a:lnTo>
                        <a:lnTo>
                          <a:pt x="7" y="5"/>
                        </a:lnTo>
                        <a:lnTo>
                          <a:pt x="9" y="6"/>
                        </a:lnTo>
                        <a:lnTo>
                          <a:pt x="10" y="7"/>
                        </a:lnTo>
                        <a:lnTo>
                          <a:pt x="11" y="9"/>
                        </a:lnTo>
                        <a:lnTo>
                          <a:pt x="12" y="10"/>
                        </a:lnTo>
                        <a:lnTo>
                          <a:pt x="13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7535" name="Group 1053"/>
                  <p:cNvGrpSpPr>
                    <a:grpSpLocks/>
                  </p:cNvGrpSpPr>
                  <p:nvPr/>
                </p:nvGrpSpPr>
                <p:grpSpPr bwMode="auto">
                  <a:xfrm>
                    <a:off x="2582" y="2625"/>
                    <a:ext cx="13" cy="11"/>
                    <a:chOff x="2582" y="2625"/>
                    <a:chExt cx="13" cy="11"/>
                  </a:xfrm>
                </p:grpSpPr>
                <p:sp>
                  <p:nvSpPr>
                    <p:cNvPr id="17552" name="Freeform 1054"/>
                    <p:cNvSpPr>
                      <a:spLocks/>
                    </p:cNvSpPr>
                    <p:nvPr/>
                  </p:nvSpPr>
                  <p:spPr bwMode="auto">
                    <a:xfrm>
                      <a:off x="2582" y="2625"/>
                      <a:ext cx="13" cy="11"/>
                    </a:xfrm>
                    <a:custGeom>
                      <a:avLst/>
                      <a:gdLst>
                        <a:gd name="T0" fmla="*/ 13 w 13"/>
                        <a:gd name="T1" fmla="*/ 11 h 11"/>
                        <a:gd name="T2" fmla="*/ 13 w 13"/>
                        <a:gd name="T3" fmla="*/ 11 h 11"/>
                        <a:gd name="T4" fmla="*/ 0 w 13"/>
                        <a:gd name="T5" fmla="*/ 1 h 11"/>
                        <a:gd name="T6" fmla="*/ 1 w 13"/>
                        <a:gd name="T7" fmla="*/ 0 h 11"/>
                        <a:gd name="T8" fmla="*/ 2 w 13"/>
                        <a:gd name="T9" fmla="*/ 1 h 11"/>
                        <a:gd name="T10" fmla="*/ 3 w 13"/>
                        <a:gd name="T11" fmla="*/ 2 h 11"/>
                        <a:gd name="T12" fmla="*/ 4 w 13"/>
                        <a:gd name="T13" fmla="*/ 3 h 11"/>
                        <a:gd name="T14" fmla="*/ 5 w 13"/>
                        <a:gd name="T15" fmla="*/ 4 h 11"/>
                        <a:gd name="T16" fmla="*/ 7 w 13"/>
                        <a:gd name="T17" fmla="*/ 5 h 11"/>
                        <a:gd name="T18" fmla="*/ 9 w 13"/>
                        <a:gd name="T19" fmla="*/ 6 h 11"/>
                        <a:gd name="T20" fmla="*/ 10 w 13"/>
                        <a:gd name="T21" fmla="*/ 7 h 11"/>
                        <a:gd name="T22" fmla="*/ 11 w 13"/>
                        <a:gd name="T23" fmla="*/ 9 h 11"/>
                        <a:gd name="T24" fmla="*/ 12 w 13"/>
                        <a:gd name="T25" fmla="*/ 10 h 11"/>
                        <a:gd name="T26" fmla="*/ 13 w 13"/>
                        <a:gd name="T27" fmla="*/ 11 h 11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3"/>
                        <a:gd name="T43" fmla="*/ 0 h 11"/>
                        <a:gd name="T44" fmla="*/ 13 w 13"/>
                        <a:gd name="T45" fmla="*/ 11 h 11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3" h="11">
                          <a:moveTo>
                            <a:pt x="13" y="11"/>
                          </a:moveTo>
                          <a:lnTo>
                            <a:pt x="13" y="11"/>
                          </a:lnTo>
                          <a:lnTo>
                            <a:pt x="0" y="1"/>
                          </a:lnTo>
                          <a:lnTo>
                            <a:pt x="1" y="0"/>
                          </a:lnTo>
                          <a:lnTo>
                            <a:pt x="2" y="1"/>
                          </a:lnTo>
                          <a:lnTo>
                            <a:pt x="3" y="2"/>
                          </a:lnTo>
                          <a:lnTo>
                            <a:pt x="4" y="3"/>
                          </a:lnTo>
                          <a:lnTo>
                            <a:pt x="5" y="4"/>
                          </a:lnTo>
                          <a:lnTo>
                            <a:pt x="7" y="5"/>
                          </a:lnTo>
                          <a:lnTo>
                            <a:pt x="9" y="6"/>
                          </a:lnTo>
                          <a:lnTo>
                            <a:pt x="10" y="7"/>
                          </a:lnTo>
                          <a:lnTo>
                            <a:pt x="11" y="9"/>
                          </a:lnTo>
                          <a:lnTo>
                            <a:pt x="12" y="10"/>
                          </a:lnTo>
                          <a:lnTo>
                            <a:pt x="13" y="1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53" name="Freeform 1055"/>
                    <p:cNvSpPr>
                      <a:spLocks/>
                    </p:cNvSpPr>
                    <p:nvPr/>
                  </p:nvSpPr>
                  <p:spPr bwMode="auto">
                    <a:xfrm>
                      <a:off x="2582" y="2625"/>
                      <a:ext cx="13" cy="11"/>
                    </a:xfrm>
                    <a:custGeom>
                      <a:avLst/>
                      <a:gdLst>
                        <a:gd name="T0" fmla="*/ 13 w 13"/>
                        <a:gd name="T1" fmla="*/ 11 h 11"/>
                        <a:gd name="T2" fmla="*/ 13 w 13"/>
                        <a:gd name="T3" fmla="*/ 11 h 11"/>
                        <a:gd name="T4" fmla="*/ 0 w 13"/>
                        <a:gd name="T5" fmla="*/ 1 h 11"/>
                        <a:gd name="T6" fmla="*/ 1 w 13"/>
                        <a:gd name="T7" fmla="*/ 0 h 11"/>
                        <a:gd name="T8" fmla="*/ 2 w 13"/>
                        <a:gd name="T9" fmla="*/ 1 h 11"/>
                        <a:gd name="T10" fmla="*/ 3 w 13"/>
                        <a:gd name="T11" fmla="*/ 2 h 11"/>
                        <a:gd name="T12" fmla="*/ 4 w 13"/>
                        <a:gd name="T13" fmla="*/ 3 h 11"/>
                        <a:gd name="T14" fmla="*/ 5 w 13"/>
                        <a:gd name="T15" fmla="*/ 4 h 11"/>
                        <a:gd name="T16" fmla="*/ 7 w 13"/>
                        <a:gd name="T17" fmla="*/ 5 h 11"/>
                        <a:gd name="T18" fmla="*/ 9 w 13"/>
                        <a:gd name="T19" fmla="*/ 6 h 11"/>
                        <a:gd name="T20" fmla="*/ 10 w 13"/>
                        <a:gd name="T21" fmla="*/ 7 h 11"/>
                        <a:gd name="T22" fmla="*/ 11 w 13"/>
                        <a:gd name="T23" fmla="*/ 9 h 11"/>
                        <a:gd name="T24" fmla="*/ 12 w 13"/>
                        <a:gd name="T25" fmla="*/ 10 h 11"/>
                        <a:gd name="T26" fmla="*/ 13 w 13"/>
                        <a:gd name="T27" fmla="*/ 11 h 11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3"/>
                        <a:gd name="T43" fmla="*/ 0 h 11"/>
                        <a:gd name="T44" fmla="*/ 13 w 13"/>
                        <a:gd name="T45" fmla="*/ 11 h 11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3" h="11">
                          <a:moveTo>
                            <a:pt x="13" y="11"/>
                          </a:moveTo>
                          <a:lnTo>
                            <a:pt x="13" y="11"/>
                          </a:lnTo>
                          <a:lnTo>
                            <a:pt x="0" y="1"/>
                          </a:lnTo>
                          <a:lnTo>
                            <a:pt x="1" y="0"/>
                          </a:lnTo>
                          <a:lnTo>
                            <a:pt x="2" y="1"/>
                          </a:lnTo>
                          <a:lnTo>
                            <a:pt x="3" y="2"/>
                          </a:lnTo>
                          <a:lnTo>
                            <a:pt x="4" y="3"/>
                          </a:lnTo>
                          <a:lnTo>
                            <a:pt x="5" y="4"/>
                          </a:lnTo>
                          <a:lnTo>
                            <a:pt x="7" y="5"/>
                          </a:lnTo>
                          <a:lnTo>
                            <a:pt x="9" y="6"/>
                          </a:lnTo>
                          <a:lnTo>
                            <a:pt x="10" y="7"/>
                          </a:lnTo>
                          <a:lnTo>
                            <a:pt x="11" y="9"/>
                          </a:lnTo>
                          <a:lnTo>
                            <a:pt x="12" y="10"/>
                          </a:lnTo>
                          <a:lnTo>
                            <a:pt x="13" y="11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7536" name="Freeform 1056"/>
                  <p:cNvSpPr>
                    <a:spLocks/>
                  </p:cNvSpPr>
                  <p:nvPr/>
                </p:nvSpPr>
                <p:spPr bwMode="auto">
                  <a:xfrm>
                    <a:off x="2592" y="2639"/>
                    <a:ext cx="29" cy="31"/>
                  </a:xfrm>
                  <a:custGeom>
                    <a:avLst/>
                    <a:gdLst>
                      <a:gd name="T0" fmla="*/ 25 w 29"/>
                      <a:gd name="T1" fmla="*/ 4 h 31"/>
                      <a:gd name="T2" fmla="*/ 26 w 29"/>
                      <a:gd name="T3" fmla="*/ 5 h 31"/>
                      <a:gd name="T4" fmla="*/ 28 w 29"/>
                      <a:gd name="T5" fmla="*/ 7 h 31"/>
                      <a:gd name="T6" fmla="*/ 28 w 29"/>
                      <a:gd name="T7" fmla="*/ 7 h 31"/>
                      <a:gd name="T8" fmla="*/ 29 w 29"/>
                      <a:gd name="T9" fmla="*/ 9 h 31"/>
                      <a:gd name="T10" fmla="*/ 29 w 29"/>
                      <a:gd name="T11" fmla="*/ 10 h 31"/>
                      <a:gd name="T12" fmla="*/ 29 w 29"/>
                      <a:gd name="T13" fmla="*/ 12 h 31"/>
                      <a:gd name="T14" fmla="*/ 29 w 29"/>
                      <a:gd name="T15" fmla="*/ 13 h 31"/>
                      <a:gd name="T16" fmla="*/ 29 w 29"/>
                      <a:gd name="T17" fmla="*/ 15 h 31"/>
                      <a:gd name="T18" fmla="*/ 29 w 29"/>
                      <a:gd name="T19" fmla="*/ 17 h 31"/>
                      <a:gd name="T20" fmla="*/ 29 w 29"/>
                      <a:gd name="T21" fmla="*/ 18 h 31"/>
                      <a:gd name="T22" fmla="*/ 28 w 29"/>
                      <a:gd name="T23" fmla="*/ 19 h 31"/>
                      <a:gd name="T24" fmla="*/ 26 w 29"/>
                      <a:gd name="T25" fmla="*/ 21 h 31"/>
                      <a:gd name="T26" fmla="*/ 25 w 29"/>
                      <a:gd name="T27" fmla="*/ 23 h 31"/>
                      <a:gd name="T28" fmla="*/ 24 w 29"/>
                      <a:gd name="T29" fmla="*/ 23 h 31"/>
                      <a:gd name="T30" fmla="*/ 23 w 29"/>
                      <a:gd name="T31" fmla="*/ 25 h 31"/>
                      <a:gd name="T32" fmla="*/ 23 w 29"/>
                      <a:gd name="T33" fmla="*/ 27 h 31"/>
                      <a:gd name="T34" fmla="*/ 21 w 29"/>
                      <a:gd name="T35" fmla="*/ 28 h 31"/>
                      <a:gd name="T36" fmla="*/ 19 w 29"/>
                      <a:gd name="T37" fmla="*/ 30 h 31"/>
                      <a:gd name="T38" fmla="*/ 19 w 29"/>
                      <a:gd name="T39" fmla="*/ 30 h 31"/>
                      <a:gd name="T40" fmla="*/ 16 w 29"/>
                      <a:gd name="T41" fmla="*/ 31 h 31"/>
                      <a:gd name="T42" fmla="*/ 15 w 29"/>
                      <a:gd name="T43" fmla="*/ 31 h 31"/>
                      <a:gd name="T44" fmla="*/ 14 w 29"/>
                      <a:gd name="T45" fmla="*/ 31 h 31"/>
                      <a:gd name="T46" fmla="*/ 13 w 29"/>
                      <a:gd name="T47" fmla="*/ 31 h 31"/>
                      <a:gd name="T48" fmla="*/ 11 w 29"/>
                      <a:gd name="T49" fmla="*/ 31 h 31"/>
                      <a:gd name="T50" fmla="*/ 9 w 29"/>
                      <a:gd name="T51" fmla="*/ 30 h 31"/>
                      <a:gd name="T52" fmla="*/ 8 w 29"/>
                      <a:gd name="T53" fmla="*/ 30 h 31"/>
                      <a:gd name="T54" fmla="*/ 7 w 29"/>
                      <a:gd name="T55" fmla="*/ 28 h 31"/>
                      <a:gd name="T56" fmla="*/ 6 w 29"/>
                      <a:gd name="T57" fmla="*/ 28 h 31"/>
                      <a:gd name="T58" fmla="*/ 6 w 29"/>
                      <a:gd name="T59" fmla="*/ 27 h 31"/>
                      <a:gd name="T60" fmla="*/ 3 w 29"/>
                      <a:gd name="T61" fmla="*/ 27 h 31"/>
                      <a:gd name="T62" fmla="*/ 3 w 29"/>
                      <a:gd name="T63" fmla="*/ 26 h 31"/>
                      <a:gd name="T64" fmla="*/ 2 w 29"/>
                      <a:gd name="T65" fmla="*/ 25 h 31"/>
                      <a:gd name="T66" fmla="*/ 2 w 29"/>
                      <a:gd name="T67" fmla="*/ 23 h 31"/>
                      <a:gd name="T68" fmla="*/ 1 w 29"/>
                      <a:gd name="T69" fmla="*/ 23 h 31"/>
                      <a:gd name="T70" fmla="*/ 1 w 29"/>
                      <a:gd name="T71" fmla="*/ 21 h 31"/>
                      <a:gd name="T72" fmla="*/ 0 w 29"/>
                      <a:gd name="T73" fmla="*/ 20 h 31"/>
                      <a:gd name="T74" fmla="*/ 0 w 29"/>
                      <a:gd name="T75" fmla="*/ 19 h 31"/>
                      <a:gd name="T76" fmla="*/ 0 w 29"/>
                      <a:gd name="T77" fmla="*/ 18 h 31"/>
                      <a:gd name="T78" fmla="*/ 0 w 29"/>
                      <a:gd name="T79" fmla="*/ 17 h 31"/>
                      <a:gd name="T80" fmla="*/ 0 w 29"/>
                      <a:gd name="T81" fmla="*/ 16 h 31"/>
                      <a:gd name="T82" fmla="*/ 1 w 29"/>
                      <a:gd name="T83" fmla="*/ 13 h 31"/>
                      <a:gd name="T84" fmla="*/ 1 w 29"/>
                      <a:gd name="T85" fmla="*/ 11 h 31"/>
                      <a:gd name="T86" fmla="*/ 2 w 29"/>
                      <a:gd name="T87" fmla="*/ 9 h 31"/>
                      <a:gd name="T88" fmla="*/ 3 w 29"/>
                      <a:gd name="T89" fmla="*/ 7 h 31"/>
                      <a:gd name="T90" fmla="*/ 4 w 29"/>
                      <a:gd name="T91" fmla="*/ 5 h 31"/>
                      <a:gd name="T92" fmla="*/ 6 w 29"/>
                      <a:gd name="T93" fmla="*/ 4 h 31"/>
                      <a:gd name="T94" fmla="*/ 7 w 29"/>
                      <a:gd name="T95" fmla="*/ 2 h 31"/>
                      <a:gd name="T96" fmla="*/ 9 w 29"/>
                      <a:gd name="T97" fmla="*/ 2 h 31"/>
                      <a:gd name="T98" fmla="*/ 11 w 29"/>
                      <a:gd name="T99" fmla="*/ 1 h 31"/>
                      <a:gd name="T100" fmla="*/ 14 w 29"/>
                      <a:gd name="T101" fmla="*/ 0 h 31"/>
                      <a:gd name="T102" fmla="*/ 15 w 29"/>
                      <a:gd name="T103" fmla="*/ 0 h 31"/>
                      <a:gd name="T104" fmla="*/ 16 w 29"/>
                      <a:gd name="T105" fmla="*/ 0 h 31"/>
                      <a:gd name="T106" fmla="*/ 17 w 29"/>
                      <a:gd name="T107" fmla="*/ 0 h 31"/>
                      <a:gd name="T108" fmla="*/ 19 w 29"/>
                      <a:gd name="T109" fmla="*/ 0 h 31"/>
                      <a:gd name="T110" fmla="*/ 19 w 29"/>
                      <a:gd name="T111" fmla="*/ 1 h 31"/>
                      <a:gd name="T112" fmla="*/ 22 w 29"/>
                      <a:gd name="T113" fmla="*/ 1 h 31"/>
                      <a:gd name="T114" fmla="*/ 23 w 29"/>
                      <a:gd name="T115" fmla="*/ 2 h 31"/>
                      <a:gd name="T116" fmla="*/ 24 w 29"/>
                      <a:gd name="T117" fmla="*/ 2 h 31"/>
                      <a:gd name="T118" fmla="*/ 25 w 29"/>
                      <a:gd name="T119" fmla="*/ 3 h 31"/>
                      <a:gd name="T120" fmla="*/ 25 w 29"/>
                      <a:gd name="T121" fmla="*/ 4 h 31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60000 65536"/>
                      <a:gd name="T175" fmla="*/ 0 60000 65536"/>
                      <a:gd name="T176" fmla="*/ 0 60000 65536"/>
                      <a:gd name="T177" fmla="*/ 0 60000 65536"/>
                      <a:gd name="T178" fmla="*/ 0 60000 65536"/>
                      <a:gd name="T179" fmla="*/ 0 60000 65536"/>
                      <a:gd name="T180" fmla="*/ 0 60000 65536"/>
                      <a:gd name="T181" fmla="*/ 0 60000 65536"/>
                      <a:gd name="T182" fmla="*/ 0 60000 65536"/>
                      <a:gd name="T183" fmla="*/ 0 w 29"/>
                      <a:gd name="T184" fmla="*/ 0 h 31"/>
                      <a:gd name="T185" fmla="*/ 29 w 29"/>
                      <a:gd name="T186" fmla="*/ 31 h 31"/>
                    </a:gdLst>
                    <a:ahLst/>
                    <a:cxnLst>
                      <a:cxn ang="T122">
                        <a:pos x="T0" y="T1"/>
                      </a:cxn>
                      <a:cxn ang="T123">
                        <a:pos x="T2" y="T3"/>
                      </a:cxn>
                      <a:cxn ang="T124">
                        <a:pos x="T4" y="T5"/>
                      </a:cxn>
                      <a:cxn ang="T125">
                        <a:pos x="T6" y="T7"/>
                      </a:cxn>
                      <a:cxn ang="T126">
                        <a:pos x="T8" y="T9"/>
                      </a:cxn>
                      <a:cxn ang="T127">
                        <a:pos x="T10" y="T11"/>
                      </a:cxn>
                      <a:cxn ang="T128">
                        <a:pos x="T12" y="T13"/>
                      </a:cxn>
                      <a:cxn ang="T129">
                        <a:pos x="T14" y="T15"/>
                      </a:cxn>
                      <a:cxn ang="T130">
                        <a:pos x="T16" y="T17"/>
                      </a:cxn>
                      <a:cxn ang="T131">
                        <a:pos x="T18" y="T19"/>
                      </a:cxn>
                      <a:cxn ang="T132">
                        <a:pos x="T20" y="T21"/>
                      </a:cxn>
                      <a:cxn ang="T133">
                        <a:pos x="T22" y="T23"/>
                      </a:cxn>
                      <a:cxn ang="T134">
                        <a:pos x="T24" y="T25"/>
                      </a:cxn>
                      <a:cxn ang="T135">
                        <a:pos x="T26" y="T27"/>
                      </a:cxn>
                      <a:cxn ang="T136">
                        <a:pos x="T28" y="T29"/>
                      </a:cxn>
                      <a:cxn ang="T137">
                        <a:pos x="T30" y="T31"/>
                      </a:cxn>
                      <a:cxn ang="T138">
                        <a:pos x="T32" y="T33"/>
                      </a:cxn>
                      <a:cxn ang="T139">
                        <a:pos x="T34" y="T35"/>
                      </a:cxn>
                      <a:cxn ang="T140">
                        <a:pos x="T36" y="T37"/>
                      </a:cxn>
                      <a:cxn ang="T141">
                        <a:pos x="T38" y="T39"/>
                      </a:cxn>
                      <a:cxn ang="T142">
                        <a:pos x="T40" y="T41"/>
                      </a:cxn>
                      <a:cxn ang="T143">
                        <a:pos x="T42" y="T43"/>
                      </a:cxn>
                      <a:cxn ang="T144">
                        <a:pos x="T44" y="T45"/>
                      </a:cxn>
                      <a:cxn ang="T145">
                        <a:pos x="T46" y="T47"/>
                      </a:cxn>
                      <a:cxn ang="T146">
                        <a:pos x="T48" y="T49"/>
                      </a:cxn>
                      <a:cxn ang="T147">
                        <a:pos x="T50" y="T51"/>
                      </a:cxn>
                      <a:cxn ang="T148">
                        <a:pos x="T52" y="T53"/>
                      </a:cxn>
                      <a:cxn ang="T149">
                        <a:pos x="T54" y="T55"/>
                      </a:cxn>
                      <a:cxn ang="T150">
                        <a:pos x="T56" y="T57"/>
                      </a:cxn>
                      <a:cxn ang="T151">
                        <a:pos x="T58" y="T59"/>
                      </a:cxn>
                      <a:cxn ang="T152">
                        <a:pos x="T60" y="T61"/>
                      </a:cxn>
                      <a:cxn ang="T153">
                        <a:pos x="T62" y="T63"/>
                      </a:cxn>
                      <a:cxn ang="T154">
                        <a:pos x="T64" y="T65"/>
                      </a:cxn>
                      <a:cxn ang="T155">
                        <a:pos x="T66" y="T67"/>
                      </a:cxn>
                      <a:cxn ang="T156">
                        <a:pos x="T68" y="T69"/>
                      </a:cxn>
                      <a:cxn ang="T157">
                        <a:pos x="T70" y="T71"/>
                      </a:cxn>
                      <a:cxn ang="T158">
                        <a:pos x="T72" y="T73"/>
                      </a:cxn>
                      <a:cxn ang="T159">
                        <a:pos x="T74" y="T75"/>
                      </a:cxn>
                      <a:cxn ang="T160">
                        <a:pos x="T76" y="T77"/>
                      </a:cxn>
                      <a:cxn ang="T161">
                        <a:pos x="T78" y="T79"/>
                      </a:cxn>
                      <a:cxn ang="T162">
                        <a:pos x="T80" y="T81"/>
                      </a:cxn>
                      <a:cxn ang="T163">
                        <a:pos x="T82" y="T83"/>
                      </a:cxn>
                      <a:cxn ang="T164">
                        <a:pos x="T84" y="T85"/>
                      </a:cxn>
                      <a:cxn ang="T165">
                        <a:pos x="T86" y="T87"/>
                      </a:cxn>
                      <a:cxn ang="T166">
                        <a:pos x="T88" y="T89"/>
                      </a:cxn>
                      <a:cxn ang="T167">
                        <a:pos x="T90" y="T91"/>
                      </a:cxn>
                      <a:cxn ang="T168">
                        <a:pos x="T92" y="T93"/>
                      </a:cxn>
                      <a:cxn ang="T169">
                        <a:pos x="T94" y="T95"/>
                      </a:cxn>
                      <a:cxn ang="T170">
                        <a:pos x="T96" y="T97"/>
                      </a:cxn>
                      <a:cxn ang="T171">
                        <a:pos x="T98" y="T99"/>
                      </a:cxn>
                      <a:cxn ang="T172">
                        <a:pos x="T100" y="T101"/>
                      </a:cxn>
                      <a:cxn ang="T173">
                        <a:pos x="T102" y="T103"/>
                      </a:cxn>
                      <a:cxn ang="T174">
                        <a:pos x="T104" y="T105"/>
                      </a:cxn>
                      <a:cxn ang="T175">
                        <a:pos x="T106" y="T107"/>
                      </a:cxn>
                      <a:cxn ang="T176">
                        <a:pos x="T108" y="T109"/>
                      </a:cxn>
                      <a:cxn ang="T177">
                        <a:pos x="T110" y="T111"/>
                      </a:cxn>
                      <a:cxn ang="T178">
                        <a:pos x="T112" y="T113"/>
                      </a:cxn>
                      <a:cxn ang="T179">
                        <a:pos x="T114" y="T115"/>
                      </a:cxn>
                      <a:cxn ang="T180">
                        <a:pos x="T116" y="T117"/>
                      </a:cxn>
                      <a:cxn ang="T181">
                        <a:pos x="T118" y="T119"/>
                      </a:cxn>
                      <a:cxn ang="T182">
                        <a:pos x="T120" y="T121"/>
                      </a:cxn>
                    </a:cxnLst>
                    <a:rect l="T183" t="T184" r="T185" b="T186"/>
                    <a:pathLst>
                      <a:path w="29" h="31">
                        <a:moveTo>
                          <a:pt x="25" y="4"/>
                        </a:moveTo>
                        <a:lnTo>
                          <a:pt x="26" y="5"/>
                        </a:lnTo>
                        <a:lnTo>
                          <a:pt x="28" y="7"/>
                        </a:lnTo>
                        <a:lnTo>
                          <a:pt x="29" y="9"/>
                        </a:lnTo>
                        <a:lnTo>
                          <a:pt x="29" y="10"/>
                        </a:lnTo>
                        <a:lnTo>
                          <a:pt x="29" y="12"/>
                        </a:lnTo>
                        <a:lnTo>
                          <a:pt x="29" y="13"/>
                        </a:lnTo>
                        <a:lnTo>
                          <a:pt x="29" y="15"/>
                        </a:lnTo>
                        <a:lnTo>
                          <a:pt x="29" y="17"/>
                        </a:lnTo>
                        <a:lnTo>
                          <a:pt x="29" y="18"/>
                        </a:lnTo>
                        <a:lnTo>
                          <a:pt x="28" y="19"/>
                        </a:lnTo>
                        <a:lnTo>
                          <a:pt x="26" y="21"/>
                        </a:lnTo>
                        <a:lnTo>
                          <a:pt x="25" y="23"/>
                        </a:lnTo>
                        <a:lnTo>
                          <a:pt x="24" y="23"/>
                        </a:lnTo>
                        <a:lnTo>
                          <a:pt x="23" y="25"/>
                        </a:lnTo>
                        <a:lnTo>
                          <a:pt x="23" y="27"/>
                        </a:lnTo>
                        <a:lnTo>
                          <a:pt x="21" y="28"/>
                        </a:lnTo>
                        <a:lnTo>
                          <a:pt x="19" y="30"/>
                        </a:lnTo>
                        <a:lnTo>
                          <a:pt x="16" y="31"/>
                        </a:lnTo>
                        <a:lnTo>
                          <a:pt x="15" y="31"/>
                        </a:lnTo>
                        <a:lnTo>
                          <a:pt x="14" y="31"/>
                        </a:lnTo>
                        <a:lnTo>
                          <a:pt x="13" y="31"/>
                        </a:lnTo>
                        <a:lnTo>
                          <a:pt x="11" y="31"/>
                        </a:lnTo>
                        <a:lnTo>
                          <a:pt x="9" y="30"/>
                        </a:lnTo>
                        <a:lnTo>
                          <a:pt x="8" y="30"/>
                        </a:lnTo>
                        <a:lnTo>
                          <a:pt x="7" y="28"/>
                        </a:lnTo>
                        <a:lnTo>
                          <a:pt x="6" y="28"/>
                        </a:lnTo>
                        <a:lnTo>
                          <a:pt x="6" y="27"/>
                        </a:lnTo>
                        <a:lnTo>
                          <a:pt x="3" y="27"/>
                        </a:lnTo>
                        <a:lnTo>
                          <a:pt x="3" y="26"/>
                        </a:lnTo>
                        <a:lnTo>
                          <a:pt x="2" y="25"/>
                        </a:lnTo>
                        <a:lnTo>
                          <a:pt x="2" y="23"/>
                        </a:lnTo>
                        <a:lnTo>
                          <a:pt x="1" y="23"/>
                        </a:lnTo>
                        <a:lnTo>
                          <a:pt x="1" y="21"/>
                        </a:lnTo>
                        <a:lnTo>
                          <a:pt x="0" y="20"/>
                        </a:lnTo>
                        <a:lnTo>
                          <a:pt x="0" y="19"/>
                        </a:lnTo>
                        <a:lnTo>
                          <a:pt x="0" y="18"/>
                        </a:lnTo>
                        <a:lnTo>
                          <a:pt x="0" y="17"/>
                        </a:lnTo>
                        <a:lnTo>
                          <a:pt x="0" y="16"/>
                        </a:lnTo>
                        <a:lnTo>
                          <a:pt x="1" y="13"/>
                        </a:lnTo>
                        <a:lnTo>
                          <a:pt x="1" y="11"/>
                        </a:lnTo>
                        <a:lnTo>
                          <a:pt x="2" y="9"/>
                        </a:lnTo>
                        <a:lnTo>
                          <a:pt x="3" y="7"/>
                        </a:lnTo>
                        <a:lnTo>
                          <a:pt x="4" y="5"/>
                        </a:lnTo>
                        <a:lnTo>
                          <a:pt x="6" y="4"/>
                        </a:lnTo>
                        <a:lnTo>
                          <a:pt x="7" y="2"/>
                        </a:lnTo>
                        <a:lnTo>
                          <a:pt x="9" y="2"/>
                        </a:lnTo>
                        <a:lnTo>
                          <a:pt x="11" y="1"/>
                        </a:lnTo>
                        <a:lnTo>
                          <a:pt x="14" y="0"/>
                        </a:lnTo>
                        <a:lnTo>
                          <a:pt x="15" y="0"/>
                        </a:lnTo>
                        <a:lnTo>
                          <a:pt x="16" y="0"/>
                        </a:lnTo>
                        <a:lnTo>
                          <a:pt x="17" y="0"/>
                        </a:lnTo>
                        <a:lnTo>
                          <a:pt x="19" y="0"/>
                        </a:lnTo>
                        <a:lnTo>
                          <a:pt x="19" y="1"/>
                        </a:lnTo>
                        <a:lnTo>
                          <a:pt x="22" y="1"/>
                        </a:lnTo>
                        <a:lnTo>
                          <a:pt x="23" y="2"/>
                        </a:lnTo>
                        <a:lnTo>
                          <a:pt x="24" y="2"/>
                        </a:lnTo>
                        <a:lnTo>
                          <a:pt x="25" y="3"/>
                        </a:lnTo>
                        <a:lnTo>
                          <a:pt x="25" y="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7537" name="Group 1057"/>
                  <p:cNvGrpSpPr>
                    <a:grpSpLocks/>
                  </p:cNvGrpSpPr>
                  <p:nvPr/>
                </p:nvGrpSpPr>
                <p:grpSpPr bwMode="auto">
                  <a:xfrm>
                    <a:off x="2592" y="2639"/>
                    <a:ext cx="29" cy="31"/>
                    <a:chOff x="2592" y="2639"/>
                    <a:chExt cx="29" cy="31"/>
                  </a:xfrm>
                </p:grpSpPr>
                <p:sp>
                  <p:nvSpPr>
                    <p:cNvPr id="17550" name="Freeform 1058"/>
                    <p:cNvSpPr>
                      <a:spLocks/>
                    </p:cNvSpPr>
                    <p:nvPr/>
                  </p:nvSpPr>
                  <p:spPr bwMode="auto">
                    <a:xfrm>
                      <a:off x="2592" y="2639"/>
                      <a:ext cx="29" cy="31"/>
                    </a:xfrm>
                    <a:custGeom>
                      <a:avLst/>
                      <a:gdLst>
                        <a:gd name="T0" fmla="*/ 25 w 29"/>
                        <a:gd name="T1" fmla="*/ 4 h 31"/>
                        <a:gd name="T2" fmla="*/ 26 w 29"/>
                        <a:gd name="T3" fmla="*/ 5 h 31"/>
                        <a:gd name="T4" fmla="*/ 28 w 29"/>
                        <a:gd name="T5" fmla="*/ 7 h 31"/>
                        <a:gd name="T6" fmla="*/ 28 w 29"/>
                        <a:gd name="T7" fmla="*/ 7 h 31"/>
                        <a:gd name="T8" fmla="*/ 29 w 29"/>
                        <a:gd name="T9" fmla="*/ 9 h 31"/>
                        <a:gd name="T10" fmla="*/ 29 w 29"/>
                        <a:gd name="T11" fmla="*/ 10 h 31"/>
                        <a:gd name="T12" fmla="*/ 29 w 29"/>
                        <a:gd name="T13" fmla="*/ 12 h 31"/>
                        <a:gd name="T14" fmla="*/ 29 w 29"/>
                        <a:gd name="T15" fmla="*/ 13 h 31"/>
                        <a:gd name="T16" fmla="*/ 29 w 29"/>
                        <a:gd name="T17" fmla="*/ 15 h 31"/>
                        <a:gd name="T18" fmla="*/ 29 w 29"/>
                        <a:gd name="T19" fmla="*/ 17 h 31"/>
                        <a:gd name="T20" fmla="*/ 29 w 29"/>
                        <a:gd name="T21" fmla="*/ 18 h 31"/>
                        <a:gd name="T22" fmla="*/ 28 w 29"/>
                        <a:gd name="T23" fmla="*/ 19 h 31"/>
                        <a:gd name="T24" fmla="*/ 26 w 29"/>
                        <a:gd name="T25" fmla="*/ 21 h 31"/>
                        <a:gd name="T26" fmla="*/ 25 w 29"/>
                        <a:gd name="T27" fmla="*/ 23 h 31"/>
                        <a:gd name="T28" fmla="*/ 24 w 29"/>
                        <a:gd name="T29" fmla="*/ 23 h 31"/>
                        <a:gd name="T30" fmla="*/ 23 w 29"/>
                        <a:gd name="T31" fmla="*/ 25 h 31"/>
                        <a:gd name="T32" fmla="*/ 23 w 29"/>
                        <a:gd name="T33" fmla="*/ 27 h 31"/>
                        <a:gd name="T34" fmla="*/ 21 w 29"/>
                        <a:gd name="T35" fmla="*/ 28 h 31"/>
                        <a:gd name="T36" fmla="*/ 19 w 29"/>
                        <a:gd name="T37" fmla="*/ 30 h 31"/>
                        <a:gd name="T38" fmla="*/ 19 w 29"/>
                        <a:gd name="T39" fmla="*/ 30 h 31"/>
                        <a:gd name="T40" fmla="*/ 16 w 29"/>
                        <a:gd name="T41" fmla="*/ 31 h 31"/>
                        <a:gd name="T42" fmla="*/ 15 w 29"/>
                        <a:gd name="T43" fmla="*/ 31 h 31"/>
                        <a:gd name="T44" fmla="*/ 14 w 29"/>
                        <a:gd name="T45" fmla="*/ 31 h 31"/>
                        <a:gd name="T46" fmla="*/ 13 w 29"/>
                        <a:gd name="T47" fmla="*/ 31 h 31"/>
                        <a:gd name="T48" fmla="*/ 11 w 29"/>
                        <a:gd name="T49" fmla="*/ 31 h 31"/>
                        <a:gd name="T50" fmla="*/ 9 w 29"/>
                        <a:gd name="T51" fmla="*/ 30 h 31"/>
                        <a:gd name="T52" fmla="*/ 8 w 29"/>
                        <a:gd name="T53" fmla="*/ 30 h 31"/>
                        <a:gd name="T54" fmla="*/ 7 w 29"/>
                        <a:gd name="T55" fmla="*/ 28 h 31"/>
                        <a:gd name="T56" fmla="*/ 6 w 29"/>
                        <a:gd name="T57" fmla="*/ 28 h 31"/>
                        <a:gd name="T58" fmla="*/ 6 w 29"/>
                        <a:gd name="T59" fmla="*/ 27 h 31"/>
                        <a:gd name="T60" fmla="*/ 3 w 29"/>
                        <a:gd name="T61" fmla="*/ 27 h 31"/>
                        <a:gd name="T62" fmla="*/ 3 w 29"/>
                        <a:gd name="T63" fmla="*/ 26 h 31"/>
                        <a:gd name="T64" fmla="*/ 2 w 29"/>
                        <a:gd name="T65" fmla="*/ 25 h 31"/>
                        <a:gd name="T66" fmla="*/ 2 w 29"/>
                        <a:gd name="T67" fmla="*/ 23 h 31"/>
                        <a:gd name="T68" fmla="*/ 1 w 29"/>
                        <a:gd name="T69" fmla="*/ 23 h 31"/>
                        <a:gd name="T70" fmla="*/ 1 w 29"/>
                        <a:gd name="T71" fmla="*/ 21 h 31"/>
                        <a:gd name="T72" fmla="*/ 0 w 29"/>
                        <a:gd name="T73" fmla="*/ 20 h 31"/>
                        <a:gd name="T74" fmla="*/ 0 w 29"/>
                        <a:gd name="T75" fmla="*/ 19 h 31"/>
                        <a:gd name="T76" fmla="*/ 0 w 29"/>
                        <a:gd name="T77" fmla="*/ 18 h 31"/>
                        <a:gd name="T78" fmla="*/ 0 w 29"/>
                        <a:gd name="T79" fmla="*/ 17 h 31"/>
                        <a:gd name="T80" fmla="*/ 0 w 29"/>
                        <a:gd name="T81" fmla="*/ 16 h 31"/>
                        <a:gd name="T82" fmla="*/ 1 w 29"/>
                        <a:gd name="T83" fmla="*/ 13 h 31"/>
                        <a:gd name="T84" fmla="*/ 1 w 29"/>
                        <a:gd name="T85" fmla="*/ 11 h 31"/>
                        <a:gd name="T86" fmla="*/ 2 w 29"/>
                        <a:gd name="T87" fmla="*/ 9 h 31"/>
                        <a:gd name="T88" fmla="*/ 3 w 29"/>
                        <a:gd name="T89" fmla="*/ 7 h 31"/>
                        <a:gd name="T90" fmla="*/ 4 w 29"/>
                        <a:gd name="T91" fmla="*/ 5 h 31"/>
                        <a:gd name="T92" fmla="*/ 6 w 29"/>
                        <a:gd name="T93" fmla="*/ 4 h 31"/>
                        <a:gd name="T94" fmla="*/ 7 w 29"/>
                        <a:gd name="T95" fmla="*/ 2 h 31"/>
                        <a:gd name="T96" fmla="*/ 9 w 29"/>
                        <a:gd name="T97" fmla="*/ 2 h 31"/>
                        <a:gd name="T98" fmla="*/ 11 w 29"/>
                        <a:gd name="T99" fmla="*/ 1 h 31"/>
                        <a:gd name="T100" fmla="*/ 14 w 29"/>
                        <a:gd name="T101" fmla="*/ 0 h 31"/>
                        <a:gd name="T102" fmla="*/ 15 w 29"/>
                        <a:gd name="T103" fmla="*/ 0 h 31"/>
                        <a:gd name="T104" fmla="*/ 16 w 29"/>
                        <a:gd name="T105" fmla="*/ 0 h 31"/>
                        <a:gd name="T106" fmla="*/ 17 w 29"/>
                        <a:gd name="T107" fmla="*/ 0 h 31"/>
                        <a:gd name="T108" fmla="*/ 19 w 29"/>
                        <a:gd name="T109" fmla="*/ 0 h 31"/>
                        <a:gd name="T110" fmla="*/ 19 w 29"/>
                        <a:gd name="T111" fmla="*/ 1 h 31"/>
                        <a:gd name="T112" fmla="*/ 22 w 29"/>
                        <a:gd name="T113" fmla="*/ 1 h 31"/>
                        <a:gd name="T114" fmla="*/ 23 w 29"/>
                        <a:gd name="T115" fmla="*/ 2 h 31"/>
                        <a:gd name="T116" fmla="*/ 24 w 29"/>
                        <a:gd name="T117" fmla="*/ 2 h 31"/>
                        <a:gd name="T118" fmla="*/ 25 w 29"/>
                        <a:gd name="T119" fmla="*/ 3 h 31"/>
                        <a:gd name="T120" fmla="*/ 25 w 29"/>
                        <a:gd name="T121" fmla="*/ 4 h 31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29"/>
                        <a:gd name="T184" fmla="*/ 0 h 31"/>
                        <a:gd name="T185" fmla="*/ 29 w 29"/>
                        <a:gd name="T186" fmla="*/ 31 h 31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29" h="31">
                          <a:moveTo>
                            <a:pt x="25" y="4"/>
                          </a:moveTo>
                          <a:lnTo>
                            <a:pt x="26" y="5"/>
                          </a:lnTo>
                          <a:lnTo>
                            <a:pt x="28" y="7"/>
                          </a:lnTo>
                          <a:lnTo>
                            <a:pt x="29" y="9"/>
                          </a:lnTo>
                          <a:lnTo>
                            <a:pt x="29" y="10"/>
                          </a:lnTo>
                          <a:lnTo>
                            <a:pt x="29" y="12"/>
                          </a:lnTo>
                          <a:lnTo>
                            <a:pt x="29" y="13"/>
                          </a:lnTo>
                          <a:lnTo>
                            <a:pt x="29" y="15"/>
                          </a:lnTo>
                          <a:lnTo>
                            <a:pt x="29" y="17"/>
                          </a:lnTo>
                          <a:lnTo>
                            <a:pt x="29" y="18"/>
                          </a:lnTo>
                          <a:lnTo>
                            <a:pt x="28" y="19"/>
                          </a:lnTo>
                          <a:lnTo>
                            <a:pt x="26" y="21"/>
                          </a:lnTo>
                          <a:lnTo>
                            <a:pt x="25" y="23"/>
                          </a:lnTo>
                          <a:lnTo>
                            <a:pt x="24" y="23"/>
                          </a:lnTo>
                          <a:lnTo>
                            <a:pt x="23" y="25"/>
                          </a:lnTo>
                          <a:lnTo>
                            <a:pt x="23" y="27"/>
                          </a:lnTo>
                          <a:lnTo>
                            <a:pt x="21" y="28"/>
                          </a:lnTo>
                          <a:lnTo>
                            <a:pt x="19" y="30"/>
                          </a:lnTo>
                          <a:lnTo>
                            <a:pt x="16" y="31"/>
                          </a:lnTo>
                          <a:lnTo>
                            <a:pt x="15" y="31"/>
                          </a:lnTo>
                          <a:lnTo>
                            <a:pt x="14" y="31"/>
                          </a:lnTo>
                          <a:lnTo>
                            <a:pt x="13" y="31"/>
                          </a:lnTo>
                          <a:lnTo>
                            <a:pt x="11" y="31"/>
                          </a:lnTo>
                          <a:lnTo>
                            <a:pt x="9" y="30"/>
                          </a:lnTo>
                          <a:lnTo>
                            <a:pt x="8" y="30"/>
                          </a:lnTo>
                          <a:lnTo>
                            <a:pt x="7" y="28"/>
                          </a:lnTo>
                          <a:lnTo>
                            <a:pt x="6" y="28"/>
                          </a:lnTo>
                          <a:lnTo>
                            <a:pt x="6" y="27"/>
                          </a:lnTo>
                          <a:lnTo>
                            <a:pt x="3" y="27"/>
                          </a:lnTo>
                          <a:lnTo>
                            <a:pt x="3" y="26"/>
                          </a:lnTo>
                          <a:lnTo>
                            <a:pt x="2" y="25"/>
                          </a:lnTo>
                          <a:lnTo>
                            <a:pt x="2" y="23"/>
                          </a:lnTo>
                          <a:lnTo>
                            <a:pt x="1" y="23"/>
                          </a:lnTo>
                          <a:lnTo>
                            <a:pt x="1" y="21"/>
                          </a:lnTo>
                          <a:lnTo>
                            <a:pt x="0" y="20"/>
                          </a:lnTo>
                          <a:lnTo>
                            <a:pt x="0" y="19"/>
                          </a:lnTo>
                          <a:lnTo>
                            <a:pt x="0" y="18"/>
                          </a:lnTo>
                          <a:lnTo>
                            <a:pt x="0" y="17"/>
                          </a:lnTo>
                          <a:lnTo>
                            <a:pt x="0" y="16"/>
                          </a:lnTo>
                          <a:lnTo>
                            <a:pt x="1" y="13"/>
                          </a:lnTo>
                          <a:lnTo>
                            <a:pt x="1" y="11"/>
                          </a:lnTo>
                          <a:lnTo>
                            <a:pt x="2" y="9"/>
                          </a:lnTo>
                          <a:lnTo>
                            <a:pt x="3" y="7"/>
                          </a:lnTo>
                          <a:lnTo>
                            <a:pt x="4" y="5"/>
                          </a:lnTo>
                          <a:lnTo>
                            <a:pt x="6" y="4"/>
                          </a:lnTo>
                          <a:lnTo>
                            <a:pt x="7" y="2"/>
                          </a:lnTo>
                          <a:lnTo>
                            <a:pt x="9" y="2"/>
                          </a:lnTo>
                          <a:lnTo>
                            <a:pt x="11" y="1"/>
                          </a:lnTo>
                          <a:lnTo>
                            <a:pt x="14" y="0"/>
                          </a:lnTo>
                          <a:lnTo>
                            <a:pt x="15" y="0"/>
                          </a:lnTo>
                          <a:lnTo>
                            <a:pt x="16" y="0"/>
                          </a:lnTo>
                          <a:lnTo>
                            <a:pt x="17" y="0"/>
                          </a:lnTo>
                          <a:lnTo>
                            <a:pt x="19" y="0"/>
                          </a:lnTo>
                          <a:lnTo>
                            <a:pt x="19" y="1"/>
                          </a:lnTo>
                          <a:lnTo>
                            <a:pt x="22" y="1"/>
                          </a:lnTo>
                          <a:lnTo>
                            <a:pt x="23" y="2"/>
                          </a:lnTo>
                          <a:lnTo>
                            <a:pt x="24" y="2"/>
                          </a:lnTo>
                          <a:lnTo>
                            <a:pt x="25" y="3"/>
                          </a:lnTo>
                          <a:lnTo>
                            <a:pt x="25" y="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51" name="Freeform 1059"/>
                    <p:cNvSpPr>
                      <a:spLocks/>
                    </p:cNvSpPr>
                    <p:nvPr/>
                  </p:nvSpPr>
                  <p:spPr bwMode="auto">
                    <a:xfrm>
                      <a:off x="2592" y="2639"/>
                      <a:ext cx="29" cy="31"/>
                    </a:xfrm>
                    <a:custGeom>
                      <a:avLst/>
                      <a:gdLst>
                        <a:gd name="T0" fmla="*/ 25 w 29"/>
                        <a:gd name="T1" fmla="*/ 4 h 31"/>
                        <a:gd name="T2" fmla="*/ 26 w 29"/>
                        <a:gd name="T3" fmla="*/ 5 h 31"/>
                        <a:gd name="T4" fmla="*/ 28 w 29"/>
                        <a:gd name="T5" fmla="*/ 7 h 31"/>
                        <a:gd name="T6" fmla="*/ 28 w 29"/>
                        <a:gd name="T7" fmla="*/ 7 h 31"/>
                        <a:gd name="T8" fmla="*/ 29 w 29"/>
                        <a:gd name="T9" fmla="*/ 9 h 31"/>
                        <a:gd name="T10" fmla="*/ 29 w 29"/>
                        <a:gd name="T11" fmla="*/ 10 h 31"/>
                        <a:gd name="T12" fmla="*/ 29 w 29"/>
                        <a:gd name="T13" fmla="*/ 12 h 31"/>
                        <a:gd name="T14" fmla="*/ 29 w 29"/>
                        <a:gd name="T15" fmla="*/ 13 h 31"/>
                        <a:gd name="T16" fmla="*/ 29 w 29"/>
                        <a:gd name="T17" fmla="*/ 15 h 31"/>
                        <a:gd name="T18" fmla="*/ 29 w 29"/>
                        <a:gd name="T19" fmla="*/ 17 h 31"/>
                        <a:gd name="T20" fmla="*/ 29 w 29"/>
                        <a:gd name="T21" fmla="*/ 18 h 31"/>
                        <a:gd name="T22" fmla="*/ 28 w 29"/>
                        <a:gd name="T23" fmla="*/ 19 h 31"/>
                        <a:gd name="T24" fmla="*/ 26 w 29"/>
                        <a:gd name="T25" fmla="*/ 21 h 31"/>
                        <a:gd name="T26" fmla="*/ 25 w 29"/>
                        <a:gd name="T27" fmla="*/ 23 h 31"/>
                        <a:gd name="T28" fmla="*/ 24 w 29"/>
                        <a:gd name="T29" fmla="*/ 23 h 31"/>
                        <a:gd name="T30" fmla="*/ 23 w 29"/>
                        <a:gd name="T31" fmla="*/ 25 h 31"/>
                        <a:gd name="T32" fmla="*/ 23 w 29"/>
                        <a:gd name="T33" fmla="*/ 27 h 31"/>
                        <a:gd name="T34" fmla="*/ 21 w 29"/>
                        <a:gd name="T35" fmla="*/ 28 h 31"/>
                        <a:gd name="T36" fmla="*/ 19 w 29"/>
                        <a:gd name="T37" fmla="*/ 30 h 31"/>
                        <a:gd name="T38" fmla="*/ 19 w 29"/>
                        <a:gd name="T39" fmla="*/ 30 h 31"/>
                        <a:gd name="T40" fmla="*/ 16 w 29"/>
                        <a:gd name="T41" fmla="*/ 31 h 31"/>
                        <a:gd name="T42" fmla="*/ 15 w 29"/>
                        <a:gd name="T43" fmla="*/ 31 h 31"/>
                        <a:gd name="T44" fmla="*/ 14 w 29"/>
                        <a:gd name="T45" fmla="*/ 31 h 31"/>
                        <a:gd name="T46" fmla="*/ 13 w 29"/>
                        <a:gd name="T47" fmla="*/ 31 h 31"/>
                        <a:gd name="T48" fmla="*/ 11 w 29"/>
                        <a:gd name="T49" fmla="*/ 31 h 31"/>
                        <a:gd name="T50" fmla="*/ 9 w 29"/>
                        <a:gd name="T51" fmla="*/ 30 h 31"/>
                        <a:gd name="T52" fmla="*/ 8 w 29"/>
                        <a:gd name="T53" fmla="*/ 30 h 31"/>
                        <a:gd name="T54" fmla="*/ 7 w 29"/>
                        <a:gd name="T55" fmla="*/ 28 h 31"/>
                        <a:gd name="T56" fmla="*/ 6 w 29"/>
                        <a:gd name="T57" fmla="*/ 28 h 31"/>
                        <a:gd name="T58" fmla="*/ 6 w 29"/>
                        <a:gd name="T59" fmla="*/ 27 h 31"/>
                        <a:gd name="T60" fmla="*/ 3 w 29"/>
                        <a:gd name="T61" fmla="*/ 27 h 31"/>
                        <a:gd name="T62" fmla="*/ 3 w 29"/>
                        <a:gd name="T63" fmla="*/ 26 h 31"/>
                        <a:gd name="T64" fmla="*/ 2 w 29"/>
                        <a:gd name="T65" fmla="*/ 25 h 31"/>
                        <a:gd name="T66" fmla="*/ 2 w 29"/>
                        <a:gd name="T67" fmla="*/ 23 h 31"/>
                        <a:gd name="T68" fmla="*/ 1 w 29"/>
                        <a:gd name="T69" fmla="*/ 23 h 31"/>
                        <a:gd name="T70" fmla="*/ 1 w 29"/>
                        <a:gd name="T71" fmla="*/ 21 h 31"/>
                        <a:gd name="T72" fmla="*/ 0 w 29"/>
                        <a:gd name="T73" fmla="*/ 20 h 31"/>
                        <a:gd name="T74" fmla="*/ 0 w 29"/>
                        <a:gd name="T75" fmla="*/ 19 h 31"/>
                        <a:gd name="T76" fmla="*/ 0 w 29"/>
                        <a:gd name="T77" fmla="*/ 18 h 31"/>
                        <a:gd name="T78" fmla="*/ 0 w 29"/>
                        <a:gd name="T79" fmla="*/ 17 h 31"/>
                        <a:gd name="T80" fmla="*/ 0 w 29"/>
                        <a:gd name="T81" fmla="*/ 16 h 31"/>
                        <a:gd name="T82" fmla="*/ 1 w 29"/>
                        <a:gd name="T83" fmla="*/ 13 h 31"/>
                        <a:gd name="T84" fmla="*/ 1 w 29"/>
                        <a:gd name="T85" fmla="*/ 11 h 31"/>
                        <a:gd name="T86" fmla="*/ 2 w 29"/>
                        <a:gd name="T87" fmla="*/ 9 h 31"/>
                        <a:gd name="T88" fmla="*/ 3 w 29"/>
                        <a:gd name="T89" fmla="*/ 7 h 31"/>
                        <a:gd name="T90" fmla="*/ 4 w 29"/>
                        <a:gd name="T91" fmla="*/ 5 h 31"/>
                        <a:gd name="T92" fmla="*/ 6 w 29"/>
                        <a:gd name="T93" fmla="*/ 4 h 31"/>
                        <a:gd name="T94" fmla="*/ 7 w 29"/>
                        <a:gd name="T95" fmla="*/ 2 h 31"/>
                        <a:gd name="T96" fmla="*/ 9 w 29"/>
                        <a:gd name="T97" fmla="*/ 2 h 31"/>
                        <a:gd name="T98" fmla="*/ 11 w 29"/>
                        <a:gd name="T99" fmla="*/ 1 h 31"/>
                        <a:gd name="T100" fmla="*/ 14 w 29"/>
                        <a:gd name="T101" fmla="*/ 0 h 31"/>
                        <a:gd name="T102" fmla="*/ 15 w 29"/>
                        <a:gd name="T103" fmla="*/ 0 h 31"/>
                        <a:gd name="T104" fmla="*/ 16 w 29"/>
                        <a:gd name="T105" fmla="*/ 0 h 31"/>
                        <a:gd name="T106" fmla="*/ 17 w 29"/>
                        <a:gd name="T107" fmla="*/ 0 h 31"/>
                        <a:gd name="T108" fmla="*/ 19 w 29"/>
                        <a:gd name="T109" fmla="*/ 0 h 31"/>
                        <a:gd name="T110" fmla="*/ 19 w 29"/>
                        <a:gd name="T111" fmla="*/ 1 h 31"/>
                        <a:gd name="T112" fmla="*/ 22 w 29"/>
                        <a:gd name="T113" fmla="*/ 1 h 31"/>
                        <a:gd name="T114" fmla="*/ 23 w 29"/>
                        <a:gd name="T115" fmla="*/ 2 h 31"/>
                        <a:gd name="T116" fmla="*/ 24 w 29"/>
                        <a:gd name="T117" fmla="*/ 2 h 31"/>
                        <a:gd name="T118" fmla="*/ 25 w 29"/>
                        <a:gd name="T119" fmla="*/ 3 h 31"/>
                        <a:gd name="T120" fmla="*/ 25 w 29"/>
                        <a:gd name="T121" fmla="*/ 4 h 31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29"/>
                        <a:gd name="T184" fmla="*/ 0 h 31"/>
                        <a:gd name="T185" fmla="*/ 29 w 29"/>
                        <a:gd name="T186" fmla="*/ 31 h 31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29" h="31">
                          <a:moveTo>
                            <a:pt x="25" y="4"/>
                          </a:moveTo>
                          <a:lnTo>
                            <a:pt x="26" y="5"/>
                          </a:lnTo>
                          <a:lnTo>
                            <a:pt x="28" y="7"/>
                          </a:lnTo>
                          <a:lnTo>
                            <a:pt x="29" y="9"/>
                          </a:lnTo>
                          <a:lnTo>
                            <a:pt x="29" y="10"/>
                          </a:lnTo>
                          <a:lnTo>
                            <a:pt x="29" y="12"/>
                          </a:lnTo>
                          <a:lnTo>
                            <a:pt x="29" y="13"/>
                          </a:lnTo>
                          <a:lnTo>
                            <a:pt x="29" y="15"/>
                          </a:lnTo>
                          <a:lnTo>
                            <a:pt x="29" y="17"/>
                          </a:lnTo>
                          <a:lnTo>
                            <a:pt x="29" y="18"/>
                          </a:lnTo>
                          <a:lnTo>
                            <a:pt x="28" y="19"/>
                          </a:lnTo>
                          <a:lnTo>
                            <a:pt x="26" y="21"/>
                          </a:lnTo>
                          <a:lnTo>
                            <a:pt x="25" y="23"/>
                          </a:lnTo>
                          <a:lnTo>
                            <a:pt x="24" y="23"/>
                          </a:lnTo>
                          <a:lnTo>
                            <a:pt x="23" y="25"/>
                          </a:lnTo>
                          <a:lnTo>
                            <a:pt x="23" y="27"/>
                          </a:lnTo>
                          <a:lnTo>
                            <a:pt x="21" y="28"/>
                          </a:lnTo>
                          <a:lnTo>
                            <a:pt x="19" y="30"/>
                          </a:lnTo>
                          <a:lnTo>
                            <a:pt x="16" y="31"/>
                          </a:lnTo>
                          <a:lnTo>
                            <a:pt x="15" y="31"/>
                          </a:lnTo>
                          <a:lnTo>
                            <a:pt x="14" y="31"/>
                          </a:lnTo>
                          <a:lnTo>
                            <a:pt x="13" y="31"/>
                          </a:lnTo>
                          <a:lnTo>
                            <a:pt x="11" y="31"/>
                          </a:lnTo>
                          <a:lnTo>
                            <a:pt x="9" y="30"/>
                          </a:lnTo>
                          <a:lnTo>
                            <a:pt x="8" y="30"/>
                          </a:lnTo>
                          <a:lnTo>
                            <a:pt x="7" y="28"/>
                          </a:lnTo>
                          <a:lnTo>
                            <a:pt x="6" y="28"/>
                          </a:lnTo>
                          <a:lnTo>
                            <a:pt x="6" y="27"/>
                          </a:lnTo>
                          <a:lnTo>
                            <a:pt x="3" y="27"/>
                          </a:lnTo>
                          <a:lnTo>
                            <a:pt x="3" y="26"/>
                          </a:lnTo>
                          <a:lnTo>
                            <a:pt x="2" y="25"/>
                          </a:lnTo>
                          <a:lnTo>
                            <a:pt x="2" y="23"/>
                          </a:lnTo>
                          <a:lnTo>
                            <a:pt x="1" y="23"/>
                          </a:lnTo>
                          <a:lnTo>
                            <a:pt x="1" y="21"/>
                          </a:lnTo>
                          <a:lnTo>
                            <a:pt x="0" y="20"/>
                          </a:lnTo>
                          <a:lnTo>
                            <a:pt x="0" y="19"/>
                          </a:lnTo>
                          <a:lnTo>
                            <a:pt x="0" y="18"/>
                          </a:lnTo>
                          <a:lnTo>
                            <a:pt x="0" y="17"/>
                          </a:lnTo>
                          <a:lnTo>
                            <a:pt x="0" y="16"/>
                          </a:lnTo>
                          <a:lnTo>
                            <a:pt x="1" y="13"/>
                          </a:lnTo>
                          <a:lnTo>
                            <a:pt x="1" y="11"/>
                          </a:lnTo>
                          <a:lnTo>
                            <a:pt x="2" y="9"/>
                          </a:lnTo>
                          <a:lnTo>
                            <a:pt x="3" y="7"/>
                          </a:lnTo>
                          <a:lnTo>
                            <a:pt x="4" y="5"/>
                          </a:lnTo>
                          <a:lnTo>
                            <a:pt x="6" y="4"/>
                          </a:lnTo>
                          <a:lnTo>
                            <a:pt x="7" y="2"/>
                          </a:lnTo>
                          <a:lnTo>
                            <a:pt x="9" y="2"/>
                          </a:lnTo>
                          <a:lnTo>
                            <a:pt x="11" y="1"/>
                          </a:lnTo>
                          <a:lnTo>
                            <a:pt x="14" y="0"/>
                          </a:lnTo>
                          <a:lnTo>
                            <a:pt x="15" y="0"/>
                          </a:lnTo>
                          <a:lnTo>
                            <a:pt x="16" y="0"/>
                          </a:lnTo>
                          <a:lnTo>
                            <a:pt x="17" y="0"/>
                          </a:lnTo>
                          <a:lnTo>
                            <a:pt x="19" y="0"/>
                          </a:lnTo>
                          <a:lnTo>
                            <a:pt x="19" y="1"/>
                          </a:lnTo>
                          <a:lnTo>
                            <a:pt x="22" y="1"/>
                          </a:lnTo>
                          <a:lnTo>
                            <a:pt x="23" y="2"/>
                          </a:lnTo>
                          <a:lnTo>
                            <a:pt x="24" y="2"/>
                          </a:lnTo>
                          <a:lnTo>
                            <a:pt x="25" y="3"/>
                          </a:lnTo>
                          <a:lnTo>
                            <a:pt x="25" y="4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7538" name="Freeform 1060"/>
                  <p:cNvSpPr>
                    <a:spLocks/>
                  </p:cNvSpPr>
                  <p:nvPr/>
                </p:nvSpPr>
                <p:spPr bwMode="auto">
                  <a:xfrm>
                    <a:off x="2603" y="2643"/>
                    <a:ext cx="13" cy="12"/>
                  </a:xfrm>
                  <a:custGeom>
                    <a:avLst/>
                    <a:gdLst>
                      <a:gd name="T0" fmla="*/ 13 w 13"/>
                      <a:gd name="T1" fmla="*/ 11 h 12"/>
                      <a:gd name="T2" fmla="*/ 13 w 13"/>
                      <a:gd name="T3" fmla="*/ 12 h 12"/>
                      <a:gd name="T4" fmla="*/ 0 w 13"/>
                      <a:gd name="T5" fmla="*/ 1 h 12"/>
                      <a:gd name="T6" fmla="*/ 0 w 13"/>
                      <a:gd name="T7" fmla="*/ 0 h 12"/>
                      <a:gd name="T8" fmla="*/ 2 w 13"/>
                      <a:gd name="T9" fmla="*/ 1 h 12"/>
                      <a:gd name="T10" fmla="*/ 4 w 13"/>
                      <a:gd name="T11" fmla="*/ 2 h 12"/>
                      <a:gd name="T12" fmla="*/ 5 w 13"/>
                      <a:gd name="T13" fmla="*/ 3 h 12"/>
                      <a:gd name="T14" fmla="*/ 6 w 13"/>
                      <a:gd name="T15" fmla="*/ 3 h 12"/>
                      <a:gd name="T16" fmla="*/ 8 w 13"/>
                      <a:gd name="T17" fmla="*/ 4 h 12"/>
                      <a:gd name="T18" fmla="*/ 8 w 13"/>
                      <a:gd name="T19" fmla="*/ 6 h 12"/>
                      <a:gd name="T20" fmla="*/ 10 w 13"/>
                      <a:gd name="T21" fmla="*/ 7 h 12"/>
                      <a:gd name="T22" fmla="*/ 11 w 13"/>
                      <a:gd name="T23" fmla="*/ 8 h 12"/>
                      <a:gd name="T24" fmla="*/ 12 w 13"/>
                      <a:gd name="T25" fmla="*/ 9 h 12"/>
                      <a:gd name="T26" fmla="*/ 13 w 13"/>
                      <a:gd name="T27" fmla="*/ 12 h 12"/>
                      <a:gd name="T28" fmla="*/ 13 w 13"/>
                      <a:gd name="T29" fmla="*/ 11 h 12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3"/>
                      <a:gd name="T46" fmla="*/ 0 h 12"/>
                      <a:gd name="T47" fmla="*/ 13 w 13"/>
                      <a:gd name="T48" fmla="*/ 12 h 12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3" h="12">
                        <a:moveTo>
                          <a:pt x="13" y="11"/>
                        </a:moveTo>
                        <a:lnTo>
                          <a:pt x="13" y="12"/>
                        </a:lnTo>
                        <a:lnTo>
                          <a:pt x="0" y="1"/>
                        </a:lnTo>
                        <a:lnTo>
                          <a:pt x="0" y="0"/>
                        </a:lnTo>
                        <a:lnTo>
                          <a:pt x="2" y="1"/>
                        </a:lnTo>
                        <a:lnTo>
                          <a:pt x="4" y="2"/>
                        </a:lnTo>
                        <a:lnTo>
                          <a:pt x="5" y="3"/>
                        </a:lnTo>
                        <a:lnTo>
                          <a:pt x="6" y="3"/>
                        </a:lnTo>
                        <a:lnTo>
                          <a:pt x="8" y="4"/>
                        </a:lnTo>
                        <a:lnTo>
                          <a:pt x="8" y="6"/>
                        </a:lnTo>
                        <a:lnTo>
                          <a:pt x="10" y="7"/>
                        </a:lnTo>
                        <a:lnTo>
                          <a:pt x="11" y="8"/>
                        </a:lnTo>
                        <a:lnTo>
                          <a:pt x="12" y="9"/>
                        </a:lnTo>
                        <a:lnTo>
                          <a:pt x="13" y="12"/>
                        </a:lnTo>
                        <a:lnTo>
                          <a:pt x="13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7539" name="Group 1061"/>
                  <p:cNvGrpSpPr>
                    <a:grpSpLocks/>
                  </p:cNvGrpSpPr>
                  <p:nvPr/>
                </p:nvGrpSpPr>
                <p:grpSpPr bwMode="auto">
                  <a:xfrm>
                    <a:off x="2603" y="2643"/>
                    <a:ext cx="13" cy="12"/>
                    <a:chOff x="2603" y="2643"/>
                    <a:chExt cx="13" cy="12"/>
                  </a:xfrm>
                </p:grpSpPr>
                <p:sp>
                  <p:nvSpPr>
                    <p:cNvPr id="17548" name="Freeform 1062"/>
                    <p:cNvSpPr>
                      <a:spLocks/>
                    </p:cNvSpPr>
                    <p:nvPr/>
                  </p:nvSpPr>
                  <p:spPr bwMode="auto">
                    <a:xfrm>
                      <a:off x="2603" y="2643"/>
                      <a:ext cx="13" cy="12"/>
                    </a:xfrm>
                    <a:custGeom>
                      <a:avLst/>
                      <a:gdLst>
                        <a:gd name="T0" fmla="*/ 13 w 13"/>
                        <a:gd name="T1" fmla="*/ 11 h 12"/>
                        <a:gd name="T2" fmla="*/ 13 w 13"/>
                        <a:gd name="T3" fmla="*/ 12 h 12"/>
                        <a:gd name="T4" fmla="*/ 0 w 13"/>
                        <a:gd name="T5" fmla="*/ 1 h 12"/>
                        <a:gd name="T6" fmla="*/ 0 w 13"/>
                        <a:gd name="T7" fmla="*/ 0 h 12"/>
                        <a:gd name="T8" fmla="*/ 2 w 13"/>
                        <a:gd name="T9" fmla="*/ 1 h 12"/>
                        <a:gd name="T10" fmla="*/ 4 w 13"/>
                        <a:gd name="T11" fmla="*/ 2 h 12"/>
                        <a:gd name="T12" fmla="*/ 5 w 13"/>
                        <a:gd name="T13" fmla="*/ 3 h 12"/>
                        <a:gd name="T14" fmla="*/ 6 w 13"/>
                        <a:gd name="T15" fmla="*/ 3 h 12"/>
                        <a:gd name="T16" fmla="*/ 8 w 13"/>
                        <a:gd name="T17" fmla="*/ 4 h 12"/>
                        <a:gd name="T18" fmla="*/ 8 w 13"/>
                        <a:gd name="T19" fmla="*/ 6 h 12"/>
                        <a:gd name="T20" fmla="*/ 10 w 13"/>
                        <a:gd name="T21" fmla="*/ 7 h 12"/>
                        <a:gd name="T22" fmla="*/ 11 w 13"/>
                        <a:gd name="T23" fmla="*/ 8 h 12"/>
                        <a:gd name="T24" fmla="*/ 12 w 13"/>
                        <a:gd name="T25" fmla="*/ 9 h 12"/>
                        <a:gd name="T26" fmla="*/ 13 w 13"/>
                        <a:gd name="T27" fmla="*/ 12 h 12"/>
                        <a:gd name="T28" fmla="*/ 13 w 13"/>
                        <a:gd name="T29" fmla="*/ 11 h 12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3"/>
                        <a:gd name="T46" fmla="*/ 0 h 12"/>
                        <a:gd name="T47" fmla="*/ 13 w 13"/>
                        <a:gd name="T48" fmla="*/ 12 h 12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3" h="12">
                          <a:moveTo>
                            <a:pt x="13" y="11"/>
                          </a:moveTo>
                          <a:lnTo>
                            <a:pt x="13" y="12"/>
                          </a:ln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2" y="1"/>
                          </a:lnTo>
                          <a:lnTo>
                            <a:pt x="4" y="2"/>
                          </a:lnTo>
                          <a:lnTo>
                            <a:pt x="5" y="3"/>
                          </a:lnTo>
                          <a:lnTo>
                            <a:pt x="6" y="3"/>
                          </a:lnTo>
                          <a:lnTo>
                            <a:pt x="8" y="4"/>
                          </a:lnTo>
                          <a:lnTo>
                            <a:pt x="8" y="6"/>
                          </a:lnTo>
                          <a:lnTo>
                            <a:pt x="10" y="7"/>
                          </a:lnTo>
                          <a:lnTo>
                            <a:pt x="11" y="8"/>
                          </a:lnTo>
                          <a:lnTo>
                            <a:pt x="12" y="9"/>
                          </a:lnTo>
                          <a:lnTo>
                            <a:pt x="13" y="12"/>
                          </a:lnTo>
                          <a:lnTo>
                            <a:pt x="13" y="1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49" name="Freeform 1063"/>
                    <p:cNvSpPr>
                      <a:spLocks/>
                    </p:cNvSpPr>
                    <p:nvPr/>
                  </p:nvSpPr>
                  <p:spPr bwMode="auto">
                    <a:xfrm>
                      <a:off x="2603" y="2643"/>
                      <a:ext cx="13" cy="12"/>
                    </a:xfrm>
                    <a:custGeom>
                      <a:avLst/>
                      <a:gdLst>
                        <a:gd name="T0" fmla="*/ 13 w 13"/>
                        <a:gd name="T1" fmla="*/ 11 h 12"/>
                        <a:gd name="T2" fmla="*/ 13 w 13"/>
                        <a:gd name="T3" fmla="*/ 12 h 12"/>
                        <a:gd name="T4" fmla="*/ 0 w 13"/>
                        <a:gd name="T5" fmla="*/ 1 h 12"/>
                        <a:gd name="T6" fmla="*/ 0 w 13"/>
                        <a:gd name="T7" fmla="*/ 0 h 12"/>
                        <a:gd name="T8" fmla="*/ 2 w 13"/>
                        <a:gd name="T9" fmla="*/ 1 h 12"/>
                        <a:gd name="T10" fmla="*/ 4 w 13"/>
                        <a:gd name="T11" fmla="*/ 2 h 12"/>
                        <a:gd name="T12" fmla="*/ 5 w 13"/>
                        <a:gd name="T13" fmla="*/ 3 h 12"/>
                        <a:gd name="T14" fmla="*/ 6 w 13"/>
                        <a:gd name="T15" fmla="*/ 3 h 12"/>
                        <a:gd name="T16" fmla="*/ 8 w 13"/>
                        <a:gd name="T17" fmla="*/ 4 h 12"/>
                        <a:gd name="T18" fmla="*/ 8 w 13"/>
                        <a:gd name="T19" fmla="*/ 6 h 12"/>
                        <a:gd name="T20" fmla="*/ 10 w 13"/>
                        <a:gd name="T21" fmla="*/ 7 h 12"/>
                        <a:gd name="T22" fmla="*/ 11 w 13"/>
                        <a:gd name="T23" fmla="*/ 8 h 12"/>
                        <a:gd name="T24" fmla="*/ 12 w 13"/>
                        <a:gd name="T25" fmla="*/ 9 h 12"/>
                        <a:gd name="T26" fmla="*/ 13 w 13"/>
                        <a:gd name="T27" fmla="*/ 12 h 12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3"/>
                        <a:gd name="T43" fmla="*/ 0 h 12"/>
                        <a:gd name="T44" fmla="*/ 13 w 13"/>
                        <a:gd name="T45" fmla="*/ 12 h 12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3" h="12">
                          <a:moveTo>
                            <a:pt x="13" y="11"/>
                          </a:moveTo>
                          <a:lnTo>
                            <a:pt x="13" y="12"/>
                          </a:ln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2" y="1"/>
                          </a:lnTo>
                          <a:lnTo>
                            <a:pt x="4" y="2"/>
                          </a:lnTo>
                          <a:lnTo>
                            <a:pt x="5" y="3"/>
                          </a:lnTo>
                          <a:lnTo>
                            <a:pt x="6" y="3"/>
                          </a:lnTo>
                          <a:lnTo>
                            <a:pt x="8" y="4"/>
                          </a:lnTo>
                          <a:lnTo>
                            <a:pt x="8" y="6"/>
                          </a:lnTo>
                          <a:lnTo>
                            <a:pt x="10" y="7"/>
                          </a:lnTo>
                          <a:lnTo>
                            <a:pt x="11" y="8"/>
                          </a:lnTo>
                          <a:lnTo>
                            <a:pt x="12" y="9"/>
                          </a:lnTo>
                          <a:lnTo>
                            <a:pt x="13" y="12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7540" name="Freeform 1064"/>
                  <p:cNvSpPr>
                    <a:spLocks/>
                  </p:cNvSpPr>
                  <p:nvPr/>
                </p:nvSpPr>
                <p:spPr bwMode="auto">
                  <a:xfrm>
                    <a:off x="2616" y="2658"/>
                    <a:ext cx="26" cy="29"/>
                  </a:xfrm>
                  <a:custGeom>
                    <a:avLst/>
                    <a:gdLst>
                      <a:gd name="T0" fmla="*/ 22 w 26"/>
                      <a:gd name="T1" fmla="*/ 2 h 29"/>
                      <a:gd name="T2" fmla="*/ 22 w 26"/>
                      <a:gd name="T3" fmla="*/ 3 h 29"/>
                      <a:gd name="T4" fmla="*/ 23 w 26"/>
                      <a:gd name="T5" fmla="*/ 4 h 29"/>
                      <a:gd name="T6" fmla="*/ 24 w 26"/>
                      <a:gd name="T7" fmla="*/ 5 h 29"/>
                      <a:gd name="T8" fmla="*/ 24 w 26"/>
                      <a:gd name="T9" fmla="*/ 7 h 29"/>
                      <a:gd name="T10" fmla="*/ 25 w 26"/>
                      <a:gd name="T11" fmla="*/ 7 h 29"/>
                      <a:gd name="T12" fmla="*/ 25 w 26"/>
                      <a:gd name="T13" fmla="*/ 9 h 29"/>
                      <a:gd name="T14" fmla="*/ 26 w 26"/>
                      <a:gd name="T15" fmla="*/ 9 h 29"/>
                      <a:gd name="T16" fmla="*/ 26 w 26"/>
                      <a:gd name="T17" fmla="*/ 12 h 29"/>
                      <a:gd name="T18" fmla="*/ 26 w 26"/>
                      <a:gd name="T19" fmla="*/ 13 h 29"/>
                      <a:gd name="T20" fmla="*/ 26 w 26"/>
                      <a:gd name="T21" fmla="*/ 15 h 29"/>
                      <a:gd name="T22" fmla="*/ 26 w 26"/>
                      <a:gd name="T23" fmla="*/ 16 h 29"/>
                      <a:gd name="T24" fmla="*/ 26 w 26"/>
                      <a:gd name="T25" fmla="*/ 18 h 29"/>
                      <a:gd name="T26" fmla="*/ 25 w 26"/>
                      <a:gd name="T27" fmla="*/ 19 h 29"/>
                      <a:gd name="T28" fmla="*/ 24 w 26"/>
                      <a:gd name="T29" fmla="*/ 21 h 29"/>
                      <a:gd name="T30" fmla="*/ 24 w 26"/>
                      <a:gd name="T31" fmla="*/ 22 h 29"/>
                      <a:gd name="T32" fmla="*/ 23 w 26"/>
                      <a:gd name="T33" fmla="*/ 23 h 29"/>
                      <a:gd name="T34" fmla="*/ 22 w 26"/>
                      <a:gd name="T35" fmla="*/ 25 h 29"/>
                      <a:gd name="T36" fmla="*/ 21 w 26"/>
                      <a:gd name="T37" fmla="*/ 27 h 29"/>
                      <a:gd name="T38" fmla="*/ 18 w 26"/>
                      <a:gd name="T39" fmla="*/ 28 h 29"/>
                      <a:gd name="T40" fmla="*/ 17 w 26"/>
                      <a:gd name="T41" fmla="*/ 29 h 29"/>
                      <a:gd name="T42" fmla="*/ 16 w 26"/>
                      <a:gd name="T43" fmla="*/ 29 h 29"/>
                      <a:gd name="T44" fmla="*/ 14 w 26"/>
                      <a:gd name="T45" fmla="*/ 29 h 29"/>
                      <a:gd name="T46" fmla="*/ 14 w 26"/>
                      <a:gd name="T47" fmla="*/ 29 h 29"/>
                      <a:gd name="T48" fmla="*/ 12 w 26"/>
                      <a:gd name="T49" fmla="*/ 29 h 29"/>
                      <a:gd name="T50" fmla="*/ 11 w 26"/>
                      <a:gd name="T51" fmla="*/ 29 h 29"/>
                      <a:gd name="T52" fmla="*/ 10 w 26"/>
                      <a:gd name="T53" fmla="*/ 29 h 29"/>
                      <a:gd name="T54" fmla="*/ 9 w 26"/>
                      <a:gd name="T55" fmla="*/ 29 h 29"/>
                      <a:gd name="T56" fmla="*/ 7 w 26"/>
                      <a:gd name="T57" fmla="*/ 28 h 29"/>
                      <a:gd name="T58" fmla="*/ 6 w 26"/>
                      <a:gd name="T59" fmla="*/ 28 h 29"/>
                      <a:gd name="T60" fmla="*/ 5 w 26"/>
                      <a:gd name="T61" fmla="*/ 27 h 29"/>
                      <a:gd name="T62" fmla="*/ 4 w 26"/>
                      <a:gd name="T63" fmla="*/ 25 h 29"/>
                      <a:gd name="T64" fmla="*/ 2 w 26"/>
                      <a:gd name="T65" fmla="*/ 23 h 29"/>
                      <a:gd name="T66" fmla="*/ 1 w 26"/>
                      <a:gd name="T67" fmla="*/ 21 h 29"/>
                      <a:gd name="T68" fmla="*/ 1 w 26"/>
                      <a:gd name="T69" fmla="*/ 20 h 29"/>
                      <a:gd name="T70" fmla="*/ 0 w 26"/>
                      <a:gd name="T71" fmla="*/ 18 h 29"/>
                      <a:gd name="T72" fmla="*/ 0 w 26"/>
                      <a:gd name="T73" fmla="*/ 17 h 29"/>
                      <a:gd name="T74" fmla="*/ 0 w 26"/>
                      <a:gd name="T75" fmla="*/ 15 h 29"/>
                      <a:gd name="T76" fmla="*/ 0 w 26"/>
                      <a:gd name="T77" fmla="*/ 14 h 29"/>
                      <a:gd name="T78" fmla="*/ 0 w 26"/>
                      <a:gd name="T79" fmla="*/ 12 h 29"/>
                      <a:gd name="T80" fmla="*/ 0 w 26"/>
                      <a:gd name="T81" fmla="*/ 9 h 29"/>
                      <a:gd name="T82" fmla="*/ 1 w 26"/>
                      <a:gd name="T83" fmla="*/ 7 h 29"/>
                      <a:gd name="T84" fmla="*/ 2 w 26"/>
                      <a:gd name="T85" fmla="*/ 7 h 29"/>
                      <a:gd name="T86" fmla="*/ 2 w 26"/>
                      <a:gd name="T87" fmla="*/ 5 h 29"/>
                      <a:gd name="T88" fmla="*/ 4 w 26"/>
                      <a:gd name="T89" fmla="*/ 4 h 29"/>
                      <a:gd name="T90" fmla="*/ 5 w 26"/>
                      <a:gd name="T91" fmla="*/ 3 h 29"/>
                      <a:gd name="T92" fmla="*/ 6 w 26"/>
                      <a:gd name="T93" fmla="*/ 3 h 29"/>
                      <a:gd name="T94" fmla="*/ 7 w 26"/>
                      <a:gd name="T95" fmla="*/ 2 h 29"/>
                      <a:gd name="T96" fmla="*/ 8 w 26"/>
                      <a:gd name="T97" fmla="*/ 1 h 29"/>
                      <a:gd name="T98" fmla="*/ 9 w 26"/>
                      <a:gd name="T99" fmla="*/ 1 h 29"/>
                      <a:gd name="T100" fmla="*/ 10 w 26"/>
                      <a:gd name="T101" fmla="*/ 0 h 29"/>
                      <a:gd name="T102" fmla="*/ 11 w 26"/>
                      <a:gd name="T103" fmla="*/ 0 h 29"/>
                      <a:gd name="T104" fmla="*/ 12 w 26"/>
                      <a:gd name="T105" fmla="*/ 0 h 29"/>
                      <a:gd name="T106" fmla="*/ 14 w 26"/>
                      <a:gd name="T107" fmla="*/ 0 h 29"/>
                      <a:gd name="T108" fmla="*/ 14 w 26"/>
                      <a:gd name="T109" fmla="*/ 0 h 29"/>
                      <a:gd name="T110" fmla="*/ 16 w 26"/>
                      <a:gd name="T111" fmla="*/ 0 h 29"/>
                      <a:gd name="T112" fmla="*/ 17 w 26"/>
                      <a:gd name="T113" fmla="*/ 1 h 29"/>
                      <a:gd name="T114" fmla="*/ 18 w 26"/>
                      <a:gd name="T115" fmla="*/ 1 h 29"/>
                      <a:gd name="T116" fmla="*/ 20 w 26"/>
                      <a:gd name="T117" fmla="*/ 1 h 29"/>
                      <a:gd name="T118" fmla="*/ 21 w 26"/>
                      <a:gd name="T119" fmla="*/ 2 h 29"/>
                      <a:gd name="T120" fmla="*/ 22 w 26"/>
                      <a:gd name="T121" fmla="*/ 2 h 29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60000 65536"/>
                      <a:gd name="T175" fmla="*/ 0 60000 65536"/>
                      <a:gd name="T176" fmla="*/ 0 60000 65536"/>
                      <a:gd name="T177" fmla="*/ 0 60000 65536"/>
                      <a:gd name="T178" fmla="*/ 0 60000 65536"/>
                      <a:gd name="T179" fmla="*/ 0 60000 65536"/>
                      <a:gd name="T180" fmla="*/ 0 60000 65536"/>
                      <a:gd name="T181" fmla="*/ 0 60000 65536"/>
                      <a:gd name="T182" fmla="*/ 0 60000 65536"/>
                      <a:gd name="T183" fmla="*/ 0 w 26"/>
                      <a:gd name="T184" fmla="*/ 0 h 29"/>
                      <a:gd name="T185" fmla="*/ 26 w 26"/>
                      <a:gd name="T186" fmla="*/ 29 h 29"/>
                    </a:gdLst>
                    <a:ahLst/>
                    <a:cxnLst>
                      <a:cxn ang="T122">
                        <a:pos x="T0" y="T1"/>
                      </a:cxn>
                      <a:cxn ang="T123">
                        <a:pos x="T2" y="T3"/>
                      </a:cxn>
                      <a:cxn ang="T124">
                        <a:pos x="T4" y="T5"/>
                      </a:cxn>
                      <a:cxn ang="T125">
                        <a:pos x="T6" y="T7"/>
                      </a:cxn>
                      <a:cxn ang="T126">
                        <a:pos x="T8" y="T9"/>
                      </a:cxn>
                      <a:cxn ang="T127">
                        <a:pos x="T10" y="T11"/>
                      </a:cxn>
                      <a:cxn ang="T128">
                        <a:pos x="T12" y="T13"/>
                      </a:cxn>
                      <a:cxn ang="T129">
                        <a:pos x="T14" y="T15"/>
                      </a:cxn>
                      <a:cxn ang="T130">
                        <a:pos x="T16" y="T17"/>
                      </a:cxn>
                      <a:cxn ang="T131">
                        <a:pos x="T18" y="T19"/>
                      </a:cxn>
                      <a:cxn ang="T132">
                        <a:pos x="T20" y="T21"/>
                      </a:cxn>
                      <a:cxn ang="T133">
                        <a:pos x="T22" y="T23"/>
                      </a:cxn>
                      <a:cxn ang="T134">
                        <a:pos x="T24" y="T25"/>
                      </a:cxn>
                      <a:cxn ang="T135">
                        <a:pos x="T26" y="T27"/>
                      </a:cxn>
                      <a:cxn ang="T136">
                        <a:pos x="T28" y="T29"/>
                      </a:cxn>
                      <a:cxn ang="T137">
                        <a:pos x="T30" y="T31"/>
                      </a:cxn>
                      <a:cxn ang="T138">
                        <a:pos x="T32" y="T33"/>
                      </a:cxn>
                      <a:cxn ang="T139">
                        <a:pos x="T34" y="T35"/>
                      </a:cxn>
                      <a:cxn ang="T140">
                        <a:pos x="T36" y="T37"/>
                      </a:cxn>
                      <a:cxn ang="T141">
                        <a:pos x="T38" y="T39"/>
                      </a:cxn>
                      <a:cxn ang="T142">
                        <a:pos x="T40" y="T41"/>
                      </a:cxn>
                      <a:cxn ang="T143">
                        <a:pos x="T42" y="T43"/>
                      </a:cxn>
                      <a:cxn ang="T144">
                        <a:pos x="T44" y="T45"/>
                      </a:cxn>
                      <a:cxn ang="T145">
                        <a:pos x="T46" y="T47"/>
                      </a:cxn>
                      <a:cxn ang="T146">
                        <a:pos x="T48" y="T49"/>
                      </a:cxn>
                      <a:cxn ang="T147">
                        <a:pos x="T50" y="T51"/>
                      </a:cxn>
                      <a:cxn ang="T148">
                        <a:pos x="T52" y="T53"/>
                      </a:cxn>
                      <a:cxn ang="T149">
                        <a:pos x="T54" y="T55"/>
                      </a:cxn>
                      <a:cxn ang="T150">
                        <a:pos x="T56" y="T57"/>
                      </a:cxn>
                      <a:cxn ang="T151">
                        <a:pos x="T58" y="T59"/>
                      </a:cxn>
                      <a:cxn ang="T152">
                        <a:pos x="T60" y="T61"/>
                      </a:cxn>
                      <a:cxn ang="T153">
                        <a:pos x="T62" y="T63"/>
                      </a:cxn>
                      <a:cxn ang="T154">
                        <a:pos x="T64" y="T65"/>
                      </a:cxn>
                      <a:cxn ang="T155">
                        <a:pos x="T66" y="T67"/>
                      </a:cxn>
                      <a:cxn ang="T156">
                        <a:pos x="T68" y="T69"/>
                      </a:cxn>
                      <a:cxn ang="T157">
                        <a:pos x="T70" y="T71"/>
                      </a:cxn>
                      <a:cxn ang="T158">
                        <a:pos x="T72" y="T73"/>
                      </a:cxn>
                      <a:cxn ang="T159">
                        <a:pos x="T74" y="T75"/>
                      </a:cxn>
                      <a:cxn ang="T160">
                        <a:pos x="T76" y="T77"/>
                      </a:cxn>
                      <a:cxn ang="T161">
                        <a:pos x="T78" y="T79"/>
                      </a:cxn>
                      <a:cxn ang="T162">
                        <a:pos x="T80" y="T81"/>
                      </a:cxn>
                      <a:cxn ang="T163">
                        <a:pos x="T82" y="T83"/>
                      </a:cxn>
                      <a:cxn ang="T164">
                        <a:pos x="T84" y="T85"/>
                      </a:cxn>
                      <a:cxn ang="T165">
                        <a:pos x="T86" y="T87"/>
                      </a:cxn>
                      <a:cxn ang="T166">
                        <a:pos x="T88" y="T89"/>
                      </a:cxn>
                      <a:cxn ang="T167">
                        <a:pos x="T90" y="T91"/>
                      </a:cxn>
                      <a:cxn ang="T168">
                        <a:pos x="T92" y="T93"/>
                      </a:cxn>
                      <a:cxn ang="T169">
                        <a:pos x="T94" y="T95"/>
                      </a:cxn>
                      <a:cxn ang="T170">
                        <a:pos x="T96" y="T97"/>
                      </a:cxn>
                      <a:cxn ang="T171">
                        <a:pos x="T98" y="T99"/>
                      </a:cxn>
                      <a:cxn ang="T172">
                        <a:pos x="T100" y="T101"/>
                      </a:cxn>
                      <a:cxn ang="T173">
                        <a:pos x="T102" y="T103"/>
                      </a:cxn>
                      <a:cxn ang="T174">
                        <a:pos x="T104" y="T105"/>
                      </a:cxn>
                      <a:cxn ang="T175">
                        <a:pos x="T106" y="T107"/>
                      </a:cxn>
                      <a:cxn ang="T176">
                        <a:pos x="T108" y="T109"/>
                      </a:cxn>
                      <a:cxn ang="T177">
                        <a:pos x="T110" y="T111"/>
                      </a:cxn>
                      <a:cxn ang="T178">
                        <a:pos x="T112" y="T113"/>
                      </a:cxn>
                      <a:cxn ang="T179">
                        <a:pos x="T114" y="T115"/>
                      </a:cxn>
                      <a:cxn ang="T180">
                        <a:pos x="T116" y="T117"/>
                      </a:cxn>
                      <a:cxn ang="T181">
                        <a:pos x="T118" y="T119"/>
                      </a:cxn>
                      <a:cxn ang="T182">
                        <a:pos x="T120" y="T121"/>
                      </a:cxn>
                    </a:cxnLst>
                    <a:rect l="T183" t="T184" r="T185" b="T186"/>
                    <a:pathLst>
                      <a:path w="26" h="29">
                        <a:moveTo>
                          <a:pt x="22" y="2"/>
                        </a:moveTo>
                        <a:lnTo>
                          <a:pt x="22" y="3"/>
                        </a:lnTo>
                        <a:lnTo>
                          <a:pt x="23" y="4"/>
                        </a:lnTo>
                        <a:lnTo>
                          <a:pt x="24" y="5"/>
                        </a:lnTo>
                        <a:lnTo>
                          <a:pt x="24" y="7"/>
                        </a:lnTo>
                        <a:lnTo>
                          <a:pt x="25" y="7"/>
                        </a:lnTo>
                        <a:lnTo>
                          <a:pt x="25" y="9"/>
                        </a:lnTo>
                        <a:lnTo>
                          <a:pt x="26" y="9"/>
                        </a:lnTo>
                        <a:lnTo>
                          <a:pt x="26" y="12"/>
                        </a:lnTo>
                        <a:lnTo>
                          <a:pt x="26" y="13"/>
                        </a:lnTo>
                        <a:lnTo>
                          <a:pt x="26" y="15"/>
                        </a:lnTo>
                        <a:lnTo>
                          <a:pt x="26" y="16"/>
                        </a:lnTo>
                        <a:lnTo>
                          <a:pt x="26" y="18"/>
                        </a:lnTo>
                        <a:lnTo>
                          <a:pt x="25" y="19"/>
                        </a:lnTo>
                        <a:lnTo>
                          <a:pt x="24" y="21"/>
                        </a:lnTo>
                        <a:lnTo>
                          <a:pt x="24" y="22"/>
                        </a:lnTo>
                        <a:lnTo>
                          <a:pt x="23" y="23"/>
                        </a:lnTo>
                        <a:lnTo>
                          <a:pt x="22" y="25"/>
                        </a:lnTo>
                        <a:lnTo>
                          <a:pt x="21" y="27"/>
                        </a:lnTo>
                        <a:lnTo>
                          <a:pt x="18" y="28"/>
                        </a:lnTo>
                        <a:lnTo>
                          <a:pt x="17" y="29"/>
                        </a:lnTo>
                        <a:lnTo>
                          <a:pt x="16" y="29"/>
                        </a:lnTo>
                        <a:lnTo>
                          <a:pt x="14" y="29"/>
                        </a:lnTo>
                        <a:lnTo>
                          <a:pt x="12" y="29"/>
                        </a:lnTo>
                        <a:lnTo>
                          <a:pt x="11" y="29"/>
                        </a:lnTo>
                        <a:lnTo>
                          <a:pt x="10" y="29"/>
                        </a:lnTo>
                        <a:lnTo>
                          <a:pt x="9" y="29"/>
                        </a:lnTo>
                        <a:lnTo>
                          <a:pt x="7" y="28"/>
                        </a:lnTo>
                        <a:lnTo>
                          <a:pt x="6" y="28"/>
                        </a:lnTo>
                        <a:lnTo>
                          <a:pt x="5" y="27"/>
                        </a:lnTo>
                        <a:lnTo>
                          <a:pt x="4" y="25"/>
                        </a:lnTo>
                        <a:lnTo>
                          <a:pt x="2" y="23"/>
                        </a:lnTo>
                        <a:lnTo>
                          <a:pt x="1" y="21"/>
                        </a:lnTo>
                        <a:lnTo>
                          <a:pt x="1" y="20"/>
                        </a:lnTo>
                        <a:lnTo>
                          <a:pt x="0" y="18"/>
                        </a:lnTo>
                        <a:lnTo>
                          <a:pt x="0" y="17"/>
                        </a:lnTo>
                        <a:lnTo>
                          <a:pt x="0" y="15"/>
                        </a:lnTo>
                        <a:lnTo>
                          <a:pt x="0" y="14"/>
                        </a:lnTo>
                        <a:lnTo>
                          <a:pt x="0" y="12"/>
                        </a:lnTo>
                        <a:lnTo>
                          <a:pt x="0" y="9"/>
                        </a:lnTo>
                        <a:lnTo>
                          <a:pt x="1" y="7"/>
                        </a:lnTo>
                        <a:lnTo>
                          <a:pt x="2" y="7"/>
                        </a:lnTo>
                        <a:lnTo>
                          <a:pt x="2" y="5"/>
                        </a:lnTo>
                        <a:lnTo>
                          <a:pt x="4" y="4"/>
                        </a:lnTo>
                        <a:lnTo>
                          <a:pt x="5" y="3"/>
                        </a:lnTo>
                        <a:lnTo>
                          <a:pt x="6" y="3"/>
                        </a:lnTo>
                        <a:lnTo>
                          <a:pt x="7" y="2"/>
                        </a:lnTo>
                        <a:lnTo>
                          <a:pt x="8" y="1"/>
                        </a:lnTo>
                        <a:lnTo>
                          <a:pt x="9" y="1"/>
                        </a:lnTo>
                        <a:lnTo>
                          <a:pt x="10" y="0"/>
                        </a:lnTo>
                        <a:lnTo>
                          <a:pt x="11" y="0"/>
                        </a:lnTo>
                        <a:lnTo>
                          <a:pt x="12" y="0"/>
                        </a:lnTo>
                        <a:lnTo>
                          <a:pt x="14" y="0"/>
                        </a:lnTo>
                        <a:lnTo>
                          <a:pt x="16" y="0"/>
                        </a:lnTo>
                        <a:lnTo>
                          <a:pt x="17" y="1"/>
                        </a:lnTo>
                        <a:lnTo>
                          <a:pt x="18" y="1"/>
                        </a:lnTo>
                        <a:lnTo>
                          <a:pt x="20" y="1"/>
                        </a:lnTo>
                        <a:lnTo>
                          <a:pt x="21" y="2"/>
                        </a:lnTo>
                        <a:lnTo>
                          <a:pt x="22" y="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7541" name="Group 1065"/>
                  <p:cNvGrpSpPr>
                    <a:grpSpLocks/>
                  </p:cNvGrpSpPr>
                  <p:nvPr/>
                </p:nvGrpSpPr>
                <p:grpSpPr bwMode="auto">
                  <a:xfrm>
                    <a:off x="2616" y="2658"/>
                    <a:ext cx="26" cy="29"/>
                    <a:chOff x="2616" y="2658"/>
                    <a:chExt cx="26" cy="29"/>
                  </a:xfrm>
                </p:grpSpPr>
                <p:sp>
                  <p:nvSpPr>
                    <p:cNvPr id="17546" name="Freeform 1066"/>
                    <p:cNvSpPr>
                      <a:spLocks/>
                    </p:cNvSpPr>
                    <p:nvPr/>
                  </p:nvSpPr>
                  <p:spPr bwMode="auto">
                    <a:xfrm>
                      <a:off x="2616" y="2658"/>
                      <a:ext cx="26" cy="29"/>
                    </a:xfrm>
                    <a:custGeom>
                      <a:avLst/>
                      <a:gdLst>
                        <a:gd name="T0" fmla="*/ 22 w 26"/>
                        <a:gd name="T1" fmla="*/ 2 h 29"/>
                        <a:gd name="T2" fmla="*/ 22 w 26"/>
                        <a:gd name="T3" fmla="*/ 3 h 29"/>
                        <a:gd name="T4" fmla="*/ 23 w 26"/>
                        <a:gd name="T5" fmla="*/ 4 h 29"/>
                        <a:gd name="T6" fmla="*/ 24 w 26"/>
                        <a:gd name="T7" fmla="*/ 5 h 29"/>
                        <a:gd name="T8" fmla="*/ 24 w 26"/>
                        <a:gd name="T9" fmla="*/ 7 h 29"/>
                        <a:gd name="T10" fmla="*/ 25 w 26"/>
                        <a:gd name="T11" fmla="*/ 7 h 29"/>
                        <a:gd name="T12" fmla="*/ 25 w 26"/>
                        <a:gd name="T13" fmla="*/ 9 h 29"/>
                        <a:gd name="T14" fmla="*/ 26 w 26"/>
                        <a:gd name="T15" fmla="*/ 9 h 29"/>
                        <a:gd name="T16" fmla="*/ 26 w 26"/>
                        <a:gd name="T17" fmla="*/ 12 h 29"/>
                        <a:gd name="T18" fmla="*/ 26 w 26"/>
                        <a:gd name="T19" fmla="*/ 13 h 29"/>
                        <a:gd name="T20" fmla="*/ 26 w 26"/>
                        <a:gd name="T21" fmla="*/ 15 h 29"/>
                        <a:gd name="T22" fmla="*/ 26 w 26"/>
                        <a:gd name="T23" fmla="*/ 16 h 29"/>
                        <a:gd name="T24" fmla="*/ 26 w 26"/>
                        <a:gd name="T25" fmla="*/ 18 h 29"/>
                        <a:gd name="T26" fmla="*/ 25 w 26"/>
                        <a:gd name="T27" fmla="*/ 19 h 29"/>
                        <a:gd name="T28" fmla="*/ 24 w 26"/>
                        <a:gd name="T29" fmla="*/ 21 h 29"/>
                        <a:gd name="T30" fmla="*/ 24 w 26"/>
                        <a:gd name="T31" fmla="*/ 22 h 29"/>
                        <a:gd name="T32" fmla="*/ 23 w 26"/>
                        <a:gd name="T33" fmla="*/ 23 h 29"/>
                        <a:gd name="T34" fmla="*/ 22 w 26"/>
                        <a:gd name="T35" fmla="*/ 25 h 29"/>
                        <a:gd name="T36" fmla="*/ 21 w 26"/>
                        <a:gd name="T37" fmla="*/ 27 h 29"/>
                        <a:gd name="T38" fmla="*/ 18 w 26"/>
                        <a:gd name="T39" fmla="*/ 28 h 29"/>
                        <a:gd name="T40" fmla="*/ 17 w 26"/>
                        <a:gd name="T41" fmla="*/ 29 h 29"/>
                        <a:gd name="T42" fmla="*/ 16 w 26"/>
                        <a:gd name="T43" fmla="*/ 29 h 29"/>
                        <a:gd name="T44" fmla="*/ 14 w 26"/>
                        <a:gd name="T45" fmla="*/ 29 h 29"/>
                        <a:gd name="T46" fmla="*/ 14 w 26"/>
                        <a:gd name="T47" fmla="*/ 29 h 29"/>
                        <a:gd name="T48" fmla="*/ 12 w 26"/>
                        <a:gd name="T49" fmla="*/ 29 h 29"/>
                        <a:gd name="T50" fmla="*/ 11 w 26"/>
                        <a:gd name="T51" fmla="*/ 29 h 29"/>
                        <a:gd name="T52" fmla="*/ 10 w 26"/>
                        <a:gd name="T53" fmla="*/ 29 h 29"/>
                        <a:gd name="T54" fmla="*/ 9 w 26"/>
                        <a:gd name="T55" fmla="*/ 29 h 29"/>
                        <a:gd name="T56" fmla="*/ 7 w 26"/>
                        <a:gd name="T57" fmla="*/ 28 h 29"/>
                        <a:gd name="T58" fmla="*/ 6 w 26"/>
                        <a:gd name="T59" fmla="*/ 28 h 29"/>
                        <a:gd name="T60" fmla="*/ 5 w 26"/>
                        <a:gd name="T61" fmla="*/ 27 h 29"/>
                        <a:gd name="T62" fmla="*/ 4 w 26"/>
                        <a:gd name="T63" fmla="*/ 25 h 29"/>
                        <a:gd name="T64" fmla="*/ 2 w 26"/>
                        <a:gd name="T65" fmla="*/ 23 h 29"/>
                        <a:gd name="T66" fmla="*/ 1 w 26"/>
                        <a:gd name="T67" fmla="*/ 21 h 29"/>
                        <a:gd name="T68" fmla="*/ 1 w 26"/>
                        <a:gd name="T69" fmla="*/ 20 h 29"/>
                        <a:gd name="T70" fmla="*/ 0 w 26"/>
                        <a:gd name="T71" fmla="*/ 18 h 29"/>
                        <a:gd name="T72" fmla="*/ 0 w 26"/>
                        <a:gd name="T73" fmla="*/ 17 h 29"/>
                        <a:gd name="T74" fmla="*/ 0 w 26"/>
                        <a:gd name="T75" fmla="*/ 15 h 29"/>
                        <a:gd name="T76" fmla="*/ 0 w 26"/>
                        <a:gd name="T77" fmla="*/ 14 h 29"/>
                        <a:gd name="T78" fmla="*/ 0 w 26"/>
                        <a:gd name="T79" fmla="*/ 12 h 29"/>
                        <a:gd name="T80" fmla="*/ 0 w 26"/>
                        <a:gd name="T81" fmla="*/ 9 h 29"/>
                        <a:gd name="T82" fmla="*/ 1 w 26"/>
                        <a:gd name="T83" fmla="*/ 7 h 29"/>
                        <a:gd name="T84" fmla="*/ 2 w 26"/>
                        <a:gd name="T85" fmla="*/ 7 h 29"/>
                        <a:gd name="T86" fmla="*/ 2 w 26"/>
                        <a:gd name="T87" fmla="*/ 5 h 29"/>
                        <a:gd name="T88" fmla="*/ 4 w 26"/>
                        <a:gd name="T89" fmla="*/ 4 h 29"/>
                        <a:gd name="T90" fmla="*/ 5 w 26"/>
                        <a:gd name="T91" fmla="*/ 3 h 29"/>
                        <a:gd name="T92" fmla="*/ 6 w 26"/>
                        <a:gd name="T93" fmla="*/ 3 h 29"/>
                        <a:gd name="T94" fmla="*/ 7 w 26"/>
                        <a:gd name="T95" fmla="*/ 2 h 29"/>
                        <a:gd name="T96" fmla="*/ 8 w 26"/>
                        <a:gd name="T97" fmla="*/ 1 h 29"/>
                        <a:gd name="T98" fmla="*/ 9 w 26"/>
                        <a:gd name="T99" fmla="*/ 1 h 29"/>
                        <a:gd name="T100" fmla="*/ 10 w 26"/>
                        <a:gd name="T101" fmla="*/ 0 h 29"/>
                        <a:gd name="T102" fmla="*/ 11 w 26"/>
                        <a:gd name="T103" fmla="*/ 0 h 29"/>
                        <a:gd name="T104" fmla="*/ 12 w 26"/>
                        <a:gd name="T105" fmla="*/ 0 h 29"/>
                        <a:gd name="T106" fmla="*/ 14 w 26"/>
                        <a:gd name="T107" fmla="*/ 0 h 29"/>
                        <a:gd name="T108" fmla="*/ 14 w 26"/>
                        <a:gd name="T109" fmla="*/ 0 h 29"/>
                        <a:gd name="T110" fmla="*/ 16 w 26"/>
                        <a:gd name="T111" fmla="*/ 0 h 29"/>
                        <a:gd name="T112" fmla="*/ 17 w 26"/>
                        <a:gd name="T113" fmla="*/ 1 h 29"/>
                        <a:gd name="T114" fmla="*/ 18 w 26"/>
                        <a:gd name="T115" fmla="*/ 1 h 29"/>
                        <a:gd name="T116" fmla="*/ 20 w 26"/>
                        <a:gd name="T117" fmla="*/ 1 h 29"/>
                        <a:gd name="T118" fmla="*/ 21 w 26"/>
                        <a:gd name="T119" fmla="*/ 2 h 29"/>
                        <a:gd name="T120" fmla="*/ 22 w 26"/>
                        <a:gd name="T121" fmla="*/ 2 h 29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26"/>
                        <a:gd name="T184" fmla="*/ 0 h 29"/>
                        <a:gd name="T185" fmla="*/ 26 w 26"/>
                        <a:gd name="T186" fmla="*/ 29 h 29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26" h="29">
                          <a:moveTo>
                            <a:pt x="22" y="2"/>
                          </a:moveTo>
                          <a:lnTo>
                            <a:pt x="22" y="3"/>
                          </a:lnTo>
                          <a:lnTo>
                            <a:pt x="23" y="4"/>
                          </a:lnTo>
                          <a:lnTo>
                            <a:pt x="24" y="5"/>
                          </a:lnTo>
                          <a:lnTo>
                            <a:pt x="24" y="7"/>
                          </a:lnTo>
                          <a:lnTo>
                            <a:pt x="25" y="7"/>
                          </a:lnTo>
                          <a:lnTo>
                            <a:pt x="25" y="9"/>
                          </a:lnTo>
                          <a:lnTo>
                            <a:pt x="26" y="9"/>
                          </a:lnTo>
                          <a:lnTo>
                            <a:pt x="26" y="12"/>
                          </a:lnTo>
                          <a:lnTo>
                            <a:pt x="26" y="13"/>
                          </a:lnTo>
                          <a:lnTo>
                            <a:pt x="26" y="15"/>
                          </a:lnTo>
                          <a:lnTo>
                            <a:pt x="26" y="16"/>
                          </a:lnTo>
                          <a:lnTo>
                            <a:pt x="26" y="18"/>
                          </a:lnTo>
                          <a:lnTo>
                            <a:pt x="25" y="19"/>
                          </a:lnTo>
                          <a:lnTo>
                            <a:pt x="24" y="21"/>
                          </a:lnTo>
                          <a:lnTo>
                            <a:pt x="24" y="22"/>
                          </a:lnTo>
                          <a:lnTo>
                            <a:pt x="23" y="23"/>
                          </a:lnTo>
                          <a:lnTo>
                            <a:pt x="22" y="25"/>
                          </a:lnTo>
                          <a:lnTo>
                            <a:pt x="21" y="27"/>
                          </a:lnTo>
                          <a:lnTo>
                            <a:pt x="18" y="28"/>
                          </a:lnTo>
                          <a:lnTo>
                            <a:pt x="17" y="29"/>
                          </a:lnTo>
                          <a:lnTo>
                            <a:pt x="16" y="29"/>
                          </a:lnTo>
                          <a:lnTo>
                            <a:pt x="14" y="29"/>
                          </a:lnTo>
                          <a:lnTo>
                            <a:pt x="12" y="29"/>
                          </a:lnTo>
                          <a:lnTo>
                            <a:pt x="11" y="29"/>
                          </a:lnTo>
                          <a:lnTo>
                            <a:pt x="10" y="29"/>
                          </a:lnTo>
                          <a:lnTo>
                            <a:pt x="9" y="29"/>
                          </a:lnTo>
                          <a:lnTo>
                            <a:pt x="7" y="28"/>
                          </a:lnTo>
                          <a:lnTo>
                            <a:pt x="6" y="28"/>
                          </a:lnTo>
                          <a:lnTo>
                            <a:pt x="5" y="27"/>
                          </a:lnTo>
                          <a:lnTo>
                            <a:pt x="4" y="25"/>
                          </a:lnTo>
                          <a:lnTo>
                            <a:pt x="2" y="23"/>
                          </a:lnTo>
                          <a:lnTo>
                            <a:pt x="1" y="21"/>
                          </a:lnTo>
                          <a:lnTo>
                            <a:pt x="1" y="20"/>
                          </a:lnTo>
                          <a:lnTo>
                            <a:pt x="0" y="18"/>
                          </a:lnTo>
                          <a:lnTo>
                            <a:pt x="0" y="17"/>
                          </a:lnTo>
                          <a:lnTo>
                            <a:pt x="0" y="15"/>
                          </a:lnTo>
                          <a:lnTo>
                            <a:pt x="0" y="14"/>
                          </a:lnTo>
                          <a:lnTo>
                            <a:pt x="0" y="12"/>
                          </a:lnTo>
                          <a:lnTo>
                            <a:pt x="0" y="9"/>
                          </a:lnTo>
                          <a:lnTo>
                            <a:pt x="1" y="7"/>
                          </a:lnTo>
                          <a:lnTo>
                            <a:pt x="2" y="7"/>
                          </a:lnTo>
                          <a:lnTo>
                            <a:pt x="2" y="5"/>
                          </a:lnTo>
                          <a:lnTo>
                            <a:pt x="4" y="4"/>
                          </a:lnTo>
                          <a:lnTo>
                            <a:pt x="5" y="3"/>
                          </a:lnTo>
                          <a:lnTo>
                            <a:pt x="6" y="3"/>
                          </a:lnTo>
                          <a:lnTo>
                            <a:pt x="7" y="2"/>
                          </a:lnTo>
                          <a:lnTo>
                            <a:pt x="8" y="1"/>
                          </a:lnTo>
                          <a:lnTo>
                            <a:pt x="9" y="1"/>
                          </a:lnTo>
                          <a:lnTo>
                            <a:pt x="10" y="0"/>
                          </a:lnTo>
                          <a:lnTo>
                            <a:pt x="11" y="0"/>
                          </a:lnTo>
                          <a:lnTo>
                            <a:pt x="12" y="0"/>
                          </a:lnTo>
                          <a:lnTo>
                            <a:pt x="14" y="0"/>
                          </a:lnTo>
                          <a:lnTo>
                            <a:pt x="16" y="0"/>
                          </a:lnTo>
                          <a:lnTo>
                            <a:pt x="17" y="1"/>
                          </a:lnTo>
                          <a:lnTo>
                            <a:pt x="18" y="1"/>
                          </a:lnTo>
                          <a:lnTo>
                            <a:pt x="20" y="1"/>
                          </a:lnTo>
                          <a:lnTo>
                            <a:pt x="21" y="2"/>
                          </a:lnTo>
                          <a:lnTo>
                            <a:pt x="22" y="2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47" name="Freeform 1067"/>
                    <p:cNvSpPr>
                      <a:spLocks/>
                    </p:cNvSpPr>
                    <p:nvPr/>
                  </p:nvSpPr>
                  <p:spPr bwMode="auto">
                    <a:xfrm>
                      <a:off x="2616" y="2658"/>
                      <a:ext cx="26" cy="29"/>
                    </a:xfrm>
                    <a:custGeom>
                      <a:avLst/>
                      <a:gdLst>
                        <a:gd name="T0" fmla="*/ 22 w 26"/>
                        <a:gd name="T1" fmla="*/ 2 h 29"/>
                        <a:gd name="T2" fmla="*/ 22 w 26"/>
                        <a:gd name="T3" fmla="*/ 3 h 29"/>
                        <a:gd name="T4" fmla="*/ 23 w 26"/>
                        <a:gd name="T5" fmla="*/ 4 h 29"/>
                        <a:gd name="T6" fmla="*/ 24 w 26"/>
                        <a:gd name="T7" fmla="*/ 5 h 29"/>
                        <a:gd name="T8" fmla="*/ 24 w 26"/>
                        <a:gd name="T9" fmla="*/ 7 h 29"/>
                        <a:gd name="T10" fmla="*/ 25 w 26"/>
                        <a:gd name="T11" fmla="*/ 7 h 29"/>
                        <a:gd name="T12" fmla="*/ 25 w 26"/>
                        <a:gd name="T13" fmla="*/ 9 h 29"/>
                        <a:gd name="T14" fmla="*/ 26 w 26"/>
                        <a:gd name="T15" fmla="*/ 9 h 29"/>
                        <a:gd name="T16" fmla="*/ 26 w 26"/>
                        <a:gd name="T17" fmla="*/ 12 h 29"/>
                        <a:gd name="T18" fmla="*/ 26 w 26"/>
                        <a:gd name="T19" fmla="*/ 13 h 29"/>
                        <a:gd name="T20" fmla="*/ 26 w 26"/>
                        <a:gd name="T21" fmla="*/ 15 h 29"/>
                        <a:gd name="T22" fmla="*/ 26 w 26"/>
                        <a:gd name="T23" fmla="*/ 16 h 29"/>
                        <a:gd name="T24" fmla="*/ 26 w 26"/>
                        <a:gd name="T25" fmla="*/ 18 h 29"/>
                        <a:gd name="T26" fmla="*/ 25 w 26"/>
                        <a:gd name="T27" fmla="*/ 19 h 29"/>
                        <a:gd name="T28" fmla="*/ 24 w 26"/>
                        <a:gd name="T29" fmla="*/ 21 h 29"/>
                        <a:gd name="T30" fmla="*/ 24 w 26"/>
                        <a:gd name="T31" fmla="*/ 22 h 29"/>
                        <a:gd name="T32" fmla="*/ 23 w 26"/>
                        <a:gd name="T33" fmla="*/ 23 h 29"/>
                        <a:gd name="T34" fmla="*/ 22 w 26"/>
                        <a:gd name="T35" fmla="*/ 25 h 29"/>
                        <a:gd name="T36" fmla="*/ 21 w 26"/>
                        <a:gd name="T37" fmla="*/ 27 h 29"/>
                        <a:gd name="T38" fmla="*/ 18 w 26"/>
                        <a:gd name="T39" fmla="*/ 28 h 29"/>
                        <a:gd name="T40" fmla="*/ 17 w 26"/>
                        <a:gd name="T41" fmla="*/ 29 h 29"/>
                        <a:gd name="T42" fmla="*/ 16 w 26"/>
                        <a:gd name="T43" fmla="*/ 29 h 29"/>
                        <a:gd name="T44" fmla="*/ 14 w 26"/>
                        <a:gd name="T45" fmla="*/ 29 h 29"/>
                        <a:gd name="T46" fmla="*/ 14 w 26"/>
                        <a:gd name="T47" fmla="*/ 29 h 29"/>
                        <a:gd name="T48" fmla="*/ 12 w 26"/>
                        <a:gd name="T49" fmla="*/ 29 h 29"/>
                        <a:gd name="T50" fmla="*/ 11 w 26"/>
                        <a:gd name="T51" fmla="*/ 29 h 29"/>
                        <a:gd name="T52" fmla="*/ 10 w 26"/>
                        <a:gd name="T53" fmla="*/ 29 h 29"/>
                        <a:gd name="T54" fmla="*/ 9 w 26"/>
                        <a:gd name="T55" fmla="*/ 29 h 29"/>
                        <a:gd name="T56" fmla="*/ 7 w 26"/>
                        <a:gd name="T57" fmla="*/ 28 h 29"/>
                        <a:gd name="T58" fmla="*/ 6 w 26"/>
                        <a:gd name="T59" fmla="*/ 28 h 29"/>
                        <a:gd name="T60" fmla="*/ 5 w 26"/>
                        <a:gd name="T61" fmla="*/ 27 h 29"/>
                        <a:gd name="T62" fmla="*/ 4 w 26"/>
                        <a:gd name="T63" fmla="*/ 25 h 29"/>
                        <a:gd name="T64" fmla="*/ 2 w 26"/>
                        <a:gd name="T65" fmla="*/ 23 h 29"/>
                        <a:gd name="T66" fmla="*/ 1 w 26"/>
                        <a:gd name="T67" fmla="*/ 21 h 29"/>
                        <a:gd name="T68" fmla="*/ 1 w 26"/>
                        <a:gd name="T69" fmla="*/ 20 h 29"/>
                        <a:gd name="T70" fmla="*/ 0 w 26"/>
                        <a:gd name="T71" fmla="*/ 18 h 29"/>
                        <a:gd name="T72" fmla="*/ 0 w 26"/>
                        <a:gd name="T73" fmla="*/ 17 h 29"/>
                        <a:gd name="T74" fmla="*/ 0 w 26"/>
                        <a:gd name="T75" fmla="*/ 15 h 29"/>
                        <a:gd name="T76" fmla="*/ 0 w 26"/>
                        <a:gd name="T77" fmla="*/ 14 h 29"/>
                        <a:gd name="T78" fmla="*/ 0 w 26"/>
                        <a:gd name="T79" fmla="*/ 12 h 29"/>
                        <a:gd name="T80" fmla="*/ 0 w 26"/>
                        <a:gd name="T81" fmla="*/ 9 h 29"/>
                        <a:gd name="T82" fmla="*/ 1 w 26"/>
                        <a:gd name="T83" fmla="*/ 7 h 29"/>
                        <a:gd name="T84" fmla="*/ 2 w 26"/>
                        <a:gd name="T85" fmla="*/ 7 h 29"/>
                        <a:gd name="T86" fmla="*/ 2 w 26"/>
                        <a:gd name="T87" fmla="*/ 5 h 29"/>
                        <a:gd name="T88" fmla="*/ 4 w 26"/>
                        <a:gd name="T89" fmla="*/ 4 h 29"/>
                        <a:gd name="T90" fmla="*/ 5 w 26"/>
                        <a:gd name="T91" fmla="*/ 3 h 29"/>
                        <a:gd name="T92" fmla="*/ 6 w 26"/>
                        <a:gd name="T93" fmla="*/ 3 h 29"/>
                        <a:gd name="T94" fmla="*/ 7 w 26"/>
                        <a:gd name="T95" fmla="*/ 2 h 29"/>
                        <a:gd name="T96" fmla="*/ 8 w 26"/>
                        <a:gd name="T97" fmla="*/ 1 h 29"/>
                        <a:gd name="T98" fmla="*/ 9 w 26"/>
                        <a:gd name="T99" fmla="*/ 1 h 29"/>
                        <a:gd name="T100" fmla="*/ 10 w 26"/>
                        <a:gd name="T101" fmla="*/ 0 h 29"/>
                        <a:gd name="T102" fmla="*/ 11 w 26"/>
                        <a:gd name="T103" fmla="*/ 0 h 29"/>
                        <a:gd name="T104" fmla="*/ 12 w 26"/>
                        <a:gd name="T105" fmla="*/ 0 h 29"/>
                        <a:gd name="T106" fmla="*/ 14 w 26"/>
                        <a:gd name="T107" fmla="*/ 0 h 29"/>
                        <a:gd name="T108" fmla="*/ 14 w 26"/>
                        <a:gd name="T109" fmla="*/ 0 h 29"/>
                        <a:gd name="T110" fmla="*/ 16 w 26"/>
                        <a:gd name="T111" fmla="*/ 0 h 29"/>
                        <a:gd name="T112" fmla="*/ 17 w 26"/>
                        <a:gd name="T113" fmla="*/ 1 h 29"/>
                        <a:gd name="T114" fmla="*/ 18 w 26"/>
                        <a:gd name="T115" fmla="*/ 1 h 29"/>
                        <a:gd name="T116" fmla="*/ 20 w 26"/>
                        <a:gd name="T117" fmla="*/ 1 h 29"/>
                        <a:gd name="T118" fmla="*/ 21 w 26"/>
                        <a:gd name="T119" fmla="*/ 2 h 29"/>
                        <a:gd name="T120" fmla="*/ 22 w 26"/>
                        <a:gd name="T121" fmla="*/ 2 h 29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26"/>
                        <a:gd name="T184" fmla="*/ 0 h 29"/>
                        <a:gd name="T185" fmla="*/ 26 w 26"/>
                        <a:gd name="T186" fmla="*/ 29 h 29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26" h="29">
                          <a:moveTo>
                            <a:pt x="22" y="2"/>
                          </a:moveTo>
                          <a:lnTo>
                            <a:pt x="22" y="3"/>
                          </a:lnTo>
                          <a:lnTo>
                            <a:pt x="23" y="4"/>
                          </a:lnTo>
                          <a:lnTo>
                            <a:pt x="24" y="5"/>
                          </a:lnTo>
                          <a:lnTo>
                            <a:pt x="24" y="7"/>
                          </a:lnTo>
                          <a:lnTo>
                            <a:pt x="25" y="7"/>
                          </a:lnTo>
                          <a:lnTo>
                            <a:pt x="25" y="9"/>
                          </a:lnTo>
                          <a:lnTo>
                            <a:pt x="26" y="9"/>
                          </a:lnTo>
                          <a:lnTo>
                            <a:pt x="26" y="12"/>
                          </a:lnTo>
                          <a:lnTo>
                            <a:pt x="26" y="13"/>
                          </a:lnTo>
                          <a:lnTo>
                            <a:pt x="26" y="15"/>
                          </a:lnTo>
                          <a:lnTo>
                            <a:pt x="26" y="16"/>
                          </a:lnTo>
                          <a:lnTo>
                            <a:pt x="26" y="18"/>
                          </a:lnTo>
                          <a:lnTo>
                            <a:pt x="25" y="19"/>
                          </a:lnTo>
                          <a:lnTo>
                            <a:pt x="24" y="21"/>
                          </a:lnTo>
                          <a:lnTo>
                            <a:pt x="24" y="22"/>
                          </a:lnTo>
                          <a:lnTo>
                            <a:pt x="23" y="23"/>
                          </a:lnTo>
                          <a:lnTo>
                            <a:pt x="22" y="25"/>
                          </a:lnTo>
                          <a:lnTo>
                            <a:pt x="21" y="27"/>
                          </a:lnTo>
                          <a:lnTo>
                            <a:pt x="18" y="28"/>
                          </a:lnTo>
                          <a:lnTo>
                            <a:pt x="17" y="29"/>
                          </a:lnTo>
                          <a:lnTo>
                            <a:pt x="16" y="29"/>
                          </a:lnTo>
                          <a:lnTo>
                            <a:pt x="14" y="29"/>
                          </a:lnTo>
                          <a:lnTo>
                            <a:pt x="12" y="29"/>
                          </a:lnTo>
                          <a:lnTo>
                            <a:pt x="11" y="29"/>
                          </a:lnTo>
                          <a:lnTo>
                            <a:pt x="10" y="29"/>
                          </a:lnTo>
                          <a:lnTo>
                            <a:pt x="9" y="29"/>
                          </a:lnTo>
                          <a:lnTo>
                            <a:pt x="7" y="28"/>
                          </a:lnTo>
                          <a:lnTo>
                            <a:pt x="6" y="28"/>
                          </a:lnTo>
                          <a:lnTo>
                            <a:pt x="5" y="27"/>
                          </a:lnTo>
                          <a:lnTo>
                            <a:pt x="4" y="25"/>
                          </a:lnTo>
                          <a:lnTo>
                            <a:pt x="2" y="23"/>
                          </a:lnTo>
                          <a:lnTo>
                            <a:pt x="1" y="21"/>
                          </a:lnTo>
                          <a:lnTo>
                            <a:pt x="1" y="20"/>
                          </a:lnTo>
                          <a:lnTo>
                            <a:pt x="0" y="18"/>
                          </a:lnTo>
                          <a:lnTo>
                            <a:pt x="0" y="17"/>
                          </a:lnTo>
                          <a:lnTo>
                            <a:pt x="0" y="15"/>
                          </a:lnTo>
                          <a:lnTo>
                            <a:pt x="0" y="14"/>
                          </a:lnTo>
                          <a:lnTo>
                            <a:pt x="0" y="12"/>
                          </a:lnTo>
                          <a:lnTo>
                            <a:pt x="0" y="9"/>
                          </a:lnTo>
                          <a:lnTo>
                            <a:pt x="1" y="7"/>
                          </a:lnTo>
                          <a:lnTo>
                            <a:pt x="2" y="7"/>
                          </a:lnTo>
                          <a:lnTo>
                            <a:pt x="2" y="5"/>
                          </a:lnTo>
                          <a:lnTo>
                            <a:pt x="4" y="4"/>
                          </a:lnTo>
                          <a:lnTo>
                            <a:pt x="5" y="3"/>
                          </a:lnTo>
                          <a:lnTo>
                            <a:pt x="6" y="3"/>
                          </a:lnTo>
                          <a:lnTo>
                            <a:pt x="7" y="2"/>
                          </a:lnTo>
                          <a:lnTo>
                            <a:pt x="8" y="1"/>
                          </a:lnTo>
                          <a:lnTo>
                            <a:pt x="9" y="1"/>
                          </a:lnTo>
                          <a:lnTo>
                            <a:pt x="10" y="0"/>
                          </a:lnTo>
                          <a:lnTo>
                            <a:pt x="11" y="0"/>
                          </a:lnTo>
                          <a:lnTo>
                            <a:pt x="12" y="0"/>
                          </a:lnTo>
                          <a:lnTo>
                            <a:pt x="14" y="0"/>
                          </a:lnTo>
                          <a:lnTo>
                            <a:pt x="16" y="0"/>
                          </a:lnTo>
                          <a:lnTo>
                            <a:pt x="17" y="1"/>
                          </a:lnTo>
                          <a:lnTo>
                            <a:pt x="18" y="1"/>
                          </a:lnTo>
                          <a:lnTo>
                            <a:pt x="20" y="1"/>
                          </a:lnTo>
                          <a:lnTo>
                            <a:pt x="21" y="2"/>
                          </a:lnTo>
                          <a:lnTo>
                            <a:pt x="22" y="2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7542" name="Freeform 1068"/>
                  <p:cNvSpPr>
                    <a:spLocks/>
                  </p:cNvSpPr>
                  <p:nvPr/>
                </p:nvSpPr>
                <p:spPr bwMode="auto">
                  <a:xfrm>
                    <a:off x="2625" y="2662"/>
                    <a:ext cx="14" cy="12"/>
                  </a:xfrm>
                  <a:custGeom>
                    <a:avLst/>
                    <a:gdLst>
                      <a:gd name="T0" fmla="*/ 14 w 14"/>
                      <a:gd name="T1" fmla="*/ 12 h 12"/>
                      <a:gd name="T2" fmla="*/ 13 w 14"/>
                      <a:gd name="T3" fmla="*/ 12 h 12"/>
                      <a:gd name="T4" fmla="*/ 12 w 14"/>
                      <a:gd name="T5" fmla="*/ 11 h 12"/>
                      <a:gd name="T6" fmla="*/ 9 w 14"/>
                      <a:gd name="T7" fmla="*/ 10 h 12"/>
                      <a:gd name="T8" fmla="*/ 8 w 14"/>
                      <a:gd name="T9" fmla="*/ 9 h 12"/>
                      <a:gd name="T10" fmla="*/ 6 w 14"/>
                      <a:gd name="T11" fmla="*/ 8 h 12"/>
                      <a:gd name="T12" fmla="*/ 5 w 14"/>
                      <a:gd name="T13" fmla="*/ 5 h 12"/>
                      <a:gd name="T14" fmla="*/ 4 w 14"/>
                      <a:gd name="T15" fmla="*/ 4 h 12"/>
                      <a:gd name="T16" fmla="*/ 2 w 14"/>
                      <a:gd name="T17" fmla="*/ 3 h 12"/>
                      <a:gd name="T18" fmla="*/ 1 w 14"/>
                      <a:gd name="T19" fmla="*/ 2 h 12"/>
                      <a:gd name="T20" fmla="*/ 0 w 14"/>
                      <a:gd name="T21" fmla="*/ 1 h 12"/>
                      <a:gd name="T22" fmla="*/ 0 w 14"/>
                      <a:gd name="T23" fmla="*/ 0 h 12"/>
                      <a:gd name="T24" fmla="*/ 2 w 14"/>
                      <a:gd name="T25" fmla="*/ 1 h 12"/>
                      <a:gd name="T26" fmla="*/ 3 w 14"/>
                      <a:gd name="T27" fmla="*/ 2 h 12"/>
                      <a:gd name="T28" fmla="*/ 4 w 14"/>
                      <a:gd name="T29" fmla="*/ 3 h 12"/>
                      <a:gd name="T30" fmla="*/ 5 w 14"/>
                      <a:gd name="T31" fmla="*/ 4 h 12"/>
                      <a:gd name="T32" fmla="*/ 8 w 14"/>
                      <a:gd name="T33" fmla="*/ 5 h 12"/>
                      <a:gd name="T34" fmla="*/ 9 w 14"/>
                      <a:gd name="T35" fmla="*/ 8 h 12"/>
                      <a:gd name="T36" fmla="*/ 11 w 14"/>
                      <a:gd name="T37" fmla="*/ 9 h 12"/>
                      <a:gd name="T38" fmla="*/ 12 w 14"/>
                      <a:gd name="T39" fmla="*/ 10 h 12"/>
                      <a:gd name="T40" fmla="*/ 13 w 14"/>
                      <a:gd name="T41" fmla="*/ 11 h 12"/>
                      <a:gd name="T42" fmla="*/ 14 w 14"/>
                      <a:gd name="T43" fmla="*/ 12 h 12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4"/>
                      <a:gd name="T67" fmla="*/ 0 h 12"/>
                      <a:gd name="T68" fmla="*/ 14 w 14"/>
                      <a:gd name="T69" fmla="*/ 12 h 12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4" h="12">
                        <a:moveTo>
                          <a:pt x="14" y="12"/>
                        </a:moveTo>
                        <a:lnTo>
                          <a:pt x="13" y="12"/>
                        </a:lnTo>
                        <a:lnTo>
                          <a:pt x="12" y="11"/>
                        </a:lnTo>
                        <a:lnTo>
                          <a:pt x="9" y="10"/>
                        </a:lnTo>
                        <a:lnTo>
                          <a:pt x="8" y="9"/>
                        </a:lnTo>
                        <a:lnTo>
                          <a:pt x="6" y="8"/>
                        </a:lnTo>
                        <a:lnTo>
                          <a:pt x="5" y="5"/>
                        </a:lnTo>
                        <a:lnTo>
                          <a:pt x="4" y="4"/>
                        </a:lnTo>
                        <a:lnTo>
                          <a:pt x="2" y="3"/>
                        </a:lnTo>
                        <a:lnTo>
                          <a:pt x="1" y="2"/>
                        </a:lnTo>
                        <a:lnTo>
                          <a:pt x="0" y="1"/>
                        </a:lnTo>
                        <a:lnTo>
                          <a:pt x="0" y="0"/>
                        </a:lnTo>
                        <a:lnTo>
                          <a:pt x="2" y="1"/>
                        </a:lnTo>
                        <a:lnTo>
                          <a:pt x="3" y="2"/>
                        </a:lnTo>
                        <a:lnTo>
                          <a:pt x="4" y="3"/>
                        </a:lnTo>
                        <a:lnTo>
                          <a:pt x="5" y="4"/>
                        </a:lnTo>
                        <a:lnTo>
                          <a:pt x="8" y="5"/>
                        </a:lnTo>
                        <a:lnTo>
                          <a:pt x="9" y="8"/>
                        </a:lnTo>
                        <a:lnTo>
                          <a:pt x="11" y="9"/>
                        </a:lnTo>
                        <a:lnTo>
                          <a:pt x="12" y="10"/>
                        </a:lnTo>
                        <a:lnTo>
                          <a:pt x="13" y="11"/>
                        </a:lnTo>
                        <a:lnTo>
                          <a:pt x="14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7543" name="Group 1069"/>
                  <p:cNvGrpSpPr>
                    <a:grpSpLocks/>
                  </p:cNvGrpSpPr>
                  <p:nvPr/>
                </p:nvGrpSpPr>
                <p:grpSpPr bwMode="auto">
                  <a:xfrm>
                    <a:off x="2625" y="2662"/>
                    <a:ext cx="14" cy="12"/>
                    <a:chOff x="2625" y="2662"/>
                    <a:chExt cx="14" cy="12"/>
                  </a:xfrm>
                </p:grpSpPr>
                <p:sp>
                  <p:nvSpPr>
                    <p:cNvPr id="17544" name="Freeform 1070"/>
                    <p:cNvSpPr>
                      <a:spLocks/>
                    </p:cNvSpPr>
                    <p:nvPr/>
                  </p:nvSpPr>
                  <p:spPr bwMode="auto">
                    <a:xfrm>
                      <a:off x="2625" y="2662"/>
                      <a:ext cx="14" cy="12"/>
                    </a:xfrm>
                    <a:custGeom>
                      <a:avLst/>
                      <a:gdLst>
                        <a:gd name="T0" fmla="*/ 14 w 14"/>
                        <a:gd name="T1" fmla="*/ 12 h 12"/>
                        <a:gd name="T2" fmla="*/ 13 w 14"/>
                        <a:gd name="T3" fmla="*/ 12 h 12"/>
                        <a:gd name="T4" fmla="*/ 12 w 14"/>
                        <a:gd name="T5" fmla="*/ 11 h 12"/>
                        <a:gd name="T6" fmla="*/ 9 w 14"/>
                        <a:gd name="T7" fmla="*/ 10 h 12"/>
                        <a:gd name="T8" fmla="*/ 8 w 14"/>
                        <a:gd name="T9" fmla="*/ 9 h 12"/>
                        <a:gd name="T10" fmla="*/ 6 w 14"/>
                        <a:gd name="T11" fmla="*/ 8 h 12"/>
                        <a:gd name="T12" fmla="*/ 5 w 14"/>
                        <a:gd name="T13" fmla="*/ 5 h 12"/>
                        <a:gd name="T14" fmla="*/ 4 w 14"/>
                        <a:gd name="T15" fmla="*/ 4 h 12"/>
                        <a:gd name="T16" fmla="*/ 2 w 14"/>
                        <a:gd name="T17" fmla="*/ 3 h 12"/>
                        <a:gd name="T18" fmla="*/ 1 w 14"/>
                        <a:gd name="T19" fmla="*/ 2 h 12"/>
                        <a:gd name="T20" fmla="*/ 0 w 14"/>
                        <a:gd name="T21" fmla="*/ 1 h 12"/>
                        <a:gd name="T22" fmla="*/ 0 w 14"/>
                        <a:gd name="T23" fmla="*/ 0 h 12"/>
                        <a:gd name="T24" fmla="*/ 2 w 14"/>
                        <a:gd name="T25" fmla="*/ 1 h 12"/>
                        <a:gd name="T26" fmla="*/ 3 w 14"/>
                        <a:gd name="T27" fmla="*/ 2 h 12"/>
                        <a:gd name="T28" fmla="*/ 4 w 14"/>
                        <a:gd name="T29" fmla="*/ 3 h 12"/>
                        <a:gd name="T30" fmla="*/ 5 w 14"/>
                        <a:gd name="T31" fmla="*/ 4 h 12"/>
                        <a:gd name="T32" fmla="*/ 8 w 14"/>
                        <a:gd name="T33" fmla="*/ 5 h 12"/>
                        <a:gd name="T34" fmla="*/ 9 w 14"/>
                        <a:gd name="T35" fmla="*/ 8 h 12"/>
                        <a:gd name="T36" fmla="*/ 11 w 14"/>
                        <a:gd name="T37" fmla="*/ 9 h 12"/>
                        <a:gd name="T38" fmla="*/ 12 w 14"/>
                        <a:gd name="T39" fmla="*/ 10 h 12"/>
                        <a:gd name="T40" fmla="*/ 13 w 14"/>
                        <a:gd name="T41" fmla="*/ 11 h 12"/>
                        <a:gd name="T42" fmla="*/ 14 w 14"/>
                        <a:gd name="T43" fmla="*/ 12 h 12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w 14"/>
                        <a:gd name="T67" fmla="*/ 0 h 12"/>
                        <a:gd name="T68" fmla="*/ 14 w 14"/>
                        <a:gd name="T69" fmla="*/ 12 h 12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T66" t="T67" r="T68" b="T69"/>
                      <a:pathLst>
                        <a:path w="14" h="12">
                          <a:moveTo>
                            <a:pt x="14" y="12"/>
                          </a:moveTo>
                          <a:lnTo>
                            <a:pt x="13" y="12"/>
                          </a:lnTo>
                          <a:lnTo>
                            <a:pt x="12" y="11"/>
                          </a:lnTo>
                          <a:lnTo>
                            <a:pt x="9" y="10"/>
                          </a:lnTo>
                          <a:lnTo>
                            <a:pt x="8" y="9"/>
                          </a:lnTo>
                          <a:lnTo>
                            <a:pt x="6" y="8"/>
                          </a:lnTo>
                          <a:lnTo>
                            <a:pt x="5" y="5"/>
                          </a:lnTo>
                          <a:lnTo>
                            <a:pt x="4" y="4"/>
                          </a:lnTo>
                          <a:lnTo>
                            <a:pt x="2" y="3"/>
                          </a:lnTo>
                          <a:lnTo>
                            <a:pt x="1" y="2"/>
                          </a:ln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2" y="1"/>
                          </a:lnTo>
                          <a:lnTo>
                            <a:pt x="3" y="2"/>
                          </a:lnTo>
                          <a:lnTo>
                            <a:pt x="4" y="3"/>
                          </a:lnTo>
                          <a:lnTo>
                            <a:pt x="5" y="4"/>
                          </a:lnTo>
                          <a:lnTo>
                            <a:pt x="8" y="5"/>
                          </a:lnTo>
                          <a:lnTo>
                            <a:pt x="9" y="8"/>
                          </a:lnTo>
                          <a:lnTo>
                            <a:pt x="11" y="9"/>
                          </a:lnTo>
                          <a:lnTo>
                            <a:pt x="12" y="10"/>
                          </a:lnTo>
                          <a:lnTo>
                            <a:pt x="13" y="11"/>
                          </a:lnTo>
                          <a:lnTo>
                            <a:pt x="14" y="12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45" name="Freeform 1071"/>
                    <p:cNvSpPr>
                      <a:spLocks/>
                    </p:cNvSpPr>
                    <p:nvPr/>
                  </p:nvSpPr>
                  <p:spPr bwMode="auto">
                    <a:xfrm>
                      <a:off x="2625" y="2662"/>
                      <a:ext cx="14" cy="12"/>
                    </a:xfrm>
                    <a:custGeom>
                      <a:avLst/>
                      <a:gdLst>
                        <a:gd name="T0" fmla="*/ 14 w 14"/>
                        <a:gd name="T1" fmla="*/ 12 h 12"/>
                        <a:gd name="T2" fmla="*/ 13 w 14"/>
                        <a:gd name="T3" fmla="*/ 12 h 12"/>
                        <a:gd name="T4" fmla="*/ 12 w 14"/>
                        <a:gd name="T5" fmla="*/ 11 h 12"/>
                        <a:gd name="T6" fmla="*/ 9 w 14"/>
                        <a:gd name="T7" fmla="*/ 10 h 12"/>
                        <a:gd name="T8" fmla="*/ 8 w 14"/>
                        <a:gd name="T9" fmla="*/ 9 h 12"/>
                        <a:gd name="T10" fmla="*/ 6 w 14"/>
                        <a:gd name="T11" fmla="*/ 8 h 12"/>
                        <a:gd name="T12" fmla="*/ 5 w 14"/>
                        <a:gd name="T13" fmla="*/ 5 h 12"/>
                        <a:gd name="T14" fmla="*/ 4 w 14"/>
                        <a:gd name="T15" fmla="*/ 4 h 12"/>
                        <a:gd name="T16" fmla="*/ 2 w 14"/>
                        <a:gd name="T17" fmla="*/ 3 h 12"/>
                        <a:gd name="T18" fmla="*/ 1 w 14"/>
                        <a:gd name="T19" fmla="*/ 2 h 12"/>
                        <a:gd name="T20" fmla="*/ 0 w 14"/>
                        <a:gd name="T21" fmla="*/ 1 h 12"/>
                        <a:gd name="T22" fmla="*/ 0 w 14"/>
                        <a:gd name="T23" fmla="*/ 0 h 12"/>
                        <a:gd name="T24" fmla="*/ 2 w 14"/>
                        <a:gd name="T25" fmla="*/ 1 h 12"/>
                        <a:gd name="T26" fmla="*/ 3 w 14"/>
                        <a:gd name="T27" fmla="*/ 2 h 12"/>
                        <a:gd name="T28" fmla="*/ 4 w 14"/>
                        <a:gd name="T29" fmla="*/ 3 h 12"/>
                        <a:gd name="T30" fmla="*/ 5 w 14"/>
                        <a:gd name="T31" fmla="*/ 4 h 12"/>
                        <a:gd name="T32" fmla="*/ 8 w 14"/>
                        <a:gd name="T33" fmla="*/ 5 h 12"/>
                        <a:gd name="T34" fmla="*/ 9 w 14"/>
                        <a:gd name="T35" fmla="*/ 8 h 12"/>
                        <a:gd name="T36" fmla="*/ 11 w 14"/>
                        <a:gd name="T37" fmla="*/ 9 h 12"/>
                        <a:gd name="T38" fmla="*/ 12 w 14"/>
                        <a:gd name="T39" fmla="*/ 10 h 12"/>
                        <a:gd name="T40" fmla="*/ 13 w 14"/>
                        <a:gd name="T41" fmla="*/ 11 h 12"/>
                        <a:gd name="T42" fmla="*/ 14 w 14"/>
                        <a:gd name="T43" fmla="*/ 12 h 12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w 14"/>
                        <a:gd name="T67" fmla="*/ 0 h 12"/>
                        <a:gd name="T68" fmla="*/ 14 w 14"/>
                        <a:gd name="T69" fmla="*/ 12 h 12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T66" t="T67" r="T68" b="T69"/>
                      <a:pathLst>
                        <a:path w="14" h="12">
                          <a:moveTo>
                            <a:pt x="14" y="12"/>
                          </a:moveTo>
                          <a:lnTo>
                            <a:pt x="13" y="12"/>
                          </a:lnTo>
                          <a:lnTo>
                            <a:pt x="12" y="11"/>
                          </a:lnTo>
                          <a:lnTo>
                            <a:pt x="9" y="10"/>
                          </a:lnTo>
                          <a:lnTo>
                            <a:pt x="8" y="9"/>
                          </a:lnTo>
                          <a:lnTo>
                            <a:pt x="6" y="8"/>
                          </a:lnTo>
                          <a:lnTo>
                            <a:pt x="5" y="5"/>
                          </a:lnTo>
                          <a:lnTo>
                            <a:pt x="4" y="4"/>
                          </a:lnTo>
                          <a:lnTo>
                            <a:pt x="2" y="3"/>
                          </a:lnTo>
                          <a:lnTo>
                            <a:pt x="1" y="2"/>
                          </a:ln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2" y="1"/>
                          </a:lnTo>
                          <a:lnTo>
                            <a:pt x="3" y="2"/>
                          </a:lnTo>
                          <a:lnTo>
                            <a:pt x="4" y="3"/>
                          </a:lnTo>
                          <a:lnTo>
                            <a:pt x="5" y="4"/>
                          </a:lnTo>
                          <a:lnTo>
                            <a:pt x="8" y="5"/>
                          </a:lnTo>
                          <a:lnTo>
                            <a:pt x="9" y="8"/>
                          </a:lnTo>
                          <a:lnTo>
                            <a:pt x="11" y="9"/>
                          </a:lnTo>
                          <a:lnTo>
                            <a:pt x="12" y="10"/>
                          </a:lnTo>
                          <a:lnTo>
                            <a:pt x="13" y="11"/>
                          </a:lnTo>
                          <a:lnTo>
                            <a:pt x="14" y="12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17467" name="Rectangle 1072"/>
            <p:cNvSpPr>
              <a:spLocks noChangeArrowheads="1"/>
            </p:cNvSpPr>
            <p:nvPr/>
          </p:nvSpPr>
          <p:spPr bwMode="auto">
            <a:xfrm>
              <a:off x="2199" y="3488"/>
              <a:ext cx="1720" cy="643"/>
            </a:xfrm>
            <a:prstGeom prst="rect">
              <a:avLst/>
            </a:prstGeom>
            <a:solidFill>
              <a:srgbClr val="FF0000"/>
            </a:solidFill>
            <a:ln w="444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grpSp>
          <p:nvGrpSpPr>
            <p:cNvPr id="17468" name="Group 1073"/>
            <p:cNvGrpSpPr>
              <a:grpSpLocks/>
            </p:cNvGrpSpPr>
            <p:nvPr/>
          </p:nvGrpSpPr>
          <p:grpSpPr bwMode="auto">
            <a:xfrm>
              <a:off x="2329" y="3692"/>
              <a:ext cx="301" cy="274"/>
              <a:chOff x="1983" y="3136"/>
              <a:chExt cx="306" cy="300"/>
            </a:xfrm>
          </p:grpSpPr>
          <p:sp>
            <p:nvSpPr>
              <p:cNvPr id="17494" name="Freeform 1074"/>
              <p:cNvSpPr>
                <a:spLocks/>
              </p:cNvSpPr>
              <p:nvPr/>
            </p:nvSpPr>
            <p:spPr bwMode="auto">
              <a:xfrm>
                <a:off x="1983" y="3136"/>
                <a:ext cx="300" cy="300"/>
              </a:xfrm>
              <a:custGeom>
                <a:avLst/>
                <a:gdLst>
                  <a:gd name="T0" fmla="*/ 171 w 300"/>
                  <a:gd name="T1" fmla="*/ 298 h 300"/>
                  <a:gd name="T2" fmla="*/ 199 w 300"/>
                  <a:gd name="T3" fmla="*/ 292 h 300"/>
                  <a:gd name="T4" fmla="*/ 225 w 300"/>
                  <a:gd name="T5" fmla="*/ 280 h 300"/>
                  <a:gd name="T6" fmla="*/ 249 w 300"/>
                  <a:gd name="T7" fmla="*/ 264 h 300"/>
                  <a:gd name="T8" fmla="*/ 268 w 300"/>
                  <a:gd name="T9" fmla="*/ 243 h 300"/>
                  <a:gd name="T10" fmla="*/ 283 w 300"/>
                  <a:gd name="T11" fmla="*/ 219 h 300"/>
                  <a:gd name="T12" fmla="*/ 293 w 300"/>
                  <a:gd name="T13" fmla="*/ 192 h 300"/>
                  <a:gd name="T14" fmla="*/ 299 w 300"/>
                  <a:gd name="T15" fmla="*/ 163 h 300"/>
                  <a:gd name="T16" fmla="*/ 299 w 300"/>
                  <a:gd name="T17" fmla="*/ 133 h 300"/>
                  <a:gd name="T18" fmla="*/ 293 w 300"/>
                  <a:gd name="T19" fmla="*/ 104 h 300"/>
                  <a:gd name="T20" fmla="*/ 282 w 300"/>
                  <a:gd name="T21" fmla="*/ 77 h 300"/>
                  <a:gd name="T22" fmla="*/ 266 w 300"/>
                  <a:gd name="T23" fmla="*/ 54 h 300"/>
                  <a:gd name="T24" fmla="*/ 245 w 300"/>
                  <a:gd name="T25" fmla="*/ 35 h 300"/>
                  <a:gd name="T26" fmla="*/ 222 w 300"/>
                  <a:gd name="T27" fmla="*/ 19 h 300"/>
                  <a:gd name="T28" fmla="*/ 195 w 300"/>
                  <a:gd name="T29" fmla="*/ 7 h 300"/>
                  <a:gd name="T30" fmla="*/ 166 w 300"/>
                  <a:gd name="T31" fmla="*/ 1 h 300"/>
                  <a:gd name="T32" fmla="*/ 136 w 300"/>
                  <a:gd name="T33" fmla="*/ 1 h 300"/>
                  <a:gd name="T34" fmla="*/ 108 w 300"/>
                  <a:gd name="T35" fmla="*/ 6 h 300"/>
                  <a:gd name="T36" fmla="*/ 81 w 300"/>
                  <a:gd name="T37" fmla="*/ 16 h 300"/>
                  <a:gd name="T38" fmla="*/ 56 w 300"/>
                  <a:gd name="T39" fmla="*/ 30 h 300"/>
                  <a:gd name="T40" fmla="*/ 36 w 300"/>
                  <a:gd name="T41" fmla="*/ 50 h 300"/>
                  <a:gd name="T42" fmla="*/ 19 w 300"/>
                  <a:gd name="T43" fmla="*/ 73 h 300"/>
                  <a:gd name="T44" fmla="*/ 7 w 300"/>
                  <a:gd name="T45" fmla="*/ 101 h 300"/>
                  <a:gd name="T46" fmla="*/ 1 w 300"/>
                  <a:gd name="T47" fmla="*/ 131 h 300"/>
                  <a:gd name="T48" fmla="*/ 1 w 300"/>
                  <a:gd name="T49" fmla="*/ 164 h 300"/>
                  <a:gd name="T50" fmla="*/ 7 w 300"/>
                  <a:gd name="T51" fmla="*/ 195 h 300"/>
                  <a:gd name="T52" fmla="*/ 19 w 300"/>
                  <a:gd name="T53" fmla="*/ 223 h 300"/>
                  <a:gd name="T54" fmla="*/ 36 w 300"/>
                  <a:gd name="T55" fmla="*/ 246 h 300"/>
                  <a:gd name="T56" fmla="*/ 58 w 300"/>
                  <a:gd name="T57" fmla="*/ 266 h 300"/>
                  <a:gd name="T58" fmla="*/ 83 w 300"/>
                  <a:gd name="T59" fmla="*/ 282 h 300"/>
                  <a:gd name="T60" fmla="*/ 111 w 300"/>
                  <a:gd name="T61" fmla="*/ 293 h 300"/>
                  <a:gd name="T62" fmla="*/ 141 w 300"/>
                  <a:gd name="T63" fmla="*/ 298 h 300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00"/>
                  <a:gd name="T97" fmla="*/ 0 h 300"/>
                  <a:gd name="T98" fmla="*/ 300 w 300"/>
                  <a:gd name="T99" fmla="*/ 300 h 300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00" h="300">
                    <a:moveTo>
                      <a:pt x="156" y="300"/>
                    </a:moveTo>
                    <a:lnTo>
                      <a:pt x="171" y="298"/>
                    </a:lnTo>
                    <a:lnTo>
                      <a:pt x="186" y="296"/>
                    </a:lnTo>
                    <a:lnTo>
                      <a:pt x="199" y="292"/>
                    </a:lnTo>
                    <a:lnTo>
                      <a:pt x="213" y="288"/>
                    </a:lnTo>
                    <a:lnTo>
                      <a:pt x="225" y="280"/>
                    </a:lnTo>
                    <a:lnTo>
                      <a:pt x="237" y="273"/>
                    </a:lnTo>
                    <a:lnTo>
                      <a:pt x="249" y="264"/>
                    </a:lnTo>
                    <a:lnTo>
                      <a:pt x="258" y="254"/>
                    </a:lnTo>
                    <a:lnTo>
                      <a:pt x="268" y="243"/>
                    </a:lnTo>
                    <a:lnTo>
                      <a:pt x="276" y="231"/>
                    </a:lnTo>
                    <a:lnTo>
                      <a:pt x="283" y="219"/>
                    </a:lnTo>
                    <a:lnTo>
                      <a:pt x="289" y="206"/>
                    </a:lnTo>
                    <a:lnTo>
                      <a:pt x="293" y="192"/>
                    </a:lnTo>
                    <a:lnTo>
                      <a:pt x="297" y="178"/>
                    </a:lnTo>
                    <a:lnTo>
                      <a:pt x="299" y="163"/>
                    </a:lnTo>
                    <a:lnTo>
                      <a:pt x="300" y="148"/>
                    </a:lnTo>
                    <a:lnTo>
                      <a:pt x="299" y="133"/>
                    </a:lnTo>
                    <a:lnTo>
                      <a:pt x="297" y="118"/>
                    </a:lnTo>
                    <a:lnTo>
                      <a:pt x="293" y="104"/>
                    </a:lnTo>
                    <a:lnTo>
                      <a:pt x="288" y="90"/>
                    </a:lnTo>
                    <a:lnTo>
                      <a:pt x="282" y="77"/>
                    </a:lnTo>
                    <a:lnTo>
                      <a:pt x="274" y="66"/>
                    </a:lnTo>
                    <a:lnTo>
                      <a:pt x="266" y="54"/>
                    </a:lnTo>
                    <a:lnTo>
                      <a:pt x="256" y="43"/>
                    </a:lnTo>
                    <a:lnTo>
                      <a:pt x="245" y="35"/>
                    </a:lnTo>
                    <a:lnTo>
                      <a:pt x="235" y="25"/>
                    </a:lnTo>
                    <a:lnTo>
                      <a:pt x="222" y="19"/>
                    </a:lnTo>
                    <a:lnTo>
                      <a:pt x="209" y="12"/>
                    </a:lnTo>
                    <a:lnTo>
                      <a:pt x="195" y="7"/>
                    </a:lnTo>
                    <a:lnTo>
                      <a:pt x="181" y="4"/>
                    </a:lnTo>
                    <a:lnTo>
                      <a:pt x="166" y="1"/>
                    </a:lnTo>
                    <a:lnTo>
                      <a:pt x="151" y="0"/>
                    </a:lnTo>
                    <a:lnTo>
                      <a:pt x="136" y="1"/>
                    </a:lnTo>
                    <a:lnTo>
                      <a:pt x="121" y="3"/>
                    </a:lnTo>
                    <a:lnTo>
                      <a:pt x="108" y="6"/>
                    </a:lnTo>
                    <a:lnTo>
                      <a:pt x="94" y="10"/>
                    </a:lnTo>
                    <a:lnTo>
                      <a:pt x="81" y="16"/>
                    </a:lnTo>
                    <a:lnTo>
                      <a:pt x="68" y="23"/>
                    </a:lnTo>
                    <a:lnTo>
                      <a:pt x="56" y="30"/>
                    </a:lnTo>
                    <a:lnTo>
                      <a:pt x="46" y="40"/>
                    </a:lnTo>
                    <a:lnTo>
                      <a:pt x="36" y="50"/>
                    </a:lnTo>
                    <a:lnTo>
                      <a:pt x="26" y="61"/>
                    </a:lnTo>
                    <a:lnTo>
                      <a:pt x="19" y="73"/>
                    </a:lnTo>
                    <a:lnTo>
                      <a:pt x="12" y="86"/>
                    </a:lnTo>
                    <a:lnTo>
                      <a:pt x="7" y="101"/>
                    </a:lnTo>
                    <a:lnTo>
                      <a:pt x="3" y="116"/>
                    </a:lnTo>
                    <a:lnTo>
                      <a:pt x="1" y="131"/>
                    </a:lnTo>
                    <a:lnTo>
                      <a:pt x="0" y="148"/>
                    </a:lnTo>
                    <a:lnTo>
                      <a:pt x="1" y="164"/>
                    </a:lnTo>
                    <a:lnTo>
                      <a:pt x="3" y="180"/>
                    </a:lnTo>
                    <a:lnTo>
                      <a:pt x="7" y="195"/>
                    </a:lnTo>
                    <a:lnTo>
                      <a:pt x="12" y="209"/>
                    </a:lnTo>
                    <a:lnTo>
                      <a:pt x="19" y="223"/>
                    </a:lnTo>
                    <a:lnTo>
                      <a:pt x="27" y="234"/>
                    </a:lnTo>
                    <a:lnTo>
                      <a:pt x="36" y="246"/>
                    </a:lnTo>
                    <a:lnTo>
                      <a:pt x="47" y="257"/>
                    </a:lnTo>
                    <a:lnTo>
                      <a:pt x="58" y="266"/>
                    </a:lnTo>
                    <a:lnTo>
                      <a:pt x="70" y="275"/>
                    </a:lnTo>
                    <a:lnTo>
                      <a:pt x="83" y="282"/>
                    </a:lnTo>
                    <a:lnTo>
                      <a:pt x="97" y="288"/>
                    </a:lnTo>
                    <a:lnTo>
                      <a:pt x="111" y="293"/>
                    </a:lnTo>
                    <a:lnTo>
                      <a:pt x="126" y="296"/>
                    </a:lnTo>
                    <a:lnTo>
                      <a:pt x="141" y="298"/>
                    </a:lnTo>
                    <a:lnTo>
                      <a:pt x="156" y="30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95" name="Freeform 1075"/>
              <p:cNvSpPr>
                <a:spLocks/>
              </p:cNvSpPr>
              <p:nvPr/>
            </p:nvSpPr>
            <p:spPr bwMode="auto">
              <a:xfrm>
                <a:off x="2140" y="3136"/>
                <a:ext cx="149" cy="300"/>
              </a:xfrm>
              <a:custGeom>
                <a:avLst/>
                <a:gdLst>
                  <a:gd name="T0" fmla="*/ 146 w 149"/>
                  <a:gd name="T1" fmla="*/ 116 h 300"/>
                  <a:gd name="T2" fmla="*/ 147 w 149"/>
                  <a:gd name="T3" fmla="*/ 179 h 300"/>
                  <a:gd name="T4" fmla="*/ 123 w 149"/>
                  <a:gd name="T5" fmla="*/ 235 h 300"/>
                  <a:gd name="T6" fmla="*/ 106 w 149"/>
                  <a:gd name="T7" fmla="*/ 256 h 300"/>
                  <a:gd name="T8" fmla="*/ 85 w 149"/>
                  <a:gd name="T9" fmla="*/ 273 h 300"/>
                  <a:gd name="T10" fmla="*/ 63 w 149"/>
                  <a:gd name="T11" fmla="*/ 286 h 300"/>
                  <a:gd name="T12" fmla="*/ 38 w 149"/>
                  <a:gd name="T13" fmla="*/ 294 h 300"/>
                  <a:gd name="T14" fmla="*/ 13 w 149"/>
                  <a:gd name="T15" fmla="*/ 298 h 300"/>
                  <a:gd name="T16" fmla="*/ 6 w 149"/>
                  <a:gd name="T17" fmla="*/ 292 h 300"/>
                  <a:gd name="T18" fmla="*/ 13 w 149"/>
                  <a:gd name="T19" fmla="*/ 282 h 300"/>
                  <a:gd name="T20" fmla="*/ 23 w 149"/>
                  <a:gd name="T21" fmla="*/ 277 h 300"/>
                  <a:gd name="T22" fmla="*/ 25 w 149"/>
                  <a:gd name="T23" fmla="*/ 265 h 300"/>
                  <a:gd name="T24" fmla="*/ 29 w 149"/>
                  <a:gd name="T25" fmla="*/ 254 h 300"/>
                  <a:gd name="T26" fmla="*/ 37 w 149"/>
                  <a:gd name="T27" fmla="*/ 247 h 300"/>
                  <a:gd name="T28" fmla="*/ 50 w 149"/>
                  <a:gd name="T29" fmla="*/ 246 h 300"/>
                  <a:gd name="T30" fmla="*/ 63 w 149"/>
                  <a:gd name="T31" fmla="*/ 246 h 300"/>
                  <a:gd name="T32" fmla="*/ 75 w 149"/>
                  <a:gd name="T33" fmla="*/ 245 h 300"/>
                  <a:gd name="T34" fmla="*/ 87 w 149"/>
                  <a:gd name="T35" fmla="*/ 243 h 300"/>
                  <a:gd name="T36" fmla="*/ 99 w 149"/>
                  <a:gd name="T37" fmla="*/ 240 h 300"/>
                  <a:gd name="T38" fmla="*/ 102 w 149"/>
                  <a:gd name="T39" fmla="*/ 224 h 300"/>
                  <a:gd name="T40" fmla="*/ 99 w 149"/>
                  <a:gd name="T41" fmla="*/ 213 h 300"/>
                  <a:gd name="T42" fmla="*/ 100 w 149"/>
                  <a:gd name="T43" fmla="*/ 206 h 300"/>
                  <a:gd name="T44" fmla="*/ 103 w 149"/>
                  <a:gd name="T45" fmla="*/ 198 h 300"/>
                  <a:gd name="T46" fmla="*/ 98 w 149"/>
                  <a:gd name="T47" fmla="*/ 196 h 300"/>
                  <a:gd name="T48" fmla="*/ 100 w 149"/>
                  <a:gd name="T49" fmla="*/ 193 h 300"/>
                  <a:gd name="T50" fmla="*/ 101 w 149"/>
                  <a:gd name="T51" fmla="*/ 186 h 300"/>
                  <a:gd name="T52" fmla="*/ 97 w 149"/>
                  <a:gd name="T53" fmla="*/ 172 h 300"/>
                  <a:gd name="T54" fmla="*/ 107 w 149"/>
                  <a:gd name="T55" fmla="*/ 168 h 300"/>
                  <a:gd name="T56" fmla="*/ 114 w 149"/>
                  <a:gd name="T57" fmla="*/ 162 h 300"/>
                  <a:gd name="T58" fmla="*/ 85 w 149"/>
                  <a:gd name="T59" fmla="*/ 119 h 300"/>
                  <a:gd name="T60" fmla="*/ 87 w 149"/>
                  <a:gd name="T61" fmla="*/ 96 h 300"/>
                  <a:gd name="T62" fmla="*/ 76 w 149"/>
                  <a:gd name="T63" fmla="*/ 69 h 300"/>
                  <a:gd name="T64" fmla="*/ 61 w 149"/>
                  <a:gd name="T65" fmla="*/ 44 h 300"/>
                  <a:gd name="T66" fmla="*/ 63 w 149"/>
                  <a:gd name="T67" fmla="*/ 40 h 300"/>
                  <a:gd name="T68" fmla="*/ 67 w 149"/>
                  <a:gd name="T69" fmla="*/ 37 h 300"/>
                  <a:gd name="T70" fmla="*/ 66 w 149"/>
                  <a:gd name="T71" fmla="*/ 31 h 300"/>
                  <a:gd name="T72" fmla="*/ 53 w 149"/>
                  <a:gd name="T73" fmla="*/ 27 h 300"/>
                  <a:gd name="T74" fmla="*/ 40 w 149"/>
                  <a:gd name="T75" fmla="*/ 24 h 300"/>
                  <a:gd name="T76" fmla="*/ 28 w 149"/>
                  <a:gd name="T77" fmla="*/ 21 h 300"/>
                  <a:gd name="T78" fmla="*/ 14 w 149"/>
                  <a:gd name="T79" fmla="*/ 20 h 300"/>
                  <a:gd name="T80" fmla="*/ 0 w 149"/>
                  <a:gd name="T81" fmla="*/ 19 h 300"/>
                  <a:gd name="T82" fmla="*/ 0 w 149"/>
                  <a:gd name="T83" fmla="*/ 4 h 300"/>
                  <a:gd name="T84" fmla="*/ 21 w 149"/>
                  <a:gd name="T85" fmla="*/ 3 h 300"/>
                  <a:gd name="T86" fmla="*/ 50 w 149"/>
                  <a:gd name="T87" fmla="*/ 10 h 300"/>
                  <a:gd name="T88" fmla="*/ 77 w 149"/>
                  <a:gd name="T89" fmla="*/ 23 h 300"/>
                  <a:gd name="T90" fmla="*/ 100 w 149"/>
                  <a:gd name="T91" fmla="*/ 40 h 300"/>
                  <a:gd name="T92" fmla="*/ 120 w 149"/>
                  <a:gd name="T93" fmla="*/ 61 h 300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49"/>
                  <a:gd name="T142" fmla="*/ 0 h 300"/>
                  <a:gd name="T143" fmla="*/ 149 w 149"/>
                  <a:gd name="T144" fmla="*/ 300 h 300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49" h="300">
                    <a:moveTo>
                      <a:pt x="131" y="78"/>
                    </a:moveTo>
                    <a:lnTo>
                      <a:pt x="140" y="97"/>
                    </a:lnTo>
                    <a:lnTo>
                      <a:pt x="146" y="116"/>
                    </a:lnTo>
                    <a:lnTo>
                      <a:pt x="149" y="137"/>
                    </a:lnTo>
                    <a:lnTo>
                      <a:pt x="149" y="159"/>
                    </a:lnTo>
                    <a:lnTo>
                      <a:pt x="147" y="179"/>
                    </a:lnTo>
                    <a:lnTo>
                      <a:pt x="142" y="200"/>
                    </a:lnTo>
                    <a:lnTo>
                      <a:pt x="134" y="218"/>
                    </a:lnTo>
                    <a:lnTo>
                      <a:pt x="123" y="235"/>
                    </a:lnTo>
                    <a:lnTo>
                      <a:pt x="117" y="243"/>
                    </a:lnTo>
                    <a:lnTo>
                      <a:pt x="112" y="249"/>
                    </a:lnTo>
                    <a:lnTo>
                      <a:pt x="106" y="256"/>
                    </a:lnTo>
                    <a:lnTo>
                      <a:pt x="99" y="262"/>
                    </a:lnTo>
                    <a:lnTo>
                      <a:pt x="93" y="267"/>
                    </a:lnTo>
                    <a:lnTo>
                      <a:pt x="85" y="273"/>
                    </a:lnTo>
                    <a:lnTo>
                      <a:pt x="78" y="277"/>
                    </a:lnTo>
                    <a:lnTo>
                      <a:pt x="70" y="281"/>
                    </a:lnTo>
                    <a:lnTo>
                      <a:pt x="63" y="286"/>
                    </a:lnTo>
                    <a:lnTo>
                      <a:pt x="55" y="289"/>
                    </a:lnTo>
                    <a:lnTo>
                      <a:pt x="47" y="292"/>
                    </a:lnTo>
                    <a:lnTo>
                      <a:pt x="38" y="294"/>
                    </a:lnTo>
                    <a:lnTo>
                      <a:pt x="30" y="296"/>
                    </a:lnTo>
                    <a:lnTo>
                      <a:pt x="21" y="297"/>
                    </a:lnTo>
                    <a:lnTo>
                      <a:pt x="13" y="298"/>
                    </a:lnTo>
                    <a:lnTo>
                      <a:pt x="3" y="300"/>
                    </a:lnTo>
                    <a:lnTo>
                      <a:pt x="5" y="295"/>
                    </a:lnTo>
                    <a:lnTo>
                      <a:pt x="6" y="292"/>
                    </a:lnTo>
                    <a:lnTo>
                      <a:pt x="8" y="289"/>
                    </a:lnTo>
                    <a:lnTo>
                      <a:pt x="10" y="286"/>
                    </a:lnTo>
                    <a:lnTo>
                      <a:pt x="13" y="282"/>
                    </a:lnTo>
                    <a:lnTo>
                      <a:pt x="16" y="280"/>
                    </a:lnTo>
                    <a:lnTo>
                      <a:pt x="19" y="278"/>
                    </a:lnTo>
                    <a:lnTo>
                      <a:pt x="23" y="277"/>
                    </a:lnTo>
                    <a:lnTo>
                      <a:pt x="23" y="273"/>
                    </a:lnTo>
                    <a:lnTo>
                      <a:pt x="24" y="270"/>
                    </a:lnTo>
                    <a:lnTo>
                      <a:pt x="25" y="265"/>
                    </a:lnTo>
                    <a:lnTo>
                      <a:pt x="25" y="261"/>
                    </a:lnTo>
                    <a:lnTo>
                      <a:pt x="26" y="258"/>
                    </a:lnTo>
                    <a:lnTo>
                      <a:pt x="29" y="254"/>
                    </a:lnTo>
                    <a:lnTo>
                      <a:pt x="31" y="250"/>
                    </a:lnTo>
                    <a:lnTo>
                      <a:pt x="33" y="248"/>
                    </a:lnTo>
                    <a:lnTo>
                      <a:pt x="37" y="247"/>
                    </a:lnTo>
                    <a:lnTo>
                      <a:pt x="41" y="247"/>
                    </a:lnTo>
                    <a:lnTo>
                      <a:pt x="46" y="247"/>
                    </a:lnTo>
                    <a:lnTo>
                      <a:pt x="50" y="246"/>
                    </a:lnTo>
                    <a:lnTo>
                      <a:pt x="54" y="246"/>
                    </a:lnTo>
                    <a:lnTo>
                      <a:pt x="58" y="246"/>
                    </a:lnTo>
                    <a:lnTo>
                      <a:pt x="63" y="246"/>
                    </a:lnTo>
                    <a:lnTo>
                      <a:pt x="67" y="246"/>
                    </a:lnTo>
                    <a:lnTo>
                      <a:pt x="71" y="245"/>
                    </a:lnTo>
                    <a:lnTo>
                      <a:pt x="75" y="245"/>
                    </a:lnTo>
                    <a:lnTo>
                      <a:pt x="79" y="244"/>
                    </a:lnTo>
                    <a:lnTo>
                      <a:pt x="83" y="244"/>
                    </a:lnTo>
                    <a:lnTo>
                      <a:pt x="87" y="243"/>
                    </a:lnTo>
                    <a:lnTo>
                      <a:pt x="91" y="242"/>
                    </a:lnTo>
                    <a:lnTo>
                      <a:pt x="95" y="241"/>
                    </a:lnTo>
                    <a:lnTo>
                      <a:pt x="99" y="240"/>
                    </a:lnTo>
                    <a:lnTo>
                      <a:pt x="102" y="234"/>
                    </a:lnTo>
                    <a:lnTo>
                      <a:pt x="102" y="229"/>
                    </a:lnTo>
                    <a:lnTo>
                      <a:pt x="102" y="224"/>
                    </a:lnTo>
                    <a:lnTo>
                      <a:pt x="100" y="218"/>
                    </a:lnTo>
                    <a:lnTo>
                      <a:pt x="99" y="215"/>
                    </a:lnTo>
                    <a:lnTo>
                      <a:pt x="99" y="213"/>
                    </a:lnTo>
                    <a:lnTo>
                      <a:pt x="99" y="211"/>
                    </a:lnTo>
                    <a:lnTo>
                      <a:pt x="99" y="208"/>
                    </a:lnTo>
                    <a:lnTo>
                      <a:pt x="100" y="206"/>
                    </a:lnTo>
                    <a:lnTo>
                      <a:pt x="101" y="203"/>
                    </a:lnTo>
                    <a:lnTo>
                      <a:pt x="102" y="200"/>
                    </a:lnTo>
                    <a:lnTo>
                      <a:pt x="103" y="198"/>
                    </a:lnTo>
                    <a:lnTo>
                      <a:pt x="101" y="197"/>
                    </a:lnTo>
                    <a:lnTo>
                      <a:pt x="100" y="197"/>
                    </a:lnTo>
                    <a:lnTo>
                      <a:pt x="98" y="196"/>
                    </a:lnTo>
                    <a:lnTo>
                      <a:pt x="98" y="194"/>
                    </a:lnTo>
                    <a:lnTo>
                      <a:pt x="99" y="193"/>
                    </a:lnTo>
                    <a:lnTo>
                      <a:pt x="100" y="193"/>
                    </a:lnTo>
                    <a:lnTo>
                      <a:pt x="102" y="192"/>
                    </a:lnTo>
                    <a:lnTo>
                      <a:pt x="103" y="191"/>
                    </a:lnTo>
                    <a:lnTo>
                      <a:pt x="101" y="186"/>
                    </a:lnTo>
                    <a:lnTo>
                      <a:pt x="100" y="182"/>
                    </a:lnTo>
                    <a:lnTo>
                      <a:pt x="99" y="177"/>
                    </a:lnTo>
                    <a:lnTo>
                      <a:pt x="97" y="172"/>
                    </a:lnTo>
                    <a:lnTo>
                      <a:pt x="100" y="170"/>
                    </a:lnTo>
                    <a:lnTo>
                      <a:pt x="103" y="169"/>
                    </a:lnTo>
                    <a:lnTo>
                      <a:pt x="107" y="168"/>
                    </a:lnTo>
                    <a:lnTo>
                      <a:pt x="109" y="166"/>
                    </a:lnTo>
                    <a:lnTo>
                      <a:pt x="112" y="164"/>
                    </a:lnTo>
                    <a:lnTo>
                      <a:pt x="114" y="162"/>
                    </a:lnTo>
                    <a:lnTo>
                      <a:pt x="115" y="160"/>
                    </a:lnTo>
                    <a:lnTo>
                      <a:pt x="115" y="155"/>
                    </a:lnTo>
                    <a:lnTo>
                      <a:pt x="85" y="119"/>
                    </a:lnTo>
                    <a:lnTo>
                      <a:pt x="93" y="114"/>
                    </a:lnTo>
                    <a:lnTo>
                      <a:pt x="91" y="105"/>
                    </a:lnTo>
                    <a:lnTo>
                      <a:pt x="87" y="96"/>
                    </a:lnTo>
                    <a:lnTo>
                      <a:pt x="84" y="86"/>
                    </a:lnTo>
                    <a:lnTo>
                      <a:pt x="81" y="77"/>
                    </a:lnTo>
                    <a:lnTo>
                      <a:pt x="76" y="69"/>
                    </a:lnTo>
                    <a:lnTo>
                      <a:pt x="71" y="60"/>
                    </a:lnTo>
                    <a:lnTo>
                      <a:pt x="66" y="52"/>
                    </a:lnTo>
                    <a:lnTo>
                      <a:pt x="61" y="44"/>
                    </a:lnTo>
                    <a:lnTo>
                      <a:pt x="62" y="43"/>
                    </a:lnTo>
                    <a:lnTo>
                      <a:pt x="63" y="41"/>
                    </a:lnTo>
                    <a:lnTo>
                      <a:pt x="63" y="40"/>
                    </a:lnTo>
                    <a:lnTo>
                      <a:pt x="65" y="39"/>
                    </a:lnTo>
                    <a:lnTo>
                      <a:pt x="66" y="38"/>
                    </a:lnTo>
                    <a:lnTo>
                      <a:pt x="67" y="37"/>
                    </a:lnTo>
                    <a:lnTo>
                      <a:pt x="69" y="35"/>
                    </a:lnTo>
                    <a:lnTo>
                      <a:pt x="70" y="34"/>
                    </a:lnTo>
                    <a:lnTo>
                      <a:pt x="66" y="31"/>
                    </a:lnTo>
                    <a:lnTo>
                      <a:pt x="62" y="30"/>
                    </a:lnTo>
                    <a:lnTo>
                      <a:pt x="57" y="28"/>
                    </a:lnTo>
                    <a:lnTo>
                      <a:pt x="53" y="27"/>
                    </a:lnTo>
                    <a:lnTo>
                      <a:pt x="49" y="26"/>
                    </a:lnTo>
                    <a:lnTo>
                      <a:pt x="45" y="25"/>
                    </a:lnTo>
                    <a:lnTo>
                      <a:pt x="40" y="24"/>
                    </a:lnTo>
                    <a:lnTo>
                      <a:pt x="36" y="23"/>
                    </a:lnTo>
                    <a:lnTo>
                      <a:pt x="32" y="22"/>
                    </a:lnTo>
                    <a:lnTo>
                      <a:pt x="28" y="21"/>
                    </a:lnTo>
                    <a:lnTo>
                      <a:pt x="23" y="21"/>
                    </a:lnTo>
                    <a:lnTo>
                      <a:pt x="18" y="20"/>
                    </a:lnTo>
                    <a:lnTo>
                      <a:pt x="14" y="20"/>
                    </a:lnTo>
                    <a:lnTo>
                      <a:pt x="9" y="19"/>
                    </a:lnTo>
                    <a:lnTo>
                      <a:pt x="4" y="19"/>
                    </a:lnTo>
                    <a:lnTo>
                      <a:pt x="0" y="19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11" y="1"/>
                    </a:lnTo>
                    <a:lnTo>
                      <a:pt x="21" y="3"/>
                    </a:lnTo>
                    <a:lnTo>
                      <a:pt x="31" y="5"/>
                    </a:lnTo>
                    <a:lnTo>
                      <a:pt x="40" y="7"/>
                    </a:lnTo>
                    <a:lnTo>
                      <a:pt x="50" y="10"/>
                    </a:lnTo>
                    <a:lnTo>
                      <a:pt x="58" y="14"/>
                    </a:lnTo>
                    <a:lnTo>
                      <a:pt x="68" y="18"/>
                    </a:lnTo>
                    <a:lnTo>
                      <a:pt x="77" y="23"/>
                    </a:lnTo>
                    <a:lnTo>
                      <a:pt x="85" y="28"/>
                    </a:lnTo>
                    <a:lnTo>
                      <a:pt x="93" y="34"/>
                    </a:lnTo>
                    <a:lnTo>
                      <a:pt x="100" y="40"/>
                    </a:lnTo>
                    <a:lnTo>
                      <a:pt x="108" y="46"/>
                    </a:lnTo>
                    <a:lnTo>
                      <a:pt x="114" y="54"/>
                    </a:lnTo>
                    <a:lnTo>
                      <a:pt x="120" y="61"/>
                    </a:lnTo>
                    <a:lnTo>
                      <a:pt x="126" y="70"/>
                    </a:lnTo>
                    <a:lnTo>
                      <a:pt x="131" y="7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96" name="Freeform 1076"/>
              <p:cNvSpPr>
                <a:spLocks/>
              </p:cNvSpPr>
              <p:nvPr/>
            </p:nvSpPr>
            <p:spPr bwMode="auto">
              <a:xfrm>
                <a:off x="2114" y="3137"/>
                <a:ext cx="21" cy="23"/>
              </a:xfrm>
              <a:custGeom>
                <a:avLst/>
                <a:gdLst>
                  <a:gd name="T0" fmla="*/ 20 w 21"/>
                  <a:gd name="T1" fmla="*/ 23 h 23"/>
                  <a:gd name="T2" fmla="*/ 12 w 21"/>
                  <a:gd name="T3" fmla="*/ 23 h 23"/>
                  <a:gd name="T4" fmla="*/ 13 w 21"/>
                  <a:gd name="T5" fmla="*/ 20 h 23"/>
                  <a:gd name="T6" fmla="*/ 13 w 21"/>
                  <a:gd name="T7" fmla="*/ 17 h 23"/>
                  <a:gd name="T8" fmla="*/ 12 w 21"/>
                  <a:gd name="T9" fmla="*/ 13 h 23"/>
                  <a:gd name="T10" fmla="*/ 11 w 21"/>
                  <a:gd name="T11" fmla="*/ 11 h 23"/>
                  <a:gd name="T12" fmla="*/ 9 w 21"/>
                  <a:gd name="T13" fmla="*/ 9 h 23"/>
                  <a:gd name="T14" fmla="*/ 8 w 21"/>
                  <a:gd name="T15" fmla="*/ 7 h 23"/>
                  <a:gd name="T16" fmla="*/ 4 w 21"/>
                  <a:gd name="T17" fmla="*/ 5 h 23"/>
                  <a:gd name="T18" fmla="*/ 2 w 21"/>
                  <a:gd name="T19" fmla="*/ 4 h 23"/>
                  <a:gd name="T20" fmla="*/ 0 w 21"/>
                  <a:gd name="T21" fmla="*/ 2 h 23"/>
                  <a:gd name="T22" fmla="*/ 2 w 21"/>
                  <a:gd name="T23" fmla="*/ 2 h 23"/>
                  <a:gd name="T24" fmla="*/ 4 w 21"/>
                  <a:gd name="T25" fmla="*/ 2 h 23"/>
                  <a:gd name="T26" fmla="*/ 8 w 21"/>
                  <a:gd name="T27" fmla="*/ 0 h 23"/>
                  <a:gd name="T28" fmla="*/ 10 w 21"/>
                  <a:gd name="T29" fmla="*/ 0 h 23"/>
                  <a:gd name="T30" fmla="*/ 13 w 21"/>
                  <a:gd name="T31" fmla="*/ 0 h 23"/>
                  <a:gd name="T32" fmla="*/ 16 w 21"/>
                  <a:gd name="T33" fmla="*/ 0 h 23"/>
                  <a:gd name="T34" fmla="*/ 19 w 21"/>
                  <a:gd name="T35" fmla="*/ 0 h 23"/>
                  <a:gd name="T36" fmla="*/ 21 w 21"/>
                  <a:gd name="T37" fmla="*/ 2 h 23"/>
                  <a:gd name="T38" fmla="*/ 20 w 21"/>
                  <a:gd name="T39" fmla="*/ 23 h 2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"/>
                  <a:gd name="T61" fmla="*/ 0 h 23"/>
                  <a:gd name="T62" fmla="*/ 21 w 21"/>
                  <a:gd name="T63" fmla="*/ 23 h 2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" h="23">
                    <a:moveTo>
                      <a:pt x="20" y="23"/>
                    </a:moveTo>
                    <a:lnTo>
                      <a:pt x="12" y="23"/>
                    </a:lnTo>
                    <a:lnTo>
                      <a:pt x="13" y="20"/>
                    </a:lnTo>
                    <a:lnTo>
                      <a:pt x="13" y="17"/>
                    </a:lnTo>
                    <a:lnTo>
                      <a:pt x="12" y="13"/>
                    </a:lnTo>
                    <a:lnTo>
                      <a:pt x="11" y="11"/>
                    </a:lnTo>
                    <a:lnTo>
                      <a:pt x="9" y="9"/>
                    </a:lnTo>
                    <a:lnTo>
                      <a:pt x="8" y="7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3" y="0"/>
                    </a:lnTo>
                    <a:lnTo>
                      <a:pt x="16" y="0"/>
                    </a:lnTo>
                    <a:lnTo>
                      <a:pt x="19" y="0"/>
                    </a:lnTo>
                    <a:lnTo>
                      <a:pt x="21" y="2"/>
                    </a:lnTo>
                    <a:lnTo>
                      <a:pt x="20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97" name="Freeform 1077"/>
              <p:cNvSpPr>
                <a:spLocks/>
              </p:cNvSpPr>
              <p:nvPr/>
            </p:nvSpPr>
            <p:spPr bwMode="auto">
              <a:xfrm>
                <a:off x="2018" y="3141"/>
                <a:ext cx="104" cy="270"/>
              </a:xfrm>
              <a:custGeom>
                <a:avLst/>
                <a:gdLst>
                  <a:gd name="T0" fmla="*/ 104 w 104"/>
                  <a:gd name="T1" fmla="*/ 19 h 270"/>
                  <a:gd name="T2" fmla="*/ 102 w 104"/>
                  <a:gd name="T3" fmla="*/ 33 h 270"/>
                  <a:gd name="T4" fmla="*/ 97 w 104"/>
                  <a:gd name="T5" fmla="*/ 45 h 270"/>
                  <a:gd name="T6" fmla="*/ 92 w 104"/>
                  <a:gd name="T7" fmla="*/ 48 h 270"/>
                  <a:gd name="T8" fmla="*/ 85 w 104"/>
                  <a:gd name="T9" fmla="*/ 52 h 270"/>
                  <a:gd name="T10" fmla="*/ 83 w 104"/>
                  <a:gd name="T11" fmla="*/ 57 h 270"/>
                  <a:gd name="T12" fmla="*/ 83 w 104"/>
                  <a:gd name="T13" fmla="*/ 66 h 270"/>
                  <a:gd name="T14" fmla="*/ 85 w 104"/>
                  <a:gd name="T15" fmla="*/ 71 h 270"/>
                  <a:gd name="T16" fmla="*/ 91 w 104"/>
                  <a:gd name="T17" fmla="*/ 68 h 270"/>
                  <a:gd name="T18" fmla="*/ 93 w 104"/>
                  <a:gd name="T19" fmla="*/ 62 h 270"/>
                  <a:gd name="T20" fmla="*/ 98 w 104"/>
                  <a:gd name="T21" fmla="*/ 60 h 270"/>
                  <a:gd name="T22" fmla="*/ 96 w 104"/>
                  <a:gd name="T23" fmla="*/ 80 h 270"/>
                  <a:gd name="T24" fmla="*/ 91 w 104"/>
                  <a:gd name="T25" fmla="*/ 91 h 270"/>
                  <a:gd name="T26" fmla="*/ 85 w 104"/>
                  <a:gd name="T27" fmla="*/ 101 h 270"/>
                  <a:gd name="T28" fmla="*/ 88 w 104"/>
                  <a:gd name="T29" fmla="*/ 127 h 270"/>
                  <a:gd name="T30" fmla="*/ 86 w 104"/>
                  <a:gd name="T31" fmla="*/ 120 h 270"/>
                  <a:gd name="T32" fmla="*/ 85 w 104"/>
                  <a:gd name="T33" fmla="*/ 114 h 270"/>
                  <a:gd name="T34" fmla="*/ 73 w 104"/>
                  <a:gd name="T35" fmla="*/ 103 h 270"/>
                  <a:gd name="T36" fmla="*/ 66 w 104"/>
                  <a:gd name="T37" fmla="*/ 107 h 270"/>
                  <a:gd name="T38" fmla="*/ 62 w 104"/>
                  <a:gd name="T39" fmla="*/ 112 h 270"/>
                  <a:gd name="T40" fmla="*/ 55 w 104"/>
                  <a:gd name="T41" fmla="*/ 107 h 270"/>
                  <a:gd name="T42" fmla="*/ 46 w 104"/>
                  <a:gd name="T43" fmla="*/ 105 h 270"/>
                  <a:gd name="T44" fmla="*/ 38 w 104"/>
                  <a:gd name="T45" fmla="*/ 109 h 270"/>
                  <a:gd name="T46" fmla="*/ 39 w 104"/>
                  <a:gd name="T47" fmla="*/ 121 h 270"/>
                  <a:gd name="T48" fmla="*/ 38 w 104"/>
                  <a:gd name="T49" fmla="*/ 127 h 270"/>
                  <a:gd name="T50" fmla="*/ 32 w 104"/>
                  <a:gd name="T51" fmla="*/ 134 h 270"/>
                  <a:gd name="T52" fmla="*/ 26 w 104"/>
                  <a:gd name="T53" fmla="*/ 143 h 270"/>
                  <a:gd name="T54" fmla="*/ 34 w 104"/>
                  <a:gd name="T55" fmla="*/ 166 h 270"/>
                  <a:gd name="T56" fmla="*/ 47 w 104"/>
                  <a:gd name="T57" fmla="*/ 186 h 270"/>
                  <a:gd name="T58" fmla="*/ 65 w 104"/>
                  <a:gd name="T59" fmla="*/ 194 h 270"/>
                  <a:gd name="T60" fmla="*/ 74 w 104"/>
                  <a:gd name="T61" fmla="*/ 203 h 270"/>
                  <a:gd name="T62" fmla="*/ 77 w 104"/>
                  <a:gd name="T63" fmla="*/ 213 h 270"/>
                  <a:gd name="T64" fmla="*/ 63 w 104"/>
                  <a:gd name="T65" fmla="*/ 226 h 270"/>
                  <a:gd name="T66" fmla="*/ 61 w 104"/>
                  <a:gd name="T67" fmla="*/ 248 h 270"/>
                  <a:gd name="T68" fmla="*/ 60 w 104"/>
                  <a:gd name="T69" fmla="*/ 270 h 270"/>
                  <a:gd name="T70" fmla="*/ 47 w 104"/>
                  <a:gd name="T71" fmla="*/ 261 h 270"/>
                  <a:gd name="T72" fmla="*/ 37 w 104"/>
                  <a:gd name="T73" fmla="*/ 248 h 270"/>
                  <a:gd name="T74" fmla="*/ 30 w 104"/>
                  <a:gd name="T75" fmla="*/ 234 h 270"/>
                  <a:gd name="T76" fmla="*/ 24 w 104"/>
                  <a:gd name="T77" fmla="*/ 221 h 270"/>
                  <a:gd name="T78" fmla="*/ 14 w 104"/>
                  <a:gd name="T79" fmla="*/ 213 h 270"/>
                  <a:gd name="T80" fmla="*/ 4 w 104"/>
                  <a:gd name="T81" fmla="*/ 170 h 270"/>
                  <a:gd name="T82" fmla="*/ 13 w 104"/>
                  <a:gd name="T83" fmla="*/ 162 h 270"/>
                  <a:gd name="T84" fmla="*/ 21 w 104"/>
                  <a:gd name="T85" fmla="*/ 151 h 270"/>
                  <a:gd name="T86" fmla="*/ 24 w 104"/>
                  <a:gd name="T87" fmla="*/ 112 h 270"/>
                  <a:gd name="T88" fmla="*/ 19 w 104"/>
                  <a:gd name="T89" fmla="*/ 111 h 270"/>
                  <a:gd name="T90" fmla="*/ 14 w 104"/>
                  <a:gd name="T91" fmla="*/ 110 h 270"/>
                  <a:gd name="T92" fmla="*/ 13 w 104"/>
                  <a:gd name="T93" fmla="*/ 60 h 270"/>
                  <a:gd name="T94" fmla="*/ 7 w 104"/>
                  <a:gd name="T95" fmla="*/ 56 h 270"/>
                  <a:gd name="T96" fmla="*/ 4 w 104"/>
                  <a:gd name="T97" fmla="*/ 53 h 270"/>
                  <a:gd name="T98" fmla="*/ 6 w 104"/>
                  <a:gd name="T99" fmla="*/ 45 h 270"/>
                  <a:gd name="T100" fmla="*/ 20 w 104"/>
                  <a:gd name="T101" fmla="*/ 32 h 270"/>
                  <a:gd name="T102" fmla="*/ 35 w 104"/>
                  <a:gd name="T103" fmla="*/ 21 h 270"/>
                  <a:gd name="T104" fmla="*/ 51 w 104"/>
                  <a:gd name="T105" fmla="*/ 13 h 270"/>
                  <a:gd name="T106" fmla="*/ 69 w 104"/>
                  <a:gd name="T107" fmla="*/ 5 h 270"/>
                  <a:gd name="T108" fmla="*/ 86 w 104"/>
                  <a:gd name="T109" fmla="*/ 0 h 270"/>
                  <a:gd name="T110" fmla="*/ 94 w 104"/>
                  <a:gd name="T111" fmla="*/ 2 h 270"/>
                  <a:gd name="T112" fmla="*/ 99 w 104"/>
                  <a:gd name="T113" fmla="*/ 7 h 27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104"/>
                  <a:gd name="T172" fmla="*/ 0 h 270"/>
                  <a:gd name="T173" fmla="*/ 104 w 104"/>
                  <a:gd name="T174" fmla="*/ 270 h 270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104" h="270">
                    <a:moveTo>
                      <a:pt x="104" y="10"/>
                    </a:moveTo>
                    <a:lnTo>
                      <a:pt x="104" y="15"/>
                    </a:lnTo>
                    <a:lnTo>
                      <a:pt x="104" y="19"/>
                    </a:lnTo>
                    <a:lnTo>
                      <a:pt x="104" y="24"/>
                    </a:lnTo>
                    <a:lnTo>
                      <a:pt x="102" y="29"/>
                    </a:lnTo>
                    <a:lnTo>
                      <a:pt x="102" y="33"/>
                    </a:lnTo>
                    <a:lnTo>
                      <a:pt x="101" y="37"/>
                    </a:lnTo>
                    <a:lnTo>
                      <a:pt x="99" y="40"/>
                    </a:lnTo>
                    <a:lnTo>
                      <a:pt x="97" y="45"/>
                    </a:lnTo>
                    <a:lnTo>
                      <a:pt x="95" y="46"/>
                    </a:lnTo>
                    <a:lnTo>
                      <a:pt x="94" y="47"/>
                    </a:lnTo>
                    <a:lnTo>
                      <a:pt x="92" y="48"/>
                    </a:lnTo>
                    <a:lnTo>
                      <a:pt x="90" y="49"/>
                    </a:lnTo>
                    <a:lnTo>
                      <a:pt x="88" y="50"/>
                    </a:lnTo>
                    <a:lnTo>
                      <a:pt x="85" y="52"/>
                    </a:lnTo>
                    <a:lnTo>
                      <a:pt x="84" y="53"/>
                    </a:lnTo>
                    <a:lnTo>
                      <a:pt x="82" y="55"/>
                    </a:lnTo>
                    <a:lnTo>
                      <a:pt x="83" y="57"/>
                    </a:lnTo>
                    <a:lnTo>
                      <a:pt x="83" y="60"/>
                    </a:lnTo>
                    <a:lnTo>
                      <a:pt x="83" y="63"/>
                    </a:lnTo>
                    <a:lnTo>
                      <a:pt x="83" y="66"/>
                    </a:lnTo>
                    <a:lnTo>
                      <a:pt x="83" y="68"/>
                    </a:lnTo>
                    <a:lnTo>
                      <a:pt x="84" y="70"/>
                    </a:lnTo>
                    <a:lnTo>
                      <a:pt x="85" y="71"/>
                    </a:lnTo>
                    <a:lnTo>
                      <a:pt x="89" y="72"/>
                    </a:lnTo>
                    <a:lnTo>
                      <a:pt x="90" y="70"/>
                    </a:lnTo>
                    <a:lnTo>
                      <a:pt x="91" y="68"/>
                    </a:lnTo>
                    <a:lnTo>
                      <a:pt x="91" y="66"/>
                    </a:lnTo>
                    <a:lnTo>
                      <a:pt x="92" y="64"/>
                    </a:lnTo>
                    <a:lnTo>
                      <a:pt x="93" y="62"/>
                    </a:lnTo>
                    <a:lnTo>
                      <a:pt x="95" y="60"/>
                    </a:lnTo>
                    <a:lnTo>
                      <a:pt x="96" y="60"/>
                    </a:lnTo>
                    <a:lnTo>
                      <a:pt x="98" y="60"/>
                    </a:lnTo>
                    <a:lnTo>
                      <a:pt x="102" y="73"/>
                    </a:lnTo>
                    <a:lnTo>
                      <a:pt x="99" y="77"/>
                    </a:lnTo>
                    <a:lnTo>
                      <a:pt x="96" y="80"/>
                    </a:lnTo>
                    <a:lnTo>
                      <a:pt x="94" y="83"/>
                    </a:lnTo>
                    <a:lnTo>
                      <a:pt x="92" y="87"/>
                    </a:lnTo>
                    <a:lnTo>
                      <a:pt x="91" y="91"/>
                    </a:lnTo>
                    <a:lnTo>
                      <a:pt x="89" y="95"/>
                    </a:lnTo>
                    <a:lnTo>
                      <a:pt x="88" y="98"/>
                    </a:lnTo>
                    <a:lnTo>
                      <a:pt x="85" y="101"/>
                    </a:lnTo>
                    <a:lnTo>
                      <a:pt x="92" y="126"/>
                    </a:lnTo>
                    <a:lnTo>
                      <a:pt x="90" y="127"/>
                    </a:lnTo>
                    <a:lnTo>
                      <a:pt x="88" y="127"/>
                    </a:lnTo>
                    <a:lnTo>
                      <a:pt x="86" y="126"/>
                    </a:lnTo>
                    <a:lnTo>
                      <a:pt x="86" y="124"/>
                    </a:lnTo>
                    <a:lnTo>
                      <a:pt x="86" y="120"/>
                    </a:lnTo>
                    <a:lnTo>
                      <a:pt x="86" y="118"/>
                    </a:lnTo>
                    <a:lnTo>
                      <a:pt x="86" y="115"/>
                    </a:lnTo>
                    <a:lnTo>
                      <a:pt x="85" y="114"/>
                    </a:lnTo>
                    <a:lnTo>
                      <a:pt x="78" y="101"/>
                    </a:lnTo>
                    <a:lnTo>
                      <a:pt x="76" y="102"/>
                    </a:lnTo>
                    <a:lnTo>
                      <a:pt x="73" y="103"/>
                    </a:lnTo>
                    <a:lnTo>
                      <a:pt x="70" y="103"/>
                    </a:lnTo>
                    <a:lnTo>
                      <a:pt x="68" y="104"/>
                    </a:lnTo>
                    <a:lnTo>
                      <a:pt x="66" y="107"/>
                    </a:lnTo>
                    <a:lnTo>
                      <a:pt x="64" y="108"/>
                    </a:lnTo>
                    <a:lnTo>
                      <a:pt x="63" y="110"/>
                    </a:lnTo>
                    <a:lnTo>
                      <a:pt x="62" y="112"/>
                    </a:lnTo>
                    <a:lnTo>
                      <a:pt x="61" y="109"/>
                    </a:lnTo>
                    <a:lnTo>
                      <a:pt x="59" y="108"/>
                    </a:lnTo>
                    <a:lnTo>
                      <a:pt x="55" y="107"/>
                    </a:lnTo>
                    <a:lnTo>
                      <a:pt x="52" y="107"/>
                    </a:lnTo>
                    <a:lnTo>
                      <a:pt x="49" y="107"/>
                    </a:lnTo>
                    <a:lnTo>
                      <a:pt x="46" y="105"/>
                    </a:lnTo>
                    <a:lnTo>
                      <a:pt x="43" y="105"/>
                    </a:lnTo>
                    <a:lnTo>
                      <a:pt x="41" y="105"/>
                    </a:lnTo>
                    <a:lnTo>
                      <a:pt x="38" y="109"/>
                    </a:lnTo>
                    <a:lnTo>
                      <a:pt x="38" y="113"/>
                    </a:lnTo>
                    <a:lnTo>
                      <a:pt x="38" y="117"/>
                    </a:lnTo>
                    <a:lnTo>
                      <a:pt x="39" y="121"/>
                    </a:lnTo>
                    <a:lnTo>
                      <a:pt x="46" y="126"/>
                    </a:lnTo>
                    <a:lnTo>
                      <a:pt x="42" y="126"/>
                    </a:lnTo>
                    <a:lnTo>
                      <a:pt x="38" y="127"/>
                    </a:lnTo>
                    <a:lnTo>
                      <a:pt x="36" y="129"/>
                    </a:lnTo>
                    <a:lnTo>
                      <a:pt x="34" y="131"/>
                    </a:lnTo>
                    <a:lnTo>
                      <a:pt x="32" y="134"/>
                    </a:lnTo>
                    <a:lnTo>
                      <a:pt x="30" y="136"/>
                    </a:lnTo>
                    <a:lnTo>
                      <a:pt x="28" y="141"/>
                    </a:lnTo>
                    <a:lnTo>
                      <a:pt x="26" y="143"/>
                    </a:lnTo>
                    <a:lnTo>
                      <a:pt x="29" y="150"/>
                    </a:lnTo>
                    <a:lnTo>
                      <a:pt x="32" y="158"/>
                    </a:lnTo>
                    <a:lnTo>
                      <a:pt x="34" y="166"/>
                    </a:lnTo>
                    <a:lnTo>
                      <a:pt x="37" y="174"/>
                    </a:lnTo>
                    <a:lnTo>
                      <a:pt x="42" y="180"/>
                    </a:lnTo>
                    <a:lnTo>
                      <a:pt x="47" y="186"/>
                    </a:lnTo>
                    <a:lnTo>
                      <a:pt x="54" y="189"/>
                    </a:lnTo>
                    <a:lnTo>
                      <a:pt x="64" y="191"/>
                    </a:lnTo>
                    <a:lnTo>
                      <a:pt x="65" y="194"/>
                    </a:lnTo>
                    <a:lnTo>
                      <a:pt x="68" y="197"/>
                    </a:lnTo>
                    <a:lnTo>
                      <a:pt x="71" y="199"/>
                    </a:lnTo>
                    <a:lnTo>
                      <a:pt x="74" y="203"/>
                    </a:lnTo>
                    <a:lnTo>
                      <a:pt x="76" y="206"/>
                    </a:lnTo>
                    <a:lnTo>
                      <a:pt x="77" y="210"/>
                    </a:lnTo>
                    <a:lnTo>
                      <a:pt x="77" y="213"/>
                    </a:lnTo>
                    <a:lnTo>
                      <a:pt x="74" y="217"/>
                    </a:lnTo>
                    <a:lnTo>
                      <a:pt x="67" y="221"/>
                    </a:lnTo>
                    <a:lnTo>
                      <a:pt x="63" y="226"/>
                    </a:lnTo>
                    <a:lnTo>
                      <a:pt x="61" y="233"/>
                    </a:lnTo>
                    <a:lnTo>
                      <a:pt x="61" y="240"/>
                    </a:lnTo>
                    <a:lnTo>
                      <a:pt x="61" y="248"/>
                    </a:lnTo>
                    <a:lnTo>
                      <a:pt x="61" y="255"/>
                    </a:lnTo>
                    <a:lnTo>
                      <a:pt x="61" y="262"/>
                    </a:lnTo>
                    <a:lnTo>
                      <a:pt x="60" y="270"/>
                    </a:lnTo>
                    <a:lnTo>
                      <a:pt x="55" y="268"/>
                    </a:lnTo>
                    <a:lnTo>
                      <a:pt x="51" y="265"/>
                    </a:lnTo>
                    <a:lnTo>
                      <a:pt x="47" y="261"/>
                    </a:lnTo>
                    <a:lnTo>
                      <a:pt x="44" y="257"/>
                    </a:lnTo>
                    <a:lnTo>
                      <a:pt x="41" y="252"/>
                    </a:lnTo>
                    <a:lnTo>
                      <a:pt x="37" y="248"/>
                    </a:lnTo>
                    <a:lnTo>
                      <a:pt x="34" y="242"/>
                    </a:lnTo>
                    <a:lnTo>
                      <a:pt x="32" y="238"/>
                    </a:lnTo>
                    <a:lnTo>
                      <a:pt x="30" y="234"/>
                    </a:lnTo>
                    <a:lnTo>
                      <a:pt x="29" y="229"/>
                    </a:lnTo>
                    <a:lnTo>
                      <a:pt x="27" y="225"/>
                    </a:lnTo>
                    <a:lnTo>
                      <a:pt x="24" y="221"/>
                    </a:lnTo>
                    <a:lnTo>
                      <a:pt x="21" y="218"/>
                    </a:lnTo>
                    <a:lnTo>
                      <a:pt x="18" y="215"/>
                    </a:lnTo>
                    <a:lnTo>
                      <a:pt x="14" y="213"/>
                    </a:lnTo>
                    <a:lnTo>
                      <a:pt x="10" y="212"/>
                    </a:lnTo>
                    <a:lnTo>
                      <a:pt x="0" y="172"/>
                    </a:lnTo>
                    <a:lnTo>
                      <a:pt x="4" y="170"/>
                    </a:lnTo>
                    <a:lnTo>
                      <a:pt x="7" y="167"/>
                    </a:lnTo>
                    <a:lnTo>
                      <a:pt x="11" y="165"/>
                    </a:lnTo>
                    <a:lnTo>
                      <a:pt x="13" y="162"/>
                    </a:lnTo>
                    <a:lnTo>
                      <a:pt x="16" y="159"/>
                    </a:lnTo>
                    <a:lnTo>
                      <a:pt x="18" y="155"/>
                    </a:lnTo>
                    <a:lnTo>
                      <a:pt x="21" y="151"/>
                    </a:lnTo>
                    <a:lnTo>
                      <a:pt x="23" y="148"/>
                    </a:lnTo>
                    <a:lnTo>
                      <a:pt x="27" y="113"/>
                    </a:lnTo>
                    <a:lnTo>
                      <a:pt x="24" y="112"/>
                    </a:lnTo>
                    <a:lnTo>
                      <a:pt x="23" y="112"/>
                    </a:lnTo>
                    <a:lnTo>
                      <a:pt x="21" y="111"/>
                    </a:lnTo>
                    <a:lnTo>
                      <a:pt x="19" y="111"/>
                    </a:lnTo>
                    <a:lnTo>
                      <a:pt x="17" y="111"/>
                    </a:lnTo>
                    <a:lnTo>
                      <a:pt x="16" y="110"/>
                    </a:lnTo>
                    <a:lnTo>
                      <a:pt x="14" y="110"/>
                    </a:lnTo>
                    <a:lnTo>
                      <a:pt x="12" y="110"/>
                    </a:lnTo>
                    <a:lnTo>
                      <a:pt x="4" y="81"/>
                    </a:lnTo>
                    <a:lnTo>
                      <a:pt x="13" y="60"/>
                    </a:lnTo>
                    <a:lnTo>
                      <a:pt x="11" y="58"/>
                    </a:lnTo>
                    <a:lnTo>
                      <a:pt x="10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5" y="54"/>
                    </a:lnTo>
                    <a:lnTo>
                      <a:pt x="4" y="53"/>
                    </a:lnTo>
                    <a:lnTo>
                      <a:pt x="3" y="52"/>
                    </a:lnTo>
                    <a:lnTo>
                      <a:pt x="2" y="50"/>
                    </a:lnTo>
                    <a:lnTo>
                      <a:pt x="6" y="45"/>
                    </a:lnTo>
                    <a:lnTo>
                      <a:pt x="11" y="40"/>
                    </a:lnTo>
                    <a:lnTo>
                      <a:pt x="15" y="36"/>
                    </a:lnTo>
                    <a:lnTo>
                      <a:pt x="20" y="32"/>
                    </a:lnTo>
                    <a:lnTo>
                      <a:pt x="24" y="29"/>
                    </a:lnTo>
                    <a:lnTo>
                      <a:pt x="30" y="24"/>
                    </a:lnTo>
                    <a:lnTo>
                      <a:pt x="35" y="21"/>
                    </a:lnTo>
                    <a:lnTo>
                      <a:pt x="41" y="18"/>
                    </a:lnTo>
                    <a:lnTo>
                      <a:pt x="46" y="15"/>
                    </a:lnTo>
                    <a:lnTo>
                      <a:pt x="51" y="13"/>
                    </a:lnTo>
                    <a:lnTo>
                      <a:pt x="58" y="9"/>
                    </a:lnTo>
                    <a:lnTo>
                      <a:pt x="63" y="7"/>
                    </a:lnTo>
                    <a:lnTo>
                      <a:pt x="69" y="5"/>
                    </a:lnTo>
                    <a:lnTo>
                      <a:pt x="75" y="3"/>
                    </a:lnTo>
                    <a:lnTo>
                      <a:pt x="81" y="1"/>
                    </a:lnTo>
                    <a:lnTo>
                      <a:pt x="86" y="0"/>
                    </a:lnTo>
                    <a:lnTo>
                      <a:pt x="90" y="0"/>
                    </a:lnTo>
                    <a:lnTo>
                      <a:pt x="92" y="1"/>
                    </a:lnTo>
                    <a:lnTo>
                      <a:pt x="94" y="2"/>
                    </a:lnTo>
                    <a:lnTo>
                      <a:pt x="96" y="4"/>
                    </a:lnTo>
                    <a:lnTo>
                      <a:pt x="97" y="5"/>
                    </a:lnTo>
                    <a:lnTo>
                      <a:pt x="99" y="7"/>
                    </a:lnTo>
                    <a:lnTo>
                      <a:pt x="101" y="8"/>
                    </a:lnTo>
                    <a:lnTo>
                      <a:pt x="104" y="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98" name="Freeform 1078"/>
              <p:cNvSpPr>
                <a:spLocks/>
              </p:cNvSpPr>
              <p:nvPr/>
            </p:nvSpPr>
            <p:spPr bwMode="auto">
              <a:xfrm>
                <a:off x="2107" y="3164"/>
                <a:ext cx="26" cy="38"/>
              </a:xfrm>
              <a:custGeom>
                <a:avLst/>
                <a:gdLst>
                  <a:gd name="T0" fmla="*/ 26 w 26"/>
                  <a:gd name="T1" fmla="*/ 38 h 38"/>
                  <a:gd name="T2" fmla="*/ 24 w 26"/>
                  <a:gd name="T3" fmla="*/ 37 h 38"/>
                  <a:gd name="T4" fmla="*/ 23 w 26"/>
                  <a:gd name="T5" fmla="*/ 37 h 38"/>
                  <a:gd name="T6" fmla="*/ 21 w 26"/>
                  <a:gd name="T7" fmla="*/ 38 h 38"/>
                  <a:gd name="T8" fmla="*/ 19 w 26"/>
                  <a:gd name="T9" fmla="*/ 38 h 38"/>
                  <a:gd name="T10" fmla="*/ 17 w 26"/>
                  <a:gd name="T11" fmla="*/ 38 h 38"/>
                  <a:gd name="T12" fmla="*/ 16 w 26"/>
                  <a:gd name="T13" fmla="*/ 37 h 38"/>
                  <a:gd name="T14" fmla="*/ 15 w 26"/>
                  <a:gd name="T15" fmla="*/ 35 h 38"/>
                  <a:gd name="T16" fmla="*/ 15 w 26"/>
                  <a:gd name="T17" fmla="*/ 34 h 38"/>
                  <a:gd name="T18" fmla="*/ 13 w 26"/>
                  <a:gd name="T19" fmla="*/ 32 h 38"/>
                  <a:gd name="T20" fmla="*/ 12 w 26"/>
                  <a:gd name="T21" fmla="*/ 31 h 38"/>
                  <a:gd name="T22" fmla="*/ 10 w 26"/>
                  <a:gd name="T23" fmla="*/ 30 h 38"/>
                  <a:gd name="T24" fmla="*/ 9 w 26"/>
                  <a:gd name="T25" fmla="*/ 31 h 38"/>
                  <a:gd name="T26" fmla="*/ 7 w 26"/>
                  <a:gd name="T27" fmla="*/ 31 h 38"/>
                  <a:gd name="T28" fmla="*/ 6 w 26"/>
                  <a:gd name="T29" fmla="*/ 32 h 38"/>
                  <a:gd name="T30" fmla="*/ 4 w 26"/>
                  <a:gd name="T31" fmla="*/ 32 h 38"/>
                  <a:gd name="T32" fmla="*/ 2 w 26"/>
                  <a:gd name="T33" fmla="*/ 32 h 38"/>
                  <a:gd name="T34" fmla="*/ 0 w 26"/>
                  <a:gd name="T35" fmla="*/ 35 h 38"/>
                  <a:gd name="T36" fmla="*/ 1 w 26"/>
                  <a:gd name="T37" fmla="*/ 33 h 38"/>
                  <a:gd name="T38" fmla="*/ 3 w 26"/>
                  <a:gd name="T39" fmla="*/ 30 h 38"/>
                  <a:gd name="T40" fmla="*/ 6 w 26"/>
                  <a:gd name="T41" fmla="*/ 27 h 38"/>
                  <a:gd name="T42" fmla="*/ 9 w 26"/>
                  <a:gd name="T43" fmla="*/ 25 h 38"/>
                  <a:gd name="T44" fmla="*/ 12 w 26"/>
                  <a:gd name="T45" fmla="*/ 22 h 38"/>
                  <a:gd name="T46" fmla="*/ 16 w 26"/>
                  <a:gd name="T47" fmla="*/ 18 h 38"/>
                  <a:gd name="T48" fmla="*/ 18 w 26"/>
                  <a:gd name="T49" fmla="*/ 14 h 38"/>
                  <a:gd name="T50" fmla="*/ 19 w 26"/>
                  <a:gd name="T51" fmla="*/ 10 h 38"/>
                  <a:gd name="T52" fmla="*/ 19 w 26"/>
                  <a:gd name="T53" fmla="*/ 7 h 38"/>
                  <a:gd name="T54" fmla="*/ 19 w 26"/>
                  <a:gd name="T55" fmla="*/ 4 h 38"/>
                  <a:gd name="T56" fmla="*/ 19 w 26"/>
                  <a:gd name="T57" fmla="*/ 1 h 38"/>
                  <a:gd name="T58" fmla="*/ 21 w 26"/>
                  <a:gd name="T59" fmla="*/ 0 h 38"/>
                  <a:gd name="T60" fmla="*/ 26 w 26"/>
                  <a:gd name="T61" fmla="*/ 1 h 38"/>
                  <a:gd name="T62" fmla="*/ 26 w 26"/>
                  <a:gd name="T63" fmla="*/ 38 h 3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6"/>
                  <a:gd name="T97" fmla="*/ 0 h 38"/>
                  <a:gd name="T98" fmla="*/ 26 w 26"/>
                  <a:gd name="T99" fmla="*/ 38 h 38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6" h="38">
                    <a:moveTo>
                      <a:pt x="26" y="38"/>
                    </a:moveTo>
                    <a:lnTo>
                      <a:pt x="24" y="37"/>
                    </a:lnTo>
                    <a:lnTo>
                      <a:pt x="23" y="37"/>
                    </a:lnTo>
                    <a:lnTo>
                      <a:pt x="21" y="38"/>
                    </a:lnTo>
                    <a:lnTo>
                      <a:pt x="19" y="38"/>
                    </a:lnTo>
                    <a:lnTo>
                      <a:pt x="17" y="38"/>
                    </a:lnTo>
                    <a:lnTo>
                      <a:pt x="16" y="37"/>
                    </a:lnTo>
                    <a:lnTo>
                      <a:pt x="15" y="35"/>
                    </a:lnTo>
                    <a:lnTo>
                      <a:pt x="15" y="34"/>
                    </a:lnTo>
                    <a:lnTo>
                      <a:pt x="13" y="32"/>
                    </a:lnTo>
                    <a:lnTo>
                      <a:pt x="12" y="31"/>
                    </a:lnTo>
                    <a:lnTo>
                      <a:pt x="10" y="30"/>
                    </a:lnTo>
                    <a:lnTo>
                      <a:pt x="9" y="31"/>
                    </a:lnTo>
                    <a:lnTo>
                      <a:pt x="7" y="31"/>
                    </a:lnTo>
                    <a:lnTo>
                      <a:pt x="6" y="32"/>
                    </a:lnTo>
                    <a:lnTo>
                      <a:pt x="4" y="32"/>
                    </a:lnTo>
                    <a:lnTo>
                      <a:pt x="2" y="32"/>
                    </a:lnTo>
                    <a:lnTo>
                      <a:pt x="0" y="35"/>
                    </a:lnTo>
                    <a:lnTo>
                      <a:pt x="1" y="33"/>
                    </a:lnTo>
                    <a:lnTo>
                      <a:pt x="3" y="30"/>
                    </a:lnTo>
                    <a:lnTo>
                      <a:pt x="6" y="27"/>
                    </a:lnTo>
                    <a:lnTo>
                      <a:pt x="9" y="25"/>
                    </a:lnTo>
                    <a:lnTo>
                      <a:pt x="12" y="22"/>
                    </a:lnTo>
                    <a:lnTo>
                      <a:pt x="16" y="18"/>
                    </a:lnTo>
                    <a:lnTo>
                      <a:pt x="18" y="14"/>
                    </a:lnTo>
                    <a:lnTo>
                      <a:pt x="19" y="10"/>
                    </a:lnTo>
                    <a:lnTo>
                      <a:pt x="19" y="7"/>
                    </a:lnTo>
                    <a:lnTo>
                      <a:pt x="19" y="4"/>
                    </a:lnTo>
                    <a:lnTo>
                      <a:pt x="19" y="1"/>
                    </a:lnTo>
                    <a:lnTo>
                      <a:pt x="21" y="0"/>
                    </a:lnTo>
                    <a:lnTo>
                      <a:pt x="26" y="1"/>
                    </a:lnTo>
                    <a:lnTo>
                      <a:pt x="26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99" name="Freeform 1079"/>
              <p:cNvSpPr>
                <a:spLocks/>
              </p:cNvSpPr>
              <p:nvPr/>
            </p:nvSpPr>
            <p:spPr bwMode="auto">
              <a:xfrm>
                <a:off x="2140" y="3173"/>
                <a:ext cx="37" cy="68"/>
              </a:xfrm>
              <a:custGeom>
                <a:avLst/>
                <a:gdLst>
                  <a:gd name="T0" fmla="*/ 11 w 37"/>
                  <a:gd name="T1" fmla="*/ 5 h 68"/>
                  <a:gd name="T2" fmla="*/ 16 w 37"/>
                  <a:gd name="T3" fmla="*/ 3 h 68"/>
                  <a:gd name="T4" fmla="*/ 20 w 37"/>
                  <a:gd name="T5" fmla="*/ 3 h 68"/>
                  <a:gd name="T6" fmla="*/ 22 w 37"/>
                  <a:gd name="T7" fmla="*/ 5 h 68"/>
                  <a:gd name="T8" fmla="*/ 25 w 37"/>
                  <a:gd name="T9" fmla="*/ 7 h 68"/>
                  <a:gd name="T10" fmla="*/ 28 w 37"/>
                  <a:gd name="T11" fmla="*/ 10 h 68"/>
                  <a:gd name="T12" fmla="*/ 30 w 37"/>
                  <a:gd name="T13" fmla="*/ 13 h 68"/>
                  <a:gd name="T14" fmla="*/ 33 w 37"/>
                  <a:gd name="T15" fmla="*/ 15 h 68"/>
                  <a:gd name="T16" fmla="*/ 37 w 37"/>
                  <a:gd name="T17" fmla="*/ 15 h 68"/>
                  <a:gd name="T18" fmla="*/ 37 w 37"/>
                  <a:gd name="T19" fmla="*/ 20 h 68"/>
                  <a:gd name="T20" fmla="*/ 35 w 37"/>
                  <a:gd name="T21" fmla="*/ 23 h 68"/>
                  <a:gd name="T22" fmla="*/ 32 w 37"/>
                  <a:gd name="T23" fmla="*/ 25 h 68"/>
                  <a:gd name="T24" fmla="*/ 28 w 37"/>
                  <a:gd name="T25" fmla="*/ 28 h 68"/>
                  <a:gd name="T26" fmla="*/ 23 w 37"/>
                  <a:gd name="T27" fmla="*/ 29 h 68"/>
                  <a:gd name="T28" fmla="*/ 19 w 37"/>
                  <a:gd name="T29" fmla="*/ 31 h 68"/>
                  <a:gd name="T30" fmla="*/ 16 w 37"/>
                  <a:gd name="T31" fmla="*/ 34 h 68"/>
                  <a:gd name="T32" fmla="*/ 13 w 37"/>
                  <a:gd name="T33" fmla="*/ 38 h 68"/>
                  <a:gd name="T34" fmla="*/ 11 w 37"/>
                  <a:gd name="T35" fmla="*/ 42 h 68"/>
                  <a:gd name="T36" fmla="*/ 11 w 37"/>
                  <a:gd name="T37" fmla="*/ 46 h 68"/>
                  <a:gd name="T38" fmla="*/ 10 w 37"/>
                  <a:gd name="T39" fmla="*/ 50 h 68"/>
                  <a:gd name="T40" fmla="*/ 9 w 37"/>
                  <a:gd name="T41" fmla="*/ 54 h 68"/>
                  <a:gd name="T42" fmla="*/ 8 w 37"/>
                  <a:gd name="T43" fmla="*/ 59 h 68"/>
                  <a:gd name="T44" fmla="*/ 7 w 37"/>
                  <a:gd name="T45" fmla="*/ 63 h 68"/>
                  <a:gd name="T46" fmla="*/ 4 w 37"/>
                  <a:gd name="T47" fmla="*/ 66 h 68"/>
                  <a:gd name="T48" fmla="*/ 1 w 37"/>
                  <a:gd name="T49" fmla="*/ 68 h 68"/>
                  <a:gd name="T50" fmla="*/ 0 w 37"/>
                  <a:gd name="T51" fmla="*/ 0 h 68"/>
                  <a:gd name="T52" fmla="*/ 2 w 37"/>
                  <a:gd name="T53" fmla="*/ 0 h 68"/>
                  <a:gd name="T54" fmla="*/ 4 w 37"/>
                  <a:gd name="T55" fmla="*/ 0 h 68"/>
                  <a:gd name="T56" fmla="*/ 5 w 37"/>
                  <a:gd name="T57" fmla="*/ 0 h 68"/>
                  <a:gd name="T58" fmla="*/ 6 w 37"/>
                  <a:gd name="T59" fmla="*/ 1 h 68"/>
                  <a:gd name="T60" fmla="*/ 7 w 37"/>
                  <a:gd name="T61" fmla="*/ 2 h 68"/>
                  <a:gd name="T62" fmla="*/ 9 w 37"/>
                  <a:gd name="T63" fmla="*/ 3 h 68"/>
                  <a:gd name="T64" fmla="*/ 10 w 37"/>
                  <a:gd name="T65" fmla="*/ 3 h 68"/>
                  <a:gd name="T66" fmla="*/ 11 w 37"/>
                  <a:gd name="T67" fmla="*/ 5 h 6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37"/>
                  <a:gd name="T103" fmla="*/ 0 h 68"/>
                  <a:gd name="T104" fmla="*/ 37 w 37"/>
                  <a:gd name="T105" fmla="*/ 68 h 6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37" h="68">
                    <a:moveTo>
                      <a:pt x="11" y="5"/>
                    </a:moveTo>
                    <a:lnTo>
                      <a:pt x="16" y="3"/>
                    </a:lnTo>
                    <a:lnTo>
                      <a:pt x="20" y="3"/>
                    </a:lnTo>
                    <a:lnTo>
                      <a:pt x="22" y="5"/>
                    </a:lnTo>
                    <a:lnTo>
                      <a:pt x="25" y="7"/>
                    </a:lnTo>
                    <a:lnTo>
                      <a:pt x="28" y="10"/>
                    </a:lnTo>
                    <a:lnTo>
                      <a:pt x="30" y="13"/>
                    </a:lnTo>
                    <a:lnTo>
                      <a:pt x="33" y="15"/>
                    </a:lnTo>
                    <a:lnTo>
                      <a:pt x="37" y="15"/>
                    </a:lnTo>
                    <a:lnTo>
                      <a:pt x="37" y="20"/>
                    </a:lnTo>
                    <a:lnTo>
                      <a:pt x="35" y="23"/>
                    </a:lnTo>
                    <a:lnTo>
                      <a:pt x="32" y="25"/>
                    </a:lnTo>
                    <a:lnTo>
                      <a:pt x="28" y="28"/>
                    </a:lnTo>
                    <a:lnTo>
                      <a:pt x="23" y="29"/>
                    </a:lnTo>
                    <a:lnTo>
                      <a:pt x="19" y="31"/>
                    </a:lnTo>
                    <a:lnTo>
                      <a:pt x="16" y="34"/>
                    </a:lnTo>
                    <a:lnTo>
                      <a:pt x="13" y="38"/>
                    </a:lnTo>
                    <a:lnTo>
                      <a:pt x="11" y="42"/>
                    </a:lnTo>
                    <a:lnTo>
                      <a:pt x="11" y="46"/>
                    </a:lnTo>
                    <a:lnTo>
                      <a:pt x="10" y="50"/>
                    </a:lnTo>
                    <a:lnTo>
                      <a:pt x="9" y="54"/>
                    </a:lnTo>
                    <a:lnTo>
                      <a:pt x="8" y="59"/>
                    </a:lnTo>
                    <a:lnTo>
                      <a:pt x="7" y="63"/>
                    </a:lnTo>
                    <a:lnTo>
                      <a:pt x="4" y="66"/>
                    </a:lnTo>
                    <a:lnTo>
                      <a:pt x="1" y="68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7" y="2"/>
                    </a:lnTo>
                    <a:lnTo>
                      <a:pt x="9" y="3"/>
                    </a:lnTo>
                    <a:lnTo>
                      <a:pt x="10" y="3"/>
                    </a:lnTo>
                    <a:lnTo>
                      <a:pt x="11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00" name="Freeform 1080"/>
              <p:cNvSpPr>
                <a:spLocks/>
              </p:cNvSpPr>
              <p:nvPr/>
            </p:nvSpPr>
            <p:spPr bwMode="auto">
              <a:xfrm>
                <a:off x="2013" y="3194"/>
                <a:ext cx="6" cy="8"/>
              </a:xfrm>
              <a:custGeom>
                <a:avLst/>
                <a:gdLst>
                  <a:gd name="T0" fmla="*/ 5 w 6"/>
                  <a:gd name="T1" fmla="*/ 8 h 8"/>
                  <a:gd name="T2" fmla="*/ 0 w 6"/>
                  <a:gd name="T3" fmla="*/ 7 h 8"/>
                  <a:gd name="T4" fmla="*/ 3 w 6"/>
                  <a:gd name="T5" fmla="*/ 0 h 8"/>
                  <a:gd name="T6" fmla="*/ 5 w 6"/>
                  <a:gd name="T7" fmla="*/ 2 h 8"/>
                  <a:gd name="T8" fmla="*/ 6 w 6"/>
                  <a:gd name="T9" fmla="*/ 3 h 8"/>
                  <a:gd name="T10" fmla="*/ 6 w 6"/>
                  <a:gd name="T11" fmla="*/ 7 h 8"/>
                  <a:gd name="T12" fmla="*/ 5 w 6"/>
                  <a:gd name="T13" fmla="*/ 8 h 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"/>
                  <a:gd name="T22" fmla="*/ 0 h 8"/>
                  <a:gd name="T23" fmla="*/ 6 w 6"/>
                  <a:gd name="T24" fmla="*/ 8 h 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" h="8">
                    <a:moveTo>
                      <a:pt x="5" y="8"/>
                    </a:moveTo>
                    <a:lnTo>
                      <a:pt x="0" y="7"/>
                    </a:lnTo>
                    <a:lnTo>
                      <a:pt x="3" y="0"/>
                    </a:lnTo>
                    <a:lnTo>
                      <a:pt x="5" y="2"/>
                    </a:lnTo>
                    <a:lnTo>
                      <a:pt x="6" y="3"/>
                    </a:lnTo>
                    <a:lnTo>
                      <a:pt x="6" y="7"/>
                    </a:lnTo>
                    <a:lnTo>
                      <a:pt x="5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01" name="Freeform 1081"/>
              <p:cNvSpPr>
                <a:spLocks/>
              </p:cNvSpPr>
              <p:nvPr/>
            </p:nvSpPr>
            <p:spPr bwMode="auto">
              <a:xfrm>
                <a:off x="2140" y="3203"/>
                <a:ext cx="77" cy="202"/>
              </a:xfrm>
              <a:custGeom>
                <a:avLst/>
                <a:gdLst>
                  <a:gd name="T0" fmla="*/ 44 w 77"/>
                  <a:gd name="T1" fmla="*/ 5 h 202"/>
                  <a:gd name="T2" fmla="*/ 51 w 77"/>
                  <a:gd name="T3" fmla="*/ 17 h 202"/>
                  <a:gd name="T4" fmla="*/ 56 w 77"/>
                  <a:gd name="T5" fmla="*/ 30 h 202"/>
                  <a:gd name="T6" fmla="*/ 60 w 77"/>
                  <a:gd name="T7" fmla="*/ 45 h 202"/>
                  <a:gd name="T8" fmla="*/ 55 w 77"/>
                  <a:gd name="T9" fmla="*/ 57 h 202"/>
                  <a:gd name="T10" fmla="*/ 60 w 77"/>
                  <a:gd name="T11" fmla="*/ 66 h 202"/>
                  <a:gd name="T12" fmla="*/ 65 w 77"/>
                  <a:gd name="T13" fmla="*/ 73 h 202"/>
                  <a:gd name="T14" fmla="*/ 70 w 77"/>
                  <a:gd name="T15" fmla="*/ 81 h 202"/>
                  <a:gd name="T16" fmla="*/ 77 w 77"/>
                  <a:gd name="T17" fmla="*/ 88 h 202"/>
                  <a:gd name="T18" fmla="*/ 76 w 77"/>
                  <a:gd name="T19" fmla="*/ 95 h 202"/>
                  <a:gd name="T20" fmla="*/ 70 w 77"/>
                  <a:gd name="T21" fmla="*/ 99 h 202"/>
                  <a:gd name="T22" fmla="*/ 67 w 77"/>
                  <a:gd name="T23" fmla="*/ 100 h 202"/>
                  <a:gd name="T24" fmla="*/ 64 w 77"/>
                  <a:gd name="T25" fmla="*/ 101 h 202"/>
                  <a:gd name="T26" fmla="*/ 67 w 77"/>
                  <a:gd name="T27" fmla="*/ 114 h 202"/>
                  <a:gd name="T28" fmla="*/ 64 w 77"/>
                  <a:gd name="T29" fmla="*/ 115 h 202"/>
                  <a:gd name="T30" fmla="*/ 63 w 77"/>
                  <a:gd name="T31" fmla="*/ 117 h 202"/>
                  <a:gd name="T32" fmla="*/ 65 w 77"/>
                  <a:gd name="T33" fmla="*/ 118 h 202"/>
                  <a:gd name="T34" fmla="*/ 67 w 77"/>
                  <a:gd name="T35" fmla="*/ 119 h 202"/>
                  <a:gd name="T36" fmla="*/ 67 w 77"/>
                  <a:gd name="T37" fmla="*/ 121 h 202"/>
                  <a:gd name="T38" fmla="*/ 63 w 77"/>
                  <a:gd name="T39" fmla="*/ 126 h 202"/>
                  <a:gd name="T40" fmla="*/ 63 w 77"/>
                  <a:gd name="T41" fmla="*/ 133 h 202"/>
                  <a:gd name="T42" fmla="*/ 65 w 77"/>
                  <a:gd name="T43" fmla="*/ 141 h 202"/>
                  <a:gd name="T44" fmla="*/ 64 w 77"/>
                  <a:gd name="T45" fmla="*/ 148 h 202"/>
                  <a:gd name="T46" fmla="*/ 55 w 77"/>
                  <a:gd name="T47" fmla="*/ 151 h 202"/>
                  <a:gd name="T48" fmla="*/ 46 w 77"/>
                  <a:gd name="T49" fmla="*/ 153 h 202"/>
                  <a:gd name="T50" fmla="*/ 37 w 77"/>
                  <a:gd name="T51" fmla="*/ 155 h 202"/>
                  <a:gd name="T52" fmla="*/ 29 w 77"/>
                  <a:gd name="T53" fmla="*/ 158 h 202"/>
                  <a:gd name="T54" fmla="*/ 20 w 77"/>
                  <a:gd name="T55" fmla="*/ 165 h 202"/>
                  <a:gd name="T56" fmla="*/ 14 w 77"/>
                  <a:gd name="T57" fmla="*/ 175 h 202"/>
                  <a:gd name="T58" fmla="*/ 8 w 77"/>
                  <a:gd name="T59" fmla="*/ 186 h 202"/>
                  <a:gd name="T60" fmla="*/ 3 w 77"/>
                  <a:gd name="T61" fmla="*/ 196 h 202"/>
                  <a:gd name="T62" fmla="*/ 0 w 77"/>
                  <a:gd name="T63" fmla="*/ 64 h 202"/>
                  <a:gd name="T64" fmla="*/ 5 w 77"/>
                  <a:gd name="T65" fmla="*/ 59 h 202"/>
                  <a:gd name="T66" fmla="*/ 11 w 77"/>
                  <a:gd name="T67" fmla="*/ 54 h 202"/>
                  <a:gd name="T68" fmla="*/ 16 w 77"/>
                  <a:gd name="T69" fmla="*/ 48 h 202"/>
                  <a:gd name="T70" fmla="*/ 18 w 77"/>
                  <a:gd name="T71" fmla="*/ 41 h 202"/>
                  <a:gd name="T72" fmla="*/ 16 w 77"/>
                  <a:gd name="T73" fmla="*/ 24 h 202"/>
                  <a:gd name="T74" fmla="*/ 19 w 77"/>
                  <a:gd name="T75" fmla="*/ 8 h 202"/>
                  <a:gd name="T76" fmla="*/ 23 w 77"/>
                  <a:gd name="T77" fmla="*/ 5 h 202"/>
                  <a:gd name="T78" fmla="*/ 28 w 77"/>
                  <a:gd name="T79" fmla="*/ 2 h 202"/>
                  <a:gd name="T80" fmla="*/ 33 w 77"/>
                  <a:gd name="T81" fmla="*/ 0 h 202"/>
                  <a:gd name="T82" fmla="*/ 39 w 77"/>
                  <a:gd name="T83" fmla="*/ 0 h 202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77"/>
                  <a:gd name="T127" fmla="*/ 0 h 202"/>
                  <a:gd name="T128" fmla="*/ 77 w 77"/>
                  <a:gd name="T129" fmla="*/ 202 h 202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77" h="202">
                    <a:moveTo>
                      <a:pt x="39" y="0"/>
                    </a:moveTo>
                    <a:lnTo>
                      <a:pt x="44" y="5"/>
                    </a:lnTo>
                    <a:lnTo>
                      <a:pt x="48" y="11"/>
                    </a:lnTo>
                    <a:lnTo>
                      <a:pt x="51" y="17"/>
                    </a:lnTo>
                    <a:lnTo>
                      <a:pt x="54" y="23"/>
                    </a:lnTo>
                    <a:lnTo>
                      <a:pt x="56" y="30"/>
                    </a:lnTo>
                    <a:lnTo>
                      <a:pt x="58" y="37"/>
                    </a:lnTo>
                    <a:lnTo>
                      <a:pt x="60" y="45"/>
                    </a:lnTo>
                    <a:lnTo>
                      <a:pt x="60" y="52"/>
                    </a:lnTo>
                    <a:lnTo>
                      <a:pt x="55" y="57"/>
                    </a:lnTo>
                    <a:lnTo>
                      <a:pt x="56" y="62"/>
                    </a:lnTo>
                    <a:lnTo>
                      <a:pt x="60" y="66"/>
                    </a:lnTo>
                    <a:lnTo>
                      <a:pt x="62" y="70"/>
                    </a:lnTo>
                    <a:lnTo>
                      <a:pt x="65" y="73"/>
                    </a:lnTo>
                    <a:lnTo>
                      <a:pt x="67" y="77"/>
                    </a:lnTo>
                    <a:lnTo>
                      <a:pt x="70" y="81"/>
                    </a:lnTo>
                    <a:lnTo>
                      <a:pt x="73" y="84"/>
                    </a:lnTo>
                    <a:lnTo>
                      <a:pt x="77" y="88"/>
                    </a:lnTo>
                    <a:lnTo>
                      <a:pt x="77" y="92"/>
                    </a:lnTo>
                    <a:lnTo>
                      <a:pt x="76" y="95"/>
                    </a:lnTo>
                    <a:lnTo>
                      <a:pt x="73" y="97"/>
                    </a:lnTo>
                    <a:lnTo>
                      <a:pt x="70" y="99"/>
                    </a:lnTo>
                    <a:lnTo>
                      <a:pt x="69" y="99"/>
                    </a:lnTo>
                    <a:lnTo>
                      <a:pt x="67" y="100"/>
                    </a:lnTo>
                    <a:lnTo>
                      <a:pt x="65" y="100"/>
                    </a:lnTo>
                    <a:lnTo>
                      <a:pt x="64" y="101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5" y="115"/>
                    </a:lnTo>
                    <a:lnTo>
                      <a:pt x="64" y="115"/>
                    </a:lnTo>
                    <a:lnTo>
                      <a:pt x="62" y="117"/>
                    </a:lnTo>
                    <a:lnTo>
                      <a:pt x="63" y="117"/>
                    </a:lnTo>
                    <a:lnTo>
                      <a:pt x="64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7" y="121"/>
                    </a:lnTo>
                    <a:lnTo>
                      <a:pt x="66" y="123"/>
                    </a:lnTo>
                    <a:lnTo>
                      <a:pt x="63" y="126"/>
                    </a:lnTo>
                    <a:lnTo>
                      <a:pt x="62" y="129"/>
                    </a:lnTo>
                    <a:lnTo>
                      <a:pt x="63" y="133"/>
                    </a:lnTo>
                    <a:lnTo>
                      <a:pt x="64" y="137"/>
                    </a:lnTo>
                    <a:lnTo>
                      <a:pt x="65" y="141"/>
                    </a:lnTo>
                    <a:lnTo>
                      <a:pt x="65" y="145"/>
                    </a:lnTo>
                    <a:lnTo>
                      <a:pt x="64" y="148"/>
                    </a:lnTo>
                    <a:lnTo>
                      <a:pt x="60" y="151"/>
                    </a:lnTo>
                    <a:lnTo>
                      <a:pt x="55" y="151"/>
                    </a:lnTo>
                    <a:lnTo>
                      <a:pt x="51" y="152"/>
                    </a:lnTo>
                    <a:lnTo>
                      <a:pt x="46" y="153"/>
                    </a:lnTo>
                    <a:lnTo>
                      <a:pt x="41" y="155"/>
                    </a:lnTo>
                    <a:lnTo>
                      <a:pt x="37" y="155"/>
                    </a:lnTo>
                    <a:lnTo>
                      <a:pt x="33" y="157"/>
                    </a:lnTo>
                    <a:lnTo>
                      <a:pt x="29" y="158"/>
                    </a:lnTo>
                    <a:lnTo>
                      <a:pt x="24" y="161"/>
                    </a:lnTo>
                    <a:lnTo>
                      <a:pt x="20" y="165"/>
                    </a:lnTo>
                    <a:lnTo>
                      <a:pt x="17" y="170"/>
                    </a:lnTo>
                    <a:lnTo>
                      <a:pt x="14" y="175"/>
                    </a:lnTo>
                    <a:lnTo>
                      <a:pt x="10" y="180"/>
                    </a:lnTo>
                    <a:lnTo>
                      <a:pt x="8" y="186"/>
                    </a:lnTo>
                    <a:lnTo>
                      <a:pt x="5" y="191"/>
                    </a:lnTo>
                    <a:lnTo>
                      <a:pt x="3" y="196"/>
                    </a:lnTo>
                    <a:lnTo>
                      <a:pt x="0" y="202"/>
                    </a:lnTo>
                    <a:lnTo>
                      <a:pt x="0" y="64"/>
                    </a:lnTo>
                    <a:lnTo>
                      <a:pt x="3" y="62"/>
                    </a:lnTo>
                    <a:lnTo>
                      <a:pt x="5" y="59"/>
                    </a:lnTo>
                    <a:lnTo>
                      <a:pt x="8" y="56"/>
                    </a:lnTo>
                    <a:lnTo>
                      <a:pt x="11" y="54"/>
                    </a:lnTo>
                    <a:lnTo>
                      <a:pt x="14" y="51"/>
                    </a:lnTo>
                    <a:lnTo>
                      <a:pt x="16" y="48"/>
                    </a:lnTo>
                    <a:lnTo>
                      <a:pt x="17" y="45"/>
                    </a:lnTo>
                    <a:lnTo>
                      <a:pt x="18" y="41"/>
                    </a:lnTo>
                    <a:lnTo>
                      <a:pt x="17" y="33"/>
                    </a:lnTo>
                    <a:lnTo>
                      <a:pt x="16" y="24"/>
                    </a:lnTo>
                    <a:lnTo>
                      <a:pt x="17" y="17"/>
                    </a:lnTo>
                    <a:lnTo>
                      <a:pt x="19" y="8"/>
                    </a:lnTo>
                    <a:lnTo>
                      <a:pt x="21" y="7"/>
                    </a:lnTo>
                    <a:lnTo>
                      <a:pt x="23" y="5"/>
                    </a:lnTo>
                    <a:lnTo>
                      <a:pt x="25" y="3"/>
                    </a:lnTo>
                    <a:lnTo>
                      <a:pt x="28" y="2"/>
                    </a:lnTo>
                    <a:lnTo>
                      <a:pt x="31" y="1"/>
                    </a:lnTo>
                    <a:lnTo>
                      <a:pt x="33" y="0"/>
                    </a:lnTo>
                    <a:lnTo>
                      <a:pt x="36" y="0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02" name="Freeform 1082"/>
              <p:cNvSpPr>
                <a:spLocks/>
              </p:cNvSpPr>
              <p:nvPr/>
            </p:nvSpPr>
            <p:spPr bwMode="auto">
              <a:xfrm>
                <a:off x="1991" y="3205"/>
                <a:ext cx="32" cy="37"/>
              </a:xfrm>
              <a:custGeom>
                <a:avLst/>
                <a:gdLst>
                  <a:gd name="T0" fmla="*/ 32 w 32"/>
                  <a:gd name="T1" fmla="*/ 0 h 37"/>
                  <a:gd name="T2" fmla="*/ 30 w 32"/>
                  <a:gd name="T3" fmla="*/ 5 h 37"/>
                  <a:gd name="T4" fmla="*/ 28 w 32"/>
                  <a:gd name="T5" fmla="*/ 9 h 37"/>
                  <a:gd name="T6" fmla="*/ 28 w 32"/>
                  <a:gd name="T7" fmla="*/ 14 h 37"/>
                  <a:gd name="T8" fmla="*/ 28 w 32"/>
                  <a:gd name="T9" fmla="*/ 18 h 37"/>
                  <a:gd name="T10" fmla="*/ 28 w 32"/>
                  <a:gd name="T11" fmla="*/ 23 h 37"/>
                  <a:gd name="T12" fmla="*/ 29 w 32"/>
                  <a:gd name="T13" fmla="*/ 28 h 37"/>
                  <a:gd name="T14" fmla="*/ 30 w 32"/>
                  <a:gd name="T15" fmla="*/ 33 h 37"/>
                  <a:gd name="T16" fmla="*/ 31 w 32"/>
                  <a:gd name="T17" fmla="*/ 37 h 37"/>
                  <a:gd name="T18" fmla="*/ 0 w 32"/>
                  <a:gd name="T19" fmla="*/ 37 h 37"/>
                  <a:gd name="T20" fmla="*/ 2 w 32"/>
                  <a:gd name="T21" fmla="*/ 31 h 37"/>
                  <a:gd name="T22" fmla="*/ 4 w 32"/>
                  <a:gd name="T23" fmla="*/ 24 h 37"/>
                  <a:gd name="T24" fmla="*/ 7 w 32"/>
                  <a:gd name="T25" fmla="*/ 18 h 37"/>
                  <a:gd name="T26" fmla="*/ 10 w 32"/>
                  <a:gd name="T27" fmla="*/ 12 h 37"/>
                  <a:gd name="T28" fmla="*/ 13 w 32"/>
                  <a:gd name="T29" fmla="*/ 6 h 37"/>
                  <a:gd name="T30" fmla="*/ 18 w 32"/>
                  <a:gd name="T31" fmla="*/ 2 h 37"/>
                  <a:gd name="T32" fmla="*/ 24 w 32"/>
                  <a:gd name="T33" fmla="*/ 0 h 37"/>
                  <a:gd name="T34" fmla="*/ 32 w 32"/>
                  <a:gd name="T35" fmla="*/ 0 h 3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2"/>
                  <a:gd name="T55" fmla="*/ 0 h 37"/>
                  <a:gd name="T56" fmla="*/ 32 w 32"/>
                  <a:gd name="T57" fmla="*/ 37 h 3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2" h="37">
                    <a:moveTo>
                      <a:pt x="32" y="0"/>
                    </a:moveTo>
                    <a:lnTo>
                      <a:pt x="30" y="5"/>
                    </a:lnTo>
                    <a:lnTo>
                      <a:pt x="28" y="9"/>
                    </a:lnTo>
                    <a:lnTo>
                      <a:pt x="28" y="14"/>
                    </a:lnTo>
                    <a:lnTo>
                      <a:pt x="28" y="18"/>
                    </a:lnTo>
                    <a:lnTo>
                      <a:pt x="28" y="23"/>
                    </a:lnTo>
                    <a:lnTo>
                      <a:pt x="29" y="28"/>
                    </a:lnTo>
                    <a:lnTo>
                      <a:pt x="30" y="33"/>
                    </a:lnTo>
                    <a:lnTo>
                      <a:pt x="31" y="37"/>
                    </a:lnTo>
                    <a:lnTo>
                      <a:pt x="0" y="37"/>
                    </a:lnTo>
                    <a:lnTo>
                      <a:pt x="2" y="31"/>
                    </a:lnTo>
                    <a:lnTo>
                      <a:pt x="4" y="24"/>
                    </a:lnTo>
                    <a:lnTo>
                      <a:pt x="7" y="18"/>
                    </a:lnTo>
                    <a:lnTo>
                      <a:pt x="10" y="12"/>
                    </a:lnTo>
                    <a:lnTo>
                      <a:pt x="13" y="6"/>
                    </a:lnTo>
                    <a:lnTo>
                      <a:pt x="18" y="2"/>
                    </a:lnTo>
                    <a:lnTo>
                      <a:pt x="24" y="0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03" name="Freeform 1083"/>
              <p:cNvSpPr>
                <a:spLocks/>
              </p:cNvSpPr>
              <p:nvPr/>
            </p:nvSpPr>
            <p:spPr bwMode="auto">
              <a:xfrm>
                <a:off x="2109" y="3205"/>
                <a:ext cx="24" cy="37"/>
              </a:xfrm>
              <a:custGeom>
                <a:avLst/>
                <a:gdLst>
                  <a:gd name="T0" fmla="*/ 24 w 24"/>
                  <a:gd name="T1" fmla="*/ 37 h 37"/>
                  <a:gd name="T2" fmla="*/ 0 w 24"/>
                  <a:gd name="T3" fmla="*/ 37 h 37"/>
                  <a:gd name="T4" fmla="*/ 2 w 24"/>
                  <a:gd name="T5" fmla="*/ 34 h 37"/>
                  <a:gd name="T6" fmla="*/ 3 w 24"/>
                  <a:gd name="T7" fmla="*/ 31 h 37"/>
                  <a:gd name="T8" fmla="*/ 4 w 24"/>
                  <a:gd name="T9" fmla="*/ 27 h 37"/>
                  <a:gd name="T10" fmla="*/ 6 w 24"/>
                  <a:gd name="T11" fmla="*/ 23 h 37"/>
                  <a:gd name="T12" fmla="*/ 7 w 24"/>
                  <a:gd name="T13" fmla="*/ 20 h 37"/>
                  <a:gd name="T14" fmla="*/ 9 w 24"/>
                  <a:gd name="T15" fmla="*/ 17 h 37"/>
                  <a:gd name="T16" fmla="*/ 13 w 24"/>
                  <a:gd name="T17" fmla="*/ 14 h 37"/>
                  <a:gd name="T18" fmla="*/ 16 w 24"/>
                  <a:gd name="T19" fmla="*/ 12 h 37"/>
                  <a:gd name="T20" fmla="*/ 15 w 24"/>
                  <a:gd name="T21" fmla="*/ 0 h 37"/>
                  <a:gd name="T22" fmla="*/ 24 w 24"/>
                  <a:gd name="T23" fmla="*/ 0 h 37"/>
                  <a:gd name="T24" fmla="*/ 24 w 24"/>
                  <a:gd name="T25" fmla="*/ 37 h 3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"/>
                  <a:gd name="T40" fmla="*/ 0 h 37"/>
                  <a:gd name="T41" fmla="*/ 24 w 24"/>
                  <a:gd name="T42" fmla="*/ 37 h 3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" h="37">
                    <a:moveTo>
                      <a:pt x="24" y="37"/>
                    </a:moveTo>
                    <a:lnTo>
                      <a:pt x="0" y="37"/>
                    </a:lnTo>
                    <a:lnTo>
                      <a:pt x="2" y="34"/>
                    </a:lnTo>
                    <a:lnTo>
                      <a:pt x="3" y="31"/>
                    </a:lnTo>
                    <a:lnTo>
                      <a:pt x="4" y="27"/>
                    </a:lnTo>
                    <a:lnTo>
                      <a:pt x="6" y="23"/>
                    </a:lnTo>
                    <a:lnTo>
                      <a:pt x="7" y="20"/>
                    </a:lnTo>
                    <a:lnTo>
                      <a:pt x="9" y="17"/>
                    </a:lnTo>
                    <a:lnTo>
                      <a:pt x="13" y="14"/>
                    </a:lnTo>
                    <a:lnTo>
                      <a:pt x="16" y="12"/>
                    </a:lnTo>
                    <a:lnTo>
                      <a:pt x="15" y="0"/>
                    </a:lnTo>
                    <a:lnTo>
                      <a:pt x="24" y="0"/>
                    </a:lnTo>
                    <a:lnTo>
                      <a:pt x="24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04" name="Freeform 1084"/>
              <p:cNvSpPr>
                <a:spLocks/>
              </p:cNvSpPr>
              <p:nvPr/>
            </p:nvSpPr>
            <p:spPr bwMode="auto">
              <a:xfrm>
                <a:off x="2140" y="3236"/>
                <a:ext cx="11" cy="25"/>
              </a:xfrm>
              <a:custGeom>
                <a:avLst/>
                <a:gdLst>
                  <a:gd name="T0" fmla="*/ 0 w 11"/>
                  <a:gd name="T1" fmla="*/ 25 h 25"/>
                  <a:gd name="T2" fmla="*/ 0 w 11"/>
                  <a:gd name="T3" fmla="*/ 10 h 25"/>
                  <a:gd name="T4" fmla="*/ 10 w 11"/>
                  <a:gd name="T5" fmla="*/ 0 h 25"/>
                  <a:gd name="T6" fmla="*/ 11 w 11"/>
                  <a:gd name="T7" fmla="*/ 4 h 25"/>
                  <a:gd name="T8" fmla="*/ 11 w 11"/>
                  <a:gd name="T9" fmla="*/ 8 h 25"/>
                  <a:gd name="T10" fmla="*/ 10 w 11"/>
                  <a:gd name="T11" fmla="*/ 12 h 25"/>
                  <a:gd name="T12" fmla="*/ 9 w 11"/>
                  <a:gd name="T13" fmla="*/ 15 h 25"/>
                  <a:gd name="T14" fmla="*/ 7 w 11"/>
                  <a:gd name="T15" fmla="*/ 18 h 25"/>
                  <a:gd name="T16" fmla="*/ 5 w 11"/>
                  <a:gd name="T17" fmla="*/ 20 h 25"/>
                  <a:gd name="T18" fmla="*/ 2 w 11"/>
                  <a:gd name="T19" fmla="*/ 23 h 25"/>
                  <a:gd name="T20" fmla="*/ 0 w 11"/>
                  <a:gd name="T21" fmla="*/ 25 h 2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1"/>
                  <a:gd name="T34" fmla="*/ 0 h 25"/>
                  <a:gd name="T35" fmla="*/ 11 w 11"/>
                  <a:gd name="T36" fmla="*/ 25 h 2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1" h="25">
                    <a:moveTo>
                      <a:pt x="0" y="25"/>
                    </a:moveTo>
                    <a:lnTo>
                      <a:pt x="0" y="10"/>
                    </a:lnTo>
                    <a:lnTo>
                      <a:pt x="10" y="0"/>
                    </a:lnTo>
                    <a:lnTo>
                      <a:pt x="11" y="4"/>
                    </a:lnTo>
                    <a:lnTo>
                      <a:pt x="11" y="8"/>
                    </a:lnTo>
                    <a:lnTo>
                      <a:pt x="10" y="12"/>
                    </a:lnTo>
                    <a:lnTo>
                      <a:pt x="9" y="15"/>
                    </a:lnTo>
                    <a:lnTo>
                      <a:pt x="7" y="18"/>
                    </a:lnTo>
                    <a:lnTo>
                      <a:pt x="5" y="20"/>
                    </a:lnTo>
                    <a:lnTo>
                      <a:pt x="2" y="23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05" name="Freeform 1085"/>
              <p:cNvSpPr>
                <a:spLocks/>
              </p:cNvSpPr>
              <p:nvPr/>
            </p:nvSpPr>
            <p:spPr bwMode="auto">
              <a:xfrm>
                <a:off x="1984" y="3246"/>
                <a:ext cx="54" cy="38"/>
              </a:xfrm>
              <a:custGeom>
                <a:avLst/>
                <a:gdLst>
                  <a:gd name="T0" fmla="*/ 38 w 54"/>
                  <a:gd name="T1" fmla="*/ 0 h 38"/>
                  <a:gd name="T2" fmla="*/ 38 w 54"/>
                  <a:gd name="T3" fmla="*/ 4 h 38"/>
                  <a:gd name="T4" fmla="*/ 39 w 54"/>
                  <a:gd name="T5" fmla="*/ 6 h 38"/>
                  <a:gd name="T6" fmla="*/ 41 w 54"/>
                  <a:gd name="T7" fmla="*/ 7 h 38"/>
                  <a:gd name="T8" fmla="*/ 44 w 54"/>
                  <a:gd name="T9" fmla="*/ 8 h 38"/>
                  <a:gd name="T10" fmla="*/ 47 w 54"/>
                  <a:gd name="T11" fmla="*/ 9 h 38"/>
                  <a:gd name="T12" fmla="*/ 49 w 54"/>
                  <a:gd name="T13" fmla="*/ 9 h 38"/>
                  <a:gd name="T14" fmla="*/ 52 w 54"/>
                  <a:gd name="T15" fmla="*/ 10 h 38"/>
                  <a:gd name="T16" fmla="*/ 54 w 54"/>
                  <a:gd name="T17" fmla="*/ 10 h 38"/>
                  <a:gd name="T18" fmla="*/ 53 w 54"/>
                  <a:gd name="T19" fmla="*/ 37 h 38"/>
                  <a:gd name="T20" fmla="*/ 49 w 54"/>
                  <a:gd name="T21" fmla="*/ 37 h 38"/>
                  <a:gd name="T22" fmla="*/ 46 w 54"/>
                  <a:gd name="T23" fmla="*/ 37 h 38"/>
                  <a:gd name="T24" fmla="*/ 42 w 54"/>
                  <a:gd name="T25" fmla="*/ 37 h 38"/>
                  <a:gd name="T26" fmla="*/ 39 w 54"/>
                  <a:gd name="T27" fmla="*/ 38 h 38"/>
                  <a:gd name="T28" fmla="*/ 36 w 54"/>
                  <a:gd name="T29" fmla="*/ 38 h 38"/>
                  <a:gd name="T30" fmla="*/ 32 w 54"/>
                  <a:gd name="T31" fmla="*/ 38 h 38"/>
                  <a:gd name="T32" fmla="*/ 29 w 54"/>
                  <a:gd name="T33" fmla="*/ 38 h 38"/>
                  <a:gd name="T34" fmla="*/ 25 w 54"/>
                  <a:gd name="T35" fmla="*/ 38 h 38"/>
                  <a:gd name="T36" fmla="*/ 22 w 54"/>
                  <a:gd name="T37" fmla="*/ 38 h 38"/>
                  <a:gd name="T38" fmla="*/ 18 w 54"/>
                  <a:gd name="T39" fmla="*/ 38 h 38"/>
                  <a:gd name="T40" fmla="*/ 15 w 54"/>
                  <a:gd name="T41" fmla="*/ 38 h 38"/>
                  <a:gd name="T42" fmla="*/ 11 w 54"/>
                  <a:gd name="T43" fmla="*/ 38 h 38"/>
                  <a:gd name="T44" fmla="*/ 8 w 54"/>
                  <a:gd name="T45" fmla="*/ 37 h 38"/>
                  <a:gd name="T46" fmla="*/ 5 w 54"/>
                  <a:gd name="T47" fmla="*/ 37 h 38"/>
                  <a:gd name="T48" fmla="*/ 3 w 54"/>
                  <a:gd name="T49" fmla="*/ 37 h 38"/>
                  <a:gd name="T50" fmla="*/ 0 w 54"/>
                  <a:gd name="T51" fmla="*/ 36 h 38"/>
                  <a:gd name="T52" fmla="*/ 5 w 54"/>
                  <a:gd name="T53" fmla="*/ 0 h 38"/>
                  <a:gd name="T54" fmla="*/ 38 w 54"/>
                  <a:gd name="T55" fmla="*/ 0 h 38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54"/>
                  <a:gd name="T85" fmla="*/ 0 h 38"/>
                  <a:gd name="T86" fmla="*/ 54 w 54"/>
                  <a:gd name="T87" fmla="*/ 38 h 38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54" h="38">
                    <a:moveTo>
                      <a:pt x="38" y="0"/>
                    </a:moveTo>
                    <a:lnTo>
                      <a:pt x="38" y="4"/>
                    </a:lnTo>
                    <a:lnTo>
                      <a:pt x="39" y="6"/>
                    </a:lnTo>
                    <a:lnTo>
                      <a:pt x="41" y="7"/>
                    </a:lnTo>
                    <a:lnTo>
                      <a:pt x="44" y="8"/>
                    </a:lnTo>
                    <a:lnTo>
                      <a:pt x="47" y="9"/>
                    </a:lnTo>
                    <a:lnTo>
                      <a:pt x="49" y="9"/>
                    </a:lnTo>
                    <a:lnTo>
                      <a:pt x="52" y="10"/>
                    </a:lnTo>
                    <a:lnTo>
                      <a:pt x="54" y="10"/>
                    </a:lnTo>
                    <a:lnTo>
                      <a:pt x="53" y="37"/>
                    </a:lnTo>
                    <a:lnTo>
                      <a:pt x="49" y="37"/>
                    </a:lnTo>
                    <a:lnTo>
                      <a:pt x="46" y="37"/>
                    </a:lnTo>
                    <a:lnTo>
                      <a:pt x="42" y="37"/>
                    </a:lnTo>
                    <a:lnTo>
                      <a:pt x="39" y="38"/>
                    </a:lnTo>
                    <a:lnTo>
                      <a:pt x="36" y="38"/>
                    </a:lnTo>
                    <a:lnTo>
                      <a:pt x="32" y="38"/>
                    </a:lnTo>
                    <a:lnTo>
                      <a:pt x="29" y="38"/>
                    </a:lnTo>
                    <a:lnTo>
                      <a:pt x="25" y="38"/>
                    </a:lnTo>
                    <a:lnTo>
                      <a:pt x="22" y="38"/>
                    </a:lnTo>
                    <a:lnTo>
                      <a:pt x="18" y="38"/>
                    </a:lnTo>
                    <a:lnTo>
                      <a:pt x="15" y="38"/>
                    </a:lnTo>
                    <a:lnTo>
                      <a:pt x="11" y="38"/>
                    </a:lnTo>
                    <a:lnTo>
                      <a:pt x="8" y="37"/>
                    </a:lnTo>
                    <a:lnTo>
                      <a:pt x="5" y="37"/>
                    </a:lnTo>
                    <a:lnTo>
                      <a:pt x="3" y="37"/>
                    </a:lnTo>
                    <a:lnTo>
                      <a:pt x="0" y="36"/>
                    </a:lnTo>
                    <a:lnTo>
                      <a:pt x="5" y="0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06" name="Freeform 1086"/>
              <p:cNvSpPr>
                <a:spLocks/>
              </p:cNvSpPr>
              <p:nvPr/>
            </p:nvSpPr>
            <p:spPr bwMode="auto">
              <a:xfrm>
                <a:off x="2050" y="3246"/>
                <a:ext cx="84" cy="38"/>
              </a:xfrm>
              <a:custGeom>
                <a:avLst/>
                <a:gdLst>
                  <a:gd name="T0" fmla="*/ 84 w 84"/>
                  <a:gd name="T1" fmla="*/ 2 h 38"/>
                  <a:gd name="T2" fmla="*/ 84 w 84"/>
                  <a:gd name="T3" fmla="*/ 38 h 38"/>
                  <a:gd name="T4" fmla="*/ 0 w 84"/>
                  <a:gd name="T5" fmla="*/ 38 h 38"/>
                  <a:gd name="T6" fmla="*/ 2 w 84"/>
                  <a:gd name="T7" fmla="*/ 34 h 38"/>
                  <a:gd name="T8" fmla="*/ 4 w 84"/>
                  <a:gd name="T9" fmla="*/ 30 h 38"/>
                  <a:gd name="T10" fmla="*/ 7 w 84"/>
                  <a:gd name="T11" fmla="*/ 27 h 38"/>
                  <a:gd name="T12" fmla="*/ 11 w 84"/>
                  <a:gd name="T13" fmla="*/ 26 h 38"/>
                  <a:gd name="T14" fmla="*/ 15 w 84"/>
                  <a:gd name="T15" fmla="*/ 24 h 38"/>
                  <a:gd name="T16" fmla="*/ 19 w 84"/>
                  <a:gd name="T17" fmla="*/ 23 h 38"/>
                  <a:gd name="T18" fmla="*/ 23 w 84"/>
                  <a:gd name="T19" fmla="*/ 22 h 38"/>
                  <a:gd name="T20" fmla="*/ 27 w 84"/>
                  <a:gd name="T21" fmla="*/ 21 h 38"/>
                  <a:gd name="T22" fmla="*/ 25 w 84"/>
                  <a:gd name="T23" fmla="*/ 19 h 38"/>
                  <a:gd name="T24" fmla="*/ 21 w 84"/>
                  <a:gd name="T25" fmla="*/ 18 h 38"/>
                  <a:gd name="T26" fmla="*/ 19 w 84"/>
                  <a:gd name="T27" fmla="*/ 16 h 38"/>
                  <a:gd name="T28" fmla="*/ 16 w 84"/>
                  <a:gd name="T29" fmla="*/ 15 h 38"/>
                  <a:gd name="T30" fmla="*/ 14 w 84"/>
                  <a:gd name="T31" fmla="*/ 14 h 38"/>
                  <a:gd name="T32" fmla="*/ 12 w 84"/>
                  <a:gd name="T33" fmla="*/ 12 h 38"/>
                  <a:gd name="T34" fmla="*/ 12 w 84"/>
                  <a:gd name="T35" fmla="*/ 9 h 38"/>
                  <a:gd name="T36" fmla="*/ 13 w 84"/>
                  <a:gd name="T37" fmla="*/ 5 h 38"/>
                  <a:gd name="T38" fmla="*/ 15 w 84"/>
                  <a:gd name="T39" fmla="*/ 5 h 38"/>
                  <a:gd name="T40" fmla="*/ 17 w 84"/>
                  <a:gd name="T41" fmla="*/ 5 h 38"/>
                  <a:gd name="T42" fmla="*/ 20 w 84"/>
                  <a:gd name="T43" fmla="*/ 6 h 38"/>
                  <a:gd name="T44" fmla="*/ 23 w 84"/>
                  <a:gd name="T45" fmla="*/ 7 h 38"/>
                  <a:gd name="T46" fmla="*/ 26 w 84"/>
                  <a:gd name="T47" fmla="*/ 8 h 38"/>
                  <a:gd name="T48" fmla="*/ 27 w 84"/>
                  <a:gd name="T49" fmla="*/ 10 h 38"/>
                  <a:gd name="T50" fmla="*/ 28 w 84"/>
                  <a:gd name="T51" fmla="*/ 12 h 38"/>
                  <a:gd name="T52" fmla="*/ 29 w 84"/>
                  <a:gd name="T53" fmla="*/ 15 h 38"/>
                  <a:gd name="T54" fmla="*/ 30 w 84"/>
                  <a:gd name="T55" fmla="*/ 16 h 38"/>
                  <a:gd name="T56" fmla="*/ 32 w 84"/>
                  <a:gd name="T57" fmla="*/ 14 h 38"/>
                  <a:gd name="T58" fmla="*/ 33 w 84"/>
                  <a:gd name="T59" fmla="*/ 12 h 38"/>
                  <a:gd name="T60" fmla="*/ 34 w 84"/>
                  <a:gd name="T61" fmla="*/ 10 h 38"/>
                  <a:gd name="T62" fmla="*/ 35 w 84"/>
                  <a:gd name="T63" fmla="*/ 7 h 38"/>
                  <a:gd name="T64" fmla="*/ 36 w 84"/>
                  <a:gd name="T65" fmla="*/ 5 h 38"/>
                  <a:gd name="T66" fmla="*/ 37 w 84"/>
                  <a:gd name="T67" fmla="*/ 4 h 38"/>
                  <a:gd name="T68" fmla="*/ 39 w 84"/>
                  <a:gd name="T69" fmla="*/ 2 h 38"/>
                  <a:gd name="T70" fmla="*/ 43 w 84"/>
                  <a:gd name="T71" fmla="*/ 2 h 38"/>
                  <a:gd name="T72" fmla="*/ 47 w 84"/>
                  <a:gd name="T73" fmla="*/ 7 h 38"/>
                  <a:gd name="T74" fmla="*/ 48 w 84"/>
                  <a:gd name="T75" fmla="*/ 12 h 38"/>
                  <a:gd name="T76" fmla="*/ 49 w 84"/>
                  <a:gd name="T77" fmla="*/ 19 h 38"/>
                  <a:gd name="T78" fmla="*/ 50 w 84"/>
                  <a:gd name="T79" fmla="*/ 25 h 38"/>
                  <a:gd name="T80" fmla="*/ 64 w 84"/>
                  <a:gd name="T81" fmla="*/ 25 h 38"/>
                  <a:gd name="T82" fmla="*/ 64 w 84"/>
                  <a:gd name="T83" fmla="*/ 19 h 38"/>
                  <a:gd name="T84" fmla="*/ 62 w 84"/>
                  <a:gd name="T85" fmla="*/ 13 h 38"/>
                  <a:gd name="T86" fmla="*/ 61 w 84"/>
                  <a:gd name="T87" fmla="*/ 7 h 38"/>
                  <a:gd name="T88" fmla="*/ 60 w 84"/>
                  <a:gd name="T89" fmla="*/ 0 h 38"/>
                  <a:gd name="T90" fmla="*/ 63 w 84"/>
                  <a:gd name="T91" fmla="*/ 0 h 38"/>
                  <a:gd name="T92" fmla="*/ 66 w 84"/>
                  <a:gd name="T93" fmla="*/ 2 h 38"/>
                  <a:gd name="T94" fmla="*/ 69 w 84"/>
                  <a:gd name="T95" fmla="*/ 2 h 38"/>
                  <a:gd name="T96" fmla="*/ 72 w 84"/>
                  <a:gd name="T97" fmla="*/ 2 h 38"/>
                  <a:gd name="T98" fmla="*/ 75 w 84"/>
                  <a:gd name="T99" fmla="*/ 2 h 38"/>
                  <a:gd name="T100" fmla="*/ 78 w 84"/>
                  <a:gd name="T101" fmla="*/ 2 h 38"/>
                  <a:gd name="T102" fmla="*/ 81 w 84"/>
                  <a:gd name="T103" fmla="*/ 2 h 38"/>
                  <a:gd name="T104" fmla="*/ 84 w 84"/>
                  <a:gd name="T105" fmla="*/ 2 h 38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84"/>
                  <a:gd name="T160" fmla="*/ 0 h 38"/>
                  <a:gd name="T161" fmla="*/ 84 w 84"/>
                  <a:gd name="T162" fmla="*/ 38 h 38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84" h="38">
                    <a:moveTo>
                      <a:pt x="84" y="2"/>
                    </a:moveTo>
                    <a:lnTo>
                      <a:pt x="84" y="38"/>
                    </a:lnTo>
                    <a:lnTo>
                      <a:pt x="0" y="38"/>
                    </a:lnTo>
                    <a:lnTo>
                      <a:pt x="2" y="34"/>
                    </a:lnTo>
                    <a:lnTo>
                      <a:pt x="4" y="30"/>
                    </a:lnTo>
                    <a:lnTo>
                      <a:pt x="7" y="27"/>
                    </a:lnTo>
                    <a:lnTo>
                      <a:pt x="11" y="26"/>
                    </a:lnTo>
                    <a:lnTo>
                      <a:pt x="15" y="24"/>
                    </a:lnTo>
                    <a:lnTo>
                      <a:pt x="19" y="23"/>
                    </a:lnTo>
                    <a:lnTo>
                      <a:pt x="23" y="22"/>
                    </a:lnTo>
                    <a:lnTo>
                      <a:pt x="27" y="21"/>
                    </a:lnTo>
                    <a:lnTo>
                      <a:pt x="25" y="19"/>
                    </a:lnTo>
                    <a:lnTo>
                      <a:pt x="21" y="18"/>
                    </a:lnTo>
                    <a:lnTo>
                      <a:pt x="19" y="16"/>
                    </a:lnTo>
                    <a:lnTo>
                      <a:pt x="16" y="15"/>
                    </a:lnTo>
                    <a:lnTo>
                      <a:pt x="14" y="14"/>
                    </a:lnTo>
                    <a:lnTo>
                      <a:pt x="12" y="12"/>
                    </a:lnTo>
                    <a:lnTo>
                      <a:pt x="12" y="9"/>
                    </a:lnTo>
                    <a:lnTo>
                      <a:pt x="13" y="5"/>
                    </a:lnTo>
                    <a:lnTo>
                      <a:pt x="15" y="5"/>
                    </a:lnTo>
                    <a:lnTo>
                      <a:pt x="17" y="5"/>
                    </a:lnTo>
                    <a:lnTo>
                      <a:pt x="20" y="6"/>
                    </a:lnTo>
                    <a:lnTo>
                      <a:pt x="23" y="7"/>
                    </a:lnTo>
                    <a:lnTo>
                      <a:pt x="26" y="8"/>
                    </a:lnTo>
                    <a:lnTo>
                      <a:pt x="27" y="10"/>
                    </a:lnTo>
                    <a:lnTo>
                      <a:pt x="28" y="12"/>
                    </a:lnTo>
                    <a:lnTo>
                      <a:pt x="29" y="15"/>
                    </a:lnTo>
                    <a:lnTo>
                      <a:pt x="30" y="16"/>
                    </a:lnTo>
                    <a:lnTo>
                      <a:pt x="32" y="14"/>
                    </a:lnTo>
                    <a:lnTo>
                      <a:pt x="33" y="12"/>
                    </a:lnTo>
                    <a:lnTo>
                      <a:pt x="34" y="10"/>
                    </a:lnTo>
                    <a:lnTo>
                      <a:pt x="35" y="7"/>
                    </a:lnTo>
                    <a:lnTo>
                      <a:pt x="36" y="5"/>
                    </a:lnTo>
                    <a:lnTo>
                      <a:pt x="37" y="4"/>
                    </a:lnTo>
                    <a:lnTo>
                      <a:pt x="39" y="2"/>
                    </a:lnTo>
                    <a:lnTo>
                      <a:pt x="43" y="2"/>
                    </a:lnTo>
                    <a:lnTo>
                      <a:pt x="47" y="7"/>
                    </a:lnTo>
                    <a:lnTo>
                      <a:pt x="48" y="12"/>
                    </a:lnTo>
                    <a:lnTo>
                      <a:pt x="49" y="19"/>
                    </a:lnTo>
                    <a:lnTo>
                      <a:pt x="50" y="25"/>
                    </a:lnTo>
                    <a:lnTo>
                      <a:pt x="64" y="25"/>
                    </a:lnTo>
                    <a:lnTo>
                      <a:pt x="64" y="19"/>
                    </a:lnTo>
                    <a:lnTo>
                      <a:pt x="62" y="13"/>
                    </a:lnTo>
                    <a:lnTo>
                      <a:pt x="61" y="7"/>
                    </a:lnTo>
                    <a:lnTo>
                      <a:pt x="60" y="0"/>
                    </a:lnTo>
                    <a:lnTo>
                      <a:pt x="63" y="0"/>
                    </a:lnTo>
                    <a:lnTo>
                      <a:pt x="66" y="2"/>
                    </a:lnTo>
                    <a:lnTo>
                      <a:pt x="69" y="2"/>
                    </a:lnTo>
                    <a:lnTo>
                      <a:pt x="72" y="2"/>
                    </a:lnTo>
                    <a:lnTo>
                      <a:pt x="75" y="2"/>
                    </a:lnTo>
                    <a:lnTo>
                      <a:pt x="78" y="2"/>
                    </a:lnTo>
                    <a:lnTo>
                      <a:pt x="81" y="2"/>
                    </a:lnTo>
                    <a:lnTo>
                      <a:pt x="84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07" name="Freeform 1087"/>
              <p:cNvSpPr>
                <a:spLocks/>
              </p:cNvSpPr>
              <p:nvPr/>
            </p:nvSpPr>
            <p:spPr bwMode="auto">
              <a:xfrm>
                <a:off x="1984" y="3288"/>
                <a:ext cx="51" cy="38"/>
              </a:xfrm>
              <a:custGeom>
                <a:avLst/>
                <a:gdLst>
                  <a:gd name="T0" fmla="*/ 51 w 51"/>
                  <a:gd name="T1" fmla="*/ 1 h 38"/>
                  <a:gd name="T2" fmla="*/ 49 w 51"/>
                  <a:gd name="T3" fmla="*/ 8 h 38"/>
                  <a:gd name="T4" fmla="*/ 46 w 51"/>
                  <a:gd name="T5" fmla="*/ 12 h 38"/>
                  <a:gd name="T6" fmla="*/ 40 w 51"/>
                  <a:gd name="T7" fmla="*/ 15 h 38"/>
                  <a:gd name="T8" fmla="*/ 35 w 51"/>
                  <a:gd name="T9" fmla="*/ 17 h 38"/>
                  <a:gd name="T10" fmla="*/ 30 w 51"/>
                  <a:gd name="T11" fmla="*/ 20 h 38"/>
                  <a:gd name="T12" fmla="*/ 26 w 51"/>
                  <a:gd name="T13" fmla="*/ 25 h 38"/>
                  <a:gd name="T14" fmla="*/ 26 w 51"/>
                  <a:gd name="T15" fmla="*/ 30 h 38"/>
                  <a:gd name="T16" fmla="*/ 30 w 51"/>
                  <a:gd name="T17" fmla="*/ 38 h 38"/>
                  <a:gd name="T18" fmla="*/ 5 w 51"/>
                  <a:gd name="T19" fmla="*/ 38 h 38"/>
                  <a:gd name="T20" fmla="*/ 3 w 51"/>
                  <a:gd name="T21" fmla="*/ 28 h 38"/>
                  <a:gd name="T22" fmla="*/ 1 w 51"/>
                  <a:gd name="T23" fmla="*/ 19 h 38"/>
                  <a:gd name="T24" fmla="*/ 0 w 51"/>
                  <a:gd name="T25" fmla="*/ 10 h 38"/>
                  <a:gd name="T26" fmla="*/ 1 w 51"/>
                  <a:gd name="T27" fmla="*/ 0 h 38"/>
                  <a:gd name="T28" fmla="*/ 51 w 51"/>
                  <a:gd name="T29" fmla="*/ 1 h 3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1"/>
                  <a:gd name="T46" fmla="*/ 0 h 38"/>
                  <a:gd name="T47" fmla="*/ 51 w 51"/>
                  <a:gd name="T48" fmla="*/ 38 h 3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1" h="38">
                    <a:moveTo>
                      <a:pt x="51" y="1"/>
                    </a:moveTo>
                    <a:lnTo>
                      <a:pt x="49" y="8"/>
                    </a:lnTo>
                    <a:lnTo>
                      <a:pt x="46" y="12"/>
                    </a:lnTo>
                    <a:lnTo>
                      <a:pt x="40" y="15"/>
                    </a:lnTo>
                    <a:lnTo>
                      <a:pt x="35" y="17"/>
                    </a:lnTo>
                    <a:lnTo>
                      <a:pt x="30" y="20"/>
                    </a:lnTo>
                    <a:lnTo>
                      <a:pt x="26" y="25"/>
                    </a:lnTo>
                    <a:lnTo>
                      <a:pt x="26" y="30"/>
                    </a:lnTo>
                    <a:lnTo>
                      <a:pt x="30" y="38"/>
                    </a:lnTo>
                    <a:lnTo>
                      <a:pt x="5" y="38"/>
                    </a:lnTo>
                    <a:lnTo>
                      <a:pt x="3" y="28"/>
                    </a:lnTo>
                    <a:lnTo>
                      <a:pt x="1" y="19"/>
                    </a:lnTo>
                    <a:lnTo>
                      <a:pt x="0" y="10"/>
                    </a:lnTo>
                    <a:lnTo>
                      <a:pt x="1" y="0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08" name="Freeform 1088"/>
              <p:cNvSpPr>
                <a:spLocks/>
              </p:cNvSpPr>
              <p:nvPr/>
            </p:nvSpPr>
            <p:spPr bwMode="auto">
              <a:xfrm>
                <a:off x="2052" y="3288"/>
                <a:ext cx="82" cy="38"/>
              </a:xfrm>
              <a:custGeom>
                <a:avLst/>
                <a:gdLst>
                  <a:gd name="T0" fmla="*/ 82 w 82"/>
                  <a:gd name="T1" fmla="*/ 38 h 38"/>
                  <a:gd name="T2" fmla="*/ 21 w 82"/>
                  <a:gd name="T3" fmla="*/ 38 h 38"/>
                  <a:gd name="T4" fmla="*/ 17 w 82"/>
                  <a:gd name="T5" fmla="*/ 35 h 38"/>
                  <a:gd name="T6" fmla="*/ 13 w 82"/>
                  <a:gd name="T7" fmla="*/ 32 h 38"/>
                  <a:gd name="T8" fmla="*/ 9 w 82"/>
                  <a:gd name="T9" fmla="*/ 28 h 38"/>
                  <a:gd name="T10" fmla="*/ 7 w 82"/>
                  <a:gd name="T11" fmla="*/ 23 h 38"/>
                  <a:gd name="T12" fmla="*/ 4 w 82"/>
                  <a:gd name="T13" fmla="*/ 17 h 38"/>
                  <a:gd name="T14" fmla="*/ 2 w 82"/>
                  <a:gd name="T15" fmla="*/ 11 h 38"/>
                  <a:gd name="T16" fmla="*/ 1 w 82"/>
                  <a:gd name="T17" fmla="*/ 5 h 38"/>
                  <a:gd name="T18" fmla="*/ 0 w 82"/>
                  <a:gd name="T19" fmla="*/ 0 h 38"/>
                  <a:gd name="T20" fmla="*/ 82 w 82"/>
                  <a:gd name="T21" fmla="*/ 1 h 38"/>
                  <a:gd name="T22" fmla="*/ 82 w 82"/>
                  <a:gd name="T23" fmla="*/ 38 h 3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2"/>
                  <a:gd name="T37" fmla="*/ 0 h 38"/>
                  <a:gd name="T38" fmla="*/ 82 w 82"/>
                  <a:gd name="T39" fmla="*/ 38 h 3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2" h="38">
                    <a:moveTo>
                      <a:pt x="82" y="38"/>
                    </a:moveTo>
                    <a:lnTo>
                      <a:pt x="21" y="38"/>
                    </a:lnTo>
                    <a:lnTo>
                      <a:pt x="17" y="35"/>
                    </a:lnTo>
                    <a:lnTo>
                      <a:pt x="13" y="32"/>
                    </a:lnTo>
                    <a:lnTo>
                      <a:pt x="9" y="28"/>
                    </a:lnTo>
                    <a:lnTo>
                      <a:pt x="7" y="23"/>
                    </a:lnTo>
                    <a:lnTo>
                      <a:pt x="4" y="17"/>
                    </a:lnTo>
                    <a:lnTo>
                      <a:pt x="2" y="11"/>
                    </a:lnTo>
                    <a:lnTo>
                      <a:pt x="1" y="5"/>
                    </a:lnTo>
                    <a:lnTo>
                      <a:pt x="0" y="0"/>
                    </a:lnTo>
                    <a:lnTo>
                      <a:pt x="82" y="1"/>
                    </a:lnTo>
                    <a:lnTo>
                      <a:pt x="82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09" name="Freeform 1089"/>
              <p:cNvSpPr>
                <a:spLocks/>
              </p:cNvSpPr>
              <p:nvPr/>
            </p:nvSpPr>
            <p:spPr bwMode="auto">
              <a:xfrm>
                <a:off x="1991" y="3330"/>
                <a:ext cx="47" cy="36"/>
              </a:xfrm>
              <a:custGeom>
                <a:avLst/>
                <a:gdLst>
                  <a:gd name="T0" fmla="*/ 24 w 47"/>
                  <a:gd name="T1" fmla="*/ 1 h 36"/>
                  <a:gd name="T2" fmla="*/ 26 w 47"/>
                  <a:gd name="T3" fmla="*/ 5 h 36"/>
                  <a:gd name="T4" fmla="*/ 27 w 47"/>
                  <a:gd name="T5" fmla="*/ 10 h 36"/>
                  <a:gd name="T6" fmla="*/ 28 w 47"/>
                  <a:gd name="T7" fmla="*/ 15 h 36"/>
                  <a:gd name="T8" fmla="*/ 29 w 47"/>
                  <a:gd name="T9" fmla="*/ 20 h 36"/>
                  <a:gd name="T10" fmla="*/ 30 w 47"/>
                  <a:gd name="T11" fmla="*/ 24 h 36"/>
                  <a:gd name="T12" fmla="*/ 32 w 47"/>
                  <a:gd name="T13" fmla="*/ 29 h 36"/>
                  <a:gd name="T14" fmla="*/ 37 w 47"/>
                  <a:gd name="T15" fmla="*/ 31 h 36"/>
                  <a:gd name="T16" fmla="*/ 42 w 47"/>
                  <a:gd name="T17" fmla="*/ 32 h 36"/>
                  <a:gd name="T18" fmla="*/ 44 w 47"/>
                  <a:gd name="T19" fmla="*/ 32 h 36"/>
                  <a:gd name="T20" fmla="*/ 45 w 47"/>
                  <a:gd name="T21" fmla="*/ 32 h 36"/>
                  <a:gd name="T22" fmla="*/ 46 w 47"/>
                  <a:gd name="T23" fmla="*/ 33 h 36"/>
                  <a:gd name="T24" fmla="*/ 47 w 47"/>
                  <a:gd name="T25" fmla="*/ 34 h 36"/>
                  <a:gd name="T26" fmla="*/ 47 w 47"/>
                  <a:gd name="T27" fmla="*/ 36 h 36"/>
                  <a:gd name="T28" fmla="*/ 17 w 47"/>
                  <a:gd name="T29" fmla="*/ 36 h 36"/>
                  <a:gd name="T30" fmla="*/ 14 w 47"/>
                  <a:gd name="T31" fmla="*/ 32 h 36"/>
                  <a:gd name="T32" fmla="*/ 12 w 47"/>
                  <a:gd name="T33" fmla="*/ 28 h 36"/>
                  <a:gd name="T34" fmla="*/ 9 w 47"/>
                  <a:gd name="T35" fmla="*/ 23 h 36"/>
                  <a:gd name="T36" fmla="*/ 8 w 47"/>
                  <a:gd name="T37" fmla="*/ 19 h 36"/>
                  <a:gd name="T38" fmla="*/ 4 w 47"/>
                  <a:gd name="T39" fmla="*/ 14 h 36"/>
                  <a:gd name="T40" fmla="*/ 3 w 47"/>
                  <a:gd name="T41" fmla="*/ 9 h 36"/>
                  <a:gd name="T42" fmla="*/ 1 w 47"/>
                  <a:gd name="T43" fmla="*/ 5 h 36"/>
                  <a:gd name="T44" fmla="*/ 0 w 47"/>
                  <a:gd name="T45" fmla="*/ 0 h 36"/>
                  <a:gd name="T46" fmla="*/ 24 w 47"/>
                  <a:gd name="T47" fmla="*/ 1 h 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7"/>
                  <a:gd name="T73" fmla="*/ 0 h 36"/>
                  <a:gd name="T74" fmla="*/ 47 w 47"/>
                  <a:gd name="T75" fmla="*/ 36 h 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7" h="36">
                    <a:moveTo>
                      <a:pt x="24" y="1"/>
                    </a:moveTo>
                    <a:lnTo>
                      <a:pt x="26" y="5"/>
                    </a:lnTo>
                    <a:lnTo>
                      <a:pt x="27" y="10"/>
                    </a:lnTo>
                    <a:lnTo>
                      <a:pt x="28" y="15"/>
                    </a:lnTo>
                    <a:lnTo>
                      <a:pt x="29" y="20"/>
                    </a:lnTo>
                    <a:lnTo>
                      <a:pt x="30" y="24"/>
                    </a:lnTo>
                    <a:lnTo>
                      <a:pt x="32" y="29"/>
                    </a:lnTo>
                    <a:lnTo>
                      <a:pt x="37" y="31"/>
                    </a:lnTo>
                    <a:lnTo>
                      <a:pt x="42" y="32"/>
                    </a:lnTo>
                    <a:lnTo>
                      <a:pt x="44" y="32"/>
                    </a:lnTo>
                    <a:lnTo>
                      <a:pt x="45" y="32"/>
                    </a:lnTo>
                    <a:lnTo>
                      <a:pt x="46" y="33"/>
                    </a:lnTo>
                    <a:lnTo>
                      <a:pt x="47" y="34"/>
                    </a:lnTo>
                    <a:lnTo>
                      <a:pt x="47" y="36"/>
                    </a:lnTo>
                    <a:lnTo>
                      <a:pt x="17" y="36"/>
                    </a:lnTo>
                    <a:lnTo>
                      <a:pt x="14" y="32"/>
                    </a:lnTo>
                    <a:lnTo>
                      <a:pt x="12" y="28"/>
                    </a:lnTo>
                    <a:lnTo>
                      <a:pt x="9" y="23"/>
                    </a:lnTo>
                    <a:lnTo>
                      <a:pt x="8" y="19"/>
                    </a:lnTo>
                    <a:lnTo>
                      <a:pt x="4" y="14"/>
                    </a:lnTo>
                    <a:lnTo>
                      <a:pt x="3" y="9"/>
                    </a:lnTo>
                    <a:lnTo>
                      <a:pt x="1" y="5"/>
                    </a:lnTo>
                    <a:lnTo>
                      <a:pt x="0" y="0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10" name="Freeform 1090"/>
              <p:cNvSpPr>
                <a:spLocks/>
              </p:cNvSpPr>
              <p:nvPr/>
            </p:nvSpPr>
            <p:spPr bwMode="auto">
              <a:xfrm>
                <a:off x="2086" y="3330"/>
                <a:ext cx="47" cy="37"/>
              </a:xfrm>
              <a:custGeom>
                <a:avLst/>
                <a:gdLst>
                  <a:gd name="T0" fmla="*/ 47 w 47"/>
                  <a:gd name="T1" fmla="*/ 36 h 37"/>
                  <a:gd name="T2" fmla="*/ 45 w 47"/>
                  <a:gd name="T3" fmla="*/ 36 h 37"/>
                  <a:gd name="T4" fmla="*/ 42 w 47"/>
                  <a:gd name="T5" fmla="*/ 36 h 37"/>
                  <a:gd name="T6" fmla="*/ 40 w 47"/>
                  <a:gd name="T7" fmla="*/ 37 h 37"/>
                  <a:gd name="T8" fmla="*/ 37 w 47"/>
                  <a:gd name="T9" fmla="*/ 37 h 37"/>
                  <a:gd name="T10" fmla="*/ 33 w 47"/>
                  <a:gd name="T11" fmla="*/ 37 h 37"/>
                  <a:gd name="T12" fmla="*/ 30 w 47"/>
                  <a:gd name="T13" fmla="*/ 37 h 37"/>
                  <a:gd name="T14" fmla="*/ 28 w 47"/>
                  <a:gd name="T15" fmla="*/ 37 h 37"/>
                  <a:gd name="T16" fmla="*/ 25 w 47"/>
                  <a:gd name="T17" fmla="*/ 37 h 37"/>
                  <a:gd name="T18" fmla="*/ 22 w 47"/>
                  <a:gd name="T19" fmla="*/ 37 h 37"/>
                  <a:gd name="T20" fmla="*/ 20 w 47"/>
                  <a:gd name="T21" fmla="*/ 37 h 37"/>
                  <a:gd name="T22" fmla="*/ 16 w 47"/>
                  <a:gd name="T23" fmla="*/ 37 h 37"/>
                  <a:gd name="T24" fmla="*/ 13 w 47"/>
                  <a:gd name="T25" fmla="*/ 37 h 37"/>
                  <a:gd name="T26" fmla="*/ 11 w 47"/>
                  <a:gd name="T27" fmla="*/ 37 h 37"/>
                  <a:gd name="T28" fmla="*/ 9 w 47"/>
                  <a:gd name="T29" fmla="*/ 37 h 37"/>
                  <a:gd name="T30" fmla="*/ 7 w 47"/>
                  <a:gd name="T31" fmla="*/ 37 h 37"/>
                  <a:gd name="T32" fmla="*/ 5 w 47"/>
                  <a:gd name="T33" fmla="*/ 36 h 37"/>
                  <a:gd name="T34" fmla="*/ 6 w 47"/>
                  <a:gd name="T35" fmla="*/ 35 h 37"/>
                  <a:gd name="T36" fmla="*/ 7 w 47"/>
                  <a:gd name="T37" fmla="*/ 34 h 37"/>
                  <a:gd name="T38" fmla="*/ 9 w 47"/>
                  <a:gd name="T39" fmla="*/ 31 h 37"/>
                  <a:gd name="T40" fmla="*/ 10 w 47"/>
                  <a:gd name="T41" fmla="*/ 29 h 37"/>
                  <a:gd name="T42" fmla="*/ 11 w 47"/>
                  <a:gd name="T43" fmla="*/ 26 h 37"/>
                  <a:gd name="T44" fmla="*/ 12 w 47"/>
                  <a:gd name="T45" fmla="*/ 23 h 37"/>
                  <a:gd name="T46" fmla="*/ 13 w 47"/>
                  <a:gd name="T47" fmla="*/ 20 h 37"/>
                  <a:gd name="T48" fmla="*/ 14 w 47"/>
                  <a:gd name="T49" fmla="*/ 18 h 37"/>
                  <a:gd name="T50" fmla="*/ 12 w 47"/>
                  <a:gd name="T51" fmla="*/ 16 h 37"/>
                  <a:gd name="T52" fmla="*/ 10 w 47"/>
                  <a:gd name="T53" fmla="*/ 14 h 37"/>
                  <a:gd name="T54" fmla="*/ 8 w 47"/>
                  <a:gd name="T55" fmla="*/ 12 h 37"/>
                  <a:gd name="T56" fmla="*/ 7 w 47"/>
                  <a:gd name="T57" fmla="*/ 9 h 37"/>
                  <a:gd name="T58" fmla="*/ 5 w 47"/>
                  <a:gd name="T59" fmla="*/ 7 h 37"/>
                  <a:gd name="T60" fmla="*/ 2 w 47"/>
                  <a:gd name="T61" fmla="*/ 5 h 37"/>
                  <a:gd name="T62" fmla="*/ 1 w 47"/>
                  <a:gd name="T63" fmla="*/ 2 h 37"/>
                  <a:gd name="T64" fmla="*/ 0 w 47"/>
                  <a:gd name="T65" fmla="*/ 0 h 37"/>
                  <a:gd name="T66" fmla="*/ 47 w 47"/>
                  <a:gd name="T67" fmla="*/ 1 h 37"/>
                  <a:gd name="T68" fmla="*/ 47 w 47"/>
                  <a:gd name="T69" fmla="*/ 36 h 3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7"/>
                  <a:gd name="T106" fmla="*/ 0 h 37"/>
                  <a:gd name="T107" fmla="*/ 47 w 47"/>
                  <a:gd name="T108" fmla="*/ 37 h 3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7" h="37">
                    <a:moveTo>
                      <a:pt x="47" y="36"/>
                    </a:moveTo>
                    <a:lnTo>
                      <a:pt x="45" y="36"/>
                    </a:lnTo>
                    <a:lnTo>
                      <a:pt x="42" y="36"/>
                    </a:lnTo>
                    <a:lnTo>
                      <a:pt x="40" y="37"/>
                    </a:lnTo>
                    <a:lnTo>
                      <a:pt x="37" y="37"/>
                    </a:lnTo>
                    <a:lnTo>
                      <a:pt x="33" y="37"/>
                    </a:lnTo>
                    <a:lnTo>
                      <a:pt x="30" y="37"/>
                    </a:lnTo>
                    <a:lnTo>
                      <a:pt x="28" y="37"/>
                    </a:lnTo>
                    <a:lnTo>
                      <a:pt x="25" y="37"/>
                    </a:lnTo>
                    <a:lnTo>
                      <a:pt x="22" y="37"/>
                    </a:lnTo>
                    <a:lnTo>
                      <a:pt x="20" y="37"/>
                    </a:lnTo>
                    <a:lnTo>
                      <a:pt x="16" y="37"/>
                    </a:lnTo>
                    <a:lnTo>
                      <a:pt x="13" y="37"/>
                    </a:lnTo>
                    <a:lnTo>
                      <a:pt x="11" y="37"/>
                    </a:lnTo>
                    <a:lnTo>
                      <a:pt x="9" y="37"/>
                    </a:lnTo>
                    <a:lnTo>
                      <a:pt x="7" y="37"/>
                    </a:lnTo>
                    <a:lnTo>
                      <a:pt x="5" y="36"/>
                    </a:lnTo>
                    <a:lnTo>
                      <a:pt x="6" y="35"/>
                    </a:lnTo>
                    <a:lnTo>
                      <a:pt x="7" y="34"/>
                    </a:lnTo>
                    <a:lnTo>
                      <a:pt x="9" y="31"/>
                    </a:lnTo>
                    <a:lnTo>
                      <a:pt x="10" y="29"/>
                    </a:lnTo>
                    <a:lnTo>
                      <a:pt x="11" y="26"/>
                    </a:lnTo>
                    <a:lnTo>
                      <a:pt x="12" y="23"/>
                    </a:lnTo>
                    <a:lnTo>
                      <a:pt x="13" y="20"/>
                    </a:lnTo>
                    <a:lnTo>
                      <a:pt x="14" y="18"/>
                    </a:lnTo>
                    <a:lnTo>
                      <a:pt x="12" y="16"/>
                    </a:lnTo>
                    <a:lnTo>
                      <a:pt x="10" y="14"/>
                    </a:lnTo>
                    <a:lnTo>
                      <a:pt x="8" y="12"/>
                    </a:lnTo>
                    <a:lnTo>
                      <a:pt x="7" y="9"/>
                    </a:lnTo>
                    <a:lnTo>
                      <a:pt x="5" y="7"/>
                    </a:lnTo>
                    <a:lnTo>
                      <a:pt x="2" y="5"/>
                    </a:lnTo>
                    <a:lnTo>
                      <a:pt x="1" y="2"/>
                    </a:lnTo>
                    <a:lnTo>
                      <a:pt x="0" y="0"/>
                    </a:lnTo>
                    <a:lnTo>
                      <a:pt x="47" y="1"/>
                    </a:lnTo>
                    <a:lnTo>
                      <a:pt x="47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11" name="Freeform 1091"/>
              <p:cNvSpPr>
                <a:spLocks/>
              </p:cNvSpPr>
              <p:nvPr/>
            </p:nvSpPr>
            <p:spPr bwMode="auto">
              <a:xfrm>
                <a:off x="2013" y="3370"/>
                <a:ext cx="50" cy="38"/>
              </a:xfrm>
              <a:custGeom>
                <a:avLst/>
                <a:gdLst>
                  <a:gd name="T0" fmla="*/ 28 w 50"/>
                  <a:gd name="T1" fmla="*/ 1 h 38"/>
                  <a:gd name="T2" fmla="*/ 31 w 50"/>
                  <a:gd name="T3" fmla="*/ 7 h 38"/>
                  <a:gd name="T4" fmla="*/ 33 w 50"/>
                  <a:gd name="T5" fmla="*/ 11 h 38"/>
                  <a:gd name="T6" fmla="*/ 35 w 50"/>
                  <a:gd name="T7" fmla="*/ 15 h 38"/>
                  <a:gd name="T8" fmla="*/ 38 w 50"/>
                  <a:gd name="T9" fmla="*/ 20 h 38"/>
                  <a:gd name="T10" fmla="*/ 41 w 50"/>
                  <a:gd name="T11" fmla="*/ 24 h 38"/>
                  <a:gd name="T12" fmla="*/ 44 w 50"/>
                  <a:gd name="T13" fmla="*/ 28 h 38"/>
                  <a:gd name="T14" fmla="*/ 47 w 50"/>
                  <a:gd name="T15" fmla="*/ 32 h 38"/>
                  <a:gd name="T16" fmla="*/ 50 w 50"/>
                  <a:gd name="T17" fmla="*/ 38 h 38"/>
                  <a:gd name="T18" fmla="*/ 46 w 50"/>
                  <a:gd name="T19" fmla="*/ 38 h 38"/>
                  <a:gd name="T20" fmla="*/ 41 w 50"/>
                  <a:gd name="T21" fmla="*/ 37 h 38"/>
                  <a:gd name="T22" fmla="*/ 37 w 50"/>
                  <a:gd name="T23" fmla="*/ 37 h 38"/>
                  <a:gd name="T24" fmla="*/ 33 w 50"/>
                  <a:gd name="T25" fmla="*/ 35 h 38"/>
                  <a:gd name="T26" fmla="*/ 29 w 50"/>
                  <a:gd name="T27" fmla="*/ 33 h 38"/>
                  <a:gd name="T28" fmla="*/ 26 w 50"/>
                  <a:gd name="T29" fmla="*/ 31 h 38"/>
                  <a:gd name="T30" fmla="*/ 23 w 50"/>
                  <a:gd name="T31" fmla="*/ 29 h 38"/>
                  <a:gd name="T32" fmla="*/ 20 w 50"/>
                  <a:gd name="T33" fmla="*/ 26 h 38"/>
                  <a:gd name="T34" fmla="*/ 18 w 50"/>
                  <a:gd name="T35" fmla="*/ 23 h 38"/>
                  <a:gd name="T36" fmla="*/ 15 w 50"/>
                  <a:gd name="T37" fmla="*/ 20 h 38"/>
                  <a:gd name="T38" fmla="*/ 12 w 50"/>
                  <a:gd name="T39" fmla="*/ 16 h 38"/>
                  <a:gd name="T40" fmla="*/ 9 w 50"/>
                  <a:gd name="T41" fmla="*/ 13 h 38"/>
                  <a:gd name="T42" fmla="*/ 7 w 50"/>
                  <a:gd name="T43" fmla="*/ 10 h 38"/>
                  <a:gd name="T44" fmla="*/ 5 w 50"/>
                  <a:gd name="T45" fmla="*/ 7 h 38"/>
                  <a:gd name="T46" fmla="*/ 2 w 50"/>
                  <a:gd name="T47" fmla="*/ 4 h 38"/>
                  <a:gd name="T48" fmla="*/ 0 w 50"/>
                  <a:gd name="T49" fmla="*/ 0 h 38"/>
                  <a:gd name="T50" fmla="*/ 28 w 50"/>
                  <a:gd name="T51" fmla="*/ 1 h 3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50"/>
                  <a:gd name="T79" fmla="*/ 0 h 38"/>
                  <a:gd name="T80" fmla="*/ 50 w 50"/>
                  <a:gd name="T81" fmla="*/ 38 h 38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50" h="38">
                    <a:moveTo>
                      <a:pt x="28" y="1"/>
                    </a:moveTo>
                    <a:lnTo>
                      <a:pt x="31" y="7"/>
                    </a:lnTo>
                    <a:lnTo>
                      <a:pt x="33" y="11"/>
                    </a:lnTo>
                    <a:lnTo>
                      <a:pt x="35" y="15"/>
                    </a:lnTo>
                    <a:lnTo>
                      <a:pt x="38" y="20"/>
                    </a:lnTo>
                    <a:lnTo>
                      <a:pt x="41" y="24"/>
                    </a:lnTo>
                    <a:lnTo>
                      <a:pt x="44" y="28"/>
                    </a:lnTo>
                    <a:lnTo>
                      <a:pt x="47" y="32"/>
                    </a:lnTo>
                    <a:lnTo>
                      <a:pt x="50" y="38"/>
                    </a:lnTo>
                    <a:lnTo>
                      <a:pt x="46" y="38"/>
                    </a:lnTo>
                    <a:lnTo>
                      <a:pt x="41" y="37"/>
                    </a:lnTo>
                    <a:lnTo>
                      <a:pt x="37" y="37"/>
                    </a:lnTo>
                    <a:lnTo>
                      <a:pt x="33" y="35"/>
                    </a:lnTo>
                    <a:lnTo>
                      <a:pt x="29" y="33"/>
                    </a:lnTo>
                    <a:lnTo>
                      <a:pt x="26" y="31"/>
                    </a:lnTo>
                    <a:lnTo>
                      <a:pt x="23" y="29"/>
                    </a:lnTo>
                    <a:lnTo>
                      <a:pt x="20" y="26"/>
                    </a:lnTo>
                    <a:lnTo>
                      <a:pt x="18" y="23"/>
                    </a:lnTo>
                    <a:lnTo>
                      <a:pt x="15" y="20"/>
                    </a:lnTo>
                    <a:lnTo>
                      <a:pt x="12" y="16"/>
                    </a:lnTo>
                    <a:lnTo>
                      <a:pt x="9" y="13"/>
                    </a:lnTo>
                    <a:lnTo>
                      <a:pt x="7" y="10"/>
                    </a:lnTo>
                    <a:lnTo>
                      <a:pt x="5" y="7"/>
                    </a:lnTo>
                    <a:lnTo>
                      <a:pt x="2" y="4"/>
                    </a:lnTo>
                    <a:lnTo>
                      <a:pt x="0" y="0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12" name="Freeform 1092"/>
              <p:cNvSpPr>
                <a:spLocks/>
              </p:cNvSpPr>
              <p:nvPr/>
            </p:nvSpPr>
            <p:spPr bwMode="auto">
              <a:xfrm>
                <a:off x="2083" y="3370"/>
                <a:ext cx="50" cy="38"/>
              </a:xfrm>
              <a:custGeom>
                <a:avLst/>
                <a:gdLst>
                  <a:gd name="T0" fmla="*/ 50 w 50"/>
                  <a:gd name="T1" fmla="*/ 1 h 38"/>
                  <a:gd name="T2" fmla="*/ 50 w 50"/>
                  <a:gd name="T3" fmla="*/ 10 h 38"/>
                  <a:gd name="T4" fmla="*/ 50 w 50"/>
                  <a:gd name="T5" fmla="*/ 19 h 38"/>
                  <a:gd name="T6" fmla="*/ 50 w 50"/>
                  <a:gd name="T7" fmla="*/ 29 h 38"/>
                  <a:gd name="T8" fmla="*/ 50 w 50"/>
                  <a:gd name="T9" fmla="*/ 38 h 38"/>
                  <a:gd name="T10" fmla="*/ 0 w 50"/>
                  <a:gd name="T11" fmla="*/ 38 h 38"/>
                  <a:gd name="T12" fmla="*/ 2 w 50"/>
                  <a:gd name="T13" fmla="*/ 0 h 38"/>
                  <a:gd name="T14" fmla="*/ 4 w 50"/>
                  <a:gd name="T15" fmla="*/ 0 h 38"/>
                  <a:gd name="T16" fmla="*/ 8 w 50"/>
                  <a:gd name="T17" fmla="*/ 0 h 38"/>
                  <a:gd name="T18" fmla="*/ 11 w 50"/>
                  <a:gd name="T19" fmla="*/ 1 h 38"/>
                  <a:gd name="T20" fmla="*/ 13 w 50"/>
                  <a:gd name="T21" fmla="*/ 1 h 38"/>
                  <a:gd name="T22" fmla="*/ 16 w 50"/>
                  <a:gd name="T23" fmla="*/ 1 h 38"/>
                  <a:gd name="T24" fmla="*/ 19 w 50"/>
                  <a:gd name="T25" fmla="*/ 1 h 38"/>
                  <a:gd name="T26" fmla="*/ 23 w 50"/>
                  <a:gd name="T27" fmla="*/ 1 h 38"/>
                  <a:gd name="T28" fmla="*/ 26 w 50"/>
                  <a:gd name="T29" fmla="*/ 1 h 38"/>
                  <a:gd name="T30" fmla="*/ 29 w 50"/>
                  <a:gd name="T31" fmla="*/ 1 h 38"/>
                  <a:gd name="T32" fmla="*/ 32 w 50"/>
                  <a:gd name="T33" fmla="*/ 1 h 38"/>
                  <a:gd name="T34" fmla="*/ 35 w 50"/>
                  <a:gd name="T35" fmla="*/ 1 h 38"/>
                  <a:gd name="T36" fmla="*/ 39 w 50"/>
                  <a:gd name="T37" fmla="*/ 1 h 38"/>
                  <a:gd name="T38" fmla="*/ 41 w 50"/>
                  <a:gd name="T39" fmla="*/ 1 h 38"/>
                  <a:gd name="T40" fmla="*/ 44 w 50"/>
                  <a:gd name="T41" fmla="*/ 1 h 38"/>
                  <a:gd name="T42" fmla="*/ 47 w 50"/>
                  <a:gd name="T43" fmla="*/ 1 h 38"/>
                  <a:gd name="T44" fmla="*/ 50 w 50"/>
                  <a:gd name="T45" fmla="*/ 1 h 3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50"/>
                  <a:gd name="T70" fmla="*/ 0 h 38"/>
                  <a:gd name="T71" fmla="*/ 50 w 50"/>
                  <a:gd name="T72" fmla="*/ 38 h 38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50" h="38">
                    <a:moveTo>
                      <a:pt x="50" y="1"/>
                    </a:moveTo>
                    <a:lnTo>
                      <a:pt x="50" y="10"/>
                    </a:lnTo>
                    <a:lnTo>
                      <a:pt x="50" y="19"/>
                    </a:lnTo>
                    <a:lnTo>
                      <a:pt x="50" y="29"/>
                    </a:lnTo>
                    <a:lnTo>
                      <a:pt x="50" y="38"/>
                    </a:lnTo>
                    <a:lnTo>
                      <a:pt x="0" y="38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8" y="0"/>
                    </a:lnTo>
                    <a:lnTo>
                      <a:pt x="11" y="1"/>
                    </a:lnTo>
                    <a:lnTo>
                      <a:pt x="13" y="1"/>
                    </a:lnTo>
                    <a:lnTo>
                      <a:pt x="16" y="1"/>
                    </a:lnTo>
                    <a:lnTo>
                      <a:pt x="19" y="1"/>
                    </a:lnTo>
                    <a:lnTo>
                      <a:pt x="23" y="1"/>
                    </a:lnTo>
                    <a:lnTo>
                      <a:pt x="26" y="1"/>
                    </a:lnTo>
                    <a:lnTo>
                      <a:pt x="29" y="1"/>
                    </a:lnTo>
                    <a:lnTo>
                      <a:pt x="32" y="1"/>
                    </a:lnTo>
                    <a:lnTo>
                      <a:pt x="35" y="1"/>
                    </a:lnTo>
                    <a:lnTo>
                      <a:pt x="39" y="1"/>
                    </a:lnTo>
                    <a:lnTo>
                      <a:pt x="41" y="1"/>
                    </a:lnTo>
                    <a:lnTo>
                      <a:pt x="44" y="1"/>
                    </a:lnTo>
                    <a:lnTo>
                      <a:pt x="47" y="1"/>
                    </a:lnTo>
                    <a:lnTo>
                      <a:pt x="5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513" name="Freeform 1093"/>
              <p:cNvSpPr>
                <a:spLocks/>
              </p:cNvSpPr>
              <p:nvPr/>
            </p:nvSpPr>
            <p:spPr bwMode="auto">
              <a:xfrm>
                <a:off x="2056" y="3412"/>
                <a:ext cx="77" cy="24"/>
              </a:xfrm>
              <a:custGeom>
                <a:avLst/>
                <a:gdLst>
                  <a:gd name="T0" fmla="*/ 27 w 77"/>
                  <a:gd name="T1" fmla="*/ 5 h 24"/>
                  <a:gd name="T2" fmla="*/ 28 w 77"/>
                  <a:gd name="T3" fmla="*/ 4 h 24"/>
                  <a:gd name="T4" fmla="*/ 28 w 77"/>
                  <a:gd name="T5" fmla="*/ 3 h 24"/>
                  <a:gd name="T6" fmla="*/ 28 w 77"/>
                  <a:gd name="T7" fmla="*/ 2 h 24"/>
                  <a:gd name="T8" fmla="*/ 28 w 77"/>
                  <a:gd name="T9" fmla="*/ 1 h 24"/>
                  <a:gd name="T10" fmla="*/ 77 w 77"/>
                  <a:gd name="T11" fmla="*/ 1 h 24"/>
                  <a:gd name="T12" fmla="*/ 77 w 77"/>
                  <a:gd name="T13" fmla="*/ 24 h 24"/>
                  <a:gd name="T14" fmla="*/ 72 w 77"/>
                  <a:gd name="T15" fmla="*/ 24 h 24"/>
                  <a:gd name="T16" fmla="*/ 67 w 77"/>
                  <a:gd name="T17" fmla="*/ 22 h 24"/>
                  <a:gd name="T18" fmla="*/ 62 w 77"/>
                  <a:gd name="T19" fmla="*/ 22 h 24"/>
                  <a:gd name="T20" fmla="*/ 57 w 77"/>
                  <a:gd name="T21" fmla="*/ 21 h 24"/>
                  <a:gd name="T22" fmla="*/ 52 w 77"/>
                  <a:gd name="T23" fmla="*/ 20 h 24"/>
                  <a:gd name="T24" fmla="*/ 47 w 77"/>
                  <a:gd name="T25" fmla="*/ 19 h 24"/>
                  <a:gd name="T26" fmla="*/ 42 w 77"/>
                  <a:gd name="T27" fmla="*/ 18 h 24"/>
                  <a:gd name="T28" fmla="*/ 38 w 77"/>
                  <a:gd name="T29" fmla="*/ 17 h 24"/>
                  <a:gd name="T30" fmla="*/ 32 w 77"/>
                  <a:gd name="T31" fmla="*/ 16 h 24"/>
                  <a:gd name="T32" fmla="*/ 27 w 77"/>
                  <a:gd name="T33" fmla="*/ 14 h 24"/>
                  <a:gd name="T34" fmla="*/ 23 w 77"/>
                  <a:gd name="T35" fmla="*/ 13 h 24"/>
                  <a:gd name="T36" fmla="*/ 19 w 77"/>
                  <a:gd name="T37" fmla="*/ 11 h 24"/>
                  <a:gd name="T38" fmla="*/ 13 w 77"/>
                  <a:gd name="T39" fmla="*/ 9 h 24"/>
                  <a:gd name="T40" fmla="*/ 9 w 77"/>
                  <a:gd name="T41" fmla="*/ 6 h 24"/>
                  <a:gd name="T42" fmla="*/ 5 w 77"/>
                  <a:gd name="T43" fmla="*/ 3 h 24"/>
                  <a:gd name="T44" fmla="*/ 0 w 77"/>
                  <a:gd name="T45" fmla="*/ 1 h 24"/>
                  <a:gd name="T46" fmla="*/ 4 w 77"/>
                  <a:gd name="T47" fmla="*/ 0 h 24"/>
                  <a:gd name="T48" fmla="*/ 7 w 77"/>
                  <a:gd name="T49" fmla="*/ 0 h 24"/>
                  <a:gd name="T50" fmla="*/ 10 w 77"/>
                  <a:gd name="T51" fmla="*/ 0 h 24"/>
                  <a:gd name="T52" fmla="*/ 13 w 77"/>
                  <a:gd name="T53" fmla="*/ 1 h 24"/>
                  <a:gd name="T54" fmla="*/ 16 w 77"/>
                  <a:gd name="T55" fmla="*/ 2 h 24"/>
                  <a:gd name="T56" fmla="*/ 20 w 77"/>
                  <a:gd name="T57" fmla="*/ 3 h 24"/>
                  <a:gd name="T58" fmla="*/ 24 w 77"/>
                  <a:gd name="T59" fmla="*/ 4 h 24"/>
                  <a:gd name="T60" fmla="*/ 27 w 77"/>
                  <a:gd name="T61" fmla="*/ 5 h 24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77"/>
                  <a:gd name="T94" fmla="*/ 0 h 24"/>
                  <a:gd name="T95" fmla="*/ 77 w 77"/>
                  <a:gd name="T96" fmla="*/ 24 h 24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77" h="24">
                    <a:moveTo>
                      <a:pt x="27" y="5"/>
                    </a:moveTo>
                    <a:lnTo>
                      <a:pt x="28" y="4"/>
                    </a:lnTo>
                    <a:lnTo>
                      <a:pt x="28" y="3"/>
                    </a:lnTo>
                    <a:lnTo>
                      <a:pt x="28" y="2"/>
                    </a:lnTo>
                    <a:lnTo>
                      <a:pt x="28" y="1"/>
                    </a:lnTo>
                    <a:lnTo>
                      <a:pt x="77" y="1"/>
                    </a:lnTo>
                    <a:lnTo>
                      <a:pt x="77" y="24"/>
                    </a:lnTo>
                    <a:lnTo>
                      <a:pt x="72" y="24"/>
                    </a:lnTo>
                    <a:lnTo>
                      <a:pt x="67" y="22"/>
                    </a:lnTo>
                    <a:lnTo>
                      <a:pt x="62" y="22"/>
                    </a:lnTo>
                    <a:lnTo>
                      <a:pt x="57" y="21"/>
                    </a:lnTo>
                    <a:lnTo>
                      <a:pt x="52" y="20"/>
                    </a:lnTo>
                    <a:lnTo>
                      <a:pt x="47" y="19"/>
                    </a:lnTo>
                    <a:lnTo>
                      <a:pt x="42" y="18"/>
                    </a:lnTo>
                    <a:lnTo>
                      <a:pt x="38" y="17"/>
                    </a:lnTo>
                    <a:lnTo>
                      <a:pt x="32" y="16"/>
                    </a:lnTo>
                    <a:lnTo>
                      <a:pt x="27" y="14"/>
                    </a:lnTo>
                    <a:lnTo>
                      <a:pt x="23" y="13"/>
                    </a:lnTo>
                    <a:lnTo>
                      <a:pt x="19" y="11"/>
                    </a:lnTo>
                    <a:lnTo>
                      <a:pt x="13" y="9"/>
                    </a:lnTo>
                    <a:lnTo>
                      <a:pt x="9" y="6"/>
                    </a:lnTo>
                    <a:lnTo>
                      <a:pt x="5" y="3"/>
                    </a:lnTo>
                    <a:lnTo>
                      <a:pt x="0" y="1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6" y="2"/>
                    </a:lnTo>
                    <a:lnTo>
                      <a:pt x="20" y="3"/>
                    </a:lnTo>
                    <a:lnTo>
                      <a:pt x="24" y="4"/>
                    </a:lnTo>
                    <a:lnTo>
                      <a:pt x="27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7469" name="Rectangle 1094"/>
            <p:cNvSpPr>
              <a:spLocks noChangeArrowheads="1"/>
            </p:cNvSpPr>
            <p:nvPr/>
          </p:nvSpPr>
          <p:spPr bwMode="auto">
            <a:xfrm>
              <a:off x="2258" y="4007"/>
              <a:ext cx="542" cy="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Pre Job Activity</a:t>
              </a:r>
              <a:endParaRPr lang="en-US" sz="1000" b="0">
                <a:latin typeface="Times New Roman" pitchFamily="18" charset="0"/>
              </a:endParaRPr>
            </a:p>
          </p:txBody>
        </p:sp>
        <p:sp>
          <p:nvSpPr>
            <p:cNvPr id="17470" name="Rectangle 1095"/>
            <p:cNvSpPr>
              <a:spLocks noChangeArrowheads="1"/>
            </p:cNvSpPr>
            <p:nvPr/>
          </p:nvSpPr>
          <p:spPr bwMode="auto">
            <a:xfrm>
              <a:off x="2704" y="3740"/>
              <a:ext cx="719" cy="1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grpSp>
          <p:nvGrpSpPr>
            <p:cNvPr id="17471" name="Group 1096"/>
            <p:cNvGrpSpPr>
              <a:grpSpLocks/>
            </p:cNvGrpSpPr>
            <p:nvPr/>
          </p:nvGrpSpPr>
          <p:grpSpPr bwMode="auto">
            <a:xfrm>
              <a:off x="2872" y="3695"/>
              <a:ext cx="326" cy="268"/>
              <a:chOff x="2492" y="3139"/>
              <a:chExt cx="331" cy="295"/>
            </a:xfrm>
          </p:grpSpPr>
          <p:sp>
            <p:nvSpPr>
              <p:cNvPr id="17489" name="Freeform 1097"/>
              <p:cNvSpPr>
                <a:spLocks/>
              </p:cNvSpPr>
              <p:nvPr/>
            </p:nvSpPr>
            <p:spPr bwMode="auto">
              <a:xfrm>
                <a:off x="2514" y="3139"/>
                <a:ext cx="285" cy="295"/>
              </a:xfrm>
              <a:custGeom>
                <a:avLst/>
                <a:gdLst>
                  <a:gd name="T0" fmla="*/ 227 w 285"/>
                  <a:gd name="T1" fmla="*/ 295 h 295"/>
                  <a:gd name="T2" fmla="*/ 238 w 285"/>
                  <a:gd name="T3" fmla="*/ 295 h 295"/>
                  <a:gd name="T4" fmla="*/ 247 w 285"/>
                  <a:gd name="T5" fmla="*/ 292 h 295"/>
                  <a:gd name="T6" fmla="*/ 254 w 285"/>
                  <a:gd name="T7" fmla="*/ 289 h 295"/>
                  <a:gd name="T8" fmla="*/ 262 w 285"/>
                  <a:gd name="T9" fmla="*/ 284 h 295"/>
                  <a:gd name="T10" fmla="*/ 268 w 285"/>
                  <a:gd name="T11" fmla="*/ 278 h 295"/>
                  <a:gd name="T12" fmla="*/ 274 w 285"/>
                  <a:gd name="T13" fmla="*/ 272 h 295"/>
                  <a:gd name="T14" fmla="*/ 279 w 285"/>
                  <a:gd name="T15" fmla="*/ 263 h 295"/>
                  <a:gd name="T16" fmla="*/ 282 w 285"/>
                  <a:gd name="T17" fmla="*/ 255 h 295"/>
                  <a:gd name="T18" fmla="*/ 285 w 285"/>
                  <a:gd name="T19" fmla="*/ 246 h 295"/>
                  <a:gd name="T20" fmla="*/ 285 w 285"/>
                  <a:gd name="T21" fmla="*/ 236 h 295"/>
                  <a:gd name="T22" fmla="*/ 285 w 285"/>
                  <a:gd name="T23" fmla="*/ 58 h 295"/>
                  <a:gd name="T24" fmla="*/ 285 w 285"/>
                  <a:gd name="T25" fmla="*/ 49 h 295"/>
                  <a:gd name="T26" fmla="*/ 282 w 285"/>
                  <a:gd name="T27" fmla="*/ 40 h 295"/>
                  <a:gd name="T28" fmla="*/ 279 w 285"/>
                  <a:gd name="T29" fmla="*/ 32 h 295"/>
                  <a:gd name="T30" fmla="*/ 274 w 285"/>
                  <a:gd name="T31" fmla="*/ 23 h 295"/>
                  <a:gd name="T32" fmla="*/ 268 w 285"/>
                  <a:gd name="T33" fmla="*/ 17 h 295"/>
                  <a:gd name="T34" fmla="*/ 262 w 285"/>
                  <a:gd name="T35" fmla="*/ 11 h 295"/>
                  <a:gd name="T36" fmla="*/ 254 w 285"/>
                  <a:gd name="T37" fmla="*/ 6 h 295"/>
                  <a:gd name="T38" fmla="*/ 247 w 285"/>
                  <a:gd name="T39" fmla="*/ 3 h 295"/>
                  <a:gd name="T40" fmla="*/ 238 w 285"/>
                  <a:gd name="T41" fmla="*/ 0 h 295"/>
                  <a:gd name="T42" fmla="*/ 227 w 285"/>
                  <a:gd name="T43" fmla="*/ 0 h 295"/>
                  <a:gd name="T44" fmla="*/ 57 w 285"/>
                  <a:gd name="T45" fmla="*/ 0 h 295"/>
                  <a:gd name="T46" fmla="*/ 48 w 285"/>
                  <a:gd name="T47" fmla="*/ 0 h 295"/>
                  <a:gd name="T48" fmla="*/ 39 w 285"/>
                  <a:gd name="T49" fmla="*/ 3 h 295"/>
                  <a:gd name="T50" fmla="*/ 31 w 285"/>
                  <a:gd name="T51" fmla="*/ 6 h 295"/>
                  <a:gd name="T52" fmla="*/ 23 w 285"/>
                  <a:gd name="T53" fmla="*/ 11 h 295"/>
                  <a:gd name="T54" fmla="*/ 17 w 285"/>
                  <a:gd name="T55" fmla="*/ 17 h 295"/>
                  <a:gd name="T56" fmla="*/ 11 w 285"/>
                  <a:gd name="T57" fmla="*/ 23 h 295"/>
                  <a:gd name="T58" fmla="*/ 6 w 285"/>
                  <a:gd name="T59" fmla="*/ 32 h 295"/>
                  <a:gd name="T60" fmla="*/ 3 w 285"/>
                  <a:gd name="T61" fmla="*/ 40 h 295"/>
                  <a:gd name="T62" fmla="*/ 1 w 285"/>
                  <a:gd name="T63" fmla="*/ 49 h 295"/>
                  <a:gd name="T64" fmla="*/ 0 w 285"/>
                  <a:gd name="T65" fmla="*/ 58 h 295"/>
                  <a:gd name="T66" fmla="*/ 0 w 285"/>
                  <a:gd name="T67" fmla="*/ 236 h 295"/>
                  <a:gd name="T68" fmla="*/ 1 w 285"/>
                  <a:gd name="T69" fmla="*/ 246 h 295"/>
                  <a:gd name="T70" fmla="*/ 3 w 285"/>
                  <a:gd name="T71" fmla="*/ 255 h 295"/>
                  <a:gd name="T72" fmla="*/ 6 w 285"/>
                  <a:gd name="T73" fmla="*/ 263 h 295"/>
                  <a:gd name="T74" fmla="*/ 11 w 285"/>
                  <a:gd name="T75" fmla="*/ 272 h 295"/>
                  <a:gd name="T76" fmla="*/ 17 w 285"/>
                  <a:gd name="T77" fmla="*/ 278 h 295"/>
                  <a:gd name="T78" fmla="*/ 23 w 285"/>
                  <a:gd name="T79" fmla="*/ 284 h 295"/>
                  <a:gd name="T80" fmla="*/ 31 w 285"/>
                  <a:gd name="T81" fmla="*/ 289 h 295"/>
                  <a:gd name="T82" fmla="*/ 39 w 285"/>
                  <a:gd name="T83" fmla="*/ 292 h 295"/>
                  <a:gd name="T84" fmla="*/ 48 w 285"/>
                  <a:gd name="T85" fmla="*/ 295 h 295"/>
                  <a:gd name="T86" fmla="*/ 57 w 285"/>
                  <a:gd name="T87" fmla="*/ 295 h 295"/>
                  <a:gd name="T88" fmla="*/ 227 w 285"/>
                  <a:gd name="T89" fmla="*/ 295 h 295"/>
                  <a:gd name="T90" fmla="*/ 227 w 285"/>
                  <a:gd name="T91" fmla="*/ 295 h 295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285"/>
                  <a:gd name="T139" fmla="*/ 0 h 295"/>
                  <a:gd name="T140" fmla="*/ 285 w 285"/>
                  <a:gd name="T141" fmla="*/ 295 h 295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285" h="295">
                    <a:moveTo>
                      <a:pt x="227" y="295"/>
                    </a:moveTo>
                    <a:lnTo>
                      <a:pt x="238" y="295"/>
                    </a:lnTo>
                    <a:lnTo>
                      <a:pt x="247" y="292"/>
                    </a:lnTo>
                    <a:lnTo>
                      <a:pt x="254" y="289"/>
                    </a:lnTo>
                    <a:lnTo>
                      <a:pt x="262" y="284"/>
                    </a:lnTo>
                    <a:lnTo>
                      <a:pt x="268" y="278"/>
                    </a:lnTo>
                    <a:lnTo>
                      <a:pt x="274" y="272"/>
                    </a:lnTo>
                    <a:lnTo>
                      <a:pt x="279" y="263"/>
                    </a:lnTo>
                    <a:lnTo>
                      <a:pt x="282" y="255"/>
                    </a:lnTo>
                    <a:lnTo>
                      <a:pt x="285" y="246"/>
                    </a:lnTo>
                    <a:lnTo>
                      <a:pt x="285" y="236"/>
                    </a:lnTo>
                    <a:lnTo>
                      <a:pt x="285" y="58"/>
                    </a:lnTo>
                    <a:lnTo>
                      <a:pt x="285" y="49"/>
                    </a:lnTo>
                    <a:lnTo>
                      <a:pt x="282" y="40"/>
                    </a:lnTo>
                    <a:lnTo>
                      <a:pt x="279" y="32"/>
                    </a:lnTo>
                    <a:lnTo>
                      <a:pt x="274" y="23"/>
                    </a:lnTo>
                    <a:lnTo>
                      <a:pt x="268" y="17"/>
                    </a:lnTo>
                    <a:lnTo>
                      <a:pt x="262" y="11"/>
                    </a:lnTo>
                    <a:lnTo>
                      <a:pt x="254" y="6"/>
                    </a:lnTo>
                    <a:lnTo>
                      <a:pt x="247" y="3"/>
                    </a:lnTo>
                    <a:lnTo>
                      <a:pt x="238" y="0"/>
                    </a:lnTo>
                    <a:lnTo>
                      <a:pt x="227" y="0"/>
                    </a:lnTo>
                    <a:lnTo>
                      <a:pt x="57" y="0"/>
                    </a:lnTo>
                    <a:lnTo>
                      <a:pt x="48" y="0"/>
                    </a:lnTo>
                    <a:lnTo>
                      <a:pt x="39" y="3"/>
                    </a:lnTo>
                    <a:lnTo>
                      <a:pt x="31" y="6"/>
                    </a:lnTo>
                    <a:lnTo>
                      <a:pt x="23" y="11"/>
                    </a:lnTo>
                    <a:lnTo>
                      <a:pt x="17" y="17"/>
                    </a:lnTo>
                    <a:lnTo>
                      <a:pt x="11" y="23"/>
                    </a:lnTo>
                    <a:lnTo>
                      <a:pt x="6" y="32"/>
                    </a:lnTo>
                    <a:lnTo>
                      <a:pt x="3" y="40"/>
                    </a:lnTo>
                    <a:lnTo>
                      <a:pt x="1" y="49"/>
                    </a:lnTo>
                    <a:lnTo>
                      <a:pt x="0" y="58"/>
                    </a:lnTo>
                    <a:lnTo>
                      <a:pt x="0" y="236"/>
                    </a:lnTo>
                    <a:lnTo>
                      <a:pt x="1" y="246"/>
                    </a:lnTo>
                    <a:lnTo>
                      <a:pt x="3" y="255"/>
                    </a:lnTo>
                    <a:lnTo>
                      <a:pt x="6" y="263"/>
                    </a:lnTo>
                    <a:lnTo>
                      <a:pt x="11" y="272"/>
                    </a:lnTo>
                    <a:lnTo>
                      <a:pt x="17" y="278"/>
                    </a:lnTo>
                    <a:lnTo>
                      <a:pt x="23" y="284"/>
                    </a:lnTo>
                    <a:lnTo>
                      <a:pt x="31" y="289"/>
                    </a:lnTo>
                    <a:lnTo>
                      <a:pt x="39" y="292"/>
                    </a:lnTo>
                    <a:lnTo>
                      <a:pt x="48" y="295"/>
                    </a:lnTo>
                    <a:lnTo>
                      <a:pt x="57" y="295"/>
                    </a:lnTo>
                    <a:lnTo>
                      <a:pt x="227" y="29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90" name="Freeform 1098"/>
              <p:cNvSpPr>
                <a:spLocks/>
              </p:cNvSpPr>
              <p:nvPr/>
            </p:nvSpPr>
            <p:spPr bwMode="auto">
              <a:xfrm>
                <a:off x="2492" y="3152"/>
                <a:ext cx="178" cy="185"/>
              </a:xfrm>
              <a:custGeom>
                <a:avLst/>
                <a:gdLst>
                  <a:gd name="T0" fmla="*/ 156 w 178"/>
                  <a:gd name="T1" fmla="*/ 103 h 185"/>
                  <a:gd name="T2" fmla="*/ 156 w 178"/>
                  <a:gd name="T3" fmla="*/ 100 h 185"/>
                  <a:gd name="T4" fmla="*/ 156 w 178"/>
                  <a:gd name="T5" fmla="*/ 97 h 185"/>
                  <a:gd name="T6" fmla="*/ 156 w 178"/>
                  <a:gd name="T7" fmla="*/ 94 h 185"/>
                  <a:gd name="T8" fmla="*/ 156 w 178"/>
                  <a:gd name="T9" fmla="*/ 91 h 185"/>
                  <a:gd name="T10" fmla="*/ 156 w 178"/>
                  <a:gd name="T11" fmla="*/ 88 h 185"/>
                  <a:gd name="T12" fmla="*/ 156 w 178"/>
                  <a:gd name="T13" fmla="*/ 85 h 185"/>
                  <a:gd name="T14" fmla="*/ 178 w 178"/>
                  <a:gd name="T15" fmla="*/ 76 h 185"/>
                  <a:gd name="T16" fmla="*/ 148 w 178"/>
                  <a:gd name="T17" fmla="*/ 58 h 185"/>
                  <a:gd name="T18" fmla="*/ 145 w 178"/>
                  <a:gd name="T19" fmla="*/ 54 h 185"/>
                  <a:gd name="T20" fmla="*/ 141 w 178"/>
                  <a:gd name="T21" fmla="*/ 49 h 185"/>
                  <a:gd name="T22" fmla="*/ 137 w 178"/>
                  <a:gd name="T23" fmla="*/ 44 h 185"/>
                  <a:gd name="T24" fmla="*/ 119 w 178"/>
                  <a:gd name="T25" fmla="*/ 30 h 185"/>
                  <a:gd name="T26" fmla="*/ 114 w 178"/>
                  <a:gd name="T27" fmla="*/ 28 h 185"/>
                  <a:gd name="T28" fmla="*/ 108 w 178"/>
                  <a:gd name="T29" fmla="*/ 26 h 185"/>
                  <a:gd name="T30" fmla="*/ 103 w 178"/>
                  <a:gd name="T31" fmla="*/ 24 h 185"/>
                  <a:gd name="T32" fmla="*/ 77 w 178"/>
                  <a:gd name="T33" fmla="*/ 0 h 185"/>
                  <a:gd name="T34" fmla="*/ 74 w 178"/>
                  <a:gd name="T35" fmla="*/ 25 h 185"/>
                  <a:gd name="T36" fmla="*/ 69 w 178"/>
                  <a:gd name="T37" fmla="*/ 26 h 185"/>
                  <a:gd name="T38" fmla="*/ 63 w 178"/>
                  <a:gd name="T39" fmla="*/ 28 h 185"/>
                  <a:gd name="T40" fmla="*/ 46 w 178"/>
                  <a:gd name="T41" fmla="*/ 11 h 185"/>
                  <a:gd name="T42" fmla="*/ 39 w 178"/>
                  <a:gd name="T43" fmla="*/ 46 h 185"/>
                  <a:gd name="T44" fmla="*/ 36 w 178"/>
                  <a:gd name="T45" fmla="*/ 51 h 185"/>
                  <a:gd name="T46" fmla="*/ 32 w 178"/>
                  <a:gd name="T47" fmla="*/ 55 h 185"/>
                  <a:gd name="T48" fmla="*/ 30 w 178"/>
                  <a:gd name="T49" fmla="*/ 60 h 185"/>
                  <a:gd name="T50" fmla="*/ 23 w 178"/>
                  <a:gd name="T51" fmla="*/ 83 h 185"/>
                  <a:gd name="T52" fmla="*/ 23 w 178"/>
                  <a:gd name="T53" fmla="*/ 87 h 185"/>
                  <a:gd name="T54" fmla="*/ 22 w 178"/>
                  <a:gd name="T55" fmla="*/ 89 h 185"/>
                  <a:gd name="T56" fmla="*/ 22 w 178"/>
                  <a:gd name="T57" fmla="*/ 92 h 185"/>
                  <a:gd name="T58" fmla="*/ 22 w 178"/>
                  <a:gd name="T59" fmla="*/ 94 h 185"/>
                  <a:gd name="T60" fmla="*/ 22 w 178"/>
                  <a:gd name="T61" fmla="*/ 98 h 185"/>
                  <a:gd name="T62" fmla="*/ 23 w 178"/>
                  <a:gd name="T63" fmla="*/ 101 h 185"/>
                  <a:gd name="T64" fmla="*/ 0 w 178"/>
                  <a:gd name="T65" fmla="*/ 109 h 185"/>
                  <a:gd name="T66" fmla="*/ 31 w 178"/>
                  <a:gd name="T67" fmla="*/ 128 h 185"/>
                  <a:gd name="T68" fmla="*/ 35 w 178"/>
                  <a:gd name="T69" fmla="*/ 132 h 185"/>
                  <a:gd name="T70" fmla="*/ 37 w 178"/>
                  <a:gd name="T71" fmla="*/ 137 h 185"/>
                  <a:gd name="T72" fmla="*/ 41 w 178"/>
                  <a:gd name="T73" fmla="*/ 141 h 185"/>
                  <a:gd name="T74" fmla="*/ 60 w 178"/>
                  <a:gd name="T75" fmla="*/ 155 h 185"/>
                  <a:gd name="T76" fmla="*/ 64 w 178"/>
                  <a:gd name="T77" fmla="*/ 159 h 185"/>
                  <a:gd name="T78" fmla="*/ 71 w 178"/>
                  <a:gd name="T79" fmla="*/ 160 h 185"/>
                  <a:gd name="T80" fmla="*/ 75 w 178"/>
                  <a:gd name="T81" fmla="*/ 162 h 185"/>
                  <a:gd name="T82" fmla="*/ 101 w 178"/>
                  <a:gd name="T83" fmla="*/ 185 h 185"/>
                  <a:gd name="T84" fmla="*/ 105 w 178"/>
                  <a:gd name="T85" fmla="*/ 161 h 185"/>
                  <a:gd name="T86" fmla="*/ 110 w 178"/>
                  <a:gd name="T87" fmla="*/ 160 h 185"/>
                  <a:gd name="T88" fmla="*/ 115 w 178"/>
                  <a:gd name="T89" fmla="*/ 157 h 185"/>
                  <a:gd name="T90" fmla="*/ 133 w 178"/>
                  <a:gd name="T91" fmla="*/ 175 h 185"/>
                  <a:gd name="T92" fmla="*/ 139 w 178"/>
                  <a:gd name="T93" fmla="*/ 139 h 185"/>
                  <a:gd name="T94" fmla="*/ 142 w 178"/>
                  <a:gd name="T95" fmla="*/ 135 h 185"/>
                  <a:gd name="T96" fmla="*/ 146 w 178"/>
                  <a:gd name="T97" fmla="*/ 131 h 185"/>
                  <a:gd name="T98" fmla="*/ 148 w 178"/>
                  <a:gd name="T99" fmla="*/ 127 h 185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78"/>
                  <a:gd name="T151" fmla="*/ 0 h 185"/>
                  <a:gd name="T152" fmla="*/ 178 w 178"/>
                  <a:gd name="T153" fmla="*/ 185 h 185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78" h="185">
                    <a:moveTo>
                      <a:pt x="170" y="133"/>
                    </a:moveTo>
                    <a:lnTo>
                      <a:pt x="178" y="109"/>
                    </a:lnTo>
                    <a:lnTo>
                      <a:pt x="156" y="103"/>
                    </a:lnTo>
                    <a:lnTo>
                      <a:pt x="156" y="101"/>
                    </a:lnTo>
                    <a:lnTo>
                      <a:pt x="156" y="100"/>
                    </a:lnTo>
                    <a:lnTo>
                      <a:pt x="156" y="99"/>
                    </a:lnTo>
                    <a:lnTo>
                      <a:pt x="156" y="98"/>
                    </a:lnTo>
                    <a:lnTo>
                      <a:pt x="156" y="97"/>
                    </a:lnTo>
                    <a:lnTo>
                      <a:pt x="156" y="96"/>
                    </a:lnTo>
                    <a:lnTo>
                      <a:pt x="156" y="94"/>
                    </a:lnTo>
                    <a:lnTo>
                      <a:pt x="156" y="92"/>
                    </a:lnTo>
                    <a:lnTo>
                      <a:pt x="156" y="91"/>
                    </a:lnTo>
                    <a:lnTo>
                      <a:pt x="156" y="90"/>
                    </a:lnTo>
                    <a:lnTo>
                      <a:pt x="156" y="89"/>
                    </a:lnTo>
                    <a:lnTo>
                      <a:pt x="156" y="88"/>
                    </a:lnTo>
                    <a:lnTo>
                      <a:pt x="156" y="87"/>
                    </a:lnTo>
                    <a:lnTo>
                      <a:pt x="156" y="85"/>
                    </a:lnTo>
                    <a:lnTo>
                      <a:pt x="156" y="83"/>
                    </a:lnTo>
                    <a:lnTo>
                      <a:pt x="178" y="76"/>
                    </a:lnTo>
                    <a:lnTo>
                      <a:pt x="170" y="53"/>
                    </a:lnTo>
                    <a:lnTo>
                      <a:pt x="148" y="60"/>
                    </a:lnTo>
                    <a:lnTo>
                      <a:pt x="148" y="58"/>
                    </a:lnTo>
                    <a:lnTo>
                      <a:pt x="147" y="57"/>
                    </a:lnTo>
                    <a:lnTo>
                      <a:pt x="146" y="55"/>
                    </a:lnTo>
                    <a:lnTo>
                      <a:pt x="145" y="54"/>
                    </a:lnTo>
                    <a:lnTo>
                      <a:pt x="144" y="52"/>
                    </a:lnTo>
                    <a:lnTo>
                      <a:pt x="142" y="51"/>
                    </a:lnTo>
                    <a:lnTo>
                      <a:pt x="141" y="49"/>
                    </a:lnTo>
                    <a:lnTo>
                      <a:pt x="140" y="47"/>
                    </a:lnTo>
                    <a:lnTo>
                      <a:pt x="139" y="46"/>
                    </a:lnTo>
                    <a:lnTo>
                      <a:pt x="137" y="44"/>
                    </a:lnTo>
                    <a:lnTo>
                      <a:pt x="151" y="25"/>
                    </a:lnTo>
                    <a:lnTo>
                      <a:pt x="133" y="11"/>
                    </a:lnTo>
                    <a:lnTo>
                      <a:pt x="119" y="30"/>
                    </a:lnTo>
                    <a:lnTo>
                      <a:pt x="117" y="29"/>
                    </a:lnTo>
                    <a:lnTo>
                      <a:pt x="115" y="28"/>
                    </a:lnTo>
                    <a:lnTo>
                      <a:pt x="114" y="28"/>
                    </a:lnTo>
                    <a:lnTo>
                      <a:pt x="111" y="27"/>
                    </a:lnTo>
                    <a:lnTo>
                      <a:pt x="110" y="26"/>
                    </a:lnTo>
                    <a:lnTo>
                      <a:pt x="108" y="26"/>
                    </a:lnTo>
                    <a:lnTo>
                      <a:pt x="107" y="25"/>
                    </a:lnTo>
                    <a:lnTo>
                      <a:pt x="105" y="25"/>
                    </a:lnTo>
                    <a:lnTo>
                      <a:pt x="103" y="24"/>
                    </a:lnTo>
                    <a:lnTo>
                      <a:pt x="101" y="24"/>
                    </a:lnTo>
                    <a:lnTo>
                      <a:pt x="101" y="0"/>
                    </a:lnTo>
                    <a:lnTo>
                      <a:pt x="77" y="0"/>
                    </a:lnTo>
                    <a:lnTo>
                      <a:pt x="77" y="24"/>
                    </a:lnTo>
                    <a:lnTo>
                      <a:pt x="75" y="24"/>
                    </a:lnTo>
                    <a:lnTo>
                      <a:pt x="74" y="25"/>
                    </a:lnTo>
                    <a:lnTo>
                      <a:pt x="72" y="25"/>
                    </a:lnTo>
                    <a:lnTo>
                      <a:pt x="71" y="26"/>
                    </a:lnTo>
                    <a:lnTo>
                      <a:pt x="69" y="26"/>
                    </a:lnTo>
                    <a:lnTo>
                      <a:pt x="67" y="27"/>
                    </a:lnTo>
                    <a:lnTo>
                      <a:pt x="64" y="28"/>
                    </a:lnTo>
                    <a:lnTo>
                      <a:pt x="63" y="28"/>
                    </a:lnTo>
                    <a:lnTo>
                      <a:pt x="61" y="29"/>
                    </a:lnTo>
                    <a:lnTo>
                      <a:pt x="60" y="30"/>
                    </a:lnTo>
                    <a:lnTo>
                      <a:pt x="46" y="11"/>
                    </a:lnTo>
                    <a:lnTo>
                      <a:pt x="27" y="25"/>
                    </a:lnTo>
                    <a:lnTo>
                      <a:pt x="41" y="44"/>
                    </a:lnTo>
                    <a:lnTo>
                      <a:pt x="39" y="46"/>
                    </a:lnTo>
                    <a:lnTo>
                      <a:pt x="38" y="47"/>
                    </a:lnTo>
                    <a:lnTo>
                      <a:pt x="37" y="49"/>
                    </a:lnTo>
                    <a:lnTo>
                      <a:pt x="36" y="51"/>
                    </a:lnTo>
                    <a:lnTo>
                      <a:pt x="35" y="52"/>
                    </a:lnTo>
                    <a:lnTo>
                      <a:pt x="35" y="54"/>
                    </a:lnTo>
                    <a:lnTo>
                      <a:pt x="32" y="55"/>
                    </a:lnTo>
                    <a:lnTo>
                      <a:pt x="31" y="57"/>
                    </a:lnTo>
                    <a:lnTo>
                      <a:pt x="31" y="58"/>
                    </a:lnTo>
                    <a:lnTo>
                      <a:pt x="30" y="60"/>
                    </a:lnTo>
                    <a:lnTo>
                      <a:pt x="9" y="53"/>
                    </a:lnTo>
                    <a:lnTo>
                      <a:pt x="0" y="76"/>
                    </a:lnTo>
                    <a:lnTo>
                      <a:pt x="23" y="83"/>
                    </a:lnTo>
                    <a:lnTo>
                      <a:pt x="23" y="85"/>
                    </a:lnTo>
                    <a:lnTo>
                      <a:pt x="23" y="87"/>
                    </a:lnTo>
                    <a:lnTo>
                      <a:pt x="22" y="87"/>
                    </a:lnTo>
                    <a:lnTo>
                      <a:pt x="22" y="88"/>
                    </a:lnTo>
                    <a:lnTo>
                      <a:pt x="22" y="89"/>
                    </a:lnTo>
                    <a:lnTo>
                      <a:pt x="22" y="90"/>
                    </a:lnTo>
                    <a:lnTo>
                      <a:pt x="22" y="91"/>
                    </a:lnTo>
                    <a:lnTo>
                      <a:pt x="22" y="92"/>
                    </a:lnTo>
                    <a:lnTo>
                      <a:pt x="22" y="94"/>
                    </a:lnTo>
                    <a:lnTo>
                      <a:pt x="22" y="96"/>
                    </a:lnTo>
                    <a:lnTo>
                      <a:pt x="22" y="97"/>
                    </a:lnTo>
                    <a:lnTo>
                      <a:pt x="22" y="98"/>
                    </a:lnTo>
                    <a:lnTo>
                      <a:pt x="22" y="99"/>
                    </a:lnTo>
                    <a:lnTo>
                      <a:pt x="23" y="100"/>
                    </a:lnTo>
                    <a:lnTo>
                      <a:pt x="23" y="101"/>
                    </a:lnTo>
                    <a:lnTo>
                      <a:pt x="23" y="103"/>
                    </a:lnTo>
                    <a:lnTo>
                      <a:pt x="0" y="109"/>
                    </a:lnTo>
                    <a:lnTo>
                      <a:pt x="9" y="133"/>
                    </a:lnTo>
                    <a:lnTo>
                      <a:pt x="30" y="127"/>
                    </a:lnTo>
                    <a:lnTo>
                      <a:pt x="31" y="128"/>
                    </a:lnTo>
                    <a:lnTo>
                      <a:pt x="31" y="129"/>
                    </a:lnTo>
                    <a:lnTo>
                      <a:pt x="32" y="131"/>
                    </a:lnTo>
                    <a:lnTo>
                      <a:pt x="35" y="132"/>
                    </a:lnTo>
                    <a:lnTo>
                      <a:pt x="35" y="134"/>
                    </a:lnTo>
                    <a:lnTo>
                      <a:pt x="36" y="135"/>
                    </a:lnTo>
                    <a:lnTo>
                      <a:pt x="37" y="137"/>
                    </a:lnTo>
                    <a:lnTo>
                      <a:pt x="38" y="138"/>
                    </a:lnTo>
                    <a:lnTo>
                      <a:pt x="39" y="139"/>
                    </a:lnTo>
                    <a:lnTo>
                      <a:pt x="41" y="141"/>
                    </a:lnTo>
                    <a:lnTo>
                      <a:pt x="27" y="161"/>
                    </a:lnTo>
                    <a:lnTo>
                      <a:pt x="46" y="175"/>
                    </a:lnTo>
                    <a:lnTo>
                      <a:pt x="60" y="155"/>
                    </a:lnTo>
                    <a:lnTo>
                      <a:pt x="61" y="156"/>
                    </a:lnTo>
                    <a:lnTo>
                      <a:pt x="63" y="157"/>
                    </a:lnTo>
                    <a:lnTo>
                      <a:pt x="64" y="159"/>
                    </a:lnTo>
                    <a:lnTo>
                      <a:pt x="67" y="159"/>
                    </a:lnTo>
                    <a:lnTo>
                      <a:pt x="69" y="160"/>
                    </a:lnTo>
                    <a:lnTo>
                      <a:pt x="71" y="160"/>
                    </a:lnTo>
                    <a:lnTo>
                      <a:pt x="72" y="160"/>
                    </a:lnTo>
                    <a:lnTo>
                      <a:pt x="74" y="161"/>
                    </a:lnTo>
                    <a:lnTo>
                      <a:pt x="75" y="162"/>
                    </a:lnTo>
                    <a:lnTo>
                      <a:pt x="77" y="162"/>
                    </a:lnTo>
                    <a:lnTo>
                      <a:pt x="77" y="185"/>
                    </a:lnTo>
                    <a:lnTo>
                      <a:pt x="101" y="185"/>
                    </a:lnTo>
                    <a:lnTo>
                      <a:pt x="101" y="162"/>
                    </a:lnTo>
                    <a:lnTo>
                      <a:pt x="103" y="162"/>
                    </a:lnTo>
                    <a:lnTo>
                      <a:pt x="105" y="161"/>
                    </a:lnTo>
                    <a:lnTo>
                      <a:pt x="107" y="160"/>
                    </a:lnTo>
                    <a:lnTo>
                      <a:pt x="108" y="160"/>
                    </a:lnTo>
                    <a:lnTo>
                      <a:pt x="110" y="160"/>
                    </a:lnTo>
                    <a:lnTo>
                      <a:pt x="111" y="159"/>
                    </a:lnTo>
                    <a:lnTo>
                      <a:pt x="114" y="157"/>
                    </a:lnTo>
                    <a:lnTo>
                      <a:pt x="115" y="157"/>
                    </a:lnTo>
                    <a:lnTo>
                      <a:pt x="117" y="156"/>
                    </a:lnTo>
                    <a:lnTo>
                      <a:pt x="119" y="155"/>
                    </a:lnTo>
                    <a:lnTo>
                      <a:pt x="133" y="175"/>
                    </a:lnTo>
                    <a:lnTo>
                      <a:pt x="151" y="161"/>
                    </a:lnTo>
                    <a:lnTo>
                      <a:pt x="137" y="141"/>
                    </a:lnTo>
                    <a:lnTo>
                      <a:pt x="139" y="139"/>
                    </a:lnTo>
                    <a:lnTo>
                      <a:pt x="140" y="138"/>
                    </a:lnTo>
                    <a:lnTo>
                      <a:pt x="141" y="137"/>
                    </a:lnTo>
                    <a:lnTo>
                      <a:pt x="142" y="135"/>
                    </a:lnTo>
                    <a:lnTo>
                      <a:pt x="144" y="134"/>
                    </a:lnTo>
                    <a:lnTo>
                      <a:pt x="145" y="132"/>
                    </a:lnTo>
                    <a:lnTo>
                      <a:pt x="146" y="131"/>
                    </a:lnTo>
                    <a:lnTo>
                      <a:pt x="147" y="129"/>
                    </a:lnTo>
                    <a:lnTo>
                      <a:pt x="148" y="128"/>
                    </a:lnTo>
                    <a:lnTo>
                      <a:pt x="148" y="127"/>
                    </a:lnTo>
                    <a:lnTo>
                      <a:pt x="170" y="13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91" name="Freeform 1099"/>
              <p:cNvSpPr>
                <a:spLocks/>
              </p:cNvSpPr>
              <p:nvPr/>
            </p:nvSpPr>
            <p:spPr bwMode="auto">
              <a:xfrm>
                <a:off x="2645" y="3234"/>
                <a:ext cx="178" cy="184"/>
              </a:xfrm>
              <a:custGeom>
                <a:avLst/>
                <a:gdLst>
                  <a:gd name="T0" fmla="*/ 156 w 178"/>
                  <a:gd name="T1" fmla="*/ 102 h 184"/>
                  <a:gd name="T2" fmla="*/ 156 w 178"/>
                  <a:gd name="T3" fmla="*/ 99 h 184"/>
                  <a:gd name="T4" fmla="*/ 156 w 178"/>
                  <a:gd name="T5" fmla="*/ 96 h 184"/>
                  <a:gd name="T6" fmla="*/ 156 w 178"/>
                  <a:gd name="T7" fmla="*/ 94 h 184"/>
                  <a:gd name="T8" fmla="*/ 156 w 178"/>
                  <a:gd name="T9" fmla="*/ 90 h 184"/>
                  <a:gd name="T10" fmla="*/ 156 w 178"/>
                  <a:gd name="T11" fmla="*/ 87 h 184"/>
                  <a:gd name="T12" fmla="*/ 156 w 178"/>
                  <a:gd name="T13" fmla="*/ 84 h 184"/>
                  <a:gd name="T14" fmla="*/ 178 w 178"/>
                  <a:gd name="T15" fmla="*/ 75 h 184"/>
                  <a:gd name="T16" fmla="*/ 148 w 178"/>
                  <a:gd name="T17" fmla="*/ 58 h 184"/>
                  <a:gd name="T18" fmla="*/ 144 w 178"/>
                  <a:gd name="T19" fmla="*/ 53 h 184"/>
                  <a:gd name="T20" fmla="*/ 141 w 178"/>
                  <a:gd name="T21" fmla="*/ 48 h 184"/>
                  <a:gd name="T22" fmla="*/ 137 w 178"/>
                  <a:gd name="T23" fmla="*/ 45 h 184"/>
                  <a:gd name="T24" fmla="*/ 119 w 178"/>
                  <a:gd name="T25" fmla="*/ 30 h 184"/>
                  <a:gd name="T26" fmla="*/ 113 w 178"/>
                  <a:gd name="T27" fmla="*/ 27 h 184"/>
                  <a:gd name="T28" fmla="*/ 108 w 178"/>
                  <a:gd name="T29" fmla="*/ 25 h 184"/>
                  <a:gd name="T30" fmla="*/ 103 w 178"/>
                  <a:gd name="T31" fmla="*/ 23 h 184"/>
                  <a:gd name="T32" fmla="*/ 77 w 178"/>
                  <a:gd name="T33" fmla="*/ 0 h 184"/>
                  <a:gd name="T34" fmla="*/ 74 w 178"/>
                  <a:gd name="T35" fmla="*/ 24 h 184"/>
                  <a:gd name="T36" fmla="*/ 69 w 178"/>
                  <a:gd name="T37" fmla="*/ 25 h 184"/>
                  <a:gd name="T38" fmla="*/ 63 w 178"/>
                  <a:gd name="T39" fmla="*/ 27 h 184"/>
                  <a:gd name="T40" fmla="*/ 46 w 178"/>
                  <a:gd name="T41" fmla="*/ 10 h 184"/>
                  <a:gd name="T42" fmla="*/ 39 w 178"/>
                  <a:gd name="T43" fmla="*/ 46 h 184"/>
                  <a:gd name="T44" fmla="*/ 35 w 178"/>
                  <a:gd name="T45" fmla="*/ 50 h 184"/>
                  <a:gd name="T46" fmla="*/ 32 w 178"/>
                  <a:gd name="T47" fmla="*/ 54 h 184"/>
                  <a:gd name="T48" fmla="*/ 30 w 178"/>
                  <a:gd name="T49" fmla="*/ 59 h 184"/>
                  <a:gd name="T50" fmla="*/ 23 w 178"/>
                  <a:gd name="T51" fmla="*/ 82 h 184"/>
                  <a:gd name="T52" fmla="*/ 23 w 178"/>
                  <a:gd name="T53" fmla="*/ 86 h 184"/>
                  <a:gd name="T54" fmla="*/ 22 w 178"/>
                  <a:gd name="T55" fmla="*/ 88 h 184"/>
                  <a:gd name="T56" fmla="*/ 22 w 178"/>
                  <a:gd name="T57" fmla="*/ 92 h 184"/>
                  <a:gd name="T58" fmla="*/ 22 w 178"/>
                  <a:gd name="T59" fmla="*/ 95 h 184"/>
                  <a:gd name="T60" fmla="*/ 22 w 178"/>
                  <a:gd name="T61" fmla="*/ 97 h 184"/>
                  <a:gd name="T62" fmla="*/ 23 w 178"/>
                  <a:gd name="T63" fmla="*/ 100 h 184"/>
                  <a:gd name="T64" fmla="*/ 0 w 178"/>
                  <a:gd name="T65" fmla="*/ 109 h 184"/>
                  <a:gd name="T66" fmla="*/ 31 w 178"/>
                  <a:gd name="T67" fmla="*/ 127 h 184"/>
                  <a:gd name="T68" fmla="*/ 34 w 178"/>
                  <a:gd name="T69" fmla="*/ 132 h 184"/>
                  <a:gd name="T70" fmla="*/ 36 w 178"/>
                  <a:gd name="T71" fmla="*/ 136 h 184"/>
                  <a:gd name="T72" fmla="*/ 41 w 178"/>
                  <a:gd name="T73" fmla="*/ 141 h 184"/>
                  <a:gd name="T74" fmla="*/ 60 w 178"/>
                  <a:gd name="T75" fmla="*/ 155 h 184"/>
                  <a:gd name="T76" fmla="*/ 64 w 178"/>
                  <a:gd name="T77" fmla="*/ 158 h 184"/>
                  <a:gd name="T78" fmla="*/ 71 w 178"/>
                  <a:gd name="T79" fmla="*/ 159 h 184"/>
                  <a:gd name="T80" fmla="*/ 75 w 178"/>
                  <a:gd name="T81" fmla="*/ 161 h 184"/>
                  <a:gd name="T82" fmla="*/ 101 w 178"/>
                  <a:gd name="T83" fmla="*/ 184 h 184"/>
                  <a:gd name="T84" fmla="*/ 105 w 178"/>
                  <a:gd name="T85" fmla="*/ 160 h 184"/>
                  <a:gd name="T86" fmla="*/ 110 w 178"/>
                  <a:gd name="T87" fmla="*/ 159 h 184"/>
                  <a:gd name="T88" fmla="*/ 115 w 178"/>
                  <a:gd name="T89" fmla="*/ 157 h 184"/>
                  <a:gd name="T90" fmla="*/ 133 w 178"/>
                  <a:gd name="T91" fmla="*/ 174 h 184"/>
                  <a:gd name="T92" fmla="*/ 139 w 178"/>
                  <a:gd name="T93" fmla="*/ 140 h 184"/>
                  <a:gd name="T94" fmla="*/ 142 w 178"/>
                  <a:gd name="T95" fmla="*/ 134 h 184"/>
                  <a:gd name="T96" fmla="*/ 145 w 178"/>
                  <a:gd name="T97" fmla="*/ 130 h 184"/>
                  <a:gd name="T98" fmla="*/ 148 w 178"/>
                  <a:gd name="T99" fmla="*/ 126 h 18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78"/>
                  <a:gd name="T151" fmla="*/ 0 h 184"/>
                  <a:gd name="T152" fmla="*/ 178 w 178"/>
                  <a:gd name="T153" fmla="*/ 184 h 18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78" h="184">
                    <a:moveTo>
                      <a:pt x="170" y="132"/>
                    </a:moveTo>
                    <a:lnTo>
                      <a:pt x="178" y="109"/>
                    </a:lnTo>
                    <a:lnTo>
                      <a:pt x="156" y="102"/>
                    </a:lnTo>
                    <a:lnTo>
                      <a:pt x="156" y="100"/>
                    </a:lnTo>
                    <a:lnTo>
                      <a:pt x="156" y="99"/>
                    </a:lnTo>
                    <a:lnTo>
                      <a:pt x="156" y="98"/>
                    </a:lnTo>
                    <a:lnTo>
                      <a:pt x="156" y="97"/>
                    </a:lnTo>
                    <a:lnTo>
                      <a:pt x="156" y="96"/>
                    </a:lnTo>
                    <a:lnTo>
                      <a:pt x="156" y="95"/>
                    </a:lnTo>
                    <a:lnTo>
                      <a:pt x="156" y="94"/>
                    </a:lnTo>
                    <a:lnTo>
                      <a:pt x="156" y="93"/>
                    </a:lnTo>
                    <a:lnTo>
                      <a:pt x="156" y="92"/>
                    </a:lnTo>
                    <a:lnTo>
                      <a:pt x="156" y="90"/>
                    </a:lnTo>
                    <a:lnTo>
                      <a:pt x="156" y="89"/>
                    </a:lnTo>
                    <a:lnTo>
                      <a:pt x="156" y="88"/>
                    </a:lnTo>
                    <a:lnTo>
                      <a:pt x="156" y="87"/>
                    </a:lnTo>
                    <a:lnTo>
                      <a:pt x="156" y="86"/>
                    </a:lnTo>
                    <a:lnTo>
                      <a:pt x="156" y="84"/>
                    </a:lnTo>
                    <a:lnTo>
                      <a:pt x="156" y="82"/>
                    </a:lnTo>
                    <a:lnTo>
                      <a:pt x="178" y="75"/>
                    </a:lnTo>
                    <a:lnTo>
                      <a:pt x="170" y="52"/>
                    </a:lnTo>
                    <a:lnTo>
                      <a:pt x="148" y="59"/>
                    </a:lnTo>
                    <a:lnTo>
                      <a:pt x="148" y="58"/>
                    </a:lnTo>
                    <a:lnTo>
                      <a:pt x="147" y="56"/>
                    </a:lnTo>
                    <a:lnTo>
                      <a:pt x="145" y="54"/>
                    </a:lnTo>
                    <a:lnTo>
                      <a:pt x="144" y="53"/>
                    </a:lnTo>
                    <a:lnTo>
                      <a:pt x="143" y="51"/>
                    </a:lnTo>
                    <a:lnTo>
                      <a:pt x="142" y="50"/>
                    </a:lnTo>
                    <a:lnTo>
                      <a:pt x="141" y="48"/>
                    </a:lnTo>
                    <a:lnTo>
                      <a:pt x="140" y="47"/>
                    </a:lnTo>
                    <a:lnTo>
                      <a:pt x="139" y="46"/>
                    </a:lnTo>
                    <a:lnTo>
                      <a:pt x="137" y="45"/>
                    </a:lnTo>
                    <a:lnTo>
                      <a:pt x="151" y="24"/>
                    </a:lnTo>
                    <a:lnTo>
                      <a:pt x="133" y="10"/>
                    </a:lnTo>
                    <a:lnTo>
                      <a:pt x="119" y="30"/>
                    </a:lnTo>
                    <a:lnTo>
                      <a:pt x="117" y="28"/>
                    </a:lnTo>
                    <a:lnTo>
                      <a:pt x="115" y="27"/>
                    </a:lnTo>
                    <a:lnTo>
                      <a:pt x="113" y="27"/>
                    </a:lnTo>
                    <a:lnTo>
                      <a:pt x="111" y="26"/>
                    </a:lnTo>
                    <a:lnTo>
                      <a:pt x="110" y="25"/>
                    </a:lnTo>
                    <a:lnTo>
                      <a:pt x="108" y="25"/>
                    </a:lnTo>
                    <a:lnTo>
                      <a:pt x="107" y="25"/>
                    </a:lnTo>
                    <a:lnTo>
                      <a:pt x="105" y="24"/>
                    </a:lnTo>
                    <a:lnTo>
                      <a:pt x="103" y="23"/>
                    </a:lnTo>
                    <a:lnTo>
                      <a:pt x="101" y="23"/>
                    </a:lnTo>
                    <a:lnTo>
                      <a:pt x="101" y="0"/>
                    </a:lnTo>
                    <a:lnTo>
                      <a:pt x="77" y="0"/>
                    </a:lnTo>
                    <a:lnTo>
                      <a:pt x="77" y="23"/>
                    </a:lnTo>
                    <a:lnTo>
                      <a:pt x="75" y="23"/>
                    </a:lnTo>
                    <a:lnTo>
                      <a:pt x="74" y="24"/>
                    </a:lnTo>
                    <a:lnTo>
                      <a:pt x="72" y="25"/>
                    </a:lnTo>
                    <a:lnTo>
                      <a:pt x="71" y="25"/>
                    </a:lnTo>
                    <a:lnTo>
                      <a:pt x="69" y="25"/>
                    </a:lnTo>
                    <a:lnTo>
                      <a:pt x="66" y="26"/>
                    </a:lnTo>
                    <a:lnTo>
                      <a:pt x="64" y="27"/>
                    </a:lnTo>
                    <a:lnTo>
                      <a:pt x="63" y="27"/>
                    </a:lnTo>
                    <a:lnTo>
                      <a:pt x="62" y="28"/>
                    </a:lnTo>
                    <a:lnTo>
                      <a:pt x="60" y="30"/>
                    </a:lnTo>
                    <a:lnTo>
                      <a:pt x="46" y="10"/>
                    </a:lnTo>
                    <a:lnTo>
                      <a:pt x="27" y="24"/>
                    </a:lnTo>
                    <a:lnTo>
                      <a:pt x="41" y="45"/>
                    </a:lnTo>
                    <a:lnTo>
                      <a:pt x="39" y="46"/>
                    </a:lnTo>
                    <a:lnTo>
                      <a:pt x="38" y="47"/>
                    </a:lnTo>
                    <a:lnTo>
                      <a:pt x="36" y="49"/>
                    </a:lnTo>
                    <a:lnTo>
                      <a:pt x="35" y="50"/>
                    </a:lnTo>
                    <a:lnTo>
                      <a:pt x="34" y="51"/>
                    </a:lnTo>
                    <a:lnTo>
                      <a:pt x="34" y="53"/>
                    </a:lnTo>
                    <a:lnTo>
                      <a:pt x="32" y="54"/>
                    </a:lnTo>
                    <a:lnTo>
                      <a:pt x="31" y="56"/>
                    </a:lnTo>
                    <a:lnTo>
                      <a:pt x="31" y="58"/>
                    </a:lnTo>
                    <a:lnTo>
                      <a:pt x="30" y="59"/>
                    </a:lnTo>
                    <a:lnTo>
                      <a:pt x="9" y="52"/>
                    </a:lnTo>
                    <a:lnTo>
                      <a:pt x="0" y="75"/>
                    </a:lnTo>
                    <a:lnTo>
                      <a:pt x="23" y="82"/>
                    </a:lnTo>
                    <a:lnTo>
                      <a:pt x="23" y="84"/>
                    </a:lnTo>
                    <a:lnTo>
                      <a:pt x="23" y="86"/>
                    </a:lnTo>
                    <a:lnTo>
                      <a:pt x="22" y="86"/>
                    </a:lnTo>
                    <a:lnTo>
                      <a:pt x="22" y="87"/>
                    </a:lnTo>
                    <a:lnTo>
                      <a:pt x="22" y="88"/>
                    </a:lnTo>
                    <a:lnTo>
                      <a:pt x="22" y="89"/>
                    </a:lnTo>
                    <a:lnTo>
                      <a:pt x="22" y="90"/>
                    </a:lnTo>
                    <a:lnTo>
                      <a:pt x="22" y="92"/>
                    </a:lnTo>
                    <a:lnTo>
                      <a:pt x="22" y="93"/>
                    </a:lnTo>
                    <a:lnTo>
                      <a:pt x="22" y="94"/>
                    </a:lnTo>
                    <a:lnTo>
                      <a:pt x="22" y="95"/>
                    </a:lnTo>
                    <a:lnTo>
                      <a:pt x="22" y="96"/>
                    </a:lnTo>
                    <a:lnTo>
                      <a:pt x="22" y="97"/>
                    </a:lnTo>
                    <a:lnTo>
                      <a:pt x="22" y="98"/>
                    </a:lnTo>
                    <a:lnTo>
                      <a:pt x="23" y="99"/>
                    </a:lnTo>
                    <a:lnTo>
                      <a:pt x="23" y="100"/>
                    </a:lnTo>
                    <a:lnTo>
                      <a:pt x="23" y="101"/>
                    </a:lnTo>
                    <a:lnTo>
                      <a:pt x="23" y="102"/>
                    </a:lnTo>
                    <a:lnTo>
                      <a:pt x="0" y="109"/>
                    </a:lnTo>
                    <a:lnTo>
                      <a:pt x="9" y="132"/>
                    </a:lnTo>
                    <a:lnTo>
                      <a:pt x="30" y="126"/>
                    </a:lnTo>
                    <a:lnTo>
                      <a:pt x="31" y="127"/>
                    </a:lnTo>
                    <a:lnTo>
                      <a:pt x="31" y="128"/>
                    </a:lnTo>
                    <a:lnTo>
                      <a:pt x="32" y="130"/>
                    </a:lnTo>
                    <a:lnTo>
                      <a:pt x="34" y="132"/>
                    </a:lnTo>
                    <a:lnTo>
                      <a:pt x="34" y="133"/>
                    </a:lnTo>
                    <a:lnTo>
                      <a:pt x="35" y="134"/>
                    </a:lnTo>
                    <a:lnTo>
                      <a:pt x="36" y="136"/>
                    </a:lnTo>
                    <a:lnTo>
                      <a:pt x="38" y="137"/>
                    </a:lnTo>
                    <a:lnTo>
                      <a:pt x="39" y="140"/>
                    </a:lnTo>
                    <a:lnTo>
                      <a:pt x="41" y="141"/>
                    </a:lnTo>
                    <a:lnTo>
                      <a:pt x="27" y="160"/>
                    </a:lnTo>
                    <a:lnTo>
                      <a:pt x="46" y="174"/>
                    </a:lnTo>
                    <a:lnTo>
                      <a:pt x="60" y="155"/>
                    </a:lnTo>
                    <a:lnTo>
                      <a:pt x="62" y="156"/>
                    </a:lnTo>
                    <a:lnTo>
                      <a:pt x="63" y="157"/>
                    </a:lnTo>
                    <a:lnTo>
                      <a:pt x="64" y="158"/>
                    </a:lnTo>
                    <a:lnTo>
                      <a:pt x="66" y="158"/>
                    </a:lnTo>
                    <a:lnTo>
                      <a:pt x="69" y="159"/>
                    </a:lnTo>
                    <a:lnTo>
                      <a:pt x="71" y="159"/>
                    </a:lnTo>
                    <a:lnTo>
                      <a:pt x="72" y="160"/>
                    </a:lnTo>
                    <a:lnTo>
                      <a:pt x="74" y="160"/>
                    </a:lnTo>
                    <a:lnTo>
                      <a:pt x="75" y="161"/>
                    </a:lnTo>
                    <a:lnTo>
                      <a:pt x="77" y="161"/>
                    </a:lnTo>
                    <a:lnTo>
                      <a:pt x="77" y="184"/>
                    </a:lnTo>
                    <a:lnTo>
                      <a:pt x="101" y="184"/>
                    </a:lnTo>
                    <a:lnTo>
                      <a:pt x="101" y="161"/>
                    </a:lnTo>
                    <a:lnTo>
                      <a:pt x="103" y="161"/>
                    </a:lnTo>
                    <a:lnTo>
                      <a:pt x="105" y="160"/>
                    </a:lnTo>
                    <a:lnTo>
                      <a:pt x="107" y="160"/>
                    </a:lnTo>
                    <a:lnTo>
                      <a:pt x="108" y="159"/>
                    </a:lnTo>
                    <a:lnTo>
                      <a:pt x="110" y="159"/>
                    </a:lnTo>
                    <a:lnTo>
                      <a:pt x="111" y="158"/>
                    </a:lnTo>
                    <a:lnTo>
                      <a:pt x="113" y="158"/>
                    </a:lnTo>
                    <a:lnTo>
                      <a:pt x="115" y="157"/>
                    </a:lnTo>
                    <a:lnTo>
                      <a:pt x="117" y="156"/>
                    </a:lnTo>
                    <a:lnTo>
                      <a:pt x="119" y="155"/>
                    </a:lnTo>
                    <a:lnTo>
                      <a:pt x="133" y="174"/>
                    </a:lnTo>
                    <a:lnTo>
                      <a:pt x="151" y="160"/>
                    </a:lnTo>
                    <a:lnTo>
                      <a:pt x="137" y="141"/>
                    </a:lnTo>
                    <a:lnTo>
                      <a:pt x="139" y="140"/>
                    </a:lnTo>
                    <a:lnTo>
                      <a:pt x="140" y="137"/>
                    </a:lnTo>
                    <a:lnTo>
                      <a:pt x="141" y="136"/>
                    </a:lnTo>
                    <a:lnTo>
                      <a:pt x="142" y="134"/>
                    </a:lnTo>
                    <a:lnTo>
                      <a:pt x="143" y="133"/>
                    </a:lnTo>
                    <a:lnTo>
                      <a:pt x="144" y="131"/>
                    </a:lnTo>
                    <a:lnTo>
                      <a:pt x="145" y="130"/>
                    </a:lnTo>
                    <a:lnTo>
                      <a:pt x="147" y="128"/>
                    </a:lnTo>
                    <a:lnTo>
                      <a:pt x="148" y="127"/>
                    </a:lnTo>
                    <a:lnTo>
                      <a:pt x="148" y="126"/>
                    </a:lnTo>
                    <a:lnTo>
                      <a:pt x="170" y="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92" name="Freeform 1100"/>
              <p:cNvSpPr>
                <a:spLocks/>
              </p:cNvSpPr>
              <p:nvPr/>
            </p:nvSpPr>
            <p:spPr bwMode="auto">
              <a:xfrm>
                <a:off x="2545" y="3207"/>
                <a:ext cx="72" cy="76"/>
              </a:xfrm>
              <a:custGeom>
                <a:avLst/>
                <a:gdLst>
                  <a:gd name="T0" fmla="*/ 0 w 72"/>
                  <a:gd name="T1" fmla="*/ 37 h 76"/>
                  <a:gd name="T2" fmla="*/ 0 w 72"/>
                  <a:gd name="T3" fmla="*/ 32 h 76"/>
                  <a:gd name="T4" fmla="*/ 2 w 72"/>
                  <a:gd name="T5" fmla="*/ 27 h 76"/>
                  <a:gd name="T6" fmla="*/ 4 w 72"/>
                  <a:gd name="T7" fmla="*/ 20 h 76"/>
                  <a:gd name="T8" fmla="*/ 6 w 72"/>
                  <a:gd name="T9" fmla="*/ 16 h 76"/>
                  <a:gd name="T10" fmla="*/ 10 w 72"/>
                  <a:gd name="T11" fmla="*/ 11 h 76"/>
                  <a:gd name="T12" fmla="*/ 15 w 72"/>
                  <a:gd name="T13" fmla="*/ 7 h 76"/>
                  <a:gd name="T14" fmla="*/ 20 w 72"/>
                  <a:gd name="T15" fmla="*/ 4 h 76"/>
                  <a:gd name="T16" fmla="*/ 25 w 72"/>
                  <a:gd name="T17" fmla="*/ 2 h 76"/>
                  <a:gd name="T18" fmla="*/ 31 w 72"/>
                  <a:gd name="T19" fmla="*/ 0 h 76"/>
                  <a:gd name="T20" fmla="*/ 36 w 72"/>
                  <a:gd name="T21" fmla="*/ 0 h 76"/>
                  <a:gd name="T22" fmla="*/ 42 w 72"/>
                  <a:gd name="T23" fmla="*/ 0 h 76"/>
                  <a:gd name="T24" fmla="*/ 48 w 72"/>
                  <a:gd name="T25" fmla="*/ 2 h 76"/>
                  <a:gd name="T26" fmla="*/ 53 w 72"/>
                  <a:gd name="T27" fmla="*/ 4 h 76"/>
                  <a:gd name="T28" fmla="*/ 57 w 72"/>
                  <a:gd name="T29" fmla="*/ 7 h 76"/>
                  <a:gd name="T30" fmla="*/ 62 w 72"/>
                  <a:gd name="T31" fmla="*/ 11 h 76"/>
                  <a:gd name="T32" fmla="*/ 66 w 72"/>
                  <a:gd name="T33" fmla="*/ 16 h 76"/>
                  <a:gd name="T34" fmla="*/ 68 w 72"/>
                  <a:gd name="T35" fmla="*/ 20 h 76"/>
                  <a:gd name="T36" fmla="*/ 70 w 72"/>
                  <a:gd name="T37" fmla="*/ 27 h 76"/>
                  <a:gd name="T38" fmla="*/ 72 w 72"/>
                  <a:gd name="T39" fmla="*/ 32 h 76"/>
                  <a:gd name="T40" fmla="*/ 72 w 72"/>
                  <a:gd name="T41" fmla="*/ 37 h 76"/>
                  <a:gd name="T42" fmla="*/ 72 w 72"/>
                  <a:gd name="T43" fmla="*/ 44 h 76"/>
                  <a:gd name="T44" fmla="*/ 70 w 72"/>
                  <a:gd name="T45" fmla="*/ 50 h 76"/>
                  <a:gd name="T46" fmla="*/ 68 w 72"/>
                  <a:gd name="T47" fmla="*/ 55 h 76"/>
                  <a:gd name="T48" fmla="*/ 66 w 72"/>
                  <a:gd name="T49" fmla="*/ 60 h 76"/>
                  <a:gd name="T50" fmla="*/ 62 w 72"/>
                  <a:gd name="T51" fmla="*/ 65 h 76"/>
                  <a:gd name="T52" fmla="*/ 57 w 72"/>
                  <a:gd name="T53" fmla="*/ 69 h 76"/>
                  <a:gd name="T54" fmla="*/ 53 w 72"/>
                  <a:gd name="T55" fmla="*/ 72 h 76"/>
                  <a:gd name="T56" fmla="*/ 48 w 72"/>
                  <a:gd name="T57" fmla="*/ 74 h 76"/>
                  <a:gd name="T58" fmla="*/ 42 w 72"/>
                  <a:gd name="T59" fmla="*/ 76 h 76"/>
                  <a:gd name="T60" fmla="*/ 36 w 72"/>
                  <a:gd name="T61" fmla="*/ 76 h 76"/>
                  <a:gd name="T62" fmla="*/ 31 w 72"/>
                  <a:gd name="T63" fmla="*/ 76 h 76"/>
                  <a:gd name="T64" fmla="*/ 25 w 72"/>
                  <a:gd name="T65" fmla="*/ 74 h 76"/>
                  <a:gd name="T66" fmla="*/ 20 w 72"/>
                  <a:gd name="T67" fmla="*/ 72 h 76"/>
                  <a:gd name="T68" fmla="*/ 15 w 72"/>
                  <a:gd name="T69" fmla="*/ 69 h 76"/>
                  <a:gd name="T70" fmla="*/ 10 w 72"/>
                  <a:gd name="T71" fmla="*/ 65 h 76"/>
                  <a:gd name="T72" fmla="*/ 6 w 72"/>
                  <a:gd name="T73" fmla="*/ 60 h 76"/>
                  <a:gd name="T74" fmla="*/ 4 w 72"/>
                  <a:gd name="T75" fmla="*/ 55 h 76"/>
                  <a:gd name="T76" fmla="*/ 2 w 72"/>
                  <a:gd name="T77" fmla="*/ 50 h 76"/>
                  <a:gd name="T78" fmla="*/ 0 w 72"/>
                  <a:gd name="T79" fmla="*/ 44 h 76"/>
                  <a:gd name="T80" fmla="*/ 0 w 72"/>
                  <a:gd name="T81" fmla="*/ 37 h 76"/>
                  <a:gd name="T82" fmla="*/ 0 w 72"/>
                  <a:gd name="T83" fmla="*/ 37 h 7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72"/>
                  <a:gd name="T127" fmla="*/ 0 h 76"/>
                  <a:gd name="T128" fmla="*/ 72 w 72"/>
                  <a:gd name="T129" fmla="*/ 76 h 7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72" h="76">
                    <a:moveTo>
                      <a:pt x="0" y="37"/>
                    </a:moveTo>
                    <a:lnTo>
                      <a:pt x="0" y="32"/>
                    </a:lnTo>
                    <a:lnTo>
                      <a:pt x="2" y="27"/>
                    </a:lnTo>
                    <a:lnTo>
                      <a:pt x="4" y="20"/>
                    </a:lnTo>
                    <a:lnTo>
                      <a:pt x="6" y="16"/>
                    </a:lnTo>
                    <a:lnTo>
                      <a:pt x="10" y="11"/>
                    </a:lnTo>
                    <a:lnTo>
                      <a:pt x="15" y="7"/>
                    </a:lnTo>
                    <a:lnTo>
                      <a:pt x="20" y="4"/>
                    </a:lnTo>
                    <a:lnTo>
                      <a:pt x="25" y="2"/>
                    </a:lnTo>
                    <a:lnTo>
                      <a:pt x="31" y="0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48" y="2"/>
                    </a:lnTo>
                    <a:lnTo>
                      <a:pt x="53" y="4"/>
                    </a:lnTo>
                    <a:lnTo>
                      <a:pt x="57" y="7"/>
                    </a:lnTo>
                    <a:lnTo>
                      <a:pt x="62" y="11"/>
                    </a:lnTo>
                    <a:lnTo>
                      <a:pt x="66" y="16"/>
                    </a:lnTo>
                    <a:lnTo>
                      <a:pt x="68" y="20"/>
                    </a:lnTo>
                    <a:lnTo>
                      <a:pt x="70" y="27"/>
                    </a:lnTo>
                    <a:lnTo>
                      <a:pt x="72" y="32"/>
                    </a:lnTo>
                    <a:lnTo>
                      <a:pt x="72" y="37"/>
                    </a:lnTo>
                    <a:lnTo>
                      <a:pt x="72" y="44"/>
                    </a:lnTo>
                    <a:lnTo>
                      <a:pt x="70" y="50"/>
                    </a:lnTo>
                    <a:lnTo>
                      <a:pt x="68" y="55"/>
                    </a:lnTo>
                    <a:lnTo>
                      <a:pt x="66" y="60"/>
                    </a:lnTo>
                    <a:lnTo>
                      <a:pt x="62" y="65"/>
                    </a:lnTo>
                    <a:lnTo>
                      <a:pt x="57" y="69"/>
                    </a:lnTo>
                    <a:lnTo>
                      <a:pt x="53" y="72"/>
                    </a:lnTo>
                    <a:lnTo>
                      <a:pt x="48" y="74"/>
                    </a:lnTo>
                    <a:lnTo>
                      <a:pt x="42" y="76"/>
                    </a:lnTo>
                    <a:lnTo>
                      <a:pt x="36" y="76"/>
                    </a:lnTo>
                    <a:lnTo>
                      <a:pt x="31" y="76"/>
                    </a:lnTo>
                    <a:lnTo>
                      <a:pt x="25" y="74"/>
                    </a:lnTo>
                    <a:lnTo>
                      <a:pt x="20" y="72"/>
                    </a:lnTo>
                    <a:lnTo>
                      <a:pt x="15" y="69"/>
                    </a:lnTo>
                    <a:lnTo>
                      <a:pt x="10" y="65"/>
                    </a:lnTo>
                    <a:lnTo>
                      <a:pt x="6" y="60"/>
                    </a:lnTo>
                    <a:lnTo>
                      <a:pt x="4" y="55"/>
                    </a:lnTo>
                    <a:lnTo>
                      <a:pt x="2" y="50"/>
                    </a:lnTo>
                    <a:lnTo>
                      <a:pt x="0" y="44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93" name="Freeform 1101"/>
              <p:cNvSpPr>
                <a:spLocks/>
              </p:cNvSpPr>
              <p:nvPr/>
            </p:nvSpPr>
            <p:spPr bwMode="auto">
              <a:xfrm>
                <a:off x="2698" y="3288"/>
                <a:ext cx="72" cy="76"/>
              </a:xfrm>
              <a:custGeom>
                <a:avLst/>
                <a:gdLst>
                  <a:gd name="T0" fmla="*/ 0 w 72"/>
                  <a:gd name="T1" fmla="*/ 38 h 76"/>
                  <a:gd name="T2" fmla="*/ 1 w 72"/>
                  <a:gd name="T3" fmla="*/ 32 h 76"/>
                  <a:gd name="T4" fmla="*/ 2 w 72"/>
                  <a:gd name="T5" fmla="*/ 26 h 76"/>
                  <a:gd name="T6" fmla="*/ 4 w 72"/>
                  <a:gd name="T7" fmla="*/ 20 h 76"/>
                  <a:gd name="T8" fmla="*/ 7 w 72"/>
                  <a:gd name="T9" fmla="*/ 16 h 76"/>
                  <a:gd name="T10" fmla="*/ 10 w 72"/>
                  <a:gd name="T11" fmla="*/ 11 h 76"/>
                  <a:gd name="T12" fmla="*/ 14 w 72"/>
                  <a:gd name="T13" fmla="*/ 7 h 76"/>
                  <a:gd name="T14" fmla="*/ 20 w 72"/>
                  <a:gd name="T15" fmla="*/ 4 h 76"/>
                  <a:gd name="T16" fmla="*/ 25 w 72"/>
                  <a:gd name="T17" fmla="*/ 2 h 76"/>
                  <a:gd name="T18" fmla="*/ 31 w 72"/>
                  <a:gd name="T19" fmla="*/ 0 h 76"/>
                  <a:gd name="T20" fmla="*/ 36 w 72"/>
                  <a:gd name="T21" fmla="*/ 0 h 76"/>
                  <a:gd name="T22" fmla="*/ 42 w 72"/>
                  <a:gd name="T23" fmla="*/ 0 h 76"/>
                  <a:gd name="T24" fmla="*/ 48 w 72"/>
                  <a:gd name="T25" fmla="*/ 2 h 76"/>
                  <a:gd name="T26" fmla="*/ 53 w 72"/>
                  <a:gd name="T27" fmla="*/ 4 h 76"/>
                  <a:gd name="T28" fmla="*/ 57 w 72"/>
                  <a:gd name="T29" fmla="*/ 7 h 76"/>
                  <a:gd name="T30" fmla="*/ 62 w 72"/>
                  <a:gd name="T31" fmla="*/ 11 h 76"/>
                  <a:gd name="T32" fmla="*/ 66 w 72"/>
                  <a:gd name="T33" fmla="*/ 16 h 76"/>
                  <a:gd name="T34" fmla="*/ 68 w 72"/>
                  <a:gd name="T35" fmla="*/ 20 h 76"/>
                  <a:gd name="T36" fmla="*/ 70 w 72"/>
                  <a:gd name="T37" fmla="*/ 26 h 76"/>
                  <a:gd name="T38" fmla="*/ 72 w 72"/>
                  <a:gd name="T39" fmla="*/ 32 h 76"/>
                  <a:gd name="T40" fmla="*/ 72 w 72"/>
                  <a:gd name="T41" fmla="*/ 38 h 76"/>
                  <a:gd name="T42" fmla="*/ 72 w 72"/>
                  <a:gd name="T43" fmla="*/ 45 h 76"/>
                  <a:gd name="T44" fmla="*/ 70 w 72"/>
                  <a:gd name="T45" fmla="*/ 50 h 76"/>
                  <a:gd name="T46" fmla="*/ 68 w 72"/>
                  <a:gd name="T47" fmla="*/ 56 h 76"/>
                  <a:gd name="T48" fmla="*/ 66 w 72"/>
                  <a:gd name="T49" fmla="*/ 60 h 76"/>
                  <a:gd name="T50" fmla="*/ 62 w 72"/>
                  <a:gd name="T51" fmla="*/ 65 h 76"/>
                  <a:gd name="T52" fmla="*/ 57 w 72"/>
                  <a:gd name="T53" fmla="*/ 68 h 76"/>
                  <a:gd name="T54" fmla="*/ 53 w 72"/>
                  <a:gd name="T55" fmla="*/ 72 h 76"/>
                  <a:gd name="T56" fmla="*/ 48 w 72"/>
                  <a:gd name="T57" fmla="*/ 74 h 76"/>
                  <a:gd name="T58" fmla="*/ 42 w 72"/>
                  <a:gd name="T59" fmla="*/ 76 h 76"/>
                  <a:gd name="T60" fmla="*/ 36 w 72"/>
                  <a:gd name="T61" fmla="*/ 76 h 76"/>
                  <a:gd name="T62" fmla="*/ 31 w 72"/>
                  <a:gd name="T63" fmla="*/ 76 h 76"/>
                  <a:gd name="T64" fmla="*/ 25 w 72"/>
                  <a:gd name="T65" fmla="*/ 74 h 76"/>
                  <a:gd name="T66" fmla="*/ 20 w 72"/>
                  <a:gd name="T67" fmla="*/ 72 h 76"/>
                  <a:gd name="T68" fmla="*/ 14 w 72"/>
                  <a:gd name="T69" fmla="*/ 68 h 76"/>
                  <a:gd name="T70" fmla="*/ 10 w 72"/>
                  <a:gd name="T71" fmla="*/ 65 h 76"/>
                  <a:gd name="T72" fmla="*/ 7 w 72"/>
                  <a:gd name="T73" fmla="*/ 60 h 76"/>
                  <a:gd name="T74" fmla="*/ 4 w 72"/>
                  <a:gd name="T75" fmla="*/ 56 h 76"/>
                  <a:gd name="T76" fmla="*/ 2 w 72"/>
                  <a:gd name="T77" fmla="*/ 50 h 76"/>
                  <a:gd name="T78" fmla="*/ 1 w 72"/>
                  <a:gd name="T79" fmla="*/ 45 h 76"/>
                  <a:gd name="T80" fmla="*/ 0 w 72"/>
                  <a:gd name="T81" fmla="*/ 38 h 76"/>
                  <a:gd name="T82" fmla="*/ 0 w 72"/>
                  <a:gd name="T83" fmla="*/ 38 h 7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72"/>
                  <a:gd name="T127" fmla="*/ 0 h 76"/>
                  <a:gd name="T128" fmla="*/ 72 w 72"/>
                  <a:gd name="T129" fmla="*/ 76 h 7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72" h="76">
                    <a:moveTo>
                      <a:pt x="0" y="38"/>
                    </a:moveTo>
                    <a:lnTo>
                      <a:pt x="1" y="32"/>
                    </a:lnTo>
                    <a:lnTo>
                      <a:pt x="2" y="26"/>
                    </a:lnTo>
                    <a:lnTo>
                      <a:pt x="4" y="20"/>
                    </a:lnTo>
                    <a:lnTo>
                      <a:pt x="7" y="16"/>
                    </a:lnTo>
                    <a:lnTo>
                      <a:pt x="10" y="11"/>
                    </a:lnTo>
                    <a:lnTo>
                      <a:pt x="14" y="7"/>
                    </a:lnTo>
                    <a:lnTo>
                      <a:pt x="20" y="4"/>
                    </a:lnTo>
                    <a:lnTo>
                      <a:pt x="25" y="2"/>
                    </a:lnTo>
                    <a:lnTo>
                      <a:pt x="31" y="0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48" y="2"/>
                    </a:lnTo>
                    <a:lnTo>
                      <a:pt x="53" y="4"/>
                    </a:lnTo>
                    <a:lnTo>
                      <a:pt x="57" y="7"/>
                    </a:lnTo>
                    <a:lnTo>
                      <a:pt x="62" y="11"/>
                    </a:lnTo>
                    <a:lnTo>
                      <a:pt x="66" y="16"/>
                    </a:lnTo>
                    <a:lnTo>
                      <a:pt x="68" y="20"/>
                    </a:lnTo>
                    <a:lnTo>
                      <a:pt x="70" y="26"/>
                    </a:lnTo>
                    <a:lnTo>
                      <a:pt x="72" y="32"/>
                    </a:lnTo>
                    <a:lnTo>
                      <a:pt x="72" y="38"/>
                    </a:lnTo>
                    <a:lnTo>
                      <a:pt x="72" y="45"/>
                    </a:lnTo>
                    <a:lnTo>
                      <a:pt x="70" y="50"/>
                    </a:lnTo>
                    <a:lnTo>
                      <a:pt x="68" y="56"/>
                    </a:lnTo>
                    <a:lnTo>
                      <a:pt x="66" y="60"/>
                    </a:lnTo>
                    <a:lnTo>
                      <a:pt x="62" y="65"/>
                    </a:lnTo>
                    <a:lnTo>
                      <a:pt x="57" y="68"/>
                    </a:lnTo>
                    <a:lnTo>
                      <a:pt x="53" y="72"/>
                    </a:lnTo>
                    <a:lnTo>
                      <a:pt x="48" y="74"/>
                    </a:lnTo>
                    <a:lnTo>
                      <a:pt x="42" y="76"/>
                    </a:lnTo>
                    <a:lnTo>
                      <a:pt x="36" y="76"/>
                    </a:lnTo>
                    <a:lnTo>
                      <a:pt x="31" y="76"/>
                    </a:lnTo>
                    <a:lnTo>
                      <a:pt x="25" y="74"/>
                    </a:lnTo>
                    <a:lnTo>
                      <a:pt x="20" y="72"/>
                    </a:lnTo>
                    <a:lnTo>
                      <a:pt x="14" y="68"/>
                    </a:lnTo>
                    <a:lnTo>
                      <a:pt x="10" y="65"/>
                    </a:lnTo>
                    <a:lnTo>
                      <a:pt x="7" y="60"/>
                    </a:lnTo>
                    <a:lnTo>
                      <a:pt x="4" y="56"/>
                    </a:lnTo>
                    <a:lnTo>
                      <a:pt x="2" y="50"/>
                    </a:lnTo>
                    <a:lnTo>
                      <a:pt x="1" y="45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7472" name="Rectangle 1102"/>
            <p:cNvSpPr>
              <a:spLocks noChangeArrowheads="1"/>
            </p:cNvSpPr>
            <p:nvPr/>
          </p:nvSpPr>
          <p:spPr bwMode="auto">
            <a:xfrm>
              <a:off x="2780" y="4010"/>
              <a:ext cx="606" cy="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Work In Progress</a:t>
              </a:r>
              <a:endParaRPr lang="en-US" sz="1000" b="0">
                <a:latin typeface="Times New Roman" pitchFamily="18" charset="0"/>
              </a:endParaRPr>
            </a:p>
          </p:txBody>
        </p:sp>
        <p:grpSp>
          <p:nvGrpSpPr>
            <p:cNvPr id="17473" name="Group 1103"/>
            <p:cNvGrpSpPr>
              <a:grpSpLocks/>
            </p:cNvGrpSpPr>
            <p:nvPr/>
          </p:nvGrpSpPr>
          <p:grpSpPr bwMode="auto">
            <a:xfrm>
              <a:off x="3434" y="3698"/>
              <a:ext cx="304" cy="261"/>
              <a:chOff x="3034" y="3151"/>
              <a:chExt cx="294" cy="277"/>
            </a:xfrm>
          </p:grpSpPr>
          <p:sp>
            <p:nvSpPr>
              <p:cNvPr id="17479" name="Freeform 1104"/>
              <p:cNvSpPr>
                <a:spLocks/>
              </p:cNvSpPr>
              <p:nvPr/>
            </p:nvSpPr>
            <p:spPr bwMode="auto">
              <a:xfrm>
                <a:off x="3041" y="3155"/>
                <a:ext cx="274" cy="273"/>
              </a:xfrm>
              <a:custGeom>
                <a:avLst/>
                <a:gdLst>
                  <a:gd name="T0" fmla="*/ 219 w 274"/>
                  <a:gd name="T1" fmla="*/ 273 h 273"/>
                  <a:gd name="T2" fmla="*/ 228 w 274"/>
                  <a:gd name="T3" fmla="*/ 273 h 273"/>
                  <a:gd name="T4" fmla="*/ 237 w 274"/>
                  <a:gd name="T5" fmla="*/ 271 h 273"/>
                  <a:gd name="T6" fmla="*/ 245 w 274"/>
                  <a:gd name="T7" fmla="*/ 267 h 273"/>
                  <a:gd name="T8" fmla="*/ 252 w 274"/>
                  <a:gd name="T9" fmla="*/ 262 h 273"/>
                  <a:gd name="T10" fmla="*/ 258 w 274"/>
                  <a:gd name="T11" fmla="*/ 257 h 273"/>
                  <a:gd name="T12" fmla="*/ 263 w 274"/>
                  <a:gd name="T13" fmla="*/ 251 h 273"/>
                  <a:gd name="T14" fmla="*/ 269 w 274"/>
                  <a:gd name="T15" fmla="*/ 243 h 273"/>
                  <a:gd name="T16" fmla="*/ 271 w 274"/>
                  <a:gd name="T17" fmla="*/ 236 h 273"/>
                  <a:gd name="T18" fmla="*/ 274 w 274"/>
                  <a:gd name="T19" fmla="*/ 227 h 273"/>
                  <a:gd name="T20" fmla="*/ 274 w 274"/>
                  <a:gd name="T21" fmla="*/ 219 h 273"/>
                  <a:gd name="T22" fmla="*/ 274 w 274"/>
                  <a:gd name="T23" fmla="*/ 54 h 273"/>
                  <a:gd name="T24" fmla="*/ 274 w 274"/>
                  <a:gd name="T25" fmla="*/ 46 h 273"/>
                  <a:gd name="T26" fmla="*/ 271 w 274"/>
                  <a:gd name="T27" fmla="*/ 37 h 273"/>
                  <a:gd name="T28" fmla="*/ 269 w 274"/>
                  <a:gd name="T29" fmla="*/ 29 h 273"/>
                  <a:gd name="T30" fmla="*/ 263 w 274"/>
                  <a:gd name="T31" fmla="*/ 22 h 273"/>
                  <a:gd name="T32" fmla="*/ 258 w 274"/>
                  <a:gd name="T33" fmla="*/ 16 h 273"/>
                  <a:gd name="T34" fmla="*/ 252 w 274"/>
                  <a:gd name="T35" fmla="*/ 10 h 273"/>
                  <a:gd name="T36" fmla="*/ 245 w 274"/>
                  <a:gd name="T37" fmla="*/ 6 h 273"/>
                  <a:gd name="T38" fmla="*/ 237 w 274"/>
                  <a:gd name="T39" fmla="*/ 2 h 273"/>
                  <a:gd name="T40" fmla="*/ 228 w 274"/>
                  <a:gd name="T41" fmla="*/ 0 h 273"/>
                  <a:gd name="T42" fmla="*/ 220 w 274"/>
                  <a:gd name="T43" fmla="*/ 0 h 273"/>
                  <a:gd name="T44" fmla="*/ 55 w 274"/>
                  <a:gd name="T45" fmla="*/ 0 h 273"/>
                  <a:gd name="T46" fmla="*/ 46 w 274"/>
                  <a:gd name="T47" fmla="*/ 0 h 273"/>
                  <a:gd name="T48" fmla="*/ 37 w 274"/>
                  <a:gd name="T49" fmla="*/ 2 h 273"/>
                  <a:gd name="T50" fmla="*/ 29 w 274"/>
                  <a:gd name="T51" fmla="*/ 6 h 273"/>
                  <a:gd name="T52" fmla="*/ 22 w 274"/>
                  <a:gd name="T53" fmla="*/ 10 h 273"/>
                  <a:gd name="T54" fmla="*/ 17 w 274"/>
                  <a:gd name="T55" fmla="*/ 16 h 273"/>
                  <a:gd name="T56" fmla="*/ 10 w 274"/>
                  <a:gd name="T57" fmla="*/ 22 h 273"/>
                  <a:gd name="T58" fmla="*/ 6 w 274"/>
                  <a:gd name="T59" fmla="*/ 29 h 273"/>
                  <a:gd name="T60" fmla="*/ 2 w 274"/>
                  <a:gd name="T61" fmla="*/ 37 h 273"/>
                  <a:gd name="T62" fmla="*/ 1 w 274"/>
                  <a:gd name="T63" fmla="*/ 46 h 273"/>
                  <a:gd name="T64" fmla="*/ 0 w 274"/>
                  <a:gd name="T65" fmla="*/ 54 h 273"/>
                  <a:gd name="T66" fmla="*/ 0 w 274"/>
                  <a:gd name="T67" fmla="*/ 219 h 273"/>
                  <a:gd name="T68" fmla="*/ 1 w 274"/>
                  <a:gd name="T69" fmla="*/ 227 h 273"/>
                  <a:gd name="T70" fmla="*/ 2 w 274"/>
                  <a:gd name="T71" fmla="*/ 236 h 273"/>
                  <a:gd name="T72" fmla="*/ 6 w 274"/>
                  <a:gd name="T73" fmla="*/ 243 h 273"/>
                  <a:gd name="T74" fmla="*/ 10 w 274"/>
                  <a:gd name="T75" fmla="*/ 251 h 273"/>
                  <a:gd name="T76" fmla="*/ 17 w 274"/>
                  <a:gd name="T77" fmla="*/ 257 h 273"/>
                  <a:gd name="T78" fmla="*/ 22 w 274"/>
                  <a:gd name="T79" fmla="*/ 262 h 273"/>
                  <a:gd name="T80" fmla="*/ 29 w 274"/>
                  <a:gd name="T81" fmla="*/ 267 h 273"/>
                  <a:gd name="T82" fmla="*/ 37 w 274"/>
                  <a:gd name="T83" fmla="*/ 271 h 273"/>
                  <a:gd name="T84" fmla="*/ 46 w 274"/>
                  <a:gd name="T85" fmla="*/ 273 h 273"/>
                  <a:gd name="T86" fmla="*/ 55 w 274"/>
                  <a:gd name="T87" fmla="*/ 273 h 273"/>
                  <a:gd name="T88" fmla="*/ 220 w 274"/>
                  <a:gd name="T89" fmla="*/ 273 h 273"/>
                  <a:gd name="T90" fmla="*/ 219 w 274"/>
                  <a:gd name="T91" fmla="*/ 273 h 273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274"/>
                  <a:gd name="T139" fmla="*/ 0 h 273"/>
                  <a:gd name="T140" fmla="*/ 274 w 274"/>
                  <a:gd name="T141" fmla="*/ 273 h 273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274" h="273">
                    <a:moveTo>
                      <a:pt x="219" y="273"/>
                    </a:moveTo>
                    <a:lnTo>
                      <a:pt x="228" y="273"/>
                    </a:lnTo>
                    <a:lnTo>
                      <a:pt x="237" y="271"/>
                    </a:lnTo>
                    <a:lnTo>
                      <a:pt x="245" y="267"/>
                    </a:lnTo>
                    <a:lnTo>
                      <a:pt x="252" y="262"/>
                    </a:lnTo>
                    <a:lnTo>
                      <a:pt x="258" y="257"/>
                    </a:lnTo>
                    <a:lnTo>
                      <a:pt x="263" y="251"/>
                    </a:lnTo>
                    <a:lnTo>
                      <a:pt x="269" y="243"/>
                    </a:lnTo>
                    <a:lnTo>
                      <a:pt x="271" y="236"/>
                    </a:lnTo>
                    <a:lnTo>
                      <a:pt x="274" y="227"/>
                    </a:lnTo>
                    <a:lnTo>
                      <a:pt x="274" y="219"/>
                    </a:lnTo>
                    <a:lnTo>
                      <a:pt x="274" y="54"/>
                    </a:lnTo>
                    <a:lnTo>
                      <a:pt x="274" y="46"/>
                    </a:lnTo>
                    <a:lnTo>
                      <a:pt x="271" y="37"/>
                    </a:lnTo>
                    <a:lnTo>
                      <a:pt x="269" y="29"/>
                    </a:lnTo>
                    <a:lnTo>
                      <a:pt x="263" y="22"/>
                    </a:lnTo>
                    <a:lnTo>
                      <a:pt x="258" y="16"/>
                    </a:lnTo>
                    <a:lnTo>
                      <a:pt x="252" y="10"/>
                    </a:lnTo>
                    <a:lnTo>
                      <a:pt x="245" y="6"/>
                    </a:lnTo>
                    <a:lnTo>
                      <a:pt x="237" y="2"/>
                    </a:lnTo>
                    <a:lnTo>
                      <a:pt x="228" y="0"/>
                    </a:lnTo>
                    <a:lnTo>
                      <a:pt x="220" y="0"/>
                    </a:lnTo>
                    <a:lnTo>
                      <a:pt x="55" y="0"/>
                    </a:lnTo>
                    <a:lnTo>
                      <a:pt x="46" y="0"/>
                    </a:lnTo>
                    <a:lnTo>
                      <a:pt x="37" y="2"/>
                    </a:lnTo>
                    <a:lnTo>
                      <a:pt x="29" y="6"/>
                    </a:lnTo>
                    <a:lnTo>
                      <a:pt x="22" y="10"/>
                    </a:lnTo>
                    <a:lnTo>
                      <a:pt x="17" y="16"/>
                    </a:lnTo>
                    <a:lnTo>
                      <a:pt x="10" y="22"/>
                    </a:lnTo>
                    <a:lnTo>
                      <a:pt x="6" y="29"/>
                    </a:lnTo>
                    <a:lnTo>
                      <a:pt x="2" y="37"/>
                    </a:lnTo>
                    <a:lnTo>
                      <a:pt x="1" y="46"/>
                    </a:lnTo>
                    <a:lnTo>
                      <a:pt x="0" y="54"/>
                    </a:lnTo>
                    <a:lnTo>
                      <a:pt x="0" y="219"/>
                    </a:lnTo>
                    <a:lnTo>
                      <a:pt x="1" y="227"/>
                    </a:lnTo>
                    <a:lnTo>
                      <a:pt x="2" y="236"/>
                    </a:lnTo>
                    <a:lnTo>
                      <a:pt x="6" y="243"/>
                    </a:lnTo>
                    <a:lnTo>
                      <a:pt x="10" y="251"/>
                    </a:lnTo>
                    <a:lnTo>
                      <a:pt x="17" y="257"/>
                    </a:lnTo>
                    <a:lnTo>
                      <a:pt x="22" y="262"/>
                    </a:lnTo>
                    <a:lnTo>
                      <a:pt x="29" y="267"/>
                    </a:lnTo>
                    <a:lnTo>
                      <a:pt x="37" y="271"/>
                    </a:lnTo>
                    <a:lnTo>
                      <a:pt x="46" y="273"/>
                    </a:lnTo>
                    <a:lnTo>
                      <a:pt x="55" y="273"/>
                    </a:lnTo>
                    <a:lnTo>
                      <a:pt x="220" y="273"/>
                    </a:lnTo>
                    <a:lnTo>
                      <a:pt x="219" y="27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80" name="Line 1105"/>
              <p:cNvSpPr>
                <a:spLocks noChangeShapeType="1"/>
              </p:cNvSpPr>
              <p:nvPr/>
            </p:nvSpPr>
            <p:spPr bwMode="auto">
              <a:xfrm>
                <a:off x="3034" y="3180"/>
                <a:ext cx="294" cy="1"/>
              </a:xfrm>
              <a:prstGeom prst="line">
                <a:avLst/>
              </a:prstGeom>
              <a:noFill/>
              <a:ln w="7938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81" name="Line 1106"/>
              <p:cNvSpPr>
                <a:spLocks noChangeShapeType="1"/>
              </p:cNvSpPr>
              <p:nvPr/>
            </p:nvSpPr>
            <p:spPr bwMode="auto">
              <a:xfrm>
                <a:off x="3034" y="3254"/>
                <a:ext cx="294" cy="1"/>
              </a:xfrm>
              <a:prstGeom prst="line">
                <a:avLst/>
              </a:prstGeom>
              <a:noFill/>
              <a:ln w="7938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82" name="Line 1107"/>
              <p:cNvSpPr>
                <a:spLocks noChangeShapeType="1"/>
              </p:cNvSpPr>
              <p:nvPr/>
            </p:nvSpPr>
            <p:spPr bwMode="auto">
              <a:xfrm>
                <a:off x="3034" y="3328"/>
                <a:ext cx="294" cy="1"/>
              </a:xfrm>
              <a:prstGeom prst="line">
                <a:avLst/>
              </a:prstGeom>
              <a:noFill/>
              <a:ln w="7938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83" name="Line 1108"/>
              <p:cNvSpPr>
                <a:spLocks noChangeShapeType="1"/>
              </p:cNvSpPr>
              <p:nvPr/>
            </p:nvSpPr>
            <p:spPr bwMode="auto">
              <a:xfrm>
                <a:off x="3034" y="3401"/>
                <a:ext cx="294" cy="1"/>
              </a:xfrm>
              <a:prstGeom prst="line">
                <a:avLst/>
              </a:prstGeom>
              <a:noFill/>
              <a:ln w="7938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84" name="Freeform 1109"/>
              <p:cNvSpPr>
                <a:spLocks/>
              </p:cNvSpPr>
              <p:nvPr/>
            </p:nvSpPr>
            <p:spPr bwMode="auto">
              <a:xfrm>
                <a:off x="3136" y="3194"/>
                <a:ext cx="84" cy="218"/>
              </a:xfrm>
              <a:custGeom>
                <a:avLst/>
                <a:gdLst>
                  <a:gd name="T0" fmla="*/ 46 w 84"/>
                  <a:gd name="T1" fmla="*/ 218 h 218"/>
                  <a:gd name="T2" fmla="*/ 47 w 84"/>
                  <a:gd name="T3" fmla="*/ 201 h 218"/>
                  <a:gd name="T4" fmla="*/ 50 w 84"/>
                  <a:gd name="T5" fmla="*/ 185 h 218"/>
                  <a:gd name="T6" fmla="*/ 54 w 84"/>
                  <a:gd name="T7" fmla="*/ 169 h 218"/>
                  <a:gd name="T8" fmla="*/ 59 w 84"/>
                  <a:gd name="T9" fmla="*/ 155 h 218"/>
                  <a:gd name="T10" fmla="*/ 65 w 84"/>
                  <a:gd name="T11" fmla="*/ 142 h 218"/>
                  <a:gd name="T12" fmla="*/ 71 w 84"/>
                  <a:gd name="T13" fmla="*/ 132 h 218"/>
                  <a:gd name="T14" fmla="*/ 77 w 84"/>
                  <a:gd name="T15" fmla="*/ 123 h 218"/>
                  <a:gd name="T16" fmla="*/ 80 w 84"/>
                  <a:gd name="T17" fmla="*/ 117 h 218"/>
                  <a:gd name="T18" fmla="*/ 83 w 84"/>
                  <a:gd name="T19" fmla="*/ 112 h 218"/>
                  <a:gd name="T20" fmla="*/ 84 w 84"/>
                  <a:gd name="T21" fmla="*/ 110 h 218"/>
                  <a:gd name="T22" fmla="*/ 74 w 84"/>
                  <a:gd name="T23" fmla="*/ 0 h 218"/>
                  <a:gd name="T24" fmla="*/ 41 w 84"/>
                  <a:gd name="T25" fmla="*/ 0 h 218"/>
                  <a:gd name="T26" fmla="*/ 9 w 84"/>
                  <a:gd name="T27" fmla="*/ 0 h 218"/>
                  <a:gd name="T28" fmla="*/ 0 w 84"/>
                  <a:gd name="T29" fmla="*/ 110 h 218"/>
                  <a:gd name="T30" fmla="*/ 1 w 84"/>
                  <a:gd name="T31" fmla="*/ 112 h 218"/>
                  <a:gd name="T32" fmla="*/ 4 w 84"/>
                  <a:gd name="T33" fmla="*/ 117 h 218"/>
                  <a:gd name="T34" fmla="*/ 7 w 84"/>
                  <a:gd name="T35" fmla="*/ 123 h 218"/>
                  <a:gd name="T36" fmla="*/ 12 w 84"/>
                  <a:gd name="T37" fmla="*/ 132 h 218"/>
                  <a:gd name="T38" fmla="*/ 19 w 84"/>
                  <a:gd name="T39" fmla="*/ 142 h 218"/>
                  <a:gd name="T40" fmla="*/ 24 w 84"/>
                  <a:gd name="T41" fmla="*/ 155 h 218"/>
                  <a:gd name="T42" fmla="*/ 30 w 84"/>
                  <a:gd name="T43" fmla="*/ 169 h 218"/>
                  <a:gd name="T44" fmla="*/ 34 w 84"/>
                  <a:gd name="T45" fmla="*/ 185 h 218"/>
                  <a:gd name="T46" fmla="*/ 37 w 84"/>
                  <a:gd name="T47" fmla="*/ 201 h 218"/>
                  <a:gd name="T48" fmla="*/ 38 w 84"/>
                  <a:gd name="T49" fmla="*/ 218 h 218"/>
                  <a:gd name="T50" fmla="*/ 46 w 84"/>
                  <a:gd name="T51" fmla="*/ 218 h 218"/>
                  <a:gd name="T52" fmla="*/ 46 w 84"/>
                  <a:gd name="T53" fmla="*/ 218 h 21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84"/>
                  <a:gd name="T82" fmla="*/ 0 h 218"/>
                  <a:gd name="T83" fmla="*/ 84 w 84"/>
                  <a:gd name="T84" fmla="*/ 218 h 21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84" h="218">
                    <a:moveTo>
                      <a:pt x="46" y="218"/>
                    </a:moveTo>
                    <a:lnTo>
                      <a:pt x="47" y="201"/>
                    </a:lnTo>
                    <a:lnTo>
                      <a:pt x="50" y="185"/>
                    </a:lnTo>
                    <a:lnTo>
                      <a:pt x="54" y="169"/>
                    </a:lnTo>
                    <a:lnTo>
                      <a:pt x="59" y="155"/>
                    </a:lnTo>
                    <a:lnTo>
                      <a:pt x="65" y="142"/>
                    </a:lnTo>
                    <a:lnTo>
                      <a:pt x="71" y="132"/>
                    </a:lnTo>
                    <a:lnTo>
                      <a:pt x="77" y="123"/>
                    </a:lnTo>
                    <a:lnTo>
                      <a:pt x="80" y="117"/>
                    </a:lnTo>
                    <a:lnTo>
                      <a:pt x="83" y="112"/>
                    </a:lnTo>
                    <a:lnTo>
                      <a:pt x="84" y="110"/>
                    </a:lnTo>
                    <a:lnTo>
                      <a:pt x="74" y="0"/>
                    </a:lnTo>
                    <a:lnTo>
                      <a:pt x="41" y="0"/>
                    </a:lnTo>
                    <a:lnTo>
                      <a:pt x="9" y="0"/>
                    </a:lnTo>
                    <a:lnTo>
                      <a:pt x="0" y="110"/>
                    </a:lnTo>
                    <a:lnTo>
                      <a:pt x="1" y="112"/>
                    </a:lnTo>
                    <a:lnTo>
                      <a:pt x="4" y="117"/>
                    </a:lnTo>
                    <a:lnTo>
                      <a:pt x="7" y="123"/>
                    </a:lnTo>
                    <a:lnTo>
                      <a:pt x="12" y="132"/>
                    </a:lnTo>
                    <a:lnTo>
                      <a:pt x="19" y="142"/>
                    </a:lnTo>
                    <a:lnTo>
                      <a:pt x="24" y="155"/>
                    </a:lnTo>
                    <a:lnTo>
                      <a:pt x="30" y="169"/>
                    </a:lnTo>
                    <a:lnTo>
                      <a:pt x="34" y="185"/>
                    </a:lnTo>
                    <a:lnTo>
                      <a:pt x="37" y="201"/>
                    </a:lnTo>
                    <a:lnTo>
                      <a:pt x="38" y="218"/>
                    </a:lnTo>
                    <a:lnTo>
                      <a:pt x="46" y="2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85" name="Freeform 1110"/>
              <p:cNvSpPr>
                <a:spLocks/>
              </p:cNvSpPr>
              <p:nvPr/>
            </p:nvSpPr>
            <p:spPr bwMode="auto">
              <a:xfrm>
                <a:off x="3130" y="3189"/>
                <a:ext cx="96" cy="229"/>
              </a:xfrm>
              <a:custGeom>
                <a:avLst/>
                <a:gdLst>
                  <a:gd name="T0" fmla="*/ 59 w 96"/>
                  <a:gd name="T1" fmla="*/ 207 h 229"/>
                  <a:gd name="T2" fmla="*/ 61 w 96"/>
                  <a:gd name="T3" fmla="*/ 191 h 229"/>
                  <a:gd name="T4" fmla="*/ 65 w 96"/>
                  <a:gd name="T5" fmla="*/ 176 h 229"/>
                  <a:gd name="T6" fmla="*/ 71 w 96"/>
                  <a:gd name="T7" fmla="*/ 162 h 229"/>
                  <a:gd name="T8" fmla="*/ 76 w 96"/>
                  <a:gd name="T9" fmla="*/ 150 h 229"/>
                  <a:gd name="T10" fmla="*/ 83 w 96"/>
                  <a:gd name="T11" fmla="*/ 140 h 229"/>
                  <a:gd name="T12" fmla="*/ 91 w 96"/>
                  <a:gd name="T13" fmla="*/ 125 h 229"/>
                  <a:gd name="T14" fmla="*/ 93 w 96"/>
                  <a:gd name="T15" fmla="*/ 120 h 229"/>
                  <a:gd name="T16" fmla="*/ 95 w 96"/>
                  <a:gd name="T17" fmla="*/ 115 h 229"/>
                  <a:gd name="T18" fmla="*/ 85 w 96"/>
                  <a:gd name="T19" fmla="*/ 1 h 229"/>
                  <a:gd name="T20" fmla="*/ 15 w 96"/>
                  <a:gd name="T21" fmla="*/ 0 h 229"/>
                  <a:gd name="T22" fmla="*/ 10 w 96"/>
                  <a:gd name="T23" fmla="*/ 5 h 229"/>
                  <a:gd name="T24" fmla="*/ 1 w 96"/>
                  <a:gd name="T25" fmla="*/ 118 h 229"/>
                  <a:gd name="T26" fmla="*/ 6 w 96"/>
                  <a:gd name="T27" fmla="*/ 125 h 229"/>
                  <a:gd name="T28" fmla="*/ 9 w 96"/>
                  <a:gd name="T29" fmla="*/ 131 h 229"/>
                  <a:gd name="T30" fmla="*/ 18 w 96"/>
                  <a:gd name="T31" fmla="*/ 137 h 229"/>
                  <a:gd name="T32" fmla="*/ 25 w 96"/>
                  <a:gd name="T33" fmla="*/ 147 h 229"/>
                  <a:gd name="T34" fmla="*/ 31 w 96"/>
                  <a:gd name="T35" fmla="*/ 176 h 229"/>
                  <a:gd name="T36" fmla="*/ 35 w 96"/>
                  <a:gd name="T37" fmla="*/ 192 h 229"/>
                  <a:gd name="T38" fmla="*/ 38 w 96"/>
                  <a:gd name="T39" fmla="*/ 207 h 229"/>
                  <a:gd name="T40" fmla="*/ 39 w 96"/>
                  <a:gd name="T41" fmla="*/ 224 h 229"/>
                  <a:gd name="T42" fmla="*/ 52 w 96"/>
                  <a:gd name="T43" fmla="*/ 229 h 229"/>
                  <a:gd name="T44" fmla="*/ 48 w 96"/>
                  <a:gd name="T45" fmla="*/ 219 h 229"/>
                  <a:gd name="T46" fmla="*/ 49 w 96"/>
                  <a:gd name="T47" fmla="*/ 206 h 229"/>
                  <a:gd name="T48" fmla="*/ 45 w 96"/>
                  <a:gd name="T49" fmla="*/ 189 h 229"/>
                  <a:gd name="T50" fmla="*/ 36 w 96"/>
                  <a:gd name="T51" fmla="*/ 158 h 229"/>
                  <a:gd name="T52" fmla="*/ 24 w 96"/>
                  <a:gd name="T53" fmla="*/ 134 h 229"/>
                  <a:gd name="T54" fmla="*/ 13 w 96"/>
                  <a:gd name="T55" fmla="*/ 128 h 229"/>
                  <a:gd name="T56" fmla="*/ 14 w 96"/>
                  <a:gd name="T57" fmla="*/ 118 h 229"/>
                  <a:gd name="T58" fmla="*/ 12 w 96"/>
                  <a:gd name="T59" fmla="*/ 115 h 229"/>
                  <a:gd name="T60" fmla="*/ 12 w 96"/>
                  <a:gd name="T61" fmla="*/ 116 h 229"/>
                  <a:gd name="T62" fmla="*/ 20 w 96"/>
                  <a:gd name="T63" fmla="*/ 9 h 229"/>
                  <a:gd name="T64" fmla="*/ 15 w 96"/>
                  <a:gd name="T65" fmla="*/ 12 h 229"/>
                  <a:gd name="T66" fmla="*/ 76 w 96"/>
                  <a:gd name="T67" fmla="*/ 9 h 229"/>
                  <a:gd name="T68" fmla="*/ 85 w 96"/>
                  <a:gd name="T69" fmla="*/ 116 h 229"/>
                  <a:gd name="T70" fmla="*/ 85 w 96"/>
                  <a:gd name="T71" fmla="*/ 115 h 229"/>
                  <a:gd name="T72" fmla="*/ 82 w 96"/>
                  <a:gd name="T73" fmla="*/ 118 h 229"/>
                  <a:gd name="T74" fmla="*/ 83 w 96"/>
                  <a:gd name="T75" fmla="*/ 128 h 229"/>
                  <a:gd name="T76" fmla="*/ 73 w 96"/>
                  <a:gd name="T77" fmla="*/ 134 h 229"/>
                  <a:gd name="T78" fmla="*/ 67 w 96"/>
                  <a:gd name="T79" fmla="*/ 145 h 229"/>
                  <a:gd name="T80" fmla="*/ 55 w 96"/>
                  <a:gd name="T81" fmla="*/ 173 h 229"/>
                  <a:gd name="T82" fmla="*/ 47 w 96"/>
                  <a:gd name="T83" fmla="*/ 205 h 22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6"/>
                  <a:gd name="T127" fmla="*/ 0 h 229"/>
                  <a:gd name="T128" fmla="*/ 96 w 96"/>
                  <a:gd name="T129" fmla="*/ 229 h 22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6" h="229">
                    <a:moveTo>
                      <a:pt x="46" y="223"/>
                    </a:moveTo>
                    <a:lnTo>
                      <a:pt x="58" y="224"/>
                    </a:lnTo>
                    <a:lnTo>
                      <a:pt x="59" y="207"/>
                    </a:lnTo>
                    <a:lnTo>
                      <a:pt x="53" y="206"/>
                    </a:lnTo>
                    <a:lnTo>
                      <a:pt x="58" y="207"/>
                    </a:lnTo>
                    <a:lnTo>
                      <a:pt x="61" y="191"/>
                    </a:lnTo>
                    <a:lnTo>
                      <a:pt x="56" y="190"/>
                    </a:lnTo>
                    <a:lnTo>
                      <a:pt x="61" y="192"/>
                    </a:lnTo>
                    <a:lnTo>
                      <a:pt x="65" y="176"/>
                    </a:lnTo>
                    <a:lnTo>
                      <a:pt x="60" y="174"/>
                    </a:lnTo>
                    <a:lnTo>
                      <a:pt x="65" y="176"/>
                    </a:lnTo>
                    <a:lnTo>
                      <a:pt x="71" y="162"/>
                    </a:lnTo>
                    <a:lnTo>
                      <a:pt x="76" y="149"/>
                    </a:lnTo>
                    <a:lnTo>
                      <a:pt x="71" y="147"/>
                    </a:lnTo>
                    <a:lnTo>
                      <a:pt x="76" y="150"/>
                    </a:lnTo>
                    <a:lnTo>
                      <a:pt x="83" y="140"/>
                    </a:lnTo>
                    <a:lnTo>
                      <a:pt x="77" y="137"/>
                    </a:lnTo>
                    <a:lnTo>
                      <a:pt x="83" y="140"/>
                    </a:lnTo>
                    <a:lnTo>
                      <a:pt x="88" y="131"/>
                    </a:lnTo>
                    <a:lnTo>
                      <a:pt x="91" y="125"/>
                    </a:lnTo>
                    <a:lnTo>
                      <a:pt x="86" y="122"/>
                    </a:lnTo>
                    <a:lnTo>
                      <a:pt x="90" y="125"/>
                    </a:lnTo>
                    <a:lnTo>
                      <a:pt x="93" y="120"/>
                    </a:lnTo>
                    <a:lnTo>
                      <a:pt x="94" y="120"/>
                    </a:lnTo>
                    <a:lnTo>
                      <a:pt x="95" y="118"/>
                    </a:lnTo>
                    <a:lnTo>
                      <a:pt x="95" y="115"/>
                    </a:lnTo>
                    <a:lnTo>
                      <a:pt x="96" y="115"/>
                    </a:lnTo>
                    <a:lnTo>
                      <a:pt x="87" y="5"/>
                    </a:lnTo>
                    <a:lnTo>
                      <a:pt x="85" y="1"/>
                    </a:lnTo>
                    <a:lnTo>
                      <a:pt x="80" y="0"/>
                    </a:lnTo>
                    <a:lnTo>
                      <a:pt x="47" y="0"/>
                    </a:lnTo>
                    <a:lnTo>
                      <a:pt x="15" y="0"/>
                    </a:lnTo>
                    <a:lnTo>
                      <a:pt x="11" y="1"/>
                    </a:lnTo>
                    <a:lnTo>
                      <a:pt x="10" y="5"/>
                    </a:lnTo>
                    <a:lnTo>
                      <a:pt x="0" y="115"/>
                    </a:lnTo>
                    <a:lnTo>
                      <a:pt x="1" y="118"/>
                    </a:lnTo>
                    <a:lnTo>
                      <a:pt x="2" y="120"/>
                    </a:lnTo>
                    <a:lnTo>
                      <a:pt x="6" y="125"/>
                    </a:lnTo>
                    <a:lnTo>
                      <a:pt x="10" y="122"/>
                    </a:lnTo>
                    <a:lnTo>
                      <a:pt x="6" y="125"/>
                    </a:lnTo>
                    <a:lnTo>
                      <a:pt x="9" y="131"/>
                    </a:lnTo>
                    <a:lnTo>
                      <a:pt x="14" y="140"/>
                    </a:lnTo>
                    <a:lnTo>
                      <a:pt x="18" y="137"/>
                    </a:lnTo>
                    <a:lnTo>
                      <a:pt x="14" y="140"/>
                    </a:lnTo>
                    <a:lnTo>
                      <a:pt x="21" y="150"/>
                    </a:lnTo>
                    <a:lnTo>
                      <a:pt x="25" y="147"/>
                    </a:lnTo>
                    <a:lnTo>
                      <a:pt x="21" y="149"/>
                    </a:lnTo>
                    <a:lnTo>
                      <a:pt x="26" y="162"/>
                    </a:lnTo>
                    <a:lnTo>
                      <a:pt x="31" y="176"/>
                    </a:lnTo>
                    <a:lnTo>
                      <a:pt x="36" y="174"/>
                    </a:lnTo>
                    <a:lnTo>
                      <a:pt x="30" y="176"/>
                    </a:lnTo>
                    <a:lnTo>
                      <a:pt x="35" y="192"/>
                    </a:lnTo>
                    <a:lnTo>
                      <a:pt x="40" y="190"/>
                    </a:lnTo>
                    <a:lnTo>
                      <a:pt x="35" y="191"/>
                    </a:lnTo>
                    <a:lnTo>
                      <a:pt x="38" y="207"/>
                    </a:lnTo>
                    <a:lnTo>
                      <a:pt x="43" y="206"/>
                    </a:lnTo>
                    <a:lnTo>
                      <a:pt x="38" y="207"/>
                    </a:lnTo>
                    <a:lnTo>
                      <a:pt x="39" y="224"/>
                    </a:lnTo>
                    <a:lnTo>
                      <a:pt x="40" y="227"/>
                    </a:lnTo>
                    <a:lnTo>
                      <a:pt x="44" y="229"/>
                    </a:lnTo>
                    <a:lnTo>
                      <a:pt x="52" y="229"/>
                    </a:lnTo>
                    <a:lnTo>
                      <a:pt x="52" y="218"/>
                    </a:lnTo>
                    <a:lnTo>
                      <a:pt x="44" y="218"/>
                    </a:lnTo>
                    <a:lnTo>
                      <a:pt x="48" y="219"/>
                    </a:lnTo>
                    <a:lnTo>
                      <a:pt x="44" y="223"/>
                    </a:lnTo>
                    <a:lnTo>
                      <a:pt x="51" y="223"/>
                    </a:lnTo>
                    <a:lnTo>
                      <a:pt x="49" y="206"/>
                    </a:lnTo>
                    <a:lnTo>
                      <a:pt x="48" y="205"/>
                    </a:lnTo>
                    <a:lnTo>
                      <a:pt x="45" y="189"/>
                    </a:lnTo>
                    <a:lnTo>
                      <a:pt x="41" y="173"/>
                    </a:lnTo>
                    <a:lnTo>
                      <a:pt x="41" y="172"/>
                    </a:lnTo>
                    <a:lnTo>
                      <a:pt x="36" y="158"/>
                    </a:lnTo>
                    <a:lnTo>
                      <a:pt x="30" y="145"/>
                    </a:lnTo>
                    <a:lnTo>
                      <a:pt x="24" y="134"/>
                    </a:lnTo>
                    <a:lnTo>
                      <a:pt x="24" y="133"/>
                    </a:lnTo>
                    <a:lnTo>
                      <a:pt x="18" y="125"/>
                    </a:lnTo>
                    <a:lnTo>
                      <a:pt x="13" y="128"/>
                    </a:lnTo>
                    <a:lnTo>
                      <a:pt x="18" y="126"/>
                    </a:lnTo>
                    <a:lnTo>
                      <a:pt x="15" y="119"/>
                    </a:lnTo>
                    <a:lnTo>
                      <a:pt x="14" y="118"/>
                    </a:lnTo>
                    <a:lnTo>
                      <a:pt x="11" y="114"/>
                    </a:lnTo>
                    <a:lnTo>
                      <a:pt x="7" y="117"/>
                    </a:lnTo>
                    <a:lnTo>
                      <a:pt x="12" y="115"/>
                    </a:lnTo>
                    <a:lnTo>
                      <a:pt x="11" y="113"/>
                    </a:lnTo>
                    <a:lnTo>
                      <a:pt x="6" y="115"/>
                    </a:lnTo>
                    <a:lnTo>
                      <a:pt x="12" y="116"/>
                    </a:lnTo>
                    <a:lnTo>
                      <a:pt x="22" y="6"/>
                    </a:lnTo>
                    <a:lnTo>
                      <a:pt x="15" y="10"/>
                    </a:lnTo>
                    <a:lnTo>
                      <a:pt x="20" y="9"/>
                    </a:lnTo>
                    <a:lnTo>
                      <a:pt x="21" y="5"/>
                    </a:lnTo>
                    <a:lnTo>
                      <a:pt x="15" y="5"/>
                    </a:lnTo>
                    <a:lnTo>
                      <a:pt x="15" y="12"/>
                    </a:lnTo>
                    <a:lnTo>
                      <a:pt x="47" y="12"/>
                    </a:lnTo>
                    <a:lnTo>
                      <a:pt x="80" y="12"/>
                    </a:lnTo>
                    <a:lnTo>
                      <a:pt x="76" y="9"/>
                    </a:lnTo>
                    <a:lnTo>
                      <a:pt x="80" y="5"/>
                    </a:lnTo>
                    <a:lnTo>
                      <a:pt x="75" y="6"/>
                    </a:lnTo>
                    <a:lnTo>
                      <a:pt x="85" y="116"/>
                    </a:lnTo>
                    <a:lnTo>
                      <a:pt x="90" y="115"/>
                    </a:lnTo>
                    <a:lnTo>
                      <a:pt x="86" y="113"/>
                    </a:lnTo>
                    <a:lnTo>
                      <a:pt x="85" y="115"/>
                    </a:lnTo>
                    <a:lnTo>
                      <a:pt x="89" y="117"/>
                    </a:lnTo>
                    <a:lnTo>
                      <a:pt x="85" y="114"/>
                    </a:lnTo>
                    <a:lnTo>
                      <a:pt x="82" y="118"/>
                    </a:lnTo>
                    <a:lnTo>
                      <a:pt x="82" y="119"/>
                    </a:lnTo>
                    <a:lnTo>
                      <a:pt x="78" y="126"/>
                    </a:lnTo>
                    <a:lnTo>
                      <a:pt x="83" y="128"/>
                    </a:lnTo>
                    <a:lnTo>
                      <a:pt x="78" y="125"/>
                    </a:lnTo>
                    <a:lnTo>
                      <a:pt x="73" y="133"/>
                    </a:lnTo>
                    <a:lnTo>
                      <a:pt x="73" y="134"/>
                    </a:lnTo>
                    <a:lnTo>
                      <a:pt x="67" y="145"/>
                    </a:lnTo>
                    <a:lnTo>
                      <a:pt x="65" y="147"/>
                    </a:lnTo>
                    <a:lnTo>
                      <a:pt x="67" y="145"/>
                    </a:lnTo>
                    <a:lnTo>
                      <a:pt x="61" y="158"/>
                    </a:lnTo>
                    <a:lnTo>
                      <a:pt x="56" y="172"/>
                    </a:lnTo>
                    <a:lnTo>
                      <a:pt x="55" y="173"/>
                    </a:lnTo>
                    <a:lnTo>
                      <a:pt x="51" y="189"/>
                    </a:lnTo>
                    <a:lnTo>
                      <a:pt x="47" y="205"/>
                    </a:lnTo>
                    <a:lnTo>
                      <a:pt x="47" y="206"/>
                    </a:lnTo>
                    <a:lnTo>
                      <a:pt x="46" y="22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86" name="Line 1111"/>
              <p:cNvSpPr>
                <a:spLocks noChangeShapeType="1"/>
              </p:cNvSpPr>
              <p:nvPr/>
            </p:nvSpPr>
            <p:spPr bwMode="auto">
              <a:xfrm flipV="1">
                <a:off x="3177" y="3308"/>
                <a:ext cx="1" cy="103"/>
              </a:xfrm>
              <a:prstGeom prst="line">
                <a:avLst/>
              </a:prstGeom>
              <a:noFill/>
              <a:ln w="11113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87" name="Freeform 1112"/>
              <p:cNvSpPr>
                <a:spLocks/>
              </p:cNvSpPr>
              <p:nvPr/>
            </p:nvSpPr>
            <p:spPr bwMode="auto">
              <a:xfrm>
                <a:off x="3168" y="3298"/>
                <a:ext cx="21" cy="21"/>
              </a:xfrm>
              <a:custGeom>
                <a:avLst/>
                <a:gdLst>
                  <a:gd name="T0" fmla="*/ 9 w 21"/>
                  <a:gd name="T1" fmla="*/ 21 h 21"/>
                  <a:gd name="T2" fmla="*/ 11 w 21"/>
                  <a:gd name="T3" fmla="*/ 21 h 21"/>
                  <a:gd name="T4" fmla="*/ 14 w 21"/>
                  <a:gd name="T5" fmla="*/ 20 h 21"/>
                  <a:gd name="T6" fmla="*/ 15 w 21"/>
                  <a:gd name="T7" fmla="*/ 20 h 21"/>
                  <a:gd name="T8" fmla="*/ 17 w 21"/>
                  <a:gd name="T9" fmla="*/ 19 h 21"/>
                  <a:gd name="T10" fmla="*/ 17 w 21"/>
                  <a:gd name="T11" fmla="*/ 18 h 21"/>
                  <a:gd name="T12" fmla="*/ 19 w 21"/>
                  <a:gd name="T13" fmla="*/ 17 h 21"/>
                  <a:gd name="T14" fmla="*/ 20 w 21"/>
                  <a:gd name="T15" fmla="*/ 16 h 21"/>
                  <a:gd name="T16" fmla="*/ 20 w 21"/>
                  <a:gd name="T17" fmla="*/ 14 h 21"/>
                  <a:gd name="T18" fmla="*/ 20 w 21"/>
                  <a:gd name="T19" fmla="*/ 11 h 21"/>
                  <a:gd name="T20" fmla="*/ 21 w 21"/>
                  <a:gd name="T21" fmla="*/ 10 h 21"/>
                  <a:gd name="T22" fmla="*/ 20 w 21"/>
                  <a:gd name="T23" fmla="*/ 8 h 21"/>
                  <a:gd name="T24" fmla="*/ 20 w 21"/>
                  <a:gd name="T25" fmla="*/ 7 h 21"/>
                  <a:gd name="T26" fmla="*/ 20 w 21"/>
                  <a:gd name="T27" fmla="*/ 5 h 21"/>
                  <a:gd name="T28" fmla="*/ 19 w 21"/>
                  <a:gd name="T29" fmla="*/ 4 h 21"/>
                  <a:gd name="T30" fmla="*/ 17 w 21"/>
                  <a:gd name="T31" fmla="*/ 3 h 21"/>
                  <a:gd name="T32" fmla="*/ 17 w 21"/>
                  <a:gd name="T33" fmla="*/ 2 h 21"/>
                  <a:gd name="T34" fmla="*/ 15 w 21"/>
                  <a:gd name="T35" fmla="*/ 2 h 21"/>
                  <a:gd name="T36" fmla="*/ 14 w 21"/>
                  <a:gd name="T37" fmla="*/ 0 h 21"/>
                  <a:gd name="T38" fmla="*/ 11 w 21"/>
                  <a:gd name="T39" fmla="*/ 0 h 21"/>
                  <a:gd name="T40" fmla="*/ 10 w 21"/>
                  <a:gd name="T41" fmla="*/ 0 h 21"/>
                  <a:gd name="T42" fmla="*/ 8 w 21"/>
                  <a:gd name="T43" fmla="*/ 0 h 21"/>
                  <a:gd name="T44" fmla="*/ 7 w 21"/>
                  <a:gd name="T45" fmla="*/ 0 h 21"/>
                  <a:gd name="T46" fmla="*/ 5 w 21"/>
                  <a:gd name="T47" fmla="*/ 2 h 21"/>
                  <a:gd name="T48" fmla="*/ 4 w 21"/>
                  <a:gd name="T49" fmla="*/ 2 h 21"/>
                  <a:gd name="T50" fmla="*/ 3 w 21"/>
                  <a:gd name="T51" fmla="*/ 3 h 21"/>
                  <a:gd name="T52" fmla="*/ 2 w 21"/>
                  <a:gd name="T53" fmla="*/ 4 h 21"/>
                  <a:gd name="T54" fmla="*/ 1 w 21"/>
                  <a:gd name="T55" fmla="*/ 5 h 21"/>
                  <a:gd name="T56" fmla="*/ 0 w 21"/>
                  <a:gd name="T57" fmla="*/ 7 h 21"/>
                  <a:gd name="T58" fmla="*/ 0 w 21"/>
                  <a:gd name="T59" fmla="*/ 8 h 21"/>
                  <a:gd name="T60" fmla="*/ 0 w 21"/>
                  <a:gd name="T61" fmla="*/ 10 h 21"/>
                  <a:gd name="T62" fmla="*/ 0 w 21"/>
                  <a:gd name="T63" fmla="*/ 11 h 21"/>
                  <a:gd name="T64" fmla="*/ 0 w 21"/>
                  <a:gd name="T65" fmla="*/ 14 h 21"/>
                  <a:gd name="T66" fmla="*/ 1 w 21"/>
                  <a:gd name="T67" fmla="*/ 16 h 21"/>
                  <a:gd name="T68" fmla="*/ 2 w 21"/>
                  <a:gd name="T69" fmla="*/ 17 h 21"/>
                  <a:gd name="T70" fmla="*/ 3 w 21"/>
                  <a:gd name="T71" fmla="*/ 18 h 21"/>
                  <a:gd name="T72" fmla="*/ 4 w 21"/>
                  <a:gd name="T73" fmla="*/ 19 h 21"/>
                  <a:gd name="T74" fmla="*/ 5 w 21"/>
                  <a:gd name="T75" fmla="*/ 20 h 21"/>
                  <a:gd name="T76" fmla="*/ 7 w 21"/>
                  <a:gd name="T77" fmla="*/ 20 h 21"/>
                  <a:gd name="T78" fmla="*/ 8 w 21"/>
                  <a:gd name="T79" fmla="*/ 21 h 21"/>
                  <a:gd name="T80" fmla="*/ 10 w 21"/>
                  <a:gd name="T81" fmla="*/ 21 h 21"/>
                  <a:gd name="T82" fmla="*/ 9 w 21"/>
                  <a:gd name="T83" fmla="*/ 21 h 2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1"/>
                  <a:gd name="T127" fmla="*/ 0 h 21"/>
                  <a:gd name="T128" fmla="*/ 21 w 21"/>
                  <a:gd name="T129" fmla="*/ 21 h 2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1" h="21">
                    <a:moveTo>
                      <a:pt x="9" y="21"/>
                    </a:moveTo>
                    <a:lnTo>
                      <a:pt x="11" y="21"/>
                    </a:lnTo>
                    <a:lnTo>
                      <a:pt x="14" y="20"/>
                    </a:lnTo>
                    <a:lnTo>
                      <a:pt x="15" y="20"/>
                    </a:lnTo>
                    <a:lnTo>
                      <a:pt x="17" y="19"/>
                    </a:lnTo>
                    <a:lnTo>
                      <a:pt x="17" y="18"/>
                    </a:lnTo>
                    <a:lnTo>
                      <a:pt x="19" y="17"/>
                    </a:lnTo>
                    <a:lnTo>
                      <a:pt x="20" y="16"/>
                    </a:lnTo>
                    <a:lnTo>
                      <a:pt x="20" y="14"/>
                    </a:lnTo>
                    <a:lnTo>
                      <a:pt x="20" y="11"/>
                    </a:lnTo>
                    <a:lnTo>
                      <a:pt x="21" y="10"/>
                    </a:lnTo>
                    <a:lnTo>
                      <a:pt x="20" y="8"/>
                    </a:lnTo>
                    <a:lnTo>
                      <a:pt x="20" y="7"/>
                    </a:lnTo>
                    <a:lnTo>
                      <a:pt x="20" y="5"/>
                    </a:lnTo>
                    <a:lnTo>
                      <a:pt x="19" y="4"/>
                    </a:lnTo>
                    <a:lnTo>
                      <a:pt x="17" y="3"/>
                    </a:lnTo>
                    <a:lnTo>
                      <a:pt x="17" y="2"/>
                    </a:lnTo>
                    <a:lnTo>
                      <a:pt x="15" y="2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7" y="0"/>
                    </a:lnTo>
                    <a:lnTo>
                      <a:pt x="5" y="2"/>
                    </a:lnTo>
                    <a:lnTo>
                      <a:pt x="4" y="2"/>
                    </a:lnTo>
                    <a:lnTo>
                      <a:pt x="3" y="3"/>
                    </a:lnTo>
                    <a:lnTo>
                      <a:pt x="2" y="4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2" y="17"/>
                    </a:lnTo>
                    <a:lnTo>
                      <a:pt x="3" y="18"/>
                    </a:lnTo>
                    <a:lnTo>
                      <a:pt x="4" y="19"/>
                    </a:lnTo>
                    <a:lnTo>
                      <a:pt x="5" y="20"/>
                    </a:lnTo>
                    <a:lnTo>
                      <a:pt x="7" y="20"/>
                    </a:lnTo>
                    <a:lnTo>
                      <a:pt x="8" y="21"/>
                    </a:lnTo>
                    <a:lnTo>
                      <a:pt x="10" y="21"/>
                    </a:ln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88" name="Freeform 1113"/>
              <p:cNvSpPr>
                <a:spLocks/>
              </p:cNvSpPr>
              <p:nvPr/>
            </p:nvSpPr>
            <p:spPr bwMode="auto">
              <a:xfrm>
                <a:off x="3136" y="3151"/>
                <a:ext cx="84" cy="42"/>
              </a:xfrm>
              <a:custGeom>
                <a:avLst/>
                <a:gdLst>
                  <a:gd name="T0" fmla="*/ 0 w 84"/>
                  <a:gd name="T1" fmla="*/ 0 h 42"/>
                  <a:gd name="T2" fmla="*/ 0 w 84"/>
                  <a:gd name="T3" fmla="*/ 42 h 42"/>
                  <a:gd name="T4" fmla="*/ 84 w 84"/>
                  <a:gd name="T5" fmla="*/ 42 h 42"/>
                  <a:gd name="T6" fmla="*/ 84 w 84"/>
                  <a:gd name="T7" fmla="*/ 0 h 42"/>
                  <a:gd name="T8" fmla="*/ 0 w 84"/>
                  <a:gd name="T9" fmla="*/ 0 h 42"/>
                  <a:gd name="T10" fmla="*/ 0 w 84"/>
                  <a:gd name="T11" fmla="*/ 0 h 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4"/>
                  <a:gd name="T19" fmla="*/ 0 h 42"/>
                  <a:gd name="T20" fmla="*/ 84 w 84"/>
                  <a:gd name="T21" fmla="*/ 42 h 4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4" h="42">
                    <a:moveTo>
                      <a:pt x="0" y="0"/>
                    </a:moveTo>
                    <a:lnTo>
                      <a:pt x="0" y="42"/>
                    </a:lnTo>
                    <a:lnTo>
                      <a:pt x="84" y="42"/>
                    </a:lnTo>
                    <a:lnTo>
                      <a:pt x="8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7474" name="Rectangle 1114"/>
            <p:cNvSpPr>
              <a:spLocks noChangeArrowheads="1"/>
            </p:cNvSpPr>
            <p:nvPr/>
          </p:nvSpPr>
          <p:spPr bwMode="auto">
            <a:xfrm>
              <a:off x="3358" y="4004"/>
              <a:ext cx="558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Final Evaluation</a:t>
              </a:r>
              <a:endParaRPr lang="en-US" sz="1000" b="0">
                <a:latin typeface="Times New Roman" pitchFamily="18" charset="0"/>
              </a:endParaRPr>
            </a:p>
          </p:txBody>
        </p:sp>
        <p:sp>
          <p:nvSpPr>
            <p:cNvPr id="17475" name="Rectangle 1115"/>
            <p:cNvSpPr>
              <a:spLocks noChangeArrowheads="1"/>
            </p:cNvSpPr>
            <p:nvPr/>
          </p:nvSpPr>
          <p:spPr bwMode="auto">
            <a:xfrm>
              <a:off x="2249" y="3543"/>
              <a:ext cx="1767" cy="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900" u="sng">
                  <a:solidFill>
                    <a:srgbClr val="000000"/>
                  </a:solidFill>
                  <a:latin typeface="Arial Narrow" pitchFamily="34" charset="0"/>
                </a:rPr>
                <a:t>Field Implementation Phase</a:t>
              </a:r>
              <a:r>
                <a:rPr lang="en-US" sz="900">
                  <a:solidFill>
                    <a:srgbClr val="000000"/>
                  </a:solidFill>
                  <a:latin typeface="Arial Narrow" pitchFamily="34" charset="0"/>
                </a:rPr>
                <a:t>: Ensure Field Safe Work</a:t>
              </a:r>
            </a:p>
          </p:txBody>
        </p:sp>
        <p:sp>
          <p:nvSpPr>
            <p:cNvPr id="17476" name="Rectangle 1116"/>
            <p:cNvSpPr>
              <a:spLocks noChangeArrowheads="1"/>
            </p:cNvSpPr>
            <p:nvPr/>
          </p:nvSpPr>
          <p:spPr bwMode="auto">
            <a:xfrm>
              <a:off x="3012" y="3461"/>
              <a:ext cx="95" cy="72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7477" name="Rectangle 1117"/>
            <p:cNvSpPr>
              <a:spLocks noChangeArrowheads="1"/>
            </p:cNvSpPr>
            <p:nvPr/>
          </p:nvSpPr>
          <p:spPr bwMode="auto">
            <a:xfrm>
              <a:off x="3018" y="3456"/>
              <a:ext cx="92" cy="50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7478" name="Rectangle 1118"/>
            <p:cNvSpPr>
              <a:spLocks noChangeArrowheads="1"/>
            </p:cNvSpPr>
            <p:nvPr/>
          </p:nvSpPr>
          <p:spPr bwMode="auto">
            <a:xfrm>
              <a:off x="3015" y="2833"/>
              <a:ext cx="88" cy="54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FFFF66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17417" name="Group 1119"/>
          <p:cNvGrpSpPr>
            <a:grpSpLocks/>
          </p:cNvGrpSpPr>
          <p:nvPr/>
        </p:nvGrpSpPr>
        <p:grpSpPr bwMode="auto">
          <a:xfrm>
            <a:off x="2416175" y="1716088"/>
            <a:ext cx="1295400" cy="984250"/>
            <a:chOff x="1951" y="1392"/>
            <a:chExt cx="954" cy="687"/>
          </a:xfrm>
        </p:grpSpPr>
        <p:sp>
          <p:nvSpPr>
            <p:cNvPr id="17422" name="Rectangle 1120"/>
            <p:cNvSpPr>
              <a:spLocks noChangeArrowheads="1"/>
            </p:cNvSpPr>
            <p:nvPr/>
          </p:nvSpPr>
          <p:spPr bwMode="auto">
            <a:xfrm>
              <a:off x="1951" y="1919"/>
              <a:ext cx="954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19150" eaLnBrk="0" hangingPunct="0"/>
              <a:r>
                <a:rPr lang="en-US" sz="1500">
                  <a:solidFill>
                    <a:srgbClr val="000000"/>
                  </a:solidFill>
                  <a:latin typeface="Arial Narrow" pitchFamily="34" charset="0"/>
                </a:rPr>
                <a:t>Risk Assessment</a:t>
              </a:r>
              <a:endParaRPr lang="en-US" sz="1400" b="0">
                <a:latin typeface="Times New Roman" pitchFamily="18" charset="0"/>
              </a:endParaRPr>
            </a:p>
          </p:txBody>
        </p:sp>
        <p:grpSp>
          <p:nvGrpSpPr>
            <p:cNvPr id="17423" name="Group 1121"/>
            <p:cNvGrpSpPr>
              <a:grpSpLocks/>
            </p:cNvGrpSpPr>
            <p:nvPr/>
          </p:nvGrpSpPr>
          <p:grpSpPr bwMode="auto">
            <a:xfrm>
              <a:off x="2187" y="1392"/>
              <a:ext cx="433" cy="426"/>
              <a:chOff x="2028" y="1892"/>
              <a:chExt cx="263" cy="282"/>
            </a:xfrm>
          </p:grpSpPr>
          <p:sp>
            <p:nvSpPr>
              <p:cNvPr id="17424" name="Freeform 1122"/>
              <p:cNvSpPr>
                <a:spLocks/>
              </p:cNvSpPr>
              <p:nvPr/>
            </p:nvSpPr>
            <p:spPr bwMode="auto">
              <a:xfrm>
                <a:off x="2028" y="1892"/>
                <a:ext cx="263" cy="282"/>
              </a:xfrm>
              <a:custGeom>
                <a:avLst/>
                <a:gdLst>
                  <a:gd name="T0" fmla="*/ 24 w 263"/>
                  <a:gd name="T1" fmla="*/ 282 h 282"/>
                  <a:gd name="T2" fmla="*/ 239 w 263"/>
                  <a:gd name="T3" fmla="*/ 282 h 282"/>
                  <a:gd name="T4" fmla="*/ 239 w 263"/>
                  <a:gd name="T5" fmla="*/ 255 h 282"/>
                  <a:gd name="T6" fmla="*/ 263 w 263"/>
                  <a:gd name="T7" fmla="*/ 255 h 282"/>
                  <a:gd name="T8" fmla="*/ 263 w 263"/>
                  <a:gd name="T9" fmla="*/ 27 h 282"/>
                  <a:gd name="T10" fmla="*/ 239 w 263"/>
                  <a:gd name="T11" fmla="*/ 27 h 282"/>
                  <a:gd name="T12" fmla="*/ 239 w 263"/>
                  <a:gd name="T13" fmla="*/ 0 h 282"/>
                  <a:gd name="T14" fmla="*/ 24 w 263"/>
                  <a:gd name="T15" fmla="*/ 0 h 282"/>
                  <a:gd name="T16" fmla="*/ 24 w 263"/>
                  <a:gd name="T17" fmla="*/ 27 h 282"/>
                  <a:gd name="T18" fmla="*/ 0 w 263"/>
                  <a:gd name="T19" fmla="*/ 27 h 282"/>
                  <a:gd name="T20" fmla="*/ 0 w 263"/>
                  <a:gd name="T21" fmla="*/ 255 h 282"/>
                  <a:gd name="T22" fmla="*/ 24 w 263"/>
                  <a:gd name="T23" fmla="*/ 255 h 282"/>
                  <a:gd name="T24" fmla="*/ 24 w 263"/>
                  <a:gd name="T25" fmla="*/ 282 h 282"/>
                  <a:gd name="T26" fmla="*/ 24 w 263"/>
                  <a:gd name="T27" fmla="*/ 282 h 28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63"/>
                  <a:gd name="T43" fmla="*/ 0 h 282"/>
                  <a:gd name="T44" fmla="*/ 263 w 263"/>
                  <a:gd name="T45" fmla="*/ 282 h 28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63" h="282">
                    <a:moveTo>
                      <a:pt x="24" y="282"/>
                    </a:moveTo>
                    <a:lnTo>
                      <a:pt x="239" y="282"/>
                    </a:lnTo>
                    <a:lnTo>
                      <a:pt x="239" y="255"/>
                    </a:lnTo>
                    <a:lnTo>
                      <a:pt x="263" y="255"/>
                    </a:lnTo>
                    <a:lnTo>
                      <a:pt x="263" y="27"/>
                    </a:lnTo>
                    <a:lnTo>
                      <a:pt x="239" y="27"/>
                    </a:lnTo>
                    <a:lnTo>
                      <a:pt x="239" y="0"/>
                    </a:lnTo>
                    <a:lnTo>
                      <a:pt x="24" y="0"/>
                    </a:lnTo>
                    <a:lnTo>
                      <a:pt x="24" y="27"/>
                    </a:lnTo>
                    <a:lnTo>
                      <a:pt x="0" y="27"/>
                    </a:lnTo>
                    <a:lnTo>
                      <a:pt x="0" y="255"/>
                    </a:lnTo>
                    <a:lnTo>
                      <a:pt x="24" y="255"/>
                    </a:lnTo>
                    <a:lnTo>
                      <a:pt x="24" y="28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25" name="Freeform 1123"/>
              <p:cNvSpPr>
                <a:spLocks/>
              </p:cNvSpPr>
              <p:nvPr/>
            </p:nvSpPr>
            <p:spPr bwMode="auto">
              <a:xfrm>
                <a:off x="2028" y="1892"/>
                <a:ext cx="263" cy="282"/>
              </a:xfrm>
              <a:custGeom>
                <a:avLst/>
                <a:gdLst>
                  <a:gd name="T0" fmla="*/ 24 w 263"/>
                  <a:gd name="T1" fmla="*/ 282 h 282"/>
                  <a:gd name="T2" fmla="*/ 239 w 263"/>
                  <a:gd name="T3" fmla="*/ 282 h 282"/>
                  <a:gd name="T4" fmla="*/ 239 w 263"/>
                  <a:gd name="T5" fmla="*/ 255 h 282"/>
                  <a:gd name="T6" fmla="*/ 263 w 263"/>
                  <a:gd name="T7" fmla="*/ 255 h 282"/>
                  <a:gd name="T8" fmla="*/ 263 w 263"/>
                  <a:gd name="T9" fmla="*/ 27 h 282"/>
                  <a:gd name="T10" fmla="*/ 239 w 263"/>
                  <a:gd name="T11" fmla="*/ 27 h 282"/>
                  <a:gd name="T12" fmla="*/ 239 w 263"/>
                  <a:gd name="T13" fmla="*/ 0 h 282"/>
                  <a:gd name="T14" fmla="*/ 24 w 263"/>
                  <a:gd name="T15" fmla="*/ 0 h 282"/>
                  <a:gd name="T16" fmla="*/ 24 w 263"/>
                  <a:gd name="T17" fmla="*/ 27 h 282"/>
                  <a:gd name="T18" fmla="*/ 0 w 263"/>
                  <a:gd name="T19" fmla="*/ 27 h 282"/>
                  <a:gd name="T20" fmla="*/ 0 w 263"/>
                  <a:gd name="T21" fmla="*/ 255 h 282"/>
                  <a:gd name="T22" fmla="*/ 24 w 263"/>
                  <a:gd name="T23" fmla="*/ 255 h 282"/>
                  <a:gd name="T24" fmla="*/ 24 w 263"/>
                  <a:gd name="T25" fmla="*/ 282 h 28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63"/>
                  <a:gd name="T40" fmla="*/ 0 h 282"/>
                  <a:gd name="T41" fmla="*/ 263 w 263"/>
                  <a:gd name="T42" fmla="*/ 282 h 28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63" h="282">
                    <a:moveTo>
                      <a:pt x="24" y="282"/>
                    </a:moveTo>
                    <a:lnTo>
                      <a:pt x="239" y="282"/>
                    </a:lnTo>
                    <a:lnTo>
                      <a:pt x="239" y="255"/>
                    </a:lnTo>
                    <a:lnTo>
                      <a:pt x="263" y="255"/>
                    </a:lnTo>
                    <a:lnTo>
                      <a:pt x="263" y="27"/>
                    </a:lnTo>
                    <a:lnTo>
                      <a:pt x="239" y="27"/>
                    </a:lnTo>
                    <a:lnTo>
                      <a:pt x="239" y="0"/>
                    </a:lnTo>
                    <a:lnTo>
                      <a:pt x="24" y="0"/>
                    </a:lnTo>
                    <a:lnTo>
                      <a:pt x="24" y="27"/>
                    </a:lnTo>
                    <a:lnTo>
                      <a:pt x="0" y="27"/>
                    </a:lnTo>
                    <a:lnTo>
                      <a:pt x="0" y="255"/>
                    </a:lnTo>
                    <a:lnTo>
                      <a:pt x="24" y="255"/>
                    </a:lnTo>
                    <a:lnTo>
                      <a:pt x="24" y="28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26" name="Line 1124"/>
              <p:cNvSpPr>
                <a:spLocks noChangeShapeType="1"/>
              </p:cNvSpPr>
              <p:nvPr/>
            </p:nvSpPr>
            <p:spPr bwMode="auto">
              <a:xfrm>
                <a:off x="2086" y="1914"/>
                <a:ext cx="17" cy="32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27" name="Line 1125"/>
              <p:cNvSpPr>
                <a:spLocks noChangeShapeType="1"/>
              </p:cNvSpPr>
              <p:nvPr/>
            </p:nvSpPr>
            <p:spPr bwMode="auto">
              <a:xfrm>
                <a:off x="2053" y="1942"/>
                <a:ext cx="29" cy="25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28" name="Line 1126"/>
              <p:cNvSpPr>
                <a:spLocks noChangeShapeType="1"/>
              </p:cNvSpPr>
              <p:nvPr/>
            </p:nvSpPr>
            <p:spPr bwMode="auto">
              <a:xfrm flipV="1">
                <a:off x="2041" y="2030"/>
                <a:ext cx="34" cy="3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29" name="Line 1127"/>
              <p:cNvSpPr>
                <a:spLocks noChangeShapeType="1"/>
              </p:cNvSpPr>
              <p:nvPr/>
            </p:nvSpPr>
            <p:spPr bwMode="auto">
              <a:xfrm flipH="1">
                <a:off x="2054" y="2069"/>
                <a:ext cx="37" cy="37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30" name="Line 1128"/>
              <p:cNvSpPr>
                <a:spLocks noChangeShapeType="1"/>
              </p:cNvSpPr>
              <p:nvPr/>
            </p:nvSpPr>
            <p:spPr bwMode="auto">
              <a:xfrm flipH="1">
                <a:off x="2169" y="1903"/>
                <a:ext cx="2" cy="28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31" name="Line 1129"/>
              <p:cNvSpPr>
                <a:spLocks noChangeShapeType="1"/>
              </p:cNvSpPr>
              <p:nvPr/>
            </p:nvSpPr>
            <p:spPr bwMode="auto">
              <a:xfrm flipH="1">
                <a:off x="2218" y="1916"/>
                <a:ext cx="28" cy="36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32" name="Line 1130"/>
              <p:cNvSpPr>
                <a:spLocks noChangeShapeType="1"/>
              </p:cNvSpPr>
              <p:nvPr/>
            </p:nvSpPr>
            <p:spPr bwMode="auto">
              <a:xfrm flipV="1">
                <a:off x="2241" y="2006"/>
                <a:ext cx="40" cy="6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33" name="Line 1131"/>
              <p:cNvSpPr>
                <a:spLocks noChangeShapeType="1"/>
              </p:cNvSpPr>
              <p:nvPr/>
            </p:nvSpPr>
            <p:spPr bwMode="auto">
              <a:xfrm>
                <a:off x="2231" y="2061"/>
                <a:ext cx="34" cy="40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34" name="Line 1132"/>
              <p:cNvSpPr>
                <a:spLocks noChangeShapeType="1"/>
              </p:cNvSpPr>
              <p:nvPr/>
            </p:nvSpPr>
            <p:spPr bwMode="auto">
              <a:xfrm>
                <a:off x="2241" y="2037"/>
                <a:ext cx="25" cy="7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35" name="Line 1133"/>
              <p:cNvSpPr>
                <a:spLocks noChangeShapeType="1"/>
              </p:cNvSpPr>
              <p:nvPr/>
            </p:nvSpPr>
            <p:spPr bwMode="auto">
              <a:xfrm flipH="1">
                <a:off x="2060" y="2049"/>
                <a:ext cx="16" cy="7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36" name="Line 1134"/>
              <p:cNvSpPr>
                <a:spLocks noChangeShapeType="1"/>
              </p:cNvSpPr>
              <p:nvPr/>
            </p:nvSpPr>
            <p:spPr bwMode="auto">
              <a:xfrm flipV="1">
                <a:off x="2192" y="1917"/>
                <a:ext cx="6" cy="15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37" name="Freeform 1135"/>
              <p:cNvSpPr>
                <a:spLocks/>
              </p:cNvSpPr>
              <p:nvPr/>
            </p:nvSpPr>
            <p:spPr bwMode="auto">
              <a:xfrm>
                <a:off x="2096" y="2125"/>
                <a:ext cx="127" cy="39"/>
              </a:xfrm>
              <a:custGeom>
                <a:avLst/>
                <a:gdLst>
                  <a:gd name="T0" fmla="*/ 64 w 127"/>
                  <a:gd name="T1" fmla="*/ 39 h 39"/>
                  <a:gd name="T2" fmla="*/ 70 w 127"/>
                  <a:gd name="T3" fmla="*/ 39 h 39"/>
                  <a:gd name="T4" fmla="*/ 76 w 127"/>
                  <a:gd name="T5" fmla="*/ 38 h 39"/>
                  <a:gd name="T6" fmla="*/ 82 w 127"/>
                  <a:gd name="T7" fmla="*/ 38 h 39"/>
                  <a:gd name="T8" fmla="*/ 89 w 127"/>
                  <a:gd name="T9" fmla="*/ 37 h 39"/>
                  <a:gd name="T10" fmla="*/ 95 w 127"/>
                  <a:gd name="T11" fmla="*/ 36 h 39"/>
                  <a:gd name="T12" fmla="*/ 100 w 127"/>
                  <a:gd name="T13" fmla="*/ 34 h 39"/>
                  <a:gd name="T14" fmla="*/ 107 w 127"/>
                  <a:gd name="T15" fmla="*/ 33 h 39"/>
                  <a:gd name="T16" fmla="*/ 112 w 127"/>
                  <a:gd name="T17" fmla="*/ 31 h 39"/>
                  <a:gd name="T18" fmla="*/ 117 w 127"/>
                  <a:gd name="T19" fmla="*/ 28 h 39"/>
                  <a:gd name="T20" fmla="*/ 123 w 127"/>
                  <a:gd name="T21" fmla="*/ 25 h 39"/>
                  <a:gd name="T22" fmla="*/ 124 w 127"/>
                  <a:gd name="T23" fmla="*/ 24 h 39"/>
                  <a:gd name="T24" fmla="*/ 126 w 127"/>
                  <a:gd name="T25" fmla="*/ 22 h 39"/>
                  <a:gd name="T26" fmla="*/ 127 w 127"/>
                  <a:gd name="T27" fmla="*/ 19 h 39"/>
                  <a:gd name="T28" fmla="*/ 127 w 127"/>
                  <a:gd name="T29" fmla="*/ 15 h 39"/>
                  <a:gd name="T30" fmla="*/ 127 w 127"/>
                  <a:gd name="T31" fmla="*/ 11 h 39"/>
                  <a:gd name="T32" fmla="*/ 126 w 127"/>
                  <a:gd name="T33" fmla="*/ 7 h 39"/>
                  <a:gd name="T34" fmla="*/ 125 w 127"/>
                  <a:gd name="T35" fmla="*/ 4 h 39"/>
                  <a:gd name="T36" fmla="*/ 122 w 127"/>
                  <a:gd name="T37" fmla="*/ 1 h 39"/>
                  <a:gd name="T38" fmla="*/ 119 w 127"/>
                  <a:gd name="T39" fmla="*/ 0 h 39"/>
                  <a:gd name="T40" fmla="*/ 113 w 127"/>
                  <a:gd name="T41" fmla="*/ 0 h 39"/>
                  <a:gd name="T42" fmla="*/ 14 w 127"/>
                  <a:gd name="T43" fmla="*/ 0 h 39"/>
                  <a:gd name="T44" fmla="*/ 8 w 127"/>
                  <a:gd name="T45" fmla="*/ 0 h 39"/>
                  <a:gd name="T46" fmla="*/ 5 w 127"/>
                  <a:gd name="T47" fmla="*/ 1 h 39"/>
                  <a:gd name="T48" fmla="*/ 2 w 127"/>
                  <a:gd name="T49" fmla="*/ 4 h 39"/>
                  <a:gd name="T50" fmla="*/ 1 w 127"/>
                  <a:gd name="T51" fmla="*/ 7 h 39"/>
                  <a:gd name="T52" fmla="*/ 0 w 127"/>
                  <a:gd name="T53" fmla="*/ 11 h 39"/>
                  <a:gd name="T54" fmla="*/ 0 w 127"/>
                  <a:gd name="T55" fmla="*/ 15 h 39"/>
                  <a:gd name="T56" fmla="*/ 1 w 127"/>
                  <a:gd name="T57" fmla="*/ 19 h 39"/>
                  <a:gd name="T58" fmla="*/ 2 w 127"/>
                  <a:gd name="T59" fmla="*/ 22 h 39"/>
                  <a:gd name="T60" fmla="*/ 3 w 127"/>
                  <a:gd name="T61" fmla="*/ 24 h 39"/>
                  <a:gd name="T62" fmla="*/ 4 w 127"/>
                  <a:gd name="T63" fmla="*/ 25 h 39"/>
                  <a:gd name="T64" fmla="*/ 10 w 127"/>
                  <a:gd name="T65" fmla="*/ 28 h 39"/>
                  <a:gd name="T66" fmla="*/ 15 w 127"/>
                  <a:gd name="T67" fmla="*/ 31 h 39"/>
                  <a:gd name="T68" fmla="*/ 20 w 127"/>
                  <a:gd name="T69" fmla="*/ 33 h 39"/>
                  <a:gd name="T70" fmla="*/ 27 w 127"/>
                  <a:gd name="T71" fmla="*/ 34 h 39"/>
                  <a:gd name="T72" fmla="*/ 32 w 127"/>
                  <a:gd name="T73" fmla="*/ 36 h 39"/>
                  <a:gd name="T74" fmla="*/ 38 w 127"/>
                  <a:gd name="T75" fmla="*/ 37 h 39"/>
                  <a:gd name="T76" fmla="*/ 45 w 127"/>
                  <a:gd name="T77" fmla="*/ 38 h 39"/>
                  <a:gd name="T78" fmla="*/ 50 w 127"/>
                  <a:gd name="T79" fmla="*/ 38 h 39"/>
                  <a:gd name="T80" fmla="*/ 58 w 127"/>
                  <a:gd name="T81" fmla="*/ 39 h 39"/>
                  <a:gd name="T82" fmla="*/ 64 w 127"/>
                  <a:gd name="T83" fmla="*/ 39 h 3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27"/>
                  <a:gd name="T127" fmla="*/ 0 h 39"/>
                  <a:gd name="T128" fmla="*/ 127 w 127"/>
                  <a:gd name="T129" fmla="*/ 39 h 3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27" h="39">
                    <a:moveTo>
                      <a:pt x="64" y="39"/>
                    </a:moveTo>
                    <a:lnTo>
                      <a:pt x="70" y="39"/>
                    </a:lnTo>
                    <a:lnTo>
                      <a:pt x="76" y="38"/>
                    </a:lnTo>
                    <a:lnTo>
                      <a:pt x="82" y="38"/>
                    </a:lnTo>
                    <a:lnTo>
                      <a:pt x="89" y="37"/>
                    </a:lnTo>
                    <a:lnTo>
                      <a:pt x="95" y="36"/>
                    </a:lnTo>
                    <a:lnTo>
                      <a:pt x="100" y="34"/>
                    </a:lnTo>
                    <a:lnTo>
                      <a:pt x="107" y="33"/>
                    </a:lnTo>
                    <a:lnTo>
                      <a:pt x="112" y="31"/>
                    </a:lnTo>
                    <a:lnTo>
                      <a:pt x="117" y="28"/>
                    </a:lnTo>
                    <a:lnTo>
                      <a:pt x="123" y="25"/>
                    </a:lnTo>
                    <a:lnTo>
                      <a:pt x="124" y="24"/>
                    </a:lnTo>
                    <a:lnTo>
                      <a:pt x="126" y="22"/>
                    </a:lnTo>
                    <a:lnTo>
                      <a:pt x="127" y="19"/>
                    </a:lnTo>
                    <a:lnTo>
                      <a:pt x="127" y="15"/>
                    </a:lnTo>
                    <a:lnTo>
                      <a:pt x="127" y="11"/>
                    </a:lnTo>
                    <a:lnTo>
                      <a:pt x="126" y="7"/>
                    </a:lnTo>
                    <a:lnTo>
                      <a:pt x="125" y="4"/>
                    </a:lnTo>
                    <a:lnTo>
                      <a:pt x="122" y="1"/>
                    </a:lnTo>
                    <a:lnTo>
                      <a:pt x="119" y="0"/>
                    </a:lnTo>
                    <a:lnTo>
                      <a:pt x="113" y="0"/>
                    </a:lnTo>
                    <a:lnTo>
                      <a:pt x="14" y="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1" y="19"/>
                    </a:lnTo>
                    <a:lnTo>
                      <a:pt x="2" y="22"/>
                    </a:lnTo>
                    <a:lnTo>
                      <a:pt x="3" y="24"/>
                    </a:lnTo>
                    <a:lnTo>
                      <a:pt x="4" y="25"/>
                    </a:lnTo>
                    <a:lnTo>
                      <a:pt x="10" y="28"/>
                    </a:lnTo>
                    <a:lnTo>
                      <a:pt x="15" y="31"/>
                    </a:lnTo>
                    <a:lnTo>
                      <a:pt x="20" y="33"/>
                    </a:lnTo>
                    <a:lnTo>
                      <a:pt x="27" y="34"/>
                    </a:lnTo>
                    <a:lnTo>
                      <a:pt x="32" y="36"/>
                    </a:lnTo>
                    <a:lnTo>
                      <a:pt x="38" y="37"/>
                    </a:lnTo>
                    <a:lnTo>
                      <a:pt x="45" y="38"/>
                    </a:lnTo>
                    <a:lnTo>
                      <a:pt x="50" y="38"/>
                    </a:lnTo>
                    <a:lnTo>
                      <a:pt x="58" y="39"/>
                    </a:lnTo>
                    <a:lnTo>
                      <a:pt x="64" y="3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38" name="Freeform 1136"/>
              <p:cNvSpPr>
                <a:spLocks/>
              </p:cNvSpPr>
              <p:nvPr/>
            </p:nvSpPr>
            <p:spPr bwMode="auto">
              <a:xfrm>
                <a:off x="2096" y="2125"/>
                <a:ext cx="127" cy="39"/>
              </a:xfrm>
              <a:custGeom>
                <a:avLst/>
                <a:gdLst>
                  <a:gd name="T0" fmla="*/ 64 w 127"/>
                  <a:gd name="T1" fmla="*/ 39 h 39"/>
                  <a:gd name="T2" fmla="*/ 70 w 127"/>
                  <a:gd name="T3" fmla="*/ 39 h 39"/>
                  <a:gd name="T4" fmla="*/ 76 w 127"/>
                  <a:gd name="T5" fmla="*/ 38 h 39"/>
                  <a:gd name="T6" fmla="*/ 82 w 127"/>
                  <a:gd name="T7" fmla="*/ 38 h 39"/>
                  <a:gd name="T8" fmla="*/ 89 w 127"/>
                  <a:gd name="T9" fmla="*/ 37 h 39"/>
                  <a:gd name="T10" fmla="*/ 95 w 127"/>
                  <a:gd name="T11" fmla="*/ 36 h 39"/>
                  <a:gd name="T12" fmla="*/ 100 w 127"/>
                  <a:gd name="T13" fmla="*/ 34 h 39"/>
                  <a:gd name="T14" fmla="*/ 107 w 127"/>
                  <a:gd name="T15" fmla="*/ 33 h 39"/>
                  <a:gd name="T16" fmla="*/ 112 w 127"/>
                  <a:gd name="T17" fmla="*/ 31 h 39"/>
                  <a:gd name="T18" fmla="*/ 117 w 127"/>
                  <a:gd name="T19" fmla="*/ 28 h 39"/>
                  <a:gd name="T20" fmla="*/ 123 w 127"/>
                  <a:gd name="T21" fmla="*/ 25 h 39"/>
                  <a:gd name="T22" fmla="*/ 124 w 127"/>
                  <a:gd name="T23" fmla="*/ 24 h 39"/>
                  <a:gd name="T24" fmla="*/ 126 w 127"/>
                  <a:gd name="T25" fmla="*/ 22 h 39"/>
                  <a:gd name="T26" fmla="*/ 127 w 127"/>
                  <a:gd name="T27" fmla="*/ 19 h 39"/>
                  <a:gd name="T28" fmla="*/ 127 w 127"/>
                  <a:gd name="T29" fmla="*/ 15 h 39"/>
                  <a:gd name="T30" fmla="*/ 127 w 127"/>
                  <a:gd name="T31" fmla="*/ 11 h 39"/>
                  <a:gd name="T32" fmla="*/ 126 w 127"/>
                  <a:gd name="T33" fmla="*/ 7 h 39"/>
                  <a:gd name="T34" fmla="*/ 125 w 127"/>
                  <a:gd name="T35" fmla="*/ 4 h 39"/>
                  <a:gd name="T36" fmla="*/ 122 w 127"/>
                  <a:gd name="T37" fmla="*/ 1 h 39"/>
                  <a:gd name="T38" fmla="*/ 119 w 127"/>
                  <a:gd name="T39" fmla="*/ 0 h 39"/>
                  <a:gd name="T40" fmla="*/ 113 w 127"/>
                  <a:gd name="T41" fmla="*/ 0 h 39"/>
                  <a:gd name="T42" fmla="*/ 14 w 127"/>
                  <a:gd name="T43" fmla="*/ 0 h 39"/>
                  <a:gd name="T44" fmla="*/ 8 w 127"/>
                  <a:gd name="T45" fmla="*/ 0 h 39"/>
                  <a:gd name="T46" fmla="*/ 5 w 127"/>
                  <a:gd name="T47" fmla="*/ 1 h 39"/>
                  <a:gd name="T48" fmla="*/ 2 w 127"/>
                  <a:gd name="T49" fmla="*/ 4 h 39"/>
                  <a:gd name="T50" fmla="*/ 1 w 127"/>
                  <a:gd name="T51" fmla="*/ 7 h 39"/>
                  <a:gd name="T52" fmla="*/ 0 w 127"/>
                  <a:gd name="T53" fmla="*/ 11 h 39"/>
                  <a:gd name="T54" fmla="*/ 0 w 127"/>
                  <a:gd name="T55" fmla="*/ 15 h 39"/>
                  <a:gd name="T56" fmla="*/ 1 w 127"/>
                  <a:gd name="T57" fmla="*/ 19 h 39"/>
                  <a:gd name="T58" fmla="*/ 2 w 127"/>
                  <a:gd name="T59" fmla="*/ 22 h 39"/>
                  <a:gd name="T60" fmla="*/ 3 w 127"/>
                  <a:gd name="T61" fmla="*/ 24 h 39"/>
                  <a:gd name="T62" fmla="*/ 4 w 127"/>
                  <a:gd name="T63" fmla="*/ 25 h 39"/>
                  <a:gd name="T64" fmla="*/ 10 w 127"/>
                  <a:gd name="T65" fmla="*/ 28 h 39"/>
                  <a:gd name="T66" fmla="*/ 15 w 127"/>
                  <a:gd name="T67" fmla="*/ 31 h 39"/>
                  <a:gd name="T68" fmla="*/ 20 w 127"/>
                  <a:gd name="T69" fmla="*/ 33 h 39"/>
                  <a:gd name="T70" fmla="*/ 27 w 127"/>
                  <a:gd name="T71" fmla="*/ 34 h 39"/>
                  <a:gd name="T72" fmla="*/ 32 w 127"/>
                  <a:gd name="T73" fmla="*/ 36 h 39"/>
                  <a:gd name="T74" fmla="*/ 38 w 127"/>
                  <a:gd name="T75" fmla="*/ 37 h 39"/>
                  <a:gd name="T76" fmla="*/ 45 w 127"/>
                  <a:gd name="T77" fmla="*/ 38 h 39"/>
                  <a:gd name="T78" fmla="*/ 50 w 127"/>
                  <a:gd name="T79" fmla="*/ 38 h 39"/>
                  <a:gd name="T80" fmla="*/ 58 w 127"/>
                  <a:gd name="T81" fmla="*/ 39 h 39"/>
                  <a:gd name="T82" fmla="*/ 64 w 127"/>
                  <a:gd name="T83" fmla="*/ 39 h 3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27"/>
                  <a:gd name="T127" fmla="*/ 0 h 39"/>
                  <a:gd name="T128" fmla="*/ 127 w 127"/>
                  <a:gd name="T129" fmla="*/ 39 h 3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27" h="39">
                    <a:moveTo>
                      <a:pt x="64" y="39"/>
                    </a:moveTo>
                    <a:lnTo>
                      <a:pt x="70" y="39"/>
                    </a:lnTo>
                    <a:lnTo>
                      <a:pt x="76" y="38"/>
                    </a:lnTo>
                    <a:lnTo>
                      <a:pt x="82" y="38"/>
                    </a:lnTo>
                    <a:lnTo>
                      <a:pt x="89" y="37"/>
                    </a:lnTo>
                    <a:lnTo>
                      <a:pt x="95" y="36"/>
                    </a:lnTo>
                    <a:lnTo>
                      <a:pt x="100" y="34"/>
                    </a:lnTo>
                    <a:lnTo>
                      <a:pt x="107" y="33"/>
                    </a:lnTo>
                    <a:lnTo>
                      <a:pt x="112" y="31"/>
                    </a:lnTo>
                    <a:lnTo>
                      <a:pt x="117" y="28"/>
                    </a:lnTo>
                    <a:lnTo>
                      <a:pt x="123" y="25"/>
                    </a:lnTo>
                    <a:lnTo>
                      <a:pt x="124" y="24"/>
                    </a:lnTo>
                    <a:lnTo>
                      <a:pt x="126" y="22"/>
                    </a:lnTo>
                    <a:lnTo>
                      <a:pt x="127" y="19"/>
                    </a:lnTo>
                    <a:lnTo>
                      <a:pt x="127" y="15"/>
                    </a:lnTo>
                    <a:lnTo>
                      <a:pt x="127" y="11"/>
                    </a:lnTo>
                    <a:lnTo>
                      <a:pt x="126" y="7"/>
                    </a:lnTo>
                    <a:lnTo>
                      <a:pt x="125" y="4"/>
                    </a:lnTo>
                    <a:lnTo>
                      <a:pt x="122" y="1"/>
                    </a:lnTo>
                    <a:lnTo>
                      <a:pt x="119" y="0"/>
                    </a:lnTo>
                    <a:lnTo>
                      <a:pt x="113" y="0"/>
                    </a:lnTo>
                    <a:lnTo>
                      <a:pt x="14" y="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1" y="19"/>
                    </a:lnTo>
                    <a:lnTo>
                      <a:pt x="2" y="22"/>
                    </a:lnTo>
                    <a:lnTo>
                      <a:pt x="3" y="24"/>
                    </a:lnTo>
                    <a:lnTo>
                      <a:pt x="4" y="25"/>
                    </a:lnTo>
                    <a:lnTo>
                      <a:pt x="10" y="28"/>
                    </a:lnTo>
                    <a:lnTo>
                      <a:pt x="15" y="31"/>
                    </a:lnTo>
                    <a:lnTo>
                      <a:pt x="20" y="33"/>
                    </a:lnTo>
                    <a:lnTo>
                      <a:pt x="27" y="34"/>
                    </a:lnTo>
                    <a:lnTo>
                      <a:pt x="32" y="36"/>
                    </a:lnTo>
                    <a:lnTo>
                      <a:pt x="38" y="37"/>
                    </a:lnTo>
                    <a:lnTo>
                      <a:pt x="45" y="38"/>
                    </a:lnTo>
                    <a:lnTo>
                      <a:pt x="50" y="38"/>
                    </a:lnTo>
                    <a:lnTo>
                      <a:pt x="58" y="39"/>
                    </a:lnTo>
                    <a:lnTo>
                      <a:pt x="64" y="39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39" name="Freeform 1137"/>
              <p:cNvSpPr>
                <a:spLocks/>
              </p:cNvSpPr>
              <p:nvPr/>
            </p:nvSpPr>
            <p:spPr bwMode="auto">
              <a:xfrm>
                <a:off x="2103" y="2093"/>
                <a:ext cx="113" cy="49"/>
              </a:xfrm>
              <a:custGeom>
                <a:avLst/>
                <a:gdLst>
                  <a:gd name="T0" fmla="*/ 56 w 113"/>
                  <a:gd name="T1" fmla="*/ 49 h 49"/>
                  <a:gd name="T2" fmla="*/ 62 w 113"/>
                  <a:gd name="T3" fmla="*/ 49 h 49"/>
                  <a:gd name="T4" fmla="*/ 69 w 113"/>
                  <a:gd name="T5" fmla="*/ 48 h 49"/>
                  <a:gd name="T6" fmla="*/ 74 w 113"/>
                  <a:gd name="T7" fmla="*/ 48 h 49"/>
                  <a:gd name="T8" fmla="*/ 79 w 113"/>
                  <a:gd name="T9" fmla="*/ 47 h 49"/>
                  <a:gd name="T10" fmla="*/ 85 w 113"/>
                  <a:gd name="T11" fmla="*/ 46 h 49"/>
                  <a:gd name="T12" fmla="*/ 90 w 113"/>
                  <a:gd name="T13" fmla="*/ 43 h 49"/>
                  <a:gd name="T14" fmla="*/ 95 w 113"/>
                  <a:gd name="T15" fmla="*/ 41 h 49"/>
                  <a:gd name="T16" fmla="*/ 101 w 113"/>
                  <a:gd name="T17" fmla="*/ 39 h 49"/>
                  <a:gd name="T18" fmla="*/ 105 w 113"/>
                  <a:gd name="T19" fmla="*/ 37 h 49"/>
                  <a:gd name="T20" fmla="*/ 109 w 113"/>
                  <a:gd name="T21" fmla="*/ 35 h 49"/>
                  <a:gd name="T22" fmla="*/ 112 w 113"/>
                  <a:gd name="T23" fmla="*/ 33 h 49"/>
                  <a:gd name="T24" fmla="*/ 113 w 113"/>
                  <a:gd name="T25" fmla="*/ 29 h 49"/>
                  <a:gd name="T26" fmla="*/ 113 w 113"/>
                  <a:gd name="T27" fmla="*/ 24 h 49"/>
                  <a:gd name="T28" fmla="*/ 112 w 113"/>
                  <a:gd name="T29" fmla="*/ 19 h 49"/>
                  <a:gd name="T30" fmla="*/ 110 w 113"/>
                  <a:gd name="T31" fmla="*/ 14 h 49"/>
                  <a:gd name="T32" fmla="*/ 109 w 113"/>
                  <a:gd name="T33" fmla="*/ 8 h 49"/>
                  <a:gd name="T34" fmla="*/ 107 w 113"/>
                  <a:gd name="T35" fmla="*/ 4 h 49"/>
                  <a:gd name="T36" fmla="*/ 104 w 113"/>
                  <a:gd name="T37" fmla="*/ 1 h 49"/>
                  <a:gd name="T38" fmla="*/ 101 w 113"/>
                  <a:gd name="T39" fmla="*/ 0 h 49"/>
                  <a:gd name="T40" fmla="*/ 97 w 113"/>
                  <a:gd name="T41" fmla="*/ 1 h 49"/>
                  <a:gd name="T42" fmla="*/ 16 w 113"/>
                  <a:gd name="T43" fmla="*/ 1 h 49"/>
                  <a:gd name="T44" fmla="*/ 12 w 113"/>
                  <a:gd name="T45" fmla="*/ 0 h 49"/>
                  <a:gd name="T46" fmla="*/ 9 w 113"/>
                  <a:gd name="T47" fmla="*/ 1 h 49"/>
                  <a:gd name="T48" fmla="*/ 6 w 113"/>
                  <a:gd name="T49" fmla="*/ 4 h 49"/>
                  <a:gd name="T50" fmla="*/ 4 w 113"/>
                  <a:gd name="T51" fmla="*/ 8 h 49"/>
                  <a:gd name="T52" fmla="*/ 3 w 113"/>
                  <a:gd name="T53" fmla="*/ 14 h 49"/>
                  <a:gd name="T54" fmla="*/ 0 w 113"/>
                  <a:gd name="T55" fmla="*/ 19 h 49"/>
                  <a:gd name="T56" fmla="*/ 0 w 113"/>
                  <a:gd name="T57" fmla="*/ 24 h 49"/>
                  <a:gd name="T58" fmla="*/ 0 w 113"/>
                  <a:gd name="T59" fmla="*/ 29 h 49"/>
                  <a:gd name="T60" fmla="*/ 1 w 113"/>
                  <a:gd name="T61" fmla="*/ 33 h 49"/>
                  <a:gd name="T62" fmla="*/ 4 w 113"/>
                  <a:gd name="T63" fmla="*/ 35 h 49"/>
                  <a:gd name="T64" fmla="*/ 8 w 113"/>
                  <a:gd name="T65" fmla="*/ 37 h 49"/>
                  <a:gd name="T66" fmla="*/ 12 w 113"/>
                  <a:gd name="T67" fmla="*/ 39 h 49"/>
                  <a:gd name="T68" fmla="*/ 17 w 113"/>
                  <a:gd name="T69" fmla="*/ 41 h 49"/>
                  <a:gd name="T70" fmla="*/ 23 w 113"/>
                  <a:gd name="T71" fmla="*/ 43 h 49"/>
                  <a:gd name="T72" fmla="*/ 28 w 113"/>
                  <a:gd name="T73" fmla="*/ 46 h 49"/>
                  <a:gd name="T74" fmla="*/ 34 w 113"/>
                  <a:gd name="T75" fmla="*/ 47 h 49"/>
                  <a:gd name="T76" fmla="*/ 39 w 113"/>
                  <a:gd name="T77" fmla="*/ 48 h 49"/>
                  <a:gd name="T78" fmla="*/ 44 w 113"/>
                  <a:gd name="T79" fmla="*/ 48 h 49"/>
                  <a:gd name="T80" fmla="*/ 51 w 113"/>
                  <a:gd name="T81" fmla="*/ 49 h 49"/>
                  <a:gd name="T82" fmla="*/ 56 w 113"/>
                  <a:gd name="T83" fmla="*/ 49 h 4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13"/>
                  <a:gd name="T127" fmla="*/ 0 h 49"/>
                  <a:gd name="T128" fmla="*/ 113 w 113"/>
                  <a:gd name="T129" fmla="*/ 49 h 4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13" h="49">
                    <a:moveTo>
                      <a:pt x="56" y="49"/>
                    </a:moveTo>
                    <a:lnTo>
                      <a:pt x="62" y="49"/>
                    </a:lnTo>
                    <a:lnTo>
                      <a:pt x="69" y="48"/>
                    </a:lnTo>
                    <a:lnTo>
                      <a:pt x="74" y="48"/>
                    </a:lnTo>
                    <a:lnTo>
                      <a:pt x="79" y="47"/>
                    </a:lnTo>
                    <a:lnTo>
                      <a:pt x="85" y="46"/>
                    </a:lnTo>
                    <a:lnTo>
                      <a:pt x="90" y="43"/>
                    </a:lnTo>
                    <a:lnTo>
                      <a:pt x="95" y="41"/>
                    </a:lnTo>
                    <a:lnTo>
                      <a:pt x="101" y="39"/>
                    </a:lnTo>
                    <a:lnTo>
                      <a:pt x="105" y="37"/>
                    </a:lnTo>
                    <a:lnTo>
                      <a:pt x="109" y="35"/>
                    </a:lnTo>
                    <a:lnTo>
                      <a:pt x="112" y="33"/>
                    </a:lnTo>
                    <a:lnTo>
                      <a:pt x="113" y="29"/>
                    </a:lnTo>
                    <a:lnTo>
                      <a:pt x="113" y="24"/>
                    </a:lnTo>
                    <a:lnTo>
                      <a:pt x="112" y="19"/>
                    </a:lnTo>
                    <a:lnTo>
                      <a:pt x="110" y="14"/>
                    </a:lnTo>
                    <a:lnTo>
                      <a:pt x="109" y="8"/>
                    </a:lnTo>
                    <a:lnTo>
                      <a:pt x="107" y="4"/>
                    </a:lnTo>
                    <a:lnTo>
                      <a:pt x="104" y="1"/>
                    </a:lnTo>
                    <a:lnTo>
                      <a:pt x="101" y="0"/>
                    </a:lnTo>
                    <a:lnTo>
                      <a:pt x="97" y="1"/>
                    </a:lnTo>
                    <a:lnTo>
                      <a:pt x="16" y="1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4"/>
                    </a:lnTo>
                    <a:lnTo>
                      <a:pt x="4" y="8"/>
                    </a:lnTo>
                    <a:lnTo>
                      <a:pt x="3" y="14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0" y="29"/>
                    </a:lnTo>
                    <a:lnTo>
                      <a:pt x="1" y="33"/>
                    </a:lnTo>
                    <a:lnTo>
                      <a:pt x="4" y="35"/>
                    </a:lnTo>
                    <a:lnTo>
                      <a:pt x="8" y="37"/>
                    </a:lnTo>
                    <a:lnTo>
                      <a:pt x="12" y="39"/>
                    </a:lnTo>
                    <a:lnTo>
                      <a:pt x="17" y="41"/>
                    </a:lnTo>
                    <a:lnTo>
                      <a:pt x="23" y="43"/>
                    </a:lnTo>
                    <a:lnTo>
                      <a:pt x="28" y="46"/>
                    </a:lnTo>
                    <a:lnTo>
                      <a:pt x="34" y="47"/>
                    </a:lnTo>
                    <a:lnTo>
                      <a:pt x="39" y="48"/>
                    </a:lnTo>
                    <a:lnTo>
                      <a:pt x="44" y="48"/>
                    </a:lnTo>
                    <a:lnTo>
                      <a:pt x="51" y="49"/>
                    </a:lnTo>
                    <a:lnTo>
                      <a:pt x="56" y="4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0" name="Freeform 1138"/>
              <p:cNvSpPr>
                <a:spLocks/>
              </p:cNvSpPr>
              <p:nvPr/>
            </p:nvSpPr>
            <p:spPr bwMode="auto">
              <a:xfrm>
                <a:off x="2103" y="2093"/>
                <a:ext cx="113" cy="49"/>
              </a:xfrm>
              <a:custGeom>
                <a:avLst/>
                <a:gdLst>
                  <a:gd name="T0" fmla="*/ 56 w 113"/>
                  <a:gd name="T1" fmla="*/ 49 h 49"/>
                  <a:gd name="T2" fmla="*/ 62 w 113"/>
                  <a:gd name="T3" fmla="*/ 49 h 49"/>
                  <a:gd name="T4" fmla="*/ 69 w 113"/>
                  <a:gd name="T5" fmla="*/ 48 h 49"/>
                  <a:gd name="T6" fmla="*/ 74 w 113"/>
                  <a:gd name="T7" fmla="*/ 48 h 49"/>
                  <a:gd name="T8" fmla="*/ 79 w 113"/>
                  <a:gd name="T9" fmla="*/ 47 h 49"/>
                  <a:gd name="T10" fmla="*/ 85 w 113"/>
                  <a:gd name="T11" fmla="*/ 46 h 49"/>
                  <a:gd name="T12" fmla="*/ 90 w 113"/>
                  <a:gd name="T13" fmla="*/ 43 h 49"/>
                  <a:gd name="T14" fmla="*/ 95 w 113"/>
                  <a:gd name="T15" fmla="*/ 41 h 49"/>
                  <a:gd name="T16" fmla="*/ 101 w 113"/>
                  <a:gd name="T17" fmla="*/ 39 h 49"/>
                  <a:gd name="T18" fmla="*/ 105 w 113"/>
                  <a:gd name="T19" fmla="*/ 37 h 49"/>
                  <a:gd name="T20" fmla="*/ 109 w 113"/>
                  <a:gd name="T21" fmla="*/ 35 h 49"/>
                  <a:gd name="T22" fmla="*/ 112 w 113"/>
                  <a:gd name="T23" fmla="*/ 33 h 49"/>
                  <a:gd name="T24" fmla="*/ 113 w 113"/>
                  <a:gd name="T25" fmla="*/ 29 h 49"/>
                  <a:gd name="T26" fmla="*/ 113 w 113"/>
                  <a:gd name="T27" fmla="*/ 24 h 49"/>
                  <a:gd name="T28" fmla="*/ 112 w 113"/>
                  <a:gd name="T29" fmla="*/ 19 h 49"/>
                  <a:gd name="T30" fmla="*/ 110 w 113"/>
                  <a:gd name="T31" fmla="*/ 14 h 49"/>
                  <a:gd name="T32" fmla="*/ 109 w 113"/>
                  <a:gd name="T33" fmla="*/ 8 h 49"/>
                  <a:gd name="T34" fmla="*/ 107 w 113"/>
                  <a:gd name="T35" fmla="*/ 4 h 49"/>
                  <a:gd name="T36" fmla="*/ 104 w 113"/>
                  <a:gd name="T37" fmla="*/ 1 h 49"/>
                  <a:gd name="T38" fmla="*/ 101 w 113"/>
                  <a:gd name="T39" fmla="*/ 0 h 49"/>
                  <a:gd name="T40" fmla="*/ 97 w 113"/>
                  <a:gd name="T41" fmla="*/ 1 h 49"/>
                  <a:gd name="T42" fmla="*/ 16 w 113"/>
                  <a:gd name="T43" fmla="*/ 1 h 49"/>
                  <a:gd name="T44" fmla="*/ 12 w 113"/>
                  <a:gd name="T45" fmla="*/ 0 h 49"/>
                  <a:gd name="T46" fmla="*/ 9 w 113"/>
                  <a:gd name="T47" fmla="*/ 1 h 49"/>
                  <a:gd name="T48" fmla="*/ 6 w 113"/>
                  <a:gd name="T49" fmla="*/ 4 h 49"/>
                  <a:gd name="T50" fmla="*/ 4 w 113"/>
                  <a:gd name="T51" fmla="*/ 8 h 49"/>
                  <a:gd name="T52" fmla="*/ 3 w 113"/>
                  <a:gd name="T53" fmla="*/ 14 h 49"/>
                  <a:gd name="T54" fmla="*/ 0 w 113"/>
                  <a:gd name="T55" fmla="*/ 19 h 49"/>
                  <a:gd name="T56" fmla="*/ 0 w 113"/>
                  <a:gd name="T57" fmla="*/ 24 h 49"/>
                  <a:gd name="T58" fmla="*/ 0 w 113"/>
                  <a:gd name="T59" fmla="*/ 29 h 49"/>
                  <a:gd name="T60" fmla="*/ 1 w 113"/>
                  <a:gd name="T61" fmla="*/ 33 h 49"/>
                  <a:gd name="T62" fmla="*/ 4 w 113"/>
                  <a:gd name="T63" fmla="*/ 35 h 49"/>
                  <a:gd name="T64" fmla="*/ 8 w 113"/>
                  <a:gd name="T65" fmla="*/ 37 h 49"/>
                  <a:gd name="T66" fmla="*/ 12 w 113"/>
                  <a:gd name="T67" fmla="*/ 39 h 49"/>
                  <a:gd name="T68" fmla="*/ 17 w 113"/>
                  <a:gd name="T69" fmla="*/ 41 h 49"/>
                  <a:gd name="T70" fmla="*/ 23 w 113"/>
                  <a:gd name="T71" fmla="*/ 43 h 49"/>
                  <a:gd name="T72" fmla="*/ 28 w 113"/>
                  <a:gd name="T73" fmla="*/ 46 h 49"/>
                  <a:gd name="T74" fmla="*/ 34 w 113"/>
                  <a:gd name="T75" fmla="*/ 47 h 49"/>
                  <a:gd name="T76" fmla="*/ 39 w 113"/>
                  <a:gd name="T77" fmla="*/ 48 h 49"/>
                  <a:gd name="T78" fmla="*/ 44 w 113"/>
                  <a:gd name="T79" fmla="*/ 48 h 49"/>
                  <a:gd name="T80" fmla="*/ 51 w 113"/>
                  <a:gd name="T81" fmla="*/ 49 h 49"/>
                  <a:gd name="T82" fmla="*/ 56 w 113"/>
                  <a:gd name="T83" fmla="*/ 49 h 4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13"/>
                  <a:gd name="T127" fmla="*/ 0 h 49"/>
                  <a:gd name="T128" fmla="*/ 113 w 113"/>
                  <a:gd name="T129" fmla="*/ 49 h 4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13" h="49">
                    <a:moveTo>
                      <a:pt x="56" y="49"/>
                    </a:moveTo>
                    <a:lnTo>
                      <a:pt x="62" y="49"/>
                    </a:lnTo>
                    <a:lnTo>
                      <a:pt x="69" y="48"/>
                    </a:lnTo>
                    <a:lnTo>
                      <a:pt x="74" y="48"/>
                    </a:lnTo>
                    <a:lnTo>
                      <a:pt x="79" y="47"/>
                    </a:lnTo>
                    <a:lnTo>
                      <a:pt x="85" y="46"/>
                    </a:lnTo>
                    <a:lnTo>
                      <a:pt x="90" y="43"/>
                    </a:lnTo>
                    <a:lnTo>
                      <a:pt x="95" y="41"/>
                    </a:lnTo>
                    <a:lnTo>
                      <a:pt x="101" y="39"/>
                    </a:lnTo>
                    <a:lnTo>
                      <a:pt x="105" y="37"/>
                    </a:lnTo>
                    <a:lnTo>
                      <a:pt x="109" y="35"/>
                    </a:lnTo>
                    <a:lnTo>
                      <a:pt x="112" y="33"/>
                    </a:lnTo>
                    <a:lnTo>
                      <a:pt x="113" y="29"/>
                    </a:lnTo>
                    <a:lnTo>
                      <a:pt x="113" y="24"/>
                    </a:lnTo>
                    <a:lnTo>
                      <a:pt x="112" y="19"/>
                    </a:lnTo>
                    <a:lnTo>
                      <a:pt x="110" y="14"/>
                    </a:lnTo>
                    <a:lnTo>
                      <a:pt x="109" y="8"/>
                    </a:lnTo>
                    <a:lnTo>
                      <a:pt x="107" y="4"/>
                    </a:lnTo>
                    <a:lnTo>
                      <a:pt x="104" y="1"/>
                    </a:lnTo>
                    <a:lnTo>
                      <a:pt x="101" y="0"/>
                    </a:lnTo>
                    <a:lnTo>
                      <a:pt x="97" y="1"/>
                    </a:lnTo>
                    <a:lnTo>
                      <a:pt x="16" y="1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4"/>
                    </a:lnTo>
                    <a:lnTo>
                      <a:pt x="4" y="8"/>
                    </a:lnTo>
                    <a:lnTo>
                      <a:pt x="3" y="14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0" y="29"/>
                    </a:lnTo>
                    <a:lnTo>
                      <a:pt x="1" y="33"/>
                    </a:lnTo>
                    <a:lnTo>
                      <a:pt x="4" y="35"/>
                    </a:lnTo>
                    <a:lnTo>
                      <a:pt x="8" y="37"/>
                    </a:lnTo>
                    <a:lnTo>
                      <a:pt x="12" y="39"/>
                    </a:lnTo>
                    <a:lnTo>
                      <a:pt x="17" y="41"/>
                    </a:lnTo>
                    <a:lnTo>
                      <a:pt x="23" y="43"/>
                    </a:lnTo>
                    <a:lnTo>
                      <a:pt x="28" y="46"/>
                    </a:lnTo>
                    <a:lnTo>
                      <a:pt x="34" y="47"/>
                    </a:lnTo>
                    <a:lnTo>
                      <a:pt x="39" y="48"/>
                    </a:lnTo>
                    <a:lnTo>
                      <a:pt x="44" y="48"/>
                    </a:lnTo>
                    <a:lnTo>
                      <a:pt x="51" y="49"/>
                    </a:lnTo>
                    <a:lnTo>
                      <a:pt x="56" y="49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1" name="Freeform 1139"/>
              <p:cNvSpPr>
                <a:spLocks/>
              </p:cNvSpPr>
              <p:nvPr/>
            </p:nvSpPr>
            <p:spPr bwMode="auto">
              <a:xfrm>
                <a:off x="2110" y="2070"/>
                <a:ext cx="99" cy="38"/>
              </a:xfrm>
              <a:custGeom>
                <a:avLst/>
                <a:gdLst>
                  <a:gd name="T0" fmla="*/ 49 w 99"/>
                  <a:gd name="T1" fmla="*/ 38 h 38"/>
                  <a:gd name="T2" fmla="*/ 54 w 99"/>
                  <a:gd name="T3" fmla="*/ 38 h 38"/>
                  <a:gd name="T4" fmla="*/ 59 w 99"/>
                  <a:gd name="T5" fmla="*/ 38 h 38"/>
                  <a:gd name="T6" fmla="*/ 63 w 99"/>
                  <a:gd name="T7" fmla="*/ 37 h 38"/>
                  <a:gd name="T8" fmla="*/ 67 w 99"/>
                  <a:gd name="T9" fmla="*/ 36 h 38"/>
                  <a:gd name="T10" fmla="*/ 71 w 99"/>
                  <a:gd name="T11" fmla="*/ 34 h 38"/>
                  <a:gd name="T12" fmla="*/ 76 w 99"/>
                  <a:gd name="T13" fmla="*/ 33 h 38"/>
                  <a:gd name="T14" fmla="*/ 80 w 99"/>
                  <a:gd name="T15" fmla="*/ 32 h 38"/>
                  <a:gd name="T16" fmla="*/ 84 w 99"/>
                  <a:gd name="T17" fmla="*/ 30 h 38"/>
                  <a:gd name="T18" fmla="*/ 88 w 99"/>
                  <a:gd name="T19" fmla="*/ 28 h 38"/>
                  <a:gd name="T20" fmla="*/ 92 w 99"/>
                  <a:gd name="T21" fmla="*/ 26 h 38"/>
                  <a:gd name="T22" fmla="*/ 94 w 99"/>
                  <a:gd name="T23" fmla="*/ 25 h 38"/>
                  <a:gd name="T24" fmla="*/ 96 w 99"/>
                  <a:gd name="T25" fmla="*/ 23 h 38"/>
                  <a:gd name="T26" fmla="*/ 97 w 99"/>
                  <a:gd name="T27" fmla="*/ 21 h 38"/>
                  <a:gd name="T28" fmla="*/ 98 w 99"/>
                  <a:gd name="T29" fmla="*/ 17 h 38"/>
                  <a:gd name="T30" fmla="*/ 99 w 99"/>
                  <a:gd name="T31" fmla="*/ 15 h 38"/>
                  <a:gd name="T32" fmla="*/ 99 w 99"/>
                  <a:gd name="T33" fmla="*/ 12 h 38"/>
                  <a:gd name="T34" fmla="*/ 98 w 99"/>
                  <a:gd name="T35" fmla="*/ 9 h 38"/>
                  <a:gd name="T36" fmla="*/ 95 w 99"/>
                  <a:gd name="T37" fmla="*/ 6 h 38"/>
                  <a:gd name="T38" fmla="*/ 92 w 99"/>
                  <a:gd name="T39" fmla="*/ 2 h 38"/>
                  <a:gd name="T40" fmla="*/ 86 w 99"/>
                  <a:gd name="T41" fmla="*/ 0 h 38"/>
                  <a:gd name="T42" fmla="*/ 13 w 99"/>
                  <a:gd name="T43" fmla="*/ 0 h 38"/>
                  <a:gd name="T44" fmla="*/ 7 w 99"/>
                  <a:gd name="T45" fmla="*/ 2 h 38"/>
                  <a:gd name="T46" fmla="*/ 4 w 99"/>
                  <a:gd name="T47" fmla="*/ 6 h 38"/>
                  <a:gd name="T48" fmla="*/ 1 w 99"/>
                  <a:gd name="T49" fmla="*/ 9 h 38"/>
                  <a:gd name="T50" fmla="*/ 0 w 99"/>
                  <a:gd name="T51" fmla="*/ 12 h 38"/>
                  <a:gd name="T52" fmla="*/ 0 w 99"/>
                  <a:gd name="T53" fmla="*/ 15 h 38"/>
                  <a:gd name="T54" fmla="*/ 1 w 99"/>
                  <a:gd name="T55" fmla="*/ 17 h 38"/>
                  <a:gd name="T56" fmla="*/ 2 w 99"/>
                  <a:gd name="T57" fmla="*/ 21 h 38"/>
                  <a:gd name="T58" fmla="*/ 3 w 99"/>
                  <a:gd name="T59" fmla="*/ 23 h 38"/>
                  <a:gd name="T60" fmla="*/ 5 w 99"/>
                  <a:gd name="T61" fmla="*/ 25 h 38"/>
                  <a:gd name="T62" fmla="*/ 7 w 99"/>
                  <a:gd name="T63" fmla="*/ 26 h 38"/>
                  <a:gd name="T64" fmla="*/ 10 w 99"/>
                  <a:gd name="T65" fmla="*/ 28 h 38"/>
                  <a:gd name="T66" fmla="*/ 15 w 99"/>
                  <a:gd name="T67" fmla="*/ 30 h 38"/>
                  <a:gd name="T68" fmla="*/ 19 w 99"/>
                  <a:gd name="T69" fmla="*/ 32 h 38"/>
                  <a:gd name="T70" fmla="*/ 23 w 99"/>
                  <a:gd name="T71" fmla="*/ 33 h 38"/>
                  <a:gd name="T72" fmla="*/ 28 w 99"/>
                  <a:gd name="T73" fmla="*/ 34 h 38"/>
                  <a:gd name="T74" fmla="*/ 32 w 99"/>
                  <a:gd name="T75" fmla="*/ 36 h 38"/>
                  <a:gd name="T76" fmla="*/ 36 w 99"/>
                  <a:gd name="T77" fmla="*/ 37 h 38"/>
                  <a:gd name="T78" fmla="*/ 40 w 99"/>
                  <a:gd name="T79" fmla="*/ 38 h 38"/>
                  <a:gd name="T80" fmla="*/ 45 w 99"/>
                  <a:gd name="T81" fmla="*/ 38 h 38"/>
                  <a:gd name="T82" fmla="*/ 49 w 99"/>
                  <a:gd name="T83" fmla="*/ 38 h 3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9"/>
                  <a:gd name="T127" fmla="*/ 0 h 38"/>
                  <a:gd name="T128" fmla="*/ 99 w 99"/>
                  <a:gd name="T129" fmla="*/ 38 h 3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9" h="38">
                    <a:moveTo>
                      <a:pt x="49" y="38"/>
                    </a:moveTo>
                    <a:lnTo>
                      <a:pt x="54" y="38"/>
                    </a:lnTo>
                    <a:lnTo>
                      <a:pt x="59" y="38"/>
                    </a:lnTo>
                    <a:lnTo>
                      <a:pt x="63" y="37"/>
                    </a:lnTo>
                    <a:lnTo>
                      <a:pt x="67" y="36"/>
                    </a:lnTo>
                    <a:lnTo>
                      <a:pt x="71" y="34"/>
                    </a:lnTo>
                    <a:lnTo>
                      <a:pt x="76" y="33"/>
                    </a:lnTo>
                    <a:lnTo>
                      <a:pt x="80" y="32"/>
                    </a:lnTo>
                    <a:lnTo>
                      <a:pt x="84" y="30"/>
                    </a:lnTo>
                    <a:lnTo>
                      <a:pt x="88" y="28"/>
                    </a:lnTo>
                    <a:lnTo>
                      <a:pt x="92" y="26"/>
                    </a:lnTo>
                    <a:lnTo>
                      <a:pt x="94" y="25"/>
                    </a:lnTo>
                    <a:lnTo>
                      <a:pt x="96" y="23"/>
                    </a:lnTo>
                    <a:lnTo>
                      <a:pt x="97" y="21"/>
                    </a:lnTo>
                    <a:lnTo>
                      <a:pt x="98" y="17"/>
                    </a:lnTo>
                    <a:lnTo>
                      <a:pt x="99" y="15"/>
                    </a:lnTo>
                    <a:lnTo>
                      <a:pt x="99" y="12"/>
                    </a:lnTo>
                    <a:lnTo>
                      <a:pt x="98" y="9"/>
                    </a:lnTo>
                    <a:lnTo>
                      <a:pt x="95" y="6"/>
                    </a:lnTo>
                    <a:lnTo>
                      <a:pt x="92" y="2"/>
                    </a:lnTo>
                    <a:lnTo>
                      <a:pt x="86" y="0"/>
                    </a:lnTo>
                    <a:lnTo>
                      <a:pt x="13" y="0"/>
                    </a:lnTo>
                    <a:lnTo>
                      <a:pt x="7" y="2"/>
                    </a:lnTo>
                    <a:lnTo>
                      <a:pt x="4" y="6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17"/>
                    </a:lnTo>
                    <a:lnTo>
                      <a:pt x="2" y="21"/>
                    </a:lnTo>
                    <a:lnTo>
                      <a:pt x="3" y="23"/>
                    </a:lnTo>
                    <a:lnTo>
                      <a:pt x="5" y="25"/>
                    </a:lnTo>
                    <a:lnTo>
                      <a:pt x="7" y="26"/>
                    </a:lnTo>
                    <a:lnTo>
                      <a:pt x="10" y="28"/>
                    </a:lnTo>
                    <a:lnTo>
                      <a:pt x="15" y="30"/>
                    </a:lnTo>
                    <a:lnTo>
                      <a:pt x="19" y="32"/>
                    </a:lnTo>
                    <a:lnTo>
                      <a:pt x="23" y="33"/>
                    </a:lnTo>
                    <a:lnTo>
                      <a:pt x="28" y="34"/>
                    </a:lnTo>
                    <a:lnTo>
                      <a:pt x="32" y="36"/>
                    </a:lnTo>
                    <a:lnTo>
                      <a:pt x="36" y="37"/>
                    </a:lnTo>
                    <a:lnTo>
                      <a:pt x="40" y="38"/>
                    </a:lnTo>
                    <a:lnTo>
                      <a:pt x="45" y="38"/>
                    </a:lnTo>
                    <a:lnTo>
                      <a:pt x="49" y="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2" name="Freeform 1140"/>
              <p:cNvSpPr>
                <a:spLocks/>
              </p:cNvSpPr>
              <p:nvPr/>
            </p:nvSpPr>
            <p:spPr bwMode="auto">
              <a:xfrm>
                <a:off x="2110" y="2070"/>
                <a:ext cx="99" cy="38"/>
              </a:xfrm>
              <a:custGeom>
                <a:avLst/>
                <a:gdLst>
                  <a:gd name="T0" fmla="*/ 49 w 99"/>
                  <a:gd name="T1" fmla="*/ 38 h 38"/>
                  <a:gd name="T2" fmla="*/ 54 w 99"/>
                  <a:gd name="T3" fmla="*/ 38 h 38"/>
                  <a:gd name="T4" fmla="*/ 59 w 99"/>
                  <a:gd name="T5" fmla="*/ 38 h 38"/>
                  <a:gd name="T6" fmla="*/ 63 w 99"/>
                  <a:gd name="T7" fmla="*/ 37 h 38"/>
                  <a:gd name="T8" fmla="*/ 67 w 99"/>
                  <a:gd name="T9" fmla="*/ 36 h 38"/>
                  <a:gd name="T10" fmla="*/ 71 w 99"/>
                  <a:gd name="T11" fmla="*/ 34 h 38"/>
                  <a:gd name="T12" fmla="*/ 76 w 99"/>
                  <a:gd name="T13" fmla="*/ 33 h 38"/>
                  <a:gd name="T14" fmla="*/ 80 w 99"/>
                  <a:gd name="T15" fmla="*/ 32 h 38"/>
                  <a:gd name="T16" fmla="*/ 84 w 99"/>
                  <a:gd name="T17" fmla="*/ 30 h 38"/>
                  <a:gd name="T18" fmla="*/ 88 w 99"/>
                  <a:gd name="T19" fmla="*/ 28 h 38"/>
                  <a:gd name="T20" fmla="*/ 92 w 99"/>
                  <a:gd name="T21" fmla="*/ 26 h 38"/>
                  <a:gd name="T22" fmla="*/ 94 w 99"/>
                  <a:gd name="T23" fmla="*/ 25 h 38"/>
                  <a:gd name="T24" fmla="*/ 96 w 99"/>
                  <a:gd name="T25" fmla="*/ 23 h 38"/>
                  <a:gd name="T26" fmla="*/ 97 w 99"/>
                  <a:gd name="T27" fmla="*/ 21 h 38"/>
                  <a:gd name="T28" fmla="*/ 98 w 99"/>
                  <a:gd name="T29" fmla="*/ 17 h 38"/>
                  <a:gd name="T30" fmla="*/ 99 w 99"/>
                  <a:gd name="T31" fmla="*/ 15 h 38"/>
                  <a:gd name="T32" fmla="*/ 99 w 99"/>
                  <a:gd name="T33" fmla="*/ 12 h 38"/>
                  <a:gd name="T34" fmla="*/ 98 w 99"/>
                  <a:gd name="T35" fmla="*/ 9 h 38"/>
                  <a:gd name="T36" fmla="*/ 95 w 99"/>
                  <a:gd name="T37" fmla="*/ 6 h 38"/>
                  <a:gd name="T38" fmla="*/ 92 w 99"/>
                  <a:gd name="T39" fmla="*/ 2 h 38"/>
                  <a:gd name="T40" fmla="*/ 86 w 99"/>
                  <a:gd name="T41" fmla="*/ 0 h 38"/>
                  <a:gd name="T42" fmla="*/ 13 w 99"/>
                  <a:gd name="T43" fmla="*/ 0 h 38"/>
                  <a:gd name="T44" fmla="*/ 7 w 99"/>
                  <a:gd name="T45" fmla="*/ 2 h 38"/>
                  <a:gd name="T46" fmla="*/ 4 w 99"/>
                  <a:gd name="T47" fmla="*/ 6 h 38"/>
                  <a:gd name="T48" fmla="*/ 1 w 99"/>
                  <a:gd name="T49" fmla="*/ 9 h 38"/>
                  <a:gd name="T50" fmla="*/ 0 w 99"/>
                  <a:gd name="T51" fmla="*/ 12 h 38"/>
                  <a:gd name="T52" fmla="*/ 0 w 99"/>
                  <a:gd name="T53" fmla="*/ 15 h 38"/>
                  <a:gd name="T54" fmla="*/ 1 w 99"/>
                  <a:gd name="T55" fmla="*/ 17 h 38"/>
                  <a:gd name="T56" fmla="*/ 2 w 99"/>
                  <a:gd name="T57" fmla="*/ 21 h 38"/>
                  <a:gd name="T58" fmla="*/ 3 w 99"/>
                  <a:gd name="T59" fmla="*/ 23 h 38"/>
                  <a:gd name="T60" fmla="*/ 5 w 99"/>
                  <a:gd name="T61" fmla="*/ 25 h 38"/>
                  <a:gd name="T62" fmla="*/ 7 w 99"/>
                  <a:gd name="T63" fmla="*/ 26 h 38"/>
                  <a:gd name="T64" fmla="*/ 10 w 99"/>
                  <a:gd name="T65" fmla="*/ 28 h 38"/>
                  <a:gd name="T66" fmla="*/ 15 w 99"/>
                  <a:gd name="T67" fmla="*/ 30 h 38"/>
                  <a:gd name="T68" fmla="*/ 19 w 99"/>
                  <a:gd name="T69" fmla="*/ 32 h 38"/>
                  <a:gd name="T70" fmla="*/ 23 w 99"/>
                  <a:gd name="T71" fmla="*/ 33 h 38"/>
                  <a:gd name="T72" fmla="*/ 28 w 99"/>
                  <a:gd name="T73" fmla="*/ 34 h 38"/>
                  <a:gd name="T74" fmla="*/ 32 w 99"/>
                  <a:gd name="T75" fmla="*/ 36 h 38"/>
                  <a:gd name="T76" fmla="*/ 36 w 99"/>
                  <a:gd name="T77" fmla="*/ 37 h 38"/>
                  <a:gd name="T78" fmla="*/ 40 w 99"/>
                  <a:gd name="T79" fmla="*/ 38 h 38"/>
                  <a:gd name="T80" fmla="*/ 45 w 99"/>
                  <a:gd name="T81" fmla="*/ 38 h 38"/>
                  <a:gd name="T82" fmla="*/ 49 w 99"/>
                  <a:gd name="T83" fmla="*/ 38 h 3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9"/>
                  <a:gd name="T127" fmla="*/ 0 h 38"/>
                  <a:gd name="T128" fmla="*/ 99 w 99"/>
                  <a:gd name="T129" fmla="*/ 38 h 3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9" h="38">
                    <a:moveTo>
                      <a:pt x="49" y="38"/>
                    </a:moveTo>
                    <a:lnTo>
                      <a:pt x="54" y="38"/>
                    </a:lnTo>
                    <a:lnTo>
                      <a:pt x="59" y="38"/>
                    </a:lnTo>
                    <a:lnTo>
                      <a:pt x="63" y="37"/>
                    </a:lnTo>
                    <a:lnTo>
                      <a:pt x="67" y="36"/>
                    </a:lnTo>
                    <a:lnTo>
                      <a:pt x="71" y="34"/>
                    </a:lnTo>
                    <a:lnTo>
                      <a:pt x="76" y="33"/>
                    </a:lnTo>
                    <a:lnTo>
                      <a:pt x="80" y="32"/>
                    </a:lnTo>
                    <a:lnTo>
                      <a:pt x="84" y="30"/>
                    </a:lnTo>
                    <a:lnTo>
                      <a:pt x="88" y="28"/>
                    </a:lnTo>
                    <a:lnTo>
                      <a:pt x="92" y="26"/>
                    </a:lnTo>
                    <a:lnTo>
                      <a:pt x="94" y="25"/>
                    </a:lnTo>
                    <a:lnTo>
                      <a:pt x="96" y="23"/>
                    </a:lnTo>
                    <a:lnTo>
                      <a:pt x="97" y="21"/>
                    </a:lnTo>
                    <a:lnTo>
                      <a:pt x="98" y="17"/>
                    </a:lnTo>
                    <a:lnTo>
                      <a:pt x="99" y="15"/>
                    </a:lnTo>
                    <a:lnTo>
                      <a:pt x="99" y="12"/>
                    </a:lnTo>
                    <a:lnTo>
                      <a:pt x="98" y="9"/>
                    </a:lnTo>
                    <a:lnTo>
                      <a:pt x="95" y="6"/>
                    </a:lnTo>
                    <a:lnTo>
                      <a:pt x="92" y="2"/>
                    </a:lnTo>
                    <a:lnTo>
                      <a:pt x="86" y="0"/>
                    </a:lnTo>
                    <a:lnTo>
                      <a:pt x="13" y="0"/>
                    </a:lnTo>
                    <a:lnTo>
                      <a:pt x="7" y="2"/>
                    </a:lnTo>
                    <a:lnTo>
                      <a:pt x="4" y="6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17"/>
                    </a:lnTo>
                    <a:lnTo>
                      <a:pt x="2" y="21"/>
                    </a:lnTo>
                    <a:lnTo>
                      <a:pt x="3" y="23"/>
                    </a:lnTo>
                    <a:lnTo>
                      <a:pt x="5" y="25"/>
                    </a:lnTo>
                    <a:lnTo>
                      <a:pt x="7" y="26"/>
                    </a:lnTo>
                    <a:lnTo>
                      <a:pt x="10" y="28"/>
                    </a:lnTo>
                    <a:lnTo>
                      <a:pt x="15" y="30"/>
                    </a:lnTo>
                    <a:lnTo>
                      <a:pt x="19" y="32"/>
                    </a:lnTo>
                    <a:lnTo>
                      <a:pt x="23" y="33"/>
                    </a:lnTo>
                    <a:lnTo>
                      <a:pt x="28" y="34"/>
                    </a:lnTo>
                    <a:lnTo>
                      <a:pt x="32" y="36"/>
                    </a:lnTo>
                    <a:lnTo>
                      <a:pt x="36" y="37"/>
                    </a:lnTo>
                    <a:lnTo>
                      <a:pt x="40" y="38"/>
                    </a:lnTo>
                    <a:lnTo>
                      <a:pt x="45" y="38"/>
                    </a:lnTo>
                    <a:lnTo>
                      <a:pt x="49" y="38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3" name="Freeform 1141"/>
              <p:cNvSpPr>
                <a:spLocks/>
              </p:cNvSpPr>
              <p:nvPr/>
            </p:nvSpPr>
            <p:spPr bwMode="auto">
              <a:xfrm>
                <a:off x="2089" y="1941"/>
                <a:ext cx="140" cy="150"/>
              </a:xfrm>
              <a:custGeom>
                <a:avLst/>
                <a:gdLst>
                  <a:gd name="T0" fmla="*/ 71 w 140"/>
                  <a:gd name="T1" fmla="*/ 150 h 150"/>
                  <a:gd name="T2" fmla="*/ 82 w 140"/>
                  <a:gd name="T3" fmla="*/ 148 h 150"/>
                  <a:gd name="T4" fmla="*/ 92 w 140"/>
                  <a:gd name="T5" fmla="*/ 145 h 150"/>
                  <a:gd name="T6" fmla="*/ 103 w 140"/>
                  <a:gd name="T7" fmla="*/ 141 h 150"/>
                  <a:gd name="T8" fmla="*/ 112 w 140"/>
                  <a:gd name="T9" fmla="*/ 135 h 150"/>
                  <a:gd name="T10" fmla="*/ 120 w 140"/>
                  <a:gd name="T11" fmla="*/ 127 h 150"/>
                  <a:gd name="T12" fmla="*/ 127 w 140"/>
                  <a:gd name="T13" fmla="*/ 119 h 150"/>
                  <a:gd name="T14" fmla="*/ 133 w 140"/>
                  <a:gd name="T15" fmla="*/ 109 h 150"/>
                  <a:gd name="T16" fmla="*/ 137 w 140"/>
                  <a:gd name="T17" fmla="*/ 98 h 150"/>
                  <a:gd name="T18" fmla="*/ 139 w 140"/>
                  <a:gd name="T19" fmla="*/ 87 h 150"/>
                  <a:gd name="T20" fmla="*/ 140 w 140"/>
                  <a:gd name="T21" fmla="*/ 75 h 150"/>
                  <a:gd name="T22" fmla="*/ 139 w 140"/>
                  <a:gd name="T23" fmla="*/ 63 h 150"/>
                  <a:gd name="T24" fmla="*/ 137 w 140"/>
                  <a:gd name="T25" fmla="*/ 51 h 150"/>
                  <a:gd name="T26" fmla="*/ 133 w 140"/>
                  <a:gd name="T27" fmla="*/ 41 h 150"/>
                  <a:gd name="T28" fmla="*/ 127 w 140"/>
                  <a:gd name="T29" fmla="*/ 31 h 150"/>
                  <a:gd name="T30" fmla="*/ 120 w 140"/>
                  <a:gd name="T31" fmla="*/ 21 h 150"/>
                  <a:gd name="T32" fmla="*/ 112 w 140"/>
                  <a:gd name="T33" fmla="*/ 15 h 150"/>
                  <a:gd name="T34" fmla="*/ 103 w 140"/>
                  <a:gd name="T35" fmla="*/ 9 h 150"/>
                  <a:gd name="T36" fmla="*/ 92 w 140"/>
                  <a:gd name="T37" fmla="*/ 4 h 150"/>
                  <a:gd name="T38" fmla="*/ 82 w 140"/>
                  <a:gd name="T39" fmla="*/ 1 h 150"/>
                  <a:gd name="T40" fmla="*/ 71 w 140"/>
                  <a:gd name="T41" fmla="*/ 0 h 150"/>
                  <a:gd name="T42" fmla="*/ 59 w 140"/>
                  <a:gd name="T43" fmla="*/ 1 h 150"/>
                  <a:gd name="T44" fmla="*/ 49 w 140"/>
                  <a:gd name="T45" fmla="*/ 4 h 150"/>
                  <a:gd name="T46" fmla="*/ 38 w 140"/>
                  <a:gd name="T47" fmla="*/ 9 h 150"/>
                  <a:gd name="T48" fmla="*/ 29 w 140"/>
                  <a:gd name="T49" fmla="*/ 15 h 150"/>
                  <a:gd name="T50" fmla="*/ 21 w 140"/>
                  <a:gd name="T51" fmla="*/ 21 h 150"/>
                  <a:gd name="T52" fmla="*/ 14 w 140"/>
                  <a:gd name="T53" fmla="*/ 31 h 150"/>
                  <a:gd name="T54" fmla="*/ 8 w 140"/>
                  <a:gd name="T55" fmla="*/ 41 h 150"/>
                  <a:gd name="T56" fmla="*/ 4 w 140"/>
                  <a:gd name="T57" fmla="*/ 51 h 150"/>
                  <a:gd name="T58" fmla="*/ 2 w 140"/>
                  <a:gd name="T59" fmla="*/ 63 h 150"/>
                  <a:gd name="T60" fmla="*/ 0 w 140"/>
                  <a:gd name="T61" fmla="*/ 75 h 150"/>
                  <a:gd name="T62" fmla="*/ 2 w 140"/>
                  <a:gd name="T63" fmla="*/ 87 h 150"/>
                  <a:gd name="T64" fmla="*/ 4 w 140"/>
                  <a:gd name="T65" fmla="*/ 98 h 150"/>
                  <a:gd name="T66" fmla="*/ 8 w 140"/>
                  <a:gd name="T67" fmla="*/ 109 h 150"/>
                  <a:gd name="T68" fmla="*/ 14 w 140"/>
                  <a:gd name="T69" fmla="*/ 119 h 150"/>
                  <a:gd name="T70" fmla="*/ 21 w 140"/>
                  <a:gd name="T71" fmla="*/ 127 h 150"/>
                  <a:gd name="T72" fmla="*/ 29 w 140"/>
                  <a:gd name="T73" fmla="*/ 135 h 150"/>
                  <a:gd name="T74" fmla="*/ 38 w 140"/>
                  <a:gd name="T75" fmla="*/ 141 h 150"/>
                  <a:gd name="T76" fmla="*/ 49 w 140"/>
                  <a:gd name="T77" fmla="*/ 145 h 150"/>
                  <a:gd name="T78" fmla="*/ 59 w 140"/>
                  <a:gd name="T79" fmla="*/ 148 h 150"/>
                  <a:gd name="T80" fmla="*/ 71 w 140"/>
                  <a:gd name="T81" fmla="*/ 150 h 150"/>
                  <a:gd name="T82" fmla="*/ 71 w 140"/>
                  <a:gd name="T83" fmla="*/ 150 h 15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40"/>
                  <a:gd name="T127" fmla="*/ 0 h 150"/>
                  <a:gd name="T128" fmla="*/ 140 w 140"/>
                  <a:gd name="T129" fmla="*/ 150 h 15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40" h="150">
                    <a:moveTo>
                      <a:pt x="71" y="150"/>
                    </a:moveTo>
                    <a:lnTo>
                      <a:pt x="82" y="148"/>
                    </a:lnTo>
                    <a:lnTo>
                      <a:pt x="92" y="145"/>
                    </a:lnTo>
                    <a:lnTo>
                      <a:pt x="103" y="141"/>
                    </a:lnTo>
                    <a:lnTo>
                      <a:pt x="112" y="135"/>
                    </a:lnTo>
                    <a:lnTo>
                      <a:pt x="120" y="127"/>
                    </a:lnTo>
                    <a:lnTo>
                      <a:pt x="127" y="119"/>
                    </a:lnTo>
                    <a:lnTo>
                      <a:pt x="133" y="109"/>
                    </a:lnTo>
                    <a:lnTo>
                      <a:pt x="137" y="98"/>
                    </a:lnTo>
                    <a:lnTo>
                      <a:pt x="139" y="87"/>
                    </a:lnTo>
                    <a:lnTo>
                      <a:pt x="140" y="75"/>
                    </a:lnTo>
                    <a:lnTo>
                      <a:pt x="139" y="63"/>
                    </a:lnTo>
                    <a:lnTo>
                      <a:pt x="137" y="51"/>
                    </a:lnTo>
                    <a:lnTo>
                      <a:pt x="133" y="41"/>
                    </a:lnTo>
                    <a:lnTo>
                      <a:pt x="127" y="31"/>
                    </a:lnTo>
                    <a:lnTo>
                      <a:pt x="120" y="21"/>
                    </a:lnTo>
                    <a:lnTo>
                      <a:pt x="112" y="15"/>
                    </a:lnTo>
                    <a:lnTo>
                      <a:pt x="103" y="9"/>
                    </a:lnTo>
                    <a:lnTo>
                      <a:pt x="92" y="4"/>
                    </a:lnTo>
                    <a:lnTo>
                      <a:pt x="82" y="1"/>
                    </a:lnTo>
                    <a:lnTo>
                      <a:pt x="71" y="0"/>
                    </a:lnTo>
                    <a:lnTo>
                      <a:pt x="59" y="1"/>
                    </a:lnTo>
                    <a:lnTo>
                      <a:pt x="49" y="4"/>
                    </a:lnTo>
                    <a:lnTo>
                      <a:pt x="38" y="9"/>
                    </a:lnTo>
                    <a:lnTo>
                      <a:pt x="29" y="15"/>
                    </a:lnTo>
                    <a:lnTo>
                      <a:pt x="21" y="21"/>
                    </a:lnTo>
                    <a:lnTo>
                      <a:pt x="14" y="31"/>
                    </a:lnTo>
                    <a:lnTo>
                      <a:pt x="8" y="41"/>
                    </a:lnTo>
                    <a:lnTo>
                      <a:pt x="4" y="51"/>
                    </a:lnTo>
                    <a:lnTo>
                      <a:pt x="2" y="63"/>
                    </a:lnTo>
                    <a:lnTo>
                      <a:pt x="0" y="75"/>
                    </a:lnTo>
                    <a:lnTo>
                      <a:pt x="2" y="87"/>
                    </a:lnTo>
                    <a:lnTo>
                      <a:pt x="4" y="98"/>
                    </a:lnTo>
                    <a:lnTo>
                      <a:pt x="8" y="109"/>
                    </a:lnTo>
                    <a:lnTo>
                      <a:pt x="14" y="119"/>
                    </a:lnTo>
                    <a:lnTo>
                      <a:pt x="21" y="127"/>
                    </a:lnTo>
                    <a:lnTo>
                      <a:pt x="29" y="135"/>
                    </a:lnTo>
                    <a:lnTo>
                      <a:pt x="38" y="141"/>
                    </a:lnTo>
                    <a:lnTo>
                      <a:pt x="49" y="145"/>
                    </a:lnTo>
                    <a:lnTo>
                      <a:pt x="59" y="148"/>
                    </a:lnTo>
                    <a:lnTo>
                      <a:pt x="71" y="15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4" name="Freeform 1142"/>
              <p:cNvSpPr>
                <a:spLocks/>
              </p:cNvSpPr>
              <p:nvPr/>
            </p:nvSpPr>
            <p:spPr bwMode="auto">
              <a:xfrm>
                <a:off x="2089" y="1941"/>
                <a:ext cx="140" cy="150"/>
              </a:xfrm>
              <a:custGeom>
                <a:avLst/>
                <a:gdLst>
                  <a:gd name="T0" fmla="*/ 71 w 140"/>
                  <a:gd name="T1" fmla="*/ 150 h 150"/>
                  <a:gd name="T2" fmla="*/ 82 w 140"/>
                  <a:gd name="T3" fmla="*/ 148 h 150"/>
                  <a:gd name="T4" fmla="*/ 92 w 140"/>
                  <a:gd name="T5" fmla="*/ 145 h 150"/>
                  <a:gd name="T6" fmla="*/ 103 w 140"/>
                  <a:gd name="T7" fmla="*/ 141 h 150"/>
                  <a:gd name="T8" fmla="*/ 112 w 140"/>
                  <a:gd name="T9" fmla="*/ 135 h 150"/>
                  <a:gd name="T10" fmla="*/ 120 w 140"/>
                  <a:gd name="T11" fmla="*/ 127 h 150"/>
                  <a:gd name="T12" fmla="*/ 127 w 140"/>
                  <a:gd name="T13" fmla="*/ 119 h 150"/>
                  <a:gd name="T14" fmla="*/ 133 w 140"/>
                  <a:gd name="T15" fmla="*/ 109 h 150"/>
                  <a:gd name="T16" fmla="*/ 137 w 140"/>
                  <a:gd name="T17" fmla="*/ 98 h 150"/>
                  <a:gd name="T18" fmla="*/ 139 w 140"/>
                  <a:gd name="T19" fmla="*/ 87 h 150"/>
                  <a:gd name="T20" fmla="*/ 140 w 140"/>
                  <a:gd name="T21" fmla="*/ 75 h 150"/>
                  <a:gd name="T22" fmla="*/ 139 w 140"/>
                  <a:gd name="T23" fmla="*/ 63 h 150"/>
                  <a:gd name="T24" fmla="*/ 137 w 140"/>
                  <a:gd name="T25" fmla="*/ 51 h 150"/>
                  <a:gd name="T26" fmla="*/ 133 w 140"/>
                  <a:gd name="T27" fmla="*/ 41 h 150"/>
                  <a:gd name="T28" fmla="*/ 127 w 140"/>
                  <a:gd name="T29" fmla="*/ 31 h 150"/>
                  <a:gd name="T30" fmla="*/ 120 w 140"/>
                  <a:gd name="T31" fmla="*/ 21 h 150"/>
                  <a:gd name="T32" fmla="*/ 112 w 140"/>
                  <a:gd name="T33" fmla="*/ 15 h 150"/>
                  <a:gd name="T34" fmla="*/ 103 w 140"/>
                  <a:gd name="T35" fmla="*/ 9 h 150"/>
                  <a:gd name="T36" fmla="*/ 92 w 140"/>
                  <a:gd name="T37" fmla="*/ 4 h 150"/>
                  <a:gd name="T38" fmla="*/ 82 w 140"/>
                  <a:gd name="T39" fmla="*/ 1 h 150"/>
                  <a:gd name="T40" fmla="*/ 71 w 140"/>
                  <a:gd name="T41" fmla="*/ 0 h 150"/>
                  <a:gd name="T42" fmla="*/ 59 w 140"/>
                  <a:gd name="T43" fmla="*/ 1 h 150"/>
                  <a:gd name="T44" fmla="*/ 49 w 140"/>
                  <a:gd name="T45" fmla="*/ 4 h 150"/>
                  <a:gd name="T46" fmla="*/ 38 w 140"/>
                  <a:gd name="T47" fmla="*/ 9 h 150"/>
                  <a:gd name="T48" fmla="*/ 29 w 140"/>
                  <a:gd name="T49" fmla="*/ 15 h 150"/>
                  <a:gd name="T50" fmla="*/ 21 w 140"/>
                  <a:gd name="T51" fmla="*/ 21 h 150"/>
                  <a:gd name="T52" fmla="*/ 14 w 140"/>
                  <a:gd name="T53" fmla="*/ 31 h 150"/>
                  <a:gd name="T54" fmla="*/ 8 w 140"/>
                  <a:gd name="T55" fmla="*/ 41 h 150"/>
                  <a:gd name="T56" fmla="*/ 4 w 140"/>
                  <a:gd name="T57" fmla="*/ 51 h 150"/>
                  <a:gd name="T58" fmla="*/ 2 w 140"/>
                  <a:gd name="T59" fmla="*/ 63 h 150"/>
                  <a:gd name="T60" fmla="*/ 0 w 140"/>
                  <a:gd name="T61" fmla="*/ 75 h 150"/>
                  <a:gd name="T62" fmla="*/ 2 w 140"/>
                  <a:gd name="T63" fmla="*/ 87 h 150"/>
                  <a:gd name="T64" fmla="*/ 4 w 140"/>
                  <a:gd name="T65" fmla="*/ 98 h 150"/>
                  <a:gd name="T66" fmla="*/ 8 w 140"/>
                  <a:gd name="T67" fmla="*/ 109 h 150"/>
                  <a:gd name="T68" fmla="*/ 14 w 140"/>
                  <a:gd name="T69" fmla="*/ 119 h 150"/>
                  <a:gd name="T70" fmla="*/ 21 w 140"/>
                  <a:gd name="T71" fmla="*/ 127 h 150"/>
                  <a:gd name="T72" fmla="*/ 29 w 140"/>
                  <a:gd name="T73" fmla="*/ 135 h 150"/>
                  <a:gd name="T74" fmla="*/ 38 w 140"/>
                  <a:gd name="T75" fmla="*/ 141 h 150"/>
                  <a:gd name="T76" fmla="*/ 49 w 140"/>
                  <a:gd name="T77" fmla="*/ 145 h 150"/>
                  <a:gd name="T78" fmla="*/ 59 w 140"/>
                  <a:gd name="T79" fmla="*/ 148 h 150"/>
                  <a:gd name="T80" fmla="*/ 71 w 140"/>
                  <a:gd name="T81" fmla="*/ 150 h 15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0"/>
                  <a:gd name="T124" fmla="*/ 0 h 150"/>
                  <a:gd name="T125" fmla="*/ 140 w 140"/>
                  <a:gd name="T126" fmla="*/ 150 h 15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0" h="150">
                    <a:moveTo>
                      <a:pt x="71" y="150"/>
                    </a:moveTo>
                    <a:lnTo>
                      <a:pt x="82" y="148"/>
                    </a:lnTo>
                    <a:lnTo>
                      <a:pt x="92" y="145"/>
                    </a:lnTo>
                    <a:lnTo>
                      <a:pt x="103" y="141"/>
                    </a:lnTo>
                    <a:lnTo>
                      <a:pt x="112" y="135"/>
                    </a:lnTo>
                    <a:lnTo>
                      <a:pt x="120" y="127"/>
                    </a:lnTo>
                    <a:lnTo>
                      <a:pt x="127" y="119"/>
                    </a:lnTo>
                    <a:lnTo>
                      <a:pt x="133" y="109"/>
                    </a:lnTo>
                    <a:lnTo>
                      <a:pt x="137" y="98"/>
                    </a:lnTo>
                    <a:lnTo>
                      <a:pt x="139" y="87"/>
                    </a:lnTo>
                    <a:lnTo>
                      <a:pt x="140" y="75"/>
                    </a:lnTo>
                    <a:lnTo>
                      <a:pt x="139" y="63"/>
                    </a:lnTo>
                    <a:lnTo>
                      <a:pt x="137" y="51"/>
                    </a:lnTo>
                    <a:lnTo>
                      <a:pt x="133" y="41"/>
                    </a:lnTo>
                    <a:lnTo>
                      <a:pt x="127" y="31"/>
                    </a:lnTo>
                    <a:lnTo>
                      <a:pt x="120" y="21"/>
                    </a:lnTo>
                    <a:lnTo>
                      <a:pt x="112" y="15"/>
                    </a:lnTo>
                    <a:lnTo>
                      <a:pt x="103" y="9"/>
                    </a:lnTo>
                    <a:lnTo>
                      <a:pt x="92" y="4"/>
                    </a:lnTo>
                    <a:lnTo>
                      <a:pt x="82" y="1"/>
                    </a:lnTo>
                    <a:lnTo>
                      <a:pt x="71" y="0"/>
                    </a:lnTo>
                    <a:lnTo>
                      <a:pt x="59" y="1"/>
                    </a:lnTo>
                    <a:lnTo>
                      <a:pt x="49" y="4"/>
                    </a:lnTo>
                    <a:lnTo>
                      <a:pt x="38" y="9"/>
                    </a:lnTo>
                    <a:lnTo>
                      <a:pt x="29" y="15"/>
                    </a:lnTo>
                    <a:lnTo>
                      <a:pt x="21" y="21"/>
                    </a:lnTo>
                    <a:lnTo>
                      <a:pt x="14" y="31"/>
                    </a:lnTo>
                    <a:lnTo>
                      <a:pt x="8" y="41"/>
                    </a:lnTo>
                    <a:lnTo>
                      <a:pt x="4" y="51"/>
                    </a:lnTo>
                    <a:lnTo>
                      <a:pt x="2" y="63"/>
                    </a:lnTo>
                    <a:lnTo>
                      <a:pt x="0" y="75"/>
                    </a:lnTo>
                    <a:lnTo>
                      <a:pt x="2" y="87"/>
                    </a:lnTo>
                    <a:lnTo>
                      <a:pt x="4" y="98"/>
                    </a:lnTo>
                    <a:lnTo>
                      <a:pt x="8" y="109"/>
                    </a:lnTo>
                    <a:lnTo>
                      <a:pt x="14" y="119"/>
                    </a:lnTo>
                    <a:lnTo>
                      <a:pt x="21" y="127"/>
                    </a:lnTo>
                    <a:lnTo>
                      <a:pt x="29" y="135"/>
                    </a:lnTo>
                    <a:lnTo>
                      <a:pt x="38" y="141"/>
                    </a:lnTo>
                    <a:lnTo>
                      <a:pt x="49" y="145"/>
                    </a:lnTo>
                    <a:lnTo>
                      <a:pt x="59" y="148"/>
                    </a:lnTo>
                    <a:lnTo>
                      <a:pt x="71" y="15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5" name="Freeform 1143"/>
              <p:cNvSpPr>
                <a:spLocks/>
              </p:cNvSpPr>
              <p:nvPr/>
            </p:nvSpPr>
            <p:spPr bwMode="auto">
              <a:xfrm>
                <a:off x="2120" y="2023"/>
                <a:ext cx="25" cy="31"/>
              </a:xfrm>
              <a:custGeom>
                <a:avLst/>
                <a:gdLst>
                  <a:gd name="T0" fmla="*/ 0 w 25"/>
                  <a:gd name="T1" fmla="*/ 0 h 31"/>
                  <a:gd name="T2" fmla="*/ 0 w 25"/>
                  <a:gd name="T3" fmla="*/ 5 h 31"/>
                  <a:gd name="T4" fmla="*/ 2 w 25"/>
                  <a:gd name="T5" fmla="*/ 10 h 31"/>
                  <a:gd name="T6" fmla="*/ 4 w 25"/>
                  <a:gd name="T7" fmla="*/ 14 h 31"/>
                  <a:gd name="T8" fmla="*/ 6 w 25"/>
                  <a:gd name="T9" fmla="*/ 17 h 31"/>
                  <a:gd name="T10" fmla="*/ 8 w 25"/>
                  <a:gd name="T11" fmla="*/ 22 h 31"/>
                  <a:gd name="T12" fmla="*/ 11 w 25"/>
                  <a:gd name="T13" fmla="*/ 25 h 31"/>
                  <a:gd name="T14" fmla="*/ 14 w 25"/>
                  <a:gd name="T15" fmla="*/ 27 h 31"/>
                  <a:gd name="T16" fmla="*/ 18 w 25"/>
                  <a:gd name="T17" fmla="*/ 29 h 31"/>
                  <a:gd name="T18" fmla="*/ 22 w 25"/>
                  <a:gd name="T19" fmla="*/ 30 h 31"/>
                  <a:gd name="T20" fmla="*/ 25 w 25"/>
                  <a:gd name="T21" fmla="*/ 31 h 3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5"/>
                  <a:gd name="T34" fmla="*/ 0 h 31"/>
                  <a:gd name="T35" fmla="*/ 25 w 25"/>
                  <a:gd name="T36" fmla="*/ 31 h 3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5" h="31">
                    <a:moveTo>
                      <a:pt x="0" y="0"/>
                    </a:moveTo>
                    <a:lnTo>
                      <a:pt x="0" y="5"/>
                    </a:lnTo>
                    <a:lnTo>
                      <a:pt x="2" y="10"/>
                    </a:lnTo>
                    <a:lnTo>
                      <a:pt x="4" y="14"/>
                    </a:lnTo>
                    <a:lnTo>
                      <a:pt x="6" y="17"/>
                    </a:lnTo>
                    <a:lnTo>
                      <a:pt x="8" y="22"/>
                    </a:lnTo>
                    <a:lnTo>
                      <a:pt x="11" y="25"/>
                    </a:lnTo>
                    <a:lnTo>
                      <a:pt x="14" y="27"/>
                    </a:lnTo>
                    <a:lnTo>
                      <a:pt x="18" y="29"/>
                    </a:lnTo>
                    <a:lnTo>
                      <a:pt x="22" y="30"/>
                    </a:lnTo>
                    <a:lnTo>
                      <a:pt x="25" y="31"/>
                    </a:lnTo>
                  </a:path>
                </a:pathLst>
              </a:custGeom>
              <a:noFill/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6" name="Freeform 1144"/>
              <p:cNvSpPr>
                <a:spLocks/>
              </p:cNvSpPr>
              <p:nvPr/>
            </p:nvSpPr>
            <p:spPr bwMode="auto">
              <a:xfrm>
                <a:off x="2144" y="2016"/>
                <a:ext cx="45" cy="45"/>
              </a:xfrm>
              <a:custGeom>
                <a:avLst/>
                <a:gdLst>
                  <a:gd name="T0" fmla="*/ 22 w 45"/>
                  <a:gd name="T1" fmla="*/ 0 h 45"/>
                  <a:gd name="T2" fmla="*/ 28 w 45"/>
                  <a:gd name="T3" fmla="*/ 17 h 45"/>
                  <a:gd name="T4" fmla="*/ 45 w 45"/>
                  <a:gd name="T5" fmla="*/ 17 h 45"/>
                  <a:gd name="T6" fmla="*/ 31 w 45"/>
                  <a:gd name="T7" fmla="*/ 28 h 45"/>
                  <a:gd name="T8" fmla="*/ 36 w 45"/>
                  <a:gd name="T9" fmla="*/ 45 h 45"/>
                  <a:gd name="T10" fmla="*/ 22 w 45"/>
                  <a:gd name="T11" fmla="*/ 35 h 45"/>
                  <a:gd name="T12" fmla="*/ 9 w 45"/>
                  <a:gd name="T13" fmla="*/ 45 h 45"/>
                  <a:gd name="T14" fmla="*/ 14 w 45"/>
                  <a:gd name="T15" fmla="*/ 28 h 45"/>
                  <a:gd name="T16" fmla="*/ 0 w 45"/>
                  <a:gd name="T17" fmla="*/ 17 h 45"/>
                  <a:gd name="T18" fmla="*/ 17 w 45"/>
                  <a:gd name="T19" fmla="*/ 17 h 45"/>
                  <a:gd name="T20" fmla="*/ 22 w 45"/>
                  <a:gd name="T21" fmla="*/ 0 h 45"/>
                  <a:gd name="T22" fmla="*/ 22 w 45"/>
                  <a:gd name="T23" fmla="*/ 0 h 4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5"/>
                  <a:gd name="T37" fmla="*/ 0 h 45"/>
                  <a:gd name="T38" fmla="*/ 45 w 45"/>
                  <a:gd name="T39" fmla="*/ 45 h 4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5" h="45">
                    <a:moveTo>
                      <a:pt x="22" y="0"/>
                    </a:moveTo>
                    <a:lnTo>
                      <a:pt x="28" y="17"/>
                    </a:lnTo>
                    <a:lnTo>
                      <a:pt x="45" y="17"/>
                    </a:lnTo>
                    <a:lnTo>
                      <a:pt x="31" y="28"/>
                    </a:lnTo>
                    <a:lnTo>
                      <a:pt x="36" y="45"/>
                    </a:lnTo>
                    <a:lnTo>
                      <a:pt x="22" y="35"/>
                    </a:lnTo>
                    <a:lnTo>
                      <a:pt x="9" y="45"/>
                    </a:lnTo>
                    <a:lnTo>
                      <a:pt x="14" y="28"/>
                    </a:lnTo>
                    <a:lnTo>
                      <a:pt x="0" y="17"/>
                    </a:lnTo>
                    <a:lnTo>
                      <a:pt x="17" y="17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7" name="Freeform 1145"/>
              <p:cNvSpPr>
                <a:spLocks/>
              </p:cNvSpPr>
              <p:nvPr/>
            </p:nvSpPr>
            <p:spPr bwMode="auto">
              <a:xfrm>
                <a:off x="2036" y="1968"/>
                <a:ext cx="42" cy="41"/>
              </a:xfrm>
              <a:custGeom>
                <a:avLst/>
                <a:gdLst>
                  <a:gd name="T0" fmla="*/ 20 w 42"/>
                  <a:gd name="T1" fmla="*/ 0 h 41"/>
                  <a:gd name="T2" fmla="*/ 26 w 42"/>
                  <a:gd name="T3" fmla="*/ 16 h 41"/>
                  <a:gd name="T4" fmla="*/ 42 w 42"/>
                  <a:gd name="T5" fmla="*/ 16 h 41"/>
                  <a:gd name="T6" fmla="*/ 29 w 42"/>
                  <a:gd name="T7" fmla="*/ 25 h 41"/>
                  <a:gd name="T8" fmla="*/ 34 w 42"/>
                  <a:gd name="T9" fmla="*/ 41 h 41"/>
                  <a:gd name="T10" fmla="*/ 21 w 42"/>
                  <a:gd name="T11" fmla="*/ 32 h 41"/>
                  <a:gd name="T12" fmla="*/ 8 w 42"/>
                  <a:gd name="T13" fmla="*/ 41 h 41"/>
                  <a:gd name="T14" fmla="*/ 13 w 42"/>
                  <a:gd name="T15" fmla="*/ 25 h 41"/>
                  <a:gd name="T16" fmla="*/ 0 w 42"/>
                  <a:gd name="T17" fmla="*/ 16 h 41"/>
                  <a:gd name="T18" fmla="*/ 16 w 42"/>
                  <a:gd name="T19" fmla="*/ 16 h 41"/>
                  <a:gd name="T20" fmla="*/ 21 w 42"/>
                  <a:gd name="T21" fmla="*/ 0 h 41"/>
                  <a:gd name="T22" fmla="*/ 20 w 42"/>
                  <a:gd name="T23" fmla="*/ 0 h 4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2"/>
                  <a:gd name="T37" fmla="*/ 0 h 41"/>
                  <a:gd name="T38" fmla="*/ 42 w 42"/>
                  <a:gd name="T39" fmla="*/ 41 h 4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2" h="41">
                    <a:moveTo>
                      <a:pt x="20" y="0"/>
                    </a:moveTo>
                    <a:lnTo>
                      <a:pt x="26" y="16"/>
                    </a:lnTo>
                    <a:lnTo>
                      <a:pt x="42" y="16"/>
                    </a:lnTo>
                    <a:lnTo>
                      <a:pt x="29" y="25"/>
                    </a:lnTo>
                    <a:lnTo>
                      <a:pt x="34" y="41"/>
                    </a:lnTo>
                    <a:lnTo>
                      <a:pt x="21" y="32"/>
                    </a:lnTo>
                    <a:lnTo>
                      <a:pt x="8" y="41"/>
                    </a:lnTo>
                    <a:lnTo>
                      <a:pt x="13" y="25"/>
                    </a:lnTo>
                    <a:lnTo>
                      <a:pt x="0" y="16"/>
                    </a:lnTo>
                    <a:lnTo>
                      <a:pt x="16" y="16"/>
                    </a:lnTo>
                    <a:lnTo>
                      <a:pt x="21" y="0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8" name="Freeform 1146"/>
              <p:cNvSpPr>
                <a:spLocks/>
              </p:cNvSpPr>
              <p:nvPr/>
            </p:nvSpPr>
            <p:spPr bwMode="auto">
              <a:xfrm>
                <a:off x="2110" y="1897"/>
                <a:ext cx="41" cy="42"/>
              </a:xfrm>
              <a:custGeom>
                <a:avLst/>
                <a:gdLst>
                  <a:gd name="T0" fmla="*/ 20 w 41"/>
                  <a:gd name="T1" fmla="*/ 0 h 42"/>
                  <a:gd name="T2" fmla="*/ 25 w 41"/>
                  <a:gd name="T3" fmla="*/ 15 h 42"/>
                  <a:gd name="T4" fmla="*/ 41 w 41"/>
                  <a:gd name="T5" fmla="*/ 16 h 42"/>
                  <a:gd name="T6" fmla="*/ 29 w 41"/>
                  <a:gd name="T7" fmla="*/ 26 h 42"/>
                  <a:gd name="T8" fmla="*/ 34 w 41"/>
                  <a:gd name="T9" fmla="*/ 42 h 42"/>
                  <a:gd name="T10" fmla="*/ 20 w 41"/>
                  <a:gd name="T11" fmla="*/ 32 h 42"/>
                  <a:gd name="T12" fmla="*/ 7 w 41"/>
                  <a:gd name="T13" fmla="*/ 42 h 42"/>
                  <a:gd name="T14" fmla="*/ 13 w 41"/>
                  <a:gd name="T15" fmla="*/ 26 h 42"/>
                  <a:gd name="T16" fmla="*/ 0 w 41"/>
                  <a:gd name="T17" fmla="*/ 16 h 42"/>
                  <a:gd name="T18" fmla="*/ 16 w 41"/>
                  <a:gd name="T19" fmla="*/ 15 h 42"/>
                  <a:gd name="T20" fmla="*/ 20 w 41"/>
                  <a:gd name="T21" fmla="*/ 0 h 42"/>
                  <a:gd name="T22" fmla="*/ 20 w 41"/>
                  <a:gd name="T23" fmla="*/ 0 h 4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1"/>
                  <a:gd name="T37" fmla="*/ 0 h 42"/>
                  <a:gd name="T38" fmla="*/ 41 w 41"/>
                  <a:gd name="T39" fmla="*/ 42 h 4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1" h="42">
                    <a:moveTo>
                      <a:pt x="20" y="0"/>
                    </a:moveTo>
                    <a:lnTo>
                      <a:pt x="25" y="15"/>
                    </a:lnTo>
                    <a:lnTo>
                      <a:pt x="41" y="16"/>
                    </a:lnTo>
                    <a:lnTo>
                      <a:pt x="29" y="26"/>
                    </a:lnTo>
                    <a:lnTo>
                      <a:pt x="34" y="42"/>
                    </a:lnTo>
                    <a:lnTo>
                      <a:pt x="20" y="32"/>
                    </a:lnTo>
                    <a:lnTo>
                      <a:pt x="7" y="42"/>
                    </a:lnTo>
                    <a:lnTo>
                      <a:pt x="13" y="26"/>
                    </a:lnTo>
                    <a:lnTo>
                      <a:pt x="0" y="16"/>
                    </a:lnTo>
                    <a:lnTo>
                      <a:pt x="16" y="1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9" name="Freeform 1147"/>
              <p:cNvSpPr>
                <a:spLocks/>
              </p:cNvSpPr>
              <p:nvPr/>
            </p:nvSpPr>
            <p:spPr bwMode="auto">
              <a:xfrm>
                <a:off x="2240" y="1944"/>
                <a:ext cx="42" cy="42"/>
              </a:xfrm>
              <a:custGeom>
                <a:avLst/>
                <a:gdLst>
                  <a:gd name="T0" fmla="*/ 20 w 42"/>
                  <a:gd name="T1" fmla="*/ 0 h 42"/>
                  <a:gd name="T2" fmla="*/ 26 w 42"/>
                  <a:gd name="T3" fmla="*/ 16 h 42"/>
                  <a:gd name="T4" fmla="*/ 42 w 42"/>
                  <a:gd name="T5" fmla="*/ 16 h 42"/>
                  <a:gd name="T6" fmla="*/ 29 w 42"/>
                  <a:gd name="T7" fmla="*/ 26 h 42"/>
                  <a:gd name="T8" fmla="*/ 34 w 42"/>
                  <a:gd name="T9" fmla="*/ 42 h 42"/>
                  <a:gd name="T10" fmla="*/ 20 w 42"/>
                  <a:gd name="T11" fmla="*/ 32 h 42"/>
                  <a:gd name="T12" fmla="*/ 8 w 42"/>
                  <a:gd name="T13" fmla="*/ 42 h 42"/>
                  <a:gd name="T14" fmla="*/ 13 w 42"/>
                  <a:gd name="T15" fmla="*/ 26 h 42"/>
                  <a:gd name="T16" fmla="*/ 0 w 42"/>
                  <a:gd name="T17" fmla="*/ 16 h 42"/>
                  <a:gd name="T18" fmla="*/ 16 w 42"/>
                  <a:gd name="T19" fmla="*/ 16 h 42"/>
                  <a:gd name="T20" fmla="*/ 20 w 42"/>
                  <a:gd name="T21" fmla="*/ 0 h 42"/>
                  <a:gd name="T22" fmla="*/ 20 w 42"/>
                  <a:gd name="T23" fmla="*/ 0 h 4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2"/>
                  <a:gd name="T37" fmla="*/ 0 h 42"/>
                  <a:gd name="T38" fmla="*/ 42 w 42"/>
                  <a:gd name="T39" fmla="*/ 42 h 4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2" h="42">
                    <a:moveTo>
                      <a:pt x="20" y="0"/>
                    </a:moveTo>
                    <a:lnTo>
                      <a:pt x="26" y="16"/>
                    </a:lnTo>
                    <a:lnTo>
                      <a:pt x="42" y="16"/>
                    </a:lnTo>
                    <a:lnTo>
                      <a:pt x="29" y="26"/>
                    </a:lnTo>
                    <a:lnTo>
                      <a:pt x="34" y="42"/>
                    </a:lnTo>
                    <a:lnTo>
                      <a:pt x="20" y="32"/>
                    </a:lnTo>
                    <a:lnTo>
                      <a:pt x="8" y="42"/>
                    </a:lnTo>
                    <a:lnTo>
                      <a:pt x="13" y="26"/>
                    </a:lnTo>
                    <a:lnTo>
                      <a:pt x="0" y="16"/>
                    </a:lnTo>
                    <a:lnTo>
                      <a:pt x="16" y="16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50" name="Freeform 1148"/>
              <p:cNvSpPr>
                <a:spLocks/>
              </p:cNvSpPr>
              <p:nvPr/>
            </p:nvSpPr>
            <p:spPr bwMode="auto">
              <a:xfrm>
                <a:off x="2101" y="1975"/>
                <a:ext cx="44" cy="47"/>
              </a:xfrm>
              <a:custGeom>
                <a:avLst/>
                <a:gdLst>
                  <a:gd name="T0" fmla="*/ 18 w 44"/>
                  <a:gd name="T1" fmla="*/ 0 h 47"/>
                  <a:gd name="T2" fmla="*/ 28 w 44"/>
                  <a:gd name="T3" fmla="*/ 15 h 47"/>
                  <a:gd name="T4" fmla="*/ 44 w 44"/>
                  <a:gd name="T5" fmla="*/ 12 h 47"/>
                  <a:gd name="T6" fmla="*/ 33 w 44"/>
                  <a:gd name="T7" fmla="*/ 26 h 47"/>
                  <a:gd name="T8" fmla="*/ 41 w 44"/>
                  <a:gd name="T9" fmla="*/ 41 h 47"/>
                  <a:gd name="T10" fmla="*/ 26 w 44"/>
                  <a:gd name="T11" fmla="*/ 34 h 47"/>
                  <a:gd name="T12" fmla="*/ 14 w 44"/>
                  <a:gd name="T13" fmla="*/ 47 h 47"/>
                  <a:gd name="T14" fmla="*/ 15 w 44"/>
                  <a:gd name="T15" fmla="*/ 29 h 47"/>
                  <a:gd name="T16" fmla="*/ 0 w 44"/>
                  <a:gd name="T17" fmla="*/ 22 h 47"/>
                  <a:gd name="T18" fmla="*/ 16 w 44"/>
                  <a:gd name="T19" fmla="*/ 17 h 47"/>
                  <a:gd name="T20" fmla="*/ 18 w 44"/>
                  <a:gd name="T21" fmla="*/ 0 h 47"/>
                  <a:gd name="T22" fmla="*/ 18 w 44"/>
                  <a:gd name="T23" fmla="*/ 0 h 4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4"/>
                  <a:gd name="T37" fmla="*/ 0 h 47"/>
                  <a:gd name="T38" fmla="*/ 44 w 44"/>
                  <a:gd name="T39" fmla="*/ 47 h 4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4" h="47">
                    <a:moveTo>
                      <a:pt x="18" y="0"/>
                    </a:moveTo>
                    <a:lnTo>
                      <a:pt x="28" y="15"/>
                    </a:lnTo>
                    <a:lnTo>
                      <a:pt x="44" y="12"/>
                    </a:lnTo>
                    <a:lnTo>
                      <a:pt x="33" y="26"/>
                    </a:lnTo>
                    <a:lnTo>
                      <a:pt x="41" y="41"/>
                    </a:lnTo>
                    <a:lnTo>
                      <a:pt x="26" y="34"/>
                    </a:lnTo>
                    <a:lnTo>
                      <a:pt x="14" y="47"/>
                    </a:lnTo>
                    <a:lnTo>
                      <a:pt x="15" y="29"/>
                    </a:lnTo>
                    <a:lnTo>
                      <a:pt x="0" y="22"/>
                    </a:lnTo>
                    <a:lnTo>
                      <a:pt x="16" y="1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17418" name="Line 1149"/>
          <p:cNvSpPr>
            <a:spLocks noChangeShapeType="1"/>
          </p:cNvSpPr>
          <p:nvPr/>
        </p:nvSpPr>
        <p:spPr bwMode="auto">
          <a:xfrm flipH="1" flipV="1">
            <a:off x="3622675" y="2644775"/>
            <a:ext cx="0" cy="1214438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7419" name="Line 1150"/>
          <p:cNvSpPr>
            <a:spLocks noChangeShapeType="1"/>
          </p:cNvSpPr>
          <p:nvPr/>
        </p:nvSpPr>
        <p:spPr bwMode="auto">
          <a:xfrm flipH="1" flipV="1">
            <a:off x="2733675" y="2287588"/>
            <a:ext cx="444500" cy="1500187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7420" name="Line 1151"/>
          <p:cNvSpPr>
            <a:spLocks noChangeShapeType="1"/>
          </p:cNvSpPr>
          <p:nvPr/>
        </p:nvSpPr>
        <p:spPr bwMode="auto">
          <a:xfrm flipH="1" flipV="1">
            <a:off x="2416175" y="2644775"/>
            <a:ext cx="571500" cy="1214438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7421" name="Line 1152"/>
          <p:cNvSpPr>
            <a:spLocks noChangeShapeType="1"/>
          </p:cNvSpPr>
          <p:nvPr/>
        </p:nvSpPr>
        <p:spPr bwMode="auto">
          <a:xfrm flipH="1" flipV="1">
            <a:off x="3262313" y="2314575"/>
            <a:ext cx="296862" cy="14732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 smtClean="0">
                <a:solidFill>
                  <a:srgbClr val="FF0000"/>
                </a:solidFill>
              </a:rPr>
              <a:t>Risk Assessment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2188" y="1309688"/>
            <a:ext cx="8640762" cy="47117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smtClean="0">
                <a:latin typeface="Britannic Bold" pitchFamily="34" charset="0"/>
              </a:rPr>
              <a:t>Nature of the work/Sifat Pekerjaan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>
                <a:latin typeface="Britannic Bold" pitchFamily="34" charset="0"/>
              </a:rPr>
              <a:t>Work location/Lokasi Pekerjaan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>
                <a:latin typeface="Britannic Bold" pitchFamily="34" charset="0"/>
              </a:rPr>
              <a:t>Equipment Using/perlengkapan yg digunakan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>
                <a:latin typeface="Britannic Bold" pitchFamily="34" charset="0"/>
              </a:rPr>
              <a:t>Potential Exposure to Work Site Hazards/paparan potensi bahaya thd tempat kerja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>
                <a:latin typeface="Britannic Bold" pitchFamily="34" charset="0"/>
              </a:rPr>
              <a:t>Potential Exposure to Personnel Hazards/paparan bahaya thd pekerja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>
                <a:latin typeface="Britannic Bold" pitchFamily="34" charset="0"/>
              </a:rPr>
              <a:t>Simultaneous work by different/several contractors/pekerjaan yg dilakukan secara simultan oleh beberapa Contractors di tempat yg sama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>
                <a:latin typeface="Britannic Bold" pitchFamily="34" charset="0"/>
              </a:rPr>
              <a:t>Work duration / lamanya pekerjaan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>
                <a:latin typeface="Britannic Bold" pitchFamily="34" charset="0"/>
              </a:rPr>
              <a:t>Experience and competency of Contractors/pengalaman&amp;keahlian Contractor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>
                <a:latin typeface="Britannic Bold" pitchFamily="34" charset="0"/>
              </a:rPr>
              <a:t>Social and Environmental Negative Impacts/dampak negatif thd masyarakat&amp;lingkungan</a:t>
            </a:r>
          </a:p>
          <a:p>
            <a:pPr eaLnBrk="1" hangingPunct="1">
              <a:lnSpc>
                <a:spcPct val="90000"/>
              </a:lnSpc>
            </a:pPr>
            <a:endParaRPr lang="en-US" sz="2000" smtClean="0">
              <a:latin typeface="Britannic Bold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60" name="Rectangle 4"/>
          <p:cNvSpPr>
            <a:spLocks noChangeArrowheads="1"/>
          </p:cNvSpPr>
          <p:nvPr/>
        </p:nvSpPr>
        <p:spPr bwMode="auto">
          <a:xfrm>
            <a:off x="631825" y="188913"/>
            <a:ext cx="1439863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Menentukan Persyaratan</a:t>
            </a:r>
          </a:p>
        </p:txBody>
      </p:sp>
      <p:sp>
        <p:nvSpPr>
          <p:cNvPr id="173062" name="Rectangle 6"/>
          <p:cNvSpPr>
            <a:spLocks noChangeArrowheads="1"/>
          </p:cNvSpPr>
          <p:nvPr/>
        </p:nvSpPr>
        <p:spPr bwMode="auto">
          <a:xfrm>
            <a:off x="631825" y="765175"/>
            <a:ext cx="1439863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Mengidentifkkasi </a:t>
            </a:r>
          </a:p>
          <a:p>
            <a:pPr algn="ctr"/>
            <a:r>
              <a:rPr lang="en-US" sz="1000" b="0"/>
              <a:t>Risiko dan mengisi </a:t>
            </a:r>
          </a:p>
          <a:p>
            <a:pPr algn="ctr"/>
            <a:r>
              <a:rPr lang="en-US" sz="1000" b="0"/>
              <a:t>Form No.1</a:t>
            </a:r>
          </a:p>
        </p:txBody>
      </p:sp>
      <p:sp>
        <p:nvSpPr>
          <p:cNvPr id="173064" name="Rectangle 8"/>
          <p:cNvSpPr>
            <a:spLocks noChangeArrowheads="1"/>
          </p:cNvSpPr>
          <p:nvPr/>
        </p:nvSpPr>
        <p:spPr bwMode="auto">
          <a:xfrm>
            <a:off x="631825" y="1557338"/>
            <a:ext cx="1439863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Pengesahan Formulir </a:t>
            </a:r>
          </a:p>
          <a:p>
            <a:pPr algn="ctr"/>
            <a:r>
              <a:rPr lang="en-US" sz="1000" b="0"/>
              <a:t>oleh Project Mgr</a:t>
            </a:r>
          </a:p>
        </p:txBody>
      </p:sp>
      <p:sp>
        <p:nvSpPr>
          <p:cNvPr id="173065" name="Rectangle 9"/>
          <p:cNvSpPr>
            <a:spLocks noChangeArrowheads="1"/>
          </p:cNvSpPr>
          <p:nvPr/>
        </p:nvSpPr>
        <p:spPr bwMode="auto">
          <a:xfrm>
            <a:off x="631825" y="2349500"/>
            <a:ext cx="1439863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Menentukan</a:t>
            </a:r>
          </a:p>
          <a:p>
            <a:pPr algn="ctr"/>
            <a:r>
              <a:rPr lang="en-US" sz="1000" b="0"/>
              <a:t> Persyaratan</a:t>
            </a:r>
          </a:p>
        </p:txBody>
      </p:sp>
      <p:sp>
        <p:nvSpPr>
          <p:cNvPr id="173066" name="AutoShape 10"/>
          <p:cNvSpPr>
            <a:spLocks noChangeArrowheads="1"/>
          </p:cNvSpPr>
          <p:nvPr/>
        </p:nvSpPr>
        <p:spPr bwMode="auto">
          <a:xfrm>
            <a:off x="704850" y="2924175"/>
            <a:ext cx="1295400" cy="100965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Diperlukan </a:t>
            </a:r>
          </a:p>
          <a:p>
            <a:pPr algn="ctr"/>
            <a:r>
              <a:rPr lang="en-US" sz="1000" b="0"/>
              <a:t>Verifikasi K3LL?</a:t>
            </a:r>
          </a:p>
        </p:txBody>
      </p:sp>
      <p:sp>
        <p:nvSpPr>
          <p:cNvPr id="173068" name="Rectangle 12"/>
          <p:cNvSpPr>
            <a:spLocks noChangeArrowheads="1"/>
          </p:cNvSpPr>
          <p:nvPr/>
        </p:nvSpPr>
        <p:spPr bwMode="auto">
          <a:xfrm>
            <a:off x="631825" y="4149725"/>
            <a:ext cx="1439863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Persetujuan</a:t>
            </a:r>
          </a:p>
          <a:p>
            <a:pPr algn="ctr"/>
            <a:r>
              <a:rPr lang="en-US" sz="1000" b="0"/>
              <a:t>Asset Mgr</a:t>
            </a:r>
          </a:p>
        </p:txBody>
      </p:sp>
      <p:sp>
        <p:nvSpPr>
          <p:cNvPr id="173069" name="AutoShape 13"/>
          <p:cNvSpPr>
            <a:spLocks noChangeArrowheads="1"/>
          </p:cNvSpPr>
          <p:nvPr/>
        </p:nvSpPr>
        <p:spPr bwMode="auto">
          <a:xfrm>
            <a:off x="776288" y="4724400"/>
            <a:ext cx="1150937" cy="936625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Disetujui?</a:t>
            </a:r>
          </a:p>
        </p:txBody>
      </p:sp>
      <p:sp>
        <p:nvSpPr>
          <p:cNvPr id="173070" name="Rectangle 14"/>
          <p:cNvSpPr>
            <a:spLocks noChangeArrowheads="1"/>
          </p:cNvSpPr>
          <p:nvPr/>
        </p:nvSpPr>
        <p:spPr bwMode="auto">
          <a:xfrm>
            <a:off x="631825" y="5805488"/>
            <a:ext cx="1439863" cy="431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Menyusun Rekuisisi</a:t>
            </a:r>
          </a:p>
          <a:p>
            <a:pPr algn="ctr"/>
            <a:r>
              <a:rPr lang="en-US" sz="1000" b="0"/>
              <a:t>Kontrak</a:t>
            </a:r>
          </a:p>
        </p:txBody>
      </p:sp>
      <p:sp>
        <p:nvSpPr>
          <p:cNvPr id="173071" name="Line 15"/>
          <p:cNvSpPr>
            <a:spLocks noChangeShapeType="1"/>
          </p:cNvSpPr>
          <p:nvPr/>
        </p:nvSpPr>
        <p:spPr bwMode="auto">
          <a:xfrm>
            <a:off x="1352550" y="620713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3072" name="Line 16"/>
          <p:cNvSpPr>
            <a:spLocks noChangeShapeType="1"/>
          </p:cNvSpPr>
          <p:nvPr/>
        </p:nvSpPr>
        <p:spPr bwMode="auto">
          <a:xfrm>
            <a:off x="1352550" y="141287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3073" name="Line 17"/>
          <p:cNvSpPr>
            <a:spLocks noChangeShapeType="1"/>
          </p:cNvSpPr>
          <p:nvPr/>
        </p:nvSpPr>
        <p:spPr bwMode="auto">
          <a:xfrm>
            <a:off x="1352550" y="220503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3074" name="Line 18"/>
          <p:cNvSpPr>
            <a:spLocks noChangeShapeType="1"/>
          </p:cNvSpPr>
          <p:nvPr/>
        </p:nvSpPr>
        <p:spPr bwMode="auto">
          <a:xfrm>
            <a:off x="1352550" y="2779713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3075" name="Line 19"/>
          <p:cNvSpPr>
            <a:spLocks noChangeShapeType="1"/>
          </p:cNvSpPr>
          <p:nvPr/>
        </p:nvSpPr>
        <p:spPr bwMode="auto">
          <a:xfrm>
            <a:off x="1352550" y="39338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3076" name="Line 20"/>
          <p:cNvSpPr>
            <a:spLocks noChangeShapeType="1"/>
          </p:cNvSpPr>
          <p:nvPr/>
        </p:nvSpPr>
        <p:spPr bwMode="auto">
          <a:xfrm>
            <a:off x="1352550" y="45815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3077" name="Line 21"/>
          <p:cNvSpPr>
            <a:spLocks noChangeShapeType="1"/>
          </p:cNvSpPr>
          <p:nvPr/>
        </p:nvSpPr>
        <p:spPr bwMode="auto">
          <a:xfrm>
            <a:off x="1352550" y="56610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173079" name="AutoShape 23"/>
          <p:cNvCxnSpPr>
            <a:cxnSpLocks noChangeShapeType="1"/>
            <a:stCxn id="173069" idx="3"/>
            <a:endCxn id="173062" idx="3"/>
          </p:cNvCxnSpPr>
          <p:nvPr/>
        </p:nvCxnSpPr>
        <p:spPr bwMode="auto">
          <a:xfrm flipV="1">
            <a:off x="1927225" y="1089025"/>
            <a:ext cx="144463" cy="4103688"/>
          </a:xfrm>
          <a:prstGeom prst="bentConnector3">
            <a:avLst>
              <a:gd name="adj1" fmla="val 13043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73080" name="Rectangle 24"/>
          <p:cNvSpPr>
            <a:spLocks noChangeArrowheads="1"/>
          </p:cNvSpPr>
          <p:nvPr/>
        </p:nvSpPr>
        <p:spPr bwMode="auto">
          <a:xfrm>
            <a:off x="2144713" y="3213100"/>
            <a:ext cx="1439862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0"/>
              <a:t>Memeriksa </a:t>
            </a:r>
          </a:p>
          <a:p>
            <a:pPr algn="ctr"/>
            <a:r>
              <a:rPr lang="en-US" sz="1000" b="0"/>
              <a:t>Penilaian Risiko</a:t>
            </a:r>
          </a:p>
        </p:txBody>
      </p:sp>
      <p:sp>
        <p:nvSpPr>
          <p:cNvPr id="173081" name="Line 25"/>
          <p:cNvSpPr>
            <a:spLocks noChangeShapeType="1"/>
          </p:cNvSpPr>
          <p:nvPr/>
        </p:nvSpPr>
        <p:spPr bwMode="auto">
          <a:xfrm>
            <a:off x="2000250" y="3429000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3082" name="Text Box 26"/>
          <p:cNvSpPr txBox="1">
            <a:spLocks noChangeArrowheads="1"/>
          </p:cNvSpPr>
          <p:nvPr/>
        </p:nvSpPr>
        <p:spPr bwMode="auto">
          <a:xfrm>
            <a:off x="1855788" y="3141663"/>
            <a:ext cx="338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Ya</a:t>
            </a:r>
          </a:p>
        </p:txBody>
      </p:sp>
      <p:sp>
        <p:nvSpPr>
          <p:cNvPr id="173083" name="Text Box 27"/>
          <p:cNvSpPr txBox="1">
            <a:spLocks noChangeArrowheads="1"/>
          </p:cNvSpPr>
          <p:nvPr/>
        </p:nvSpPr>
        <p:spPr bwMode="auto">
          <a:xfrm>
            <a:off x="1352550" y="5561013"/>
            <a:ext cx="338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Ya</a:t>
            </a:r>
          </a:p>
        </p:txBody>
      </p:sp>
      <p:sp>
        <p:nvSpPr>
          <p:cNvPr id="173084" name="Text Box 28"/>
          <p:cNvSpPr txBox="1">
            <a:spLocks noChangeArrowheads="1"/>
          </p:cNvSpPr>
          <p:nvPr/>
        </p:nvSpPr>
        <p:spPr bwMode="auto">
          <a:xfrm>
            <a:off x="1279525" y="3905250"/>
            <a:ext cx="514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Tidak</a:t>
            </a:r>
          </a:p>
        </p:txBody>
      </p:sp>
      <p:sp>
        <p:nvSpPr>
          <p:cNvPr id="20503" name="Text Box 30"/>
          <p:cNvSpPr txBox="1">
            <a:spLocks noChangeArrowheads="1"/>
          </p:cNvSpPr>
          <p:nvPr/>
        </p:nvSpPr>
        <p:spPr bwMode="auto">
          <a:xfrm>
            <a:off x="2360613" y="7938"/>
            <a:ext cx="38179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u="sng">
                <a:solidFill>
                  <a:srgbClr val="FF0000"/>
                </a:solidFill>
                <a:latin typeface="Castellar" pitchFamily="18" charset="0"/>
              </a:rPr>
              <a:t>Risk Assessment Process</a:t>
            </a:r>
          </a:p>
        </p:txBody>
      </p:sp>
      <p:pic>
        <p:nvPicPr>
          <p:cNvPr id="173087" name="Picture 31" descr="form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44938" y="549275"/>
            <a:ext cx="2832100" cy="320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3088" name="Picture 32" descr="form1_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21425" y="2852738"/>
            <a:ext cx="3513138" cy="327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7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7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3" dur="2000"/>
                                        <p:tgtEl>
                                          <p:spTgt spid="17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8" dur="2000"/>
                                        <p:tgtEl>
                                          <p:spTgt spid="17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0" grpId="0" animBg="1"/>
      <p:bldP spid="173062" grpId="0" animBg="1"/>
      <p:bldP spid="173064" grpId="0" animBg="1"/>
      <p:bldP spid="173065" grpId="0" animBg="1"/>
      <p:bldP spid="173066" grpId="0" animBg="1"/>
      <p:bldP spid="173068" grpId="0" animBg="1"/>
      <p:bldP spid="173069" grpId="0" animBg="1"/>
      <p:bldP spid="173070" grpId="0" animBg="1"/>
      <p:bldP spid="173071" grpId="0" animBg="1"/>
      <p:bldP spid="173072" grpId="0" animBg="1"/>
      <p:bldP spid="173073" grpId="0" animBg="1"/>
      <p:bldP spid="173074" grpId="0" animBg="1"/>
      <p:bldP spid="173075" grpId="0" animBg="1"/>
      <p:bldP spid="173076" grpId="0" animBg="1"/>
      <p:bldP spid="173077" grpId="0" animBg="1"/>
      <p:bldP spid="173080" grpId="0" animBg="1"/>
      <p:bldP spid="173081" grpId="0" animBg="1"/>
      <p:bldP spid="173082" grpId="0"/>
      <p:bldP spid="173083" grpId="0"/>
      <p:bldP spid="17308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15925" y="44450"/>
            <a:ext cx="9490075" cy="576263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u="sng" smtClean="0">
                <a:solidFill>
                  <a:srgbClr val="FF0000"/>
                </a:solidFill>
              </a:rPr>
              <a:t>Risk Assessment Matrix</a:t>
            </a:r>
          </a:p>
        </p:txBody>
      </p:sp>
      <p:pic>
        <p:nvPicPr>
          <p:cNvPr id="21507" name="Picture 4" descr="risk matri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5213" y="641350"/>
            <a:ext cx="7705725" cy="552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974725" y="549275"/>
            <a:ext cx="7291388" cy="557688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lIns="93670" tIns="46834" rIns="93670" bIns="46834" anchor="ctr"/>
          <a:lstStyle/>
          <a:p>
            <a:pPr defTabSz="819150" eaLnBrk="0" hangingPunct="0"/>
            <a:endParaRPr lang="en-US" sz="4600">
              <a:latin typeface="Arial Narrow" pitchFamily="34" charset="0"/>
            </a:endParaRPr>
          </a:p>
        </p:txBody>
      </p:sp>
      <p:sp>
        <p:nvSpPr>
          <p:cNvPr id="22531" name="Rectangle 5"/>
          <p:cNvSpPr>
            <a:spLocks noChangeArrowheads="1"/>
          </p:cNvSpPr>
          <p:nvPr/>
        </p:nvSpPr>
        <p:spPr bwMode="auto">
          <a:xfrm>
            <a:off x="974725" y="5437188"/>
            <a:ext cx="7291388" cy="731837"/>
          </a:xfrm>
          <a:prstGeom prst="rect">
            <a:avLst/>
          </a:prstGeom>
          <a:solidFill>
            <a:srgbClr val="0099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2" name="Rectangle 6"/>
          <p:cNvSpPr>
            <a:spLocks noChangeArrowheads="1"/>
          </p:cNvSpPr>
          <p:nvPr/>
        </p:nvSpPr>
        <p:spPr bwMode="auto">
          <a:xfrm>
            <a:off x="974725" y="549275"/>
            <a:ext cx="7291388" cy="1651000"/>
          </a:xfrm>
          <a:prstGeom prst="rect">
            <a:avLst/>
          </a:prstGeom>
          <a:solidFill>
            <a:srgbClr val="009900"/>
          </a:solidFill>
          <a:ln w="9525">
            <a:noFill/>
            <a:miter lim="800000"/>
            <a:headEnd/>
            <a:tailEnd/>
          </a:ln>
        </p:spPr>
        <p:txBody>
          <a:bodyPr wrap="none" lIns="93670" tIns="46834" rIns="93670" bIns="46834" anchor="ctr"/>
          <a:lstStyle/>
          <a:p>
            <a:pPr defTabSz="819150" eaLnBrk="0" hangingPunct="0"/>
            <a:endParaRPr lang="en-US" sz="4600">
              <a:latin typeface="Arial Narrow" pitchFamily="34" charset="0"/>
            </a:endParaRPr>
          </a:p>
        </p:txBody>
      </p:sp>
      <p:grpSp>
        <p:nvGrpSpPr>
          <p:cNvPr id="22533" name="Group 7"/>
          <p:cNvGrpSpPr>
            <a:grpSpLocks/>
          </p:cNvGrpSpPr>
          <p:nvPr/>
        </p:nvGrpSpPr>
        <p:grpSpPr bwMode="auto">
          <a:xfrm>
            <a:off x="1103313" y="831850"/>
            <a:ext cx="1044575" cy="1092200"/>
            <a:chOff x="2425" y="1910"/>
            <a:chExt cx="240" cy="259"/>
          </a:xfrm>
        </p:grpSpPr>
        <p:sp>
          <p:nvSpPr>
            <p:cNvPr id="22770" name="Freeform 8"/>
            <p:cNvSpPr>
              <a:spLocks/>
            </p:cNvSpPr>
            <p:nvPr/>
          </p:nvSpPr>
          <p:spPr bwMode="auto">
            <a:xfrm>
              <a:off x="2425" y="1910"/>
              <a:ext cx="240" cy="259"/>
            </a:xfrm>
            <a:custGeom>
              <a:avLst/>
              <a:gdLst>
                <a:gd name="T0" fmla="*/ 24 w 263"/>
                <a:gd name="T1" fmla="*/ 282 h 282"/>
                <a:gd name="T2" fmla="*/ 239 w 263"/>
                <a:gd name="T3" fmla="*/ 282 h 282"/>
                <a:gd name="T4" fmla="*/ 239 w 263"/>
                <a:gd name="T5" fmla="*/ 255 h 282"/>
                <a:gd name="T6" fmla="*/ 263 w 263"/>
                <a:gd name="T7" fmla="*/ 255 h 282"/>
                <a:gd name="T8" fmla="*/ 263 w 263"/>
                <a:gd name="T9" fmla="*/ 27 h 282"/>
                <a:gd name="T10" fmla="*/ 239 w 263"/>
                <a:gd name="T11" fmla="*/ 27 h 282"/>
                <a:gd name="T12" fmla="*/ 239 w 263"/>
                <a:gd name="T13" fmla="*/ 0 h 282"/>
                <a:gd name="T14" fmla="*/ 24 w 263"/>
                <a:gd name="T15" fmla="*/ 0 h 282"/>
                <a:gd name="T16" fmla="*/ 24 w 263"/>
                <a:gd name="T17" fmla="*/ 27 h 282"/>
                <a:gd name="T18" fmla="*/ 0 w 263"/>
                <a:gd name="T19" fmla="*/ 27 h 282"/>
                <a:gd name="T20" fmla="*/ 0 w 263"/>
                <a:gd name="T21" fmla="*/ 255 h 282"/>
                <a:gd name="T22" fmla="*/ 24 w 263"/>
                <a:gd name="T23" fmla="*/ 255 h 282"/>
                <a:gd name="T24" fmla="*/ 24 w 263"/>
                <a:gd name="T25" fmla="*/ 282 h 282"/>
                <a:gd name="T26" fmla="*/ 24 w 263"/>
                <a:gd name="T27" fmla="*/ 282 h 2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3"/>
                <a:gd name="T43" fmla="*/ 0 h 282"/>
                <a:gd name="T44" fmla="*/ 263 w 263"/>
                <a:gd name="T45" fmla="*/ 282 h 28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3" h="282">
                  <a:moveTo>
                    <a:pt x="24" y="282"/>
                  </a:moveTo>
                  <a:lnTo>
                    <a:pt x="239" y="282"/>
                  </a:lnTo>
                  <a:lnTo>
                    <a:pt x="239" y="255"/>
                  </a:lnTo>
                  <a:lnTo>
                    <a:pt x="263" y="255"/>
                  </a:lnTo>
                  <a:lnTo>
                    <a:pt x="263" y="27"/>
                  </a:lnTo>
                  <a:lnTo>
                    <a:pt x="239" y="27"/>
                  </a:lnTo>
                  <a:lnTo>
                    <a:pt x="239" y="0"/>
                  </a:lnTo>
                  <a:lnTo>
                    <a:pt x="24" y="0"/>
                  </a:lnTo>
                  <a:lnTo>
                    <a:pt x="24" y="27"/>
                  </a:lnTo>
                  <a:lnTo>
                    <a:pt x="0" y="27"/>
                  </a:lnTo>
                  <a:lnTo>
                    <a:pt x="0" y="255"/>
                  </a:lnTo>
                  <a:lnTo>
                    <a:pt x="24" y="255"/>
                  </a:lnTo>
                  <a:lnTo>
                    <a:pt x="24" y="28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71" name="Freeform 9"/>
            <p:cNvSpPr>
              <a:spLocks/>
            </p:cNvSpPr>
            <p:nvPr/>
          </p:nvSpPr>
          <p:spPr bwMode="auto">
            <a:xfrm>
              <a:off x="2425" y="1910"/>
              <a:ext cx="240" cy="259"/>
            </a:xfrm>
            <a:custGeom>
              <a:avLst/>
              <a:gdLst>
                <a:gd name="T0" fmla="*/ 24 w 263"/>
                <a:gd name="T1" fmla="*/ 282 h 282"/>
                <a:gd name="T2" fmla="*/ 239 w 263"/>
                <a:gd name="T3" fmla="*/ 282 h 282"/>
                <a:gd name="T4" fmla="*/ 239 w 263"/>
                <a:gd name="T5" fmla="*/ 255 h 282"/>
                <a:gd name="T6" fmla="*/ 263 w 263"/>
                <a:gd name="T7" fmla="*/ 255 h 282"/>
                <a:gd name="T8" fmla="*/ 263 w 263"/>
                <a:gd name="T9" fmla="*/ 27 h 282"/>
                <a:gd name="T10" fmla="*/ 239 w 263"/>
                <a:gd name="T11" fmla="*/ 27 h 282"/>
                <a:gd name="T12" fmla="*/ 239 w 263"/>
                <a:gd name="T13" fmla="*/ 0 h 282"/>
                <a:gd name="T14" fmla="*/ 24 w 263"/>
                <a:gd name="T15" fmla="*/ 0 h 282"/>
                <a:gd name="T16" fmla="*/ 24 w 263"/>
                <a:gd name="T17" fmla="*/ 27 h 282"/>
                <a:gd name="T18" fmla="*/ 0 w 263"/>
                <a:gd name="T19" fmla="*/ 27 h 282"/>
                <a:gd name="T20" fmla="*/ 0 w 263"/>
                <a:gd name="T21" fmla="*/ 255 h 282"/>
                <a:gd name="T22" fmla="*/ 24 w 263"/>
                <a:gd name="T23" fmla="*/ 255 h 282"/>
                <a:gd name="T24" fmla="*/ 24 w 263"/>
                <a:gd name="T25" fmla="*/ 282 h 28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63"/>
                <a:gd name="T40" fmla="*/ 0 h 282"/>
                <a:gd name="T41" fmla="*/ 263 w 263"/>
                <a:gd name="T42" fmla="*/ 282 h 28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63" h="282">
                  <a:moveTo>
                    <a:pt x="24" y="282"/>
                  </a:moveTo>
                  <a:lnTo>
                    <a:pt x="239" y="282"/>
                  </a:lnTo>
                  <a:lnTo>
                    <a:pt x="239" y="255"/>
                  </a:lnTo>
                  <a:lnTo>
                    <a:pt x="263" y="255"/>
                  </a:lnTo>
                  <a:lnTo>
                    <a:pt x="263" y="27"/>
                  </a:lnTo>
                  <a:lnTo>
                    <a:pt x="239" y="27"/>
                  </a:lnTo>
                  <a:lnTo>
                    <a:pt x="239" y="0"/>
                  </a:lnTo>
                  <a:lnTo>
                    <a:pt x="24" y="0"/>
                  </a:lnTo>
                  <a:lnTo>
                    <a:pt x="24" y="27"/>
                  </a:lnTo>
                  <a:lnTo>
                    <a:pt x="0" y="27"/>
                  </a:lnTo>
                  <a:lnTo>
                    <a:pt x="0" y="255"/>
                  </a:lnTo>
                  <a:lnTo>
                    <a:pt x="24" y="255"/>
                  </a:lnTo>
                  <a:lnTo>
                    <a:pt x="24" y="282"/>
                  </a:lnTo>
                </a:path>
              </a:pathLst>
            </a:custGeom>
            <a:noFill/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72" name="Line 10"/>
            <p:cNvSpPr>
              <a:spLocks noChangeShapeType="1"/>
            </p:cNvSpPr>
            <p:nvPr/>
          </p:nvSpPr>
          <p:spPr bwMode="auto">
            <a:xfrm>
              <a:off x="2478" y="1930"/>
              <a:ext cx="15" cy="3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73" name="Line 11"/>
            <p:cNvSpPr>
              <a:spLocks noChangeShapeType="1"/>
            </p:cNvSpPr>
            <p:nvPr/>
          </p:nvSpPr>
          <p:spPr bwMode="auto">
            <a:xfrm>
              <a:off x="2448" y="1956"/>
              <a:ext cx="26" cy="23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74" name="Line 12"/>
            <p:cNvSpPr>
              <a:spLocks noChangeShapeType="1"/>
            </p:cNvSpPr>
            <p:nvPr/>
          </p:nvSpPr>
          <p:spPr bwMode="auto">
            <a:xfrm flipV="1">
              <a:off x="2437" y="2037"/>
              <a:ext cx="31" cy="3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75" name="Line 13"/>
            <p:cNvSpPr>
              <a:spLocks noChangeShapeType="1"/>
            </p:cNvSpPr>
            <p:nvPr/>
          </p:nvSpPr>
          <p:spPr bwMode="auto">
            <a:xfrm flipH="1">
              <a:off x="2449" y="2073"/>
              <a:ext cx="33" cy="34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76" name="Line 14"/>
            <p:cNvSpPr>
              <a:spLocks noChangeShapeType="1"/>
            </p:cNvSpPr>
            <p:nvPr/>
          </p:nvSpPr>
          <p:spPr bwMode="auto">
            <a:xfrm flipH="1">
              <a:off x="2554" y="1920"/>
              <a:ext cx="1" cy="26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77" name="Line 15"/>
            <p:cNvSpPr>
              <a:spLocks noChangeShapeType="1"/>
            </p:cNvSpPr>
            <p:nvPr/>
          </p:nvSpPr>
          <p:spPr bwMode="auto">
            <a:xfrm flipH="1">
              <a:off x="2598" y="1932"/>
              <a:ext cx="26" cy="33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78" name="Line 16"/>
            <p:cNvSpPr>
              <a:spLocks noChangeShapeType="1"/>
            </p:cNvSpPr>
            <p:nvPr/>
          </p:nvSpPr>
          <p:spPr bwMode="auto">
            <a:xfrm flipV="1">
              <a:off x="2619" y="2015"/>
              <a:ext cx="37" cy="5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79" name="Line 17"/>
            <p:cNvSpPr>
              <a:spLocks noChangeShapeType="1"/>
            </p:cNvSpPr>
            <p:nvPr/>
          </p:nvSpPr>
          <p:spPr bwMode="auto">
            <a:xfrm>
              <a:off x="2610" y="2065"/>
              <a:ext cx="31" cy="3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80" name="Line 18"/>
            <p:cNvSpPr>
              <a:spLocks noChangeShapeType="1"/>
            </p:cNvSpPr>
            <p:nvPr/>
          </p:nvSpPr>
          <p:spPr bwMode="auto">
            <a:xfrm>
              <a:off x="2619" y="2043"/>
              <a:ext cx="23" cy="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81" name="Line 19"/>
            <p:cNvSpPr>
              <a:spLocks noChangeShapeType="1"/>
            </p:cNvSpPr>
            <p:nvPr/>
          </p:nvSpPr>
          <p:spPr bwMode="auto">
            <a:xfrm flipH="1">
              <a:off x="2454" y="2054"/>
              <a:ext cx="15" cy="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82" name="Line 20"/>
            <p:cNvSpPr>
              <a:spLocks noChangeShapeType="1"/>
            </p:cNvSpPr>
            <p:nvPr/>
          </p:nvSpPr>
          <p:spPr bwMode="auto">
            <a:xfrm flipV="1">
              <a:off x="2575" y="1933"/>
              <a:ext cx="5" cy="14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83" name="Freeform 21"/>
            <p:cNvSpPr>
              <a:spLocks/>
            </p:cNvSpPr>
            <p:nvPr/>
          </p:nvSpPr>
          <p:spPr bwMode="auto">
            <a:xfrm>
              <a:off x="2487" y="2124"/>
              <a:ext cx="116" cy="36"/>
            </a:xfrm>
            <a:custGeom>
              <a:avLst/>
              <a:gdLst>
                <a:gd name="T0" fmla="*/ 64 w 127"/>
                <a:gd name="T1" fmla="*/ 39 h 39"/>
                <a:gd name="T2" fmla="*/ 70 w 127"/>
                <a:gd name="T3" fmla="*/ 39 h 39"/>
                <a:gd name="T4" fmla="*/ 76 w 127"/>
                <a:gd name="T5" fmla="*/ 38 h 39"/>
                <a:gd name="T6" fmla="*/ 82 w 127"/>
                <a:gd name="T7" fmla="*/ 38 h 39"/>
                <a:gd name="T8" fmla="*/ 89 w 127"/>
                <a:gd name="T9" fmla="*/ 37 h 39"/>
                <a:gd name="T10" fmla="*/ 95 w 127"/>
                <a:gd name="T11" fmla="*/ 36 h 39"/>
                <a:gd name="T12" fmla="*/ 100 w 127"/>
                <a:gd name="T13" fmla="*/ 34 h 39"/>
                <a:gd name="T14" fmla="*/ 107 w 127"/>
                <a:gd name="T15" fmla="*/ 33 h 39"/>
                <a:gd name="T16" fmla="*/ 112 w 127"/>
                <a:gd name="T17" fmla="*/ 31 h 39"/>
                <a:gd name="T18" fmla="*/ 117 w 127"/>
                <a:gd name="T19" fmla="*/ 28 h 39"/>
                <a:gd name="T20" fmla="*/ 123 w 127"/>
                <a:gd name="T21" fmla="*/ 25 h 39"/>
                <a:gd name="T22" fmla="*/ 124 w 127"/>
                <a:gd name="T23" fmla="*/ 24 h 39"/>
                <a:gd name="T24" fmla="*/ 126 w 127"/>
                <a:gd name="T25" fmla="*/ 22 h 39"/>
                <a:gd name="T26" fmla="*/ 127 w 127"/>
                <a:gd name="T27" fmla="*/ 19 h 39"/>
                <a:gd name="T28" fmla="*/ 127 w 127"/>
                <a:gd name="T29" fmla="*/ 15 h 39"/>
                <a:gd name="T30" fmla="*/ 127 w 127"/>
                <a:gd name="T31" fmla="*/ 11 h 39"/>
                <a:gd name="T32" fmla="*/ 126 w 127"/>
                <a:gd name="T33" fmla="*/ 7 h 39"/>
                <a:gd name="T34" fmla="*/ 125 w 127"/>
                <a:gd name="T35" fmla="*/ 4 h 39"/>
                <a:gd name="T36" fmla="*/ 122 w 127"/>
                <a:gd name="T37" fmla="*/ 1 h 39"/>
                <a:gd name="T38" fmla="*/ 119 w 127"/>
                <a:gd name="T39" fmla="*/ 0 h 39"/>
                <a:gd name="T40" fmla="*/ 113 w 127"/>
                <a:gd name="T41" fmla="*/ 0 h 39"/>
                <a:gd name="T42" fmla="*/ 14 w 127"/>
                <a:gd name="T43" fmla="*/ 0 h 39"/>
                <a:gd name="T44" fmla="*/ 8 w 127"/>
                <a:gd name="T45" fmla="*/ 0 h 39"/>
                <a:gd name="T46" fmla="*/ 5 w 127"/>
                <a:gd name="T47" fmla="*/ 1 h 39"/>
                <a:gd name="T48" fmla="*/ 2 w 127"/>
                <a:gd name="T49" fmla="*/ 4 h 39"/>
                <a:gd name="T50" fmla="*/ 1 w 127"/>
                <a:gd name="T51" fmla="*/ 7 h 39"/>
                <a:gd name="T52" fmla="*/ 0 w 127"/>
                <a:gd name="T53" fmla="*/ 11 h 39"/>
                <a:gd name="T54" fmla="*/ 0 w 127"/>
                <a:gd name="T55" fmla="*/ 15 h 39"/>
                <a:gd name="T56" fmla="*/ 1 w 127"/>
                <a:gd name="T57" fmla="*/ 19 h 39"/>
                <a:gd name="T58" fmla="*/ 2 w 127"/>
                <a:gd name="T59" fmla="*/ 22 h 39"/>
                <a:gd name="T60" fmla="*/ 3 w 127"/>
                <a:gd name="T61" fmla="*/ 24 h 39"/>
                <a:gd name="T62" fmla="*/ 4 w 127"/>
                <a:gd name="T63" fmla="*/ 25 h 39"/>
                <a:gd name="T64" fmla="*/ 10 w 127"/>
                <a:gd name="T65" fmla="*/ 28 h 39"/>
                <a:gd name="T66" fmla="*/ 15 w 127"/>
                <a:gd name="T67" fmla="*/ 31 h 39"/>
                <a:gd name="T68" fmla="*/ 20 w 127"/>
                <a:gd name="T69" fmla="*/ 33 h 39"/>
                <a:gd name="T70" fmla="*/ 27 w 127"/>
                <a:gd name="T71" fmla="*/ 34 h 39"/>
                <a:gd name="T72" fmla="*/ 32 w 127"/>
                <a:gd name="T73" fmla="*/ 36 h 39"/>
                <a:gd name="T74" fmla="*/ 38 w 127"/>
                <a:gd name="T75" fmla="*/ 37 h 39"/>
                <a:gd name="T76" fmla="*/ 45 w 127"/>
                <a:gd name="T77" fmla="*/ 38 h 39"/>
                <a:gd name="T78" fmla="*/ 50 w 127"/>
                <a:gd name="T79" fmla="*/ 38 h 39"/>
                <a:gd name="T80" fmla="*/ 58 w 127"/>
                <a:gd name="T81" fmla="*/ 39 h 39"/>
                <a:gd name="T82" fmla="*/ 64 w 127"/>
                <a:gd name="T83" fmla="*/ 39 h 3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27"/>
                <a:gd name="T127" fmla="*/ 0 h 39"/>
                <a:gd name="T128" fmla="*/ 127 w 127"/>
                <a:gd name="T129" fmla="*/ 39 h 3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27" h="39">
                  <a:moveTo>
                    <a:pt x="64" y="39"/>
                  </a:moveTo>
                  <a:lnTo>
                    <a:pt x="70" y="39"/>
                  </a:lnTo>
                  <a:lnTo>
                    <a:pt x="76" y="38"/>
                  </a:lnTo>
                  <a:lnTo>
                    <a:pt x="82" y="38"/>
                  </a:lnTo>
                  <a:lnTo>
                    <a:pt x="89" y="37"/>
                  </a:lnTo>
                  <a:lnTo>
                    <a:pt x="95" y="36"/>
                  </a:lnTo>
                  <a:lnTo>
                    <a:pt x="100" y="34"/>
                  </a:lnTo>
                  <a:lnTo>
                    <a:pt x="107" y="33"/>
                  </a:lnTo>
                  <a:lnTo>
                    <a:pt x="112" y="31"/>
                  </a:lnTo>
                  <a:lnTo>
                    <a:pt x="117" y="28"/>
                  </a:lnTo>
                  <a:lnTo>
                    <a:pt x="123" y="25"/>
                  </a:lnTo>
                  <a:lnTo>
                    <a:pt x="124" y="24"/>
                  </a:lnTo>
                  <a:lnTo>
                    <a:pt x="126" y="22"/>
                  </a:lnTo>
                  <a:lnTo>
                    <a:pt x="127" y="19"/>
                  </a:lnTo>
                  <a:lnTo>
                    <a:pt x="127" y="15"/>
                  </a:lnTo>
                  <a:lnTo>
                    <a:pt x="127" y="11"/>
                  </a:lnTo>
                  <a:lnTo>
                    <a:pt x="126" y="7"/>
                  </a:lnTo>
                  <a:lnTo>
                    <a:pt x="125" y="4"/>
                  </a:lnTo>
                  <a:lnTo>
                    <a:pt x="122" y="1"/>
                  </a:lnTo>
                  <a:lnTo>
                    <a:pt x="119" y="0"/>
                  </a:lnTo>
                  <a:lnTo>
                    <a:pt x="113" y="0"/>
                  </a:lnTo>
                  <a:lnTo>
                    <a:pt x="14" y="0"/>
                  </a:lnTo>
                  <a:lnTo>
                    <a:pt x="8" y="0"/>
                  </a:lnTo>
                  <a:lnTo>
                    <a:pt x="5" y="1"/>
                  </a:lnTo>
                  <a:lnTo>
                    <a:pt x="2" y="4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1" y="19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4" y="25"/>
                  </a:lnTo>
                  <a:lnTo>
                    <a:pt x="10" y="28"/>
                  </a:lnTo>
                  <a:lnTo>
                    <a:pt x="15" y="31"/>
                  </a:lnTo>
                  <a:lnTo>
                    <a:pt x="20" y="33"/>
                  </a:lnTo>
                  <a:lnTo>
                    <a:pt x="27" y="34"/>
                  </a:lnTo>
                  <a:lnTo>
                    <a:pt x="32" y="36"/>
                  </a:lnTo>
                  <a:lnTo>
                    <a:pt x="38" y="37"/>
                  </a:lnTo>
                  <a:lnTo>
                    <a:pt x="45" y="38"/>
                  </a:lnTo>
                  <a:lnTo>
                    <a:pt x="50" y="38"/>
                  </a:lnTo>
                  <a:lnTo>
                    <a:pt x="58" y="39"/>
                  </a:lnTo>
                  <a:lnTo>
                    <a:pt x="64" y="3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84" name="Freeform 22"/>
            <p:cNvSpPr>
              <a:spLocks/>
            </p:cNvSpPr>
            <p:nvPr/>
          </p:nvSpPr>
          <p:spPr bwMode="auto">
            <a:xfrm>
              <a:off x="2487" y="2124"/>
              <a:ext cx="116" cy="36"/>
            </a:xfrm>
            <a:custGeom>
              <a:avLst/>
              <a:gdLst>
                <a:gd name="T0" fmla="*/ 64 w 127"/>
                <a:gd name="T1" fmla="*/ 39 h 39"/>
                <a:gd name="T2" fmla="*/ 70 w 127"/>
                <a:gd name="T3" fmla="*/ 39 h 39"/>
                <a:gd name="T4" fmla="*/ 76 w 127"/>
                <a:gd name="T5" fmla="*/ 38 h 39"/>
                <a:gd name="T6" fmla="*/ 82 w 127"/>
                <a:gd name="T7" fmla="*/ 38 h 39"/>
                <a:gd name="T8" fmla="*/ 89 w 127"/>
                <a:gd name="T9" fmla="*/ 37 h 39"/>
                <a:gd name="T10" fmla="*/ 95 w 127"/>
                <a:gd name="T11" fmla="*/ 36 h 39"/>
                <a:gd name="T12" fmla="*/ 100 w 127"/>
                <a:gd name="T13" fmla="*/ 34 h 39"/>
                <a:gd name="T14" fmla="*/ 107 w 127"/>
                <a:gd name="T15" fmla="*/ 33 h 39"/>
                <a:gd name="T16" fmla="*/ 112 w 127"/>
                <a:gd name="T17" fmla="*/ 31 h 39"/>
                <a:gd name="T18" fmla="*/ 117 w 127"/>
                <a:gd name="T19" fmla="*/ 28 h 39"/>
                <a:gd name="T20" fmla="*/ 123 w 127"/>
                <a:gd name="T21" fmla="*/ 25 h 39"/>
                <a:gd name="T22" fmla="*/ 124 w 127"/>
                <a:gd name="T23" fmla="*/ 24 h 39"/>
                <a:gd name="T24" fmla="*/ 126 w 127"/>
                <a:gd name="T25" fmla="*/ 22 h 39"/>
                <a:gd name="T26" fmla="*/ 127 w 127"/>
                <a:gd name="T27" fmla="*/ 19 h 39"/>
                <a:gd name="T28" fmla="*/ 127 w 127"/>
                <a:gd name="T29" fmla="*/ 15 h 39"/>
                <a:gd name="T30" fmla="*/ 127 w 127"/>
                <a:gd name="T31" fmla="*/ 11 h 39"/>
                <a:gd name="T32" fmla="*/ 126 w 127"/>
                <a:gd name="T33" fmla="*/ 7 h 39"/>
                <a:gd name="T34" fmla="*/ 125 w 127"/>
                <a:gd name="T35" fmla="*/ 4 h 39"/>
                <a:gd name="T36" fmla="*/ 122 w 127"/>
                <a:gd name="T37" fmla="*/ 1 h 39"/>
                <a:gd name="T38" fmla="*/ 119 w 127"/>
                <a:gd name="T39" fmla="*/ 0 h 39"/>
                <a:gd name="T40" fmla="*/ 113 w 127"/>
                <a:gd name="T41" fmla="*/ 0 h 39"/>
                <a:gd name="T42" fmla="*/ 14 w 127"/>
                <a:gd name="T43" fmla="*/ 0 h 39"/>
                <a:gd name="T44" fmla="*/ 8 w 127"/>
                <a:gd name="T45" fmla="*/ 0 h 39"/>
                <a:gd name="T46" fmla="*/ 5 w 127"/>
                <a:gd name="T47" fmla="*/ 1 h 39"/>
                <a:gd name="T48" fmla="*/ 2 w 127"/>
                <a:gd name="T49" fmla="*/ 4 h 39"/>
                <a:gd name="T50" fmla="*/ 1 w 127"/>
                <a:gd name="T51" fmla="*/ 7 h 39"/>
                <a:gd name="T52" fmla="*/ 0 w 127"/>
                <a:gd name="T53" fmla="*/ 11 h 39"/>
                <a:gd name="T54" fmla="*/ 0 w 127"/>
                <a:gd name="T55" fmla="*/ 15 h 39"/>
                <a:gd name="T56" fmla="*/ 1 w 127"/>
                <a:gd name="T57" fmla="*/ 19 h 39"/>
                <a:gd name="T58" fmla="*/ 2 w 127"/>
                <a:gd name="T59" fmla="*/ 22 h 39"/>
                <a:gd name="T60" fmla="*/ 3 w 127"/>
                <a:gd name="T61" fmla="*/ 24 h 39"/>
                <a:gd name="T62" fmla="*/ 4 w 127"/>
                <a:gd name="T63" fmla="*/ 25 h 39"/>
                <a:gd name="T64" fmla="*/ 10 w 127"/>
                <a:gd name="T65" fmla="*/ 28 h 39"/>
                <a:gd name="T66" fmla="*/ 15 w 127"/>
                <a:gd name="T67" fmla="*/ 31 h 39"/>
                <a:gd name="T68" fmla="*/ 20 w 127"/>
                <a:gd name="T69" fmla="*/ 33 h 39"/>
                <a:gd name="T70" fmla="*/ 27 w 127"/>
                <a:gd name="T71" fmla="*/ 34 h 39"/>
                <a:gd name="T72" fmla="*/ 32 w 127"/>
                <a:gd name="T73" fmla="*/ 36 h 39"/>
                <a:gd name="T74" fmla="*/ 38 w 127"/>
                <a:gd name="T75" fmla="*/ 37 h 39"/>
                <a:gd name="T76" fmla="*/ 45 w 127"/>
                <a:gd name="T77" fmla="*/ 38 h 39"/>
                <a:gd name="T78" fmla="*/ 50 w 127"/>
                <a:gd name="T79" fmla="*/ 38 h 39"/>
                <a:gd name="T80" fmla="*/ 58 w 127"/>
                <a:gd name="T81" fmla="*/ 39 h 39"/>
                <a:gd name="T82" fmla="*/ 64 w 127"/>
                <a:gd name="T83" fmla="*/ 39 h 3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27"/>
                <a:gd name="T127" fmla="*/ 0 h 39"/>
                <a:gd name="T128" fmla="*/ 127 w 127"/>
                <a:gd name="T129" fmla="*/ 39 h 3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27" h="39">
                  <a:moveTo>
                    <a:pt x="64" y="39"/>
                  </a:moveTo>
                  <a:lnTo>
                    <a:pt x="70" y="39"/>
                  </a:lnTo>
                  <a:lnTo>
                    <a:pt x="76" y="38"/>
                  </a:lnTo>
                  <a:lnTo>
                    <a:pt x="82" y="38"/>
                  </a:lnTo>
                  <a:lnTo>
                    <a:pt x="89" y="37"/>
                  </a:lnTo>
                  <a:lnTo>
                    <a:pt x="95" y="36"/>
                  </a:lnTo>
                  <a:lnTo>
                    <a:pt x="100" y="34"/>
                  </a:lnTo>
                  <a:lnTo>
                    <a:pt x="107" y="33"/>
                  </a:lnTo>
                  <a:lnTo>
                    <a:pt x="112" y="31"/>
                  </a:lnTo>
                  <a:lnTo>
                    <a:pt x="117" y="28"/>
                  </a:lnTo>
                  <a:lnTo>
                    <a:pt x="123" y="25"/>
                  </a:lnTo>
                  <a:lnTo>
                    <a:pt x="124" y="24"/>
                  </a:lnTo>
                  <a:lnTo>
                    <a:pt x="126" y="22"/>
                  </a:lnTo>
                  <a:lnTo>
                    <a:pt x="127" y="19"/>
                  </a:lnTo>
                  <a:lnTo>
                    <a:pt x="127" y="15"/>
                  </a:lnTo>
                  <a:lnTo>
                    <a:pt x="127" y="11"/>
                  </a:lnTo>
                  <a:lnTo>
                    <a:pt x="126" y="7"/>
                  </a:lnTo>
                  <a:lnTo>
                    <a:pt x="125" y="4"/>
                  </a:lnTo>
                  <a:lnTo>
                    <a:pt x="122" y="1"/>
                  </a:lnTo>
                  <a:lnTo>
                    <a:pt x="119" y="0"/>
                  </a:lnTo>
                  <a:lnTo>
                    <a:pt x="113" y="0"/>
                  </a:lnTo>
                  <a:lnTo>
                    <a:pt x="14" y="0"/>
                  </a:lnTo>
                  <a:lnTo>
                    <a:pt x="8" y="0"/>
                  </a:lnTo>
                  <a:lnTo>
                    <a:pt x="5" y="1"/>
                  </a:lnTo>
                  <a:lnTo>
                    <a:pt x="2" y="4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1" y="19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4" y="25"/>
                  </a:lnTo>
                  <a:lnTo>
                    <a:pt x="10" y="28"/>
                  </a:lnTo>
                  <a:lnTo>
                    <a:pt x="15" y="31"/>
                  </a:lnTo>
                  <a:lnTo>
                    <a:pt x="20" y="33"/>
                  </a:lnTo>
                  <a:lnTo>
                    <a:pt x="27" y="34"/>
                  </a:lnTo>
                  <a:lnTo>
                    <a:pt x="32" y="36"/>
                  </a:lnTo>
                  <a:lnTo>
                    <a:pt x="38" y="37"/>
                  </a:lnTo>
                  <a:lnTo>
                    <a:pt x="45" y="38"/>
                  </a:lnTo>
                  <a:lnTo>
                    <a:pt x="50" y="38"/>
                  </a:lnTo>
                  <a:lnTo>
                    <a:pt x="58" y="39"/>
                  </a:lnTo>
                  <a:lnTo>
                    <a:pt x="64" y="39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85" name="Freeform 23"/>
            <p:cNvSpPr>
              <a:spLocks/>
            </p:cNvSpPr>
            <p:nvPr/>
          </p:nvSpPr>
          <p:spPr bwMode="auto">
            <a:xfrm>
              <a:off x="2493" y="2095"/>
              <a:ext cx="104" cy="45"/>
            </a:xfrm>
            <a:custGeom>
              <a:avLst/>
              <a:gdLst>
                <a:gd name="T0" fmla="*/ 56 w 113"/>
                <a:gd name="T1" fmla="*/ 49 h 49"/>
                <a:gd name="T2" fmla="*/ 62 w 113"/>
                <a:gd name="T3" fmla="*/ 49 h 49"/>
                <a:gd name="T4" fmla="*/ 69 w 113"/>
                <a:gd name="T5" fmla="*/ 48 h 49"/>
                <a:gd name="T6" fmla="*/ 74 w 113"/>
                <a:gd name="T7" fmla="*/ 48 h 49"/>
                <a:gd name="T8" fmla="*/ 79 w 113"/>
                <a:gd name="T9" fmla="*/ 47 h 49"/>
                <a:gd name="T10" fmla="*/ 85 w 113"/>
                <a:gd name="T11" fmla="*/ 46 h 49"/>
                <a:gd name="T12" fmla="*/ 90 w 113"/>
                <a:gd name="T13" fmla="*/ 43 h 49"/>
                <a:gd name="T14" fmla="*/ 95 w 113"/>
                <a:gd name="T15" fmla="*/ 41 h 49"/>
                <a:gd name="T16" fmla="*/ 101 w 113"/>
                <a:gd name="T17" fmla="*/ 39 h 49"/>
                <a:gd name="T18" fmla="*/ 105 w 113"/>
                <a:gd name="T19" fmla="*/ 37 h 49"/>
                <a:gd name="T20" fmla="*/ 109 w 113"/>
                <a:gd name="T21" fmla="*/ 35 h 49"/>
                <a:gd name="T22" fmla="*/ 112 w 113"/>
                <a:gd name="T23" fmla="*/ 33 h 49"/>
                <a:gd name="T24" fmla="*/ 113 w 113"/>
                <a:gd name="T25" fmla="*/ 29 h 49"/>
                <a:gd name="T26" fmla="*/ 113 w 113"/>
                <a:gd name="T27" fmla="*/ 24 h 49"/>
                <a:gd name="T28" fmla="*/ 112 w 113"/>
                <a:gd name="T29" fmla="*/ 19 h 49"/>
                <a:gd name="T30" fmla="*/ 110 w 113"/>
                <a:gd name="T31" fmla="*/ 14 h 49"/>
                <a:gd name="T32" fmla="*/ 109 w 113"/>
                <a:gd name="T33" fmla="*/ 8 h 49"/>
                <a:gd name="T34" fmla="*/ 107 w 113"/>
                <a:gd name="T35" fmla="*/ 4 h 49"/>
                <a:gd name="T36" fmla="*/ 104 w 113"/>
                <a:gd name="T37" fmla="*/ 1 h 49"/>
                <a:gd name="T38" fmla="*/ 101 w 113"/>
                <a:gd name="T39" fmla="*/ 0 h 49"/>
                <a:gd name="T40" fmla="*/ 97 w 113"/>
                <a:gd name="T41" fmla="*/ 1 h 49"/>
                <a:gd name="T42" fmla="*/ 16 w 113"/>
                <a:gd name="T43" fmla="*/ 1 h 49"/>
                <a:gd name="T44" fmla="*/ 12 w 113"/>
                <a:gd name="T45" fmla="*/ 0 h 49"/>
                <a:gd name="T46" fmla="*/ 9 w 113"/>
                <a:gd name="T47" fmla="*/ 1 h 49"/>
                <a:gd name="T48" fmla="*/ 6 w 113"/>
                <a:gd name="T49" fmla="*/ 4 h 49"/>
                <a:gd name="T50" fmla="*/ 4 w 113"/>
                <a:gd name="T51" fmla="*/ 8 h 49"/>
                <a:gd name="T52" fmla="*/ 3 w 113"/>
                <a:gd name="T53" fmla="*/ 14 h 49"/>
                <a:gd name="T54" fmla="*/ 0 w 113"/>
                <a:gd name="T55" fmla="*/ 19 h 49"/>
                <a:gd name="T56" fmla="*/ 0 w 113"/>
                <a:gd name="T57" fmla="*/ 24 h 49"/>
                <a:gd name="T58" fmla="*/ 0 w 113"/>
                <a:gd name="T59" fmla="*/ 29 h 49"/>
                <a:gd name="T60" fmla="*/ 1 w 113"/>
                <a:gd name="T61" fmla="*/ 33 h 49"/>
                <a:gd name="T62" fmla="*/ 4 w 113"/>
                <a:gd name="T63" fmla="*/ 35 h 49"/>
                <a:gd name="T64" fmla="*/ 8 w 113"/>
                <a:gd name="T65" fmla="*/ 37 h 49"/>
                <a:gd name="T66" fmla="*/ 12 w 113"/>
                <a:gd name="T67" fmla="*/ 39 h 49"/>
                <a:gd name="T68" fmla="*/ 17 w 113"/>
                <a:gd name="T69" fmla="*/ 41 h 49"/>
                <a:gd name="T70" fmla="*/ 23 w 113"/>
                <a:gd name="T71" fmla="*/ 43 h 49"/>
                <a:gd name="T72" fmla="*/ 28 w 113"/>
                <a:gd name="T73" fmla="*/ 46 h 49"/>
                <a:gd name="T74" fmla="*/ 34 w 113"/>
                <a:gd name="T75" fmla="*/ 47 h 49"/>
                <a:gd name="T76" fmla="*/ 39 w 113"/>
                <a:gd name="T77" fmla="*/ 48 h 49"/>
                <a:gd name="T78" fmla="*/ 44 w 113"/>
                <a:gd name="T79" fmla="*/ 48 h 49"/>
                <a:gd name="T80" fmla="*/ 51 w 113"/>
                <a:gd name="T81" fmla="*/ 49 h 49"/>
                <a:gd name="T82" fmla="*/ 56 w 113"/>
                <a:gd name="T83" fmla="*/ 49 h 4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13"/>
                <a:gd name="T127" fmla="*/ 0 h 49"/>
                <a:gd name="T128" fmla="*/ 113 w 113"/>
                <a:gd name="T129" fmla="*/ 49 h 4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13" h="49">
                  <a:moveTo>
                    <a:pt x="56" y="49"/>
                  </a:moveTo>
                  <a:lnTo>
                    <a:pt x="62" y="49"/>
                  </a:lnTo>
                  <a:lnTo>
                    <a:pt x="69" y="48"/>
                  </a:lnTo>
                  <a:lnTo>
                    <a:pt x="74" y="48"/>
                  </a:lnTo>
                  <a:lnTo>
                    <a:pt x="79" y="47"/>
                  </a:lnTo>
                  <a:lnTo>
                    <a:pt x="85" y="46"/>
                  </a:lnTo>
                  <a:lnTo>
                    <a:pt x="90" y="43"/>
                  </a:lnTo>
                  <a:lnTo>
                    <a:pt x="95" y="41"/>
                  </a:lnTo>
                  <a:lnTo>
                    <a:pt x="101" y="39"/>
                  </a:lnTo>
                  <a:lnTo>
                    <a:pt x="105" y="37"/>
                  </a:lnTo>
                  <a:lnTo>
                    <a:pt x="109" y="35"/>
                  </a:lnTo>
                  <a:lnTo>
                    <a:pt x="112" y="33"/>
                  </a:lnTo>
                  <a:lnTo>
                    <a:pt x="113" y="29"/>
                  </a:lnTo>
                  <a:lnTo>
                    <a:pt x="113" y="24"/>
                  </a:lnTo>
                  <a:lnTo>
                    <a:pt x="112" y="19"/>
                  </a:lnTo>
                  <a:lnTo>
                    <a:pt x="110" y="14"/>
                  </a:lnTo>
                  <a:lnTo>
                    <a:pt x="109" y="8"/>
                  </a:lnTo>
                  <a:lnTo>
                    <a:pt x="107" y="4"/>
                  </a:lnTo>
                  <a:lnTo>
                    <a:pt x="104" y="1"/>
                  </a:lnTo>
                  <a:lnTo>
                    <a:pt x="101" y="0"/>
                  </a:lnTo>
                  <a:lnTo>
                    <a:pt x="97" y="1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9" y="1"/>
                  </a:lnTo>
                  <a:lnTo>
                    <a:pt x="6" y="4"/>
                  </a:lnTo>
                  <a:lnTo>
                    <a:pt x="4" y="8"/>
                  </a:lnTo>
                  <a:lnTo>
                    <a:pt x="3" y="14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1" y="33"/>
                  </a:lnTo>
                  <a:lnTo>
                    <a:pt x="4" y="35"/>
                  </a:lnTo>
                  <a:lnTo>
                    <a:pt x="8" y="37"/>
                  </a:lnTo>
                  <a:lnTo>
                    <a:pt x="12" y="39"/>
                  </a:lnTo>
                  <a:lnTo>
                    <a:pt x="17" y="41"/>
                  </a:lnTo>
                  <a:lnTo>
                    <a:pt x="23" y="43"/>
                  </a:lnTo>
                  <a:lnTo>
                    <a:pt x="28" y="46"/>
                  </a:lnTo>
                  <a:lnTo>
                    <a:pt x="34" y="47"/>
                  </a:lnTo>
                  <a:lnTo>
                    <a:pt x="39" y="48"/>
                  </a:lnTo>
                  <a:lnTo>
                    <a:pt x="44" y="48"/>
                  </a:lnTo>
                  <a:lnTo>
                    <a:pt x="51" y="49"/>
                  </a:lnTo>
                  <a:lnTo>
                    <a:pt x="56" y="4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86" name="Freeform 24"/>
            <p:cNvSpPr>
              <a:spLocks/>
            </p:cNvSpPr>
            <p:nvPr/>
          </p:nvSpPr>
          <p:spPr bwMode="auto">
            <a:xfrm>
              <a:off x="2493" y="2095"/>
              <a:ext cx="104" cy="45"/>
            </a:xfrm>
            <a:custGeom>
              <a:avLst/>
              <a:gdLst>
                <a:gd name="T0" fmla="*/ 56 w 113"/>
                <a:gd name="T1" fmla="*/ 49 h 49"/>
                <a:gd name="T2" fmla="*/ 62 w 113"/>
                <a:gd name="T3" fmla="*/ 49 h 49"/>
                <a:gd name="T4" fmla="*/ 69 w 113"/>
                <a:gd name="T5" fmla="*/ 48 h 49"/>
                <a:gd name="T6" fmla="*/ 74 w 113"/>
                <a:gd name="T7" fmla="*/ 48 h 49"/>
                <a:gd name="T8" fmla="*/ 79 w 113"/>
                <a:gd name="T9" fmla="*/ 47 h 49"/>
                <a:gd name="T10" fmla="*/ 85 w 113"/>
                <a:gd name="T11" fmla="*/ 46 h 49"/>
                <a:gd name="T12" fmla="*/ 90 w 113"/>
                <a:gd name="T13" fmla="*/ 43 h 49"/>
                <a:gd name="T14" fmla="*/ 95 w 113"/>
                <a:gd name="T15" fmla="*/ 41 h 49"/>
                <a:gd name="T16" fmla="*/ 101 w 113"/>
                <a:gd name="T17" fmla="*/ 39 h 49"/>
                <a:gd name="T18" fmla="*/ 105 w 113"/>
                <a:gd name="T19" fmla="*/ 37 h 49"/>
                <a:gd name="T20" fmla="*/ 109 w 113"/>
                <a:gd name="T21" fmla="*/ 35 h 49"/>
                <a:gd name="T22" fmla="*/ 112 w 113"/>
                <a:gd name="T23" fmla="*/ 33 h 49"/>
                <a:gd name="T24" fmla="*/ 113 w 113"/>
                <a:gd name="T25" fmla="*/ 29 h 49"/>
                <a:gd name="T26" fmla="*/ 113 w 113"/>
                <a:gd name="T27" fmla="*/ 24 h 49"/>
                <a:gd name="T28" fmla="*/ 112 w 113"/>
                <a:gd name="T29" fmla="*/ 19 h 49"/>
                <a:gd name="T30" fmla="*/ 110 w 113"/>
                <a:gd name="T31" fmla="*/ 14 h 49"/>
                <a:gd name="T32" fmla="*/ 109 w 113"/>
                <a:gd name="T33" fmla="*/ 8 h 49"/>
                <a:gd name="T34" fmla="*/ 107 w 113"/>
                <a:gd name="T35" fmla="*/ 4 h 49"/>
                <a:gd name="T36" fmla="*/ 104 w 113"/>
                <a:gd name="T37" fmla="*/ 1 h 49"/>
                <a:gd name="T38" fmla="*/ 101 w 113"/>
                <a:gd name="T39" fmla="*/ 0 h 49"/>
                <a:gd name="T40" fmla="*/ 97 w 113"/>
                <a:gd name="T41" fmla="*/ 1 h 49"/>
                <a:gd name="T42" fmla="*/ 16 w 113"/>
                <a:gd name="T43" fmla="*/ 1 h 49"/>
                <a:gd name="T44" fmla="*/ 12 w 113"/>
                <a:gd name="T45" fmla="*/ 0 h 49"/>
                <a:gd name="T46" fmla="*/ 9 w 113"/>
                <a:gd name="T47" fmla="*/ 1 h 49"/>
                <a:gd name="T48" fmla="*/ 6 w 113"/>
                <a:gd name="T49" fmla="*/ 4 h 49"/>
                <a:gd name="T50" fmla="*/ 4 w 113"/>
                <a:gd name="T51" fmla="*/ 8 h 49"/>
                <a:gd name="T52" fmla="*/ 3 w 113"/>
                <a:gd name="T53" fmla="*/ 14 h 49"/>
                <a:gd name="T54" fmla="*/ 0 w 113"/>
                <a:gd name="T55" fmla="*/ 19 h 49"/>
                <a:gd name="T56" fmla="*/ 0 w 113"/>
                <a:gd name="T57" fmla="*/ 24 h 49"/>
                <a:gd name="T58" fmla="*/ 0 w 113"/>
                <a:gd name="T59" fmla="*/ 29 h 49"/>
                <a:gd name="T60" fmla="*/ 1 w 113"/>
                <a:gd name="T61" fmla="*/ 33 h 49"/>
                <a:gd name="T62" fmla="*/ 4 w 113"/>
                <a:gd name="T63" fmla="*/ 35 h 49"/>
                <a:gd name="T64" fmla="*/ 8 w 113"/>
                <a:gd name="T65" fmla="*/ 37 h 49"/>
                <a:gd name="T66" fmla="*/ 12 w 113"/>
                <a:gd name="T67" fmla="*/ 39 h 49"/>
                <a:gd name="T68" fmla="*/ 17 w 113"/>
                <a:gd name="T69" fmla="*/ 41 h 49"/>
                <a:gd name="T70" fmla="*/ 23 w 113"/>
                <a:gd name="T71" fmla="*/ 43 h 49"/>
                <a:gd name="T72" fmla="*/ 28 w 113"/>
                <a:gd name="T73" fmla="*/ 46 h 49"/>
                <a:gd name="T74" fmla="*/ 34 w 113"/>
                <a:gd name="T75" fmla="*/ 47 h 49"/>
                <a:gd name="T76" fmla="*/ 39 w 113"/>
                <a:gd name="T77" fmla="*/ 48 h 49"/>
                <a:gd name="T78" fmla="*/ 44 w 113"/>
                <a:gd name="T79" fmla="*/ 48 h 49"/>
                <a:gd name="T80" fmla="*/ 51 w 113"/>
                <a:gd name="T81" fmla="*/ 49 h 49"/>
                <a:gd name="T82" fmla="*/ 56 w 113"/>
                <a:gd name="T83" fmla="*/ 49 h 4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13"/>
                <a:gd name="T127" fmla="*/ 0 h 49"/>
                <a:gd name="T128" fmla="*/ 113 w 113"/>
                <a:gd name="T129" fmla="*/ 49 h 4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13" h="49">
                  <a:moveTo>
                    <a:pt x="56" y="49"/>
                  </a:moveTo>
                  <a:lnTo>
                    <a:pt x="62" y="49"/>
                  </a:lnTo>
                  <a:lnTo>
                    <a:pt x="69" y="48"/>
                  </a:lnTo>
                  <a:lnTo>
                    <a:pt x="74" y="48"/>
                  </a:lnTo>
                  <a:lnTo>
                    <a:pt x="79" y="47"/>
                  </a:lnTo>
                  <a:lnTo>
                    <a:pt x="85" y="46"/>
                  </a:lnTo>
                  <a:lnTo>
                    <a:pt x="90" y="43"/>
                  </a:lnTo>
                  <a:lnTo>
                    <a:pt x="95" y="41"/>
                  </a:lnTo>
                  <a:lnTo>
                    <a:pt x="101" y="39"/>
                  </a:lnTo>
                  <a:lnTo>
                    <a:pt x="105" y="37"/>
                  </a:lnTo>
                  <a:lnTo>
                    <a:pt x="109" y="35"/>
                  </a:lnTo>
                  <a:lnTo>
                    <a:pt x="112" y="33"/>
                  </a:lnTo>
                  <a:lnTo>
                    <a:pt x="113" y="29"/>
                  </a:lnTo>
                  <a:lnTo>
                    <a:pt x="113" y="24"/>
                  </a:lnTo>
                  <a:lnTo>
                    <a:pt x="112" y="19"/>
                  </a:lnTo>
                  <a:lnTo>
                    <a:pt x="110" y="14"/>
                  </a:lnTo>
                  <a:lnTo>
                    <a:pt x="109" y="8"/>
                  </a:lnTo>
                  <a:lnTo>
                    <a:pt x="107" y="4"/>
                  </a:lnTo>
                  <a:lnTo>
                    <a:pt x="104" y="1"/>
                  </a:lnTo>
                  <a:lnTo>
                    <a:pt x="101" y="0"/>
                  </a:lnTo>
                  <a:lnTo>
                    <a:pt x="97" y="1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9" y="1"/>
                  </a:lnTo>
                  <a:lnTo>
                    <a:pt x="6" y="4"/>
                  </a:lnTo>
                  <a:lnTo>
                    <a:pt x="4" y="8"/>
                  </a:lnTo>
                  <a:lnTo>
                    <a:pt x="3" y="14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1" y="33"/>
                  </a:lnTo>
                  <a:lnTo>
                    <a:pt x="4" y="35"/>
                  </a:lnTo>
                  <a:lnTo>
                    <a:pt x="8" y="37"/>
                  </a:lnTo>
                  <a:lnTo>
                    <a:pt x="12" y="39"/>
                  </a:lnTo>
                  <a:lnTo>
                    <a:pt x="17" y="41"/>
                  </a:lnTo>
                  <a:lnTo>
                    <a:pt x="23" y="43"/>
                  </a:lnTo>
                  <a:lnTo>
                    <a:pt x="28" y="46"/>
                  </a:lnTo>
                  <a:lnTo>
                    <a:pt x="34" y="47"/>
                  </a:lnTo>
                  <a:lnTo>
                    <a:pt x="39" y="48"/>
                  </a:lnTo>
                  <a:lnTo>
                    <a:pt x="44" y="48"/>
                  </a:lnTo>
                  <a:lnTo>
                    <a:pt x="51" y="49"/>
                  </a:lnTo>
                  <a:lnTo>
                    <a:pt x="56" y="49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87" name="Freeform 25"/>
            <p:cNvSpPr>
              <a:spLocks/>
            </p:cNvSpPr>
            <p:nvPr/>
          </p:nvSpPr>
          <p:spPr bwMode="auto">
            <a:xfrm>
              <a:off x="2500" y="2073"/>
              <a:ext cx="90" cy="35"/>
            </a:xfrm>
            <a:custGeom>
              <a:avLst/>
              <a:gdLst>
                <a:gd name="T0" fmla="*/ 49 w 99"/>
                <a:gd name="T1" fmla="*/ 38 h 38"/>
                <a:gd name="T2" fmla="*/ 54 w 99"/>
                <a:gd name="T3" fmla="*/ 38 h 38"/>
                <a:gd name="T4" fmla="*/ 59 w 99"/>
                <a:gd name="T5" fmla="*/ 38 h 38"/>
                <a:gd name="T6" fmla="*/ 63 w 99"/>
                <a:gd name="T7" fmla="*/ 37 h 38"/>
                <a:gd name="T8" fmla="*/ 67 w 99"/>
                <a:gd name="T9" fmla="*/ 36 h 38"/>
                <a:gd name="T10" fmla="*/ 71 w 99"/>
                <a:gd name="T11" fmla="*/ 34 h 38"/>
                <a:gd name="T12" fmla="*/ 76 w 99"/>
                <a:gd name="T13" fmla="*/ 33 h 38"/>
                <a:gd name="T14" fmla="*/ 80 w 99"/>
                <a:gd name="T15" fmla="*/ 32 h 38"/>
                <a:gd name="T16" fmla="*/ 84 w 99"/>
                <a:gd name="T17" fmla="*/ 30 h 38"/>
                <a:gd name="T18" fmla="*/ 88 w 99"/>
                <a:gd name="T19" fmla="*/ 28 h 38"/>
                <a:gd name="T20" fmla="*/ 92 w 99"/>
                <a:gd name="T21" fmla="*/ 26 h 38"/>
                <a:gd name="T22" fmla="*/ 94 w 99"/>
                <a:gd name="T23" fmla="*/ 25 h 38"/>
                <a:gd name="T24" fmla="*/ 96 w 99"/>
                <a:gd name="T25" fmla="*/ 23 h 38"/>
                <a:gd name="T26" fmla="*/ 97 w 99"/>
                <a:gd name="T27" fmla="*/ 21 h 38"/>
                <a:gd name="T28" fmla="*/ 98 w 99"/>
                <a:gd name="T29" fmla="*/ 17 h 38"/>
                <a:gd name="T30" fmla="*/ 99 w 99"/>
                <a:gd name="T31" fmla="*/ 15 h 38"/>
                <a:gd name="T32" fmla="*/ 99 w 99"/>
                <a:gd name="T33" fmla="*/ 12 h 38"/>
                <a:gd name="T34" fmla="*/ 98 w 99"/>
                <a:gd name="T35" fmla="*/ 9 h 38"/>
                <a:gd name="T36" fmla="*/ 95 w 99"/>
                <a:gd name="T37" fmla="*/ 6 h 38"/>
                <a:gd name="T38" fmla="*/ 92 w 99"/>
                <a:gd name="T39" fmla="*/ 2 h 38"/>
                <a:gd name="T40" fmla="*/ 86 w 99"/>
                <a:gd name="T41" fmla="*/ 0 h 38"/>
                <a:gd name="T42" fmla="*/ 13 w 99"/>
                <a:gd name="T43" fmla="*/ 0 h 38"/>
                <a:gd name="T44" fmla="*/ 7 w 99"/>
                <a:gd name="T45" fmla="*/ 2 h 38"/>
                <a:gd name="T46" fmla="*/ 4 w 99"/>
                <a:gd name="T47" fmla="*/ 6 h 38"/>
                <a:gd name="T48" fmla="*/ 1 w 99"/>
                <a:gd name="T49" fmla="*/ 9 h 38"/>
                <a:gd name="T50" fmla="*/ 0 w 99"/>
                <a:gd name="T51" fmla="*/ 12 h 38"/>
                <a:gd name="T52" fmla="*/ 0 w 99"/>
                <a:gd name="T53" fmla="*/ 15 h 38"/>
                <a:gd name="T54" fmla="*/ 1 w 99"/>
                <a:gd name="T55" fmla="*/ 17 h 38"/>
                <a:gd name="T56" fmla="*/ 2 w 99"/>
                <a:gd name="T57" fmla="*/ 21 h 38"/>
                <a:gd name="T58" fmla="*/ 3 w 99"/>
                <a:gd name="T59" fmla="*/ 23 h 38"/>
                <a:gd name="T60" fmla="*/ 5 w 99"/>
                <a:gd name="T61" fmla="*/ 25 h 38"/>
                <a:gd name="T62" fmla="*/ 7 w 99"/>
                <a:gd name="T63" fmla="*/ 26 h 38"/>
                <a:gd name="T64" fmla="*/ 10 w 99"/>
                <a:gd name="T65" fmla="*/ 28 h 38"/>
                <a:gd name="T66" fmla="*/ 15 w 99"/>
                <a:gd name="T67" fmla="*/ 30 h 38"/>
                <a:gd name="T68" fmla="*/ 19 w 99"/>
                <a:gd name="T69" fmla="*/ 32 h 38"/>
                <a:gd name="T70" fmla="*/ 23 w 99"/>
                <a:gd name="T71" fmla="*/ 33 h 38"/>
                <a:gd name="T72" fmla="*/ 28 w 99"/>
                <a:gd name="T73" fmla="*/ 34 h 38"/>
                <a:gd name="T74" fmla="*/ 32 w 99"/>
                <a:gd name="T75" fmla="*/ 36 h 38"/>
                <a:gd name="T76" fmla="*/ 36 w 99"/>
                <a:gd name="T77" fmla="*/ 37 h 38"/>
                <a:gd name="T78" fmla="*/ 40 w 99"/>
                <a:gd name="T79" fmla="*/ 38 h 38"/>
                <a:gd name="T80" fmla="*/ 45 w 99"/>
                <a:gd name="T81" fmla="*/ 38 h 38"/>
                <a:gd name="T82" fmla="*/ 49 w 99"/>
                <a:gd name="T83" fmla="*/ 38 h 3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99"/>
                <a:gd name="T127" fmla="*/ 0 h 38"/>
                <a:gd name="T128" fmla="*/ 99 w 99"/>
                <a:gd name="T129" fmla="*/ 38 h 3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99" h="38">
                  <a:moveTo>
                    <a:pt x="49" y="38"/>
                  </a:moveTo>
                  <a:lnTo>
                    <a:pt x="54" y="38"/>
                  </a:lnTo>
                  <a:lnTo>
                    <a:pt x="59" y="38"/>
                  </a:lnTo>
                  <a:lnTo>
                    <a:pt x="63" y="37"/>
                  </a:lnTo>
                  <a:lnTo>
                    <a:pt x="67" y="36"/>
                  </a:lnTo>
                  <a:lnTo>
                    <a:pt x="71" y="34"/>
                  </a:lnTo>
                  <a:lnTo>
                    <a:pt x="76" y="33"/>
                  </a:lnTo>
                  <a:lnTo>
                    <a:pt x="80" y="32"/>
                  </a:lnTo>
                  <a:lnTo>
                    <a:pt x="84" y="30"/>
                  </a:lnTo>
                  <a:lnTo>
                    <a:pt x="88" y="28"/>
                  </a:lnTo>
                  <a:lnTo>
                    <a:pt x="92" y="26"/>
                  </a:lnTo>
                  <a:lnTo>
                    <a:pt x="94" y="25"/>
                  </a:lnTo>
                  <a:lnTo>
                    <a:pt x="96" y="23"/>
                  </a:lnTo>
                  <a:lnTo>
                    <a:pt x="97" y="21"/>
                  </a:lnTo>
                  <a:lnTo>
                    <a:pt x="98" y="17"/>
                  </a:lnTo>
                  <a:lnTo>
                    <a:pt x="99" y="15"/>
                  </a:lnTo>
                  <a:lnTo>
                    <a:pt x="99" y="12"/>
                  </a:lnTo>
                  <a:lnTo>
                    <a:pt x="98" y="9"/>
                  </a:lnTo>
                  <a:lnTo>
                    <a:pt x="95" y="6"/>
                  </a:lnTo>
                  <a:lnTo>
                    <a:pt x="92" y="2"/>
                  </a:lnTo>
                  <a:lnTo>
                    <a:pt x="86" y="0"/>
                  </a:lnTo>
                  <a:lnTo>
                    <a:pt x="13" y="0"/>
                  </a:lnTo>
                  <a:lnTo>
                    <a:pt x="7" y="2"/>
                  </a:lnTo>
                  <a:lnTo>
                    <a:pt x="4" y="6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6"/>
                  </a:lnTo>
                  <a:lnTo>
                    <a:pt x="10" y="28"/>
                  </a:lnTo>
                  <a:lnTo>
                    <a:pt x="15" y="30"/>
                  </a:lnTo>
                  <a:lnTo>
                    <a:pt x="19" y="32"/>
                  </a:lnTo>
                  <a:lnTo>
                    <a:pt x="23" y="33"/>
                  </a:lnTo>
                  <a:lnTo>
                    <a:pt x="28" y="34"/>
                  </a:lnTo>
                  <a:lnTo>
                    <a:pt x="32" y="36"/>
                  </a:lnTo>
                  <a:lnTo>
                    <a:pt x="36" y="37"/>
                  </a:lnTo>
                  <a:lnTo>
                    <a:pt x="40" y="38"/>
                  </a:lnTo>
                  <a:lnTo>
                    <a:pt x="45" y="38"/>
                  </a:lnTo>
                  <a:lnTo>
                    <a:pt x="49" y="3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88" name="Freeform 26"/>
            <p:cNvSpPr>
              <a:spLocks/>
            </p:cNvSpPr>
            <p:nvPr/>
          </p:nvSpPr>
          <p:spPr bwMode="auto">
            <a:xfrm>
              <a:off x="2500" y="2073"/>
              <a:ext cx="90" cy="35"/>
            </a:xfrm>
            <a:custGeom>
              <a:avLst/>
              <a:gdLst>
                <a:gd name="T0" fmla="*/ 49 w 99"/>
                <a:gd name="T1" fmla="*/ 38 h 38"/>
                <a:gd name="T2" fmla="*/ 54 w 99"/>
                <a:gd name="T3" fmla="*/ 38 h 38"/>
                <a:gd name="T4" fmla="*/ 59 w 99"/>
                <a:gd name="T5" fmla="*/ 38 h 38"/>
                <a:gd name="T6" fmla="*/ 63 w 99"/>
                <a:gd name="T7" fmla="*/ 37 h 38"/>
                <a:gd name="T8" fmla="*/ 67 w 99"/>
                <a:gd name="T9" fmla="*/ 36 h 38"/>
                <a:gd name="T10" fmla="*/ 71 w 99"/>
                <a:gd name="T11" fmla="*/ 34 h 38"/>
                <a:gd name="T12" fmla="*/ 76 w 99"/>
                <a:gd name="T13" fmla="*/ 33 h 38"/>
                <a:gd name="T14" fmla="*/ 80 w 99"/>
                <a:gd name="T15" fmla="*/ 32 h 38"/>
                <a:gd name="T16" fmla="*/ 84 w 99"/>
                <a:gd name="T17" fmla="*/ 30 h 38"/>
                <a:gd name="T18" fmla="*/ 88 w 99"/>
                <a:gd name="T19" fmla="*/ 28 h 38"/>
                <a:gd name="T20" fmla="*/ 92 w 99"/>
                <a:gd name="T21" fmla="*/ 26 h 38"/>
                <a:gd name="T22" fmla="*/ 94 w 99"/>
                <a:gd name="T23" fmla="*/ 25 h 38"/>
                <a:gd name="T24" fmla="*/ 96 w 99"/>
                <a:gd name="T25" fmla="*/ 23 h 38"/>
                <a:gd name="T26" fmla="*/ 97 w 99"/>
                <a:gd name="T27" fmla="*/ 21 h 38"/>
                <a:gd name="T28" fmla="*/ 98 w 99"/>
                <a:gd name="T29" fmla="*/ 17 h 38"/>
                <a:gd name="T30" fmla="*/ 99 w 99"/>
                <a:gd name="T31" fmla="*/ 15 h 38"/>
                <a:gd name="T32" fmla="*/ 99 w 99"/>
                <a:gd name="T33" fmla="*/ 12 h 38"/>
                <a:gd name="T34" fmla="*/ 98 w 99"/>
                <a:gd name="T35" fmla="*/ 9 h 38"/>
                <a:gd name="T36" fmla="*/ 95 w 99"/>
                <a:gd name="T37" fmla="*/ 6 h 38"/>
                <a:gd name="T38" fmla="*/ 92 w 99"/>
                <a:gd name="T39" fmla="*/ 2 h 38"/>
                <a:gd name="T40" fmla="*/ 86 w 99"/>
                <a:gd name="T41" fmla="*/ 0 h 38"/>
                <a:gd name="T42" fmla="*/ 13 w 99"/>
                <a:gd name="T43" fmla="*/ 0 h 38"/>
                <a:gd name="T44" fmla="*/ 7 w 99"/>
                <a:gd name="T45" fmla="*/ 2 h 38"/>
                <a:gd name="T46" fmla="*/ 4 w 99"/>
                <a:gd name="T47" fmla="*/ 6 h 38"/>
                <a:gd name="T48" fmla="*/ 1 w 99"/>
                <a:gd name="T49" fmla="*/ 9 h 38"/>
                <a:gd name="T50" fmla="*/ 0 w 99"/>
                <a:gd name="T51" fmla="*/ 12 h 38"/>
                <a:gd name="T52" fmla="*/ 0 w 99"/>
                <a:gd name="T53" fmla="*/ 15 h 38"/>
                <a:gd name="T54" fmla="*/ 1 w 99"/>
                <a:gd name="T55" fmla="*/ 17 h 38"/>
                <a:gd name="T56" fmla="*/ 2 w 99"/>
                <a:gd name="T57" fmla="*/ 21 h 38"/>
                <a:gd name="T58" fmla="*/ 3 w 99"/>
                <a:gd name="T59" fmla="*/ 23 h 38"/>
                <a:gd name="T60" fmla="*/ 5 w 99"/>
                <a:gd name="T61" fmla="*/ 25 h 38"/>
                <a:gd name="T62" fmla="*/ 7 w 99"/>
                <a:gd name="T63" fmla="*/ 26 h 38"/>
                <a:gd name="T64" fmla="*/ 10 w 99"/>
                <a:gd name="T65" fmla="*/ 28 h 38"/>
                <a:gd name="T66" fmla="*/ 15 w 99"/>
                <a:gd name="T67" fmla="*/ 30 h 38"/>
                <a:gd name="T68" fmla="*/ 19 w 99"/>
                <a:gd name="T69" fmla="*/ 32 h 38"/>
                <a:gd name="T70" fmla="*/ 23 w 99"/>
                <a:gd name="T71" fmla="*/ 33 h 38"/>
                <a:gd name="T72" fmla="*/ 28 w 99"/>
                <a:gd name="T73" fmla="*/ 34 h 38"/>
                <a:gd name="T74" fmla="*/ 32 w 99"/>
                <a:gd name="T75" fmla="*/ 36 h 38"/>
                <a:gd name="T76" fmla="*/ 36 w 99"/>
                <a:gd name="T77" fmla="*/ 37 h 38"/>
                <a:gd name="T78" fmla="*/ 40 w 99"/>
                <a:gd name="T79" fmla="*/ 38 h 38"/>
                <a:gd name="T80" fmla="*/ 45 w 99"/>
                <a:gd name="T81" fmla="*/ 38 h 38"/>
                <a:gd name="T82" fmla="*/ 49 w 99"/>
                <a:gd name="T83" fmla="*/ 38 h 3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99"/>
                <a:gd name="T127" fmla="*/ 0 h 38"/>
                <a:gd name="T128" fmla="*/ 99 w 99"/>
                <a:gd name="T129" fmla="*/ 38 h 3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99" h="38">
                  <a:moveTo>
                    <a:pt x="49" y="38"/>
                  </a:moveTo>
                  <a:lnTo>
                    <a:pt x="54" y="38"/>
                  </a:lnTo>
                  <a:lnTo>
                    <a:pt x="59" y="38"/>
                  </a:lnTo>
                  <a:lnTo>
                    <a:pt x="63" y="37"/>
                  </a:lnTo>
                  <a:lnTo>
                    <a:pt x="67" y="36"/>
                  </a:lnTo>
                  <a:lnTo>
                    <a:pt x="71" y="34"/>
                  </a:lnTo>
                  <a:lnTo>
                    <a:pt x="76" y="33"/>
                  </a:lnTo>
                  <a:lnTo>
                    <a:pt x="80" y="32"/>
                  </a:lnTo>
                  <a:lnTo>
                    <a:pt x="84" y="30"/>
                  </a:lnTo>
                  <a:lnTo>
                    <a:pt x="88" y="28"/>
                  </a:lnTo>
                  <a:lnTo>
                    <a:pt x="92" y="26"/>
                  </a:lnTo>
                  <a:lnTo>
                    <a:pt x="94" y="25"/>
                  </a:lnTo>
                  <a:lnTo>
                    <a:pt x="96" y="23"/>
                  </a:lnTo>
                  <a:lnTo>
                    <a:pt x="97" y="21"/>
                  </a:lnTo>
                  <a:lnTo>
                    <a:pt x="98" y="17"/>
                  </a:lnTo>
                  <a:lnTo>
                    <a:pt x="99" y="15"/>
                  </a:lnTo>
                  <a:lnTo>
                    <a:pt x="99" y="12"/>
                  </a:lnTo>
                  <a:lnTo>
                    <a:pt x="98" y="9"/>
                  </a:lnTo>
                  <a:lnTo>
                    <a:pt x="95" y="6"/>
                  </a:lnTo>
                  <a:lnTo>
                    <a:pt x="92" y="2"/>
                  </a:lnTo>
                  <a:lnTo>
                    <a:pt x="86" y="0"/>
                  </a:lnTo>
                  <a:lnTo>
                    <a:pt x="13" y="0"/>
                  </a:lnTo>
                  <a:lnTo>
                    <a:pt x="7" y="2"/>
                  </a:lnTo>
                  <a:lnTo>
                    <a:pt x="4" y="6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6"/>
                  </a:lnTo>
                  <a:lnTo>
                    <a:pt x="10" y="28"/>
                  </a:lnTo>
                  <a:lnTo>
                    <a:pt x="15" y="30"/>
                  </a:lnTo>
                  <a:lnTo>
                    <a:pt x="19" y="32"/>
                  </a:lnTo>
                  <a:lnTo>
                    <a:pt x="23" y="33"/>
                  </a:lnTo>
                  <a:lnTo>
                    <a:pt x="28" y="34"/>
                  </a:lnTo>
                  <a:lnTo>
                    <a:pt x="32" y="36"/>
                  </a:lnTo>
                  <a:lnTo>
                    <a:pt x="36" y="37"/>
                  </a:lnTo>
                  <a:lnTo>
                    <a:pt x="40" y="38"/>
                  </a:lnTo>
                  <a:lnTo>
                    <a:pt x="45" y="38"/>
                  </a:lnTo>
                  <a:lnTo>
                    <a:pt x="49" y="38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89" name="Freeform 27"/>
            <p:cNvSpPr>
              <a:spLocks/>
            </p:cNvSpPr>
            <p:nvPr/>
          </p:nvSpPr>
          <p:spPr bwMode="auto">
            <a:xfrm>
              <a:off x="2481" y="1955"/>
              <a:ext cx="127" cy="138"/>
            </a:xfrm>
            <a:custGeom>
              <a:avLst/>
              <a:gdLst>
                <a:gd name="T0" fmla="*/ 71 w 140"/>
                <a:gd name="T1" fmla="*/ 150 h 150"/>
                <a:gd name="T2" fmla="*/ 82 w 140"/>
                <a:gd name="T3" fmla="*/ 148 h 150"/>
                <a:gd name="T4" fmla="*/ 92 w 140"/>
                <a:gd name="T5" fmla="*/ 145 h 150"/>
                <a:gd name="T6" fmla="*/ 103 w 140"/>
                <a:gd name="T7" fmla="*/ 141 h 150"/>
                <a:gd name="T8" fmla="*/ 112 w 140"/>
                <a:gd name="T9" fmla="*/ 135 h 150"/>
                <a:gd name="T10" fmla="*/ 120 w 140"/>
                <a:gd name="T11" fmla="*/ 127 h 150"/>
                <a:gd name="T12" fmla="*/ 127 w 140"/>
                <a:gd name="T13" fmla="*/ 119 h 150"/>
                <a:gd name="T14" fmla="*/ 133 w 140"/>
                <a:gd name="T15" fmla="*/ 109 h 150"/>
                <a:gd name="T16" fmla="*/ 137 w 140"/>
                <a:gd name="T17" fmla="*/ 98 h 150"/>
                <a:gd name="T18" fmla="*/ 139 w 140"/>
                <a:gd name="T19" fmla="*/ 87 h 150"/>
                <a:gd name="T20" fmla="*/ 140 w 140"/>
                <a:gd name="T21" fmla="*/ 75 h 150"/>
                <a:gd name="T22" fmla="*/ 139 w 140"/>
                <a:gd name="T23" fmla="*/ 63 h 150"/>
                <a:gd name="T24" fmla="*/ 137 w 140"/>
                <a:gd name="T25" fmla="*/ 51 h 150"/>
                <a:gd name="T26" fmla="*/ 133 w 140"/>
                <a:gd name="T27" fmla="*/ 41 h 150"/>
                <a:gd name="T28" fmla="*/ 127 w 140"/>
                <a:gd name="T29" fmla="*/ 31 h 150"/>
                <a:gd name="T30" fmla="*/ 120 w 140"/>
                <a:gd name="T31" fmla="*/ 21 h 150"/>
                <a:gd name="T32" fmla="*/ 112 w 140"/>
                <a:gd name="T33" fmla="*/ 15 h 150"/>
                <a:gd name="T34" fmla="*/ 103 w 140"/>
                <a:gd name="T35" fmla="*/ 9 h 150"/>
                <a:gd name="T36" fmla="*/ 92 w 140"/>
                <a:gd name="T37" fmla="*/ 4 h 150"/>
                <a:gd name="T38" fmla="*/ 82 w 140"/>
                <a:gd name="T39" fmla="*/ 1 h 150"/>
                <a:gd name="T40" fmla="*/ 71 w 140"/>
                <a:gd name="T41" fmla="*/ 0 h 150"/>
                <a:gd name="T42" fmla="*/ 59 w 140"/>
                <a:gd name="T43" fmla="*/ 1 h 150"/>
                <a:gd name="T44" fmla="*/ 49 w 140"/>
                <a:gd name="T45" fmla="*/ 4 h 150"/>
                <a:gd name="T46" fmla="*/ 38 w 140"/>
                <a:gd name="T47" fmla="*/ 9 h 150"/>
                <a:gd name="T48" fmla="*/ 29 w 140"/>
                <a:gd name="T49" fmla="*/ 15 h 150"/>
                <a:gd name="T50" fmla="*/ 21 w 140"/>
                <a:gd name="T51" fmla="*/ 21 h 150"/>
                <a:gd name="T52" fmla="*/ 14 w 140"/>
                <a:gd name="T53" fmla="*/ 31 h 150"/>
                <a:gd name="T54" fmla="*/ 8 w 140"/>
                <a:gd name="T55" fmla="*/ 41 h 150"/>
                <a:gd name="T56" fmla="*/ 4 w 140"/>
                <a:gd name="T57" fmla="*/ 51 h 150"/>
                <a:gd name="T58" fmla="*/ 2 w 140"/>
                <a:gd name="T59" fmla="*/ 63 h 150"/>
                <a:gd name="T60" fmla="*/ 0 w 140"/>
                <a:gd name="T61" fmla="*/ 75 h 150"/>
                <a:gd name="T62" fmla="*/ 2 w 140"/>
                <a:gd name="T63" fmla="*/ 87 h 150"/>
                <a:gd name="T64" fmla="*/ 4 w 140"/>
                <a:gd name="T65" fmla="*/ 98 h 150"/>
                <a:gd name="T66" fmla="*/ 8 w 140"/>
                <a:gd name="T67" fmla="*/ 109 h 150"/>
                <a:gd name="T68" fmla="*/ 14 w 140"/>
                <a:gd name="T69" fmla="*/ 119 h 150"/>
                <a:gd name="T70" fmla="*/ 21 w 140"/>
                <a:gd name="T71" fmla="*/ 127 h 150"/>
                <a:gd name="T72" fmla="*/ 29 w 140"/>
                <a:gd name="T73" fmla="*/ 135 h 150"/>
                <a:gd name="T74" fmla="*/ 38 w 140"/>
                <a:gd name="T75" fmla="*/ 141 h 150"/>
                <a:gd name="T76" fmla="*/ 49 w 140"/>
                <a:gd name="T77" fmla="*/ 145 h 150"/>
                <a:gd name="T78" fmla="*/ 59 w 140"/>
                <a:gd name="T79" fmla="*/ 148 h 150"/>
                <a:gd name="T80" fmla="*/ 71 w 140"/>
                <a:gd name="T81" fmla="*/ 150 h 150"/>
                <a:gd name="T82" fmla="*/ 71 w 140"/>
                <a:gd name="T83" fmla="*/ 150 h 15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40"/>
                <a:gd name="T127" fmla="*/ 0 h 150"/>
                <a:gd name="T128" fmla="*/ 140 w 140"/>
                <a:gd name="T129" fmla="*/ 150 h 15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40" h="150">
                  <a:moveTo>
                    <a:pt x="71" y="150"/>
                  </a:moveTo>
                  <a:lnTo>
                    <a:pt x="82" y="148"/>
                  </a:lnTo>
                  <a:lnTo>
                    <a:pt x="92" y="145"/>
                  </a:lnTo>
                  <a:lnTo>
                    <a:pt x="103" y="141"/>
                  </a:lnTo>
                  <a:lnTo>
                    <a:pt x="112" y="135"/>
                  </a:lnTo>
                  <a:lnTo>
                    <a:pt x="120" y="127"/>
                  </a:lnTo>
                  <a:lnTo>
                    <a:pt x="127" y="119"/>
                  </a:lnTo>
                  <a:lnTo>
                    <a:pt x="133" y="109"/>
                  </a:lnTo>
                  <a:lnTo>
                    <a:pt x="137" y="98"/>
                  </a:lnTo>
                  <a:lnTo>
                    <a:pt x="139" y="87"/>
                  </a:lnTo>
                  <a:lnTo>
                    <a:pt x="140" y="75"/>
                  </a:lnTo>
                  <a:lnTo>
                    <a:pt x="139" y="63"/>
                  </a:lnTo>
                  <a:lnTo>
                    <a:pt x="137" y="51"/>
                  </a:lnTo>
                  <a:lnTo>
                    <a:pt x="133" y="41"/>
                  </a:lnTo>
                  <a:lnTo>
                    <a:pt x="127" y="31"/>
                  </a:lnTo>
                  <a:lnTo>
                    <a:pt x="120" y="21"/>
                  </a:lnTo>
                  <a:lnTo>
                    <a:pt x="112" y="15"/>
                  </a:lnTo>
                  <a:lnTo>
                    <a:pt x="103" y="9"/>
                  </a:lnTo>
                  <a:lnTo>
                    <a:pt x="92" y="4"/>
                  </a:lnTo>
                  <a:lnTo>
                    <a:pt x="82" y="1"/>
                  </a:lnTo>
                  <a:lnTo>
                    <a:pt x="71" y="0"/>
                  </a:lnTo>
                  <a:lnTo>
                    <a:pt x="59" y="1"/>
                  </a:lnTo>
                  <a:lnTo>
                    <a:pt x="49" y="4"/>
                  </a:lnTo>
                  <a:lnTo>
                    <a:pt x="38" y="9"/>
                  </a:lnTo>
                  <a:lnTo>
                    <a:pt x="29" y="15"/>
                  </a:lnTo>
                  <a:lnTo>
                    <a:pt x="21" y="21"/>
                  </a:lnTo>
                  <a:lnTo>
                    <a:pt x="14" y="31"/>
                  </a:lnTo>
                  <a:lnTo>
                    <a:pt x="8" y="41"/>
                  </a:lnTo>
                  <a:lnTo>
                    <a:pt x="4" y="51"/>
                  </a:lnTo>
                  <a:lnTo>
                    <a:pt x="2" y="63"/>
                  </a:lnTo>
                  <a:lnTo>
                    <a:pt x="0" y="75"/>
                  </a:lnTo>
                  <a:lnTo>
                    <a:pt x="2" y="87"/>
                  </a:lnTo>
                  <a:lnTo>
                    <a:pt x="4" y="98"/>
                  </a:lnTo>
                  <a:lnTo>
                    <a:pt x="8" y="109"/>
                  </a:lnTo>
                  <a:lnTo>
                    <a:pt x="14" y="119"/>
                  </a:lnTo>
                  <a:lnTo>
                    <a:pt x="21" y="127"/>
                  </a:lnTo>
                  <a:lnTo>
                    <a:pt x="29" y="135"/>
                  </a:lnTo>
                  <a:lnTo>
                    <a:pt x="38" y="141"/>
                  </a:lnTo>
                  <a:lnTo>
                    <a:pt x="49" y="145"/>
                  </a:lnTo>
                  <a:lnTo>
                    <a:pt x="59" y="148"/>
                  </a:lnTo>
                  <a:lnTo>
                    <a:pt x="71" y="15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90" name="Freeform 28"/>
            <p:cNvSpPr>
              <a:spLocks/>
            </p:cNvSpPr>
            <p:nvPr/>
          </p:nvSpPr>
          <p:spPr bwMode="auto">
            <a:xfrm>
              <a:off x="2481" y="1955"/>
              <a:ext cx="127" cy="138"/>
            </a:xfrm>
            <a:custGeom>
              <a:avLst/>
              <a:gdLst>
                <a:gd name="T0" fmla="*/ 71 w 140"/>
                <a:gd name="T1" fmla="*/ 150 h 150"/>
                <a:gd name="T2" fmla="*/ 82 w 140"/>
                <a:gd name="T3" fmla="*/ 148 h 150"/>
                <a:gd name="T4" fmla="*/ 92 w 140"/>
                <a:gd name="T5" fmla="*/ 145 h 150"/>
                <a:gd name="T6" fmla="*/ 103 w 140"/>
                <a:gd name="T7" fmla="*/ 141 h 150"/>
                <a:gd name="T8" fmla="*/ 112 w 140"/>
                <a:gd name="T9" fmla="*/ 135 h 150"/>
                <a:gd name="T10" fmla="*/ 120 w 140"/>
                <a:gd name="T11" fmla="*/ 127 h 150"/>
                <a:gd name="T12" fmla="*/ 127 w 140"/>
                <a:gd name="T13" fmla="*/ 119 h 150"/>
                <a:gd name="T14" fmla="*/ 133 w 140"/>
                <a:gd name="T15" fmla="*/ 109 h 150"/>
                <a:gd name="T16" fmla="*/ 137 w 140"/>
                <a:gd name="T17" fmla="*/ 98 h 150"/>
                <a:gd name="T18" fmla="*/ 139 w 140"/>
                <a:gd name="T19" fmla="*/ 87 h 150"/>
                <a:gd name="T20" fmla="*/ 140 w 140"/>
                <a:gd name="T21" fmla="*/ 75 h 150"/>
                <a:gd name="T22" fmla="*/ 139 w 140"/>
                <a:gd name="T23" fmla="*/ 63 h 150"/>
                <a:gd name="T24" fmla="*/ 137 w 140"/>
                <a:gd name="T25" fmla="*/ 51 h 150"/>
                <a:gd name="T26" fmla="*/ 133 w 140"/>
                <a:gd name="T27" fmla="*/ 41 h 150"/>
                <a:gd name="T28" fmla="*/ 127 w 140"/>
                <a:gd name="T29" fmla="*/ 31 h 150"/>
                <a:gd name="T30" fmla="*/ 120 w 140"/>
                <a:gd name="T31" fmla="*/ 21 h 150"/>
                <a:gd name="T32" fmla="*/ 112 w 140"/>
                <a:gd name="T33" fmla="*/ 15 h 150"/>
                <a:gd name="T34" fmla="*/ 103 w 140"/>
                <a:gd name="T35" fmla="*/ 9 h 150"/>
                <a:gd name="T36" fmla="*/ 92 w 140"/>
                <a:gd name="T37" fmla="*/ 4 h 150"/>
                <a:gd name="T38" fmla="*/ 82 w 140"/>
                <a:gd name="T39" fmla="*/ 1 h 150"/>
                <a:gd name="T40" fmla="*/ 71 w 140"/>
                <a:gd name="T41" fmla="*/ 0 h 150"/>
                <a:gd name="T42" fmla="*/ 59 w 140"/>
                <a:gd name="T43" fmla="*/ 1 h 150"/>
                <a:gd name="T44" fmla="*/ 49 w 140"/>
                <a:gd name="T45" fmla="*/ 4 h 150"/>
                <a:gd name="T46" fmla="*/ 38 w 140"/>
                <a:gd name="T47" fmla="*/ 9 h 150"/>
                <a:gd name="T48" fmla="*/ 29 w 140"/>
                <a:gd name="T49" fmla="*/ 15 h 150"/>
                <a:gd name="T50" fmla="*/ 21 w 140"/>
                <a:gd name="T51" fmla="*/ 21 h 150"/>
                <a:gd name="T52" fmla="*/ 14 w 140"/>
                <a:gd name="T53" fmla="*/ 31 h 150"/>
                <a:gd name="T54" fmla="*/ 8 w 140"/>
                <a:gd name="T55" fmla="*/ 41 h 150"/>
                <a:gd name="T56" fmla="*/ 4 w 140"/>
                <a:gd name="T57" fmla="*/ 51 h 150"/>
                <a:gd name="T58" fmla="*/ 2 w 140"/>
                <a:gd name="T59" fmla="*/ 63 h 150"/>
                <a:gd name="T60" fmla="*/ 0 w 140"/>
                <a:gd name="T61" fmla="*/ 75 h 150"/>
                <a:gd name="T62" fmla="*/ 2 w 140"/>
                <a:gd name="T63" fmla="*/ 87 h 150"/>
                <a:gd name="T64" fmla="*/ 4 w 140"/>
                <a:gd name="T65" fmla="*/ 98 h 150"/>
                <a:gd name="T66" fmla="*/ 8 w 140"/>
                <a:gd name="T67" fmla="*/ 109 h 150"/>
                <a:gd name="T68" fmla="*/ 14 w 140"/>
                <a:gd name="T69" fmla="*/ 119 h 150"/>
                <a:gd name="T70" fmla="*/ 21 w 140"/>
                <a:gd name="T71" fmla="*/ 127 h 150"/>
                <a:gd name="T72" fmla="*/ 29 w 140"/>
                <a:gd name="T73" fmla="*/ 135 h 150"/>
                <a:gd name="T74" fmla="*/ 38 w 140"/>
                <a:gd name="T75" fmla="*/ 141 h 150"/>
                <a:gd name="T76" fmla="*/ 49 w 140"/>
                <a:gd name="T77" fmla="*/ 145 h 150"/>
                <a:gd name="T78" fmla="*/ 59 w 140"/>
                <a:gd name="T79" fmla="*/ 148 h 150"/>
                <a:gd name="T80" fmla="*/ 71 w 140"/>
                <a:gd name="T81" fmla="*/ 150 h 15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0"/>
                <a:gd name="T124" fmla="*/ 0 h 150"/>
                <a:gd name="T125" fmla="*/ 140 w 140"/>
                <a:gd name="T126" fmla="*/ 150 h 15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0" h="150">
                  <a:moveTo>
                    <a:pt x="71" y="150"/>
                  </a:moveTo>
                  <a:lnTo>
                    <a:pt x="82" y="148"/>
                  </a:lnTo>
                  <a:lnTo>
                    <a:pt x="92" y="145"/>
                  </a:lnTo>
                  <a:lnTo>
                    <a:pt x="103" y="141"/>
                  </a:lnTo>
                  <a:lnTo>
                    <a:pt x="112" y="135"/>
                  </a:lnTo>
                  <a:lnTo>
                    <a:pt x="120" y="127"/>
                  </a:lnTo>
                  <a:lnTo>
                    <a:pt x="127" y="119"/>
                  </a:lnTo>
                  <a:lnTo>
                    <a:pt x="133" y="109"/>
                  </a:lnTo>
                  <a:lnTo>
                    <a:pt x="137" y="98"/>
                  </a:lnTo>
                  <a:lnTo>
                    <a:pt x="139" y="87"/>
                  </a:lnTo>
                  <a:lnTo>
                    <a:pt x="140" y="75"/>
                  </a:lnTo>
                  <a:lnTo>
                    <a:pt x="139" y="63"/>
                  </a:lnTo>
                  <a:lnTo>
                    <a:pt x="137" y="51"/>
                  </a:lnTo>
                  <a:lnTo>
                    <a:pt x="133" y="41"/>
                  </a:lnTo>
                  <a:lnTo>
                    <a:pt x="127" y="31"/>
                  </a:lnTo>
                  <a:lnTo>
                    <a:pt x="120" y="21"/>
                  </a:lnTo>
                  <a:lnTo>
                    <a:pt x="112" y="15"/>
                  </a:lnTo>
                  <a:lnTo>
                    <a:pt x="103" y="9"/>
                  </a:lnTo>
                  <a:lnTo>
                    <a:pt x="92" y="4"/>
                  </a:lnTo>
                  <a:lnTo>
                    <a:pt x="82" y="1"/>
                  </a:lnTo>
                  <a:lnTo>
                    <a:pt x="71" y="0"/>
                  </a:lnTo>
                  <a:lnTo>
                    <a:pt x="59" y="1"/>
                  </a:lnTo>
                  <a:lnTo>
                    <a:pt x="49" y="4"/>
                  </a:lnTo>
                  <a:lnTo>
                    <a:pt x="38" y="9"/>
                  </a:lnTo>
                  <a:lnTo>
                    <a:pt x="29" y="15"/>
                  </a:lnTo>
                  <a:lnTo>
                    <a:pt x="21" y="21"/>
                  </a:lnTo>
                  <a:lnTo>
                    <a:pt x="14" y="31"/>
                  </a:lnTo>
                  <a:lnTo>
                    <a:pt x="8" y="41"/>
                  </a:lnTo>
                  <a:lnTo>
                    <a:pt x="4" y="51"/>
                  </a:lnTo>
                  <a:lnTo>
                    <a:pt x="2" y="63"/>
                  </a:lnTo>
                  <a:lnTo>
                    <a:pt x="0" y="75"/>
                  </a:lnTo>
                  <a:lnTo>
                    <a:pt x="2" y="87"/>
                  </a:lnTo>
                  <a:lnTo>
                    <a:pt x="4" y="98"/>
                  </a:lnTo>
                  <a:lnTo>
                    <a:pt x="8" y="109"/>
                  </a:lnTo>
                  <a:lnTo>
                    <a:pt x="14" y="119"/>
                  </a:lnTo>
                  <a:lnTo>
                    <a:pt x="21" y="127"/>
                  </a:lnTo>
                  <a:lnTo>
                    <a:pt x="29" y="135"/>
                  </a:lnTo>
                  <a:lnTo>
                    <a:pt x="38" y="141"/>
                  </a:lnTo>
                  <a:lnTo>
                    <a:pt x="49" y="145"/>
                  </a:lnTo>
                  <a:lnTo>
                    <a:pt x="59" y="148"/>
                  </a:lnTo>
                  <a:lnTo>
                    <a:pt x="71" y="15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91" name="Freeform 29"/>
            <p:cNvSpPr>
              <a:spLocks/>
            </p:cNvSpPr>
            <p:nvPr/>
          </p:nvSpPr>
          <p:spPr bwMode="auto">
            <a:xfrm>
              <a:off x="2509" y="2030"/>
              <a:ext cx="23" cy="29"/>
            </a:xfrm>
            <a:custGeom>
              <a:avLst/>
              <a:gdLst>
                <a:gd name="T0" fmla="*/ 0 w 25"/>
                <a:gd name="T1" fmla="*/ 0 h 31"/>
                <a:gd name="T2" fmla="*/ 0 w 25"/>
                <a:gd name="T3" fmla="*/ 5 h 31"/>
                <a:gd name="T4" fmla="*/ 2 w 25"/>
                <a:gd name="T5" fmla="*/ 10 h 31"/>
                <a:gd name="T6" fmla="*/ 4 w 25"/>
                <a:gd name="T7" fmla="*/ 14 h 31"/>
                <a:gd name="T8" fmla="*/ 6 w 25"/>
                <a:gd name="T9" fmla="*/ 17 h 31"/>
                <a:gd name="T10" fmla="*/ 8 w 25"/>
                <a:gd name="T11" fmla="*/ 22 h 31"/>
                <a:gd name="T12" fmla="*/ 11 w 25"/>
                <a:gd name="T13" fmla="*/ 25 h 31"/>
                <a:gd name="T14" fmla="*/ 14 w 25"/>
                <a:gd name="T15" fmla="*/ 27 h 31"/>
                <a:gd name="T16" fmla="*/ 18 w 25"/>
                <a:gd name="T17" fmla="*/ 29 h 31"/>
                <a:gd name="T18" fmla="*/ 22 w 25"/>
                <a:gd name="T19" fmla="*/ 30 h 31"/>
                <a:gd name="T20" fmla="*/ 25 w 25"/>
                <a:gd name="T21" fmla="*/ 31 h 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5"/>
                <a:gd name="T34" fmla="*/ 0 h 31"/>
                <a:gd name="T35" fmla="*/ 25 w 25"/>
                <a:gd name="T36" fmla="*/ 31 h 3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5" h="31">
                  <a:moveTo>
                    <a:pt x="0" y="0"/>
                  </a:moveTo>
                  <a:lnTo>
                    <a:pt x="0" y="5"/>
                  </a:lnTo>
                  <a:lnTo>
                    <a:pt x="2" y="10"/>
                  </a:lnTo>
                  <a:lnTo>
                    <a:pt x="4" y="14"/>
                  </a:lnTo>
                  <a:lnTo>
                    <a:pt x="6" y="17"/>
                  </a:lnTo>
                  <a:lnTo>
                    <a:pt x="8" y="22"/>
                  </a:lnTo>
                  <a:lnTo>
                    <a:pt x="11" y="25"/>
                  </a:lnTo>
                  <a:lnTo>
                    <a:pt x="14" y="27"/>
                  </a:lnTo>
                  <a:lnTo>
                    <a:pt x="18" y="29"/>
                  </a:lnTo>
                  <a:lnTo>
                    <a:pt x="22" y="30"/>
                  </a:lnTo>
                  <a:lnTo>
                    <a:pt x="25" y="3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92" name="Freeform 30"/>
            <p:cNvSpPr>
              <a:spLocks/>
            </p:cNvSpPr>
            <p:nvPr/>
          </p:nvSpPr>
          <p:spPr bwMode="auto">
            <a:xfrm>
              <a:off x="2531" y="2024"/>
              <a:ext cx="41" cy="41"/>
            </a:xfrm>
            <a:custGeom>
              <a:avLst/>
              <a:gdLst>
                <a:gd name="T0" fmla="*/ 22 w 45"/>
                <a:gd name="T1" fmla="*/ 0 h 45"/>
                <a:gd name="T2" fmla="*/ 28 w 45"/>
                <a:gd name="T3" fmla="*/ 17 h 45"/>
                <a:gd name="T4" fmla="*/ 45 w 45"/>
                <a:gd name="T5" fmla="*/ 17 h 45"/>
                <a:gd name="T6" fmla="*/ 31 w 45"/>
                <a:gd name="T7" fmla="*/ 28 h 45"/>
                <a:gd name="T8" fmla="*/ 36 w 45"/>
                <a:gd name="T9" fmla="*/ 45 h 45"/>
                <a:gd name="T10" fmla="*/ 22 w 45"/>
                <a:gd name="T11" fmla="*/ 35 h 45"/>
                <a:gd name="T12" fmla="*/ 9 w 45"/>
                <a:gd name="T13" fmla="*/ 45 h 45"/>
                <a:gd name="T14" fmla="*/ 14 w 45"/>
                <a:gd name="T15" fmla="*/ 28 h 45"/>
                <a:gd name="T16" fmla="*/ 0 w 45"/>
                <a:gd name="T17" fmla="*/ 17 h 45"/>
                <a:gd name="T18" fmla="*/ 17 w 45"/>
                <a:gd name="T19" fmla="*/ 17 h 45"/>
                <a:gd name="T20" fmla="*/ 22 w 45"/>
                <a:gd name="T21" fmla="*/ 0 h 45"/>
                <a:gd name="T22" fmla="*/ 22 w 45"/>
                <a:gd name="T23" fmla="*/ 0 h 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5"/>
                <a:gd name="T37" fmla="*/ 0 h 45"/>
                <a:gd name="T38" fmla="*/ 45 w 45"/>
                <a:gd name="T39" fmla="*/ 45 h 4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5" h="45">
                  <a:moveTo>
                    <a:pt x="22" y="0"/>
                  </a:moveTo>
                  <a:lnTo>
                    <a:pt x="28" y="17"/>
                  </a:lnTo>
                  <a:lnTo>
                    <a:pt x="45" y="17"/>
                  </a:lnTo>
                  <a:lnTo>
                    <a:pt x="31" y="28"/>
                  </a:lnTo>
                  <a:lnTo>
                    <a:pt x="36" y="45"/>
                  </a:lnTo>
                  <a:lnTo>
                    <a:pt x="22" y="35"/>
                  </a:lnTo>
                  <a:lnTo>
                    <a:pt x="9" y="45"/>
                  </a:lnTo>
                  <a:lnTo>
                    <a:pt x="14" y="28"/>
                  </a:lnTo>
                  <a:lnTo>
                    <a:pt x="0" y="17"/>
                  </a:lnTo>
                  <a:lnTo>
                    <a:pt x="17" y="17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93" name="Freeform 31"/>
            <p:cNvSpPr>
              <a:spLocks/>
            </p:cNvSpPr>
            <p:nvPr/>
          </p:nvSpPr>
          <p:spPr bwMode="auto">
            <a:xfrm>
              <a:off x="2432" y="1980"/>
              <a:ext cx="39" cy="37"/>
            </a:xfrm>
            <a:custGeom>
              <a:avLst/>
              <a:gdLst>
                <a:gd name="T0" fmla="*/ 20 w 42"/>
                <a:gd name="T1" fmla="*/ 0 h 41"/>
                <a:gd name="T2" fmla="*/ 26 w 42"/>
                <a:gd name="T3" fmla="*/ 16 h 41"/>
                <a:gd name="T4" fmla="*/ 42 w 42"/>
                <a:gd name="T5" fmla="*/ 16 h 41"/>
                <a:gd name="T6" fmla="*/ 29 w 42"/>
                <a:gd name="T7" fmla="*/ 25 h 41"/>
                <a:gd name="T8" fmla="*/ 34 w 42"/>
                <a:gd name="T9" fmla="*/ 41 h 41"/>
                <a:gd name="T10" fmla="*/ 21 w 42"/>
                <a:gd name="T11" fmla="*/ 32 h 41"/>
                <a:gd name="T12" fmla="*/ 8 w 42"/>
                <a:gd name="T13" fmla="*/ 41 h 41"/>
                <a:gd name="T14" fmla="*/ 13 w 42"/>
                <a:gd name="T15" fmla="*/ 25 h 41"/>
                <a:gd name="T16" fmla="*/ 0 w 42"/>
                <a:gd name="T17" fmla="*/ 16 h 41"/>
                <a:gd name="T18" fmla="*/ 16 w 42"/>
                <a:gd name="T19" fmla="*/ 16 h 41"/>
                <a:gd name="T20" fmla="*/ 21 w 42"/>
                <a:gd name="T21" fmla="*/ 0 h 41"/>
                <a:gd name="T22" fmla="*/ 20 w 42"/>
                <a:gd name="T23" fmla="*/ 0 h 4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2"/>
                <a:gd name="T37" fmla="*/ 0 h 41"/>
                <a:gd name="T38" fmla="*/ 42 w 42"/>
                <a:gd name="T39" fmla="*/ 41 h 4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2" h="41">
                  <a:moveTo>
                    <a:pt x="20" y="0"/>
                  </a:moveTo>
                  <a:lnTo>
                    <a:pt x="26" y="16"/>
                  </a:lnTo>
                  <a:lnTo>
                    <a:pt x="42" y="16"/>
                  </a:lnTo>
                  <a:lnTo>
                    <a:pt x="29" y="25"/>
                  </a:lnTo>
                  <a:lnTo>
                    <a:pt x="34" y="41"/>
                  </a:lnTo>
                  <a:lnTo>
                    <a:pt x="21" y="32"/>
                  </a:lnTo>
                  <a:lnTo>
                    <a:pt x="8" y="41"/>
                  </a:lnTo>
                  <a:lnTo>
                    <a:pt x="13" y="25"/>
                  </a:lnTo>
                  <a:lnTo>
                    <a:pt x="0" y="16"/>
                  </a:lnTo>
                  <a:lnTo>
                    <a:pt x="16" y="16"/>
                  </a:lnTo>
                  <a:lnTo>
                    <a:pt x="21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94" name="Freeform 32"/>
            <p:cNvSpPr>
              <a:spLocks/>
            </p:cNvSpPr>
            <p:nvPr/>
          </p:nvSpPr>
          <p:spPr bwMode="auto">
            <a:xfrm>
              <a:off x="2500" y="1915"/>
              <a:ext cx="37" cy="38"/>
            </a:xfrm>
            <a:custGeom>
              <a:avLst/>
              <a:gdLst>
                <a:gd name="T0" fmla="*/ 20 w 41"/>
                <a:gd name="T1" fmla="*/ 0 h 42"/>
                <a:gd name="T2" fmla="*/ 25 w 41"/>
                <a:gd name="T3" fmla="*/ 15 h 42"/>
                <a:gd name="T4" fmla="*/ 41 w 41"/>
                <a:gd name="T5" fmla="*/ 16 h 42"/>
                <a:gd name="T6" fmla="*/ 29 w 41"/>
                <a:gd name="T7" fmla="*/ 26 h 42"/>
                <a:gd name="T8" fmla="*/ 34 w 41"/>
                <a:gd name="T9" fmla="*/ 42 h 42"/>
                <a:gd name="T10" fmla="*/ 20 w 41"/>
                <a:gd name="T11" fmla="*/ 32 h 42"/>
                <a:gd name="T12" fmla="*/ 7 w 41"/>
                <a:gd name="T13" fmla="*/ 42 h 42"/>
                <a:gd name="T14" fmla="*/ 13 w 41"/>
                <a:gd name="T15" fmla="*/ 26 h 42"/>
                <a:gd name="T16" fmla="*/ 0 w 41"/>
                <a:gd name="T17" fmla="*/ 16 h 42"/>
                <a:gd name="T18" fmla="*/ 16 w 41"/>
                <a:gd name="T19" fmla="*/ 15 h 42"/>
                <a:gd name="T20" fmla="*/ 20 w 41"/>
                <a:gd name="T21" fmla="*/ 0 h 42"/>
                <a:gd name="T22" fmla="*/ 20 w 41"/>
                <a:gd name="T23" fmla="*/ 0 h 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1"/>
                <a:gd name="T37" fmla="*/ 0 h 42"/>
                <a:gd name="T38" fmla="*/ 41 w 41"/>
                <a:gd name="T39" fmla="*/ 42 h 4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1" h="42">
                  <a:moveTo>
                    <a:pt x="20" y="0"/>
                  </a:moveTo>
                  <a:lnTo>
                    <a:pt x="25" y="15"/>
                  </a:lnTo>
                  <a:lnTo>
                    <a:pt x="41" y="16"/>
                  </a:lnTo>
                  <a:lnTo>
                    <a:pt x="29" y="26"/>
                  </a:lnTo>
                  <a:lnTo>
                    <a:pt x="34" y="42"/>
                  </a:lnTo>
                  <a:lnTo>
                    <a:pt x="20" y="32"/>
                  </a:lnTo>
                  <a:lnTo>
                    <a:pt x="7" y="42"/>
                  </a:lnTo>
                  <a:lnTo>
                    <a:pt x="13" y="26"/>
                  </a:lnTo>
                  <a:lnTo>
                    <a:pt x="0" y="16"/>
                  </a:lnTo>
                  <a:lnTo>
                    <a:pt x="16" y="1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95" name="Freeform 33"/>
            <p:cNvSpPr>
              <a:spLocks/>
            </p:cNvSpPr>
            <p:nvPr/>
          </p:nvSpPr>
          <p:spPr bwMode="auto">
            <a:xfrm>
              <a:off x="2618" y="1958"/>
              <a:ext cx="39" cy="38"/>
            </a:xfrm>
            <a:custGeom>
              <a:avLst/>
              <a:gdLst>
                <a:gd name="T0" fmla="*/ 20 w 42"/>
                <a:gd name="T1" fmla="*/ 0 h 42"/>
                <a:gd name="T2" fmla="*/ 26 w 42"/>
                <a:gd name="T3" fmla="*/ 16 h 42"/>
                <a:gd name="T4" fmla="*/ 42 w 42"/>
                <a:gd name="T5" fmla="*/ 16 h 42"/>
                <a:gd name="T6" fmla="*/ 29 w 42"/>
                <a:gd name="T7" fmla="*/ 26 h 42"/>
                <a:gd name="T8" fmla="*/ 34 w 42"/>
                <a:gd name="T9" fmla="*/ 42 h 42"/>
                <a:gd name="T10" fmla="*/ 20 w 42"/>
                <a:gd name="T11" fmla="*/ 32 h 42"/>
                <a:gd name="T12" fmla="*/ 8 w 42"/>
                <a:gd name="T13" fmla="*/ 42 h 42"/>
                <a:gd name="T14" fmla="*/ 13 w 42"/>
                <a:gd name="T15" fmla="*/ 26 h 42"/>
                <a:gd name="T16" fmla="*/ 0 w 42"/>
                <a:gd name="T17" fmla="*/ 16 h 42"/>
                <a:gd name="T18" fmla="*/ 16 w 42"/>
                <a:gd name="T19" fmla="*/ 16 h 42"/>
                <a:gd name="T20" fmla="*/ 20 w 42"/>
                <a:gd name="T21" fmla="*/ 0 h 42"/>
                <a:gd name="T22" fmla="*/ 20 w 42"/>
                <a:gd name="T23" fmla="*/ 0 h 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2"/>
                <a:gd name="T37" fmla="*/ 0 h 42"/>
                <a:gd name="T38" fmla="*/ 42 w 42"/>
                <a:gd name="T39" fmla="*/ 42 h 4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2" h="42">
                  <a:moveTo>
                    <a:pt x="20" y="0"/>
                  </a:moveTo>
                  <a:lnTo>
                    <a:pt x="26" y="16"/>
                  </a:lnTo>
                  <a:lnTo>
                    <a:pt x="42" y="16"/>
                  </a:lnTo>
                  <a:lnTo>
                    <a:pt x="29" y="26"/>
                  </a:lnTo>
                  <a:lnTo>
                    <a:pt x="34" y="42"/>
                  </a:lnTo>
                  <a:lnTo>
                    <a:pt x="20" y="32"/>
                  </a:lnTo>
                  <a:lnTo>
                    <a:pt x="8" y="42"/>
                  </a:lnTo>
                  <a:lnTo>
                    <a:pt x="13" y="26"/>
                  </a:lnTo>
                  <a:lnTo>
                    <a:pt x="0" y="16"/>
                  </a:lnTo>
                  <a:lnTo>
                    <a:pt x="16" y="16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96" name="Freeform 34"/>
            <p:cNvSpPr>
              <a:spLocks/>
            </p:cNvSpPr>
            <p:nvPr/>
          </p:nvSpPr>
          <p:spPr bwMode="auto">
            <a:xfrm>
              <a:off x="2492" y="1986"/>
              <a:ext cx="40" cy="43"/>
            </a:xfrm>
            <a:custGeom>
              <a:avLst/>
              <a:gdLst>
                <a:gd name="T0" fmla="*/ 18 w 44"/>
                <a:gd name="T1" fmla="*/ 0 h 47"/>
                <a:gd name="T2" fmla="*/ 28 w 44"/>
                <a:gd name="T3" fmla="*/ 15 h 47"/>
                <a:gd name="T4" fmla="*/ 44 w 44"/>
                <a:gd name="T5" fmla="*/ 12 h 47"/>
                <a:gd name="T6" fmla="*/ 33 w 44"/>
                <a:gd name="T7" fmla="*/ 26 h 47"/>
                <a:gd name="T8" fmla="*/ 41 w 44"/>
                <a:gd name="T9" fmla="*/ 41 h 47"/>
                <a:gd name="T10" fmla="*/ 26 w 44"/>
                <a:gd name="T11" fmla="*/ 34 h 47"/>
                <a:gd name="T12" fmla="*/ 14 w 44"/>
                <a:gd name="T13" fmla="*/ 47 h 47"/>
                <a:gd name="T14" fmla="*/ 15 w 44"/>
                <a:gd name="T15" fmla="*/ 29 h 47"/>
                <a:gd name="T16" fmla="*/ 0 w 44"/>
                <a:gd name="T17" fmla="*/ 22 h 47"/>
                <a:gd name="T18" fmla="*/ 16 w 44"/>
                <a:gd name="T19" fmla="*/ 17 h 47"/>
                <a:gd name="T20" fmla="*/ 18 w 44"/>
                <a:gd name="T21" fmla="*/ 0 h 47"/>
                <a:gd name="T22" fmla="*/ 18 w 44"/>
                <a:gd name="T23" fmla="*/ 0 h 4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4"/>
                <a:gd name="T37" fmla="*/ 0 h 47"/>
                <a:gd name="T38" fmla="*/ 44 w 44"/>
                <a:gd name="T39" fmla="*/ 47 h 4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4" h="47">
                  <a:moveTo>
                    <a:pt x="18" y="0"/>
                  </a:moveTo>
                  <a:lnTo>
                    <a:pt x="28" y="15"/>
                  </a:lnTo>
                  <a:lnTo>
                    <a:pt x="44" y="12"/>
                  </a:lnTo>
                  <a:lnTo>
                    <a:pt x="33" y="26"/>
                  </a:lnTo>
                  <a:lnTo>
                    <a:pt x="41" y="41"/>
                  </a:lnTo>
                  <a:lnTo>
                    <a:pt x="26" y="34"/>
                  </a:lnTo>
                  <a:lnTo>
                    <a:pt x="14" y="47"/>
                  </a:lnTo>
                  <a:lnTo>
                    <a:pt x="15" y="29"/>
                  </a:lnTo>
                  <a:lnTo>
                    <a:pt x="0" y="22"/>
                  </a:lnTo>
                  <a:lnTo>
                    <a:pt x="16" y="1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4" name="Group 35"/>
          <p:cNvGrpSpPr>
            <a:grpSpLocks/>
          </p:cNvGrpSpPr>
          <p:nvPr/>
        </p:nvGrpSpPr>
        <p:grpSpPr bwMode="auto">
          <a:xfrm>
            <a:off x="1579563" y="914400"/>
            <a:ext cx="6059487" cy="4192588"/>
            <a:chOff x="1246" y="708"/>
            <a:chExt cx="4580" cy="2817"/>
          </a:xfrm>
        </p:grpSpPr>
        <p:sp>
          <p:nvSpPr>
            <p:cNvPr id="22535" name="Rectangle 36"/>
            <p:cNvSpPr>
              <a:spLocks noChangeArrowheads="1"/>
            </p:cNvSpPr>
            <p:nvPr/>
          </p:nvSpPr>
          <p:spPr bwMode="auto">
            <a:xfrm>
              <a:off x="2476" y="1818"/>
              <a:ext cx="3339" cy="32"/>
            </a:xfrm>
            <a:prstGeom prst="rect">
              <a:avLst/>
            </a:prstGeom>
            <a:solidFill>
              <a:srgbClr val="40404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36" name="Rectangle 37"/>
            <p:cNvSpPr>
              <a:spLocks noChangeArrowheads="1"/>
            </p:cNvSpPr>
            <p:nvPr/>
          </p:nvSpPr>
          <p:spPr bwMode="auto">
            <a:xfrm>
              <a:off x="2476" y="1850"/>
              <a:ext cx="3339" cy="129"/>
            </a:xfrm>
            <a:prstGeom prst="rect">
              <a:avLst/>
            </a:prstGeom>
            <a:solidFill>
              <a:srgbClr val="40404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37" name="Rectangle 38"/>
            <p:cNvSpPr>
              <a:spLocks noChangeArrowheads="1"/>
            </p:cNvSpPr>
            <p:nvPr/>
          </p:nvSpPr>
          <p:spPr bwMode="auto">
            <a:xfrm>
              <a:off x="3534" y="1848"/>
              <a:ext cx="1254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FFFFFF"/>
                  </a:solidFill>
                  <a:latin typeface="Arial Narrow" pitchFamily="34" charset="0"/>
                </a:rPr>
                <a:t>ASSESSED RISK OF WORK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538" name="Rectangle 39"/>
            <p:cNvSpPr>
              <a:spLocks noChangeArrowheads="1"/>
            </p:cNvSpPr>
            <p:nvPr/>
          </p:nvSpPr>
          <p:spPr bwMode="auto">
            <a:xfrm>
              <a:off x="2476" y="1979"/>
              <a:ext cx="3339" cy="33"/>
            </a:xfrm>
            <a:prstGeom prst="rect">
              <a:avLst/>
            </a:prstGeom>
            <a:solidFill>
              <a:srgbClr val="40404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39" name="Rectangle 40"/>
            <p:cNvSpPr>
              <a:spLocks noChangeArrowheads="1"/>
            </p:cNvSpPr>
            <p:nvPr/>
          </p:nvSpPr>
          <p:spPr bwMode="auto">
            <a:xfrm>
              <a:off x="1246" y="1807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40" name="Rectangle 41"/>
            <p:cNvSpPr>
              <a:spLocks noChangeArrowheads="1"/>
            </p:cNvSpPr>
            <p:nvPr/>
          </p:nvSpPr>
          <p:spPr bwMode="auto">
            <a:xfrm>
              <a:off x="1246" y="1807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41" name="Rectangle 42"/>
            <p:cNvSpPr>
              <a:spLocks noChangeArrowheads="1"/>
            </p:cNvSpPr>
            <p:nvPr/>
          </p:nvSpPr>
          <p:spPr bwMode="auto">
            <a:xfrm>
              <a:off x="1257" y="1807"/>
              <a:ext cx="1207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42" name="Rectangle 43"/>
            <p:cNvSpPr>
              <a:spLocks noChangeArrowheads="1"/>
            </p:cNvSpPr>
            <p:nvPr/>
          </p:nvSpPr>
          <p:spPr bwMode="auto">
            <a:xfrm>
              <a:off x="2464" y="1807"/>
              <a:ext cx="1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43" name="Rectangle 44"/>
            <p:cNvSpPr>
              <a:spLocks noChangeArrowheads="1"/>
            </p:cNvSpPr>
            <p:nvPr/>
          </p:nvSpPr>
          <p:spPr bwMode="auto">
            <a:xfrm>
              <a:off x="2476" y="1807"/>
              <a:ext cx="3339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44" name="Rectangle 45"/>
            <p:cNvSpPr>
              <a:spLocks noChangeArrowheads="1"/>
            </p:cNvSpPr>
            <p:nvPr/>
          </p:nvSpPr>
          <p:spPr bwMode="auto">
            <a:xfrm>
              <a:off x="5815" y="1807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45" name="Rectangle 46"/>
            <p:cNvSpPr>
              <a:spLocks noChangeArrowheads="1"/>
            </p:cNvSpPr>
            <p:nvPr/>
          </p:nvSpPr>
          <p:spPr bwMode="auto">
            <a:xfrm>
              <a:off x="5815" y="1807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46" name="Rectangle 47"/>
            <p:cNvSpPr>
              <a:spLocks noChangeArrowheads="1"/>
            </p:cNvSpPr>
            <p:nvPr/>
          </p:nvSpPr>
          <p:spPr bwMode="auto">
            <a:xfrm>
              <a:off x="1246" y="1818"/>
              <a:ext cx="11" cy="19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47" name="Rectangle 48"/>
            <p:cNvSpPr>
              <a:spLocks noChangeArrowheads="1"/>
            </p:cNvSpPr>
            <p:nvPr/>
          </p:nvSpPr>
          <p:spPr bwMode="auto">
            <a:xfrm>
              <a:off x="2464" y="1818"/>
              <a:ext cx="12" cy="19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48" name="Rectangle 49"/>
            <p:cNvSpPr>
              <a:spLocks noChangeArrowheads="1"/>
            </p:cNvSpPr>
            <p:nvPr/>
          </p:nvSpPr>
          <p:spPr bwMode="auto">
            <a:xfrm>
              <a:off x="5815" y="1818"/>
              <a:ext cx="11" cy="19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49" name="Rectangle 50"/>
            <p:cNvSpPr>
              <a:spLocks noChangeArrowheads="1"/>
            </p:cNvSpPr>
            <p:nvPr/>
          </p:nvSpPr>
          <p:spPr bwMode="auto">
            <a:xfrm>
              <a:off x="1257" y="1818"/>
              <a:ext cx="1207" cy="145"/>
            </a:xfrm>
            <a:prstGeom prst="rect">
              <a:avLst/>
            </a:prstGeom>
            <a:solidFill>
              <a:srgbClr val="666666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50" name="Rectangle 51"/>
            <p:cNvSpPr>
              <a:spLocks noChangeArrowheads="1"/>
            </p:cNvSpPr>
            <p:nvPr/>
          </p:nvSpPr>
          <p:spPr bwMode="auto">
            <a:xfrm>
              <a:off x="1257" y="1963"/>
              <a:ext cx="1207" cy="128"/>
            </a:xfrm>
            <a:prstGeom prst="rect">
              <a:avLst/>
            </a:prstGeom>
            <a:solidFill>
              <a:srgbClr val="666666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51" name="Rectangle 52"/>
            <p:cNvSpPr>
              <a:spLocks noChangeArrowheads="1"/>
            </p:cNvSpPr>
            <p:nvPr/>
          </p:nvSpPr>
          <p:spPr bwMode="auto">
            <a:xfrm>
              <a:off x="1702" y="1960"/>
              <a:ext cx="328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FFFFFF"/>
                  </a:solidFill>
                  <a:latin typeface="Arial Narrow" pitchFamily="34" charset="0"/>
                </a:rPr>
                <a:t>PHASE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552" name="Rectangle 53"/>
            <p:cNvSpPr>
              <a:spLocks noChangeArrowheads="1"/>
            </p:cNvSpPr>
            <p:nvPr/>
          </p:nvSpPr>
          <p:spPr bwMode="auto">
            <a:xfrm>
              <a:off x="1257" y="2091"/>
              <a:ext cx="1207" cy="147"/>
            </a:xfrm>
            <a:prstGeom prst="rect">
              <a:avLst/>
            </a:prstGeom>
            <a:solidFill>
              <a:srgbClr val="666666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53" name="Rectangle 54"/>
            <p:cNvSpPr>
              <a:spLocks noChangeArrowheads="1"/>
            </p:cNvSpPr>
            <p:nvPr/>
          </p:nvSpPr>
          <p:spPr bwMode="auto">
            <a:xfrm>
              <a:off x="2476" y="2024"/>
              <a:ext cx="1105" cy="40"/>
            </a:xfrm>
            <a:prstGeom prst="rect">
              <a:avLst/>
            </a:prstGeom>
            <a:solidFill>
              <a:srgbClr val="A6A6A6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54" name="Rectangle 55"/>
            <p:cNvSpPr>
              <a:spLocks noChangeArrowheads="1"/>
            </p:cNvSpPr>
            <p:nvPr/>
          </p:nvSpPr>
          <p:spPr bwMode="auto">
            <a:xfrm>
              <a:off x="2476" y="2064"/>
              <a:ext cx="1105" cy="131"/>
            </a:xfrm>
            <a:prstGeom prst="rect">
              <a:avLst/>
            </a:prstGeom>
            <a:solidFill>
              <a:srgbClr val="A6A6A6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55" name="Rectangle 56"/>
            <p:cNvSpPr>
              <a:spLocks noChangeArrowheads="1"/>
            </p:cNvSpPr>
            <p:nvPr/>
          </p:nvSpPr>
          <p:spPr bwMode="auto">
            <a:xfrm>
              <a:off x="2920" y="2064"/>
              <a:ext cx="21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FFFFFF"/>
                  </a:solidFill>
                  <a:latin typeface="Arial Narrow" pitchFamily="34" charset="0"/>
                </a:rPr>
                <a:t>LOW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556" name="Rectangle 57"/>
            <p:cNvSpPr>
              <a:spLocks noChangeArrowheads="1"/>
            </p:cNvSpPr>
            <p:nvPr/>
          </p:nvSpPr>
          <p:spPr bwMode="auto">
            <a:xfrm>
              <a:off x="2476" y="2195"/>
              <a:ext cx="1105" cy="41"/>
            </a:xfrm>
            <a:prstGeom prst="rect">
              <a:avLst/>
            </a:prstGeom>
            <a:solidFill>
              <a:srgbClr val="A6A6A6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57" name="Rectangle 58"/>
            <p:cNvSpPr>
              <a:spLocks noChangeArrowheads="1"/>
            </p:cNvSpPr>
            <p:nvPr/>
          </p:nvSpPr>
          <p:spPr bwMode="auto">
            <a:xfrm>
              <a:off x="3592" y="2024"/>
              <a:ext cx="1106" cy="40"/>
            </a:xfrm>
            <a:prstGeom prst="rect">
              <a:avLst/>
            </a:prstGeom>
            <a:solidFill>
              <a:srgbClr val="99999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58" name="Rectangle 59"/>
            <p:cNvSpPr>
              <a:spLocks noChangeArrowheads="1"/>
            </p:cNvSpPr>
            <p:nvPr/>
          </p:nvSpPr>
          <p:spPr bwMode="auto">
            <a:xfrm>
              <a:off x="3592" y="2064"/>
              <a:ext cx="1106" cy="131"/>
            </a:xfrm>
            <a:prstGeom prst="rect">
              <a:avLst/>
            </a:prstGeom>
            <a:solidFill>
              <a:srgbClr val="99999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59" name="Rectangle 60"/>
            <p:cNvSpPr>
              <a:spLocks noChangeArrowheads="1"/>
            </p:cNvSpPr>
            <p:nvPr/>
          </p:nvSpPr>
          <p:spPr bwMode="auto">
            <a:xfrm>
              <a:off x="3958" y="2064"/>
              <a:ext cx="385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FFFFFF"/>
                  </a:solidFill>
                  <a:latin typeface="Arial Narrow" pitchFamily="34" charset="0"/>
                </a:rPr>
                <a:t>MEDIUM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560" name="Rectangle 61"/>
            <p:cNvSpPr>
              <a:spLocks noChangeArrowheads="1"/>
            </p:cNvSpPr>
            <p:nvPr/>
          </p:nvSpPr>
          <p:spPr bwMode="auto">
            <a:xfrm>
              <a:off x="3592" y="2195"/>
              <a:ext cx="1106" cy="41"/>
            </a:xfrm>
            <a:prstGeom prst="rect">
              <a:avLst/>
            </a:prstGeom>
            <a:solidFill>
              <a:srgbClr val="99999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61" name="Rectangle 62"/>
            <p:cNvSpPr>
              <a:spLocks noChangeArrowheads="1"/>
            </p:cNvSpPr>
            <p:nvPr/>
          </p:nvSpPr>
          <p:spPr bwMode="auto">
            <a:xfrm>
              <a:off x="4709" y="2024"/>
              <a:ext cx="1106" cy="40"/>
            </a:xfrm>
            <a:prstGeom prst="rect">
              <a:avLst/>
            </a:prstGeom>
            <a:solidFill>
              <a:srgbClr val="737373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62" name="Rectangle 63"/>
            <p:cNvSpPr>
              <a:spLocks noChangeArrowheads="1"/>
            </p:cNvSpPr>
            <p:nvPr/>
          </p:nvSpPr>
          <p:spPr bwMode="auto">
            <a:xfrm>
              <a:off x="4709" y="2064"/>
              <a:ext cx="1106" cy="131"/>
            </a:xfrm>
            <a:prstGeom prst="rect">
              <a:avLst/>
            </a:prstGeom>
            <a:solidFill>
              <a:srgbClr val="737373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63" name="Rectangle 64"/>
            <p:cNvSpPr>
              <a:spLocks noChangeArrowheads="1"/>
            </p:cNvSpPr>
            <p:nvPr/>
          </p:nvSpPr>
          <p:spPr bwMode="auto">
            <a:xfrm>
              <a:off x="5147" y="2064"/>
              <a:ext cx="236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FFFFFF"/>
                  </a:solidFill>
                  <a:latin typeface="Arial Narrow" pitchFamily="34" charset="0"/>
                </a:rPr>
                <a:t>HIGH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564" name="Rectangle 65"/>
            <p:cNvSpPr>
              <a:spLocks noChangeArrowheads="1"/>
            </p:cNvSpPr>
            <p:nvPr/>
          </p:nvSpPr>
          <p:spPr bwMode="auto">
            <a:xfrm>
              <a:off x="4709" y="2195"/>
              <a:ext cx="1106" cy="41"/>
            </a:xfrm>
            <a:prstGeom prst="rect">
              <a:avLst/>
            </a:prstGeom>
            <a:solidFill>
              <a:srgbClr val="737373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65" name="Rectangle 66"/>
            <p:cNvSpPr>
              <a:spLocks noChangeArrowheads="1"/>
            </p:cNvSpPr>
            <p:nvPr/>
          </p:nvSpPr>
          <p:spPr bwMode="auto">
            <a:xfrm>
              <a:off x="1246" y="2012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66" name="Rectangle 67"/>
            <p:cNvSpPr>
              <a:spLocks noChangeArrowheads="1"/>
            </p:cNvSpPr>
            <p:nvPr/>
          </p:nvSpPr>
          <p:spPr bwMode="auto">
            <a:xfrm>
              <a:off x="2464" y="201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67" name="Rectangle 68"/>
            <p:cNvSpPr>
              <a:spLocks noChangeArrowheads="1"/>
            </p:cNvSpPr>
            <p:nvPr/>
          </p:nvSpPr>
          <p:spPr bwMode="auto">
            <a:xfrm>
              <a:off x="2476" y="2012"/>
              <a:ext cx="1105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68" name="Rectangle 69"/>
            <p:cNvSpPr>
              <a:spLocks noChangeArrowheads="1"/>
            </p:cNvSpPr>
            <p:nvPr/>
          </p:nvSpPr>
          <p:spPr bwMode="auto">
            <a:xfrm>
              <a:off x="3581" y="2012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69" name="Rectangle 70"/>
            <p:cNvSpPr>
              <a:spLocks noChangeArrowheads="1"/>
            </p:cNvSpPr>
            <p:nvPr/>
          </p:nvSpPr>
          <p:spPr bwMode="auto">
            <a:xfrm>
              <a:off x="3592" y="2012"/>
              <a:ext cx="110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70" name="Rectangle 71"/>
            <p:cNvSpPr>
              <a:spLocks noChangeArrowheads="1"/>
            </p:cNvSpPr>
            <p:nvPr/>
          </p:nvSpPr>
          <p:spPr bwMode="auto">
            <a:xfrm>
              <a:off x="4698" y="2012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71" name="Rectangle 72"/>
            <p:cNvSpPr>
              <a:spLocks noChangeArrowheads="1"/>
            </p:cNvSpPr>
            <p:nvPr/>
          </p:nvSpPr>
          <p:spPr bwMode="auto">
            <a:xfrm>
              <a:off x="4709" y="2012"/>
              <a:ext cx="110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72" name="Rectangle 73"/>
            <p:cNvSpPr>
              <a:spLocks noChangeArrowheads="1"/>
            </p:cNvSpPr>
            <p:nvPr/>
          </p:nvSpPr>
          <p:spPr bwMode="auto">
            <a:xfrm>
              <a:off x="5815" y="2012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73" name="Rectangle 74"/>
            <p:cNvSpPr>
              <a:spLocks noChangeArrowheads="1"/>
            </p:cNvSpPr>
            <p:nvPr/>
          </p:nvSpPr>
          <p:spPr bwMode="auto">
            <a:xfrm>
              <a:off x="1246" y="2024"/>
              <a:ext cx="11" cy="2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74" name="Rectangle 75"/>
            <p:cNvSpPr>
              <a:spLocks noChangeArrowheads="1"/>
            </p:cNvSpPr>
            <p:nvPr/>
          </p:nvSpPr>
          <p:spPr bwMode="auto">
            <a:xfrm>
              <a:off x="2464" y="2024"/>
              <a:ext cx="12" cy="2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75" name="Rectangle 76"/>
            <p:cNvSpPr>
              <a:spLocks noChangeArrowheads="1"/>
            </p:cNvSpPr>
            <p:nvPr/>
          </p:nvSpPr>
          <p:spPr bwMode="auto">
            <a:xfrm>
              <a:off x="3581" y="2024"/>
              <a:ext cx="11" cy="2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76" name="Rectangle 77"/>
            <p:cNvSpPr>
              <a:spLocks noChangeArrowheads="1"/>
            </p:cNvSpPr>
            <p:nvPr/>
          </p:nvSpPr>
          <p:spPr bwMode="auto">
            <a:xfrm>
              <a:off x="4698" y="2024"/>
              <a:ext cx="11" cy="2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77" name="Rectangle 78"/>
            <p:cNvSpPr>
              <a:spLocks noChangeArrowheads="1"/>
            </p:cNvSpPr>
            <p:nvPr/>
          </p:nvSpPr>
          <p:spPr bwMode="auto">
            <a:xfrm>
              <a:off x="5815" y="2024"/>
              <a:ext cx="11" cy="2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78" name="Rectangle 79"/>
            <p:cNvSpPr>
              <a:spLocks noChangeArrowheads="1"/>
            </p:cNvSpPr>
            <p:nvPr/>
          </p:nvSpPr>
          <p:spPr bwMode="auto">
            <a:xfrm>
              <a:off x="1257" y="2249"/>
              <a:ext cx="1207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79" name="Rectangle 80"/>
            <p:cNvSpPr>
              <a:spLocks noChangeArrowheads="1"/>
            </p:cNvSpPr>
            <p:nvPr/>
          </p:nvSpPr>
          <p:spPr bwMode="auto">
            <a:xfrm>
              <a:off x="1257" y="2285"/>
              <a:ext cx="1207" cy="1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80" name="Rectangle 81"/>
            <p:cNvSpPr>
              <a:spLocks noChangeArrowheads="1"/>
            </p:cNvSpPr>
            <p:nvPr/>
          </p:nvSpPr>
          <p:spPr bwMode="auto">
            <a:xfrm>
              <a:off x="1420" y="2283"/>
              <a:ext cx="908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FF0000"/>
                  </a:solidFill>
                  <a:latin typeface="Arial Narrow" pitchFamily="34" charset="0"/>
                </a:rPr>
                <a:t>RISK ASSESSMENT</a:t>
              </a:r>
              <a:endParaRPr lang="en-US" sz="5400">
                <a:solidFill>
                  <a:srgbClr val="FF0000"/>
                </a:solidFill>
                <a:latin typeface="Arial Narrow" pitchFamily="34" charset="0"/>
              </a:endParaRPr>
            </a:p>
          </p:txBody>
        </p:sp>
        <p:sp>
          <p:nvSpPr>
            <p:cNvPr id="22581" name="Rectangle 82"/>
            <p:cNvSpPr>
              <a:spLocks noChangeArrowheads="1"/>
            </p:cNvSpPr>
            <p:nvPr/>
          </p:nvSpPr>
          <p:spPr bwMode="auto">
            <a:xfrm>
              <a:off x="1257" y="2414"/>
              <a:ext cx="1207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82" name="Rectangle 83"/>
            <p:cNvSpPr>
              <a:spLocks noChangeArrowheads="1"/>
            </p:cNvSpPr>
            <p:nvPr/>
          </p:nvSpPr>
          <p:spPr bwMode="auto">
            <a:xfrm>
              <a:off x="2476" y="2249"/>
              <a:ext cx="1105" cy="36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83" name="Rectangle 84"/>
            <p:cNvSpPr>
              <a:spLocks noChangeArrowheads="1"/>
            </p:cNvSpPr>
            <p:nvPr/>
          </p:nvSpPr>
          <p:spPr bwMode="auto">
            <a:xfrm>
              <a:off x="2476" y="2285"/>
              <a:ext cx="1105" cy="129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84" name="Rectangle 85"/>
            <p:cNvSpPr>
              <a:spLocks noChangeArrowheads="1"/>
            </p:cNvSpPr>
            <p:nvPr/>
          </p:nvSpPr>
          <p:spPr bwMode="auto">
            <a:xfrm>
              <a:off x="2785" y="2283"/>
              <a:ext cx="501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FF0000"/>
                  </a:solidFill>
                  <a:latin typeface="Arial Narrow" pitchFamily="34" charset="0"/>
                </a:rPr>
                <a:t>REQUIRED</a:t>
              </a:r>
              <a:endParaRPr lang="en-US" sz="5400">
                <a:solidFill>
                  <a:srgbClr val="FF0000"/>
                </a:solidFill>
                <a:latin typeface="Arial Narrow" pitchFamily="34" charset="0"/>
              </a:endParaRPr>
            </a:p>
          </p:txBody>
        </p:sp>
        <p:sp>
          <p:nvSpPr>
            <p:cNvPr id="22585" name="Rectangle 86"/>
            <p:cNvSpPr>
              <a:spLocks noChangeArrowheads="1"/>
            </p:cNvSpPr>
            <p:nvPr/>
          </p:nvSpPr>
          <p:spPr bwMode="auto">
            <a:xfrm>
              <a:off x="2476" y="2414"/>
              <a:ext cx="1105" cy="36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86" name="Rectangle 87"/>
            <p:cNvSpPr>
              <a:spLocks noChangeArrowheads="1"/>
            </p:cNvSpPr>
            <p:nvPr/>
          </p:nvSpPr>
          <p:spPr bwMode="auto">
            <a:xfrm>
              <a:off x="3592" y="2249"/>
              <a:ext cx="1106" cy="36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87" name="Rectangle 88"/>
            <p:cNvSpPr>
              <a:spLocks noChangeArrowheads="1"/>
            </p:cNvSpPr>
            <p:nvPr/>
          </p:nvSpPr>
          <p:spPr bwMode="auto">
            <a:xfrm>
              <a:off x="3592" y="2285"/>
              <a:ext cx="1106" cy="129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88" name="Rectangle 89"/>
            <p:cNvSpPr>
              <a:spLocks noChangeArrowheads="1"/>
            </p:cNvSpPr>
            <p:nvPr/>
          </p:nvSpPr>
          <p:spPr bwMode="auto">
            <a:xfrm>
              <a:off x="3901" y="2283"/>
              <a:ext cx="501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FF0000"/>
                  </a:solidFill>
                  <a:latin typeface="Arial Narrow" pitchFamily="34" charset="0"/>
                </a:rPr>
                <a:t>REQUIRED</a:t>
              </a:r>
              <a:endParaRPr lang="en-US" sz="5400">
                <a:solidFill>
                  <a:srgbClr val="FF0000"/>
                </a:solidFill>
                <a:latin typeface="Arial Narrow" pitchFamily="34" charset="0"/>
              </a:endParaRPr>
            </a:p>
          </p:txBody>
        </p:sp>
        <p:sp>
          <p:nvSpPr>
            <p:cNvPr id="22589" name="Rectangle 90"/>
            <p:cNvSpPr>
              <a:spLocks noChangeArrowheads="1"/>
            </p:cNvSpPr>
            <p:nvPr/>
          </p:nvSpPr>
          <p:spPr bwMode="auto">
            <a:xfrm>
              <a:off x="3592" y="2414"/>
              <a:ext cx="1106" cy="36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90" name="Rectangle 91"/>
            <p:cNvSpPr>
              <a:spLocks noChangeArrowheads="1"/>
            </p:cNvSpPr>
            <p:nvPr/>
          </p:nvSpPr>
          <p:spPr bwMode="auto">
            <a:xfrm>
              <a:off x="4709" y="2249"/>
              <a:ext cx="1106" cy="36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91" name="Rectangle 92"/>
            <p:cNvSpPr>
              <a:spLocks noChangeArrowheads="1"/>
            </p:cNvSpPr>
            <p:nvPr/>
          </p:nvSpPr>
          <p:spPr bwMode="auto">
            <a:xfrm>
              <a:off x="4709" y="2285"/>
              <a:ext cx="1106" cy="129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92" name="Rectangle 93"/>
            <p:cNvSpPr>
              <a:spLocks noChangeArrowheads="1"/>
            </p:cNvSpPr>
            <p:nvPr/>
          </p:nvSpPr>
          <p:spPr bwMode="auto">
            <a:xfrm>
              <a:off x="5018" y="2283"/>
              <a:ext cx="501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FF0000"/>
                  </a:solidFill>
                  <a:latin typeface="Arial Narrow" pitchFamily="34" charset="0"/>
                </a:rPr>
                <a:t>REQUIRED</a:t>
              </a:r>
              <a:endParaRPr lang="en-US" sz="5400">
                <a:solidFill>
                  <a:srgbClr val="FF0000"/>
                </a:solidFill>
                <a:latin typeface="Arial Narrow" pitchFamily="34" charset="0"/>
              </a:endParaRPr>
            </a:p>
          </p:txBody>
        </p:sp>
        <p:sp>
          <p:nvSpPr>
            <p:cNvPr id="22593" name="Rectangle 94"/>
            <p:cNvSpPr>
              <a:spLocks noChangeArrowheads="1"/>
            </p:cNvSpPr>
            <p:nvPr/>
          </p:nvSpPr>
          <p:spPr bwMode="auto">
            <a:xfrm>
              <a:off x="4709" y="2414"/>
              <a:ext cx="1106" cy="36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94" name="Rectangle 95"/>
            <p:cNvSpPr>
              <a:spLocks noChangeArrowheads="1"/>
            </p:cNvSpPr>
            <p:nvPr/>
          </p:nvSpPr>
          <p:spPr bwMode="auto">
            <a:xfrm>
              <a:off x="1246" y="223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95" name="Rectangle 96"/>
            <p:cNvSpPr>
              <a:spLocks noChangeArrowheads="1"/>
            </p:cNvSpPr>
            <p:nvPr/>
          </p:nvSpPr>
          <p:spPr bwMode="auto">
            <a:xfrm>
              <a:off x="1257" y="2238"/>
              <a:ext cx="1207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96" name="Rectangle 97"/>
            <p:cNvSpPr>
              <a:spLocks noChangeArrowheads="1"/>
            </p:cNvSpPr>
            <p:nvPr/>
          </p:nvSpPr>
          <p:spPr bwMode="auto">
            <a:xfrm>
              <a:off x="2464" y="2238"/>
              <a:ext cx="1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97" name="Rectangle 98"/>
            <p:cNvSpPr>
              <a:spLocks noChangeArrowheads="1"/>
            </p:cNvSpPr>
            <p:nvPr/>
          </p:nvSpPr>
          <p:spPr bwMode="auto">
            <a:xfrm>
              <a:off x="2476" y="2238"/>
              <a:ext cx="1105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98" name="Rectangle 99"/>
            <p:cNvSpPr>
              <a:spLocks noChangeArrowheads="1"/>
            </p:cNvSpPr>
            <p:nvPr/>
          </p:nvSpPr>
          <p:spPr bwMode="auto">
            <a:xfrm>
              <a:off x="3581" y="223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599" name="Rectangle 100"/>
            <p:cNvSpPr>
              <a:spLocks noChangeArrowheads="1"/>
            </p:cNvSpPr>
            <p:nvPr/>
          </p:nvSpPr>
          <p:spPr bwMode="auto">
            <a:xfrm>
              <a:off x="3592" y="2238"/>
              <a:ext cx="110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00" name="Rectangle 101"/>
            <p:cNvSpPr>
              <a:spLocks noChangeArrowheads="1"/>
            </p:cNvSpPr>
            <p:nvPr/>
          </p:nvSpPr>
          <p:spPr bwMode="auto">
            <a:xfrm>
              <a:off x="4698" y="223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01" name="Rectangle 102"/>
            <p:cNvSpPr>
              <a:spLocks noChangeArrowheads="1"/>
            </p:cNvSpPr>
            <p:nvPr/>
          </p:nvSpPr>
          <p:spPr bwMode="auto">
            <a:xfrm>
              <a:off x="4709" y="2238"/>
              <a:ext cx="110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02" name="Rectangle 103"/>
            <p:cNvSpPr>
              <a:spLocks noChangeArrowheads="1"/>
            </p:cNvSpPr>
            <p:nvPr/>
          </p:nvSpPr>
          <p:spPr bwMode="auto">
            <a:xfrm>
              <a:off x="5815" y="223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03" name="Rectangle 104"/>
            <p:cNvSpPr>
              <a:spLocks noChangeArrowheads="1"/>
            </p:cNvSpPr>
            <p:nvPr/>
          </p:nvSpPr>
          <p:spPr bwMode="auto">
            <a:xfrm>
              <a:off x="1246" y="2249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04" name="Rectangle 105"/>
            <p:cNvSpPr>
              <a:spLocks noChangeArrowheads="1"/>
            </p:cNvSpPr>
            <p:nvPr/>
          </p:nvSpPr>
          <p:spPr bwMode="auto">
            <a:xfrm>
              <a:off x="2464" y="2249"/>
              <a:ext cx="12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05" name="Rectangle 106"/>
            <p:cNvSpPr>
              <a:spLocks noChangeArrowheads="1"/>
            </p:cNvSpPr>
            <p:nvPr/>
          </p:nvSpPr>
          <p:spPr bwMode="auto">
            <a:xfrm>
              <a:off x="3581" y="2249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06" name="Rectangle 107"/>
            <p:cNvSpPr>
              <a:spLocks noChangeArrowheads="1"/>
            </p:cNvSpPr>
            <p:nvPr/>
          </p:nvSpPr>
          <p:spPr bwMode="auto">
            <a:xfrm>
              <a:off x="4698" y="2249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07" name="Rectangle 108"/>
            <p:cNvSpPr>
              <a:spLocks noChangeArrowheads="1"/>
            </p:cNvSpPr>
            <p:nvPr/>
          </p:nvSpPr>
          <p:spPr bwMode="auto">
            <a:xfrm>
              <a:off x="5815" y="2249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08" name="Rectangle 109"/>
            <p:cNvSpPr>
              <a:spLocks noChangeArrowheads="1"/>
            </p:cNvSpPr>
            <p:nvPr/>
          </p:nvSpPr>
          <p:spPr bwMode="auto">
            <a:xfrm>
              <a:off x="1257" y="2462"/>
              <a:ext cx="1207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09" name="Rectangle 110"/>
            <p:cNvSpPr>
              <a:spLocks noChangeArrowheads="1"/>
            </p:cNvSpPr>
            <p:nvPr/>
          </p:nvSpPr>
          <p:spPr bwMode="auto">
            <a:xfrm>
              <a:off x="1257" y="2498"/>
              <a:ext cx="1207" cy="1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10" name="Rectangle 111"/>
            <p:cNvSpPr>
              <a:spLocks noChangeArrowheads="1"/>
            </p:cNvSpPr>
            <p:nvPr/>
          </p:nvSpPr>
          <p:spPr bwMode="auto">
            <a:xfrm>
              <a:off x="1388" y="2495"/>
              <a:ext cx="967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010000"/>
                  </a:solidFill>
                  <a:latin typeface="Arial Narrow" pitchFamily="34" charset="0"/>
                </a:rPr>
                <a:t>PRE-QUALIFICATION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611" name="Rectangle 112"/>
            <p:cNvSpPr>
              <a:spLocks noChangeArrowheads="1"/>
            </p:cNvSpPr>
            <p:nvPr/>
          </p:nvSpPr>
          <p:spPr bwMode="auto">
            <a:xfrm>
              <a:off x="1257" y="2626"/>
              <a:ext cx="1207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12" name="Rectangle 113"/>
            <p:cNvSpPr>
              <a:spLocks noChangeArrowheads="1"/>
            </p:cNvSpPr>
            <p:nvPr/>
          </p:nvSpPr>
          <p:spPr bwMode="auto">
            <a:xfrm>
              <a:off x="2476" y="2462"/>
              <a:ext cx="1105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13" name="Rectangle 114"/>
            <p:cNvSpPr>
              <a:spLocks noChangeArrowheads="1"/>
            </p:cNvSpPr>
            <p:nvPr/>
          </p:nvSpPr>
          <p:spPr bwMode="auto">
            <a:xfrm>
              <a:off x="2476" y="2498"/>
              <a:ext cx="1105" cy="1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14" name="Rectangle 115"/>
            <p:cNvSpPr>
              <a:spLocks noChangeArrowheads="1"/>
            </p:cNvSpPr>
            <p:nvPr/>
          </p:nvSpPr>
          <p:spPr bwMode="auto">
            <a:xfrm>
              <a:off x="2815" y="2501"/>
              <a:ext cx="479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defTabSz="800100" eaLnBrk="0" hangingPunct="0"/>
              <a:r>
                <a:rPr lang="en-US" b="0">
                  <a:solidFill>
                    <a:srgbClr val="010000"/>
                  </a:solidFill>
                  <a:latin typeface="Arial Narrow" pitchFamily="34" charset="0"/>
                </a:rPr>
                <a:t>OPTIONAL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615" name="Rectangle 116"/>
            <p:cNvSpPr>
              <a:spLocks noChangeArrowheads="1"/>
            </p:cNvSpPr>
            <p:nvPr/>
          </p:nvSpPr>
          <p:spPr bwMode="auto">
            <a:xfrm>
              <a:off x="2476" y="2626"/>
              <a:ext cx="1105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16" name="Rectangle 117"/>
            <p:cNvSpPr>
              <a:spLocks noChangeArrowheads="1"/>
            </p:cNvSpPr>
            <p:nvPr/>
          </p:nvSpPr>
          <p:spPr bwMode="auto">
            <a:xfrm>
              <a:off x="3592" y="2462"/>
              <a:ext cx="1106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17" name="Rectangle 118"/>
            <p:cNvSpPr>
              <a:spLocks noChangeArrowheads="1"/>
            </p:cNvSpPr>
            <p:nvPr/>
          </p:nvSpPr>
          <p:spPr bwMode="auto">
            <a:xfrm>
              <a:off x="3592" y="2498"/>
              <a:ext cx="1106" cy="1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18" name="Rectangle 119"/>
            <p:cNvSpPr>
              <a:spLocks noChangeArrowheads="1"/>
            </p:cNvSpPr>
            <p:nvPr/>
          </p:nvSpPr>
          <p:spPr bwMode="auto">
            <a:xfrm>
              <a:off x="3898" y="2501"/>
              <a:ext cx="479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 b="0">
                  <a:solidFill>
                    <a:srgbClr val="010000"/>
                  </a:solidFill>
                  <a:latin typeface="Arial Narrow" pitchFamily="34" charset="0"/>
                </a:rPr>
                <a:t>OPTIONAL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619" name="Rectangle 120"/>
            <p:cNvSpPr>
              <a:spLocks noChangeArrowheads="1"/>
            </p:cNvSpPr>
            <p:nvPr/>
          </p:nvSpPr>
          <p:spPr bwMode="auto">
            <a:xfrm>
              <a:off x="3592" y="2626"/>
              <a:ext cx="1106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20" name="Rectangle 121"/>
            <p:cNvSpPr>
              <a:spLocks noChangeArrowheads="1"/>
            </p:cNvSpPr>
            <p:nvPr/>
          </p:nvSpPr>
          <p:spPr bwMode="auto">
            <a:xfrm>
              <a:off x="4709" y="2462"/>
              <a:ext cx="1106" cy="36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21" name="Rectangle 122"/>
            <p:cNvSpPr>
              <a:spLocks noChangeArrowheads="1"/>
            </p:cNvSpPr>
            <p:nvPr/>
          </p:nvSpPr>
          <p:spPr bwMode="auto">
            <a:xfrm>
              <a:off x="4709" y="2498"/>
              <a:ext cx="1106" cy="128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22" name="Rectangle 123"/>
            <p:cNvSpPr>
              <a:spLocks noChangeArrowheads="1"/>
            </p:cNvSpPr>
            <p:nvPr/>
          </p:nvSpPr>
          <p:spPr bwMode="auto">
            <a:xfrm>
              <a:off x="5018" y="2495"/>
              <a:ext cx="501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010000"/>
                  </a:solidFill>
                  <a:latin typeface="Arial Narrow" pitchFamily="34" charset="0"/>
                </a:rPr>
                <a:t>REQUIRED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623" name="Rectangle 124"/>
            <p:cNvSpPr>
              <a:spLocks noChangeArrowheads="1"/>
            </p:cNvSpPr>
            <p:nvPr/>
          </p:nvSpPr>
          <p:spPr bwMode="auto">
            <a:xfrm>
              <a:off x="4709" y="2626"/>
              <a:ext cx="1106" cy="36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24" name="Rectangle 125"/>
            <p:cNvSpPr>
              <a:spLocks noChangeArrowheads="1"/>
            </p:cNvSpPr>
            <p:nvPr/>
          </p:nvSpPr>
          <p:spPr bwMode="auto">
            <a:xfrm>
              <a:off x="1246" y="2450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25" name="Rectangle 126"/>
            <p:cNvSpPr>
              <a:spLocks noChangeArrowheads="1"/>
            </p:cNvSpPr>
            <p:nvPr/>
          </p:nvSpPr>
          <p:spPr bwMode="auto">
            <a:xfrm>
              <a:off x="1257" y="2450"/>
              <a:ext cx="1207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26" name="Rectangle 127"/>
            <p:cNvSpPr>
              <a:spLocks noChangeArrowheads="1"/>
            </p:cNvSpPr>
            <p:nvPr/>
          </p:nvSpPr>
          <p:spPr bwMode="auto">
            <a:xfrm>
              <a:off x="2464" y="2450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27" name="Rectangle 128"/>
            <p:cNvSpPr>
              <a:spLocks noChangeArrowheads="1"/>
            </p:cNvSpPr>
            <p:nvPr/>
          </p:nvSpPr>
          <p:spPr bwMode="auto">
            <a:xfrm>
              <a:off x="2476" y="2450"/>
              <a:ext cx="1105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28" name="Rectangle 129"/>
            <p:cNvSpPr>
              <a:spLocks noChangeArrowheads="1"/>
            </p:cNvSpPr>
            <p:nvPr/>
          </p:nvSpPr>
          <p:spPr bwMode="auto">
            <a:xfrm>
              <a:off x="3581" y="2450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29" name="Rectangle 130"/>
            <p:cNvSpPr>
              <a:spLocks noChangeArrowheads="1"/>
            </p:cNvSpPr>
            <p:nvPr/>
          </p:nvSpPr>
          <p:spPr bwMode="auto">
            <a:xfrm>
              <a:off x="3592" y="2450"/>
              <a:ext cx="110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30" name="Rectangle 131"/>
            <p:cNvSpPr>
              <a:spLocks noChangeArrowheads="1"/>
            </p:cNvSpPr>
            <p:nvPr/>
          </p:nvSpPr>
          <p:spPr bwMode="auto">
            <a:xfrm>
              <a:off x="4698" y="2450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31" name="Rectangle 132"/>
            <p:cNvSpPr>
              <a:spLocks noChangeArrowheads="1"/>
            </p:cNvSpPr>
            <p:nvPr/>
          </p:nvSpPr>
          <p:spPr bwMode="auto">
            <a:xfrm>
              <a:off x="4709" y="2450"/>
              <a:ext cx="110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32" name="Rectangle 133"/>
            <p:cNvSpPr>
              <a:spLocks noChangeArrowheads="1"/>
            </p:cNvSpPr>
            <p:nvPr/>
          </p:nvSpPr>
          <p:spPr bwMode="auto">
            <a:xfrm>
              <a:off x="5815" y="2450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33" name="Rectangle 134"/>
            <p:cNvSpPr>
              <a:spLocks noChangeArrowheads="1"/>
            </p:cNvSpPr>
            <p:nvPr/>
          </p:nvSpPr>
          <p:spPr bwMode="auto">
            <a:xfrm>
              <a:off x="1246" y="2462"/>
              <a:ext cx="11" cy="20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34" name="Rectangle 135"/>
            <p:cNvSpPr>
              <a:spLocks noChangeArrowheads="1"/>
            </p:cNvSpPr>
            <p:nvPr/>
          </p:nvSpPr>
          <p:spPr bwMode="auto">
            <a:xfrm>
              <a:off x="2464" y="2462"/>
              <a:ext cx="12" cy="20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35" name="Rectangle 136"/>
            <p:cNvSpPr>
              <a:spLocks noChangeArrowheads="1"/>
            </p:cNvSpPr>
            <p:nvPr/>
          </p:nvSpPr>
          <p:spPr bwMode="auto">
            <a:xfrm>
              <a:off x="3581" y="2462"/>
              <a:ext cx="11" cy="20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36" name="Rectangle 137"/>
            <p:cNvSpPr>
              <a:spLocks noChangeArrowheads="1"/>
            </p:cNvSpPr>
            <p:nvPr/>
          </p:nvSpPr>
          <p:spPr bwMode="auto">
            <a:xfrm>
              <a:off x="4698" y="2462"/>
              <a:ext cx="11" cy="20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37" name="Rectangle 138"/>
            <p:cNvSpPr>
              <a:spLocks noChangeArrowheads="1"/>
            </p:cNvSpPr>
            <p:nvPr/>
          </p:nvSpPr>
          <p:spPr bwMode="auto">
            <a:xfrm>
              <a:off x="5815" y="2462"/>
              <a:ext cx="11" cy="20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38" name="Rectangle 139"/>
            <p:cNvSpPr>
              <a:spLocks noChangeArrowheads="1"/>
            </p:cNvSpPr>
            <p:nvPr/>
          </p:nvSpPr>
          <p:spPr bwMode="auto">
            <a:xfrm>
              <a:off x="1257" y="2674"/>
              <a:ext cx="1207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39" name="Rectangle 140"/>
            <p:cNvSpPr>
              <a:spLocks noChangeArrowheads="1"/>
            </p:cNvSpPr>
            <p:nvPr/>
          </p:nvSpPr>
          <p:spPr bwMode="auto">
            <a:xfrm>
              <a:off x="1257" y="2710"/>
              <a:ext cx="1207" cy="1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40" name="Rectangle 141"/>
            <p:cNvSpPr>
              <a:spLocks noChangeArrowheads="1"/>
            </p:cNvSpPr>
            <p:nvPr/>
          </p:nvSpPr>
          <p:spPr bwMode="auto">
            <a:xfrm>
              <a:off x="1598" y="2708"/>
              <a:ext cx="542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010000"/>
                  </a:solidFill>
                  <a:latin typeface="Arial Narrow" pitchFamily="34" charset="0"/>
                </a:rPr>
                <a:t>SELECTION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641" name="Rectangle 142"/>
            <p:cNvSpPr>
              <a:spLocks noChangeArrowheads="1"/>
            </p:cNvSpPr>
            <p:nvPr/>
          </p:nvSpPr>
          <p:spPr bwMode="auto">
            <a:xfrm>
              <a:off x="1257" y="2838"/>
              <a:ext cx="1207" cy="3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42" name="Rectangle 143"/>
            <p:cNvSpPr>
              <a:spLocks noChangeArrowheads="1"/>
            </p:cNvSpPr>
            <p:nvPr/>
          </p:nvSpPr>
          <p:spPr bwMode="auto">
            <a:xfrm>
              <a:off x="2476" y="2674"/>
              <a:ext cx="1105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43" name="Rectangle 144"/>
            <p:cNvSpPr>
              <a:spLocks noChangeArrowheads="1"/>
            </p:cNvSpPr>
            <p:nvPr/>
          </p:nvSpPr>
          <p:spPr bwMode="auto">
            <a:xfrm>
              <a:off x="2476" y="2710"/>
              <a:ext cx="1105" cy="1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44" name="Rectangle 145"/>
            <p:cNvSpPr>
              <a:spLocks noChangeArrowheads="1"/>
            </p:cNvSpPr>
            <p:nvPr/>
          </p:nvSpPr>
          <p:spPr bwMode="auto">
            <a:xfrm>
              <a:off x="2799" y="2702"/>
              <a:ext cx="478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 b="0">
                  <a:solidFill>
                    <a:srgbClr val="010000"/>
                  </a:solidFill>
                  <a:latin typeface="Arial Narrow" pitchFamily="34" charset="0"/>
                </a:rPr>
                <a:t>OPTIONAL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645" name="Rectangle 146"/>
            <p:cNvSpPr>
              <a:spLocks noChangeArrowheads="1"/>
            </p:cNvSpPr>
            <p:nvPr/>
          </p:nvSpPr>
          <p:spPr bwMode="auto">
            <a:xfrm>
              <a:off x="2476" y="2838"/>
              <a:ext cx="1105" cy="3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46" name="Rectangle 147"/>
            <p:cNvSpPr>
              <a:spLocks noChangeArrowheads="1"/>
            </p:cNvSpPr>
            <p:nvPr/>
          </p:nvSpPr>
          <p:spPr bwMode="auto">
            <a:xfrm>
              <a:off x="3592" y="2674"/>
              <a:ext cx="1106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47" name="Rectangle 148"/>
            <p:cNvSpPr>
              <a:spLocks noChangeArrowheads="1"/>
            </p:cNvSpPr>
            <p:nvPr/>
          </p:nvSpPr>
          <p:spPr bwMode="auto">
            <a:xfrm>
              <a:off x="3592" y="2710"/>
              <a:ext cx="1106" cy="1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48" name="Rectangle 149"/>
            <p:cNvSpPr>
              <a:spLocks noChangeArrowheads="1"/>
            </p:cNvSpPr>
            <p:nvPr/>
          </p:nvSpPr>
          <p:spPr bwMode="auto">
            <a:xfrm>
              <a:off x="3898" y="2708"/>
              <a:ext cx="479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 b="0">
                  <a:solidFill>
                    <a:srgbClr val="010000"/>
                  </a:solidFill>
                  <a:latin typeface="Arial Narrow" pitchFamily="34" charset="0"/>
                </a:rPr>
                <a:t>OPTIONAL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649" name="Rectangle 150"/>
            <p:cNvSpPr>
              <a:spLocks noChangeArrowheads="1"/>
            </p:cNvSpPr>
            <p:nvPr/>
          </p:nvSpPr>
          <p:spPr bwMode="auto">
            <a:xfrm>
              <a:off x="3592" y="2838"/>
              <a:ext cx="1106" cy="3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50" name="Rectangle 151"/>
            <p:cNvSpPr>
              <a:spLocks noChangeArrowheads="1"/>
            </p:cNvSpPr>
            <p:nvPr/>
          </p:nvSpPr>
          <p:spPr bwMode="auto">
            <a:xfrm>
              <a:off x="4709" y="2674"/>
              <a:ext cx="1106" cy="36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51" name="Rectangle 152"/>
            <p:cNvSpPr>
              <a:spLocks noChangeArrowheads="1"/>
            </p:cNvSpPr>
            <p:nvPr/>
          </p:nvSpPr>
          <p:spPr bwMode="auto">
            <a:xfrm>
              <a:off x="4709" y="2710"/>
              <a:ext cx="1106" cy="128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52" name="Rectangle 153"/>
            <p:cNvSpPr>
              <a:spLocks noChangeArrowheads="1"/>
            </p:cNvSpPr>
            <p:nvPr/>
          </p:nvSpPr>
          <p:spPr bwMode="auto">
            <a:xfrm>
              <a:off x="5018" y="2708"/>
              <a:ext cx="501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010000"/>
                  </a:solidFill>
                  <a:latin typeface="Arial Narrow" pitchFamily="34" charset="0"/>
                </a:rPr>
                <a:t>REQUIRED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653" name="Rectangle 154"/>
            <p:cNvSpPr>
              <a:spLocks noChangeArrowheads="1"/>
            </p:cNvSpPr>
            <p:nvPr/>
          </p:nvSpPr>
          <p:spPr bwMode="auto">
            <a:xfrm>
              <a:off x="4709" y="2838"/>
              <a:ext cx="1106" cy="37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54" name="Rectangle 155"/>
            <p:cNvSpPr>
              <a:spLocks noChangeArrowheads="1"/>
            </p:cNvSpPr>
            <p:nvPr/>
          </p:nvSpPr>
          <p:spPr bwMode="auto">
            <a:xfrm>
              <a:off x="1246" y="2662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55" name="Rectangle 156"/>
            <p:cNvSpPr>
              <a:spLocks noChangeArrowheads="1"/>
            </p:cNvSpPr>
            <p:nvPr/>
          </p:nvSpPr>
          <p:spPr bwMode="auto">
            <a:xfrm>
              <a:off x="1257" y="2662"/>
              <a:ext cx="1207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56" name="Rectangle 157"/>
            <p:cNvSpPr>
              <a:spLocks noChangeArrowheads="1"/>
            </p:cNvSpPr>
            <p:nvPr/>
          </p:nvSpPr>
          <p:spPr bwMode="auto">
            <a:xfrm>
              <a:off x="2464" y="266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57" name="Rectangle 158"/>
            <p:cNvSpPr>
              <a:spLocks noChangeArrowheads="1"/>
            </p:cNvSpPr>
            <p:nvPr/>
          </p:nvSpPr>
          <p:spPr bwMode="auto">
            <a:xfrm>
              <a:off x="2476" y="2662"/>
              <a:ext cx="1105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58" name="Rectangle 159"/>
            <p:cNvSpPr>
              <a:spLocks noChangeArrowheads="1"/>
            </p:cNvSpPr>
            <p:nvPr/>
          </p:nvSpPr>
          <p:spPr bwMode="auto">
            <a:xfrm>
              <a:off x="3581" y="2662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59" name="Rectangle 160"/>
            <p:cNvSpPr>
              <a:spLocks noChangeArrowheads="1"/>
            </p:cNvSpPr>
            <p:nvPr/>
          </p:nvSpPr>
          <p:spPr bwMode="auto">
            <a:xfrm>
              <a:off x="3592" y="2662"/>
              <a:ext cx="110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60" name="Rectangle 161"/>
            <p:cNvSpPr>
              <a:spLocks noChangeArrowheads="1"/>
            </p:cNvSpPr>
            <p:nvPr/>
          </p:nvSpPr>
          <p:spPr bwMode="auto">
            <a:xfrm>
              <a:off x="4698" y="2662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61" name="Rectangle 162"/>
            <p:cNvSpPr>
              <a:spLocks noChangeArrowheads="1"/>
            </p:cNvSpPr>
            <p:nvPr/>
          </p:nvSpPr>
          <p:spPr bwMode="auto">
            <a:xfrm>
              <a:off x="4709" y="2662"/>
              <a:ext cx="110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62" name="Rectangle 163"/>
            <p:cNvSpPr>
              <a:spLocks noChangeArrowheads="1"/>
            </p:cNvSpPr>
            <p:nvPr/>
          </p:nvSpPr>
          <p:spPr bwMode="auto">
            <a:xfrm>
              <a:off x="5815" y="2662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63" name="Rectangle 164"/>
            <p:cNvSpPr>
              <a:spLocks noChangeArrowheads="1"/>
            </p:cNvSpPr>
            <p:nvPr/>
          </p:nvSpPr>
          <p:spPr bwMode="auto">
            <a:xfrm>
              <a:off x="1246" y="2674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64" name="Rectangle 165"/>
            <p:cNvSpPr>
              <a:spLocks noChangeArrowheads="1"/>
            </p:cNvSpPr>
            <p:nvPr/>
          </p:nvSpPr>
          <p:spPr bwMode="auto">
            <a:xfrm>
              <a:off x="2464" y="2674"/>
              <a:ext cx="12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65" name="Rectangle 166"/>
            <p:cNvSpPr>
              <a:spLocks noChangeArrowheads="1"/>
            </p:cNvSpPr>
            <p:nvPr/>
          </p:nvSpPr>
          <p:spPr bwMode="auto">
            <a:xfrm>
              <a:off x="3581" y="2674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66" name="Rectangle 167"/>
            <p:cNvSpPr>
              <a:spLocks noChangeArrowheads="1"/>
            </p:cNvSpPr>
            <p:nvPr/>
          </p:nvSpPr>
          <p:spPr bwMode="auto">
            <a:xfrm>
              <a:off x="4698" y="2674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67" name="Rectangle 168"/>
            <p:cNvSpPr>
              <a:spLocks noChangeArrowheads="1"/>
            </p:cNvSpPr>
            <p:nvPr/>
          </p:nvSpPr>
          <p:spPr bwMode="auto">
            <a:xfrm>
              <a:off x="5815" y="2674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68" name="Rectangle 169"/>
            <p:cNvSpPr>
              <a:spLocks noChangeArrowheads="1"/>
            </p:cNvSpPr>
            <p:nvPr/>
          </p:nvSpPr>
          <p:spPr bwMode="auto">
            <a:xfrm>
              <a:off x="1257" y="2886"/>
              <a:ext cx="1207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69" name="Rectangle 170"/>
            <p:cNvSpPr>
              <a:spLocks noChangeArrowheads="1"/>
            </p:cNvSpPr>
            <p:nvPr/>
          </p:nvSpPr>
          <p:spPr bwMode="auto">
            <a:xfrm>
              <a:off x="1257" y="2922"/>
              <a:ext cx="1207" cy="13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70" name="Rectangle 171"/>
            <p:cNvSpPr>
              <a:spLocks noChangeArrowheads="1"/>
            </p:cNvSpPr>
            <p:nvPr/>
          </p:nvSpPr>
          <p:spPr bwMode="auto">
            <a:xfrm>
              <a:off x="1391" y="2922"/>
              <a:ext cx="970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010000"/>
                  </a:solidFill>
                  <a:latin typeface="Arial Narrow" pitchFamily="34" charset="0"/>
                </a:rPr>
                <a:t>PRE-JOB ACTIVITIES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671" name="Rectangle 172"/>
            <p:cNvSpPr>
              <a:spLocks noChangeArrowheads="1"/>
            </p:cNvSpPr>
            <p:nvPr/>
          </p:nvSpPr>
          <p:spPr bwMode="auto">
            <a:xfrm>
              <a:off x="1257" y="3053"/>
              <a:ext cx="1207" cy="3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72" name="Rectangle 173"/>
            <p:cNvSpPr>
              <a:spLocks noChangeArrowheads="1"/>
            </p:cNvSpPr>
            <p:nvPr/>
          </p:nvSpPr>
          <p:spPr bwMode="auto">
            <a:xfrm>
              <a:off x="2476" y="2886"/>
              <a:ext cx="1105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73" name="Rectangle 174"/>
            <p:cNvSpPr>
              <a:spLocks noChangeArrowheads="1"/>
            </p:cNvSpPr>
            <p:nvPr/>
          </p:nvSpPr>
          <p:spPr bwMode="auto">
            <a:xfrm>
              <a:off x="2476" y="2922"/>
              <a:ext cx="1105" cy="13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74" name="Rectangle 175"/>
            <p:cNvSpPr>
              <a:spLocks noChangeArrowheads="1"/>
            </p:cNvSpPr>
            <p:nvPr/>
          </p:nvSpPr>
          <p:spPr bwMode="auto">
            <a:xfrm>
              <a:off x="2799" y="2916"/>
              <a:ext cx="478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 b="0">
                  <a:solidFill>
                    <a:srgbClr val="010000"/>
                  </a:solidFill>
                  <a:latin typeface="Arial Narrow" pitchFamily="34" charset="0"/>
                </a:rPr>
                <a:t>OPTIONAL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675" name="Rectangle 176"/>
            <p:cNvSpPr>
              <a:spLocks noChangeArrowheads="1"/>
            </p:cNvSpPr>
            <p:nvPr/>
          </p:nvSpPr>
          <p:spPr bwMode="auto">
            <a:xfrm>
              <a:off x="2476" y="3053"/>
              <a:ext cx="1105" cy="3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76" name="Rectangle 177"/>
            <p:cNvSpPr>
              <a:spLocks noChangeArrowheads="1"/>
            </p:cNvSpPr>
            <p:nvPr/>
          </p:nvSpPr>
          <p:spPr bwMode="auto">
            <a:xfrm>
              <a:off x="3592" y="2886"/>
              <a:ext cx="1106" cy="36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77" name="Rectangle 178"/>
            <p:cNvSpPr>
              <a:spLocks noChangeArrowheads="1"/>
            </p:cNvSpPr>
            <p:nvPr/>
          </p:nvSpPr>
          <p:spPr bwMode="auto">
            <a:xfrm>
              <a:off x="3592" y="2922"/>
              <a:ext cx="1106" cy="131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78" name="Rectangle 179"/>
            <p:cNvSpPr>
              <a:spLocks noChangeArrowheads="1"/>
            </p:cNvSpPr>
            <p:nvPr/>
          </p:nvSpPr>
          <p:spPr bwMode="auto">
            <a:xfrm>
              <a:off x="3901" y="2922"/>
              <a:ext cx="501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010000"/>
                  </a:solidFill>
                  <a:latin typeface="Arial Narrow" pitchFamily="34" charset="0"/>
                </a:rPr>
                <a:t>REQUIRED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679" name="Rectangle 180"/>
            <p:cNvSpPr>
              <a:spLocks noChangeArrowheads="1"/>
            </p:cNvSpPr>
            <p:nvPr/>
          </p:nvSpPr>
          <p:spPr bwMode="auto">
            <a:xfrm>
              <a:off x="3592" y="3053"/>
              <a:ext cx="1106" cy="34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80" name="Rectangle 181"/>
            <p:cNvSpPr>
              <a:spLocks noChangeArrowheads="1"/>
            </p:cNvSpPr>
            <p:nvPr/>
          </p:nvSpPr>
          <p:spPr bwMode="auto">
            <a:xfrm>
              <a:off x="4709" y="2886"/>
              <a:ext cx="1106" cy="36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81" name="Rectangle 182"/>
            <p:cNvSpPr>
              <a:spLocks noChangeArrowheads="1"/>
            </p:cNvSpPr>
            <p:nvPr/>
          </p:nvSpPr>
          <p:spPr bwMode="auto">
            <a:xfrm>
              <a:off x="4709" y="2922"/>
              <a:ext cx="1106" cy="131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82" name="Rectangle 183"/>
            <p:cNvSpPr>
              <a:spLocks noChangeArrowheads="1"/>
            </p:cNvSpPr>
            <p:nvPr/>
          </p:nvSpPr>
          <p:spPr bwMode="auto">
            <a:xfrm>
              <a:off x="5018" y="2922"/>
              <a:ext cx="501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010000"/>
                  </a:solidFill>
                  <a:latin typeface="Arial Narrow" pitchFamily="34" charset="0"/>
                </a:rPr>
                <a:t>REQUIRED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683" name="Rectangle 184"/>
            <p:cNvSpPr>
              <a:spLocks noChangeArrowheads="1"/>
            </p:cNvSpPr>
            <p:nvPr/>
          </p:nvSpPr>
          <p:spPr bwMode="auto">
            <a:xfrm>
              <a:off x="4709" y="3053"/>
              <a:ext cx="1106" cy="34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84" name="Rectangle 185"/>
            <p:cNvSpPr>
              <a:spLocks noChangeArrowheads="1"/>
            </p:cNvSpPr>
            <p:nvPr/>
          </p:nvSpPr>
          <p:spPr bwMode="auto">
            <a:xfrm>
              <a:off x="1246" y="2875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85" name="Rectangle 186"/>
            <p:cNvSpPr>
              <a:spLocks noChangeArrowheads="1"/>
            </p:cNvSpPr>
            <p:nvPr/>
          </p:nvSpPr>
          <p:spPr bwMode="auto">
            <a:xfrm>
              <a:off x="1257" y="2875"/>
              <a:ext cx="1207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86" name="Rectangle 187"/>
            <p:cNvSpPr>
              <a:spLocks noChangeArrowheads="1"/>
            </p:cNvSpPr>
            <p:nvPr/>
          </p:nvSpPr>
          <p:spPr bwMode="auto">
            <a:xfrm>
              <a:off x="2464" y="2875"/>
              <a:ext cx="1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87" name="Rectangle 188"/>
            <p:cNvSpPr>
              <a:spLocks noChangeArrowheads="1"/>
            </p:cNvSpPr>
            <p:nvPr/>
          </p:nvSpPr>
          <p:spPr bwMode="auto">
            <a:xfrm>
              <a:off x="2476" y="2875"/>
              <a:ext cx="1105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88" name="Rectangle 189"/>
            <p:cNvSpPr>
              <a:spLocks noChangeArrowheads="1"/>
            </p:cNvSpPr>
            <p:nvPr/>
          </p:nvSpPr>
          <p:spPr bwMode="auto">
            <a:xfrm>
              <a:off x="3581" y="2875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89" name="Rectangle 190"/>
            <p:cNvSpPr>
              <a:spLocks noChangeArrowheads="1"/>
            </p:cNvSpPr>
            <p:nvPr/>
          </p:nvSpPr>
          <p:spPr bwMode="auto">
            <a:xfrm>
              <a:off x="3592" y="2875"/>
              <a:ext cx="110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90" name="Rectangle 191"/>
            <p:cNvSpPr>
              <a:spLocks noChangeArrowheads="1"/>
            </p:cNvSpPr>
            <p:nvPr/>
          </p:nvSpPr>
          <p:spPr bwMode="auto">
            <a:xfrm>
              <a:off x="4698" y="2875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91" name="Rectangle 192"/>
            <p:cNvSpPr>
              <a:spLocks noChangeArrowheads="1"/>
            </p:cNvSpPr>
            <p:nvPr/>
          </p:nvSpPr>
          <p:spPr bwMode="auto">
            <a:xfrm>
              <a:off x="4709" y="2875"/>
              <a:ext cx="110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92" name="Rectangle 193"/>
            <p:cNvSpPr>
              <a:spLocks noChangeArrowheads="1"/>
            </p:cNvSpPr>
            <p:nvPr/>
          </p:nvSpPr>
          <p:spPr bwMode="auto">
            <a:xfrm>
              <a:off x="5815" y="2875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93" name="Rectangle 194"/>
            <p:cNvSpPr>
              <a:spLocks noChangeArrowheads="1"/>
            </p:cNvSpPr>
            <p:nvPr/>
          </p:nvSpPr>
          <p:spPr bwMode="auto">
            <a:xfrm>
              <a:off x="1246" y="2886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94" name="Rectangle 195"/>
            <p:cNvSpPr>
              <a:spLocks noChangeArrowheads="1"/>
            </p:cNvSpPr>
            <p:nvPr/>
          </p:nvSpPr>
          <p:spPr bwMode="auto">
            <a:xfrm>
              <a:off x="2464" y="2886"/>
              <a:ext cx="12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95" name="Rectangle 196"/>
            <p:cNvSpPr>
              <a:spLocks noChangeArrowheads="1"/>
            </p:cNvSpPr>
            <p:nvPr/>
          </p:nvSpPr>
          <p:spPr bwMode="auto">
            <a:xfrm>
              <a:off x="3581" y="2886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96" name="Rectangle 197"/>
            <p:cNvSpPr>
              <a:spLocks noChangeArrowheads="1"/>
            </p:cNvSpPr>
            <p:nvPr/>
          </p:nvSpPr>
          <p:spPr bwMode="auto">
            <a:xfrm>
              <a:off x="4698" y="2886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97" name="Rectangle 198"/>
            <p:cNvSpPr>
              <a:spLocks noChangeArrowheads="1"/>
            </p:cNvSpPr>
            <p:nvPr/>
          </p:nvSpPr>
          <p:spPr bwMode="auto">
            <a:xfrm>
              <a:off x="5815" y="2886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98" name="Rectangle 199"/>
            <p:cNvSpPr>
              <a:spLocks noChangeArrowheads="1"/>
            </p:cNvSpPr>
            <p:nvPr/>
          </p:nvSpPr>
          <p:spPr bwMode="auto">
            <a:xfrm>
              <a:off x="1257" y="3098"/>
              <a:ext cx="1207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699" name="Rectangle 200"/>
            <p:cNvSpPr>
              <a:spLocks noChangeArrowheads="1"/>
            </p:cNvSpPr>
            <p:nvPr/>
          </p:nvSpPr>
          <p:spPr bwMode="auto">
            <a:xfrm>
              <a:off x="1257" y="3134"/>
              <a:ext cx="1207" cy="13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00" name="Rectangle 201"/>
            <p:cNvSpPr>
              <a:spLocks noChangeArrowheads="1"/>
            </p:cNvSpPr>
            <p:nvPr/>
          </p:nvSpPr>
          <p:spPr bwMode="auto">
            <a:xfrm>
              <a:off x="1382" y="3134"/>
              <a:ext cx="984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010000"/>
                  </a:solidFill>
                  <a:latin typeface="Arial Narrow" pitchFamily="34" charset="0"/>
                </a:rPr>
                <a:t>WORK IN PROGRESS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701" name="Rectangle 202"/>
            <p:cNvSpPr>
              <a:spLocks noChangeArrowheads="1"/>
            </p:cNvSpPr>
            <p:nvPr/>
          </p:nvSpPr>
          <p:spPr bwMode="auto">
            <a:xfrm>
              <a:off x="1257" y="3265"/>
              <a:ext cx="1207" cy="3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02" name="Rectangle 203"/>
            <p:cNvSpPr>
              <a:spLocks noChangeArrowheads="1"/>
            </p:cNvSpPr>
            <p:nvPr/>
          </p:nvSpPr>
          <p:spPr bwMode="auto">
            <a:xfrm>
              <a:off x="2476" y="3098"/>
              <a:ext cx="1105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03" name="Rectangle 204"/>
            <p:cNvSpPr>
              <a:spLocks noChangeArrowheads="1"/>
            </p:cNvSpPr>
            <p:nvPr/>
          </p:nvSpPr>
          <p:spPr bwMode="auto">
            <a:xfrm>
              <a:off x="2476" y="3134"/>
              <a:ext cx="1105" cy="13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04" name="Rectangle 205"/>
            <p:cNvSpPr>
              <a:spLocks noChangeArrowheads="1"/>
            </p:cNvSpPr>
            <p:nvPr/>
          </p:nvSpPr>
          <p:spPr bwMode="auto">
            <a:xfrm>
              <a:off x="2787" y="3122"/>
              <a:ext cx="478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 b="0">
                  <a:solidFill>
                    <a:srgbClr val="010000"/>
                  </a:solidFill>
                  <a:latin typeface="Arial Narrow" pitchFamily="34" charset="0"/>
                </a:rPr>
                <a:t>OPTIONAL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705" name="Rectangle 206"/>
            <p:cNvSpPr>
              <a:spLocks noChangeArrowheads="1"/>
            </p:cNvSpPr>
            <p:nvPr/>
          </p:nvSpPr>
          <p:spPr bwMode="auto">
            <a:xfrm>
              <a:off x="2476" y="3265"/>
              <a:ext cx="1105" cy="3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06" name="Rectangle 207"/>
            <p:cNvSpPr>
              <a:spLocks noChangeArrowheads="1"/>
            </p:cNvSpPr>
            <p:nvPr/>
          </p:nvSpPr>
          <p:spPr bwMode="auto">
            <a:xfrm>
              <a:off x="3592" y="3098"/>
              <a:ext cx="1106" cy="36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07" name="Rectangle 208"/>
            <p:cNvSpPr>
              <a:spLocks noChangeArrowheads="1"/>
            </p:cNvSpPr>
            <p:nvPr/>
          </p:nvSpPr>
          <p:spPr bwMode="auto">
            <a:xfrm>
              <a:off x="3592" y="3134"/>
              <a:ext cx="1106" cy="131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08" name="Rectangle 209"/>
            <p:cNvSpPr>
              <a:spLocks noChangeArrowheads="1"/>
            </p:cNvSpPr>
            <p:nvPr/>
          </p:nvSpPr>
          <p:spPr bwMode="auto">
            <a:xfrm>
              <a:off x="3901" y="3134"/>
              <a:ext cx="501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010000"/>
                  </a:solidFill>
                  <a:latin typeface="Arial Narrow" pitchFamily="34" charset="0"/>
                </a:rPr>
                <a:t>REQUIRED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709" name="Rectangle 210"/>
            <p:cNvSpPr>
              <a:spLocks noChangeArrowheads="1"/>
            </p:cNvSpPr>
            <p:nvPr/>
          </p:nvSpPr>
          <p:spPr bwMode="auto">
            <a:xfrm>
              <a:off x="3592" y="3265"/>
              <a:ext cx="1106" cy="34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10" name="Rectangle 211"/>
            <p:cNvSpPr>
              <a:spLocks noChangeArrowheads="1"/>
            </p:cNvSpPr>
            <p:nvPr/>
          </p:nvSpPr>
          <p:spPr bwMode="auto">
            <a:xfrm>
              <a:off x="4709" y="3098"/>
              <a:ext cx="1106" cy="36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11" name="Rectangle 212"/>
            <p:cNvSpPr>
              <a:spLocks noChangeArrowheads="1"/>
            </p:cNvSpPr>
            <p:nvPr/>
          </p:nvSpPr>
          <p:spPr bwMode="auto">
            <a:xfrm>
              <a:off x="4709" y="3134"/>
              <a:ext cx="1106" cy="131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12" name="Rectangle 213"/>
            <p:cNvSpPr>
              <a:spLocks noChangeArrowheads="1"/>
            </p:cNvSpPr>
            <p:nvPr/>
          </p:nvSpPr>
          <p:spPr bwMode="auto">
            <a:xfrm>
              <a:off x="5018" y="3134"/>
              <a:ext cx="501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010000"/>
                  </a:solidFill>
                  <a:latin typeface="Arial Narrow" pitchFamily="34" charset="0"/>
                </a:rPr>
                <a:t>REQUIRED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713" name="Rectangle 214"/>
            <p:cNvSpPr>
              <a:spLocks noChangeArrowheads="1"/>
            </p:cNvSpPr>
            <p:nvPr/>
          </p:nvSpPr>
          <p:spPr bwMode="auto">
            <a:xfrm>
              <a:off x="4709" y="3265"/>
              <a:ext cx="1106" cy="34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14" name="Rectangle 215"/>
            <p:cNvSpPr>
              <a:spLocks noChangeArrowheads="1"/>
            </p:cNvSpPr>
            <p:nvPr/>
          </p:nvSpPr>
          <p:spPr bwMode="auto">
            <a:xfrm>
              <a:off x="1246" y="3087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15" name="Rectangle 216"/>
            <p:cNvSpPr>
              <a:spLocks noChangeArrowheads="1"/>
            </p:cNvSpPr>
            <p:nvPr/>
          </p:nvSpPr>
          <p:spPr bwMode="auto">
            <a:xfrm>
              <a:off x="1257" y="3087"/>
              <a:ext cx="1207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16" name="Rectangle 217"/>
            <p:cNvSpPr>
              <a:spLocks noChangeArrowheads="1"/>
            </p:cNvSpPr>
            <p:nvPr/>
          </p:nvSpPr>
          <p:spPr bwMode="auto">
            <a:xfrm>
              <a:off x="2464" y="3087"/>
              <a:ext cx="1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17" name="Rectangle 218"/>
            <p:cNvSpPr>
              <a:spLocks noChangeArrowheads="1"/>
            </p:cNvSpPr>
            <p:nvPr/>
          </p:nvSpPr>
          <p:spPr bwMode="auto">
            <a:xfrm>
              <a:off x="2476" y="3087"/>
              <a:ext cx="1105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18" name="Rectangle 219"/>
            <p:cNvSpPr>
              <a:spLocks noChangeArrowheads="1"/>
            </p:cNvSpPr>
            <p:nvPr/>
          </p:nvSpPr>
          <p:spPr bwMode="auto">
            <a:xfrm>
              <a:off x="3581" y="3087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19" name="Rectangle 220"/>
            <p:cNvSpPr>
              <a:spLocks noChangeArrowheads="1"/>
            </p:cNvSpPr>
            <p:nvPr/>
          </p:nvSpPr>
          <p:spPr bwMode="auto">
            <a:xfrm>
              <a:off x="3592" y="3087"/>
              <a:ext cx="110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20" name="Rectangle 221"/>
            <p:cNvSpPr>
              <a:spLocks noChangeArrowheads="1"/>
            </p:cNvSpPr>
            <p:nvPr/>
          </p:nvSpPr>
          <p:spPr bwMode="auto">
            <a:xfrm>
              <a:off x="4698" y="3087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21" name="Rectangle 222"/>
            <p:cNvSpPr>
              <a:spLocks noChangeArrowheads="1"/>
            </p:cNvSpPr>
            <p:nvPr/>
          </p:nvSpPr>
          <p:spPr bwMode="auto">
            <a:xfrm>
              <a:off x="4709" y="3087"/>
              <a:ext cx="110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22" name="Rectangle 223"/>
            <p:cNvSpPr>
              <a:spLocks noChangeArrowheads="1"/>
            </p:cNvSpPr>
            <p:nvPr/>
          </p:nvSpPr>
          <p:spPr bwMode="auto">
            <a:xfrm>
              <a:off x="5815" y="3087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23" name="Rectangle 224"/>
            <p:cNvSpPr>
              <a:spLocks noChangeArrowheads="1"/>
            </p:cNvSpPr>
            <p:nvPr/>
          </p:nvSpPr>
          <p:spPr bwMode="auto">
            <a:xfrm>
              <a:off x="1246" y="3098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24" name="Rectangle 225"/>
            <p:cNvSpPr>
              <a:spLocks noChangeArrowheads="1"/>
            </p:cNvSpPr>
            <p:nvPr/>
          </p:nvSpPr>
          <p:spPr bwMode="auto">
            <a:xfrm>
              <a:off x="2464" y="3098"/>
              <a:ext cx="12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25" name="Rectangle 226"/>
            <p:cNvSpPr>
              <a:spLocks noChangeArrowheads="1"/>
            </p:cNvSpPr>
            <p:nvPr/>
          </p:nvSpPr>
          <p:spPr bwMode="auto">
            <a:xfrm>
              <a:off x="3581" y="3098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26" name="Rectangle 227"/>
            <p:cNvSpPr>
              <a:spLocks noChangeArrowheads="1"/>
            </p:cNvSpPr>
            <p:nvPr/>
          </p:nvSpPr>
          <p:spPr bwMode="auto">
            <a:xfrm>
              <a:off x="4698" y="3098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27" name="Rectangle 228"/>
            <p:cNvSpPr>
              <a:spLocks noChangeArrowheads="1"/>
            </p:cNvSpPr>
            <p:nvPr/>
          </p:nvSpPr>
          <p:spPr bwMode="auto">
            <a:xfrm>
              <a:off x="5815" y="3098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28" name="Rectangle 229"/>
            <p:cNvSpPr>
              <a:spLocks noChangeArrowheads="1"/>
            </p:cNvSpPr>
            <p:nvPr/>
          </p:nvSpPr>
          <p:spPr bwMode="auto">
            <a:xfrm>
              <a:off x="1257" y="3312"/>
              <a:ext cx="1207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29" name="Rectangle 230"/>
            <p:cNvSpPr>
              <a:spLocks noChangeArrowheads="1"/>
            </p:cNvSpPr>
            <p:nvPr/>
          </p:nvSpPr>
          <p:spPr bwMode="auto">
            <a:xfrm>
              <a:off x="1257" y="3348"/>
              <a:ext cx="1207" cy="1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30" name="Rectangle 231"/>
            <p:cNvSpPr>
              <a:spLocks noChangeArrowheads="1"/>
            </p:cNvSpPr>
            <p:nvPr/>
          </p:nvSpPr>
          <p:spPr bwMode="auto">
            <a:xfrm>
              <a:off x="1412" y="3346"/>
              <a:ext cx="920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010000"/>
                  </a:solidFill>
                  <a:latin typeface="Arial Narrow" pitchFamily="34" charset="0"/>
                </a:rPr>
                <a:t>FINAL EVALUATION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731" name="Rectangle 232"/>
            <p:cNvSpPr>
              <a:spLocks noChangeArrowheads="1"/>
            </p:cNvSpPr>
            <p:nvPr/>
          </p:nvSpPr>
          <p:spPr bwMode="auto">
            <a:xfrm>
              <a:off x="1257" y="3477"/>
              <a:ext cx="1207" cy="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32" name="Rectangle 233"/>
            <p:cNvSpPr>
              <a:spLocks noChangeArrowheads="1"/>
            </p:cNvSpPr>
            <p:nvPr/>
          </p:nvSpPr>
          <p:spPr bwMode="auto">
            <a:xfrm>
              <a:off x="2476" y="3312"/>
              <a:ext cx="1105" cy="36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33" name="Rectangle 234"/>
            <p:cNvSpPr>
              <a:spLocks noChangeArrowheads="1"/>
            </p:cNvSpPr>
            <p:nvPr/>
          </p:nvSpPr>
          <p:spPr bwMode="auto">
            <a:xfrm>
              <a:off x="2476" y="3348"/>
              <a:ext cx="1105" cy="129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34" name="Rectangle 235"/>
            <p:cNvSpPr>
              <a:spLocks noChangeArrowheads="1"/>
            </p:cNvSpPr>
            <p:nvPr/>
          </p:nvSpPr>
          <p:spPr bwMode="auto">
            <a:xfrm>
              <a:off x="2785" y="3346"/>
              <a:ext cx="501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010000"/>
                  </a:solidFill>
                  <a:latin typeface="Arial Narrow" pitchFamily="34" charset="0"/>
                </a:rPr>
                <a:t>REQUIRED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735" name="Rectangle 236"/>
            <p:cNvSpPr>
              <a:spLocks noChangeArrowheads="1"/>
            </p:cNvSpPr>
            <p:nvPr/>
          </p:nvSpPr>
          <p:spPr bwMode="auto">
            <a:xfrm>
              <a:off x="2476" y="3477"/>
              <a:ext cx="1105" cy="36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36" name="Rectangle 237"/>
            <p:cNvSpPr>
              <a:spLocks noChangeArrowheads="1"/>
            </p:cNvSpPr>
            <p:nvPr/>
          </p:nvSpPr>
          <p:spPr bwMode="auto">
            <a:xfrm>
              <a:off x="3592" y="3312"/>
              <a:ext cx="1106" cy="36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37" name="Rectangle 238"/>
            <p:cNvSpPr>
              <a:spLocks noChangeArrowheads="1"/>
            </p:cNvSpPr>
            <p:nvPr/>
          </p:nvSpPr>
          <p:spPr bwMode="auto">
            <a:xfrm>
              <a:off x="3592" y="3348"/>
              <a:ext cx="1106" cy="129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38" name="Rectangle 239"/>
            <p:cNvSpPr>
              <a:spLocks noChangeArrowheads="1"/>
            </p:cNvSpPr>
            <p:nvPr/>
          </p:nvSpPr>
          <p:spPr bwMode="auto">
            <a:xfrm>
              <a:off x="3901" y="3346"/>
              <a:ext cx="501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010000"/>
                  </a:solidFill>
                  <a:latin typeface="Arial Narrow" pitchFamily="34" charset="0"/>
                </a:rPr>
                <a:t>REQUIRED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739" name="Rectangle 240"/>
            <p:cNvSpPr>
              <a:spLocks noChangeArrowheads="1"/>
            </p:cNvSpPr>
            <p:nvPr/>
          </p:nvSpPr>
          <p:spPr bwMode="auto">
            <a:xfrm>
              <a:off x="3592" y="3477"/>
              <a:ext cx="1106" cy="36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40" name="Rectangle 241"/>
            <p:cNvSpPr>
              <a:spLocks noChangeArrowheads="1"/>
            </p:cNvSpPr>
            <p:nvPr/>
          </p:nvSpPr>
          <p:spPr bwMode="auto">
            <a:xfrm>
              <a:off x="4709" y="3312"/>
              <a:ext cx="1106" cy="36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41" name="Rectangle 242"/>
            <p:cNvSpPr>
              <a:spLocks noChangeArrowheads="1"/>
            </p:cNvSpPr>
            <p:nvPr/>
          </p:nvSpPr>
          <p:spPr bwMode="auto">
            <a:xfrm>
              <a:off x="4709" y="3348"/>
              <a:ext cx="1106" cy="129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42" name="Rectangle 243"/>
            <p:cNvSpPr>
              <a:spLocks noChangeArrowheads="1"/>
            </p:cNvSpPr>
            <p:nvPr/>
          </p:nvSpPr>
          <p:spPr bwMode="auto">
            <a:xfrm>
              <a:off x="5018" y="3346"/>
              <a:ext cx="501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00100" eaLnBrk="0" hangingPunct="0"/>
              <a:r>
                <a:rPr lang="en-US">
                  <a:solidFill>
                    <a:srgbClr val="010000"/>
                  </a:solidFill>
                  <a:latin typeface="Arial Narrow" pitchFamily="34" charset="0"/>
                </a:rPr>
                <a:t>REQUIRED</a:t>
              </a:r>
              <a:endParaRPr lang="en-US" sz="540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22743" name="Rectangle 244"/>
            <p:cNvSpPr>
              <a:spLocks noChangeArrowheads="1"/>
            </p:cNvSpPr>
            <p:nvPr/>
          </p:nvSpPr>
          <p:spPr bwMode="auto">
            <a:xfrm>
              <a:off x="4709" y="3477"/>
              <a:ext cx="1106" cy="36"/>
            </a:xfrm>
            <a:prstGeom prst="rect">
              <a:avLst/>
            </a:prstGeom>
            <a:solidFill>
              <a:srgbClr val="D9D9D9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44" name="Rectangle 245"/>
            <p:cNvSpPr>
              <a:spLocks noChangeArrowheads="1"/>
            </p:cNvSpPr>
            <p:nvPr/>
          </p:nvSpPr>
          <p:spPr bwMode="auto">
            <a:xfrm>
              <a:off x="1246" y="3301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45" name="Rectangle 246"/>
            <p:cNvSpPr>
              <a:spLocks noChangeArrowheads="1"/>
            </p:cNvSpPr>
            <p:nvPr/>
          </p:nvSpPr>
          <p:spPr bwMode="auto">
            <a:xfrm>
              <a:off x="1257" y="3301"/>
              <a:ext cx="1207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46" name="Rectangle 247"/>
            <p:cNvSpPr>
              <a:spLocks noChangeArrowheads="1"/>
            </p:cNvSpPr>
            <p:nvPr/>
          </p:nvSpPr>
          <p:spPr bwMode="auto">
            <a:xfrm>
              <a:off x="2464" y="3301"/>
              <a:ext cx="1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47" name="Rectangle 248"/>
            <p:cNvSpPr>
              <a:spLocks noChangeArrowheads="1"/>
            </p:cNvSpPr>
            <p:nvPr/>
          </p:nvSpPr>
          <p:spPr bwMode="auto">
            <a:xfrm>
              <a:off x="2476" y="3301"/>
              <a:ext cx="1105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48" name="Rectangle 249"/>
            <p:cNvSpPr>
              <a:spLocks noChangeArrowheads="1"/>
            </p:cNvSpPr>
            <p:nvPr/>
          </p:nvSpPr>
          <p:spPr bwMode="auto">
            <a:xfrm>
              <a:off x="3581" y="3301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49" name="Rectangle 250"/>
            <p:cNvSpPr>
              <a:spLocks noChangeArrowheads="1"/>
            </p:cNvSpPr>
            <p:nvPr/>
          </p:nvSpPr>
          <p:spPr bwMode="auto">
            <a:xfrm>
              <a:off x="3592" y="3301"/>
              <a:ext cx="110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50" name="Rectangle 251"/>
            <p:cNvSpPr>
              <a:spLocks noChangeArrowheads="1"/>
            </p:cNvSpPr>
            <p:nvPr/>
          </p:nvSpPr>
          <p:spPr bwMode="auto">
            <a:xfrm>
              <a:off x="4698" y="3301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51" name="Rectangle 252"/>
            <p:cNvSpPr>
              <a:spLocks noChangeArrowheads="1"/>
            </p:cNvSpPr>
            <p:nvPr/>
          </p:nvSpPr>
          <p:spPr bwMode="auto">
            <a:xfrm>
              <a:off x="4709" y="3301"/>
              <a:ext cx="110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52" name="Rectangle 253"/>
            <p:cNvSpPr>
              <a:spLocks noChangeArrowheads="1"/>
            </p:cNvSpPr>
            <p:nvPr/>
          </p:nvSpPr>
          <p:spPr bwMode="auto">
            <a:xfrm>
              <a:off x="5815" y="3301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53" name="Rectangle 254"/>
            <p:cNvSpPr>
              <a:spLocks noChangeArrowheads="1"/>
            </p:cNvSpPr>
            <p:nvPr/>
          </p:nvSpPr>
          <p:spPr bwMode="auto">
            <a:xfrm>
              <a:off x="1246" y="3312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54" name="Rectangle 255"/>
            <p:cNvSpPr>
              <a:spLocks noChangeArrowheads="1"/>
            </p:cNvSpPr>
            <p:nvPr/>
          </p:nvSpPr>
          <p:spPr bwMode="auto">
            <a:xfrm>
              <a:off x="1246" y="3513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55" name="Rectangle 256"/>
            <p:cNvSpPr>
              <a:spLocks noChangeArrowheads="1"/>
            </p:cNvSpPr>
            <p:nvPr/>
          </p:nvSpPr>
          <p:spPr bwMode="auto">
            <a:xfrm>
              <a:off x="1246" y="3513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56" name="Rectangle 257"/>
            <p:cNvSpPr>
              <a:spLocks noChangeArrowheads="1"/>
            </p:cNvSpPr>
            <p:nvPr/>
          </p:nvSpPr>
          <p:spPr bwMode="auto">
            <a:xfrm>
              <a:off x="1257" y="3513"/>
              <a:ext cx="1207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57" name="Rectangle 258"/>
            <p:cNvSpPr>
              <a:spLocks noChangeArrowheads="1"/>
            </p:cNvSpPr>
            <p:nvPr/>
          </p:nvSpPr>
          <p:spPr bwMode="auto">
            <a:xfrm>
              <a:off x="2464" y="3312"/>
              <a:ext cx="12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58" name="Rectangle 259"/>
            <p:cNvSpPr>
              <a:spLocks noChangeArrowheads="1"/>
            </p:cNvSpPr>
            <p:nvPr/>
          </p:nvSpPr>
          <p:spPr bwMode="auto">
            <a:xfrm>
              <a:off x="2464" y="3513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59" name="Rectangle 260"/>
            <p:cNvSpPr>
              <a:spLocks noChangeArrowheads="1"/>
            </p:cNvSpPr>
            <p:nvPr/>
          </p:nvSpPr>
          <p:spPr bwMode="auto">
            <a:xfrm>
              <a:off x="2476" y="3513"/>
              <a:ext cx="1105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60" name="Rectangle 261"/>
            <p:cNvSpPr>
              <a:spLocks noChangeArrowheads="1"/>
            </p:cNvSpPr>
            <p:nvPr/>
          </p:nvSpPr>
          <p:spPr bwMode="auto">
            <a:xfrm>
              <a:off x="3581" y="3312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61" name="Rectangle 262"/>
            <p:cNvSpPr>
              <a:spLocks noChangeArrowheads="1"/>
            </p:cNvSpPr>
            <p:nvPr/>
          </p:nvSpPr>
          <p:spPr bwMode="auto">
            <a:xfrm>
              <a:off x="3581" y="3513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62" name="Rectangle 263"/>
            <p:cNvSpPr>
              <a:spLocks noChangeArrowheads="1"/>
            </p:cNvSpPr>
            <p:nvPr/>
          </p:nvSpPr>
          <p:spPr bwMode="auto">
            <a:xfrm>
              <a:off x="3592" y="3513"/>
              <a:ext cx="110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63" name="Rectangle 264"/>
            <p:cNvSpPr>
              <a:spLocks noChangeArrowheads="1"/>
            </p:cNvSpPr>
            <p:nvPr/>
          </p:nvSpPr>
          <p:spPr bwMode="auto">
            <a:xfrm>
              <a:off x="4698" y="3312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64" name="Rectangle 265"/>
            <p:cNvSpPr>
              <a:spLocks noChangeArrowheads="1"/>
            </p:cNvSpPr>
            <p:nvPr/>
          </p:nvSpPr>
          <p:spPr bwMode="auto">
            <a:xfrm>
              <a:off x="4698" y="3513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65" name="Rectangle 266"/>
            <p:cNvSpPr>
              <a:spLocks noChangeArrowheads="1"/>
            </p:cNvSpPr>
            <p:nvPr/>
          </p:nvSpPr>
          <p:spPr bwMode="auto">
            <a:xfrm>
              <a:off x="4709" y="3513"/>
              <a:ext cx="110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66" name="Rectangle 267"/>
            <p:cNvSpPr>
              <a:spLocks noChangeArrowheads="1"/>
            </p:cNvSpPr>
            <p:nvPr/>
          </p:nvSpPr>
          <p:spPr bwMode="auto">
            <a:xfrm>
              <a:off x="5815" y="3312"/>
              <a:ext cx="11" cy="20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67" name="Rectangle 268"/>
            <p:cNvSpPr>
              <a:spLocks noChangeArrowheads="1"/>
            </p:cNvSpPr>
            <p:nvPr/>
          </p:nvSpPr>
          <p:spPr bwMode="auto">
            <a:xfrm>
              <a:off x="5815" y="3513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768" name="Rectangle 269"/>
            <p:cNvSpPr>
              <a:spLocks noChangeArrowheads="1"/>
            </p:cNvSpPr>
            <p:nvPr/>
          </p:nvSpPr>
          <p:spPr bwMode="auto">
            <a:xfrm>
              <a:off x="5815" y="3513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63086" name="Text Box 270"/>
            <p:cNvSpPr txBox="1">
              <a:spLocks noChangeArrowheads="1"/>
            </p:cNvSpPr>
            <p:nvPr/>
          </p:nvSpPr>
          <p:spPr bwMode="auto">
            <a:xfrm>
              <a:off x="1774" y="708"/>
              <a:ext cx="3452" cy="543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lIns="0" tIns="0" rIns="0" bIns="0">
              <a:spAutoFit/>
            </a:bodyPr>
            <a:lstStyle/>
            <a:p>
              <a:pPr defTabSz="935038" eaLnBrk="0" hangingPunct="0">
                <a:defRPr/>
              </a:pPr>
              <a:r>
                <a:rPr lang="en-US" sz="5300">
                  <a:solidFill>
                    <a:schemeClr val="bg1"/>
                  </a:solidFill>
                  <a:latin typeface="Arial Narrow" pitchFamily="34" charset="0"/>
                </a:rPr>
                <a:t>Risk Assessment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720" name="Picture 180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3050" y="549275"/>
            <a:ext cx="4681538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8721" name="Picture 180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24438" y="549275"/>
            <a:ext cx="4608512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8722" name="Text Box 1810"/>
          <p:cNvSpPr txBox="1">
            <a:spLocks noChangeArrowheads="1"/>
          </p:cNvSpPr>
          <p:nvPr/>
        </p:nvSpPr>
        <p:spPr bwMode="auto">
          <a:xfrm>
            <a:off x="273050" y="65088"/>
            <a:ext cx="92884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u="sng">
                <a:solidFill>
                  <a:srgbClr val="FF0000"/>
                </a:solidFill>
                <a:latin typeface="Britannic Bold" pitchFamily="34" charset="0"/>
              </a:rPr>
              <a:t>TYPICAL JOB VS RISK ASSEMENT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8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8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7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/>
          <p:cNvSpPr>
            <a:spLocks noChangeArrowheads="1"/>
          </p:cNvSpPr>
          <p:nvPr/>
        </p:nvSpPr>
        <p:spPr bwMode="auto">
          <a:xfrm>
            <a:off x="1046163" y="404813"/>
            <a:ext cx="7291387" cy="557688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lIns="105949" tIns="52976" rIns="105949" bIns="52976" anchor="ctr"/>
          <a:lstStyle/>
          <a:p>
            <a:pPr defTabSz="819150" eaLnBrk="0" hangingPunct="0"/>
            <a:endParaRPr lang="en-US" sz="4600">
              <a:latin typeface="Arial Narrow" pitchFamily="34" charset="0"/>
            </a:endParaRPr>
          </a:p>
        </p:txBody>
      </p:sp>
      <p:sp>
        <p:nvSpPr>
          <p:cNvPr id="24579" name="Rectangle 6"/>
          <p:cNvSpPr>
            <a:spLocks noChangeArrowheads="1"/>
          </p:cNvSpPr>
          <p:nvPr/>
        </p:nvSpPr>
        <p:spPr bwMode="auto">
          <a:xfrm>
            <a:off x="1046163" y="404813"/>
            <a:ext cx="7291387" cy="1652587"/>
          </a:xfrm>
          <a:prstGeom prst="rect">
            <a:avLst/>
          </a:prstGeom>
          <a:solidFill>
            <a:srgbClr val="009900"/>
          </a:solidFill>
          <a:ln w="9525">
            <a:noFill/>
            <a:miter lim="800000"/>
            <a:headEnd/>
            <a:tailEnd/>
          </a:ln>
        </p:spPr>
        <p:txBody>
          <a:bodyPr wrap="none" lIns="105949" tIns="52976" rIns="105949" bIns="52976" anchor="ctr"/>
          <a:lstStyle/>
          <a:p>
            <a:pPr defTabSz="819150" eaLnBrk="0" hangingPunct="0"/>
            <a:endParaRPr lang="en-US" sz="4600">
              <a:latin typeface="Arial Narrow" pitchFamily="34" charset="0"/>
            </a:endParaRPr>
          </a:p>
        </p:txBody>
      </p:sp>
      <p:sp>
        <p:nvSpPr>
          <p:cNvPr id="24580" name="Rectangle 7"/>
          <p:cNvSpPr>
            <a:spLocks noChangeArrowheads="1"/>
          </p:cNvSpPr>
          <p:nvPr/>
        </p:nvSpPr>
        <p:spPr bwMode="auto">
          <a:xfrm>
            <a:off x="1046163" y="5294313"/>
            <a:ext cx="7291387" cy="730250"/>
          </a:xfrm>
          <a:prstGeom prst="rect">
            <a:avLst/>
          </a:prstGeom>
          <a:solidFill>
            <a:srgbClr val="009900"/>
          </a:solidFill>
          <a:ln w="9525">
            <a:noFill/>
            <a:miter lim="800000"/>
            <a:headEnd/>
            <a:tailEnd/>
          </a:ln>
        </p:spPr>
        <p:txBody>
          <a:bodyPr wrap="none" lIns="121123" tIns="60562" rIns="121123" bIns="60562" anchor="ctr"/>
          <a:lstStyle/>
          <a:p>
            <a:endParaRPr lang="en-US"/>
          </a:p>
        </p:txBody>
      </p:sp>
      <p:sp>
        <p:nvSpPr>
          <p:cNvPr id="174088" name="AutoShape 8"/>
          <p:cNvSpPr>
            <a:spLocks noChangeArrowheads="1"/>
          </p:cNvSpPr>
          <p:nvPr/>
        </p:nvSpPr>
        <p:spPr bwMode="auto">
          <a:xfrm>
            <a:off x="2035175" y="1060450"/>
            <a:ext cx="2476500" cy="2352675"/>
          </a:xfrm>
          <a:prstGeom prst="irregularSeal1">
            <a:avLst/>
          </a:prstGeom>
          <a:gradFill rotWithShape="0">
            <a:gsLst>
              <a:gs pos="0">
                <a:srgbClr val="FFFF00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089" name="Text Box 9"/>
          <p:cNvSpPr txBox="1">
            <a:spLocks noChangeArrowheads="1"/>
          </p:cNvSpPr>
          <p:nvPr/>
        </p:nvSpPr>
        <p:spPr bwMode="auto">
          <a:xfrm>
            <a:off x="1336675" y="792163"/>
            <a:ext cx="5630863" cy="92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lIns="105949" tIns="52976" rIns="105949" bIns="52976" anchor="ctr"/>
          <a:lstStyle/>
          <a:p>
            <a:pPr defTabSz="819150" eaLnBrk="0" hangingPunct="0">
              <a:defRPr/>
            </a:pPr>
            <a:r>
              <a:rPr lang="en-US" sz="4200">
                <a:latin typeface="Arial Narrow" pitchFamily="34" charset="0"/>
              </a:rPr>
              <a:t>Pre-Qualification in CSMS</a:t>
            </a:r>
          </a:p>
        </p:txBody>
      </p:sp>
      <p:grpSp>
        <p:nvGrpSpPr>
          <p:cNvPr id="24583" name="Group 10"/>
          <p:cNvGrpSpPr>
            <a:grpSpLocks/>
          </p:cNvGrpSpPr>
          <p:nvPr/>
        </p:nvGrpSpPr>
        <p:grpSpPr bwMode="auto">
          <a:xfrm>
            <a:off x="3432175" y="2073275"/>
            <a:ext cx="3295650" cy="3694113"/>
            <a:chOff x="2356" y="1581"/>
            <a:chExt cx="2566" cy="2482"/>
          </a:xfrm>
        </p:grpSpPr>
        <p:grpSp>
          <p:nvGrpSpPr>
            <p:cNvPr id="25483" name="Group 11"/>
            <p:cNvGrpSpPr>
              <a:grpSpLocks/>
            </p:cNvGrpSpPr>
            <p:nvPr/>
          </p:nvGrpSpPr>
          <p:grpSpPr bwMode="auto">
            <a:xfrm>
              <a:off x="2356" y="1581"/>
              <a:ext cx="2566" cy="2482"/>
              <a:chOff x="1991" y="1131"/>
              <a:chExt cx="2362" cy="2307"/>
            </a:xfrm>
          </p:grpSpPr>
          <p:sp>
            <p:nvSpPr>
              <p:cNvPr id="25716" name="Freeform 12"/>
              <p:cNvSpPr>
                <a:spLocks/>
              </p:cNvSpPr>
              <p:nvPr/>
            </p:nvSpPr>
            <p:spPr bwMode="auto">
              <a:xfrm>
                <a:off x="1991" y="1131"/>
                <a:ext cx="2362" cy="2307"/>
              </a:xfrm>
              <a:custGeom>
                <a:avLst/>
                <a:gdLst>
                  <a:gd name="T0" fmla="*/ 1708 w 2362"/>
                  <a:gd name="T1" fmla="*/ 129 h 2307"/>
                  <a:gd name="T2" fmla="*/ 1860 w 2362"/>
                  <a:gd name="T3" fmla="*/ 221 h 2307"/>
                  <a:gd name="T4" fmla="*/ 1994 w 2362"/>
                  <a:gd name="T5" fmla="*/ 330 h 2307"/>
                  <a:gd name="T6" fmla="*/ 2110 w 2362"/>
                  <a:gd name="T7" fmla="*/ 456 h 2307"/>
                  <a:gd name="T8" fmla="*/ 2205 w 2362"/>
                  <a:gd name="T9" fmla="*/ 596 h 2307"/>
                  <a:gd name="T10" fmla="*/ 2278 w 2362"/>
                  <a:gd name="T11" fmla="*/ 747 h 2307"/>
                  <a:gd name="T12" fmla="*/ 2329 w 2362"/>
                  <a:gd name="T13" fmla="*/ 905 h 2307"/>
                  <a:gd name="T14" fmla="*/ 2358 w 2362"/>
                  <a:gd name="T15" fmla="*/ 1072 h 2307"/>
                  <a:gd name="T16" fmla="*/ 2360 w 2362"/>
                  <a:gd name="T17" fmla="*/ 1239 h 2307"/>
                  <a:gd name="T18" fmla="*/ 2337 w 2362"/>
                  <a:gd name="T19" fmla="*/ 1409 h 2307"/>
                  <a:gd name="T20" fmla="*/ 2286 w 2362"/>
                  <a:gd name="T21" fmla="*/ 1577 h 2307"/>
                  <a:gd name="T22" fmla="*/ 2210 w 2362"/>
                  <a:gd name="T23" fmla="*/ 1735 h 2307"/>
                  <a:gd name="T24" fmla="*/ 2113 w 2362"/>
                  <a:gd name="T25" fmla="*/ 1877 h 2307"/>
                  <a:gd name="T26" fmla="*/ 1997 w 2362"/>
                  <a:gd name="T27" fmla="*/ 2000 h 2307"/>
                  <a:gd name="T28" fmla="*/ 1865 w 2362"/>
                  <a:gd name="T29" fmla="*/ 2105 h 2307"/>
                  <a:gd name="T30" fmla="*/ 1720 w 2362"/>
                  <a:gd name="T31" fmla="*/ 2188 h 2307"/>
                  <a:gd name="T32" fmla="*/ 1564 w 2362"/>
                  <a:gd name="T33" fmla="*/ 2250 h 2307"/>
                  <a:gd name="T34" fmla="*/ 1398 w 2362"/>
                  <a:gd name="T35" fmla="*/ 2290 h 2307"/>
                  <a:gd name="T36" fmla="*/ 1229 w 2362"/>
                  <a:gd name="T37" fmla="*/ 2307 h 2307"/>
                  <a:gd name="T38" fmla="*/ 1054 w 2362"/>
                  <a:gd name="T39" fmla="*/ 2297 h 2307"/>
                  <a:gd name="T40" fmla="*/ 881 w 2362"/>
                  <a:gd name="T41" fmla="*/ 2264 h 2307"/>
                  <a:gd name="T42" fmla="*/ 709 w 2362"/>
                  <a:gd name="T43" fmla="*/ 2202 h 2307"/>
                  <a:gd name="T44" fmla="*/ 552 w 2362"/>
                  <a:gd name="T45" fmla="*/ 2119 h 2307"/>
                  <a:gd name="T46" fmla="*/ 411 w 2362"/>
                  <a:gd name="T47" fmla="*/ 2014 h 2307"/>
                  <a:gd name="T48" fmla="*/ 289 w 2362"/>
                  <a:gd name="T49" fmla="*/ 1894 h 2307"/>
                  <a:gd name="T50" fmla="*/ 187 w 2362"/>
                  <a:gd name="T51" fmla="*/ 1759 h 2307"/>
                  <a:gd name="T52" fmla="*/ 107 w 2362"/>
                  <a:gd name="T53" fmla="*/ 1611 h 2307"/>
                  <a:gd name="T54" fmla="*/ 47 w 2362"/>
                  <a:gd name="T55" fmla="*/ 1455 h 2307"/>
                  <a:gd name="T56" fmla="*/ 11 w 2362"/>
                  <a:gd name="T57" fmla="*/ 1292 h 2307"/>
                  <a:gd name="T58" fmla="*/ 0 w 2362"/>
                  <a:gd name="T59" fmla="*/ 1124 h 2307"/>
                  <a:gd name="T60" fmla="*/ 15 w 2362"/>
                  <a:gd name="T61" fmla="*/ 954 h 2307"/>
                  <a:gd name="T62" fmla="*/ 56 w 2362"/>
                  <a:gd name="T63" fmla="*/ 785 h 2307"/>
                  <a:gd name="T64" fmla="*/ 124 w 2362"/>
                  <a:gd name="T65" fmla="*/ 623 h 2307"/>
                  <a:gd name="T66" fmla="*/ 215 w 2362"/>
                  <a:gd name="T67" fmla="*/ 475 h 2307"/>
                  <a:gd name="T68" fmla="*/ 325 w 2362"/>
                  <a:gd name="T69" fmla="*/ 345 h 2307"/>
                  <a:gd name="T70" fmla="*/ 452 w 2362"/>
                  <a:gd name="T71" fmla="*/ 235 h 2307"/>
                  <a:gd name="T72" fmla="*/ 592 w 2362"/>
                  <a:gd name="T73" fmla="*/ 144 h 2307"/>
                  <a:gd name="T74" fmla="*/ 746 w 2362"/>
                  <a:gd name="T75" fmla="*/ 75 h 2307"/>
                  <a:gd name="T76" fmla="*/ 908 w 2362"/>
                  <a:gd name="T77" fmla="*/ 27 h 2307"/>
                  <a:gd name="T78" fmla="*/ 1077 w 2362"/>
                  <a:gd name="T79" fmla="*/ 3 h 2307"/>
                  <a:gd name="T80" fmla="*/ 1248 w 2362"/>
                  <a:gd name="T81" fmla="*/ 3 h 2307"/>
                  <a:gd name="T82" fmla="*/ 1424 w 2362"/>
                  <a:gd name="T83" fmla="*/ 30 h 2307"/>
                  <a:gd name="T84" fmla="*/ 1597 w 2362"/>
                  <a:gd name="T85" fmla="*/ 81 h 230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62"/>
                  <a:gd name="T130" fmla="*/ 0 h 2307"/>
                  <a:gd name="T131" fmla="*/ 2362 w 2362"/>
                  <a:gd name="T132" fmla="*/ 2307 h 230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62" h="2307">
                    <a:moveTo>
                      <a:pt x="1597" y="81"/>
                    </a:moveTo>
                    <a:lnTo>
                      <a:pt x="1653" y="105"/>
                    </a:lnTo>
                    <a:lnTo>
                      <a:pt x="1708" y="129"/>
                    </a:lnTo>
                    <a:lnTo>
                      <a:pt x="1759" y="158"/>
                    </a:lnTo>
                    <a:lnTo>
                      <a:pt x="1810" y="188"/>
                    </a:lnTo>
                    <a:lnTo>
                      <a:pt x="1860" y="221"/>
                    </a:lnTo>
                    <a:lnTo>
                      <a:pt x="1907" y="257"/>
                    </a:lnTo>
                    <a:lnTo>
                      <a:pt x="1950" y="292"/>
                    </a:lnTo>
                    <a:lnTo>
                      <a:pt x="1994" y="330"/>
                    </a:lnTo>
                    <a:lnTo>
                      <a:pt x="2035" y="371"/>
                    </a:lnTo>
                    <a:lnTo>
                      <a:pt x="2073" y="413"/>
                    </a:lnTo>
                    <a:lnTo>
                      <a:pt x="2110" y="456"/>
                    </a:lnTo>
                    <a:lnTo>
                      <a:pt x="2144" y="501"/>
                    </a:lnTo>
                    <a:lnTo>
                      <a:pt x="2175" y="548"/>
                    </a:lnTo>
                    <a:lnTo>
                      <a:pt x="2205" y="596"/>
                    </a:lnTo>
                    <a:lnTo>
                      <a:pt x="2231" y="644"/>
                    </a:lnTo>
                    <a:lnTo>
                      <a:pt x="2255" y="696"/>
                    </a:lnTo>
                    <a:lnTo>
                      <a:pt x="2278" y="747"/>
                    </a:lnTo>
                    <a:lnTo>
                      <a:pt x="2298" y="798"/>
                    </a:lnTo>
                    <a:lnTo>
                      <a:pt x="2315" y="853"/>
                    </a:lnTo>
                    <a:lnTo>
                      <a:pt x="2329" y="905"/>
                    </a:lnTo>
                    <a:lnTo>
                      <a:pt x="2341" y="961"/>
                    </a:lnTo>
                    <a:lnTo>
                      <a:pt x="2350" y="1016"/>
                    </a:lnTo>
                    <a:lnTo>
                      <a:pt x="2358" y="1072"/>
                    </a:lnTo>
                    <a:lnTo>
                      <a:pt x="2361" y="1126"/>
                    </a:lnTo>
                    <a:lnTo>
                      <a:pt x="2362" y="1183"/>
                    </a:lnTo>
                    <a:lnTo>
                      <a:pt x="2360" y="1239"/>
                    </a:lnTo>
                    <a:lnTo>
                      <a:pt x="2355" y="1296"/>
                    </a:lnTo>
                    <a:lnTo>
                      <a:pt x="2347" y="1353"/>
                    </a:lnTo>
                    <a:lnTo>
                      <a:pt x="2337" y="1409"/>
                    </a:lnTo>
                    <a:lnTo>
                      <a:pt x="2322" y="1466"/>
                    </a:lnTo>
                    <a:lnTo>
                      <a:pt x="2306" y="1521"/>
                    </a:lnTo>
                    <a:lnTo>
                      <a:pt x="2286" y="1577"/>
                    </a:lnTo>
                    <a:lnTo>
                      <a:pt x="2263" y="1632"/>
                    </a:lnTo>
                    <a:lnTo>
                      <a:pt x="2237" y="1684"/>
                    </a:lnTo>
                    <a:lnTo>
                      <a:pt x="2210" y="1735"/>
                    </a:lnTo>
                    <a:lnTo>
                      <a:pt x="2179" y="1784"/>
                    </a:lnTo>
                    <a:lnTo>
                      <a:pt x="2147" y="1832"/>
                    </a:lnTo>
                    <a:lnTo>
                      <a:pt x="2113" y="1877"/>
                    </a:lnTo>
                    <a:lnTo>
                      <a:pt x="2075" y="1920"/>
                    </a:lnTo>
                    <a:lnTo>
                      <a:pt x="2037" y="1962"/>
                    </a:lnTo>
                    <a:lnTo>
                      <a:pt x="1997" y="2000"/>
                    </a:lnTo>
                    <a:lnTo>
                      <a:pt x="1954" y="2037"/>
                    </a:lnTo>
                    <a:lnTo>
                      <a:pt x="1910" y="2072"/>
                    </a:lnTo>
                    <a:lnTo>
                      <a:pt x="1865" y="2105"/>
                    </a:lnTo>
                    <a:lnTo>
                      <a:pt x="1817" y="2134"/>
                    </a:lnTo>
                    <a:lnTo>
                      <a:pt x="1770" y="2162"/>
                    </a:lnTo>
                    <a:lnTo>
                      <a:pt x="1720" y="2188"/>
                    </a:lnTo>
                    <a:lnTo>
                      <a:pt x="1669" y="2211"/>
                    </a:lnTo>
                    <a:lnTo>
                      <a:pt x="1616" y="2232"/>
                    </a:lnTo>
                    <a:lnTo>
                      <a:pt x="1564" y="2250"/>
                    </a:lnTo>
                    <a:lnTo>
                      <a:pt x="1509" y="2266"/>
                    </a:lnTo>
                    <a:lnTo>
                      <a:pt x="1453" y="2279"/>
                    </a:lnTo>
                    <a:lnTo>
                      <a:pt x="1398" y="2290"/>
                    </a:lnTo>
                    <a:lnTo>
                      <a:pt x="1341" y="2298"/>
                    </a:lnTo>
                    <a:lnTo>
                      <a:pt x="1285" y="2303"/>
                    </a:lnTo>
                    <a:lnTo>
                      <a:pt x="1229" y="2307"/>
                    </a:lnTo>
                    <a:lnTo>
                      <a:pt x="1170" y="2307"/>
                    </a:lnTo>
                    <a:lnTo>
                      <a:pt x="1113" y="2303"/>
                    </a:lnTo>
                    <a:lnTo>
                      <a:pt x="1054" y="2297"/>
                    </a:lnTo>
                    <a:lnTo>
                      <a:pt x="996" y="2290"/>
                    </a:lnTo>
                    <a:lnTo>
                      <a:pt x="938" y="2277"/>
                    </a:lnTo>
                    <a:lnTo>
                      <a:pt x="881" y="2264"/>
                    </a:lnTo>
                    <a:lnTo>
                      <a:pt x="823" y="2246"/>
                    </a:lnTo>
                    <a:lnTo>
                      <a:pt x="765" y="2225"/>
                    </a:lnTo>
                    <a:lnTo>
                      <a:pt x="709" y="2202"/>
                    </a:lnTo>
                    <a:lnTo>
                      <a:pt x="654" y="2176"/>
                    </a:lnTo>
                    <a:lnTo>
                      <a:pt x="603" y="2149"/>
                    </a:lnTo>
                    <a:lnTo>
                      <a:pt x="552" y="2119"/>
                    </a:lnTo>
                    <a:lnTo>
                      <a:pt x="502" y="2086"/>
                    </a:lnTo>
                    <a:lnTo>
                      <a:pt x="455" y="2050"/>
                    </a:lnTo>
                    <a:lnTo>
                      <a:pt x="411" y="2014"/>
                    </a:lnTo>
                    <a:lnTo>
                      <a:pt x="368" y="1976"/>
                    </a:lnTo>
                    <a:lnTo>
                      <a:pt x="327" y="1935"/>
                    </a:lnTo>
                    <a:lnTo>
                      <a:pt x="289" y="1894"/>
                    </a:lnTo>
                    <a:lnTo>
                      <a:pt x="252" y="1851"/>
                    </a:lnTo>
                    <a:lnTo>
                      <a:pt x="218" y="1805"/>
                    </a:lnTo>
                    <a:lnTo>
                      <a:pt x="187" y="1759"/>
                    </a:lnTo>
                    <a:lnTo>
                      <a:pt x="157" y="1711"/>
                    </a:lnTo>
                    <a:lnTo>
                      <a:pt x="131" y="1661"/>
                    </a:lnTo>
                    <a:lnTo>
                      <a:pt x="107" y="1611"/>
                    </a:lnTo>
                    <a:lnTo>
                      <a:pt x="84" y="1560"/>
                    </a:lnTo>
                    <a:lnTo>
                      <a:pt x="64" y="1509"/>
                    </a:lnTo>
                    <a:lnTo>
                      <a:pt x="47" y="1455"/>
                    </a:lnTo>
                    <a:lnTo>
                      <a:pt x="33" y="1402"/>
                    </a:lnTo>
                    <a:lnTo>
                      <a:pt x="20" y="1346"/>
                    </a:lnTo>
                    <a:lnTo>
                      <a:pt x="11" y="1292"/>
                    </a:lnTo>
                    <a:lnTo>
                      <a:pt x="4" y="1235"/>
                    </a:lnTo>
                    <a:lnTo>
                      <a:pt x="1" y="1181"/>
                    </a:lnTo>
                    <a:lnTo>
                      <a:pt x="0" y="1124"/>
                    </a:lnTo>
                    <a:lnTo>
                      <a:pt x="2" y="1067"/>
                    </a:lnTo>
                    <a:lnTo>
                      <a:pt x="7" y="1010"/>
                    </a:lnTo>
                    <a:lnTo>
                      <a:pt x="15" y="954"/>
                    </a:lnTo>
                    <a:lnTo>
                      <a:pt x="26" y="898"/>
                    </a:lnTo>
                    <a:lnTo>
                      <a:pt x="40" y="841"/>
                    </a:lnTo>
                    <a:lnTo>
                      <a:pt x="56" y="785"/>
                    </a:lnTo>
                    <a:lnTo>
                      <a:pt x="76" y="730"/>
                    </a:lnTo>
                    <a:lnTo>
                      <a:pt x="98" y="675"/>
                    </a:lnTo>
                    <a:lnTo>
                      <a:pt x="124" y="623"/>
                    </a:lnTo>
                    <a:lnTo>
                      <a:pt x="152" y="572"/>
                    </a:lnTo>
                    <a:lnTo>
                      <a:pt x="182" y="523"/>
                    </a:lnTo>
                    <a:lnTo>
                      <a:pt x="215" y="475"/>
                    </a:lnTo>
                    <a:lnTo>
                      <a:pt x="249" y="430"/>
                    </a:lnTo>
                    <a:lnTo>
                      <a:pt x="287" y="387"/>
                    </a:lnTo>
                    <a:lnTo>
                      <a:pt x="325" y="345"/>
                    </a:lnTo>
                    <a:lnTo>
                      <a:pt x="366" y="307"/>
                    </a:lnTo>
                    <a:lnTo>
                      <a:pt x="407" y="269"/>
                    </a:lnTo>
                    <a:lnTo>
                      <a:pt x="452" y="235"/>
                    </a:lnTo>
                    <a:lnTo>
                      <a:pt x="497" y="203"/>
                    </a:lnTo>
                    <a:lnTo>
                      <a:pt x="545" y="173"/>
                    </a:lnTo>
                    <a:lnTo>
                      <a:pt x="592" y="144"/>
                    </a:lnTo>
                    <a:lnTo>
                      <a:pt x="642" y="119"/>
                    </a:lnTo>
                    <a:lnTo>
                      <a:pt x="694" y="96"/>
                    </a:lnTo>
                    <a:lnTo>
                      <a:pt x="746" y="75"/>
                    </a:lnTo>
                    <a:lnTo>
                      <a:pt x="799" y="57"/>
                    </a:lnTo>
                    <a:lnTo>
                      <a:pt x="853" y="41"/>
                    </a:lnTo>
                    <a:lnTo>
                      <a:pt x="908" y="27"/>
                    </a:lnTo>
                    <a:lnTo>
                      <a:pt x="964" y="17"/>
                    </a:lnTo>
                    <a:lnTo>
                      <a:pt x="1020" y="9"/>
                    </a:lnTo>
                    <a:lnTo>
                      <a:pt x="1077" y="3"/>
                    </a:lnTo>
                    <a:lnTo>
                      <a:pt x="1133" y="0"/>
                    </a:lnTo>
                    <a:lnTo>
                      <a:pt x="1191" y="0"/>
                    </a:lnTo>
                    <a:lnTo>
                      <a:pt x="1248" y="3"/>
                    </a:lnTo>
                    <a:lnTo>
                      <a:pt x="1308" y="9"/>
                    </a:lnTo>
                    <a:lnTo>
                      <a:pt x="1366" y="17"/>
                    </a:lnTo>
                    <a:lnTo>
                      <a:pt x="1424" y="30"/>
                    </a:lnTo>
                    <a:lnTo>
                      <a:pt x="1481" y="43"/>
                    </a:lnTo>
                    <a:lnTo>
                      <a:pt x="1539" y="61"/>
                    </a:lnTo>
                    <a:lnTo>
                      <a:pt x="1597" y="81"/>
                    </a:lnTo>
                    <a:close/>
                  </a:path>
                </a:pathLst>
              </a:custGeom>
              <a:solidFill>
                <a:srgbClr val="CCCC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17" name="Freeform 13"/>
              <p:cNvSpPr>
                <a:spLocks/>
              </p:cNvSpPr>
              <p:nvPr/>
            </p:nvSpPr>
            <p:spPr bwMode="auto">
              <a:xfrm>
                <a:off x="3708" y="3026"/>
                <a:ext cx="153" cy="126"/>
              </a:xfrm>
              <a:custGeom>
                <a:avLst/>
                <a:gdLst>
                  <a:gd name="T0" fmla="*/ 0 w 153"/>
                  <a:gd name="T1" fmla="*/ 59 h 126"/>
                  <a:gd name="T2" fmla="*/ 153 w 153"/>
                  <a:gd name="T3" fmla="*/ 0 h 126"/>
                  <a:gd name="T4" fmla="*/ 60 w 153"/>
                  <a:gd name="T5" fmla="*/ 126 h 126"/>
                  <a:gd name="T6" fmla="*/ 0 w 153"/>
                  <a:gd name="T7" fmla="*/ 59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3"/>
                  <a:gd name="T13" fmla="*/ 0 h 126"/>
                  <a:gd name="T14" fmla="*/ 153 w 15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3" h="126">
                    <a:moveTo>
                      <a:pt x="0" y="59"/>
                    </a:moveTo>
                    <a:lnTo>
                      <a:pt x="153" y="0"/>
                    </a:lnTo>
                    <a:lnTo>
                      <a:pt x="60" y="126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18" name="Freeform 14"/>
              <p:cNvSpPr>
                <a:spLocks/>
              </p:cNvSpPr>
              <p:nvPr/>
            </p:nvSpPr>
            <p:spPr bwMode="auto">
              <a:xfrm>
                <a:off x="3707" y="3010"/>
                <a:ext cx="176" cy="83"/>
              </a:xfrm>
              <a:custGeom>
                <a:avLst/>
                <a:gdLst>
                  <a:gd name="T0" fmla="*/ 146 w 176"/>
                  <a:gd name="T1" fmla="*/ 15 h 83"/>
                  <a:gd name="T2" fmla="*/ 155 w 176"/>
                  <a:gd name="T3" fmla="*/ 24 h 83"/>
                  <a:gd name="T4" fmla="*/ 2 w 176"/>
                  <a:gd name="T5" fmla="*/ 83 h 83"/>
                  <a:gd name="T6" fmla="*/ 0 w 176"/>
                  <a:gd name="T7" fmla="*/ 68 h 83"/>
                  <a:gd name="T8" fmla="*/ 153 w 176"/>
                  <a:gd name="T9" fmla="*/ 9 h 83"/>
                  <a:gd name="T10" fmla="*/ 161 w 176"/>
                  <a:gd name="T11" fmla="*/ 20 h 83"/>
                  <a:gd name="T12" fmla="*/ 153 w 176"/>
                  <a:gd name="T13" fmla="*/ 9 h 83"/>
                  <a:gd name="T14" fmla="*/ 176 w 176"/>
                  <a:gd name="T15" fmla="*/ 0 h 83"/>
                  <a:gd name="T16" fmla="*/ 161 w 176"/>
                  <a:gd name="T17" fmla="*/ 20 h 83"/>
                  <a:gd name="T18" fmla="*/ 146 w 176"/>
                  <a:gd name="T19" fmla="*/ 15 h 8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6"/>
                  <a:gd name="T31" fmla="*/ 0 h 83"/>
                  <a:gd name="T32" fmla="*/ 176 w 176"/>
                  <a:gd name="T33" fmla="*/ 83 h 8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6" h="83">
                    <a:moveTo>
                      <a:pt x="146" y="15"/>
                    </a:moveTo>
                    <a:lnTo>
                      <a:pt x="155" y="24"/>
                    </a:lnTo>
                    <a:lnTo>
                      <a:pt x="2" y="83"/>
                    </a:lnTo>
                    <a:lnTo>
                      <a:pt x="0" y="68"/>
                    </a:lnTo>
                    <a:lnTo>
                      <a:pt x="153" y="9"/>
                    </a:lnTo>
                    <a:lnTo>
                      <a:pt x="161" y="20"/>
                    </a:lnTo>
                    <a:lnTo>
                      <a:pt x="153" y="9"/>
                    </a:lnTo>
                    <a:lnTo>
                      <a:pt x="176" y="0"/>
                    </a:lnTo>
                    <a:lnTo>
                      <a:pt x="161" y="20"/>
                    </a:lnTo>
                    <a:lnTo>
                      <a:pt x="146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19" name="Freeform 15"/>
              <p:cNvSpPr>
                <a:spLocks/>
              </p:cNvSpPr>
              <p:nvPr/>
            </p:nvSpPr>
            <p:spPr bwMode="auto">
              <a:xfrm>
                <a:off x="3760" y="3024"/>
                <a:ext cx="108" cy="142"/>
              </a:xfrm>
              <a:custGeom>
                <a:avLst/>
                <a:gdLst>
                  <a:gd name="T0" fmla="*/ 17 w 108"/>
                  <a:gd name="T1" fmla="*/ 122 h 142"/>
                  <a:gd name="T2" fmla="*/ 1 w 108"/>
                  <a:gd name="T3" fmla="*/ 126 h 142"/>
                  <a:gd name="T4" fmla="*/ 92 w 108"/>
                  <a:gd name="T5" fmla="*/ 0 h 142"/>
                  <a:gd name="T6" fmla="*/ 108 w 108"/>
                  <a:gd name="T7" fmla="*/ 6 h 142"/>
                  <a:gd name="T8" fmla="*/ 16 w 108"/>
                  <a:gd name="T9" fmla="*/ 132 h 142"/>
                  <a:gd name="T10" fmla="*/ 0 w 108"/>
                  <a:gd name="T11" fmla="*/ 134 h 142"/>
                  <a:gd name="T12" fmla="*/ 16 w 108"/>
                  <a:gd name="T13" fmla="*/ 132 h 142"/>
                  <a:gd name="T14" fmla="*/ 7 w 108"/>
                  <a:gd name="T15" fmla="*/ 142 h 142"/>
                  <a:gd name="T16" fmla="*/ 0 w 108"/>
                  <a:gd name="T17" fmla="*/ 134 h 142"/>
                  <a:gd name="T18" fmla="*/ 17 w 108"/>
                  <a:gd name="T19" fmla="*/ 122 h 1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8"/>
                  <a:gd name="T31" fmla="*/ 0 h 142"/>
                  <a:gd name="T32" fmla="*/ 108 w 108"/>
                  <a:gd name="T33" fmla="*/ 142 h 1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8" h="142">
                    <a:moveTo>
                      <a:pt x="17" y="122"/>
                    </a:moveTo>
                    <a:lnTo>
                      <a:pt x="1" y="126"/>
                    </a:lnTo>
                    <a:lnTo>
                      <a:pt x="92" y="0"/>
                    </a:lnTo>
                    <a:lnTo>
                      <a:pt x="108" y="6"/>
                    </a:lnTo>
                    <a:lnTo>
                      <a:pt x="16" y="132"/>
                    </a:lnTo>
                    <a:lnTo>
                      <a:pt x="0" y="134"/>
                    </a:lnTo>
                    <a:lnTo>
                      <a:pt x="16" y="132"/>
                    </a:lnTo>
                    <a:lnTo>
                      <a:pt x="7" y="142"/>
                    </a:lnTo>
                    <a:lnTo>
                      <a:pt x="0" y="134"/>
                    </a:lnTo>
                    <a:lnTo>
                      <a:pt x="17" y="1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20" name="Freeform 16"/>
              <p:cNvSpPr>
                <a:spLocks/>
              </p:cNvSpPr>
              <p:nvPr/>
            </p:nvSpPr>
            <p:spPr bwMode="auto">
              <a:xfrm>
                <a:off x="3691" y="3077"/>
                <a:ext cx="86" cy="81"/>
              </a:xfrm>
              <a:custGeom>
                <a:avLst/>
                <a:gdLst>
                  <a:gd name="T0" fmla="*/ 17 w 86"/>
                  <a:gd name="T1" fmla="*/ 16 h 81"/>
                  <a:gd name="T2" fmla="*/ 25 w 86"/>
                  <a:gd name="T3" fmla="*/ 1 h 81"/>
                  <a:gd name="T4" fmla="*/ 86 w 86"/>
                  <a:gd name="T5" fmla="*/ 68 h 81"/>
                  <a:gd name="T6" fmla="*/ 69 w 86"/>
                  <a:gd name="T7" fmla="*/ 81 h 81"/>
                  <a:gd name="T8" fmla="*/ 7 w 86"/>
                  <a:gd name="T9" fmla="*/ 13 h 81"/>
                  <a:gd name="T10" fmla="*/ 15 w 86"/>
                  <a:gd name="T11" fmla="*/ 0 h 81"/>
                  <a:gd name="T12" fmla="*/ 7 w 86"/>
                  <a:gd name="T13" fmla="*/ 13 h 81"/>
                  <a:gd name="T14" fmla="*/ 0 w 86"/>
                  <a:gd name="T15" fmla="*/ 5 h 81"/>
                  <a:gd name="T16" fmla="*/ 15 w 86"/>
                  <a:gd name="T17" fmla="*/ 0 h 81"/>
                  <a:gd name="T18" fmla="*/ 17 w 86"/>
                  <a:gd name="T19" fmla="*/ 16 h 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6"/>
                  <a:gd name="T31" fmla="*/ 0 h 81"/>
                  <a:gd name="T32" fmla="*/ 86 w 86"/>
                  <a:gd name="T33" fmla="*/ 81 h 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6" h="81">
                    <a:moveTo>
                      <a:pt x="17" y="16"/>
                    </a:moveTo>
                    <a:lnTo>
                      <a:pt x="25" y="1"/>
                    </a:lnTo>
                    <a:lnTo>
                      <a:pt x="86" y="68"/>
                    </a:lnTo>
                    <a:lnTo>
                      <a:pt x="69" y="81"/>
                    </a:lnTo>
                    <a:lnTo>
                      <a:pt x="7" y="13"/>
                    </a:lnTo>
                    <a:lnTo>
                      <a:pt x="15" y="0"/>
                    </a:lnTo>
                    <a:lnTo>
                      <a:pt x="7" y="13"/>
                    </a:lnTo>
                    <a:lnTo>
                      <a:pt x="0" y="5"/>
                    </a:lnTo>
                    <a:lnTo>
                      <a:pt x="15" y="0"/>
                    </a:lnTo>
                    <a:lnTo>
                      <a:pt x="17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21" name="Freeform 17"/>
              <p:cNvSpPr>
                <a:spLocks/>
              </p:cNvSpPr>
              <p:nvPr/>
            </p:nvSpPr>
            <p:spPr bwMode="auto">
              <a:xfrm>
                <a:off x="3807" y="3037"/>
                <a:ext cx="39" cy="37"/>
              </a:xfrm>
              <a:custGeom>
                <a:avLst/>
                <a:gdLst>
                  <a:gd name="T0" fmla="*/ 0 w 39"/>
                  <a:gd name="T1" fmla="*/ 14 h 37"/>
                  <a:gd name="T2" fmla="*/ 17 w 39"/>
                  <a:gd name="T3" fmla="*/ 0 h 37"/>
                  <a:gd name="T4" fmla="*/ 39 w 39"/>
                  <a:gd name="T5" fmla="*/ 24 h 37"/>
                  <a:gd name="T6" fmla="*/ 22 w 39"/>
                  <a:gd name="T7" fmla="*/ 37 h 37"/>
                  <a:gd name="T8" fmla="*/ 0 w 39"/>
                  <a:gd name="T9" fmla="*/ 14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9"/>
                  <a:gd name="T16" fmla="*/ 0 h 37"/>
                  <a:gd name="T17" fmla="*/ 39 w 39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9" h="37">
                    <a:moveTo>
                      <a:pt x="0" y="14"/>
                    </a:moveTo>
                    <a:lnTo>
                      <a:pt x="17" y="0"/>
                    </a:lnTo>
                    <a:lnTo>
                      <a:pt x="39" y="24"/>
                    </a:lnTo>
                    <a:lnTo>
                      <a:pt x="22" y="37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22" name="Freeform 18"/>
              <p:cNvSpPr>
                <a:spLocks/>
              </p:cNvSpPr>
              <p:nvPr/>
            </p:nvSpPr>
            <p:spPr bwMode="auto">
              <a:xfrm>
                <a:off x="3611" y="3052"/>
                <a:ext cx="215" cy="153"/>
              </a:xfrm>
              <a:custGeom>
                <a:avLst/>
                <a:gdLst>
                  <a:gd name="T0" fmla="*/ 0 w 215"/>
                  <a:gd name="T1" fmla="*/ 124 h 153"/>
                  <a:gd name="T2" fmla="*/ 0 w 215"/>
                  <a:gd name="T3" fmla="*/ 124 h 153"/>
                  <a:gd name="T4" fmla="*/ 53 w 215"/>
                  <a:gd name="T5" fmla="*/ 95 h 153"/>
                  <a:gd name="T6" fmla="*/ 101 w 215"/>
                  <a:gd name="T7" fmla="*/ 66 h 153"/>
                  <a:gd name="T8" fmla="*/ 149 w 215"/>
                  <a:gd name="T9" fmla="*/ 33 h 153"/>
                  <a:gd name="T10" fmla="*/ 193 w 215"/>
                  <a:gd name="T11" fmla="*/ 0 h 153"/>
                  <a:gd name="T12" fmla="*/ 215 w 215"/>
                  <a:gd name="T13" fmla="*/ 22 h 153"/>
                  <a:gd name="T14" fmla="*/ 168 w 215"/>
                  <a:gd name="T15" fmla="*/ 59 h 153"/>
                  <a:gd name="T16" fmla="*/ 119 w 215"/>
                  <a:gd name="T17" fmla="*/ 92 h 153"/>
                  <a:gd name="T18" fmla="*/ 66 w 215"/>
                  <a:gd name="T19" fmla="*/ 124 h 153"/>
                  <a:gd name="T20" fmla="*/ 11 w 215"/>
                  <a:gd name="T21" fmla="*/ 153 h 153"/>
                  <a:gd name="T22" fmla="*/ 0 w 215"/>
                  <a:gd name="T23" fmla="*/ 124 h 15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5"/>
                  <a:gd name="T37" fmla="*/ 0 h 153"/>
                  <a:gd name="T38" fmla="*/ 215 w 215"/>
                  <a:gd name="T39" fmla="*/ 153 h 15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5" h="153">
                    <a:moveTo>
                      <a:pt x="0" y="124"/>
                    </a:moveTo>
                    <a:lnTo>
                      <a:pt x="0" y="124"/>
                    </a:lnTo>
                    <a:lnTo>
                      <a:pt x="53" y="95"/>
                    </a:lnTo>
                    <a:lnTo>
                      <a:pt x="101" y="66"/>
                    </a:lnTo>
                    <a:lnTo>
                      <a:pt x="149" y="33"/>
                    </a:lnTo>
                    <a:lnTo>
                      <a:pt x="193" y="0"/>
                    </a:lnTo>
                    <a:lnTo>
                      <a:pt x="215" y="22"/>
                    </a:lnTo>
                    <a:lnTo>
                      <a:pt x="168" y="59"/>
                    </a:lnTo>
                    <a:lnTo>
                      <a:pt x="119" y="92"/>
                    </a:lnTo>
                    <a:lnTo>
                      <a:pt x="66" y="124"/>
                    </a:lnTo>
                    <a:lnTo>
                      <a:pt x="11" y="153"/>
                    </a:lnTo>
                    <a:lnTo>
                      <a:pt x="0" y="12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23" name="Freeform 19"/>
              <p:cNvSpPr>
                <a:spLocks/>
              </p:cNvSpPr>
              <p:nvPr/>
            </p:nvSpPr>
            <p:spPr bwMode="auto">
              <a:xfrm>
                <a:off x="3423" y="3174"/>
                <a:ext cx="197" cy="103"/>
              </a:xfrm>
              <a:custGeom>
                <a:avLst/>
                <a:gdLst>
                  <a:gd name="T0" fmla="*/ 1 w 197"/>
                  <a:gd name="T1" fmla="*/ 68 h 103"/>
                  <a:gd name="T2" fmla="*/ 24 w 197"/>
                  <a:gd name="T3" fmla="*/ 62 h 103"/>
                  <a:gd name="T4" fmla="*/ 47 w 197"/>
                  <a:gd name="T5" fmla="*/ 56 h 103"/>
                  <a:gd name="T6" fmla="*/ 70 w 197"/>
                  <a:gd name="T7" fmla="*/ 49 h 103"/>
                  <a:gd name="T8" fmla="*/ 93 w 197"/>
                  <a:gd name="T9" fmla="*/ 39 h 103"/>
                  <a:gd name="T10" fmla="*/ 116 w 197"/>
                  <a:gd name="T11" fmla="*/ 30 h 103"/>
                  <a:gd name="T12" fmla="*/ 140 w 197"/>
                  <a:gd name="T13" fmla="*/ 21 h 103"/>
                  <a:gd name="T14" fmla="*/ 163 w 197"/>
                  <a:gd name="T15" fmla="*/ 12 h 103"/>
                  <a:gd name="T16" fmla="*/ 185 w 197"/>
                  <a:gd name="T17" fmla="*/ 0 h 103"/>
                  <a:gd name="T18" fmla="*/ 197 w 197"/>
                  <a:gd name="T19" fmla="*/ 30 h 103"/>
                  <a:gd name="T20" fmla="*/ 173 w 197"/>
                  <a:gd name="T21" fmla="*/ 41 h 103"/>
                  <a:gd name="T22" fmla="*/ 148 w 197"/>
                  <a:gd name="T23" fmla="*/ 52 h 103"/>
                  <a:gd name="T24" fmla="*/ 123 w 197"/>
                  <a:gd name="T25" fmla="*/ 63 h 103"/>
                  <a:gd name="T26" fmla="*/ 99 w 197"/>
                  <a:gd name="T27" fmla="*/ 74 h 103"/>
                  <a:gd name="T28" fmla="*/ 74 w 197"/>
                  <a:gd name="T29" fmla="*/ 81 h 103"/>
                  <a:gd name="T30" fmla="*/ 50 w 197"/>
                  <a:gd name="T31" fmla="*/ 90 h 103"/>
                  <a:gd name="T32" fmla="*/ 26 w 197"/>
                  <a:gd name="T33" fmla="*/ 97 h 103"/>
                  <a:gd name="T34" fmla="*/ 0 w 197"/>
                  <a:gd name="T35" fmla="*/ 103 h 103"/>
                  <a:gd name="T36" fmla="*/ 1 w 197"/>
                  <a:gd name="T37" fmla="*/ 68 h 1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7"/>
                  <a:gd name="T58" fmla="*/ 0 h 103"/>
                  <a:gd name="T59" fmla="*/ 197 w 197"/>
                  <a:gd name="T60" fmla="*/ 103 h 1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7" h="103">
                    <a:moveTo>
                      <a:pt x="1" y="68"/>
                    </a:moveTo>
                    <a:lnTo>
                      <a:pt x="24" y="62"/>
                    </a:lnTo>
                    <a:lnTo>
                      <a:pt x="47" y="56"/>
                    </a:lnTo>
                    <a:lnTo>
                      <a:pt x="70" y="49"/>
                    </a:lnTo>
                    <a:lnTo>
                      <a:pt x="93" y="39"/>
                    </a:lnTo>
                    <a:lnTo>
                      <a:pt x="116" y="30"/>
                    </a:lnTo>
                    <a:lnTo>
                      <a:pt x="140" y="21"/>
                    </a:lnTo>
                    <a:lnTo>
                      <a:pt x="163" y="12"/>
                    </a:lnTo>
                    <a:lnTo>
                      <a:pt x="185" y="0"/>
                    </a:lnTo>
                    <a:lnTo>
                      <a:pt x="197" y="30"/>
                    </a:lnTo>
                    <a:lnTo>
                      <a:pt x="173" y="41"/>
                    </a:lnTo>
                    <a:lnTo>
                      <a:pt x="148" y="52"/>
                    </a:lnTo>
                    <a:lnTo>
                      <a:pt x="123" y="63"/>
                    </a:lnTo>
                    <a:lnTo>
                      <a:pt x="99" y="74"/>
                    </a:lnTo>
                    <a:lnTo>
                      <a:pt x="74" y="81"/>
                    </a:lnTo>
                    <a:lnTo>
                      <a:pt x="50" y="90"/>
                    </a:lnTo>
                    <a:lnTo>
                      <a:pt x="26" y="97"/>
                    </a:lnTo>
                    <a:lnTo>
                      <a:pt x="0" y="103"/>
                    </a:lnTo>
                    <a:lnTo>
                      <a:pt x="1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24" name="Freeform 20"/>
              <p:cNvSpPr>
                <a:spLocks/>
              </p:cNvSpPr>
              <p:nvPr/>
            </p:nvSpPr>
            <p:spPr bwMode="auto">
              <a:xfrm>
                <a:off x="3402" y="3241"/>
                <a:ext cx="22" cy="40"/>
              </a:xfrm>
              <a:custGeom>
                <a:avLst/>
                <a:gdLst>
                  <a:gd name="T0" fmla="*/ 21 w 22"/>
                  <a:gd name="T1" fmla="*/ 34 h 40"/>
                  <a:gd name="T2" fmla="*/ 0 w 22"/>
                  <a:gd name="T3" fmla="*/ 40 h 40"/>
                  <a:gd name="T4" fmla="*/ 1 w 22"/>
                  <a:gd name="T5" fmla="*/ 7 h 40"/>
                  <a:gd name="T6" fmla="*/ 22 w 22"/>
                  <a:gd name="T7" fmla="*/ 0 h 40"/>
                  <a:gd name="T8" fmla="*/ 21 w 22"/>
                  <a:gd name="T9" fmla="*/ 34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40"/>
                  <a:gd name="T17" fmla="*/ 22 w 22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40">
                    <a:moveTo>
                      <a:pt x="21" y="34"/>
                    </a:moveTo>
                    <a:lnTo>
                      <a:pt x="0" y="40"/>
                    </a:lnTo>
                    <a:lnTo>
                      <a:pt x="1" y="7"/>
                    </a:lnTo>
                    <a:lnTo>
                      <a:pt x="22" y="0"/>
                    </a:lnTo>
                    <a:lnTo>
                      <a:pt x="21" y="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25" name="Freeform 21"/>
              <p:cNvSpPr>
                <a:spLocks/>
              </p:cNvSpPr>
              <p:nvPr/>
            </p:nvSpPr>
            <p:spPr bwMode="auto">
              <a:xfrm>
                <a:off x="3708" y="3026"/>
                <a:ext cx="153" cy="126"/>
              </a:xfrm>
              <a:custGeom>
                <a:avLst/>
                <a:gdLst>
                  <a:gd name="T0" fmla="*/ 0 w 153"/>
                  <a:gd name="T1" fmla="*/ 59 h 126"/>
                  <a:gd name="T2" fmla="*/ 153 w 153"/>
                  <a:gd name="T3" fmla="*/ 0 h 126"/>
                  <a:gd name="T4" fmla="*/ 60 w 153"/>
                  <a:gd name="T5" fmla="*/ 126 h 126"/>
                  <a:gd name="T6" fmla="*/ 0 w 153"/>
                  <a:gd name="T7" fmla="*/ 59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3"/>
                  <a:gd name="T13" fmla="*/ 0 h 126"/>
                  <a:gd name="T14" fmla="*/ 153 w 15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3" h="126">
                    <a:moveTo>
                      <a:pt x="0" y="59"/>
                    </a:moveTo>
                    <a:lnTo>
                      <a:pt x="153" y="0"/>
                    </a:lnTo>
                    <a:lnTo>
                      <a:pt x="60" y="126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26" name="Freeform 22"/>
              <p:cNvSpPr>
                <a:spLocks/>
              </p:cNvSpPr>
              <p:nvPr/>
            </p:nvSpPr>
            <p:spPr bwMode="auto">
              <a:xfrm>
                <a:off x="3706" y="3018"/>
                <a:ext cx="167" cy="72"/>
              </a:xfrm>
              <a:custGeom>
                <a:avLst/>
                <a:gdLst>
                  <a:gd name="T0" fmla="*/ 150 w 167"/>
                  <a:gd name="T1" fmla="*/ 8 h 72"/>
                  <a:gd name="T2" fmla="*/ 154 w 167"/>
                  <a:gd name="T3" fmla="*/ 15 h 72"/>
                  <a:gd name="T4" fmla="*/ 1 w 167"/>
                  <a:gd name="T5" fmla="*/ 72 h 72"/>
                  <a:gd name="T6" fmla="*/ 0 w 167"/>
                  <a:gd name="T7" fmla="*/ 64 h 72"/>
                  <a:gd name="T8" fmla="*/ 153 w 167"/>
                  <a:gd name="T9" fmla="*/ 5 h 72"/>
                  <a:gd name="T10" fmla="*/ 158 w 167"/>
                  <a:gd name="T11" fmla="*/ 11 h 72"/>
                  <a:gd name="T12" fmla="*/ 153 w 167"/>
                  <a:gd name="T13" fmla="*/ 5 h 72"/>
                  <a:gd name="T14" fmla="*/ 167 w 167"/>
                  <a:gd name="T15" fmla="*/ 0 h 72"/>
                  <a:gd name="T16" fmla="*/ 158 w 167"/>
                  <a:gd name="T17" fmla="*/ 11 h 72"/>
                  <a:gd name="T18" fmla="*/ 150 w 167"/>
                  <a:gd name="T19" fmla="*/ 8 h 7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7"/>
                  <a:gd name="T31" fmla="*/ 0 h 72"/>
                  <a:gd name="T32" fmla="*/ 167 w 167"/>
                  <a:gd name="T33" fmla="*/ 72 h 7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7" h="72">
                    <a:moveTo>
                      <a:pt x="150" y="8"/>
                    </a:moveTo>
                    <a:lnTo>
                      <a:pt x="154" y="15"/>
                    </a:lnTo>
                    <a:lnTo>
                      <a:pt x="1" y="72"/>
                    </a:lnTo>
                    <a:lnTo>
                      <a:pt x="0" y="64"/>
                    </a:lnTo>
                    <a:lnTo>
                      <a:pt x="153" y="5"/>
                    </a:lnTo>
                    <a:lnTo>
                      <a:pt x="158" y="11"/>
                    </a:lnTo>
                    <a:lnTo>
                      <a:pt x="153" y="5"/>
                    </a:lnTo>
                    <a:lnTo>
                      <a:pt x="167" y="0"/>
                    </a:lnTo>
                    <a:lnTo>
                      <a:pt x="158" y="11"/>
                    </a:lnTo>
                    <a:lnTo>
                      <a:pt x="150" y="8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27" name="Freeform 23"/>
              <p:cNvSpPr>
                <a:spLocks/>
              </p:cNvSpPr>
              <p:nvPr/>
            </p:nvSpPr>
            <p:spPr bwMode="auto">
              <a:xfrm>
                <a:off x="3764" y="3024"/>
                <a:ext cx="102" cy="136"/>
              </a:xfrm>
              <a:custGeom>
                <a:avLst/>
                <a:gdLst>
                  <a:gd name="T0" fmla="*/ 10 w 102"/>
                  <a:gd name="T1" fmla="*/ 123 h 136"/>
                  <a:gd name="T2" fmla="*/ 1 w 102"/>
                  <a:gd name="T3" fmla="*/ 125 h 136"/>
                  <a:gd name="T4" fmla="*/ 93 w 102"/>
                  <a:gd name="T5" fmla="*/ 0 h 136"/>
                  <a:gd name="T6" fmla="*/ 102 w 102"/>
                  <a:gd name="T7" fmla="*/ 3 h 136"/>
                  <a:gd name="T8" fmla="*/ 9 w 102"/>
                  <a:gd name="T9" fmla="*/ 130 h 136"/>
                  <a:gd name="T10" fmla="*/ 0 w 102"/>
                  <a:gd name="T11" fmla="*/ 132 h 136"/>
                  <a:gd name="T12" fmla="*/ 9 w 102"/>
                  <a:gd name="T13" fmla="*/ 130 h 136"/>
                  <a:gd name="T14" fmla="*/ 4 w 102"/>
                  <a:gd name="T15" fmla="*/ 136 h 136"/>
                  <a:gd name="T16" fmla="*/ 0 w 102"/>
                  <a:gd name="T17" fmla="*/ 132 h 136"/>
                  <a:gd name="T18" fmla="*/ 10 w 102"/>
                  <a:gd name="T19" fmla="*/ 123 h 1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2"/>
                  <a:gd name="T31" fmla="*/ 0 h 136"/>
                  <a:gd name="T32" fmla="*/ 102 w 102"/>
                  <a:gd name="T33" fmla="*/ 136 h 1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2" h="136">
                    <a:moveTo>
                      <a:pt x="10" y="123"/>
                    </a:moveTo>
                    <a:lnTo>
                      <a:pt x="1" y="125"/>
                    </a:lnTo>
                    <a:lnTo>
                      <a:pt x="93" y="0"/>
                    </a:lnTo>
                    <a:lnTo>
                      <a:pt x="102" y="3"/>
                    </a:lnTo>
                    <a:lnTo>
                      <a:pt x="9" y="130"/>
                    </a:lnTo>
                    <a:lnTo>
                      <a:pt x="0" y="132"/>
                    </a:lnTo>
                    <a:lnTo>
                      <a:pt x="9" y="130"/>
                    </a:lnTo>
                    <a:lnTo>
                      <a:pt x="4" y="136"/>
                    </a:lnTo>
                    <a:lnTo>
                      <a:pt x="0" y="132"/>
                    </a:lnTo>
                    <a:lnTo>
                      <a:pt x="10" y="123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28" name="Freeform 24"/>
              <p:cNvSpPr>
                <a:spLocks/>
              </p:cNvSpPr>
              <p:nvPr/>
            </p:nvSpPr>
            <p:spPr bwMode="auto">
              <a:xfrm>
                <a:off x="3700" y="3080"/>
                <a:ext cx="71" cy="77"/>
              </a:xfrm>
              <a:custGeom>
                <a:avLst/>
                <a:gdLst>
                  <a:gd name="T0" fmla="*/ 8 w 71"/>
                  <a:gd name="T1" fmla="*/ 8 h 77"/>
                  <a:gd name="T2" fmla="*/ 13 w 71"/>
                  <a:gd name="T3" fmla="*/ 1 h 77"/>
                  <a:gd name="T4" fmla="*/ 71 w 71"/>
                  <a:gd name="T5" fmla="*/ 70 h 77"/>
                  <a:gd name="T6" fmla="*/ 63 w 71"/>
                  <a:gd name="T7" fmla="*/ 77 h 77"/>
                  <a:gd name="T8" fmla="*/ 3 w 71"/>
                  <a:gd name="T9" fmla="*/ 8 h 77"/>
                  <a:gd name="T10" fmla="*/ 6 w 71"/>
                  <a:gd name="T11" fmla="*/ 0 h 77"/>
                  <a:gd name="T12" fmla="*/ 3 w 71"/>
                  <a:gd name="T13" fmla="*/ 8 h 77"/>
                  <a:gd name="T14" fmla="*/ 0 w 71"/>
                  <a:gd name="T15" fmla="*/ 3 h 77"/>
                  <a:gd name="T16" fmla="*/ 6 w 71"/>
                  <a:gd name="T17" fmla="*/ 0 h 77"/>
                  <a:gd name="T18" fmla="*/ 8 w 71"/>
                  <a:gd name="T19" fmla="*/ 8 h 7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1"/>
                  <a:gd name="T31" fmla="*/ 0 h 77"/>
                  <a:gd name="T32" fmla="*/ 71 w 71"/>
                  <a:gd name="T33" fmla="*/ 77 h 7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1" h="77">
                    <a:moveTo>
                      <a:pt x="8" y="8"/>
                    </a:moveTo>
                    <a:lnTo>
                      <a:pt x="13" y="1"/>
                    </a:lnTo>
                    <a:lnTo>
                      <a:pt x="71" y="70"/>
                    </a:lnTo>
                    <a:lnTo>
                      <a:pt x="63" y="77"/>
                    </a:lnTo>
                    <a:lnTo>
                      <a:pt x="3" y="8"/>
                    </a:lnTo>
                    <a:lnTo>
                      <a:pt x="6" y="0"/>
                    </a:lnTo>
                    <a:lnTo>
                      <a:pt x="3" y="8"/>
                    </a:lnTo>
                    <a:lnTo>
                      <a:pt x="0" y="3"/>
                    </a:lnTo>
                    <a:lnTo>
                      <a:pt x="6" y="0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29" name="Freeform 25"/>
              <p:cNvSpPr>
                <a:spLocks/>
              </p:cNvSpPr>
              <p:nvPr/>
            </p:nvSpPr>
            <p:spPr bwMode="auto">
              <a:xfrm>
                <a:off x="3808" y="3039"/>
                <a:ext cx="34" cy="32"/>
              </a:xfrm>
              <a:custGeom>
                <a:avLst/>
                <a:gdLst>
                  <a:gd name="T0" fmla="*/ 0 w 34"/>
                  <a:gd name="T1" fmla="*/ 13 h 32"/>
                  <a:gd name="T2" fmla="*/ 16 w 34"/>
                  <a:gd name="T3" fmla="*/ 0 h 32"/>
                  <a:gd name="T4" fmla="*/ 34 w 34"/>
                  <a:gd name="T5" fmla="*/ 21 h 32"/>
                  <a:gd name="T6" fmla="*/ 18 w 34"/>
                  <a:gd name="T7" fmla="*/ 32 h 32"/>
                  <a:gd name="T8" fmla="*/ 0 w 34"/>
                  <a:gd name="T9" fmla="*/ 13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32"/>
                  <a:gd name="T17" fmla="*/ 34 w 34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32">
                    <a:moveTo>
                      <a:pt x="0" y="13"/>
                    </a:moveTo>
                    <a:lnTo>
                      <a:pt x="16" y="0"/>
                    </a:lnTo>
                    <a:lnTo>
                      <a:pt x="34" y="21"/>
                    </a:lnTo>
                    <a:lnTo>
                      <a:pt x="18" y="32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30" name="Freeform 26"/>
              <p:cNvSpPr>
                <a:spLocks/>
              </p:cNvSpPr>
              <p:nvPr/>
            </p:nvSpPr>
            <p:spPr bwMode="auto">
              <a:xfrm>
                <a:off x="3612" y="3053"/>
                <a:ext cx="213" cy="151"/>
              </a:xfrm>
              <a:custGeom>
                <a:avLst/>
                <a:gdLst>
                  <a:gd name="T0" fmla="*/ 0 w 213"/>
                  <a:gd name="T1" fmla="*/ 125 h 151"/>
                  <a:gd name="T2" fmla="*/ 0 w 213"/>
                  <a:gd name="T3" fmla="*/ 125 h 151"/>
                  <a:gd name="T4" fmla="*/ 52 w 213"/>
                  <a:gd name="T5" fmla="*/ 97 h 151"/>
                  <a:gd name="T6" fmla="*/ 102 w 213"/>
                  <a:gd name="T7" fmla="*/ 67 h 151"/>
                  <a:gd name="T8" fmla="*/ 149 w 213"/>
                  <a:gd name="T9" fmla="*/ 35 h 151"/>
                  <a:gd name="T10" fmla="*/ 194 w 213"/>
                  <a:gd name="T11" fmla="*/ 0 h 151"/>
                  <a:gd name="T12" fmla="*/ 213 w 213"/>
                  <a:gd name="T13" fmla="*/ 19 h 151"/>
                  <a:gd name="T14" fmla="*/ 165 w 213"/>
                  <a:gd name="T15" fmla="*/ 57 h 151"/>
                  <a:gd name="T16" fmla="*/ 117 w 213"/>
                  <a:gd name="T17" fmla="*/ 90 h 151"/>
                  <a:gd name="T18" fmla="*/ 64 w 213"/>
                  <a:gd name="T19" fmla="*/ 121 h 151"/>
                  <a:gd name="T20" fmla="*/ 9 w 213"/>
                  <a:gd name="T21" fmla="*/ 151 h 151"/>
                  <a:gd name="T22" fmla="*/ 0 w 213"/>
                  <a:gd name="T23" fmla="*/ 125 h 15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3"/>
                  <a:gd name="T37" fmla="*/ 0 h 151"/>
                  <a:gd name="T38" fmla="*/ 213 w 213"/>
                  <a:gd name="T39" fmla="*/ 151 h 15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3" h="151">
                    <a:moveTo>
                      <a:pt x="0" y="125"/>
                    </a:moveTo>
                    <a:lnTo>
                      <a:pt x="0" y="125"/>
                    </a:lnTo>
                    <a:lnTo>
                      <a:pt x="52" y="97"/>
                    </a:lnTo>
                    <a:lnTo>
                      <a:pt x="102" y="67"/>
                    </a:lnTo>
                    <a:lnTo>
                      <a:pt x="149" y="35"/>
                    </a:lnTo>
                    <a:lnTo>
                      <a:pt x="194" y="0"/>
                    </a:lnTo>
                    <a:lnTo>
                      <a:pt x="213" y="19"/>
                    </a:lnTo>
                    <a:lnTo>
                      <a:pt x="165" y="57"/>
                    </a:lnTo>
                    <a:lnTo>
                      <a:pt x="117" y="90"/>
                    </a:lnTo>
                    <a:lnTo>
                      <a:pt x="64" y="121"/>
                    </a:lnTo>
                    <a:lnTo>
                      <a:pt x="9" y="151"/>
                    </a:lnTo>
                    <a:lnTo>
                      <a:pt x="0" y="125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31" name="Freeform 27"/>
              <p:cNvSpPr>
                <a:spLocks/>
              </p:cNvSpPr>
              <p:nvPr/>
            </p:nvSpPr>
            <p:spPr bwMode="auto">
              <a:xfrm>
                <a:off x="3424" y="3175"/>
                <a:ext cx="194" cy="98"/>
              </a:xfrm>
              <a:custGeom>
                <a:avLst/>
                <a:gdLst>
                  <a:gd name="T0" fmla="*/ 0 w 194"/>
                  <a:gd name="T1" fmla="*/ 69 h 98"/>
                  <a:gd name="T2" fmla="*/ 23 w 194"/>
                  <a:gd name="T3" fmla="*/ 63 h 98"/>
                  <a:gd name="T4" fmla="*/ 47 w 194"/>
                  <a:gd name="T5" fmla="*/ 57 h 98"/>
                  <a:gd name="T6" fmla="*/ 70 w 194"/>
                  <a:gd name="T7" fmla="*/ 48 h 98"/>
                  <a:gd name="T8" fmla="*/ 93 w 194"/>
                  <a:gd name="T9" fmla="*/ 40 h 98"/>
                  <a:gd name="T10" fmla="*/ 116 w 194"/>
                  <a:gd name="T11" fmla="*/ 32 h 98"/>
                  <a:gd name="T12" fmla="*/ 139 w 194"/>
                  <a:gd name="T13" fmla="*/ 21 h 98"/>
                  <a:gd name="T14" fmla="*/ 162 w 194"/>
                  <a:gd name="T15" fmla="*/ 11 h 98"/>
                  <a:gd name="T16" fmla="*/ 185 w 194"/>
                  <a:gd name="T17" fmla="*/ 0 h 98"/>
                  <a:gd name="T18" fmla="*/ 194 w 194"/>
                  <a:gd name="T19" fmla="*/ 26 h 98"/>
                  <a:gd name="T20" fmla="*/ 170 w 194"/>
                  <a:gd name="T21" fmla="*/ 37 h 98"/>
                  <a:gd name="T22" fmla="*/ 147 w 194"/>
                  <a:gd name="T23" fmla="*/ 48 h 98"/>
                  <a:gd name="T24" fmla="*/ 121 w 194"/>
                  <a:gd name="T25" fmla="*/ 59 h 98"/>
                  <a:gd name="T26" fmla="*/ 96 w 194"/>
                  <a:gd name="T27" fmla="*/ 67 h 98"/>
                  <a:gd name="T28" fmla="*/ 73 w 194"/>
                  <a:gd name="T29" fmla="*/ 76 h 98"/>
                  <a:gd name="T30" fmla="*/ 47 w 194"/>
                  <a:gd name="T31" fmla="*/ 85 h 98"/>
                  <a:gd name="T32" fmla="*/ 24 w 194"/>
                  <a:gd name="T33" fmla="*/ 92 h 98"/>
                  <a:gd name="T34" fmla="*/ 0 w 194"/>
                  <a:gd name="T35" fmla="*/ 98 h 98"/>
                  <a:gd name="T36" fmla="*/ 0 w 194"/>
                  <a:gd name="T37" fmla="*/ 69 h 9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4"/>
                  <a:gd name="T58" fmla="*/ 0 h 98"/>
                  <a:gd name="T59" fmla="*/ 194 w 194"/>
                  <a:gd name="T60" fmla="*/ 98 h 9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4" h="98">
                    <a:moveTo>
                      <a:pt x="0" y="69"/>
                    </a:moveTo>
                    <a:lnTo>
                      <a:pt x="23" y="63"/>
                    </a:lnTo>
                    <a:lnTo>
                      <a:pt x="47" y="57"/>
                    </a:lnTo>
                    <a:lnTo>
                      <a:pt x="70" y="48"/>
                    </a:lnTo>
                    <a:lnTo>
                      <a:pt x="93" y="40"/>
                    </a:lnTo>
                    <a:lnTo>
                      <a:pt x="116" y="32"/>
                    </a:lnTo>
                    <a:lnTo>
                      <a:pt x="139" y="21"/>
                    </a:lnTo>
                    <a:lnTo>
                      <a:pt x="162" y="11"/>
                    </a:lnTo>
                    <a:lnTo>
                      <a:pt x="185" y="0"/>
                    </a:lnTo>
                    <a:lnTo>
                      <a:pt x="194" y="26"/>
                    </a:lnTo>
                    <a:lnTo>
                      <a:pt x="170" y="37"/>
                    </a:lnTo>
                    <a:lnTo>
                      <a:pt x="147" y="48"/>
                    </a:lnTo>
                    <a:lnTo>
                      <a:pt x="121" y="59"/>
                    </a:lnTo>
                    <a:lnTo>
                      <a:pt x="96" y="67"/>
                    </a:lnTo>
                    <a:lnTo>
                      <a:pt x="73" y="76"/>
                    </a:lnTo>
                    <a:lnTo>
                      <a:pt x="47" y="85"/>
                    </a:lnTo>
                    <a:lnTo>
                      <a:pt x="24" y="92"/>
                    </a:lnTo>
                    <a:lnTo>
                      <a:pt x="0" y="98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32" name="Freeform 28"/>
              <p:cNvSpPr>
                <a:spLocks/>
              </p:cNvSpPr>
              <p:nvPr/>
            </p:nvSpPr>
            <p:spPr bwMode="auto">
              <a:xfrm>
                <a:off x="3404" y="3242"/>
                <a:ext cx="18" cy="35"/>
              </a:xfrm>
              <a:custGeom>
                <a:avLst/>
                <a:gdLst>
                  <a:gd name="T0" fmla="*/ 18 w 18"/>
                  <a:gd name="T1" fmla="*/ 31 h 35"/>
                  <a:gd name="T2" fmla="*/ 0 w 18"/>
                  <a:gd name="T3" fmla="*/ 35 h 35"/>
                  <a:gd name="T4" fmla="*/ 0 w 18"/>
                  <a:gd name="T5" fmla="*/ 4 h 35"/>
                  <a:gd name="T6" fmla="*/ 18 w 18"/>
                  <a:gd name="T7" fmla="*/ 0 h 35"/>
                  <a:gd name="T8" fmla="*/ 18 w 18"/>
                  <a:gd name="T9" fmla="*/ 31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35"/>
                  <a:gd name="T17" fmla="*/ 18 w 18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35">
                    <a:moveTo>
                      <a:pt x="18" y="31"/>
                    </a:moveTo>
                    <a:lnTo>
                      <a:pt x="0" y="35"/>
                    </a:lnTo>
                    <a:lnTo>
                      <a:pt x="0" y="4"/>
                    </a:lnTo>
                    <a:lnTo>
                      <a:pt x="18" y="0"/>
                    </a:lnTo>
                    <a:lnTo>
                      <a:pt x="18" y="31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33" name="Freeform 29"/>
              <p:cNvSpPr>
                <a:spLocks/>
              </p:cNvSpPr>
              <p:nvPr/>
            </p:nvSpPr>
            <p:spPr bwMode="auto">
              <a:xfrm>
                <a:off x="3738" y="3001"/>
                <a:ext cx="152" cy="128"/>
              </a:xfrm>
              <a:custGeom>
                <a:avLst/>
                <a:gdLst>
                  <a:gd name="T0" fmla="*/ 0 w 152"/>
                  <a:gd name="T1" fmla="*/ 63 h 128"/>
                  <a:gd name="T2" fmla="*/ 152 w 152"/>
                  <a:gd name="T3" fmla="*/ 0 h 128"/>
                  <a:gd name="T4" fmla="*/ 66 w 152"/>
                  <a:gd name="T5" fmla="*/ 128 h 128"/>
                  <a:gd name="T6" fmla="*/ 0 w 152"/>
                  <a:gd name="T7" fmla="*/ 63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2"/>
                  <a:gd name="T13" fmla="*/ 0 h 128"/>
                  <a:gd name="T14" fmla="*/ 152 w 152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2" h="128">
                    <a:moveTo>
                      <a:pt x="0" y="63"/>
                    </a:moveTo>
                    <a:lnTo>
                      <a:pt x="152" y="0"/>
                    </a:lnTo>
                    <a:lnTo>
                      <a:pt x="66" y="128"/>
                    </a:lnTo>
                    <a:lnTo>
                      <a:pt x="0" y="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34" name="Freeform 30"/>
              <p:cNvSpPr>
                <a:spLocks/>
              </p:cNvSpPr>
              <p:nvPr/>
            </p:nvSpPr>
            <p:spPr bwMode="auto">
              <a:xfrm>
                <a:off x="3737" y="2985"/>
                <a:ext cx="174" cy="87"/>
              </a:xfrm>
              <a:custGeom>
                <a:avLst/>
                <a:gdLst>
                  <a:gd name="T0" fmla="*/ 145 w 174"/>
                  <a:gd name="T1" fmla="*/ 15 h 87"/>
                  <a:gd name="T2" fmla="*/ 155 w 174"/>
                  <a:gd name="T3" fmla="*/ 23 h 87"/>
                  <a:gd name="T4" fmla="*/ 3 w 174"/>
                  <a:gd name="T5" fmla="*/ 87 h 87"/>
                  <a:gd name="T6" fmla="*/ 0 w 174"/>
                  <a:gd name="T7" fmla="*/ 73 h 87"/>
                  <a:gd name="T8" fmla="*/ 151 w 174"/>
                  <a:gd name="T9" fmla="*/ 10 h 87"/>
                  <a:gd name="T10" fmla="*/ 161 w 174"/>
                  <a:gd name="T11" fmla="*/ 18 h 87"/>
                  <a:gd name="T12" fmla="*/ 151 w 174"/>
                  <a:gd name="T13" fmla="*/ 10 h 87"/>
                  <a:gd name="T14" fmla="*/ 174 w 174"/>
                  <a:gd name="T15" fmla="*/ 0 h 87"/>
                  <a:gd name="T16" fmla="*/ 161 w 174"/>
                  <a:gd name="T17" fmla="*/ 18 h 87"/>
                  <a:gd name="T18" fmla="*/ 145 w 174"/>
                  <a:gd name="T19" fmla="*/ 15 h 8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4"/>
                  <a:gd name="T31" fmla="*/ 0 h 87"/>
                  <a:gd name="T32" fmla="*/ 174 w 174"/>
                  <a:gd name="T33" fmla="*/ 87 h 8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4" h="87">
                    <a:moveTo>
                      <a:pt x="145" y="15"/>
                    </a:moveTo>
                    <a:lnTo>
                      <a:pt x="155" y="23"/>
                    </a:lnTo>
                    <a:lnTo>
                      <a:pt x="3" y="87"/>
                    </a:lnTo>
                    <a:lnTo>
                      <a:pt x="0" y="73"/>
                    </a:lnTo>
                    <a:lnTo>
                      <a:pt x="151" y="10"/>
                    </a:lnTo>
                    <a:lnTo>
                      <a:pt x="161" y="18"/>
                    </a:lnTo>
                    <a:lnTo>
                      <a:pt x="151" y="10"/>
                    </a:lnTo>
                    <a:lnTo>
                      <a:pt x="174" y="0"/>
                    </a:lnTo>
                    <a:lnTo>
                      <a:pt x="161" y="18"/>
                    </a:lnTo>
                    <a:lnTo>
                      <a:pt x="145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35" name="Freeform 31"/>
              <p:cNvSpPr>
                <a:spLocks/>
              </p:cNvSpPr>
              <p:nvPr/>
            </p:nvSpPr>
            <p:spPr bwMode="auto">
              <a:xfrm>
                <a:off x="3796" y="2999"/>
                <a:ext cx="102" cy="144"/>
              </a:xfrm>
              <a:custGeom>
                <a:avLst/>
                <a:gdLst>
                  <a:gd name="T0" fmla="*/ 17 w 102"/>
                  <a:gd name="T1" fmla="*/ 124 h 144"/>
                  <a:gd name="T2" fmla="*/ 0 w 102"/>
                  <a:gd name="T3" fmla="*/ 128 h 144"/>
                  <a:gd name="T4" fmla="*/ 86 w 102"/>
                  <a:gd name="T5" fmla="*/ 0 h 144"/>
                  <a:gd name="T6" fmla="*/ 102 w 102"/>
                  <a:gd name="T7" fmla="*/ 3 h 144"/>
                  <a:gd name="T8" fmla="*/ 16 w 102"/>
                  <a:gd name="T9" fmla="*/ 131 h 144"/>
                  <a:gd name="T10" fmla="*/ 0 w 102"/>
                  <a:gd name="T11" fmla="*/ 135 h 144"/>
                  <a:gd name="T12" fmla="*/ 16 w 102"/>
                  <a:gd name="T13" fmla="*/ 131 h 144"/>
                  <a:gd name="T14" fmla="*/ 8 w 102"/>
                  <a:gd name="T15" fmla="*/ 144 h 144"/>
                  <a:gd name="T16" fmla="*/ 0 w 102"/>
                  <a:gd name="T17" fmla="*/ 135 h 144"/>
                  <a:gd name="T18" fmla="*/ 17 w 102"/>
                  <a:gd name="T19" fmla="*/ 124 h 14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2"/>
                  <a:gd name="T31" fmla="*/ 0 h 144"/>
                  <a:gd name="T32" fmla="*/ 102 w 102"/>
                  <a:gd name="T33" fmla="*/ 144 h 14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2" h="144">
                    <a:moveTo>
                      <a:pt x="17" y="124"/>
                    </a:moveTo>
                    <a:lnTo>
                      <a:pt x="0" y="128"/>
                    </a:lnTo>
                    <a:lnTo>
                      <a:pt x="86" y="0"/>
                    </a:lnTo>
                    <a:lnTo>
                      <a:pt x="102" y="3"/>
                    </a:lnTo>
                    <a:lnTo>
                      <a:pt x="16" y="131"/>
                    </a:lnTo>
                    <a:lnTo>
                      <a:pt x="0" y="135"/>
                    </a:lnTo>
                    <a:lnTo>
                      <a:pt x="16" y="131"/>
                    </a:lnTo>
                    <a:lnTo>
                      <a:pt x="8" y="144"/>
                    </a:lnTo>
                    <a:lnTo>
                      <a:pt x="0" y="135"/>
                    </a:lnTo>
                    <a:lnTo>
                      <a:pt x="17" y="12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36" name="Freeform 32"/>
              <p:cNvSpPr>
                <a:spLocks/>
              </p:cNvSpPr>
              <p:nvPr/>
            </p:nvSpPr>
            <p:spPr bwMode="auto">
              <a:xfrm>
                <a:off x="3721" y="3055"/>
                <a:ext cx="89" cy="77"/>
              </a:xfrm>
              <a:custGeom>
                <a:avLst/>
                <a:gdLst>
                  <a:gd name="T0" fmla="*/ 18 w 89"/>
                  <a:gd name="T1" fmla="*/ 15 h 77"/>
                  <a:gd name="T2" fmla="*/ 25 w 89"/>
                  <a:gd name="T3" fmla="*/ 1 h 77"/>
                  <a:gd name="T4" fmla="*/ 89 w 89"/>
                  <a:gd name="T5" fmla="*/ 63 h 77"/>
                  <a:gd name="T6" fmla="*/ 72 w 89"/>
                  <a:gd name="T7" fmla="*/ 77 h 77"/>
                  <a:gd name="T8" fmla="*/ 8 w 89"/>
                  <a:gd name="T9" fmla="*/ 14 h 77"/>
                  <a:gd name="T10" fmla="*/ 15 w 89"/>
                  <a:gd name="T11" fmla="*/ 0 h 77"/>
                  <a:gd name="T12" fmla="*/ 8 w 89"/>
                  <a:gd name="T13" fmla="*/ 14 h 77"/>
                  <a:gd name="T14" fmla="*/ 0 w 89"/>
                  <a:gd name="T15" fmla="*/ 6 h 77"/>
                  <a:gd name="T16" fmla="*/ 15 w 89"/>
                  <a:gd name="T17" fmla="*/ 0 h 77"/>
                  <a:gd name="T18" fmla="*/ 18 w 89"/>
                  <a:gd name="T19" fmla="*/ 15 h 7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9"/>
                  <a:gd name="T31" fmla="*/ 0 h 77"/>
                  <a:gd name="T32" fmla="*/ 89 w 89"/>
                  <a:gd name="T33" fmla="*/ 77 h 7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9" h="77">
                    <a:moveTo>
                      <a:pt x="18" y="15"/>
                    </a:moveTo>
                    <a:lnTo>
                      <a:pt x="25" y="1"/>
                    </a:lnTo>
                    <a:lnTo>
                      <a:pt x="89" y="63"/>
                    </a:lnTo>
                    <a:lnTo>
                      <a:pt x="72" y="77"/>
                    </a:lnTo>
                    <a:lnTo>
                      <a:pt x="8" y="14"/>
                    </a:lnTo>
                    <a:lnTo>
                      <a:pt x="15" y="0"/>
                    </a:lnTo>
                    <a:lnTo>
                      <a:pt x="8" y="14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18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37" name="Freeform 33"/>
              <p:cNvSpPr>
                <a:spLocks/>
              </p:cNvSpPr>
              <p:nvPr/>
            </p:nvSpPr>
            <p:spPr bwMode="auto">
              <a:xfrm>
                <a:off x="3835" y="3013"/>
                <a:ext cx="42" cy="37"/>
              </a:xfrm>
              <a:custGeom>
                <a:avLst/>
                <a:gdLst>
                  <a:gd name="T0" fmla="*/ 0 w 42"/>
                  <a:gd name="T1" fmla="*/ 14 h 37"/>
                  <a:gd name="T2" fmla="*/ 18 w 42"/>
                  <a:gd name="T3" fmla="*/ 0 h 37"/>
                  <a:gd name="T4" fmla="*/ 42 w 42"/>
                  <a:gd name="T5" fmla="*/ 22 h 37"/>
                  <a:gd name="T6" fmla="*/ 24 w 42"/>
                  <a:gd name="T7" fmla="*/ 37 h 37"/>
                  <a:gd name="T8" fmla="*/ 0 w 42"/>
                  <a:gd name="T9" fmla="*/ 14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"/>
                  <a:gd name="T16" fmla="*/ 0 h 37"/>
                  <a:gd name="T17" fmla="*/ 42 w 42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" h="37">
                    <a:moveTo>
                      <a:pt x="0" y="14"/>
                    </a:moveTo>
                    <a:lnTo>
                      <a:pt x="18" y="0"/>
                    </a:lnTo>
                    <a:lnTo>
                      <a:pt x="42" y="22"/>
                    </a:lnTo>
                    <a:lnTo>
                      <a:pt x="24" y="37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38" name="Freeform 34"/>
              <p:cNvSpPr>
                <a:spLocks/>
              </p:cNvSpPr>
              <p:nvPr/>
            </p:nvSpPr>
            <p:spPr bwMode="auto">
              <a:xfrm>
                <a:off x="3645" y="3027"/>
                <a:ext cx="212" cy="159"/>
              </a:xfrm>
              <a:custGeom>
                <a:avLst/>
                <a:gdLst>
                  <a:gd name="T0" fmla="*/ 0 w 212"/>
                  <a:gd name="T1" fmla="*/ 131 h 159"/>
                  <a:gd name="T2" fmla="*/ 0 w 212"/>
                  <a:gd name="T3" fmla="*/ 131 h 159"/>
                  <a:gd name="T4" fmla="*/ 26 w 212"/>
                  <a:gd name="T5" fmla="*/ 116 h 159"/>
                  <a:gd name="T6" fmla="*/ 52 w 212"/>
                  <a:gd name="T7" fmla="*/ 102 h 159"/>
                  <a:gd name="T8" fmla="*/ 76 w 212"/>
                  <a:gd name="T9" fmla="*/ 86 h 159"/>
                  <a:gd name="T10" fmla="*/ 100 w 212"/>
                  <a:gd name="T11" fmla="*/ 70 h 159"/>
                  <a:gd name="T12" fmla="*/ 122 w 212"/>
                  <a:gd name="T13" fmla="*/ 53 h 159"/>
                  <a:gd name="T14" fmla="*/ 145 w 212"/>
                  <a:gd name="T15" fmla="*/ 36 h 159"/>
                  <a:gd name="T16" fmla="*/ 167 w 212"/>
                  <a:gd name="T17" fmla="*/ 19 h 159"/>
                  <a:gd name="T18" fmla="*/ 188 w 212"/>
                  <a:gd name="T19" fmla="*/ 0 h 159"/>
                  <a:gd name="T20" fmla="*/ 212 w 212"/>
                  <a:gd name="T21" fmla="*/ 22 h 159"/>
                  <a:gd name="T22" fmla="*/ 191 w 212"/>
                  <a:gd name="T23" fmla="*/ 41 h 159"/>
                  <a:gd name="T24" fmla="*/ 167 w 212"/>
                  <a:gd name="T25" fmla="*/ 59 h 159"/>
                  <a:gd name="T26" fmla="*/ 143 w 212"/>
                  <a:gd name="T27" fmla="*/ 77 h 159"/>
                  <a:gd name="T28" fmla="*/ 118 w 212"/>
                  <a:gd name="T29" fmla="*/ 94 h 159"/>
                  <a:gd name="T30" fmla="*/ 93 w 212"/>
                  <a:gd name="T31" fmla="*/ 113 h 159"/>
                  <a:gd name="T32" fmla="*/ 68 w 212"/>
                  <a:gd name="T33" fmla="*/ 129 h 159"/>
                  <a:gd name="T34" fmla="*/ 41 w 212"/>
                  <a:gd name="T35" fmla="*/ 144 h 159"/>
                  <a:gd name="T36" fmla="*/ 14 w 212"/>
                  <a:gd name="T37" fmla="*/ 159 h 159"/>
                  <a:gd name="T38" fmla="*/ 0 w 212"/>
                  <a:gd name="T39" fmla="*/ 131 h 15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2"/>
                  <a:gd name="T61" fmla="*/ 0 h 159"/>
                  <a:gd name="T62" fmla="*/ 212 w 212"/>
                  <a:gd name="T63" fmla="*/ 159 h 15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2" h="159">
                    <a:moveTo>
                      <a:pt x="0" y="131"/>
                    </a:moveTo>
                    <a:lnTo>
                      <a:pt x="0" y="131"/>
                    </a:lnTo>
                    <a:lnTo>
                      <a:pt x="26" y="116"/>
                    </a:lnTo>
                    <a:lnTo>
                      <a:pt x="52" y="102"/>
                    </a:lnTo>
                    <a:lnTo>
                      <a:pt x="76" y="86"/>
                    </a:lnTo>
                    <a:lnTo>
                      <a:pt x="100" y="70"/>
                    </a:lnTo>
                    <a:lnTo>
                      <a:pt x="122" y="53"/>
                    </a:lnTo>
                    <a:lnTo>
                      <a:pt x="145" y="36"/>
                    </a:lnTo>
                    <a:lnTo>
                      <a:pt x="167" y="19"/>
                    </a:lnTo>
                    <a:lnTo>
                      <a:pt x="188" y="0"/>
                    </a:lnTo>
                    <a:lnTo>
                      <a:pt x="212" y="22"/>
                    </a:lnTo>
                    <a:lnTo>
                      <a:pt x="191" y="41"/>
                    </a:lnTo>
                    <a:lnTo>
                      <a:pt x="167" y="59"/>
                    </a:lnTo>
                    <a:lnTo>
                      <a:pt x="143" y="77"/>
                    </a:lnTo>
                    <a:lnTo>
                      <a:pt x="118" y="94"/>
                    </a:lnTo>
                    <a:lnTo>
                      <a:pt x="93" y="113"/>
                    </a:lnTo>
                    <a:lnTo>
                      <a:pt x="68" y="129"/>
                    </a:lnTo>
                    <a:lnTo>
                      <a:pt x="41" y="144"/>
                    </a:lnTo>
                    <a:lnTo>
                      <a:pt x="14" y="159"/>
                    </a:lnTo>
                    <a:lnTo>
                      <a:pt x="0" y="1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39" name="Freeform 35"/>
              <p:cNvSpPr>
                <a:spLocks/>
              </p:cNvSpPr>
              <p:nvPr/>
            </p:nvSpPr>
            <p:spPr bwMode="auto">
              <a:xfrm>
                <a:off x="3459" y="3156"/>
                <a:ext cx="196" cy="111"/>
              </a:xfrm>
              <a:custGeom>
                <a:avLst/>
                <a:gdLst>
                  <a:gd name="T0" fmla="*/ 0 w 196"/>
                  <a:gd name="T1" fmla="*/ 77 h 111"/>
                  <a:gd name="T2" fmla="*/ 23 w 196"/>
                  <a:gd name="T3" fmla="*/ 69 h 111"/>
                  <a:gd name="T4" fmla="*/ 47 w 196"/>
                  <a:gd name="T5" fmla="*/ 61 h 111"/>
                  <a:gd name="T6" fmla="*/ 70 w 196"/>
                  <a:gd name="T7" fmla="*/ 53 h 111"/>
                  <a:gd name="T8" fmla="*/ 92 w 196"/>
                  <a:gd name="T9" fmla="*/ 42 h 111"/>
                  <a:gd name="T10" fmla="*/ 115 w 196"/>
                  <a:gd name="T11" fmla="*/ 33 h 111"/>
                  <a:gd name="T12" fmla="*/ 137 w 196"/>
                  <a:gd name="T13" fmla="*/ 22 h 111"/>
                  <a:gd name="T14" fmla="*/ 160 w 196"/>
                  <a:gd name="T15" fmla="*/ 10 h 111"/>
                  <a:gd name="T16" fmla="*/ 183 w 196"/>
                  <a:gd name="T17" fmla="*/ 0 h 111"/>
                  <a:gd name="T18" fmla="*/ 196 w 196"/>
                  <a:gd name="T19" fmla="*/ 28 h 111"/>
                  <a:gd name="T20" fmla="*/ 172 w 196"/>
                  <a:gd name="T21" fmla="*/ 40 h 111"/>
                  <a:gd name="T22" fmla="*/ 149 w 196"/>
                  <a:gd name="T23" fmla="*/ 53 h 111"/>
                  <a:gd name="T24" fmla="*/ 123 w 196"/>
                  <a:gd name="T25" fmla="*/ 64 h 111"/>
                  <a:gd name="T26" fmla="*/ 100 w 196"/>
                  <a:gd name="T27" fmla="*/ 74 h 111"/>
                  <a:gd name="T28" fmla="*/ 75 w 196"/>
                  <a:gd name="T29" fmla="*/ 85 h 111"/>
                  <a:gd name="T30" fmla="*/ 51 w 196"/>
                  <a:gd name="T31" fmla="*/ 94 h 111"/>
                  <a:gd name="T32" fmla="*/ 26 w 196"/>
                  <a:gd name="T33" fmla="*/ 102 h 111"/>
                  <a:gd name="T34" fmla="*/ 2 w 196"/>
                  <a:gd name="T35" fmla="*/ 111 h 111"/>
                  <a:gd name="T36" fmla="*/ 0 w 196"/>
                  <a:gd name="T37" fmla="*/ 77 h 11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6"/>
                  <a:gd name="T58" fmla="*/ 0 h 111"/>
                  <a:gd name="T59" fmla="*/ 196 w 196"/>
                  <a:gd name="T60" fmla="*/ 111 h 11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6" h="111">
                    <a:moveTo>
                      <a:pt x="0" y="77"/>
                    </a:moveTo>
                    <a:lnTo>
                      <a:pt x="23" y="69"/>
                    </a:lnTo>
                    <a:lnTo>
                      <a:pt x="47" y="61"/>
                    </a:lnTo>
                    <a:lnTo>
                      <a:pt x="70" y="53"/>
                    </a:lnTo>
                    <a:lnTo>
                      <a:pt x="92" y="42"/>
                    </a:lnTo>
                    <a:lnTo>
                      <a:pt x="115" y="33"/>
                    </a:lnTo>
                    <a:lnTo>
                      <a:pt x="137" y="22"/>
                    </a:lnTo>
                    <a:lnTo>
                      <a:pt x="160" y="10"/>
                    </a:lnTo>
                    <a:lnTo>
                      <a:pt x="183" y="0"/>
                    </a:lnTo>
                    <a:lnTo>
                      <a:pt x="196" y="28"/>
                    </a:lnTo>
                    <a:lnTo>
                      <a:pt x="172" y="40"/>
                    </a:lnTo>
                    <a:lnTo>
                      <a:pt x="149" y="53"/>
                    </a:lnTo>
                    <a:lnTo>
                      <a:pt x="123" y="64"/>
                    </a:lnTo>
                    <a:lnTo>
                      <a:pt x="100" y="74"/>
                    </a:lnTo>
                    <a:lnTo>
                      <a:pt x="75" y="85"/>
                    </a:lnTo>
                    <a:lnTo>
                      <a:pt x="51" y="94"/>
                    </a:lnTo>
                    <a:lnTo>
                      <a:pt x="26" y="102"/>
                    </a:lnTo>
                    <a:lnTo>
                      <a:pt x="2" y="111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40" name="Freeform 36"/>
              <p:cNvSpPr>
                <a:spLocks/>
              </p:cNvSpPr>
              <p:nvPr/>
            </p:nvSpPr>
            <p:spPr bwMode="auto">
              <a:xfrm>
                <a:off x="3437" y="3233"/>
                <a:ext cx="22" cy="40"/>
              </a:xfrm>
              <a:custGeom>
                <a:avLst/>
                <a:gdLst>
                  <a:gd name="T0" fmla="*/ 22 w 22"/>
                  <a:gd name="T1" fmla="*/ 34 h 40"/>
                  <a:gd name="T2" fmla="*/ 2 w 22"/>
                  <a:gd name="T3" fmla="*/ 40 h 40"/>
                  <a:gd name="T4" fmla="*/ 0 w 22"/>
                  <a:gd name="T5" fmla="*/ 6 h 40"/>
                  <a:gd name="T6" fmla="*/ 20 w 22"/>
                  <a:gd name="T7" fmla="*/ 0 h 40"/>
                  <a:gd name="T8" fmla="*/ 22 w 22"/>
                  <a:gd name="T9" fmla="*/ 34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40"/>
                  <a:gd name="T17" fmla="*/ 22 w 22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40">
                    <a:moveTo>
                      <a:pt x="22" y="34"/>
                    </a:moveTo>
                    <a:lnTo>
                      <a:pt x="2" y="40"/>
                    </a:lnTo>
                    <a:lnTo>
                      <a:pt x="0" y="6"/>
                    </a:lnTo>
                    <a:lnTo>
                      <a:pt x="20" y="0"/>
                    </a:lnTo>
                    <a:lnTo>
                      <a:pt x="22" y="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41" name="Freeform 37"/>
              <p:cNvSpPr>
                <a:spLocks/>
              </p:cNvSpPr>
              <p:nvPr/>
            </p:nvSpPr>
            <p:spPr bwMode="auto">
              <a:xfrm>
                <a:off x="3738" y="3001"/>
                <a:ext cx="152" cy="128"/>
              </a:xfrm>
              <a:custGeom>
                <a:avLst/>
                <a:gdLst>
                  <a:gd name="T0" fmla="*/ 0 w 152"/>
                  <a:gd name="T1" fmla="*/ 63 h 128"/>
                  <a:gd name="T2" fmla="*/ 152 w 152"/>
                  <a:gd name="T3" fmla="*/ 0 h 128"/>
                  <a:gd name="T4" fmla="*/ 66 w 152"/>
                  <a:gd name="T5" fmla="*/ 128 h 128"/>
                  <a:gd name="T6" fmla="*/ 0 w 152"/>
                  <a:gd name="T7" fmla="*/ 63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2"/>
                  <a:gd name="T13" fmla="*/ 0 h 128"/>
                  <a:gd name="T14" fmla="*/ 152 w 152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2" h="128">
                    <a:moveTo>
                      <a:pt x="0" y="63"/>
                    </a:moveTo>
                    <a:lnTo>
                      <a:pt x="152" y="0"/>
                    </a:lnTo>
                    <a:lnTo>
                      <a:pt x="66" y="128"/>
                    </a:lnTo>
                    <a:lnTo>
                      <a:pt x="0" y="63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42" name="Freeform 38"/>
              <p:cNvSpPr>
                <a:spLocks/>
              </p:cNvSpPr>
              <p:nvPr/>
            </p:nvSpPr>
            <p:spPr bwMode="auto">
              <a:xfrm>
                <a:off x="3735" y="2992"/>
                <a:ext cx="166" cy="79"/>
              </a:xfrm>
              <a:custGeom>
                <a:avLst/>
                <a:gdLst>
                  <a:gd name="T0" fmla="*/ 149 w 166"/>
                  <a:gd name="T1" fmla="*/ 9 h 79"/>
                  <a:gd name="T2" fmla="*/ 155 w 166"/>
                  <a:gd name="T3" fmla="*/ 14 h 79"/>
                  <a:gd name="T4" fmla="*/ 2 w 166"/>
                  <a:gd name="T5" fmla="*/ 79 h 79"/>
                  <a:gd name="T6" fmla="*/ 0 w 166"/>
                  <a:gd name="T7" fmla="*/ 72 h 79"/>
                  <a:gd name="T8" fmla="*/ 152 w 166"/>
                  <a:gd name="T9" fmla="*/ 7 h 79"/>
                  <a:gd name="T10" fmla="*/ 157 w 166"/>
                  <a:gd name="T11" fmla="*/ 12 h 79"/>
                  <a:gd name="T12" fmla="*/ 152 w 166"/>
                  <a:gd name="T13" fmla="*/ 7 h 79"/>
                  <a:gd name="T14" fmla="*/ 166 w 166"/>
                  <a:gd name="T15" fmla="*/ 0 h 79"/>
                  <a:gd name="T16" fmla="*/ 157 w 166"/>
                  <a:gd name="T17" fmla="*/ 12 h 79"/>
                  <a:gd name="T18" fmla="*/ 149 w 166"/>
                  <a:gd name="T19" fmla="*/ 9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6"/>
                  <a:gd name="T31" fmla="*/ 0 h 79"/>
                  <a:gd name="T32" fmla="*/ 166 w 166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6" h="79">
                    <a:moveTo>
                      <a:pt x="149" y="9"/>
                    </a:moveTo>
                    <a:lnTo>
                      <a:pt x="155" y="14"/>
                    </a:lnTo>
                    <a:lnTo>
                      <a:pt x="2" y="79"/>
                    </a:lnTo>
                    <a:lnTo>
                      <a:pt x="0" y="72"/>
                    </a:lnTo>
                    <a:lnTo>
                      <a:pt x="152" y="7"/>
                    </a:lnTo>
                    <a:lnTo>
                      <a:pt x="157" y="12"/>
                    </a:lnTo>
                    <a:lnTo>
                      <a:pt x="152" y="7"/>
                    </a:lnTo>
                    <a:lnTo>
                      <a:pt x="166" y="0"/>
                    </a:lnTo>
                    <a:lnTo>
                      <a:pt x="157" y="12"/>
                    </a:lnTo>
                    <a:lnTo>
                      <a:pt x="149" y="9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43" name="Freeform 39"/>
              <p:cNvSpPr>
                <a:spLocks/>
              </p:cNvSpPr>
              <p:nvPr/>
            </p:nvSpPr>
            <p:spPr bwMode="auto">
              <a:xfrm>
                <a:off x="3799" y="2996"/>
                <a:ext cx="95" cy="139"/>
              </a:xfrm>
              <a:custGeom>
                <a:avLst/>
                <a:gdLst>
                  <a:gd name="T0" fmla="*/ 10 w 95"/>
                  <a:gd name="T1" fmla="*/ 127 h 139"/>
                  <a:gd name="T2" fmla="*/ 0 w 95"/>
                  <a:gd name="T3" fmla="*/ 130 h 139"/>
                  <a:gd name="T4" fmla="*/ 87 w 95"/>
                  <a:gd name="T5" fmla="*/ 0 h 139"/>
                  <a:gd name="T6" fmla="*/ 95 w 95"/>
                  <a:gd name="T7" fmla="*/ 4 h 139"/>
                  <a:gd name="T8" fmla="*/ 9 w 95"/>
                  <a:gd name="T9" fmla="*/ 132 h 139"/>
                  <a:gd name="T10" fmla="*/ 0 w 95"/>
                  <a:gd name="T11" fmla="*/ 135 h 139"/>
                  <a:gd name="T12" fmla="*/ 9 w 95"/>
                  <a:gd name="T13" fmla="*/ 132 h 139"/>
                  <a:gd name="T14" fmla="*/ 5 w 95"/>
                  <a:gd name="T15" fmla="*/ 139 h 139"/>
                  <a:gd name="T16" fmla="*/ 0 w 95"/>
                  <a:gd name="T17" fmla="*/ 135 h 139"/>
                  <a:gd name="T18" fmla="*/ 10 w 95"/>
                  <a:gd name="T19" fmla="*/ 127 h 13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5"/>
                  <a:gd name="T31" fmla="*/ 0 h 139"/>
                  <a:gd name="T32" fmla="*/ 95 w 95"/>
                  <a:gd name="T33" fmla="*/ 139 h 13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5" h="139">
                    <a:moveTo>
                      <a:pt x="10" y="127"/>
                    </a:moveTo>
                    <a:lnTo>
                      <a:pt x="0" y="130"/>
                    </a:lnTo>
                    <a:lnTo>
                      <a:pt x="87" y="0"/>
                    </a:lnTo>
                    <a:lnTo>
                      <a:pt x="95" y="4"/>
                    </a:lnTo>
                    <a:lnTo>
                      <a:pt x="9" y="132"/>
                    </a:lnTo>
                    <a:lnTo>
                      <a:pt x="0" y="135"/>
                    </a:lnTo>
                    <a:lnTo>
                      <a:pt x="9" y="132"/>
                    </a:lnTo>
                    <a:lnTo>
                      <a:pt x="5" y="139"/>
                    </a:lnTo>
                    <a:lnTo>
                      <a:pt x="0" y="135"/>
                    </a:lnTo>
                    <a:lnTo>
                      <a:pt x="10" y="127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44" name="Freeform 40"/>
              <p:cNvSpPr>
                <a:spLocks/>
              </p:cNvSpPr>
              <p:nvPr/>
            </p:nvSpPr>
            <p:spPr bwMode="auto">
              <a:xfrm>
                <a:off x="3726" y="3062"/>
                <a:ext cx="79" cy="71"/>
              </a:xfrm>
              <a:custGeom>
                <a:avLst/>
                <a:gdLst>
                  <a:gd name="T0" fmla="*/ 11 w 79"/>
                  <a:gd name="T1" fmla="*/ 7 h 71"/>
                  <a:gd name="T2" fmla="*/ 14 w 79"/>
                  <a:gd name="T3" fmla="*/ 0 h 71"/>
                  <a:gd name="T4" fmla="*/ 79 w 79"/>
                  <a:gd name="T5" fmla="*/ 65 h 71"/>
                  <a:gd name="T6" fmla="*/ 70 w 79"/>
                  <a:gd name="T7" fmla="*/ 71 h 71"/>
                  <a:gd name="T8" fmla="*/ 4 w 79"/>
                  <a:gd name="T9" fmla="*/ 7 h 71"/>
                  <a:gd name="T10" fmla="*/ 8 w 79"/>
                  <a:gd name="T11" fmla="*/ 0 h 71"/>
                  <a:gd name="T12" fmla="*/ 4 w 79"/>
                  <a:gd name="T13" fmla="*/ 7 h 71"/>
                  <a:gd name="T14" fmla="*/ 0 w 79"/>
                  <a:gd name="T15" fmla="*/ 3 h 71"/>
                  <a:gd name="T16" fmla="*/ 8 w 79"/>
                  <a:gd name="T17" fmla="*/ 0 h 71"/>
                  <a:gd name="T18" fmla="*/ 11 w 79"/>
                  <a:gd name="T19" fmla="*/ 7 h 7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9"/>
                  <a:gd name="T31" fmla="*/ 0 h 71"/>
                  <a:gd name="T32" fmla="*/ 79 w 79"/>
                  <a:gd name="T33" fmla="*/ 71 h 7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9" h="71">
                    <a:moveTo>
                      <a:pt x="11" y="7"/>
                    </a:moveTo>
                    <a:lnTo>
                      <a:pt x="14" y="0"/>
                    </a:lnTo>
                    <a:lnTo>
                      <a:pt x="79" y="65"/>
                    </a:lnTo>
                    <a:lnTo>
                      <a:pt x="70" y="71"/>
                    </a:lnTo>
                    <a:lnTo>
                      <a:pt x="4" y="7"/>
                    </a:lnTo>
                    <a:lnTo>
                      <a:pt x="8" y="0"/>
                    </a:lnTo>
                    <a:lnTo>
                      <a:pt x="4" y="7"/>
                    </a:lnTo>
                    <a:lnTo>
                      <a:pt x="0" y="3"/>
                    </a:lnTo>
                    <a:lnTo>
                      <a:pt x="8" y="0"/>
                    </a:lnTo>
                    <a:lnTo>
                      <a:pt x="11" y="7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45" name="Freeform 41"/>
              <p:cNvSpPr>
                <a:spLocks/>
              </p:cNvSpPr>
              <p:nvPr/>
            </p:nvSpPr>
            <p:spPr bwMode="auto">
              <a:xfrm>
                <a:off x="3838" y="3018"/>
                <a:ext cx="35" cy="31"/>
              </a:xfrm>
              <a:custGeom>
                <a:avLst/>
                <a:gdLst>
                  <a:gd name="T0" fmla="*/ 0 w 35"/>
                  <a:gd name="T1" fmla="*/ 12 h 31"/>
                  <a:gd name="T2" fmla="*/ 13 w 35"/>
                  <a:gd name="T3" fmla="*/ 0 h 31"/>
                  <a:gd name="T4" fmla="*/ 35 w 35"/>
                  <a:gd name="T5" fmla="*/ 18 h 31"/>
                  <a:gd name="T6" fmla="*/ 20 w 35"/>
                  <a:gd name="T7" fmla="*/ 31 h 31"/>
                  <a:gd name="T8" fmla="*/ 0 w 35"/>
                  <a:gd name="T9" fmla="*/ 12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31"/>
                  <a:gd name="T17" fmla="*/ 35 w 35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31">
                    <a:moveTo>
                      <a:pt x="0" y="12"/>
                    </a:moveTo>
                    <a:lnTo>
                      <a:pt x="13" y="0"/>
                    </a:lnTo>
                    <a:lnTo>
                      <a:pt x="35" y="18"/>
                    </a:lnTo>
                    <a:lnTo>
                      <a:pt x="20" y="31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46" name="Freeform 42"/>
              <p:cNvSpPr>
                <a:spLocks/>
              </p:cNvSpPr>
              <p:nvPr/>
            </p:nvSpPr>
            <p:spPr bwMode="auto">
              <a:xfrm>
                <a:off x="3646" y="3030"/>
                <a:ext cx="209" cy="153"/>
              </a:xfrm>
              <a:custGeom>
                <a:avLst/>
                <a:gdLst>
                  <a:gd name="T0" fmla="*/ 0 w 209"/>
                  <a:gd name="T1" fmla="*/ 130 h 153"/>
                  <a:gd name="T2" fmla="*/ 0 w 209"/>
                  <a:gd name="T3" fmla="*/ 130 h 153"/>
                  <a:gd name="T4" fmla="*/ 26 w 209"/>
                  <a:gd name="T5" fmla="*/ 115 h 153"/>
                  <a:gd name="T6" fmla="*/ 52 w 209"/>
                  <a:gd name="T7" fmla="*/ 101 h 153"/>
                  <a:gd name="T8" fmla="*/ 76 w 209"/>
                  <a:gd name="T9" fmla="*/ 85 h 153"/>
                  <a:gd name="T10" fmla="*/ 100 w 209"/>
                  <a:gd name="T11" fmla="*/ 69 h 153"/>
                  <a:gd name="T12" fmla="*/ 124 w 209"/>
                  <a:gd name="T13" fmla="*/ 52 h 153"/>
                  <a:gd name="T14" fmla="*/ 147 w 209"/>
                  <a:gd name="T15" fmla="*/ 36 h 153"/>
                  <a:gd name="T16" fmla="*/ 168 w 209"/>
                  <a:gd name="T17" fmla="*/ 18 h 153"/>
                  <a:gd name="T18" fmla="*/ 190 w 209"/>
                  <a:gd name="T19" fmla="*/ 0 h 153"/>
                  <a:gd name="T20" fmla="*/ 209 w 209"/>
                  <a:gd name="T21" fmla="*/ 17 h 153"/>
                  <a:gd name="T22" fmla="*/ 187 w 209"/>
                  <a:gd name="T23" fmla="*/ 36 h 153"/>
                  <a:gd name="T24" fmla="*/ 164 w 209"/>
                  <a:gd name="T25" fmla="*/ 55 h 153"/>
                  <a:gd name="T26" fmla="*/ 140 w 209"/>
                  <a:gd name="T27" fmla="*/ 72 h 153"/>
                  <a:gd name="T28" fmla="*/ 116 w 209"/>
                  <a:gd name="T29" fmla="*/ 89 h 153"/>
                  <a:gd name="T30" fmla="*/ 91 w 209"/>
                  <a:gd name="T31" fmla="*/ 106 h 153"/>
                  <a:gd name="T32" fmla="*/ 65 w 209"/>
                  <a:gd name="T33" fmla="*/ 122 h 153"/>
                  <a:gd name="T34" fmla="*/ 39 w 209"/>
                  <a:gd name="T35" fmla="*/ 138 h 153"/>
                  <a:gd name="T36" fmla="*/ 12 w 209"/>
                  <a:gd name="T37" fmla="*/ 153 h 153"/>
                  <a:gd name="T38" fmla="*/ 0 w 209"/>
                  <a:gd name="T39" fmla="*/ 130 h 1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9"/>
                  <a:gd name="T61" fmla="*/ 0 h 153"/>
                  <a:gd name="T62" fmla="*/ 209 w 209"/>
                  <a:gd name="T63" fmla="*/ 153 h 1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9" h="153">
                    <a:moveTo>
                      <a:pt x="0" y="130"/>
                    </a:moveTo>
                    <a:lnTo>
                      <a:pt x="0" y="130"/>
                    </a:lnTo>
                    <a:lnTo>
                      <a:pt x="26" y="115"/>
                    </a:lnTo>
                    <a:lnTo>
                      <a:pt x="52" y="101"/>
                    </a:lnTo>
                    <a:lnTo>
                      <a:pt x="76" y="85"/>
                    </a:lnTo>
                    <a:lnTo>
                      <a:pt x="100" y="69"/>
                    </a:lnTo>
                    <a:lnTo>
                      <a:pt x="124" y="52"/>
                    </a:lnTo>
                    <a:lnTo>
                      <a:pt x="147" y="36"/>
                    </a:lnTo>
                    <a:lnTo>
                      <a:pt x="168" y="18"/>
                    </a:lnTo>
                    <a:lnTo>
                      <a:pt x="190" y="0"/>
                    </a:lnTo>
                    <a:lnTo>
                      <a:pt x="209" y="17"/>
                    </a:lnTo>
                    <a:lnTo>
                      <a:pt x="187" y="36"/>
                    </a:lnTo>
                    <a:lnTo>
                      <a:pt x="164" y="55"/>
                    </a:lnTo>
                    <a:lnTo>
                      <a:pt x="140" y="72"/>
                    </a:lnTo>
                    <a:lnTo>
                      <a:pt x="116" y="89"/>
                    </a:lnTo>
                    <a:lnTo>
                      <a:pt x="91" y="106"/>
                    </a:lnTo>
                    <a:lnTo>
                      <a:pt x="65" y="122"/>
                    </a:lnTo>
                    <a:lnTo>
                      <a:pt x="39" y="138"/>
                    </a:lnTo>
                    <a:lnTo>
                      <a:pt x="12" y="153"/>
                    </a:lnTo>
                    <a:lnTo>
                      <a:pt x="0" y="130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47" name="Freeform 43"/>
              <p:cNvSpPr>
                <a:spLocks/>
              </p:cNvSpPr>
              <p:nvPr/>
            </p:nvSpPr>
            <p:spPr bwMode="auto">
              <a:xfrm>
                <a:off x="3458" y="3159"/>
                <a:ext cx="195" cy="106"/>
              </a:xfrm>
              <a:custGeom>
                <a:avLst/>
                <a:gdLst>
                  <a:gd name="T0" fmla="*/ 0 w 195"/>
                  <a:gd name="T1" fmla="*/ 78 h 106"/>
                  <a:gd name="T2" fmla="*/ 23 w 195"/>
                  <a:gd name="T3" fmla="*/ 69 h 106"/>
                  <a:gd name="T4" fmla="*/ 47 w 195"/>
                  <a:gd name="T5" fmla="*/ 62 h 106"/>
                  <a:gd name="T6" fmla="*/ 70 w 195"/>
                  <a:gd name="T7" fmla="*/ 52 h 106"/>
                  <a:gd name="T8" fmla="*/ 93 w 195"/>
                  <a:gd name="T9" fmla="*/ 44 h 106"/>
                  <a:gd name="T10" fmla="*/ 116 w 195"/>
                  <a:gd name="T11" fmla="*/ 34 h 106"/>
                  <a:gd name="T12" fmla="*/ 138 w 195"/>
                  <a:gd name="T13" fmla="*/ 23 h 106"/>
                  <a:gd name="T14" fmla="*/ 161 w 195"/>
                  <a:gd name="T15" fmla="*/ 13 h 106"/>
                  <a:gd name="T16" fmla="*/ 183 w 195"/>
                  <a:gd name="T17" fmla="*/ 0 h 106"/>
                  <a:gd name="T18" fmla="*/ 195 w 195"/>
                  <a:gd name="T19" fmla="*/ 24 h 106"/>
                  <a:gd name="T20" fmla="*/ 171 w 195"/>
                  <a:gd name="T21" fmla="*/ 37 h 106"/>
                  <a:gd name="T22" fmla="*/ 148 w 195"/>
                  <a:gd name="T23" fmla="*/ 48 h 106"/>
                  <a:gd name="T24" fmla="*/ 122 w 195"/>
                  <a:gd name="T25" fmla="*/ 60 h 106"/>
                  <a:gd name="T26" fmla="*/ 99 w 195"/>
                  <a:gd name="T27" fmla="*/ 69 h 106"/>
                  <a:gd name="T28" fmla="*/ 75 w 195"/>
                  <a:gd name="T29" fmla="*/ 80 h 106"/>
                  <a:gd name="T30" fmla="*/ 52 w 195"/>
                  <a:gd name="T31" fmla="*/ 89 h 106"/>
                  <a:gd name="T32" fmla="*/ 26 w 195"/>
                  <a:gd name="T33" fmla="*/ 97 h 106"/>
                  <a:gd name="T34" fmla="*/ 3 w 195"/>
                  <a:gd name="T35" fmla="*/ 106 h 106"/>
                  <a:gd name="T36" fmla="*/ 0 w 195"/>
                  <a:gd name="T37" fmla="*/ 78 h 1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5"/>
                  <a:gd name="T58" fmla="*/ 0 h 106"/>
                  <a:gd name="T59" fmla="*/ 195 w 195"/>
                  <a:gd name="T60" fmla="*/ 106 h 1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5" h="106">
                    <a:moveTo>
                      <a:pt x="0" y="78"/>
                    </a:moveTo>
                    <a:lnTo>
                      <a:pt x="23" y="69"/>
                    </a:lnTo>
                    <a:lnTo>
                      <a:pt x="47" y="62"/>
                    </a:lnTo>
                    <a:lnTo>
                      <a:pt x="70" y="52"/>
                    </a:lnTo>
                    <a:lnTo>
                      <a:pt x="93" y="44"/>
                    </a:lnTo>
                    <a:lnTo>
                      <a:pt x="116" y="34"/>
                    </a:lnTo>
                    <a:lnTo>
                      <a:pt x="138" y="23"/>
                    </a:lnTo>
                    <a:lnTo>
                      <a:pt x="161" y="13"/>
                    </a:lnTo>
                    <a:lnTo>
                      <a:pt x="183" y="0"/>
                    </a:lnTo>
                    <a:lnTo>
                      <a:pt x="195" y="24"/>
                    </a:lnTo>
                    <a:lnTo>
                      <a:pt x="171" y="37"/>
                    </a:lnTo>
                    <a:lnTo>
                      <a:pt x="148" y="48"/>
                    </a:lnTo>
                    <a:lnTo>
                      <a:pt x="122" y="60"/>
                    </a:lnTo>
                    <a:lnTo>
                      <a:pt x="99" y="69"/>
                    </a:lnTo>
                    <a:lnTo>
                      <a:pt x="75" y="80"/>
                    </a:lnTo>
                    <a:lnTo>
                      <a:pt x="52" y="89"/>
                    </a:lnTo>
                    <a:lnTo>
                      <a:pt x="26" y="97"/>
                    </a:lnTo>
                    <a:lnTo>
                      <a:pt x="3" y="106"/>
                    </a:lnTo>
                    <a:lnTo>
                      <a:pt x="0" y="78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48" name="Freeform 44"/>
              <p:cNvSpPr>
                <a:spLocks/>
              </p:cNvSpPr>
              <p:nvPr/>
            </p:nvSpPr>
            <p:spPr bwMode="auto">
              <a:xfrm>
                <a:off x="3439" y="3235"/>
                <a:ext cx="20" cy="34"/>
              </a:xfrm>
              <a:custGeom>
                <a:avLst/>
                <a:gdLst>
                  <a:gd name="T0" fmla="*/ 20 w 20"/>
                  <a:gd name="T1" fmla="*/ 29 h 34"/>
                  <a:gd name="T2" fmla="*/ 2 w 20"/>
                  <a:gd name="T3" fmla="*/ 34 h 34"/>
                  <a:gd name="T4" fmla="*/ 0 w 20"/>
                  <a:gd name="T5" fmla="*/ 5 h 34"/>
                  <a:gd name="T6" fmla="*/ 18 w 20"/>
                  <a:gd name="T7" fmla="*/ 0 h 34"/>
                  <a:gd name="T8" fmla="*/ 20 w 20"/>
                  <a:gd name="T9" fmla="*/ 29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34"/>
                  <a:gd name="T17" fmla="*/ 20 w 2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34">
                    <a:moveTo>
                      <a:pt x="20" y="29"/>
                    </a:moveTo>
                    <a:lnTo>
                      <a:pt x="2" y="34"/>
                    </a:lnTo>
                    <a:lnTo>
                      <a:pt x="0" y="5"/>
                    </a:lnTo>
                    <a:lnTo>
                      <a:pt x="18" y="0"/>
                    </a:lnTo>
                    <a:lnTo>
                      <a:pt x="20" y="29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49" name="Freeform 45"/>
              <p:cNvSpPr>
                <a:spLocks/>
              </p:cNvSpPr>
              <p:nvPr/>
            </p:nvSpPr>
            <p:spPr bwMode="auto">
              <a:xfrm>
                <a:off x="3766" y="2973"/>
                <a:ext cx="151" cy="129"/>
              </a:xfrm>
              <a:custGeom>
                <a:avLst/>
                <a:gdLst>
                  <a:gd name="T0" fmla="*/ 0 w 151"/>
                  <a:gd name="T1" fmla="*/ 69 h 129"/>
                  <a:gd name="T2" fmla="*/ 151 w 151"/>
                  <a:gd name="T3" fmla="*/ 0 h 129"/>
                  <a:gd name="T4" fmla="*/ 72 w 151"/>
                  <a:gd name="T5" fmla="*/ 129 h 129"/>
                  <a:gd name="T6" fmla="*/ 0 w 151"/>
                  <a:gd name="T7" fmla="*/ 69 h 1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1"/>
                  <a:gd name="T13" fmla="*/ 0 h 129"/>
                  <a:gd name="T14" fmla="*/ 151 w 151"/>
                  <a:gd name="T15" fmla="*/ 129 h 1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1" h="129">
                    <a:moveTo>
                      <a:pt x="0" y="69"/>
                    </a:moveTo>
                    <a:lnTo>
                      <a:pt x="151" y="0"/>
                    </a:lnTo>
                    <a:lnTo>
                      <a:pt x="72" y="129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50" name="Freeform 46"/>
              <p:cNvSpPr>
                <a:spLocks/>
              </p:cNvSpPr>
              <p:nvPr/>
            </p:nvSpPr>
            <p:spPr bwMode="auto">
              <a:xfrm>
                <a:off x="3764" y="2956"/>
                <a:ext cx="174" cy="96"/>
              </a:xfrm>
              <a:custGeom>
                <a:avLst/>
                <a:gdLst>
                  <a:gd name="T0" fmla="*/ 146 w 174"/>
                  <a:gd name="T1" fmla="*/ 16 h 96"/>
                  <a:gd name="T2" fmla="*/ 156 w 174"/>
                  <a:gd name="T3" fmla="*/ 27 h 96"/>
                  <a:gd name="T4" fmla="*/ 5 w 174"/>
                  <a:gd name="T5" fmla="*/ 96 h 96"/>
                  <a:gd name="T6" fmla="*/ 0 w 174"/>
                  <a:gd name="T7" fmla="*/ 83 h 96"/>
                  <a:gd name="T8" fmla="*/ 151 w 174"/>
                  <a:gd name="T9" fmla="*/ 11 h 96"/>
                  <a:gd name="T10" fmla="*/ 161 w 174"/>
                  <a:gd name="T11" fmla="*/ 20 h 96"/>
                  <a:gd name="T12" fmla="*/ 151 w 174"/>
                  <a:gd name="T13" fmla="*/ 11 h 96"/>
                  <a:gd name="T14" fmla="*/ 174 w 174"/>
                  <a:gd name="T15" fmla="*/ 0 h 96"/>
                  <a:gd name="T16" fmla="*/ 161 w 174"/>
                  <a:gd name="T17" fmla="*/ 20 h 96"/>
                  <a:gd name="T18" fmla="*/ 146 w 174"/>
                  <a:gd name="T19" fmla="*/ 16 h 9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4"/>
                  <a:gd name="T31" fmla="*/ 0 h 96"/>
                  <a:gd name="T32" fmla="*/ 174 w 174"/>
                  <a:gd name="T33" fmla="*/ 96 h 9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4" h="96">
                    <a:moveTo>
                      <a:pt x="146" y="16"/>
                    </a:moveTo>
                    <a:lnTo>
                      <a:pt x="156" y="27"/>
                    </a:lnTo>
                    <a:lnTo>
                      <a:pt x="5" y="96"/>
                    </a:lnTo>
                    <a:lnTo>
                      <a:pt x="0" y="83"/>
                    </a:lnTo>
                    <a:lnTo>
                      <a:pt x="151" y="11"/>
                    </a:lnTo>
                    <a:lnTo>
                      <a:pt x="161" y="20"/>
                    </a:lnTo>
                    <a:lnTo>
                      <a:pt x="151" y="11"/>
                    </a:lnTo>
                    <a:lnTo>
                      <a:pt x="174" y="0"/>
                    </a:lnTo>
                    <a:lnTo>
                      <a:pt x="161" y="20"/>
                    </a:lnTo>
                    <a:lnTo>
                      <a:pt x="146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51" name="Freeform 47"/>
              <p:cNvSpPr>
                <a:spLocks/>
              </p:cNvSpPr>
              <p:nvPr/>
            </p:nvSpPr>
            <p:spPr bwMode="auto">
              <a:xfrm>
                <a:off x="3831" y="2971"/>
                <a:ext cx="94" cy="146"/>
              </a:xfrm>
              <a:custGeom>
                <a:avLst/>
                <a:gdLst>
                  <a:gd name="T0" fmla="*/ 16 w 94"/>
                  <a:gd name="T1" fmla="*/ 126 h 146"/>
                  <a:gd name="T2" fmla="*/ 0 w 94"/>
                  <a:gd name="T3" fmla="*/ 130 h 146"/>
                  <a:gd name="T4" fmla="*/ 78 w 94"/>
                  <a:gd name="T5" fmla="*/ 0 h 146"/>
                  <a:gd name="T6" fmla="*/ 94 w 94"/>
                  <a:gd name="T7" fmla="*/ 4 h 146"/>
                  <a:gd name="T8" fmla="*/ 16 w 94"/>
                  <a:gd name="T9" fmla="*/ 133 h 146"/>
                  <a:gd name="T10" fmla="*/ 0 w 94"/>
                  <a:gd name="T11" fmla="*/ 140 h 146"/>
                  <a:gd name="T12" fmla="*/ 16 w 94"/>
                  <a:gd name="T13" fmla="*/ 133 h 146"/>
                  <a:gd name="T14" fmla="*/ 9 w 94"/>
                  <a:gd name="T15" fmla="*/ 146 h 146"/>
                  <a:gd name="T16" fmla="*/ 0 w 94"/>
                  <a:gd name="T17" fmla="*/ 140 h 146"/>
                  <a:gd name="T18" fmla="*/ 16 w 94"/>
                  <a:gd name="T19" fmla="*/ 126 h 14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4"/>
                  <a:gd name="T31" fmla="*/ 0 h 146"/>
                  <a:gd name="T32" fmla="*/ 94 w 94"/>
                  <a:gd name="T33" fmla="*/ 146 h 14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4" h="146">
                    <a:moveTo>
                      <a:pt x="16" y="126"/>
                    </a:moveTo>
                    <a:lnTo>
                      <a:pt x="0" y="130"/>
                    </a:lnTo>
                    <a:lnTo>
                      <a:pt x="78" y="0"/>
                    </a:lnTo>
                    <a:lnTo>
                      <a:pt x="94" y="4"/>
                    </a:lnTo>
                    <a:lnTo>
                      <a:pt x="16" y="133"/>
                    </a:lnTo>
                    <a:lnTo>
                      <a:pt x="0" y="140"/>
                    </a:lnTo>
                    <a:lnTo>
                      <a:pt x="16" y="133"/>
                    </a:lnTo>
                    <a:lnTo>
                      <a:pt x="9" y="146"/>
                    </a:lnTo>
                    <a:lnTo>
                      <a:pt x="0" y="140"/>
                    </a:lnTo>
                    <a:lnTo>
                      <a:pt x="16" y="12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52" name="Freeform 48"/>
              <p:cNvSpPr>
                <a:spLocks/>
              </p:cNvSpPr>
              <p:nvPr/>
            </p:nvSpPr>
            <p:spPr bwMode="auto">
              <a:xfrm>
                <a:off x="3749" y="3036"/>
                <a:ext cx="94" cy="74"/>
              </a:xfrm>
              <a:custGeom>
                <a:avLst/>
                <a:gdLst>
                  <a:gd name="T0" fmla="*/ 19 w 94"/>
                  <a:gd name="T1" fmla="*/ 15 h 74"/>
                  <a:gd name="T2" fmla="*/ 24 w 94"/>
                  <a:gd name="T3" fmla="*/ 0 h 74"/>
                  <a:gd name="T4" fmla="*/ 94 w 94"/>
                  <a:gd name="T5" fmla="*/ 60 h 74"/>
                  <a:gd name="T6" fmla="*/ 78 w 94"/>
                  <a:gd name="T7" fmla="*/ 74 h 74"/>
                  <a:gd name="T8" fmla="*/ 9 w 94"/>
                  <a:gd name="T9" fmla="*/ 14 h 74"/>
                  <a:gd name="T10" fmla="*/ 14 w 94"/>
                  <a:gd name="T11" fmla="*/ 0 h 74"/>
                  <a:gd name="T12" fmla="*/ 9 w 94"/>
                  <a:gd name="T13" fmla="*/ 14 h 74"/>
                  <a:gd name="T14" fmla="*/ 0 w 94"/>
                  <a:gd name="T15" fmla="*/ 6 h 74"/>
                  <a:gd name="T16" fmla="*/ 14 w 94"/>
                  <a:gd name="T17" fmla="*/ 0 h 74"/>
                  <a:gd name="T18" fmla="*/ 19 w 94"/>
                  <a:gd name="T19" fmla="*/ 15 h 7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4"/>
                  <a:gd name="T31" fmla="*/ 0 h 74"/>
                  <a:gd name="T32" fmla="*/ 94 w 94"/>
                  <a:gd name="T33" fmla="*/ 74 h 7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4" h="74">
                    <a:moveTo>
                      <a:pt x="19" y="15"/>
                    </a:moveTo>
                    <a:lnTo>
                      <a:pt x="24" y="0"/>
                    </a:lnTo>
                    <a:lnTo>
                      <a:pt x="94" y="60"/>
                    </a:lnTo>
                    <a:lnTo>
                      <a:pt x="78" y="74"/>
                    </a:lnTo>
                    <a:lnTo>
                      <a:pt x="9" y="14"/>
                    </a:lnTo>
                    <a:lnTo>
                      <a:pt x="14" y="0"/>
                    </a:lnTo>
                    <a:lnTo>
                      <a:pt x="9" y="14"/>
                    </a:lnTo>
                    <a:lnTo>
                      <a:pt x="0" y="6"/>
                    </a:lnTo>
                    <a:lnTo>
                      <a:pt x="14" y="0"/>
                    </a:lnTo>
                    <a:lnTo>
                      <a:pt x="19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53" name="Freeform 49"/>
              <p:cNvSpPr>
                <a:spLocks/>
              </p:cNvSpPr>
              <p:nvPr/>
            </p:nvSpPr>
            <p:spPr bwMode="auto">
              <a:xfrm>
                <a:off x="3862" y="2989"/>
                <a:ext cx="42" cy="34"/>
              </a:xfrm>
              <a:custGeom>
                <a:avLst/>
                <a:gdLst>
                  <a:gd name="T0" fmla="*/ 0 w 42"/>
                  <a:gd name="T1" fmla="*/ 15 h 34"/>
                  <a:gd name="T2" fmla="*/ 16 w 42"/>
                  <a:gd name="T3" fmla="*/ 0 h 34"/>
                  <a:gd name="T4" fmla="*/ 42 w 42"/>
                  <a:gd name="T5" fmla="*/ 19 h 34"/>
                  <a:gd name="T6" fmla="*/ 26 w 42"/>
                  <a:gd name="T7" fmla="*/ 34 h 34"/>
                  <a:gd name="T8" fmla="*/ 0 w 42"/>
                  <a:gd name="T9" fmla="*/ 15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"/>
                  <a:gd name="T16" fmla="*/ 0 h 34"/>
                  <a:gd name="T17" fmla="*/ 42 w 42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" h="34">
                    <a:moveTo>
                      <a:pt x="0" y="15"/>
                    </a:moveTo>
                    <a:lnTo>
                      <a:pt x="16" y="0"/>
                    </a:lnTo>
                    <a:lnTo>
                      <a:pt x="42" y="19"/>
                    </a:lnTo>
                    <a:lnTo>
                      <a:pt x="26" y="34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54" name="Freeform 50"/>
              <p:cNvSpPr>
                <a:spLocks/>
              </p:cNvSpPr>
              <p:nvPr/>
            </p:nvSpPr>
            <p:spPr bwMode="auto">
              <a:xfrm>
                <a:off x="3680" y="3004"/>
                <a:ext cx="209" cy="166"/>
              </a:xfrm>
              <a:custGeom>
                <a:avLst/>
                <a:gdLst>
                  <a:gd name="T0" fmla="*/ 0 w 209"/>
                  <a:gd name="T1" fmla="*/ 138 h 166"/>
                  <a:gd name="T2" fmla="*/ 0 w 209"/>
                  <a:gd name="T3" fmla="*/ 138 h 166"/>
                  <a:gd name="T4" fmla="*/ 24 w 209"/>
                  <a:gd name="T5" fmla="*/ 122 h 166"/>
                  <a:gd name="T6" fmla="*/ 49 w 209"/>
                  <a:gd name="T7" fmla="*/ 106 h 166"/>
                  <a:gd name="T8" fmla="*/ 73 w 209"/>
                  <a:gd name="T9" fmla="*/ 90 h 166"/>
                  <a:gd name="T10" fmla="*/ 97 w 209"/>
                  <a:gd name="T11" fmla="*/ 73 h 166"/>
                  <a:gd name="T12" fmla="*/ 119 w 209"/>
                  <a:gd name="T13" fmla="*/ 57 h 166"/>
                  <a:gd name="T14" fmla="*/ 141 w 209"/>
                  <a:gd name="T15" fmla="*/ 38 h 166"/>
                  <a:gd name="T16" fmla="*/ 162 w 209"/>
                  <a:gd name="T17" fmla="*/ 19 h 166"/>
                  <a:gd name="T18" fmla="*/ 183 w 209"/>
                  <a:gd name="T19" fmla="*/ 0 h 166"/>
                  <a:gd name="T20" fmla="*/ 209 w 209"/>
                  <a:gd name="T21" fmla="*/ 20 h 166"/>
                  <a:gd name="T22" fmla="*/ 188 w 209"/>
                  <a:gd name="T23" fmla="*/ 39 h 166"/>
                  <a:gd name="T24" fmla="*/ 165 w 209"/>
                  <a:gd name="T25" fmla="*/ 60 h 166"/>
                  <a:gd name="T26" fmla="*/ 141 w 209"/>
                  <a:gd name="T27" fmla="*/ 79 h 166"/>
                  <a:gd name="T28" fmla="*/ 117 w 209"/>
                  <a:gd name="T29" fmla="*/ 97 h 166"/>
                  <a:gd name="T30" fmla="*/ 93 w 209"/>
                  <a:gd name="T31" fmla="*/ 114 h 166"/>
                  <a:gd name="T32" fmla="*/ 68 w 209"/>
                  <a:gd name="T33" fmla="*/ 132 h 166"/>
                  <a:gd name="T34" fmla="*/ 42 w 209"/>
                  <a:gd name="T35" fmla="*/ 148 h 166"/>
                  <a:gd name="T36" fmla="*/ 15 w 209"/>
                  <a:gd name="T37" fmla="*/ 166 h 166"/>
                  <a:gd name="T38" fmla="*/ 0 w 209"/>
                  <a:gd name="T39" fmla="*/ 138 h 16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9"/>
                  <a:gd name="T61" fmla="*/ 0 h 166"/>
                  <a:gd name="T62" fmla="*/ 209 w 209"/>
                  <a:gd name="T63" fmla="*/ 166 h 16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9" h="166">
                    <a:moveTo>
                      <a:pt x="0" y="138"/>
                    </a:moveTo>
                    <a:lnTo>
                      <a:pt x="0" y="138"/>
                    </a:lnTo>
                    <a:lnTo>
                      <a:pt x="24" y="122"/>
                    </a:lnTo>
                    <a:lnTo>
                      <a:pt x="49" y="106"/>
                    </a:lnTo>
                    <a:lnTo>
                      <a:pt x="73" y="90"/>
                    </a:lnTo>
                    <a:lnTo>
                      <a:pt x="97" y="73"/>
                    </a:lnTo>
                    <a:lnTo>
                      <a:pt x="119" y="57"/>
                    </a:lnTo>
                    <a:lnTo>
                      <a:pt x="141" y="38"/>
                    </a:lnTo>
                    <a:lnTo>
                      <a:pt x="162" y="19"/>
                    </a:lnTo>
                    <a:lnTo>
                      <a:pt x="183" y="0"/>
                    </a:lnTo>
                    <a:lnTo>
                      <a:pt x="209" y="20"/>
                    </a:lnTo>
                    <a:lnTo>
                      <a:pt x="188" y="39"/>
                    </a:lnTo>
                    <a:lnTo>
                      <a:pt x="165" y="60"/>
                    </a:lnTo>
                    <a:lnTo>
                      <a:pt x="141" y="79"/>
                    </a:lnTo>
                    <a:lnTo>
                      <a:pt x="117" y="97"/>
                    </a:lnTo>
                    <a:lnTo>
                      <a:pt x="93" y="114"/>
                    </a:lnTo>
                    <a:lnTo>
                      <a:pt x="68" y="132"/>
                    </a:lnTo>
                    <a:lnTo>
                      <a:pt x="42" y="148"/>
                    </a:lnTo>
                    <a:lnTo>
                      <a:pt x="15" y="166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55" name="Freeform 51"/>
              <p:cNvSpPr>
                <a:spLocks/>
              </p:cNvSpPr>
              <p:nvPr/>
            </p:nvSpPr>
            <p:spPr bwMode="auto">
              <a:xfrm>
                <a:off x="3495" y="3137"/>
                <a:ext cx="195" cy="117"/>
              </a:xfrm>
              <a:custGeom>
                <a:avLst/>
                <a:gdLst>
                  <a:gd name="T0" fmla="*/ 0 w 195"/>
                  <a:gd name="T1" fmla="*/ 84 h 117"/>
                  <a:gd name="T2" fmla="*/ 22 w 195"/>
                  <a:gd name="T3" fmla="*/ 76 h 117"/>
                  <a:gd name="T4" fmla="*/ 45 w 195"/>
                  <a:gd name="T5" fmla="*/ 67 h 117"/>
                  <a:gd name="T6" fmla="*/ 68 w 195"/>
                  <a:gd name="T7" fmla="*/ 58 h 117"/>
                  <a:gd name="T8" fmla="*/ 91 w 195"/>
                  <a:gd name="T9" fmla="*/ 47 h 117"/>
                  <a:gd name="T10" fmla="*/ 113 w 195"/>
                  <a:gd name="T11" fmla="*/ 37 h 117"/>
                  <a:gd name="T12" fmla="*/ 135 w 195"/>
                  <a:gd name="T13" fmla="*/ 25 h 117"/>
                  <a:gd name="T14" fmla="*/ 157 w 195"/>
                  <a:gd name="T15" fmla="*/ 13 h 117"/>
                  <a:gd name="T16" fmla="*/ 179 w 195"/>
                  <a:gd name="T17" fmla="*/ 0 h 117"/>
                  <a:gd name="T18" fmla="*/ 195 w 195"/>
                  <a:gd name="T19" fmla="*/ 28 h 117"/>
                  <a:gd name="T20" fmla="*/ 172 w 195"/>
                  <a:gd name="T21" fmla="*/ 42 h 117"/>
                  <a:gd name="T22" fmla="*/ 148 w 195"/>
                  <a:gd name="T23" fmla="*/ 54 h 117"/>
                  <a:gd name="T24" fmla="*/ 125 w 195"/>
                  <a:gd name="T25" fmla="*/ 67 h 117"/>
                  <a:gd name="T26" fmla="*/ 100 w 195"/>
                  <a:gd name="T27" fmla="*/ 80 h 117"/>
                  <a:gd name="T28" fmla="*/ 77 w 195"/>
                  <a:gd name="T29" fmla="*/ 89 h 117"/>
                  <a:gd name="T30" fmla="*/ 52 w 195"/>
                  <a:gd name="T31" fmla="*/ 100 h 117"/>
                  <a:gd name="T32" fmla="*/ 27 w 195"/>
                  <a:gd name="T33" fmla="*/ 108 h 117"/>
                  <a:gd name="T34" fmla="*/ 4 w 195"/>
                  <a:gd name="T35" fmla="*/ 117 h 117"/>
                  <a:gd name="T36" fmla="*/ 0 w 195"/>
                  <a:gd name="T37" fmla="*/ 84 h 11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5"/>
                  <a:gd name="T58" fmla="*/ 0 h 117"/>
                  <a:gd name="T59" fmla="*/ 195 w 195"/>
                  <a:gd name="T60" fmla="*/ 117 h 11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5" h="117">
                    <a:moveTo>
                      <a:pt x="0" y="84"/>
                    </a:moveTo>
                    <a:lnTo>
                      <a:pt x="22" y="76"/>
                    </a:lnTo>
                    <a:lnTo>
                      <a:pt x="45" y="67"/>
                    </a:lnTo>
                    <a:lnTo>
                      <a:pt x="68" y="58"/>
                    </a:lnTo>
                    <a:lnTo>
                      <a:pt x="91" y="47"/>
                    </a:lnTo>
                    <a:lnTo>
                      <a:pt x="113" y="37"/>
                    </a:lnTo>
                    <a:lnTo>
                      <a:pt x="135" y="25"/>
                    </a:lnTo>
                    <a:lnTo>
                      <a:pt x="157" y="13"/>
                    </a:lnTo>
                    <a:lnTo>
                      <a:pt x="179" y="0"/>
                    </a:lnTo>
                    <a:lnTo>
                      <a:pt x="195" y="28"/>
                    </a:lnTo>
                    <a:lnTo>
                      <a:pt x="172" y="42"/>
                    </a:lnTo>
                    <a:lnTo>
                      <a:pt x="148" y="54"/>
                    </a:lnTo>
                    <a:lnTo>
                      <a:pt x="125" y="67"/>
                    </a:lnTo>
                    <a:lnTo>
                      <a:pt x="100" y="80"/>
                    </a:lnTo>
                    <a:lnTo>
                      <a:pt x="77" y="89"/>
                    </a:lnTo>
                    <a:lnTo>
                      <a:pt x="52" y="100"/>
                    </a:lnTo>
                    <a:lnTo>
                      <a:pt x="27" y="108"/>
                    </a:lnTo>
                    <a:lnTo>
                      <a:pt x="4" y="117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56" name="Freeform 52"/>
              <p:cNvSpPr>
                <a:spLocks/>
              </p:cNvSpPr>
              <p:nvPr/>
            </p:nvSpPr>
            <p:spPr bwMode="auto">
              <a:xfrm>
                <a:off x="3472" y="3221"/>
                <a:ext cx="25" cy="40"/>
              </a:xfrm>
              <a:custGeom>
                <a:avLst/>
                <a:gdLst>
                  <a:gd name="T0" fmla="*/ 25 w 25"/>
                  <a:gd name="T1" fmla="*/ 34 h 40"/>
                  <a:gd name="T2" fmla="*/ 5 w 25"/>
                  <a:gd name="T3" fmla="*/ 40 h 40"/>
                  <a:gd name="T4" fmla="*/ 0 w 25"/>
                  <a:gd name="T5" fmla="*/ 6 h 40"/>
                  <a:gd name="T6" fmla="*/ 21 w 25"/>
                  <a:gd name="T7" fmla="*/ 0 h 40"/>
                  <a:gd name="T8" fmla="*/ 25 w 25"/>
                  <a:gd name="T9" fmla="*/ 34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40"/>
                  <a:gd name="T17" fmla="*/ 25 w 25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40">
                    <a:moveTo>
                      <a:pt x="25" y="34"/>
                    </a:moveTo>
                    <a:lnTo>
                      <a:pt x="5" y="40"/>
                    </a:lnTo>
                    <a:lnTo>
                      <a:pt x="0" y="6"/>
                    </a:lnTo>
                    <a:lnTo>
                      <a:pt x="21" y="0"/>
                    </a:lnTo>
                    <a:lnTo>
                      <a:pt x="25" y="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57" name="Freeform 53"/>
              <p:cNvSpPr>
                <a:spLocks/>
              </p:cNvSpPr>
              <p:nvPr/>
            </p:nvSpPr>
            <p:spPr bwMode="auto">
              <a:xfrm>
                <a:off x="3766" y="2973"/>
                <a:ext cx="151" cy="129"/>
              </a:xfrm>
              <a:custGeom>
                <a:avLst/>
                <a:gdLst>
                  <a:gd name="T0" fmla="*/ 0 w 151"/>
                  <a:gd name="T1" fmla="*/ 69 h 129"/>
                  <a:gd name="T2" fmla="*/ 151 w 151"/>
                  <a:gd name="T3" fmla="*/ 0 h 129"/>
                  <a:gd name="T4" fmla="*/ 72 w 151"/>
                  <a:gd name="T5" fmla="*/ 129 h 129"/>
                  <a:gd name="T6" fmla="*/ 0 w 151"/>
                  <a:gd name="T7" fmla="*/ 69 h 1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1"/>
                  <a:gd name="T13" fmla="*/ 0 h 129"/>
                  <a:gd name="T14" fmla="*/ 151 w 151"/>
                  <a:gd name="T15" fmla="*/ 129 h 1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1" h="129">
                    <a:moveTo>
                      <a:pt x="0" y="69"/>
                    </a:moveTo>
                    <a:lnTo>
                      <a:pt x="151" y="0"/>
                    </a:lnTo>
                    <a:lnTo>
                      <a:pt x="72" y="129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58" name="Freeform 54"/>
              <p:cNvSpPr>
                <a:spLocks/>
              </p:cNvSpPr>
              <p:nvPr/>
            </p:nvSpPr>
            <p:spPr bwMode="auto">
              <a:xfrm>
                <a:off x="3766" y="2964"/>
                <a:ext cx="165" cy="85"/>
              </a:xfrm>
              <a:custGeom>
                <a:avLst/>
                <a:gdLst>
                  <a:gd name="T0" fmla="*/ 148 w 165"/>
                  <a:gd name="T1" fmla="*/ 11 h 85"/>
                  <a:gd name="T2" fmla="*/ 153 w 165"/>
                  <a:gd name="T3" fmla="*/ 15 h 85"/>
                  <a:gd name="T4" fmla="*/ 3 w 165"/>
                  <a:gd name="T5" fmla="*/ 85 h 85"/>
                  <a:gd name="T6" fmla="*/ 0 w 165"/>
                  <a:gd name="T7" fmla="*/ 77 h 85"/>
                  <a:gd name="T8" fmla="*/ 151 w 165"/>
                  <a:gd name="T9" fmla="*/ 7 h 85"/>
                  <a:gd name="T10" fmla="*/ 156 w 165"/>
                  <a:gd name="T11" fmla="*/ 13 h 85"/>
                  <a:gd name="T12" fmla="*/ 151 w 165"/>
                  <a:gd name="T13" fmla="*/ 7 h 85"/>
                  <a:gd name="T14" fmla="*/ 165 w 165"/>
                  <a:gd name="T15" fmla="*/ 0 h 85"/>
                  <a:gd name="T16" fmla="*/ 156 w 165"/>
                  <a:gd name="T17" fmla="*/ 13 h 85"/>
                  <a:gd name="T18" fmla="*/ 148 w 165"/>
                  <a:gd name="T19" fmla="*/ 11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85"/>
                  <a:gd name="T32" fmla="*/ 165 w 165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85">
                    <a:moveTo>
                      <a:pt x="148" y="11"/>
                    </a:moveTo>
                    <a:lnTo>
                      <a:pt x="153" y="15"/>
                    </a:lnTo>
                    <a:lnTo>
                      <a:pt x="3" y="85"/>
                    </a:lnTo>
                    <a:lnTo>
                      <a:pt x="0" y="77"/>
                    </a:lnTo>
                    <a:lnTo>
                      <a:pt x="151" y="7"/>
                    </a:lnTo>
                    <a:lnTo>
                      <a:pt x="156" y="13"/>
                    </a:lnTo>
                    <a:lnTo>
                      <a:pt x="151" y="7"/>
                    </a:lnTo>
                    <a:lnTo>
                      <a:pt x="165" y="0"/>
                    </a:lnTo>
                    <a:lnTo>
                      <a:pt x="156" y="13"/>
                    </a:lnTo>
                    <a:lnTo>
                      <a:pt x="148" y="11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59" name="Freeform 55"/>
              <p:cNvSpPr>
                <a:spLocks/>
              </p:cNvSpPr>
              <p:nvPr/>
            </p:nvSpPr>
            <p:spPr bwMode="auto">
              <a:xfrm>
                <a:off x="3833" y="2973"/>
                <a:ext cx="88" cy="140"/>
              </a:xfrm>
              <a:custGeom>
                <a:avLst/>
                <a:gdLst>
                  <a:gd name="T0" fmla="*/ 11 w 88"/>
                  <a:gd name="T1" fmla="*/ 127 h 140"/>
                  <a:gd name="T2" fmla="*/ 0 w 88"/>
                  <a:gd name="T3" fmla="*/ 131 h 140"/>
                  <a:gd name="T4" fmla="*/ 78 w 88"/>
                  <a:gd name="T5" fmla="*/ 0 h 140"/>
                  <a:gd name="T6" fmla="*/ 88 w 88"/>
                  <a:gd name="T7" fmla="*/ 2 h 140"/>
                  <a:gd name="T8" fmla="*/ 9 w 88"/>
                  <a:gd name="T9" fmla="*/ 134 h 140"/>
                  <a:gd name="T10" fmla="*/ 0 w 88"/>
                  <a:gd name="T11" fmla="*/ 136 h 140"/>
                  <a:gd name="T12" fmla="*/ 9 w 88"/>
                  <a:gd name="T13" fmla="*/ 134 h 140"/>
                  <a:gd name="T14" fmla="*/ 5 w 88"/>
                  <a:gd name="T15" fmla="*/ 140 h 140"/>
                  <a:gd name="T16" fmla="*/ 0 w 88"/>
                  <a:gd name="T17" fmla="*/ 136 h 140"/>
                  <a:gd name="T18" fmla="*/ 11 w 88"/>
                  <a:gd name="T19" fmla="*/ 127 h 1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8"/>
                  <a:gd name="T31" fmla="*/ 0 h 140"/>
                  <a:gd name="T32" fmla="*/ 88 w 88"/>
                  <a:gd name="T33" fmla="*/ 140 h 1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8" h="140">
                    <a:moveTo>
                      <a:pt x="11" y="127"/>
                    </a:moveTo>
                    <a:lnTo>
                      <a:pt x="0" y="131"/>
                    </a:lnTo>
                    <a:lnTo>
                      <a:pt x="78" y="0"/>
                    </a:lnTo>
                    <a:lnTo>
                      <a:pt x="88" y="2"/>
                    </a:lnTo>
                    <a:lnTo>
                      <a:pt x="9" y="134"/>
                    </a:lnTo>
                    <a:lnTo>
                      <a:pt x="0" y="136"/>
                    </a:lnTo>
                    <a:lnTo>
                      <a:pt x="9" y="134"/>
                    </a:lnTo>
                    <a:lnTo>
                      <a:pt x="5" y="140"/>
                    </a:lnTo>
                    <a:lnTo>
                      <a:pt x="0" y="136"/>
                    </a:lnTo>
                    <a:lnTo>
                      <a:pt x="11" y="127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60" name="Freeform 56"/>
              <p:cNvSpPr>
                <a:spLocks/>
              </p:cNvSpPr>
              <p:nvPr/>
            </p:nvSpPr>
            <p:spPr bwMode="auto">
              <a:xfrm>
                <a:off x="3754" y="3039"/>
                <a:ext cx="86" cy="68"/>
              </a:xfrm>
              <a:custGeom>
                <a:avLst/>
                <a:gdLst>
                  <a:gd name="T0" fmla="*/ 12 w 86"/>
                  <a:gd name="T1" fmla="*/ 9 h 68"/>
                  <a:gd name="T2" fmla="*/ 15 w 86"/>
                  <a:gd name="T3" fmla="*/ 0 h 68"/>
                  <a:gd name="T4" fmla="*/ 86 w 86"/>
                  <a:gd name="T5" fmla="*/ 59 h 68"/>
                  <a:gd name="T6" fmla="*/ 77 w 86"/>
                  <a:gd name="T7" fmla="*/ 68 h 68"/>
                  <a:gd name="T8" fmla="*/ 5 w 86"/>
                  <a:gd name="T9" fmla="*/ 8 h 68"/>
                  <a:gd name="T10" fmla="*/ 10 w 86"/>
                  <a:gd name="T11" fmla="*/ 0 h 68"/>
                  <a:gd name="T12" fmla="*/ 5 w 86"/>
                  <a:gd name="T13" fmla="*/ 8 h 68"/>
                  <a:gd name="T14" fmla="*/ 0 w 86"/>
                  <a:gd name="T15" fmla="*/ 4 h 68"/>
                  <a:gd name="T16" fmla="*/ 10 w 86"/>
                  <a:gd name="T17" fmla="*/ 0 h 68"/>
                  <a:gd name="T18" fmla="*/ 12 w 86"/>
                  <a:gd name="T19" fmla="*/ 9 h 6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6"/>
                  <a:gd name="T31" fmla="*/ 0 h 68"/>
                  <a:gd name="T32" fmla="*/ 86 w 86"/>
                  <a:gd name="T33" fmla="*/ 68 h 6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6" h="68">
                    <a:moveTo>
                      <a:pt x="12" y="9"/>
                    </a:moveTo>
                    <a:lnTo>
                      <a:pt x="15" y="0"/>
                    </a:lnTo>
                    <a:lnTo>
                      <a:pt x="86" y="59"/>
                    </a:lnTo>
                    <a:lnTo>
                      <a:pt x="77" y="68"/>
                    </a:lnTo>
                    <a:lnTo>
                      <a:pt x="5" y="8"/>
                    </a:lnTo>
                    <a:lnTo>
                      <a:pt x="10" y="0"/>
                    </a:lnTo>
                    <a:lnTo>
                      <a:pt x="5" y="8"/>
                    </a:lnTo>
                    <a:lnTo>
                      <a:pt x="0" y="4"/>
                    </a:lnTo>
                    <a:lnTo>
                      <a:pt x="10" y="0"/>
                    </a:lnTo>
                    <a:lnTo>
                      <a:pt x="12" y="9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61" name="Freeform 57"/>
              <p:cNvSpPr>
                <a:spLocks/>
              </p:cNvSpPr>
              <p:nvPr/>
            </p:nvSpPr>
            <p:spPr bwMode="auto">
              <a:xfrm>
                <a:off x="3856" y="3003"/>
                <a:ext cx="35" cy="28"/>
              </a:xfrm>
              <a:custGeom>
                <a:avLst/>
                <a:gdLst>
                  <a:gd name="T0" fmla="*/ 0 w 35"/>
                  <a:gd name="T1" fmla="*/ 12 h 28"/>
                  <a:gd name="T2" fmla="*/ 14 w 35"/>
                  <a:gd name="T3" fmla="*/ 0 h 28"/>
                  <a:gd name="T4" fmla="*/ 35 w 35"/>
                  <a:gd name="T5" fmla="*/ 16 h 28"/>
                  <a:gd name="T6" fmla="*/ 21 w 35"/>
                  <a:gd name="T7" fmla="*/ 28 h 28"/>
                  <a:gd name="T8" fmla="*/ 0 w 35"/>
                  <a:gd name="T9" fmla="*/ 12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28"/>
                  <a:gd name="T17" fmla="*/ 35 w 35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28">
                    <a:moveTo>
                      <a:pt x="0" y="12"/>
                    </a:moveTo>
                    <a:lnTo>
                      <a:pt x="14" y="0"/>
                    </a:lnTo>
                    <a:lnTo>
                      <a:pt x="35" y="16"/>
                    </a:lnTo>
                    <a:lnTo>
                      <a:pt x="21" y="2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62" name="Freeform 58"/>
              <p:cNvSpPr>
                <a:spLocks/>
              </p:cNvSpPr>
              <p:nvPr/>
            </p:nvSpPr>
            <p:spPr bwMode="auto">
              <a:xfrm>
                <a:off x="3669" y="3015"/>
                <a:ext cx="206" cy="160"/>
              </a:xfrm>
              <a:custGeom>
                <a:avLst/>
                <a:gdLst>
                  <a:gd name="T0" fmla="*/ 0 w 206"/>
                  <a:gd name="T1" fmla="*/ 137 h 160"/>
                  <a:gd name="T2" fmla="*/ 0 w 206"/>
                  <a:gd name="T3" fmla="*/ 137 h 160"/>
                  <a:gd name="T4" fmla="*/ 26 w 206"/>
                  <a:gd name="T5" fmla="*/ 121 h 160"/>
                  <a:gd name="T6" fmla="*/ 51 w 206"/>
                  <a:gd name="T7" fmla="*/ 105 h 160"/>
                  <a:gd name="T8" fmla="*/ 75 w 206"/>
                  <a:gd name="T9" fmla="*/ 89 h 160"/>
                  <a:gd name="T10" fmla="*/ 98 w 206"/>
                  <a:gd name="T11" fmla="*/ 72 h 160"/>
                  <a:gd name="T12" fmla="*/ 121 w 206"/>
                  <a:gd name="T13" fmla="*/ 55 h 160"/>
                  <a:gd name="T14" fmla="*/ 143 w 206"/>
                  <a:gd name="T15" fmla="*/ 37 h 160"/>
                  <a:gd name="T16" fmla="*/ 164 w 206"/>
                  <a:gd name="T17" fmla="*/ 18 h 160"/>
                  <a:gd name="T18" fmla="*/ 184 w 206"/>
                  <a:gd name="T19" fmla="*/ 0 h 160"/>
                  <a:gd name="T20" fmla="*/ 206 w 206"/>
                  <a:gd name="T21" fmla="*/ 16 h 160"/>
                  <a:gd name="T22" fmla="*/ 184 w 206"/>
                  <a:gd name="T23" fmla="*/ 36 h 160"/>
                  <a:gd name="T24" fmla="*/ 162 w 206"/>
                  <a:gd name="T25" fmla="*/ 55 h 160"/>
                  <a:gd name="T26" fmla="*/ 140 w 206"/>
                  <a:gd name="T27" fmla="*/ 74 h 160"/>
                  <a:gd name="T28" fmla="*/ 114 w 206"/>
                  <a:gd name="T29" fmla="*/ 92 h 160"/>
                  <a:gd name="T30" fmla="*/ 91 w 206"/>
                  <a:gd name="T31" fmla="*/ 111 h 160"/>
                  <a:gd name="T32" fmla="*/ 66 w 206"/>
                  <a:gd name="T33" fmla="*/ 127 h 160"/>
                  <a:gd name="T34" fmla="*/ 40 w 206"/>
                  <a:gd name="T35" fmla="*/ 144 h 160"/>
                  <a:gd name="T36" fmla="*/ 14 w 206"/>
                  <a:gd name="T37" fmla="*/ 160 h 160"/>
                  <a:gd name="T38" fmla="*/ 0 w 206"/>
                  <a:gd name="T39" fmla="*/ 137 h 16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6"/>
                  <a:gd name="T61" fmla="*/ 0 h 160"/>
                  <a:gd name="T62" fmla="*/ 206 w 206"/>
                  <a:gd name="T63" fmla="*/ 160 h 16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6" h="160">
                    <a:moveTo>
                      <a:pt x="0" y="137"/>
                    </a:moveTo>
                    <a:lnTo>
                      <a:pt x="0" y="137"/>
                    </a:lnTo>
                    <a:lnTo>
                      <a:pt x="26" y="121"/>
                    </a:lnTo>
                    <a:lnTo>
                      <a:pt x="51" y="105"/>
                    </a:lnTo>
                    <a:lnTo>
                      <a:pt x="75" y="89"/>
                    </a:lnTo>
                    <a:lnTo>
                      <a:pt x="98" y="72"/>
                    </a:lnTo>
                    <a:lnTo>
                      <a:pt x="121" y="55"/>
                    </a:lnTo>
                    <a:lnTo>
                      <a:pt x="143" y="37"/>
                    </a:lnTo>
                    <a:lnTo>
                      <a:pt x="164" y="18"/>
                    </a:lnTo>
                    <a:lnTo>
                      <a:pt x="184" y="0"/>
                    </a:lnTo>
                    <a:lnTo>
                      <a:pt x="206" y="16"/>
                    </a:lnTo>
                    <a:lnTo>
                      <a:pt x="184" y="36"/>
                    </a:lnTo>
                    <a:lnTo>
                      <a:pt x="162" y="55"/>
                    </a:lnTo>
                    <a:lnTo>
                      <a:pt x="140" y="74"/>
                    </a:lnTo>
                    <a:lnTo>
                      <a:pt x="114" y="92"/>
                    </a:lnTo>
                    <a:lnTo>
                      <a:pt x="91" y="111"/>
                    </a:lnTo>
                    <a:lnTo>
                      <a:pt x="66" y="127"/>
                    </a:lnTo>
                    <a:lnTo>
                      <a:pt x="40" y="144"/>
                    </a:lnTo>
                    <a:lnTo>
                      <a:pt x="14" y="160"/>
                    </a:lnTo>
                    <a:lnTo>
                      <a:pt x="0" y="137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63" name="Freeform 59"/>
              <p:cNvSpPr>
                <a:spLocks/>
              </p:cNvSpPr>
              <p:nvPr/>
            </p:nvSpPr>
            <p:spPr bwMode="auto">
              <a:xfrm>
                <a:off x="3484" y="3151"/>
                <a:ext cx="193" cy="111"/>
              </a:xfrm>
              <a:custGeom>
                <a:avLst/>
                <a:gdLst>
                  <a:gd name="T0" fmla="*/ 0 w 193"/>
                  <a:gd name="T1" fmla="*/ 84 h 111"/>
                  <a:gd name="T2" fmla="*/ 22 w 193"/>
                  <a:gd name="T3" fmla="*/ 75 h 111"/>
                  <a:gd name="T4" fmla="*/ 45 w 193"/>
                  <a:gd name="T5" fmla="*/ 67 h 111"/>
                  <a:gd name="T6" fmla="*/ 68 w 193"/>
                  <a:gd name="T7" fmla="*/ 58 h 111"/>
                  <a:gd name="T8" fmla="*/ 91 w 193"/>
                  <a:gd name="T9" fmla="*/ 47 h 111"/>
                  <a:gd name="T10" fmla="*/ 113 w 193"/>
                  <a:gd name="T11" fmla="*/ 37 h 111"/>
                  <a:gd name="T12" fmla="*/ 136 w 193"/>
                  <a:gd name="T13" fmla="*/ 25 h 111"/>
                  <a:gd name="T14" fmla="*/ 157 w 193"/>
                  <a:gd name="T15" fmla="*/ 13 h 111"/>
                  <a:gd name="T16" fmla="*/ 180 w 193"/>
                  <a:gd name="T17" fmla="*/ 0 h 111"/>
                  <a:gd name="T18" fmla="*/ 193 w 193"/>
                  <a:gd name="T19" fmla="*/ 23 h 111"/>
                  <a:gd name="T20" fmla="*/ 171 w 193"/>
                  <a:gd name="T21" fmla="*/ 37 h 111"/>
                  <a:gd name="T22" fmla="*/ 146 w 193"/>
                  <a:gd name="T23" fmla="*/ 50 h 111"/>
                  <a:gd name="T24" fmla="*/ 122 w 193"/>
                  <a:gd name="T25" fmla="*/ 62 h 111"/>
                  <a:gd name="T26" fmla="*/ 98 w 193"/>
                  <a:gd name="T27" fmla="*/ 72 h 111"/>
                  <a:gd name="T28" fmla="*/ 75 w 193"/>
                  <a:gd name="T29" fmla="*/ 84 h 111"/>
                  <a:gd name="T30" fmla="*/ 51 w 193"/>
                  <a:gd name="T31" fmla="*/ 93 h 111"/>
                  <a:gd name="T32" fmla="*/ 28 w 193"/>
                  <a:gd name="T33" fmla="*/ 103 h 111"/>
                  <a:gd name="T34" fmla="*/ 3 w 193"/>
                  <a:gd name="T35" fmla="*/ 111 h 111"/>
                  <a:gd name="T36" fmla="*/ 0 w 193"/>
                  <a:gd name="T37" fmla="*/ 84 h 11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3"/>
                  <a:gd name="T58" fmla="*/ 0 h 111"/>
                  <a:gd name="T59" fmla="*/ 193 w 193"/>
                  <a:gd name="T60" fmla="*/ 111 h 11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3" h="111">
                    <a:moveTo>
                      <a:pt x="0" y="84"/>
                    </a:moveTo>
                    <a:lnTo>
                      <a:pt x="22" y="75"/>
                    </a:lnTo>
                    <a:lnTo>
                      <a:pt x="45" y="67"/>
                    </a:lnTo>
                    <a:lnTo>
                      <a:pt x="68" y="58"/>
                    </a:lnTo>
                    <a:lnTo>
                      <a:pt x="91" y="47"/>
                    </a:lnTo>
                    <a:lnTo>
                      <a:pt x="113" y="37"/>
                    </a:lnTo>
                    <a:lnTo>
                      <a:pt x="136" y="25"/>
                    </a:lnTo>
                    <a:lnTo>
                      <a:pt x="157" y="13"/>
                    </a:lnTo>
                    <a:lnTo>
                      <a:pt x="180" y="0"/>
                    </a:lnTo>
                    <a:lnTo>
                      <a:pt x="193" y="23"/>
                    </a:lnTo>
                    <a:lnTo>
                      <a:pt x="171" y="37"/>
                    </a:lnTo>
                    <a:lnTo>
                      <a:pt x="146" y="50"/>
                    </a:lnTo>
                    <a:lnTo>
                      <a:pt x="122" y="62"/>
                    </a:lnTo>
                    <a:lnTo>
                      <a:pt x="98" y="72"/>
                    </a:lnTo>
                    <a:lnTo>
                      <a:pt x="75" y="84"/>
                    </a:lnTo>
                    <a:lnTo>
                      <a:pt x="51" y="93"/>
                    </a:lnTo>
                    <a:lnTo>
                      <a:pt x="28" y="103"/>
                    </a:lnTo>
                    <a:lnTo>
                      <a:pt x="3" y="111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64" name="Freeform 60"/>
              <p:cNvSpPr>
                <a:spLocks/>
              </p:cNvSpPr>
              <p:nvPr/>
            </p:nvSpPr>
            <p:spPr bwMode="auto">
              <a:xfrm>
                <a:off x="3466" y="3235"/>
                <a:ext cx="21" cy="34"/>
              </a:xfrm>
              <a:custGeom>
                <a:avLst/>
                <a:gdLst>
                  <a:gd name="T0" fmla="*/ 21 w 21"/>
                  <a:gd name="T1" fmla="*/ 27 h 34"/>
                  <a:gd name="T2" fmla="*/ 3 w 21"/>
                  <a:gd name="T3" fmla="*/ 34 h 34"/>
                  <a:gd name="T4" fmla="*/ 0 w 21"/>
                  <a:gd name="T5" fmla="*/ 6 h 34"/>
                  <a:gd name="T6" fmla="*/ 18 w 21"/>
                  <a:gd name="T7" fmla="*/ 0 h 34"/>
                  <a:gd name="T8" fmla="*/ 21 w 21"/>
                  <a:gd name="T9" fmla="*/ 27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34"/>
                  <a:gd name="T17" fmla="*/ 21 w 21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34">
                    <a:moveTo>
                      <a:pt x="21" y="27"/>
                    </a:moveTo>
                    <a:lnTo>
                      <a:pt x="3" y="34"/>
                    </a:lnTo>
                    <a:lnTo>
                      <a:pt x="0" y="6"/>
                    </a:lnTo>
                    <a:lnTo>
                      <a:pt x="18" y="0"/>
                    </a:lnTo>
                    <a:lnTo>
                      <a:pt x="21" y="27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65" name="Freeform 61"/>
              <p:cNvSpPr>
                <a:spLocks/>
              </p:cNvSpPr>
              <p:nvPr/>
            </p:nvSpPr>
            <p:spPr bwMode="auto">
              <a:xfrm>
                <a:off x="3795" y="2946"/>
                <a:ext cx="147" cy="132"/>
              </a:xfrm>
              <a:custGeom>
                <a:avLst/>
                <a:gdLst>
                  <a:gd name="T0" fmla="*/ 0 w 147"/>
                  <a:gd name="T1" fmla="*/ 75 h 132"/>
                  <a:gd name="T2" fmla="*/ 147 w 147"/>
                  <a:gd name="T3" fmla="*/ 0 h 132"/>
                  <a:gd name="T4" fmla="*/ 75 w 147"/>
                  <a:gd name="T5" fmla="*/ 132 h 132"/>
                  <a:gd name="T6" fmla="*/ 0 w 147"/>
                  <a:gd name="T7" fmla="*/ 75 h 1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7"/>
                  <a:gd name="T13" fmla="*/ 0 h 132"/>
                  <a:gd name="T14" fmla="*/ 147 w 147"/>
                  <a:gd name="T15" fmla="*/ 132 h 1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7" h="132">
                    <a:moveTo>
                      <a:pt x="0" y="75"/>
                    </a:moveTo>
                    <a:lnTo>
                      <a:pt x="147" y="0"/>
                    </a:lnTo>
                    <a:lnTo>
                      <a:pt x="75" y="132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66" name="Freeform 62"/>
              <p:cNvSpPr>
                <a:spLocks/>
              </p:cNvSpPr>
              <p:nvPr/>
            </p:nvSpPr>
            <p:spPr bwMode="auto">
              <a:xfrm>
                <a:off x="3789" y="2929"/>
                <a:ext cx="169" cy="101"/>
              </a:xfrm>
              <a:custGeom>
                <a:avLst/>
                <a:gdLst>
                  <a:gd name="T0" fmla="*/ 143 w 169"/>
                  <a:gd name="T1" fmla="*/ 17 h 101"/>
                  <a:gd name="T2" fmla="*/ 155 w 169"/>
                  <a:gd name="T3" fmla="*/ 25 h 101"/>
                  <a:gd name="T4" fmla="*/ 6 w 169"/>
                  <a:gd name="T5" fmla="*/ 101 h 101"/>
                  <a:gd name="T6" fmla="*/ 0 w 169"/>
                  <a:gd name="T7" fmla="*/ 86 h 101"/>
                  <a:gd name="T8" fmla="*/ 148 w 169"/>
                  <a:gd name="T9" fmla="*/ 11 h 101"/>
                  <a:gd name="T10" fmla="*/ 159 w 169"/>
                  <a:gd name="T11" fmla="*/ 19 h 101"/>
                  <a:gd name="T12" fmla="*/ 148 w 169"/>
                  <a:gd name="T13" fmla="*/ 11 h 101"/>
                  <a:gd name="T14" fmla="*/ 169 w 169"/>
                  <a:gd name="T15" fmla="*/ 0 h 101"/>
                  <a:gd name="T16" fmla="*/ 159 w 169"/>
                  <a:gd name="T17" fmla="*/ 19 h 101"/>
                  <a:gd name="T18" fmla="*/ 143 w 169"/>
                  <a:gd name="T19" fmla="*/ 17 h 10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9"/>
                  <a:gd name="T31" fmla="*/ 0 h 101"/>
                  <a:gd name="T32" fmla="*/ 169 w 169"/>
                  <a:gd name="T33" fmla="*/ 101 h 10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9" h="101">
                    <a:moveTo>
                      <a:pt x="143" y="17"/>
                    </a:moveTo>
                    <a:lnTo>
                      <a:pt x="155" y="25"/>
                    </a:lnTo>
                    <a:lnTo>
                      <a:pt x="6" y="101"/>
                    </a:lnTo>
                    <a:lnTo>
                      <a:pt x="0" y="86"/>
                    </a:lnTo>
                    <a:lnTo>
                      <a:pt x="148" y="11"/>
                    </a:lnTo>
                    <a:lnTo>
                      <a:pt x="159" y="19"/>
                    </a:lnTo>
                    <a:lnTo>
                      <a:pt x="148" y="11"/>
                    </a:lnTo>
                    <a:lnTo>
                      <a:pt x="169" y="0"/>
                    </a:lnTo>
                    <a:lnTo>
                      <a:pt x="159" y="19"/>
                    </a:lnTo>
                    <a:lnTo>
                      <a:pt x="143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67" name="Freeform 63"/>
              <p:cNvSpPr>
                <a:spLocks/>
              </p:cNvSpPr>
              <p:nvPr/>
            </p:nvSpPr>
            <p:spPr bwMode="auto">
              <a:xfrm>
                <a:off x="3861" y="2946"/>
                <a:ext cx="89" cy="147"/>
              </a:xfrm>
              <a:custGeom>
                <a:avLst/>
                <a:gdLst>
                  <a:gd name="T0" fmla="*/ 16 w 89"/>
                  <a:gd name="T1" fmla="*/ 126 h 147"/>
                  <a:gd name="T2" fmla="*/ 0 w 89"/>
                  <a:gd name="T3" fmla="*/ 131 h 147"/>
                  <a:gd name="T4" fmla="*/ 73 w 89"/>
                  <a:gd name="T5" fmla="*/ 0 h 147"/>
                  <a:gd name="T6" fmla="*/ 89 w 89"/>
                  <a:gd name="T7" fmla="*/ 3 h 147"/>
                  <a:gd name="T8" fmla="*/ 16 w 89"/>
                  <a:gd name="T9" fmla="*/ 134 h 147"/>
                  <a:gd name="T10" fmla="*/ 1 w 89"/>
                  <a:gd name="T11" fmla="*/ 140 h 147"/>
                  <a:gd name="T12" fmla="*/ 16 w 89"/>
                  <a:gd name="T13" fmla="*/ 134 h 147"/>
                  <a:gd name="T14" fmla="*/ 11 w 89"/>
                  <a:gd name="T15" fmla="*/ 147 h 147"/>
                  <a:gd name="T16" fmla="*/ 1 w 89"/>
                  <a:gd name="T17" fmla="*/ 140 h 147"/>
                  <a:gd name="T18" fmla="*/ 16 w 89"/>
                  <a:gd name="T19" fmla="*/ 126 h 14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9"/>
                  <a:gd name="T31" fmla="*/ 0 h 147"/>
                  <a:gd name="T32" fmla="*/ 89 w 89"/>
                  <a:gd name="T33" fmla="*/ 147 h 14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9" h="147">
                    <a:moveTo>
                      <a:pt x="16" y="126"/>
                    </a:moveTo>
                    <a:lnTo>
                      <a:pt x="0" y="131"/>
                    </a:lnTo>
                    <a:lnTo>
                      <a:pt x="73" y="0"/>
                    </a:lnTo>
                    <a:lnTo>
                      <a:pt x="89" y="3"/>
                    </a:lnTo>
                    <a:lnTo>
                      <a:pt x="16" y="134"/>
                    </a:lnTo>
                    <a:lnTo>
                      <a:pt x="1" y="140"/>
                    </a:lnTo>
                    <a:lnTo>
                      <a:pt x="16" y="134"/>
                    </a:lnTo>
                    <a:lnTo>
                      <a:pt x="11" y="147"/>
                    </a:lnTo>
                    <a:lnTo>
                      <a:pt x="1" y="140"/>
                    </a:lnTo>
                    <a:lnTo>
                      <a:pt x="16" y="12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68" name="Freeform 64"/>
              <p:cNvSpPr>
                <a:spLocks/>
              </p:cNvSpPr>
              <p:nvPr/>
            </p:nvSpPr>
            <p:spPr bwMode="auto">
              <a:xfrm>
                <a:off x="3778" y="3015"/>
                <a:ext cx="99" cy="70"/>
              </a:xfrm>
              <a:custGeom>
                <a:avLst/>
                <a:gdLst>
                  <a:gd name="T0" fmla="*/ 19 w 99"/>
                  <a:gd name="T1" fmla="*/ 14 h 70"/>
                  <a:gd name="T2" fmla="*/ 23 w 99"/>
                  <a:gd name="T3" fmla="*/ 0 h 70"/>
                  <a:gd name="T4" fmla="*/ 99 w 99"/>
                  <a:gd name="T5" fmla="*/ 56 h 70"/>
                  <a:gd name="T6" fmla="*/ 84 w 99"/>
                  <a:gd name="T7" fmla="*/ 70 h 70"/>
                  <a:gd name="T8" fmla="*/ 8 w 99"/>
                  <a:gd name="T9" fmla="*/ 14 h 70"/>
                  <a:gd name="T10" fmla="*/ 14 w 99"/>
                  <a:gd name="T11" fmla="*/ 0 h 70"/>
                  <a:gd name="T12" fmla="*/ 8 w 99"/>
                  <a:gd name="T13" fmla="*/ 14 h 70"/>
                  <a:gd name="T14" fmla="*/ 0 w 99"/>
                  <a:gd name="T15" fmla="*/ 8 h 70"/>
                  <a:gd name="T16" fmla="*/ 14 w 99"/>
                  <a:gd name="T17" fmla="*/ 0 h 70"/>
                  <a:gd name="T18" fmla="*/ 19 w 99"/>
                  <a:gd name="T19" fmla="*/ 14 h 7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9"/>
                  <a:gd name="T31" fmla="*/ 0 h 70"/>
                  <a:gd name="T32" fmla="*/ 99 w 99"/>
                  <a:gd name="T33" fmla="*/ 70 h 7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9" h="70">
                    <a:moveTo>
                      <a:pt x="19" y="14"/>
                    </a:moveTo>
                    <a:lnTo>
                      <a:pt x="23" y="0"/>
                    </a:lnTo>
                    <a:lnTo>
                      <a:pt x="99" y="56"/>
                    </a:lnTo>
                    <a:lnTo>
                      <a:pt x="84" y="70"/>
                    </a:lnTo>
                    <a:lnTo>
                      <a:pt x="8" y="14"/>
                    </a:lnTo>
                    <a:lnTo>
                      <a:pt x="14" y="0"/>
                    </a:lnTo>
                    <a:lnTo>
                      <a:pt x="8" y="14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19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69" name="Freeform 65"/>
              <p:cNvSpPr>
                <a:spLocks/>
              </p:cNvSpPr>
              <p:nvPr/>
            </p:nvSpPr>
            <p:spPr bwMode="auto">
              <a:xfrm>
                <a:off x="3891" y="2963"/>
                <a:ext cx="44" cy="36"/>
              </a:xfrm>
              <a:custGeom>
                <a:avLst/>
                <a:gdLst>
                  <a:gd name="T0" fmla="*/ 0 w 44"/>
                  <a:gd name="T1" fmla="*/ 16 h 36"/>
                  <a:gd name="T2" fmla="*/ 16 w 44"/>
                  <a:gd name="T3" fmla="*/ 0 h 36"/>
                  <a:gd name="T4" fmla="*/ 44 w 44"/>
                  <a:gd name="T5" fmla="*/ 20 h 36"/>
                  <a:gd name="T6" fmla="*/ 28 w 44"/>
                  <a:gd name="T7" fmla="*/ 36 h 36"/>
                  <a:gd name="T8" fmla="*/ 0 w 44"/>
                  <a:gd name="T9" fmla="*/ 16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"/>
                  <a:gd name="T16" fmla="*/ 0 h 36"/>
                  <a:gd name="T17" fmla="*/ 44 w 44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" h="36">
                    <a:moveTo>
                      <a:pt x="0" y="16"/>
                    </a:moveTo>
                    <a:lnTo>
                      <a:pt x="16" y="0"/>
                    </a:lnTo>
                    <a:lnTo>
                      <a:pt x="44" y="20"/>
                    </a:lnTo>
                    <a:lnTo>
                      <a:pt x="28" y="36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70" name="Freeform 66"/>
              <p:cNvSpPr>
                <a:spLocks/>
              </p:cNvSpPr>
              <p:nvPr/>
            </p:nvSpPr>
            <p:spPr bwMode="auto">
              <a:xfrm>
                <a:off x="3709" y="2976"/>
                <a:ext cx="207" cy="171"/>
              </a:xfrm>
              <a:custGeom>
                <a:avLst/>
                <a:gdLst>
                  <a:gd name="T0" fmla="*/ 0 w 207"/>
                  <a:gd name="T1" fmla="*/ 144 h 171"/>
                  <a:gd name="T2" fmla="*/ 0 w 207"/>
                  <a:gd name="T3" fmla="*/ 144 h 171"/>
                  <a:gd name="T4" fmla="*/ 26 w 207"/>
                  <a:gd name="T5" fmla="*/ 127 h 171"/>
                  <a:gd name="T6" fmla="*/ 51 w 207"/>
                  <a:gd name="T7" fmla="*/ 110 h 171"/>
                  <a:gd name="T8" fmla="*/ 73 w 207"/>
                  <a:gd name="T9" fmla="*/ 93 h 171"/>
                  <a:gd name="T10" fmla="*/ 96 w 207"/>
                  <a:gd name="T11" fmla="*/ 76 h 171"/>
                  <a:gd name="T12" fmla="*/ 119 w 207"/>
                  <a:gd name="T13" fmla="*/ 58 h 171"/>
                  <a:gd name="T14" fmla="*/ 139 w 207"/>
                  <a:gd name="T15" fmla="*/ 40 h 171"/>
                  <a:gd name="T16" fmla="*/ 160 w 207"/>
                  <a:gd name="T17" fmla="*/ 19 h 171"/>
                  <a:gd name="T18" fmla="*/ 179 w 207"/>
                  <a:gd name="T19" fmla="*/ 0 h 171"/>
                  <a:gd name="T20" fmla="*/ 207 w 207"/>
                  <a:gd name="T21" fmla="*/ 19 h 171"/>
                  <a:gd name="T22" fmla="*/ 186 w 207"/>
                  <a:gd name="T23" fmla="*/ 40 h 171"/>
                  <a:gd name="T24" fmla="*/ 164 w 207"/>
                  <a:gd name="T25" fmla="*/ 60 h 171"/>
                  <a:gd name="T26" fmla="*/ 142 w 207"/>
                  <a:gd name="T27" fmla="*/ 80 h 171"/>
                  <a:gd name="T28" fmla="*/ 119 w 207"/>
                  <a:gd name="T29" fmla="*/ 100 h 171"/>
                  <a:gd name="T30" fmla="*/ 95 w 207"/>
                  <a:gd name="T31" fmla="*/ 118 h 171"/>
                  <a:gd name="T32" fmla="*/ 70 w 207"/>
                  <a:gd name="T33" fmla="*/ 137 h 171"/>
                  <a:gd name="T34" fmla="*/ 45 w 207"/>
                  <a:gd name="T35" fmla="*/ 153 h 171"/>
                  <a:gd name="T36" fmla="*/ 19 w 207"/>
                  <a:gd name="T37" fmla="*/ 171 h 171"/>
                  <a:gd name="T38" fmla="*/ 0 w 207"/>
                  <a:gd name="T39" fmla="*/ 144 h 17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7"/>
                  <a:gd name="T61" fmla="*/ 0 h 171"/>
                  <a:gd name="T62" fmla="*/ 207 w 207"/>
                  <a:gd name="T63" fmla="*/ 171 h 17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7" h="171">
                    <a:moveTo>
                      <a:pt x="0" y="144"/>
                    </a:moveTo>
                    <a:lnTo>
                      <a:pt x="0" y="144"/>
                    </a:lnTo>
                    <a:lnTo>
                      <a:pt x="26" y="127"/>
                    </a:lnTo>
                    <a:lnTo>
                      <a:pt x="51" y="110"/>
                    </a:lnTo>
                    <a:lnTo>
                      <a:pt x="73" y="93"/>
                    </a:lnTo>
                    <a:lnTo>
                      <a:pt x="96" y="76"/>
                    </a:lnTo>
                    <a:lnTo>
                      <a:pt x="119" y="58"/>
                    </a:lnTo>
                    <a:lnTo>
                      <a:pt x="139" y="40"/>
                    </a:lnTo>
                    <a:lnTo>
                      <a:pt x="160" y="19"/>
                    </a:lnTo>
                    <a:lnTo>
                      <a:pt x="179" y="0"/>
                    </a:lnTo>
                    <a:lnTo>
                      <a:pt x="207" y="19"/>
                    </a:lnTo>
                    <a:lnTo>
                      <a:pt x="186" y="40"/>
                    </a:lnTo>
                    <a:lnTo>
                      <a:pt x="164" y="60"/>
                    </a:lnTo>
                    <a:lnTo>
                      <a:pt x="142" y="80"/>
                    </a:lnTo>
                    <a:lnTo>
                      <a:pt x="119" y="100"/>
                    </a:lnTo>
                    <a:lnTo>
                      <a:pt x="95" y="118"/>
                    </a:lnTo>
                    <a:lnTo>
                      <a:pt x="70" y="137"/>
                    </a:lnTo>
                    <a:lnTo>
                      <a:pt x="45" y="153"/>
                    </a:lnTo>
                    <a:lnTo>
                      <a:pt x="19" y="171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71" name="Freeform 67"/>
              <p:cNvSpPr>
                <a:spLocks/>
              </p:cNvSpPr>
              <p:nvPr/>
            </p:nvSpPr>
            <p:spPr bwMode="auto">
              <a:xfrm>
                <a:off x="3531" y="3118"/>
                <a:ext cx="196" cy="123"/>
              </a:xfrm>
              <a:custGeom>
                <a:avLst/>
                <a:gdLst>
                  <a:gd name="T0" fmla="*/ 0 w 196"/>
                  <a:gd name="T1" fmla="*/ 92 h 123"/>
                  <a:gd name="T2" fmla="*/ 22 w 196"/>
                  <a:gd name="T3" fmla="*/ 81 h 123"/>
                  <a:gd name="T4" fmla="*/ 45 w 196"/>
                  <a:gd name="T5" fmla="*/ 73 h 123"/>
                  <a:gd name="T6" fmla="*/ 68 w 196"/>
                  <a:gd name="T7" fmla="*/ 62 h 123"/>
                  <a:gd name="T8" fmla="*/ 90 w 196"/>
                  <a:gd name="T9" fmla="*/ 52 h 123"/>
                  <a:gd name="T10" fmla="*/ 112 w 196"/>
                  <a:gd name="T11" fmla="*/ 40 h 123"/>
                  <a:gd name="T12" fmla="*/ 134 w 196"/>
                  <a:gd name="T13" fmla="*/ 27 h 123"/>
                  <a:gd name="T14" fmla="*/ 156 w 196"/>
                  <a:gd name="T15" fmla="*/ 15 h 123"/>
                  <a:gd name="T16" fmla="*/ 177 w 196"/>
                  <a:gd name="T17" fmla="*/ 0 h 123"/>
                  <a:gd name="T18" fmla="*/ 196 w 196"/>
                  <a:gd name="T19" fmla="*/ 27 h 123"/>
                  <a:gd name="T20" fmla="*/ 172 w 196"/>
                  <a:gd name="T21" fmla="*/ 42 h 123"/>
                  <a:gd name="T22" fmla="*/ 150 w 196"/>
                  <a:gd name="T23" fmla="*/ 56 h 123"/>
                  <a:gd name="T24" fmla="*/ 125 w 196"/>
                  <a:gd name="T25" fmla="*/ 68 h 123"/>
                  <a:gd name="T26" fmla="*/ 102 w 196"/>
                  <a:gd name="T27" fmla="*/ 81 h 123"/>
                  <a:gd name="T28" fmla="*/ 78 w 196"/>
                  <a:gd name="T29" fmla="*/ 93 h 123"/>
                  <a:gd name="T30" fmla="*/ 55 w 196"/>
                  <a:gd name="T31" fmla="*/ 103 h 123"/>
                  <a:gd name="T32" fmla="*/ 30 w 196"/>
                  <a:gd name="T33" fmla="*/ 115 h 123"/>
                  <a:gd name="T34" fmla="*/ 6 w 196"/>
                  <a:gd name="T35" fmla="*/ 123 h 123"/>
                  <a:gd name="T36" fmla="*/ 0 w 196"/>
                  <a:gd name="T37" fmla="*/ 92 h 12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6"/>
                  <a:gd name="T58" fmla="*/ 0 h 123"/>
                  <a:gd name="T59" fmla="*/ 196 w 196"/>
                  <a:gd name="T60" fmla="*/ 123 h 12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6" h="123">
                    <a:moveTo>
                      <a:pt x="0" y="92"/>
                    </a:moveTo>
                    <a:lnTo>
                      <a:pt x="22" y="81"/>
                    </a:lnTo>
                    <a:lnTo>
                      <a:pt x="45" y="73"/>
                    </a:lnTo>
                    <a:lnTo>
                      <a:pt x="68" y="62"/>
                    </a:lnTo>
                    <a:lnTo>
                      <a:pt x="90" y="52"/>
                    </a:lnTo>
                    <a:lnTo>
                      <a:pt x="112" y="40"/>
                    </a:lnTo>
                    <a:lnTo>
                      <a:pt x="134" y="27"/>
                    </a:lnTo>
                    <a:lnTo>
                      <a:pt x="156" y="15"/>
                    </a:lnTo>
                    <a:lnTo>
                      <a:pt x="177" y="0"/>
                    </a:lnTo>
                    <a:lnTo>
                      <a:pt x="196" y="27"/>
                    </a:lnTo>
                    <a:lnTo>
                      <a:pt x="172" y="42"/>
                    </a:lnTo>
                    <a:lnTo>
                      <a:pt x="150" y="56"/>
                    </a:lnTo>
                    <a:lnTo>
                      <a:pt x="125" y="68"/>
                    </a:lnTo>
                    <a:lnTo>
                      <a:pt x="102" y="81"/>
                    </a:lnTo>
                    <a:lnTo>
                      <a:pt x="78" y="93"/>
                    </a:lnTo>
                    <a:lnTo>
                      <a:pt x="55" y="103"/>
                    </a:lnTo>
                    <a:lnTo>
                      <a:pt x="30" y="115"/>
                    </a:lnTo>
                    <a:lnTo>
                      <a:pt x="6" y="123"/>
                    </a:lnTo>
                    <a:lnTo>
                      <a:pt x="0" y="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72" name="Freeform 68"/>
              <p:cNvSpPr>
                <a:spLocks/>
              </p:cNvSpPr>
              <p:nvPr/>
            </p:nvSpPr>
            <p:spPr bwMode="auto">
              <a:xfrm>
                <a:off x="3506" y="3207"/>
                <a:ext cx="28" cy="41"/>
              </a:xfrm>
              <a:custGeom>
                <a:avLst/>
                <a:gdLst>
                  <a:gd name="T0" fmla="*/ 28 w 28"/>
                  <a:gd name="T1" fmla="*/ 32 h 41"/>
                  <a:gd name="T2" fmla="*/ 7 w 28"/>
                  <a:gd name="T3" fmla="*/ 41 h 41"/>
                  <a:gd name="T4" fmla="*/ 0 w 28"/>
                  <a:gd name="T5" fmla="*/ 8 h 41"/>
                  <a:gd name="T6" fmla="*/ 21 w 28"/>
                  <a:gd name="T7" fmla="*/ 0 h 41"/>
                  <a:gd name="T8" fmla="*/ 28 w 28"/>
                  <a:gd name="T9" fmla="*/ 32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41"/>
                  <a:gd name="T17" fmla="*/ 28 w 28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41">
                    <a:moveTo>
                      <a:pt x="28" y="32"/>
                    </a:moveTo>
                    <a:lnTo>
                      <a:pt x="7" y="41"/>
                    </a:lnTo>
                    <a:lnTo>
                      <a:pt x="0" y="8"/>
                    </a:lnTo>
                    <a:lnTo>
                      <a:pt x="21" y="0"/>
                    </a:lnTo>
                    <a:lnTo>
                      <a:pt x="28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73" name="Freeform 69"/>
              <p:cNvSpPr>
                <a:spLocks/>
              </p:cNvSpPr>
              <p:nvPr/>
            </p:nvSpPr>
            <p:spPr bwMode="auto">
              <a:xfrm>
                <a:off x="3795" y="2946"/>
                <a:ext cx="147" cy="132"/>
              </a:xfrm>
              <a:custGeom>
                <a:avLst/>
                <a:gdLst>
                  <a:gd name="T0" fmla="*/ 0 w 147"/>
                  <a:gd name="T1" fmla="*/ 75 h 132"/>
                  <a:gd name="T2" fmla="*/ 147 w 147"/>
                  <a:gd name="T3" fmla="*/ 0 h 132"/>
                  <a:gd name="T4" fmla="*/ 75 w 147"/>
                  <a:gd name="T5" fmla="*/ 132 h 132"/>
                  <a:gd name="T6" fmla="*/ 0 w 147"/>
                  <a:gd name="T7" fmla="*/ 75 h 1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7"/>
                  <a:gd name="T13" fmla="*/ 0 h 132"/>
                  <a:gd name="T14" fmla="*/ 147 w 147"/>
                  <a:gd name="T15" fmla="*/ 132 h 1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7" h="132">
                    <a:moveTo>
                      <a:pt x="0" y="75"/>
                    </a:moveTo>
                    <a:lnTo>
                      <a:pt x="147" y="0"/>
                    </a:lnTo>
                    <a:lnTo>
                      <a:pt x="75" y="132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74" name="Freeform 70"/>
              <p:cNvSpPr>
                <a:spLocks/>
              </p:cNvSpPr>
              <p:nvPr/>
            </p:nvSpPr>
            <p:spPr bwMode="auto">
              <a:xfrm>
                <a:off x="3793" y="2936"/>
                <a:ext cx="160" cy="89"/>
              </a:xfrm>
              <a:custGeom>
                <a:avLst/>
                <a:gdLst>
                  <a:gd name="T0" fmla="*/ 144 w 160"/>
                  <a:gd name="T1" fmla="*/ 9 h 89"/>
                  <a:gd name="T2" fmla="*/ 152 w 160"/>
                  <a:gd name="T3" fmla="*/ 13 h 89"/>
                  <a:gd name="T4" fmla="*/ 3 w 160"/>
                  <a:gd name="T5" fmla="*/ 89 h 89"/>
                  <a:gd name="T6" fmla="*/ 0 w 160"/>
                  <a:gd name="T7" fmla="*/ 81 h 89"/>
                  <a:gd name="T8" fmla="*/ 146 w 160"/>
                  <a:gd name="T9" fmla="*/ 6 h 89"/>
                  <a:gd name="T10" fmla="*/ 155 w 160"/>
                  <a:gd name="T11" fmla="*/ 11 h 89"/>
                  <a:gd name="T12" fmla="*/ 146 w 160"/>
                  <a:gd name="T13" fmla="*/ 6 h 89"/>
                  <a:gd name="T14" fmla="*/ 160 w 160"/>
                  <a:gd name="T15" fmla="*/ 0 h 89"/>
                  <a:gd name="T16" fmla="*/ 155 w 160"/>
                  <a:gd name="T17" fmla="*/ 11 h 89"/>
                  <a:gd name="T18" fmla="*/ 144 w 160"/>
                  <a:gd name="T19" fmla="*/ 9 h 8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0"/>
                  <a:gd name="T31" fmla="*/ 0 h 89"/>
                  <a:gd name="T32" fmla="*/ 160 w 160"/>
                  <a:gd name="T33" fmla="*/ 89 h 8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0" h="89">
                    <a:moveTo>
                      <a:pt x="144" y="9"/>
                    </a:moveTo>
                    <a:lnTo>
                      <a:pt x="152" y="13"/>
                    </a:lnTo>
                    <a:lnTo>
                      <a:pt x="3" y="89"/>
                    </a:lnTo>
                    <a:lnTo>
                      <a:pt x="0" y="81"/>
                    </a:lnTo>
                    <a:lnTo>
                      <a:pt x="146" y="6"/>
                    </a:lnTo>
                    <a:lnTo>
                      <a:pt x="155" y="11"/>
                    </a:lnTo>
                    <a:lnTo>
                      <a:pt x="146" y="6"/>
                    </a:lnTo>
                    <a:lnTo>
                      <a:pt x="160" y="0"/>
                    </a:lnTo>
                    <a:lnTo>
                      <a:pt x="155" y="11"/>
                    </a:lnTo>
                    <a:lnTo>
                      <a:pt x="144" y="9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75" name="Freeform 71"/>
              <p:cNvSpPr>
                <a:spLocks/>
              </p:cNvSpPr>
              <p:nvPr/>
            </p:nvSpPr>
            <p:spPr bwMode="auto">
              <a:xfrm>
                <a:off x="3868" y="2945"/>
                <a:ext cx="83" cy="140"/>
              </a:xfrm>
              <a:custGeom>
                <a:avLst/>
                <a:gdLst>
                  <a:gd name="T0" fmla="*/ 9 w 83"/>
                  <a:gd name="T1" fmla="*/ 127 h 140"/>
                  <a:gd name="T2" fmla="*/ 0 w 83"/>
                  <a:gd name="T3" fmla="*/ 132 h 140"/>
                  <a:gd name="T4" fmla="*/ 72 w 83"/>
                  <a:gd name="T5" fmla="*/ 0 h 140"/>
                  <a:gd name="T6" fmla="*/ 83 w 83"/>
                  <a:gd name="T7" fmla="*/ 1 h 140"/>
                  <a:gd name="T8" fmla="*/ 9 w 83"/>
                  <a:gd name="T9" fmla="*/ 132 h 140"/>
                  <a:gd name="T10" fmla="*/ 0 w 83"/>
                  <a:gd name="T11" fmla="*/ 136 h 140"/>
                  <a:gd name="T12" fmla="*/ 9 w 83"/>
                  <a:gd name="T13" fmla="*/ 132 h 140"/>
                  <a:gd name="T14" fmla="*/ 5 w 83"/>
                  <a:gd name="T15" fmla="*/ 140 h 140"/>
                  <a:gd name="T16" fmla="*/ 0 w 83"/>
                  <a:gd name="T17" fmla="*/ 136 h 140"/>
                  <a:gd name="T18" fmla="*/ 9 w 83"/>
                  <a:gd name="T19" fmla="*/ 127 h 1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3"/>
                  <a:gd name="T31" fmla="*/ 0 h 140"/>
                  <a:gd name="T32" fmla="*/ 83 w 83"/>
                  <a:gd name="T33" fmla="*/ 140 h 1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3" h="140">
                    <a:moveTo>
                      <a:pt x="9" y="127"/>
                    </a:moveTo>
                    <a:lnTo>
                      <a:pt x="0" y="132"/>
                    </a:lnTo>
                    <a:lnTo>
                      <a:pt x="72" y="0"/>
                    </a:lnTo>
                    <a:lnTo>
                      <a:pt x="83" y="1"/>
                    </a:lnTo>
                    <a:lnTo>
                      <a:pt x="9" y="132"/>
                    </a:lnTo>
                    <a:lnTo>
                      <a:pt x="0" y="136"/>
                    </a:lnTo>
                    <a:lnTo>
                      <a:pt x="9" y="132"/>
                    </a:lnTo>
                    <a:lnTo>
                      <a:pt x="5" y="140"/>
                    </a:lnTo>
                    <a:lnTo>
                      <a:pt x="0" y="136"/>
                    </a:lnTo>
                    <a:lnTo>
                      <a:pt x="9" y="127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76" name="Freeform 72"/>
              <p:cNvSpPr>
                <a:spLocks/>
              </p:cNvSpPr>
              <p:nvPr/>
            </p:nvSpPr>
            <p:spPr bwMode="auto">
              <a:xfrm>
                <a:off x="3784" y="3017"/>
                <a:ext cx="90" cy="64"/>
              </a:xfrm>
              <a:custGeom>
                <a:avLst/>
                <a:gdLst>
                  <a:gd name="T0" fmla="*/ 12 w 90"/>
                  <a:gd name="T1" fmla="*/ 8 h 64"/>
                  <a:gd name="T2" fmla="*/ 15 w 90"/>
                  <a:gd name="T3" fmla="*/ 0 h 64"/>
                  <a:gd name="T4" fmla="*/ 90 w 90"/>
                  <a:gd name="T5" fmla="*/ 55 h 64"/>
                  <a:gd name="T6" fmla="*/ 82 w 90"/>
                  <a:gd name="T7" fmla="*/ 64 h 64"/>
                  <a:gd name="T8" fmla="*/ 6 w 90"/>
                  <a:gd name="T9" fmla="*/ 8 h 64"/>
                  <a:gd name="T10" fmla="*/ 9 w 90"/>
                  <a:gd name="T11" fmla="*/ 0 h 64"/>
                  <a:gd name="T12" fmla="*/ 6 w 90"/>
                  <a:gd name="T13" fmla="*/ 8 h 64"/>
                  <a:gd name="T14" fmla="*/ 0 w 90"/>
                  <a:gd name="T15" fmla="*/ 4 h 64"/>
                  <a:gd name="T16" fmla="*/ 9 w 90"/>
                  <a:gd name="T17" fmla="*/ 0 h 64"/>
                  <a:gd name="T18" fmla="*/ 12 w 90"/>
                  <a:gd name="T19" fmla="*/ 8 h 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0"/>
                  <a:gd name="T31" fmla="*/ 0 h 64"/>
                  <a:gd name="T32" fmla="*/ 90 w 90"/>
                  <a:gd name="T33" fmla="*/ 64 h 6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0" h="64">
                    <a:moveTo>
                      <a:pt x="12" y="8"/>
                    </a:moveTo>
                    <a:lnTo>
                      <a:pt x="15" y="0"/>
                    </a:lnTo>
                    <a:lnTo>
                      <a:pt x="90" y="55"/>
                    </a:lnTo>
                    <a:lnTo>
                      <a:pt x="82" y="64"/>
                    </a:lnTo>
                    <a:lnTo>
                      <a:pt x="6" y="8"/>
                    </a:lnTo>
                    <a:lnTo>
                      <a:pt x="9" y="0"/>
                    </a:lnTo>
                    <a:lnTo>
                      <a:pt x="6" y="8"/>
                    </a:lnTo>
                    <a:lnTo>
                      <a:pt x="0" y="4"/>
                    </a:lnTo>
                    <a:lnTo>
                      <a:pt x="9" y="0"/>
                    </a:lnTo>
                    <a:lnTo>
                      <a:pt x="12" y="8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77" name="Freeform 73"/>
              <p:cNvSpPr>
                <a:spLocks/>
              </p:cNvSpPr>
              <p:nvPr/>
            </p:nvSpPr>
            <p:spPr bwMode="auto">
              <a:xfrm>
                <a:off x="3894" y="2967"/>
                <a:ext cx="37" cy="28"/>
              </a:xfrm>
              <a:custGeom>
                <a:avLst/>
                <a:gdLst>
                  <a:gd name="T0" fmla="*/ 0 w 37"/>
                  <a:gd name="T1" fmla="*/ 12 h 28"/>
                  <a:gd name="T2" fmla="*/ 14 w 37"/>
                  <a:gd name="T3" fmla="*/ 0 h 28"/>
                  <a:gd name="T4" fmla="*/ 37 w 37"/>
                  <a:gd name="T5" fmla="*/ 16 h 28"/>
                  <a:gd name="T6" fmla="*/ 23 w 37"/>
                  <a:gd name="T7" fmla="*/ 28 h 28"/>
                  <a:gd name="T8" fmla="*/ 0 w 37"/>
                  <a:gd name="T9" fmla="*/ 12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28"/>
                  <a:gd name="T17" fmla="*/ 37 w 37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28">
                    <a:moveTo>
                      <a:pt x="0" y="12"/>
                    </a:moveTo>
                    <a:lnTo>
                      <a:pt x="14" y="0"/>
                    </a:lnTo>
                    <a:lnTo>
                      <a:pt x="37" y="16"/>
                    </a:lnTo>
                    <a:lnTo>
                      <a:pt x="23" y="2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78" name="Freeform 74"/>
              <p:cNvSpPr>
                <a:spLocks/>
              </p:cNvSpPr>
              <p:nvPr/>
            </p:nvSpPr>
            <p:spPr bwMode="auto">
              <a:xfrm>
                <a:off x="3713" y="2977"/>
                <a:ext cx="202" cy="168"/>
              </a:xfrm>
              <a:custGeom>
                <a:avLst/>
                <a:gdLst>
                  <a:gd name="T0" fmla="*/ 0 w 202"/>
                  <a:gd name="T1" fmla="*/ 146 h 168"/>
                  <a:gd name="T2" fmla="*/ 0 w 202"/>
                  <a:gd name="T3" fmla="*/ 146 h 168"/>
                  <a:gd name="T4" fmla="*/ 25 w 202"/>
                  <a:gd name="T5" fmla="*/ 128 h 168"/>
                  <a:gd name="T6" fmla="*/ 50 w 202"/>
                  <a:gd name="T7" fmla="*/ 111 h 168"/>
                  <a:gd name="T8" fmla="*/ 72 w 202"/>
                  <a:gd name="T9" fmla="*/ 94 h 168"/>
                  <a:gd name="T10" fmla="*/ 95 w 202"/>
                  <a:gd name="T11" fmla="*/ 76 h 168"/>
                  <a:gd name="T12" fmla="*/ 118 w 202"/>
                  <a:gd name="T13" fmla="*/ 58 h 168"/>
                  <a:gd name="T14" fmla="*/ 138 w 202"/>
                  <a:gd name="T15" fmla="*/ 40 h 168"/>
                  <a:gd name="T16" fmla="*/ 159 w 202"/>
                  <a:gd name="T17" fmla="*/ 21 h 168"/>
                  <a:gd name="T18" fmla="*/ 178 w 202"/>
                  <a:gd name="T19" fmla="*/ 0 h 168"/>
                  <a:gd name="T20" fmla="*/ 202 w 202"/>
                  <a:gd name="T21" fmla="*/ 16 h 168"/>
                  <a:gd name="T22" fmla="*/ 181 w 202"/>
                  <a:gd name="T23" fmla="*/ 37 h 168"/>
                  <a:gd name="T24" fmla="*/ 160 w 202"/>
                  <a:gd name="T25" fmla="*/ 57 h 168"/>
                  <a:gd name="T26" fmla="*/ 138 w 202"/>
                  <a:gd name="T27" fmla="*/ 76 h 168"/>
                  <a:gd name="T28" fmla="*/ 114 w 202"/>
                  <a:gd name="T29" fmla="*/ 96 h 168"/>
                  <a:gd name="T30" fmla="*/ 91 w 202"/>
                  <a:gd name="T31" fmla="*/ 115 h 168"/>
                  <a:gd name="T32" fmla="*/ 66 w 202"/>
                  <a:gd name="T33" fmla="*/ 133 h 168"/>
                  <a:gd name="T34" fmla="*/ 40 w 202"/>
                  <a:gd name="T35" fmla="*/ 151 h 168"/>
                  <a:gd name="T36" fmla="*/ 15 w 202"/>
                  <a:gd name="T37" fmla="*/ 168 h 168"/>
                  <a:gd name="T38" fmla="*/ 0 w 202"/>
                  <a:gd name="T39" fmla="*/ 146 h 1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2"/>
                  <a:gd name="T61" fmla="*/ 0 h 168"/>
                  <a:gd name="T62" fmla="*/ 202 w 202"/>
                  <a:gd name="T63" fmla="*/ 168 h 1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2" h="168">
                    <a:moveTo>
                      <a:pt x="0" y="146"/>
                    </a:moveTo>
                    <a:lnTo>
                      <a:pt x="0" y="146"/>
                    </a:lnTo>
                    <a:lnTo>
                      <a:pt x="25" y="128"/>
                    </a:lnTo>
                    <a:lnTo>
                      <a:pt x="50" y="111"/>
                    </a:lnTo>
                    <a:lnTo>
                      <a:pt x="72" y="94"/>
                    </a:lnTo>
                    <a:lnTo>
                      <a:pt x="95" y="76"/>
                    </a:lnTo>
                    <a:lnTo>
                      <a:pt x="118" y="58"/>
                    </a:lnTo>
                    <a:lnTo>
                      <a:pt x="138" y="40"/>
                    </a:lnTo>
                    <a:lnTo>
                      <a:pt x="159" y="21"/>
                    </a:lnTo>
                    <a:lnTo>
                      <a:pt x="178" y="0"/>
                    </a:lnTo>
                    <a:lnTo>
                      <a:pt x="202" y="16"/>
                    </a:lnTo>
                    <a:lnTo>
                      <a:pt x="181" y="37"/>
                    </a:lnTo>
                    <a:lnTo>
                      <a:pt x="160" y="57"/>
                    </a:lnTo>
                    <a:lnTo>
                      <a:pt x="138" y="76"/>
                    </a:lnTo>
                    <a:lnTo>
                      <a:pt x="114" y="96"/>
                    </a:lnTo>
                    <a:lnTo>
                      <a:pt x="91" y="115"/>
                    </a:lnTo>
                    <a:lnTo>
                      <a:pt x="66" y="133"/>
                    </a:lnTo>
                    <a:lnTo>
                      <a:pt x="40" y="151"/>
                    </a:lnTo>
                    <a:lnTo>
                      <a:pt x="15" y="168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79" name="Freeform 75"/>
              <p:cNvSpPr>
                <a:spLocks/>
              </p:cNvSpPr>
              <p:nvPr/>
            </p:nvSpPr>
            <p:spPr bwMode="auto">
              <a:xfrm>
                <a:off x="3530" y="3120"/>
                <a:ext cx="192" cy="119"/>
              </a:xfrm>
              <a:custGeom>
                <a:avLst/>
                <a:gdLst>
                  <a:gd name="T0" fmla="*/ 0 w 192"/>
                  <a:gd name="T1" fmla="*/ 92 h 119"/>
                  <a:gd name="T2" fmla="*/ 22 w 192"/>
                  <a:gd name="T3" fmla="*/ 83 h 119"/>
                  <a:gd name="T4" fmla="*/ 47 w 192"/>
                  <a:gd name="T5" fmla="*/ 73 h 119"/>
                  <a:gd name="T6" fmla="*/ 69 w 192"/>
                  <a:gd name="T7" fmla="*/ 62 h 119"/>
                  <a:gd name="T8" fmla="*/ 90 w 192"/>
                  <a:gd name="T9" fmla="*/ 53 h 119"/>
                  <a:gd name="T10" fmla="*/ 112 w 192"/>
                  <a:gd name="T11" fmla="*/ 40 h 119"/>
                  <a:gd name="T12" fmla="*/ 135 w 192"/>
                  <a:gd name="T13" fmla="*/ 27 h 119"/>
                  <a:gd name="T14" fmla="*/ 157 w 192"/>
                  <a:gd name="T15" fmla="*/ 14 h 119"/>
                  <a:gd name="T16" fmla="*/ 178 w 192"/>
                  <a:gd name="T17" fmla="*/ 0 h 119"/>
                  <a:gd name="T18" fmla="*/ 192 w 192"/>
                  <a:gd name="T19" fmla="*/ 23 h 119"/>
                  <a:gd name="T20" fmla="*/ 170 w 192"/>
                  <a:gd name="T21" fmla="*/ 38 h 119"/>
                  <a:gd name="T22" fmla="*/ 147 w 192"/>
                  <a:gd name="T23" fmla="*/ 52 h 119"/>
                  <a:gd name="T24" fmla="*/ 123 w 192"/>
                  <a:gd name="T25" fmla="*/ 63 h 119"/>
                  <a:gd name="T26" fmla="*/ 100 w 192"/>
                  <a:gd name="T27" fmla="*/ 77 h 119"/>
                  <a:gd name="T28" fmla="*/ 76 w 192"/>
                  <a:gd name="T29" fmla="*/ 89 h 119"/>
                  <a:gd name="T30" fmla="*/ 52 w 192"/>
                  <a:gd name="T31" fmla="*/ 99 h 119"/>
                  <a:gd name="T32" fmla="*/ 30 w 192"/>
                  <a:gd name="T33" fmla="*/ 108 h 119"/>
                  <a:gd name="T34" fmla="*/ 6 w 192"/>
                  <a:gd name="T35" fmla="*/ 119 h 119"/>
                  <a:gd name="T36" fmla="*/ 0 w 192"/>
                  <a:gd name="T37" fmla="*/ 92 h 11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2"/>
                  <a:gd name="T58" fmla="*/ 0 h 119"/>
                  <a:gd name="T59" fmla="*/ 192 w 192"/>
                  <a:gd name="T60" fmla="*/ 119 h 11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2" h="119">
                    <a:moveTo>
                      <a:pt x="0" y="92"/>
                    </a:moveTo>
                    <a:lnTo>
                      <a:pt x="22" y="83"/>
                    </a:lnTo>
                    <a:lnTo>
                      <a:pt x="47" y="73"/>
                    </a:lnTo>
                    <a:lnTo>
                      <a:pt x="69" y="62"/>
                    </a:lnTo>
                    <a:lnTo>
                      <a:pt x="90" y="53"/>
                    </a:lnTo>
                    <a:lnTo>
                      <a:pt x="112" y="40"/>
                    </a:lnTo>
                    <a:lnTo>
                      <a:pt x="135" y="27"/>
                    </a:lnTo>
                    <a:lnTo>
                      <a:pt x="157" y="14"/>
                    </a:lnTo>
                    <a:lnTo>
                      <a:pt x="178" y="0"/>
                    </a:lnTo>
                    <a:lnTo>
                      <a:pt x="192" y="23"/>
                    </a:lnTo>
                    <a:lnTo>
                      <a:pt x="170" y="38"/>
                    </a:lnTo>
                    <a:lnTo>
                      <a:pt x="147" y="52"/>
                    </a:lnTo>
                    <a:lnTo>
                      <a:pt x="123" y="63"/>
                    </a:lnTo>
                    <a:lnTo>
                      <a:pt x="100" y="77"/>
                    </a:lnTo>
                    <a:lnTo>
                      <a:pt x="76" y="89"/>
                    </a:lnTo>
                    <a:lnTo>
                      <a:pt x="52" y="99"/>
                    </a:lnTo>
                    <a:lnTo>
                      <a:pt x="30" y="108"/>
                    </a:lnTo>
                    <a:lnTo>
                      <a:pt x="6" y="119"/>
                    </a:lnTo>
                    <a:lnTo>
                      <a:pt x="0" y="92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80" name="Freeform 76"/>
              <p:cNvSpPr>
                <a:spLocks/>
              </p:cNvSpPr>
              <p:nvPr/>
            </p:nvSpPr>
            <p:spPr bwMode="auto">
              <a:xfrm>
                <a:off x="3513" y="3212"/>
                <a:ext cx="22" cy="32"/>
              </a:xfrm>
              <a:custGeom>
                <a:avLst/>
                <a:gdLst>
                  <a:gd name="T0" fmla="*/ 22 w 22"/>
                  <a:gd name="T1" fmla="*/ 26 h 32"/>
                  <a:gd name="T2" fmla="*/ 5 w 22"/>
                  <a:gd name="T3" fmla="*/ 32 h 32"/>
                  <a:gd name="T4" fmla="*/ 0 w 22"/>
                  <a:gd name="T5" fmla="*/ 7 h 32"/>
                  <a:gd name="T6" fmla="*/ 16 w 22"/>
                  <a:gd name="T7" fmla="*/ 0 h 32"/>
                  <a:gd name="T8" fmla="*/ 22 w 22"/>
                  <a:gd name="T9" fmla="*/ 26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32"/>
                  <a:gd name="T17" fmla="*/ 22 w 22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32">
                    <a:moveTo>
                      <a:pt x="22" y="26"/>
                    </a:moveTo>
                    <a:lnTo>
                      <a:pt x="5" y="32"/>
                    </a:lnTo>
                    <a:lnTo>
                      <a:pt x="0" y="7"/>
                    </a:lnTo>
                    <a:lnTo>
                      <a:pt x="16" y="0"/>
                    </a:lnTo>
                    <a:lnTo>
                      <a:pt x="22" y="26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81" name="Freeform 77"/>
              <p:cNvSpPr>
                <a:spLocks/>
              </p:cNvSpPr>
              <p:nvPr/>
            </p:nvSpPr>
            <p:spPr bwMode="auto">
              <a:xfrm>
                <a:off x="3818" y="2920"/>
                <a:ext cx="146" cy="133"/>
              </a:xfrm>
              <a:custGeom>
                <a:avLst/>
                <a:gdLst>
                  <a:gd name="T0" fmla="*/ 0 w 146"/>
                  <a:gd name="T1" fmla="*/ 81 h 133"/>
                  <a:gd name="T2" fmla="*/ 146 w 146"/>
                  <a:gd name="T3" fmla="*/ 0 h 133"/>
                  <a:gd name="T4" fmla="*/ 81 w 146"/>
                  <a:gd name="T5" fmla="*/ 133 h 133"/>
                  <a:gd name="T6" fmla="*/ 0 w 146"/>
                  <a:gd name="T7" fmla="*/ 81 h 1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6"/>
                  <a:gd name="T13" fmla="*/ 0 h 133"/>
                  <a:gd name="T14" fmla="*/ 146 w 146"/>
                  <a:gd name="T15" fmla="*/ 133 h 1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6" h="133">
                    <a:moveTo>
                      <a:pt x="0" y="81"/>
                    </a:moveTo>
                    <a:lnTo>
                      <a:pt x="146" y="0"/>
                    </a:lnTo>
                    <a:lnTo>
                      <a:pt x="81" y="133"/>
                    </a:lnTo>
                    <a:lnTo>
                      <a:pt x="0" y="8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82" name="Freeform 78"/>
              <p:cNvSpPr>
                <a:spLocks/>
              </p:cNvSpPr>
              <p:nvPr/>
            </p:nvSpPr>
            <p:spPr bwMode="auto">
              <a:xfrm>
                <a:off x="3816" y="2905"/>
                <a:ext cx="167" cy="105"/>
              </a:xfrm>
              <a:custGeom>
                <a:avLst/>
                <a:gdLst>
                  <a:gd name="T0" fmla="*/ 139 w 167"/>
                  <a:gd name="T1" fmla="*/ 17 h 105"/>
                  <a:gd name="T2" fmla="*/ 152 w 167"/>
                  <a:gd name="T3" fmla="*/ 24 h 105"/>
                  <a:gd name="T4" fmla="*/ 7 w 167"/>
                  <a:gd name="T5" fmla="*/ 105 h 105"/>
                  <a:gd name="T6" fmla="*/ 0 w 167"/>
                  <a:gd name="T7" fmla="*/ 91 h 105"/>
                  <a:gd name="T8" fmla="*/ 146 w 167"/>
                  <a:gd name="T9" fmla="*/ 10 h 105"/>
                  <a:gd name="T10" fmla="*/ 156 w 167"/>
                  <a:gd name="T11" fmla="*/ 19 h 105"/>
                  <a:gd name="T12" fmla="*/ 146 w 167"/>
                  <a:gd name="T13" fmla="*/ 10 h 105"/>
                  <a:gd name="T14" fmla="*/ 167 w 167"/>
                  <a:gd name="T15" fmla="*/ 0 h 105"/>
                  <a:gd name="T16" fmla="*/ 156 w 167"/>
                  <a:gd name="T17" fmla="*/ 19 h 105"/>
                  <a:gd name="T18" fmla="*/ 139 w 167"/>
                  <a:gd name="T19" fmla="*/ 17 h 10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7"/>
                  <a:gd name="T31" fmla="*/ 0 h 105"/>
                  <a:gd name="T32" fmla="*/ 167 w 167"/>
                  <a:gd name="T33" fmla="*/ 105 h 10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7" h="105">
                    <a:moveTo>
                      <a:pt x="139" y="17"/>
                    </a:moveTo>
                    <a:lnTo>
                      <a:pt x="152" y="24"/>
                    </a:lnTo>
                    <a:lnTo>
                      <a:pt x="7" y="105"/>
                    </a:lnTo>
                    <a:lnTo>
                      <a:pt x="0" y="91"/>
                    </a:lnTo>
                    <a:lnTo>
                      <a:pt x="146" y="10"/>
                    </a:lnTo>
                    <a:lnTo>
                      <a:pt x="156" y="19"/>
                    </a:lnTo>
                    <a:lnTo>
                      <a:pt x="146" y="10"/>
                    </a:lnTo>
                    <a:lnTo>
                      <a:pt x="167" y="0"/>
                    </a:lnTo>
                    <a:lnTo>
                      <a:pt x="156" y="19"/>
                    </a:lnTo>
                    <a:lnTo>
                      <a:pt x="139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83" name="Freeform 79"/>
              <p:cNvSpPr>
                <a:spLocks/>
              </p:cNvSpPr>
              <p:nvPr/>
            </p:nvSpPr>
            <p:spPr bwMode="auto">
              <a:xfrm>
                <a:off x="3890" y="2917"/>
                <a:ext cx="83" cy="149"/>
              </a:xfrm>
              <a:custGeom>
                <a:avLst/>
                <a:gdLst>
                  <a:gd name="T0" fmla="*/ 17 w 83"/>
                  <a:gd name="T1" fmla="*/ 129 h 149"/>
                  <a:gd name="T2" fmla="*/ 0 w 83"/>
                  <a:gd name="T3" fmla="*/ 134 h 149"/>
                  <a:gd name="T4" fmla="*/ 66 w 83"/>
                  <a:gd name="T5" fmla="*/ 0 h 149"/>
                  <a:gd name="T6" fmla="*/ 83 w 83"/>
                  <a:gd name="T7" fmla="*/ 3 h 149"/>
                  <a:gd name="T8" fmla="*/ 18 w 83"/>
                  <a:gd name="T9" fmla="*/ 136 h 149"/>
                  <a:gd name="T10" fmla="*/ 2 w 83"/>
                  <a:gd name="T11" fmla="*/ 143 h 149"/>
                  <a:gd name="T12" fmla="*/ 18 w 83"/>
                  <a:gd name="T13" fmla="*/ 136 h 149"/>
                  <a:gd name="T14" fmla="*/ 13 w 83"/>
                  <a:gd name="T15" fmla="*/ 149 h 149"/>
                  <a:gd name="T16" fmla="*/ 2 w 83"/>
                  <a:gd name="T17" fmla="*/ 143 h 149"/>
                  <a:gd name="T18" fmla="*/ 17 w 83"/>
                  <a:gd name="T19" fmla="*/ 129 h 14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3"/>
                  <a:gd name="T31" fmla="*/ 0 h 149"/>
                  <a:gd name="T32" fmla="*/ 83 w 83"/>
                  <a:gd name="T33" fmla="*/ 149 h 14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3" h="149">
                    <a:moveTo>
                      <a:pt x="17" y="129"/>
                    </a:moveTo>
                    <a:lnTo>
                      <a:pt x="0" y="134"/>
                    </a:lnTo>
                    <a:lnTo>
                      <a:pt x="66" y="0"/>
                    </a:lnTo>
                    <a:lnTo>
                      <a:pt x="83" y="3"/>
                    </a:lnTo>
                    <a:lnTo>
                      <a:pt x="18" y="136"/>
                    </a:lnTo>
                    <a:lnTo>
                      <a:pt x="2" y="143"/>
                    </a:lnTo>
                    <a:lnTo>
                      <a:pt x="18" y="136"/>
                    </a:lnTo>
                    <a:lnTo>
                      <a:pt x="13" y="149"/>
                    </a:lnTo>
                    <a:lnTo>
                      <a:pt x="2" y="143"/>
                    </a:lnTo>
                    <a:lnTo>
                      <a:pt x="17" y="1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84" name="Freeform 80"/>
              <p:cNvSpPr>
                <a:spLocks/>
              </p:cNvSpPr>
              <p:nvPr/>
            </p:nvSpPr>
            <p:spPr bwMode="auto">
              <a:xfrm>
                <a:off x="3800" y="2993"/>
                <a:ext cx="104" cy="65"/>
              </a:xfrm>
              <a:custGeom>
                <a:avLst/>
                <a:gdLst>
                  <a:gd name="T0" fmla="*/ 21 w 104"/>
                  <a:gd name="T1" fmla="*/ 14 h 65"/>
                  <a:gd name="T2" fmla="*/ 24 w 104"/>
                  <a:gd name="T3" fmla="*/ 0 h 65"/>
                  <a:gd name="T4" fmla="*/ 104 w 104"/>
                  <a:gd name="T5" fmla="*/ 52 h 65"/>
                  <a:gd name="T6" fmla="*/ 89 w 104"/>
                  <a:gd name="T7" fmla="*/ 65 h 65"/>
                  <a:gd name="T8" fmla="*/ 11 w 104"/>
                  <a:gd name="T9" fmla="*/ 14 h 65"/>
                  <a:gd name="T10" fmla="*/ 14 w 104"/>
                  <a:gd name="T11" fmla="*/ 0 h 65"/>
                  <a:gd name="T12" fmla="*/ 11 w 104"/>
                  <a:gd name="T13" fmla="*/ 14 h 65"/>
                  <a:gd name="T14" fmla="*/ 0 w 104"/>
                  <a:gd name="T15" fmla="*/ 8 h 65"/>
                  <a:gd name="T16" fmla="*/ 14 w 104"/>
                  <a:gd name="T17" fmla="*/ 0 h 65"/>
                  <a:gd name="T18" fmla="*/ 21 w 104"/>
                  <a:gd name="T19" fmla="*/ 14 h 6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4"/>
                  <a:gd name="T31" fmla="*/ 0 h 65"/>
                  <a:gd name="T32" fmla="*/ 104 w 104"/>
                  <a:gd name="T33" fmla="*/ 65 h 6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4" h="65">
                    <a:moveTo>
                      <a:pt x="21" y="14"/>
                    </a:moveTo>
                    <a:lnTo>
                      <a:pt x="24" y="0"/>
                    </a:lnTo>
                    <a:lnTo>
                      <a:pt x="104" y="52"/>
                    </a:lnTo>
                    <a:lnTo>
                      <a:pt x="89" y="65"/>
                    </a:lnTo>
                    <a:lnTo>
                      <a:pt x="11" y="14"/>
                    </a:lnTo>
                    <a:lnTo>
                      <a:pt x="14" y="0"/>
                    </a:lnTo>
                    <a:lnTo>
                      <a:pt x="11" y="14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21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85" name="Freeform 81"/>
              <p:cNvSpPr>
                <a:spLocks/>
              </p:cNvSpPr>
              <p:nvPr/>
            </p:nvSpPr>
            <p:spPr bwMode="auto">
              <a:xfrm>
                <a:off x="3902" y="2948"/>
                <a:ext cx="45" cy="31"/>
              </a:xfrm>
              <a:custGeom>
                <a:avLst/>
                <a:gdLst>
                  <a:gd name="T0" fmla="*/ 0 w 45"/>
                  <a:gd name="T1" fmla="*/ 15 h 31"/>
                  <a:gd name="T2" fmla="*/ 15 w 45"/>
                  <a:gd name="T3" fmla="*/ 0 h 31"/>
                  <a:gd name="T4" fmla="*/ 45 w 45"/>
                  <a:gd name="T5" fmla="*/ 15 h 31"/>
                  <a:gd name="T6" fmla="*/ 30 w 45"/>
                  <a:gd name="T7" fmla="*/ 31 h 31"/>
                  <a:gd name="T8" fmla="*/ 0 w 45"/>
                  <a:gd name="T9" fmla="*/ 15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31"/>
                  <a:gd name="T17" fmla="*/ 45 w 45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31">
                    <a:moveTo>
                      <a:pt x="0" y="15"/>
                    </a:moveTo>
                    <a:lnTo>
                      <a:pt x="15" y="0"/>
                    </a:lnTo>
                    <a:lnTo>
                      <a:pt x="45" y="15"/>
                    </a:lnTo>
                    <a:lnTo>
                      <a:pt x="30" y="31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86" name="Freeform 82"/>
              <p:cNvSpPr>
                <a:spLocks/>
              </p:cNvSpPr>
              <p:nvPr/>
            </p:nvSpPr>
            <p:spPr bwMode="auto">
              <a:xfrm>
                <a:off x="3739" y="2962"/>
                <a:ext cx="192" cy="164"/>
              </a:xfrm>
              <a:custGeom>
                <a:avLst/>
                <a:gdLst>
                  <a:gd name="T0" fmla="*/ 0 w 192"/>
                  <a:gd name="T1" fmla="*/ 138 h 164"/>
                  <a:gd name="T2" fmla="*/ 0 w 192"/>
                  <a:gd name="T3" fmla="*/ 138 h 164"/>
                  <a:gd name="T4" fmla="*/ 24 w 192"/>
                  <a:gd name="T5" fmla="*/ 121 h 164"/>
                  <a:gd name="T6" fmla="*/ 45 w 192"/>
                  <a:gd name="T7" fmla="*/ 106 h 164"/>
                  <a:gd name="T8" fmla="*/ 68 w 192"/>
                  <a:gd name="T9" fmla="*/ 89 h 164"/>
                  <a:gd name="T10" fmla="*/ 88 w 192"/>
                  <a:gd name="T11" fmla="*/ 72 h 164"/>
                  <a:gd name="T12" fmla="*/ 106 w 192"/>
                  <a:gd name="T13" fmla="*/ 55 h 164"/>
                  <a:gd name="T14" fmla="*/ 125 w 192"/>
                  <a:gd name="T15" fmla="*/ 39 h 164"/>
                  <a:gd name="T16" fmla="*/ 145 w 192"/>
                  <a:gd name="T17" fmla="*/ 21 h 164"/>
                  <a:gd name="T18" fmla="*/ 161 w 192"/>
                  <a:gd name="T19" fmla="*/ 0 h 164"/>
                  <a:gd name="T20" fmla="*/ 192 w 192"/>
                  <a:gd name="T21" fmla="*/ 17 h 164"/>
                  <a:gd name="T22" fmla="*/ 171 w 192"/>
                  <a:gd name="T23" fmla="*/ 38 h 164"/>
                  <a:gd name="T24" fmla="*/ 152 w 192"/>
                  <a:gd name="T25" fmla="*/ 58 h 164"/>
                  <a:gd name="T26" fmla="*/ 132 w 192"/>
                  <a:gd name="T27" fmla="*/ 75 h 164"/>
                  <a:gd name="T28" fmla="*/ 112 w 192"/>
                  <a:gd name="T29" fmla="*/ 94 h 164"/>
                  <a:gd name="T30" fmla="*/ 90 w 192"/>
                  <a:gd name="T31" fmla="*/ 111 h 164"/>
                  <a:gd name="T32" fmla="*/ 68 w 192"/>
                  <a:gd name="T33" fmla="*/ 130 h 164"/>
                  <a:gd name="T34" fmla="*/ 43 w 192"/>
                  <a:gd name="T35" fmla="*/ 146 h 164"/>
                  <a:gd name="T36" fmla="*/ 19 w 192"/>
                  <a:gd name="T37" fmla="*/ 164 h 164"/>
                  <a:gd name="T38" fmla="*/ 0 w 192"/>
                  <a:gd name="T39" fmla="*/ 138 h 16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92"/>
                  <a:gd name="T61" fmla="*/ 0 h 164"/>
                  <a:gd name="T62" fmla="*/ 192 w 192"/>
                  <a:gd name="T63" fmla="*/ 164 h 16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92" h="164">
                    <a:moveTo>
                      <a:pt x="0" y="138"/>
                    </a:moveTo>
                    <a:lnTo>
                      <a:pt x="0" y="138"/>
                    </a:lnTo>
                    <a:lnTo>
                      <a:pt x="24" y="121"/>
                    </a:lnTo>
                    <a:lnTo>
                      <a:pt x="45" y="106"/>
                    </a:lnTo>
                    <a:lnTo>
                      <a:pt x="68" y="89"/>
                    </a:lnTo>
                    <a:lnTo>
                      <a:pt x="88" y="72"/>
                    </a:lnTo>
                    <a:lnTo>
                      <a:pt x="106" y="55"/>
                    </a:lnTo>
                    <a:lnTo>
                      <a:pt x="125" y="39"/>
                    </a:lnTo>
                    <a:lnTo>
                      <a:pt x="145" y="21"/>
                    </a:lnTo>
                    <a:lnTo>
                      <a:pt x="161" y="0"/>
                    </a:lnTo>
                    <a:lnTo>
                      <a:pt x="192" y="17"/>
                    </a:lnTo>
                    <a:lnTo>
                      <a:pt x="171" y="38"/>
                    </a:lnTo>
                    <a:lnTo>
                      <a:pt x="152" y="58"/>
                    </a:lnTo>
                    <a:lnTo>
                      <a:pt x="132" y="75"/>
                    </a:lnTo>
                    <a:lnTo>
                      <a:pt x="112" y="94"/>
                    </a:lnTo>
                    <a:lnTo>
                      <a:pt x="90" y="111"/>
                    </a:lnTo>
                    <a:lnTo>
                      <a:pt x="68" y="130"/>
                    </a:lnTo>
                    <a:lnTo>
                      <a:pt x="43" y="146"/>
                    </a:lnTo>
                    <a:lnTo>
                      <a:pt x="19" y="164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87" name="Freeform 83"/>
              <p:cNvSpPr>
                <a:spLocks/>
              </p:cNvSpPr>
              <p:nvPr/>
            </p:nvSpPr>
            <p:spPr bwMode="auto">
              <a:xfrm>
                <a:off x="3559" y="3100"/>
                <a:ext cx="193" cy="128"/>
              </a:xfrm>
              <a:custGeom>
                <a:avLst/>
                <a:gdLst>
                  <a:gd name="T0" fmla="*/ 0 w 193"/>
                  <a:gd name="T1" fmla="*/ 98 h 128"/>
                  <a:gd name="T2" fmla="*/ 22 w 193"/>
                  <a:gd name="T3" fmla="*/ 87 h 128"/>
                  <a:gd name="T4" fmla="*/ 45 w 193"/>
                  <a:gd name="T5" fmla="*/ 77 h 128"/>
                  <a:gd name="T6" fmla="*/ 66 w 193"/>
                  <a:gd name="T7" fmla="*/ 65 h 128"/>
                  <a:gd name="T8" fmla="*/ 90 w 193"/>
                  <a:gd name="T9" fmla="*/ 54 h 128"/>
                  <a:gd name="T10" fmla="*/ 111 w 193"/>
                  <a:gd name="T11" fmla="*/ 42 h 128"/>
                  <a:gd name="T12" fmla="*/ 132 w 193"/>
                  <a:gd name="T13" fmla="*/ 28 h 128"/>
                  <a:gd name="T14" fmla="*/ 154 w 193"/>
                  <a:gd name="T15" fmla="*/ 13 h 128"/>
                  <a:gd name="T16" fmla="*/ 175 w 193"/>
                  <a:gd name="T17" fmla="*/ 0 h 128"/>
                  <a:gd name="T18" fmla="*/ 193 w 193"/>
                  <a:gd name="T19" fmla="*/ 25 h 128"/>
                  <a:gd name="T20" fmla="*/ 172 w 193"/>
                  <a:gd name="T21" fmla="*/ 41 h 128"/>
                  <a:gd name="T22" fmla="*/ 149 w 193"/>
                  <a:gd name="T23" fmla="*/ 56 h 128"/>
                  <a:gd name="T24" fmla="*/ 125 w 193"/>
                  <a:gd name="T25" fmla="*/ 68 h 128"/>
                  <a:gd name="T26" fmla="*/ 102 w 193"/>
                  <a:gd name="T27" fmla="*/ 82 h 128"/>
                  <a:gd name="T28" fmla="*/ 80 w 193"/>
                  <a:gd name="T29" fmla="*/ 94 h 128"/>
                  <a:gd name="T30" fmla="*/ 56 w 193"/>
                  <a:gd name="T31" fmla="*/ 107 h 128"/>
                  <a:gd name="T32" fmla="*/ 33 w 193"/>
                  <a:gd name="T33" fmla="*/ 119 h 128"/>
                  <a:gd name="T34" fmla="*/ 8 w 193"/>
                  <a:gd name="T35" fmla="*/ 128 h 128"/>
                  <a:gd name="T36" fmla="*/ 0 w 193"/>
                  <a:gd name="T37" fmla="*/ 98 h 12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3"/>
                  <a:gd name="T58" fmla="*/ 0 h 128"/>
                  <a:gd name="T59" fmla="*/ 193 w 193"/>
                  <a:gd name="T60" fmla="*/ 128 h 12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3" h="128">
                    <a:moveTo>
                      <a:pt x="0" y="98"/>
                    </a:moveTo>
                    <a:lnTo>
                      <a:pt x="22" y="87"/>
                    </a:lnTo>
                    <a:lnTo>
                      <a:pt x="45" y="77"/>
                    </a:lnTo>
                    <a:lnTo>
                      <a:pt x="66" y="65"/>
                    </a:lnTo>
                    <a:lnTo>
                      <a:pt x="90" y="54"/>
                    </a:lnTo>
                    <a:lnTo>
                      <a:pt x="111" y="42"/>
                    </a:lnTo>
                    <a:lnTo>
                      <a:pt x="132" y="28"/>
                    </a:lnTo>
                    <a:lnTo>
                      <a:pt x="154" y="13"/>
                    </a:lnTo>
                    <a:lnTo>
                      <a:pt x="175" y="0"/>
                    </a:lnTo>
                    <a:lnTo>
                      <a:pt x="193" y="25"/>
                    </a:lnTo>
                    <a:lnTo>
                      <a:pt x="172" y="41"/>
                    </a:lnTo>
                    <a:lnTo>
                      <a:pt x="149" y="56"/>
                    </a:lnTo>
                    <a:lnTo>
                      <a:pt x="125" y="68"/>
                    </a:lnTo>
                    <a:lnTo>
                      <a:pt x="102" y="82"/>
                    </a:lnTo>
                    <a:lnTo>
                      <a:pt x="80" y="94"/>
                    </a:lnTo>
                    <a:lnTo>
                      <a:pt x="56" y="107"/>
                    </a:lnTo>
                    <a:lnTo>
                      <a:pt x="33" y="119"/>
                    </a:lnTo>
                    <a:lnTo>
                      <a:pt x="8" y="128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88" name="Freeform 84"/>
              <p:cNvSpPr>
                <a:spLocks/>
              </p:cNvSpPr>
              <p:nvPr/>
            </p:nvSpPr>
            <p:spPr bwMode="auto">
              <a:xfrm>
                <a:off x="3540" y="3196"/>
                <a:ext cx="28" cy="40"/>
              </a:xfrm>
              <a:custGeom>
                <a:avLst/>
                <a:gdLst>
                  <a:gd name="T0" fmla="*/ 28 w 28"/>
                  <a:gd name="T1" fmla="*/ 31 h 40"/>
                  <a:gd name="T2" fmla="*/ 8 w 28"/>
                  <a:gd name="T3" fmla="*/ 40 h 40"/>
                  <a:gd name="T4" fmla="*/ 0 w 28"/>
                  <a:gd name="T5" fmla="*/ 9 h 40"/>
                  <a:gd name="T6" fmla="*/ 19 w 28"/>
                  <a:gd name="T7" fmla="*/ 0 h 40"/>
                  <a:gd name="T8" fmla="*/ 28 w 28"/>
                  <a:gd name="T9" fmla="*/ 31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40"/>
                  <a:gd name="T17" fmla="*/ 28 w 28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40">
                    <a:moveTo>
                      <a:pt x="28" y="31"/>
                    </a:moveTo>
                    <a:lnTo>
                      <a:pt x="8" y="40"/>
                    </a:lnTo>
                    <a:lnTo>
                      <a:pt x="0" y="9"/>
                    </a:lnTo>
                    <a:lnTo>
                      <a:pt x="19" y="0"/>
                    </a:lnTo>
                    <a:lnTo>
                      <a:pt x="28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89" name="Freeform 85"/>
              <p:cNvSpPr>
                <a:spLocks/>
              </p:cNvSpPr>
              <p:nvPr/>
            </p:nvSpPr>
            <p:spPr bwMode="auto">
              <a:xfrm>
                <a:off x="3818" y="2920"/>
                <a:ext cx="146" cy="133"/>
              </a:xfrm>
              <a:custGeom>
                <a:avLst/>
                <a:gdLst>
                  <a:gd name="T0" fmla="*/ 0 w 146"/>
                  <a:gd name="T1" fmla="*/ 81 h 133"/>
                  <a:gd name="T2" fmla="*/ 146 w 146"/>
                  <a:gd name="T3" fmla="*/ 0 h 133"/>
                  <a:gd name="T4" fmla="*/ 81 w 146"/>
                  <a:gd name="T5" fmla="*/ 133 h 133"/>
                  <a:gd name="T6" fmla="*/ 0 w 146"/>
                  <a:gd name="T7" fmla="*/ 81 h 1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6"/>
                  <a:gd name="T13" fmla="*/ 0 h 133"/>
                  <a:gd name="T14" fmla="*/ 146 w 146"/>
                  <a:gd name="T15" fmla="*/ 133 h 1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6" h="133">
                    <a:moveTo>
                      <a:pt x="0" y="81"/>
                    </a:moveTo>
                    <a:lnTo>
                      <a:pt x="146" y="0"/>
                    </a:lnTo>
                    <a:lnTo>
                      <a:pt x="81" y="133"/>
                    </a:lnTo>
                    <a:lnTo>
                      <a:pt x="0" y="81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90" name="Freeform 86"/>
              <p:cNvSpPr>
                <a:spLocks/>
              </p:cNvSpPr>
              <p:nvPr/>
            </p:nvSpPr>
            <p:spPr bwMode="auto">
              <a:xfrm>
                <a:off x="3814" y="2909"/>
                <a:ext cx="159" cy="97"/>
              </a:xfrm>
              <a:custGeom>
                <a:avLst/>
                <a:gdLst>
                  <a:gd name="T0" fmla="*/ 143 w 159"/>
                  <a:gd name="T1" fmla="*/ 11 h 97"/>
                  <a:gd name="T2" fmla="*/ 150 w 159"/>
                  <a:gd name="T3" fmla="*/ 15 h 97"/>
                  <a:gd name="T4" fmla="*/ 6 w 159"/>
                  <a:gd name="T5" fmla="*/ 97 h 97"/>
                  <a:gd name="T6" fmla="*/ 0 w 159"/>
                  <a:gd name="T7" fmla="*/ 90 h 97"/>
                  <a:gd name="T8" fmla="*/ 146 w 159"/>
                  <a:gd name="T9" fmla="*/ 8 h 97"/>
                  <a:gd name="T10" fmla="*/ 153 w 159"/>
                  <a:gd name="T11" fmla="*/ 11 h 97"/>
                  <a:gd name="T12" fmla="*/ 146 w 159"/>
                  <a:gd name="T13" fmla="*/ 8 h 97"/>
                  <a:gd name="T14" fmla="*/ 159 w 159"/>
                  <a:gd name="T15" fmla="*/ 0 h 97"/>
                  <a:gd name="T16" fmla="*/ 153 w 159"/>
                  <a:gd name="T17" fmla="*/ 11 h 97"/>
                  <a:gd name="T18" fmla="*/ 143 w 159"/>
                  <a:gd name="T19" fmla="*/ 11 h 9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59"/>
                  <a:gd name="T31" fmla="*/ 0 h 97"/>
                  <a:gd name="T32" fmla="*/ 159 w 159"/>
                  <a:gd name="T33" fmla="*/ 97 h 9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59" h="97">
                    <a:moveTo>
                      <a:pt x="143" y="11"/>
                    </a:moveTo>
                    <a:lnTo>
                      <a:pt x="150" y="15"/>
                    </a:lnTo>
                    <a:lnTo>
                      <a:pt x="6" y="97"/>
                    </a:lnTo>
                    <a:lnTo>
                      <a:pt x="0" y="90"/>
                    </a:lnTo>
                    <a:lnTo>
                      <a:pt x="146" y="8"/>
                    </a:lnTo>
                    <a:lnTo>
                      <a:pt x="153" y="11"/>
                    </a:lnTo>
                    <a:lnTo>
                      <a:pt x="146" y="8"/>
                    </a:lnTo>
                    <a:lnTo>
                      <a:pt x="159" y="0"/>
                    </a:lnTo>
                    <a:lnTo>
                      <a:pt x="153" y="11"/>
                    </a:lnTo>
                    <a:lnTo>
                      <a:pt x="143" y="11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91" name="Freeform 87"/>
              <p:cNvSpPr>
                <a:spLocks/>
              </p:cNvSpPr>
              <p:nvPr/>
            </p:nvSpPr>
            <p:spPr bwMode="auto">
              <a:xfrm>
                <a:off x="3893" y="2920"/>
                <a:ext cx="75" cy="140"/>
              </a:xfrm>
              <a:custGeom>
                <a:avLst/>
                <a:gdLst>
                  <a:gd name="T0" fmla="*/ 10 w 75"/>
                  <a:gd name="T1" fmla="*/ 127 h 140"/>
                  <a:gd name="T2" fmla="*/ 0 w 75"/>
                  <a:gd name="T3" fmla="*/ 131 h 140"/>
                  <a:gd name="T4" fmla="*/ 67 w 75"/>
                  <a:gd name="T5" fmla="*/ 0 h 140"/>
                  <a:gd name="T6" fmla="*/ 75 w 75"/>
                  <a:gd name="T7" fmla="*/ 1 h 140"/>
                  <a:gd name="T8" fmla="*/ 11 w 75"/>
                  <a:gd name="T9" fmla="*/ 133 h 140"/>
                  <a:gd name="T10" fmla="*/ 1 w 75"/>
                  <a:gd name="T11" fmla="*/ 136 h 140"/>
                  <a:gd name="T12" fmla="*/ 11 w 75"/>
                  <a:gd name="T13" fmla="*/ 133 h 140"/>
                  <a:gd name="T14" fmla="*/ 7 w 75"/>
                  <a:gd name="T15" fmla="*/ 140 h 140"/>
                  <a:gd name="T16" fmla="*/ 1 w 75"/>
                  <a:gd name="T17" fmla="*/ 136 h 140"/>
                  <a:gd name="T18" fmla="*/ 10 w 75"/>
                  <a:gd name="T19" fmla="*/ 127 h 1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5"/>
                  <a:gd name="T31" fmla="*/ 0 h 140"/>
                  <a:gd name="T32" fmla="*/ 75 w 75"/>
                  <a:gd name="T33" fmla="*/ 140 h 1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5" h="140">
                    <a:moveTo>
                      <a:pt x="10" y="127"/>
                    </a:moveTo>
                    <a:lnTo>
                      <a:pt x="0" y="131"/>
                    </a:lnTo>
                    <a:lnTo>
                      <a:pt x="67" y="0"/>
                    </a:lnTo>
                    <a:lnTo>
                      <a:pt x="75" y="1"/>
                    </a:lnTo>
                    <a:lnTo>
                      <a:pt x="11" y="133"/>
                    </a:lnTo>
                    <a:lnTo>
                      <a:pt x="1" y="136"/>
                    </a:lnTo>
                    <a:lnTo>
                      <a:pt x="11" y="133"/>
                    </a:lnTo>
                    <a:lnTo>
                      <a:pt x="7" y="140"/>
                    </a:lnTo>
                    <a:lnTo>
                      <a:pt x="1" y="136"/>
                    </a:lnTo>
                    <a:lnTo>
                      <a:pt x="10" y="127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92" name="Freeform 88"/>
              <p:cNvSpPr>
                <a:spLocks/>
              </p:cNvSpPr>
              <p:nvPr/>
            </p:nvSpPr>
            <p:spPr bwMode="auto">
              <a:xfrm>
                <a:off x="3807" y="2996"/>
                <a:ext cx="94" cy="60"/>
              </a:xfrm>
              <a:custGeom>
                <a:avLst/>
                <a:gdLst>
                  <a:gd name="T0" fmla="*/ 11 w 94"/>
                  <a:gd name="T1" fmla="*/ 8 h 60"/>
                  <a:gd name="T2" fmla="*/ 14 w 94"/>
                  <a:gd name="T3" fmla="*/ 0 h 60"/>
                  <a:gd name="T4" fmla="*/ 94 w 94"/>
                  <a:gd name="T5" fmla="*/ 52 h 60"/>
                  <a:gd name="T6" fmla="*/ 85 w 94"/>
                  <a:gd name="T7" fmla="*/ 60 h 60"/>
                  <a:gd name="T8" fmla="*/ 4 w 94"/>
                  <a:gd name="T9" fmla="*/ 9 h 60"/>
                  <a:gd name="T10" fmla="*/ 6 w 94"/>
                  <a:gd name="T11" fmla="*/ 2 h 60"/>
                  <a:gd name="T12" fmla="*/ 4 w 94"/>
                  <a:gd name="T13" fmla="*/ 9 h 60"/>
                  <a:gd name="T14" fmla="*/ 0 w 94"/>
                  <a:gd name="T15" fmla="*/ 6 h 60"/>
                  <a:gd name="T16" fmla="*/ 6 w 94"/>
                  <a:gd name="T17" fmla="*/ 2 h 60"/>
                  <a:gd name="T18" fmla="*/ 11 w 94"/>
                  <a:gd name="T19" fmla="*/ 8 h 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4"/>
                  <a:gd name="T31" fmla="*/ 0 h 60"/>
                  <a:gd name="T32" fmla="*/ 94 w 94"/>
                  <a:gd name="T33" fmla="*/ 60 h 6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4" h="60">
                    <a:moveTo>
                      <a:pt x="11" y="8"/>
                    </a:moveTo>
                    <a:lnTo>
                      <a:pt x="14" y="0"/>
                    </a:lnTo>
                    <a:lnTo>
                      <a:pt x="94" y="52"/>
                    </a:lnTo>
                    <a:lnTo>
                      <a:pt x="85" y="60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4" y="9"/>
                    </a:lnTo>
                    <a:lnTo>
                      <a:pt x="0" y="6"/>
                    </a:lnTo>
                    <a:lnTo>
                      <a:pt x="6" y="2"/>
                    </a:lnTo>
                    <a:lnTo>
                      <a:pt x="11" y="8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93" name="Freeform 89"/>
              <p:cNvSpPr>
                <a:spLocks/>
              </p:cNvSpPr>
              <p:nvPr/>
            </p:nvSpPr>
            <p:spPr bwMode="auto">
              <a:xfrm>
                <a:off x="3904" y="2952"/>
                <a:ext cx="37" cy="27"/>
              </a:xfrm>
              <a:custGeom>
                <a:avLst/>
                <a:gdLst>
                  <a:gd name="T0" fmla="*/ 0 w 37"/>
                  <a:gd name="T1" fmla="*/ 13 h 27"/>
                  <a:gd name="T2" fmla="*/ 13 w 37"/>
                  <a:gd name="T3" fmla="*/ 0 h 27"/>
                  <a:gd name="T4" fmla="*/ 37 w 37"/>
                  <a:gd name="T5" fmla="*/ 13 h 27"/>
                  <a:gd name="T6" fmla="*/ 25 w 37"/>
                  <a:gd name="T7" fmla="*/ 27 h 27"/>
                  <a:gd name="T8" fmla="*/ 0 w 37"/>
                  <a:gd name="T9" fmla="*/ 13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27"/>
                  <a:gd name="T17" fmla="*/ 37 w 37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27">
                    <a:moveTo>
                      <a:pt x="0" y="13"/>
                    </a:moveTo>
                    <a:lnTo>
                      <a:pt x="13" y="0"/>
                    </a:lnTo>
                    <a:lnTo>
                      <a:pt x="37" y="13"/>
                    </a:lnTo>
                    <a:lnTo>
                      <a:pt x="25" y="27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94" name="Freeform 90"/>
              <p:cNvSpPr>
                <a:spLocks/>
              </p:cNvSpPr>
              <p:nvPr/>
            </p:nvSpPr>
            <p:spPr bwMode="auto">
              <a:xfrm>
                <a:off x="3743" y="2964"/>
                <a:ext cx="187" cy="160"/>
              </a:xfrm>
              <a:custGeom>
                <a:avLst/>
                <a:gdLst>
                  <a:gd name="T0" fmla="*/ 0 w 187"/>
                  <a:gd name="T1" fmla="*/ 138 h 160"/>
                  <a:gd name="T2" fmla="*/ 0 w 187"/>
                  <a:gd name="T3" fmla="*/ 138 h 160"/>
                  <a:gd name="T4" fmla="*/ 23 w 187"/>
                  <a:gd name="T5" fmla="*/ 121 h 160"/>
                  <a:gd name="T6" fmla="*/ 47 w 187"/>
                  <a:gd name="T7" fmla="*/ 106 h 160"/>
                  <a:gd name="T8" fmla="*/ 66 w 187"/>
                  <a:gd name="T9" fmla="*/ 89 h 160"/>
                  <a:gd name="T10" fmla="*/ 88 w 187"/>
                  <a:gd name="T11" fmla="*/ 72 h 160"/>
                  <a:gd name="T12" fmla="*/ 108 w 187"/>
                  <a:gd name="T13" fmla="*/ 56 h 160"/>
                  <a:gd name="T14" fmla="*/ 126 w 187"/>
                  <a:gd name="T15" fmla="*/ 39 h 160"/>
                  <a:gd name="T16" fmla="*/ 145 w 187"/>
                  <a:gd name="T17" fmla="*/ 20 h 160"/>
                  <a:gd name="T18" fmla="*/ 163 w 187"/>
                  <a:gd name="T19" fmla="*/ 0 h 160"/>
                  <a:gd name="T20" fmla="*/ 187 w 187"/>
                  <a:gd name="T21" fmla="*/ 13 h 160"/>
                  <a:gd name="T22" fmla="*/ 167 w 187"/>
                  <a:gd name="T23" fmla="*/ 35 h 160"/>
                  <a:gd name="T24" fmla="*/ 148 w 187"/>
                  <a:gd name="T25" fmla="*/ 54 h 160"/>
                  <a:gd name="T26" fmla="*/ 128 w 187"/>
                  <a:gd name="T27" fmla="*/ 72 h 160"/>
                  <a:gd name="T28" fmla="*/ 106 w 187"/>
                  <a:gd name="T29" fmla="*/ 90 h 160"/>
                  <a:gd name="T30" fmla="*/ 85 w 187"/>
                  <a:gd name="T31" fmla="*/ 108 h 160"/>
                  <a:gd name="T32" fmla="*/ 64 w 187"/>
                  <a:gd name="T33" fmla="*/ 124 h 160"/>
                  <a:gd name="T34" fmla="*/ 40 w 187"/>
                  <a:gd name="T35" fmla="*/ 141 h 160"/>
                  <a:gd name="T36" fmla="*/ 15 w 187"/>
                  <a:gd name="T37" fmla="*/ 160 h 160"/>
                  <a:gd name="T38" fmla="*/ 0 w 187"/>
                  <a:gd name="T39" fmla="*/ 138 h 16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87"/>
                  <a:gd name="T61" fmla="*/ 0 h 160"/>
                  <a:gd name="T62" fmla="*/ 187 w 187"/>
                  <a:gd name="T63" fmla="*/ 160 h 16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87" h="160">
                    <a:moveTo>
                      <a:pt x="0" y="138"/>
                    </a:moveTo>
                    <a:lnTo>
                      <a:pt x="0" y="138"/>
                    </a:lnTo>
                    <a:lnTo>
                      <a:pt x="23" y="121"/>
                    </a:lnTo>
                    <a:lnTo>
                      <a:pt x="47" y="106"/>
                    </a:lnTo>
                    <a:lnTo>
                      <a:pt x="66" y="89"/>
                    </a:lnTo>
                    <a:lnTo>
                      <a:pt x="88" y="72"/>
                    </a:lnTo>
                    <a:lnTo>
                      <a:pt x="108" y="56"/>
                    </a:lnTo>
                    <a:lnTo>
                      <a:pt x="126" y="39"/>
                    </a:lnTo>
                    <a:lnTo>
                      <a:pt x="145" y="20"/>
                    </a:lnTo>
                    <a:lnTo>
                      <a:pt x="163" y="0"/>
                    </a:lnTo>
                    <a:lnTo>
                      <a:pt x="187" y="13"/>
                    </a:lnTo>
                    <a:lnTo>
                      <a:pt x="167" y="35"/>
                    </a:lnTo>
                    <a:lnTo>
                      <a:pt x="148" y="54"/>
                    </a:lnTo>
                    <a:lnTo>
                      <a:pt x="128" y="72"/>
                    </a:lnTo>
                    <a:lnTo>
                      <a:pt x="106" y="90"/>
                    </a:lnTo>
                    <a:lnTo>
                      <a:pt x="85" y="108"/>
                    </a:lnTo>
                    <a:lnTo>
                      <a:pt x="64" y="124"/>
                    </a:lnTo>
                    <a:lnTo>
                      <a:pt x="40" y="141"/>
                    </a:lnTo>
                    <a:lnTo>
                      <a:pt x="15" y="16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95" name="Freeform 91"/>
              <p:cNvSpPr>
                <a:spLocks/>
              </p:cNvSpPr>
              <p:nvPr/>
            </p:nvSpPr>
            <p:spPr bwMode="auto">
              <a:xfrm>
                <a:off x="3561" y="3101"/>
                <a:ext cx="191" cy="125"/>
              </a:xfrm>
              <a:custGeom>
                <a:avLst/>
                <a:gdLst>
                  <a:gd name="T0" fmla="*/ 0 w 191"/>
                  <a:gd name="T1" fmla="*/ 100 h 125"/>
                  <a:gd name="T2" fmla="*/ 22 w 191"/>
                  <a:gd name="T3" fmla="*/ 89 h 125"/>
                  <a:gd name="T4" fmla="*/ 45 w 191"/>
                  <a:gd name="T5" fmla="*/ 78 h 125"/>
                  <a:gd name="T6" fmla="*/ 67 w 191"/>
                  <a:gd name="T7" fmla="*/ 66 h 125"/>
                  <a:gd name="T8" fmla="*/ 89 w 191"/>
                  <a:gd name="T9" fmla="*/ 56 h 125"/>
                  <a:gd name="T10" fmla="*/ 111 w 191"/>
                  <a:gd name="T11" fmla="*/ 42 h 125"/>
                  <a:gd name="T12" fmla="*/ 132 w 191"/>
                  <a:gd name="T13" fmla="*/ 30 h 125"/>
                  <a:gd name="T14" fmla="*/ 155 w 191"/>
                  <a:gd name="T15" fmla="*/ 15 h 125"/>
                  <a:gd name="T16" fmla="*/ 176 w 191"/>
                  <a:gd name="T17" fmla="*/ 0 h 125"/>
                  <a:gd name="T18" fmla="*/ 191 w 191"/>
                  <a:gd name="T19" fmla="*/ 22 h 125"/>
                  <a:gd name="T20" fmla="*/ 170 w 191"/>
                  <a:gd name="T21" fmla="*/ 36 h 125"/>
                  <a:gd name="T22" fmla="*/ 147 w 191"/>
                  <a:gd name="T23" fmla="*/ 51 h 125"/>
                  <a:gd name="T24" fmla="*/ 125 w 191"/>
                  <a:gd name="T25" fmla="*/ 64 h 125"/>
                  <a:gd name="T26" fmla="*/ 100 w 191"/>
                  <a:gd name="T27" fmla="*/ 78 h 125"/>
                  <a:gd name="T28" fmla="*/ 77 w 191"/>
                  <a:gd name="T29" fmla="*/ 91 h 125"/>
                  <a:gd name="T30" fmla="*/ 54 w 191"/>
                  <a:gd name="T31" fmla="*/ 103 h 125"/>
                  <a:gd name="T32" fmla="*/ 31 w 191"/>
                  <a:gd name="T33" fmla="*/ 114 h 125"/>
                  <a:gd name="T34" fmla="*/ 6 w 191"/>
                  <a:gd name="T35" fmla="*/ 125 h 125"/>
                  <a:gd name="T36" fmla="*/ 0 w 191"/>
                  <a:gd name="T37" fmla="*/ 100 h 12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1"/>
                  <a:gd name="T58" fmla="*/ 0 h 125"/>
                  <a:gd name="T59" fmla="*/ 191 w 191"/>
                  <a:gd name="T60" fmla="*/ 125 h 12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1" h="125">
                    <a:moveTo>
                      <a:pt x="0" y="100"/>
                    </a:moveTo>
                    <a:lnTo>
                      <a:pt x="22" y="89"/>
                    </a:lnTo>
                    <a:lnTo>
                      <a:pt x="45" y="78"/>
                    </a:lnTo>
                    <a:lnTo>
                      <a:pt x="67" y="66"/>
                    </a:lnTo>
                    <a:lnTo>
                      <a:pt x="89" y="56"/>
                    </a:lnTo>
                    <a:lnTo>
                      <a:pt x="111" y="42"/>
                    </a:lnTo>
                    <a:lnTo>
                      <a:pt x="132" y="30"/>
                    </a:lnTo>
                    <a:lnTo>
                      <a:pt x="155" y="15"/>
                    </a:lnTo>
                    <a:lnTo>
                      <a:pt x="176" y="0"/>
                    </a:lnTo>
                    <a:lnTo>
                      <a:pt x="191" y="22"/>
                    </a:lnTo>
                    <a:lnTo>
                      <a:pt x="170" y="36"/>
                    </a:lnTo>
                    <a:lnTo>
                      <a:pt x="147" y="51"/>
                    </a:lnTo>
                    <a:lnTo>
                      <a:pt x="125" y="64"/>
                    </a:lnTo>
                    <a:lnTo>
                      <a:pt x="100" y="78"/>
                    </a:lnTo>
                    <a:lnTo>
                      <a:pt x="77" y="91"/>
                    </a:lnTo>
                    <a:lnTo>
                      <a:pt x="54" y="103"/>
                    </a:lnTo>
                    <a:lnTo>
                      <a:pt x="31" y="114"/>
                    </a:lnTo>
                    <a:lnTo>
                      <a:pt x="6" y="125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96" name="Freeform 92"/>
              <p:cNvSpPr>
                <a:spLocks/>
              </p:cNvSpPr>
              <p:nvPr/>
            </p:nvSpPr>
            <p:spPr bwMode="auto">
              <a:xfrm>
                <a:off x="3545" y="3199"/>
                <a:ext cx="22" cy="34"/>
              </a:xfrm>
              <a:custGeom>
                <a:avLst/>
                <a:gdLst>
                  <a:gd name="T0" fmla="*/ 22 w 22"/>
                  <a:gd name="T1" fmla="*/ 27 h 34"/>
                  <a:gd name="T2" fmla="*/ 5 w 22"/>
                  <a:gd name="T3" fmla="*/ 34 h 34"/>
                  <a:gd name="T4" fmla="*/ 0 w 22"/>
                  <a:gd name="T5" fmla="*/ 8 h 34"/>
                  <a:gd name="T6" fmla="*/ 16 w 22"/>
                  <a:gd name="T7" fmla="*/ 0 h 34"/>
                  <a:gd name="T8" fmla="*/ 22 w 22"/>
                  <a:gd name="T9" fmla="*/ 27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34"/>
                  <a:gd name="T17" fmla="*/ 22 w 22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34">
                    <a:moveTo>
                      <a:pt x="22" y="27"/>
                    </a:moveTo>
                    <a:lnTo>
                      <a:pt x="5" y="34"/>
                    </a:lnTo>
                    <a:lnTo>
                      <a:pt x="0" y="8"/>
                    </a:lnTo>
                    <a:lnTo>
                      <a:pt x="16" y="0"/>
                    </a:lnTo>
                    <a:lnTo>
                      <a:pt x="22" y="27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97" name="Freeform 93"/>
              <p:cNvSpPr>
                <a:spLocks/>
              </p:cNvSpPr>
              <p:nvPr/>
            </p:nvSpPr>
            <p:spPr bwMode="auto">
              <a:xfrm>
                <a:off x="4033" y="1825"/>
                <a:ext cx="102" cy="162"/>
              </a:xfrm>
              <a:custGeom>
                <a:avLst/>
                <a:gdLst>
                  <a:gd name="T0" fmla="*/ 22 w 102"/>
                  <a:gd name="T1" fmla="*/ 162 h 162"/>
                  <a:gd name="T2" fmla="*/ 0 w 102"/>
                  <a:gd name="T3" fmla="*/ 0 h 162"/>
                  <a:gd name="T4" fmla="*/ 102 w 102"/>
                  <a:gd name="T5" fmla="*/ 120 h 162"/>
                  <a:gd name="T6" fmla="*/ 22 w 102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2"/>
                  <a:gd name="T13" fmla="*/ 0 h 162"/>
                  <a:gd name="T14" fmla="*/ 102 w 102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2" h="162">
                    <a:moveTo>
                      <a:pt x="22" y="162"/>
                    </a:moveTo>
                    <a:lnTo>
                      <a:pt x="0" y="0"/>
                    </a:lnTo>
                    <a:lnTo>
                      <a:pt x="102" y="120"/>
                    </a:lnTo>
                    <a:lnTo>
                      <a:pt x="22" y="1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98" name="Freeform 94"/>
              <p:cNvSpPr>
                <a:spLocks/>
              </p:cNvSpPr>
              <p:nvPr/>
            </p:nvSpPr>
            <p:spPr bwMode="auto">
              <a:xfrm>
                <a:off x="4022" y="1801"/>
                <a:ext cx="40" cy="186"/>
              </a:xfrm>
              <a:custGeom>
                <a:avLst/>
                <a:gdLst>
                  <a:gd name="T0" fmla="*/ 6 w 40"/>
                  <a:gd name="T1" fmla="*/ 32 h 186"/>
                  <a:gd name="T2" fmla="*/ 19 w 40"/>
                  <a:gd name="T3" fmla="*/ 26 h 186"/>
                  <a:gd name="T4" fmla="*/ 40 w 40"/>
                  <a:gd name="T5" fmla="*/ 186 h 186"/>
                  <a:gd name="T6" fmla="*/ 24 w 40"/>
                  <a:gd name="T7" fmla="*/ 185 h 186"/>
                  <a:gd name="T8" fmla="*/ 3 w 40"/>
                  <a:gd name="T9" fmla="*/ 25 h 186"/>
                  <a:gd name="T10" fmla="*/ 14 w 40"/>
                  <a:gd name="T11" fmla="*/ 18 h 186"/>
                  <a:gd name="T12" fmla="*/ 3 w 40"/>
                  <a:gd name="T13" fmla="*/ 25 h 186"/>
                  <a:gd name="T14" fmla="*/ 0 w 40"/>
                  <a:gd name="T15" fmla="*/ 0 h 186"/>
                  <a:gd name="T16" fmla="*/ 14 w 40"/>
                  <a:gd name="T17" fmla="*/ 18 h 186"/>
                  <a:gd name="T18" fmla="*/ 6 w 40"/>
                  <a:gd name="T19" fmla="*/ 32 h 18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0"/>
                  <a:gd name="T31" fmla="*/ 0 h 186"/>
                  <a:gd name="T32" fmla="*/ 40 w 40"/>
                  <a:gd name="T33" fmla="*/ 186 h 18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0" h="186">
                    <a:moveTo>
                      <a:pt x="6" y="32"/>
                    </a:moveTo>
                    <a:lnTo>
                      <a:pt x="19" y="26"/>
                    </a:lnTo>
                    <a:lnTo>
                      <a:pt x="40" y="186"/>
                    </a:lnTo>
                    <a:lnTo>
                      <a:pt x="24" y="185"/>
                    </a:lnTo>
                    <a:lnTo>
                      <a:pt x="3" y="25"/>
                    </a:lnTo>
                    <a:lnTo>
                      <a:pt x="14" y="18"/>
                    </a:lnTo>
                    <a:lnTo>
                      <a:pt x="3" y="25"/>
                    </a:lnTo>
                    <a:lnTo>
                      <a:pt x="0" y="0"/>
                    </a:lnTo>
                    <a:lnTo>
                      <a:pt x="14" y="18"/>
                    </a:lnTo>
                    <a:lnTo>
                      <a:pt x="6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799" name="Freeform 95"/>
              <p:cNvSpPr>
                <a:spLocks/>
              </p:cNvSpPr>
              <p:nvPr/>
            </p:nvSpPr>
            <p:spPr bwMode="auto">
              <a:xfrm>
                <a:off x="4029" y="1818"/>
                <a:ext cx="120" cy="135"/>
              </a:xfrm>
              <a:custGeom>
                <a:avLst/>
                <a:gdLst>
                  <a:gd name="T0" fmla="*/ 102 w 120"/>
                  <a:gd name="T1" fmla="*/ 116 h 135"/>
                  <a:gd name="T2" fmla="*/ 102 w 120"/>
                  <a:gd name="T3" fmla="*/ 133 h 135"/>
                  <a:gd name="T4" fmla="*/ 0 w 120"/>
                  <a:gd name="T5" fmla="*/ 14 h 135"/>
                  <a:gd name="T6" fmla="*/ 9 w 120"/>
                  <a:gd name="T7" fmla="*/ 0 h 135"/>
                  <a:gd name="T8" fmla="*/ 109 w 120"/>
                  <a:gd name="T9" fmla="*/ 119 h 135"/>
                  <a:gd name="T10" fmla="*/ 109 w 120"/>
                  <a:gd name="T11" fmla="*/ 135 h 135"/>
                  <a:gd name="T12" fmla="*/ 109 w 120"/>
                  <a:gd name="T13" fmla="*/ 119 h 135"/>
                  <a:gd name="T14" fmla="*/ 120 w 120"/>
                  <a:gd name="T15" fmla="*/ 128 h 135"/>
                  <a:gd name="T16" fmla="*/ 109 w 120"/>
                  <a:gd name="T17" fmla="*/ 135 h 135"/>
                  <a:gd name="T18" fmla="*/ 102 w 120"/>
                  <a:gd name="T19" fmla="*/ 116 h 13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0"/>
                  <a:gd name="T31" fmla="*/ 0 h 135"/>
                  <a:gd name="T32" fmla="*/ 120 w 120"/>
                  <a:gd name="T33" fmla="*/ 135 h 13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0" h="135">
                    <a:moveTo>
                      <a:pt x="102" y="116"/>
                    </a:moveTo>
                    <a:lnTo>
                      <a:pt x="102" y="133"/>
                    </a:lnTo>
                    <a:lnTo>
                      <a:pt x="0" y="14"/>
                    </a:lnTo>
                    <a:lnTo>
                      <a:pt x="9" y="0"/>
                    </a:lnTo>
                    <a:lnTo>
                      <a:pt x="109" y="119"/>
                    </a:lnTo>
                    <a:lnTo>
                      <a:pt x="109" y="135"/>
                    </a:lnTo>
                    <a:lnTo>
                      <a:pt x="109" y="119"/>
                    </a:lnTo>
                    <a:lnTo>
                      <a:pt x="120" y="128"/>
                    </a:lnTo>
                    <a:lnTo>
                      <a:pt x="109" y="135"/>
                    </a:lnTo>
                    <a:lnTo>
                      <a:pt x="102" y="1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00" name="Freeform 96"/>
              <p:cNvSpPr>
                <a:spLocks/>
              </p:cNvSpPr>
              <p:nvPr/>
            </p:nvSpPr>
            <p:spPr bwMode="auto">
              <a:xfrm>
                <a:off x="4047" y="1935"/>
                <a:ext cx="93" cy="67"/>
              </a:xfrm>
              <a:custGeom>
                <a:avLst/>
                <a:gdLst>
                  <a:gd name="T0" fmla="*/ 16 w 93"/>
                  <a:gd name="T1" fmla="*/ 53 h 67"/>
                  <a:gd name="T2" fmla="*/ 4 w 93"/>
                  <a:gd name="T3" fmla="*/ 43 h 67"/>
                  <a:gd name="T4" fmla="*/ 85 w 93"/>
                  <a:gd name="T5" fmla="*/ 0 h 67"/>
                  <a:gd name="T6" fmla="*/ 93 w 93"/>
                  <a:gd name="T7" fmla="*/ 19 h 67"/>
                  <a:gd name="T8" fmla="*/ 13 w 93"/>
                  <a:gd name="T9" fmla="*/ 63 h 67"/>
                  <a:gd name="T10" fmla="*/ 0 w 93"/>
                  <a:gd name="T11" fmla="*/ 52 h 67"/>
                  <a:gd name="T12" fmla="*/ 13 w 93"/>
                  <a:gd name="T13" fmla="*/ 63 h 67"/>
                  <a:gd name="T14" fmla="*/ 2 w 93"/>
                  <a:gd name="T15" fmla="*/ 67 h 67"/>
                  <a:gd name="T16" fmla="*/ 0 w 93"/>
                  <a:gd name="T17" fmla="*/ 52 h 67"/>
                  <a:gd name="T18" fmla="*/ 16 w 93"/>
                  <a:gd name="T19" fmla="*/ 53 h 6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3"/>
                  <a:gd name="T31" fmla="*/ 0 h 67"/>
                  <a:gd name="T32" fmla="*/ 93 w 93"/>
                  <a:gd name="T33" fmla="*/ 67 h 6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3" h="67">
                    <a:moveTo>
                      <a:pt x="16" y="53"/>
                    </a:moveTo>
                    <a:lnTo>
                      <a:pt x="4" y="43"/>
                    </a:lnTo>
                    <a:lnTo>
                      <a:pt x="85" y="0"/>
                    </a:lnTo>
                    <a:lnTo>
                      <a:pt x="93" y="19"/>
                    </a:lnTo>
                    <a:lnTo>
                      <a:pt x="13" y="63"/>
                    </a:lnTo>
                    <a:lnTo>
                      <a:pt x="0" y="52"/>
                    </a:lnTo>
                    <a:lnTo>
                      <a:pt x="13" y="63"/>
                    </a:lnTo>
                    <a:lnTo>
                      <a:pt x="2" y="67"/>
                    </a:lnTo>
                    <a:lnTo>
                      <a:pt x="0" y="52"/>
                    </a:lnTo>
                    <a:lnTo>
                      <a:pt x="16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01" name="Freeform 97"/>
              <p:cNvSpPr>
                <a:spLocks/>
              </p:cNvSpPr>
              <p:nvPr/>
            </p:nvSpPr>
            <p:spPr bwMode="auto">
              <a:xfrm>
                <a:off x="4032" y="1845"/>
                <a:ext cx="39" cy="37"/>
              </a:xfrm>
              <a:custGeom>
                <a:avLst/>
                <a:gdLst>
                  <a:gd name="T0" fmla="*/ 11 w 39"/>
                  <a:gd name="T1" fmla="*/ 37 h 37"/>
                  <a:gd name="T2" fmla="*/ 0 w 39"/>
                  <a:gd name="T3" fmla="*/ 17 h 37"/>
                  <a:gd name="T4" fmla="*/ 28 w 39"/>
                  <a:gd name="T5" fmla="*/ 0 h 37"/>
                  <a:gd name="T6" fmla="*/ 39 w 39"/>
                  <a:gd name="T7" fmla="*/ 20 h 37"/>
                  <a:gd name="T8" fmla="*/ 11 w 39"/>
                  <a:gd name="T9" fmla="*/ 37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9"/>
                  <a:gd name="T16" fmla="*/ 0 h 37"/>
                  <a:gd name="T17" fmla="*/ 39 w 39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9" h="37">
                    <a:moveTo>
                      <a:pt x="11" y="37"/>
                    </a:moveTo>
                    <a:lnTo>
                      <a:pt x="0" y="17"/>
                    </a:lnTo>
                    <a:lnTo>
                      <a:pt x="28" y="0"/>
                    </a:lnTo>
                    <a:lnTo>
                      <a:pt x="39" y="20"/>
                    </a:lnTo>
                    <a:lnTo>
                      <a:pt x="11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02" name="Freeform 98"/>
              <p:cNvSpPr>
                <a:spLocks/>
              </p:cNvSpPr>
              <p:nvPr/>
            </p:nvSpPr>
            <p:spPr bwMode="auto">
              <a:xfrm>
                <a:off x="4046" y="1869"/>
                <a:ext cx="108" cy="231"/>
              </a:xfrm>
              <a:custGeom>
                <a:avLst/>
                <a:gdLst>
                  <a:gd name="T0" fmla="*/ 77 w 108"/>
                  <a:gd name="T1" fmla="*/ 231 h 231"/>
                  <a:gd name="T2" fmla="*/ 77 w 108"/>
                  <a:gd name="T3" fmla="*/ 231 h 231"/>
                  <a:gd name="T4" fmla="*/ 62 w 108"/>
                  <a:gd name="T5" fmla="*/ 176 h 231"/>
                  <a:gd name="T6" fmla="*/ 44 w 108"/>
                  <a:gd name="T7" fmla="*/ 120 h 231"/>
                  <a:gd name="T8" fmla="*/ 24 w 108"/>
                  <a:gd name="T9" fmla="*/ 68 h 231"/>
                  <a:gd name="T10" fmla="*/ 0 w 108"/>
                  <a:gd name="T11" fmla="*/ 16 h 231"/>
                  <a:gd name="T12" fmla="*/ 27 w 108"/>
                  <a:gd name="T13" fmla="*/ 0 h 231"/>
                  <a:gd name="T14" fmla="*/ 52 w 108"/>
                  <a:gd name="T15" fmla="*/ 55 h 231"/>
                  <a:gd name="T16" fmla="*/ 73 w 108"/>
                  <a:gd name="T17" fmla="*/ 110 h 231"/>
                  <a:gd name="T18" fmla="*/ 92 w 108"/>
                  <a:gd name="T19" fmla="*/ 168 h 231"/>
                  <a:gd name="T20" fmla="*/ 108 w 108"/>
                  <a:gd name="T21" fmla="*/ 228 h 231"/>
                  <a:gd name="T22" fmla="*/ 77 w 108"/>
                  <a:gd name="T23" fmla="*/ 231 h 23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08"/>
                  <a:gd name="T37" fmla="*/ 0 h 231"/>
                  <a:gd name="T38" fmla="*/ 108 w 108"/>
                  <a:gd name="T39" fmla="*/ 231 h 23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08" h="231">
                    <a:moveTo>
                      <a:pt x="77" y="231"/>
                    </a:moveTo>
                    <a:lnTo>
                      <a:pt x="77" y="231"/>
                    </a:lnTo>
                    <a:lnTo>
                      <a:pt x="62" y="176"/>
                    </a:lnTo>
                    <a:lnTo>
                      <a:pt x="44" y="120"/>
                    </a:lnTo>
                    <a:lnTo>
                      <a:pt x="24" y="68"/>
                    </a:lnTo>
                    <a:lnTo>
                      <a:pt x="0" y="16"/>
                    </a:lnTo>
                    <a:lnTo>
                      <a:pt x="27" y="0"/>
                    </a:lnTo>
                    <a:lnTo>
                      <a:pt x="52" y="55"/>
                    </a:lnTo>
                    <a:lnTo>
                      <a:pt x="73" y="110"/>
                    </a:lnTo>
                    <a:lnTo>
                      <a:pt x="92" y="168"/>
                    </a:lnTo>
                    <a:lnTo>
                      <a:pt x="108" y="228"/>
                    </a:lnTo>
                    <a:lnTo>
                      <a:pt x="77" y="2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03" name="Freeform 99"/>
              <p:cNvSpPr>
                <a:spLocks/>
              </p:cNvSpPr>
              <p:nvPr/>
            </p:nvSpPr>
            <p:spPr bwMode="auto">
              <a:xfrm>
                <a:off x="4127" y="2097"/>
                <a:ext cx="59" cy="206"/>
              </a:xfrm>
              <a:custGeom>
                <a:avLst/>
                <a:gdLst>
                  <a:gd name="T0" fmla="*/ 24 w 59"/>
                  <a:gd name="T1" fmla="*/ 199 h 206"/>
                  <a:gd name="T2" fmla="*/ 24 w 59"/>
                  <a:gd name="T3" fmla="*/ 174 h 206"/>
                  <a:gd name="T4" fmla="*/ 23 w 59"/>
                  <a:gd name="T5" fmla="*/ 151 h 206"/>
                  <a:gd name="T6" fmla="*/ 21 w 59"/>
                  <a:gd name="T7" fmla="*/ 127 h 206"/>
                  <a:gd name="T8" fmla="*/ 17 w 59"/>
                  <a:gd name="T9" fmla="*/ 103 h 206"/>
                  <a:gd name="T10" fmla="*/ 15 w 59"/>
                  <a:gd name="T11" fmla="*/ 78 h 206"/>
                  <a:gd name="T12" fmla="*/ 11 w 59"/>
                  <a:gd name="T13" fmla="*/ 54 h 206"/>
                  <a:gd name="T14" fmla="*/ 6 w 59"/>
                  <a:gd name="T15" fmla="*/ 30 h 206"/>
                  <a:gd name="T16" fmla="*/ 0 w 59"/>
                  <a:gd name="T17" fmla="*/ 4 h 206"/>
                  <a:gd name="T18" fmla="*/ 33 w 59"/>
                  <a:gd name="T19" fmla="*/ 0 h 206"/>
                  <a:gd name="T20" fmla="*/ 39 w 59"/>
                  <a:gd name="T21" fmla="*/ 26 h 206"/>
                  <a:gd name="T22" fmla="*/ 43 w 59"/>
                  <a:gd name="T23" fmla="*/ 53 h 206"/>
                  <a:gd name="T24" fmla="*/ 48 w 59"/>
                  <a:gd name="T25" fmla="*/ 79 h 206"/>
                  <a:gd name="T26" fmla="*/ 52 w 59"/>
                  <a:gd name="T27" fmla="*/ 105 h 206"/>
                  <a:gd name="T28" fmla="*/ 54 w 59"/>
                  <a:gd name="T29" fmla="*/ 130 h 206"/>
                  <a:gd name="T30" fmla="*/ 57 w 59"/>
                  <a:gd name="T31" fmla="*/ 155 h 206"/>
                  <a:gd name="T32" fmla="*/ 58 w 59"/>
                  <a:gd name="T33" fmla="*/ 182 h 206"/>
                  <a:gd name="T34" fmla="*/ 59 w 59"/>
                  <a:gd name="T35" fmla="*/ 206 h 206"/>
                  <a:gd name="T36" fmla="*/ 24 w 59"/>
                  <a:gd name="T37" fmla="*/ 199 h 2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9"/>
                  <a:gd name="T58" fmla="*/ 0 h 206"/>
                  <a:gd name="T59" fmla="*/ 59 w 59"/>
                  <a:gd name="T60" fmla="*/ 206 h 2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9" h="206">
                    <a:moveTo>
                      <a:pt x="24" y="199"/>
                    </a:moveTo>
                    <a:lnTo>
                      <a:pt x="24" y="174"/>
                    </a:lnTo>
                    <a:lnTo>
                      <a:pt x="23" y="151"/>
                    </a:lnTo>
                    <a:lnTo>
                      <a:pt x="21" y="127"/>
                    </a:lnTo>
                    <a:lnTo>
                      <a:pt x="17" y="103"/>
                    </a:lnTo>
                    <a:lnTo>
                      <a:pt x="15" y="78"/>
                    </a:lnTo>
                    <a:lnTo>
                      <a:pt x="11" y="54"/>
                    </a:lnTo>
                    <a:lnTo>
                      <a:pt x="6" y="30"/>
                    </a:lnTo>
                    <a:lnTo>
                      <a:pt x="0" y="4"/>
                    </a:lnTo>
                    <a:lnTo>
                      <a:pt x="33" y="0"/>
                    </a:lnTo>
                    <a:lnTo>
                      <a:pt x="39" y="26"/>
                    </a:lnTo>
                    <a:lnTo>
                      <a:pt x="43" y="53"/>
                    </a:lnTo>
                    <a:lnTo>
                      <a:pt x="48" y="79"/>
                    </a:lnTo>
                    <a:lnTo>
                      <a:pt x="52" y="105"/>
                    </a:lnTo>
                    <a:lnTo>
                      <a:pt x="54" y="130"/>
                    </a:lnTo>
                    <a:lnTo>
                      <a:pt x="57" y="155"/>
                    </a:lnTo>
                    <a:lnTo>
                      <a:pt x="58" y="182"/>
                    </a:lnTo>
                    <a:lnTo>
                      <a:pt x="59" y="206"/>
                    </a:lnTo>
                    <a:lnTo>
                      <a:pt x="24" y="19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04" name="Freeform 100"/>
              <p:cNvSpPr>
                <a:spLocks/>
              </p:cNvSpPr>
              <p:nvPr/>
            </p:nvSpPr>
            <p:spPr bwMode="auto">
              <a:xfrm>
                <a:off x="4154" y="2295"/>
                <a:ext cx="34" cy="31"/>
              </a:xfrm>
              <a:custGeom>
                <a:avLst/>
                <a:gdLst>
                  <a:gd name="T0" fmla="*/ 34 w 34"/>
                  <a:gd name="T1" fmla="*/ 8 h 31"/>
                  <a:gd name="T2" fmla="*/ 34 w 34"/>
                  <a:gd name="T3" fmla="*/ 31 h 31"/>
                  <a:gd name="T4" fmla="*/ 0 w 34"/>
                  <a:gd name="T5" fmla="*/ 22 h 31"/>
                  <a:gd name="T6" fmla="*/ 0 w 34"/>
                  <a:gd name="T7" fmla="*/ 0 h 31"/>
                  <a:gd name="T8" fmla="*/ 34 w 34"/>
                  <a:gd name="T9" fmla="*/ 8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31"/>
                  <a:gd name="T17" fmla="*/ 34 w 34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31">
                    <a:moveTo>
                      <a:pt x="34" y="8"/>
                    </a:moveTo>
                    <a:lnTo>
                      <a:pt x="34" y="31"/>
                    </a:lnTo>
                    <a:lnTo>
                      <a:pt x="0" y="22"/>
                    </a:lnTo>
                    <a:lnTo>
                      <a:pt x="0" y="0"/>
                    </a:lnTo>
                    <a:lnTo>
                      <a:pt x="34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05" name="Freeform 101"/>
              <p:cNvSpPr>
                <a:spLocks/>
              </p:cNvSpPr>
              <p:nvPr/>
            </p:nvSpPr>
            <p:spPr bwMode="auto">
              <a:xfrm>
                <a:off x="4033" y="1825"/>
                <a:ext cx="102" cy="162"/>
              </a:xfrm>
              <a:custGeom>
                <a:avLst/>
                <a:gdLst>
                  <a:gd name="T0" fmla="*/ 22 w 102"/>
                  <a:gd name="T1" fmla="*/ 162 h 162"/>
                  <a:gd name="T2" fmla="*/ 0 w 102"/>
                  <a:gd name="T3" fmla="*/ 0 h 162"/>
                  <a:gd name="T4" fmla="*/ 102 w 102"/>
                  <a:gd name="T5" fmla="*/ 120 h 162"/>
                  <a:gd name="T6" fmla="*/ 22 w 102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2"/>
                  <a:gd name="T13" fmla="*/ 0 h 162"/>
                  <a:gd name="T14" fmla="*/ 102 w 102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2" h="162">
                    <a:moveTo>
                      <a:pt x="22" y="162"/>
                    </a:moveTo>
                    <a:lnTo>
                      <a:pt x="0" y="0"/>
                    </a:lnTo>
                    <a:lnTo>
                      <a:pt x="102" y="120"/>
                    </a:lnTo>
                    <a:lnTo>
                      <a:pt x="22" y="162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06" name="Freeform 102"/>
              <p:cNvSpPr>
                <a:spLocks/>
              </p:cNvSpPr>
              <p:nvPr/>
            </p:nvSpPr>
            <p:spPr bwMode="auto">
              <a:xfrm>
                <a:off x="4026" y="1811"/>
                <a:ext cx="32" cy="176"/>
              </a:xfrm>
              <a:custGeom>
                <a:avLst/>
                <a:gdLst>
                  <a:gd name="T0" fmla="*/ 3 w 32"/>
                  <a:gd name="T1" fmla="*/ 18 h 176"/>
                  <a:gd name="T2" fmla="*/ 12 w 32"/>
                  <a:gd name="T3" fmla="*/ 15 h 176"/>
                  <a:gd name="T4" fmla="*/ 32 w 32"/>
                  <a:gd name="T5" fmla="*/ 176 h 176"/>
                  <a:gd name="T6" fmla="*/ 23 w 32"/>
                  <a:gd name="T7" fmla="*/ 176 h 176"/>
                  <a:gd name="T8" fmla="*/ 2 w 32"/>
                  <a:gd name="T9" fmla="*/ 14 h 176"/>
                  <a:gd name="T10" fmla="*/ 9 w 32"/>
                  <a:gd name="T11" fmla="*/ 10 h 176"/>
                  <a:gd name="T12" fmla="*/ 2 w 32"/>
                  <a:gd name="T13" fmla="*/ 14 h 176"/>
                  <a:gd name="T14" fmla="*/ 0 w 32"/>
                  <a:gd name="T15" fmla="*/ 0 h 176"/>
                  <a:gd name="T16" fmla="*/ 9 w 32"/>
                  <a:gd name="T17" fmla="*/ 10 h 176"/>
                  <a:gd name="T18" fmla="*/ 3 w 32"/>
                  <a:gd name="T19" fmla="*/ 18 h 1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"/>
                  <a:gd name="T31" fmla="*/ 0 h 176"/>
                  <a:gd name="T32" fmla="*/ 32 w 32"/>
                  <a:gd name="T33" fmla="*/ 176 h 1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" h="176">
                    <a:moveTo>
                      <a:pt x="3" y="18"/>
                    </a:moveTo>
                    <a:lnTo>
                      <a:pt x="12" y="15"/>
                    </a:lnTo>
                    <a:lnTo>
                      <a:pt x="32" y="176"/>
                    </a:lnTo>
                    <a:lnTo>
                      <a:pt x="23" y="176"/>
                    </a:lnTo>
                    <a:lnTo>
                      <a:pt x="2" y="14"/>
                    </a:lnTo>
                    <a:lnTo>
                      <a:pt x="9" y="10"/>
                    </a:lnTo>
                    <a:lnTo>
                      <a:pt x="2" y="14"/>
                    </a:lnTo>
                    <a:lnTo>
                      <a:pt x="0" y="0"/>
                    </a:lnTo>
                    <a:lnTo>
                      <a:pt x="9" y="10"/>
                    </a:lnTo>
                    <a:lnTo>
                      <a:pt x="3" y="18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07" name="Freeform 103"/>
              <p:cNvSpPr>
                <a:spLocks/>
              </p:cNvSpPr>
              <p:nvPr/>
            </p:nvSpPr>
            <p:spPr bwMode="auto">
              <a:xfrm>
                <a:off x="4030" y="1822"/>
                <a:ext cx="113" cy="129"/>
              </a:xfrm>
              <a:custGeom>
                <a:avLst/>
                <a:gdLst>
                  <a:gd name="T0" fmla="*/ 103 w 113"/>
                  <a:gd name="T1" fmla="*/ 118 h 129"/>
                  <a:gd name="T2" fmla="*/ 102 w 113"/>
                  <a:gd name="T3" fmla="*/ 126 h 129"/>
                  <a:gd name="T4" fmla="*/ 0 w 113"/>
                  <a:gd name="T5" fmla="*/ 7 h 129"/>
                  <a:gd name="T6" fmla="*/ 5 w 113"/>
                  <a:gd name="T7" fmla="*/ 0 h 129"/>
                  <a:gd name="T8" fmla="*/ 108 w 113"/>
                  <a:gd name="T9" fmla="*/ 120 h 129"/>
                  <a:gd name="T10" fmla="*/ 108 w 113"/>
                  <a:gd name="T11" fmla="*/ 129 h 129"/>
                  <a:gd name="T12" fmla="*/ 108 w 113"/>
                  <a:gd name="T13" fmla="*/ 120 h 129"/>
                  <a:gd name="T14" fmla="*/ 113 w 113"/>
                  <a:gd name="T15" fmla="*/ 125 h 129"/>
                  <a:gd name="T16" fmla="*/ 108 w 113"/>
                  <a:gd name="T17" fmla="*/ 129 h 129"/>
                  <a:gd name="T18" fmla="*/ 103 w 113"/>
                  <a:gd name="T19" fmla="*/ 118 h 12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3"/>
                  <a:gd name="T31" fmla="*/ 0 h 129"/>
                  <a:gd name="T32" fmla="*/ 113 w 113"/>
                  <a:gd name="T33" fmla="*/ 129 h 12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3" h="129">
                    <a:moveTo>
                      <a:pt x="103" y="118"/>
                    </a:moveTo>
                    <a:lnTo>
                      <a:pt x="102" y="126"/>
                    </a:lnTo>
                    <a:lnTo>
                      <a:pt x="0" y="7"/>
                    </a:lnTo>
                    <a:lnTo>
                      <a:pt x="5" y="0"/>
                    </a:lnTo>
                    <a:lnTo>
                      <a:pt x="108" y="120"/>
                    </a:lnTo>
                    <a:lnTo>
                      <a:pt x="108" y="129"/>
                    </a:lnTo>
                    <a:lnTo>
                      <a:pt x="108" y="120"/>
                    </a:lnTo>
                    <a:lnTo>
                      <a:pt x="113" y="125"/>
                    </a:lnTo>
                    <a:lnTo>
                      <a:pt x="108" y="129"/>
                    </a:lnTo>
                    <a:lnTo>
                      <a:pt x="103" y="118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08" name="Freeform 104"/>
              <p:cNvSpPr>
                <a:spLocks/>
              </p:cNvSpPr>
              <p:nvPr/>
            </p:nvSpPr>
            <p:spPr bwMode="auto">
              <a:xfrm>
                <a:off x="4053" y="1941"/>
                <a:ext cx="87" cy="54"/>
              </a:xfrm>
              <a:custGeom>
                <a:avLst/>
                <a:gdLst>
                  <a:gd name="T0" fmla="*/ 8 w 87"/>
                  <a:gd name="T1" fmla="*/ 46 h 54"/>
                  <a:gd name="T2" fmla="*/ 2 w 87"/>
                  <a:gd name="T3" fmla="*/ 41 h 54"/>
                  <a:gd name="T4" fmla="*/ 83 w 87"/>
                  <a:gd name="T5" fmla="*/ 0 h 54"/>
                  <a:gd name="T6" fmla="*/ 87 w 87"/>
                  <a:gd name="T7" fmla="*/ 10 h 54"/>
                  <a:gd name="T8" fmla="*/ 6 w 87"/>
                  <a:gd name="T9" fmla="*/ 51 h 54"/>
                  <a:gd name="T10" fmla="*/ 0 w 87"/>
                  <a:gd name="T11" fmla="*/ 46 h 54"/>
                  <a:gd name="T12" fmla="*/ 6 w 87"/>
                  <a:gd name="T13" fmla="*/ 51 h 54"/>
                  <a:gd name="T14" fmla="*/ 1 w 87"/>
                  <a:gd name="T15" fmla="*/ 54 h 54"/>
                  <a:gd name="T16" fmla="*/ 0 w 87"/>
                  <a:gd name="T17" fmla="*/ 46 h 54"/>
                  <a:gd name="T18" fmla="*/ 8 w 87"/>
                  <a:gd name="T19" fmla="*/ 46 h 5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7"/>
                  <a:gd name="T31" fmla="*/ 0 h 54"/>
                  <a:gd name="T32" fmla="*/ 87 w 87"/>
                  <a:gd name="T33" fmla="*/ 54 h 5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7" h="54">
                    <a:moveTo>
                      <a:pt x="8" y="46"/>
                    </a:moveTo>
                    <a:lnTo>
                      <a:pt x="2" y="41"/>
                    </a:lnTo>
                    <a:lnTo>
                      <a:pt x="83" y="0"/>
                    </a:lnTo>
                    <a:lnTo>
                      <a:pt x="87" y="10"/>
                    </a:lnTo>
                    <a:lnTo>
                      <a:pt x="6" y="51"/>
                    </a:lnTo>
                    <a:lnTo>
                      <a:pt x="0" y="46"/>
                    </a:lnTo>
                    <a:lnTo>
                      <a:pt x="6" y="51"/>
                    </a:lnTo>
                    <a:lnTo>
                      <a:pt x="1" y="54"/>
                    </a:lnTo>
                    <a:lnTo>
                      <a:pt x="0" y="46"/>
                    </a:lnTo>
                    <a:lnTo>
                      <a:pt x="8" y="46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09" name="Freeform 105"/>
              <p:cNvSpPr>
                <a:spLocks/>
              </p:cNvSpPr>
              <p:nvPr/>
            </p:nvSpPr>
            <p:spPr bwMode="auto">
              <a:xfrm>
                <a:off x="4036" y="1851"/>
                <a:ext cx="31" cy="31"/>
              </a:xfrm>
              <a:custGeom>
                <a:avLst/>
                <a:gdLst>
                  <a:gd name="T0" fmla="*/ 8 w 31"/>
                  <a:gd name="T1" fmla="*/ 31 h 31"/>
                  <a:gd name="T2" fmla="*/ 0 w 31"/>
                  <a:gd name="T3" fmla="*/ 14 h 31"/>
                  <a:gd name="T4" fmla="*/ 24 w 31"/>
                  <a:gd name="T5" fmla="*/ 0 h 31"/>
                  <a:gd name="T6" fmla="*/ 31 w 31"/>
                  <a:gd name="T7" fmla="*/ 17 h 31"/>
                  <a:gd name="T8" fmla="*/ 8 w 31"/>
                  <a:gd name="T9" fmla="*/ 31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31"/>
                  <a:gd name="T17" fmla="*/ 31 w 31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31">
                    <a:moveTo>
                      <a:pt x="8" y="31"/>
                    </a:moveTo>
                    <a:lnTo>
                      <a:pt x="0" y="14"/>
                    </a:lnTo>
                    <a:lnTo>
                      <a:pt x="24" y="0"/>
                    </a:lnTo>
                    <a:lnTo>
                      <a:pt x="31" y="17"/>
                    </a:lnTo>
                    <a:lnTo>
                      <a:pt x="8" y="31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10" name="Freeform 106"/>
              <p:cNvSpPr>
                <a:spLocks/>
              </p:cNvSpPr>
              <p:nvPr/>
            </p:nvSpPr>
            <p:spPr bwMode="auto">
              <a:xfrm>
                <a:off x="4049" y="1869"/>
                <a:ext cx="103" cy="231"/>
              </a:xfrm>
              <a:custGeom>
                <a:avLst/>
                <a:gdLst>
                  <a:gd name="T0" fmla="*/ 77 w 103"/>
                  <a:gd name="T1" fmla="*/ 231 h 231"/>
                  <a:gd name="T2" fmla="*/ 77 w 103"/>
                  <a:gd name="T3" fmla="*/ 231 h 231"/>
                  <a:gd name="T4" fmla="*/ 62 w 103"/>
                  <a:gd name="T5" fmla="*/ 173 h 231"/>
                  <a:gd name="T6" fmla="*/ 44 w 103"/>
                  <a:gd name="T7" fmla="*/ 119 h 231"/>
                  <a:gd name="T8" fmla="*/ 24 w 103"/>
                  <a:gd name="T9" fmla="*/ 66 h 231"/>
                  <a:gd name="T10" fmla="*/ 0 w 103"/>
                  <a:gd name="T11" fmla="*/ 14 h 231"/>
                  <a:gd name="T12" fmla="*/ 23 w 103"/>
                  <a:gd name="T13" fmla="*/ 0 h 231"/>
                  <a:gd name="T14" fmla="*/ 46 w 103"/>
                  <a:gd name="T15" fmla="*/ 55 h 231"/>
                  <a:gd name="T16" fmla="*/ 70 w 103"/>
                  <a:gd name="T17" fmla="*/ 110 h 231"/>
                  <a:gd name="T18" fmla="*/ 87 w 103"/>
                  <a:gd name="T19" fmla="*/ 168 h 231"/>
                  <a:gd name="T20" fmla="*/ 103 w 103"/>
                  <a:gd name="T21" fmla="*/ 228 h 231"/>
                  <a:gd name="T22" fmla="*/ 77 w 103"/>
                  <a:gd name="T23" fmla="*/ 231 h 23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03"/>
                  <a:gd name="T37" fmla="*/ 0 h 231"/>
                  <a:gd name="T38" fmla="*/ 103 w 103"/>
                  <a:gd name="T39" fmla="*/ 231 h 23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03" h="231">
                    <a:moveTo>
                      <a:pt x="77" y="231"/>
                    </a:moveTo>
                    <a:lnTo>
                      <a:pt x="77" y="231"/>
                    </a:lnTo>
                    <a:lnTo>
                      <a:pt x="62" y="173"/>
                    </a:lnTo>
                    <a:lnTo>
                      <a:pt x="44" y="119"/>
                    </a:lnTo>
                    <a:lnTo>
                      <a:pt x="24" y="66"/>
                    </a:lnTo>
                    <a:lnTo>
                      <a:pt x="0" y="14"/>
                    </a:lnTo>
                    <a:lnTo>
                      <a:pt x="23" y="0"/>
                    </a:lnTo>
                    <a:lnTo>
                      <a:pt x="46" y="55"/>
                    </a:lnTo>
                    <a:lnTo>
                      <a:pt x="70" y="110"/>
                    </a:lnTo>
                    <a:lnTo>
                      <a:pt x="87" y="168"/>
                    </a:lnTo>
                    <a:lnTo>
                      <a:pt x="103" y="228"/>
                    </a:lnTo>
                    <a:lnTo>
                      <a:pt x="77" y="231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11" name="Freeform 107"/>
              <p:cNvSpPr>
                <a:spLocks/>
              </p:cNvSpPr>
              <p:nvPr/>
            </p:nvSpPr>
            <p:spPr bwMode="auto">
              <a:xfrm>
                <a:off x="4129" y="2097"/>
                <a:ext cx="54" cy="205"/>
              </a:xfrm>
              <a:custGeom>
                <a:avLst/>
                <a:gdLst>
                  <a:gd name="T0" fmla="*/ 25 w 54"/>
                  <a:gd name="T1" fmla="*/ 199 h 205"/>
                  <a:gd name="T2" fmla="*/ 25 w 54"/>
                  <a:gd name="T3" fmla="*/ 174 h 205"/>
                  <a:gd name="T4" fmla="*/ 23 w 54"/>
                  <a:gd name="T5" fmla="*/ 151 h 205"/>
                  <a:gd name="T6" fmla="*/ 21 w 54"/>
                  <a:gd name="T7" fmla="*/ 126 h 205"/>
                  <a:gd name="T8" fmla="*/ 19 w 54"/>
                  <a:gd name="T9" fmla="*/ 101 h 205"/>
                  <a:gd name="T10" fmla="*/ 15 w 54"/>
                  <a:gd name="T11" fmla="*/ 78 h 205"/>
                  <a:gd name="T12" fmla="*/ 11 w 54"/>
                  <a:gd name="T13" fmla="*/ 52 h 205"/>
                  <a:gd name="T14" fmla="*/ 6 w 54"/>
                  <a:gd name="T15" fmla="*/ 28 h 205"/>
                  <a:gd name="T16" fmla="*/ 0 w 54"/>
                  <a:gd name="T17" fmla="*/ 3 h 205"/>
                  <a:gd name="T18" fmla="*/ 28 w 54"/>
                  <a:gd name="T19" fmla="*/ 0 h 205"/>
                  <a:gd name="T20" fmla="*/ 34 w 54"/>
                  <a:gd name="T21" fmla="*/ 26 h 205"/>
                  <a:gd name="T22" fmla="*/ 38 w 54"/>
                  <a:gd name="T23" fmla="*/ 52 h 205"/>
                  <a:gd name="T24" fmla="*/ 43 w 54"/>
                  <a:gd name="T25" fmla="*/ 79 h 205"/>
                  <a:gd name="T26" fmla="*/ 46 w 54"/>
                  <a:gd name="T27" fmla="*/ 104 h 205"/>
                  <a:gd name="T28" fmla="*/ 50 w 54"/>
                  <a:gd name="T29" fmla="*/ 129 h 205"/>
                  <a:gd name="T30" fmla="*/ 52 w 54"/>
                  <a:gd name="T31" fmla="*/ 155 h 205"/>
                  <a:gd name="T32" fmla="*/ 53 w 54"/>
                  <a:gd name="T33" fmla="*/ 179 h 205"/>
                  <a:gd name="T34" fmla="*/ 54 w 54"/>
                  <a:gd name="T35" fmla="*/ 205 h 205"/>
                  <a:gd name="T36" fmla="*/ 25 w 54"/>
                  <a:gd name="T37" fmla="*/ 199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4"/>
                  <a:gd name="T58" fmla="*/ 0 h 205"/>
                  <a:gd name="T59" fmla="*/ 54 w 54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4" h="205">
                    <a:moveTo>
                      <a:pt x="25" y="199"/>
                    </a:moveTo>
                    <a:lnTo>
                      <a:pt x="25" y="174"/>
                    </a:lnTo>
                    <a:lnTo>
                      <a:pt x="23" y="151"/>
                    </a:lnTo>
                    <a:lnTo>
                      <a:pt x="21" y="126"/>
                    </a:lnTo>
                    <a:lnTo>
                      <a:pt x="19" y="101"/>
                    </a:lnTo>
                    <a:lnTo>
                      <a:pt x="15" y="78"/>
                    </a:lnTo>
                    <a:lnTo>
                      <a:pt x="11" y="52"/>
                    </a:lnTo>
                    <a:lnTo>
                      <a:pt x="6" y="28"/>
                    </a:lnTo>
                    <a:lnTo>
                      <a:pt x="0" y="3"/>
                    </a:lnTo>
                    <a:lnTo>
                      <a:pt x="28" y="0"/>
                    </a:lnTo>
                    <a:lnTo>
                      <a:pt x="34" y="26"/>
                    </a:lnTo>
                    <a:lnTo>
                      <a:pt x="38" y="52"/>
                    </a:lnTo>
                    <a:lnTo>
                      <a:pt x="43" y="79"/>
                    </a:lnTo>
                    <a:lnTo>
                      <a:pt x="46" y="104"/>
                    </a:lnTo>
                    <a:lnTo>
                      <a:pt x="50" y="129"/>
                    </a:lnTo>
                    <a:lnTo>
                      <a:pt x="52" y="155"/>
                    </a:lnTo>
                    <a:lnTo>
                      <a:pt x="53" y="179"/>
                    </a:lnTo>
                    <a:lnTo>
                      <a:pt x="54" y="205"/>
                    </a:lnTo>
                    <a:lnTo>
                      <a:pt x="25" y="199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12" name="Freeform 108"/>
              <p:cNvSpPr>
                <a:spLocks/>
              </p:cNvSpPr>
              <p:nvPr/>
            </p:nvSpPr>
            <p:spPr bwMode="auto">
              <a:xfrm>
                <a:off x="4157" y="2297"/>
                <a:ext cx="28" cy="24"/>
              </a:xfrm>
              <a:custGeom>
                <a:avLst/>
                <a:gdLst>
                  <a:gd name="T0" fmla="*/ 28 w 28"/>
                  <a:gd name="T1" fmla="*/ 6 h 24"/>
                  <a:gd name="T2" fmla="*/ 28 w 28"/>
                  <a:gd name="T3" fmla="*/ 24 h 24"/>
                  <a:gd name="T4" fmla="*/ 0 w 28"/>
                  <a:gd name="T5" fmla="*/ 18 h 24"/>
                  <a:gd name="T6" fmla="*/ 0 w 28"/>
                  <a:gd name="T7" fmla="*/ 0 h 24"/>
                  <a:gd name="T8" fmla="*/ 28 w 28"/>
                  <a:gd name="T9" fmla="*/ 6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24"/>
                  <a:gd name="T17" fmla="*/ 28 w 28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24">
                    <a:moveTo>
                      <a:pt x="28" y="6"/>
                    </a:moveTo>
                    <a:lnTo>
                      <a:pt x="28" y="24"/>
                    </a:lnTo>
                    <a:lnTo>
                      <a:pt x="0" y="18"/>
                    </a:lnTo>
                    <a:lnTo>
                      <a:pt x="0" y="0"/>
                    </a:lnTo>
                    <a:lnTo>
                      <a:pt x="28" y="6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13" name="Freeform 109"/>
              <p:cNvSpPr>
                <a:spLocks/>
              </p:cNvSpPr>
              <p:nvPr/>
            </p:nvSpPr>
            <p:spPr bwMode="auto">
              <a:xfrm>
                <a:off x="4013" y="1791"/>
                <a:ext cx="106" cy="162"/>
              </a:xfrm>
              <a:custGeom>
                <a:avLst/>
                <a:gdLst>
                  <a:gd name="T0" fmla="*/ 28 w 106"/>
                  <a:gd name="T1" fmla="*/ 162 h 162"/>
                  <a:gd name="T2" fmla="*/ 0 w 106"/>
                  <a:gd name="T3" fmla="*/ 0 h 162"/>
                  <a:gd name="T4" fmla="*/ 106 w 106"/>
                  <a:gd name="T5" fmla="*/ 113 h 162"/>
                  <a:gd name="T6" fmla="*/ 28 w 106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6"/>
                  <a:gd name="T13" fmla="*/ 0 h 162"/>
                  <a:gd name="T14" fmla="*/ 106 w 106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6" h="162">
                    <a:moveTo>
                      <a:pt x="28" y="162"/>
                    </a:moveTo>
                    <a:lnTo>
                      <a:pt x="0" y="0"/>
                    </a:lnTo>
                    <a:lnTo>
                      <a:pt x="106" y="113"/>
                    </a:lnTo>
                    <a:lnTo>
                      <a:pt x="28" y="1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14" name="Freeform 110"/>
              <p:cNvSpPr>
                <a:spLocks/>
              </p:cNvSpPr>
              <p:nvPr/>
            </p:nvSpPr>
            <p:spPr bwMode="auto">
              <a:xfrm>
                <a:off x="4002" y="1766"/>
                <a:ext cx="46" cy="185"/>
              </a:xfrm>
              <a:custGeom>
                <a:avLst/>
                <a:gdLst>
                  <a:gd name="T0" fmla="*/ 7 w 46"/>
                  <a:gd name="T1" fmla="*/ 31 h 185"/>
                  <a:gd name="T2" fmla="*/ 18 w 46"/>
                  <a:gd name="T3" fmla="*/ 24 h 185"/>
                  <a:gd name="T4" fmla="*/ 46 w 46"/>
                  <a:gd name="T5" fmla="*/ 185 h 185"/>
                  <a:gd name="T6" fmla="*/ 31 w 46"/>
                  <a:gd name="T7" fmla="*/ 185 h 185"/>
                  <a:gd name="T8" fmla="*/ 5 w 46"/>
                  <a:gd name="T9" fmla="*/ 24 h 185"/>
                  <a:gd name="T10" fmla="*/ 15 w 46"/>
                  <a:gd name="T11" fmla="*/ 18 h 185"/>
                  <a:gd name="T12" fmla="*/ 5 w 46"/>
                  <a:gd name="T13" fmla="*/ 24 h 185"/>
                  <a:gd name="T14" fmla="*/ 0 w 46"/>
                  <a:gd name="T15" fmla="*/ 0 h 185"/>
                  <a:gd name="T16" fmla="*/ 15 w 46"/>
                  <a:gd name="T17" fmla="*/ 18 h 185"/>
                  <a:gd name="T18" fmla="*/ 7 w 46"/>
                  <a:gd name="T19" fmla="*/ 31 h 1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6"/>
                  <a:gd name="T31" fmla="*/ 0 h 185"/>
                  <a:gd name="T32" fmla="*/ 46 w 46"/>
                  <a:gd name="T33" fmla="*/ 185 h 1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6" h="185">
                    <a:moveTo>
                      <a:pt x="7" y="31"/>
                    </a:moveTo>
                    <a:lnTo>
                      <a:pt x="18" y="24"/>
                    </a:lnTo>
                    <a:lnTo>
                      <a:pt x="46" y="185"/>
                    </a:lnTo>
                    <a:lnTo>
                      <a:pt x="31" y="185"/>
                    </a:lnTo>
                    <a:lnTo>
                      <a:pt x="5" y="24"/>
                    </a:lnTo>
                    <a:lnTo>
                      <a:pt x="15" y="18"/>
                    </a:lnTo>
                    <a:lnTo>
                      <a:pt x="5" y="24"/>
                    </a:lnTo>
                    <a:lnTo>
                      <a:pt x="0" y="0"/>
                    </a:lnTo>
                    <a:lnTo>
                      <a:pt x="15" y="18"/>
                    </a:lnTo>
                    <a:lnTo>
                      <a:pt x="7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15" name="Freeform 111"/>
              <p:cNvSpPr>
                <a:spLocks/>
              </p:cNvSpPr>
              <p:nvPr/>
            </p:nvSpPr>
            <p:spPr bwMode="auto">
              <a:xfrm>
                <a:off x="4010" y="1784"/>
                <a:ext cx="123" cy="129"/>
              </a:xfrm>
              <a:custGeom>
                <a:avLst/>
                <a:gdLst>
                  <a:gd name="T0" fmla="*/ 104 w 123"/>
                  <a:gd name="T1" fmla="*/ 111 h 129"/>
                  <a:gd name="T2" fmla="*/ 104 w 123"/>
                  <a:gd name="T3" fmla="*/ 127 h 129"/>
                  <a:gd name="T4" fmla="*/ 0 w 123"/>
                  <a:gd name="T5" fmla="*/ 15 h 129"/>
                  <a:gd name="T6" fmla="*/ 6 w 123"/>
                  <a:gd name="T7" fmla="*/ 0 h 129"/>
                  <a:gd name="T8" fmla="*/ 112 w 123"/>
                  <a:gd name="T9" fmla="*/ 113 h 129"/>
                  <a:gd name="T10" fmla="*/ 112 w 123"/>
                  <a:gd name="T11" fmla="*/ 129 h 129"/>
                  <a:gd name="T12" fmla="*/ 112 w 123"/>
                  <a:gd name="T13" fmla="*/ 113 h 129"/>
                  <a:gd name="T14" fmla="*/ 123 w 123"/>
                  <a:gd name="T15" fmla="*/ 124 h 129"/>
                  <a:gd name="T16" fmla="*/ 112 w 123"/>
                  <a:gd name="T17" fmla="*/ 129 h 129"/>
                  <a:gd name="T18" fmla="*/ 104 w 123"/>
                  <a:gd name="T19" fmla="*/ 111 h 12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3"/>
                  <a:gd name="T31" fmla="*/ 0 h 129"/>
                  <a:gd name="T32" fmla="*/ 123 w 123"/>
                  <a:gd name="T33" fmla="*/ 129 h 12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3" h="129">
                    <a:moveTo>
                      <a:pt x="104" y="111"/>
                    </a:moveTo>
                    <a:lnTo>
                      <a:pt x="104" y="127"/>
                    </a:lnTo>
                    <a:lnTo>
                      <a:pt x="0" y="15"/>
                    </a:lnTo>
                    <a:lnTo>
                      <a:pt x="6" y="0"/>
                    </a:lnTo>
                    <a:lnTo>
                      <a:pt x="112" y="113"/>
                    </a:lnTo>
                    <a:lnTo>
                      <a:pt x="112" y="129"/>
                    </a:lnTo>
                    <a:lnTo>
                      <a:pt x="112" y="113"/>
                    </a:lnTo>
                    <a:lnTo>
                      <a:pt x="123" y="124"/>
                    </a:lnTo>
                    <a:lnTo>
                      <a:pt x="112" y="129"/>
                    </a:lnTo>
                    <a:lnTo>
                      <a:pt x="104" y="1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16" name="Freeform 112"/>
              <p:cNvSpPr>
                <a:spLocks/>
              </p:cNvSpPr>
              <p:nvPr/>
            </p:nvSpPr>
            <p:spPr bwMode="auto">
              <a:xfrm>
                <a:off x="4034" y="1895"/>
                <a:ext cx="89" cy="74"/>
              </a:xfrm>
              <a:custGeom>
                <a:avLst/>
                <a:gdLst>
                  <a:gd name="T0" fmla="*/ 15 w 89"/>
                  <a:gd name="T1" fmla="*/ 58 h 74"/>
                  <a:gd name="T2" fmla="*/ 2 w 89"/>
                  <a:gd name="T3" fmla="*/ 48 h 74"/>
                  <a:gd name="T4" fmla="*/ 82 w 89"/>
                  <a:gd name="T5" fmla="*/ 0 h 74"/>
                  <a:gd name="T6" fmla="*/ 89 w 89"/>
                  <a:gd name="T7" fmla="*/ 19 h 74"/>
                  <a:gd name="T8" fmla="*/ 11 w 89"/>
                  <a:gd name="T9" fmla="*/ 67 h 74"/>
                  <a:gd name="T10" fmla="*/ 0 w 89"/>
                  <a:gd name="T11" fmla="*/ 58 h 74"/>
                  <a:gd name="T12" fmla="*/ 11 w 89"/>
                  <a:gd name="T13" fmla="*/ 67 h 74"/>
                  <a:gd name="T14" fmla="*/ 2 w 89"/>
                  <a:gd name="T15" fmla="*/ 74 h 74"/>
                  <a:gd name="T16" fmla="*/ 0 w 89"/>
                  <a:gd name="T17" fmla="*/ 58 h 74"/>
                  <a:gd name="T18" fmla="*/ 15 w 89"/>
                  <a:gd name="T19" fmla="*/ 58 h 7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9"/>
                  <a:gd name="T31" fmla="*/ 0 h 74"/>
                  <a:gd name="T32" fmla="*/ 89 w 89"/>
                  <a:gd name="T33" fmla="*/ 74 h 7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9" h="74">
                    <a:moveTo>
                      <a:pt x="15" y="58"/>
                    </a:moveTo>
                    <a:lnTo>
                      <a:pt x="2" y="48"/>
                    </a:lnTo>
                    <a:lnTo>
                      <a:pt x="82" y="0"/>
                    </a:lnTo>
                    <a:lnTo>
                      <a:pt x="89" y="19"/>
                    </a:lnTo>
                    <a:lnTo>
                      <a:pt x="11" y="67"/>
                    </a:lnTo>
                    <a:lnTo>
                      <a:pt x="0" y="58"/>
                    </a:lnTo>
                    <a:lnTo>
                      <a:pt x="11" y="67"/>
                    </a:lnTo>
                    <a:lnTo>
                      <a:pt x="2" y="74"/>
                    </a:lnTo>
                    <a:lnTo>
                      <a:pt x="0" y="58"/>
                    </a:lnTo>
                    <a:lnTo>
                      <a:pt x="15" y="5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17" name="Freeform 113"/>
              <p:cNvSpPr>
                <a:spLocks/>
              </p:cNvSpPr>
              <p:nvPr/>
            </p:nvSpPr>
            <p:spPr bwMode="auto">
              <a:xfrm>
                <a:off x="4015" y="1812"/>
                <a:ext cx="36" cy="38"/>
              </a:xfrm>
              <a:custGeom>
                <a:avLst/>
                <a:gdLst>
                  <a:gd name="T0" fmla="*/ 10 w 36"/>
                  <a:gd name="T1" fmla="*/ 38 h 38"/>
                  <a:gd name="T2" fmla="*/ 0 w 36"/>
                  <a:gd name="T3" fmla="*/ 18 h 38"/>
                  <a:gd name="T4" fmla="*/ 26 w 36"/>
                  <a:gd name="T5" fmla="*/ 0 h 38"/>
                  <a:gd name="T6" fmla="*/ 36 w 36"/>
                  <a:gd name="T7" fmla="*/ 20 h 38"/>
                  <a:gd name="T8" fmla="*/ 10 w 36"/>
                  <a:gd name="T9" fmla="*/ 38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38"/>
                  <a:gd name="T17" fmla="*/ 36 w 36"/>
                  <a:gd name="T18" fmla="*/ 38 h 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38">
                    <a:moveTo>
                      <a:pt x="10" y="38"/>
                    </a:moveTo>
                    <a:lnTo>
                      <a:pt x="0" y="18"/>
                    </a:lnTo>
                    <a:lnTo>
                      <a:pt x="26" y="0"/>
                    </a:lnTo>
                    <a:lnTo>
                      <a:pt x="36" y="20"/>
                    </a:lnTo>
                    <a:lnTo>
                      <a:pt x="10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18" name="Freeform 114"/>
              <p:cNvSpPr>
                <a:spLocks/>
              </p:cNvSpPr>
              <p:nvPr/>
            </p:nvSpPr>
            <p:spPr bwMode="auto">
              <a:xfrm>
                <a:off x="4028" y="1832"/>
                <a:ext cx="115" cy="232"/>
              </a:xfrm>
              <a:custGeom>
                <a:avLst/>
                <a:gdLst>
                  <a:gd name="T0" fmla="*/ 83 w 115"/>
                  <a:gd name="T1" fmla="*/ 232 h 232"/>
                  <a:gd name="T2" fmla="*/ 83 w 115"/>
                  <a:gd name="T3" fmla="*/ 232 h 232"/>
                  <a:gd name="T4" fmla="*/ 76 w 115"/>
                  <a:gd name="T5" fmla="*/ 204 h 232"/>
                  <a:gd name="T6" fmla="*/ 66 w 115"/>
                  <a:gd name="T7" fmla="*/ 175 h 232"/>
                  <a:gd name="T8" fmla="*/ 57 w 115"/>
                  <a:gd name="T9" fmla="*/ 149 h 232"/>
                  <a:gd name="T10" fmla="*/ 47 w 115"/>
                  <a:gd name="T11" fmla="*/ 122 h 232"/>
                  <a:gd name="T12" fmla="*/ 36 w 115"/>
                  <a:gd name="T13" fmla="*/ 95 h 232"/>
                  <a:gd name="T14" fmla="*/ 25 w 115"/>
                  <a:gd name="T15" fmla="*/ 69 h 232"/>
                  <a:gd name="T16" fmla="*/ 13 w 115"/>
                  <a:gd name="T17" fmla="*/ 44 h 232"/>
                  <a:gd name="T18" fmla="*/ 0 w 115"/>
                  <a:gd name="T19" fmla="*/ 19 h 232"/>
                  <a:gd name="T20" fmla="*/ 26 w 115"/>
                  <a:gd name="T21" fmla="*/ 0 h 232"/>
                  <a:gd name="T22" fmla="*/ 39 w 115"/>
                  <a:gd name="T23" fmla="*/ 26 h 232"/>
                  <a:gd name="T24" fmla="*/ 51 w 115"/>
                  <a:gd name="T25" fmla="*/ 53 h 232"/>
                  <a:gd name="T26" fmla="*/ 64 w 115"/>
                  <a:gd name="T27" fmla="*/ 81 h 232"/>
                  <a:gd name="T28" fmla="*/ 76 w 115"/>
                  <a:gd name="T29" fmla="*/ 110 h 232"/>
                  <a:gd name="T30" fmla="*/ 88 w 115"/>
                  <a:gd name="T31" fmla="*/ 137 h 232"/>
                  <a:gd name="T32" fmla="*/ 97 w 115"/>
                  <a:gd name="T33" fmla="*/ 167 h 232"/>
                  <a:gd name="T34" fmla="*/ 107 w 115"/>
                  <a:gd name="T35" fmla="*/ 196 h 232"/>
                  <a:gd name="T36" fmla="*/ 115 w 115"/>
                  <a:gd name="T37" fmla="*/ 227 h 232"/>
                  <a:gd name="T38" fmla="*/ 83 w 115"/>
                  <a:gd name="T39" fmla="*/ 232 h 23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5"/>
                  <a:gd name="T61" fmla="*/ 0 h 232"/>
                  <a:gd name="T62" fmla="*/ 115 w 115"/>
                  <a:gd name="T63" fmla="*/ 232 h 23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5" h="232">
                    <a:moveTo>
                      <a:pt x="83" y="232"/>
                    </a:moveTo>
                    <a:lnTo>
                      <a:pt x="83" y="232"/>
                    </a:lnTo>
                    <a:lnTo>
                      <a:pt x="76" y="204"/>
                    </a:lnTo>
                    <a:lnTo>
                      <a:pt x="66" y="175"/>
                    </a:lnTo>
                    <a:lnTo>
                      <a:pt x="57" y="149"/>
                    </a:lnTo>
                    <a:lnTo>
                      <a:pt x="47" y="122"/>
                    </a:lnTo>
                    <a:lnTo>
                      <a:pt x="36" y="95"/>
                    </a:lnTo>
                    <a:lnTo>
                      <a:pt x="25" y="69"/>
                    </a:lnTo>
                    <a:lnTo>
                      <a:pt x="13" y="44"/>
                    </a:lnTo>
                    <a:lnTo>
                      <a:pt x="0" y="19"/>
                    </a:lnTo>
                    <a:lnTo>
                      <a:pt x="26" y="0"/>
                    </a:lnTo>
                    <a:lnTo>
                      <a:pt x="39" y="26"/>
                    </a:lnTo>
                    <a:lnTo>
                      <a:pt x="51" y="53"/>
                    </a:lnTo>
                    <a:lnTo>
                      <a:pt x="64" y="81"/>
                    </a:lnTo>
                    <a:lnTo>
                      <a:pt x="76" y="110"/>
                    </a:lnTo>
                    <a:lnTo>
                      <a:pt x="88" y="137"/>
                    </a:lnTo>
                    <a:lnTo>
                      <a:pt x="97" y="167"/>
                    </a:lnTo>
                    <a:lnTo>
                      <a:pt x="107" y="196"/>
                    </a:lnTo>
                    <a:lnTo>
                      <a:pt x="115" y="227"/>
                    </a:lnTo>
                    <a:lnTo>
                      <a:pt x="83" y="2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19" name="Freeform 115"/>
              <p:cNvSpPr>
                <a:spLocks/>
              </p:cNvSpPr>
              <p:nvPr/>
            </p:nvSpPr>
            <p:spPr bwMode="auto">
              <a:xfrm>
                <a:off x="4118" y="2060"/>
                <a:ext cx="65" cy="205"/>
              </a:xfrm>
              <a:custGeom>
                <a:avLst/>
                <a:gdLst>
                  <a:gd name="T0" fmla="*/ 32 w 65"/>
                  <a:gd name="T1" fmla="*/ 198 h 205"/>
                  <a:gd name="T2" fmla="*/ 30 w 65"/>
                  <a:gd name="T3" fmla="*/ 175 h 205"/>
                  <a:gd name="T4" fmla="*/ 26 w 65"/>
                  <a:gd name="T5" fmla="*/ 150 h 205"/>
                  <a:gd name="T6" fmla="*/ 24 w 65"/>
                  <a:gd name="T7" fmla="*/ 127 h 205"/>
                  <a:gd name="T8" fmla="*/ 20 w 65"/>
                  <a:gd name="T9" fmla="*/ 102 h 205"/>
                  <a:gd name="T10" fmla="*/ 16 w 65"/>
                  <a:gd name="T11" fmla="*/ 78 h 205"/>
                  <a:gd name="T12" fmla="*/ 10 w 65"/>
                  <a:gd name="T13" fmla="*/ 54 h 205"/>
                  <a:gd name="T14" fmla="*/ 5 w 65"/>
                  <a:gd name="T15" fmla="*/ 29 h 205"/>
                  <a:gd name="T16" fmla="*/ 0 w 65"/>
                  <a:gd name="T17" fmla="*/ 5 h 205"/>
                  <a:gd name="T18" fmla="*/ 30 w 65"/>
                  <a:gd name="T19" fmla="*/ 0 h 205"/>
                  <a:gd name="T20" fmla="*/ 37 w 65"/>
                  <a:gd name="T21" fmla="*/ 25 h 205"/>
                  <a:gd name="T22" fmla="*/ 42 w 65"/>
                  <a:gd name="T23" fmla="*/ 51 h 205"/>
                  <a:gd name="T24" fmla="*/ 48 w 65"/>
                  <a:gd name="T25" fmla="*/ 76 h 205"/>
                  <a:gd name="T26" fmla="*/ 52 w 65"/>
                  <a:gd name="T27" fmla="*/ 102 h 205"/>
                  <a:gd name="T28" fmla="*/ 57 w 65"/>
                  <a:gd name="T29" fmla="*/ 128 h 205"/>
                  <a:gd name="T30" fmla="*/ 61 w 65"/>
                  <a:gd name="T31" fmla="*/ 154 h 205"/>
                  <a:gd name="T32" fmla="*/ 63 w 65"/>
                  <a:gd name="T33" fmla="*/ 179 h 205"/>
                  <a:gd name="T34" fmla="*/ 65 w 65"/>
                  <a:gd name="T35" fmla="*/ 205 h 205"/>
                  <a:gd name="T36" fmla="*/ 32 w 65"/>
                  <a:gd name="T37" fmla="*/ 198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5"/>
                  <a:gd name="T58" fmla="*/ 0 h 205"/>
                  <a:gd name="T59" fmla="*/ 65 w 65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5" h="205">
                    <a:moveTo>
                      <a:pt x="32" y="198"/>
                    </a:moveTo>
                    <a:lnTo>
                      <a:pt x="30" y="175"/>
                    </a:lnTo>
                    <a:lnTo>
                      <a:pt x="26" y="150"/>
                    </a:lnTo>
                    <a:lnTo>
                      <a:pt x="24" y="127"/>
                    </a:lnTo>
                    <a:lnTo>
                      <a:pt x="20" y="102"/>
                    </a:lnTo>
                    <a:lnTo>
                      <a:pt x="16" y="78"/>
                    </a:lnTo>
                    <a:lnTo>
                      <a:pt x="10" y="54"/>
                    </a:lnTo>
                    <a:lnTo>
                      <a:pt x="5" y="29"/>
                    </a:lnTo>
                    <a:lnTo>
                      <a:pt x="0" y="5"/>
                    </a:lnTo>
                    <a:lnTo>
                      <a:pt x="30" y="0"/>
                    </a:lnTo>
                    <a:lnTo>
                      <a:pt x="37" y="25"/>
                    </a:lnTo>
                    <a:lnTo>
                      <a:pt x="42" y="51"/>
                    </a:lnTo>
                    <a:lnTo>
                      <a:pt x="48" y="76"/>
                    </a:lnTo>
                    <a:lnTo>
                      <a:pt x="52" y="102"/>
                    </a:lnTo>
                    <a:lnTo>
                      <a:pt x="57" y="128"/>
                    </a:lnTo>
                    <a:lnTo>
                      <a:pt x="61" y="154"/>
                    </a:lnTo>
                    <a:lnTo>
                      <a:pt x="63" y="179"/>
                    </a:lnTo>
                    <a:lnTo>
                      <a:pt x="65" y="205"/>
                    </a:lnTo>
                    <a:lnTo>
                      <a:pt x="32" y="1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20" name="Freeform 116"/>
              <p:cNvSpPr>
                <a:spLocks/>
              </p:cNvSpPr>
              <p:nvPr/>
            </p:nvSpPr>
            <p:spPr bwMode="auto">
              <a:xfrm>
                <a:off x="4154" y="2259"/>
                <a:ext cx="34" cy="28"/>
              </a:xfrm>
              <a:custGeom>
                <a:avLst/>
                <a:gdLst>
                  <a:gd name="T0" fmla="*/ 32 w 34"/>
                  <a:gd name="T1" fmla="*/ 7 h 28"/>
                  <a:gd name="T2" fmla="*/ 34 w 34"/>
                  <a:gd name="T3" fmla="*/ 28 h 28"/>
                  <a:gd name="T4" fmla="*/ 2 w 34"/>
                  <a:gd name="T5" fmla="*/ 23 h 28"/>
                  <a:gd name="T6" fmla="*/ 0 w 34"/>
                  <a:gd name="T7" fmla="*/ 0 h 28"/>
                  <a:gd name="T8" fmla="*/ 32 w 34"/>
                  <a:gd name="T9" fmla="*/ 7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28"/>
                  <a:gd name="T17" fmla="*/ 34 w 34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28">
                    <a:moveTo>
                      <a:pt x="32" y="7"/>
                    </a:moveTo>
                    <a:lnTo>
                      <a:pt x="34" y="28"/>
                    </a:lnTo>
                    <a:lnTo>
                      <a:pt x="2" y="23"/>
                    </a:lnTo>
                    <a:lnTo>
                      <a:pt x="0" y="0"/>
                    </a:lnTo>
                    <a:lnTo>
                      <a:pt x="32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21" name="Freeform 117"/>
              <p:cNvSpPr>
                <a:spLocks/>
              </p:cNvSpPr>
              <p:nvPr/>
            </p:nvSpPr>
            <p:spPr bwMode="auto">
              <a:xfrm>
                <a:off x="4013" y="1791"/>
                <a:ext cx="106" cy="162"/>
              </a:xfrm>
              <a:custGeom>
                <a:avLst/>
                <a:gdLst>
                  <a:gd name="T0" fmla="*/ 28 w 106"/>
                  <a:gd name="T1" fmla="*/ 162 h 162"/>
                  <a:gd name="T2" fmla="*/ 0 w 106"/>
                  <a:gd name="T3" fmla="*/ 0 h 162"/>
                  <a:gd name="T4" fmla="*/ 106 w 106"/>
                  <a:gd name="T5" fmla="*/ 113 h 162"/>
                  <a:gd name="T6" fmla="*/ 28 w 106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6"/>
                  <a:gd name="T13" fmla="*/ 0 h 162"/>
                  <a:gd name="T14" fmla="*/ 106 w 106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6" h="162">
                    <a:moveTo>
                      <a:pt x="28" y="162"/>
                    </a:moveTo>
                    <a:lnTo>
                      <a:pt x="0" y="0"/>
                    </a:lnTo>
                    <a:lnTo>
                      <a:pt x="106" y="113"/>
                    </a:lnTo>
                    <a:lnTo>
                      <a:pt x="28" y="162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22" name="Freeform 118"/>
              <p:cNvSpPr>
                <a:spLocks/>
              </p:cNvSpPr>
              <p:nvPr/>
            </p:nvSpPr>
            <p:spPr bwMode="auto">
              <a:xfrm>
                <a:off x="4005" y="1779"/>
                <a:ext cx="39" cy="175"/>
              </a:xfrm>
              <a:custGeom>
                <a:avLst/>
                <a:gdLst>
                  <a:gd name="T0" fmla="*/ 5 w 39"/>
                  <a:gd name="T1" fmla="*/ 18 h 175"/>
                  <a:gd name="T2" fmla="*/ 11 w 39"/>
                  <a:gd name="T3" fmla="*/ 12 h 175"/>
                  <a:gd name="T4" fmla="*/ 39 w 39"/>
                  <a:gd name="T5" fmla="*/ 174 h 175"/>
                  <a:gd name="T6" fmla="*/ 30 w 39"/>
                  <a:gd name="T7" fmla="*/ 175 h 175"/>
                  <a:gd name="T8" fmla="*/ 3 w 39"/>
                  <a:gd name="T9" fmla="*/ 15 h 175"/>
                  <a:gd name="T10" fmla="*/ 9 w 39"/>
                  <a:gd name="T11" fmla="*/ 9 h 175"/>
                  <a:gd name="T12" fmla="*/ 3 w 39"/>
                  <a:gd name="T13" fmla="*/ 15 h 175"/>
                  <a:gd name="T14" fmla="*/ 0 w 39"/>
                  <a:gd name="T15" fmla="*/ 0 h 175"/>
                  <a:gd name="T16" fmla="*/ 9 w 39"/>
                  <a:gd name="T17" fmla="*/ 9 h 175"/>
                  <a:gd name="T18" fmla="*/ 5 w 39"/>
                  <a:gd name="T19" fmla="*/ 18 h 1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9"/>
                  <a:gd name="T31" fmla="*/ 0 h 175"/>
                  <a:gd name="T32" fmla="*/ 39 w 39"/>
                  <a:gd name="T33" fmla="*/ 175 h 1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9" h="175">
                    <a:moveTo>
                      <a:pt x="5" y="18"/>
                    </a:moveTo>
                    <a:lnTo>
                      <a:pt x="11" y="12"/>
                    </a:lnTo>
                    <a:lnTo>
                      <a:pt x="39" y="174"/>
                    </a:lnTo>
                    <a:lnTo>
                      <a:pt x="30" y="175"/>
                    </a:lnTo>
                    <a:lnTo>
                      <a:pt x="3" y="15"/>
                    </a:lnTo>
                    <a:lnTo>
                      <a:pt x="9" y="9"/>
                    </a:lnTo>
                    <a:lnTo>
                      <a:pt x="3" y="15"/>
                    </a:lnTo>
                    <a:lnTo>
                      <a:pt x="0" y="0"/>
                    </a:lnTo>
                    <a:lnTo>
                      <a:pt x="9" y="9"/>
                    </a:lnTo>
                    <a:lnTo>
                      <a:pt x="5" y="18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23" name="Freeform 119"/>
              <p:cNvSpPr>
                <a:spLocks/>
              </p:cNvSpPr>
              <p:nvPr/>
            </p:nvSpPr>
            <p:spPr bwMode="auto">
              <a:xfrm>
                <a:off x="4010" y="1787"/>
                <a:ext cx="115" cy="123"/>
              </a:xfrm>
              <a:custGeom>
                <a:avLst/>
                <a:gdLst>
                  <a:gd name="T0" fmla="*/ 106 w 115"/>
                  <a:gd name="T1" fmla="*/ 113 h 123"/>
                  <a:gd name="T2" fmla="*/ 106 w 115"/>
                  <a:gd name="T3" fmla="*/ 122 h 123"/>
                  <a:gd name="T4" fmla="*/ 0 w 115"/>
                  <a:gd name="T5" fmla="*/ 9 h 123"/>
                  <a:gd name="T6" fmla="*/ 4 w 115"/>
                  <a:gd name="T7" fmla="*/ 0 h 123"/>
                  <a:gd name="T8" fmla="*/ 110 w 115"/>
                  <a:gd name="T9" fmla="*/ 114 h 123"/>
                  <a:gd name="T10" fmla="*/ 110 w 115"/>
                  <a:gd name="T11" fmla="*/ 123 h 123"/>
                  <a:gd name="T12" fmla="*/ 110 w 115"/>
                  <a:gd name="T13" fmla="*/ 114 h 123"/>
                  <a:gd name="T14" fmla="*/ 115 w 115"/>
                  <a:gd name="T15" fmla="*/ 120 h 123"/>
                  <a:gd name="T16" fmla="*/ 110 w 115"/>
                  <a:gd name="T17" fmla="*/ 123 h 123"/>
                  <a:gd name="T18" fmla="*/ 106 w 115"/>
                  <a:gd name="T19" fmla="*/ 113 h 12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5"/>
                  <a:gd name="T31" fmla="*/ 0 h 123"/>
                  <a:gd name="T32" fmla="*/ 115 w 115"/>
                  <a:gd name="T33" fmla="*/ 123 h 12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5" h="123">
                    <a:moveTo>
                      <a:pt x="106" y="113"/>
                    </a:moveTo>
                    <a:lnTo>
                      <a:pt x="106" y="122"/>
                    </a:lnTo>
                    <a:lnTo>
                      <a:pt x="0" y="9"/>
                    </a:lnTo>
                    <a:lnTo>
                      <a:pt x="4" y="0"/>
                    </a:lnTo>
                    <a:lnTo>
                      <a:pt x="110" y="114"/>
                    </a:lnTo>
                    <a:lnTo>
                      <a:pt x="110" y="123"/>
                    </a:lnTo>
                    <a:lnTo>
                      <a:pt x="110" y="114"/>
                    </a:lnTo>
                    <a:lnTo>
                      <a:pt x="115" y="120"/>
                    </a:lnTo>
                    <a:lnTo>
                      <a:pt x="110" y="123"/>
                    </a:lnTo>
                    <a:lnTo>
                      <a:pt x="106" y="113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24" name="Freeform 120"/>
              <p:cNvSpPr>
                <a:spLocks/>
              </p:cNvSpPr>
              <p:nvPr/>
            </p:nvSpPr>
            <p:spPr bwMode="auto">
              <a:xfrm>
                <a:off x="4038" y="1900"/>
                <a:ext cx="84" cy="63"/>
              </a:xfrm>
              <a:custGeom>
                <a:avLst/>
                <a:gdLst>
                  <a:gd name="T0" fmla="*/ 9 w 84"/>
                  <a:gd name="T1" fmla="*/ 55 h 63"/>
                  <a:gd name="T2" fmla="*/ 2 w 84"/>
                  <a:gd name="T3" fmla="*/ 48 h 63"/>
                  <a:gd name="T4" fmla="*/ 80 w 84"/>
                  <a:gd name="T5" fmla="*/ 0 h 63"/>
                  <a:gd name="T6" fmla="*/ 84 w 84"/>
                  <a:gd name="T7" fmla="*/ 11 h 63"/>
                  <a:gd name="T8" fmla="*/ 6 w 84"/>
                  <a:gd name="T9" fmla="*/ 60 h 63"/>
                  <a:gd name="T10" fmla="*/ 0 w 84"/>
                  <a:gd name="T11" fmla="*/ 55 h 63"/>
                  <a:gd name="T12" fmla="*/ 6 w 84"/>
                  <a:gd name="T13" fmla="*/ 60 h 63"/>
                  <a:gd name="T14" fmla="*/ 2 w 84"/>
                  <a:gd name="T15" fmla="*/ 63 h 63"/>
                  <a:gd name="T16" fmla="*/ 0 w 84"/>
                  <a:gd name="T17" fmla="*/ 55 h 63"/>
                  <a:gd name="T18" fmla="*/ 9 w 84"/>
                  <a:gd name="T19" fmla="*/ 55 h 6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4"/>
                  <a:gd name="T31" fmla="*/ 0 h 63"/>
                  <a:gd name="T32" fmla="*/ 84 w 84"/>
                  <a:gd name="T33" fmla="*/ 63 h 6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4" h="63">
                    <a:moveTo>
                      <a:pt x="9" y="55"/>
                    </a:moveTo>
                    <a:lnTo>
                      <a:pt x="2" y="48"/>
                    </a:lnTo>
                    <a:lnTo>
                      <a:pt x="80" y="0"/>
                    </a:lnTo>
                    <a:lnTo>
                      <a:pt x="84" y="11"/>
                    </a:lnTo>
                    <a:lnTo>
                      <a:pt x="6" y="60"/>
                    </a:lnTo>
                    <a:lnTo>
                      <a:pt x="0" y="55"/>
                    </a:lnTo>
                    <a:lnTo>
                      <a:pt x="6" y="60"/>
                    </a:lnTo>
                    <a:lnTo>
                      <a:pt x="2" y="63"/>
                    </a:lnTo>
                    <a:lnTo>
                      <a:pt x="0" y="55"/>
                    </a:lnTo>
                    <a:lnTo>
                      <a:pt x="9" y="55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25" name="Freeform 121"/>
              <p:cNvSpPr>
                <a:spLocks/>
              </p:cNvSpPr>
              <p:nvPr/>
            </p:nvSpPr>
            <p:spPr bwMode="auto">
              <a:xfrm>
                <a:off x="4022" y="1816"/>
                <a:ext cx="29" cy="33"/>
              </a:xfrm>
              <a:custGeom>
                <a:avLst/>
                <a:gdLst>
                  <a:gd name="T0" fmla="*/ 8 w 29"/>
                  <a:gd name="T1" fmla="*/ 33 h 33"/>
                  <a:gd name="T2" fmla="*/ 0 w 29"/>
                  <a:gd name="T3" fmla="*/ 16 h 33"/>
                  <a:gd name="T4" fmla="*/ 21 w 29"/>
                  <a:gd name="T5" fmla="*/ 0 h 33"/>
                  <a:gd name="T6" fmla="*/ 29 w 29"/>
                  <a:gd name="T7" fmla="*/ 17 h 33"/>
                  <a:gd name="T8" fmla="*/ 8 w 29"/>
                  <a:gd name="T9" fmla="*/ 33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33"/>
                  <a:gd name="T17" fmla="*/ 29 w 29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33">
                    <a:moveTo>
                      <a:pt x="8" y="33"/>
                    </a:moveTo>
                    <a:lnTo>
                      <a:pt x="0" y="16"/>
                    </a:lnTo>
                    <a:lnTo>
                      <a:pt x="21" y="0"/>
                    </a:lnTo>
                    <a:lnTo>
                      <a:pt x="29" y="17"/>
                    </a:lnTo>
                    <a:lnTo>
                      <a:pt x="8" y="33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26" name="Freeform 122"/>
              <p:cNvSpPr>
                <a:spLocks/>
              </p:cNvSpPr>
              <p:nvPr/>
            </p:nvSpPr>
            <p:spPr bwMode="auto">
              <a:xfrm>
                <a:off x="4030" y="1835"/>
                <a:ext cx="110" cy="228"/>
              </a:xfrm>
              <a:custGeom>
                <a:avLst/>
                <a:gdLst>
                  <a:gd name="T0" fmla="*/ 86 w 110"/>
                  <a:gd name="T1" fmla="*/ 228 h 228"/>
                  <a:gd name="T2" fmla="*/ 86 w 110"/>
                  <a:gd name="T3" fmla="*/ 228 h 228"/>
                  <a:gd name="T4" fmla="*/ 77 w 110"/>
                  <a:gd name="T5" fmla="*/ 200 h 228"/>
                  <a:gd name="T6" fmla="*/ 68 w 110"/>
                  <a:gd name="T7" fmla="*/ 172 h 228"/>
                  <a:gd name="T8" fmla="*/ 58 w 110"/>
                  <a:gd name="T9" fmla="*/ 144 h 228"/>
                  <a:gd name="T10" fmla="*/ 47 w 110"/>
                  <a:gd name="T11" fmla="*/ 117 h 228"/>
                  <a:gd name="T12" fmla="*/ 36 w 110"/>
                  <a:gd name="T13" fmla="*/ 91 h 228"/>
                  <a:gd name="T14" fmla="*/ 25 w 110"/>
                  <a:gd name="T15" fmla="*/ 65 h 228"/>
                  <a:gd name="T16" fmla="*/ 13 w 110"/>
                  <a:gd name="T17" fmla="*/ 40 h 228"/>
                  <a:gd name="T18" fmla="*/ 0 w 110"/>
                  <a:gd name="T19" fmla="*/ 15 h 228"/>
                  <a:gd name="T20" fmla="*/ 21 w 110"/>
                  <a:gd name="T21" fmla="*/ 0 h 228"/>
                  <a:gd name="T22" fmla="*/ 35 w 110"/>
                  <a:gd name="T23" fmla="*/ 26 h 228"/>
                  <a:gd name="T24" fmla="*/ 47 w 110"/>
                  <a:gd name="T25" fmla="*/ 54 h 228"/>
                  <a:gd name="T26" fmla="*/ 60 w 110"/>
                  <a:gd name="T27" fmla="*/ 80 h 228"/>
                  <a:gd name="T28" fmla="*/ 72 w 110"/>
                  <a:gd name="T29" fmla="*/ 107 h 228"/>
                  <a:gd name="T30" fmla="*/ 82 w 110"/>
                  <a:gd name="T31" fmla="*/ 135 h 228"/>
                  <a:gd name="T32" fmla="*/ 92 w 110"/>
                  <a:gd name="T33" fmla="*/ 164 h 228"/>
                  <a:gd name="T34" fmla="*/ 102 w 110"/>
                  <a:gd name="T35" fmla="*/ 193 h 228"/>
                  <a:gd name="T36" fmla="*/ 110 w 110"/>
                  <a:gd name="T37" fmla="*/ 221 h 228"/>
                  <a:gd name="T38" fmla="*/ 86 w 110"/>
                  <a:gd name="T39" fmla="*/ 228 h 22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0"/>
                  <a:gd name="T61" fmla="*/ 0 h 228"/>
                  <a:gd name="T62" fmla="*/ 110 w 110"/>
                  <a:gd name="T63" fmla="*/ 228 h 22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0" h="228">
                    <a:moveTo>
                      <a:pt x="86" y="228"/>
                    </a:moveTo>
                    <a:lnTo>
                      <a:pt x="86" y="228"/>
                    </a:lnTo>
                    <a:lnTo>
                      <a:pt x="77" y="200"/>
                    </a:lnTo>
                    <a:lnTo>
                      <a:pt x="68" y="172"/>
                    </a:lnTo>
                    <a:lnTo>
                      <a:pt x="58" y="144"/>
                    </a:lnTo>
                    <a:lnTo>
                      <a:pt x="47" y="117"/>
                    </a:lnTo>
                    <a:lnTo>
                      <a:pt x="36" y="91"/>
                    </a:lnTo>
                    <a:lnTo>
                      <a:pt x="25" y="65"/>
                    </a:lnTo>
                    <a:lnTo>
                      <a:pt x="13" y="40"/>
                    </a:lnTo>
                    <a:lnTo>
                      <a:pt x="0" y="15"/>
                    </a:lnTo>
                    <a:lnTo>
                      <a:pt x="21" y="0"/>
                    </a:lnTo>
                    <a:lnTo>
                      <a:pt x="35" y="26"/>
                    </a:lnTo>
                    <a:lnTo>
                      <a:pt x="47" y="54"/>
                    </a:lnTo>
                    <a:lnTo>
                      <a:pt x="60" y="80"/>
                    </a:lnTo>
                    <a:lnTo>
                      <a:pt x="72" y="107"/>
                    </a:lnTo>
                    <a:lnTo>
                      <a:pt x="82" y="135"/>
                    </a:lnTo>
                    <a:lnTo>
                      <a:pt x="92" y="164"/>
                    </a:lnTo>
                    <a:lnTo>
                      <a:pt x="102" y="193"/>
                    </a:lnTo>
                    <a:lnTo>
                      <a:pt x="110" y="221"/>
                    </a:lnTo>
                    <a:lnTo>
                      <a:pt x="86" y="228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27" name="Freeform 123"/>
              <p:cNvSpPr>
                <a:spLocks/>
              </p:cNvSpPr>
              <p:nvPr/>
            </p:nvSpPr>
            <p:spPr bwMode="auto">
              <a:xfrm>
                <a:off x="4121" y="2060"/>
                <a:ext cx="60" cy="205"/>
              </a:xfrm>
              <a:custGeom>
                <a:avLst/>
                <a:gdLst>
                  <a:gd name="T0" fmla="*/ 33 w 60"/>
                  <a:gd name="T1" fmla="*/ 201 h 205"/>
                  <a:gd name="T2" fmla="*/ 30 w 60"/>
                  <a:gd name="T3" fmla="*/ 177 h 205"/>
                  <a:gd name="T4" fmla="*/ 28 w 60"/>
                  <a:gd name="T5" fmla="*/ 152 h 205"/>
                  <a:gd name="T6" fmla="*/ 24 w 60"/>
                  <a:gd name="T7" fmla="*/ 128 h 205"/>
                  <a:gd name="T8" fmla="*/ 21 w 60"/>
                  <a:gd name="T9" fmla="*/ 103 h 205"/>
                  <a:gd name="T10" fmla="*/ 17 w 60"/>
                  <a:gd name="T11" fmla="*/ 79 h 205"/>
                  <a:gd name="T12" fmla="*/ 13 w 60"/>
                  <a:gd name="T13" fmla="*/ 55 h 205"/>
                  <a:gd name="T14" fmla="*/ 5 w 60"/>
                  <a:gd name="T15" fmla="*/ 29 h 205"/>
                  <a:gd name="T16" fmla="*/ 0 w 60"/>
                  <a:gd name="T17" fmla="*/ 5 h 205"/>
                  <a:gd name="T18" fmla="*/ 24 w 60"/>
                  <a:gd name="T19" fmla="*/ 0 h 205"/>
                  <a:gd name="T20" fmla="*/ 32 w 60"/>
                  <a:gd name="T21" fmla="*/ 25 h 205"/>
                  <a:gd name="T22" fmla="*/ 37 w 60"/>
                  <a:gd name="T23" fmla="*/ 51 h 205"/>
                  <a:gd name="T24" fmla="*/ 43 w 60"/>
                  <a:gd name="T25" fmla="*/ 79 h 205"/>
                  <a:gd name="T26" fmla="*/ 47 w 60"/>
                  <a:gd name="T27" fmla="*/ 103 h 205"/>
                  <a:gd name="T28" fmla="*/ 52 w 60"/>
                  <a:gd name="T29" fmla="*/ 129 h 205"/>
                  <a:gd name="T30" fmla="*/ 55 w 60"/>
                  <a:gd name="T31" fmla="*/ 156 h 205"/>
                  <a:gd name="T32" fmla="*/ 58 w 60"/>
                  <a:gd name="T33" fmla="*/ 180 h 205"/>
                  <a:gd name="T34" fmla="*/ 60 w 60"/>
                  <a:gd name="T35" fmla="*/ 205 h 205"/>
                  <a:gd name="T36" fmla="*/ 33 w 60"/>
                  <a:gd name="T37" fmla="*/ 201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0"/>
                  <a:gd name="T58" fmla="*/ 0 h 205"/>
                  <a:gd name="T59" fmla="*/ 60 w 60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0" h="205">
                    <a:moveTo>
                      <a:pt x="33" y="201"/>
                    </a:moveTo>
                    <a:lnTo>
                      <a:pt x="30" y="177"/>
                    </a:lnTo>
                    <a:lnTo>
                      <a:pt x="28" y="152"/>
                    </a:lnTo>
                    <a:lnTo>
                      <a:pt x="24" y="128"/>
                    </a:lnTo>
                    <a:lnTo>
                      <a:pt x="21" y="103"/>
                    </a:lnTo>
                    <a:lnTo>
                      <a:pt x="17" y="79"/>
                    </a:lnTo>
                    <a:lnTo>
                      <a:pt x="13" y="55"/>
                    </a:lnTo>
                    <a:lnTo>
                      <a:pt x="5" y="29"/>
                    </a:lnTo>
                    <a:lnTo>
                      <a:pt x="0" y="5"/>
                    </a:lnTo>
                    <a:lnTo>
                      <a:pt x="24" y="0"/>
                    </a:lnTo>
                    <a:lnTo>
                      <a:pt x="32" y="25"/>
                    </a:lnTo>
                    <a:lnTo>
                      <a:pt x="37" y="51"/>
                    </a:lnTo>
                    <a:lnTo>
                      <a:pt x="43" y="79"/>
                    </a:lnTo>
                    <a:lnTo>
                      <a:pt x="47" y="103"/>
                    </a:lnTo>
                    <a:lnTo>
                      <a:pt x="52" y="129"/>
                    </a:lnTo>
                    <a:lnTo>
                      <a:pt x="55" y="156"/>
                    </a:lnTo>
                    <a:lnTo>
                      <a:pt x="58" y="180"/>
                    </a:lnTo>
                    <a:lnTo>
                      <a:pt x="60" y="205"/>
                    </a:lnTo>
                    <a:lnTo>
                      <a:pt x="33" y="201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28" name="Freeform 124"/>
              <p:cNvSpPr>
                <a:spLocks/>
              </p:cNvSpPr>
              <p:nvPr/>
            </p:nvSpPr>
            <p:spPr bwMode="auto">
              <a:xfrm>
                <a:off x="4154" y="2263"/>
                <a:ext cx="30" cy="21"/>
              </a:xfrm>
              <a:custGeom>
                <a:avLst/>
                <a:gdLst>
                  <a:gd name="T0" fmla="*/ 29 w 30"/>
                  <a:gd name="T1" fmla="*/ 3 h 21"/>
                  <a:gd name="T2" fmla="*/ 30 w 30"/>
                  <a:gd name="T3" fmla="*/ 21 h 21"/>
                  <a:gd name="T4" fmla="*/ 1 w 30"/>
                  <a:gd name="T5" fmla="*/ 18 h 21"/>
                  <a:gd name="T6" fmla="*/ 0 w 30"/>
                  <a:gd name="T7" fmla="*/ 0 h 21"/>
                  <a:gd name="T8" fmla="*/ 29 w 30"/>
                  <a:gd name="T9" fmla="*/ 3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21"/>
                  <a:gd name="T17" fmla="*/ 30 w 30"/>
                  <a:gd name="T18" fmla="*/ 21 h 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21">
                    <a:moveTo>
                      <a:pt x="29" y="3"/>
                    </a:moveTo>
                    <a:lnTo>
                      <a:pt x="30" y="21"/>
                    </a:lnTo>
                    <a:lnTo>
                      <a:pt x="1" y="18"/>
                    </a:lnTo>
                    <a:lnTo>
                      <a:pt x="0" y="0"/>
                    </a:lnTo>
                    <a:lnTo>
                      <a:pt x="29" y="3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29" name="Freeform 125"/>
              <p:cNvSpPr>
                <a:spLocks/>
              </p:cNvSpPr>
              <p:nvPr/>
            </p:nvSpPr>
            <p:spPr bwMode="auto">
              <a:xfrm>
                <a:off x="3992" y="1759"/>
                <a:ext cx="108" cy="162"/>
              </a:xfrm>
              <a:custGeom>
                <a:avLst/>
                <a:gdLst>
                  <a:gd name="T0" fmla="*/ 34 w 108"/>
                  <a:gd name="T1" fmla="*/ 162 h 162"/>
                  <a:gd name="T2" fmla="*/ 0 w 108"/>
                  <a:gd name="T3" fmla="*/ 0 h 162"/>
                  <a:gd name="T4" fmla="*/ 108 w 108"/>
                  <a:gd name="T5" fmla="*/ 107 h 162"/>
                  <a:gd name="T6" fmla="*/ 34 w 108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8"/>
                  <a:gd name="T13" fmla="*/ 0 h 162"/>
                  <a:gd name="T14" fmla="*/ 108 w 108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8" h="162">
                    <a:moveTo>
                      <a:pt x="34" y="162"/>
                    </a:moveTo>
                    <a:lnTo>
                      <a:pt x="0" y="0"/>
                    </a:lnTo>
                    <a:lnTo>
                      <a:pt x="108" y="107"/>
                    </a:lnTo>
                    <a:lnTo>
                      <a:pt x="34" y="1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30" name="Freeform 126"/>
              <p:cNvSpPr>
                <a:spLocks/>
              </p:cNvSpPr>
              <p:nvPr/>
            </p:nvSpPr>
            <p:spPr bwMode="auto">
              <a:xfrm>
                <a:off x="3981" y="1735"/>
                <a:ext cx="53" cy="187"/>
              </a:xfrm>
              <a:custGeom>
                <a:avLst/>
                <a:gdLst>
                  <a:gd name="T0" fmla="*/ 8 w 53"/>
                  <a:gd name="T1" fmla="*/ 30 h 187"/>
                  <a:gd name="T2" fmla="*/ 20 w 53"/>
                  <a:gd name="T3" fmla="*/ 22 h 187"/>
                  <a:gd name="T4" fmla="*/ 53 w 53"/>
                  <a:gd name="T5" fmla="*/ 185 h 187"/>
                  <a:gd name="T6" fmla="*/ 38 w 53"/>
                  <a:gd name="T7" fmla="*/ 187 h 187"/>
                  <a:gd name="T8" fmla="*/ 4 w 53"/>
                  <a:gd name="T9" fmla="*/ 24 h 187"/>
                  <a:gd name="T10" fmla="*/ 16 w 53"/>
                  <a:gd name="T11" fmla="*/ 16 h 187"/>
                  <a:gd name="T12" fmla="*/ 4 w 53"/>
                  <a:gd name="T13" fmla="*/ 24 h 187"/>
                  <a:gd name="T14" fmla="*/ 0 w 53"/>
                  <a:gd name="T15" fmla="*/ 0 h 187"/>
                  <a:gd name="T16" fmla="*/ 16 w 53"/>
                  <a:gd name="T17" fmla="*/ 16 h 187"/>
                  <a:gd name="T18" fmla="*/ 8 w 53"/>
                  <a:gd name="T19" fmla="*/ 30 h 18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3"/>
                  <a:gd name="T31" fmla="*/ 0 h 187"/>
                  <a:gd name="T32" fmla="*/ 53 w 53"/>
                  <a:gd name="T33" fmla="*/ 187 h 18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3" h="187">
                    <a:moveTo>
                      <a:pt x="8" y="30"/>
                    </a:moveTo>
                    <a:lnTo>
                      <a:pt x="20" y="22"/>
                    </a:lnTo>
                    <a:lnTo>
                      <a:pt x="53" y="185"/>
                    </a:lnTo>
                    <a:lnTo>
                      <a:pt x="38" y="187"/>
                    </a:lnTo>
                    <a:lnTo>
                      <a:pt x="4" y="24"/>
                    </a:lnTo>
                    <a:lnTo>
                      <a:pt x="16" y="16"/>
                    </a:lnTo>
                    <a:lnTo>
                      <a:pt x="4" y="24"/>
                    </a:lnTo>
                    <a:lnTo>
                      <a:pt x="0" y="0"/>
                    </a:lnTo>
                    <a:lnTo>
                      <a:pt x="16" y="16"/>
                    </a:lnTo>
                    <a:lnTo>
                      <a:pt x="8" y="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31" name="Freeform 127"/>
              <p:cNvSpPr>
                <a:spLocks/>
              </p:cNvSpPr>
              <p:nvPr/>
            </p:nvSpPr>
            <p:spPr bwMode="auto">
              <a:xfrm>
                <a:off x="3987" y="1752"/>
                <a:ext cx="129" cy="126"/>
              </a:xfrm>
              <a:custGeom>
                <a:avLst/>
                <a:gdLst>
                  <a:gd name="T0" fmla="*/ 109 w 129"/>
                  <a:gd name="T1" fmla="*/ 107 h 126"/>
                  <a:gd name="T2" fmla="*/ 110 w 129"/>
                  <a:gd name="T3" fmla="*/ 124 h 126"/>
                  <a:gd name="T4" fmla="*/ 0 w 129"/>
                  <a:gd name="T5" fmla="*/ 15 h 126"/>
                  <a:gd name="T6" fmla="*/ 9 w 129"/>
                  <a:gd name="T7" fmla="*/ 0 h 126"/>
                  <a:gd name="T8" fmla="*/ 118 w 129"/>
                  <a:gd name="T9" fmla="*/ 109 h 126"/>
                  <a:gd name="T10" fmla="*/ 119 w 129"/>
                  <a:gd name="T11" fmla="*/ 126 h 126"/>
                  <a:gd name="T12" fmla="*/ 118 w 129"/>
                  <a:gd name="T13" fmla="*/ 109 h 126"/>
                  <a:gd name="T14" fmla="*/ 129 w 129"/>
                  <a:gd name="T15" fmla="*/ 117 h 126"/>
                  <a:gd name="T16" fmla="*/ 119 w 129"/>
                  <a:gd name="T17" fmla="*/ 126 h 126"/>
                  <a:gd name="T18" fmla="*/ 109 w 129"/>
                  <a:gd name="T19" fmla="*/ 107 h 12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9"/>
                  <a:gd name="T31" fmla="*/ 0 h 126"/>
                  <a:gd name="T32" fmla="*/ 129 w 129"/>
                  <a:gd name="T33" fmla="*/ 126 h 12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9" h="126">
                    <a:moveTo>
                      <a:pt x="109" y="107"/>
                    </a:moveTo>
                    <a:lnTo>
                      <a:pt x="110" y="124"/>
                    </a:lnTo>
                    <a:lnTo>
                      <a:pt x="0" y="15"/>
                    </a:lnTo>
                    <a:lnTo>
                      <a:pt x="9" y="0"/>
                    </a:lnTo>
                    <a:lnTo>
                      <a:pt x="118" y="109"/>
                    </a:lnTo>
                    <a:lnTo>
                      <a:pt x="119" y="126"/>
                    </a:lnTo>
                    <a:lnTo>
                      <a:pt x="118" y="109"/>
                    </a:lnTo>
                    <a:lnTo>
                      <a:pt x="129" y="117"/>
                    </a:lnTo>
                    <a:lnTo>
                      <a:pt x="119" y="126"/>
                    </a:lnTo>
                    <a:lnTo>
                      <a:pt x="109" y="10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32" name="Freeform 128"/>
              <p:cNvSpPr>
                <a:spLocks/>
              </p:cNvSpPr>
              <p:nvPr/>
            </p:nvSpPr>
            <p:spPr bwMode="auto">
              <a:xfrm>
                <a:off x="4018" y="1859"/>
                <a:ext cx="88" cy="79"/>
              </a:xfrm>
              <a:custGeom>
                <a:avLst/>
                <a:gdLst>
                  <a:gd name="T0" fmla="*/ 15 w 88"/>
                  <a:gd name="T1" fmla="*/ 63 h 79"/>
                  <a:gd name="T2" fmla="*/ 4 w 88"/>
                  <a:gd name="T3" fmla="*/ 53 h 79"/>
                  <a:gd name="T4" fmla="*/ 79 w 88"/>
                  <a:gd name="T5" fmla="*/ 0 h 79"/>
                  <a:gd name="T6" fmla="*/ 88 w 88"/>
                  <a:gd name="T7" fmla="*/ 19 h 79"/>
                  <a:gd name="T8" fmla="*/ 13 w 88"/>
                  <a:gd name="T9" fmla="*/ 72 h 79"/>
                  <a:gd name="T10" fmla="*/ 0 w 88"/>
                  <a:gd name="T11" fmla="*/ 63 h 79"/>
                  <a:gd name="T12" fmla="*/ 13 w 88"/>
                  <a:gd name="T13" fmla="*/ 72 h 79"/>
                  <a:gd name="T14" fmla="*/ 4 w 88"/>
                  <a:gd name="T15" fmla="*/ 79 h 79"/>
                  <a:gd name="T16" fmla="*/ 0 w 88"/>
                  <a:gd name="T17" fmla="*/ 63 h 79"/>
                  <a:gd name="T18" fmla="*/ 15 w 88"/>
                  <a:gd name="T19" fmla="*/ 63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8"/>
                  <a:gd name="T31" fmla="*/ 0 h 79"/>
                  <a:gd name="T32" fmla="*/ 88 w 88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8" h="79">
                    <a:moveTo>
                      <a:pt x="15" y="63"/>
                    </a:moveTo>
                    <a:lnTo>
                      <a:pt x="4" y="53"/>
                    </a:lnTo>
                    <a:lnTo>
                      <a:pt x="79" y="0"/>
                    </a:lnTo>
                    <a:lnTo>
                      <a:pt x="88" y="19"/>
                    </a:lnTo>
                    <a:lnTo>
                      <a:pt x="13" y="72"/>
                    </a:lnTo>
                    <a:lnTo>
                      <a:pt x="0" y="63"/>
                    </a:lnTo>
                    <a:lnTo>
                      <a:pt x="13" y="72"/>
                    </a:lnTo>
                    <a:lnTo>
                      <a:pt x="4" y="79"/>
                    </a:lnTo>
                    <a:lnTo>
                      <a:pt x="0" y="63"/>
                    </a:lnTo>
                    <a:lnTo>
                      <a:pt x="15" y="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33" name="Freeform 129"/>
              <p:cNvSpPr>
                <a:spLocks/>
              </p:cNvSpPr>
              <p:nvPr/>
            </p:nvSpPr>
            <p:spPr bwMode="auto">
              <a:xfrm>
                <a:off x="3995" y="1779"/>
                <a:ext cx="37" cy="39"/>
              </a:xfrm>
              <a:custGeom>
                <a:avLst/>
                <a:gdLst>
                  <a:gd name="T0" fmla="*/ 10 w 37"/>
                  <a:gd name="T1" fmla="*/ 39 h 39"/>
                  <a:gd name="T2" fmla="*/ 0 w 37"/>
                  <a:gd name="T3" fmla="*/ 20 h 39"/>
                  <a:gd name="T4" fmla="*/ 27 w 37"/>
                  <a:gd name="T5" fmla="*/ 0 h 39"/>
                  <a:gd name="T6" fmla="*/ 37 w 37"/>
                  <a:gd name="T7" fmla="*/ 19 h 39"/>
                  <a:gd name="T8" fmla="*/ 10 w 37"/>
                  <a:gd name="T9" fmla="*/ 39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39"/>
                  <a:gd name="T17" fmla="*/ 37 w 37"/>
                  <a:gd name="T18" fmla="*/ 39 h 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39">
                    <a:moveTo>
                      <a:pt x="10" y="39"/>
                    </a:moveTo>
                    <a:lnTo>
                      <a:pt x="0" y="20"/>
                    </a:lnTo>
                    <a:lnTo>
                      <a:pt x="27" y="0"/>
                    </a:lnTo>
                    <a:lnTo>
                      <a:pt x="37" y="19"/>
                    </a:lnTo>
                    <a:lnTo>
                      <a:pt x="10" y="3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34" name="Freeform 130"/>
              <p:cNvSpPr>
                <a:spLocks/>
              </p:cNvSpPr>
              <p:nvPr/>
            </p:nvSpPr>
            <p:spPr bwMode="auto">
              <a:xfrm>
                <a:off x="4011" y="1797"/>
                <a:ext cx="122" cy="231"/>
              </a:xfrm>
              <a:custGeom>
                <a:avLst/>
                <a:gdLst>
                  <a:gd name="T0" fmla="*/ 91 w 122"/>
                  <a:gd name="T1" fmla="*/ 231 h 231"/>
                  <a:gd name="T2" fmla="*/ 91 w 122"/>
                  <a:gd name="T3" fmla="*/ 231 h 231"/>
                  <a:gd name="T4" fmla="*/ 81 w 122"/>
                  <a:gd name="T5" fmla="*/ 203 h 231"/>
                  <a:gd name="T6" fmla="*/ 71 w 122"/>
                  <a:gd name="T7" fmla="*/ 175 h 231"/>
                  <a:gd name="T8" fmla="*/ 61 w 122"/>
                  <a:gd name="T9" fmla="*/ 148 h 231"/>
                  <a:gd name="T10" fmla="*/ 49 w 122"/>
                  <a:gd name="T11" fmla="*/ 120 h 231"/>
                  <a:gd name="T12" fmla="*/ 38 w 122"/>
                  <a:gd name="T13" fmla="*/ 96 h 231"/>
                  <a:gd name="T14" fmla="*/ 25 w 122"/>
                  <a:gd name="T15" fmla="*/ 70 h 231"/>
                  <a:gd name="T16" fmla="*/ 13 w 122"/>
                  <a:gd name="T17" fmla="*/ 45 h 231"/>
                  <a:gd name="T18" fmla="*/ 0 w 122"/>
                  <a:gd name="T19" fmla="*/ 21 h 231"/>
                  <a:gd name="T20" fmla="*/ 24 w 122"/>
                  <a:gd name="T21" fmla="*/ 0 h 231"/>
                  <a:gd name="T22" fmla="*/ 38 w 122"/>
                  <a:gd name="T23" fmla="*/ 25 h 231"/>
                  <a:gd name="T24" fmla="*/ 52 w 122"/>
                  <a:gd name="T25" fmla="*/ 52 h 231"/>
                  <a:gd name="T26" fmla="*/ 66 w 122"/>
                  <a:gd name="T27" fmla="*/ 79 h 231"/>
                  <a:gd name="T28" fmla="*/ 79 w 122"/>
                  <a:gd name="T29" fmla="*/ 108 h 231"/>
                  <a:gd name="T30" fmla="*/ 91 w 122"/>
                  <a:gd name="T31" fmla="*/ 134 h 231"/>
                  <a:gd name="T32" fmla="*/ 101 w 122"/>
                  <a:gd name="T33" fmla="*/ 163 h 231"/>
                  <a:gd name="T34" fmla="*/ 111 w 122"/>
                  <a:gd name="T35" fmla="*/ 192 h 231"/>
                  <a:gd name="T36" fmla="*/ 122 w 122"/>
                  <a:gd name="T37" fmla="*/ 222 h 231"/>
                  <a:gd name="T38" fmla="*/ 91 w 122"/>
                  <a:gd name="T39" fmla="*/ 231 h 23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2"/>
                  <a:gd name="T61" fmla="*/ 0 h 231"/>
                  <a:gd name="T62" fmla="*/ 122 w 122"/>
                  <a:gd name="T63" fmla="*/ 231 h 23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2" h="231">
                    <a:moveTo>
                      <a:pt x="91" y="231"/>
                    </a:moveTo>
                    <a:lnTo>
                      <a:pt x="91" y="231"/>
                    </a:lnTo>
                    <a:lnTo>
                      <a:pt x="81" y="203"/>
                    </a:lnTo>
                    <a:lnTo>
                      <a:pt x="71" y="175"/>
                    </a:lnTo>
                    <a:lnTo>
                      <a:pt x="61" y="148"/>
                    </a:lnTo>
                    <a:lnTo>
                      <a:pt x="49" y="120"/>
                    </a:lnTo>
                    <a:lnTo>
                      <a:pt x="38" y="96"/>
                    </a:lnTo>
                    <a:lnTo>
                      <a:pt x="25" y="70"/>
                    </a:lnTo>
                    <a:lnTo>
                      <a:pt x="13" y="45"/>
                    </a:lnTo>
                    <a:lnTo>
                      <a:pt x="0" y="21"/>
                    </a:lnTo>
                    <a:lnTo>
                      <a:pt x="24" y="0"/>
                    </a:lnTo>
                    <a:lnTo>
                      <a:pt x="38" y="25"/>
                    </a:lnTo>
                    <a:lnTo>
                      <a:pt x="52" y="52"/>
                    </a:lnTo>
                    <a:lnTo>
                      <a:pt x="66" y="79"/>
                    </a:lnTo>
                    <a:lnTo>
                      <a:pt x="79" y="108"/>
                    </a:lnTo>
                    <a:lnTo>
                      <a:pt x="91" y="134"/>
                    </a:lnTo>
                    <a:lnTo>
                      <a:pt x="101" y="163"/>
                    </a:lnTo>
                    <a:lnTo>
                      <a:pt x="111" y="192"/>
                    </a:lnTo>
                    <a:lnTo>
                      <a:pt x="122" y="222"/>
                    </a:lnTo>
                    <a:lnTo>
                      <a:pt x="91" y="2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35" name="Freeform 131"/>
              <p:cNvSpPr>
                <a:spLocks/>
              </p:cNvSpPr>
              <p:nvPr/>
            </p:nvSpPr>
            <p:spPr bwMode="auto">
              <a:xfrm>
                <a:off x="4107" y="2021"/>
                <a:ext cx="73" cy="206"/>
              </a:xfrm>
              <a:custGeom>
                <a:avLst/>
                <a:gdLst>
                  <a:gd name="T0" fmla="*/ 40 w 73"/>
                  <a:gd name="T1" fmla="*/ 202 h 206"/>
                  <a:gd name="T2" fmla="*/ 36 w 73"/>
                  <a:gd name="T3" fmla="*/ 179 h 206"/>
                  <a:gd name="T4" fmla="*/ 33 w 73"/>
                  <a:gd name="T5" fmla="*/ 154 h 206"/>
                  <a:gd name="T6" fmla="*/ 30 w 73"/>
                  <a:gd name="T7" fmla="*/ 130 h 206"/>
                  <a:gd name="T8" fmla="*/ 25 w 73"/>
                  <a:gd name="T9" fmla="*/ 106 h 206"/>
                  <a:gd name="T10" fmla="*/ 19 w 73"/>
                  <a:gd name="T11" fmla="*/ 82 h 206"/>
                  <a:gd name="T12" fmla="*/ 13 w 73"/>
                  <a:gd name="T13" fmla="*/ 58 h 206"/>
                  <a:gd name="T14" fmla="*/ 6 w 73"/>
                  <a:gd name="T15" fmla="*/ 34 h 206"/>
                  <a:gd name="T16" fmla="*/ 0 w 73"/>
                  <a:gd name="T17" fmla="*/ 9 h 206"/>
                  <a:gd name="T18" fmla="*/ 31 w 73"/>
                  <a:gd name="T19" fmla="*/ 0 h 206"/>
                  <a:gd name="T20" fmla="*/ 38 w 73"/>
                  <a:gd name="T21" fmla="*/ 26 h 206"/>
                  <a:gd name="T22" fmla="*/ 45 w 73"/>
                  <a:gd name="T23" fmla="*/ 51 h 206"/>
                  <a:gd name="T24" fmla="*/ 51 w 73"/>
                  <a:gd name="T25" fmla="*/ 79 h 206"/>
                  <a:gd name="T26" fmla="*/ 58 w 73"/>
                  <a:gd name="T27" fmla="*/ 104 h 206"/>
                  <a:gd name="T28" fmla="*/ 62 w 73"/>
                  <a:gd name="T29" fmla="*/ 129 h 206"/>
                  <a:gd name="T30" fmla="*/ 66 w 73"/>
                  <a:gd name="T31" fmla="*/ 155 h 206"/>
                  <a:gd name="T32" fmla="*/ 71 w 73"/>
                  <a:gd name="T33" fmla="*/ 181 h 206"/>
                  <a:gd name="T34" fmla="*/ 73 w 73"/>
                  <a:gd name="T35" fmla="*/ 206 h 206"/>
                  <a:gd name="T36" fmla="*/ 40 w 73"/>
                  <a:gd name="T37" fmla="*/ 202 h 2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3"/>
                  <a:gd name="T58" fmla="*/ 0 h 206"/>
                  <a:gd name="T59" fmla="*/ 73 w 73"/>
                  <a:gd name="T60" fmla="*/ 206 h 2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3" h="206">
                    <a:moveTo>
                      <a:pt x="40" y="202"/>
                    </a:moveTo>
                    <a:lnTo>
                      <a:pt x="36" y="179"/>
                    </a:lnTo>
                    <a:lnTo>
                      <a:pt x="33" y="154"/>
                    </a:lnTo>
                    <a:lnTo>
                      <a:pt x="30" y="130"/>
                    </a:lnTo>
                    <a:lnTo>
                      <a:pt x="25" y="106"/>
                    </a:lnTo>
                    <a:lnTo>
                      <a:pt x="19" y="82"/>
                    </a:lnTo>
                    <a:lnTo>
                      <a:pt x="13" y="58"/>
                    </a:lnTo>
                    <a:lnTo>
                      <a:pt x="6" y="34"/>
                    </a:lnTo>
                    <a:lnTo>
                      <a:pt x="0" y="9"/>
                    </a:lnTo>
                    <a:lnTo>
                      <a:pt x="31" y="0"/>
                    </a:lnTo>
                    <a:lnTo>
                      <a:pt x="38" y="26"/>
                    </a:lnTo>
                    <a:lnTo>
                      <a:pt x="45" y="51"/>
                    </a:lnTo>
                    <a:lnTo>
                      <a:pt x="51" y="79"/>
                    </a:lnTo>
                    <a:lnTo>
                      <a:pt x="58" y="104"/>
                    </a:lnTo>
                    <a:lnTo>
                      <a:pt x="62" y="129"/>
                    </a:lnTo>
                    <a:lnTo>
                      <a:pt x="66" y="155"/>
                    </a:lnTo>
                    <a:lnTo>
                      <a:pt x="71" y="181"/>
                    </a:lnTo>
                    <a:lnTo>
                      <a:pt x="73" y="206"/>
                    </a:lnTo>
                    <a:lnTo>
                      <a:pt x="40" y="20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36" name="Freeform 132"/>
              <p:cNvSpPr>
                <a:spLocks/>
              </p:cNvSpPr>
              <p:nvPr/>
            </p:nvSpPr>
            <p:spPr bwMode="auto">
              <a:xfrm>
                <a:off x="4149" y="2222"/>
                <a:ext cx="36" cy="27"/>
              </a:xfrm>
              <a:custGeom>
                <a:avLst/>
                <a:gdLst>
                  <a:gd name="T0" fmla="*/ 34 w 36"/>
                  <a:gd name="T1" fmla="*/ 3 h 27"/>
                  <a:gd name="T2" fmla="*/ 36 w 36"/>
                  <a:gd name="T3" fmla="*/ 27 h 27"/>
                  <a:gd name="T4" fmla="*/ 2 w 36"/>
                  <a:gd name="T5" fmla="*/ 23 h 27"/>
                  <a:gd name="T6" fmla="*/ 0 w 36"/>
                  <a:gd name="T7" fmla="*/ 0 h 27"/>
                  <a:gd name="T8" fmla="*/ 34 w 36"/>
                  <a:gd name="T9" fmla="*/ 3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27"/>
                  <a:gd name="T17" fmla="*/ 36 w 36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27">
                    <a:moveTo>
                      <a:pt x="34" y="3"/>
                    </a:moveTo>
                    <a:lnTo>
                      <a:pt x="36" y="27"/>
                    </a:lnTo>
                    <a:lnTo>
                      <a:pt x="2" y="23"/>
                    </a:lnTo>
                    <a:lnTo>
                      <a:pt x="0" y="0"/>
                    </a:lnTo>
                    <a:lnTo>
                      <a:pt x="34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37" name="Freeform 133"/>
              <p:cNvSpPr>
                <a:spLocks/>
              </p:cNvSpPr>
              <p:nvPr/>
            </p:nvSpPr>
            <p:spPr bwMode="auto">
              <a:xfrm>
                <a:off x="3992" y="1759"/>
                <a:ext cx="108" cy="162"/>
              </a:xfrm>
              <a:custGeom>
                <a:avLst/>
                <a:gdLst>
                  <a:gd name="T0" fmla="*/ 34 w 108"/>
                  <a:gd name="T1" fmla="*/ 162 h 162"/>
                  <a:gd name="T2" fmla="*/ 0 w 108"/>
                  <a:gd name="T3" fmla="*/ 0 h 162"/>
                  <a:gd name="T4" fmla="*/ 108 w 108"/>
                  <a:gd name="T5" fmla="*/ 107 h 162"/>
                  <a:gd name="T6" fmla="*/ 34 w 108"/>
                  <a:gd name="T7" fmla="*/ 162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8"/>
                  <a:gd name="T13" fmla="*/ 0 h 162"/>
                  <a:gd name="T14" fmla="*/ 108 w 108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8" h="162">
                    <a:moveTo>
                      <a:pt x="34" y="162"/>
                    </a:moveTo>
                    <a:lnTo>
                      <a:pt x="0" y="0"/>
                    </a:lnTo>
                    <a:lnTo>
                      <a:pt x="108" y="107"/>
                    </a:lnTo>
                    <a:lnTo>
                      <a:pt x="34" y="16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38" name="Freeform 134"/>
              <p:cNvSpPr>
                <a:spLocks/>
              </p:cNvSpPr>
              <p:nvPr/>
            </p:nvSpPr>
            <p:spPr bwMode="auto">
              <a:xfrm>
                <a:off x="3986" y="1744"/>
                <a:ext cx="45" cy="175"/>
              </a:xfrm>
              <a:custGeom>
                <a:avLst/>
                <a:gdLst>
                  <a:gd name="T0" fmla="*/ 6 w 45"/>
                  <a:gd name="T1" fmla="*/ 19 h 175"/>
                  <a:gd name="T2" fmla="*/ 11 w 45"/>
                  <a:gd name="T3" fmla="*/ 14 h 175"/>
                  <a:gd name="T4" fmla="*/ 45 w 45"/>
                  <a:gd name="T5" fmla="*/ 173 h 175"/>
                  <a:gd name="T6" fmla="*/ 36 w 45"/>
                  <a:gd name="T7" fmla="*/ 175 h 175"/>
                  <a:gd name="T8" fmla="*/ 3 w 45"/>
                  <a:gd name="T9" fmla="*/ 15 h 175"/>
                  <a:gd name="T10" fmla="*/ 10 w 45"/>
                  <a:gd name="T11" fmla="*/ 11 h 175"/>
                  <a:gd name="T12" fmla="*/ 3 w 45"/>
                  <a:gd name="T13" fmla="*/ 15 h 175"/>
                  <a:gd name="T14" fmla="*/ 0 w 45"/>
                  <a:gd name="T15" fmla="*/ 0 h 175"/>
                  <a:gd name="T16" fmla="*/ 10 w 45"/>
                  <a:gd name="T17" fmla="*/ 11 h 175"/>
                  <a:gd name="T18" fmla="*/ 6 w 45"/>
                  <a:gd name="T19" fmla="*/ 19 h 1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5"/>
                  <a:gd name="T31" fmla="*/ 0 h 175"/>
                  <a:gd name="T32" fmla="*/ 45 w 45"/>
                  <a:gd name="T33" fmla="*/ 175 h 1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5" h="175">
                    <a:moveTo>
                      <a:pt x="6" y="19"/>
                    </a:moveTo>
                    <a:lnTo>
                      <a:pt x="11" y="14"/>
                    </a:lnTo>
                    <a:lnTo>
                      <a:pt x="45" y="173"/>
                    </a:lnTo>
                    <a:lnTo>
                      <a:pt x="36" y="175"/>
                    </a:lnTo>
                    <a:lnTo>
                      <a:pt x="3" y="15"/>
                    </a:lnTo>
                    <a:lnTo>
                      <a:pt x="10" y="11"/>
                    </a:lnTo>
                    <a:lnTo>
                      <a:pt x="3" y="15"/>
                    </a:lnTo>
                    <a:lnTo>
                      <a:pt x="0" y="0"/>
                    </a:lnTo>
                    <a:lnTo>
                      <a:pt x="10" y="11"/>
                    </a:lnTo>
                    <a:lnTo>
                      <a:pt x="6" y="19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39" name="Freeform 135"/>
              <p:cNvSpPr>
                <a:spLocks/>
              </p:cNvSpPr>
              <p:nvPr/>
            </p:nvSpPr>
            <p:spPr bwMode="auto">
              <a:xfrm>
                <a:off x="3989" y="1754"/>
                <a:ext cx="119" cy="118"/>
              </a:xfrm>
              <a:custGeom>
                <a:avLst/>
                <a:gdLst>
                  <a:gd name="T0" fmla="*/ 107 w 119"/>
                  <a:gd name="T1" fmla="*/ 106 h 118"/>
                  <a:gd name="T2" fmla="*/ 108 w 119"/>
                  <a:gd name="T3" fmla="*/ 115 h 118"/>
                  <a:gd name="T4" fmla="*/ 0 w 119"/>
                  <a:gd name="T5" fmla="*/ 9 h 118"/>
                  <a:gd name="T6" fmla="*/ 5 w 119"/>
                  <a:gd name="T7" fmla="*/ 0 h 118"/>
                  <a:gd name="T8" fmla="*/ 113 w 119"/>
                  <a:gd name="T9" fmla="*/ 107 h 118"/>
                  <a:gd name="T10" fmla="*/ 115 w 119"/>
                  <a:gd name="T11" fmla="*/ 118 h 118"/>
                  <a:gd name="T12" fmla="*/ 113 w 119"/>
                  <a:gd name="T13" fmla="*/ 107 h 118"/>
                  <a:gd name="T14" fmla="*/ 119 w 119"/>
                  <a:gd name="T15" fmla="*/ 113 h 118"/>
                  <a:gd name="T16" fmla="*/ 115 w 119"/>
                  <a:gd name="T17" fmla="*/ 118 h 118"/>
                  <a:gd name="T18" fmla="*/ 107 w 119"/>
                  <a:gd name="T19" fmla="*/ 106 h 1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9"/>
                  <a:gd name="T31" fmla="*/ 0 h 118"/>
                  <a:gd name="T32" fmla="*/ 119 w 119"/>
                  <a:gd name="T33" fmla="*/ 118 h 1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9" h="118">
                    <a:moveTo>
                      <a:pt x="107" y="106"/>
                    </a:moveTo>
                    <a:lnTo>
                      <a:pt x="108" y="115"/>
                    </a:lnTo>
                    <a:lnTo>
                      <a:pt x="0" y="9"/>
                    </a:lnTo>
                    <a:lnTo>
                      <a:pt x="5" y="0"/>
                    </a:lnTo>
                    <a:lnTo>
                      <a:pt x="113" y="107"/>
                    </a:lnTo>
                    <a:lnTo>
                      <a:pt x="115" y="118"/>
                    </a:lnTo>
                    <a:lnTo>
                      <a:pt x="113" y="107"/>
                    </a:lnTo>
                    <a:lnTo>
                      <a:pt x="119" y="113"/>
                    </a:lnTo>
                    <a:lnTo>
                      <a:pt x="115" y="118"/>
                    </a:lnTo>
                    <a:lnTo>
                      <a:pt x="107" y="106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40" name="Freeform 136"/>
              <p:cNvSpPr>
                <a:spLocks/>
              </p:cNvSpPr>
              <p:nvPr/>
            </p:nvSpPr>
            <p:spPr bwMode="auto">
              <a:xfrm>
                <a:off x="4022" y="1861"/>
                <a:ext cx="82" cy="68"/>
              </a:xfrm>
              <a:custGeom>
                <a:avLst/>
                <a:gdLst>
                  <a:gd name="T0" fmla="*/ 9 w 82"/>
                  <a:gd name="T1" fmla="*/ 60 h 68"/>
                  <a:gd name="T2" fmla="*/ 1 w 82"/>
                  <a:gd name="T3" fmla="*/ 53 h 68"/>
                  <a:gd name="T4" fmla="*/ 76 w 82"/>
                  <a:gd name="T5" fmla="*/ 0 h 68"/>
                  <a:gd name="T6" fmla="*/ 82 w 82"/>
                  <a:gd name="T7" fmla="*/ 12 h 68"/>
                  <a:gd name="T8" fmla="*/ 6 w 82"/>
                  <a:gd name="T9" fmla="*/ 65 h 68"/>
                  <a:gd name="T10" fmla="*/ 0 w 82"/>
                  <a:gd name="T11" fmla="*/ 60 h 68"/>
                  <a:gd name="T12" fmla="*/ 6 w 82"/>
                  <a:gd name="T13" fmla="*/ 65 h 68"/>
                  <a:gd name="T14" fmla="*/ 1 w 82"/>
                  <a:gd name="T15" fmla="*/ 68 h 68"/>
                  <a:gd name="T16" fmla="*/ 0 w 82"/>
                  <a:gd name="T17" fmla="*/ 60 h 68"/>
                  <a:gd name="T18" fmla="*/ 9 w 82"/>
                  <a:gd name="T19" fmla="*/ 60 h 6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2"/>
                  <a:gd name="T31" fmla="*/ 0 h 68"/>
                  <a:gd name="T32" fmla="*/ 82 w 82"/>
                  <a:gd name="T33" fmla="*/ 68 h 6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2" h="68">
                    <a:moveTo>
                      <a:pt x="9" y="60"/>
                    </a:moveTo>
                    <a:lnTo>
                      <a:pt x="1" y="53"/>
                    </a:lnTo>
                    <a:lnTo>
                      <a:pt x="76" y="0"/>
                    </a:lnTo>
                    <a:lnTo>
                      <a:pt x="82" y="12"/>
                    </a:lnTo>
                    <a:lnTo>
                      <a:pt x="6" y="65"/>
                    </a:lnTo>
                    <a:lnTo>
                      <a:pt x="0" y="60"/>
                    </a:lnTo>
                    <a:lnTo>
                      <a:pt x="6" y="65"/>
                    </a:lnTo>
                    <a:lnTo>
                      <a:pt x="1" y="68"/>
                    </a:lnTo>
                    <a:lnTo>
                      <a:pt x="0" y="60"/>
                    </a:lnTo>
                    <a:lnTo>
                      <a:pt x="9" y="6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41" name="Freeform 137"/>
              <p:cNvSpPr>
                <a:spLocks/>
              </p:cNvSpPr>
              <p:nvPr/>
            </p:nvSpPr>
            <p:spPr bwMode="auto">
              <a:xfrm>
                <a:off x="4009" y="1795"/>
                <a:ext cx="29" cy="32"/>
              </a:xfrm>
              <a:custGeom>
                <a:avLst/>
                <a:gdLst>
                  <a:gd name="T0" fmla="*/ 9 w 29"/>
                  <a:gd name="T1" fmla="*/ 32 h 32"/>
                  <a:gd name="T2" fmla="*/ 0 w 29"/>
                  <a:gd name="T3" fmla="*/ 16 h 32"/>
                  <a:gd name="T4" fmla="*/ 19 w 29"/>
                  <a:gd name="T5" fmla="*/ 0 h 32"/>
                  <a:gd name="T6" fmla="*/ 29 w 29"/>
                  <a:gd name="T7" fmla="*/ 15 h 32"/>
                  <a:gd name="T8" fmla="*/ 9 w 29"/>
                  <a:gd name="T9" fmla="*/ 3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32"/>
                  <a:gd name="T17" fmla="*/ 29 w 29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32">
                    <a:moveTo>
                      <a:pt x="9" y="32"/>
                    </a:moveTo>
                    <a:lnTo>
                      <a:pt x="0" y="16"/>
                    </a:lnTo>
                    <a:lnTo>
                      <a:pt x="19" y="0"/>
                    </a:lnTo>
                    <a:lnTo>
                      <a:pt x="29" y="15"/>
                    </a:lnTo>
                    <a:lnTo>
                      <a:pt x="9" y="3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42" name="Freeform 138"/>
              <p:cNvSpPr>
                <a:spLocks/>
              </p:cNvSpPr>
              <p:nvPr/>
            </p:nvSpPr>
            <p:spPr bwMode="auto">
              <a:xfrm>
                <a:off x="4019" y="1812"/>
                <a:ext cx="119" cy="228"/>
              </a:xfrm>
              <a:custGeom>
                <a:avLst/>
                <a:gdLst>
                  <a:gd name="T0" fmla="*/ 93 w 119"/>
                  <a:gd name="T1" fmla="*/ 228 h 228"/>
                  <a:gd name="T2" fmla="*/ 93 w 119"/>
                  <a:gd name="T3" fmla="*/ 228 h 228"/>
                  <a:gd name="T4" fmla="*/ 84 w 119"/>
                  <a:gd name="T5" fmla="*/ 198 h 228"/>
                  <a:gd name="T6" fmla="*/ 73 w 119"/>
                  <a:gd name="T7" fmla="*/ 172 h 228"/>
                  <a:gd name="T8" fmla="*/ 63 w 119"/>
                  <a:gd name="T9" fmla="*/ 144 h 228"/>
                  <a:gd name="T10" fmla="*/ 52 w 119"/>
                  <a:gd name="T11" fmla="*/ 117 h 228"/>
                  <a:gd name="T12" fmla="*/ 40 w 119"/>
                  <a:gd name="T13" fmla="*/ 92 h 228"/>
                  <a:gd name="T14" fmla="*/ 28 w 119"/>
                  <a:gd name="T15" fmla="*/ 66 h 228"/>
                  <a:gd name="T16" fmla="*/ 14 w 119"/>
                  <a:gd name="T17" fmla="*/ 41 h 228"/>
                  <a:gd name="T18" fmla="*/ 0 w 119"/>
                  <a:gd name="T19" fmla="*/ 18 h 228"/>
                  <a:gd name="T20" fmla="*/ 22 w 119"/>
                  <a:gd name="T21" fmla="*/ 0 h 228"/>
                  <a:gd name="T22" fmla="*/ 36 w 119"/>
                  <a:gd name="T23" fmla="*/ 25 h 228"/>
                  <a:gd name="T24" fmla="*/ 51 w 119"/>
                  <a:gd name="T25" fmla="*/ 52 h 228"/>
                  <a:gd name="T26" fmla="*/ 63 w 119"/>
                  <a:gd name="T27" fmla="*/ 78 h 228"/>
                  <a:gd name="T28" fmla="*/ 75 w 119"/>
                  <a:gd name="T29" fmla="*/ 107 h 228"/>
                  <a:gd name="T30" fmla="*/ 88 w 119"/>
                  <a:gd name="T31" fmla="*/ 133 h 228"/>
                  <a:gd name="T32" fmla="*/ 99 w 119"/>
                  <a:gd name="T33" fmla="*/ 163 h 228"/>
                  <a:gd name="T34" fmla="*/ 108 w 119"/>
                  <a:gd name="T35" fmla="*/ 190 h 228"/>
                  <a:gd name="T36" fmla="*/ 119 w 119"/>
                  <a:gd name="T37" fmla="*/ 220 h 228"/>
                  <a:gd name="T38" fmla="*/ 93 w 119"/>
                  <a:gd name="T39" fmla="*/ 228 h 22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9"/>
                  <a:gd name="T61" fmla="*/ 0 h 228"/>
                  <a:gd name="T62" fmla="*/ 119 w 119"/>
                  <a:gd name="T63" fmla="*/ 228 h 22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9" h="228">
                    <a:moveTo>
                      <a:pt x="93" y="228"/>
                    </a:moveTo>
                    <a:lnTo>
                      <a:pt x="93" y="228"/>
                    </a:lnTo>
                    <a:lnTo>
                      <a:pt x="84" y="198"/>
                    </a:lnTo>
                    <a:lnTo>
                      <a:pt x="73" y="172"/>
                    </a:lnTo>
                    <a:lnTo>
                      <a:pt x="63" y="144"/>
                    </a:lnTo>
                    <a:lnTo>
                      <a:pt x="52" y="117"/>
                    </a:lnTo>
                    <a:lnTo>
                      <a:pt x="40" y="92"/>
                    </a:lnTo>
                    <a:lnTo>
                      <a:pt x="28" y="66"/>
                    </a:lnTo>
                    <a:lnTo>
                      <a:pt x="14" y="41"/>
                    </a:lnTo>
                    <a:lnTo>
                      <a:pt x="0" y="18"/>
                    </a:lnTo>
                    <a:lnTo>
                      <a:pt x="22" y="0"/>
                    </a:lnTo>
                    <a:lnTo>
                      <a:pt x="36" y="25"/>
                    </a:lnTo>
                    <a:lnTo>
                      <a:pt x="51" y="52"/>
                    </a:lnTo>
                    <a:lnTo>
                      <a:pt x="63" y="78"/>
                    </a:lnTo>
                    <a:lnTo>
                      <a:pt x="75" y="107"/>
                    </a:lnTo>
                    <a:lnTo>
                      <a:pt x="88" y="133"/>
                    </a:lnTo>
                    <a:lnTo>
                      <a:pt x="99" y="163"/>
                    </a:lnTo>
                    <a:lnTo>
                      <a:pt x="108" y="190"/>
                    </a:lnTo>
                    <a:lnTo>
                      <a:pt x="119" y="220"/>
                    </a:lnTo>
                    <a:lnTo>
                      <a:pt x="93" y="228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43" name="Freeform 139"/>
              <p:cNvSpPr>
                <a:spLocks/>
              </p:cNvSpPr>
              <p:nvPr/>
            </p:nvSpPr>
            <p:spPr bwMode="auto">
              <a:xfrm>
                <a:off x="4116" y="2033"/>
                <a:ext cx="68" cy="205"/>
              </a:xfrm>
              <a:custGeom>
                <a:avLst/>
                <a:gdLst>
                  <a:gd name="T0" fmla="*/ 41 w 68"/>
                  <a:gd name="T1" fmla="*/ 203 h 205"/>
                  <a:gd name="T2" fmla="*/ 37 w 68"/>
                  <a:gd name="T3" fmla="*/ 179 h 205"/>
                  <a:gd name="T4" fmla="*/ 34 w 68"/>
                  <a:gd name="T5" fmla="*/ 154 h 205"/>
                  <a:gd name="T6" fmla="*/ 31 w 68"/>
                  <a:gd name="T7" fmla="*/ 129 h 205"/>
                  <a:gd name="T8" fmla="*/ 26 w 68"/>
                  <a:gd name="T9" fmla="*/ 106 h 205"/>
                  <a:gd name="T10" fmla="*/ 20 w 68"/>
                  <a:gd name="T11" fmla="*/ 81 h 205"/>
                  <a:gd name="T12" fmla="*/ 13 w 68"/>
                  <a:gd name="T13" fmla="*/ 56 h 205"/>
                  <a:gd name="T14" fmla="*/ 8 w 68"/>
                  <a:gd name="T15" fmla="*/ 32 h 205"/>
                  <a:gd name="T16" fmla="*/ 0 w 68"/>
                  <a:gd name="T17" fmla="*/ 7 h 205"/>
                  <a:gd name="T18" fmla="*/ 26 w 68"/>
                  <a:gd name="T19" fmla="*/ 0 h 205"/>
                  <a:gd name="T20" fmla="*/ 34 w 68"/>
                  <a:gd name="T21" fmla="*/ 26 h 205"/>
                  <a:gd name="T22" fmla="*/ 41 w 68"/>
                  <a:gd name="T23" fmla="*/ 51 h 205"/>
                  <a:gd name="T24" fmla="*/ 48 w 68"/>
                  <a:gd name="T25" fmla="*/ 79 h 205"/>
                  <a:gd name="T26" fmla="*/ 52 w 68"/>
                  <a:gd name="T27" fmla="*/ 103 h 205"/>
                  <a:gd name="T28" fmla="*/ 57 w 68"/>
                  <a:gd name="T29" fmla="*/ 129 h 205"/>
                  <a:gd name="T30" fmla="*/ 63 w 68"/>
                  <a:gd name="T31" fmla="*/ 156 h 205"/>
                  <a:gd name="T32" fmla="*/ 66 w 68"/>
                  <a:gd name="T33" fmla="*/ 180 h 205"/>
                  <a:gd name="T34" fmla="*/ 68 w 68"/>
                  <a:gd name="T35" fmla="*/ 205 h 205"/>
                  <a:gd name="T36" fmla="*/ 41 w 68"/>
                  <a:gd name="T37" fmla="*/ 203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8"/>
                  <a:gd name="T58" fmla="*/ 0 h 205"/>
                  <a:gd name="T59" fmla="*/ 68 w 68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8" h="205">
                    <a:moveTo>
                      <a:pt x="41" y="203"/>
                    </a:moveTo>
                    <a:lnTo>
                      <a:pt x="37" y="179"/>
                    </a:lnTo>
                    <a:lnTo>
                      <a:pt x="34" y="154"/>
                    </a:lnTo>
                    <a:lnTo>
                      <a:pt x="31" y="129"/>
                    </a:lnTo>
                    <a:lnTo>
                      <a:pt x="26" y="106"/>
                    </a:lnTo>
                    <a:lnTo>
                      <a:pt x="20" y="81"/>
                    </a:lnTo>
                    <a:lnTo>
                      <a:pt x="13" y="56"/>
                    </a:lnTo>
                    <a:lnTo>
                      <a:pt x="8" y="32"/>
                    </a:lnTo>
                    <a:lnTo>
                      <a:pt x="0" y="7"/>
                    </a:lnTo>
                    <a:lnTo>
                      <a:pt x="26" y="0"/>
                    </a:lnTo>
                    <a:lnTo>
                      <a:pt x="34" y="26"/>
                    </a:lnTo>
                    <a:lnTo>
                      <a:pt x="41" y="51"/>
                    </a:lnTo>
                    <a:lnTo>
                      <a:pt x="48" y="79"/>
                    </a:lnTo>
                    <a:lnTo>
                      <a:pt x="52" y="103"/>
                    </a:lnTo>
                    <a:lnTo>
                      <a:pt x="57" y="129"/>
                    </a:lnTo>
                    <a:lnTo>
                      <a:pt x="63" y="156"/>
                    </a:lnTo>
                    <a:lnTo>
                      <a:pt x="66" y="180"/>
                    </a:lnTo>
                    <a:lnTo>
                      <a:pt x="68" y="205"/>
                    </a:lnTo>
                    <a:lnTo>
                      <a:pt x="41" y="203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44" name="Freeform 140"/>
              <p:cNvSpPr>
                <a:spLocks/>
              </p:cNvSpPr>
              <p:nvPr/>
            </p:nvSpPr>
            <p:spPr bwMode="auto">
              <a:xfrm>
                <a:off x="4160" y="2235"/>
                <a:ext cx="29" cy="20"/>
              </a:xfrm>
              <a:custGeom>
                <a:avLst/>
                <a:gdLst>
                  <a:gd name="T0" fmla="*/ 27 w 29"/>
                  <a:gd name="T1" fmla="*/ 2 h 20"/>
                  <a:gd name="T2" fmla="*/ 29 w 29"/>
                  <a:gd name="T3" fmla="*/ 20 h 20"/>
                  <a:gd name="T4" fmla="*/ 3 w 29"/>
                  <a:gd name="T5" fmla="*/ 18 h 20"/>
                  <a:gd name="T6" fmla="*/ 0 w 29"/>
                  <a:gd name="T7" fmla="*/ 0 h 20"/>
                  <a:gd name="T8" fmla="*/ 27 w 29"/>
                  <a:gd name="T9" fmla="*/ 2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20"/>
                  <a:gd name="T17" fmla="*/ 29 w 29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20">
                    <a:moveTo>
                      <a:pt x="27" y="2"/>
                    </a:moveTo>
                    <a:lnTo>
                      <a:pt x="29" y="20"/>
                    </a:lnTo>
                    <a:lnTo>
                      <a:pt x="3" y="18"/>
                    </a:lnTo>
                    <a:lnTo>
                      <a:pt x="0" y="0"/>
                    </a:lnTo>
                    <a:lnTo>
                      <a:pt x="27" y="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45" name="Freeform 141"/>
              <p:cNvSpPr>
                <a:spLocks/>
              </p:cNvSpPr>
              <p:nvPr/>
            </p:nvSpPr>
            <p:spPr bwMode="auto">
              <a:xfrm>
                <a:off x="3968" y="1726"/>
                <a:ext cx="113" cy="163"/>
              </a:xfrm>
              <a:custGeom>
                <a:avLst/>
                <a:gdLst>
                  <a:gd name="T0" fmla="*/ 41 w 113"/>
                  <a:gd name="T1" fmla="*/ 163 h 163"/>
                  <a:gd name="T2" fmla="*/ 0 w 113"/>
                  <a:gd name="T3" fmla="*/ 0 h 163"/>
                  <a:gd name="T4" fmla="*/ 113 w 113"/>
                  <a:gd name="T5" fmla="*/ 102 h 163"/>
                  <a:gd name="T6" fmla="*/ 41 w 113"/>
                  <a:gd name="T7" fmla="*/ 163 h 1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3"/>
                  <a:gd name="T13" fmla="*/ 0 h 163"/>
                  <a:gd name="T14" fmla="*/ 113 w 113"/>
                  <a:gd name="T15" fmla="*/ 163 h 1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3" h="163">
                    <a:moveTo>
                      <a:pt x="41" y="163"/>
                    </a:moveTo>
                    <a:lnTo>
                      <a:pt x="0" y="0"/>
                    </a:lnTo>
                    <a:lnTo>
                      <a:pt x="113" y="102"/>
                    </a:lnTo>
                    <a:lnTo>
                      <a:pt x="41" y="1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46" name="Freeform 142"/>
              <p:cNvSpPr>
                <a:spLocks/>
              </p:cNvSpPr>
              <p:nvPr/>
            </p:nvSpPr>
            <p:spPr bwMode="auto">
              <a:xfrm>
                <a:off x="3956" y="1706"/>
                <a:ext cx="60" cy="185"/>
              </a:xfrm>
              <a:custGeom>
                <a:avLst/>
                <a:gdLst>
                  <a:gd name="T0" fmla="*/ 11 w 60"/>
                  <a:gd name="T1" fmla="*/ 29 h 185"/>
                  <a:gd name="T2" fmla="*/ 21 w 60"/>
                  <a:gd name="T3" fmla="*/ 20 h 185"/>
                  <a:gd name="T4" fmla="*/ 60 w 60"/>
                  <a:gd name="T5" fmla="*/ 182 h 185"/>
                  <a:gd name="T6" fmla="*/ 45 w 60"/>
                  <a:gd name="T7" fmla="*/ 185 h 185"/>
                  <a:gd name="T8" fmla="*/ 6 w 60"/>
                  <a:gd name="T9" fmla="*/ 23 h 185"/>
                  <a:gd name="T10" fmla="*/ 17 w 60"/>
                  <a:gd name="T11" fmla="*/ 15 h 185"/>
                  <a:gd name="T12" fmla="*/ 6 w 60"/>
                  <a:gd name="T13" fmla="*/ 23 h 185"/>
                  <a:gd name="T14" fmla="*/ 0 w 60"/>
                  <a:gd name="T15" fmla="*/ 0 h 185"/>
                  <a:gd name="T16" fmla="*/ 17 w 60"/>
                  <a:gd name="T17" fmla="*/ 15 h 185"/>
                  <a:gd name="T18" fmla="*/ 11 w 60"/>
                  <a:gd name="T19" fmla="*/ 29 h 1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0"/>
                  <a:gd name="T31" fmla="*/ 0 h 185"/>
                  <a:gd name="T32" fmla="*/ 60 w 60"/>
                  <a:gd name="T33" fmla="*/ 185 h 1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0" h="185">
                    <a:moveTo>
                      <a:pt x="11" y="29"/>
                    </a:moveTo>
                    <a:lnTo>
                      <a:pt x="21" y="20"/>
                    </a:lnTo>
                    <a:lnTo>
                      <a:pt x="60" y="182"/>
                    </a:lnTo>
                    <a:lnTo>
                      <a:pt x="45" y="185"/>
                    </a:lnTo>
                    <a:lnTo>
                      <a:pt x="6" y="23"/>
                    </a:lnTo>
                    <a:lnTo>
                      <a:pt x="17" y="15"/>
                    </a:lnTo>
                    <a:lnTo>
                      <a:pt x="6" y="23"/>
                    </a:lnTo>
                    <a:lnTo>
                      <a:pt x="0" y="0"/>
                    </a:lnTo>
                    <a:lnTo>
                      <a:pt x="17" y="15"/>
                    </a:lnTo>
                    <a:lnTo>
                      <a:pt x="11" y="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47" name="Freeform 143"/>
              <p:cNvSpPr>
                <a:spLocks/>
              </p:cNvSpPr>
              <p:nvPr/>
            </p:nvSpPr>
            <p:spPr bwMode="auto">
              <a:xfrm>
                <a:off x="3966" y="1722"/>
                <a:ext cx="127" cy="115"/>
              </a:xfrm>
              <a:custGeom>
                <a:avLst/>
                <a:gdLst>
                  <a:gd name="T0" fmla="*/ 108 w 127"/>
                  <a:gd name="T1" fmla="*/ 98 h 115"/>
                  <a:gd name="T2" fmla="*/ 110 w 127"/>
                  <a:gd name="T3" fmla="*/ 114 h 115"/>
                  <a:gd name="T4" fmla="*/ 0 w 127"/>
                  <a:gd name="T5" fmla="*/ 15 h 115"/>
                  <a:gd name="T6" fmla="*/ 5 w 127"/>
                  <a:gd name="T7" fmla="*/ 0 h 115"/>
                  <a:gd name="T8" fmla="*/ 116 w 127"/>
                  <a:gd name="T9" fmla="*/ 99 h 115"/>
                  <a:gd name="T10" fmla="*/ 119 w 127"/>
                  <a:gd name="T11" fmla="*/ 115 h 115"/>
                  <a:gd name="T12" fmla="*/ 116 w 127"/>
                  <a:gd name="T13" fmla="*/ 99 h 115"/>
                  <a:gd name="T14" fmla="*/ 127 w 127"/>
                  <a:gd name="T15" fmla="*/ 109 h 115"/>
                  <a:gd name="T16" fmla="*/ 119 w 127"/>
                  <a:gd name="T17" fmla="*/ 115 h 115"/>
                  <a:gd name="T18" fmla="*/ 108 w 127"/>
                  <a:gd name="T19" fmla="*/ 98 h 1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"/>
                  <a:gd name="T31" fmla="*/ 0 h 115"/>
                  <a:gd name="T32" fmla="*/ 127 w 127"/>
                  <a:gd name="T33" fmla="*/ 115 h 11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" h="115">
                    <a:moveTo>
                      <a:pt x="108" y="98"/>
                    </a:moveTo>
                    <a:lnTo>
                      <a:pt x="110" y="114"/>
                    </a:lnTo>
                    <a:lnTo>
                      <a:pt x="0" y="15"/>
                    </a:lnTo>
                    <a:lnTo>
                      <a:pt x="5" y="0"/>
                    </a:lnTo>
                    <a:lnTo>
                      <a:pt x="116" y="99"/>
                    </a:lnTo>
                    <a:lnTo>
                      <a:pt x="119" y="115"/>
                    </a:lnTo>
                    <a:lnTo>
                      <a:pt x="116" y="99"/>
                    </a:lnTo>
                    <a:lnTo>
                      <a:pt x="127" y="109"/>
                    </a:lnTo>
                    <a:lnTo>
                      <a:pt x="119" y="115"/>
                    </a:lnTo>
                    <a:lnTo>
                      <a:pt x="108" y="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48" name="Freeform 144"/>
              <p:cNvSpPr>
                <a:spLocks/>
              </p:cNvSpPr>
              <p:nvPr/>
            </p:nvSpPr>
            <p:spPr bwMode="auto">
              <a:xfrm>
                <a:off x="4002" y="1821"/>
                <a:ext cx="86" cy="85"/>
              </a:xfrm>
              <a:custGeom>
                <a:avLst/>
                <a:gdLst>
                  <a:gd name="T0" fmla="*/ 15 w 86"/>
                  <a:gd name="T1" fmla="*/ 68 h 85"/>
                  <a:gd name="T2" fmla="*/ 2 w 86"/>
                  <a:gd name="T3" fmla="*/ 60 h 85"/>
                  <a:gd name="T4" fmla="*/ 75 w 86"/>
                  <a:gd name="T5" fmla="*/ 0 h 85"/>
                  <a:gd name="T6" fmla="*/ 86 w 86"/>
                  <a:gd name="T7" fmla="*/ 17 h 85"/>
                  <a:gd name="T8" fmla="*/ 13 w 86"/>
                  <a:gd name="T9" fmla="*/ 78 h 85"/>
                  <a:gd name="T10" fmla="*/ 0 w 86"/>
                  <a:gd name="T11" fmla="*/ 70 h 85"/>
                  <a:gd name="T12" fmla="*/ 13 w 86"/>
                  <a:gd name="T13" fmla="*/ 78 h 85"/>
                  <a:gd name="T14" fmla="*/ 5 w 86"/>
                  <a:gd name="T15" fmla="*/ 85 h 85"/>
                  <a:gd name="T16" fmla="*/ 0 w 86"/>
                  <a:gd name="T17" fmla="*/ 70 h 85"/>
                  <a:gd name="T18" fmla="*/ 15 w 86"/>
                  <a:gd name="T19" fmla="*/ 68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6"/>
                  <a:gd name="T31" fmla="*/ 0 h 85"/>
                  <a:gd name="T32" fmla="*/ 86 w 86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6" h="85">
                    <a:moveTo>
                      <a:pt x="15" y="68"/>
                    </a:moveTo>
                    <a:lnTo>
                      <a:pt x="2" y="60"/>
                    </a:lnTo>
                    <a:lnTo>
                      <a:pt x="75" y="0"/>
                    </a:lnTo>
                    <a:lnTo>
                      <a:pt x="86" y="17"/>
                    </a:lnTo>
                    <a:lnTo>
                      <a:pt x="13" y="78"/>
                    </a:lnTo>
                    <a:lnTo>
                      <a:pt x="0" y="70"/>
                    </a:lnTo>
                    <a:lnTo>
                      <a:pt x="13" y="78"/>
                    </a:lnTo>
                    <a:lnTo>
                      <a:pt x="5" y="85"/>
                    </a:lnTo>
                    <a:lnTo>
                      <a:pt x="0" y="70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49" name="Freeform 145"/>
              <p:cNvSpPr>
                <a:spLocks/>
              </p:cNvSpPr>
              <p:nvPr/>
            </p:nvSpPr>
            <p:spPr bwMode="auto">
              <a:xfrm>
                <a:off x="3977" y="1743"/>
                <a:ext cx="35" cy="42"/>
              </a:xfrm>
              <a:custGeom>
                <a:avLst/>
                <a:gdLst>
                  <a:gd name="T0" fmla="*/ 11 w 35"/>
                  <a:gd name="T1" fmla="*/ 42 h 42"/>
                  <a:gd name="T2" fmla="*/ 0 w 35"/>
                  <a:gd name="T3" fmla="*/ 23 h 42"/>
                  <a:gd name="T4" fmla="*/ 23 w 35"/>
                  <a:gd name="T5" fmla="*/ 0 h 42"/>
                  <a:gd name="T6" fmla="*/ 35 w 35"/>
                  <a:gd name="T7" fmla="*/ 20 h 42"/>
                  <a:gd name="T8" fmla="*/ 11 w 35"/>
                  <a:gd name="T9" fmla="*/ 42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42"/>
                  <a:gd name="T17" fmla="*/ 35 w 35"/>
                  <a:gd name="T18" fmla="*/ 42 h 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42">
                    <a:moveTo>
                      <a:pt x="11" y="42"/>
                    </a:moveTo>
                    <a:lnTo>
                      <a:pt x="0" y="23"/>
                    </a:lnTo>
                    <a:lnTo>
                      <a:pt x="23" y="0"/>
                    </a:lnTo>
                    <a:lnTo>
                      <a:pt x="35" y="20"/>
                    </a:lnTo>
                    <a:lnTo>
                      <a:pt x="11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50" name="Freeform 146"/>
              <p:cNvSpPr>
                <a:spLocks/>
              </p:cNvSpPr>
              <p:nvPr/>
            </p:nvSpPr>
            <p:spPr bwMode="auto">
              <a:xfrm>
                <a:off x="3991" y="1762"/>
                <a:ext cx="129" cy="228"/>
              </a:xfrm>
              <a:custGeom>
                <a:avLst/>
                <a:gdLst>
                  <a:gd name="T0" fmla="*/ 99 w 129"/>
                  <a:gd name="T1" fmla="*/ 228 h 228"/>
                  <a:gd name="T2" fmla="*/ 99 w 129"/>
                  <a:gd name="T3" fmla="*/ 228 h 228"/>
                  <a:gd name="T4" fmla="*/ 88 w 129"/>
                  <a:gd name="T5" fmla="*/ 200 h 228"/>
                  <a:gd name="T6" fmla="*/ 78 w 129"/>
                  <a:gd name="T7" fmla="*/ 173 h 228"/>
                  <a:gd name="T8" fmla="*/ 67 w 129"/>
                  <a:gd name="T9" fmla="*/ 147 h 228"/>
                  <a:gd name="T10" fmla="*/ 54 w 129"/>
                  <a:gd name="T11" fmla="*/ 121 h 228"/>
                  <a:gd name="T12" fmla="*/ 40 w 129"/>
                  <a:gd name="T13" fmla="*/ 95 h 228"/>
                  <a:gd name="T14" fmla="*/ 27 w 129"/>
                  <a:gd name="T15" fmla="*/ 70 h 228"/>
                  <a:gd name="T16" fmla="*/ 13 w 129"/>
                  <a:gd name="T17" fmla="*/ 45 h 228"/>
                  <a:gd name="T18" fmla="*/ 0 w 129"/>
                  <a:gd name="T19" fmla="*/ 23 h 228"/>
                  <a:gd name="T20" fmla="*/ 23 w 129"/>
                  <a:gd name="T21" fmla="*/ 0 h 228"/>
                  <a:gd name="T22" fmla="*/ 39 w 129"/>
                  <a:gd name="T23" fmla="*/ 25 h 228"/>
                  <a:gd name="T24" fmla="*/ 54 w 129"/>
                  <a:gd name="T25" fmla="*/ 51 h 228"/>
                  <a:gd name="T26" fmla="*/ 69 w 129"/>
                  <a:gd name="T27" fmla="*/ 78 h 228"/>
                  <a:gd name="T28" fmla="*/ 82 w 129"/>
                  <a:gd name="T29" fmla="*/ 104 h 228"/>
                  <a:gd name="T30" fmla="*/ 94 w 129"/>
                  <a:gd name="T31" fmla="*/ 131 h 228"/>
                  <a:gd name="T32" fmla="*/ 107 w 129"/>
                  <a:gd name="T33" fmla="*/ 160 h 228"/>
                  <a:gd name="T34" fmla="*/ 118 w 129"/>
                  <a:gd name="T35" fmla="*/ 188 h 228"/>
                  <a:gd name="T36" fmla="*/ 129 w 129"/>
                  <a:gd name="T37" fmla="*/ 216 h 228"/>
                  <a:gd name="T38" fmla="*/ 99 w 129"/>
                  <a:gd name="T39" fmla="*/ 228 h 22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9"/>
                  <a:gd name="T61" fmla="*/ 0 h 228"/>
                  <a:gd name="T62" fmla="*/ 129 w 129"/>
                  <a:gd name="T63" fmla="*/ 228 h 22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9" h="228">
                    <a:moveTo>
                      <a:pt x="99" y="228"/>
                    </a:moveTo>
                    <a:lnTo>
                      <a:pt x="99" y="228"/>
                    </a:lnTo>
                    <a:lnTo>
                      <a:pt x="88" y="200"/>
                    </a:lnTo>
                    <a:lnTo>
                      <a:pt x="78" y="173"/>
                    </a:lnTo>
                    <a:lnTo>
                      <a:pt x="67" y="147"/>
                    </a:lnTo>
                    <a:lnTo>
                      <a:pt x="54" y="121"/>
                    </a:lnTo>
                    <a:lnTo>
                      <a:pt x="40" y="95"/>
                    </a:lnTo>
                    <a:lnTo>
                      <a:pt x="27" y="70"/>
                    </a:lnTo>
                    <a:lnTo>
                      <a:pt x="13" y="45"/>
                    </a:lnTo>
                    <a:lnTo>
                      <a:pt x="0" y="23"/>
                    </a:lnTo>
                    <a:lnTo>
                      <a:pt x="23" y="0"/>
                    </a:lnTo>
                    <a:lnTo>
                      <a:pt x="39" y="25"/>
                    </a:lnTo>
                    <a:lnTo>
                      <a:pt x="54" y="51"/>
                    </a:lnTo>
                    <a:lnTo>
                      <a:pt x="69" y="78"/>
                    </a:lnTo>
                    <a:lnTo>
                      <a:pt x="82" y="104"/>
                    </a:lnTo>
                    <a:lnTo>
                      <a:pt x="94" y="131"/>
                    </a:lnTo>
                    <a:lnTo>
                      <a:pt x="107" y="160"/>
                    </a:lnTo>
                    <a:lnTo>
                      <a:pt x="118" y="188"/>
                    </a:lnTo>
                    <a:lnTo>
                      <a:pt x="129" y="216"/>
                    </a:lnTo>
                    <a:lnTo>
                      <a:pt x="99" y="2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51" name="Freeform 147"/>
              <p:cNvSpPr>
                <a:spLocks/>
              </p:cNvSpPr>
              <p:nvPr/>
            </p:nvSpPr>
            <p:spPr bwMode="auto">
              <a:xfrm>
                <a:off x="4093" y="1983"/>
                <a:ext cx="80" cy="205"/>
              </a:xfrm>
              <a:custGeom>
                <a:avLst/>
                <a:gdLst>
                  <a:gd name="T0" fmla="*/ 47 w 80"/>
                  <a:gd name="T1" fmla="*/ 204 h 205"/>
                  <a:gd name="T2" fmla="*/ 44 w 80"/>
                  <a:gd name="T3" fmla="*/ 180 h 205"/>
                  <a:gd name="T4" fmla="*/ 40 w 80"/>
                  <a:gd name="T5" fmla="*/ 156 h 205"/>
                  <a:gd name="T6" fmla="*/ 35 w 80"/>
                  <a:gd name="T7" fmla="*/ 130 h 205"/>
                  <a:gd name="T8" fmla="*/ 30 w 80"/>
                  <a:gd name="T9" fmla="*/ 108 h 205"/>
                  <a:gd name="T10" fmla="*/ 24 w 80"/>
                  <a:gd name="T11" fmla="*/ 83 h 205"/>
                  <a:gd name="T12" fmla="*/ 16 w 80"/>
                  <a:gd name="T13" fmla="*/ 59 h 205"/>
                  <a:gd name="T14" fmla="*/ 9 w 80"/>
                  <a:gd name="T15" fmla="*/ 35 h 205"/>
                  <a:gd name="T16" fmla="*/ 0 w 80"/>
                  <a:gd name="T17" fmla="*/ 10 h 205"/>
                  <a:gd name="T18" fmla="*/ 31 w 80"/>
                  <a:gd name="T19" fmla="*/ 0 h 205"/>
                  <a:gd name="T20" fmla="*/ 40 w 80"/>
                  <a:gd name="T21" fmla="*/ 24 h 205"/>
                  <a:gd name="T22" fmla="*/ 46 w 80"/>
                  <a:gd name="T23" fmla="*/ 51 h 205"/>
                  <a:gd name="T24" fmla="*/ 55 w 80"/>
                  <a:gd name="T25" fmla="*/ 77 h 205"/>
                  <a:gd name="T26" fmla="*/ 61 w 80"/>
                  <a:gd name="T27" fmla="*/ 102 h 205"/>
                  <a:gd name="T28" fmla="*/ 67 w 80"/>
                  <a:gd name="T29" fmla="*/ 128 h 205"/>
                  <a:gd name="T30" fmla="*/ 73 w 80"/>
                  <a:gd name="T31" fmla="*/ 155 h 205"/>
                  <a:gd name="T32" fmla="*/ 77 w 80"/>
                  <a:gd name="T33" fmla="*/ 180 h 205"/>
                  <a:gd name="T34" fmla="*/ 80 w 80"/>
                  <a:gd name="T35" fmla="*/ 205 h 205"/>
                  <a:gd name="T36" fmla="*/ 47 w 80"/>
                  <a:gd name="T37" fmla="*/ 204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0"/>
                  <a:gd name="T58" fmla="*/ 0 h 205"/>
                  <a:gd name="T59" fmla="*/ 80 w 80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0" h="205">
                    <a:moveTo>
                      <a:pt x="47" y="204"/>
                    </a:moveTo>
                    <a:lnTo>
                      <a:pt x="44" y="180"/>
                    </a:lnTo>
                    <a:lnTo>
                      <a:pt x="40" y="156"/>
                    </a:lnTo>
                    <a:lnTo>
                      <a:pt x="35" y="130"/>
                    </a:lnTo>
                    <a:lnTo>
                      <a:pt x="30" y="108"/>
                    </a:lnTo>
                    <a:lnTo>
                      <a:pt x="24" y="83"/>
                    </a:lnTo>
                    <a:lnTo>
                      <a:pt x="16" y="59"/>
                    </a:lnTo>
                    <a:lnTo>
                      <a:pt x="9" y="35"/>
                    </a:lnTo>
                    <a:lnTo>
                      <a:pt x="0" y="10"/>
                    </a:lnTo>
                    <a:lnTo>
                      <a:pt x="31" y="0"/>
                    </a:lnTo>
                    <a:lnTo>
                      <a:pt x="40" y="24"/>
                    </a:lnTo>
                    <a:lnTo>
                      <a:pt x="46" y="51"/>
                    </a:lnTo>
                    <a:lnTo>
                      <a:pt x="55" y="77"/>
                    </a:lnTo>
                    <a:lnTo>
                      <a:pt x="61" y="102"/>
                    </a:lnTo>
                    <a:lnTo>
                      <a:pt x="67" y="128"/>
                    </a:lnTo>
                    <a:lnTo>
                      <a:pt x="73" y="155"/>
                    </a:lnTo>
                    <a:lnTo>
                      <a:pt x="77" y="180"/>
                    </a:lnTo>
                    <a:lnTo>
                      <a:pt x="80" y="205"/>
                    </a:lnTo>
                    <a:lnTo>
                      <a:pt x="47" y="20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52" name="Freeform 148"/>
              <p:cNvSpPr>
                <a:spLocks/>
              </p:cNvSpPr>
              <p:nvPr/>
            </p:nvSpPr>
            <p:spPr bwMode="auto">
              <a:xfrm>
                <a:off x="4143" y="2187"/>
                <a:ext cx="38" cy="22"/>
              </a:xfrm>
              <a:custGeom>
                <a:avLst/>
                <a:gdLst>
                  <a:gd name="T0" fmla="*/ 35 w 38"/>
                  <a:gd name="T1" fmla="*/ 1 h 22"/>
                  <a:gd name="T2" fmla="*/ 38 w 38"/>
                  <a:gd name="T3" fmla="*/ 22 h 22"/>
                  <a:gd name="T4" fmla="*/ 4 w 38"/>
                  <a:gd name="T5" fmla="*/ 21 h 22"/>
                  <a:gd name="T6" fmla="*/ 0 w 38"/>
                  <a:gd name="T7" fmla="*/ 0 h 22"/>
                  <a:gd name="T8" fmla="*/ 35 w 38"/>
                  <a:gd name="T9" fmla="*/ 1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22"/>
                  <a:gd name="T17" fmla="*/ 38 w 38"/>
                  <a:gd name="T18" fmla="*/ 22 h 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22">
                    <a:moveTo>
                      <a:pt x="35" y="1"/>
                    </a:moveTo>
                    <a:lnTo>
                      <a:pt x="38" y="22"/>
                    </a:lnTo>
                    <a:lnTo>
                      <a:pt x="4" y="21"/>
                    </a:lnTo>
                    <a:lnTo>
                      <a:pt x="0" y="0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53" name="Freeform 149"/>
              <p:cNvSpPr>
                <a:spLocks/>
              </p:cNvSpPr>
              <p:nvPr/>
            </p:nvSpPr>
            <p:spPr bwMode="auto">
              <a:xfrm>
                <a:off x="3968" y="1726"/>
                <a:ext cx="113" cy="163"/>
              </a:xfrm>
              <a:custGeom>
                <a:avLst/>
                <a:gdLst>
                  <a:gd name="T0" fmla="*/ 41 w 113"/>
                  <a:gd name="T1" fmla="*/ 163 h 163"/>
                  <a:gd name="T2" fmla="*/ 0 w 113"/>
                  <a:gd name="T3" fmla="*/ 0 h 163"/>
                  <a:gd name="T4" fmla="*/ 113 w 113"/>
                  <a:gd name="T5" fmla="*/ 102 h 163"/>
                  <a:gd name="T6" fmla="*/ 41 w 113"/>
                  <a:gd name="T7" fmla="*/ 163 h 1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3"/>
                  <a:gd name="T13" fmla="*/ 0 h 163"/>
                  <a:gd name="T14" fmla="*/ 113 w 113"/>
                  <a:gd name="T15" fmla="*/ 163 h 1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3" h="163">
                    <a:moveTo>
                      <a:pt x="41" y="163"/>
                    </a:moveTo>
                    <a:lnTo>
                      <a:pt x="0" y="0"/>
                    </a:lnTo>
                    <a:lnTo>
                      <a:pt x="113" y="102"/>
                    </a:lnTo>
                    <a:lnTo>
                      <a:pt x="41" y="163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54" name="Freeform 150"/>
              <p:cNvSpPr>
                <a:spLocks/>
              </p:cNvSpPr>
              <p:nvPr/>
            </p:nvSpPr>
            <p:spPr bwMode="auto">
              <a:xfrm>
                <a:off x="3962" y="1713"/>
                <a:ext cx="51" cy="176"/>
              </a:xfrm>
              <a:custGeom>
                <a:avLst/>
                <a:gdLst>
                  <a:gd name="T0" fmla="*/ 5 w 51"/>
                  <a:gd name="T1" fmla="*/ 19 h 176"/>
                  <a:gd name="T2" fmla="*/ 11 w 51"/>
                  <a:gd name="T3" fmla="*/ 13 h 176"/>
                  <a:gd name="T4" fmla="*/ 51 w 51"/>
                  <a:gd name="T5" fmla="*/ 175 h 176"/>
                  <a:gd name="T6" fmla="*/ 42 w 51"/>
                  <a:gd name="T7" fmla="*/ 176 h 176"/>
                  <a:gd name="T8" fmla="*/ 2 w 51"/>
                  <a:gd name="T9" fmla="*/ 14 h 176"/>
                  <a:gd name="T10" fmla="*/ 8 w 51"/>
                  <a:gd name="T11" fmla="*/ 9 h 176"/>
                  <a:gd name="T12" fmla="*/ 2 w 51"/>
                  <a:gd name="T13" fmla="*/ 14 h 176"/>
                  <a:gd name="T14" fmla="*/ 0 w 51"/>
                  <a:gd name="T15" fmla="*/ 0 h 176"/>
                  <a:gd name="T16" fmla="*/ 8 w 51"/>
                  <a:gd name="T17" fmla="*/ 9 h 176"/>
                  <a:gd name="T18" fmla="*/ 5 w 51"/>
                  <a:gd name="T19" fmla="*/ 19 h 1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1"/>
                  <a:gd name="T31" fmla="*/ 0 h 176"/>
                  <a:gd name="T32" fmla="*/ 51 w 51"/>
                  <a:gd name="T33" fmla="*/ 176 h 1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1" h="176">
                    <a:moveTo>
                      <a:pt x="5" y="19"/>
                    </a:moveTo>
                    <a:lnTo>
                      <a:pt x="11" y="13"/>
                    </a:lnTo>
                    <a:lnTo>
                      <a:pt x="51" y="175"/>
                    </a:lnTo>
                    <a:lnTo>
                      <a:pt x="42" y="176"/>
                    </a:lnTo>
                    <a:lnTo>
                      <a:pt x="2" y="14"/>
                    </a:lnTo>
                    <a:lnTo>
                      <a:pt x="8" y="9"/>
                    </a:lnTo>
                    <a:lnTo>
                      <a:pt x="2" y="14"/>
                    </a:lnTo>
                    <a:lnTo>
                      <a:pt x="0" y="0"/>
                    </a:lnTo>
                    <a:lnTo>
                      <a:pt x="8" y="9"/>
                    </a:lnTo>
                    <a:lnTo>
                      <a:pt x="5" y="19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55" name="Freeform 151"/>
              <p:cNvSpPr>
                <a:spLocks/>
              </p:cNvSpPr>
              <p:nvPr/>
            </p:nvSpPr>
            <p:spPr bwMode="auto">
              <a:xfrm>
                <a:off x="3969" y="1723"/>
                <a:ext cx="120" cy="110"/>
              </a:xfrm>
              <a:custGeom>
                <a:avLst/>
                <a:gdLst>
                  <a:gd name="T0" fmla="*/ 109 w 120"/>
                  <a:gd name="T1" fmla="*/ 99 h 110"/>
                  <a:gd name="T2" fmla="*/ 110 w 120"/>
                  <a:gd name="T3" fmla="*/ 110 h 110"/>
                  <a:gd name="T4" fmla="*/ 0 w 120"/>
                  <a:gd name="T5" fmla="*/ 9 h 110"/>
                  <a:gd name="T6" fmla="*/ 3 w 120"/>
                  <a:gd name="T7" fmla="*/ 0 h 110"/>
                  <a:gd name="T8" fmla="*/ 113 w 120"/>
                  <a:gd name="T9" fmla="*/ 102 h 110"/>
                  <a:gd name="T10" fmla="*/ 116 w 120"/>
                  <a:gd name="T11" fmla="*/ 110 h 110"/>
                  <a:gd name="T12" fmla="*/ 113 w 120"/>
                  <a:gd name="T13" fmla="*/ 102 h 110"/>
                  <a:gd name="T14" fmla="*/ 120 w 120"/>
                  <a:gd name="T15" fmla="*/ 106 h 110"/>
                  <a:gd name="T16" fmla="*/ 116 w 120"/>
                  <a:gd name="T17" fmla="*/ 110 h 110"/>
                  <a:gd name="T18" fmla="*/ 109 w 120"/>
                  <a:gd name="T19" fmla="*/ 99 h 1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0"/>
                  <a:gd name="T31" fmla="*/ 0 h 110"/>
                  <a:gd name="T32" fmla="*/ 120 w 120"/>
                  <a:gd name="T33" fmla="*/ 110 h 11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0" h="110">
                    <a:moveTo>
                      <a:pt x="109" y="99"/>
                    </a:moveTo>
                    <a:lnTo>
                      <a:pt x="110" y="110"/>
                    </a:lnTo>
                    <a:lnTo>
                      <a:pt x="0" y="9"/>
                    </a:lnTo>
                    <a:lnTo>
                      <a:pt x="3" y="0"/>
                    </a:lnTo>
                    <a:lnTo>
                      <a:pt x="113" y="102"/>
                    </a:lnTo>
                    <a:lnTo>
                      <a:pt x="116" y="110"/>
                    </a:lnTo>
                    <a:lnTo>
                      <a:pt x="113" y="102"/>
                    </a:lnTo>
                    <a:lnTo>
                      <a:pt x="120" y="106"/>
                    </a:lnTo>
                    <a:lnTo>
                      <a:pt x="116" y="110"/>
                    </a:lnTo>
                    <a:lnTo>
                      <a:pt x="109" y="99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56" name="Freeform 152"/>
              <p:cNvSpPr>
                <a:spLocks/>
              </p:cNvSpPr>
              <p:nvPr/>
            </p:nvSpPr>
            <p:spPr bwMode="auto">
              <a:xfrm>
                <a:off x="4008" y="1825"/>
                <a:ext cx="78" cy="75"/>
              </a:xfrm>
              <a:custGeom>
                <a:avLst/>
                <a:gdLst>
                  <a:gd name="T0" fmla="*/ 8 w 78"/>
                  <a:gd name="T1" fmla="*/ 64 h 75"/>
                  <a:gd name="T2" fmla="*/ 1 w 78"/>
                  <a:gd name="T3" fmla="*/ 59 h 75"/>
                  <a:gd name="T4" fmla="*/ 71 w 78"/>
                  <a:gd name="T5" fmla="*/ 0 h 75"/>
                  <a:gd name="T6" fmla="*/ 78 w 78"/>
                  <a:gd name="T7" fmla="*/ 10 h 75"/>
                  <a:gd name="T8" fmla="*/ 6 w 78"/>
                  <a:gd name="T9" fmla="*/ 71 h 75"/>
                  <a:gd name="T10" fmla="*/ 0 w 78"/>
                  <a:gd name="T11" fmla="*/ 66 h 75"/>
                  <a:gd name="T12" fmla="*/ 6 w 78"/>
                  <a:gd name="T13" fmla="*/ 71 h 75"/>
                  <a:gd name="T14" fmla="*/ 1 w 78"/>
                  <a:gd name="T15" fmla="*/ 75 h 75"/>
                  <a:gd name="T16" fmla="*/ 0 w 78"/>
                  <a:gd name="T17" fmla="*/ 66 h 75"/>
                  <a:gd name="T18" fmla="*/ 8 w 78"/>
                  <a:gd name="T19" fmla="*/ 64 h 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8"/>
                  <a:gd name="T31" fmla="*/ 0 h 75"/>
                  <a:gd name="T32" fmla="*/ 78 w 78"/>
                  <a:gd name="T33" fmla="*/ 75 h 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8" h="75">
                    <a:moveTo>
                      <a:pt x="8" y="64"/>
                    </a:moveTo>
                    <a:lnTo>
                      <a:pt x="1" y="59"/>
                    </a:lnTo>
                    <a:lnTo>
                      <a:pt x="71" y="0"/>
                    </a:lnTo>
                    <a:lnTo>
                      <a:pt x="78" y="10"/>
                    </a:lnTo>
                    <a:lnTo>
                      <a:pt x="6" y="71"/>
                    </a:lnTo>
                    <a:lnTo>
                      <a:pt x="0" y="66"/>
                    </a:lnTo>
                    <a:lnTo>
                      <a:pt x="6" y="71"/>
                    </a:lnTo>
                    <a:lnTo>
                      <a:pt x="1" y="75"/>
                    </a:lnTo>
                    <a:lnTo>
                      <a:pt x="0" y="66"/>
                    </a:lnTo>
                    <a:lnTo>
                      <a:pt x="8" y="64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57" name="Freeform 153"/>
              <p:cNvSpPr>
                <a:spLocks/>
              </p:cNvSpPr>
              <p:nvPr/>
            </p:nvSpPr>
            <p:spPr bwMode="auto">
              <a:xfrm>
                <a:off x="3981" y="1748"/>
                <a:ext cx="30" cy="36"/>
              </a:xfrm>
              <a:custGeom>
                <a:avLst/>
                <a:gdLst>
                  <a:gd name="T0" fmla="*/ 10 w 30"/>
                  <a:gd name="T1" fmla="*/ 36 h 36"/>
                  <a:gd name="T2" fmla="*/ 0 w 30"/>
                  <a:gd name="T3" fmla="*/ 19 h 36"/>
                  <a:gd name="T4" fmla="*/ 20 w 30"/>
                  <a:gd name="T5" fmla="*/ 0 h 36"/>
                  <a:gd name="T6" fmla="*/ 30 w 30"/>
                  <a:gd name="T7" fmla="*/ 17 h 36"/>
                  <a:gd name="T8" fmla="*/ 10 w 30"/>
                  <a:gd name="T9" fmla="*/ 36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6"/>
                  <a:gd name="T17" fmla="*/ 30 w 3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6">
                    <a:moveTo>
                      <a:pt x="10" y="36"/>
                    </a:moveTo>
                    <a:lnTo>
                      <a:pt x="0" y="19"/>
                    </a:lnTo>
                    <a:lnTo>
                      <a:pt x="20" y="0"/>
                    </a:lnTo>
                    <a:lnTo>
                      <a:pt x="30" y="17"/>
                    </a:lnTo>
                    <a:lnTo>
                      <a:pt x="10" y="36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58" name="Freeform 154"/>
              <p:cNvSpPr>
                <a:spLocks/>
              </p:cNvSpPr>
              <p:nvPr/>
            </p:nvSpPr>
            <p:spPr bwMode="auto">
              <a:xfrm>
                <a:off x="3993" y="1766"/>
                <a:ext cx="125" cy="224"/>
              </a:xfrm>
              <a:custGeom>
                <a:avLst/>
                <a:gdLst>
                  <a:gd name="T0" fmla="*/ 100 w 125"/>
                  <a:gd name="T1" fmla="*/ 224 h 224"/>
                  <a:gd name="T2" fmla="*/ 100 w 125"/>
                  <a:gd name="T3" fmla="*/ 224 h 224"/>
                  <a:gd name="T4" fmla="*/ 88 w 125"/>
                  <a:gd name="T5" fmla="*/ 196 h 224"/>
                  <a:gd name="T6" fmla="*/ 78 w 125"/>
                  <a:gd name="T7" fmla="*/ 169 h 224"/>
                  <a:gd name="T8" fmla="*/ 67 w 125"/>
                  <a:gd name="T9" fmla="*/ 143 h 224"/>
                  <a:gd name="T10" fmla="*/ 54 w 125"/>
                  <a:gd name="T11" fmla="*/ 117 h 224"/>
                  <a:gd name="T12" fmla="*/ 41 w 125"/>
                  <a:gd name="T13" fmla="*/ 91 h 224"/>
                  <a:gd name="T14" fmla="*/ 29 w 125"/>
                  <a:gd name="T15" fmla="*/ 66 h 224"/>
                  <a:gd name="T16" fmla="*/ 15 w 125"/>
                  <a:gd name="T17" fmla="*/ 43 h 224"/>
                  <a:gd name="T18" fmla="*/ 0 w 125"/>
                  <a:gd name="T19" fmla="*/ 19 h 224"/>
                  <a:gd name="T20" fmla="*/ 20 w 125"/>
                  <a:gd name="T21" fmla="*/ 0 h 224"/>
                  <a:gd name="T22" fmla="*/ 35 w 125"/>
                  <a:gd name="T23" fmla="*/ 24 h 224"/>
                  <a:gd name="T24" fmla="*/ 50 w 125"/>
                  <a:gd name="T25" fmla="*/ 49 h 224"/>
                  <a:gd name="T26" fmla="*/ 65 w 125"/>
                  <a:gd name="T27" fmla="*/ 77 h 224"/>
                  <a:gd name="T28" fmla="*/ 78 w 125"/>
                  <a:gd name="T29" fmla="*/ 103 h 224"/>
                  <a:gd name="T30" fmla="*/ 91 w 125"/>
                  <a:gd name="T31" fmla="*/ 130 h 224"/>
                  <a:gd name="T32" fmla="*/ 103 w 125"/>
                  <a:gd name="T33" fmla="*/ 158 h 224"/>
                  <a:gd name="T34" fmla="*/ 114 w 125"/>
                  <a:gd name="T35" fmla="*/ 187 h 224"/>
                  <a:gd name="T36" fmla="*/ 125 w 125"/>
                  <a:gd name="T37" fmla="*/ 216 h 224"/>
                  <a:gd name="T38" fmla="*/ 100 w 125"/>
                  <a:gd name="T39" fmla="*/ 224 h 22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5"/>
                  <a:gd name="T61" fmla="*/ 0 h 224"/>
                  <a:gd name="T62" fmla="*/ 125 w 125"/>
                  <a:gd name="T63" fmla="*/ 224 h 22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5" h="224">
                    <a:moveTo>
                      <a:pt x="100" y="224"/>
                    </a:moveTo>
                    <a:lnTo>
                      <a:pt x="100" y="224"/>
                    </a:lnTo>
                    <a:lnTo>
                      <a:pt x="88" y="196"/>
                    </a:lnTo>
                    <a:lnTo>
                      <a:pt x="78" y="169"/>
                    </a:lnTo>
                    <a:lnTo>
                      <a:pt x="67" y="143"/>
                    </a:lnTo>
                    <a:lnTo>
                      <a:pt x="54" y="117"/>
                    </a:lnTo>
                    <a:lnTo>
                      <a:pt x="41" y="91"/>
                    </a:lnTo>
                    <a:lnTo>
                      <a:pt x="29" y="66"/>
                    </a:lnTo>
                    <a:lnTo>
                      <a:pt x="15" y="43"/>
                    </a:lnTo>
                    <a:lnTo>
                      <a:pt x="0" y="19"/>
                    </a:lnTo>
                    <a:lnTo>
                      <a:pt x="20" y="0"/>
                    </a:lnTo>
                    <a:lnTo>
                      <a:pt x="35" y="24"/>
                    </a:lnTo>
                    <a:lnTo>
                      <a:pt x="50" y="49"/>
                    </a:lnTo>
                    <a:lnTo>
                      <a:pt x="65" y="77"/>
                    </a:lnTo>
                    <a:lnTo>
                      <a:pt x="78" y="103"/>
                    </a:lnTo>
                    <a:lnTo>
                      <a:pt x="91" y="130"/>
                    </a:lnTo>
                    <a:lnTo>
                      <a:pt x="103" y="158"/>
                    </a:lnTo>
                    <a:lnTo>
                      <a:pt x="114" y="187"/>
                    </a:lnTo>
                    <a:lnTo>
                      <a:pt x="125" y="216"/>
                    </a:lnTo>
                    <a:lnTo>
                      <a:pt x="100" y="224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59" name="Freeform 155"/>
              <p:cNvSpPr>
                <a:spLocks/>
              </p:cNvSpPr>
              <p:nvPr/>
            </p:nvSpPr>
            <p:spPr bwMode="auto">
              <a:xfrm>
                <a:off x="4096" y="1984"/>
                <a:ext cx="74" cy="204"/>
              </a:xfrm>
              <a:custGeom>
                <a:avLst/>
                <a:gdLst>
                  <a:gd name="T0" fmla="*/ 46 w 74"/>
                  <a:gd name="T1" fmla="*/ 203 h 204"/>
                  <a:gd name="T2" fmla="*/ 43 w 74"/>
                  <a:gd name="T3" fmla="*/ 179 h 204"/>
                  <a:gd name="T4" fmla="*/ 39 w 74"/>
                  <a:gd name="T5" fmla="*/ 155 h 204"/>
                  <a:gd name="T6" fmla="*/ 33 w 74"/>
                  <a:gd name="T7" fmla="*/ 129 h 204"/>
                  <a:gd name="T8" fmla="*/ 28 w 74"/>
                  <a:gd name="T9" fmla="*/ 107 h 204"/>
                  <a:gd name="T10" fmla="*/ 23 w 74"/>
                  <a:gd name="T11" fmla="*/ 82 h 204"/>
                  <a:gd name="T12" fmla="*/ 14 w 74"/>
                  <a:gd name="T13" fmla="*/ 57 h 204"/>
                  <a:gd name="T14" fmla="*/ 8 w 74"/>
                  <a:gd name="T15" fmla="*/ 34 h 204"/>
                  <a:gd name="T16" fmla="*/ 0 w 74"/>
                  <a:gd name="T17" fmla="*/ 8 h 204"/>
                  <a:gd name="T18" fmla="*/ 25 w 74"/>
                  <a:gd name="T19" fmla="*/ 0 h 204"/>
                  <a:gd name="T20" fmla="*/ 32 w 74"/>
                  <a:gd name="T21" fmla="*/ 25 h 204"/>
                  <a:gd name="T22" fmla="*/ 41 w 74"/>
                  <a:gd name="T23" fmla="*/ 51 h 204"/>
                  <a:gd name="T24" fmla="*/ 48 w 74"/>
                  <a:gd name="T25" fmla="*/ 78 h 204"/>
                  <a:gd name="T26" fmla="*/ 55 w 74"/>
                  <a:gd name="T27" fmla="*/ 102 h 204"/>
                  <a:gd name="T28" fmla="*/ 61 w 74"/>
                  <a:gd name="T29" fmla="*/ 129 h 204"/>
                  <a:gd name="T30" fmla="*/ 66 w 74"/>
                  <a:gd name="T31" fmla="*/ 155 h 204"/>
                  <a:gd name="T32" fmla="*/ 70 w 74"/>
                  <a:gd name="T33" fmla="*/ 179 h 204"/>
                  <a:gd name="T34" fmla="*/ 74 w 74"/>
                  <a:gd name="T35" fmla="*/ 204 h 204"/>
                  <a:gd name="T36" fmla="*/ 46 w 74"/>
                  <a:gd name="T37" fmla="*/ 203 h 2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4"/>
                  <a:gd name="T58" fmla="*/ 0 h 204"/>
                  <a:gd name="T59" fmla="*/ 74 w 74"/>
                  <a:gd name="T60" fmla="*/ 204 h 20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4" h="204">
                    <a:moveTo>
                      <a:pt x="46" y="203"/>
                    </a:moveTo>
                    <a:lnTo>
                      <a:pt x="43" y="179"/>
                    </a:lnTo>
                    <a:lnTo>
                      <a:pt x="39" y="155"/>
                    </a:lnTo>
                    <a:lnTo>
                      <a:pt x="33" y="129"/>
                    </a:lnTo>
                    <a:lnTo>
                      <a:pt x="28" y="107"/>
                    </a:lnTo>
                    <a:lnTo>
                      <a:pt x="23" y="82"/>
                    </a:lnTo>
                    <a:lnTo>
                      <a:pt x="14" y="57"/>
                    </a:lnTo>
                    <a:lnTo>
                      <a:pt x="8" y="34"/>
                    </a:lnTo>
                    <a:lnTo>
                      <a:pt x="0" y="8"/>
                    </a:lnTo>
                    <a:lnTo>
                      <a:pt x="25" y="0"/>
                    </a:lnTo>
                    <a:lnTo>
                      <a:pt x="32" y="25"/>
                    </a:lnTo>
                    <a:lnTo>
                      <a:pt x="41" y="51"/>
                    </a:lnTo>
                    <a:lnTo>
                      <a:pt x="48" y="78"/>
                    </a:lnTo>
                    <a:lnTo>
                      <a:pt x="55" y="102"/>
                    </a:lnTo>
                    <a:lnTo>
                      <a:pt x="61" y="129"/>
                    </a:lnTo>
                    <a:lnTo>
                      <a:pt x="66" y="155"/>
                    </a:lnTo>
                    <a:lnTo>
                      <a:pt x="70" y="179"/>
                    </a:lnTo>
                    <a:lnTo>
                      <a:pt x="74" y="204"/>
                    </a:lnTo>
                    <a:lnTo>
                      <a:pt x="46" y="203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60" name="Freeform 156"/>
              <p:cNvSpPr>
                <a:spLocks/>
              </p:cNvSpPr>
              <p:nvPr/>
            </p:nvSpPr>
            <p:spPr bwMode="auto">
              <a:xfrm>
                <a:off x="4147" y="2187"/>
                <a:ext cx="32" cy="19"/>
              </a:xfrm>
              <a:custGeom>
                <a:avLst/>
                <a:gdLst>
                  <a:gd name="T0" fmla="*/ 28 w 32"/>
                  <a:gd name="T1" fmla="*/ 1 h 19"/>
                  <a:gd name="T2" fmla="*/ 32 w 32"/>
                  <a:gd name="T3" fmla="*/ 19 h 19"/>
                  <a:gd name="T4" fmla="*/ 3 w 32"/>
                  <a:gd name="T5" fmla="*/ 18 h 19"/>
                  <a:gd name="T6" fmla="*/ 0 w 32"/>
                  <a:gd name="T7" fmla="*/ 0 h 19"/>
                  <a:gd name="T8" fmla="*/ 28 w 32"/>
                  <a:gd name="T9" fmla="*/ 1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19"/>
                  <a:gd name="T17" fmla="*/ 32 w 32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19">
                    <a:moveTo>
                      <a:pt x="28" y="1"/>
                    </a:moveTo>
                    <a:lnTo>
                      <a:pt x="32" y="19"/>
                    </a:lnTo>
                    <a:lnTo>
                      <a:pt x="3" y="18"/>
                    </a:lnTo>
                    <a:lnTo>
                      <a:pt x="0" y="0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61" name="Freeform 157"/>
              <p:cNvSpPr>
                <a:spLocks/>
              </p:cNvSpPr>
              <p:nvPr/>
            </p:nvSpPr>
            <p:spPr bwMode="auto">
              <a:xfrm>
                <a:off x="3949" y="1703"/>
                <a:ext cx="114" cy="160"/>
              </a:xfrm>
              <a:custGeom>
                <a:avLst/>
                <a:gdLst>
                  <a:gd name="T0" fmla="*/ 45 w 114"/>
                  <a:gd name="T1" fmla="*/ 160 h 160"/>
                  <a:gd name="T2" fmla="*/ 0 w 114"/>
                  <a:gd name="T3" fmla="*/ 0 h 160"/>
                  <a:gd name="T4" fmla="*/ 114 w 114"/>
                  <a:gd name="T5" fmla="*/ 94 h 160"/>
                  <a:gd name="T6" fmla="*/ 45 w 114"/>
                  <a:gd name="T7" fmla="*/ 160 h 1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4"/>
                  <a:gd name="T13" fmla="*/ 0 h 160"/>
                  <a:gd name="T14" fmla="*/ 114 w 114"/>
                  <a:gd name="T15" fmla="*/ 160 h 1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4" h="160">
                    <a:moveTo>
                      <a:pt x="45" y="160"/>
                    </a:moveTo>
                    <a:lnTo>
                      <a:pt x="0" y="0"/>
                    </a:lnTo>
                    <a:lnTo>
                      <a:pt x="114" y="94"/>
                    </a:lnTo>
                    <a:lnTo>
                      <a:pt x="45" y="16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62" name="Freeform 158"/>
              <p:cNvSpPr>
                <a:spLocks/>
              </p:cNvSpPr>
              <p:nvPr/>
            </p:nvSpPr>
            <p:spPr bwMode="auto">
              <a:xfrm>
                <a:off x="3934" y="1679"/>
                <a:ext cx="66" cy="183"/>
              </a:xfrm>
              <a:custGeom>
                <a:avLst/>
                <a:gdLst>
                  <a:gd name="T0" fmla="*/ 11 w 66"/>
                  <a:gd name="T1" fmla="*/ 31 h 183"/>
                  <a:gd name="T2" fmla="*/ 21 w 66"/>
                  <a:gd name="T3" fmla="*/ 21 h 183"/>
                  <a:gd name="T4" fmla="*/ 66 w 66"/>
                  <a:gd name="T5" fmla="*/ 180 h 183"/>
                  <a:gd name="T6" fmla="*/ 52 w 66"/>
                  <a:gd name="T7" fmla="*/ 183 h 183"/>
                  <a:gd name="T8" fmla="*/ 6 w 66"/>
                  <a:gd name="T9" fmla="*/ 24 h 183"/>
                  <a:gd name="T10" fmla="*/ 17 w 66"/>
                  <a:gd name="T11" fmla="*/ 15 h 183"/>
                  <a:gd name="T12" fmla="*/ 6 w 66"/>
                  <a:gd name="T13" fmla="*/ 24 h 183"/>
                  <a:gd name="T14" fmla="*/ 0 w 66"/>
                  <a:gd name="T15" fmla="*/ 0 h 183"/>
                  <a:gd name="T16" fmla="*/ 17 w 66"/>
                  <a:gd name="T17" fmla="*/ 15 h 183"/>
                  <a:gd name="T18" fmla="*/ 11 w 66"/>
                  <a:gd name="T19" fmla="*/ 31 h 18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6"/>
                  <a:gd name="T31" fmla="*/ 0 h 183"/>
                  <a:gd name="T32" fmla="*/ 66 w 66"/>
                  <a:gd name="T33" fmla="*/ 183 h 18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6" h="183">
                    <a:moveTo>
                      <a:pt x="11" y="31"/>
                    </a:moveTo>
                    <a:lnTo>
                      <a:pt x="21" y="21"/>
                    </a:lnTo>
                    <a:lnTo>
                      <a:pt x="66" y="180"/>
                    </a:lnTo>
                    <a:lnTo>
                      <a:pt x="52" y="183"/>
                    </a:lnTo>
                    <a:lnTo>
                      <a:pt x="6" y="24"/>
                    </a:lnTo>
                    <a:lnTo>
                      <a:pt x="17" y="15"/>
                    </a:lnTo>
                    <a:lnTo>
                      <a:pt x="6" y="24"/>
                    </a:lnTo>
                    <a:lnTo>
                      <a:pt x="0" y="0"/>
                    </a:lnTo>
                    <a:lnTo>
                      <a:pt x="17" y="15"/>
                    </a:lnTo>
                    <a:lnTo>
                      <a:pt x="11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63" name="Freeform 159"/>
              <p:cNvSpPr>
                <a:spLocks/>
              </p:cNvSpPr>
              <p:nvPr/>
            </p:nvSpPr>
            <p:spPr bwMode="auto">
              <a:xfrm>
                <a:off x="3945" y="1694"/>
                <a:ext cx="129" cy="110"/>
              </a:xfrm>
              <a:custGeom>
                <a:avLst/>
                <a:gdLst>
                  <a:gd name="T0" fmla="*/ 111 w 129"/>
                  <a:gd name="T1" fmla="*/ 93 h 110"/>
                  <a:gd name="T2" fmla="*/ 113 w 129"/>
                  <a:gd name="T3" fmla="*/ 110 h 110"/>
                  <a:gd name="T4" fmla="*/ 0 w 129"/>
                  <a:gd name="T5" fmla="*/ 17 h 110"/>
                  <a:gd name="T6" fmla="*/ 5 w 129"/>
                  <a:gd name="T7" fmla="*/ 0 h 110"/>
                  <a:gd name="T8" fmla="*/ 118 w 129"/>
                  <a:gd name="T9" fmla="*/ 94 h 110"/>
                  <a:gd name="T10" fmla="*/ 121 w 129"/>
                  <a:gd name="T11" fmla="*/ 110 h 110"/>
                  <a:gd name="T12" fmla="*/ 118 w 129"/>
                  <a:gd name="T13" fmla="*/ 94 h 110"/>
                  <a:gd name="T14" fmla="*/ 129 w 129"/>
                  <a:gd name="T15" fmla="*/ 103 h 110"/>
                  <a:gd name="T16" fmla="*/ 121 w 129"/>
                  <a:gd name="T17" fmla="*/ 110 h 110"/>
                  <a:gd name="T18" fmla="*/ 111 w 129"/>
                  <a:gd name="T19" fmla="*/ 93 h 1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9"/>
                  <a:gd name="T31" fmla="*/ 0 h 110"/>
                  <a:gd name="T32" fmla="*/ 129 w 129"/>
                  <a:gd name="T33" fmla="*/ 110 h 11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9" h="110">
                    <a:moveTo>
                      <a:pt x="111" y="93"/>
                    </a:moveTo>
                    <a:lnTo>
                      <a:pt x="113" y="110"/>
                    </a:lnTo>
                    <a:lnTo>
                      <a:pt x="0" y="17"/>
                    </a:lnTo>
                    <a:lnTo>
                      <a:pt x="5" y="0"/>
                    </a:lnTo>
                    <a:lnTo>
                      <a:pt x="118" y="94"/>
                    </a:lnTo>
                    <a:lnTo>
                      <a:pt x="121" y="110"/>
                    </a:lnTo>
                    <a:lnTo>
                      <a:pt x="118" y="94"/>
                    </a:lnTo>
                    <a:lnTo>
                      <a:pt x="129" y="103"/>
                    </a:lnTo>
                    <a:lnTo>
                      <a:pt x="121" y="110"/>
                    </a:lnTo>
                    <a:lnTo>
                      <a:pt x="111" y="9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64" name="Freeform 160"/>
              <p:cNvSpPr>
                <a:spLocks/>
              </p:cNvSpPr>
              <p:nvPr/>
            </p:nvSpPr>
            <p:spPr bwMode="auto">
              <a:xfrm>
                <a:off x="3987" y="1788"/>
                <a:ext cx="80" cy="90"/>
              </a:xfrm>
              <a:custGeom>
                <a:avLst/>
                <a:gdLst>
                  <a:gd name="T0" fmla="*/ 15 w 80"/>
                  <a:gd name="T1" fmla="*/ 71 h 90"/>
                  <a:gd name="T2" fmla="*/ 1 w 80"/>
                  <a:gd name="T3" fmla="*/ 65 h 90"/>
                  <a:gd name="T4" fmla="*/ 71 w 80"/>
                  <a:gd name="T5" fmla="*/ 0 h 90"/>
                  <a:gd name="T6" fmla="*/ 80 w 80"/>
                  <a:gd name="T7" fmla="*/ 17 h 90"/>
                  <a:gd name="T8" fmla="*/ 13 w 80"/>
                  <a:gd name="T9" fmla="*/ 82 h 90"/>
                  <a:gd name="T10" fmla="*/ 0 w 80"/>
                  <a:gd name="T11" fmla="*/ 75 h 90"/>
                  <a:gd name="T12" fmla="*/ 13 w 80"/>
                  <a:gd name="T13" fmla="*/ 82 h 90"/>
                  <a:gd name="T14" fmla="*/ 5 w 80"/>
                  <a:gd name="T15" fmla="*/ 90 h 90"/>
                  <a:gd name="T16" fmla="*/ 0 w 80"/>
                  <a:gd name="T17" fmla="*/ 75 h 90"/>
                  <a:gd name="T18" fmla="*/ 15 w 80"/>
                  <a:gd name="T19" fmla="*/ 71 h 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0"/>
                  <a:gd name="T31" fmla="*/ 0 h 90"/>
                  <a:gd name="T32" fmla="*/ 80 w 80"/>
                  <a:gd name="T33" fmla="*/ 90 h 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0" h="90">
                    <a:moveTo>
                      <a:pt x="15" y="71"/>
                    </a:moveTo>
                    <a:lnTo>
                      <a:pt x="1" y="65"/>
                    </a:lnTo>
                    <a:lnTo>
                      <a:pt x="71" y="0"/>
                    </a:lnTo>
                    <a:lnTo>
                      <a:pt x="80" y="17"/>
                    </a:lnTo>
                    <a:lnTo>
                      <a:pt x="13" y="82"/>
                    </a:lnTo>
                    <a:lnTo>
                      <a:pt x="0" y="75"/>
                    </a:lnTo>
                    <a:lnTo>
                      <a:pt x="13" y="82"/>
                    </a:lnTo>
                    <a:lnTo>
                      <a:pt x="5" y="90"/>
                    </a:lnTo>
                    <a:lnTo>
                      <a:pt x="0" y="75"/>
                    </a:lnTo>
                    <a:lnTo>
                      <a:pt x="15" y="7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65" name="Freeform 161"/>
              <p:cNvSpPr>
                <a:spLocks/>
              </p:cNvSpPr>
              <p:nvPr/>
            </p:nvSpPr>
            <p:spPr bwMode="auto">
              <a:xfrm>
                <a:off x="3964" y="1726"/>
                <a:ext cx="34" cy="45"/>
              </a:xfrm>
              <a:custGeom>
                <a:avLst/>
                <a:gdLst>
                  <a:gd name="T0" fmla="*/ 12 w 34"/>
                  <a:gd name="T1" fmla="*/ 45 h 45"/>
                  <a:gd name="T2" fmla="*/ 0 w 34"/>
                  <a:gd name="T3" fmla="*/ 26 h 45"/>
                  <a:gd name="T4" fmla="*/ 22 w 34"/>
                  <a:gd name="T5" fmla="*/ 0 h 45"/>
                  <a:gd name="T6" fmla="*/ 34 w 34"/>
                  <a:gd name="T7" fmla="*/ 20 h 45"/>
                  <a:gd name="T8" fmla="*/ 12 w 34"/>
                  <a:gd name="T9" fmla="*/ 45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45"/>
                  <a:gd name="T17" fmla="*/ 34 w 34"/>
                  <a:gd name="T18" fmla="*/ 45 h 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45">
                    <a:moveTo>
                      <a:pt x="12" y="45"/>
                    </a:moveTo>
                    <a:lnTo>
                      <a:pt x="0" y="26"/>
                    </a:lnTo>
                    <a:lnTo>
                      <a:pt x="22" y="0"/>
                    </a:lnTo>
                    <a:lnTo>
                      <a:pt x="34" y="20"/>
                    </a:lnTo>
                    <a:lnTo>
                      <a:pt x="12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66" name="Freeform 162"/>
              <p:cNvSpPr>
                <a:spLocks/>
              </p:cNvSpPr>
              <p:nvPr/>
            </p:nvSpPr>
            <p:spPr bwMode="auto">
              <a:xfrm>
                <a:off x="3976" y="1746"/>
                <a:ext cx="128" cy="213"/>
              </a:xfrm>
              <a:custGeom>
                <a:avLst/>
                <a:gdLst>
                  <a:gd name="T0" fmla="*/ 98 w 128"/>
                  <a:gd name="T1" fmla="*/ 213 h 213"/>
                  <a:gd name="T2" fmla="*/ 98 w 128"/>
                  <a:gd name="T3" fmla="*/ 213 h 213"/>
                  <a:gd name="T4" fmla="*/ 87 w 128"/>
                  <a:gd name="T5" fmla="*/ 185 h 213"/>
                  <a:gd name="T6" fmla="*/ 77 w 128"/>
                  <a:gd name="T7" fmla="*/ 160 h 213"/>
                  <a:gd name="T8" fmla="*/ 65 w 128"/>
                  <a:gd name="T9" fmla="*/ 137 h 213"/>
                  <a:gd name="T10" fmla="*/ 53 w 128"/>
                  <a:gd name="T11" fmla="*/ 112 h 213"/>
                  <a:gd name="T12" fmla="*/ 41 w 128"/>
                  <a:gd name="T13" fmla="*/ 89 h 213"/>
                  <a:gd name="T14" fmla="*/ 29 w 128"/>
                  <a:gd name="T15" fmla="*/ 69 h 213"/>
                  <a:gd name="T16" fmla="*/ 16 w 128"/>
                  <a:gd name="T17" fmla="*/ 45 h 213"/>
                  <a:gd name="T18" fmla="*/ 0 w 128"/>
                  <a:gd name="T19" fmla="*/ 24 h 213"/>
                  <a:gd name="T20" fmla="*/ 23 w 128"/>
                  <a:gd name="T21" fmla="*/ 0 h 213"/>
                  <a:gd name="T22" fmla="*/ 39 w 128"/>
                  <a:gd name="T23" fmla="*/ 23 h 213"/>
                  <a:gd name="T24" fmla="*/ 54 w 128"/>
                  <a:gd name="T25" fmla="*/ 47 h 213"/>
                  <a:gd name="T26" fmla="*/ 68 w 128"/>
                  <a:gd name="T27" fmla="*/ 70 h 213"/>
                  <a:gd name="T28" fmla="*/ 80 w 128"/>
                  <a:gd name="T29" fmla="*/ 95 h 213"/>
                  <a:gd name="T30" fmla="*/ 93 w 128"/>
                  <a:gd name="T31" fmla="*/ 120 h 213"/>
                  <a:gd name="T32" fmla="*/ 105 w 128"/>
                  <a:gd name="T33" fmla="*/ 146 h 213"/>
                  <a:gd name="T34" fmla="*/ 117 w 128"/>
                  <a:gd name="T35" fmla="*/ 173 h 213"/>
                  <a:gd name="T36" fmla="*/ 128 w 128"/>
                  <a:gd name="T37" fmla="*/ 200 h 213"/>
                  <a:gd name="T38" fmla="*/ 98 w 128"/>
                  <a:gd name="T39" fmla="*/ 213 h 21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8"/>
                  <a:gd name="T61" fmla="*/ 0 h 213"/>
                  <a:gd name="T62" fmla="*/ 128 w 128"/>
                  <a:gd name="T63" fmla="*/ 213 h 21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8" h="213">
                    <a:moveTo>
                      <a:pt x="98" y="213"/>
                    </a:moveTo>
                    <a:lnTo>
                      <a:pt x="98" y="213"/>
                    </a:lnTo>
                    <a:lnTo>
                      <a:pt x="87" y="185"/>
                    </a:lnTo>
                    <a:lnTo>
                      <a:pt x="77" y="160"/>
                    </a:lnTo>
                    <a:lnTo>
                      <a:pt x="65" y="137"/>
                    </a:lnTo>
                    <a:lnTo>
                      <a:pt x="53" y="112"/>
                    </a:lnTo>
                    <a:lnTo>
                      <a:pt x="41" y="89"/>
                    </a:lnTo>
                    <a:lnTo>
                      <a:pt x="29" y="69"/>
                    </a:lnTo>
                    <a:lnTo>
                      <a:pt x="16" y="45"/>
                    </a:lnTo>
                    <a:lnTo>
                      <a:pt x="0" y="24"/>
                    </a:lnTo>
                    <a:lnTo>
                      <a:pt x="23" y="0"/>
                    </a:lnTo>
                    <a:lnTo>
                      <a:pt x="39" y="23"/>
                    </a:lnTo>
                    <a:lnTo>
                      <a:pt x="54" y="47"/>
                    </a:lnTo>
                    <a:lnTo>
                      <a:pt x="68" y="70"/>
                    </a:lnTo>
                    <a:lnTo>
                      <a:pt x="80" y="95"/>
                    </a:lnTo>
                    <a:lnTo>
                      <a:pt x="93" y="120"/>
                    </a:lnTo>
                    <a:lnTo>
                      <a:pt x="105" y="146"/>
                    </a:lnTo>
                    <a:lnTo>
                      <a:pt x="117" y="173"/>
                    </a:lnTo>
                    <a:lnTo>
                      <a:pt x="128" y="200"/>
                    </a:lnTo>
                    <a:lnTo>
                      <a:pt x="98" y="2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67" name="Freeform 163"/>
              <p:cNvSpPr>
                <a:spLocks/>
              </p:cNvSpPr>
              <p:nvPr/>
            </p:nvSpPr>
            <p:spPr bwMode="auto">
              <a:xfrm>
                <a:off x="4079" y="1950"/>
                <a:ext cx="88" cy="204"/>
              </a:xfrm>
              <a:custGeom>
                <a:avLst/>
                <a:gdLst>
                  <a:gd name="T0" fmla="*/ 56 w 88"/>
                  <a:gd name="T1" fmla="*/ 204 h 204"/>
                  <a:gd name="T2" fmla="*/ 50 w 88"/>
                  <a:gd name="T3" fmla="*/ 180 h 204"/>
                  <a:gd name="T4" fmla="*/ 46 w 88"/>
                  <a:gd name="T5" fmla="*/ 156 h 204"/>
                  <a:gd name="T6" fmla="*/ 40 w 88"/>
                  <a:gd name="T7" fmla="*/ 131 h 204"/>
                  <a:gd name="T8" fmla="*/ 33 w 88"/>
                  <a:gd name="T9" fmla="*/ 107 h 204"/>
                  <a:gd name="T10" fmla="*/ 27 w 88"/>
                  <a:gd name="T11" fmla="*/ 84 h 204"/>
                  <a:gd name="T12" fmla="*/ 18 w 88"/>
                  <a:gd name="T13" fmla="*/ 60 h 204"/>
                  <a:gd name="T14" fmla="*/ 10 w 88"/>
                  <a:gd name="T15" fmla="*/ 36 h 204"/>
                  <a:gd name="T16" fmla="*/ 0 w 88"/>
                  <a:gd name="T17" fmla="*/ 10 h 204"/>
                  <a:gd name="T18" fmla="*/ 30 w 88"/>
                  <a:gd name="T19" fmla="*/ 0 h 204"/>
                  <a:gd name="T20" fmla="*/ 40 w 88"/>
                  <a:gd name="T21" fmla="*/ 24 h 204"/>
                  <a:gd name="T22" fmla="*/ 48 w 88"/>
                  <a:gd name="T23" fmla="*/ 49 h 204"/>
                  <a:gd name="T24" fmla="*/ 57 w 88"/>
                  <a:gd name="T25" fmla="*/ 74 h 204"/>
                  <a:gd name="T26" fmla="*/ 64 w 88"/>
                  <a:gd name="T27" fmla="*/ 101 h 204"/>
                  <a:gd name="T28" fmla="*/ 71 w 88"/>
                  <a:gd name="T29" fmla="*/ 126 h 204"/>
                  <a:gd name="T30" fmla="*/ 78 w 88"/>
                  <a:gd name="T31" fmla="*/ 152 h 204"/>
                  <a:gd name="T32" fmla="*/ 84 w 88"/>
                  <a:gd name="T33" fmla="*/ 178 h 204"/>
                  <a:gd name="T34" fmla="*/ 88 w 88"/>
                  <a:gd name="T35" fmla="*/ 203 h 204"/>
                  <a:gd name="T36" fmla="*/ 56 w 88"/>
                  <a:gd name="T37" fmla="*/ 204 h 2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8"/>
                  <a:gd name="T58" fmla="*/ 0 h 204"/>
                  <a:gd name="T59" fmla="*/ 88 w 88"/>
                  <a:gd name="T60" fmla="*/ 204 h 20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8" h="204">
                    <a:moveTo>
                      <a:pt x="56" y="204"/>
                    </a:moveTo>
                    <a:lnTo>
                      <a:pt x="50" y="180"/>
                    </a:lnTo>
                    <a:lnTo>
                      <a:pt x="46" y="156"/>
                    </a:lnTo>
                    <a:lnTo>
                      <a:pt x="40" y="131"/>
                    </a:lnTo>
                    <a:lnTo>
                      <a:pt x="33" y="107"/>
                    </a:lnTo>
                    <a:lnTo>
                      <a:pt x="27" y="84"/>
                    </a:lnTo>
                    <a:lnTo>
                      <a:pt x="18" y="60"/>
                    </a:lnTo>
                    <a:lnTo>
                      <a:pt x="10" y="36"/>
                    </a:lnTo>
                    <a:lnTo>
                      <a:pt x="0" y="10"/>
                    </a:lnTo>
                    <a:lnTo>
                      <a:pt x="30" y="0"/>
                    </a:lnTo>
                    <a:lnTo>
                      <a:pt x="40" y="24"/>
                    </a:lnTo>
                    <a:lnTo>
                      <a:pt x="48" y="49"/>
                    </a:lnTo>
                    <a:lnTo>
                      <a:pt x="57" y="74"/>
                    </a:lnTo>
                    <a:lnTo>
                      <a:pt x="64" y="101"/>
                    </a:lnTo>
                    <a:lnTo>
                      <a:pt x="71" y="126"/>
                    </a:lnTo>
                    <a:lnTo>
                      <a:pt x="78" y="152"/>
                    </a:lnTo>
                    <a:lnTo>
                      <a:pt x="84" y="178"/>
                    </a:lnTo>
                    <a:lnTo>
                      <a:pt x="88" y="203"/>
                    </a:lnTo>
                    <a:lnTo>
                      <a:pt x="56" y="20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68" name="Freeform 164"/>
              <p:cNvSpPr>
                <a:spLocks/>
              </p:cNvSpPr>
              <p:nvPr/>
            </p:nvSpPr>
            <p:spPr bwMode="auto">
              <a:xfrm>
                <a:off x="4139" y="2154"/>
                <a:ext cx="34" cy="22"/>
              </a:xfrm>
              <a:custGeom>
                <a:avLst/>
                <a:gdLst>
                  <a:gd name="T0" fmla="*/ 30 w 34"/>
                  <a:gd name="T1" fmla="*/ 0 h 22"/>
                  <a:gd name="T2" fmla="*/ 34 w 34"/>
                  <a:gd name="T3" fmla="*/ 21 h 22"/>
                  <a:gd name="T4" fmla="*/ 4 w 34"/>
                  <a:gd name="T5" fmla="*/ 22 h 22"/>
                  <a:gd name="T6" fmla="*/ 0 w 34"/>
                  <a:gd name="T7" fmla="*/ 1 h 22"/>
                  <a:gd name="T8" fmla="*/ 30 w 34"/>
                  <a:gd name="T9" fmla="*/ 0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22"/>
                  <a:gd name="T17" fmla="*/ 34 w 34"/>
                  <a:gd name="T18" fmla="*/ 22 h 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22">
                    <a:moveTo>
                      <a:pt x="30" y="0"/>
                    </a:moveTo>
                    <a:lnTo>
                      <a:pt x="34" y="21"/>
                    </a:lnTo>
                    <a:lnTo>
                      <a:pt x="4" y="22"/>
                    </a:lnTo>
                    <a:lnTo>
                      <a:pt x="0" y="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69" name="Freeform 165"/>
              <p:cNvSpPr>
                <a:spLocks/>
              </p:cNvSpPr>
              <p:nvPr/>
            </p:nvSpPr>
            <p:spPr bwMode="auto">
              <a:xfrm>
                <a:off x="3949" y="1703"/>
                <a:ext cx="114" cy="160"/>
              </a:xfrm>
              <a:custGeom>
                <a:avLst/>
                <a:gdLst>
                  <a:gd name="T0" fmla="*/ 45 w 114"/>
                  <a:gd name="T1" fmla="*/ 160 h 160"/>
                  <a:gd name="T2" fmla="*/ 0 w 114"/>
                  <a:gd name="T3" fmla="*/ 0 h 160"/>
                  <a:gd name="T4" fmla="*/ 114 w 114"/>
                  <a:gd name="T5" fmla="*/ 94 h 160"/>
                  <a:gd name="T6" fmla="*/ 45 w 114"/>
                  <a:gd name="T7" fmla="*/ 160 h 1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4"/>
                  <a:gd name="T13" fmla="*/ 0 h 160"/>
                  <a:gd name="T14" fmla="*/ 114 w 114"/>
                  <a:gd name="T15" fmla="*/ 160 h 1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4" h="160">
                    <a:moveTo>
                      <a:pt x="45" y="160"/>
                    </a:moveTo>
                    <a:lnTo>
                      <a:pt x="0" y="0"/>
                    </a:lnTo>
                    <a:lnTo>
                      <a:pt x="114" y="94"/>
                    </a:lnTo>
                    <a:lnTo>
                      <a:pt x="45" y="16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70" name="Freeform 166"/>
              <p:cNvSpPr>
                <a:spLocks/>
              </p:cNvSpPr>
              <p:nvPr/>
            </p:nvSpPr>
            <p:spPr bwMode="auto">
              <a:xfrm>
                <a:off x="3938" y="1688"/>
                <a:ext cx="59" cy="174"/>
              </a:xfrm>
              <a:custGeom>
                <a:avLst/>
                <a:gdLst>
                  <a:gd name="T0" fmla="*/ 7 w 59"/>
                  <a:gd name="T1" fmla="*/ 18 h 174"/>
                  <a:gd name="T2" fmla="*/ 13 w 59"/>
                  <a:gd name="T3" fmla="*/ 10 h 174"/>
                  <a:gd name="T4" fmla="*/ 59 w 59"/>
                  <a:gd name="T5" fmla="*/ 172 h 174"/>
                  <a:gd name="T6" fmla="*/ 50 w 59"/>
                  <a:gd name="T7" fmla="*/ 174 h 174"/>
                  <a:gd name="T8" fmla="*/ 4 w 59"/>
                  <a:gd name="T9" fmla="*/ 15 h 174"/>
                  <a:gd name="T10" fmla="*/ 11 w 59"/>
                  <a:gd name="T11" fmla="*/ 8 h 174"/>
                  <a:gd name="T12" fmla="*/ 4 w 59"/>
                  <a:gd name="T13" fmla="*/ 15 h 174"/>
                  <a:gd name="T14" fmla="*/ 0 w 59"/>
                  <a:gd name="T15" fmla="*/ 0 h 174"/>
                  <a:gd name="T16" fmla="*/ 11 w 59"/>
                  <a:gd name="T17" fmla="*/ 8 h 174"/>
                  <a:gd name="T18" fmla="*/ 7 w 59"/>
                  <a:gd name="T19" fmla="*/ 18 h 17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9"/>
                  <a:gd name="T31" fmla="*/ 0 h 174"/>
                  <a:gd name="T32" fmla="*/ 59 w 59"/>
                  <a:gd name="T33" fmla="*/ 174 h 17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" h="174">
                    <a:moveTo>
                      <a:pt x="7" y="18"/>
                    </a:moveTo>
                    <a:lnTo>
                      <a:pt x="13" y="10"/>
                    </a:lnTo>
                    <a:lnTo>
                      <a:pt x="59" y="172"/>
                    </a:lnTo>
                    <a:lnTo>
                      <a:pt x="50" y="174"/>
                    </a:lnTo>
                    <a:lnTo>
                      <a:pt x="4" y="15"/>
                    </a:lnTo>
                    <a:lnTo>
                      <a:pt x="11" y="8"/>
                    </a:lnTo>
                    <a:lnTo>
                      <a:pt x="4" y="15"/>
                    </a:lnTo>
                    <a:lnTo>
                      <a:pt x="0" y="0"/>
                    </a:lnTo>
                    <a:lnTo>
                      <a:pt x="11" y="8"/>
                    </a:lnTo>
                    <a:lnTo>
                      <a:pt x="7" y="18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71" name="Freeform 167"/>
              <p:cNvSpPr>
                <a:spLocks/>
              </p:cNvSpPr>
              <p:nvPr/>
            </p:nvSpPr>
            <p:spPr bwMode="auto">
              <a:xfrm>
                <a:off x="3945" y="1697"/>
                <a:ext cx="125" cy="103"/>
              </a:xfrm>
              <a:custGeom>
                <a:avLst/>
                <a:gdLst>
                  <a:gd name="T0" fmla="*/ 113 w 125"/>
                  <a:gd name="T1" fmla="*/ 92 h 103"/>
                  <a:gd name="T2" fmla="*/ 115 w 125"/>
                  <a:gd name="T3" fmla="*/ 103 h 103"/>
                  <a:gd name="T4" fmla="*/ 0 w 125"/>
                  <a:gd name="T5" fmla="*/ 9 h 103"/>
                  <a:gd name="T6" fmla="*/ 3 w 125"/>
                  <a:gd name="T7" fmla="*/ 0 h 103"/>
                  <a:gd name="T8" fmla="*/ 118 w 125"/>
                  <a:gd name="T9" fmla="*/ 94 h 103"/>
                  <a:gd name="T10" fmla="*/ 120 w 125"/>
                  <a:gd name="T11" fmla="*/ 103 h 103"/>
                  <a:gd name="T12" fmla="*/ 118 w 125"/>
                  <a:gd name="T13" fmla="*/ 94 h 103"/>
                  <a:gd name="T14" fmla="*/ 125 w 125"/>
                  <a:gd name="T15" fmla="*/ 99 h 103"/>
                  <a:gd name="T16" fmla="*/ 120 w 125"/>
                  <a:gd name="T17" fmla="*/ 103 h 103"/>
                  <a:gd name="T18" fmla="*/ 113 w 125"/>
                  <a:gd name="T19" fmla="*/ 92 h 10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5"/>
                  <a:gd name="T31" fmla="*/ 0 h 103"/>
                  <a:gd name="T32" fmla="*/ 125 w 125"/>
                  <a:gd name="T33" fmla="*/ 103 h 10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5" h="103">
                    <a:moveTo>
                      <a:pt x="113" y="92"/>
                    </a:moveTo>
                    <a:lnTo>
                      <a:pt x="115" y="103"/>
                    </a:lnTo>
                    <a:lnTo>
                      <a:pt x="0" y="9"/>
                    </a:lnTo>
                    <a:lnTo>
                      <a:pt x="3" y="0"/>
                    </a:lnTo>
                    <a:lnTo>
                      <a:pt x="118" y="94"/>
                    </a:lnTo>
                    <a:lnTo>
                      <a:pt x="120" y="103"/>
                    </a:lnTo>
                    <a:lnTo>
                      <a:pt x="118" y="94"/>
                    </a:lnTo>
                    <a:lnTo>
                      <a:pt x="125" y="99"/>
                    </a:lnTo>
                    <a:lnTo>
                      <a:pt x="120" y="103"/>
                    </a:lnTo>
                    <a:lnTo>
                      <a:pt x="113" y="92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72" name="Freeform 168"/>
              <p:cNvSpPr>
                <a:spLocks/>
              </p:cNvSpPr>
              <p:nvPr/>
            </p:nvSpPr>
            <p:spPr bwMode="auto">
              <a:xfrm>
                <a:off x="3991" y="1790"/>
                <a:ext cx="75" cy="82"/>
              </a:xfrm>
              <a:custGeom>
                <a:avLst/>
                <a:gdLst>
                  <a:gd name="T0" fmla="*/ 8 w 75"/>
                  <a:gd name="T1" fmla="*/ 70 h 82"/>
                  <a:gd name="T2" fmla="*/ 1 w 75"/>
                  <a:gd name="T3" fmla="*/ 67 h 82"/>
                  <a:gd name="T4" fmla="*/ 69 w 75"/>
                  <a:gd name="T5" fmla="*/ 0 h 82"/>
                  <a:gd name="T6" fmla="*/ 75 w 75"/>
                  <a:gd name="T7" fmla="*/ 11 h 82"/>
                  <a:gd name="T8" fmla="*/ 8 w 75"/>
                  <a:gd name="T9" fmla="*/ 77 h 82"/>
                  <a:gd name="T10" fmla="*/ 0 w 75"/>
                  <a:gd name="T11" fmla="*/ 73 h 82"/>
                  <a:gd name="T12" fmla="*/ 8 w 75"/>
                  <a:gd name="T13" fmla="*/ 77 h 82"/>
                  <a:gd name="T14" fmla="*/ 2 w 75"/>
                  <a:gd name="T15" fmla="*/ 82 h 82"/>
                  <a:gd name="T16" fmla="*/ 0 w 75"/>
                  <a:gd name="T17" fmla="*/ 73 h 82"/>
                  <a:gd name="T18" fmla="*/ 8 w 75"/>
                  <a:gd name="T19" fmla="*/ 70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5"/>
                  <a:gd name="T31" fmla="*/ 0 h 82"/>
                  <a:gd name="T32" fmla="*/ 75 w 75"/>
                  <a:gd name="T33" fmla="*/ 82 h 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5" h="82">
                    <a:moveTo>
                      <a:pt x="8" y="70"/>
                    </a:moveTo>
                    <a:lnTo>
                      <a:pt x="1" y="67"/>
                    </a:lnTo>
                    <a:lnTo>
                      <a:pt x="69" y="0"/>
                    </a:lnTo>
                    <a:lnTo>
                      <a:pt x="75" y="11"/>
                    </a:lnTo>
                    <a:lnTo>
                      <a:pt x="8" y="77"/>
                    </a:lnTo>
                    <a:lnTo>
                      <a:pt x="0" y="73"/>
                    </a:lnTo>
                    <a:lnTo>
                      <a:pt x="8" y="77"/>
                    </a:lnTo>
                    <a:lnTo>
                      <a:pt x="2" y="82"/>
                    </a:lnTo>
                    <a:lnTo>
                      <a:pt x="0" y="73"/>
                    </a:lnTo>
                    <a:lnTo>
                      <a:pt x="8" y="7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73" name="Freeform 169"/>
              <p:cNvSpPr>
                <a:spLocks/>
              </p:cNvSpPr>
              <p:nvPr/>
            </p:nvSpPr>
            <p:spPr bwMode="auto">
              <a:xfrm>
                <a:off x="3967" y="1732"/>
                <a:ext cx="30" cy="36"/>
              </a:xfrm>
              <a:custGeom>
                <a:avLst/>
                <a:gdLst>
                  <a:gd name="T0" fmla="*/ 11 w 30"/>
                  <a:gd name="T1" fmla="*/ 36 h 36"/>
                  <a:gd name="T2" fmla="*/ 0 w 30"/>
                  <a:gd name="T3" fmla="*/ 21 h 36"/>
                  <a:gd name="T4" fmla="*/ 20 w 30"/>
                  <a:gd name="T5" fmla="*/ 0 h 36"/>
                  <a:gd name="T6" fmla="*/ 30 w 30"/>
                  <a:gd name="T7" fmla="*/ 15 h 36"/>
                  <a:gd name="T8" fmla="*/ 11 w 30"/>
                  <a:gd name="T9" fmla="*/ 36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6"/>
                  <a:gd name="T17" fmla="*/ 30 w 3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6">
                    <a:moveTo>
                      <a:pt x="11" y="36"/>
                    </a:moveTo>
                    <a:lnTo>
                      <a:pt x="0" y="21"/>
                    </a:lnTo>
                    <a:lnTo>
                      <a:pt x="20" y="0"/>
                    </a:lnTo>
                    <a:lnTo>
                      <a:pt x="30" y="15"/>
                    </a:lnTo>
                    <a:lnTo>
                      <a:pt x="11" y="36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74" name="Freeform 170"/>
              <p:cNvSpPr>
                <a:spLocks/>
              </p:cNvSpPr>
              <p:nvPr/>
            </p:nvSpPr>
            <p:spPr bwMode="auto">
              <a:xfrm>
                <a:off x="3981" y="1748"/>
                <a:ext cx="123" cy="211"/>
              </a:xfrm>
              <a:custGeom>
                <a:avLst/>
                <a:gdLst>
                  <a:gd name="T0" fmla="*/ 98 w 123"/>
                  <a:gd name="T1" fmla="*/ 211 h 211"/>
                  <a:gd name="T2" fmla="*/ 98 w 123"/>
                  <a:gd name="T3" fmla="*/ 211 h 211"/>
                  <a:gd name="T4" fmla="*/ 88 w 123"/>
                  <a:gd name="T5" fmla="*/ 183 h 211"/>
                  <a:gd name="T6" fmla="*/ 77 w 123"/>
                  <a:gd name="T7" fmla="*/ 158 h 211"/>
                  <a:gd name="T8" fmla="*/ 65 w 123"/>
                  <a:gd name="T9" fmla="*/ 133 h 211"/>
                  <a:gd name="T10" fmla="*/ 53 w 123"/>
                  <a:gd name="T11" fmla="*/ 110 h 211"/>
                  <a:gd name="T12" fmla="*/ 41 w 123"/>
                  <a:gd name="T13" fmla="*/ 87 h 211"/>
                  <a:gd name="T14" fmla="*/ 29 w 123"/>
                  <a:gd name="T15" fmla="*/ 65 h 211"/>
                  <a:gd name="T16" fmla="*/ 15 w 123"/>
                  <a:gd name="T17" fmla="*/ 42 h 211"/>
                  <a:gd name="T18" fmla="*/ 0 w 123"/>
                  <a:gd name="T19" fmla="*/ 20 h 211"/>
                  <a:gd name="T20" fmla="*/ 18 w 123"/>
                  <a:gd name="T21" fmla="*/ 0 h 211"/>
                  <a:gd name="T22" fmla="*/ 34 w 123"/>
                  <a:gd name="T23" fmla="*/ 23 h 211"/>
                  <a:gd name="T24" fmla="*/ 49 w 123"/>
                  <a:gd name="T25" fmla="*/ 47 h 211"/>
                  <a:gd name="T26" fmla="*/ 63 w 123"/>
                  <a:gd name="T27" fmla="*/ 71 h 211"/>
                  <a:gd name="T28" fmla="*/ 75 w 123"/>
                  <a:gd name="T29" fmla="*/ 96 h 211"/>
                  <a:gd name="T30" fmla="*/ 88 w 123"/>
                  <a:gd name="T31" fmla="*/ 120 h 211"/>
                  <a:gd name="T32" fmla="*/ 100 w 123"/>
                  <a:gd name="T33" fmla="*/ 146 h 211"/>
                  <a:gd name="T34" fmla="*/ 112 w 123"/>
                  <a:gd name="T35" fmla="*/ 173 h 211"/>
                  <a:gd name="T36" fmla="*/ 123 w 123"/>
                  <a:gd name="T37" fmla="*/ 200 h 211"/>
                  <a:gd name="T38" fmla="*/ 98 w 123"/>
                  <a:gd name="T39" fmla="*/ 211 h 21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3"/>
                  <a:gd name="T61" fmla="*/ 0 h 211"/>
                  <a:gd name="T62" fmla="*/ 123 w 123"/>
                  <a:gd name="T63" fmla="*/ 211 h 21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3" h="211">
                    <a:moveTo>
                      <a:pt x="98" y="211"/>
                    </a:moveTo>
                    <a:lnTo>
                      <a:pt x="98" y="211"/>
                    </a:lnTo>
                    <a:lnTo>
                      <a:pt x="88" y="183"/>
                    </a:lnTo>
                    <a:lnTo>
                      <a:pt x="77" y="158"/>
                    </a:lnTo>
                    <a:lnTo>
                      <a:pt x="65" y="133"/>
                    </a:lnTo>
                    <a:lnTo>
                      <a:pt x="53" y="110"/>
                    </a:lnTo>
                    <a:lnTo>
                      <a:pt x="41" y="87"/>
                    </a:lnTo>
                    <a:lnTo>
                      <a:pt x="29" y="65"/>
                    </a:lnTo>
                    <a:lnTo>
                      <a:pt x="15" y="42"/>
                    </a:lnTo>
                    <a:lnTo>
                      <a:pt x="0" y="20"/>
                    </a:lnTo>
                    <a:lnTo>
                      <a:pt x="18" y="0"/>
                    </a:lnTo>
                    <a:lnTo>
                      <a:pt x="34" y="23"/>
                    </a:lnTo>
                    <a:lnTo>
                      <a:pt x="49" y="47"/>
                    </a:lnTo>
                    <a:lnTo>
                      <a:pt x="63" y="71"/>
                    </a:lnTo>
                    <a:lnTo>
                      <a:pt x="75" y="96"/>
                    </a:lnTo>
                    <a:lnTo>
                      <a:pt x="88" y="120"/>
                    </a:lnTo>
                    <a:lnTo>
                      <a:pt x="100" y="146"/>
                    </a:lnTo>
                    <a:lnTo>
                      <a:pt x="112" y="173"/>
                    </a:lnTo>
                    <a:lnTo>
                      <a:pt x="123" y="200"/>
                    </a:lnTo>
                    <a:lnTo>
                      <a:pt x="98" y="211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75" name="Freeform 171"/>
              <p:cNvSpPr>
                <a:spLocks/>
              </p:cNvSpPr>
              <p:nvPr/>
            </p:nvSpPr>
            <p:spPr bwMode="auto">
              <a:xfrm>
                <a:off x="4084" y="1951"/>
                <a:ext cx="81" cy="203"/>
              </a:xfrm>
              <a:custGeom>
                <a:avLst/>
                <a:gdLst>
                  <a:gd name="T0" fmla="*/ 55 w 81"/>
                  <a:gd name="T1" fmla="*/ 203 h 203"/>
                  <a:gd name="T2" fmla="*/ 51 w 81"/>
                  <a:gd name="T3" fmla="*/ 179 h 203"/>
                  <a:gd name="T4" fmla="*/ 44 w 81"/>
                  <a:gd name="T5" fmla="*/ 155 h 203"/>
                  <a:gd name="T6" fmla="*/ 39 w 81"/>
                  <a:gd name="T7" fmla="*/ 130 h 203"/>
                  <a:gd name="T8" fmla="*/ 33 w 81"/>
                  <a:gd name="T9" fmla="*/ 106 h 203"/>
                  <a:gd name="T10" fmla="*/ 25 w 81"/>
                  <a:gd name="T11" fmla="*/ 83 h 203"/>
                  <a:gd name="T12" fmla="*/ 18 w 81"/>
                  <a:gd name="T13" fmla="*/ 58 h 203"/>
                  <a:gd name="T14" fmla="*/ 9 w 81"/>
                  <a:gd name="T15" fmla="*/ 34 h 203"/>
                  <a:gd name="T16" fmla="*/ 0 w 81"/>
                  <a:gd name="T17" fmla="*/ 8 h 203"/>
                  <a:gd name="T18" fmla="*/ 23 w 81"/>
                  <a:gd name="T19" fmla="*/ 0 h 203"/>
                  <a:gd name="T20" fmla="*/ 33 w 81"/>
                  <a:gd name="T21" fmla="*/ 24 h 203"/>
                  <a:gd name="T22" fmla="*/ 41 w 81"/>
                  <a:gd name="T23" fmla="*/ 49 h 203"/>
                  <a:gd name="T24" fmla="*/ 51 w 81"/>
                  <a:gd name="T25" fmla="*/ 75 h 203"/>
                  <a:gd name="T26" fmla="*/ 58 w 81"/>
                  <a:gd name="T27" fmla="*/ 100 h 203"/>
                  <a:gd name="T28" fmla="*/ 65 w 81"/>
                  <a:gd name="T29" fmla="*/ 126 h 203"/>
                  <a:gd name="T30" fmla="*/ 70 w 81"/>
                  <a:gd name="T31" fmla="*/ 152 h 203"/>
                  <a:gd name="T32" fmla="*/ 76 w 81"/>
                  <a:gd name="T33" fmla="*/ 177 h 203"/>
                  <a:gd name="T34" fmla="*/ 81 w 81"/>
                  <a:gd name="T35" fmla="*/ 203 h 203"/>
                  <a:gd name="T36" fmla="*/ 55 w 81"/>
                  <a:gd name="T37" fmla="*/ 203 h 2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1"/>
                  <a:gd name="T58" fmla="*/ 0 h 203"/>
                  <a:gd name="T59" fmla="*/ 81 w 81"/>
                  <a:gd name="T60" fmla="*/ 203 h 2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1" h="203">
                    <a:moveTo>
                      <a:pt x="55" y="203"/>
                    </a:moveTo>
                    <a:lnTo>
                      <a:pt x="51" y="179"/>
                    </a:lnTo>
                    <a:lnTo>
                      <a:pt x="44" y="155"/>
                    </a:lnTo>
                    <a:lnTo>
                      <a:pt x="39" y="130"/>
                    </a:lnTo>
                    <a:lnTo>
                      <a:pt x="33" y="106"/>
                    </a:lnTo>
                    <a:lnTo>
                      <a:pt x="25" y="83"/>
                    </a:lnTo>
                    <a:lnTo>
                      <a:pt x="18" y="58"/>
                    </a:lnTo>
                    <a:lnTo>
                      <a:pt x="9" y="34"/>
                    </a:lnTo>
                    <a:lnTo>
                      <a:pt x="0" y="8"/>
                    </a:lnTo>
                    <a:lnTo>
                      <a:pt x="23" y="0"/>
                    </a:lnTo>
                    <a:lnTo>
                      <a:pt x="33" y="24"/>
                    </a:lnTo>
                    <a:lnTo>
                      <a:pt x="41" y="49"/>
                    </a:lnTo>
                    <a:lnTo>
                      <a:pt x="51" y="75"/>
                    </a:lnTo>
                    <a:lnTo>
                      <a:pt x="58" y="100"/>
                    </a:lnTo>
                    <a:lnTo>
                      <a:pt x="65" y="126"/>
                    </a:lnTo>
                    <a:lnTo>
                      <a:pt x="70" y="152"/>
                    </a:lnTo>
                    <a:lnTo>
                      <a:pt x="76" y="177"/>
                    </a:lnTo>
                    <a:lnTo>
                      <a:pt x="81" y="203"/>
                    </a:lnTo>
                    <a:lnTo>
                      <a:pt x="55" y="203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76" name="Freeform 172"/>
              <p:cNvSpPr>
                <a:spLocks/>
              </p:cNvSpPr>
              <p:nvPr/>
            </p:nvSpPr>
            <p:spPr bwMode="auto">
              <a:xfrm>
                <a:off x="4140" y="2154"/>
                <a:ext cx="30" cy="18"/>
              </a:xfrm>
              <a:custGeom>
                <a:avLst/>
                <a:gdLst>
                  <a:gd name="T0" fmla="*/ 27 w 30"/>
                  <a:gd name="T1" fmla="*/ 0 h 18"/>
                  <a:gd name="T2" fmla="*/ 30 w 30"/>
                  <a:gd name="T3" fmla="*/ 18 h 18"/>
                  <a:gd name="T4" fmla="*/ 3 w 30"/>
                  <a:gd name="T5" fmla="*/ 18 h 18"/>
                  <a:gd name="T6" fmla="*/ 0 w 30"/>
                  <a:gd name="T7" fmla="*/ 0 h 18"/>
                  <a:gd name="T8" fmla="*/ 27 w 30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18"/>
                  <a:gd name="T17" fmla="*/ 30 w 30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18">
                    <a:moveTo>
                      <a:pt x="27" y="0"/>
                    </a:moveTo>
                    <a:lnTo>
                      <a:pt x="30" y="18"/>
                    </a:lnTo>
                    <a:lnTo>
                      <a:pt x="3" y="18"/>
                    </a:lnTo>
                    <a:lnTo>
                      <a:pt x="0" y="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77" name="Freeform 173"/>
              <p:cNvSpPr>
                <a:spLocks/>
              </p:cNvSpPr>
              <p:nvPr/>
            </p:nvSpPr>
            <p:spPr bwMode="auto">
              <a:xfrm>
                <a:off x="2494" y="1402"/>
                <a:ext cx="158" cy="120"/>
              </a:xfrm>
              <a:custGeom>
                <a:avLst/>
                <a:gdLst>
                  <a:gd name="T0" fmla="*/ 158 w 158"/>
                  <a:gd name="T1" fmla="*/ 69 h 120"/>
                  <a:gd name="T2" fmla="*/ 0 w 158"/>
                  <a:gd name="T3" fmla="*/ 120 h 120"/>
                  <a:gd name="T4" fmla="*/ 102 w 158"/>
                  <a:gd name="T5" fmla="*/ 0 h 120"/>
                  <a:gd name="T6" fmla="*/ 158 w 158"/>
                  <a:gd name="T7" fmla="*/ 69 h 1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8"/>
                  <a:gd name="T13" fmla="*/ 0 h 120"/>
                  <a:gd name="T14" fmla="*/ 158 w 158"/>
                  <a:gd name="T15" fmla="*/ 120 h 1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8" h="120">
                    <a:moveTo>
                      <a:pt x="158" y="69"/>
                    </a:moveTo>
                    <a:lnTo>
                      <a:pt x="0" y="120"/>
                    </a:lnTo>
                    <a:lnTo>
                      <a:pt x="102" y="0"/>
                    </a:lnTo>
                    <a:lnTo>
                      <a:pt x="158" y="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78" name="Freeform 174"/>
              <p:cNvSpPr>
                <a:spLocks/>
              </p:cNvSpPr>
              <p:nvPr/>
            </p:nvSpPr>
            <p:spPr bwMode="auto">
              <a:xfrm>
                <a:off x="2472" y="1465"/>
                <a:ext cx="180" cy="72"/>
              </a:xfrm>
              <a:custGeom>
                <a:avLst/>
                <a:gdLst>
                  <a:gd name="T0" fmla="*/ 31 w 180"/>
                  <a:gd name="T1" fmla="*/ 62 h 72"/>
                  <a:gd name="T2" fmla="*/ 22 w 180"/>
                  <a:gd name="T3" fmla="*/ 51 h 72"/>
                  <a:gd name="T4" fmla="*/ 179 w 180"/>
                  <a:gd name="T5" fmla="*/ 0 h 72"/>
                  <a:gd name="T6" fmla="*/ 180 w 180"/>
                  <a:gd name="T7" fmla="*/ 14 h 72"/>
                  <a:gd name="T8" fmla="*/ 24 w 180"/>
                  <a:gd name="T9" fmla="*/ 66 h 72"/>
                  <a:gd name="T10" fmla="*/ 16 w 180"/>
                  <a:gd name="T11" fmla="*/ 54 h 72"/>
                  <a:gd name="T12" fmla="*/ 24 w 180"/>
                  <a:gd name="T13" fmla="*/ 66 h 72"/>
                  <a:gd name="T14" fmla="*/ 0 w 180"/>
                  <a:gd name="T15" fmla="*/ 72 h 72"/>
                  <a:gd name="T16" fmla="*/ 16 w 180"/>
                  <a:gd name="T17" fmla="*/ 54 h 72"/>
                  <a:gd name="T18" fmla="*/ 31 w 180"/>
                  <a:gd name="T19" fmla="*/ 62 h 7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80"/>
                  <a:gd name="T31" fmla="*/ 0 h 72"/>
                  <a:gd name="T32" fmla="*/ 180 w 180"/>
                  <a:gd name="T33" fmla="*/ 72 h 7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80" h="72">
                    <a:moveTo>
                      <a:pt x="31" y="62"/>
                    </a:moveTo>
                    <a:lnTo>
                      <a:pt x="22" y="51"/>
                    </a:lnTo>
                    <a:lnTo>
                      <a:pt x="179" y="0"/>
                    </a:lnTo>
                    <a:lnTo>
                      <a:pt x="180" y="14"/>
                    </a:lnTo>
                    <a:lnTo>
                      <a:pt x="24" y="66"/>
                    </a:lnTo>
                    <a:lnTo>
                      <a:pt x="16" y="54"/>
                    </a:lnTo>
                    <a:lnTo>
                      <a:pt x="24" y="66"/>
                    </a:lnTo>
                    <a:lnTo>
                      <a:pt x="0" y="72"/>
                    </a:lnTo>
                    <a:lnTo>
                      <a:pt x="16" y="54"/>
                    </a:lnTo>
                    <a:lnTo>
                      <a:pt x="31" y="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79" name="Freeform 175"/>
              <p:cNvSpPr>
                <a:spLocks/>
              </p:cNvSpPr>
              <p:nvPr/>
            </p:nvSpPr>
            <p:spPr bwMode="auto">
              <a:xfrm>
                <a:off x="2487" y="1388"/>
                <a:ext cx="115" cy="137"/>
              </a:xfrm>
              <a:custGeom>
                <a:avLst/>
                <a:gdLst>
                  <a:gd name="T0" fmla="*/ 97 w 115"/>
                  <a:gd name="T1" fmla="*/ 20 h 137"/>
                  <a:gd name="T2" fmla="*/ 114 w 115"/>
                  <a:gd name="T3" fmla="*/ 18 h 137"/>
                  <a:gd name="T4" fmla="*/ 15 w 115"/>
                  <a:gd name="T5" fmla="*/ 137 h 137"/>
                  <a:gd name="T6" fmla="*/ 0 w 115"/>
                  <a:gd name="T7" fmla="*/ 131 h 137"/>
                  <a:gd name="T8" fmla="*/ 99 w 115"/>
                  <a:gd name="T9" fmla="*/ 10 h 137"/>
                  <a:gd name="T10" fmla="*/ 115 w 115"/>
                  <a:gd name="T11" fmla="*/ 8 h 137"/>
                  <a:gd name="T12" fmla="*/ 99 w 115"/>
                  <a:gd name="T13" fmla="*/ 10 h 137"/>
                  <a:gd name="T14" fmla="*/ 109 w 115"/>
                  <a:gd name="T15" fmla="*/ 0 h 137"/>
                  <a:gd name="T16" fmla="*/ 115 w 115"/>
                  <a:gd name="T17" fmla="*/ 8 h 137"/>
                  <a:gd name="T18" fmla="*/ 97 w 115"/>
                  <a:gd name="T19" fmla="*/ 20 h 1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5"/>
                  <a:gd name="T31" fmla="*/ 0 h 137"/>
                  <a:gd name="T32" fmla="*/ 115 w 115"/>
                  <a:gd name="T33" fmla="*/ 137 h 13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5" h="137">
                    <a:moveTo>
                      <a:pt x="97" y="20"/>
                    </a:moveTo>
                    <a:lnTo>
                      <a:pt x="114" y="18"/>
                    </a:lnTo>
                    <a:lnTo>
                      <a:pt x="15" y="137"/>
                    </a:lnTo>
                    <a:lnTo>
                      <a:pt x="0" y="131"/>
                    </a:lnTo>
                    <a:lnTo>
                      <a:pt x="99" y="10"/>
                    </a:lnTo>
                    <a:lnTo>
                      <a:pt x="115" y="8"/>
                    </a:lnTo>
                    <a:lnTo>
                      <a:pt x="99" y="10"/>
                    </a:lnTo>
                    <a:lnTo>
                      <a:pt x="109" y="0"/>
                    </a:lnTo>
                    <a:lnTo>
                      <a:pt x="115" y="8"/>
                    </a:lnTo>
                    <a:lnTo>
                      <a:pt x="97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80" name="Freeform 176"/>
              <p:cNvSpPr>
                <a:spLocks/>
              </p:cNvSpPr>
              <p:nvPr/>
            </p:nvSpPr>
            <p:spPr bwMode="auto">
              <a:xfrm>
                <a:off x="2585" y="1397"/>
                <a:ext cx="80" cy="85"/>
              </a:xfrm>
              <a:custGeom>
                <a:avLst/>
                <a:gdLst>
                  <a:gd name="T0" fmla="*/ 64 w 80"/>
                  <a:gd name="T1" fmla="*/ 70 h 85"/>
                  <a:gd name="T2" fmla="*/ 57 w 80"/>
                  <a:gd name="T3" fmla="*/ 82 h 85"/>
                  <a:gd name="T4" fmla="*/ 0 w 80"/>
                  <a:gd name="T5" fmla="*/ 10 h 85"/>
                  <a:gd name="T6" fmla="*/ 18 w 80"/>
                  <a:gd name="T7" fmla="*/ 0 h 85"/>
                  <a:gd name="T8" fmla="*/ 75 w 80"/>
                  <a:gd name="T9" fmla="*/ 71 h 85"/>
                  <a:gd name="T10" fmla="*/ 66 w 80"/>
                  <a:gd name="T11" fmla="*/ 85 h 85"/>
                  <a:gd name="T12" fmla="*/ 75 w 80"/>
                  <a:gd name="T13" fmla="*/ 71 h 85"/>
                  <a:gd name="T14" fmla="*/ 80 w 80"/>
                  <a:gd name="T15" fmla="*/ 80 h 85"/>
                  <a:gd name="T16" fmla="*/ 66 w 80"/>
                  <a:gd name="T17" fmla="*/ 85 h 85"/>
                  <a:gd name="T18" fmla="*/ 64 w 80"/>
                  <a:gd name="T19" fmla="*/ 70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0"/>
                  <a:gd name="T31" fmla="*/ 0 h 85"/>
                  <a:gd name="T32" fmla="*/ 80 w 80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0" h="85">
                    <a:moveTo>
                      <a:pt x="64" y="70"/>
                    </a:moveTo>
                    <a:lnTo>
                      <a:pt x="57" y="82"/>
                    </a:lnTo>
                    <a:lnTo>
                      <a:pt x="0" y="10"/>
                    </a:lnTo>
                    <a:lnTo>
                      <a:pt x="18" y="0"/>
                    </a:lnTo>
                    <a:lnTo>
                      <a:pt x="75" y="71"/>
                    </a:lnTo>
                    <a:lnTo>
                      <a:pt x="66" y="85"/>
                    </a:lnTo>
                    <a:lnTo>
                      <a:pt x="75" y="71"/>
                    </a:lnTo>
                    <a:lnTo>
                      <a:pt x="80" y="80"/>
                    </a:lnTo>
                    <a:lnTo>
                      <a:pt x="66" y="85"/>
                    </a:lnTo>
                    <a:lnTo>
                      <a:pt x="64" y="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81" name="Freeform 177"/>
              <p:cNvSpPr>
                <a:spLocks/>
              </p:cNvSpPr>
              <p:nvPr/>
            </p:nvSpPr>
            <p:spPr bwMode="auto">
              <a:xfrm>
                <a:off x="2509" y="1475"/>
                <a:ext cx="40" cy="39"/>
              </a:xfrm>
              <a:custGeom>
                <a:avLst/>
                <a:gdLst>
                  <a:gd name="T0" fmla="*/ 40 w 40"/>
                  <a:gd name="T1" fmla="*/ 25 h 39"/>
                  <a:gd name="T2" fmla="*/ 22 w 40"/>
                  <a:gd name="T3" fmla="*/ 39 h 39"/>
                  <a:gd name="T4" fmla="*/ 0 w 40"/>
                  <a:gd name="T5" fmla="*/ 13 h 39"/>
                  <a:gd name="T6" fmla="*/ 19 w 40"/>
                  <a:gd name="T7" fmla="*/ 0 h 39"/>
                  <a:gd name="T8" fmla="*/ 40 w 40"/>
                  <a:gd name="T9" fmla="*/ 25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"/>
                  <a:gd name="T16" fmla="*/ 0 h 39"/>
                  <a:gd name="T17" fmla="*/ 40 w 40"/>
                  <a:gd name="T18" fmla="*/ 39 h 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" h="39">
                    <a:moveTo>
                      <a:pt x="40" y="25"/>
                    </a:moveTo>
                    <a:lnTo>
                      <a:pt x="22" y="39"/>
                    </a:lnTo>
                    <a:lnTo>
                      <a:pt x="0" y="13"/>
                    </a:lnTo>
                    <a:lnTo>
                      <a:pt x="19" y="0"/>
                    </a:lnTo>
                    <a:lnTo>
                      <a:pt x="4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82" name="Freeform 178"/>
              <p:cNvSpPr>
                <a:spLocks/>
              </p:cNvSpPr>
              <p:nvPr/>
            </p:nvSpPr>
            <p:spPr bwMode="auto">
              <a:xfrm>
                <a:off x="2531" y="1359"/>
                <a:ext cx="220" cy="143"/>
              </a:xfrm>
              <a:custGeom>
                <a:avLst/>
                <a:gdLst>
                  <a:gd name="T0" fmla="*/ 220 w 220"/>
                  <a:gd name="T1" fmla="*/ 30 h 143"/>
                  <a:gd name="T2" fmla="*/ 220 w 220"/>
                  <a:gd name="T3" fmla="*/ 30 h 143"/>
                  <a:gd name="T4" fmla="*/ 167 w 220"/>
                  <a:gd name="T5" fmla="*/ 54 h 143"/>
                  <a:gd name="T6" fmla="*/ 115 w 220"/>
                  <a:gd name="T7" fmla="*/ 82 h 143"/>
                  <a:gd name="T8" fmla="*/ 67 w 220"/>
                  <a:gd name="T9" fmla="*/ 111 h 143"/>
                  <a:gd name="T10" fmla="*/ 20 w 220"/>
                  <a:gd name="T11" fmla="*/ 143 h 143"/>
                  <a:gd name="T12" fmla="*/ 0 w 220"/>
                  <a:gd name="T13" fmla="*/ 119 h 143"/>
                  <a:gd name="T14" fmla="*/ 49 w 220"/>
                  <a:gd name="T15" fmla="*/ 85 h 143"/>
                  <a:gd name="T16" fmla="*/ 99 w 220"/>
                  <a:gd name="T17" fmla="*/ 54 h 143"/>
                  <a:gd name="T18" fmla="*/ 154 w 220"/>
                  <a:gd name="T19" fmla="*/ 25 h 143"/>
                  <a:gd name="T20" fmla="*/ 211 w 220"/>
                  <a:gd name="T21" fmla="*/ 0 h 143"/>
                  <a:gd name="T22" fmla="*/ 220 w 220"/>
                  <a:gd name="T23" fmla="*/ 30 h 14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20"/>
                  <a:gd name="T37" fmla="*/ 0 h 143"/>
                  <a:gd name="T38" fmla="*/ 220 w 220"/>
                  <a:gd name="T39" fmla="*/ 143 h 14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20" h="143">
                    <a:moveTo>
                      <a:pt x="220" y="30"/>
                    </a:moveTo>
                    <a:lnTo>
                      <a:pt x="220" y="30"/>
                    </a:lnTo>
                    <a:lnTo>
                      <a:pt x="167" y="54"/>
                    </a:lnTo>
                    <a:lnTo>
                      <a:pt x="115" y="82"/>
                    </a:lnTo>
                    <a:lnTo>
                      <a:pt x="67" y="111"/>
                    </a:lnTo>
                    <a:lnTo>
                      <a:pt x="20" y="143"/>
                    </a:lnTo>
                    <a:lnTo>
                      <a:pt x="0" y="119"/>
                    </a:lnTo>
                    <a:lnTo>
                      <a:pt x="49" y="85"/>
                    </a:lnTo>
                    <a:lnTo>
                      <a:pt x="99" y="54"/>
                    </a:lnTo>
                    <a:lnTo>
                      <a:pt x="154" y="25"/>
                    </a:lnTo>
                    <a:lnTo>
                      <a:pt x="211" y="0"/>
                    </a:lnTo>
                    <a:lnTo>
                      <a:pt x="220" y="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83" name="Freeform 179"/>
              <p:cNvSpPr>
                <a:spLocks/>
              </p:cNvSpPr>
              <p:nvPr/>
            </p:nvSpPr>
            <p:spPr bwMode="auto">
              <a:xfrm>
                <a:off x="2746" y="1297"/>
                <a:ext cx="199" cy="93"/>
              </a:xfrm>
              <a:custGeom>
                <a:avLst/>
                <a:gdLst>
                  <a:gd name="T0" fmla="*/ 197 w 199"/>
                  <a:gd name="T1" fmla="*/ 35 h 93"/>
                  <a:gd name="T2" fmla="*/ 174 w 199"/>
                  <a:gd name="T3" fmla="*/ 39 h 93"/>
                  <a:gd name="T4" fmla="*/ 151 w 199"/>
                  <a:gd name="T5" fmla="*/ 45 h 93"/>
                  <a:gd name="T6" fmla="*/ 128 w 199"/>
                  <a:gd name="T7" fmla="*/ 52 h 93"/>
                  <a:gd name="T8" fmla="*/ 104 w 199"/>
                  <a:gd name="T9" fmla="*/ 59 h 93"/>
                  <a:gd name="T10" fmla="*/ 81 w 199"/>
                  <a:gd name="T11" fmla="*/ 66 h 93"/>
                  <a:gd name="T12" fmla="*/ 57 w 199"/>
                  <a:gd name="T13" fmla="*/ 75 h 93"/>
                  <a:gd name="T14" fmla="*/ 34 w 199"/>
                  <a:gd name="T15" fmla="*/ 84 h 93"/>
                  <a:gd name="T16" fmla="*/ 10 w 199"/>
                  <a:gd name="T17" fmla="*/ 93 h 93"/>
                  <a:gd name="T18" fmla="*/ 0 w 199"/>
                  <a:gd name="T19" fmla="*/ 62 h 93"/>
                  <a:gd name="T20" fmla="*/ 25 w 199"/>
                  <a:gd name="T21" fmla="*/ 52 h 93"/>
                  <a:gd name="T22" fmla="*/ 50 w 199"/>
                  <a:gd name="T23" fmla="*/ 41 h 93"/>
                  <a:gd name="T24" fmla="*/ 75 w 199"/>
                  <a:gd name="T25" fmla="*/ 33 h 93"/>
                  <a:gd name="T26" fmla="*/ 100 w 199"/>
                  <a:gd name="T27" fmla="*/ 24 h 93"/>
                  <a:gd name="T28" fmla="*/ 126 w 199"/>
                  <a:gd name="T29" fmla="*/ 18 h 93"/>
                  <a:gd name="T30" fmla="*/ 149 w 199"/>
                  <a:gd name="T31" fmla="*/ 10 h 93"/>
                  <a:gd name="T32" fmla="*/ 176 w 199"/>
                  <a:gd name="T33" fmla="*/ 5 h 93"/>
                  <a:gd name="T34" fmla="*/ 199 w 199"/>
                  <a:gd name="T35" fmla="*/ 0 h 93"/>
                  <a:gd name="T36" fmla="*/ 197 w 199"/>
                  <a:gd name="T37" fmla="*/ 35 h 9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9"/>
                  <a:gd name="T58" fmla="*/ 0 h 93"/>
                  <a:gd name="T59" fmla="*/ 199 w 199"/>
                  <a:gd name="T60" fmla="*/ 93 h 9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9" h="93">
                    <a:moveTo>
                      <a:pt x="197" y="35"/>
                    </a:moveTo>
                    <a:lnTo>
                      <a:pt x="174" y="39"/>
                    </a:lnTo>
                    <a:lnTo>
                      <a:pt x="151" y="45"/>
                    </a:lnTo>
                    <a:lnTo>
                      <a:pt x="128" y="52"/>
                    </a:lnTo>
                    <a:lnTo>
                      <a:pt x="104" y="59"/>
                    </a:lnTo>
                    <a:lnTo>
                      <a:pt x="81" y="66"/>
                    </a:lnTo>
                    <a:lnTo>
                      <a:pt x="57" y="75"/>
                    </a:lnTo>
                    <a:lnTo>
                      <a:pt x="34" y="84"/>
                    </a:lnTo>
                    <a:lnTo>
                      <a:pt x="10" y="93"/>
                    </a:lnTo>
                    <a:lnTo>
                      <a:pt x="0" y="62"/>
                    </a:lnTo>
                    <a:lnTo>
                      <a:pt x="25" y="52"/>
                    </a:lnTo>
                    <a:lnTo>
                      <a:pt x="50" y="41"/>
                    </a:lnTo>
                    <a:lnTo>
                      <a:pt x="75" y="33"/>
                    </a:lnTo>
                    <a:lnTo>
                      <a:pt x="100" y="24"/>
                    </a:lnTo>
                    <a:lnTo>
                      <a:pt x="126" y="18"/>
                    </a:lnTo>
                    <a:lnTo>
                      <a:pt x="149" y="10"/>
                    </a:lnTo>
                    <a:lnTo>
                      <a:pt x="176" y="5"/>
                    </a:lnTo>
                    <a:lnTo>
                      <a:pt x="199" y="0"/>
                    </a:lnTo>
                    <a:lnTo>
                      <a:pt x="197" y="3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84" name="Freeform 180"/>
              <p:cNvSpPr>
                <a:spLocks/>
              </p:cNvSpPr>
              <p:nvPr/>
            </p:nvSpPr>
            <p:spPr bwMode="auto">
              <a:xfrm>
                <a:off x="2947" y="1291"/>
                <a:ext cx="25" cy="40"/>
              </a:xfrm>
              <a:custGeom>
                <a:avLst/>
                <a:gdLst>
                  <a:gd name="T0" fmla="*/ 3 w 25"/>
                  <a:gd name="T1" fmla="*/ 5 h 40"/>
                  <a:gd name="T2" fmla="*/ 25 w 25"/>
                  <a:gd name="T3" fmla="*/ 0 h 40"/>
                  <a:gd name="T4" fmla="*/ 22 w 25"/>
                  <a:gd name="T5" fmla="*/ 36 h 40"/>
                  <a:gd name="T6" fmla="*/ 0 w 25"/>
                  <a:gd name="T7" fmla="*/ 40 h 40"/>
                  <a:gd name="T8" fmla="*/ 3 w 25"/>
                  <a:gd name="T9" fmla="*/ 5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40"/>
                  <a:gd name="T17" fmla="*/ 25 w 25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40">
                    <a:moveTo>
                      <a:pt x="3" y="5"/>
                    </a:moveTo>
                    <a:lnTo>
                      <a:pt x="25" y="0"/>
                    </a:lnTo>
                    <a:lnTo>
                      <a:pt x="22" y="36"/>
                    </a:lnTo>
                    <a:lnTo>
                      <a:pt x="0" y="40"/>
                    </a:lnTo>
                    <a:lnTo>
                      <a:pt x="3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85" name="Freeform 181"/>
              <p:cNvSpPr>
                <a:spLocks/>
              </p:cNvSpPr>
              <p:nvPr/>
            </p:nvSpPr>
            <p:spPr bwMode="auto">
              <a:xfrm>
                <a:off x="2494" y="1402"/>
                <a:ext cx="158" cy="120"/>
              </a:xfrm>
              <a:custGeom>
                <a:avLst/>
                <a:gdLst>
                  <a:gd name="T0" fmla="*/ 158 w 158"/>
                  <a:gd name="T1" fmla="*/ 69 h 120"/>
                  <a:gd name="T2" fmla="*/ 0 w 158"/>
                  <a:gd name="T3" fmla="*/ 120 h 120"/>
                  <a:gd name="T4" fmla="*/ 102 w 158"/>
                  <a:gd name="T5" fmla="*/ 0 h 120"/>
                  <a:gd name="T6" fmla="*/ 158 w 158"/>
                  <a:gd name="T7" fmla="*/ 69 h 1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8"/>
                  <a:gd name="T13" fmla="*/ 0 h 120"/>
                  <a:gd name="T14" fmla="*/ 158 w 158"/>
                  <a:gd name="T15" fmla="*/ 120 h 1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8" h="120">
                    <a:moveTo>
                      <a:pt x="158" y="69"/>
                    </a:moveTo>
                    <a:lnTo>
                      <a:pt x="0" y="120"/>
                    </a:lnTo>
                    <a:lnTo>
                      <a:pt x="102" y="0"/>
                    </a:lnTo>
                    <a:lnTo>
                      <a:pt x="158" y="69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86" name="Freeform 182"/>
              <p:cNvSpPr>
                <a:spLocks/>
              </p:cNvSpPr>
              <p:nvPr/>
            </p:nvSpPr>
            <p:spPr bwMode="auto">
              <a:xfrm>
                <a:off x="2481" y="1469"/>
                <a:ext cx="168" cy="63"/>
              </a:xfrm>
              <a:custGeom>
                <a:avLst/>
                <a:gdLst>
                  <a:gd name="T0" fmla="*/ 18 w 168"/>
                  <a:gd name="T1" fmla="*/ 56 h 63"/>
                  <a:gd name="T2" fmla="*/ 13 w 168"/>
                  <a:gd name="T3" fmla="*/ 49 h 63"/>
                  <a:gd name="T4" fmla="*/ 167 w 168"/>
                  <a:gd name="T5" fmla="*/ 0 h 63"/>
                  <a:gd name="T6" fmla="*/ 168 w 168"/>
                  <a:gd name="T7" fmla="*/ 8 h 63"/>
                  <a:gd name="T8" fmla="*/ 15 w 168"/>
                  <a:gd name="T9" fmla="*/ 59 h 63"/>
                  <a:gd name="T10" fmla="*/ 10 w 168"/>
                  <a:gd name="T11" fmla="*/ 51 h 63"/>
                  <a:gd name="T12" fmla="*/ 15 w 168"/>
                  <a:gd name="T13" fmla="*/ 59 h 63"/>
                  <a:gd name="T14" fmla="*/ 0 w 168"/>
                  <a:gd name="T15" fmla="*/ 63 h 63"/>
                  <a:gd name="T16" fmla="*/ 10 w 168"/>
                  <a:gd name="T17" fmla="*/ 51 h 63"/>
                  <a:gd name="T18" fmla="*/ 18 w 168"/>
                  <a:gd name="T19" fmla="*/ 56 h 6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8"/>
                  <a:gd name="T31" fmla="*/ 0 h 63"/>
                  <a:gd name="T32" fmla="*/ 168 w 168"/>
                  <a:gd name="T33" fmla="*/ 63 h 6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8" h="63">
                    <a:moveTo>
                      <a:pt x="18" y="56"/>
                    </a:moveTo>
                    <a:lnTo>
                      <a:pt x="13" y="49"/>
                    </a:lnTo>
                    <a:lnTo>
                      <a:pt x="167" y="0"/>
                    </a:lnTo>
                    <a:lnTo>
                      <a:pt x="168" y="8"/>
                    </a:lnTo>
                    <a:lnTo>
                      <a:pt x="15" y="59"/>
                    </a:lnTo>
                    <a:lnTo>
                      <a:pt x="10" y="51"/>
                    </a:lnTo>
                    <a:lnTo>
                      <a:pt x="15" y="59"/>
                    </a:lnTo>
                    <a:lnTo>
                      <a:pt x="0" y="63"/>
                    </a:lnTo>
                    <a:lnTo>
                      <a:pt x="10" y="51"/>
                    </a:lnTo>
                    <a:lnTo>
                      <a:pt x="18" y="56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87" name="Freeform 183"/>
              <p:cNvSpPr>
                <a:spLocks/>
              </p:cNvSpPr>
              <p:nvPr/>
            </p:nvSpPr>
            <p:spPr bwMode="auto">
              <a:xfrm>
                <a:off x="2490" y="1393"/>
                <a:ext cx="109" cy="131"/>
              </a:xfrm>
              <a:custGeom>
                <a:avLst/>
                <a:gdLst>
                  <a:gd name="T0" fmla="*/ 99 w 109"/>
                  <a:gd name="T1" fmla="*/ 13 h 131"/>
                  <a:gd name="T2" fmla="*/ 108 w 109"/>
                  <a:gd name="T3" fmla="*/ 12 h 131"/>
                  <a:gd name="T4" fmla="*/ 8 w 109"/>
                  <a:gd name="T5" fmla="*/ 131 h 131"/>
                  <a:gd name="T6" fmla="*/ 0 w 109"/>
                  <a:gd name="T7" fmla="*/ 127 h 131"/>
                  <a:gd name="T8" fmla="*/ 101 w 109"/>
                  <a:gd name="T9" fmla="*/ 6 h 131"/>
                  <a:gd name="T10" fmla="*/ 109 w 109"/>
                  <a:gd name="T11" fmla="*/ 5 h 131"/>
                  <a:gd name="T12" fmla="*/ 101 w 109"/>
                  <a:gd name="T13" fmla="*/ 6 h 131"/>
                  <a:gd name="T14" fmla="*/ 105 w 109"/>
                  <a:gd name="T15" fmla="*/ 0 h 131"/>
                  <a:gd name="T16" fmla="*/ 109 w 109"/>
                  <a:gd name="T17" fmla="*/ 5 h 131"/>
                  <a:gd name="T18" fmla="*/ 99 w 109"/>
                  <a:gd name="T19" fmla="*/ 13 h 13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9"/>
                  <a:gd name="T31" fmla="*/ 0 h 131"/>
                  <a:gd name="T32" fmla="*/ 109 w 109"/>
                  <a:gd name="T33" fmla="*/ 131 h 13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9" h="131">
                    <a:moveTo>
                      <a:pt x="99" y="13"/>
                    </a:moveTo>
                    <a:lnTo>
                      <a:pt x="108" y="12"/>
                    </a:lnTo>
                    <a:lnTo>
                      <a:pt x="8" y="131"/>
                    </a:lnTo>
                    <a:lnTo>
                      <a:pt x="0" y="127"/>
                    </a:lnTo>
                    <a:lnTo>
                      <a:pt x="101" y="6"/>
                    </a:lnTo>
                    <a:lnTo>
                      <a:pt x="109" y="5"/>
                    </a:lnTo>
                    <a:lnTo>
                      <a:pt x="101" y="6"/>
                    </a:lnTo>
                    <a:lnTo>
                      <a:pt x="105" y="0"/>
                    </a:lnTo>
                    <a:lnTo>
                      <a:pt x="109" y="5"/>
                    </a:lnTo>
                    <a:lnTo>
                      <a:pt x="99" y="13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88" name="Freeform 184"/>
              <p:cNvSpPr>
                <a:spLocks/>
              </p:cNvSpPr>
              <p:nvPr/>
            </p:nvSpPr>
            <p:spPr bwMode="auto">
              <a:xfrm>
                <a:off x="2592" y="1397"/>
                <a:ext cx="69" cy="79"/>
              </a:xfrm>
              <a:custGeom>
                <a:avLst/>
                <a:gdLst>
                  <a:gd name="T0" fmla="*/ 61 w 69"/>
                  <a:gd name="T1" fmla="*/ 71 h 79"/>
                  <a:gd name="T2" fmla="*/ 55 w 69"/>
                  <a:gd name="T3" fmla="*/ 78 h 79"/>
                  <a:gd name="T4" fmla="*/ 0 w 69"/>
                  <a:gd name="T5" fmla="*/ 7 h 79"/>
                  <a:gd name="T6" fmla="*/ 8 w 69"/>
                  <a:gd name="T7" fmla="*/ 0 h 79"/>
                  <a:gd name="T8" fmla="*/ 66 w 69"/>
                  <a:gd name="T9" fmla="*/ 72 h 79"/>
                  <a:gd name="T10" fmla="*/ 61 w 69"/>
                  <a:gd name="T11" fmla="*/ 79 h 79"/>
                  <a:gd name="T12" fmla="*/ 66 w 69"/>
                  <a:gd name="T13" fmla="*/ 72 h 79"/>
                  <a:gd name="T14" fmla="*/ 69 w 69"/>
                  <a:gd name="T15" fmla="*/ 77 h 79"/>
                  <a:gd name="T16" fmla="*/ 61 w 69"/>
                  <a:gd name="T17" fmla="*/ 79 h 79"/>
                  <a:gd name="T18" fmla="*/ 61 w 69"/>
                  <a:gd name="T19" fmla="*/ 71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9"/>
                  <a:gd name="T31" fmla="*/ 0 h 79"/>
                  <a:gd name="T32" fmla="*/ 69 w 69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9" h="79">
                    <a:moveTo>
                      <a:pt x="61" y="71"/>
                    </a:moveTo>
                    <a:lnTo>
                      <a:pt x="55" y="78"/>
                    </a:lnTo>
                    <a:lnTo>
                      <a:pt x="0" y="7"/>
                    </a:lnTo>
                    <a:lnTo>
                      <a:pt x="8" y="0"/>
                    </a:lnTo>
                    <a:lnTo>
                      <a:pt x="66" y="72"/>
                    </a:lnTo>
                    <a:lnTo>
                      <a:pt x="61" y="79"/>
                    </a:lnTo>
                    <a:lnTo>
                      <a:pt x="66" y="72"/>
                    </a:lnTo>
                    <a:lnTo>
                      <a:pt x="69" y="77"/>
                    </a:lnTo>
                    <a:lnTo>
                      <a:pt x="61" y="79"/>
                    </a:lnTo>
                    <a:lnTo>
                      <a:pt x="61" y="71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89" name="Freeform 185"/>
              <p:cNvSpPr>
                <a:spLocks/>
              </p:cNvSpPr>
              <p:nvPr/>
            </p:nvSpPr>
            <p:spPr bwMode="auto">
              <a:xfrm>
                <a:off x="2517" y="1478"/>
                <a:ext cx="32" cy="32"/>
              </a:xfrm>
              <a:custGeom>
                <a:avLst/>
                <a:gdLst>
                  <a:gd name="T0" fmla="*/ 32 w 32"/>
                  <a:gd name="T1" fmla="*/ 21 h 32"/>
                  <a:gd name="T2" fmla="*/ 17 w 32"/>
                  <a:gd name="T3" fmla="*/ 32 h 32"/>
                  <a:gd name="T4" fmla="*/ 0 w 32"/>
                  <a:gd name="T5" fmla="*/ 10 h 32"/>
                  <a:gd name="T6" fmla="*/ 15 w 32"/>
                  <a:gd name="T7" fmla="*/ 0 h 32"/>
                  <a:gd name="T8" fmla="*/ 32 w 32"/>
                  <a:gd name="T9" fmla="*/ 21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32"/>
                  <a:gd name="T17" fmla="*/ 32 w 32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32">
                    <a:moveTo>
                      <a:pt x="32" y="21"/>
                    </a:moveTo>
                    <a:lnTo>
                      <a:pt x="17" y="32"/>
                    </a:lnTo>
                    <a:lnTo>
                      <a:pt x="0" y="10"/>
                    </a:lnTo>
                    <a:lnTo>
                      <a:pt x="15" y="0"/>
                    </a:lnTo>
                    <a:lnTo>
                      <a:pt x="32" y="21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90" name="Freeform 186"/>
              <p:cNvSpPr>
                <a:spLocks/>
              </p:cNvSpPr>
              <p:nvPr/>
            </p:nvSpPr>
            <p:spPr bwMode="auto">
              <a:xfrm>
                <a:off x="2534" y="1360"/>
                <a:ext cx="217" cy="140"/>
              </a:xfrm>
              <a:custGeom>
                <a:avLst/>
                <a:gdLst>
                  <a:gd name="T0" fmla="*/ 217 w 217"/>
                  <a:gd name="T1" fmla="*/ 25 h 140"/>
                  <a:gd name="T2" fmla="*/ 217 w 217"/>
                  <a:gd name="T3" fmla="*/ 25 h 140"/>
                  <a:gd name="T4" fmla="*/ 164 w 217"/>
                  <a:gd name="T5" fmla="*/ 50 h 140"/>
                  <a:gd name="T6" fmla="*/ 112 w 217"/>
                  <a:gd name="T7" fmla="*/ 78 h 140"/>
                  <a:gd name="T8" fmla="*/ 63 w 217"/>
                  <a:gd name="T9" fmla="*/ 108 h 140"/>
                  <a:gd name="T10" fmla="*/ 17 w 217"/>
                  <a:gd name="T11" fmla="*/ 140 h 140"/>
                  <a:gd name="T12" fmla="*/ 0 w 217"/>
                  <a:gd name="T13" fmla="*/ 119 h 140"/>
                  <a:gd name="T14" fmla="*/ 48 w 217"/>
                  <a:gd name="T15" fmla="*/ 86 h 140"/>
                  <a:gd name="T16" fmla="*/ 99 w 217"/>
                  <a:gd name="T17" fmla="*/ 55 h 140"/>
                  <a:gd name="T18" fmla="*/ 153 w 217"/>
                  <a:gd name="T19" fmla="*/ 27 h 140"/>
                  <a:gd name="T20" fmla="*/ 209 w 217"/>
                  <a:gd name="T21" fmla="*/ 0 h 140"/>
                  <a:gd name="T22" fmla="*/ 217 w 217"/>
                  <a:gd name="T23" fmla="*/ 25 h 14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7"/>
                  <a:gd name="T37" fmla="*/ 0 h 140"/>
                  <a:gd name="T38" fmla="*/ 217 w 217"/>
                  <a:gd name="T39" fmla="*/ 140 h 14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7" h="140">
                    <a:moveTo>
                      <a:pt x="217" y="25"/>
                    </a:moveTo>
                    <a:lnTo>
                      <a:pt x="217" y="25"/>
                    </a:lnTo>
                    <a:lnTo>
                      <a:pt x="164" y="50"/>
                    </a:lnTo>
                    <a:lnTo>
                      <a:pt x="112" y="78"/>
                    </a:lnTo>
                    <a:lnTo>
                      <a:pt x="63" y="108"/>
                    </a:lnTo>
                    <a:lnTo>
                      <a:pt x="17" y="140"/>
                    </a:lnTo>
                    <a:lnTo>
                      <a:pt x="0" y="119"/>
                    </a:lnTo>
                    <a:lnTo>
                      <a:pt x="48" y="86"/>
                    </a:lnTo>
                    <a:lnTo>
                      <a:pt x="99" y="55"/>
                    </a:lnTo>
                    <a:lnTo>
                      <a:pt x="153" y="27"/>
                    </a:lnTo>
                    <a:lnTo>
                      <a:pt x="209" y="0"/>
                    </a:lnTo>
                    <a:lnTo>
                      <a:pt x="217" y="25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91" name="Freeform 187"/>
              <p:cNvSpPr>
                <a:spLocks/>
              </p:cNvSpPr>
              <p:nvPr/>
            </p:nvSpPr>
            <p:spPr bwMode="auto">
              <a:xfrm>
                <a:off x="2748" y="1298"/>
                <a:ext cx="195" cy="87"/>
              </a:xfrm>
              <a:custGeom>
                <a:avLst/>
                <a:gdLst>
                  <a:gd name="T0" fmla="*/ 194 w 195"/>
                  <a:gd name="T1" fmla="*/ 29 h 87"/>
                  <a:gd name="T2" fmla="*/ 171 w 195"/>
                  <a:gd name="T3" fmla="*/ 33 h 87"/>
                  <a:gd name="T4" fmla="*/ 148 w 195"/>
                  <a:gd name="T5" fmla="*/ 38 h 87"/>
                  <a:gd name="T6" fmla="*/ 124 w 195"/>
                  <a:gd name="T7" fmla="*/ 45 h 87"/>
                  <a:gd name="T8" fmla="*/ 100 w 195"/>
                  <a:gd name="T9" fmla="*/ 52 h 87"/>
                  <a:gd name="T10" fmla="*/ 78 w 195"/>
                  <a:gd name="T11" fmla="*/ 60 h 87"/>
                  <a:gd name="T12" fmla="*/ 54 w 195"/>
                  <a:gd name="T13" fmla="*/ 68 h 87"/>
                  <a:gd name="T14" fmla="*/ 31 w 195"/>
                  <a:gd name="T15" fmla="*/ 77 h 87"/>
                  <a:gd name="T16" fmla="*/ 8 w 195"/>
                  <a:gd name="T17" fmla="*/ 87 h 87"/>
                  <a:gd name="T18" fmla="*/ 0 w 195"/>
                  <a:gd name="T19" fmla="*/ 61 h 87"/>
                  <a:gd name="T20" fmla="*/ 23 w 195"/>
                  <a:gd name="T21" fmla="*/ 51 h 87"/>
                  <a:gd name="T22" fmla="*/ 49 w 195"/>
                  <a:gd name="T23" fmla="*/ 42 h 87"/>
                  <a:gd name="T24" fmla="*/ 73 w 195"/>
                  <a:gd name="T25" fmla="*/ 33 h 87"/>
                  <a:gd name="T26" fmla="*/ 98 w 195"/>
                  <a:gd name="T27" fmla="*/ 24 h 87"/>
                  <a:gd name="T28" fmla="*/ 123 w 195"/>
                  <a:gd name="T29" fmla="*/ 18 h 87"/>
                  <a:gd name="T30" fmla="*/ 148 w 195"/>
                  <a:gd name="T31" fmla="*/ 9 h 87"/>
                  <a:gd name="T32" fmla="*/ 172 w 195"/>
                  <a:gd name="T33" fmla="*/ 5 h 87"/>
                  <a:gd name="T34" fmla="*/ 195 w 195"/>
                  <a:gd name="T35" fmla="*/ 0 h 87"/>
                  <a:gd name="T36" fmla="*/ 194 w 195"/>
                  <a:gd name="T37" fmla="*/ 29 h 8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5"/>
                  <a:gd name="T58" fmla="*/ 0 h 87"/>
                  <a:gd name="T59" fmla="*/ 195 w 195"/>
                  <a:gd name="T60" fmla="*/ 87 h 8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5" h="87">
                    <a:moveTo>
                      <a:pt x="194" y="29"/>
                    </a:moveTo>
                    <a:lnTo>
                      <a:pt x="171" y="33"/>
                    </a:lnTo>
                    <a:lnTo>
                      <a:pt x="148" y="38"/>
                    </a:lnTo>
                    <a:lnTo>
                      <a:pt x="124" y="45"/>
                    </a:lnTo>
                    <a:lnTo>
                      <a:pt x="100" y="52"/>
                    </a:lnTo>
                    <a:lnTo>
                      <a:pt x="78" y="60"/>
                    </a:lnTo>
                    <a:lnTo>
                      <a:pt x="54" y="68"/>
                    </a:lnTo>
                    <a:lnTo>
                      <a:pt x="31" y="77"/>
                    </a:lnTo>
                    <a:lnTo>
                      <a:pt x="8" y="87"/>
                    </a:lnTo>
                    <a:lnTo>
                      <a:pt x="0" y="61"/>
                    </a:lnTo>
                    <a:lnTo>
                      <a:pt x="23" y="51"/>
                    </a:lnTo>
                    <a:lnTo>
                      <a:pt x="49" y="42"/>
                    </a:lnTo>
                    <a:lnTo>
                      <a:pt x="73" y="33"/>
                    </a:lnTo>
                    <a:lnTo>
                      <a:pt x="98" y="24"/>
                    </a:lnTo>
                    <a:lnTo>
                      <a:pt x="123" y="18"/>
                    </a:lnTo>
                    <a:lnTo>
                      <a:pt x="148" y="9"/>
                    </a:lnTo>
                    <a:lnTo>
                      <a:pt x="172" y="5"/>
                    </a:lnTo>
                    <a:lnTo>
                      <a:pt x="195" y="0"/>
                    </a:lnTo>
                    <a:lnTo>
                      <a:pt x="194" y="29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92" name="Freeform 188"/>
              <p:cNvSpPr>
                <a:spLocks/>
              </p:cNvSpPr>
              <p:nvPr/>
            </p:nvSpPr>
            <p:spPr bwMode="auto">
              <a:xfrm>
                <a:off x="2945" y="1296"/>
                <a:ext cx="21" cy="32"/>
              </a:xfrm>
              <a:custGeom>
                <a:avLst/>
                <a:gdLst>
                  <a:gd name="T0" fmla="*/ 3 w 21"/>
                  <a:gd name="T1" fmla="*/ 3 h 32"/>
                  <a:gd name="T2" fmla="*/ 21 w 21"/>
                  <a:gd name="T3" fmla="*/ 0 h 32"/>
                  <a:gd name="T4" fmla="*/ 19 w 21"/>
                  <a:gd name="T5" fmla="*/ 29 h 32"/>
                  <a:gd name="T6" fmla="*/ 0 w 21"/>
                  <a:gd name="T7" fmla="*/ 32 h 32"/>
                  <a:gd name="T8" fmla="*/ 3 w 21"/>
                  <a:gd name="T9" fmla="*/ 3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32"/>
                  <a:gd name="T17" fmla="*/ 21 w 21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32">
                    <a:moveTo>
                      <a:pt x="3" y="3"/>
                    </a:moveTo>
                    <a:lnTo>
                      <a:pt x="21" y="0"/>
                    </a:lnTo>
                    <a:lnTo>
                      <a:pt x="19" y="29"/>
                    </a:lnTo>
                    <a:lnTo>
                      <a:pt x="0" y="32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93" name="Freeform 189"/>
              <p:cNvSpPr>
                <a:spLocks/>
              </p:cNvSpPr>
              <p:nvPr/>
            </p:nvSpPr>
            <p:spPr bwMode="auto">
              <a:xfrm>
                <a:off x="2466" y="1422"/>
                <a:ext cx="154" cy="123"/>
              </a:xfrm>
              <a:custGeom>
                <a:avLst/>
                <a:gdLst>
                  <a:gd name="T0" fmla="*/ 154 w 154"/>
                  <a:gd name="T1" fmla="*/ 67 h 123"/>
                  <a:gd name="T2" fmla="*/ 0 w 154"/>
                  <a:gd name="T3" fmla="*/ 123 h 123"/>
                  <a:gd name="T4" fmla="*/ 93 w 154"/>
                  <a:gd name="T5" fmla="*/ 0 h 123"/>
                  <a:gd name="T6" fmla="*/ 154 w 154"/>
                  <a:gd name="T7" fmla="*/ 67 h 1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123"/>
                  <a:gd name="T14" fmla="*/ 154 w 154"/>
                  <a:gd name="T15" fmla="*/ 123 h 1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123">
                    <a:moveTo>
                      <a:pt x="154" y="67"/>
                    </a:moveTo>
                    <a:lnTo>
                      <a:pt x="0" y="123"/>
                    </a:lnTo>
                    <a:lnTo>
                      <a:pt x="93" y="0"/>
                    </a:lnTo>
                    <a:lnTo>
                      <a:pt x="154" y="6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94" name="Freeform 190"/>
              <p:cNvSpPr>
                <a:spLocks/>
              </p:cNvSpPr>
              <p:nvPr/>
            </p:nvSpPr>
            <p:spPr bwMode="auto">
              <a:xfrm>
                <a:off x="2444" y="1483"/>
                <a:ext cx="178" cy="79"/>
              </a:xfrm>
              <a:custGeom>
                <a:avLst/>
                <a:gdLst>
                  <a:gd name="T0" fmla="*/ 31 w 178"/>
                  <a:gd name="T1" fmla="*/ 65 h 79"/>
                  <a:gd name="T2" fmla="*/ 22 w 178"/>
                  <a:gd name="T3" fmla="*/ 56 h 79"/>
                  <a:gd name="T4" fmla="*/ 176 w 178"/>
                  <a:gd name="T5" fmla="*/ 0 h 79"/>
                  <a:gd name="T6" fmla="*/ 178 w 178"/>
                  <a:gd name="T7" fmla="*/ 14 h 79"/>
                  <a:gd name="T8" fmla="*/ 24 w 178"/>
                  <a:gd name="T9" fmla="*/ 70 h 79"/>
                  <a:gd name="T10" fmla="*/ 15 w 178"/>
                  <a:gd name="T11" fmla="*/ 61 h 79"/>
                  <a:gd name="T12" fmla="*/ 24 w 178"/>
                  <a:gd name="T13" fmla="*/ 70 h 79"/>
                  <a:gd name="T14" fmla="*/ 0 w 178"/>
                  <a:gd name="T15" fmla="*/ 79 h 79"/>
                  <a:gd name="T16" fmla="*/ 15 w 178"/>
                  <a:gd name="T17" fmla="*/ 61 h 79"/>
                  <a:gd name="T18" fmla="*/ 31 w 178"/>
                  <a:gd name="T19" fmla="*/ 65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8"/>
                  <a:gd name="T31" fmla="*/ 0 h 79"/>
                  <a:gd name="T32" fmla="*/ 178 w 178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8" h="79">
                    <a:moveTo>
                      <a:pt x="31" y="65"/>
                    </a:moveTo>
                    <a:lnTo>
                      <a:pt x="22" y="56"/>
                    </a:lnTo>
                    <a:lnTo>
                      <a:pt x="176" y="0"/>
                    </a:lnTo>
                    <a:lnTo>
                      <a:pt x="178" y="14"/>
                    </a:lnTo>
                    <a:lnTo>
                      <a:pt x="24" y="70"/>
                    </a:lnTo>
                    <a:lnTo>
                      <a:pt x="15" y="61"/>
                    </a:lnTo>
                    <a:lnTo>
                      <a:pt x="24" y="70"/>
                    </a:lnTo>
                    <a:lnTo>
                      <a:pt x="0" y="79"/>
                    </a:lnTo>
                    <a:lnTo>
                      <a:pt x="15" y="61"/>
                    </a:lnTo>
                    <a:lnTo>
                      <a:pt x="31" y="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95" name="Freeform 191"/>
              <p:cNvSpPr>
                <a:spLocks/>
              </p:cNvSpPr>
              <p:nvPr/>
            </p:nvSpPr>
            <p:spPr bwMode="auto">
              <a:xfrm>
                <a:off x="2456" y="1410"/>
                <a:ext cx="110" cy="138"/>
              </a:xfrm>
              <a:custGeom>
                <a:avLst/>
                <a:gdLst>
                  <a:gd name="T0" fmla="*/ 93 w 110"/>
                  <a:gd name="T1" fmla="*/ 19 h 138"/>
                  <a:gd name="T2" fmla="*/ 109 w 110"/>
                  <a:gd name="T3" fmla="*/ 16 h 138"/>
                  <a:gd name="T4" fmla="*/ 16 w 110"/>
                  <a:gd name="T5" fmla="*/ 138 h 138"/>
                  <a:gd name="T6" fmla="*/ 0 w 110"/>
                  <a:gd name="T7" fmla="*/ 134 h 138"/>
                  <a:gd name="T8" fmla="*/ 94 w 110"/>
                  <a:gd name="T9" fmla="*/ 11 h 138"/>
                  <a:gd name="T10" fmla="*/ 110 w 110"/>
                  <a:gd name="T11" fmla="*/ 8 h 138"/>
                  <a:gd name="T12" fmla="*/ 94 w 110"/>
                  <a:gd name="T13" fmla="*/ 11 h 138"/>
                  <a:gd name="T14" fmla="*/ 104 w 110"/>
                  <a:gd name="T15" fmla="*/ 0 h 138"/>
                  <a:gd name="T16" fmla="*/ 110 w 110"/>
                  <a:gd name="T17" fmla="*/ 8 h 138"/>
                  <a:gd name="T18" fmla="*/ 93 w 110"/>
                  <a:gd name="T19" fmla="*/ 19 h 1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0"/>
                  <a:gd name="T31" fmla="*/ 0 h 138"/>
                  <a:gd name="T32" fmla="*/ 110 w 110"/>
                  <a:gd name="T33" fmla="*/ 138 h 13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0" h="138">
                    <a:moveTo>
                      <a:pt x="93" y="19"/>
                    </a:moveTo>
                    <a:lnTo>
                      <a:pt x="109" y="16"/>
                    </a:lnTo>
                    <a:lnTo>
                      <a:pt x="16" y="138"/>
                    </a:lnTo>
                    <a:lnTo>
                      <a:pt x="0" y="134"/>
                    </a:lnTo>
                    <a:lnTo>
                      <a:pt x="94" y="11"/>
                    </a:lnTo>
                    <a:lnTo>
                      <a:pt x="110" y="8"/>
                    </a:lnTo>
                    <a:lnTo>
                      <a:pt x="94" y="11"/>
                    </a:lnTo>
                    <a:lnTo>
                      <a:pt x="104" y="0"/>
                    </a:lnTo>
                    <a:lnTo>
                      <a:pt x="110" y="8"/>
                    </a:lnTo>
                    <a:lnTo>
                      <a:pt x="93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96" name="Freeform 192"/>
              <p:cNvSpPr>
                <a:spLocks/>
              </p:cNvSpPr>
              <p:nvPr/>
            </p:nvSpPr>
            <p:spPr bwMode="auto">
              <a:xfrm>
                <a:off x="2550" y="1418"/>
                <a:ext cx="87" cy="80"/>
              </a:xfrm>
              <a:custGeom>
                <a:avLst/>
                <a:gdLst>
                  <a:gd name="T0" fmla="*/ 68 w 87"/>
                  <a:gd name="T1" fmla="*/ 66 h 80"/>
                  <a:gd name="T2" fmla="*/ 61 w 87"/>
                  <a:gd name="T3" fmla="*/ 79 h 80"/>
                  <a:gd name="T4" fmla="*/ 0 w 87"/>
                  <a:gd name="T5" fmla="*/ 11 h 80"/>
                  <a:gd name="T6" fmla="*/ 17 w 87"/>
                  <a:gd name="T7" fmla="*/ 0 h 80"/>
                  <a:gd name="T8" fmla="*/ 78 w 87"/>
                  <a:gd name="T9" fmla="*/ 67 h 80"/>
                  <a:gd name="T10" fmla="*/ 72 w 87"/>
                  <a:gd name="T11" fmla="*/ 80 h 80"/>
                  <a:gd name="T12" fmla="*/ 78 w 87"/>
                  <a:gd name="T13" fmla="*/ 67 h 80"/>
                  <a:gd name="T14" fmla="*/ 87 w 87"/>
                  <a:gd name="T15" fmla="*/ 75 h 80"/>
                  <a:gd name="T16" fmla="*/ 72 w 87"/>
                  <a:gd name="T17" fmla="*/ 80 h 80"/>
                  <a:gd name="T18" fmla="*/ 68 w 87"/>
                  <a:gd name="T19" fmla="*/ 66 h 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7"/>
                  <a:gd name="T31" fmla="*/ 0 h 80"/>
                  <a:gd name="T32" fmla="*/ 87 w 87"/>
                  <a:gd name="T33" fmla="*/ 80 h 8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7" h="80">
                    <a:moveTo>
                      <a:pt x="68" y="66"/>
                    </a:moveTo>
                    <a:lnTo>
                      <a:pt x="61" y="79"/>
                    </a:lnTo>
                    <a:lnTo>
                      <a:pt x="0" y="11"/>
                    </a:lnTo>
                    <a:lnTo>
                      <a:pt x="17" y="0"/>
                    </a:lnTo>
                    <a:lnTo>
                      <a:pt x="78" y="67"/>
                    </a:lnTo>
                    <a:lnTo>
                      <a:pt x="72" y="80"/>
                    </a:lnTo>
                    <a:lnTo>
                      <a:pt x="78" y="67"/>
                    </a:lnTo>
                    <a:lnTo>
                      <a:pt x="87" y="75"/>
                    </a:lnTo>
                    <a:lnTo>
                      <a:pt x="72" y="80"/>
                    </a:lnTo>
                    <a:lnTo>
                      <a:pt x="68" y="6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97" name="Freeform 193"/>
              <p:cNvSpPr>
                <a:spLocks/>
              </p:cNvSpPr>
              <p:nvPr/>
            </p:nvSpPr>
            <p:spPr bwMode="auto">
              <a:xfrm>
                <a:off x="2478" y="1500"/>
                <a:ext cx="39" cy="36"/>
              </a:xfrm>
              <a:custGeom>
                <a:avLst/>
                <a:gdLst>
                  <a:gd name="T0" fmla="*/ 39 w 39"/>
                  <a:gd name="T1" fmla="*/ 22 h 36"/>
                  <a:gd name="T2" fmla="*/ 23 w 39"/>
                  <a:gd name="T3" fmla="*/ 36 h 36"/>
                  <a:gd name="T4" fmla="*/ 0 w 39"/>
                  <a:gd name="T5" fmla="*/ 14 h 36"/>
                  <a:gd name="T6" fmla="*/ 16 w 39"/>
                  <a:gd name="T7" fmla="*/ 0 h 36"/>
                  <a:gd name="T8" fmla="*/ 39 w 39"/>
                  <a:gd name="T9" fmla="*/ 22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9"/>
                  <a:gd name="T16" fmla="*/ 0 h 36"/>
                  <a:gd name="T17" fmla="*/ 39 w 3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9" h="36">
                    <a:moveTo>
                      <a:pt x="39" y="22"/>
                    </a:moveTo>
                    <a:lnTo>
                      <a:pt x="23" y="36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39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98" name="Freeform 194"/>
              <p:cNvSpPr>
                <a:spLocks/>
              </p:cNvSpPr>
              <p:nvPr/>
            </p:nvSpPr>
            <p:spPr bwMode="auto">
              <a:xfrm>
                <a:off x="2500" y="1373"/>
                <a:ext cx="217" cy="149"/>
              </a:xfrm>
              <a:custGeom>
                <a:avLst/>
                <a:gdLst>
                  <a:gd name="T0" fmla="*/ 217 w 217"/>
                  <a:gd name="T1" fmla="*/ 29 h 149"/>
                  <a:gd name="T2" fmla="*/ 217 w 217"/>
                  <a:gd name="T3" fmla="*/ 29 h 149"/>
                  <a:gd name="T4" fmla="*/ 191 w 217"/>
                  <a:gd name="T5" fmla="*/ 41 h 149"/>
                  <a:gd name="T6" fmla="*/ 164 w 217"/>
                  <a:gd name="T7" fmla="*/ 56 h 149"/>
                  <a:gd name="T8" fmla="*/ 140 w 217"/>
                  <a:gd name="T9" fmla="*/ 70 h 149"/>
                  <a:gd name="T10" fmla="*/ 115 w 217"/>
                  <a:gd name="T11" fmla="*/ 85 h 149"/>
                  <a:gd name="T12" fmla="*/ 92 w 217"/>
                  <a:gd name="T13" fmla="*/ 100 h 149"/>
                  <a:gd name="T14" fmla="*/ 67 w 217"/>
                  <a:gd name="T15" fmla="*/ 116 h 149"/>
                  <a:gd name="T16" fmla="*/ 45 w 217"/>
                  <a:gd name="T17" fmla="*/ 132 h 149"/>
                  <a:gd name="T18" fmla="*/ 22 w 217"/>
                  <a:gd name="T19" fmla="*/ 149 h 149"/>
                  <a:gd name="T20" fmla="*/ 0 w 217"/>
                  <a:gd name="T21" fmla="*/ 127 h 149"/>
                  <a:gd name="T22" fmla="*/ 22 w 217"/>
                  <a:gd name="T23" fmla="*/ 109 h 149"/>
                  <a:gd name="T24" fmla="*/ 47 w 217"/>
                  <a:gd name="T25" fmla="*/ 92 h 149"/>
                  <a:gd name="T26" fmla="*/ 73 w 217"/>
                  <a:gd name="T27" fmla="*/ 74 h 149"/>
                  <a:gd name="T28" fmla="*/ 98 w 217"/>
                  <a:gd name="T29" fmla="*/ 58 h 149"/>
                  <a:gd name="T30" fmla="*/ 123 w 217"/>
                  <a:gd name="T31" fmla="*/ 42 h 149"/>
                  <a:gd name="T32" fmla="*/ 149 w 217"/>
                  <a:gd name="T33" fmla="*/ 27 h 149"/>
                  <a:gd name="T34" fmla="*/ 177 w 217"/>
                  <a:gd name="T35" fmla="*/ 12 h 149"/>
                  <a:gd name="T36" fmla="*/ 205 w 217"/>
                  <a:gd name="T37" fmla="*/ 0 h 149"/>
                  <a:gd name="T38" fmla="*/ 217 w 217"/>
                  <a:gd name="T39" fmla="*/ 29 h 14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7"/>
                  <a:gd name="T61" fmla="*/ 0 h 149"/>
                  <a:gd name="T62" fmla="*/ 217 w 217"/>
                  <a:gd name="T63" fmla="*/ 149 h 14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7" h="149">
                    <a:moveTo>
                      <a:pt x="217" y="29"/>
                    </a:moveTo>
                    <a:lnTo>
                      <a:pt x="217" y="29"/>
                    </a:lnTo>
                    <a:lnTo>
                      <a:pt x="191" y="41"/>
                    </a:lnTo>
                    <a:lnTo>
                      <a:pt x="164" y="56"/>
                    </a:lnTo>
                    <a:lnTo>
                      <a:pt x="140" y="70"/>
                    </a:lnTo>
                    <a:lnTo>
                      <a:pt x="115" y="85"/>
                    </a:lnTo>
                    <a:lnTo>
                      <a:pt x="92" y="100"/>
                    </a:lnTo>
                    <a:lnTo>
                      <a:pt x="67" y="116"/>
                    </a:lnTo>
                    <a:lnTo>
                      <a:pt x="45" y="132"/>
                    </a:lnTo>
                    <a:lnTo>
                      <a:pt x="22" y="149"/>
                    </a:lnTo>
                    <a:lnTo>
                      <a:pt x="0" y="127"/>
                    </a:lnTo>
                    <a:lnTo>
                      <a:pt x="22" y="109"/>
                    </a:lnTo>
                    <a:lnTo>
                      <a:pt x="47" y="92"/>
                    </a:lnTo>
                    <a:lnTo>
                      <a:pt x="73" y="74"/>
                    </a:lnTo>
                    <a:lnTo>
                      <a:pt x="98" y="58"/>
                    </a:lnTo>
                    <a:lnTo>
                      <a:pt x="123" y="42"/>
                    </a:lnTo>
                    <a:lnTo>
                      <a:pt x="149" y="27"/>
                    </a:lnTo>
                    <a:lnTo>
                      <a:pt x="177" y="12"/>
                    </a:lnTo>
                    <a:lnTo>
                      <a:pt x="205" y="0"/>
                    </a:lnTo>
                    <a:lnTo>
                      <a:pt x="217" y="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899" name="Freeform 195"/>
              <p:cNvSpPr>
                <a:spLocks/>
              </p:cNvSpPr>
              <p:nvPr/>
            </p:nvSpPr>
            <p:spPr bwMode="auto">
              <a:xfrm>
                <a:off x="2710" y="1302"/>
                <a:ext cx="198" cy="103"/>
              </a:xfrm>
              <a:custGeom>
                <a:avLst/>
                <a:gdLst>
                  <a:gd name="T0" fmla="*/ 198 w 198"/>
                  <a:gd name="T1" fmla="*/ 35 h 103"/>
                  <a:gd name="T2" fmla="*/ 175 w 198"/>
                  <a:gd name="T3" fmla="*/ 41 h 103"/>
                  <a:gd name="T4" fmla="*/ 151 w 198"/>
                  <a:gd name="T5" fmla="*/ 48 h 103"/>
                  <a:gd name="T6" fmla="*/ 128 w 198"/>
                  <a:gd name="T7" fmla="*/ 56 h 103"/>
                  <a:gd name="T8" fmla="*/ 104 w 198"/>
                  <a:gd name="T9" fmla="*/ 64 h 103"/>
                  <a:gd name="T10" fmla="*/ 82 w 198"/>
                  <a:gd name="T11" fmla="*/ 72 h 103"/>
                  <a:gd name="T12" fmla="*/ 58 w 198"/>
                  <a:gd name="T13" fmla="*/ 82 h 103"/>
                  <a:gd name="T14" fmla="*/ 36 w 198"/>
                  <a:gd name="T15" fmla="*/ 91 h 103"/>
                  <a:gd name="T16" fmla="*/ 11 w 198"/>
                  <a:gd name="T17" fmla="*/ 103 h 103"/>
                  <a:gd name="T18" fmla="*/ 0 w 198"/>
                  <a:gd name="T19" fmla="*/ 73 h 103"/>
                  <a:gd name="T20" fmla="*/ 25 w 198"/>
                  <a:gd name="T21" fmla="*/ 62 h 103"/>
                  <a:gd name="T22" fmla="*/ 50 w 198"/>
                  <a:gd name="T23" fmla="*/ 50 h 103"/>
                  <a:gd name="T24" fmla="*/ 74 w 198"/>
                  <a:gd name="T25" fmla="*/ 41 h 103"/>
                  <a:gd name="T26" fmla="*/ 99 w 198"/>
                  <a:gd name="T27" fmla="*/ 32 h 103"/>
                  <a:gd name="T28" fmla="*/ 123 w 198"/>
                  <a:gd name="T29" fmla="*/ 23 h 103"/>
                  <a:gd name="T30" fmla="*/ 149 w 198"/>
                  <a:gd name="T31" fmla="*/ 15 h 103"/>
                  <a:gd name="T32" fmla="*/ 173 w 198"/>
                  <a:gd name="T33" fmla="*/ 7 h 103"/>
                  <a:gd name="T34" fmla="*/ 198 w 198"/>
                  <a:gd name="T35" fmla="*/ 0 h 103"/>
                  <a:gd name="T36" fmla="*/ 198 w 198"/>
                  <a:gd name="T37" fmla="*/ 35 h 1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8"/>
                  <a:gd name="T58" fmla="*/ 0 h 103"/>
                  <a:gd name="T59" fmla="*/ 198 w 198"/>
                  <a:gd name="T60" fmla="*/ 103 h 1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8" h="103">
                    <a:moveTo>
                      <a:pt x="198" y="35"/>
                    </a:moveTo>
                    <a:lnTo>
                      <a:pt x="175" y="41"/>
                    </a:lnTo>
                    <a:lnTo>
                      <a:pt x="151" y="48"/>
                    </a:lnTo>
                    <a:lnTo>
                      <a:pt x="128" y="56"/>
                    </a:lnTo>
                    <a:lnTo>
                      <a:pt x="104" y="64"/>
                    </a:lnTo>
                    <a:lnTo>
                      <a:pt x="82" y="72"/>
                    </a:lnTo>
                    <a:lnTo>
                      <a:pt x="58" y="82"/>
                    </a:lnTo>
                    <a:lnTo>
                      <a:pt x="36" y="91"/>
                    </a:lnTo>
                    <a:lnTo>
                      <a:pt x="11" y="103"/>
                    </a:lnTo>
                    <a:lnTo>
                      <a:pt x="0" y="73"/>
                    </a:lnTo>
                    <a:lnTo>
                      <a:pt x="25" y="62"/>
                    </a:lnTo>
                    <a:lnTo>
                      <a:pt x="50" y="50"/>
                    </a:lnTo>
                    <a:lnTo>
                      <a:pt x="74" y="41"/>
                    </a:lnTo>
                    <a:lnTo>
                      <a:pt x="99" y="32"/>
                    </a:lnTo>
                    <a:lnTo>
                      <a:pt x="123" y="23"/>
                    </a:lnTo>
                    <a:lnTo>
                      <a:pt x="149" y="15"/>
                    </a:lnTo>
                    <a:lnTo>
                      <a:pt x="173" y="7"/>
                    </a:lnTo>
                    <a:lnTo>
                      <a:pt x="198" y="0"/>
                    </a:lnTo>
                    <a:lnTo>
                      <a:pt x="198" y="3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00" name="Freeform 196"/>
              <p:cNvSpPr>
                <a:spLocks/>
              </p:cNvSpPr>
              <p:nvPr/>
            </p:nvSpPr>
            <p:spPr bwMode="auto">
              <a:xfrm>
                <a:off x="2910" y="1298"/>
                <a:ext cx="23" cy="40"/>
              </a:xfrm>
              <a:custGeom>
                <a:avLst/>
                <a:gdLst>
                  <a:gd name="T0" fmla="*/ 0 w 23"/>
                  <a:gd name="T1" fmla="*/ 5 h 40"/>
                  <a:gd name="T2" fmla="*/ 22 w 23"/>
                  <a:gd name="T3" fmla="*/ 0 h 40"/>
                  <a:gd name="T4" fmla="*/ 23 w 23"/>
                  <a:gd name="T5" fmla="*/ 34 h 40"/>
                  <a:gd name="T6" fmla="*/ 1 w 23"/>
                  <a:gd name="T7" fmla="*/ 40 h 40"/>
                  <a:gd name="T8" fmla="*/ 0 w 23"/>
                  <a:gd name="T9" fmla="*/ 5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40"/>
                  <a:gd name="T17" fmla="*/ 23 w 23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40">
                    <a:moveTo>
                      <a:pt x="0" y="5"/>
                    </a:moveTo>
                    <a:lnTo>
                      <a:pt x="22" y="0"/>
                    </a:lnTo>
                    <a:lnTo>
                      <a:pt x="23" y="34"/>
                    </a:lnTo>
                    <a:lnTo>
                      <a:pt x="1" y="4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01" name="Freeform 197"/>
              <p:cNvSpPr>
                <a:spLocks/>
              </p:cNvSpPr>
              <p:nvPr/>
            </p:nvSpPr>
            <p:spPr bwMode="auto">
              <a:xfrm>
                <a:off x="2466" y="1422"/>
                <a:ext cx="154" cy="123"/>
              </a:xfrm>
              <a:custGeom>
                <a:avLst/>
                <a:gdLst>
                  <a:gd name="T0" fmla="*/ 154 w 154"/>
                  <a:gd name="T1" fmla="*/ 67 h 123"/>
                  <a:gd name="T2" fmla="*/ 0 w 154"/>
                  <a:gd name="T3" fmla="*/ 123 h 123"/>
                  <a:gd name="T4" fmla="*/ 93 w 154"/>
                  <a:gd name="T5" fmla="*/ 0 h 123"/>
                  <a:gd name="T6" fmla="*/ 154 w 154"/>
                  <a:gd name="T7" fmla="*/ 67 h 1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123"/>
                  <a:gd name="T14" fmla="*/ 154 w 154"/>
                  <a:gd name="T15" fmla="*/ 123 h 1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123">
                    <a:moveTo>
                      <a:pt x="154" y="67"/>
                    </a:moveTo>
                    <a:lnTo>
                      <a:pt x="0" y="123"/>
                    </a:lnTo>
                    <a:lnTo>
                      <a:pt x="93" y="0"/>
                    </a:lnTo>
                    <a:lnTo>
                      <a:pt x="154" y="67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02" name="Freeform 198"/>
              <p:cNvSpPr>
                <a:spLocks/>
              </p:cNvSpPr>
              <p:nvPr/>
            </p:nvSpPr>
            <p:spPr bwMode="auto">
              <a:xfrm>
                <a:off x="2452" y="1486"/>
                <a:ext cx="169" cy="68"/>
              </a:xfrm>
              <a:custGeom>
                <a:avLst/>
                <a:gdLst>
                  <a:gd name="T0" fmla="*/ 17 w 169"/>
                  <a:gd name="T1" fmla="*/ 60 h 68"/>
                  <a:gd name="T2" fmla="*/ 10 w 169"/>
                  <a:gd name="T3" fmla="*/ 54 h 68"/>
                  <a:gd name="T4" fmla="*/ 166 w 169"/>
                  <a:gd name="T5" fmla="*/ 0 h 68"/>
                  <a:gd name="T6" fmla="*/ 169 w 169"/>
                  <a:gd name="T7" fmla="*/ 7 h 68"/>
                  <a:gd name="T8" fmla="*/ 14 w 169"/>
                  <a:gd name="T9" fmla="*/ 64 h 68"/>
                  <a:gd name="T10" fmla="*/ 8 w 169"/>
                  <a:gd name="T11" fmla="*/ 58 h 68"/>
                  <a:gd name="T12" fmla="*/ 14 w 169"/>
                  <a:gd name="T13" fmla="*/ 64 h 68"/>
                  <a:gd name="T14" fmla="*/ 0 w 169"/>
                  <a:gd name="T15" fmla="*/ 68 h 68"/>
                  <a:gd name="T16" fmla="*/ 8 w 169"/>
                  <a:gd name="T17" fmla="*/ 58 h 68"/>
                  <a:gd name="T18" fmla="*/ 17 w 169"/>
                  <a:gd name="T19" fmla="*/ 60 h 6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9"/>
                  <a:gd name="T31" fmla="*/ 0 h 68"/>
                  <a:gd name="T32" fmla="*/ 169 w 169"/>
                  <a:gd name="T33" fmla="*/ 68 h 6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9" h="68">
                    <a:moveTo>
                      <a:pt x="17" y="60"/>
                    </a:moveTo>
                    <a:lnTo>
                      <a:pt x="10" y="54"/>
                    </a:lnTo>
                    <a:lnTo>
                      <a:pt x="166" y="0"/>
                    </a:lnTo>
                    <a:lnTo>
                      <a:pt x="169" y="7"/>
                    </a:lnTo>
                    <a:lnTo>
                      <a:pt x="14" y="64"/>
                    </a:lnTo>
                    <a:lnTo>
                      <a:pt x="8" y="58"/>
                    </a:lnTo>
                    <a:lnTo>
                      <a:pt x="14" y="64"/>
                    </a:lnTo>
                    <a:lnTo>
                      <a:pt x="0" y="68"/>
                    </a:lnTo>
                    <a:lnTo>
                      <a:pt x="8" y="58"/>
                    </a:lnTo>
                    <a:lnTo>
                      <a:pt x="17" y="60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03" name="Freeform 199"/>
              <p:cNvSpPr>
                <a:spLocks/>
              </p:cNvSpPr>
              <p:nvPr/>
            </p:nvSpPr>
            <p:spPr bwMode="auto">
              <a:xfrm>
                <a:off x="2462" y="1415"/>
                <a:ext cx="102" cy="133"/>
              </a:xfrm>
              <a:custGeom>
                <a:avLst/>
                <a:gdLst>
                  <a:gd name="T0" fmla="*/ 91 w 102"/>
                  <a:gd name="T1" fmla="*/ 11 h 133"/>
                  <a:gd name="T2" fmla="*/ 102 w 102"/>
                  <a:gd name="T3" fmla="*/ 9 h 133"/>
                  <a:gd name="T4" fmla="*/ 8 w 102"/>
                  <a:gd name="T5" fmla="*/ 133 h 133"/>
                  <a:gd name="T6" fmla="*/ 0 w 102"/>
                  <a:gd name="T7" fmla="*/ 130 h 133"/>
                  <a:gd name="T8" fmla="*/ 93 w 102"/>
                  <a:gd name="T9" fmla="*/ 7 h 133"/>
                  <a:gd name="T10" fmla="*/ 102 w 102"/>
                  <a:gd name="T11" fmla="*/ 5 h 133"/>
                  <a:gd name="T12" fmla="*/ 93 w 102"/>
                  <a:gd name="T13" fmla="*/ 7 h 133"/>
                  <a:gd name="T14" fmla="*/ 98 w 102"/>
                  <a:gd name="T15" fmla="*/ 0 h 133"/>
                  <a:gd name="T16" fmla="*/ 102 w 102"/>
                  <a:gd name="T17" fmla="*/ 5 h 133"/>
                  <a:gd name="T18" fmla="*/ 91 w 102"/>
                  <a:gd name="T19" fmla="*/ 11 h 1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2"/>
                  <a:gd name="T31" fmla="*/ 0 h 133"/>
                  <a:gd name="T32" fmla="*/ 102 w 102"/>
                  <a:gd name="T33" fmla="*/ 133 h 13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2" h="133">
                    <a:moveTo>
                      <a:pt x="91" y="11"/>
                    </a:moveTo>
                    <a:lnTo>
                      <a:pt x="102" y="9"/>
                    </a:lnTo>
                    <a:lnTo>
                      <a:pt x="8" y="133"/>
                    </a:lnTo>
                    <a:lnTo>
                      <a:pt x="0" y="130"/>
                    </a:lnTo>
                    <a:lnTo>
                      <a:pt x="93" y="7"/>
                    </a:lnTo>
                    <a:lnTo>
                      <a:pt x="102" y="5"/>
                    </a:lnTo>
                    <a:lnTo>
                      <a:pt x="93" y="7"/>
                    </a:lnTo>
                    <a:lnTo>
                      <a:pt x="98" y="0"/>
                    </a:lnTo>
                    <a:lnTo>
                      <a:pt x="102" y="5"/>
                    </a:lnTo>
                    <a:lnTo>
                      <a:pt x="91" y="11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04" name="Freeform 200"/>
              <p:cNvSpPr>
                <a:spLocks/>
              </p:cNvSpPr>
              <p:nvPr/>
            </p:nvSpPr>
            <p:spPr bwMode="auto">
              <a:xfrm>
                <a:off x="2553" y="1421"/>
                <a:ext cx="77" cy="75"/>
              </a:xfrm>
              <a:custGeom>
                <a:avLst/>
                <a:gdLst>
                  <a:gd name="T0" fmla="*/ 67 w 77"/>
                  <a:gd name="T1" fmla="*/ 66 h 75"/>
                  <a:gd name="T2" fmla="*/ 62 w 77"/>
                  <a:gd name="T3" fmla="*/ 73 h 75"/>
                  <a:gd name="T4" fmla="*/ 0 w 77"/>
                  <a:gd name="T5" fmla="*/ 6 h 75"/>
                  <a:gd name="T6" fmla="*/ 11 w 77"/>
                  <a:gd name="T7" fmla="*/ 0 h 75"/>
                  <a:gd name="T8" fmla="*/ 73 w 77"/>
                  <a:gd name="T9" fmla="*/ 67 h 75"/>
                  <a:gd name="T10" fmla="*/ 69 w 77"/>
                  <a:gd name="T11" fmla="*/ 75 h 75"/>
                  <a:gd name="T12" fmla="*/ 73 w 77"/>
                  <a:gd name="T13" fmla="*/ 67 h 75"/>
                  <a:gd name="T14" fmla="*/ 77 w 77"/>
                  <a:gd name="T15" fmla="*/ 71 h 75"/>
                  <a:gd name="T16" fmla="*/ 69 w 77"/>
                  <a:gd name="T17" fmla="*/ 75 h 75"/>
                  <a:gd name="T18" fmla="*/ 67 w 77"/>
                  <a:gd name="T19" fmla="*/ 66 h 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7"/>
                  <a:gd name="T31" fmla="*/ 0 h 75"/>
                  <a:gd name="T32" fmla="*/ 77 w 77"/>
                  <a:gd name="T33" fmla="*/ 75 h 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7" h="75">
                    <a:moveTo>
                      <a:pt x="67" y="66"/>
                    </a:moveTo>
                    <a:lnTo>
                      <a:pt x="62" y="73"/>
                    </a:lnTo>
                    <a:lnTo>
                      <a:pt x="0" y="6"/>
                    </a:lnTo>
                    <a:lnTo>
                      <a:pt x="11" y="0"/>
                    </a:lnTo>
                    <a:lnTo>
                      <a:pt x="73" y="67"/>
                    </a:lnTo>
                    <a:lnTo>
                      <a:pt x="69" y="75"/>
                    </a:lnTo>
                    <a:lnTo>
                      <a:pt x="73" y="67"/>
                    </a:lnTo>
                    <a:lnTo>
                      <a:pt x="77" y="71"/>
                    </a:lnTo>
                    <a:lnTo>
                      <a:pt x="69" y="75"/>
                    </a:lnTo>
                    <a:lnTo>
                      <a:pt x="67" y="66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05" name="Freeform 201"/>
              <p:cNvSpPr>
                <a:spLocks/>
              </p:cNvSpPr>
              <p:nvPr/>
            </p:nvSpPr>
            <p:spPr bwMode="auto">
              <a:xfrm>
                <a:off x="2485" y="1501"/>
                <a:ext cx="35" cy="31"/>
              </a:xfrm>
              <a:custGeom>
                <a:avLst/>
                <a:gdLst>
                  <a:gd name="T0" fmla="*/ 35 w 35"/>
                  <a:gd name="T1" fmla="*/ 19 h 31"/>
                  <a:gd name="T2" fmla="*/ 20 w 35"/>
                  <a:gd name="T3" fmla="*/ 31 h 31"/>
                  <a:gd name="T4" fmla="*/ 0 w 35"/>
                  <a:gd name="T5" fmla="*/ 12 h 31"/>
                  <a:gd name="T6" fmla="*/ 16 w 35"/>
                  <a:gd name="T7" fmla="*/ 0 h 31"/>
                  <a:gd name="T8" fmla="*/ 35 w 35"/>
                  <a:gd name="T9" fmla="*/ 19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31"/>
                  <a:gd name="T17" fmla="*/ 35 w 35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31">
                    <a:moveTo>
                      <a:pt x="35" y="19"/>
                    </a:moveTo>
                    <a:lnTo>
                      <a:pt x="20" y="31"/>
                    </a:lnTo>
                    <a:lnTo>
                      <a:pt x="0" y="12"/>
                    </a:lnTo>
                    <a:lnTo>
                      <a:pt x="16" y="0"/>
                    </a:lnTo>
                    <a:lnTo>
                      <a:pt x="35" y="19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06" name="Freeform 202"/>
              <p:cNvSpPr>
                <a:spLocks/>
              </p:cNvSpPr>
              <p:nvPr/>
            </p:nvSpPr>
            <p:spPr bwMode="auto">
              <a:xfrm>
                <a:off x="2502" y="1376"/>
                <a:ext cx="214" cy="144"/>
              </a:xfrm>
              <a:custGeom>
                <a:avLst/>
                <a:gdLst>
                  <a:gd name="T0" fmla="*/ 214 w 214"/>
                  <a:gd name="T1" fmla="*/ 23 h 144"/>
                  <a:gd name="T2" fmla="*/ 214 w 214"/>
                  <a:gd name="T3" fmla="*/ 23 h 144"/>
                  <a:gd name="T4" fmla="*/ 186 w 214"/>
                  <a:gd name="T5" fmla="*/ 36 h 144"/>
                  <a:gd name="T6" fmla="*/ 161 w 214"/>
                  <a:gd name="T7" fmla="*/ 49 h 144"/>
                  <a:gd name="T8" fmla="*/ 136 w 214"/>
                  <a:gd name="T9" fmla="*/ 64 h 144"/>
                  <a:gd name="T10" fmla="*/ 112 w 214"/>
                  <a:gd name="T11" fmla="*/ 80 h 144"/>
                  <a:gd name="T12" fmla="*/ 87 w 214"/>
                  <a:gd name="T13" fmla="*/ 95 h 144"/>
                  <a:gd name="T14" fmla="*/ 63 w 214"/>
                  <a:gd name="T15" fmla="*/ 110 h 144"/>
                  <a:gd name="T16" fmla="*/ 41 w 214"/>
                  <a:gd name="T17" fmla="*/ 127 h 144"/>
                  <a:gd name="T18" fmla="*/ 19 w 214"/>
                  <a:gd name="T19" fmla="*/ 144 h 144"/>
                  <a:gd name="T20" fmla="*/ 0 w 214"/>
                  <a:gd name="T21" fmla="*/ 126 h 144"/>
                  <a:gd name="T22" fmla="*/ 22 w 214"/>
                  <a:gd name="T23" fmla="*/ 108 h 144"/>
                  <a:gd name="T24" fmla="*/ 48 w 214"/>
                  <a:gd name="T25" fmla="*/ 91 h 144"/>
                  <a:gd name="T26" fmla="*/ 73 w 214"/>
                  <a:gd name="T27" fmla="*/ 75 h 144"/>
                  <a:gd name="T28" fmla="*/ 97 w 214"/>
                  <a:gd name="T29" fmla="*/ 58 h 144"/>
                  <a:gd name="T30" fmla="*/ 123 w 214"/>
                  <a:gd name="T31" fmla="*/ 43 h 144"/>
                  <a:gd name="T32" fmla="*/ 150 w 214"/>
                  <a:gd name="T33" fmla="*/ 28 h 144"/>
                  <a:gd name="T34" fmla="*/ 176 w 214"/>
                  <a:gd name="T35" fmla="*/ 13 h 144"/>
                  <a:gd name="T36" fmla="*/ 203 w 214"/>
                  <a:gd name="T37" fmla="*/ 0 h 144"/>
                  <a:gd name="T38" fmla="*/ 214 w 214"/>
                  <a:gd name="T39" fmla="*/ 23 h 14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4"/>
                  <a:gd name="T61" fmla="*/ 0 h 144"/>
                  <a:gd name="T62" fmla="*/ 214 w 214"/>
                  <a:gd name="T63" fmla="*/ 144 h 14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4" h="144">
                    <a:moveTo>
                      <a:pt x="214" y="23"/>
                    </a:moveTo>
                    <a:lnTo>
                      <a:pt x="214" y="23"/>
                    </a:lnTo>
                    <a:lnTo>
                      <a:pt x="186" y="36"/>
                    </a:lnTo>
                    <a:lnTo>
                      <a:pt x="161" y="49"/>
                    </a:lnTo>
                    <a:lnTo>
                      <a:pt x="136" y="64"/>
                    </a:lnTo>
                    <a:lnTo>
                      <a:pt x="112" y="80"/>
                    </a:lnTo>
                    <a:lnTo>
                      <a:pt x="87" y="95"/>
                    </a:lnTo>
                    <a:lnTo>
                      <a:pt x="63" y="110"/>
                    </a:lnTo>
                    <a:lnTo>
                      <a:pt x="41" y="127"/>
                    </a:lnTo>
                    <a:lnTo>
                      <a:pt x="19" y="144"/>
                    </a:lnTo>
                    <a:lnTo>
                      <a:pt x="0" y="126"/>
                    </a:lnTo>
                    <a:lnTo>
                      <a:pt x="22" y="108"/>
                    </a:lnTo>
                    <a:lnTo>
                      <a:pt x="48" y="91"/>
                    </a:lnTo>
                    <a:lnTo>
                      <a:pt x="73" y="75"/>
                    </a:lnTo>
                    <a:lnTo>
                      <a:pt x="97" y="58"/>
                    </a:lnTo>
                    <a:lnTo>
                      <a:pt x="123" y="43"/>
                    </a:lnTo>
                    <a:lnTo>
                      <a:pt x="150" y="28"/>
                    </a:lnTo>
                    <a:lnTo>
                      <a:pt x="176" y="13"/>
                    </a:lnTo>
                    <a:lnTo>
                      <a:pt x="203" y="0"/>
                    </a:lnTo>
                    <a:lnTo>
                      <a:pt x="214" y="23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07" name="Freeform 203"/>
              <p:cNvSpPr>
                <a:spLocks/>
              </p:cNvSpPr>
              <p:nvPr/>
            </p:nvSpPr>
            <p:spPr bwMode="auto">
              <a:xfrm>
                <a:off x="2710" y="1309"/>
                <a:ext cx="198" cy="94"/>
              </a:xfrm>
              <a:custGeom>
                <a:avLst/>
                <a:gdLst>
                  <a:gd name="T0" fmla="*/ 198 w 198"/>
                  <a:gd name="T1" fmla="*/ 27 h 94"/>
                  <a:gd name="T2" fmla="*/ 176 w 198"/>
                  <a:gd name="T3" fmla="*/ 33 h 94"/>
                  <a:gd name="T4" fmla="*/ 151 w 198"/>
                  <a:gd name="T5" fmla="*/ 40 h 94"/>
                  <a:gd name="T6" fmla="*/ 128 w 198"/>
                  <a:gd name="T7" fmla="*/ 48 h 94"/>
                  <a:gd name="T8" fmla="*/ 104 w 198"/>
                  <a:gd name="T9" fmla="*/ 55 h 94"/>
                  <a:gd name="T10" fmla="*/ 80 w 198"/>
                  <a:gd name="T11" fmla="*/ 65 h 94"/>
                  <a:gd name="T12" fmla="*/ 57 w 198"/>
                  <a:gd name="T13" fmla="*/ 73 h 94"/>
                  <a:gd name="T14" fmla="*/ 35 w 198"/>
                  <a:gd name="T15" fmla="*/ 83 h 94"/>
                  <a:gd name="T16" fmla="*/ 11 w 198"/>
                  <a:gd name="T17" fmla="*/ 94 h 94"/>
                  <a:gd name="T18" fmla="*/ 0 w 198"/>
                  <a:gd name="T19" fmla="*/ 69 h 94"/>
                  <a:gd name="T20" fmla="*/ 25 w 198"/>
                  <a:gd name="T21" fmla="*/ 58 h 94"/>
                  <a:gd name="T22" fmla="*/ 50 w 198"/>
                  <a:gd name="T23" fmla="*/ 48 h 94"/>
                  <a:gd name="T24" fmla="*/ 75 w 198"/>
                  <a:gd name="T25" fmla="*/ 38 h 94"/>
                  <a:gd name="T26" fmla="*/ 99 w 198"/>
                  <a:gd name="T27" fmla="*/ 31 h 94"/>
                  <a:gd name="T28" fmla="*/ 123 w 198"/>
                  <a:gd name="T29" fmla="*/ 21 h 94"/>
                  <a:gd name="T30" fmla="*/ 149 w 198"/>
                  <a:gd name="T31" fmla="*/ 13 h 94"/>
                  <a:gd name="T32" fmla="*/ 173 w 198"/>
                  <a:gd name="T33" fmla="*/ 6 h 94"/>
                  <a:gd name="T34" fmla="*/ 197 w 198"/>
                  <a:gd name="T35" fmla="*/ 0 h 94"/>
                  <a:gd name="T36" fmla="*/ 198 w 198"/>
                  <a:gd name="T37" fmla="*/ 27 h 9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8"/>
                  <a:gd name="T58" fmla="*/ 0 h 94"/>
                  <a:gd name="T59" fmla="*/ 198 w 198"/>
                  <a:gd name="T60" fmla="*/ 94 h 9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8" h="94">
                    <a:moveTo>
                      <a:pt x="198" y="27"/>
                    </a:moveTo>
                    <a:lnTo>
                      <a:pt x="176" y="33"/>
                    </a:lnTo>
                    <a:lnTo>
                      <a:pt x="151" y="40"/>
                    </a:lnTo>
                    <a:lnTo>
                      <a:pt x="128" y="48"/>
                    </a:lnTo>
                    <a:lnTo>
                      <a:pt x="104" y="55"/>
                    </a:lnTo>
                    <a:lnTo>
                      <a:pt x="80" y="65"/>
                    </a:lnTo>
                    <a:lnTo>
                      <a:pt x="57" y="73"/>
                    </a:lnTo>
                    <a:lnTo>
                      <a:pt x="35" y="83"/>
                    </a:lnTo>
                    <a:lnTo>
                      <a:pt x="11" y="94"/>
                    </a:lnTo>
                    <a:lnTo>
                      <a:pt x="0" y="69"/>
                    </a:lnTo>
                    <a:lnTo>
                      <a:pt x="25" y="58"/>
                    </a:lnTo>
                    <a:lnTo>
                      <a:pt x="50" y="48"/>
                    </a:lnTo>
                    <a:lnTo>
                      <a:pt x="75" y="38"/>
                    </a:lnTo>
                    <a:lnTo>
                      <a:pt x="99" y="31"/>
                    </a:lnTo>
                    <a:lnTo>
                      <a:pt x="123" y="21"/>
                    </a:lnTo>
                    <a:lnTo>
                      <a:pt x="149" y="13"/>
                    </a:lnTo>
                    <a:lnTo>
                      <a:pt x="173" y="6"/>
                    </a:lnTo>
                    <a:lnTo>
                      <a:pt x="197" y="0"/>
                    </a:lnTo>
                    <a:lnTo>
                      <a:pt x="198" y="27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08" name="Freeform 204"/>
              <p:cNvSpPr>
                <a:spLocks/>
              </p:cNvSpPr>
              <p:nvPr/>
            </p:nvSpPr>
            <p:spPr bwMode="auto">
              <a:xfrm>
                <a:off x="2908" y="1302"/>
                <a:ext cx="19" cy="33"/>
              </a:xfrm>
              <a:custGeom>
                <a:avLst/>
                <a:gdLst>
                  <a:gd name="T0" fmla="*/ 0 w 19"/>
                  <a:gd name="T1" fmla="*/ 4 h 33"/>
                  <a:gd name="T2" fmla="*/ 18 w 19"/>
                  <a:gd name="T3" fmla="*/ 0 h 33"/>
                  <a:gd name="T4" fmla="*/ 19 w 19"/>
                  <a:gd name="T5" fmla="*/ 29 h 33"/>
                  <a:gd name="T6" fmla="*/ 1 w 19"/>
                  <a:gd name="T7" fmla="*/ 33 h 33"/>
                  <a:gd name="T8" fmla="*/ 0 w 19"/>
                  <a:gd name="T9" fmla="*/ 4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33"/>
                  <a:gd name="T17" fmla="*/ 19 w 19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33">
                    <a:moveTo>
                      <a:pt x="0" y="4"/>
                    </a:moveTo>
                    <a:lnTo>
                      <a:pt x="18" y="0"/>
                    </a:lnTo>
                    <a:lnTo>
                      <a:pt x="19" y="29"/>
                    </a:lnTo>
                    <a:lnTo>
                      <a:pt x="1" y="3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09" name="Freeform 205"/>
              <p:cNvSpPr>
                <a:spLocks/>
              </p:cNvSpPr>
              <p:nvPr/>
            </p:nvSpPr>
            <p:spPr bwMode="auto">
              <a:xfrm>
                <a:off x="2435" y="1447"/>
                <a:ext cx="154" cy="125"/>
              </a:xfrm>
              <a:custGeom>
                <a:avLst/>
                <a:gdLst>
                  <a:gd name="T0" fmla="*/ 154 w 154"/>
                  <a:gd name="T1" fmla="*/ 63 h 125"/>
                  <a:gd name="T2" fmla="*/ 0 w 154"/>
                  <a:gd name="T3" fmla="*/ 125 h 125"/>
                  <a:gd name="T4" fmla="*/ 87 w 154"/>
                  <a:gd name="T5" fmla="*/ 0 h 125"/>
                  <a:gd name="T6" fmla="*/ 154 w 154"/>
                  <a:gd name="T7" fmla="*/ 63 h 1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125"/>
                  <a:gd name="T14" fmla="*/ 154 w 154"/>
                  <a:gd name="T15" fmla="*/ 125 h 1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125">
                    <a:moveTo>
                      <a:pt x="154" y="63"/>
                    </a:moveTo>
                    <a:lnTo>
                      <a:pt x="0" y="125"/>
                    </a:lnTo>
                    <a:lnTo>
                      <a:pt x="87" y="0"/>
                    </a:lnTo>
                    <a:lnTo>
                      <a:pt x="154" y="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10" name="Freeform 206"/>
              <p:cNvSpPr>
                <a:spLocks/>
              </p:cNvSpPr>
              <p:nvPr/>
            </p:nvSpPr>
            <p:spPr bwMode="auto">
              <a:xfrm>
                <a:off x="2415" y="1502"/>
                <a:ext cx="177" cy="85"/>
              </a:xfrm>
              <a:custGeom>
                <a:avLst/>
                <a:gdLst>
                  <a:gd name="T0" fmla="*/ 30 w 177"/>
                  <a:gd name="T1" fmla="*/ 70 h 85"/>
                  <a:gd name="T2" fmla="*/ 20 w 177"/>
                  <a:gd name="T3" fmla="*/ 61 h 85"/>
                  <a:gd name="T4" fmla="*/ 172 w 177"/>
                  <a:gd name="T5" fmla="*/ 0 h 85"/>
                  <a:gd name="T6" fmla="*/ 177 w 177"/>
                  <a:gd name="T7" fmla="*/ 15 h 85"/>
                  <a:gd name="T8" fmla="*/ 24 w 177"/>
                  <a:gd name="T9" fmla="*/ 75 h 85"/>
                  <a:gd name="T10" fmla="*/ 14 w 177"/>
                  <a:gd name="T11" fmla="*/ 65 h 85"/>
                  <a:gd name="T12" fmla="*/ 24 w 177"/>
                  <a:gd name="T13" fmla="*/ 75 h 85"/>
                  <a:gd name="T14" fmla="*/ 0 w 177"/>
                  <a:gd name="T15" fmla="*/ 85 h 85"/>
                  <a:gd name="T16" fmla="*/ 14 w 177"/>
                  <a:gd name="T17" fmla="*/ 65 h 85"/>
                  <a:gd name="T18" fmla="*/ 30 w 177"/>
                  <a:gd name="T19" fmla="*/ 70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7"/>
                  <a:gd name="T31" fmla="*/ 0 h 85"/>
                  <a:gd name="T32" fmla="*/ 177 w 177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7" h="85">
                    <a:moveTo>
                      <a:pt x="30" y="70"/>
                    </a:moveTo>
                    <a:lnTo>
                      <a:pt x="20" y="61"/>
                    </a:lnTo>
                    <a:lnTo>
                      <a:pt x="172" y="0"/>
                    </a:lnTo>
                    <a:lnTo>
                      <a:pt x="177" y="15"/>
                    </a:lnTo>
                    <a:lnTo>
                      <a:pt x="24" y="75"/>
                    </a:lnTo>
                    <a:lnTo>
                      <a:pt x="14" y="65"/>
                    </a:lnTo>
                    <a:lnTo>
                      <a:pt x="24" y="75"/>
                    </a:lnTo>
                    <a:lnTo>
                      <a:pt x="0" y="85"/>
                    </a:lnTo>
                    <a:lnTo>
                      <a:pt x="14" y="65"/>
                    </a:lnTo>
                    <a:lnTo>
                      <a:pt x="30" y="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11" name="Freeform 207"/>
              <p:cNvSpPr>
                <a:spLocks/>
              </p:cNvSpPr>
              <p:nvPr/>
            </p:nvSpPr>
            <p:spPr bwMode="auto">
              <a:xfrm>
                <a:off x="2429" y="1434"/>
                <a:ext cx="102" cy="142"/>
              </a:xfrm>
              <a:custGeom>
                <a:avLst/>
                <a:gdLst>
                  <a:gd name="T0" fmla="*/ 85 w 102"/>
                  <a:gd name="T1" fmla="*/ 20 h 142"/>
                  <a:gd name="T2" fmla="*/ 102 w 102"/>
                  <a:gd name="T3" fmla="*/ 17 h 142"/>
                  <a:gd name="T4" fmla="*/ 15 w 102"/>
                  <a:gd name="T5" fmla="*/ 142 h 142"/>
                  <a:gd name="T6" fmla="*/ 0 w 102"/>
                  <a:gd name="T7" fmla="*/ 137 h 142"/>
                  <a:gd name="T8" fmla="*/ 86 w 102"/>
                  <a:gd name="T9" fmla="*/ 11 h 142"/>
                  <a:gd name="T10" fmla="*/ 102 w 102"/>
                  <a:gd name="T11" fmla="*/ 8 h 142"/>
                  <a:gd name="T12" fmla="*/ 86 w 102"/>
                  <a:gd name="T13" fmla="*/ 11 h 142"/>
                  <a:gd name="T14" fmla="*/ 93 w 102"/>
                  <a:gd name="T15" fmla="*/ 0 h 142"/>
                  <a:gd name="T16" fmla="*/ 102 w 102"/>
                  <a:gd name="T17" fmla="*/ 8 h 142"/>
                  <a:gd name="T18" fmla="*/ 85 w 102"/>
                  <a:gd name="T19" fmla="*/ 20 h 1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2"/>
                  <a:gd name="T31" fmla="*/ 0 h 142"/>
                  <a:gd name="T32" fmla="*/ 102 w 102"/>
                  <a:gd name="T33" fmla="*/ 142 h 1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2" h="142">
                    <a:moveTo>
                      <a:pt x="85" y="20"/>
                    </a:moveTo>
                    <a:lnTo>
                      <a:pt x="102" y="17"/>
                    </a:lnTo>
                    <a:lnTo>
                      <a:pt x="15" y="142"/>
                    </a:lnTo>
                    <a:lnTo>
                      <a:pt x="0" y="137"/>
                    </a:lnTo>
                    <a:lnTo>
                      <a:pt x="86" y="11"/>
                    </a:lnTo>
                    <a:lnTo>
                      <a:pt x="102" y="8"/>
                    </a:lnTo>
                    <a:lnTo>
                      <a:pt x="86" y="11"/>
                    </a:lnTo>
                    <a:lnTo>
                      <a:pt x="93" y="0"/>
                    </a:lnTo>
                    <a:lnTo>
                      <a:pt x="102" y="8"/>
                    </a:lnTo>
                    <a:lnTo>
                      <a:pt x="85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12" name="Freeform 208"/>
              <p:cNvSpPr>
                <a:spLocks/>
              </p:cNvSpPr>
              <p:nvPr/>
            </p:nvSpPr>
            <p:spPr bwMode="auto">
              <a:xfrm>
                <a:off x="2515" y="1441"/>
                <a:ext cx="91" cy="77"/>
              </a:xfrm>
              <a:custGeom>
                <a:avLst/>
                <a:gdLst>
                  <a:gd name="T0" fmla="*/ 72 w 91"/>
                  <a:gd name="T1" fmla="*/ 62 h 77"/>
                  <a:gd name="T2" fmla="*/ 66 w 91"/>
                  <a:gd name="T3" fmla="*/ 76 h 77"/>
                  <a:gd name="T4" fmla="*/ 0 w 91"/>
                  <a:gd name="T5" fmla="*/ 13 h 77"/>
                  <a:gd name="T6" fmla="*/ 16 w 91"/>
                  <a:gd name="T7" fmla="*/ 0 h 77"/>
                  <a:gd name="T8" fmla="*/ 83 w 91"/>
                  <a:gd name="T9" fmla="*/ 63 h 77"/>
                  <a:gd name="T10" fmla="*/ 77 w 91"/>
                  <a:gd name="T11" fmla="*/ 77 h 77"/>
                  <a:gd name="T12" fmla="*/ 83 w 91"/>
                  <a:gd name="T13" fmla="*/ 63 h 77"/>
                  <a:gd name="T14" fmla="*/ 91 w 91"/>
                  <a:gd name="T15" fmla="*/ 72 h 77"/>
                  <a:gd name="T16" fmla="*/ 77 w 91"/>
                  <a:gd name="T17" fmla="*/ 77 h 77"/>
                  <a:gd name="T18" fmla="*/ 72 w 91"/>
                  <a:gd name="T19" fmla="*/ 62 h 7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77"/>
                  <a:gd name="T32" fmla="*/ 91 w 91"/>
                  <a:gd name="T33" fmla="*/ 77 h 7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77">
                    <a:moveTo>
                      <a:pt x="72" y="62"/>
                    </a:moveTo>
                    <a:lnTo>
                      <a:pt x="66" y="76"/>
                    </a:lnTo>
                    <a:lnTo>
                      <a:pt x="0" y="13"/>
                    </a:lnTo>
                    <a:lnTo>
                      <a:pt x="16" y="0"/>
                    </a:lnTo>
                    <a:lnTo>
                      <a:pt x="83" y="63"/>
                    </a:lnTo>
                    <a:lnTo>
                      <a:pt x="77" y="77"/>
                    </a:lnTo>
                    <a:lnTo>
                      <a:pt x="83" y="63"/>
                    </a:lnTo>
                    <a:lnTo>
                      <a:pt x="91" y="72"/>
                    </a:lnTo>
                    <a:lnTo>
                      <a:pt x="77" y="77"/>
                    </a:lnTo>
                    <a:lnTo>
                      <a:pt x="72" y="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13" name="Freeform 209"/>
              <p:cNvSpPr>
                <a:spLocks/>
              </p:cNvSpPr>
              <p:nvPr/>
            </p:nvSpPr>
            <p:spPr bwMode="auto">
              <a:xfrm>
                <a:off x="2447" y="1524"/>
                <a:ext cx="43" cy="35"/>
              </a:xfrm>
              <a:custGeom>
                <a:avLst/>
                <a:gdLst>
                  <a:gd name="T0" fmla="*/ 43 w 43"/>
                  <a:gd name="T1" fmla="*/ 20 h 35"/>
                  <a:gd name="T2" fmla="*/ 25 w 43"/>
                  <a:gd name="T3" fmla="*/ 35 h 35"/>
                  <a:gd name="T4" fmla="*/ 0 w 43"/>
                  <a:gd name="T5" fmla="*/ 14 h 35"/>
                  <a:gd name="T6" fmla="*/ 19 w 43"/>
                  <a:gd name="T7" fmla="*/ 0 h 35"/>
                  <a:gd name="T8" fmla="*/ 43 w 43"/>
                  <a:gd name="T9" fmla="*/ 2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35"/>
                  <a:gd name="T17" fmla="*/ 43 w 43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35">
                    <a:moveTo>
                      <a:pt x="43" y="20"/>
                    </a:moveTo>
                    <a:lnTo>
                      <a:pt x="25" y="35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43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14" name="Freeform 210"/>
              <p:cNvSpPr>
                <a:spLocks/>
              </p:cNvSpPr>
              <p:nvPr/>
            </p:nvSpPr>
            <p:spPr bwMode="auto">
              <a:xfrm>
                <a:off x="2468" y="1391"/>
                <a:ext cx="215" cy="156"/>
              </a:xfrm>
              <a:custGeom>
                <a:avLst/>
                <a:gdLst>
                  <a:gd name="T0" fmla="*/ 215 w 215"/>
                  <a:gd name="T1" fmla="*/ 29 h 156"/>
                  <a:gd name="T2" fmla="*/ 215 w 215"/>
                  <a:gd name="T3" fmla="*/ 29 h 156"/>
                  <a:gd name="T4" fmla="*/ 189 w 215"/>
                  <a:gd name="T5" fmla="*/ 43 h 156"/>
                  <a:gd name="T6" fmla="*/ 162 w 215"/>
                  <a:gd name="T7" fmla="*/ 59 h 156"/>
                  <a:gd name="T8" fmla="*/ 138 w 215"/>
                  <a:gd name="T9" fmla="*/ 72 h 156"/>
                  <a:gd name="T10" fmla="*/ 114 w 215"/>
                  <a:gd name="T11" fmla="*/ 88 h 156"/>
                  <a:gd name="T12" fmla="*/ 91 w 215"/>
                  <a:gd name="T13" fmla="*/ 103 h 156"/>
                  <a:gd name="T14" fmla="*/ 68 w 215"/>
                  <a:gd name="T15" fmla="*/ 121 h 156"/>
                  <a:gd name="T16" fmla="*/ 47 w 215"/>
                  <a:gd name="T17" fmla="*/ 138 h 156"/>
                  <a:gd name="T18" fmla="*/ 24 w 215"/>
                  <a:gd name="T19" fmla="*/ 156 h 156"/>
                  <a:gd name="T20" fmla="*/ 0 w 215"/>
                  <a:gd name="T21" fmla="*/ 134 h 156"/>
                  <a:gd name="T22" fmla="*/ 22 w 215"/>
                  <a:gd name="T23" fmla="*/ 116 h 156"/>
                  <a:gd name="T24" fmla="*/ 45 w 215"/>
                  <a:gd name="T25" fmla="*/ 97 h 156"/>
                  <a:gd name="T26" fmla="*/ 70 w 215"/>
                  <a:gd name="T27" fmla="*/ 79 h 156"/>
                  <a:gd name="T28" fmla="*/ 95 w 215"/>
                  <a:gd name="T29" fmla="*/ 63 h 156"/>
                  <a:gd name="T30" fmla="*/ 119 w 215"/>
                  <a:gd name="T31" fmla="*/ 47 h 156"/>
                  <a:gd name="T32" fmla="*/ 146 w 215"/>
                  <a:gd name="T33" fmla="*/ 30 h 156"/>
                  <a:gd name="T34" fmla="*/ 172 w 215"/>
                  <a:gd name="T35" fmla="*/ 16 h 156"/>
                  <a:gd name="T36" fmla="*/ 201 w 215"/>
                  <a:gd name="T37" fmla="*/ 0 h 156"/>
                  <a:gd name="T38" fmla="*/ 215 w 215"/>
                  <a:gd name="T39" fmla="*/ 29 h 15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5"/>
                  <a:gd name="T61" fmla="*/ 0 h 156"/>
                  <a:gd name="T62" fmla="*/ 215 w 215"/>
                  <a:gd name="T63" fmla="*/ 156 h 15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5" h="156">
                    <a:moveTo>
                      <a:pt x="215" y="29"/>
                    </a:moveTo>
                    <a:lnTo>
                      <a:pt x="215" y="29"/>
                    </a:lnTo>
                    <a:lnTo>
                      <a:pt x="189" y="43"/>
                    </a:lnTo>
                    <a:lnTo>
                      <a:pt x="162" y="59"/>
                    </a:lnTo>
                    <a:lnTo>
                      <a:pt x="138" y="72"/>
                    </a:lnTo>
                    <a:lnTo>
                      <a:pt x="114" y="88"/>
                    </a:lnTo>
                    <a:lnTo>
                      <a:pt x="91" y="103"/>
                    </a:lnTo>
                    <a:lnTo>
                      <a:pt x="68" y="121"/>
                    </a:lnTo>
                    <a:lnTo>
                      <a:pt x="47" y="138"/>
                    </a:lnTo>
                    <a:lnTo>
                      <a:pt x="24" y="156"/>
                    </a:lnTo>
                    <a:lnTo>
                      <a:pt x="0" y="134"/>
                    </a:lnTo>
                    <a:lnTo>
                      <a:pt x="22" y="116"/>
                    </a:lnTo>
                    <a:lnTo>
                      <a:pt x="45" y="97"/>
                    </a:lnTo>
                    <a:lnTo>
                      <a:pt x="70" y="79"/>
                    </a:lnTo>
                    <a:lnTo>
                      <a:pt x="95" y="63"/>
                    </a:lnTo>
                    <a:lnTo>
                      <a:pt x="119" y="47"/>
                    </a:lnTo>
                    <a:lnTo>
                      <a:pt x="146" y="30"/>
                    </a:lnTo>
                    <a:lnTo>
                      <a:pt x="172" y="16"/>
                    </a:lnTo>
                    <a:lnTo>
                      <a:pt x="201" y="0"/>
                    </a:lnTo>
                    <a:lnTo>
                      <a:pt x="215" y="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15" name="Freeform 211"/>
              <p:cNvSpPr>
                <a:spLocks/>
              </p:cNvSpPr>
              <p:nvPr/>
            </p:nvSpPr>
            <p:spPr bwMode="auto">
              <a:xfrm>
                <a:off x="2673" y="1315"/>
                <a:ext cx="198" cy="107"/>
              </a:xfrm>
              <a:custGeom>
                <a:avLst/>
                <a:gdLst>
                  <a:gd name="T0" fmla="*/ 198 w 198"/>
                  <a:gd name="T1" fmla="*/ 33 h 107"/>
                  <a:gd name="T2" fmla="*/ 175 w 198"/>
                  <a:gd name="T3" fmla="*/ 41 h 107"/>
                  <a:gd name="T4" fmla="*/ 153 w 198"/>
                  <a:gd name="T5" fmla="*/ 48 h 107"/>
                  <a:gd name="T6" fmla="*/ 128 w 198"/>
                  <a:gd name="T7" fmla="*/ 57 h 107"/>
                  <a:gd name="T8" fmla="*/ 106 w 198"/>
                  <a:gd name="T9" fmla="*/ 65 h 107"/>
                  <a:gd name="T10" fmla="*/ 83 w 198"/>
                  <a:gd name="T11" fmla="*/ 74 h 107"/>
                  <a:gd name="T12" fmla="*/ 59 w 198"/>
                  <a:gd name="T13" fmla="*/ 85 h 107"/>
                  <a:gd name="T14" fmla="*/ 37 w 198"/>
                  <a:gd name="T15" fmla="*/ 95 h 107"/>
                  <a:gd name="T16" fmla="*/ 14 w 198"/>
                  <a:gd name="T17" fmla="*/ 107 h 107"/>
                  <a:gd name="T18" fmla="*/ 0 w 198"/>
                  <a:gd name="T19" fmla="*/ 79 h 107"/>
                  <a:gd name="T20" fmla="*/ 26 w 198"/>
                  <a:gd name="T21" fmla="*/ 66 h 107"/>
                  <a:gd name="T22" fmla="*/ 48 w 198"/>
                  <a:gd name="T23" fmla="*/ 54 h 107"/>
                  <a:gd name="T24" fmla="*/ 74 w 198"/>
                  <a:gd name="T25" fmla="*/ 44 h 107"/>
                  <a:gd name="T26" fmla="*/ 98 w 198"/>
                  <a:gd name="T27" fmla="*/ 33 h 107"/>
                  <a:gd name="T28" fmla="*/ 122 w 198"/>
                  <a:gd name="T29" fmla="*/ 25 h 107"/>
                  <a:gd name="T30" fmla="*/ 147 w 198"/>
                  <a:gd name="T31" fmla="*/ 16 h 107"/>
                  <a:gd name="T32" fmla="*/ 172 w 198"/>
                  <a:gd name="T33" fmla="*/ 6 h 107"/>
                  <a:gd name="T34" fmla="*/ 196 w 198"/>
                  <a:gd name="T35" fmla="*/ 0 h 107"/>
                  <a:gd name="T36" fmla="*/ 198 w 198"/>
                  <a:gd name="T37" fmla="*/ 33 h 10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8"/>
                  <a:gd name="T58" fmla="*/ 0 h 107"/>
                  <a:gd name="T59" fmla="*/ 198 w 198"/>
                  <a:gd name="T60" fmla="*/ 107 h 10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8" h="107">
                    <a:moveTo>
                      <a:pt x="198" y="33"/>
                    </a:moveTo>
                    <a:lnTo>
                      <a:pt x="175" y="41"/>
                    </a:lnTo>
                    <a:lnTo>
                      <a:pt x="153" y="48"/>
                    </a:lnTo>
                    <a:lnTo>
                      <a:pt x="128" y="57"/>
                    </a:lnTo>
                    <a:lnTo>
                      <a:pt x="106" y="65"/>
                    </a:lnTo>
                    <a:lnTo>
                      <a:pt x="83" y="74"/>
                    </a:lnTo>
                    <a:lnTo>
                      <a:pt x="59" y="85"/>
                    </a:lnTo>
                    <a:lnTo>
                      <a:pt x="37" y="95"/>
                    </a:lnTo>
                    <a:lnTo>
                      <a:pt x="14" y="107"/>
                    </a:lnTo>
                    <a:lnTo>
                      <a:pt x="0" y="79"/>
                    </a:lnTo>
                    <a:lnTo>
                      <a:pt x="26" y="66"/>
                    </a:lnTo>
                    <a:lnTo>
                      <a:pt x="48" y="54"/>
                    </a:lnTo>
                    <a:lnTo>
                      <a:pt x="74" y="44"/>
                    </a:lnTo>
                    <a:lnTo>
                      <a:pt x="98" y="33"/>
                    </a:lnTo>
                    <a:lnTo>
                      <a:pt x="122" y="25"/>
                    </a:lnTo>
                    <a:lnTo>
                      <a:pt x="147" y="16"/>
                    </a:lnTo>
                    <a:lnTo>
                      <a:pt x="172" y="6"/>
                    </a:lnTo>
                    <a:lnTo>
                      <a:pt x="196" y="0"/>
                    </a:lnTo>
                    <a:lnTo>
                      <a:pt x="198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16" name="Freeform 212"/>
              <p:cNvSpPr>
                <a:spLocks/>
              </p:cNvSpPr>
              <p:nvPr/>
            </p:nvSpPr>
            <p:spPr bwMode="auto">
              <a:xfrm>
                <a:off x="2872" y="1307"/>
                <a:ext cx="23" cy="41"/>
              </a:xfrm>
              <a:custGeom>
                <a:avLst/>
                <a:gdLst>
                  <a:gd name="T0" fmla="*/ 0 w 23"/>
                  <a:gd name="T1" fmla="*/ 7 h 41"/>
                  <a:gd name="T2" fmla="*/ 21 w 23"/>
                  <a:gd name="T3" fmla="*/ 0 h 41"/>
                  <a:gd name="T4" fmla="*/ 23 w 23"/>
                  <a:gd name="T5" fmla="*/ 35 h 41"/>
                  <a:gd name="T6" fmla="*/ 2 w 23"/>
                  <a:gd name="T7" fmla="*/ 41 h 41"/>
                  <a:gd name="T8" fmla="*/ 0 w 23"/>
                  <a:gd name="T9" fmla="*/ 7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41"/>
                  <a:gd name="T17" fmla="*/ 23 w 23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41">
                    <a:moveTo>
                      <a:pt x="0" y="7"/>
                    </a:moveTo>
                    <a:lnTo>
                      <a:pt x="21" y="0"/>
                    </a:lnTo>
                    <a:lnTo>
                      <a:pt x="23" y="35"/>
                    </a:lnTo>
                    <a:lnTo>
                      <a:pt x="2" y="41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17" name="Freeform 213"/>
              <p:cNvSpPr>
                <a:spLocks/>
              </p:cNvSpPr>
              <p:nvPr/>
            </p:nvSpPr>
            <p:spPr bwMode="auto">
              <a:xfrm>
                <a:off x="2435" y="1447"/>
                <a:ext cx="154" cy="125"/>
              </a:xfrm>
              <a:custGeom>
                <a:avLst/>
                <a:gdLst>
                  <a:gd name="T0" fmla="*/ 154 w 154"/>
                  <a:gd name="T1" fmla="*/ 63 h 125"/>
                  <a:gd name="T2" fmla="*/ 0 w 154"/>
                  <a:gd name="T3" fmla="*/ 125 h 125"/>
                  <a:gd name="T4" fmla="*/ 87 w 154"/>
                  <a:gd name="T5" fmla="*/ 0 h 125"/>
                  <a:gd name="T6" fmla="*/ 154 w 154"/>
                  <a:gd name="T7" fmla="*/ 63 h 1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125"/>
                  <a:gd name="T14" fmla="*/ 154 w 154"/>
                  <a:gd name="T15" fmla="*/ 125 h 1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125">
                    <a:moveTo>
                      <a:pt x="154" y="63"/>
                    </a:moveTo>
                    <a:lnTo>
                      <a:pt x="0" y="125"/>
                    </a:lnTo>
                    <a:lnTo>
                      <a:pt x="87" y="0"/>
                    </a:lnTo>
                    <a:lnTo>
                      <a:pt x="154" y="63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18" name="Freeform 214"/>
              <p:cNvSpPr>
                <a:spLocks/>
              </p:cNvSpPr>
              <p:nvPr/>
            </p:nvSpPr>
            <p:spPr bwMode="auto">
              <a:xfrm>
                <a:off x="2425" y="1507"/>
                <a:ext cx="165" cy="75"/>
              </a:xfrm>
              <a:custGeom>
                <a:avLst/>
                <a:gdLst>
                  <a:gd name="T0" fmla="*/ 16 w 165"/>
                  <a:gd name="T1" fmla="*/ 67 h 75"/>
                  <a:gd name="T2" fmla="*/ 12 w 165"/>
                  <a:gd name="T3" fmla="*/ 60 h 75"/>
                  <a:gd name="T4" fmla="*/ 164 w 165"/>
                  <a:gd name="T5" fmla="*/ 0 h 75"/>
                  <a:gd name="T6" fmla="*/ 165 w 165"/>
                  <a:gd name="T7" fmla="*/ 9 h 75"/>
                  <a:gd name="T8" fmla="*/ 14 w 165"/>
                  <a:gd name="T9" fmla="*/ 70 h 75"/>
                  <a:gd name="T10" fmla="*/ 9 w 165"/>
                  <a:gd name="T11" fmla="*/ 64 h 75"/>
                  <a:gd name="T12" fmla="*/ 14 w 165"/>
                  <a:gd name="T13" fmla="*/ 70 h 75"/>
                  <a:gd name="T14" fmla="*/ 0 w 165"/>
                  <a:gd name="T15" fmla="*/ 75 h 75"/>
                  <a:gd name="T16" fmla="*/ 9 w 165"/>
                  <a:gd name="T17" fmla="*/ 64 h 75"/>
                  <a:gd name="T18" fmla="*/ 16 w 165"/>
                  <a:gd name="T19" fmla="*/ 67 h 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75"/>
                  <a:gd name="T32" fmla="*/ 165 w 165"/>
                  <a:gd name="T33" fmla="*/ 75 h 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75">
                    <a:moveTo>
                      <a:pt x="16" y="67"/>
                    </a:moveTo>
                    <a:lnTo>
                      <a:pt x="12" y="60"/>
                    </a:lnTo>
                    <a:lnTo>
                      <a:pt x="164" y="0"/>
                    </a:lnTo>
                    <a:lnTo>
                      <a:pt x="165" y="9"/>
                    </a:lnTo>
                    <a:lnTo>
                      <a:pt x="14" y="70"/>
                    </a:lnTo>
                    <a:lnTo>
                      <a:pt x="9" y="64"/>
                    </a:lnTo>
                    <a:lnTo>
                      <a:pt x="14" y="70"/>
                    </a:lnTo>
                    <a:lnTo>
                      <a:pt x="0" y="75"/>
                    </a:lnTo>
                    <a:lnTo>
                      <a:pt x="9" y="64"/>
                    </a:lnTo>
                    <a:lnTo>
                      <a:pt x="16" y="67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19" name="Freeform 215"/>
              <p:cNvSpPr>
                <a:spLocks/>
              </p:cNvSpPr>
              <p:nvPr/>
            </p:nvSpPr>
            <p:spPr bwMode="auto">
              <a:xfrm>
                <a:off x="2434" y="1438"/>
                <a:ext cx="95" cy="134"/>
              </a:xfrm>
              <a:custGeom>
                <a:avLst/>
                <a:gdLst>
                  <a:gd name="T0" fmla="*/ 84 w 95"/>
                  <a:gd name="T1" fmla="*/ 13 h 134"/>
                  <a:gd name="T2" fmla="*/ 95 w 95"/>
                  <a:gd name="T3" fmla="*/ 8 h 134"/>
                  <a:gd name="T4" fmla="*/ 8 w 95"/>
                  <a:gd name="T5" fmla="*/ 134 h 134"/>
                  <a:gd name="T6" fmla="*/ 0 w 95"/>
                  <a:gd name="T7" fmla="*/ 132 h 134"/>
                  <a:gd name="T8" fmla="*/ 86 w 95"/>
                  <a:gd name="T9" fmla="*/ 6 h 134"/>
                  <a:gd name="T10" fmla="*/ 95 w 95"/>
                  <a:gd name="T11" fmla="*/ 4 h 134"/>
                  <a:gd name="T12" fmla="*/ 86 w 95"/>
                  <a:gd name="T13" fmla="*/ 6 h 134"/>
                  <a:gd name="T14" fmla="*/ 90 w 95"/>
                  <a:gd name="T15" fmla="*/ 0 h 134"/>
                  <a:gd name="T16" fmla="*/ 95 w 95"/>
                  <a:gd name="T17" fmla="*/ 4 h 134"/>
                  <a:gd name="T18" fmla="*/ 84 w 95"/>
                  <a:gd name="T19" fmla="*/ 13 h 13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5"/>
                  <a:gd name="T31" fmla="*/ 0 h 134"/>
                  <a:gd name="T32" fmla="*/ 95 w 95"/>
                  <a:gd name="T33" fmla="*/ 134 h 13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5" h="134">
                    <a:moveTo>
                      <a:pt x="84" y="13"/>
                    </a:moveTo>
                    <a:lnTo>
                      <a:pt x="95" y="8"/>
                    </a:lnTo>
                    <a:lnTo>
                      <a:pt x="8" y="134"/>
                    </a:lnTo>
                    <a:lnTo>
                      <a:pt x="0" y="132"/>
                    </a:lnTo>
                    <a:lnTo>
                      <a:pt x="86" y="6"/>
                    </a:lnTo>
                    <a:lnTo>
                      <a:pt x="95" y="4"/>
                    </a:lnTo>
                    <a:lnTo>
                      <a:pt x="86" y="6"/>
                    </a:lnTo>
                    <a:lnTo>
                      <a:pt x="90" y="0"/>
                    </a:lnTo>
                    <a:lnTo>
                      <a:pt x="95" y="4"/>
                    </a:lnTo>
                    <a:lnTo>
                      <a:pt x="84" y="13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20" name="Freeform 216"/>
              <p:cNvSpPr>
                <a:spLocks/>
              </p:cNvSpPr>
              <p:nvPr/>
            </p:nvSpPr>
            <p:spPr bwMode="auto">
              <a:xfrm>
                <a:off x="2519" y="1441"/>
                <a:ext cx="82" cy="73"/>
              </a:xfrm>
              <a:custGeom>
                <a:avLst/>
                <a:gdLst>
                  <a:gd name="T0" fmla="*/ 72 w 82"/>
                  <a:gd name="T1" fmla="*/ 63 h 73"/>
                  <a:gd name="T2" fmla="*/ 67 w 82"/>
                  <a:gd name="T3" fmla="*/ 72 h 73"/>
                  <a:gd name="T4" fmla="*/ 0 w 82"/>
                  <a:gd name="T5" fmla="*/ 8 h 73"/>
                  <a:gd name="T6" fmla="*/ 11 w 82"/>
                  <a:gd name="T7" fmla="*/ 0 h 73"/>
                  <a:gd name="T8" fmla="*/ 77 w 82"/>
                  <a:gd name="T9" fmla="*/ 63 h 73"/>
                  <a:gd name="T10" fmla="*/ 74 w 82"/>
                  <a:gd name="T11" fmla="*/ 73 h 73"/>
                  <a:gd name="T12" fmla="*/ 77 w 82"/>
                  <a:gd name="T13" fmla="*/ 63 h 73"/>
                  <a:gd name="T14" fmla="*/ 82 w 82"/>
                  <a:gd name="T15" fmla="*/ 68 h 73"/>
                  <a:gd name="T16" fmla="*/ 74 w 82"/>
                  <a:gd name="T17" fmla="*/ 73 h 73"/>
                  <a:gd name="T18" fmla="*/ 72 w 82"/>
                  <a:gd name="T19" fmla="*/ 63 h 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2"/>
                  <a:gd name="T31" fmla="*/ 0 h 73"/>
                  <a:gd name="T32" fmla="*/ 82 w 82"/>
                  <a:gd name="T33" fmla="*/ 73 h 7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2" h="73">
                    <a:moveTo>
                      <a:pt x="72" y="63"/>
                    </a:moveTo>
                    <a:lnTo>
                      <a:pt x="67" y="72"/>
                    </a:lnTo>
                    <a:lnTo>
                      <a:pt x="0" y="8"/>
                    </a:lnTo>
                    <a:lnTo>
                      <a:pt x="11" y="0"/>
                    </a:lnTo>
                    <a:lnTo>
                      <a:pt x="77" y="63"/>
                    </a:lnTo>
                    <a:lnTo>
                      <a:pt x="74" y="73"/>
                    </a:lnTo>
                    <a:lnTo>
                      <a:pt x="77" y="63"/>
                    </a:lnTo>
                    <a:lnTo>
                      <a:pt x="82" y="68"/>
                    </a:lnTo>
                    <a:lnTo>
                      <a:pt x="74" y="73"/>
                    </a:lnTo>
                    <a:lnTo>
                      <a:pt x="72" y="63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21" name="Freeform 217"/>
              <p:cNvSpPr>
                <a:spLocks/>
              </p:cNvSpPr>
              <p:nvPr/>
            </p:nvSpPr>
            <p:spPr bwMode="auto">
              <a:xfrm>
                <a:off x="2465" y="1517"/>
                <a:ext cx="35" cy="28"/>
              </a:xfrm>
              <a:custGeom>
                <a:avLst/>
                <a:gdLst>
                  <a:gd name="T0" fmla="*/ 35 w 35"/>
                  <a:gd name="T1" fmla="*/ 16 h 28"/>
                  <a:gd name="T2" fmla="*/ 21 w 35"/>
                  <a:gd name="T3" fmla="*/ 28 h 28"/>
                  <a:gd name="T4" fmla="*/ 0 w 35"/>
                  <a:gd name="T5" fmla="*/ 12 h 28"/>
                  <a:gd name="T6" fmla="*/ 15 w 35"/>
                  <a:gd name="T7" fmla="*/ 0 h 28"/>
                  <a:gd name="T8" fmla="*/ 35 w 35"/>
                  <a:gd name="T9" fmla="*/ 16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28"/>
                  <a:gd name="T17" fmla="*/ 35 w 35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28">
                    <a:moveTo>
                      <a:pt x="35" y="16"/>
                    </a:moveTo>
                    <a:lnTo>
                      <a:pt x="21" y="28"/>
                    </a:lnTo>
                    <a:lnTo>
                      <a:pt x="0" y="12"/>
                    </a:lnTo>
                    <a:lnTo>
                      <a:pt x="15" y="0"/>
                    </a:lnTo>
                    <a:lnTo>
                      <a:pt x="35" y="16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22" name="Freeform 218"/>
              <p:cNvSpPr>
                <a:spLocks/>
              </p:cNvSpPr>
              <p:nvPr/>
            </p:nvSpPr>
            <p:spPr bwMode="auto">
              <a:xfrm>
                <a:off x="2481" y="1382"/>
                <a:ext cx="212" cy="153"/>
              </a:xfrm>
              <a:custGeom>
                <a:avLst/>
                <a:gdLst>
                  <a:gd name="T0" fmla="*/ 212 w 212"/>
                  <a:gd name="T1" fmla="*/ 25 h 153"/>
                  <a:gd name="T2" fmla="*/ 212 w 212"/>
                  <a:gd name="T3" fmla="*/ 25 h 153"/>
                  <a:gd name="T4" fmla="*/ 184 w 212"/>
                  <a:gd name="T5" fmla="*/ 39 h 153"/>
                  <a:gd name="T6" fmla="*/ 160 w 212"/>
                  <a:gd name="T7" fmla="*/ 54 h 153"/>
                  <a:gd name="T8" fmla="*/ 134 w 212"/>
                  <a:gd name="T9" fmla="*/ 69 h 153"/>
                  <a:gd name="T10" fmla="*/ 111 w 212"/>
                  <a:gd name="T11" fmla="*/ 85 h 153"/>
                  <a:gd name="T12" fmla="*/ 88 w 212"/>
                  <a:gd name="T13" fmla="*/ 101 h 153"/>
                  <a:gd name="T14" fmla="*/ 64 w 212"/>
                  <a:gd name="T15" fmla="*/ 118 h 153"/>
                  <a:gd name="T16" fmla="*/ 42 w 212"/>
                  <a:gd name="T17" fmla="*/ 136 h 153"/>
                  <a:gd name="T18" fmla="*/ 21 w 212"/>
                  <a:gd name="T19" fmla="*/ 153 h 153"/>
                  <a:gd name="T20" fmla="*/ 0 w 212"/>
                  <a:gd name="T21" fmla="*/ 135 h 153"/>
                  <a:gd name="T22" fmla="*/ 23 w 212"/>
                  <a:gd name="T23" fmla="*/ 117 h 153"/>
                  <a:gd name="T24" fmla="*/ 47 w 212"/>
                  <a:gd name="T25" fmla="*/ 97 h 153"/>
                  <a:gd name="T26" fmla="*/ 70 w 212"/>
                  <a:gd name="T27" fmla="*/ 80 h 153"/>
                  <a:gd name="T28" fmla="*/ 95 w 212"/>
                  <a:gd name="T29" fmla="*/ 62 h 153"/>
                  <a:gd name="T30" fmla="*/ 119 w 212"/>
                  <a:gd name="T31" fmla="*/ 47 h 153"/>
                  <a:gd name="T32" fmla="*/ 146 w 212"/>
                  <a:gd name="T33" fmla="*/ 30 h 153"/>
                  <a:gd name="T34" fmla="*/ 172 w 212"/>
                  <a:gd name="T35" fmla="*/ 15 h 153"/>
                  <a:gd name="T36" fmla="*/ 198 w 212"/>
                  <a:gd name="T37" fmla="*/ 0 h 153"/>
                  <a:gd name="T38" fmla="*/ 212 w 212"/>
                  <a:gd name="T39" fmla="*/ 25 h 1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2"/>
                  <a:gd name="T61" fmla="*/ 0 h 153"/>
                  <a:gd name="T62" fmla="*/ 212 w 212"/>
                  <a:gd name="T63" fmla="*/ 153 h 1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2" h="153">
                    <a:moveTo>
                      <a:pt x="212" y="25"/>
                    </a:moveTo>
                    <a:lnTo>
                      <a:pt x="212" y="25"/>
                    </a:lnTo>
                    <a:lnTo>
                      <a:pt x="184" y="39"/>
                    </a:lnTo>
                    <a:lnTo>
                      <a:pt x="160" y="54"/>
                    </a:lnTo>
                    <a:lnTo>
                      <a:pt x="134" y="69"/>
                    </a:lnTo>
                    <a:lnTo>
                      <a:pt x="111" y="85"/>
                    </a:lnTo>
                    <a:lnTo>
                      <a:pt x="88" y="101"/>
                    </a:lnTo>
                    <a:lnTo>
                      <a:pt x="64" y="118"/>
                    </a:lnTo>
                    <a:lnTo>
                      <a:pt x="42" y="136"/>
                    </a:lnTo>
                    <a:lnTo>
                      <a:pt x="21" y="153"/>
                    </a:lnTo>
                    <a:lnTo>
                      <a:pt x="0" y="135"/>
                    </a:lnTo>
                    <a:lnTo>
                      <a:pt x="23" y="117"/>
                    </a:lnTo>
                    <a:lnTo>
                      <a:pt x="47" y="97"/>
                    </a:lnTo>
                    <a:lnTo>
                      <a:pt x="70" y="80"/>
                    </a:lnTo>
                    <a:lnTo>
                      <a:pt x="95" y="62"/>
                    </a:lnTo>
                    <a:lnTo>
                      <a:pt x="119" y="47"/>
                    </a:lnTo>
                    <a:lnTo>
                      <a:pt x="146" y="30"/>
                    </a:lnTo>
                    <a:lnTo>
                      <a:pt x="172" y="15"/>
                    </a:lnTo>
                    <a:lnTo>
                      <a:pt x="198" y="0"/>
                    </a:lnTo>
                    <a:lnTo>
                      <a:pt x="212" y="25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23" name="Freeform 219"/>
              <p:cNvSpPr>
                <a:spLocks/>
              </p:cNvSpPr>
              <p:nvPr/>
            </p:nvSpPr>
            <p:spPr bwMode="auto">
              <a:xfrm>
                <a:off x="2684" y="1309"/>
                <a:ext cx="197" cy="101"/>
              </a:xfrm>
              <a:custGeom>
                <a:avLst/>
                <a:gdLst>
                  <a:gd name="T0" fmla="*/ 197 w 197"/>
                  <a:gd name="T1" fmla="*/ 27 h 101"/>
                  <a:gd name="T2" fmla="*/ 175 w 197"/>
                  <a:gd name="T3" fmla="*/ 34 h 101"/>
                  <a:gd name="T4" fmla="*/ 151 w 197"/>
                  <a:gd name="T5" fmla="*/ 41 h 101"/>
                  <a:gd name="T6" fmla="*/ 128 w 197"/>
                  <a:gd name="T7" fmla="*/ 49 h 101"/>
                  <a:gd name="T8" fmla="*/ 104 w 197"/>
                  <a:gd name="T9" fmla="*/ 58 h 101"/>
                  <a:gd name="T10" fmla="*/ 81 w 197"/>
                  <a:gd name="T11" fmla="*/ 68 h 101"/>
                  <a:gd name="T12" fmla="*/ 57 w 197"/>
                  <a:gd name="T13" fmla="*/ 79 h 101"/>
                  <a:gd name="T14" fmla="*/ 36 w 197"/>
                  <a:gd name="T15" fmla="*/ 88 h 101"/>
                  <a:gd name="T16" fmla="*/ 12 w 197"/>
                  <a:gd name="T17" fmla="*/ 101 h 101"/>
                  <a:gd name="T18" fmla="*/ 0 w 197"/>
                  <a:gd name="T19" fmla="*/ 78 h 101"/>
                  <a:gd name="T20" fmla="*/ 24 w 197"/>
                  <a:gd name="T21" fmla="*/ 65 h 101"/>
                  <a:gd name="T22" fmla="*/ 49 w 197"/>
                  <a:gd name="T23" fmla="*/ 54 h 101"/>
                  <a:gd name="T24" fmla="*/ 73 w 197"/>
                  <a:gd name="T25" fmla="*/ 42 h 101"/>
                  <a:gd name="T26" fmla="*/ 97 w 197"/>
                  <a:gd name="T27" fmla="*/ 33 h 101"/>
                  <a:gd name="T28" fmla="*/ 123 w 197"/>
                  <a:gd name="T29" fmla="*/ 23 h 101"/>
                  <a:gd name="T30" fmla="*/ 147 w 197"/>
                  <a:gd name="T31" fmla="*/ 15 h 101"/>
                  <a:gd name="T32" fmla="*/ 172 w 197"/>
                  <a:gd name="T33" fmla="*/ 6 h 101"/>
                  <a:gd name="T34" fmla="*/ 196 w 197"/>
                  <a:gd name="T35" fmla="*/ 0 h 101"/>
                  <a:gd name="T36" fmla="*/ 197 w 197"/>
                  <a:gd name="T37" fmla="*/ 27 h 10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7"/>
                  <a:gd name="T58" fmla="*/ 0 h 101"/>
                  <a:gd name="T59" fmla="*/ 197 w 197"/>
                  <a:gd name="T60" fmla="*/ 101 h 10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7" h="101">
                    <a:moveTo>
                      <a:pt x="197" y="27"/>
                    </a:moveTo>
                    <a:lnTo>
                      <a:pt x="175" y="34"/>
                    </a:lnTo>
                    <a:lnTo>
                      <a:pt x="151" y="41"/>
                    </a:lnTo>
                    <a:lnTo>
                      <a:pt x="128" y="49"/>
                    </a:lnTo>
                    <a:lnTo>
                      <a:pt x="104" y="58"/>
                    </a:lnTo>
                    <a:lnTo>
                      <a:pt x="81" y="68"/>
                    </a:lnTo>
                    <a:lnTo>
                      <a:pt x="57" y="79"/>
                    </a:lnTo>
                    <a:lnTo>
                      <a:pt x="36" y="88"/>
                    </a:lnTo>
                    <a:lnTo>
                      <a:pt x="12" y="101"/>
                    </a:lnTo>
                    <a:lnTo>
                      <a:pt x="0" y="78"/>
                    </a:lnTo>
                    <a:lnTo>
                      <a:pt x="24" y="65"/>
                    </a:lnTo>
                    <a:lnTo>
                      <a:pt x="49" y="54"/>
                    </a:lnTo>
                    <a:lnTo>
                      <a:pt x="73" y="42"/>
                    </a:lnTo>
                    <a:lnTo>
                      <a:pt x="97" y="33"/>
                    </a:lnTo>
                    <a:lnTo>
                      <a:pt x="123" y="23"/>
                    </a:lnTo>
                    <a:lnTo>
                      <a:pt x="147" y="15"/>
                    </a:lnTo>
                    <a:lnTo>
                      <a:pt x="172" y="6"/>
                    </a:lnTo>
                    <a:lnTo>
                      <a:pt x="196" y="0"/>
                    </a:lnTo>
                    <a:lnTo>
                      <a:pt x="197" y="27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24" name="Freeform 220"/>
              <p:cNvSpPr>
                <a:spLocks/>
              </p:cNvSpPr>
              <p:nvPr/>
            </p:nvSpPr>
            <p:spPr bwMode="auto">
              <a:xfrm>
                <a:off x="2882" y="1301"/>
                <a:ext cx="20" cy="34"/>
              </a:xfrm>
              <a:custGeom>
                <a:avLst/>
                <a:gdLst>
                  <a:gd name="T0" fmla="*/ 0 w 20"/>
                  <a:gd name="T1" fmla="*/ 6 h 34"/>
                  <a:gd name="T2" fmla="*/ 19 w 20"/>
                  <a:gd name="T3" fmla="*/ 0 h 34"/>
                  <a:gd name="T4" fmla="*/ 20 w 20"/>
                  <a:gd name="T5" fmla="*/ 28 h 34"/>
                  <a:gd name="T6" fmla="*/ 1 w 20"/>
                  <a:gd name="T7" fmla="*/ 34 h 34"/>
                  <a:gd name="T8" fmla="*/ 0 w 20"/>
                  <a:gd name="T9" fmla="*/ 6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34"/>
                  <a:gd name="T17" fmla="*/ 20 w 2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34">
                    <a:moveTo>
                      <a:pt x="0" y="6"/>
                    </a:moveTo>
                    <a:lnTo>
                      <a:pt x="19" y="0"/>
                    </a:lnTo>
                    <a:lnTo>
                      <a:pt x="20" y="28"/>
                    </a:lnTo>
                    <a:lnTo>
                      <a:pt x="1" y="3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25" name="Freeform 221"/>
              <p:cNvSpPr>
                <a:spLocks/>
              </p:cNvSpPr>
              <p:nvPr/>
            </p:nvSpPr>
            <p:spPr bwMode="auto">
              <a:xfrm>
                <a:off x="2411" y="1471"/>
                <a:ext cx="151" cy="127"/>
              </a:xfrm>
              <a:custGeom>
                <a:avLst/>
                <a:gdLst>
                  <a:gd name="T0" fmla="*/ 151 w 151"/>
                  <a:gd name="T1" fmla="*/ 59 h 127"/>
                  <a:gd name="T2" fmla="*/ 0 w 151"/>
                  <a:gd name="T3" fmla="*/ 127 h 127"/>
                  <a:gd name="T4" fmla="*/ 79 w 151"/>
                  <a:gd name="T5" fmla="*/ 0 h 127"/>
                  <a:gd name="T6" fmla="*/ 151 w 151"/>
                  <a:gd name="T7" fmla="*/ 59 h 12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1"/>
                  <a:gd name="T13" fmla="*/ 0 h 127"/>
                  <a:gd name="T14" fmla="*/ 151 w 151"/>
                  <a:gd name="T15" fmla="*/ 127 h 12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1" h="127">
                    <a:moveTo>
                      <a:pt x="151" y="59"/>
                    </a:moveTo>
                    <a:lnTo>
                      <a:pt x="0" y="127"/>
                    </a:lnTo>
                    <a:lnTo>
                      <a:pt x="79" y="0"/>
                    </a:lnTo>
                    <a:lnTo>
                      <a:pt x="151" y="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26" name="Freeform 222"/>
              <p:cNvSpPr>
                <a:spLocks/>
              </p:cNvSpPr>
              <p:nvPr/>
            </p:nvSpPr>
            <p:spPr bwMode="auto">
              <a:xfrm>
                <a:off x="2390" y="1522"/>
                <a:ext cx="174" cy="91"/>
              </a:xfrm>
              <a:custGeom>
                <a:avLst/>
                <a:gdLst>
                  <a:gd name="T0" fmla="*/ 28 w 174"/>
                  <a:gd name="T1" fmla="*/ 76 h 91"/>
                  <a:gd name="T2" fmla="*/ 17 w 174"/>
                  <a:gd name="T3" fmla="*/ 68 h 91"/>
                  <a:gd name="T4" fmla="*/ 169 w 174"/>
                  <a:gd name="T5" fmla="*/ 0 h 91"/>
                  <a:gd name="T6" fmla="*/ 174 w 174"/>
                  <a:gd name="T7" fmla="*/ 15 h 91"/>
                  <a:gd name="T8" fmla="*/ 22 w 174"/>
                  <a:gd name="T9" fmla="*/ 81 h 91"/>
                  <a:gd name="T10" fmla="*/ 12 w 174"/>
                  <a:gd name="T11" fmla="*/ 72 h 91"/>
                  <a:gd name="T12" fmla="*/ 22 w 174"/>
                  <a:gd name="T13" fmla="*/ 81 h 91"/>
                  <a:gd name="T14" fmla="*/ 0 w 174"/>
                  <a:gd name="T15" fmla="*/ 91 h 91"/>
                  <a:gd name="T16" fmla="*/ 12 w 174"/>
                  <a:gd name="T17" fmla="*/ 72 h 91"/>
                  <a:gd name="T18" fmla="*/ 28 w 174"/>
                  <a:gd name="T19" fmla="*/ 76 h 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4"/>
                  <a:gd name="T31" fmla="*/ 0 h 91"/>
                  <a:gd name="T32" fmla="*/ 174 w 174"/>
                  <a:gd name="T33" fmla="*/ 91 h 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4" h="91">
                    <a:moveTo>
                      <a:pt x="28" y="76"/>
                    </a:moveTo>
                    <a:lnTo>
                      <a:pt x="17" y="68"/>
                    </a:lnTo>
                    <a:lnTo>
                      <a:pt x="169" y="0"/>
                    </a:lnTo>
                    <a:lnTo>
                      <a:pt x="174" y="15"/>
                    </a:lnTo>
                    <a:lnTo>
                      <a:pt x="22" y="81"/>
                    </a:lnTo>
                    <a:lnTo>
                      <a:pt x="12" y="72"/>
                    </a:lnTo>
                    <a:lnTo>
                      <a:pt x="22" y="81"/>
                    </a:lnTo>
                    <a:lnTo>
                      <a:pt x="0" y="91"/>
                    </a:lnTo>
                    <a:lnTo>
                      <a:pt x="12" y="72"/>
                    </a:lnTo>
                    <a:lnTo>
                      <a:pt x="28" y="7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27" name="Freeform 223"/>
              <p:cNvSpPr>
                <a:spLocks/>
              </p:cNvSpPr>
              <p:nvPr/>
            </p:nvSpPr>
            <p:spPr bwMode="auto">
              <a:xfrm>
                <a:off x="2398" y="1459"/>
                <a:ext cx="96" cy="142"/>
              </a:xfrm>
              <a:custGeom>
                <a:avLst/>
                <a:gdLst>
                  <a:gd name="T0" fmla="*/ 80 w 96"/>
                  <a:gd name="T1" fmla="*/ 20 h 142"/>
                  <a:gd name="T2" fmla="*/ 96 w 96"/>
                  <a:gd name="T3" fmla="*/ 16 h 142"/>
                  <a:gd name="T4" fmla="*/ 17 w 96"/>
                  <a:gd name="T5" fmla="*/ 142 h 142"/>
                  <a:gd name="T6" fmla="*/ 0 w 96"/>
                  <a:gd name="T7" fmla="*/ 139 h 142"/>
                  <a:gd name="T8" fmla="*/ 80 w 96"/>
                  <a:gd name="T9" fmla="*/ 13 h 142"/>
                  <a:gd name="T10" fmla="*/ 95 w 96"/>
                  <a:gd name="T11" fmla="*/ 8 h 142"/>
                  <a:gd name="T12" fmla="*/ 80 w 96"/>
                  <a:gd name="T13" fmla="*/ 13 h 142"/>
                  <a:gd name="T14" fmla="*/ 88 w 96"/>
                  <a:gd name="T15" fmla="*/ 0 h 142"/>
                  <a:gd name="T16" fmla="*/ 95 w 96"/>
                  <a:gd name="T17" fmla="*/ 8 h 142"/>
                  <a:gd name="T18" fmla="*/ 80 w 96"/>
                  <a:gd name="T19" fmla="*/ 20 h 1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6"/>
                  <a:gd name="T31" fmla="*/ 0 h 142"/>
                  <a:gd name="T32" fmla="*/ 96 w 96"/>
                  <a:gd name="T33" fmla="*/ 142 h 1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6" h="142">
                    <a:moveTo>
                      <a:pt x="80" y="20"/>
                    </a:moveTo>
                    <a:lnTo>
                      <a:pt x="96" y="16"/>
                    </a:lnTo>
                    <a:lnTo>
                      <a:pt x="17" y="142"/>
                    </a:lnTo>
                    <a:lnTo>
                      <a:pt x="0" y="139"/>
                    </a:lnTo>
                    <a:lnTo>
                      <a:pt x="80" y="13"/>
                    </a:lnTo>
                    <a:lnTo>
                      <a:pt x="95" y="8"/>
                    </a:lnTo>
                    <a:lnTo>
                      <a:pt x="80" y="13"/>
                    </a:lnTo>
                    <a:lnTo>
                      <a:pt x="88" y="0"/>
                    </a:lnTo>
                    <a:lnTo>
                      <a:pt x="95" y="8"/>
                    </a:lnTo>
                    <a:lnTo>
                      <a:pt x="80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28" name="Freeform 224"/>
              <p:cNvSpPr>
                <a:spLocks/>
              </p:cNvSpPr>
              <p:nvPr/>
            </p:nvSpPr>
            <p:spPr bwMode="auto">
              <a:xfrm>
                <a:off x="2484" y="1467"/>
                <a:ext cx="96" cy="72"/>
              </a:xfrm>
              <a:custGeom>
                <a:avLst/>
                <a:gdLst>
                  <a:gd name="T0" fmla="*/ 78 w 96"/>
                  <a:gd name="T1" fmla="*/ 57 h 72"/>
                  <a:gd name="T2" fmla="*/ 72 w 96"/>
                  <a:gd name="T3" fmla="*/ 71 h 72"/>
                  <a:gd name="T4" fmla="*/ 0 w 96"/>
                  <a:gd name="T5" fmla="*/ 12 h 72"/>
                  <a:gd name="T6" fmla="*/ 15 w 96"/>
                  <a:gd name="T7" fmla="*/ 0 h 72"/>
                  <a:gd name="T8" fmla="*/ 89 w 96"/>
                  <a:gd name="T9" fmla="*/ 60 h 72"/>
                  <a:gd name="T10" fmla="*/ 82 w 96"/>
                  <a:gd name="T11" fmla="*/ 72 h 72"/>
                  <a:gd name="T12" fmla="*/ 89 w 96"/>
                  <a:gd name="T13" fmla="*/ 60 h 72"/>
                  <a:gd name="T14" fmla="*/ 96 w 96"/>
                  <a:gd name="T15" fmla="*/ 66 h 72"/>
                  <a:gd name="T16" fmla="*/ 82 w 96"/>
                  <a:gd name="T17" fmla="*/ 72 h 72"/>
                  <a:gd name="T18" fmla="*/ 78 w 96"/>
                  <a:gd name="T19" fmla="*/ 57 h 7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6"/>
                  <a:gd name="T31" fmla="*/ 0 h 72"/>
                  <a:gd name="T32" fmla="*/ 96 w 96"/>
                  <a:gd name="T33" fmla="*/ 72 h 7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6" h="72">
                    <a:moveTo>
                      <a:pt x="78" y="57"/>
                    </a:moveTo>
                    <a:lnTo>
                      <a:pt x="72" y="71"/>
                    </a:lnTo>
                    <a:lnTo>
                      <a:pt x="0" y="12"/>
                    </a:lnTo>
                    <a:lnTo>
                      <a:pt x="15" y="0"/>
                    </a:lnTo>
                    <a:lnTo>
                      <a:pt x="89" y="60"/>
                    </a:lnTo>
                    <a:lnTo>
                      <a:pt x="82" y="72"/>
                    </a:lnTo>
                    <a:lnTo>
                      <a:pt x="89" y="60"/>
                    </a:lnTo>
                    <a:lnTo>
                      <a:pt x="96" y="66"/>
                    </a:lnTo>
                    <a:lnTo>
                      <a:pt x="82" y="72"/>
                    </a:lnTo>
                    <a:lnTo>
                      <a:pt x="78" y="5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29" name="Freeform 225"/>
              <p:cNvSpPr>
                <a:spLocks/>
              </p:cNvSpPr>
              <p:nvPr/>
            </p:nvSpPr>
            <p:spPr bwMode="auto">
              <a:xfrm>
                <a:off x="2418" y="1551"/>
                <a:ext cx="44" cy="35"/>
              </a:xfrm>
              <a:custGeom>
                <a:avLst/>
                <a:gdLst>
                  <a:gd name="T0" fmla="*/ 44 w 44"/>
                  <a:gd name="T1" fmla="*/ 21 h 35"/>
                  <a:gd name="T2" fmla="*/ 27 w 44"/>
                  <a:gd name="T3" fmla="*/ 35 h 35"/>
                  <a:gd name="T4" fmla="*/ 0 w 44"/>
                  <a:gd name="T5" fmla="*/ 16 h 35"/>
                  <a:gd name="T6" fmla="*/ 17 w 44"/>
                  <a:gd name="T7" fmla="*/ 0 h 35"/>
                  <a:gd name="T8" fmla="*/ 44 w 44"/>
                  <a:gd name="T9" fmla="*/ 21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"/>
                  <a:gd name="T16" fmla="*/ 0 h 35"/>
                  <a:gd name="T17" fmla="*/ 44 w 44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" h="35">
                    <a:moveTo>
                      <a:pt x="44" y="21"/>
                    </a:moveTo>
                    <a:lnTo>
                      <a:pt x="27" y="35"/>
                    </a:lnTo>
                    <a:lnTo>
                      <a:pt x="0" y="16"/>
                    </a:lnTo>
                    <a:lnTo>
                      <a:pt x="17" y="0"/>
                    </a:lnTo>
                    <a:lnTo>
                      <a:pt x="44" y="2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30" name="Freeform 226"/>
              <p:cNvSpPr>
                <a:spLocks/>
              </p:cNvSpPr>
              <p:nvPr/>
            </p:nvSpPr>
            <p:spPr bwMode="auto">
              <a:xfrm>
                <a:off x="2436" y="1407"/>
                <a:ext cx="213" cy="162"/>
              </a:xfrm>
              <a:custGeom>
                <a:avLst/>
                <a:gdLst>
                  <a:gd name="T0" fmla="*/ 213 w 213"/>
                  <a:gd name="T1" fmla="*/ 28 h 162"/>
                  <a:gd name="T2" fmla="*/ 213 w 213"/>
                  <a:gd name="T3" fmla="*/ 28 h 162"/>
                  <a:gd name="T4" fmla="*/ 188 w 213"/>
                  <a:gd name="T5" fmla="*/ 43 h 162"/>
                  <a:gd name="T6" fmla="*/ 161 w 213"/>
                  <a:gd name="T7" fmla="*/ 59 h 162"/>
                  <a:gd name="T8" fmla="*/ 139 w 213"/>
                  <a:gd name="T9" fmla="*/ 75 h 162"/>
                  <a:gd name="T10" fmla="*/ 114 w 213"/>
                  <a:gd name="T11" fmla="*/ 92 h 162"/>
                  <a:gd name="T12" fmla="*/ 91 w 213"/>
                  <a:gd name="T13" fmla="*/ 109 h 162"/>
                  <a:gd name="T14" fmla="*/ 69 w 213"/>
                  <a:gd name="T15" fmla="*/ 126 h 162"/>
                  <a:gd name="T16" fmla="*/ 48 w 213"/>
                  <a:gd name="T17" fmla="*/ 144 h 162"/>
                  <a:gd name="T18" fmla="*/ 26 w 213"/>
                  <a:gd name="T19" fmla="*/ 162 h 162"/>
                  <a:gd name="T20" fmla="*/ 0 w 213"/>
                  <a:gd name="T21" fmla="*/ 142 h 162"/>
                  <a:gd name="T22" fmla="*/ 21 w 213"/>
                  <a:gd name="T23" fmla="*/ 123 h 162"/>
                  <a:gd name="T24" fmla="*/ 44 w 213"/>
                  <a:gd name="T25" fmla="*/ 103 h 162"/>
                  <a:gd name="T26" fmla="*/ 68 w 213"/>
                  <a:gd name="T27" fmla="*/ 84 h 162"/>
                  <a:gd name="T28" fmla="*/ 93 w 213"/>
                  <a:gd name="T29" fmla="*/ 66 h 162"/>
                  <a:gd name="T30" fmla="*/ 117 w 213"/>
                  <a:gd name="T31" fmla="*/ 50 h 162"/>
                  <a:gd name="T32" fmla="*/ 144 w 213"/>
                  <a:gd name="T33" fmla="*/ 33 h 162"/>
                  <a:gd name="T34" fmla="*/ 170 w 213"/>
                  <a:gd name="T35" fmla="*/ 17 h 162"/>
                  <a:gd name="T36" fmla="*/ 196 w 213"/>
                  <a:gd name="T37" fmla="*/ 0 h 162"/>
                  <a:gd name="T38" fmla="*/ 213 w 213"/>
                  <a:gd name="T39" fmla="*/ 28 h 16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3"/>
                  <a:gd name="T61" fmla="*/ 0 h 162"/>
                  <a:gd name="T62" fmla="*/ 213 w 213"/>
                  <a:gd name="T63" fmla="*/ 162 h 16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3" h="162">
                    <a:moveTo>
                      <a:pt x="213" y="28"/>
                    </a:moveTo>
                    <a:lnTo>
                      <a:pt x="213" y="28"/>
                    </a:lnTo>
                    <a:lnTo>
                      <a:pt x="188" y="43"/>
                    </a:lnTo>
                    <a:lnTo>
                      <a:pt x="161" y="59"/>
                    </a:lnTo>
                    <a:lnTo>
                      <a:pt x="139" y="75"/>
                    </a:lnTo>
                    <a:lnTo>
                      <a:pt x="114" y="92"/>
                    </a:lnTo>
                    <a:lnTo>
                      <a:pt x="91" y="109"/>
                    </a:lnTo>
                    <a:lnTo>
                      <a:pt x="69" y="126"/>
                    </a:lnTo>
                    <a:lnTo>
                      <a:pt x="48" y="144"/>
                    </a:lnTo>
                    <a:lnTo>
                      <a:pt x="26" y="162"/>
                    </a:lnTo>
                    <a:lnTo>
                      <a:pt x="0" y="142"/>
                    </a:lnTo>
                    <a:lnTo>
                      <a:pt x="21" y="123"/>
                    </a:lnTo>
                    <a:lnTo>
                      <a:pt x="44" y="103"/>
                    </a:lnTo>
                    <a:lnTo>
                      <a:pt x="68" y="84"/>
                    </a:lnTo>
                    <a:lnTo>
                      <a:pt x="93" y="66"/>
                    </a:lnTo>
                    <a:lnTo>
                      <a:pt x="117" y="50"/>
                    </a:lnTo>
                    <a:lnTo>
                      <a:pt x="144" y="33"/>
                    </a:lnTo>
                    <a:lnTo>
                      <a:pt x="170" y="17"/>
                    </a:lnTo>
                    <a:lnTo>
                      <a:pt x="196" y="0"/>
                    </a:lnTo>
                    <a:lnTo>
                      <a:pt x="213" y="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31" name="Freeform 227"/>
              <p:cNvSpPr>
                <a:spLocks/>
              </p:cNvSpPr>
              <p:nvPr/>
            </p:nvSpPr>
            <p:spPr bwMode="auto">
              <a:xfrm>
                <a:off x="2637" y="1326"/>
                <a:ext cx="198" cy="113"/>
              </a:xfrm>
              <a:custGeom>
                <a:avLst/>
                <a:gdLst>
                  <a:gd name="T0" fmla="*/ 198 w 198"/>
                  <a:gd name="T1" fmla="*/ 32 h 113"/>
                  <a:gd name="T2" fmla="*/ 175 w 198"/>
                  <a:gd name="T3" fmla="*/ 40 h 113"/>
                  <a:gd name="T4" fmla="*/ 151 w 198"/>
                  <a:gd name="T5" fmla="*/ 48 h 113"/>
                  <a:gd name="T6" fmla="*/ 128 w 198"/>
                  <a:gd name="T7" fmla="*/ 58 h 113"/>
                  <a:gd name="T8" fmla="*/ 106 w 198"/>
                  <a:gd name="T9" fmla="*/ 67 h 113"/>
                  <a:gd name="T10" fmla="*/ 84 w 198"/>
                  <a:gd name="T11" fmla="*/ 78 h 113"/>
                  <a:gd name="T12" fmla="*/ 61 w 198"/>
                  <a:gd name="T13" fmla="*/ 88 h 113"/>
                  <a:gd name="T14" fmla="*/ 38 w 198"/>
                  <a:gd name="T15" fmla="*/ 100 h 113"/>
                  <a:gd name="T16" fmla="*/ 16 w 198"/>
                  <a:gd name="T17" fmla="*/ 113 h 113"/>
                  <a:gd name="T18" fmla="*/ 0 w 198"/>
                  <a:gd name="T19" fmla="*/ 86 h 113"/>
                  <a:gd name="T20" fmla="*/ 23 w 198"/>
                  <a:gd name="T21" fmla="*/ 72 h 113"/>
                  <a:gd name="T22" fmla="*/ 47 w 198"/>
                  <a:gd name="T23" fmla="*/ 62 h 113"/>
                  <a:gd name="T24" fmla="*/ 71 w 198"/>
                  <a:gd name="T25" fmla="*/ 49 h 113"/>
                  <a:gd name="T26" fmla="*/ 97 w 198"/>
                  <a:gd name="T27" fmla="*/ 38 h 113"/>
                  <a:gd name="T28" fmla="*/ 120 w 198"/>
                  <a:gd name="T29" fmla="*/ 26 h 113"/>
                  <a:gd name="T30" fmla="*/ 145 w 198"/>
                  <a:gd name="T31" fmla="*/ 18 h 113"/>
                  <a:gd name="T32" fmla="*/ 168 w 198"/>
                  <a:gd name="T33" fmla="*/ 8 h 113"/>
                  <a:gd name="T34" fmla="*/ 194 w 198"/>
                  <a:gd name="T35" fmla="*/ 0 h 113"/>
                  <a:gd name="T36" fmla="*/ 198 w 198"/>
                  <a:gd name="T37" fmla="*/ 32 h 11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8"/>
                  <a:gd name="T58" fmla="*/ 0 h 113"/>
                  <a:gd name="T59" fmla="*/ 198 w 198"/>
                  <a:gd name="T60" fmla="*/ 113 h 11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8" h="113">
                    <a:moveTo>
                      <a:pt x="198" y="32"/>
                    </a:moveTo>
                    <a:lnTo>
                      <a:pt x="175" y="40"/>
                    </a:lnTo>
                    <a:lnTo>
                      <a:pt x="151" y="48"/>
                    </a:lnTo>
                    <a:lnTo>
                      <a:pt x="128" y="58"/>
                    </a:lnTo>
                    <a:lnTo>
                      <a:pt x="106" y="67"/>
                    </a:lnTo>
                    <a:lnTo>
                      <a:pt x="84" y="78"/>
                    </a:lnTo>
                    <a:lnTo>
                      <a:pt x="61" y="88"/>
                    </a:lnTo>
                    <a:lnTo>
                      <a:pt x="38" y="100"/>
                    </a:lnTo>
                    <a:lnTo>
                      <a:pt x="16" y="113"/>
                    </a:lnTo>
                    <a:lnTo>
                      <a:pt x="0" y="86"/>
                    </a:lnTo>
                    <a:lnTo>
                      <a:pt x="23" y="72"/>
                    </a:lnTo>
                    <a:lnTo>
                      <a:pt x="47" y="62"/>
                    </a:lnTo>
                    <a:lnTo>
                      <a:pt x="71" y="49"/>
                    </a:lnTo>
                    <a:lnTo>
                      <a:pt x="97" y="38"/>
                    </a:lnTo>
                    <a:lnTo>
                      <a:pt x="120" y="26"/>
                    </a:lnTo>
                    <a:lnTo>
                      <a:pt x="145" y="18"/>
                    </a:lnTo>
                    <a:lnTo>
                      <a:pt x="168" y="8"/>
                    </a:lnTo>
                    <a:lnTo>
                      <a:pt x="194" y="0"/>
                    </a:lnTo>
                    <a:lnTo>
                      <a:pt x="198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32" name="Freeform 228"/>
              <p:cNvSpPr>
                <a:spLocks/>
              </p:cNvSpPr>
              <p:nvPr/>
            </p:nvSpPr>
            <p:spPr bwMode="auto">
              <a:xfrm>
                <a:off x="2833" y="1318"/>
                <a:ext cx="26" cy="39"/>
              </a:xfrm>
              <a:custGeom>
                <a:avLst/>
                <a:gdLst>
                  <a:gd name="T0" fmla="*/ 0 w 26"/>
                  <a:gd name="T1" fmla="*/ 7 h 39"/>
                  <a:gd name="T2" fmla="*/ 22 w 26"/>
                  <a:gd name="T3" fmla="*/ 0 h 39"/>
                  <a:gd name="T4" fmla="*/ 26 w 26"/>
                  <a:gd name="T5" fmla="*/ 32 h 39"/>
                  <a:gd name="T6" fmla="*/ 5 w 26"/>
                  <a:gd name="T7" fmla="*/ 39 h 39"/>
                  <a:gd name="T8" fmla="*/ 0 w 26"/>
                  <a:gd name="T9" fmla="*/ 7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39"/>
                  <a:gd name="T17" fmla="*/ 26 w 26"/>
                  <a:gd name="T18" fmla="*/ 39 h 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39">
                    <a:moveTo>
                      <a:pt x="0" y="7"/>
                    </a:moveTo>
                    <a:lnTo>
                      <a:pt x="22" y="0"/>
                    </a:lnTo>
                    <a:lnTo>
                      <a:pt x="26" y="32"/>
                    </a:lnTo>
                    <a:lnTo>
                      <a:pt x="5" y="3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33" name="Freeform 229"/>
              <p:cNvSpPr>
                <a:spLocks/>
              </p:cNvSpPr>
              <p:nvPr/>
            </p:nvSpPr>
            <p:spPr bwMode="auto">
              <a:xfrm>
                <a:off x="2411" y="1471"/>
                <a:ext cx="151" cy="127"/>
              </a:xfrm>
              <a:custGeom>
                <a:avLst/>
                <a:gdLst>
                  <a:gd name="T0" fmla="*/ 151 w 151"/>
                  <a:gd name="T1" fmla="*/ 59 h 127"/>
                  <a:gd name="T2" fmla="*/ 0 w 151"/>
                  <a:gd name="T3" fmla="*/ 127 h 127"/>
                  <a:gd name="T4" fmla="*/ 79 w 151"/>
                  <a:gd name="T5" fmla="*/ 0 h 127"/>
                  <a:gd name="T6" fmla="*/ 151 w 151"/>
                  <a:gd name="T7" fmla="*/ 59 h 12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1"/>
                  <a:gd name="T13" fmla="*/ 0 h 127"/>
                  <a:gd name="T14" fmla="*/ 151 w 151"/>
                  <a:gd name="T15" fmla="*/ 127 h 12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1" h="127">
                    <a:moveTo>
                      <a:pt x="151" y="59"/>
                    </a:moveTo>
                    <a:lnTo>
                      <a:pt x="0" y="127"/>
                    </a:lnTo>
                    <a:lnTo>
                      <a:pt x="79" y="0"/>
                    </a:lnTo>
                    <a:lnTo>
                      <a:pt x="151" y="59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34" name="Freeform 230"/>
              <p:cNvSpPr>
                <a:spLocks/>
              </p:cNvSpPr>
              <p:nvPr/>
            </p:nvSpPr>
            <p:spPr bwMode="auto">
              <a:xfrm>
                <a:off x="2398" y="1524"/>
                <a:ext cx="166" cy="82"/>
              </a:xfrm>
              <a:custGeom>
                <a:avLst/>
                <a:gdLst>
                  <a:gd name="T0" fmla="*/ 17 w 166"/>
                  <a:gd name="T1" fmla="*/ 73 h 82"/>
                  <a:gd name="T2" fmla="*/ 11 w 166"/>
                  <a:gd name="T3" fmla="*/ 67 h 82"/>
                  <a:gd name="T4" fmla="*/ 163 w 166"/>
                  <a:gd name="T5" fmla="*/ 0 h 82"/>
                  <a:gd name="T6" fmla="*/ 166 w 166"/>
                  <a:gd name="T7" fmla="*/ 8 h 82"/>
                  <a:gd name="T8" fmla="*/ 14 w 166"/>
                  <a:gd name="T9" fmla="*/ 76 h 82"/>
                  <a:gd name="T10" fmla="*/ 7 w 166"/>
                  <a:gd name="T11" fmla="*/ 71 h 82"/>
                  <a:gd name="T12" fmla="*/ 14 w 166"/>
                  <a:gd name="T13" fmla="*/ 76 h 82"/>
                  <a:gd name="T14" fmla="*/ 0 w 166"/>
                  <a:gd name="T15" fmla="*/ 82 h 82"/>
                  <a:gd name="T16" fmla="*/ 7 w 166"/>
                  <a:gd name="T17" fmla="*/ 71 h 82"/>
                  <a:gd name="T18" fmla="*/ 17 w 166"/>
                  <a:gd name="T19" fmla="*/ 73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6"/>
                  <a:gd name="T31" fmla="*/ 0 h 82"/>
                  <a:gd name="T32" fmla="*/ 166 w 166"/>
                  <a:gd name="T33" fmla="*/ 82 h 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6" h="82">
                    <a:moveTo>
                      <a:pt x="17" y="73"/>
                    </a:moveTo>
                    <a:lnTo>
                      <a:pt x="11" y="67"/>
                    </a:lnTo>
                    <a:lnTo>
                      <a:pt x="163" y="0"/>
                    </a:lnTo>
                    <a:lnTo>
                      <a:pt x="166" y="8"/>
                    </a:lnTo>
                    <a:lnTo>
                      <a:pt x="14" y="76"/>
                    </a:lnTo>
                    <a:lnTo>
                      <a:pt x="7" y="71"/>
                    </a:lnTo>
                    <a:lnTo>
                      <a:pt x="14" y="76"/>
                    </a:lnTo>
                    <a:lnTo>
                      <a:pt x="0" y="82"/>
                    </a:lnTo>
                    <a:lnTo>
                      <a:pt x="7" y="71"/>
                    </a:lnTo>
                    <a:lnTo>
                      <a:pt x="17" y="73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35" name="Freeform 231"/>
              <p:cNvSpPr>
                <a:spLocks/>
              </p:cNvSpPr>
              <p:nvPr/>
            </p:nvSpPr>
            <p:spPr bwMode="auto">
              <a:xfrm>
                <a:off x="2402" y="1462"/>
                <a:ext cx="91" cy="137"/>
              </a:xfrm>
              <a:custGeom>
                <a:avLst/>
                <a:gdLst>
                  <a:gd name="T0" fmla="*/ 81 w 91"/>
                  <a:gd name="T1" fmla="*/ 13 h 137"/>
                  <a:gd name="T2" fmla="*/ 91 w 91"/>
                  <a:gd name="T3" fmla="*/ 9 h 137"/>
                  <a:gd name="T4" fmla="*/ 10 w 91"/>
                  <a:gd name="T5" fmla="*/ 137 h 137"/>
                  <a:gd name="T6" fmla="*/ 0 w 91"/>
                  <a:gd name="T7" fmla="*/ 135 h 137"/>
                  <a:gd name="T8" fmla="*/ 81 w 91"/>
                  <a:gd name="T9" fmla="*/ 7 h 137"/>
                  <a:gd name="T10" fmla="*/ 91 w 91"/>
                  <a:gd name="T11" fmla="*/ 5 h 137"/>
                  <a:gd name="T12" fmla="*/ 81 w 91"/>
                  <a:gd name="T13" fmla="*/ 7 h 137"/>
                  <a:gd name="T14" fmla="*/ 86 w 91"/>
                  <a:gd name="T15" fmla="*/ 0 h 137"/>
                  <a:gd name="T16" fmla="*/ 91 w 91"/>
                  <a:gd name="T17" fmla="*/ 5 h 137"/>
                  <a:gd name="T18" fmla="*/ 81 w 91"/>
                  <a:gd name="T19" fmla="*/ 13 h 1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137"/>
                  <a:gd name="T32" fmla="*/ 91 w 91"/>
                  <a:gd name="T33" fmla="*/ 137 h 13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137">
                    <a:moveTo>
                      <a:pt x="81" y="13"/>
                    </a:moveTo>
                    <a:lnTo>
                      <a:pt x="91" y="9"/>
                    </a:lnTo>
                    <a:lnTo>
                      <a:pt x="10" y="137"/>
                    </a:lnTo>
                    <a:lnTo>
                      <a:pt x="0" y="135"/>
                    </a:lnTo>
                    <a:lnTo>
                      <a:pt x="81" y="7"/>
                    </a:lnTo>
                    <a:lnTo>
                      <a:pt x="91" y="5"/>
                    </a:lnTo>
                    <a:lnTo>
                      <a:pt x="81" y="7"/>
                    </a:lnTo>
                    <a:lnTo>
                      <a:pt x="86" y="0"/>
                    </a:lnTo>
                    <a:lnTo>
                      <a:pt x="91" y="5"/>
                    </a:lnTo>
                    <a:lnTo>
                      <a:pt x="81" y="13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36" name="Freeform 232"/>
              <p:cNvSpPr>
                <a:spLocks/>
              </p:cNvSpPr>
              <p:nvPr/>
            </p:nvSpPr>
            <p:spPr bwMode="auto">
              <a:xfrm>
                <a:off x="2486" y="1469"/>
                <a:ext cx="87" cy="66"/>
              </a:xfrm>
              <a:custGeom>
                <a:avLst/>
                <a:gdLst>
                  <a:gd name="T0" fmla="*/ 76 w 87"/>
                  <a:gd name="T1" fmla="*/ 58 h 66"/>
                  <a:gd name="T2" fmla="*/ 72 w 87"/>
                  <a:gd name="T3" fmla="*/ 66 h 66"/>
                  <a:gd name="T4" fmla="*/ 0 w 87"/>
                  <a:gd name="T5" fmla="*/ 6 h 66"/>
                  <a:gd name="T6" fmla="*/ 8 w 87"/>
                  <a:gd name="T7" fmla="*/ 0 h 66"/>
                  <a:gd name="T8" fmla="*/ 81 w 87"/>
                  <a:gd name="T9" fmla="*/ 58 h 66"/>
                  <a:gd name="T10" fmla="*/ 78 w 87"/>
                  <a:gd name="T11" fmla="*/ 66 h 66"/>
                  <a:gd name="T12" fmla="*/ 81 w 87"/>
                  <a:gd name="T13" fmla="*/ 58 h 66"/>
                  <a:gd name="T14" fmla="*/ 87 w 87"/>
                  <a:gd name="T15" fmla="*/ 63 h 66"/>
                  <a:gd name="T16" fmla="*/ 78 w 87"/>
                  <a:gd name="T17" fmla="*/ 66 h 66"/>
                  <a:gd name="T18" fmla="*/ 76 w 87"/>
                  <a:gd name="T19" fmla="*/ 58 h 6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7"/>
                  <a:gd name="T31" fmla="*/ 0 h 66"/>
                  <a:gd name="T32" fmla="*/ 87 w 87"/>
                  <a:gd name="T33" fmla="*/ 66 h 6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7" h="66">
                    <a:moveTo>
                      <a:pt x="76" y="58"/>
                    </a:moveTo>
                    <a:lnTo>
                      <a:pt x="72" y="66"/>
                    </a:lnTo>
                    <a:lnTo>
                      <a:pt x="0" y="6"/>
                    </a:lnTo>
                    <a:lnTo>
                      <a:pt x="8" y="0"/>
                    </a:lnTo>
                    <a:lnTo>
                      <a:pt x="81" y="58"/>
                    </a:lnTo>
                    <a:lnTo>
                      <a:pt x="78" y="66"/>
                    </a:lnTo>
                    <a:lnTo>
                      <a:pt x="81" y="58"/>
                    </a:lnTo>
                    <a:lnTo>
                      <a:pt x="87" y="63"/>
                    </a:lnTo>
                    <a:lnTo>
                      <a:pt x="78" y="66"/>
                    </a:lnTo>
                    <a:lnTo>
                      <a:pt x="76" y="58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37" name="Freeform 233"/>
              <p:cNvSpPr>
                <a:spLocks/>
              </p:cNvSpPr>
              <p:nvPr/>
            </p:nvSpPr>
            <p:spPr bwMode="auto">
              <a:xfrm>
                <a:off x="2423" y="1551"/>
                <a:ext cx="34" cy="30"/>
              </a:xfrm>
              <a:custGeom>
                <a:avLst/>
                <a:gdLst>
                  <a:gd name="T0" fmla="*/ 34 w 34"/>
                  <a:gd name="T1" fmla="*/ 17 h 30"/>
                  <a:gd name="T2" fmla="*/ 21 w 34"/>
                  <a:gd name="T3" fmla="*/ 30 h 30"/>
                  <a:gd name="T4" fmla="*/ 0 w 34"/>
                  <a:gd name="T5" fmla="*/ 13 h 30"/>
                  <a:gd name="T6" fmla="*/ 13 w 34"/>
                  <a:gd name="T7" fmla="*/ 0 h 30"/>
                  <a:gd name="T8" fmla="*/ 34 w 34"/>
                  <a:gd name="T9" fmla="*/ 17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30"/>
                  <a:gd name="T17" fmla="*/ 34 w 34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30">
                    <a:moveTo>
                      <a:pt x="34" y="17"/>
                    </a:moveTo>
                    <a:lnTo>
                      <a:pt x="21" y="30"/>
                    </a:lnTo>
                    <a:lnTo>
                      <a:pt x="0" y="13"/>
                    </a:lnTo>
                    <a:lnTo>
                      <a:pt x="13" y="0"/>
                    </a:lnTo>
                    <a:lnTo>
                      <a:pt x="34" y="17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38" name="Freeform 234"/>
              <p:cNvSpPr>
                <a:spLocks/>
              </p:cNvSpPr>
              <p:nvPr/>
            </p:nvSpPr>
            <p:spPr bwMode="auto">
              <a:xfrm>
                <a:off x="2442" y="1411"/>
                <a:ext cx="207" cy="157"/>
              </a:xfrm>
              <a:custGeom>
                <a:avLst/>
                <a:gdLst>
                  <a:gd name="T0" fmla="*/ 207 w 207"/>
                  <a:gd name="T1" fmla="*/ 24 h 157"/>
                  <a:gd name="T2" fmla="*/ 207 w 207"/>
                  <a:gd name="T3" fmla="*/ 24 h 157"/>
                  <a:gd name="T4" fmla="*/ 182 w 207"/>
                  <a:gd name="T5" fmla="*/ 39 h 157"/>
                  <a:gd name="T6" fmla="*/ 157 w 207"/>
                  <a:gd name="T7" fmla="*/ 54 h 157"/>
                  <a:gd name="T8" fmla="*/ 134 w 207"/>
                  <a:gd name="T9" fmla="*/ 70 h 157"/>
                  <a:gd name="T10" fmla="*/ 109 w 207"/>
                  <a:gd name="T11" fmla="*/ 87 h 157"/>
                  <a:gd name="T12" fmla="*/ 86 w 207"/>
                  <a:gd name="T13" fmla="*/ 104 h 157"/>
                  <a:gd name="T14" fmla="*/ 64 w 207"/>
                  <a:gd name="T15" fmla="*/ 121 h 157"/>
                  <a:gd name="T16" fmla="*/ 43 w 207"/>
                  <a:gd name="T17" fmla="*/ 139 h 157"/>
                  <a:gd name="T18" fmla="*/ 23 w 207"/>
                  <a:gd name="T19" fmla="*/ 157 h 157"/>
                  <a:gd name="T20" fmla="*/ 0 w 207"/>
                  <a:gd name="T21" fmla="*/ 140 h 157"/>
                  <a:gd name="T22" fmla="*/ 22 w 207"/>
                  <a:gd name="T23" fmla="*/ 121 h 157"/>
                  <a:gd name="T24" fmla="*/ 44 w 207"/>
                  <a:gd name="T25" fmla="*/ 104 h 157"/>
                  <a:gd name="T26" fmla="*/ 67 w 207"/>
                  <a:gd name="T27" fmla="*/ 85 h 157"/>
                  <a:gd name="T28" fmla="*/ 92 w 207"/>
                  <a:gd name="T29" fmla="*/ 66 h 157"/>
                  <a:gd name="T30" fmla="*/ 118 w 207"/>
                  <a:gd name="T31" fmla="*/ 48 h 157"/>
                  <a:gd name="T32" fmla="*/ 142 w 207"/>
                  <a:gd name="T33" fmla="*/ 31 h 157"/>
                  <a:gd name="T34" fmla="*/ 168 w 207"/>
                  <a:gd name="T35" fmla="*/ 16 h 157"/>
                  <a:gd name="T36" fmla="*/ 195 w 207"/>
                  <a:gd name="T37" fmla="*/ 0 h 157"/>
                  <a:gd name="T38" fmla="*/ 207 w 207"/>
                  <a:gd name="T39" fmla="*/ 24 h 15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7"/>
                  <a:gd name="T61" fmla="*/ 0 h 157"/>
                  <a:gd name="T62" fmla="*/ 207 w 207"/>
                  <a:gd name="T63" fmla="*/ 157 h 15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7" h="157">
                    <a:moveTo>
                      <a:pt x="207" y="24"/>
                    </a:moveTo>
                    <a:lnTo>
                      <a:pt x="207" y="24"/>
                    </a:lnTo>
                    <a:lnTo>
                      <a:pt x="182" y="39"/>
                    </a:lnTo>
                    <a:lnTo>
                      <a:pt x="157" y="54"/>
                    </a:lnTo>
                    <a:lnTo>
                      <a:pt x="134" y="70"/>
                    </a:lnTo>
                    <a:lnTo>
                      <a:pt x="109" y="87"/>
                    </a:lnTo>
                    <a:lnTo>
                      <a:pt x="86" y="104"/>
                    </a:lnTo>
                    <a:lnTo>
                      <a:pt x="64" y="121"/>
                    </a:lnTo>
                    <a:lnTo>
                      <a:pt x="43" y="139"/>
                    </a:lnTo>
                    <a:lnTo>
                      <a:pt x="23" y="157"/>
                    </a:lnTo>
                    <a:lnTo>
                      <a:pt x="0" y="140"/>
                    </a:lnTo>
                    <a:lnTo>
                      <a:pt x="22" y="121"/>
                    </a:lnTo>
                    <a:lnTo>
                      <a:pt x="44" y="104"/>
                    </a:lnTo>
                    <a:lnTo>
                      <a:pt x="67" y="85"/>
                    </a:lnTo>
                    <a:lnTo>
                      <a:pt x="92" y="66"/>
                    </a:lnTo>
                    <a:lnTo>
                      <a:pt x="118" y="48"/>
                    </a:lnTo>
                    <a:lnTo>
                      <a:pt x="142" y="31"/>
                    </a:lnTo>
                    <a:lnTo>
                      <a:pt x="168" y="16"/>
                    </a:lnTo>
                    <a:lnTo>
                      <a:pt x="195" y="0"/>
                    </a:lnTo>
                    <a:lnTo>
                      <a:pt x="207" y="24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39" name="Freeform 235"/>
              <p:cNvSpPr>
                <a:spLocks/>
              </p:cNvSpPr>
              <p:nvPr/>
            </p:nvSpPr>
            <p:spPr bwMode="auto">
              <a:xfrm>
                <a:off x="2639" y="1329"/>
                <a:ext cx="196" cy="108"/>
              </a:xfrm>
              <a:custGeom>
                <a:avLst/>
                <a:gdLst>
                  <a:gd name="T0" fmla="*/ 196 w 196"/>
                  <a:gd name="T1" fmla="*/ 27 h 108"/>
                  <a:gd name="T2" fmla="*/ 173 w 196"/>
                  <a:gd name="T3" fmla="*/ 35 h 108"/>
                  <a:gd name="T4" fmla="*/ 148 w 196"/>
                  <a:gd name="T5" fmla="*/ 44 h 108"/>
                  <a:gd name="T6" fmla="*/ 126 w 196"/>
                  <a:gd name="T7" fmla="*/ 53 h 108"/>
                  <a:gd name="T8" fmla="*/ 103 w 196"/>
                  <a:gd name="T9" fmla="*/ 63 h 108"/>
                  <a:gd name="T10" fmla="*/ 81 w 196"/>
                  <a:gd name="T11" fmla="*/ 73 h 108"/>
                  <a:gd name="T12" fmla="*/ 59 w 196"/>
                  <a:gd name="T13" fmla="*/ 84 h 108"/>
                  <a:gd name="T14" fmla="*/ 35 w 196"/>
                  <a:gd name="T15" fmla="*/ 97 h 108"/>
                  <a:gd name="T16" fmla="*/ 14 w 196"/>
                  <a:gd name="T17" fmla="*/ 108 h 108"/>
                  <a:gd name="T18" fmla="*/ 0 w 196"/>
                  <a:gd name="T19" fmla="*/ 85 h 108"/>
                  <a:gd name="T20" fmla="*/ 23 w 196"/>
                  <a:gd name="T21" fmla="*/ 73 h 108"/>
                  <a:gd name="T22" fmla="*/ 47 w 196"/>
                  <a:gd name="T23" fmla="*/ 61 h 108"/>
                  <a:gd name="T24" fmla="*/ 71 w 196"/>
                  <a:gd name="T25" fmla="*/ 48 h 108"/>
                  <a:gd name="T26" fmla="*/ 95 w 196"/>
                  <a:gd name="T27" fmla="*/ 37 h 108"/>
                  <a:gd name="T28" fmla="*/ 119 w 196"/>
                  <a:gd name="T29" fmla="*/ 27 h 108"/>
                  <a:gd name="T30" fmla="*/ 143 w 196"/>
                  <a:gd name="T31" fmla="*/ 18 h 108"/>
                  <a:gd name="T32" fmla="*/ 168 w 196"/>
                  <a:gd name="T33" fmla="*/ 8 h 108"/>
                  <a:gd name="T34" fmla="*/ 192 w 196"/>
                  <a:gd name="T35" fmla="*/ 0 h 108"/>
                  <a:gd name="T36" fmla="*/ 196 w 196"/>
                  <a:gd name="T37" fmla="*/ 27 h 10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6"/>
                  <a:gd name="T58" fmla="*/ 0 h 108"/>
                  <a:gd name="T59" fmla="*/ 196 w 196"/>
                  <a:gd name="T60" fmla="*/ 108 h 10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6" h="108">
                    <a:moveTo>
                      <a:pt x="196" y="27"/>
                    </a:moveTo>
                    <a:lnTo>
                      <a:pt x="173" y="35"/>
                    </a:lnTo>
                    <a:lnTo>
                      <a:pt x="148" y="44"/>
                    </a:lnTo>
                    <a:lnTo>
                      <a:pt x="126" y="53"/>
                    </a:lnTo>
                    <a:lnTo>
                      <a:pt x="103" y="63"/>
                    </a:lnTo>
                    <a:lnTo>
                      <a:pt x="81" y="73"/>
                    </a:lnTo>
                    <a:lnTo>
                      <a:pt x="59" y="84"/>
                    </a:lnTo>
                    <a:lnTo>
                      <a:pt x="35" y="97"/>
                    </a:lnTo>
                    <a:lnTo>
                      <a:pt x="14" y="108"/>
                    </a:lnTo>
                    <a:lnTo>
                      <a:pt x="0" y="85"/>
                    </a:lnTo>
                    <a:lnTo>
                      <a:pt x="23" y="73"/>
                    </a:lnTo>
                    <a:lnTo>
                      <a:pt x="47" y="61"/>
                    </a:lnTo>
                    <a:lnTo>
                      <a:pt x="71" y="48"/>
                    </a:lnTo>
                    <a:lnTo>
                      <a:pt x="95" y="37"/>
                    </a:lnTo>
                    <a:lnTo>
                      <a:pt x="119" y="27"/>
                    </a:lnTo>
                    <a:lnTo>
                      <a:pt x="143" y="18"/>
                    </a:lnTo>
                    <a:lnTo>
                      <a:pt x="168" y="8"/>
                    </a:lnTo>
                    <a:lnTo>
                      <a:pt x="192" y="0"/>
                    </a:lnTo>
                    <a:lnTo>
                      <a:pt x="196" y="27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40" name="Freeform 236"/>
              <p:cNvSpPr>
                <a:spLocks/>
              </p:cNvSpPr>
              <p:nvPr/>
            </p:nvSpPr>
            <p:spPr bwMode="auto">
              <a:xfrm>
                <a:off x="2834" y="1321"/>
                <a:ext cx="22" cy="34"/>
              </a:xfrm>
              <a:custGeom>
                <a:avLst/>
                <a:gdLst>
                  <a:gd name="T0" fmla="*/ 0 w 22"/>
                  <a:gd name="T1" fmla="*/ 8 h 34"/>
                  <a:gd name="T2" fmla="*/ 18 w 22"/>
                  <a:gd name="T3" fmla="*/ 0 h 34"/>
                  <a:gd name="T4" fmla="*/ 22 w 22"/>
                  <a:gd name="T5" fmla="*/ 27 h 34"/>
                  <a:gd name="T6" fmla="*/ 4 w 22"/>
                  <a:gd name="T7" fmla="*/ 34 h 34"/>
                  <a:gd name="T8" fmla="*/ 0 w 22"/>
                  <a:gd name="T9" fmla="*/ 8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34"/>
                  <a:gd name="T17" fmla="*/ 22 w 22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34">
                    <a:moveTo>
                      <a:pt x="0" y="8"/>
                    </a:moveTo>
                    <a:lnTo>
                      <a:pt x="18" y="0"/>
                    </a:lnTo>
                    <a:lnTo>
                      <a:pt x="22" y="27"/>
                    </a:lnTo>
                    <a:lnTo>
                      <a:pt x="4" y="34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41" name="Freeform 237"/>
              <p:cNvSpPr>
                <a:spLocks/>
              </p:cNvSpPr>
              <p:nvPr/>
            </p:nvSpPr>
            <p:spPr bwMode="auto">
              <a:xfrm>
                <a:off x="2387" y="1497"/>
                <a:ext cx="149" cy="128"/>
              </a:xfrm>
              <a:custGeom>
                <a:avLst/>
                <a:gdLst>
                  <a:gd name="T0" fmla="*/ 149 w 149"/>
                  <a:gd name="T1" fmla="*/ 54 h 128"/>
                  <a:gd name="T2" fmla="*/ 0 w 149"/>
                  <a:gd name="T3" fmla="*/ 128 h 128"/>
                  <a:gd name="T4" fmla="*/ 72 w 149"/>
                  <a:gd name="T5" fmla="*/ 0 h 128"/>
                  <a:gd name="T6" fmla="*/ 149 w 149"/>
                  <a:gd name="T7" fmla="*/ 54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9"/>
                  <a:gd name="T13" fmla="*/ 0 h 128"/>
                  <a:gd name="T14" fmla="*/ 149 w 149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9" h="128">
                    <a:moveTo>
                      <a:pt x="149" y="54"/>
                    </a:moveTo>
                    <a:lnTo>
                      <a:pt x="0" y="128"/>
                    </a:lnTo>
                    <a:lnTo>
                      <a:pt x="72" y="0"/>
                    </a:lnTo>
                    <a:lnTo>
                      <a:pt x="149" y="5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42" name="Freeform 238"/>
              <p:cNvSpPr>
                <a:spLocks/>
              </p:cNvSpPr>
              <p:nvPr/>
            </p:nvSpPr>
            <p:spPr bwMode="auto">
              <a:xfrm>
                <a:off x="2366" y="1543"/>
                <a:ext cx="172" cy="98"/>
              </a:xfrm>
              <a:custGeom>
                <a:avLst/>
                <a:gdLst>
                  <a:gd name="T0" fmla="*/ 28 w 172"/>
                  <a:gd name="T1" fmla="*/ 81 h 98"/>
                  <a:gd name="T2" fmla="*/ 17 w 172"/>
                  <a:gd name="T3" fmla="*/ 73 h 98"/>
                  <a:gd name="T4" fmla="*/ 167 w 172"/>
                  <a:gd name="T5" fmla="*/ 0 h 98"/>
                  <a:gd name="T6" fmla="*/ 172 w 172"/>
                  <a:gd name="T7" fmla="*/ 13 h 98"/>
                  <a:gd name="T8" fmla="*/ 23 w 172"/>
                  <a:gd name="T9" fmla="*/ 86 h 98"/>
                  <a:gd name="T10" fmla="*/ 11 w 172"/>
                  <a:gd name="T11" fmla="*/ 79 h 98"/>
                  <a:gd name="T12" fmla="*/ 23 w 172"/>
                  <a:gd name="T13" fmla="*/ 86 h 98"/>
                  <a:gd name="T14" fmla="*/ 0 w 172"/>
                  <a:gd name="T15" fmla="*/ 98 h 98"/>
                  <a:gd name="T16" fmla="*/ 11 w 172"/>
                  <a:gd name="T17" fmla="*/ 79 h 98"/>
                  <a:gd name="T18" fmla="*/ 28 w 172"/>
                  <a:gd name="T19" fmla="*/ 81 h 9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2"/>
                  <a:gd name="T31" fmla="*/ 0 h 98"/>
                  <a:gd name="T32" fmla="*/ 172 w 172"/>
                  <a:gd name="T33" fmla="*/ 98 h 9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2" h="98">
                    <a:moveTo>
                      <a:pt x="28" y="81"/>
                    </a:moveTo>
                    <a:lnTo>
                      <a:pt x="17" y="73"/>
                    </a:lnTo>
                    <a:lnTo>
                      <a:pt x="167" y="0"/>
                    </a:lnTo>
                    <a:lnTo>
                      <a:pt x="172" y="13"/>
                    </a:lnTo>
                    <a:lnTo>
                      <a:pt x="23" y="86"/>
                    </a:lnTo>
                    <a:lnTo>
                      <a:pt x="11" y="79"/>
                    </a:lnTo>
                    <a:lnTo>
                      <a:pt x="23" y="86"/>
                    </a:lnTo>
                    <a:lnTo>
                      <a:pt x="0" y="98"/>
                    </a:lnTo>
                    <a:lnTo>
                      <a:pt x="11" y="79"/>
                    </a:lnTo>
                    <a:lnTo>
                      <a:pt x="28" y="8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43" name="Freeform 239"/>
              <p:cNvSpPr>
                <a:spLocks/>
              </p:cNvSpPr>
              <p:nvPr/>
            </p:nvSpPr>
            <p:spPr bwMode="auto">
              <a:xfrm>
                <a:off x="2377" y="1482"/>
                <a:ext cx="91" cy="143"/>
              </a:xfrm>
              <a:custGeom>
                <a:avLst/>
                <a:gdLst>
                  <a:gd name="T0" fmla="*/ 74 w 91"/>
                  <a:gd name="T1" fmla="*/ 20 h 143"/>
                  <a:gd name="T2" fmla="*/ 91 w 91"/>
                  <a:gd name="T3" fmla="*/ 15 h 143"/>
                  <a:gd name="T4" fmla="*/ 17 w 91"/>
                  <a:gd name="T5" fmla="*/ 143 h 143"/>
                  <a:gd name="T6" fmla="*/ 0 w 91"/>
                  <a:gd name="T7" fmla="*/ 141 h 143"/>
                  <a:gd name="T8" fmla="*/ 73 w 91"/>
                  <a:gd name="T9" fmla="*/ 12 h 143"/>
                  <a:gd name="T10" fmla="*/ 89 w 91"/>
                  <a:gd name="T11" fmla="*/ 6 h 143"/>
                  <a:gd name="T12" fmla="*/ 73 w 91"/>
                  <a:gd name="T13" fmla="*/ 12 h 143"/>
                  <a:gd name="T14" fmla="*/ 79 w 91"/>
                  <a:gd name="T15" fmla="*/ 0 h 143"/>
                  <a:gd name="T16" fmla="*/ 89 w 91"/>
                  <a:gd name="T17" fmla="*/ 6 h 143"/>
                  <a:gd name="T18" fmla="*/ 74 w 91"/>
                  <a:gd name="T19" fmla="*/ 20 h 14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143"/>
                  <a:gd name="T32" fmla="*/ 91 w 91"/>
                  <a:gd name="T33" fmla="*/ 143 h 14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143">
                    <a:moveTo>
                      <a:pt x="74" y="20"/>
                    </a:moveTo>
                    <a:lnTo>
                      <a:pt x="91" y="15"/>
                    </a:lnTo>
                    <a:lnTo>
                      <a:pt x="17" y="143"/>
                    </a:lnTo>
                    <a:lnTo>
                      <a:pt x="0" y="141"/>
                    </a:lnTo>
                    <a:lnTo>
                      <a:pt x="73" y="12"/>
                    </a:lnTo>
                    <a:lnTo>
                      <a:pt x="89" y="6"/>
                    </a:lnTo>
                    <a:lnTo>
                      <a:pt x="73" y="12"/>
                    </a:lnTo>
                    <a:lnTo>
                      <a:pt x="79" y="0"/>
                    </a:lnTo>
                    <a:lnTo>
                      <a:pt x="89" y="6"/>
                    </a:lnTo>
                    <a:lnTo>
                      <a:pt x="74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44" name="Freeform 240"/>
              <p:cNvSpPr>
                <a:spLocks/>
              </p:cNvSpPr>
              <p:nvPr/>
            </p:nvSpPr>
            <p:spPr bwMode="auto">
              <a:xfrm>
                <a:off x="2453" y="1488"/>
                <a:ext cx="102" cy="69"/>
              </a:xfrm>
              <a:custGeom>
                <a:avLst/>
                <a:gdLst>
                  <a:gd name="T0" fmla="*/ 82 w 102"/>
                  <a:gd name="T1" fmla="*/ 57 h 69"/>
                  <a:gd name="T2" fmla="*/ 78 w 102"/>
                  <a:gd name="T3" fmla="*/ 69 h 69"/>
                  <a:gd name="T4" fmla="*/ 0 w 102"/>
                  <a:gd name="T5" fmla="*/ 14 h 69"/>
                  <a:gd name="T6" fmla="*/ 15 w 102"/>
                  <a:gd name="T7" fmla="*/ 0 h 69"/>
                  <a:gd name="T8" fmla="*/ 92 w 102"/>
                  <a:gd name="T9" fmla="*/ 57 h 69"/>
                  <a:gd name="T10" fmla="*/ 89 w 102"/>
                  <a:gd name="T11" fmla="*/ 68 h 69"/>
                  <a:gd name="T12" fmla="*/ 92 w 102"/>
                  <a:gd name="T13" fmla="*/ 57 h 69"/>
                  <a:gd name="T14" fmla="*/ 102 w 102"/>
                  <a:gd name="T15" fmla="*/ 62 h 69"/>
                  <a:gd name="T16" fmla="*/ 89 w 102"/>
                  <a:gd name="T17" fmla="*/ 68 h 69"/>
                  <a:gd name="T18" fmla="*/ 82 w 102"/>
                  <a:gd name="T19" fmla="*/ 57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2"/>
                  <a:gd name="T31" fmla="*/ 0 h 69"/>
                  <a:gd name="T32" fmla="*/ 102 w 102"/>
                  <a:gd name="T33" fmla="*/ 69 h 6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2" h="69">
                    <a:moveTo>
                      <a:pt x="82" y="57"/>
                    </a:moveTo>
                    <a:lnTo>
                      <a:pt x="78" y="69"/>
                    </a:lnTo>
                    <a:lnTo>
                      <a:pt x="0" y="14"/>
                    </a:lnTo>
                    <a:lnTo>
                      <a:pt x="15" y="0"/>
                    </a:lnTo>
                    <a:lnTo>
                      <a:pt x="92" y="57"/>
                    </a:lnTo>
                    <a:lnTo>
                      <a:pt x="89" y="68"/>
                    </a:lnTo>
                    <a:lnTo>
                      <a:pt x="92" y="57"/>
                    </a:lnTo>
                    <a:lnTo>
                      <a:pt x="102" y="62"/>
                    </a:lnTo>
                    <a:lnTo>
                      <a:pt x="89" y="68"/>
                    </a:lnTo>
                    <a:lnTo>
                      <a:pt x="82" y="5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45" name="Freeform 241"/>
              <p:cNvSpPr>
                <a:spLocks/>
              </p:cNvSpPr>
              <p:nvPr/>
            </p:nvSpPr>
            <p:spPr bwMode="auto">
              <a:xfrm>
                <a:off x="2405" y="1565"/>
                <a:ext cx="45" cy="33"/>
              </a:xfrm>
              <a:custGeom>
                <a:avLst/>
                <a:gdLst>
                  <a:gd name="T0" fmla="*/ 45 w 45"/>
                  <a:gd name="T1" fmla="*/ 17 h 33"/>
                  <a:gd name="T2" fmla="*/ 29 w 45"/>
                  <a:gd name="T3" fmla="*/ 33 h 33"/>
                  <a:gd name="T4" fmla="*/ 0 w 45"/>
                  <a:gd name="T5" fmla="*/ 16 h 33"/>
                  <a:gd name="T6" fmla="*/ 16 w 45"/>
                  <a:gd name="T7" fmla="*/ 0 h 33"/>
                  <a:gd name="T8" fmla="*/ 45 w 45"/>
                  <a:gd name="T9" fmla="*/ 17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33"/>
                  <a:gd name="T17" fmla="*/ 45 w 45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33">
                    <a:moveTo>
                      <a:pt x="45" y="17"/>
                    </a:moveTo>
                    <a:lnTo>
                      <a:pt x="29" y="33"/>
                    </a:lnTo>
                    <a:lnTo>
                      <a:pt x="0" y="16"/>
                    </a:lnTo>
                    <a:lnTo>
                      <a:pt x="16" y="0"/>
                    </a:lnTo>
                    <a:lnTo>
                      <a:pt x="45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46" name="Freeform 242"/>
              <p:cNvSpPr>
                <a:spLocks/>
              </p:cNvSpPr>
              <p:nvPr/>
            </p:nvSpPr>
            <p:spPr bwMode="auto">
              <a:xfrm>
                <a:off x="2423" y="1429"/>
                <a:ext cx="197" cy="156"/>
              </a:xfrm>
              <a:custGeom>
                <a:avLst/>
                <a:gdLst>
                  <a:gd name="T0" fmla="*/ 197 w 197"/>
                  <a:gd name="T1" fmla="*/ 26 h 156"/>
                  <a:gd name="T2" fmla="*/ 197 w 197"/>
                  <a:gd name="T3" fmla="*/ 26 h 156"/>
                  <a:gd name="T4" fmla="*/ 172 w 197"/>
                  <a:gd name="T5" fmla="*/ 42 h 156"/>
                  <a:gd name="T6" fmla="*/ 150 w 197"/>
                  <a:gd name="T7" fmla="*/ 57 h 156"/>
                  <a:gd name="T8" fmla="*/ 127 w 197"/>
                  <a:gd name="T9" fmla="*/ 73 h 156"/>
                  <a:gd name="T10" fmla="*/ 106 w 197"/>
                  <a:gd name="T11" fmla="*/ 88 h 156"/>
                  <a:gd name="T12" fmla="*/ 85 w 197"/>
                  <a:gd name="T13" fmla="*/ 104 h 156"/>
                  <a:gd name="T14" fmla="*/ 66 w 197"/>
                  <a:gd name="T15" fmla="*/ 120 h 156"/>
                  <a:gd name="T16" fmla="*/ 47 w 197"/>
                  <a:gd name="T17" fmla="*/ 137 h 156"/>
                  <a:gd name="T18" fmla="*/ 28 w 197"/>
                  <a:gd name="T19" fmla="*/ 156 h 156"/>
                  <a:gd name="T20" fmla="*/ 0 w 197"/>
                  <a:gd name="T21" fmla="*/ 138 h 156"/>
                  <a:gd name="T22" fmla="*/ 20 w 197"/>
                  <a:gd name="T23" fmla="*/ 118 h 156"/>
                  <a:gd name="T24" fmla="*/ 41 w 197"/>
                  <a:gd name="T25" fmla="*/ 100 h 156"/>
                  <a:gd name="T26" fmla="*/ 62 w 197"/>
                  <a:gd name="T27" fmla="*/ 83 h 156"/>
                  <a:gd name="T28" fmla="*/ 83 w 197"/>
                  <a:gd name="T29" fmla="*/ 65 h 156"/>
                  <a:gd name="T30" fmla="*/ 106 w 197"/>
                  <a:gd name="T31" fmla="*/ 48 h 156"/>
                  <a:gd name="T32" fmla="*/ 129 w 197"/>
                  <a:gd name="T33" fmla="*/ 32 h 156"/>
                  <a:gd name="T34" fmla="*/ 154 w 197"/>
                  <a:gd name="T35" fmla="*/ 17 h 156"/>
                  <a:gd name="T36" fmla="*/ 179 w 197"/>
                  <a:gd name="T37" fmla="*/ 0 h 156"/>
                  <a:gd name="T38" fmla="*/ 197 w 197"/>
                  <a:gd name="T39" fmla="*/ 26 h 15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97"/>
                  <a:gd name="T61" fmla="*/ 0 h 156"/>
                  <a:gd name="T62" fmla="*/ 197 w 197"/>
                  <a:gd name="T63" fmla="*/ 156 h 15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97" h="156">
                    <a:moveTo>
                      <a:pt x="197" y="26"/>
                    </a:moveTo>
                    <a:lnTo>
                      <a:pt x="197" y="26"/>
                    </a:lnTo>
                    <a:lnTo>
                      <a:pt x="172" y="42"/>
                    </a:lnTo>
                    <a:lnTo>
                      <a:pt x="150" y="57"/>
                    </a:lnTo>
                    <a:lnTo>
                      <a:pt x="127" y="73"/>
                    </a:lnTo>
                    <a:lnTo>
                      <a:pt x="106" y="88"/>
                    </a:lnTo>
                    <a:lnTo>
                      <a:pt x="85" y="104"/>
                    </a:lnTo>
                    <a:lnTo>
                      <a:pt x="66" y="120"/>
                    </a:lnTo>
                    <a:lnTo>
                      <a:pt x="47" y="137"/>
                    </a:lnTo>
                    <a:lnTo>
                      <a:pt x="28" y="156"/>
                    </a:lnTo>
                    <a:lnTo>
                      <a:pt x="0" y="138"/>
                    </a:lnTo>
                    <a:lnTo>
                      <a:pt x="20" y="118"/>
                    </a:lnTo>
                    <a:lnTo>
                      <a:pt x="41" y="100"/>
                    </a:lnTo>
                    <a:lnTo>
                      <a:pt x="62" y="83"/>
                    </a:lnTo>
                    <a:lnTo>
                      <a:pt x="83" y="65"/>
                    </a:lnTo>
                    <a:lnTo>
                      <a:pt x="106" y="48"/>
                    </a:lnTo>
                    <a:lnTo>
                      <a:pt x="129" y="32"/>
                    </a:lnTo>
                    <a:lnTo>
                      <a:pt x="154" y="17"/>
                    </a:lnTo>
                    <a:lnTo>
                      <a:pt x="179" y="0"/>
                    </a:lnTo>
                    <a:lnTo>
                      <a:pt x="197" y="2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47" name="Freeform 243"/>
              <p:cNvSpPr>
                <a:spLocks/>
              </p:cNvSpPr>
              <p:nvPr/>
            </p:nvSpPr>
            <p:spPr bwMode="auto">
              <a:xfrm>
                <a:off x="2608" y="1336"/>
                <a:ext cx="196" cy="120"/>
              </a:xfrm>
              <a:custGeom>
                <a:avLst/>
                <a:gdLst>
                  <a:gd name="T0" fmla="*/ 196 w 196"/>
                  <a:gd name="T1" fmla="*/ 32 h 120"/>
                  <a:gd name="T2" fmla="*/ 174 w 196"/>
                  <a:gd name="T3" fmla="*/ 41 h 120"/>
                  <a:gd name="T4" fmla="*/ 152 w 196"/>
                  <a:gd name="T5" fmla="*/ 49 h 120"/>
                  <a:gd name="T6" fmla="*/ 128 w 196"/>
                  <a:gd name="T7" fmla="*/ 60 h 120"/>
                  <a:gd name="T8" fmla="*/ 106 w 196"/>
                  <a:gd name="T9" fmla="*/ 71 h 120"/>
                  <a:gd name="T10" fmla="*/ 83 w 196"/>
                  <a:gd name="T11" fmla="*/ 83 h 120"/>
                  <a:gd name="T12" fmla="*/ 61 w 196"/>
                  <a:gd name="T13" fmla="*/ 94 h 120"/>
                  <a:gd name="T14" fmla="*/ 38 w 196"/>
                  <a:gd name="T15" fmla="*/ 107 h 120"/>
                  <a:gd name="T16" fmla="*/ 17 w 196"/>
                  <a:gd name="T17" fmla="*/ 120 h 120"/>
                  <a:gd name="T18" fmla="*/ 0 w 196"/>
                  <a:gd name="T19" fmla="*/ 94 h 120"/>
                  <a:gd name="T20" fmla="*/ 22 w 196"/>
                  <a:gd name="T21" fmla="*/ 79 h 120"/>
                  <a:gd name="T22" fmla="*/ 45 w 196"/>
                  <a:gd name="T23" fmla="*/ 67 h 120"/>
                  <a:gd name="T24" fmla="*/ 70 w 196"/>
                  <a:gd name="T25" fmla="*/ 54 h 120"/>
                  <a:gd name="T26" fmla="*/ 93 w 196"/>
                  <a:gd name="T27" fmla="*/ 42 h 120"/>
                  <a:gd name="T28" fmla="*/ 116 w 196"/>
                  <a:gd name="T29" fmla="*/ 31 h 120"/>
                  <a:gd name="T30" fmla="*/ 141 w 196"/>
                  <a:gd name="T31" fmla="*/ 20 h 120"/>
                  <a:gd name="T32" fmla="*/ 165 w 196"/>
                  <a:gd name="T33" fmla="*/ 9 h 120"/>
                  <a:gd name="T34" fmla="*/ 190 w 196"/>
                  <a:gd name="T35" fmla="*/ 0 h 120"/>
                  <a:gd name="T36" fmla="*/ 196 w 196"/>
                  <a:gd name="T37" fmla="*/ 32 h 12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6"/>
                  <a:gd name="T58" fmla="*/ 0 h 120"/>
                  <a:gd name="T59" fmla="*/ 196 w 196"/>
                  <a:gd name="T60" fmla="*/ 120 h 12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6" h="120">
                    <a:moveTo>
                      <a:pt x="196" y="32"/>
                    </a:moveTo>
                    <a:lnTo>
                      <a:pt x="174" y="41"/>
                    </a:lnTo>
                    <a:lnTo>
                      <a:pt x="152" y="49"/>
                    </a:lnTo>
                    <a:lnTo>
                      <a:pt x="128" y="60"/>
                    </a:lnTo>
                    <a:lnTo>
                      <a:pt x="106" y="71"/>
                    </a:lnTo>
                    <a:lnTo>
                      <a:pt x="83" y="83"/>
                    </a:lnTo>
                    <a:lnTo>
                      <a:pt x="61" y="94"/>
                    </a:lnTo>
                    <a:lnTo>
                      <a:pt x="38" y="107"/>
                    </a:lnTo>
                    <a:lnTo>
                      <a:pt x="17" y="120"/>
                    </a:lnTo>
                    <a:lnTo>
                      <a:pt x="0" y="94"/>
                    </a:lnTo>
                    <a:lnTo>
                      <a:pt x="22" y="79"/>
                    </a:lnTo>
                    <a:lnTo>
                      <a:pt x="45" y="67"/>
                    </a:lnTo>
                    <a:lnTo>
                      <a:pt x="70" y="54"/>
                    </a:lnTo>
                    <a:lnTo>
                      <a:pt x="93" y="42"/>
                    </a:lnTo>
                    <a:lnTo>
                      <a:pt x="116" y="31"/>
                    </a:lnTo>
                    <a:lnTo>
                      <a:pt x="141" y="20"/>
                    </a:lnTo>
                    <a:lnTo>
                      <a:pt x="165" y="9"/>
                    </a:lnTo>
                    <a:lnTo>
                      <a:pt x="190" y="0"/>
                    </a:lnTo>
                    <a:lnTo>
                      <a:pt x="196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48" name="Freeform 244"/>
              <p:cNvSpPr>
                <a:spLocks/>
              </p:cNvSpPr>
              <p:nvPr/>
            </p:nvSpPr>
            <p:spPr bwMode="auto">
              <a:xfrm>
                <a:off x="2799" y="1331"/>
                <a:ext cx="27" cy="37"/>
              </a:xfrm>
              <a:custGeom>
                <a:avLst/>
                <a:gdLst>
                  <a:gd name="T0" fmla="*/ 0 w 27"/>
                  <a:gd name="T1" fmla="*/ 9 h 37"/>
                  <a:gd name="T2" fmla="*/ 19 w 27"/>
                  <a:gd name="T3" fmla="*/ 0 h 37"/>
                  <a:gd name="T4" fmla="*/ 27 w 27"/>
                  <a:gd name="T5" fmla="*/ 31 h 37"/>
                  <a:gd name="T6" fmla="*/ 8 w 27"/>
                  <a:gd name="T7" fmla="*/ 37 h 37"/>
                  <a:gd name="T8" fmla="*/ 0 w 27"/>
                  <a:gd name="T9" fmla="*/ 9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37"/>
                  <a:gd name="T17" fmla="*/ 27 w 27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37">
                    <a:moveTo>
                      <a:pt x="0" y="9"/>
                    </a:moveTo>
                    <a:lnTo>
                      <a:pt x="19" y="0"/>
                    </a:lnTo>
                    <a:lnTo>
                      <a:pt x="27" y="31"/>
                    </a:lnTo>
                    <a:lnTo>
                      <a:pt x="8" y="37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49" name="Freeform 245"/>
              <p:cNvSpPr>
                <a:spLocks/>
              </p:cNvSpPr>
              <p:nvPr/>
            </p:nvSpPr>
            <p:spPr bwMode="auto">
              <a:xfrm>
                <a:off x="2387" y="1497"/>
                <a:ext cx="149" cy="128"/>
              </a:xfrm>
              <a:custGeom>
                <a:avLst/>
                <a:gdLst>
                  <a:gd name="T0" fmla="*/ 149 w 149"/>
                  <a:gd name="T1" fmla="*/ 54 h 128"/>
                  <a:gd name="T2" fmla="*/ 0 w 149"/>
                  <a:gd name="T3" fmla="*/ 128 h 128"/>
                  <a:gd name="T4" fmla="*/ 72 w 149"/>
                  <a:gd name="T5" fmla="*/ 0 h 128"/>
                  <a:gd name="T6" fmla="*/ 149 w 149"/>
                  <a:gd name="T7" fmla="*/ 54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9"/>
                  <a:gd name="T13" fmla="*/ 0 h 128"/>
                  <a:gd name="T14" fmla="*/ 149 w 149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9" h="128">
                    <a:moveTo>
                      <a:pt x="149" y="54"/>
                    </a:moveTo>
                    <a:lnTo>
                      <a:pt x="0" y="128"/>
                    </a:lnTo>
                    <a:lnTo>
                      <a:pt x="72" y="0"/>
                    </a:lnTo>
                    <a:lnTo>
                      <a:pt x="149" y="54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50" name="Freeform 246"/>
              <p:cNvSpPr>
                <a:spLocks/>
              </p:cNvSpPr>
              <p:nvPr/>
            </p:nvSpPr>
            <p:spPr bwMode="auto">
              <a:xfrm>
                <a:off x="2376" y="1545"/>
                <a:ext cx="163" cy="87"/>
              </a:xfrm>
              <a:custGeom>
                <a:avLst/>
                <a:gdLst>
                  <a:gd name="T0" fmla="*/ 16 w 163"/>
                  <a:gd name="T1" fmla="*/ 77 h 87"/>
                  <a:gd name="T2" fmla="*/ 9 w 163"/>
                  <a:gd name="T3" fmla="*/ 72 h 87"/>
                  <a:gd name="T4" fmla="*/ 159 w 163"/>
                  <a:gd name="T5" fmla="*/ 0 h 87"/>
                  <a:gd name="T6" fmla="*/ 163 w 163"/>
                  <a:gd name="T7" fmla="*/ 8 h 87"/>
                  <a:gd name="T8" fmla="*/ 14 w 163"/>
                  <a:gd name="T9" fmla="*/ 81 h 87"/>
                  <a:gd name="T10" fmla="*/ 6 w 163"/>
                  <a:gd name="T11" fmla="*/ 77 h 87"/>
                  <a:gd name="T12" fmla="*/ 14 w 163"/>
                  <a:gd name="T13" fmla="*/ 81 h 87"/>
                  <a:gd name="T14" fmla="*/ 0 w 163"/>
                  <a:gd name="T15" fmla="*/ 87 h 87"/>
                  <a:gd name="T16" fmla="*/ 6 w 163"/>
                  <a:gd name="T17" fmla="*/ 77 h 87"/>
                  <a:gd name="T18" fmla="*/ 16 w 163"/>
                  <a:gd name="T19" fmla="*/ 77 h 8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3"/>
                  <a:gd name="T31" fmla="*/ 0 h 87"/>
                  <a:gd name="T32" fmla="*/ 163 w 163"/>
                  <a:gd name="T33" fmla="*/ 87 h 8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3" h="87">
                    <a:moveTo>
                      <a:pt x="16" y="77"/>
                    </a:moveTo>
                    <a:lnTo>
                      <a:pt x="9" y="72"/>
                    </a:lnTo>
                    <a:lnTo>
                      <a:pt x="159" y="0"/>
                    </a:lnTo>
                    <a:lnTo>
                      <a:pt x="163" y="8"/>
                    </a:lnTo>
                    <a:lnTo>
                      <a:pt x="14" y="81"/>
                    </a:lnTo>
                    <a:lnTo>
                      <a:pt x="6" y="77"/>
                    </a:lnTo>
                    <a:lnTo>
                      <a:pt x="14" y="81"/>
                    </a:lnTo>
                    <a:lnTo>
                      <a:pt x="0" y="87"/>
                    </a:lnTo>
                    <a:lnTo>
                      <a:pt x="6" y="77"/>
                    </a:lnTo>
                    <a:lnTo>
                      <a:pt x="16" y="77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51" name="Freeform 247"/>
              <p:cNvSpPr>
                <a:spLocks/>
              </p:cNvSpPr>
              <p:nvPr/>
            </p:nvSpPr>
            <p:spPr bwMode="auto">
              <a:xfrm>
                <a:off x="2380" y="1486"/>
                <a:ext cx="82" cy="138"/>
              </a:xfrm>
              <a:custGeom>
                <a:avLst/>
                <a:gdLst>
                  <a:gd name="T0" fmla="*/ 72 w 82"/>
                  <a:gd name="T1" fmla="*/ 13 h 138"/>
                  <a:gd name="T2" fmla="*/ 82 w 82"/>
                  <a:gd name="T3" fmla="*/ 8 h 138"/>
                  <a:gd name="T4" fmla="*/ 9 w 82"/>
                  <a:gd name="T5" fmla="*/ 138 h 138"/>
                  <a:gd name="T6" fmla="*/ 0 w 82"/>
                  <a:gd name="T7" fmla="*/ 136 h 138"/>
                  <a:gd name="T8" fmla="*/ 72 w 82"/>
                  <a:gd name="T9" fmla="*/ 7 h 138"/>
                  <a:gd name="T10" fmla="*/ 81 w 82"/>
                  <a:gd name="T11" fmla="*/ 4 h 138"/>
                  <a:gd name="T12" fmla="*/ 72 w 82"/>
                  <a:gd name="T13" fmla="*/ 7 h 138"/>
                  <a:gd name="T14" fmla="*/ 76 w 82"/>
                  <a:gd name="T15" fmla="*/ 0 h 138"/>
                  <a:gd name="T16" fmla="*/ 81 w 82"/>
                  <a:gd name="T17" fmla="*/ 4 h 138"/>
                  <a:gd name="T18" fmla="*/ 72 w 82"/>
                  <a:gd name="T19" fmla="*/ 13 h 1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2"/>
                  <a:gd name="T31" fmla="*/ 0 h 138"/>
                  <a:gd name="T32" fmla="*/ 82 w 82"/>
                  <a:gd name="T33" fmla="*/ 138 h 13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2" h="138">
                    <a:moveTo>
                      <a:pt x="72" y="13"/>
                    </a:moveTo>
                    <a:lnTo>
                      <a:pt x="82" y="8"/>
                    </a:lnTo>
                    <a:lnTo>
                      <a:pt x="9" y="138"/>
                    </a:lnTo>
                    <a:lnTo>
                      <a:pt x="0" y="136"/>
                    </a:lnTo>
                    <a:lnTo>
                      <a:pt x="72" y="7"/>
                    </a:lnTo>
                    <a:lnTo>
                      <a:pt x="81" y="4"/>
                    </a:lnTo>
                    <a:lnTo>
                      <a:pt x="72" y="7"/>
                    </a:lnTo>
                    <a:lnTo>
                      <a:pt x="76" y="0"/>
                    </a:lnTo>
                    <a:lnTo>
                      <a:pt x="81" y="4"/>
                    </a:lnTo>
                    <a:lnTo>
                      <a:pt x="72" y="13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52" name="Freeform 248"/>
              <p:cNvSpPr>
                <a:spLocks/>
              </p:cNvSpPr>
              <p:nvPr/>
            </p:nvSpPr>
            <p:spPr bwMode="auto">
              <a:xfrm>
                <a:off x="2454" y="1491"/>
                <a:ext cx="92" cy="63"/>
              </a:xfrm>
              <a:custGeom>
                <a:avLst/>
                <a:gdLst>
                  <a:gd name="T0" fmla="*/ 80 w 92"/>
                  <a:gd name="T1" fmla="*/ 55 h 63"/>
                  <a:gd name="T2" fmla="*/ 77 w 92"/>
                  <a:gd name="T3" fmla="*/ 63 h 63"/>
                  <a:gd name="T4" fmla="*/ 0 w 92"/>
                  <a:gd name="T5" fmla="*/ 9 h 63"/>
                  <a:gd name="T6" fmla="*/ 8 w 92"/>
                  <a:gd name="T7" fmla="*/ 0 h 63"/>
                  <a:gd name="T8" fmla="*/ 88 w 92"/>
                  <a:gd name="T9" fmla="*/ 55 h 63"/>
                  <a:gd name="T10" fmla="*/ 83 w 92"/>
                  <a:gd name="T11" fmla="*/ 63 h 63"/>
                  <a:gd name="T12" fmla="*/ 88 w 92"/>
                  <a:gd name="T13" fmla="*/ 55 h 63"/>
                  <a:gd name="T14" fmla="*/ 92 w 92"/>
                  <a:gd name="T15" fmla="*/ 60 h 63"/>
                  <a:gd name="T16" fmla="*/ 83 w 92"/>
                  <a:gd name="T17" fmla="*/ 63 h 63"/>
                  <a:gd name="T18" fmla="*/ 80 w 92"/>
                  <a:gd name="T19" fmla="*/ 55 h 6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2"/>
                  <a:gd name="T31" fmla="*/ 0 h 63"/>
                  <a:gd name="T32" fmla="*/ 92 w 92"/>
                  <a:gd name="T33" fmla="*/ 63 h 6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2" h="63">
                    <a:moveTo>
                      <a:pt x="80" y="55"/>
                    </a:moveTo>
                    <a:lnTo>
                      <a:pt x="77" y="63"/>
                    </a:lnTo>
                    <a:lnTo>
                      <a:pt x="0" y="9"/>
                    </a:lnTo>
                    <a:lnTo>
                      <a:pt x="8" y="0"/>
                    </a:lnTo>
                    <a:lnTo>
                      <a:pt x="88" y="55"/>
                    </a:lnTo>
                    <a:lnTo>
                      <a:pt x="83" y="63"/>
                    </a:lnTo>
                    <a:lnTo>
                      <a:pt x="88" y="55"/>
                    </a:lnTo>
                    <a:lnTo>
                      <a:pt x="92" y="60"/>
                    </a:lnTo>
                    <a:lnTo>
                      <a:pt x="83" y="63"/>
                    </a:lnTo>
                    <a:lnTo>
                      <a:pt x="80" y="55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53" name="Freeform 249"/>
              <p:cNvSpPr>
                <a:spLocks/>
              </p:cNvSpPr>
              <p:nvPr/>
            </p:nvSpPr>
            <p:spPr bwMode="auto">
              <a:xfrm>
                <a:off x="2409" y="1567"/>
                <a:ext cx="38" cy="28"/>
              </a:xfrm>
              <a:custGeom>
                <a:avLst/>
                <a:gdLst>
                  <a:gd name="T0" fmla="*/ 38 w 38"/>
                  <a:gd name="T1" fmla="*/ 15 h 28"/>
                  <a:gd name="T2" fmla="*/ 25 w 38"/>
                  <a:gd name="T3" fmla="*/ 28 h 28"/>
                  <a:gd name="T4" fmla="*/ 0 w 38"/>
                  <a:gd name="T5" fmla="*/ 13 h 28"/>
                  <a:gd name="T6" fmla="*/ 14 w 38"/>
                  <a:gd name="T7" fmla="*/ 0 h 28"/>
                  <a:gd name="T8" fmla="*/ 38 w 38"/>
                  <a:gd name="T9" fmla="*/ 15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28"/>
                  <a:gd name="T17" fmla="*/ 38 w 38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28">
                    <a:moveTo>
                      <a:pt x="38" y="15"/>
                    </a:moveTo>
                    <a:lnTo>
                      <a:pt x="25" y="28"/>
                    </a:lnTo>
                    <a:lnTo>
                      <a:pt x="0" y="13"/>
                    </a:lnTo>
                    <a:lnTo>
                      <a:pt x="14" y="0"/>
                    </a:lnTo>
                    <a:lnTo>
                      <a:pt x="38" y="15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54" name="Freeform 250"/>
              <p:cNvSpPr>
                <a:spLocks/>
              </p:cNvSpPr>
              <p:nvPr/>
            </p:nvSpPr>
            <p:spPr bwMode="auto">
              <a:xfrm>
                <a:off x="2425" y="1429"/>
                <a:ext cx="193" cy="153"/>
              </a:xfrm>
              <a:custGeom>
                <a:avLst/>
                <a:gdLst>
                  <a:gd name="T0" fmla="*/ 193 w 193"/>
                  <a:gd name="T1" fmla="*/ 23 h 153"/>
                  <a:gd name="T2" fmla="*/ 193 w 193"/>
                  <a:gd name="T3" fmla="*/ 23 h 153"/>
                  <a:gd name="T4" fmla="*/ 169 w 193"/>
                  <a:gd name="T5" fmla="*/ 39 h 153"/>
                  <a:gd name="T6" fmla="*/ 144 w 193"/>
                  <a:gd name="T7" fmla="*/ 54 h 153"/>
                  <a:gd name="T8" fmla="*/ 123 w 193"/>
                  <a:gd name="T9" fmla="*/ 69 h 153"/>
                  <a:gd name="T10" fmla="*/ 102 w 193"/>
                  <a:gd name="T11" fmla="*/ 85 h 153"/>
                  <a:gd name="T12" fmla="*/ 83 w 193"/>
                  <a:gd name="T13" fmla="*/ 100 h 153"/>
                  <a:gd name="T14" fmla="*/ 62 w 193"/>
                  <a:gd name="T15" fmla="*/ 117 h 153"/>
                  <a:gd name="T16" fmla="*/ 43 w 193"/>
                  <a:gd name="T17" fmla="*/ 134 h 153"/>
                  <a:gd name="T18" fmla="*/ 24 w 193"/>
                  <a:gd name="T19" fmla="*/ 153 h 153"/>
                  <a:gd name="T20" fmla="*/ 0 w 193"/>
                  <a:gd name="T21" fmla="*/ 138 h 153"/>
                  <a:gd name="T22" fmla="*/ 20 w 193"/>
                  <a:gd name="T23" fmla="*/ 119 h 153"/>
                  <a:gd name="T24" fmla="*/ 41 w 193"/>
                  <a:gd name="T25" fmla="*/ 100 h 153"/>
                  <a:gd name="T26" fmla="*/ 61 w 193"/>
                  <a:gd name="T27" fmla="*/ 83 h 153"/>
                  <a:gd name="T28" fmla="*/ 83 w 193"/>
                  <a:gd name="T29" fmla="*/ 65 h 153"/>
                  <a:gd name="T30" fmla="*/ 106 w 193"/>
                  <a:gd name="T31" fmla="*/ 48 h 153"/>
                  <a:gd name="T32" fmla="*/ 129 w 193"/>
                  <a:gd name="T33" fmla="*/ 32 h 153"/>
                  <a:gd name="T34" fmla="*/ 153 w 193"/>
                  <a:gd name="T35" fmla="*/ 16 h 153"/>
                  <a:gd name="T36" fmla="*/ 178 w 193"/>
                  <a:gd name="T37" fmla="*/ 0 h 153"/>
                  <a:gd name="T38" fmla="*/ 193 w 193"/>
                  <a:gd name="T39" fmla="*/ 23 h 1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93"/>
                  <a:gd name="T61" fmla="*/ 0 h 153"/>
                  <a:gd name="T62" fmla="*/ 193 w 193"/>
                  <a:gd name="T63" fmla="*/ 153 h 1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93" h="153">
                    <a:moveTo>
                      <a:pt x="193" y="23"/>
                    </a:moveTo>
                    <a:lnTo>
                      <a:pt x="193" y="23"/>
                    </a:lnTo>
                    <a:lnTo>
                      <a:pt x="169" y="39"/>
                    </a:lnTo>
                    <a:lnTo>
                      <a:pt x="144" y="54"/>
                    </a:lnTo>
                    <a:lnTo>
                      <a:pt x="123" y="69"/>
                    </a:lnTo>
                    <a:lnTo>
                      <a:pt x="102" y="85"/>
                    </a:lnTo>
                    <a:lnTo>
                      <a:pt x="83" y="100"/>
                    </a:lnTo>
                    <a:lnTo>
                      <a:pt x="62" y="117"/>
                    </a:lnTo>
                    <a:lnTo>
                      <a:pt x="43" y="134"/>
                    </a:lnTo>
                    <a:lnTo>
                      <a:pt x="24" y="153"/>
                    </a:lnTo>
                    <a:lnTo>
                      <a:pt x="0" y="138"/>
                    </a:lnTo>
                    <a:lnTo>
                      <a:pt x="20" y="119"/>
                    </a:lnTo>
                    <a:lnTo>
                      <a:pt x="41" y="100"/>
                    </a:lnTo>
                    <a:lnTo>
                      <a:pt x="61" y="83"/>
                    </a:lnTo>
                    <a:lnTo>
                      <a:pt x="83" y="65"/>
                    </a:lnTo>
                    <a:lnTo>
                      <a:pt x="106" y="48"/>
                    </a:lnTo>
                    <a:lnTo>
                      <a:pt x="129" y="32"/>
                    </a:lnTo>
                    <a:lnTo>
                      <a:pt x="153" y="16"/>
                    </a:lnTo>
                    <a:lnTo>
                      <a:pt x="178" y="0"/>
                    </a:lnTo>
                    <a:lnTo>
                      <a:pt x="193" y="23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55" name="Freeform 251"/>
              <p:cNvSpPr>
                <a:spLocks/>
              </p:cNvSpPr>
              <p:nvPr/>
            </p:nvSpPr>
            <p:spPr bwMode="auto">
              <a:xfrm>
                <a:off x="2607" y="1340"/>
                <a:ext cx="196" cy="115"/>
              </a:xfrm>
              <a:custGeom>
                <a:avLst/>
                <a:gdLst>
                  <a:gd name="T0" fmla="*/ 196 w 196"/>
                  <a:gd name="T1" fmla="*/ 27 h 115"/>
                  <a:gd name="T2" fmla="*/ 173 w 196"/>
                  <a:gd name="T3" fmla="*/ 36 h 115"/>
                  <a:gd name="T4" fmla="*/ 149 w 196"/>
                  <a:gd name="T5" fmla="*/ 45 h 115"/>
                  <a:gd name="T6" fmla="*/ 127 w 196"/>
                  <a:gd name="T7" fmla="*/ 55 h 115"/>
                  <a:gd name="T8" fmla="*/ 104 w 196"/>
                  <a:gd name="T9" fmla="*/ 65 h 115"/>
                  <a:gd name="T10" fmla="*/ 81 w 196"/>
                  <a:gd name="T11" fmla="*/ 76 h 115"/>
                  <a:gd name="T12" fmla="*/ 58 w 196"/>
                  <a:gd name="T13" fmla="*/ 89 h 115"/>
                  <a:gd name="T14" fmla="*/ 36 w 196"/>
                  <a:gd name="T15" fmla="*/ 102 h 115"/>
                  <a:gd name="T16" fmla="*/ 13 w 196"/>
                  <a:gd name="T17" fmla="*/ 115 h 115"/>
                  <a:gd name="T18" fmla="*/ 0 w 196"/>
                  <a:gd name="T19" fmla="*/ 94 h 115"/>
                  <a:gd name="T20" fmla="*/ 22 w 196"/>
                  <a:gd name="T21" fmla="*/ 79 h 115"/>
                  <a:gd name="T22" fmla="*/ 46 w 196"/>
                  <a:gd name="T23" fmla="*/ 65 h 115"/>
                  <a:gd name="T24" fmla="*/ 69 w 196"/>
                  <a:gd name="T25" fmla="*/ 53 h 115"/>
                  <a:gd name="T26" fmla="*/ 93 w 196"/>
                  <a:gd name="T27" fmla="*/ 41 h 115"/>
                  <a:gd name="T28" fmla="*/ 117 w 196"/>
                  <a:gd name="T29" fmla="*/ 29 h 115"/>
                  <a:gd name="T30" fmla="*/ 142 w 196"/>
                  <a:gd name="T31" fmla="*/ 19 h 115"/>
                  <a:gd name="T32" fmla="*/ 165 w 196"/>
                  <a:gd name="T33" fmla="*/ 8 h 115"/>
                  <a:gd name="T34" fmla="*/ 191 w 196"/>
                  <a:gd name="T35" fmla="*/ 0 h 115"/>
                  <a:gd name="T36" fmla="*/ 196 w 196"/>
                  <a:gd name="T37" fmla="*/ 27 h 11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6"/>
                  <a:gd name="T58" fmla="*/ 0 h 115"/>
                  <a:gd name="T59" fmla="*/ 196 w 196"/>
                  <a:gd name="T60" fmla="*/ 115 h 11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6" h="115">
                    <a:moveTo>
                      <a:pt x="196" y="27"/>
                    </a:moveTo>
                    <a:lnTo>
                      <a:pt x="173" y="36"/>
                    </a:lnTo>
                    <a:lnTo>
                      <a:pt x="149" y="45"/>
                    </a:lnTo>
                    <a:lnTo>
                      <a:pt x="127" y="55"/>
                    </a:lnTo>
                    <a:lnTo>
                      <a:pt x="104" y="65"/>
                    </a:lnTo>
                    <a:lnTo>
                      <a:pt x="81" y="76"/>
                    </a:lnTo>
                    <a:lnTo>
                      <a:pt x="58" y="89"/>
                    </a:lnTo>
                    <a:lnTo>
                      <a:pt x="36" y="102"/>
                    </a:lnTo>
                    <a:lnTo>
                      <a:pt x="13" y="115"/>
                    </a:lnTo>
                    <a:lnTo>
                      <a:pt x="0" y="94"/>
                    </a:lnTo>
                    <a:lnTo>
                      <a:pt x="22" y="79"/>
                    </a:lnTo>
                    <a:lnTo>
                      <a:pt x="46" y="65"/>
                    </a:lnTo>
                    <a:lnTo>
                      <a:pt x="69" y="53"/>
                    </a:lnTo>
                    <a:lnTo>
                      <a:pt x="93" y="41"/>
                    </a:lnTo>
                    <a:lnTo>
                      <a:pt x="117" y="29"/>
                    </a:lnTo>
                    <a:lnTo>
                      <a:pt x="142" y="19"/>
                    </a:lnTo>
                    <a:lnTo>
                      <a:pt x="165" y="8"/>
                    </a:lnTo>
                    <a:lnTo>
                      <a:pt x="191" y="0"/>
                    </a:lnTo>
                    <a:lnTo>
                      <a:pt x="196" y="27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56" name="Freeform 252"/>
              <p:cNvSpPr>
                <a:spLocks/>
              </p:cNvSpPr>
              <p:nvPr/>
            </p:nvSpPr>
            <p:spPr bwMode="auto">
              <a:xfrm>
                <a:off x="2799" y="1333"/>
                <a:ext cx="24" cy="33"/>
              </a:xfrm>
              <a:custGeom>
                <a:avLst/>
                <a:gdLst>
                  <a:gd name="T0" fmla="*/ 0 w 24"/>
                  <a:gd name="T1" fmla="*/ 7 h 33"/>
                  <a:gd name="T2" fmla="*/ 18 w 24"/>
                  <a:gd name="T3" fmla="*/ 0 h 33"/>
                  <a:gd name="T4" fmla="*/ 24 w 24"/>
                  <a:gd name="T5" fmla="*/ 27 h 33"/>
                  <a:gd name="T6" fmla="*/ 5 w 24"/>
                  <a:gd name="T7" fmla="*/ 33 h 33"/>
                  <a:gd name="T8" fmla="*/ 0 w 24"/>
                  <a:gd name="T9" fmla="*/ 7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33"/>
                  <a:gd name="T17" fmla="*/ 24 w 24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33">
                    <a:moveTo>
                      <a:pt x="0" y="7"/>
                    </a:moveTo>
                    <a:lnTo>
                      <a:pt x="18" y="0"/>
                    </a:lnTo>
                    <a:lnTo>
                      <a:pt x="24" y="27"/>
                    </a:lnTo>
                    <a:lnTo>
                      <a:pt x="5" y="33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57" name="Freeform 253"/>
              <p:cNvSpPr>
                <a:spLocks/>
              </p:cNvSpPr>
              <p:nvPr/>
            </p:nvSpPr>
            <p:spPr bwMode="auto">
              <a:xfrm>
                <a:off x="2159" y="2599"/>
                <a:ext cx="99" cy="164"/>
              </a:xfrm>
              <a:custGeom>
                <a:avLst/>
                <a:gdLst>
                  <a:gd name="T0" fmla="*/ 81 w 99"/>
                  <a:gd name="T1" fmla="*/ 0 h 164"/>
                  <a:gd name="T2" fmla="*/ 99 w 99"/>
                  <a:gd name="T3" fmla="*/ 164 h 164"/>
                  <a:gd name="T4" fmla="*/ 0 w 99"/>
                  <a:gd name="T5" fmla="*/ 41 h 164"/>
                  <a:gd name="T6" fmla="*/ 81 w 99"/>
                  <a:gd name="T7" fmla="*/ 0 h 1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164"/>
                  <a:gd name="T14" fmla="*/ 99 w 99"/>
                  <a:gd name="T15" fmla="*/ 164 h 1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164">
                    <a:moveTo>
                      <a:pt x="81" y="0"/>
                    </a:moveTo>
                    <a:lnTo>
                      <a:pt x="99" y="164"/>
                    </a:lnTo>
                    <a:lnTo>
                      <a:pt x="0" y="41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58" name="Freeform 254"/>
              <p:cNvSpPr>
                <a:spLocks/>
              </p:cNvSpPr>
              <p:nvPr/>
            </p:nvSpPr>
            <p:spPr bwMode="auto">
              <a:xfrm>
                <a:off x="2231" y="2599"/>
                <a:ext cx="35" cy="188"/>
              </a:xfrm>
              <a:custGeom>
                <a:avLst/>
                <a:gdLst>
                  <a:gd name="T0" fmla="*/ 29 w 35"/>
                  <a:gd name="T1" fmla="*/ 156 h 188"/>
                  <a:gd name="T2" fmla="*/ 18 w 35"/>
                  <a:gd name="T3" fmla="*/ 162 h 188"/>
                  <a:gd name="T4" fmla="*/ 0 w 35"/>
                  <a:gd name="T5" fmla="*/ 0 h 188"/>
                  <a:gd name="T6" fmla="*/ 15 w 35"/>
                  <a:gd name="T7" fmla="*/ 2 h 188"/>
                  <a:gd name="T8" fmla="*/ 33 w 35"/>
                  <a:gd name="T9" fmla="*/ 164 h 188"/>
                  <a:gd name="T10" fmla="*/ 20 w 35"/>
                  <a:gd name="T11" fmla="*/ 170 h 188"/>
                  <a:gd name="T12" fmla="*/ 33 w 35"/>
                  <a:gd name="T13" fmla="*/ 164 h 188"/>
                  <a:gd name="T14" fmla="*/ 35 w 35"/>
                  <a:gd name="T15" fmla="*/ 188 h 188"/>
                  <a:gd name="T16" fmla="*/ 20 w 35"/>
                  <a:gd name="T17" fmla="*/ 170 h 188"/>
                  <a:gd name="T18" fmla="*/ 29 w 35"/>
                  <a:gd name="T19" fmla="*/ 156 h 1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5"/>
                  <a:gd name="T31" fmla="*/ 0 h 188"/>
                  <a:gd name="T32" fmla="*/ 35 w 35"/>
                  <a:gd name="T33" fmla="*/ 188 h 18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5" h="188">
                    <a:moveTo>
                      <a:pt x="29" y="156"/>
                    </a:moveTo>
                    <a:lnTo>
                      <a:pt x="18" y="162"/>
                    </a:lnTo>
                    <a:lnTo>
                      <a:pt x="0" y="0"/>
                    </a:lnTo>
                    <a:lnTo>
                      <a:pt x="15" y="2"/>
                    </a:lnTo>
                    <a:lnTo>
                      <a:pt x="33" y="164"/>
                    </a:lnTo>
                    <a:lnTo>
                      <a:pt x="20" y="170"/>
                    </a:lnTo>
                    <a:lnTo>
                      <a:pt x="33" y="164"/>
                    </a:lnTo>
                    <a:lnTo>
                      <a:pt x="35" y="188"/>
                    </a:lnTo>
                    <a:lnTo>
                      <a:pt x="20" y="170"/>
                    </a:lnTo>
                    <a:lnTo>
                      <a:pt x="29" y="15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59" name="Freeform 255"/>
              <p:cNvSpPr>
                <a:spLocks/>
              </p:cNvSpPr>
              <p:nvPr/>
            </p:nvSpPr>
            <p:spPr bwMode="auto">
              <a:xfrm>
                <a:off x="2144" y="2630"/>
                <a:ext cx="116" cy="138"/>
              </a:xfrm>
              <a:custGeom>
                <a:avLst/>
                <a:gdLst>
                  <a:gd name="T0" fmla="*/ 17 w 116"/>
                  <a:gd name="T1" fmla="*/ 19 h 138"/>
                  <a:gd name="T2" fmla="*/ 18 w 116"/>
                  <a:gd name="T3" fmla="*/ 2 h 138"/>
                  <a:gd name="T4" fmla="*/ 116 w 116"/>
                  <a:gd name="T5" fmla="*/ 125 h 138"/>
                  <a:gd name="T6" fmla="*/ 108 w 116"/>
                  <a:gd name="T7" fmla="*/ 138 h 138"/>
                  <a:gd name="T8" fmla="*/ 10 w 116"/>
                  <a:gd name="T9" fmla="*/ 16 h 138"/>
                  <a:gd name="T10" fmla="*/ 11 w 116"/>
                  <a:gd name="T11" fmla="*/ 0 h 138"/>
                  <a:gd name="T12" fmla="*/ 10 w 116"/>
                  <a:gd name="T13" fmla="*/ 16 h 138"/>
                  <a:gd name="T14" fmla="*/ 0 w 116"/>
                  <a:gd name="T15" fmla="*/ 4 h 138"/>
                  <a:gd name="T16" fmla="*/ 11 w 116"/>
                  <a:gd name="T17" fmla="*/ 0 h 138"/>
                  <a:gd name="T18" fmla="*/ 17 w 116"/>
                  <a:gd name="T19" fmla="*/ 19 h 1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6"/>
                  <a:gd name="T31" fmla="*/ 0 h 138"/>
                  <a:gd name="T32" fmla="*/ 116 w 116"/>
                  <a:gd name="T33" fmla="*/ 138 h 13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6" h="138">
                    <a:moveTo>
                      <a:pt x="17" y="19"/>
                    </a:moveTo>
                    <a:lnTo>
                      <a:pt x="18" y="2"/>
                    </a:lnTo>
                    <a:lnTo>
                      <a:pt x="116" y="125"/>
                    </a:lnTo>
                    <a:lnTo>
                      <a:pt x="108" y="138"/>
                    </a:lnTo>
                    <a:lnTo>
                      <a:pt x="10" y="16"/>
                    </a:lnTo>
                    <a:lnTo>
                      <a:pt x="11" y="0"/>
                    </a:lnTo>
                    <a:lnTo>
                      <a:pt x="10" y="16"/>
                    </a:lnTo>
                    <a:lnTo>
                      <a:pt x="0" y="4"/>
                    </a:lnTo>
                    <a:lnTo>
                      <a:pt x="11" y="0"/>
                    </a:lnTo>
                    <a:lnTo>
                      <a:pt x="17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60" name="Freeform 256"/>
              <p:cNvSpPr>
                <a:spLocks/>
              </p:cNvSpPr>
              <p:nvPr/>
            </p:nvSpPr>
            <p:spPr bwMode="auto">
              <a:xfrm>
                <a:off x="2150" y="2585"/>
                <a:ext cx="94" cy="64"/>
              </a:xfrm>
              <a:custGeom>
                <a:avLst/>
                <a:gdLst>
                  <a:gd name="T0" fmla="*/ 79 w 94"/>
                  <a:gd name="T1" fmla="*/ 13 h 64"/>
                  <a:gd name="T2" fmla="*/ 91 w 94"/>
                  <a:gd name="T3" fmla="*/ 24 h 64"/>
                  <a:gd name="T4" fmla="*/ 9 w 94"/>
                  <a:gd name="T5" fmla="*/ 64 h 64"/>
                  <a:gd name="T6" fmla="*/ 0 w 94"/>
                  <a:gd name="T7" fmla="*/ 45 h 64"/>
                  <a:gd name="T8" fmla="*/ 84 w 94"/>
                  <a:gd name="T9" fmla="*/ 4 h 64"/>
                  <a:gd name="T10" fmla="*/ 94 w 94"/>
                  <a:gd name="T11" fmla="*/ 15 h 64"/>
                  <a:gd name="T12" fmla="*/ 84 w 94"/>
                  <a:gd name="T13" fmla="*/ 4 h 64"/>
                  <a:gd name="T14" fmla="*/ 93 w 94"/>
                  <a:gd name="T15" fmla="*/ 0 h 64"/>
                  <a:gd name="T16" fmla="*/ 94 w 94"/>
                  <a:gd name="T17" fmla="*/ 15 h 64"/>
                  <a:gd name="T18" fmla="*/ 79 w 94"/>
                  <a:gd name="T19" fmla="*/ 13 h 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4"/>
                  <a:gd name="T31" fmla="*/ 0 h 64"/>
                  <a:gd name="T32" fmla="*/ 94 w 94"/>
                  <a:gd name="T33" fmla="*/ 64 h 6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4" h="64">
                    <a:moveTo>
                      <a:pt x="79" y="13"/>
                    </a:moveTo>
                    <a:lnTo>
                      <a:pt x="91" y="24"/>
                    </a:lnTo>
                    <a:lnTo>
                      <a:pt x="9" y="64"/>
                    </a:lnTo>
                    <a:lnTo>
                      <a:pt x="0" y="45"/>
                    </a:lnTo>
                    <a:lnTo>
                      <a:pt x="84" y="4"/>
                    </a:lnTo>
                    <a:lnTo>
                      <a:pt x="94" y="15"/>
                    </a:lnTo>
                    <a:lnTo>
                      <a:pt x="84" y="4"/>
                    </a:lnTo>
                    <a:lnTo>
                      <a:pt x="93" y="0"/>
                    </a:lnTo>
                    <a:lnTo>
                      <a:pt x="94" y="15"/>
                    </a:lnTo>
                    <a:lnTo>
                      <a:pt x="79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61" name="Freeform 257"/>
              <p:cNvSpPr>
                <a:spLocks/>
              </p:cNvSpPr>
              <p:nvPr/>
            </p:nvSpPr>
            <p:spPr bwMode="auto">
              <a:xfrm>
                <a:off x="2220" y="2704"/>
                <a:ext cx="36" cy="34"/>
              </a:xfrm>
              <a:custGeom>
                <a:avLst/>
                <a:gdLst>
                  <a:gd name="T0" fmla="*/ 28 w 36"/>
                  <a:gd name="T1" fmla="*/ 0 h 34"/>
                  <a:gd name="T2" fmla="*/ 36 w 36"/>
                  <a:gd name="T3" fmla="*/ 19 h 34"/>
                  <a:gd name="T4" fmla="*/ 7 w 36"/>
                  <a:gd name="T5" fmla="*/ 34 h 34"/>
                  <a:gd name="T6" fmla="*/ 0 w 36"/>
                  <a:gd name="T7" fmla="*/ 15 h 34"/>
                  <a:gd name="T8" fmla="*/ 28 w 36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34"/>
                  <a:gd name="T17" fmla="*/ 36 w 36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34">
                    <a:moveTo>
                      <a:pt x="28" y="0"/>
                    </a:moveTo>
                    <a:lnTo>
                      <a:pt x="36" y="19"/>
                    </a:lnTo>
                    <a:lnTo>
                      <a:pt x="7" y="34"/>
                    </a:lnTo>
                    <a:lnTo>
                      <a:pt x="0" y="15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62" name="Freeform 258"/>
              <p:cNvSpPr>
                <a:spLocks/>
              </p:cNvSpPr>
              <p:nvPr/>
            </p:nvSpPr>
            <p:spPr bwMode="auto">
              <a:xfrm>
                <a:off x="2142" y="2485"/>
                <a:ext cx="101" cy="233"/>
              </a:xfrm>
              <a:custGeom>
                <a:avLst/>
                <a:gdLst>
                  <a:gd name="T0" fmla="*/ 32 w 101"/>
                  <a:gd name="T1" fmla="*/ 0 h 233"/>
                  <a:gd name="T2" fmla="*/ 32 w 101"/>
                  <a:gd name="T3" fmla="*/ 0 h 233"/>
                  <a:gd name="T4" fmla="*/ 45 w 101"/>
                  <a:gd name="T5" fmla="*/ 56 h 233"/>
                  <a:gd name="T6" fmla="*/ 61 w 101"/>
                  <a:gd name="T7" fmla="*/ 112 h 233"/>
                  <a:gd name="T8" fmla="*/ 80 w 101"/>
                  <a:gd name="T9" fmla="*/ 165 h 233"/>
                  <a:gd name="T10" fmla="*/ 101 w 101"/>
                  <a:gd name="T11" fmla="*/ 217 h 233"/>
                  <a:gd name="T12" fmla="*/ 75 w 101"/>
                  <a:gd name="T13" fmla="*/ 233 h 233"/>
                  <a:gd name="T14" fmla="*/ 52 w 101"/>
                  <a:gd name="T15" fmla="*/ 178 h 233"/>
                  <a:gd name="T16" fmla="*/ 31 w 101"/>
                  <a:gd name="T17" fmla="*/ 122 h 233"/>
                  <a:gd name="T18" fmla="*/ 15 w 101"/>
                  <a:gd name="T19" fmla="*/ 63 h 233"/>
                  <a:gd name="T20" fmla="*/ 0 w 101"/>
                  <a:gd name="T21" fmla="*/ 3 h 233"/>
                  <a:gd name="T22" fmla="*/ 32 w 101"/>
                  <a:gd name="T23" fmla="*/ 0 h 23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01"/>
                  <a:gd name="T37" fmla="*/ 0 h 233"/>
                  <a:gd name="T38" fmla="*/ 101 w 101"/>
                  <a:gd name="T39" fmla="*/ 233 h 23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01" h="233">
                    <a:moveTo>
                      <a:pt x="32" y="0"/>
                    </a:moveTo>
                    <a:lnTo>
                      <a:pt x="32" y="0"/>
                    </a:lnTo>
                    <a:lnTo>
                      <a:pt x="45" y="56"/>
                    </a:lnTo>
                    <a:lnTo>
                      <a:pt x="61" y="112"/>
                    </a:lnTo>
                    <a:lnTo>
                      <a:pt x="80" y="165"/>
                    </a:lnTo>
                    <a:lnTo>
                      <a:pt x="101" y="217"/>
                    </a:lnTo>
                    <a:lnTo>
                      <a:pt x="75" y="233"/>
                    </a:lnTo>
                    <a:lnTo>
                      <a:pt x="52" y="178"/>
                    </a:lnTo>
                    <a:lnTo>
                      <a:pt x="31" y="122"/>
                    </a:lnTo>
                    <a:lnTo>
                      <a:pt x="15" y="63"/>
                    </a:lnTo>
                    <a:lnTo>
                      <a:pt x="0" y="3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63" name="Freeform 259"/>
              <p:cNvSpPr>
                <a:spLocks/>
              </p:cNvSpPr>
              <p:nvPr/>
            </p:nvSpPr>
            <p:spPr bwMode="auto">
              <a:xfrm>
                <a:off x="2117" y="2281"/>
                <a:ext cx="53" cy="206"/>
              </a:xfrm>
              <a:custGeom>
                <a:avLst/>
                <a:gdLst>
                  <a:gd name="T0" fmla="*/ 33 w 53"/>
                  <a:gd name="T1" fmla="*/ 9 h 206"/>
                  <a:gd name="T2" fmla="*/ 33 w 53"/>
                  <a:gd name="T3" fmla="*/ 33 h 206"/>
                  <a:gd name="T4" fmla="*/ 33 w 53"/>
                  <a:gd name="T5" fmla="*/ 56 h 206"/>
                  <a:gd name="T6" fmla="*/ 37 w 53"/>
                  <a:gd name="T7" fmla="*/ 80 h 206"/>
                  <a:gd name="T8" fmla="*/ 39 w 53"/>
                  <a:gd name="T9" fmla="*/ 104 h 206"/>
                  <a:gd name="T10" fmla="*/ 41 w 53"/>
                  <a:gd name="T11" fmla="*/ 129 h 206"/>
                  <a:gd name="T12" fmla="*/ 44 w 53"/>
                  <a:gd name="T13" fmla="*/ 152 h 206"/>
                  <a:gd name="T14" fmla="*/ 48 w 53"/>
                  <a:gd name="T15" fmla="*/ 179 h 206"/>
                  <a:gd name="T16" fmla="*/ 53 w 53"/>
                  <a:gd name="T17" fmla="*/ 204 h 206"/>
                  <a:gd name="T18" fmla="*/ 22 w 53"/>
                  <a:gd name="T19" fmla="*/ 206 h 206"/>
                  <a:gd name="T20" fmla="*/ 16 w 53"/>
                  <a:gd name="T21" fmla="*/ 180 h 206"/>
                  <a:gd name="T22" fmla="*/ 12 w 53"/>
                  <a:gd name="T23" fmla="*/ 155 h 206"/>
                  <a:gd name="T24" fmla="*/ 8 w 53"/>
                  <a:gd name="T25" fmla="*/ 127 h 206"/>
                  <a:gd name="T26" fmla="*/ 5 w 53"/>
                  <a:gd name="T27" fmla="*/ 101 h 206"/>
                  <a:gd name="T28" fmla="*/ 3 w 53"/>
                  <a:gd name="T29" fmla="*/ 76 h 206"/>
                  <a:gd name="T30" fmla="*/ 1 w 53"/>
                  <a:gd name="T31" fmla="*/ 50 h 206"/>
                  <a:gd name="T32" fmla="*/ 1 w 53"/>
                  <a:gd name="T33" fmla="*/ 24 h 206"/>
                  <a:gd name="T34" fmla="*/ 0 w 53"/>
                  <a:gd name="T35" fmla="*/ 0 h 206"/>
                  <a:gd name="T36" fmla="*/ 33 w 53"/>
                  <a:gd name="T37" fmla="*/ 9 h 2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3"/>
                  <a:gd name="T58" fmla="*/ 0 h 206"/>
                  <a:gd name="T59" fmla="*/ 53 w 53"/>
                  <a:gd name="T60" fmla="*/ 206 h 2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3" h="206">
                    <a:moveTo>
                      <a:pt x="33" y="9"/>
                    </a:moveTo>
                    <a:lnTo>
                      <a:pt x="33" y="33"/>
                    </a:lnTo>
                    <a:lnTo>
                      <a:pt x="33" y="56"/>
                    </a:lnTo>
                    <a:lnTo>
                      <a:pt x="37" y="80"/>
                    </a:lnTo>
                    <a:lnTo>
                      <a:pt x="39" y="104"/>
                    </a:lnTo>
                    <a:lnTo>
                      <a:pt x="41" y="129"/>
                    </a:lnTo>
                    <a:lnTo>
                      <a:pt x="44" y="152"/>
                    </a:lnTo>
                    <a:lnTo>
                      <a:pt x="48" y="179"/>
                    </a:lnTo>
                    <a:lnTo>
                      <a:pt x="53" y="204"/>
                    </a:lnTo>
                    <a:lnTo>
                      <a:pt x="22" y="206"/>
                    </a:lnTo>
                    <a:lnTo>
                      <a:pt x="16" y="180"/>
                    </a:lnTo>
                    <a:lnTo>
                      <a:pt x="12" y="155"/>
                    </a:lnTo>
                    <a:lnTo>
                      <a:pt x="8" y="127"/>
                    </a:lnTo>
                    <a:lnTo>
                      <a:pt x="5" y="101"/>
                    </a:lnTo>
                    <a:lnTo>
                      <a:pt x="3" y="76"/>
                    </a:lnTo>
                    <a:lnTo>
                      <a:pt x="1" y="50"/>
                    </a:lnTo>
                    <a:lnTo>
                      <a:pt x="1" y="24"/>
                    </a:lnTo>
                    <a:lnTo>
                      <a:pt x="0" y="0"/>
                    </a:lnTo>
                    <a:lnTo>
                      <a:pt x="33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64" name="Freeform 260"/>
              <p:cNvSpPr>
                <a:spLocks/>
              </p:cNvSpPr>
              <p:nvPr/>
            </p:nvSpPr>
            <p:spPr bwMode="auto">
              <a:xfrm>
                <a:off x="2115" y="2257"/>
                <a:ext cx="33" cy="32"/>
              </a:xfrm>
              <a:custGeom>
                <a:avLst/>
                <a:gdLst>
                  <a:gd name="T0" fmla="*/ 0 w 33"/>
                  <a:gd name="T1" fmla="*/ 22 h 32"/>
                  <a:gd name="T2" fmla="*/ 0 w 33"/>
                  <a:gd name="T3" fmla="*/ 0 h 32"/>
                  <a:gd name="T4" fmla="*/ 33 w 33"/>
                  <a:gd name="T5" fmla="*/ 11 h 32"/>
                  <a:gd name="T6" fmla="*/ 33 w 33"/>
                  <a:gd name="T7" fmla="*/ 32 h 32"/>
                  <a:gd name="T8" fmla="*/ 0 w 33"/>
                  <a:gd name="T9" fmla="*/ 2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"/>
                  <a:gd name="T16" fmla="*/ 0 h 32"/>
                  <a:gd name="T17" fmla="*/ 33 w 33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" h="32">
                    <a:moveTo>
                      <a:pt x="0" y="22"/>
                    </a:moveTo>
                    <a:lnTo>
                      <a:pt x="0" y="0"/>
                    </a:lnTo>
                    <a:lnTo>
                      <a:pt x="33" y="11"/>
                    </a:lnTo>
                    <a:lnTo>
                      <a:pt x="33" y="32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65" name="Freeform 261"/>
              <p:cNvSpPr>
                <a:spLocks/>
              </p:cNvSpPr>
              <p:nvPr/>
            </p:nvSpPr>
            <p:spPr bwMode="auto">
              <a:xfrm>
                <a:off x="2159" y="2599"/>
                <a:ext cx="99" cy="164"/>
              </a:xfrm>
              <a:custGeom>
                <a:avLst/>
                <a:gdLst>
                  <a:gd name="T0" fmla="*/ 81 w 99"/>
                  <a:gd name="T1" fmla="*/ 0 h 164"/>
                  <a:gd name="T2" fmla="*/ 99 w 99"/>
                  <a:gd name="T3" fmla="*/ 164 h 164"/>
                  <a:gd name="T4" fmla="*/ 0 w 99"/>
                  <a:gd name="T5" fmla="*/ 41 h 164"/>
                  <a:gd name="T6" fmla="*/ 81 w 99"/>
                  <a:gd name="T7" fmla="*/ 0 h 1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164"/>
                  <a:gd name="T14" fmla="*/ 99 w 99"/>
                  <a:gd name="T15" fmla="*/ 164 h 1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164">
                    <a:moveTo>
                      <a:pt x="81" y="0"/>
                    </a:moveTo>
                    <a:lnTo>
                      <a:pt x="99" y="164"/>
                    </a:lnTo>
                    <a:lnTo>
                      <a:pt x="0" y="41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66" name="Freeform 262"/>
              <p:cNvSpPr>
                <a:spLocks/>
              </p:cNvSpPr>
              <p:nvPr/>
            </p:nvSpPr>
            <p:spPr bwMode="auto">
              <a:xfrm>
                <a:off x="2235" y="2601"/>
                <a:ext cx="28" cy="178"/>
              </a:xfrm>
              <a:custGeom>
                <a:avLst/>
                <a:gdLst>
                  <a:gd name="T0" fmla="*/ 24 w 28"/>
                  <a:gd name="T1" fmla="*/ 158 h 178"/>
                  <a:gd name="T2" fmla="*/ 17 w 28"/>
                  <a:gd name="T3" fmla="*/ 162 h 178"/>
                  <a:gd name="T4" fmla="*/ 0 w 28"/>
                  <a:gd name="T5" fmla="*/ 0 h 178"/>
                  <a:gd name="T6" fmla="*/ 9 w 28"/>
                  <a:gd name="T7" fmla="*/ 1 h 178"/>
                  <a:gd name="T8" fmla="*/ 27 w 28"/>
                  <a:gd name="T9" fmla="*/ 163 h 178"/>
                  <a:gd name="T10" fmla="*/ 18 w 28"/>
                  <a:gd name="T11" fmla="*/ 165 h 178"/>
                  <a:gd name="T12" fmla="*/ 27 w 28"/>
                  <a:gd name="T13" fmla="*/ 163 h 178"/>
                  <a:gd name="T14" fmla="*/ 28 w 28"/>
                  <a:gd name="T15" fmla="*/ 178 h 178"/>
                  <a:gd name="T16" fmla="*/ 18 w 28"/>
                  <a:gd name="T17" fmla="*/ 165 h 178"/>
                  <a:gd name="T18" fmla="*/ 24 w 28"/>
                  <a:gd name="T19" fmla="*/ 158 h 17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178"/>
                  <a:gd name="T32" fmla="*/ 28 w 28"/>
                  <a:gd name="T33" fmla="*/ 178 h 17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178">
                    <a:moveTo>
                      <a:pt x="24" y="158"/>
                    </a:moveTo>
                    <a:lnTo>
                      <a:pt x="17" y="162"/>
                    </a:lnTo>
                    <a:lnTo>
                      <a:pt x="0" y="0"/>
                    </a:lnTo>
                    <a:lnTo>
                      <a:pt x="9" y="1"/>
                    </a:lnTo>
                    <a:lnTo>
                      <a:pt x="27" y="163"/>
                    </a:lnTo>
                    <a:lnTo>
                      <a:pt x="18" y="165"/>
                    </a:lnTo>
                    <a:lnTo>
                      <a:pt x="27" y="163"/>
                    </a:lnTo>
                    <a:lnTo>
                      <a:pt x="28" y="178"/>
                    </a:lnTo>
                    <a:lnTo>
                      <a:pt x="18" y="165"/>
                    </a:lnTo>
                    <a:lnTo>
                      <a:pt x="24" y="158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67" name="Freeform 263"/>
              <p:cNvSpPr>
                <a:spLocks/>
              </p:cNvSpPr>
              <p:nvPr/>
            </p:nvSpPr>
            <p:spPr bwMode="auto">
              <a:xfrm>
                <a:off x="2149" y="2633"/>
                <a:ext cx="111" cy="131"/>
              </a:xfrm>
              <a:custGeom>
                <a:avLst/>
                <a:gdLst>
                  <a:gd name="T0" fmla="*/ 11 w 111"/>
                  <a:gd name="T1" fmla="*/ 12 h 131"/>
                  <a:gd name="T2" fmla="*/ 11 w 111"/>
                  <a:gd name="T3" fmla="*/ 2 h 131"/>
                  <a:gd name="T4" fmla="*/ 111 w 111"/>
                  <a:gd name="T5" fmla="*/ 125 h 131"/>
                  <a:gd name="T6" fmla="*/ 105 w 111"/>
                  <a:gd name="T7" fmla="*/ 131 h 131"/>
                  <a:gd name="T8" fmla="*/ 6 w 111"/>
                  <a:gd name="T9" fmla="*/ 9 h 131"/>
                  <a:gd name="T10" fmla="*/ 6 w 111"/>
                  <a:gd name="T11" fmla="*/ 0 h 131"/>
                  <a:gd name="T12" fmla="*/ 6 w 111"/>
                  <a:gd name="T13" fmla="*/ 9 h 131"/>
                  <a:gd name="T14" fmla="*/ 0 w 111"/>
                  <a:gd name="T15" fmla="*/ 3 h 131"/>
                  <a:gd name="T16" fmla="*/ 6 w 111"/>
                  <a:gd name="T17" fmla="*/ 0 h 131"/>
                  <a:gd name="T18" fmla="*/ 11 w 111"/>
                  <a:gd name="T19" fmla="*/ 12 h 13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1"/>
                  <a:gd name="T31" fmla="*/ 0 h 131"/>
                  <a:gd name="T32" fmla="*/ 111 w 111"/>
                  <a:gd name="T33" fmla="*/ 131 h 13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1" h="131">
                    <a:moveTo>
                      <a:pt x="11" y="12"/>
                    </a:moveTo>
                    <a:lnTo>
                      <a:pt x="11" y="2"/>
                    </a:lnTo>
                    <a:lnTo>
                      <a:pt x="111" y="125"/>
                    </a:lnTo>
                    <a:lnTo>
                      <a:pt x="105" y="131"/>
                    </a:lnTo>
                    <a:lnTo>
                      <a:pt x="6" y="9"/>
                    </a:lnTo>
                    <a:lnTo>
                      <a:pt x="6" y="0"/>
                    </a:lnTo>
                    <a:lnTo>
                      <a:pt x="6" y="9"/>
                    </a:lnTo>
                    <a:lnTo>
                      <a:pt x="0" y="3"/>
                    </a:lnTo>
                    <a:lnTo>
                      <a:pt x="6" y="0"/>
                    </a:lnTo>
                    <a:lnTo>
                      <a:pt x="11" y="12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68" name="Freeform 264"/>
              <p:cNvSpPr>
                <a:spLocks/>
              </p:cNvSpPr>
              <p:nvPr/>
            </p:nvSpPr>
            <p:spPr bwMode="auto">
              <a:xfrm>
                <a:off x="2154" y="2593"/>
                <a:ext cx="88" cy="53"/>
              </a:xfrm>
              <a:custGeom>
                <a:avLst/>
                <a:gdLst>
                  <a:gd name="T0" fmla="*/ 80 w 88"/>
                  <a:gd name="T1" fmla="*/ 7 h 53"/>
                  <a:gd name="T2" fmla="*/ 86 w 88"/>
                  <a:gd name="T3" fmla="*/ 12 h 53"/>
                  <a:gd name="T4" fmla="*/ 4 w 88"/>
                  <a:gd name="T5" fmla="*/ 53 h 53"/>
                  <a:gd name="T6" fmla="*/ 0 w 88"/>
                  <a:gd name="T7" fmla="*/ 42 h 53"/>
                  <a:gd name="T8" fmla="*/ 82 w 88"/>
                  <a:gd name="T9" fmla="*/ 2 h 53"/>
                  <a:gd name="T10" fmla="*/ 88 w 88"/>
                  <a:gd name="T11" fmla="*/ 8 h 53"/>
                  <a:gd name="T12" fmla="*/ 82 w 88"/>
                  <a:gd name="T13" fmla="*/ 2 h 53"/>
                  <a:gd name="T14" fmla="*/ 87 w 88"/>
                  <a:gd name="T15" fmla="*/ 0 h 53"/>
                  <a:gd name="T16" fmla="*/ 88 w 88"/>
                  <a:gd name="T17" fmla="*/ 8 h 53"/>
                  <a:gd name="T18" fmla="*/ 80 w 88"/>
                  <a:gd name="T19" fmla="*/ 7 h 5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8"/>
                  <a:gd name="T31" fmla="*/ 0 h 53"/>
                  <a:gd name="T32" fmla="*/ 88 w 88"/>
                  <a:gd name="T33" fmla="*/ 53 h 5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8" h="53">
                    <a:moveTo>
                      <a:pt x="80" y="7"/>
                    </a:moveTo>
                    <a:lnTo>
                      <a:pt x="86" y="12"/>
                    </a:lnTo>
                    <a:lnTo>
                      <a:pt x="4" y="53"/>
                    </a:lnTo>
                    <a:lnTo>
                      <a:pt x="0" y="42"/>
                    </a:lnTo>
                    <a:lnTo>
                      <a:pt x="82" y="2"/>
                    </a:lnTo>
                    <a:lnTo>
                      <a:pt x="88" y="8"/>
                    </a:lnTo>
                    <a:lnTo>
                      <a:pt x="82" y="2"/>
                    </a:lnTo>
                    <a:lnTo>
                      <a:pt x="87" y="0"/>
                    </a:lnTo>
                    <a:lnTo>
                      <a:pt x="88" y="8"/>
                    </a:lnTo>
                    <a:lnTo>
                      <a:pt x="80" y="7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69" name="Freeform 265"/>
              <p:cNvSpPr>
                <a:spLocks/>
              </p:cNvSpPr>
              <p:nvPr/>
            </p:nvSpPr>
            <p:spPr bwMode="auto">
              <a:xfrm>
                <a:off x="2222" y="2703"/>
                <a:ext cx="31" cy="31"/>
              </a:xfrm>
              <a:custGeom>
                <a:avLst/>
                <a:gdLst>
                  <a:gd name="T0" fmla="*/ 21 w 31"/>
                  <a:gd name="T1" fmla="*/ 0 h 31"/>
                  <a:gd name="T2" fmla="*/ 31 w 31"/>
                  <a:gd name="T3" fmla="*/ 19 h 31"/>
                  <a:gd name="T4" fmla="*/ 6 w 31"/>
                  <a:gd name="T5" fmla="*/ 31 h 31"/>
                  <a:gd name="T6" fmla="*/ 0 w 31"/>
                  <a:gd name="T7" fmla="*/ 14 h 31"/>
                  <a:gd name="T8" fmla="*/ 21 w 31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31"/>
                  <a:gd name="T17" fmla="*/ 31 w 31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31">
                    <a:moveTo>
                      <a:pt x="21" y="0"/>
                    </a:moveTo>
                    <a:lnTo>
                      <a:pt x="31" y="19"/>
                    </a:lnTo>
                    <a:lnTo>
                      <a:pt x="6" y="31"/>
                    </a:lnTo>
                    <a:lnTo>
                      <a:pt x="0" y="14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70" name="Freeform 266"/>
              <p:cNvSpPr>
                <a:spLocks/>
              </p:cNvSpPr>
              <p:nvPr/>
            </p:nvSpPr>
            <p:spPr bwMode="auto">
              <a:xfrm>
                <a:off x="2144" y="2485"/>
                <a:ext cx="98" cy="233"/>
              </a:xfrm>
              <a:custGeom>
                <a:avLst/>
                <a:gdLst>
                  <a:gd name="T0" fmla="*/ 27 w 98"/>
                  <a:gd name="T1" fmla="*/ 0 h 233"/>
                  <a:gd name="T2" fmla="*/ 27 w 98"/>
                  <a:gd name="T3" fmla="*/ 0 h 233"/>
                  <a:gd name="T4" fmla="*/ 41 w 98"/>
                  <a:gd name="T5" fmla="*/ 56 h 233"/>
                  <a:gd name="T6" fmla="*/ 57 w 98"/>
                  <a:gd name="T7" fmla="*/ 113 h 233"/>
                  <a:gd name="T8" fmla="*/ 77 w 98"/>
                  <a:gd name="T9" fmla="*/ 166 h 233"/>
                  <a:gd name="T10" fmla="*/ 98 w 98"/>
                  <a:gd name="T11" fmla="*/ 219 h 233"/>
                  <a:gd name="T12" fmla="*/ 76 w 98"/>
                  <a:gd name="T13" fmla="*/ 233 h 233"/>
                  <a:gd name="T14" fmla="*/ 52 w 98"/>
                  <a:gd name="T15" fmla="*/ 177 h 233"/>
                  <a:gd name="T16" fmla="*/ 32 w 98"/>
                  <a:gd name="T17" fmla="*/ 120 h 233"/>
                  <a:gd name="T18" fmla="*/ 15 w 98"/>
                  <a:gd name="T19" fmla="*/ 63 h 233"/>
                  <a:gd name="T20" fmla="*/ 0 w 98"/>
                  <a:gd name="T21" fmla="*/ 2 h 233"/>
                  <a:gd name="T22" fmla="*/ 27 w 98"/>
                  <a:gd name="T23" fmla="*/ 0 h 23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98"/>
                  <a:gd name="T37" fmla="*/ 0 h 233"/>
                  <a:gd name="T38" fmla="*/ 98 w 98"/>
                  <a:gd name="T39" fmla="*/ 233 h 23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98" h="233">
                    <a:moveTo>
                      <a:pt x="27" y="0"/>
                    </a:moveTo>
                    <a:lnTo>
                      <a:pt x="27" y="0"/>
                    </a:lnTo>
                    <a:lnTo>
                      <a:pt x="41" y="56"/>
                    </a:lnTo>
                    <a:lnTo>
                      <a:pt x="57" y="113"/>
                    </a:lnTo>
                    <a:lnTo>
                      <a:pt x="77" y="166"/>
                    </a:lnTo>
                    <a:lnTo>
                      <a:pt x="98" y="219"/>
                    </a:lnTo>
                    <a:lnTo>
                      <a:pt x="76" y="233"/>
                    </a:lnTo>
                    <a:lnTo>
                      <a:pt x="52" y="177"/>
                    </a:lnTo>
                    <a:lnTo>
                      <a:pt x="32" y="120"/>
                    </a:lnTo>
                    <a:lnTo>
                      <a:pt x="15" y="63"/>
                    </a:lnTo>
                    <a:lnTo>
                      <a:pt x="0" y="2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71" name="Freeform 267"/>
              <p:cNvSpPr>
                <a:spLocks/>
              </p:cNvSpPr>
              <p:nvPr/>
            </p:nvSpPr>
            <p:spPr bwMode="auto">
              <a:xfrm>
                <a:off x="2118" y="2281"/>
                <a:ext cx="47" cy="205"/>
              </a:xfrm>
              <a:custGeom>
                <a:avLst/>
                <a:gdLst>
                  <a:gd name="T0" fmla="*/ 28 w 47"/>
                  <a:gd name="T1" fmla="*/ 6 h 205"/>
                  <a:gd name="T2" fmla="*/ 28 w 47"/>
                  <a:gd name="T3" fmla="*/ 31 h 205"/>
                  <a:gd name="T4" fmla="*/ 29 w 47"/>
                  <a:gd name="T5" fmla="*/ 54 h 205"/>
                  <a:gd name="T6" fmla="*/ 30 w 47"/>
                  <a:gd name="T7" fmla="*/ 79 h 205"/>
                  <a:gd name="T8" fmla="*/ 32 w 47"/>
                  <a:gd name="T9" fmla="*/ 103 h 205"/>
                  <a:gd name="T10" fmla="*/ 36 w 47"/>
                  <a:gd name="T11" fmla="*/ 127 h 205"/>
                  <a:gd name="T12" fmla="*/ 39 w 47"/>
                  <a:gd name="T13" fmla="*/ 152 h 205"/>
                  <a:gd name="T14" fmla="*/ 43 w 47"/>
                  <a:gd name="T15" fmla="*/ 177 h 205"/>
                  <a:gd name="T16" fmla="*/ 47 w 47"/>
                  <a:gd name="T17" fmla="*/ 203 h 205"/>
                  <a:gd name="T18" fmla="*/ 21 w 47"/>
                  <a:gd name="T19" fmla="*/ 205 h 205"/>
                  <a:gd name="T20" fmla="*/ 16 w 47"/>
                  <a:gd name="T21" fmla="*/ 179 h 205"/>
                  <a:gd name="T22" fmla="*/ 11 w 47"/>
                  <a:gd name="T23" fmla="*/ 152 h 205"/>
                  <a:gd name="T24" fmla="*/ 8 w 47"/>
                  <a:gd name="T25" fmla="*/ 126 h 205"/>
                  <a:gd name="T26" fmla="*/ 5 w 47"/>
                  <a:gd name="T27" fmla="*/ 100 h 205"/>
                  <a:gd name="T28" fmla="*/ 2 w 47"/>
                  <a:gd name="T29" fmla="*/ 76 h 205"/>
                  <a:gd name="T30" fmla="*/ 1 w 47"/>
                  <a:gd name="T31" fmla="*/ 50 h 205"/>
                  <a:gd name="T32" fmla="*/ 0 w 47"/>
                  <a:gd name="T33" fmla="*/ 24 h 205"/>
                  <a:gd name="T34" fmla="*/ 0 w 47"/>
                  <a:gd name="T35" fmla="*/ 0 h 205"/>
                  <a:gd name="T36" fmla="*/ 28 w 47"/>
                  <a:gd name="T37" fmla="*/ 6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7"/>
                  <a:gd name="T58" fmla="*/ 0 h 205"/>
                  <a:gd name="T59" fmla="*/ 47 w 47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7" h="205">
                    <a:moveTo>
                      <a:pt x="28" y="6"/>
                    </a:moveTo>
                    <a:lnTo>
                      <a:pt x="28" y="31"/>
                    </a:lnTo>
                    <a:lnTo>
                      <a:pt x="29" y="54"/>
                    </a:lnTo>
                    <a:lnTo>
                      <a:pt x="30" y="79"/>
                    </a:lnTo>
                    <a:lnTo>
                      <a:pt x="32" y="103"/>
                    </a:lnTo>
                    <a:lnTo>
                      <a:pt x="36" y="127"/>
                    </a:lnTo>
                    <a:lnTo>
                      <a:pt x="39" y="152"/>
                    </a:lnTo>
                    <a:lnTo>
                      <a:pt x="43" y="177"/>
                    </a:lnTo>
                    <a:lnTo>
                      <a:pt x="47" y="203"/>
                    </a:lnTo>
                    <a:lnTo>
                      <a:pt x="21" y="205"/>
                    </a:lnTo>
                    <a:lnTo>
                      <a:pt x="16" y="179"/>
                    </a:lnTo>
                    <a:lnTo>
                      <a:pt x="11" y="152"/>
                    </a:lnTo>
                    <a:lnTo>
                      <a:pt x="8" y="126"/>
                    </a:lnTo>
                    <a:lnTo>
                      <a:pt x="5" y="100"/>
                    </a:lnTo>
                    <a:lnTo>
                      <a:pt x="2" y="76"/>
                    </a:lnTo>
                    <a:lnTo>
                      <a:pt x="1" y="50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28" y="6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72" name="Freeform 268"/>
              <p:cNvSpPr>
                <a:spLocks/>
              </p:cNvSpPr>
              <p:nvPr/>
            </p:nvSpPr>
            <p:spPr bwMode="auto">
              <a:xfrm>
                <a:off x="2117" y="2263"/>
                <a:ext cx="27" cy="24"/>
              </a:xfrm>
              <a:custGeom>
                <a:avLst/>
                <a:gdLst>
                  <a:gd name="T0" fmla="*/ 0 w 27"/>
                  <a:gd name="T1" fmla="*/ 17 h 24"/>
                  <a:gd name="T2" fmla="*/ 0 w 27"/>
                  <a:gd name="T3" fmla="*/ 0 h 24"/>
                  <a:gd name="T4" fmla="*/ 27 w 27"/>
                  <a:gd name="T5" fmla="*/ 7 h 24"/>
                  <a:gd name="T6" fmla="*/ 27 w 27"/>
                  <a:gd name="T7" fmla="*/ 24 h 24"/>
                  <a:gd name="T8" fmla="*/ 0 w 27"/>
                  <a:gd name="T9" fmla="*/ 17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24"/>
                  <a:gd name="T17" fmla="*/ 27 w 27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24">
                    <a:moveTo>
                      <a:pt x="0" y="17"/>
                    </a:moveTo>
                    <a:lnTo>
                      <a:pt x="0" y="0"/>
                    </a:lnTo>
                    <a:lnTo>
                      <a:pt x="27" y="7"/>
                    </a:lnTo>
                    <a:lnTo>
                      <a:pt x="27" y="24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73" name="Freeform 269"/>
              <p:cNvSpPr>
                <a:spLocks/>
              </p:cNvSpPr>
              <p:nvPr/>
            </p:nvSpPr>
            <p:spPr bwMode="auto">
              <a:xfrm>
                <a:off x="2173" y="2631"/>
                <a:ext cx="102" cy="162"/>
              </a:xfrm>
              <a:custGeom>
                <a:avLst/>
                <a:gdLst>
                  <a:gd name="T0" fmla="*/ 80 w 102"/>
                  <a:gd name="T1" fmla="*/ 0 h 162"/>
                  <a:gd name="T2" fmla="*/ 102 w 102"/>
                  <a:gd name="T3" fmla="*/ 162 h 162"/>
                  <a:gd name="T4" fmla="*/ 0 w 102"/>
                  <a:gd name="T5" fmla="*/ 46 h 162"/>
                  <a:gd name="T6" fmla="*/ 80 w 102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2"/>
                  <a:gd name="T13" fmla="*/ 0 h 162"/>
                  <a:gd name="T14" fmla="*/ 102 w 102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2" h="162">
                    <a:moveTo>
                      <a:pt x="80" y="0"/>
                    </a:moveTo>
                    <a:lnTo>
                      <a:pt x="102" y="162"/>
                    </a:lnTo>
                    <a:lnTo>
                      <a:pt x="0" y="46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74" name="Freeform 270"/>
              <p:cNvSpPr>
                <a:spLocks/>
              </p:cNvSpPr>
              <p:nvPr/>
            </p:nvSpPr>
            <p:spPr bwMode="auto">
              <a:xfrm>
                <a:off x="2246" y="2633"/>
                <a:ext cx="42" cy="188"/>
              </a:xfrm>
              <a:custGeom>
                <a:avLst/>
                <a:gdLst>
                  <a:gd name="T0" fmla="*/ 35 w 42"/>
                  <a:gd name="T1" fmla="*/ 156 h 188"/>
                  <a:gd name="T2" fmla="*/ 23 w 42"/>
                  <a:gd name="T3" fmla="*/ 164 h 188"/>
                  <a:gd name="T4" fmla="*/ 0 w 42"/>
                  <a:gd name="T5" fmla="*/ 0 h 188"/>
                  <a:gd name="T6" fmla="*/ 14 w 42"/>
                  <a:gd name="T7" fmla="*/ 1 h 188"/>
                  <a:gd name="T8" fmla="*/ 39 w 42"/>
                  <a:gd name="T9" fmla="*/ 164 h 188"/>
                  <a:gd name="T10" fmla="*/ 27 w 42"/>
                  <a:gd name="T11" fmla="*/ 170 h 188"/>
                  <a:gd name="T12" fmla="*/ 39 w 42"/>
                  <a:gd name="T13" fmla="*/ 164 h 188"/>
                  <a:gd name="T14" fmla="*/ 42 w 42"/>
                  <a:gd name="T15" fmla="*/ 188 h 188"/>
                  <a:gd name="T16" fmla="*/ 27 w 42"/>
                  <a:gd name="T17" fmla="*/ 170 h 188"/>
                  <a:gd name="T18" fmla="*/ 35 w 42"/>
                  <a:gd name="T19" fmla="*/ 156 h 1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2"/>
                  <a:gd name="T31" fmla="*/ 0 h 188"/>
                  <a:gd name="T32" fmla="*/ 42 w 42"/>
                  <a:gd name="T33" fmla="*/ 188 h 18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2" h="188">
                    <a:moveTo>
                      <a:pt x="35" y="156"/>
                    </a:moveTo>
                    <a:lnTo>
                      <a:pt x="23" y="164"/>
                    </a:lnTo>
                    <a:lnTo>
                      <a:pt x="0" y="0"/>
                    </a:lnTo>
                    <a:lnTo>
                      <a:pt x="14" y="1"/>
                    </a:lnTo>
                    <a:lnTo>
                      <a:pt x="39" y="164"/>
                    </a:lnTo>
                    <a:lnTo>
                      <a:pt x="27" y="170"/>
                    </a:lnTo>
                    <a:lnTo>
                      <a:pt x="39" y="164"/>
                    </a:lnTo>
                    <a:lnTo>
                      <a:pt x="42" y="188"/>
                    </a:lnTo>
                    <a:lnTo>
                      <a:pt x="27" y="170"/>
                    </a:lnTo>
                    <a:lnTo>
                      <a:pt x="35" y="15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75" name="Freeform 271"/>
              <p:cNvSpPr>
                <a:spLocks/>
              </p:cNvSpPr>
              <p:nvPr/>
            </p:nvSpPr>
            <p:spPr bwMode="auto">
              <a:xfrm>
                <a:off x="2160" y="2670"/>
                <a:ext cx="121" cy="133"/>
              </a:xfrm>
              <a:custGeom>
                <a:avLst/>
                <a:gdLst>
                  <a:gd name="T0" fmla="*/ 18 w 121"/>
                  <a:gd name="T1" fmla="*/ 19 h 133"/>
                  <a:gd name="T2" fmla="*/ 18 w 121"/>
                  <a:gd name="T3" fmla="*/ 3 h 133"/>
                  <a:gd name="T4" fmla="*/ 121 w 121"/>
                  <a:gd name="T5" fmla="*/ 118 h 133"/>
                  <a:gd name="T6" fmla="*/ 112 w 121"/>
                  <a:gd name="T7" fmla="*/ 133 h 133"/>
                  <a:gd name="T8" fmla="*/ 10 w 121"/>
                  <a:gd name="T9" fmla="*/ 17 h 133"/>
                  <a:gd name="T10" fmla="*/ 10 w 121"/>
                  <a:gd name="T11" fmla="*/ 0 h 133"/>
                  <a:gd name="T12" fmla="*/ 10 w 121"/>
                  <a:gd name="T13" fmla="*/ 17 h 133"/>
                  <a:gd name="T14" fmla="*/ 0 w 121"/>
                  <a:gd name="T15" fmla="*/ 5 h 133"/>
                  <a:gd name="T16" fmla="*/ 10 w 121"/>
                  <a:gd name="T17" fmla="*/ 0 h 133"/>
                  <a:gd name="T18" fmla="*/ 18 w 121"/>
                  <a:gd name="T19" fmla="*/ 19 h 1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1"/>
                  <a:gd name="T31" fmla="*/ 0 h 133"/>
                  <a:gd name="T32" fmla="*/ 121 w 121"/>
                  <a:gd name="T33" fmla="*/ 133 h 13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1" h="133">
                    <a:moveTo>
                      <a:pt x="18" y="19"/>
                    </a:moveTo>
                    <a:lnTo>
                      <a:pt x="18" y="3"/>
                    </a:lnTo>
                    <a:lnTo>
                      <a:pt x="121" y="118"/>
                    </a:lnTo>
                    <a:lnTo>
                      <a:pt x="112" y="133"/>
                    </a:lnTo>
                    <a:lnTo>
                      <a:pt x="10" y="17"/>
                    </a:lnTo>
                    <a:lnTo>
                      <a:pt x="10" y="0"/>
                    </a:lnTo>
                    <a:lnTo>
                      <a:pt x="10" y="17"/>
                    </a:lnTo>
                    <a:lnTo>
                      <a:pt x="0" y="5"/>
                    </a:lnTo>
                    <a:lnTo>
                      <a:pt x="10" y="0"/>
                    </a:lnTo>
                    <a:lnTo>
                      <a:pt x="18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76" name="Freeform 272"/>
              <p:cNvSpPr>
                <a:spLocks/>
              </p:cNvSpPr>
              <p:nvPr/>
            </p:nvSpPr>
            <p:spPr bwMode="auto">
              <a:xfrm>
                <a:off x="2168" y="2617"/>
                <a:ext cx="89" cy="71"/>
              </a:xfrm>
              <a:custGeom>
                <a:avLst/>
                <a:gdLst>
                  <a:gd name="T0" fmla="*/ 75 w 89"/>
                  <a:gd name="T1" fmla="*/ 16 h 71"/>
                  <a:gd name="T2" fmla="*/ 87 w 89"/>
                  <a:gd name="T3" fmla="*/ 25 h 71"/>
                  <a:gd name="T4" fmla="*/ 8 w 89"/>
                  <a:gd name="T5" fmla="*/ 71 h 71"/>
                  <a:gd name="T6" fmla="*/ 0 w 89"/>
                  <a:gd name="T7" fmla="*/ 52 h 71"/>
                  <a:gd name="T8" fmla="*/ 79 w 89"/>
                  <a:gd name="T9" fmla="*/ 6 h 71"/>
                  <a:gd name="T10" fmla="*/ 89 w 89"/>
                  <a:gd name="T11" fmla="*/ 16 h 71"/>
                  <a:gd name="T12" fmla="*/ 79 w 89"/>
                  <a:gd name="T13" fmla="*/ 6 h 71"/>
                  <a:gd name="T14" fmla="*/ 88 w 89"/>
                  <a:gd name="T15" fmla="*/ 0 h 71"/>
                  <a:gd name="T16" fmla="*/ 89 w 89"/>
                  <a:gd name="T17" fmla="*/ 16 h 71"/>
                  <a:gd name="T18" fmla="*/ 75 w 89"/>
                  <a:gd name="T19" fmla="*/ 16 h 7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9"/>
                  <a:gd name="T31" fmla="*/ 0 h 71"/>
                  <a:gd name="T32" fmla="*/ 89 w 89"/>
                  <a:gd name="T33" fmla="*/ 71 h 7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9" h="71">
                    <a:moveTo>
                      <a:pt x="75" y="16"/>
                    </a:moveTo>
                    <a:lnTo>
                      <a:pt x="87" y="25"/>
                    </a:lnTo>
                    <a:lnTo>
                      <a:pt x="8" y="71"/>
                    </a:lnTo>
                    <a:lnTo>
                      <a:pt x="0" y="52"/>
                    </a:lnTo>
                    <a:lnTo>
                      <a:pt x="79" y="6"/>
                    </a:lnTo>
                    <a:lnTo>
                      <a:pt x="89" y="16"/>
                    </a:lnTo>
                    <a:lnTo>
                      <a:pt x="79" y="6"/>
                    </a:lnTo>
                    <a:lnTo>
                      <a:pt x="88" y="0"/>
                    </a:lnTo>
                    <a:lnTo>
                      <a:pt x="89" y="16"/>
                    </a:lnTo>
                    <a:lnTo>
                      <a:pt x="75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77" name="Freeform 273"/>
              <p:cNvSpPr>
                <a:spLocks/>
              </p:cNvSpPr>
              <p:nvPr/>
            </p:nvSpPr>
            <p:spPr bwMode="auto">
              <a:xfrm>
                <a:off x="2236" y="2738"/>
                <a:ext cx="37" cy="36"/>
              </a:xfrm>
              <a:custGeom>
                <a:avLst/>
                <a:gdLst>
                  <a:gd name="T0" fmla="*/ 29 w 37"/>
                  <a:gd name="T1" fmla="*/ 0 h 36"/>
                  <a:gd name="T2" fmla="*/ 37 w 37"/>
                  <a:gd name="T3" fmla="*/ 19 h 36"/>
                  <a:gd name="T4" fmla="*/ 8 w 37"/>
                  <a:gd name="T5" fmla="*/ 36 h 36"/>
                  <a:gd name="T6" fmla="*/ 0 w 37"/>
                  <a:gd name="T7" fmla="*/ 17 h 36"/>
                  <a:gd name="T8" fmla="*/ 29 w 37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36"/>
                  <a:gd name="T17" fmla="*/ 37 w 37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36">
                    <a:moveTo>
                      <a:pt x="29" y="0"/>
                    </a:moveTo>
                    <a:lnTo>
                      <a:pt x="37" y="19"/>
                    </a:lnTo>
                    <a:lnTo>
                      <a:pt x="8" y="36"/>
                    </a:lnTo>
                    <a:lnTo>
                      <a:pt x="0" y="17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78" name="Freeform 274"/>
              <p:cNvSpPr>
                <a:spLocks/>
              </p:cNvSpPr>
              <p:nvPr/>
            </p:nvSpPr>
            <p:spPr bwMode="auto">
              <a:xfrm>
                <a:off x="2150" y="2523"/>
                <a:ext cx="112" cy="230"/>
              </a:xfrm>
              <a:custGeom>
                <a:avLst/>
                <a:gdLst>
                  <a:gd name="T0" fmla="*/ 32 w 112"/>
                  <a:gd name="T1" fmla="*/ 0 h 230"/>
                  <a:gd name="T2" fmla="*/ 32 w 112"/>
                  <a:gd name="T3" fmla="*/ 0 h 230"/>
                  <a:gd name="T4" fmla="*/ 40 w 112"/>
                  <a:gd name="T5" fmla="*/ 27 h 230"/>
                  <a:gd name="T6" fmla="*/ 48 w 112"/>
                  <a:gd name="T7" fmla="*/ 56 h 230"/>
                  <a:gd name="T8" fmla="*/ 57 w 112"/>
                  <a:gd name="T9" fmla="*/ 84 h 230"/>
                  <a:gd name="T10" fmla="*/ 67 w 112"/>
                  <a:gd name="T11" fmla="*/ 109 h 230"/>
                  <a:gd name="T12" fmla="*/ 76 w 112"/>
                  <a:gd name="T13" fmla="*/ 136 h 230"/>
                  <a:gd name="T14" fmla="*/ 88 w 112"/>
                  <a:gd name="T15" fmla="*/ 163 h 230"/>
                  <a:gd name="T16" fmla="*/ 99 w 112"/>
                  <a:gd name="T17" fmla="*/ 187 h 230"/>
                  <a:gd name="T18" fmla="*/ 112 w 112"/>
                  <a:gd name="T19" fmla="*/ 213 h 230"/>
                  <a:gd name="T20" fmla="*/ 84 w 112"/>
                  <a:gd name="T21" fmla="*/ 230 h 230"/>
                  <a:gd name="T22" fmla="*/ 71 w 112"/>
                  <a:gd name="T23" fmla="*/ 204 h 230"/>
                  <a:gd name="T24" fmla="*/ 58 w 112"/>
                  <a:gd name="T25" fmla="*/ 176 h 230"/>
                  <a:gd name="T26" fmla="*/ 47 w 112"/>
                  <a:gd name="T27" fmla="*/ 150 h 230"/>
                  <a:gd name="T28" fmla="*/ 37 w 112"/>
                  <a:gd name="T29" fmla="*/ 122 h 230"/>
                  <a:gd name="T30" fmla="*/ 26 w 112"/>
                  <a:gd name="T31" fmla="*/ 94 h 230"/>
                  <a:gd name="T32" fmla="*/ 18 w 112"/>
                  <a:gd name="T33" fmla="*/ 64 h 230"/>
                  <a:gd name="T34" fmla="*/ 9 w 112"/>
                  <a:gd name="T35" fmla="*/ 34 h 230"/>
                  <a:gd name="T36" fmla="*/ 0 w 112"/>
                  <a:gd name="T37" fmla="*/ 4 h 230"/>
                  <a:gd name="T38" fmla="*/ 32 w 112"/>
                  <a:gd name="T39" fmla="*/ 0 h 2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2"/>
                  <a:gd name="T61" fmla="*/ 0 h 230"/>
                  <a:gd name="T62" fmla="*/ 112 w 112"/>
                  <a:gd name="T63" fmla="*/ 230 h 2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2" h="230">
                    <a:moveTo>
                      <a:pt x="32" y="0"/>
                    </a:moveTo>
                    <a:lnTo>
                      <a:pt x="32" y="0"/>
                    </a:lnTo>
                    <a:lnTo>
                      <a:pt x="40" y="27"/>
                    </a:lnTo>
                    <a:lnTo>
                      <a:pt x="48" y="56"/>
                    </a:lnTo>
                    <a:lnTo>
                      <a:pt x="57" y="84"/>
                    </a:lnTo>
                    <a:lnTo>
                      <a:pt x="67" y="109"/>
                    </a:lnTo>
                    <a:lnTo>
                      <a:pt x="76" y="136"/>
                    </a:lnTo>
                    <a:lnTo>
                      <a:pt x="88" y="163"/>
                    </a:lnTo>
                    <a:lnTo>
                      <a:pt x="99" y="187"/>
                    </a:lnTo>
                    <a:lnTo>
                      <a:pt x="112" y="213"/>
                    </a:lnTo>
                    <a:lnTo>
                      <a:pt x="84" y="230"/>
                    </a:lnTo>
                    <a:lnTo>
                      <a:pt x="71" y="204"/>
                    </a:lnTo>
                    <a:lnTo>
                      <a:pt x="58" y="176"/>
                    </a:lnTo>
                    <a:lnTo>
                      <a:pt x="47" y="150"/>
                    </a:lnTo>
                    <a:lnTo>
                      <a:pt x="37" y="122"/>
                    </a:lnTo>
                    <a:lnTo>
                      <a:pt x="26" y="94"/>
                    </a:lnTo>
                    <a:lnTo>
                      <a:pt x="18" y="64"/>
                    </a:lnTo>
                    <a:lnTo>
                      <a:pt x="9" y="34"/>
                    </a:lnTo>
                    <a:lnTo>
                      <a:pt x="0" y="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79" name="Freeform 275"/>
              <p:cNvSpPr>
                <a:spLocks/>
              </p:cNvSpPr>
              <p:nvPr/>
            </p:nvSpPr>
            <p:spPr bwMode="auto">
              <a:xfrm>
                <a:off x="2117" y="2318"/>
                <a:ext cx="61" cy="206"/>
              </a:xfrm>
              <a:custGeom>
                <a:avLst/>
                <a:gdLst>
                  <a:gd name="T0" fmla="*/ 33 w 61"/>
                  <a:gd name="T1" fmla="*/ 7 h 206"/>
                  <a:gd name="T2" fmla="*/ 36 w 61"/>
                  <a:gd name="T3" fmla="*/ 31 h 206"/>
                  <a:gd name="T4" fmla="*/ 38 w 61"/>
                  <a:gd name="T5" fmla="*/ 56 h 206"/>
                  <a:gd name="T6" fmla="*/ 40 w 61"/>
                  <a:gd name="T7" fmla="*/ 79 h 206"/>
                  <a:gd name="T8" fmla="*/ 43 w 61"/>
                  <a:gd name="T9" fmla="*/ 103 h 206"/>
                  <a:gd name="T10" fmla="*/ 46 w 61"/>
                  <a:gd name="T11" fmla="*/ 127 h 206"/>
                  <a:gd name="T12" fmla="*/ 51 w 61"/>
                  <a:gd name="T13" fmla="*/ 153 h 206"/>
                  <a:gd name="T14" fmla="*/ 56 w 61"/>
                  <a:gd name="T15" fmla="*/ 176 h 206"/>
                  <a:gd name="T16" fmla="*/ 61 w 61"/>
                  <a:gd name="T17" fmla="*/ 202 h 206"/>
                  <a:gd name="T18" fmla="*/ 30 w 61"/>
                  <a:gd name="T19" fmla="*/ 206 h 206"/>
                  <a:gd name="T20" fmla="*/ 24 w 61"/>
                  <a:gd name="T21" fmla="*/ 181 h 206"/>
                  <a:gd name="T22" fmla="*/ 18 w 61"/>
                  <a:gd name="T23" fmla="*/ 155 h 206"/>
                  <a:gd name="T24" fmla="*/ 14 w 61"/>
                  <a:gd name="T25" fmla="*/ 128 h 206"/>
                  <a:gd name="T26" fmla="*/ 11 w 61"/>
                  <a:gd name="T27" fmla="*/ 103 h 206"/>
                  <a:gd name="T28" fmla="*/ 7 w 61"/>
                  <a:gd name="T29" fmla="*/ 77 h 206"/>
                  <a:gd name="T30" fmla="*/ 5 w 61"/>
                  <a:gd name="T31" fmla="*/ 51 h 206"/>
                  <a:gd name="T32" fmla="*/ 2 w 61"/>
                  <a:gd name="T33" fmla="*/ 26 h 206"/>
                  <a:gd name="T34" fmla="*/ 0 w 61"/>
                  <a:gd name="T35" fmla="*/ 0 h 206"/>
                  <a:gd name="T36" fmla="*/ 33 w 61"/>
                  <a:gd name="T37" fmla="*/ 7 h 2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1"/>
                  <a:gd name="T58" fmla="*/ 0 h 206"/>
                  <a:gd name="T59" fmla="*/ 61 w 61"/>
                  <a:gd name="T60" fmla="*/ 206 h 2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1" h="206">
                    <a:moveTo>
                      <a:pt x="33" y="7"/>
                    </a:moveTo>
                    <a:lnTo>
                      <a:pt x="36" y="31"/>
                    </a:lnTo>
                    <a:lnTo>
                      <a:pt x="38" y="56"/>
                    </a:lnTo>
                    <a:lnTo>
                      <a:pt x="40" y="79"/>
                    </a:lnTo>
                    <a:lnTo>
                      <a:pt x="43" y="103"/>
                    </a:lnTo>
                    <a:lnTo>
                      <a:pt x="46" y="127"/>
                    </a:lnTo>
                    <a:lnTo>
                      <a:pt x="51" y="153"/>
                    </a:lnTo>
                    <a:lnTo>
                      <a:pt x="56" y="176"/>
                    </a:lnTo>
                    <a:lnTo>
                      <a:pt x="61" y="202"/>
                    </a:lnTo>
                    <a:lnTo>
                      <a:pt x="30" y="206"/>
                    </a:lnTo>
                    <a:lnTo>
                      <a:pt x="24" y="181"/>
                    </a:lnTo>
                    <a:lnTo>
                      <a:pt x="18" y="155"/>
                    </a:lnTo>
                    <a:lnTo>
                      <a:pt x="14" y="128"/>
                    </a:lnTo>
                    <a:lnTo>
                      <a:pt x="11" y="103"/>
                    </a:lnTo>
                    <a:lnTo>
                      <a:pt x="7" y="77"/>
                    </a:lnTo>
                    <a:lnTo>
                      <a:pt x="5" y="51"/>
                    </a:lnTo>
                    <a:lnTo>
                      <a:pt x="2" y="26"/>
                    </a:lnTo>
                    <a:lnTo>
                      <a:pt x="0" y="0"/>
                    </a:lnTo>
                    <a:lnTo>
                      <a:pt x="3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80" name="Freeform 276"/>
              <p:cNvSpPr>
                <a:spLocks/>
              </p:cNvSpPr>
              <p:nvPr/>
            </p:nvSpPr>
            <p:spPr bwMode="auto">
              <a:xfrm>
                <a:off x="2113" y="2295"/>
                <a:ext cx="35" cy="28"/>
              </a:xfrm>
              <a:custGeom>
                <a:avLst/>
                <a:gdLst>
                  <a:gd name="T0" fmla="*/ 1 w 35"/>
                  <a:gd name="T1" fmla="*/ 22 h 28"/>
                  <a:gd name="T2" fmla="*/ 0 w 35"/>
                  <a:gd name="T3" fmla="*/ 0 h 28"/>
                  <a:gd name="T4" fmla="*/ 35 w 35"/>
                  <a:gd name="T5" fmla="*/ 6 h 28"/>
                  <a:gd name="T6" fmla="*/ 35 w 35"/>
                  <a:gd name="T7" fmla="*/ 28 h 28"/>
                  <a:gd name="T8" fmla="*/ 1 w 35"/>
                  <a:gd name="T9" fmla="*/ 22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28"/>
                  <a:gd name="T17" fmla="*/ 35 w 35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28">
                    <a:moveTo>
                      <a:pt x="1" y="22"/>
                    </a:moveTo>
                    <a:lnTo>
                      <a:pt x="0" y="0"/>
                    </a:lnTo>
                    <a:lnTo>
                      <a:pt x="35" y="6"/>
                    </a:lnTo>
                    <a:lnTo>
                      <a:pt x="35" y="28"/>
                    </a:lnTo>
                    <a:lnTo>
                      <a:pt x="1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81" name="Freeform 277"/>
              <p:cNvSpPr>
                <a:spLocks/>
              </p:cNvSpPr>
              <p:nvPr/>
            </p:nvSpPr>
            <p:spPr bwMode="auto">
              <a:xfrm>
                <a:off x="2173" y="2631"/>
                <a:ext cx="102" cy="162"/>
              </a:xfrm>
              <a:custGeom>
                <a:avLst/>
                <a:gdLst>
                  <a:gd name="T0" fmla="*/ 80 w 102"/>
                  <a:gd name="T1" fmla="*/ 0 h 162"/>
                  <a:gd name="T2" fmla="*/ 102 w 102"/>
                  <a:gd name="T3" fmla="*/ 162 h 162"/>
                  <a:gd name="T4" fmla="*/ 0 w 102"/>
                  <a:gd name="T5" fmla="*/ 46 h 162"/>
                  <a:gd name="T6" fmla="*/ 80 w 102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2"/>
                  <a:gd name="T13" fmla="*/ 0 h 162"/>
                  <a:gd name="T14" fmla="*/ 102 w 102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2" h="162">
                    <a:moveTo>
                      <a:pt x="80" y="0"/>
                    </a:moveTo>
                    <a:lnTo>
                      <a:pt x="102" y="162"/>
                    </a:lnTo>
                    <a:lnTo>
                      <a:pt x="0" y="46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82" name="Freeform 278"/>
              <p:cNvSpPr>
                <a:spLocks/>
              </p:cNvSpPr>
              <p:nvPr/>
            </p:nvSpPr>
            <p:spPr bwMode="auto">
              <a:xfrm>
                <a:off x="2248" y="2635"/>
                <a:ext cx="34" cy="176"/>
              </a:xfrm>
              <a:custGeom>
                <a:avLst/>
                <a:gdLst>
                  <a:gd name="T0" fmla="*/ 31 w 34"/>
                  <a:gd name="T1" fmla="*/ 157 h 176"/>
                  <a:gd name="T2" fmla="*/ 23 w 34"/>
                  <a:gd name="T3" fmla="*/ 162 h 176"/>
                  <a:gd name="T4" fmla="*/ 0 w 34"/>
                  <a:gd name="T5" fmla="*/ 0 h 176"/>
                  <a:gd name="T6" fmla="*/ 8 w 34"/>
                  <a:gd name="T7" fmla="*/ 0 h 176"/>
                  <a:gd name="T8" fmla="*/ 32 w 34"/>
                  <a:gd name="T9" fmla="*/ 161 h 176"/>
                  <a:gd name="T10" fmla="*/ 25 w 34"/>
                  <a:gd name="T11" fmla="*/ 165 h 176"/>
                  <a:gd name="T12" fmla="*/ 32 w 34"/>
                  <a:gd name="T13" fmla="*/ 161 h 176"/>
                  <a:gd name="T14" fmla="*/ 34 w 34"/>
                  <a:gd name="T15" fmla="*/ 176 h 176"/>
                  <a:gd name="T16" fmla="*/ 25 w 34"/>
                  <a:gd name="T17" fmla="*/ 165 h 176"/>
                  <a:gd name="T18" fmla="*/ 31 w 34"/>
                  <a:gd name="T19" fmla="*/ 157 h 1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4"/>
                  <a:gd name="T31" fmla="*/ 0 h 176"/>
                  <a:gd name="T32" fmla="*/ 34 w 34"/>
                  <a:gd name="T33" fmla="*/ 176 h 1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4" h="176">
                    <a:moveTo>
                      <a:pt x="31" y="157"/>
                    </a:moveTo>
                    <a:lnTo>
                      <a:pt x="23" y="162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32" y="161"/>
                    </a:lnTo>
                    <a:lnTo>
                      <a:pt x="25" y="165"/>
                    </a:lnTo>
                    <a:lnTo>
                      <a:pt x="32" y="161"/>
                    </a:lnTo>
                    <a:lnTo>
                      <a:pt x="34" y="176"/>
                    </a:lnTo>
                    <a:lnTo>
                      <a:pt x="25" y="165"/>
                    </a:lnTo>
                    <a:lnTo>
                      <a:pt x="31" y="157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83" name="Freeform 279"/>
              <p:cNvSpPr>
                <a:spLocks/>
              </p:cNvSpPr>
              <p:nvPr/>
            </p:nvSpPr>
            <p:spPr bwMode="auto">
              <a:xfrm>
                <a:off x="2165" y="2674"/>
                <a:ext cx="114" cy="125"/>
              </a:xfrm>
              <a:custGeom>
                <a:avLst/>
                <a:gdLst>
                  <a:gd name="T0" fmla="*/ 11 w 114"/>
                  <a:gd name="T1" fmla="*/ 11 h 125"/>
                  <a:gd name="T2" fmla="*/ 11 w 114"/>
                  <a:gd name="T3" fmla="*/ 2 h 125"/>
                  <a:gd name="T4" fmla="*/ 114 w 114"/>
                  <a:gd name="T5" fmla="*/ 116 h 125"/>
                  <a:gd name="T6" fmla="*/ 107 w 114"/>
                  <a:gd name="T7" fmla="*/ 125 h 125"/>
                  <a:gd name="T8" fmla="*/ 6 w 114"/>
                  <a:gd name="T9" fmla="*/ 9 h 125"/>
                  <a:gd name="T10" fmla="*/ 6 w 114"/>
                  <a:gd name="T11" fmla="*/ 0 h 125"/>
                  <a:gd name="T12" fmla="*/ 6 w 114"/>
                  <a:gd name="T13" fmla="*/ 9 h 125"/>
                  <a:gd name="T14" fmla="*/ 0 w 114"/>
                  <a:gd name="T15" fmla="*/ 4 h 125"/>
                  <a:gd name="T16" fmla="*/ 6 w 114"/>
                  <a:gd name="T17" fmla="*/ 0 h 125"/>
                  <a:gd name="T18" fmla="*/ 11 w 114"/>
                  <a:gd name="T19" fmla="*/ 11 h 12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4"/>
                  <a:gd name="T31" fmla="*/ 0 h 125"/>
                  <a:gd name="T32" fmla="*/ 114 w 114"/>
                  <a:gd name="T33" fmla="*/ 125 h 12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4" h="125">
                    <a:moveTo>
                      <a:pt x="11" y="11"/>
                    </a:moveTo>
                    <a:lnTo>
                      <a:pt x="11" y="2"/>
                    </a:lnTo>
                    <a:lnTo>
                      <a:pt x="114" y="116"/>
                    </a:lnTo>
                    <a:lnTo>
                      <a:pt x="107" y="125"/>
                    </a:lnTo>
                    <a:lnTo>
                      <a:pt x="6" y="9"/>
                    </a:lnTo>
                    <a:lnTo>
                      <a:pt x="6" y="0"/>
                    </a:lnTo>
                    <a:lnTo>
                      <a:pt x="6" y="9"/>
                    </a:lnTo>
                    <a:lnTo>
                      <a:pt x="0" y="4"/>
                    </a:lnTo>
                    <a:lnTo>
                      <a:pt x="6" y="0"/>
                    </a:lnTo>
                    <a:lnTo>
                      <a:pt x="11" y="11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84" name="Freeform 280"/>
              <p:cNvSpPr>
                <a:spLocks/>
              </p:cNvSpPr>
              <p:nvPr/>
            </p:nvSpPr>
            <p:spPr bwMode="auto">
              <a:xfrm>
                <a:off x="2169" y="2625"/>
                <a:ext cx="86" cy="60"/>
              </a:xfrm>
              <a:custGeom>
                <a:avLst/>
                <a:gdLst>
                  <a:gd name="T0" fmla="*/ 78 w 86"/>
                  <a:gd name="T1" fmla="*/ 8 h 60"/>
                  <a:gd name="T2" fmla="*/ 84 w 86"/>
                  <a:gd name="T3" fmla="*/ 14 h 60"/>
                  <a:gd name="T4" fmla="*/ 4 w 86"/>
                  <a:gd name="T5" fmla="*/ 60 h 60"/>
                  <a:gd name="T6" fmla="*/ 0 w 86"/>
                  <a:gd name="T7" fmla="*/ 49 h 60"/>
                  <a:gd name="T8" fmla="*/ 80 w 86"/>
                  <a:gd name="T9" fmla="*/ 3 h 60"/>
                  <a:gd name="T10" fmla="*/ 86 w 86"/>
                  <a:gd name="T11" fmla="*/ 8 h 60"/>
                  <a:gd name="T12" fmla="*/ 80 w 86"/>
                  <a:gd name="T13" fmla="*/ 3 h 60"/>
                  <a:gd name="T14" fmla="*/ 84 w 86"/>
                  <a:gd name="T15" fmla="*/ 0 h 60"/>
                  <a:gd name="T16" fmla="*/ 86 w 86"/>
                  <a:gd name="T17" fmla="*/ 8 h 60"/>
                  <a:gd name="T18" fmla="*/ 78 w 86"/>
                  <a:gd name="T19" fmla="*/ 8 h 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6"/>
                  <a:gd name="T31" fmla="*/ 0 h 60"/>
                  <a:gd name="T32" fmla="*/ 86 w 86"/>
                  <a:gd name="T33" fmla="*/ 60 h 6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6" h="60">
                    <a:moveTo>
                      <a:pt x="78" y="8"/>
                    </a:moveTo>
                    <a:lnTo>
                      <a:pt x="84" y="14"/>
                    </a:lnTo>
                    <a:lnTo>
                      <a:pt x="4" y="60"/>
                    </a:lnTo>
                    <a:lnTo>
                      <a:pt x="0" y="49"/>
                    </a:lnTo>
                    <a:lnTo>
                      <a:pt x="80" y="3"/>
                    </a:lnTo>
                    <a:lnTo>
                      <a:pt x="86" y="8"/>
                    </a:lnTo>
                    <a:lnTo>
                      <a:pt x="80" y="3"/>
                    </a:lnTo>
                    <a:lnTo>
                      <a:pt x="84" y="0"/>
                    </a:lnTo>
                    <a:lnTo>
                      <a:pt x="86" y="8"/>
                    </a:lnTo>
                    <a:lnTo>
                      <a:pt x="78" y="8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85" name="Freeform 281"/>
              <p:cNvSpPr>
                <a:spLocks/>
              </p:cNvSpPr>
              <p:nvPr/>
            </p:nvSpPr>
            <p:spPr bwMode="auto">
              <a:xfrm>
                <a:off x="2239" y="2738"/>
                <a:ext cx="32" cy="32"/>
              </a:xfrm>
              <a:custGeom>
                <a:avLst/>
                <a:gdLst>
                  <a:gd name="T0" fmla="*/ 25 w 32"/>
                  <a:gd name="T1" fmla="*/ 0 h 32"/>
                  <a:gd name="T2" fmla="*/ 32 w 32"/>
                  <a:gd name="T3" fmla="*/ 17 h 32"/>
                  <a:gd name="T4" fmla="*/ 10 w 32"/>
                  <a:gd name="T5" fmla="*/ 32 h 32"/>
                  <a:gd name="T6" fmla="*/ 0 w 32"/>
                  <a:gd name="T7" fmla="*/ 15 h 32"/>
                  <a:gd name="T8" fmla="*/ 25 w 32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32"/>
                  <a:gd name="T17" fmla="*/ 32 w 32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32">
                    <a:moveTo>
                      <a:pt x="25" y="0"/>
                    </a:moveTo>
                    <a:lnTo>
                      <a:pt x="32" y="17"/>
                    </a:lnTo>
                    <a:lnTo>
                      <a:pt x="10" y="32"/>
                    </a:lnTo>
                    <a:lnTo>
                      <a:pt x="0" y="15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86" name="Freeform 282"/>
              <p:cNvSpPr>
                <a:spLocks/>
              </p:cNvSpPr>
              <p:nvPr/>
            </p:nvSpPr>
            <p:spPr bwMode="auto">
              <a:xfrm>
                <a:off x="2154" y="2522"/>
                <a:ext cx="104" cy="231"/>
              </a:xfrm>
              <a:custGeom>
                <a:avLst/>
                <a:gdLst>
                  <a:gd name="T0" fmla="*/ 26 w 104"/>
                  <a:gd name="T1" fmla="*/ 0 h 231"/>
                  <a:gd name="T2" fmla="*/ 26 w 104"/>
                  <a:gd name="T3" fmla="*/ 0 h 231"/>
                  <a:gd name="T4" fmla="*/ 33 w 104"/>
                  <a:gd name="T5" fmla="*/ 30 h 231"/>
                  <a:gd name="T6" fmla="*/ 41 w 104"/>
                  <a:gd name="T7" fmla="*/ 57 h 231"/>
                  <a:gd name="T8" fmla="*/ 50 w 104"/>
                  <a:gd name="T9" fmla="*/ 85 h 231"/>
                  <a:gd name="T10" fmla="*/ 61 w 104"/>
                  <a:gd name="T11" fmla="*/ 111 h 231"/>
                  <a:gd name="T12" fmla="*/ 70 w 104"/>
                  <a:gd name="T13" fmla="*/ 139 h 231"/>
                  <a:gd name="T14" fmla="*/ 82 w 104"/>
                  <a:gd name="T15" fmla="*/ 166 h 231"/>
                  <a:gd name="T16" fmla="*/ 93 w 104"/>
                  <a:gd name="T17" fmla="*/ 190 h 231"/>
                  <a:gd name="T18" fmla="*/ 104 w 104"/>
                  <a:gd name="T19" fmla="*/ 215 h 231"/>
                  <a:gd name="T20" fmla="*/ 83 w 104"/>
                  <a:gd name="T21" fmla="*/ 231 h 231"/>
                  <a:gd name="T22" fmla="*/ 69 w 104"/>
                  <a:gd name="T23" fmla="*/ 205 h 231"/>
                  <a:gd name="T24" fmla="*/ 57 w 104"/>
                  <a:gd name="T25" fmla="*/ 176 h 231"/>
                  <a:gd name="T26" fmla="*/ 46 w 104"/>
                  <a:gd name="T27" fmla="*/ 150 h 231"/>
                  <a:gd name="T28" fmla="*/ 35 w 104"/>
                  <a:gd name="T29" fmla="*/ 122 h 231"/>
                  <a:gd name="T30" fmla="*/ 25 w 104"/>
                  <a:gd name="T31" fmla="*/ 93 h 231"/>
                  <a:gd name="T32" fmla="*/ 17 w 104"/>
                  <a:gd name="T33" fmla="*/ 64 h 231"/>
                  <a:gd name="T34" fmla="*/ 7 w 104"/>
                  <a:gd name="T35" fmla="*/ 35 h 231"/>
                  <a:gd name="T36" fmla="*/ 0 w 104"/>
                  <a:gd name="T37" fmla="*/ 5 h 231"/>
                  <a:gd name="T38" fmla="*/ 26 w 104"/>
                  <a:gd name="T39" fmla="*/ 0 h 23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4"/>
                  <a:gd name="T61" fmla="*/ 0 h 231"/>
                  <a:gd name="T62" fmla="*/ 104 w 104"/>
                  <a:gd name="T63" fmla="*/ 231 h 23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4" h="231">
                    <a:moveTo>
                      <a:pt x="26" y="0"/>
                    </a:moveTo>
                    <a:lnTo>
                      <a:pt x="26" y="0"/>
                    </a:lnTo>
                    <a:lnTo>
                      <a:pt x="33" y="30"/>
                    </a:lnTo>
                    <a:lnTo>
                      <a:pt x="41" y="57"/>
                    </a:lnTo>
                    <a:lnTo>
                      <a:pt x="50" y="85"/>
                    </a:lnTo>
                    <a:lnTo>
                      <a:pt x="61" y="111"/>
                    </a:lnTo>
                    <a:lnTo>
                      <a:pt x="70" y="139"/>
                    </a:lnTo>
                    <a:lnTo>
                      <a:pt x="82" y="166"/>
                    </a:lnTo>
                    <a:lnTo>
                      <a:pt x="93" y="190"/>
                    </a:lnTo>
                    <a:lnTo>
                      <a:pt x="104" y="215"/>
                    </a:lnTo>
                    <a:lnTo>
                      <a:pt x="83" y="231"/>
                    </a:lnTo>
                    <a:lnTo>
                      <a:pt x="69" y="205"/>
                    </a:lnTo>
                    <a:lnTo>
                      <a:pt x="57" y="176"/>
                    </a:lnTo>
                    <a:lnTo>
                      <a:pt x="46" y="150"/>
                    </a:lnTo>
                    <a:lnTo>
                      <a:pt x="35" y="122"/>
                    </a:lnTo>
                    <a:lnTo>
                      <a:pt x="25" y="93"/>
                    </a:lnTo>
                    <a:lnTo>
                      <a:pt x="17" y="64"/>
                    </a:lnTo>
                    <a:lnTo>
                      <a:pt x="7" y="35"/>
                    </a:lnTo>
                    <a:lnTo>
                      <a:pt x="0" y="5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87" name="Freeform 283"/>
              <p:cNvSpPr>
                <a:spLocks/>
              </p:cNvSpPr>
              <p:nvPr/>
            </p:nvSpPr>
            <p:spPr bwMode="auto">
              <a:xfrm>
                <a:off x="2120" y="2320"/>
                <a:ext cx="55" cy="205"/>
              </a:xfrm>
              <a:custGeom>
                <a:avLst/>
                <a:gdLst>
                  <a:gd name="T0" fmla="*/ 29 w 55"/>
                  <a:gd name="T1" fmla="*/ 5 h 205"/>
                  <a:gd name="T2" fmla="*/ 30 w 55"/>
                  <a:gd name="T3" fmla="*/ 28 h 205"/>
                  <a:gd name="T4" fmla="*/ 31 w 55"/>
                  <a:gd name="T5" fmla="*/ 54 h 205"/>
                  <a:gd name="T6" fmla="*/ 34 w 55"/>
                  <a:gd name="T7" fmla="*/ 77 h 205"/>
                  <a:gd name="T8" fmla="*/ 37 w 55"/>
                  <a:gd name="T9" fmla="*/ 102 h 205"/>
                  <a:gd name="T10" fmla="*/ 40 w 55"/>
                  <a:gd name="T11" fmla="*/ 126 h 205"/>
                  <a:gd name="T12" fmla="*/ 44 w 55"/>
                  <a:gd name="T13" fmla="*/ 151 h 205"/>
                  <a:gd name="T14" fmla="*/ 51 w 55"/>
                  <a:gd name="T15" fmla="*/ 175 h 205"/>
                  <a:gd name="T16" fmla="*/ 55 w 55"/>
                  <a:gd name="T17" fmla="*/ 201 h 205"/>
                  <a:gd name="T18" fmla="*/ 29 w 55"/>
                  <a:gd name="T19" fmla="*/ 205 h 205"/>
                  <a:gd name="T20" fmla="*/ 23 w 55"/>
                  <a:gd name="T21" fmla="*/ 180 h 205"/>
                  <a:gd name="T22" fmla="*/ 18 w 55"/>
                  <a:gd name="T23" fmla="*/ 154 h 205"/>
                  <a:gd name="T24" fmla="*/ 13 w 55"/>
                  <a:gd name="T25" fmla="*/ 126 h 205"/>
                  <a:gd name="T26" fmla="*/ 9 w 55"/>
                  <a:gd name="T27" fmla="*/ 102 h 205"/>
                  <a:gd name="T28" fmla="*/ 6 w 55"/>
                  <a:gd name="T29" fmla="*/ 76 h 205"/>
                  <a:gd name="T30" fmla="*/ 4 w 55"/>
                  <a:gd name="T31" fmla="*/ 50 h 205"/>
                  <a:gd name="T32" fmla="*/ 2 w 55"/>
                  <a:gd name="T33" fmla="*/ 25 h 205"/>
                  <a:gd name="T34" fmla="*/ 0 w 55"/>
                  <a:gd name="T35" fmla="*/ 0 h 205"/>
                  <a:gd name="T36" fmla="*/ 29 w 55"/>
                  <a:gd name="T37" fmla="*/ 5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5"/>
                  <a:gd name="T58" fmla="*/ 0 h 205"/>
                  <a:gd name="T59" fmla="*/ 55 w 55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5" h="205">
                    <a:moveTo>
                      <a:pt x="29" y="5"/>
                    </a:moveTo>
                    <a:lnTo>
                      <a:pt x="30" y="28"/>
                    </a:lnTo>
                    <a:lnTo>
                      <a:pt x="31" y="54"/>
                    </a:lnTo>
                    <a:lnTo>
                      <a:pt x="34" y="77"/>
                    </a:lnTo>
                    <a:lnTo>
                      <a:pt x="37" y="102"/>
                    </a:lnTo>
                    <a:lnTo>
                      <a:pt x="40" y="126"/>
                    </a:lnTo>
                    <a:lnTo>
                      <a:pt x="44" y="151"/>
                    </a:lnTo>
                    <a:lnTo>
                      <a:pt x="51" y="175"/>
                    </a:lnTo>
                    <a:lnTo>
                      <a:pt x="55" y="201"/>
                    </a:lnTo>
                    <a:lnTo>
                      <a:pt x="29" y="205"/>
                    </a:lnTo>
                    <a:lnTo>
                      <a:pt x="23" y="180"/>
                    </a:lnTo>
                    <a:lnTo>
                      <a:pt x="18" y="154"/>
                    </a:lnTo>
                    <a:lnTo>
                      <a:pt x="13" y="126"/>
                    </a:lnTo>
                    <a:lnTo>
                      <a:pt x="9" y="102"/>
                    </a:lnTo>
                    <a:lnTo>
                      <a:pt x="6" y="76"/>
                    </a:lnTo>
                    <a:lnTo>
                      <a:pt x="4" y="50"/>
                    </a:lnTo>
                    <a:lnTo>
                      <a:pt x="2" y="25"/>
                    </a:lnTo>
                    <a:lnTo>
                      <a:pt x="0" y="0"/>
                    </a:lnTo>
                    <a:lnTo>
                      <a:pt x="29" y="5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88" name="Freeform 284"/>
              <p:cNvSpPr>
                <a:spLocks/>
              </p:cNvSpPr>
              <p:nvPr/>
            </p:nvSpPr>
            <p:spPr bwMode="auto">
              <a:xfrm>
                <a:off x="2115" y="2301"/>
                <a:ext cx="31" cy="22"/>
              </a:xfrm>
              <a:custGeom>
                <a:avLst/>
                <a:gdLst>
                  <a:gd name="T0" fmla="*/ 1 w 31"/>
                  <a:gd name="T1" fmla="*/ 18 h 22"/>
                  <a:gd name="T2" fmla="*/ 0 w 31"/>
                  <a:gd name="T3" fmla="*/ 0 h 22"/>
                  <a:gd name="T4" fmla="*/ 30 w 31"/>
                  <a:gd name="T5" fmla="*/ 4 h 22"/>
                  <a:gd name="T6" fmla="*/ 31 w 31"/>
                  <a:gd name="T7" fmla="*/ 22 h 22"/>
                  <a:gd name="T8" fmla="*/ 1 w 31"/>
                  <a:gd name="T9" fmla="*/ 18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22"/>
                  <a:gd name="T17" fmla="*/ 31 w 31"/>
                  <a:gd name="T18" fmla="*/ 22 h 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22">
                    <a:moveTo>
                      <a:pt x="1" y="18"/>
                    </a:moveTo>
                    <a:lnTo>
                      <a:pt x="0" y="0"/>
                    </a:lnTo>
                    <a:lnTo>
                      <a:pt x="30" y="4"/>
                    </a:lnTo>
                    <a:lnTo>
                      <a:pt x="31" y="22"/>
                    </a:lnTo>
                    <a:lnTo>
                      <a:pt x="1" y="18"/>
                    </a:lnTo>
                    <a:close/>
                  </a:path>
                </a:pathLst>
              </a:custGeom>
              <a:solidFill>
                <a:srgbClr val="3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89" name="Freeform 285"/>
              <p:cNvSpPr>
                <a:spLocks/>
              </p:cNvSpPr>
              <p:nvPr/>
            </p:nvSpPr>
            <p:spPr bwMode="auto">
              <a:xfrm>
                <a:off x="2190" y="2665"/>
                <a:ext cx="106" cy="163"/>
              </a:xfrm>
              <a:custGeom>
                <a:avLst/>
                <a:gdLst>
                  <a:gd name="T0" fmla="*/ 75 w 106"/>
                  <a:gd name="T1" fmla="*/ 0 h 163"/>
                  <a:gd name="T2" fmla="*/ 106 w 106"/>
                  <a:gd name="T3" fmla="*/ 163 h 163"/>
                  <a:gd name="T4" fmla="*/ 0 w 106"/>
                  <a:gd name="T5" fmla="*/ 54 h 163"/>
                  <a:gd name="T6" fmla="*/ 75 w 106"/>
                  <a:gd name="T7" fmla="*/ 0 h 1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6"/>
                  <a:gd name="T13" fmla="*/ 0 h 163"/>
                  <a:gd name="T14" fmla="*/ 106 w 106"/>
                  <a:gd name="T15" fmla="*/ 163 h 1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6" h="163">
                    <a:moveTo>
                      <a:pt x="75" y="0"/>
                    </a:moveTo>
                    <a:lnTo>
                      <a:pt x="106" y="163"/>
                    </a:lnTo>
                    <a:lnTo>
                      <a:pt x="0" y="54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90" name="Freeform 286"/>
              <p:cNvSpPr>
                <a:spLocks/>
              </p:cNvSpPr>
              <p:nvPr/>
            </p:nvSpPr>
            <p:spPr bwMode="auto">
              <a:xfrm>
                <a:off x="2259" y="2665"/>
                <a:ext cx="48" cy="188"/>
              </a:xfrm>
              <a:custGeom>
                <a:avLst/>
                <a:gdLst>
                  <a:gd name="T0" fmla="*/ 41 w 48"/>
                  <a:gd name="T1" fmla="*/ 156 h 188"/>
                  <a:gd name="T2" fmla="*/ 29 w 48"/>
                  <a:gd name="T3" fmla="*/ 165 h 188"/>
                  <a:gd name="T4" fmla="*/ 0 w 48"/>
                  <a:gd name="T5" fmla="*/ 1 h 188"/>
                  <a:gd name="T6" fmla="*/ 15 w 48"/>
                  <a:gd name="T7" fmla="*/ 0 h 188"/>
                  <a:gd name="T8" fmla="*/ 44 w 48"/>
                  <a:gd name="T9" fmla="*/ 164 h 188"/>
                  <a:gd name="T10" fmla="*/ 32 w 48"/>
                  <a:gd name="T11" fmla="*/ 171 h 188"/>
                  <a:gd name="T12" fmla="*/ 44 w 48"/>
                  <a:gd name="T13" fmla="*/ 164 h 188"/>
                  <a:gd name="T14" fmla="*/ 48 w 48"/>
                  <a:gd name="T15" fmla="*/ 188 h 188"/>
                  <a:gd name="T16" fmla="*/ 32 w 48"/>
                  <a:gd name="T17" fmla="*/ 171 h 188"/>
                  <a:gd name="T18" fmla="*/ 41 w 48"/>
                  <a:gd name="T19" fmla="*/ 156 h 1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8"/>
                  <a:gd name="T31" fmla="*/ 0 h 188"/>
                  <a:gd name="T32" fmla="*/ 48 w 48"/>
                  <a:gd name="T33" fmla="*/ 188 h 18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8" h="188">
                    <a:moveTo>
                      <a:pt x="41" y="156"/>
                    </a:moveTo>
                    <a:lnTo>
                      <a:pt x="29" y="165"/>
                    </a:lnTo>
                    <a:lnTo>
                      <a:pt x="0" y="1"/>
                    </a:lnTo>
                    <a:lnTo>
                      <a:pt x="15" y="0"/>
                    </a:lnTo>
                    <a:lnTo>
                      <a:pt x="44" y="164"/>
                    </a:lnTo>
                    <a:lnTo>
                      <a:pt x="32" y="171"/>
                    </a:lnTo>
                    <a:lnTo>
                      <a:pt x="44" y="164"/>
                    </a:lnTo>
                    <a:lnTo>
                      <a:pt x="48" y="188"/>
                    </a:lnTo>
                    <a:lnTo>
                      <a:pt x="32" y="171"/>
                    </a:lnTo>
                    <a:lnTo>
                      <a:pt x="41" y="15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91" name="Freeform 287"/>
              <p:cNvSpPr>
                <a:spLocks/>
              </p:cNvSpPr>
              <p:nvPr/>
            </p:nvSpPr>
            <p:spPr bwMode="auto">
              <a:xfrm>
                <a:off x="2177" y="2710"/>
                <a:ext cx="123" cy="126"/>
              </a:xfrm>
              <a:custGeom>
                <a:avLst/>
                <a:gdLst>
                  <a:gd name="T0" fmla="*/ 18 w 123"/>
                  <a:gd name="T1" fmla="*/ 19 h 126"/>
                  <a:gd name="T2" fmla="*/ 18 w 123"/>
                  <a:gd name="T3" fmla="*/ 2 h 126"/>
                  <a:gd name="T4" fmla="*/ 123 w 123"/>
                  <a:gd name="T5" fmla="*/ 113 h 126"/>
                  <a:gd name="T6" fmla="*/ 114 w 123"/>
                  <a:gd name="T7" fmla="*/ 126 h 126"/>
                  <a:gd name="T8" fmla="*/ 11 w 123"/>
                  <a:gd name="T9" fmla="*/ 17 h 126"/>
                  <a:gd name="T10" fmla="*/ 9 w 123"/>
                  <a:gd name="T11" fmla="*/ 0 h 126"/>
                  <a:gd name="T12" fmla="*/ 11 w 123"/>
                  <a:gd name="T13" fmla="*/ 17 h 126"/>
                  <a:gd name="T14" fmla="*/ 0 w 123"/>
                  <a:gd name="T15" fmla="*/ 7 h 126"/>
                  <a:gd name="T16" fmla="*/ 9 w 123"/>
                  <a:gd name="T17" fmla="*/ 0 h 126"/>
                  <a:gd name="T18" fmla="*/ 18 w 123"/>
                  <a:gd name="T19" fmla="*/ 19 h 12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3"/>
                  <a:gd name="T31" fmla="*/ 0 h 126"/>
                  <a:gd name="T32" fmla="*/ 123 w 123"/>
                  <a:gd name="T33" fmla="*/ 126 h 12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3" h="126">
                    <a:moveTo>
                      <a:pt x="18" y="19"/>
                    </a:moveTo>
                    <a:lnTo>
                      <a:pt x="18" y="2"/>
                    </a:lnTo>
                    <a:lnTo>
                      <a:pt x="123" y="113"/>
                    </a:lnTo>
                    <a:lnTo>
                      <a:pt x="114" y="126"/>
                    </a:lnTo>
                    <a:lnTo>
                      <a:pt x="11" y="17"/>
                    </a:lnTo>
                    <a:lnTo>
                      <a:pt x="9" y="0"/>
                    </a:lnTo>
                    <a:lnTo>
                      <a:pt x="11" y="17"/>
                    </a:lnTo>
                    <a:lnTo>
                      <a:pt x="0" y="7"/>
                    </a:lnTo>
                    <a:lnTo>
                      <a:pt x="9" y="0"/>
                    </a:lnTo>
                    <a:lnTo>
                      <a:pt x="18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92" name="Freeform 288"/>
              <p:cNvSpPr>
                <a:spLocks/>
              </p:cNvSpPr>
              <p:nvPr/>
            </p:nvSpPr>
            <p:spPr bwMode="auto">
              <a:xfrm>
                <a:off x="2184" y="2649"/>
                <a:ext cx="88" cy="79"/>
              </a:xfrm>
              <a:custGeom>
                <a:avLst/>
                <a:gdLst>
                  <a:gd name="T0" fmla="*/ 73 w 88"/>
                  <a:gd name="T1" fmla="*/ 17 h 79"/>
                  <a:gd name="T2" fmla="*/ 86 w 88"/>
                  <a:gd name="T3" fmla="*/ 26 h 79"/>
                  <a:gd name="T4" fmla="*/ 8 w 88"/>
                  <a:gd name="T5" fmla="*/ 79 h 79"/>
                  <a:gd name="T6" fmla="*/ 0 w 88"/>
                  <a:gd name="T7" fmla="*/ 60 h 79"/>
                  <a:gd name="T8" fmla="*/ 76 w 88"/>
                  <a:gd name="T9" fmla="*/ 7 h 79"/>
                  <a:gd name="T10" fmla="*/ 88 w 88"/>
                  <a:gd name="T11" fmla="*/ 16 h 79"/>
                  <a:gd name="T12" fmla="*/ 76 w 88"/>
                  <a:gd name="T13" fmla="*/ 7 h 79"/>
                  <a:gd name="T14" fmla="*/ 86 w 88"/>
                  <a:gd name="T15" fmla="*/ 0 h 79"/>
                  <a:gd name="T16" fmla="*/ 88 w 88"/>
                  <a:gd name="T17" fmla="*/ 16 h 79"/>
                  <a:gd name="T18" fmla="*/ 73 w 88"/>
                  <a:gd name="T19" fmla="*/ 17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8"/>
                  <a:gd name="T31" fmla="*/ 0 h 79"/>
                  <a:gd name="T32" fmla="*/ 88 w 88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8" h="79">
                    <a:moveTo>
                      <a:pt x="73" y="17"/>
                    </a:moveTo>
                    <a:lnTo>
                      <a:pt x="86" y="26"/>
                    </a:lnTo>
                    <a:lnTo>
                      <a:pt x="8" y="79"/>
                    </a:lnTo>
                    <a:lnTo>
                      <a:pt x="0" y="60"/>
                    </a:lnTo>
                    <a:lnTo>
                      <a:pt x="76" y="7"/>
                    </a:lnTo>
                    <a:lnTo>
                      <a:pt x="88" y="16"/>
                    </a:lnTo>
                    <a:lnTo>
                      <a:pt x="76" y="7"/>
                    </a:lnTo>
                    <a:lnTo>
                      <a:pt x="86" y="0"/>
                    </a:lnTo>
                    <a:lnTo>
                      <a:pt x="88" y="16"/>
                    </a:lnTo>
                    <a:lnTo>
                      <a:pt x="73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93" name="Freeform 289"/>
              <p:cNvSpPr>
                <a:spLocks/>
              </p:cNvSpPr>
              <p:nvPr/>
            </p:nvSpPr>
            <p:spPr bwMode="auto">
              <a:xfrm>
                <a:off x="2255" y="2771"/>
                <a:ext cx="38" cy="40"/>
              </a:xfrm>
              <a:custGeom>
                <a:avLst/>
                <a:gdLst>
                  <a:gd name="T0" fmla="*/ 27 w 38"/>
                  <a:gd name="T1" fmla="*/ 0 h 40"/>
                  <a:gd name="T2" fmla="*/ 38 w 38"/>
                  <a:gd name="T3" fmla="*/ 19 h 40"/>
                  <a:gd name="T4" fmla="*/ 11 w 38"/>
                  <a:gd name="T5" fmla="*/ 40 h 40"/>
                  <a:gd name="T6" fmla="*/ 0 w 38"/>
                  <a:gd name="T7" fmla="*/ 20 h 40"/>
                  <a:gd name="T8" fmla="*/ 27 w 38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40"/>
                  <a:gd name="T17" fmla="*/ 38 w 38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40">
                    <a:moveTo>
                      <a:pt x="27" y="0"/>
                    </a:moveTo>
                    <a:lnTo>
                      <a:pt x="38" y="19"/>
                    </a:lnTo>
                    <a:lnTo>
                      <a:pt x="11" y="40"/>
                    </a:lnTo>
                    <a:lnTo>
                      <a:pt x="0" y="2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94" name="Freeform 290"/>
              <p:cNvSpPr>
                <a:spLocks/>
              </p:cNvSpPr>
              <p:nvPr/>
            </p:nvSpPr>
            <p:spPr bwMode="auto">
              <a:xfrm>
                <a:off x="2163" y="2558"/>
                <a:ext cx="117" cy="231"/>
              </a:xfrm>
              <a:custGeom>
                <a:avLst/>
                <a:gdLst>
                  <a:gd name="T0" fmla="*/ 31 w 117"/>
                  <a:gd name="T1" fmla="*/ 0 h 231"/>
                  <a:gd name="T2" fmla="*/ 31 w 117"/>
                  <a:gd name="T3" fmla="*/ 0 h 231"/>
                  <a:gd name="T4" fmla="*/ 40 w 117"/>
                  <a:gd name="T5" fmla="*/ 28 h 231"/>
                  <a:gd name="T6" fmla="*/ 49 w 117"/>
                  <a:gd name="T7" fmla="*/ 57 h 231"/>
                  <a:gd name="T8" fmla="*/ 58 w 117"/>
                  <a:gd name="T9" fmla="*/ 84 h 231"/>
                  <a:gd name="T10" fmla="*/ 70 w 117"/>
                  <a:gd name="T11" fmla="*/ 111 h 231"/>
                  <a:gd name="T12" fmla="*/ 79 w 117"/>
                  <a:gd name="T13" fmla="*/ 137 h 231"/>
                  <a:gd name="T14" fmla="*/ 92 w 117"/>
                  <a:gd name="T15" fmla="*/ 162 h 231"/>
                  <a:gd name="T16" fmla="*/ 104 w 117"/>
                  <a:gd name="T17" fmla="*/ 187 h 231"/>
                  <a:gd name="T18" fmla="*/ 117 w 117"/>
                  <a:gd name="T19" fmla="*/ 212 h 231"/>
                  <a:gd name="T20" fmla="*/ 92 w 117"/>
                  <a:gd name="T21" fmla="*/ 231 h 231"/>
                  <a:gd name="T22" fmla="*/ 78 w 117"/>
                  <a:gd name="T23" fmla="*/ 206 h 231"/>
                  <a:gd name="T24" fmla="*/ 64 w 117"/>
                  <a:gd name="T25" fmla="*/ 180 h 231"/>
                  <a:gd name="T26" fmla="*/ 52 w 117"/>
                  <a:gd name="T27" fmla="*/ 153 h 231"/>
                  <a:gd name="T28" fmla="*/ 40 w 117"/>
                  <a:gd name="T29" fmla="*/ 124 h 231"/>
                  <a:gd name="T30" fmla="*/ 29 w 117"/>
                  <a:gd name="T31" fmla="*/ 97 h 231"/>
                  <a:gd name="T32" fmla="*/ 18 w 117"/>
                  <a:gd name="T33" fmla="*/ 67 h 231"/>
                  <a:gd name="T34" fmla="*/ 9 w 117"/>
                  <a:gd name="T35" fmla="*/ 39 h 231"/>
                  <a:gd name="T36" fmla="*/ 0 w 117"/>
                  <a:gd name="T37" fmla="*/ 9 h 231"/>
                  <a:gd name="T38" fmla="*/ 31 w 117"/>
                  <a:gd name="T39" fmla="*/ 0 h 23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7"/>
                  <a:gd name="T61" fmla="*/ 0 h 231"/>
                  <a:gd name="T62" fmla="*/ 117 w 117"/>
                  <a:gd name="T63" fmla="*/ 231 h 23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7" h="231">
                    <a:moveTo>
                      <a:pt x="31" y="0"/>
                    </a:moveTo>
                    <a:lnTo>
                      <a:pt x="31" y="0"/>
                    </a:lnTo>
                    <a:lnTo>
                      <a:pt x="40" y="28"/>
                    </a:lnTo>
                    <a:lnTo>
                      <a:pt x="49" y="57"/>
                    </a:lnTo>
                    <a:lnTo>
                      <a:pt x="58" y="84"/>
                    </a:lnTo>
                    <a:lnTo>
                      <a:pt x="70" y="111"/>
                    </a:lnTo>
                    <a:lnTo>
                      <a:pt x="79" y="137"/>
                    </a:lnTo>
                    <a:lnTo>
                      <a:pt x="92" y="162"/>
                    </a:lnTo>
                    <a:lnTo>
                      <a:pt x="104" y="187"/>
                    </a:lnTo>
                    <a:lnTo>
                      <a:pt x="117" y="212"/>
                    </a:lnTo>
                    <a:lnTo>
                      <a:pt x="92" y="231"/>
                    </a:lnTo>
                    <a:lnTo>
                      <a:pt x="78" y="206"/>
                    </a:lnTo>
                    <a:lnTo>
                      <a:pt x="64" y="180"/>
                    </a:lnTo>
                    <a:lnTo>
                      <a:pt x="52" y="153"/>
                    </a:lnTo>
                    <a:lnTo>
                      <a:pt x="40" y="124"/>
                    </a:lnTo>
                    <a:lnTo>
                      <a:pt x="29" y="97"/>
                    </a:lnTo>
                    <a:lnTo>
                      <a:pt x="18" y="67"/>
                    </a:lnTo>
                    <a:lnTo>
                      <a:pt x="9" y="39"/>
                    </a:lnTo>
                    <a:lnTo>
                      <a:pt x="0" y="9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95" name="Freeform 291"/>
              <p:cNvSpPr>
                <a:spLocks/>
              </p:cNvSpPr>
              <p:nvPr/>
            </p:nvSpPr>
            <p:spPr bwMode="auto">
              <a:xfrm>
                <a:off x="2123" y="2358"/>
                <a:ext cx="67" cy="207"/>
              </a:xfrm>
              <a:custGeom>
                <a:avLst/>
                <a:gdLst>
                  <a:gd name="T0" fmla="*/ 31 w 67"/>
                  <a:gd name="T1" fmla="*/ 4 h 207"/>
                  <a:gd name="T2" fmla="*/ 34 w 67"/>
                  <a:gd name="T3" fmla="*/ 27 h 207"/>
                  <a:gd name="T4" fmla="*/ 37 w 67"/>
                  <a:gd name="T5" fmla="*/ 51 h 207"/>
                  <a:gd name="T6" fmla="*/ 40 w 67"/>
                  <a:gd name="T7" fmla="*/ 77 h 207"/>
                  <a:gd name="T8" fmla="*/ 45 w 67"/>
                  <a:gd name="T9" fmla="*/ 101 h 207"/>
                  <a:gd name="T10" fmla="*/ 49 w 67"/>
                  <a:gd name="T11" fmla="*/ 125 h 207"/>
                  <a:gd name="T12" fmla="*/ 55 w 67"/>
                  <a:gd name="T13" fmla="*/ 150 h 207"/>
                  <a:gd name="T14" fmla="*/ 61 w 67"/>
                  <a:gd name="T15" fmla="*/ 175 h 207"/>
                  <a:gd name="T16" fmla="*/ 67 w 67"/>
                  <a:gd name="T17" fmla="*/ 199 h 207"/>
                  <a:gd name="T18" fmla="*/ 37 w 67"/>
                  <a:gd name="T19" fmla="*/ 207 h 207"/>
                  <a:gd name="T20" fmla="*/ 31 w 67"/>
                  <a:gd name="T21" fmla="*/ 180 h 207"/>
                  <a:gd name="T22" fmla="*/ 23 w 67"/>
                  <a:gd name="T23" fmla="*/ 153 h 207"/>
                  <a:gd name="T24" fmla="*/ 18 w 67"/>
                  <a:gd name="T25" fmla="*/ 128 h 207"/>
                  <a:gd name="T26" fmla="*/ 11 w 67"/>
                  <a:gd name="T27" fmla="*/ 102 h 207"/>
                  <a:gd name="T28" fmla="*/ 8 w 67"/>
                  <a:gd name="T29" fmla="*/ 77 h 207"/>
                  <a:gd name="T30" fmla="*/ 4 w 67"/>
                  <a:gd name="T31" fmla="*/ 51 h 207"/>
                  <a:gd name="T32" fmla="*/ 1 w 67"/>
                  <a:gd name="T33" fmla="*/ 24 h 207"/>
                  <a:gd name="T34" fmla="*/ 0 w 67"/>
                  <a:gd name="T35" fmla="*/ 0 h 207"/>
                  <a:gd name="T36" fmla="*/ 31 w 67"/>
                  <a:gd name="T37" fmla="*/ 4 h 20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7"/>
                  <a:gd name="T58" fmla="*/ 0 h 207"/>
                  <a:gd name="T59" fmla="*/ 67 w 67"/>
                  <a:gd name="T60" fmla="*/ 207 h 20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7" h="207">
                    <a:moveTo>
                      <a:pt x="31" y="4"/>
                    </a:moveTo>
                    <a:lnTo>
                      <a:pt x="34" y="27"/>
                    </a:lnTo>
                    <a:lnTo>
                      <a:pt x="37" y="51"/>
                    </a:lnTo>
                    <a:lnTo>
                      <a:pt x="40" y="77"/>
                    </a:lnTo>
                    <a:lnTo>
                      <a:pt x="45" y="101"/>
                    </a:lnTo>
                    <a:lnTo>
                      <a:pt x="49" y="125"/>
                    </a:lnTo>
                    <a:lnTo>
                      <a:pt x="55" y="150"/>
                    </a:lnTo>
                    <a:lnTo>
                      <a:pt x="61" y="175"/>
                    </a:lnTo>
                    <a:lnTo>
                      <a:pt x="67" y="199"/>
                    </a:lnTo>
                    <a:lnTo>
                      <a:pt x="37" y="207"/>
                    </a:lnTo>
                    <a:lnTo>
                      <a:pt x="31" y="180"/>
                    </a:lnTo>
                    <a:lnTo>
                      <a:pt x="23" y="153"/>
                    </a:lnTo>
                    <a:lnTo>
                      <a:pt x="18" y="128"/>
                    </a:lnTo>
                    <a:lnTo>
                      <a:pt x="11" y="102"/>
                    </a:lnTo>
                    <a:lnTo>
                      <a:pt x="8" y="77"/>
                    </a:lnTo>
                    <a:lnTo>
                      <a:pt x="4" y="51"/>
                    </a:lnTo>
                    <a:lnTo>
                      <a:pt x="1" y="24"/>
                    </a:lnTo>
                    <a:lnTo>
                      <a:pt x="0" y="0"/>
                    </a:lnTo>
                    <a:lnTo>
                      <a:pt x="3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96" name="Freeform 292"/>
              <p:cNvSpPr>
                <a:spLocks/>
              </p:cNvSpPr>
              <p:nvPr/>
            </p:nvSpPr>
            <p:spPr bwMode="auto">
              <a:xfrm>
                <a:off x="2118" y="2334"/>
                <a:ext cx="36" cy="27"/>
              </a:xfrm>
              <a:custGeom>
                <a:avLst/>
                <a:gdLst>
                  <a:gd name="T0" fmla="*/ 2 w 36"/>
                  <a:gd name="T1" fmla="*/ 23 h 27"/>
                  <a:gd name="T2" fmla="*/ 0 w 36"/>
                  <a:gd name="T3" fmla="*/ 0 h 27"/>
                  <a:gd name="T4" fmla="*/ 33 w 36"/>
                  <a:gd name="T5" fmla="*/ 4 h 27"/>
                  <a:gd name="T6" fmla="*/ 36 w 36"/>
                  <a:gd name="T7" fmla="*/ 27 h 27"/>
                  <a:gd name="T8" fmla="*/ 2 w 36"/>
                  <a:gd name="T9" fmla="*/ 23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27"/>
                  <a:gd name="T17" fmla="*/ 36 w 36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27">
                    <a:moveTo>
                      <a:pt x="2" y="23"/>
                    </a:moveTo>
                    <a:lnTo>
                      <a:pt x="0" y="0"/>
                    </a:lnTo>
                    <a:lnTo>
                      <a:pt x="33" y="4"/>
                    </a:lnTo>
                    <a:lnTo>
                      <a:pt x="36" y="27"/>
                    </a:lnTo>
                    <a:lnTo>
                      <a:pt x="2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97" name="Freeform 293"/>
              <p:cNvSpPr>
                <a:spLocks/>
              </p:cNvSpPr>
              <p:nvPr/>
            </p:nvSpPr>
            <p:spPr bwMode="auto">
              <a:xfrm>
                <a:off x="2190" y="2665"/>
                <a:ext cx="106" cy="163"/>
              </a:xfrm>
              <a:custGeom>
                <a:avLst/>
                <a:gdLst>
                  <a:gd name="T0" fmla="*/ 75 w 106"/>
                  <a:gd name="T1" fmla="*/ 0 h 163"/>
                  <a:gd name="T2" fmla="*/ 106 w 106"/>
                  <a:gd name="T3" fmla="*/ 163 h 163"/>
                  <a:gd name="T4" fmla="*/ 0 w 106"/>
                  <a:gd name="T5" fmla="*/ 54 h 163"/>
                  <a:gd name="T6" fmla="*/ 75 w 106"/>
                  <a:gd name="T7" fmla="*/ 0 h 1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6"/>
                  <a:gd name="T13" fmla="*/ 0 h 163"/>
                  <a:gd name="T14" fmla="*/ 106 w 106"/>
                  <a:gd name="T15" fmla="*/ 163 h 1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6" h="163">
                    <a:moveTo>
                      <a:pt x="75" y="0"/>
                    </a:moveTo>
                    <a:lnTo>
                      <a:pt x="106" y="163"/>
                    </a:lnTo>
                    <a:lnTo>
                      <a:pt x="0" y="54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98" name="Freeform 294"/>
              <p:cNvSpPr>
                <a:spLocks/>
              </p:cNvSpPr>
              <p:nvPr/>
            </p:nvSpPr>
            <p:spPr bwMode="auto">
              <a:xfrm>
                <a:off x="2263" y="2666"/>
                <a:ext cx="40" cy="178"/>
              </a:xfrm>
              <a:custGeom>
                <a:avLst/>
                <a:gdLst>
                  <a:gd name="T0" fmla="*/ 36 w 40"/>
                  <a:gd name="T1" fmla="*/ 158 h 178"/>
                  <a:gd name="T2" fmla="*/ 28 w 40"/>
                  <a:gd name="T3" fmla="*/ 163 h 178"/>
                  <a:gd name="T4" fmla="*/ 0 w 40"/>
                  <a:gd name="T5" fmla="*/ 0 h 178"/>
                  <a:gd name="T6" fmla="*/ 8 w 40"/>
                  <a:gd name="T7" fmla="*/ 0 h 178"/>
                  <a:gd name="T8" fmla="*/ 38 w 40"/>
                  <a:gd name="T9" fmla="*/ 163 h 178"/>
                  <a:gd name="T10" fmla="*/ 32 w 40"/>
                  <a:gd name="T11" fmla="*/ 167 h 178"/>
                  <a:gd name="T12" fmla="*/ 38 w 40"/>
                  <a:gd name="T13" fmla="*/ 163 h 178"/>
                  <a:gd name="T14" fmla="*/ 40 w 40"/>
                  <a:gd name="T15" fmla="*/ 178 h 178"/>
                  <a:gd name="T16" fmla="*/ 32 w 40"/>
                  <a:gd name="T17" fmla="*/ 167 h 178"/>
                  <a:gd name="T18" fmla="*/ 36 w 40"/>
                  <a:gd name="T19" fmla="*/ 158 h 17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0"/>
                  <a:gd name="T31" fmla="*/ 0 h 178"/>
                  <a:gd name="T32" fmla="*/ 40 w 40"/>
                  <a:gd name="T33" fmla="*/ 178 h 17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0" h="178">
                    <a:moveTo>
                      <a:pt x="36" y="158"/>
                    </a:moveTo>
                    <a:lnTo>
                      <a:pt x="28" y="163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38" y="163"/>
                    </a:lnTo>
                    <a:lnTo>
                      <a:pt x="32" y="167"/>
                    </a:lnTo>
                    <a:lnTo>
                      <a:pt x="38" y="163"/>
                    </a:lnTo>
                    <a:lnTo>
                      <a:pt x="40" y="178"/>
                    </a:lnTo>
                    <a:lnTo>
                      <a:pt x="32" y="167"/>
                    </a:lnTo>
                    <a:lnTo>
                      <a:pt x="36" y="158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999" name="Freeform 295"/>
              <p:cNvSpPr>
                <a:spLocks/>
              </p:cNvSpPr>
              <p:nvPr/>
            </p:nvSpPr>
            <p:spPr bwMode="auto">
              <a:xfrm>
                <a:off x="2184" y="2711"/>
                <a:ext cx="115" cy="120"/>
              </a:xfrm>
              <a:custGeom>
                <a:avLst/>
                <a:gdLst>
                  <a:gd name="T0" fmla="*/ 10 w 115"/>
                  <a:gd name="T1" fmla="*/ 12 h 120"/>
                  <a:gd name="T2" fmla="*/ 10 w 115"/>
                  <a:gd name="T3" fmla="*/ 1 h 120"/>
                  <a:gd name="T4" fmla="*/ 115 w 115"/>
                  <a:gd name="T5" fmla="*/ 112 h 120"/>
                  <a:gd name="T6" fmla="*/ 111 w 115"/>
                  <a:gd name="T7" fmla="*/ 120 h 120"/>
                  <a:gd name="T8" fmla="*/ 5 w 115"/>
                  <a:gd name="T9" fmla="*/ 9 h 120"/>
                  <a:gd name="T10" fmla="*/ 5 w 115"/>
                  <a:gd name="T11" fmla="*/ 0 h 120"/>
                  <a:gd name="T12" fmla="*/ 5 w 115"/>
                  <a:gd name="T13" fmla="*/ 9 h 120"/>
                  <a:gd name="T14" fmla="*/ 0 w 115"/>
                  <a:gd name="T15" fmla="*/ 3 h 120"/>
                  <a:gd name="T16" fmla="*/ 5 w 115"/>
                  <a:gd name="T17" fmla="*/ 0 h 120"/>
                  <a:gd name="T18" fmla="*/ 10 w 115"/>
                  <a:gd name="T19" fmla="*/ 12 h 1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5"/>
                  <a:gd name="T31" fmla="*/ 0 h 120"/>
                  <a:gd name="T32" fmla="*/ 115 w 115"/>
                  <a:gd name="T33" fmla="*/ 120 h 12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5" h="120">
                    <a:moveTo>
                      <a:pt x="10" y="12"/>
                    </a:moveTo>
                    <a:lnTo>
                      <a:pt x="10" y="1"/>
                    </a:lnTo>
                    <a:lnTo>
                      <a:pt x="115" y="112"/>
                    </a:lnTo>
                    <a:lnTo>
                      <a:pt x="111" y="120"/>
                    </a:lnTo>
                    <a:lnTo>
                      <a:pt x="5" y="9"/>
                    </a:lnTo>
                    <a:lnTo>
                      <a:pt x="5" y="0"/>
                    </a:lnTo>
                    <a:lnTo>
                      <a:pt x="5" y="9"/>
                    </a:lnTo>
                    <a:lnTo>
                      <a:pt x="0" y="3"/>
                    </a:lnTo>
                    <a:lnTo>
                      <a:pt x="5" y="0"/>
                    </a:lnTo>
                    <a:lnTo>
                      <a:pt x="10" y="1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00" name="Freeform 296"/>
              <p:cNvSpPr>
                <a:spLocks/>
              </p:cNvSpPr>
              <p:nvPr/>
            </p:nvSpPr>
            <p:spPr bwMode="auto">
              <a:xfrm>
                <a:off x="2185" y="2657"/>
                <a:ext cx="84" cy="67"/>
              </a:xfrm>
              <a:custGeom>
                <a:avLst/>
                <a:gdLst>
                  <a:gd name="T0" fmla="*/ 75 w 84"/>
                  <a:gd name="T1" fmla="*/ 8 h 67"/>
                  <a:gd name="T2" fmla="*/ 82 w 84"/>
                  <a:gd name="T3" fmla="*/ 15 h 67"/>
                  <a:gd name="T4" fmla="*/ 5 w 84"/>
                  <a:gd name="T5" fmla="*/ 67 h 67"/>
                  <a:gd name="T6" fmla="*/ 0 w 84"/>
                  <a:gd name="T7" fmla="*/ 56 h 67"/>
                  <a:gd name="T8" fmla="*/ 75 w 84"/>
                  <a:gd name="T9" fmla="*/ 3 h 67"/>
                  <a:gd name="T10" fmla="*/ 84 w 84"/>
                  <a:gd name="T11" fmla="*/ 8 h 67"/>
                  <a:gd name="T12" fmla="*/ 75 w 84"/>
                  <a:gd name="T13" fmla="*/ 3 h 67"/>
                  <a:gd name="T14" fmla="*/ 82 w 84"/>
                  <a:gd name="T15" fmla="*/ 0 h 67"/>
                  <a:gd name="T16" fmla="*/ 84 w 84"/>
                  <a:gd name="T17" fmla="*/ 8 h 67"/>
                  <a:gd name="T18" fmla="*/ 75 w 84"/>
                  <a:gd name="T19" fmla="*/ 8 h 6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4"/>
                  <a:gd name="T31" fmla="*/ 0 h 67"/>
                  <a:gd name="T32" fmla="*/ 84 w 84"/>
                  <a:gd name="T33" fmla="*/ 67 h 6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4" h="67">
                    <a:moveTo>
                      <a:pt x="75" y="8"/>
                    </a:moveTo>
                    <a:lnTo>
                      <a:pt x="82" y="15"/>
                    </a:lnTo>
                    <a:lnTo>
                      <a:pt x="5" y="67"/>
                    </a:lnTo>
                    <a:lnTo>
                      <a:pt x="0" y="56"/>
                    </a:lnTo>
                    <a:lnTo>
                      <a:pt x="75" y="3"/>
                    </a:lnTo>
                    <a:lnTo>
                      <a:pt x="84" y="8"/>
                    </a:lnTo>
                    <a:lnTo>
                      <a:pt x="75" y="3"/>
                    </a:lnTo>
                    <a:lnTo>
                      <a:pt x="82" y="0"/>
                    </a:lnTo>
                    <a:lnTo>
                      <a:pt x="84" y="8"/>
                    </a:lnTo>
                    <a:lnTo>
                      <a:pt x="75" y="8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01" name="Freeform 297"/>
              <p:cNvSpPr>
                <a:spLocks/>
              </p:cNvSpPr>
              <p:nvPr/>
            </p:nvSpPr>
            <p:spPr bwMode="auto">
              <a:xfrm>
                <a:off x="2250" y="2758"/>
                <a:ext cx="30" cy="32"/>
              </a:xfrm>
              <a:custGeom>
                <a:avLst/>
                <a:gdLst>
                  <a:gd name="T0" fmla="*/ 20 w 30"/>
                  <a:gd name="T1" fmla="*/ 0 h 32"/>
                  <a:gd name="T2" fmla="*/ 30 w 30"/>
                  <a:gd name="T3" fmla="*/ 15 h 32"/>
                  <a:gd name="T4" fmla="*/ 9 w 30"/>
                  <a:gd name="T5" fmla="*/ 32 h 32"/>
                  <a:gd name="T6" fmla="*/ 0 w 30"/>
                  <a:gd name="T7" fmla="*/ 15 h 32"/>
                  <a:gd name="T8" fmla="*/ 20 w 30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2"/>
                  <a:gd name="T17" fmla="*/ 30 w 30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2">
                    <a:moveTo>
                      <a:pt x="20" y="0"/>
                    </a:moveTo>
                    <a:lnTo>
                      <a:pt x="30" y="15"/>
                    </a:lnTo>
                    <a:lnTo>
                      <a:pt x="9" y="32"/>
                    </a:lnTo>
                    <a:lnTo>
                      <a:pt x="0" y="1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02" name="Freeform 298"/>
              <p:cNvSpPr>
                <a:spLocks/>
              </p:cNvSpPr>
              <p:nvPr/>
            </p:nvSpPr>
            <p:spPr bwMode="auto">
              <a:xfrm>
                <a:off x="2157" y="2547"/>
                <a:ext cx="112" cy="229"/>
              </a:xfrm>
              <a:custGeom>
                <a:avLst/>
                <a:gdLst>
                  <a:gd name="T0" fmla="*/ 25 w 112"/>
                  <a:gd name="T1" fmla="*/ 0 h 229"/>
                  <a:gd name="T2" fmla="*/ 25 w 112"/>
                  <a:gd name="T3" fmla="*/ 0 h 229"/>
                  <a:gd name="T4" fmla="*/ 35 w 112"/>
                  <a:gd name="T5" fmla="*/ 27 h 229"/>
                  <a:gd name="T6" fmla="*/ 44 w 112"/>
                  <a:gd name="T7" fmla="*/ 56 h 229"/>
                  <a:gd name="T8" fmla="*/ 54 w 112"/>
                  <a:gd name="T9" fmla="*/ 84 h 229"/>
                  <a:gd name="T10" fmla="*/ 64 w 112"/>
                  <a:gd name="T11" fmla="*/ 111 h 229"/>
                  <a:gd name="T12" fmla="*/ 75 w 112"/>
                  <a:gd name="T13" fmla="*/ 136 h 229"/>
                  <a:gd name="T14" fmla="*/ 86 w 112"/>
                  <a:gd name="T15" fmla="*/ 162 h 229"/>
                  <a:gd name="T16" fmla="*/ 99 w 112"/>
                  <a:gd name="T17" fmla="*/ 188 h 229"/>
                  <a:gd name="T18" fmla="*/ 112 w 112"/>
                  <a:gd name="T19" fmla="*/ 212 h 229"/>
                  <a:gd name="T20" fmla="*/ 91 w 112"/>
                  <a:gd name="T21" fmla="*/ 229 h 229"/>
                  <a:gd name="T22" fmla="*/ 77 w 112"/>
                  <a:gd name="T23" fmla="*/ 204 h 229"/>
                  <a:gd name="T24" fmla="*/ 64 w 112"/>
                  <a:gd name="T25" fmla="*/ 176 h 229"/>
                  <a:gd name="T26" fmla="*/ 51 w 112"/>
                  <a:gd name="T27" fmla="*/ 150 h 229"/>
                  <a:gd name="T28" fmla="*/ 40 w 112"/>
                  <a:gd name="T29" fmla="*/ 120 h 229"/>
                  <a:gd name="T30" fmla="*/ 29 w 112"/>
                  <a:gd name="T31" fmla="*/ 94 h 229"/>
                  <a:gd name="T32" fmla="*/ 19 w 112"/>
                  <a:gd name="T33" fmla="*/ 65 h 229"/>
                  <a:gd name="T34" fmla="*/ 8 w 112"/>
                  <a:gd name="T35" fmla="*/ 36 h 229"/>
                  <a:gd name="T36" fmla="*/ 0 w 112"/>
                  <a:gd name="T37" fmla="*/ 6 h 229"/>
                  <a:gd name="T38" fmla="*/ 25 w 112"/>
                  <a:gd name="T39" fmla="*/ 0 h 22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2"/>
                  <a:gd name="T61" fmla="*/ 0 h 229"/>
                  <a:gd name="T62" fmla="*/ 112 w 112"/>
                  <a:gd name="T63" fmla="*/ 229 h 22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2" h="229">
                    <a:moveTo>
                      <a:pt x="25" y="0"/>
                    </a:moveTo>
                    <a:lnTo>
                      <a:pt x="25" y="0"/>
                    </a:lnTo>
                    <a:lnTo>
                      <a:pt x="35" y="27"/>
                    </a:lnTo>
                    <a:lnTo>
                      <a:pt x="44" y="56"/>
                    </a:lnTo>
                    <a:lnTo>
                      <a:pt x="54" y="84"/>
                    </a:lnTo>
                    <a:lnTo>
                      <a:pt x="64" y="111"/>
                    </a:lnTo>
                    <a:lnTo>
                      <a:pt x="75" y="136"/>
                    </a:lnTo>
                    <a:lnTo>
                      <a:pt x="86" y="162"/>
                    </a:lnTo>
                    <a:lnTo>
                      <a:pt x="99" y="188"/>
                    </a:lnTo>
                    <a:lnTo>
                      <a:pt x="112" y="212"/>
                    </a:lnTo>
                    <a:lnTo>
                      <a:pt x="91" y="229"/>
                    </a:lnTo>
                    <a:lnTo>
                      <a:pt x="77" y="204"/>
                    </a:lnTo>
                    <a:lnTo>
                      <a:pt x="64" y="176"/>
                    </a:lnTo>
                    <a:lnTo>
                      <a:pt x="51" y="150"/>
                    </a:lnTo>
                    <a:lnTo>
                      <a:pt x="40" y="120"/>
                    </a:lnTo>
                    <a:lnTo>
                      <a:pt x="29" y="94"/>
                    </a:lnTo>
                    <a:lnTo>
                      <a:pt x="19" y="65"/>
                    </a:lnTo>
                    <a:lnTo>
                      <a:pt x="8" y="36"/>
                    </a:lnTo>
                    <a:lnTo>
                      <a:pt x="0" y="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03" name="Freeform 299"/>
              <p:cNvSpPr>
                <a:spLocks/>
              </p:cNvSpPr>
              <p:nvPr/>
            </p:nvSpPr>
            <p:spPr bwMode="auto">
              <a:xfrm>
                <a:off x="2115" y="2345"/>
                <a:ext cx="63" cy="205"/>
              </a:xfrm>
              <a:custGeom>
                <a:avLst/>
                <a:gdLst>
                  <a:gd name="T0" fmla="*/ 28 w 63"/>
                  <a:gd name="T1" fmla="*/ 3 h 205"/>
                  <a:gd name="T2" fmla="*/ 31 w 63"/>
                  <a:gd name="T3" fmla="*/ 27 h 205"/>
                  <a:gd name="T4" fmla="*/ 33 w 63"/>
                  <a:gd name="T5" fmla="*/ 51 h 205"/>
                  <a:gd name="T6" fmla="*/ 36 w 63"/>
                  <a:gd name="T7" fmla="*/ 76 h 205"/>
                  <a:gd name="T8" fmla="*/ 41 w 63"/>
                  <a:gd name="T9" fmla="*/ 100 h 205"/>
                  <a:gd name="T10" fmla="*/ 46 w 63"/>
                  <a:gd name="T11" fmla="*/ 124 h 205"/>
                  <a:gd name="T12" fmla="*/ 50 w 63"/>
                  <a:gd name="T13" fmla="*/ 148 h 205"/>
                  <a:gd name="T14" fmla="*/ 57 w 63"/>
                  <a:gd name="T15" fmla="*/ 173 h 205"/>
                  <a:gd name="T16" fmla="*/ 63 w 63"/>
                  <a:gd name="T17" fmla="*/ 199 h 205"/>
                  <a:gd name="T18" fmla="*/ 39 w 63"/>
                  <a:gd name="T19" fmla="*/ 205 h 205"/>
                  <a:gd name="T20" fmla="*/ 30 w 63"/>
                  <a:gd name="T21" fmla="*/ 179 h 205"/>
                  <a:gd name="T22" fmla="*/ 25 w 63"/>
                  <a:gd name="T23" fmla="*/ 154 h 205"/>
                  <a:gd name="T24" fmla="*/ 18 w 63"/>
                  <a:gd name="T25" fmla="*/ 126 h 205"/>
                  <a:gd name="T26" fmla="*/ 14 w 63"/>
                  <a:gd name="T27" fmla="*/ 101 h 205"/>
                  <a:gd name="T28" fmla="*/ 9 w 63"/>
                  <a:gd name="T29" fmla="*/ 76 h 205"/>
                  <a:gd name="T30" fmla="*/ 4 w 63"/>
                  <a:gd name="T31" fmla="*/ 51 h 205"/>
                  <a:gd name="T32" fmla="*/ 2 w 63"/>
                  <a:gd name="T33" fmla="*/ 24 h 205"/>
                  <a:gd name="T34" fmla="*/ 0 w 63"/>
                  <a:gd name="T35" fmla="*/ 0 h 205"/>
                  <a:gd name="T36" fmla="*/ 28 w 63"/>
                  <a:gd name="T37" fmla="*/ 3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3"/>
                  <a:gd name="T58" fmla="*/ 0 h 205"/>
                  <a:gd name="T59" fmla="*/ 63 w 63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3" h="205">
                    <a:moveTo>
                      <a:pt x="28" y="3"/>
                    </a:moveTo>
                    <a:lnTo>
                      <a:pt x="31" y="27"/>
                    </a:lnTo>
                    <a:lnTo>
                      <a:pt x="33" y="51"/>
                    </a:lnTo>
                    <a:lnTo>
                      <a:pt x="36" y="76"/>
                    </a:lnTo>
                    <a:lnTo>
                      <a:pt x="41" y="100"/>
                    </a:lnTo>
                    <a:lnTo>
                      <a:pt x="46" y="124"/>
                    </a:lnTo>
                    <a:lnTo>
                      <a:pt x="50" y="148"/>
                    </a:lnTo>
                    <a:lnTo>
                      <a:pt x="57" y="173"/>
                    </a:lnTo>
                    <a:lnTo>
                      <a:pt x="63" y="199"/>
                    </a:lnTo>
                    <a:lnTo>
                      <a:pt x="39" y="205"/>
                    </a:lnTo>
                    <a:lnTo>
                      <a:pt x="30" y="179"/>
                    </a:lnTo>
                    <a:lnTo>
                      <a:pt x="25" y="154"/>
                    </a:lnTo>
                    <a:lnTo>
                      <a:pt x="18" y="126"/>
                    </a:lnTo>
                    <a:lnTo>
                      <a:pt x="14" y="101"/>
                    </a:lnTo>
                    <a:lnTo>
                      <a:pt x="9" y="76"/>
                    </a:lnTo>
                    <a:lnTo>
                      <a:pt x="4" y="51"/>
                    </a:lnTo>
                    <a:lnTo>
                      <a:pt x="2" y="24"/>
                    </a:lnTo>
                    <a:lnTo>
                      <a:pt x="0" y="0"/>
                    </a:lnTo>
                    <a:lnTo>
                      <a:pt x="28" y="3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04" name="Freeform 300"/>
              <p:cNvSpPr>
                <a:spLocks/>
              </p:cNvSpPr>
              <p:nvPr/>
            </p:nvSpPr>
            <p:spPr bwMode="auto">
              <a:xfrm>
                <a:off x="2111" y="2328"/>
                <a:ext cx="30" cy="21"/>
              </a:xfrm>
              <a:custGeom>
                <a:avLst/>
                <a:gdLst>
                  <a:gd name="T0" fmla="*/ 1 w 30"/>
                  <a:gd name="T1" fmla="*/ 18 h 21"/>
                  <a:gd name="T2" fmla="*/ 0 w 30"/>
                  <a:gd name="T3" fmla="*/ 0 h 21"/>
                  <a:gd name="T4" fmla="*/ 29 w 30"/>
                  <a:gd name="T5" fmla="*/ 3 h 21"/>
                  <a:gd name="T6" fmla="*/ 30 w 30"/>
                  <a:gd name="T7" fmla="*/ 21 h 21"/>
                  <a:gd name="T8" fmla="*/ 1 w 30"/>
                  <a:gd name="T9" fmla="*/ 18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21"/>
                  <a:gd name="T17" fmla="*/ 30 w 30"/>
                  <a:gd name="T18" fmla="*/ 21 h 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21">
                    <a:moveTo>
                      <a:pt x="1" y="18"/>
                    </a:moveTo>
                    <a:lnTo>
                      <a:pt x="0" y="0"/>
                    </a:lnTo>
                    <a:lnTo>
                      <a:pt x="29" y="3"/>
                    </a:lnTo>
                    <a:lnTo>
                      <a:pt x="30" y="21"/>
                    </a:lnTo>
                    <a:lnTo>
                      <a:pt x="1" y="18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05" name="Freeform 301"/>
              <p:cNvSpPr>
                <a:spLocks/>
              </p:cNvSpPr>
              <p:nvPr/>
            </p:nvSpPr>
            <p:spPr bwMode="auto">
              <a:xfrm>
                <a:off x="2211" y="2698"/>
                <a:ext cx="108" cy="162"/>
              </a:xfrm>
              <a:custGeom>
                <a:avLst/>
                <a:gdLst>
                  <a:gd name="T0" fmla="*/ 72 w 108"/>
                  <a:gd name="T1" fmla="*/ 0 h 162"/>
                  <a:gd name="T2" fmla="*/ 108 w 108"/>
                  <a:gd name="T3" fmla="*/ 162 h 162"/>
                  <a:gd name="T4" fmla="*/ 0 w 108"/>
                  <a:gd name="T5" fmla="*/ 59 h 162"/>
                  <a:gd name="T6" fmla="*/ 72 w 108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8"/>
                  <a:gd name="T13" fmla="*/ 0 h 162"/>
                  <a:gd name="T14" fmla="*/ 108 w 108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8" h="162">
                    <a:moveTo>
                      <a:pt x="72" y="0"/>
                    </a:moveTo>
                    <a:lnTo>
                      <a:pt x="108" y="162"/>
                    </a:lnTo>
                    <a:lnTo>
                      <a:pt x="0" y="59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06" name="Freeform 302"/>
              <p:cNvSpPr>
                <a:spLocks/>
              </p:cNvSpPr>
              <p:nvPr/>
            </p:nvSpPr>
            <p:spPr bwMode="auto">
              <a:xfrm>
                <a:off x="2274" y="2698"/>
                <a:ext cx="56" cy="186"/>
              </a:xfrm>
              <a:custGeom>
                <a:avLst/>
                <a:gdLst>
                  <a:gd name="T0" fmla="*/ 47 w 56"/>
                  <a:gd name="T1" fmla="*/ 156 h 186"/>
                  <a:gd name="T2" fmla="*/ 36 w 56"/>
                  <a:gd name="T3" fmla="*/ 165 h 186"/>
                  <a:gd name="T4" fmla="*/ 0 w 56"/>
                  <a:gd name="T5" fmla="*/ 3 h 186"/>
                  <a:gd name="T6" fmla="*/ 15 w 56"/>
                  <a:gd name="T7" fmla="*/ 0 h 186"/>
                  <a:gd name="T8" fmla="*/ 51 w 56"/>
                  <a:gd name="T9" fmla="*/ 163 h 186"/>
                  <a:gd name="T10" fmla="*/ 40 w 56"/>
                  <a:gd name="T11" fmla="*/ 170 h 186"/>
                  <a:gd name="T12" fmla="*/ 51 w 56"/>
                  <a:gd name="T13" fmla="*/ 163 h 186"/>
                  <a:gd name="T14" fmla="*/ 56 w 56"/>
                  <a:gd name="T15" fmla="*/ 186 h 186"/>
                  <a:gd name="T16" fmla="*/ 40 w 56"/>
                  <a:gd name="T17" fmla="*/ 170 h 186"/>
                  <a:gd name="T18" fmla="*/ 47 w 56"/>
                  <a:gd name="T19" fmla="*/ 156 h 18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6"/>
                  <a:gd name="T31" fmla="*/ 0 h 186"/>
                  <a:gd name="T32" fmla="*/ 56 w 56"/>
                  <a:gd name="T33" fmla="*/ 186 h 18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6" h="186">
                    <a:moveTo>
                      <a:pt x="47" y="156"/>
                    </a:moveTo>
                    <a:lnTo>
                      <a:pt x="36" y="165"/>
                    </a:lnTo>
                    <a:lnTo>
                      <a:pt x="0" y="3"/>
                    </a:lnTo>
                    <a:lnTo>
                      <a:pt x="15" y="0"/>
                    </a:lnTo>
                    <a:lnTo>
                      <a:pt x="51" y="163"/>
                    </a:lnTo>
                    <a:lnTo>
                      <a:pt x="40" y="170"/>
                    </a:lnTo>
                    <a:lnTo>
                      <a:pt x="51" y="163"/>
                    </a:lnTo>
                    <a:lnTo>
                      <a:pt x="56" y="186"/>
                    </a:lnTo>
                    <a:lnTo>
                      <a:pt x="40" y="170"/>
                    </a:lnTo>
                    <a:lnTo>
                      <a:pt x="47" y="15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07" name="Freeform 303"/>
              <p:cNvSpPr>
                <a:spLocks/>
              </p:cNvSpPr>
              <p:nvPr/>
            </p:nvSpPr>
            <p:spPr bwMode="auto">
              <a:xfrm>
                <a:off x="2196" y="2749"/>
                <a:ext cx="124" cy="119"/>
              </a:xfrm>
              <a:custGeom>
                <a:avLst/>
                <a:gdLst>
                  <a:gd name="T0" fmla="*/ 19 w 124"/>
                  <a:gd name="T1" fmla="*/ 17 h 119"/>
                  <a:gd name="T2" fmla="*/ 17 w 124"/>
                  <a:gd name="T3" fmla="*/ 1 h 119"/>
                  <a:gd name="T4" fmla="*/ 124 w 124"/>
                  <a:gd name="T5" fmla="*/ 103 h 119"/>
                  <a:gd name="T6" fmla="*/ 118 w 124"/>
                  <a:gd name="T7" fmla="*/ 119 h 119"/>
                  <a:gd name="T8" fmla="*/ 11 w 124"/>
                  <a:gd name="T9" fmla="*/ 16 h 119"/>
                  <a:gd name="T10" fmla="*/ 9 w 124"/>
                  <a:gd name="T11" fmla="*/ 0 h 119"/>
                  <a:gd name="T12" fmla="*/ 11 w 124"/>
                  <a:gd name="T13" fmla="*/ 16 h 119"/>
                  <a:gd name="T14" fmla="*/ 0 w 124"/>
                  <a:gd name="T15" fmla="*/ 6 h 119"/>
                  <a:gd name="T16" fmla="*/ 9 w 124"/>
                  <a:gd name="T17" fmla="*/ 0 h 119"/>
                  <a:gd name="T18" fmla="*/ 19 w 124"/>
                  <a:gd name="T19" fmla="*/ 17 h 11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4"/>
                  <a:gd name="T31" fmla="*/ 0 h 119"/>
                  <a:gd name="T32" fmla="*/ 124 w 124"/>
                  <a:gd name="T33" fmla="*/ 119 h 11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4" h="119">
                    <a:moveTo>
                      <a:pt x="19" y="17"/>
                    </a:moveTo>
                    <a:lnTo>
                      <a:pt x="17" y="1"/>
                    </a:lnTo>
                    <a:lnTo>
                      <a:pt x="124" y="103"/>
                    </a:lnTo>
                    <a:lnTo>
                      <a:pt x="118" y="119"/>
                    </a:lnTo>
                    <a:lnTo>
                      <a:pt x="11" y="16"/>
                    </a:lnTo>
                    <a:lnTo>
                      <a:pt x="9" y="0"/>
                    </a:lnTo>
                    <a:lnTo>
                      <a:pt x="11" y="16"/>
                    </a:lnTo>
                    <a:lnTo>
                      <a:pt x="0" y="6"/>
                    </a:lnTo>
                    <a:lnTo>
                      <a:pt x="9" y="0"/>
                    </a:lnTo>
                    <a:lnTo>
                      <a:pt x="19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08" name="Freeform 304"/>
              <p:cNvSpPr>
                <a:spLocks/>
              </p:cNvSpPr>
              <p:nvPr/>
            </p:nvSpPr>
            <p:spPr bwMode="auto">
              <a:xfrm>
                <a:off x="2204" y="2683"/>
                <a:ext cx="84" cy="82"/>
              </a:xfrm>
              <a:custGeom>
                <a:avLst/>
                <a:gdLst>
                  <a:gd name="T0" fmla="*/ 70 w 84"/>
                  <a:gd name="T1" fmla="*/ 18 h 82"/>
                  <a:gd name="T2" fmla="*/ 82 w 84"/>
                  <a:gd name="T3" fmla="*/ 24 h 82"/>
                  <a:gd name="T4" fmla="*/ 8 w 84"/>
                  <a:gd name="T5" fmla="*/ 82 h 82"/>
                  <a:gd name="T6" fmla="*/ 0 w 84"/>
                  <a:gd name="T7" fmla="*/ 65 h 82"/>
                  <a:gd name="T8" fmla="*/ 72 w 84"/>
                  <a:gd name="T9" fmla="*/ 7 h 82"/>
                  <a:gd name="T10" fmla="*/ 84 w 84"/>
                  <a:gd name="T11" fmla="*/ 15 h 82"/>
                  <a:gd name="T12" fmla="*/ 72 w 84"/>
                  <a:gd name="T13" fmla="*/ 7 h 82"/>
                  <a:gd name="T14" fmla="*/ 81 w 84"/>
                  <a:gd name="T15" fmla="*/ 0 h 82"/>
                  <a:gd name="T16" fmla="*/ 84 w 84"/>
                  <a:gd name="T17" fmla="*/ 15 h 82"/>
                  <a:gd name="T18" fmla="*/ 70 w 84"/>
                  <a:gd name="T19" fmla="*/ 18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4"/>
                  <a:gd name="T31" fmla="*/ 0 h 82"/>
                  <a:gd name="T32" fmla="*/ 84 w 84"/>
                  <a:gd name="T33" fmla="*/ 82 h 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4" h="82">
                    <a:moveTo>
                      <a:pt x="70" y="18"/>
                    </a:moveTo>
                    <a:lnTo>
                      <a:pt x="82" y="24"/>
                    </a:lnTo>
                    <a:lnTo>
                      <a:pt x="8" y="82"/>
                    </a:lnTo>
                    <a:lnTo>
                      <a:pt x="0" y="65"/>
                    </a:lnTo>
                    <a:lnTo>
                      <a:pt x="72" y="7"/>
                    </a:lnTo>
                    <a:lnTo>
                      <a:pt x="84" y="15"/>
                    </a:lnTo>
                    <a:lnTo>
                      <a:pt x="72" y="7"/>
                    </a:lnTo>
                    <a:lnTo>
                      <a:pt x="81" y="0"/>
                    </a:lnTo>
                    <a:lnTo>
                      <a:pt x="84" y="15"/>
                    </a:lnTo>
                    <a:lnTo>
                      <a:pt x="70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09" name="Freeform 305"/>
              <p:cNvSpPr>
                <a:spLocks/>
              </p:cNvSpPr>
              <p:nvPr/>
            </p:nvSpPr>
            <p:spPr bwMode="auto">
              <a:xfrm>
                <a:off x="2278" y="2803"/>
                <a:ext cx="35" cy="42"/>
              </a:xfrm>
              <a:custGeom>
                <a:avLst/>
                <a:gdLst>
                  <a:gd name="T0" fmla="*/ 24 w 35"/>
                  <a:gd name="T1" fmla="*/ 0 h 42"/>
                  <a:gd name="T2" fmla="*/ 35 w 35"/>
                  <a:gd name="T3" fmla="*/ 19 h 42"/>
                  <a:gd name="T4" fmla="*/ 10 w 35"/>
                  <a:gd name="T5" fmla="*/ 42 h 42"/>
                  <a:gd name="T6" fmla="*/ 0 w 35"/>
                  <a:gd name="T7" fmla="*/ 23 h 42"/>
                  <a:gd name="T8" fmla="*/ 24 w 35"/>
                  <a:gd name="T9" fmla="*/ 0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42"/>
                  <a:gd name="T17" fmla="*/ 35 w 35"/>
                  <a:gd name="T18" fmla="*/ 42 h 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42">
                    <a:moveTo>
                      <a:pt x="24" y="0"/>
                    </a:moveTo>
                    <a:lnTo>
                      <a:pt x="35" y="19"/>
                    </a:lnTo>
                    <a:lnTo>
                      <a:pt x="10" y="42"/>
                    </a:lnTo>
                    <a:lnTo>
                      <a:pt x="0" y="23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10" name="Freeform 306"/>
              <p:cNvSpPr>
                <a:spLocks/>
              </p:cNvSpPr>
              <p:nvPr/>
            </p:nvSpPr>
            <p:spPr bwMode="auto">
              <a:xfrm>
                <a:off x="2173" y="2593"/>
                <a:ext cx="125" cy="229"/>
              </a:xfrm>
              <a:custGeom>
                <a:avLst/>
                <a:gdLst>
                  <a:gd name="T0" fmla="*/ 31 w 125"/>
                  <a:gd name="T1" fmla="*/ 0 h 229"/>
                  <a:gd name="T2" fmla="*/ 31 w 125"/>
                  <a:gd name="T3" fmla="*/ 0 h 229"/>
                  <a:gd name="T4" fmla="*/ 40 w 125"/>
                  <a:gd name="T5" fmla="*/ 27 h 229"/>
                  <a:gd name="T6" fmla="*/ 51 w 125"/>
                  <a:gd name="T7" fmla="*/ 56 h 229"/>
                  <a:gd name="T8" fmla="*/ 61 w 125"/>
                  <a:gd name="T9" fmla="*/ 82 h 229"/>
                  <a:gd name="T10" fmla="*/ 73 w 125"/>
                  <a:gd name="T11" fmla="*/ 109 h 229"/>
                  <a:gd name="T12" fmla="*/ 85 w 125"/>
                  <a:gd name="T13" fmla="*/ 134 h 229"/>
                  <a:gd name="T14" fmla="*/ 97 w 125"/>
                  <a:gd name="T15" fmla="*/ 159 h 229"/>
                  <a:gd name="T16" fmla="*/ 111 w 125"/>
                  <a:gd name="T17" fmla="*/ 184 h 229"/>
                  <a:gd name="T18" fmla="*/ 125 w 125"/>
                  <a:gd name="T19" fmla="*/ 208 h 229"/>
                  <a:gd name="T20" fmla="*/ 99 w 125"/>
                  <a:gd name="T21" fmla="*/ 229 h 229"/>
                  <a:gd name="T22" fmla="*/ 85 w 125"/>
                  <a:gd name="T23" fmla="*/ 205 h 229"/>
                  <a:gd name="T24" fmla="*/ 71 w 125"/>
                  <a:gd name="T25" fmla="*/ 178 h 229"/>
                  <a:gd name="T26" fmla="*/ 58 w 125"/>
                  <a:gd name="T27" fmla="*/ 151 h 229"/>
                  <a:gd name="T28" fmla="*/ 45 w 125"/>
                  <a:gd name="T29" fmla="*/ 125 h 229"/>
                  <a:gd name="T30" fmla="*/ 33 w 125"/>
                  <a:gd name="T31" fmla="*/ 97 h 229"/>
                  <a:gd name="T32" fmla="*/ 20 w 125"/>
                  <a:gd name="T33" fmla="*/ 68 h 229"/>
                  <a:gd name="T34" fmla="*/ 11 w 125"/>
                  <a:gd name="T35" fmla="*/ 39 h 229"/>
                  <a:gd name="T36" fmla="*/ 0 w 125"/>
                  <a:gd name="T37" fmla="*/ 9 h 229"/>
                  <a:gd name="T38" fmla="*/ 31 w 125"/>
                  <a:gd name="T39" fmla="*/ 0 h 22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5"/>
                  <a:gd name="T61" fmla="*/ 0 h 229"/>
                  <a:gd name="T62" fmla="*/ 125 w 125"/>
                  <a:gd name="T63" fmla="*/ 229 h 22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5" h="229">
                    <a:moveTo>
                      <a:pt x="31" y="0"/>
                    </a:moveTo>
                    <a:lnTo>
                      <a:pt x="31" y="0"/>
                    </a:lnTo>
                    <a:lnTo>
                      <a:pt x="40" y="27"/>
                    </a:lnTo>
                    <a:lnTo>
                      <a:pt x="51" y="56"/>
                    </a:lnTo>
                    <a:lnTo>
                      <a:pt x="61" y="82"/>
                    </a:lnTo>
                    <a:lnTo>
                      <a:pt x="73" y="109"/>
                    </a:lnTo>
                    <a:lnTo>
                      <a:pt x="85" y="134"/>
                    </a:lnTo>
                    <a:lnTo>
                      <a:pt x="97" y="159"/>
                    </a:lnTo>
                    <a:lnTo>
                      <a:pt x="111" y="184"/>
                    </a:lnTo>
                    <a:lnTo>
                      <a:pt x="125" y="208"/>
                    </a:lnTo>
                    <a:lnTo>
                      <a:pt x="99" y="229"/>
                    </a:lnTo>
                    <a:lnTo>
                      <a:pt x="85" y="205"/>
                    </a:lnTo>
                    <a:lnTo>
                      <a:pt x="71" y="178"/>
                    </a:lnTo>
                    <a:lnTo>
                      <a:pt x="58" y="151"/>
                    </a:lnTo>
                    <a:lnTo>
                      <a:pt x="45" y="125"/>
                    </a:lnTo>
                    <a:lnTo>
                      <a:pt x="33" y="97"/>
                    </a:lnTo>
                    <a:lnTo>
                      <a:pt x="20" y="68"/>
                    </a:lnTo>
                    <a:lnTo>
                      <a:pt x="11" y="39"/>
                    </a:lnTo>
                    <a:lnTo>
                      <a:pt x="0" y="9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11" name="Freeform 307"/>
              <p:cNvSpPr>
                <a:spLocks/>
              </p:cNvSpPr>
              <p:nvPr/>
            </p:nvSpPr>
            <p:spPr bwMode="auto">
              <a:xfrm>
                <a:off x="2126" y="2396"/>
                <a:ext cx="76" cy="206"/>
              </a:xfrm>
              <a:custGeom>
                <a:avLst/>
                <a:gdLst>
                  <a:gd name="T0" fmla="*/ 33 w 76"/>
                  <a:gd name="T1" fmla="*/ 2 h 206"/>
                  <a:gd name="T2" fmla="*/ 36 w 76"/>
                  <a:gd name="T3" fmla="*/ 26 h 206"/>
                  <a:gd name="T4" fmla="*/ 39 w 76"/>
                  <a:gd name="T5" fmla="*/ 50 h 206"/>
                  <a:gd name="T6" fmla="*/ 44 w 76"/>
                  <a:gd name="T7" fmla="*/ 75 h 206"/>
                  <a:gd name="T8" fmla="*/ 48 w 76"/>
                  <a:gd name="T9" fmla="*/ 98 h 206"/>
                  <a:gd name="T10" fmla="*/ 54 w 76"/>
                  <a:gd name="T11" fmla="*/ 122 h 206"/>
                  <a:gd name="T12" fmla="*/ 61 w 76"/>
                  <a:gd name="T13" fmla="*/ 146 h 206"/>
                  <a:gd name="T14" fmla="*/ 67 w 76"/>
                  <a:gd name="T15" fmla="*/ 172 h 206"/>
                  <a:gd name="T16" fmla="*/ 76 w 76"/>
                  <a:gd name="T17" fmla="*/ 197 h 206"/>
                  <a:gd name="T18" fmla="*/ 45 w 76"/>
                  <a:gd name="T19" fmla="*/ 206 h 206"/>
                  <a:gd name="T20" fmla="*/ 37 w 76"/>
                  <a:gd name="T21" fmla="*/ 181 h 206"/>
                  <a:gd name="T22" fmla="*/ 31 w 76"/>
                  <a:gd name="T23" fmla="*/ 155 h 206"/>
                  <a:gd name="T24" fmla="*/ 23 w 76"/>
                  <a:gd name="T25" fmla="*/ 128 h 206"/>
                  <a:gd name="T26" fmla="*/ 18 w 76"/>
                  <a:gd name="T27" fmla="*/ 102 h 206"/>
                  <a:gd name="T28" fmla="*/ 13 w 76"/>
                  <a:gd name="T29" fmla="*/ 77 h 206"/>
                  <a:gd name="T30" fmla="*/ 8 w 76"/>
                  <a:gd name="T31" fmla="*/ 50 h 206"/>
                  <a:gd name="T32" fmla="*/ 3 w 76"/>
                  <a:gd name="T33" fmla="*/ 25 h 206"/>
                  <a:gd name="T34" fmla="*/ 0 w 76"/>
                  <a:gd name="T35" fmla="*/ 0 h 206"/>
                  <a:gd name="T36" fmla="*/ 33 w 76"/>
                  <a:gd name="T37" fmla="*/ 2 h 20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6"/>
                  <a:gd name="T58" fmla="*/ 0 h 206"/>
                  <a:gd name="T59" fmla="*/ 76 w 76"/>
                  <a:gd name="T60" fmla="*/ 206 h 20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6" h="206">
                    <a:moveTo>
                      <a:pt x="33" y="2"/>
                    </a:moveTo>
                    <a:lnTo>
                      <a:pt x="36" y="26"/>
                    </a:lnTo>
                    <a:lnTo>
                      <a:pt x="39" y="50"/>
                    </a:lnTo>
                    <a:lnTo>
                      <a:pt x="44" y="75"/>
                    </a:lnTo>
                    <a:lnTo>
                      <a:pt x="48" y="98"/>
                    </a:lnTo>
                    <a:lnTo>
                      <a:pt x="54" y="122"/>
                    </a:lnTo>
                    <a:lnTo>
                      <a:pt x="61" y="146"/>
                    </a:lnTo>
                    <a:lnTo>
                      <a:pt x="67" y="172"/>
                    </a:lnTo>
                    <a:lnTo>
                      <a:pt x="76" y="197"/>
                    </a:lnTo>
                    <a:lnTo>
                      <a:pt x="45" y="206"/>
                    </a:lnTo>
                    <a:lnTo>
                      <a:pt x="37" y="181"/>
                    </a:lnTo>
                    <a:lnTo>
                      <a:pt x="31" y="155"/>
                    </a:lnTo>
                    <a:lnTo>
                      <a:pt x="23" y="128"/>
                    </a:lnTo>
                    <a:lnTo>
                      <a:pt x="18" y="102"/>
                    </a:lnTo>
                    <a:lnTo>
                      <a:pt x="13" y="77"/>
                    </a:lnTo>
                    <a:lnTo>
                      <a:pt x="8" y="50"/>
                    </a:lnTo>
                    <a:lnTo>
                      <a:pt x="3" y="25"/>
                    </a:lnTo>
                    <a:lnTo>
                      <a:pt x="0" y="0"/>
                    </a:lnTo>
                    <a:lnTo>
                      <a:pt x="33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12" name="Freeform 308"/>
              <p:cNvSpPr>
                <a:spLocks/>
              </p:cNvSpPr>
              <p:nvPr/>
            </p:nvSpPr>
            <p:spPr bwMode="auto">
              <a:xfrm>
                <a:off x="2120" y="2373"/>
                <a:ext cx="34" cy="24"/>
              </a:xfrm>
              <a:custGeom>
                <a:avLst/>
                <a:gdLst>
                  <a:gd name="T0" fmla="*/ 3 w 34"/>
                  <a:gd name="T1" fmla="*/ 22 h 24"/>
                  <a:gd name="T2" fmla="*/ 0 w 34"/>
                  <a:gd name="T3" fmla="*/ 0 h 24"/>
                  <a:gd name="T4" fmla="*/ 31 w 34"/>
                  <a:gd name="T5" fmla="*/ 2 h 24"/>
                  <a:gd name="T6" fmla="*/ 34 w 34"/>
                  <a:gd name="T7" fmla="*/ 24 h 24"/>
                  <a:gd name="T8" fmla="*/ 3 w 34"/>
                  <a:gd name="T9" fmla="*/ 22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24"/>
                  <a:gd name="T17" fmla="*/ 34 w 34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24">
                    <a:moveTo>
                      <a:pt x="3" y="22"/>
                    </a:moveTo>
                    <a:lnTo>
                      <a:pt x="0" y="0"/>
                    </a:lnTo>
                    <a:lnTo>
                      <a:pt x="31" y="2"/>
                    </a:lnTo>
                    <a:lnTo>
                      <a:pt x="34" y="24"/>
                    </a:ln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13" name="Freeform 309"/>
              <p:cNvSpPr>
                <a:spLocks/>
              </p:cNvSpPr>
              <p:nvPr/>
            </p:nvSpPr>
            <p:spPr bwMode="auto">
              <a:xfrm>
                <a:off x="2211" y="2698"/>
                <a:ext cx="108" cy="162"/>
              </a:xfrm>
              <a:custGeom>
                <a:avLst/>
                <a:gdLst>
                  <a:gd name="T0" fmla="*/ 72 w 108"/>
                  <a:gd name="T1" fmla="*/ 0 h 162"/>
                  <a:gd name="T2" fmla="*/ 108 w 108"/>
                  <a:gd name="T3" fmla="*/ 162 h 162"/>
                  <a:gd name="T4" fmla="*/ 0 w 108"/>
                  <a:gd name="T5" fmla="*/ 59 h 162"/>
                  <a:gd name="T6" fmla="*/ 72 w 108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8"/>
                  <a:gd name="T13" fmla="*/ 0 h 162"/>
                  <a:gd name="T14" fmla="*/ 108 w 108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8" h="162">
                    <a:moveTo>
                      <a:pt x="72" y="0"/>
                    </a:moveTo>
                    <a:lnTo>
                      <a:pt x="108" y="162"/>
                    </a:lnTo>
                    <a:lnTo>
                      <a:pt x="0" y="59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14" name="Freeform 310"/>
              <p:cNvSpPr>
                <a:spLocks/>
              </p:cNvSpPr>
              <p:nvPr/>
            </p:nvSpPr>
            <p:spPr bwMode="auto">
              <a:xfrm>
                <a:off x="2278" y="2698"/>
                <a:ext cx="47" cy="176"/>
              </a:xfrm>
              <a:custGeom>
                <a:avLst/>
                <a:gdLst>
                  <a:gd name="T0" fmla="*/ 42 w 47"/>
                  <a:gd name="T1" fmla="*/ 156 h 176"/>
                  <a:gd name="T2" fmla="*/ 35 w 47"/>
                  <a:gd name="T3" fmla="*/ 163 h 176"/>
                  <a:gd name="T4" fmla="*/ 0 w 47"/>
                  <a:gd name="T5" fmla="*/ 1 h 176"/>
                  <a:gd name="T6" fmla="*/ 8 w 47"/>
                  <a:gd name="T7" fmla="*/ 0 h 176"/>
                  <a:gd name="T8" fmla="*/ 44 w 47"/>
                  <a:gd name="T9" fmla="*/ 161 h 176"/>
                  <a:gd name="T10" fmla="*/ 37 w 47"/>
                  <a:gd name="T11" fmla="*/ 167 h 176"/>
                  <a:gd name="T12" fmla="*/ 44 w 47"/>
                  <a:gd name="T13" fmla="*/ 161 h 176"/>
                  <a:gd name="T14" fmla="*/ 47 w 47"/>
                  <a:gd name="T15" fmla="*/ 176 h 176"/>
                  <a:gd name="T16" fmla="*/ 37 w 47"/>
                  <a:gd name="T17" fmla="*/ 167 h 176"/>
                  <a:gd name="T18" fmla="*/ 42 w 47"/>
                  <a:gd name="T19" fmla="*/ 156 h 1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176"/>
                  <a:gd name="T32" fmla="*/ 47 w 47"/>
                  <a:gd name="T33" fmla="*/ 176 h 1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176">
                    <a:moveTo>
                      <a:pt x="42" y="156"/>
                    </a:moveTo>
                    <a:lnTo>
                      <a:pt x="35" y="163"/>
                    </a:lnTo>
                    <a:lnTo>
                      <a:pt x="0" y="1"/>
                    </a:lnTo>
                    <a:lnTo>
                      <a:pt x="8" y="0"/>
                    </a:lnTo>
                    <a:lnTo>
                      <a:pt x="44" y="161"/>
                    </a:lnTo>
                    <a:lnTo>
                      <a:pt x="37" y="167"/>
                    </a:lnTo>
                    <a:lnTo>
                      <a:pt x="44" y="161"/>
                    </a:lnTo>
                    <a:lnTo>
                      <a:pt x="47" y="176"/>
                    </a:lnTo>
                    <a:lnTo>
                      <a:pt x="37" y="167"/>
                    </a:lnTo>
                    <a:lnTo>
                      <a:pt x="42" y="156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15" name="Freeform 311"/>
              <p:cNvSpPr>
                <a:spLocks/>
              </p:cNvSpPr>
              <p:nvPr/>
            </p:nvSpPr>
            <p:spPr bwMode="auto">
              <a:xfrm>
                <a:off x="2201" y="2750"/>
                <a:ext cx="118" cy="114"/>
              </a:xfrm>
              <a:custGeom>
                <a:avLst/>
                <a:gdLst>
                  <a:gd name="T0" fmla="*/ 10 w 118"/>
                  <a:gd name="T1" fmla="*/ 10 h 114"/>
                  <a:gd name="T2" fmla="*/ 10 w 118"/>
                  <a:gd name="T3" fmla="*/ 0 h 114"/>
                  <a:gd name="T4" fmla="*/ 118 w 118"/>
                  <a:gd name="T5" fmla="*/ 104 h 114"/>
                  <a:gd name="T6" fmla="*/ 114 w 118"/>
                  <a:gd name="T7" fmla="*/ 114 h 114"/>
                  <a:gd name="T8" fmla="*/ 5 w 118"/>
                  <a:gd name="T9" fmla="*/ 8 h 114"/>
                  <a:gd name="T10" fmla="*/ 5 w 118"/>
                  <a:gd name="T11" fmla="*/ 0 h 114"/>
                  <a:gd name="T12" fmla="*/ 5 w 118"/>
                  <a:gd name="T13" fmla="*/ 8 h 114"/>
                  <a:gd name="T14" fmla="*/ 0 w 118"/>
                  <a:gd name="T15" fmla="*/ 3 h 114"/>
                  <a:gd name="T16" fmla="*/ 5 w 118"/>
                  <a:gd name="T17" fmla="*/ 0 h 114"/>
                  <a:gd name="T18" fmla="*/ 10 w 118"/>
                  <a:gd name="T19" fmla="*/ 10 h 11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8"/>
                  <a:gd name="T31" fmla="*/ 0 h 114"/>
                  <a:gd name="T32" fmla="*/ 118 w 118"/>
                  <a:gd name="T33" fmla="*/ 114 h 11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8" h="114">
                    <a:moveTo>
                      <a:pt x="10" y="10"/>
                    </a:moveTo>
                    <a:lnTo>
                      <a:pt x="10" y="0"/>
                    </a:lnTo>
                    <a:lnTo>
                      <a:pt x="118" y="104"/>
                    </a:lnTo>
                    <a:lnTo>
                      <a:pt x="114" y="114"/>
                    </a:lnTo>
                    <a:lnTo>
                      <a:pt x="5" y="8"/>
                    </a:lnTo>
                    <a:lnTo>
                      <a:pt x="5" y="0"/>
                    </a:lnTo>
                    <a:lnTo>
                      <a:pt x="5" y="8"/>
                    </a:lnTo>
                    <a:lnTo>
                      <a:pt x="0" y="3"/>
                    </a:lnTo>
                    <a:lnTo>
                      <a:pt x="5" y="0"/>
                    </a:lnTo>
                    <a:lnTo>
                      <a:pt x="10" y="10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16" name="Freeform 312"/>
              <p:cNvSpPr>
                <a:spLocks/>
              </p:cNvSpPr>
              <p:nvPr/>
            </p:nvSpPr>
            <p:spPr bwMode="auto">
              <a:xfrm>
                <a:off x="2205" y="2688"/>
                <a:ext cx="80" cy="75"/>
              </a:xfrm>
              <a:custGeom>
                <a:avLst/>
                <a:gdLst>
                  <a:gd name="T0" fmla="*/ 71 w 80"/>
                  <a:gd name="T1" fmla="*/ 10 h 75"/>
                  <a:gd name="T2" fmla="*/ 79 w 80"/>
                  <a:gd name="T3" fmla="*/ 16 h 75"/>
                  <a:gd name="T4" fmla="*/ 6 w 80"/>
                  <a:gd name="T5" fmla="*/ 75 h 75"/>
                  <a:gd name="T6" fmla="*/ 0 w 80"/>
                  <a:gd name="T7" fmla="*/ 64 h 75"/>
                  <a:gd name="T8" fmla="*/ 74 w 80"/>
                  <a:gd name="T9" fmla="*/ 4 h 75"/>
                  <a:gd name="T10" fmla="*/ 80 w 80"/>
                  <a:gd name="T11" fmla="*/ 8 h 75"/>
                  <a:gd name="T12" fmla="*/ 74 w 80"/>
                  <a:gd name="T13" fmla="*/ 4 h 75"/>
                  <a:gd name="T14" fmla="*/ 78 w 80"/>
                  <a:gd name="T15" fmla="*/ 0 h 75"/>
                  <a:gd name="T16" fmla="*/ 80 w 80"/>
                  <a:gd name="T17" fmla="*/ 8 h 75"/>
                  <a:gd name="T18" fmla="*/ 71 w 80"/>
                  <a:gd name="T19" fmla="*/ 10 h 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0"/>
                  <a:gd name="T31" fmla="*/ 0 h 75"/>
                  <a:gd name="T32" fmla="*/ 80 w 80"/>
                  <a:gd name="T33" fmla="*/ 75 h 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0" h="75">
                    <a:moveTo>
                      <a:pt x="71" y="10"/>
                    </a:moveTo>
                    <a:lnTo>
                      <a:pt x="79" y="16"/>
                    </a:lnTo>
                    <a:lnTo>
                      <a:pt x="6" y="75"/>
                    </a:lnTo>
                    <a:lnTo>
                      <a:pt x="0" y="64"/>
                    </a:lnTo>
                    <a:lnTo>
                      <a:pt x="74" y="4"/>
                    </a:lnTo>
                    <a:lnTo>
                      <a:pt x="80" y="8"/>
                    </a:lnTo>
                    <a:lnTo>
                      <a:pt x="74" y="4"/>
                    </a:lnTo>
                    <a:lnTo>
                      <a:pt x="78" y="0"/>
                    </a:lnTo>
                    <a:lnTo>
                      <a:pt x="80" y="8"/>
                    </a:lnTo>
                    <a:lnTo>
                      <a:pt x="71" y="10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17" name="Freeform 313"/>
              <p:cNvSpPr>
                <a:spLocks/>
              </p:cNvSpPr>
              <p:nvPr/>
            </p:nvSpPr>
            <p:spPr bwMode="auto">
              <a:xfrm>
                <a:off x="2280" y="2806"/>
                <a:ext cx="27" cy="35"/>
              </a:xfrm>
              <a:custGeom>
                <a:avLst/>
                <a:gdLst>
                  <a:gd name="T0" fmla="*/ 19 w 27"/>
                  <a:gd name="T1" fmla="*/ 0 h 35"/>
                  <a:gd name="T2" fmla="*/ 27 w 27"/>
                  <a:gd name="T3" fmla="*/ 16 h 35"/>
                  <a:gd name="T4" fmla="*/ 8 w 27"/>
                  <a:gd name="T5" fmla="*/ 35 h 35"/>
                  <a:gd name="T6" fmla="*/ 0 w 27"/>
                  <a:gd name="T7" fmla="*/ 18 h 35"/>
                  <a:gd name="T8" fmla="*/ 19 w 27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35"/>
                  <a:gd name="T17" fmla="*/ 27 w 27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35">
                    <a:moveTo>
                      <a:pt x="19" y="0"/>
                    </a:moveTo>
                    <a:lnTo>
                      <a:pt x="27" y="16"/>
                    </a:lnTo>
                    <a:lnTo>
                      <a:pt x="8" y="35"/>
                    </a:lnTo>
                    <a:lnTo>
                      <a:pt x="0" y="18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18" name="Freeform 314"/>
              <p:cNvSpPr>
                <a:spLocks/>
              </p:cNvSpPr>
              <p:nvPr/>
            </p:nvSpPr>
            <p:spPr bwMode="auto">
              <a:xfrm>
                <a:off x="2177" y="2593"/>
                <a:ext cx="120" cy="227"/>
              </a:xfrm>
              <a:custGeom>
                <a:avLst/>
                <a:gdLst>
                  <a:gd name="T0" fmla="*/ 26 w 120"/>
                  <a:gd name="T1" fmla="*/ 0 h 227"/>
                  <a:gd name="T2" fmla="*/ 26 w 120"/>
                  <a:gd name="T3" fmla="*/ 0 h 227"/>
                  <a:gd name="T4" fmla="*/ 35 w 120"/>
                  <a:gd name="T5" fmla="*/ 27 h 227"/>
                  <a:gd name="T6" fmla="*/ 45 w 120"/>
                  <a:gd name="T7" fmla="*/ 55 h 227"/>
                  <a:gd name="T8" fmla="*/ 57 w 120"/>
                  <a:gd name="T9" fmla="*/ 82 h 227"/>
                  <a:gd name="T10" fmla="*/ 67 w 120"/>
                  <a:gd name="T11" fmla="*/ 109 h 227"/>
                  <a:gd name="T12" fmla="*/ 80 w 120"/>
                  <a:gd name="T13" fmla="*/ 135 h 227"/>
                  <a:gd name="T14" fmla="*/ 92 w 120"/>
                  <a:gd name="T15" fmla="*/ 160 h 227"/>
                  <a:gd name="T16" fmla="*/ 106 w 120"/>
                  <a:gd name="T17" fmla="*/ 183 h 227"/>
                  <a:gd name="T18" fmla="*/ 120 w 120"/>
                  <a:gd name="T19" fmla="*/ 208 h 227"/>
                  <a:gd name="T20" fmla="*/ 98 w 120"/>
                  <a:gd name="T21" fmla="*/ 227 h 227"/>
                  <a:gd name="T22" fmla="*/ 85 w 120"/>
                  <a:gd name="T23" fmla="*/ 203 h 227"/>
                  <a:gd name="T24" fmla="*/ 70 w 120"/>
                  <a:gd name="T25" fmla="*/ 176 h 227"/>
                  <a:gd name="T26" fmla="*/ 57 w 120"/>
                  <a:gd name="T27" fmla="*/ 149 h 227"/>
                  <a:gd name="T28" fmla="*/ 44 w 120"/>
                  <a:gd name="T29" fmla="*/ 121 h 227"/>
                  <a:gd name="T30" fmla="*/ 31 w 120"/>
                  <a:gd name="T31" fmla="*/ 94 h 227"/>
                  <a:gd name="T32" fmla="*/ 20 w 120"/>
                  <a:gd name="T33" fmla="*/ 67 h 227"/>
                  <a:gd name="T34" fmla="*/ 11 w 120"/>
                  <a:gd name="T35" fmla="*/ 37 h 227"/>
                  <a:gd name="T36" fmla="*/ 0 w 120"/>
                  <a:gd name="T37" fmla="*/ 8 h 227"/>
                  <a:gd name="T38" fmla="*/ 26 w 120"/>
                  <a:gd name="T39" fmla="*/ 0 h 22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0"/>
                  <a:gd name="T61" fmla="*/ 0 h 227"/>
                  <a:gd name="T62" fmla="*/ 120 w 120"/>
                  <a:gd name="T63" fmla="*/ 227 h 22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0" h="227">
                    <a:moveTo>
                      <a:pt x="26" y="0"/>
                    </a:moveTo>
                    <a:lnTo>
                      <a:pt x="26" y="0"/>
                    </a:lnTo>
                    <a:lnTo>
                      <a:pt x="35" y="27"/>
                    </a:lnTo>
                    <a:lnTo>
                      <a:pt x="45" y="55"/>
                    </a:lnTo>
                    <a:lnTo>
                      <a:pt x="57" y="82"/>
                    </a:lnTo>
                    <a:lnTo>
                      <a:pt x="67" y="109"/>
                    </a:lnTo>
                    <a:lnTo>
                      <a:pt x="80" y="135"/>
                    </a:lnTo>
                    <a:lnTo>
                      <a:pt x="92" y="160"/>
                    </a:lnTo>
                    <a:lnTo>
                      <a:pt x="106" y="183"/>
                    </a:lnTo>
                    <a:lnTo>
                      <a:pt x="120" y="208"/>
                    </a:lnTo>
                    <a:lnTo>
                      <a:pt x="98" y="227"/>
                    </a:lnTo>
                    <a:lnTo>
                      <a:pt x="85" y="203"/>
                    </a:lnTo>
                    <a:lnTo>
                      <a:pt x="70" y="176"/>
                    </a:lnTo>
                    <a:lnTo>
                      <a:pt x="57" y="149"/>
                    </a:lnTo>
                    <a:lnTo>
                      <a:pt x="44" y="121"/>
                    </a:lnTo>
                    <a:lnTo>
                      <a:pt x="31" y="94"/>
                    </a:lnTo>
                    <a:lnTo>
                      <a:pt x="20" y="67"/>
                    </a:lnTo>
                    <a:lnTo>
                      <a:pt x="11" y="37"/>
                    </a:lnTo>
                    <a:lnTo>
                      <a:pt x="0" y="8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19" name="Freeform 315"/>
              <p:cNvSpPr>
                <a:spLocks/>
              </p:cNvSpPr>
              <p:nvPr/>
            </p:nvSpPr>
            <p:spPr bwMode="auto">
              <a:xfrm>
                <a:off x="2127" y="2397"/>
                <a:ext cx="69" cy="204"/>
              </a:xfrm>
              <a:custGeom>
                <a:avLst/>
                <a:gdLst>
                  <a:gd name="T0" fmla="*/ 27 w 69"/>
                  <a:gd name="T1" fmla="*/ 1 h 204"/>
                  <a:gd name="T2" fmla="*/ 30 w 69"/>
                  <a:gd name="T3" fmla="*/ 26 h 204"/>
                  <a:gd name="T4" fmla="*/ 34 w 69"/>
                  <a:gd name="T5" fmla="*/ 51 h 204"/>
                  <a:gd name="T6" fmla="*/ 37 w 69"/>
                  <a:gd name="T7" fmla="*/ 75 h 204"/>
                  <a:gd name="T8" fmla="*/ 43 w 69"/>
                  <a:gd name="T9" fmla="*/ 98 h 204"/>
                  <a:gd name="T10" fmla="*/ 49 w 69"/>
                  <a:gd name="T11" fmla="*/ 122 h 204"/>
                  <a:gd name="T12" fmla="*/ 54 w 69"/>
                  <a:gd name="T13" fmla="*/ 147 h 204"/>
                  <a:gd name="T14" fmla="*/ 63 w 69"/>
                  <a:gd name="T15" fmla="*/ 171 h 204"/>
                  <a:gd name="T16" fmla="*/ 69 w 69"/>
                  <a:gd name="T17" fmla="*/ 196 h 204"/>
                  <a:gd name="T18" fmla="*/ 45 w 69"/>
                  <a:gd name="T19" fmla="*/ 204 h 204"/>
                  <a:gd name="T20" fmla="*/ 36 w 69"/>
                  <a:gd name="T21" fmla="*/ 179 h 204"/>
                  <a:gd name="T22" fmla="*/ 30 w 69"/>
                  <a:gd name="T23" fmla="*/ 153 h 204"/>
                  <a:gd name="T24" fmla="*/ 22 w 69"/>
                  <a:gd name="T25" fmla="*/ 127 h 204"/>
                  <a:gd name="T26" fmla="*/ 16 w 69"/>
                  <a:gd name="T27" fmla="*/ 102 h 204"/>
                  <a:gd name="T28" fmla="*/ 11 w 69"/>
                  <a:gd name="T29" fmla="*/ 76 h 204"/>
                  <a:gd name="T30" fmla="*/ 6 w 69"/>
                  <a:gd name="T31" fmla="*/ 51 h 204"/>
                  <a:gd name="T32" fmla="*/ 3 w 69"/>
                  <a:gd name="T33" fmla="*/ 25 h 204"/>
                  <a:gd name="T34" fmla="*/ 0 w 69"/>
                  <a:gd name="T35" fmla="*/ 0 h 204"/>
                  <a:gd name="T36" fmla="*/ 27 w 69"/>
                  <a:gd name="T37" fmla="*/ 1 h 2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9"/>
                  <a:gd name="T58" fmla="*/ 0 h 204"/>
                  <a:gd name="T59" fmla="*/ 69 w 69"/>
                  <a:gd name="T60" fmla="*/ 204 h 20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9" h="204">
                    <a:moveTo>
                      <a:pt x="27" y="1"/>
                    </a:moveTo>
                    <a:lnTo>
                      <a:pt x="30" y="26"/>
                    </a:lnTo>
                    <a:lnTo>
                      <a:pt x="34" y="51"/>
                    </a:lnTo>
                    <a:lnTo>
                      <a:pt x="37" y="75"/>
                    </a:lnTo>
                    <a:lnTo>
                      <a:pt x="43" y="98"/>
                    </a:lnTo>
                    <a:lnTo>
                      <a:pt x="49" y="122"/>
                    </a:lnTo>
                    <a:lnTo>
                      <a:pt x="54" y="147"/>
                    </a:lnTo>
                    <a:lnTo>
                      <a:pt x="63" y="171"/>
                    </a:lnTo>
                    <a:lnTo>
                      <a:pt x="69" y="196"/>
                    </a:lnTo>
                    <a:lnTo>
                      <a:pt x="45" y="204"/>
                    </a:lnTo>
                    <a:lnTo>
                      <a:pt x="36" y="179"/>
                    </a:lnTo>
                    <a:lnTo>
                      <a:pt x="30" y="153"/>
                    </a:lnTo>
                    <a:lnTo>
                      <a:pt x="22" y="127"/>
                    </a:lnTo>
                    <a:lnTo>
                      <a:pt x="16" y="102"/>
                    </a:lnTo>
                    <a:lnTo>
                      <a:pt x="11" y="76"/>
                    </a:lnTo>
                    <a:lnTo>
                      <a:pt x="6" y="51"/>
                    </a:lnTo>
                    <a:lnTo>
                      <a:pt x="3" y="25"/>
                    </a:lnTo>
                    <a:lnTo>
                      <a:pt x="0" y="0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20" name="Freeform 316"/>
              <p:cNvSpPr>
                <a:spLocks/>
              </p:cNvSpPr>
              <p:nvPr/>
            </p:nvSpPr>
            <p:spPr bwMode="auto">
              <a:xfrm>
                <a:off x="2124" y="2377"/>
                <a:ext cx="27" cy="19"/>
              </a:xfrm>
              <a:custGeom>
                <a:avLst/>
                <a:gdLst>
                  <a:gd name="T0" fmla="*/ 2 w 27"/>
                  <a:gd name="T1" fmla="*/ 18 h 19"/>
                  <a:gd name="T2" fmla="*/ 0 w 27"/>
                  <a:gd name="T3" fmla="*/ 0 h 19"/>
                  <a:gd name="T4" fmla="*/ 25 w 27"/>
                  <a:gd name="T5" fmla="*/ 1 h 19"/>
                  <a:gd name="T6" fmla="*/ 27 w 27"/>
                  <a:gd name="T7" fmla="*/ 19 h 19"/>
                  <a:gd name="T8" fmla="*/ 2 w 27"/>
                  <a:gd name="T9" fmla="*/ 18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19"/>
                  <a:gd name="T17" fmla="*/ 27 w 27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19">
                    <a:moveTo>
                      <a:pt x="2" y="18"/>
                    </a:moveTo>
                    <a:lnTo>
                      <a:pt x="0" y="0"/>
                    </a:lnTo>
                    <a:lnTo>
                      <a:pt x="25" y="1"/>
                    </a:lnTo>
                    <a:lnTo>
                      <a:pt x="27" y="19"/>
                    </a:lnTo>
                    <a:lnTo>
                      <a:pt x="2" y="18"/>
                    </a:lnTo>
                    <a:close/>
                  </a:path>
                </a:pathLst>
              </a:custGeom>
              <a:solidFill>
                <a:srgbClr val="FF00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21" name="Freeform 317"/>
              <p:cNvSpPr>
                <a:spLocks/>
              </p:cNvSpPr>
              <p:nvPr/>
            </p:nvSpPr>
            <p:spPr bwMode="auto">
              <a:xfrm>
                <a:off x="2226" y="2727"/>
                <a:ext cx="114" cy="162"/>
              </a:xfrm>
              <a:custGeom>
                <a:avLst/>
                <a:gdLst>
                  <a:gd name="T0" fmla="*/ 72 w 114"/>
                  <a:gd name="T1" fmla="*/ 0 h 162"/>
                  <a:gd name="T2" fmla="*/ 114 w 114"/>
                  <a:gd name="T3" fmla="*/ 162 h 162"/>
                  <a:gd name="T4" fmla="*/ 0 w 114"/>
                  <a:gd name="T5" fmla="*/ 64 h 162"/>
                  <a:gd name="T6" fmla="*/ 72 w 114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4"/>
                  <a:gd name="T13" fmla="*/ 0 h 162"/>
                  <a:gd name="T14" fmla="*/ 114 w 114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4" h="162">
                    <a:moveTo>
                      <a:pt x="72" y="0"/>
                    </a:moveTo>
                    <a:lnTo>
                      <a:pt x="114" y="162"/>
                    </a:lnTo>
                    <a:lnTo>
                      <a:pt x="0" y="64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22" name="Freeform 318"/>
              <p:cNvSpPr>
                <a:spLocks/>
              </p:cNvSpPr>
              <p:nvPr/>
            </p:nvSpPr>
            <p:spPr bwMode="auto">
              <a:xfrm>
                <a:off x="2290" y="2727"/>
                <a:ext cx="62" cy="185"/>
              </a:xfrm>
              <a:custGeom>
                <a:avLst/>
                <a:gdLst>
                  <a:gd name="T0" fmla="*/ 52 w 62"/>
                  <a:gd name="T1" fmla="*/ 155 h 185"/>
                  <a:gd name="T2" fmla="*/ 43 w 62"/>
                  <a:gd name="T3" fmla="*/ 164 h 185"/>
                  <a:gd name="T4" fmla="*/ 0 w 62"/>
                  <a:gd name="T5" fmla="*/ 3 h 185"/>
                  <a:gd name="T6" fmla="*/ 14 w 62"/>
                  <a:gd name="T7" fmla="*/ 0 h 185"/>
                  <a:gd name="T8" fmla="*/ 57 w 62"/>
                  <a:gd name="T9" fmla="*/ 161 h 185"/>
                  <a:gd name="T10" fmla="*/ 46 w 62"/>
                  <a:gd name="T11" fmla="*/ 170 h 185"/>
                  <a:gd name="T12" fmla="*/ 57 w 62"/>
                  <a:gd name="T13" fmla="*/ 161 h 185"/>
                  <a:gd name="T14" fmla="*/ 62 w 62"/>
                  <a:gd name="T15" fmla="*/ 185 h 185"/>
                  <a:gd name="T16" fmla="*/ 46 w 62"/>
                  <a:gd name="T17" fmla="*/ 170 h 185"/>
                  <a:gd name="T18" fmla="*/ 52 w 62"/>
                  <a:gd name="T19" fmla="*/ 155 h 1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2"/>
                  <a:gd name="T31" fmla="*/ 0 h 185"/>
                  <a:gd name="T32" fmla="*/ 62 w 62"/>
                  <a:gd name="T33" fmla="*/ 185 h 1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2" h="185">
                    <a:moveTo>
                      <a:pt x="52" y="155"/>
                    </a:moveTo>
                    <a:lnTo>
                      <a:pt x="43" y="164"/>
                    </a:lnTo>
                    <a:lnTo>
                      <a:pt x="0" y="3"/>
                    </a:lnTo>
                    <a:lnTo>
                      <a:pt x="14" y="0"/>
                    </a:lnTo>
                    <a:lnTo>
                      <a:pt x="57" y="161"/>
                    </a:lnTo>
                    <a:lnTo>
                      <a:pt x="46" y="170"/>
                    </a:lnTo>
                    <a:lnTo>
                      <a:pt x="57" y="161"/>
                    </a:lnTo>
                    <a:lnTo>
                      <a:pt x="62" y="185"/>
                    </a:lnTo>
                    <a:lnTo>
                      <a:pt x="46" y="170"/>
                    </a:lnTo>
                    <a:lnTo>
                      <a:pt x="52" y="15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23" name="Freeform 319"/>
              <p:cNvSpPr>
                <a:spLocks/>
              </p:cNvSpPr>
              <p:nvPr/>
            </p:nvSpPr>
            <p:spPr bwMode="auto">
              <a:xfrm>
                <a:off x="2215" y="2782"/>
                <a:ext cx="127" cy="113"/>
              </a:xfrm>
              <a:custGeom>
                <a:avLst/>
                <a:gdLst>
                  <a:gd name="T0" fmla="*/ 18 w 127"/>
                  <a:gd name="T1" fmla="*/ 18 h 113"/>
                  <a:gd name="T2" fmla="*/ 16 w 127"/>
                  <a:gd name="T3" fmla="*/ 1 h 113"/>
                  <a:gd name="T4" fmla="*/ 127 w 127"/>
                  <a:gd name="T5" fmla="*/ 97 h 113"/>
                  <a:gd name="T6" fmla="*/ 120 w 127"/>
                  <a:gd name="T7" fmla="*/ 113 h 113"/>
                  <a:gd name="T8" fmla="*/ 9 w 127"/>
                  <a:gd name="T9" fmla="*/ 17 h 113"/>
                  <a:gd name="T10" fmla="*/ 7 w 127"/>
                  <a:gd name="T11" fmla="*/ 0 h 113"/>
                  <a:gd name="T12" fmla="*/ 9 w 127"/>
                  <a:gd name="T13" fmla="*/ 17 h 113"/>
                  <a:gd name="T14" fmla="*/ 0 w 127"/>
                  <a:gd name="T15" fmla="*/ 7 h 113"/>
                  <a:gd name="T16" fmla="*/ 7 w 127"/>
                  <a:gd name="T17" fmla="*/ 0 h 113"/>
                  <a:gd name="T18" fmla="*/ 18 w 127"/>
                  <a:gd name="T19" fmla="*/ 18 h 11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"/>
                  <a:gd name="T31" fmla="*/ 0 h 113"/>
                  <a:gd name="T32" fmla="*/ 127 w 127"/>
                  <a:gd name="T33" fmla="*/ 113 h 11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" h="113">
                    <a:moveTo>
                      <a:pt x="18" y="18"/>
                    </a:moveTo>
                    <a:lnTo>
                      <a:pt x="16" y="1"/>
                    </a:lnTo>
                    <a:lnTo>
                      <a:pt x="127" y="97"/>
                    </a:lnTo>
                    <a:lnTo>
                      <a:pt x="120" y="113"/>
                    </a:lnTo>
                    <a:lnTo>
                      <a:pt x="9" y="17"/>
                    </a:lnTo>
                    <a:lnTo>
                      <a:pt x="7" y="0"/>
                    </a:lnTo>
                    <a:lnTo>
                      <a:pt x="9" y="17"/>
                    </a:lnTo>
                    <a:lnTo>
                      <a:pt x="0" y="7"/>
                    </a:lnTo>
                    <a:lnTo>
                      <a:pt x="7" y="0"/>
                    </a:lnTo>
                    <a:lnTo>
                      <a:pt x="18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24" name="Freeform 320"/>
              <p:cNvSpPr>
                <a:spLocks/>
              </p:cNvSpPr>
              <p:nvPr/>
            </p:nvSpPr>
            <p:spPr bwMode="auto">
              <a:xfrm>
                <a:off x="2220" y="2709"/>
                <a:ext cx="82" cy="90"/>
              </a:xfrm>
              <a:custGeom>
                <a:avLst/>
                <a:gdLst>
                  <a:gd name="T0" fmla="*/ 67 w 82"/>
                  <a:gd name="T1" fmla="*/ 18 h 90"/>
                  <a:gd name="T2" fmla="*/ 80 w 82"/>
                  <a:gd name="T3" fmla="*/ 25 h 90"/>
                  <a:gd name="T4" fmla="*/ 11 w 82"/>
                  <a:gd name="T5" fmla="*/ 90 h 90"/>
                  <a:gd name="T6" fmla="*/ 0 w 82"/>
                  <a:gd name="T7" fmla="*/ 72 h 90"/>
                  <a:gd name="T8" fmla="*/ 69 w 82"/>
                  <a:gd name="T9" fmla="*/ 9 h 90"/>
                  <a:gd name="T10" fmla="*/ 82 w 82"/>
                  <a:gd name="T11" fmla="*/ 15 h 90"/>
                  <a:gd name="T12" fmla="*/ 69 w 82"/>
                  <a:gd name="T13" fmla="*/ 9 h 90"/>
                  <a:gd name="T14" fmla="*/ 78 w 82"/>
                  <a:gd name="T15" fmla="*/ 0 h 90"/>
                  <a:gd name="T16" fmla="*/ 82 w 82"/>
                  <a:gd name="T17" fmla="*/ 15 h 90"/>
                  <a:gd name="T18" fmla="*/ 67 w 82"/>
                  <a:gd name="T19" fmla="*/ 18 h 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2"/>
                  <a:gd name="T31" fmla="*/ 0 h 90"/>
                  <a:gd name="T32" fmla="*/ 82 w 82"/>
                  <a:gd name="T33" fmla="*/ 90 h 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2" h="90">
                    <a:moveTo>
                      <a:pt x="67" y="18"/>
                    </a:moveTo>
                    <a:lnTo>
                      <a:pt x="80" y="25"/>
                    </a:lnTo>
                    <a:lnTo>
                      <a:pt x="11" y="90"/>
                    </a:lnTo>
                    <a:lnTo>
                      <a:pt x="0" y="72"/>
                    </a:lnTo>
                    <a:lnTo>
                      <a:pt x="69" y="9"/>
                    </a:lnTo>
                    <a:lnTo>
                      <a:pt x="82" y="15"/>
                    </a:lnTo>
                    <a:lnTo>
                      <a:pt x="69" y="9"/>
                    </a:lnTo>
                    <a:lnTo>
                      <a:pt x="78" y="0"/>
                    </a:lnTo>
                    <a:lnTo>
                      <a:pt x="82" y="15"/>
                    </a:lnTo>
                    <a:lnTo>
                      <a:pt x="67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25" name="Freeform 321"/>
              <p:cNvSpPr>
                <a:spLocks/>
              </p:cNvSpPr>
              <p:nvPr/>
            </p:nvSpPr>
            <p:spPr bwMode="auto">
              <a:xfrm>
                <a:off x="2290" y="2817"/>
                <a:ext cx="37" cy="46"/>
              </a:xfrm>
              <a:custGeom>
                <a:avLst/>
                <a:gdLst>
                  <a:gd name="T0" fmla="*/ 24 w 37"/>
                  <a:gd name="T1" fmla="*/ 0 h 46"/>
                  <a:gd name="T2" fmla="*/ 37 w 37"/>
                  <a:gd name="T3" fmla="*/ 19 h 46"/>
                  <a:gd name="T4" fmla="*/ 13 w 37"/>
                  <a:gd name="T5" fmla="*/ 46 h 46"/>
                  <a:gd name="T6" fmla="*/ 0 w 37"/>
                  <a:gd name="T7" fmla="*/ 27 h 46"/>
                  <a:gd name="T8" fmla="*/ 24 w 37"/>
                  <a:gd name="T9" fmla="*/ 0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46"/>
                  <a:gd name="T17" fmla="*/ 37 w 37"/>
                  <a:gd name="T18" fmla="*/ 46 h 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46">
                    <a:moveTo>
                      <a:pt x="24" y="0"/>
                    </a:moveTo>
                    <a:lnTo>
                      <a:pt x="37" y="19"/>
                    </a:lnTo>
                    <a:lnTo>
                      <a:pt x="13" y="46"/>
                    </a:lnTo>
                    <a:lnTo>
                      <a:pt x="0" y="2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26" name="Freeform 322"/>
              <p:cNvSpPr>
                <a:spLocks/>
              </p:cNvSpPr>
              <p:nvPr/>
            </p:nvSpPr>
            <p:spPr bwMode="auto">
              <a:xfrm>
                <a:off x="2186" y="2627"/>
                <a:ext cx="125" cy="216"/>
              </a:xfrm>
              <a:custGeom>
                <a:avLst/>
                <a:gdLst>
                  <a:gd name="T0" fmla="*/ 31 w 125"/>
                  <a:gd name="T1" fmla="*/ 0 h 216"/>
                  <a:gd name="T2" fmla="*/ 31 w 125"/>
                  <a:gd name="T3" fmla="*/ 0 h 216"/>
                  <a:gd name="T4" fmla="*/ 40 w 125"/>
                  <a:gd name="T5" fmla="*/ 28 h 216"/>
                  <a:gd name="T6" fmla="*/ 51 w 125"/>
                  <a:gd name="T7" fmla="*/ 52 h 216"/>
                  <a:gd name="T8" fmla="*/ 62 w 125"/>
                  <a:gd name="T9" fmla="*/ 77 h 216"/>
                  <a:gd name="T10" fmla="*/ 72 w 125"/>
                  <a:gd name="T11" fmla="*/ 101 h 216"/>
                  <a:gd name="T12" fmla="*/ 84 w 125"/>
                  <a:gd name="T13" fmla="*/ 125 h 216"/>
                  <a:gd name="T14" fmla="*/ 97 w 125"/>
                  <a:gd name="T15" fmla="*/ 146 h 216"/>
                  <a:gd name="T16" fmla="*/ 110 w 125"/>
                  <a:gd name="T17" fmla="*/ 169 h 216"/>
                  <a:gd name="T18" fmla="*/ 125 w 125"/>
                  <a:gd name="T19" fmla="*/ 191 h 216"/>
                  <a:gd name="T20" fmla="*/ 101 w 125"/>
                  <a:gd name="T21" fmla="*/ 216 h 216"/>
                  <a:gd name="T22" fmla="*/ 85 w 125"/>
                  <a:gd name="T23" fmla="*/ 191 h 216"/>
                  <a:gd name="T24" fmla="*/ 70 w 125"/>
                  <a:gd name="T25" fmla="*/ 168 h 216"/>
                  <a:gd name="T26" fmla="*/ 57 w 125"/>
                  <a:gd name="T27" fmla="*/ 144 h 216"/>
                  <a:gd name="T28" fmla="*/ 45 w 125"/>
                  <a:gd name="T29" fmla="*/ 118 h 216"/>
                  <a:gd name="T30" fmla="*/ 33 w 125"/>
                  <a:gd name="T31" fmla="*/ 93 h 216"/>
                  <a:gd name="T32" fmla="*/ 21 w 125"/>
                  <a:gd name="T33" fmla="*/ 67 h 216"/>
                  <a:gd name="T34" fmla="*/ 11 w 125"/>
                  <a:gd name="T35" fmla="*/ 39 h 216"/>
                  <a:gd name="T36" fmla="*/ 0 w 125"/>
                  <a:gd name="T37" fmla="*/ 11 h 216"/>
                  <a:gd name="T38" fmla="*/ 31 w 125"/>
                  <a:gd name="T39" fmla="*/ 0 h 21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5"/>
                  <a:gd name="T61" fmla="*/ 0 h 216"/>
                  <a:gd name="T62" fmla="*/ 125 w 125"/>
                  <a:gd name="T63" fmla="*/ 216 h 21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5" h="216">
                    <a:moveTo>
                      <a:pt x="31" y="0"/>
                    </a:moveTo>
                    <a:lnTo>
                      <a:pt x="31" y="0"/>
                    </a:lnTo>
                    <a:lnTo>
                      <a:pt x="40" y="28"/>
                    </a:lnTo>
                    <a:lnTo>
                      <a:pt x="51" y="52"/>
                    </a:lnTo>
                    <a:lnTo>
                      <a:pt x="62" y="77"/>
                    </a:lnTo>
                    <a:lnTo>
                      <a:pt x="72" y="101"/>
                    </a:lnTo>
                    <a:lnTo>
                      <a:pt x="84" y="125"/>
                    </a:lnTo>
                    <a:lnTo>
                      <a:pt x="97" y="146"/>
                    </a:lnTo>
                    <a:lnTo>
                      <a:pt x="110" y="169"/>
                    </a:lnTo>
                    <a:lnTo>
                      <a:pt x="125" y="191"/>
                    </a:lnTo>
                    <a:lnTo>
                      <a:pt x="101" y="216"/>
                    </a:lnTo>
                    <a:lnTo>
                      <a:pt x="85" y="191"/>
                    </a:lnTo>
                    <a:lnTo>
                      <a:pt x="70" y="168"/>
                    </a:lnTo>
                    <a:lnTo>
                      <a:pt x="57" y="144"/>
                    </a:lnTo>
                    <a:lnTo>
                      <a:pt x="45" y="118"/>
                    </a:lnTo>
                    <a:lnTo>
                      <a:pt x="33" y="93"/>
                    </a:lnTo>
                    <a:lnTo>
                      <a:pt x="21" y="67"/>
                    </a:lnTo>
                    <a:lnTo>
                      <a:pt x="11" y="39"/>
                    </a:lnTo>
                    <a:lnTo>
                      <a:pt x="0" y="11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27" name="Freeform 323"/>
              <p:cNvSpPr>
                <a:spLocks/>
              </p:cNvSpPr>
              <p:nvPr/>
            </p:nvSpPr>
            <p:spPr bwMode="auto">
              <a:xfrm>
                <a:off x="2130" y="2430"/>
                <a:ext cx="83" cy="205"/>
              </a:xfrm>
              <a:custGeom>
                <a:avLst/>
                <a:gdLst>
                  <a:gd name="T0" fmla="*/ 33 w 83"/>
                  <a:gd name="T1" fmla="*/ 0 h 205"/>
                  <a:gd name="T2" fmla="*/ 36 w 83"/>
                  <a:gd name="T3" fmla="*/ 25 h 205"/>
                  <a:gd name="T4" fmla="*/ 41 w 83"/>
                  <a:gd name="T5" fmla="*/ 49 h 205"/>
                  <a:gd name="T6" fmla="*/ 47 w 83"/>
                  <a:gd name="T7" fmla="*/ 73 h 205"/>
                  <a:gd name="T8" fmla="*/ 52 w 83"/>
                  <a:gd name="T9" fmla="*/ 97 h 205"/>
                  <a:gd name="T10" fmla="*/ 59 w 83"/>
                  <a:gd name="T11" fmla="*/ 122 h 205"/>
                  <a:gd name="T12" fmla="*/ 66 w 83"/>
                  <a:gd name="T13" fmla="*/ 146 h 205"/>
                  <a:gd name="T14" fmla="*/ 75 w 83"/>
                  <a:gd name="T15" fmla="*/ 170 h 205"/>
                  <a:gd name="T16" fmla="*/ 83 w 83"/>
                  <a:gd name="T17" fmla="*/ 195 h 205"/>
                  <a:gd name="T18" fmla="*/ 54 w 83"/>
                  <a:gd name="T19" fmla="*/ 205 h 205"/>
                  <a:gd name="T20" fmla="*/ 45 w 83"/>
                  <a:gd name="T21" fmla="*/ 181 h 205"/>
                  <a:gd name="T22" fmla="*/ 35 w 83"/>
                  <a:gd name="T23" fmla="*/ 155 h 205"/>
                  <a:gd name="T24" fmla="*/ 29 w 83"/>
                  <a:gd name="T25" fmla="*/ 130 h 205"/>
                  <a:gd name="T26" fmla="*/ 21 w 83"/>
                  <a:gd name="T27" fmla="*/ 103 h 205"/>
                  <a:gd name="T28" fmla="*/ 15 w 83"/>
                  <a:gd name="T29" fmla="*/ 78 h 205"/>
                  <a:gd name="T30" fmla="*/ 9 w 83"/>
                  <a:gd name="T31" fmla="*/ 53 h 205"/>
                  <a:gd name="T32" fmla="*/ 4 w 83"/>
                  <a:gd name="T33" fmla="*/ 27 h 205"/>
                  <a:gd name="T34" fmla="*/ 0 w 83"/>
                  <a:gd name="T35" fmla="*/ 1 h 205"/>
                  <a:gd name="T36" fmla="*/ 33 w 83"/>
                  <a:gd name="T37" fmla="*/ 0 h 20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3"/>
                  <a:gd name="T58" fmla="*/ 0 h 205"/>
                  <a:gd name="T59" fmla="*/ 83 w 83"/>
                  <a:gd name="T60" fmla="*/ 205 h 20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3" h="205">
                    <a:moveTo>
                      <a:pt x="33" y="0"/>
                    </a:moveTo>
                    <a:lnTo>
                      <a:pt x="36" y="25"/>
                    </a:lnTo>
                    <a:lnTo>
                      <a:pt x="41" y="49"/>
                    </a:lnTo>
                    <a:lnTo>
                      <a:pt x="47" y="73"/>
                    </a:lnTo>
                    <a:lnTo>
                      <a:pt x="52" y="97"/>
                    </a:lnTo>
                    <a:lnTo>
                      <a:pt x="59" y="122"/>
                    </a:lnTo>
                    <a:lnTo>
                      <a:pt x="66" y="146"/>
                    </a:lnTo>
                    <a:lnTo>
                      <a:pt x="75" y="170"/>
                    </a:lnTo>
                    <a:lnTo>
                      <a:pt x="83" y="195"/>
                    </a:lnTo>
                    <a:lnTo>
                      <a:pt x="54" y="205"/>
                    </a:lnTo>
                    <a:lnTo>
                      <a:pt x="45" y="181"/>
                    </a:lnTo>
                    <a:lnTo>
                      <a:pt x="35" y="155"/>
                    </a:lnTo>
                    <a:lnTo>
                      <a:pt x="29" y="130"/>
                    </a:lnTo>
                    <a:lnTo>
                      <a:pt x="21" y="103"/>
                    </a:lnTo>
                    <a:lnTo>
                      <a:pt x="15" y="78"/>
                    </a:lnTo>
                    <a:lnTo>
                      <a:pt x="9" y="53"/>
                    </a:lnTo>
                    <a:lnTo>
                      <a:pt x="4" y="27"/>
                    </a:lnTo>
                    <a:lnTo>
                      <a:pt x="0" y="1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28" name="Freeform 324"/>
              <p:cNvSpPr>
                <a:spLocks/>
              </p:cNvSpPr>
              <p:nvPr/>
            </p:nvSpPr>
            <p:spPr bwMode="auto">
              <a:xfrm>
                <a:off x="2125" y="2409"/>
                <a:ext cx="36" cy="23"/>
              </a:xfrm>
              <a:custGeom>
                <a:avLst/>
                <a:gdLst>
                  <a:gd name="T0" fmla="*/ 3 w 36"/>
                  <a:gd name="T1" fmla="*/ 23 h 23"/>
                  <a:gd name="T2" fmla="*/ 0 w 36"/>
                  <a:gd name="T3" fmla="*/ 0 h 23"/>
                  <a:gd name="T4" fmla="*/ 33 w 36"/>
                  <a:gd name="T5" fmla="*/ 0 h 23"/>
                  <a:gd name="T6" fmla="*/ 36 w 36"/>
                  <a:gd name="T7" fmla="*/ 23 h 23"/>
                  <a:gd name="T8" fmla="*/ 3 w 36"/>
                  <a:gd name="T9" fmla="*/ 23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23"/>
                  <a:gd name="T17" fmla="*/ 36 w 36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23">
                    <a:moveTo>
                      <a:pt x="3" y="23"/>
                    </a:moveTo>
                    <a:lnTo>
                      <a:pt x="0" y="0"/>
                    </a:lnTo>
                    <a:lnTo>
                      <a:pt x="33" y="0"/>
                    </a:lnTo>
                    <a:lnTo>
                      <a:pt x="36" y="23"/>
                    </a:lnTo>
                    <a:lnTo>
                      <a:pt x="3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29" name="Freeform 325"/>
              <p:cNvSpPr>
                <a:spLocks/>
              </p:cNvSpPr>
              <p:nvPr/>
            </p:nvSpPr>
            <p:spPr bwMode="auto">
              <a:xfrm>
                <a:off x="2226" y="2727"/>
                <a:ext cx="114" cy="162"/>
              </a:xfrm>
              <a:custGeom>
                <a:avLst/>
                <a:gdLst>
                  <a:gd name="T0" fmla="*/ 72 w 114"/>
                  <a:gd name="T1" fmla="*/ 0 h 162"/>
                  <a:gd name="T2" fmla="*/ 114 w 114"/>
                  <a:gd name="T3" fmla="*/ 162 h 162"/>
                  <a:gd name="T4" fmla="*/ 0 w 114"/>
                  <a:gd name="T5" fmla="*/ 64 h 162"/>
                  <a:gd name="T6" fmla="*/ 72 w 114"/>
                  <a:gd name="T7" fmla="*/ 0 h 1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4"/>
                  <a:gd name="T13" fmla="*/ 0 h 162"/>
                  <a:gd name="T14" fmla="*/ 114 w 114"/>
                  <a:gd name="T15" fmla="*/ 162 h 1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4" h="162">
                    <a:moveTo>
                      <a:pt x="72" y="0"/>
                    </a:moveTo>
                    <a:lnTo>
                      <a:pt x="114" y="162"/>
                    </a:lnTo>
                    <a:lnTo>
                      <a:pt x="0" y="64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30" name="Freeform 326"/>
              <p:cNvSpPr>
                <a:spLocks/>
              </p:cNvSpPr>
              <p:nvPr/>
            </p:nvSpPr>
            <p:spPr bwMode="auto">
              <a:xfrm>
                <a:off x="2294" y="2726"/>
                <a:ext cx="54" cy="176"/>
              </a:xfrm>
              <a:custGeom>
                <a:avLst/>
                <a:gdLst>
                  <a:gd name="T0" fmla="*/ 48 w 54"/>
                  <a:gd name="T1" fmla="*/ 158 h 176"/>
                  <a:gd name="T2" fmla="*/ 41 w 54"/>
                  <a:gd name="T3" fmla="*/ 164 h 176"/>
                  <a:gd name="T4" fmla="*/ 0 w 54"/>
                  <a:gd name="T5" fmla="*/ 3 h 176"/>
                  <a:gd name="T6" fmla="*/ 8 w 54"/>
                  <a:gd name="T7" fmla="*/ 0 h 176"/>
                  <a:gd name="T8" fmla="*/ 50 w 54"/>
                  <a:gd name="T9" fmla="*/ 162 h 176"/>
                  <a:gd name="T10" fmla="*/ 43 w 54"/>
                  <a:gd name="T11" fmla="*/ 167 h 176"/>
                  <a:gd name="T12" fmla="*/ 50 w 54"/>
                  <a:gd name="T13" fmla="*/ 162 h 176"/>
                  <a:gd name="T14" fmla="*/ 54 w 54"/>
                  <a:gd name="T15" fmla="*/ 176 h 176"/>
                  <a:gd name="T16" fmla="*/ 43 w 54"/>
                  <a:gd name="T17" fmla="*/ 167 h 176"/>
                  <a:gd name="T18" fmla="*/ 48 w 54"/>
                  <a:gd name="T19" fmla="*/ 158 h 1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4"/>
                  <a:gd name="T31" fmla="*/ 0 h 176"/>
                  <a:gd name="T32" fmla="*/ 54 w 54"/>
                  <a:gd name="T33" fmla="*/ 176 h 1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4" h="176">
                    <a:moveTo>
                      <a:pt x="48" y="158"/>
                    </a:moveTo>
                    <a:lnTo>
                      <a:pt x="41" y="164"/>
                    </a:lnTo>
                    <a:lnTo>
                      <a:pt x="0" y="3"/>
                    </a:lnTo>
                    <a:lnTo>
                      <a:pt x="8" y="0"/>
                    </a:lnTo>
                    <a:lnTo>
                      <a:pt x="50" y="162"/>
                    </a:lnTo>
                    <a:lnTo>
                      <a:pt x="43" y="167"/>
                    </a:lnTo>
                    <a:lnTo>
                      <a:pt x="50" y="162"/>
                    </a:lnTo>
                    <a:lnTo>
                      <a:pt x="54" y="176"/>
                    </a:lnTo>
                    <a:lnTo>
                      <a:pt x="43" y="167"/>
                    </a:lnTo>
                    <a:lnTo>
                      <a:pt x="48" y="158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31" name="Freeform 327"/>
              <p:cNvSpPr>
                <a:spLocks/>
              </p:cNvSpPr>
              <p:nvPr/>
            </p:nvSpPr>
            <p:spPr bwMode="auto">
              <a:xfrm>
                <a:off x="2219" y="2784"/>
                <a:ext cx="122" cy="107"/>
              </a:xfrm>
              <a:custGeom>
                <a:avLst/>
                <a:gdLst>
                  <a:gd name="T0" fmla="*/ 12 w 122"/>
                  <a:gd name="T1" fmla="*/ 12 h 107"/>
                  <a:gd name="T2" fmla="*/ 10 w 122"/>
                  <a:gd name="T3" fmla="*/ 1 h 107"/>
                  <a:gd name="T4" fmla="*/ 122 w 122"/>
                  <a:gd name="T5" fmla="*/ 98 h 107"/>
                  <a:gd name="T6" fmla="*/ 118 w 122"/>
                  <a:gd name="T7" fmla="*/ 107 h 107"/>
                  <a:gd name="T8" fmla="*/ 6 w 122"/>
                  <a:gd name="T9" fmla="*/ 11 h 107"/>
                  <a:gd name="T10" fmla="*/ 4 w 122"/>
                  <a:gd name="T11" fmla="*/ 0 h 107"/>
                  <a:gd name="T12" fmla="*/ 6 w 122"/>
                  <a:gd name="T13" fmla="*/ 11 h 107"/>
                  <a:gd name="T14" fmla="*/ 0 w 122"/>
                  <a:gd name="T15" fmla="*/ 5 h 107"/>
                  <a:gd name="T16" fmla="*/ 4 w 122"/>
                  <a:gd name="T17" fmla="*/ 0 h 107"/>
                  <a:gd name="T18" fmla="*/ 12 w 122"/>
                  <a:gd name="T19" fmla="*/ 12 h 10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2"/>
                  <a:gd name="T31" fmla="*/ 0 h 107"/>
                  <a:gd name="T32" fmla="*/ 122 w 122"/>
                  <a:gd name="T33" fmla="*/ 107 h 10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2" h="107">
                    <a:moveTo>
                      <a:pt x="12" y="12"/>
                    </a:moveTo>
                    <a:lnTo>
                      <a:pt x="10" y="1"/>
                    </a:lnTo>
                    <a:lnTo>
                      <a:pt x="122" y="98"/>
                    </a:lnTo>
                    <a:lnTo>
                      <a:pt x="118" y="107"/>
                    </a:lnTo>
                    <a:lnTo>
                      <a:pt x="6" y="11"/>
                    </a:lnTo>
                    <a:lnTo>
                      <a:pt x="4" y="0"/>
                    </a:lnTo>
                    <a:lnTo>
                      <a:pt x="6" y="11"/>
                    </a:lnTo>
                    <a:lnTo>
                      <a:pt x="0" y="5"/>
                    </a:lnTo>
                    <a:lnTo>
                      <a:pt x="4" y="0"/>
                    </a:lnTo>
                    <a:lnTo>
                      <a:pt x="12" y="12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32" name="Freeform 328"/>
              <p:cNvSpPr>
                <a:spLocks/>
              </p:cNvSpPr>
              <p:nvPr/>
            </p:nvSpPr>
            <p:spPr bwMode="auto">
              <a:xfrm>
                <a:off x="2222" y="2717"/>
                <a:ext cx="78" cy="79"/>
              </a:xfrm>
              <a:custGeom>
                <a:avLst/>
                <a:gdLst>
                  <a:gd name="T0" fmla="*/ 69 w 78"/>
                  <a:gd name="T1" fmla="*/ 10 h 79"/>
                  <a:gd name="T2" fmla="*/ 77 w 78"/>
                  <a:gd name="T3" fmla="*/ 16 h 79"/>
                  <a:gd name="T4" fmla="*/ 6 w 78"/>
                  <a:gd name="T5" fmla="*/ 79 h 79"/>
                  <a:gd name="T6" fmla="*/ 0 w 78"/>
                  <a:gd name="T7" fmla="*/ 68 h 79"/>
                  <a:gd name="T8" fmla="*/ 69 w 78"/>
                  <a:gd name="T9" fmla="*/ 4 h 79"/>
                  <a:gd name="T10" fmla="*/ 78 w 78"/>
                  <a:gd name="T11" fmla="*/ 8 h 79"/>
                  <a:gd name="T12" fmla="*/ 69 w 78"/>
                  <a:gd name="T13" fmla="*/ 4 h 79"/>
                  <a:gd name="T14" fmla="*/ 75 w 78"/>
                  <a:gd name="T15" fmla="*/ 0 h 79"/>
                  <a:gd name="T16" fmla="*/ 78 w 78"/>
                  <a:gd name="T17" fmla="*/ 8 h 79"/>
                  <a:gd name="T18" fmla="*/ 69 w 78"/>
                  <a:gd name="T19" fmla="*/ 10 h 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8"/>
                  <a:gd name="T31" fmla="*/ 0 h 79"/>
                  <a:gd name="T32" fmla="*/ 78 w 78"/>
                  <a:gd name="T33" fmla="*/ 79 h 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8" h="79">
                    <a:moveTo>
                      <a:pt x="69" y="10"/>
                    </a:moveTo>
                    <a:lnTo>
                      <a:pt x="77" y="16"/>
                    </a:lnTo>
                    <a:lnTo>
                      <a:pt x="6" y="79"/>
                    </a:lnTo>
                    <a:lnTo>
                      <a:pt x="0" y="68"/>
                    </a:lnTo>
                    <a:lnTo>
                      <a:pt x="69" y="4"/>
                    </a:lnTo>
                    <a:lnTo>
                      <a:pt x="78" y="8"/>
                    </a:lnTo>
                    <a:lnTo>
                      <a:pt x="69" y="4"/>
                    </a:lnTo>
                    <a:lnTo>
                      <a:pt x="75" y="0"/>
                    </a:lnTo>
                    <a:lnTo>
                      <a:pt x="78" y="8"/>
                    </a:lnTo>
                    <a:lnTo>
                      <a:pt x="69" y="1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33" name="Freeform 329"/>
              <p:cNvSpPr>
                <a:spLocks/>
              </p:cNvSpPr>
              <p:nvPr/>
            </p:nvSpPr>
            <p:spPr bwMode="auto">
              <a:xfrm>
                <a:off x="2290" y="2821"/>
                <a:ext cx="30" cy="37"/>
              </a:xfrm>
              <a:custGeom>
                <a:avLst/>
                <a:gdLst>
                  <a:gd name="T0" fmla="*/ 21 w 30"/>
                  <a:gd name="T1" fmla="*/ 0 h 37"/>
                  <a:gd name="T2" fmla="*/ 30 w 30"/>
                  <a:gd name="T3" fmla="*/ 16 h 37"/>
                  <a:gd name="T4" fmla="*/ 10 w 30"/>
                  <a:gd name="T5" fmla="*/ 37 h 37"/>
                  <a:gd name="T6" fmla="*/ 0 w 30"/>
                  <a:gd name="T7" fmla="*/ 22 h 37"/>
                  <a:gd name="T8" fmla="*/ 21 w 30"/>
                  <a:gd name="T9" fmla="*/ 0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7"/>
                  <a:gd name="T17" fmla="*/ 30 w 30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7">
                    <a:moveTo>
                      <a:pt x="21" y="0"/>
                    </a:moveTo>
                    <a:lnTo>
                      <a:pt x="30" y="16"/>
                    </a:lnTo>
                    <a:lnTo>
                      <a:pt x="10" y="37"/>
                    </a:lnTo>
                    <a:lnTo>
                      <a:pt x="0" y="22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34" name="Freeform 330"/>
              <p:cNvSpPr>
                <a:spLocks/>
              </p:cNvSpPr>
              <p:nvPr/>
            </p:nvSpPr>
            <p:spPr bwMode="auto">
              <a:xfrm>
                <a:off x="2190" y="2626"/>
                <a:ext cx="120" cy="213"/>
              </a:xfrm>
              <a:custGeom>
                <a:avLst/>
                <a:gdLst>
                  <a:gd name="T0" fmla="*/ 25 w 120"/>
                  <a:gd name="T1" fmla="*/ 0 h 213"/>
                  <a:gd name="T2" fmla="*/ 25 w 120"/>
                  <a:gd name="T3" fmla="*/ 0 h 213"/>
                  <a:gd name="T4" fmla="*/ 35 w 120"/>
                  <a:gd name="T5" fmla="*/ 28 h 213"/>
                  <a:gd name="T6" fmla="*/ 47 w 120"/>
                  <a:gd name="T7" fmla="*/ 54 h 213"/>
                  <a:gd name="T8" fmla="*/ 57 w 120"/>
                  <a:gd name="T9" fmla="*/ 78 h 213"/>
                  <a:gd name="T10" fmla="*/ 68 w 120"/>
                  <a:gd name="T11" fmla="*/ 102 h 213"/>
                  <a:gd name="T12" fmla="*/ 80 w 120"/>
                  <a:gd name="T13" fmla="*/ 125 h 213"/>
                  <a:gd name="T14" fmla="*/ 93 w 120"/>
                  <a:gd name="T15" fmla="*/ 147 h 213"/>
                  <a:gd name="T16" fmla="*/ 105 w 120"/>
                  <a:gd name="T17" fmla="*/ 171 h 213"/>
                  <a:gd name="T18" fmla="*/ 120 w 120"/>
                  <a:gd name="T19" fmla="*/ 193 h 213"/>
                  <a:gd name="T20" fmla="*/ 100 w 120"/>
                  <a:gd name="T21" fmla="*/ 213 h 213"/>
                  <a:gd name="T22" fmla="*/ 84 w 120"/>
                  <a:gd name="T23" fmla="*/ 188 h 213"/>
                  <a:gd name="T24" fmla="*/ 70 w 120"/>
                  <a:gd name="T25" fmla="*/ 164 h 213"/>
                  <a:gd name="T26" fmla="*/ 58 w 120"/>
                  <a:gd name="T27" fmla="*/ 141 h 213"/>
                  <a:gd name="T28" fmla="*/ 46 w 120"/>
                  <a:gd name="T29" fmla="*/ 116 h 213"/>
                  <a:gd name="T30" fmla="*/ 33 w 120"/>
                  <a:gd name="T31" fmla="*/ 92 h 213"/>
                  <a:gd name="T32" fmla="*/ 21 w 120"/>
                  <a:gd name="T33" fmla="*/ 65 h 213"/>
                  <a:gd name="T34" fmla="*/ 12 w 120"/>
                  <a:gd name="T35" fmla="*/ 38 h 213"/>
                  <a:gd name="T36" fmla="*/ 0 w 120"/>
                  <a:gd name="T37" fmla="*/ 10 h 213"/>
                  <a:gd name="T38" fmla="*/ 25 w 120"/>
                  <a:gd name="T39" fmla="*/ 0 h 21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0"/>
                  <a:gd name="T61" fmla="*/ 0 h 213"/>
                  <a:gd name="T62" fmla="*/ 120 w 120"/>
                  <a:gd name="T63" fmla="*/ 213 h 21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0" h="213">
                    <a:moveTo>
                      <a:pt x="25" y="0"/>
                    </a:moveTo>
                    <a:lnTo>
                      <a:pt x="25" y="0"/>
                    </a:lnTo>
                    <a:lnTo>
                      <a:pt x="35" y="28"/>
                    </a:lnTo>
                    <a:lnTo>
                      <a:pt x="47" y="54"/>
                    </a:lnTo>
                    <a:lnTo>
                      <a:pt x="57" y="78"/>
                    </a:lnTo>
                    <a:lnTo>
                      <a:pt x="68" y="102"/>
                    </a:lnTo>
                    <a:lnTo>
                      <a:pt x="80" y="125"/>
                    </a:lnTo>
                    <a:lnTo>
                      <a:pt x="93" y="147"/>
                    </a:lnTo>
                    <a:lnTo>
                      <a:pt x="105" y="171"/>
                    </a:lnTo>
                    <a:lnTo>
                      <a:pt x="120" y="193"/>
                    </a:lnTo>
                    <a:lnTo>
                      <a:pt x="100" y="213"/>
                    </a:lnTo>
                    <a:lnTo>
                      <a:pt x="84" y="188"/>
                    </a:lnTo>
                    <a:lnTo>
                      <a:pt x="70" y="164"/>
                    </a:lnTo>
                    <a:lnTo>
                      <a:pt x="58" y="141"/>
                    </a:lnTo>
                    <a:lnTo>
                      <a:pt x="46" y="116"/>
                    </a:lnTo>
                    <a:lnTo>
                      <a:pt x="33" y="92"/>
                    </a:lnTo>
                    <a:lnTo>
                      <a:pt x="21" y="65"/>
                    </a:lnTo>
                    <a:lnTo>
                      <a:pt x="12" y="38"/>
                    </a:lnTo>
                    <a:lnTo>
                      <a:pt x="0" y="1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35" name="Freeform 331"/>
              <p:cNvSpPr>
                <a:spLocks/>
              </p:cNvSpPr>
              <p:nvPr/>
            </p:nvSpPr>
            <p:spPr bwMode="auto">
              <a:xfrm>
                <a:off x="2134" y="2432"/>
                <a:ext cx="77" cy="204"/>
              </a:xfrm>
              <a:custGeom>
                <a:avLst/>
                <a:gdLst>
                  <a:gd name="T0" fmla="*/ 27 w 77"/>
                  <a:gd name="T1" fmla="*/ 0 h 204"/>
                  <a:gd name="T2" fmla="*/ 31 w 77"/>
                  <a:gd name="T3" fmla="*/ 25 h 204"/>
                  <a:gd name="T4" fmla="*/ 36 w 77"/>
                  <a:gd name="T5" fmla="*/ 48 h 204"/>
                  <a:gd name="T6" fmla="*/ 42 w 77"/>
                  <a:gd name="T7" fmla="*/ 73 h 204"/>
                  <a:gd name="T8" fmla="*/ 47 w 77"/>
                  <a:gd name="T9" fmla="*/ 98 h 204"/>
                  <a:gd name="T10" fmla="*/ 54 w 77"/>
                  <a:gd name="T11" fmla="*/ 121 h 204"/>
                  <a:gd name="T12" fmla="*/ 61 w 77"/>
                  <a:gd name="T13" fmla="*/ 146 h 204"/>
                  <a:gd name="T14" fmla="*/ 69 w 77"/>
                  <a:gd name="T15" fmla="*/ 170 h 204"/>
                  <a:gd name="T16" fmla="*/ 77 w 77"/>
                  <a:gd name="T17" fmla="*/ 194 h 204"/>
                  <a:gd name="T18" fmla="*/ 52 w 77"/>
                  <a:gd name="T19" fmla="*/ 204 h 204"/>
                  <a:gd name="T20" fmla="*/ 44 w 77"/>
                  <a:gd name="T21" fmla="*/ 180 h 204"/>
                  <a:gd name="T22" fmla="*/ 35 w 77"/>
                  <a:gd name="T23" fmla="*/ 153 h 204"/>
                  <a:gd name="T24" fmla="*/ 28 w 77"/>
                  <a:gd name="T25" fmla="*/ 129 h 204"/>
                  <a:gd name="T26" fmla="*/ 21 w 77"/>
                  <a:gd name="T27" fmla="*/ 103 h 204"/>
                  <a:gd name="T28" fmla="*/ 14 w 77"/>
                  <a:gd name="T29" fmla="*/ 77 h 204"/>
                  <a:gd name="T30" fmla="*/ 9 w 77"/>
                  <a:gd name="T31" fmla="*/ 52 h 204"/>
                  <a:gd name="T32" fmla="*/ 5 w 77"/>
                  <a:gd name="T33" fmla="*/ 26 h 204"/>
                  <a:gd name="T34" fmla="*/ 0 w 77"/>
                  <a:gd name="T35" fmla="*/ 0 h 204"/>
                  <a:gd name="T36" fmla="*/ 27 w 77"/>
                  <a:gd name="T37" fmla="*/ 0 h 2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7"/>
                  <a:gd name="T58" fmla="*/ 0 h 204"/>
                  <a:gd name="T59" fmla="*/ 77 w 77"/>
                  <a:gd name="T60" fmla="*/ 204 h 20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7" h="204">
                    <a:moveTo>
                      <a:pt x="27" y="0"/>
                    </a:moveTo>
                    <a:lnTo>
                      <a:pt x="31" y="25"/>
                    </a:lnTo>
                    <a:lnTo>
                      <a:pt x="36" y="48"/>
                    </a:lnTo>
                    <a:lnTo>
                      <a:pt x="42" y="73"/>
                    </a:lnTo>
                    <a:lnTo>
                      <a:pt x="47" y="98"/>
                    </a:lnTo>
                    <a:lnTo>
                      <a:pt x="54" y="121"/>
                    </a:lnTo>
                    <a:lnTo>
                      <a:pt x="61" y="146"/>
                    </a:lnTo>
                    <a:lnTo>
                      <a:pt x="69" y="170"/>
                    </a:lnTo>
                    <a:lnTo>
                      <a:pt x="77" y="194"/>
                    </a:lnTo>
                    <a:lnTo>
                      <a:pt x="52" y="204"/>
                    </a:lnTo>
                    <a:lnTo>
                      <a:pt x="44" y="180"/>
                    </a:lnTo>
                    <a:lnTo>
                      <a:pt x="35" y="153"/>
                    </a:lnTo>
                    <a:lnTo>
                      <a:pt x="28" y="129"/>
                    </a:lnTo>
                    <a:lnTo>
                      <a:pt x="21" y="103"/>
                    </a:lnTo>
                    <a:lnTo>
                      <a:pt x="14" y="77"/>
                    </a:lnTo>
                    <a:lnTo>
                      <a:pt x="9" y="52"/>
                    </a:lnTo>
                    <a:lnTo>
                      <a:pt x="5" y="26"/>
                    </a:lnTo>
                    <a:lnTo>
                      <a:pt x="0" y="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036" name="Freeform 332"/>
              <p:cNvSpPr>
                <a:spLocks/>
              </p:cNvSpPr>
              <p:nvPr/>
            </p:nvSpPr>
            <p:spPr bwMode="auto">
              <a:xfrm>
                <a:off x="2127" y="2414"/>
                <a:ext cx="31" cy="18"/>
              </a:xfrm>
              <a:custGeom>
                <a:avLst/>
                <a:gdLst>
                  <a:gd name="T0" fmla="*/ 3 w 31"/>
                  <a:gd name="T1" fmla="*/ 18 h 18"/>
                  <a:gd name="T2" fmla="*/ 0 w 31"/>
                  <a:gd name="T3" fmla="*/ 0 h 18"/>
                  <a:gd name="T4" fmla="*/ 28 w 31"/>
                  <a:gd name="T5" fmla="*/ 0 h 18"/>
                  <a:gd name="T6" fmla="*/ 31 w 31"/>
                  <a:gd name="T7" fmla="*/ 18 h 18"/>
                  <a:gd name="T8" fmla="*/ 3 w 31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18"/>
                  <a:gd name="T17" fmla="*/ 31 w 3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18">
                    <a:moveTo>
                      <a:pt x="3" y="18"/>
                    </a:moveTo>
                    <a:lnTo>
                      <a:pt x="0" y="0"/>
                    </a:lnTo>
                    <a:lnTo>
                      <a:pt x="28" y="0"/>
                    </a:lnTo>
                    <a:lnTo>
                      <a:pt x="31" y="18"/>
                    </a:lnTo>
                    <a:lnTo>
                      <a:pt x="3" y="18"/>
                    </a:lnTo>
                    <a:close/>
                  </a:path>
                </a:pathLst>
              </a:custGeom>
              <a:solidFill>
                <a:srgbClr val="FF7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5484" name="Oval 333"/>
            <p:cNvSpPr>
              <a:spLocks noChangeArrowheads="1"/>
            </p:cNvSpPr>
            <p:nvPr/>
          </p:nvSpPr>
          <p:spPr bwMode="auto">
            <a:xfrm>
              <a:off x="2669" y="1927"/>
              <a:ext cx="1873" cy="184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5485" name="Oval 334"/>
            <p:cNvSpPr>
              <a:spLocks noChangeArrowheads="1"/>
            </p:cNvSpPr>
            <p:nvPr/>
          </p:nvSpPr>
          <p:spPr bwMode="auto">
            <a:xfrm>
              <a:off x="2741" y="1930"/>
              <a:ext cx="1823" cy="1763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5486" name="Rectangle 335"/>
            <p:cNvSpPr>
              <a:spLocks noChangeArrowheads="1"/>
            </p:cNvSpPr>
            <p:nvPr/>
          </p:nvSpPr>
          <p:spPr bwMode="auto">
            <a:xfrm>
              <a:off x="3952" y="2395"/>
              <a:ext cx="706" cy="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5487" name="Rectangle 336"/>
            <p:cNvSpPr>
              <a:spLocks noChangeArrowheads="1"/>
            </p:cNvSpPr>
            <p:nvPr/>
          </p:nvSpPr>
          <p:spPr bwMode="auto">
            <a:xfrm>
              <a:off x="4022" y="2444"/>
              <a:ext cx="552" cy="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5488" name="Rectangle 337"/>
            <p:cNvSpPr>
              <a:spLocks noChangeArrowheads="1"/>
            </p:cNvSpPr>
            <p:nvPr/>
          </p:nvSpPr>
          <p:spPr bwMode="auto">
            <a:xfrm>
              <a:off x="4002" y="2549"/>
              <a:ext cx="563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2400" u="sng">
                  <a:solidFill>
                    <a:srgbClr val="000000"/>
                  </a:solidFill>
                  <a:latin typeface="Arial Narrow" pitchFamily="34" charset="0"/>
                </a:rPr>
                <a:t>CSMS</a:t>
              </a:r>
              <a:endParaRPr lang="en-US" sz="2700" b="0">
                <a:latin typeface="Times New Roman" pitchFamily="18" charset="0"/>
              </a:endParaRPr>
            </a:p>
          </p:txBody>
        </p:sp>
        <p:grpSp>
          <p:nvGrpSpPr>
            <p:cNvPr id="25489" name="Group 338"/>
            <p:cNvGrpSpPr>
              <a:grpSpLocks/>
            </p:cNvGrpSpPr>
            <p:nvPr/>
          </p:nvGrpSpPr>
          <p:grpSpPr bwMode="auto">
            <a:xfrm>
              <a:off x="3336" y="1604"/>
              <a:ext cx="731" cy="537"/>
              <a:chOff x="1254" y="3284"/>
              <a:chExt cx="592" cy="453"/>
            </a:xfrm>
          </p:grpSpPr>
          <p:grpSp>
            <p:nvGrpSpPr>
              <p:cNvPr id="25707" name="Group 339"/>
              <p:cNvGrpSpPr>
                <a:grpSpLocks/>
              </p:cNvGrpSpPr>
              <p:nvPr/>
            </p:nvGrpSpPr>
            <p:grpSpPr bwMode="auto">
              <a:xfrm>
                <a:off x="1428" y="3284"/>
                <a:ext cx="244" cy="332"/>
                <a:chOff x="3080" y="1174"/>
                <a:chExt cx="276" cy="366"/>
              </a:xfrm>
            </p:grpSpPr>
            <p:sp>
              <p:nvSpPr>
                <p:cNvPr id="25709" name="Rectangle 340"/>
                <p:cNvSpPr>
                  <a:spLocks noChangeArrowheads="1"/>
                </p:cNvSpPr>
                <p:nvPr/>
              </p:nvSpPr>
              <p:spPr bwMode="auto">
                <a:xfrm>
                  <a:off x="3129" y="1174"/>
                  <a:ext cx="227" cy="309"/>
                </a:xfrm>
                <a:prstGeom prst="rect">
                  <a:avLst/>
                </a:prstGeom>
                <a:solidFill>
                  <a:srgbClr val="99FF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710" name="Rectangle 341"/>
                <p:cNvSpPr>
                  <a:spLocks noChangeArrowheads="1"/>
                </p:cNvSpPr>
                <p:nvPr/>
              </p:nvSpPr>
              <p:spPr bwMode="auto">
                <a:xfrm>
                  <a:off x="3101" y="1212"/>
                  <a:ext cx="227" cy="309"/>
                </a:xfrm>
                <a:prstGeom prst="rect">
                  <a:avLst/>
                </a:prstGeom>
                <a:solidFill>
                  <a:srgbClr val="99FF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25711" name="Group 342"/>
                <p:cNvGrpSpPr>
                  <a:grpSpLocks/>
                </p:cNvGrpSpPr>
                <p:nvPr/>
              </p:nvGrpSpPr>
              <p:grpSpPr bwMode="auto">
                <a:xfrm>
                  <a:off x="3080" y="1247"/>
                  <a:ext cx="223" cy="293"/>
                  <a:chOff x="3080" y="1247"/>
                  <a:chExt cx="223" cy="293"/>
                </a:xfrm>
              </p:grpSpPr>
              <p:sp>
                <p:nvSpPr>
                  <p:cNvPr id="25712" name="Freeform 343"/>
                  <p:cNvSpPr>
                    <a:spLocks/>
                  </p:cNvSpPr>
                  <p:nvPr/>
                </p:nvSpPr>
                <p:spPr bwMode="auto">
                  <a:xfrm>
                    <a:off x="3080" y="1247"/>
                    <a:ext cx="223" cy="293"/>
                  </a:xfrm>
                  <a:custGeom>
                    <a:avLst/>
                    <a:gdLst>
                      <a:gd name="T0" fmla="*/ 0 w 223"/>
                      <a:gd name="T1" fmla="*/ 0 h 293"/>
                      <a:gd name="T2" fmla="*/ 0 w 223"/>
                      <a:gd name="T3" fmla="*/ 293 h 293"/>
                      <a:gd name="T4" fmla="*/ 132 w 223"/>
                      <a:gd name="T5" fmla="*/ 293 h 293"/>
                      <a:gd name="T6" fmla="*/ 223 w 223"/>
                      <a:gd name="T7" fmla="*/ 172 h 293"/>
                      <a:gd name="T8" fmla="*/ 223 w 223"/>
                      <a:gd name="T9" fmla="*/ 0 h 293"/>
                      <a:gd name="T10" fmla="*/ 0 w 223"/>
                      <a:gd name="T11" fmla="*/ 0 h 29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23"/>
                      <a:gd name="T19" fmla="*/ 0 h 293"/>
                      <a:gd name="T20" fmla="*/ 223 w 223"/>
                      <a:gd name="T21" fmla="*/ 293 h 29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23" h="293">
                        <a:moveTo>
                          <a:pt x="0" y="0"/>
                        </a:moveTo>
                        <a:lnTo>
                          <a:pt x="0" y="293"/>
                        </a:lnTo>
                        <a:lnTo>
                          <a:pt x="132" y="293"/>
                        </a:lnTo>
                        <a:lnTo>
                          <a:pt x="223" y="172"/>
                        </a:lnTo>
                        <a:lnTo>
                          <a:pt x="2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9FFCC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713" name="Freeform 344"/>
                  <p:cNvSpPr>
                    <a:spLocks/>
                  </p:cNvSpPr>
                  <p:nvPr/>
                </p:nvSpPr>
                <p:spPr bwMode="auto">
                  <a:xfrm>
                    <a:off x="3212" y="1419"/>
                    <a:ext cx="91" cy="121"/>
                  </a:xfrm>
                  <a:custGeom>
                    <a:avLst/>
                    <a:gdLst>
                      <a:gd name="T0" fmla="*/ 0 w 91"/>
                      <a:gd name="T1" fmla="*/ 121 h 121"/>
                      <a:gd name="T2" fmla="*/ 23 w 91"/>
                      <a:gd name="T3" fmla="*/ 4 h 121"/>
                      <a:gd name="T4" fmla="*/ 27 w 91"/>
                      <a:gd name="T5" fmla="*/ 10 h 121"/>
                      <a:gd name="T6" fmla="*/ 34 w 91"/>
                      <a:gd name="T7" fmla="*/ 16 h 121"/>
                      <a:gd name="T8" fmla="*/ 40 w 91"/>
                      <a:gd name="T9" fmla="*/ 18 h 121"/>
                      <a:gd name="T10" fmla="*/ 49 w 91"/>
                      <a:gd name="T11" fmla="*/ 18 h 121"/>
                      <a:gd name="T12" fmla="*/ 57 w 91"/>
                      <a:gd name="T13" fmla="*/ 17 h 121"/>
                      <a:gd name="T14" fmla="*/ 68 w 91"/>
                      <a:gd name="T15" fmla="*/ 13 h 121"/>
                      <a:gd name="T16" fmla="*/ 79 w 91"/>
                      <a:gd name="T17" fmla="*/ 7 h 121"/>
                      <a:gd name="T18" fmla="*/ 91 w 91"/>
                      <a:gd name="T19" fmla="*/ 0 h 121"/>
                      <a:gd name="T20" fmla="*/ 0 w 91"/>
                      <a:gd name="T21" fmla="*/ 121 h 12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91"/>
                      <a:gd name="T34" fmla="*/ 0 h 121"/>
                      <a:gd name="T35" fmla="*/ 91 w 91"/>
                      <a:gd name="T36" fmla="*/ 121 h 121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91" h="121">
                        <a:moveTo>
                          <a:pt x="0" y="121"/>
                        </a:moveTo>
                        <a:lnTo>
                          <a:pt x="23" y="4"/>
                        </a:lnTo>
                        <a:lnTo>
                          <a:pt x="27" y="10"/>
                        </a:lnTo>
                        <a:lnTo>
                          <a:pt x="34" y="16"/>
                        </a:lnTo>
                        <a:lnTo>
                          <a:pt x="40" y="18"/>
                        </a:lnTo>
                        <a:lnTo>
                          <a:pt x="49" y="18"/>
                        </a:lnTo>
                        <a:lnTo>
                          <a:pt x="57" y="17"/>
                        </a:lnTo>
                        <a:lnTo>
                          <a:pt x="68" y="13"/>
                        </a:lnTo>
                        <a:lnTo>
                          <a:pt x="79" y="7"/>
                        </a:lnTo>
                        <a:lnTo>
                          <a:pt x="91" y="0"/>
                        </a:lnTo>
                        <a:lnTo>
                          <a:pt x="0" y="121"/>
                        </a:lnTo>
                        <a:close/>
                      </a:path>
                    </a:pathLst>
                  </a:custGeom>
                  <a:solidFill>
                    <a:srgbClr val="99FFCC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714" name="Freeform 345"/>
                  <p:cNvSpPr>
                    <a:spLocks/>
                  </p:cNvSpPr>
                  <p:nvPr/>
                </p:nvSpPr>
                <p:spPr bwMode="auto">
                  <a:xfrm>
                    <a:off x="3080" y="1247"/>
                    <a:ext cx="223" cy="293"/>
                  </a:xfrm>
                  <a:custGeom>
                    <a:avLst/>
                    <a:gdLst>
                      <a:gd name="T0" fmla="*/ 0 w 223"/>
                      <a:gd name="T1" fmla="*/ 0 h 293"/>
                      <a:gd name="T2" fmla="*/ 0 w 223"/>
                      <a:gd name="T3" fmla="*/ 293 h 293"/>
                      <a:gd name="T4" fmla="*/ 132 w 223"/>
                      <a:gd name="T5" fmla="*/ 293 h 293"/>
                      <a:gd name="T6" fmla="*/ 223 w 223"/>
                      <a:gd name="T7" fmla="*/ 172 h 293"/>
                      <a:gd name="T8" fmla="*/ 223 w 223"/>
                      <a:gd name="T9" fmla="*/ 0 h 293"/>
                      <a:gd name="T10" fmla="*/ 0 w 223"/>
                      <a:gd name="T11" fmla="*/ 0 h 29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23"/>
                      <a:gd name="T19" fmla="*/ 0 h 293"/>
                      <a:gd name="T20" fmla="*/ 223 w 223"/>
                      <a:gd name="T21" fmla="*/ 293 h 29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23" h="293">
                        <a:moveTo>
                          <a:pt x="0" y="0"/>
                        </a:moveTo>
                        <a:lnTo>
                          <a:pt x="0" y="293"/>
                        </a:lnTo>
                        <a:lnTo>
                          <a:pt x="132" y="293"/>
                        </a:lnTo>
                        <a:lnTo>
                          <a:pt x="223" y="172"/>
                        </a:lnTo>
                        <a:lnTo>
                          <a:pt x="2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9FFCC"/>
                  </a:solidFill>
                  <a:ln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715" name="Freeform 346"/>
                  <p:cNvSpPr>
                    <a:spLocks/>
                  </p:cNvSpPr>
                  <p:nvPr/>
                </p:nvSpPr>
                <p:spPr bwMode="auto">
                  <a:xfrm>
                    <a:off x="3212" y="1419"/>
                    <a:ext cx="91" cy="121"/>
                  </a:xfrm>
                  <a:custGeom>
                    <a:avLst/>
                    <a:gdLst>
                      <a:gd name="T0" fmla="*/ 0 w 91"/>
                      <a:gd name="T1" fmla="*/ 121 h 121"/>
                      <a:gd name="T2" fmla="*/ 23 w 91"/>
                      <a:gd name="T3" fmla="*/ 4 h 121"/>
                      <a:gd name="T4" fmla="*/ 27 w 91"/>
                      <a:gd name="T5" fmla="*/ 10 h 121"/>
                      <a:gd name="T6" fmla="*/ 34 w 91"/>
                      <a:gd name="T7" fmla="*/ 16 h 121"/>
                      <a:gd name="T8" fmla="*/ 40 w 91"/>
                      <a:gd name="T9" fmla="*/ 18 h 121"/>
                      <a:gd name="T10" fmla="*/ 49 w 91"/>
                      <a:gd name="T11" fmla="*/ 18 h 121"/>
                      <a:gd name="T12" fmla="*/ 57 w 91"/>
                      <a:gd name="T13" fmla="*/ 17 h 121"/>
                      <a:gd name="T14" fmla="*/ 68 w 91"/>
                      <a:gd name="T15" fmla="*/ 13 h 121"/>
                      <a:gd name="T16" fmla="*/ 79 w 91"/>
                      <a:gd name="T17" fmla="*/ 7 h 121"/>
                      <a:gd name="T18" fmla="*/ 91 w 91"/>
                      <a:gd name="T19" fmla="*/ 0 h 121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121"/>
                      <a:gd name="T32" fmla="*/ 91 w 91"/>
                      <a:gd name="T33" fmla="*/ 121 h 121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121">
                        <a:moveTo>
                          <a:pt x="0" y="121"/>
                        </a:moveTo>
                        <a:lnTo>
                          <a:pt x="23" y="4"/>
                        </a:lnTo>
                        <a:lnTo>
                          <a:pt x="27" y="10"/>
                        </a:lnTo>
                        <a:lnTo>
                          <a:pt x="34" y="16"/>
                        </a:lnTo>
                        <a:lnTo>
                          <a:pt x="40" y="18"/>
                        </a:lnTo>
                        <a:lnTo>
                          <a:pt x="49" y="18"/>
                        </a:lnTo>
                        <a:lnTo>
                          <a:pt x="57" y="17"/>
                        </a:lnTo>
                        <a:lnTo>
                          <a:pt x="68" y="13"/>
                        </a:lnTo>
                        <a:lnTo>
                          <a:pt x="79" y="7"/>
                        </a:lnTo>
                        <a:lnTo>
                          <a:pt x="91" y="0"/>
                        </a:lnTo>
                      </a:path>
                    </a:pathLst>
                  </a:custGeom>
                  <a:solidFill>
                    <a:srgbClr val="99FFCC"/>
                  </a:solidFill>
                  <a:ln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5708" name="Rectangle 347"/>
              <p:cNvSpPr>
                <a:spLocks noChangeArrowheads="1"/>
              </p:cNvSpPr>
              <p:nvPr/>
            </p:nvSpPr>
            <p:spPr bwMode="auto">
              <a:xfrm>
                <a:off x="1254" y="3633"/>
                <a:ext cx="592" cy="1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84238" eaLnBrk="0" hangingPunct="0"/>
                <a:r>
                  <a:rPr lang="en-US" b="0">
                    <a:latin typeface="Arial Narrow" pitchFamily="34" charset="0"/>
                  </a:rPr>
                  <a:t>Contracted Work</a:t>
                </a:r>
              </a:p>
            </p:txBody>
          </p:sp>
        </p:grpSp>
        <p:grpSp>
          <p:nvGrpSpPr>
            <p:cNvPr id="25490" name="Group 348"/>
            <p:cNvGrpSpPr>
              <a:grpSpLocks/>
            </p:cNvGrpSpPr>
            <p:nvPr/>
          </p:nvGrpSpPr>
          <p:grpSpPr bwMode="auto">
            <a:xfrm>
              <a:off x="4018" y="2903"/>
              <a:ext cx="457" cy="580"/>
              <a:chOff x="3543" y="2349"/>
              <a:chExt cx="420" cy="538"/>
            </a:xfrm>
          </p:grpSpPr>
          <p:grpSp>
            <p:nvGrpSpPr>
              <p:cNvPr id="25492" name="Group 349"/>
              <p:cNvGrpSpPr>
                <a:grpSpLocks/>
              </p:cNvGrpSpPr>
              <p:nvPr/>
            </p:nvGrpSpPr>
            <p:grpSpPr bwMode="auto">
              <a:xfrm>
                <a:off x="3551" y="2349"/>
                <a:ext cx="355" cy="388"/>
                <a:chOff x="3563" y="2349"/>
                <a:chExt cx="355" cy="388"/>
              </a:xfrm>
            </p:grpSpPr>
            <p:grpSp>
              <p:nvGrpSpPr>
                <p:cNvPr id="25494" name="Group 350"/>
                <p:cNvGrpSpPr>
                  <a:grpSpLocks/>
                </p:cNvGrpSpPr>
                <p:nvPr/>
              </p:nvGrpSpPr>
              <p:grpSpPr bwMode="auto">
                <a:xfrm>
                  <a:off x="3563" y="2349"/>
                  <a:ext cx="355" cy="388"/>
                  <a:chOff x="3563" y="2349"/>
                  <a:chExt cx="355" cy="388"/>
                </a:xfrm>
              </p:grpSpPr>
              <p:sp>
                <p:nvSpPr>
                  <p:cNvPr id="25507" name="Freeform 351"/>
                  <p:cNvSpPr>
                    <a:spLocks/>
                  </p:cNvSpPr>
                  <p:nvPr/>
                </p:nvSpPr>
                <p:spPr bwMode="auto">
                  <a:xfrm>
                    <a:off x="3790" y="2349"/>
                    <a:ext cx="85" cy="75"/>
                  </a:xfrm>
                  <a:custGeom>
                    <a:avLst/>
                    <a:gdLst>
                      <a:gd name="T0" fmla="*/ 78 w 85"/>
                      <a:gd name="T1" fmla="*/ 65 h 75"/>
                      <a:gd name="T2" fmla="*/ 80 w 85"/>
                      <a:gd name="T3" fmla="*/ 58 h 75"/>
                      <a:gd name="T4" fmla="*/ 81 w 85"/>
                      <a:gd name="T5" fmla="*/ 50 h 75"/>
                      <a:gd name="T6" fmla="*/ 81 w 85"/>
                      <a:gd name="T7" fmla="*/ 48 h 75"/>
                      <a:gd name="T8" fmla="*/ 81 w 85"/>
                      <a:gd name="T9" fmla="*/ 41 h 75"/>
                      <a:gd name="T10" fmla="*/ 79 w 85"/>
                      <a:gd name="T11" fmla="*/ 33 h 75"/>
                      <a:gd name="T12" fmla="*/ 74 w 85"/>
                      <a:gd name="T13" fmla="*/ 27 h 75"/>
                      <a:gd name="T14" fmla="*/ 70 w 85"/>
                      <a:gd name="T15" fmla="*/ 20 h 75"/>
                      <a:gd name="T16" fmla="*/ 65 w 85"/>
                      <a:gd name="T17" fmla="*/ 15 h 75"/>
                      <a:gd name="T18" fmla="*/ 64 w 85"/>
                      <a:gd name="T19" fmla="*/ 14 h 75"/>
                      <a:gd name="T20" fmla="*/ 61 w 85"/>
                      <a:gd name="T21" fmla="*/ 13 h 75"/>
                      <a:gd name="T22" fmla="*/ 57 w 85"/>
                      <a:gd name="T23" fmla="*/ 10 h 75"/>
                      <a:gd name="T24" fmla="*/ 54 w 85"/>
                      <a:gd name="T25" fmla="*/ 9 h 75"/>
                      <a:gd name="T26" fmla="*/ 52 w 85"/>
                      <a:gd name="T27" fmla="*/ 8 h 75"/>
                      <a:gd name="T28" fmla="*/ 49 w 85"/>
                      <a:gd name="T29" fmla="*/ 6 h 75"/>
                      <a:gd name="T30" fmla="*/ 46 w 85"/>
                      <a:gd name="T31" fmla="*/ 6 h 75"/>
                      <a:gd name="T32" fmla="*/ 42 w 85"/>
                      <a:gd name="T33" fmla="*/ 5 h 75"/>
                      <a:gd name="T34" fmla="*/ 39 w 85"/>
                      <a:gd name="T35" fmla="*/ 4 h 75"/>
                      <a:gd name="T36" fmla="*/ 33 w 85"/>
                      <a:gd name="T37" fmla="*/ 4 h 75"/>
                      <a:gd name="T38" fmla="*/ 28 w 85"/>
                      <a:gd name="T39" fmla="*/ 5 h 75"/>
                      <a:gd name="T40" fmla="*/ 27 w 85"/>
                      <a:gd name="T41" fmla="*/ 5 h 75"/>
                      <a:gd name="T42" fmla="*/ 23 w 85"/>
                      <a:gd name="T43" fmla="*/ 6 h 75"/>
                      <a:gd name="T44" fmla="*/ 22 w 85"/>
                      <a:gd name="T45" fmla="*/ 6 h 75"/>
                      <a:gd name="T46" fmla="*/ 20 w 85"/>
                      <a:gd name="T47" fmla="*/ 6 h 75"/>
                      <a:gd name="T48" fmla="*/ 15 w 85"/>
                      <a:gd name="T49" fmla="*/ 9 h 75"/>
                      <a:gd name="T50" fmla="*/ 11 w 85"/>
                      <a:gd name="T51" fmla="*/ 11 h 75"/>
                      <a:gd name="T52" fmla="*/ 5 w 85"/>
                      <a:gd name="T53" fmla="*/ 15 h 75"/>
                      <a:gd name="T54" fmla="*/ 0 w 85"/>
                      <a:gd name="T55" fmla="*/ 19 h 75"/>
                      <a:gd name="T56" fmla="*/ 3 w 85"/>
                      <a:gd name="T57" fmla="*/ 16 h 75"/>
                      <a:gd name="T58" fmla="*/ 9 w 85"/>
                      <a:gd name="T59" fmla="*/ 10 h 75"/>
                      <a:gd name="T60" fmla="*/ 14 w 85"/>
                      <a:gd name="T61" fmla="*/ 8 h 75"/>
                      <a:gd name="T62" fmla="*/ 18 w 85"/>
                      <a:gd name="T63" fmla="*/ 5 h 75"/>
                      <a:gd name="T64" fmla="*/ 21 w 85"/>
                      <a:gd name="T65" fmla="*/ 3 h 75"/>
                      <a:gd name="T66" fmla="*/ 25 w 85"/>
                      <a:gd name="T67" fmla="*/ 2 h 75"/>
                      <a:gd name="T68" fmla="*/ 28 w 85"/>
                      <a:gd name="T69" fmla="*/ 1 h 75"/>
                      <a:gd name="T70" fmla="*/ 33 w 85"/>
                      <a:gd name="T71" fmla="*/ 1 h 75"/>
                      <a:gd name="T72" fmla="*/ 37 w 85"/>
                      <a:gd name="T73" fmla="*/ 0 h 75"/>
                      <a:gd name="T74" fmla="*/ 41 w 85"/>
                      <a:gd name="T75" fmla="*/ 1 h 75"/>
                      <a:gd name="T76" fmla="*/ 45 w 85"/>
                      <a:gd name="T77" fmla="*/ 1 h 75"/>
                      <a:gd name="T78" fmla="*/ 48 w 85"/>
                      <a:gd name="T79" fmla="*/ 1 h 75"/>
                      <a:gd name="T80" fmla="*/ 50 w 85"/>
                      <a:gd name="T81" fmla="*/ 2 h 75"/>
                      <a:gd name="T82" fmla="*/ 53 w 85"/>
                      <a:gd name="T83" fmla="*/ 2 h 75"/>
                      <a:gd name="T84" fmla="*/ 56 w 85"/>
                      <a:gd name="T85" fmla="*/ 3 h 75"/>
                      <a:gd name="T86" fmla="*/ 59 w 85"/>
                      <a:gd name="T87" fmla="*/ 4 h 75"/>
                      <a:gd name="T88" fmla="*/ 63 w 85"/>
                      <a:gd name="T89" fmla="*/ 6 h 75"/>
                      <a:gd name="T90" fmla="*/ 65 w 85"/>
                      <a:gd name="T91" fmla="*/ 9 h 75"/>
                      <a:gd name="T92" fmla="*/ 68 w 85"/>
                      <a:gd name="T93" fmla="*/ 10 h 75"/>
                      <a:gd name="T94" fmla="*/ 73 w 85"/>
                      <a:gd name="T95" fmla="*/ 15 h 75"/>
                      <a:gd name="T96" fmla="*/ 79 w 85"/>
                      <a:gd name="T97" fmla="*/ 21 h 75"/>
                      <a:gd name="T98" fmla="*/ 82 w 85"/>
                      <a:gd name="T99" fmla="*/ 28 h 75"/>
                      <a:gd name="T100" fmla="*/ 84 w 85"/>
                      <a:gd name="T101" fmla="*/ 35 h 75"/>
                      <a:gd name="T102" fmla="*/ 85 w 85"/>
                      <a:gd name="T103" fmla="*/ 43 h 75"/>
                      <a:gd name="T104" fmla="*/ 84 w 85"/>
                      <a:gd name="T105" fmla="*/ 50 h 75"/>
                      <a:gd name="T106" fmla="*/ 83 w 85"/>
                      <a:gd name="T107" fmla="*/ 58 h 75"/>
                      <a:gd name="T108" fmla="*/ 79 w 85"/>
                      <a:gd name="T109" fmla="*/ 64 h 75"/>
                      <a:gd name="T110" fmla="*/ 79 w 85"/>
                      <a:gd name="T111" fmla="*/ 66 h 75"/>
                      <a:gd name="T112" fmla="*/ 76 w 85"/>
                      <a:gd name="T113" fmla="*/ 71 h 75"/>
                      <a:gd name="T114" fmla="*/ 71 w 85"/>
                      <a:gd name="T115" fmla="*/ 75 h 75"/>
                      <a:gd name="T116" fmla="*/ 73 w 85"/>
                      <a:gd name="T117" fmla="*/ 73 h 75"/>
                      <a:gd name="T118" fmla="*/ 78 w 85"/>
                      <a:gd name="T119" fmla="*/ 65 h 75"/>
                      <a:gd name="T120" fmla="*/ 78 w 85"/>
                      <a:gd name="T121" fmla="*/ 65 h 75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60000 65536"/>
                      <a:gd name="T175" fmla="*/ 0 60000 65536"/>
                      <a:gd name="T176" fmla="*/ 0 60000 65536"/>
                      <a:gd name="T177" fmla="*/ 0 60000 65536"/>
                      <a:gd name="T178" fmla="*/ 0 60000 65536"/>
                      <a:gd name="T179" fmla="*/ 0 60000 65536"/>
                      <a:gd name="T180" fmla="*/ 0 60000 65536"/>
                      <a:gd name="T181" fmla="*/ 0 60000 65536"/>
                      <a:gd name="T182" fmla="*/ 0 60000 65536"/>
                      <a:gd name="T183" fmla="*/ 0 w 85"/>
                      <a:gd name="T184" fmla="*/ 0 h 75"/>
                      <a:gd name="T185" fmla="*/ 85 w 85"/>
                      <a:gd name="T186" fmla="*/ 75 h 75"/>
                    </a:gdLst>
                    <a:ahLst/>
                    <a:cxnLst>
                      <a:cxn ang="T122">
                        <a:pos x="T0" y="T1"/>
                      </a:cxn>
                      <a:cxn ang="T123">
                        <a:pos x="T2" y="T3"/>
                      </a:cxn>
                      <a:cxn ang="T124">
                        <a:pos x="T4" y="T5"/>
                      </a:cxn>
                      <a:cxn ang="T125">
                        <a:pos x="T6" y="T7"/>
                      </a:cxn>
                      <a:cxn ang="T126">
                        <a:pos x="T8" y="T9"/>
                      </a:cxn>
                      <a:cxn ang="T127">
                        <a:pos x="T10" y="T11"/>
                      </a:cxn>
                      <a:cxn ang="T128">
                        <a:pos x="T12" y="T13"/>
                      </a:cxn>
                      <a:cxn ang="T129">
                        <a:pos x="T14" y="T15"/>
                      </a:cxn>
                      <a:cxn ang="T130">
                        <a:pos x="T16" y="T17"/>
                      </a:cxn>
                      <a:cxn ang="T131">
                        <a:pos x="T18" y="T19"/>
                      </a:cxn>
                      <a:cxn ang="T132">
                        <a:pos x="T20" y="T21"/>
                      </a:cxn>
                      <a:cxn ang="T133">
                        <a:pos x="T22" y="T23"/>
                      </a:cxn>
                      <a:cxn ang="T134">
                        <a:pos x="T24" y="T25"/>
                      </a:cxn>
                      <a:cxn ang="T135">
                        <a:pos x="T26" y="T27"/>
                      </a:cxn>
                      <a:cxn ang="T136">
                        <a:pos x="T28" y="T29"/>
                      </a:cxn>
                      <a:cxn ang="T137">
                        <a:pos x="T30" y="T31"/>
                      </a:cxn>
                      <a:cxn ang="T138">
                        <a:pos x="T32" y="T33"/>
                      </a:cxn>
                      <a:cxn ang="T139">
                        <a:pos x="T34" y="T35"/>
                      </a:cxn>
                      <a:cxn ang="T140">
                        <a:pos x="T36" y="T37"/>
                      </a:cxn>
                      <a:cxn ang="T141">
                        <a:pos x="T38" y="T39"/>
                      </a:cxn>
                      <a:cxn ang="T142">
                        <a:pos x="T40" y="T41"/>
                      </a:cxn>
                      <a:cxn ang="T143">
                        <a:pos x="T42" y="T43"/>
                      </a:cxn>
                      <a:cxn ang="T144">
                        <a:pos x="T44" y="T45"/>
                      </a:cxn>
                      <a:cxn ang="T145">
                        <a:pos x="T46" y="T47"/>
                      </a:cxn>
                      <a:cxn ang="T146">
                        <a:pos x="T48" y="T49"/>
                      </a:cxn>
                      <a:cxn ang="T147">
                        <a:pos x="T50" y="T51"/>
                      </a:cxn>
                      <a:cxn ang="T148">
                        <a:pos x="T52" y="T53"/>
                      </a:cxn>
                      <a:cxn ang="T149">
                        <a:pos x="T54" y="T55"/>
                      </a:cxn>
                      <a:cxn ang="T150">
                        <a:pos x="T56" y="T57"/>
                      </a:cxn>
                      <a:cxn ang="T151">
                        <a:pos x="T58" y="T59"/>
                      </a:cxn>
                      <a:cxn ang="T152">
                        <a:pos x="T60" y="T61"/>
                      </a:cxn>
                      <a:cxn ang="T153">
                        <a:pos x="T62" y="T63"/>
                      </a:cxn>
                      <a:cxn ang="T154">
                        <a:pos x="T64" y="T65"/>
                      </a:cxn>
                      <a:cxn ang="T155">
                        <a:pos x="T66" y="T67"/>
                      </a:cxn>
                      <a:cxn ang="T156">
                        <a:pos x="T68" y="T69"/>
                      </a:cxn>
                      <a:cxn ang="T157">
                        <a:pos x="T70" y="T71"/>
                      </a:cxn>
                      <a:cxn ang="T158">
                        <a:pos x="T72" y="T73"/>
                      </a:cxn>
                      <a:cxn ang="T159">
                        <a:pos x="T74" y="T75"/>
                      </a:cxn>
                      <a:cxn ang="T160">
                        <a:pos x="T76" y="T77"/>
                      </a:cxn>
                      <a:cxn ang="T161">
                        <a:pos x="T78" y="T79"/>
                      </a:cxn>
                      <a:cxn ang="T162">
                        <a:pos x="T80" y="T81"/>
                      </a:cxn>
                      <a:cxn ang="T163">
                        <a:pos x="T82" y="T83"/>
                      </a:cxn>
                      <a:cxn ang="T164">
                        <a:pos x="T84" y="T85"/>
                      </a:cxn>
                      <a:cxn ang="T165">
                        <a:pos x="T86" y="T87"/>
                      </a:cxn>
                      <a:cxn ang="T166">
                        <a:pos x="T88" y="T89"/>
                      </a:cxn>
                      <a:cxn ang="T167">
                        <a:pos x="T90" y="T91"/>
                      </a:cxn>
                      <a:cxn ang="T168">
                        <a:pos x="T92" y="T93"/>
                      </a:cxn>
                      <a:cxn ang="T169">
                        <a:pos x="T94" y="T95"/>
                      </a:cxn>
                      <a:cxn ang="T170">
                        <a:pos x="T96" y="T97"/>
                      </a:cxn>
                      <a:cxn ang="T171">
                        <a:pos x="T98" y="T99"/>
                      </a:cxn>
                      <a:cxn ang="T172">
                        <a:pos x="T100" y="T101"/>
                      </a:cxn>
                      <a:cxn ang="T173">
                        <a:pos x="T102" y="T103"/>
                      </a:cxn>
                      <a:cxn ang="T174">
                        <a:pos x="T104" y="T105"/>
                      </a:cxn>
                      <a:cxn ang="T175">
                        <a:pos x="T106" y="T107"/>
                      </a:cxn>
                      <a:cxn ang="T176">
                        <a:pos x="T108" y="T109"/>
                      </a:cxn>
                      <a:cxn ang="T177">
                        <a:pos x="T110" y="T111"/>
                      </a:cxn>
                      <a:cxn ang="T178">
                        <a:pos x="T112" y="T113"/>
                      </a:cxn>
                      <a:cxn ang="T179">
                        <a:pos x="T114" y="T115"/>
                      </a:cxn>
                      <a:cxn ang="T180">
                        <a:pos x="T116" y="T117"/>
                      </a:cxn>
                      <a:cxn ang="T181">
                        <a:pos x="T118" y="T119"/>
                      </a:cxn>
                      <a:cxn ang="T182">
                        <a:pos x="T120" y="T121"/>
                      </a:cxn>
                    </a:cxnLst>
                    <a:rect l="T183" t="T184" r="T185" b="T186"/>
                    <a:pathLst>
                      <a:path w="85" h="75">
                        <a:moveTo>
                          <a:pt x="78" y="65"/>
                        </a:moveTo>
                        <a:lnTo>
                          <a:pt x="80" y="58"/>
                        </a:lnTo>
                        <a:lnTo>
                          <a:pt x="81" y="50"/>
                        </a:lnTo>
                        <a:lnTo>
                          <a:pt x="81" y="48"/>
                        </a:lnTo>
                        <a:lnTo>
                          <a:pt x="81" y="41"/>
                        </a:lnTo>
                        <a:lnTo>
                          <a:pt x="79" y="33"/>
                        </a:lnTo>
                        <a:lnTo>
                          <a:pt x="74" y="27"/>
                        </a:lnTo>
                        <a:lnTo>
                          <a:pt x="70" y="20"/>
                        </a:lnTo>
                        <a:lnTo>
                          <a:pt x="65" y="15"/>
                        </a:lnTo>
                        <a:lnTo>
                          <a:pt x="64" y="14"/>
                        </a:lnTo>
                        <a:lnTo>
                          <a:pt x="61" y="13"/>
                        </a:lnTo>
                        <a:lnTo>
                          <a:pt x="57" y="10"/>
                        </a:lnTo>
                        <a:lnTo>
                          <a:pt x="54" y="9"/>
                        </a:lnTo>
                        <a:lnTo>
                          <a:pt x="52" y="8"/>
                        </a:lnTo>
                        <a:lnTo>
                          <a:pt x="49" y="6"/>
                        </a:lnTo>
                        <a:lnTo>
                          <a:pt x="46" y="6"/>
                        </a:lnTo>
                        <a:lnTo>
                          <a:pt x="42" y="5"/>
                        </a:lnTo>
                        <a:lnTo>
                          <a:pt x="39" y="4"/>
                        </a:lnTo>
                        <a:lnTo>
                          <a:pt x="33" y="4"/>
                        </a:lnTo>
                        <a:lnTo>
                          <a:pt x="28" y="5"/>
                        </a:lnTo>
                        <a:lnTo>
                          <a:pt x="27" y="5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5" y="9"/>
                        </a:lnTo>
                        <a:lnTo>
                          <a:pt x="11" y="11"/>
                        </a:lnTo>
                        <a:lnTo>
                          <a:pt x="5" y="15"/>
                        </a:lnTo>
                        <a:lnTo>
                          <a:pt x="0" y="19"/>
                        </a:lnTo>
                        <a:lnTo>
                          <a:pt x="3" y="16"/>
                        </a:lnTo>
                        <a:lnTo>
                          <a:pt x="9" y="10"/>
                        </a:lnTo>
                        <a:lnTo>
                          <a:pt x="14" y="8"/>
                        </a:lnTo>
                        <a:lnTo>
                          <a:pt x="18" y="5"/>
                        </a:lnTo>
                        <a:lnTo>
                          <a:pt x="21" y="3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3" y="1"/>
                        </a:lnTo>
                        <a:lnTo>
                          <a:pt x="37" y="0"/>
                        </a:lnTo>
                        <a:lnTo>
                          <a:pt x="41" y="1"/>
                        </a:lnTo>
                        <a:lnTo>
                          <a:pt x="45" y="1"/>
                        </a:lnTo>
                        <a:lnTo>
                          <a:pt x="48" y="1"/>
                        </a:lnTo>
                        <a:lnTo>
                          <a:pt x="50" y="2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9" y="4"/>
                        </a:lnTo>
                        <a:lnTo>
                          <a:pt x="63" y="6"/>
                        </a:lnTo>
                        <a:lnTo>
                          <a:pt x="65" y="9"/>
                        </a:lnTo>
                        <a:lnTo>
                          <a:pt x="68" y="10"/>
                        </a:lnTo>
                        <a:lnTo>
                          <a:pt x="73" y="15"/>
                        </a:lnTo>
                        <a:lnTo>
                          <a:pt x="79" y="21"/>
                        </a:lnTo>
                        <a:lnTo>
                          <a:pt x="82" y="28"/>
                        </a:lnTo>
                        <a:lnTo>
                          <a:pt x="84" y="35"/>
                        </a:lnTo>
                        <a:lnTo>
                          <a:pt x="85" y="43"/>
                        </a:lnTo>
                        <a:lnTo>
                          <a:pt x="84" y="50"/>
                        </a:lnTo>
                        <a:lnTo>
                          <a:pt x="83" y="58"/>
                        </a:lnTo>
                        <a:lnTo>
                          <a:pt x="79" y="64"/>
                        </a:lnTo>
                        <a:lnTo>
                          <a:pt x="79" y="66"/>
                        </a:lnTo>
                        <a:lnTo>
                          <a:pt x="76" y="71"/>
                        </a:lnTo>
                        <a:lnTo>
                          <a:pt x="71" y="75"/>
                        </a:lnTo>
                        <a:lnTo>
                          <a:pt x="73" y="73"/>
                        </a:lnTo>
                        <a:lnTo>
                          <a:pt x="78" y="65"/>
                        </a:lnTo>
                        <a:close/>
                      </a:path>
                    </a:pathLst>
                  </a:custGeom>
                  <a:solidFill>
                    <a:srgbClr val="FF27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08" name="Freeform 352"/>
                  <p:cNvSpPr>
                    <a:spLocks/>
                  </p:cNvSpPr>
                  <p:nvPr/>
                </p:nvSpPr>
                <p:spPr bwMode="auto">
                  <a:xfrm>
                    <a:off x="3790" y="2349"/>
                    <a:ext cx="85" cy="75"/>
                  </a:xfrm>
                  <a:custGeom>
                    <a:avLst/>
                    <a:gdLst>
                      <a:gd name="T0" fmla="*/ 78 w 85"/>
                      <a:gd name="T1" fmla="*/ 65 h 75"/>
                      <a:gd name="T2" fmla="*/ 80 w 85"/>
                      <a:gd name="T3" fmla="*/ 58 h 75"/>
                      <a:gd name="T4" fmla="*/ 81 w 85"/>
                      <a:gd name="T5" fmla="*/ 50 h 75"/>
                      <a:gd name="T6" fmla="*/ 81 w 85"/>
                      <a:gd name="T7" fmla="*/ 48 h 75"/>
                      <a:gd name="T8" fmla="*/ 81 w 85"/>
                      <a:gd name="T9" fmla="*/ 41 h 75"/>
                      <a:gd name="T10" fmla="*/ 79 w 85"/>
                      <a:gd name="T11" fmla="*/ 33 h 75"/>
                      <a:gd name="T12" fmla="*/ 74 w 85"/>
                      <a:gd name="T13" fmla="*/ 27 h 75"/>
                      <a:gd name="T14" fmla="*/ 70 w 85"/>
                      <a:gd name="T15" fmla="*/ 20 h 75"/>
                      <a:gd name="T16" fmla="*/ 65 w 85"/>
                      <a:gd name="T17" fmla="*/ 15 h 75"/>
                      <a:gd name="T18" fmla="*/ 64 w 85"/>
                      <a:gd name="T19" fmla="*/ 14 h 75"/>
                      <a:gd name="T20" fmla="*/ 61 w 85"/>
                      <a:gd name="T21" fmla="*/ 13 h 75"/>
                      <a:gd name="T22" fmla="*/ 57 w 85"/>
                      <a:gd name="T23" fmla="*/ 10 h 75"/>
                      <a:gd name="T24" fmla="*/ 54 w 85"/>
                      <a:gd name="T25" fmla="*/ 9 h 75"/>
                      <a:gd name="T26" fmla="*/ 52 w 85"/>
                      <a:gd name="T27" fmla="*/ 8 h 75"/>
                      <a:gd name="T28" fmla="*/ 49 w 85"/>
                      <a:gd name="T29" fmla="*/ 6 h 75"/>
                      <a:gd name="T30" fmla="*/ 46 w 85"/>
                      <a:gd name="T31" fmla="*/ 6 h 75"/>
                      <a:gd name="T32" fmla="*/ 42 w 85"/>
                      <a:gd name="T33" fmla="*/ 5 h 75"/>
                      <a:gd name="T34" fmla="*/ 39 w 85"/>
                      <a:gd name="T35" fmla="*/ 4 h 75"/>
                      <a:gd name="T36" fmla="*/ 33 w 85"/>
                      <a:gd name="T37" fmla="*/ 4 h 75"/>
                      <a:gd name="T38" fmla="*/ 28 w 85"/>
                      <a:gd name="T39" fmla="*/ 5 h 75"/>
                      <a:gd name="T40" fmla="*/ 27 w 85"/>
                      <a:gd name="T41" fmla="*/ 5 h 75"/>
                      <a:gd name="T42" fmla="*/ 23 w 85"/>
                      <a:gd name="T43" fmla="*/ 6 h 75"/>
                      <a:gd name="T44" fmla="*/ 22 w 85"/>
                      <a:gd name="T45" fmla="*/ 6 h 75"/>
                      <a:gd name="T46" fmla="*/ 20 w 85"/>
                      <a:gd name="T47" fmla="*/ 6 h 75"/>
                      <a:gd name="T48" fmla="*/ 15 w 85"/>
                      <a:gd name="T49" fmla="*/ 9 h 75"/>
                      <a:gd name="T50" fmla="*/ 11 w 85"/>
                      <a:gd name="T51" fmla="*/ 11 h 75"/>
                      <a:gd name="T52" fmla="*/ 5 w 85"/>
                      <a:gd name="T53" fmla="*/ 15 h 75"/>
                      <a:gd name="T54" fmla="*/ 0 w 85"/>
                      <a:gd name="T55" fmla="*/ 19 h 75"/>
                      <a:gd name="T56" fmla="*/ 3 w 85"/>
                      <a:gd name="T57" fmla="*/ 16 h 75"/>
                      <a:gd name="T58" fmla="*/ 9 w 85"/>
                      <a:gd name="T59" fmla="*/ 10 h 75"/>
                      <a:gd name="T60" fmla="*/ 14 w 85"/>
                      <a:gd name="T61" fmla="*/ 8 h 75"/>
                      <a:gd name="T62" fmla="*/ 18 w 85"/>
                      <a:gd name="T63" fmla="*/ 5 h 75"/>
                      <a:gd name="T64" fmla="*/ 21 w 85"/>
                      <a:gd name="T65" fmla="*/ 3 h 75"/>
                      <a:gd name="T66" fmla="*/ 25 w 85"/>
                      <a:gd name="T67" fmla="*/ 2 h 75"/>
                      <a:gd name="T68" fmla="*/ 28 w 85"/>
                      <a:gd name="T69" fmla="*/ 1 h 75"/>
                      <a:gd name="T70" fmla="*/ 33 w 85"/>
                      <a:gd name="T71" fmla="*/ 1 h 75"/>
                      <a:gd name="T72" fmla="*/ 37 w 85"/>
                      <a:gd name="T73" fmla="*/ 0 h 75"/>
                      <a:gd name="T74" fmla="*/ 41 w 85"/>
                      <a:gd name="T75" fmla="*/ 1 h 75"/>
                      <a:gd name="T76" fmla="*/ 45 w 85"/>
                      <a:gd name="T77" fmla="*/ 1 h 75"/>
                      <a:gd name="T78" fmla="*/ 48 w 85"/>
                      <a:gd name="T79" fmla="*/ 1 h 75"/>
                      <a:gd name="T80" fmla="*/ 50 w 85"/>
                      <a:gd name="T81" fmla="*/ 2 h 75"/>
                      <a:gd name="T82" fmla="*/ 53 w 85"/>
                      <a:gd name="T83" fmla="*/ 2 h 75"/>
                      <a:gd name="T84" fmla="*/ 56 w 85"/>
                      <a:gd name="T85" fmla="*/ 3 h 75"/>
                      <a:gd name="T86" fmla="*/ 59 w 85"/>
                      <a:gd name="T87" fmla="*/ 4 h 75"/>
                      <a:gd name="T88" fmla="*/ 63 w 85"/>
                      <a:gd name="T89" fmla="*/ 6 h 75"/>
                      <a:gd name="T90" fmla="*/ 65 w 85"/>
                      <a:gd name="T91" fmla="*/ 9 h 75"/>
                      <a:gd name="T92" fmla="*/ 68 w 85"/>
                      <a:gd name="T93" fmla="*/ 10 h 75"/>
                      <a:gd name="T94" fmla="*/ 73 w 85"/>
                      <a:gd name="T95" fmla="*/ 15 h 75"/>
                      <a:gd name="T96" fmla="*/ 79 w 85"/>
                      <a:gd name="T97" fmla="*/ 21 h 75"/>
                      <a:gd name="T98" fmla="*/ 82 w 85"/>
                      <a:gd name="T99" fmla="*/ 28 h 75"/>
                      <a:gd name="T100" fmla="*/ 84 w 85"/>
                      <a:gd name="T101" fmla="*/ 35 h 75"/>
                      <a:gd name="T102" fmla="*/ 85 w 85"/>
                      <a:gd name="T103" fmla="*/ 43 h 75"/>
                      <a:gd name="T104" fmla="*/ 84 w 85"/>
                      <a:gd name="T105" fmla="*/ 50 h 75"/>
                      <a:gd name="T106" fmla="*/ 83 w 85"/>
                      <a:gd name="T107" fmla="*/ 58 h 75"/>
                      <a:gd name="T108" fmla="*/ 79 w 85"/>
                      <a:gd name="T109" fmla="*/ 64 h 75"/>
                      <a:gd name="T110" fmla="*/ 79 w 85"/>
                      <a:gd name="T111" fmla="*/ 66 h 75"/>
                      <a:gd name="T112" fmla="*/ 76 w 85"/>
                      <a:gd name="T113" fmla="*/ 71 h 75"/>
                      <a:gd name="T114" fmla="*/ 71 w 85"/>
                      <a:gd name="T115" fmla="*/ 75 h 75"/>
                      <a:gd name="T116" fmla="*/ 73 w 85"/>
                      <a:gd name="T117" fmla="*/ 73 h 75"/>
                      <a:gd name="T118" fmla="*/ 78 w 85"/>
                      <a:gd name="T119" fmla="*/ 65 h 75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60000 65536"/>
                      <a:gd name="T175" fmla="*/ 0 60000 65536"/>
                      <a:gd name="T176" fmla="*/ 0 60000 65536"/>
                      <a:gd name="T177" fmla="*/ 0 60000 65536"/>
                      <a:gd name="T178" fmla="*/ 0 60000 65536"/>
                      <a:gd name="T179" fmla="*/ 0 60000 65536"/>
                      <a:gd name="T180" fmla="*/ 0 w 85"/>
                      <a:gd name="T181" fmla="*/ 0 h 75"/>
                      <a:gd name="T182" fmla="*/ 85 w 85"/>
                      <a:gd name="T183" fmla="*/ 75 h 75"/>
                    </a:gdLst>
                    <a:ahLst/>
                    <a:cxnLst>
                      <a:cxn ang="T120">
                        <a:pos x="T0" y="T1"/>
                      </a:cxn>
                      <a:cxn ang="T121">
                        <a:pos x="T2" y="T3"/>
                      </a:cxn>
                      <a:cxn ang="T122">
                        <a:pos x="T4" y="T5"/>
                      </a:cxn>
                      <a:cxn ang="T123">
                        <a:pos x="T6" y="T7"/>
                      </a:cxn>
                      <a:cxn ang="T124">
                        <a:pos x="T8" y="T9"/>
                      </a:cxn>
                      <a:cxn ang="T125">
                        <a:pos x="T10" y="T11"/>
                      </a:cxn>
                      <a:cxn ang="T126">
                        <a:pos x="T12" y="T13"/>
                      </a:cxn>
                      <a:cxn ang="T127">
                        <a:pos x="T14" y="T15"/>
                      </a:cxn>
                      <a:cxn ang="T128">
                        <a:pos x="T16" y="T17"/>
                      </a:cxn>
                      <a:cxn ang="T129">
                        <a:pos x="T18" y="T19"/>
                      </a:cxn>
                      <a:cxn ang="T130">
                        <a:pos x="T20" y="T21"/>
                      </a:cxn>
                      <a:cxn ang="T131">
                        <a:pos x="T22" y="T23"/>
                      </a:cxn>
                      <a:cxn ang="T132">
                        <a:pos x="T24" y="T25"/>
                      </a:cxn>
                      <a:cxn ang="T133">
                        <a:pos x="T26" y="T27"/>
                      </a:cxn>
                      <a:cxn ang="T134">
                        <a:pos x="T28" y="T29"/>
                      </a:cxn>
                      <a:cxn ang="T135">
                        <a:pos x="T30" y="T31"/>
                      </a:cxn>
                      <a:cxn ang="T136">
                        <a:pos x="T32" y="T33"/>
                      </a:cxn>
                      <a:cxn ang="T137">
                        <a:pos x="T34" y="T35"/>
                      </a:cxn>
                      <a:cxn ang="T138">
                        <a:pos x="T36" y="T37"/>
                      </a:cxn>
                      <a:cxn ang="T139">
                        <a:pos x="T38" y="T39"/>
                      </a:cxn>
                      <a:cxn ang="T140">
                        <a:pos x="T40" y="T41"/>
                      </a:cxn>
                      <a:cxn ang="T141">
                        <a:pos x="T42" y="T43"/>
                      </a:cxn>
                      <a:cxn ang="T142">
                        <a:pos x="T44" y="T45"/>
                      </a:cxn>
                      <a:cxn ang="T143">
                        <a:pos x="T46" y="T47"/>
                      </a:cxn>
                      <a:cxn ang="T144">
                        <a:pos x="T48" y="T49"/>
                      </a:cxn>
                      <a:cxn ang="T145">
                        <a:pos x="T50" y="T51"/>
                      </a:cxn>
                      <a:cxn ang="T146">
                        <a:pos x="T52" y="T53"/>
                      </a:cxn>
                      <a:cxn ang="T147">
                        <a:pos x="T54" y="T55"/>
                      </a:cxn>
                      <a:cxn ang="T148">
                        <a:pos x="T56" y="T57"/>
                      </a:cxn>
                      <a:cxn ang="T149">
                        <a:pos x="T58" y="T59"/>
                      </a:cxn>
                      <a:cxn ang="T150">
                        <a:pos x="T60" y="T61"/>
                      </a:cxn>
                      <a:cxn ang="T151">
                        <a:pos x="T62" y="T63"/>
                      </a:cxn>
                      <a:cxn ang="T152">
                        <a:pos x="T64" y="T65"/>
                      </a:cxn>
                      <a:cxn ang="T153">
                        <a:pos x="T66" y="T67"/>
                      </a:cxn>
                      <a:cxn ang="T154">
                        <a:pos x="T68" y="T69"/>
                      </a:cxn>
                      <a:cxn ang="T155">
                        <a:pos x="T70" y="T71"/>
                      </a:cxn>
                      <a:cxn ang="T156">
                        <a:pos x="T72" y="T73"/>
                      </a:cxn>
                      <a:cxn ang="T157">
                        <a:pos x="T74" y="T75"/>
                      </a:cxn>
                      <a:cxn ang="T158">
                        <a:pos x="T76" y="T77"/>
                      </a:cxn>
                      <a:cxn ang="T159">
                        <a:pos x="T78" y="T79"/>
                      </a:cxn>
                      <a:cxn ang="T160">
                        <a:pos x="T80" y="T81"/>
                      </a:cxn>
                      <a:cxn ang="T161">
                        <a:pos x="T82" y="T83"/>
                      </a:cxn>
                      <a:cxn ang="T162">
                        <a:pos x="T84" y="T85"/>
                      </a:cxn>
                      <a:cxn ang="T163">
                        <a:pos x="T86" y="T87"/>
                      </a:cxn>
                      <a:cxn ang="T164">
                        <a:pos x="T88" y="T89"/>
                      </a:cxn>
                      <a:cxn ang="T165">
                        <a:pos x="T90" y="T91"/>
                      </a:cxn>
                      <a:cxn ang="T166">
                        <a:pos x="T92" y="T93"/>
                      </a:cxn>
                      <a:cxn ang="T167">
                        <a:pos x="T94" y="T95"/>
                      </a:cxn>
                      <a:cxn ang="T168">
                        <a:pos x="T96" y="T97"/>
                      </a:cxn>
                      <a:cxn ang="T169">
                        <a:pos x="T98" y="T99"/>
                      </a:cxn>
                      <a:cxn ang="T170">
                        <a:pos x="T100" y="T101"/>
                      </a:cxn>
                      <a:cxn ang="T171">
                        <a:pos x="T102" y="T103"/>
                      </a:cxn>
                      <a:cxn ang="T172">
                        <a:pos x="T104" y="T105"/>
                      </a:cxn>
                      <a:cxn ang="T173">
                        <a:pos x="T106" y="T107"/>
                      </a:cxn>
                      <a:cxn ang="T174">
                        <a:pos x="T108" y="T109"/>
                      </a:cxn>
                      <a:cxn ang="T175">
                        <a:pos x="T110" y="T111"/>
                      </a:cxn>
                      <a:cxn ang="T176">
                        <a:pos x="T112" y="T113"/>
                      </a:cxn>
                      <a:cxn ang="T177">
                        <a:pos x="T114" y="T115"/>
                      </a:cxn>
                      <a:cxn ang="T178">
                        <a:pos x="T116" y="T117"/>
                      </a:cxn>
                      <a:cxn ang="T179">
                        <a:pos x="T118" y="T119"/>
                      </a:cxn>
                    </a:cxnLst>
                    <a:rect l="T180" t="T181" r="T182" b="T183"/>
                    <a:pathLst>
                      <a:path w="85" h="75">
                        <a:moveTo>
                          <a:pt x="78" y="65"/>
                        </a:moveTo>
                        <a:lnTo>
                          <a:pt x="80" y="58"/>
                        </a:lnTo>
                        <a:lnTo>
                          <a:pt x="81" y="50"/>
                        </a:lnTo>
                        <a:lnTo>
                          <a:pt x="81" y="48"/>
                        </a:lnTo>
                        <a:lnTo>
                          <a:pt x="81" y="41"/>
                        </a:lnTo>
                        <a:lnTo>
                          <a:pt x="79" y="33"/>
                        </a:lnTo>
                        <a:lnTo>
                          <a:pt x="74" y="27"/>
                        </a:lnTo>
                        <a:lnTo>
                          <a:pt x="70" y="20"/>
                        </a:lnTo>
                        <a:lnTo>
                          <a:pt x="65" y="15"/>
                        </a:lnTo>
                        <a:lnTo>
                          <a:pt x="64" y="14"/>
                        </a:lnTo>
                        <a:lnTo>
                          <a:pt x="61" y="13"/>
                        </a:lnTo>
                        <a:lnTo>
                          <a:pt x="57" y="10"/>
                        </a:lnTo>
                        <a:lnTo>
                          <a:pt x="54" y="9"/>
                        </a:lnTo>
                        <a:lnTo>
                          <a:pt x="52" y="8"/>
                        </a:lnTo>
                        <a:lnTo>
                          <a:pt x="49" y="6"/>
                        </a:lnTo>
                        <a:lnTo>
                          <a:pt x="46" y="6"/>
                        </a:lnTo>
                        <a:lnTo>
                          <a:pt x="42" y="5"/>
                        </a:lnTo>
                        <a:lnTo>
                          <a:pt x="39" y="4"/>
                        </a:lnTo>
                        <a:lnTo>
                          <a:pt x="33" y="4"/>
                        </a:lnTo>
                        <a:lnTo>
                          <a:pt x="28" y="5"/>
                        </a:lnTo>
                        <a:lnTo>
                          <a:pt x="27" y="5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5" y="9"/>
                        </a:lnTo>
                        <a:lnTo>
                          <a:pt x="11" y="11"/>
                        </a:lnTo>
                        <a:lnTo>
                          <a:pt x="5" y="15"/>
                        </a:lnTo>
                        <a:lnTo>
                          <a:pt x="0" y="19"/>
                        </a:lnTo>
                        <a:lnTo>
                          <a:pt x="3" y="16"/>
                        </a:lnTo>
                        <a:lnTo>
                          <a:pt x="9" y="10"/>
                        </a:lnTo>
                        <a:lnTo>
                          <a:pt x="14" y="8"/>
                        </a:lnTo>
                        <a:lnTo>
                          <a:pt x="18" y="5"/>
                        </a:lnTo>
                        <a:lnTo>
                          <a:pt x="21" y="3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3" y="1"/>
                        </a:lnTo>
                        <a:lnTo>
                          <a:pt x="37" y="0"/>
                        </a:lnTo>
                        <a:lnTo>
                          <a:pt x="41" y="1"/>
                        </a:lnTo>
                        <a:lnTo>
                          <a:pt x="45" y="1"/>
                        </a:lnTo>
                        <a:lnTo>
                          <a:pt x="48" y="1"/>
                        </a:lnTo>
                        <a:lnTo>
                          <a:pt x="50" y="2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9" y="4"/>
                        </a:lnTo>
                        <a:lnTo>
                          <a:pt x="63" y="6"/>
                        </a:lnTo>
                        <a:lnTo>
                          <a:pt x="65" y="9"/>
                        </a:lnTo>
                        <a:lnTo>
                          <a:pt x="68" y="10"/>
                        </a:lnTo>
                        <a:lnTo>
                          <a:pt x="73" y="15"/>
                        </a:lnTo>
                        <a:lnTo>
                          <a:pt x="79" y="21"/>
                        </a:lnTo>
                        <a:lnTo>
                          <a:pt x="82" y="28"/>
                        </a:lnTo>
                        <a:lnTo>
                          <a:pt x="84" y="35"/>
                        </a:lnTo>
                        <a:lnTo>
                          <a:pt x="85" y="43"/>
                        </a:lnTo>
                        <a:lnTo>
                          <a:pt x="84" y="50"/>
                        </a:lnTo>
                        <a:lnTo>
                          <a:pt x="83" y="58"/>
                        </a:lnTo>
                        <a:lnTo>
                          <a:pt x="79" y="64"/>
                        </a:lnTo>
                        <a:lnTo>
                          <a:pt x="79" y="66"/>
                        </a:lnTo>
                        <a:lnTo>
                          <a:pt x="76" y="71"/>
                        </a:lnTo>
                        <a:lnTo>
                          <a:pt x="71" y="75"/>
                        </a:lnTo>
                        <a:lnTo>
                          <a:pt x="73" y="73"/>
                        </a:lnTo>
                        <a:lnTo>
                          <a:pt x="78" y="6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09" name="Freeform 353"/>
                  <p:cNvSpPr>
                    <a:spLocks/>
                  </p:cNvSpPr>
                  <p:nvPr/>
                </p:nvSpPr>
                <p:spPr bwMode="auto">
                  <a:xfrm>
                    <a:off x="3778" y="2353"/>
                    <a:ext cx="93" cy="87"/>
                  </a:xfrm>
                  <a:custGeom>
                    <a:avLst/>
                    <a:gdLst>
                      <a:gd name="T0" fmla="*/ 93 w 93"/>
                      <a:gd name="T1" fmla="*/ 36 h 87"/>
                      <a:gd name="T2" fmla="*/ 90 w 93"/>
                      <a:gd name="T3" fmla="*/ 29 h 87"/>
                      <a:gd name="T4" fmla="*/ 86 w 93"/>
                      <a:gd name="T5" fmla="*/ 22 h 87"/>
                      <a:gd name="T6" fmla="*/ 82 w 93"/>
                      <a:gd name="T7" fmla="*/ 16 h 87"/>
                      <a:gd name="T8" fmla="*/ 77 w 93"/>
                      <a:gd name="T9" fmla="*/ 11 h 87"/>
                      <a:gd name="T10" fmla="*/ 76 w 93"/>
                      <a:gd name="T11" fmla="*/ 9 h 87"/>
                      <a:gd name="T12" fmla="*/ 73 w 93"/>
                      <a:gd name="T13" fmla="*/ 8 h 87"/>
                      <a:gd name="T14" fmla="*/ 69 w 93"/>
                      <a:gd name="T15" fmla="*/ 6 h 87"/>
                      <a:gd name="T16" fmla="*/ 66 w 93"/>
                      <a:gd name="T17" fmla="*/ 5 h 87"/>
                      <a:gd name="T18" fmla="*/ 63 w 93"/>
                      <a:gd name="T19" fmla="*/ 4 h 87"/>
                      <a:gd name="T20" fmla="*/ 60 w 93"/>
                      <a:gd name="T21" fmla="*/ 2 h 87"/>
                      <a:gd name="T22" fmla="*/ 58 w 93"/>
                      <a:gd name="T23" fmla="*/ 1 h 87"/>
                      <a:gd name="T24" fmla="*/ 54 w 93"/>
                      <a:gd name="T25" fmla="*/ 1 h 87"/>
                      <a:gd name="T26" fmla="*/ 51 w 93"/>
                      <a:gd name="T27" fmla="*/ 0 h 87"/>
                      <a:gd name="T28" fmla="*/ 44 w 93"/>
                      <a:gd name="T29" fmla="*/ 0 h 87"/>
                      <a:gd name="T30" fmla="*/ 39 w 93"/>
                      <a:gd name="T31" fmla="*/ 1 h 87"/>
                      <a:gd name="T32" fmla="*/ 39 w 93"/>
                      <a:gd name="T33" fmla="*/ 1 h 87"/>
                      <a:gd name="T34" fmla="*/ 35 w 93"/>
                      <a:gd name="T35" fmla="*/ 1 h 87"/>
                      <a:gd name="T36" fmla="*/ 33 w 93"/>
                      <a:gd name="T37" fmla="*/ 2 h 87"/>
                      <a:gd name="T38" fmla="*/ 31 w 93"/>
                      <a:gd name="T39" fmla="*/ 2 h 87"/>
                      <a:gd name="T40" fmla="*/ 27 w 93"/>
                      <a:gd name="T41" fmla="*/ 5 h 87"/>
                      <a:gd name="T42" fmla="*/ 23 w 93"/>
                      <a:gd name="T43" fmla="*/ 7 h 87"/>
                      <a:gd name="T44" fmla="*/ 17 w 93"/>
                      <a:gd name="T45" fmla="*/ 10 h 87"/>
                      <a:gd name="T46" fmla="*/ 12 w 93"/>
                      <a:gd name="T47" fmla="*/ 15 h 87"/>
                      <a:gd name="T48" fmla="*/ 6 w 93"/>
                      <a:gd name="T49" fmla="*/ 22 h 87"/>
                      <a:gd name="T50" fmla="*/ 3 w 93"/>
                      <a:gd name="T51" fmla="*/ 28 h 87"/>
                      <a:gd name="T52" fmla="*/ 1 w 93"/>
                      <a:gd name="T53" fmla="*/ 33 h 87"/>
                      <a:gd name="T54" fmla="*/ 1 w 93"/>
                      <a:gd name="T55" fmla="*/ 36 h 87"/>
                      <a:gd name="T56" fmla="*/ 0 w 93"/>
                      <a:gd name="T57" fmla="*/ 42 h 87"/>
                      <a:gd name="T58" fmla="*/ 0 w 93"/>
                      <a:gd name="T59" fmla="*/ 51 h 87"/>
                      <a:gd name="T60" fmla="*/ 2 w 93"/>
                      <a:gd name="T61" fmla="*/ 58 h 87"/>
                      <a:gd name="T62" fmla="*/ 5 w 93"/>
                      <a:gd name="T63" fmla="*/ 64 h 87"/>
                      <a:gd name="T64" fmla="*/ 11 w 93"/>
                      <a:gd name="T65" fmla="*/ 71 h 87"/>
                      <a:gd name="T66" fmla="*/ 18 w 93"/>
                      <a:gd name="T67" fmla="*/ 77 h 87"/>
                      <a:gd name="T68" fmla="*/ 22 w 93"/>
                      <a:gd name="T69" fmla="*/ 80 h 87"/>
                      <a:gd name="T70" fmla="*/ 29 w 93"/>
                      <a:gd name="T71" fmla="*/ 84 h 87"/>
                      <a:gd name="T72" fmla="*/ 36 w 93"/>
                      <a:gd name="T73" fmla="*/ 86 h 87"/>
                      <a:gd name="T74" fmla="*/ 45 w 93"/>
                      <a:gd name="T75" fmla="*/ 87 h 87"/>
                      <a:gd name="T76" fmla="*/ 53 w 93"/>
                      <a:gd name="T77" fmla="*/ 87 h 87"/>
                      <a:gd name="T78" fmla="*/ 54 w 93"/>
                      <a:gd name="T79" fmla="*/ 86 h 87"/>
                      <a:gd name="T80" fmla="*/ 61 w 93"/>
                      <a:gd name="T81" fmla="*/ 85 h 87"/>
                      <a:gd name="T82" fmla="*/ 68 w 93"/>
                      <a:gd name="T83" fmla="*/ 82 h 87"/>
                      <a:gd name="T84" fmla="*/ 75 w 93"/>
                      <a:gd name="T85" fmla="*/ 77 h 87"/>
                      <a:gd name="T86" fmla="*/ 80 w 93"/>
                      <a:gd name="T87" fmla="*/ 73 h 87"/>
                      <a:gd name="T88" fmla="*/ 83 w 93"/>
                      <a:gd name="T89" fmla="*/ 70 h 87"/>
                      <a:gd name="T90" fmla="*/ 84 w 93"/>
                      <a:gd name="T91" fmla="*/ 68 h 87"/>
                      <a:gd name="T92" fmla="*/ 90 w 93"/>
                      <a:gd name="T93" fmla="*/ 60 h 87"/>
                      <a:gd name="T94" fmla="*/ 92 w 93"/>
                      <a:gd name="T95" fmla="*/ 53 h 87"/>
                      <a:gd name="T96" fmla="*/ 93 w 93"/>
                      <a:gd name="T97" fmla="*/ 46 h 87"/>
                      <a:gd name="T98" fmla="*/ 93 w 93"/>
                      <a:gd name="T99" fmla="*/ 44 h 87"/>
                      <a:gd name="T100" fmla="*/ 93 w 93"/>
                      <a:gd name="T101" fmla="*/ 36 h 87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93"/>
                      <a:gd name="T154" fmla="*/ 0 h 87"/>
                      <a:gd name="T155" fmla="*/ 93 w 93"/>
                      <a:gd name="T156" fmla="*/ 87 h 87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93" h="87">
                        <a:moveTo>
                          <a:pt x="93" y="36"/>
                        </a:moveTo>
                        <a:lnTo>
                          <a:pt x="90" y="29"/>
                        </a:lnTo>
                        <a:lnTo>
                          <a:pt x="86" y="22"/>
                        </a:lnTo>
                        <a:lnTo>
                          <a:pt x="82" y="16"/>
                        </a:lnTo>
                        <a:lnTo>
                          <a:pt x="77" y="11"/>
                        </a:lnTo>
                        <a:lnTo>
                          <a:pt x="76" y="9"/>
                        </a:lnTo>
                        <a:lnTo>
                          <a:pt x="73" y="8"/>
                        </a:lnTo>
                        <a:lnTo>
                          <a:pt x="69" y="6"/>
                        </a:lnTo>
                        <a:lnTo>
                          <a:pt x="66" y="5"/>
                        </a:lnTo>
                        <a:lnTo>
                          <a:pt x="63" y="4"/>
                        </a:lnTo>
                        <a:lnTo>
                          <a:pt x="60" y="2"/>
                        </a:lnTo>
                        <a:lnTo>
                          <a:pt x="58" y="1"/>
                        </a:lnTo>
                        <a:lnTo>
                          <a:pt x="54" y="1"/>
                        </a:lnTo>
                        <a:lnTo>
                          <a:pt x="51" y="0"/>
                        </a:lnTo>
                        <a:lnTo>
                          <a:pt x="44" y="0"/>
                        </a:lnTo>
                        <a:lnTo>
                          <a:pt x="39" y="1"/>
                        </a:lnTo>
                        <a:lnTo>
                          <a:pt x="35" y="1"/>
                        </a:lnTo>
                        <a:lnTo>
                          <a:pt x="33" y="2"/>
                        </a:lnTo>
                        <a:lnTo>
                          <a:pt x="31" y="2"/>
                        </a:lnTo>
                        <a:lnTo>
                          <a:pt x="27" y="5"/>
                        </a:lnTo>
                        <a:lnTo>
                          <a:pt x="23" y="7"/>
                        </a:lnTo>
                        <a:lnTo>
                          <a:pt x="17" y="10"/>
                        </a:lnTo>
                        <a:lnTo>
                          <a:pt x="12" y="15"/>
                        </a:lnTo>
                        <a:lnTo>
                          <a:pt x="6" y="22"/>
                        </a:lnTo>
                        <a:lnTo>
                          <a:pt x="3" y="28"/>
                        </a:lnTo>
                        <a:lnTo>
                          <a:pt x="1" y="33"/>
                        </a:lnTo>
                        <a:lnTo>
                          <a:pt x="1" y="36"/>
                        </a:lnTo>
                        <a:lnTo>
                          <a:pt x="0" y="42"/>
                        </a:lnTo>
                        <a:lnTo>
                          <a:pt x="0" y="51"/>
                        </a:lnTo>
                        <a:lnTo>
                          <a:pt x="2" y="58"/>
                        </a:lnTo>
                        <a:lnTo>
                          <a:pt x="5" y="64"/>
                        </a:lnTo>
                        <a:lnTo>
                          <a:pt x="11" y="71"/>
                        </a:lnTo>
                        <a:lnTo>
                          <a:pt x="18" y="77"/>
                        </a:lnTo>
                        <a:lnTo>
                          <a:pt x="22" y="80"/>
                        </a:lnTo>
                        <a:lnTo>
                          <a:pt x="29" y="84"/>
                        </a:lnTo>
                        <a:lnTo>
                          <a:pt x="36" y="86"/>
                        </a:lnTo>
                        <a:lnTo>
                          <a:pt x="45" y="87"/>
                        </a:lnTo>
                        <a:lnTo>
                          <a:pt x="53" y="87"/>
                        </a:lnTo>
                        <a:lnTo>
                          <a:pt x="54" y="86"/>
                        </a:lnTo>
                        <a:lnTo>
                          <a:pt x="61" y="85"/>
                        </a:lnTo>
                        <a:lnTo>
                          <a:pt x="68" y="82"/>
                        </a:lnTo>
                        <a:lnTo>
                          <a:pt x="75" y="77"/>
                        </a:lnTo>
                        <a:lnTo>
                          <a:pt x="80" y="73"/>
                        </a:lnTo>
                        <a:lnTo>
                          <a:pt x="83" y="70"/>
                        </a:lnTo>
                        <a:lnTo>
                          <a:pt x="84" y="68"/>
                        </a:lnTo>
                        <a:lnTo>
                          <a:pt x="90" y="60"/>
                        </a:lnTo>
                        <a:lnTo>
                          <a:pt x="92" y="53"/>
                        </a:lnTo>
                        <a:lnTo>
                          <a:pt x="93" y="46"/>
                        </a:lnTo>
                        <a:lnTo>
                          <a:pt x="93" y="44"/>
                        </a:lnTo>
                        <a:lnTo>
                          <a:pt x="93" y="36"/>
                        </a:lnTo>
                        <a:close/>
                      </a:path>
                    </a:pathLst>
                  </a:custGeom>
                  <a:solidFill>
                    <a:srgbClr val="FFC283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10" name="Freeform 354"/>
                  <p:cNvSpPr>
                    <a:spLocks/>
                  </p:cNvSpPr>
                  <p:nvPr/>
                </p:nvSpPr>
                <p:spPr bwMode="auto">
                  <a:xfrm>
                    <a:off x="3778" y="2353"/>
                    <a:ext cx="93" cy="87"/>
                  </a:xfrm>
                  <a:custGeom>
                    <a:avLst/>
                    <a:gdLst>
                      <a:gd name="T0" fmla="*/ 93 w 93"/>
                      <a:gd name="T1" fmla="*/ 36 h 87"/>
                      <a:gd name="T2" fmla="*/ 90 w 93"/>
                      <a:gd name="T3" fmla="*/ 29 h 87"/>
                      <a:gd name="T4" fmla="*/ 86 w 93"/>
                      <a:gd name="T5" fmla="*/ 22 h 87"/>
                      <a:gd name="T6" fmla="*/ 82 w 93"/>
                      <a:gd name="T7" fmla="*/ 16 h 87"/>
                      <a:gd name="T8" fmla="*/ 77 w 93"/>
                      <a:gd name="T9" fmla="*/ 11 h 87"/>
                      <a:gd name="T10" fmla="*/ 76 w 93"/>
                      <a:gd name="T11" fmla="*/ 9 h 87"/>
                      <a:gd name="T12" fmla="*/ 73 w 93"/>
                      <a:gd name="T13" fmla="*/ 8 h 87"/>
                      <a:gd name="T14" fmla="*/ 69 w 93"/>
                      <a:gd name="T15" fmla="*/ 6 h 87"/>
                      <a:gd name="T16" fmla="*/ 66 w 93"/>
                      <a:gd name="T17" fmla="*/ 5 h 87"/>
                      <a:gd name="T18" fmla="*/ 63 w 93"/>
                      <a:gd name="T19" fmla="*/ 4 h 87"/>
                      <a:gd name="T20" fmla="*/ 60 w 93"/>
                      <a:gd name="T21" fmla="*/ 2 h 87"/>
                      <a:gd name="T22" fmla="*/ 58 w 93"/>
                      <a:gd name="T23" fmla="*/ 1 h 87"/>
                      <a:gd name="T24" fmla="*/ 54 w 93"/>
                      <a:gd name="T25" fmla="*/ 1 h 87"/>
                      <a:gd name="T26" fmla="*/ 51 w 93"/>
                      <a:gd name="T27" fmla="*/ 0 h 87"/>
                      <a:gd name="T28" fmla="*/ 44 w 93"/>
                      <a:gd name="T29" fmla="*/ 0 h 87"/>
                      <a:gd name="T30" fmla="*/ 39 w 93"/>
                      <a:gd name="T31" fmla="*/ 1 h 87"/>
                      <a:gd name="T32" fmla="*/ 39 w 93"/>
                      <a:gd name="T33" fmla="*/ 1 h 87"/>
                      <a:gd name="T34" fmla="*/ 35 w 93"/>
                      <a:gd name="T35" fmla="*/ 1 h 87"/>
                      <a:gd name="T36" fmla="*/ 33 w 93"/>
                      <a:gd name="T37" fmla="*/ 2 h 87"/>
                      <a:gd name="T38" fmla="*/ 31 w 93"/>
                      <a:gd name="T39" fmla="*/ 2 h 87"/>
                      <a:gd name="T40" fmla="*/ 27 w 93"/>
                      <a:gd name="T41" fmla="*/ 5 h 87"/>
                      <a:gd name="T42" fmla="*/ 23 w 93"/>
                      <a:gd name="T43" fmla="*/ 7 h 87"/>
                      <a:gd name="T44" fmla="*/ 17 w 93"/>
                      <a:gd name="T45" fmla="*/ 10 h 87"/>
                      <a:gd name="T46" fmla="*/ 12 w 93"/>
                      <a:gd name="T47" fmla="*/ 15 h 87"/>
                      <a:gd name="T48" fmla="*/ 6 w 93"/>
                      <a:gd name="T49" fmla="*/ 22 h 87"/>
                      <a:gd name="T50" fmla="*/ 3 w 93"/>
                      <a:gd name="T51" fmla="*/ 28 h 87"/>
                      <a:gd name="T52" fmla="*/ 1 w 93"/>
                      <a:gd name="T53" fmla="*/ 33 h 87"/>
                      <a:gd name="T54" fmla="*/ 1 w 93"/>
                      <a:gd name="T55" fmla="*/ 36 h 87"/>
                      <a:gd name="T56" fmla="*/ 0 w 93"/>
                      <a:gd name="T57" fmla="*/ 42 h 87"/>
                      <a:gd name="T58" fmla="*/ 0 w 93"/>
                      <a:gd name="T59" fmla="*/ 51 h 87"/>
                      <a:gd name="T60" fmla="*/ 2 w 93"/>
                      <a:gd name="T61" fmla="*/ 58 h 87"/>
                      <a:gd name="T62" fmla="*/ 5 w 93"/>
                      <a:gd name="T63" fmla="*/ 64 h 87"/>
                      <a:gd name="T64" fmla="*/ 11 w 93"/>
                      <a:gd name="T65" fmla="*/ 71 h 87"/>
                      <a:gd name="T66" fmla="*/ 18 w 93"/>
                      <a:gd name="T67" fmla="*/ 77 h 87"/>
                      <a:gd name="T68" fmla="*/ 22 w 93"/>
                      <a:gd name="T69" fmla="*/ 80 h 87"/>
                      <a:gd name="T70" fmla="*/ 29 w 93"/>
                      <a:gd name="T71" fmla="*/ 84 h 87"/>
                      <a:gd name="T72" fmla="*/ 36 w 93"/>
                      <a:gd name="T73" fmla="*/ 86 h 87"/>
                      <a:gd name="T74" fmla="*/ 45 w 93"/>
                      <a:gd name="T75" fmla="*/ 87 h 87"/>
                      <a:gd name="T76" fmla="*/ 53 w 93"/>
                      <a:gd name="T77" fmla="*/ 87 h 87"/>
                      <a:gd name="T78" fmla="*/ 54 w 93"/>
                      <a:gd name="T79" fmla="*/ 86 h 87"/>
                      <a:gd name="T80" fmla="*/ 61 w 93"/>
                      <a:gd name="T81" fmla="*/ 85 h 87"/>
                      <a:gd name="T82" fmla="*/ 68 w 93"/>
                      <a:gd name="T83" fmla="*/ 82 h 87"/>
                      <a:gd name="T84" fmla="*/ 75 w 93"/>
                      <a:gd name="T85" fmla="*/ 77 h 87"/>
                      <a:gd name="T86" fmla="*/ 80 w 93"/>
                      <a:gd name="T87" fmla="*/ 73 h 87"/>
                      <a:gd name="T88" fmla="*/ 83 w 93"/>
                      <a:gd name="T89" fmla="*/ 70 h 87"/>
                      <a:gd name="T90" fmla="*/ 84 w 93"/>
                      <a:gd name="T91" fmla="*/ 68 h 87"/>
                      <a:gd name="T92" fmla="*/ 90 w 93"/>
                      <a:gd name="T93" fmla="*/ 60 h 87"/>
                      <a:gd name="T94" fmla="*/ 92 w 93"/>
                      <a:gd name="T95" fmla="*/ 53 h 87"/>
                      <a:gd name="T96" fmla="*/ 93 w 93"/>
                      <a:gd name="T97" fmla="*/ 46 h 87"/>
                      <a:gd name="T98" fmla="*/ 93 w 93"/>
                      <a:gd name="T99" fmla="*/ 44 h 87"/>
                      <a:gd name="T100" fmla="*/ 93 w 93"/>
                      <a:gd name="T101" fmla="*/ 36 h 87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93"/>
                      <a:gd name="T154" fmla="*/ 0 h 87"/>
                      <a:gd name="T155" fmla="*/ 93 w 93"/>
                      <a:gd name="T156" fmla="*/ 87 h 87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93" h="87">
                        <a:moveTo>
                          <a:pt x="93" y="36"/>
                        </a:moveTo>
                        <a:lnTo>
                          <a:pt x="90" y="29"/>
                        </a:lnTo>
                        <a:lnTo>
                          <a:pt x="86" y="22"/>
                        </a:lnTo>
                        <a:lnTo>
                          <a:pt x="82" y="16"/>
                        </a:lnTo>
                        <a:lnTo>
                          <a:pt x="77" y="11"/>
                        </a:lnTo>
                        <a:lnTo>
                          <a:pt x="76" y="9"/>
                        </a:lnTo>
                        <a:lnTo>
                          <a:pt x="73" y="8"/>
                        </a:lnTo>
                        <a:lnTo>
                          <a:pt x="69" y="6"/>
                        </a:lnTo>
                        <a:lnTo>
                          <a:pt x="66" y="5"/>
                        </a:lnTo>
                        <a:lnTo>
                          <a:pt x="63" y="4"/>
                        </a:lnTo>
                        <a:lnTo>
                          <a:pt x="60" y="2"/>
                        </a:lnTo>
                        <a:lnTo>
                          <a:pt x="58" y="1"/>
                        </a:lnTo>
                        <a:lnTo>
                          <a:pt x="54" y="1"/>
                        </a:lnTo>
                        <a:lnTo>
                          <a:pt x="51" y="0"/>
                        </a:lnTo>
                        <a:lnTo>
                          <a:pt x="44" y="0"/>
                        </a:lnTo>
                        <a:lnTo>
                          <a:pt x="39" y="1"/>
                        </a:lnTo>
                        <a:lnTo>
                          <a:pt x="35" y="1"/>
                        </a:lnTo>
                        <a:lnTo>
                          <a:pt x="33" y="2"/>
                        </a:lnTo>
                        <a:lnTo>
                          <a:pt x="31" y="2"/>
                        </a:lnTo>
                        <a:lnTo>
                          <a:pt x="27" y="5"/>
                        </a:lnTo>
                        <a:lnTo>
                          <a:pt x="23" y="7"/>
                        </a:lnTo>
                        <a:lnTo>
                          <a:pt x="17" y="10"/>
                        </a:lnTo>
                        <a:lnTo>
                          <a:pt x="12" y="15"/>
                        </a:lnTo>
                        <a:lnTo>
                          <a:pt x="6" y="22"/>
                        </a:lnTo>
                        <a:lnTo>
                          <a:pt x="3" y="28"/>
                        </a:lnTo>
                        <a:lnTo>
                          <a:pt x="1" y="33"/>
                        </a:lnTo>
                        <a:lnTo>
                          <a:pt x="1" y="36"/>
                        </a:lnTo>
                        <a:lnTo>
                          <a:pt x="0" y="42"/>
                        </a:lnTo>
                        <a:lnTo>
                          <a:pt x="0" y="51"/>
                        </a:lnTo>
                        <a:lnTo>
                          <a:pt x="2" y="58"/>
                        </a:lnTo>
                        <a:lnTo>
                          <a:pt x="5" y="64"/>
                        </a:lnTo>
                        <a:lnTo>
                          <a:pt x="11" y="71"/>
                        </a:lnTo>
                        <a:lnTo>
                          <a:pt x="18" y="77"/>
                        </a:lnTo>
                        <a:lnTo>
                          <a:pt x="22" y="80"/>
                        </a:lnTo>
                        <a:lnTo>
                          <a:pt x="29" y="84"/>
                        </a:lnTo>
                        <a:lnTo>
                          <a:pt x="36" y="86"/>
                        </a:lnTo>
                        <a:lnTo>
                          <a:pt x="45" y="87"/>
                        </a:lnTo>
                        <a:lnTo>
                          <a:pt x="53" y="87"/>
                        </a:lnTo>
                        <a:lnTo>
                          <a:pt x="54" y="86"/>
                        </a:lnTo>
                        <a:lnTo>
                          <a:pt x="61" y="85"/>
                        </a:lnTo>
                        <a:lnTo>
                          <a:pt x="68" y="82"/>
                        </a:lnTo>
                        <a:lnTo>
                          <a:pt x="75" y="77"/>
                        </a:lnTo>
                        <a:lnTo>
                          <a:pt x="80" y="73"/>
                        </a:lnTo>
                        <a:lnTo>
                          <a:pt x="83" y="70"/>
                        </a:lnTo>
                        <a:lnTo>
                          <a:pt x="84" y="68"/>
                        </a:lnTo>
                        <a:lnTo>
                          <a:pt x="90" y="60"/>
                        </a:lnTo>
                        <a:lnTo>
                          <a:pt x="92" y="53"/>
                        </a:lnTo>
                        <a:lnTo>
                          <a:pt x="93" y="46"/>
                        </a:lnTo>
                        <a:lnTo>
                          <a:pt x="93" y="44"/>
                        </a:lnTo>
                        <a:lnTo>
                          <a:pt x="93" y="36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11" name="Freeform 355"/>
                  <p:cNvSpPr>
                    <a:spLocks/>
                  </p:cNvSpPr>
                  <p:nvPr/>
                </p:nvSpPr>
                <p:spPr bwMode="auto">
                  <a:xfrm>
                    <a:off x="3833" y="2415"/>
                    <a:ext cx="70" cy="26"/>
                  </a:xfrm>
                  <a:custGeom>
                    <a:avLst/>
                    <a:gdLst>
                      <a:gd name="T0" fmla="*/ 36 w 70"/>
                      <a:gd name="T1" fmla="*/ 0 h 26"/>
                      <a:gd name="T2" fmla="*/ 70 w 70"/>
                      <a:gd name="T3" fmla="*/ 11 h 26"/>
                      <a:gd name="T4" fmla="*/ 70 w 70"/>
                      <a:gd name="T5" fmla="*/ 13 h 26"/>
                      <a:gd name="T6" fmla="*/ 70 w 70"/>
                      <a:gd name="T7" fmla="*/ 16 h 26"/>
                      <a:gd name="T8" fmla="*/ 69 w 70"/>
                      <a:gd name="T9" fmla="*/ 18 h 26"/>
                      <a:gd name="T10" fmla="*/ 67 w 70"/>
                      <a:gd name="T11" fmla="*/ 20 h 26"/>
                      <a:gd name="T12" fmla="*/ 60 w 70"/>
                      <a:gd name="T13" fmla="*/ 22 h 26"/>
                      <a:gd name="T14" fmla="*/ 52 w 70"/>
                      <a:gd name="T15" fmla="*/ 24 h 26"/>
                      <a:gd name="T16" fmla="*/ 42 w 70"/>
                      <a:gd name="T17" fmla="*/ 25 h 26"/>
                      <a:gd name="T18" fmla="*/ 33 w 70"/>
                      <a:gd name="T19" fmla="*/ 26 h 26"/>
                      <a:gd name="T20" fmla="*/ 23 w 70"/>
                      <a:gd name="T21" fmla="*/ 26 h 26"/>
                      <a:gd name="T22" fmla="*/ 12 w 70"/>
                      <a:gd name="T23" fmla="*/ 26 h 26"/>
                      <a:gd name="T24" fmla="*/ 5 w 70"/>
                      <a:gd name="T25" fmla="*/ 25 h 26"/>
                      <a:gd name="T26" fmla="*/ 0 w 70"/>
                      <a:gd name="T27" fmla="*/ 25 h 26"/>
                      <a:gd name="T28" fmla="*/ 6 w 70"/>
                      <a:gd name="T29" fmla="*/ 24 h 26"/>
                      <a:gd name="T30" fmla="*/ 14 w 70"/>
                      <a:gd name="T31" fmla="*/ 21 h 26"/>
                      <a:gd name="T32" fmla="*/ 20 w 70"/>
                      <a:gd name="T33" fmla="*/ 16 h 26"/>
                      <a:gd name="T34" fmla="*/ 26 w 70"/>
                      <a:gd name="T35" fmla="*/ 11 h 26"/>
                      <a:gd name="T36" fmla="*/ 29 w 70"/>
                      <a:gd name="T37" fmla="*/ 9 h 26"/>
                      <a:gd name="T38" fmla="*/ 33 w 70"/>
                      <a:gd name="T39" fmla="*/ 5 h 26"/>
                      <a:gd name="T40" fmla="*/ 36 w 70"/>
                      <a:gd name="T41" fmla="*/ 0 h 2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70"/>
                      <a:gd name="T64" fmla="*/ 0 h 26"/>
                      <a:gd name="T65" fmla="*/ 70 w 70"/>
                      <a:gd name="T66" fmla="*/ 26 h 2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70" h="26">
                        <a:moveTo>
                          <a:pt x="36" y="0"/>
                        </a:moveTo>
                        <a:lnTo>
                          <a:pt x="70" y="11"/>
                        </a:lnTo>
                        <a:lnTo>
                          <a:pt x="70" y="13"/>
                        </a:lnTo>
                        <a:lnTo>
                          <a:pt x="70" y="16"/>
                        </a:lnTo>
                        <a:lnTo>
                          <a:pt x="69" y="18"/>
                        </a:lnTo>
                        <a:lnTo>
                          <a:pt x="67" y="20"/>
                        </a:lnTo>
                        <a:lnTo>
                          <a:pt x="60" y="22"/>
                        </a:lnTo>
                        <a:lnTo>
                          <a:pt x="52" y="24"/>
                        </a:lnTo>
                        <a:lnTo>
                          <a:pt x="42" y="25"/>
                        </a:lnTo>
                        <a:lnTo>
                          <a:pt x="33" y="26"/>
                        </a:lnTo>
                        <a:lnTo>
                          <a:pt x="23" y="26"/>
                        </a:lnTo>
                        <a:lnTo>
                          <a:pt x="12" y="26"/>
                        </a:lnTo>
                        <a:lnTo>
                          <a:pt x="5" y="25"/>
                        </a:lnTo>
                        <a:lnTo>
                          <a:pt x="0" y="25"/>
                        </a:lnTo>
                        <a:lnTo>
                          <a:pt x="6" y="24"/>
                        </a:lnTo>
                        <a:lnTo>
                          <a:pt x="14" y="21"/>
                        </a:lnTo>
                        <a:lnTo>
                          <a:pt x="20" y="16"/>
                        </a:lnTo>
                        <a:lnTo>
                          <a:pt x="26" y="11"/>
                        </a:lnTo>
                        <a:lnTo>
                          <a:pt x="29" y="9"/>
                        </a:lnTo>
                        <a:lnTo>
                          <a:pt x="33" y="5"/>
                        </a:lnTo>
                        <a:lnTo>
                          <a:pt x="36" y="0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12" name="Freeform 356"/>
                  <p:cNvSpPr>
                    <a:spLocks/>
                  </p:cNvSpPr>
                  <p:nvPr/>
                </p:nvSpPr>
                <p:spPr bwMode="auto">
                  <a:xfrm>
                    <a:off x="3833" y="2415"/>
                    <a:ext cx="70" cy="26"/>
                  </a:xfrm>
                  <a:custGeom>
                    <a:avLst/>
                    <a:gdLst>
                      <a:gd name="T0" fmla="*/ 36 w 70"/>
                      <a:gd name="T1" fmla="*/ 0 h 26"/>
                      <a:gd name="T2" fmla="*/ 70 w 70"/>
                      <a:gd name="T3" fmla="*/ 11 h 26"/>
                      <a:gd name="T4" fmla="*/ 70 w 70"/>
                      <a:gd name="T5" fmla="*/ 13 h 26"/>
                      <a:gd name="T6" fmla="*/ 70 w 70"/>
                      <a:gd name="T7" fmla="*/ 16 h 26"/>
                      <a:gd name="T8" fmla="*/ 69 w 70"/>
                      <a:gd name="T9" fmla="*/ 18 h 26"/>
                      <a:gd name="T10" fmla="*/ 67 w 70"/>
                      <a:gd name="T11" fmla="*/ 20 h 26"/>
                      <a:gd name="T12" fmla="*/ 60 w 70"/>
                      <a:gd name="T13" fmla="*/ 22 h 26"/>
                      <a:gd name="T14" fmla="*/ 52 w 70"/>
                      <a:gd name="T15" fmla="*/ 24 h 26"/>
                      <a:gd name="T16" fmla="*/ 42 w 70"/>
                      <a:gd name="T17" fmla="*/ 25 h 26"/>
                      <a:gd name="T18" fmla="*/ 33 w 70"/>
                      <a:gd name="T19" fmla="*/ 26 h 26"/>
                      <a:gd name="T20" fmla="*/ 23 w 70"/>
                      <a:gd name="T21" fmla="*/ 26 h 26"/>
                      <a:gd name="T22" fmla="*/ 12 w 70"/>
                      <a:gd name="T23" fmla="*/ 26 h 26"/>
                      <a:gd name="T24" fmla="*/ 5 w 70"/>
                      <a:gd name="T25" fmla="*/ 25 h 26"/>
                      <a:gd name="T26" fmla="*/ 0 w 70"/>
                      <a:gd name="T27" fmla="*/ 25 h 26"/>
                      <a:gd name="T28" fmla="*/ 6 w 70"/>
                      <a:gd name="T29" fmla="*/ 24 h 26"/>
                      <a:gd name="T30" fmla="*/ 14 w 70"/>
                      <a:gd name="T31" fmla="*/ 21 h 26"/>
                      <a:gd name="T32" fmla="*/ 20 w 70"/>
                      <a:gd name="T33" fmla="*/ 16 h 26"/>
                      <a:gd name="T34" fmla="*/ 26 w 70"/>
                      <a:gd name="T35" fmla="*/ 11 h 26"/>
                      <a:gd name="T36" fmla="*/ 29 w 70"/>
                      <a:gd name="T37" fmla="*/ 9 h 26"/>
                      <a:gd name="T38" fmla="*/ 33 w 70"/>
                      <a:gd name="T39" fmla="*/ 5 h 26"/>
                      <a:gd name="T40" fmla="*/ 36 w 70"/>
                      <a:gd name="T41" fmla="*/ 0 h 2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70"/>
                      <a:gd name="T64" fmla="*/ 0 h 26"/>
                      <a:gd name="T65" fmla="*/ 70 w 70"/>
                      <a:gd name="T66" fmla="*/ 26 h 2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70" h="26">
                        <a:moveTo>
                          <a:pt x="36" y="0"/>
                        </a:moveTo>
                        <a:lnTo>
                          <a:pt x="70" y="11"/>
                        </a:lnTo>
                        <a:lnTo>
                          <a:pt x="70" y="13"/>
                        </a:lnTo>
                        <a:lnTo>
                          <a:pt x="70" y="16"/>
                        </a:lnTo>
                        <a:lnTo>
                          <a:pt x="69" y="18"/>
                        </a:lnTo>
                        <a:lnTo>
                          <a:pt x="67" y="20"/>
                        </a:lnTo>
                        <a:lnTo>
                          <a:pt x="60" y="22"/>
                        </a:lnTo>
                        <a:lnTo>
                          <a:pt x="52" y="24"/>
                        </a:lnTo>
                        <a:lnTo>
                          <a:pt x="42" y="25"/>
                        </a:lnTo>
                        <a:lnTo>
                          <a:pt x="33" y="26"/>
                        </a:lnTo>
                        <a:lnTo>
                          <a:pt x="23" y="26"/>
                        </a:lnTo>
                        <a:lnTo>
                          <a:pt x="12" y="26"/>
                        </a:lnTo>
                        <a:lnTo>
                          <a:pt x="5" y="25"/>
                        </a:lnTo>
                        <a:lnTo>
                          <a:pt x="0" y="25"/>
                        </a:lnTo>
                        <a:lnTo>
                          <a:pt x="6" y="24"/>
                        </a:lnTo>
                        <a:lnTo>
                          <a:pt x="14" y="21"/>
                        </a:lnTo>
                        <a:lnTo>
                          <a:pt x="20" y="16"/>
                        </a:lnTo>
                        <a:lnTo>
                          <a:pt x="26" y="11"/>
                        </a:lnTo>
                        <a:lnTo>
                          <a:pt x="29" y="9"/>
                        </a:lnTo>
                        <a:lnTo>
                          <a:pt x="33" y="5"/>
                        </a:lnTo>
                        <a:lnTo>
                          <a:pt x="36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13" name="Freeform 357"/>
                  <p:cNvSpPr>
                    <a:spLocks/>
                  </p:cNvSpPr>
                  <p:nvPr/>
                </p:nvSpPr>
                <p:spPr bwMode="auto">
                  <a:xfrm>
                    <a:off x="3759" y="2417"/>
                    <a:ext cx="37" cy="13"/>
                  </a:xfrm>
                  <a:custGeom>
                    <a:avLst/>
                    <a:gdLst>
                      <a:gd name="T0" fmla="*/ 37 w 37"/>
                      <a:gd name="T1" fmla="*/ 13 h 13"/>
                      <a:gd name="T2" fmla="*/ 30 w 37"/>
                      <a:gd name="T3" fmla="*/ 7 h 13"/>
                      <a:gd name="T4" fmla="*/ 9 w 37"/>
                      <a:gd name="T5" fmla="*/ 0 h 13"/>
                      <a:gd name="T6" fmla="*/ 0 w 37"/>
                      <a:gd name="T7" fmla="*/ 9 h 13"/>
                      <a:gd name="T8" fmla="*/ 4 w 37"/>
                      <a:gd name="T9" fmla="*/ 10 h 13"/>
                      <a:gd name="T10" fmla="*/ 10 w 37"/>
                      <a:gd name="T11" fmla="*/ 5 h 13"/>
                      <a:gd name="T12" fmla="*/ 37 w 37"/>
                      <a:gd name="T13" fmla="*/ 13 h 13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7"/>
                      <a:gd name="T22" fmla="*/ 0 h 13"/>
                      <a:gd name="T23" fmla="*/ 37 w 37"/>
                      <a:gd name="T24" fmla="*/ 13 h 13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7" h="13">
                        <a:moveTo>
                          <a:pt x="37" y="13"/>
                        </a:moveTo>
                        <a:lnTo>
                          <a:pt x="30" y="7"/>
                        </a:lnTo>
                        <a:lnTo>
                          <a:pt x="9" y="0"/>
                        </a:lnTo>
                        <a:lnTo>
                          <a:pt x="0" y="9"/>
                        </a:lnTo>
                        <a:lnTo>
                          <a:pt x="4" y="10"/>
                        </a:lnTo>
                        <a:lnTo>
                          <a:pt x="10" y="5"/>
                        </a:lnTo>
                        <a:lnTo>
                          <a:pt x="37" y="13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14" name="Freeform 358"/>
                  <p:cNvSpPr>
                    <a:spLocks/>
                  </p:cNvSpPr>
                  <p:nvPr/>
                </p:nvSpPr>
                <p:spPr bwMode="auto">
                  <a:xfrm>
                    <a:off x="3759" y="2417"/>
                    <a:ext cx="37" cy="13"/>
                  </a:xfrm>
                  <a:custGeom>
                    <a:avLst/>
                    <a:gdLst>
                      <a:gd name="T0" fmla="*/ 37 w 37"/>
                      <a:gd name="T1" fmla="*/ 13 h 13"/>
                      <a:gd name="T2" fmla="*/ 30 w 37"/>
                      <a:gd name="T3" fmla="*/ 7 h 13"/>
                      <a:gd name="T4" fmla="*/ 9 w 37"/>
                      <a:gd name="T5" fmla="*/ 0 h 13"/>
                      <a:gd name="T6" fmla="*/ 0 w 37"/>
                      <a:gd name="T7" fmla="*/ 9 h 13"/>
                      <a:gd name="T8" fmla="*/ 4 w 37"/>
                      <a:gd name="T9" fmla="*/ 10 h 13"/>
                      <a:gd name="T10" fmla="*/ 10 w 37"/>
                      <a:gd name="T11" fmla="*/ 5 h 13"/>
                      <a:gd name="T12" fmla="*/ 37 w 37"/>
                      <a:gd name="T13" fmla="*/ 13 h 13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7"/>
                      <a:gd name="T22" fmla="*/ 0 h 13"/>
                      <a:gd name="T23" fmla="*/ 37 w 37"/>
                      <a:gd name="T24" fmla="*/ 13 h 13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7" h="13">
                        <a:moveTo>
                          <a:pt x="37" y="13"/>
                        </a:moveTo>
                        <a:lnTo>
                          <a:pt x="30" y="7"/>
                        </a:lnTo>
                        <a:lnTo>
                          <a:pt x="9" y="0"/>
                        </a:lnTo>
                        <a:lnTo>
                          <a:pt x="0" y="9"/>
                        </a:lnTo>
                        <a:lnTo>
                          <a:pt x="4" y="10"/>
                        </a:lnTo>
                        <a:lnTo>
                          <a:pt x="10" y="5"/>
                        </a:lnTo>
                        <a:lnTo>
                          <a:pt x="37" y="13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15" name="Freeform 359"/>
                  <p:cNvSpPr>
                    <a:spLocks/>
                  </p:cNvSpPr>
                  <p:nvPr/>
                </p:nvSpPr>
                <p:spPr bwMode="auto">
                  <a:xfrm>
                    <a:off x="3823" y="2439"/>
                    <a:ext cx="31" cy="9"/>
                  </a:xfrm>
                  <a:custGeom>
                    <a:avLst/>
                    <a:gdLst>
                      <a:gd name="T0" fmla="*/ 8 w 31"/>
                      <a:gd name="T1" fmla="*/ 0 h 9"/>
                      <a:gd name="T2" fmla="*/ 0 w 31"/>
                      <a:gd name="T3" fmla="*/ 1 h 9"/>
                      <a:gd name="T4" fmla="*/ 26 w 31"/>
                      <a:gd name="T5" fmla="*/ 9 h 9"/>
                      <a:gd name="T6" fmla="*/ 31 w 31"/>
                      <a:gd name="T7" fmla="*/ 5 h 9"/>
                      <a:gd name="T8" fmla="*/ 10 w 31"/>
                      <a:gd name="T9" fmla="*/ 0 h 9"/>
                      <a:gd name="T10" fmla="*/ 8 w 31"/>
                      <a:gd name="T11" fmla="*/ 0 h 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1"/>
                      <a:gd name="T19" fmla="*/ 0 h 9"/>
                      <a:gd name="T20" fmla="*/ 31 w 31"/>
                      <a:gd name="T21" fmla="*/ 9 h 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1" h="9">
                        <a:moveTo>
                          <a:pt x="8" y="0"/>
                        </a:moveTo>
                        <a:lnTo>
                          <a:pt x="0" y="1"/>
                        </a:lnTo>
                        <a:lnTo>
                          <a:pt x="26" y="9"/>
                        </a:lnTo>
                        <a:lnTo>
                          <a:pt x="31" y="5"/>
                        </a:lnTo>
                        <a:lnTo>
                          <a:pt x="10" y="0"/>
                        </a:lnTo>
                        <a:lnTo>
                          <a:pt x="8" y="0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16" name="Freeform 360"/>
                  <p:cNvSpPr>
                    <a:spLocks/>
                  </p:cNvSpPr>
                  <p:nvPr/>
                </p:nvSpPr>
                <p:spPr bwMode="auto">
                  <a:xfrm>
                    <a:off x="3823" y="2439"/>
                    <a:ext cx="31" cy="9"/>
                  </a:xfrm>
                  <a:custGeom>
                    <a:avLst/>
                    <a:gdLst>
                      <a:gd name="T0" fmla="*/ 8 w 31"/>
                      <a:gd name="T1" fmla="*/ 0 h 9"/>
                      <a:gd name="T2" fmla="*/ 0 w 31"/>
                      <a:gd name="T3" fmla="*/ 1 h 9"/>
                      <a:gd name="T4" fmla="*/ 26 w 31"/>
                      <a:gd name="T5" fmla="*/ 9 h 9"/>
                      <a:gd name="T6" fmla="*/ 31 w 31"/>
                      <a:gd name="T7" fmla="*/ 5 h 9"/>
                      <a:gd name="T8" fmla="*/ 10 w 31"/>
                      <a:gd name="T9" fmla="*/ 0 h 9"/>
                      <a:gd name="T10" fmla="*/ 8 w 31"/>
                      <a:gd name="T11" fmla="*/ 0 h 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1"/>
                      <a:gd name="T19" fmla="*/ 0 h 9"/>
                      <a:gd name="T20" fmla="*/ 31 w 31"/>
                      <a:gd name="T21" fmla="*/ 9 h 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1" h="9">
                        <a:moveTo>
                          <a:pt x="8" y="0"/>
                        </a:moveTo>
                        <a:lnTo>
                          <a:pt x="0" y="1"/>
                        </a:lnTo>
                        <a:lnTo>
                          <a:pt x="26" y="9"/>
                        </a:lnTo>
                        <a:lnTo>
                          <a:pt x="31" y="5"/>
                        </a:lnTo>
                        <a:lnTo>
                          <a:pt x="10" y="0"/>
                        </a:lnTo>
                        <a:lnTo>
                          <a:pt x="8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17" name="Freeform 361"/>
                  <p:cNvSpPr>
                    <a:spLocks/>
                  </p:cNvSpPr>
                  <p:nvPr/>
                </p:nvSpPr>
                <p:spPr bwMode="auto">
                  <a:xfrm>
                    <a:off x="3763" y="2422"/>
                    <a:ext cx="86" cy="32"/>
                  </a:xfrm>
                  <a:custGeom>
                    <a:avLst/>
                    <a:gdLst>
                      <a:gd name="T0" fmla="*/ 60 w 86"/>
                      <a:gd name="T1" fmla="*/ 18 h 32"/>
                      <a:gd name="T2" fmla="*/ 52 w 86"/>
                      <a:gd name="T3" fmla="*/ 18 h 32"/>
                      <a:gd name="T4" fmla="*/ 44 w 86"/>
                      <a:gd name="T5" fmla="*/ 16 h 32"/>
                      <a:gd name="T6" fmla="*/ 37 w 86"/>
                      <a:gd name="T7" fmla="*/ 11 h 32"/>
                      <a:gd name="T8" fmla="*/ 33 w 86"/>
                      <a:gd name="T9" fmla="*/ 8 h 32"/>
                      <a:gd name="T10" fmla="*/ 6 w 86"/>
                      <a:gd name="T11" fmla="*/ 0 h 32"/>
                      <a:gd name="T12" fmla="*/ 0 w 86"/>
                      <a:gd name="T13" fmla="*/ 6 h 32"/>
                      <a:gd name="T14" fmla="*/ 81 w 86"/>
                      <a:gd name="T15" fmla="*/ 32 h 32"/>
                      <a:gd name="T16" fmla="*/ 86 w 86"/>
                      <a:gd name="T17" fmla="*/ 28 h 32"/>
                      <a:gd name="T18" fmla="*/ 60 w 86"/>
                      <a:gd name="T19" fmla="*/ 18 h 3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86"/>
                      <a:gd name="T31" fmla="*/ 0 h 32"/>
                      <a:gd name="T32" fmla="*/ 86 w 86"/>
                      <a:gd name="T33" fmla="*/ 32 h 3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86" h="32">
                        <a:moveTo>
                          <a:pt x="60" y="18"/>
                        </a:moveTo>
                        <a:lnTo>
                          <a:pt x="52" y="18"/>
                        </a:lnTo>
                        <a:lnTo>
                          <a:pt x="44" y="16"/>
                        </a:lnTo>
                        <a:lnTo>
                          <a:pt x="37" y="11"/>
                        </a:lnTo>
                        <a:lnTo>
                          <a:pt x="33" y="8"/>
                        </a:lnTo>
                        <a:lnTo>
                          <a:pt x="6" y="0"/>
                        </a:lnTo>
                        <a:lnTo>
                          <a:pt x="0" y="6"/>
                        </a:lnTo>
                        <a:lnTo>
                          <a:pt x="81" y="32"/>
                        </a:lnTo>
                        <a:lnTo>
                          <a:pt x="86" y="28"/>
                        </a:lnTo>
                        <a:lnTo>
                          <a:pt x="60" y="18"/>
                        </a:lnTo>
                        <a:close/>
                      </a:path>
                    </a:pathLst>
                  </a:custGeom>
                  <a:solidFill>
                    <a:srgbClr val="0000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18" name="Freeform 362"/>
                  <p:cNvSpPr>
                    <a:spLocks/>
                  </p:cNvSpPr>
                  <p:nvPr/>
                </p:nvSpPr>
                <p:spPr bwMode="auto">
                  <a:xfrm>
                    <a:off x="3763" y="2422"/>
                    <a:ext cx="86" cy="32"/>
                  </a:xfrm>
                  <a:custGeom>
                    <a:avLst/>
                    <a:gdLst>
                      <a:gd name="T0" fmla="*/ 60 w 86"/>
                      <a:gd name="T1" fmla="*/ 18 h 32"/>
                      <a:gd name="T2" fmla="*/ 52 w 86"/>
                      <a:gd name="T3" fmla="*/ 18 h 32"/>
                      <a:gd name="T4" fmla="*/ 44 w 86"/>
                      <a:gd name="T5" fmla="*/ 16 h 32"/>
                      <a:gd name="T6" fmla="*/ 37 w 86"/>
                      <a:gd name="T7" fmla="*/ 11 h 32"/>
                      <a:gd name="T8" fmla="*/ 33 w 86"/>
                      <a:gd name="T9" fmla="*/ 8 h 32"/>
                      <a:gd name="T10" fmla="*/ 6 w 86"/>
                      <a:gd name="T11" fmla="*/ 0 h 32"/>
                      <a:gd name="T12" fmla="*/ 0 w 86"/>
                      <a:gd name="T13" fmla="*/ 6 h 32"/>
                      <a:gd name="T14" fmla="*/ 81 w 86"/>
                      <a:gd name="T15" fmla="*/ 32 h 32"/>
                      <a:gd name="T16" fmla="*/ 86 w 86"/>
                      <a:gd name="T17" fmla="*/ 28 h 32"/>
                      <a:gd name="T18" fmla="*/ 60 w 86"/>
                      <a:gd name="T19" fmla="*/ 18 h 3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86"/>
                      <a:gd name="T31" fmla="*/ 0 h 32"/>
                      <a:gd name="T32" fmla="*/ 86 w 86"/>
                      <a:gd name="T33" fmla="*/ 32 h 3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86" h="32">
                        <a:moveTo>
                          <a:pt x="60" y="18"/>
                        </a:moveTo>
                        <a:lnTo>
                          <a:pt x="52" y="18"/>
                        </a:lnTo>
                        <a:lnTo>
                          <a:pt x="44" y="16"/>
                        </a:lnTo>
                        <a:lnTo>
                          <a:pt x="37" y="11"/>
                        </a:lnTo>
                        <a:lnTo>
                          <a:pt x="33" y="8"/>
                        </a:lnTo>
                        <a:lnTo>
                          <a:pt x="6" y="0"/>
                        </a:lnTo>
                        <a:lnTo>
                          <a:pt x="0" y="6"/>
                        </a:lnTo>
                        <a:lnTo>
                          <a:pt x="81" y="32"/>
                        </a:lnTo>
                        <a:lnTo>
                          <a:pt x="86" y="28"/>
                        </a:lnTo>
                        <a:lnTo>
                          <a:pt x="60" y="18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19" name="Freeform 363"/>
                  <p:cNvSpPr>
                    <a:spLocks/>
                  </p:cNvSpPr>
                  <p:nvPr/>
                </p:nvSpPr>
                <p:spPr bwMode="auto">
                  <a:xfrm>
                    <a:off x="3570" y="2385"/>
                    <a:ext cx="346" cy="105"/>
                  </a:xfrm>
                  <a:custGeom>
                    <a:avLst/>
                    <a:gdLst>
                      <a:gd name="T0" fmla="*/ 0 w 346"/>
                      <a:gd name="T1" fmla="*/ 105 h 105"/>
                      <a:gd name="T2" fmla="*/ 138 w 346"/>
                      <a:gd name="T3" fmla="*/ 62 h 105"/>
                      <a:gd name="T4" fmla="*/ 277 w 346"/>
                      <a:gd name="T5" fmla="*/ 105 h 105"/>
                      <a:gd name="T6" fmla="*/ 346 w 346"/>
                      <a:gd name="T7" fmla="*/ 44 h 105"/>
                      <a:gd name="T8" fmla="*/ 333 w 346"/>
                      <a:gd name="T9" fmla="*/ 41 h 105"/>
                      <a:gd name="T10" fmla="*/ 333 w 346"/>
                      <a:gd name="T11" fmla="*/ 43 h 105"/>
                      <a:gd name="T12" fmla="*/ 333 w 346"/>
                      <a:gd name="T13" fmla="*/ 46 h 105"/>
                      <a:gd name="T14" fmla="*/ 332 w 346"/>
                      <a:gd name="T15" fmla="*/ 47 h 105"/>
                      <a:gd name="T16" fmla="*/ 330 w 346"/>
                      <a:gd name="T17" fmla="*/ 50 h 105"/>
                      <a:gd name="T18" fmla="*/ 324 w 346"/>
                      <a:gd name="T19" fmla="*/ 52 h 105"/>
                      <a:gd name="T20" fmla="*/ 315 w 346"/>
                      <a:gd name="T21" fmla="*/ 54 h 105"/>
                      <a:gd name="T22" fmla="*/ 305 w 346"/>
                      <a:gd name="T23" fmla="*/ 55 h 105"/>
                      <a:gd name="T24" fmla="*/ 296 w 346"/>
                      <a:gd name="T25" fmla="*/ 56 h 105"/>
                      <a:gd name="T26" fmla="*/ 286 w 346"/>
                      <a:gd name="T27" fmla="*/ 56 h 105"/>
                      <a:gd name="T28" fmla="*/ 275 w 346"/>
                      <a:gd name="T29" fmla="*/ 55 h 105"/>
                      <a:gd name="T30" fmla="*/ 268 w 346"/>
                      <a:gd name="T31" fmla="*/ 55 h 105"/>
                      <a:gd name="T32" fmla="*/ 263 w 346"/>
                      <a:gd name="T33" fmla="*/ 55 h 105"/>
                      <a:gd name="T34" fmla="*/ 284 w 346"/>
                      <a:gd name="T35" fmla="*/ 60 h 105"/>
                      <a:gd name="T36" fmla="*/ 274 w 346"/>
                      <a:gd name="T37" fmla="*/ 69 h 105"/>
                      <a:gd name="T38" fmla="*/ 193 w 346"/>
                      <a:gd name="T39" fmla="*/ 43 h 105"/>
                      <a:gd name="T40" fmla="*/ 189 w 346"/>
                      <a:gd name="T41" fmla="*/ 41 h 105"/>
                      <a:gd name="T42" fmla="*/ 198 w 346"/>
                      <a:gd name="T43" fmla="*/ 32 h 105"/>
                      <a:gd name="T44" fmla="*/ 219 w 346"/>
                      <a:gd name="T45" fmla="*/ 39 h 105"/>
                      <a:gd name="T46" fmla="*/ 213 w 346"/>
                      <a:gd name="T47" fmla="*/ 32 h 105"/>
                      <a:gd name="T48" fmla="*/ 210 w 346"/>
                      <a:gd name="T49" fmla="*/ 26 h 105"/>
                      <a:gd name="T50" fmla="*/ 208 w 346"/>
                      <a:gd name="T51" fmla="*/ 19 h 105"/>
                      <a:gd name="T52" fmla="*/ 208 w 346"/>
                      <a:gd name="T53" fmla="*/ 11 h 105"/>
                      <a:gd name="T54" fmla="*/ 209 w 346"/>
                      <a:gd name="T55" fmla="*/ 4 h 105"/>
                      <a:gd name="T56" fmla="*/ 209 w 346"/>
                      <a:gd name="T57" fmla="*/ 1 h 105"/>
                      <a:gd name="T58" fmla="*/ 205 w 346"/>
                      <a:gd name="T59" fmla="*/ 0 h 105"/>
                      <a:gd name="T60" fmla="*/ 66 w 346"/>
                      <a:gd name="T61" fmla="*/ 44 h 105"/>
                      <a:gd name="T62" fmla="*/ 0 w 346"/>
                      <a:gd name="T63" fmla="*/ 105 h 105"/>
                      <a:gd name="T64" fmla="*/ 0 w 346"/>
                      <a:gd name="T65" fmla="*/ 105 h 105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346"/>
                      <a:gd name="T100" fmla="*/ 0 h 105"/>
                      <a:gd name="T101" fmla="*/ 346 w 346"/>
                      <a:gd name="T102" fmla="*/ 105 h 105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346" h="105">
                        <a:moveTo>
                          <a:pt x="0" y="105"/>
                        </a:moveTo>
                        <a:lnTo>
                          <a:pt x="138" y="62"/>
                        </a:lnTo>
                        <a:lnTo>
                          <a:pt x="277" y="105"/>
                        </a:lnTo>
                        <a:lnTo>
                          <a:pt x="346" y="44"/>
                        </a:lnTo>
                        <a:lnTo>
                          <a:pt x="333" y="41"/>
                        </a:lnTo>
                        <a:lnTo>
                          <a:pt x="333" y="43"/>
                        </a:lnTo>
                        <a:lnTo>
                          <a:pt x="333" y="46"/>
                        </a:lnTo>
                        <a:lnTo>
                          <a:pt x="332" y="47"/>
                        </a:lnTo>
                        <a:lnTo>
                          <a:pt x="330" y="50"/>
                        </a:lnTo>
                        <a:lnTo>
                          <a:pt x="324" y="52"/>
                        </a:lnTo>
                        <a:lnTo>
                          <a:pt x="315" y="54"/>
                        </a:lnTo>
                        <a:lnTo>
                          <a:pt x="305" y="55"/>
                        </a:lnTo>
                        <a:lnTo>
                          <a:pt x="296" y="56"/>
                        </a:lnTo>
                        <a:lnTo>
                          <a:pt x="286" y="56"/>
                        </a:lnTo>
                        <a:lnTo>
                          <a:pt x="275" y="55"/>
                        </a:lnTo>
                        <a:lnTo>
                          <a:pt x="268" y="55"/>
                        </a:lnTo>
                        <a:lnTo>
                          <a:pt x="263" y="55"/>
                        </a:lnTo>
                        <a:lnTo>
                          <a:pt x="284" y="60"/>
                        </a:lnTo>
                        <a:lnTo>
                          <a:pt x="274" y="69"/>
                        </a:lnTo>
                        <a:lnTo>
                          <a:pt x="193" y="43"/>
                        </a:lnTo>
                        <a:lnTo>
                          <a:pt x="189" y="41"/>
                        </a:lnTo>
                        <a:lnTo>
                          <a:pt x="198" y="32"/>
                        </a:lnTo>
                        <a:lnTo>
                          <a:pt x="219" y="39"/>
                        </a:lnTo>
                        <a:lnTo>
                          <a:pt x="213" y="32"/>
                        </a:lnTo>
                        <a:lnTo>
                          <a:pt x="210" y="26"/>
                        </a:lnTo>
                        <a:lnTo>
                          <a:pt x="208" y="19"/>
                        </a:lnTo>
                        <a:lnTo>
                          <a:pt x="208" y="11"/>
                        </a:lnTo>
                        <a:lnTo>
                          <a:pt x="209" y="4"/>
                        </a:lnTo>
                        <a:lnTo>
                          <a:pt x="209" y="1"/>
                        </a:lnTo>
                        <a:lnTo>
                          <a:pt x="205" y="0"/>
                        </a:lnTo>
                        <a:lnTo>
                          <a:pt x="66" y="44"/>
                        </a:lnTo>
                        <a:lnTo>
                          <a:pt x="0" y="10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20" name="Freeform 364"/>
                  <p:cNvSpPr>
                    <a:spLocks/>
                  </p:cNvSpPr>
                  <p:nvPr/>
                </p:nvSpPr>
                <p:spPr bwMode="auto">
                  <a:xfrm>
                    <a:off x="3570" y="2385"/>
                    <a:ext cx="346" cy="105"/>
                  </a:xfrm>
                  <a:custGeom>
                    <a:avLst/>
                    <a:gdLst>
                      <a:gd name="T0" fmla="*/ 0 w 346"/>
                      <a:gd name="T1" fmla="*/ 105 h 105"/>
                      <a:gd name="T2" fmla="*/ 138 w 346"/>
                      <a:gd name="T3" fmla="*/ 62 h 105"/>
                      <a:gd name="T4" fmla="*/ 277 w 346"/>
                      <a:gd name="T5" fmla="*/ 105 h 105"/>
                      <a:gd name="T6" fmla="*/ 346 w 346"/>
                      <a:gd name="T7" fmla="*/ 44 h 105"/>
                      <a:gd name="T8" fmla="*/ 333 w 346"/>
                      <a:gd name="T9" fmla="*/ 41 h 105"/>
                      <a:gd name="T10" fmla="*/ 333 w 346"/>
                      <a:gd name="T11" fmla="*/ 43 h 105"/>
                      <a:gd name="T12" fmla="*/ 333 w 346"/>
                      <a:gd name="T13" fmla="*/ 46 h 105"/>
                      <a:gd name="T14" fmla="*/ 332 w 346"/>
                      <a:gd name="T15" fmla="*/ 47 h 105"/>
                      <a:gd name="T16" fmla="*/ 330 w 346"/>
                      <a:gd name="T17" fmla="*/ 50 h 105"/>
                      <a:gd name="T18" fmla="*/ 324 w 346"/>
                      <a:gd name="T19" fmla="*/ 52 h 105"/>
                      <a:gd name="T20" fmla="*/ 315 w 346"/>
                      <a:gd name="T21" fmla="*/ 54 h 105"/>
                      <a:gd name="T22" fmla="*/ 305 w 346"/>
                      <a:gd name="T23" fmla="*/ 55 h 105"/>
                      <a:gd name="T24" fmla="*/ 296 w 346"/>
                      <a:gd name="T25" fmla="*/ 56 h 105"/>
                      <a:gd name="T26" fmla="*/ 286 w 346"/>
                      <a:gd name="T27" fmla="*/ 56 h 105"/>
                      <a:gd name="T28" fmla="*/ 275 w 346"/>
                      <a:gd name="T29" fmla="*/ 55 h 105"/>
                      <a:gd name="T30" fmla="*/ 268 w 346"/>
                      <a:gd name="T31" fmla="*/ 55 h 105"/>
                      <a:gd name="T32" fmla="*/ 263 w 346"/>
                      <a:gd name="T33" fmla="*/ 55 h 105"/>
                      <a:gd name="T34" fmla="*/ 284 w 346"/>
                      <a:gd name="T35" fmla="*/ 60 h 105"/>
                      <a:gd name="T36" fmla="*/ 274 w 346"/>
                      <a:gd name="T37" fmla="*/ 69 h 105"/>
                      <a:gd name="T38" fmla="*/ 193 w 346"/>
                      <a:gd name="T39" fmla="*/ 43 h 105"/>
                      <a:gd name="T40" fmla="*/ 189 w 346"/>
                      <a:gd name="T41" fmla="*/ 41 h 105"/>
                      <a:gd name="T42" fmla="*/ 198 w 346"/>
                      <a:gd name="T43" fmla="*/ 32 h 105"/>
                      <a:gd name="T44" fmla="*/ 219 w 346"/>
                      <a:gd name="T45" fmla="*/ 39 h 105"/>
                      <a:gd name="T46" fmla="*/ 213 w 346"/>
                      <a:gd name="T47" fmla="*/ 32 h 105"/>
                      <a:gd name="T48" fmla="*/ 210 w 346"/>
                      <a:gd name="T49" fmla="*/ 26 h 105"/>
                      <a:gd name="T50" fmla="*/ 208 w 346"/>
                      <a:gd name="T51" fmla="*/ 19 h 105"/>
                      <a:gd name="T52" fmla="*/ 208 w 346"/>
                      <a:gd name="T53" fmla="*/ 11 h 105"/>
                      <a:gd name="T54" fmla="*/ 209 w 346"/>
                      <a:gd name="T55" fmla="*/ 4 h 105"/>
                      <a:gd name="T56" fmla="*/ 209 w 346"/>
                      <a:gd name="T57" fmla="*/ 1 h 105"/>
                      <a:gd name="T58" fmla="*/ 205 w 346"/>
                      <a:gd name="T59" fmla="*/ 0 h 105"/>
                      <a:gd name="T60" fmla="*/ 66 w 346"/>
                      <a:gd name="T61" fmla="*/ 44 h 105"/>
                      <a:gd name="T62" fmla="*/ 0 w 346"/>
                      <a:gd name="T63" fmla="*/ 105 h 105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346"/>
                      <a:gd name="T97" fmla="*/ 0 h 105"/>
                      <a:gd name="T98" fmla="*/ 346 w 346"/>
                      <a:gd name="T99" fmla="*/ 105 h 105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346" h="105">
                        <a:moveTo>
                          <a:pt x="0" y="105"/>
                        </a:moveTo>
                        <a:lnTo>
                          <a:pt x="138" y="62"/>
                        </a:lnTo>
                        <a:lnTo>
                          <a:pt x="277" y="105"/>
                        </a:lnTo>
                        <a:lnTo>
                          <a:pt x="346" y="44"/>
                        </a:lnTo>
                        <a:lnTo>
                          <a:pt x="333" y="41"/>
                        </a:lnTo>
                        <a:lnTo>
                          <a:pt x="333" y="43"/>
                        </a:lnTo>
                        <a:lnTo>
                          <a:pt x="333" y="46"/>
                        </a:lnTo>
                        <a:lnTo>
                          <a:pt x="332" y="47"/>
                        </a:lnTo>
                        <a:lnTo>
                          <a:pt x="330" y="50"/>
                        </a:lnTo>
                        <a:lnTo>
                          <a:pt x="324" y="52"/>
                        </a:lnTo>
                        <a:lnTo>
                          <a:pt x="315" y="54"/>
                        </a:lnTo>
                        <a:lnTo>
                          <a:pt x="305" y="55"/>
                        </a:lnTo>
                        <a:lnTo>
                          <a:pt x="296" y="56"/>
                        </a:lnTo>
                        <a:lnTo>
                          <a:pt x="286" y="56"/>
                        </a:lnTo>
                        <a:lnTo>
                          <a:pt x="275" y="55"/>
                        </a:lnTo>
                        <a:lnTo>
                          <a:pt x="268" y="55"/>
                        </a:lnTo>
                        <a:lnTo>
                          <a:pt x="263" y="55"/>
                        </a:lnTo>
                        <a:lnTo>
                          <a:pt x="284" y="60"/>
                        </a:lnTo>
                        <a:lnTo>
                          <a:pt x="274" y="69"/>
                        </a:lnTo>
                        <a:lnTo>
                          <a:pt x="193" y="43"/>
                        </a:lnTo>
                        <a:lnTo>
                          <a:pt x="189" y="41"/>
                        </a:lnTo>
                        <a:lnTo>
                          <a:pt x="198" y="32"/>
                        </a:lnTo>
                        <a:lnTo>
                          <a:pt x="219" y="39"/>
                        </a:lnTo>
                        <a:lnTo>
                          <a:pt x="213" y="32"/>
                        </a:lnTo>
                        <a:lnTo>
                          <a:pt x="210" y="26"/>
                        </a:lnTo>
                        <a:lnTo>
                          <a:pt x="208" y="19"/>
                        </a:lnTo>
                        <a:lnTo>
                          <a:pt x="208" y="11"/>
                        </a:lnTo>
                        <a:lnTo>
                          <a:pt x="209" y="4"/>
                        </a:lnTo>
                        <a:lnTo>
                          <a:pt x="209" y="1"/>
                        </a:lnTo>
                        <a:lnTo>
                          <a:pt x="205" y="0"/>
                        </a:lnTo>
                        <a:lnTo>
                          <a:pt x="66" y="44"/>
                        </a:lnTo>
                        <a:lnTo>
                          <a:pt x="0" y="10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21" name="Freeform 365"/>
                  <p:cNvSpPr>
                    <a:spLocks/>
                  </p:cNvSpPr>
                  <p:nvPr/>
                </p:nvSpPr>
                <p:spPr bwMode="auto">
                  <a:xfrm>
                    <a:off x="3846" y="2429"/>
                    <a:ext cx="70" cy="69"/>
                  </a:xfrm>
                  <a:custGeom>
                    <a:avLst/>
                    <a:gdLst>
                      <a:gd name="T0" fmla="*/ 70 w 70"/>
                      <a:gd name="T1" fmla="*/ 0 h 69"/>
                      <a:gd name="T2" fmla="*/ 70 w 70"/>
                      <a:gd name="T3" fmla="*/ 6 h 69"/>
                      <a:gd name="T4" fmla="*/ 59 w 70"/>
                      <a:gd name="T5" fmla="*/ 15 h 69"/>
                      <a:gd name="T6" fmla="*/ 0 w 70"/>
                      <a:gd name="T7" fmla="*/ 69 h 69"/>
                      <a:gd name="T8" fmla="*/ 0 w 70"/>
                      <a:gd name="T9" fmla="*/ 64 h 69"/>
                      <a:gd name="T10" fmla="*/ 1 w 70"/>
                      <a:gd name="T11" fmla="*/ 61 h 69"/>
                      <a:gd name="T12" fmla="*/ 70 w 70"/>
                      <a:gd name="T13" fmla="*/ 0 h 6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70"/>
                      <a:gd name="T22" fmla="*/ 0 h 69"/>
                      <a:gd name="T23" fmla="*/ 70 w 70"/>
                      <a:gd name="T24" fmla="*/ 69 h 69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70" h="69">
                        <a:moveTo>
                          <a:pt x="70" y="0"/>
                        </a:moveTo>
                        <a:lnTo>
                          <a:pt x="70" y="6"/>
                        </a:lnTo>
                        <a:lnTo>
                          <a:pt x="59" y="15"/>
                        </a:lnTo>
                        <a:lnTo>
                          <a:pt x="0" y="69"/>
                        </a:lnTo>
                        <a:lnTo>
                          <a:pt x="0" y="64"/>
                        </a:lnTo>
                        <a:lnTo>
                          <a:pt x="1" y="61"/>
                        </a:lnTo>
                        <a:lnTo>
                          <a:pt x="7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22" name="Freeform 366"/>
                  <p:cNvSpPr>
                    <a:spLocks/>
                  </p:cNvSpPr>
                  <p:nvPr/>
                </p:nvSpPr>
                <p:spPr bwMode="auto">
                  <a:xfrm>
                    <a:off x="3846" y="2429"/>
                    <a:ext cx="70" cy="69"/>
                  </a:xfrm>
                  <a:custGeom>
                    <a:avLst/>
                    <a:gdLst>
                      <a:gd name="T0" fmla="*/ 70 w 70"/>
                      <a:gd name="T1" fmla="*/ 0 h 69"/>
                      <a:gd name="T2" fmla="*/ 70 w 70"/>
                      <a:gd name="T3" fmla="*/ 6 h 69"/>
                      <a:gd name="T4" fmla="*/ 59 w 70"/>
                      <a:gd name="T5" fmla="*/ 15 h 69"/>
                      <a:gd name="T6" fmla="*/ 0 w 70"/>
                      <a:gd name="T7" fmla="*/ 69 h 69"/>
                      <a:gd name="T8" fmla="*/ 0 w 70"/>
                      <a:gd name="T9" fmla="*/ 64 h 69"/>
                      <a:gd name="T10" fmla="*/ 1 w 70"/>
                      <a:gd name="T11" fmla="*/ 61 h 69"/>
                      <a:gd name="T12" fmla="*/ 70 w 70"/>
                      <a:gd name="T13" fmla="*/ 0 h 6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70"/>
                      <a:gd name="T22" fmla="*/ 0 h 69"/>
                      <a:gd name="T23" fmla="*/ 70 w 70"/>
                      <a:gd name="T24" fmla="*/ 69 h 69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70" h="69">
                        <a:moveTo>
                          <a:pt x="70" y="0"/>
                        </a:moveTo>
                        <a:lnTo>
                          <a:pt x="70" y="6"/>
                        </a:lnTo>
                        <a:lnTo>
                          <a:pt x="59" y="15"/>
                        </a:lnTo>
                        <a:lnTo>
                          <a:pt x="0" y="69"/>
                        </a:lnTo>
                        <a:lnTo>
                          <a:pt x="0" y="64"/>
                        </a:lnTo>
                        <a:lnTo>
                          <a:pt x="1" y="61"/>
                        </a:lnTo>
                        <a:lnTo>
                          <a:pt x="7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23" name="Freeform 367"/>
                  <p:cNvSpPr>
                    <a:spLocks/>
                  </p:cNvSpPr>
                  <p:nvPr/>
                </p:nvSpPr>
                <p:spPr bwMode="auto">
                  <a:xfrm>
                    <a:off x="3570" y="2447"/>
                    <a:ext cx="277" cy="46"/>
                  </a:xfrm>
                  <a:custGeom>
                    <a:avLst/>
                    <a:gdLst>
                      <a:gd name="T0" fmla="*/ 276 w 277"/>
                      <a:gd name="T1" fmla="*/ 46 h 46"/>
                      <a:gd name="T2" fmla="*/ 277 w 277"/>
                      <a:gd name="T3" fmla="*/ 43 h 46"/>
                      <a:gd name="T4" fmla="*/ 138 w 277"/>
                      <a:gd name="T5" fmla="*/ 0 h 46"/>
                      <a:gd name="T6" fmla="*/ 0 w 277"/>
                      <a:gd name="T7" fmla="*/ 43 h 46"/>
                      <a:gd name="T8" fmla="*/ 1 w 277"/>
                      <a:gd name="T9" fmla="*/ 46 h 46"/>
                      <a:gd name="T10" fmla="*/ 29 w 277"/>
                      <a:gd name="T11" fmla="*/ 46 h 46"/>
                      <a:gd name="T12" fmla="*/ 138 w 277"/>
                      <a:gd name="T13" fmla="*/ 14 h 46"/>
                      <a:gd name="T14" fmla="*/ 239 w 277"/>
                      <a:gd name="T15" fmla="*/ 46 h 46"/>
                      <a:gd name="T16" fmla="*/ 276 w 277"/>
                      <a:gd name="T17" fmla="*/ 46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277"/>
                      <a:gd name="T28" fmla="*/ 0 h 46"/>
                      <a:gd name="T29" fmla="*/ 277 w 277"/>
                      <a:gd name="T30" fmla="*/ 46 h 4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277" h="46">
                        <a:moveTo>
                          <a:pt x="276" y="46"/>
                        </a:moveTo>
                        <a:lnTo>
                          <a:pt x="277" y="43"/>
                        </a:lnTo>
                        <a:lnTo>
                          <a:pt x="138" y="0"/>
                        </a:lnTo>
                        <a:lnTo>
                          <a:pt x="0" y="43"/>
                        </a:lnTo>
                        <a:lnTo>
                          <a:pt x="1" y="46"/>
                        </a:lnTo>
                        <a:lnTo>
                          <a:pt x="29" y="46"/>
                        </a:lnTo>
                        <a:lnTo>
                          <a:pt x="138" y="14"/>
                        </a:lnTo>
                        <a:lnTo>
                          <a:pt x="239" y="46"/>
                        </a:lnTo>
                        <a:lnTo>
                          <a:pt x="276" y="4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24" name="Freeform 368"/>
                  <p:cNvSpPr>
                    <a:spLocks/>
                  </p:cNvSpPr>
                  <p:nvPr/>
                </p:nvSpPr>
                <p:spPr bwMode="auto">
                  <a:xfrm>
                    <a:off x="3570" y="2447"/>
                    <a:ext cx="277" cy="46"/>
                  </a:xfrm>
                  <a:custGeom>
                    <a:avLst/>
                    <a:gdLst>
                      <a:gd name="T0" fmla="*/ 276 w 277"/>
                      <a:gd name="T1" fmla="*/ 46 h 46"/>
                      <a:gd name="T2" fmla="*/ 277 w 277"/>
                      <a:gd name="T3" fmla="*/ 43 h 46"/>
                      <a:gd name="T4" fmla="*/ 138 w 277"/>
                      <a:gd name="T5" fmla="*/ 0 h 46"/>
                      <a:gd name="T6" fmla="*/ 0 w 277"/>
                      <a:gd name="T7" fmla="*/ 43 h 46"/>
                      <a:gd name="T8" fmla="*/ 1 w 277"/>
                      <a:gd name="T9" fmla="*/ 46 h 46"/>
                      <a:gd name="T10" fmla="*/ 29 w 277"/>
                      <a:gd name="T11" fmla="*/ 46 h 46"/>
                      <a:gd name="T12" fmla="*/ 138 w 277"/>
                      <a:gd name="T13" fmla="*/ 14 h 46"/>
                      <a:gd name="T14" fmla="*/ 239 w 277"/>
                      <a:gd name="T15" fmla="*/ 46 h 46"/>
                      <a:gd name="T16" fmla="*/ 276 w 277"/>
                      <a:gd name="T17" fmla="*/ 46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277"/>
                      <a:gd name="T28" fmla="*/ 0 h 46"/>
                      <a:gd name="T29" fmla="*/ 277 w 277"/>
                      <a:gd name="T30" fmla="*/ 46 h 4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277" h="46">
                        <a:moveTo>
                          <a:pt x="276" y="46"/>
                        </a:moveTo>
                        <a:lnTo>
                          <a:pt x="277" y="43"/>
                        </a:lnTo>
                        <a:lnTo>
                          <a:pt x="138" y="0"/>
                        </a:lnTo>
                        <a:lnTo>
                          <a:pt x="0" y="43"/>
                        </a:lnTo>
                        <a:lnTo>
                          <a:pt x="1" y="46"/>
                        </a:lnTo>
                        <a:lnTo>
                          <a:pt x="29" y="46"/>
                        </a:lnTo>
                        <a:lnTo>
                          <a:pt x="138" y="14"/>
                        </a:lnTo>
                        <a:lnTo>
                          <a:pt x="239" y="46"/>
                        </a:lnTo>
                        <a:lnTo>
                          <a:pt x="276" y="46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25" name="Freeform 369"/>
                  <p:cNvSpPr>
                    <a:spLocks/>
                  </p:cNvSpPr>
                  <p:nvPr/>
                </p:nvSpPr>
                <p:spPr bwMode="auto">
                  <a:xfrm>
                    <a:off x="3600" y="2461"/>
                    <a:ext cx="209" cy="32"/>
                  </a:xfrm>
                  <a:custGeom>
                    <a:avLst/>
                    <a:gdLst>
                      <a:gd name="T0" fmla="*/ 0 w 209"/>
                      <a:gd name="T1" fmla="*/ 32 h 32"/>
                      <a:gd name="T2" fmla="*/ 108 w 209"/>
                      <a:gd name="T3" fmla="*/ 0 h 32"/>
                      <a:gd name="T4" fmla="*/ 209 w 209"/>
                      <a:gd name="T5" fmla="*/ 32 h 32"/>
                      <a:gd name="T6" fmla="*/ 188 w 209"/>
                      <a:gd name="T7" fmla="*/ 32 h 32"/>
                      <a:gd name="T8" fmla="*/ 108 w 209"/>
                      <a:gd name="T9" fmla="*/ 7 h 32"/>
                      <a:gd name="T10" fmla="*/ 24 w 209"/>
                      <a:gd name="T11" fmla="*/ 32 h 32"/>
                      <a:gd name="T12" fmla="*/ 0 w 209"/>
                      <a:gd name="T13" fmla="*/ 32 h 3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09"/>
                      <a:gd name="T22" fmla="*/ 0 h 32"/>
                      <a:gd name="T23" fmla="*/ 209 w 209"/>
                      <a:gd name="T24" fmla="*/ 32 h 3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09" h="32">
                        <a:moveTo>
                          <a:pt x="0" y="32"/>
                        </a:moveTo>
                        <a:lnTo>
                          <a:pt x="108" y="0"/>
                        </a:lnTo>
                        <a:lnTo>
                          <a:pt x="209" y="32"/>
                        </a:lnTo>
                        <a:lnTo>
                          <a:pt x="188" y="32"/>
                        </a:lnTo>
                        <a:lnTo>
                          <a:pt x="108" y="7"/>
                        </a:lnTo>
                        <a:lnTo>
                          <a:pt x="24" y="32"/>
                        </a:lnTo>
                        <a:lnTo>
                          <a:pt x="0" y="32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26" name="Freeform 370"/>
                  <p:cNvSpPr>
                    <a:spLocks/>
                  </p:cNvSpPr>
                  <p:nvPr/>
                </p:nvSpPr>
                <p:spPr bwMode="auto">
                  <a:xfrm>
                    <a:off x="3600" y="2461"/>
                    <a:ext cx="209" cy="32"/>
                  </a:xfrm>
                  <a:custGeom>
                    <a:avLst/>
                    <a:gdLst>
                      <a:gd name="T0" fmla="*/ 0 w 209"/>
                      <a:gd name="T1" fmla="*/ 32 h 32"/>
                      <a:gd name="T2" fmla="*/ 108 w 209"/>
                      <a:gd name="T3" fmla="*/ 0 h 32"/>
                      <a:gd name="T4" fmla="*/ 209 w 209"/>
                      <a:gd name="T5" fmla="*/ 32 h 32"/>
                      <a:gd name="T6" fmla="*/ 188 w 209"/>
                      <a:gd name="T7" fmla="*/ 32 h 32"/>
                      <a:gd name="T8" fmla="*/ 108 w 209"/>
                      <a:gd name="T9" fmla="*/ 7 h 32"/>
                      <a:gd name="T10" fmla="*/ 24 w 209"/>
                      <a:gd name="T11" fmla="*/ 32 h 32"/>
                      <a:gd name="T12" fmla="*/ 0 w 209"/>
                      <a:gd name="T13" fmla="*/ 32 h 3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09"/>
                      <a:gd name="T22" fmla="*/ 0 h 32"/>
                      <a:gd name="T23" fmla="*/ 209 w 209"/>
                      <a:gd name="T24" fmla="*/ 32 h 3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09" h="32">
                        <a:moveTo>
                          <a:pt x="0" y="32"/>
                        </a:moveTo>
                        <a:lnTo>
                          <a:pt x="108" y="0"/>
                        </a:lnTo>
                        <a:lnTo>
                          <a:pt x="209" y="32"/>
                        </a:lnTo>
                        <a:lnTo>
                          <a:pt x="188" y="32"/>
                        </a:lnTo>
                        <a:lnTo>
                          <a:pt x="108" y="7"/>
                        </a:lnTo>
                        <a:lnTo>
                          <a:pt x="24" y="32"/>
                        </a:lnTo>
                        <a:lnTo>
                          <a:pt x="0" y="32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27" name="Freeform 371"/>
                  <p:cNvSpPr>
                    <a:spLocks/>
                  </p:cNvSpPr>
                  <p:nvPr/>
                </p:nvSpPr>
                <p:spPr bwMode="auto">
                  <a:xfrm>
                    <a:off x="3624" y="2468"/>
                    <a:ext cx="164" cy="25"/>
                  </a:xfrm>
                  <a:custGeom>
                    <a:avLst/>
                    <a:gdLst>
                      <a:gd name="T0" fmla="*/ 164 w 164"/>
                      <a:gd name="T1" fmla="*/ 25 h 25"/>
                      <a:gd name="T2" fmla="*/ 84 w 164"/>
                      <a:gd name="T3" fmla="*/ 0 h 25"/>
                      <a:gd name="T4" fmla="*/ 0 w 164"/>
                      <a:gd name="T5" fmla="*/ 25 h 25"/>
                      <a:gd name="T6" fmla="*/ 164 w 164"/>
                      <a:gd name="T7" fmla="*/ 25 h 2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64"/>
                      <a:gd name="T13" fmla="*/ 0 h 25"/>
                      <a:gd name="T14" fmla="*/ 164 w 164"/>
                      <a:gd name="T15" fmla="*/ 25 h 2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64" h="25">
                        <a:moveTo>
                          <a:pt x="164" y="25"/>
                        </a:moveTo>
                        <a:lnTo>
                          <a:pt x="84" y="0"/>
                        </a:lnTo>
                        <a:lnTo>
                          <a:pt x="0" y="25"/>
                        </a:lnTo>
                        <a:lnTo>
                          <a:pt x="164" y="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28" name="Freeform 372"/>
                  <p:cNvSpPr>
                    <a:spLocks/>
                  </p:cNvSpPr>
                  <p:nvPr/>
                </p:nvSpPr>
                <p:spPr bwMode="auto">
                  <a:xfrm>
                    <a:off x="3624" y="2468"/>
                    <a:ext cx="164" cy="25"/>
                  </a:xfrm>
                  <a:custGeom>
                    <a:avLst/>
                    <a:gdLst>
                      <a:gd name="T0" fmla="*/ 164 w 164"/>
                      <a:gd name="T1" fmla="*/ 25 h 25"/>
                      <a:gd name="T2" fmla="*/ 84 w 164"/>
                      <a:gd name="T3" fmla="*/ 0 h 25"/>
                      <a:gd name="T4" fmla="*/ 0 w 164"/>
                      <a:gd name="T5" fmla="*/ 25 h 25"/>
                      <a:gd name="T6" fmla="*/ 164 w 164"/>
                      <a:gd name="T7" fmla="*/ 25 h 2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64"/>
                      <a:gd name="T13" fmla="*/ 0 h 25"/>
                      <a:gd name="T14" fmla="*/ 164 w 164"/>
                      <a:gd name="T15" fmla="*/ 25 h 2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64" h="25">
                        <a:moveTo>
                          <a:pt x="164" y="25"/>
                        </a:moveTo>
                        <a:lnTo>
                          <a:pt x="84" y="0"/>
                        </a:lnTo>
                        <a:lnTo>
                          <a:pt x="0" y="25"/>
                        </a:lnTo>
                        <a:lnTo>
                          <a:pt x="164" y="2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29" name="Rectangle 373"/>
                  <p:cNvSpPr>
                    <a:spLocks noChangeArrowheads="1"/>
                  </p:cNvSpPr>
                  <p:nvPr/>
                </p:nvSpPr>
                <p:spPr bwMode="auto">
                  <a:xfrm>
                    <a:off x="3571" y="2493"/>
                    <a:ext cx="275" cy="5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30" name="Rectangle 374"/>
                  <p:cNvSpPr>
                    <a:spLocks noChangeArrowheads="1"/>
                  </p:cNvSpPr>
                  <p:nvPr/>
                </p:nvSpPr>
                <p:spPr bwMode="auto">
                  <a:xfrm>
                    <a:off x="3571" y="2493"/>
                    <a:ext cx="275" cy="5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31" name="Rectangle 375"/>
                  <p:cNvSpPr>
                    <a:spLocks noChangeArrowheads="1"/>
                  </p:cNvSpPr>
                  <p:nvPr/>
                </p:nvSpPr>
                <p:spPr bwMode="auto">
                  <a:xfrm>
                    <a:off x="3578" y="2498"/>
                    <a:ext cx="260" cy="7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32" name="Rectangle 376"/>
                  <p:cNvSpPr>
                    <a:spLocks noChangeArrowheads="1"/>
                  </p:cNvSpPr>
                  <p:nvPr/>
                </p:nvSpPr>
                <p:spPr bwMode="auto">
                  <a:xfrm>
                    <a:off x="3578" y="2498"/>
                    <a:ext cx="260" cy="7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33" name="Freeform 377"/>
                  <p:cNvSpPr>
                    <a:spLocks/>
                  </p:cNvSpPr>
                  <p:nvPr/>
                </p:nvSpPr>
                <p:spPr bwMode="auto">
                  <a:xfrm>
                    <a:off x="3838" y="2498"/>
                    <a:ext cx="8" cy="7"/>
                  </a:xfrm>
                  <a:custGeom>
                    <a:avLst/>
                    <a:gdLst>
                      <a:gd name="T0" fmla="*/ 8 w 8"/>
                      <a:gd name="T1" fmla="*/ 0 h 7"/>
                      <a:gd name="T2" fmla="*/ 0 w 8"/>
                      <a:gd name="T3" fmla="*/ 0 h 7"/>
                      <a:gd name="T4" fmla="*/ 0 w 8"/>
                      <a:gd name="T5" fmla="*/ 7 h 7"/>
                      <a:gd name="T6" fmla="*/ 8 w 8"/>
                      <a:gd name="T7" fmla="*/ 0 h 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"/>
                      <a:gd name="T13" fmla="*/ 0 h 7"/>
                      <a:gd name="T14" fmla="*/ 8 w 8"/>
                      <a:gd name="T15" fmla="*/ 7 h 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" h="7">
                        <a:moveTo>
                          <a:pt x="8" y="0"/>
                        </a:moveTo>
                        <a:lnTo>
                          <a:pt x="0" y="0"/>
                        </a:lnTo>
                        <a:lnTo>
                          <a:pt x="0" y="7"/>
                        </a:lnTo>
                        <a:lnTo>
                          <a:pt x="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34" name="Freeform 378"/>
                  <p:cNvSpPr>
                    <a:spLocks/>
                  </p:cNvSpPr>
                  <p:nvPr/>
                </p:nvSpPr>
                <p:spPr bwMode="auto">
                  <a:xfrm>
                    <a:off x="3838" y="2498"/>
                    <a:ext cx="8" cy="7"/>
                  </a:xfrm>
                  <a:custGeom>
                    <a:avLst/>
                    <a:gdLst>
                      <a:gd name="T0" fmla="*/ 8 w 8"/>
                      <a:gd name="T1" fmla="*/ 0 h 7"/>
                      <a:gd name="T2" fmla="*/ 0 w 8"/>
                      <a:gd name="T3" fmla="*/ 0 h 7"/>
                      <a:gd name="T4" fmla="*/ 0 w 8"/>
                      <a:gd name="T5" fmla="*/ 7 h 7"/>
                      <a:gd name="T6" fmla="*/ 8 w 8"/>
                      <a:gd name="T7" fmla="*/ 0 h 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"/>
                      <a:gd name="T13" fmla="*/ 0 h 7"/>
                      <a:gd name="T14" fmla="*/ 8 w 8"/>
                      <a:gd name="T15" fmla="*/ 7 h 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" h="7">
                        <a:moveTo>
                          <a:pt x="8" y="0"/>
                        </a:moveTo>
                        <a:lnTo>
                          <a:pt x="0" y="0"/>
                        </a:lnTo>
                        <a:lnTo>
                          <a:pt x="0" y="7"/>
                        </a:lnTo>
                        <a:lnTo>
                          <a:pt x="8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35" name="Rectangle 379"/>
                  <p:cNvSpPr>
                    <a:spLocks noChangeArrowheads="1"/>
                  </p:cNvSpPr>
                  <p:nvPr/>
                </p:nvSpPr>
                <p:spPr bwMode="auto">
                  <a:xfrm>
                    <a:off x="3582" y="2505"/>
                    <a:ext cx="250" cy="24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36" name="Rectangle 380"/>
                  <p:cNvSpPr>
                    <a:spLocks noChangeArrowheads="1"/>
                  </p:cNvSpPr>
                  <p:nvPr/>
                </p:nvSpPr>
                <p:spPr bwMode="auto">
                  <a:xfrm>
                    <a:off x="3582" y="2505"/>
                    <a:ext cx="250" cy="24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37" name="Freeform 381"/>
                  <p:cNvSpPr>
                    <a:spLocks/>
                  </p:cNvSpPr>
                  <p:nvPr/>
                </p:nvSpPr>
                <p:spPr bwMode="auto">
                  <a:xfrm>
                    <a:off x="3599" y="2520"/>
                    <a:ext cx="244" cy="160"/>
                  </a:xfrm>
                  <a:custGeom>
                    <a:avLst/>
                    <a:gdLst>
                      <a:gd name="T0" fmla="*/ 4 w 244"/>
                      <a:gd name="T1" fmla="*/ 12 h 160"/>
                      <a:gd name="T2" fmla="*/ 4 w 244"/>
                      <a:gd name="T3" fmla="*/ 13 h 160"/>
                      <a:gd name="T4" fmla="*/ 1 w 244"/>
                      <a:gd name="T5" fmla="*/ 14 h 160"/>
                      <a:gd name="T6" fmla="*/ 0 w 244"/>
                      <a:gd name="T7" fmla="*/ 21 h 160"/>
                      <a:gd name="T8" fmla="*/ 4 w 244"/>
                      <a:gd name="T9" fmla="*/ 21 h 160"/>
                      <a:gd name="T10" fmla="*/ 4 w 244"/>
                      <a:gd name="T11" fmla="*/ 27 h 160"/>
                      <a:gd name="T12" fmla="*/ 1 w 244"/>
                      <a:gd name="T13" fmla="*/ 28 h 160"/>
                      <a:gd name="T14" fmla="*/ 3 w 244"/>
                      <a:gd name="T15" fmla="*/ 132 h 160"/>
                      <a:gd name="T16" fmla="*/ 12 w 244"/>
                      <a:gd name="T17" fmla="*/ 146 h 160"/>
                      <a:gd name="T18" fmla="*/ 15 w 244"/>
                      <a:gd name="T19" fmla="*/ 157 h 160"/>
                      <a:gd name="T20" fmla="*/ 24 w 244"/>
                      <a:gd name="T21" fmla="*/ 157 h 160"/>
                      <a:gd name="T22" fmla="*/ 28 w 244"/>
                      <a:gd name="T23" fmla="*/ 159 h 160"/>
                      <a:gd name="T24" fmla="*/ 35 w 244"/>
                      <a:gd name="T25" fmla="*/ 160 h 160"/>
                      <a:gd name="T26" fmla="*/ 41 w 244"/>
                      <a:gd name="T27" fmla="*/ 160 h 160"/>
                      <a:gd name="T28" fmla="*/ 46 w 244"/>
                      <a:gd name="T29" fmla="*/ 158 h 160"/>
                      <a:gd name="T30" fmla="*/ 50 w 244"/>
                      <a:gd name="T31" fmla="*/ 157 h 160"/>
                      <a:gd name="T32" fmla="*/ 67 w 244"/>
                      <a:gd name="T33" fmla="*/ 157 h 160"/>
                      <a:gd name="T34" fmla="*/ 71 w 244"/>
                      <a:gd name="T35" fmla="*/ 159 h 160"/>
                      <a:gd name="T36" fmla="*/ 77 w 244"/>
                      <a:gd name="T37" fmla="*/ 160 h 160"/>
                      <a:gd name="T38" fmla="*/ 84 w 244"/>
                      <a:gd name="T39" fmla="*/ 160 h 160"/>
                      <a:gd name="T40" fmla="*/ 90 w 244"/>
                      <a:gd name="T41" fmla="*/ 158 h 160"/>
                      <a:gd name="T42" fmla="*/ 93 w 244"/>
                      <a:gd name="T43" fmla="*/ 157 h 160"/>
                      <a:gd name="T44" fmla="*/ 123 w 244"/>
                      <a:gd name="T45" fmla="*/ 157 h 160"/>
                      <a:gd name="T46" fmla="*/ 128 w 244"/>
                      <a:gd name="T47" fmla="*/ 159 h 160"/>
                      <a:gd name="T48" fmla="*/ 134 w 244"/>
                      <a:gd name="T49" fmla="*/ 160 h 160"/>
                      <a:gd name="T50" fmla="*/ 140 w 244"/>
                      <a:gd name="T51" fmla="*/ 160 h 160"/>
                      <a:gd name="T52" fmla="*/ 146 w 244"/>
                      <a:gd name="T53" fmla="*/ 158 h 160"/>
                      <a:gd name="T54" fmla="*/ 149 w 244"/>
                      <a:gd name="T55" fmla="*/ 157 h 160"/>
                      <a:gd name="T56" fmla="*/ 167 w 244"/>
                      <a:gd name="T57" fmla="*/ 157 h 160"/>
                      <a:gd name="T58" fmla="*/ 171 w 244"/>
                      <a:gd name="T59" fmla="*/ 159 h 160"/>
                      <a:gd name="T60" fmla="*/ 178 w 244"/>
                      <a:gd name="T61" fmla="*/ 160 h 160"/>
                      <a:gd name="T62" fmla="*/ 184 w 244"/>
                      <a:gd name="T63" fmla="*/ 160 h 160"/>
                      <a:gd name="T64" fmla="*/ 191 w 244"/>
                      <a:gd name="T65" fmla="*/ 158 h 160"/>
                      <a:gd name="T66" fmla="*/ 193 w 244"/>
                      <a:gd name="T67" fmla="*/ 157 h 160"/>
                      <a:gd name="T68" fmla="*/ 213 w 244"/>
                      <a:gd name="T69" fmla="*/ 141 h 160"/>
                      <a:gd name="T70" fmla="*/ 209 w 244"/>
                      <a:gd name="T71" fmla="*/ 138 h 160"/>
                      <a:gd name="T72" fmla="*/ 244 w 244"/>
                      <a:gd name="T73" fmla="*/ 131 h 160"/>
                      <a:gd name="T74" fmla="*/ 240 w 244"/>
                      <a:gd name="T75" fmla="*/ 3 h 160"/>
                      <a:gd name="T76" fmla="*/ 9 w 244"/>
                      <a:gd name="T77" fmla="*/ 9 h 160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244"/>
                      <a:gd name="T118" fmla="*/ 0 h 160"/>
                      <a:gd name="T119" fmla="*/ 244 w 244"/>
                      <a:gd name="T120" fmla="*/ 160 h 160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244" h="160">
                        <a:moveTo>
                          <a:pt x="9" y="9"/>
                        </a:moveTo>
                        <a:lnTo>
                          <a:pt x="4" y="12"/>
                        </a:lnTo>
                        <a:lnTo>
                          <a:pt x="4" y="13"/>
                        </a:lnTo>
                        <a:lnTo>
                          <a:pt x="3" y="13"/>
                        </a:lnTo>
                        <a:lnTo>
                          <a:pt x="1" y="14"/>
                        </a:lnTo>
                        <a:lnTo>
                          <a:pt x="0" y="14"/>
                        </a:lnTo>
                        <a:lnTo>
                          <a:pt x="0" y="21"/>
                        </a:lnTo>
                        <a:lnTo>
                          <a:pt x="3" y="21"/>
                        </a:lnTo>
                        <a:lnTo>
                          <a:pt x="4" y="21"/>
                        </a:lnTo>
                        <a:lnTo>
                          <a:pt x="4" y="22"/>
                        </a:lnTo>
                        <a:lnTo>
                          <a:pt x="4" y="27"/>
                        </a:lnTo>
                        <a:lnTo>
                          <a:pt x="1" y="28"/>
                        </a:lnTo>
                        <a:lnTo>
                          <a:pt x="0" y="28"/>
                        </a:lnTo>
                        <a:lnTo>
                          <a:pt x="3" y="132"/>
                        </a:lnTo>
                        <a:lnTo>
                          <a:pt x="12" y="132"/>
                        </a:lnTo>
                        <a:lnTo>
                          <a:pt x="12" y="146"/>
                        </a:lnTo>
                        <a:lnTo>
                          <a:pt x="15" y="152"/>
                        </a:lnTo>
                        <a:lnTo>
                          <a:pt x="15" y="157"/>
                        </a:lnTo>
                        <a:lnTo>
                          <a:pt x="23" y="157"/>
                        </a:lnTo>
                        <a:lnTo>
                          <a:pt x="24" y="157"/>
                        </a:lnTo>
                        <a:lnTo>
                          <a:pt x="26" y="158"/>
                        </a:lnTo>
                        <a:lnTo>
                          <a:pt x="28" y="159"/>
                        </a:lnTo>
                        <a:lnTo>
                          <a:pt x="31" y="160"/>
                        </a:lnTo>
                        <a:lnTo>
                          <a:pt x="35" y="160"/>
                        </a:lnTo>
                        <a:lnTo>
                          <a:pt x="37" y="160"/>
                        </a:lnTo>
                        <a:lnTo>
                          <a:pt x="41" y="160"/>
                        </a:lnTo>
                        <a:lnTo>
                          <a:pt x="43" y="159"/>
                        </a:lnTo>
                        <a:lnTo>
                          <a:pt x="46" y="158"/>
                        </a:lnTo>
                        <a:lnTo>
                          <a:pt x="49" y="158"/>
                        </a:lnTo>
                        <a:lnTo>
                          <a:pt x="50" y="157"/>
                        </a:lnTo>
                        <a:lnTo>
                          <a:pt x="66" y="157"/>
                        </a:lnTo>
                        <a:lnTo>
                          <a:pt x="67" y="157"/>
                        </a:lnTo>
                        <a:lnTo>
                          <a:pt x="69" y="158"/>
                        </a:lnTo>
                        <a:lnTo>
                          <a:pt x="71" y="159"/>
                        </a:lnTo>
                        <a:lnTo>
                          <a:pt x="74" y="160"/>
                        </a:lnTo>
                        <a:lnTo>
                          <a:pt x="77" y="160"/>
                        </a:lnTo>
                        <a:lnTo>
                          <a:pt x="81" y="160"/>
                        </a:lnTo>
                        <a:lnTo>
                          <a:pt x="84" y="160"/>
                        </a:lnTo>
                        <a:lnTo>
                          <a:pt x="87" y="159"/>
                        </a:lnTo>
                        <a:lnTo>
                          <a:pt x="90" y="158"/>
                        </a:lnTo>
                        <a:lnTo>
                          <a:pt x="91" y="158"/>
                        </a:lnTo>
                        <a:lnTo>
                          <a:pt x="93" y="157"/>
                        </a:lnTo>
                        <a:lnTo>
                          <a:pt x="122" y="157"/>
                        </a:lnTo>
                        <a:lnTo>
                          <a:pt x="123" y="157"/>
                        </a:lnTo>
                        <a:lnTo>
                          <a:pt x="125" y="158"/>
                        </a:lnTo>
                        <a:lnTo>
                          <a:pt x="128" y="159"/>
                        </a:lnTo>
                        <a:lnTo>
                          <a:pt x="131" y="160"/>
                        </a:lnTo>
                        <a:lnTo>
                          <a:pt x="134" y="160"/>
                        </a:lnTo>
                        <a:lnTo>
                          <a:pt x="137" y="160"/>
                        </a:lnTo>
                        <a:lnTo>
                          <a:pt x="140" y="160"/>
                        </a:lnTo>
                        <a:lnTo>
                          <a:pt x="144" y="159"/>
                        </a:lnTo>
                        <a:lnTo>
                          <a:pt x="146" y="158"/>
                        </a:lnTo>
                        <a:lnTo>
                          <a:pt x="148" y="158"/>
                        </a:lnTo>
                        <a:lnTo>
                          <a:pt x="149" y="157"/>
                        </a:lnTo>
                        <a:lnTo>
                          <a:pt x="166" y="157"/>
                        </a:lnTo>
                        <a:lnTo>
                          <a:pt x="167" y="157"/>
                        </a:lnTo>
                        <a:lnTo>
                          <a:pt x="169" y="158"/>
                        </a:lnTo>
                        <a:lnTo>
                          <a:pt x="171" y="159"/>
                        </a:lnTo>
                        <a:lnTo>
                          <a:pt x="175" y="160"/>
                        </a:lnTo>
                        <a:lnTo>
                          <a:pt x="178" y="160"/>
                        </a:lnTo>
                        <a:lnTo>
                          <a:pt x="181" y="160"/>
                        </a:lnTo>
                        <a:lnTo>
                          <a:pt x="184" y="160"/>
                        </a:lnTo>
                        <a:lnTo>
                          <a:pt x="187" y="159"/>
                        </a:lnTo>
                        <a:lnTo>
                          <a:pt x="191" y="158"/>
                        </a:lnTo>
                        <a:lnTo>
                          <a:pt x="192" y="158"/>
                        </a:lnTo>
                        <a:lnTo>
                          <a:pt x="193" y="157"/>
                        </a:lnTo>
                        <a:lnTo>
                          <a:pt x="213" y="157"/>
                        </a:lnTo>
                        <a:lnTo>
                          <a:pt x="213" y="141"/>
                        </a:lnTo>
                        <a:lnTo>
                          <a:pt x="211" y="141"/>
                        </a:lnTo>
                        <a:lnTo>
                          <a:pt x="209" y="138"/>
                        </a:lnTo>
                        <a:lnTo>
                          <a:pt x="236" y="138"/>
                        </a:lnTo>
                        <a:lnTo>
                          <a:pt x="244" y="131"/>
                        </a:lnTo>
                        <a:lnTo>
                          <a:pt x="244" y="0"/>
                        </a:lnTo>
                        <a:lnTo>
                          <a:pt x="240" y="3"/>
                        </a:lnTo>
                        <a:lnTo>
                          <a:pt x="233" y="9"/>
                        </a:lnTo>
                        <a:lnTo>
                          <a:pt x="9" y="9"/>
                        </a:lnTo>
                        <a:close/>
                      </a:path>
                    </a:pathLst>
                  </a:custGeom>
                  <a:solidFill>
                    <a:srgbClr val="0000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38" name="Freeform 382"/>
                  <p:cNvSpPr>
                    <a:spLocks/>
                  </p:cNvSpPr>
                  <p:nvPr/>
                </p:nvSpPr>
                <p:spPr bwMode="auto">
                  <a:xfrm>
                    <a:off x="3599" y="2520"/>
                    <a:ext cx="244" cy="160"/>
                  </a:xfrm>
                  <a:custGeom>
                    <a:avLst/>
                    <a:gdLst>
                      <a:gd name="T0" fmla="*/ 4 w 244"/>
                      <a:gd name="T1" fmla="*/ 12 h 160"/>
                      <a:gd name="T2" fmla="*/ 4 w 244"/>
                      <a:gd name="T3" fmla="*/ 13 h 160"/>
                      <a:gd name="T4" fmla="*/ 1 w 244"/>
                      <a:gd name="T5" fmla="*/ 14 h 160"/>
                      <a:gd name="T6" fmla="*/ 0 w 244"/>
                      <a:gd name="T7" fmla="*/ 21 h 160"/>
                      <a:gd name="T8" fmla="*/ 4 w 244"/>
                      <a:gd name="T9" fmla="*/ 21 h 160"/>
                      <a:gd name="T10" fmla="*/ 4 w 244"/>
                      <a:gd name="T11" fmla="*/ 27 h 160"/>
                      <a:gd name="T12" fmla="*/ 1 w 244"/>
                      <a:gd name="T13" fmla="*/ 28 h 160"/>
                      <a:gd name="T14" fmla="*/ 3 w 244"/>
                      <a:gd name="T15" fmla="*/ 132 h 160"/>
                      <a:gd name="T16" fmla="*/ 12 w 244"/>
                      <a:gd name="T17" fmla="*/ 146 h 160"/>
                      <a:gd name="T18" fmla="*/ 15 w 244"/>
                      <a:gd name="T19" fmla="*/ 157 h 160"/>
                      <a:gd name="T20" fmla="*/ 24 w 244"/>
                      <a:gd name="T21" fmla="*/ 157 h 160"/>
                      <a:gd name="T22" fmla="*/ 28 w 244"/>
                      <a:gd name="T23" fmla="*/ 159 h 160"/>
                      <a:gd name="T24" fmla="*/ 35 w 244"/>
                      <a:gd name="T25" fmla="*/ 160 h 160"/>
                      <a:gd name="T26" fmla="*/ 41 w 244"/>
                      <a:gd name="T27" fmla="*/ 160 h 160"/>
                      <a:gd name="T28" fmla="*/ 46 w 244"/>
                      <a:gd name="T29" fmla="*/ 158 h 160"/>
                      <a:gd name="T30" fmla="*/ 50 w 244"/>
                      <a:gd name="T31" fmla="*/ 157 h 160"/>
                      <a:gd name="T32" fmla="*/ 67 w 244"/>
                      <a:gd name="T33" fmla="*/ 157 h 160"/>
                      <a:gd name="T34" fmla="*/ 71 w 244"/>
                      <a:gd name="T35" fmla="*/ 159 h 160"/>
                      <a:gd name="T36" fmla="*/ 77 w 244"/>
                      <a:gd name="T37" fmla="*/ 160 h 160"/>
                      <a:gd name="T38" fmla="*/ 84 w 244"/>
                      <a:gd name="T39" fmla="*/ 160 h 160"/>
                      <a:gd name="T40" fmla="*/ 90 w 244"/>
                      <a:gd name="T41" fmla="*/ 158 h 160"/>
                      <a:gd name="T42" fmla="*/ 93 w 244"/>
                      <a:gd name="T43" fmla="*/ 157 h 160"/>
                      <a:gd name="T44" fmla="*/ 123 w 244"/>
                      <a:gd name="T45" fmla="*/ 157 h 160"/>
                      <a:gd name="T46" fmla="*/ 128 w 244"/>
                      <a:gd name="T47" fmla="*/ 159 h 160"/>
                      <a:gd name="T48" fmla="*/ 134 w 244"/>
                      <a:gd name="T49" fmla="*/ 160 h 160"/>
                      <a:gd name="T50" fmla="*/ 140 w 244"/>
                      <a:gd name="T51" fmla="*/ 160 h 160"/>
                      <a:gd name="T52" fmla="*/ 146 w 244"/>
                      <a:gd name="T53" fmla="*/ 158 h 160"/>
                      <a:gd name="T54" fmla="*/ 149 w 244"/>
                      <a:gd name="T55" fmla="*/ 157 h 160"/>
                      <a:gd name="T56" fmla="*/ 167 w 244"/>
                      <a:gd name="T57" fmla="*/ 157 h 160"/>
                      <a:gd name="T58" fmla="*/ 171 w 244"/>
                      <a:gd name="T59" fmla="*/ 159 h 160"/>
                      <a:gd name="T60" fmla="*/ 178 w 244"/>
                      <a:gd name="T61" fmla="*/ 160 h 160"/>
                      <a:gd name="T62" fmla="*/ 184 w 244"/>
                      <a:gd name="T63" fmla="*/ 160 h 160"/>
                      <a:gd name="T64" fmla="*/ 191 w 244"/>
                      <a:gd name="T65" fmla="*/ 158 h 160"/>
                      <a:gd name="T66" fmla="*/ 193 w 244"/>
                      <a:gd name="T67" fmla="*/ 157 h 160"/>
                      <a:gd name="T68" fmla="*/ 213 w 244"/>
                      <a:gd name="T69" fmla="*/ 141 h 160"/>
                      <a:gd name="T70" fmla="*/ 209 w 244"/>
                      <a:gd name="T71" fmla="*/ 138 h 160"/>
                      <a:gd name="T72" fmla="*/ 244 w 244"/>
                      <a:gd name="T73" fmla="*/ 131 h 160"/>
                      <a:gd name="T74" fmla="*/ 240 w 244"/>
                      <a:gd name="T75" fmla="*/ 3 h 160"/>
                      <a:gd name="T76" fmla="*/ 9 w 244"/>
                      <a:gd name="T77" fmla="*/ 9 h 160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244"/>
                      <a:gd name="T118" fmla="*/ 0 h 160"/>
                      <a:gd name="T119" fmla="*/ 244 w 244"/>
                      <a:gd name="T120" fmla="*/ 160 h 160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244" h="160">
                        <a:moveTo>
                          <a:pt x="9" y="9"/>
                        </a:moveTo>
                        <a:lnTo>
                          <a:pt x="4" y="12"/>
                        </a:lnTo>
                        <a:lnTo>
                          <a:pt x="4" y="13"/>
                        </a:lnTo>
                        <a:lnTo>
                          <a:pt x="3" y="13"/>
                        </a:lnTo>
                        <a:lnTo>
                          <a:pt x="1" y="14"/>
                        </a:lnTo>
                        <a:lnTo>
                          <a:pt x="0" y="14"/>
                        </a:lnTo>
                        <a:lnTo>
                          <a:pt x="0" y="21"/>
                        </a:lnTo>
                        <a:lnTo>
                          <a:pt x="3" y="21"/>
                        </a:lnTo>
                        <a:lnTo>
                          <a:pt x="4" y="21"/>
                        </a:lnTo>
                        <a:lnTo>
                          <a:pt x="4" y="22"/>
                        </a:lnTo>
                        <a:lnTo>
                          <a:pt x="4" y="27"/>
                        </a:lnTo>
                        <a:lnTo>
                          <a:pt x="1" y="28"/>
                        </a:lnTo>
                        <a:lnTo>
                          <a:pt x="0" y="28"/>
                        </a:lnTo>
                        <a:lnTo>
                          <a:pt x="3" y="132"/>
                        </a:lnTo>
                        <a:lnTo>
                          <a:pt x="12" y="132"/>
                        </a:lnTo>
                        <a:lnTo>
                          <a:pt x="12" y="146"/>
                        </a:lnTo>
                        <a:lnTo>
                          <a:pt x="15" y="152"/>
                        </a:lnTo>
                        <a:lnTo>
                          <a:pt x="15" y="157"/>
                        </a:lnTo>
                        <a:lnTo>
                          <a:pt x="23" y="157"/>
                        </a:lnTo>
                        <a:lnTo>
                          <a:pt x="24" y="157"/>
                        </a:lnTo>
                        <a:lnTo>
                          <a:pt x="26" y="158"/>
                        </a:lnTo>
                        <a:lnTo>
                          <a:pt x="28" y="159"/>
                        </a:lnTo>
                        <a:lnTo>
                          <a:pt x="31" y="160"/>
                        </a:lnTo>
                        <a:lnTo>
                          <a:pt x="35" y="160"/>
                        </a:lnTo>
                        <a:lnTo>
                          <a:pt x="37" y="160"/>
                        </a:lnTo>
                        <a:lnTo>
                          <a:pt x="41" y="160"/>
                        </a:lnTo>
                        <a:lnTo>
                          <a:pt x="43" y="159"/>
                        </a:lnTo>
                        <a:lnTo>
                          <a:pt x="46" y="158"/>
                        </a:lnTo>
                        <a:lnTo>
                          <a:pt x="49" y="158"/>
                        </a:lnTo>
                        <a:lnTo>
                          <a:pt x="50" y="157"/>
                        </a:lnTo>
                        <a:lnTo>
                          <a:pt x="66" y="157"/>
                        </a:lnTo>
                        <a:lnTo>
                          <a:pt x="67" y="157"/>
                        </a:lnTo>
                        <a:lnTo>
                          <a:pt x="69" y="158"/>
                        </a:lnTo>
                        <a:lnTo>
                          <a:pt x="71" y="159"/>
                        </a:lnTo>
                        <a:lnTo>
                          <a:pt x="74" y="160"/>
                        </a:lnTo>
                        <a:lnTo>
                          <a:pt x="77" y="160"/>
                        </a:lnTo>
                        <a:lnTo>
                          <a:pt x="81" y="160"/>
                        </a:lnTo>
                        <a:lnTo>
                          <a:pt x="84" y="160"/>
                        </a:lnTo>
                        <a:lnTo>
                          <a:pt x="87" y="159"/>
                        </a:lnTo>
                        <a:lnTo>
                          <a:pt x="90" y="158"/>
                        </a:lnTo>
                        <a:lnTo>
                          <a:pt x="91" y="158"/>
                        </a:lnTo>
                        <a:lnTo>
                          <a:pt x="93" y="157"/>
                        </a:lnTo>
                        <a:lnTo>
                          <a:pt x="122" y="157"/>
                        </a:lnTo>
                        <a:lnTo>
                          <a:pt x="123" y="157"/>
                        </a:lnTo>
                        <a:lnTo>
                          <a:pt x="125" y="158"/>
                        </a:lnTo>
                        <a:lnTo>
                          <a:pt x="128" y="159"/>
                        </a:lnTo>
                        <a:lnTo>
                          <a:pt x="131" y="160"/>
                        </a:lnTo>
                        <a:lnTo>
                          <a:pt x="134" y="160"/>
                        </a:lnTo>
                        <a:lnTo>
                          <a:pt x="137" y="160"/>
                        </a:lnTo>
                        <a:lnTo>
                          <a:pt x="140" y="160"/>
                        </a:lnTo>
                        <a:lnTo>
                          <a:pt x="144" y="159"/>
                        </a:lnTo>
                        <a:lnTo>
                          <a:pt x="146" y="158"/>
                        </a:lnTo>
                        <a:lnTo>
                          <a:pt x="148" y="158"/>
                        </a:lnTo>
                        <a:lnTo>
                          <a:pt x="149" y="157"/>
                        </a:lnTo>
                        <a:lnTo>
                          <a:pt x="166" y="157"/>
                        </a:lnTo>
                        <a:lnTo>
                          <a:pt x="167" y="157"/>
                        </a:lnTo>
                        <a:lnTo>
                          <a:pt x="169" y="158"/>
                        </a:lnTo>
                        <a:lnTo>
                          <a:pt x="171" y="159"/>
                        </a:lnTo>
                        <a:lnTo>
                          <a:pt x="175" y="160"/>
                        </a:lnTo>
                        <a:lnTo>
                          <a:pt x="178" y="160"/>
                        </a:lnTo>
                        <a:lnTo>
                          <a:pt x="181" y="160"/>
                        </a:lnTo>
                        <a:lnTo>
                          <a:pt x="184" y="160"/>
                        </a:lnTo>
                        <a:lnTo>
                          <a:pt x="187" y="159"/>
                        </a:lnTo>
                        <a:lnTo>
                          <a:pt x="191" y="158"/>
                        </a:lnTo>
                        <a:lnTo>
                          <a:pt x="192" y="158"/>
                        </a:lnTo>
                        <a:lnTo>
                          <a:pt x="193" y="157"/>
                        </a:lnTo>
                        <a:lnTo>
                          <a:pt x="213" y="157"/>
                        </a:lnTo>
                        <a:lnTo>
                          <a:pt x="213" y="141"/>
                        </a:lnTo>
                        <a:lnTo>
                          <a:pt x="211" y="141"/>
                        </a:lnTo>
                        <a:lnTo>
                          <a:pt x="209" y="138"/>
                        </a:lnTo>
                        <a:lnTo>
                          <a:pt x="236" y="138"/>
                        </a:lnTo>
                        <a:lnTo>
                          <a:pt x="244" y="131"/>
                        </a:lnTo>
                        <a:lnTo>
                          <a:pt x="244" y="0"/>
                        </a:lnTo>
                        <a:lnTo>
                          <a:pt x="240" y="3"/>
                        </a:lnTo>
                        <a:lnTo>
                          <a:pt x="233" y="9"/>
                        </a:lnTo>
                        <a:lnTo>
                          <a:pt x="9" y="9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39" name="Freeform 383"/>
                  <p:cNvSpPr>
                    <a:spLocks/>
                  </p:cNvSpPr>
                  <p:nvPr/>
                </p:nvSpPr>
                <p:spPr bwMode="auto">
                  <a:xfrm>
                    <a:off x="3808" y="2443"/>
                    <a:ext cx="110" cy="294"/>
                  </a:xfrm>
                  <a:custGeom>
                    <a:avLst/>
                    <a:gdLst>
                      <a:gd name="T0" fmla="*/ 35 w 110"/>
                      <a:gd name="T1" fmla="*/ 208 h 294"/>
                      <a:gd name="T2" fmla="*/ 35 w 110"/>
                      <a:gd name="T3" fmla="*/ 77 h 294"/>
                      <a:gd name="T4" fmla="*/ 31 w 110"/>
                      <a:gd name="T5" fmla="*/ 79 h 294"/>
                      <a:gd name="T6" fmla="*/ 24 w 110"/>
                      <a:gd name="T7" fmla="*/ 86 h 294"/>
                      <a:gd name="T8" fmla="*/ 24 w 110"/>
                      <a:gd name="T9" fmla="*/ 61 h 294"/>
                      <a:gd name="T10" fmla="*/ 30 w 110"/>
                      <a:gd name="T11" fmla="*/ 61 h 294"/>
                      <a:gd name="T12" fmla="*/ 38 w 110"/>
                      <a:gd name="T13" fmla="*/ 55 h 294"/>
                      <a:gd name="T14" fmla="*/ 98 w 110"/>
                      <a:gd name="T15" fmla="*/ 0 h 294"/>
                      <a:gd name="T16" fmla="*/ 98 w 110"/>
                      <a:gd name="T17" fmla="*/ 181 h 294"/>
                      <a:gd name="T18" fmla="*/ 107 w 110"/>
                      <a:gd name="T19" fmla="*/ 181 h 294"/>
                      <a:gd name="T20" fmla="*/ 98 w 110"/>
                      <a:gd name="T21" fmla="*/ 189 h 294"/>
                      <a:gd name="T22" fmla="*/ 98 w 110"/>
                      <a:gd name="T23" fmla="*/ 222 h 294"/>
                      <a:gd name="T24" fmla="*/ 110 w 110"/>
                      <a:gd name="T25" fmla="*/ 232 h 294"/>
                      <a:gd name="T26" fmla="*/ 41 w 110"/>
                      <a:gd name="T27" fmla="*/ 294 h 294"/>
                      <a:gd name="T28" fmla="*/ 29 w 110"/>
                      <a:gd name="T29" fmla="*/ 283 h 294"/>
                      <a:gd name="T30" fmla="*/ 29 w 110"/>
                      <a:gd name="T31" fmla="*/ 246 h 294"/>
                      <a:gd name="T32" fmla="*/ 32 w 110"/>
                      <a:gd name="T33" fmla="*/ 246 h 294"/>
                      <a:gd name="T34" fmla="*/ 38 w 110"/>
                      <a:gd name="T35" fmla="*/ 240 h 294"/>
                      <a:gd name="T36" fmla="*/ 27 w 110"/>
                      <a:gd name="T37" fmla="*/ 240 h 294"/>
                      <a:gd name="T38" fmla="*/ 35 w 110"/>
                      <a:gd name="T39" fmla="*/ 232 h 294"/>
                      <a:gd name="T40" fmla="*/ 35 w 110"/>
                      <a:gd name="T41" fmla="*/ 211 h 294"/>
                      <a:gd name="T42" fmla="*/ 27 w 110"/>
                      <a:gd name="T43" fmla="*/ 218 h 294"/>
                      <a:gd name="T44" fmla="*/ 1 w 110"/>
                      <a:gd name="T45" fmla="*/ 218 h 294"/>
                      <a:gd name="T46" fmla="*/ 0 w 110"/>
                      <a:gd name="T47" fmla="*/ 215 h 294"/>
                      <a:gd name="T48" fmla="*/ 27 w 110"/>
                      <a:gd name="T49" fmla="*/ 215 h 294"/>
                      <a:gd name="T50" fmla="*/ 35 w 110"/>
                      <a:gd name="T51" fmla="*/ 208 h 294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110"/>
                      <a:gd name="T79" fmla="*/ 0 h 294"/>
                      <a:gd name="T80" fmla="*/ 110 w 110"/>
                      <a:gd name="T81" fmla="*/ 294 h 294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110" h="294">
                        <a:moveTo>
                          <a:pt x="35" y="208"/>
                        </a:moveTo>
                        <a:lnTo>
                          <a:pt x="35" y="77"/>
                        </a:lnTo>
                        <a:lnTo>
                          <a:pt x="31" y="79"/>
                        </a:lnTo>
                        <a:lnTo>
                          <a:pt x="24" y="86"/>
                        </a:lnTo>
                        <a:lnTo>
                          <a:pt x="24" y="61"/>
                        </a:lnTo>
                        <a:lnTo>
                          <a:pt x="30" y="61"/>
                        </a:lnTo>
                        <a:lnTo>
                          <a:pt x="38" y="55"/>
                        </a:lnTo>
                        <a:lnTo>
                          <a:pt x="98" y="0"/>
                        </a:lnTo>
                        <a:lnTo>
                          <a:pt x="98" y="181"/>
                        </a:lnTo>
                        <a:lnTo>
                          <a:pt x="107" y="181"/>
                        </a:lnTo>
                        <a:lnTo>
                          <a:pt x="98" y="189"/>
                        </a:lnTo>
                        <a:lnTo>
                          <a:pt x="98" y="222"/>
                        </a:lnTo>
                        <a:lnTo>
                          <a:pt x="110" y="232"/>
                        </a:lnTo>
                        <a:lnTo>
                          <a:pt x="41" y="294"/>
                        </a:lnTo>
                        <a:lnTo>
                          <a:pt x="29" y="283"/>
                        </a:lnTo>
                        <a:lnTo>
                          <a:pt x="29" y="246"/>
                        </a:lnTo>
                        <a:lnTo>
                          <a:pt x="32" y="246"/>
                        </a:lnTo>
                        <a:lnTo>
                          <a:pt x="38" y="240"/>
                        </a:lnTo>
                        <a:lnTo>
                          <a:pt x="27" y="240"/>
                        </a:lnTo>
                        <a:lnTo>
                          <a:pt x="35" y="232"/>
                        </a:lnTo>
                        <a:lnTo>
                          <a:pt x="35" y="211"/>
                        </a:lnTo>
                        <a:lnTo>
                          <a:pt x="27" y="218"/>
                        </a:lnTo>
                        <a:lnTo>
                          <a:pt x="1" y="218"/>
                        </a:lnTo>
                        <a:lnTo>
                          <a:pt x="0" y="215"/>
                        </a:lnTo>
                        <a:lnTo>
                          <a:pt x="27" y="215"/>
                        </a:lnTo>
                        <a:lnTo>
                          <a:pt x="35" y="208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40" name="Freeform 384"/>
                  <p:cNvSpPr>
                    <a:spLocks/>
                  </p:cNvSpPr>
                  <p:nvPr/>
                </p:nvSpPr>
                <p:spPr bwMode="auto">
                  <a:xfrm>
                    <a:off x="3808" y="2443"/>
                    <a:ext cx="110" cy="294"/>
                  </a:xfrm>
                  <a:custGeom>
                    <a:avLst/>
                    <a:gdLst>
                      <a:gd name="T0" fmla="*/ 35 w 110"/>
                      <a:gd name="T1" fmla="*/ 208 h 294"/>
                      <a:gd name="T2" fmla="*/ 35 w 110"/>
                      <a:gd name="T3" fmla="*/ 77 h 294"/>
                      <a:gd name="T4" fmla="*/ 31 w 110"/>
                      <a:gd name="T5" fmla="*/ 79 h 294"/>
                      <a:gd name="T6" fmla="*/ 24 w 110"/>
                      <a:gd name="T7" fmla="*/ 86 h 294"/>
                      <a:gd name="T8" fmla="*/ 24 w 110"/>
                      <a:gd name="T9" fmla="*/ 61 h 294"/>
                      <a:gd name="T10" fmla="*/ 30 w 110"/>
                      <a:gd name="T11" fmla="*/ 61 h 294"/>
                      <a:gd name="T12" fmla="*/ 38 w 110"/>
                      <a:gd name="T13" fmla="*/ 55 h 294"/>
                      <a:gd name="T14" fmla="*/ 98 w 110"/>
                      <a:gd name="T15" fmla="*/ 0 h 294"/>
                      <a:gd name="T16" fmla="*/ 98 w 110"/>
                      <a:gd name="T17" fmla="*/ 181 h 294"/>
                      <a:gd name="T18" fmla="*/ 107 w 110"/>
                      <a:gd name="T19" fmla="*/ 181 h 294"/>
                      <a:gd name="T20" fmla="*/ 98 w 110"/>
                      <a:gd name="T21" fmla="*/ 189 h 294"/>
                      <a:gd name="T22" fmla="*/ 98 w 110"/>
                      <a:gd name="T23" fmla="*/ 222 h 294"/>
                      <a:gd name="T24" fmla="*/ 110 w 110"/>
                      <a:gd name="T25" fmla="*/ 232 h 294"/>
                      <a:gd name="T26" fmla="*/ 41 w 110"/>
                      <a:gd name="T27" fmla="*/ 294 h 294"/>
                      <a:gd name="T28" fmla="*/ 29 w 110"/>
                      <a:gd name="T29" fmla="*/ 283 h 294"/>
                      <a:gd name="T30" fmla="*/ 29 w 110"/>
                      <a:gd name="T31" fmla="*/ 246 h 294"/>
                      <a:gd name="T32" fmla="*/ 32 w 110"/>
                      <a:gd name="T33" fmla="*/ 246 h 294"/>
                      <a:gd name="T34" fmla="*/ 38 w 110"/>
                      <a:gd name="T35" fmla="*/ 240 h 294"/>
                      <a:gd name="T36" fmla="*/ 27 w 110"/>
                      <a:gd name="T37" fmla="*/ 240 h 294"/>
                      <a:gd name="T38" fmla="*/ 35 w 110"/>
                      <a:gd name="T39" fmla="*/ 232 h 294"/>
                      <a:gd name="T40" fmla="*/ 35 w 110"/>
                      <a:gd name="T41" fmla="*/ 211 h 294"/>
                      <a:gd name="T42" fmla="*/ 27 w 110"/>
                      <a:gd name="T43" fmla="*/ 218 h 294"/>
                      <a:gd name="T44" fmla="*/ 1 w 110"/>
                      <a:gd name="T45" fmla="*/ 218 h 294"/>
                      <a:gd name="T46" fmla="*/ 0 w 110"/>
                      <a:gd name="T47" fmla="*/ 215 h 294"/>
                      <a:gd name="T48" fmla="*/ 27 w 110"/>
                      <a:gd name="T49" fmla="*/ 215 h 294"/>
                      <a:gd name="T50" fmla="*/ 35 w 110"/>
                      <a:gd name="T51" fmla="*/ 208 h 294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110"/>
                      <a:gd name="T79" fmla="*/ 0 h 294"/>
                      <a:gd name="T80" fmla="*/ 110 w 110"/>
                      <a:gd name="T81" fmla="*/ 294 h 294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110" h="294">
                        <a:moveTo>
                          <a:pt x="35" y="208"/>
                        </a:moveTo>
                        <a:lnTo>
                          <a:pt x="35" y="77"/>
                        </a:lnTo>
                        <a:lnTo>
                          <a:pt x="31" y="79"/>
                        </a:lnTo>
                        <a:lnTo>
                          <a:pt x="24" y="86"/>
                        </a:lnTo>
                        <a:lnTo>
                          <a:pt x="24" y="61"/>
                        </a:lnTo>
                        <a:lnTo>
                          <a:pt x="30" y="61"/>
                        </a:lnTo>
                        <a:lnTo>
                          <a:pt x="38" y="55"/>
                        </a:lnTo>
                        <a:lnTo>
                          <a:pt x="98" y="0"/>
                        </a:lnTo>
                        <a:lnTo>
                          <a:pt x="98" y="181"/>
                        </a:lnTo>
                        <a:lnTo>
                          <a:pt x="107" y="181"/>
                        </a:lnTo>
                        <a:lnTo>
                          <a:pt x="98" y="189"/>
                        </a:lnTo>
                        <a:lnTo>
                          <a:pt x="98" y="222"/>
                        </a:lnTo>
                        <a:lnTo>
                          <a:pt x="110" y="232"/>
                        </a:lnTo>
                        <a:lnTo>
                          <a:pt x="41" y="294"/>
                        </a:lnTo>
                        <a:lnTo>
                          <a:pt x="29" y="283"/>
                        </a:lnTo>
                        <a:lnTo>
                          <a:pt x="29" y="246"/>
                        </a:lnTo>
                        <a:lnTo>
                          <a:pt x="32" y="246"/>
                        </a:lnTo>
                        <a:lnTo>
                          <a:pt x="38" y="240"/>
                        </a:lnTo>
                        <a:lnTo>
                          <a:pt x="27" y="240"/>
                        </a:lnTo>
                        <a:lnTo>
                          <a:pt x="35" y="232"/>
                        </a:lnTo>
                        <a:lnTo>
                          <a:pt x="35" y="211"/>
                        </a:lnTo>
                        <a:lnTo>
                          <a:pt x="27" y="218"/>
                        </a:lnTo>
                        <a:lnTo>
                          <a:pt x="1" y="218"/>
                        </a:lnTo>
                        <a:lnTo>
                          <a:pt x="0" y="215"/>
                        </a:lnTo>
                        <a:lnTo>
                          <a:pt x="27" y="215"/>
                        </a:lnTo>
                        <a:lnTo>
                          <a:pt x="35" y="208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41" name="Rectangle 385"/>
                  <p:cNvSpPr>
                    <a:spLocks noChangeArrowheads="1"/>
                  </p:cNvSpPr>
                  <p:nvPr/>
                </p:nvSpPr>
                <p:spPr bwMode="auto">
                  <a:xfrm>
                    <a:off x="3578" y="2529"/>
                    <a:ext cx="25" cy="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42" name="Rectangle 386"/>
                  <p:cNvSpPr>
                    <a:spLocks noChangeArrowheads="1"/>
                  </p:cNvSpPr>
                  <p:nvPr/>
                </p:nvSpPr>
                <p:spPr bwMode="auto">
                  <a:xfrm>
                    <a:off x="3578" y="2529"/>
                    <a:ext cx="25" cy="3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43" name="Freeform 387"/>
                  <p:cNvSpPr>
                    <a:spLocks/>
                  </p:cNvSpPr>
                  <p:nvPr/>
                </p:nvSpPr>
                <p:spPr bwMode="auto">
                  <a:xfrm>
                    <a:off x="3579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1 w 24"/>
                      <a:gd name="T5" fmla="*/ 2 h 3"/>
                      <a:gd name="T6" fmla="*/ 1 w 24"/>
                      <a:gd name="T7" fmla="*/ 2 h 3"/>
                      <a:gd name="T8" fmla="*/ 3 w 24"/>
                      <a:gd name="T9" fmla="*/ 2 h 3"/>
                      <a:gd name="T10" fmla="*/ 5 w 24"/>
                      <a:gd name="T11" fmla="*/ 3 h 3"/>
                      <a:gd name="T12" fmla="*/ 11 w 24"/>
                      <a:gd name="T13" fmla="*/ 3 h 3"/>
                      <a:gd name="T14" fmla="*/ 17 w 24"/>
                      <a:gd name="T15" fmla="*/ 3 h 3"/>
                      <a:gd name="T16" fmla="*/ 20 w 24"/>
                      <a:gd name="T17" fmla="*/ 2 h 3"/>
                      <a:gd name="T18" fmla="*/ 21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1 h 3"/>
                      <a:gd name="T24" fmla="*/ 24 w 24"/>
                      <a:gd name="T25" fmla="*/ 0 h 3"/>
                      <a:gd name="T26" fmla="*/ 0 w 24"/>
                      <a:gd name="T27" fmla="*/ 0 h 3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4"/>
                      <a:gd name="T43" fmla="*/ 0 h 3"/>
                      <a:gd name="T44" fmla="*/ 24 w 24"/>
                      <a:gd name="T45" fmla="*/ 3 h 3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1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44" name="Freeform 388"/>
                  <p:cNvSpPr>
                    <a:spLocks/>
                  </p:cNvSpPr>
                  <p:nvPr/>
                </p:nvSpPr>
                <p:spPr bwMode="auto">
                  <a:xfrm>
                    <a:off x="3579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1 w 24"/>
                      <a:gd name="T5" fmla="*/ 2 h 3"/>
                      <a:gd name="T6" fmla="*/ 1 w 24"/>
                      <a:gd name="T7" fmla="*/ 2 h 3"/>
                      <a:gd name="T8" fmla="*/ 3 w 24"/>
                      <a:gd name="T9" fmla="*/ 2 h 3"/>
                      <a:gd name="T10" fmla="*/ 5 w 24"/>
                      <a:gd name="T11" fmla="*/ 3 h 3"/>
                      <a:gd name="T12" fmla="*/ 11 w 24"/>
                      <a:gd name="T13" fmla="*/ 3 h 3"/>
                      <a:gd name="T14" fmla="*/ 17 w 24"/>
                      <a:gd name="T15" fmla="*/ 3 h 3"/>
                      <a:gd name="T16" fmla="*/ 20 w 24"/>
                      <a:gd name="T17" fmla="*/ 2 h 3"/>
                      <a:gd name="T18" fmla="*/ 21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1 h 3"/>
                      <a:gd name="T24" fmla="*/ 24 w 24"/>
                      <a:gd name="T25" fmla="*/ 0 h 3"/>
                      <a:gd name="T26" fmla="*/ 0 w 24"/>
                      <a:gd name="T27" fmla="*/ 0 h 3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4"/>
                      <a:gd name="T43" fmla="*/ 0 h 3"/>
                      <a:gd name="T44" fmla="*/ 24 w 24"/>
                      <a:gd name="T45" fmla="*/ 3 h 3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1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45" name="Freeform 389"/>
                  <p:cNvSpPr>
                    <a:spLocks/>
                  </p:cNvSpPr>
                  <p:nvPr/>
                </p:nvSpPr>
                <p:spPr bwMode="auto">
                  <a:xfrm>
                    <a:off x="3578" y="2535"/>
                    <a:ext cx="25" cy="10"/>
                  </a:xfrm>
                  <a:custGeom>
                    <a:avLst/>
                    <a:gdLst>
                      <a:gd name="T0" fmla="*/ 21 w 25"/>
                      <a:gd name="T1" fmla="*/ 0 h 10"/>
                      <a:gd name="T2" fmla="*/ 17 w 25"/>
                      <a:gd name="T3" fmla="*/ 0 h 10"/>
                      <a:gd name="T4" fmla="*/ 12 w 25"/>
                      <a:gd name="T5" fmla="*/ 1 h 10"/>
                      <a:gd name="T6" fmla="*/ 5 w 25"/>
                      <a:gd name="T7" fmla="*/ 0 h 10"/>
                      <a:gd name="T8" fmla="*/ 3 w 25"/>
                      <a:gd name="T9" fmla="*/ 0 h 10"/>
                      <a:gd name="T10" fmla="*/ 3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2 w 25"/>
                      <a:gd name="T23" fmla="*/ 9 h 10"/>
                      <a:gd name="T24" fmla="*/ 6 w 25"/>
                      <a:gd name="T25" fmla="*/ 10 h 10"/>
                      <a:gd name="T26" fmla="*/ 12 w 25"/>
                      <a:gd name="T27" fmla="*/ 10 h 10"/>
                      <a:gd name="T28" fmla="*/ 18 w 25"/>
                      <a:gd name="T29" fmla="*/ 10 h 10"/>
                      <a:gd name="T30" fmla="*/ 21 w 25"/>
                      <a:gd name="T31" fmla="*/ 9 h 10"/>
                      <a:gd name="T32" fmla="*/ 24 w 25"/>
                      <a:gd name="T33" fmla="*/ 9 h 10"/>
                      <a:gd name="T34" fmla="*/ 25 w 25"/>
                      <a:gd name="T35" fmla="*/ 7 h 10"/>
                      <a:gd name="T36" fmla="*/ 24 w 25"/>
                      <a:gd name="T37" fmla="*/ 6 h 10"/>
                      <a:gd name="T38" fmla="*/ 22 w 25"/>
                      <a:gd name="T39" fmla="*/ 6 h 10"/>
                      <a:gd name="T40" fmla="*/ 21 w 25"/>
                      <a:gd name="T41" fmla="*/ 6 h 10"/>
                      <a:gd name="T42" fmla="*/ 21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1" y="0"/>
                        </a:moveTo>
                        <a:lnTo>
                          <a:pt x="17" y="0"/>
                        </a:lnTo>
                        <a:lnTo>
                          <a:pt x="12" y="1"/>
                        </a:lnTo>
                        <a:lnTo>
                          <a:pt x="5" y="0"/>
                        </a:lnTo>
                        <a:lnTo>
                          <a:pt x="3" y="0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2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4" y="9"/>
                        </a:lnTo>
                        <a:lnTo>
                          <a:pt x="25" y="7"/>
                        </a:lnTo>
                        <a:lnTo>
                          <a:pt x="24" y="6"/>
                        </a:ln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46" name="Freeform 390"/>
                  <p:cNvSpPr>
                    <a:spLocks/>
                  </p:cNvSpPr>
                  <p:nvPr/>
                </p:nvSpPr>
                <p:spPr bwMode="auto">
                  <a:xfrm>
                    <a:off x="3578" y="2535"/>
                    <a:ext cx="25" cy="10"/>
                  </a:xfrm>
                  <a:custGeom>
                    <a:avLst/>
                    <a:gdLst>
                      <a:gd name="T0" fmla="*/ 21 w 25"/>
                      <a:gd name="T1" fmla="*/ 0 h 10"/>
                      <a:gd name="T2" fmla="*/ 17 w 25"/>
                      <a:gd name="T3" fmla="*/ 0 h 10"/>
                      <a:gd name="T4" fmla="*/ 12 w 25"/>
                      <a:gd name="T5" fmla="*/ 1 h 10"/>
                      <a:gd name="T6" fmla="*/ 5 w 25"/>
                      <a:gd name="T7" fmla="*/ 0 h 10"/>
                      <a:gd name="T8" fmla="*/ 3 w 25"/>
                      <a:gd name="T9" fmla="*/ 0 h 10"/>
                      <a:gd name="T10" fmla="*/ 3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2 w 25"/>
                      <a:gd name="T23" fmla="*/ 9 h 10"/>
                      <a:gd name="T24" fmla="*/ 6 w 25"/>
                      <a:gd name="T25" fmla="*/ 10 h 10"/>
                      <a:gd name="T26" fmla="*/ 12 w 25"/>
                      <a:gd name="T27" fmla="*/ 10 h 10"/>
                      <a:gd name="T28" fmla="*/ 18 w 25"/>
                      <a:gd name="T29" fmla="*/ 10 h 10"/>
                      <a:gd name="T30" fmla="*/ 21 w 25"/>
                      <a:gd name="T31" fmla="*/ 9 h 10"/>
                      <a:gd name="T32" fmla="*/ 24 w 25"/>
                      <a:gd name="T33" fmla="*/ 9 h 10"/>
                      <a:gd name="T34" fmla="*/ 25 w 25"/>
                      <a:gd name="T35" fmla="*/ 7 h 10"/>
                      <a:gd name="T36" fmla="*/ 24 w 25"/>
                      <a:gd name="T37" fmla="*/ 6 h 10"/>
                      <a:gd name="T38" fmla="*/ 22 w 25"/>
                      <a:gd name="T39" fmla="*/ 6 h 10"/>
                      <a:gd name="T40" fmla="*/ 21 w 25"/>
                      <a:gd name="T41" fmla="*/ 6 h 10"/>
                      <a:gd name="T42" fmla="*/ 21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1" y="0"/>
                        </a:moveTo>
                        <a:lnTo>
                          <a:pt x="17" y="0"/>
                        </a:lnTo>
                        <a:lnTo>
                          <a:pt x="12" y="1"/>
                        </a:lnTo>
                        <a:lnTo>
                          <a:pt x="5" y="0"/>
                        </a:lnTo>
                        <a:lnTo>
                          <a:pt x="3" y="0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2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4" y="9"/>
                        </a:lnTo>
                        <a:lnTo>
                          <a:pt x="25" y="7"/>
                        </a:lnTo>
                        <a:lnTo>
                          <a:pt x="24" y="6"/>
                        </a:ln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47" name="Freeform 391"/>
                  <p:cNvSpPr>
                    <a:spLocks/>
                  </p:cNvSpPr>
                  <p:nvPr/>
                </p:nvSpPr>
                <p:spPr bwMode="auto">
                  <a:xfrm>
                    <a:off x="3578" y="2542"/>
                    <a:ext cx="25" cy="7"/>
                  </a:xfrm>
                  <a:custGeom>
                    <a:avLst/>
                    <a:gdLst>
                      <a:gd name="T0" fmla="*/ 24 w 25"/>
                      <a:gd name="T1" fmla="*/ 5 h 7"/>
                      <a:gd name="T2" fmla="*/ 22 w 25"/>
                      <a:gd name="T3" fmla="*/ 6 h 7"/>
                      <a:gd name="T4" fmla="*/ 21 w 25"/>
                      <a:gd name="T5" fmla="*/ 6 h 7"/>
                      <a:gd name="T6" fmla="*/ 17 w 25"/>
                      <a:gd name="T7" fmla="*/ 7 h 7"/>
                      <a:gd name="T8" fmla="*/ 6 w 25"/>
                      <a:gd name="T9" fmla="*/ 7 h 7"/>
                      <a:gd name="T10" fmla="*/ 3 w 25"/>
                      <a:gd name="T11" fmla="*/ 6 h 7"/>
                      <a:gd name="T12" fmla="*/ 2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2 w 25"/>
                      <a:gd name="T25" fmla="*/ 2 h 7"/>
                      <a:gd name="T26" fmla="*/ 6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1 w 25"/>
                      <a:gd name="T33" fmla="*/ 2 h 7"/>
                      <a:gd name="T34" fmla="*/ 24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4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4" y="5"/>
                        </a:move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2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lnTo>
                          <a:pt x="24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48" name="Freeform 392"/>
                  <p:cNvSpPr>
                    <a:spLocks/>
                  </p:cNvSpPr>
                  <p:nvPr/>
                </p:nvSpPr>
                <p:spPr bwMode="auto">
                  <a:xfrm>
                    <a:off x="3578" y="2542"/>
                    <a:ext cx="25" cy="7"/>
                  </a:xfrm>
                  <a:custGeom>
                    <a:avLst/>
                    <a:gdLst>
                      <a:gd name="T0" fmla="*/ 24 w 25"/>
                      <a:gd name="T1" fmla="*/ 5 h 7"/>
                      <a:gd name="T2" fmla="*/ 22 w 25"/>
                      <a:gd name="T3" fmla="*/ 6 h 7"/>
                      <a:gd name="T4" fmla="*/ 21 w 25"/>
                      <a:gd name="T5" fmla="*/ 6 h 7"/>
                      <a:gd name="T6" fmla="*/ 17 w 25"/>
                      <a:gd name="T7" fmla="*/ 7 h 7"/>
                      <a:gd name="T8" fmla="*/ 6 w 25"/>
                      <a:gd name="T9" fmla="*/ 7 h 7"/>
                      <a:gd name="T10" fmla="*/ 3 w 25"/>
                      <a:gd name="T11" fmla="*/ 6 h 7"/>
                      <a:gd name="T12" fmla="*/ 2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2 w 25"/>
                      <a:gd name="T25" fmla="*/ 2 h 7"/>
                      <a:gd name="T26" fmla="*/ 6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1 w 25"/>
                      <a:gd name="T33" fmla="*/ 2 h 7"/>
                      <a:gd name="T34" fmla="*/ 24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4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4" y="5"/>
                        </a:move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2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lnTo>
                          <a:pt x="24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49" name="Freeform 393"/>
                  <p:cNvSpPr>
                    <a:spLocks/>
                  </p:cNvSpPr>
                  <p:nvPr/>
                </p:nvSpPr>
                <p:spPr bwMode="auto">
                  <a:xfrm>
                    <a:off x="3580" y="2548"/>
                    <a:ext cx="22" cy="107"/>
                  </a:xfrm>
                  <a:custGeom>
                    <a:avLst/>
                    <a:gdLst>
                      <a:gd name="T0" fmla="*/ 22 w 22"/>
                      <a:gd name="T1" fmla="*/ 104 h 107"/>
                      <a:gd name="T2" fmla="*/ 19 w 22"/>
                      <a:gd name="T3" fmla="*/ 0 h 107"/>
                      <a:gd name="T4" fmla="*/ 15 w 22"/>
                      <a:gd name="T5" fmla="*/ 1 h 107"/>
                      <a:gd name="T6" fmla="*/ 4 w 22"/>
                      <a:gd name="T7" fmla="*/ 1 h 107"/>
                      <a:gd name="T8" fmla="*/ 2 w 22"/>
                      <a:gd name="T9" fmla="*/ 0 h 107"/>
                      <a:gd name="T10" fmla="*/ 0 w 22"/>
                      <a:gd name="T11" fmla="*/ 102 h 107"/>
                      <a:gd name="T12" fmla="*/ 0 w 22"/>
                      <a:gd name="T13" fmla="*/ 106 h 107"/>
                      <a:gd name="T14" fmla="*/ 4 w 22"/>
                      <a:gd name="T15" fmla="*/ 107 h 107"/>
                      <a:gd name="T16" fmla="*/ 11 w 22"/>
                      <a:gd name="T17" fmla="*/ 107 h 107"/>
                      <a:gd name="T18" fmla="*/ 16 w 22"/>
                      <a:gd name="T19" fmla="*/ 107 h 107"/>
                      <a:gd name="T20" fmla="*/ 22 w 22"/>
                      <a:gd name="T21" fmla="*/ 106 h 107"/>
                      <a:gd name="T22" fmla="*/ 22 w 22"/>
                      <a:gd name="T23" fmla="*/ 104 h 107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2"/>
                      <a:gd name="T37" fmla="*/ 0 h 107"/>
                      <a:gd name="T38" fmla="*/ 22 w 22"/>
                      <a:gd name="T39" fmla="*/ 107 h 107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2" h="107">
                        <a:moveTo>
                          <a:pt x="22" y="104"/>
                        </a:moveTo>
                        <a:lnTo>
                          <a:pt x="19" y="0"/>
                        </a:lnTo>
                        <a:lnTo>
                          <a:pt x="15" y="1"/>
                        </a:lnTo>
                        <a:lnTo>
                          <a:pt x="4" y="1"/>
                        </a:lnTo>
                        <a:lnTo>
                          <a:pt x="2" y="0"/>
                        </a:lnTo>
                        <a:lnTo>
                          <a:pt x="0" y="102"/>
                        </a:lnTo>
                        <a:lnTo>
                          <a:pt x="0" y="106"/>
                        </a:lnTo>
                        <a:lnTo>
                          <a:pt x="4" y="107"/>
                        </a:lnTo>
                        <a:lnTo>
                          <a:pt x="11" y="107"/>
                        </a:lnTo>
                        <a:lnTo>
                          <a:pt x="16" y="107"/>
                        </a:lnTo>
                        <a:lnTo>
                          <a:pt x="22" y="106"/>
                        </a:lnTo>
                        <a:lnTo>
                          <a:pt x="22" y="10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50" name="Freeform 394"/>
                  <p:cNvSpPr>
                    <a:spLocks/>
                  </p:cNvSpPr>
                  <p:nvPr/>
                </p:nvSpPr>
                <p:spPr bwMode="auto">
                  <a:xfrm>
                    <a:off x="3580" y="2548"/>
                    <a:ext cx="22" cy="107"/>
                  </a:xfrm>
                  <a:custGeom>
                    <a:avLst/>
                    <a:gdLst>
                      <a:gd name="T0" fmla="*/ 22 w 22"/>
                      <a:gd name="T1" fmla="*/ 104 h 107"/>
                      <a:gd name="T2" fmla="*/ 19 w 22"/>
                      <a:gd name="T3" fmla="*/ 0 h 107"/>
                      <a:gd name="T4" fmla="*/ 15 w 22"/>
                      <a:gd name="T5" fmla="*/ 1 h 107"/>
                      <a:gd name="T6" fmla="*/ 4 w 22"/>
                      <a:gd name="T7" fmla="*/ 1 h 107"/>
                      <a:gd name="T8" fmla="*/ 2 w 22"/>
                      <a:gd name="T9" fmla="*/ 0 h 107"/>
                      <a:gd name="T10" fmla="*/ 0 w 22"/>
                      <a:gd name="T11" fmla="*/ 102 h 107"/>
                      <a:gd name="T12" fmla="*/ 0 w 22"/>
                      <a:gd name="T13" fmla="*/ 106 h 107"/>
                      <a:gd name="T14" fmla="*/ 4 w 22"/>
                      <a:gd name="T15" fmla="*/ 107 h 107"/>
                      <a:gd name="T16" fmla="*/ 11 w 22"/>
                      <a:gd name="T17" fmla="*/ 107 h 107"/>
                      <a:gd name="T18" fmla="*/ 16 w 22"/>
                      <a:gd name="T19" fmla="*/ 107 h 107"/>
                      <a:gd name="T20" fmla="*/ 22 w 22"/>
                      <a:gd name="T21" fmla="*/ 106 h 107"/>
                      <a:gd name="T22" fmla="*/ 22 w 22"/>
                      <a:gd name="T23" fmla="*/ 104 h 107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2"/>
                      <a:gd name="T37" fmla="*/ 0 h 107"/>
                      <a:gd name="T38" fmla="*/ 22 w 22"/>
                      <a:gd name="T39" fmla="*/ 107 h 107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2" h="107">
                        <a:moveTo>
                          <a:pt x="22" y="104"/>
                        </a:moveTo>
                        <a:lnTo>
                          <a:pt x="19" y="0"/>
                        </a:lnTo>
                        <a:lnTo>
                          <a:pt x="15" y="1"/>
                        </a:lnTo>
                        <a:lnTo>
                          <a:pt x="4" y="1"/>
                        </a:lnTo>
                        <a:lnTo>
                          <a:pt x="2" y="0"/>
                        </a:lnTo>
                        <a:lnTo>
                          <a:pt x="0" y="102"/>
                        </a:lnTo>
                        <a:lnTo>
                          <a:pt x="0" y="106"/>
                        </a:lnTo>
                        <a:lnTo>
                          <a:pt x="4" y="107"/>
                        </a:lnTo>
                        <a:lnTo>
                          <a:pt x="11" y="107"/>
                        </a:lnTo>
                        <a:lnTo>
                          <a:pt x="16" y="107"/>
                        </a:lnTo>
                        <a:lnTo>
                          <a:pt x="22" y="106"/>
                        </a:lnTo>
                        <a:lnTo>
                          <a:pt x="22" y="10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51" name="Freeform 395"/>
                  <p:cNvSpPr>
                    <a:spLocks/>
                  </p:cNvSpPr>
                  <p:nvPr/>
                </p:nvSpPr>
                <p:spPr bwMode="auto">
                  <a:xfrm>
                    <a:off x="3648" y="2529"/>
                    <a:ext cx="5" cy="3"/>
                  </a:xfrm>
                  <a:custGeom>
                    <a:avLst/>
                    <a:gdLst>
                      <a:gd name="T0" fmla="*/ 0 w 5"/>
                      <a:gd name="T1" fmla="*/ 0 h 3"/>
                      <a:gd name="T2" fmla="*/ 0 w 5"/>
                      <a:gd name="T3" fmla="*/ 3 h 3"/>
                      <a:gd name="T4" fmla="*/ 5 w 5"/>
                      <a:gd name="T5" fmla="*/ 0 h 3"/>
                      <a:gd name="T6" fmla="*/ 0 w 5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"/>
                      <a:gd name="T13" fmla="*/ 0 h 3"/>
                      <a:gd name="T14" fmla="*/ 5 w 5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52" name="Freeform 396"/>
                  <p:cNvSpPr>
                    <a:spLocks/>
                  </p:cNvSpPr>
                  <p:nvPr/>
                </p:nvSpPr>
                <p:spPr bwMode="auto">
                  <a:xfrm>
                    <a:off x="3648" y="2529"/>
                    <a:ext cx="5" cy="3"/>
                  </a:xfrm>
                  <a:custGeom>
                    <a:avLst/>
                    <a:gdLst>
                      <a:gd name="T0" fmla="*/ 0 w 5"/>
                      <a:gd name="T1" fmla="*/ 0 h 3"/>
                      <a:gd name="T2" fmla="*/ 0 w 5"/>
                      <a:gd name="T3" fmla="*/ 3 h 3"/>
                      <a:gd name="T4" fmla="*/ 5 w 5"/>
                      <a:gd name="T5" fmla="*/ 0 h 3"/>
                      <a:gd name="T6" fmla="*/ 0 w 5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"/>
                      <a:gd name="T13" fmla="*/ 0 h 3"/>
                      <a:gd name="T14" fmla="*/ 5 w 5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5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53" name="Freeform 397"/>
                  <p:cNvSpPr>
                    <a:spLocks/>
                  </p:cNvSpPr>
                  <p:nvPr/>
                </p:nvSpPr>
                <p:spPr bwMode="auto">
                  <a:xfrm>
                    <a:off x="3623" y="2529"/>
                    <a:ext cx="25" cy="3"/>
                  </a:xfrm>
                  <a:custGeom>
                    <a:avLst/>
                    <a:gdLst>
                      <a:gd name="T0" fmla="*/ 0 w 25"/>
                      <a:gd name="T1" fmla="*/ 0 h 3"/>
                      <a:gd name="T2" fmla="*/ 0 w 25"/>
                      <a:gd name="T3" fmla="*/ 3 h 3"/>
                      <a:gd name="T4" fmla="*/ 25 w 25"/>
                      <a:gd name="T5" fmla="*/ 3 h 3"/>
                      <a:gd name="T6" fmla="*/ 25 w 25"/>
                      <a:gd name="T7" fmla="*/ 0 h 3"/>
                      <a:gd name="T8" fmla="*/ 0 w 25"/>
                      <a:gd name="T9" fmla="*/ 0 h 3"/>
                      <a:gd name="T10" fmla="*/ 0 w 25"/>
                      <a:gd name="T11" fmla="*/ 0 h 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"/>
                      <a:gd name="T19" fmla="*/ 0 h 3"/>
                      <a:gd name="T20" fmla="*/ 25 w 25"/>
                      <a:gd name="T21" fmla="*/ 3 h 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25" y="3"/>
                        </a:lnTo>
                        <a:lnTo>
                          <a:pt x="2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54" name="Rectangle 398"/>
                  <p:cNvSpPr>
                    <a:spLocks noChangeArrowheads="1"/>
                  </p:cNvSpPr>
                  <p:nvPr/>
                </p:nvSpPr>
                <p:spPr bwMode="auto">
                  <a:xfrm>
                    <a:off x="3623" y="2529"/>
                    <a:ext cx="25" cy="3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55" name="Freeform 399"/>
                  <p:cNvSpPr>
                    <a:spLocks/>
                  </p:cNvSpPr>
                  <p:nvPr/>
                </p:nvSpPr>
                <p:spPr bwMode="auto">
                  <a:xfrm>
                    <a:off x="3624" y="2532"/>
                    <a:ext cx="22" cy="3"/>
                  </a:xfrm>
                  <a:custGeom>
                    <a:avLst/>
                    <a:gdLst>
                      <a:gd name="T0" fmla="*/ 0 w 22"/>
                      <a:gd name="T1" fmla="*/ 0 h 3"/>
                      <a:gd name="T2" fmla="*/ 0 w 22"/>
                      <a:gd name="T3" fmla="*/ 2 h 3"/>
                      <a:gd name="T4" fmla="*/ 1 w 22"/>
                      <a:gd name="T5" fmla="*/ 2 h 3"/>
                      <a:gd name="T6" fmla="*/ 2 w 22"/>
                      <a:gd name="T7" fmla="*/ 2 h 3"/>
                      <a:gd name="T8" fmla="*/ 5 w 22"/>
                      <a:gd name="T9" fmla="*/ 3 h 3"/>
                      <a:gd name="T10" fmla="*/ 11 w 22"/>
                      <a:gd name="T11" fmla="*/ 3 h 3"/>
                      <a:gd name="T12" fmla="*/ 17 w 22"/>
                      <a:gd name="T13" fmla="*/ 3 h 3"/>
                      <a:gd name="T14" fmla="*/ 19 w 22"/>
                      <a:gd name="T15" fmla="*/ 2 h 3"/>
                      <a:gd name="T16" fmla="*/ 21 w 22"/>
                      <a:gd name="T17" fmla="*/ 2 h 3"/>
                      <a:gd name="T18" fmla="*/ 22 w 22"/>
                      <a:gd name="T19" fmla="*/ 1 h 3"/>
                      <a:gd name="T20" fmla="*/ 22 w 22"/>
                      <a:gd name="T21" fmla="*/ 0 h 3"/>
                      <a:gd name="T22" fmla="*/ 0 w 22"/>
                      <a:gd name="T23" fmla="*/ 0 h 3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2"/>
                      <a:gd name="T37" fmla="*/ 0 h 3"/>
                      <a:gd name="T38" fmla="*/ 22 w 22"/>
                      <a:gd name="T39" fmla="*/ 3 h 3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2" h="3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2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19" y="2"/>
                        </a:lnTo>
                        <a:lnTo>
                          <a:pt x="21" y="2"/>
                        </a:lnTo>
                        <a:lnTo>
                          <a:pt x="22" y="1"/>
                        </a:lnTo>
                        <a:lnTo>
                          <a:pt x="2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56" name="Freeform 400"/>
                  <p:cNvSpPr>
                    <a:spLocks/>
                  </p:cNvSpPr>
                  <p:nvPr/>
                </p:nvSpPr>
                <p:spPr bwMode="auto">
                  <a:xfrm>
                    <a:off x="3624" y="2532"/>
                    <a:ext cx="22" cy="3"/>
                  </a:xfrm>
                  <a:custGeom>
                    <a:avLst/>
                    <a:gdLst>
                      <a:gd name="T0" fmla="*/ 0 w 22"/>
                      <a:gd name="T1" fmla="*/ 0 h 3"/>
                      <a:gd name="T2" fmla="*/ 0 w 22"/>
                      <a:gd name="T3" fmla="*/ 2 h 3"/>
                      <a:gd name="T4" fmla="*/ 1 w 22"/>
                      <a:gd name="T5" fmla="*/ 2 h 3"/>
                      <a:gd name="T6" fmla="*/ 2 w 22"/>
                      <a:gd name="T7" fmla="*/ 2 h 3"/>
                      <a:gd name="T8" fmla="*/ 5 w 22"/>
                      <a:gd name="T9" fmla="*/ 3 h 3"/>
                      <a:gd name="T10" fmla="*/ 11 w 22"/>
                      <a:gd name="T11" fmla="*/ 3 h 3"/>
                      <a:gd name="T12" fmla="*/ 17 w 22"/>
                      <a:gd name="T13" fmla="*/ 3 h 3"/>
                      <a:gd name="T14" fmla="*/ 19 w 22"/>
                      <a:gd name="T15" fmla="*/ 2 h 3"/>
                      <a:gd name="T16" fmla="*/ 21 w 22"/>
                      <a:gd name="T17" fmla="*/ 2 h 3"/>
                      <a:gd name="T18" fmla="*/ 22 w 22"/>
                      <a:gd name="T19" fmla="*/ 1 h 3"/>
                      <a:gd name="T20" fmla="*/ 22 w 22"/>
                      <a:gd name="T21" fmla="*/ 0 h 3"/>
                      <a:gd name="T22" fmla="*/ 0 w 22"/>
                      <a:gd name="T23" fmla="*/ 0 h 3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2"/>
                      <a:gd name="T37" fmla="*/ 0 h 3"/>
                      <a:gd name="T38" fmla="*/ 22 w 22"/>
                      <a:gd name="T39" fmla="*/ 3 h 3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2" h="3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2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19" y="2"/>
                        </a:lnTo>
                        <a:lnTo>
                          <a:pt x="21" y="2"/>
                        </a:lnTo>
                        <a:lnTo>
                          <a:pt x="22" y="1"/>
                        </a:lnTo>
                        <a:lnTo>
                          <a:pt x="22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57" name="Freeform 401"/>
                  <p:cNvSpPr>
                    <a:spLocks/>
                  </p:cNvSpPr>
                  <p:nvPr/>
                </p:nvSpPr>
                <p:spPr bwMode="auto">
                  <a:xfrm>
                    <a:off x="3623" y="2535"/>
                    <a:ext cx="25" cy="10"/>
                  </a:xfrm>
                  <a:custGeom>
                    <a:avLst/>
                    <a:gdLst>
                      <a:gd name="T0" fmla="*/ 20 w 25"/>
                      <a:gd name="T1" fmla="*/ 0 h 10"/>
                      <a:gd name="T2" fmla="*/ 18 w 25"/>
                      <a:gd name="T3" fmla="*/ 0 h 10"/>
                      <a:gd name="T4" fmla="*/ 12 w 25"/>
                      <a:gd name="T5" fmla="*/ 1 h 10"/>
                      <a:gd name="T6" fmla="*/ 6 w 25"/>
                      <a:gd name="T7" fmla="*/ 0 h 10"/>
                      <a:gd name="T8" fmla="*/ 4 w 25"/>
                      <a:gd name="T9" fmla="*/ 0 h 10"/>
                      <a:gd name="T10" fmla="*/ 4 w 25"/>
                      <a:gd name="T11" fmla="*/ 6 h 10"/>
                      <a:gd name="T12" fmla="*/ 2 w 25"/>
                      <a:gd name="T13" fmla="*/ 6 h 10"/>
                      <a:gd name="T14" fmla="*/ 1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7 h 10"/>
                      <a:gd name="T20" fmla="*/ 0 w 25"/>
                      <a:gd name="T21" fmla="*/ 9 h 10"/>
                      <a:gd name="T22" fmla="*/ 1 w 25"/>
                      <a:gd name="T23" fmla="*/ 9 h 10"/>
                      <a:gd name="T24" fmla="*/ 3 w 25"/>
                      <a:gd name="T25" fmla="*/ 9 h 10"/>
                      <a:gd name="T26" fmla="*/ 6 w 25"/>
                      <a:gd name="T27" fmla="*/ 10 h 10"/>
                      <a:gd name="T28" fmla="*/ 12 w 25"/>
                      <a:gd name="T29" fmla="*/ 10 h 10"/>
                      <a:gd name="T30" fmla="*/ 18 w 25"/>
                      <a:gd name="T31" fmla="*/ 10 h 10"/>
                      <a:gd name="T32" fmla="*/ 21 w 25"/>
                      <a:gd name="T33" fmla="*/ 9 h 10"/>
                      <a:gd name="T34" fmla="*/ 23 w 25"/>
                      <a:gd name="T35" fmla="*/ 9 h 10"/>
                      <a:gd name="T36" fmla="*/ 25 w 25"/>
                      <a:gd name="T37" fmla="*/ 7 h 10"/>
                      <a:gd name="T38" fmla="*/ 23 w 25"/>
                      <a:gd name="T39" fmla="*/ 6 h 10"/>
                      <a:gd name="T40" fmla="*/ 22 w 25"/>
                      <a:gd name="T41" fmla="*/ 6 h 10"/>
                      <a:gd name="T42" fmla="*/ 20 w 25"/>
                      <a:gd name="T43" fmla="*/ 6 h 10"/>
                      <a:gd name="T44" fmla="*/ 20 w 25"/>
                      <a:gd name="T45" fmla="*/ 0 h 10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5"/>
                      <a:gd name="T70" fmla="*/ 0 h 10"/>
                      <a:gd name="T71" fmla="*/ 25 w 25"/>
                      <a:gd name="T72" fmla="*/ 10 h 10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5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1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3" y="9"/>
                        </a:lnTo>
                        <a:lnTo>
                          <a:pt x="25" y="7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58" name="Freeform 402"/>
                  <p:cNvSpPr>
                    <a:spLocks/>
                  </p:cNvSpPr>
                  <p:nvPr/>
                </p:nvSpPr>
                <p:spPr bwMode="auto">
                  <a:xfrm>
                    <a:off x="3623" y="2535"/>
                    <a:ext cx="25" cy="10"/>
                  </a:xfrm>
                  <a:custGeom>
                    <a:avLst/>
                    <a:gdLst>
                      <a:gd name="T0" fmla="*/ 20 w 25"/>
                      <a:gd name="T1" fmla="*/ 0 h 10"/>
                      <a:gd name="T2" fmla="*/ 18 w 25"/>
                      <a:gd name="T3" fmla="*/ 0 h 10"/>
                      <a:gd name="T4" fmla="*/ 12 w 25"/>
                      <a:gd name="T5" fmla="*/ 1 h 10"/>
                      <a:gd name="T6" fmla="*/ 6 w 25"/>
                      <a:gd name="T7" fmla="*/ 0 h 10"/>
                      <a:gd name="T8" fmla="*/ 4 w 25"/>
                      <a:gd name="T9" fmla="*/ 0 h 10"/>
                      <a:gd name="T10" fmla="*/ 4 w 25"/>
                      <a:gd name="T11" fmla="*/ 6 h 10"/>
                      <a:gd name="T12" fmla="*/ 2 w 25"/>
                      <a:gd name="T13" fmla="*/ 6 h 10"/>
                      <a:gd name="T14" fmla="*/ 1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7 h 10"/>
                      <a:gd name="T20" fmla="*/ 0 w 25"/>
                      <a:gd name="T21" fmla="*/ 9 h 10"/>
                      <a:gd name="T22" fmla="*/ 1 w 25"/>
                      <a:gd name="T23" fmla="*/ 9 h 10"/>
                      <a:gd name="T24" fmla="*/ 3 w 25"/>
                      <a:gd name="T25" fmla="*/ 9 h 10"/>
                      <a:gd name="T26" fmla="*/ 6 w 25"/>
                      <a:gd name="T27" fmla="*/ 10 h 10"/>
                      <a:gd name="T28" fmla="*/ 12 w 25"/>
                      <a:gd name="T29" fmla="*/ 10 h 10"/>
                      <a:gd name="T30" fmla="*/ 18 w 25"/>
                      <a:gd name="T31" fmla="*/ 10 h 10"/>
                      <a:gd name="T32" fmla="*/ 21 w 25"/>
                      <a:gd name="T33" fmla="*/ 9 h 10"/>
                      <a:gd name="T34" fmla="*/ 23 w 25"/>
                      <a:gd name="T35" fmla="*/ 9 h 10"/>
                      <a:gd name="T36" fmla="*/ 25 w 25"/>
                      <a:gd name="T37" fmla="*/ 7 h 10"/>
                      <a:gd name="T38" fmla="*/ 23 w 25"/>
                      <a:gd name="T39" fmla="*/ 6 h 10"/>
                      <a:gd name="T40" fmla="*/ 22 w 25"/>
                      <a:gd name="T41" fmla="*/ 6 h 10"/>
                      <a:gd name="T42" fmla="*/ 20 w 25"/>
                      <a:gd name="T43" fmla="*/ 6 h 10"/>
                      <a:gd name="T44" fmla="*/ 20 w 25"/>
                      <a:gd name="T45" fmla="*/ 0 h 10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5"/>
                      <a:gd name="T70" fmla="*/ 0 h 10"/>
                      <a:gd name="T71" fmla="*/ 25 w 25"/>
                      <a:gd name="T72" fmla="*/ 10 h 10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5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1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3" y="9"/>
                        </a:lnTo>
                        <a:lnTo>
                          <a:pt x="25" y="7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59" name="Freeform 403"/>
                  <p:cNvSpPr>
                    <a:spLocks/>
                  </p:cNvSpPr>
                  <p:nvPr/>
                </p:nvSpPr>
                <p:spPr bwMode="auto">
                  <a:xfrm>
                    <a:off x="3623" y="2542"/>
                    <a:ext cx="25" cy="7"/>
                  </a:xfrm>
                  <a:custGeom>
                    <a:avLst/>
                    <a:gdLst>
                      <a:gd name="T0" fmla="*/ 23 w 25"/>
                      <a:gd name="T1" fmla="*/ 5 h 7"/>
                      <a:gd name="T2" fmla="*/ 21 w 25"/>
                      <a:gd name="T3" fmla="*/ 6 h 7"/>
                      <a:gd name="T4" fmla="*/ 20 w 25"/>
                      <a:gd name="T5" fmla="*/ 6 h 7"/>
                      <a:gd name="T6" fmla="*/ 17 w 25"/>
                      <a:gd name="T7" fmla="*/ 7 h 7"/>
                      <a:gd name="T8" fmla="*/ 6 w 25"/>
                      <a:gd name="T9" fmla="*/ 7 h 7"/>
                      <a:gd name="T10" fmla="*/ 4 w 25"/>
                      <a:gd name="T11" fmla="*/ 6 h 7"/>
                      <a:gd name="T12" fmla="*/ 3 w 25"/>
                      <a:gd name="T13" fmla="*/ 6 h 7"/>
                      <a:gd name="T14" fmla="*/ 1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1 w 25"/>
                      <a:gd name="T23" fmla="*/ 2 h 7"/>
                      <a:gd name="T24" fmla="*/ 3 w 25"/>
                      <a:gd name="T25" fmla="*/ 2 h 7"/>
                      <a:gd name="T26" fmla="*/ 6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1 w 25"/>
                      <a:gd name="T33" fmla="*/ 2 h 7"/>
                      <a:gd name="T34" fmla="*/ 23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3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3" y="5"/>
                        </a:moveTo>
                        <a:lnTo>
                          <a:pt x="21" y="6"/>
                        </a:lnTo>
                        <a:lnTo>
                          <a:pt x="20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lnTo>
                          <a:pt x="23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60" name="Freeform 404"/>
                  <p:cNvSpPr>
                    <a:spLocks/>
                  </p:cNvSpPr>
                  <p:nvPr/>
                </p:nvSpPr>
                <p:spPr bwMode="auto">
                  <a:xfrm>
                    <a:off x="3623" y="2542"/>
                    <a:ext cx="25" cy="7"/>
                  </a:xfrm>
                  <a:custGeom>
                    <a:avLst/>
                    <a:gdLst>
                      <a:gd name="T0" fmla="*/ 23 w 25"/>
                      <a:gd name="T1" fmla="*/ 5 h 7"/>
                      <a:gd name="T2" fmla="*/ 21 w 25"/>
                      <a:gd name="T3" fmla="*/ 6 h 7"/>
                      <a:gd name="T4" fmla="*/ 20 w 25"/>
                      <a:gd name="T5" fmla="*/ 6 h 7"/>
                      <a:gd name="T6" fmla="*/ 17 w 25"/>
                      <a:gd name="T7" fmla="*/ 7 h 7"/>
                      <a:gd name="T8" fmla="*/ 6 w 25"/>
                      <a:gd name="T9" fmla="*/ 7 h 7"/>
                      <a:gd name="T10" fmla="*/ 4 w 25"/>
                      <a:gd name="T11" fmla="*/ 6 h 7"/>
                      <a:gd name="T12" fmla="*/ 3 w 25"/>
                      <a:gd name="T13" fmla="*/ 6 h 7"/>
                      <a:gd name="T14" fmla="*/ 1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1 w 25"/>
                      <a:gd name="T23" fmla="*/ 2 h 7"/>
                      <a:gd name="T24" fmla="*/ 3 w 25"/>
                      <a:gd name="T25" fmla="*/ 2 h 7"/>
                      <a:gd name="T26" fmla="*/ 6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1 w 25"/>
                      <a:gd name="T33" fmla="*/ 2 h 7"/>
                      <a:gd name="T34" fmla="*/ 23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3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3" y="5"/>
                        </a:moveTo>
                        <a:lnTo>
                          <a:pt x="21" y="6"/>
                        </a:lnTo>
                        <a:lnTo>
                          <a:pt x="20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lnTo>
                          <a:pt x="23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61" name="Freeform 405"/>
                  <p:cNvSpPr>
                    <a:spLocks/>
                  </p:cNvSpPr>
                  <p:nvPr/>
                </p:nvSpPr>
                <p:spPr bwMode="auto">
                  <a:xfrm>
                    <a:off x="3622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3 w 27"/>
                      <a:gd name="T5" fmla="*/ 126 h 128"/>
                      <a:gd name="T6" fmla="*/ 20 w 27"/>
                      <a:gd name="T7" fmla="*/ 127 h 128"/>
                      <a:gd name="T8" fmla="*/ 18 w 27"/>
                      <a:gd name="T9" fmla="*/ 127 h 128"/>
                      <a:gd name="T10" fmla="*/ 14 w 27"/>
                      <a:gd name="T11" fmla="*/ 128 h 128"/>
                      <a:gd name="T12" fmla="*/ 12 w 27"/>
                      <a:gd name="T13" fmla="*/ 128 h 128"/>
                      <a:gd name="T14" fmla="*/ 8 w 27"/>
                      <a:gd name="T15" fmla="*/ 127 h 128"/>
                      <a:gd name="T16" fmla="*/ 5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5 w 27"/>
                      <a:gd name="T31" fmla="*/ 0 h 128"/>
                      <a:gd name="T32" fmla="*/ 7 w 27"/>
                      <a:gd name="T33" fmla="*/ 1 h 128"/>
                      <a:gd name="T34" fmla="*/ 18 w 27"/>
                      <a:gd name="T35" fmla="*/ 1 h 128"/>
                      <a:gd name="T36" fmla="*/ 21 w 27"/>
                      <a:gd name="T37" fmla="*/ 0 h 128"/>
                      <a:gd name="T38" fmla="*/ 23 w 27"/>
                      <a:gd name="T39" fmla="*/ 124 h 128"/>
                      <a:gd name="T40" fmla="*/ 24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27 w 27"/>
                      <a:gd name="T47" fmla="*/ 125 h 128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w 27"/>
                      <a:gd name="T73" fmla="*/ 0 h 128"/>
                      <a:gd name="T74" fmla="*/ 27 w 27"/>
                      <a:gd name="T75" fmla="*/ 128 h 128"/>
                    </a:gdLst>
                    <a:ahLst/>
                    <a:cxnLst>
                      <a:cxn ang="T48">
                        <a:pos x="T0" y="T1"/>
                      </a:cxn>
                      <a:cxn ang="T49">
                        <a:pos x="T2" y="T3"/>
                      </a:cxn>
                      <a:cxn ang="T50">
                        <a:pos x="T4" y="T5"/>
                      </a:cxn>
                      <a:cxn ang="T51">
                        <a:pos x="T6" y="T7"/>
                      </a:cxn>
                      <a:cxn ang="T52">
                        <a:pos x="T8" y="T9"/>
                      </a:cxn>
                      <a:cxn ang="T53">
                        <a:pos x="T10" y="T11"/>
                      </a:cxn>
                      <a:cxn ang="T54">
                        <a:pos x="T12" y="T13"/>
                      </a:cxn>
                      <a:cxn ang="T55">
                        <a:pos x="T14" y="T15"/>
                      </a:cxn>
                      <a:cxn ang="T56">
                        <a:pos x="T16" y="T17"/>
                      </a:cxn>
                      <a:cxn ang="T57">
                        <a:pos x="T18" y="T19"/>
                      </a:cxn>
                      <a:cxn ang="T58">
                        <a:pos x="T20" y="T21"/>
                      </a:cxn>
                      <a:cxn ang="T59">
                        <a:pos x="T22" y="T23"/>
                      </a:cxn>
                      <a:cxn ang="T60">
                        <a:pos x="T24" y="T25"/>
                      </a:cxn>
                      <a:cxn ang="T61">
                        <a:pos x="T26" y="T27"/>
                      </a:cxn>
                      <a:cxn ang="T62">
                        <a:pos x="T28" y="T29"/>
                      </a:cxn>
                      <a:cxn ang="T63">
                        <a:pos x="T30" y="T31"/>
                      </a:cxn>
                      <a:cxn ang="T64">
                        <a:pos x="T32" y="T33"/>
                      </a:cxn>
                      <a:cxn ang="T65">
                        <a:pos x="T34" y="T35"/>
                      </a:cxn>
                      <a:cxn ang="T66">
                        <a:pos x="T36" y="T37"/>
                      </a:cxn>
                      <a:cxn ang="T67">
                        <a:pos x="T38" y="T39"/>
                      </a:cxn>
                      <a:cxn ang="T68">
                        <a:pos x="T40" y="T41"/>
                      </a:cxn>
                      <a:cxn ang="T69">
                        <a:pos x="T42" y="T43"/>
                      </a:cxn>
                      <a:cxn ang="T70">
                        <a:pos x="T44" y="T45"/>
                      </a:cxn>
                      <a:cxn ang="T71">
                        <a:pos x="T46" y="T47"/>
                      </a:cxn>
                    </a:cxnLst>
                    <a:rect l="T72" t="T73" r="T74" b="T75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3" y="126"/>
                        </a:lnTo>
                        <a:lnTo>
                          <a:pt x="20" y="127"/>
                        </a:lnTo>
                        <a:lnTo>
                          <a:pt x="18" y="127"/>
                        </a:lnTo>
                        <a:lnTo>
                          <a:pt x="14" y="128"/>
                        </a:lnTo>
                        <a:lnTo>
                          <a:pt x="12" y="128"/>
                        </a:lnTo>
                        <a:lnTo>
                          <a:pt x="8" y="127"/>
                        </a:lnTo>
                        <a:lnTo>
                          <a:pt x="5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5" y="0"/>
                        </a:lnTo>
                        <a:lnTo>
                          <a:pt x="7" y="1"/>
                        </a:lnTo>
                        <a:lnTo>
                          <a:pt x="18" y="1"/>
                        </a:lnTo>
                        <a:lnTo>
                          <a:pt x="21" y="0"/>
                        </a:lnTo>
                        <a:lnTo>
                          <a:pt x="23" y="124"/>
                        </a:lnTo>
                        <a:lnTo>
                          <a:pt x="24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62" name="Freeform 406"/>
                  <p:cNvSpPr>
                    <a:spLocks/>
                  </p:cNvSpPr>
                  <p:nvPr/>
                </p:nvSpPr>
                <p:spPr bwMode="auto">
                  <a:xfrm>
                    <a:off x="3622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3 w 27"/>
                      <a:gd name="T5" fmla="*/ 126 h 128"/>
                      <a:gd name="T6" fmla="*/ 20 w 27"/>
                      <a:gd name="T7" fmla="*/ 127 h 128"/>
                      <a:gd name="T8" fmla="*/ 18 w 27"/>
                      <a:gd name="T9" fmla="*/ 127 h 128"/>
                      <a:gd name="T10" fmla="*/ 14 w 27"/>
                      <a:gd name="T11" fmla="*/ 128 h 128"/>
                      <a:gd name="T12" fmla="*/ 12 w 27"/>
                      <a:gd name="T13" fmla="*/ 128 h 128"/>
                      <a:gd name="T14" fmla="*/ 8 w 27"/>
                      <a:gd name="T15" fmla="*/ 127 h 128"/>
                      <a:gd name="T16" fmla="*/ 5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5 w 27"/>
                      <a:gd name="T31" fmla="*/ 0 h 128"/>
                      <a:gd name="T32" fmla="*/ 7 w 27"/>
                      <a:gd name="T33" fmla="*/ 1 h 128"/>
                      <a:gd name="T34" fmla="*/ 18 w 27"/>
                      <a:gd name="T35" fmla="*/ 1 h 128"/>
                      <a:gd name="T36" fmla="*/ 21 w 27"/>
                      <a:gd name="T37" fmla="*/ 0 h 128"/>
                      <a:gd name="T38" fmla="*/ 23 w 27"/>
                      <a:gd name="T39" fmla="*/ 124 h 128"/>
                      <a:gd name="T40" fmla="*/ 24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3" y="126"/>
                        </a:lnTo>
                        <a:lnTo>
                          <a:pt x="20" y="127"/>
                        </a:lnTo>
                        <a:lnTo>
                          <a:pt x="18" y="127"/>
                        </a:lnTo>
                        <a:lnTo>
                          <a:pt x="14" y="128"/>
                        </a:lnTo>
                        <a:lnTo>
                          <a:pt x="12" y="128"/>
                        </a:lnTo>
                        <a:lnTo>
                          <a:pt x="8" y="127"/>
                        </a:lnTo>
                        <a:lnTo>
                          <a:pt x="5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5" y="0"/>
                        </a:lnTo>
                        <a:lnTo>
                          <a:pt x="7" y="1"/>
                        </a:lnTo>
                        <a:lnTo>
                          <a:pt x="18" y="1"/>
                        </a:lnTo>
                        <a:lnTo>
                          <a:pt x="21" y="0"/>
                        </a:lnTo>
                        <a:lnTo>
                          <a:pt x="23" y="124"/>
                        </a:lnTo>
                        <a:lnTo>
                          <a:pt x="24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63" name="Freeform 407"/>
                  <p:cNvSpPr>
                    <a:spLocks/>
                  </p:cNvSpPr>
                  <p:nvPr/>
                </p:nvSpPr>
                <p:spPr bwMode="auto">
                  <a:xfrm>
                    <a:off x="3622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5 w 27"/>
                      <a:gd name="T7" fmla="*/ 2 h 7"/>
                      <a:gd name="T8" fmla="*/ 8 w 27"/>
                      <a:gd name="T9" fmla="*/ 3 h 7"/>
                      <a:gd name="T10" fmla="*/ 12 w 27"/>
                      <a:gd name="T11" fmla="*/ 3 h 7"/>
                      <a:gd name="T12" fmla="*/ 15 w 27"/>
                      <a:gd name="T13" fmla="*/ 3 h 7"/>
                      <a:gd name="T14" fmla="*/ 18 w 27"/>
                      <a:gd name="T15" fmla="*/ 3 h 7"/>
                      <a:gd name="T16" fmla="*/ 20 w 27"/>
                      <a:gd name="T17" fmla="*/ 2 h 7"/>
                      <a:gd name="T18" fmla="*/ 23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3 w 27"/>
                      <a:gd name="T29" fmla="*/ 5 h 7"/>
                      <a:gd name="T30" fmla="*/ 20 w 27"/>
                      <a:gd name="T31" fmla="*/ 6 h 7"/>
                      <a:gd name="T32" fmla="*/ 18 w 27"/>
                      <a:gd name="T33" fmla="*/ 7 h 7"/>
                      <a:gd name="T34" fmla="*/ 15 w 27"/>
                      <a:gd name="T35" fmla="*/ 7 h 7"/>
                      <a:gd name="T36" fmla="*/ 12 w 27"/>
                      <a:gd name="T37" fmla="*/ 7 h 7"/>
                      <a:gd name="T38" fmla="*/ 8 w 27"/>
                      <a:gd name="T39" fmla="*/ 7 h 7"/>
                      <a:gd name="T40" fmla="*/ 5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w 27"/>
                      <a:gd name="T51" fmla="*/ 0 h 7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w 27"/>
                      <a:gd name="T79" fmla="*/ 0 h 7"/>
                      <a:gd name="T80" fmla="*/ 27 w 27"/>
                      <a:gd name="T81" fmla="*/ 7 h 7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T78" t="T79" r="T80" b="T81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5" y="2"/>
                        </a:lnTo>
                        <a:lnTo>
                          <a:pt x="8" y="3"/>
                        </a:lnTo>
                        <a:lnTo>
                          <a:pt x="12" y="3"/>
                        </a:lnTo>
                        <a:lnTo>
                          <a:pt x="15" y="3"/>
                        </a:lnTo>
                        <a:lnTo>
                          <a:pt x="18" y="3"/>
                        </a:lnTo>
                        <a:lnTo>
                          <a:pt x="20" y="2"/>
                        </a:lnTo>
                        <a:lnTo>
                          <a:pt x="23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3" y="5"/>
                        </a:lnTo>
                        <a:lnTo>
                          <a:pt x="20" y="6"/>
                        </a:lnTo>
                        <a:lnTo>
                          <a:pt x="18" y="7"/>
                        </a:lnTo>
                        <a:lnTo>
                          <a:pt x="15" y="7"/>
                        </a:lnTo>
                        <a:lnTo>
                          <a:pt x="12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64" name="Freeform 408"/>
                  <p:cNvSpPr>
                    <a:spLocks/>
                  </p:cNvSpPr>
                  <p:nvPr/>
                </p:nvSpPr>
                <p:spPr bwMode="auto">
                  <a:xfrm>
                    <a:off x="3622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5 w 27"/>
                      <a:gd name="T7" fmla="*/ 2 h 7"/>
                      <a:gd name="T8" fmla="*/ 8 w 27"/>
                      <a:gd name="T9" fmla="*/ 3 h 7"/>
                      <a:gd name="T10" fmla="*/ 12 w 27"/>
                      <a:gd name="T11" fmla="*/ 3 h 7"/>
                      <a:gd name="T12" fmla="*/ 15 w 27"/>
                      <a:gd name="T13" fmla="*/ 3 h 7"/>
                      <a:gd name="T14" fmla="*/ 18 w 27"/>
                      <a:gd name="T15" fmla="*/ 3 h 7"/>
                      <a:gd name="T16" fmla="*/ 20 w 27"/>
                      <a:gd name="T17" fmla="*/ 2 h 7"/>
                      <a:gd name="T18" fmla="*/ 23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3 w 27"/>
                      <a:gd name="T29" fmla="*/ 5 h 7"/>
                      <a:gd name="T30" fmla="*/ 20 w 27"/>
                      <a:gd name="T31" fmla="*/ 6 h 7"/>
                      <a:gd name="T32" fmla="*/ 18 w 27"/>
                      <a:gd name="T33" fmla="*/ 7 h 7"/>
                      <a:gd name="T34" fmla="*/ 15 w 27"/>
                      <a:gd name="T35" fmla="*/ 7 h 7"/>
                      <a:gd name="T36" fmla="*/ 12 w 27"/>
                      <a:gd name="T37" fmla="*/ 7 h 7"/>
                      <a:gd name="T38" fmla="*/ 8 w 27"/>
                      <a:gd name="T39" fmla="*/ 7 h 7"/>
                      <a:gd name="T40" fmla="*/ 5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5" y="2"/>
                        </a:lnTo>
                        <a:lnTo>
                          <a:pt x="8" y="3"/>
                        </a:lnTo>
                        <a:lnTo>
                          <a:pt x="12" y="3"/>
                        </a:lnTo>
                        <a:lnTo>
                          <a:pt x="15" y="3"/>
                        </a:lnTo>
                        <a:lnTo>
                          <a:pt x="18" y="3"/>
                        </a:lnTo>
                        <a:lnTo>
                          <a:pt x="20" y="2"/>
                        </a:lnTo>
                        <a:lnTo>
                          <a:pt x="23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3" y="5"/>
                        </a:lnTo>
                        <a:lnTo>
                          <a:pt x="20" y="6"/>
                        </a:lnTo>
                        <a:lnTo>
                          <a:pt x="18" y="7"/>
                        </a:lnTo>
                        <a:lnTo>
                          <a:pt x="15" y="7"/>
                        </a:lnTo>
                        <a:lnTo>
                          <a:pt x="12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65" name="Freeform 409"/>
                  <p:cNvSpPr>
                    <a:spLocks/>
                  </p:cNvSpPr>
                  <p:nvPr/>
                </p:nvSpPr>
                <p:spPr bwMode="auto">
                  <a:xfrm>
                    <a:off x="3690" y="2529"/>
                    <a:ext cx="7" cy="3"/>
                  </a:xfrm>
                  <a:custGeom>
                    <a:avLst/>
                    <a:gdLst>
                      <a:gd name="T0" fmla="*/ 0 w 7"/>
                      <a:gd name="T1" fmla="*/ 0 h 3"/>
                      <a:gd name="T2" fmla="*/ 0 w 7"/>
                      <a:gd name="T3" fmla="*/ 3 h 3"/>
                      <a:gd name="T4" fmla="*/ 7 w 7"/>
                      <a:gd name="T5" fmla="*/ 0 h 3"/>
                      <a:gd name="T6" fmla="*/ 0 w 7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7"/>
                      <a:gd name="T13" fmla="*/ 0 h 3"/>
                      <a:gd name="T14" fmla="*/ 7 w 7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7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7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66" name="Freeform 410"/>
                  <p:cNvSpPr>
                    <a:spLocks/>
                  </p:cNvSpPr>
                  <p:nvPr/>
                </p:nvSpPr>
                <p:spPr bwMode="auto">
                  <a:xfrm>
                    <a:off x="3690" y="2529"/>
                    <a:ext cx="7" cy="3"/>
                  </a:xfrm>
                  <a:custGeom>
                    <a:avLst/>
                    <a:gdLst>
                      <a:gd name="T0" fmla="*/ 0 w 7"/>
                      <a:gd name="T1" fmla="*/ 0 h 3"/>
                      <a:gd name="T2" fmla="*/ 0 w 7"/>
                      <a:gd name="T3" fmla="*/ 3 h 3"/>
                      <a:gd name="T4" fmla="*/ 7 w 7"/>
                      <a:gd name="T5" fmla="*/ 0 h 3"/>
                      <a:gd name="T6" fmla="*/ 0 w 7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7"/>
                      <a:gd name="T13" fmla="*/ 0 h 3"/>
                      <a:gd name="T14" fmla="*/ 7 w 7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7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7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67" name="Rectangle 411"/>
                  <p:cNvSpPr>
                    <a:spLocks noChangeArrowheads="1"/>
                  </p:cNvSpPr>
                  <p:nvPr/>
                </p:nvSpPr>
                <p:spPr bwMode="auto">
                  <a:xfrm>
                    <a:off x="3666" y="2529"/>
                    <a:ext cx="24" cy="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68" name="Rectangle 412"/>
                  <p:cNvSpPr>
                    <a:spLocks noChangeArrowheads="1"/>
                  </p:cNvSpPr>
                  <p:nvPr/>
                </p:nvSpPr>
                <p:spPr bwMode="auto">
                  <a:xfrm>
                    <a:off x="3666" y="2529"/>
                    <a:ext cx="24" cy="3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69" name="Freeform 413"/>
                  <p:cNvSpPr>
                    <a:spLocks/>
                  </p:cNvSpPr>
                  <p:nvPr/>
                </p:nvSpPr>
                <p:spPr bwMode="auto">
                  <a:xfrm>
                    <a:off x="3667" y="2532"/>
                    <a:ext cx="23" cy="3"/>
                  </a:xfrm>
                  <a:custGeom>
                    <a:avLst/>
                    <a:gdLst>
                      <a:gd name="T0" fmla="*/ 0 w 23"/>
                      <a:gd name="T1" fmla="*/ 0 h 3"/>
                      <a:gd name="T2" fmla="*/ 0 w 23"/>
                      <a:gd name="T3" fmla="*/ 2 h 3"/>
                      <a:gd name="T4" fmla="*/ 1 w 23"/>
                      <a:gd name="T5" fmla="*/ 2 h 3"/>
                      <a:gd name="T6" fmla="*/ 3 w 23"/>
                      <a:gd name="T7" fmla="*/ 2 h 3"/>
                      <a:gd name="T8" fmla="*/ 5 w 23"/>
                      <a:gd name="T9" fmla="*/ 3 h 3"/>
                      <a:gd name="T10" fmla="*/ 12 w 23"/>
                      <a:gd name="T11" fmla="*/ 3 h 3"/>
                      <a:gd name="T12" fmla="*/ 17 w 23"/>
                      <a:gd name="T13" fmla="*/ 3 h 3"/>
                      <a:gd name="T14" fmla="*/ 20 w 23"/>
                      <a:gd name="T15" fmla="*/ 2 h 3"/>
                      <a:gd name="T16" fmla="*/ 22 w 23"/>
                      <a:gd name="T17" fmla="*/ 2 h 3"/>
                      <a:gd name="T18" fmla="*/ 23 w 23"/>
                      <a:gd name="T19" fmla="*/ 1 h 3"/>
                      <a:gd name="T20" fmla="*/ 23 w 23"/>
                      <a:gd name="T21" fmla="*/ 0 h 3"/>
                      <a:gd name="T22" fmla="*/ 0 w 23"/>
                      <a:gd name="T23" fmla="*/ 0 h 3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3"/>
                      <a:gd name="T37" fmla="*/ 0 h 3"/>
                      <a:gd name="T38" fmla="*/ 23 w 23"/>
                      <a:gd name="T39" fmla="*/ 3 h 3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3" h="3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2" y="2"/>
                        </a:lnTo>
                        <a:lnTo>
                          <a:pt x="23" y="1"/>
                        </a:lnTo>
                        <a:lnTo>
                          <a:pt x="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70" name="Freeform 414"/>
                  <p:cNvSpPr>
                    <a:spLocks/>
                  </p:cNvSpPr>
                  <p:nvPr/>
                </p:nvSpPr>
                <p:spPr bwMode="auto">
                  <a:xfrm>
                    <a:off x="3667" y="2532"/>
                    <a:ext cx="23" cy="3"/>
                  </a:xfrm>
                  <a:custGeom>
                    <a:avLst/>
                    <a:gdLst>
                      <a:gd name="T0" fmla="*/ 0 w 23"/>
                      <a:gd name="T1" fmla="*/ 0 h 3"/>
                      <a:gd name="T2" fmla="*/ 0 w 23"/>
                      <a:gd name="T3" fmla="*/ 2 h 3"/>
                      <a:gd name="T4" fmla="*/ 1 w 23"/>
                      <a:gd name="T5" fmla="*/ 2 h 3"/>
                      <a:gd name="T6" fmla="*/ 3 w 23"/>
                      <a:gd name="T7" fmla="*/ 2 h 3"/>
                      <a:gd name="T8" fmla="*/ 5 w 23"/>
                      <a:gd name="T9" fmla="*/ 3 h 3"/>
                      <a:gd name="T10" fmla="*/ 12 w 23"/>
                      <a:gd name="T11" fmla="*/ 3 h 3"/>
                      <a:gd name="T12" fmla="*/ 17 w 23"/>
                      <a:gd name="T13" fmla="*/ 3 h 3"/>
                      <a:gd name="T14" fmla="*/ 20 w 23"/>
                      <a:gd name="T15" fmla="*/ 2 h 3"/>
                      <a:gd name="T16" fmla="*/ 22 w 23"/>
                      <a:gd name="T17" fmla="*/ 2 h 3"/>
                      <a:gd name="T18" fmla="*/ 23 w 23"/>
                      <a:gd name="T19" fmla="*/ 1 h 3"/>
                      <a:gd name="T20" fmla="*/ 23 w 23"/>
                      <a:gd name="T21" fmla="*/ 0 h 3"/>
                      <a:gd name="T22" fmla="*/ 0 w 23"/>
                      <a:gd name="T23" fmla="*/ 0 h 3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3"/>
                      <a:gd name="T37" fmla="*/ 0 h 3"/>
                      <a:gd name="T38" fmla="*/ 23 w 23"/>
                      <a:gd name="T39" fmla="*/ 3 h 3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3" h="3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2" y="2"/>
                        </a:lnTo>
                        <a:lnTo>
                          <a:pt x="23" y="1"/>
                        </a:lnTo>
                        <a:lnTo>
                          <a:pt x="23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71" name="Freeform 415"/>
                  <p:cNvSpPr>
                    <a:spLocks/>
                  </p:cNvSpPr>
                  <p:nvPr/>
                </p:nvSpPr>
                <p:spPr bwMode="auto">
                  <a:xfrm>
                    <a:off x="3666" y="2535"/>
                    <a:ext cx="24" cy="10"/>
                  </a:xfrm>
                  <a:custGeom>
                    <a:avLst/>
                    <a:gdLst>
                      <a:gd name="T0" fmla="*/ 20 w 24"/>
                      <a:gd name="T1" fmla="*/ 0 h 10"/>
                      <a:gd name="T2" fmla="*/ 18 w 24"/>
                      <a:gd name="T3" fmla="*/ 0 h 10"/>
                      <a:gd name="T4" fmla="*/ 11 w 24"/>
                      <a:gd name="T5" fmla="*/ 1 h 10"/>
                      <a:gd name="T6" fmla="*/ 6 w 24"/>
                      <a:gd name="T7" fmla="*/ 0 h 10"/>
                      <a:gd name="T8" fmla="*/ 4 w 24"/>
                      <a:gd name="T9" fmla="*/ 0 h 10"/>
                      <a:gd name="T10" fmla="*/ 4 w 24"/>
                      <a:gd name="T11" fmla="*/ 6 h 10"/>
                      <a:gd name="T12" fmla="*/ 2 w 24"/>
                      <a:gd name="T13" fmla="*/ 6 h 10"/>
                      <a:gd name="T14" fmla="*/ 1 w 24"/>
                      <a:gd name="T15" fmla="*/ 6 h 10"/>
                      <a:gd name="T16" fmla="*/ 0 w 24"/>
                      <a:gd name="T17" fmla="*/ 7 h 10"/>
                      <a:gd name="T18" fmla="*/ 0 w 24"/>
                      <a:gd name="T19" fmla="*/ 7 h 10"/>
                      <a:gd name="T20" fmla="*/ 0 w 24"/>
                      <a:gd name="T21" fmla="*/ 9 h 10"/>
                      <a:gd name="T22" fmla="*/ 1 w 24"/>
                      <a:gd name="T23" fmla="*/ 9 h 10"/>
                      <a:gd name="T24" fmla="*/ 3 w 24"/>
                      <a:gd name="T25" fmla="*/ 9 h 10"/>
                      <a:gd name="T26" fmla="*/ 6 w 24"/>
                      <a:gd name="T27" fmla="*/ 10 h 10"/>
                      <a:gd name="T28" fmla="*/ 11 w 24"/>
                      <a:gd name="T29" fmla="*/ 10 h 10"/>
                      <a:gd name="T30" fmla="*/ 18 w 24"/>
                      <a:gd name="T31" fmla="*/ 10 h 10"/>
                      <a:gd name="T32" fmla="*/ 21 w 24"/>
                      <a:gd name="T33" fmla="*/ 9 h 10"/>
                      <a:gd name="T34" fmla="*/ 23 w 24"/>
                      <a:gd name="T35" fmla="*/ 9 h 10"/>
                      <a:gd name="T36" fmla="*/ 24 w 24"/>
                      <a:gd name="T37" fmla="*/ 7 h 10"/>
                      <a:gd name="T38" fmla="*/ 23 w 24"/>
                      <a:gd name="T39" fmla="*/ 6 h 10"/>
                      <a:gd name="T40" fmla="*/ 22 w 24"/>
                      <a:gd name="T41" fmla="*/ 6 h 10"/>
                      <a:gd name="T42" fmla="*/ 20 w 24"/>
                      <a:gd name="T43" fmla="*/ 6 h 10"/>
                      <a:gd name="T44" fmla="*/ 20 w 24"/>
                      <a:gd name="T45" fmla="*/ 0 h 10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4"/>
                      <a:gd name="T70" fmla="*/ 0 h 10"/>
                      <a:gd name="T71" fmla="*/ 24 w 24"/>
                      <a:gd name="T72" fmla="*/ 10 h 10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4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1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1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1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3" y="9"/>
                        </a:lnTo>
                        <a:lnTo>
                          <a:pt x="24" y="7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72" name="Freeform 416"/>
                  <p:cNvSpPr>
                    <a:spLocks/>
                  </p:cNvSpPr>
                  <p:nvPr/>
                </p:nvSpPr>
                <p:spPr bwMode="auto">
                  <a:xfrm>
                    <a:off x="3666" y="2535"/>
                    <a:ext cx="24" cy="10"/>
                  </a:xfrm>
                  <a:custGeom>
                    <a:avLst/>
                    <a:gdLst>
                      <a:gd name="T0" fmla="*/ 20 w 24"/>
                      <a:gd name="T1" fmla="*/ 0 h 10"/>
                      <a:gd name="T2" fmla="*/ 18 w 24"/>
                      <a:gd name="T3" fmla="*/ 0 h 10"/>
                      <a:gd name="T4" fmla="*/ 11 w 24"/>
                      <a:gd name="T5" fmla="*/ 1 h 10"/>
                      <a:gd name="T6" fmla="*/ 6 w 24"/>
                      <a:gd name="T7" fmla="*/ 0 h 10"/>
                      <a:gd name="T8" fmla="*/ 4 w 24"/>
                      <a:gd name="T9" fmla="*/ 0 h 10"/>
                      <a:gd name="T10" fmla="*/ 4 w 24"/>
                      <a:gd name="T11" fmla="*/ 6 h 10"/>
                      <a:gd name="T12" fmla="*/ 2 w 24"/>
                      <a:gd name="T13" fmla="*/ 6 h 10"/>
                      <a:gd name="T14" fmla="*/ 1 w 24"/>
                      <a:gd name="T15" fmla="*/ 6 h 10"/>
                      <a:gd name="T16" fmla="*/ 0 w 24"/>
                      <a:gd name="T17" fmla="*/ 7 h 10"/>
                      <a:gd name="T18" fmla="*/ 0 w 24"/>
                      <a:gd name="T19" fmla="*/ 7 h 10"/>
                      <a:gd name="T20" fmla="*/ 0 w 24"/>
                      <a:gd name="T21" fmla="*/ 9 h 10"/>
                      <a:gd name="T22" fmla="*/ 1 w 24"/>
                      <a:gd name="T23" fmla="*/ 9 h 10"/>
                      <a:gd name="T24" fmla="*/ 3 w 24"/>
                      <a:gd name="T25" fmla="*/ 9 h 10"/>
                      <a:gd name="T26" fmla="*/ 6 w 24"/>
                      <a:gd name="T27" fmla="*/ 10 h 10"/>
                      <a:gd name="T28" fmla="*/ 11 w 24"/>
                      <a:gd name="T29" fmla="*/ 10 h 10"/>
                      <a:gd name="T30" fmla="*/ 18 w 24"/>
                      <a:gd name="T31" fmla="*/ 10 h 10"/>
                      <a:gd name="T32" fmla="*/ 21 w 24"/>
                      <a:gd name="T33" fmla="*/ 9 h 10"/>
                      <a:gd name="T34" fmla="*/ 23 w 24"/>
                      <a:gd name="T35" fmla="*/ 9 h 10"/>
                      <a:gd name="T36" fmla="*/ 24 w 24"/>
                      <a:gd name="T37" fmla="*/ 7 h 10"/>
                      <a:gd name="T38" fmla="*/ 23 w 24"/>
                      <a:gd name="T39" fmla="*/ 6 h 10"/>
                      <a:gd name="T40" fmla="*/ 22 w 24"/>
                      <a:gd name="T41" fmla="*/ 6 h 10"/>
                      <a:gd name="T42" fmla="*/ 20 w 24"/>
                      <a:gd name="T43" fmla="*/ 6 h 10"/>
                      <a:gd name="T44" fmla="*/ 20 w 24"/>
                      <a:gd name="T45" fmla="*/ 0 h 10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4"/>
                      <a:gd name="T70" fmla="*/ 0 h 10"/>
                      <a:gd name="T71" fmla="*/ 24 w 24"/>
                      <a:gd name="T72" fmla="*/ 10 h 10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4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1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1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1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1" y="10"/>
                        </a:lnTo>
                        <a:lnTo>
                          <a:pt x="18" y="10"/>
                        </a:lnTo>
                        <a:lnTo>
                          <a:pt x="21" y="9"/>
                        </a:lnTo>
                        <a:lnTo>
                          <a:pt x="23" y="9"/>
                        </a:lnTo>
                        <a:lnTo>
                          <a:pt x="24" y="7"/>
                        </a:ln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73" name="Freeform 417"/>
                  <p:cNvSpPr>
                    <a:spLocks/>
                  </p:cNvSpPr>
                  <p:nvPr/>
                </p:nvSpPr>
                <p:spPr bwMode="auto">
                  <a:xfrm>
                    <a:off x="3666" y="2542"/>
                    <a:ext cx="24" cy="7"/>
                  </a:xfrm>
                  <a:custGeom>
                    <a:avLst/>
                    <a:gdLst>
                      <a:gd name="T0" fmla="*/ 23 w 24"/>
                      <a:gd name="T1" fmla="*/ 5 h 7"/>
                      <a:gd name="T2" fmla="*/ 22 w 24"/>
                      <a:gd name="T3" fmla="*/ 6 h 7"/>
                      <a:gd name="T4" fmla="*/ 20 w 24"/>
                      <a:gd name="T5" fmla="*/ 6 h 7"/>
                      <a:gd name="T6" fmla="*/ 16 w 24"/>
                      <a:gd name="T7" fmla="*/ 7 h 7"/>
                      <a:gd name="T8" fmla="*/ 6 w 24"/>
                      <a:gd name="T9" fmla="*/ 7 h 7"/>
                      <a:gd name="T10" fmla="*/ 4 w 24"/>
                      <a:gd name="T11" fmla="*/ 6 h 7"/>
                      <a:gd name="T12" fmla="*/ 3 w 24"/>
                      <a:gd name="T13" fmla="*/ 6 h 7"/>
                      <a:gd name="T14" fmla="*/ 1 w 24"/>
                      <a:gd name="T15" fmla="*/ 5 h 7"/>
                      <a:gd name="T16" fmla="*/ 0 w 24"/>
                      <a:gd name="T17" fmla="*/ 5 h 7"/>
                      <a:gd name="T18" fmla="*/ 0 w 24"/>
                      <a:gd name="T19" fmla="*/ 0 h 7"/>
                      <a:gd name="T20" fmla="*/ 0 w 24"/>
                      <a:gd name="T21" fmla="*/ 2 h 7"/>
                      <a:gd name="T22" fmla="*/ 1 w 24"/>
                      <a:gd name="T23" fmla="*/ 2 h 7"/>
                      <a:gd name="T24" fmla="*/ 3 w 24"/>
                      <a:gd name="T25" fmla="*/ 2 h 7"/>
                      <a:gd name="T26" fmla="*/ 6 w 24"/>
                      <a:gd name="T27" fmla="*/ 3 h 7"/>
                      <a:gd name="T28" fmla="*/ 11 w 24"/>
                      <a:gd name="T29" fmla="*/ 3 h 7"/>
                      <a:gd name="T30" fmla="*/ 18 w 24"/>
                      <a:gd name="T31" fmla="*/ 3 h 7"/>
                      <a:gd name="T32" fmla="*/ 21 w 24"/>
                      <a:gd name="T33" fmla="*/ 2 h 7"/>
                      <a:gd name="T34" fmla="*/ 23 w 24"/>
                      <a:gd name="T35" fmla="*/ 2 h 7"/>
                      <a:gd name="T36" fmla="*/ 24 w 24"/>
                      <a:gd name="T37" fmla="*/ 0 h 7"/>
                      <a:gd name="T38" fmla="*/ 24 w 24"/>
                      <a:gd name="T39" fmla="*/ 5 h 7"/>
                      <a:gd name="T40" fmla="*/ 23 w 24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4"/>
                      <a:gd name="T64" fmla="*/ 0 h 7"/>
                      <a:gd name="T65" fmla="*/ 24 w 24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4" h="7">
                        <a:moveTo>
                          <a:pt x="23" y="5"/>
                        </a:move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6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1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0"/>
                        </a:lnTo>
                        <a:lnTo>
                          <a:pt x="24" y="5"/>
                        </a:lnTo>
                        <a:lnTo>
                          <a:pt x="23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74" name="Freeform 418"/>
                  <p:cNvSpPr>
                    <a:spLocks/>
                  </p:cNvSpPr>
                  <p:nvPr/>
                </p:nvSpPr>
                <p:spPr bwMode="auto">
                  <a:xfrm>
                    <a:off x="3666" y="2542"/>
                    <a:ext cx="24" cy="7"/>
                  </a:xfrm>
                  <a:custGeom>
                    <a:avLst/>
                    <a:gdLst>
                      <a:gd name="T0" fmla="*/ 23 w 24"/>
                      <a:gd name="T1" fmla="*/ 5 h 7"/>
                      <a:gd name="T2" fmla="*/ 22 w 24"/>
                      <a:gd name="T3" fmla="*/ 6 h 7"/>
                      <a:gd name="T4" fmla="*/ 20 w 24"/>
                      <a:gd name="T5" fmla="*/ 6 h 7"/>
                      <a:gd name="T6" fmla="*/ 16 w 24"/>
                      <a:gd name="T7" fmla="*/ 7 h 7"/>
                      <a:gd name="T8" fmla="*/ 6 w 24"/>
                      <a:gd name="T9" fmla="*/ 7 h 7"/>
                      <a:gd name="T10" fmla="*/ 4 w 24"/>
                      <a:gd name="T11" fmla="*/ 6 h 7"/>
                      <a:gd name="T12" fmla="*/ 3 w 24"/>
                      <a:gd name="T13" fmla="*/ 6 h 7"/>
                      <a:gd name="T14" fmla="*/ 1 w 24"/>
                      <a:gd name="T15" fmla="*/ 5 h 7"/>
                      <a:gd name="T16" fmla="*/ 0 w 24"/>
                      <a:gd name="T17" fmla="*/ 5 h 7"/>
                      <a:gd name="T18" fmla="*/ 0 w 24"/>
                      <a:gd name="T19" fmla="*/ 0 h 7"/>
                      <a:gd name="T20" fmla="*/ 0 w 24"/>
                      <a:gd name="T21" fmla="*/ 2 h 7"/>
                      <a:gd name="T22" fmla="*/ 1 w 24"/>
                      <a:gd name="T23" fmla="*/ 2 h 7"/>
                      <a:gd name="T24" fmla="*/ 3 w 24"/>
                      <a:gd name="T25" fmla="*/ 2 h 7"/>
                      <a:gd name="T26" fmla="*/ 6 w 24"/>
                      <a:gd name="T27" fmla="*/ 3 h 7"/>
                      <a:gd name="T28" fmla="*/ 11 w 24"/>
                      <a:gd name="T29" fmla="*/ 3 h 7"/>
                      <a:gd name="T30" fmla="*/ 18 w 24"/>
                      <a:gd name="T31" fmla="*/ 3 h 7"/>
                      <a:gd name="T32" fmla="*/ 21 w 24"/>
                      <a:gd name="T33" fmla="*/ 2 h 7"/>
                      <a:gd name="T34" fmla="*/ 23 w 24"/>
                      <a:gd name="T35" fmla="*/ 2 h 7"/>
                      <a:gd name="T36" fmla="*/ 24 w 24"/>
                      <a:gd name="T37" fmla="*/ 0 h 7"/>
                      <a:gd name="T38" fmla="*/ 24 w 24"/>
                      <a:gd name="T39" fmla="*/ 5 h 7"/>
                      <a:gd name="T40" fmla="*/ 23 w 24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4"/>
                      <a:gd name="T64" fmla="*/ 0 h 7"/>
                      <a:gd name="T65" fmla="*/ 24 w 24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4" h="7">
                        <a:moveTo>
                          <a:pt x="23" y="5"/>
                        </a:move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6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1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0"/>
                        </a:lnTo>
                        <a:lnTo>
                          <a:pt x="24" y="5"/>
                        </a:lnTo>
                        <a:lnTo>
                          <a:pt x="23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75" name="Freeform 419"/>
                  <p:cNvSpPr>
                    <a:spLocks/>
                  </p:cNvSpPr>
                  <p:nvPr/>
                </p:nvSpPr>
                <p:spPr bwMode="auto">
                  <a:xfrm>
                    <a:off x="3665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1 w 27"/>
                      <a:gd name="T7" fmla="*/ 127 h 128"/>
                      <a:gd name="T8" fmla="*/ 18 w 27"/>
                      <a:gd name="T9" fmla="*/ 127 h 128"/>
                      <a:gd name="T10" fmla="*/ 15 w 27"/>
                      <a:gd name="T11" fmla="*/ 128 h 128"/>
                      <a:gd name="T12" fmla="*/ 11 w 27"/>
                      <a:gd name="T13" fmla="*/ 128 h 128"/>
                      <a:gd name="T14" fmla="*/ 8 w 27"/>
                      <a:gd name="T15" fmla="*/ 127 h 128"/>
                      <a:gd name="T16" fmla="*/ 5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5 w 27"/>
                      <a:gd name="T31" fmla="*/ 0 h 128"/>
                      <a:gd name="T32" fmla="*/ 7 w 27"/>
                      <a:gd name="T33" fmla="*/ 1 h 128"/>
                      <a:gd name="T34" fmla="*/ 18 w 27"/>
                      <a:gd name="T35" fmla="*/ 1 h 128"/>
                      <a:gd name="T36" fmla="*/ 22 w 27"/>
                      <a:gd name="T37" fmla="*/ 0 h 128"/>
                      <a:gd name="T38" fmla="*/ 24 w 27"/>
                      <a:gd name="T39" fmla="*/ 124 h 128"/>
                      <a:gd name="T40" fmla="*/ 25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1" y="127"/>
                        </a:lnTo>
                        <a:lnTo>
                          <a:pt x="18" y="127"/>
                        </a:lnTo>
                        <a:lnTo>
                          <a:pt x="15" y="128"/>
                        </a:lnTo>
                        <a:lnTo>
                          <a:pt x="11" y="128"/>
                        </a:lnTo>
                        <a:lnTo>
                          <a:pt x="8" y="127"/>
                        </a:lnTo>
                        <a:lnTo>
                          <a:pt x="5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5" y="0"/>
                        </a:lnTo>
                        <a:lnTo>
                          <a:pt x="7" y="1"/>
                        </a:lnTo>
                        <a:lnTo>
                          <a:pt x="18" y="1"/>
                        </a:lnTo>
                        <a:lnTo>
                          <a:pt x="22" y="0"/>
                        </a:lnTo>
                        <a:lnTo>
                          <a:pt x="24" y="124"/>
                        </a:lnTo>
                        <a:lnTo>
                          <a:pt x="25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76" name="Freeform 420"/>
                  <p:cNvSpPr>
                    <a:spLocks/>
                  </p:cNvSpPr>
                  <p:nvPr/>
                </p:nvSpPr>
                <p:spPr bwMode="auto">
                  <a:xfrm>
                    <a:off x="3665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1 w 27"/>
                      <a:gd name="T7" fmla="*/ 127 h 128"/>
                      <a:gd name="T8" fmla="*/ 18 w 27"/>
                      <a:gd name="T9" fmla="*/ 127 h 128"/>
                      <a:gd name="T10" fmla="*/ 15 w 27"/>
                      <a:gd name="T11" fmla="*/ 128 h 128"/>
                      <a:gd name="T12" fmla="*/ 11 w 27"/>
                      <a:gd name="T13" fmla="*/ 128 h 128"/>
                      <a:gd name="T14" fmla="*/ 8 w 27"/>
                      <a:gd name="T15" fmla="*/ 127 h 128"/>
                      <a:gd name="T16" fmla="*/ 5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5 w 27"/>
                      <a:gd name="T31" fmla="*/ 0 h 128"/>
                      <a:gd name="T32" fmla="*/ 7 w 27"/>
                      <a:gd name="T33" fmla="*/ 1 h 128"/>
                      <a:gd name="T34" fmla="*/ 18 w 27"/>
                      <a:gd name="T35" fmla="*/ 1 h 128"/>
                      <a:gd name="T36" fmla="*/ 22 w 27"/>
                      <a:gd name="T37" fmla="*/ 0 h 128"/>
                      <a:gd name="T38" fmla="*/ 24 w 27"/>
                      <a:gd name="T39" fmla="*/ 124 h 128"/>
                      <a:gd name="T40" fmla="*/ 25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1" y="127"/>
                        </a:lnTo>
                        <a:lnTo>
                          <a:pt x="18" y="127"/>
                        </a:lnTo>
                        <a:lnTo>
                          <a:pt x="15" y="128"/>
                        </a:lnTo>
                        <a:lnTo>
                          <a:pt x="11" y="128"/>
                        </a:lnTo>
                        <a:lnTo>
                          <a:pt x="8" y="127"/>
                        </a:lnTo>
                        <a:lnTo>
                          <a:pt x="5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5" y="0"/>
                        </a:lnTo>
                        <a:lnTo>
                          <a:pt x="7" y="1"/>
                        </a:lnTo>
                        <a:lnTo>
                          <a:pt x="18" y="1"/>
                        </a:lnTo>
                        <a:lnTo>
                          <a:pt x="22" y="0"/>
                        </a:lnTo>
                        <a:lnTo>
                          <a:pt x="24" y="124"/>
                        </a:lnTo>
                        <a:lnTo>
                          <a:pt x="25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77" name="Freeform 421"/>
                  <p:cNvSpPr>
                    <a:spLocks/>
                  </p:cNvSpPr>
                  <p:nvPr/>
                </p:nvSpPr>
                <p:spPr bwMode="auto">
                  <a:xfrm>
                    <a:off x="3665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5 w 27"/>
                      <a:gd name="T7" fmla="*/ 2 h 7"/>
                      <a:gd name="T8" fmla="*/ 8 w 27"/>
                      <a:gd name="T9" fmla="*/ 3 h 7"/>
                      <a:gd name="T10" fmla="*/ 11 w 27"/>
                      <a:gd name="T11" fmla="*/ 3 h 7"/>
                      <a:gd name="T12" fmla="*/ 15 w 27"/>
                      <a:gd name="T13" fmla="*/ 3 h 7"/>
                      <a:gd name="T14" fmla="*/ 18 w 27"/>
                      <a:gd name="T15" fmla="*/ 3 h 7"/>
                      <a:gd name="T16" fmla="*/ 21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5 w 27"/>
                      <a:gd name="T27" fmla="*/ 5 h 7"/>
                      <a:gd name="T28" fmla="*/ 24 w 27"/>
                      <a:gd name="T29" fmla="*/ 5 h 7"/>
                      <a:gd name="T30" fmla="*/ 21 w 27"/>
                      <a:gd name="T31" fmla="*/ 6 h 7"/>
                      <a:gd name="T32" fmla="*/ 18 w 27"/>
                      <a:gd name="T33" fmla="*/ 7 h 7"/>
                      <a:gd name="T34" fmla="*/ 15 w 27"/>
                      <a:gd name="T35" fmla="*/ 7 h 7"/>
                      <a:gd name="T36" fmla="*/ 11 w 27"/>
                      <a:gd name="T37" fmla="*/ 7 h 7"/>
                      <a:gd name="T38" fmla="*/ 8 w 27"/>
                      <a:gd name="T39" fmla="*/ 7 h 7"/>
                      <a:gd name="T40" fmla="*/ 5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5" y="2"/>
                        </a:lnTo>
                        <a:lnTo>
                          <a:pt x="8" y="3"/>
                        </a:lnTo>
                        <a:lnTo>
                          <a:pt x="11" y="3"/>
                        </a:lnTo>
                        <a:lnTo>
                          <a:pt x="15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5" y="5"/>
                        </a:lnTo>
                        <a:lnTo>
                          <a:pt x="24" y="5"/>
                        </a:lnTo>
                        <a:lnTo>
                          <a:pt x="21" y="6"/>
                        </a:lnTo>
                        <a:lnTo>
                          <a:pt x="18" y="7"/>
                        </a:lnTo>
                        <a:lnTo>
                          <a:pt x="15" y="7"/>
                        </a:lnTo>
                        <a:lnTo>
                          <a:pt x="11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78" name="Freeform 422"/>
                  <p:cNvSpPr>
                    <a:spLocks/>
                  </p:cNvSpPr>
                  <p:nvPr/>
                </p:nvSpPr>
                <p:spPr bwMode="auto">
                  <a:xfrm>
                    <a:off x="3665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5 w 27"/>
                      <a:gd name="T7" fmla="*/ 2 h 7"/>
                      <a:gd name="T8" fmla="*/ 8 w 27"/>
                      <a:gd name="T9" fmla="*/ 3 h 7"/>
                      <a:gd name="T10" fmla="*/ 11 w 27"/>
                      <a:gd name="T11" fmla="*/ 3 h 7"/>
                      <a:gd name="T12" fmla="*/ 15 w 27"/>
                      <a:gd name="T13" fmla="*/ 3 h 7"/>
                      <a:gd name="T14" fmla="*/ 18 w 27"/>
                      <a:gd name="T15" fmla="*/ 3 h 7"/>
                      <a:gd name="T16" fmla="*/ 21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5 w 27"/>
                      <a:gd name="T27" fmla="*/ 5 h 7"/>
                      <a:gd name="T28" fmla="*/ 24 w 27"/>
                      <a:gd name="T29" fmla="*/ 5 h 7"/>
                      <a:gd name="T30" fmla="*/ 21 w 27"/>
                      <a:gd name="T31" fmla="*/ 6 h 7"/>
                      <a:gd name="T32" fmla="*/ 18 w 27"/>
                      <a:gd name="T33" fmla="*/ 7 h 7"/>
                      <a:gd name="T34" fmla="*/ 15 w 27"/>
                      <a:gd name="T35" fmla="*/ 7 h 7"/>
                      <a:gd name="T36" fmla="*/ 11 w 27"/>
                      <a:gd name="T37" fmla="*/ 7 h 7"/>
                      <a:gd name="T38" fmla="*/ 8 w 27"/>
                      <a:gd name="T39" fmla="*/ 7 h 7"/>
                      <a:gd name="T40" fmla="*/ 5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5" y="2"/>
                        </a:lnTo>
                        <a:lnTo>
                          <a:pt x="8" y="3"/>
                        </a:lnTo>
                        <a:lnTo>
                          <a:pt x="11" y="3"/>
                        </a:lnTo>
                        <a:lnTo>
                          <a:pt x="15" y="3"/>
                        </a:lnTo>
                        <a:lnTo>
                          <a:pt x="18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5" y="5"/>
                        </a:lnTo>
                        <a:lnTo>
                          <a:pt x="24" y="5"/>
                        </a:lnTo>
                        <a:lnTo>
                          <a:pt x="21" y="6"/>
                        </a:lnTo>
                        <a:lnTo>
                          <a:pt x="18" y="7"/>
                        </a:lnTo>
                        <a:lnTo>
                          <a:pt x="15" y="7"/>
                        </a:lnTo>
                        <a:lnTo>
                          <a:pt x="11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79" name="Freeform 423"/>
                  <p:cNvSpPr>
                    <a:spLocks/>
                  </p:cNvSpPr>
                  <p:nvPr/>
                </p:nvSpPr>
                <p:spPr bwMode="auto">
                  <a:xfrm>
                    <a:off x="3747" y="2529"/>
                    <a:ext cx="6" cy="3"/>
                  </a:xfrm>
                  <a:custGeom>
                    <a:avLst/>
                    <a:gdLst>
                      <a:gd name="T0" fmla="*/ 0 w 6"/>
                      <a:gd name="T1" fmla="*/ 0 h 3"/>
                      <a:gd name="T2" fmla="*/ 0 w 6"/>
                      <a:gd name="T3" fmla="*/ 3 h 3"/>
                      <a:gd name="T4" fmla="*/ 6 w 6"/>
                      <a:gd name="T5" fmla="*/ 0 h 3"/>
                      <a:gd name="T6" fmla="*/ 0 w 6"/>
                      <a:gd name="T7" fmla="*/ 0 h 3"/>
                      <a:gd name="T8" fmla="*/ 0 w 6"/>
                      <a:gd name="T9" fmla="*/ 0 h 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"/>
                      <a:gd name="T16" fmla="*/ 0 h 3"/>
                      <a:gd name="T17" fmla="*/ 6 w 6"/>
                      <a:gd name="T18" fmla="*/ 3 h 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80" name="Freeform 424"/>
                  <p:cNvSpPr>
                    <a:spLocks/>
                  </p:cNvSpPr>
                  <p:nvPr/>
                </p:nvSpPr>
                <p:spPr bwMode="auto">
                  <a:xfrm>
                    <a:off x="3747" y="2529"/>
                    <a:ext cx="6" cy="3"/>
                  </a:xfrm>
                  <a:custGeom>
                    <a:avLst/>
                    <a:gdLst>
                      <a:gd name="T0" fmla="*/ 0 w 6"/>
                      <a:gd name="T1" fmla="*/ 0 h 3"/>
                      <a:gd name="T2" fmla="*/ 0 w 6"/>
                      <a:gd name="T3" fmla="*/ 3 h 3"/>
                      <a:gd name="T4" fmla="*/ 6 w 6"/>
                      <a:gd name="T5" fmla="*/ 0 h 3"/>
                      <a:gd name="T6" fmla="*/ 0 w 6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"/>
                      <a:gd name="T13" fmla="*/ 0 h 3"/>
                      <a:gd name="T14" fmla="*/ 6 w 6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6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81" name="Rectangle 425"/>
                  <p:cNvSpPr>
                    <a:spLocks noChangeArrowheads="1"/>
                  </p:cNvSpPr>
                  <p:nvPr/>
                </p:nvSpPr>
                <p:spPr bwMode="auto">
                  <a:xfrm>
                    <a:off x="3722" y="2529"/>
                    <a:ext cx="25" cy="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82" name="Rectangle 426"/>
                  <p:cNvSpPr>
                    <a:spLocks noChangeArrowheads="1"/>
                  </p:cNvSpPr>
                  <p:nvPr/>
                </p:nvSpPr>
                <p:spPr bwMode="auto">
                  <a:xfrm>
                    <a:off x="3722" y="2529"/>
                    <a:ext cx="25" cy="3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83" name="Freeform 427"/>
                  <p:cNvSpPr>
                    <a:spLocks/>
                  </p:cNvSpPr>
                  <p:nvPr/>
                </p:nvSpPr>
                <p:spPr bwMode="auto">
                  <a:xfrm>
                    <a:off x="3723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0 w 24"/>
                      <a:gd name="T5" fmla="*/ 2 h 3"/>
                      <a:gd name="T6" fmla="*/ 1 w 24"/>
                      <a:gd name="T7" fmla="*/ 2 h 3"/>
                      <a:gd name="T8" fmla="*/ 4 w 24"/>
                      <a:gd name="T9" fmla="*/ 2 h 3"/>
                      <a:gd name="T10" fmla="*/ 6 w 24"/>
                      <a:gd name="T11" fmla="*/ 3 h 3"/>
                      <a:gd name="T12" fmla="*/ 12 w 24"/>
                      <a:gd name="T13" fmla="*/ 3 h 3"/>
                      <a:gd name="T14" fmla="*/ 17 w 24"/>
                      <a:gd name="T15" fmla="*/ 3 h 3"/>
                      <a:gd name="T16" fmla="*/ 21 w 24"/>
                      <a:gd name="T17" fmla="*/ 2 h 3"/>
                      <a:gd name="T18" fmla="*/ 23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0 h 3"/>
                      <a:gd name="T24" fmla="*/ 0 w 24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"/>
                      <a:gd name="T40" fmla="*/ 0 h 3"/>
                      <a:gd name="T41" fmla="*/ 24 w 24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4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84" name="Freeform 428"/>
                  <p:cNvSpPr>
                    <a:spLocks/>
                  </p:cNvSpPr>
                  <p:nvPr/>
                </p:nvSpPr>
                <p:spPr bwMode="auto">
                  <a:xfrm>
                    <a:off x="3723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0 w 24"/>
                      <a:gd name="T5" fmla="*/ 2 h 3"/>
                      <a:gd name="T6" fmla="*/ 1 w 24"/>
                      <a:gd name="T7" fmla="*/ 2 h 3"/>
                      <a:gd name="T8" fmla="*/ 4 w 24"/>
                      <a:gd name="T9" fmla="*/ 2 h 3"/>
                      <a:gd name="T10" fmla="*/ 6 w 24"/>
                      <a:gd name="T11" fmla="*/ 3 h 3"/>
                      <a:gd name="T12" fmla="*/ 12 w 24"/>
                      <a:gd name="T13" fmla="*/ 3 h 3"/>
                      <a:gd name="T14" fmla="*/ 17 w 24"/>
                      <a:gd name="T15" fmla="*/ 3 h 3"/>
                      <a:gd name="T16" fmla="*/ 21 w 24"/>
                      <a:gd name="T17" fmla="*/ 2 h 3"/>
                      <a:gd name="T18" fmla="*/ 23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0 h 3"/>
                      <a:gd name="T24" fmla="*/ 0 w 24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"/>
                      <a:gd name="T40" fmla="*/ 0 h 3"/>
                      <a:gd name="T41" fmla="*/ 24 w 24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lnTo>
                          <a:pt x="4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85" name="Freeform 429"/>
                  <p:cNvSpPr>
                    <a:spLocks/>
                  </p:cNvSpPr>
                  <p:nvPr/>
                </p:nvSpPr>
                <p:spPr bwMode="auto">
                  <a:xfrm>
                    <a:off x="3722" y="2535"/>
                    <a:ext cx="25" cy="10"/>
                  </a:xfrm>
                  <a:custGeom>
                    <a:avLst/>
                    <a:gdLst>
                      <a:gd name="T0" fmla="*/ 21 w 25"/>
                      <a:gd name="T1" fmla="*/ 0 h 10"/>
                      <a:gd name="T2" fmla="*/ 18 w 25"/>
                      <a:gd name="T3" fmla="*/ 0 h 10"/>
                      <a:gd name="T4" fmla="*/ 13 w 25"/>
                      <a:gd name="T5" fmla="*/ 1 h 10"/>
                      <a:gd name="T6" fmla="*/ 7 w 25"/>
                      <a:gd name="T7" fmla="*/ 0 h 10"/>
                      <a:gd name="T8" fmla="*/ 5 w 25"/>
                      <a:gd name="T9" fmla="*/ 0 h 10"/>
                      <a:gd name="T10" fmla="*/ 5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4 w 25"/>
                      <a:gd name="T23" fmla="*/ 9 h 10"/>
                      <a:gd name="T24" fmla="*/ 8 w 25"/>
                      <a:gd name="T25" fmla="*/ 10 h 10"/>
                      <a:gd name="T26" fmla="*/ 13 w 25"/>
                      <a:gd name="T27" fmla="*/ 10 h 10"/>
                      <a:gd name="T28" fmla="*/ 18 w 25"/>
                      <a:gd name="T29" fmla="*/ 10 h 10"/>
                      <a:gd name="T30" fmla="*/ 23 w 25"/>
                      <a:gd name="T31" fmla="*/ 9 h 10"/>
                      <a:gd name="T32" fmla="*/ 25 w 25"/>
                      <a:gd name="T33" fmla="*/ 9 h 10"/>
                      <a:gd name="T34" fmla="*/ 25 w 25"/>
                      <a:gd name="T35" fmla="*/ 7 h 10"/>
                      <a:gd name="T36" fmla="*/ 25 w 25"/>
                      <a:gd name="T37" fmla="*/ 6 h 10"/>
                      <a:gd name="T38" fmla="*/ 23 w 25"/>
                      <a:gd name="T39" fmla="*/ 6 h 10"/>
                      <a:gd name="T40" fmla="*/ 21 w 25"/>
                      <a:gd name="T41" fmla="*/ 6 h 10"/>
                      <a:gd name="T42" fmla="*/ 21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1" y="0"/>
                        </a:moveTo>
                        <a:lnTo>
                          <a:pt x="18" y="0"/>
                        </a:lnTo>
                        <a:lnTo>
                          <a:pt x="13" y="1"/>
                        </a:lnTo>
                        <a:lnTo>
                          <a:pt x="7" y="0"/>
                        </a:lnTo>
                        <a:lnTo>
                          <a:pt x="5" y="0"/>
                        </a:lnTo>
                        <a:lnTo>
                          <a:pt x="5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4" y="9"/>
                        </a:lnTo>
                        <a:lnTo>
                          <a:pt x="8" y="10"/>
                        </a:lnTo>
                        <a:lnTo>
                          <a:pt x="13" y="10"/>
                        </a:lnTo>
                        <a:lnTo>
                          <a:pt x="18" y="10"/>
                        </a:lnTo>
                        <a:lnTo>
                          <a:pt x="23" y="9"/>
                        </a:lnTo>
                        <a:lnTo>
                          <a:pt x="25" y="9"/>
                        </a:lnTo>
                        <a:lnTo>
                          <a:pt x="25" y="7"/>
                        </a:lnTo>
                        <a:lnTo>
                          <a:pt x="25" y="6"/>
                        </a:lnTo>
                        <a:lnTo>
                          <a:pt x="23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86" name="Freeform 430"/>
                  <p:cNvSpPr>
                    <a:spLocks/>
                  </p:cNvSpPr>
                  <p:nvPr/>
                </p:nvSpPr>
                <p:spPr bwMode="auto">
                  <a:xfrm>
                    <a:off x="3722" y="2535"/>
                    <a:ext cx="25" cy="10"/>
                  </a:xfrm>
                  <a:custGeom>
                    <a:avLst/>
                    <a:gdLst>
                      <a:gd name="T0" fmla="*/ 21 w 25"/>
                      <a:gd name="T1" fmla="*/ 0 h 10"/>
                      <a:gd name="T2" fmla="*/ 18 w 25"/>
                      <a:gd name="T3" fmla="*/ 0 h 10"/>
                      <a:gd name="T4" fmla="*/ 13 w 25"/>
                      <a:gd name="T5" fmla="*/ 1 h 10"/>
                      <a:gd name="T6" fmla="*/ 7 w 25"/>
                      <a:gd name="T7" fmla="*/ 0 h 10"/>
                      <a:gd name="T8" fmla="*/ 5 w 25"/>
                      <a:gd name="T9" fmla="*/ 0 h 10"/>
                      <a:gd name="T10" fmla="*/ 5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4 w 25"/>
                      <a:gd name="T23" fmla="*/ 9 h 10"/>
                      <a:gd name="T24" fmla="*/ 8 w 25"/>
                      <a:gd name="T25" fmla="*/ 10 h 10"/>
                      <a:gd name="T26" fmla="*/ 13 w 25"/>
                      <a:gd name="T27" fmla="*/ 10 h 10"/>
                      <a:gd name="T28" fmla="*/ 18 w 25"/>
                      <a:gd name="T29" fmla="*/ 10 h 10"/>
                      <a:gd name="T30" fmla="*/ 23 w 25"/>
                      <a:gd name="T31" fmla="*/ 9 h 10"/>
                      <a:gd name="T32" fmla="*/ 25 w 25"/>
                      <a:gd name="T33" fmla="*/ 9 h 10"/>
                      <a:gd name="T34" fmla="*/ 25 w 25"/>
                      <a:gd name="T35" fmla="*/ 7 h 10"/>
                      <a:gd name="T36" fmla="*/ 25 w 25"/>
                      <a:gd name="T37" fmla="*/ 6 h 10"/>
                      <a:gd name="T38" fmla="*/ 23 w 25"/>
                      <a:gd name="T39" fmla="*/ 6 h 10"/>
                      <a:gd name="T40" fmla="*/ 21 w 25"/>
                      <a:gd name="T41" fmla="*/ 6 h 10"/>
                      <a:gd name="T42" fmla="*/ 21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1" y="0"/>
                        </a:moveTo>
                        <a:lnTo>
                          <a:pt x="18" y="0"/>
                        </a:lnTo>
                        <a:lnTo>
                          <a:pt x="13" y="1"/>
                        </a:lnTo>
                        <a:lnTo>
                          <a:pt x="7" y="0"/>
                        </a:lnTo>
                        <a:lnTo>
                          <a:pt x="5" y="0"/>
                        </a:lnTo>
                        <a:lnTo>
                          <a:pt x="5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4" y="9"/>
                        </a:lnTo>
                        <a:lnTo>
                          <a:pt x="8" y="10"/>
                        </a:lnTo>
                        <a:lnTo>
                          <a:pt x="13" y="10"/>
                        </a:lnTo>
                        <a:lnTo>
                          <a:pt x="18" y="10"/>
                        </a:lnTo>
                        <a:lnTo>
                          <a:pt x="23" y="9"/>
                        </a:lnTo>
                        <a:lnTo>
                          <a:pt x="25" y="9"/>
                        </a:lnTo>
                        <a:lnTo>
                          <a:pt x="25" y="7"/>
                        </a:lnTo>
                        <a:lnTo>
                          <a:pt x="25" y="6"/>
                        </a:lnTo>
                        <a:lnTo>
                          <a:pt x="23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87" name="Freeform 431"/>
                  <p:cNvSpPr>
                    <a:spLocks/>
                  </p:cNvSpPr>
                  <p:nvPr/>
                </p:nvSpPr>
                <p:spPr bwMode="auto">
                  <a:xfrm>
                    <a:off x="3722" y="2542"/>
                    <a:ext cx="25" cy="7"/>
                  </a:xfrm>
                  <a:custGeom>
                    <a:avLst/>
                    <a:gdLst>
                      <a:gd name="T0" fmla="*/ 25 w 25"/>
                      <a:gd name="T1" fmla="*/ 5 h 7"/>
                      <a:gd name="T2" fmla="*/ 23 w 25"/>
                      <a:gd name="T3" fmla="*/ 6 h 7"/>
                      <a:gd name="T4" fmla="*/ 22 w 25"/>
                      <a:gd name="T5" fmla="*/ 6 h 7"/>
                      <a:gd name="T6" fmla="*/ 17 w 25"/>
                      <a:gd name="T7" fmla="*/ 7 h 7"/>
                      <a:gd name="T8" fmla="*/ 8 w 25"/>
                      <a:gd name="T9" fmla="*/ 7 h 7"/>
                      <a:gd name="T10" fmla="*/ 5 w 25"/>
                      <a:gd name="T11" fmla="*/ 6 h 7"/>
                      <a:gd name="T12" fmla="*/ 4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4 w 25"/>
                      <a:gd name="T25" fmla="*/ 2 h 7"/>
                      <a:gd name="T26" fmla="*/ 8 w 25"/>
                      <a:gd name="T27" fmla="*/ 3 h 7"/>
                      <a:gd name="T28" fmla="*/ 13 w 25"/>
                      <a:gd name="T29" fmla="*/ 3 h 7"/>
                      <a:gd name="T30" fmla="*/ 18 w 25"/>
                      <a:gd name="T31" fmla="*/ 3 h 7"/>
                      <a:gd name="T32" fmla="*/ 23 w 25"/>
                      <a:gd name="T33" fmla="*/ 2 h 7"/>
                      <a:gd name="T34" fmla="*/ 25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5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5" y="5"/>
                        </a:move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17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4" y="2"/>
                        </a:lnTo>
                        <a:lnTo>
                          <a:pt x="8" y="3"/>
                        </a:lnTo>
                        <a:lnTo>
                          <a:pt x="13" y="3"/>
                        </a:lnTo>
                        <a:lnTo>
                          <a:pt x="18" y="3"/>
                        </a:lnTo>
                        <a:lnTo>
                          <a:pt x="23" y="2"/>
                        </a:lnTo>
                        <a:lnTo>
                          <a:pt x="25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88" name="Freeform 432"/>
                  <p:cNvSpPr>
                    <a:spLocks/>
                  </p:cNvSpPr>
                  <p:nvPr/>
                </p:nvSpPr>
                <p:spPr bwMode="auto">
                  <a:xfrm>
                    <a:off x="3722" y="2542"/>
                    <a:ext cx="25" cy="7"/>
                  </a:xfrm>
                  <a:custGeom>
                    <a:avLst/>
                    <a:gdLst>
                      <a:gd name="T0" fmla="*/ 25 w 25"/>
                      <a:gd name="T1" fmla="*/ 5 h 7"/>
                      <a:gd name="T2" fmla="*/ 23 w 25"/>
                      <a:gd name="T3" fmla="*/ 6 h 7"/>
                      <a:gd name="T4" fmla="*/ 22 w 25"/>
                      <a:gd name="T5" fmla="*/ 6 h 7"/>
                      <a:gd name="T6" fmla="*/ 17 w 25"/>
                      <a:gd name="T7" fmla="*/ 7 h 7"/>
                      <a:gd name="T8" fmla="*/ 8 w 25"/>
                      <a:gd name="T9" fmla="*/ 7 h 7"/>
                      <a:gd name="T10" fmla="*/ 5 w 25"/>
                      <a:gd name="T11" fmla="*/ 6 h 7"/>
                      <a:gd name="T12" fmla="*/ 4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4 w 25"/>
                      <a:gd name="T25" fmla="*/ 2 h 7"/>
                      <a:gd name="T26" fmla="*/ 8 w 25"/>
                      <a:gd name="T27" fmla="*/ 3 h 7"/>
                      <a:gd name="T28" fmla="*/ 13 w 25"/>
                      <a:gd name="T29" fmla="*/ 3 h 7"/>
                      <a:gd name="T30" fmla="*/ 18 w 25"/>
                      <a:gd name="T31" fmla="*/ 3 h 7"/>
                      <a:gd name="T32" fmla="*/ 23 w 25"/>
                      <a:gd name="T33" fmla="*/ 2 h 7"/>
                      <a:gd name="T34" fmla="*/ 25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5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5" y="5"/>
                        </a:moveTo>
                        <a:lnTo>
                          <a:pt x="23" y="6"/>
                        </a:lnTo>
                        <a:lnTo>
                          <a:pt x="22" y="6"/>
                        </a:lnTo>
                        <a:lnTo>
                          <a:pt x="17" y="7"/>
                        </a:lnTo>
                        <a:lnTo>
                          <a:pt x="8" y="7"/>
                        </a:lnTo>
                        <a:lnTo>
                          <a:pt x="5" y="6"/>
                        </a:lnTo>
                        <a:lnTo>
                          <a:pt x="4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4" y="2"/>
                        </a:lnTo>
                        <a:lnTo>
                          <a:pt x="8" y="3"/>
                        </a:lnTo>
                        <a:lnTo>
                          <a:pt x="13" y="3"/>
                        </a:lnTo>
                        <a:lnTo>
                          <a:pt x="18" y="3"/>
                        </a:lnTo>
                        <a:lnTo>
                          <a:pt x="23" y="2"/>
                        </a:lnTo>
                        <a:lnTo>
                          <a:pt x="25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89" name="Freeform 433"/>
                  <p:cNvSpPr>
                    <a:spLocks/>
                  </p:cNvSpPr>
                  <p:nvPr/>
                </p:nvSpPr>
                <p:spPr bwMode="auto">
                  <a:xfrm>
                    <a:off x="3721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1 w 27"/>
                      <a:gd name="T7" fmla="*/ 127 h 128"/>
                      <a:gd name="T8" fmla="*/ 17 w 27"/>
                      <a:gd name="T9" fmla="*/ 127 h 128"/>
                      <a:gd name="T10" fmla="*/ 15 w 27"/>
                      <a:gd name="T11" fmla="*/ 128 h 128"/>
                      <a:gd name="T12" fmla="*/ 12 w 27"/>
                      <a:gd name="T13" fmla="*/ 128 h 128"/>
                      <a:gd name="T14" fmla="*/ 9 w 27"/>
                      <a:gd name="T15" fmla="*/ 127 h 128"/>
                      <a:gd name="T16" fmla="*/ 6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1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6 w 27"/>
                      <a:gd name="T31" fmla="*/ 0 h 128"/>
                      <a:gd name="T32" fmla="*/ 9 w 27"/>
                      <a:gd name="T33" fmla="*/ 1 h 128"/>
                      <a:gd name="T34" fmla="*/ 18 w 27"/>
                      <a:gd name="T35" fmla="*/ 1 h 128"/>
                      <a:gd name="T36" fmla="*/ 22 w 27"/>
                      <a:gd name="T37" fmla="*/ 0 h 128"/>
                      <a:gd name="T38" fmla="*/ 24 w 27"/>
                      <a:gd name="T39" fmla="*/ 124 h 128"/>
                      <a:gd name="T40" fmla="*/ 25 w 27"/>
                      <a:gd name="T41" fmla="*/ 124 h 128"/>
                      <a:gd name="T42" fmla="*/ 26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1" y="127"/>
                        </a:lnTo>
                        <a:lnTo>
                          <a:pt x="17" y="127"/>
                        </a:lnTo>
                        <a:lnTo>
                          <a:pt x="15" y="128"/>
                        </a:lnTo>
                        <a:lnTo>
                          <a:pt x="12" y="128"/>
                        </a:lnTo>
                        <a:lnTo>
                          <a:pt x="9" y="127"/>
                        </a:lnTo>
                        <a:lnTo>
                          <a:pt x="6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1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6" y="0"/>
                        </a:lnTo>
                        <a:lnTo>
                          <a:pt x="9" y="1"/>
                        </a:lnTo>
                        <a:lnTo>
                          <a:pt x="18" y="1"/>
                        </a:lnTo>
                        <a:lnTo>
                          <a:pt x="22" y="0"/>
                        </a:lnTo>
                        <a:lnTo>
                          <a:pt x="24" y="124"/>
                        </a:lnTo>
                        <a:lnTo>
                          <a:pt x="25" y="124"/>
                        </a:lnTo>
                        <a:lnTo>
                          <a:pt x="26" y="124"/>
                        </a:lnTo>
                        <a:lnTo>
                          <a:pt x="27" y="1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90" name="Freeform 434"/>
                  <p:cNvSpPr>
                    <a:spLocks/>
                  </p:cNvSpPr>
                  <p:nvPr/>
                </p:nvSpPr>
                <p:spPr bwMode="auto">
                  <a:xfrm>
                    <a:off x="3721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1 w 27"/>
                      <a:gd name="T7" fmla="*/ 127 h 128"/>
                      <a:gd name="T8" fmla="*/ 17 w 27"/>
                      <a:gd name="T9" fmla="*/ 127 h 128"/>
                      <a:gd name="T10" fmla="*/ 15 w 27"/>
                      <a:gd name="T11" fmla="*/ 128 h 128"/>
                      <a:gd name="T12" fmla="*/ 12 w 27"/>
                      <a:gd name="T13" fmla="*/ 128 h 128"/>
                      <a:gd name="T14" fmla="*/ 9 w 27"/>
                      <a:gd name="T15" fmla="*/ 127 h 128"/>
                      <a:gd name="T16" fmla="*/ 6 w 27"/>
                      <a:gd name="T17" fmla="*/ 127 h 128"/>
                      <a:gd name="T18" fmla="*/ 3 w 27"/>
                      <a:gd name="T19" fmla="*/ 126 h 128"/>
                      <a:gd name="T20" fmla="*/ 1 w 27"/>
                      <a:gd name="T21" fmla="*/ 126 h 128"/>
                      <a:gd name="T22" fmla="*/ 0 w 27"/>
                      <a:gd name="T23" fmla="*/ 125 h 128"/>
                      <a:gd name="T24" fmla="*/ 1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6 w 27"/>
                      <a:gd name="T31" fmla="*/ 0 h 128"/>
                      <a:gd name="T32" fmla="*/ 9 w 27"/>
                      <a:gd name="T33" fmla="*/ 1 h 128"/>
                      <a:gd name="T34" fmla="*/ 18 w 27"/>
                      <a:gd name="T35" fmla="*/ 1 h 128"/>
                      <a:gd name="T36" fmla="*/ 22 w 27"/>
                      <a:gd name="T37" fmla="*/ 0 h 128"/>
                      <a:gd name="T38" fmla="*/ 24 w 27"/>
                      <a:gd name="T39" fmla="*/ 124 h 128"/>
                      <a:gd name="T40" fmla="*/ 25 w 27"/>
                      <a:gd name="T41" fmla="*/ 124 h 128"/>
                      <a:gd name="T42" fmla="*/ 26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1" y="127"/>
                        </a:lnTo>
                        <a:lnTo>
                          <a:pt x="17" y="127"/>
                        </a:lnTo>
                        <a:lnTo>
                          <a:pt x="15" y="128"/>
                        </a:lnTo>
                        <a:lnTo>
                          <a:pt x="12" y="128"/>
                        </a:lnTo>
                        <a:lnTo>
                          <a:pt x="9" y="127"/>
                        </a:lnTo>
                        <a:lnTo>
                          <a:pt x="6" y="127"/>
                        </a:lnTo>
                        <a:lnTo>
                          <a:pt x="3" y="126"/>
                        </a:lnTo>
                        <a:lnTo>
                          <a:pt x="1" y="126"/>
                        </a:lnTo>
                        <a:lnTo>
                          <a:pt x="0" y="125"/>
                        </a:lnTo>
                        <a:lnTo>
                          <a:pt x="1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6" y="0"/>
                        </a:lnTo>
                        <a:lnTo>
                          <a:pt x="9" y="1"/>
                        </a:lnTo>
                        <a:lnTo>
                          <a:pt x="18" y="1"/>
                        </a:lnTo>
                        <a:lnTo>
                          <a:pt x="22" y="0"/>
                        </a:lnTo>
                        <a:lnTo>
                          <a:pt x="24" y="124"/>
                        </a:lnTo>
                        <a:lnTo>
                          <a:pt x="25" y="124"/>
                        </a:lnTo>
                        <a:lnTo>
                          <a:pt x="26" y="124"/>
                        </a:lnTo>
                        <a:lnTo>
                          <a:pt x="27" y="12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91" name="Freeform 435"/>
                  <p:cNvSpPr>
                    <a:spLocks/>
                  </p:cNvSpPr>
                  <p:nvPr/>
                </p:nvSpPr>
                <p:spPr bwMode="auto">
                  <a:xfrm>
                    <a:off x="3721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6 w 27"/>
                      <a:gd name="T7" fmla="*/ 2 h 7"/>
                      <a:gd name="T8" fmla="*/ 9 w 27"/>
                      <a:gd name="T9" fmla="*/ 3 h 7"/>
                      <a:gd name="T10" fmla="*/ 12 w 27"/>
                      <a:gd name="T11" fmla="*/ 3 h 7"/>
                      <a:gd name="T12" fmla="*/ 15 w 27"/>
                      <a:gd name="T13" fmla="*/ 3 h 7"/>
                      <a:gd name="T14" fmla="*/ 17 w 27"/>
                      <a:gd name="T15" fmla="*/ 3 h 7"/>
                      <a:gd name="T16" fmla="*/ 21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4 w 27"/>
                      <a:gd name="T29" fmla="*/ 5 h 7"/>
                      <a:gd name="T30" fmla="*/ 21 w 27"/>
                      <a:gd name="T31" fmla="*/ 6 h 7"/>
                      <a:gd name="T32" fmla="*/ 17 w 27"/>
                      <a:gd name="T33" fmla="*/ 7 h 7"/>
                      <a:gd name="T34" fmla="*/ 15 w 27"/>
                      <a:gd name="T35" fmla="*/ 7 h 7"/>
                      <a:gd name="T36" fmla="*/ 12 w 27"/>
                      <a:gd name="T37" fmla="*/ 7 h 7"/>
                      <a:gd name="T38" fmla="*/ 9 w 27"/>
                      <a:gd name="T39" fmla="*/ 7 h 7"/>
                      <a:gd name="T40" fmla="*/ 6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6" y="2"/>
                        </a:lnTo>
                        <a:lnTo>
                          <a:pt x="9" y="3"/>
                        </a:lnTo>
                        <a:lnTo>
                          <a:pt x="12" y="3"/>
                        </a:lnTo>
                        <a:lnTo>
                          <a:pt x="15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4" y="5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15" y="7"/>
                        </a:lnTo>
                        <a:lnTo>
                          <a:pt x="12" y="7"/>
                        </a:lnTo>
                        <a:lnTo>
                          <a:pt x="9" y="7"/>
                        </a:lnTo>
                        <a:lnTo>
                          <a:pt x="6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92" name="Freeform 436"/>
                  <p:cNvSpPr>
                    <a:spLocks/>
                  </p:cNvSpPr>
                  <p:nvPr/>
                </p:nvSpPr>
                <p:spPr bwMode="auto">
                  <a:xfrm>
                    <a:off x="3721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1 w 27"/>
                      <a:gd name="T3" fmla="*/ 1 h 7"/>
                      <a:gd name="T4" fmla="*/ 3 w 27"/>
                      <a:gd name="T5" fmla="*/ 2 h 7"/>
                      <a:gd name="T6" fmla="*/ 6 w 27"/>
                      <a:gd name="T7" fmla="*/ 2 h 7"/>
                      <a:gd name="T8" fmla="*/ 9 w 27"/>
                      <a:gd name="T9" fmla="*/ 3 h 7"/>
                      <a:gd name="T10" fmla="*/ 12 w 27"/>
                      <a:gd name="T11" fmla="*/ 3 h 7"/>
                      <a:gd name="T12" fmla="*/ 15 w 27"/>
                      <a:gd name="T13" fmla="*/ 3 h 7"/>
                      <a:gd name="T14" fmla="*/ 17 w 27"/>
                      <a:gd name="T15" fmla="*/ 3 h 7"/>
                      <a:gd name="T16" fmla="*/ 21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4 w 27"/>
                      <a:gd name="T29" fmla="*/ 5 h 7"/>
                      <a:gd name="T30" fmla="*/ 21 w 27"/>
                      <a:gd name="T31" fmla="*/ 6 h 7"/>
                      <a:gd name="T32" fmla="*/ 17 w 27"/>
                      <a:gd name="T33" fmla="*/ 7 h 7"/>
                      <a:gd name="T34" fmla="*/ 15 w 27"/>
                      <a:gd name="T35" fmla="*/ 7 h 7"/>
                      <a:gd name="T36" fmla="*/ 12 w 27"/>
                      <a:gd name="T37" fmla="*/ 7 h 7"/>
                      <a:gd name="T38" fmla="*/ 9 w 27"/>
                      <a:gd name="T39" fmla="*/ 7 h 7"/>
                      <a:gd name="T40" fmla="*/ 6 w 27"/>
                      <a:gd name="T41" fmla="*/ 6 h 7"/>
                      <a:gd name="T42" fmla="*/ 3 w 27"/>
                      <a:gd name="T43" fmla="*/ 5 h 7"/>
                      <a:gd name="T44" fmla="*/ 1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6" y="2"/>
                        </a:lnTo>
                        <a:lnTo>
                          <a:pt x="9" y="3"/>
                        </a:lnTo>
                        <a:lnTo>
                          <a:pt x="12" y="3"/>
                        </a:lnTo>
                        <a:lnTo>
                          <a:pt x="15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4" y="5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15" y="7"/>
                        </a:lnTo>
                        <a:lnTo>
                          <a:pt x="12" y="7"/>
                        </a:lnTo>
                        <a:lnTo>
                          <a:pt x="9" y="7"/>
                        </a:lnTo>
                        <a:lnTo>
                          <a:pt x="6" y="6"/>
                        </a:lnTo>
                        <a:lnTo>
                          <a:pt x="3" y="5"/>
                        </a:lnTo>
                        <a:lnTo>
                          <a:pt x="1" y="4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93" name="Freeform 437"/>
                  <p:cNvSpPr>
                    <a:spLocks/>
                  </p:cNvSpPr>
                  <p:nvPr/>
                </p:nvSpPr>
                <p:spPr bwMode="auto">
                  <a:xfrm>
                    <a:off x="3791" y="2529"/>
                    <a:ext cx="6" cy="3"/>
                  </a:xfrm>
                  <a:custGeom>
                    <a:avLst/>
                    <a:gdLst>
                      <a:gd name="T0" fmla="*/ 0 w 6"/>
                      <a:gd name="T1" fmla="*/ 0 h 3"/>
                      <a:gd name="T2" fmla="*/ 0 w 6"/>
                      <a:gd name="T3" fmla="*/ 3 h 3"/>
                      <a:gd name="T4" fmla="*/ 6 w 6"/>
                      <a:gd name="T5" fmla="*/ 0 h 3"/>
                      <a:gd name="T6" fmla="*/ 0 w 6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"/>
                      <a:gd name="T13" fmla="*/ 0 h 3"/>
                      <a:gd name="T14" fmla="*/ 6 w 6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94" name="Freeform 438"/>
                  <p:cNvSpPr>
                    <a:spLocks/>
                  </p:cNvSpPr>
                  <p:nvPr/>
                </p:nvSpPr>
                <p:spPr bwMode="auto">
                  <a:xfrm>
                    <a:off x="3791" y="2529"/>
                    <a:ext cx="6" cy="3"/>
                  </a:xfrm>
                  <a:custGeom>
                    <a:avLst/>
                    <a:gdLst>
                      <a:gd name="T0" fmla="*/ 0 w 6"/>
                      <a:gd name="T1" fmla="*/ 0 h 3"/>
                      <a:gd name="T2" fmla="*/ 0 w 6"/>
                      <a:gd name="T3" fmla="*/ 3 h 3"/>
                      <a:gd name="T4" fmla="*/ 6 w 6"/>
                      <a:gd name="T5" fmla="*/ 0 h 3"/>
                      <a:gd name="T6" fmla="*/ 0 w 6"/>
                      <a:gd name="T7" fmla="*/ 0 h 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"/>
                      <a:gd name="T13" fmla="*/ 0 h 3"/>
                      <a:gd name="T14" fmla="*/ 6 w 6"/>
                      <a:gd name="T15" fmla="*/ 3 h 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" h="3">
                        <a:moveTo>
                          <a:pt x="0" y="0"/>
                        </a:moveTo>
                        <a:lnTo>
                          <a:pt x="0" y="3"/>
                        </a:lnTo>
                        <a:lnTo>
                          <a:pt x="6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95" name="Rectangle 439"/>
                  <p:cNvSpPr>
                    <a:spLocks noChangeArrowheads="1"/>
                  </p:cNvSpPr>
                  <p:nvPr/>
                </p:nvSpPr>
                <p:spPr bwMode="auto">
                  <a:xfrm>
                    <a:off x="3766" y="2529"/>
                    <a:ext cx="25" cy="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96" name="Rectangle 440"/>
                  <p:cNvSpPr>
                    <a:spLocks noChangeArrowheads="1"/>
                  </p:cNvSpPr>
                  <p:nvPr/>
                </p:nvSpPr>
                <p:spPr bwMode="auto">
                  <a:xfrm>
                    <a:off x="3766" y="2529"/>
                    <a:ext cx="25" cy="3"/>
                  </a:xfrm>
                  <a:prstGeom prst="rect">
                    <a:avLst/>
                  </a:prstGeom>
                  <a:no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97" name="Freeform 441"/>
                  <p:cNvSpPr>
                    <a:spLocks/>
                  </p:cNvSpPr>
                  <p:nvPr/>
                </p:nvSpPr>
                <p:spPr bwMode="auto">
                  <a:xfrm>
                    <a:off x="3767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0 w 24"/>
                      <a:gd name="T5" fmla="*/ 2 h 3"/>
                      <a:gd name="T6" fmla="*/ 2 w 24"/>
                      <a:gd name="T7" fmla="*/ 2 h 3"/>
                      <a:gd name="T8" fmla="*/ 3 w 24"/>
                      <a:gd name="T9" fmla="*/ 2 h 3"/>
                      <a:gd name="T10" fmla="*/ 6 w 24"/>
                      <a:gd name="T11" fmla="*/ 3 h 3"/>
                      <a:gd name="T12" fmla="*/ 12 w 24"/>
                      <a:gd name="T13" fmla="*/ 3 h 3"/>
                      <a:gd name="T14" fmla="*/ 17 w 24"/>
                      <a:gd name="T15" fmla="*/ 3 h 3"/>
                      <a:gd name="T16" fmla="*/ 21 w 24"/>
                      <a:gd name="T17" fmla="*/ 2 h 3"/>
                      <a:gd name="T18" fmla="*/ 23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0 h 3"/>
                      <a:gd name="T24" fmla="*/ 0 w 24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"/>
                      <a:gd name="T40" fmla="*/ 0 h 3"/>
                      <a:gd name="T41" fmla="*/ 24 w 24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0" y="2"/>
                        </a:lnTo>
                        <a:lnTo>
                          <a:pt x="2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98" name="Freeform 442"/>
                  <p:cNvSpPr>
                    <a:spLocks/>
                  </p:cNvSpPr>
                  <p:nvPr/>
                </p:nvSpPr>
                <p:spPr bwMode="auto">
                  <a:xfrm>
                    <a:off x="3767" y="2532"/>
                    <a:ext cx="24" cy="3"/>
                  </a:xfrm>
                  <a:custGeom>
                    <a:avLst/>
                    <a:gdLst>
                      <a:gd name="T0" fmla="*/ 0 w 24"/>
                      <a:gd name="T1" fmla="*/ 0 h 3"/>
                      <a:gd name="T2" fmla="*/ 0 w 24"/>
                      <a:gd name="T3" fmla="*/ 1 h 3"/>
                      <a:gd name="T4" fmla="*/ 0 w 24"/>
                      <a:gd name="T5" fmla="*/ 2 h 3"/>
                      <a:gd name="T6" fmla="*/ 2 w 24"/>
                      <a:gd name="T7" fmla="*/ 2 h 3"/>
                      <a:gd name="T8" fmla="*/ 3 w 24"/>
                      <a:gd name="T9" fmla="*/ 2 h 3"/>
                      <a:gd name="T10" fmla="*/ 6 w 24"/>
                      <a:gd name="T11" fmla="*/ 3 h 3"/>
                      <a:gd name="T12" fmla="*/ 12 w 24"/>
                      <a:gd name="T13" fmla="*/ 3 h 3"/>
                      <a:gd name="T14" fmla="*/ 17 w 24"/>
                      <a:gd name="T15" fmla="*/ 3 h 3"/>
                      <a:gd name="T16" fmla="*/ 21 w 24"/>
                      <a:gd name="T17" fmla="*/ 2 h 3"/>
                      <a:gd name="T18" fmla="*/ 23 w 24"/>
                      <a:gd name="T19" fmla="*/ 2 h 3"/>
                      <a:gd name="T20" fmla="*/ 24 w 24"/>
                      <a:gd name="T21" fmla="*/ 1 h 3"/>
                      <a:gd name="T22" fmla="*/ 24 w 24"/>
                      <a:gd name="T23" fmla="*/ 0 h 3"/>
                      <a:gd name="T24" fmla="*/ 0 w 24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"/>
                      <a:gd name="T40" fmla="*/ 0 h 3"/>
                      <a:gd name="T41" fmla="*/ 24 w 24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0" y="2"/>
                        </a:lnTo>
                        <a:lnTo>
                          <a:pt x="2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7" y="3"/>
                        </a:lnTo>
                        <a:lnTo>
                          <a:pt x="21" y="2"/>
                        </a:lnTo>
                        <a:lnTo>
                          <a:pt x="23" y="2"/>
                        </a:lnTo>
                        <a:lnTo>
                          <a:pt x="24" y="1"/>
                        </a:lnTo>
                        <a:lnTo>
                          <a:pt x="24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599" name="Freeform 443"/>
                  <p:cNvSpPr>
                    <a:spLocks/>
                  </p:cNvSpPr>
                  <p:nvPr/>
                </p:nvSpPr>
                <p:spPr bwMode="auto">
                  <a:xfrm>
                    <a:off x="3766" y="2535"/>
                    <a:ext cx="25" cy="10"/>
                  </a:xfrm>
                  <a:custGeom>
                    <a:avLst/>
                    <a:gdLst>
                      <a:gd name="T0" fmla="*/ 20 w 25"/>
                      <a:gd name="T1" fmla="*/ 0 h 10"/>
                      <a:gd name="T2" fmla="*/ 18 w 25"/>
                      <a:gd name="T3" fmla="*/ 0 h 10"/>
                      <a:gd name="T4" fmla="*/ 12 w 25"/>
                      <a:gd name="T5" fmla="*/ 1 h 10"/>
                      <a:gd name="T6" fmla="*/ 7 w 25"/>
                      <a:gd name="T7" fmla="*/ 0 h 10"/>
                      <a:gd name="T8" fmla="*/ 3 w 25"/>
                      <a:gd name="T9" fmla="*/ 0 h 10"/>
                      <a:gd name="T10" fmla="*/ 3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3 w 25"/>
                      <a:gd name="T23" fmla="*/ 9 h 10"/>
                      <a:gd name="T24" fmla="*/ 7 w 25"/>
                      <a:gd name="T25" fmla="*/ 10 h 10"/>
                      <a:gd name="T26" fmla="*/ 12 w 25"/>
                      <a:gd name="T27" fmla="*/ 10 h 10"/>
                      <a:gd name="T28" fmla="*/ 18 w 25"/>
                      <a:gd name="T29" fmla="*/ 10 h 10"/>
                      <a:gd name="T30" fmla="*/ 22 w 25"/>
                      <a:gd name="T31" fmla="*/ 9 h 10"/>
                      <a:gd name="T32" fmla="*/ 25 w 25"/>
                      <a:gd name="T33" fmla="*/ 9 h 10"/>
                      <a:gd name="T34" fmla="*/ 25 w 25"/>
                      <a:gd name="T35" fmla="*/ 7 h 10"/>
                      <a:gd name="T36" fmla="*/ 25 w 25"/>
                      <a:gd name="T37" fmla="*/ 6 h 10"/>
                      <a:gd name="T38" fmla="*/ 23 w 25"/>
                      <a:gd name="T39" fmla="*/ 6 h 10"/>
                      <a:gd name="T40" fmla="*/ 20 w 25"/>
                      <a:gd name="T41" fmla="*/ 6 h 10"/>
                      <a:gd name="T42" fmla="*/ 20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7" y="0"/>
                        </a:lnTo>
                        <a:lnTo>
                          <a:pt x="3" y="0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3" y="9"/>
                        </a:lnTo>
                        <a:lnTo>
                          <a:pt x="7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2" y="9"/>
                        </a:lnTo>
                        <a:lnTo>
                          <a:pt x="25" y="9"/>
                        </a:lnTo>
                        <a:lnTo>
                          <a:pt x="25" y="7"/>
                        </a:lnTo>
                        <a:lnTo>
                          <a:pt x="25" y="6"/>
                        </a:lnTo>
                        <a:lnTo>
                          <a:pt x="23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00" name="Freeform 444"/>
                  <p:cNvSpPr>
                    <a:spLocks/>
                  </p:cNvSpPr>
                  <p:nvPr/>
                </p:nvSpPr>
                <p:spPr bwMode="auto">
                  <a:xfrm>
                    <a:off x="3766" y="2535"/>
                    <a:ext cx="25" cy="10"/>
                  </a:xfrm>
                  <a:custGeom>
                    <a:avLst/>
                    <a:gdLst>
                      <a:gd name="T0" fmla="*/ 20 w 25"/>
                      <a:gd name="T1" fmla="*/ 0 h 10"/>
                      <a:gd name="T2" fmla="*/ 18 w 25"/>
                      <a:gd name="T3" fmla="*/ 0 h 10"/>
                      <a:gd name="T4" fmla="*/ 12 w 25"/>
                      <a:gd name="T5" fmla="*/ 1 h 10"/>
                      <a:gd name="T6" fmla="*/ 7 w 25"/>
                      <a:gd name="T7" fmla="*/ 0 h 10"/>
                      <a:gd name="T8" fmla="*/ 3 w 25"/>
                      <a:gd name="T9" fmla="*/ 0 h 10"/>
                      <a:gd name="T10" fmla="*/ 3 w 25"/>
                      <a:gd name="T11" fmla="*/ 6 h 10"/>
                      <a:gd name="T12" fmla="*/ 2 w 25"/>
                      <a:gd name="T13" fmla="*/ 6 h 10"/>
                      <a:gd name="T14" fmla="*/ 0 w 25"/>
                      <a:gd name="T15" fmla="*/ 6 h 10"/>
                      <a:gd name="T16" fmla="*/ 0 w 25"/>
                      <a:gd name="T17" fmla="*/ 7 h 10"/>
                      <a:gd name="T18" fmla="*/ 0 w 25"/>
                      <a:gd name="T19" fmla="*/ 9 h 10"/>
                      <a:gd name="T20" fmla="*/ 0 w 25"/>
                      <a:gd name="T21" fmla="*/ 9 h 10"/>
                      <a:gd name="T22" fmla="*/ 3 w 25"/>
                      <a:gd name="T23" fmla="*/ 9 h 10"/>
                      <a:gd name="T24" fmla="*/ 7 w 25"/>
                      <a:gd name="T25" fmla="*/ 10 h 10"/>
                      <a:gd name="T26" fmla="*/ 12 w 25"/>
                      <a:gd name="T27" fmla="*/ 10 h 10"/>
                      <a:gd name="T28" fmla="*/ 18 w 25"/>
                      <a:gd name="T29" fmla="*/ 10 h 10"/>
                      <a:gd name="T30" fmla="*/ 22 w 25"/>
                      <a:gd name="T31" fmla="*/ 9 h 10"/>
                      <a:gd name="T32" fmla="*/ 25 w 25"/>
                      <a:gd name="T33" fmla="*/ 9 h 10"/>
                      <a:gd name="T34" fmla="*/ 25 w 25"/>
                      <a:gd name="T35" fmla="*/ 7 h 10"/>
                      <a:gd name="T36" fmla="*/ 25 w 25"/>
                      <a:gd name="T37" fmla="*/ 6 h 10"/>
                      <a:gd name="T38" fmla="*/ 23 w 25"/>
                      <a:gd name="T39" fmla="*/ 6 h 10"/>
                      <a:gd name="T40" fmla="*/ 20 w 25"/>
                      <a:gd name="T41" fmla="*/ 6 h 10"/>
                      <a:gd name="T42" fmla="*/ 20 w 25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5"/>
                      <a:gd name="T67" fmla="*/ 0 h 10"/>
                      <a:gd name="T68" fmla="*/ 25 w 25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5" h="10">
                        <a:moveTo>
                          <a:pt x="20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7" y="0"/>
                        </a:lnTo>
                        <a:lnTo>
                          <a:pt x="3" y="0"/>
                        </a:lnTo>
                        <a:lnTo>
                          <a:pt x="3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3" y="9"/>
                        </a:lnTo>
                        <a:lnTo>
                          <a:pt x="7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2" y="9"/>
                        </a:lnTo>
                        <a:lnTo>
                          <a:pt x="25" y="9"/>
                        </a:lnTo>
                        <a:lnTo>
                          <a:pt x="25" y="7"/>
                        </a:lnTo>
                        <a:lnTo>
                          <a:pt x="25" y="6"/>
                        </a:lnTo>
                        <a:lnTo>
                          <a:pt x="23" y="6"/>
                        </a:lnTo>
                        <a:lnTo>
                          <a:pt x="20" y="6"/>
                        </a:lnTo>
                        <a:lnTo>
                          <a:pt x="2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01" name="Freeform 445"/>
                  <p:cNvSpPr>
                    <a:spLocks/>
                  </p:cNvSpPr>
                  <p:nvPr/>
                </p:nvSpPr>
                <p:spPr bwMode="auto">
                  <a:xfrm>
                    <a:off x="3766" y="2542"/>
                    <a:ext cx="25" cy="7"/>
                  </a:xfrm>
                  <a:custGeom>
                    <a:avLst/>
                    <a:gdLst>
                      <a:gd name="T0" fmla="*/ 25 w 25"/>
                      <a:gd name="T1" fmla="*/ 5 h 7"/>
                      <a:gd name="T2" fmla="*/ 22 w 25"/>
                      <a:gd name="T3" fmla="*/ 6 h 7"/>
                      <a:gd name="T4" fmla="*/ 20 w 25"/>
                      <a:gd name="T5" fmla="*/ 6 h 7"/>
                      <a:gd name="T6" fmla="*/ 16 w 25"/>
                      <a:gd name="T7" fmla="*/ 7 h 7"/>
                      <a:gd name="T8" fmla="*/ 7 w 25"/>
                      <a:gd name="T9" fmla="*/ 7 h 7"/>
                      <a:gd name="T10" fmla="*/ 3 w 25"/>
                      <a:gd name="T11" fmla="*/ 6 h 7"/>
                      <a:gd name="T12" fmla="*/ 3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3 w 25"/>
                      <a:gd name="T25" fmla="*/ 2 h 7"/>
                      <a:gd name="T26" fmla="*/ 7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2 w 25"/>
                      <a:gd name="T33" fmla="*/ 2 h 7"/>
                      <a:gd name="T34" fmla="*/ 25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5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5" y="5"/>
                        </a:move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6" y="7"/>
                        </a:lnTo>
                        <a:lnTo>
                          <a:pt x="7" y="7"/>
                        </a:lnTo>
                        <a:lnTo>
                          <a:pt x="3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3" y="2"/>
                        </a:lnTo>
                        <a:lnTo>
                          <a:pt x="7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2" y="2"/>
                        </a:lnTo>
                        <a:lnTo>
                          <a:pt x="25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02" name="Freeform 446"/>
                  <p:cNvSpPr>
                    <a:spLocks/>
                  </p:cNvSpPr>
                  <p:nvPr/>
                </p:nvSpPr>
                <p:spPr bwMode="auto">
                  <a:xfrm>
                    <a:off x="3766" y="2542"/>
                    <a:ext cx="25" cy="7"/>
                  </a:xfrm>
                  <a:custGeom>
                    <a:avLst/>
                    <a:gdLst>
                      <a:gd name="T0" fmla="*/ 25 w 25"/>
                      <a:gd name="T1" fmla="*/ 5 h 7"/>
                      <a:gd name="T2" fmla="*/ 22 w 25"/>
                      <a:gd name="T3" fmla="*/ 6 h 7"/>
                      <a:gd name="T4" fmla="*/ 20 w 25"/>
                      <a:gd name="T5" fmla="*/ 6 h 7"/>
                      <a:gd name="T6" fmla="*/ 16 w 25"/>
                      <a:gd name="T7" fmla="*/ 7 h 7"/>
                      <a:gd name="T8" fmla="*/ 7 w 25"/>
                      <a:gd name="T9" fmla="*/ 7 h 7"/>
                      <a:gd name="T10" fmla="*/ 3 w 25"/>
                      <a:gd name="T11" fmla="*/ 6 h 7"/>
                      <a:gd name="T12" fmla="*/ 3 w 25"/>
                      <a:gd name="T13" fmla="*/ 6 h 7"/>
                      <a:gd name="T14" fmla="*/ 0 w 25"/>
                      <a:gd name="T15" fmla="*/ 5 h 7"/>
                      <a:gd name="T16" fmla="*/ 0 w 25"/>
                      <a:gd name="T17" fmla="*/ 5 h 7"/>
                      <a:gd name="T18" fmla="*/ 0 w 25"/>
                      <a:gd name="T19" fmla="*/ 0 h 7"/>
                      <a:gd name="T20" fmla="*/ 0 w 25"/>
                      <a:gd name="T21" fmla="*/ 2 h 7"/>
                      <a:gd name="T22" fmla="*/ 0 w 25"/>
                      <a:gd name="T23" fmla="*/ 2 h 7"/>
                      <a:gd name="T24" fmla="*/ 3 w 25"/>
                      <a:gd name="T25" fmla="*/ 2 h 7"/>
                      <a:gd name="T26" fmla="*/ 7 w 25"/>
                      <a:gd name="T27" fmla="*/ 3 h 7"/>
                      <a:gd name="T28" fmla="*/ 12 w 25"/>
                      <a:gd name="T29" fmla="*/ 3 h 7"/>
                      <a:gd name="T30" fmla="*/ 18 w 25"/>
                      <a:gd name="T31" fmla="*/ 3 h 7"/>
                      <a:gd name="T32" fmla="*/ 22 w 25"/>
                      <a:gd name="T33" fmla="*/ 2 h 7"/>
                      <a:gd name="T34" fmla="*/ 25 w 25"/>
                      <a:gd name="T35" fmla="*/ 2 h 7"/>
                      <a:gd name="T36" fmla="*/ 25 w 25"/>
                      <a:gd name="T37" fmla="*/ 0 h 7"/>
                      <a:gd name="T38" fmla="*/ 25 w 25"/>
                      <a:gd name="T39" fmla="*/ 5 h 7"/>
                      <a:gd name="T40" fmla="*/ 25 w 25"/>
                      <a:gd name="T41" fmla="*/ 5 h 7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25"/>
                      <a:gd name="T64" fmla="*/ 0 h 7"/>
                      <a:gd name="T65" fmla="*/ 25 w 25"/>
                      <a:gd name="T66" fmla="*/ 7 h 7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25" h="7">
                        <a:moveTo>
                          <a:pt x="25" y="5"/>
                        </a:moveTo>
                        <a:lnTo>
                          <a:pt x="22" y="6"/>
                        </a:lnTo>
                        <a:lnTo>
                          <a:pt x="20" y="6"/>
                        </a:lnTo>
                        <a:lnTo>
                          <a:pt x="16" y="7"/>
                        </a:lnTo>
                        <a:lnTo>
                          <a:pt x="7" y="7"/>
                        </a:lnTo>
                        <a:lnTo>
                          <a:pt x="3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3" y="2"/>
                        </a:lnTo>
                        <a:lnTo>
                          <a:pt x="7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2" y="2"/>
                        </a:lnTo>
                        <a:lnTo>
                          <a:pt x="25" y="2"/>
                        </a:lnTo>
                        <a:lnTo>
                          <a:pt x="25" y="0"/>
                        </a:lnTo>
                        <a:lnTo>
                          <a:pt x="25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03" name="Freeform 447"/>
                  <p:cNvSpPr>
                    <a:spLocks/>
                  </p:cNvSpPr>
                  <p:nvPr/>
                </p:nvSpPr>
                <p:spPr bwMode="auto">
                  <a:xfrm>
                    <a:off x="3765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0 w 27"/>
                      <a:gd name="T7" fmla="*/ 127 h 128"/>
                      <a:gd name="T8" fmla="*/ 17 w 27"/>
                      <a:gd name="T9" fmla="*/ 127 h 128"/>
                      <a:gd name="T10" fmla="*/ 14 w 27"/>
                      <a:gd name="T11" fmla="*/ 128 h 128"/>
                      <a:gd name="T12" fmla="*/ 12 w 27"/>
                      <a:gd name="T13" fmla="*/ 128 h 128"/>
                      <a:gd name="T14" fmla="*/ 9 w 27"/>
                      <a:gd name="T15" fmla="*/ 127 h 128"/>
                      <a:gd name="T16" fmla="*/ 5 w 27"/>
                      <a:gd name="T17" fmla="*/ 127 h 128"/>
                      <a:gd name="T18" fmla="*/ 2 w 27"/>
                      <a:gd name="T19" fmla="*/ 126 h 128"/>
                      <a:gd name="T20" fmla="*/ 0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4 w 27"/>
                      <a:gd name="T31" fmla="*/ 0 h 128"/>
                      <a:gd name="T32" fmla="*/ 8 w 27"/>
                      <a:gd name="T33" fmla="*/ 1 h 128"/>
                      <a:gd name="T34" fmla="*/ 17 w 27"/>
                      <a:gd name="T35" fmla="*/ 1 h 128"/>
                      <a:gd name="T36" fmla="*/ 21 w 27"/>
                      <a:gd name="T37" fmla="*/ 0 h 128"/>
                      <a:gd name="T38" fmla="*/ 24 w 27"/>
                      <a:gd name="T39" fmla="*/ 124 h 128"/>
                      <a:gd name="T40" fmla="*/ 26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0" y="127"/>
                        </a:lnTo>
                        <a:lnTo>
                          <a:pt x="17" y="127"/>
                        </a:lnTo>
                        <a:lnTo>
                          <a:pt x="14" y="128"/>
                        </a:lnTo>
                        <a:lnTo>
                          <a:pt x="12" y="128"/>
                        </a:lnTo>
                        <a:lnTo>
                          <a:pt x="9" y="127"/>
                        </a:lnTo>
                        <a:lnTo>
                          <a:pt x="5" y="127"/>
                        </a:lnTo>
                        <a:lnTo>
                          <a:pt x="2" y="126"/>
                        </a:lnTo>
                        <a:lnTo>
                          <a:pt x="0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4" y="0"/>
                        </a:lnTo>
                        <a:lnTo>
                          <a:pt x="8" y="1"/>
                        </a:lnTo>
                        <a:lnTo>
                          <a:pt x="17" y="1"/>
                        </a:lnTo>
                        <a:lnTo>
                          <a:pt x="21" y="0"/>
                        </a:lnTo>
                        <a:lnTo>
                          <a:pt x="24" y="124"/>
                        </a:lnTo>
                        <a:lnTo>
                          <a:pt x="26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04" name="Freeform 448"/>
                  <p:cNvSpPr>
                    <a:spLocks/>
                  </p:cNvSpPr>
                  <p:nvPr/>
                </p:nvSpPr>
                <p:spPr bwMode="auto">
                  <a:xfrm>
                    <a:off x="3765" y="2548"/>
                    <a:ext cx="27" cy="128"/>
                  </a:xfrm>
                  <a:custGeom>
                    <a:avLst/>
                    <a:gdLst>
                      <a:gd name="T0" fmla="*/ 27 w 27"/>
                      <a:gd name="T1" fmla="*/ 125 h 128"/>
                      <a:gd name="T2" fmla="*/ 26 w 27"/>
                      <a:gd name="T3" fmla="*/ 126 h 128"/>
                      <a:gd name="T4" fmla="*/ 24 w 27"/>
                      <a:gd name="T5" fmla="*/ 126 h 128"/>
                      <a:gd name="T6" fmla="*/ 20 w 27"/>
                      <a:gd name="T7" fmla="*/ 127 h 128"/>
                      <a:gd name="T8" fmla="*/ 17 w 27"/>
                      <a:gd name="T9" fmla="*/ 127 h 128"/>
                      <a:gd name="T10" fmla="*/ 14 w 27"/>
                      <a:gd name="T11" fmla="*/ 128 h 128"/>
                      <a:gd name="T12" fmla="*/ 12 w 27"/>
                      <a:gd name="T13" fmla="*/ 128 h 128"/>
                      <a:gd name="T14" fmla="*/ 9 w 27"/>
                      <a:gd name="T15" fmla="*/ 127 h 128"/>
                      <a:gd name="T16" fmla="*/ 5 w 27"/>
                      <a:gd name="T17" fmla="*/ 127 h 128"/>
                      <a:gd name="T18" fmla="*/ 2 w 27"/>
                      <a:gd name="T19" fmla="*/ 126 h 128"/>
                      <a:gd name="T20" fmla="*/ 0 w 27"/>
                      <a:gd name="T21" fmla="*/ 126 h 128"/>
                      <a:gd name="T22" fmla="*/ 0 w 27"/>
                      <a:gd name="T23" fmla="*/ 125 h 128"/>
                      <a:gd name="T24" fmla="*/ 0 w 27"/>
                      <a:gd name="T25" fmla="*/ 124 h 128"/>
                      <a:gd name="T26" fmla="*/ 2 w 27"/>
                      <a:gd name="T27" fmla="*/ 124 h 128"/>
                      <a:gd name="T28" fmla="*/ 3 w 27"/>
                      <a:gd name="T29" fmla="*/ 123 h 128"/>
                      <a:gd name="T30" fmla="*/ 4 w 27"/>
                      <a:gd name="T31" fmla="*/ 0 h 128"/>
                      <a:gd name="T32" fmla="*/ 8 w 27"/>
                      <a:gd name="T33" fmla="*/ 1 h 128"/>
                      <a:gd name="T34" fmla="*/ 17 w 27"/>
                      <a:gd name="T35" fmla="*/ 1 h 128"/>
                      <a:gd name="T36" fmla="*/ 21 w 27"/>
                      <a:gd name="T37" fmla="*/ 0 h 128"/>
                      <a:gd name="T38" fmla="*/ 24 w 27"/>
                      <a:gd name="T39" fmla="*/ 124 h 128"/>
                      <a:gd name="T40" fmla="*/ 26 w 27"/>
                      <a:gd name="T41" fmla="*/ 124 h 128"/>
                      <a:gd name="T42" fmla="*/ 27 w 27"/>
                      <a:gd name="T43" fmla="*/ 124 h 128"/>
                      <a:gd name="T44" fmla="*/ 27 w 27"/>
                      <a:gd name="T45" fmla="*/ 125 h 128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27"/>
                      <a:gd name="T70" fmla="*/ 0 h 128"/>
                      <a:gd name="T71" fmla="*/ 27 w 27"/>
                      <a:gd name="T72" fmla="*/ 128 h 128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27" h="128">
                        <a:moveTo>
                          <a:pt x="27" y="125"/>
                        </a:moveTo>
                        <a:lnTo>
                          <a:pt x="26" y="126"/>
                        </a:lnTo>
                        <a:lnTo>
                          <a:pt x="24" y="126"/>
                        </a:lnTo>
                        <a:lnTo>
                          <a:pt x="20" y="127"/>
                        </a:lnTo>
                        <a:lnTo>
                          <a:pt x="17" y="127"/>
                        </a:lnTo>
                        <a:lnTo>
                          <a:pt x="14" y="128"/>
                        </a:lnTo>
                        <a:lnTo>
                          <a:pt x="12" y="128"/>
                        </a:lnTo>
                        <a:lnTo>
                          <a:pt x="9" y="127"/>
                        </a:lnTo>
                        <a:lnTo>
                          <a:pt x="5" y="127"/>
                        </a:lnTo>
                        <a:lnTo>
                          <a:pt x="2" y="126"/>
                        </a:lnTo>
                        <a:lnTo>
                          <a:pt x="0" y="126"/>
                        </a:lnTo>
                        <a:lnTo>
                          <a:pt x="0" y="125"/>
                        </a:lnTo>
                        <a:lnTo>
                          <a:pt x="0" y="124"/>
                        </a:lnTo>
                        <a:lnTo>
                          <a:pt x="2" y="124"/>
                        </a:lnTo>
                        <a:lnTo>
                          <a:pt x="3" y="123"/>
                        </a:lnTo>
                        <a:lnTo>
                          <a:pt x="4" y="0"/>
                        </a:lnTo>
                        <a:lnTo>
                          <a:pt x="8" y="1"/>
                        </a:lnTo>
                        <a:lnTo>
                          <a:pt x="17" y="1"/>
                        </a:lnTo>
                        <a:lnTo>
                          <a:pt x="21" y="0"/>
                        </a:lnTo>
                        <a:lnTo>
                          <a:pt x="24" y="124"/>
                        </a:lnTo>
                        <a:lnTo>
                          <a:pt x="26" y="124"/>
                        </a:lnTo>
                        <a:lnTo>
                          <a:pt x="27" y="124"/>
                        </a:lnTo>
                        <a:lnTo>
                          <a:pt x="27" y="12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05" name="Freeform 449"/>
                  <p:cNvSpPr>
                    <a:spLocks/>
                  </p:cNvSpPr>
                  <p:nvPr/>
                </p:nvSpPr>
                <p:spPr bwMode="auto">
                  <a:xfrm>
                    <a:off x="3765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0 w 27"/>
                      <a:gd name="T3" fmla="*/ 1 h 7"/>
                      <a:gd name="T4" fmla="*/ 2 w 27"/>
                      <a:gd name="T5" fmla="*/ 2 h 7"/>
                      <a:gd name="T6" fmla="*/ 5 w 27"/>
                      <a:gd name="T7" fmla="*/ 2 h 7"/>
                      <a:gd name="T8" fmla="*/ 9 w 27"/>
                      <a:gd name="T9" fmla="*/ 3 h 7"/>
                      <a:gd name="T10" fmla="*/ 12 w 27"/>
                      <a:gd name="T11" fmla="*/ 3 h 7"/>
                      <a:gd name="T12" fmla="*/ 14 w 27"/>
                      <a:gd name="T13" fmla="*/ 3 h 7"/>
                      <a:gd name="T14" fmla="*/ 17 w 27"/>
                      <a:gd name="T15" fmla="*/ 3 h 7"/>
                      <a:gd name="T16" fmla="*/ 20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4 w 27"/>
                      <a:gd name="T29" fmla="*/ 5 h 7"/>
                      <a:gd name="T30" fmla="*/ 20 w 27"/>
                      <a:gd name="T31" fmla="*/ 6 h 7"/>
                      <a:gd name="T32" fmla="*/ 17 w 27"/>
                      <a:gd name="T33" fmla="*/ 7 h 7"/>
                      <a:gd name="T34" fmla="*/ 14 w 27"/>
                      <a:gd name="T35" fmla="*/ 7 h 7"/>
                      <a:gd name="T36" fmla="*/ 12 w 27"/>
                      <a:gd name="T37" fmla="*/ 7 h 7"/>
                      <a:gd name="T38" fmla="*/ 9 w 27"/>
                      <a:gd name="T39" fmla="*/ 7 h 7"/>
                      <a:gd name="T40" fmla="*/ 5 w 27"/>
                      <a:gd name="T41" fmla="*/ 6 h 7"/>
                      <a:gd name="T42" fmla="*/ 2 w 27"/>
                      <a:gd name="T43" fmla="*/ 5 h 7"/>
                      <a:gd name="T44" fmla="*/ 0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2" y="2"/>
                        </a:lnTo>
                        <a:lnTo>
                          <a:pt x="5" y="2"/>
                        </a:lnTo>
                        <a:lnTo>
                          <a:pt x="9" y="3"/>
                        </a:lnTo>
                        <a:lnTo>
                          <a:pt x="12" y="3"/>
                        </a:lnTo>
                        <a:lnTo>
                          <a:pt x="14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4" y="5"/>
                        </a:lnTo>
                        <a:lnTo>
                          <a:pt x="20" y="6"/>
                        </a:lnTo>
                        <a:lnTo>
                          <a:pt x="17" y="7"/>
                        </a:lnTo>
                        <a:lnTo>
                          <a:pt x="14" y="7"/>
                        </a:lnTo>
                        <a:lnTo>
                          <a:pt x="12" y="7"/>
                        </a:lnTo>
                        <a:lnTo>
                          <a:pt x="9" y="7"/>
                        </a:lnTo>
                        <a:lnTo>
                          <a:pt x="5" y="6"/>
                        </a:lnTo>
                        <a:lnTo>
                          <a:pt x="2" y="5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06" name="Freeform 450"/>
                  <p:cNvSpPr>
                    <a:spLocks/>
                  </p:cNvSpPr>
                  <p:nvPr/>
                </p:nvSpPr>
                <p:spPr bwMode="auto">
                  <a:xfrm>
                    <a:off x="3765" y="2673"/>
                    <a:ext cx="27" cy="7"/>
                  </a:xfrm>
                  <a:custGeom>
                    <a:avLst/>
                    <a:gdLst>
                      <a:gd name="T0" fmla="*/ 0 w 27"/>
                      <a:gd name="T1" fmla="*/ 0 h 7"/>
                      <a:gd name="T2" fmla="*/ 0 w 27"/>
                      <a:gd name="T3" fmla="*/ 1 h 7"/>
                      <a:gd name="T4" fmla="*/ 2 w 27"/>
                      <a:gd name="T5" fmla="*/ 2 h 7"/>
                      <a:gd name="T6" fmla="*/ 5 w 27"/>
                      <a:gd name="T7" fmla="*/ 2 h 7"/>
                      <a:gd name="T8" fmla="*/ 9 w 27"/>
                      <a:gd name="T9" fmla="*/ 3 h 7"/>
                      <a:gd name="T10" fmla="*/ 12 w 27"/>
                      <a:gd name="T11" fmla="*/ 3 h 7"/>
                      <a:gd name="T12" fmla="*/ 14 w 27"/>
                      <a:gd name="T13" fmla="*/ 3 h 7"/>
                      <a:gd name="T14" fmla="*/ 17 w 27"/>
                      <a:gd name="T15" fmla="*/ 3 h 7"/>
                      <a:gd name="T16" fmla="*/ 20 w 27"/>
                      <a:gd name="T17" fmla="*/ 2 h 7"/>
                      <a:gd name="T18" fmla="*/ 24 w 27"/>
                      <a:gd name="T19" fmla="*/ 2 h 7"/>
                      <a:gd name="T20" fmla="*/ 26 w 27"/>
                      <a:gd name="T21" fmla="*/ 1 h 7"/>
                      <a:gd name="T22" fmla="*/ 27 w 27"/>
                      <a:gd name="T23" fmla="*/ 0 h 7"/>
                      <a:gd name="T24" fmla="*/ 27 w 27"/>
                      <a:gd name="T25" fmla="*/ 4 h 7"/>
                      <a:gd name="T26" fmla="*/ 26 w 27"/>
                      <a:gd name="T27" fmla="*/ 5 h 7"/>
                      <a:gd name="T28" fmla="*/ 24 w 27"/>
                      <a:gd name="T29" fmla="*/ 5 h 7"/>
                      <a:gd name="T30" fmla="*/ 20 w 27"/>
                      <a:gd name="T31" fmla="*/ 6 h 7"/>
                      <a:gd name="T32" fmla="*/ 17 w 27"/>
                      <a:gd name="T33" fmla="*/ 7 h 7"/>
                      <a:gd name="T34" fmla="*/ 14 w 27"/>
                      <a:gd name="T35" fmla="*/ 7 h 7"/>
                      <a:gd name="T36" fmla="*/ 12 w 27"/>
                      <a:gd name="T37" fmla="*/ 7 h 7"/>
                      <a:gd name="T38" fmla="*/ 9 w 27"/>
                      <a:gd name="T39" fmla="*/ 7 h 7"/>
                      <a:gd name="T40" fmla="*/ 5 w 27"/>
                      <a:gd name="T41" fmla="*/ 6 h 7"/>
                      <a:gd name="T42" fmla="*/ 2 w 27"/>
                      <a:gd name="T43" fmla="*/ 5 h 7"/>
                      <a:gd name="T44" fmla="*/ 0 w 27"/>
                      <a:gd name="T45" fmla="*/ 4 h 7"/>
                      <a:gd name="T46" fmla="*/ 0 w 27"/>
                      <a:gd name="T47" fmla="*/ 4 h 7"/>
                      <a:gd name="T48" fmla="*/ 0 w 27"/>
                      <a:gd name="T49" fmla="*/ 0 h 7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27"/>
                      <a:gd name="T76" fmla="*/ 0 h 7"/>
                      <a:gd name="T77" fmla="*/ 27 w 27"/>
                      <a:gd name="T78" fmla="*/ 7 h 7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27" h="7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2" y="2"/>
                        </a:lnTo>
                        <a:lnTo>
                          <a:pt x="5" y="2"/>
                        </a:lnTo>
                        <a:lnTo>
                          <a:pt x="9" y="3"/>
                        </a:lnTo>
                        <a:lnTo>
                          <a:pt x="12" y="3"/>
                        </a:lnTo>
                        <a:lnTo>
                          <a:pt x="14" y="3"/>
                        </a:lnTo>
                        <a:lnTo>
                          <a:pt x="17" y="3"/>
                        </a:lnTo>
                        <a:lnTo>
                          <a:pt x="20" y="2"/>
                        </a:lnTo>
                        <a:lnTo>
                          <a:pt x="24" y="2"/>
                        </a:lnTo>
                        <a:lnTo>
                          <a:pt x="26" y="1"/>
                        </a:lnTo>
                        <a:lnTo>
                          <a:pt x="27" y="0"/>
                        </a:lnTo>
                        <a:lnTo>
                          <a:pt x="27" y="4"/>
                        </a:lnTo>
                        <a:lnTo>
                          <a:pt x="26" y="5"/>
                        </a:lnTo>
                        <a:lnTo>
                          <a:pt x="24" y="5"/>
                        </a:lnTo>
                        <a:lnTo>
                          <a:pt x="20" y="6"/>
                        </a:lnTo>
                        <a:lnTo>
                          <a:pt x="17" y="7"/>
                        </a:lnTo>
                        <a:lnTo>
                          <a:pt x="14" y="7"/>
                        </a:lnTo>
                        <a:lnTo>
                          <a:pt x="12" y="7"/>
                        </a:lnTo>
                        <a:lnTo>
                          <a:pt x="9" y="7"/>
                        </a:lnTo>
                        <a:lnTo>
                          <a:pt x="5" y="6"/>
                        </a:lnTo>
                        <a:lnTo>
                          <a:pt x="2" y="5"/>
                        </a:lnTo>
                        <a:lnTo>
                          <a:pt x="0" y="4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07" name="Freeform 451"/>
                  <p:cNvSpPr>
                    <a:spLocks/>
                  </p:cNvSpPr>
                  <p:nvPr/>
                </p:nvSpPr>
                <p:spPr bwMode="auto">
                  <a:xfrm>
                    <a:off x="3809" y="2523"/>
                    <a:ext cx="30" cy="9"/>
                  </a:xfrm>
                  <a:custGeom>
                    <a:avLst/>
                    <a:gdLst>
                      <a:gd name="T0" fmla="*/ 0 w 30"/>
                      <a:gd name="T1" fmla="*/ 6 h 9"/>
                      <a:gd name="T2" fmla="*/ 0 w 30"/>
                      <a:gd name="T3" fmla="*/ 9 h 9"/>
                      <a:gd name="T4" fmla="*/ 24 w 30"/>
                      <a:gd name="T5" fmla="*/ 9 h 9"/>
                      <a:gd name="T6" fmla="*/ 30 w 30"/>
                      <a:gd name="T7" fmla="*/ 4 h 9"/>
                      <a:gd name="T8" fmla="*/ 30 w 30"/>
                      <a:gd name="T9" fmla="*/ 0 h 9"/>
                      <a:gd name="T10" fmla="*/ 23 w 30"/>
                      <a:gd name="T11" fmla="*/ 6 h 9"/>
                      <a:gd name="T12" fmla="*/ 0 w 30"/>
                      <a:gd name="T13" fmla="*/ 6 h 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0"/>
                      <a:gd name="T22" fmla="*/ 0 h 9"/>
                      <a:gd name="T23" fmla="*/ 30 w 30"/>
                      <a:gd name="T24" fmla="*/ 9 h 9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0" h="9">
                        <a:moveTo>
                          <a:pt x="0" y="6"/>
                        </a:moveTo>
                        <a:lnTo>
                          <a:pt x="0" y="9"/>
                        </a:lnTo>
                        <a:lnTo>
                          <a:pt x="24" y="9"/>
                        </a:lnTo>
                        <a:lnTo>
                          <a:pt x="30" y="4"/>
                        </a:lnTo>
                        <a:lnTo>
                          <a:pt x="30" y="0"/>
                        </a:lnTo>
                        <a:lnTo>
                          <a:pt x="23" y="6"/>
                        </a:lnTo>
                        <a:lnTo>
                          <a:pt x="0" y="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08" name="Freeform 452"/>
                  <p:cNvSpPr>
                    <a:spLocks/>
                  </p:cNvSpPr>
                  <p:nvPr/>
                </p:nvSpPr>
                <p:spPr bwMode="auto">
                  <a:xfrm>
                    <a:off x="3809" y="2523"/>
                    <a:ext cx="30" cy="9"/>
                  </a:xfrm>
                  <a:custGeom>
                    <a:avLst/>
                    <a:gdLst>
                      <a:gd name="T0" fmla="*/ 0 w 30"/>
                      <a:gd name="T1" fmla="*/ 6 h 9"/>
                      <a:gd name="T2" fmla="*/ 0 w 30"/>
                      <a:gd name="T3" fmla="*/ 9 h 9"/>
                      <a:gd name="T4" fmla="*/ 24 w 30"/>
                      <a:gd name="T5" fmla="*/ 9 h 9"/>
                      <a:gd name="T6" fmla="*/ 30 w 30"/>
                      <a:gd name="T7" fmla="*/ 4 h 9"/>
                      <a:gd name="T8" fmla="*/ 30 w 30"/>
                      <a:gd name="T9" fmla="*/ 0 h 9"/>
                      <a:gd name="T10" fmla="*/ 23 w 30"/>
                      <a:gd name="T11" fmla="*/ 6 h 9"/>
                      <a:gd name="T12" fmla="*/ 0 w 30"/>
                      <a:gd name="T13" fmla="*/ 6 h 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0"/>
                      <a:gd name="T22" fmla="*/ 0 h 9"/>
                      <a:gd name="T23" fmla="*/ 30 w 30"/>
                      <a:gd name="T24" fmla="*/ 9 h 9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0" h="9">
                        <a:moveTo>
                          <a:pt x="0" y="6"/>
                        </a:moveTo>
                        <a:lnTo>
                          <a:pt x="0" y="9"/>
                        </a:lnTo>
                        <a:lnTo>
                          <a:pt x="24" y="9"/>
                        </a:lnTo>
                        <a:lnTo>
                          <a:pt x="30" y="4"/>
                        </a:lnTo>
                        <a:lnTo>
                          <a:pt x="30" y="0"/>
                        </a:lnTo>
                        <a:lnTo>
                          <a:pt x="23" y="6"/>
                        </a:lnTo>
                        <a:lnTo>
                          <a:pt x="0" y="6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09" name="Freeform 453"/>
                  <p:cNvSpPr>
                    <a:spLocks/>
                  </p:cNvSpPr>
                  <p:nvPr/>
                </p:nvSpPr>
                <p:spPr bwMode="auto">
                  <a:xfrm>
                    <a:off x="3810" y="2532"/>
                    <a:ext cx="22" cy="3"/>
                  </a:xfrm>
                  <a:custGeom>
                    <a:avLst/>
                    <a:gdLst>
                      <a:gd name="T0" fmla="*/ 0 w 22"/>
                      <a:gd name="T1" fmla="*/ 0 h 3"/>
                      <a:gd name="T2" fmla="*/ 0 w 22"/>
                      <a:gd name="T3" fmla="*/ 1 h 3"/>
                      <a:gd name="T4" fmla="*/ 1 w 22"/>
                      <a:gd name="T5" fmla="*/ 2 h 3"/>
                      <a:gd name="T6" fmla="*/ 1 w 22"/>
                      <a:gd name="T7" fmla="*/ 2 h 3"/>
                      <a:gd name="T8" fmla="*/ 3 w 22"/>
                      <a:gd name="T9" fmla="*/ 2 h 3"/>
                      <a:gd name="T10" fmla="*/ 5 w 22"/>
                      <a:gd name="T11" fmla="*/ 3 h 3"/>
                      <a:gd name="T12" fmla="*/ 11 w 22"/>
                      <a:gd name="T13" fmla="*/ 3 h 3"/>
                      <a:gd name="T14" fmla="*/ 17 w 22"/>
                      <a:gd name="T15" fmla="*/ 3 h 3"/>
                      <a:gd name="T16" fmla="*/ 19 w 22"/>
                      <a:gd name="T17" fmla="*/ 2 h 3"/>
                      <a:gd name="T18" fmla="*/ 21 w 22"/>
                      <a:gd name="T19" fmla="*/ 2 h 3"/>
                      <a:gd name="T20" fmla="*/ 22 w 22"/>
                      <a:gd name="T21" fmla="*/ 1 h 3"/>
                      <a:gd name="T22" fmla="*/ 22 w 22"/>
                      <a:gd name="T23" fmla="*/ 0 h 3"/>
                      <a:gd name="T24" fmla="*/ 0 w 22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2"/>
                      <a:gd name="T40" fmla="*/ 0 h 3"/>
                      <a:gd name="T41" fmla="*/ 22 w 22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2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19" y="2"/>
                        </a:lnTo>
                        <a:lnTo>
                          <a:pt x="21" y="2"/>
                        </a:lnTo>
                        <a:lnTo>
                          <a:pt x="22" y="1"/>
                        </a:lnTo>
                        <a:lnTo>
                          <a:pt x="2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10" name="Freeform 454"/>
                  <p:cNvSpPr>
                    <a:spLocks/>
                  </p:cNvSpPr>
                  <p:nvPr/>
                </p:nvSpPr>
                <p:spPr bwMode="auto">
                  <a:xfrm>
                    <a:off x="3810" y="2532"/>
                    <a:ext cx="22" cy="3"/>
                  </a:xfrm>
                  <a:custGeom>
                    <a:avLst/>
                    <a:gdLst>
                      <a:gd name="T0" fmla="*/ 0 w 22"/>
                      <a:gd name="T1" fmla="*/ 0 h 3"/>
                      <a:gd name="T2" fmla="*/ 0 w 22"/>
                      <a:gd name="T3" fmla="*/ 1 h 3"/>
                      <a:gd name="T4" fmla="*/ 1 w 22"/>
                      <a:gd name="T5" fmla="*/ 2 h 3"/>
                      <a:gd name="T6" fmla="*/ 1 w 22"/>
                      <a:gd name="T7" fmla="*/ 2 h 3"/>
                      <a:gd name="T8" fmla="*/ 3 w 22"/>
                      <a:gd name="T9" fmla="*/ 2 h 3"/>
                      <a:gd name="T10" fmla="*/ 5 w 22"/>
                      <a:gd name="T11" fmla="*/ 3 h 3"/>
                      <a:gd name="T12" fmla="*/ 11 w 22"/>
                      <a:gd name="T13" fmla="*/ 3 h 3"/>
                      <a:gd name="T14" fmla="*/ 17 w 22"/>
                      <a:gd name="T15" fmla="*/ 3 h 3"/>
                      <a:gd name="T16" fmla="*/ 19 w 22"/>
                      <a:gd name="T17" fmla="*/ 2 h 3"/>
                      <a:gd name="T18" fmla="*/ 21 w 22"/>
                      <a:gd name="T19" fmla="*/ 2 h 3"/>
                      <a:gd name="T20" fmla="*/ 22 w 22"/>
                      <a:gd name="T21" fmla="*/ 1 h 3"/>
                      <a:gd name="T22" fmla="*/ 22 w 22"/>
                      <a:gd name="T23" fmla="*/ 0 h 3"/>
                      <a:gd name="T24" fmla="*/ 0 w 22"/>
                      <a:gd name="T25" fmla="*/ 0 h 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2"/>
                      <a:gd name="T40" fmla="*/ 0 h 3"/>
                      <a:gd name="T41" fmla="*/ 22 w 22"/>
                      <a:gd name="T42" fmla="*/ 3 h 3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2" h="3">
                        <a:moveTo>
                          <a:pt x="0" y="0"/>
                        </a:moveTo>
                        <a:lnTo>
                          <a:pt x="0" y="1"/>
                        </a:lnTo>
                        <a:lnTo>
                          <a:pt x="1" y="2"/>
                        </a:lnTo>
                        <a:lnTo>
                          <a:pt x="3" y="2"/>
                        </a:lnTo>
                        <a:lnTo>
                          <a:pt x="5" y="3"/>
                        </a:lnTo>
                        <a:lnTo>
                          <a:pt x="11" y="3"/>
                        </a:lnTo>
                        <a:lnTo>
                          <a:pt x="17" y="3"/>
                        </a:lnTo>
                        <a:lnTo>
                          <a:pt x="19" y="2"/>
                        </a:lnTo>
                        <a:lnTo>
                          <a:pt x="21" y="2"/>
                        </a:lnTo>
                        <a:lnTo>
                          <a:pt x="22" y="1"/>
                        </a:lnTo>
                        <a:lnTo>
                          <a:pt x="22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11" name="Freeform 455"/>
                  <p:cNvSpPr>
                    <a:spLocks/>
                  </p:cNvSpPr>
                  <p:nvPr/>
                </p:nvSpPr>
                <p:spPr bwMode="auto">
                  <a:xfrm>
                    <a:off x="3809" y="2535"/>
                    <a:ext cx="24" cy="10"/>
                  </a:xfrm>
                  <a:custGeom>
                    <a:avLst/>
                    <a:gdLst>
                      <a:gd name="T0" fmla="*/ 21 w 24"/>
                      <a:gd name="T1" fmla="*/ 0 h 10"/>
                      <a:gd name="T2" fmla="*/ 18 w 24"/>
                      <a:gd name="T3" fmla="*/ 0 h 10"/>
                      <a:gd name="T4" fmla="*/ 12 w 24"/>
                      <a:gd name="T5" fmla="*/ 1 h 10"/>
                      <a:gd name="T6" fmla="*/ 6 w 24"/>
                      <a:gd name="T7" fmla="*/ 0 h 10"/>
                      <a:gd name="T8" fmla="*/ 4 w 24"/>
                      <a:gd name="T9" fmla="*/ 0 h 10"/>
                      <a:gd name="T10" fmla="*/ 4 w 24"/>
                      <a:gd name="T11" fmla="*/ 6 h 10"/>
                      <a:gd name="T12" fmla="*/ 2 w 24"/>
                      <a:gd name="T13" fmla="*/ 6 h 10"/>
                      <a:gd name="T14" fmla="*/ 0 w 24"/>
                      <a:gd name="T15" fmla="*/ 6 h 10"/>
                      <a:gd name="T16" fmla="*/ 0 w 24"/>
                      <a:gd name="T17" fmla="*/ 7 h 10"/>
                      <a:gd name="T18" fmla="*/ 0 w 24"/>
                      <a:gd name="T19" fmla="*/ 7 h 10"/>
                      <a:gd name="T20" fmla="*/ 0 w 24"/>
                      <a:gd name="T21" fmla="*/ 9 h 10"/>
                      <a:gd name="T22" fmla="*/ 3 w 24"/>
                      <a:gd name="T23" fmla="*/ 9 h 10"/>
                      <a:gd name="T24" fmla="*/ 6 w 24"/>
                      <a:gd name="T25" fmla="*/ 10 h 10"/>
                      <a:gd name="T26" fmla="*/ 12 w 24"/>
                      <a:gd name="T27" fmla="*/ 10 h 10"/>
                      <a:gd name="T28" fmla="*/ 18 w 24"/>
                      <a:gd name="T29" fmla="*/ 10 h 10"/>
                      <a:gd name="T30" fmla="*/ 22 w 24"/>
                      <a:gd name="T31" fmla="*/ 9 h 10"/>
                      <a:gd name="T32" fmla="*/ 24 w 24"/>
                      <a:gd name="T33" fmla="*/ 9 h 10"/>
                      <a:gd name="T34" fmla="*/ 24 w 24"/>
                      <a:gd name="T35" fmla="*/ 7 h 10"/>
                      <a:gd name="T36" fmla="*/ 24 w 24"/>
                      <a:gd name="T37" fmla="*/ 6 h 10"/>
                      <a:gd name="T38" fmla="*/ 22 w 24"/>
                      <a:gd name="T39" fmla="*/ 6 h 10"/>
                      <a:gd name="T40" fmla="*/ 21 w 24"/>
                      <a:gd name="T41" fmla="*/ 6 h 10"/>
                      <a:gd name="T42" fmla="*/ 21 w 24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4"/>
                      <a:gd name="T67" fmla="*/ 0 h 10"/>
                      <a:gd name="T68" fmla="*/ 24 w 24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4" h="10">
                        <a:moveTo>
                          <a:pt x="21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2" y="9"/>
                        </a:lnTo>
                        <a:lnTo>
                          <a:pt x="24" y="9"/>
                        </a:lnTo>
                        <a:lnTo>
                          <a:pt x="24" y="7"/>
                        </a:lnTo>
                        <a:lnTo>
                          <a:pt x="24" y="6"/>
                        </a:ln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12" name="Freeform 456"/>
                  <p:cNvSpPr>
                    <a:spLocks/>
                  </p:cNvSpPr>
                  <p:nvPr/>
                </p:nvSpPr>
                <p:spPr bwMode="auto">
                  <a:xfrm>
                    <a:off x="3809" y="2535"/>
                    <a:ext cx="24" cy="10"/>
                  </a:xfrm>
                  <a:custGeom>
                    <a:avLst/>
                    <a:gdLst>
                      <a:gd name="T0" fmla="*/ 21 w 24"/>
                      <a:gd name="T1" fmla="*/ 0 h 10"/>
                      <a:gd name="T2" fmla="*/ 18 w 24"/>
                      <a:gd name="T3" fmla="*/ 0 h 10"/>
                      <a:gd name="T4" fmla="*/ 12 w 24"/>
                      <a:gd name="T5" fmla="*/ 1 h 10"/>
                      <a:gd name="T6" fmla="*/ 6 w 24"/>
                      <a:gd name="T7" fmla="*/ 0 h 10"/>
                      <a:gd name="T8" fmla="*/ 4 w 24"/>
                      <a:gd name="T9" fmla="*/ 0 h 10"/>
                      <a:gd name="T10" fmla="*/ 4 w 24"/>
                      <a:gd name="T11" fmla="*/ 6 h 10"/>
                      <a:gd name="T12" fmla="*/ 2 w 24"/>
                      <a:gd name="T13" fmla="*/ 6 h 10"/>
                      <a:gd name="T14" fmla="*/ 0 w 24"/>
                      <a:gd name="T15" fmla="*/ 6 h 10"/>
                      <a:gd name="T16" fmla="*/ 0 w 24"/>
                      <a:gd name="T17" fmla="*/ 7 h 10"/>
                      <a:gd name="T18" fmla="*/ 0 w 24"/>
                      <a:gd name="T19" fmla="*/ 7 h 10"/>
                      <a:gd name="T20" fmla="*/ 0 w 24"/>
                      <a:gd name="T21" fmla="*/ 9 h 10"/>
                      <a:gd name="T22" fmla="*/ 3 w 24"/>
                      <a:gd name="T23" fmla="*/ 9 h 10"/>
                      <a:gd name="T24" fmla="*/ 6 w 24"/>
                      <a:gd name="T25" fmla="*/ 10 h 10"/>
                      <a:gd name="T26" fmla="*/ 12 w 24"/>
                      <a:gd name="T27" fmla="*/ 10 h 10"/>
                      <a:gd name="T28" fmla="*/ 18 w 24"/>
                      <a:gd name="T29" fmla="*/ 10 h 10"/>
                      <a:gd name="T30" fmla="*/ 22 w 24"/>
                      <a:gd name="T31" fmla="*/ 9 h 10"/>
                      <a:gd name="T32" fmla="*/ 24 w 24"/>
                      <a:gd name="T33" fmla="*/ 9 h 10"/>
                      <a:gd name="T34" fmla="*/ 24 w 24"/>
                      <a:gd name="T35" fmla="*/ 7 h 10"/>
                      <a:gd name="T36" fmla="*/ 24 w 24"/>
                      <a:gd name="T37" fmla="*/ 6 h 10"/>
                      <a:gd name="T38" fmla="*/ 22 w 24"/>
                      <a:gd name="T39" fmla="*/ 6 h 10"/>
                      <a:gd name="T40" fmla="*/ 21 w 24"/>
                      <a:gd name="T41" fmla="*/ 6 h 10"/>
                      <a:gd name="T42" fmla="*/ 21 w 24"/>
                      <a:gd name="T43" fmla="*/ 0 h 10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24"/>
                      <a:gd name="T67" fmla="*/ 0 h 10"/>
                      <a:gd name="T68" fmla="*/ 24 w 24"/>
                      <a:gd name="T69" fmla="*/ 10 h 10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24" h="10">
                        <a:moveTo>
                          <a:pt x="21" y="0"/>
                        </a:moveTo>
                        <a:lnTo>
                          <a:pt x="18" y="0"/>
                        </a:lnTo>
                        <a:lnTo>
                          <a:pt x="12" y="1"/>
                        </a:ln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4" y="6"/>
                        </a:lnTo>
                        <a:lnTo>
                          <a:pt x="2" y="6"/>
                        </a:lnTo>
                        <a:lnTo>
                          <a:pt x="0" y="6"/>
                        </a:lnTo>
                        <a:lnTo>
                          <a:pt x="0" y="7"/>
                        </a:lnTo>
                        <a:lnTo>
                          <a:pt x="0" y="9"/>
                        </a:lnTo>
                        <a:lnTo>
                          <a:pt x="3" y="9"/>
                        </a:lnTo>
                        <a:lnTo>
                          <a:pt x="6" y="10"/>
                        </a:lnTo>
                        <a:lnTo>
                          <a:pt x="12" y="10"/>
                        </a:lnTo>
                        <a:lnTo>
                          <a:pt x="18" y="10"/>
                        </a:lnTo>
                        <a:lnTo>
                          <a:pt x="22" y="9"/>
                        </a:lnTo>
                        <a:lnTo>
                          <a:pt x="24" y="9"/>
                        </a:lnTo>
                        <a:lnTo>
                          <a:pt x="24" y="7"/>
                        </a:lnTo>
                        <a:lnTo>
                          <a:pt x="24" y="6"/>
                        </a:ln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21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13" name="Freeform 457"/>
                  <p:cNvSpPr>
                    <a:spLocks/>
                  </p:cNvSpPr>
                  <p:nvPr/>
                </p:nvSpPr>
                <p:spPr bwMode="auto">
                  <a:xfrm>
                    <a:off x="3809" y="2542"/>
                    <a:ext cx="24" cy="7"/>
                  </a:xfrm>
                  <a:custGeom>
                    <a:avLst/>
                    <a:gdLst>
                      <a:gd name="T0" fmla="*/ 24 w 24"/>
                      <a:gd name="T1" fmla="*/ 5 h 7"/>
                      <a:gd name="T2" fmla="*/ 22 w 24"/>
                      <a:gd name="T3" fmla="*/ 6 h 7"/>
                      <a:gd name="T4" fmla="*/ 21 w 24"/>
                      <a:gd name="T5" fmla="*/ 6 h 7"/>
                      <a:gd name="T6" fmla="*/ 17 w 24"/>
                      <a:gd name="T7" fmla="*/ 7 h 7"/>
                      <a:gd name="T8" fmla="*/ 6 w 24"/>
                      <a:gd name="T9" fmla="*/ 7 h 7"/>
                      <a:gd name="T10" fmla="*/ 4 w 24"/>
                      <a:gd name="T11" fmla="*/ 6 h 7"/>
                      <a:gd name="T12" fmla="*/ 3 w 24"/>
                      <a:gd name="T13" fmla="*/ 6 h 7"/>
                      <a:gd name="T14" fmla="*/ 0 w 24"/>
                      <a:gd name="T15" fmla="*/ 5 h 7"/>
                      <a:gd name="T16" fmla="*/ 0 w 24"/>
                      <a:gd name="T17" fmla="*/ 5 h 7"/>
                      <a:gd name="T18" fmla="*/ 0 w 24"/>
                      <a:gd name="T19" fmla="*/ 0 h 7"/>
                      <a:gd name="T20" fmla="*/ 0 w 24"/>
                      <a:gd name="T21" fmla="*/ 2 h 7"/>
                      <a:gd name="T22" fmla="*/ 3 w 24"/>
                      <a:gd name="T23" fmla="*/ 2 h 7"/>
                      <a:gd name="T24" fmla="*/ 6 w 24"/>
                      <a:gd name="T25" fmla="*/ 3 h 7"/>
                      <a:gd name="T26" fmla="*/ 12 w 24"/>
                      <a:gd name="T27" fmla="*/ 3 h 7"/>
                      <a:gd name="T28" fmla="*/ 18 w 24"/>
                      <a:gd name="T29" fmla="*/ 3 h 7"/>
                      <a:gd name="T30" fmla="*/ 22 w 24"/>
                      <a:gd name="T31" fmla="*/ 2 h 7"/>
                      <a:gd name="T32" fmla="*/ 24 w 24"/>
                      <a:gd name="T33" fmla="*/ 2 h 7"/>
                      <a:gd name="T34" fmla="*/ 24 w 24"/>
                      <a:gd name="T35" fmla="*/ 0 h 7"/>
                      <a:gd name="T36" fmla="*/ 24 w 24"/>
                      <a:gd name="T37" fmla="*/ 5 h 7"/>
                      <a:gd name="T38" fmla="*/ 24 w 24"/>
                      <a:gd name="T39" fmla="*/ 5 h 7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24"/>
                      <a:gd name="T61" fmla="*/ 0 h 7"/>
                      <a:gd name="T62" fmla="*/ 24 w 24"/>
                      <a:gd name="T63" fmla="*/ 7 h 7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24" h="7">
                        <a:moveTo>
                          <a:pt x="24" y="5"/>
                        </a:move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2" y="2"/>
                        </a:lnTo>
                        <a:lnTo>
                          <a:pt x="24" y="2"/>
                        </a:lnTo>
                        <a:lnTo>
                          <a:pt x="24" y="0"/>
                        </a:lnTo>
                        <a:lnTo>
                          <a:pt x="24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14" name="Freeform 458"/>
                  <p:cNvSpPr>
                    <a:spLocks/>
                  </p:cNvSpPr>
                  <p:nvPr/>
                </p:nvSpPr>
                <p:spPr bwMode="auto">
                  <a:xfrm>
                    <a:off x="3809" y="2542"/>
                    <a:ext cx="24" cy="7"/>
                  </a:xfrm>
                  <a:custGeom>
                    <a:avLst/>
                    <a:gdLst>
                      <a:gd name="T0" fmla="*/ 24 w 24"/>
                      <a:gd name="T1" fmla="*/ 5 h 7"/>
                      <a:gd name="T2" fmla="*/ 22 w 24"/>
                      <a:gd name="T3" fmla="*/ 6 h 7"/>
                      <a:gd name="T4" fmla="*/ 21 w 24"/>
                      <a:gd name="T5" fmla="*/ 6 h 7"/>
                      <a:gd name="T6" fmla="*/ 17 w 24"/>
                      <a:gd name="T7" fmla="*/ 7 h 7"/>
                      <a:gd name="T8" fmla="*/ 6 w 24"/>
                      <a:gd name="T9" fmla="*/ 7 h 7"/>
                      <a:gd name="T10" fmla="*/ 4 w 24"/>
                      <a:gd name="T11" fmla="*/ 6 h 7"/>
                      <a:gd name="T12" fmla="*/ 3 w 24"/>
                      <a:gd name="T13" fmla="*/ 6 h 7"/>
                      <a:gd name="T14" fmla="*/ 0 w 24"/>
                      <a:gd name="T15" fmla="*/ 5 h 7"/>
                      <a:gd name="T16" fmla="*/ 0 w 24"/>
                      <a:gd name="T17" fmla="*/ 5 h 7"/>
                      <a:gd name="T18" fmla="*/ 0 w 24"/>
                      <a:gd name="T19" fmla="*/ 0 h 7"/>
                      <a:gd name="T20" fmla="*/ 0 w 24"/>
                      <a:gd name="T21" fmla="*/ 2 h 7"/>
                      <a:gd name="T22" fmla="*/ 3 w 24"/>
                      <a:gd name="T23" fmla="*/ 2 h 7"/>
                      <a:gd name="T24" fmla="*/ 6 w 24"/>
                      <a:gd name="T25" fmla="*/ 3 h 7"/>
                      <a:gd name="T26" fmla="*/ 12 w 24"/>
                      <a:gd name="T27" fmla="*/ 3 h 7"/>
                      <a:gd name="T28" fmla="*/ 18 w 24"/>
                      <a:gd name="T29" fmla="*/ 3 h 7"/>
                      <a:gd name="T30" fmla="*/ 22 w 24"/>
                      <a:gd name="T31" fmla="*/ 2 h 7"/>
                      <a:gd name="T32" fmla="*/ 24 w 24"/>
                      <a:gd name="T33" fmla="*/ 2 h 7"/>
                      <a:gd name="T34" fmla="*/ 24 w 24"/>
                      <a:gd name="T35" fmla="*/ 0 h 7"/>
                      <a:gd name="T36" fmla="*/ 24 w 24"/>
                      <a:gd name="T37" fmla="*/ 5 h 7"/>
                      <a:gd name="T38" fmla="*/ 24 w 24"/>
                      <a:gd name="T39" fmla="*/ 5 h 7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24"/>
                      <a:gd name="T61" fmla="*/ 0 h 7"/>
                      <a:gd name="T62" fmla="*/ 24 w 24"/>
                      <a:gd name="T63" fmla="*/ 7 h 7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24" h="7">
                        <a:moveTo>
                          <a:pt x="24" y="5"/>
                        </a:moveTo>
                        <a:lnTo>
                          <a:pt x="22" y="6"/>
                        </a:lnTo>
                        <a:lnTo>
                          <a:pt x="21" y="6"/>
                        </a:lnTo>
                        <a:lnTo>
                          <a:pt x="17" y="7"/>
                        </a:lnTo>
                        <a:lnTo>
                          <a:pt x="6" y="7"/>
                        </a:lnTo>
                        <a:lnTo>
                          <a:pt x="4" y="6"/>
                        </a:lnTo>
                        <a:lnTo>
                          <a:pt x="3" y="6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3" y="2"/>
                        </a:lnTo>
                        <a:lnTo>
                          <a:pt x="6" y="3"/>
                        </a:lnTo>
                        <a:lnTo>
                          <a:pt x="12" y="3"/>
                        </a:lnTo>
                        <a:lnTo>
                          <a:pt x="18" y="3"/>
                        </a:lnTo>
                        <a:lnTo>
                          <a:pt x="22" y="2"/>
                        </a:lnTo>
                        <a:lnTo>
                          <a:pt x="24" y="2"/>
                        </a:lnTo>
                        <a:lnTo>
                          <a:pt x="24" y="0"/>
                        </a:lnTo>
                        <a:lnTo>
                          <a:pt x="24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15" name="Freeform 459"/>
                  <p:cNvSpPr>
                    <a:spLocks/>
                  </p:cNvSpPr>
                  <p:nvPr/>
                </p:nvSpPr>
                <p:spPr bwMode="auto">
                  <a:xfrm>
                    <a:off x="3810" y="2548"/>
                    <a:ext cx="21" cy="107"/>
                  </a:xfrm>
                  <a:custGeom>
                    <a:avLst/>
                    <a:gdLst>
                      <a:gd name="T0" fmla="*/ 21 w 21"/>
                      <a:gd name="T1" fmla="*/ 104 h 107"/>
                      <a:gd name="T2" fmla="*/ 19 w 21"/>
                      <a:gd name="T3" fmla="*/ 0 h 107"/>
                      <a:gd name="T4" fmla="*/ 15 w 21"/>
                      <a:gd name="T5" fmla="*/ 1 h 107"/>
                      <a:gd name="T6" fmla="*/ 5 w 21"/>
                      <a:gd name="T7" fmla="*/ 1 h 107"/>
                      <a:gd name="T8" fmla="*/ 2 w 21"/>
                      <a:gd name="T9" fmla="*/ 0 h 107"/>
                      <a:gd name="T10" fmla="*/ 0 w 21"/>
                      <a:gd name="T11" fmla="*/ 102 h 107"/>
                      <a:gd name="T12" fmla="*/ 0 w 21"/>
                      <a:gd name="T13" fmla="*/ 106 h 107"/>
                      <a:gd name="T14" fmla="*/ 4 w 21"/>
                      <a:gd name="T15" fmla="*/ 107 h 107"/>
                      <a:gd name="T16" fmla="*/ 11 w 21"/>
                      <a:gd name="T17" fmla="*/ 107 h 107"/>
                      <a:gd name="T18" fmla="*/ 17 w 21"/>
                      <a:gd name="T19" fmla="*/ 107 h 107"/>
                      <a:gd name="T20" fmla="*/ 21 w 21"/>
                      <a:gd name="T21" fmla="*/ 106 h 107"/>
                      <a:gd name="T22" fmla="*/ 21 w 21"/>
                      <a:gd name="T23" fmla="*/ 104 h 107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1"/>
                      <a:gd name="T37" fmla="*/ 0 h 107"/>
                      <a:gd name="T38" fmla="*/ 21 w 21"/>
                      <a:gd name="T39" fmla="*/ 107 h 107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1" h="107">
                        <a:moveTo>
                          <a:pt x="21" y="104"/>
                        </a:moveTo>
                        <a:lnTo>
                          <a:pt x="19" y="0"/>
                        </a:lnTo>
                        <a:lnTo>
                          <a:pt x="15" y="1"/>
                        </a:lnTo>
                        <a:lnTo>
                          <a:pt x="5" y="1"/>
                        </a:lnTo>
                        <a:lnTo>
                          <a:pt x="2" y="0"/>
                        </a:lnTo>
                        <a:lnTo>
                          <a:pt x="0" y="102"/>
                        </a:lnTo>
                        <a:lnTo>
                          <a:pt x="0" y="106"/>
                        </a:lnTo>
                        <a:lnTo>
                          <a:pt x="4" y="107"/>
                        </a:lnTo>
                        <a:lnTo>
                          <a:pt x="11" y="107"/>
                        </a:lnTo>
                        <a:lnTo>
                          <a:pt x="17" y="107"/>
                        </a:lnTo>
                        <a:lnTo>
                          <a:pt x="21" y="106"/>
                        </a:lnTo>
                        <a:lnTo>
                          <a:pt x="21" y="10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16" name="Freeform 460"/>
                  <p:cNvSpPr>
                    <a:spLocks/>
                  </p:cNvSpPr>
                  <p:nvPr/>
                </p:nvSpPr>
                <p:spPr bwMode="auto">
                  <a:xfrm>
                    <a:off x="3810" y="2548"/>
                    <a:ext cx="21" cy="107"/>
                  </a:xfrm>
                  <a:custGeom>
                    <a:avLst/>
                    <a:gdLst>
                      <a:gd name="T0" fmla="*/ 21 w 21"/>
                      <a:gd name="T1" fmla="*/ 104 h 107"/>
                      <a:gd name="T2" fmla="*/ 19 w 21"/>
                      <a:gd name="T3" fmla="*/ 0 h 107"/>
                      <a:gd name="T4" fmla="*/ 15 w 21"/>
                      <a:gd name="T5" fmla="*/ 1 h 107"/>
                      <a:gd name="T6" fmla="*/ 5 w 21"/>
                      <a:gd name="T7" fmla="*/ 1 h 107"/>
                      <a:gd name="T8" fmla="*/ 2 w 21"/>
                      <a:gd name="T9" fmla="*/ 0 h 107"/>
                      <a:gd name="T10" fmla="*/ 0 w 21"/>
                      <a:gd name="T11" fmla="*/ 102 h 107"/>
                      <a:gd name="T12" fmla="*/ 0 w 21"/>
                      <a:gd name="T13" fmla="*/ 106 h 107"/>
                      <a:gd name="T14" fmla="*/ 4 w 21"/>
                      <a:gd name="T15" fmla="*/ 107 h 107"/>
                      <a:gd name="T16" fmla="*/ 11 w 21"/>
                      <a:gd name="T17" fmla="*/ 107 h 107"/>
                      <a:gd name="T18" fmla="*/ 17 w 21"/>
                      <a:gd name="T19" fmla="*/ 107 h 107"/>
                      <a:gd name="T20" fmla="*/ 21 w 21"/>
                      <a:gd name="T21" fmla="*/ 106 h 107"/>
                      <a:gd name="T22" fmla="*/ 21 w 21"/>
                      <a:gd name="T23" fmla="*/ 104 h 107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21"/>
                      <a:gd name="T37" fmla="*/ 0 h 107"/>
                      <a:gd name="T38" fmla="*/ 21 w 21"/>
                      <a:gd name="T39" fmla="*/ 107 h 107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21" h="107">
                        <a:moveTo>
                          <a:pt x="21" y="104"/>
                        </a:moveTo>
                        <a:lnTo>
                          <a:pt x="19" y="0"/>
                        </a:lnTo>
                        <a:lnTo>
                          <a:pt x="15" y="1"/>
                        </a:lnTo>
                        <a:lnTo>
                          <a:pt x="5" y="1"/>
                        </a:lnTo>
                        <a:lnTo>
                          <a:pt x="2" y="0"/>
                        </a:lnTo>
                        <a:lnTo>
                          <a:pt x="0" y="102"/>
                        </a:lnTo>
                        <a:lnTo>
                          <a:pt x="0" y="106"/>
                        </a:lnTo>
                        <a:lnTo>
                          <a:pt x="4" y="107"/>
                        </a:lnTo>
                        <a:lnTo>
                          <a:pt x="11" y="107"/>
                        </a:lnTo>
                        <a:lnTo>
                          <a:pt x="17" y="107"/>
                        </a:lnTo>
                        <a:lnTo>
                          <a:pt x="21" y="106"/>
                        </a:lnTo>
                        <a:lnTo>
                          <a:pt x="21" y="10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17" name="Freeform 461"/>
                  <p:cNvSpPr>
                    <a:spLocks/>
                  </p:cNvSpPr>
                  <p:nvPr/>
                </p:nvSpPr>
                <p:spPr bwMode="auto">
                  <a:xfrm>
                    <a:off x="3577" y="2652"/>
                    <a:ext cx="37" cy="31"/>
                  </a:xfrm>
                  <a:custGeom>
                    <a:avLst/>
                    <a:gdLst>
                      <a:gd name="T0" fmla="*/ 25 w 37"/>
                      <a:gd name="T1" fmla="*/ 2 h 31"/>
                      <a:gd name="T2" fmla="*/ 19 w 37"/>
                      <a:gd name="T3" fmla="*/ 3 h 31"/>
                      <a:gd name="T4" fmla="*/ 13 w 37"/>
                      <a:gd name="T5" fmla="*/ 3 h 31"/>
                      <a:gd name="T6" fmla="*/ 7 w 37"/>
                      <a:gd name="T7" fmla="*/ 3 h 31"/>
                      <a:gd name="T8" fmla="*/ 3 w 37"/>
                      <a:gd name="T9" fmla="*/ 2 h 31"/>
                      <a:gd name="T10" fmla="*/ 0 w 37"/>
                      <a:gd name="T11" fmla="*/ 6 h 31"/>
                      <a:gd name="T12" fmla="*/ 29 w 37"/>
                      <a:gd name="T13" fmla="*/ 6 h 31"/>
                      <a:gd name="T14" fmla="*/ 26 w 37"/>
                      <a:gd name="T15" fmla="*/ 9 h 31"/>
                      <a:gd name="T16" fmla="*/ 26 w 37"/>
                      <a:gd name="T17" fmla="*/ 23 h 31"/>
                      <a:gd name="T18" fmla="*/ 29 w 37"/>
                      <a:gd name="T19" fmla="*/ 29 h 31"/>
                      <a:gd name="T20" fmla="*/ 29 w 37"/>
                      <a:gd name="T21" fmla="*/ 31 h 31"/>
                      <a:gd name="T22" fmla="*/ 37 w 37"/>
                      <a:gd name="T23" fmla="*/ 25 h 31"/>
                      <a:gd name="T24" fmla="*/ 37 w 37"/>
                      <a:gd name="T25" fmla="*/ 20 h 31"/>
                      <a:gd name="T26" fmla="*/ 34 w 37"/>
                      <a:gd name="T27" fmla="*/ 14 h 31"/>
                      <a:gd name="T28" fmla="*/ 34 w 37"/>
                      <a:gd name="T29" fmla="*/ 0 h 31"/>
                      <a:gd name="T30" fmla="*/ 25 w 37"/>
                      <a:gd name="T31" fmla="*/ 0 h 31"/>
                      <a:gd name="T32" fmla="*/ 25 w 37"/>
                      <a:gd name="T33" fmla="*/ 2 h 31"/>
                      <a:gd name="T34" fmla="*/ 25 w 37"/>
                      <a:gd name="T35" fmla="*/ 2 h 3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7"/>
                      <a:gd name="T55" fmla="*/ 0 h 31"/>
                      <a:gd name="T56" fmla="*/ 37 w 37"/>
                      <a:gd name="T57" fmla="*/ 31 h 3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7" h="31">
                        <a:moveTo>
                          <a:pt x="25" y="2"/>
                        </a:moveTo>
                        <a:lnTo>
                          <a:pt x="19" y="3"/>
                        </a:lnTo>
                        <a:lnTo>
                          <a:pt x="13" y="3"/>
                        </a:lnTo>
                        <a:lnTo>
                          <a:pt x="7" y="3"/>
                        </a:lnTo>
                        <a:lnTo>
                          <a:pt x="3" y="2"/>
                        </a:lnTo>
                        <a:lnTo>
                          <a:pt x="0" y="6"/>
                        </a:lnTo>
                        <a:lnTo>
                          <a:pt x="29" y="6"/>
                        </a:lnTo>
                        <a:lnTo>
                          <a:pt x="26" y="9"/>
                        </a:lnTo>
                        <a:lnTo>
                          <a:pt x="26" y="23"/>
                        </a:lnTo>
                        <a:lnTo>
                          <a:pt x="29" y="29"/>
                        </a:lnTo>
                        <a:lnTo>
                          <a:pt x="29" y="31"/>
                        </a:lnTo>
                        <a:lnTo>
                          <a:pt x="37" y="25"/>
                        </a:lnTo>
                        <a:lnTo>
                          <a:pt x="37" y="20"/>
                        </a:lnTo>
                        <a:lnTo>
                          <a:pt x="34" y="14"/>
                        </a:lnTo>
                        <a:lnTo>
                          <a:pt x="34" y="0"/>
                        </a:lnTo>
                        <a:lnTo>
                          <a:pt x="25" y="0"/>
                        </a:lnTo>
                        <a:lnTo>
                          <a:pt x="25" y="2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18" name="Freeform 462"/>
                  <p:cNvSpPr>
                    <a:spLocks/>
                  </p:cNvSpPr>
                  <p:nvPr/>
                </p:nvSpPr>
                <p:spPr bwMode="auto">
                  <a:xfrm>
                    <a:off x="3577" y="2652"/>
                    <a:ext cx="37" cy="31"/>
                  </a:xfrm>
                  <a:custGeom>
                    <a:avLst/>
                    <a:gdLst>
                      <a:gd name="T0" fmla="*/ 25 w 37"/>
                      <a:gd name="T1" fmla="*/ 2 h 31"/>
                      <a:gd name="T2" fmla="*/ 19 w 37"/>
                      <a:gd name="T3" fmla="*/ 3 h 31"/>
                      <a:gd name="T4" fmla="*/ 13 w 37"/>
                      <a:gd name="T5" fmla="*/ 3 h 31"/>
                      <a:gd name="T6" fmla="*/ 7 w 37"/>
                      <a:gd name="T7" fmla="*/ 3 h 31"/>
                      <a:gd name="T8" fmla="*/ 3 w 37"/>
                      <a:gd name="T9" fmla="*/ 2 h 31"/>
                      <a:gd name="T10" fmla="*/ 0 w 37"/>
                      <a:gd name="T11" fmla="*/ 6 h 31"/>
                      <a:gd name="T12" fmla="*/ 29 w 37"/>
                      <a:gd name="T13" fmla="*/ 6 h 31"/>
                      <a:gd name="T14" fmla="*/ 26 w 37"/>
                      <a:gd name="T15" fmla="*/ 9 h 31"/>
                      <a:gd name="T16" fmla="*/ 26 w 37"/>
                      <a:gd name="T17" fmla="*/ 23 h 31"/>
                      <a:gd name="T18" fmla="*/ 29 w 37"/>
                      <a:gd name="T19" fmla="*/ 29 h 31"/>
                      <a:gd name="T20" fmla="*/ 29 w 37"/>
                      <a:gd name="T21" fmla="*/ 31 h 31"/>
                      <a:gd name="T22" fmla="*/ 37 w 37"/>
                      <a:gd name="T23" fmla="*/ 25 h 31"/>
                      <a:gd name="T24" fmla="*/ 37 w 37"/>
                      <a:gd name="T25" fmla="*/ 20 h 31"/>
                      <a:gd name="T26" fmla="*/ 34 w 37"/>
                      <a:gd name="T27" fmla="*/ 14 h 31"/>
                      <a:gd name="T28" fmla="*/ 34 w 37"/>
                      <a:gd name="T29" fmla="*/ 0 h 31"/>
                      <a:gd name="T30" fmla="*/ 25 w 37"/>
                      <a:gd name="T31" fmla="*/ 0 h 31"/>
                      <a:gd name="T32" fmla="*/ 25 w 37"/>
                      <a:gd name="T33" fmla="*/ 2 h 31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37"/>
                      <a:gd name="T52" fmla="*/ 0 h 31"/>
                      <a:gd name="T53" fmla="*/ 37 w 37"/>
                      <a:gd name="T54" fmla="*/ 31 h 31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37" h="31">
                        <a:moveTo>
                          <a:pt x="25" y="2"/>
                        </a:moveTo>
                        <a:lnTo>
                          <a:pt x="19" y="3"/>
                        </a:lnTo>
                        <a:lnTo>
                          <a:pt x="13" y="3"/>
                        </a:lnTo>
                        <a:lnTo>
                          <a:pt x="7" y="3"/>
                        </a:lnTo>
                        <a:lnTo>
                          <a:pt x="3" y="2"/>
                        </a:lnTo>
                        <a:lnTo>
                          <a:pt x="0" y="6"/>
                        </a:lnTo>
                        <a:lnTo>
                          <a:pt x="29" y="6"/>
                        </a:lnTo>
                        <a:lnTo>
                          <a:pt x="26" y="9"/>
                        </a:lnTo>
                        <a:lnTo>
                          <a:pt x="26" y="23"/>
                        </a:lnTo>
                        <a:lnTo>
                          <a:pt x="29" y="29"/>
                        </a:lnTo>
                        <a:lnTo>
                          <a:pt x="29" y="31"/>
                        </a:lnTo>
                        <a:lnTo>
                          <a:pt x="37" y="25"/>
                        </a:lnTo>
                        <a:lnTo>
                          <a:pt x="37" y="20"/>
                        </a:lnTo>
                        <a:lnTo>
                          <a:pt x="34" y="14"/>
                        </a:lnTo>
                        <a:lnTo>
                          <a:pt x="34" y="0"/>
                        </a:lnTo>
                        <a:lnTo>
                          <a:pt x="25" y="0"/>
                        </a:lnTo>
                        <a:lnTo>
                          <a:pt x="25" y="2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19" name="Freeform 463"/>
                  <p:cNvSpPr>
                    <a:spLocks/>
                  </p:cNvSpPr>
                  <p:nvPr/>
                </p:nvSpPr>
                <p:spPr bwMode="auto">
                  <a:xfrm>
                    <a:off x="3581" y="2661"/>
                    <a:ext cx="24" cy="22"/>
                  </a:xfrm>
                  <a:custGeom>
                    <a:avLst/>
                    <a:gdLst>
                      <a:gd name="T0" fmla="*/ 0 w 24"/>
                      <a:gd name="T1" fmla="*/ 22 h 22"/>
                      <a:gd name="T2" fmla="*/ 0 w 24"/>
                      <a:gd name="T3" fmla="*/ 0 h 22"/>
                      <a:gd name="T4" fmla="*/ 21 w 24"/>
                      <a:gd name="T5" fmla="*/ 0 h 22"/>
                      <a:gd name="T6" fmla="*/ 21 w 24"/>
                      <a:gd name="T7" fmla="*/ 14 h 22"/>
                      <a:gd name="T8" fmla="*/ 24 w 24"/>
                      <a:gd name="T9" fmla="*/ 20 h 22"/>
                      <a:gd name="T10" fmla="*/ 24 w 24"/>
                      <a:gd name="T11" fmla="*/ 22 h 22"/>
                      <a:gd name="T12" fmla="*/ 0 w 24"/>
                      <a:gd name="T13" fmla="*/ 22 h 2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4"/>
                      <a:gd name="T22" fmla="*/ 0 h 22"/>
                      <a:gd name="T23" fmla="*/ 24 w 24"/>
                      <a:gd name="T24" fmla="*/ 22 h 2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4" h="22">
                        <a:moveTo>
                          <a:pt x="0" y="22"/>
                        </a:moveTo>
                        <a:lnTo>
                          <a:pt x="0" y="0"/>
                        </a:lnTo>
                        <a:lnTo>
                          <a:pt x="21" y="0"/>
                        </a:lnTo>
                        <a:lnTo>
                          <a:pt x="21" y="14"/>
                        </a:lnTo>
                        <a:lnTo>
                          <a:pt x="24" y="20"/>
                        </a:lnTo>
                        <a:lnTo>
                          <a:pt x="24" y="22"/>
                        </a:lnTo>
                        <a:lnTo>
                          <a:pt x="0" y="2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20" name="Freeform 464"/>
                  <p:cNvSpPr>
                    <a:spLocks/>
                  </p:cNvSpPr>
                  <p:nvPr/>
                </p:nvSpPr>
                <p:spPr bwMode="auto">
                  <a:xfrm>
                    <a:off x="3581" y="2661"/>
                    <a:ext cx="24" cy="22"/>
                  </a:xfrm>
                  <a:custGeom>
                    <a:avLst/>
                    <a:gdLst>
                      <a:gd name="T0" fmla="*/ 0 w 24"/>
                      <a:gd name="T1" fmla="*/ 22 h 22"/>
                      <a:gd name="T2" fmla="*/ 0 w 24"/>
                      <a:gd name="T3" fmla="*/ 0 h 22"/>
                      <a:gd name="T4" fmla="*/ 21 w 24"/>
                      <a:gd name="T5" fmla="*/ 0 h 22"/>
                      <a:gd name="T6" fmla="*/ 21 w 24"/>
                      <a:gd name="T7" fmla="*/ 14 h 22"/>
                      <a:gd name="T8" fmla="*/ 24 w 24"/>
                      <a:gd name="T9" fmla="*/ 20 h 22"/>
                      <a:gd name="T10" fmla="*/ 24 w 24"/>
                      <a:gd name="T11" fmla="*/ 22 h 22"/>
                      <a:gd name="T12" fmla="*/ 0 w 24"/>
                      <a:gd name="T13" fmla="*/ 22 h 2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4"/>
                      <a:gd name="T22" fmla="*/ 0 h 22"/>
                      <a:gd name="T23" fmla="*/ 24 w 24"/>
                      <a:gd name="T24" fmla="*/ 22 h 2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4" h="22">
                        <a:moveTo>
                          <a:pt x="0" y="22"/>
                        </a:moveTo>
                        <a:lnTo>
                          <a:pt x="0" y="0"/>
                        </a:lnTo>
                        <a:lnTo>
                          <a:pt x="21" y="0"/>
                        </a:lnTo>
                        <a:lnTo>
                          <a:pt x="21" y="14"/>
                        </a:lnTo>
                        <a:lnTo>
                          <a:pt x="24" y="20"/>
                        </a:lnTo>
                        <a:lnTo>
                          <a:pt x="24" y="22"/>
                        </a:lnTo>
                        <a:lnTo>
                          <a:pt x="0" y="22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21" name="Freeform 465"/>
                  <p:cNvSpPr>
                    <a:spLocks/>
                  </p:cNvSpPr>
                  <p:nvPr/>
                </p:nvSpPr>
                <p:spPr bwMode="auto">
                  <a:xfrm>
                    <a:off x="3570" y="2674"/>
                    <a:ext cx="11" cy="9"/>
                  </a:xfrm>
                  <a:custGeom>
                    <a:avLst/>
                    <a:gdLst>
                      <a:gd name="T0" fmla="*/ 0 w 11"/>
                      <a:gd name="T1" fmla="*/ 9 h 9"/>
                      <a:gd name="T2" fmla="*/ 11 w 11"/>
                      <a:gd name="T3" fmla="*/ 0 h 9"/>
                      <a:gd name="T4" fmla="*/ 11 w 11"/>
                      <a:gd name="T5" fmla="*/ 9 h 9"/>
                      <a:gd name="T6" fmla="*/ 0 w 11"/>
                      <a:gd name="T7" fmla="*/ 9 h 9"/>
                      <a:gd name="T8" fmla="*/ 0 w 11"/>
                      <a:gd name="T9" fmla="*/ 9 h 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"/>
                      <a:gd name="T16" fmla="*/ 0 h 9"/>
                      <a:gd name="T17" fmla="*/ 11 w 11"/>
                      <a:gd name="T18" fmla="*/ 9 h 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" h="9">
                        <a:moveTo>
                          <a:pt x="0" y="9"/>
                        </a:moveTo>
                        <a:lnTo>
                          <a:pt x="11" y="0"/>
                        </a:lnTo>
                        <a:lnTo>
                          <a:pt x="11" y="9"/>
                        </a:lnTo>
                        <a:lnTo>
                          <a:pt x="0" y="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22" name="Freeform 466"/>
                  <p:cNvSpPr>
                    <a:spLocks/>
                  </p:cNvSpPr>
                  <p:nvPr/>
                </p:nvSpPr>
                <p:spPr bwMode="auto">
                  <a:xfrm>
                    <a:off x="3570" y="2674"/>
                    <a:ext cx="11" cy="9"/>
                  </a:xfrm>
                  <a:custGeom>
                    <a:avLst/>
                    <a:gdLst>
                      <a:gd name="T0" fmla="*/ 0 w 11"/>
                      <a:gd name="T1" fmla="*/ 9 h 9"/>
                      <a:gd name="T2" fmla="*/ 11 w 11"/>
                      <a:gd name="T3" fmla="*/ 0 h 9"/>
                      <a:gd name="T4" fmla="*/ 11 w 11"/>
                      <a:gd name="T5" fmla="*/ 9 h 9"/>
                      <a:gd name="T6" fmla="*/ 0 w 11"/>
                      <a:gd name="T7" fmla="*/ 9 h 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1"/>
                      <a:gd name="T13" fmla="*/ 0 h 9"/>
                      <a:gd name="T14" fmla="*/ 11 w 11"/>
                      <a:gd name="T15" fmla="*/ 9 h 9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1" h="9">
                        <a:moveTo>
                          <a:pt x="0" y="9"/>
                        </a:moveTo>
                        <a:lnTo>
                          <a:pt x="11" y="0"/>
                        </a:lnTo>
                        <a:lnTo>
                          <a:pt x="11" y="9"/>
                        </a:lnTo>
                        <a:lnTo>
                          <a:pt x="0" y="9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23" name="Freeform 467"/>
                  <p:cNvSpPr>
                    <a:spLocks/>
                  </p:cNvSpPr>
                  <p:nvPr/>
                </p:nvSpPr>
                <p:spPr bwMode="auto">
                  <a:xfrm>
                    <a:off x="3605" y="2677"/>
                    <a:ext cx="17" cy="6"/>
                  </a:xfrm>
                  <a:custGeom>
                    <a:avLst/>
                    <a:gdLst>
                      <a:gd name="T0" fmla="*/ 9 w 17"/>
                      <a:gd name="T1" fmla="*/ 0 h 6"/>
                      <a:gd name="T2" fmla="*/ 17 w 17"/>
                      <a:gd name="T3" fmla="*/ 0 h 6"/>
                      <a:gd name="T4" fmla="*/ 16 w 17"/>
                      <a:gd name="T5" fmla="*/ 3 h 6"/>
                      <a:gd name="T6" fmla="*/ 16 w 17"/>
                      <a:gd name="T7" fmla="*/ 6 h 6"/>
                      <a:gd name="T8" fmla="*/ 0 w 17"/>
                      <a:gd name="T9" fmla="*/ 6 h 6"/>
                      <a:gd name="T10" fmla="*/ 9 w 17"/>
                      <a:gd name="T11" fmla="*/ 0 h 6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17"/>
                      <a:gd name="T19" fmla="*/ 0 h 6"/>
                      <a:gd name="T20" fmla="*/ 17 w 17"/>
                      <a:gd name="T21" fmla="*/ 6 h 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17" h="6">
                        <a:moveTo>
                          <a:pt x="9" y="0"/>
                        </a:moveTo>
                        <a:lnTo>
                          <a:pt x="17" y="0"/>
                        </a:lnTo>
                        <a:lnTo>
                          <a:pt x="16" y="3"/>
                        </a:lnTo>
                        <a:lnTo>
                          <a:pt x="16" y="6"/>
                        </a:lnTo>
                        <a:lnTo>
                          <a:pt x="0" y="6"/>
                        </a:lnTo>
                        <a:lnTo>
                          <a:pt x="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24" name="Freeform 468"/>
                  <p:cNvSpPr>
                    <a:spLocks/>
                  </p:cNvSpPr>
                  <p:nvPr/>
                </p:nvSpPr>
                <p:spPr bwMode="auto">
                  <a:xfrm>
                    <a:off x="3605" y="2677"/>
                    <a:ext cx="17" cy="6"/>
                  </a:xfrm>
                  <a:custGeom>
                    <a:avLst/>
                    <a:gdLst>
                      <a:gd name="T0" fmla="*/ 9 w 17"/>
                      <a:gd name="T1" fmla="*/ 0 h 6"/>
                      <a:gd name="T2" fmla="*/ 17 w 17"/>
                      <a:gd name="T3" fmla="*/ 0 h 6"/>
                      <a:gd name="T4" fmla="*/ 16 w 17"/>
                      <a:gd name="T5" fmla="*/ 3 h 6"/>
                      <a:gd name="T6" fmla="*/ 16 w 17"/>
                      <a:gd name="T7" fmla="*/ 6 h 6"/>
                      <a:gd name="T8" fmla="*/ 0 w 17"/>
                      <a:gd name="T9" fmla="*/ 6 h 6"/>
                      <a:gd name="T10" fmla="*/ 9 w 17"/>
                      <a:gd name="T11" fmla="*/ 0 h 6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17"/>
                      <a:gd name="T19" fmla="*/ 0 h 6"/>
                      <a:gd name="T20" fmla="*/ 17 w 17"/>
                      <a:gd name="T21" fmla="*/ 6 h 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17" h="6">
                        <a:moveTo>
                          <a:pt x="9" y="0"/>
                        </a:moveTo>
                        <a:lnTo>
                          <a:pt x="17" y="0"/>
                        </a:lnTo>
                        <a:lnTo>
                          <a:pt x="16" y="3"/>
                        </a:lnTo>
                        <a:lnTo>
                          <a:pt x="16" y="6"/>
                        </a:lnTo>
                        <a:lnTo>
                          <a:pt x="0" y="6"/>
                        </a:lnTo>
                        <a:lnTo>
                          <a:pt x="9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25" name="Freeform 469"/>
                  <p:cNvSpPr>
                    <a:spLocks/>
                  </p:cNvSpPr>
                  <p:nvPr/>
                </p:nvSpPr>
                <p:spPr bwMode="auto">
                  <a:xfrm>
                    <a:off x="3621" y="2677"/>
                    <a:ext cx="30" cy="6"/>
                  </a:xfrm>
                  <a:custGeom>
                    <a:avLst/>
                    <a:gdLst>
                      <a:gd name="T0" fmla="*/ 28 w 30"/>
                      <a:gd name="T1" fmla="*/ 0 h 6"/>
                      <a:gd name="T2" fmla="*/ 27 w 30"/>
                      <a:gd name="T3" fmla="*/ 1 h 6"/>
                      <a:gd name="T4" fmla="*/ 24 w 30"/>
                      <a:gd name="T5" fmla="*/ 2 h 6"/>
                      <a:gd name="T6" fmla="*/ 21 w 30"/>
                      <a:gd name="T7" fmla="*/ 2 h 6"/>
                      <a:gd name="T8" fmla="*/ 19 w 30"/>
                      <a:gd name="T9" fmla="*/ 3 h 6"/>
                      <a:gd name="T10" fmla="*/ 16 w 30"/>
                      <a:gd name="T11" fmla="*/ 3 h 6"/>
                      <a:gd name="T12" fmla="*/ 13 w 30"/>
                      <a:gd name="T13" fmla="*/ 3 h 6"/>
                      <a:gd name="T14" fmla="*/ 9 w 30"/>
                      <a:gd name="T15" fmla="*/ 3 h 6"/>
                      <a:gd name="T16" fmla="*/ 6 w 30"/>
                      <a:gd name="T17" fmla="*/ 2 h 6"/>
                      <a:gd name="T18" fmla="*/ 4 w 30"/>
                      <a:gd name="T19" fmla="*/ 2 h 6"/>
                      <a:gd name="T20" fmla="*/ 2 w 30"/>
                      <a:gd name="T21" fmla="*/ 0 h 6"/>
                      <a:gd name="T22" fmla="*/ 1 w 30"/>
                      <a:gd name="T23" fmla="*/ 0 h 6"/>
                      <a:gd name="T24" fmla="*/ 0 w 30"/>
                      <a:gd name="T25" fmla="*/ 3 h 6"/>
                      <a:gd name="T26" fmla="*/ 0 w 30"/>
                      <a:gd name="T27" fmla="*/ 6 h 6"/>
                      <a:gd name="T28" fmla="*/ 27 w 30"/>
                      <a:gd name="T29" fmla="*/ 6 h 6"/>
                      <a:gd name="T30" fmla="*/ 30 w 30"/>
                      <a:gd name="T31" fmla="*/ 3 h 6"/>
                      <a:gd name="T32" fmla="*/ 30 w 30"/>
                      <a:gd name="T33" fmla="*/ 0 h 6"/>
                      <a:gd name="T34" fmla="*/ 28 w 30"/>
                      <a:gd name="T35" fmla="*/ 0 h 6"/>
                      <a:gd name="T36" fmla="*/ 28 w 30"/>
                      <a:gd name="T37" fmla="*/ 0 h 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30"/>
                      <a:gd name="T58" fmla="*/ 0 h 6"/>
                      <a:gd name="T59" fmla="*/ 30 w 30"/>
                      <a:gd name="T60" fmla="*/ 6 h 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30" h="6">
                        <a:moveTo>
                          <a:pt x="28" y="0"/>
                        </a:moveTo>
                        <a:lnTo>
                          <a:pt x="27" y="1"/>
                        </a:lnTo>
                        <a:lnTo>
                          <a:pt x="24" y="2"/>
                        </a:lnTo>
                        <a:lnTo>
                          <a:pt x="21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9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7" y="6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26" name="Freeform 470"/>
                  <p:cNvSpPr>
                    <a:spLocks/>
                  </p:cNvSpPr>
                  <p:nvPr/>
                </p:nvSpPr>
                <p:spPr bwMode="auto">
                  <a:xfrm>
                    <a:off x="3621" y="2677"/>
                    <a:ext cx="30" cy="6"/>
                  </a:xfrm>
                  <a:custGeom>
                    <a:avLst/>
                    <a:gdLst>
                      <a:gd name="T0" fmla="*/ 28 w 30"/>
                      <a:gd name="T1" fmla="*/ 0 h 6"/>
                      <a:gd name="T2" fmla="*/ 27 w 30"/>
                      <a:gd name="T3" fmla="*/ 1 h 6"/>
                      <a:gd name="T4" fmla="*/ 24 w 30"/>
                      <a:gd name="T5" fmla="*/ 2 h 6"/>
                      <a:gd name="T6" fmla="*/ 21 w 30"/>
                      <a:gd name="T7" fmla="*/ 2 h 6"/>
                      <a:gd name="T8" fmla="*/ 19 w 30"/>
                      <a:gd name="T9" fmla="*/ 3 h 6"/>
                      <a:gd name="T10" fmla="*/ 16 w 30"/>
                      <a:gd name="T11" fmla="*/ 3 h 6"/>
                      <a:gd name="T12" fmla="*/ 13 w 30"/>
                      <a:gd name="T13" fmla="*/ 3 h 6"/>
                      <a:gd name="T14" fmla="*/ 9 w 30"/>
                      <a:gd name="T15" fmla="*/ 3 h 6"/>
                      <a:gd name="T16" fmla="*/ 6 w 30"/>
                      <a:gd name="T17" fmla="*/ 2 h 6"/>
                      <a:gd name="T18" fmla="*/ 4 w 30"/>
                      <a:gd name="T19" fmla="*/ 2 h 6"/>
                      <a:gd name="T20" fmla="*/ 2 w 30"/>
                      <a:gd name="T21" fmla="*/ 0 h 6"/>
                      <a:gd name="T22" fmla="*/ 1 w 30"/>
                      <a:gd name="T23" fmla="*/ 0 h 6"/>
                      <a:gd name="T24" fmla="*/ 0 w 30"/>
                      <a:gd name="T25" fmla="*/ 3 h 6"/>
                      <a:gd name="T26" fmla="*/ 0 w 30"/>
                      <a:gd name="T27" fmla="*/ 6 h 6"/>
                      <a:gd name="T28" fmla="*/ 27 w 30"/>
                      <a:gd name="T29" fmla="*/ 6 h 6"/>
                      <a:gd name="T30" fmla="*/ 30 w 30"/>
                      <a:gd name="T31" fmla="*/ 3 h 6"/>
                      <a:gd name="T32" fmla="*/ 30 w 30"/>
                      <a:gd name="T33" fmla="*/ 0 h 6"/>
                      <a:gd name="T34" fmla="*/ 28 w 30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0"/>
                      <a:gd name="T55" fmla="*/ 0 h 6"/>
                      <a:gd name="T56" fmla="*/ 30 w 30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0" h="6">
                        <a:moveTo>
                          <a:pt x="28" y="0"/>
                        </a:moveTo>
                        <a:lnTo>
                          <a:pt x="27" y="1"/>
                        </a:lnTo>
                        <a:lnTo>
                          <a:pt x="24" y="2"/>
                        </a:lnTo>
                        <a:lnTo>
                          <a:pt x="21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9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7" y="6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28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27" name="Freeform 471"/>
                  <p:cNvSpPr>
                    <a:spLocks/>
                  </p:cNvSpPr>
                  <p:nvPr/>
                </p:nvSpPr>
                <p:spPr bwMode="auto">
                  <a:xfrm>
                    <a:off x="3648" y="2677"/>
                    <a:ext cx="17" cy="6"/>
                  </a:xfrm>
                  <a:custGeom>
                    <a:avLst/>
                    <a:gdLst>
                      <a:gd name="T0" fmla="*/ 3 w 17"/>
                      <a:gd name="T1" fmla="*/ 0 h 6"/>
                      <a:gd name="T2" fmla="*/ 17 w 17"/>
                      <a:gd name="T3" fmla="*/ 0 h 6"/>
                      <a:gd name="T4" fmla="*/ 16 w 17"/>
                      <a:gd name="T5" fmla="*/ 3 h 6"/>
                      <a:gd name="T6" fmla="*/ 16 w 17"/>
                      <a:gd name="T7" fmla="*/ 6 h 6"/>
                      <a:gd name="T8" fmla="*/ 0 w 17"/>
                      <a:gd name="T9" fmla="*/ 6 h 6"/>
                      <a:gd name="T10" fmla="*/ 3 w 17"/>
                      <a:gd name="T11" fmla="*/ 3 h 6"/>
                      <a:gd name="T12" fmla="*/ 3 w 17"/>
                      <a:gd name="T13" fmla="*/ 0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7"/>
                      <a:gd name="T22" fmla="*/ 0 h 6"/>
                      <a:gd name="T23" fmla="*/ 17 w 17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7" h="6">
                        <a:moveTo>
                          <a:pt x="3" y="0"/>
                        </a:moveTo>
                        <a:lnTo>
                          <a:pt x="17" y="0"/>
                        </a:lnTo>
                        <a:lnTo>
                          <a:pt x="16" y="3"/>
                        </a:lnTo>
                        <a:lnTo>
                          <a:pt x="16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28" name="Freeform 472"/>
                  <p:cNvSpPr>
                    <a:spLocks/>
                  </p:cNvSpPr>
                  <p:nvPr/>
                </p:nvSpPr>
                <p:spPr bwMode="auto">
                  <a:xfrm>
                    <a:off x="3648" y="2677"/>
                    <a:ext cx="17" cy="6"/>
                  </a:xfrm>
                  <a:custGeom>
                    <a:avLst/>
                    <a:gdLst>
                      <a:gd name="T0" fmla="*/ 3 w 17"/>
                      <a:gd name="T1" fmla="*/ 0 h 6"/>
                      <a:gd name="T2" fmla="*/ 17 w 17"/>
                      <a:gd name="T3" fmla="*/ 0 h 6"/>
                      <a:gd name="T4" fmla="*/ 16 w 17"/>
                      <a:gd name="T5" fmla="*/ 3 h 6"/>
                      <a:gd name="T6" fmla="*/ 16 w 17"/>
                      <a:gd name="T7" fmla="*/ 6 h 6"/>
                      <a:gd name="T8" fmla="*/ 0 w 17"/>
                      <a:gd name="T9" fmla="*/ 6 h 6"/>
                      <a:gd name="T10" fmla="*/ 3 w 17"/>
                      <a:gd name="T11" fmla="*/ 3 h 6"/>
                      <a:gd name="T12" fmla="*/ 3 w 17"/>
                      <a:gd name="T13" fmla="*/ 0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7"/>
                      <a:gd name="T22" fmla="*/ 0 h 6"/>
                      <a:gd name="T23" fmla="*/ 17 w 17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7" h="6">
                        <a:moveTo>
                          <a:pt x="3" y="0"/>
                        </a:moveTo>
                        <a:lnTo>
                          <a:pt x="17" y="0"/>
                        </a:lnTo>
                        <a:lnTo>
                          <a:pt x="16" y="3"/>
                        </a:lnTo>
                        <a:lnTo>
                          <a:pt x="16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  <a:lnTo>
                          <a:pt x="3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29" name="Freeform 473"/>
                  <p:cNvSpPr>
                    <a:spLocks/>
                  </p:cNvSpPr>
                  <p:nvPr/>
                </p:nvSpPr>
                <p:spPr bwMode="auto">
                  <a:xfrm>
                    <a:off x="3664" y="2677"/>
                    <a:ext cx="31" cy="6"/>
                  </a:xfrm>
                  <a:custGeom>
                    <a:avLst/>
                    <a:gdLst>
                      <a:gd name="T0" fmla="*/ 28 w 31"/>
                      <a:gd name="T1" fmla="*/ 0 h 6"/>
                      <a:gd name="T2" fmla="*/ 26 w 31"/>
                      <a:gd name="T3" fmla="*/ 1 h 6"/>
                      <a:gd name="T4" fmla="*/ 25 w 31"/>
                      <a:gd name="T5" fmla="*/ 2 h 6"/>
                      <a:gd name="T6" fmla="*/ 22 w 31"/>
                      <a:gd name="T7" fmla="*/ 2 h 6"/>
                      <a:gd name="T8" fmla="*/ 19 w 31"/>
                      <a:gd name="T9" fmla="*/ 3 h 6"/>
                      <a:gd name="T10" fmla="*/ 16 w 31"/>
                      <a:gd name="T11" fmla="*/ 3 h 6"/>
                      <a:gd name="T12" fmla="*/ 12 w 31"/>
                      <a:gd name="T13" fmla="*/ 3 h 6"/>
                      <a:gd name="T14" fmla="*/ 9 w 31"/>
                      <a:gd name="T15" fmla="*/ 3 h 6"/>
                      <a:gd name="T16" fmla="*/ 6 w 31"/>
                      <a:gd name="T17" fmla="*/ 2 h 6"/>
                      <a:gd name="T18" fmla="*/ 4 w 31"/>
                      <a:gd name="T19" fmla="*/ 2 h 6"/>
                      <a:gd name="T20" fmla="*/ 2 w 31"/>
                      <a:gd name="T21" fmla="*/ 0 h 6"/>
                      <a:gd name="T22" fmla="*/ 1 w 31"/>
                      <a:gd name="T23" fmla="*/ 0 h 6"/>
                      <a:gd name="T24" fmla="*/ 0 w 31"/>
                      <a:gd name="T25" fmla="*/ 3 h 6"/>
                      <a:gd name="T26" fmla="*/ 0 w 31"/>
                      <a:gd name="T27" fmla="*/ 6 h 6"/>
                      <a:gd name="T28" fmla="*/ 26 w 31"/>
                      <a:gd name="T29" fmla="*/ 6 h 6"/>
                      <a:gd name="T30" fmla="*/ 31 w 31"/>
                      <a:gd name="T31" fmla="*/ 3 h 6"/>
                      <a:gd name="T32" fmla="*/ 31 w 31"/>
                      <a:gd name="T33" fmla="*/ 0 h 6"/>
                      <a:gd name="T34" fmla="*/ 28 w 31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"/>
                      <a:gd name="T55" fmla="*/ 0 h 6"/>
                      <a:gd name="T56" fmla="*/ 31 w 31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" h="6">
                        <a:moveTo>
                          <a:pt x="28" y="0"/>
                        </a:moveTo>
                        <a:lnTo>
                          <a:pt x="26" y="1"/>
                        </a:lnTo>
                        <a:lnTo>
                          <a:pt x="25" y="2"/>
                        </a:lnTo>
                        <a:lnTo>
                          <a:pt x="22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2" y="3"/>
                        </a:lnTo>
                        <a:lnTo>
                          <a:pt x="9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6" y="6"/>
                        </a:lnTo>
                        <a:lnTo>
                          <a:pt x="31" y="3"/>
                        </a:lnTo>
                        <a:lnTo>
                          <a:pt x="31" y="0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30" name="Freeform 474"/>
                  <p:cNvSpPr>
                    <a:spLocks/>
                  </p:cNvSpPr>
                  <p:nvPr/>
                </p:nvSpPr>
                <p:spPr bwMode="auto">
                  <a:xfrm>
                    <a:off x="3664" y="2677"/>
                    <a:ext cx="31" cy="6"/>
                  </a:xfrm>
                  <a:custGeom>
                    <a:avLst/>
                    <a:gdLst>
                      <a:gd name="T0" fmla="*/ 28 w 31"/>
                      <a:gd name="T1" fmla="*/ 0 h 6"/>
                      <a:gd name="T2" fmla="*/ 26 w 31"/>
                      <a:gd name="T3" fmla="*/ 1 h 6"/>
                      <a:gd name="T4" fmla="*/ 25 w 31"/>
                      <a:gd name="T5" fmla="*/ 2 h 6"/>
                      <a:gd name="T6" fmla="*/ 22 w 31"/>
                      <a:gd name="T7" fmla="*/ 2 h 6"/>
                      <a:gd name="T8" fmla="*/ 19 w 31"/>
                      <a:gd name="T9" fmla="*/ 3 h 6"/>
                      <a:gd name="T10" fmla="*/ 16 w 31"/>
                      <a:gd name="T11" fmla="*/ 3 h 6"/>
                      <a:gd name="T12" fmla="*/ 12 w 31"/>
                      <a:gd name="T13" fmla="*/ 3 h 6"/>
                      <a:gd name="T14" fmla="*/ 9 w 31"/>
                      <a:gd name="T15" fmla="*/ 3 h 6"/>
                      <a:gd name="T16" fmla="*/ 6 w 31"/>
                      <a:gd name="T17" fmla="*/ 2 h 6"/>
                      <a:gd name="T18" fmla="*/ 4 w 31"/>
                      <a:gd name="T19" fmla="*/ 2 h 6"/>
                      <a:gd name="T20" fmla="*/ 2 w 31"/>
                      <a:gd name="T21" fmla="*/ 0 h 6"/>
                      <a:gd name="T22" fmla="*/ 1 w 31"/>
                      <a:gd name="T23" fmla="*/ 0 h 6"/>
                      <a:gd name="T24" fmla="*/ 0 w 31"/>
                      <a:gd name="T25" fmla="*/ 3 h 6"/>
                      <a:gd name="T26" fmla="*/ 0 w 31"/>
                      <a:gd name="T27" fmla="*/ 6 h 6"/>
                      <a:gd name="T28" fmla="*/ 26 w 31"/>
                      <a:gd name="T29" fmla="*/ 6 h 6"/>
                      <a:gd name="T30" fmla="*/ 31 w 31"/>
                      <a:gd name="T31" fmla="*/ 3 h 6"/>
                      <a:gd name="T32" fmla="*/ 31 w 31"/>
                      <a:gd name="T33" fmla="*/ 0 h 6"/>
                      <a:gd name="T34" fmla="*/ 28 w 31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"/>
                      <a:gd name="T55" fmla="*/ 0 h 6"/>
                      <a:gd name="T56" fmla="*/ 31 w 31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" h="6">
                        <a:moveTo>
                          <a:pt x="28" y="0"/>
                        </a:moveTo>
                        <a:lnTo>
                          <a:pt x="26" y="1"/>
                        </a:lnTo>
                        <a:lnTo>
                          <a:pt x="25" y="2"/>
                        </a:lnTo>
                        <a:lnTo>
                          <a:pt x="22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2" y="3"/>
                        </a:lnTo>
                        <a:lnTo>
                          <a:pt x="9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6" y="6"/>
                        </a:lnTo>
                        <a:lnTo>
                          <a:pt x="31" y="3"/>
                        </a:lnTo>
                        <a:lnTo>
                          <a:pt x="31" y="0"/>
                        </a:lnTo>
                        <a:lnTo>
                          <a:pt x="28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31" name="Freeform 475"/>
                  <p:cNvSpPr>
                    <a:spLocks/>
                  </p:cNvSpPr>
                  <p:nvPr/>
                </p:nvSpPr>
                <p:spPr bwMode="auto">
                  <a:xfrm>
                    <a:off x="3690" y="2677"/>
                    <a:ext cx="31" cy="6"/>
                  </a:xfrm>
                  <a:custGeom>
                    <a:avLst/>
                    <a:gdLst>
                      <a:gd name="T0" fmla="*/ 5 w 31"/>
                      <a:gd name="T1" fmla="*/ 0 h 6"/>
                      <a:gd name="T2" fmla="*/ 31 w 31"/>
                      <a:gd name="T3" fmla="*/ 0 h 6"/>
                      <a:gd name="T4" fmla="*/ 30 w 31"/>
                      <a:gd name="T5" fmla="*/ 3 h 6"/>
                      <a:gd name="T6" fmla="*/ 30 w 31"/>
                      <a:gd name="T7" fmla="*/ 6 h 6"/>
                      <a:gd name="T8" fmla="*/ 0 w 31"/>
                      <a:gd name="T9" fmla="*/ 6 h 6"/>
                      <a:gd name="T10" fmla="*/ 5 w 31"/>
                      <a:gd name="T11" fmla="*/ 3 h 6"/>
                      <a:gd name="T12" fmla="*/ 5 w 31"/>
                      <a:gd name="T13" fmla="*/ 0 h 6"/>
                      <a:gd name="T14" fmla="*/ 5 w 31"/>
                      <a:gd name="T15" fmla="*/ 0 h 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1"/>
                      <a:gd name="T25" fmla="*/ 0 h 6"/>
                      <a:gd name="T26" fmla="*/ 31 w 31"/>
                      <a:gd name="T27" fmla="*/ 6 h 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1" h="6">
                        <a:moveTo>
                          <a:pt x="5" y="0"/>
                        </a:moveTo>
                        <a:lnTo>
                          <a:pt x="31" y="0"/>
                        </a:lnTo>
                        <a:lnTo>
                          <a:pt x="30" y="3"/>
                        </a:lnTo>
                        <a:lnTo>
                          <a:pt x="30" y="6"/>
                        </a:lnTo>
                        <a:lnTo>
                          <a:pt x="0" y="6"/>
                        </a:lnTo>
                        <a:lnTo>
                          <a:pt x="5" y="3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32" name="Freeform 476"/>
                  <p:cNvSpPr>
                    <a:spLocks/>
                  </p:cNvSpPr>
                  <p:nvPr/>
                </p:nvSpPr>
                <p:spPr bwMode="auto">
                  <a:xfrm>
                    <a:off x="3690" y="2677"/>
                    <a:ext cx="31" cy="6"/>
                  </a:xfrm>
                  <a:custGeom>
                    <a:avLst/>
                    <a:gdLst>
                      <a:gd name="T0" fmla="*/ 5 w 31"/>
                      <a:gd name="T1" fmla="*/ 0 h 6"/>
                      <a:gd name="T2" fmla="*/ 31 w 31"/>
                      <a:gd name="T3" fmla="*/ 0 h 6"/>
                      <a:gd name="T4" fmla="*/ 30 w 31"/>
                      <a:gd name="T5" fmla="*/ 3 h 6"/>
                      <a:gd name="T6" fmla="*/ 30 w 31"/>
                      <a:gd name="T7" fmla="*/ 6 h 6"/>
                      <a:gd name="T8" fmla="*/ 0 w 31"/>
                      <a:gd name="T9" fmla="*/ 6 h 6"/>
                      <a:gd name="T10" fmla="*/ 5 w 31"/>
                      <a:gd name="T11" fmla="*/ 3 h 6"/>
                      <a:gd name="T12" fmla="*/ 5 w 31"/>
                      <a:gd name="T13" fmla="*/ 0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1"/>
                      <a:gd name="T22" fmla="*/ 0 h 6"/>
                      <a:gd name="T23" fmla="*/ 31 w 31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1" h="6">
                        <a:moveTo>
                          <a:pt x="5" y="0"/>
                        </a:moveTo>
                        <a:lnTo>
                          <a:pt x="31" y="0"/>
                        </a:lnTo>
                        <a:lnTo>
                          <a:pt x="30" y="3"/>
                        </a:lnTo>
                        <a:lnTo>
                          <a:pt x="30" y="6"/>
                        </a:lnTo>
                        <a:lnTo>
                          <a:pt x="0" y="6"/>
                        </a:lnTo>
                        <a:lnTo>
                          <a:pt x="5" y="3"/>
                        </a:lnTo>
                        <a:lnTo>
                          <a:pt x="5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33" name="Freeform 477"/>
                  <p:cNvSpPr>
                    <a:spLocks/>
                  </p:cNvSpPr>
                  <p:nvPr/>
                </p:nvSpPr>
                <p:spPr bwMode="auto">
                  <a:xfrm>
                    <a:off x="3720" y="2677"/>
                    <a:ext cx="30" cy="6"/>
                  </a:xfrm>
                  <a:custGeom>
                    <a:avLst/>
                    <a:gdLst>
                      <a:gd name="T0" fmla="*/ 28 w 30"/>
                      <a:gd name="T1" fmla="*/ 0 h 6"/>
                      <a:gd name="T2" fmla="*/ 27 w 30"/>
                      <a:gd name="T3" fmla="*/ 1 h 6"/>
                      <a:gd name="T4" fmla="*/ 25 w 30"/>
                      <a:gd name="T5" fmla="*/ 2 h 6"/>
                      <a:gd name="T6" fmla="*/ 22 w 30"/>
                      <a:gd name="T7" fmla="*/ 2 h 6"/>
                      <a:gd name="T8" fmla="*/ 18 w 30"/>
                      <a:gd name="T9" fmla="*/ 3 h 6"/>
                      <a:gd name="T10" fmla="*/ 16 w 30"/>
                      <a:gd name="T11" fmla="*/ 3 h 6"/>
                      <a:gd name="T12" fmla="*/ 13 w 30"/>
                      <a:gd name="T13" fmla="*/ 3 h 6"/>
                      <a:gd name="T14" fmla="*/ 10 w 30"/>
                      <a:gd name="T15" fmla="*/ 3 h 6"/>
                      <a:gd name="T16" fmla="*/ 7 w 30"/>
                      <a:gd name="T17" fmla="*/ 2 h 6"/>
                      <a:gd name="T18" fmla="*/ 4 w 30"/>
                      <a:gd name="T19" fmla="*/ 2 h 6"/>
                      <a:gd name="T20" fmla="*/ 2 w 30"/>
                      <a:gd name="T21" fmla="*/ 0 h 6"/>
                      <a:gd name="T22" fmla="*/ 1 w 30"/>
                      <a:gd name="T23" fmla="*/ 0 h 6"/>
                      <a:gd name="T24" fmla="*/ 0 w 30"/>
                      <a:gd name="T25" fmla="*/ 3 h 6"/>
                      <a:gd name="T26" fmla="*/ 0 w 30"/>
                      <a:gd name="T27" fmla="*/ 6 h 6"/>
                      <a:gd name="T28" fmla="*/ 27 w 30"/>
                      <a:gd name="T29" fmla="*/ 6 h 6"/>
                      <a:gd name="T30" fmla="*/ 30 w 30"/>
                      <a:gd name="T31" fmla="*/ 3 h 6"/>
                      <a:gd name="T32" fmla="*/ 30 w 30"/>
                      <a:gd name="T33" fmla="*/ 0 h 6"/>
                      <a:gd name="T34" fmla="*/ 28 w 30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0"/>
                      <a:gd name="T55" fmla="*/ 0 h 6"/>
                      <a:gd name="T56" fmla="*/ 30 w 30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0" h="6">
                        <a:moveTo>
                          <a:pt x="28" y="0"/>
                        </a:moveTo>
                        <a:lnTo>
                          <a:pt x="27" y="1"/>
                        </a:lnTo>
                        <a:lnTo>
                          <a:pt x="25" y="2"/>
                        </a:lnTo>
                        <a:lnTo>
                          <a:pt x="22" y="2"/>
                        </a:lnTo>
                        <a:lnTo>
                          <a:pt x="18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10" y="3"/>
                        </a:lnTo>
                        <a:lnTo>
                          <a:pt x="7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7" y="6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34" name="Freeform 478"/>
                  <p:cNvSpPr>
                    <a:spLocks/>
                  </p:cNvSpPr>
                  <p:nvPr/>
                </p:nvSpPr>
                <p:spPr bwMode="auto">
                  <a:xfrm>
                    <a:off x="3720" y="2677"/>
                    <a:ext cx="30" cy="6"/>
                  </a:xfrm>
                  <a:custGeom>
                    <a:avLst/>
                    <a:gdLst>
                      <a:gd name="T0" fmla="*/ 28 w 30"/>
                      <a:gd name="T1" fmla="*/ 0 h 6"/>
                      <a:gd name="T2" fmla="*/ 27 w 30"/>
                      <a:gd name="T3" fmla="*/ 1 h 6"/>
                      <a:gd name="T4" fmla="*/ 25 w 30"/>
                      <a:gd name="T5" fmla="*/ 2 h 6"/>
                      <a:gd name="T6" fmla="*/ 22 w 30"/>
                      <a:gd name="T7" fmla="*/ 2 h 6"/>
                      <a:gd name="T8" fmla="*/ 18 w 30"/>
                      <a:gd name="T9" fmla="*/ 3 h 6"/>
                      <a:gd name="T10" fmla="*/ 16 w 30"/>
                      <a:gd name="T11" fmla="*/ 3 h 6"/>
                      <a:gd name="T12" fmla="*/ 13 w 30"/>
                      <a:gd name="T13" fmla="*/ 3 h 6"/>
                      <a:gd name="T14" fmla="*/ 10 w 30"/>
                      <a:gd name="T15" fmla="*/ 3 h 6"/>
                      <a:gd name="T16" fmla="*/ 7 w 30"/>
                      <a:gd name="T17" fmla="*/ 2 h 6"/>
                      <a:gd name="T18" fmla="*/ 4 w 30"/>
                      <a:gd name="T19" fmla="*/ 2 h 6"/>
                      <a:gd name="T20" fmla="*/ 2 w 30"/>
                      <a:gd name="T21" fmla="*/ 0 h 6"/>
                      <a:gd name="T22" fmla="*/ 1 w 30"/>
                      <a:gd name="T23" fmla="*/ 0 h 6"/>
                      <a:gd name="T24" fmla="*/ 0 w 30"/>
                      <a:gd name="T25" fmla="*/ 3 h 6"/>
                      <a:gd name="T26" fmla="*/ 0 w 30"/>
                      <a:gd name="T27" fmla="*/ 6 h 6"/>
                      <a:gd name="T28" fmla="*/ 27 w 30"/>
                      <a:gd name="T29" fmla="*/ 6 h 6"/>
                      <a:gd name="T30" fmla="*/ 30 w 30"/>
                      <a:gd name="T31" fmla="*/ 3 h 6"/>
                      <a:gd name="T32" fmla="*/ 30 w 30"/>
                      <a:gd name="T33" fmla="*/ 0 h 6"/>
                      <a:gd name="T34" fmla="*/ 28 w 30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0"/>
                      <a:gd name="T55" fmla="*/ 0 h 6"/>
                      <a:gd name="T56" fmla="*/ 30 w 30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0" h="6">
                        <a:moveTo>
                          <a:pt x="28" y="0"/>
                        </a:moveTo>
                        <a:lnTo>
                          <a:pt x="27" y="1"/>
                        </a:lnTo>
                        <a:lnTo>
                          <a:pt x="25" y="2"/>
                        </a:lnTo>
                        <a:lnTo>
                          <a:pt x="22" y="2"/>
                        </a:lnTo>
                        <a:lnTo>
                          <a:pt x="18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10" y="3"/>
                        </a:lnTo>
                        <a:lnTo>
                          <a:pt x="7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7" y="6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28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35" name="Freeform 479"/>
                  <p:cNvSpPr>
                    <a:spLocks/>
                  </p:cNvSpPr>
                  <p:nvPr/>
                </p:nvSpPr>
                <p:spPr bwMode="auto">
                  <a:xfrm>
                    <a:off x="3747" y="2677"/>
                    <a:ext cx="18" cy="6"/>
                  </a:xfrm>
                  <a:custGeom>
                    <a:avLst/>
                    <a:gdLst>
                      <a:gd name="T0" fmla="*/ 3 w 18"/>
                      <a:gd name="T1" fmla="*/ 0 h 6"/>
                      <a:gd name="T2" fmla="*/ 18 w 18"/>
                      <a:gd name="T3" fmla="*/ 0 h 6"/>
                      <a:gd name="T4" fmla="*/ 17 w 18"/>
                      <a:gd name="T5" fmla="*/ 3 h 6"/>
                      <a:gd name="T6" fmla="*/ 17 w 18"/>
                      <a:gd name="T7" fmla="*/ 6 h 6"/>
                      <a:gd name="T8" fmla="*/ 0 w 18"/>
                      <a:gd name="T9" fmla="*/ 6 h 6"/>
                      <a:gd name="T10" fmla="*/ 3 w 18"/>
                      <a:gd name="T11" fmla="*/ 3 h 6"/>
                      <a:gd name="T12" fmla="*/ 3 w 18"/>
                      <a:gd name="T13" fmla="*/ 0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8"/>
                      <a:gd name="T22" fmla="*/ 0 h 6"/>
                      <a:gd name="T23" fmla="*/ 18 w 18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8" h="6">
                        <a:moveTo>
                          <a:pt x="3" y="0"/>
                        </a:moveTo>
                        <a:lnTo>
                          <a:pt x="18" y="0"/>
                        </a:lnTo>
                        <a:lnTo>
                          <a:pt x="17" y="3"/>
                        </a:lnTo>
                        <a:lnTo>
                          <a:pt x="17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36" name="Freeform 480"/>
                  <p:cNvSpPr>
                    <a:spLocks/>
                  </p:cNvSpPr>
                  <p:nvPr/>
                </p:nvSpPr>
                <p:spPr bwMode="auto">
                  <a:xfrm>
                    <a:off x="3747" y="2677"/>
                    <a:ext cx="18" cy="6"/>
                  </a:xfrm>
                  <a:custGeom>
                    <a:avLst/>
                    <a:gdLst>
                      <a:gd name="T0" fmla="*/ 3 w 18"/>
                      <a:gd name="T1" fmla="*/ 0 h 6"/>
                      <a:gd name="T2" fmla="*/ 18 w 18"/>
                      <a:gd name="T3" fmla="*/ 0 h 6"/>
                      <a:gd name="T4" fmla="*/ 17 w 18"/>
                      <a:gd name="T5" fmla="*/ 3 h 6"/>
                      <a:gd name="T6" fmla="*/ 17 w 18"/>
                      <a:gd name="T7" fmla="*/ 6 h 6"/>
                      <a:gd name="T8" fmla="*/ 0 w 18"/>
                      <a:gd name="T9" fmla="*/ 6 h 6"/>
                      <a:gd name="T10" fmla="*/ 3 w 18"/>
                      <a:gd name="T11" fmla="*/ 3 h 6"/>
                      <a:gd name="T12" fmla="*/ 3 w 18"/>
                      <a:gd name="T13" fmla="*/ 0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8"/>
                      <a:gd name="T22" fmla="*/ 0 h 6"/>
                      <a:gd name="T23" fmla="*/ 18 w 18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8" h="6">
                        <a:moveTo>
                          <a:pt x="3" y="0"/>
                        </a:moveTo>
                        <a:lnTo>
                          <a:pt x="18" y="0"/>
                        </a:lnTo>
                        <a:lnTo>
                          <a:pt x="17" y="3"/>
                        </a:lnTo>
                        <a:lnTo>
                          <a:pt x="17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  <a:lnTo>
                          <a:pt x="3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37" name="Freeform 481"/>
                  <p:cNvSpPr>
                    <a:spLocks/>
                  </p:cNvSpPr>
                  <p:nvPr/>
                </p:nvSpPr>
                <p:spPr bwMode="auto">
                  <a:xfrm>
                    <a:off x="3764" y="2677"/>
                    <a:ext cx="31" cy="6"/>
                  </a:xfrm>
                  <a:custGeom>
                    <a:avLst/>
                    <a:gdLst>
                      <a:gd name="T0" fmla="*/ 29 w 31"/>
                      <a:gd name="T1" fmla="*/ 0 h 6"/>
                      <a:gd name="T2" fmla="*/ 28 w 31"/>
                      <a:gd name="T3" fmla="*/ 1 h 6"/>
                      <a:gd name="T4" fmla="*/ 26 w 31"/>
                      <a:gd name="T5" fmla="*/ 2 h 6"/>
                      <a:gd name="T6" fmla="*/ 22 w 31"/>
                      <a:gd name="T7" fmla="*/ 2 h 6"/>
                      <a:gd name="T8" fmla="*/ 19 w 31"/>
                      <a:gd name="T9" fmla="*/ 3 h 6"/>
                      <a:gd name="T10" fmla="*/ 16 w 31"/>
                      <a:gd name="T11" fmla="*/ 3 h 6"/>
                      <a:gd name="T12" fmla="*/ 13 w 31"/>
                      <a:gd name="T13" fmla="*/ 3 h 6"/>
                      <a:gd name="T14" fmla="*/ 11 w 31"/>
                      <a:gd name="T15" fmla="*/ 3 h 6"/>
                      <a:gd name="T16" fmla="*/ 6 w 31"/>
                      <a:gd name="T17" fmla="*/ 2 h 6"/>
                      <a:gd name="T18" fmla="*/ 4 w 31"/>
                      <a:gd name="T19" fmla="*/ 2 h 6"/>
                      <a:gd name="T20" fmla="*/ 2 w 31"/>
                      <a:gd name="T21" fmla="*/ 0 h 6"/>
                      <a:gd name="T22" fmla="*/ 1 w 31"/>
                      <a:gd name="T23" fmla="*/ 0 h 6"/>
                      <a:gd name="T24" fmla="*/ 0 w 31"/>
                      <a:gd name="T25" fmla="*/ 3 h 6"/>
                      <a:gd name="T26" fmla="*/ 0 w 31"/>
                      <a:gd name="T27" fmla="*/ 6 h 6"/>
                      <a:gd name="T28" fmla="*/ 28 w 31"/>
                      <a:gd name="T29" fmla="*/ 6 h 6"/>
                      <a:gd name="T30" fmla="*/ 31 w 31"/>
                      <a:gd name="T31" fmla="*/ 3 h 6"/>
                      <a:gd name="T32" fmla="*/ 31 w 31"/>
                      <a:gd name="T33" fmla="*/ 0 h 6"/>
                      <a:gd name="T34" fmla="*/ 29 w 31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"/>
                      <a:gd name="T55" fmla="*/ 0 h 6"/>
                      <a:gd name="T56" fmla="*/ 31 w 31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" h="6">
                        <a:moveTo>
                          <a:pt x="29" y="0"/>
                        </a:moveTo>
                        <a:lnTo>
                          <a:pt x="28" y="1"/>
                        </a:lnTo>
                        <a:lnTo>
                          <a:pt x="26" y="2"/>
                        </a:lnTo>
                        <a:lnTo>
                          <a:pt x="22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11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8" y="6"/>
                        </a:lnTo>
                        <a:lnTo>
                          <a:pt x="31" y="3"/>
                        </a:lnTo>
                        <a:lnTo>
                          <a:pt x="31" y="0"/>
                        </a:lnTo>
                        <a:lnTo>
                          <a:pt x="2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38" name="Freeform 482"/>
                  <p:cNvSpPr>
                    <a:spLocks/>
                  </p:cNvSpPr>
                  <p:nvPr/>
                </p:nvSpPr>
                <p:spPr bwMode="auto">
                  <a:xfrm>
                    <a:off x="3764" y="2677"/>
                    <a:ext cx="31" cy="6"/>
                  </a:xfrm>
                  <a:custGeom>
                    <a:avLst/>
                    <a:gdLst>
                      <a:gd name="T0" fmla="*/ 29 w 31"/>
                      <a:gd name="T1" fmla="*/ 0 h 6"/>
                      <a:gd name="T2" fmla="*/ 28 w 31"/>
                      <a:gd name="T3" fmla="*/ 1 h 6"/>
                      <a:gd name="T4" fmla="*/ 26 w 31"/>
                      <a:gd name="T5" fmla="*/ 2 h 6"/>
                      <a:gd name="T6" fmla="*/ 22 w 31"/>
                      <a:gd name="T7" fmla="*/ 2 h 6"/>
                      <a:gd name="T8" fmla="*/ 19 w 31"/>
                      <a:gd name="T9" fmla="*/ 3 h 6"/>
                      <a:gd name="T10" fmla="*/ 16 w 31"/>
                      <a:gd name="T11" fmla="*/ 3 h 6"/>
                      <a:gd name="T12" fmla="*/ 13 w 31"/>
                      <a:gd name="T13" fmla="*/ 3 h 6"/>
                      <a:gd name="T14" fmla="*/ 11 w 31"/>
                      <a:gd name="T15" fmla="*/ 3 h 6"/>
                      <a:gd name="T16" fmla="*/ 6 w 31"/>
                      <a:gd name="T17" fmla="*/ 2 h 6"/>
                      <a:gd name="T18" fmla="*/ 4 w 31"/>
                      <a:gd name="T19" fmla="*/ 2 h 6"/>
                      <a:gd name="T20" fmla="*/ 2 w 31"/>
                      <a:gd name="T21" fmla="*/ 0 h 6"/>
                      <a:gd name="T22" fmla="*/ 1 w 31"/>
                      <a:gd name="T23" fmla="*/ 0 h 6"/>
                      <a:gd name="T24" fmla="*/ 0 w 31"/>
                      <a:gd name="T25" fmla="*/ 3 h 6"/>
                      <a:gd name="T26" fmla="*/ 0 w 31"/>
                      <a:gd name="T27" fmla="*/ 6 h 6"/>
                      <a:gd name="T28" fmla="*/ 28 w 31"/>
                      <a:gd name="T29" fmla="*/ 6 h 6"/>
                      <a:gd name="T30" fmla="*/ 31 w 31"/>
                      <a:gd name="T31" fmla="*/ 3 h 6"/>
                      <a:gd name="T32" fmla="*/ 31 w 31"/>
                      <a:gd name="T33" fmla="*/ 0 h 6"/>
                      <a:gd name="T34" fmla="*/ 29 w 31"/>
                      <a:gd name="T35" fmla="*/ 0 h 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"/>
                      <a:gd name="T55" fmla="*/ 0 h 6"/>
                      <a:gd name="T56" fmla="*/ 31 w 31"/>
                      <a:gd name="T57" fmla="*/ 6 h 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" h="6">
                        <a:moveTo>
                          <a:pt x="29" y="0"/>
                        </a:moveTo>
                        <a:lnTo>
                          <a:pt x="28" y="1"/>
                        </a:lnTo>
                        <a:lnTo>
                          <a:pt x="26" y="2"/>
                        </a:lnTo>
                        <a:lnTo>
                          <a:pt x="22" y="2"/>
                        </a:lnTo>
                        <a:lnTo>
                          <a:pt x="19" y="3"/>
                        </a:lnTo>
                        <a:lnTo>
                          <a:pt x="16" y="3"/>
                        </a:lnTo>
                        <a:lnTo>
                          <a:pt x="13" y="3"/>
                        </a:lnTo>
                        <a:lnTo>
                          <a:pt x="11" y="3"/>
                        </a:lnTo>
                        <a:lnTo>
                          <a:pt x="6" y="2"/>
                        </a:ln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1" y="0"/>
                        </a:lnTo>
                        <a:lnTo>
                          <a:pt x="0" y="3"/>
                        </a:lnTo>
                        <a:lnTo>
                          <a:pt x="0" y="6"/>
                        </a:lnTo>
                        <a:lnTo>
                          <a:pt x="28" y="6"/>
                        </a:lnTo>
                        <a:lnTo>
                          <a:pt x="31" y="3"/>
                        </a:lnTo>
                        <a:lnTo>
                          <a:pt x="31" y="0"/>
                        </a:lnTo>
                        <a:lnTo>
                          <a:pt x="29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39" name="Freeform 483"/>
                  <p:cNvSpPr>
                    <a:spLocks/>
                  </p:cNvSpPr>
                  <p:nvPr/>
                </p:nvSpPr>
                <p:spPr bwMode="auto">
                  <a:xfrm>
                    <a:off x="3791" y="2677"/>
                    <a:ext cx="21" cy="6"/>
                  </a:xfrm>
                  <a:custGeom>
                    <a:avLst/>
                    <a:gdLst>
                      <a:gd name="T0" fmla="*/ 3 w 21"/>
                      <a:gd name="T1" fmla="*/ 3 h 6"/>
                      <a:gd name="T2" fmla="*/ 3 w 21"/>
                      <a:gd name="T3" fmla="*/ 0 h 6"/>
                      <a:gd name="T4" fmla="*/ 21 w 21"/>
                      <a:gd name="T5" fmla="*/ 0 h 6"/>
                      <a:gd name="T6" fmla="*/ 18 w 21"/>
                      <a:gd name="T7" fmla="*/ 5 h 6"/>
                      <a:gd name="T8" fmla="*/ 18 w 21"/>
                      <a:gd name="T9" fmla="*/ 6 h 6"/>
                      <a:gd name="T10" fmla="*/ 0 w 21"/>
                      <a:gd name="T11" fmla="*/ 6 h 6"/>
                      <a:gd name="T12" fmla="*/ 3 w 21"/>
                      <a:gd name="T13" fmla="*/ 3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1"/>
                      <a:gd name="T22" fmla="*/ 0 h 6"/>
                      <a:gd name="T23" fmla="*/ 21 w 21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1" h="6">
                        <a:moveTo>
                          <a:pt x="3" y="3"/>
                        </a:moveTo>
                        <a:lnTo>
                          <a:pt x="3" y="0"/>
                        </a:lnTo>
                        <a:lnTo>
                          <a:pt x="21" y="0"/>
                        </a:lnTo>
                        <a:lnTo>
                          <a:pt x="18" y="5"/>
                        </a:lnTo>
                        <a:lnTo>
                          <a:pt x="18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40" name="Freeform 484"/>
                  <p:cNvSpPr>
                    <a:spLocks/>
                  </p:cNvSpPr>
                  <p:nvPr/>
                </p:nvSpPr>
                <p:spPr bwMode="auto">
                  <a:xfrm>
                    <a:off x="3791" y="2677"/>
                    <a:ext cx="21" cy="6"/>
                  </a:xfrm>
                  <a:custGeom>
                    <a:avLst/>
                    <a:gdLst>
                      <a:gd name="T0" fmla="*/ 3 w 21"/>
                      <a:gd name="T1" fmla="*/ 3 h 6"/>
                      <a:gd name="T2" fmla="*/ 3 w 21"/>
                      <a:gd name="T3" fmla="*/ 0 h 6"/>
                      <a:gd name="T4" fmla="*/ 21 w 21"/>
                      <a:gd name="T5" fmla="*/ 0 h 6"/>
                      <a:gd name="T6" fmla="*/ 18 w 21"/>
                      <a:gd name="T7" fmla="*/ 5 h 6"/>
                      <a:gd name="T8" fmla="*/ 18 w 21"/>
                      <a:gd name="T9" fmla="*/ 6 h 6"/>
                      <a:gd name="T10" fmla="*/ 0 w 21"/>
                      <a:gd name="T11" fmla="*/ 6 h 6"/>
                      <a:gd name="T12" fmla="*/ 3 w 21"/>
                      <a:gd name="T13" fmla="*/ 3 h 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1"/>
                      <a:gd name="T22" fmla="*/ 0 h 6"/>
                      <a:gd name="T23" fmla="*/ 21 w 21"/>
                      <a:gd name="T24" fmla="*/ 6 h 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1" h="6">
                        <a:moveTo>
                          <a:pt x="3" y="3"/>
                        </a:moveTo>
                        <a:lnTo>
                          <a:pt x="3" y="0"/>
                        </a:lnTo>
                        <a:lnTo>
                          <a:pt x="21" y="0"/>
                        </a:lnTo>
                        <a:lnTo>
                          <a:pt x="18" y="5"/>
                        </a:lnTo>
                        <a:lnTo>
                          <a:pt x="18" y="6"/>
                        </a:lnTo>
                        <a:lnTo>
                          <a:pt x="0" y="6"/>
                        </a:lnTo>
                        <a:lnTo>
                          <a:pt x="3" y="3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41" name="Freeform 485"/>
                  <p:cNvSpPr>
                    <a:spLocks/>
                  </p:cNvSpPr>
                  <p:nvPr/>
                </p:nvSpPr>
                <p:spPr bwMode="auto">
                  <a:xfrm>
                    <a:off x="3835" y="2654"/>
                    <a:ext cx="8" cy="29"/>
                  </a:xfrm>
                  <a:custGeom>
                    <a:avLst/>
                    <a:gdLst>
                      <a:gd name="T0" fmla="*/ 0 w 8"/>
                      <a:gd name="T1" fmla="*/ 7 h 29"/>
                      <a:gd name="T2" fmla="*/ 8 w 8"/>
                      <a:gd name="T3" fmla="*/ 0 h 29"/>
                      <a:gd name="T4" fmla="*/ 8 w 8"/>
                      <a:gd name="T5" fmla="*/ 21 h 29"/>
                      <a:gd name="T6" fmla="*/ 0 w 8"/>
                      <a:gd name="T7" fmla="*/ 29 h 29"/>
                      <a:gd name="T8" fmla="*/ 0 w 8"/>
                      <a:gd name="T9" fmla="*/ 7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"/>
                      <a:gd name="T16" fmla="*/ 0 h 29"/>
                      <a:gd name="T17" fmla="*/ 8 w 8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" h="29">
                        <a:moveTo>
                          <a:pt x="0" y="7"/>
                        </a:moveTo>
                        <a:lnTo>
                          <a:pt x="8" y="0"/>
                        </a:lnTo>
                        <a:lnTo>
                          <a:pt x="8" y="21"/>
                        </a:lnTo>
                        <a:lnTo>
                          <a:pt x="0" y="29"/>
                        </a:lnTo>
                        <a:lnTo>
                          <a:pt x="0" y="7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42" name="Freeform 486"/>
                  <p:cNvSpPr>
                    <a:spLocks/>
                  </p:cNvSpPr>
                  <p:nvPr/>
                </p:nvSpPr>
                <p:spPr bwMode="auto">
                  <a:xfrm>
                    <a:off x="3835" y="2654"/>
                    <a:ext cx="8" cy="29"/>
                  </a:xfrm>
                  <a:custGeom>
                    <a:avLst/>
                    <a:gdLst>
                      <a:gd name="T0" fmla="*/ 0 w 8"/>
                      <a:gd name="T1" fmla="*/ 7 h 29"/>
                      <a:gd name="T2" fmla="*/ 8 w 8"/>
                      <a:gd name="T3" fmla="*/ 0 h 29"/>
                      <a:gd name="T4" fmla="*/ 8 w 8"/>
                      <a:gd name="T5" fmla="*/ 21 h 29"/>
                      <a:gd name="T6" fmla="*/ 0 w 8"/>
                      <a:gd name="T7" fmla="*/ 29 h 29"/>
                      <a:gd name="T8" fmla="*/ 0 w 8"/>
                      <a:gd name="T9" fmla="*/ 7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"/>
                      <a:gd name="T16" fmla="*/ 0 h 29"/>
                      <a:gd name="T17" fmla="*/ 8 w 8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" h="29">
                        <a:moveTo>
                          <a:pt x="0" y="7"/>
                        </a:moveTo>
                        <a:lnTo>
                          <a:pt x="8" y="0"/>
                        </a:lnTo>
                        <a:lnTo>
                          <a:pt x="8" y="21"/>
                        </a:lnTo>
                        <a:lnTo>
                          <a:pt x="0" y="29"/>
                        </a:lnTo>
                        <a:lnTo>
                          <a:pt x="0" y="7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43" name="Freeform 487"/>
                  <p:cNvSpPr>
                    <a:spLocks/>
                  </p:cNvSpPr>
                  <p:nvPr/>
                </p:nvSpPr>
                <p:spPr bwMode="auto">
                  <a:xfrm>
                    <a:off x="3808" y="2661"/>
                    <a:ext cx="27" cy="22"/>
                  </a:xfrm>
                  <a:custGeom>
                    <a:avLst/>
                    <a:gdLst>
                      <a:gd name="T0" fmla="*/ 0 w 27"/>
                      <a:gd name="T1" fmla="*/ 22 h 22"/>
                      <a:gd name="T2" fmla="*/ 0 w 27"/>
                      <a:gd name="T3" fmla="*/ 20 h 22"/>
                      <a:gd name="T4" fmla="*/ 3 w 27"/>
                      <a:gd name="T5" fmla="*/ 16 h 22"/>
                      <a:gd name="T6" fmla="*/ 3 w 27"/>
                      <a:gd name="T7" fmla="*/ 0 h 22"/>
                      <a:gd name="T8" fmla="*/ 27 w 27"/>
                      <a:gd name="T9" fmla="*/ 0 h 22"/>
                      <a:gd name="T10" fmla="*/ 27 w 27"/>
                      <a:gd name="T11" fmla="*/ 22 h 22"/>
                      <a:gd name="T12" fmla="*/ 0 w 27"/>
                      <a:gd name="T13" fmla="*/ 22 h 2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7"/>
                      <a:gd name="T22" fmla="*/ 0 h 22"/>
                      <a:gd name="T23" fmla="*/ 27 w 27"/>
                      <a:gd name="T24" fmla="*/ 22 h 2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7" h="22">
                        <a:moveTo>
                          <a:pt x="0" y="22"/>
                        </a:moveTo>
                        <a:lnTo>
                          <a:pt x="0" y="20"/>
                        </a:lnTo>
                        <a:lnTo>
                          <a:pt x="3" y="16"/>
                        </a:lnTo>
                        <a:lnTo>
                          <a:pt x="3" y="0"/>
                        </a:lnTo>
                        <a:lnTo>
                          <a:pt x="27" y="0"/>
                        </a:lnTo>
                        <a:lnTo>
                          <a:pt x="27" y="22"/>
                        </a:lnTo>
                        <a:lnTo>
                          <a:pt x="0" y="2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44" name="Freeform 488"/>
                  <p:cNvSpPr>
                    <a:spLocks/>
                  </p:cNvSpPr>
                  <p:nvPr/>
                </p:nvSpPr>
                <p:spPr bwMode="auto">
                  <a:xfrm>
                    <a:off x="3808" y="2661"/>
                    <a:ext cx="27" cy="22"/>
                  </a:xfrm>
                  <a:custGeom>
                    <a:avLst/>
                    <a:gdLst>
                      <a:gd name="T0" fmla="*/ 0 w 27"/>
                      <a:gd name="T1" fmla="*/ 22 h 22"/>
                      <a:gd name="T2" fmla="*/ 0 w 27"/>
                      <a:gd name="T3" fmla="*/ 20 h 22"/>
                      <a:gd name="T4" fmla="*/ 3 w 27"/>
                      <a:gd name="T5" fmla="*/ 16 h 22"/>
                      <a:gd name="T6" fmla="*/ 3 w 27"/>
                      <a:gd name="T7" fmla="*/ 0 h 22"/>
                      <a:gd name="T8" fmla="*/ 27 w 27"/>
                      <a:gd name="T9" fmla="*/ 0 h 22"/>
                      <a:gd name="T10" fmla="*/ 27 w 27"/>
                      <a:gd name="T11" fmla="*/ 22 h 22"/>
                      <a:gd name="T12" fmla="*/ 0 w 27"/>
                      <a:gd name="T13" fmla="*/ 22 h 2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7"/>
                      <a:gd name="T22" fmla="*/ 0 h 22"/>
                      <a:gd name="T23" fmla="*/ 27 w 27"/>
                      <a:gd name="T24" fmla="*/ 22 h 2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7" h="22">
                        <a:moveTo>
                          <a:pt x="0" y="22"/>
                        </a:moveTo>
                        <a:lnTo>
                          <a:pt x="0" y="20"/>
                        </a:lnTo>
                        <a:lnTo>
                          <a:pt x="3" y="16"/>
                        </a:lnTo>
                        <a:lnTo>
                          <a:pt x="3" y="0"/>
                        </a:lnTo>
                        <a:lnTo>
                          <a:pt x="27" y="0"/>
                        </a:lnTo>
                        <a:lnTo>
                          <a:pt x="27" y="22"/>
                        </a:lnTo>
                        <a:lnTo>
                          <a:pt x="0" y="22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45" name="Freeform 489"/>
                  <p:cNvSpPr>
                    <a:spLocks/>
                  </p:cNvSpPr>
                  <p:nvPr/>
                </p:nvSpPr>
                <p:spPr bwMode="auto">
                  <a:xfrm>
                    <a:off x="3570" y="2683"/>
                    <a:ext cx="35" cy="54"/>
                  </a:xfrm>
                  <a:custGeom>
                    <a:avLst/>
                    <a:gdLst>
                      <a:gd name="T0" fmla="*/ 32 w 35"/>
                      <a:gd name="T1" fmla="*/ 6 h 54"/>
                      <a:gd name="T2" fmla="*/ 3 w 35"/>
                      <a:gd name="T3" fmla="*/ 6 h 54"/>
                      <a:gd name="T4" fmla="*/ 0 w 35"/>
                      <a:gd name="T5" fmla="*/ 0 h 54"/>
                      <a:gd name="T6" fmla="*/ 35 w 35"/>
                      <a:gd name="T7" fmla="*/ 0 h 54"/>
                      <a:gd name="T8" fmla="*/ 35 w 35"/>
                      <a:gd name="T9" fmla="*/ 54 h 54"/>
                      <a:gd name="T10" fmla="*/ 32 w 35"/>
                      <a:gd name="T11" fmla="*/ 54 h 54"/>
                      <a:gd name="T12" fmla="*/ 32 w 35"/>
                      <a:gd name="T13" fmla="*/ 6 h 5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5"/>
                      <a:gd name="T22" fmla="*/ 0 h 54"/>
                      <a:gd name="T23" fmla="*/ 35 w 35"/>
                      <a:gd name="T24" fmla="*/ 54 h 54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5" h="54">
                        <a:moveTo>
                          <a:pt x="32" y="6"/>
                        </a:moveTo>
                        <a:lnTo>
                          <a:pt x="3" y="6"/>
                        </a:lnTo>
                        <a:lnTo>
                          <a:pt x="0" y="0"/>
                        </a:lnTo>
                        <a:lnTo>
                          <a:pt x="35" y="0"/>
                        </a:lnTo>
                        <a:lnTo>
                          <a:pt x="35" y="54"/>
                        </a:lnTo>
                        <a:lnTo>
                          <a:pt x="32" y="54"/>
                        </a:lnTo>
                        <a:lnTo>
                          <a:pt x="32" y="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46" name="Freeform 490"/>
                  <p:cNvSpPr>
                    <a:spLocks/>
                  </p:cNvSpPr>
                  <p:nvPr/>
                </p:nvSpPr>
                <p:spPr bwMode="auto">
                  <a:xfrm>
                    <a:off x="3570" y="2683"/>
                    <a:ext cx="35" cy="54"/>
                  </a:xfrm>
                  <a:custGeom>
                    <a:avLst/>
                    <a:gdLst>
                      <a:gd name="T0" fmla="*/ 32 w 35"/>
                      <a:gd name="T1" fmla="*/ 6 h 54"/>
                      <a:gd name="T2" fmla="*/ 3 w 35"/>
                      <a:gd name="T3" fmla="*/ 6 h 54"/>
                      <a:gd name="T4" fmla="*/ 0 w 35"/>
                      <a:gd name="T5" fmla="*/ 0 h 54"/>
                      <a:gd name="T6" fmla="*/ 35 w 35"/>
                      <a:gd name="T7" fmla="*/ 0 h 54"/>
                      <a:gd name="T8" fmla="*/ 35 w 35"/>
                      <a:gd name="T9" fmla="*/ 54 h 54"/>
                      <a:gd name="T10" fmla="*/ 32 w 35"/>
                      <a:gd name="T11" fmla="*/ 54 h 54"/>
                      <a:gd name="T12" fmla="*/ 32 w 35"/>
                      <a:gd name="T13" fmla="*/ 6 h 5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5"/>
                      <a:gd name="T22" fmla="*/ 0 h 54"/>
                      <a:gd name="T23" fmla="*/ 35 w 35"/>
                      <a:gd name="T24" fmla="*/ 54 h 54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5" h="54">
                        <a:moveTo>
                          <a:pt x="32" y="6"/>
                        </a:moveTo>
                        <a:lnTo>
                          <a:pt x="3" y="6"/>
                        </a:lnTo>
                        <a:lnTo>
                          <a:pt x="0" y="0"/>
                        </a:lnTo>
                        <a:lnTo>
                          <a:pt x="35" y="0"/>
                        </a:lnTo>
                        <a:lnTo>
                          <a:pt x="35" y="54"/>
                        </a:lnTo>
                        <a:lnTo>
                          <a:pt x="32" y="54"/>
                        </a:lnTo>
                        <a:lnTo>
                          <a:pt x="32" y="6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47" name="Freeform 491"/>
                  <p:cNvSpPr>
                    <a:spLocks/>
                  </p:cNvSpPr>
                  <p:nvPr/>
                </p:nvSpPr>
                <p:spPr bwMode="auto">
                  <a:xfrm>
                    <a:off x="3563" y="2689"/>
                    <a:ext cx="39" cy="48"/>
                  </a:xfrm>
                  <a:custGeom>
                    <a:avLst/>
                    <a:gdLst>
                      <a:gd name="T0" fmla="*/ 39 w 39"/>
                      <a:gd name="T1" fmla="*/ 48 h 48"/>
                      <a:gd name="T2" fmla="*/ 0 w 39"/>
                      <a:gd name="T3" fmla="*/ 48 h 48"/>
                      <a:gd name="T4" fmla="*/ 14 w 39"/>
                      <a:gd name="T5" fmla="*/ 36 h 48"/>
                      <a:gd name="T6" fmla="*/ 14 w 39"/>
                      <a:gd name="T7" fmla="*/ 0 h 48"/>
                      <a:gd name="T8" fmla="*/ 39 w 39"/>
                      <a:gd name="T9" fmla="*/ 0 h 48"/>
                      <a:gd name="T10" fmla="*/ 39 w 39"/>
                      <a:gd name="T11" fmla="*/ 48 h 4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9"/>
                      <a:gd name="T19" fmla="*/ 0 h 48"/>
                      <a:gd name="T20" fmla="*/ 39 w 39"/>
                      <a:gd name="T21" fmla="*/ 48 h 4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9" h="48">
                        <a:moveTo>
                          <a:pt x="39" y="48"/>
                        </a:moveTo>
                        <a:lnTo>
                          <a:pt x="0" y="48"/>
                        </a:lnTo>
                        <a:lnTo>
                          <a:pt x="14" y="36"/>
                        </a:lnTo>
                        <a:lnTo>
                          <a:pt x="14" y="0"/>
                        </a:lnTo>
                        <a:lnTo>
                          <a:pt x="39" y="0"/>
                        </a:lnTo>
                        <a:lnTo>
                          <a:pt x="39" y="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48" name="Freeform 492"/>
                  <p:cNvSpPr>
                    <a:spLocks/>
                  </p:cNvSpPr>
                  <p:nvPr/>
                </p:nvSpPr>
                <p:spPr bwMode="auto">
                  <a:xfrm>
                    <a:off x="3563" y="2689"/>
                    <a:ext cx="39" cy="48"/>
                  </a:xfrm>
                  <a:custGeom>
                    <a:avLst/>
                    <a:gdLst>
                      <a:gd name="T0" fmla="*/ 39 w 39"/>
                      <a:gd name="T1" fmla="*/ 48 h 48"/>
                      <a:gd name="T2" fmla="*/ 0 w 39"/>
                      <a:gd name="T3" fmla="*/ 48 h 48"/>
                      <a:gd name="T4" fmla="*/ 14 w 39"/>
                      <a:gd name="T5" fmla="*/ 36 h 48"/>
                      <a:gd name="T6" fmla="*/ 14 w 39"/>
                      <a:gd name="T7" fmla="*/ 0 h 48"/>
                      <a:gd name="T8" fmla="*/ 39 w 39"/>
                      <a:gd name="T9" fmla="*/ 0 h 48"/>
                      <a:gd name="T10" fmla="*/ 39 w 39"/>
                      <a:gd name="T11" fmla="*/ 48 h 4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9"/>
                      <a:gd name="T19" fmla="*/ 0 h 48"/>
                      <a:gd name="T20" fmla="*/ 39 w 39"/>
                      <a:gd name="T21" fmla="*/ 48 h 4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9" h="48">
                        <a:moveTo>
                          <a:pt x="39" y="48"/>
                        </a:moveTo>
                        <a:lnTo>
                          <a:pt x="0" y="48"/>
                        </a:lnTo>
                        <a:lnTo>
                          <a:pt x="14" y="36"/>
                        </a:lnTo>
                        <a:lnTo>
                          <a:pt x="14" y="0"/>
                        </a:lnTo>
                        <a:lnTo>
                          <a:pt x="39" y="0"/>
                        </a:lnTo>
                        <a:lnTo>
                          <a:pt x="39" y="48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49" name="Freeform 493"/>
                  <p:cNvSpPr>
                    <a:spLocks/>
                  </p:cNvSpPr>
                  <p:nvPr/>
                </p:nvSpPr>
                <p:spPr bwMode="auto">
                  <a:xfrm>
                    <a:off x="3808" y="2683"/>
                    <a:ext cx="38" cy="54"/>
                  </a:xfrm>
                  <a:custGeom>
                    <a:avLst/>
                    <a:gdLst>
                      <a:gd name="T0" fmla="*/ 0 w 38"/>
                      <a:gd name="T1" fmla="*/ 5 h 54"/>
                      <a:gd name="T2" fmla="*/ 0 w 38"/>
                      <a:gd name="T3" fmla="*/ 54 h 54"/>
                      <a:gd name="T4" fmla="*/ 5 w 38"/>
                      <a:gd name="T5" fmla="*/ 54 h 54"/>
                      <a:gd name="T6" fmla="*/ 5 w 38"/>
                      <a:gd name="T7" fmla="*/ 6 h 54"/>
                      <a:gd name="T8" fmla="*/ 33 w 38"/>
                      <a:gd name="T9" fmla="*/ 6 h 54"/>
                      <a:gd name="T10" fmla="*/ 38 w 38"/>
                      <a:gd name="T11" fmla="*/ 0 h 54"/>
                      <a:gd name="T12" fmla="*/ 0 w 38"/>
                      <a:gd name="T13" fmla="*/ 0 h 54"/>
                      <a:gd name="T14" fmla="*/ 0 w 38"/>
                      <a:gd name="T15" fmla="*/ 5 h 5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8"/>
                      <a:gd name="T25" fmla="*/ 0 h 54"/>
                      <a:gd name="T26" fmla="*/ 38 w 38"/>
                      <a:gd name="T27" fmla="*/ 54 h 5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8" h="54">
                        <a:moveTo>
                          <a:pt x="0" y="5"/>
                        </a:moveTo>
                        <a:lnTo>
                          <a:pt x="0" y="54"/>
                        </a:lnTo>
                        <a:lnTo>
                          <a:pt x="5" y="54"/>
                        </a:lnTo>
                        <a:lnTo>
                          <a:pt x="5" y="6"/>
                        </a:lnTo>
                        <a:lnTo>
                          <a:pt x="33" y="6"/>
                        </a:lnTo>
                        <a:lnTo>
                          <a:pt x="38" y="0"/>
                        </a:lnTo>
                        <a:lnTo>
                          <a:pt x="0" y="0"/>
                        </a:ln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50" name="Freeform 494"/>
                  <p:cNvSpPr>
                    <a:spLocks/>
                  </p:cNvSpPr>
                  <p:nvPr/>
                </p:nvSpPr>
                <p:spPr bwMode="auto">
                  <a:xfrm>
                    <a:off x="3808" y="2683"/>
                    <a:ext cx="38" cy="54"/>
                  </a:xfrm>
                  <a:custGeom>
                    <a:avLst/>
                    <a:gdLst>
                      <a:gd name="T0" fmla="*/ 0 w 38"/>
                      <a:gd name="T1" fmla="*/ 5 h 54"/>
                      <a:gd name="T2" fmla="*/ 0 w 38"/>
                      <a:gd name="T3" fmla="*/ 54 h 54"/>
                      <a:gd name="T4" fmla="*/ 5 w 38"/>
                      <a:gd name="T5" fmla="*/ 54 h 54"/>
                      <a:gd name="T6" fmla="*/ 5 w 38"/>
                      <a:gd name="T7" fmla="*/ 6 h 54"/>
                      <a:gd name="T8" fmla="*/ 33 w 38"/>
                      <a:gd name="T9" fmla="*/ 6 h 54"/>
                      <a:gd name="T10" fmla="*/ 38 w 38"/>
                      <a:gd name="T11" fmla="*/ 0 h 54"/>
                      <a:gd name="T12" fmla="*/ 0 w 38"/>
                      <a:gd name="T13" fmla="*/ 0 h 54"/>
                      <a:gd name="T14" fmla="*/ 0 w 38"/>
                      <a:gd name="T15" fmla="*/ 5 h 5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8"/>
                      <a:gd name="T25" fmla="*/ 0 h 54"/>
                      <a:gd name="T26" fmla="*/ 38 w 38"/>
                      <a:gd name="T27" fmla="*/ 54 h 5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8" h="54">
                        <a:moveTo>
                          <a:pt x="0" y="5"/>
                        </a:moveTo>
                        <a:lnTo>
                          <a:pt x="0" y="54"/>
                        </a:lnTo>
                        <a:lnTo>
                          <a:pt x="5" y="54"/>
                        </a:lnTo>
                        <a:lnTo>
                          <a:pt x="5" y="6"/>
                        </a:lnTo>
                        <a:lnTo>
                          <a:pt x="33" y="6"/>
                        </a:lnTo>
                        <a:lnTo>
                          <a:pt x="38" y="0"/>
                        </a:lnTo>
                        <a:lnTo>
                          <a:pt x="0" y="0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51" name="Freeform 495"/>
                  <p:cNvSpPr>
                    <a:spLocks/>
                  </p:cNvSpPr>
                  <p:nvPr/>
                </p:nvSpPr>
                <p:spPr bwMode="auto">
                  <a:xfrm>
                    <a:off x="3813" y="2689"/>
                    <a:ext cx="36" cy="48"/>
                  </a:xfrm>
                  <a:custGeom>
                    <a:avLst/>
                    <a:gdLst>
                      <a:gd name="T0" fmla="*/ 36 w 36"/>
                      <a:gd name="T1" fmla="*/ 48 h 48"/>
                      <a:gd name="T2" fmla="*/ 0 w 36"/>
                      <a:gd name="T3" fmla="*/ 48 h 48"/>
                      <a:gd name="T4" fmla="*/ 0 w 36"/>
                      <a:gd name="T5" fmla="*/ 0 h 48"/>
                      <a:gd name="T6" fmla="*/ 24 w 36"/>
                      <a:gd name="T7" fmla="*/ 0 h 48"/>
                      <a:gd name="T8" fmla="*/ 24 w 36"/>
                      <a:gd name="T9" fmla="*/ 37 h 48"/>
                      <a:gd name="T10" fmla="*/ 36 w 36"/>
                      <a:gd name="T11" fmla="*/ 48 h 4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6"/>
                      <a:gd name="T19" fmla="*/ 0 h 48"/>
                      <a:gd name="T20" fmla="*/ 36 w 36"/>
                      <a:gd name="T21" fmla="*/ 48 h 4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6" h="48">
                        <a:moveTo>
                          <a:pt x="36" y="48"/>
                        </a:moveTo>
                        <a:lnTo>
                          <a:pt x="0" y="48"/>
                        </a:lnTo>
                        <a:lnTo>
                          <a:pt x="0" y="0"/>
                        </a:lnTo>
                        <a:lnTo>
                          <a:pt x="24" y="0"/>
                        </a:lnTo>
                        <a:lnTo>
                          <a:pt x="24" y="37"/>
                        </a:lnTo>
                        <a:lnTo>
                          <a:pt x="36" y="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52" name="Freeform 496"/>
                  <p:cNvSpPr>
                    <a:spLocks/>
                  </p:cNvSpPr>
                  <p:nvPr/>
                </p:nvSpPr>
                <p:spPr bwMode="auto">
                  <a:xfrm>
                    <a:off x="3813" y="2689"/>
                    <a:ext cx="36" cy="48"/>
                  </a:xfrm>
                  <a:custGeom>
                    <a:avLst/>
                    <a:gdLst>
                      <a:gd name="T0" fmla="*/ 36 w 36"/>
                      <a:gd name="T1" fmla="*/ 48 h 48"/>
                      <a:gd name="T2" fmla="*/ 0 w 36"/>
                      <a:gd name="T3" fmla="*/ 48 h 48"/>
                      <a:gd name="T4" fmla="*/ 0 w 36"/>
                      <a:gd name="T5" fmla="*/ 0 h 48"/>
                      <a:gd name="T6" fmla="*/ 24 w 36"/>
                      <a:gd name="T7" fmla="*/ 0 h 48"/>
                      <a:gd name="T8" fmla="*/ 24 w 36"/>
                      <a:gd name="T9" fmla="*/ 37 h 48"/>
                      <a:gd name="T10" fmla="*/ 36 w 36"/>
                      <a:gd name="T11" fmla="*/ 48 h 4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6"/>
                      <a:gd name="T19" fmla="*/ 0 h 48"/>
                      <a:gd name="T20" fmla="*/ 36 w 36"/>
                      <a:gd name="T21" fmla="*/ 48 h 4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6" h="48">
                        <a:moveTo>
                          <a:pt x="36" y="48"/>
                        </a:moveTo>
                        <a:lnTo>
                          <a:pt x="0" y="48"/>
                        </a:lnTo>
                        <a:lnTo>
                          <a:pt x="0" y="0"/>
                        </a:lnTo>
                        <a:lnTo>
                          <a:pt x="24" y="0"/>
                        </a:lnTo>
                        <a:lnTo>
                          <a:pt x="24" y="37"/>
                        </a:lnTo>
                        <a:lnTo>
                          <a:pt x="36" y="48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53" name="Freeform 497"/>
                  <p:cNvSpPr>
                    <a:spLocks/>
                  </p:cNvSpPr>
                  <p:nvPr/>
                </p:nvSpPr>
                <p:spPr bwMode="auto">
                  <a:xfrm>
                    <a:off x="3605" y="2683"/>
                    <a:ext cx="12" cy="54"/>
                  </a:xfrm>
                  <a:custGeom>
                    <a:avLst/>
                    <a:gdLst>
                      <a:gd name="T0" fmla="*/ 0 w 12"/>
                      <a:gd name="T1" fmla="*/ 54 h 54"/>
                      <a:gd name="T2" fmla="*/ 1 w 12"/>
                      <a:gd name="T3" fmla="*/ 50 h 54"/>
                      <a:gd name="T4" fmla="*/ 2 w 12"/>
                      <a:gd name="T5" fmla="*/ 45 h 54"/>
                      <a:gd name="T6" fmla="*/ 3 w 12"/>
                      <a:gd name="T7" fmla="*/ 40 h 54"/>
                      <a:gd name="T8" fmla="*/ 4 w 12"/>
                      <a:gd name="T9" fmla="*/ 37 h 54"/>
                      <a:gd name="T10" fmla="*/ 4 w 12"/>
                      <a:gd name="T11" fmla="*/ 31 h 54"/>
                      <a:gd name="T12" fmla="*/ 5 w 12"/>
                      <a:gd name="T13" fmla="*/ 27 h 54"/>
                      <a:gd name="T14" fmla="*/ 7 w 12"/>
                      <a:gd name="T15" fmla="*/ 23 h 54"/>
                      <a:gd name="T16" fmla="*/ 8 w 12"/>
                      <a:gd name="T17" fmla="*/ 19 h 54"/>
                      <a:gd name="T18" fmla="*/ 8 w 12"/>
                      <a:gd name="T19" fmla="*/ 14 h 54"/>
                      <a:gd name="T20" fmla="*/ 9 w 12"/>
                      <a:gd name="T21" fmla="*/ 10 h 54"/>
                      <a:gd name="T22" fmla="*/ 10 w 12"/>
                      <a:gd name="T23" fmla="*/ 5 h 54"/>
                      <a:gd name="T24" fmla="*/ 12 w 12"/>
                      <a:gd name="T25" fmla="*/ 0 h 54"/>
                      <a:gd name="T26" fmla="*/ 0 w 12"/>
                      <a:gd name="T27" fmla="*/ 0 h 54"/>
                      <a:gd name="T28" fmla="*/ 0 w 12"/>
                      <a:gd name="T29" fmla="*/ 54 h 5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2"/>
                      <a:gd name="T46" fmla="*/ 0 h 54"/>
                      <a:gd name="T47" fmla="*/ 12 w 12"/>
                      <a:gd name="T48" fmla="*/ 54 h 54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2" h="54">
                        <a:moveTo>
                          <a:pt x="0" y="54"/>
                        </a:moveTo>
                        <a:lnTo>
                          <a:pt x="1" y="50"/>
                        </a:lnTo>
                        <a:lnTo>
                          <a:pt x="2" y="45"/>
                        </a:lnTo>
                        <a:lnTo>
                          <a:pt x="3" y="40"/>
                        </a:lnTo>
                        <a:lnTo>
                          <a:pt x="4" y="37"/>
                        </a:lnTo>
                        <a:lnTo>
                          <a:pt x="4" y="31"/>
                        </a:lnTo>
                        <a:lnTo>
                          <a:pt x="5" y="27"/>
                        </a:lnTo>
                        <a:lnTo>
                          <a:pt x="7" y="23"/>
                        </a:lnTo>
                        <a:lnTo>
                          <a:pt x="8" y="19"/>
                        </a:lnTo>
                        <a:lnTo>
                          <a:pt x="8" y="14"/>
                        </a:lnTo>
                        <a:lnTo>
                          <a:pt x="9" y="10"/>
                        </a:lnTo>
                        <a:lnTo>
                          <a:pt x="10" y="5"/>
                        </a:lnTo>
                        <a:lnTo>
                          <a:pt x="12" y="0"/>
                        </a:lnTo>
                        <a:lnTo>
                          <a:pt x="0" y="0"/>
                        </a:lnTo>
                        <a:lnTo>
                          <a:pt x="0" y="54"/>
                        </a:lnTo>
                        <a:close/>
                      </a:path>
                    </a:pathLst>
                  </a:custGeom>
                  <a:solidFill>
                    <a:srgbClr val="0083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54" name="Freeform 498"/>
                  <p:cNvSpPr>
                    <a:spLocks/>
                  </p:cNvSpPr>
                  <p:nvPr/>
                </p:nvSpPr>
                <p:spPr bwMode="auto">
                  <a:xfrm>
                    <a:off x="3605" y="2683"/>
                    <a:ext cx="12" cy="54"/>
                  </a:xfrm>
                  <a:custGeom>
                    <a:avLst/>
                    <a:gdLst>
                      <a:gd name="T0" fmla="*/ 0 w 12"/>
                      <a:gd name="T1" fmla="*/ 54 h 54"/>
                      <a:gd name="T2" fmla="*/ 1 w 12"/>
                      <a:gd name="T3" fmla="*/ 50 h 54"/>
                      <a:gd name="T4" fmla="*/ 2 w 12"/>
                      <a:gd name="T5" fmla="*/ 45 h 54"/>
                      <a:gd name="T6" fmla="*/ 3 w 12"/>
                      <a:gd name="T7" fmla="*/ 40 h 54"/>
                      <a:gd name="T8" fmla="*/ 4 w 12"/>
                      <a:gd name="T9" fmla="*/ 37 h 54"/>
                      <a:gd name="T10" fmla="*/ 4 w 12"/>
                      <a:gd name="T11" fmla="*/ 31 h 54"/>
                      <a:gd name="T12" fmla="*/ 5 w 12"/>
                      <a:gd name="T13" fmla="*/ 27 h 54"/>
                      <a:gd name="T14" fmla="*/ 7 w 12"/>
                      <a:gd name="T15" fmla="*/ 23 h 54"/>
                      <a:gd name="T16" fmla="*/ 8 w 12"/>
                      <a:gd name="T17" fmla="*/ 19 h 54"/>
                      <a:gd name="T18" fmla="*/ 8 w 12"/>
                      <a:gd name="T19" fmla="*/ 14 h 54"/>
                      <a:gd name="T20" fmla="*/ 9 w 12"/>
                      <a:gd name="T21" fmla="*/ 10 h 54"/>
                      <a:gd name="T22" fmla="*/ 10 w 12"/>
                      <a:gd name="T23" fmla="*/ 5 h 54"/>
                      <a:gd name="T24" fmla="*/ 12 w 12"/>
                      <a:gd name="T25" fmla="*/ 0 h 54"/>
                      <a:gd name="T26" fmla="*/ 0 w 12"/>
                      <a:gd name="T27" fmla="*/ 0 h 54"/>
                      <a:gd name="T28" fmla="*/ 0 w 12"/>
                      <a:gd name="T29" fmla="*/ 54 h 5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2"/>
                      <a:gd name="T46" fmla="*/ 0 h 54"/>
                      <a:gd name="T47" fmla="*/ 12 w 12"/>
                      <a:gd name="T48" fmla="*/ 54 h 54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2" h="54">
                        <a:moveTo>
                          <a:pt x="0" y="54"/>
                        </a:moveTo>
                        <a:lnTo>
                          <a:pt x="1" y="50"/>
                        </a:lnTo>
                        <a:lnTo>
                          <a:pt x="2" y="45"/>
                        </a:lnTo>
                        <a:lnTo>
                          <a:pt x="3" y="40"/>
                        </a:lnTo>
                        <a:lnTo>
                          <a:pt x="4" y="37"/>
                        </a:lnTo>
                        <a:lnTo>
                          <a:pt x="4" y="31"/>
                        </a:lnTo>
                        <a:lnTo>
                          <a:pt x="5" y="27"/>
                        </a:lnTo>
                        <a:lnTo>
                          <a:pt x="7" y="23"/>
                        </a:lnTo>
                        <a:lnTo>
                          <a:pt x="8" y="19"/>
                        </a:lnTo>
                        <a:lnTo>
                          <a:pt x="8" y="14"/>
                        </a:lnTo>
                        <a:lnTo>
                          <a:pt x="9" y="10"/>
                        </a:lnTo>
                        <a:lnTo>
                          <a:pt x="10" y="5"/>
                        </a:lnTo>
                        <a:lnTo>
                          <a:pt x="12" y="0"/>
                        </a:lnTo>
                        <a:lnTo>
                          <a:pt x="0" y="0"/>
                        </a:lnTo>
                        <a:lnTo>
                          <a:pt x="0" y="5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55" name="Freeform 499"/>
                  <p:cNvSpPr>
                    <a:spLocks/>
                  </p:cNvSpPr>
                  <p:nvPr/>
                </p:nvSpPr>
                <p:spPr bwMode="auto">
                  <a:xfrm>
                    <a:off x="3605" y="2683"/>
                    <a:ext cx="203" cy="54"/>
                  </a:xfrm>
                  <a:custGeom>
                    <a:avLst/>
                    <a:gdLst>
                      <a:gd name="T0" fmla="*/ 0 w 203"/>
                      <a:gd name="T1" fmla="*/ 54 h 54"/>
                      <a:gd name="T2" fmla="*/ 1 w 203"/>
                      <a:gd name="T3" fmla="*/ 50 h 54"/>
                      <a:gd name="T4" fmla="*/ 2 w 203"/>
                      <a:gd name="T5" fmla="*/ 45 h 54"/>
                      <a:gd name="T6" fmla="*/ 3 w 203"/>
                      <a:gd name="T7" fmla="*/ 40 h 54"/>
                      <a:gd name="T8" fmla="*/ 3 w 203"/>
                      <a:gd name="T9" fmla="*/ 37 h 54"/>
                      <a:gd name="T10" fmla="*/ 4 w 203"/>
                      <a:gd name="T11" fmla="*/ 31 h 54"/>
                      <a:gd name="T12" fmla="*/ 5 w 203"/>
                      <a:gd name="T13" fmla="*/ 27 h 54"/>
                      <a:gd name="T14" fmla="*/ 6 w 203"/>
                      <a:gd name="T15" fmla="*/ 23 h 54"/>
                      <a:gd name="T16" fmla="*/ 7 w 203"/>
                      <a:gd name="T17" fmla="*/ 19 h 54"/>
                      <a:gd name="T18" fmla="*/ 8 w 203"/>
                      <a:gd name="T19" fmla="*/ 14 h 54"/>
                      <a:gd name="T20" fmla="*/ 9 w 203"/>
                      <a:gd name="T21" fmla="*/ 10 h 54"/>
                      <a:gd name="T22" fmla="*/ 10 w 203"/>
                      <a:gd name="T23" fmla="*/ 5 h 54"/>
                      <a:gd name="T24" fmla="*/ 12 w 203"/>
                      <a:gd name="T25" fmla="*/ 0 h 54"/>
                      <a:gd name="T26" fmla="*/ 203 w 203"/>
                      <a:gd name="T27" fmla="*/ 0 h 54"/>
                      <a:gd name="T28" fmla="*/ 203 w 203"/>
                      <a:gd name="T29" fmla="*/ 54 h 54"/>
                      <a:gd name="T30" fmla="*/ 0 w 203"/>
                      <a:gd name="T31" fmla="*/ 54 h 54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03"/>
                      <a:gd name="T49" fmla="*/ 0 h 54"/>
                      <a:gd name="T50" fmla="*/ 203 w 203"/>
                      <a:gd name="T51" fmla="*/ 54 h 54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03" h="54">
                        <a:moveTo>
                          <a:pt x="0" y="54"/>
                        </a:moveTo>
                        <a:lnTo>
                          <a:pt x="1" y="50"/>
                        </a:lnTo>
                        <a:lnTo>
                          <a:pt x="2" y="45"/>
                        </a:lnTo>
                        <a:lnTo>
                          <a:pt x="3" y="40"/>
                        </a:lnTo>
                        <a:lnTo>
                          <a:pt x="3" y="37"/>
                        </a:lnTo>
                        <a:lnTo>
                          <a:pt x="4" y="31"/>
                        </a:lnTo>
                        <a:lnTo>
                          <a:pt x="5" y="27"/>
                        </a:lnTo>
                        <a:lnTo>
                          <a:pt x="6" y="23"/>
                        </a:lnTo>
                        <a:lnTo>
                          <a:pt x="7" y="19"/>
                        </a:lnTo>
                        <a:lnTo>
                          <a:pt x="8" y="14"/>
                        </a:lnTo>
                        <a:lnTo>
                          <a:pt x="9" y="10"/>
                        </a:lnTo>
                        <a:lnTo>
                          <a:pt x="10" y="5"/>
                        </a:lnTo>
                        <a:lnTo>
                          <a:pt x="12" y="0"/>
                        </a:lnTo>
                        <a:lnTo>
                          <a:pt x="203" y="0"/>
                        </a:lnTo>
                        <a:lnTo>
                          <a:pt x="203" y="54"/>
                        </a:lnTo>
                        <a:lnTo>
                          <a:pt x="0" y="5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56" name="Freeform 500"/>
                  <p:cNvSpPr>
                    <a:spLocks/>
                  </p:cNvSpPr>
                  <p:nvPr/>
                </p:nvSpPr>
                <p:spPr bwMode="auto">
                  <a:xfrm>
                    <a:off x="3605" y="2683"/>
                    <a:ext cx="203" cy="54"/>
                  </a:xfrm>
                  <a:custGeom>
                    <a:avLst/>
                    <a:gdLst>
                      <a:gd name="T0" fmla="*/ 0 w 203"/>
                      <a:gd name="T1" fmla="*/ 54 h 54"/>
                      <a:gd name="T2" fmla="*/ 1 w 203"/>
                      <a:gd name="T3" fmla="*/ 50 h 54"/>
                      <a:gd name="T4" fmla="*/ 2 w 203"/>
                      <a:gd name="T5" fmla="*/ 45 h 54"/>
                      <a:gd name="T6" fmla="*/ 3 w 203"/>
                      <a:gd name="T7" fmla="*/ 40 h 54"/>
                      <a:gd name="T8" fmla="*/ 3 w 203"/>
                      <a:gd name="T9" fmla="*/ 37 h 54"/>
                      <a:gd name="T10" fmla="*/ 4 w 203"/>
                      <a:gd name="T11" fmla="*/ 31 h 54"/>
                      <a:gd name="T12" fmla="*/ 5 w 203"/>
                      <a:gd name="T13" fmla="*/ 27 h 54"/>
                      <a:gd name="T14" fmla="*/ 6 w 203"/>
                      <a:gd name="T15" fmla="*/ 23 h 54"/>
                      <a:gd name="T16" fmla="*/ 7 w 203"/>
                      <a:gd name="T17" fmla="*/ 19 h 54"/>
                      <a:gd name="T18" fmla="*/ 8 w 203"/>
                      <a:gd name="T19" fmla="*/ 14 h 54"/>
                      <a:gd name="T20" fmla="*/ 9 w 203"/>
                      <a:gd name="T21" fmla="*/ 10 h 54"/>
                      <a:gd name="T22" fmla="*/ 10 w 203"/>
                      <a:gd name="T23" fmla="*/ 5 h 54"/>
                      <a:gd name="T24" fmla="*/ 12 w 203"/>
                      <a:gd name="T25" fmla="*/ 0 h 54"/>
                      <a:gd name="T26" fmla="*/ 203 w 203"/>
                      <a:gd name="T27" fmla="*/ 0 h 54"/>
                      <a:gd name="T28" fmla="*/ 203 w 203"/>
                      <a:gd name="T29" fmla="*/ 54 h 54"/>
                      <a:gd name="T30" fmla="*/ 0 w 203"/>
                      <a:gd name="T31" fmla="*/ 54 h 54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03"/>
                      <a:gd name="T49" fmla="*/ 0 h 54"/>
                      <a:gd name="T50" fmla="*/ 203 w 203"/>
                      <a:gd name="T51" fmla="*/ 54 h 54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03" h="54">
                        <a:moveTo>
                          <a:pt x="0" y="54"/>
                        </a:moveTo>
                        <a:lnTo>
                          <a:pt x="1" y="50"/>
                        </a:lnTo>
                        <a:lnTo>
                          <a:pt x="2" y="45"/>
                        </a:lnTo>
                        <a:lnTo>
                          <a:pt x="3" y="40"/>
                        </a:lnTo>
                        <a:lnTo>
                          <a:pt x="3" y="37"/>
                        </a:lnTo>
                        <a:lnTo>
                          <a:pt x="4" y="31"/>
                        </a:lnTo>
                        <a:lnTo>
                          <a:pt x="5" y="27"/>
                        </a:lnTo>
                        <a:lnTo>
                          <a:pt x="6" y="23"/>
                        </a:lnTo>
                        <a:lnTo>
                          <a:pt x="7" y="19"/>
                        </a:lnTo>
                        <a:lnTo>
                          <a:pt x="8" y="14"/>
                        </a:lnTo>
                        <a:lnTo>
                          <a:pt x="9" y="10"/>
                        </a:lnTo>
                        <a:lnTo>
                          <a:pt x="10" y="5"/>
                        </a:lnTo>
                        <a:lnTo>
                          <a:pt x="12" y="0"/>
                        </a:lnTo>
                        <a:lnTo>
                          <a:pt x="203" y="0"/>
                        </a:lnTo>
                        <a:lnTo>
                          <a:pt x="203" y="54"/>
                        </a:lnTo>
                        <a:lnTo>
                          <a:pt x="0" y="5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57" name="Freeform 501"/>
                  <p:cNvSpPr>
                    <a:spLocks/>
                  </p:cNvSpPr>
                  <p:nvPr/>
                </p:nvSpPr>
                <p:spPr bwMode="auto">
                  <a:xfrm>
                    <a:off x="3805" y="2651"/>
                    <a:ext cx="38" cy="7"/>
                  </a:xfrm>
                  <a:custGeom>
                    <a:avLst/>
                    <a:gdLst>
                      <a:gd name="T0" fmla="*/ 30 w 38"/>
                      <a:gd name="T1" fmla="*/ 7 h 7"/>
                      <a:gd name="T2" fmla="*/ 0 w 38"/>
                      <a:gd name="T3" fmla="*/ 7 h 7"/>
                      <a:gd name="T4" fmla="*/ 6 w 38"/>
                      <a:gd name="T5" fmla="*/ 3 h 7"/>
                      <a:gd name="T6" fmla="*/ 10 w 38"/>
                      <a:gd name="T7" fmla="*/ 4 h 7"/>
                      <a:gd name="T8" fmla="*/ 16 w 38"/>
                      <a:gd name="T9" fmla="*/ 5 h 7"/>
                      <a:gd name="T10" fmla="*/ 22 w 38"/>
                      <a:gd name="T11" fmla="*/ 5 h 7"/>
                      <a:gd name="T12" fmla="*/ 26 w 38"/>
                      <a:gd name="T13" fmla="*/ 3 h 7"/>
                      <a:gd name="T14" fmla="*/ 26 w 38"/>
                      <a:gd name="T15" fmla="*/ 0 h 7"/>
                      <a:gd name="T16" fmla="*/ 38 w 38"/>
                      <a:gd name="T17" fmla="*/ 0 h 7"/>
                      <a:gd name="T18" fmla="*/ 30 w 38"/>
                      <a:gd name="T19" fmla="*/ 7 h 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8"/>
                      <a:gd name="T31" fmla="*/ 0 h 7"/>
                      <a:gd name="T32" fmla="*/ 38 w 38"/>
                      <a:gd name="T33" fmla="*/ 7 h 7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8" h="7">
                        <a:moveTo>
                          <a:pt x="30" y="7"/>
                        </a:moveTo>
                        <a:lnTo>
                          <a:pt x="0" y="7"/>
                        </a:lnTo>
                        <a:lnTo>
                          <a:pt x="6" y="3"/>
                        </a:lnTo>
                        <a:lnTo>
                          <a:pt x="10" y="4"/>
                        </a:lnTo>
                        <a:lnTo>
                          <a:pt x="16" y="5"/>
                        </a:lnTo>
                        <a:lnTo>
                          <a:pt x="22" y="5"/>
                        </a:lnTo>
                        <a:lnTo>
                          <a:pt x="26" y="3"/>
                        </a:lnTo>
                        <a:lnTo>
                          <a:pt x="26" y="0"/>
                        </a:lnTo>
                        <a:lnTo>
                          <a:pt x="38" y="0"/>
                        </a:lnTo>
                        <a:lnTo>
                          <a:pt x="30" y="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58" name="Freeform 502"/>
                  <p:cNvSpPr>
                    <a:spLocks/>
                  </p:cNvSpPr>
                  <p:nvPr/>
                </p:nvSpPr>
                <p:spPr bwMode="auto">
                  <a:xfrm>
                    <a:off x="3805" y="2651"/>
                    <a:ext cx="38" cy="7"/>
                  </a:xfrm>
                  <a:custGeom>
                    <a:avLst/>
                    <a:gdLst>
                      <a:gd name="T0" fmla="*/ 30 w 38"/>
                      <a:gd name="T1" fmla="*/ 7 h 7"/>
                      <a:gd name="T2" fmla="*/ 0 w 38"/>
                      <a:gd name="T3" fmla="*/ 7 h 7"/>
                      <a:gd name="T4" fmla="*/ 6 w 38"/>
                      <a:gd name="T5" fmla="*/ 3 h 7"/>
                      <a:gd name="T6" fmla="*/ 10 w 38"/>
                      <a:gd name="T7" fmla="*/ 4 h 7"/>
                      <a:gd name="T8" fmla="*/ 16 w 38"/>
                      <a:gd name="T9" fmla="*/ 5 h 7"/>
                      <a:gd name="T10" fmla="*/ 22 w 38"/>
                      <a:gd name="T11" fmla="*/ 5 h 7"/>
                      <a:gd name="T12" fmla="*/ 26 w 38"/>
                      <a:gd name="T13" fmla="*/ 3 h 7"/>
                      <a:gd name="T14" fmla="*/ 26 w 38"/>
                      <a:gd name="T15" fmla="*/ 0 h 7"/>
                      <a:gd name="T16" fmla="*/ 38 w 38"/>
                      <a:gd name="T17" fmla="*/ 0 h 7"/>
                      <a:gd name="T18" fmla="*/ 30 w 38"/>
                      <a:gd name="T19" fmla="*/ 7 h 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8"/>
                      <a:gd name="T31" fmla="*/ 0 h 7"/>
                      <a:gd name="T32" fmla="*/ 38 w 38"/>
                      <a:gd name="T33" fmla="*/ 7 h 7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8" h="7">
                        <a:moveTo>
                          <a:pt x="30" y="7"/>
                        </a:moveTo>
                        <a:lnTo>
                          <a:pt x="0" y="7"/>
                        </a:lnTo>
                        <a:lnTo>
                          <a:pt x="6" y="3"/>
                        </a:lnTo>
                        <a:lnTo>
                          <a:pt x="10" y="4"/>
                        </a:lnTo>
                        <a:lnTo>
                          <a:pt x="16" y="5"/>
                        </a:lnTo>
                        <a:lnTo>
                          <a:pt x="22" y="5"/>
                        </a:lnTo>
                        <a:lnTo>
                          <a:pt x="26" y="3"/>
                        </a:lnTo>
                        <a:lnTo>
                          <a:pt x="26" y="0"/>
                        </a:lnTo>
                        <a:lnTo>
                          <a:pt x="38" y="0"/>
                        </a:lnTo>
                        <a:lnTo>
                          <a:pt x="30" y="7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59" name="Freeform 503"/>
                  <p:cNvSpPr>
                    <a:spLocks/>
                  </p:cNvSpPr>
                  <p:nvPr/>
                </p:nvSpPr>
                <p:spPr bwMode="auto">
                  <a:xfrm>
                    <a:off x="3577" y="2658"/>
                    <a:ext cx="29" cy="3"/>
                  </a:xfrm>
                  <a:custGeom>
                    <a:avLst/>
                    <a:gdLst>
                      <a:gd name="T0" fmla="*/ 26 w 29"/>
                      <a:gd name="T1" fmla="*/ 3 h 3"/>
                      <a:gd name="T2" fmla="*/ 29 w 29"/>
                      <a:gd name="T3" fmla="*/ 0 h 3"/>
                      <a:gd name="T4" fmla="*/ 0 w 29"/>
                      <a:gd name="T5" fmla="*/ 0 h 3"/>
                      <a:gd name="T6" fmla="*/ 0 w 29"/>
                      <a:gd name="T7" fmla="*/ 3 h 3"/>
                      <a:gd name="T8" fmla="*/ 26 w 29"/>
                      <a:gd name="T9" fmla="*/ 3 h 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"/>
                      <a:gd name="T16" fmla="*/ 0 h 3"/>
                      <a:gd name="T17" fmla="*/ 29 w 29"/>
                      <a:gd name="T18" fmla="*/ 3 h 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" h="3">
                        <a:moveTo>
                          <a:pt x="26" y="3"/>
                        </a:moveTo>
                        <a:lnTo>
                          <a:pt x="29" y="0"/>
                        </a:lnTo>
                        <a:lnTo>
                          <a:pt x="0" y="0"/>
                        </a:lnTo>
                        <a:lnTo>
                          <a:pt x="0" y="3"/>
                        </a:lnTo>
                        <a:lnTo>
                          <a:pt x="26" y="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60" name="Freeform 504"/>
                  <p:cNvSpPr>
                    <a:spLocks/>
                  </p:cNvSpPr>
                  <p:nvPr/>
                </p:nvSpPr>
                <p:spPr bwMode="auto">
                  <a:xfrm>
                    <a:off x="3577" y="2658"/>
                    <a:ext cx="29" cy="3"/>
                  </a:xfrm>
                  <a:custGeom>
                    <a:avLst/>
                    <a:gdLst>
                      <a:gd name="T0" fmla="*/ 26 w 29"/>
                      <a:gd name="T1" fmla="*/ 3 h 3"/>
                      <a:gd name="T2" fmla="*/ 29 w 29"/>
                      <a:gd name="T3" fmla="*/ 0 h 3"/>
                      <a:gd name="T4" fmla="*/ 0 w 29"/>
                      <a:gd name="T5" fmla="*/ 0 h 3"/>
                      <a:gd name="T6" fmla="*/ 0 w 29"/>
                      <a:gd name="T7" fmla="*/ 3 h 3"/>
                      <a:gd name="T8" fmla="*/ 26 w 29"/>
                      <a:gd name="T9" fmla="*/ 3 h 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"/>
                      <a:gd name="T16" fmla="*/ 0 h 3"/>
                      <a:gd name="T17" fmla="*/ 29 w 29"/>
                      <a:gd name="T18" fmla="*/ 3 h 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" h="3">
                        <a:moveTo>
                          <a:pt x="26" y="3"/>
                        </a:moveTo>
                        <a:lnTo>
                          <a:pt x="29" y="0"/>
                        </a:lnTo>
                        <a:lnTo>
                          <a:pt x="0" y="0"/>
                        </a:lnTo>
                        <a:lnTo>
                          <a:pt x="0" y="3"/>
                        </a:lnTo>
                        <a:lnTo>
                          <a:pt x="26" y="3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61" name="Freeform 505"/>
                  <p:cNvSpPr>
                    <a:spLocks/>
                  </p:cNvSpPr>
                  <p:nvPr/>
                </p:nvSpPr>
                <p:spPr bwMode="auto">
                  <a:xfrm>
                    <a:off x="3808" y="2658"/>
                    <a:ext cx="27" cy="3"/>
                  </a:xfrm>
                  <a:custGeom>
                    <a:avLst/>
                    <a:gdLst>
                      <a:gd name="T0" fmla="*/ 27 w 27"/>
                      <a:gd name="T1" fmla="*/ 0 h 3"/>
                      <a:gd name="T2" fmla="*/ 0 w 27"/>
                      <a:gd name="T3" fmla="*/ 0 h 3"/>
                      <a:gd name="T4" fmla="*/ 1 w 27"/>
                      <a:gd name="T5" fmla="*/ 3 h 3"/>
                      <a:gd name="T6" fmla="*/ 27 w 27"/>
                      <a:gd name="T7" fmla="*/ 3 h 3"/>
                      <a:gd name="T8" fmla="*/ 27 w 27"/>
                      <a:gd name="T9" fmla="*/ 0 h 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"/>
                      <a:gd name="T16" fmla="*/ 0 h 3"/>
                      <a:gd name="T17" fmla="*/ 27 w 27"/>
                      <a:gd name="T18" fmla="*/ 3 h 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" h="3">
                        <a:moveTo>
                          <a:pt x="27" y="0"/>
                        </a:moveTo>
                        <a:lnTo>
                          <a:pt x="0" y="0"/>
                        </a:lnTo>
                        <a:lnTo>
                          <a:pt x="1" y="3"/>
                        </a:lnTo>
                        <a:lnTo>
                          <a:pt x="27" y="3"/>
                        </a:lnTo>
                        <a:lnTo>
                          <a:pt x="27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62" name="Freeform 506"/>
                  <p:cNvSpPr>
                    <a:spLocks/>
                  </p:cNvSpPr>
                  <p:nvPr/>
                </p:nvSpPr>
                <p:spPr bwMode="auto">
                  <a:xfrm>
                    <a:off x="3808" y="2658"/>
                    <a:ext cx="27" cy="3"/>
                  </a:xfrm>
                  <a:custGeom>
                    <a:avLst/>
                    <a:gdLst>
                      <a:gd name="T0" fmla="*/ 27 w 27"/>
                      <a:gd name="T1" fmla="*/ 0 h 3"/>
                      <a:gd name="T2" fmla="*/ 0 w 27"/>
                      <a:gd name="T3" fmla="*/ 0 h 3"/>
                      <a:gd name="T4" fmla="*/ 1 w 27"/>
                      <a:gd name="T5" fmla="*/ 3 h 3"/>
                      <a:gd name="T6" fmla="*/ 27 w 27"/>
                      <a:gd name="T7" fmla="*/ 3 h 3"/>
                      <a:gd name="T8" fmla="*/ 27 w 27"/>
                      <a:gd name="T9" fmla="*/ 0 h 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"/>
                      <a:gd name="T16" fmla="*/ 0 h 3"/>
                      <a:gd name="T17" fmla="*/ 27 w 27"/>
                      <a:gd name="T18" fmla="*/ 3 h 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" h="3">
                        <a:moveTo>
                          <a:pt x="27" y="0"/>
                        </a:moveTo>
                        <a:lnTo>
                          <a:pt x="0" y="0"/>
                        </a:lnTo>
                        <a:lnTo>
                          <a:pt x="1" y="3"/>
                        </a:lnTo>
                        <a:lnTo>
                          <a:pt x="27" y="3"/>
                        </a:lnTo>
                        <a:lnTo>
                          <a:pt x="27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63" name="Line 50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54" y="2359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64" name="Line 50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54" y="2359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65" name="Line 50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51" y="2358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66" name="Line 5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51" y="2358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67" name="Line 5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8" y="2355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68" name="Line 5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8" y="2355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69" name="Line 5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5" y="2353"/>
                    <a:ext cx="4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70" name="Line 5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5" y="2353"/>
                    <a:ext cx="4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71" name="Line 51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2" y="2353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72" name="Line 51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42" y="2353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73" name="Line 5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9" y="2351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74" name="Line 5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9" y="2351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75" name="Line 5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6" y="2351"/>
                    <a:ext cx="5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76" name="Line 5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6" y="2351"/>
                    <a:ext cx="5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77" name="Line 5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2" y="2350"/>
                    <a:ext cx="6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78" name="Line 5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32" y="2350"/>
                    <a:ext cx="6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79" name="Line 5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9" y="2349"/>
                    <a:ext cx="6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80" name="Line 52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9" y="2349"/>
                    <a:ext cx="6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81" name="Line 5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7" y="2349"/>
                    <a:ext cx="3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82" name="Line 52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7" y="2349"/>
                    <a:ext cx="3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83" name="Line 52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3" y="2349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84" name="Line 52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23" y="2349"/>
                    <a:ext cx="4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85" name="Line 52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8" y="2349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86" name="Line 53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8" y="2349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87" name="Line 53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3" y="2350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88" name="Line 53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3" y="2350"/>
                    <a:ext cx="5" cy="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89" name="Line 5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0" y="2351"/>
                    <a:ext cx="5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90" name="Line 53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0" y="2351"/>
                    <a:ext cx="5" cy="4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91" name="Line 53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05" y="2352"/>
                    <a:ext cx="6" cy="6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92" name="Line 53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05" y="2352"/>
                    <a:ext cx="6" cy="6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93" name="Line 53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01" y="2354"/>
                    <a:ext cx="7" cy="6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94" name="Line 53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01" y="2354"/>
                    <a:ext cx="7" cy="6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95" name="Freeform 539"/>
                  <p:cNvSpPr>
                    <a:spLocks/>
                  </p:cNvSpPr>
                  <p:nvPr/>
                </p:nvSpPr>
                <p:spPr bwMode="auto">
                  <a:xfrm>
                    <a:off x="3805" y="2654"/>
                    <a:ext cx="5" cy="4"/>
                  </a:xfrm>
                  <a:custGeom>
                    <a:avLst/>
                    <a:gdLst>
                      <a:gd name="T0" fmla="*/ 5 w 5"/>
                      <a:gd name="T1" fmla="*/ 0 h 4"/>
                      <a:gd name="T2" fmla="*/ 0 w 5"/>
                      <a:gd name="T3" fmla="*/ 4 h 4"/>
                      <a:gd name="T4" fmla="*/ 3 w 5"/>
                      <a:gd name="T5" fmla="*/ 4 h 4"/>
                      <a:gd name="T6" fmla="*/ 0 60000 65536"/>
                      <a:gd name="T7" fmla="*/ 0 60000 65536"/>
                      <a:gd name="T8" fmla="*/ 0 60000 65536"/>
                      <a:gd name="T9" fmla="*/ 0 w 5"/>
                      <a:gd name="T10" fmla="*/ 0 h 4"/>
                      <a:gd name="T11" fmla="*/ 5 w 5"/>
                      <a:gd name="T12" fmla="*/ 4 h 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5" h="4">
                        <a:moveTo>
                          <a:pt x="5" y="0"/>
                        </a:moveTo>
                        <a:lnTo>
                          <a:pt x="0" y="4"/>
                        </a:lnTo>
                        <a:lnTo>
                          <a:pt x="3" y="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96" name="Freeform 540"/>
                  <p:cNvSpPr>
                    <a:spLocks/>
                  </p:cNvSpPr>
                  <p:nvPr/>
                </p:nvSpPr>
                <p:spPr bwMode="auto">
                  <a:xfrm>
                    <a:off x="3805" y="2654"/>
                    <a:ext cx="5" cy="4"/>
                  </a:xfrm>
                  <a:custGeom>
                    <a:avLst/>
                    <a:gdLst>
                      <a:gd name="T0" fmla="*/ 5 w 5"/>
                      <a:gd name="T1" fmla="*/ 0 h 4"/>
                      <a:gd name="T2" fmla="*/ 0 w 5"/>
                      <a:gd name="T3" fmla="*/ 4 h 4"/>
                      <a:gd name="T4" fmla="*/ 3 w 5"/>
                      <a:gd name="T5" fmla="*/ 4 h 4"/>
                      <a:gd name="T6" fmla="*/ 0 60000 65536"/>
                      <a:gd name="T7" fmla="*/ 0 60000 65536"/>
                      <a:gd name="T8" fmla="*/ 0 60000 65536"/>
                      <a:gd name="T9" fmla="*/ 0 w 5"/>
                      <a:gd name="T10" fmla="*/ 0 h 4"/>
                      <a:gd name="T11" fmla="*/ 5 w 5"/>
                      <a:gd name="T12" fmla="*/ 4 h 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5" h="4">
                        <a:moveTo>
                          <a:pt x="5" y="0"/>
                        </a:moveTo>
                        <a:lnTo>
                          <a:pt x="0" y="4"/>
                        </a:lnTo>
                        <a:lnTo>
                          <a:pt x="3" y="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97" name="Line 5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5" y="2688"/>
                    <a:ext cx="193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98" name="Line 5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5" y="2688"/>
                    <a:ext cx="193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99" name="Line 54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4" y="2692"/>
                    <a:ext cx="194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700" name="Line 54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4" y="2692"/>
                    <a:ext cx="194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701" name="Line 5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4" y="2697"/>
                    <a:ext cx="194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702" name="Line 54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4" y="2697"/>
                    <a:ext cx="194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703" name="Line 54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3" y="2702"/>
                    <a:ext cx="195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704" name="Line 54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3" y="2702"/>
                    <a:ext cx="195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705" name="Line 54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2" y="2706"/>
                    <a:ext cx="196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706" name="Line 55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12" y="2706"/>
                    <a:ext cx="196" cy="1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25495" name="Line 551"/>
                <p:cNvSpPr>
                  <a:spLocks noChangeShapeType="1"/>
                </p:cNvSpPr>
                <p:nvPr/>
              </p:nvSpPr>
              <p:spPr bwMode="auto">
                <a:xfrm flipH="1">
                  <a:off x="3611" y="2710"/>
                  <a:ext cx="197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96" name="Line 552"/>
                <p:cNvSpPr>
                  <a:spLocks noChangeShapeType="1"/>
                </p:cNvSpPr>
                <p:nvPr/>
              </p:nvSpPr>
              <p:spPr bwMode="auto">
                <a:xfrm flipH="1">
                  <a:off x="3611" y="2710"/>
                  <a:ext cx="197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97" name="Line 553"/>
                <p:cNvSpPr>
                  <a:spLocks noChangeShapeType="1"/>
                </p:cNvSpPr>
                <p:nvPr/>
              </p:nvSpPr>
              <p:spPr bwMode="auto">
                <a:xfrm flipH="1">
                  <a:off x="3610" y="2714"/>
                  <a:ext cx="198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98" name="Line 554"/>
                <p:cNvSpPr>
                  <a:spLocks noChangeShapeType="1"/>
                </p:cNvSpPr>
                <p:nvPr/>
              </p:nvSpPr>
              <p:spPr bwMode="auto">
                <a:xfrm flipH="1">
                  <a:off x="3610" y="2714"/>
                  <a:ext cx="198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99" name="Line 555"/>
                <p:cNvSpPr>
                  <a:spLocks noChangeShapeType="1"/>
                </p:cNvSpPr>
                <p:nvPr/>
              </p:nvSpPr>
              <p:spPr bwMode="auto">
                <a:xfrm flipH="1">
                  <a:off x="3609" y="2720"/>
                  <a:ext cx="199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500" name="Line 556"/>
                <p:cNvSpPr>
                  <a:spLocks noChangeShapeType="1"/>
                </p:cNvSpPr>
                <p:nvPr/>
              </p:nvSpPr>
              <p:spPr bwMode="auto">
                <a:xfrm flipH="1">
                  <a:off x="3609" y="2720"/>
                  <a:ext cx="199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501" name="Line 557"/>
                <p:cNvSpPr>
                  <a:spLocks noChangeShapeType="1"/>
                </p:cNvSpPr>
                <p:nvPr/>
              </p:nvSpPr>
              <p:spPr bwMode="auto">
                <a:xfrm flipH="1">
                  <a:off x="3608" y="2723"/>
                  <a:ext cx="200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502" name="Line 558"/>
                <p:cNvSpPr>
                  <a:spLocks noChangeShapeType="1"/>
                </p:cNvSpPr>
                <p:nvPr/>
              </p:nvSpPr>
              <p:spPr bwMode="auto">
                <a:xfrm flipH="1">
                  <a:off x="3608" y="2723"/>
                  <a:ext cx="200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503" name="Line 559"/>
                <p:cNvSpPr>
                  <a:spLocks noChangeShapeType="1"/>
                </p:cNvSpPr>
                <p:nvPr/>
              </p:nvSpPr>
              <p:spPr bwMode="auto">
                <a:xfrm flipH="1">
                  <a:off x="3607" y="2728"/>
                  <a:ext cx="201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504" name="Line 560"/>
                <p:cNvSpPr>
                  <a:spLocks noChangeShapeType="1"/>
                </p:cNvSpPr>
                <p:nvPr/>
              </p:nvSpPr>
              <p:spPr bwMode="auto">
                <a:xfrm flipH="1">
                  <a:off x="3607" y="2728"/>
                  <a:ext cx="201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505" name="Line 561"/>
                <p:cNvSpPr>
                  <a:spLocks noChangeShapeType="1"/>
                </p:cNvSpPr>
                <p:nvPr/>
              </p:nvSpPr>
              <p:spPr bwMode="auto">
                <a:xfrm flipH="1">
                  <a:off x="3606" y="2733"/>
                  <a:ext cx="202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506" name="Line 562"/>
                <p:cNvSpPr>
                  <a:spLocks noChangeShapeType="1"/>
                </p:cNvSpPr>
                <p:nvPr/>
              </p:nvSpPr>
              <p:spPr bwMode="auto">
                <a:xfrm flipH="1">
                  <a:off x="3606" y="2733"/>
                  <a:ext cx="202" cy="1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5493" name="Rectangle 563"/>
              <p:cNvSpPr>
                <a:spLocks noChangeArrowheads="1"/>
              </p:cNvSpPr>
              <p:nvPr/>
            </p:nvSpPr>
            <p:spPr bwMode="auto">
              <a:xfrm>
                <a:off x="3543" y="2773"/>
                <a:ext cx="420" cy="1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84238" eaLnBrk="0" hangingPunct="0"/>
                <a:r>
                  <a:rPr lang="en-US" b="0">
                    <a:solidFill>
                      <a:srgbClr val="000000"/>
                    </a:solidFill>
                    <a:latin typeface="Arial Narrow" pitchFamily="34" charset="0"/>
                  </a:rPr>
                  <a:t>Data Bank</a:t>
                </a:r>
                <a:endParaRPr lang="en-US" b="0">
                  <a:latin typeface="Times New Roman" pitchFamily="18" charset="0"/>
                </a:endParaRPr>
              </a:p>
            </p:txBody>
          </p:sp>
        </p:grpSp>
        <p:sp>
          <p:nvSpPr>
            <p:cNvPr id="25491" name="Rectangle 564"/>
            <p:cNvSpPr>
              <a:spLocks noChangeArrowheads="1"/>
            </p:cNvSpPr>
            <p:nvPr/>
          </p:nvSpPr>
          <p:spPr bwMode="auto">
            <a:xfrm>
              <a:off x="2944" y="2195"/>
              <a:ext cx="1025" cy="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24584" name="Group 565"/>
          <p:cNvGrpSpPr>
            <a:grpSpLocks/>
          </p:cNvGrpSpPr>
          <p:nvPr/>
        </p:nvGrpSpPr>
        <p:grpSpPr bwMode="auto">
          <a:xfrm>
            <a:off x="3103563" y="2982913"/>
            <a:ext cx="2403475" cy="2881312"/>
            <a:chOff x="2199" y="2195"/>
            <a:chExt cx="1817" cy="1936"/>
          </a:xfrm>
        </p:grpSpPr>
        <p:sp>
          <p:nvSpPr>
            <p:cNvPr id="24927" name="Rectangle 566"/>
            <p:cNvSpPr>
              <a:spLocks noChangeArrowheads="1"/>
            </p:cNvSpPr>
            <p:nvPr/>
          </p:nvSpPr>
          <p:spPr bwMode="auto">
            <a:xfrm>
              <a:off x="2199" y="2846"/>
              <a:ext cx="1720" cy="643"/>
            </a:xfrm>
            <a:prstGeom prst="rect">
              <a:avLst/>
            </a:prstGeom>
            <a:solidFill>
              <a:srgbClr val="FFFF66"/>
            </a:solidFill>
            <a:ln w="444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928" name="Oval 567"/>
            <p:cNvSpPr>
              <a:spLocks noChangeArrowheads="1"/>
            </p:cNvSpPr>
            <p:nvPr/>
          </p:nvSpPr>
          <p:spPr bwMode="auto">
            <a:xfrm>
              <a:off x="2954" y="3389"/>
              <a:ext cx="210" cy="94"/>
            </a:xfrm>
            <a:prstGeom prst="ellipse">
              <a:avLst/>
            </a:prstGeom>
            <a:solidFill>
              <a:srgbClr val="FF0000"/>
            </a:solidFill>
            <a:ln w="44450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929" name="Rectangle 568"/>
            <p:cNvSpPr>
              <a:spLocks noChangeArrowheads="1"/>
            </p:cNvSpPr>
            <p:nvPr/>
          </p:nvSpPr>
          <p:spPr bwMode="auto">
            <a:xfrm>
              <a:off x="3014" y="2820"/>
              <a:ext cx="90" cy="57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930" name="Rectangle 569"/>
            <p:cNvSpPr>
              <a:spLocks noChangeArrowheads="1"/>
            </p:cNvSpPr>
            <p:nvPr/>
          </p:nvSpPr>
          <p:spPr bwMode="auto">
            <a:xfrm>
              <a:off x="2199" y="2200"/>
              <a:ext cx="1720" cy="644"/>
            </a:xfrm>
            <a:prstGeom prst="rect">
              <a:avLst/>
            </a:prstGeom>
            <a:solidFill>
              <a:srgbClr val="99FFCC"/>
            </a:solidFill>
            <a:ln w="444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grpSp>
          <p:nvGrpSpPr>
            <p:cNvPr id="24931" name="Group 570"/>
            <p:cNvGrpSpPr>
              <a:grpSpLocks/>
            </p:cNvGrpSpPr>
            <p:nvPr/>
          </p:nvGrpSpPr>
          <p:grpSpPr bwMode="auto">
            <a:xfrm>
              <a:off x="2911" y="2322"/>
              <a:ext cx="298" cy="272"/>
              <a:chOff x="2528" y="1791"/>
              <a:chExt cx="326" cy="334"/>
            </a:xfrm>
          </p:grpSpPr>
          <p:grpSp>
            <p:nvGrpSpPr>
              <p:cNvPr id="25147" name="Group 571"/>
              <p:cNvGrpSpPr>
                <a:grpSpLocks/>
              </p:cNvGrpSpPr>
              <p:nvPr/>
            </p:nvGrpSpPr>
            <p:grpSpPr bwMode="auto">
              <a:xfrm>
                <a:off x="2616" y="1878"/>
                <a:ext cx="150" cy="247"/>
                <a:chOff x="2616" y="1878"/>
                <a:chExt cx="150" cy="247"/>
              </a:xfrm>
            </p:grpSpPr>
            <p:sp>
              <p:nvSpPr>
                <p:cNvPr id="25283" name="Freeform 572"/>
                <p:cNvSpPr>
                  <a:spLocks/>
                </p:cNvSpPr>
                <p:nvPr/>
              </p:nvSpPr>
              <p:spPr bwMode="auto">
                <a:xfrm>
                  <a:off x="2689" y="2107"/>
                  <a:ext cx="6" cy="7"/>
                </a:xfrm>
                <a:custGeom>
                  <a:avLst/>
                  <a:gdLst>
                    <a:gd name="T0" fmla="*/ 3 w 6"/>
                    <a:gd name="T1" fmla="*/ 7 h 7"/>
                    <a:gd name="T2" fmla="*/ 4 w 6"/>
                    <a:gd name="T3" fmla="*/ 7 h 7"/>
                    <a:gd name="T4" fmla="*/ 5 w 6"/>
                    <a:gd name="T5" fmla="*/ 6 h 7"/>
                    <a:gd name="T6" fmla="*/ 6 w 6"/>
                    <a:gd name="T7" fmla="*/ 5 h 7"/>
                    <a:gd name="T8" fmla="*/ 6 w 6"/>
                    <a:gd name="T9" fmla="*/ 3 h 7"/>
                    <a:gd name="T10" fmla="*/ 6 w 6"/>
                    <a:gd name="T11" fmla="*/ 2 h 7"/>
                    <a:gd name="T12" fmla="*/ 5 w 6"/>
                    <a:gd name="T13" fmla="*/ 1 h 7"/>
                    <a:gd name="T14" fmla="*/ 4 w 6"/>
                    <a:gd name="T15" fmla="*/ 0 h 7"/>
                    <a:gd name="T16" fmla="*/ 3 w 6"/>
                    <a:gd name="T17" fmla="*/ 0 h 7"/>
                    <a:gd name="T18" fmla="*/ 2 w 6"/>
                    <a:gd name="T19" fmla="*/ 0 h 7"/>
                    <a:gd name="T20" fmla="*/ 1 w 6"/>
                    <a:gd name="T21" fmla="*/ 1 h 7"/>
                    <a:gd name="T22" fmla="*/ 0 w 6"/>
                    <a:gd name="T23" fmla="*/ 2 h 7"/>
                    <a:gd name="T24" fmla="*/ 0 w 6"/>
                    <a:gd name="T25" fmla="*/ 3 h 7"/>
                    <a:gd name="T26" fmla="*/ 0 w 6"/>
                    <a:gd name="T27" fmla="*/ 5 h 7"/>
                    <a:gd name="T28" fmla="*/ 1 w 6"/>
                    <a:gd name="T29" fmla="*/ 6 h 7"/>
                    <a:gd name="T30" fmla="*/ 2 w 6"/>
                    <a:gd name="T31" fmla="*/ 7 h 7"/>
                    <a:gd name="T32" fmla="*/ 3 w 6"/>
                    <a:gd name="T33" fmla="*/ 7 h 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6"/>
                    <a:gd name="T52" fmla="*/ 0 h 7"/>
                    <a:gd name="T53" fmla="*/ 6 w 6"/>
                    <a:gd name="T54" fmla="*/ 7 h 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6" h="7">
                      <a:moveTo>
                        <a:pt x="3" y="7"/>
                      </a:moveTo>
                      <a:lnTo>
                        <a:pt x="4" y="7"/>
                      </a:lnTo>
                      <a:lnTo>
                        <a:pt x="5" y="6"/>
                      </a:lnTo>
                      <a:lnTo>
                        <a:pt x="6" y="5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2" y="7"/>
                      </a:lnTo>
                      <a:lnTo>
                        <a:pt x="3" y="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84" name="Freeform 573"/>
                <p:cNvSpPr>
                  <a:spLocks/>
                </p:cNvSpPr>
                <p:nvPr/>
              </p:nvSpPr>
              <p:spPr bwMode="auto">
                <a:xfrm>
                  <a:off x="2685" y="2102"/>
                  <a:ext cx="21" cy="23"/>
                </a:xfrm>
                <a:custGeom>
                  <a:avLst/>
                  <a:gdLst>
                    <a:gd name="T0" fmla="*/ 0 w 21"/>
                    <a:gd name="T1" fmla="*/ 8 h 23"/>
                    <a:gd name="T2" fmla="*/ 0 w 21"/>
                    <a:gd name="T3" fmla="*/ 8 h 23"/>
                    <a:gd name="T4" fmla="*/ 0 w 21"/>
                    <a:gd name="T5" fmla="*/ 6 h 23"/>
                    <a:gd name="T6" fmla="*/ 2 w 21"/>
                    <a:gd name="T7" fmla="*/ 2 h 23"/>
                    <a:gd name="T8" fmla="*/ 5 w 21"/>
                    <a:gd name="T9" fmla="*/ 0 h 23"/>
                    <a:gd name="T10" fmla="*/ 7 w 21"/>
                    <a:gd name="T11" fmla="*/ 0 h 23"/>
                    <a:gd name="T12" fmla="*/ 7 w 21"/>
                    <a:gd name="T13" fmla="*/ 23 h 23"/>
                    <a:gd name="T14" fmla="*/ 11 w 21"/>
                    <a:gd name="T15" fmla="*/ 22 h 23"/>
                    <a:gd name="T16" fmla="*/ 17 w 21"/>
                    <a:gd name="T17" fmla="*/ 18 h 23"/>
                    <a:gd name="T18" fmla="*/ 20 w 21"/>
                    <a:gd name="T19" fmla="*/ 13 h 23"/>
                    <a:gd name="T20" fmla="*/ 21 w 21"/>
                    <a:gd name="T21" fmla="*/ 8 h 23"/>
                    <a:gd name="T22" fmla="*/ 0 w 21"/>
                    <a:gd name="T23" fmla="*/ 8 h 23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1"/>
                    <a:gd name="T37" fmla="*/ 0 h 23"/>
                    <a:gd name="T38" fmla="*/ 21 w 21"/>
                    <a:gd name="T39" fmla="*/ 23 h 23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1" h="23">
                      <a:moveTo>
                        <a:pt x="0" y="8"/>
                      </a:moveTo>
                      <a:lnTo>
                        <a:pt x="0" y="8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5" y="0"/>
                      </a:lnTo>
                      <a:lnTo>
                        <a:pt x="7" y="0"/>
                      </a:lnTo>
                      <a:lnTo>
                        <a:pt x="7" y="23"/>
                      </a:lnTo>
                      <a:lnTo>
                        <a:pt x="11" y="22"/>
                      </a:lnTo>
                      <a:lnTo>
                        <a:pt x="17" y="18"/>
                      </a:lnTo>
                      <a:lnTo>
                        <a:pt x="20" y="13"/>
                      </a:lnTo>
                      <a:lnTo>
                        <a:pt x="21" y="8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85" name="Freeform 574"/>
                <p:cNvSpPr>
                  <a:spLocks/>
                </p:cNvSpPr>
                <p:nvPr/>
              </p:nvSpPr>
              <p:spPr bwMode="auto">
                <a:xfrm>
                  <a:off x="2685" y="2095"/>
                  <a:ext cx="21" cy="22"/>
                </a:xfrm>
                <a:custGeom>
                  <a:avLst/>
                  <a:gdLst>
                    <a:gd name="T0" fmla="*/ 7 w 21"/>
                    <a:gd name="T1" fmla="*/ 22 h 22"/>
                    <a:gd name="T2" fmla="*/ 7 w 21"/>
                    <a:gd name="T3" fmla="*/ 22 h 22"/>
                    <a:gd name="T4" fmla="*/ 5 w 21"/>
                    <a:gd name="T5" fmla="*/ 22 h 22"/>
                    <a:gd name="T6" fmla="*/ 2 w 21"/>
                    <a:gd name="T7" fmla="*/ 20 h 22"/>
                    <a:gd name="T8" fmla="*/ 0 w 21"/>
                    <a:gd name="T9" fmla="*/ 17 h 22"/>
                    <a:gd name="T10" fmla="*/ 0 w 21"/>
                    <a:gd name="T11" fmla="*/ 15 h 22"/>
                    <a:gd name="T12" fmla="*/ 21 w 21"/>
                    <a:gd name="T13" fmla="*/ 15 h 22"/>
                    <a:gd name="T14" fmla="*/ 20 w 21"/>
                    <a:gd name="T15" fmla="*/ 9 h 22"/>
                    <a:gd name="T16" fmla="*/ 17 w 21"/>
                    <a:gd name="T17" fmla="*/ 4 h 22"/>
                    <a:gd name="T18" fmla="*/ 11 w 21"/>
                    <a:gd name="T19" fmla="*/ 1 h 22"/>
                    <a:gd name="T20" fmla="*/ 7 w 21"/>
                    <a:gd name="T21" fmla="*/ 0 h 22"/>
                    <a:gd name="T22" fmla="*/ 7 w 21"/>
                    <a:gd name="T23" fmla="*/ 22 h 2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1"/>
                    <a:gd name="T37" fmla="*/ 0 h 22"/>
                    <a:gd name="T38" fmla="*/ 21 w 21"/>
                    <a:gd name="T39" fmla="*/ 22 h 22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1" h="22">
                      <a:moveTo>
                        <a:pt x="7" y="22"/>
                      </a:moveTo>
                      <a:lnTo>
                        <a:pt x="7" y="22"/>
                      </a:lnTo>
                      <a:lnTo>
                        <a:pt x="5" y="22"/>
                      </a:lnTo>
                      <a:lnTo>
                        <a:pt x="2" y="20"/>
                      </a:lnTo>
                      <a:lnTo>
                        <a:pt x="0" y="17"/>
                      </a:lnTo>
                      <a:lnTo>
                        <a:pt x="0" y="15"/>
                      </a:lnTo>
                      <a:lnTo>
                        <a:pt x="21" y="15"/>
                      </a:lnTo>
                      <a:lnTo>
                        <a:pt x="20" y="9"/>
                      </a:lnTo>
                      <a:lnTo>
                        <a:pt x="17" y="4"/>
                      </a:lnTo>
                      <a:lnTo>
                        <a:pt x="11" y="1"/>
                      </a:lnTo>
                      <a:lnTo>
                        <a:pt x="7" y="0"/>
                      </a:lnTo>
                      <a:lnTo>
                        <a:pt x="7" y="2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86" name="Freeform 575"/>
                <p:cNvSpPr>
                  <a:spLocks/>
                </p:cNvSpPr>
                <p:nvPr/>
              </p:nvSpPr>
              <p:spPr bwMode="auto">
                <a:xfrm>
                  <a:off x="2677" y="2095"/>
                  <a:ext cx="23" cy="22"/>
                </a:xfrm>
                <a:custGeom>
                  <a:avLst/>
                  <a:gdLst>
                    <a:gd name="T0" fmla="*/ 23 w 23"/>
                    <a:gd name="T1" fmla="*/ 15 h 22"/>
                    <a:gd name="T2" fmla="*/ 23 w 23"/>
                    <a:gd name="T3" fmla="*/ 15 h 22"/>
                    <a:gd name="T4" fmla="*/ 23 w 23"/>
                    <a:gd name="T5" fmla="*/ 17 h 22"/>
                    <a:gd name="T6" fmla="*/ 21 w 23"/>
                    <a:gd name="T7" fmla="*/ 19 h 22"/>
                    <a:gd name="T8" fmla="*/ 17 w 23"/>
                    <a:gd name="T9" fmla="*/ 22 h 22"/>
                    <a:gd name="T10" fmla="*/ 15 w 23"/>
                    <a:gd name="T11" fmla="*/ 22 h 22"/>
                    <a:gd name="T12" fmla="*/ 15 w 23"/>
                    <a:gd name="T13" fmla="*/ 0 h 22"/>
                    <a:gd name="T14" fmla="*/ 10 w 23"/>
                    <a:gd name="T15" fmla="*/ 1 h 22"/>
                    <a:gd name="T16" fmla="*/ 3 w 23"/>
                    <a:gd name="T17" fmla="*/ 5 h 22"/>
                    <a:gd name="T18" fmla="*/ 1 w 23"/>
                    <a:gd name="T19" fmla="*/ 9 h 22"/>
                    <a:gd name="T20" fmla="*/ 0 w 23"/>
                    <a:gd name="T21" fmla="*/ 15 h 22"/>
                    <a:gd name="T22" fmla="*/ 23 w 23"/>
                    <a:gd name="T23" fmla="*/ 15 h 2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3"/>
                    <a:gd name="T37" fmla="*/ 0 h 22"/>
                    <a:gd name="T38" fmla="*/ 23 w 23"/>
                    <a:gd name="T39" fmla="*/ 22 h 22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3" h="22">
                      <a:moveTo>
                        <a:pt x="23" y="15"/>
                      </a:moveTo>
                      <a:lnTo>
                        <a:pt x="23" y="15"/>
                      </a:lnTo>
                      <a:lnTo>
                        <a:pt x="23" y="17"/>
                      </a:lnTo>
                      <a:lnTo>
                        <a:pt x="21" y="19"/>
                      </a:lnTo>
                      <a:lnTo>
                        <a:pt x="17" y="22"/>
                      </a:lnTo>
                      <a:lnTo>
                        <a:pt x="15" y="22"/>
                      </a:lnTo>
                      <a:lnTo>
                        <a:pt x="15" y="0"/>
                      </a:lnTo>
                      <a:lnTo>
                        <a:pt x="10" y="1"/>
                      </a:lnTo>
                      <a:lnTo>
                        <a:pt x="3" y="5"/>
                      </a:lnTo>
                      <a:lnTo>
                        <a:pt x="1" y="9"/>
                      </a:lnTo>
                      <a:lnTo>
                        <a:pt x="0" y="15"/>
                      </a:lnTo>
                      <a:lnTo>
                        <a:pt x="23" y="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87" name="Freeform 576"/>
                <p:cNvSpPr>
                  <a:spLocks/>
                </p:cNvSpPr>
                <p:nvPr/>
              </p:nvSpPr>
              <p:spPr bwMode="auto">
                <a:xfrm>
                  <a:off x="2677" y="2102"/>
                  <a:ext cx="23" cy="23"/>
                </a:xfrm>
                <a:custGeom>
                  <a:avLst/>
                  <a:gdLst>
                    <a:gd name="T0" fmla="*/ 15 w 23"/>
                    <a:gd name="T1" fmla="*/ 0 h 23"/>
                    <a:gd name="T2" fmla="*/ 15 w 23"/>
                    <a:gd name="T3" fmla="*/ 0 h 23"/>
                    <a:gd name="T4" fmla="*/ 17 w 23"/>
                    <a:gd name="T5" fmla="*/ 0 h 23"/>
                    <a:gd name="T6" fmla="*/ 21 w 23"/>
                    <a:gd name="T7" fmla="*/ 4 h 23"/>
                    <a:gd name="T8" fmla="*/ 23 w 23"/>
                    <a:gd name="T9" fmla="*/ 6 h 23"/>
                    <a:gd name="T10" fmla="*/ 23 w 23"/>
                    <a:gd name="T11" fmla="*/ 8 h 23"/>
                    <a:gd name="T12" fmla="*/ 0 w 23"/>
                    <a:gd name="T13" fmla="*/ 8 h 23"/>
                    <a:gd name="T14" fmla="*/ 1 w 23"/>
                    <a:gd name="T15" fmla="*/ 13 h 23"/>
                    <a:gd name="T16" fmla="*/ 3 w 23"/>
                    <a:gd name="T17" fmla="*/ 17 h 23"/>
                    <a:gd name="T18" fmla="*/ 10 w 23"/>
                    <a:gd name="T19" fmla="*/ 22 h 23"/>
                    <a:gd name="T20" fmla="*/ 15 w 23"/>
                    <a:gd name="T21" fmla="*/ 23 h 23"/>
                    <a:gd name="T22" fmla="*/ 15 w 23"/>
                    <a:gd name="T23" fmla="*/ 0 h 23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3"/>
                    <a:gd name="T37" fmla="*/ 0 h 23"/>
                    <a:gd name="T38" fmla="*/ 23 w 23"/>
                    <a:gd name="T39" fmla="*/ 23 h 23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3" h="23">
                      <a:moveTo>
                        <a:pt x="15" y="0"/>
                      </a:moveTo>
                      <a:lnTo>
                        <a:pt x="15" y="0"/>
                      </a:lnTo>
                      <a:lnTo>
                        <a:pt x="17" y="0"/>
                      </a:lnTo>
                      <a:lnTo>
                        <a:pt x="21" y="4"/>
                      </a:lnTo>
                      <a:lnTo>
                        <a:pt x="23" y="6"/>
                      </a:lnTo>
                      <a:lnTo>
                        <a:pt x="23" y="8"/>
                      </a:lnTo>
                      <a:lnTo>
                        <a:pt x="0" y="8"/>
                      </a:lnTo>
                      <a:lnTo>
                        <a:pt x="1" y="13"/>
                      </a:lnTo>
                      <a:lnTo>
                        <a:pt x="3" y="17"/>
                      </a:lnTo>
                      <a:lnTo>
                        <a:pt x="10" y="22"/>
                      </a:lnTo>
                      <a:lnTo>
                        <a:pt x="15" y="23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88" name="Freeform 577"/>
                <p:cNvSpPr>
                  <a:spLocks/>
                </p:cNvSpPr>
                <p:nvPr/>
              </p:nvSpPr>
              <p:spPr bwMode="auto">
                <a:xfrm>
                  <a:off x="2689" y="2107"/>
                  <a:ext cx="6" cy="7"/>
                </a:xfrm>
                <a:custGeom>
                  <a:avLst/>
                  <a:gdLst>
                    <a:gd name="T0" fmla="*/ 3 w 6"/>
                    <a:gd name="T1" fmla="*/ 7 h 7"/>
                    <a:gd name="T2" fmla="*/ 4 w 6"/>
                    <a:gd name="T3" fmla="*/ 7 h 7"/>
                    <a:gd name="T4" fmla="*/ 5 w 6"/>
                    <a:gd name="T5" fmla="*/ 6 h 7"/>
                    <a:gd name="T6" fmla="*/ 6 w 6"/>
                    <a:gd name="T7" fmla="*/ 5 h 7"/>
                    <a:gd name="T8" fmla="*/ 6 w 6"/>
                    <a:gd name="T9" fmla="*/ 3 h 7"/>
                    <a:gd name="T10" fmla="*/ 6 w 6"/>
                    <a:gd name="T11" fmla="*/ 2 h 7"/>
                    <a:gd name="T12" fmla="*/ 5 w 6"/>
                    <a:gd name="T13" fmla="*/ 1 h 7"/>
                    <a:gd name="T14" fmla="*/ 4 w 6"/>
                    <a:gd name="T15" fmla="*/ 0 h 7"/>
                    <a:gd name="T16" fmla="*/ 3 w 6"/>
                    <a:gd name="T17" fmla="*/ 0 h 7"/>
                    <a:gd name="T18" fmla="*/ 2 w 6"/>
                    <a:gd name="T19" fmla="*/ 0 h 7"/>
                    <a:gd name="T20" fmla="*/ 1 w 6"/>
                    <a:gd name="T21" fmla="*/ 1 h 7"/>
                    <a:gd name="T22" fmla="*/ 0 w 6"/>
                    <a:gd name="T23" fmla="*/ 2 h 7"/>
                    <a:gd name="T24" fmla="*/ 0 w 6"/>
                    <a:gd name="T25" fmla="*/ 3 h 7"/>
                    <a:gd name="T26" fmla="*/ 0 w 6"/>
                    <a:gd name="T27" fmla="*/ 5 h 7"/>
                    <a:gd name="T28" fmla="*/ 1 w 6"/>
                    <a:gd name="T29" fmla="*/ 6 h 7"/>
                    <a:gd name="T30" fmla="*/ 2 w 6"/>
                    <a:gd name="T31" fmla="*/ 7 h 7"/>
                    <a:gd name="T32" fmla="*/ 3 w 6"/>
                    <a:gd name="T33" fmla="*/ 7 h 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6"/>
                    <a:gd name="T52" fmla="*/ 0 h 7"/>
                    <a:gd name="T53" fmla="*/ 6 w 6"/>
                    <a:gd name="T54" fmla="*/ 7 h 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6" h="7">
                      <a:moveTo>
                        <a:pt x="3" y="7"/>
                      </a:moveTo>
                      <a:lnTo>
                        <a:pt x="4" y="7"/>
                      </a:lnTo>
                      <a:lnTo>
                        <a:pt x="5" y="6"/>
                      </a:lnTo>
                      <a:lnTo>
                        <a:pt x="6" y="5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2" y="7"/>
                      </a:lnTo>
                      <a:lnTo>
                        <a:pt x="3" y="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89" name="Freeform 578"/>
                <p:cNvSpPr>
                  <a:spLocks/>
                </p:cNvSpPr>
                <p:nvPr/>
              </p:nvSpPr>
              <p:spPr bwMode="auto">
                <a:xfrm>
                  <a:off x="2691" y="2110"/>
                  <a:ext cx="9" cy="7"/>
                </a:xfrm>
                <a:custGeom>
                  <a:avLst/>
                  <a:gdLst>
                    <a:gd name="T0" fmla="*/ 0 w 9"/>
                    <a:gd name="T1" fmla="*/ 0 h 7"/>
                    <a:gd name="T2" fmla="*/ 0 w 9"/>
                    <a:gd name="T3" fmla="*/ 0 h 7"/>
                    <a:gd name="T4" fmla="*/ 0 w 9"/>
                    <a:gd name="T5" fmla="*/ 0 h 7"/>
                    <a:gd name="T6" fmla="*/ 0 w 9"/>
                    <a:gd name="T7" fmla="*/ 0 h 7"/>
                    <a:gd name="T8" fmla="*/ 0 w 9"/>
                    <a:gd name="T9" fmla="*/ 7 h 7"/>
                    <a:gd name="T10" fmla="*/ 3 w 9"/>
                    <a:gd name="T11" fmla="*/ 6 h 7"/>
                    <a:gd name="T12" fmla="*/ 7 w 9"/>
                    <a:gd name="T13" fmla="*/ 5 h 7"/>
                    <a:gd name="T14" fmla="*/ 8 w 9"/>
                    <a:gd name="T15" fmla="*/ 3 h 7"/>
                    <a:gd name="T16" fmla="*/ 9 w 9"/>
                    <a:gd name="T17" fmla="*/ 0 h 7"/>
                    <a:gd name="T18" fmla="*/ 0 w 9"/>
                    <a:gd name="T19" fmla="*/ 0 h 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9"/>
                    <a:gd name="T31" fmla="*/ 0 h 7"/>
                    <a:gd name="T32" fmla="*/ 9 w 9"/>
                    <a:gd name="T33" fmla="*/ 7 h 7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9" h="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7"/>
                      </a:lnTo>
                      <a:lnTo>
                        <a:pt x="3" y="6"/>
                      </a:lnTo>
                      <a:lnTo>
                        <a:pt x="7" y="5"/>
                      </a:lnTo>
                      <a:lnTo>
                        <a:pt x="8" y="3"/>
                      </a:lnTo>
                      <a:lnTo>
                        <a:pt x="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90" name="Freeform 579"/>
                <p:cNvSpPr>
                  <a:spLocks/>
                </p:cNvSpPr>
                <p:nvPr/>
              </p:nvSpPr>
              <p:spPr bwMode="auto">
                <a:xfrm>
                  <a:off x="2691" y="2102"/>
                  <a:ext cx="9" cy="8"/>
                </a:xfrm>
                <a:custGeom>
                  <a:avLst/>
                  <a:gdLst>
                    <a:gd name="T0" fmla="*/ 0 w 9"/>
                    <a:gd name="T1" fmla="*/ 8 h 8"/>
                    <a:gd name="T2" fmla="*/ 0 w 9"/>
                    <a:gd name="T3" fmla="*/ 8 h 8"/>
                    <a:gd name="T4" fmla="*/ 0 w 9"/>
                    <a:gd name="T5" fmla="*/ 8 h 8"/>
                    <a:gd name="T6" fmla="*/ 0 w 9"/>
                    <a:gd name="T7" fmla="*/ 8 h 8"/>
                    <a:gd name="T8" fmla="*/ 9 w 9"/>
                    <a:gd name="T9" fmla="*/ 8 h 8"/>
                    <a:gd name="T10" fmla="*/ 8 w 9"/>
                    <a:gd name="T11" fmla="*/ 5 h 8"/>
                    <a:gd name="T12" fmla="*/ 7 w 9"/>
                    <a:gd name="T13" fmla="*/ 2 h 8"/>
                    <a:gd name="T14" fmla="*/ 3 w 9"/>
                    <a:gd name="T15" fmla="*/ 1 h 8"/>
                    <a:gd name="T16" fmla="*/ 0 w 9"/>
                    <a:gd name="T17" fmla="*/ 0 h 8"/>
                    <a:gd name="T18" fmla="*/ 0 w 9"/>
                    <a:gd name="T19" fmla="*/ 8 h 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9"/>
                    <a:gd name="T31" fmla="*/ 0 h 8"/>
                    <a:gd name="T32" fmla="*/ 9 w 9"/>
                    <a:gd name="T33" fmla="*/ 8 h 8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9" h="8">
                      <a:moveTo>
                        <a:pt x="0" y="8"/>
                      </a:moveTo>
                      <a:lnTo>
                        <a:pt x="0" y="8"/>
                      </a:lnTo>
                      <a:lnTo>
                        <a:pt x="9" y="8"/>
                      </a:lnTo>
                      <a:lnTo>
                        <a:pt x="8" y="5"/>
                      </a:lnTo>
                      <a:lnTo>
                        <a:pt x="7" y="2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91" name="Freeform 580"/>
                <p:cNvSpPr>
                  <a:spLocks/>
                </p:cNvSpPr>
                <p:nvPr/>
              </p:nvSpPr>
              <p:spPr bwMode="auto">
                <a:xfrm>
                  <a:off x="2685" y="2102"/>
                  <a:ext cx="7" cy="8"/>
                </a:xfrm>
                <a:custGeom>
                  <a:avLst/>
                  <a:gdLst>
                    <a:gd name="T0" fmla="*/ 7 w 7"/>
                    <a:gd name="T1" fmla="*/ 8 h 8"/>
                    <a:gd name="T2" fmla="*/ 7 w 7"/>
                    <a:gd name="T3" fmla="*/ 8 h 8"/>
                    <a:gd name="T4" fmla="*/ 7 w 7"/>
                    <a:gd name="T5" fmla="*/ 7 h 8"/>
                    <a:gd name="T6" fmla="*/ 6 w 7"/>
                    <a:gd name="T7" fmla="*/ 8 h 8"/>
                    <a:gd name="T8" fmla="*/ 7 w 7"/>
                    <a:gd name="T9" fmla="*/ 8 h 8"/>
                    <a:gd name="T10" fmla="*/ 7 w 7"/>
                    <a:gd name="T11" fmla="*/ 0 h 8"/>
                    <a:gd name="T12" fmla="*/ 4 w 7"/>
                    <a:gd name="T13" fmla="*/ 1 h 8"/>
                    <a:gd name="T14" fmla="*/ 2 w 7"/>
                    <a:gd name="T15" fmla="*/ 2 h 8"/>
                    <a:gd name="T16" fmla="*/ 1 w 7"/>
                    <a:gd name="T17" fmla="*/ 5 h 8"/>
                    <a:gd name="T18" fmla="*/ 0 w 7"/>
                    <a:gd name="T19" fmla="*/ 8 h 8"/>
                    <a:gd name="T20" fmla="*/ 7 w 7"/>
                    <a:gd name="T21" fmla="*/ 8 h 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"/>
                    <a:gd name="T34" fmla="*/ 0 h 8"/>
                    <a:gd name="T35" fmla="*/ 7 w 7"/>
                    <a:gd name="T36" fmla="*/ 8 h 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" h="8">
                      <a:moveTo>
                        <a:pt x="7" y="8"/>
                      </a:moveTo>
                      <a:lnTo>
                        <a:pt x="7" y="8"/>
                      </a:lnTo>
                      <a:lnTo>
                        <a:pt x="7" y="7"/>
                      </a:lnTo>
                      <a:lnTo>
                        <a:pt x="6" y="8"/>
                      </a:lnTo>
                      <a:lnTo>
                        <a:pt x="7" y="8"/>
                      </a:lnTo>
                      <a:lnTo>
                        <a:pt x="7" y="0"/>
                      </a:lnTo>
                      <a:lnTo>
                        <a:pt x="4" y="1"/>
                      </a:lnTo>
                      <a:lnTo>
                        <a:pt x="2" y="2"/>
                      </a:lnTo>
                      <a:lnTo>
                        <a:pt x="1" y="5"/>
                      </a:lnTo>
                      <a:lnTo>
                        <a:pt x="0" y="8"/>
                      </a:lnTo>
                      <a:lnTo>
                        <a:pt x="7" y="8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92" name="Freeform 581"/>
                <p:cNvSpPr>
                  <a:spLocks/>
                </p:cNvSpPr>
                <p:nvPr/>
              </p:nvSpPr>
              <p:spPr bwMode="auto">
                <a:xfrm>
                  <a:off x="2685" y="2110"/>
                  <a:ext cx="7" cy="7"/>
                </a:xfrm>
                <a:custGeom>
                  <a:avLst/>
                  <a:gdLst>
                    <a:gd name="T0" fmla="*/ 7 w 7"/>
                    <a:gd name="T1" fmla="*/ 0 h 7"/>
                    <a:gd name="T2" fmla="*/ 7 w 7"/>
                    <a:gd name="T3" fmla="*/ 0 h 7"/>
                    <a:gd name="T4" fmla="*/ 6 w 7"/>
                    <a:gd name="T5" fmla="*/ 0 h 7"/>
                    <a:gd name="T6" fmla="*/ 7 w 7"/>
                    <a:gd name="T7" fmla="*/ 1 h 7"/>
                    <a:gd name="T8" fmla="*/ 7 w 7"/>
                    <a:gd name="T9" fmla="*/ 0 h 7"/>
                    <a:gd name="T10" fmla="*/ 0 w 7"/>
                    <a:gd name="T11" fmla="*/ 0 h 7"/>
                    <a:gd name="T12" fmla="*/ 1 w 7"/>
                    <a:gd name="T13" fmla="*/ 3 h 7"/>
                    <a:gd name="T14" fmla="*/ 2 w 7"/>
                    <a:gd name="T15" fmla="*/ 5 h 7"/>
                    <a:gd name="T16" fmla="*/ 4 w 7"/>
                    <a:gd name="T17" fmla="*/ 6 h 7"/>
                    <a:gd name="T18" fmla="*/ 7 w 7"/>
                    <a:gd name="T19" fmla="*/ 7 h 7"/>
                    <a:gd name="T20" fmla="*/ 7 w 7"/>
                    <a:gd name="T21" fmla="*/ 0 h 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"/>
                    <a:gd name="T34" fmla="*/ 0 h 7"/>
                    <a:gd name="T35" fmla="*/ 7 w 7"/>
                    <a:gd name="T36" fmla="*/ 7 h 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" h="7">
                      <a:moveTo>
                        <a:pt x="7" y="0"/>
                      </a:moveTo>
                      <a:lnTo>
                        <a:pt x="7" y="0"/>
                      </a:lnTo>
                      <a:lnTo>
                        <a:pt x="6" y="0"/>
                      </a:lnTo>
                      <a:lnTo>
                        <a:pt x="7" y="1"/>
                      </a:lnTo>
                      <a:lnTo>
                        <a:pt x="7" y="0"/>
                      </a:lnTo>
                      <a:lnTo>
                        <a:pt x="0" y="0"/>
                      </a:lnTo>
                      <a:lnTo>
                        <a:pt x="1" y="3"/>
                      </a:lnTo>
                      <a:lnTo>
                        <a:pt x="2" y="5"/>
                      </a:lnTo>
                      <a:lnTo>
                        <a:pt x="4" y="6"/>
                      </a:lnTo>
                      <a:lnTo>
                        <a:pt x="7" y="7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93" name="Freeform 582"/>
                <p:cNvSpPr>
                  <a:spLocks/>
                </p:cNvSpPr>
                <p:nvPr/>
              </p:nvSpPr>
              <p:spPr bwMode="auto">
                <a:xfrm>
                  <a:off x="2625" y="1887"/>
                  <a:ext cx="131" cy="166"/>
                </a:xfrm>
                <a:custGeom>
                  <a:avLst/>
                  <a:gdLst>
                    <a:gd name="T0" fmla="*/ 89 w 131"/>
                    <a:gd name="T1" fmla="*/ 154 h 166"/>
                    <a:gd name="T2" fmla="*/ 94 w 131"/>
                    <a:gd name="T3" fmla="*/ 135 h 166"/>
                    <a:gd name="T4" fmla="*/ 102 w 131"/>
                    <a:gd name="T5" fmla="*/ 122 h 166"/>
                    <a:gd name="T6" fmla="*/ 110 w 131"/>
                    <a:gd name="T7" fmla="*/ 115 h 166"/>
                    <a:gd name="T8" fmla="*/ 117 w 131"/>
                    <a:gd name="T9" fmla="*/ 107 h 166"/>
                    <a:gd name="T10" fmla="*/ 124 w 131"/>
                    <a:gd name="T11" fmla="*/ 97 h 166"/>
                    <a:gd name="T12" fmla="*/ 128 w 131"/>
                    <a:gd name="T13" fmla="*/ 85 h 166"/>
                    <a:gd name="T14" fmla="*/ 131 w 131"/>
                    <a:gd name="T15" fmla="*/ 72 h 166"/>
                    <a:gd name="T16" fmla="*/ 131 w 131"/>
                    <a:gd name="T17" fmla="*/ 58 h 166"/>
                    <a:gd name="T18" fmla="*/ 128 w 131"/>
                    <a:gd name="T19" fmla="*/ 47 h 166"/>
                    <a:gd name="T20" fmla="*/ 124 w 131"/>
                    <a:gd name="T21" fmla="*/ 34 h 166"/>
                    <a:gd name="T22" fmla="*/ 116 w 131"/>
                    <a:gd name="T23" fmla="*/ 24 h 166"/>
                    <a:gd name="T24" fmla="*/ 108 w 131"/>
                    <a:gd name="T25" fmla="*/ 14 h 166"/>
                    <a:gd name="T26" fmla="*/ 97 w 131"/>
                    <a:gd name="T27" fmla="*/ 8 h 166"/>
                    <a:gd name="T28" fmla="*/ 85 w 131"/>
                    <a:gd name="T29" fmla="*/ 3 h 166"/>
                    <a:gd name="T30" fmla="*/ 73 w 131"/>
                    <a:gd name="T31" fmla="*/ 0 h 166"/>
                    <a:gd name="T32" fmla="*/ 59 w 131"/>
                    <a:gd name="T33" fmla="*/ 0 h 166"/>
                    <a:gd name="T34" fmla="*/ 46 w 131"/>
                    <a:gd name="T35" fmla="*/ 3 h 166"/>
                    <a:gd name="T36" fmla="*/ 34 w 131"/>
                    <a:gd name="T37" fmla="*/ 8 h 166"/>
                    <a:gd name="T38" fmla="*/ 23 w 131"/>
                    <a:gd name="T39" fmla="*/ 14 h 166"/>
                    <a:gd name="T40" fmla="*/ 15 w 131"/>
                    <a:gd name="T41" fmla="*/ 24 h 166"/>
                    <a:gd name="T42" fmla="*/ 8 w 131"/>
                    <a:gd name="T43" fmla="*/ 34 h 166"/>
                    <a:gd name="T44" fmla="*/ 3 w 131"/>
                    <a:gd name="T45" fmla="*/ 47 h 166"/>
                    <a:gd name="T46" fmla="*/ 0 w 131"/>
                    <a:gd name="T47" fmla="*/ 58 h 166"/>
                    <a:gd name="T48" fmla="*/ 0 w 131"/>
                    <a:gd name="T49" fmla="*/ 72 h 166"/>
                    <a:gd name="T50" fmla="*/ 3 w 131"/>
                    <a:gd name="T51" fmla="*/ 85 h 166"/>
                    <a:gd name="T52" fmla="*/ 7 w 131"/>
                    <a:gd name="T53" fmla="*/ 97 h 166"/>
                    <a:gd name="T54" fmla="*/ 15 w 131"/>
                    <a:gd name="T55" fmla="*/ 107 h 166"/>
                    <a:gd name="T56" fmla="*/ 21 w 131"/>
                    <a:gd name="T57" fmla="*/ 115 h 166"/>
                    <a:gd name="T58" fmla="*/ 29 w 131"/>
                    <a:gd name="T59" fmla="*/ 122 h 166"/>
                    <a:gd name="T60" fmla="*/ 37 w 131"/>
                    <a:gd name="T61" fmla="*/ 135 h 166"/>
                    <a:gd name="T62" fmla="*/ 43 w 131"/>
                    <a:gd name="T63" fmla="*/ 154 h 166"/>
                    <a:gd name="T64" fmla="*/ 87 w 131"/>
                    <a:gd name="T65" fmla="*/ 166 h 16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31"/>
                    <a:gd name="T100" fmla="*/ 0 h 166"/>
                    <a:gd name="T101" fmla="*/ 131 w 131"/>
                    <a:gd name="T102" fmla="*/ 166 h 16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31" h="166">
                      <a:moveTo>
                        <a:pt x="87" y="166"/>
                      </a:moveTo>
                      <a:lnTo>
                        <a:pt x="89" y="154"/>
                      </a:lnTo>
                      <a:lnTo>
                        <a:pt x="91" y="144"/>
                      </a:lnTo>
                      <a:lnTo>
                        <a:pt x="94" y="135"/>
                      </a:lnTo>
                      <a:lnTo>
                        <a:pt x="98" y="129"/>
                      </a:lnTo>
                      <a:lnTo>
                        <a:pt x="102" y="122"/>
                      </a:lnTo>
                      <a:lnTo>
                        <a:pt x="107" y="118"/>
                      </a:lnTo>
                      <a:lnTo>
                        <a:pt x="110" y="115"/>
                      </a:lnTo>
                      <a:lnTo>
                        <a:pt x="113" y="112"/>
                      </a:lnTo>
                      <a:lnTo>
                        <a:pt x="117" y="107"/>
                      </a:lnTo>
                      <a:lnTo>
                        <a:pt x="121" y="102"/>
                      </a:lnTo>
                      <a:lnTo>
                        <a:pt x="124" y="97"/>
                      </a:lnTo>
                      <a:lnTo>
                        <a:pt x="126" y="91"/>
                      </a:lnTo>
                      <a:lnTo>
                        <a:pt x="128" y="85"/>
                      </a:lnTo>
                      <a:lnTo>
                        <a:pt x="130" y="79"/>
                      </a:lnTo>
                      <a:lnTo>
                        <a:pt x="131" y="72"/>
                      </a:lnTo>
                      <a:lnTo>
                        <a:pt x="131" y="66"/>
                      </a:lnTo>
                      <a:lnTo>
                        <a:pt x="131" y="58"/>
                      </a:lnTo>
                      <a:lnTo>
                        <a:pt x="130" y="52"/>
                      </a:lnTo>
                      <a:lnTo>
                        <a:pt x="128" y="47"/>
                      </a:lnTo>
                      <a:lnTo>
                        <a:pt x="126" y="40"/>
                      </a:lnTo>
                      <a:lnTo>
                        <a:pt x="124" y="34"/>
                      </a:lnTo>
                      <a:lnTo>
                        <a:pt x="120" y="28"/>
                      </a:lnTo>
                      <a:lnTo>
                        <a:pt x="116" y="24"/>
                      </a:lnTo>
                      <a:lnTo>
                        <a:pt x="112" y="19"/>
                      </a:lnTo>
                      <a:lnTo>
                        <a:pt x="108" y="14"/>
                      </a:lnTo>
                      <a:lnTo>
                        <a:pt x="102" y="11"/>
                      </a:lnTo>
                      <a:lnTo>
                        <a:pt x="97" y="8"/>
                      </a:lnTo>
                      <a:lnTo>
                        <a:pt x="91" y="5"/>
                      </a:lnTo>
                      <a:lnTo>
                        <a:pt x="85" y="3"/>
                      </a:lnTo>
                      <a:lnTo>
                        <a:pt x="79" y="1"/>
                      </a:lnTo>
                      <a:lnTo>
                        <a:pt x="73" y="0"/>
                      </a:lnTo>
                      <a:lnTo>
                        <a:pt x="66" y="0"/>
                      </a:lnTo>
                      <a:lnTo>
                        <a:pt x="59" y="0"/>
                      </a:lnTo>
                      <a:lnTo>
                        <a:pt x="52" y="1"/>
                      </a:lnTo>
                      <a:lnTo>
                        <a:pt x="46" y="3"/>
                      </a:lnTo>
                      <a:lnTo>
                        <a:pt x="40" y="5"/>
                      </a:lnTo>
                      <a:lnTo>
                        <a:pt x="34" y="8"/>
                      </a:lnTo>
                      <a:lnTo>
                        <a:pt x="29" y="11"/>
                      </a:lnTo>
                      <a:lnTo>
                        <a:pt x="23" y="14"/>
                      </a:lnTo>
                      <a:lnTo>
                        <a:pt x="19" y="19"/>
                      </a:lnTo>
                      <a:lnTo>
                        <a:pt x="15" y="24"/>
                      </a:lnTo>
                      <a:lnTo>
                        <a:pt x="12" y="28"/>
                      </a:lnTo>
                      <a:lnTo>
                        <a:pt x="8" y="34"/>
                      </a:lnTo>
                      <a:lnTo>
                        <a:pt x="5" y="40"/>
                      </a:lnTo>
                      <a:lnTo>
                        <a:pt x="3" y="47"/>
                      </a:lnTo>
                      <a:lnTo>
                        <a:pt x="1" y="52"/>
                      </a:lnTo>
                      <a:lnTo>
                        <a:pt x="0" y="58"/>
                      </a:lnTo>
                      <a:lnTo>
                        <a:pt x="0" y="66"/>
                      </a:lnTo>
                      <a:lnTo>
                        <a:pt x="0" y="72"/>
                      </a:lnTo>
                      <a:lnTo>
                        <a:pt x="1" y="79"/>
                      </a:lnTo>
                      <a:lnTo>
                        <a:pt x="3" y="85"/>
                      </a:lnTo>
                      <a:lnTo>
                        <a:pt x="5" y="91"/>
                      </a:lnTo>
                      <a:lnTo>
                        <a:pt x="7" y="97"/>
                      </a:lnTo>
                      <a:lnTo>
                        <a:pt x="11" y="102"/>
                      </a:lnTo>
                      <a:lnTo>
                        <a:pt x="15" y="107"/>
                      </a:lnTo>
                      <a:lnTo>
                        <a:pt x="18" y="112"/>
                      </a:lnTo>
                      <a:lnTo>
                        <a:pt x="21" y="115"/>
                      </a:lnTo>
                      <a:lnTo>
                        <a:pt x="24" y="118"/>
                      </a:lnTo>
                      <a:lnTo>
                        <a:pt x="29" y="122"/>
                      </a:lnTo>
                      <a:lnTo>
                        <a:pt x="33" y="129"/>
                      </a:lnTo>
                      <a:lnTo>
                        <a:pt x="37" y="135"/>
                      </a:lnTo>
                      <a:lnTo>
                        <a:pt x="40" y="144"/>
                      </a:lnTo>
                      <a:lnTo>
                        <a:pt x="43" y="154"/>
                      </a:lnTo>
                      <a:lnTo>
                        <a:pt x="44" y="166"/>
                      </a:lnTo>
                      <a:lnTo>
                        <a:pt x="87" y="16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94" name="Freeform 583"/>
                <p:cNvSpPr>
                  <a:spLocks/>
                </p:cNvSpPr>
                <p:nvPr/>
              </p:nvSpPr>
              <p:spPr bwMode="auto">
                <a:xfrm>
                  <a:off x="2704" y="1992"/>
                  <a:ext cx="41" cy="61"/>
                </a:xfrm>
                <a:custGeom>
                  <a:avLst/>
                  <a:gdLst>
                    <a:gd name="T0" fmla="*/ 28 w 41"/>
                    <a:gd name="T1" fmla="*/ 0 h 61"/>
                    <a:gd name="T2" fmla="*/ 28 w 41"/>
                    <a:gd name="T3" fmla="*/ 0 h 61"/>
                    <a:gd name="T4" fmla="*/ 26 w 41"/>
                    <a:gd name="T5" fmla="*/ 3 h 61"/>
                    <a:gd name="T6" fmla="*/ 21 w 41"/>
                    <a:gd name="T7" fmla="*/ 7 h 61"/>
                    <a:gd name="T8" fmla="*/ 17 w 41"/>
                    <a:gd name="T9" fmla="*/ 12 h 61"/>
                    <a:gd name="T10" fmla="*/ 12 w 41"/>
                    <a:gd name="T11" fmla="*/ 18 h 61"/>
                    <a:gd name="T12" fmla="*/ 7 w 41"/>
                    <a:gd name="T13" fmla="*/ 27 h 61"/>
                    <a:gd name="T14" fmla="*/ 3 w 41"/>
                    <a:gd name="T15" fmla="*/ 37 h 61"/>
                    <a:gd name="T16" fmla="*/ 1 w 41"/>
                    <a:gd name="T17" fmla="*/ 48 h 61"/>
                    <a:gd name="T18" fmla="*/ 0 w 41"/>
                    <a:gd name="T19" fmla="*/ 61 h 61"/>
                    <a:gd name="T20" fmla="*/ 18 w 41"/>
                    <a:gd name="T21" fmla="*/ 61 h 61"/>
                    <a:gd name="T22" fmla="*/ 18 w 41"/>
                    <a:gd name="T23" fmla="*/ 50 h 61"/>
                    <a:gd name="T24" fmla="*/ 20 w 41"/>
                    <a:gd name="T25" fmla="*/ 41 h 61"/>
                    <a:gd name="T26" fmla="*/ 23 w 41"/>
                    <a:gd name="T27" fmla="*/ 34 h 61"/>
                    <a:gd name="T28" fmla="*/ 27 w 41"/>
                    <a:gd name="T29" fmla="*/ 28 h 61"/>
                    <a:gd name="T30" fmla="*/ 31 w 41"/>
                    <a:gd name="T31" fmla="*/ 23 h 61"/>
                    <a:gd name="T32" fmla="*/ 34 w 41"/>
                    <a:gd name="T33" fmla="*/ 20 h 61"/>
                    <a:gd name="T34" fmla="*/ 37 w 41"/>
                    <a:gd name="T35" fmla="*/ 15 h 61"/>
                    <a:gd name="T36" fmla="*/ 41 w 41"/>
                    <a:gd name="T37" fmla="*/ 13 h 61"/>
                    <a:gd name="T38" fmla="*/ 28 w 41"/>
                    <a:gd name="T39" fmla="*/ 0 h 61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41"/>
                    <a:gd name="T61" fmla="*/ 0 h 61"/>
                    <a:gd name="T62" fmla="*/ 41 w 41"/>
                    <a:gd name="T63" fmla="*/ 61 h 61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41" h="61">
                      <a:moveTo>
                        <a:pt x="28" y="0"/>
                      </a:moveTo>
                      <a:lnTo>
                        <a:pt x="28" y="0"/>
                      </a:lnTo>
                      <a:lnTo>
                        <a:pt x="26" y="3"/>
                      </a:lnTo>
                      <a:lnTo>
                        <a:pt x="21" y="7"/>
                      </a:lnTo>
                      <a:lnTo>
                        <a:pt x="17" y="12"/>
                      </a:lnTo>
                      <a:lnTo>
                        <a:pt x="12" y="18"/>
                      </a:lnTo>
                      <a:lnTo>
                        <a:pt x="7" y="27"/>
                      </a:lnTo>
                      <a:lnTo>
                        <a:pt x="3" y="37"/>
                      </a:lnTo>
                      <a:lnTo>
                        <a:pt x="1" y="48"/>
                      </a:lnTo>
                      <a:lnTo>
                        <a:pt x="0" y="61"/>
                      </a:lnTo>
                      <a:lnTo>
                        <a:pt x="18" y="61"/>
                      </a:lnTo>
                      <a:lnTo>
                        <a:pt x="18" y="50"/>
                      </a:lnTo>
                      <a:lnTo>
                        <a:pt x="20" y="41"/>
                      </a:lnTo>
                      <a:lnTo>
                        <a:pt x="23" y="34"/>
                      </a:lnTo>
                      <a:lnTo>
                        <a:pt x="27" y="28"/>
                      </a:lnTo>
                      <a:lnTo>
                        <a:pt x="31" y="23"/>
                      </a:lnTo>
                      <a:lnTo>
                        <a:pt x="34" y="20"/>
                      </a:lnTo>
                      <a:lnTo>
                        <a:pt x="37" y="15"/>
                      </a:lnTo>
                      <a:lnTo>
                        <a:pt x="41" y="13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95" name="Freeform 584"/>
                <p:cNvSpPr>
                  <a:spLocks/>
                </p:cNvSpPr>
                <p:nvPr/>
              </p:nvSpPr>
              <p:spPr bwMode="auto">
                <a:xfrm>
                  <a:off x="2733" y="1953"/>
                  <a:ext cx="33" cy="52"/>
                </a:xfrm>
                <a:custGeom>
                  <a:avLst/>
                  <a:gdLst>
                    <a:gd name="T0" fmla="*/ 15 w 33"/>
                    <a:gd name="T1" fmla="*/ 0 h 52"/>
                    <a:gd name="T2" fmla="*/ 15 w 33"/>
                    <a:gd name="T3" fmla="*/ 0 h 52"/>
                    <a:gd name="T4" fmla="*/ 15 w 33"/>
                    <a:gd name="T5" fmla="*/ 5 h 52"/>
                    <a:gd name="T6" fmla="*/ 14 w 33"/>
                    <a:gd name="T7" fmla="*/ 12 h 52"/>
                    <a:gd name="T8" fmla="*/ 13 w 33"/>
                    <a:gd name="T9" fmla="*/ 17 h 52"/>
                    <a:gd name="T10" fmla="*/ 10 w 33"/>
                    <a:gd name="T11" fmla="*/ 22 h 52"/>
                    <a:gd name="T12" fmla="*/ 9 w 33"/>
                    <a:gd name="T13" fmla="*/ 26 h 52"/>
                    <a:gd name="T14" fmla="*/ 6 w 33"/>
                    <a:gd name="T15" fmla="*/ 32 h 52"/>
                    <a:gd name="T16" fmla="*/ 3 w 33"/>
                    <a:gd name="T17" fmla="*/ 36 h 52"/>
                    <a:gd name="T18" fmla="*/ 0 w 33"/>
                    <a:gd name="T19" fmla="*/ 39 h 52"/>
                    <a:gd name="T20" fmla="*/ 12 w 33"/>
                    <a:gd name="T21" fmla="*/ 52 h 52"/>
                    <a:gd name="T22" fmla="*/ 17 w 33"/>
                    <a:gd name="T23" fmla="*/ 47 h 52"/>
                    <a:gd name="T24" fmla="*/ 21 w 33"/>
                    <a:gd name="T25" fmla="*/ 41 h 52"/>
                    <a:gd name="T26" fmla="*/ 24 w 33"/>
                    <a:gd name="T27" fmla="*/ 35 h 52"/>
                    <a:gd name="T28" fmla="*/ 28 w 33"/>
                    <a:gd name="T29" fmla="*/ 29 h 52"/>
                    <a:gd name="T30" fmla="*/ 30 w 33"/>
                    <a:gd name="T31" fmla="*/ 21 h 52"/>
                    <a:gd name="T32" fmla="*/ 31 w 33"/>
                    <a:gd name="T33" fmla="*/ 15 h 52"/>
                    <a:gd name="T34" fmla="*/ 32 w 33"/>
                    <a:gd name="T35" fmla="*/ 7 h 52"/>
                    <a:gd name="T36" fmla="*/ 33 w 33"/>
                    <a:gd name="T37" fmla="*/ 0 h 52"/>
                    <a:gd name="T38" fmla="*/ 15 w 33"/>
                    <a:gd name="T39" fmla="*/ 0 h 52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33"/>
                    <a:gd name="T61" fmla="*/ 0 h 52"/>
                    <a:gd name="T62" fmla="*/ 33 w 33"/>
                    <a:gd name="T63" fmla="*/ 52 h 52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33" h="52">
                      <a:moveTo>
                        <a:pt x="15" y="0"/>
                      </a:moveTo>
                      <a:lnTo>
                        <a:pt x="15" y="0"/>
                      </a:lnTo>
                      <a:lnTo>
                        <a:pt x="15" y="5"/>
                      </a:lnTo>
                      <a:lnTo>
                        <a:pt x="14" y="12"/>
                      </a:lnTo>
                      <a:lnTo>
                        <a:pt x="13" y="17"/>
                      </a:lnTo>
                      <a:lnTo>
                        <a:pt x="10" y="22"/>
                      </a:lnTo>
                      <a:lnTo>
                        <a:pt x="9" y="26"/>
                      </a:lnTo>
                      <a:lnTo>
                        <a:pt x="6" y="32"/>
                      </a:lnTo>
                      <a:lnTo>
                        <a:pt x="3" y="36"/>
                      </a:lnTo>
                      <a:lnTo>
                        <a:pt x="0" y="39"/>
                      </a:lnTo>
                      <a:lnTo>
                        <a:pt x="12" y="52"/>
                      </a:lnTo>
                      <a:lnTo>
                        <a:pt x="17" y="47"/>
                      </a:lnTo>
                      <a:lnTo>
                        <a:pt x="21" y="41"/>
                      </a:lnTo>
                      <a:lnTo>
                        <a:pt x="24" y="35"/>
                      </a:lnTo>
                      <a:lnTo>
                        <a:pt x="28" y="29"/>
                      </a:lnTo>
                      <a:lnTo>
                        <a:pt x="30" y="21"/>
                      </a:lnTo>
                      <a:lnTo>
                        <a:pt x="31" y="15"/>
                      </a:lnTo>
                      <a:lnTo>
                        <a:pt x="32" y="7"/>
                      </a:lnTo>
                      <a:lnTo>
                        <a:pt x="33" y="0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96" name="Freeform 585"/>
                <p:cNvSpPr>
                  <a:spLocks/>
                </p:cNvSpPr>
                <p:nvPr/>
              </p:nvSpPr>
              <p:spPr bwMode="auto">
                <a:xfrm>
                  <a:off x="2691" y="1878"/>
                  <a:ext cx="75" cy="75"/>
                </a:xfrm>
                <a:custGeom>
                  <a:avLst/>
                  <a:gdLst>
                    <a:gd name="T0" fmla="*/ 0 w 75"/>
                    <a:gd name="T1" fmla="*/ 18 h 75"/>
                    <a:gd name="T2" fmla="*/ 0 w 75"/>
                    <a:gd name="T3" fmla="*/ 18 h 75"/>
                    <a:gd name="T4" fmla="*/ 7 w 75"/>
                    <a:gd name="T5" fmla="*/ 18 h 75"/>
                    <a:gd name="T6" fmla="*/ 12 w 75"/>
                    <a:gd name="T7" fmla="*/ 19 h 75"/>
                    <a:gd name="T8" fmla="*/ 17 w 75"/>
                    <a:gd name="T9" fmla="*/ 20 h 75"/>
                    <a:gd name="T10" fmla="*/ 21 w 75"/>
                    <a:gd name="T11" fmla="*/ 22 h 75"/>
                    <a:gd name="T12" fmla="*/ 27 w 75"/>
                    <a:gd name="T13" fmla="*/ 25 h 75"/>
                    <a:gd name="T14" fmla="*/ 32 w 75"/>
                    <a:gd name="T15" fmla="*/ 28 h 75"/>
                    <a:gd name="T16" fmla="*/ 36 w 75"/>
                    <a:gd name="T17" fmla="*/ 31 h 75"/>
                    <a:gd name="T18" fmla="*/ 41 w 75"/>
                    <a:gd name="T19" fmla="*/ 34 h 75"/>
                    <a:gd name="T20" fmla="*/ 44 w 75"/>
                    <a:gd name="T21" fmla="*/ 38 h 75"/>
                    <a:gd name="T22" fmla="*/ 47 w 75"/>
                    <a:gd name="T23" fmla="*/ 43 h 75"/>
                    <a:gd name="T24" fmla="*/ 50 w 75"/>
                    <a:gd name="T25" fmla="*/ 47 h 75"/>
                    <a:gd name="T26" fmla="*/ 52 w 75"/>
                    <a:gd name="T27" fmla="*/ 52 h 75"/>
                    <a:gd name="T28" fmla="*/ 55 w 75"/>
                    <a:gd name="T29" fmla="*/ 58 h 75"/>
                    <a:gd name="T30" fmla="*/ 56 w 75"/>
                    <a:gd name="T31" fmla="*/ 63 h 75"/>
                    <a:gd name="T32" fmla="*/ 57 w 75"/>
                    <a:gd name="T33" fmla="*/ 68 h 75"/>
                    <a:gd name="T34" fmla="*/ 57 w 75"/>
                    <a:gd name="T35" fmla="*/ 75 h 75"/>
                    <a:gd name="T36" fmla="*/ 75 w 75"/>
                    <a:gd name="T37" fmla="*/ 75 h 75"/>
                    <a:gd name="T38" fmla="*/ 74 w 75"/>
                    <a:gd name="T39" fmla="*/ 67 h 75"/>
                    <a:gd name="T40" fmla="*/ 73 w 75"/>
                    <a:gd name="T41" fmla="*/ 60 h 75"/>
                    <a:gd name="T42" fmla="*/ 72 w 75"/>
                    <a:gd name="T43" fmla="*/ 52 h 75"/>
                    <a:gd name="T44" fmla="*/ 69 w 75"/>
                    <a:gd name="T45" fmla="*/ 46 h 75"/>
                    <a:gd name="T46" fmla="*/ 65 w 75"/>
                    <a:gd name="T47" fmla="*/ 39 h 75"/>
                    <a:gd name="T48" fmla="*/ 62 w 75"/>
                    <a:gd name="T49" fmla="*/ 33 h 75"/>
                    <a:gd name="T50" fmla="*/ 58 w 75"/>
                    <a:gd name="T51" fmla="*/ 28 h 75"/>
                    <a:gd name="T52" fmla="*/ 52 w 75"/>
                    <a:gd name="T53" fmla="*/ 22 h 75"/>
                    <a:gd name="T54" fmla="*/ 47 w 75"/>
                    <a:gd name="T55" fmla="*/ 17 h 75"/>
                    <a:gd name="T56" fmla="*/ 42 w 75"/>
                    <a:gd name="T57" fmla="*/ 13 h 75"/>
                    <a:gd name="T58" fmla="*/ 35 w 75"/>
                    <a:gd name="T59" fmla="*/ 10 h 75"/>
                    <a:gd name="T60" fmla="*/ 29 w 75"/>
                    <a:gd name="T61" fmla="*/ 6 h 75"/>
                    <a:gd name="T62" fmla="*/ 23 w 75"/>
                    <a:gd name="T63" fmla="*/ 3 h 75"/>
                    <a:gd name="T64" fmla="*/ 15 w 75"/>
                    <a:gd name="T65" fmla="*/ 1 h 75"/>
                    <a:gd name="T66" fmla="*/ 8 w 75"/>
                    <a:gd name="T67" fmla="*/ 1 h 75"/>
                    <a:gd name="T68" fmla="*/ 0 w 75"/>
                    <a:gd name="T69" fmla="*/ 0 h 75"/>
                    <a:gd name="T70" fmla="*/ 0 w 75"/>
                    <a:gd name="T71" fmla="*/ 18 h 75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75"/>
                    <a:gd name="T109" fmla="*/ 0 h 75"/>
                    <a:gd name="T110" fmla="*/ 75 w 75"/>
                    <a:gd name="T111" fmla="*/ 75 h 75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75" h="75">
                      <a:moveTo>
                        <a:pt x="0" y="18"/>
                      </a:moveTo>
                      <a:lnTo>
                        <a:pt x="0" y="18"/>
                      </a:lnTo>
                      <a:lnTo>
                        <a:pt x="7" y="18"/>
                      </a:lnTo>
                      <a:lnTo>
                        <a:pt x="12" y="19"/>
                      </a:lnTo>
                      <a:lnTo>
                        <a:pt x="17" y="20"/>
                      </a:lnTo>
                      <a:lnTo>
                        <a:pt x="21" y="22"/>
                      </a:lnTo>
                      <a:lnTo>
                        <a:pt x="27" y="25"/>
                      </a:lnTo>
                      <a:lnTo>
                        <a:pt x="32" y="28"/>
                      </a:lnTo>
                      <a:lnTo>
                        <a:pt x="36" y="31"/>
                      </a:lnTo>
                      <a:lnTo>
                        <a:pt x="41" y="34"/>
                      </a:lnTo>
                      <a:lnTo>
                        <a:pt x="44" y="38"/>
                      </a:lnTo>
                      <a:lnTo>
                        <a:pt x="47" y="43"/>
                      </a:lnTo>
                      <a:lnTo>
                        <a:pt x="50" y="47"/>
                      </a:lnTo>
                      <a:lnTo>
                        <a:pt x="52" y="52"/>
                      </a:lnTo>
                      <a:lnTo>
                        <a:pt x="55" y="58"/>
                      </a:lnTo>
                      <a:lnTo>
                        <a:pt x="56" y="63"/>
                      </a:lnTo>
                      <a:lnTo>
                        <a:pt x="57" y="68"/>
                      </a:lnTo>
                      <a:lnTo>
                        <a:pt x="57" y="75"/>
                      </a:lnTo>
                      <a:lnTo>
                        <a:pt x="75" y="75"/>
                      </a:lnTo>
                      <a:lnTo>
                        <a:pt x="74" y="67"/>
                      </a:lnTo>
                      <a:lnTo>
                        <a:pt x="73" y="60"/>
                      </a:lnTo>
                      <a:lnTo>
                        <a:pt x="72" y="52"/>
                      </a:lnTo>
                      <a:lnTo>
                        <a:pt x="69" y="46"/>
                      </a:lnTo>
                      <a:lnTo>
                        <a:pt x="65" y="39"/>
                      </a:lnTo>
                      <a:lnTo>
                        <a:pt x="62" y="33"/>
                      </a:lnTo>
                      <a:lnTo>
                        <a:pt x="58" y="28"/>
                      </a:lnTo>
                      <a:lnTo>
                        <a:pt x="52" y="22"/>
                      </a:lnTo>
                      <a:lnTo>
                        <a:pt x="47" y="17"/>
                      </a:lnTo>
                      <a:lnTo>
                        <a:pt x="42" y="13"/>
                      </a:lnTo>
                      <a:lnTo>
                        <a:pt x="35" y="10"/>
                      </a:lnTo>
                      <a:lnTo>
                        <a:pt x="29" y="6"/>
                      </a:lnTo>
                      <a:lnTo>
                        <a:pt x="23" y="3"/>
                      </a:lnTo>
                      <a:lnTo>
                        <a:pt x="15" y="1"/>
                      </a:lnTo>
                      <a:lnTo>
                        <a:pt x="8" y="1"/>
                      </a:lnTo>
                      <a:lnTo>
                        <a:pt x="0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97" name="Freeform 586"/>
                <p:cNvSpPr>
                  <a:spLocks/>
                </p:cNvSpPr>
                <p:nvPr/>
              </p:nvSpPr>
              <p:spPr bwMode="auto">
                <a:xfrm>
                  <a:off x="2616" y="1878"/>
                  <a:ext cx="75" cy="75"/>
                </a:xfrm>
                <a:custGeom>
                  <a:avLst/>
                  <a:gdLst>
                    <a:gd name="T0" fmla="*/ 18 w 75"/>
                    <a:gd name="T1" fmla="*/ 75 h 75"/>
                    <a:gd name="T2" fmla="*/ 18 w 75"/>
                    <a:gd name="T3" fmla="*/ 75 h 75"/>
                    <a:gd name="T4" fmla="*/ 18 w 75"/>
                    <a:gd name="T5" fmla="*/ 68 h 75"/>
                    <a:gd name="T6" fmla="*/ 20 w 75"/>
                    <a:gd name="T7" fmla="*/ 63 h 75"/>
                    <a:gd name="T8" fmla="*/ 21 w 75"/>
                    <a:gd name="T9" fmla="*/ 58 h 75"/>
                    <a:gd name="T10" fmla="*/ 23 w 75"/>
                    <a:gd name="T11" fmla="*/ 52 h 75"/>
                    <a:gd name="T12" fmla="*/ 25 w 75"/>
                    <a:gd name="T13" fmla="*/ 47 h 75"/>
                    <a:gd name="T14" fmla="*/ 28 w 75"/>
                    <a:gd name="T15" fmla="*/ 43 h 75"/>
                    <a:gd name="T16" fmla="*/ 31 w 75"/>
                    <a:gd name="T17" fmla="*/ 38 h 75"/>
                    <a:gd name="T18" fmla="*/ 36 w 75"/>
                    <a:gd name="T19" fmla="*/ 34 h 75"/>
                    <a:gd name="T20" fmla="*/ 39 w 75"/>
                    <a:gd name="T21" fmla="*/ 31 h 75"/>
                    <a:gd name="T22" fmla="*/ 43 w 75"/>
                    <a:gd name="T23" fmla="*/ 28 h 75"/>
                    <a:gd name="T24" fmla="*/ 48 w 75"/>
                    <a:gd name="T25" fmla="*/ 25 h 75"/>
                    <a:gd name="T26" fmla="*/ 53 w 75"/>
                    <a:gd name="T27" fmla="*/ 22 h 75"/>
                    <a:gd name="T28" fmla="*/ 58 w 75"/>
                    <a:gd name="T29" fmla="*/ 20 h 75"/>
                    <a:gd name="T30" fmla="*/ 63 w 75"/>
                    <a:gd name="T31" fmla="*/ 19 h 75"/>
                    <a:gd name="T32" fmla="*/ 69 w 75"/>
                    <a:gd name="T33" fmla="*/ 18 h 75"/>
                    <a:gd name="T34" fmla="*/ 75 w 75"/>
                    <a:gd name="T35" fmla="*/ 18 h 75"/>
                    <a:gd name="T36" fmla="*/ 75 w 75"/>
                    <a:gd name="T37" fmla="*/ 0 h 75"/>
                    <a:gd name="T38" fmla="*/ 68 w 75"/>
                    <a:gd name="T39" fmla="*/ 1 h 75"/>
                    <a:gd name="T40" fmla="*/ 60 w 75"/>
                    <a:gd name="T41" fmla="*/ 1 h 75"/>
                    <a:gd name="T42" fmla="*/ 53 w 75"/>
                    <a:gd name="T43" fmla="*/ 3 h 75"/>
                    <a:gd name="T44" fmla="*/ 46 w 75"/>
                    <a:gd name="T45" fmla="*/ 6 h 75"/>
                    <a:gd name="T46" fmla="*/ 40 w 75"/>
                    <a:gd name="T47" fmla="*/ 10 h 75"/>
                    <a:gd name="T48" fmla="*/ 33 w 75"/>
                    <a:gd name="T49" fmla="*/ 13 h 75"/>
                    <a:gd name="T50" fmla="*/ 28 w 75"/>
                    <a:gd name="T51" fmla="*/ 17 h 75"/>
                    <a:gd name="T52" fmla="*/ 23 w 75"/>
                    <a:gd name="T53" fmla="*/ 22 h 75"/>
                    <a:gd name="T54" fmla="*/ 17 w 75"/>
                    <a:gd name="T55" fmla="*/ 28 h 75"/>
                    <a:gd name="T56" fmla="*/ 13 w 75"/>
                    <a:gd name="T57" fmla="*/ 33 h 75"/>
                    <a:gd name="T58" fmla="*/ 10 w 75"/>
                    <a:gd name="T59" fmla="*/ 39 h 75"/>
                    <a:gd name="T60" fmla="*/ 7 w 75"/>
                    <a:gd name="T61" fmla="*/ 46 h 75"/>
                    <a:gd name="T62" fmla="*/ 4 w 75"/>
                    <a:gd name="T63" fmla="*/ 52 h 75"/>
                    <a:gd name="T64" fmla="*/ 2 w 75"/>
                    <a:gd name="T65" fmla="*/ 60 h 75"/>
                    <a:gd name="T66" fmla="*/ 1 w 75"/>
                    <a:gd name="T67" fmla="*/ 67 h 75"/>
                    <a:gd name="T68" fmla="*/ 0 w 75"/>
                    <a:gd name="T69" fmla="*/ 75 h 75"/>
                    <a:gd name="T70" fmla="*/ 18 w 75"/>
                    <a:gd name="T71" fmla="*/ 75 h 75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75"/>
                    <a:gd name="T109" fmla="*/ 0 h 75"/>
                    <a:gd name="T110" fmla="*/ 75 w 75"/>
                    <a:gd name="T111" fmla="*/ 75 h 75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75" h="75">
                      <a:moveTo>
                        <a:pt x="18" y="75"/>
                      </a:moveTo>
                      <a:lnTo>
                        <a:pt x="18" y="75"/>
                      </a:lnTo>
                      <a:lnTo>
                        <a:pt x="18" y="68"/>
                      </a:lnTo>
                      <a:lnTo>
                        <a:pt x="20" y="63"/>
                      </a:lnTo>
                      <a:lnTo>
                        <a:pt x="21" y="58"/>
                      </a:lnTo>
                      <a:lnTo>
                        <a:pt x="23" y="52"/>
                      </a:lnTo>
                      <a:lnTo>
                        <a:pt x="25" y="47"/>
                      </a:lnTo>
                      <a:lnTo>
                        <a:pt x="28" y="43"/>
                      </a:lnTo>
                      <a:lnTo>
                        <a:pt x="31" y="38"/>
                      </a:lnTo>
                      <a:lnTo>
                        <a:pt x="36" y="34"/>
                      </a:lnTo>
                      <a:lnTo>
                        <a:pt x="39" y="31"/>
                      </a:lnTo>
                      <a:lnTo>
                        <a:pt x="43" y="28"/>
                      </a:lnTo>
                      <a:lnTo>
                        <a:pt x="48" y="25"/>
                      </a:lnTo>
                      <a:lnTo>
                        <a:pt x="53" y="22"/>
                      </a:lnTo>
                      <a:lnTo>
                        <a:pt x="58" y="20"/>
                      </a:lnTo>
                      <a:lnTo>
                        <a:pt x="63" y="19"/>
                      </a:lnTo>
                      <a:lnTo>
                        <a:pt x="69" y="18"/>
                      </a:lnTo>
                      <a:lnTo>
                        <a:pt x="75" y="18"/>
                      </a:lnTo>
                      <a:lnTo>
                        <a:pt x="75" y="0"/>
                      </a:lnTo>
                      <a:lnTo>
                        <a:pt x="68" y="1"/>
                      </a:lnTo>
                      <a:lnTo>
                        <a:pt x="60" y="1"/>
                      </a:lnTo>
                      <a:lnTo>
                        <a:pt x="53" y="3"/>
                      </a:lnTo>
                      <a:lnTo>
                        <a:pt x="46" y="6"/>
                      </a:lnTo>
                      <a:lnTo>
                        <a:pt x="40" y="10"/>
                      </a:lnTo>
                      <a:lnTo>
                        <a:pt x="33" y="13"/>
                      </a:lnTo>
                      <a:lnTo>
                        <a:pt x="28" y="17"/>
                      </a:lnTo>
                      <a:lnTo>
                        <a:pt x="23" y="22"/>
                      </a:lnTo>
                      <a:lnTo>
                        <a:pt x="17" y="28"/>
                      </a:lnTo>
                      <a:lnTo>
                        <a:pt x="13" y="33"/>
                      </a:lnTo>
                      <a:lnTo>
                        <a:pt x="10" y="39"/>
                      </a:lnTo>
                      <a:lnTo>
                        <a:pt x="7" y="46"/>
                      </a:lnTo>
                      <a:lnTo>
                        <a:pt x="4" y="52"/>
                      </a:lnTo>
                      <a:lnTo>
                        <a:pt x="2" y="60"/>
                      </a:lnTo>
                      <a:lnTo>
                        <a:pt x="1" y="67"/>
                      </a:lnTo>
                      <a:lnTo>
                        <a:pt x="0" y="75"/>
                      </a:lnTo>
                      <a:lnTo>
                        <a:pt x="18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98" name="Freeform 587"/>
                <p:cNvSpPr>
                  <a:spLocks/>
                </p:cNvSpPr>
                <p:nvPr/>
              </p:nvSpPr>
              <p:spPr bwMode="auto">
                <a:xfrm>
                  <a:off x="2616" y="1953"/>
                  <a:ext cx="35" cy="52"/>
                </a:xfrm>
                <a:custGeom>
                  <a:avLst/>
                  <a:gdLst>
                    <a:gd name="T0" fmla="*/ 35 w 35"/>
                    <a:gd name="T1" fmla="*/ 39 h 52"/>
                    <a:gd name="T2" fmla="*/ 35 w 35"/>
                    <a:gd name="T3" fmla="*/ 39 h 52"/>
                    <a:gd name="T4" fmla="*/ 31 w 35"/>
                    <a:gd name="T5" fmla="*/ 36 h 52"/>
                    <a:gd name="T6" fmla="*/ 28 w 35"/>
                    <a:gd name="T7" fmla="*/ 32 h 52"/>
                    <a:gd name="T8" fmla="*/ 25 w 35"/>
                    <a:gd name="T9" fmla="*/ 26 h 52"/>
                    <a:gd name="T10" fmla="*/ 23 w 35"/>
                    <a:gd name="T11" fmla="*/ 22 h 52"/>
                    <a:gd name="T12" fmla="*/ 21 w 35"/>
                    <a:gd name="T13" fmla="*/ 17 h 52"/>
                    <a:gd name="T14" fmla="*/ 20 w 35"/>
                    <a:gd name="T15" fmla="*/ 12 h 52"/>
                    <a:gd name="T16" fmla="*/ 18 w 35"/>
                    <a:gd name="T17" fmla="*/ 5 h 52"/>
                    <a:gd name="T18" fmla="*/ 18 w 35"/>
                    <a:gd name="T19" fmla="*/ 0 h 52"/>
                    <a:gd name="T20" fmla="*/ 0 w 35"/>
                    <a:gd name="T21" fmla="*/ 0 h 52"/>
                    <a:gd name="T22" fmla="*/ 1 w 35"/>
                    <a:gd name="T23" fmla="*/ 7 h 52"/>
                    <a:gd name="T24" fmla="*/ 2 w 35"/>
                    <a:gd name="T25" fmla="*/ 15 h 52"/>
                    <a:gd name="T26" fmla="*/ 4 w 35"/>
                    <a:gd name="T27" fmla="*/ 21 h 52"/>
                    <a:gd name="T28" fmla="*/ 7 w 35"/>
                    <a:gd name="T29" fmla="*/ 29 h 52"/>
                    <a:gd name="T30" fmla="*/ 10 w 35"/>
                    <a:gd name="T31" fmla="*/ 35 h 52"/>
                    <a:gd name="T32" fmla="*/ 13 w 35"/>
                    <a:gd name="T33" fmla="*/ 41 h 52"/>
                    <a:gd name="T34" fmla="*/ 17 w 35"/>
                    <a:gd name="T35" fmla="*/ 47 h 52"/>
                    <a:gd name="T36" fmla="*/ 22 w 35"/>
                    <a:gd name="T37" fmla="*/ 52 h 52"/>
                    <a:gd name="T38" fmla="*/ 22 w 35"/>
                    <a:gd name="T39" fmla="*/ 52 h 52"/>
                    <a:gd name="T40" fmla="*/ 35 w 35"/>
                    <a:gd name="T41" fmla="*/ 39 h 52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35"/>
                    <a:gd name="T64" fmla="*/ 0 h 52"/>
                    <a:gd name="T65" fmla="*/ 35 w 35"/>
                    <a:gd name="T66" fmla="*/ 52 h 52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35" h="52">
                      <a:moveTo>
                        <a:pt x="35" y="39"/>
                      </a:moveTo>
                      <a:lnTo>
                        <a:pt x="35" y="39"/>
                      </a:lnTo>
                      <a:lnTo>
                        <a:pt x="31" y="36"/>
                      </a:lnTo>
                      <a:lnTo>
                        <a:pt x="28" y="32"/>
                      </a:lnTo>
                      <a:lnTo>
                        <a:pt x="25" y="26"/>
                      </a:lnTo>
                      <a:lnTo>
                        <a:pt x="23" y="22"/>
                      </a:lnTo>
                      <a:lnTo>
                        <a:pt x="21" y="17"/>
                      </a:lnTo>
                      <a:lnTo>
                        <a:pt x="20" y="12"/>
                      </a:lnTo>
                      <a:lnTo>
                        <a:pt x="18" y="5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1" y="7"/>
                      </a:lnTo>
                      <a:lnTo>
                        <a:pt x="2" y="15"/>
                      </a:lnTo>
                      <a:lnTo>
                        <a:pt x="4" y="21"/>
                      </a:lnTo>
                      <a:lnTo>
                        <a:pt x="7" y="29"/>
                      </a:lnTo>
                      <a:lnTo>
                        <a:pt x="10" y="35"/>
                      </a:lnTo>
                      <a:lnTo>
                        <a:pt x="13" y="41"/>
                      </a:lnTo>
                      <a:lnTo>
                        <a:pt x="17" y="47"/>
                      </a:lnTo>
                      <a:lnTo>
                        <a:pt x="22" y="52"/>
                      </a:lnTo>
                      <a:lnTo>
                        <a:pt x="35" y="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299" name="Freeform 588"/>
                <p:cNvSpPr>
                  <a:spLocks/>
                </p:cNvSpPr>
                <p:nvPr/>
              </p:nvSpPr>
              <p:spPr bwMode="auto">
                <a:xfrm>
                  <a:off x="2638" y="1992"/>
                  <a:ext cx="40" cy="71"/>
                </a:xfrm>
                <a:custGeom>
                  <a:avLst/>
                  <a:gdLst>
                    <a:gd name="T0" fmla="*/ 31 w 40"/>
                    <a:gd name="T1" fmla="*/ 53 h 71"/>
                    <a:gd name="T2" fmla="*/ 40 w 40"/>
                    <a:gd name="T3" fmla="*/ 62 h 71"/>
                    <a:gd name="T4" fmla="*/ 39 w 40"/>
                    <a:gd name="T5" fmla="*/ 48 h 71"/>
                    <a:gd name="T6" fmla="*/ 37 w 40"/>
                    <a:gd name="T7" fmla="*/ 38 h 71"/>
                    <a:gd name="T8" fmla="*/ 33 w 40"/>
                    <a:gd name="T9" fmla="*/ 27 h 71"/>
                    <a:gd name="T10" fmla="*/ 29 w 40"/>
                    <a:gd name="T11" fmla="*/ 20 h 71"/>
                    <a:gd name="T12" fmla="*/ 23 w 40"/>
                    <a:gd name="T13" fmla="*/ 12 h 71"/>
                    <a:gd name="T14" fmla="*/ 19 w 40"/>
                    <a:gd name="T15" fmla="*/ 7 h 71"/>
                    <a:gd name="T16" fmla="*/ 15 w 40"/>
                    <a:gd name="T17" fmla="*/ 3 h 71"/>
                    <a:gd name="T18" fmla="*/ 13 w 40"/>
                    <a:gd name="T19" fmla="*/ 0 h 71"/>
                    <a:gd name="T20" fmla="*/ 0 w 40"/>
                    <a:gd name="T21" fmla="*/ 13 h 71"/>
                    <a:gd name="T22" fmla="*/ 3 w 40"/>
                    <a:gd name="T23" fmla="*/ 16 h 71"/>
                    <a:gd name="T24" fmla="*/ 6 w 40"/>
                    <a:gd name="T25" fmla="*/ 20 h 71"/>
                    <a:gd name="T26" fmla="*/ 9 w 40"/>
                    <a:gd name="T27" fmla="*/ 24 h 71"/>
                    <a:gd name="T28" fmla="*/ 14 w 40"/>
                    <a:gd name="T29" fmla="*/ 28 h 71"/>
                    <a:gd name="T30" fmla="*/ 17 w 40"/>
                    <a:gd name="T31" fmla="*/ 34 h 71"/>
                    <a:gd name="T32" fmla="*/ 20 w 40"/>
                    <a:gd name="T33" fmla="*/ 42 h 71"/>
                    <a:gd name="T34" fmla="*/ 22 w 40"/>
                    <a:gd name="T35" fmla="*/ 50 h 71"/>
                    <a:gd name="T36" fmla="*/ 22 w 40"/>
                    <a:gd name="T37" fmla="*/ 62 h 71"/>
                    <a:gd name="T38" fmla="*/ 31 w 40"/>
                    <a:gd name="T39" fmla="*/ 71 h 71"/>
                    <a:gd name="T40" fmla="*/ 22 w 40"/>
                    <a:gd name="T41" fmla="*/ 62 h 71"/>
                    <a:gd name="T42" fmla="*/ 22 w 40"/>
                    <a:gd name="T43" fmla="*/ 71 h 71"/>
                    <a:gd name="T44" fmla="*/ 31 w 40"/>
                    <a:gd name="T45" fmla="*/ 71 h 71"/>
                    <a:gd name="T46" fmla="*/ 31 w 40"/>
                    <a:gd name="T47" fmla="*/ 53 h 71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40"/>
                    <a:gd name="T73" fmla="*/ 0 h 71"/>
                    <a:gd name="T74" fmla="*/ 40 w 40"/>
                    <a:gd name="T75" fmla="*/ 71 h 71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40" h="71">
                      <a:moveTo>
                        <a:pt x="31" y="53"/>
                      </a:moveTo>
                      <a:lnTo>
                        <a:pt x="40" y="62"/>
                      </a:lnTo>
                      <a:lnTo>
                        <a:pt x="39" y="48"/>
                      </a:lnTo>
                      <a:lnTo>
                        <a:pt x="37" y="38"/>
                      </a:lnTo>
                      <a:lnTo>
                        <a:pt x="33" y="27"/>
                      </a:lnTo>
                      <a:lnTo>
                        <a:pt x="29" y="20"/>
                      </a:lnTo>
                      <a:lnTo>
                        <a:pt x="23" y="12"/>
                      </a:lnTo>
                      <a:lnTo>
                        <a:pt x="19" y="7"/>
                      </a:lnTo>
                      <a:lnTo>
                        <a:pt x="15" y="3"/>
                      </a:lnTo>
                      <a:lnTo>
                        <a:pt x="13" y="0"/>
                      </a:lnTo>
                      <a:lnTo>
                        <a:pt x="0" y="13"/>
                      </a:lnTo>
                      <a:lnTo>
                        <a:pt x="3" y="16"/>
                      </a:lnTo>
                      <a:lnTo>
                        <a:pt x="6" y="20"/>
                      </a:lnTo>
                      <a:lnTo>
                        <a:pt x="9" y="24"/>
                      </a:lnTo>
                      <a:lnTo>
                        <a:pt x="14" y="28"/>
                      </a:lnTo>
                      <a:lnTo>
                        <a:pt x="17" y="34"/>
                      </a:lnTo>
                      <a:lnTo>
                        <a:pt x="20" y="42"/>
                      </a:lnTo>
                      <a:lnTo>
                        <a:pt x="22" y="50"/>
                      </a:lnTo>
                      <a:lnTo>
                        <a:pt x="22" y="62"/>
                      </a:lnTo>
                      <a:lnTo>
                        <a:pt x="31" y="71"/>
                      </a:lnTo>
                      <a:lnTo>
                        <a:pt x="22" y="62"/>
                      </a:lnTo>
                      <a:lnTo>
                        <a:pt x="22" y="71"/>
                      </a:lnTo>
                      <a:lnTo>
                        <a:pt x="31" y="71"/>
                      </a:lnTo>
                      <a:lnTo>
                        <a:pt x="31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00" name="Freeform 589"/>
                <p:cNvSpPr>
                  <a:spLocks/>
                </p:cNvSpPr>
                <p:nvPr/>
              </p:nvSpPr>
              <p:spPr bwMode="auto">
                <a:xfrm>
                  <a:off x="2669" y="2045"/>
                  <a:ext cx="53" cy="18"/>
                </a:xfrm>
                <a:custGeom>
                  <a:avLst/>
                  <a:gdLst>
                    <a:gd name="T0" fmla="*/ 35 w 53"/>
                    <a:gd name="T1" fmla="*/ 9 h 18"/>
                    <a:gd name="T2" fmla="*/ 45 w 53"/>
                    <a:gd name="T3" fmla="*/ 0 h 18"/>
                    <a:gd name="T4" fmla="*/ 0 w 53"/>
                    <a:gd name="T5" fmla="*/ 0 h 18"/>
                    <a:gd name="T6" fmla="*/ 0 w 53"/>
                    <a:gd name="T7" fmla="*/ 18 h 18"/>
                    <a:gd name="T8" fmla="*/ 45 w 53"/>
                    <a:gd name="T9" fmla="*/ 18 h 18"/>
                    <a:gd name="T10" fmla="*/ 53 w 53"/>
                    <a:gd name="T11" fmla="*/ 9 h 18"/>
                    <a:gd name="T12" fmla="*/ 45 w 53"/>
                    <a:gd name="T13" fmla="*/ 18 h 18"/>
                    <a:gd name="T14" fmla="*/ 53 w 53"/>
                    <a:gd name="T15" fmla="*/ 18 h 18"/>
                    <a:gd name="T16" fmla="*/ 53 w 53"/>
                    <a:gd name="T17" fmla="*/ 9 h 18"/>
                    <a:gd name="T18" fmla="*/ 35 w 53"/>
                    <a:gd name="T19" fmla="*/ 9 h 1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53"/>
                    <a:gd name="T31" fmla="*/ 0 h 18"/>
                    <a:gd name="T32" fmla="*/ 53 w 53"/>
                    <a:gd name="T33" fmla="*/ 18 h 18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53" h="18">
                      <a:moveTo>
                        <a:pt x="35" y="9"/>
                      </a:moveTo>
                      <a:lnTo>
                        <a:pt x="45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45" y="18"/>
                      </a:lnTo>
                      <a:lnTo>
                        <a:pt x="53" y="9"/>
                      </a:lnTo>
                      <a:lnTo>
                        <a:pt x="45" y="18"/>
                      </a:lnTo>
                      <a:lnTo>
                        <a:pt x="53" y="18"/>
                      </a:lnTo>
                      <a:lnTo>
                        <a:pt x="53" y="9"/>
                      </a:lnTo>
                      <a:lnTo>
                        <a:pt x="35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01" name="Freeform 590"/>
                <p:cNvSpPr>
                  <a:spLocks/>
                </p:cNvSpPr>
                <p:nvPr/>
              </p:nvSpPr>
              <p:spPr bwMode="auto">
                <a:xfrm>
                  <a:off x="2653" y="2056"/>
                  <a:ext cx="10" cy="20"/>
                </a:xfrm>
                <a:custGeom>
                  <a:avLst/>
                  <a:gdLst>
                    <a:gd name="T0" fmla="*/ 10 w 10"/>
                    <a:gd name="T1" fmla="*/ 0 h 20"/>
                    <a:gd name="T2" fmla="*/ 6 w 10"/>
                    <a:gd name="T3" fmla="*/ 1 h 20"/>
                    <a:gd name="T4" fmla="*/ 3 w 10"/>
                    <a:gd name="T5" fmla="*/ 4 h 20"/>
                    <a:gd name="T6" fmla="*/ 1 w 10"/>
                    <a:gd name="T7" fmla="*/ 7 h 20"/>
                    <a:gd name="T8" fmla="*/ 0 w 10"/>
                    <a:gd name="T9" fmla="*/ 10 h 20"/>
                    <a:gd name="T10" fmla="*/ 1 w 10"/>
                    <a:gd name="T11" fmla="*/ 13 h 20"/>
                    <a:gd name="T12" fmla="*/ 3 w 10"/>
                    <a:gd name="T13" fmla="*/ 16 h 20"/>
                    <a:gd name="T14" fmla="*/ 6 w 10"/>
                    <a:gd name="T15" fmla="*/ 19 h 20"/>
                    <a:gd name="T16" fmla="*/ 10 w 10"/>
                    <a:gd name="T17" fmla="*/ 20 h 20"/>
                    <a:gd name="T18" fmla="*/ 10 w 10"/>
                    <a:gd name="T19" fmla="*/ 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10" y="0"/>
                      </a:moveTo>
                      <a:lnTo>
                        <a:pt x="6" y="1"/>
                      </a:lnTo>
                      <a:lnTo>
                        <a:pt x="3" y="4"/>
                      </a:lnTo>
                      <a:lnTo>
                        <a:pt x="1" y="7"/>
                      </a:lnTo>
                      <a:lnTo>
                        <a:pt x="0" y="10"/>
                      </a:lnTo>
                      <a:lnTo>
                        <a:pt x="1" y="13"/>
                      </a:lnTo>
                      <a:lnTo>
                        <a:pt x="3" y="16"/>
                      </a:lnTo>
                      <a:lnTo>
                        <a:pt x="6" y="19"/>
                      </a:lnTo>
                      <a:lnTo>
                        <a:pt x="10" y="2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02" name="Freeform 591"/>
                <p:cNvSpPr>
                  <a:spLocks/>
                </p:cNvSpPr>
                <p:nvPr/>
              </p:nvSpPr>
              <p:spPr bwMode="auto">
                <a:xfrm>
                  <a:off x="2663" y="2056"/>
                  <a:ext cx="57" cy="20"/>
                </a:xfrm>
                <a:custGeom>
                  <a:avLst/>
                  <a:gdLst>
                    <a:gd name="T0" fmla="*/ 57 w 57"/>
                    <a:gd name="T1" fmla="*/ 10 h 20"/>
                    <a:gd name="T2" fmla="*/ 57 w 57"/>
                    <a:gd name="T3" fmla="*/ 0 h 20"/>
                    <a:gd name="T4" fmla="*/ 0 w 57"/>
                    <a:gd name="T5" fmla="*/ 0 h 20"/>
                    <a:gd name="T6" fmla="*/ 0 w 57"/>
                    <a:gd name="T7" fmla="*/ 20 h 20"/>
                    <a:gd name="T8" fmla="*/ 57 w 57"/>
                    <a:gd name="T9" fmla="*/ 20 h 20"/>
                    <a:gd name="T10" fmla="*/ 57 w 57"/>
                    <a:gd name="T11" fmla="*/ 10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20"/>
                    <a:gd name="T20" fmla="*/ 57 w 57"/>
                    <a:gd name="T21" fmla="*/ 20 h 2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20">
                      <a:moveTo>
                        <a:pt x="57" y="10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57" y="20"/>
                      </a:lnTo>
                      <a:lnTo>
                        <a:pt x="57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03" name="Freeform 592"/>
                <p:cNvSpPr>
                  <a:spLocks/>
                </p:cNvSpPr>
                <p:nvPr/>
              </p:nvSpPr>
              <p:spPr bwMode="auto">
                <a:xfrm>
                  <a:off x="2720" y="2056"/>
                  <a:ext cx="10" cy="20"/>
                </a:xfrm>
                <a:custGeom>
                  <a:avLst/>
                  <a:gdLst>
                    <a:gd name="T0" fmla="*/ 0 w 10"/>
                    <a:gd name="T1" fmla="*/ 20 h 20"/>
                    <a:gd name="T2" fmla="*/ 4 w 10"/>
                    <a:gd name="T3" fmla="*/ 19 h 20"/>
                    <a:gd name="T4" fmla="*/ 7 w 10"/>
                    <a:gd name="T5" fmla="*/ 16 h 20"/>
                    <a:gd name="T6" fmla="*/ 9 w 10"/>
                    <a:gd name="T7" fmla="*/ 13 h 20"/>
                    <a:gd name="T8" fmla="*/ 10 w 10"/>
                    <a:gd name="T9" fmla="*/ 10 h 20"/>
                    <a:gd name="T10" fmla="*/ 9 w 10"/>
                    <a:gd name="T11" fmla="*/ 7 h 20"/>
                    <a:gd name="T12" fmla="*/ 7 w 10"/>
                    <a:gd name="T13" fmla="*/ 4 h 20"/>
                    <a:gd name="T14" fmla="*/ 4 w 10"/>
                    <a:gd name="T15" fmla="*/ 1 h 20"/>
                    <a:gd name="T16" fmla="*/ 0 w 10"/>
                    <a:gd name="T17" fmla="*/ 0 h 20"/>
                    <a:gd name="T18" fmla="*/ 0 w 10"/>
                    <a:gd name="T19" fmla="*/ 2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0" y="20"/>
                      </a:moveTo>
                      <a:lnTo>
                        <a:pt x="4" y="19"/>
                      </a:lnTo>
                      <a:lnTo>
                        <a:pt x="7" y="16"/>
                      </a:lnTo>
                      <a:lnTo>
                        <a:pt x="9" y="13"/>
                      </a:lnTo>
                      <a:lnTo>
                        <a:pt x="10" y="10"/>
                      </a:lnTo>
                      <a:lnTo>
                        <a:pt x="9" y="7"/>
                      </a:lnTo>
                      <a:lnTo>
                        <a:pt x="7" y="4"/>
                      </a:lnTo>
                      <a:lnTo>
                        <a:pt x="4" y="1"/>
                      </a:lnTo>
                      <a:lnTo>
                        <a:pt x="0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04" name="Freeform 593"/>
                <p:cNvSpPr>
                  <a:spLocks/>
                </p:cNvSpPr>
                <p:nvPr/>
              </p:nvSpPr>
              <p:spPr bwMode="auto">
                <a:xfrm>
                  <a:off x="2625" y="1887"/>
                  <a:ext cx="131" cy="166"/>
                </a:xfrm>
                <a:custGeom>
                  <a:avLst/>
                  <a:gdLst>
                    <a:gd name="T0" fmla="*/ 89 w 131"/>
                    <a:gd name="T1" fmla="*/ 154 h 166"/>
                    <a:gd name="T2" fmla="*/ 94 w 131"/>
                    <a:gd name="T3" fmla="*/ 135 h 166"/>
                    <a:gd name="T4" fmla="*/ 102 w 131"/>
                    <a:gd name="T5" fmla="*/ 122 h 166"/>
                    <a:gd name="T6" fmla="*/ 110 w 131"/>
                    <a:gd name="T7" fmla="*/ 115 h 166"/>
                    <a:gd name="T8" fmla="*/ 117 w 131"/>
                    <a:gd name="T9" fmla="*/ 107 h 166"/>
                    <a:gd name="T10" fmla="*/ 124 w 131"/>
                    <a:gd name="T11" fmla="*/ 97 h 166"/>
                    <a:gd name="T12" fmla="*/ 128 w 131"/>
                    <a:gd name="T13" fmla="*/ 85 h 166"/>
                    <a:gd name="T14" fmla="*/ 131 w 131"/>
                    <a:gd name="T15" fmla="*/ 72 h 166"/>
                    <a:gd name="T16" fmla="*/ 131 w 131"/>
                    <a:gd name="T17" fmla="*/ 58 h 166"/>
                    <a:gd name="T18" fmla="*/ 128 w 131"/>
                    <a:gd name="T19" fmla="*/ 47 h 166"/>
                    <a:gd name="T20" fmla="*/ 124 w 131"/>
                    <a:gd name="T21" fmla="*/ 34 h 166"/>
                    <a:gd name="T22" fmla="*/ 116 w 131"/>
                    <a:gd name="T23" fmla="*/ 24 h 166"/>
                    <a:gd name="T24" fmla="*/ 108 w 131"/>
                    <a:gd name="T25" fmla="*/ 14 h 166"/>
                    <a:gd name="T26" fmla="*/ 97 w 131"/>
                    <a:gd name="T27" fmla="*/ 8 h 166"/>
                    <a:gd name="T28" fmla="*/ 85 w 131"/>
                    <a:gd name="T29" fmla="*/ 3 h 166"/>
                    <a:gd name="T30" fmla="*/ 73 w 131"/>
                    <a:gd name="T31" fmla="*/ 0 h 166"/>
                    <a:gd name="T32" fmla="*/ 59 w 131"/>
                    <a:gd name="T33" fmla="*/ 0 h 166"/>
                    <a:gd name="T34" fmla="*/ 46 w 131"/>
                    <a:gd name="T35" fmla="*/ 3 h 166"/>
                    <a:gd name="T36" fmla="*/ 34 w 131"/>
                    <a:gd name="T37" fmla="*/ 8 h 166"/>
                    <a:gd name="T38" fmla="*/ 23 w 131"/>
                    <a:gd name="T39" fmla="*/ 14 h 166"/>
                    <a:gd name="T40" fmla="*/ 15 w 131"/>
                    <a:gd name="T41" fmla="*/ 24 h 166"/>
                    <a:gd name="T42" fmla="*/ 8 w 131"/>
                    <a:gd name="T43" fmla="*/ 34 h 166"/>
                    <a:gd name="T44" fmla="*/ 3 w 131"/>
                    <a:gd name="T45" fmla="*/ 47 h 166"/>
                    <a:gd name="T46" fmla="*/ 0 w 131"/>
                    <a:gd name="T47" fmla="*/ 58 h 166"/>
                    <a:gd name="T48" fmla="*/ 0 w 131"/>
                    <a:gd name="T49" fmla="*/ 72 h 166"/>
                    <a:gd name="T50" fmla="*/ 3 w 131"/>
                    <a:gd name="T51" fmla="*/ 85 h 166"/>
                    <a:gd name="T52" fmla="*/ 7 w 131"/>
                    <a:gd name="T53" fmla="*/ 97 h 166"/>
                    <a:gd name="T54" fmla="*/ 15 w 131"/>
                    <a:gd name="T55" fmla="*/ 107 h 166"/>
                    <a:gd name="T56" fmla="*/ 21 w 131"/>
                    <a:gd name="T57" fmla="*/ 115 h 166"/>
                    <a:gd name="T58" fmla="*/ 29 w 131"/>
                    <a:gd name="T59" fmla="*/ 122 h 166"/>
                    <a:gd name="T60" fmla="*/ 37 w 131"/>
                    <a:gd name="T61" fmla="*/ 135 h 166"/>
                    <a:gd name="T62" fmla="*/ 43 w 131"/>
                    <a:gd name="T63" fmla="*/ 154 h 166"/>
                    <a:gd name="T64" fmla="*/ 87 w 131"/>
                    <a:gd name="T65" fmla="*/ 166 h 16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31"/>
                    <a:gd name="T100" fmla="*/ 0 h 166"/>
                    <a:gd name="T101" fmla="*/ 131 w 131"/>
                    <a:gd name="T102" fmla="*/ 166 h 16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31" h="166">
                      <a:moveTo>
                        <a:pt x="87" y="166"/>
                      </a:moveTo>
                      <a:lnTo>
                        <a:pt x="89" y="154"/>
                      </a:lnTo>
                      <a:lnTo>
                        <a:pt x="91" y="144"/>
                      </a:lnTo>
                      <a:lnTo>
                        <a:pt x="94" y="135"/>
                      </a:lnTo>
                      <a:lnTo>
                        <a:pt x="98" y="129"/>
                      </a:lnTo>
                      <a:lnTo>
                        <a:pt x="102" y="122"/>
                      </a:lnTo>
                      <a:lnTo>
                        <a:pt x="107" y="118"/>
                      </a:lnTo>
                      <a:lnTo>
                        <a:pt x="110" y="115"/>
                      </a:lnTo>
                      <a:lnTo>
                        <a:pt x="113" y="112"/>
                      </a:lnTo>
                      <a:lnTo>
                        <a:pt x="117" y="107"/>
                      </a:lnTo>
                      <a:lnTo>
                        <a:pt x="121" y="102"/>
                      </a:lnTo>
                      <a:lnTo>
                        <a:pt x="124" y="97"/>
                      </a:lnTo>
                      <a:lnTo>
                        <a:pt x="126" y="91"/>
                      </a:lnTo>
                      <a:lnTo>
                        <a:pt x="128" y="85"/>
                      </a:lnTo>
                      <a:lnTo>
                        <a:pt x="130" y="79"/>
                      </a:lnTo>
                      <a:lnTo>
                        <a:pt x="131" y="72"/>
                      </a:lnTo>
                      <a:lnTo>
                        <a:pt x="131" y="66"/>
                      </a:lnTo>
                      <a:lnTo>
                        <a:pt x="131" y="58"/>
                      </a:lnTo>
                      <a:lnTo>
                        <a:pt x="130" y="52"/>
                      </a:lnTo>
                      <a:lnTo>
                        <a:pt x="128" y="47"/>
                      </a:lnTo>
                      <a:lnTo>
                        <a:pt x="126" y="40"/>
                      </a:lnTo>
                      <a:lnTo>
                        <a:pt x="124" y="34"/>
                      </a:lnTo>
                      <a:lnTo>
                        <a:pt x="120" y="28"/>
                      </a:lnTo>
                      <a:lnTo>
                        <a:pt x="116" y="24"/>
                      </a:lnTo>
                      <a:lnTo>
                        <a:pt x="112" y="19"/>
                      </a:lnTo>
                      <a:lnTo>
                        <a:pt x="108" y="14"/>
                      </a:lnTo>
                      <a:lnTo>
                        <a:pt x="102" y="11"/>
                      </a:lnTo>
                      <a:lnTo>
                        <a:pt x="97" y="8"/>
                      </a:lnTo>
                      <a:lnTo>
                        <a:pt x="91" y="5"/>
                      </a:lnTo>
                      <a:lnTo>
                        <a:pt x="85" y="3"/>
                      </a:lnTo>
                      <a:lnTo>
                        <a:pt x="79" y="1"/>
                      </a:lnTo>
                      <a:lnTo>
                        <a:pt x="73" y="0"/>
                      </a:lnTo>
                      <a:lnTo>
                        <a:pt x="66" y="0"/>
                      </a:lnTo>
                      <a:lnTo>
                        <a:pt x="59" y="0"/>
                      </a:lnTo>
                      <a:lnTo>
                        <a:pt x="52" y="1"/>
                      </a:lnTo>
                      <a:lnTo>
                        <a:pt x="46" y="3"/>
                      </a:lnTo>
                      <a:lnTo>
                        <a:pt x="40" y="5"/>
                      </a:lnTo>
                      <a:lnTo>
                        <a:pt x="34" y="8"/>
                      </a:lnTo>
                      <a:lnTo>
                        <a:pt x="29" y="11"/>
                      </a:lnTo>
                      <a:lnTo>
                        <a:pt x="23" y="14"/>
                      </a:lnTo>
                      <a:lnTo>
                        <a:pt x="19" y="19"/>
                      </a:lnTo>
                      <a:lnTo>
                        <a:pt x="15" y="24"/>
                      </a:lnTo>
                      <a:lnTo>
                        <a:pt x="12" y="28"/>
                      </a:lnTo>
                      <a:lnTo>
                        <a:pt x="8" y="34"/>
                      </a:lnTo>
                      <a:lnTo>
                        <a:pt x="5" y="40"/>
                      </a:lnTo>
                      <a:lnTo>
                        <a:pt x="3" y="47"/>
                      </a:lnTo>
                      <a:lnTo>
                        <a:pt x="1" y="52"/>
                      </a:lnTo>
                      <a:lnTo>
                        <a:pt x="0" y="58"/>
                      </a:lnTo>
                      <a:lnTo>
                        <a:pt x="0" y="66"/>
                      </a:lnTo>
                      <a:lnTo>
                        <a:pt x="0" y="72"/>
                      </a:lnTo>
                      <a:lnTo>
                        <a:pt x="1" y="79"/>
                      </a:lnTo>
                      <a:lnTo>
                        <a:pt x="3" y="85"/>
                      </a:lnTo>
                      <a:lnTo>
                        <a:pt x="5" y="91"/>
                      </a:lnTo>
                      <a:lnTo>
                        <a:pt x="7" y="97"/>
                      </a:lnTo>
                      <a:lnTo>
                        <a:pt x="11" y="102"/>
                      </a:lnTo>
                      <a:lnTo>
                        <a:pt x="15" y="107"/>
                      </a:lnTo>
                      <a:lnTo>
                        <a:pt x="18" y="112"/>
                      </a:lnTo>
                      <a:lnTo>
                        <a:pt x="21" y="115"/>
                      </a:lnTo>
                      <a:lnTo>
                        <a:pt x="24" y="118"/>
                      </a:lnTo>
                      <a:lnTo>
                        <a:pt x="29" y="122"/>
                      </a:lnTo>
                      <a:lnTo>
                        <a:pt x="33" y="129"/>
                      </a:lnTo>
                      <a:lnTo>
                        <a:pt x="37" y="135"/>
                      </a:lnTo>
                      <a:lnTo>
                        <a:pt x="40" y="144"/>
                      </a:lnTo>
                      <a:lnTo>
                        <a:pt x="43" y="154"/>
                      </a:lnTo>
                      <a:lnTo>
                        <a:pt x="44" y="166"/>
                      </a:lnTo>
                      <a:lnTo>
                        <a:pt x="87" y="166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05" name="Freeform 594"/>
                <p:cNvSpPr>
                  <a:spLocks/>
                </p:cNvSpPr>
                <p:nvPr/>
              </p:nvSpPr>
              <p:spPr bwMode="auto">
                <a:xfrm>
                  <a:off x="2653" y="2068"/>
                  <a:ext cx="10" cy="20"/>
                </a:xfrm>
                <a:custGeom>
                  <a:avLst/>
                  <a:gdLst>
                    <a:gd name="T0" fmla="*/ 10 w 10"/>
                    <a:gd name="T1" fmla="*/ 0 h 20"/>
                    <a:gd name="T2" fmla="*/ 6 w 10"/>
                    <a:gd name="T3" fmla="*/ 1 h 20"/>
                    <a:gd name="T4" fmla="*/ 3 w 10"/>
                    <a:gd name="T5" fmla="*/ 3 h 20"/>
                    <a:gd name="T6" fmla="*/ 1 w 10"/>
                    <a:gd name="T7" fmla="*/ 7 h 20"/>
                    <a:gd name="T8" fmla="*/ 0 w 10"/>
                    <a:gd name="T9" fmla="*/ 11 h 20"/>
                    <a:gd name="T10" fmla="*/ 1 w 10"/>
                    <a:gd name="T11" fmla="*/ 14 h 20"/>
                    <a:gd name="T12" fmla="*/ 3 w 10"/>
                    <a:gd name="T13" fmla="*/ 17 h 20"/>
                    <a:gd name="T14" fmla="*/ 6 w 10"/>
                    <a:gd name="T15" fmla="*/ 19 h 20"/>
                    <a:gd name="T16" fmla="*/ 10 w 10"/>
                    <a:gd name="T17" fmla="*/ 20 h 20"/>
                    <a:gd name="T18" fmla="*/ 10 w 10"/>
                    <a:gd name="T19" fmla="*/ 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10" y="0"/>
                      </a:moveTo>
                      <a:lnTo>
                        <a:pt x="6" y="1"/>
                      </a:lnTo>
                      <a:lnTo>
                        <a:pt x="3" y="3"/>
                      </a:lnTo>
                      <a:lnTo>
                        <a:pt x="1" y="7"/>
                      </a:lnTo>
                      <a:lnTo>
                        <a:pt x="0" y="11"/>
                      </a:lnTo>
                      <a:lnTo>
                        <a:pt x="1" y="14"/>
                      </a:lnTo>
                      <a:lnTo>
                        <a:pt x="3" y="17"/>
                      </a:lnTo>
                      <a:lnTo>
                        <a:pt x="6" y="19"/>
                      </a:lnTo>
                      <a:lnTo>
                        <a:pt x="10" y="2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06" name="Freeform 595"/>
                <p:cNvSpPr>
                  <a:spLocks/>
                </p:cNvSpPr>
                <p:nvPr/>
              </p:nvSpPr>
              <p:spPr bwMode="auto">
                <a:xfrm>
                  <a:off x="2663" y="2068"/>
                  <a:ext cx="57" cy="20"/>
                </a:xfrm>
                <a:custGeom>
                  <a:avLst/>
                  <a:gdLst>
                    <a:gd name="T0" fmla="*/ 57 w 57"/>
                    <a:gd name="T1" fmla="*/ 11 h 20"/>
                    <a:gd name="T2" fmla="*/ 57 w 57"/>
                    <a:gd name="T3" fmla="*/ 0 h 20"/>
                    <a:gd name="T4" fmla="*/ 0 w 57"/>
                    <a:gd name="T5" fmla="*/ 0 h 20"/>
                    <a:gd name="T6" fmla="*/ 0 w 57"/>
                    <a:gd name="T7" fmla="*/ 20 h 20"/>
                    <a:gd name="T8" fmla="*/ 57 w 57"/>
                    <a:gd name="T9" fmla="*/ 20 h 20"/>
                    <a:gd name="T10" fmla="*/ 57 w 57"/>
                    <a:gd name="T11" fmla="*/ 11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20"/>
                    <a:gd name="T20" fmla="*/ 57 w 57"/>
                    <a:gd name="T21" fmla="*/ 20 h 2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20">
                      <a:moveTo>
                        <a:pt x="57" y="11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57" y="20"/>
                      </a:lnTo>
                      <a:lnTo>
                        <a:pt x="57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07" name="Freeform 596"/>
                <p:cNvSpPr>
                  <a:spLocks/>
                </p:cNvSpPr>
                <p:nvPr/>
              </p:nvSpPr>
              <p:spPr bwMode="auto">
                <a:xfrm>
                  <a:off x="2720" y="2068"/>
                  <a:ext cx="10" cy="20"/>
                </a:xfrm>
                <a:custGeom>
                  <a:avLst/>
                  <a:gdLst>
                    <a:gd name="T0" fmla="*/ 0 w 10"/>
                    <a:gd name="T1" fmla="*/ 20 h 20"/>
                    <a:gd name="T2" fmla="*/ 4 w 10"/>
                    <a:gd name="T3" fmla="*/ 19 h 20"/>
                    <a:gd name="T4" fmla="*/ 7 w 10"/>
                    <a:gd name="T5" fmla="*/ 17 h 20"/>
                    <a:gd name="T6" fmla="*/ 9 w 10"/>
                    <a:gd name="T7" fmla="*/ 14 h 20"/>
                    <a:gd name="T8" fmla="*/ 10 w 10"/>
                    <a:gd name="T9" fmla="*/ 11 h 20"/>
                    <a:gd name="T10" fmla="*/ 9 w 10"/>
                    <a:gd name="T11" fmla="*/ 7 h 20"/>
                    <a:gd name="T12" fmla="*/ 7 w 10"/>
                    <a:gd name="T13" fmla="*/ 3 h 20"/>
                    <a:gd name="T14" fmla="*/ 4 w 10"/>
                    <a:gd name="T15" fmla="*/ 1 h 20"/>
                    <a:gd name="T16" fmla="*/ 0 w 10"/>
                    <a:gd name="T17" fmla="*/ 0 h 20"/>
                    <a:gd name="T18" fmla="*/ 0 w 10"/>
                    <a:gd name="T19" fmla="*/ 2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0" y="20"/>
                      </a:moveTo>
                      <a:lnTo>
                        <a:pt x="4" y="19"/>
                      </a:lnTo>
                      <a:lnTo>
                        <a:pt x="7" y="17"/>
                      </a:lnTo>
                      <a:lnTo>
                        <a:pt x="9" y="14"/>
                      </a:lnTo>
                      <a:lnTo>
                        <a:pt x="10" y="11"/>
                      </a:lnTo>
                      <a:lnTo>
                        <a:pt x="9" y="7"/>
                      </a:lnTo>
                      <a:lnTo>
                        <a:pt x="7" y="3"/>
                      </a:lnTo>
                      <a:lnTo>
                        <a:pt x="4" y="1"/>
                      </a:lnTo>
                      <a:lnTo>
                        <a:pt x="0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08" name="Freeform 597"/>
                <p:cNvSpPr>
                  <a:spLocks/>
                </p:cNvSpPr>
                <p:nvPr/>
              </p:nvSpPr>
              <p:spPr bwMode="auto">
                <a:xfrm>
                  <a:off x="2653" y="2080"/>
                  <a:ext cx="10" cy="20"/>
                </a:xfrm>
                <a:custGeom>
                  <a:avLst/>
                  <a:gdLst>
                    <a:gd name="T0" fmla="*/ 10 w 10"/>
                    <a:gd name="T1" fmla="*/ 0 h 20"/>
                    <a:gd name="T2" fmla="*/ 6 w 10"/>
                    <a:gd name="T3" fmla="*/ 1 h 20"/>
                    <a:gd name="T4" fmla="*/ 3 w 10"/>
                    <a:gd name="T5" fmla="*/ 3 h 20"/>
                    <a:gd name="T6" fmla="*/ 1 w 10"/>
                    <a:gd name="T7" fmla="*/ 6 h 20"/>
                    <a:gd name="T8" fmla="*/ 0 w 10"/>
                    <a:gd name="T9" fmla="*/ 9 h 20"/>
                    <a:gd name="T10" fmla="*/ 1 w 10"/>
                    <a:gd name="T11" fmla="*/ 14 h 20"/>
                    <a:gd name="T12" fmla="*/ 3 w 10"/>
                    <a:gd name="T13" fmla="*/ 17 h 20"/>
                    <a:gd name="T14" fmla="*/ 6 w 10"/>
                    <a:gd name="T15" fmla="*/ 19 h 20"/>
                    <a:gd name="T16" fmla="*/ 10 w 10"/>
                    <a:gd name="T17" fmla="*/ 20 h 20"/>
                    <a:gd name="T18" fmla="*/ 10 w 10"/>
                    <a:gd name="T19" fmla="*/ 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10" y="0"/>
                      </a:moveTo>
                      <a:lnTo>
                        <a:pt x="6" y="1"/>
                      </a:lnTo>
                      <a:lnTo>
                        <a:pt x="3" y="3"/>
                      </a:lnTo>
                      <a:lnTo>
                        <a:pt x="1" y="6"/>
                      </a:lnTo>
                      <a:lnTo>
                        <a:pt x="0" y="9"/>
                      </a:lnTo>
                      <a:lnTo>
                        <a:pt x="1" y="14"/>
                      </a:lnTo>
                      <a:lnTo>
                        <a:pt x="3" y="17"/>
                      </a:lnTo>
                      <a:lnTo>
                        <a:pt x="6" y="19"/>
                      </a:lnTo>
                      <a:lnTo>
                        <a:pt x="10" y="2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09" name="Freeform 598"/>
                <p:cNvSpPr>
                  <a:spLocks/>
                </p:cNvSpPr>
                <p:nvPr/>
              </p:nvSpPr>
              <p:spPr bwMode="auto">
                <a:xfrm>
                  <a:off x="2663" y="2080"/>
                  <a:ext cx="57" cy="20"/>
                </a:xfrm>
                <a:custGeom>
                  <a:avLst/>
                  <a:gdLst>
                    <a:gd name="T0" fmla="*/ 57 w 57"/>
                    <a:gd name="T1" fmla="*/ 9 h 20"/>
                    <a:gd name="T2" fmla="*/ 57 w 57"/>
                    <a:gd name="T3" fmla="*/ 0 h 20"/>
                    <a:gd name="T4" fmla="*/ 0 w 57"/>
                    <a:gd name="T5" fmla="*/ 0 h 20"/>
                    <a:gd name="T6" fmla="*/ 0 w 57"/>
                    <a:gd name="T7" fmla="*/ 20 h 20"/>
                    <a:gd name="T8" fmla="*/ 57 w 57"/>
                    <a:gd name="T9" fmla="*/ 20 h 20"/>
                    <a:gd name="T10" fmla="*/ 57 w 57"/>
                    <a:gd name="T11" fmla="*/ 9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20"/>
                    <a:gd name="T20" fmla="*/ 57 w 57"/>
                    <a:gd name="T21" fmla="*/ 20 h 2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20">
                      <a:moveTo>
                        <a:pt x="57" y="9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57" y="20"/>
                      </a:lnTo>
                      <a:lnTo>
                        <a:pt x="57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10" name="Freeform 599"/>
                <p:cNvSpPr>
                  <a:spLocks/>
                </p:cNvSpPr>
                <p:nvPr/>
              </p:nvSpPr>
              <p:spPr bwMode="auto">
                <a:xfrm>
                  <a:off x="2720" y="2080"/>
                  <a:ext cx="10" cy="20"/>
                </a:xfrm>
                <a:custGeom>
                  <a:avLst/>
                  <a:gdLst>
                    <a:gd name="T0" fmla="*/ 0 w 10"/>
                    <a:gd name="T1" fmla="*/ 20 h 20"/>
                    <a:gd name="T2" fmla="*/ 4 w 10"/>
                    <a:gd name="T3" fmla="*/ 19 h 20"/>
                    <a:gd name="T4" fmla="*/ 7 w 10"/>
                    <a:gd name="T5" fmla="*/ 17 h 20"/>
                    <a:gd name="T6" fmla="*/ 9 w 10"/>
                    <a:gd name="T7" fmla="*/ 14 h 20"/>
                    <a:gd name="T8" fmla="*/ 10 w 10"/>
                    <a:gd name="T9" fmla="*/ 9 h 20"/>
                    <a:gd name="T10" fmla="*/ 9 w 10"/>
                    <a:gd name="T11" fmla="*/ 6 h 20"/>
                    <a:gd name="T12" fmla="*/ 7 w 10"/>
                    <a:gd name="T13" fmla="*/ 3 h 20"/>
                    <a:gd name="T14" fmla="*/ 4 w 10"/>
                    <a:gd name="T15" fmla="*/ 1 h 20"/>
                    <a:gd name="T16" fmla="*/ 0 w 10"/>
                    <a:gd name="T17" fmla="*/ 0 h 20"/>
                    <a:gd name="T18" fmla="*/ 0 w 10"/>
                    <a:gd name="T19" fmla="*/ 2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0" y="20"/>
                      </a:moveTo>
                      <a:lnTo>
                        <a:pt x="4" y="19"/>
                      </a:lnTo>
                      <a:lnTo>
                        <a:pt x="7" y="17"/>
                      </a:lnTo>
                      <a:lnTo>
                        <a:pt x="9" y="14"/>
                      </a:lnTo>
                      <a:lnTo>
                        <a:pt x="10" y="9"/>
                      </a:lnTo>
                      <a:lnTo>
                        <a:pt x="9" y="6"/>
                      </a:lnTo>
                      <a:lnTo>
                        <a:pt x="7" y="3"/>
                      </a:lnTo>
                      <a:lnTo>
                        <a:pt x="4" y="1"/>
                      </a:lnTo>
                      <a:lnTo>
                        <a:pt x="0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11" name="Freeform 600"/>
                <p:cNvSpPr>
                  <a:spLocks/>
                </p:cNvSpPr>
                <p:nvPr/>
              </p:nvSpPr>
              <p:spPr bwMode="auto">
                <a:xfrm>
                  <a:off x="2653" y="2092"/>
                  <a:ext cx="10" cy="20"/>
                </a:xfrm>
                <a:custGeom>
                  <a:avLst/>
                  <a:gdLst>
                    <a:gd name="T0" fmla="*/ 10 w 10"/>
                    <a:gd name="T1" fmla="*/ 0 h 20"/>
                    <a:gd name="T2" fmla="*/ 6 w 10"/>
                    <a:gd name="T3" fmla="*/ 1 h 20"/>
                    <a:gd name="T4" fmla="*/ 3 w 10"/>
                    <a:gd name="T5" fmla="*/ 3 h 20"/>
                    <a:gd name="T6" fmla="*/ 1 w 10"/>
                    <a:gd name="T7" fmla="*/ 6 h 20"/>
                    <a:gd name="T8" fmla="*/ 0 w 10"/>
                    <a:gd name="T9" fmla="*/ 9 h 20"/>
                    <a:gd name="T10" fmla="*/ 1 w 10"/>
                    <a:gd name="T11" fmla="*/ 14 h 20"/>
                    <a:gd name="T12" fmla="*/ 3 w 10"/>
                    <a:gd name="T13" fmla="*/ 17 h 20"/>
                    <a:gd name="T14" fmla="*/ 6 w 10"/>
                    <a:gd name="T15" fmla="*/ 19 h 20"/>
                    <a:gd name="T16" fmla="*/ 10 w 10"/>
                    <a:gd name="T17" fmla="*/ 20 h 20"/>
                    <a:gd name="T18" fmla="*/ 10 w 10"/>
                    <a:gd name="T19" fmla="*/ 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10" y="0"/>
                      </a:moveTo>
                      <a:lnTo>
                        <a:pt x="6" y="1"/>
                      </a:lnTo>
                      <a:lnTo>
                        <a:pt x="3" y="3"/>
                      </a:lnTo>
                      <a:lnTo>
                        <a:pt x="1" y="6"/>
                      </a:lnTo>
                      <a:lnTo>
                        <a:pt x="0" y="9"/>
                      </a:lnTo>
                      <a:lnTo>
                        <a:pt x="1" y="14"/>
                      </a:lnTo>
                      <a:lnTo>
                        <a:pt x="3" y="17"/>
                      </a:lnTo>
                      <a:lnTo>
                        <a:pt x="6" y="19"/>
                      </a:lnTo>
                      <a:lnTo>
                        <a:pt x="10" y="2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12" name="Freeform 601"/>
                <p:cNvSpPr>
                  <a:spLocks/>
                </p:cNvSpPr>
                <p:nvPr/>
              </p:nvSpPr>
              <p:spPr bwMode="auto">
                <a:xfrm>
                  <a:off x="2663" y="2092"/>
                  <a:ext cx="57" cy="20"/>
                </a:xfrm>
                <a:custGeom>
                  <a:avLst/>
                  <a:gdLst>
                    <a:gd name="T0" fmla="*/ 57 w 57"/>
                    <a:gd name="T1" fmla="*/ 9 h 20"/>
                    <a:gd name="T2" fmla="*/ 57 w 57"/>
                    <a:gd name="T3" fmla="*/ 0 h 20"/>
                    <a:gd name="T4" fmla="*/ 0 w 57"/>
                    <a:gd name="T5" fmla="*/ 0 h 20"/>
                    <a:gd name="T6" fmla="*/ 0 w 57"/>
                    <a:gd name="T7" fmla="*/ 20 h 20"/>
                    <a:gd name="T8" fmla="*/ 57 w 57"/>
                    <a:gd name="T9" fmla="*/ 20 h 20"/>
                    <a:gd name="T10" fmla="*/ 57 w 57"/>
                    <a:gd name="T11" fmla="*/ 9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20"/>
                    <a:gd name="T20" fmla="*/ 57 w 57"/>
                    <a:gd name="T21" fmla="*/ 20 h 2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20">
                      <a:moveTo>
                        <a:pt x="57" y="9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57" y="20"/>
                      </a:lnTo>
                      <a:lnTo>
                        <a:pt x="57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13" name="Freeform 602"/>
                <p:cNvSpPr>
                  <a:spLocks/>
                </p:cNvSpPr>
                <p:nvPr/>
              </p:nvSpPr>
              <p:spPr bwMode="auto">
                <a:xfrm>
                  <a:off x="2720" y="2092"/>
                  <a:ext cx="10" cy="20"/>
                </a:xfrm>
                <a:custGeom>
                  <a:avLst/>
                  <a:gdLst>
                    <a:gd name="T0" fmla="*/ 0 w 10"/>
                    <a:gd name="T1" fmla="*/ 20 h 20"/>
                    <a:gd name="T2" fmla="*/ 4 w 10"/>
                    <a:gd name="T3" fmla="*/ 19 h 20"/>
                    <a:gd name="T4" fmla="*/ 7 w 10"/>
                    <a:gd name="T5" fmla="*/ 17 h 20"/>
                    <a:gd name="T6" fmla="*/ 9 w 10"/>
                    <a:gd name="T7" fmla="*/ 14 h 20"/>
                    <a:gd name="T8" fmla="*/ 10 w 10"/>
                    <a:gd name="T9" fmla="*/ 9 h 20"/>
                    <a:gd name="T10" fmla="*/ 9 w 10"/>
                    <a:gd name="T11" fmla="*/ 6 h 20"/>
                    <a:gd name="T12" fmla="*/ 7 w 10"/>
                    <a:gd name="T13" fmla="*/ 3 h 20"/>
                    <a:gd name="T14" fmla="*/ 4 w 10"/>
                    <a:gd name="T15" fmla="*/ 1 h 20"/>
                    <a:gd name="T16" fmla="*/ 0 w 10"/>
                    <a:gd name="T17" fmla="*/ 0 h 20"/>
                    <a:gd name="T18" fmla="*/ 0 w 10"/>
                    <a:gd name="T19" fmla="*/ 20 h 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"/>
                    <a:gd name="T31" fmla="*/ 0 h 20"/>
                    <a:gd name="T32" fmla="*/ 10 w 10"/>
                    <a:gd name="T33" fmla="*/ 20 h 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" h="20">
                      <a:moveTo>
                        <a:pt x="0" y="20"/>
                      </a:moveTo>
                      <a:lnTo>
                        <a:pt x="4" y="19"/>
                      </a:lnTo>
                      <a:lnTo>
                        <a:pt x="7" y="17"/>
                      </a:lnTo>
                      <a:lnTo>
                        <a:pt x="9" y="14"/>
                      </a:lnTo>
                      <a:lnTo>
                        <a:pt x="10" y="9"/>
                      </a:lnTo>
                      <a:lnTo>
                        <a:pt x="9" y="6"/>
                      </a:lnTo>
                      <a:lnTo>
                        <a:pt x="7" y="3"/>
                      </a:lnTo>
                      <a:lnTo>
                        <a:pt x="4" y="1"/>
                      </a:lnTo>
                      <a:lnTo>
                        <a:pt x="0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14" name="Freeform 603"/>
                <p:cNvSpPr>
                  <a:spLocks/>
                </p:cNvSpPr>
                <p:nvPr/>
              </p:nvSpPr>
              <p:spPr bwMode="auto">
                <a:xfrm>
                  <a:off x="2660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15" name="Freeform 604"/>
                <p:cNvSpPr>
                  <a:spLocks/>
                </p:cNvSpPr>
                <p:nvPr/>
              </p:nvSpPr>
              <p:spPr bwMode="auto">
                <a:xfrm>
                  <a:off x="2663" y="2063"/>
                  <a:ext cx="57" cy="6"/>
                </a:xfrm>
                <a:custGeom>
                  <a:avLst/>
                  <a:gdLst>
                    <a:gd name="T0" fmla="*/ 57 w 57"/>
                    <a:gd name="T1" fmla="*/ 3 h 6"/>
                    <a:gd name="T2" fmla="*/ 57 w 57"/>
                    <a:gd name="T3" fmla="*/ 0 h 6"/>
                    <a:gd name="T4" fmla="*/ 0 w 57"/>
                    <a:gd name="T5" fmla="*/ 0 h 6"/>
                    <a:gd name="T6" fmla="*/ 0 w 57"/>
                    <a:gd name="T7" fmla="*/ 6 h 6"/>
                    <a:gd name="T8" fmla="*/ 57 w 57"/>
                    <a:gd name="T9" fmla="*/ 6 h 6"/>
                    <a:gd name="T10" fmla="*/ 57 w 5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6"/>
                    <a:gd name="T20" fmla="*/ 57 w 5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6">
                      <a:moveTo>
                        <a:pt x="57" y="3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7" y="6"/>
                      </a:lnTo>
                      <a:lnTo>
                        <a:pt x="57" y="3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16" name="Freeform 605"/>
                <p:cNvSpPr>
                  <a:spLocks/>
                </p:cNvSpPr>
                <p:nvPr/>
              </p:nvSpPr>
              <p:spPr bwMode="auto">
                <a:xfrm>
                  <a:off x="2720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17" name="Freeform 606"/>
                <p:cNvSpPr>
                  <a:spLocks/>
                </p:cNvSpPr>
                <p:nvPr/>
              </p:nvSpPr>
              <p:spPr bwMode="auto">
                <a:xfrm>
                  <a:off x="2660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18" name="Freeform 607"/>
                <p:cNvSpPr>
                  <a:spLocks/>
                </p:cNvSpPr>
                <p:nvPr/>
              </p:nvSpPr>
              <p:spPr bwMode="auto">
                <a:xfrm>
                  <a:off x="2663" y="2075"/>
                  <a:ext cx="57" cy="6"/>
                </a:xfrm>
                <a:custGeom>
                  <a:avLst/>
                  <a:gdLst>
                    <a:gd name="T0" fmla="*/ 57 w 57"/>
                    <a:gd name="T1" fmla="*/ 3 h 6"/>
                    <a:gd name="T2" fmla="*/ 57 w 57"/>
                    <a:gd name="T3" fmla="*/ 0 h 6"/>
                    <a:gd name="T4" fmla="*/ 0 w 57"/>
                    <a:gd name="T5" fmla="*/ 0 h 6"/>
                    <a:gd name="T6" fmla="*/ 0 w 57"/>
                    <a:gd name="T7" fmla="*/ 6 h 6"/>
                    <a:gd name="T8" fmla="*/ 57 w 57"/>
                    <a:gd name="T9" fmla="*/ 6 h 6"/>
                    <a:gd name="T10" fmla="*/ 57 w 5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6"/>
                    <a:gd name="T20" fmla="*/ 57 w 5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6">
                      <a:moveTo>
                        <a:pt x="57" y="3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7" y="6"/>
                      </a:lnTo>
                      <a:lnTo>
                        <a:pt x="57" y="3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19" name="Freeform 608"/>
                <p:cNvSpPr>
                  <a:spLocks/>
                </p:cNvSpPr>
                <p:nvPr/>
              </p:nvSpPr>
              <p:spPr bwMode="auto">
                <a:xfrm>
                  <a:off x="2720" y="2075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20" name="Freeform 609"/>
                <p:cNvSpPr>
                  <a:spLocks/>
                </p:cNvSpPr>
                <p:nvPr/>
              </p:nvSpPr>
              <p:spPr bwMode="auto">
                <a:xfrm>
                  <a:off x="2660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21" name="Freeform 610"/>
                <p:cNvSpPr>
                  <a:spLocks/>
                </p:cNvSpPr>
                <p:nvPr/>
              </p:nvSpPr>
              <p:spPr bwMode="auto">
                <a:xfrm>
                  <a:off x="2663" y="2087"/>
                  <a:ext cx="57" cy="6"/>
                </a:xfrm>
                <a:custGeom>
                  <a:avLst/>
                  <a:gdLst>
                    <a:gd name="T0" fmla="*/ 57 w 57"/>
                    <a:gd name="T1" fmla="*/ 2 h 6"/>
                    <a:gd name="T2" fmla="*/ 57 w 57"/>
                    <a:gd name="T3" fmla="*/ 0 h 6"/>
                    <a:gd name="T4" fmla="*/ 0 w 57"/>
                    <a:gd name="T5" fmla="*/ 0 h 6"/>
                    <a:gd name="T6" fmla="*/ 0 w 57"/>
                    <a:gd name="T7" fmla="*/ 6 h 6"/>
                    <a:gd name="T8" fmla="*/ 57 w 57"/>
                    <a:gd name="T9" fmla="*/ 6 h 6"/>
                    <a:gd name="T10" fmla="*/ 57 w 57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6"/>
                    <a:gd name="T20" fmla="*/ 57 w 5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6">
                      <a:moveTo>
                        <a:pt x="57" y="2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7" y="6"/>
                      </a:lnTo>
                      <a:lnTo>
                        <a:pt x="57" y="2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22" name="Freeform 611"/>
                <p:cNvSpPr>
                  <a:spLocks/>
                </p:cNvSpPr>
                <p:nvPr/>
              </p:nvSpPr>
              <p:spPr bwMode="auto">
                <a:xfrm>
                  <a:off x="2720" y="2087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2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23" name="Freeform 612"/>
                <p:cNvSpPr>
                  <a:spLocks/>
                </p:cNvSpPr>
                <p:nvPr/>
              </p:nvSpPr>
              <p:spPr bwMode="auto">
                <a:xfrm>
                  <a:off x="2660" y="2099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1 w 3"/>
                    <a:gd name="T3" fmla="*/ 1 h 5"/>
                    <a:gd name="T4" fmla="*/ 0 w 3"/>
                    <a:gd name="T5" fmla="*/ 2 h 5"/>
                    <a:gd name="T6" fmla="*/ 1 w 3"/>
                    <a:gd name="T7" fmla="*/ 4 h 5"/>
                    <a:gd name="T8" fmla="*/ 3 w 3"/>
                    <a:gd name="T9" fmla="*/ 5 h 5"/>
                    <a:gd name="T10" fmla="*/ 3 w 3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4"/>
                      </a:lnTo>
                      <a:lnTo>
                        <a:pt x="3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24" name="Freeform 613"/>
                <p:cNvSpPr>
                  <a:spLocks/>
                </p:cNvSpPr>
                <p:nvPr/>
              </p:nvSpPr>
              <p:spPr bwMode="auto">
                <a:xfrm>
                  <a:off x="2663" y="2099"/>
                  <a:ext cx="57" cy="5"/>
                </a:xfrm>
                <a:custGeom>
                  <a:avLst/>
                  <a:gdLst>
                    <a:gd name="T0" fmla="*/ 57 w 57"/>
                    <a:gd name="T1" fmla="*/ 2 h 5"/>
                    <a:gd name="T2" fmla="*/ 57 w 57"/>
                    <a:gd name="T3" fmla="*/ 0 h 5"/>
                    <a:gd name="T4" fmla="*/ 0 w 57"/>
                    <a:gd name="T5" fmla="*/ 0 h 5"/>
                    <a:gd name="T6" fmla="*/ 0 w 57"/>
                    <a:gd name="T7" fmla="*/ 5 h 5"/>
                    <a:gd name="T8" fmla="*/ 57 w 57"/>
                    <a:gd name="T9" fmla="*/ 5 h 5"/>
                    <a:gd name="T10" fmla="*/ 57 w 57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7"/>
                    <a:gd name="T19" fmla="*/ 0 h 5"/>
                    <a:gd name="T20" fmla="*/ 57 w 57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7" h="5">
                      <a:moveTo>
                        <a:pt x="57" y="2"/>
                      </a:moveTo>
                      <a:lnTo>
                        <a:pt x="57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57" y="5"/>
                      </a:lnTo>
                      <a:lnTo>
                        <a:pt x="57" y="2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25" name="Freeform 614"/>
                <p:cNvSpPr>
                  <a:spLocks/>
                </p:cNvSpPr>
                <p:nvPr/>
              </p:nvSpPr>
              <p:spPr bwMode="auto">
                <a:xfrm>
                  <a:off x="2720" y="2099"/>
                  <a:ext cx="2" cy="5"/>
                </a:xfrm>
                <a:custGeom>
                  <a:avLst/>
                  <a:gdLst>
                    <a:gd name="T0" fmla="*/ 0 w 2"/>
                    <a:gd name="T1" fmla="*/ 5 h 5"/>
                    <a:gd name="T2" fmla="*/ 2 w 2"/>
                    <a:gd name="T3" fmla="*/ 4 h 5"/>
                    <a:gd name="T4" fmla="*/ 2 w 2"/>
                    <a:gd name="T5" fmla="*/ 2 h 5"/>
                    <a:gd name="T6" fmla="*/ 2 w 2"/>
                    <a:gd name="T7" fmla="*/ 1 h 5"/>
                    <a:gd name="T8" fmla="*/ 0 w 2"/>
                    <a:gd name="T9" fmla="*/ 0 h 5"/>
                    <a:gd name="T10" fmla="*/ 0 w 2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5"/>
                    <a:gd name="T20" fmla="*/ 2 w 2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5">
                      <a:moveTo>
                        <a:pt x="0" y="5"/>
                      </a:move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26" name="Freeform 615"/>
                <p:cNvSpPr>
                  <a:spLocks/>
                </p:cNvSpPr>
                <p:nvPr/>
              </p:nvSpPr>
              <p:spPr bwMode="auto">
                <a:xfrm>
                  <a:off x="2661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27" name="Freeform 616"/>
                <p:cNvSpPr>
                  <a:spLocks/>
                </p:cNvSpPr>
                <p:nvPr/>
              </p:nvSpPr>
              <p:spPr bwMode="auto">
                <a:xfrm>
                  <a:off x="2664" y="2063"/>
                  <a:ext cx="54" cy="6"/>
                </a:xfrm>
                <a:custGeom>
                  <a:avLst/>
                  <a:gdLst>
                    <a:gd name="T0" fmla="*/ 54 w 54"/>
                    <a:gd name="T1" fmla="*/ 3 h 6"/>
                    <a:gd name="T2" fmla="*/ 54 w 54"/>
                    <a:gd name="T3" fmla="*/ 0 h 6"/>
                    <a:gd name="T4" fmla="*/ 0 w 54"/>
                    <a:gd name="T5" fmla="*/ 0 h 6"/>
                    <a:gd name="T6" fmla="*/ 0 w 54"/>
                    <a:gd name="T7" fmla="*/ 6 h 6"/>
                    <a:gd name="T8" fmla="*/ 54 w 54"/>
                    <a:gd name="T9" fmla="*/ 6 h 6"/>
                    <a:gd name="T10" fmla="*/ 54 w 54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6"/>
                    <a:gd name="T20" fmla="*/ 54 w 5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6">
                      <a:moveTo>
                        <a:pt x="54" y="3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4" y="6"/>
                      </a:lnTo>
                      <a:lnTo>
                        <a:pt x="54" y="3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28" name="Freeform 617"/>
                <p:cNvSpPr>
                  <a:spLocks/>
                </p:cNvSpPr>
                <p:nvPr/>
              </p:nvSpPr>
              <p:spPr bwMode="auto">
                <a:xfrm>
                  <a:off x="2718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29" name="Freeform 618"/>
                <p:cNvSpPr>
                  <a:spLocks/>
                </p:cNvSpPr>
                <p:nvPr/>
              </p:nvSpPr>
              <p:spPr bwMode="auto">
                <a:xfrm>
                  <a:off x="2663" y="2063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1 w 4"/>
                    <a:gd name="T3" fmla="*/ 1 h 6"/>
                    <a:gd name="T4" fmla="*/ 0 w 4"/>
                    <a:gd name="T5" fmla="*/ 3 h 6"/>
                    <a:gd name="T6" fmla="*/ 1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5E5E5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30" name="Freeform 619"/>
                <p:cNvSpPr>
                  <a:spLocks/>
                </p:cNvSpPr>
                <p:nvPr/>
              </p:nvSpPr>
              <p:spPr bwMode="auto">
                <a:xfrm>
                  <a:off x="2667" y="2063"/>
                  <a:ext cx="50" cy="6"/>
                </a:xfrm>
                <a:custGeom>
                  <a:avLst/>
                  <a:gdLst>
                    <a:gd name="T0" fmla="*/ 50 w 50"/>
                    <a:gd name="T1" fmla="*/ 3 h 6"/>
                    <a:gd name="T2" fmla="*/ 50 w 50"/>
                    <a:gd name="T3" fmla="*/ 0 h 6"/>
                    <a:gd name="T4" fmla="*/ 0 w 50"/>
                    <a:gd name="T5" fmla="*/ 0 h 6"/>
                    <a:gd name="T6" fmla="*/ 0 w 50"/>
                    <a:gd name="T7" fmla="*/ 6 h 6"/>
                    <a:gd name="T8" fmla="*/ 50 w 50"/>
                    <a:gd name="T9" fmla="*/ 6 h 6"/>
                    <a:gd name="T10" fmla="*/ 50 w 50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0"/>
                    <a:gd name="T19" fmla="*/ 0 h 6"/>
                    <a:gd name="T20" fmla="*/ 50 w 50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0" h="6">
                      <a:moveTo>
                        <a:pt x="50" y="3"/>
                      </a:moveTo>
                      <a:lnTo>
                        <a:pt x="50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0" y="6"/>
                      </a:lnTo>
                      <a:lnTo>
                        <a:pt x="50" y="3"/>
                      </a:lnTo>
                      <a:close/>
                    </a:path>
                  </a:pathLst>
                </a:custGeom>
                <a:solidFill>
                  <a:srgbClr val="5E5E5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31" name="Freeform 620"/>
                <p:cNvSpPr>
                  <a:spLocks/>
                </p:cNvSpPr>
                <p:nvPr/>
              </p:nvSpPr>
              <p:spPr bwMode="auto">
                <a:xfrm>
                  <a:off x="2717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5E5E5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32" name="Freeform 621"/>
                <p:cNvSpPr>
                  <a:spLocks/>
                </p:cNvSpPr>
                <p:nvPr/>
              </p:nvSpPr>
              <p:spPr bwMode="auto">
                <a:xfrm>
                  <a:off x="2664" y="2063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1 w 4"/>
                    <a:gd name="T3" fmla="*/ 1 h 6"/>
                    <a:gd name="T4" fmla="*/ 0 w 4"/>
                    <a:gd name="T5" fmla="*/ 3 h 6"/>
                    <a:gd name="T6" fmla="*/ 1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68686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33" name="Freeform 622"/>
                <p:cNvSpPr>
                  <a:spLocks/>
                </p:cNvSpPr>
                <p:nvPr/>
              </p:nvSpPr>
              <p:spPr bwMode="auto">
                <a:xfrm>
                  <a:off x="2668" y="2063"/>
                  <a:ext cx="48" cy="6"/>
                </a:xfrm>
                <a:custGeom>
                  <a:avLst/>
                  <a:gdLst>
                    <a:gd name="T0" fmla="*/ 48 w 48"/>
                    <a:gd name="T1" fmla="*/ 3 h 6"/>
                    <a:gd name="T2" fmla="*/ 48 w 48"/>
                    <a:gd name="T3" fmla="*/ 0 h 6"/>
                    <a:gd name="T4" fmla="*/ 0 w 48"/>
                    <a:gd name="T5" fmla="*/ 0 h 6"/>
                    <a:gd name="T6" fmla="*/ 0 w 48"/>
                    <a:gd name="T7" fmla="*/ 6 h 6"/>
                    <a:gd name="T8" fmla="*/ 48 w 48"/>
                    <a:gd name="T9" fmla="*/ 6 h 6"/>
                    <a:gd name="T10" fmla="*/ 48 w 48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8"/>
                    <a:gd name="T19" fmla="*/ 0 h 6"/>
                    <a:gd name="T20" fmla="*/ 48 w 48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8" h="6">
                      <a:moveTo>
                        <a:pt x="48" y="3"/>
                      </a:move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8" y="6"/>
                      </a:lnTo>
                      <a:lnTo>
                        <a:pt x="48" y="3"/>
                      </a:lnTo>
                      <a:close/>
                    </a:path>
                  </a:pathLst>
                </a:custGeom>
                <a:solidFill>
                  <a:srgbClr val="68686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34" name="Freeform 623"/>
                <p:cNvSpPr>
                  <a:spLocks/>
                </p:cNvSpPr>
                <p:nvPr/>
              </p:nvSpPr>
              <p:spPr bwMode="auto">
                <a:xfrm>
                  <a:off x="2716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68686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35" name="Freeform 624"/>
                <p:cNvSpPr>
                  <a:spLocks/>
                </p:cNvSpPr>
                <p:nvPr/>
              </p:nvSpPr>
              <p:spPr bwMode="auto">
                <a:xfrm>
                  <a:off x="2667" y="2063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36" name="Freeform 625"/>
                <p:cNvSpPr>
                  <a:spLocks/>
                </p:cNvSpPr>
                <p:nvPr/>
              </p:nvSpPr>
              <p:spPr bwMode="auto">
                <a:xfrm>
                  <a:off x="2669" y="2063"/>
                  <a:ext cx="46" cy="6"/>
                </a:xfrm>
                <a:custGeom>
                  <a:avLst/>
                  <a:gdLst>
                    <a:gd name="T0" fmla="*/ 46 w 46"/>
                    <a:gd name="T1" fmla="*/ 3 h 6"/>
                    <a:gd name="T2" fmla="*/ 46 w 46"/>
                    <a:gd name="T3" fmla="*/ 0 h 6"/>
                    <a:gd name="T4" fmla="*/ 0 w 46"/>
                    <a:gd name="T5" fmla="*/ 0 h 6"/>
                    <a:gd name="T6" fmla="*/ 0 w 46"/>
                    <a:gd name="T7" fmla="*/ 6 h 6"/>
                    <a:gd name="T8" fmla="*/ 46 w 46"/>
                    <a:gd name="T9" fmla="*/ 6 h 6"/>
                    <a:gd name="T10" fmla="*/ 46 w 46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6"/>
                    <a:gd name="T19" fmla="*/ 0 h 6"/>
                    <a:gd name="T20" fmla="*/ 46 w 4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6" h="6">
                      <a:moveTo>
                        <a:pt x="46" y="3"/>
                      </a:moveTo>
                      <a:lnTo>
                        <a:pt x="4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6" y="6"/>
                      </a:lnTo>
                      <a:lnTo>
                        <a:pt x="46" y="3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37" name="Freeform 626"/>
                <p:cNvSpPr>
                  <a:spLocks/>
                </p:cNvSpPr>
                <p:nvPr/>
              </p:nvSpPr>
              <p:spPr bwMode="auto">
                <a:xfrm>
                  <a:off x="2715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38" name="Freeform 627"/>
                <p:cNvSpPr>
                  <a:spLocks/>
                </p:cNvSpPr>
                <p:nvPr/>
              </p:nvSpPr>
              <p:spPr bwMode="auto">
                <a:xfrm>
                  <a:off x="2668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A7A7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39" name="Freeform 628"/>
                <p:cNvSpPr>
                  <a:spLocks/>
                </p:cNvSpPr>
                <p:nvPr/>
              </p:nvSpPr>
              <p:spPr bwMode="auto">
                <a:xfrm>
                  <a:off x="2671" y="2063"/>
                  <a:ext cx="41" cy="6"/>
                </a:xfrm>
                <a:custGeom>
                  <a:avLst/>
                  <a:gdLst>
                    <a:gd name="T0" fmla="*/ 41 w 41"/>
                    <a:gd name="T1" fmla="*/ 3 h 6"/>
                    <a:gd name="T2" fmla="*/ 41 w 41"/>
                    <a:gd name="T3" fmla="*/ 0 h 6"/>
                    <a:gd name="T4" fmla="*/ 0 w 41"/>
                    <a:gd name="T5" fmla="*/ 0 h 6"/>
                    <a:gd name="T6" fmla="*/ 0 w 41"/>
                    <a:gd name="T7" fmla="*/ 6 h 6"/>
                    <a:gd name="T8" fmla="*/ 41 w 41"/>
                    <a:gd name="T9" fmla="*/ 6 h 6"/>
                    <a:gd name="T10" fmla="*/ 41 w 4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1"/>
                    <a:gd name="T19" fmla="*/ 0 h 6"/>
                    <a:gd name="T20" fmla="*/ 41 w 4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1" h="6">
                      <a:moveTo>
                        <a:pt x="41" y="3"/>
                      </a:move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1" y="6"/>
                      </a:lnTo>
                      <a:lnTo>
                        <a:pt x="41" y="3"/>
                      </a:lnTo>
                      <a:close/>
                    </a:path>
                  </a:pathLst>
                </a:custGeom>
                <a:solidFill>
                  <a:srgbClr val="7A7A7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40" name="Freeform 629"/>
                <p:cNvSpPr>
                  <a:spLocks/>
                </p:cNvSpPr>
                <p:nvPr/>
              </p:nvSpPr>
              <p:spPr bwMode="auto">
                <a:xfrm>
                  <a:off x="2712" y="2063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3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A7A7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41" name="Freeform 630"/>
                <p:cNvSpPr>
                  <a:spLocks/>
                </p:cNvSpPr>
                <p:nvPr/>
              </p:nvSpPr>
              <p:spPr bwMode="auto">
                <a:xfrm>
                  <a:off x="2669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4848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42" name="Freeform 631"/>
                <p:cNvSpPr>
                  <a:spLocks/>
                </p:cNvSpPr>
                <p:nvPr/>
              </p:nvSpPr>
              <p:spPr bwMode="auto">
                <a:xfrm>
                  <a:off x="2672" y="2063"/>
                  <a:ext cx="39" cy="6"/>
                </a:xfrm>
                <a:custGeom>
                  <a:avLst/>
                  <a:gdLst>
                    <a:gd name="T0" fmla="*/ 39 w 39"/>
                    <a:gd name="T1" fmla="*/ 3 h 6"/>
                    <a:gd name="T2" fmla="*/ 39 w 39"/>
                    <a:gd name="T3" fmla="*/ 0 h 6"/>
                    <a:gd name="T4" fmla="*/ 0 w 39"/>
                    <a:gd name="T5" fmla="*/ 0 h 6"/>
                    <a:gd name="T6" fmla="*/ 0 w 39"/>
                    <a:gd name="T7" fmla="*/ 6 h 6"/>
                    <a:gd name="T8" fmla="*/ 39 w 39"/>
                    <a:gd name="T9" fmla="*/ 6 h 6"/>
                    <a:gd name="T10" fmla="*/ 39 w 39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9"/>
                    <a:gd name="T19" fmla="*/ 0 h 6"/>
                    <a:gd name="T20" fmla="*/ 39 w 3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9" h="6">
                      <a:moveTo>
                        <a:pt x="39" y="3"/>
                      </a:moveTo>
                      <a:lnTo>
                        <a:pt x="3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9" y="6"/>
                      </a:lnTo>
                      <a:lnTo>
                        <a:pt x="39" y="3"/>
                      </a:lnTo>
                      <a:close/>
                    </a:path>
                  </a:pathLst>
                </a:custGeom>
                <a:solidFill>
                  <a:srgbClr val="84848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43" name="Freeform 632"/>
                <p:cNvSpPr>
                  <a:spLocks/>
                </p:cNvSpPr>
                <p:nvPr/>
              </p:nvSpPr>
              <p:spPr bwMode="auto">
                <a:xfrm>
                  <a:off x="2711" y="2063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3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84848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44" name="Freeform 633"/>
                <p:cNvSpPr>
                  <a:spLocks/>
                </p:cNvSpPr>
                <p:nvPr/>
              </p:nvSpPr>
              <p:spPr bwMode="auto">
                <a:xfrm>
                  <a:off x="2671" y="2063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E8E8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45" name="Freeform 634"/>
                <p:cNvSpPr>
                  <a:spLocks/>
                </p:cNvSpPr>
                <p:nvPr/>
              </p:nvSpPr>
              <p:spPr bwMode="auto">
                <a:xfrm>
                  <a:off x="2673" y="2063"/>
                  <a:ext cx="37" cy="6"/>
                </a:xfrm>
                <a:custGeom>
                  <a:avLst/>
                  <a:gdLst>
                    <a:gd name="T0" fmla="*/ 37 w 37"/>
                    <a:gd name="T1" fmla="*/ 3 h 6"/>
                    <a:gd name="T2" fmla="*/ 37 w 37"/>
                    <a:gd name="T3" fmla="*/ 0 h 6"/>
                    <a:gd name="T4" fmla="*/ 0 w 37"/>
                    <a:gd name="T5" fmla="*/ 0 h 6"/>
                    <a:gd name="T6" fmla="*/ 0 w 37"/>
                    <a:gd name="T7" fmla="*/ 6 h 6"/>
                    <a:gd name="T8" fmla="*/ 37 w 37"/>
                    <a:gd name="T9" fmla="*/ 6 h 6"/>
                    <a:gd name="T10" fmla="*/ 37 w 3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7"/>
                    <a:gd name="T19" fmla="*/ 0 h 6"/>
                    <a:gd name="T20" fmla="*/ 37 w 3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7" h="6">
                      <a:moveTo>
                        <a:pt x="37" y="3"/>
                      </a:moveTo>
                      <a:lnTo>
                        <a:pt x="3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7" y="6"/>
                      </a:lnTo>
                      <a:lnTo>
                        <a:pt x="37" y="3"/>
                      </a:lnTo>
                      <a:close/>
                    </a:path>
                  </a:pathLst>
                </a:custGeom>
                <a:solidFill>
                  <a:srgbClr val="8E8E8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46" name="Freeform 635"/>
                <p:cNvSpPr>
                  <a:spLocks/>
                </p:cNvSpPr>
                <p:nvPr/>
              </p:nvSpPr>
              <p:spPr bwMode="auto">
                <a:xfrm>
                  <a:off x="2710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8E8E8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47" name="Freeform 636"/>
                <p:cNvSpPr>
                  <a:spLocks/>
                </p:cNvSpPr>
                <p:nvPr/>
              </p:nvSpPr>
              <p:spPr bwMode="auto">
                <a:xfrm>
                  <a:off x="2672" y="2063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48" name="Freeform 637"/>
                <p:cNvSpPr>
                  <a:spLocks/>
                </p:cNvSpPr>
                <p:nvPr/>
              </p:nvSpPr>
              <p:spPr bwMode="auto">
                <a:xfrm>
                  <a:off x="2674" y="2063"/>
                  <a:ext cx="35" cy="6"/>
                </a:xfrm>
                <a:custGeom>
                  <a:avLst/>
                  <a:gdLst>
                    <a:gd name="T0" fmla="*/ 35 w 35"/>
                    <a:gd name="T1" fmla="*/ 3 h 6"/>
                    <a:gd name="T2" fmla="*/ 35 w 35"/>
                    <a:gd name="T3" fmla="*/ 0 h 6"/>
                    <a:gd name="T4" fmla="*/ 0 w 35"/>
                    <a:gd name="T5" fmla="*/ 0 h 6"/>
                    <a:gd name="T6" fmla="*/ 0 w 35"/>
                    <a:gd name="T7" fmla="*/ 6 h 6"/>
                    <a:gd name="T8" fmla="*/ 35 w 35"/>
                    <a:gd name="T9" fmla="*/ 6 h 6"/>
                    <a:gd name="T10" fmla="*/ 35 w 35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5"/>
                    <a:gd name="T19" fmla="*/ 0 h 6"/>
                    <a:gd name="T20" fmla="*/ 35 w 35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5" h="6">
                      <a:moveTo>
                        <a:pt x="35" y="3"/>
                      </a:moveTo>
                      <a:lnTo>
                        <a:pt x="35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5" y="6"/>
                      </a:lnTo>
                      <a:lnTo>
                        <a:pt x="35" y="3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49" name="Freeform 638"/>
                <p:cNvSpPr>
                  <a:spLocks/>
                </p:cNvSpPr>
                <p:nvPr/>
              </p:nvSpPr>
              <p:spPr bwMode="auto">
                <a:xfrm>
                  <a:off x="2709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50" name="Freeform 639"/>
                <p:cNvSpPr>
                  <a:spLocks/>
                </p:cNvSpPr>
                <p:nvPr/>
              </p:nvSpPr>
              <p:spPr bwMode="auto">
                <a:xfrm>
                  <a:off x="2673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51" name="Freeform 640"/>
                <p:cNvSpPr>
                  <a:spLocks/>
                </p:cNvSpPr>
                <p:nvPr/>
              </p:nvSpPr>
              <p:spPr bwMode="auto">
                <a:xfrm>
                  <a:off x="2676" y="2063"/>
                  <a:ext cx="32" cy="6"/>
                </a:xfrm>
                <a:custGeom>
                  <a:avLst/>
                  <a:gdLst>
                    <a:gd name="T0" fmla="*/ 32 w 32"/>
                    <a:gd name="T1" fmla="*/ 3 h 6"/>
                    <a:gd name="T2" fmla="*/ 32 w 32"/>
                    <a:gd name="T3" fmla="*/ 0 h 6"/>
                    <a:gd name="T4" fmla="*/ 0 w 32"/>
                    <a:gd name="T5" fmla="*/ 0 h 6"/>
                    <a:gd name="T6" fmla="*/ 0 w 32"/>
                    <a:gd name="T7" fmla="*/ 6 h 6"/>
                    <a:gd name="T8" fmla="*/ 32 w 32"/>
                    <a:gd name="T9" fmla="*/ 6 h 6"/>
                    <a:gd name="T10" fmla="*/ 32 w 32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2"/>
                    <a:gd name="T19" fmla="*/ 0 h 6"/>
                    <a:gd name="T20" fmla="*/ 32 w 3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2" h="6">
                      <a:moveTo>
                        <a:pt x="32" y="3"/>
                      </a:moveTo>
                      <a:lnTo>
                        <a:pt x="32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2" y="6"/>
                      </a:lnTo>
                      <a:lnTo>
                        <a:pt x="32" y="3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52" name="Freeform 641"/>
                <p:cNvSpPr>
                  <a:spLocks/>
                </p:cNvSpPr>
                <p:nvPr/>
              </p:nvSpPr>
              <p:spPr bwMode="auto">
                <a:xfrm>
                  <a:off x="2708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53" name="Freeform 642"/>
                <p:cNvSpPr>
                  <a:spLocks/>
                </p:cNvSpPr>
                <p:nvPr/>
              </p:nvSpPr>
              <p:spPr bwMode="auto">
                <a:xfrm>
                  <a:off x="2674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AAAAA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54" name="Freeform 643"/>
                <p:cNvSpPr>
                  <a:spLocks/>
                </p:cNvSpPr>
                <p:nvPr/>
              </p:nvSpPr>
              <p:spPr bwMode="auto">
                <a:xfrm>
                  <a:off x="2677" y="2063"/>
                  <a:ext cx="29" cy="6"/>
                </a:xfrm>
                <a:custGeom>
                  <a:avLst/>
                  <a:gdLst>
                    <a:gd name="T0" fmla="*/ 29 w 29"/>
                    <a:gd name="T1" fmla="*/ 3 h 6"/>
                    <a:gd name="T2" fmla="*/ 29 w 29"/>
                    <a:gd name="T3" fmla="*/ 0 h 6"/>
                    <a:gd name="T4" fmla="*/ 0 w 29"/>
                    <a:gd name="T5" fmla="*/ 0 h 6"/>
                    <a:gd name="T6" fmla="*/ 0 w 29"/>
                    <a:gd name="T7" fmla="*/ 6 h 6"/>
                    <a:gd name="T8" fmla="*/ 29 w 29"/>
                    <a:gd name="T9" fmla="*/ 6 h 6"/>
                    <a:gd name="T10" fmla="*/ 29 w 29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"/>
                    <a:gd name="T19" fmla="*/ 0 h 6"/>
                    <a:gd name="T20" fmla="*/ 29 w 2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" h="6">
                      <a:moveTo>
                        <a:pt x="29" y="3"/>
                      </a:moveTo>
                      <a:lnTo>
                        <a:pt x="2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9" y="6"/>
                      </a:lnTo>
                      <a:lnTo>
                        <a:pt x="29" y="3"/>
                      </a:lnTo>
                      <a:close/>
                    </a:path>
                  </a:pathLst>
                </a:custGeom>
                <a:solidFill>
                  <a:srgbClr val="AAAAA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55" name="Freeform 644"/>
                <p:cNvSpPr>
                  <a:spLocks/>
                </p:cNvSpPr>
                <p:nvPr/>
              </p:nvSpPr>
              <p:spPr bwMode="auto">
                <a:xfrm>
                  <a:off x="2706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AAAAA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56" name="Freeform 645"/>
                <p:cNvSpPr>
                  <a:spLocks/>
                </p:cNvSpPr>
                <p:nvPr/>
              </p:nvSpPr>
              <p:spPr bwMode="auto">
                <a:xfrm>
                  <a:off x="2676" y="2063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B5B5B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57" name="Freeform 646"/>
                <p:cNvSpPr>
                  <a:spLocks/>
                </p:cNvSpPr>
                <p:nvPr/>
              </p:nvSpPr>
              <p:spPr bwMode="auto">
                <a:xfrm>
                  <a:off x="2678" y="2063"/>
                  <a:ext cx="27" cy="6"/>
                </a:xfrm>
                <a:custGeom>
                  <a:avLst/>
                  <a:gdLst>
                    <a:gd name="T0" fmla="*/ 27 w 27"/>
                    <a:gd name="T1" fmla="*/ 3 h 6"/>
                    <a:gd name="T2" fmla="*/ 27 w 27"/>
                    <a:gd name="T3" fmla="*/ 0 h 6"/>
                    <a:gd name="T4" fmla="*/ 0 w 27"/>
                    <a:gd name="T5" fmla="*/ 0 h 6"/>
                    <a:gd name="T6" fmla="*/ 0 w 27"/>
                    <a:gd name="T7" fmla="*/ 6 h 6"/>
                    <a:gd name="T8" fmla="*/ 27 w 27"/>
                    <a:gd name="T9" fmla="*/ 6 h 6"/>
                    <a:gd name="T10" fmla="*/ 27 w 2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7"/>
                    <a:gd name="T19" fmla="*/ 0 h 6"/>
                    <a:gd name="T20" fmla="*/ 27 w 2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7" h="6">
                      <a:moveTo>
                        <a:pt x="27" y="3"/>
                      </a:moveTo>
                      <a:lnTo>
                        <a:pt x="2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7" y="6"/>
                      </a:lnTo>
                      <a:lnTo>
                        <a:pt x="27" y="3"/>
                      </a:lnTo>
                      <a:close/>
                    </a:path>
                  </a:pathLst>
                </a:custGeom>
                <a:solidFill>
                  <a:srgbClr val="B5B5B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58" name="Freeform 647"/>
                <p:cNvSpPr>
                  <a:spLocks/>
                </p:cNvSpPr>
                <p:nvPr/>
              </p:nvSpPr>
              <p:spPr bwMode="auto">
                <a:xfrm>
                  <a:off x="2705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5B5B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59" name="Freeform 648"/>
                <p:cNvSpPr>
                  <a:spLocks/>
                </p:cNvSpPr>
                <p:nvPr/>
              </p:nvSpPr>
              <p:spPr bwMode="auto">
                <a:xfrm>
                  <a:off x="2677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BCBCB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60" name="Freeform 649"/>
                <p:cNvSpPr>
                  <a:spLocks/>
                </p:cNvSpPr>
                <p:nvPr/>
              </p:nvSpPr>
              <p:spPr bwMode="auto">
                <a:xfrm>
                  <a:off x="2680" y="2063"/>
                  <a:ext cx="24" cy="6"/>
                </a:xfrm>
                <a:custGeom>
                  <a:avLst/>
                  <a:gdLst>
                    <a:gd name="T0" fmla="*/ 24 w 24"/>
                    <a:gd name="T1" fmla="*/ 3 h 6"/>
                    <a:gd name="T2" fmla="*/ 24 w 24"/>
                    <a:gd name="T3" fmla="*/ 0 h 6"/>
                    <a:gd name="T4" fmla="*/ 0 w 24"/>
                    <a:gd name="T5" fmla="*/ 0 h 6"/>
                    <a:gd name="T6" fmla="*/ 0 w 24"/>
                    <a:gd name="T7" fmla="*/ 6 h 6"/>
                    <a:gd name="T8" fmla="*/ 24 w 24"/>
                    <a:gd name="T9" fmla="*/ 6 h 6"/>
                    <a:gd name="T10" fmla="*/ 24 w 24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4"/>
                    <a:gd name="T19" fmla="*/ 0 h 6"/>
                    <a:gd name="T20" fmla="*/ 24 w 2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4" h="6">
                      <a:moveTo>
                        <a:pt x="24" y="3"/>
                      </a:moveTo>
                      <a:lnTo>
                        <a:pt x="2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4" y="6"/>
                      </a:lnTo>
                      <a:lnTo>
                        <a:pt x="24" y="3"/>
                      </a:lnTo>
                      <a:close/>
                    </a:path>
                  </a:pathLst>
                </a:custGeom>
                <a:solidFill>
                  <a:srgbClr val="BCBCB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61" name="Freeform 650"/>
                <p:cNvSpPr>
                  <a:spLocks/>
                </p:cNvSpPr>
                <p:nvPr/>
              </p:nvSpPr>
              <p:spPr bwMode="auto">
                <a:xfrm>
                  <a:off x="2704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CBCB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62" name="Freeform 651"/>
                <p:cNvSpPr>
                  <a:spLocks/>
                </p:cNvSpPr>
                <p:nvPr/>
              </p:nvSpPr>
              <p:spPr bwMode="auto">
                <a:xfrm>
                  <a:off x="2678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63" name="Freeform 652"/>
                <p:cNvSpPr>
                  <a:spLocks/>
                </p:cNvSpPr>
                <p:nvPr/>
              </p:nvSpPr>
              <p:spPr bwMode="auto">
                <a:xfrm>
                  <a:off x="2681" y="2063"/>
                  <a:ext cx="21" cy="6"/>
                </a:xfrm>
                <a:custGeom>
                  <a:avLst/>
                  <a:gdLst>
                    <a:gd name="T0" fmla="*/ 21 w 21"/>
                    <a:gd name="T1" fmla="*/ 3 h 6"/>
                    <a:gd name="T2" fmla="*/ 21 w 21"/>
                    <a:gd name="T3" fmla="*/ 0 h 6"/>
                    <a:gd name="T4" fmla="*/ 0 w 21"/>
                    <a:gd name="T5" fmla="*/ 0 h 6"/>
                    <a:gd name="T6" fmla="*/ 0 w 21"/>
                    <a:gd name="T7" fmla="*/ 6 h 6"/>
                    <a:gd name="T8" fmla="*/ 21 w 21"/>
                    <a:gd name="T9" fmla="*/ 6 h 6"/>
                    <a:gd name="T10" fmla="*/ 21 w 2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1"/>
                    <a:gd name="T19" fmla="*/ 0 h 6"/>
                    <a:gd name="T20" fmla="*/ 21 w 2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" h="6">
                      <a:moveTo>
                        <a:pt x="21" y="3"/>
                      </a:moveTo>
                      <a:lnTo>
                        <a:pt x="2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1" y="6"/>
                      </a:lnTo>
                      <a:lnTo>
                        <a:pt x="21" y="3"/>
                      </a:lnTo>
                      <a:close/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64" name="Freeform 653"/>
                <p:cNvSpPr>
                  <a:spLocks/>
                </p:cNvSpPr>
                <p:nvPr/>
              </p:nvSpPr>
              <p:spPr bwMode="auto">
                <a:xfrm>
                  <a:off x="2702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65" name="Freeform 654"/>
                <p:cNvSpPr>
                  <a:spLocks/>
                </p:cNvSpPr>
                <p:nvPr/>
              </p:nvSpPr>
              <p:spPr bwMode="auto">
                <a:xfrm>
                  <a:off x="2680" y="2063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1 w 4"/>
                    <a:gd name="T3" fmla="*/ 1 h 6"/>
                    <a:gd name="T4" fmla="*/ 0 w 4"/>
                    <a:gd name="T5" fmla="*/ 3 h 6"/>
                    <a:gd name="T6" fmla="*/ 1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D1D1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66" name="Freeform 655"/>
                <p:cNvSpPr>
                  <a:spLocks/>
                </p:cNvSpPr>
                <p:nvPr/>
              </p:nvSpPr>
              <p:spPr bwMode="auto">
                <a:xfrm>
                  <a:off x="2684" y="2063"/>
                  <a:ext cx="17" cy="6"/>
                </a:xfrm>
                <a:custGeom>
                  <a:avLst/>
                  <a:gdLst>
                    <a:gd name="T0" fmla="*/ 17 w 17"/>
                    <a:gd name="T1" fmla="*/ 3 h 6"/>
                    <a:gd name="T2" fmla="*/ 17 w 17"/>
                    <a:gd name="T3" fmla="*/ 0 h 6"/>
                    <a:gd name="T4" fmla="*/ 0 w 17"/>
                    <a:gd name="T5" fmla="*/ 0 h 6"/>
                    <a:gd name="T6" fmla="*/ 0 w 17"/>
                    <a:gd name="T7" fmla="*/ 6 h 6"/>
                    <a:gd name="T8" fmla="*/ 17 w 17"/>
                    <a:gd name="T9" fmla="*/ 6 h 6"/>
                    <a:gd name="T10" fmla="*/ 17 w 1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7"/>
                    <a:gd name="T19" fmla="*/ 0 h 6"/>
                    <a:gd name="T20" fmla="*/ 17 w 1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7" h="6">
                      <a:moveTo>
                        <a:pt x="17" y="3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7" y="6"/>
                      </a:lnTo>
                      <a:lnTo>
                        <a:pt x="17" y="3"/>
                      </a:lnTo>
                      <a:close/>
                    </a:path>
                  </a:pathLst>
                </a:custGeom>
                <a:solidFill>
                  <a:srgbClr val="D1D1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67" name="Freeform 656"/>
                <p:cNvSpPr>
                  <a:spLocks/>
                </p:cNvSpPr>
                <p:nvPr/>
              </p:nvSpPr>
              <p:spPr bwMode="auto">
                <a:xfrm>
                  <a:off x="2701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D1D1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68" name="Freeform 657"/>
                <p:cNvSpPr>
                  <a:spLocks/>
                </p:cNvSpPr>
                <p:nvPr/>
              </p:nvSpPr>
              <p:spPr bwMode="auto">
                <a:xfrm>
                  <a:off x="2681" y="2063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2 w 4"/>
                    <a:gd name="T3" fmla="*/ 1 h 6"/>
                    <a:gd name="T4" fmla="*/ 0 w 4"/>
                    <a:gd name="T5" fmla="*/ 3 h 6"/>
                    <a:gd name="T6" fmla="*/ 2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2" y="1"/>
                      </a:lnTo>
                      <a:lnTo>
                        <a:pt x="0" y="3"/>
                      </a:lnTo>
                      <a:lnTo>
                        <a:pt x="2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69" name="Freeform 658"/>
                <p:cNvSpPr>
                  <a:spLocks/>
                </p:cNvSpPr>
                <p:nvPr/>
              </p:nvSpPr>
              <p:spPr bwMode="auto">
                <a:xfrm>
                  <a:off x="2685" y="2063"/>
                  <a:ext cx="15" cy="6"/>
                </a:xfrm>
                <a:custGeom>
                  <a:avLst/>
                  <a:gdLst>
                    <a:gd name="T0" fmla="*/ 15 w 15"/>
                    <a:gd name="T1" fmla="*/ 3 h 6"/>
                    <a:gd name="T2" fmla="*/ 15 w 15"/>
                    <a:gd name="T3" fmla="*/ 0 h 6"/>
                    <a:gd name="T4" fmla="*/ 0 w 15"/>
                    <a:gd name="T5" fmla="*/ 0 h 6"/>
                    <a:gd name="T6" fmla="*/ 0 w 15"/>
                    <a:gd name="T7" fmla="*/ 6 h 6"/>
                    <a:gd name="T8" fmla="*/ 15 w 15"/>
                    <a:gd name="T9" fmla="*/ 6 h 6"/>
                    <a:gd name="T10" fmla="*/ 15 w 15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5"/>
                    <a:gd name="T19" fmla="*/ 0 h 6"/>
                    <a:gd name="T20" fmla="*/ 15 w 15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5" h="6">
                      <a:moveTo>
                        <a:pt x="15" y="3"/>
                      </a:move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5" y="6"/>
                      </a:lnTo>
                      <a:lnTo>
                        <a:pt x="15" y="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70" name="Freeform 659"/>
                <p:cNvSpPr>
                  <a:spLocks/>
                </p:cNvSpPr>
                <p:nvPr/>
              </p:nvSpPr>
              <p:spPr bwMode="auto">
                <a:xfrm>
                  <a:off x="2700" y="2063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71" name="Freeform 660"/>
                <p:cNvSpPr>
                  <a:spLocks/>
                </p:cNvSpPr>
                <p:nvPr/>
              </p:nvSpPr>
              <p:spPr bwMode="auto">
                <a:xfrm>
                  <a:off x="2684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2E2E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72" name="Freeform 661"/>
                <p:cNvSpPr>
                  <a:spLocks/>
                </p:cNvSpPr>
                <p:nvPr/>
              </p:nvSpPr>
              <p:spPr bwMode="auto">
                <a:xfrm>
                  <a:off x="2687" y="2063"/>
                  <a:ext cx="11" cy="6"/>
                </a:xfrm>
                <a:custGeom>
                  <a:avLst/>
                  <a:gdLst>
                    <a:gd name="T0" fmla="*/ 11 w 11"/>
                    <a:gd name="T1" fmla="*/ 3 h 6"/>
                    <a:gd name="T2" fmla="*/ 11 w 11"/>
                    <a:gd name="T3" fmla="*/ 0 h 6"/>
                    <a:gd name="T4" fmla="*/ 0 w 11"/>
                    <a:gd name="T5" fmla="*/ 0 h 6"/>
                    <a:gd name="T6" fmla="*/ 0 w 11"/>
                    <a:gd name="T7" fmla="*/ 6 h 6"/>
                    <a:gd name="T8" fmla="*/ 11 w 11"/>
                    <a:gd name="T9" fmla="*/ 6 h 6"/>
                    <a:gd name="T10" fmla="*/ 11 w 1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1"/>
                    <a:gd name="T19" fmla="*/ 0 h 6"/>
                    <a:gd name="T20" fmla="*/ 11 w 1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1" h="6">
                      <a:moveTo>
                        <a:pt x="11" y="3"/>
                      </a:moveTo>
                      <a:lnTo>
                        <a:pt x="1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1" y="6"/>
                      </a:lnTo>
                      <a:lnTo>
                        <a:pt x="11" y="3"/>
                      </a:lnTo>
                      <a:close/>
                    </a:path>
                  </a:pathLst>
                </a:custGeom>
                <a:solidFill>
                  <a:srgbClr val="E2E2E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73" name="Freeform 662"/>
                <p:cNvSpPr>
                  <a:spLocks/>
                </p:cNvSpPr>
                <p:nvPr/>
              </p:nvSpPr>
              <p:spPr bwMode="auto">
                <a:xfrm>
                  <a:off x="2698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E2E2E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74" name="Freeform 663"/>
                <p:cNvSpPr>
                  <a:spLocks/>
                </p:cNvSpPr>
                <p:nvPr/>
              </p:nvSpPr>
              <p:spPr bwMode="auto">
                <a:xfrm>
                  <a:off x="2685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DED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75" name="Freeform 664"/>
                <p:cNvSpPr>
                  <a:spLocks/>
                </p:cNvSpPr>
                <p:nvPr/>
              </p:nvSpPr>
              <p:spPr bwMode="auto">
                <a:xfrm>
                  <a:off x="2688" y="2063"/>
                  <a:ext cx="8" cy="6"/>
                </a:xfrm>
                <a:custGeom>
                  <a:avLst/>
                  <a:gdLst>
                    <a:gd name="T0" fmla="*/ 8 w 8"/>
                    <a:gd name="T1" fmla="*/ 3 h 6"/>
                    <a:gd name="T2" fmla="*/ 8 w 8"/>
                    <a:gd name="T3" fmla="*/ 0 h 6"/>
                    <a:gd name="T4" fmla="*/ 0 w 8"/>
                    <a:gd name="T5" fmla="*/ 0 h 6"/>
                    <a:gd name="T6" fmla="*/ 0 w 8"/>
                    <a:gd name="T7" fmla="*/ 6 h 6"/>
                    <a:gd name="T8" fmla="*/ 8 w 8"/>
                    <a:gd name="T9" fmla="*/ 6 h 6"/>
                    <a:gd name="T10" fmla="*/ 8 w 8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"/>
                    <a:gd name="T19" fmla="*/ 0 h 6"/>
                    <a:gd name="T20" fmla="*/ 8 w 8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" h="6">
                      <a:moveTo>
                        <a:pt x="8" y="3"/>
                      </a:moveTo>
                      <a:lnTo>
                        <a:pt x="8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8" y="6"/>
                      </a:lnTo>
                      <a:lnTo>
                        <a:pt x="8" y="3"/>
                      </a:lnTo>
                      <a:close/>
                    </a:path>
                  </a:pathLst>
                </a:custGeom>
                <a:solidFill>
                  <a:srgbClr val="EDED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76" name="Freeform 665"/>
                <p:cNvSpPr>
                  <a:spLocks/>
                </p:cNvSpPr>
                <p:nvPr/>
              </p:nvSpPr>
              <p:spPr bwMode="auto">
                <a:xfrm>
                  <a:off x="2696" y="2063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3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EDED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77" name="Freeform 666"/>
                <p:cNvSpPr>
                  <a:spLocks/>
                </p:cNvSpPr>
                <p:nvPr/>
              </p:nvSpPr>
              <p:spPr bwMode="auto">
                <a:xfrm>
                  <a:off x="2687" y="2063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78" name="Freeform 667"/>
                <p:cNvSpPr>
                  <a:spLocks/>
                </p:cNvSpPr>
                <p:nvPr/>
              </p:nvSpPr>
              <p:spPr bwMode="auto">
                <a:xfrm>
                  <a:off x="2689" y="2063"/>
                  <a:ext cx="6" cy="6"/>
                </a:xfrm>
                <a:custGeom>
                  <a:avLst/>
                  <a:gdLst>
                    <a:gd name="T0" fmla="*/ 6 w 6"/>
                    <a:gd name="T1" fmla="*/ 3 h 6"/>
                    <a:gd name="T2" fmla="*/ 6 w 6"/>
                    <a:gd name="T3" fmla="*/ 0 h 6"/>
                    <a:gd name="T4" fmla="*/ 0 w 6"/>
                    <a:gd name="T5" fmla="*/ 0 h 6"/>
                    <a:gd name="T6" fmla="*/ 0 w 6"/>
                    <a:gd name="T7" fmla="*/ 6 h 6"/>
                    <a:gd name="T8" fmla="*/ 6 w 6"/>
                    <a:gd name="T9" fmla="*/ 6 h 6"/>
                    <a:gd name="T10" fmla="*/ 6 w 6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"/>
                    <a:gd name="T19" fmla="*/ 0 h 6"/>
                    <a:gd name="T20" fmla="*/ 6 w 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" h="6">
                      <a:moveTo>
                        <a:pt x="6" y="3"/>
                      </a:move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6" y="6"/>
                      </a:lnTo>
                      <a:lnTo>
                        <a:pt x="6" y="3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79" name="Freeform 668"/>
                <p:cNvSpPr>
                  <a:spLocks/>
                </p:cNvSpPr>
                <p:nvPr/>
              </p:nvSpPr>
              <p:spPr bwMode="auto">
                <a:xfrm>
                  <a:off x="2695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3 w 3"/>
                    <a:gd name="T3" fmla="*/ 5 h 6"/>
                    <a:gd name="T4" fmla="*/ 3 w 3"/>
                    <a:gd name="T5" fmla="*/ 3 h 6"/>
                    <a:gd name="T6" fmla="*/ 3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3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80" name="Freeform 669"/>
                <p:cNvSpPr>
                  <a:spLocks/>
                </p:cNvSpPr>
                <p:nvPr/>
              </p:nvSpPr>
              <p:spPr bwMode="auto">
                <a:xfrm>
                  <a:off x="2688" y="2063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81" name="Freeform 670"/>
                <p:cNvSpPr>
                  <a:spLocks/>
                </p:cNvSpPr>
                <p:nvPr/>
              </p:nvSpPr>
              <p:spPr bwMode="auto">
                <a:xfrm>
                  <a:off x="2691" y="2063"/>
                  <a:ext cx="2" cy="6"/>
                </a:xfrm>
                <a:custGeom>
                  <a:avLst/>
                  <a:gdLst>
                    <a:gd name="T0" fmla="*/ 2 w 2"/>
                    <a:gd name="T1" fmla="*/ 3 h 6"/>
                    <a:gd name="T2" fmla="*/ 2 w 2"/>
                    <a:gd name="T3" fmla="*/ 0 h 6"/>
                    <a:gd name="T4" fmla="*/ 0 w 2"/>
                    <a:gd name="T5" fmla="*/ 0 h 6"/>
                    <a:gd name="T6" fmla="*/ 0 w 2"/>
                    <a:gd name="T7" fmla="*/ 6 h 6"/>
                    <a:gd name="T8" fmla="*/ 2 w 2"/>
                    <a:gd name="T9" fmla="*/ 6 h 6"/>
                    <a:gd name="T10" fmla="*/ 2 w 2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3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2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82" name="Freeform 671"/>
                <p:cNvSpPr>
                  <a:spLocks/>
                </p:cNvSpPr>
                <p:nvPr/>
              </p:nvSpPr>
              <p:spPr bwMode="auto">
                <a:xfrm>
                  <a:off x="2693" y="2063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83" name="Freeform 672"/>
                <p:cNvSpPr>
                  <a:spLocks/>
                </p:cNvSpPr>
                <p:nvPr/>
              </p:nvSpPr>
              <p:spPr bwMode="auto">
                <a:xfrm>
                  <a:off x="2662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84" name="Freeform 673"/>
                <p:cNvSpPr>
                  <a:spLocks/>
                </p:cNvSpPr>
                <p:nvPr/>
              </p:nvSpPr>
              <p:spPr bwMode="auto">
                <a:xfrm>
                  <a:off x="2665" y="2075"/>
                  <a:ext cx="53" cy="6"/>
                </a:xfrm>
                <a:custGeom>
                  <a:avLst/>
                  <a:gdLst>
                    <a:gd name="T0" fmla="*/ 53 w 53"/>
                    <a:gd name="T1" fmla="*/ 3 h 6"/>
                    <a:gd name="T2" fmla="*/ 53 w 53"/>
                    <a:gd name="T3" fmla="*/ 0 h 6"/>
                    <a:gd name="T4" fmla="*/ 0 w 53"/>
                    <a:gd name="T5" fmla="*/ 0 h 6"/>
                    <a:gd name="T6" fmla="*/ 0 w 53"/>
                    <a:gd name="T7" fmla="*/ 6 h 6"/>
                    <a:gd name="T8" fmla="*/ 53 w 53"/>
                    <a:gd name="T9" fmla="*/ 6 h 6"/>
                    <a:gd name="T10" fmla="*/ 53 w 53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3"/>
                    <a:gd name="T19" fmla="*/ 0 h 6"/>
                    <a:gd name="T20" fmla="*/ 53 w 5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3" h="6">
                      <a:moveTo>
                        <a:pt x="53" y="3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3" y="6"/>
                      </a:lnTo>
                      <a:lnTo>
                        <a:pt x="53" y="3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85" name="Freeform 674"/>
                <p:cNvSpPr>
                  <a:spLocks/>
                </p:cNvSpPr>
                <p:nvPr/>
              </p:nvSpPr>
              <p:spPr bwMode="auto">
                <a:xfrm>
                  <a:off x="2718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86" name="Freeform 675"/>
                <p:cNvSpPr>
                  <a:spLocks/>
                </p:cNvSpPr>
                <p:nvPr/>
              </p:nvSpPr>
              <p:spPr bwMode="auto">
                <a:xfrm>
                  <a:off x="2664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0 w 3"/>
                    <a:gd name="T3" fmla="*/ 1 h 6"/>
                    <a:gd name="T4" fmla="*/ 0 w 3"/>
                    <a:gd name="T5" fmla="*/ 3 h 6"/>
                    <a:gd name="T6" fmla="*/ 0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87" name="Freeform 676"/>
                <p:cNvSpPr>
                  <a:spLocks/>
                </p:cNvSpPr>
                <p:nvPr/>
              </p:nvSpPr>
              <p:spPr bwMode="auto">
                <a:xfrm>
                  <a:off x="2667" y="2075"/>
                  <a:ext cx="49" cy="6"/>
                </a:xfrm>
                <a:custGeom>
                  <a:avLst/>
                  <a:gdLst>
                    <a:gd name="T0" fmla="*/ 49 w 49"/>
                    <a:gd name="T1" fmla="*/ 3 h 6"/>
                    <a:gd name="T2" fmla="*/ 49 w 49"/>
                    <a:gd name="T3" fmla="*/ 0 h 6"/>
                    <a:gd name="T4" fmla="*/ 0 w 49"/>
                    <a:gd name="T5" fmla="*/ 0 h 6"/>
                    <a:gd name="T6" fmla="*/ 0 w 49"/>
                    <a:gd name="T7" fmla="*/ 6 h 6"/>
                    <a:gd name="T8" fmla="*/ 49 w 49"/>
                    <a:gd name="T9" fmla="*/ 6 h 6"/>
                    <a:gd name="T10" fmla="*/ 49 w 49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9"/>
                    <a:gd name="T19" fmla="*/ 0 h 6"/>
                    <a:gd name="T20" fmla="*/ 49 w 4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9" h="6">
                      <a:moveTo>
                        <a:pt x="49" y="3"/>
                      </a:moveTo>
                      <a:lnTo>
                        <a:pt x="4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9" y="6"/>
                      </a:lnTo>
                      <a:lnTo>
                        <a:pt x="49" y="3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88" name="Freeform 677"/>
                <p:cNvSpPr>
                  <a:spLocks/>
                </p:cNvSpPr>
                <p:nvPr/>
              </p:nvSpPr>
              <p:spPr bwMode="auto">
                <a:xfrm>
                  <a:off x="2716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89" name="Freeform 678"/>
                <p:cNvSpPr>
                  <a:spLocks/>
                </p:cNvSpPr>
                <p:nvPr/>
              </p:nvSpPr>
              <p:spPr bwMode="auto">
                <a:xfrm>
                  <a:off x="2667" y="2075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90" name="Freeform 679"/>
                <p:cNvSpPr>
                  <a:spLocks/>
                </p:cNvSpPr>
                <p:nvPr/>
              </p:nvSpPr>
              <p:spPr bwMode="auto">
                <a:xfrm>
                  <a:off x="2669" y="2075"/>
                  <a:ext cx="46" cy="6"/>
                </a:xfrm>
                <a:custGeom>
                  <a:avLst/>
                  <a:gdLst>
                    <a:gd name="T0" fmla="*/ 46 w 46"/>
                    <a:gd name="T1" fmla="*/ 3 h 6"/>
                    <a:gd name="T2" fmla="*/ 46 w 46"/>
                    <a:gd name="T3" fmla="*/ 0 h 6"/>
                    <a:gd name="T4" fmla="*/ 0 w 46"/>
                    <a:gd name="T5" fmla="*/ 0 h 6"/>
                    <a:gd name="T6" fmla="*/ 0 w 46"/>
                    <a:gd name="T7" fmla="*/ 6 h 6"/>
                    <a:gd name="T8" fmla="*/ 46 w 46"/>
                    <a:gd name="T9" fmla="*/ 6 h 6"/>
                    <a:gd name="T10" fmla="*/ 46 w 46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6"/>
                    <a:gd name="T19" fmla="*/ 0 h 6"/>
                    <a:gd name="T20" fmla="*/ 46 w 4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6" h="6">
                      <a:moveTo>
                        <a:pt x="46" y="3"/>
                      </a:moveTo>
                      <a:lnTo>
                        <a:pt x="4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6" y="6"/>
                      </a:lnTo>
                      <a:lnTo>
                        <a:pt x="46" y="3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91" name="Freeform 680"/>
                <p:cNvSpPr>
                  <a:spLocks/>
                </p:cNvSpPr>
                <p:nvPr/>
              </p:nvSpPr>
              <p:spPr bwMode="auto">
                <a:xfrm>
                  <a:off x="2715" y="2075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92" name="Freeform 681"/>
                <p:cNvSpPr>
                  <a:spLocks/>
                </p:cNvSpPr>
                <p:nvPr/>
              </p:nvSpPr>
              <p:spPr bwMode="auto">
                <a:xfrm>
                  <a:off x="2668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93" name="Freeform 682"/>
                <p:cNvSpPr>
                  <a:spLocks/>
                </p:cNvSpPr>
                <p:nvPr/>
              </p:nvSpPr>
              <p:spPr bwMode="auto">
                <a:xfrm>
                  <a:off x="2671" y="2075"/>
                  <a:ext cx="41" cy="6"/>
                </a:xfrm>
                <a:custGeom>
                  <a:avLst/>
                  <a:gdLst>
                    <a:gd name="T0" fmla="*/ 41 w 41"/>
                    <a:gd name="T1" fmla="*/ 3 h 6"/>
                    <a:gd name="T2" fmla="*/ 41 w 41"/>
                    <a:gd name="T3" fmla="*/ 0 h 6"/>
                    <a:gd name="T4" fmla="*/ 0 w 41"/>
                    <a:gd name="T5" fmla="*/ 0 h 6"/>
                    <a:gd name="T6" fmla="*/ 0 w 41"/>
                    <a:gd name="T7" fmla="*/ 6 h 6"/>
                    <a:gd name="T8" fmla="*/ 41 w 41"/>
                    <a:gd name="T9" fmla="*/ 6 h 6"/>
                    <a:gd name="T10" fmla="*/ 41 w 4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1"/>
                    <a:gd name="T19" fmla="*/ 0 h 6"/>
                    <a:gd name="T20" fmla="*/ 41 w 4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1" h="6">
                      <a:moveTo>
                        <a:pt x="41" y="3"/>
                      </a:move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1" y="6"/>
                      </a:lnTo>
                      <a:lnTo>
                        <a:pt x="41" y="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94" name="Freeform 683"/>
                <p:cNvSpPr>
                  <a:spLocks/>
                </p:cNvSpPr>
                <p:nvPr/>
              </p:nvSpPr>
              <p:spPr bwMode="auto">
                <a:xfrm>
                  <a:off x="2712" y="2075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3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95" name="Freeform 684"/>
                <p:cNvSpPr>
                  <a:spLocks/>
                </p:cNvSpPr>
                <p:nvPr/>
              </p:nvSpPr>
              <p:spPr bwMode="auto">
                <a:xfrm>
                  <a:off x="2670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96" name="Freeform 685"/>
                <p:cNvSpPr>
                  <a:spLocks/>
                </p:cNvSpPr>
                <p:nvPr/>
              </p:nvSpPr>
              <p:spPr bwMode="auto">
                <a:xfrm>
                  <a:off x="2673" y="2075"/>
                  <a:ext cx="37" cy="6"/>
                </a:xfrm>
                <a:custGeom>
                  <a:avLst/>
                  <a:gdLst>
                    <a:gd name="T0" fmla="*/ 37 w 37"/>
                    <a:gd name="T1" fmla="*/ 3 h 6"/>
                    <a:gd name="T2" fmla="*/ 37 w 37"/>
                    <a:gd name="T3" fmla="*/ 0 h 6"/>
                    <a:gd name="T4" fmla="*/ 0 w 37"/>
                    <a:gd name="T5" fmla="*/ 0 h 6"/>
                    <a:gd name="T6" fmla="*/ 0 w 37"/>
                    <a:gd name="T7" fmla="*/ 6 h 6"/>
                    <a:gd name="T8" fmla="*/ 37 w 37"/>
                    <a:gd name="T9" fmla="*/ 6 h 6"/>
                    <a:gd name="T10" fmla="*/ 37 w 3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7"/>
                    <a:gd name="T19" fmla="*/ 0 h 6"/>
                    <a:gd name="T20" fmla="*/ 37 w 3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7" h="6">
                      <a:moveTo>
                        <a:pt x="37" y="3"/>
                      </a:moveTo>
                      <a:lnTo>
                        <a:pt x="3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7" y="6"/>
                      </a:lnTo>
                      <a:lnTo>
                        <a:pt x="37" y="3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97" name="Freeform 686"/>
                <p:cNvSpPr>
                  <a:spLocks/>
                </p:cNvSpPr>
                <p:nvPr/>
              </p:nvSpPr>
              <p:spPr bwMode="auto">
                <a:xfrm>
                  <a:off x="2710" y="2075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2 w 4"/>
                    <a:gd name="T3" fmla="*/ 5 h 6"/>
                    <a:gd name="T4" fmla="*/ 4 w 4"/>
                    <a:gd name="T5" fmla="*/ 3 h 6"/>
                    <a:gd name="T6" fmla="*/ 2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4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98" name="Freeform 687"/>
                <p:cNvSpPr>
                  <a:spLocks/>
                </p:cNvSpPr>
                <p:nvPr/>
              </p:nvSpPr>
              <p:spPr bwMode="auto">
                <a:xfrm>
                  <a:off x="2672" y="2075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399" name="Freeform 688"/>
                <p:cNvSpPr>
                  <a:spLocks/>
                </p:cNvSpPr>
                <p:nvPr/>
              </p:nvSpPr>
              <p:spPr bwMode="auto">
                <a:xfrm>
                  <a:off x="2674" y="2075"/>
                  <a:ext cx="34" cy="6"/>
                </a:xfrm>
                <a:custGeom>
                  <a:avLst/>
                  <a:gdLst>
                    <a:gd name="T0" fmla="*/ 34 w 34"/>
                    <a:gd name="T1" fmla="*/ 3 h 6"/>
                    <a:gd name="T2" fmla="*/ 34 w 34"/>
                    <a:gd name="T3" fmla="*/ 0 h 6"/>
                    <a:gd name="T4" fmla="*/ 0 w 34"/>
                    <a:gd name="T5" fmla="*/ 0 h 6"/>
                    <a:gd name="T6" fmla="*/ 0 w 34"/>
                    <a:gd name="T7" fmla="*/ 6 h 6"/>
                    <a:gd name="T8" fmla="*/ 34 w 34"/>
                    <a:gd name="T9" fmla="*/ 6 h 6"/>
                    <a:gd name="T10" fmla="*/ 34 w 34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4"/>
                    <a:gd name="T19" fmla="*/ 0 h 6"/>
                    <a:gd name="T20" fmla="*/ 34 w 3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4" h="6">
                      <a:moveTo>
                        <a:pt x="34" y="3"/>
                      </a:moveTo>
                      <a:lnTo>
                        <a:pt x="3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4" y="6"/>
                      </a:lnTo>
                      <a:lnTo>
                        <a:pt x="34" y="3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00" name="Freeform 689"/>
                <p:cNvSpPr>
                  <a:spLocks/>
                </p:cNvSpPr>
                <p:nvPr/>
              </p:nvSpPr>
              <p:spPr bwMode="auto">
                <a:xfrm>
                  <a:off x="2708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01" name="Freeform 690"/>
                <p:cNvSpPr>
                  <a:spLocks/>
                </p:cNvSpPr>
                <p:nvPr/>
              </p:nvSpPr>
              <p:spPr bwMode="auto">
                <a:xfrm>
                  <a:off x="2674" y="2075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02" name="Freeform 691"/>
                <p:cNvSpPr>
                  <a:spLocks/>
                </p:cNvSpPr>
                <p:nvPr/>
              </p:nvSpPr>
              <p:spPr bwMode="auto">
                <a:xfrm>
                  <a:off x="2676" y="2075"/>
                  <a:ext cx="31" cy="6"/>
                </a:xfrm>
                <a:custGeom>
                  <a:avLst/>
                  <a:gdLst>
                    <a:gd name="T0" fmla="*/ 31 w 31"/>
                    <a:gd name="T1" fmla="*/ 3 h 6"/>
                    <a:gd name="T2" fmla="*/ 31 w 31"/>
                    <a:gd name="T3" fmla="*/ 0 h 6"/>
                    <a:gd name="T4" fmla="*/ 0 w 31"/>
                    <a:gd name="T5" fmla="*/ 0 h 6"/>
                    <a:gd name="T6" fmla="*/ 0 w 31"/>
                    <a:gd name="T7" fmla="*/ 6 h 6"/>
                    <a:gd name="T8" fmla="*/ 31 w 31"/>
                    <a:gd name="T9" fmla="*/ 6 h 6"/>
                    <a:gd name="T10" fmla="*/ 31 w 3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1"/>
                    <a:gd name="T19" fmla="*/ 0 h 6"/>
                    <a:gd name="T20" fmla="*/ 31 w 3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1" h="6">
                      <a:moveTo>
                        <a:pt x="31" y="3"/>
                      </a:moveTo>
                      <a:lnTo>
                        <a:pt x="3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1" y="6"/>
                      </a:lnTo>
                      <a:lnTo>
                        <a:pt x="31" y="3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03" name="Freeform 692"/>
                <p:cNvSpPr>
                  <a:spLocks/>
                </p:cNvSpPr>
                <p:nvPr/>
              </p:nvSpPr>
              <p:spPr bwMode="auto">
                <a:xfrm>
                  <a:off x="2707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04" name="Freeform 693"/>
                <p:cNvSpPr>
                  <a:spLocks/>
                </p:cNvSpPr>
                <p:nvPr/>
              </p:nvSpPr>
              <p:spPr bwMode="auto">
                <a:xfrm>
                  <a:off x="2676" y="2075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05" name="Freeform 694"/>
                <p:cNvSpPr>
                  <a:spLocks/>
                </p:cNvSpPr>
                <p:nvPr/>
              </p:nvSpPr>
              <p:spPr bwMode="auto">
                <a:xfrm>
                  <a:off x="2678" y="2075"/>
                  <a:ext cx="27" cy="6"/>
                </a:xfrm>
                <a:custGeom>
                  <a:avLst/>
                  <a:gdLst>
                    <a:gd name="T0" fmla="*/ 27 w 27"/>
                    <a:gd name="T1" fmla="*/ 3 h 6"/>
                    <a:gd name="T2" fmla="*/ 27 w 27"/>
                    <a:gd name="T3" fmla="*/ 0 h 6"/>
                    <a:gd name="T4" fmla="*/ 0 w 27"/>
                    <a:gd name="T5" fmla="*/ 0 h 6"/>
                    <a:gd name="T6" fmla="*/ 0 w 27"/>
                    <a:gd name="T7" fmla="*/ 6 h 6"/>
                    <a:gd name="T8" fmla="*/ 27 w 27"/>
                    <a:gd name="T9" fmla="*/ 6 h 6"/>
                    <a:gd name="T10" fmla="*/ 27 w 27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7"/>
                    <a:gd name="T19" fmla="*/ 0 h 6"/>
                    <a:gd name="T20" fmla="*/ 27 w 2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7" h="6">
                      <a:moveTo>
                        <a:pt x="27" y="3"/>
                      </a:moveTo>
                      <a:lnTo>
                        <a:pt x="2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7" y="6"/>
                      </a:lnTo>
                      <a:lnTo>
                        <a:pt x="27" y="3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06" name="Freeform 695"/>
                <p:cNvSpPr>
                  <a:spLocks/>
                </p:cNvSpPr>
                <p:nvPr/>
              </p:nvSpPr>
              <p:spPr bwMode="auto">
                <a:xfrm>
                  <a:off x="2705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07" name="Freeform 696"/>
                <p:cNvSpPr>
                  <a:spLocks/>
                </p:cNvSpPr>
                <p:nvPr/>
              </p:nvSpPr>
              <p:spPr bwMode="auto">
                <a:xfrm>
                  <a:off x="2678" y="2075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3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08" name="Freeform 697"/>
                <p:cNvSpPr>
                  <a:spLocks/>
                </p:cNvSpPr>
                <p:nvPr/>
              </p:nvSpPr>
              <p:spPr bwMode="auto">
                <a:xfrm>
                  <a:off x="2680" y="2075"/>
                  <a:ext cx="24" cy="6"/>
                </a:xfrm>
                <a:custGeom>
                  <a:avLst/>
                  <a:gdLst>
                    <a:gd name="T0" fmla="*/ 24 w 24"/>
                    <a:gd name="T1" fmla="*/ 3 h 6"/>
                    <a:gd name="T2" fmla="*/ 24 w 24"/>
                    <a:gd name="T3" fmla="*/ 0 h 6"/>
                    <a:gd name="T4" fmla="*/ 0 w 24"/>
                    <a:gd name="T5" fmla="*/ 0 h 6"/>
                    <a:gd name="T6" fmla="*/ 0 w 24"/>
                    <a:gd name="T7" fmla="*/ 6 h 6"/>
                    <a:gd name="T8" fmla="*/ 24 w 24"/>
                    <a:gd name="T9" fmla="*/ 6 h 6"/>
                    <a:gd name="T10" fmla="*/ 24 w 24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4"/>
                    <a:gd name="T19" fmla="*/ 0 h 6"/>
                    <a:gd name="T20" fmla="*/ 24 w 2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4" h="6">
                      <a:moveTo>
                        <a:pt x="24" y="3"/>
                      </a:moveTo>
                      <a:lnTo>
                        <a:pt x="2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4" y="6"/>
                      </a:lnTo>
                      <a:lnTo>
                        <a:pt x="24" y="3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09" name="Freeform 698"/>
                <p:cNvSpPr>
                  <a:spLocks/>
                </p:cNvSpPr>
                <p:nvPr/>
              </p:nvSpPr>
              <p:spPr bwMode="auto">
                <a:xfrm>
                  <a:off x="2704" y="2075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10" name="Freeform 699"/>
                <p:cNvSpPr>
                  <a:spLocks/>
                </p:cNvSpPr>
                <p:nvPr/>
              </p:nvSpPr>
              <p:spPr bwMode="auto">
                <a:xfrm>
                  <a:off x="2680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0 w 3"/>
                    <a:gd name="T3" fmla="*/ 1 h 6"/>
                    <a:gd name="T4" fmla="*/ 0 w 3"/>
                    <a:gd name="T5" fmla="*/ 3 h 6"/>
                    <a:gd name="T6" fmla="*/ 0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11" name="Freeform 700"/>
                <p:cNvSpPr>
                  <a:spLocks/>
                </p:cNvSpPr>
                <p:nvPr/>
              </p:nvSpPr>
              <p:spPr bwMode="auto">
                <a:xfrm>
                  <a:off x="2683" y="2075"/>
                  <a:ext cx="19" cy="6"/>
                </a:xfrm>
                <a:custGeom>
                  <a:avLst/>
                  <a:gdLst>
                    <a:gd name="T0" fmla="*/ 19 w 19"/>
                    <a:gd name="T1" fmla="*/ 3 h 6"/>
                    <a:gd name="T2" fmla="*/ 19 w 19"/>
                    <a:gd name="T3" fmla="*/ 0 h 6"/>
                    <a:gd name="T4" fmla="*/ 0 w 19"/>
                    <a:gd name="T5" fmla="*/ 0 h 6"/>
                    <a:gd name="T6" fmla="*/ 0 w 19"/>
                    <a:gd name="T7" fmla="*/ 6 h 6"/>
                    <a:gd name="T8" fmla="*/ 19 w 19"/>
                    <a:gd name="T9" fmla="*/ 6 h 6"/>
                    <a:gd name="T10" fmla="*/ 19 w 19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6"/>
                    <a:gd name="T20" fmla="*/ 19 w 1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6">
                      <a:moveTo>
                        <a:pt x="19" y="3"/>
                      </a:moveTo>
                      <a:lnTo>
                        <a:pt x="1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9" y="6"/>
                      </a:lnTo>
                      <a:lnTo>
                        <a:pt x="19" y="3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12" name="Freeform 701"/>
                <p:cNvSpPr>
                  <a:spLocks/>
                </p:cNvSpPr>
                <p:nvPr/>
              </p:nvSpPr>
              <p:spPr bwMode="auto">
                <a:xfrm>
                  <a:off x="2702" y="2075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13" name="Freeform 702"/>
                <p:cNvSpPr>
                  <a:spLocks/>
                </p:cNvSpPr>
                <p:nvPr/>
              </p:nvSpPr>
              <p:spPr bwMode="auto">
                <a:xfrm>
                  <a:off x="2681" y="2075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2 w 4"/>
                    <a:gd name="T3" fmla="*/ 1 h 6"/>
                    <a:gd name="T4" fmla="*/ 0 w 4"/>
                    <a:gd name="T5" fmla="*/ 3 h 6"/>
                    <a:gd name="T6" fmla="*/ 2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2" y="1"/>
                      </a:lnTo>
                      <a:lnTo>
                        <a:pt x="0" y="3"/>
                      </a:lnTo>
                      <a:lnTo>
                        <a:pt x="2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14" name="Freeform 703"/>
                <p:cNvSpPr>
                  <a:spLocks/>
                </p:cNvSpPr>
                <p:nvPr/>
              </p:nvSpPr>
              <p:spPr bwMode="auto">
                <a:xfrm>
                  <a:off x="2685" y="2075"/>
                  <a:ext cx="15" cy="6"/>
                </a:xfrm>
                <a:custGeom>
                  <a:avLst/>
                  <a:gdLst>
                    <a:gd name="T0" fmla="*/ 15 w 15"/>
                    <a:gd name="T1" fmla="*/ 3 h 6"/>
                    <a:gd name="T2" fmla="*/ 15 w 15"/>
                    <a:gd name="T3" fmla="*/ 0 h 6"/>
                    <a:gd name="T4" fmla="*/ 0 w 15"/>
                    <a:gd name="T5" fmla="*/ 0 h 6"/>
                    <a:gd name="T6" fmla="*/ 0 w 15"/>
                    <a:gd name="T7" fmla="*/ 6 h 6"/>
                    <a:gd name="T8" fmla="*/ 15 w 15"/>
                    <a:gd name="T9" fmla="*/ 6 h 6"/>
                    <a:gd name="T10" fmla="*/ 15 w 15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5"/>
                    <a:gd name="T19" fmla="*/ 0 h 6"/>
                    <a:gd name="T20" fmla="*/ 15 w 15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5" h="6">
                      <a:moveTo>
                        <a:pt x="15" y="3"/>
                      </a:move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5" y="6"/>
                      </a:lnTo>
                      <a:lnTo>
                        <a:pt x="15" y="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15" name="Freeform 704"/>
                <p:cNvSpPr>
                  <a:spLocks/>
                </p:cNvSpPr>
                <p:nvPr/>
              </p:nvSpPr>
              <p:spPr bwMode="auto">
                <a:xfrm>
                  <a:off x="2700" y="2075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3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16" name="Freeform 705"/>
                <p:cNvSpPr>
                  <a:spLocks/>
                </p:cNvSpPr>
                <p:nvPr/>
              </p:nvSpPr>
              <p:spPr bwMode="auto">
                <a:xfrm>
                  <a:off x="2684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17" name="Freeform 706"/>
                <p:cNvSpPr>
                  <a:spLocks/>
                </p:cNvSpPr>
                <p:nvPr/>
              </p:nvSpPr>
              <p:spPr bwMode="auto">
                <a:xfrm>
                  <a:off x="2687" y="2075"/>
                  <a:ext cx="11" cy="6"/>
                </a:xfrm>
                <a:custGeom>
                  <a:avLst/>
                  <a:gdLst>
                    <a:gd name="T0" fmla="*/ 11 w 11"/>
                    <a:gd name="T1" fmla="*/ 3 h 6"/>
                    <a:gd name="T2" fmla="*/ 11 w 11"/>
                    <a:gd name="T3" fmla="*/ 0 h 6"/>
                    <a:gd name="T4" fmla="*/ 0 w 11"/>
                    <a:gd name="T5" fmla="*/ 0 h 6"/>
                    <a:gd name="T6" fmla="*/ 0 w 11"/>
                    <a:gd name="T7" fmla="*/ 6 h 6"/>
                    <a:gd name="T8" fmla="*/ 11 w 11"/>
                    <a:gd name="T9" fmla="*/ 6 h 6"/>
                    <a:gd name="T10" fmla="*/ 11 w 11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1"/>
                    <a:gd name="T19" fmla="*/ 0 h 6"/>
                    <a:gd name="T20" fmla="*/ 11 w 1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1" h="6">
                      <a:moveTo>
                        <a:pt x="11" y="3"/>
                      </a:moveTo>
                      <a:lnTo>
                        <a:pt x="1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1" y="6"/>
                      </a:lnTo>
                      <a:lnTo>
                        <a:pt x="11" y="3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18" name="Freeform 707"/>
                <p:cNvSpPr>
                  <a:spLocks/>
                </p:cNvSpPr>
                <p:nvPr/>
              </p:nvSpPr>
              <p:spPr bwMode="auto">
                <a:xfrm>
                  <a:off x="2698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19" name="Freeform 708"/>
                <p:cNvSpPr>
                  <a:spLocks/>
                </p:cNvSpPr>
                <p:nvPr/>
              </p:nvSpPr>
              <p:spPr bwMode="auto">
                <a:xfrm>
                  <a:off x="2686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20" name="Freeform 709"/>
                <p:cNvSpPr>
                  <a:spLocks/>
                </p:cNvSpPr>
                <p:nvPr/>
              </p:nvSpPr>
              <p:spPr bwMode="auto">
                <a:xfrm>
                  <a:off x="2689" y="2075"/>
                  <a:ext cx="6" cy="6"/>
                </a:xfrm>
                <a:custGeom>
                  <a:avLst/>
                  <a:gdLst>
                    <a:gd name="T0" fmla="*/ 6 w 6"/>
                    <a:gd name="T1" fmla="*/ 3 h 6"/>
                    <a:gd name="T2" fmla="*/ 6 w 6"/>
                    <a:gd name="T3" fmla="*/ 0 h 6"/>
                    <a:gd name="T4" fmla="*/ 0 w 6"/>
                    <a:gd name="T5" fmla="*/ 0 h 6"/>
                    <a:gd name="T6" fmla="*/ 0 w 6"/>
                    <a:gd name="T7" fmla="*/ 6 h 6"/>
                    <a:gd name="T8" fmla="*/ 6 w 6"/>
                    <a:gd name="T9" fmla="*/ 6 h 6"/>
                    <a:gd name="T10" fmla="*/ 6 w 6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"/>
                    <a:gd name="T19" fmla="*/ 0 h 6"/>
                    <a:gd name="T20" fmla="*/ 6 w 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" h="6">
                      <a:moveTo>
                        <a:pt x="6" y="3"/>
                      </a:move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6" y="6"/>
                      </a:lnTo>
                      <a:lnTo>
                        <a:pt x="6" y="3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21" name="Freeform 710"/>
                <p:cNvSpPr>
                  <a:spLocks/>
                </p:cNvSpPr>
                <p:nvPr/>
              </p:nvSpPr>
              <p:spPr bwMode="auto">
                <a:xfrm>
                  <a:off x="2695" y="2075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3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22" name="Freeform 711"/>
                <p:cNvSpPr>
                  <a:spLocks/>
                </p:cNvSpPr>
                <p:nvPr/>
              </p:nvSpPr>
              <p:spPr bwMode="auto">
                <a:xfrm>
                  <a:off x="2688" y="2075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3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23" name="Freeform 712"/>
                <p:cNvSpPr>
                  <a:spLocks/>
                </p:cNvSpPr>
                <p:nvPr/>
              </p:nvSpPr>
              <p:spPr bwMode="auto">
                <a:xfrm>
                  <a:off x="2691" y="2075"/>
                  <a:ext cx="2" cy="6"/>
                </a:xfrm>
                <a:custGeom>
                  <a:avLst/>
                  <a:gdLst>
                    <a:gd name="T0" fmla="*/ 2 w 2"/>
                    <a:gd name="T1" fmla="*/ 3 h 6"/>
                    <a:gd name="T2" fmla="*/ 2 w 2"/>
                    <a:gd name="T3" fmla="*/ 0 h 6"/>
                    <a:gd name="T4" fmla="*/ 0 w 2"/>
                    <a:gd name="T5" fmla="*/ 0 h 6"/>
                    <a:gd name="T6" fmla="*/ 0 w 2"/>
                    <a:gd name="T7" fmla="*/ 6 h 6"/>
                    <a:gd name="T8" fmla="*/ 2 w 2"/>
                    <a:gd name="T9" fmla="*/ 6 h 6"/>
                    <a:gd name="T10" fmla="*/ 2 w 2"/>
                    <a:gd name="T11" fmla="*/ 3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3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2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24" name="Freeform 713"/>
                <p:cNvSpPr>
                  <a:spLocks/>
                </p:cNvSpPr>
                <p:nvPr/>
              </p:nvSpPr>
              <p:spPr bwMode="auto">
                <a:xfrm>
                  <a:off x="2693" y="2075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25" name="Freeform 714"/>
                <p:cNvSpPr>
                  <a:spLocks/>
                </p:cNvSpPr>
                <p:nvPr/>
              </p:nvSpPr>
              <p:spPr bwMode="auto">
                <a:xfrm>
                  <a:off x="2662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26" name="Freeform 715"/>
                <p:cNvSpPr>
                  <a:spLocks/>
                </p:cNvSpPr>
                <p:nvPr/>
              </p:nvSpPr>
              <p:spPr bwMode="auto">
                <a:xfrm>
                  <a:off x="2665" y="2087"/>
                  <a:ext cx="53" cy="6"/>
                </a:xfrm>
                <a:custGeom>
                  <a:avLst/>
                  <a:gdLst>
                    <a:gd name="T0" fmla="*/ 53 w 53"/>
                    <a:gd name="T1" fmla="*/ 2 h 6"/>
                    <a:gd name="T2" fmla="*/ 53 w 53"/>
                    <a:gd name="T3" fmla="*/ 0 h 6"/>
                    <a:gd name="T4" fmla="*/ 0 w 53"/>
                    <a:gd name="T5" fmla="*/ 0 h 6"/>
                    <a:gd name="T6" fmla="*/ 0 w 53"/>
                    <a:gd name="T7" fmla="*/ 6 h 6"/>
                    <a:gd name="T8" fmla="*/ 53 w 53"/>
                    <a:gd name="T9" fmla="*/ 6 h 6"/>
                    <a:gd name="T10" fmla="*/ 53 w 53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3"/>
                    <a:gd name="T19" fmla="*/ 0 h 6"/>
                    <a:gd name="T20" fmla="*/ 53 w 5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3" h="6">
                      <a:moveTo>
                        <a:pt x="53" y="2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3" y="6"/>
                      </a:lnTo>
                      <a:lnTo>
                        <a:pt x="53" y="2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27" name="Freeform 716"/>
                <p:cNvSpPr>
                  <a:spLocks/>
                </p:cNvSpPr>
                <p:nvPr/>
              </p:nvSpPr>
              <p:spPr bwMode="auto">
                <a:xfrm>
                  <a:off x="2718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28" name="Freeform 717"/>
                <p:cNvSpPr>
                  <a:spLocks/>
                </p:cNvSpPr>
                <p:nvPr/>
              </p:nvSpPr>
              <p:spPr bwMode="auto">
                <a:xfrm>
                  <a:off x="2664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0 w 3"/>
                    <a:gd name="T3" fmla="*/ 1 h 6"/>
                    <a:gd name="T4" fmla="*/ 0 w 3"/>
                    <a:gd name="T5" fmla="*/ 2 h 6"/>
                    <a:gd name="T6" fmla="*/ 0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29" name="Freeform 718"/>
                <p:cNvSpPr>
                  <a:spLocks/>
                </p:cNvSpPr>
                <p:nvPr/>
              </p:nvSpPr>
              <p:spPr bwMode="auto">
                <a:xfrm>
                  <a:off x="2667" y="2087"/>
                  <a:ext cx="49" cy="6"/>
                </a:xfrm>
                <a:custGeom>
                  <a:avLst/>
                  <a:gdLst>
                    <a:gd name="T0" fmla="*/ 49 w 49"/>
                    <a:gd name="T1" fmla="*/ 2 h 6"/>
                    <a:gd name="T2" fmla="*/ 49 w 49"/>
                    <a:gd name="T3" fmla="*/ 0 h 6"/>
                    <a:gd name="T4" fmla="*/ 0 w 49"/>
                    <a:gd name="T5" fmla="*/ 0 h 6"/>
                    <a:gd name="T6" fmla="*/ 0 w 49"/>
                    <a:gd name="T7" fmla="*/ 6 h 6"/>
                    <a:gd name="T8" fmla="*/ 49 w 49"/>
                    <a:gd name="T9" fmla="*/ 6 h 6"/>
                    <a:gd name="T10" fmla="*/ 49 w 49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9"/>
                    <a:gd name="T19" fmla="*/ 0 h 6"/>
                    <a:gd name="T20" fmla="*/ 49 w 4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9" h="6">
                      <a:moveTo>
                        <a:pt x="49" y="2"/>
                      </a:moveTo>
                      <a:lnTo>
                        <a:pt x="4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9" y="6"/>
                      </a:lnTo>
                      <a:lnTo>
                        <a:pt x="49" y="2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30" name="Freeform 719"/>
                <p:cNvSpPr>
                  <a:spLocks/>
                </p:cNvSpPr>
                <p:nvPr/>
              </p:nvSpPr>
              <p:spPr bwMode="auto">
                <a:xfrm>
                  <a:off x="2716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31" name="Freeform 720"/>
                <p:cNvSpPr>
                  <a:spLocks/>
                </p:cNvSpPr>
                <p:nvPr/>
              </p:nvSpPr>
              <p:spPr bwMode="auto">
                <a:xfrm>
                  <a:off x="2667" y="2087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2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32" name="Freeform 721"/>
                <p:cNvSpPr>
                  <a:spLocks/>
                </p:cNvSpPr>
                <p:nvPr/>
              </p:nvSpPr>
              <p:spPr bwMode="auto">
                <a:xfrm>
                  <a:off x="2669" y="2087"/>
                  <a:ext cx="46" cy="6"/>
                </a:xfrm>
                <a:custGeom>
                  <a:avLst/>
                  <a:gdLst>
                    <a:gd name="T0" fmla="*/ 46 w 46"/>
                    <a:gd name="T1" fmla="*/ 2 h 6"/>
                    <a:gd name="T2" fmla="*/ 46 w 46"/>
                    <a:gd name="T3" fmla="*/ 0 h 6"/>
                    <a:gd name="T4" fmla="*/ 0 w 46"/>
                    <a:gd name="T5" fmla="*/ 0 h 6"/>
                    <a:gd name="T6" fmla="*/ 0 w 46"/>
                    <a:gd name="T7" fmla="*/ 6 h 6"/>
                    <a:gd name="T8" fmla="*/ 46 w 46"/>
                    <a:gd name="T9" fmla="*/ 6 h 6"/>
                    <a:gd name="T10" fmla="*/ 46 w 46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6"/>
                    <a:gd name="T19" fmla="*/ 0 h 6"/>
                    <a:gd name="T20" fmla="*/ 46 w 4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6" h="6">
                      <a:moveTo>
                        <a:pt x="46" y="2"/>
                      </a:moveTo>
                      <a:lnTo>
                        <a:pt x="4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6" y="6"/>
                      </a:lnTo>
                      <a:lnTo>
                        <a:pt x="46" y="2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33" name="Freeform 722"/>
                <p:cNvSpPr>
                  <a:spLocks/>
                </p:cNvSpPr>
                <p:nvPr/>
              </p:nvSpPr>
              <p:spPr bwMode="auto">
                <a:xfrm>
                  <a:off x="2715" y="2087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2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34" name="Freeform 723"/>
                <p:cNvSpPr>
                  <a:spLocks/>
                </p:cNvSpPr>
                <p:nvPr/>
              </p:nvSpPr>
              <p:spPr bwMode="auto">
                <a:xfrm>
                  <a:off x="2668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35" name="Freeform 724"/>
                <p:cNvSpPr>
                  <a:spLocks/>
                </p:cNvSpPr>
                <p:nvPr/>
              </p:nvSpPr>
              <p:spPr bwMode="auto">
                <a:xfrm>
                  <a:off x="2671" y="2087"/>
                  <a:ext cx="41" cy="6"/>
                </a:xfrm>
                <a:custGeom>
                  <a:avLst/>
                  <a:gdLst>
                    <a:gd name="T0" fmla="*/ 41 w 41"/>
                    <a:gd name="T1" fmla="*/ 2 h 6"/>
                    <a:gd name="T2" fmla="*/ 41 w 41"/>
                    <a:gd name="T3" fmla="*/ 0 h 6"/>
                    <a:gd name="T4" fmla="*/ 0 w 41"/>
                    <a:gd name="T5" fmla="*/ 0 h 6"/>
                    <a:gd name="T6" fmla="*/ 0 w 41"/>
                    <a:gd name="T7" fmla="*/ 6 h 6"/>
                    <a:gd name="T8" fmla="*/ 41 w 41"/>
                    <a:gd name="T9" fmla="*/ 6 h 6"/>
                    <a:gd name="T10" fmla="*/ 41 w 41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1"/>
                    <a:gd name="T19" fmla="*/ 0 h 6"/>
                    <a:gd name="T20" fmla="*/ 41 w 4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1" h="6">
                      <a:moveTo>
                        <a:pt x="41" y="2"/>
                      </a:move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41" y="6"/>
                      </a:lnTo>
                      <a:lnTo>
                        <a:pt x="41" y="2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36" name="Freeform 725"/>
                <p:cNvSpPr>
                  <a:spLocks/>
                </p:cNvSpPr>
                <p:nvPr/>
              </p:nvSpPr>
              <p:spPr bwMode="auto">
                <a:xfrm>
                  <a:off x="2712" y="2087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2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2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37" name="Freeform 726"/>
                <p:cNvSpPr>
                  <a:spLocks/>
                </p:cNvSpPr>
                <p:nvPr/>
              </p:nvSpPr>
              <p:spPr bwMode="auto">
                <a:xfrm>
                  <a:off x="2670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38" name="Freeform 727"/>
                <p:cNvSpPr>
                  <a:spLocks/>
                </p:cNvSpPr>
                <p:nvPr/>
              </p:nvSpPr>
              <p:spPr bwMode="auto">
                <a:xfrm>
                  <a:off x="2673" y="2087"/>
                  <a:ext cx="37" cy="6"/>
                </a:xfrm>
                <a:custGeom>
                  <a:avLst/>
                  <a:gdLst>
                    <a:gd name="T0" fmla="*/ 37 w 37"/>
                    <a:gd name="T1" fmla="*/ 2 h 6"/>
                    <a:gd name="T2" fmla="*/ 37 w 37"/>
                    <a:gd name="T3" fmla="*/ 0 h 6"/>
                    <a:gd name="T4" fmla="*/ 0 w 37"/>
                    <a:gd name="T5" fmla="*/ 0 h 6"/>
                    <a:gd name="T6" fmla="*/ 0 w 37"/>
                    <a:gd name="T7" fmla="*/ 6 h 6"/>
                    <a:gd name="T8" fmla="*/ 37 w 37"/>
                    <a:gd name="T9" fmla="*/ 6 h 6"/>
                    <a:gd name="T10" fmla="*/ 37 w 37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7"/>
                    <a:gd name="T19" fmla="*/ 0 h 6"/>
                    <a:gd name="T20" fmla="*/ 37 w 3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7" h="6">
                      <a:moveTo>
                        <a:pt x="37" y="2"/>
                      </a:moveTo>
                      <a:lnTo>
                        <a:pt x="3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7" y="6"/>
                      </a:lnTo>
                      <a:lnTo>
                        <a:pt x="37" y="2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39" name="Freeform 728"/>
                <p:cNvSpPr>
                  <a:spLocks/>
                </p:cNvSpPr>
                <p:nvPr/>
              </p:nvSpPr>
              <p:spPr bwMode="auto">
                <a:xfrm>
                  <a:off x="2710" y="2087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2 w 4"/>
                    <a:gd name="T3" fmla="*/ 5 h 6"/>
                    <a:gd name="T4" fmla="*/ 4 w 4"/>
                    <a:gd name="T5" fmla="*/ 2 h 6"/>
                    <a:gd name="T6" fmla="*/ 2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4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40" name="Freeform 729"/>
                <p:cNvSpPr>
                  <a:spLocks/>
                </p:cNvSpPr>
                <p:nvPr/>
              </p:nvSpPr>
              <p:spPr bwMode="auto">
                <a:xfrm>
                  <a:off x="2672" y="2087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2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41" name="Freeform 730"/>
                <p:cNvSpPr>
                  <a:spLocks/>
                </p:cNvSpPr>
                <p:nvPr/>
              </p:nvSpPr>
              <p:spPr bwMode="auto">
                <a:xfrm>
                  <a:off x="2674" y="2087"/>
                  <a:ext cx="34" cy="6"/>
                </a:xfrm>
                <a:custGeom>
                  <a:avLst/>
                  <a:gdLst>
                    <a:gd name="T0" fmla="*/ 34 w 34"/>
                    <a:gd name="T1" fmla="*/ 2 h 6"/>
                    <a:gd name="T2" fmla="*/ 34 w 34"/>
                    <a:gd name="T3" fmla="*/ 0 h 6"/>
                    <a:gd name="T4" fmla="*/ 0 w 34"/>
                    <a:gd name="T5" fmla="*/ 0 h 6"/>
                    <a:gd name="T6" fmla="*/ 0 w 34"/>
                    <a:gd name="T7" fmla="*/ 6 h 6"/>
                    <a:gd name="T8" fmla="*/ 34 w 34"/>
                    <a:gd name="T9" fmla="*/ 6 h 6"/>
                    <a:gd name="T10" fmla="*/ 34 w 34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4"/>
                    <a:gd name="T19" fmla="*/ 0 h 6"/>
                    <a:gd name="T20" fmla="*/ 34 w 3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4" h="6">
                      <a:moveTo>
                        <a:pt x="34" y="2"/>
                      </a:moveTo>
                      <a:lnTo>
                        <a:pt x="3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4" y="6"/>
                      </a:lnTo>
                      <a:lnTo>
                        <a:pt x="34" y="2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42" name="Freeform 731"/>
                <p:cNvSpPr>
                  <a:spLocks/>
                </p:cNvSpPr>
                <p:nvPr/>
              </p:nvSpPr>
              <p:spPr bwMode="auto">
                <a:xfrm>
                  <a:off x="2708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43" name="Freeform 732"/>
                <p:cNvSpPr>
                  <a:spLocks/>
                </p:cNvSpPr>
                <p:nvPr/>
              </p:nvSpPr>
              <p:spPr bwMode="auto">
                <a:xfrm>
                  <a:off x="2674" y="2087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2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44" name="Freeform 733"/>
                <p:cNvSpPr>
                  <a:spLocks/>
                </p:cNvSpPr>
                <p:nvPr/>
              </p:nvSpPr>
              <p:spPr bwMode="auto">
                <a:xfrm>
                  <a:off x="2676" y="2087"/>
                  <a:ext cx="31" cy="6"/>
                </a:xfrm>
                <a:custGeom>
                  <a:avLst/>
                  <a:gdLst>
                    <a:gd name="T0" fmla="*/ 31 w 31"/>
                    <a:gd name="T1" fmla="*/ 2 h 6"/>
                    <a:gd name="T2" fmla="*/ 31 w 31"/>
                    <a:gd name="T3" fmla="*/ 0 h 6"/>
                    <a:gd name="T4" fmla="*/ 0 w 31"/>
                    <a:gd name="T5" fmla="*/ 0 h 6"/>
                    <a:gd name="T6" fmla="*/ 0 w 31"/>
                    <a:gd name="T7" fmla="*/ 6 h 6"/>
                    <a:gd name="T8" fmla="*/ 31 w 31"/>
                    <a:gd name="T9" fmla="*/ 6 h 6"/>
                    <a:gd name="T10" fmla="*/ 31 w 31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1"/>
                    <a:gd name="T19" fmla="*/ 0 h 6"/>
                    <a:gd name="T20" fmla="*/ 31 w 3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1" h="6">
                      <a:moveTo>
                        <a:pt x="31" y="2"/>
                      </a:moveTo>
                      <a:lnTo>
                        <a:pt x="3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31" y="6"/>
                      </a:lnTo>
                      <a:lnTo>
                        <a:pt x="31" y="2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45" name="Freeform 734"/>
                <p:cNvSpPr>
                  <a:spLocks/>
                </p:cNvSpPr>
                <p:nvPr/>
              </p:nvSpPr>
              <p:spPr bwMode="auto">
                <a:xfrm>
                  <a:off x="2707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46" name="Freeform 735"/>
                <p:cNvSpPr>
                  <a:spLocks/>
                </p:cNvSpPr>
                <p:nvPr/>
              </p:nvSpPr>
              <p:spPr bwMode="auto">
                <a:xfrm>
                  <a:off x="2676" y="2087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2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47" name="Freeform 736"/>
                <p:cNvSpPr>
                  <a:spLocks/>
                </p:cNvSpPr>
                <p:nvPr/>
              </p:nvSpPr>
              <p:spPr bwMode="auto">
                <a:xfrm>
                  <a:off x="2678" y="2087"/>
                  <a:ext cx="27" cy="6"/>
                </a:xfrm>
                <a:custGeom>
                  <a:avLst/>
                  <a:gdLst>
                    <a:gd name="T0" fmla="*/ 27 w 27"/>
                    <a:gd name="T1" fmla="*/ 2 h 6"/>
                    <a:gd name="T2" fmla="*/ 27 w 27"/>
                    <a:gd name="T3" fmla="*/ 0 h 6"/>
                    <a:gd name="T4" fmla="*/ 0 w 27"/>
                    <a:gd name="T5" fmla="*/ 0 h 6"/>
                    <a:gd name="T6" fmla="*/ 0 w 27"/>
                    <a:gd name="T7" fmla="*/ 6 h 6"/>
                    <a:gd name="T8" fmla="*/ 27 w 27"/>
                    <a:gd name="T9" fmla="*/ 6 h 6"/>
                    <a:gd name="T10" fmla="*/ 27 w 27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7"/>
                    <a:gd name="T19" fmla="*/ 0 h 6"/>
                    <a:gd name="T20" fmla="*/ 27 w 27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7" h="6">
                      <a:moveTo>
                        <a:pt x="27" y="2"/>
                      </a:moveTo>
                      <a:lnTo>
                        <a:pt x="27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7" y="6"/>
                      </a:lnTo>
                      <a:lnTo>
                        <a:pt x="27" y="2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48" name="Freeform 737"/>
                <p:cNvSpPr>
                  <a:spLocks/>
                </p:cNvSpPr>
                <p:nvPr/>
              </p:nvSpPr>
              <p:spPr bwMode="auto">
                <a:xfrm>
                  <a:off x="2705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49" name="Freeform 738"/>
                <p:cNvSpPr>
                  <a:spLocks/>
                </p:cNvSpPr>
                <p:nvPr/>
              </p:nvSpPr>
              <p:spPr bwMode="auto">
                <a:xfrm>
                  <a:off x="2678" y="2087"/>
                  <a:ext cx="2" cy="6"/>
                </a:xfrm>
                <a:custGeom>
                  <a:avLst/>
                  <a:gdLst>
                    <a:gd name="T0" fmla="*/ 2 w 2"/>
                    <a:gd name="T1" fmla="*/ 0 h 6"/>
                    <a:gd name="T2" fmla="*/ 0 w 2"/>
                    <a:gd name="T3" fmla="*/ 1 h 6"/>
                    <a:gd name="T4" fmla="*/ 0 w 2"/>
                    <a:gd name="T5" fmla="*/ 2 h 6"/>
                    <a:gd name="T6" fmla="*/ 0 w 2"/>
                    <a:gd name="T7" fmla="*/ 5 h 6"/>
                    <a:gd name="T8" fmla="*/ 2 w 2"/>
                    <a:gd name="T9" fmla="*/ 6 h 6"/>
                    <a:gd name="T10" fmla="*/ 2 w 2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50" name="Freeform 739"/>
                <p:cNvSpPr>
                  <a:spLocks/>
                </p:cNvSpPr>
                <p:nvPr/>
              </p:nvSpPr>
              <p:spPr bwMode="auto">
                <a:xfrm>
                  <a:off x="2680" y="2087"/>
                  <a:ext cx="24" cy="6"/>
                </a:xfrm>
                <a:custGeom>
                  <a:avLst/>
                  <a:gdLst>
                    <a:gd name="T0" fmla="*/ 24 w 24"/>
                    <a:gd name="T1" fmla="*/ 2 h 6"/>
                    <a:gd name="T2" fmla="*/ 24 w 24"/>
                    <a:gd name="T3" fmla="*/ 0 h 6"/>
                    <a:gd name="T4" fmla="*/ 0 w 24"/>
                    <a:gd name="T5" fmla="*/ 0 h 6"/>
                    <a:gd name="T6" fmla="*/ 0 w 24"/>
                    <a:gd name="T7" fmla="*/ 6 h 6"/>
                    <a:gd name="T8" fmla="*/ 24 w 24"/>
                    <a:gd name="T9" fmla="*/ 6 h 6"/>
                    <a:gd name="T10" fmla="*/ 24 w 24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4"/>
                    <a:gd name="T19" fmla="*/ 0 h 6"/>
                    <a:gd name="T20" fmla="*/ 24 w 2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4" h="6">
                      <a:moveTo>
                        <a:pt x="24" y="2"/>
                      </a:moveTo>
                      <a:lnTo>
                        <a:pt x="24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4" y="6"/>
                      </a:lnTo>
                      <a:lnTo>
                        <a:pt x="24" y="2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51" name="Freeform 740"/>
                <p:cNvSpPr>
                  <a:spLocks/>
                </p:cNvSpPr>
                <p:nvPr/>
              </p:nvSpPr>
              <p:spPr bwMode="auto">
                <a:xfrm>
                  <a:off x="2704" y="2087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2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52" name="Freeform 741"/>
                <p:cNvSpPr>
                  <a:spLocks/>
                </p:cNvSpPr>
                <p:nvPr/>
              </p:nvSpPr>
              <p:spPr bwMode="auto">
                <a:xfrm>
                  <a:off x="2680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0 w 3"/>
                    <a:gd name="T3" fmla="*/ 1 h 6"/>
                    <a:gd name="T4" fmla="*/ 0 w 3"/>
                    <a:gd name="T5" fmla="*/ 2 h 6"/>
                    <a:gd name="T6" fmla="*/ 0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53" name="Freeform 742"/>
                <p:cNvSpPr>
                  <a:spLocks/>
                </p:cNvSpPr>
                <p:nvPr/>
              </p:nvSpPr>
              <p:spPr bwMode="auto">
                <a:xfrm>
                  <a:off x="2683" y="2087"/>
                  <a:ext cx="19" cy="6"/>
                </a:xfrm>
                <a:custGeom>
                  <a:avLst/>
                  <a:gdLst>
                    <a:gd name="T0" fmla="*/ 19 w 19"/>
                    <a:gd name="T1" fmla="*/ 2 h 6"/>
                    <a:gd name="T2" fmla="*/ 19 w 19"/>
                    <a:gd name="T3" fmla="*/ 0 h 6"/>
                    <a:gd name="T4" fmla="*/ 0 w 19"/>
                    <a:gd name="T5" fmla="*/ 0 h 6"/>
                    <a:gd name="T6" fmla="*/ 0 w 19"/>
                    <a:gd name="T7" fmla="*/ 6 h 6"/>
                    <a:gd name="T8" fmla="*/ 19 w 19"/>
                    <a:gd name="T9" fmla="*/ 6 h 6"/>
                    <a:gd name="T10" fmla="*/ 19 w 19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6"/>
                    <a:gd name="T20" fmla="*/ 19 w 19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6">
                      <a:moveTo>
                        <a:pt x="19" y="2"/>
                      </a:moveTo>
                      <a:lnTo>
                        <a:pt x="19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9" y="6"/>
                      </a:lnTo>
                      <a:lnTo>
                        <a:pt x="19" y="2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54" name="Freeform 743"/>
                <p:cNvSpPr>
                  <a:spLocks/>
                </p:cNvSpPr>
                <p:nvPr/>
              </p:nvSpPr>
              <p:spPr bwMode="auto">
                <a:xfrm>
                  <a:off x="2702" y="2087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2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55" name="Freeform 744"/>
                <p:cNvSpPr>
                  <a:spLocks/>
                </p:cNvSpPr>
                <p:nvPr/>
              </p:nvSpPr>
              <p:spPr bwMode="auto">
                <a:xfrm>
                  <a:off x="2681" y="2087"/>
                  <a:ext cx="4" cy="6"/>
                </a:xfrm>
                <a:custGeom>
                  <a:avLst/>
                  <a:gdLst>
                    <a:gd name="T0" fmla="*/ 4 w 4"/>
                    <a:gd name="T1" fmla="*/ 0 h 6"/>
                    <a:gd name="T2" fmla="*/ 2 w 4"/>
                    <a:gd name="T3" fmla="*/ 1 h 6"/>
                    <a:gd name="T4" fmla="*/ 0 w 4"/>
                    <a:gd name="T5" fmla="*/ 2 h 6"/>
                    <a:gd name="T6" fmla="*/ 2 w 4"/>
                    <a:gd name="T7" fmla="*/ 5 h 6"/>
                    <a:gd name="T8" fmla="*/ 4 w 4"/>
                    <a:gd name="T9" fmla="*/ 6 h 6"/>
                    <a:gd name="T10" fmla="*/ 4 w 4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4" y="0"/>
                      </a:moveTo>
                      <a:lnTo>
                        <a:pt x="2" y="1"/>
                      </a:lnTo>
                      <a:lnTo>
                        <a:pt x="0" y="2"/>
                      </a:lnTo>
                      <a:lnTo>
                        <a:pt x="2" y="5"/>
                      </a:lnTo>
                      <a:lnTo>
                        <a:pt x="4" y="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56" name="Freeform 745"/>
                <p:cNvSpPr>
                  <a:spLocks/>
                </p:cNvSpPr>
                <p:nvPr/>
              </p:nvSpPr>
              <p:spPr bwMode="auto">
                <a:xfrm>
                  <a:off x="2685" y="2087"/>
                  <a:ext cx="15" cy="6"/>
                </a:xfrm>
                <a:custGeom>
                  <a:avLst/>
                  <a:gdLst>
                    <a:gd name="T0" fmla="*/ 15 w 15"/>
                    <a:gd name="T1" fmla="*/ 2 h 6"/>
                    <a:gd name="T2" fmla="*/ 15 w 15"/>
                    <a:gd name="T3" fmla="*/ 0 h 6"/>
                    <a:gd name="T4" fmla="*/ 0 w 15"/>
                    <a:gd name="T5" fmla="*/ 0 h 6"/>
                    <a:gd name="T6" fmla="*/ 0 w 15"/>
                    <a:gd name="T7" fmla="*/ 6 h 6"/>
                    <a:gd name="T8" fmla="*/ 15 w 15"/>
                    <a:gd name="T9" fmla="*/ 6 h 6"/>
                    <a:gd name="T10" fmla="*/ 15 w 15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5"/>
                    <a:gd name="T19" fmla="*/ 0 h 6"/>
                    <a:gd name="T20" fmla="*/ 15 w 15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5" h="6">
                      <a:moveTo>
                        <a:pt x="15" y="2"/>
                      </a:move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5" y="6"/>
                      </a:lnTo>
                      <a:lnTo>
                        <a:pt x="15" y="2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57" name="Freeform 746"/>
                <p:cNvSpPr>
                  <a:spLocks/>
                </p:cNvSpPr>
                <p:nvPr/>
              </p:nvSpPr>
              <p:spPr bwMode="auto">
                <a:xfrm>
                  <a:off x="2700" y="2087"/>
                  <a:ext cx="2" cy="6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5 h 6"/>
                    <a:gd name="T4" fmla="*/ 2 w 2"/>
                    <a:gd name="T5" fmla="*/ 2 h 6"/>
                    <a:gd name="T6" fmla="*/ 2 w 2"/>
                    <a:gd name="T7" fmla="*/ 1 h 6"/>
                    <a:gd name="T8" fmla="*/ 0 w 2"/>
                    <a:gd name="T9" fmla="*/ 0 h 6"/>
                    <a:gd name="T10" fmla="*/ 0 w 2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58" name="Freeform 747"/>
                <p:cNvSpPr>
                  <a:spLocks/>
                </p:cNvSpPr>
                <p:nvPr/>
              </p:nvSpPr>
              <p:spPr bwMode="auto">
                <a:xfrm>
                  <a:off x="2684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59" name="Freeform 748"/>
                <p:cNvSpPr>
                  <a:spLocks/>
                </p:cNvSpPr>
                <p:nvPr/>
              </p:nvSpPr>
              <p:spPr bwMode="auto">
                <a:xfrm>
                  <a:off x="2687" y="2087"/>
                  <a:ext cx="11" cy="6"/>
                </a:xfrm>
                <a:custGeom>
                  <a:avLst/>
                  <a:gdLst>
                    <a:gd name="T0" fmla="*/ 11 w 11"/>
                    <a:gd name="T1" fmla="*/ 2 h 6"/>
                    <a:gd name="T2" fmla="*/ 11 w 11"/>
                    <a:gd name="T3" fmla="*/ 0 h 6"/>
                    <a:gd name="T4" fmla="*/ 0 w 11"/>
                    <a:gd name="T5" fmla="*/ 0 h 6"/>
                    <a:gd name="T6" fmla="*/ 0 w 11"/>
                    <a:gd name="T7" fmla="*/ 6 h 6"/>
                    <a:gd name="T8" fmla="*/ 11 w 11"/>
                    <a:gd name="T9" fmla="*/ 6 h 6"/>
                    <a:gd name="T10" fmla="*/ 11 w 11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1"/>
                    <a:gd name="T19" fmla="*/ 0 h 6"/>
                    <a:gd name="T20" fmla="*/ 11 w 11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1" h="6">
                      <a:moveTo>
                        <a:pt x="11" y="2"/>
                      </a:moveTo>
                      <a:lnTo>
                        <a:pt x="11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1" y="6"/>
                      </a:lnTo>
                      <a:lnTo>
                        <a:pt x="11" y="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60" name="Freeform 749"/>
                <p:cNvSpPr>
                  <a:spLocks/>
                </p:cNvSpPr>
                <p:nvPr/>
              </p:nvSpPr>
              <p:spPr bwMode="auto">
                <a:xfrm>
                  <a:off x="2698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61" name="Freeform 750"/>
                <p:cNvSpPr>
                  <a:spLocks/>
                </p:cNvSpPr>
                <p:nvPr/>
              </p:nvSpPr>
              <p:spPr bwMode="auto">
                <a:xfrm>
                  <a:off x="2686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62" name="Freeform 751"/>
                <p:cNvSpPr>
                  <a:spLocks/>
                </p:cNvSpPr>
                <p:nvPr/>
              </p:nvSpPr>
              <p:spPr bwMode="auto">
                <a:xfrm>
                  <a:off x="2689" y="2087"/>
                  <a:ext cx="6" cy="6"/>
                </a:xfrm>
                <a:custGeom>
                  <a:avLst/>
                  <a:gdLst>
                    <a:gd name="T0" fmla="*/ 6 w 6"/>
                    <a:gd name="T1" fmla="*/ 2 h 6"/>
                    <a:gd name="T2" fmla="*/ 6 w 6"/>
                    <a:gd name="T3" fmla="*/ 0 h 6"/>
                    <a:gd name="T4" fmla="*/ 0 w 6"/>
                    <a:gd name="T5" fmla="*/ 0 h 6"/>
                    <a:gd name="T6" fmla="*/ 0 w 6"/>
                    <a:gd name="T7" fmla="*/ 6 h 6"/>
                    <a:gd name="T8" fmla="*/ 6 w 6"/>
                    <a:gd name="T9" fmla="*/ 6 h 6"/>
                    <a:gd name="T10" fmla="*/ 6 w 6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"/>
                    <a:gd name="T19" fmla="*/ 0 h 6"/>
                    <a:gd name="T20" fmla="*/ 6 w 6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" h="6">
                      <a:moveTo>
                        <a:pt x="6" y="2"/>
                      </a:move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6" y="6"/>
                      </a:lnTo>
                      <a:lnTo>
                        <a:pt x="6" y="2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63" name="Freeform 752"/>
                <p:cNvSpPr>
                  <a:spLocks/>
                </p:cNvSpPr>
                <p:nvPr/>
              </p:nvSpPr>
              <p:spPr bwMode="auto">
                <a:xfrm>
                  <a:off x="2695" y="2087"/>
                  <a:ext cx="4" cy="6"/>
                </a:xfrm>
                <a:custGeom>
                  <a:avLst/>
                  <a:gdLst>
                    <a:gd name="T0" fmla="*/ 0 w 4"/>
                    <a:gd name="T1" fmla="*/ 6 h 6"/>
                    <a:gd name="T2" fmla="*/ 3 w 4"/>
                    <a:gd name="T3" fmla="*/ 5 h 6"/>
                    <a:gd name="T4" fmla="*/ 4 w 4"/>
                    <a:gd name="T5" fmla="*/ 2 h 6"/>
                    <a:gd name="T6" fmla="*/ 3 w 4"/>
                    <a:gd name="T7" fmla="*/ 1 h 6"/>
                    <a:gd name="T8" fmla="*/ 0 w 4"/>
                    <a:gd name="T9" fmla="*/ 0 h 6"/>
                    <a:gd name="T10" fmla="*/ 0 w 4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6"/>
                    <a:gd name="T20" fmla="*/ 4 w 4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6">
                      <a:moveTo>
                        <a:pt x="0" y="6"/>
                      </a:moveTo>
                      <a:lnTo>
                        <a:pt x="3" y="5"/>
                      </a:lnTo>
                      <a:lnTo>
                        <a:pt x="4" y="2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64" name="Freeform 753"/>
                <p:cNvSpPr>
                  <a:spLocks/>
                </p:cNvSpPr>
                <p:nvPr/>
              </p:nvSpPr>
              <p:spPr bwMode="auto">
                <a:xfrm>
                  <a:off x="2688" y="2087"/>
                  <a:ext cx="3" cy="6"/>
                </a:xfrm>
                <a:custGeom>
                  <a:avLst/>
                  <a:gdLst>
                    <a:gd name="T0" fmla="*/ 3 w 3"/>
                    <a:gd name="T1" fmla="*/ 0 h 6"/>
                    <a:gd name="T2" fmla="*/ 1 w 3"/>
                    <a:gd name="T3" fmla="*/ 1 h 6"/>
                    <a:gd name="T4" fmla="*/ 0 w 3"/>
                    <a:gd name="T5" fmla="*/ 2 h 6"/>
                    <a:gd name="T6" fmla="*/ 1 w 3"/>
                    <a:gd name="T7" fmla="*/ 5 h 6"/>
                    <a:gd name="T8" fmla="*/ 3 w 3"/>
                    <a:gd name="T9" fmla="*/ 6 h 6"/>
                    <a:gd name="T10" fmla="*/ 3 w 3"/>
                    <a:gd name="T11" fmla="*/ 0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65" name="Freeform 754"/>
                <p:cNvSpPr>
                  <a:spLocks/>
                </p:cNvSpPr>
                <p:nvPr/>
              </p:nvSpPr>
              <p:spPr bwMode="auto">
                <a:xfrm>
                  <a:off x="2691" y="2087"/>
                  <a:ext cx="2" cy="6"/>
                </a:xfrm>
                <a:custGeom>
                  <a:avLst/>
                  <a:gdLst>
                    <a:gd name="T0" fmla="*/ 2 w 2"/>
                    <a:gd name="T1" fmla="*/ 2 h 6"/>
                    <a:gd name="T2" fmla="*/ 2 w 2"/>
                    <a:gd name="T3" fmla="*/ 0 h 6"/>
                    <a:gd name="T4" fmla="*/ 0 w 2"/>
                    <a:gd name="T5" fmla="*/ 0 h 6"/>
                    <a:gd name="T6" fmla="*/ 0 w 2"/>
                    <a:gd name="T7" fmla="*/ 6 h 6"/>
                    <a:gd name="T8" fmla="*/ 2 w 2"/>
                    <a:gd name="T9" fmla="*/ 6 h 6"/>
                    <a:gd name="T10" fmla="*/ 2 w 2"/>
                    <a:gd name="T11" fmla="*/ 2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6"/>
                    <a:gd name="T20" fmla="*/ 2 w 2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6">
                      <a:moveTo>
                        <a:pt x="2" y="2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2" y="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66" name="Freeform 755"/>
                <p:cNvSpPr>
                  <a:spLocks/>
                </p:cNvSpPr>
                <p:nvPr/>
              </p:nvSpPr>
              <p:spPr bwMode="auto">
                <a:xfrm>
                  <a:off x="2693" y="2087"/>
                  <a:ext cx="3" cy="6"/>
                </a:xfrm>
                <a:custGeom>
                  <a:avLst/>
                  <a:gdLst>
                    <a:gd name="T0" fmla="*/ 0 w 3"/>
                    <a:gd name="T1" fmla="*/ 6 h 6"/>
                    <a:gd name="T2" fmla="*/ 2 w 3"/>
                    <a:gd name="T3" fmla="*/ 5 h 6"/>
                    <a:gd name="T4" fmla="*/ 3 w 3"/>
                    <a:gd name="T5" fmla="*/ 2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6 h 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6"/>
                    <a:gd name="T20" fmla="*/ 3 w 3"/>
                    <a:gd name="T21" fmla="*/ 6 h 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6">
                      <a:moveTo>
                        <a:pt x="0" y="6"/>
                      </a:moveTo>
                      <a:lnTo>
                        <a:pt x="2" y="5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67" name="Freeform 756"/>
                <p:cNvSpPr>
                  <a:spLocks/>
                </p:cNvSpPr>
                <p:nvPr/>
              </p:nvSpPr>
              <p:spPr bwMode="auto">
                <a:xfrm>
                  <a:off x="2662" y="2099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1 w 3"/>
                    <a:gd name="T3" fmla="*/ 1 h 5"/>
                    <a:gd name="T4" fmla="*/ 0 w 3"/>
                    <a:gd name="T5" fmla="*/ 2 h 5"/>
                    <a:gd name="T6" fmla="*/ 1 w 3"/>
                    <a:gd name="T7" fmla="*/ 4 h 5"/>
                    <a:gd name="T8" fmla="*/ 3 w 3"/>
                    <a:gd name="T9" fmla="*/ 5 h 5"/>
                    <a:gd name="T10" fmla="*/ 3 w 3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4"/>
                      </a:lnTo>
                      <a:lnTo>
                        <a:pt x="3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68" name="Freeform 757"/>
                <p:cNvSpPr>
                  <a:spLocks/>
                </p:cNvSpPr>
                <p:nvPr/>
              </p:nvSpPr>
              <p:spPr bwMode="auto">
                <a:xfrm>
                  <a:off x="2665" y="2099"/>
                  <a:ext cx="53" cy="5"/>
                </a:xfrm>
                <a:custGeom>
                  <a:avLst/>
                  <a:gdLst>
                    <a:gd name="T0" fmla="*/ 53 w 53"/>
                    <a:gd name="T1" fmla="*/ 2 h 5"/>
                    <a:gd name="T2" fmla="*/ 53 w 53"/>
                    <a:gd name="T3" fmla="*/ 0 h 5"/>
                    <a:gd name="T4" fmla="*/ 0 w 53"/>
                    <a:gd name="T5" fmla="*/ 0 h 5"/>
                    <a:gd name="T6" fmla="*/ 0 w 53"/>
                    <a:gd name="T7" fmla="*/ 5 h 5"/>
                    <a:gd name="T8" fmla="*/ 53 w 53"/>
                    <a:gd name="T9" fmla="*/ 5 h 5"/>
                    <a:gd name="T10" fmla="*/ 53 w 53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3"/>
                    <a:gd name="T19" fmla="*/ 0 h 5"/>
                    <a:gd name="T20" fmla="*/ 53 w 5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3" h="5">
                      <a:moveTo>
                        <a:pt x="53" y="2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53" y="5"/>
                      </a:lnTo>
                      <a:lnTo>
                        <a:pt x="53" y="2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69" name="Freeform 758"/>
                <p:cNvSpPr>
                  <a:spLocks/>
                </p:cNvSpPr>
                <p:nvPr/>
              </p:nvSpPr>
              <p:spPr bwMode="auto">
                <a:xfrm>
                  <a:off x="2718" y="2099"/>
                  <a:ext cx="3" cy="5"/>
                </a:xfrm>
                <a:custGeom>
                  <a:avLst/>
                  <a:gdLst>
                    <a:gd name="T0" fmla="*/ 0 w 3"/>
                    <a:gd name="T1" fmla="*/ 5 h 5"/>
                    <a:gd name="T2" fmla="*/ 2 w 3"/>
                    <a:gd name="T3" fmla="*/ 4 h 5"/>
                    <a:gd name="T4" fmla="*/ 3 w 3"/>
                    <a:gd name="T5" fmla="*/ 2 h 5"/>
                    <a:gd name="T6" fmla="*/ 2 w 3"/>
                    <a:gd name="T7" fmla="*/ 1 h 5"/>
                    <a:gd name="T8" fmla="*/ 0 w 3"/>
                    <a:gd name="T9" fmla="*/ 0 h 5"/>
                    <a:gd name="T10" fmla="*/ 0 w 3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0" y="5"/>
                      </a:moveTo>
                      <a:lnTo>
                        <a:pt x="2" y="4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70" name="Freeform 759"/>
                <p:cNvSpPr>
                  <a:spLocks/>
                </p:cNvSpPr>
                <p:nvPr/>
              </p:nvSpPr>
              <p:spPr bwMode="auto">
                <a:xfrm>
                  <a:off x="2664" y="2099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0 w 3"/>
                    <a:gd name="T3" fmla="*/ 1 h 5"/>
                    <a:gd name="T4" fmla="*/ 0 w 3"/>
                    <a:gd name="T5" fmla="*/ 2 h 5"/>
                    <a:gd name="T6" fmla="*/ 0 w 3"/>
                    <a:gd name="T7" fmla="*/ 4 h 5"/>
                    <a:gd name="T8" fmla="*/ 3 w 3"/>
                    <a:gd name="T9" fmla="*/ 5 h 5"/>
                    <a:gd name="T10" fmla="*/ 3 w 3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3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4"/>
                      </a:lnTo>
                      <a:lnTo>
                        <a:pt x="3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71" name="Freeform 760"/>
                <p:cNvSpPr>
                  <a:spLocks/>
                </p:cNvSpPr>
                <p:nvPr/>
              </p:nvSpPr>
              <p:spPr bwMode="auto">
                <a:xfrm>
                  <a:off x="2667" y="2099"/>
                  <a:ext cx="49" cy="5"/>
                </a:xfrm>
                <a:custGeom>
                  <a:avLst/>
                  <a:gdLst>
                    <a:gd name="T0" fmla="*/ 49 w 49"/>
                    <a:gd name="T1" fmla="*/ 2 h 5"/>
                    <a:gd name="T2" fmla="*/ 49 w 49"/>
                    <a:gd name="T3" fmla="*/ 0 h 5"/>
                    <a:gd name="T4" fmla="*/ 0 w 49"/>
                    <a:gd name="T5" fmla="*/ 0 h 5"/>
                    <a:gd name="T6" fmla="*/ 0 w 49"/>
                    <a:gd name="T7" fmla="*/ 5 h 5"/>
                    <a:gd name="T8" fmla="*/ 49 w 49"/>
                    <a:gd name="T9" fmla="*/ 5 h 5"/>
                    <a:gd name="T10" fmla="*/ 49 w 49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9"/>
                    <a:gd name="T19" fmla="*/ 0 h 5"/>
                    <a:gd name="T20" fmla="*/ 49 w 49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9" h="5">
                      <a:moveTo>
                        <a:pt x="49" y="2"/>
                      </a:moveTo>
                      <a:lnTo>
                        <a:pt x="49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49" y="5"/>
                      </a:lnTo>
                      <a:lnTo>
                        <a:pt x="49" y="2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72" name="Freeform 761"/>
                <p:cNvSpPr>
                  <a:spLocks/>
                </p:cNvSpPr>
                <p:nvPr/>
              </p:nvSpPr>
              <p:spPr bwMode="auto">
                <a:xfrm>
                  <a:off x="2716" y="2099"/>
                  <a:ext cx="3" cy="5"/>
                </a:xfrm>
                <a:custGeom>
                  <a:avLst/>
                  <a:gdLst>
                    <a:gd name="T0" fmla="*/ 0 w 3"/>
                    <a:gd name="T1" fmla="*/ 5 h 5"/>
                    <a:gd name="T2" fmla="*/ 2 w 3"/>
                    <a:gd name="T3" fmla="*/ 4 h 5"/>
                    <a:gd name="T4" fmla="*/ 3 w 3"/>
                    <a:gd name="T5" fmla="*/ 2 h 5"/>
                    <a:gd name="T6" fmla="*/ 2 w 3"/>
                    <a:gd name="T7" fmla="*/ 1 h 5"/>
                    <a:gd name="T8" fmla="*/ 0 w 3"/>
                    <a:gd name="T9" fmla="*/ 0 h 5"/>
                    <a:gd name="T10" fmla="*/ 0 w 3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0" y="5"/>
                      </a:moveTo>
                      <a:lnTo>
                        <a:pt x="2" y="4"/>
                      </a:lnTo>
                      <a:lnTo>
                        <a:pt x="3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73" name="Freeform 762"/>
                <p:cNvSpPr>
                  <a:spLocks/>
                </p:cNvSpPr>
                <p:nvPr/>
              </p:nvSpPr>
              <p:spPr bwMode="auto">
                <a:xfrm>
                  <a:off x="2667" y="2099"/>
                  <a:ext cx="2" cy="5"/>
                </a:xfrm>
                <a:custGeom>
                  <a:avLst/>
                  <a:gdLst>
                    <a:gd name="T0" fmla="*/ 2 w 2"/>
                    <a:gd name="T1" fmla="*/ 0 h 5"/>
                    <a:gd name="T2" fmla="*/ 0 w 2"/>
                    <a:gd name="T3" fmla="*/ 1 h 5"/>
                    <a:gd name="T4" fmla="*/ 0 w 2"/>
                    <a:gd name="T5" fmla="*/ 2 h 5"/>
                    <a:gd name="T6" fmla="*/ 0 w 2"/>
                    <a:gd name="T7" fmla="*/ 4 h 5"/>
                    <a:gd name="T8" fmla="*/ 2 w 2"/>
                    <a:gd name="T9" fmla="*/ 5 h 5"/>
                    <a:gd name="T10" fmla="*/ 2 w 2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5"/>
                    <a:gd name="T20" fmla="*/ 2 w 2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5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4"/>
                      </a:lnTo>
                      <a:lnTo>
                        <a:pt x="2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74" name="Freeform 763"/>
                <p:cNvSpPr>
                  <a:spLocks/>
                </p:cNvSpPr>
                <p:nvPr/>
              </p:nvSpPr>
              <p:spPr bwMode="auto">
                <a:xfrm>
                  <a:off x="2669" y="2099"/>
                  <a:ext cx="46" cy="5"/>
                </a:xfrm>
                <a:custGeom>
                  <a:avLst/>
                  <a:gdLst>
                    <a:gd name="T0" fmla="*/ 46 w 46"/>
                    <a:gd name="T1" fmla="*/ 2 h 5"/>
                    <a:gd name="T2" fmla="*/ 46 w 46"/>
                    <a:gd name="T3" fmla="*/ 0 h 5"/>
                    <a:gd name="T4" fmla="*/ 0 w 46"/>
                    <a:gd name="T5" fmla="*/ 0 h 5"/>
                    <a:gd name="T6" fmla="*/ 0 w 46"/>
                    <a:gd name="T7" fmla="*/ 5 h 5"/>
                    <a:gd name="T8" fmla="*/ 46 w 46"/>
                    <a:gd name="T9" fmla="*/ 5 h 5"/>
                    <a:gd name="T10" fmla="*/ 46 w 46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6"/>
                    <a:gd name="T19" fmla="*/ 0 h 5"/>
                    <a:gd name="T20" fmla="*/ 46 w 46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6" h="5">
                      <a:moveTo>
                        <a:pt x="46" y="2"/>
                      </a:moveTo>
                      <a:lnTo>
                        <a:pt x="46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46" y="5"/>
                      </a:lnTo>
                      <a:lnTo>
                        <a:pt x="46" y="2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75" name="Freeform 764"/>
                <p:cNvSpPr>
                  <a:spLocks/>
                </p:cNvSpPr>
                <p:nvPr/>
              </p:nvSpPr>
              <p:spPr bwMode="auto">
                <a:xfrm>
                  <a:off x="2715" y="2099"/>
                  <a:ext cx="2" cy="5"/>
                </a:xfrm>
                <a:custGeom>
                  <a:avLst/>
                  <a:gdLst>
                    <a:gd name="T0" fmla="*/ 0 w 2"/>
                    <a:gd name="T1" fmla="*/ 5 h 5"/>
                    <a:gd name="T2" fmla="*/ 2 w 2"/>
                    <a:gd name="T3" fmla="*/ 4 h 5"/>
                    <a:gd name="T4" fmla="*/ 2 w 2"/>
                    <a:gd name="T5" fmla="*/ 2 h 5"/>
                    <a:gd name="T6" fmla="*/ 2 w 2"/>
                    <a:gd name="T7" fmla="*/ 1 h 5"/>
                    <a:gd name="T8" fmla="*/ 0 w 2"/>
                    <a:gd name="T9" fmla="*/ 0 h 5"/>
                    <a:gd name="T10" fmla="*/ 0 w 2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5"/>
                    <a:gd name="T20" fmla="*/ 2 w 2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5">
                      <a:moveTo>
                        <a:pt x="0" y="5"/>
                      </a:move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72727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76" name="Freeform 765"/>
                <p:cNvSpPr>
                  <a:spLocks/>
                </p:cNvSpPr>
                <p:nvPr/>
              </p:nvSpPr>
              <p:spPr bwMode="auto">
                <a:xfrm>
                  <a:off x="2668" y="2099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1 w 3"/>
                    <a:gd name="T3" fmla="*/ 1 h 5"/>
                    <a:gd name="T4" fmla="*/ 0 w 3"/>
                    <a:gd name="T5" fmla="*/ 2 h 5"/>
                    <a:gd name="T6" fmla="*/ 1 w 3"/>
                    <a:gd name="T7" fmla="*/ 4 h 5"/>
                    <a:gd name="T8" fmla="*/ 3 w 3"/>
                    <a:gd name="T9" fmla="*/ 5 h 5"/>
                    <a:gd name="T10" fmla="*/ 3 w 3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4"/>
                      </a:lnTo>
                      <a:lnTo>
                        <a:pt x="3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77" name="Freeform 766"/>
                <p:cNvSpPr>
                  <a:spLocks/>
                </p:cNvSpPr>
                <p:nvPr/>
              </p:nvSpPr>
              <p:spPr bwMode="auto">
                <a:xfrm>
                  <a:off x="2671" y="2099"/>
                  <a:ext cx="41" cy="5"/>
                </a:xfrm>
                <a:custGeom>
                  <a:avLst/>
                  <a:gdLst>
                    <a:gd name="T0" fmla="*/ 41 w 41"/>
                    <a:gd name="T1" fmla="*/ 2 h 5"/>
                    <a:gd name="T2" fmla="*/ 41 w 41"/>
                    <a:gd name="T3" fmla="*/ 0 h 5"/>
                    <a:gd name="T4" fmla="*/ 0 w 41"/>
                    <a:gd name="T5" fmla="*/ 0 h 5"/>
                    <a:gd name="T6" fmla="*/ 0 w 41"/>
                    <a:gd name="T7" fmla="*/ 5 h 5"/>
                    <a:gd name="T8" fmla="*/ 41 w 41"/>
                    <a:gd name="T9" fmla="*/ 5 h 5"/>
                    <a:gd name="T10" fmla="*/ 41 w 41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1"/>
                    <a:gd name="T19" fmla="*/ 0 h 5"/>
                    <a:gd name="T20" fmla="*/ 41 w 41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1" h="5">
                      <a:moveTo>
                        <a:pt x="41" y="2"/>
                      </a:move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41" y="5"/>
                      </a:lnTo>
                      <a:lnTo>
                        <a:pt x="41" y="2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78" name="Freeform 767"/>
                <p:cNvSpPr>
                  <a:spLocks/>
                </p:cNvSpPr>
                <p:nvPr/>
              </p:nvSpPr>
              <p:spPr bwMode="auto">
                <a:xfrm>
                  <a:off x="2712" y="2099"/>
                  <a:ext cx="4" cy="5"/>
                </a:xfrm>
                <a:custGeom>
                  <a:avLst/>
                  <a:gdLst>
                    <a:gd name="T0" fmla="*/ 0 w 4"/>
                    <a:gd name="T1" fmla="*/ 5 h 5"/>
                    <a:gd name="T2" fmla="*/ 3 w 4"/>
                    <a:gd name="T3" fmla="*/ 4 h 5"/>
                    <a:gd name="T4" fmla="*/ 4 w 4"/>
                    <a:gd name="T5" fmla="*/ 2 h 5"/>
                    <a:gd name="T6" fmla="*/ 3 w 4"/>
                    <a:gd name="T7" fmla="*/ 1 h 5"/>
                    <a:gd name="T8" fmla="*/ 0 w 4"/>
                    <a:gd name="T9" fmla="*/ 0 h 5"/>
                    <a:gd name="T10" fmla="*/ 0 w 4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5"/>
                    <a:gd name="T20" fmla="*/ 4 w 4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5">
                      <a:moveTo>
                        <a:pt x="0" y="5"/>
                      </a:moveTo>
                      <a:lnTo>
                        <a:pt x="3" y="4"/>
                      </a:lnTo>
                      <a:lnTo>
                        <a:pt x="4" y="2"/>
                      </a:lnTo>
                      <a:lnTo>
                        <a:pt x="3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79" name="Freeform 768"/>
                <p:cNvSpPr>
                  <a:spLocks/>
                </p:cNvSpPr>
                <p:nvPr/>
              </p:nvSpPr>
              <p:spPr bwMode="auto">
                <a:xfrm>
                  <a:off x="2670" y="2099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1 w 3"/>
                    <a:gd name="T3" fmla="*/ 1 h 5"/>
                    <a:gd name="T4" fmla="*/ 0 w 3"/>
                    <a:gd name="T5" fmla="*/ 2 h 5"/>
                    <a:gd name="T6" fmla="*/ 1 w 3"/>
                    <a:gd name="T7" fmla="*/ 4 h 5"/>
                    <a:gd name="T8" fmla="*/ 3 w 3"/>
                    <a:gd name="T9" fmla="*/ 5 h 5"/>
                    <a:gd name="T10" fmla="*/ 3 w 3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"/>
                    <a:gd name="T19" fmla="*/ 0 h 5"/>
                    <a:gd name="T20" fmla="*/ 3 w 3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" h="5">
                      <a:moveTo>
                        <a:pt x="3" y="0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4"/>
                      </a:lnTo>
                      <a:lnTo>
                        <a:pt x="3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80" name="Freeform 769"/>
                <p:cNvSpPr>
                  <a:spLocks/>
                </p:cNvSpPr>
                <p:nvPr/>
              </p:nvSpPr>
              <p:spPr bwMode="auto">
                <a:xfrm>
                  <a:off x="2673" y="2099"/>
                  <a:ext cx="37" cy="5"/>
                </a:xfrm>
                <a:custGeom>
                  <a:avLst/>
                  <a:gdLst>
                    <a:gd name="T0" fmla="*/ 37 w 37"/>
                    <a:gd name="T1" fmla="*/ 2 h 5"/>
                    <a:gd name="T2" fmla="*/ 37 w 37"/>
                    <a:gd name="T3" fmla="*/ 0 h 5"/>
                    <a:gd name="T4" fmla="*/ 0 w 37"/>
                    <a:gd name="T5" fmla="*/ 0 h 5"/>
                    <a:gd name="T6" fmla="*/ 0 w 37"/>
                    <a:gd name="T7" fmla="*/ 5 h 5"/>
                    <a:gd name="T8" fmla="*/ 37 w 37"/>
                    <a:gd name="T9" fmla="*/ 5 h 5"/>
                    <a:gd name="T10" fmla="*/ 37 w 37"/>
                    <a:gd name="T11" fmla="*/ 2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7"/>
                    <a:gd name="T19" fmla="*/ 0 h 5"/>
                    <a:gd name="T20" fmla="*/ 37 w 37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7" h="5">
                      <a:moveTo>
                        <a:pt x="37" y="2"/>
                      </a:moveTo>
                      <a:lnTo>
                        <a:pt x="37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37" y="5"/>
                      </a:lnTo>
                      <a:lnTo>
                        <a:pt x="37" y="2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81" name="Freeform 770"/>
                <p:cNvSpPr>
                  <a:spLocks/>
                </p:cNvSpPr>
                <p:nvPr/>
              </p:nvSpPr>
              <p:spPr bwMode="auto">
                <a:xfrm>
                  <a:off x="2710" y="2099"/>
                  <a:ext cx="4" cy="5"/>
                </a:xfrm>
                <a:custGeom>
                  <a:avLst/>
                  <a:gdLst>
                    <a:gd name="T0" fmla="*/ 0 w 4"/>
                    <a:gd name="T1" fmla="*/ 5 h 5"/>
                    <a:gd name="T2" fmla="*/ 2 w 4"/>
                    <a:gd name="T3" fmla="*/ 4 h 5"/>
                    <a:gd name="T4" fmla="*/ 4 w 4"/>
                    <a:gd name="T5" fmla="*/ 2 h 5"/>
                    <a:gd name="T6" fmla="*/ 2 w 4"/>
                    <a:gd name="T7" fmla="*/ 1 h 5"/>
                    <a:gd name="T8" fmla="*/ 0 w 4"/>
                    <a:gd name="T9" fmla="*/ 0 h 5"/>
                    <a:gd name="T10" fmla="*/ 0 w 4"/>
                    <a:gd name="T11" fmla="*/ 5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"/>
                    <a:gd name="T19" fmla="*/ 0 h 5"/>
                    <a:gd name="T20" fmla="*/ 4 w 4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" h="5">
                      <a:moveTo>
                        <a:pt x="0" y="5"/>
                      </a:move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482" name="Freeform 771"/>
                <p:cNvSpPr>
                  <a:spLocks/>
                </p:cNvSpPr>
                <p:nvPr/>
              </p:nvSpPr>
              <p:spPr bwMode="auto">
                <a:xfrm>
                  <a:off x="2672" y="2099"/>
                  <a:ext cx="2" cy="5"/>
                </a:xfrm>
                <a:custGeom>
                  <a:avLst/>
                  <a:gdLst>
                    <a:gd name="T0" fmla="*/ 2 w 2"/>
                    <a:gd name="T1" fmla="*/ 0 h 5"/>
                    <a:gd name="T2" fmla="*/ 0 w 2"/>
                    <a:gd name="T3" fmla="*/ 1 h 5"/>
                    <a:gd name="T4" fmla="*/ 0 w 2"/>
                    <a:gd name="T5" fmla="*/ 2 h 5"/>
                    <a:gd name="T6" fmla="*/ 0 w 2"/>
                    <a:gd name="T7" fmla="*/ 4 h 5"/>
                    <a:gd name="T8" fmla="*/ 2 w 2"/>
                    <a:gd name="T9" fmla="*/ 5 h 5"/>
                    <a:gd name="T10" fmla="*/ 2 w 2"/>
                    <a:gd name="T11" fmla="*/ 0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"/>
                    <a:gd name="T19" fmla="*/ 0 h 5"/>
                    <a:gd name="T20" fmla="*/ 2 w 2"/>
                    <a:gd name="T21" fmla="*/ 5 h 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" h="5">
                      <a:moveTo>
                        <a:pt x="2" y="0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4"/>
                      </a:lnTo>
                      <a:lnTo>
                        <a:pt x="2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5148" name="Freeform 772"/>
              <p:cNvSpPr>
                <a:spLocks/>
              </p:cNvSpPr>
              <p:nvPr/>
            </p:nvSpPr>
            <p:spPr bwMode="auto">
              <a:xfrm>
                <a:off x="2674" y="2099"/>
                <a:ext cx="34" cy="5"/>
              </a:xfrm>
              <a:custGeom>
                <a:avLst/>
                <a:gdLst>
                  <a:gd name="T0" fmla="*/ 34 w 34"/>
                  <a:gd name="T1" fmla="*/ 2 h 5"/>
                  <a:gd name="T2" fmla="*/ 34 w 34"/>
                  <a:gd name="T3" fmla="*/ 0 h 5"/>
                  <a:gd name="T4" fmla="*/ 0 w 34"/>
                  <a:gd name="T5" fmla="*/ 0 h 5"/>
                  <a:gd name="T6" fmla="*/ 0 w 34"/>
                  <a:gd name="T7" fmla="*/ 5 h 5"/>
                  <a:gd name="T8" fmla="*/ 34 w 34"/>
                  <a:gd name="T9" fmla="*/ 5 h 5"/>
                  <a:gd name="T10" fmla="*/ 34 w 34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4"/>
                  <a:gd name="T19" fmla="*/ 0 h 5"/>
                  <a:gd name="T20" fmla="*/ 34 w 34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4" h="5">
                    <a:moveTo>
                      <a:pt x="34" y="2"/>
                    </a:moveTo>
                    <a:lnTo>
                      <a:pt x="34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34" y="5"/>
                    </a:lnTo>
                    <a:lnTo>
                      <a:pt x="34" y="2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49" name="Freeform 773"/>
              <p:cNvSpPr>
                <a:spLocks/>
              </p:cNvSpPr>
              <p:nvPr/>
            </p:nvSpPr>
            <p:spPr bwMode="auto">
              <a:xfrm>
                <a:off x="2708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50" name="Freeform 774"/>
              <p:cNvSpPr>
                <a:spLocks/>
              </p:cNvSpPr>
              <p:nvPr/>
            </p:nvSpPr>
            <p:spPr bwMode="auto">
              <a:xfrm>
                <a:off x="2674" y="2099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0 w 2"/>
                  <a:gd name="T3" fmla="*/ 1 h 5"/>
                  <a:gd name="T4" fmla="*/ 0 w 2"/>
                  <a:gd name="T5" fmla="*/ 2 h 5"/>
                  <a:gd name="T6" fmla="*/ 0 w 2"/>
                  <a:gd name="T7" fmla="*/ 4 h 5"/>
                  <a:gd name="T8" fmla="*/ 2 w 2"/>
                  <a:gd name="T9" fmla="*/ 5 h 5"/>
                  <a:gd name="T10" fmla="*/ 2 w 2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5"/>
                  <a:gd name="T20" fmla="*/ 2 w 2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5">
                    <a:moveTo>
                      <a:pt x="2" y="0"/>
                    </a:moveTo>
                    <a:lnTo>
                      <a:pt x="0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51" name="Freeform 775"/>
              <p:cNvSpPr>
                <a:spLocks/>
              </p:cNvSpPr>
              <p:nvPr/>
            </p:nvSpPr>
            <p:spPr bwMode="auto">
              <a:xfrm>
                <a:off x="2676" y="2099"/>
                <a:ext cx="31" cy="5"/>
              </a:xfrm>
              <a:custGeom>
                <a:avLst/>
                <a:gdLst>
                  <a:gd name="T0" fmla="*/ 31 w 31"/>
                  <a:gd name="T1" fmla="*/ 2 h 5"/>
                  <a:gd name="T2" fmla="*/ 31 w 31"/>
                  <a:gd name="T3" fmla="*/ 0 h 5"/>
                  <a:gd name="T4" fmla="*/ 0 w 31"/>
                  <a:gd name="T5" fmla="*/ 0 h 5"/>
                  <a:gd name="T6" fmla="*/ 0 w 31"/>
                  <a:gd name="T7" fmla="*/ 5 h 5"/>
                  <a:gd name="T8" fmla="*/ 31 w 31"/>
                  <a:gd name="T9" fmla="*/ 5 h 5"/>
                  <a:gd name="T10" fmla="*/ 31 w 31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5"/>
                  <a:gd name="T20" fmla="*/ 31 w 31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5">
                    <a:moveTo>
                      <a:pt x="31" y="2"/>
                    </a:moveTo>
                    <a:lnTo>
                      <a:pt x="31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31" y="5"/>
                    </a:lnTo>
                    <a:lnTo>
                      <a:pt x="31" y="2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52" name="Freeform 776"/>
              <p:cNvSpPr>
                <a:spLocks/>
              </p:cNvSpPr>
              <p:nvPr/>
            </p:nvSpPr>
            <p:spPr bwMode="auto">
              <a:xfrm>
                <a:off x="2707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53" name="Freeform 777"/>
              <p:cNvSpPr>
                <a:spLocks/>
              </p:cNvSpPr>
              <p:nvPr/>
            </p:nvSpPr>
            <p:spPr bwMode="auto">
              <a:xfrm>
                <a:off x="2676" y="2099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0 w 2"/>
                  <a:gd name="T3" fmla="*/ 1 h 5"/>
                  <a:gd name="T4" fmla="*/ 0 w 2"/>
                  <a:gd name="T5" fmla="*/ 2 h 5"/>
                  <a:gd name="T6" fmla="*/ 0 w 2"/>
                  <a:gd name="T7" fmla="*/ 4 h 5"/>
                  <a:gd name="T8" fmla="*/ 2 w 2"/>
                  <a:gd name="T9" fmla="*/ 5 h 5"/>
                  <a:gd name="T10" fmla="*/ 2 w 2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5"/>
                  <a:gd name="T20" fmla="*/ 2 w 2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5">
                    <a:moveTo>
                      <a:pt x="2" y="0"/>
                    </a:moveTo>
                    <a:lnTo>
                      <a:pt x="0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54" name="Freeform 778"/>
              <p:cNvSpPr>
                <a:spLocks/>
              </p:cNvSpPr>
              <p:nvPr/>
            </p:nvSpPr>
            <p:spPr bwMode="auto">
              <a:xfrm>
                <a:off x="2678" y="2099"/>
                <a:ext cx="27" cy="5"/>
              </a:xfrm>
              <a:custGeom>
                <a:avLst/>
                <a:gdLst>
                  <a:gd name="T0" fmla="*/ 27 w 27"/>
                  <a:gd name="T1" fmla="*/ 2 h 5"/>
                  <a:gd name="T2" fmla="*/ 27 w 27"/>
                  <a:gd name="T3" fmla="*/ 0 h 5"/>
                  <a:gd name="T4" fmla="*/ 0 w 27"/>
                  <a:gd name="T5" fmla="*/ 0 h 5"/>
                  <a:gd name="T6" fmla="*/ 0 w 27"/>
                  <a:gd name="T7" fmla="*/ 5 h 5"/>
                  <a:gd name="T8" fmla="*/ 27 w 27"/>
                  <a:gd name="T9" fmla="*/ 5 h 5"/>
                  <a:gd name="T10" fmla="*/ 27 w 27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7"/>
                  <a:gd name="T19" fmla="*/ 0 h 5"/>
                  <a:gd name="T20" fmla="*/ 27 w 27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7" h="5">
                    <a:moveTo>
                      <a:pt x="27" y="2"/>
                    </a:moveTo>
                    <a:lnTo>
                      <a:pt x="2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27" y="5"/>
                    </a:lnTo>
                    <a:lnTo>
                      <a:pt x="27" y="2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55" name="Freeform 779"/>
              <p:cNvSpPr>
                <a:spLocks/>
              </p:cNvSpPr>
              <p:nvPr/>
            </p:nvSpPr>
            <p:spPr bwMode="auto">
              <a:xfrm>
                <a:off x="2705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56" name="Freeform 780"/>
              <p:cNvSpPr>
                <a:spLocks/>
              </p:cNvSpPr>
              <p:nvPr/>
            </p:nvSpPr>
            <p:spPr bwMode="auto">
              <a:xfrm>
                <a:off x="2678" y="2099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0 w 2"/>
                  <a:gd name="T3" fmla="*/ 1 h 5"/>
                  <a:gd name="T4" fmla="*/ 0 w 2"/>
                  <a:gd name="T5" fmla="*/ 2 h 5"/>
                  <a:gd name="T6" fmla="*/ 0 w 2"/>
                  <a:gd name="T7" fmla="*/ 4 h 5"/>
                  <a:gd name="T8" fmla="*/ 2 w 2"/>
                  <a:gd name="T9" fmla="*/ 5 h 5"/>
                  <a:gd name="T10" fmla="*/ 2 w 2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5"/>
                  <a:gd name="T20" fmla="*/ 2 w 2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5">
                    <a:moveTo>
                      <a:pt x="2" y="0"/>
                    </a:moveTo>
                    <a:lnTo>
                      <a:pt x="0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57" name="Freeform 781"/>
              <p:cNvSpPr>
                <a:spLocks/>
              </p:cNvSpPr>
              <p:nvPr/>
            </p:nvSpPr>
            <p:spPr bwMode="auto">
              <a:xfrm>
                <a:off x="2680" y="2099"/>
                <a:ext cx="23" cy="5"/>
              </a:xfrm>
              <a:custGeom>
                <a:avLst/>
                <a:gdLst>
                  <a:gd name="T0" fmla="*/ 23 w 23"/>
                  <a:gd name="T1" fmla="*/ 2 h 5"/>
                  <a:gd name="T2" fmla="*/ 23 w 23"/>
                  <a:gd name="T3" fmla="*/ 0 h 5"/>
                  <a:gd name="T4" fmla="*/ 0 w 23"/>
                  <a:gd name="T5" fmla="*/ 0 h 5"/>
                  <a:gd name="T6" fmla="*/ 0 w 23"/>
                  <a:gd name="T7" fmla="*/ 5 h 5"/>
                  <a:gd name="T8" fmla="*/ 23 w 23"/>
                  <a:gd name="T9" fmla="*/ 5 h 5"/>
                  <a:gd name="T10" fmla="*/ 23 w 23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"/>
                  <a:gd name="T19" fmla="*/ 0 h 5"/>
                  <a:gd name="T20" fmla="*/ 23 w 2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" h="5">
                    <a:moveTo>
                      <a:pt x="23" y="2"/>
                    </a:moveTo>
                    <a:lnTo>
                      <a:pt x="23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23" y="5"/>
                    </a:lnTo>
                    <a:lnTo>
                      <a:pt x="23" y="2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58" name="Freeform 782"/>
              <p:cNvSpPr>
                <a:spLocks/>
              </p:cNvSpPr>
              <p:nvPr/>
            </p:nvSpPr>
            <p:spPr bwMode="auto">
              <a:xfrm>
                <a:off x="2703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59" name="Freeform 783"/>
              <p:cNvSpPr>
                <a:spLocks/>
              </p:cNvSpPr>
              <p:nvPr/>
            </p:nvSpPr>
            <p:spPr bwMode="auto">
              <a:xfrm>
                <a:off x="2680" y="2099"/>
                <a:ext cx="3" cy="5"/>
              </a:xfrm>
              <a:custGeom>
                <a:avLst/>
                <a:gdLst>
                  <a:gd name="T0" fmla="*/ 3 w 3"/>
                  <a:gd name="T1" fmla="*/ 0 h 5"/>
                  <a:gd name="T2" fmla="*/ 0 w 3"/>
                  <a:gd name="T3" fmla="*/ 1 h 5"/>
                  <a:gd name="T4" fmla="*/ 0 w 3"/>
                  <a:gd name="T5" fmla="*/ 2 h 5"/>
                  <a:gd name="T6" fmla="*/ 0 w 3"/>
                  <a:gd name="T7" fmla="*/ 4 h 5"/>
                  <a:gd name="T8" fmla="*/ 3 w 3"/>
                  <a:gd name="T9" fmla="*/ 5 h 5"/>
                  <a:gd name="T10" fmla="*/ 3 w 3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3" y="0"/>
                    </a:moveTo>
                    <a:lnTo>
                      <a:pt x="0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3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60" name="Freeform 784"/>
              <p:cNvSpPr>
                <a:spLocks/>
              </p:cNvSpPr>
              <p:nvPr/>
            </p:nvSpPr>
            <p:spPr bwMode="auto">
              <a:xfrm>
                <a:off x="2683" y="2099"/>
                <a:ext cx="18" cy="5"/>
              </a:xfrm>
              <a:custGeom>
                <a:avLst/>
                <a:gdLst>
                  <a:gd name="T0" fmla="*/ 18 w 18"/>
                  <a:gd name="T1" fmla="*/ 2 h 5"/>
                  <a:gd name="T2" fmla="*/ 18 w 18"/>
                  <a:gd name="T3" fmla="*/ 0 h 5"/>
                  <a:gd name="T4" fmla="*/ 0 w 18"/>
                  <a:gd name="T5" fmla="*/ 0 h 5"/>
                  <a:gd name="T6" fmla="*/ 0 w 18"/>
                  <a:gd name="T7" fmla="*/ 5 h 5"/>
                  <a:gd name="T8" fmla="*/ 18 w 18"/>
                  <a:gd name="T9" fmla="*/ 5 h 5"/>
                  <a:gd name="T10" fmla="*/ 18 w 18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"/>
                  <a:gd name="T19" fmla="*/ 0 h 5"/>
                  <a:gd name="T20" fmla="*/ 18 w 18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" h="5">
                    <a:moveTo>
                      <a:pt x="18" y="2"/>
                    </a:moveTo>
                    <a:lnTo>
                      <a:pt x="18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8" y="5"/>
                    </a:lnTo>
                    <a:lnTo>
                      <a:pt x="18" y="2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61" name="Freeform 785"/>
              <p:cNvSpPr>
                <a:spLocks/>
              </p:cNvSpPr>
              <p:nvPr/>
            </p:nvSpPr>
            <p:spPr bwMode="auto">
              <a:xfrm>
                <a:off x="2701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62" name="Freeform 786"/>
              <p:cNvSpPr>
                <a:spLocks/>
              </p:cNvSpPr>
              <p:nvPr/>
            </p:nvSpPr>
            <p:spPr bwMode="auto">
              <a:xfrm>
                <a:off x="2681" y="2099"/>
                <a:ext cx="4" cy="5"/>
              </a:xfrm>
              <a:custGeom>
                <a:avLst/>
                <a:gdLst>
                  <a:gd name="T0" fmla="*/ 4 w 4"/>
                  <a:gd name="T1" fmla="*/ 0 h 5"/>
                  <a:gd name="T2" fmla="*/ 2 w 4"/>
                  <a:gd name="T3" fmla="*/ 1 h 5"/>
                  <a:gd name="T4" fmla="*/ 0 w 4"/>
                  <a:gd name="T5" fmla="*/ 2 h 5"/>
                  <a:gd name="T6" fmla="*/ 2 w 4"/>
                  <a:gd name="T7" fmla="*/ 4 h 5"/>
                  <a:gd name="T8" fmla="*/ 4 w 4"/>
                  <a:gd name="T9" fmla="*/ 5 h 5"/>
                  <a:gd name="T10" fmla="*/ 4 w 4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"/>
                  <a:gd name="T19" fmla="*/ 0 h 5"/>
                  <a:gd name="T20" fmla="*/ 4 w 4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" h="5">
                    <a:moveTo>
                      <a:pt x="4" y="0"/>
                    </a:moveTo>
                    <a:lnTo>
                      <a:pt x="2" y="1"/>
                    </a:lnTo>
                    <a:lnTo>
                      <a:pt x="0" y="2"/>
                    </a:lnTo>
                    <a:lnTo>
                      <a:pt x="2" y="4"/>
                    </a:lnTo>
                    <a:lnTo>
                      <a:pt x="4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63" name="Freeform 787"/>
              <p:cNvSpPr>
                <a:spLocks/>
              </p:cNvSpPr>
              <p:nvPr/>
            </p:nvSpPr>
            <p:spPr bwMode="auto">
              <a:xfrm>
                <a:off x="2685" y="2099"/>
                <a:ext cx="14" cy="5"/>
              </a:xfrm>
              <a:custGeom>
                <a:avLst/>
                <a:gdLst>
                  <a:gd name="T0" fmla="*/ 14 w 14"/>
                  <a:gd name="T1" fmla="*/ 2 h 5"/>
                  <a:gd name="T2" fmla="*/ 14 w 14"/>
                  <a:gd name="T3" fmla="*/ 0 h 5"/>
                  <a:gd name="T4" fmla="*/ 0 w 14"/>
                  <a:gd name="T5" fmla="*/ 0 h 5"/>
                  <a:gd name="T6" fmla="*/ 0 w 14"/>
                  <a:gd name="T7" fmla="*/ 5 h 5"/>
                  <a:gd name="T8" fmla="*/ 14 w 14"/>
                  <a:gd name="T9" fmla="*/ 5 h 5"/>
                  <a:gd name="T10" fmla="*/ 14 w 14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5"/>
                  <a:gd name="T20" fmla="*/ 14 w 14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5">
                    <a:moveTo>
                      <a:pt x="14" y="2"/>
                    </a:moveTo>
                    <a:lnTo>
                      <a:pt x="14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4" y="5"/>
                    </a:lnTo>
                    <a:lnTo>
                      <a:pt x="14" y="2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64" name="Freeform 788"/>
              <p:cNvSpPr>
                <a:spLocks/>
              </p:cNvSpPr>
              <p:nvPr/>
            </p:nvSpPr>
            <p:spPr bwMode="auto">
              <a:xfrm>
                <a:off x="2699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65" name="Freeform 789"/>
              <p:cNvSpPr>
                <a:spLocks/>
              </p:cNvSpPr>
              <p:nvPr/>
            </p:nvSpPr>
            <p:spPr bwMode="auto">
              <a:xfrm>
                <a:off x="2684" y="2099"/>
                <a:ext cx="3" cy="5"/>
              </a:xfrm>
              <a:custGeom>
                <a:avLst/>
                <a:gdLst>
                  <a:gd name="T0" fmla="*/ 3 w 3"/>
                  <a:gd name="T1" fmla="*/ 0 h 5"/>
                  <a:gd name="T2" fmla="*/ 1 w 3"/>
                  <a:gd name="T3" fmla="*/ 1 h 5"/>
                  <a:gd name="T4" fmla="*/ 0 w 3"/>
                  <a:gd name="T5" fmla="*/ 2 h 5"/>
                  <a:gd name="T6" fmla="*/ 1 w 3"/>
                  <a:gd name="T7" fmla="*/ 4 h 5"/>
                  <a:gd name="T8" fmla="*/ 3 w 3"/>
                  <a:gd name="T9" fmla="*/ 5 h 5"/>
                  <a:gd name="T10" fmla="*/ 3 w 3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3" y="0"/>
                    </a:moveTo>
                    <a:lnTo>
                      <a:pt x="1" y="1"/>
                    </a:lnTo>
                    <a:lnTo>
                      <a:pt x="0" y="2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66" name="Freeform 790"/>
              <p:cNvSpPr>
                <a:spLocks/>
              </p:cNvSpPr>
              <p:nvPr/>
            </p:nvSpPr>
            <p:spPr bwMode="auto">
              <a:xfrm>
                <a:off x="2687" y="2099"/>
                <a:ext cx="11" cy="5"/>
              </a:xfrm>
              <a:custGeom>
                <a:avLst/>
                <a:gdLst>
                  <a:gd name="T0" fmla="*/ 11 w 11"/>
                  <a:gd name="T1" fmla="*/ 2 h 5"/>
                  <a:gd name="T2" fmla="*/ 11 w 11"/>
                  <a:gd name="T3" fmla="*/ 0 h 5"/>
                  <a:gd name="T4" fmla="*/ 0 w 11"/>
                  <a:gd name="T5" fmla="*/ 0 h 5"/>
                  <a:gd name="T6" fmla="*/ 0 w 11"/>
                  <a:gd name="T7" fmla="*/ 5 h 5"/>
                  <a:gd name="T8" fmla="*/ 11 w 11"/>
                  <a:gd name="T9" fmla="*/ 5 h 5"/>
                  <a:gd name="T10" fmla="*/ 11 w 11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5"/>
                  <a:gd name="T20" fmla="*/ 11 w 11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5">
                    <a:moveTo>
                      <a:pt x="11" y="2"/>
                    </a:moveTo>
                    <a:lnTo>
                      <a:pt x="11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1" y="5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67" name="Freeform 791"/>
              <p:cNvSpPr>
                <a:spLocks/>
              </p:cNvSpPr>
              <p:nvPr/>
            </p:nvSpPr>
            <p:spPr bwMode="auto">
              <a:xfrm>
                <a:off x="2698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68" name="Freeform 792"/>
              <p:cNvSpPr>
                <a:spLocks/>
              </p:cNvSpPr>
              <p:nvPr/>
            </p:nvSpPr>
            <p:spPr bwMode="auto">
              <a:xfrm>
                <a:off x="2686" y="2099"/>
                <a:ext cx="3" cy="5"/>
              </a:xfrm>
              <a:custGeom>
                <a:avLst/>
                <a:gdLst>
                  <a:gd name="T0" fmla="*/ 3 w 3"/>
                  <a:gd name="T1" fmla="*/ 0 h 5"/>
                  <a:gd name="T2" fmla="*/ 1 w 3"/>
                  <a:gd name="T3" fmla="*/ 1 h 5"/>
                  <a:gd name="T4" fmla="*/ 0 w 3"/>
                  <a:gd name="T5" fmla="*/ 2 h 5"/>
                  <a:gd name="T6" fmla="*/ 1 w 3"/>
                  <a:gd name="T7" fmla="*/ 4 h 5"/>
                  <a:gd name="T8" fmla="*/ 3 w 3"/>
                  <a:gd name="T9" fmla="*/ 5 h 5"/>
                  <a:gd name="T10" fmla="*/ 3 w 3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3" y="0"/>
                    </a:moveTo>
                    <a:lnTo>
                      <a:pt x="1" y="1"/>
                    </a:lnTo>
                    <a:lnTo>
                      <a:pt x="0" y="2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69" name="Freeform 793"/>
              <p:cNvSpPr>
                <a:spLocks/>
              </p:cNvSpPr>
              <p:nvPr/>
            </p:nvSpPr>
            <p:spPr bwMode="auto">
              <a:xfrm>
                <a:off x="2689" y="2099"/>
                <a:ext cx="6" cy="5"/>
              </a:xfrm>
              <a:custGeom>
                <a:avLst/>
                <a:gdLst>
                  <a:gd name="T0" fmla="*/ 6 w 6"/>
                  <a:gd name="T1" fmla="*/ 2 h 5"/>
                  <a:gd name="T2" fmla="*/ 6 w 6"/>
                  <a:gd name="T3" fmla="*/ 0 h 5"/>
                  <a:gd name="T4" fmla="*/ 0 w 6"/>
                  <a:gd name="T5" fmla="*/ 0 h 5"/>
                  <a:gd name="T6" fmla="*/ 0 w 6"/>
                  <a:gd name="T7" fmla="*/ 5 h 5"/>
                  <a:gd name="T8" fmla="*/ 6 w 6"/>
                  <a:gd name="T9" fmla="*/ 5 h 5"/>
                  <a:gd name="T10" fmla="*/ 6 w 6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"/>
                  <a:gd name="T19" fmla="*/ 0 h 5"/>
                  <a:gd name="T20" fmla="*/ 6 w 6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" h="5">
                    <a:moveTo>
                      <a:pt x="6" y="2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6" y="5"/>
                    </a:lnTo>
                    <a:lnTo>
                      <a:pt x="6" y="2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70" name="Freeform 794"/>
              <p:cNvSpPr>
                <a:spLocks/>
              </p:cNvSpPr>
              <p:nvPr/>
            </p:nvSpPr>
            <p:spPr bwMode="auto">
              <a:xfrm>
                <a:off x="2695" y="2099"/>
                <a:ext cx="4" cy="5"/>
              </a:xfrm>
              <a:custGeom>
                <a:avLst/>
                <a:gdLst>
                  <a:gd name="T0" fmla="*/ 0 w 4"/>
                  <a:gd name="T1" fmla="*/ 5 h 5"/>
                  <a:gd name="T2" fmla="*/ 3 w 4"/>
                  <a:gd name="T3" fmla="*/ 4 h 5"/>
                  <a:gd name="T4" fmla="*/ 4 w 4"/>
                  <a:gd name="T5" fmla="*/ 2 h 5"/>
                  <a:gd name="T6" fmla="*/ 3 w 4"/>
                  <a:gd name="T7" fmla="*/ 1 h 5"/>
                  <a:gd name="T8" fmla="*/ 0 w 4"/>
                  <a:gd name="T9" fmla="*/ 0 h 5"/>
                  <a:gd name="T10" fmla="*/ 0 w 4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"/>
                  <a:gd name="T19" fmla="*/ 0 h 5"/>
                  <a:gd name="T20" fmla="*/ 4 w 4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" h="5">
                    <a:moveTo>
                      <a:pt x="0" y="5"/>
                    </a:moveTo>
                    <a:lnTo>
                      <a:pt x="3" y="4"/>
                    </a:lnTo>
                    <a:lnTo>
                      <a:pt x="4" y="2"/>
                    </a:lnTo>
                    <a:lnTo>
                      <a:pt x="3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71" name="Freeform 795"/>
              <p:cNvSpPr>
                <a:spLocks/>
              </p:cNvSpPr>
              <p:nvPr/>
            </p:nvSpPr>
            <p:spPr bwMode="auto">
              <a:xfrm>
                <a:off x="2688" y="2099"/>
                <a:ext cx="3" cy="5"/>
              </a:xfrm>
              <a:custGeom>
                <a:avLst/>
                <a:gdLst>
                  <a:gd name="T0" fmla="*/ 3 w 3"/>
                  <a:gd name="T1" fmla="*/ 0 h 5"/>
                  <a:gd name="T2" fmla="*/ 1 w 3"/>
                  <a:gd name="T3" fmla="*/ 1 h 5"/>
                  <a:gd name="T4" fmla="*/ 0 w 3"/>
                  <a:gd name="T5" fmla="*/ 2 h 5"/>
                  <a:gd name="T6" fmla="*/ 1 w 3"/>
                  <a:gd name="T7" fmla="*/ 4 h 5"/>
                  <a:gd name="T8" fmla="*/ 3 w 3"/>
                  <a:gd name="T9" fmla="*/ 5 h 5"/>
                  <a:gd name="T10" fmla="*/ 3 w 3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3" y="0"/>
                    </a:moveTo>
                    <a:lnTo>
                      <a:pt x="1" y="1"/>
                    </a:lnTo>
                    <a:lnTo>
                      <a:pt x="0" y="2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72" name="Freeform 796"/>
              <p:cNvSpPr>
                <a:spLocks/>
              </p:cNvSpPr>
              <p:nvPr/>
            </p:nvSpPr>
            <p:spPr bwMode="auto">
              <a:xfrm>
                <a:off x="2691" y="2099"/>
                <a:ext cx="2" cy="5"/>
              </a:xfrm>
              <a:custGeom>
                <a:avLst/>
                <a:gdLst>
                  <a:gd name="T0" fmla="*/ 2 w 2"/>
                  <a:gd name="T1" fmla="*/ 2 h 5"/>
                  <a:gd name="T2" fmla="*/ 2 w 2"/>
                  <a:gd name="T3" fmla="*/ 0 h 5"/>
                  <a:gd name="T4" fmla="*/ 0 w 2"/>
                  <a:gd name="T5" fmla="*/ 0 h 5"/>
                  <a:gd name="T6" fmla="*/ 0 w 2"/>
                  <a:gd name="T7" fmla="*/ 5 h 5"/>
                  <a:gd name="T8" fmla="*/ 2 w 2"/>
                  <a:gd name="T9" fmla="*/ 5 h 5"/>
                  <a:gd name="T10" fmla="*/ 2 w 2"/>
                  <a:gd name="T11" fmla="*/ 2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5"/>
                  <a:gd name="T20" fmla="*/ 2 w 2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5">
                    <a:moveTo>
                      <a:pt x="2" y="2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2" y="5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73" name="Freeform 797"/>
              <p:cNvSpPr>
                <a:spLocks/>
              </p:cNvSpPr>
              <p:nvPr/>
            </p:nvSpPr>
            <p:spPr bwMode="auto">
              <a:xfrm>
                <a:off x="2693" y="2099"/>
                <a:ext cx="3" cy="5"/>
              </a:xfrm>
              <a:custGeom>
                <a:avLst/>
                <a:gdLst>
                  <a:gd name="T0" fmla="*/ 0 w 3"/>
                  <a:gd name="T1" fmla="*/ 5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0 h 5"/>
                  <a:gd name="T10" fmla="*/ 0 w 3"/>
                  <a:gd name="T11" fmla="*/ 5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"/>
                  <a:gd name="T19" fmla="*/ 0 h 5"/>
                  <a:gd name="T20" fmla="*/ 3 w 3"/>
                  <a:gd name="T21" fmla="*/ 5 h 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" h="5">
                    <a:moveTo>
                      <a:pt x="0" y="5"/>
                    </a:move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74" name="Freeform 798"/>
              <p:cNvSpPr>
                <a:spLocks/>
              </p:cNvSpPr>
              <p:nvPr/>
            </p:nvSpPr>
            <p:spPr bwMode="auto">
              <a:xfrm>
                <a:off x="2676" y="1794"/>
                <a:ext cx="29" cy="75"/>
              </a:xfrm>
              <a:custGeom>
                <a:avLst/>
                <a:gdLst>
                  <a:gd name="T0" fmla="*/ 5 w 29"/>
                  <a:gd name="T1" fmla="*/ 0 h 75"/>
                  <a:gd name="T2" fmla="*/ 16 w 29"/>
                  <a:gd name="T3" fmla="*/ 41 h 75"/>
                  <a:gd name="T4" fmla="*/ 0 w 29"/>
                  <a:gd name="T5" fmla="*/ 38 h 75"/>
                  <a:gd name="T6" fmla="*/ 17 w 29"/>
                  <a:gd name="T7" fmla="*/ 75 h 75"/>
                  <a:gd name="T8" fmla="*/ 13 w 29"/>
                  <a:gd name="T9" fmla="*/ 49 h 75"/>
                  <a:gd name="T10" fmla="*/ 29 w 29"/>
                  <a:gd name="T11" fmla="*/ 51 h 75"/>
                  <a:gd name="T12" fmla="*/ 5 w 29"/>
                  <a:gd name="T13" fmla="*/ 0 h 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9"/>
                  <a:gd name="T22" fmla="*/ 0 h 75"/>
                  <a:gd name="T23" fmla="*/ 29 w 29"/>
                  <a:gd name="T24" fmla="*/ 75 h 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9" h="75">
                    <a:moveTo>
                      <a:pt x="5" y="0"/>
                    </a:moveTo>
                    <a:lnTo>
                      <a:pt x="16" y="41"/>
                    </a:lnTo>
                    <a:lnTo>
                      <a:pt x="0" y="38"/>
                    </a:lnTo>
                    <a:lnTo>
                      <a:pt x="17" y="75"/>
                    </a:lnTo>
                    <a:lnTo>
                      <a:pt x="13" y="49"/>
                    </a:lnTo>
                    <a:lnTo>
                      <a:pt x="29" y="51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75" name="Freeform 799"/>
              <p:cNvSpPr>
                <a:spLocks/>
              </p:cNvSpPr>
              <p:nvPr/>
            </p:nvSpPr>
            <p:spPr bwMode="auto">
              <a:xfrm>
                <a:off x="2678" y="1794"/>
                <a:ext cx="16" cy="43"/>
              </a:xfrm>
              <a:custGeom>
                <a:avLst/>
                <a:gdLst>
                  <a:gd name="T0" fmla="*/ 13 w 16"/>
                  <a:gd name="T1" fmla="*/ 43 h 43"/>
                  <a:gd name="T2" fmla="*/ 16 w 16"/>
                  <a:gd name="T3" fmla="*/ 40 h 43"/>
                  <a:gd name="T4" fmla="*/ 6 w 16"/>
                  <a:gd name="T5" fmla="*/ 0 h 43"/>
                  <a:gd name="T6" fmla="*/ 0 w 16"/>
                  <a:gd name="T7" fmla="*/ 1 h 43"/>
                  <a:gd name="T8" fmla="*/ 11 w 16"/>
                  <a:gd name="T9" fmla="*/ 41 h 43"/>
                  <a:gd name="T10" fmla="*/ 14 w 16"/>
                  <a:gd name="T11" fmla="*/ 38 h 43"/>
                  <a:gd name="T12" fmla="*/ 11 w 16"/>
                  <a:gd name="T13" fmla="*/ 41 h 43"/>
                  <a:gd name="T14" fmla="*/ 12 w 16"/>
                  <a:gd name="T15" fmla="*/ 43 h 43"/>
                  <a:gd name="T16" fmla="*/ 14 w 16"/>
                  <a:gd name="T17" fmla="*/ 43 h 43"/>
                  <a:gd name="T18" fmla="*/ 16 w 16"/>
                  <a:gd name="T19" fmla="*/ 42 h 43"/>
                  <a:gd name="T20" fmla="*/ 16 w 16"/>
                  <a:gd name="T21" fmla="*/ 40 h 43"/>
                  <a:gd name="T22" fmla="*/ 13 w 16"/>
                  <a:gd name="T23" fmla="*/ 43 h 4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6"/>
                  <a:gd name="T37" fmla="*/ 0 h 43"/>
                  <a:gd name="T38" fmla="*/ 16 w 16"/>
                  <a:gd name="T39" fmla="*/ 43 h 4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6" h="43">
                    <a:moveTo>
                      <a:pt x="13" y="43"/>
                    </a:moveTo>
                    <a:lnTo>
                      <a:pt x="16" y="40"/>
                    </a:lnTo>
                    <a:lnTo>
                      <a:pt x="6" y="0"/>
                    </a:lnTo>
                    <a:lnTo>
                      <a:pt x="0" y="1"/>
                    </a:lnTo>
                    <a:lnTo>
                      <a:pt x="11" y="41"/>
                    </a:lnTo>
                    <a:lnTo>
                      <a:pt x="14" y="38"/>
                    </a:lnTo>
                    <a:lnTo>
                      <a:pt x="11" y="41"/>
                    </a:lnTo>
                    <a:lnTo>
                      <a:pt x="12" y="43"/>
                    </a:lnTo>
                    <a:lnTo>
                      <a:pt x="14" y="43"/>
                    </a:lnTo>
                    <a:lnTo>
                      <a:pt x="16" y="42"/>
                    </a:lnTo>
                    <a:lnTo>
                      <a:pt x="16" y="40"/>
                    </a:lnTo>
                    <a:lnTo>
                      <a:pt x="13" y="4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76" name="Freeform 800"/>
              <p:cNvSpPr>
                <a:spLocks/>
              </p:cNvSpPr>
              <p:nvPr/>
            </p:nvSpPr>
            <p:spPr bwMode="auto">
              <a:xfrm>
                <a:off x="2674" y="1830"/>
                <a:ext cx="18" cy="7"/>
              </a:xfrm>
              <a:custGeom>
                <a:avLst/>
                <a:gdLst>
                  <a:gd name="T0" fmla="*/ 4 w 18"/>
                  <a:gd name="T1" fmla="*/ 2 h 7"/>
                  <a:gd name="T2" fmla="*/ 2 w 18"/>
                  <a:gd name="T3" fmla="*/ 5 h 7"/>
                  <a:gd name="T4" fmla="*/ 17 w 18"/>
                  <a:gd name="T5" fmla="*/ 7 h 7"/>
                  <a:gd name="T6" fmla="*/ 18 w 18"/>
                  <a:gd name="T7" fmla="*/ 2 h 7"/>
                  <a:gd name="T8" fmla="*/ 3 w 18"/>
                  <a:gd name="T9" fmla="*/ 0 h 7"/>
                  <a:gd name="T10" fmla="*/ 0 w 18"/>
                  <a:gd name="T11" fmla="*/ 3 h 7"/>
                  <a:gd name="T12" fmla="*/ 3 w 18"/>
                  <a:gd name="T13" fmla="*/ 0 h 7"/>
                  <a:gd name="T14" fmla="*/ 1 w 18"/>
                  <a:gd name="T15" fmla="*/ 1 h 7"/>
                  <a:gd name="T16" fmla="*/ 0 w 18"/>
                  <a:gd name="T17" fmla="*/ 2 h 7"/>
                  <a:gd name="T18" fmla="*/ 0 w 18"/>
                  <a:gd name="T19" fmla="*/ 4 h 7"/>
                  <a:gd name="T20" fmla="*/ 2 w 18"/>
                  <a:gd name="T21" fmla="*/ 5 h 7"/>
                  <a:gd name="T22" fmla="*/ 4 w 18"/>
                  <a:gd name="T23" fmla="*/ 2 h 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7"/>
                  <a:gd name="T38" fmla="*/ 18 w 18"/>
                  <a:gd name="T39" fmla="*/ 7 h 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7">
                    <a:moveTo>
                      <a:pt x="4" y="2"/>
                    </a:moveTo>
                    <a:lnTo>
                      <a:pt x="2" y="5"/>
                    </a:lnTo>
                    <a:lnTo>
                      <a:pt x="17" y="7"/>
                    </a:lnTo>
                    <a:lnTo>
                      <a:pt x="18" y="2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5"/>
                    </a:lnTo>
                    <a:lnTo>
                      <a:pt x="4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77" name="Freeform 801"/>
              <p:cNvSpPr>
                <a:spLocks/>
              </p:cNvSpPr>
              <p:nvPr/>
            </p:nvSpPr>
            <p:spPr bwMode="auto">
              <a:xfrm>
                <a:off x="2674" y="1832"/>
                <a:ext cx="21" cy="40"/>
              </a:xfrm>
              <a:custGeom>
                <a:avLst/>
                <a:gdLst>
                  <a:gd name="T0" fmla="*/ 16 w 21"/>
                  <a:gd name="T1" fmla="*/ 37 h 40"/>
                  <a:gd name="T2" fmla="*/ 21 w 21"/>
                  <a:gd name="T3" fmla="*/ 36 h 40"/>
                  <a:gd name="T4" fmla="*/ 4 w 21"/>
                  <a:gd name="T5" fmla="*/ 0 h 40"/>
                  <a:gd name="T6" fmla="*/ 0 w 21"/>
                  <a:gd name="T7" fmla="*/ 2 h 40"/>
                  <a:gd name="T8" fmla="*/ 16 w 21"/>
                  <a:gd name="T9" fmla="*/ 38 h 40"/>
                  <a:gd name="T10" fmla="*/ 21 w 21"/>
                  <a:gd name="T11" fmla="*/ 37 h 40"/>
                  <a:gd name="T12" fmla="*/ 16 w 21"/>
                  <a:gd name="T13" fmla="*/ 38 h 40"/>
                  <a:gd name="T14" fmla="*/ 18 w 21"/>
                  <a:gd name="T15" fmla="*/ 40 h 40"/>
                  <a:gd name="T16" fmla="*/ 19 w 21"/>
                  <a:gd name="T17" fmla="*/ 40 h 40"/>
                  <a:gd name="T18" fmla="*/ 21 w 21"/>
                  <a:gd name="T19" fmla="*/ 38 h 40"/>
                  <a:gd name="T20" fmla="*/ 21 w 21"/>
                  <a:gd name="T21" fmla="*/ 36 h 40"/>
                  <a:gd name="T22" fmla="*/ 16 w 21"/>
                  <a:gd name="T23" fmla="*/ 37 h 4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"/>
                  <a:gd name="T37" fmla="*/ 0 h 40"/>
                  <a:gd name="T38" fmla="*/ 21 w 21"/>
                  <a:gd name="T39" fmla="*/ 40 h 4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" h="40">
                    <a:moveTo>
                      <a:pt x="16" y="37"/>
                    </a:moveTo>
                    <a:lnTo>
                      <a:pt x="21" y="36"/>
                    </a:lnTo>
                    <a:lnTo>
                      <a:pt x="4" y="0"/>
                    </a:lnTo>
                    <a:lnTo>
                      <a:pt x="0" y="2"/>
                    </a:lnTo>
                    <a:lnTo>
                      <a:pt x="16" y="38"/>
                    </a:lnTo>
                    <a:lnTo>
                      <a:pt x="21" y="37"/>
                    </a:lnTo>
                    <a:lnTo>
                      <a:pt x="16" y="38"/>
                    </a:lnTo>
                    <a:lnTo>
                      <a:pt x="18" y="40"/>
                    </a:lnTo>
                    <a:lnTo>
                      <a:pt x="19" y="40"/>
                    </a:lnTo>
                    <a:lnTo>
                      <a:pt x="21" y="38"/>
                    </a:lnTo>
                    <a:lnTo>
                      <a:pt x="21" y="36"/>
                    </a:lnTo>
                    <a:lnTo>
                      <a:pt x="16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78" name="Freeform 802"/>
              <p:cNvSpPr>
                <a:spLocks/>
              </p:cNvSpPr>
              <p:nvPr/>
            </p:nvSpPr>
            <p:spPr bwMode="auto">
              <a:xfrm>
                <a:off x="2687" y="1841"/>
                <a:ext cx="8" cy="28"/>
              </a:xfrm>
              <a:custGeom>
                <a:avLst/>
                <a:gdLst>
                  <a:gd name="T0" fmla="*/ 3 w 8"/>
                  <a:gd name="T1" fmla="*/ 0 h 28"/>
                  <a:gd name="T2" fmla="*/ 0 w 8"/>
                  <a:gd name="T3" fmla="*/ 3 h 28"/>
                  <a:gd name="T4" fmla="*/ 3 w 8"/>
                  <a:gd name="T5" fmla="*/ 28 h 28"/>
                  <a:gd name="T6" fmla="*/ 8 w 8"/>
                  <a:gd name="T7" fmla="*/ 27 h 28"/>
                  <a:gd name="T8" fmla="*/ 4 w 8"/>
                  <a:gd name="T9" fmla="*/ 2 h 28"/>
                  <a:gd name="T10" fmla="*/ 2 w 8"/>
                  <a:gd name="T11" fmla="*/ 5 h 28"/>
                  <a:gd name="T12" fmla="*/ 4 w 8"/>
                  <a:gd name="T13" fmla="*/ 2 h 28"/>
                  <a:gd name="T14" fmla="*/ 4 w 8"/>
                  <a:gd name="T15" fmla="*/ 1 h 28"/>
                  <a:gd name="T16" fmla="*/ 2 w 8"/>
                  <a:gd name="T17" fmla="*/ 0 h 28"/>
                  <a:gd name="T18" fmla="*/ 1 w 8"/>
                  <a:gd name="T19" fmla="*/ 1 h 28"/>
                  <a:gd name="T20" fmla="*/ 0 w 8"/>
                  <a:gd name="T21" fmla="*/ 3 h 28"/>
                  <a:gd name="T22" fmla="*/ 3 w 8"/>
                  <a:gd name="T23" fmla="*/ 0 h 2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"/>
                  <a:gd name="T37" fmla="*/ 0 h 28"/>
                  <a:gd name="T38" fmla="*/ 8 w 8"/>
                  <a:gd name="T39" fmla="*/ 28 h 2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" h="28">
                    <a:moveTo>
                      <a:pt x="3" y="0"/>
                    </a:moveTo>
                    <a:lnTo>
                      <a:pt x="0" y="3"/>
                    </a:lnTo>
                    <a:lnTo>
                      <a:pt x="3" y="28"/>
                    </a:lnTo>
                    <a:lnTo>
                      <a:pt x="8" y="27"/>
                    </a:lnTo>
                    <a:lnTo>
                      <a:pt x="4" y="2"/>
                    </a:lnTo>
                    <a:lnTo>
                      <a:pt x="2" y="5"/>
                    </a:lnTo>
                    <a:lnTo>
                      <a:pt x="4" y="2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79" name="Freeform 803"/>
              <p:cNvSpPr>
                <a:spLocks/>
              </p:cNvSpPr>
              <p:nvPr/>
            </p:nvSpPr>
            <p:spPr bwMode="auto">
              <a:xfrm>
                <a:off x="2689" y="1841"/>
                <a:ext cx="18" cy="7"/>
              </a:xfrm>
              <a:custGeom>
                <a:avLst/>
                <a:gdLst>
                  <a:gd name="T0" fmla="*/ 14 w 18"/>
                  <a:gd name="T1" fmla="*/ 5 h 7"/>
                  <a:gd name="T2" fmla="*/ 16 w 18"/>
                  <a:gd name="T3" fmla="*/ 2 h 7"/>
                  <a:gd name="T4" fmla="*/ 1 w 18"/>
                  <a:gd name="T5" fmla="*/ 0 h 7"/>
                  <a:gd name="T6" fmla="*/ 0 w 18"/>
                  <a:gd name="T7" fmla="*/ 5 h 7"/>
                  <a:gd name="T8" fmla="*/ 15 w 18"/>
                  <a:gd name="T9" fmla="*/ 7 h 7"/>
                  <a:gd name="T10" fmla="*/ 18 w 18"/>
                  <a:gd name="T11" fmla="*/ 4 h 7"/>
                  <a:gd name="T12" fmla="*/ 15 w 18"/>
                  <a:gd name="T13" fmla="*/ 7 h 7"/>
                  <a:gd name="T14" fmla="*/ 17 w 18"/>
                  <a:gd name="T15" fmla="*/ 6 h 7"/>
                  <a:gd name="T16" fmla="*/ 18 w 18"/>
                  <a:gd name="T17" fmla="*/ 5 h 7"/>
                  <a:gd name="T18" fmla="*/ 17 w 18"/>
                  <a:gd name="T19" fmla="*/ 3 h 7"/>
                  <a:gd name="T20" fmla="*/ 16 w 18"/>
                  <a:gd name="T21" fmla="*/ 2 h 7"/>
                  <a:gd name="T22" fmla="*/ 14 w 18"/>
                  <a:gd name="T23" fmla="*/ 5 h 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7"/>
                  <a:gd name="T38" fmla="*/ 18 w 18"/>
                  <a:gd name="T39" fmla="*/ 7 h 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7">
                    <a:moveTo>
                      <a:pt x="14" y="5"/>
                    </a:moveTo>
                    <a:lnTo>
                      <a:pt x="16" y="2"/>
                    </a:lnTo>
                    <a:lnTo>
                      <a:pt x="1" y="0"/>
                    </a:lnTo>
                    <a:lnTo>
                      <a:pt x="0" y="5"/>
                    </a:lnTo>
                    <a:lnTo>
                      <a:pt x="15" y="7"/>
                    </a:lnTo>
                    <a:lnTo>
                      <a:pt x="18" y="4"/>
                    </a:lnTo>
                    <a:lnTo>
                      <a:pt x="15" y="7"/>
                    </a:lnTo>
                    <a:lnTo>
                      <a:pt x="17" y="6"/>
                    </a:lnTo>
                    <a:lnTo>
                      <a:pt x="18" y="5"/>
                    </a:lnTo>
                    <a:lnTo>
                      <a:pt x="17" y="3"/>
                    </a:lnTo>
                    <a:lnTo>
                      <a:pt x="16" y="2"/>
                    </a:lnTo>
                    <a:lnTo>
                      <a:pt x="14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80" name="Freeform 804"/>
              <p:cNvSpPr>
                <a:spLocks/>
              </p:cNvSpPr>
              <p:nvPr/>
            </p:nvSpPr>
            <p:spPr bwMode="auto">
              <a:xfrm>
                <a:off x="2678" y="1791"/>
                <a:ext cx="29" cy="55"/>
              </a:xfrm>
              <a:custGeom>
                <a:avLst/>
                <a:gdLst>
                  <a:gd name="T0" fmla="*/ 6 w 29"/>
                  <a:gd name="T1" fmla="*/ 2 h 55"/>
                  <a:gd name="T2" fmla="*/ 0 w 29"/>
                  <a:gd name="T3" fmla="*/ 4 h 55"/>
                  <a:gd name="T4" fmla="*/ 25 w 29"/>
                  <a:gd name="T5" fmla="*/ 55 h 55"/>
                  <a:gd name="T6" fmla="*/ 29 w 29"/>
                  <a:gd name="T7" fmla="*/ 53 h 55"/>
                  <a:gd name="T8" fmla="*/ 6 w 29"/>
                  <a:gd name="T9" fmla="*/ 2 h 55"/>
                  <a:gd name="T10" fmla="*/ 0 w 29"/>
                  <a:gd name="T11" fmla="*/ 4 h 55"/>
                  <a:gd name="T12" fmla="*/ 6 w 29"/>
                  <a:gd name="T13" fmla="*/ 2 h 55"/>
                  <a:gd name="T14" fmla="*/ 5 w 29"/>
                  <a:gd name="T15" fmla="*/ 0 h 55"/>
                  <a:gd name="T16" fmla="*/ 1 w 29"/>
                  <a:gd name="T17" fmla="*/ 0 h 55"/>
                  <a:gd name="T18" fmla="*/ 0 w 29"/>
                  <a:gd name="T19" fmla="*/ 2 h 55"/>
                  <a:gd name="T20" fmla="*/ 0 w 29"/>
                  <a:gd name="T21" fmla="*/ 4 h 55"/>
                  <a:gd name="T22" fmla="*/ 6 w 29"/>
                  <a:gd name="T23" fmla="*/ 2 h 5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9"/>
                  <a:gd name="T37" fmla="*/ 0 h 55"/>
                  <a:gd name="T38" fmla="*/ 29 w 29"/>
                  <a:gd name="T39" fmla="*/ 55 h 5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9" h="55">
                    <a:moveTo>
                      <a:pt x="6" y="2"/>
                    </a:moveTo>
                    <a:lnTo>
                      <a:pt x="0" y="4"/>
                    </a:lnTo>
                    <a:lnTo>
                      <a:pt x="25" y="55"/>
                    </a:lnTo>
                    <a:lnTo>
                      <a:pt x="29" y="53"/>
                    </a:lnTo>
                    <a:lnTo>
                      <a:pt x="6" y="2"/>
                    </a:lnTo>
                    <a:lnTo>
                      <a:pt x="0" y="4"/>
                    </a:lnTo>
                    <a:lnTo>
                      <a:pt x="6" y="2"/>
                    </a:lnTo>
                    <a:lnTo>
                      <a:pt x="5" y="0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6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81" name="Freeform 805"/>
              <p:cNvSpPr>
                <a:spLocks/>
              </p:cNvSpPr>
              <p:nvPr/>
            </p:nvSpPr>
            <p:spPr bwMode="auto">
              <a:xfrm>
                <a:off x="2677" y="1797"/>
                <a:ext cx="27" cy="70"/>
              </a:xfrm>
              <a:custGeom>
                <a:avLst/>
                <a:gdLst>
                  <a:gd name="T0" fmla="*/ 6 w 27"/>
                  <a:gd name="T1" fmla="*/ 0 h 70"/>
                  <a:gd name="T2" fmla="*/ 27 w 27"/>
                  <a:gd name="T3" fmla="*/ 48 h 70"/>
                  <a:gd name="T4" fmla="*/ 11 w 27"/>
                  <a:gd name="T5" fmla="*/ 46 h 70"/>
                  <a:gd name="T6" fmla="*/ 15 w 27"/>
                  <a:gd name="T7" fmla="*/ 70 h 70"/>
                  <a:gd name="T8" fmla="*/ 0 w 27"/>
                  <a:gd name="T9" fmla="*/ 36 h 70"/>
                  <a:gd name="T10" fmla="*/ 15 w 27"/>
                  <a:gd name="T11" fmla="*/ 38 h 70"/>
                  <a:gd name="T12" fmla="*/ 6 w 27"/>
                  <a:gd name="T13" fmla="*/ 0 h 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7"/>
                  <a:gd name="T22" fmla="*/ 0 h 70"/>
                  <a:gd name="T23" fmla="*/ 27 w 27"/>
                  <a:gd name="T24" fmla="*/ 70 h 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7" h="70">
                    <a:moveTo>
                      <a:pt x="6" y="0"/>
                    </a:moveTo>
                    <a:lnTo>
                      <a:pt x="27" y="48"/>
                    </a:lnTo>
                    <a:lnTo>
                      <a:pt x="11" y="46"/>
                    </a:lnTo>
                    <a:lnTo>
                      <a:pt x="15" y="70"/>
                    </a:lnTo>
                    <a:lnTo>
                      <a:pt x="0" y="36"/>
                    </a:lnTo>
                    <a:lnTo>
                      <a:pt x="15" y="38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82" name="Freeform 806"/>
              <p:cNvSpPr>
                <a:spLocks/>
              </p:cNvSpPr>
              <p:nvPr/>
            </p:nvSpPr>
            <p:spPr bwMode="auto">
              <a:xfrm>
                <a:off x="2677" y="1800"/>
                <a:ext cx="27" cy="65"/>
              </a:xfrm>
              <a:custGeom>
                <a:avLst/>
                <a:gdLst>
                  <a:gd name="T0" fmla="*/ 7 w 27"/>
                  <a:gd name="T1" fmla="*/ 0 h 65"/>
                  <a:gd name="T2" fmla="*/ 27 w 27"/>
                  <a:gd name="T3" fmla="*/ 44 h 65"/>
                  <a:gd name="T4" fmla="*/ 11 w 27"/>
                  <a:gd name="T5" fmla="*/ 42 h 65"/>
                  <a:gd name="T6" fmla="*/ 14 w 27"/>
                  <a:gd name="T7" fmla="*/ 65 h 65"/>
                  <a:gd name="T8" fmla="*/ 0 w 27"/>
                  <a:gd name="T9" fmla="*/ 33 h 65"/>
                  <a:gd name="T10" fmla="*/ 16 w 27"/>
                  <a:gd name="T11" fmla="*/ 35 h 65"/>
                  <a:gd name="T12" fmla="*/ 7 w 27"/>
                  <a:gd name="T13" fmla="*/ 0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7"/>
                  <a:gd name="T22" fmla="*/ 0 h 65"/>
                  <a:gd name="T23" fmla="*/ 27 w 27"/>
                  <a:gd name="T24" fmla="*/ 65 h 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7" h="65">
                    <a:moveTo>
                      <a:pt x="7" y="0"/>
                    </a:moveTo>
                    <a:lnTo>
                      <a:pt x="27" y="44"/>
                    </a:lnTo>
                    <a:lnTo>
                      <a:pt x="11" y="42"/>
                    </a:lnTo>
                    <a:lnTo>
                      <a:pt x="14" y="65"/>
                    </a:lnTo>
                    <a:lnTo>
                      <a:pt x="0" y="33"/>
                    </a:lnTo>
                    <a:lnTo>
                      <a:pt x="16" y="35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83" name="Freeform 807"/>
              <p:cNvSpPr>
                <a:spLocks/>
              </p:cNvSpPr>
              <p:nvPr/>
            </p:nvSpPr>
            <p:spPr bwMode="auto">
              <a:xfrm>
                <a:off x="2678" y="1804"/>
                <a:ext cx="25" cy="59"/>
              </a:xfrm>
              <a:custGeom>
                <a:avLst/>
                <a:gdLst>
                  <a:gd name="T0" fmla="*/ 8 w 25"/>
                  <a:gd name="T1" fmla="*/ 0 h 59"/>
                  <a:gd name="T2" fmla="*/ 25 w 25"/>
                  <a:gd name="T3" fmla="*/ 40 h 59"/>
                  <a:gd name="T4" fmla="*/ 10 w 25"/>
                  <a:gd name="T5" fmla="*/ 38 h 59"/>
                  <a:gd name="T6" fmla="*/ 13 w 25"/>
                  <a:gd name="T7" fmla="*/ 59 h 59"/>
                  <a:gd name="T8" fmla="*/ 0 w 25"/>
                  <a:gd name="T9" fmla="*/ 30 h 59"/>
                  <a:gd name="T10" fmla="*/ 15 w 25"/>
                  <a:gd name="T11" fmla="*/ 32 h 59"/>
                  <a:gd name="T12" fmla="*/ 8 w 25"/>
                  <a:gd name="T13" fmla="*/ 0 h 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59"/>
                  <a:gd name="T23" fmla="*/ 25 w 25"/>
                  <a:gd name="T24" fmla="*/ 59 h 5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59">
                    <a:moveTo>
                      <a:pt x="8" y="0"/>
                    </a:moveTo>
                    <a:lnTo>
                      <a:pt x="25" y="40"/>
                    </a:lnTo>
                    <a:lnTo>
                      <a:pt x="10" y="38"/>
                    </a:lnTo>
                    <a:lnTo>
                      <a:pt x="13" y="59"/>
                    </a:lnTo>
                    <a:lnTo>
                      <a:pt x="0" y="30"/>
                    </a:lnTo>
                    <a:lnTo>
                      <a:pt x="15" y="3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84" name="Freeform 808"/>
              <p:cNvSpPr>
                <a:spLocks/>
              </p:cNvSpPr>
              <p:nvPr/>
            </p:nvSpPr>
            <p:spPr bwMode="auto">
              <a:xfrm>
                <a:off x="2678" y="1807"/>
                <a:ext cx="25" cy="54"/>
              </a:xfrm>
              <a:custGeom>
                <a:avLst/>
                <a:gdLst>
                  <a:gd name="T0" fmla="*/ 9 w 25"/>
                  <a:gd name="T1" fmla="*/ 0 h 54"/>
                  <a:gd name="T2" fmla="*/ 25 w 25"/>
                  <a:gd name="T3" fmla="*/ 37 h 54"/>
                  <a:gd name="T4" fmla="*/ 9 w 25"/>
                  <a:gd name="T5" fmla="*/ 35 h 54"/>
                  <a:gd name="T6" fmla="*/ 12 w 25"/>
                  <a:gd name="T7" fmla="*/ 54 h 54"/>
                  <a:gd name="T8" fmla="*/ 0 w 25"/>
                  <a:gd name="T9" fmla="*/ 27 h 54"/>
                  <a:gd name="T10" fmla="*/ 16 w 25"/>
                  <a:gd name="T11" fmla="*/ 29 h 54"/>
                  <a:gd name="T12" fmla="*/ 9 w 25"/>
                  <a:gd name="T13" fmla="*/ 0 h 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54"/>
                  <a:gd name="T23" fmla="*/ 25 w 25"/>
                  <a:gd name="T24" fmla="*/ 54 h 5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54">
                    <a:moveTo>
                      <a:pt x="9" y="0"/>
                    </a:moveTo>
                    <a:lnTo>
                      <a:pt x="25" y="37"/>
                    </a:lnTo>
                    <a:lnTo>
                      <a:pt x="9" y="35"/>
                    </a:lnTo>
                    <a:lnTo>
                      <a:pt x="12" y="54"/>
                    </a:lnTo>
                    <a:lnTo>
                      <a:pt x="0" y="27"/>
                    </a:lnTo>
                    <a:lnTo>
                      <a:pt x="16" y="2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85" name="Freeform 809"/>
              <p:cNvSpPr>
                <a:spLocks/>
              </p:cNvSpPr>
              <p:nvPr/>
            </p:nvSpPr>
            <p:spPr bwMode="auto">
              <a:xfrm>
                <a:off x="2678" y="1811"/>
                <a:ext cx="24" cy="48"/>
              </a:xfrm>
              <a:custGeom>
                <a:avLst/>
                <a:gdLst>
                  <a:gd name="T0" fmla="*/ 9 w 24"/>
                  <a:gd name="T1" fmla="*/ 0 h 48"/>
                  <a:gd name="T2" fmla="*/ 24 w 24"/>
                  <a:gd name="T3" fmla="*/ 32 h 48"/>
                  <a:gd name="T4" fmla="*/ 8 w 24"/>
                  <a:gd name="T5" fmla="*/ 30 h 48"/>
                  <a:gd name="T6" fmla="*/ 11 w 24"/>
                  <a:gd name="T7" fmla="*/ 48 h 48"/>
                  <a:gd name="T8" fmla="*/ 0 w 24"/>
                  <a:gd name="T9" fmla="*/ 23 h 48"/>
                  <a:gd name="T10" fmla="*/ 16 w 24"/>
                  <a:gd name="T11" fmla="*/ 26 h 48"/>
                  <a:gd name="T12" fmla="*/ 9 w 24"/>
                  <a:gd name="T13" fmla="*/ 0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4"/>
                  <a:gd name="T22" fmla="*/ 0 h 48"/>
                  <a:gd name="T23" fmla="*/ 24 w 24"/>
                  <a:gd name="T24" fmla="*/ 48 h 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4" h="48">
                    <a:moveTo>
                      <a:pt x="9" y="0"/>
                    </a:moveTo>
                    <a:lnTo>
                      <a:pt x="24" y="32"/>
                    </a:lnTo>
                    <a:lnTo>
                      <a:pt x="8" y="30"/>
                    </a:lnTo>
                    <a:lnTo>
                      <a:pt x="11" y="48"/>
                    </a:lnTo>
                    <a:lnTo>
                      <a:pt x="0" y="23"/>
                    </a:lnTo>
                    <a:lnTo>
                      <a:pt x="16" y="2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86" name="Freeform 810"/>
              <p:cNvSpPr>
                <a:spLocks/>
              </p:cNvSpPr>
              <p:nvPr/>
            </p:nvSpPr>
            <p:spPr bwMode="auto">
              <a:xfrm>
                <a:off x="2679" y="1814"/>
                <a:ext cx="23" cy="44"/>
              </a:xfrm>
              <a:custGeom>
                <a:avLst/>
                <a:gdLst>
                  <a:gd name="T0" fmla="*/ 10 w 23"/>
                  <a:gd name="T1" fmla="*/ 0 h 44"/>
                  <a:gd name="T2" fmla="*/ 23 w 23"/>
                  <a:gd name="T3" fmla="*/ 30 h 44"/>
                  <a:gd name="T4" fmla="*/ 7 w 23"/>
                  <a:gd name="T5" fmla="*/ 27 h 44"/>
                  <a:gd name="T6" fmla="*/ 10 w 23"/>
                  <a:gd name="T7" fmla="*/ 44 h 44"/>
                  <a:gd name="T8" fmla="*/ 0 w 23"/>
                  <a:gd name="T9" fmla="*/ 21 h 44"/>
                  <a:gd name="T10" fmla="*/ 16 w 23"/>
                  <a:gd name="T11" fmla="*/ 24 h 44"/>
                  <a:gd name="T12" fmla="*/ 10 w 23"/>
                  <a:gd name="T13" fmla="*/ 0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"/>
                  <a:gd name="T22" fmla="*/ 0 h 44"/>
                  <a:gd name="T23" fmla="*/ 23 w 23"/>
                  <a:gd name="T24" fmla="*/ 44 h 4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" h="44">
                    <a:moveTo>
                      <a:pt x="10" y="0"/>
                    </a:moveTo>
                    <a:lnTo>
                      <a:pt x="23" y="30"/>
                    </a:lnTo>
                    <a:lnTo>
                      <a:pt x="7" y="27"/>
                    </a:lnTo>
                    <a:lnTo>
                      <a:pt x="10" y="44"/>
                    </a:lnTo>
                    <a:lnTo>
                      <a:pt x="0" y="21"/>
                    </a:lnTo>
                    <a:lnTo>
                      <a:pt x="16" y="24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87" name="Freeform 811"/>
              <p:cNvSpPr>
                <a:spLocks/>
              </p:cNvSpPr>
              <p:nvPr/>
            </p:nvSpPr>
            <p:spPr bwMode="auto">
              <a:xfrm>
                <a:off x="2679" y="1817"/>
                <a:ext cx="23" cy="39"/>
              </a:xfrm>
              <a:custGeom>
                <a:avLst/>
                <a:gdLst>
                  <a:gd name="T0" fmla="*/ 11 w 23"/>
                  <a:gd name="T1" fmla="*/ 0 h 39"/>
                  <a:gd name="T2" fmla="*/ 23 w 23"/>
                  <a:gd name="T3" fmla="*/ 26 h 39"/>
                  <a:gd name="T4" fmla="*/ 7 w 23"/>
                  <a:gd name="T5" fmla="*/ 24 h 39"/>
                  <a:gd name="T6" fmla="*/ 10 w 23"/>
                  <a:gd name="T7" fmla="*/ 39 h 39"/>
                  <a:gd name="T8" fmla="*/ 0 w 23"/>
                  <a:gd name="T9" fmla="*/ 19 h 39"/>
                  <a:gd name="T10" fmla="*/ 16 w 23"/>
                  <a:gd name="T11" fmla="*/ 21 h 39"/>
                  <a:gd name="T12" fmla="*/ 11 w 23"/>
                  <a:gd name="T13" fmla="*/ 0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"/>
                  <a:gd name="T22" fmla="*/ 0 h 39"/>
                  <a:gd name="T23" fmla="*/ 23 w 23"/>
                  <a:gd name="T24" fmla="*/ 39 h 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" h="39">
                    <a:moveTo>
                      <a:pt x="11" y="0"/>
                    </a:moveTo>
                    <a:lnTo>
                      <a:pt x="23" y="26"/>
                    </a:lnTo>
                    <a:lnTo>
                      <a:pt x="7" y="24"/>
                    </a:lnTo>
                    <a:lnTo>
                      <a:pt x="10" y="39"/>
                    </a:lnTo>
                    <a:lnTo>
                      <a:pt x="0" y="19"/>
                    </a:lnTo>
                    <a:lnTo>
                      <a:pt x="16" y="2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88" name="Freeform 812"/>
              <p:cNvSpPr>
                <a:spLocks/>
              </p:cNvSpPr>
              <p:nvPr/>
            </p:nvSpPr>
            <p:spPr bwMode="auto">
              <a:xfrm>
                <a:off x="2680" y="1820"/>
                <a:ext cx="21" cy="33"/>
              </a:xfrm>
              <a:custGeom>
                <a:avLst/>
                <a:gdLst>
                  <a:gd name="T0" fmla="*/ 11 w 21"/>
                  <a:gd name="T1" fmla="*/ 0 h 33"/>
                  <a:gd name="T2" fmla="*/ 21 w 21"/>
                  <a:gd name="T3" fmla="*/ 23 h 33"/>
                  <a:gd name="T4" fmla="*/ 6 w 21"/>
                  <a:gd name="T5" fmla="*/ 21 h 33"/>
                  <a:gd name="T6" fmla="*/ 8 w 21"/>
                  <a:gd name="T7" fmla="*/ 33 h 33"/>
                  <a:gd name="T8" fmla="*/ 0 w 21"/>
                  <a:gd name="T9" fmla="*/ 16 h 33"/>
                  <a:gd name="T10" fmla="*/ 15 w 21"/>
                  <a:gd name="T11" fmla="*/ 18 h 33"/>
                  <a:gd name="T12" fmla="*/ 11 w 21"/>
                  <a:gd name="T13" fmla="*/ 0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33"/>
                  <a:gd name="T23" fmla="*/ 21 w 21"/>
                  <a:gd name="T24" fmla="*/ 33 h 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33">
                    <a:moveTo>
                      <a:pt x="11" y="0"/>
                    </a:moveTo>
                    <a:lnTo>
                      <a:pt x="21" y="23"/>
                    </a:lnTo>
                    <a:lnTo>
                      <a:pt x="6" y="21"/>
                    </a:lnTo>
                    <a:lnTo>
                      <a:pt x="8" y="33"/>
                    </a:lnTo>
                    <a:lnTo>
                      <a:pt x="0" y="16"/>
                    </a:lnTo>
                    <a:lnTo>
                      <a:pt x="15" y="18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89" name="Freeform 813"/>
              <p:cNvSpPr>
                <a:spLocks/>
              </p:cNvSpPr>
              <p:nvPr/>
            </p:nvSpPr>
            <p:spPr bwMode="auto">
              <a:xfrm>
                <a:off x="2680" y="1823"/>
                <a:ext cx="21" cy="28"/>
              </a:xfrm>
              <a:custGeom>
                <a:avLst/>
                <a:gdLst>
                  <a:gd name="T0" fmla="*/ 12 w 21"/>
                  <a:gd name="T1" fmla="*/ 0 h 28"/>
                  <a:gd name="T2" fmla="*/ 21 w 21"/>
                  <a:gd name="T3" fmla="*/ 19 h 28"/>
                  <a:gd name="T4" fmla="*/ 5 w 21"/>
                  <a:gd name="T5" fmla="*/ 17 h 28"/>
                  <a:gd name="T6" fmla="*/ 7 w 21"/>
                  <a:gd name="T7" fmla="*/ 28 h 28"/>
                  <a:gd name="T8" fmla="*/ 0 w 21"/>
                  <a:gd name="T9" fmla="*/ 13 h 28"/>
                  <a:gd name="T10" fmla="*/ 16 w 21"/>
                  <a:gd name="T11" fmla="*/ 17 h 28"/>
                  <a:gd name="T12" fmla="*/ 12 w 21"/>
                  <a:gd name="T13" fmla="*/ 0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28"/>
                  <a:gd name="T23" fmla="*/ 21 w 21"/>
                  <a:gd name="T24" fmla="*/ 28 h 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28">
                    <a:moveTo>
                      <a:pt x="12" y="0"/>
                    </a:moveTo>
                    <a:lnTo>
                      <a:pt x="21" y="19"/>
                    </a:lnTo>
                    <a:lnTo>
                      <a:pt x="5" y="17"/>
                    </a:lnTo>
                    <a:lnTo>
                      <a:pt x="7" y="28"/>
                    </a:lnTo>
                    <a:lnTo>
                      <a:pt x="0" y="13"/>
                    </a:lnTo>
                    <a:lnTo>
                      <a:pt x="16" y="17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90" name="Freeform 814"/>
              <p:cNvSpPr>
                <a:spLocks/>
              </p:cNvSpPr>
              <p:nvPr/>
            </p:nvSpPr>
            <p:spPr bwMode="auto">
              <a:xfrm>
                <a:off x="2680" y="1827"/>
                <a:ext cx="20" cy="22"/>
              </a:xfrm>
              <a:custGeom>
                <a:avLst/>
                <a:gdLst>
                  <a:gd name="T0" fmla="*/ 13 w 20"/>
                  <a:gd name="T1" fmla="*/ 0 h 22"/>
                  <a:gd name="T2" fmla="*/ 16 w 20"/>
                  <a:gd name="T3" fmla="*/ 13 h 22"/>
                  <a:gd name="T4" fmla="*/ 0 w 20"/>
                  <a:gd name="T5" fmla="*/ 10 h 22"/>
                  <a:gd name="T6" fmla="*/ 6 w 20"/>
                  <a:gd name="T7" fmla="*/ 22 h 22"/>
                  <a:gd name="T8" fmla="*/ 4 w 20"/>
                  <a:gd name="T9" fmla="*/ 13 h 22"/>
                  <a:gd name="T10" fmla="*/ 20 w 20"/>
                  <a:gd name="T11" fmla="*/ 15 h 22"/>
                  <a:gd name="T12" fmla="*/ 13 w 20"/>
                  <a:gd name="T13" fmla="*/ 0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"/>
                  <a:gd name="T22" fmla="*/ 0 h 22"/>
                  <a:gd name="T23" fmla="*/ 20 w 20"/>
                  <a:gd name="T24" fmla="*/ 22 h 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" h="22">
                    <a:moveTo>
                      <a:pt x="13" y="0"/>
                    </a:moveTo>
                    <a:lnTo>
                      <a:pt x="16" y="13"/>
                    </a:lnTo>
                    <a:lnTo>
                      <a:pt x="0" y="10"/>
                    </a:lnTo>
                    <a:lnTo>
                      <a:pt x="6" y="22"/>
                    </a:lnTo>
                    <a:lnTo>
                      <a:pt x="4" y="13"/>
                    </a:lnTo>
                    <a:lnTo>
                      <a:pt x="20" y="15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91" name="Freeform 815"/>
              <p:cNvSpPr>
                <a:spLocks/>
              </p:cNvSpPr>
              <p:nvPr/>
            </p:nvSpPr>
            <p:spPr bwMode="auto">
              <a:xfrm>
                <a:off x="2570" y="1845"/>
                <a:ext cx="61" cy="46"/>
              </a:xfrm>
              <a:custGeom>
                <a:avLst/>
                <a:gdLst>
                  <a:gd name="T0" fmla="*/ 0 w 61"/>
                  <a:gd name="T1" fmla="*/ 0 h 46"/>
                  <a:gd name="T2" fmla="*/ 37 w 61"/>
                  <a:gd name="T3" fmla="*/ 22 h 46"/>
                  <a:gd name="T4" fmla="*/ 24 w 61"/>
                  <a:gd name="T5" fmla="*/ 31 h 46"/>
                  <a:gd name="T6" fmla="*/ 61 w 61"/>
                  <a:gd name="T7" fmla="*/ 46 h 46"/>
                  <a:gd name="T8" fmla="*/ 40 w 61"/>
                  <a:gd name="T9" fmla="*/ 30 h 46"/>
                  <a:gd name="T10" fmla="*/ 53 w 61"/>
                  <a:gd name="T11" fmla="*/ 20 h 46"/>
                  <a:gd name="T12" fmla="*/ 0 w 61"/>
                  <a:gd name="T13" fmla="*/ 0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1"/>
                  <a:gd name="T22" fmla="*/ 0 h 46"/>
                  <a:gd name="T23" fmla="*/ 61 w 61"/>
                  <a:gd name="T24" fmla="*/ 46 h 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1" h="46">
                    <a:moveTo>
                      <a:pt x="0" y="0"/>
                    </a:moveTo>
                    <a:lnTo>
                      <a:pt x="37" y="22"/>
                    </a:lnTo>
                    <a:lnTo>
                      <a:pt x="24" y="31"/>
                    </a:lnTo>
                    <a:lnTo>
                      <a:pt x="61" y="46"/>
                    </a:lnTo>
                    <a:lnTo>
                      <a:pt x="40" y="30"/>
                    </a:lnTo>
                    <a:lnTo>
                      <a:pt x="53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92" name="Freeform 816"/>
              <p:cNvSpPr>
                <a:spLocks/>
              </p:cNvSpPr>
              <p:nvPr/>
            </p:nvSpPr>
            <p:spPr bwMode="auto">
              <a:xfrm>
                <a:off x="2569" y="1842"/>
                <a:ext cx="41" cy="26"/>
              </a:xfrm>
              <a:custGeom>
                <a:avLst/>
                <a:gdLst>
                  <a:gd name="T0" fmla="*/ 40 w 41"/>
                  <a:gd name="T1" fmla="*/ 25 h 26"/>
                  <a:gd name="T2" fmla="*/ 40 w 41"/>
                  <a:gd name="T3" fmla="*/ 21 h 26"/>
                  <a:gd name="T4" fmla="*/ 2 w 41"/>
                  <a:gd name="T5" fmla="*/ 0 h 26"/>
                  <a:gd name="T6" fmla="*/ 0 w 41"/>
                  <a:gd name="T7" fmla="*/ 4 h 26"/>
                  <a:gd name="T8" fmla="*/ 37 w 41"/>
                  <a:gd name="T9" fmla="*/ 26 h 26"/>
                  <a:gd name="T10" fmla="*/ 37 w 41"/>
                  <a:gd name="T11" fmla="*/ 22 h 26"/>
                  <a:gd name="T12" fmla="*/ 37 w 41"/>
                  <a:gd name="T13" fmla="*/ 26 h 26"/>
                  <a:gd name="T14" fmla="*/ 39 w 41"/>
                  <a:gd name="T15" fmla="*/ 26 h 26"/>
                  <a:gd name="T16" fmla="*/ 41 w 41"/>
                  <a:gd name="T17" fmla="*/ 25 h 26"/>
                  <a:gd name="T18" fmla="*/ 41 w 41"/>
                  <a:gd name="T19" fmla="*/ 23 h 26"/>
                  <a:gd name="T20" fmla="*/ 40 w 41"/>
                  <a:gd name="T21" fmla="*/ 21 h 26"/>
                  <a:gd name="T22" fmla="*/ 40 w 41"/>
                  <a:gd name="T23" fmla="*/ 25 h 2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1"/>
                  <a:gd name="T37" fmla="*/ 0 h 26"/>
                  <a:gd name="T38" fmla="*/ 41 w 41"/>
                  <a:gd name="T39" fmla="*/ 26 h 2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1" h="26">
                    <a:moveTo>
                      <a:pt x="40" y="25"/>
                    </a:moveTo>
                    <a:lnTo>
                      <a:pt x="40" y="21"/>
                    </a:lnTo>
                    <a:lnTo>
                      <a:pt x="2" y="0"/>
                    </a:lnTo>
                    <a:lnTo>
                      <a:pt x="0" y="4"/>
                    </a:lnTo>
                    <a:lnTo>
                      <a:pt x="37" y="26"/>
                    </a:lnTo>
                    <a:lnTo>
                      <a:pt x="37" y="22"/>
                    </a:lnTo>
                    <a:lnTo>
                      <a:pt x="37" y="26"/>
                    </a:lnTo>
                    <a:lnTo>
                      <a:pt x="39" y="26"/>
                    </a:lnTo>
                    <a:lnTo>
                      <a:pt x="41" y="25"/>
                    </a:lnTo>
                    <a:lnTo>
                      <a:pt x="41" y="23"/>
                    </a:lnTo>
                    <a:lnTo>
                      <a:pt x="40" y="21"/>
                    </a:lnTo>
                    <a:lnTo>
                      <a:pt x="4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93" name="Freeform 817"/>
              <p:cNvSpPr>
                <a:spLocks/>
              </p:cNvSpPr>
              <p:nvPr/>
            </p:nvSpPr>
            <p:spPr bwMode="auto">
              <a:xfrm>
                <a:off x="2592" y="1864"/>
                <a:ext cx="16" cy="14"/>
              </a:xfrm>
              <a:custGeom>
                <a:avLst/>
                <a:gdLst>
                  <a:gd name="T0" fmla="*/ 3 w 16"/>
                  <a:gd name="T1" fmla="*/ 10 h 14"/>
                  <a:gd name="T2" fmla="*/ 3 w 16"/>
                  <a:gd name="T3" fmla="*/ 14 h 14"/>
                  <a:gd name="T4" fmla="*/ 16 w 16"/>
                  <a:gd name="T5" fmla="*/ 4 h 14"/>
                  <a:gd name="T6" fmla="*/ 13 w 16"/>
                  <a:gd name="T7" fmla="*/ 0 h 14"/>
                  <a:gd name="T8" fmla="*/ 1 w 16"/>
                  <a:gd name="T9" fmla="*/ 10 h 14"/>
                  <a:gd name="T10" fmla="*/ 1 w 16"/>
                  <a:gd name="T11" fmla="*/ 14 h 14"/>
                  <a:gd name="T12" fmla="*/ 1 w 16"/>
                  <a:gd name="T13" fmla="*/ 10 h 14"/>
                  <a:gd name="T14" fmla="*/ 0 w 16"/>
                  <a:gd name="T15" fmla="*/ 12 h 14"/>
                  <a:gd name="T16" fmla="*/ 0 w 16"/>
                  <a:gd name="T17" fmla="*/ 13 h 14"/>
                  <a:gd name="T18" fmla="*/ 1 w 16"/>
                  <a:gd name="T19" fmla="*/ 14 h 14"/>
                  <a:gd name="T20" fmla="*/ 3 w 16"/>
                  <a:gd name="T21" fmla="*/ 14 h 14"/>
                  <a:gd name="T22" fmla="*/ 3 w 16"/>
                  <a:gd name="T23" fmla="*/ 10 h 1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6"/>
                  <a:gd name="T37" fmla="*/ 0 h 14"/>
                  <a:gd name="T38" fmla="*/ 16 w 16"/>
                  <a:gd name="T39" fmla="*/ 14 h 1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6" h="14">
                    <a:moveTo>
                      <a:pt x="3" y="10"/>
                    </a:moveTo>
                    <a:lnTo>
                      <a:pt x="3" y="14"/>
                    </a:lnTo>
                    <a:lnTo>
                      <a:pt x="16" y="4"/>
                    </a:lnTo>
                    <a:lnTo>
                      <a:pt x="13" y="0"/>
                    </a:lnTo>
                    <a:lnTo>
                      <a:pt x="1" y="10"/>
                    </a:lnTo>
                    <a:lnTo>
                      <a:pt x="1" y="14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3"/>
                    </a:lnTo>
                    <a:lnTo>
                      <a:pt x="1" y="14"/>
                    </a:lnTo>
                    <a:lnTo>
                      <a:pt x="3" y="14"/>
                    </a:lnTo>
                    <a:lnTo>
                      <a:pt x="3" y="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94" name="Freeform 818"/>
              <p:cNvSpPr>
                <a:spLocks/>
              </p:cNvSpPr>
              <p:nvPr/>
            </p:nvSpPr>
            <p:spPr bwMode="auto">
              <a:xfrm>
                <a:off x="2593" y="1874"/>
                <a:ext cx="40" cy="19"/>
              </a:xfrm>
              <a:custGeom>
                <a:avLst/>
                <a:gdLst>
                  <a:gd name="T0" fmla="*/ 36 w 40"/>
                  <a:gd name="T1" fmla="*/ 19 h 19"/>
                  <a:gd name="T2" fmla="*/ 39 w 40"/>
                  <a:gd name="T3" fmla="*/ 15 h 19"/>
                  <a:gd name="T4" fmla="*/ 2 w 40"/>
                  <a:gd name="T5" fmla="*/ 0 h 19"/>
                  <a:gd name="T6" fmla="*/ 0 w 40"/>
                  <a:gd name="T7" fmla="*/ 4 h 19"/>
                  <a:gd name="T8" fmla="*/ 37 w 40"/>
                  <a:gd name="T9" fmla="*/ 19 h 19"/>
                  <a:gd name="T10" fmla="*/ 39 w 40"/>
                  <a:gd name="T11" fmla="*/ 15 h 19"/>
                  <a:gd name="T12" fmla="*/ 37 w 40"/>
                  <a:gd name="T13" fmla="*/ 19 h 19"/>
                  <a:gd name="T14" fmla="*/ 39 w 40"/>
                  <a:gd name="T15" fmla="*/ 19 h 19"/>
                  <a:gd name="T16" fmla="*/ 40 w 40"/>
                  <a:gd name="T17" fmla="*/ 18 h 19"/>
                  <a:gd name="T18" fmla="*/ 40 w 40"/>
                  <a:gd name="T19" fmla="*/ 16 h 19"/>
                  <a:gd name="T20" fmla="*/ 39 w 40"/>
                  <a:gd name="T21" fmla="*/ 15 h 19"/>
                  <a:gd name="T22" fmla="*/ 36 w 40"/>
                  <a:gd name="T23" fmla="*/ 19 h 1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0"/>
                  <a:gd name="T37" fmla="*/ 0 h 19"/>
                  <a:gd name="T38" fmla="*/ 40 w 40"/>
                  <a:gd name="T39" fmla="*/ 19 h 1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0" h="19">
                    <a:moveTo>
                      <a:pt x="36" y="19"/>
                    </a:moveTo>
                    <a:lnTo>
                      <a:pt x="39" y="15"/>
                    </a:lnTo>
                    <a:lnTo>
                      <a:pt x="2" y="0"/>
                    </a:lnTo>
                    <a:lnTo>
                      <a:pt x="0" y="4"/>
                    </a:lnTo>
                    <a:lnTo>
                      <a:pt x="37" y="19"/>
                    </a:lnTo>
                    <a:lnTo>
                      <a:pt x="39" y="15"/>
                    </a:lnTo>
                    <a:lnTo>
                      <a:pt x="37" y="19"/>
                    </a:lnTo>
                    <a:lnTo>
                      <a:pt x="39" y="19"/>
                    </a:lnTo>
                    <a:lnTo>
                      <a:pt x="40" y="18"/>
                    </a:lnTo>
                    <a:lnTo>
                      <a:pt x="40" y="16"/>
                    </a:lnTo>
                    <a:lnTo>
                      <a:pt x="39" y="15"/>
                    </a:lnTo>
                    <a:lnTo>
                      <a:pt x="36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95" name="Freeform 819"/>
              <p:cNvSpPr>
                <a:spLocks/>
              </p:cNvSpPr>
              <p:nvPr/>
            </p:nvSpPr>
            <p:spPr bwMode="auto">
              <a:xfrm>
                <a:off x="2608" y="1872"/>
                <a:ext cx="25" cy="21"/>
              </a:xfrm>
              <a:custGeom>
                <a:avLst/>
                <a:gdLst>
                  <a:gd name="T0" fmla="*/ 1 w 25"/>
                  <a:gd name="T1" fmla="*/ 1 h 21"/>
                  <a:gd name="T2" fmla="*/ 1 w 25"/>
                  <a:gd name="T3" fmla="*/ 5 h 21"/>
                  <a:gd name="T4" fmla="*/ 22 w 25"/>
                  <a:gd name="T5" fmla="*/ 21 h 21"/>
                  <a:gd name="T6" fmla="*/ 25 w 25"/>
                  <a:gd name="T7" fmla="*/ 17 h 21"/>
                  <a:gd name="T8" fmla="*/ 4 w 25"/>
                  <a:gd name="T9" fmla="*/ 1 h 21"/>
                  <a:gd name="T10" fmla="*/ 4 w 25"/>
                  <a:gd name="T11" fmla="*/ 5 h 21"/>
                  <a:gd name="T12" fmla="*/ 4 w 25"/>
                  <a:gd name="T13" fmla="*/ 1 h 21"/>
                  <a:gd name="T14" fmla="*/ 2 w 25"/>
                  <a:gd name="T15" fmla="*/ 0 h 21"/>
                  <a:gd name="T16" fmla="*/ 1 w 25"/>
                  <a:gd name="T17" fmla="*/ 1 h 21"/>
                  <a:gd name="T18" fmla="*/ 0 w 25"/>
                  <a:gd name="T19" fmla="*/ 3 h 21"/>
                  <a:gd name="T20" fmla="*/ 1 w 25"/>
                  <a:gd name="T21" fmla="*/ 5 h 21"/>
                  <a:gd name="T22" fmla="*/ 1 w 25"/>
                  <a:gd name="T23" fmla="*/ 1 h 2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5"/>
                  <a:gd name="T37" fmla="*/ 0 h 21"/>
                  <a:gd name="T38" fmla="*/ 25 w 25"/>
                  <a:gd name="T39" fmla="*/ 21 h 2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5" h="21">
                    <a:moveTo>
                      <a:pt x="1" y="1"/>
                    </a:moveTo>
                    <a:lnTo>
                      <a:pt x="1" y="5"/>
                    </a:lnTo>
                    <a:lnTo>
                      <a:pt x="22" y="21"/>
                    </a:lnTo>
                    <a:lnTo>
                      <a:pt x="25" y="17"/>
                    </a:lnTo>
                    <a:lnTo>
                      <a:pt x="4" y="1"/>
                    </a:lnTo>
                    <a:lnTo>
                      <a:pt x="4" y="5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1" y="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96" name="Freeform 820"/>
              <p:cNvSpPr>
                <a:spLocks/>
              </p:cNvSpPr>
              <p:nvPr/>
            </p:nvSpPr>
            <p:spPr bwMode="auto">
              <a:xfrm>
                <a:off x="2608" y="1862"/>
                <a:ext cx="17" cy="15"/>
              </a:xfrm>
              <a:custGeom>
                <a:avLst/>
                <a:gdLst>
                  <a:gd name="T0" fmla="*/ 14 w 17"/>
                  <a:gd name="T1" fmla="*/ 5 h 15"/>
                  <a:gd name="T2" fmla="*/ 13 w 17"/>
                  <a:gd name="T3" fmla="*/ 1 h 15"/>
                  <a:gd name="T4" fmla="*/ 0 w 17"/>
                  <a:gd name="T5" fmla="*/ 11 h 15"/>
                  <a:gd name="T6" fmla="*/ 3 w 17"/>
                  <a:gd name="T7" fmla="*/ 15 h 15"/>
                  <a:gd name="T8" fmla="*/ 16 w 17"/>
                  <a:gd name="T9" fmla="*/ 4 h 15"/>
                  <a:gd name="T10" fmla="*/ 15 w 17"/>
                  <a:gd name="T11" fmla="*/ 0 h 15"/>
                  <a:gd name="T12" fmla="*/ 16 w 17"/>
                  <a:gd name="T13" fmla="*/ 4 h 15"/>
                  <a:gd name="T14" fmla="*/ 17 w 17"/>
                  <a:gd name="T15" fmla="*/ 3 h 15"/>
                  <a:gd name="T16" fmla="*/ 16 w 17"/>
                  <a:gd name="T17" fmla="*/ 1 h 15"/>
                  <a:gd name="T18" fmla="*/ 15 w 17"/>
                  <a:gd name="T19" fmla="*/ 0 h 15"/>
                  <a:gd name="T20" fmla="*/ 13 w 17"/>
                  <a:gd name="T21" fmla="*/ 1 h 15"/>
                  <a:gd name="T22" fmla="*/ 14 w 17"/>
                  <a:gd name="T23" fmla="*/ 5 h 1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7"/>
                  <a:gd name="T37" fmla="*/ 0 h 15"/>
                  <a:gd name="T38" fmla="*/ 17 w 17"/>
                  <a:gd name="T39" fmla="*/ 15 h 1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7" h="15">
                    <a:moveTo>
                      <a:pt x="14" y="5"/>
                    </a:moveTo>
                    <a:lnTo>
                      <a:pt x="13" y="1"/>
                    </a:lnTo>
                    <a:lnTo>
                      <a:pt x="0" y="11"/>
                    </a:lnTo>
                    <a:lnTo>
                      <a:pt x="3" y="15"/>
                    </a:lnTo>
                    <a:lnTo>
                      <a:pt x="16" y="4"/>
                    </a:lnTo>
                    <a:lnTo>
                      <a:pt x="15" y="0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6" y="1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4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97" name="Freeform 821"/>
              <p:cNvSpPr>
                <a:spLocks/>
              </p:cNvSpPr>
              <p:nvPr/>
            </p:nvSpPr>
            <p:spPr bwMode="auto">
              <a:xfrm>
                <a:off x="2568" y="1842"/>
                <a:ext cx="56" cy="25"/>
              </a:xfrm>
              <a:custGeom>
                <a:avLst/>
                <a:gdLst>
                  <a:gd name="T0" fmla="*/ 3 w 56"/>
                  <a:gd name="T1" fmla="*/ 0 h 25"/>
                  <a:gd name="T2" fmla="*/ 1 w 56"/>
                  <a:gd name="T3" fmla="*/ 5 h 25"/>
                  <a:gd name="T4" fmla="*/ 54 w 56"/>
                  <a:gd name="T5" fmla="*/ 25 h 25"/>
                  <a:gd name="T6" fmla="*/ 56 w 56"/>
                  <a:gd name="T7" fmla="*/ 21 h 25"/>
                  <a:gd name="T8" fmla="*/ 3 w 56"/>
                  <a:gd name="T9" fmla="*/ 0 h 25"/>
                  <a:gd name="T10" fmla="*/ 1 w 56"/>
                  <a:gd name="T11" fmla="*/ 5 h 25"/>
                  <a:gd name="T12" fmla="*/ 3 w 56"/>
                  <a:gd name="T13" fmla="*/ 0 h 25"/>
                  <a:gd name="T14" fmla="*/ 1 w 56"/>
                  <a:gd name="T15" fmla="*/ 0 h 25"/>
                  <a:gd name="T16" fmla="*/ 0 w 56"/>
                  <a:gd name="T17" fmla="*/ 1 h 25"/>
                  <a:gd name="T18" fmla="*/ 0 w 56"/>
                  <a:gd name="T19" fmla="*/ 3 h 25"/>
                  <a:gd name="T20" fmla="*/ 1 w 56"/>
                  <a:gd name="T21" fmla="*/ 5 h 25"/>
                  <a:gd name="T22" fmla="*/ 3 w 56"/>
                  <a:gd name="T23" fmla="*/ 0 h 2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6"/>
                  <a:gd name="T37" fmla="*/ 0 h 25"/>
                  <a:gd name="T38" fmla="*/ 56 w 56"/>
                  <a:gd name="T39" fmla="*/ 25 h 2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6" h="25">
                    <a:moveTo>
                      <a:pt x="3" y="0"/>
                    </a:moveTo>
                    <a:lnTo>
                      <a:pt x="1" y="5"/>
                    </a:lnTo>
                    <a:lnTo>
                      <a:pt x="54" y="25"/>
                    </a:lnTo>
                    <a:lnTo>
                      <a:pt x="56" y="21"/>
                    </a:lnTo>
                    <a:lnTo>
                      <a:pt x="3" y="0"/>
                    </a:lnTo>
                    <a:lnTo>
                      <a:pt x="1" y="5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98" name="Freeform 822"/>
              <p:cNvSpPr>
                <a:spLocks/>
              </p:cNvSpPr>
              <p:nvPr/>
            </p:nvSpPr>
            <p:spPr bwMode="auto">
              <a:xfrm>
                <a:off x="2574" y="1846"/>
                <a:ext cx="55" cy="44"/>
              </a:xfrm>
              <a:custGeom>
                <a:avLst/>
                <a:gdLst>
                  <a:gd name="T0" fmla="*/ 0 w 55"/>
                  <a:gd name="T1" fmla="*/ 0 h 44"/>
                  <a:gd name="T2" fmla="*/ 48 w 55"/>
                  <a:gd name="T3" fmla="*/ 19 h 44"/>
                  <a:gd name="T4" fmla="*/ 36 w 55"/>
                  <a:gd name="T5" fmla="*/ 29 h 44"/>
                  <a:gd name="T6" fmla="*/ 55 w 55"/>
                  <a:gd name="T7" fmla="*/ 44 h 44"/>
                  <a:gd name="T8" fmla="*/ 21 w 55"/>
                  <a:gd name="T9" fmla="*/ 30 h 44"/>
                  <a:gd name="T10" fmla="*/ 34 w 55"/>
                  <a:gd name="T11" fmla="*/ 20 h 44"/>
                  <a:gd name="T12" fmla="*/ 0 w 55"/>
                  <a:gd name="T13" fmla="*/ 0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5"/>
                  <a:gd name="T22" fmla="*/ 0 h 44"/>
                  <a:gd name="T23" fmla="*/ 55 w 55"/>
                  <a:gd name="T24" fmla="*/ 44 h 4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5" h="44">
                    <a:moveTo>
                      <a:pt x="0" y="0"/>
                    </a:moveTo>
                    <a:lnTo>
                      <a:pt x="48" y="19"/>
                    </a:lnTo>
                    <a:lnTo>
                      <a:pt x="36" y="29"/>
                    </a:lnTo>
                    <a:lnTo>
                      <a:pt x="55" y="44"/>
                    </a:lnTo>
                    <a:lnTo>
                      <a:pt x="21" y="30"/>
                    </a:lnTo>
                    <a:lnTo>
                      <a:pt x="34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191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99" name="Freeform 823"/>
              <p:cNvSpPr>
                <a:spLocks/>
              </p:cNvSpPr>
              <p:nvPr/>
            </p:nvSpPr>
            <p:spPr bwMode="auto">
              <a:xfrm>
                <a:off x="2577" y="1847"/>
                <a:ext cx="51" cy="42"/>
              </a:xfrm>
              <a:custGeom>
                <a:avLst/>
                <a:gdLst>
                  <a:gd name="T0" fmla="*/ 0 w 51"/>
                  <a:gd name="T1" fmla="*/ 0 h 42"/>
                  <a:gd name="T2" fmla="*/ 45 w 51"/>
                  <a:gd name="T3" fmla="*/ 18 h 42"/>
                  <a:gd name="T4" fmla="*/ 32 w 51"/>
                  <a:gd name="T5" fmla="*/ 28 h 42"/>
                  <a:gd name="T6" fmla="*/ 51 w 51"/>
                  <a:gd name="T7" fmla="*/ 42 h 42"/>
                  <a:gd name="T8" fmla="*/ 18 w 51"/>
                  <a:gd name="T9" fmla="*/ 29 h 42"/>
                  <a:gd name="T10" fmla="*/ 32 w 51"/>
                  <a:gd name="T11" fmla="*/ 19 h 42"/>
                  <a:gd name="T12" fmla="*/ 0 w 51"/>
                  <a:gd name="T13" fmla="*/ 0 h 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1"/>
                  <a:gd name="T22" fmla="*/ 0 h 42"/>
                  <a:gd name="T23" fmla="*/ 51 w 51"/>
                  <a:gd name="T24" fmla="*/ 42 h 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1" h="42">
                    <a:moveTo>
                      <a:pt x="0" y="0"/>
                    </a:moveTo>
                    <a:lnTo>
                      <a:pt x="45" y="18"/>
                    </a:lnTo>
                    <a:lnTo>
                      <a:pt x="32" y="28"/>
                    </a:lnTo>
                    <a:lnTo>
                      <a:pt x="51" y="42"/>
                    </a:lnTo>
                    <a:lnTo>
                      <a:pt x="18" y="29"/>
                    </a:lnTo>
                    <a:lnTo>
                      <a:pt x="32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00" name="Freeform 824"/>
              <p:cNvSpPr>
                <a:spLocks/>
              </p:cNvSpPr>
              <p:nvPr/>
            </p:nvSpPr>
            <p:spPr bwMode="auto">
              <a:xfrm>
                <a:off x="2580" y="1849"/>
                <a:ext cx="46" cy="39"/>
              </a:xfrm>
              <a:custGeom>
                <a:avLst/>
                <a:gdLst>
                  <a:gd name="T0" fmla="*/ 0 w 46"/>
                  <a:gd name="T1" fmla="*/ 0 h 39"/>
                  <a:gd name="T2" fmla="*/ 42 w 46"/>
                  <a:gd name="T3" fmla="*/ 16 h 39"/>
                  <a:gd name="T4" fmla="*/ 29 w 46"/>
                  <a:gd name="T5" fmla="*/ 26 h 39"/>
                  <a:gd name="T6" fmla="*/ 46 w 46"/>
                  <a:gd name="T7" fmla="*/ 39 h 39"/>
                  <a:gd name="T8" fmla="*/ 16 w 46"/>
                  <a:gd name="T9" fmla="*/ 27 h 39"/>
                  <a:gd name="T10" fmla="*/ 29 w 46"/>
                  <a:gd name="T11" fmla="*/ 17 h 39"/>
                  <a:gd name="T12" fmla="*/ 0 w 46"/>
                  <a:gd name="T13" fmla="*/ 0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6"/>
                  <a:gd name="T22" fmla="*/ 0 h 39"/>
                  <a:gd name="T23" fmla="*/ 46 w 46"/>
                  <a:gd name="T24" fmla="*/ 39 h 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6" h="39">
                    <a:moveTo>
                      <a:pt x="0" y="0"/>
                    </a:moveTo>
                    <a:lnTo>
                      <a:pt x="42" y="16"/>
                    </a:lnTo>
                    <a:lnTo>
                      <a:pt x="29" y="26"/>
                    </a:lnTo>
                    <a:lnTo>
                      <a:pt x="46" y="39"/>
                    </a:lnTo>
                    <a:lnTo>
                      <a:pt x="16" y="27"/>
                    </a:lnTo>
                    <a:lnTo>
                      <a:pt x="29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01" name="Freeform 825"/>
              <p:cNvSpPr>
                <a:spLocks/>
              </p:cNvSpPr>
              <p:nvPr/>
            </p:nvSpPr>
            <p:spPr bwMode="auto">
              <a:xfrm>
                <a:off x="2583" y="1850"/>
                <a:ext cx="41" cy="37"/>
              </a:xfrm>
              <a:custGeom>
                <a:avLst/>
                <a:gdLst>
                  <a:gd name="T0" fmla="*/ 0 w 41"/>
                  <a:gd name="T1" fmla="*/ 0 h 37"/>
                  <a:gd name="T2" fmla="*/ 38 w 41"/>
                  <a:gd name="T3" fmla="*/ 15 h 37"/>
                  <a:gd name="T4" fmla="*/ 25 w 41"/>
                  <a:gd name="T5" fmla="*/ 25 h 37"/>
                  <a:gd name="T6" fmla="*/ 41 w 41"/>
                  <a:gd name="T7" fmla="*/ 37 h 37"/>
                  <a:gd name="T8" fmla="*/ 14 w 41"/>
                  <a:gd name="T9" fmla="*/ 26 h 37"/>
                  <a:gd name="T10" fmla="*/ 27 w 41"/>
                  <a:gd name="T11" fmla="*/ 16 h 37"/>
                  <a:gd name="T12" fmla="*/ 0 w 41"/>
                  <a:gd name="T13" fmla="*/ 0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1"/>
                  <a:gd name="T22" fmla="*/ 0 h 37"/>
                  <a:gd name="T23" fmla="*/ 41 w 41"/>
                  <a:gd name="T24" fmla="*/ 37 h 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1" h="37">
                    <a:moveTo>
                      <a:pt x="0" y="0"/>
                    </a:moveTo>
                    <a:lnTo>
                      <a:pt x="38" y="15"/>
                    </a:lnTo>
                    <a:lnTo>
                      <a:pt x="25" y="25"/>
                    </a:lnTo>
                    <a:lnTo>
                      <a:pt x="41" y="37"/>
                    </a:lnTo>
                    <a:lnTo>
                      <a:pt x="14" y="26"/>
                    </a:lnTo>
                    <a:lnTo>
                      <a:pt x="27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02" name="Freeform 826"/>
              <p:cNvSpPr>
                <a:spLocks/>
              </p:cNvSpPr>
              <p:nvPr/>
            </p:nvSpPr>
            <p:spPr bwMode="auto">
              <a:xfrm>
                <a:off x="2586" y="1852"/>
                <a:ext cx="36" cy="33"/>
              </a:xfrm>
              <a:custGeom>
                <a:avLst/>
                <a:gdLst>
                  <a:gd name="T0" fmla="*/ 0 w 36"/>
                  <a:gd name="T1" fmla="*/ 0 h 33"/>
                  <a:gd name="T2" fmla="*/ 34 w 36"/>
                  <a:gd name="T3" fmla="*/ 13 h 33"/>
                  <a:gd name="T4" fmla="*/ 21 w 36"/>
                  <a:gd name="T5" fmla="*/ 23 h 33"/>
                  <a:gd name="T6" fmla="*/ 36 w 36"/>
                  <a:gd name="T7" fmla="*/ 33 h 33"/>
                  <a:gd name="T8" fmla="*/ 11 w 36"/>
                  <a:gd name="T9" fmla="*/ 24 h 33"/>
                  <a:gd name="T10" fmla="*/ 24 w 36"/>
                  <a:gd name="T11" fmla="*/ 14 h 33"/>
                  <a:gd name="T12" fmla="*/ 0 w 36"/>
                  <a:gd name="T13" fmla="*/ 0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6"/>
                  <a:gd name="T22" fmla="*/ 0 h 33"/>
                  <a:gd name="T23" fmla="*/ 36 w 36"/>
                  <a:gd name="T24" fmla="*/ 33 h 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6" h="33">
                    <a:moveTo>
                      <a:pt x="0" y="0"/>
                    </a:moveTo>
                    <a:lnTo>
                      <a:pt x="34" y="13"/>
                    </a:lnTo>
                    <a:lnTo>
                      <a:pt x="21" y="23"/>
                    </a:lnTo>
                    <a:lnTo>
                      <a:pt x="36" y="33"/>
                    </a:lnTo>
                    <a:lnTo>
                      <a:pt x="11" y="24"/>
                    </a:lnTo>
                    <a:lnTo>
                      <a:pt x="2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03" name="Freeform 827"/>
              <p:cNvSpPr>
                <a:spLocks/>
              </p:cNvSpPr>
              <p:nvPr/>
            </p:nvSpPr>
            <p:spPr bwMode="auto">
              <a:xfrm>
                <a:off x="2590" y="1853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30 w 31"/>
                  <a:gd name="T3" fmla="*/ 12 h 31"/>
                  <a:gd name="T4" fmla="*/ 17 w 31"/>
                  <a:gd name="T5" fmla="*/ 22 h 31"/>
                  <a:gd name="T6" fmla="*/ 31 w 31"/>
                  <a:gd name="T7" fmla="*/ 31 h 31"/>
                  <a:gd name="T8" fmla="*/ 8 w 31"/>
                  <a:gd name="T9" fmla="*/ 23 h 31"/>
                  <a:gd name="T10" fmla="*/ 21 w 31"/>
                  <a:gd name="T11" fmla="*/ 13 h 31"/>
                  <a:gd name="T12" fmla="*/ 0 w 31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"/>
                  <a:gd name="T22" fmla="*/ 0 h 31"/>
                  <a:gd name="T23" fmla="*/ 31 w 31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" h="31">
                    <a:moveTo>
                      <a:pt x="0" y="0"/>
                    </a:moveTo>
                    <a:lnTo>
                      <a:pt x="30" y="12"/>
                    </a:lnTo>
                    <a:lnTo>
                      <a:pt x="17" y="22"/>
                    </a:lnTo>
                    <a:lnTo>
                      <a:pt x="31" y="31"/>
                    </a:lnTo>
                    <a:lnTo>
                      <a:pt x="8" y="23"/>
                    </a:lnTo>
                    <a:lnTo>
                      <a:pt x="21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04" name="Freeform 828"/>
              <p:cNvSpPr>
                <a:spLocks/>
              </p:cNvSpPr>
              <p:nvPr/>
            </p:nvSpPr>
            <p:spPr bwMode="auto">
              <a:xfrm>
                <a:off x="2593" y="1856"/>
                <a:ext cx="25" cy="27"/>
              </a:xfrm>
              <a:custGeom>
                <a:avLst/>
                <a:gdLst>
                  <a:gd name="T0" fmla="*/ 0 w 25"/>
                  <a:gd name="T1" fmla="*/ 0 h 27"/>
                  <a:gd name="T2" fmla="*/ 25 w 25"/>
                  <a:gd name="T3" fmla="*/ 9 h 27"/>
                  <a:gd name="T4" fmla="*/ 13 w 25"/>
                  <a:gd name="T5" fmla="*/ 19 h 27"/>
                  <a:gd name="T6" fmla="*/ 24 w 25"/>
                  <a:gd name="T7" fmla="*/ 27 h 27"/>
                  <a:gd name="T8" fmla="*/ 5 w 25"/>
                  <a:gd name="T9" fmla="*/ 20 h 27"/>
                  <a:gd name="T10" fmla="*/ 18 w 25"/>
                  <a:gd name="T11" fmla="*/ 10 h 27"/>
                  <a:gd name="T12" fmla="*/ 0 w 25"/>
                  <a:gd name="T13" fmla="*/ 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27"/>
                  <a:gd name="T23" fmla="*/ 25 w 25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27">
                    <a:moveTo>
                      <a:pt x="0" y="0"/>
                    </a:moveTo>
                    <a:lnTo>
                      <a:pt x="25" y="9"/>
                    </a:lnTo>
                    <a:lnTo>
                      <a:pt x="13" y="19"/>
                    </a:lnTo>
                    <a:lnTo>
                      <a:pt x="24" y="27"/>
                    </a:lnTo>
                    <a:lnTo>
                      <a:pt x="5" y="20"/>
                    </a:lnTo>
                    <a:lnTo>
                      <a:pt x="18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05" name="Freeform 829"/>
              <p:cNvSpPr>
                <a:spLocks/>
              </p:cNvSpPr>
              <p:nvPr/>
            </p:nvSpPr>
            <p:spPr bwMode="auto">
              <a:xfrm>
                <a:off x="2596" y="1857"/>
                <a:ext cx="22" cy="25"/>
              </a:xfrm>
              <a:custGeom>
                <a:avLst/>
                <a:gdLst>
                  <a:gd name="T0" fmla="*/ 0 w 22"/>
                  <a:gd name="T1" fmla="*/ 0 h 25"/>
                  <a:gd name="T2" fmla="*/ 22 w 22"/>
                  <a:gd name="T3" fmla="*/ 8 h 25"/>
                  <a:gd name="T4" fmla="*/ 10 w 22"/>
                  <a:gd name="T5" fmla="*/ 18 h 25"/>
                  <a:gd name="T6" fmla="*/ 20 w 22"/>
                  <a:gd name="T7" fmla="*/ 25 h 25"/>
                  <a:gd name="T8" fmla="*/ 3 w 22"/>
                  <a:gd name="T9" fmla="*/ 19 h 25"/>
                  <a:gd name="T10" fmla="*/ 16 w 22"/>
                  <a:gd name="T11" fmla="*/ 9 h 25"/>
                  <a:gd name="T12" fmla="*/ 0 w 22"/>
                  <a:gd name="T13" fmla="*/ 0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2"/>
                  <a:gd name="T22" fmla="*/ 0 h 25"/>
                  <a:gd name="T23" fmla="*/ 22 w 22"/>
                  <a:gd name="T24" fmla="*/ 25 h 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2" h="25">
                    <a:moveTo>
                      <a:pt x="0" y="0"/>
                    </a:moveTo>
                    <a:lnTo>
                      <a:pt x="22" y="8"/>
                    </a:lnTo>
                    <a:lnTo>
                      <a:pt x="10" y="18"/>
                    </a:lnTo>
                    <a:lnTo>
                      <a:pt x="20" y="25"/>
                    </a:lnTo>
                    <a:lnTo>
                      <a:pt x="3" y="19"/>
                    </a:lnTo>
                    <a:lnTo>
                      <a:pt x="16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06" name="Freeform 830"/>
              <p:cNvSpPr>
                <a:spLocks/>
              </p:cNvSpPr>
              <p:nvPr/>
            </p:nvSpPr>
            <p:spPr bwMode="auto">
              <a:xfrm>
                <a:off x="2599" y="1858"/>
                <a:ext cx="18" cy="23"/>
              </a:xfrm>
              <a:custGeom>
                <a:avLst/>
                <a:gdLst>
                  <a:gd name="T0" fmla="*/ 0 w 18"/>
                  <a:gd name="T1" fmla="*/ 0 h 23"/>
                  <a:gd name="T2" fmla="*/ 18 w 18"/>
                  <a:gd name="T3" fmla="*/ 7 h 23"/>
                  <a:gd name="T4" fmla="*/ 7 w 18"/>
                  <a:gd name="T5" fmla="*/ 17 h 23"/>
                  <a:gd name="T6" fmla="*/ 15 w 18"/>
                  <a:gd name="T7" fmla="*/ 23 h 23"/>
                  <a:gd name="T8" fmla="*/ 1 w 18"/>
                  <a:gd name="T9" fmla="*/ 18 h 23"/>
                  <a:gd name="T10" fmla="*/ 13 w 18"/>
                  <a:gd name="T11" fmla="*/ 8 h 23"/>
                  <a:gd name="T12" fmla="*/ 0 w 18"/>
                  <a:gd name="T13" fmla="*/ 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"/>
                  <a:gd name="T22" fmla="*/ 0 h 23"/>
                  <a:gd name="T23" fmla="*/ 18 w 18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" h="23">
                    <a:moveTo>
                      <a:pt x="0" y="0"/>
                    </a:moveTo>
                    <a:lnTo>
                      <a:pt x="18" y="7"/>
                    </a:lnTo>
                    <a:lnTo>
                      <a:pt x="7" y="17"/>
                    </a:lnTo>
                    <a:lnTo>
                      <a:pt x="15" y="23"/>
                    </a:lnTo>
                    <a:lnTo>
                      <a:pt x="1" y="18"/>
                    </a:lnTo>
                    <a:lnTo>
                      <a:pt x="13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07" name="Freeform 831"/>
              <p:cNvSpPr>
                <a:spLocks/>
              </p:cNvSpPr>
              <p:nvPr/>
            </p:nvSpPr>
            <p:spPr bwMode="auto">
              <a:xfrm>
                <a:off x="2600" y="1860"/>
                <a:ext cx="17" cy="20"/>
              </a:xfrm>
              <a:custGeom>
                <a:avLst/>
                <a:gdLst>
                  <a:gd name="T0" fmla="*/ 2 w 17"/>
                  <a:gd name="T1" fmla="*/ 0 h 20"/>
                  <a:gd name="T2" fmla="*/ 13 w 17"/>
                  <a:gd name="T3" fmla="*/ 6 h 20"/>
                  <a:gd name="T4" fmla="*/ 0 w 17"/>
                  <a:gd name="T5" fmla="*/ 16 h 20"/>
                  <a:gd name="T6" fmla="*/ 13 w 17"/>
                  <a:gd name="T7" fmla="*/ 20 h 20"/>
                  <a:gd name="T8" fmla="*/ 5 w 17"/>
                  <a:gd name="T9" fmla="*/ 15 h 20"/>
                  <a:gd name="T10" fmla="*/ 17 w 17"/>
                  <a:gd name="T11" fmla="*/ 5 h 20"/>
                  <a:gd name="T12" fmla="*/ 2 w 17"/>
                  <a:gd name="T13" fmla="*/ 0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20"/>
                  <a:gd name="T23" fmla="*/ 17 w 17"/>
                  <a:gd name="T24" fmla="*/ 20 h 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20">
                    <a:moveTo>
                      <a:pt x="2" y="0"/>
                    </a:moveTo>
                    <a:lnTo>
                      <a:pt x="13" y="6"/>
                    </a:lnTo>
                    <a:lnTo>
                      <a:pt x="0" y="16"/>
                    </a:lnTo>
                    <a:lnTo>
                      <a:pt x="13" y="20"/>
                    </a:lnTo>
                    <a:lnTo>
                      <a:pt x="5" y="15"/>
                    </a:lnTo>
                    <a:lnTo>
                      <a:pt x="17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08" name="Freeform 832"/>
              <p:cNvSpPr>
                <a:spLocks/>
              </p:cNvSpPr>
              <p:nvPr/>
            </p:nvSpPr>
            <p:spPr bwMode="auto">
              <a:xfrm>
                <a:off x="2530" y="1939"/>
                <a:ext cx="76" cy="29"/>
              </a:xfrm>
              <a:custGeom>
                <a:avLst/>
                <a:gdLst>
                  <a:gd name="T0" fmla="*/ 0 w 76"/>
                  <a:gd name="T1" fmla="*/ 23 h 29"/>
                  <a:gd name="T2" fmla="*/ 41 w 76"/>
                  <a:gd name="T3" fmla="*/ 13 h 29"/>
                  <a:gd name="T4" fmla="*/ 39 w 76"/>
                  <a:gd name="T5" fmla="*/ 29 h 29"/>
                  <a:gd name="T6" fmla="*/ 76 w 76"/>
                  <a:gd name="T7" fmla="*/ 13 h 29"/>
                  <a:gd name="T8" fmla="*/ 49 w 76"/>
                  <a:gd name="T9" fmla="*/ 16 h 29"/>
                  <a:gd name="T10" fmla="*/ 52 w 76"/>
                  <a:gd name="T11" fmla="*/ 0 h 29"/>
                  <a:gd name="T12" fmla="*/ 0 w 76"/>
                  <a:gd name="T13" fmla="*/ 23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6"/>
                  <a:gd name="T22" fmla="*/ 0 h 29"/>
                  <a:gd name="T23" fmla="*/ 76 w 76"/>
                  <a:gd name="T24" fmla="*/ 29 h 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6" h="29">
                    <a:moveTo>
                      <a:pt x="0" y="23"/>
                    </a:moveTo>
                    <a:lnTo>
                      <a:pt x="41" y="13"/>
                    </a:lnTo>
                    <a:lnTo>
                      <a:pt x="39" y="29"/>
                    </a:lnTo>
                    <a:lnTo>
                      <a:pt x="76" y="13"/>
                    </a:lnTo>
                    <a:lnTo>
                      <a:pt x="49" y="16"/>
                    </a:lnTo>
                    <a:lnTo>
                      <a:pt x="52" y="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09" name="Freeform 833"/>
              <p:cNvSpPr>
                <a:spLocks/>
              </p:cNvSpPr>
              <p:nvPr/>
            </p:nvSpPr>
            <p:spPr bwMode="auto">
              <a:xfrm>
                <a:off x="2529" y="1948"/>
                <a:ext cx="45" cy="17"/>
              </a:xfrm>
              <a:custGeom>
                <a:avLst/>
                <a:gdLst>
                  <a:gd name="T0" fmla="*/ 45 w 45"/>
                  <a:gd name="T1" fmla="*/ 4 h 17"/>
                  <a:gd name="T2" fmla="*/ 41 w 45"/>
                  <a:gd name="T3" fmla="*/ 0 h 17"/>
                  <a:gd name="T4" fmla="*/ 0 w 45"/>
                  <a:gd name="T5" fmla="*/ 11 h 17"/>
                  <a:gd name="T6" fmla="*/ 1 w 45"/>
                  <a:gd name="T7" fmla="*/ 17 h 17"/>
                  <a:gd name="T8" fmla="*/ 42 w 45"/>
                  <a:gd name="T9" fmla="*/ 6 h 17"/>
                  <a:gd name="T10" fmla="*/ 39 w 45"/>
                  <a:gd name="T11" fmla="*/ 3 h 17"/>
                  <a:gd name="T12" fmla="*/ 42 w 45"/>
                  <a:gd name="T13" fmla="*/ 6 h 17"/>
                  <a:gd name="T14" fmla="*/ 45 w 45"/>
                  <a:gd name="T15" fmla="*/ 5 h 17"/>
                  <a:gd name="T16" fmla="*/ 45 w 45"/>
                  <a:gd name="T17" fmla="*/ 3 h 17"/>
                  <a:gd name="T18" fmla="*/ 44 w 45"/>
                  <a:gd name="T19" fmla="*/ 0 h 17"/>
                  <a:gd name="T20" fmla="*/ 41 w 45"/>
                  <a:gd name="T21" fmla="*/ 0 h 17"/>
                  <a:gd name="T22" fmla="*/ 45 w 45"/>
                  <a:gd name="T23" fmla="*/ 4 h 1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5"/>
                  <a:gd name="T37" fmla="*/ 0 h 17"/>
                  <a:gd name="T38" fmla="*/ 45 w 45"/>
                  <a:gd name="T39" fmla="*/ 17 h 1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5" h="17">
                    <a:moveTo>
                      <a:pt x="45" y="4"/>
                    </a:moveTo>
                    <a:lnTo>
                      <a:pt x="41" y="0"/>
                    </a:lnTo>
                    <a:lnTo>
                      <a:pt x="0" y="11"/>
                    </a:lnTo>
                    <a:lnTo>
                      <a:pt x="1" y="17"/>
                    </a:lnTo>
                    <a:lnTo>
                      <a:pt x="42" y="6"/>
                    </a:lnTo>
                    <a:lnTo>
                      <a:pt x="39" y="3"/>
                    </a:lnTo>
                    <a:lnTo>
                      <a:pt x="42" y="6"/>
                    </a:lnTo>
                    <a:lnTo>
                      <a:pt x="45" y="5"/>
                    </a:lnTo>
                    <a:lnTo>
                      <a:pt x="45" y="3"/>
                    </a:lnTo>
                    <a:lnTo>
                      <a:pt x="44" y="0"/>
                    </a:lnTo>
                    <a:lnTo>
                      <a:pt x="41" y="0"/>
                    </a:lnTo>
                    <a:lnTo>
                      <a:pt x="45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10" name="Freeform 834"/>
              <p:cNvSpPr>
                <a:spLocks/>
              </p:cNvSpPr>
              <p:nvPr/>
            </p:nvSpPr>
            <p:spPr bwMode="auto">
              <a:xfrm>
                <a:off x="2566" y="1951"/>
                <a:ext cx="8" cy="19"/>
              </a:xfrm>
              <a:custGeom>
                <a:avLst/>
                <a:gdLst>
                  <a:gd name="T0" fmla="*/ 1 w 8"/>
                  <a:gd name="T1" fmla="*/ 15 h 19"/>
                  <a:gd name="T2" fmla="*/ 5 w 8"/>
                  <a:gd name="T3" fmla="*/ 17 h 19"/>
                  <a:gd name="T4" fmla="*/ 8 w 8"/>
                  <a:gd name="T5" fmla="*/ 1 h 19"/>
                  <a:gd name="T6" fmla="*/ 2 w 8"/>
                  <a:gd name="T7" fmla="*/ 0 h 19"/>
                  <a:gd name="T8" fmla="*/ 0 w 8"/>
                  <a:gd name="T9" fmla="*/ 16 h 19"/>
                  <a:gd name="T10" fmla="*/ 3 w 8"/>
                  <a:gd name="T11" fmla="*/ 19 h 19"/>
                  <a:gd name="T12" fmla="*/ 0 w 8"/>
                  <a:gd name="T13" fmla="*/ 16 h 19"/>
                  <a:gd name="T14" fmla="*/ 1 w 8"/>
                  <a:gd name="T15" fmla="*/ 18 h 19"/>
                  <a:gd name="T16" fmla="*/ 2 w 8"/>
                  <a:gd name="T17" fmla="*/ 19 h 19"/>
                  <a:gd name="T18" fmla="*/ 4 w 8"/>
                  <a:gd name="T19" fmla="*/ 19 h 19"/>
                  <a:gd name="T20" fmla="*/ 5 w 8"/>
                  <a:gd name="T21" fmla="*/ 17 h 19"/>
                  <a:gd name="T22" fmla="*/ 1 w 8"/>
                  <a:gd name="T23" fmla="*/ 15 h 1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"/>
                  <a:gd name="T37" fmla="*/ 0 h 19"/>
                  <a:gd name="T38" fmla="*/ 8 w 8"/>
                  <a:gd name="T39" fmla="*/ 19 h 1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" h="19">
                    <a:moveTo>
                      <a:pt x="1" y="15"/>
                    </a:moveTo>
                    <a:lnTo>
                      <a:pt x="5" y="17"/>
                    </a:lnTo>
                    <a:lnTo>
                      <a:pt x="8" y="1"/>
                    </a:lnTo>
                    <a:lnTo>
                      <a:pt x="2" y="0"/>
                    </a:lnTo>
                    <a:lnTo>
                      <a:pt x="0" y="16"/>
                    </a:lnTo>
                    <a:lnTo>
                      <a:pt x="3" y="19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2" y="19"/>
                    </a:lnTo>
                    <a:lnTo>
                      <a:pt x="4" y="19"/>
                    </a:lnTo>
                    <a:lnTo>
                      <a:pt x="5" y="17"/>
                    </a:lnTo>
                    <a:lnTo>
                      <a:pt x="1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11" name="Freeform 835"/>
              <p:cNvSpPr>
                <a:spLocks/>
              </p:cNvSpPr>
              <p:nvPr/>
            </p:nvSpPr>
            <p:spPr bwMode="auto">
              <a:xfrm>
                <a:off x="2568" y="1948"/>
                <a:ext cx="40" cy="22"/>
              </a:xfrm>
              <a:custGeom>
                <a:avLst/>
                <a:gdLst>
                  <a:gd name="T0" fmla="*/ 38 w 40"/>
                  <a:gd name="T1" fmla="*/ 6 h 22"/>
                  <a:gd name="T2" fmla="*/ 37 w 40"/>
                  <a:gd name="T3" fmla="*/ 0 h 22"/>
                  <a:gd name="T4" fmla="*/ 0 w 40"/>
                  <a:gd name="T5" fmla="*/ 18 h 22"/>
                  <a:gd name="T6" fmla="*/ 2 w 40"/>
                  <a:gd name="T7" fmla="*/ 22 h 22"/>
                  <a:gd name="T8" fmla="*/ 39 w 40"/>
                  <a:gd name="T9" fmla="*/ 5 h 22"/>
                  <a:gd name="T10" fmla="*/ 38 w 40"/>
                  <a:gd name="T11" fmla="*/ 0 h 22"/>
                  <a:gd name="T12" fmla="*/ 39 w 40"/>
                  <a:gd name="T13" fmla="*/ 5 h 22"/>
                  <a:gd name="T14" fmla="*/ 40 w 40"/>
                  <a:gd name="T15" fmla="*/ 4 h 22"/>
                  <a:gd name="T16" fmla="*/ 40 w 40"/>
                  <a:gd name="T17" fmla="*/ 2 h 22"/>
                  <a:gd name="T18" fmla="*/ 39 w 40"/>
                  <a:gd name="T19" fmla="*/ 0 h 22"/>
                  <a:gd name="T20" fmla="*/ 37 w 40"/>
                  <a:gd name="T21" fmla="*/ 0 h 22"/>
                  <a:gd name="T22" fmla="*/ 38 w 40"/>
                  <a:gd name="T23" fmla="*/ 6 h 2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0"/>
                  <a:gd name="T37" fmla="*/ 0 h 22"/>
                  <a:gd name="T38" fmla="*/ 40 w 40"/>
                  <a:gd name="T39" fmla="*/ 22 h 2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0" h="22">
                    <a:moveTo>
                      <a:pt x="38" y="6"/>
                    </a:moveTo>
                    <a:lnTo>
                      <a:pt x="37" y="0"/>
                    </a:lnTo>
                    <a:lnTo>
                      <a:pt x="0" y="18"/>
                    </a:lnTo>
                    <a:lnTo>
                      <a:pt x="2" y="22"/>
                    </a:lnTo>
                    <a:lnTo>
                      <a:pt x="39" y="5"/>
                    </a:lnTo>
                    <a:lnTo>
                      <a:pt x="38" y="0"/>
                    </a:lnTo>
                    <a:lnTo>
                      <a:pt x="39" y="5"/>
                    </a:lnTo>
                    <a:lnTo>
                      <a:pt x="40" y="4"/>
                    </a:lnTo>
                    <a:lnTo>
                      <a:pt x="40" y="2"/>
                    </a:lnTo>
                    <a:lnTo>
                      <a:pt x="39" y="0"/>
                    </a:lnTo>
                    <a:lnTo>
                      <a:pt x="37" y="0"/>
                    </a:lnTo>
                    <a:lnTo>
                      <a:pt x="38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12" name="Freeform 836"/>
              <p:cNvSpPr>
                <a:spLocks/>
              </p:cNvSpPr>
              <p:nvPr/>
            </p:nvSpPr>
            <p:spPr bwMode="auto">
              <a:xfrm>
                <a:off x="2577" y="1948"/>
                <a:ext cx="29" cy="9"/>
              </a:xfrm>
              <a:custGeom>
                <a:avLst/>
                <a:gdLst>
                  <a:gd name="T0" fmla="*/ 0 w 29"/>
                  <a:gd name="T1" fmla="*/ 6 h 9"/>
                  <a:gd name="T2" fmla="*/ 3 w 29"/>
                  <a:gd name="T3" fmla="*/ 9 h 9"/>
                  <a:gd name="T4" fmla="*/ 29 w 29"/>
                  <a:gd name="T5" fmla="*/ 6 h 9"/>
                  <a:gd name="T6" fmla="*/ 28 w 29"/>
                  <a:gd name="T7" fmla="*/ 0 h 9"/>
                  <a:gd name="T8" fmla="*/ 2 w 29"/>
                  <a:gd name="T9" fmla="*/ 4 h 9"/>
                  <a:gd name="T10" fmla="*/ 5 w 29"/>
                  <a:gd name="T11" fmla="*/ 7 h 9"/>
                  <a:gd name="T12" fmla="*/ 2 w 29"/>
                  <a:gd name="T13" fmla="*/ 4 h 9"/>
                  <a:gd name="T14" fmla="*/ 1 w 29"/>
                  <a:gd name="T15" fmla="*/ 5 h 9"/>
                  <a:gd name="T16" fmla="*/ 0 w 29"/>
                  <a:gd name="T17" fmla="*/ 7 h 9"/>
                  <a:gd name="T18" fmla="*/ 1 w 29"/>
                  <a:gd name="T19" fmla="*/ 8 h 9"/>
                  <a:gd name="T20" fmla="*/ 3 w 29"/>
                  <a:gd name="T21" fmla="*/ 9 h 9"/>
                  <a:gd name="T22" fmla="*/ 0 w 29"/>
                  <a:gd name="T23" fmla="*/ 6 h 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9"/>
                  <a:gd name="T37" fmla="*/ 0 h 9"/>
                  <a:gd name="T38" fmla="*/ 29 w 29"/>
                  <a:gd name="T39" fmla="*/ 9 h 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9" h="9">
                    <a:moveTo>
                      <a:pt x="0" y="6"/>
                    </a:moveTo>
                    <a:lnTo>
                      <a:pt x="3" y="9"/>
                    </a:lnTo>
                    <a:lnTo>
                      <a:pt x="29" y="6"/>
                    </a:lnTo>
                    <a:lnTo>
                      <a:pt x="28" y="0"/>
                    </a:lnTo>
                    <a:lnTo>
                      <a:pt x="2" y="4"/>
                    </a:lnTo>
                    <a:lnTo>
                      <a:pt x="5" y="7"/>
                    </a:lnTo>
                    <a:lnTo>
                      <a:pt x="2" y="4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1" y="8"/>
                    </a:lnTo>
                    <a:lnTo>
                      <a:pt x="3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13" name="Freeform 837"/>
              <p:cNvSpPr>
                <a:spLocks/>
              </p:cNvSpPr>
              <p:nvPr/>
            </p:nvSpPr>
            <p:spPr bwMode="auto">
              <a:xfrm>
                <a:off x="2577" y="1937"/>
                <a:ext cx="7" cy="18"/>
              </a:xfrm>
              <a:custGeom>
                <a:avLst/>
                <a:gdLst>
                  <a:gd name="T0" fmla="*/ 5 w 7"/>
                  <a:gd name="T1" fmla="*/ 4 h 18"/>
                  <a:gd name="T2" fmla="*/ 2 w 7"/>
                  <a:gd name="T3" fmla="*/ 2 h 18"/>
                  <a:gd name="T4" fmla="*/ 0 w 7"/>
                  <a:gd name="T5" fmla="*/ 17 h 18"/>
                  <a:gd name="T6" fmla="*/ 5 w 7"/>
                  <a:gd name="T7" fmla="*/ 18 h 18"/>
                  <a:gd name="T8" fmla="*/ 7 w 7"/>
                  <a:gd name="T9" fmla="*/ 3 h 18"/>
                  <a:gd name="T10" fmla="*/ 4 w 7"/>
                  <a:gd name="T11" fmla="*/ 0 h 18"/>
                  <a:gd name="T12" fmla="*/ 7 w 7"/>
                  <a:gd name="T13" fmla="*/ 3 h 18"/>
                  <a:gd name="T14" fmla="*/ 6 w 7"/>
                  <a:gd name="T15" fmla="*/ 1 h 18"/>
                  <a:gd name="T16" fmla="*/ 5 w 7"/>
                  <a:gd name="T17" fmla="*/ 0 h 18"/>
                  <a:gd name="T18" fmla="*/ 3 w 7"/>
                  <a:gd name="T19" fmla="*/ 1 h 18"/>
                  <a:gd name="T20" fmla="*/ 2 w 7"/>
                  <a:gd name="T21" fmla="*/ 2 h 18"/>
                  <a:gd name="T22" fmla="*/ 5 w 7"/>
                  <a:gd name="T23" fmla="*/ 4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"/>
                  <a:gd name="T37" fmla="*/ 0 h 18"/>
                  <a:gd name="T38" fmla="*/ 7 w 7"/>
                  <a:gd name="T39" fmla="*/ 18 h 1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" h="18">
                    <a:moveTo>
                      <a:pt x="5" y="4"/>
                    </a:moveTo>
                    <a:lnTo>
                      <a:pt x="2" y="2"/>
                    </a:lnTo>
                    <a:lnTo>
                      <a:pt x="0" y="17"/>
                    </a:lnTo>
                    <a:lnTo>
                      <a:pt x="5" y="18"/>
                    </a:lnTo>
                    <a:lnTo>
                      <a:pt x="7" y="3"/>
                    </a:lnTo>
                    <a:lnTo>
                      <a:pt x="4" y="0"/>
                    </a:lnTo>
                    <a:lnTo>
                      <a:pt x="7" y="3"/>
                    </a:lnTo>
                    <a:lnTo>
                      <a:pt x="6" y="1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2" y="2"/>
                    </a:ln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14" name="Freeform 838"/>
              <p:cNvSpPr>
                <a:spLocks/>
              </p:cNvSpPr>
              <p:nvPr/>
            </p:nvSpPr>
            <p:spPr bwMode="auto">
              <a:xfrm>
                <a:off x="2528" y="1937"/>
                <a:ext cx="54" cy="28"/>
              </a:xfrm>
              <a:custGeom>
                <a:avLst/>
                <a:gdLst>
                  <a:gd name="T0" fmla="*/ 2 w 54"/>
                  <a:gd name="T1" fmla="*/ 22 h 28"/>
                  <a:gd name="T2" fmla="*/ 3 w 54"/>
                  <a:gd name="T3" fmla="*/ 28 h 28"/>
                  <a:gd name="T4" fmla="*/ 54 w 54"/>
                  <a:gd name="T5" fmla="*/ 4 h 28"/>
                  <a:gd name="T6" fmla="*/ 52 w 54"/>
                  <a:gd name="T7" fmla="*/ 0 h 28"/>
                  <a:gd name="T8" fmla="*/ 1 w 54"/>
                  <a:gd name="T9" fmla="*/ 22 h 28"/>
                  <a:gd name="T10" fmla="*/ 3 w 54"/>
                  <a:gd name="T11" fmla="*/ 28 h 28"/>
                  <a:gd name="T12" fmla="*/ 1 w 54"/>
                  <a:gd name="T13" fmla="*/ 22 h 28"/>
                  <a:gd name="T14" fmla="*/ 0 w 54"/>
                  <a:gd name="T15" fmla="*/ 24 h 28"/>
                  <a:gd name="T16" fmla="*/ 0 w 54"/>
                  <a:gd name="T17" fmla="*/ 25 h 28"/>
                  <a:gd name="T18" fmla="*/ 1 w 54"/>
                  <a:gd name="T19" fmla="*/ 28 h 28"/>
                  <a:gd name="T20" fmla="*/ 3 w 54"/>
                  <a:gd name="T21" fmla="*/ 28 h 28"/>
                  <a:gd name="T22" fmla="*/ 2 w 54"/>
                  <a:gd name="T23" fmla="*/ 22 h 2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4"/>
                  <a:gd name="T37" fmla="*/ 0 h 28"/>
                  <a:gd name="T38" fmla="*/ 54 w 54"/>
                  <a:gd name="T39" fmla="*/ 28 h 2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4" h="28">
                    <a:moveTo>
                      <a:pt x="2" y="22"/>
                    </a:moveTo>
                    <a:lnTo>
                      <a:pt x="3" y="28"/>
                    </a:lnTo>
                    <a:lnTo>
                      <a:pt x="54" y="4"/>
                    </a:lnTo>
                    <a:lnTo>
                      <a:pt x="52" y="0"/>
                    </a:lnTo>
                    <a:lnTo>
                      <a:pt x="1" y="22"/>
                    </a:lnTo>
                    <a:lnTo>
                      <a:pt x="3" y="28"/>
                    </a:lnTo>
                    <a:lnTo>
                      <a:pt x="1" y="22"/>
                    </a:lnTo>
                    <a:lnTo>
                      <a:pt x="0" y="24"/>
                    </a:lnTo>
                    <a:lnTo>
                      <a:pt x="0" y="25"/>
                    </a:lnTo>
                    <a:lnTo>
                      <a:pt x="1" y="28"/>
                    </a:lnTo>
                    <a:lnTo>
                      <a:pt x="3" y="28"/>
                    </a:lnTo>
                    <a:lnTo>
                      <a:pt x="2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15" name="Freeform 839"/>
              <p:cNvSpPr>
                <a:spLocks/>
              </p:cNvSpPr>
              <p:nvPr/>
            </p:nvSpPr>
            <p:spPr bwMode="auto">
              <a:xfrm>
                <a:off x="2533" y="1940"/>
                <a:ext cx="70" cy="27"/>
              </a:xfrm>
              <a:custGeom>
                <a:avLst/>
                <a:gdLst>
                  <a:gd name="T0" fmla="*/ 0 w 70"/>
                  <a:gd name="T1" fmla="*/ 20 h 27"/>
                  <a:gd name="T2" fmla="*/ 48 w 70"/>
                  <a:gd name="T3" fmla="*/ 0 h 27"/>
                  <a:gd name="T4" fmla="*/ 46 w 70"/>
                  <a:gd name="T5" fmla="*/ 15 h 27"/>
                  <a:gd name="T6" fmla="*/ 70 w 70"/>
                  <a:gd name="T7" fmla="*/ 12 h 27"/>
                  <a:gd name="T8" fmla="*/ 36 w 70"/>
                  <a:gd name="T9" fmla="*/ 27 h 27"/>
                  <a:gd name="T10" fmla="*/ 38 w 70"/>
                  <a:gd name="T11" fmla="*/ 12 h 27"/>
                  <a:gd name="T12" fmla="*/ 0 w 70"/>
                  <a:gd name="T13" fmla="*/ 2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0"/>
                  <a:gd name="T22" fmla="*/ 0 h 27"/>
                  <a:gd name="T23" fmla="*/ 70 w 70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0" h="27">
                    <a:moveTo>
                      <a:pt x="0" y="20"/>
                    </a:moveTo>
                    <a:lnTo>
                      <a:pt x="48" y="0"/>
                    </a:lnTo>
                    <a:lnTo>
                      <a:pt x="46" y="15"/>
                    </a:lnTo>
                    <a:lnTo>
                      <a:pt x="70" y="12"/>
                    </a:lnTo>
                    <a:lnTo>
                      <a:pt x="36" y="27"/>
                    </a:lnTo>
                    <a:lnTo>
                      <a:pt x="38" y="12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19191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16" name="Freeform 840"/>
              <p:cNvSpPr>
                <a:spLocks/>
              </p:cNvSpPr>
              <p:nvPr/>
            </p:nvSpPr>
            <p:spPr bwMode="auto">
              <a:xfrm>
                <a:off x="2536" y="1940"/>
                <a:ext cx="65" cy="27"/>
              </a:xfrm>
              <a:custGeom>
                <a:avLst/>
                <a:gdLst>
                  <a:gd name="T0" fmla="*/ 0 w 65"/>
                  <a:gd name="T1" fmla="*/ 20 h 27"/>
                  <a:gd name="T2" fmla="*/ 44 w 65"/>
                  <a:gd name="T3" fmla="*/ 0 h 27"/>
                  <a:gd name="T4" fmla="*/ 42 w 65"/>
                  <a:gd name="T5" fmla="*/ 16 h 27"/>
                  <a:gd name="T6" fmla="*/ 65 w 65"/>
                  <a:gd name="T7" fmla="*/ 13 h 27"/>
                  <a:gd name="T8" fmla="*/ 33 w 65"/>
                  <a:gd name="T9" fmla="*/ 27 h 27"/>
                  <a:gd name="T10" fmla="*/ 35 w 65"/>
                  <a:gd name="T11" fmla="*/ 11 h 27"/>
                  <a:gd name="T12" fmla="*/ 0 w 65"/>
                  <a:gd name="T13" fmla="*/ 2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5"/>
                  <a:gd name="T22" fmla="*/ 0 h 27"/>
                  <a:gd name="T23" fmla="*/ 65 w 65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5" h="27">
                    <a:moveTo>
                      <a:pt x="0" y="20"/>
                    </a:moveTo>
                    <a:lnTo>
                      <a:pt x="44" y="0"/>
                    </a:lnTo>
                    <a:lnTo>
                      <a:pt x="42" y="16"/>
                    </a:lnTo>
                    <a:lnTo>
                      <a:pt x="65" y="13"/>
                    </a:lnTo>
                    <a:lnTo>
                      <a:pt x="33" y="27"/>
                    </a:lnTo>
                    <a:lnTo>
                      <a:pt x="35" y="11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17" name="Freeform 841"/>
              <p:cNvSpPr>
                <a:spLocks/>
              </p:cNvSpPr>
              <p:nvPr/>
            </p:nvSpPr>
            <p:spPr bwMode="auto">
              <a:xfrm>
                <a:off x="2540" y="1940"/>
                <a:ext cx="59" cy="26"/>
              </a:xfrm>
              <a:custGeom>
                <a:avLst/>
                <a:gdLst>
                  <a:gd name="T0" fmla="*/ 0 w 59"/>
                  <a:gd name="T1" fmla="*/ 18 h 26"/>
                  <a:gd name="T2" fmla="*/ 40 w 59"/>
                  <a:gd name="T3" fmla="*/ 0 h 26"/>
                  <a:gd name="T4" fmla="*/ 38 w 59"/>
                  <a:gd name="T5" fmla="*/ 16 h 26"/>
                  <a:gd name="T6" fmla="*/ 59 w 59"/>
                  <a:gd name="T7" fmla="*/ 13 h 26"/>
                  <a:gd name="T8" fmla="*/ 30 w 59"/>
                  <a:gd name="T9" fmla="*/ 26 h 26"/>
                  <a:gd name="T10" fmla="*/ 33 w 59"/>
                  <a:gd name="T11" fmla="*/ 10 h 26"/>
                  <a:gd name="T12" fmla="*/ 0 w 59"/>
                  <a:gd name="T13" fmla="*/ 18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9"/>
                  <a:gd name="T22" fmla="*/ 0 h 26"/>
                  <a:gd name="T23" fmla="*/ 59 w 59"/>
                  <a:gd name="T24" fmla="*/ 26 h 2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9" h="26">
                    <a:moveTo>
                      <a:pt x="0" y="18"/>
                    </a:moveTo>
                    <a:lnTo>
                      <a:pt x="40" y="0"/>
                    </a:lnTo>
                    <a:lnTo>
                      <a:pt x="38" y="16"/>
                    </a:lnTo>
                    <a:lnTo>
                      <a:pt x="59" y="13"/>
                    </a:lnTo>
                    <a:lnTo>
                      <a:pt x="30" y="26"/>
                    </a:lnTo>
                    <a:lnTo>
                      <a:pt x="33" y="10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18" name="Freeform 842"/>
              <p:cNvSpPr>
                <a:spLocks/>
              </p:cNvSpPr>
              <p:nvPr/>
            </p:nvSpPr>
            <p:spPr bwMode="auto">
              <a:xfrm>
                <a:off x="2543" y="1941"/>
                <a:ext cx="54" cy="25"/>
              </a:xfrm>
              <a:custGeom>
                <a:avLst/>
                <a:gdLst>
                  <a:gd name="T0" fmla="*/ 0 w 54"/>
                  <a:gd name="T1" fmla="*/ 16 h 25"/>
                  <a:gd name="T2" fmla="*/ 37 w 54"/>
                  <a:gd name="T3" fmla="*/ 0 h 25"/>
                  <a:gd name="T4" fmla="*/ 34 w 54"/>
                  <a:gd name="T5" fmla="*/ 16 h 25"/>
                  <a:gd name="T6" fmla="*/ 54 w 54"/>
                  <a:gd name="T7" fmla="*/ 12 h 25"/>
                  <a:gd name="T8" fmla="*/ 27 w 54"/>
                  <a:gd name="T9" fmla="*/ 25 h 25"/>
                  <a:gd name="T10" fmla="*/ 30 w 54"/>
                  <a:gd name="T11" fmla="*/ 9 h 25"/>
                  <a:gd name="T12" fmla="*/ 0 w 54"/>
                  <a:gd name="T13" fmla="*/ 16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5"/>
                  <a:gd name="T23" fmla="*/ 54 w 54"/>
                  <a:gd name="T24" fmla="*/ 25 h 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5">
                    <a:moveTo>
                      <a:pt x="0" y="16"/>
                    </a:moveTo>
                    <a:lnTo>
                      <a:pt x="37" y="0"/>
                    </a:lnTo>
                    <a:lnTo>
                      <a:pt x="34" y="16"/>
                    </a:lnTo>
                    <a:lnTo>
                      <a:pt x="54" y="12"/>
                    </a:lnTo>
                    <a:lnTo>
                      <a:pt x="27" y="25"/>
                    </a:lnTo>
                    <a:lnTo>
                      <a:pt x="30" y="9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19" name="Freeform 843"/>
              <p:cNvSpPr>
                <a:spLocks/>
              </p:cNvSpPr>
              <p:nvPr/>
            </p:nvSpPr>
            <p:spPr bwMode="auto">
              <a:xfrm>
                <a:off x="2547" y="1941"/>
                <a:ext cx="48" cy="25"/>
              </a:xfrm>
              <a:custGeom>
                <a:avLst/>
                <a:gdLst>
                  <a:gd name="T0" fmla="*/ 0 w 48"/>
                  <a:gd name="T1" fmla="*/ 16 h 25"/>
                  <a:gd name="T2" fmla="*/ 32 w 48"/>
                  <a:gd name="T3" fmla="*/ 0 h 25"/>
                  <a:gd name="T4" fmla="*/ 30 w 48"/>
                  <a:gd name="T5" fmla="*/ 17 h 25"/>
                  <a:gd name="T6" fmla="*/ 48 w 48"/>
                  <a:gd name="T7" fmla="*/ 13 h 25"/>
                  <a:gd name="T8" fmla="*/ 24 w 48"/>
                  <a:gd name="T9" fmla="*/ 25 h 25"/>
                  <a:gd name="T10" fmla="*/ 27 w 48"/>
                  <a:gd name="T11" fmla="*/ 9 h 25"/>
                  <a:gd name="T12" fmla="*/ 0 w 48"/>
                  <a:gd name="T13" fmla="*/ 16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"/>
                  <a:gd name="T22" fmla="*/ 0 h 25"/>
                  <a:gd name="T23" fmla="*/ 48 w 48"/>
                  <a:gd name="T24" fmla="*/ 25 h 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" h="25">
                    <a:moveTo>
                      <a:pt x="0" y="16"/>
                    </a:moveTo>
                    <a:lnTo>
                      <a:pt x="32" y="0"/>
                    </a:lnTo>
                    <a:lnTo>
                      <a:pt x="30" y="17"/>
                    </a:lnTo>
                    <a:lnTo>
                      <a:pt x="48" y="13"/>
                    </a:lnTo>
                    <a:lnTo>
                      <a:pt x="24" y="25"/>
                    </a:lnTo>
                    <a:lnTo>
                      <a:pt x="27" y="9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20" name="Freeform 844"/>
              <p:cNvSpPr>
                <a:spLocks/>
              </p:cNvSpPr>
              <p:nvPr/>
            </p:nvSpPr>
            <p:spPr bwMode="auto">
              <a:xfrm>
                <a:off x="2550" y="1942"/>
                <a:ext cx="43" cy="23"/>
              </a:xfrm>
              <a:custGeom>
                <a:avLst/>
                <a:gdLst>
                  <a:gd name="T0" fmla="*/ 0 w 43"/>
                  <a:gd name="T1" fmla="*/ 13 h 23"/>
                  <a:gd name="T2" fmla="*/ 29 w 43"/>
                  <a:gd name="T3" fmla="*/ 0 h 23"/>
                  <a:gd name="T4" fmla="*/ 27 w 43"/>
                  <a:gd name="T5" fmla="*/ 15 h 23"/>
                  <a:gd name="T6" fmla="*/ 43 w 43"/>
                  <a:gd name="T7" fmla="*/ 13 h 23"/>
                  <a:gd name="T8" fmla="*/ 21 w 43"/>
                  <a:gd name="T9" fmla="*/ 23 h 23"/>
                  <a:gd name="T10" fmla="*/ 24 w 43"/>
                  <a:gd name="T11" fmla="*/ 6 h 23"/>
                  <a:gd name="T12" fmla="*/ 0 w 43"/>
                  <a:gd name="T13" fmla="*/ 13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23"/>
                  <a:gd name="T23" fmla="*/ 43 w 43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23">
                    <a:moveTo>
                      <a:pt x="0" y="13"/>
                    </a:moveTo>
                    <a:lnTo>
                      <a:pt x="29" y="0"/>
                    </a:lnTo>
                    <a:lnTo>
                      <a:pt x="27" y="15"/>
                    </a:lnTo>
                    <a:lnTo>
                      <a:pt x="43" y="13"/>
                    </a:lnTo>
                    <a:lnTo>
                      <a:pt x="21" y="23"/>
                    </a:lnTo>
                    <a:lnTo>
                      <a:pt x="24" y="6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21" name="Freeform 845"/>
              <p:cNvSpPr>
                <a:spLocks/>
              </p:cNvSpPr>
              <p:nvPr/>
            </p:nvSpPr>
            <p:spPr bwMode="auto">
              <a:xfrm>
                <a:off x="2553" y="1942"/>
                <a:ext cx="38" cy="21"/>
              </a:xfrm>
              <a:custGeom>
                <a:avLst/>
                <a:gdLst>
                  <a:gd name="T0" fmla="*/ 0 w 38"/>
                  <a:gd name="T1" fmla="*/ 12 h 21"/>
                  <a:gd name="T2" fmla="*/ 26 w 38"/>
                  <a:gd name="T3" fmla="*/ 0 h 21"/>
                  <a:gd name="T4" fmla="*/ 24 w 38"/>
                  <a:gd name="T5" fmla="*/ 15 h 21"/>
                  <a:gd name="T6" fmla="*/ 38 w 38"/>
                  <a:gd name="T7" fmla="*/ 13 h 21"/>
                  <a:gd name="T8" fmla="*/ 18 w 38"/>
                  <a:gd name="T9" fmla="*/ 21 h 21"/>
                  <a:gd name="T10" fmla="*/ 21 w 38"/>
                  <a:gd name="T11" fmla="*/ 6 h 21"/>
                  <a:gd name="T12" fmla="*/ 0 w 38"/>
                  <a:gd name="T13" fmla="*/ 12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"/>
                  <a:gd name="T22" fmla="*/ 0 h 21"/>
                  <a:gd name="T23" fmla="*/ 38 w 38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" h="21">
                    <a:moveTo>
                      <a:pt x="0" y="12"/>
                    </a:moveTo>
                    <a:lnTo>
                      <a:pt x="26" y="0"/>
                    </a:lnTo>
                    <a:lnTo>
                      <a:pt x="24" y="15"/>
                    </a:lnTo>
                    <a:lnTo>
                      <a:pt x="38" y="13"/>
                    </a:lnTo>
                    <a:lnTo>
                      <a:pt x="18" y="21"/>
                    </a:lnTo>
                    <a:lnTo>
                      <a:pt x="21" y="6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22" name="Freeform 846"/>
              <p:cNvSpPr>
                <a:spLocks/>
              </p:cNvSpPr>
              <p:nvPr/>
            </p:nvSpPr>
            <p:spPr bwMode="auto">
              <a:xfrm>
                <a:off x="2556" y="1942"/>
                <a:ext cx="34" cy="21"/>
              </a:xfrm>
              <a:custGeom>
                <a:avLst/>
                <a:gdLst>
                  <a:gd name="T0" fmla="*/ 0 w 34"/>
                  <a:gd name="T1" fmla="*/ 10 h 21"/>
                  <a:gd name="T2" fmla="*/ 23 w 34"/>
                  <a:gd name="T3" fmla="*/ 0 h 21"/>
                  <a:gd name="T4" fmla="*/ 21 w 34"/>
                  <a:gd name="T5" fmla="*/ 16 h 21"/>
                  <a:gd name="T6" fmla="*/ 34 w 34"/>
                  <a:gd name="T7" fmla="*/ 14 h 21"/>
                  <a:gd name="T8" fmla="*/ 17 w 34"/>
                  <a:gd name="T9" fmla="*/ 21 h 21"/>
                  <a:gd name="T10" fmla="*/ 19 w 34"/>
                  <a:gd name="T11" fmla="*/ 5 h 21"/>
                  <a:gd name="T12" fmla="*/ 0 w 34"/>
                  <a:gd name="T13" fmla="*/ 10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"/>
                  <a:gd name="T22" fmla="*/ 0 h 21"/>
                  <a:gd name="T23" fmla="*/ 34 w 34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" h="21">
                    <a:moveTo>
                      <a:pt x="0" y="10"/>
                    </a:moveTo>
                    <a:lnTo>
                      <a:pt x="23" y="0"/>
                    </a:lnTo>
                    <a:lnTo>
                      <a:pt x="21" y="16"/>
                    </a:lnTo>
                    <a:lnTo>
                      <a:pt x="34" y="14"/>
                    </a:lnTo>
                    <a:lnTo>
                      <a:pt x="17" y="21"/>
                    </a:lnTo>
                    <a:lnTo>
                      <a:pt x="19" y="5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23" name="Freeform 847"/>
              <p:cNvSpPr>
                <a:spLocks/>
              </p:cNvSpPr>
              <p:nvPr/>
            </p:nvSpPr>
            <p:spPr bwMode="auto">
              <a:xfrm>
                <a:off x="2560" y="1943"/>
                <a:ext cx="27" cy="20"/>
              </a:xfrm>
              <a:custGeom>
                <a:avLst/>
                <a:gdLst>
                  <a:gd name="T0" fmla="*/ 0 w 27"/>
                  <a:gd name="T1" fmla="*/ 9 h 20"/>
                  <a:gd name="T2" fmla="*/ 18 w 27"/>
                  <a:gd name="T3" fmla="*/ 0 h 20"/>
                  <a:gd name="T4" fmla="*/ 16 w 27"/>
                  <a:gd name="T5" fmla="*/ 16 h 20"/>
                  <a:gd name="T6" fmla="*/ 27 w 27"/>
                  <a:gd name="T7" fmla="*/ 14 h 20"/>
                  <a:gd name="T8" fmla="*/ 13 w 27"/>
                  <a:gd name="T9" fmla="*/ 20 h 20"/>
                  <a:gd name="T10" fmla="*/ 16 w 27"/>
                  <a:gd name="T11" fmla="*/ 4 h 20"/>
                  <a:gd name="T12" fmla="*/ 0 w 27"/>
                  <a:gd name="T13" fmla="*/ 9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7"/>
                  <a:gd name="T22" fmla="*/ 0 h 20"/>
                  <a:gd name="T23" fmla="*/ 27 w 27"/>
                  <a:gd name="T24" fmla="*/ 20 h 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7" h="20">
                    <a:moveTo>
                      <a:pt x="0" y="9"/>
                    </a:moveTo>
                    <a:lnTo>
                      <a:pt x="18" y="0"/>
                    </a:lnTo>
                    <a:lnTo>
                      <a:pt x="16" y="16"/>
                    </a:lnTo>
                    <a:lnTo>
                      <a:pt x="27" y="14"/>
                    </a:lnTo>
                    <a:lnTo>
                      <a:pt x="13" y="20"/>
                    </a:lnTo>
                    <a:lnTo>
                      <a:pt x="16" y="4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24" name="Freeform 848"/>
              <p:cNvSpPr>
                <a:spLocks/>
              </p:cNvSpPr>
              <p:nvPr/>
            </p:nvSpPr>
            <p:spPr bwMode="auto">
              <a:xfrm>
                <a:off x="2564" y="1943"/>
                <a:ext cx="21" cy="19"/>
              </a:xfrm>
              <a:custGeom>
                <a:avLst/>
                <a:gdLst>
                  <a:gd name="T0" fmla="*/ 0 w 21"/>
                  <a:gd name="T1" fmla="*/ 7 h 19"/>
                  <a:gd name="T2" fmla="*/ 12 w 21"/>
                  <a:gd name="T3" fmla="*/ 3 h 19"/>
                  <a:gd name="T4" fmla="*/ 10 w 21"/>
                  <a:gd name="T5" fmla="*/ 19 h 19"/>
                  <a:gd name="T6" fmla="*/ 21 w 21"/>
                  <a:gd name="T7" fmla="*/ 14 h 19"/>
                  <a:gd name="T8" fmla="*/ 12 w 21"/>
                  <a:gd name="T9" fmla="*/ 16 h 19"/>
                  <a:gd name="T10" fmla="*/ 14 w 21"/>
                  <a:gd name="T11" fmla="*/ 0 h 19"/>
                  <a:gd name="T12" fmla="*/ 0 w 21"/>
                  <a:gd name="T13" fmla="*/ 7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19"/>
                  <a:gd name="T23" fmla="*/ 21 w 21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19">
                    <a:moveTo>
                      <a:pt x="0" y="7"/>
                    </a:moveTo>
                    <a:lnTo>
                      <a:pt x="12" y="3"/>
                    </a:lnTo>
                    <a:lnTo>
                      <a:pt x="10" y="19"/>
                    </a:lnTo>
                    <a:lnTo>
                      <a:pt x="21" y="14"/>
                    </a:lnTo>
                    <a:lnTo>
                      <a:pt x="12" y="16"/>
                    </a:lnTo>
                    <a:lnTo>
                      <a:pt x="14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25" name="Freeform 849"/>
              <p:cNvSpPr>
                <a:spLocks/>
              </p:cNvSpPr>
              <p:nvPr/>
            </p:nvSpPr>
            <p:spPr bwMode="auto">
              <a:xfrm>
                <a:off x="2752" y="1830"/>
                <a:ext cx="45" cy="62"/>
              </a:xfrm>
              <a:custGeom>
                <a:avLst/>
                <a:gdLst>
                  <a:gd name="T0" fmla="*/ 45 w 45"/>
                  <a:gd name="T1" fmla="*/ 0 h 62"/>
                  <a:gd name="T2" fmla="*/ 24 w 45"/>
                  <a:gd name="T3" fmla="*/ 37 h 62"/>
                  <a:gd name="T4" fmla="*/ 14 w 45"/>
                  <a:gd name="T5" fmla="*/ 24 h 62"/>
                  <a:gd name="T6" fmla="*/ 0 w 45"/>
                  <a:gd name="T7" fmla="*/ 62 h 62"/>
                  <a:gd name="T8" fmla="*/ 16 w 45"/>
                  <a:gd name="T9" fmla="*/ 40 h 62"/>
                  <a:gd name="T10" fmla="*/ 26 w 45"/>
                  <a:gd name="T11" fmla="*/ 52 h 62"/>
                  <a:gd name="T12" fmla="*/ 45 w 45"/>
                  <a:gd name="T13" fmla="*/ 0 h 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5"/>
                  <a:gd name="T22" fmla="*/ 0 h 62"/>
                  <a:gd name="T23" fmla="*/ 45 w 45"/>
                  <a:gd name="T24" fmla="*/ 62 h 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5" h="62">
                    <a:moveTo>
                      <a:pt x="45" y="0"/>
                    </a:moveTo>
                    <a:lnTo>
                      <a:pt x="24" y="37"/>
                    </a:lnTo>
                    <a:lnTo>
                      <a:pt x="14" y="24"/>
                    </a:lnTo>
                    <a:lnTo>
                      <a:pt x="0" y="62"/>
                    </a:lnTo>
                    <a:lnTo>
                      <a:pt x="16" y="40"/>
                    </a:lnTo>
                    <a:lnTo>
                      <a:pt x="26" y="5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26" name="Freeform 850"/>
              <p:cNvSpPr>
                <a:spLocks/>
              </p:cNvSpPr>
              <p:nvPr/>
            </p:nvSpPr>
            <p:spPr bwMode="auto">
              <a:xfrm>
                <a:off x="2773" y="1829"/>
                <a:ext cx="26" cy="40"/>
              </a:xfrm>
              <a:custGeom>
                <a:avLst/>
                <a:gdLst>
                  <a:gd name="T0" fmla="*/ 1 w 26"/>
                  <a:gd name="T1" fmla="*/ 39 h 40"/>
                  <a:gd name="T2" fmla="*/ 5 w 26"/>
                  <a:gd name="T3" fmla="*/ 39 h 40"/>
                  <a:gd name="T4" fmla="*/ 26 w 26"/>
                  <a:gd name="T5" fmla="*/ 2 h 40"/>
                  <a:gd name="T6" fmla="*/ 22 w 26"/>
                  <a:gd name="T7" fmla="*/ 0 h 40"/>
                  <a:gd name="T8" fmla="*/ 0 w 26"/>
                  <a:gd name="T9" fmla="*/ 36 h 40"/>
                  <a:gd name="T10" fmla="*/ 5 w 26"/>
                  <a:gd name="T11" fmla="*/ 36 h 40"/>
                  <a:gd name="T12" fmla="*/ 0 w 26"/>
                  <a:gd name="T13" fmla="*/ 36 h 40"/>
                  <a:gd name="T14" fmla="*/ 0 w 26"/>
                  <a:gd name="T15" fmla="*/ 38 h 40"/>
                  <a:gd name="T16" fmla="*/ 1 w 26"/>
                  <a:gd name="T17" fmla="*/ 40 h 40"/>
                  <a:gd name="T18" fmla="*/ 4 w 26"/>
                  <a:gd name="T19" fmla="*/ 40 h 40"/>
                  <a:gd name="T20" fmla="*/ 5 w 26"/>
                  <a:gd name="T21" fmla="*/ 39 h 40"/>
                  <a:gd name="T22" fmla="*/ 1 w 26"/>
                  <a:gd name="T23" fmla="*/ 39 h 4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6"/>
                  <a:gd name="T37" fmla="*/ 0 h 40"/>
                  <a:gd name="T38" fmla="*/ 26 w 26"/>
                  <a:gd name="T39" fmla="*/ 40 h 4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6" h="40">
                    <a:moveTo>
                      <a:pt x="1" y="39"/>
                    </a:moveTo>
                    <a:lnTo>
                      <a:pt x="5" y="39"/>
                    </a:lnTo>
                    <a:lnTo>
                      <a:pt x="26" y="2"/>
                    </a:lnTo>
                    <a:lnTo>
                      <a:pt x="22" y="0"/>
                    </a:lnTo>
                    <a:lnTo>
                      <a:pt x="0" y="36"/>
                    </a:lnTo>
                    <a:lnTo>
                      <a:pt x="5" y="36"/>
                    </a:lnTo>
                    <a:lnTo>
                      <a:pt x="0" y="36"/>
                    </a:lnTo>
                    <a:lnTo>
                      <a:pt x="0" y="38"/>
                    </a:lnTo>
                    <a:lnTo>
                      <a:pt x="1" y="40"/>
                    </a:lnTo>
                    <a:lnTo>
                      <a:pt x="4" y="40"/>
                    </a:lnTo>
                    <a:lnTo>
                      <a:pt x="5" y="39"/>
                    </a:lnTo>
                    <a:lnTo>
                      <a:pt x="1" y="3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27" name="Freeform 851"/>
              <p:cNvSpPr>
                <a:spLocks/>
              </p:cNvSpPr>
              <p:nvPr/>
            </p:nvSpPr>
            <p:spPr bwMode="auto">
              <a:xfrm>
                <a:off x="2764" y="1851"/>
                <a:ext cx="14" cy="17"/>
              </a:xfrm>
              <a:custGeom>
                <a:avLst/>
                <a:gdLst>
                  <a:gd name="T0" fmla="*/ 4 w 14"/>
                  <a:gd name="T1" fmla="*/ 3 h 17"/>
                  <a:gd name="T2" fmla="*/ 0 w 14"/>
                  <a:gd name="T3" fmla="*/ 5 h 17"/>
                  <a:gd name="T4" fmla="*/ 9 w 14"/>
                  <a:gd name="T5" fmla="*/ 17 h 17"/>
                  <a:gd name="T6" fmla="*/ 14 w 14"/>
                  <a:gd name="T7" fmla="*/ 14 h 17"/>
                  <a:gd name="T8" fmla="*/ 4 w 14"/>
                  <a:gd name="T9" fmla="*/ 1 h 17"/>
                  <a:gd name="T10" fmla="*/ 0 w 14"/>
                  <a:gd name="T11" fmla="*/ 2 h 17"/>
                  <a:gd name="T12" fmla="*/ 4 w 14"/>
                  <a:gd name="T13" fmla="*/ 1 h 17"/>
                  <a:gd name="T14" fmla="*/ 2 w 14"/>
                  <a:gd name="T15" fmla="*/ 0 h 17"/>
                  <a:gd name="T16" fmla="*/ 1 w 14"/>
                  <a:gd name="T17" fmla="*/ 1 h 17"/>
                  <a:gd name="T18" fmla="*/ 0 w 14"/>
                  <a:gd name="T19" fmla="*/ 2 h 17"/>
                  <a:gd name="T20" fmla="*/ 0 w 14"/>
                  <a:gd name="T21" fmla="*/ 5 h 17"/>
                  <a:gd name="T22" fmla="*/ 4 w 14"/>
                  <a:gd name="T23" fmla="*/ 3 h 1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4"/>
                  <a:gd name="T37" fmla="*/ 0 h 17"/>
                  <a:gd name="T38" fmla="*/ 14 w 14"/>
                  <a:gd name="T39" fmla="*/ 17 h 1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4" h="17">
                    <a:moveTo>
                      <a:pt x="4" y="3"/>
                    </a:moveTo>
                    <a:lnTo>
                      <a:pt x="0" y="5"/>
                    </a:lnTo>
                    <a:lnTo>
                      <a:pt x="9" y="17"/>
                    </a:lnTo>
                    <a:lnTo>
                      <a:pt x="14" y="14"/>
                    </a:lnTo>
                    <a:lnTo>
                      <a:pt x="4" y="1"/>
                    </a:lnTo>
                    <a:lnTo>
                      <a:pt x="0" y="2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28" name="Freeform 852"/>
              <p:cNvSpPr>
                <a:spLocks/>
              </p:cNvSpPr>
              <p:nvPr/>
            </p:nvSpPr>
            <p:spPr bwMode="auto">
              <a:xfrm>
                <a:off x="2750" y="1853"/>
                <a:ext cx="18" cy="41"/>
              </a:xfrm>
              <a:custGeom>
                <a:avLst/>
                <a:gdLst>
                  <a:gd name="T0" fmla="*/ 0 w 18"/>
                  <a:gd name="T1" fmla="*/ 37 h 41"/>
                  <a:gd name="T2" fmla="*/ 4 w 18"/>
                  <a:gd name="T3" fmla="*/ 39 h 41"/>
                  <a:gd name="T4" fmla="*/ 18 w 18"/>
                  <a:gd name="T5" fmla="*/ 1 h 41"/>
                  <a:gd name="T6" fmla="*/ 14 w 18"/>
                  <a:gd name="T7" fmla="*/ 0 h 41"/>
                  <a:gd name="T8" fmla="*/ 0 w 18"/>
                  <a:gd name="T9" fmla="*/ 38 h 41"/>
                  <a:gd name="T10" fmla="*/ 4 w 18"/>
                  <a:gd name="T11" fmla="*/ 40 h 41"/>
                  <a:gd name="T12" fmla="*/ 0 w 18"/>
                  <a:gd name="T13" fmla="*/ 38 h 41"/>
                  <a:gd name="T14" fmla="*/ 0 w 18"/>
                  <a:gd name="T15" fmla="*/ 40 h 41"/>
                  <a:gd name="T16" fmla="*/ 2 w 18"/>
                  <a:gd name="T17" fmla="*/ 41 h 41"/>
                  <a:gd name="T18" fmla="*/ 3 w 18"/>
                  <a:gd name="T19" fmla="*/ 41 h 41"/>
                  <a:gd name="T20" fmla="*/ 4 w 18"/>
                  <a:gd name="T21" fmla="*/ 39 h 41"/>
                  <a:gd name="T22" fmla="*/ 0 w 18"/>
                  <a:gd name="T23" fmla="*/ 37 h 4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41"/>
                  <a:gd name="T38" fmla="*/ 18 w 18"/>
                  <a:gd name="T39" fmla="*/ 41 h 4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41">
                    <a:moveTo>
                      <a:pt x="0" y="37"/>
                    </a:moveTo>
                    <a:lnTo>
                      <a:pt x="4" y="39"/>
                    </a:lnTo>
                    <a:lnTo>
                      <a:pt x="18" y="1"/>
                    </a:lnTo>
                    <a:lnTo>
                      <a:pt x="14" y="0"/>
                    </a:lnTo>
                    <a:lnTo>
                      <a:pt x="0" y="38"/>
                    </a:lnTo>
                    <a:lnTo>
                      <a:pt x="4" y="40"/>
                    </a:lnTo>
                    <a:lnTo>
                      <a:pt x="0" y="38"/>
                    </a:lnTo>
                    <a:lnTo>
                      <a:pt x="0" y="40"/>
                    </a:lnTo>
                    <a:lnTo>
                      <a:pt x="2" y="41"/>
                    </a:lnTo>
                    <a:lnTo>
                      <a:pt x="3" y="41"/>
                    </a:lnTo>
                    <a:lnTo>
                      <a:pt x="4" y="39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29" name="Freeform 853"/>
              <p:cNvSpPr>
                <a:spLocks/>
              </p:cNvSpPr>
              <p:nvPr/>
            </p:nvSpPr>
            <p:spPr bwMode="auto">
              <a:xfrm>
                <a:off x="2750" y="1867"/>
                <a:ext cx="21" cy="26"/>
              </a:xfrm>
              <a:custGeom>
                <a:avLst/>
                <a:gdLst>
                  <a:gd name="T0" fmla="*/ 20 w 21"/>
                  <a:gd name="T1" fmla="*/ 1 h 26"/>
                  <a:gd name="T2" fmla="*/ 17 w 21"/>
                  <a:gd name="T3" fmla="*/ 1 h 26"/>
                  <a:gd name="T4" fmla="*/ 0 w 21"/>
                  <a:gd name="T5" fmla="*/ 23 h 26"/>
                  <a:gd name="T6" fmla="*/ 4 w 21"/>
                  <a:gd name="T7" fmla="*/ 26 h 26"/>
                  <a:gd name="T8" fmla="*/ 20 w 21"/>
                  <a:gd name="T9" fmla="*/ 5 h 26"/>
                  <a:gd name="T10" fmla="*/ 17 w 21"/>
                  <a:gd name="T11" fmla="*/ 5 h 26"/>
                  <a:gd name="T12" fmla="*/ 20 w 21"/>
                  <a:gd name="T13" fmla="*/ 5 h 26"/>
                  <a:gd name="T14" fmla="*/ 21 w 21"/>
                  <a:gd name="T15" fmla="*/ 2 h 26"/>
                  <a:gd name="T16" fmla="*/ 20 w 21"/>
                  <a:gd name="T17" fmla="*/ 1 h 26"/>
                  <a:gd name="T18" fmla="*/ 18 w 21"/>
                  <a:gd name="T19" fmla="*/ 0 h 26"/>
                  <a:gd name="T20" fmla="*/ 17 w 21"/>
                  <a:gd name="T21" fmla="*/ 1 h 26"/>
                  <a:gd name="T22" fmla="*/ 20 w 21"/>
                  <a:gd name="T23" fmla="*/ 1 h 2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"/>
                  <a:gd name="T37" fmla="*/ 0 h 26"/>
                  <a:gd name="T38" fmla="*/ 21 w 21"/>
                  <a:gd name="T39" fmla="*/ 26 h 2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" h="26">
                    <a:moveTo>
                      <a:pt x="20" y="1"/>
                    </a:moveTo>
                    <a:lnTo>
                      <a:pt x="17" y="1"/>
                    </a:lnTo>
                    <a:lnTo>
                      <a:pt x="0" y="23"/>
                    </a:lnTo>
                    <a:lnTo>
                      <a:pt x="4" y="26"/>
                    </a:lnTo>
                    <a:lnTo>
                      <a:pt x="20" y="5"/>
                    </a:lnTo>
                    <a:lnTo>
                      <a:pt x="17" y="5"/>
                    </a:lnTo>
                    <a:lnTo>
                      <a:pt x="20" y="5"/>
                    </a:lnTo>
                    <a:lnTo>
                      <a:pt x="21" y="2"/>
                    </a:lnTo>
                    <a:lnTo>
                      <a:pt x="20" y="1"/>
                    </a:lnTo>
                    <a:lnTo>
                      <a:pt x="18" y="0"/>
                    </a:lnTo>
                    <a:lnTo>
                      <a:pt x="17" y="1"/>
                    </a:lnTo>
                    <a:lnTo>
                      <a:pt x="2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30" name="Freeform 854"/>
              <p:cNvSpPr>
                <a:spLocks/>
              </p:cNvSpPr>
              <p:nvPr/>
            </p:nvSpPr>
            <p:spPr bwMode="auto">
              <a:xfrm>
                <a:off x="2766" y="1868"/>
                <a:ext cx="14" cy="17"/>
              </a:xfrm>
              <a:custGeom>
                <a:avLst/>
                <a:gdLst>
                  <a:gd name="T0" fmla="*/ 8 w 14"/>
                  <a:gd name="T1" fmla="*/ 14 h 17"/>
                  <a:gd name="T2" fmla="*/ 13 w 14"/>
                  <a:gd name="T3" fmla="*/ 13 h 17"/>
                  <a:gd name="T4" fmla="*/ 4 w 14"/>
                  <a:gd name="T5" fmla="*/ 0 h 17"/>
                  <a:gd name="T6" fmla="*/ 0 w 14"/>
                  <a:gd name="T7" fmla="*/ 4 h 17"/>
                  <a:gd name="T8" fmla="*/ 10 w 14"/>
                  <a:gd name="T9" fmla="*/ 16 h 17"/>
                  <a:gd name="T10" fmla="*/ 14 w 14"/>
                  <a:gd name="T11" fmla="*/ 15 h 17"/>
                  <a:gd name="T12" fmla="*/ 10 w 14"/>
                  <a:gd name="T13" fmla="*/ 16 h 17"/>
                  <a:gd name="T14" fmla="*/ 11 w 14"/>
                  <a:gd name="T15" fmla="*/ 17 h 17"/>
                  <a:gd name="T16" fmla="*/ 13 w 14"/>
                  <a:gd name="T17" fmla="*/ 16 h 17"/>
                  <a:gd name="T18" fmla="*/ 14 w 14"/>
                  <a:gd name="T19" fmla="*/ 15 h 17"/>
                  <a:gd name="T20" fmla="*/ 13 w 14"/>
                  <a:gd name="T21" fmla="*/ 13 h 17"/>
                  <a:gd name="T22" fmla="*/ 8 w 14"/>
                  <a:gd name="T23" fmla="*/ 14 h 1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4"/>
                  <a:gd name="T37" fmla="*/ 0 h 17"/>
                  <a:gd name="T38" fmla="*/ 14 w 14"/>
                  <a:gd name="T39" fmla="*/ 17 h 1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4" h="17">
                    <a:moveTo>
                      <a:pt x="8" y="14"/>
                    </a:moveTo>
                    <a:lnTo>
                      <a:pt x="13" y="13"/>
                    </a:lnTo>
                    <a:lnTo>
                      <a:pt x="4" y="0"/>
                    </a:lnTo>
                    <a:lnTo>
                      <a:pt x="0" y="4"/>
                    </a:lnTo>
                    <a:lnTo>
                      <a:pt x="10" y="16"/>
                    </a:lnTo>
                    <a:lnTo>
                      <a:pt x="14" y="15"/>
                    </a:lnTo>
                    <a:lnTo>
                      <a:pt x="10" y="16"/>
                    </a:lnTo>
                    <a:lnTo>
                      <a:pt x="11" y="17"/>
                    </a:lnTo>
                    <a:lnTo>
                      <a:pt x="13" y="16"/>
                    </a:lnTo>
                    <a:lnTo>
                      <a:pt x="14" y="15"/>
                    </a:lnTo>
                    <a:lnTo>
                      <a:pt x="13" y="13"/>
                    </a:lnTo>
                    <a:lnTo>
                      <a:pt x="8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31" name="Freeform 855"/>
              <p:cNvSpPr>
                <a:spLocks/>
              </p:cNvSpPr>
              <p:nvPr/>
            </p:nvSpPr>
            <p:spPr bwMode="auto">
              <a:xfrm>
                <a:off x="2776" y="1828"/>
                <a:ext cx="23" cy="55"/>
              </a:xfrm>
              <a:custGeom>
                <a:avLst/>
                <a:gdLst>
                  <a:gd name="T0" fmla="*/ 23 w 23"/>
                  <a:gd name="T1" fmla="*/ 3 h 55"/>
                  <a:gd name="T2" fmla="*/ 19 w 23"/>
                  <a:gd name="T3" fmla="*/ 1 h 55"/>
                  <a:gd name="T4" fmla="*/ 0 w 23"/>
                  <a:gd name="T5" fmla="*/ 54 h 55"/>
                  <a:gd name="T6" fmla="*/ 4 w 23"/>
                  <a:gd name="T7" fmla="*/ 55 h 55"/>
                  <a:gd name="T8" fmla="*/ 23 w 23"/>
                  <a:gd name="T9" fmla="*/ 3 h 55"/>
                  <a:gd name="T10" fmla="*/ 19 w 23"/>
                  <a:gd name="T11" fmla="*/ 1 h 55"/>
                  <a:gd name="T12" fmla="*/ 23 w 23"/>
                  <a:gd name="T13" fmla="*/ 3 h 55"/>
                  <a:gd name="T14" fmla="*/ 23 w 23"/>
                  <a:gd name="T15" fmla="*/ 1 h 55"/>
                  <a:gd name="T16" fmla="*/ 21 w 23"/>
                  <a:gd name="T17" fmla="*/ 0 h 55"/>
                  <a:gd name="T18" fmla="*/ 20 w 23"/>
                  <a:gd name="T19" fmla="*/ 0 h 55"/>
                  <a:gd name="T20" fmla="*/ 19 w 23"/>
                  <a:gd name="T21" fmla="*/ 1 h 55"/>
                  <a:gd name="T22" fmla="*/ 23 w 23"/>
                  <a:gd name="T23" fmla="*/ 3 h 5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3"/>
                  <a:gd name="T37" fmla="*/ 0 h 55"/>
                  <a:gd name="T38" fmla="*/ 23 w 23"/>
                  <a:gd name="T39" fmla="*/ 55 h 5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3" h="55">
                    <a:moveTo>
                      <a:pt x="23" y="3"/>
                    </a:moveTo>
                    <a:lnTo>
                      <a:pt x="19" y="1"/>
                    </a:lnTo>
                    <a:lnTo>
                      <a:pt x="0" y="54"/>
                    </a:lnTo>
                    <a:lnTo>
                      <a:pt x="4" y="55"/>
                    </a:lnTo>
                    <a:lnTo>
                      <a:pt x="23" y="3"/>
                    </a:lnTo>
                    <a:lnTo>
                      <a:pt x="19" y="1"/>
                    </a:lnTo>
                    <a:lnTo>
                      <a:pt x="23" y="3"/>
                    </a:lnTo>
                    <a:lnTo>
                      <a:pt x="23" y="1"/>
                    </a:lnTo>
                    <a:lnTo>
                      <a:pt x="21" y="0"/>
                    </a:lnTo>
                    <a:lnTo>
                      <a:pt x="20" y="0"/>
                    </a:lnTo>
                    <a:lnTo>
                      <a:pt x="19" y="1"/>
                    </a:lnTo>
                    <a:lnTo>
                      <a:pt x="2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32" name="Freeform 856"/>
              <p:cNvSpPr>
                <a:spLocks/>
              </p:cNvSpPr>
              <p:nvPr/>
            </p:nvSpPr>
            <p:spPr bwMode="auto">
              <a:xfrm>
                <a:off x="2753" y="1833"/>
                <a:ext cx="43" cy="57"/>
              </a:xfrm>
              <a:custGeom>
                <a:avLst/>
                <a:gdLst>
                  <a:gd name="T0" fmla="*/ 43 w 43"/>
                  <a:gd name="T1" fmla="*/ 0 h 57"/>
                  <a:gd name="T2" fmla="*/ 25 w 43"/>
                  <a:gd name="T3" fmla="*/ 49 h 57"/>
                  <a:gd name="T4" fmla="*/ 15 w 43"/>
                  <a:gd name="T5" fmla="*/ 36 h 57"/>
                  <a:gd name="T6" fmla="*/ 0 w 43"/>
                  <a:gd name="T7" fmla="*/ 57 h 57"/>
                  <a:gd name="T8" fmla="*/ 13 w 43"/>
                  <a:gd name="T9" fmla="*/ 21 h 57"/>
                  <a:gd name="T10" fmla="*/ 23 w 43"/>
                  <a:gd name="T11" fmla="*/ 34 h 57"/>
                  <a:gd name="T12" fmla="*/ 43 w 43"/>
                  <a:gd name="T13" fmla="*/ 0 h 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57"/>
                  <a:gd name="T23" fmla="*/ 43 w 43"/>
                  <a:gd name="T24" fmla="*/ 57 h 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57">
                    <a:moveTo>
                      <a:pt x="43" y="0"/>
                    </a:moveTo>
                    <a:lnTo>
                      <a:pt x="25" y="49"/>
                    </a:lnTo>
                    <a:lnTo>
                      <a:pt x="15" y="36"/>
                    </a:lnTo>
                    <a:lnTo>
                      <a:pt x="0" y="57"/>
                    </a:lnTo>
                    <a:lnTo>
                      <a:pt x="13" y="21"/>
                    </a:lnTo>
                    <a:lnTo>
                      <a:pt x="23" y="34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19191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33" name="Freeform 857"/>
              <p:cNvSpPr>
                <a:spLocks/>
              </p:cNvSpPr>
              <p:nvPr/>
            </p:nvSpPr>
            <p:spPr bwMode="auto">
              <a:xfrm>
                <a:off x="2754" y="1836"/>
                <a:ext cx="41" cy="52"/>
              </a:xfrm>
              <a:custGeom>
                <a:avLst/>
                <a:gdLst>
                  <a:gd name="T0" fmla="*/ 41 w 41"/>
                  <a:gd name="T1" fmla="*/ 0 h 52"/>
                  <a:gd name="T2" fmla="*/ 24 w 41"/>
                  <a:gd name="T3" fmla="*/ 45 h 52"/>
                  <a:gd name="T4" fmla="*/ 14 w 41"/>
                  <a:gd name="T5" fmla="*/ 32 h 52"/>
                  <a:gd name="T6" fmla="*/ 0 w 41"/>
                  <a:gd name="T7" fmla="*/ 52 h 52"/>
                  <a:gd name="T8" fmla="*/ 12 w 41"/>
                  <a:gd name="T9" fmla="*/ 20 h 52"/>
                  <a:gd name="T10" fmla="*/ 23 w 41"/>
                  <a:gd name="T11" fmla="*/ 31 h 52"/>
                  <a:gd name="T12" fmla="*/ 41 w 41"/>
                  <a:gd name="T13" fmla="*/ 0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1"/>
                  <a:gd name="T22" fmla="*/ 0 h 52"/>
                  <a:gd name="T23" fmla="*/ 41 w 41"/>
                  <a:gd name="T24" fmla="*/ 52 h 5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1" h="52">
                    <a:moveTo>
                      <a:pt x="41" y="0"/>
                    </a:moveTo>
                    <a:lnTo>
                      <a:pt x="24" y="45"/>
                    </a:lnTo>
                    <a:lnTo>
                      <a:pt x="14" y="32"/>
                    </a:lnTo>
                    <a:lnTo>
                      <a:pt x="0" y="52"/>
                    </a:lnTo>
                    <a:lnTo>
                      <a:pt x="12" y="20"/>
                    </a:lnTo>
                    <a:lnTo>
                      <a:pt x="23" y="31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34" name="Freeform 858"/>
              <p:cNvSpPr>
                <a:spLocks/>
              </p:cNvSpPr>
              <p:nvPr/>
            </p:nvSpPr>
            <p:spPr bwMode="auto">
              <a:xfrm>
                <a:off x="2755" y="1840"/>
                <a:ext cx="38" cy="47"/>
              </a:xfrm>
              <a:custGeom>
                <a:avLst/>
                <a:gdLst>
                  <a:gd name="T0" fmla="*/ 38 w 38"/>
                  <a:gd name="T1" fmla="*/ 0 h 47"/>
                  <a:gd name="T2" fmla="*/ 23 w 38"/>
                  <a:gd name="T3" fmla="*/ 41 h 47"/>
                  <a:gd name="T4" fmla="*/ 13 w 38"/>
                  <a:gd name="T5" fmla="*/ 28 h 47"/>
                  <a:gd name="T6" fmla="*/ 0 w 38"/>
                  <a:gd name="T7" fmla="*/ 47 h 47"/>
                  <a:gd name="T8" fmla="*/ 11 w 38"/>
                  <a:gd name="T9" fmla="*/ 16 h 47"/>
                  <a:gd name="T10" fmla="*/ 21 w 38"/>
                  <a:gd name="T11" fmla="*/ 28 h 47"/>
                  <a:gd name="T12" fmla="*/ 38 w 38"/>
                  <a:gd name="T13" fmla="*/ 0 h 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"/>
                  <a:gd name="T22" fmla="*/ 0 h 47"/>
                  <a:gd name="T23" fmla="*/ 38 w 38"/>
                  <a:gd name="T24" fmla="*/ 47 h 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" h="47">
                    <a:moveTo>
                      <a:pt x="38" y="0"/>
                    </a:moveTo>
                    <a:lnTo>
                      <a:pt x="23" y="41"/>
                    </a:lnTo>
                    <a:lnTo>
                      <a:pt x="13" y="28"/>
                    </a:lnTo>
                    <a:lnTo>
                      <a:pt x="0" y="47"/>
                    </a:lnTo>
                    <a:lnTo>
                      <a:pt x="11" y="16"/>
                    </a:lnTo>
                    <a:lnTo>
                      <a:pt x="21" y="28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35" name="Freeform 859"/>
              <p:cNvSpPr>
                <a:spLocks/>
              </p:cNvSpPr>
              <p:nvPr/>
            </p:nvSpPr>
            <p:spPr bwMode="auto">
              <a:xfrm>
                <a:off x="2756" y="1843"/>
                <a:ext cx="36" cy="41"/>
              </a:xfrm>
              <a:custGeom>
                <a:avLst/>
                <a:gdLst>
                  <a:gd name="T0" fmla="*/ 36 w 36"/>
                  <a:gd name="T1" fmla="*/ 0 h 41"/>
                  <a:gd name="T2" fmla="*/ 22 w 36"/>
                  <a:gd name="T3" fmla="*/ 38 h 41"/>
                  <a:gd name="T4" fmla="*/ 12 w 36"/>
                  <a:gd name="T5" fmla="*/ 24 h 41"/>
                  <a:gd name="T6" fmla="*/ 0 w 36"/>
                  <a:gd name="T7" fmla="*/ 41 h 41"/>
                  <a:gd name="T8" fmla="*/ 11 w 36"/>
                  <a:gd name="T9" fmla="*/ 14 h 41"/>
                  <a:gd name="T10" fmla="*/ 21 w 36"/>
                  <a:gd name="T11" fmla="*/ 26 h 41"/>
                  <a:gd name="T12" fmla="*/ 36 w 36"/>
                  <a:gd name="T13" fmla="*/ 0 h 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6"/>
                  <a:gd name="T22" fmla="*/ 0 h 41"/>
                  <a:gd name="T23" fmla="*/ 36 w 36"/>
                  <a:gd name="T24" fmla="*/ 41 h 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6" h="41">
                    <a:moveTo>
                      <a:pt x="36" y="0"/>
                    </a:moveTo>
                    <a:lnTo>
                      <a:pt x="22" y="38"/>
                    </a:lnTo>
                    <a:lnTo>
                      <a:pt x="12" y="24"/>
                    </a:lnTo>
                    <a:lnTo>
                      <a:pt x="0" y="41"/>
                    </a:lnTo>
                    <a:lnTo>
                      <a:pt x="11" y="14"/>
                    </a:lnTo>
                    <a:lnTo>
                      <a:pt x="21" y="2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36" name="Freeform 860"/>
              <p:cNvSpPr>
                <a:spLocks/>
              </p:cNvSpPr>
              <p:nvPr/>
            </p:nvSpPr>
            <p:spPr bwMode="auto">
              <a:xfrm>
                <a:off x="2756" y="1846"/>
                <a:ext cx="34" cy="36"/>
              </a:xfrm>
              <a:custGeom>
                <a:avLst/>
                <a:gdLst>
                  <a:gd name="T0" fmla="*/ 34 w 34"/>
                  <a:gd name="T1" fmla="*/ 0 h 36"/>
                  <a:gd name="T2" fmla="*/ 22 w 34"/>
                  <a:gd name="T3" fmla="*/ 34 h 36"/>
                  <a:gd name="T4" fmla="*/ 11 w 34"/>
                  <a:gd name="T5" fmla="*/ 21 h 36"/>
                  <a:gd name="T6" fmla="*/ 0 w 34"/>
                  <a:gd name="T7" fmla="*/ 36 h 36"/>
                  <a:gd name="T8" fmla="*/ 10 w 34"/>
                  <a:gd name="T9" fmla="*/ 12 h 36"/>
                  <a:gd name="T10" fmla="*/ 20 w 34"/>
                  <a:gd name="T11" fmla="*/ 23 h 36"/>
                  <a:gd name="T12" fmla="*/ 34 w 34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"/>
                  <a:gd name="T22" fmla="*/ 0 h 36"/>
                  <a:gd name="T23" fmla="*/ 34 w 34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" h="36">
                    <a:moveTo>
                      <a:pt x="34" y="0"/>
                    </a:moveTo>
                    <a:lnTo>
                      <a:pt x="22" y="34"/>
                    </a:lnTo>
                    <a:lnTo>
                      <a:pt x="11" y="21"/>
                    </a:lnTo>
                    <a:lnTo>
                      <a:pt x="0" y="36"/>
                    </a:lnTo>
                    <a:lnTo>
                      <a:pt x="10" y="12"/>
                    </a:lnTo>
                    <a:lnTo>
                      <a:pt x="20" y="23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37" name="Freeform 861"/>
              <p:cNvSpPr>
                <a:spLocks/>
              </p:cNvSpPr>
              <p:nvPr/>
            </p:nvSpPr>
            <p:spPr bwMode="auto">
              <a:xfrm>
                <a:off x="2758" y="1849"/>
                <a:ext cx="30" cy="31"/>
              </a:xfrm>
              <a:custGeom>
                <a:avLst/>
                <a:gdLst>
                  <a:gd name="T0" fmla="*/ 30 w 30"/>
                  <a:gd name="T1" fmla="*/ 0 h 31"/>
                  <a:gd name="T2" fmla="*/ 20 w 30"/>
                  <a:gd name="T3" fmla="*/ 30 h 31"/>
                  <a:gd name="T4" fmla="*/ 10 w 30"/>
                  <a:gd name="T5" fmla="*/ 17 h 31"/>
                  <a:gd name="T6" fmla="*/ 0 w 30"/>
                  <a:gd name="T7" fmla="*/ 31 h 31"/>
                  <a:gd name="T8" fmla="*/ 9 w 30"/>
                  <a:gd name="T9" fmla="*/ 9 h 31"/>
                  <a:gd name="T10" fmla="*/ 18 w 30"/>
                  <a:gd name="T11" fmla="*/ 21 h 31"/>
                  <a:gd name="T12" fmla="*/ 30 w 30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0"/>
                  <a:gd name="T22" fmla="*/ 0 h 31"/>
                  <a:gd name="T23" fmla="*/ 30 w 30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0" h="31">
                    <a:moveTo>
                      <a:pt x="30" y="0"/>
                    </a:moveTo>
                    <a:lnTo>
                      <a:pt x="20" y="30"/>
                    </a:lnTo>
                    <a:lnTo>
                      <a:pt x="10" y="17"/>
                    </a:lnTo>
                    <a:lnTo>
                      <a:pt x="0" y="31"/>
                    </a:lnTo>
                    <a:lnTo>
                      <a:pt x="9" y="9"/>
                    </a:lnTo>
                    <a:lnTo>
                      <a:pt x="18" y="2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38" name="Freeform 862"/>
              <p:cNvSpPr>
                <a:spLocks/>
              </p:cNvSpPr>
              <p:nvPr/>
            </p:nvSpPr>
            <p:spPr bwMode="auto">
              <a:xfrm>
                <a:off x="2758" y="1852"/>
                <a:ext cx="29" cy="27"/>
              </a:xfrm>
              <a:custGeom>
                <a:avLst/>
                <a:gdLst>
                  <a:gd name="T0" fmla="*/ 29 w 29"/>
                  <a:gd name="T1" fmla="*/ 0 h 27"/>
                  <a:gd name="T2" fmla="*/ 20 w 29"/>
                  <a:gd name="T3" fmla="*/ 27 h 27"/>
                  <a:gd name="T4" fmla="*/ 9 w 29"/>
                  <a:gd name="T5" fmla="*/ 14 h 27"/>
                  <a:gd name="T6" fmla="*/ 0 w 29"/>
                  <a:gd name="T7" fmla="*/ 27 h 27"/>
                  <a:gd name="T8" fmla="*/ 8 w 29"/>
                  <a:gd name="T9" fmla="*/ 7 h 27"/>
                  <a:gd name="T10" fmla="*/ 18 w 29"/>
                  <a:gd name="T11" fmla="*/ 20 h 27"/>
                  <a:gd name="T12" fmla="*/ 29 w 29"/>
                  <a:gd name="T13" fmla="*/ 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9"/>
                  <a:gd name="T22" fmla="*/ 0 h 27"/>
                  <a:gd name="T23" fmla="*/ 29 w 29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9" h="27">
                    <a:moveTo>
                      <a:pt x="29" y="0"/>
                    </a:moveTo>
                    <a:lnTo>
                      <a:pt x="20" y="27"/>
                    </a:lnTo>
                    <a:lnTo>
                      <a:pt x="9" y="14"/>
                    </a:lnTo>
                    <a:lnTo>
                      <a:pt x="0" y="27"/>
                    </a:lnTo>
                    <a:lnTo>
                      <a:pt x="8" y="7"/>
                    </a:lnTo>
                    <a:lnTo>
                      <a:pt x="18" y="2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39" name="Freeform 863"/>
              <p:cNvSpPr>
                <a:spLocks/>
              </p:cNvSpPr>
              <p:nvPr/>
            </p:nvSpPr>
            <p:spPr bwMode="auto">
              <a:xfrm>
                <a:off x="2760" y="1856"/>
                <a:ext cx="25" cy="22"/>
              </a:xfrm>
              <a:custGeom>
                <a:avLst/>
                <a:gdLst>
                  <a:gd name="T0" fmla="*/ 25 w 25"/>
                  <a:gd name="T1" fmla="*/ 0 h 22"/>
                  <a:gd name="T2" fmla="*/ 17 w 25"/>
                  <a:gd name="T3" fmla="*/ 22 h 22"/>
                  <a:gd name="T4" fmla="*/ 7 w 25"/>
                  <a:gd name="T5" fmla="*/ 9 h 22"/>
                  <a:gd name="T6" fmla="*/ 0 w 25"/>
                  <a:gd name="T7" fmla="*/ 20 h 22"/>
                  <a:gd name="T8" fmla="*/ 6 w 25"/>
                  <a:gd name="T9" fmla="*/ 3 h 22"/>
                  <a:gd name="T10" fmla="*/ 16 w 25"/>
                  <a:gd name="T11" fmla="*/ 16 h 22"/>
                  <a:gd name="T12" fmla="*/ 25 w 25"/>
                  <a:gd name="T13" fmla="*/ 0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22"/>
                  <a:gd name="T23" fmla="*/ 25 w 25"/>
                  <a:gd name="T24" fmla="*/ 22 h 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22">
                    <a:moveTo>
                      <a:pt x="25" y="0"/>
                    </a:moveTo>
                    <a:lnTo>
                      <a:pt x="17" y="22"/>
                    </a:lnTo>
                    <a:lnTo>
                      <a:pt x="7" y="9"/>
                    </a:lnTo>
                    <a:lnTo>
                      <a:pt x="0" y="20"/>
                    </a:lnTo>
                    <a:lnTo>
                      <a:pt x="6" y="3"/>
                    </a:lnTo>
                    <a:lnTo>
                      <a:pt x="16" y="1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40" name="Freeform 864"/>
              <p:cNvSpPr>
                <a:spLocks/>
              </p:cNvSpPr>
              <p:nvPr/>
            </p:nvSpPr>
            <p:spPr bwMode="auto">
              <a:xfrm>
                <a:off x="2761" y="1859"/>
                <a:ext cx="23" cy="19"/>
              </a:xfrm>
              <a:custGeom>
                <a:avLst/>
                <a:gdLst>
                  <a:gd name="T0" fmla="*/ 23 w 23"/>
                  <a:gd name="T1" fmla="*/ 0 h 19"/>
                  <a:gd name="T2" fmla="*/ 16 w 23"/>
                  <a:gd name="T3" fmla="*/ 19 h 19"/>
                  <a:gd name="T4" fmla="*/ 6 w 23"/>
                  <a:gd name="T5" fmla="*/ 6 h 19"/>
                  <a:gd name="T6" fmla="*/ 0 w 23"/>
                  <a:gd name="T7" fmla="*/ 16 h 19"/>
                  <a:gd name="T8" fmla="*/ 5 w 23"/>
                  <a:gd name="T9" fmla="*/ 1 h 19"/>
                  <a:gd name="T10" fmla="*/ 15 w 23"/>
                  <a:gd name="T11" fmla="*/ 14 h 19"/>
                  <a:gd name="T12" fmla="*/ 23 w 23"/>
                  <a:gd name="T13" fmla="*/ 0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"/>
                  <a:gd name="T22" fmla="*/ 0 h 19"/>
                  <a:gd name="T23" fmla="*/ 23 w 23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" h="19">
                    <a:moveTo>
                      <a:pt x="23" y="0"/>
                    </a:moveTo>
                    <a:lnTo>
                      <a:pt x="16" y="19"/>
                    </a:lnTo>
                    <a:lnTo>
                      <a:pt x="6" y="6"/>
                    </a:lnTo>
                    <a:lnTo>
                      <a:pt x="0" y="16"/>
                    </a:lnTo>
                    <a:lnTo>
                      <a:pt x="5" y="1"/>
                    </a:lnTo>
                    <a:lnTo>
                      <a:pt x="15" y="14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41" name="Freeform 865"/>
              <p:cNvSpPr>
                <a:spLocks/>
              </p:cNvSpPr>
              <p:nvPr/>
            </p:nvSpPr>
            <p:spPr bwMode="auto">
              <a:xfrm>
                <a:off x="2762" y="1861"/>
                <a:ext cx="20" cy="16"/>
              </a:xfrm>
              <a:custGeom>
                <a:avLst/>
                <a:gdLst>
                  <a:gd name="T0" fmla="*/ 20 w 20"/>
                  <a:gd name="T1" fmla="*/ 2 h 16"/>
                  <a:gd name="T2" fmla="*/ 14 w 20"/>
                  <a:gd name="T3" fmla="*/ 12 h 16"/>
                  <a:gd name="T4" fmla="*/ 4 w 20"/>
                  <a:gd name="T5" fmla="*/ 0 h 16"/>
                  <a:gd name="T6" fmla="*/ 0 w 20"/>
                  <a:gd name="T7" fmla="*/ 12 h 16"/>
                  <a:gd name="T8" fmla="*/ 5 w 20"/>
                  <a:gd name="T9" fmla="*/ 3 h 16"/>
                  <a:gd name="T10" fmla="*/ 15 w 20"/>
                  <a:gd name="T11" fmla="*/ 16 h 16"/>
                  <a:gd name="T12" fmla="*/ 20 w 20"/>
                  <a:gd name="T13" fmla="*/ 2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"/>
                  <a:gd name="T22" fmla="*/ 0 h 16"/>
                  <a:gd name="T23" fmla="*/ 20 w 20"/>
                  <a:gd name="T24" fmla="*/ 16 h 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" h="16">
                    <a:moveTo>
                      <a:pt x="20" y="2"/>
                    </a:moveTo>
                    <a:lnTo>
                      <a:pt x="14" y="12"/>
                    </a:lnTo>
                    <a:lnTo>
                      <a:pt x="4" y="0"/>
                    </a:lnTo>
                    <a:lnTo>
                      <a:pt x="0" y="12"/>
                    </a:lnTo>
                    <a:lnTo>
                      <a:pt x="5" y="3"/>
                    </a:lnTo>
                    <a:lnTo>
                      <a:pt x="15" y="16"/>
                    </a:lnTo>
                    <a:lnTo>
                      <a:pt x="20" y="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42" name="Freeform 866"/>
              <p:cNvSpPr>
                <a:spLocks/>
              </p:cNvSpPr>
              <p:nvPr/>
            </p:nvSpPr>
            <p:spPr bwMode="auto">
              <a:xfrm>
                <a:off x="2776" y="1938"/>
                <a:ext cx="75" cy="29"/>
              </a:xfrm>
              <a:custGeom>
                <a:avLst/>
                <a:gdLst>
                  <a:gd name="T0" fmla="*/ 75 w 75"/>
                  <a:gd name="T1" fmla="*/ 5 h 29"/>
                  <a:gd name="T2" fmla="*/ 34 w 75"/>
                  <a:gd name="T3" fmla="*/ 16 h 29"/>
                  <a:gd name="T4" fmla="*/ 36 w 75"/>
                  <a:gd name="T5" fmla="*/ 0 h 29"/>
                  <a:gd name="T6" fmla="*/ 0 w 75"/>
                  <a:gd name="T7" fmla="*/ 16 h 29"/>
                  <a:gd name="T8" fmla="*/ 26 w 75"/>
                  <a:gd name="T9" fmla="*/ 13 h 29"/>
                  <a:gd name="T10" fmla="*/ 24 w 75"/>
                  <a:gd name="T11" fmla="*/ 29 h 29"/>
                  <a:gd name="T12" fmla="*/ 75 w 75"/>
                  <a:gd name="T13" fmla="*/ 5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5"/>
                  <a:gd name="T22" fmla="*/ 0 h 29"/>
                  <a:gd name="T23" fmla="*/ 75 w 75"/>
                  <a:gd name="T24" fmla="*/ 29 h 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5" h="29">
                    <a:moveTo>
                      <a:pt x="75" y="5"/>
                    </a:moveTo>
                    <a:lnTo>
                      <a:pt x="34" y="16"/>
                    </a:lnTo>
                    <a:lnTo>
                      <a:pt x="36" y="0"/>
                    </a:lnTo>
                    <a:lnTo>
                      <a:pt x="0" y="16"/>
                    </a:lnTo>
                    <a:lnTo>
                      <a:pt x="26" y="13"/>
                    </a:lnTo>
                    <a:lnTo>
                      <a:pt x="24" y="29"/>
                    </a:ln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43" name="Freeform 867"/>
              <p:cNvSpPr>
                <a:spLocks/>
              </p:cNvSpPr>
              <p:nvPr/>
            </p:nvSpPr>
            <p:spPr bwMode="auto">
              <a:xfrm>
                <a:off x="2808" y="1941"/>
                <a:ext cx="43" cy="16"/>
              </a:xfrm>
              <a:custGeom>
                <a:avLst/>
                <a:gdLst>
                  <a:gd name="T0" fmla="*/ 0 w 43"/>
                  <a:gd name="T1" fmla="*/ 13 h 16"/>
                  <a:gd name="T2" fmla="*/ 3 w 43"/>
                  <a:gd name="T3" fmla="*/ 16 h 16"/>
                  <a:gd name="T4" fmla="*/ 43 w 43"/>
                  <a:gd name="T5" fmla="*/ 5 h 16"/>
                  <a:gd name="T6" fmla="*/ 42 w 43"/>
                  <a:gd name="T7" fmla="*/ 0 h 16"/>
                  <a:gd name="T8" fmla="*/ 2 w 43"/>
                  <a:gd name="T9" fmla="*/ 11 h 16"/>
                  <a:gd name="T10" fmla="*/ 5 w 43"/>
                  <a:gd name="T11" fmla="*/ 14 h 16"/>
                  <a:gd name="T12" fmla="*/ 2 w 43"/>
                  <a:gd name="T13" fmla="*/ 11 h 16"/>
                  <a:gd name="T14" fmla="*/ 0 w 43"/>
                  <a:gd name="T15" fmla="*/ 12 h 16"/>
                  <a:gd name="T16" fmla="*/ 0 w 43"/>
                  <a:gd name="T17" fmla="*/ 14 h 16"/>
                  <a:gd name="T18" fmla="*/ 1 w 43"/>
                  <a:gd name="T19" fmla="*/ 16 h 16"/>
                  <a:gd name="T20" fmla="*/ 3 w 43"/>
                  <a:gd name="T21" fmla="*/ 16 h 16"/>
                  <a:gd name="T22" fmla="*/ 0 w 43"/>
                  <a:gd name="T23" fmla="*/ 13 h 1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3"/>
                  <a:gd name="T37" fmla="*/ 0 h 16"/>
                  <a:gd name="T38" fmla="*/ 43 w 43"/>
                  <a:gd name="T39" fmla="*/ 16 h 1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3" h="16">
                    <a:moveTo>
                      <a:pt x="0" y="13"/>
                    </a:moveTo>
                    <a:lnTo>
                      <a:pt x="3" y="16"/>
                    </a:lnTo>
                    <a:lnTo>
                      <a:pt x="43" y="5"/>
                    </a:lnTo>
                    <a:lnTo>
                      <a:pt x="42" y="0"/>
                    </a:lnTo>
                    <a:lnTo>
                      <a:pt x="2" y="11"/>
                    </a:lnTo>
                    <a:lnTo>
                      <a:pt x="5" y="14"/>
                    </a:lnTo>
                    <a:lnTo>
                      <a:pt x="2" y="11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3" y="16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44" name="Freeform 868"/>
              <p:cNvSpPr>
                <a:spLocks/>
              </p:cNvSpPr>
              <p:nvPr/>
            </p:nvSpPr>
            <p:spPr bwMode="auto">
              <a:xfrm>
                <a:off x="2808" y="1936"/>
                <a:ext cx="7" cy="19"/>
              </a:xfrm>
              <a:custGeom>
                <a:avLst/>
                <a:gdLst>
                  <a:gd name="T0" fmla="*/ 5 w 7"/>
                  <a:gd name="T1" fmla="*/ 5 h 19"/>
                  <a:gd name="T2" fmla="*/ 2 w 7"/>
                  <a:gd name="T3" fmla="*/ 2 h 19"/>
                  <a:gd name="T4" fmla="*/ 0 w 7"/>
                  <a:gd name="T5" fmla="*/ 18 h 19"/>
                  <a:gd name="T6" fmla="*/ 5 w 7"/>
                  <a:gd name="T7" fmla="*/ 19 h 19"/>
                  <a:gd name="T8" fmla="*/ 7 w 7"/>
                  <a:gd name="T9" fmla="*/ 3 h 19"/>
                  <a:gd name="T10" fmla="*/ 4 w 7"/>
                  <a:gd name="T11" fmla="*/ 0 h 19"/>
                  <a:gd name="T12" fmla="*/ 7 w 7"/>
                  <a:gd name="T13" fmla="*/ 3 h 19"/>
                  <a:gd name="T14" fmla="*/ 6 w 7"/>
                  <a:gd name="T15" fmla="*/ 1 h 19"/>
                  <a:gd name="T16" fmla="*/ 5 w 7"/>
                  <a:gd name="T17" fmla="*/ 0 h 19"/>
                  <a:gd name="T18" fmla="*/ 3 w 7"/>
                  <a:gd name="T19" fmla="*/ 1 h 19"/>
                  <a:gd name="T20" fmla="*/ 2 w 7"/>
                  <a:gd name="T21" fmla="*/ 2 h 19"/>
                  <a:gd name="T22" fmla="*/ 5 w 7"/>
                  <a:gd name="T23" fmla="*/ 5 h 1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"/>
                  <a:gd name="T37" fmla="*/ 0 h 19"/>
                  <a:gd name="T38" fmla="*/ 7 w 7"/>
                  <a:gd name="T39" fmla="*/ 19 h 1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" h="19">
                    <a:moveTo>
                      <a:pt x="5" y="5"/>
                    </a:moveTo>
                    <a:lnTo>
                      <a:pt x="2" y="2"/>
                    </a:lnTo>
                    <a:lnTo>
                      <a:pt x="0" y="18"/>
                    </a:lnTo>
                    <a:lnTo>
                      <a:pt x="5" y="19"/>
                    </a:lnTo>
                    <a:lnTo>
                      <a:pt x="7" y="3"/>
                    </a:lnTo>
                    <a:lnTo>
                      <a:pt x="4" y="0"/>
                    </a:lnTo>
                    <a:lnTo>
                      <a:pt x="7" y="3"/>
                    </a:lnTo>
                    <a:lnTo>
                      <a:pt x="6" y="1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2" y="2"/>
                    </a:lnTo>
                    <a:lnTo>
                      <a:pt x="5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45" name="Freeform 869"/>
              <p:cNvSpPr>
                <a:spLocks/>
              </p:cNvSpPr>
              <p:nvPr/>
            </p:nvSpPr>
            <p:spPr bwMode="auto">
              <a:xfrm>
                <a:off x="2773" y="1936"/>
                <a:ext cx="40" cy="21"/>
              </a:xfrm>
              <a:custGeom>
                <a:avLst/>
                <a:gdLst>
                  <a:gd name="T0" fmla="*/ 3 w 40"/>
                  <a:gd name="T1" fmla="*/ 16 h 21"/>
                  <a:gd name="T2" fmla="*/ 4 w 40"/>
                  <a:gd name="T3" fmla="*/ 21 h 21"/>
                  <a:gd name="T4" fmla="*/ 40 w 40"/>
                  <a:gd name="T5" fmla="*/ 4 h 21"/>
                  <a:gd name="T6" fmla="*/ 38 w 40"/>
                  <a:gd name="T7" fmla="*/ 0 h 21"/>
                  <a:gd name="T8" fmla="*/ 1 w 40"/>
                  <a:gd name="T9" fmla="*/ 16 h 21"/>
                  <a:gd name="T10" fmla="*/ 3 w 40"/>
                  <a:gd name="T11" fmla="*/ 21 h 21"/>
                  <a:gd name="T12" fmla="*/ 1 w 40"/>
                  <a:gd name="T13" fmla="*/ 16 h 21"/>
                  <a:gd name="T14" fmla="*/ 0 w 40"/>
                  <a:gd name="T15" fmla="*/ 18 h 21"/>
                  <a:gd name="T16" fmla="*/ 0 w 40"/>
                  <a:gd name="T17" fmla="*/ 19 h 21"/>
                  <a:gd name="T18" fmla="*/ 1 w 40"/>
                  <a:gd name="T19" fmla="*/ 21 h 21"/>
                  <a:gd name="T20" fmla="*/ 4 w 40"/>
                  <a:gd name="T21" fmla="*/ 21 h 21"/>
                  <a:gd name="T22" fmla="*/ 3 w 40"/>
                  <a:gd name="T23" fmla="*/ 16 h 2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0"/>
                  <a:gd name="T37" fmla="*/ 0 h 21"/>
                  <a:gd name="T38" fmla="*/ 40 w 40"/>
                  <a:gd name="T39" fmla="*/ 21 h 2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0" h="21">
                    <a:moveTo>
                      <a:pt x="3" y="16"/>
                    </a:moveTo>
                    <a:lnTo>
                      <a:pt x="4" y="21"/>
                    </a:lnTo>
                    <a:lnTo>
                      <a:pt x="40" y="4"/>
                    </a:lnTo>
                    <a:lnTo>
                      <a:pt x="38" y="0"/>
                    </a:lnTo>
                    <a:lnTo>
                      <a:pt x="1" y="16"/>
                    </a:lnTo>
                    <a:lnTo>
                      <a:pt x="3" y="21"/>
                    </a:lnTo>
                    <a:lnTo>
                      <a:pt x="1" y="16"/>
                    </a:lnTo>
                    <a:lnTo>
                      <a:pt x="0" y="18"/>
                    </a:lnTo>
                    <a:lnTo>
                      <a:pt x="0" y="19"/>
                    </a:lnTo>
                    <a:lnTo>
                      <a:pt x="1" y="21"/>
                    </a:lnTo>
                    <a:lnTo>
                      <a:pt x="4" y="21"/>
                    </a:lnTo>
                    <a:lnTo>
                      <a:pt x="3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46" name="Freeform 870"/>
              <p:cNvSpPr>
                <a:spLocks/>
              </p:cNvSpPr>
              <p:nvPr/>
            </p:nvSpPr>
            <p:spPr bwMode="auto">
              <a:xfrm>
                <a:off x="2776" y="1948"/>
                <a:ext cx="28" cy="9"/>
              </a:xfrm>
              <a:custGeom>
                <a:avLst/>
                <a:gdLst>
                  <a:gd name="T0" fmla="*/ 28 w 28"/>
                  <a:gd name="T1" fmla="*/ 4 h 9"/>
                  <a:gd name="T2" fmla="*/ 25 w 28"/>
                  <a:gd name="T3" fmla="*/ 0 h 9"/>
                  <a:gd name="T4" fmla="*/ 0 w 28"/>
                  <a:gd name="T5" fmla="*/ 4 h 9"/>
                  <a:gd name="T6" fmla="*/ 1 w 28"/>
                  <a:gd name="T7" fmla="*/ 9 h 9"/>
                  <a:gd name="T8" fmla="*/ 26 w 28"/>
                  <a:gd name="T9" fmla="*/ 5 h 9"/>
                  <a:gd name="T10" fmla="*/ 23 w 28"/>
                  <a:gd name="T11" fmla="*/ 3 h 9"/>
                  <a:gd name="T12" fmla="*/ 26 w 28"/>
                  <a:gd name="T13" fmla="*/ 5 h 9"/>
                  <a:gd name="T14" fmla="*/ 27 w 28"/>
                  <a:gd name="T15" fmla="*/ 5 h 9"/>
                  <a:gd name="T16" fmla="*/ 28 w 28"/>
                  <a:gd name="T17" fmla="*/ 3 h 9"/>
                  <a:gd name="T18" fmla="*/ 27 w 28"/>
                  <a:gd name="T19" fmla="*/ 2 h 9"/>
                  <a:gd name="T20" fmla="*/ 25 w 28"/>
                  <a:gd name="T21" fmla="*/ 0 h 9"/>
                  <a:gd name="T22" fmla="*/ 28 w 28"/>
                  <a:gd name="T23" fmla="*/ 4 h 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8"/>
                  <a:gd name="T37" fmla="*/ 0 h 9"/>
                  <a:gd name="T38" fmla="*/ 28 w 28"/>
                  <a:gd name="T39" fmla="*/ 9 h 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8" h="9">
                    <a:moveTo>
                      <a:pt x="28" y="4"/>
                    </a:moveTo>
                    <a:lnTo>
                      <a:pt x="25" y="0"/>
                    </a:lnTo>
                    <a:lnTo>
                      <a:pt x="0" y="4"/>
                    </a:lnTo>
                    <a:lnTo>
                      <a:pt x="1" y="9"/>
                    </a:lnTo>
                    <a:lnTo>
                      <a:pt x="26" y="5"/>
                    </a:lnTo>
                    <a:lnTo>
                      <a:pt x="23" y="3"/>
                    </a:lnTo>
                    <a:lnTo>
                      <a:pt x="26" y="5"/>
                    </a:lnTo>
                    <a:lnTo>
                      <a:pt x="27" y="5"/>
                    </a:lnTo>
                    <a:lnTo>
                      <a:pt x="28" y="3"/>
                    </a:lnTo>
                    <a:lnTo>
                      <a:pt x="27" y="2"/>
                    </a:lnTo>
                    <a:lnTo>
                      <a:pt x="25" y="0"/>
                    </a:lnTo>
                    <a:lnTo>
                      <a:pt x="28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47" name="Freeform 871"/>
              <p:cNvSpPr>
                <a:spLocks/>
              </p:cNvSpPr>
              <p:nvPr/>
            </p:nvSpPr>
            <p:spPr bwMode="auto">
              <a:xfrm>
                <a:off x="2797" y="1951"/>
                <a:ext cx="7" cy="18"/>
              </a:xfrm>
              <a:custGeom>
                <a:avLst/>
                <a:gdLst>
                  <a:gd name="T0" fmla="*/ 2 w 7"/>
                  <a:gd name="T1" fmla="*/ 14 h 18"/>
                  <a:gd name="T2" fmla="*/ 5 w 7"/>
                  <a:gd name="T3" fmla="*/ 16 h 18"/>
                  <a:gd name="T4" fmla="*/ 7 w 7"/>
                  <a:gd name="T5" fmla="*/ 1 h 18"/>
                  <a:gd name="T6" fmla="*/ 2 w 7"/>
                  <a:gd name="T7" fmla="*/ 0 h 18"/>
                  <a:gd name="T8" fmla="*/ 0 w 7"/>
                  <a:gd name="T9" fmla="*/ 16 h 18"/>
                  <a:gd name="T10" fmla="*/ 3 w 7"/>
                  <a:gd name="T11" fmla="*/ 18 h 18"/>
                  <a:gd name="T12" fmla="*/ 0 w 7"/>
                  <a:gd name="T13" fmla="*/ 16 h 18"/>
                  <a:gd name="T14" fmla="*/ 1 w 7"/>
                  <a:gd name="T15" fmla="*/ 17 h 18"/>
                  <a:gd name="T16" fmla="*/ 2 w 7"/>
                  <a:gd name="T17" fmla="*/ 18 h 18"/>
                  <a:gd name="T18" fmla="*/ 4 w 7"/>
                  <a:gd name="T19" fmla="*/ 18 h 18"/>
                  <a:gd name="T20" fmla="*/ 5 w 7"/>
                  <a:gd name="T21" fmla="*/ 16 h 18"/>
                  <a:gd name="T22" fmla="*/ 2 w 7"/>
                  <a:gd name="T23" fmla="*/ 14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"/>
                  <a:gd name="T37" fmla="*/ 0 h 18"/>
                  <a:gd name="T38" fmla="*/ 7 w 7"/>
                  <a:gd name="T39" fmla="*/ 18 h 1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" h="18">
                    <a:moveTo>
                      <a:pt x="2" y="14"/>
                    </a:moveTo>
                    <a:lnTo>
                      <a:pt x="5" y="16"/>
                    </a:lnTo>
                    <a:lnTo>
                      <a:pt x="7" y="1"/>
                    </a:lnTo>
                    <a:lnTo>
                      <a:pt x="2" y="0"/>
                    </a:lnTo>
                    <a:lnTo>
                      <a:pt x="0" y="16"/>
                    </a:lnTo>
                    <a:lnTo>
                      <a:pt x="3" y="18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2" y="18"/>
                    </a:lnTo>
                    <a:lnTo>
                      <a:pt x="4" y="18"/>
                    </a:lnTo>
                    <a:lnTo>
                      <a:pt x="5" y="16"/>
                    </a:lnTo>
                    <a:lnTo>
                      <a:pt x="2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48" name="Freeform 872"/>
              <p:cNvSpPr>
                <a:spLocks/>
              </p:cNvSpPr>
              <p:nvPr/>
            </p:nvSpPr>
            <p:spPr bwMode="auto">
              <a:xfrm>
                <a:off x="2799" y="1941"/>
                <a:ext cx="55" cy="28"/>
              </a:xfrm>
              <a:custGeom>
                <a:avLst/>
                <a:gdLst>
                  <a:gd name="T0" fmla="*/ 53 w 55"/>
                  <a:gd name="T1" fmla="*/ 5 h 28"/>
                  <a:gd name="T2" fmla="*/ 51 w 55"/>
                  <a:gd name="T3" fmla="*/ 0 h 28"/>
                  <a:gd name="T4" fmla="*/ 0 w 55"/>
                  <a:gd name="T5" fmla="*/ 24 h 28"/>
                  <a:gd name="T6" fmla="*/ 2 w 55"/>
                  <a:gd name="T7" fmla="*/ 28 h 28"/>
                  <a:gd name="T8" fmla="*/ 53 w 55"/>
                  <a:gd name="T9" fmla="*/ 4 h 28"/>
                  <a:gd name="T10" fmla="*/ 51 w 55"/>
                  <a:gd name="T11" fmla="*/ 0 h 28"/>
                  <a:gd name="T12" fmla="*/ 53 w 55"/>
                  <a:gd name="T13" fmla="*/ 4 h 28"/>
                  <a:gd name="T14" fmla="*/ 55 w 55"/>
                  <a:gd name="T15" fmla="*/ 3 h 28"/>
                  <a:gd name="T16" fmla="*/ 55 w 55"/>
                  <a:gd name="T17" fmla="*/ 1 h 28"/>
                  <a:gd name="T18" fmla="*/ 53 w 55"/>
                  <a:gd name="T19" fmla="*/ 0 h 28"/>
                  <a:gd name="T20" fmla="*/ 51 w 55"/>
                  <a:gd name="T21" fmla="*/ 0 h 28"/>
                  <a:gd name="T22" fmla="*/ 53 w 55"/>
                  <a:gd name="T23" fmla="*/ 5 h 2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5"/>
                  <a:gd name="T37" fmla="*/ 0 h 28"/>
                  <a:gd name="T38" fmla="*/ 55 w 55"/>
                  <a:gd name="T39" fmla="*/ 28 h 2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5" h="28">
                    <a:moveTo>
                      <a:pt x="53" y="5"/>
                    </a:moveTo>
                    <a:lnTo>
                      <a:pt x="51" y="0"/>
                    </a:lnTo>
                    <a:lnTo>
                      <a:pt x="0" y="24"/>
                    </a:lnTo>
                    <a:lnTo>
                      <a:pt x="2" y="28"/>
                    </a:lnTo>
                    <a:lnTo>
                      <a:pt x="53" y="4"/>
                    </a:lnTo>
                    <a:lnTo>
                      <a:pt x="51" y="0"/>
                    </a:lnTo>
                    <a:lnTo>
                      <a:pt x="53" y="4"/>
                    </a:lnTo>
                    <a:lnTo>
                      <a:pt x="55" y="3"/>
                    </a:lnTo>
                    <a:lnTo>
                      <a:pt x="55" y="1"/>
                    </a:lnTo>
                    <a:lnTo>
                      <a:pt x="53" y="0"/>
                    </a:lnTo>
                    <a:lnTo>
                      <a:pt x="51" y="0"/>
                    </a:lnTo>
                    <a:lnTo>
                      <a:pt x="53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49" name="Freeform 873"/>
              <p:cNvSpPr>
                <a:spLocks/>
              </p:cNvSpPr>
              <p:nvPr/>
            </p:nvSpPr>
            <p:spPr bwMode="auto">
              <a:xfrm>
                <a:off x="2778" y="1939"/>
                <a:ext cx="70" cy="27"/>
              </a:xfrm>
              <a:custGeom>
                <a:avLst/>
                <a:gdLst>
                  <a:gd name="T0" fmla="*/ 70 w 70"/>
                  <a:gd name="T1" fmla="*/ 6 h 27"/>
                  <a:gd name="T2" fmla="*/ 22 w 70"/>
                  <a:gd name="T3" fmla="*/ 27 h 27"/>
                  <a:gd name="T4" fmla="*/ 25 w 70"/>
                  <a:gd name="T5" fmla="*/ 12 h 27"/>
                  <a:gd name="T6" fmla="*/ 0 w 70"/>
                  <a:gd name="T7" fmla="*/ 15 h 27"/>
                  <a:gd name="T8" fmla="*/ 34 w 70"/>
                  <a:gd name="T9" fmla="*/ 0 h 27"/>
                  <a:gd name="T10" fmla="*/ 32 w 70"/>
                  <a:gd name="T11" fmla="*/ 15 h 27"/>
                  <a:gd name="T12" fmla="*/ 70 w 70"/>
                  <a:gd name="T13" fmla="*/ 6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0"/>
                  <a:gd name="T22" fmla="*/ 0 h 27"/>
                  <a:gd name="T23" fmla="*/ 70 w 70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0" h="27">
                    <a:moveTo>
                      <a:pt x="70" y="6"/>
                    </a:moveTo>
                    <a:lnTo>
                      <a:pt x="22" y="27"/>
                    </a:lnTo>
                    <a:lnTo>
                      <a:pt x="25" y="12"/>
                    </a:lnTo>
                    <a:lnTo>
                      <a:pt x="0" y="15"/>
                    </a:lnTo>
                    <a:lnTo>
                      <a:pt x="34" y="0"/>
                    </a:lnTo>
                    <a:lnTo>
                      <a:pt x="32" y="15"/>
                    </a:lnTo>
                    <a:lnTo>
                      <a:pt x="70" y="6"/>
                    </a:lnTo>
                    <a:close/>
                  </a:path>
                </a:pathLst>
              </a:custGeom>
              <a:solidFill>
                <a:srgbClr val="19191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50" name="Freeform 874"/>
              <p:cNvSpPr>
                <a:spLocks/>
              </p:cNvSpPr>
              <p:nvPr/>
            </p:nvSpPr>
            <p:spPr bwMode="auto">
              <a:xfrm>
                <a:off x="2780" y="1939"/>
                <a:ext cx="65" cy="27"/>
              </a:xfrm>
              <a:custGeom>
                <a:avLst/>
                <a:gdLst>
                  <a:gd name="T0" fmla="*/ 65 w 65"/>
                  <a:gd name="T1" fmla="*/ 7 h 27"/>
                  <a:gd name="T2" fmla="*/ 21 w 65"/>
                  <a:gd name="T3" fmla="*/ 27 h 27"/>
                  <a:gd name="T4" fmla="*/ 23 w 65"/>
                  <a:gd name="T5" fmla="*/ 11 h 27"/>
                  <a:gd name="T6" fmla="*/ 0 w 65"/>
                  <a:gd name="T7" fmla="*/ 14 h 27"/>
                  <a:gd name="T8" fmla="*/ 32 w 65"/>
                  <a:gd name="T9" fmla="*/ 0 h 27"/>
                  <a:gd name="T10" fmla="*/ 30 w 65"/>
                  <a:gd name="T11" fmla="*/ 16 h 27"/>
                  <a:gd name="T12" fmla="*/ 65 w 65"/>
                  <a:gd name="T13" fmla="*/ 7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5"/>
                  <a:gd name="T22" fmla="*/ 0 h 27"/>
                  <a:gd name="T23" fmla="*/ 65 w 65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5" h="27">
                    <a:moveTo>
                      <a:pt x="65" y="7"/>
                    </a:moveTo>
                    <a:lnTo>
                      <a:pt x="21" y="27"/>
                    </a:lnTo>
                    <a:lnTo>
                      <a:pt x="23" y="11"/>
                    </a:lnTo>
                    <a:lnTo>
                      <a:pt x="0" y="14"/>
                    </a:lnTo>
                    <a:lnTo>
                      <a:pt x="32" y="0"/>
                    </a:lnTo>
                    <a:lnTo>
                      <a:pt x="30" y="16"/>
                    </a:lnTo>
                    <a:lnTo>
                      <a:pt x="65" y="7"/>
                    </a:ln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51" name="Freeform 875"/>
              <p:cNvSpPr>
                <a:spLocks/>
              </p:cNvSpPr>
              <p:nvPr/>
            </p:nvSpPr>
            <p:spPr bwMode="auto">
              <a:xfrm>
                <a:off x="2782" y="1940"/>
                <a:ext cx="59" cy="26"/>
              </a:xfrm>
              <a:custGeom>
                <a:avLst/>
                <a:gdLst>
                  <a:gd name="T0" fmla="*/ 59 w 59"/>
                  <a:gd name="T1" fmla="*/ 7 h 26"/>
                  <a:gd name="T2" fmla="*/ 19 w 59"/>
                  <a:gd name="T3" fmla="*/ 26 h 26"/>
                  <a:gd name="T4" fmla="*/ 21 w 59"/>
                  <a:gd name="T5" fmla="*/ 10 h 26"/>
                  <a:gd name="T6" fmla="*/ 0 w 59"/>
                  <a:gd name="T7" fmla="*/ 13 h 26"/>
                  <a:gd name="T8" fmla="*/ 29 w 59"/>
                  <a:gd name="T9" fmla="*/ 0 h 26"/>
                  <a:gd name="T10" fmla="*/ 27 w 59"/>
                  <a:gd name="T11" fmla="*/ 16 h 26"/>
                  <a:gd name="T12" fmla="*/ 59 w 59"/>
                  <a:gd name="T13" fmla="*/ 7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9"/>
                  <a:gd name="T22" fmla="*/ 0 h 26"/>
                  <a:gd name="T23" fmla="*/ 59 w 59"/>
                  <a:gd name="T24" fmla="*/ 26 h 2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9" h="26">
                    <a:moveTo>
                      <a:pt x="59" y="7"/>
                    </a:moveTo>
                    <a:lnTo>
                      <a:pt x="19" y="26"/>
                    </a:lnTo>
                    <a:lnTo>
                      <a:pt x="21" y="10"/>
                    </a:lnTo>
                    <a:lnTo>
                      <a:pt x="0" y="13"/>
                    </a:lnTo>
                    <a:lnTo>
                      <a:pt x="29" y="0"/>
                    </a:lnTo>
                    <a:lnTo>
                      <a:pt x="27" y="16"/>
                    </a:lnTo>
                    <a:lnTo>
                      <a:pt x="59" y="7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52" name="Freeform 876"/>
              <p:cNvSpPr>
                <a:spLocks/>
              </p:cNvSpPr>
              <p:nvPr/>
            </p:nvSpPr>
            <p:spPr bwMode="auto">
              <a:xfrm>
                <a:off x="2784" y="1940"/>
                <a:ext cx="54" cy="25"/>
              </a:xfrm>
              <a:custGeom>
                <a:avLst/>
                <a:gdLst>
                  <a:gd name="T0" fmla="*/ 54 w 54"/>
                  <a:gd name="T1" fmla="*/ 8 h 25"/>
                  <a:gd name="T2" fmla="*/ 17 w 54"/>
                  <a:gd name="T3" fmla="*/ 25 h 25"/>
                  <a:gd name="T4" fmla="*/ 19 w 54"/>
                  <a:gd name="T5" fmla="*/ 8 h 25"/>
                  <a:gd name="T6" fmla="*/ 0 w 54"/>
                  <a:gd name="T7" fmla="*/ 12 h 25"/>
                  <a:gd name="T8" fmla="*/ 27 w 54"/>
                  <a:gd name="T9" fmla="*/ 0 h 25"/>
                  <a:gd name="T10" fmla="*/ 25 w 54"/>
                  <a:gd name="T11" fmla="*/ 16 h 25"/>
                  <a:gd name="T12" fmla="*/ 54 w 54"/>
                  <a:gd name="T13" fmla="*/ 8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5"/>
                  <a:gd name="T23" fmla="*/ 54 w 54"/>
                  <a:gd name="T24" fmla="*/ 25 h 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5">
                    <a:moveTo>
                      <a:pt x="54" y="8"/>
                    </a:moveTo>
                    <a:lnTo>
                      <a:pt x="17" y="25"/>
                    </a:lnTo>
                    <a:lnTo>
                      <a:pt x="19" y="8"/>
                    </a:lnTo>
                    <a:lnTo>
                      <a:pt x="0" y="12"/>
                    </a:lnTo>
                    <a:lnTo>
                      <a:pt x="27" y="0"/>
                    </a:lnTo>
                    <a:lnTo>
                      <a:pt x="25" y="16"/>
                    </a:lnTo>
                    <a:lnTo>
                      <a:pt x="54" y="8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53" name="Freeform 877"/>
              <p:cNvSpPr>
                <a:spLocks/>
              </p:cNvSpPr>
              <p:nvPr/>
            </p:nvSpPr>
            <p:spPr bwMode="auto">
              <a:xfrm>
                <a:off x="2786" y="1941"/>
                <a:ext cx="48" cy="24"/>
              </a:xfrm>
              <a:custGeom>
                <a:avLst/>
                <a:gdLst>
                  <a:gd name="T0" fmla="*/ 48 w 48"/>
                  <a:gd name="T1" fmla="*/ 9 h 24"/>
                  <a:gd name="T2" fmla="*/ 16 w 48"/>
                  <a:gd name="T3" fmla="*/ 24 h 24"/>
                  <a:gd name="T4" fmla="*/ 18 w 48"/>
                  <a:gd name="T5" fmla="*/ 7 h 24"/>
                  <a:gd name="T6" fmla="*/ 0 w 48"/>
                  <a:gd name="T7" fmla="*/ 11 h 24"/>
                  <a:gd name="T8" fmla="*/ 24 w 48"/>
                  <a:gd name="T9" fmla="*/ 0 h 24"/>
                  <a:gd name="T10" fmla="*/ 22 w 48"/>
                  <a:gd name="T11" fmla="*/ 16 h 24"/>
                  <a:gd name="T12" fmla="*/ 48 w 48"/>
                  <a:gd name="T13" fmla="*/ 9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"/>
                  <a:gd name="T22" fmla="*/ 0 h 24"/>
                  <a:gd name="T23" fmla="*/ 48 w 48"/>
                  <a:gd name="T24" fmla="*/ 24 h 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" h="24">
                    <a:moveTo>
                      <a:pt x="48" y="9"/>
                    </a:moveTo>
                    <a:lnTo>
                      <a:pt x="16" y="24"/>
                    </a:lnTo>
                    <a:lnTo>
                      <a:pt x="18" y="7"/>
                    </a:lnTo>
                    <a:lnTo>
                      <a:pt x="0" y="11"/>
                    </a:lnTo>
                    <a:lnTo>
                      <a:pt x="24" y="0"/>
                    </a:lnTo>
                    <a:lnTo>
                      <a:pt x="22" y="16"/>
                    </a:lnTo>
                    <a:lnTo>
                      <a:pt x="48" y="9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54" name="Freeform 878"/>
              <p:cNvSpPr>
                <a:spLocks/>
              </p:cNvSpPr>
              <p:nvPr/>
            </p:nvSpPr>
            <p:spPr bwMode="auto">
              <a:xfrm>
                <a:off x="2788" y="1941"/>
                <a:ext cx="43" cy="22"/>
              </a:xfrm>
              <a:custGeom>
                <a:avLst/>
                <a:gdLst>
                  <a:gd name="T0" fmla="*/ 43 w 43"/>
                  <a:gd name="T1" fmla="*/ 10 h 22"/>
                  <a:gd name="T2" fmla="*/ 14 w 43"/>
                  <a:gd name="T3" fmla="*/ 22 h 22"/>
                  <a:gd name="T4" fmla="*/ 16 w 43"/>
                  <a:gd name="T5" fmla="*/ 7 h 22"/>
                  <a:gd name="T6" fmla="*/ 0 w 43"/>
                  <a:gd name="T7" fmla="*/ 10 h 22"/>
                  <a:gd name="T8" fmla="*/ 22 w 43"/>
                  <a:gd name="T9" fmla="*/ 0 h 22"/>
                  <a:gd name="T10" fmla="*/ 20 w 43"/>
                  <a:gd name="T11" fmla="*/ 16 h 22"/>
                  <a:gd name="T12" fmla="*/ 43 w 43"/>
                  <a:gd name="T13" fmla="*/ 10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22"/>
                  <a:gd name="T23" fmla="*/ 43 w 43"/>
                  <a:gd name="T24" fmla="*/ 22 h 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22">
                    <a:moveTo>
                      <a:pt x="43" y="10"/>
                    </a:moveTo>
                    <a:lnTo>
                      <a:pt x="14" y="22"/>
                    </a:lnTo>
                    <a:lnTo>
                      <a:pt x="16" y="7"/>
                    </a:lnTo>
                    <a:lnTo>
                      <a:pt x="0" y="10"/>
                    </a:lnTo>
                    <a:lnTo>
                      <a:pt x="22" y="0"/>
                    </a:lnTo>
                    <a:lnTo>
                      <a:pt x="20" y="16"/>
                    </a:lnTo>
                    <a:lnTo>
                      <a:pt x="43" y="1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55" name="Freeform 879"/>
              <p:cNvSpPr>
                <a:spLocks/>
              </p:cNvSpPr>
              <p:nvPr/>
            </p:nvSpPr>
            <p:spPr bwMode="auto">
              <a:xfrm>
                <a:off x="2790" y="1942"/>
                <a:ext cx="38" cy="21"/>
              </a:xfrm>
              <a:custGeom>
                <a:avLst/>
                <a:gdLst>
                  <a:gd name="T0" fmla="*/ 38 w 38"/>
                  <a:gd name="T1" fmla="*/ 11 h 21"/>
                  <a:gd name="T2" fmla="*/ 12 w 38"/>
                  <a:gd name="T3" fmla="*/ 21 h 21"/>
                  <a:gd name="T4" fmla="*/ 14 w 38"/>
                  <a:gd name="T5" fmla="*/ 5 h 21"/>
                  <a:gd name="T6" fmla="*/ 0 w 38"/>
                  <a:gd name="T7" fmla="*/ 9 h 21"/>
                  <a:gd name="T8" fmla="*/ 20 w 38"/>
                  <a:gd name="T9" fmla="*/ 0 h 21"/>
                  <a:gd name="T10" fmla="*/ 17 w 38"/>
                  <a:gd name="T11" fmla="*/ 15 h 21"/>
                  <a:gd name="T12" fmla="*/ 38 w 38"/>
                  <a:gd name="T13" fmla="*/ 11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"/>
                  <a:gd name="T22" fmla="*/ 0 h 21"/>
                  <a:gd name="T23" fmla="*/ 38 w 38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" h="21">
                    <a:moveTo>
                      <a:pt x="38" y="11"/>
                    </a:moveTo>
                    <a:lnTo>
                      <a:pt x="12" y="21"/>
                    </a:lnTo>
                    <a:lnTo>
                      <a:pt x="14" y="5"/>
                    </a:lnTo>
                    <a:lnTo>
                      <a:pt x="0" y="9"/>
                    </a:lnTo>
                    <a:lnTo>
                      <a:pt x="20" y="0"/>
                    </a:lnTo>
                    <a:lnTo>
                      <a:pt x="17" y="15"/>
                    </a:lnTo>
                    <a:lnTo>
                      <a:pt x="38" y="11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56" name="Freeform 880"/>
              <p:cNvSpPr>
                <a:spLocks/>
              </p:cNvSpPr>
              <p:nvPr/>
            </p:nvSpPr>
            <p:spPr bwMode="auto">
              <a:xfrm>
                <a:off x="2792" y="1942"/>
                <a:ext cx="33" cy="21"/>
              </a:xfrm>
              <a:custGeom>
                <a:avLst/>
                <a:gdLst>
                  <a:gd name="T0" fmla="*/ 33 w 33"/>
                  <a:gd name="T1" fmla="*/ 12 h 21"/>
                  <a:gd name="T2" fmla="*/ 10 w 33"/>
                  <a:gd name="T3" fmla="*/ 21 h 21"/>
                  <a:gd name="T4" fmla="*/ 12 w 33"/>
                  <a:gd name="T5" fmla="*/ 5 h 21"/>
                  <a:gd name="T6" fmla="*/ 0 w 33"/>
                  <a:gd name="T7" fmla="*/ 8 h 21"/>
                  <a:gd name="T8" fmla="*/ 17 w 33"/>
                  <a:gd name="T9" fmla="*/ 0 h 21"/>
                  <a:gd name="T10" fmla="*/ 15 w 33"/>
                  <a:gd name="T11" fmla="*/ 16 h 21"/>
                  <a:gd name="T12" fmla="*/ 33 w 33"/>
                  <a:gd name="T13" fmla="*/ 12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"/>
                  <a:gd name="T22" fmla="*/ 0 h 21"/>
                  <a:gd name="T23" fmla="*/ 33 w 33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" h="21">
                    <a:moveTo>
                      <a:pt x="33" y="12"/>
                    </a:moveTo>
                    <a:lnTo>
                      <a:pt x="10" y="21"/>
                    </a:lnTo>
                    <a:lnTo>
                      <a:pt x="12" y="5"/>
                    </a:lnTo>
                    <a:lnTo>
                      <a:pt x="0" y="8"/>
                    </a:lnTo>
                    <a:lnTo>
                      <a:pt x="17" y="0"/>
                    </a:lnTo>
                    <a:lnTo>
                      <a:pt x="15" y="16"/>
                    </a:lnTo>
                    <a:lnTo>
                      <a:pt x="33" y="12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57" name="Freeform 881"/>
              <p:cNvSpPr>
                <a:spLocks/>
              </p:cNvSpPr>
              <p:nvPr/>
            </p:nvSpPr>
            <p:spPr bwMode="auto">
              <a:xfrm>
                <a:off x="2794" y="1942"/>
                <a:ext cx="27" cy="20"/>
              </a:xfrm>
              <a:custGeom>
                <a:avLst/>
                <a:gdLst>
                  <a:gd name="T0" fmla="*/ 27 w 27"/>
                  <a:gd name="T1" fmla="*/ 12 h 20"/>
                  <a:gd name="T2" fmla="*/ 9 w 27"/>
                  <a:gd name="T3" fmla="*/ 20 h 20"/>
                  <a:gd name="T4" fmla="*/ 11 w 27"/>
                  <a:gd name="T5" fmla="*/ 4 h 20"/>
                  <a:gd name="T6" fmla="*/ 0 w 27"/>
                  <a:gd name="T7" fmla="*/ 6 h 20"/>
                  <a:gd name="T8" fmla="*/ 15 w 27"/>
                  <a:gd name="T9" fmla="*/ 0 h 20"/>
                  <a:gd name="T10" fmla="*/ 11 w 27"/>
                  <a:gd name="T11" fmla="*/ 16 h 20"/>
                  <a:gd name="T12" fmla="*/ 27 w 27"/>
                  <a:gd name="T13" fmla="*/ 12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7"/>
                  <a:gd name="T22" fmla="*/ 0 h 20"/>
                  <a:gd name="T23" fmla="*/ 27 w 27"/>
                  <a:gd name="T24" fmla="*/ 20 h 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7" h="20">
                    <a:moveTo>
                      <a:pt x="27" y="12"/>
                    </a:moveTo>
                    <a:lnTo>
                      <a:pt x="9" y="20"/>
                    </a:lnTo>
                    <a:lnTo>
                      <a:pt x="11" y="4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11" y="16"/>
                    </a:lnTo>
                    <a:lnTo>
                      <a:pt x="27" y="12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58" name="Freeform 882"/>
              <p:cNvSpPr>
                <a:spLocks/>
              </p:cNvSpPr>
              <p:nvPr/>
            </p:nvSpPr>
            <p:spPr bwMode="auto">
              <a:xfrm>
                <a:off x="2796" y="1943"/>
                <a:ext cx="21" cy="19"/>
              </a:xfrm>
              <a:custGeom>
                <a:avLst/>
                <a:gdLst>
                  <a:gd name="T0" fmla="*/ 21 w 21"/>
                  <a:gd name="T1" fmla="*/ 13 h 19"/>
                  <a:gd name="T2" fmla="*/ 9 w 21"/>
                  <a:gd name="T3" fmla="*/ 16 h 19"/>
                  <a:gd name="T4" fmla="*/ 12 w 21"/>
                  <a:gd name="T5" fmla="*/ 0 h 19"/>
                  <a:gd name="T6" fmla="*/ 0 w 21"/>
                  <a:gd name="T7" fmla="*/ 5 h 19"/>
                  <a:gd name="T8" fmla="*/ 9 w 21"/>
                  <a:gd name="T9" fmla="*/ 3 h 19"/>
                  <a:gd name="T10" fmla="*/ 7 w 21"/>
                  <a:gd name="T11" fmla="*/ 19 h 19"/>
                  <a:gd name="T12" fmla="*/ 21 w 21"/>
                  <a:gd name="T13" fmla="*/ 13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19"/>
                  <a:gd name="T23" fmla="*/ 21 w 21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19">
                    <a:moveTo>
                      <a:pt x="21" y="13"/>
                    </a:moveTo>
                    <a:lnTo>
                      <a:pt x="9" y="16"/>
                    </a:lnTo>
                    <a:lnTo>
                      <a:pt x="12" y="0"/>
                    </a:lnTo>
                    <a:lnTo>
                      <a:pt x="0" y="5"/>
                    </a:lnTo>
                    <a:lnTo>
                      <a:pt x="9" y="3"/>
                    </a:lnTo>
                    <a:lnTo>
                      <a:pt x="7" y="19"/>
                    </a:lnTo>
                    <a:lnTo>
                      <a:pt x="21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59" name="Freeform 883"/>
              <p:cNvSpPr>
                <a:spLocks/>
              </p:cNvSpPr>
              <p:nvPr/>
            </p:nvSpPr>
            <p:spPr bwMode="auto">
              <a:xfrm>
                <a:off x="2627" y="1888"/>
                <a:ext cx="128" cy="165"/>
              </a:xfrm>
              <a:custGeom>
                <a:avLst/>
                <a:gdLst>
                  <a:gd name="T0" fmla="*/ 71 w 128"/>
                  <a:gd name="T1" fmla="*/ 0 h 165"/>
                  <a:gd name="T2" fmla="*/ 83 w 128"/>
                  <a:gd name="T3" fmla="*/ 3 h 165"/>
                  <a:gd name="T4" fmla="*/ 95 w 128"/>
                  <a:gd name="T5" fmla="*/ 7 h 165"/>
                  <a:gd name="T6" fmla="*/ 105 w 128"/>
                  <a:gd name="T7" fmla="*/ 15 h 165"/>
                  <a:gd name="T8" fmla="*/ 113 w 128"/>
                  <a:gd name="T9" fmla="*/ 23 h 165"/>
                  <a:gd name="T10" fmla="*/ 121 w 128"/>
                  <a:gd name="T11" fmla="*/ 34 h 165"/>
                  <a:gd name="T12" fmla="*/ 125 w 128"/>
                  <a:gd name="T13" fmla="*/ 46 h 165"/>
                  <a:gd name="T14" fmla="*/ 128 w 128"/>
                  <a:gd name="T15" fmla="*/ 58 h 165"/>
                  <a:gd name="T16" fmla="*/ 128 w 128"/>
                  <a:gd name="T17" fmla="*/ 71 h 165"/>
                  <a:gd name="T18" fmla="*/ 125 w 128"/>
                  <a:gd name="T19" fmla="*/ 85 h 165"/>
                  <a:gd name="T20" fmla="*/ 121 w 128"/>
                  <a:gd name="T21" fmla="*/ 96 h 165"/>
                  <a:gd name="T22" fmla="*/ 113 w 128"/>
                  <a:gd name="T23" fmla="*/ 106 h 165"/>
                  <a:gd name="T24" fmla="*/ 107 w 128"/>
                  <a:gd name="T25" fmla="*/ 114 h 165"/>
                  <a:gd name="T26" fmla="*/ 99 w 128"/>
                  <a:gd name="T27" fmla="*/ 122 h 165"/>
                  <a:gd name="T28" fmla="*/ 92 w 128"/>
                  <a:gd name="T29" fmla="*/ 135 h 165"/>
                  <a:gd name="T30" fmla="*/ 87 w 128"/>
                  <a:gd name="T31" fmla="*/ 153 h 165"/>
                  <a:gd name="T32" fmla="*/ 43 w 128"/>
                  <a:gd name="T33" fmla="*/ 165 h 165"/>
                  <a:gd name="T34" fmla="*/ 40 w 128"/>
                  <a:gd name="T35" fmla="*/ 144 h 165"/>
                  <a:gd name="T36" fmla="*/ 33 w 128"/>
                  <a:gd name="T37" fmla="*/ 128 h 165"/>
                  <a:gd name="T38" fmla="*/ 25 w 128"/>
                  <a:gd name="T39" fmla="*/ 118 h 165"/>
                  <a:gd name="T40" fmla="*/ 18 w 128"/>
                  <a:gd name="T41" fmla="*/ 111 h 165"/>
                  <a:gd name="T42" fmla="*/ 11 w 128"/>
                  <a:gd name="T43" fmla="*/ 101 h 165"/>
                  <a:gd name="T44" fmla="*/ 5 w 128"/>
                  <a:gd name="T45" fmla="*/ 90 h 165"/>
                  <a:gd name="T46" fmla="*/ 1 w 128"/>
                  <a:gd name="T47" fmla="*/ 79 h 165"/>
                  <a:gd name="T48" fmla="*/ 0 w 128"/>
                  <a:gd name="T49" fmla="*/ 65 h 165"/>
                  <a:gd name="T50" fmla="*/ 1 w 128"/>
                  <a:gd name="T51" fmla="*/ 52 h 165"/>
                  <a:gd name="T52" fmla="*/ 5 w 128"/>
                  <a:gd name="T53" fmla="*/ 40 h 165"/>
                  <a:gd name="T54" fmla="*/ 11 w 128"/>
                  <a:gd name="T55" fmla="*/ 28 h 165"/>
                  <a:gd name="T56" fmla="*/ 19 w 128"/>
                  <a:gd name="T57" fmla="*/ 19 h 165"/>
                  <a:gd name="T58" fmla="*/ 28 w 128"/>
                  <a:gd name="T59" fmla="*/ 11 h 165"/>
                  <a:gd name="T60" fmla="*/ 40 w 128"/>
                  <a:gd name="T61" fmla="*/ 5 h 165"/>
                  <a:gd name="T62" fmla="*/ 51 w 128"/>
                  <a:gd name="T63" fmla="*/ 1 h 165"/>
                  <a:gd name="T64" fmla="*/ 64 w 128"/>
                  <a:gd name="T65" fmla="*/ 0 h 16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8"/>
                  <a:gd name="T100" fmla="*/ 0 h 165"/>
                  <a:gd name="T101" fmla="*/ 128 w 128"/>
                  <a:gd name="T102" fmla="*/ 165 h 165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8" h="165">
                    <a:moveTo>
                      <a:pt x="64" y="0"/>
                    </a:moveTo>
                    <a:lnTo>
                      <a:pt x="71" y="0"/>
                    </a:lnTo>
                    <a:lnTo>
                      <a:pt x="77" y="1"/>
                    </a:lnTo>
                    <a:lnTo>
                      <a:pt x="83" y="3"/>
                    </a:lnTo>
                    <a:lnTo>
                      <a:pt x="89" y="5"/>
                    </a:lnTo>
                    <a:lnTo>
                      <a:pt x="95" y="7"/>
                    </a:lnTo>
                    <a:lnTo>
                      <a:pt x="100" y="11"/>
                    </a:lnTo>
                    <a:lnTo>
                      <a:pt x="105" y="15"/>
                    </a:lnTo>
                    <a:lnTo>
                      <a:pt x="109" y="19"/>
                    </a:lnTo>
                    <a:lnTo>
                      <a:pt x="113" y="23"/>
                    </a:lnTo>
                    <a:lnTo>
                      <a:pt x="118" y="28"/>
                    </a:lnTo>
                    <a:lnTo>
                      <a:pt x="121" y="34"/>
                    </a:lnTo>
                    <a:lnTo>
                      <a:pt x="123" y="40"/>
                    </a:lnTo>
                    <a:lnTo>
                      <a:pt x="125" y="46"/>
                    </a:lnTo>
                    <a:lnTo>
                      <a:pt x="127" y="52"/>
                    </a:lnTo>
                    <a:lnTo>
                      <a:pt x="128" y="58"/>
                    </a:lnTo>
                    <a:lnTo>
                      <a:pt x="128" y="65"/>
                    </a:lnTo>
                    <a:lnTo>
                      <a:pt x="128" y="71"/>
                    </a:lnTo>
                    <a:lnTo>
                      <a:pt x="127" y="79"/>
                    </a:lnTo>
                    <a:lnTo>
                      <a:pt x="125" y="85"/>
                    </a:lnTo>
                    <a:lnTo>
                      <a:pt x="123" y="90"/>
                    </a:lnTo>
                    <a:lnTo>
                      <a:pt x="121" y="96"/>
                    </a:lnTo>
                    <a:lnTo>
                      <a:pt x="118" y="101"/>
                    </a:lnTo>
                    <a:lnTo>
                      <a:pt x="113" y="106"/>
                    </a:lnTo>
                    <a:lnTo>
                      <a:pt x="110" y="111"/>
                    </a:lnTo>
                    <a:lnTo>
                      <a:pt x="107" y="114"/>
                    </a:lnTo>
                    <a:lnTo>
                      <a:pt x="104" y="118"/>
                    </a:lnTo>
                    <a:lnTo>
                      <a:pt x="99" y="122"/>
                    </a:lnTo>
                    <a:lnTo>
                      <a:pt x="95" y="128"/>
                    </a:lnTo>
                    <a:lnTo>
                      <a:pt x="92" y="135"/>
                    </a:lnTo>
                    <a:lnTo>
                      <a:pt x="89" y="144"/>
                    </a:lnTo>
                    <a:lnTo>
                      <a:pt x="87" y="153"/>
                    </a:lnTo>
                    <a:lnTo>
                      <a:pt x="85" y="165"/>
                    </a:lnTo>
                    <a:lnTo>
                      <a:pt x="43" y="165"/>
                    </a:lnTo>
                    <a:lnTo>
                      <a:pt x="42" y="153"/>
                    </a:lnTo>
                    <a:lnTo>
                      <a:pt x="40" y="144"/>
                    </a:lnTo>
                    <a:lnTo>
                      <a:pt x="36" y="135"/>
                    </a:lnTo>
                    <a:lnTo>
                      <a:pt x="33" y="128"/>
                    </a:lnTo>
                    <a:lnTo>
                      <a:pt x="29" y="122"/>
                    </a:lnTo>
                    <a:lnTo>
                      <a:pt x="25" y="118"/>
                    </a:lnTo>
                    <a:lnTo>
                      <a:pt x="21" y="114"/>
                    </a:lnTo>
                    <a:lnTo>
                      <a:pt x="18" y="111"/>
                    </a:lnTo>
                    <a:lnTo>
                      <a:pt x="15" y="106"/>
                    </a:lnTo>
                    <a:lnTo>
                      <a:pt x="11" y="101"/>
                    </a:lnTo>
                    <a:lnTo>
                      <a:pt x="7" y="96"/>
                    </a:lnTo>
                    <a:lnTo>
                      <a:pt x="5" y="90"/>
                    </a:lnTo>
                    <a:lnTo>
                      <a:pt x="3" y="85"/>
                    </a:lnTo>
                    <a:lnTo>
                      <a:pt x="1" y="79"/>
                    </a:lnTo>
                    <a:lnTo>
                      <a:pt x="0" y="71"/>
                    </a:lnTo>
                    <a:lnTo>
                      <a:pt x="0" y="65"/>
                    </a:lnTo>
                    <a:lnTo>
                      <a:pt x="0" y="58"/>
                    </a:lnTo>
                    <a:lnTo>
                      <a:pt x="1" y="52"/>
                    </a:lnTo>
                    <a:lnTo>
                      <a:pt x="3" y="46"/>
                    </a:lnTo>
                    <a:lnTo>
                      <a:pt x="5" y="40"/>
                    </a:lnTo>
                    <a:lnTo>
                      <a:pt x="7" y="34"/>
                    </a:lnTo>
                    <a:lnTo>
                      <a:pt x="11" y="28"/>
                    </a:lnTo>
                    <a:lnTo>
                      <a:pt x="15" y="23"/>
                    </a:lnTo>
                    <a:lnTo>
                      <a:pt x="19" y="19"/>
                    </a:lnTo>
                    <a:lnTo>
                      <a:pt x="24" y="15"/>
                    </a:lnTo>
                    <a:lnTo>
                      <a:pt x="28" y="11"/>
                    </a:lnTo>
                    <a:lnTo>
                      <a:pt x="33" y="7"/>
                    </a:lnTo>
                    <a:lnTo>
                      <a:pt x="40" y="5"/>
                    </a:lnTo>
                    <a:lnTo>
                      <a:pt x="45" y="3"/>
                    </a:lnTo>
                    <a:lnTo>
                      <a:pt x="51" y="1"/>
                    </a:lnTo>
                    <a:lnTo>
                      <a:pt x="58" y="0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60" name="Freeform 884"/>
              <p:cNvSpPr>
                <a:spLocks/>
              </p:cNvSpPr>
              <p:nvPr/>
            </p:nvSpPr>
            <p:spPr bwMode="auto">
              <a:xfrm>
                <a:off x="2628" y="1889"/>
                <a:ext cx="126" cy="164"/>
              </a:xfrm>
              <a:custGeom>
                <a:avLst/>
                <a:gdLst>
                  <a:gd name="T0" fmla="*/ 70 w 126"/>
                  <a:gd name="T1" fmla="*/ 0 h 164"/>
                  <a:gd name="T2" fmla="*/ 82 w 126"/>
                  <a:gd name="T3" fmla="*/ 3 h 164"/>
                  <a:gd name="T4" fmla="*/ 93 w 126"/>
                  <a:gd name="T5" fmla="*/ 8 h 164"/>
                  <a:gd name="T6" fmla="*/ 103 w 126"/>
                  <a:gd name="T7" fmla="*/ 15 h 164"/>
                  <a:gd name="T8" fmla="*/ 112 w 126"/>
                  <a:gd name="T9" fmla="*/ 24 h 164"/>
                  <a:gd name="T10" fmla="*/ 119 w 126"/>
                  <a:gd name="T11" fmla="*/ 34 h 164"/>
                  <a:gd name="T12" fmla="*/ 123 w 126"/>
                  <a:gd name="T13" fmla="*/ 47 h 164"/>
                  <a:gd name="T14" fmla="*/ 126 w 126"/>
                  <a:gd name="T15" fmla="*/ 58 h 164"/>
                  <a:gd name="T16" fmla="*/ 126 w 126"/>
                  <a:gd name="T17" fmla="*/ 72 h 164"/>
                  <a:gd name="T18" fmla="*/ 123 w 126"/>
                  <a:gd name="T19" fmla="*/ 84 h 164"/>
                  <a:gd name="T20" fmla="*/ 119 w 126"/>
                  <a:gd name="T21" fmla="*/ 96 h 164"/>
                  <a:gd name="T22" fmla="*/ 111 w 126"/>
                  <a:gd name="T23" fmla="*/ 105 h 164"/>
                  <a:gd name="T24" fmla="*/ 105 w 126"/>
                  <a:gd name="T25" fmla="*/ 113 h 164"/>
                  <a:gd name="T26" fmla="*/ 97 w 126"/>
                  <a:gd name="T27" fmla="*/ 121 h 164"/>
                  <a:gd name="T28" fmla="*/ 90 w 126"/>
                  <a:gd name="T29" fmla="*/ 134 h 164"/>
                  <a:gd name="T30" fmla="*/ 84 w 126"/>
                  <a:gd name="T31" fmla="*/ 152 h 164"/>
                  <a:gd name="T32" fmla="*/ 43 w 126"/>
                  <a:gd name="T33" fmla="*/ 164 h 164"/>
                  <a:gd name="T34" fmla="*/ 40 w 126"/>
                  <a:gd name="T35" fmla="*/ 143 h 164"/>
                  <a:gd name="T36" fmla="*/ 33 w 126"/>
                  <a:gd name="T37" fmla="*/ 127 h 164"/>
                  <a:gd name="T38" fmla="*/ 25 w 126"/>
                  <a:gd name="T39" fmla="*/ 117 h 164"/>
                  <a:gd name="T40" fmla="*/ 18 w 126"/>
                  <a:gd name="T41" fmla="*/ 111 h 164"/>
                  <a:gd name="T42" fmla="*/ 11 w 126"/>
                  <a:gd name="T43" fmla="*/ 101 h 164"/>
                  <a:gd name="T44" fmla="*/ 5 w 126"/>
                  <a:gd name="T45" fmla="*/ 90 h 164"/>
                  <a:gd name="T46" fmla="*/ 1 w 126"/>
                  <a:gd name="T47" fmla="*/ 78 h 164"/>
                  <a:gd name="T48" fmla="*/ 0 w 126"/>
                  <a:gd name="T49" fmla="*/ 65 h 164"/>
                  <a:gd name="T50" fmla="*/ 1 w 126"/>
                  <a:gd name="T51" fmla="*/ 52 h 164"/>
                  <a:gd name="T52" fmla="*/ 5 w 126"/>
                  <a:gd name="T53" fmla="*/ 40 h 164"/>
                  <a:gd name="T54" fmla="*/ 11 w 126"/>
                  <a:gd name="T55" fmla="*/ 28 h 164"/>
                  <a:gd name="T56" fmla="*/ 18 w 126"/>
                  <a:gd name="T57" fmla="*/ 19 h 164"/>
                  <a:gd name="T58" fmla="*/ 28 w 126"/>
                  <a:gd name="T59" fmla="*/ 11 h 164"/>
                  <a:gd name="T60" fmla="*/ 39 w 126"/>
                  <a:gd name="T61" fmla="*/ 5 h 164"/>
                  <a:gd name="T62" fmla="*/ 50 w 126"/>
                  <a:gd name="T63" fmla="*/ 1 h 164"/>
                  <a:gd name="T64" fmla="*/ 63 w 126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6"/>
                  <a:gd name="T100" fmla="*/ 0 h 164"/>
                  <a:gd name="T101" fmla="*/ 126 w 126"/>
                  <a:gd name="T102" fmla="*/ 164 h 16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6" h="164">
                    <a:moveTo>
                      <a:pt x="63" y="0"/>
                    </a:moveTo>
                    <a:lnTo>
                      <a:pt x="70" y="0"/>
                    </a:lnTo>
                    <a:lnTo>
                      <a:pt x="76" y="1"/>
                    </a:lnTo>
                    <a:lnTo>
                      <a:pt x="82" y="3"/>
                    </a:lnTo>
                    <a:lnTo>
                      <a:pt x="88" y="5"/>
                    </a:lnTo>
                    <a:lnTo>
                      <a:pt x="93" y="8"/>
                    </a:lnTo>
                    <a:lnTo>
                      <a:pt x="98" y="11"/>
                    </a:lnTo>
                    <a:lnTo>
                      <a:pt x="103" y="15"/>
                    </a:lnTo>
                    <a:lnTo>
                      <a:pt x="108" y="19"/>
                    </a:lnTo>
                    <a:lnTo>
                      <a:pt x="112" y="24"/>
                    </a:lnTo>
                    <a:lnTo>
                      <a:pt x="115" y="28"/>
                    </a:lnTo>
                    <a:lnTo>
                      <a:pt x="119" y="34"/>
                    </a:lnTo>
                    <a:lnTo>
                      <a:pt x="121" y="40"/>
                    </a:lnTo>
                    <a:lnTo>
                      <a:pt x="123" y="47"/>
                    </a:lnTo>
                    <a:lnTo>
                      <a:pt x="125" y="52"/>
                    </a:lnTo>
                    <a:lnTo>
                      <a:pt x="126" y="58"/>
                    </a:lnTo>
                    <a:lnTo>
                      <a:pt x="126" y="65"/>
                    </a:lnTo>
                    <a:lnTo>
                      <a:pt x="126" y="72"/>
                    </a:lnTo>
                    <a:lnTo>
                      <a:pt x="125" y="78"/>
                    </a:lnTo>
                    <a:lnTo>
                      <a:pt x="123" y="84"/>
                    </a:lnTo>
                    <a:lnTo>
                      <a:pt x="121" y="90"/>
                    </a:lnTo>
                    <a:lnTo>
                      <a:pt x="119" y="96"/>
                    </a:lnTo>
                    <a:lnTo>
                      <a:pt x="115" y="101"/>
                    </a:lnTo>
                    <a:lnTo>
                      <a:pt x="111" y="105"/>
                    </a:lnTo>
                    <a:lnTo>
                      <a:pt x="108" y="111"/>
                    </a:lnTo>
                    <a:lnTo>
                      <a:pt x="105" y="113"/>
                    </a:lnTo>
                    <a:lnTo>
                      <a:pt x="102" y="117"/>
                    </a:lnTo>
                    <a:lnTo>
                      <a:pt x="97" y="121"/>
                    </a:lnTo>
                    <a:lnTo>
                      <a:pt x="93" y="127"/>
                    </a:lnTo>
                    <a:lnTo>
                      <a:pt x="90" y="134"/>
                    </a:lnTo>
                    <a:lnTo>
                      <a:pt x="87" y="143"/>
                    </a:lnTo>
                    <a:lnTo>
                      <a:pt x="84" y="152"/>
                    </a:lnTo>
                    <a:lnTo>
                      <a:pt x="83" y="164"/>
                    </a:lnTo>
                    <a:lnTo>
                      <a:pt x="43" y="164"/>
                    </a:lnTo>
                    <a:lnTo>
                      <a:pt x="42" y="152"/>
                    </a:lnTo>
                    <a:lnTo>
                      <a:pt x="40" y="143"/>
                    </a:lnTo>
                    <a:lnTo>
                      <a:pt x="36" y="134"/>
                    </a:lnTo>
                    <a:lnTo>
                      <a:pt x="33" y="127"/>
                    </a:lnTo>
                    <a:lnTo>
                      <a:pt x="29" y="121"/>
                    </a:lnTo>
                    <a:lnTo>
                      <a:pt x="25" y="117"/>
                    </a:lnTo>
                    <a:lnTo>
                      <a:pt x="21" y="113"/>
                    </a:lnTo>
                    <a:lnTo>
                      <a:pt x="18" y="111"/>
                    </a:lnTo>
                    <a:lnTo>
                      <a:pt x="15" y="105"/>
                    </a:lnTo>
                    <a:lnTo>
                      <a:pt x="11" y="101"/>
                    </a:lnTo>
                    <a:lnTo>
                      <a:pt x="8" y="96"/>
                    </a:lnTo>
                    <a:lnTo>
                      <a:pt x="5" y="90"/>
                    </a:lnTo>
                    <a:lnTo>
                      <a:pt x="3" y="84"/>
                    </a:lnTo>
                    <a:lnTo>
                      <a:pt x="1" y="78"/>
                    </a:lnTo>
                    <a:lnTo>
                      <a:pt x="0" y="72"/>
                    </a:lnTo>
                    <a:lnTo>
                      <a:pt x="0" y="65"/>
                    </a:lnTo>
                    <a:lnTo>
                      <a:pt x="0" y="58"/>
                    </a:lnTo>
                    <a:lnTo>
                      <a:pt x="1" y="52"/>
                    </a:lnTo>
                    <a:lnTo>
                      <a:pt x="3" y="47"/>
                    </a:lnTo>
                    <a:lnTo>
                      <a:pt x="5" y="40"/>
                    </a:lnTo>
                    <a:lnTo>
                      <a:pt x="8" y="34"/>
                    </a:lnTo>
                    <a:lnTo>
                      <a:pt x="11" y="28"/>
                    </a:lnTo>
                    <a:lnTo>
                      <a:pt x="14" y="24"/>
                    </a:lnTo>
                    <a:lnTo>
                      <a:pt x="18" y="19"/>
                    </a:lnTo>
                    <a:lnTo>
                      <a:pt x="23" y="15"/>
                    </a:lnTo>
                    <a:lnTo>
                      <a:pt x="28" y="11"/>
                    </a:lnTo>
                    <a:lnTo>
                      <a:pt x="33" y="8"/>
                    </a:lnTo>
                    <a:lnTo>
                      <a:pt x="39" y="5"/>
                    </a:lnTo>
                    <a:lnTo>
                      <a:pt x="44" y="3"/>
                    </a:lnTo>
                    <a:lnTo>
                      <a:pt x="50" y="1"/>
                    </a:lnTo>
                    <a:lnTo>
                      <a:pt x="57" y="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61" name="Freeform 885"/>
              <p:cNvSpPr>
                <a:spLocks/>
              </p:cNvSpPr>
              <p:nvPr/>
            </p:nvSpPr>
            <p:spPr bwMode="auto">
              <a:xfrm>
                <a:off x="2629" y="1890"/>
                <a:ext cx="124" cy="163"/>
              </a:xfrm>
              <a:custGeom>
                <a:avLst/>
                <a:gdLst>
                  <a:gd name="T0" fmla="*/ 69 w 124"/>
                  <a:gd name="T1" fmla="*/ 0 h 163"/>
                  <a:gd name="T2" fmla="*/ 81 w 124"/>
                  <a:gd name="T3" fmla="*/ 3 h 163"/>
                  <a:gd name="T4" fmla="*/ 92 w 124"/>
                  <a:gd name="T5" fmla="*/ 8 h 163"/>
                  <a:gd name="T6" fmla="*/ 102 w 124"/>
                  <a:gd name="T7" fmla="*/ 15 h 163"/>
                  <a:gd name="T8" fmla="*/ 110 w 124"/>
                  <a:gd name="T9" fmla="*/ 23 h 163"/>
                  <a:gd name="T10" fmla="*/ 117 w 124"/>
                  <a:gd name="T11" fmla="*/ 34 h 163"/>
                  <a:gd name="T12" fmla="*/ 121 w 124"/>
                  <a:gd name="T13" fmla="*/ 46 h 163"/>
                  <a:gd name="T14" fmla="*/ 124 w 124"/>
                  <a:gd name="T15" fmla="*/ 58 h 163"/>
                  <a:gd name="T16" fmla="*/ 124 w 124"/>
                  <a:gd name="T17" fmla="*/ 71 h 163"/>
                  <a:gd name="T18" fmla="*/ 121 w 124"/>
                  <a:gd name="T19" fmla="*/ 84 h 163"/>
                  <a:gd name="T20" fmla="*/ 116 w 124"/>
                  <a:gd name="T21" fmla="*/ 95 h 163"/>
                  <a:gd name="T22" fmla="*/ 109 w 124"/>
                  <a:gd name="T23" fmla="*/ 105 h 163"/>
                  <a:gd name="T24" fmla="*/ 103 w 124"/>
                  <a:gd name="T25" fmla="*/ 113 h 163"/>
                  <a:gd name="T26" fmla="*/ 95 w 124"/>
                  <a:gd name="T27" fmla="*/ 120 h 163"/>
                  <a:gd name="T28" fmla="*/ 88 w 124"/>
                  <a:gd name="T29" fmla="*/ 133 h 163"/>
                  <a:gd name="T30" fmla="*/ 83 w 124"/>
                  <a:gd name="T31" fmla="*/ 151 h 163"/>
                  <a:gd name="T32" fmla="*/ 42 w 124"/>
                  <a:gd name="T33" fmla="*/ 163 h 163"/>
                  <a:gd name="T34" fmla="*/ 39 w 124"/>
                  <a:gd name="T35" fmla="*/ 142 h 163"/>
                  <a:gd name="T36" fmla="*/ 32 w 124"/>
                  <a:gd name="T37" fmla="*/ 127 h 163"/>
                  <a:gd name="T38" fmla="*/ 25 w 124"/>
                  <a:gd name="T39" fmla="*/ 116 h 163"/>
                  <a:gd name="T40" fmla="*/ 18 w 124"/>
                  <a:gd name="T41" fmla="*/ 110 h 163"/>
                  <a:gd name="T42" fmla="*/ 12 w 124"/>
                  <a:gd name="T43" fmla="*/ 100 h 163"/>
                  <a:gd name="T44" fmla="*/ 5 w 124"/>
                  <a:gd name="T45" fmla="*/ 89 h 163"/>
                  <a:gd name="T46" fmla="*/ 1 w 124"/>
                  <a:gd name="T47" fmla="*/ 78 h 163"/>
                  <a:gd name="T48" fmla="*/ 0 w 124"/>
                  <a:gd name="T49" fmla="*/ 65 h 163"/>
                  <a:gd name="T50" fmla="*/ 1 w 124"/>
                  <a:gd name="T51" fmla="*/ 52 h 163"/>
                  <a:gd name="T52" fmla="*/ 5 w 124"/>
                  <a:gd name="T53" fmla="*/ 40 h 163"/>
                  <a:gd name="T54" fmla="*/ 11 w 124"/>
                  <a:gd name="T55" fmla="*/ 29 h 163"/>
                  <a:gd name="T56" fmla="*/ 18 w 124"/>
                  <a:gd name="T57" fmla="*/ 19 h 163"/>
                  <a:gd name="T58" fmla="*/ 27 w 124"/>
                  <a:gd name="T59" fmla="*/ 11 h 163"/>
                  <a:gd name="T60" fmla="*/ 38 w 124"/>
                  <a:gd name="T61" fmla="*/ 5 h 163"/>
                  <a:gd name="T62" fmla="*/ 49 w 124"/>
                  <a:gd name="T63" fmla="*/ 1 h 163"/>
                  <a:gd name="T64" fmla="*/ 62 w 124"/>
                  <a:gd name="T65" fmla="*/ 0 h 1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4"/>
                  <a:gd name="T100" fmla="*/ 0 h 163"/>
                  <a:gd name="T101" fmla="*/ 124 w 124"/>
                  <a:gd name="T102" fmla="*/ 163 h 16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4" h="163">
                    <a:moveTo>
                      <a:pt x="62" y="0"/>
                    </a:moveTo>
                    <a:lnTo>
                      <a:pt x="69" y="0"/>
                    </a:lnTo>
                    <a:lnTo>
                      <a:pt x="75" y="1"/>
                    </a:lnTo>
                    <a:lnTo>
                      <a:pt x="81" y="3"/>
                    </a:lnTo>
                    <a:lnTo>
                      <a:pt x="87" y="5"/>
                    </a:lnTo>
                    <a:lnTo>
                      <a:pt x="92" y="8"/>
                    </a:lnTo>
                    <a:lnTo>
                      <a:pt x="96" y="11"/>
                    </a:lnTo>
                    <a:lnTo>
                      <a:pt x="102" y="15"/>
                    </a:lnTo>
                    <a:lnTo>
                      <a:pt x="106" y="19"/>
                    </a:lnTo>
                    <a:lnTo>
                      <a:pt x="110" y="23"/>
                    </a:lnTo>
                    <a:lnTo>
                      <a:pt x="113" y="29"/>
                    </a:lnTo>
                    <a:lnTo>
                      <a:pt x="117" y="34"/>
                    </a:lnTo>
                    <a:lnTo>
                      <a:pt x="119" y="40"/>
                    </a:lnTo>
                    <a:lnTo>
                      <a:pt x="121" y="46"/>
                    </a:lnTo>
                    <a:lnTo>
                      <a:pt x="123" y="52"/>
                    </a:lnTo>
                    <a:lnTo>
                      <a:pt x="124" y="58"/>
                    </a:lnTo>
                    <a:lnTo>
                      <a:pt x="124" y="65"/>
                    </a:lnTo>
                    <a:lnTo>
                      <a:pt x="124" y="71"/>
                    </a:lnTo>
                    <a:lnTo>
                      <a:pt x="123" y="78"/>
                    </a:lnTo>
                    <a:lnTo>
                      <a:pt x="121" y="84"/>
                    </a:lnTo>
                    <a:lnTo>
                      <a:pt x="119" y="89"/>
                    </a:lnTo>
                    <a:lnTo>
                      <a:pt x="116" y="95"/>
                    </a:lnTo>
                    <a:lnTo>
                      <a:pt x="112" y="100"/>
                    </a:lnTo>
                    <a:lnTo>
                      <a:pt x="109" y="105"/>
                    </a:lnTo>
                    <a:lnTo>
                      <a:pt x="106" y="110"/>
                    </a:lnTo>
                    <a:lnTo>
                      <a:pt x="103" y="113"/>
                    </a:lnTo>
                    <a:lnTo>
                      <a:pt x="100" y="116"/>
                    </a:lnTo>
                    <a:lnTo>
                      <a:pt x="95" y="120"/>
                    </a:lnTo>
                    <a:lnTo>
                      <a:pt x="92" y="127"/>
                    </a:lnTo>
                    <a:lnTo>
                      <a:pt x="88" y="133"/>
                    </a:lnTo>
                    <a:lnTo>
                      <a:pt x="86" y="142"/>
                    </a:lnTo>
                    <a:lnTo>
                      <a:pt x="83" y="151"/>
                    </a:lnTo>
                    <a:lnTo>
                      <a:pt x="82" y="163"/>
                    </a:lnTo>
                    <a:lnTo>
                      <a:pt x="42" y="163"/>
                    </a:lnTo>
                    <a:lnTo>
                      <a:pt x="41" y="151"/>
                    </a:lnTo>
                    <a:lnTo>
                      <a:pt x="39" y="142"/>
                    </a:lnTo>
                    <a:lnTo>
                      <a:pt x="36" y="133"/>
                    </a:lnTo>
                    <a:lnTo>
                      <a:pt x="32" y="127"/>
                    </a:lnTo>
                    <a:lnTo>
                      <a:pt x="29" y="120"/>
                    </a:lnTo>
                    <a:lnTo>
                      <a:pt x="25" y="116"/>
                    </a:lnTo>
                    <a:lnTo>
                      <a:pt x="22" y="113"/>
                    </a:lnTo>
                    <a:lnTo>
                      <a:pt x="18" y="110"/>
                    </a:lnTo>
                    <a:lnTo>
                      <a:pt x="15" y="105"/>
                    </a:lnTo>
                    <a:lnTo>
                      <a:pt x="12" y="100"/>
                    </a:lnTo>
                    <a:lnTo>
                      <a:pt x="9" y="95"/>
                    </a:lnTo>
                    <a:lnTo>
                      <a:pt x="5" y="89"/>
                    </a:lnTo>
                    <a:lnTo>
                      <a:pt x="3" y="84"/>
                    </a:lnTo>
                    <a:lnTo>
                      <a:pt x="1" y="78"/>
                    </a:lnTo>
                    <a:lnTo>
                      <a:pt x="0" y="71"/>
                    </a:lnTo>
                    <a:lnTo>
                      <a:pt x="0" y="65"/>
                    </a:lnTo>
                    <a:lnTo>
                      <a:pt x="0" y="58"/>
                    </a:lnTo>
                    <a:lnTo>
                      <a:pt x="1" y="52"/>
                    </a:lnTo>
                    <a:lnTo>
                      <a:pt x="3" y="46"/>
                    </a:lnTo>
                    <a:lnTo>
                      <a:pt x="5" y="40"/>
                    </a:lnTo>
                    <a:lnTo>
                      <a:pt x="8" y="34"/>
                    </a:lnTo>
                    <a:lnTo>
                      <a:pt x="11" y="29"/>
                    </a:lnTo>
                    <a:lnTo>
                      <a:pt x="14" y="23"/>
                    </a:lnTo>
                    <a:lnTo>
                      <a:pt x="18" y="19"/>
                    </a:lnTo>
                    <a:lnTo>
                      <a:pt x="23" y="15"/>
                    </a:lnTo>
                    <a:lnTo>
                      <a:pt x="27" y="11"/>
                    </a:lnTo>
                    <a:lnTo>
                      <a:pt x="32" y="8"/>
                    </a:lnTo>
                    <a:lnTo>
                      <a:pt x="38" y="5"/>
                    </a:lnTo>
                    <a:lnTo>
                      <a:pt x="43" y="3"/>
                    </a:lnTo>
                    <a:lnTo>
                      <a:pt x="49" y="1"/>
                    </a:lnTo>
                    <a:lnTo>
                      <a:pt x="56" y="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62" name="Freeform 886"/>
              <p:cNvSpPr>
                <a:spLocks/>
              </p:cNvSpPr>
              <p:nvPr/>
            </p:nvSpPr>
            <p:spPr bwMode="auto">
              <a:xfrm>
                <a:off x="2630" y="1891"/>
                <a:ext cx="122" cy="162"/>
              </a:xfrm>
              <a:custGeom>
                <a:avLst/>
                <a:gdLst>
                  <a:gd name="T0" fmla="*/ 68 w 122"/>
                  <a:gd name="T1" fmla="*/ 0 h 162"/>
                  <a:gd name="T2" fmla="*/ 79 w 122"/>
                  <a:gd name="T3" fmla="*/ 3 h 162"/>
                  <a:gd name="T4" fmla="*/ 90 w 122"/>
                  <a:gd name="T5" fmla="*/ 8 h 162"/>
                  <a:gd name="T6" fmla="*/ 100 w 122"/>
                  <a:gd name="T7" fmla="*/ 15 h 162"/>
                  <a:gd name="T8" fmla="*/ 108 w 122"/>
                  <a:gd name="T9" fmla="*/ 23 h 162"/>
                  <a:gd name="T10" fmla="*/ 115 w 122"/>
                  <a:gd name="T11" fmla="*/ 34 h 162"/>
                  <a:gd name="T12" fmla="*/ 119 w 122"/>
                  <a:gd name="T13" fmla="*/ 46 h 162"/>
                  <a:gd name="T14" fmla="*/ 122 w 122"/>
                  <a:gd name="T15" fmla="*/ 59 h 162"/>
                  <a:gd name="T16" fmla="*/ 122 w 122"/>
                  <a:gd name="T17" fmla="*/ 71 h 162"/>
                  <a:gd name="T18" fmla="*/ 119 w 122"/>
                  <a:gd name="T19" fmla="*/ 83 h 162"/>
                  <a:gd name="T20" fmla="*/ 113 w 122"/>
                  <a:gd name="T21" fmla="*/ 95 h 162"/>
                  <a:gd name="T22" fmla="*/ 107 w 122"/>
                  <a:gd name="T23" fmla="*/ 104 h 162"/>
                  <a:gd name="T24" fmla="*/ 101 w 122"/>
                  <a:gd name="T25" fmla="*/ 112 h 162"/>
                  <a:gd name="T26" fmla="*/ 93 w 122"/>
                  <a:gd name="T27" fmla="*/ 121 h 162"/>
                  <a:gd name="T28" fmla="*/ 87 w 122"/>
                  <a:gd name="T29" fmla="*/ 132 h 162"/>
                  <a:gd name="T30" fmla="*/ 81 w 122"/>
                  <a:gd name="T31" fmla="*/ 150 h 162"/>
                  <a:gd name="T32" fmla="*/ 42 w 122"/>
                  <a:gd name="T33" fmla="*/ 162 h 162"/>
                  <a:gd name="T34" fmla="*/ 39 w 122"/>
                  <a:gd name="T35" fmla="*/ 141 h 162"/>
                  <a:gd name="T36" fmla="*/ 32 w 122"/>
                  <a:gd name="T37" fmla="*/ 126 h 162"/>
                  <a:gd name="T38" fmla="*/ 25 w 122"/>
                  <a:gd name="T39" fmla="*/ 115 h 162"/>
                  <a:gd name="T40" fmla="*/ 18 w 122"/>
                  <a:gd name="T41" fmla="*/ 110 h 162"/>
                  <a:gd name="T42" fmla="*/ 12 w 122"/>
                  <a:gd name="T43" fmla="*/ 100 h 162"/>
                  <a:gd name="T44" fmla="*/ 6 w 122"/>
                  <a:gd name="T45" fmla="*/ 90 h 162"/>
                  <a:gd name="T46" fmla="*/ 2 w 122"/>
                  <a:gd name="T47" fmla="*/ 78 h 162"/>
                  <a:gd name="T48" fmla="*/ 0 w 122"/>
                  <a:gd name="T49" fmla="*/ 65 h 162"/>
                  <a:gd name="T50" fmla="*/ 1 w 122"/>
                  <a:gd name="T51" fmla="*/ 52 h 162"/>
                  <a:gd name="T52" fmla="*/ 4 w 122"/>
                  <a:gd name="T53" fmla="*/ 39 h 162"/>
                  <a:gd name="T54" fmla="*/ 11 w 122"/>
                  <a:gd name="T55" fmla="*/ 29 h 162"/>
                  <a:gd name="T56" fmla="*/ 17 w 122"/>
                  <a:gd name="T57" fmla="*/ 19 h 162"/>
                  <a:gd name="T58" fmla="*/ 26 w 122"/>
                  <a:gd name="T59" fmla="*/ 12 h 162"/>
                  <a:gd name="T60" fmla="*/ 37 w 122"/>
                  <a:gd name="T61" fmla="*/ 5 h 162"/>
                  <a:gd name="T62" fmla="*/ 48 w 122"/>
                  <a:gd name="T63" fmla="*/ 1 h 162"/>
                  <a:gd name="T64" fmla="*/ 61 w 122"/>
                  <a:gd name="T65" fmla="*/ 0 h 1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2"/>
                  <a:gd name="T100" fmla="*/ 0 h 162"/>
                  <a:gd name="T101" fmla="*/ 122 w 122"/>
                  <a:gd name="T102" fmla="*/ 162 h 16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2" h="162">
                    <a:moveTo>
                      <a:pt x="61" y="0"/>
                    </a:moveTo>
                    <a:lnTo>
                      <a:pt x="68" y="0"/>
                    </a:lnTo>
                    <a:lnTo>
                      <a:pt x="74" y="1"/>
                    </a:lnTo>
                    <a:lnTo>
                      <a:pt x="79" y="3"/>
                    </a:lnTo>
                    <a:lnTo>
                      <a:pt x="85" y="5"/>
                    </a:lnTo>
                    <a:lnTo>
                      <a:pt x="90" y="8"/>
                    </a:lnTo>
                    <a:lnTo>
                      <a:pt x="95" y="12"/>
                    </a:lnTo>
                    <a:lnTo>
                      <a:pt x="100" y="15"/>
                    </a:lnTo>
                    <a:lnTo>
                      <a:pt x="104" y="19"/>
                    </a:lnTo>
                    <a:lnTo>
                      <a:pt x="108" y="23"/>
                    </a:lnTo>
                    <a:lnTo>
                      <a:pt x="111" y="29"/>
                    </a:lnTo>
                    <a:lnTo>
                      <a:pt x="115" y="34"/>
                    </a:lnTo>
                    <a:lnTo>
                      <a:pt x="117" y="39"/>
                    </a:lnTo>
                    <a:lnTo>
                      <a:pt x="119" y="46"/>
                    </a:lnTo>
                    <a:lnTo>
                      <a:pt x="121" y="52"/>
                    </a:lnTo>
                    <a:lnTo>
                      <a:pt x="122" y="59"/>
                    </a:lnTo>
                    <a:lnTo>
                      <a:pt x="122" y="65"/>
                    </a:lnTo>
                    <a:lnTo>
                      <a:pt x="122" y="71"/>
                    </a:lnTo>
                    <a:lnTo>
                      <a:pt x="120" y="78"/>
                    </a:lnTo>
                    <a:lnTo>
                      <a:pt x="119" y="83"/>
                    </a:lnTo>
                    <a:lnTo>
                      <a:pt x="117" y="90"/>
                    </a:lnTo>
                    <a:lnTo>
                      <a:pt x="113" y="95"/>
                    </a:lnTo>
                    <a:lnTo>
                      <a:pt x="110" y="100"/>
                    </a:lnTo>
                    <a:lnTo>
                      <a:pt x="107" y="104"/>
                    </a:lnTo>
                    <a:lnTo>
                      <a:pt x="104" y="110"/>
                    </a:lnTo>
                    <a:lnTo>
                      <a:pt x="101" y="112"/>
                    </a:lnTo>
                    <a:lnTo>
                      <a:pt x="97" y="115"/>
                    </a:lnTo>
                    <a:lnTo>
                      <a:pt x="93" y="121"/>
                    </a:lnTo>
                    <a:lnTo>
                      <a:pt x="90" y="126"/>
                    </a:lnTo>
                    <a:lnTo>
                      <a:pt x="87" y="132"/>
                    </a:lnTo>
                    <a:lnTo>
                      <a:pt x="84" y="141"/>
                    </a:lnTo>
                    <a:lnTo>
                      <a:pt x="81" y="150"/>
                    </a:lnTo>
                    <a:lnTo>
                      <a:pt x="80" y="162"/>
                    </a:lnTo>
                    <a:lnTo>
                      <a:pt x="42" y="162"/>
                    </a:lnTo>
                    <a:lnTo>
                      <a:pt x="41" y="150"/>
                    </a:lnTo>
                    <a:lnTo>
                      <a:pt x="39" y="141"/>
                    </a:lnTo>
                    <a:lnTo>
                      <a:pt x="35" y="132"/>
                    </a:lnTo>
                    <a:lnTo>
                      <a:pt x="32" y="126"/>
                    </a:lnTo>
                    <a:lnTo>
                      <a:pt x="29" y="121"/>
                    </a:lnTo>
                    <a:lnTo>
                      <a:pt x="25" y="115"/>
                    </a:lnTo>
                    <a:lnTo>
                      <a:pt x="22" y="112"/>
                    </a:lnTo>
                    <a:lnTo>
                      <a:pt x="18" y="110"/>
                    </a:lnTo>
                    <a:lnTo>
                      <a:pt x="15" y="104"/>
                    </a:lnTo>
                    <a:lnTo>
                      <a:pt x="12" y="100"/>
                    </a:lnTo>
                    <a:lnTo>
                      <a:pt x="9" y="95"/>
                    </a:lnTo>
                    <a:lnTo>
                      <a:pt x="6" y="90"/>
                    </a:lnTo>
                    <a:lnTo>
                      <a:pt x="3" y="83"/>
                    </a:lnTo>
                    <a:lnTo>
                      <a:pt x="2" y="78"/>
                    </a:lnTo>
                    <a:lnTo>
                      <a:pt x="0" y="71"/>
                    </a:lnTo>
                    <a:lnTo>
                      <a:pt x="0" y="65"/>
                    </a:lnTo>
                    <a:lnTo>
                      <a:pt x="0" y="59"/>
                    </a:lnTo>
                    <a:lnTo>
                      <a:pt x="1" y="52"/>
                    </a:lnTo>
                    <a:lnTo>
                      <a:pt x="3" y="46"/>
                    </a:lnTo>
                    <a:lnTo>
                      <a:pt x="4" y="39"/>
                    </a:lnTo>
                    <a:lnTo>
                      <a:pt x="8" y="34"/>
                    </a:lnTo>
                    <a:lnTo>
                      <a:pt x="11" y="29"/>
                    </a:lnTo>
                    <a:lnTo>
                      <a:pt x="14" y="23"/>
                    </a:lnTo>
                    <a:lnTo>
                      <a:pt x="17" y="19"/>
                    </a:lnTo>
                    <a:lnTo>
                      <a:pt x="22" y="15"/>
                    </a:lnTo>
                    <a:lnTo>
                      <a:pt x="26" y="12"/>
                    </a:lnTo>
                    <a:lnTo>
                      <a:pt x="31" y="8"/>
                    </a:lnTo>
                    <a:lnTo>
                      <a:pt x="37" y="5"/>
                    </a:lnTo>
                    <a:lnTo>
                      <a:pt x="43" y="3"/>
                    </a:lnTo>
                    <a:lnTo>
                      <a:pt x="48" y="1"/>
                    </a:lnTo>
                    <a:lnTo>
                      <a:pt x="55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63" name="Freeform 887"/>
              <p:cNvSpPr>
                <a:spLocks/>
              </p:cNvSpPr>
              <p:nvPr/>
            </p:nvSpPr>
            <p:spPr bwMode="auto">
              <a:xfrm>
                <a:off x="2631" y="1892"/>
                <a:ext cx="119" cy="161"/>
              </a:xfrm>
              <a:custGeom>
                <a:avLst/>
                <a:gdLst>
                  <a:gd name="T0" fmla="*/ 65 w 119"/>
                  <a:gd name="T1" fmla="*/ 0 h 161"/>
                  <a:gd name="T2" fmla="*/ 77 w 119"/>
                  <a:gd name="T3" fmla="*/ 3 h 161"/>
                  <a:gd name="T4" fmla="*/ 88 w 119"/>
                  <a:gd name="T5" fmla="*/ 8 h 161"/>
                  <a:gd name="T6" fmla="*/ 98 w 119"/>
                  <a:gd name="T7" fmla="*/ 15 h 161"/>
                  <a:gd name="T8" fmla="*/ 106 w 119"/>
                  <a:gd name="T9" fmla="*/ 23 h 161"/>
                  <a:gd name="T10" fmla="*/ 111 w 119"/>
                  <a:gd name="T11" fmla="*/ 34 h 161"/>
                  <a:gd name="T12" fmla="*/ 117 w 119"/>
                  <a:gd name="T13" fmla="*/ 46 h 161"/>
                  <a:gd name="T14" fmla="*/ 119 w 119"/>
                  <a:gd name="T15" fmla="*/ 59 h 161"/>
                  <a:gd name="T16" fmla="*/ 119 w 119"/>
                  <a:gd name="T17" fmla="*/ 71 h 161"/>
                  <a:gd name="T18" fmla="*/ 116 w 119"/>
                  <a:gd name="T19" fmla="*/ 83 h 161"/>
                  <a:gd name="T20" fmla="*/ 110 w 119"/>
                  <a:gd name="T21" fmla="*/ 95 h 161"/>
                  <a:gd name="T22" fmla="*/ 104 w 119"/>
                  <a:gd name="T23" fmla="*/ 105 h 161"/>
                  <a:gd name="T24" fmla="*/ 98 w 119"/>
                  <a:gd name="T25" fmla="*/ 111 h 161"/>
                  <a:gd name="T26" fmla="*/ 91 w 119"/>
                  <a:gd name="T27" fmla="*/ 120 h 161"/>
                  <a:gd name="T28" fmla="*/ 84 w 119"/>
                  <a:gd name="T29" fmla="*/ 132 h 161"/>
                  <a:gd name="T30" fmla="*/ 79 w 119"/>
                  <a:gd name="T31" fmla="*/ 149 h 161"/>
                  <a:gd name="T32" fmla="*/ 41 w 119"/>
                  <a:gd name="T33" fmla="*/ 161 h 161"/>
                  <a:gd name="T34" fmla="*/ 38 w 119"/>
                  <a:gd name="T35" fmla="*/ 140 h 161"/>
                  <a:gd name="T36" fmla="*/ 32 w 119"/>
                  <a:gd name="T37" fmla="*/ 125 h 161"/>
                  <a:gd name="T38" fmla="*/ 25 w 119"/>
                  <a:gd name="T39" fmla="*/ 115 h 161"/>
                  <a:gd name="T40" fmla="*/ 18 w 119"/>
                  <a:gd name="T41" fmla="*/ 109 h 161"/>
                  <a:gd name="T42" fmla="*/ 12 w 119"/>
                  <a:gd name="T43" fmla="*/ 99 h 161"/>
                  <a:gd name="T44" fmla="*/ 6 w 119"/>
                  <a:gd name="T45" fmla="*/ 89 h 161"/>
                  <a:gd name="T46" fmla="*/ 1 w 119"/>
                  <a:gd name="T47" fmla="*/ 78 h 161"/>
                  <a:gd name="T48" fmla="*/ 0 w 119"/>
                  <a:gd name="T49" fmla="*/ 65 h 161"/>
                  <a:gd name="T50" fmla="*/ 1 w 119"/>
                  <a:gd name="T51" fmla="*/ 52 h 161"/>
                  <a:gd name="T52" fmla="*/ 5 w 119"/>
                  <a:gd name="T53" fmla="*/ 40 h 161"/>
                  <a:gd name="T54" fmla="*/ 10 w 119"/>
                  <a:gd name="T55" fmla="*/ 29 h 161"/>
                  <a:gd name="T56" fmla="*/ 16 w 119"/>
                  <a:gd name="T57" fmla="*/ 19 h 161"/>
                  <a:gd name="T58" fmla="*/ 26 w 119"/>
                  <a:gd name="T59" fmla="*/ 12 h 161"/>
                  <a:gd name="T60" fmla="*/ 36 w 119"/>
                  <a:gd name="T61" fmla="*/ 5 h 161"/>
                  <a:gd name="T62" fmla="*/ 47 w 119"/>
                  <a:gd name="T63" fmla="*/ 1 h 161"/>
                  <a:gd name="T64" fmla="*/ 60 w 119"/>
                  <a:gd name="T65" fmla="*/ 0 h 16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9"/>
                  <a:gd name="T100" fmla="*/ 0 h 161"/>
                  <a:gd name="T101" fmla="*/ 119 w 119"/>
                  <a:gd name="T102" fmla="*/ 161 h 16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9" h="161">
                    <a:moveTo>
                      <a:pt x="60" y="0"/>
                    </a:moveTo>
                    <a:lnTo>
                      <a:pt x="65" y="0"/>
                    </a:lnTo>
                    <a:lnTo>
                      <a:pt x="72" y="1"/>
                    </a:lnTo>
                    <a:lnTo>
                      <a:pt x="77" y="3"/>
                    </a:lnTo>
                    <a:lnTo>
                      <a:pt x="83" y="5"/>
                    </a:lnTo>
                    <a:lnTo>
                      <a:pt x="88" y="8"/>
                    </a:lnTo>
                    <a:lnTo>
                      <a:pt x="93" y="12"/>
                    </a:lnTo>
                    <a:lnTo>
                      <a:pt x="98" y="15"/>
                    </a:lnTo>
                    <a:lnTo>
                      <a:pt x="102" y="19"/>
                    </a:lnTo>
                    <a:lnTo>
                      <a:pt x="106" y="23"/>
                    </a:lnTo>
                    <a:lnTo>
                      <a:pt x="109" y="29"/>
                    </a:lnTo>
                    <a:lnTo>
                      <a:pt x="111" y="34"/>
                    </a:lnTo>
                    <a:lnTo>
                      <a:pt x="115" y="40"/>
                    </a:lnTo>
                    <a:lnTo>
                      <a:pt x="117" y="46"/>
                    </a:lnTo>
                    <a:lnTo>
                      <a:pt x="118" y="52"/>
                    </a:lnTo>
                    <a:lnTo>
                      <a:pt x="119" y="59"/>
                    </a:lnTo>
                    <a:lnTo>
                      <a:pt x="119" y="65"/>
                    </a:lnTo>
                    <a:lnTo>
                      <a:pt x="119" y="71"/>
                    </a:lnTo>
                    <a:lnTo>
                      <a:pt x="118" y="78"/>
                    </a:lnTo>
                    <a:lnTo>
                      <a:pt x="116" y="83"/>
                    </a:lnTo>
                    <a:lnTo>
                      <a:pt x="114" y="89"/>
                    </a:lnTo>
                    <a:lnTo>
                      <a:pt x="110" y="95"/>
                    </a:lnTo>
                    <a:lnTo>
                      <a:pt x="107" y="99"/>
                    </a:lnTo>
                    <a:lnTo>
                      <a:pt x="104" y="105"/>
                    </a:lnTo>
                    <a:lnTo>
                      <a:pt x="101" y="109"/>
                    </a:lnTo>
                    <a:lnTo>
                      <a:pt x="98" y="111"/>
                    </a:lnTo>
                    <a:lnTo>
                      <a:pt x="94" y="115"/>
                    </a:lnTo>
                    <a:lnTo>
                      <a:pt x="91" y="120"/>
                    </a:lnTo>
                    <a:lnTo>
                      <a:pt x="87" y="125"/>
                    </a:lnTo>
                    <a:lnTo>
                      <a:pt x="84" y="132"/>
                    </a:lnTo>
                    <a:lnTo>
                      <a:pt x="81" y="140"/>
                    </a:lnTo>
                    <a:lnTo>
                      <a:pt x="79" y="149"/>
                    </a:lnTo>
                    <a:lnTo>
                      <a:pt x="78" y="161"/>
                    </a:lnTo>
                    <a:lnTo>
                      <a:pt x="41" y="161"/>
                    </a:lnTo>
                    <a:lnTo>
                      <a:pt x="40" y="149"/>
                    </a:lnTo>
                    <a:lnTo>
                      <a:pt x="38" y="140"/>
                    </a:lnTo>
                    <a:lnTo>
                      <a:pt x="36" y="132"/>
                    </a:lnTo>
                    <a:lnTo>
                      <a:pt x="32" y="125"/>
                    </a:lnTo>
                    <a:lnTo>
                      <a:pt x="28" y="120"/>
                    </a:lnTo>
                    <a:lnTo>
                      <a:pt x="25" y="115"/>
                    </a:lnTo>
                    <a:lnTo>
                      <a:pt x="22" y="111"/>
                    </a:lnTo>
                    <a:lnTo>
                      <a:pt x="18" y="109"/>
                    </a:lnTo>
                    <a:lnTo>
                      <a:pt x="15" y="105"/>
                    </a:lnTo>
                    <a:lnTo>
                      <a:pt x="12" y="99"/>
                    </a:lnTo>
                    <a:lnTo>
                      <a:pt x="9" y="95"/>
                    </a:lnTo>
                    <a:lnTo>
                      <a:pt x="6" y="89"/>
                    </a:lnTo>
                    <a:lnTo>
                      <a:pt x="3" y="83"/>
                    </a:lnTo>
                    <a:lnTo>
                      <a:pt x="1" y="78"/>
                    </a:lnTo>
                    <a:lnTo>
                      <a:pt x="0" y="71"/>
                    </a:lnTo>
                    <a:lnTo>
                      <a:pt x="0" y="65"/>
                    </a:lnTo>
                    <a:lnTo>
                      <a:pt x="0" y="59"/>
                    </a:lnTo>
                    <a:lnTo>
                      <a:pt x="1" y="52"/>
                    </a:lnTo>
                    <a:lnTo>
                      <a:pt x="2" y="46"/>
                    </a:lnTo>
                    <a:lnTo>
                      <a:pt x="5" y="40"/>
                    </a:lnTo>
                    <a:lnTo>
                      <a:pt x="7" y="34"/>
                    </a:lnTo>
                    <a:lnTo>
                      <a:pt x="10" y="29"/>
                    </a:lnTo>
                    <a:lnTo>
                      <a:pt x="13" y="23"/>
                    </a:lnTo>
                    <a:lnTo>
                      <a:pt x="16" y="19"/>
                    </a:lnTo>
                    <a:lnTo>
                      <a:pt x="21" y="15"/>
                    </a:lnTo>
                    <a:lnTo>
                      <a:pt x="26" y="12"/>
                    </a:lnTo>
                    <a:lnTo>
                      <a:pt x="30" y="8"/>
                    </a:lnTo>
                    <a:lnTo>
                      <a:pt x="36" y="5"/>
                    </a:lnTo>
                    <a:lnTo>
                      <a:pt x="41" y="3"/>
                    </a:lnTo>
                    <a:lnTo>
                      <a:pt x="47" y="1"/>
                    </a:lnTo>
                    <a:lnTo>
                      <a:pt x="54" y="0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64" name="Freeform 888"/>
              <p:cNvSpPr>
                <a:spLocks/>
              </p:cNvSpPr>
              <p:nvPr/>
            </p:nvSpPr>
            <p:spPr bwMode="auto">
              <a:xfrm>
                <a:off x="2633" y="1893"/>
                <a:ext cx="116" cy="160"/>
              </a:xfrm>
              <a:custGeom>
                <a:avLst/>
                <a:gdLst>
                  <a:gd name="T0" fmla="*/ 65 w 116"/>
                  <a:gd name="T1" fmla="*/ 0 h 160"/>
                  <a:gd name="T2" fmla="*/ 75 w 116"/>
                  <a:gd name="T3" fmla="*/ 3 h 160"/>
                  <a:gd name="T4" fmla="*/ 86 w 116"/>
                  <a:gd name="T5" fmla="*/ 8 h 160"/>
                  <a:gd name="T6" fmla="*/ 96 w 116"/>
                  <a:gd name="T7" fmla="*/ 15 h 160"/>
                  <a:gd name="T8" fmla="*/ 103 w 116"/>
                  <a:gd name="T9" fmla="*/ 24 h 160"/>
                  <a:gd name="T10" fmla="*/ 109 w 116"/>
                  <a:gd name="T11" fmla="*/ 34 h 160"/>
                  <a:gd name="T12" fmla="*/ 114 w 116"/>
                  <a:gd name="T13" fmla="*/ 46 h 160"/>
                  <a:gd name="T14" fmla="*/ 116 w 116"/>
                  <a:gd name="T15" fmla="*/ 59 h 160"/>
                  <a:gd name="T16" fmla="*/ 116 w 116"/>
                  <a:gd name="T17" fmla="*/ 72 h 160"/>
                  <a:gd name="T18" fmla="*/ 113 w 116"/>
                  <a:gd name="T19" fmla="*/ 83 h 160"/>
                  <a:gd name="T20" fmla="*/ 107 w 116"/>
                  <a:gd name="T21" fmla="*/ 94 h 160"/>
                  <a:gd name="T22" fmla="*/ 101 w 116"/>
                  <a:gd name="T23" fmla="*/ 104 h 160"/>
                  <a:gd name="T24" fmla="*/ 94 w 116"/>
                  <a:gd name="T25" fmla="*/ 111 h 160"/>
                  <a:gd name="T26" fmla="*/ 88 w 116"/>
                  <a:gd name="T27" fmla="*/ 119 h 160"/>
                  <a:gd name="T28" fmla="*/ 82 w 116"/>
                  <a:gd name="T29" fmla="*/ 131 h 160"/>
                  <a:gd name="T30" fmla="*/ 77 w 116"/>
                  <a:gd name="T31" fmla="*/ 148 h 160"/>
                  <a:gd name="T32" fmla="*/ 40 w 116"/>
                  <a:gd name="T33" fmla="*/ 160 h 160"/>
                  <a:gd name="T34" fmla="*/ 38 w 116"/>
                  <a:gd name="T35" fmla="*/ 139 h 160"/>
                  <a:gd name="T36" fmla="*/ 31 w 116"/>
                  <a:gd name="T37" fmla="*/ 124 h 160"/>
                  <a:gd name="T38" fmla="*/ 24 w 116"/>
                  <a:gd name="T39" fmla="*/ 114 h 160"/>
                  <a:gd name="T40" fmla="*/ 19 w 116"/>
                  <a:gd name="T41" fmla="*/ 109 h 160"/>
                  <a:gd name="T42" fmla="*/ 12 w 116"/>
                  <a:gd name="T43" fmla="*/ 99 h 160"/>
                  <a:gd name="T44" fmla="*/ 6 w 116"/>
                  <a:gd name="T45" fmla="*/ 89 h 160"/>
                  <a:gd name="T46" fmla="*/ 1 w 116"/>
                  <a:gd name="T47" fmla="*/ 77 h 160"/>
                  <a:gd name="T48" fmla="*/ 0 w 116"/>
                  <a:gd name="T49" fmla="*/ 65 h 160"/>
                  <a:gd name="T50" fmla="*/ 1 w 116"/>
                  <a:gd name="T51" fmla="*/ 52 h 160"/>
                  <a:gd name="T52" fmla="*/ 5 w 116"/>
                  <a:gd name="T53" fmla="*/ 41 h 160"/>
                  <a:gd name="T54" fmla="*/ 10 w 116"/>
                  <a:gd name="T55" fmla="*/ 29 h 160"/>
                  <a:gd name="T56" fmla="*/ 16 w 116"/>
                  <a:gd name="T57" fmla="*/ 19 h 160"/>
                  <a:gd name="T58" fmla="*/ 25 w 116"/>
                  <a:gd name="T59" fmla="*/ 12 h 160"/>
                  <a:gd name="T60" fmla="*/ 35 w 116"/>
                  <a:gd name="T61" fmla="*/ 5 h 160"/>
                  <a:gd name="T62" fmla="*/ 46 w 116"/>
                  <a:gd name="T63" fmla="*/ 1 h 160"/>
                  <a:gd name="T64" fmla="*/ 58 w 116"/>
                  <a:gd name="T65" fmla="*/ 0 h 16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6"/>
                  <a:gd name="T100" fmla="*/ 0 h 160"/>
                  <a:gd name="T101" fmla="*/ 116 w 116"/>
                  <a:gd name="T102" fmla="*/ 160 h 16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6" h="160">
                    <a:moveTo>
                      <a:pt x="58" y="0"/>
                    </a:moveTo>
                    <a:lnTo>
                      <a:pt x="65" y="0"/>
                    </a:lnTo>
                    <a:lnTo>
                      <a:pt x="70" y="1"/>
                    </a:lnTo>
                    <a:lnTo>
                      <a:pt x="75" y="3"/>
                    </a:lnTo>
                    <a:lnTo>
                      <a:pt x="81" y="5"/>
                    </a:lnTo>
                    <a:lnTo>
                      <a:pt x="86" y="8"/>
                    </a:lnTo>
                    <a:lnTo>
                      <a:pt x="90" y="12"/>
                    </a:lnTo>
                    <a:lnTo>
                      <a:pt x="96" y="15"/>
                    </a:lnTo>
                    <a:lnTo>
                      <a:pt x="99" y="19"/>
                    </a:lnTo>
                    <a:lnTo>
                      <a:pt x="103" y="24"/>
                    </a:lnTo>
                    <a:lnTo>
                      <a:pt x="106" y="29"/>
                    </a:lnTo>
                    <a:lnTo>
                      <a:pt x="109" y="34"/>
                    </a:lnTo>
                    <a:lnTo>
                      <a:pt x="112" y="41"/>
                    </a:lnTo>
                    <a:lnTo>
                      <a:pt x="114" y="46"/>
                    </a:lnTo>
                    <a:lnTo>
                      <a:pt x="115" y="52"/>
                    </a:lnTo>
                    <a:lnTo>
                      <a:pt x="116" y="59"/>
                    </a:lnTo>
                    <a:lnTo>
                      <a:pt x="116" y="65"/>
                    </a:lnTo>
                    <a:lnTo>
                      <a:pt x="116" y="72"/>
                    </a:lnTo>
                    <a:lnTo>
                      <a:pt x="115" y="77"/>
                    </a:lnTo>
                    <a:lnTo>
                      <a:pt x="113" y="83"/>
                    </a:lnTo>
                    <a:lnTo>
                      <a:pt x="110" y="89"/>
                    </a:lnTo>
                    <a:lnTo>
                      <a:pt x="107" y="94"/>
                    </a:lnTo>
                    <a:lnTo>
                      <a:pt x="104" y="99"/>
                    </a:lnTo>
                    <a:lnTo>
                      <a:pt x="101" y="104"/>
                    </a:lnTo>
                    <a:lnTo>
                      <a:pt x="98" y="109"/>
                    </a:lnTo>
                    <a:lnTo>
                      <a:pt x="94" y="111"/>
                    </a:lnTo>
                    <a:lnTo>
                      <a:pt x="92" y="114"/>
                    </a:lnTo>
                    <a:lnTo>
                      <a:pt x="88" y="119"/>
                    </a:lnTo>
                    <a:lnTo>
                      <a:pt x="85" y="124"/>
                    </a:lnTo>
                    <a:lnTo>
                      <a:pt x="82" y="131"/>
                    </a:lnTo>
                    <a:lnTo>
                      <a:pt x="78" y="139"/>
                    </a:lnTo>
                    <a:lnTo>
                      <a:pt x="77" y="148"/>
                    </a:lnTo>
                    <a:lnTo>
                      <a:pt x="76" y="160"/>
                    </a:lnTo>
                    <a:lnTo>
                      <a:pt x="40" y="160"/>
                    </a:lnTo>
                    <a:lnTo>
                      <a:pt x="39" y="148"/>
                    </a:lnTo>
                    <a:lnTo>
                      <a:pt x="38" y="139"/>
                    </a:lnTo>
                    <a:lnTo>
                      <a:pt x="35" y="131"/>
                    </a:lnTo>
                    <a:lnTo>
                      <a:pt x="31" y="124"/>
                    </a:lnTo>
                    <a:lnTo>
                      <a:pt x="28" y="119"/>
                    </a:lnTo>
                    <a:lnTo>
                      <a:pt x="24" y="114"/>
                    </a:lnTo>
                    <a:lnTo>
                      <a:pt x="22" y="111"/>
                    </a:lnTo>
                    <a:lnTo>
                      <a:pt x="19" y="109"/>
                    </a:lnTo>
                    <a:lnTo>
                      <a:pt x="15" y="104"/>
                    </a:lnTo>
                    <a:lnTo>
                      <a:pt x="12" y="99"/>
                    </a:lnTo>
                    <a:lnTo>
                      <a:pt x="9" y="94"/>
                    </a:lnTo>
                    <a:lnTo>
                      <a:pt x="6" y="89"/>
                    </a:lnTo>
                    <a:lnTo>
                      <a:pt x="4" y="83"/>
                    </a:lnTo>
                    <a:lnTo>
                      <a:pt x="1" y="77"/>
                    </a:lnTo>
                    <a:lnTo>
                      <a:pt x="0" y="72"/>
                    </a:lnTo>
                    <a:lnTo>
                      <a:pt x="0" y="65"/>
                    </a:lnTo>
                    <a:lnTo>
                      <a:pt x="0" y="59"/>
                    </a:lnTo>
                    <a:lnTo>
                      <a:pt x="1" y="52"/>
                    </a:lnTo>
                    <a:lnTo>
                      <a:pt x="3" y="46"/>
                    </a:lnTo>
                    <a:lnTo>
                      <a:pt x="5" y="41"/>
                    </a:lnTo>
                    <a:lnTo>
                      <a:pt x="7" y="34"/>
                    </a:lnTo>
                    <a:lnTo>
                      <a:pt x="10" y="29"/>
                    </a:lnTo>
                    <a:lnTo>
                      <a:pt x="13" y="24"/>
                    </a:lnTo>
                    <a:lnTo>
                      <a:pt x="16" y="19"/>
                    </a:lnTo>
                    <a:lnTo>
                      <a:pt x="21" y="15"/>
                    </a:lnTo>
                    <a:lnTo>
                      <a:pt x="25" y="12"/>
                    </a:lnTo>
                    <a:lnTo>
                      <a:pt x="29" y="8"/>
                    </a:lnTo>
                    <a:lnTo>
                      <a:pt x="35" y="5"/>
                    </a:lnTo>
                    <a:lnTo>
                      <a:pt x="40" y="3"/>
                    </a:lnTo>
                    <a:lnTo>
                      <a:pt x="46" y="1"/>
                    </a:lnTo>
                    <a:lnTo>
                      <a:pt x="52" y="0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65" name="Freeform 889"/>
              <p:cNvSpPr>
                <a:spLocks/>
              </p:cNvSpPr>
              <p:nvPr/>
            </p:nvSpPr>
            <p:spPr bwMode="auto">
              <a:xfrm>
                <a:off x="2634" y="1894"/>
                <a:ext cx="114" cy="159"/>
              </a:xfrm>
              <a:custGeom>
                <a:avLst/>
                <a:gdLst>
                  <a:gd name="T0" fmla="*/ 64 w 114"/>
                  <a:gd name="T1" fmla="*/ 0 h 159"/>
                  <a:gd name="T2" fmla="*/ 74 w 114"/>
                  <a:gd name="T3" fmla="*/ 3 h 159"/>
                  <a:gd name="T4" fmla="*/ 84 w 114"/>
                  <a:gd name="T5" fmla="*/ 9 h 159"/>
                  <a:gd name="T6" fmla="*/ 93 w 114"/>
                  <a:gd name="T7" fmla="*/ 15 h 159"/>
                  <a:gd name="T8" fmla="*/ 101 w 114"/>
                  <a:gd name="T9" fmla="*/ 23 h 159"/>
                  <a:gd name="T10" fmla="*/ 107 w 114"/>
                  <a:gd name="T11" fmla="*/ 34 h 159"/>
                  <a:gd name="T12" fmla="*/ 112 w 114"/>
                  <a:gd name="T13" fmla="*/ 46 h 159"/>
                  <a:gd name="T14" fmla="*/ 114 w 114"/>
                  <a:gd name="T15" fmla="*/ 58 h 159"/>
                  <a:gd name="T16" fmla="*/ 114 w 114"/>
                  <a:gd name="T17" fmla="*/ 71 h 159"/>
                  <a:gd name="T18" fmla="*/ 111 w 114"/>
                  <a:gd name="T19" fmla="*/ 82 h 159"/>
                  <a:gd name="T20" fmla="*/ 105 w 114"/>
                  <a:gd name="T21" fmla="*/ 94 h 159"/>
                  <a:gd name="T22" fmla="*/ 99 w 114"/>
                  <a:gd name="T23" fmla="*/ 104 h 159"/>
                  <a:gd name="T24" fmla="*/ 92 w 114"/>
                  <a:gd name="T25" fmla="*/ 110 h 159"/>
                  <a:gd name="T26" fmla="*/ 86 w 114"/>
                  <a:gd name="T27" fmla="*/ 119 h 159"/>
                  <a:gd name="T28" fmla="*/ 80 w 114"/>
                  <a:gd name="T29" fmla="*/ 130 h 159"/>
                  <a:gd name="T30" fmla="*/ 75 w 114"/>
                  <a:gd name="T31" fmla="*/ 147 h 159"/>
                  <a:gd name="T32" fmla="*/ 39 w 114"/>
                  <a:gd name="T33" fmla="*/ 159 h 159"/>
                  <a:gd name="T34" fmla="*/ 37 w 114"/>
                  <a:gd name="T35" fmla="*/ 138 h 159"/>
                  <a:gd name="T36" fmla="*/ 31 w 114"/>
                  <a:gd name="T37" fmla="*/ 124 h 159"/>
                  <a:gd name="T38" fmla="*/ 25 w 114"/>
                  <a:gd name="T39" fmla="*/ 114 h 159"/>
                  <a:gd name="T40" fmla="*/ 19 w 114"/>
                  <a:gd name="T41" fmla="*/ 108 h 159"/>
                  <a:gd name="T42" fmla="*/ 12 w 114"/>
                  <a:gd name="T43" fmla="*/ 98 h 159"/>
                  <a:gd name="T44" fmla="*/ 6 w 114"/>
                  <a:gd name="T45" fmla="*/ 89 h 159"/>
                  <a:gd name="T46" fmla="*/ 2 w 114"/>
                  <a:gd name="T47" fmla="*/ 77 h 159"/>
                  <a:gd name="T48" fmla="*/ 0 w 114"/>
                  <a:gd name="T49" fmla="*/ 64 h 159"/>
                  <a:gd name="T50" fmla="*/ 2 w 114"/>
                  <a:gd name="T51" fmla="*/ 52 h 159"/>
                  <a:gd name="T52" fmla="*/ 5 w 114"/>
                  <a:gd name="T53" fmla="*/ 41 h 159"/>
                  <a:gd name="T54" fmla="*/ 9 w 114"/>
                  <a:gd name="T55" fmla="*/ 29 h 159"/>
                  <a:gd name="T56" fmla="*/ 17 w 114"/>
                  <a:gd name="T57" fmla="*/ 19 h 159"/>
                  <a:gd name="T58" fmla="*/ 24 w 114"/>
                  <a:gd name="T59" fmla="*/ 12 h 159"/>
                  <a:gd name="T60" fmla="*/ 34 w 114"/>
                  <a:gd name="T61" fmla="*/ 5 h 159"/>
                  <a:gd name="T62" fmla="*/ 45 w 114"/>
                  <a:gd name="T63" fmla="*/ 1 h 159"/>
                  <a:gd name="T64" fmla="*/ 57 w 114"/>
                  <a:gd name="T65" fmla="*/ 0 h 15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4"/>
                  <a:gd name="T100" fmla="*/ 0 h 159"/>
                  <a:gd name="T101" fmla="*/ 114 w 114"/>
                  <a:gd name="T102" fmla="*/ 159 h 15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4" h="159">
                    <a:moveTo>
                      <a:pt x="57" y="0"/>
                    </a:moveTo>
                    <a:lnTo>
                      <a:pt x="64" y="0"/>
                    </a:lnTo>
                    <a:lnTo>
                      <a:pt x="69" y="1"/>
                    </a:lnTo>
                    <a:lnTo>
                      <a:pt x="74" y="3"/>
                    </a:lnTo>
                    <a:lnTo>
                      <a:pt x="80" y="5"/>
                    </a:lnTo>
                    <a:lnTo>
                      <a:pt x="84" y="9"/>
                    </a:lnTo>
                    <a:lnTo>
                      <a:pt x="89" y="12"/>
                    </a:lnTo>
                    <a:lnTo>
                      <a:pt x="93" y="15"/>
                    </a:lnTo>
                    <a:lnTo>
                      <a:pt x="97" y="19"/>
                    </a:lnTo>
                    <a:lnTo>
                      <a:pt x="101" y="23"/>
                    </a:lnTo>
                    <a:lnTo>
                      <a:pt x="104" y="29"/>
                    </a:lnTo>
                    <a:lnTo>
                      <a:pt x="107" y="34"/>
                    </a:lnTo>
                    <a:lnTo>
                      <a:pt x="109" y="41"/>
                    </a:lnTo>
                    <a:lnTo>
                      <a:pt x="112" y="46"/>
                    </a:lnTo>
                    <a:lnTo>
                      <a:pt x="113" y="52"/>
                    </a:lnTo>
                    <a:lnTo>
                      <a:pt x="114" y="58"/>
                    </a:lnTo>
                    <a:lnTo>
                      <a:pt x="114" y="64"/>
                    </a:lnTo>
                    <a:lnTo>
                      <a:pt x="114" y="71"/>
                    </a:lnTo>
                    <a:lnTo>
                      <a:pt x="113" y="77"/>
                    </a:lnTo>
                    <a:lnTo>
                      <a:pt x="111" y="82"/>
                    </a:lnTo>
                    <a:lnTo>
                      <a:pt x="108" y="89"/>
                    </a:lnTo>
                    <a:lnTo>
                      <a:pt x="105" y="94"/>
                    </a:lnTo>
                    <a:lnTo>
                      <a:pt x="102" y="98"/>
                    </a:lnTo>
                    <a:lnTo>
                      <a:pt x="99" y="104"/>
                    </a:lnTo>
                    <a:lnTo>
                      <a:pt x="96" y="108"/>
                    </a:lnTo>
                    <a:lnTo>
                      <a:pt x="92" y="110"/>
                    </a:lnTo>
                    <a:lnTo>
                      <a:pt x="89" y="114"/>
                    </a:lnTo>
                    <a:lnTo>
                      <a:pt x="86" y="119"/>
                    </a:lnTo>
                    <a:lnTo>
                      <a:pt x="83" y="124"/>
                    </a:lnTo>
                    <a:lnTo>
                      <a:pt x="80" y="130"/>
                    </a:lnTo>
                    <a:lnTo>
                      <a:pt x="77" y="138"/>
                    </a:lnTo>
                    <a:lnTo>
                      <a:pt x="75" y="147"/>
                    </a:lnTo>
                    <a:lnTo>
                      <a:pt x="75" y="159"/>
                    </a:lnTo>
                    <a:lnTo>
                      <a:pt x="39" y="159"/>
                    </a:lnTo>
                    <a:lnTo>
                      <a:pt x="39" y="147"/>
                    </a:lnTo>
                    <a:lnTo>
                      <a:pt x="37" y="138"/>
                    </a:lnTo>
                    <a:lnTo>
                      <a:pt x="35" y="130"/>
                    </a:lnTo>
                    <a:lnTo>
                      <a:pt x="31" y="124"/>
                    </a:lnTo>
                    <a:lnTo>
                      <a:pt x="28" y="119"/>
                    </a:lnTo>
                    <a:lnTo>
                      <a:pt x="25" y="114"/>
                    </a:lnTo>
                    <a:lnTo>
                      <a:pt x="22" y="110"/>
                    </a:lnTo>
                    <a:lnTo>
                      <a:pt x="19" y="108"/>
                    </a:lnTo>
                    <a:lnTo>
                      <a:pt x="15" y="104"/>
                    </a:lnTo>
                    <a:lnTo>
                      <a:pt x="12" y="98"/>
                    </a:lnTo>
                    <a:lnTo>
                      <a:pt x="9" y="94"/>
                    </a:lnTo>
                    <a:lnTo>
                      <a:pt x="6" y="89"/>
                    </a:lnTo>
                    <a:lnTo>
                      <a:pt x="4" y="82"/>
                    </a:lnTo>
                    <a:lnTo>
                      <a:pt x="2" y="77"/>
                    </a:lnTo>
                    <a:lnTo>
                      <a:pt x="0" y="71"/>
                    </a:lnTo>
                    <a:lnTo>
                      <a:pt x="0" y="64"/>
                    </a:lnTo>
                    <a:lnTo>
                      <a:pt x="0" y="58"/>
                    </a:lnTo>
                    <a:lnTo>
                      <a:pt x="2" y="52"/>
                    </a:lnTo>
                    <a:lnTo>
                      <a:pt x="3" y="46"/>
                    </a:lnTo>
                    <a:lnTo>
                      <a:pt x="5" y="41"/>
                    </a:lnTo>
                    <a:lnTo>
                      <a:pt x="7" y="34"/>
                    </a:lnTo>
                    <a:lnTo>
                      <a:pt x="9" y="29"/>
                    </a:lnTo>
                    <a:lnTo>
                      <a:pt x="12" y="23"/>
                    </a:lnTo>
                    <a:lnTo>
                      <a:pt x="17" y="19"/>
                    </a:lnTo>
                    <a:lnTo>
                      <a:pt x="20" y="15"/>
                    </a:lnTo>
                    <a:lnTo>
                      <a:pt x="24" y="12"/>
                    </a:lnTo>
                    <a:lnTo>
                      <a:pt x="29" y="9"/>
                    </a:lnTo>
                    <a:lnTo>
                      <a:pt x="34" y="5"/>
                    </a:lnTo>
                    <a:lnTo>
                      <a:pt x="39" y="3"/>
                    </a:lnTo>
                    <a:lnTo>
                      <a:pt x="45" y="1"/>
                    </a:lnTo>
                    <a:lnTo>
                      <a:pt x="51" y="0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66" name="Freeform 890"/>
              <p:cNvSpPr>
                <a:spLocks/>
              </p:cNvSpPr>
              <p:nvPr/>
            </p:nvSpPr>
            <p:spPr bwMode="auto">
              <a:xfrm>
                <a:off x="2636" y="1895"/>
                <a:ext cx="110" cy="158"/>
              </a:xfrm>
              <a:custGeom>
                <a:avLst/>
                <a:gdLst>
                  <a:gd name="T0" fmla="*/ 60 w 110"/>
                  <a:gd name="T1" fmla="*/ 0 h 158"/>
                  <a:gd name="T2" fmla="*/ 71 w 110"/>
                  <a:gd name="T3" fmla="*/ 3 h 158"/>
                  <a:gd name="T4" fmla="*/ 81 w 110"/>
                  <a:gd name="T5" fmla="*/ 9 h 158"/>
                  <a:gd name="T6" fmla="*/ 90 w 110"/>
                  <a:gd name="T7" fmla="*/ 15 h 158"/>
                  <a:gd name="T8" fmla="*/ 97 w 110"/>
                  <a:gd name="T9" fmla="*/ 24 h 158"/>
                  <a:gd name="T10" fmla="*/ 103 w 110"/>
                  <a:gd name="T11" fmla="*/ 34 h 158"/>
                  <a:gd name="T12" fmla="*/ 107 w 110"/>
                  <a:gd name="T13" fmla="*/ 46 h 158"/>
                  <a:gd name="T14" fmla="*/ 110 w 110"/>
                  <a:gd name="T15" fmla="*/ 58 h 158"/>
                  <a:gd name="T16" fmla="*/ 110 w 110"/>
                  <a:gd name="T17" fmla="*/ 71 h 158"/>
                  <a:gd name="T18" fmla="*/ 106 w 110"/>
                  <a:gd name="T19" fmla="*/ 82 h 158"/>
                  <a:gd name="T20" fmla="*/ 101 w 110"/>
                  <a:gd name="T21" fmla="*/ 93 h 158"/>
                  <a:gd name="T22" fmla="*/ 95 w 110"/>
                  <a:gd name="T23" fmla="*/ 104 h 158"/>
                  <a:gd name="T24" fmla="*/ 89 w 110"/>
                  <a:gd name="T25" fmla="*/ 110 h 158"/>
                  <a:gd name="T26" fmla="*/ 83 w 110"/>
                  <a:gd name="T27" fmla="*/ 118 h 158"/>
                  <a:gd name="T28" fmla="*/ 76 w 110"/>
                  <a:gd name="T29" fmla="*/ 129 h 158"/>
                  <a:gd name="T30" fmla="*/ 72 w 110"/>
                  <a:gd name="T31" fmla="*/ 147 h 158"/>
                  <a:gd name="T32" fmla="*/ 37 w 110"/>
                  <a:gd name="T33" fmla="*/ 158 h 158"/>
                  <a:gd name="T34" fmla="*/ 35 w 110"/>
                  <a:gd name="T35" fmla="*/ 138 h 158"/>
                  <a:gd name="T36" fmla="*/ 29 w 110"/>
                  <a:gd name="T37" fmla="*/ 123 h 158"/>
                  <a:gd name="T38" fmla="*/ 23 w 110"/>
                  <a:gd name="T39" fmla="*/ 113 h 158"/>
                  <a:gd name="T40" fmla="*/ 18 w 110"/>
                  <a:gd name="T41" fmla="*/ 107 h 158"/>
                  <a:gd name="T42" fmla="*/ 11 w 110"/>
                  <a:gd name="T43" fmla="*/ 98 h 158"/>
                  <a:gd name="T44" fmla="*/ 5 w 110"/>
                  <a:gd name="T45" fmla="*/ 88 h 158"/>
                  <a:gd name="T46" fmla="*/ 1 w 110"/>
                  <a:gd name="T47" fmla="*/ 76 h 158"/>
                  <a:gd name="T48" fmla="*/ 0 w 110"/>
                  <a:gd name="T49" fmla="*/ 64 h 158"/>
                  <a:gd name="T50" fmla="*/ 1 w 110"/>
                  <a:gd name="T51" fmla="*/ 52 h 158"/>
                  <a:gd name="T52" fmla="*/ 4 w 110"/>
                  <a:gd name="T53" fmla="*/ 40 h 158"/>
                  <a:gd name="T54" fmla="*/ 8 w 110"/>
                  <a:gd name="T55" fmla="*/ 29 h 158"/>
                  <a:gd name="T56" fmla="*/ 15 w 110"/>
                  <a:gd name="T57" fmla="*/ 19 h 158"/>
                  <a:gd name="T58" fmla="*/ 22 w 110"/>
                  <a:gd name="T59" fmla="*/ 12 h 158"/>
                  <a:gd name="T60" fmla="*/ 32 w 110"/>
                  <a:gd name="T61" fmla="*/ 5 h 158"/>
                  <a:gd name="T62" fmla="*/ 42 w 110"/>
                  <a:gd name="T63" fmla="*/ 1 h 158"/>
                  <a:gd name="T64" fmla="*/ 55 w 110"/>
                  <a:gd name="T65" fmla="*/ 0 h 15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0"/>
                  <a:gd name="T100" fmla="*/ 0 h 158"/>
                  <a:gd name="T101" fmla="*/ 110 w 110"/>
                  <a:gd name="T102" fmla="*/ 158 h 158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0" h="158">
                    <a:moveTo>
                      <a:pt x="55" y="0"/>
                    </a:moveTo>
                    <a:lnTo>
                      <a:pt x="60" y="0"/>
                    </a:lnTo>
                    <a:lnTo>
                      <a:pt x="66" y="1"/>
                    </a:lnTo>
                    <a:lnTo>
                      <a:pt x="71" y="3"/>
                    </a:lnTo>
                    <a:lnTo>
                      <a:pt x="76" y="5"/>
                    </a:lnTo>
                    <a:lnTo>
                      <a:pt x="81" y="9"/>
                    </a:lnTo>
                    <a:lnTo>
                      <a:pt x="86" y="12"/>
                    </a:lnTo>
                    <a:lnTo>
                      <a:pt x="90" y="15"/>
                    </a:lnTo>
                    <a:lnTo>
                      <a:pt x="94" y="19"/>
                    </a:lnTo>
                    <a:lnTo>
                      <a:pt x="97" y="24"/>
                    </a:lnTo>
                    <a:lnTo>
                      <a:pt x="100" y="29"/>
                    </a:lnTo>
                    <a:lnTo>
                      <a:pt x="103" y="34"/>
                    </a:lnTo>
                    <a:lnTo>
                      <a:pt x="105" y="40"/>
                    </a:lnTo>
                    <a:lnTo>
                      <a:pt x="107" y="46"/>
                    </a:lnTo>
                    <a:lnTo>
                      <a:pt x="109" y="52"/>
                    </a:lnTo>
                    <a:lnTo>
                      <a:pt x="110" y="58"/>
                    </a:lnTo>
                    <a:lnTo>
                      <a:pt x="110" y="64"/>
                    </a:lnTo>
                    <a:lnTo>
                      <a:pt x="110" y="71"/>
                    </a:lnTo>
                    <a:lnTo>
                      <a:pt x="107" y="76"/>
                    </a:lnTo>
                    <a:lnTo>
                      <a:pt x="106" y="82"/>
                    </a:lnTo>
                    <a:lnTo>
                      <a:pt x="103" y="88"/>
                    </a:lnTo>
                    <a:lnTo>
                      <a:pt x="101" y="93"/>
                    </a:lnTo>
                    <a:lnTo>
                      <a:pt x="98" y="98"/>
                    </a:lnTo>
                    <a:lnTo>
                      <a:pt x="95" y="104"/>
                    </a:lnTo>
                    <a:lnTo>
                      <a:pt x="91" y="107"/>
                    </a:lnTo>
                    <a:lnTo>
                      <a:pt x="89" y="110"/>
                    </a:lnTo>
                    <a:lnTo>
                      <a:pt x="86" y="113"/>
                    </a:lnTo>
                    <a:lnTo>
                      <a:pt x="83" y="118"/>
                    </a:lnTo>
                    <a:lnTo>
                      <a:pt x="80" y="123"/>
                    </a:lnTo>
                    <a:lnTo>
                      <a:pt x="76" y="129"/>
                    </a:lnTo>
                    <a:lnTo>
                      <a:pt x="74" y="138"/>
                    </a:lnTo>
                    <a:lnTo>
                      <a:pt x="72" y="147"/>
                    </a:lnTo>
                    <a:lnTo>
                      <a:pt x="71" y="158"/>
                    </a:lnTo>
                    <a:lnTo>
                      <a:pt x="37" y="158"/>
                    </a:lnTo>
                    <a:lnTo>
                      <a:pt x="37" y="147"/>
                    </a:lnTo>
                    <a:lnTo>
                      <a:pt x="35" y="138"/>
                    </a:lnTo>
                    <a:lnTo>
                      <a:pt x="33" y="129"/>
                    </a:lnTo>
                    <a:lnTo>
                      <a:pt x="29" y="123"/>
                    </a:lnTo>
                    <a:lnTo>
                      <a:pt x="26" y="118"/>
                    </a:lnTo>
                    <a:lnTo>
                      <a:pt x="23" y="113"/>
                    </a:lnTo>
                    <a:lnTo>
                      <a:pt x="20" y="110"/>
                    </a:lnTo>
                    <a:lnTo>
                      <a:pt x="18" y="107"/>
                    </a:lnTo>
                    <a:lnTo>
                      <a:pt x="15" y="104"/>
                    </a:lnTo>
                    <a:lnTo>
                      <a:pt x="11" y="98"/>
                    </a:lnTo>
                    <a:lnTo>
                      <a:pt x="8" y="93"/>
                    </a:lnTo>
                    <a:lnTo>
                      <a:pt x="5" y="88"/>
                    </a:lnTo>
                    <a:lnTo>
                      <a:pt x="3" y="82"/>
                    </a:lnTo>
                    <a:lnTo>
                      <a:pt x="1" y="76"/>
                    </a:lnTo>
                    <a:lnTo>
                      <a:pt x="0" y="71"/>
                    </a:lnTo>
                    <a:lnTo>
                      <a:pt x="0" y="64"/>
                    </a:lnTo>
                    <a:lnTo>
                      <a:pt x="0" y="58"/>
                    </a:lnTo>
                    <a:lnTo>
                      <a:pt x="1" y="52"/>
                    </a:lnTo>
                    <a:lnTo>
                      <a:pt x="2" y="46"/>
                    </a:lnTo>
                    <a:lnTo>
                      <a:pt x="4" y="40"/>
                    </a:lnTo>
                    <a:lnTo>
                      <a:pt x="6" y="34"/>
                    </a:lnTo>
                    <a:lnTo>
                      <a:pt x="8" y="29"/>
                    </a:lnTo>
                    <a:lnTo>
                      <a:pt x="11" y="24"/>
                    </a:lnTo>
                    <a:lnTo>
                      <a:pt x="15" y="19"/>
                    </a:lnTo>
                    <a:lnTo>
                      <a:pt x="18" y="15"/>
                    </a:lnTo>
                    <a:lnTo>
                      <a:pt x="22" y="12"/>
                    </a:lnTo>
                    <a:lnTo>
                      <a:pt x="27" y="9"/>
                    </a:lnTo>
                    <a:lnTo>
                      <a:pt x="32" y="5"/>
                    </a:lnTo>
                    <a:lnTo>
                      <a:pt x="37" y="3"/>
                    </a:lnTo>
                    <a:lnTo>
                      <a:pt x="42" y="1"/>
                    </a:lnTo>
                    <a:lnTo>
                      <a:pt x="49" y="0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67" name="Freeform 891"/>
              <p:cNvSpPr>
                <a:spLocks/>
              </p:cNvSpPr>
              <p:nvPr/>
            </p:nvSpPr>
            <p:spPr bwMode="auto">
              <a:xfrm>
                <a:off x="2638" y="1896"/>
                <a:ext cx="107" cy="157"/>
              </a:xfrm>
              <a:custGeom>
                <a:avLst/>
                <a:gdLst>
                  <a:gd name="T0" fmla="*/ 70 w 107"/>
                  <a:gd name="T1" fmla="*/ 146 h 157"/>
                  <a:gd name="T2" fmla="*/ 74 w 107"/>
                  <a:gd name="T3" fmla="*/ 128 h 157"/>
                  <a:gd name="T4" fmla="*/ 80 w 107"/>
                  <a:gd name="T5" fmla="*/ 118 h 157"/>
                  <a:gd name="T6" fmla="*/ 86 w 107"/>
                  <a:gd name="T7" fmla="*/ 109 h 157"/>
                  <a:gd name="T8" fmla="*/ 92 w 107"/>
                  <a:gd name="T9" fmla="*/ 103 h 157"/>
                  <a:gd name="T10" fmla="*/ 98 w 107"/>
                  <a:gd name="T11" fmla="*/ 93 h 157"/>
                  <a:gd name="T12" fmla="*/ 103 w 107"/>
                  <a:gd name="T13" fmla="*/ 82 h 157"/>
                  <a:gd name="T14" fmla="*/ 107 w 107"/>
                  <a:gd name="T15" fmla="*/ 71 h 157"/>
                  <a:gd name="T16" fmla="*/ 107 w 107"/>
                  <a:gd name="T17" fmla="*/ 58 h 157"/>
                  <a:gd name="T18" fmla="*/ 104 w 107"/>
                  <a:gd name="T19" fmla="*/ 46 h 157"/>
                  <a:gd name="T20" fmla="*/ 100 w 107"/>
                  <a:gd name="T21" fmla="*/ 34 h 157"/>
                  <a:gd name="T22" fmla="*/ 95 w 107"/>
                  <a:gd name="T23" fmla="*/ 25 h 157"/>
                  <a:gd name="T24" fmla="*/ 87 w 107"/>
                  <a:gd name="T25" fmla="*/ 15 h 157"/>
                  <a:gd name="T26" fmla="*/ 79 w 107"/>
                  <a:gd name="T27" fmla="*/ 9 h 157"/>
                  <a:gd name="T28" fmla="*/ 69 w 107"/>
                  <a:gd name="T29" fmla="*/ 3 h 157"/>
                  <a:gd name="T30" fmla="*/ 58 w 107"/>
                  <a:gd name="T31" fmla="*/ 0 h 157"/>
                  <a:gd name="T32" fmla="*/ 47 w 107"/>
                  <a:gd name="T33" fmla="*/ 0 h 157"/>
                  <a:gd name="T34" fmla="*/ 36 w 107"/>
                  <a:gd name="T35" fmla="*/ 3 h 157"/>
                  <a:gd name="T36" fmla="*/ 26 w 107"/>
                  <a:gd name="T37" fmla="*/ 9 h 157"/>
                  <a:gd name="T38" fmla="*/ 18 w 107"/>
                  <a:gd name="T39" fmla="*/ 15 h 157"/>
                  <a:gd name="T40" fmla="*/ 10 w 107"/>
                  <a:gd name="T41" fmla="*/ 25 h 157"/>
                  <a:gd name="T42" fmla="*/ 6 w 107"/>
                  <a:gd name="T43" fmla="*/ 34 h 157"/>
                  <a:gd name="T44" fmla="*/ 2 w 107"/>
                  <a:gd name="T45" fmla="*/ 46 h 157"/>
                  <a:gd name="T46" fmla="*/ 0 w 107"/>
                  <a:gd name="T47" fmla="*/ 58 h 157"/>
                  <a:gd name="T48" fmla="*/ 0 w 107"/>
                  <a:gd name="T49" fmla="*/ 71 h 157"/>
                  <a:gd name="T50" fmla="*/ 3 w 107"/>
                  <a:gd name="T51" fmla="*/ 82 h 157"/>
                  <a:gd name="T52" fmla="*/ 8 w 107"/>
                  <a:gd name="T53" fmla="*/ 93 h 157"/>
                  <a:gd name="T54" fmla="*/ 15 w 107"/>
                  <a:gd name="T55" fmla="*/ 103 h 157"/>
                  <a:gd name="T56" fmla="*/ 20 w 107"/>
                  <a:gd name="T57" fmla="*/ 109 h 157"/>
                  <a:gd name="T58" fmla="*/ 26 w 107"/>
                  <a:gd name="T59" fmla="*/ 118 h 157"/>
                  <a:gd name="T60" fmla="*/ 32 w 107"/>
                  <a:gd name="T61" fmla="*/ 128 h 157"/>
                  <a:gd name="T62" fmla="*/ 36 w 107"/>
                  <a:gd name="T63" fmla="*/ 146 h 157"/>
                  <a:gd name="T64" fmla="*/ 70 w 107"/>
                  <a:gd name="T65" fmla="*/ 157 h 15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157"/>
                  <a:gd name="T101" fmla="*/ 107 w 107"/>
                  <a:gd name="T102" fmla="*/ 157 h 15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157">
                    <a:moveTo>
                      <a:pt x="70" y="157"/>
                    </a:moveTo>
                    <a:lnTo>
                      <a:pt x="70" y="146"/>
                    </a:lnTo>
                    <a:lnTo>
                      <a:pt x="72" y="137"/>
                    </a:lnTo>
                    <a:lnTo>
                      <a:pt x="74" y="128"/>
                    </a:lnTo>
                    <a:lnTo>
                      <a:pt x="78" y="122"/>
                    </a:lnTo>
                    <a:lnTo>
                      <a:pt x="80" y="118"/>
                    </a:lnTo>
                    <a:lnTo>
                      <a:pt x="83" y="112"/>
                    </a:lnTo>
                    <a:lnTo>
                      <a:pt x="86" y="109"/>
                    </a:lnTo>
                    <a:lnTo>
                      <a:pt x="88" y="107"/>
                    </a:lnTo>
                    <a:lnTo>
                      <a:pt x="92" y="103"/>
                    </a:lnTo>
                    <a:lnTo>
                      <a:pt x="95" y="97"/>
                    </a:lnTo>
                    <a:lnTo>
                      <a:pt x="98" y="93"/>
                    </a:lnTo>
                    <a:lnTo>
                      <a:pt x="100" y="88"/>
                    </a:lnTo>
                    <a:lnTo>
                      <a:pt x="103" y="82"/>
                    </a:lnTo>
                    <a:lnTo>
                      <a:pt x="104" y="77"/>
                    </a:lnTo>
                    <a:lnTo>
                      <a:pt x="107" y="71"/>
                    </a:lnTo>
                    <a:lnTo>
                      <a:pt x="107" y="64"/>
                    </a:lnTo>
                    <a:lnTo>
                      <a:pt x="107" y="58"/>
                    </a:lnTo>
                    <a:lnTo>
                      <a:pt x="105" y="52"/>
                    </a:lnTo>
                    <a:lnTo>
                      <a:pt x="104" y="46"/>
                    </a:lnTo>
                    <a:lnTo>
                      <a:pt x="102" y="40"/>
                    </a:lnTo>
                    <a:lnTo>
                      <a:pt x="100" y="34"/>
                    </a:lnTo>
                    <a:lnTo>
                      <a:pt x="98" y="29"/>
                    </a:lnTo>
                    <a:lnTo>
                      <a:pt x="95" y="25"/>
                    </a:lnTo>
                    <a:lnTo>
                      <a:pt x="91" y="19"/>
                    </a:lnTo>
                    <a:lnTo>
                      <a:pt x="87" y="15"/>
                    </a:lnTo>
                    <a:lnTo>
                      <a:pt x="83" y="12"/>
                    </a:lnTo>
                    <a:lnTo>
                      <a:pt x="79" y="9"/>
                    </a:lnTo>
                    <a:lnTo>
                      <a:pt x="74" y="5"/>
                    </a:lnTo>
                    <a:lnTo>
                      <a:pt x="69" y="3"/>
                    </a:lnTo>
                    <a:lnTo>
                      <a:pt x="64" y="1"/>
                    </a:lnTo>
                    <a:lnTo>
                      <a:pt x="58" y="0"/>
                    </a:lnTo>
                    <a:lnTo>
                      <a:pt x="53" y="0"/>
                    </a:lnTo>
                    <a:lnTo>
                      <a:pt x="47" y="0"/>
                    </a:lnTo>
                    <a:lnTo>
                      <a:pt x="41" y="1"/>
                    </a:lnTo>
                    <a:lnTo>
                      <a:pt x="36" y="3"/>
                    </a:lnTo>
                    <a:lnTo>
                      <a:pt x="31" y="5"/>
                    </a:lnTo>
                    <a:lnTo>
                      <a:pt x="26" y="9"/>
                    </a:lnTo>
                    <a:lnTo>
                      <a:pt x="22" y="12"/>
                    </a:lnTo>
                    <a:lnTo>
                      <a:pt x="18" y="15"/>
                    </a:lnTo>
                    <a:lnTo>
                      <a:pt x="14" y="19"/>
                    </a:lnTo>
                    <a:lnTo>
                      <a:pt x="10" y="25"/>
                    </a:lnTo>
                    <a:lnTo>
                      <a:pt x="8" y="29"/>
                    </a:lnTo>
                    <a:lnTo>
                      <a:pt x="6" y="34"/>
                    </a:lnTo>
                    <a:lnTo>
                      <a:pt x="3" y="40"/>
                    </a:lnTo>
                    <a:lnTo>
                      <a:pt x="2" y="46"/>
                    </a:lnTo>
                    <a:lnTo>
                      <a:pt x="1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0" y="71"/>
                    </a:lnTo>
                    <a:lnTo>
                      <a:pt x="2" y="77"/>
                    </a:lnTo>
                    <a:lnTo>
                      <a:pt x="3" y="82"/>
                    </a:lnTo>
                    <a:lnTo>
                      <a:pt x="6" y="88"/>
                    </a:lnTo>
                    <a:lnTo>
                      <a:pt x="8" y="93"/>
                    </a:lnTo>
                    <a:lnTo>
                      <a:pt x="11" y="97"/>
                    </a:lnTo>
                    <a:lnTo>
                      <a:pt x="15" y="103"/>
                    </a:lnTo>
                    <a:lnTo>
                      <a:pt x="18" y="107"/>
                    </a:lnTo>
                    <a:lnTo>
                      <a:pt x="20" y="109"/>
                    </a:lnTo>
                    <a:lnTo>
                      <a:pt x="23" y="112"/>
                    </a:lnTo>
                    <a:lnTo>
                      <a:pt x="26" y="118"/>
                    </a:lnTo>
                    <a:lnTo>
                      <a:pt x="29" y="122"/>
                    </a:lnTo>
                    <a:lnTo>
                      <a:pt x="32" y="128"/>
                    </a:lnTo>
                    <a:lnTo>
                      <a:pt x="34" y="137"/>
                    </a:lnTo>
                    <a:lnTo>
                      <a:pt x="36" y="146"/>
                    </a:lnTo>
                    <a:lnTo>
                      <a:pt x="36" y="157"/>
                    </a:lnTo>
                    <a:lnTo>
                      <a:pt x="70" y="15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68" name="Freeform 892"/>
              <p:cNvSpPr>
                <a:spLocks/>
              </p:cNvSpPr>
              <p:nvPr/>
            </p:nvSpPr>
            <p:spPr bwMode="auto">
              <a:xfrm>
                <a:off x="2654" y="1913"/>
                <a:ext cx="72" cy="52"/>
              </a:xfrm>
              <a:custGeom>
                <a:avLst/>
                <a:gdLst>
                  <a:gd name="T0" fmla="*/ 61 w 72"/>
                  <a:gd name="T1" fmla="*/ 52 h 52"/>
                  <a:gd name="T2" fmla="*/ 72 w 72"/>
                  <a:gd name="T3" fmla="*/ 19 h 52"/>
                  <a:gd name="T4" fmla="*/ 46 w 72"/>
                  <a:gd name="T5" fmla="*/ 35 h 52"/>
                  <a:gd name="T6" fmla="*/ 35 w 72"/>
                  <a:gd name="T7" fmla="*/ 0 h 52"/>
                  <a:gd name="T8" fmla="*/ 26 w 72"/>
                  <a:gd name="T9" fmla="*/ 35 h 52"/>
                  <a:gd name="T10" fmla="*/ 0 w 72"/>
                  <a:gd name="T11" fmla="*/ 21 h 52"/>
                  <a:gd name="T12" fmla="*/ 10 w 72"/>
                  <a:gd name="T13" fmla="*/ 52 h 52"/>
                  <a:gd name="T14" fmla="*/ 19 w 72"/>
                  <a:gd name="T15" fmla="*/ 52 h 52"/>
                  <a:gd name="T16" fmla="*/ 13 w 72"/>
                  <a:gd name="T17" fmla="*/ 33 h 52"/>
                  <a:gd name="T18" fmla="*/ 27 w 72"/>
                  <a:gd name="T19" fmla="*/ 41 h 52"/>
                  <a:gd name="T20" fmla="*/ 35 w 72"/>
                  <a:gd name="T21" fmla="*/ 23 h 52"/>
                  <a:gd name="T22" fmla="*/ 44 w 72"/>
                  <a:gd name="T23" fmla="*/ 41 h 52"/>
                  <a:gd name="T24" fmla="*/ 58 w 72"/>
                  <a:gd name="T25" fmla="*/ 33 h 52"/>
                  <a:gd name="T26" fmla="*/ 53 w 72"/>
                  <a:gd name="T27" fmla="*/ 52 h 52"/>
                  <a:gd name="T28" fmla="*/ 61 w 72"/>
                  <a:gd name="T29" fmla="*/ 52 h 5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2"/>
                  <a:gd name="T46" fmla="*/ 0 h 52"/>
                  <a:gd name="T47" fmla="*/ 72 w 72"/>
                  <a:gd name="T48" fmla="*/ 52 h 5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2" h="52">
                    <a:moveTo>
                      <a:pt x="61" y="52"/>
                    </a:moveTo>
                    <a:lnTo>
                      <a:pt x="72" y="19"/>
                    </a:lnTo>
                    <a:lnTo>
                      <a:pt x="46" y="35"/>
                    </a:lnTo>
                    <a:lnTo>
                      <a:pt x="35" y="0"/>
                    </a:lnTo>
                    <a:lnTo>
                      <a:pt x="26" y="35"/>
                    </a:lnTo>
                    <a:lnTo>
                      <a:pt x="0" y="21"/>
                    </a:lnTo>
                    <a:lnTo>
                      <a:pt x="10" y="52"/>
                    </a:lnTo>
                    <a:lnTo>
                      <a:pt x="19" y="52"/>
                    </a:lnTo>
                    <a:lnTo>
                      <a:pt x="13" y="33"/>
                    </a:lnTo>
                    <a:lnTo>
                      <a:pt x="27" y="41"/>
                    </a:lnTo>
                    <a:lnTo>
                      <a:pt x="35" y="23"/>
                    </a:lnTo>
                    <a:lnTo>
                      <a:pt x="44" y="41"/>
                    </a:lnTo>
                    <a:lnTo>
                      <a:pt x="58" y="33"/>
                    </a:lnTo>
                    <a:lnTo>
                      <a:pt x="53" y="52"/>
                    </a:lnTo>
                    <a:lnTo>
                      <a:pt x="61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69" name="Freeform 893"/>
              <p:cNvSpPr>
                <a:spLocks/>
              </p:cNvSpPr>
              <p:nvPr/>
            </p:nvSpPr>
            <p:spPr bwMode="auto">
              <a:xfrm>
                <a:off x="2655" y="1914"/>
                <a:ext cx="71" cy="49"/>
              </a:xfrm>
              <a:custGeom>
                <a:avLst/>
                <a:gdLst>
                  <a:gd name="T0" fmla="*/ 35 w 71"/>
                  <a:gd name="T1" fmla="*/ 0 h 49"/>
                  <a:gd name="T2" fmla="*/ 45 w 71"/>
                  <a:gd name="T3" fmla="*/ 34 h 49"/>
                  <a:gd name="T4" fmla="*/ 71 w 71"/>
                  <a:gd name="T5" fmla="*/ 20 h 49"/>
                  <a:gd name="T6" fmla="*/ 61 w 71"/>
                  <a:gd name="T7" fmla="*/ 49 h 49"/>
                  <a:gd name="T8" fmla="*/ 52 w 71"/>
                  <a:gd name="T9" fmla="*/ 49 h 49"/>
                  <a:gd name="T10" fmla="*/ 59 w 71"/>
                  <a:gd name="T11" fmla="*/ 32 h 49"/>
                  <a:gd name="T12" fmla="*/ 44 w 71"/>
                  <a:gd name="T13" fmla="*/ 40 h 49"/>
                  <a:gd name="T14" fmla="*/ 35 w 71"/>
                  <a:gd name="T15" fmla="*/ 22 h 49"/>
                  <a:gd name="T16" fmla="*/ 26 w 71"/>
                  <a:gd name="T17" fmla="*/ 40 h 49"/>
                  <a:gd name="T18" fmla="*/ 12 w 71"/>
                  <a:gd name="T19" fmla="*/ 32 h 49"/>
                  <a:gd name="T20" fmla="*/ 18 w 71"/>
                  <a:gd name="T21" fmla="*/ 49 h 49"/>
                  <a:gd name="T22" fmla="*/ 9 w 71"/>
                  <a:gd name="T23" fmla="*/ 49 h 49"/>
                  <a:gd name="T24" fmla="*/ 0 w 71"/>
                  <a:gd name="T25" fmla="*/ 21 h 49"/>
                  <a:gd name="T26" fmla="*/ 25 w 71"/>
                  <a:gd name="T27" fmla="*/ 34 h 49"/>
                  <a:gd name="T28" fmla="*/ 35 w 71"/>
                  <a:gd name="T29" fmla="*/ 0 h 4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1"/>
                  <a:gd name="T46" fmla="*/ 0 h 49"/>
                  <a:gd name="T47" fmla="*/ 71 w 71"/>
                  <a:gd name="T48" fmla="*/ 49 h 4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1" h="49">
                    <a:moveTo>
                      <a:pt x="35" y="0"/>
                    </a:moveTo>
                    <a:lnTo>
                      <a:pt x="45" y="34"/>
                    </a:lnTo>
                    <a:lnTo>
                      <a:pt x="71" y="20"/>
                    </a:lnTo>
                    <a:lnTo>
                      <a:pt x="61" y="49"/>
                    </a:lnTo>
                    <a:lnTo>
                      <a:pt x="52" y="49"/>
                    </a:lnTo>
                    <a:lnTo>
                      <a:pt x="59" y="32"/>
                    </a:lnTo>
                    <a:lnTo>
                      <a:pt x="44" y="40"/>
                    </a:lnTo>
                    <a:lnTo>
                      <a:pt x="35" y="22"/>
                    </a:lnTo>
                    <a:lnTo>
                      <a:pt x="26" y="40"/>
                    </a:lnTo>
                    <a:lnTo>
                      <a:pt x="12" y="32"/>
                    </a:lnTo>
                    <a:lnTo>
                      <a:pt x="18" y="49"/>
                    </a:lnTo>
                    <a:lnTo>
                      <a:pt x="9" y="49"/>
                    </a:lnTo>
                    <a:lnTo>
                      <a:pt x="0" y="21"/>
                    </a:lnTo>
                    <a:lnTo>
                      <a:pt x="25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70" name="Freeform 894"/>
              <p:cNvSpPr>
                <a:spLocks/>
              </p:cNvSpPr>
              <p:nvPr/>
            </p:nvSpPr>
            <p:spPr bwMode="auto">
              <a:xfrm>
                <a:off x="2655" y="1916"/>
                <a:ext cx="70" cy="46"/>
              </a:xfrm>
              <a:custGeom>
                <a:avLst/>
                <a:gdLst>
                  <a:gd name="T0" fmla="*/ 35 w 70"/>
                  <a:gd name="T1" fmla="*/ 0 h 46"/>
                  <a:gd name="T2" fmla="*/ 45 w 70"/>
                  <a:gd name="T3" fmla="*/ 34 h 46"/>
                  <a:gd name="T4" fmla="*/ 70 w 70"/>
                  <a:gd name="T5" fmla="*/ 18 h 46"/>
                  <a:gd name="T6" fmla="*/ 61 w 70"/>
                  <a:gd name="T7" fmla="*/ 46 h 46"/>
                  <a:gd name="T8" fmla="*/ 52 w 70"/>
                  <a:gd name="T9" fmla="*/ 46 h 46"/>
                  <a:gd name="T10" fmla="*/ 59 w 70"/>
                  <a:gd name="T11" fmla="*/ 30 h 46"/>
                  <a:gd name="T12" fmla="*/ 44 w 70"/>
                  <a:gd name="T13" fmla="*/ 38 h 46"/>
                  <a:gd name="T14" fmla="*/ 35 w 70"/>
                  <a:gd name="T15" fmla="*/ 20 h 46"/>
                  <a:gd name="T16" fmla="*/ 26 w 70"/>
                  <a:gd name="T17" fmla="*/ 38 h 46"/>
                  <a:gd name="T18" fmla="*/ 10 w 70"/>
                  <a:gd name="T19" fmla="*/ 30 h 46"/>
                  <a:gd name="T20" fmla="*/ 17 w 70"/>
                  <a:gd name="T21" fmla="*/ 46 h 46"/>
                  <a:gd name="T22" fmla="*/ 9 w 70"/>
                  <a:gd name="T23" fmla="*/ 46 h 46"/>
                  <a:gd name="T24" fmla="*/ 0 w 70"/>
                  <a:gd name="T25" fmla="*/ 20 h 46"/>
                  <a:gd name="T26" fmla="*/ 25 w 70"/>
                  <a:gd name="T27" fmla="*/ 34 h 46"/>
                  <a:gd name="T28" fmla="*/ 35 w 70"/>
                  <a:gd name="T29" fmla="*/ 0 h 4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0"/>
                  <a:gd name="T46" fmla="*/ 0 h 46"/>
                  <a:gd name="T47" fmla="*/ 70 w 70"/>
                  <a:gd name="T48" fmla="*/ 46 h 4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0" h="46">
                    <a:moveTo>
                      <a:pt x="35" y="0"/>
                    </a:moveTo>
                    <a:lnTo>
                      <a:pt x="45" y="34"/>
                    </a:lnTo>
                    <a:lnTo>
                      <a:pt x="70" y="18"/>
                    </a:lnTo>
                    <a:lnTo>
                      <a:pt x="61" y="46"/>
                    </a:lnTo>
                    <a:lnTo>
                      <a:pt x="52" y="46"/>
                    </a:lnTo>
                    <a:lnTo>
                      <a:pt x="59" y="30"/>
                    </a:lnTo>
                    <a:lnTo>
                      <a:pt x="44" y="38"/>
                    </a:lnTo>
                    <a:lnTo>
                      <a:pt x="35" y="20"/>
                    </a:lnTo>
                    <a:lnTo>
                      <a:pt x="26" y="38"/>
                    </a:lnTo>
                    <a:lnTo>
                      <a:pt x="10" y="30"/>
                    </a:lnTo>
                    <a:lnTo>
                      <a:pt x="17" y="46"/>
                    </a:lnTo>
                    <a:lnTo>
                      <a:pt x="9" y="46"/>
                    </a:lnTo>
                    <a:lnTo>
                      <a:pt x="0" y="20"/>
                    </a:lnTo>
                    <a:lnTo>
                      <a:pt x="25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E8E8E8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71" name="Freeform 895"/>
              <p:cNvSpPr>
                <a:spLocks/>
              </p:cNvSpPr>
              <p:nvPr/>
            </p:nvSpPr>
            <p:spPr bwMode="auto">
              <a:xfrm>
                <a:off x="2656" y="1917"/>
                <a:ext cx="68" cy="44"/>
              </a:xfrm>
              <a:custGeom>
                <a:avLst/>
                <a:gdLst>
                  <a:gd name="T0" fmla="*/ 33 w 68"/>
                  <a:gd name="T1" fmla="*/ 0 h 44"/>
                  <a:gd name="T2" fmla="*/ 44 w 68"/>
                  <a:gd name="T3" fmla="*/ 33 h 44"/>
                  <a:gd name="T4" fmla="*/ 68 w 68"/>
                  <a:gd name="T5" fmla="*/ 18 h 44"/>
                  <a:gd name="T6" fmla="*/ 59 w 68"/>
                  <a:gd name="T7" fmla="*/ 44 h 44"/>
                  <a:gd name="T8" fmla="*/ 52 w 68"/>
                  <a:gd name="T9" fmla="*/ 44 h 44"/>
                  <a:gd name="T10" fmla="*/ 56 w 68"/>
                  <a:gd name="T11" fmla="*/ 29 h 44"/>
                  <a:gd name="T12" fmla="*/ 42 w 68"/>
                  <a:gd name="T13" fmla="*/ 37 h 44"/>
                  <a:gd name="T14" fmla="*/ 33 w 68"/>
                  <a:gd name="T15" fmla="*/ 19 h 44"/>
                  <a:gd name="T16" fmla="*/ 25 w 68"/>
                  <a:gd name="T17" fmla="*/ 37 h 44"/>
                  <a:gd name="T18" fmla="*/ 9 w 68"/>
                  <a:gd name="T19" fmla="*/ 29 h 44"/>
                  <a:gd name="T20" fmla="*/ 16 w 68"/>
                  <a:gd name="T21" fmla="*/ 44 h 44"/>
                  <a:gd name="T22" fmla="*/ 8 w 68"/>
                  <a:gd name="T23" fmla="*/ 44 h 44"/>
                  <a:gd name="T24" fmla="*/ 0 w 68"/>
                  <a:gd name="T25" fmla="*/ 19 h 44"/>
                  <a:gd name="T26" fmla="*/ 24 w 68"/>
                  <a:gd name="T27" fmla="*/ 33 h 44"/>
                  <a:gd name="T28" fmla="*/ 33 w 68"/>
                  <a:gd name="T29" fmla="*/ 0 h 4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8"/>
                  <a:gd name="T46" fmla="*/ 0 h 44"/>
                  <a:gd name="T47" fmla="*/ 68 w 68"/>
                  <a:gd name="T48" fmla="*/ 44 h 4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8" h="44">
                    <a:moveTo>
                      <a:pt x="33" y="0"/>
                    </a:moveTo>
                    <a:lnTo>
                      <a:pt x="44" y="33"/>
                    </a:lnTo>
                    <a:lnTo>
                      <a:pt x="68" y="18"/>
                    </a:lnTo>
                    <a:lnTo>
                      <a:pt x="59" y="44"/>
                    </a:lnTo>
                    <a:lnTo>
                      <a:pt x="52" y="44"/>
                    </a:lnTo>
                    <a:lnTo>
                      <a:pt x="56" y="29"/>
                    </a:lnTo>
                    <a:lnTo>
                      <a:pt x="42" y="37"/>
                    </a:lnTo>
                    <a:lnTo>
                      <a:pt x="33" y="19"/>
                    </a:lnTo>
                    <a:lnTo>
                      <a:pt x="25" y="37"/>
                    </a:lnTo>
                    <a:lnTo>
                      <a:pt x="9" y="29"/>
                    </a:lnTo>
                    <a:lnTo>
                      <a:pt x="16" y="44"/>
                    </a:lnTo>
                    <a:lnTo>
                      <a:pt x="8" y="44"/>
                    </a:lnTo>
                    <a:lnTo>
                      <a:pt x="0" y="19"/>
                    </a:lnTo>
                    <a:lnTo>
                      <a:pt x="24" y="33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DBDBDB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72" name="Freeform 896"/>
              <p:cNvSpPr>
                <a:spLocks/>
              </p:cNvSpPr>
              <p:nvPr/>
            </p:nvSpPr>
            <p:spPr bwMode="auto">
              <a:xfrm>
                <a:off x="2657" y="1919"/>
                <a:ext cx="66" cy="41"/>
              </a:xfrm>
              <a:custGeom>
                <a:avLst/>
                <a:gdLst>
                  <a:gd name="T0" fmla="*/ 33 w 66"/>
                  <a:gd name="T1" fmla="*/ 0 h 41"/>
                  <a:gd name="T2" fmla="*/ 43 w 66"/>
                  <a:gd name="T3" fmla="*/ 31 h 41"/>
                  <a:gd name="T4" fmla="*/ 66 w 66"/>
                  <a:gd name="T5" fmla="*/ 17 h 41"/>
                  <a:gd name="T6" fmla="*/ 58 w 66"/>
                  <a:gd name="T7" fmla="*/ 41 h 41"/>
                  <a:gd name="T8" fmla="*/ 51 w 66"/>
                  <a:gd name="T9" fmla="*/ 41 h 41"/>
                  <a:gd name="T10" fmla="*/ 55 w 66"/>
                  <a:gd name="T11" fmla="*/ 27 h 41"/>
                  <a:gd name="T12" fmla="*/ 41 w 66"/>
                  <a:gd name="T13" fmla="*/ 35 h 41"/>
                  <a:gd name="T14" fmla="*/ 33 w 66"/>
                  <a:gd name="T15" fmla="*/ 17 h 41"/>
                  <a:gd name="T16" fmla="*/ 24 w 66"/>
                  <a:gd name="T17" fmla="*/ 35 h 41"/>
                  <a:gd name="T18" fmla="*/ 10 w 66"/>
                  <a:gd name="T19" fmla="*/ 27 h 41"/>
                  <a:gd name="T20" fmla="*/ 15 w 66"/>
                  <a:gd name="T21" fmla="*/ 41 h 41"/>
                  <a:gd name="T22" fmla="*/ 7 w 66"/>
                  <a:gd name="T23" fmla="*/ 41 h 41"/>
                  <a:gd name="T24" fmla="*/ 0 w 66"/>
                  <a:gd name="T25" fmla="*/ 18 h 41"/>
                  <a:gd name="T26" fmla="*/ 23 w 66"/>
                  <a:gd name="T27" fmla="*/ 31 h 41"/>
                  <a:gd name="T28" fmla="*/ 33 w 66"/>
                  <a:gd name="T29" fmla="*/ 0 h 4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6"/>
                  <a:gd name="T46" fmla="*/ 0 h 41"/>
                  <a:gd name="T47" fmla="*/ 66 w 66"/>
                  <a:gd name="T48" fmla="*/ 41 h 4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6" h="41">
                    <a:moveTo>
                      <a:pt x="33" y="0"/>
                    </a:moveTo>
                    <a:lnTo>
                      <a:pt x="43" y="31"/>
                    </a:lnTo>
                    <a:lnTo>
                      <a:pt x="66" y="17"/>
                    </a:lnTo>
                    <a:lnTo>
                      <a:pt x="58" y="41"/>
                    </a:lnTo>
                    <a:lnTo>
                      <a:pt x="51" y="41"/>
                    </a:lnTo>
                    <a:lnTo>
                      <a:pt x="55" y="27"/>
                    </a:lnTo>
                    <a:lnTo>
                      <a:pt x="41" y="35"/>
                    </a:lnTo>
                    <a:lnTo>
                      <a:pt x="33" y="17"/>
                    </a:lnTo>
                    <a:lnTo>
                      <a:pt x="24" y="35"/>
                    </a:lnTo>
                    <a:lnTo>
                      <a:pt x="10" y="27"/>
                    </a:lnTo>
                    <a:lnTo>
                      <a:pt x="15" y="41"/>
                    </a:lnTo>
                    <a:lnTo>
                      <a:pt x="7" y="41"/>
                    </a:lnTo>
                    <a:lnTo>
                      <a:pt x="0" y="18"/>
                    </a:lnTo>
                    <a:lnTo>
                      <a:pt x="23" y="31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D1D1D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73" name="Freeform 897"/>
              <p:cNvSpPr>
                <a:spLocks/>
              </p:cNvSpPr>
              <p:nvPr/>
            </p:nvSpPr>
            <p:spPr bwMode="auto">
              <a:xfrm>
                <a:off x="2657" y="1921"/>
                <a:ext cx="65" cy="38"/>
              </a:xfrm>
              <a:custGeom>
                <a:avLst/>
                <a:gdLst>
                  <a:gd name="T0" fmla="*/ 32 w 65"/>
                  <a:gd name="T1" fmla="*/ 0 h 38"/>
                  <a:gd name="T2" fmla="*/ 42 w 65"/>
                  <a:gd name="T3" fmla="*/ 29 h 38"/>
                  <a:gd name="T4" fmla="*/ 65 w 65"/>
                  <a:gd name="T5" fmla="*/ 16 h 38"/>
                  <a:gd name="T6" fmla="*/ 58 w 65"/>
                  <a:gd name="T7" fmla="*/ 38 h 38"/>
                  <a:gd name="T8" fmla="*/ 51 w 65"/>
                  <a:gd name="T9" fmla="*/ 38 h 38"/>
                  <a:gd name="T10" fmla="*/ 55 w 65"/>
                  <a:gd name="T11" fmla="*/ 25 h 38"/>
                  <a:gd name="T12" fmla="*/ 41 w 65"/>
                  <a:gd name="T13" fmla="*/ 33 h 38"/>
                  <a:gd name="T14" fmla="*/ 32 w 65"/>
                  <a:gd name="T15" fmla="*/ 15 h 38"/>
                  <a:gd name="T16" fmla="*/ 24 w 65"/>
                  <a:gd name="T17" fmla="*/ 33 h 38"/>
                  <a:gd name="T18" fmla="*/ 8 w 65"/>
                  <a:gd name="T19" fmla="*/ 25 h 38"/>
                  <a:gd name="T20" fmla="*/ 14 w 65"/>
                  <a:gd name="T21" fmla="*/ 38 h 38"/>
                  <a:gd name="T22" fmla="*/ 6 w 65"/>
                  <a:gd name="T23" fmla="*/ 38 h 38"/>
                  <a:gd name="T24" fmla="*/ 0 w 65"/>
                  <a:gd name="T25" fmla="*/ 17 h 38"/>
                  <a:gd name="T26" fmla="*/ 22 w 65"/>
                  <a:gd name="T27" fmla="*/ 30 h 38"/>
                  <a:gd name="T28" fmla="*/ 32 w 65"/>
                  <a:gd name="T29" fmla="*/ 0 h 3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5"/>
                  <a:gd name="T46" fmla="*/ 0 h 38"/>
                  <a:gd name="T47" fmla="*/ 65 w 65"/>
                  <a:gd name="T48" fmla="*/ 38 h 3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5" h="38">
                    <a:moveTo>
                      <a:pt x="32" y="0"/>
                    </a:moveTo>
                    <a:lnTo>
                      <a:pt x="42" y="29"/>
                    </a:lnTo>
                    <a:lnTo>
                      <a:pt x="65" y="16"/>
                    </a:lnTo>
                    <a:lnTo>
                      <a:pt x="58" y="38"/>
                    </a:lnTo>
                    <a:lnTo>
                      <a:pt x="51" y="38"/>
                    </a:lnTo>
                    <a:lnTo>
                      <a:pt x="55" y="25"/>
                    </a:lnTo>
                    <a:lnTo>
                      <a:pt x="41" y="33"/>
                    </a:lnTo>
                    <a:lnTo>
                      <a:pt x="32" y="15"/>
                    </a:lnTo>
                    <a:lnTo>
                      <a:pt x="24" y="33"/>
                    </a:lnTo>
                    <a:lnTo>
                      <a:pt x="8" y="25"/>
                    </a:lnTo>
                    <a:lnTo>
                      <a:pt x="14" y="38"/>
                    </a:lnTo>
                    <a:lnTo>
                      <a:pt x="6" y="38"/>
                    </a:lnTo>
                    <a:lnTo>
                      <a:pt x="0" y="17"/>
                    </a:lnTo>
                    <a:lnTo>
                      <a:pt x="22" y="30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C4C4C4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74" name="Freeform 898"/>
              <p:cNvSpPr>
                <a:spLocks/>
              </p:cNvSpPr>
              <p:nvPr/>
            </p:nvSpPr>
            <p:spPr bwMode="auto">
              <a:xfrm>
                <a:off x="2658" y="1922"/>
                <a:ext cx="64" cy="36"/>
              </a:xfrm>
              <a:custGeom>
                <a:avLst/>
                <a:gdLst>
                  <a:gd name="T0" fmla="*/ 32 w 64"/>
                  <a:gd name="T1" fmla="*/ 0 h 36"/>
                  <a:gd name="T2" fmla="*/ 42 w 64"/>
                  <a:gd name="T3" fmla="*/ 28 h 36"/>
                  <a:gd name="T4" fmla="*/ 64 w 64"/>
                  <a:gd name="T5" fmla="*/ 16 h 36"/>
                  <a:gd name="T6" fmla="*/ 58 w 64"/>
                  <a:gd name="T7" fmla="*/ 36 h 36"/>
                  <a:gd name="T8" fmla="*/ 51 w 64"/>
                  <a:gd name="T9" fmla="*/ 36 h 36"/>
                  <a:gd name="T10" fmla="*/ 56 w 64"/>
                  <a:gd name="T11" fmla="*/ 24 h 36"/>
                  <a:gd name="T12" fmla="*/ 41 w 64"/>
                  <a:gd name="T13" fmla="*/ 32 h 36"/>
                  <a:gd name="T14" fmla="*/ 32 w 64"/>
                  <a:gd name="T15" fmla="*/ 14 h 36"/>
                  <a:gd name="T16" fmla="*/ 23 w 64"/>
                  <a:gd name="T17" fmla="*/ 32 h 36"/>
                  <a:gd name="T18" fmla="*/ 9 w 64"/>
                  <a:gd name="T19" fmla="*/ 24 h 36"/>
                  <a:gd name="T20" fmla="*/ 13 w 64"/>
                  <a:gd name="T21" fmla="*/ 36 h 36"/>
                  <a:gd name="T22" fmla="*/ 6 w 64"/>
                  <a:gd name="T23" fmla="*/ 36 h 36"/>
                  <a:gd name="T24" fmla="*/ 0 w 64"/>
                  <a:gd name="T25" fmla="*/ 16 h 36"/>
                  <a:gd name="T26" fmla="*/ 22 w 64"/>
                  <a:gd name="T27" fmla="*/ 29 h 36"/>
                  <a:gd name="T28" fmla="*/ 32 w 64"/>
                  <a:gd name="T29" fmla="*/ 0 h 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4"/>
                  <a:gd name="T46" fmla="*/ 0 h 36"/>
                  <a:gd name="T47" fmla="*/ 64 w 64"/>
                  <a:gd name="T48" fmla="*/ 36 h 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4" h="36">
                    <a:moveTo>
                      <a:pt x="32" y="0"/>
                    </a:moveTo>
                    <a:lnTo>
                      <a:pt x="42" y="28"/>
                    </a:lnTo>
                    <a:lnTo>
                      <a:pt x="64" y="16"/>
                    </a:lnTo>
                    <a:lnTo>
                      <a:pt x="58" y="36"/>
                    </a:lnTo>
                    <a:lnTo>
                      <a:pt x="51" y="36"/>
                    </a:lnTo>
                    <a:lnTo>
                      <a:pt x="56" y="24"/>
                    </a:lnTo>
                    <a:lnTo>
                      <a:pt x="41" y="32"/>
                    </a:lnTo>
                    <a:lnTo>
                      <a:pt x="32" y="14"/>
                    </a:lnTo>
                    <a:lnTo>
                      <a:pt x="23" y="32"/>
                    </a:lnTo>
                    <a:lnTo>
                      <a:pt x="9" y="24"/>
                    </a:lnTo>
                    <a:lnTo>
                      <a:pt x="13" y="36"/>
                    </a:lnTo>
                    <a:lnTo>
                      <a:pt x="6" y="36"/>
                    </a:lnTo>
                    <a:lnTo>
                      <a:pt x="0" y="16"/>
                    </a:lnTo>
                    <a:lnTo>
                      <a:pt x="22" y="29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B7B7B7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75" name="Freeform 899"/>
              <p:cNvSpPr>
                <a:spLocks/>
              </p:cNvSpPr>
              <p:nvPr/>
            </p:nvSpPr>
            <p:spPr bwMode="auto">
              <a:xfrm>
                <a:off x="2659" y="1923"/>
                <a:ext cx="62" cy="34"/>
              </a:xfrm>
              <a:custGeom>
                <a:avLst/>
                <a:gdLst>
                  <a:gd name="T0" fmla="*/ 31 w 62"/>
                  <a:gd name="T1" fmla="*/ 0 h 34"/>
                  <a:gd name="T2" fmla="*/ 41 w 62"/>
                  <a:gd name="T3" fmla="*/ 28 h 34"/>
                  <a:gd name="T4" fmla="*/ 62 w 62"/>
                  <a:gd name="T5" fmla="*/ 15 h 34"/>
                  <a:gd name="T6" fmla="*/ 56 w 62"/>
                  <a:gd name="T7" fmla="*/ 34 h 34"/>
                  <a:gd name="T8" fmla="*/ 50 w 62"/>
                  <a:gd name="T9" fmla="*/ 34 h 34"/>
                  <a:gd name="T10" fmla="*/ 55 w 62"/>
                  <a:gd name="T11" fmla="*/ 23 h 34"/>
                  <a:gd name="T12" fmla="*/ 40 w 62"/>
                  <a:gd name="T13" fmla="*/ 31 h 34"/>
                  <a:gd name="T14" fmla="*/ 31 w 62"/>
                  <a:gd name="T15" fmla="*/ 13 h 34"/>
                  <a:gd name="T16" fmla="*/ 22 w 62"/>
                  <a:gd name="T17" fmla="*/ 31 h 34"/>
                  <a:gd name="T18" fmla="*/ 8 w 62"/>
                  <a:gd name="T19" fmla="*/ 23 h 34"/>
                  <a:gd name="T20" fmla="*/ 12 w 62"/>
                  <a:gd name="T21" fmla="*/ 34 h 34"/>
                  <a:gd name="T22" fmla="*/ 6 w 62"/>
                  <a:gd name="T23" fmla="*/ 34 h 34"/>
                  <a:gd name="T24" fmla="*/ 0 w 62"/>
                  <a:gd name="T25" fmla="*/ 16 h 34"/>
                  <a:gd name="T26" fmla="*/ 21 w 62"/>
                  <a:gd name="T27" fmla="*/ 28 h 34"/>
                  <a:gd name="T28" fmla="*/ 31 w 62"/>
                  <a:gd name="T29" fmla="*/ 0 h 3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2"/>
                  <a:gd name="T46" fmla="*/ 0 h 34"/>
                  <a:gd name="T47" fmla="*/ 62 w 62"/>
                  <a:gd name="T48" fmla="*/ 34 h 3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2" h="34">
                    <a:moveTo>
                      <a:pt x="31" y="0"/>
                    </a:moveTo>
                    <a:lnTo>
                      <a:pt x="41" y="28"/>
                    </a:lnTo>
                    <a:lnTo>
                      <a:pt x="62" y="15"/>
                    </a:lnTo>
                    <a:lnTo>
                      <a:pt x="56" y="34"/>
                    </a:lnTo>
                    <a:lnTo>
                      <a:pt x="50" y="34"/>
                    </a:lnTo>
                    <a:lnTo>
                      <a:pt x="55" y="23"/>
                    </a:lnTo>
                    <a:lnTo>
                      <a:pt x="40" y="31"/>
                    </a:lnTo>
                    <a:lnTo>
                      <a:pt x="31" y="13"/>
                    </a:lnTo>
                    <a:lnTo>
                      <a:pt x="22" y="31"/>
                    </a:lnTo>
                    <a:lnTo>
                      <a:pt x="8" y="23"/>
                    </a:lnTo>
                    <a:lnTo>
                      <a:pt x="12" y="34"/>
                    </a:lnTo>
                    <a:lnTo>
                      <a:pt x="6" y="34"/>
                    </a:lnTo>
                    <a:lnTo>
                      <a:pt x="0" y="16"/>
                    </a:lnTo>
                    <a:lnTo>
                      <a:pt x="21" y="28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AAAAAA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76" name="Freeform 900"/>
              <p:cNvSpPr>
                <a:spLocks/>
              </p:cNvSpPr>
              <p:nvPr/>
            </p:nvSpPr>
            <p:spPr bwMode="auto">
              <a:xfrm>
                <a:off x="2659" y="1925"/>
                <a:ext cx="61" cy="32"/>
              </a:xfrm>
              <a:custGeom>
                <a:avLst/>
                <a:gdLst>
                  <a:gd name="T0" fmla="*/ 30 w 61"/>
                  <a:gd name="T1" fmla="*/ 0 h 32"/>
                  <a:gd name="T2" fmla="*/ 40 w 61"/>
                  <a:gd name="T3" fmla="*/ 27 h 32"/>
                  <a:gd name="T4" fmla="*/ 61 w 61"/>
                  <a:gd name="T5" fmla="*/ 15 h 32"/>
                  <a:gd name="T6" fmla="*/ 56 w 61"/>
                  <a:gd name="T7" fmla="*/ 32 h 32"/>
                  <a:gd name="T8" fmla="*/ 50 w 61"/>
                  <a:gd name="T9" fmla="*/ 32 h 32"/>
                  <a:gd name="T10" fmla="*/ 53 w 61"/>
                  <a:gd name="T11" fmla="*/ 21 h 32"/>
                  <a:gd name="T12" fmla="*/ 39 w 61"/>
                  <a:gd name="T13" fmla="*/ 29 h 32"/>
                  <a:gd name="T14" fmla="*/ 30 w 61"/>
                  <a:gd name="T15" fmla="*/ 12 h 32"/>
                  <a:gd name="T16" fmla="*/ 21 w 61"/>
                  <a:gd name="T17" fmla="*/ 29 h 32"/>
                  <a:gd name="T18" fmla="*/ 6 w 61"/>
                  <a:gd name="T19" fmla="*/ 21 h 32"/>
                  <a:gd name="T20" fmla="*/ 10 w 61"/>
                  <a:gd name="T21" fmla="*/ 32 h 32"/>
                  <a:gd name="T22" fmla="*/ 5 w 61"/>
                  <a:gd name="T23" fmla="*/ 32 h 32"/>
                  <a:gd name="T24" fmla="*/ 0 w 61"/>
                  <a:gd name="T25" fmla="*/ 15 h 32"/>
                  <a:gd name="T26" fmla="*/ 20 w 61"/>
                  <a:gd name="T27" fmla="*/ 27 h 32"/>
                  <a:gd name="T28" fmla="*/ 30 w 61"/>
                  <a:gd name="T29" fmla="*/ 0 h 3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1"/>
                  <a:gd name="T46" fmla="*/ 0 h 32"/>
                  <a:gd name="T47" fmla="*/ 61 w 61"/>
                  <a:gd name="T48" fmla="*/ 32 h 3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1" h="32">
                    <a:moveTo>
                      <a:pt x="30" y="0"/>
                    </a:moveTo>
                    <a:lnTo>
                      <a:pt x="40" y="27"/>
                    </a:lnTo>
                    <a:lnTo>
                      <a:pt x="61" y="15"/>
                    </a:lnTo>
                    <a:lnTo>
                      <a:pt x="56" y="32"/>
                    </a:lnTo>
                    <a:lnTo>
                      <a:pt x="50" y="32"/>
                    </a:lnTo>
                    <a:lnTo>
                      <a:pt x="53" y="21"/>
                    </a:lnTo>
                    <a:lnTo>
                      <a:pt x="39" y="29"/>
                    </a:lnTo>
                    <a:lnTo>
                      <a:pt x="30" y="12"/>
                    </a:lnTo>
                    <a:lnTo>
                      <a:pt x="21" y="29"/>
                    </a:lnTo>
                    <a:lnTo>
                      <a:pt x="6" y="21"/>
                    </a:lnTo>
                    <a:lnTo>
                      <a:pt x="10" y="32"/>
                    </a:lnTo>
                    <a:lnTo>
                      <a:pt x="5" y="32"/>
                    </a:lnTo>
                    <a:lnTo>
                      <a:pt x="0" y="15"/>
                    </a:lnTo>
                    <a:lnTo>
                      <a:pt x="20" y="27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A0A0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77" name="Freeform 901"/>
              <p:cNvSpPr>
                <a:spLocks/>
              </p:cNvSpPr>
              <p:nvPr/>
            </p:nvSpPr>
            <p:spPr bwMode="auto">
              <a:xfrm>
                <a:off x="2660" y="1926"/>
                <a:ext cx="59" cy="29"/>
              </a:xfrm>
              <a:custGeom>
                <a:avLst/>
                <a:gdLst>
                  <a:gd name="T0" fmla="*/ 29 w 59"/>
                  <a:gd name="T1" fmla="*/ 0 h 29"/>
                  <a:gd name="T2" fmla="*/ 39 w 59"/>
                  <a:gd name="T3" fmla="*/ 25 h 29"/>
                  <a:gd name="T4" fmla="*/ 59 w 59"/>
                  <a:gd name="T5" fmla="*/ 14 h 29"/>
                  <a:gd name="T6" fmla="*/ 55 w 59"/>
                  <a:gd name="T7" fmla="*/ 29 h 29"/>
                  <a:gd name="T8" fmla="*/ 49 w 59"/>
                  <a:gd name="T9" fmla="*/ 29 h 29"/>
                  <a:gd name="T10" fmla="*/ 52 w 59"/>
                  <a:gd name="T11" fmla="*/ 20 h 29"/>
                  <a:gd name="T12" fmla="*/ 38 w 59"/>
                  <a:gd name="T13" fmla="*/ 27 h 29"/>
                  <a:gd name="T14" fmla="*/ 29 w 59"/>
                  <a:gd name="T15" fmla="*/ 10 h 29"/>
                  <a:gd name="T16" fmla="*/ 21 w 59"/>
                  <a:gd name="T17" fmla="*/ 27 h 29"/>
                  <a:gd name="T18" fmla="*/ 5 w 59"/>
                  <a:gd name="T19" fmla="*/ 20 h 29"/>
                  <a:gd name="T20" fmla="*/ 10 w 59"/>
                  <a:gd name="T21" fmla="*/ 29 h 29"/>
                  <a:gd name="T22" fmla="*/ 4 w 59"/>
                  <a:gd name="T23" fmla="*/ 29 h 29"/>
                  <a:gd name="T24" fmla="*/ 0 w 59"/>
                  <a:gd name="T25" fmla="*/ 14 h 29"/>
                  <a:gd name="T26" fmla="*/ 20 w 59"/>
                  <a:gd name="T27" fmla="*/ 25 h 29"/>
                  <a:gd name="T28" fmla="*/ 29 w 59"/>
                  <a:gd name="T29" fmla="*/ 0 h 2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9"/>
                  <a:gd name="T46" fmla="*/ 0 h 29"/>
                  <a:gd name="T47" fmla="*/ 59 w 59"/>
                  <a:gd name="T48" fmla="*/ 29 h 2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9" h="29">
                    <a:moveTo>
                      <a:pt x="29" y="0"/>
                    </a:moveTo>
                    <a:lnTo>
                      <a:pt x="39" y="25"/>
                    </a:lnTo>
                    <a:lnTo>
                      <a:pt x="59" y="14"/>
                    </a:lnTo>
                    <a:lnTo>
                      <a:pt x="55" y="29"/>
                    </a:lnTo>
                    <a:lnTo>
                      <a:pt x="49" y="29"/>
                    </a:lnTo>
                    <a:lnTo>
                      <a:pt x="52" y="20"/>
                    </a:lnTo>
                    <a:lnTo>
                      <a:pt x="38" y="27"/>
                    </a:lnTo>
                    <a:lnTo>
                      <a:pt x="29" y="10"/>
                    </a:lnTo>
                    <a:lnTo>
                      <a:pt x="21" y="27"/>
                    </a:lnTo>
                    <a:lnTo>
                      <a:pt x="5" y="20"/>
                    </a:lnTo>
                    <a:lnTo>
                      <a:pt x="10" y="29"/>
                    </a:lnTo>
                    <a:lnTo>
                      <a:pt x="4" y="29"/>
                    </a:lnTo>
                    <a:lnTo>
                      <a:pt x="0" y="14"/>
                    </a:lnTo>
                    <a:lnTo>
                      <a:pt x="20" y="25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93939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78" name="Freeform 902"/>
              <p:cNvSpPr>
                <a:spLocks/>
              </p:cNvSpPr>
              <p:nvPr/>
            </p:nvSpPr>
            <p:spPr bwMode="auto">
              <a:xfrm>
                <a:off x="2661" y="1927"/>
                <a:ext cx="57" cy="28"/>
              </a:xfrm>
              <a:custGeom>
                <a:avLst/>
                <a:gdLst>
                  <a:gd name="T0" fmla="*/ 28 w 57"/>
                  <a:gd name="T1" fmla="*/ 0 h 28"/>
                  <a:gd name="T2" fmla="*/ 39 w 57"/>
                  <a:gd name="T3" fmla="*/ 25 h 28"/>
                  <a:gd name="T4" fmla="*/ 57 w 57"/>
                  <a:gd name="T5" fmla="*/ 14 h 28"/>
                  <a:gd name="T6" fmla="*/ 54 w 57"/>
                  <a:gd name="T7" fmla="*/ 28 h 28"/>
                  <a:gd name="T8" fmla="*/ 49 w 57"/>
                  <a:gd name="T9" fmla="*/ 28 h 28"/>
                  <a:gd name="T10" fmla="*/ 51 w 57"/>
                  <a:gd name="T11" fmla="*/ 19 h 28"/>
                  <a:gd name="T12" fmla="*/ 37 w 57"/>
                  <a:gd name="T13" fmla="*/ 27 h 28"/>
                  <a:gd name="T14" fmla="*/ 28 w 57"/>
                  <a:gd name="T15" fmla="*/ 9 h 28"/>
                  <a:gd name="T16" fmla="*/ 20 w 57"/>
                  <a:gd name="T17" fmla="*/ 27 h 28"/>
                  <a:gd name="T18" fmla="*/ 6 w 57"/>
                  <a:gd name="T19" fmla="*/ 19 h 28"/>
                  <a:gd name="T20" fmla="*/ 9 w 57"/>
                  <a:gd name="T21" fmla="*/ 28 h 28"/>
                  <a:gd name="T22" fmla="*/ 3 w 57"/>
                  <a:gd name="T23" fmla="*/ 28 h 28"/>
                  <a:gd name="T24" fmla="*/ 0 w 57"/>
                  <a:gd name="T25" fmla="*/ 14 h 28"/>
                  <a:gd name="T26" fmla="*/ 19 w 57"/>
                  <a:gd name="T27" fmla="*/ 25 h 28"/>
                  <a:gd name="T28" fmla="*/ 28 w 57"/>
                  <a:gd name="T29" fmla="*/ 0 h 2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28"/>
                  <a:gd name="T47" fmla="*/ 57 w 57"/>
                  <a:gd name="T48" fmla="*/ 28 h 2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28">
                    <a:moveTo>
                      <a:pt x="28" y="0"/>
                    </a:moveTo>
                    <a:lnTo>
                      <a:pt x="39" y="25"/>
                    </a:lnTo>
                    <a:lnTo>
                      <a:pt x="57" y="14"/>
                    </a:lnTo>
                    <a:lnTo>
                      <a:pt x="54" y="28"/>
                    </a:lnTo>
                    <a:lnTo>
                      <a:pt x="49" y="28"/>
                    </a:lnTo>
                    <a:lnTo>
                      <a:pt x="51" y="19"/>
                    </a:lnTo>
                    <a:lnTo>
                      <a:pt x="37" y="27"/>
                    </a:lnTo>
                    <a:lnTo>
                      <a:pt x="28" y="9"/>
                    </a:lnTo>
                    <a:lnTo>
                      <a:pt x="20" y="27"/>
                    </a:lnTo>
                    <a:lnTo>
                      <a:pt x="6" y="19"/>
                    </a:lnTo>
                    <a:lnTo>
                      <a:pt x="9" y="28"/>
                    </a:lnTo>
                    <a:lnTo>
                      <a:pt x="3" y="28"/>
                    </a:lnTo>
                    <a:lnTo>
                      <a:pt x="0" y="14"/>
                    </a:lnTo>
                    <a:lnTo>
                      <a:pt x="19" y="25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89898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79" name="Freeform 903"/>
              <p:cNvSpPr>
                <a:spLocks/>
              </p:cNvSpPr>
              <p:nvPr/>
            </p:nvSpPr>
            <p:spPr bwMode="auto">
              <a:xfrm>
                <a:off x="2661" y="1928"/>
                <a:ext cx="57" cy="26"/>
              </a:xfrm>
              <a:custGeom>
                <a:avLst/>
                <a:gdLst>
                  <a:gd name="T0" fmla="*/ 28 w 57"/>
                  <a:gd name="T1" fmla="*/ 0 h 26"/>
                  <a:gd name="T2" fmla="*/ 39 w 57"/>
                  <a:gd name="T3" fmla="*/ 24 h 26"/>
                  <a:gd name="T4" fmla="*/ 57 w 57"/>
                  <a:gd name="T5" fmla="*/ 13 h 26"/>
                  <a:gd name="T6" fmla="*/ 54 w 57"/>
                  <a:gd name="T7" fmla="*/ 25 h 26"/>
                  <a:gd name="T8" fmla="*/ 50 w 57"/>
                  <a:gd name="T9" fmla="*/ 25 h 26"/>
                  <a:gd name="T10" fmla="*/ 53 w 57"/>
                  <a:gd name="T11" fmla="*/ 18 h 26"/>
                  <a:gd name="T12" fmla="*/ 38 w 57"/>
                  <a:gd name="T13" fmla="*/ 26 h 26"/>
                  <a:gd name="T14" fmla="*/ 28 w 57"/>
                  <a:gd name="T15" fmla="*/ 8 h 26"/>
                  <a:gd name="T16" fmla="*/ 20 w 57"/>
                  <a:gd name="T17" fmla="*/ 26 h 26"/>
                  <a:gd name="T18" fmla="*/ 4 w 57"/>
                  <a:gd name="T19" fmla="*/ 18 h 26"/>
                  <a:gd name="T20" fmla="*/ 8 w 57"/>
                  <a:gd name="T21" fmla="*/ 25 h 26"/>
                  <a:gd name="T22" fmla="*/ 3 w 57"/>
                  <a:gd name="T23" fmla="*/ 25 h 26"/>
                  <a:gd name="T24" fmla="*/ 0 w 57"/>
                  <a:gd name="T25" fmla="*/ 14 h 26"/>
                  <a:gd name="T26" fmla="*/ 19 w 57"/>
                  <a:gd name="T27" fmla="*/ 24 h 26"/>
                  <a:gd name="T28" fmla="*/ 28 w 57"/>
                  <a:gd name="T29" fmla="*/ 0 h 2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26"/>
                  <a:gd name="T47" fmla="*/ 57 w 57"/>
                  <a:gd name="T48" fmla="*/ 26 h 2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26">
                    <a:moveTo>
                      <a:pt x="28" y="0"/>
                    </a:moveTo>
                    <a:lnTo>
                      <a:pt x="39" y="24"/>
                    </a:lnTo>
                    <a:lnTo>
                      <a:pt x="57" y="13"/>
                    </a:lnTo>
                    <a:lnTo>
                      <a:pt x="54" y="25"/>
                    </a:lnTo>
                    <a:lnTo>
                      <a:pt x="50" y="25"/>
                    </a:lnTo>
                    <a:lnTo>
                      <a:pt x="53" y="18"/>
                    </a:lnTo>
                    <a:lnTo>
                      <a:pt x="38" y="26"/>
                    </a:lnTo>
                    <a:lnTo>
                      <a:pt x="28" y="8"/>
                    </a:lnTo>
                    <a:lnTo>
                      <a:pt x="20" y="26"/>
                    </a:lnTo>
                    <a:lnTo>
                      <a:pt x="4" y="18"/>
                    </a:lnTo>
                    <a:lnTo>
                      <a:pt x="8" y="25"/>
                    </a:lnTo>
                    <a:lnTo>
                      <a:pt x="3" y="25"/>
                    </a:lnTo>
                    <a:lnTo>
                      <a:pt x="0" y="14"/>
                    </a:lnTo>
                    <a:lnTo>
                      <a:pt x="19" y="24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C7C7C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80" name="Freeform 904"/>
              <p:cNvSpPr>
                <a:spLocks/>
              </p:cNvSpPr>
              <p:nvPr/>
            </p:nvSpPr>
            <p:spPr bwMode="auto">
              <a:xfrm>
                <a:off x="2662" y="1929"/>
                <a:ext cx="55" cy="25"/>
              </a:xfrm>
              <a:custGeom>
                <a:avLst/>
                <a:gdLst>
                  <a:gd name="T0" fmla="*/ 28 w 55"/>
                  <a:gd name="T1" fmla="*/ 0 h 25"/>
                  <a:gd name="T2" fmla="*/ 38 w 55"/>
                  <a:gd name="T3" fmla="*/ 23 h 25"/>
                  <a:gd name="T4" fmla="*/ 55 w 55"/>
                  <a:gd name="T5" fmla="*/ 13 h 25"/>
                  <a:gd name="T6" fmla="*/ 53 w 55"/>
                  <a:gd name="T7" fmla="*/ 23 h 25"/>
                  <a:gd name="T8" fmla="*/ 49 w 55"/>
                  <a:gd name="T9" fmla="*/ 23 h 25"/>
                  <a:gd name="T10" fmla="*/ 52 w 55"/>
                  <a:gd name="T11" fmla="*/ 17 h 25"/>
                  <a:gd name="T12" fmla="*/ 37 w 55"/>
                  <a:gd name="T13" fmla="*/ 25 h 25"/>
                  <a:gd name="T14" fmla="*/ 28 w 55"/>
                  <a:gd name="T15" fmla="*/ 7 h 25"/>
                  <a:gd name="T16" fmla="*/ 19 w 55"/>
                  <a:gd name="T17" fmla="*/ 25 h 25"/>
                  <a:gd name="T18" fmla="*/ 5 w 55"/>
                  <a:gd name="T19" fmla="*/ 17 h 25"/>
                  <a:gd name="T20" fmla="*/ 7 w 55"/>
                  <a:gd name="T21" fmla="*/ 24 h 25"/>
                  <a:gd name="T22" fmla="*/ 2 w 55"/>
                  <a:gd name="T23" fmla="*/ 24 h 25"/>
                  <a:gd name="T24" fmla="*/ 0 w 55"/>
                  <a:gd name="T25" fmla="*/ 13 h 25"/>
                  <a:gd name="T26" fmla="*/ 18 w 55"/>
                  <a:gd name="T27" fmla="*/ 23 h 25"/>
                  <a:gd name="T28" fmla="*/ 28 w 55"/>
                  <a:gd name="T29" fmla="*/ 0 h 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5"/>
                  <a:gd name="T46" fmla="*/ 0 h 25"/>
                  <a:gd name="T47" fmla="*/ 55 w 55"/>
                  <a:gd name="T48" fmla="*/ 25 h 25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5" h="25">
                    <a:moveTo>
                      <a:pt x="28" y="0"/>
                    </a:moveTo>
                    <a:lnTo>
                      <a:pt x="38" y="23"/>
                    </a:lnTo>
                    <a:lnTo>
                      <a:pt x="55" y="13"/>
                    </a:lnTo>
                    <a:lnTo>
                      <a:pt x="53" y="23"/>
                    </a:lnTo>
                    <a:lnTo>
                      <a:pt x="49" y="23"/>
                    </a:lnTo>
                    <a:lnTo>
                      <a:pt x="52" y="17"/>
                    </a:lnTo>
                    <a:lnTo>
                      <a:pt x="37" y="25"/>
                    </a:lnTo>
                    <a:lnTo>
                      <a:pt x="28" y="7"/>
                    </a:lnTo>
                    <a:lnTo>
                      <a:pt x="19" y="25"/>
                    </a:lnTo>
                    <a:lnTo>
                      <a:pt x="5" y="17"/>
                    </a:lnTo>
                    <a:lnTo>
                      <a:pt x="7" y="24"/>
                    </a:lnTo>
                    <a:lnTo>
                      <a:pt x="2" y="24"/>
                    </a:lnTo>
                    <a:lnTo>
                      <a:pt x="0" y="13"/>
                    </a:lnTo>
                    <a:lnTo>
                      <a:pt x="18" y="23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0707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81" name="Freeform 905"/>
              <p:cNvSpPr>
                <a:spLocks/>
              </p:cNvSpPr>
              <p:nvPr/>
            </p:nvSpPr>
            <p:spPr bwMode="auto">
              <a:xfrm>
                <a:off x="2663" y="1931"/>
                <a:ext cx="53" cy="23"/>
              </a:xfrm>
              <a:custGeom>
                <a:avLst/>
                <a:gdLst>
                  <a:gd name="T0" fmla="*/ 26 w 53"/>
                  <a:gd name="T1" fmla="*/ 0 h 23"/>
                  <a:gd name="T2" fmla="*/ 37 w 53"/>
                  <a:gd name="T3" fmla="*/ 21 h 23"/>
                  <a:gd name="T4" fmla="*/ 53 w 53"/>
                  <a:gd name="T5" fmla="*/ 12 h 23"/>
                  <a:gd name="T6" fmla="*/ 51 w 53"/>
                  <a:gd name="T7" fmla="*/ 20 h 23"/>
                  <a:gd name="T8" fmla="*/ 48 w 53"/>
                  <a:gd name="T9" fmla="*/ 20 h 23"/>
                  <a:gd name="T10" fmla="*/ 49 w 53"/>
                  <a:gd name="T11" fmla="*/ 15 h 23"/>
                  <a:gd name="T12" fmla="*/ 35 w 53"/>
                  <a:gd name="T13" fmla="*/ 23 h 23"/>
                  <a:gd name="T14" fmla="*/ 26 w 53"/>
                  <a:gd name="T15" fmla="*/ 5 h 23"/>
                  <a:gd name="T16" fmla="*/ 18 w 53"/>
                  <a:gd name="T17" fmla="*/ 23 h 23"/>
                  <a:gd name="T18" fmla="*/ 4 w 53"/>
                  <a:gd name="T19" fmla="*/ 15 h 23"/>
                  <a:gd name="T20" fmla="*/ 5 w 53"/>
                  <a:gd name="T21" fmla="*/ 21 h 23"/>
                  <a:gd name="T22" fmla="*/ 1 w 53"/>
                  <a:gd name="T23" fmla="*/ 21 h 23"/>
                  <a:gd name="T24" fmla="*/ 0 w 53"/>
                  <a:gd name="T25" fmla="*/ 12 h 23"/>
                  <a:gd name="T26" fmla="*/ 17 w 53"/>
                  <a:gd name="T27" fmla="*/ 22 h 23"/>
                  <a:gd name="T28" fmla="*/ 26 w 53"/>
                  <a:gd name="T29" fmla="*/ 0 h 2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3"/>
                  <a:gd name="T46" fmla="*/ 0 h 23"/>
                  <a:gd name="T47" fmla="*/ 53 w 53"/>
                  <a:gd name="T48" fmla="*/ 23 h 2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3" h="23">
                    <a:moveTo>
                      <a:pt x="26" y="0"/>
                    </a:moveTo>
                    <a:lnTo>
                      <a:pt x="37" y="21"/>
                    </a:lnTo>
                    <a:lnTo>
                      <a:pt x="53" y="12"/>
                    </a:lnTo>
                    <a:lnTo>
                      <a:pt x="51" y="20"/>
                    </a:lnTo>
                    <a:lnTo>
                      <a:pt x="48" y="20"/>
                    </a:lnTo>
                    <a:lnTo>
                      <a:pt x="49" y="15"/>
                    </a:lnTo>
                    <a:lnTo>
                      <a:pt x="35" y="23"/>
                    </a:lnTo>
                    <a:lnTo>
                      <a:pt x="26" y="5"/>
                    </a:lnTo>
                    <a:lnTo>
                      <a:pt x="18" y="23"/>
                    </a:lnTo>
                    <a:lnTo>
                      <a:pt x="4" y="15"/>
                    </a:lnTo>
                    <a:lnTo>
                      <a:pt x="5" y="21"/>
                    </a:lnTo>
                    <a:lnTo>
                      <a:pt x="1" y="21"/>
                    </a:lnTo>
                    <a:lnTo>
                      <a:pt x="0" y="12"/>
                    </a:lnTo>
                    <a:lnTo>
                      <a:pt x="17" y="22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282" name="Freeform 906"/>
              <p:cNvSpPr>
                <a:spLocks/>
              </p:cNvSpPr>
              <p:nvPr/>
            </p:nvSpPr>
            <p:spPr bwMode="auto">
              <a:xfrm>
                <a:off x="2663" y="1932"/>
                <a:ext cx="52" cy="22"/>
              </a:xfrm>
              <a:custGeom>
                <a:avLst/>
                <a:gdLst>
                  <a:gd name="T0" fmla="*/ 51 w 52"/>
                  <a:gd name="T1" fmla="*/ 18 h 22"/>
                  <a:gd name="T2" fmla="*/ 52 w 52"/>
                  <a:gd name="T3" fmla="*/ 12 h 22"/>
                  <a:gd name="T4" fmla="*/ 36 w 52"/>
                  <a:gd name="T5" fmla="*/ 21 h 22"/>
                  <a:gd name="T6" fmla="*/ 26 w 52"/>
                  <a:gd name="T7" fmla="*/ 0 h 22"/>
                  <a:gd name="T8" fmla="*/ 16 w 52"/>
                  <a:gd name="T9" fmla="*/ 21 h 22"/>
                  <a:gd name="T10" fmla="*/ 0 w 52"/>
                  <a:gd name="T11" fmla="*/ 12 h 22"/>
                  <a:gd name="T12" fmla="*/ 1 w 52"/>
                  <a:gd name="T13" fmla="*/ 19 h 22"/>
                  <a:gd name="T14" fmla="*/ 4 w 52"/>
                  <a:gd name="T15" fmla="*/ 19 h 22"/>
                  <a:gd name="T16" fmla="*/ 2 w 52"/>
                  <a:gd name="T17" fmla="*/ 14 h 22"/>
                  <a:gd name="T18" fmla="*/ 17 w 52"/>
                  <a:gd name="T19" fmla="*/ 22 h 22"/>
                  <a:gd name="T20" fmla="*/ 26 w 52"/>
                  <a:gd name="T21" fmla="*/ 4 h 22"/>
                  <a:gd name="T22" fmla="*/ 35 w 52"/>
                  <a:gd name="T23" fmla="*/ 22 h 22"/>
                  <a:gd name="T24" fmla="*/ 49 w 52"/>
                  <a:gd name="T25" fmla="*/ 14 h 22"/>
                  <a:gd name="T26" fmla="*/ 48 w 52"/>
                  <a:gd name="T27" fmla="*/ 18 h 22"/>
                  <a:gd name="T28" fmla="*/ 51 w 52"/>
                  <a:gd name="T29" fmla="*/ 18 h 2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2"/>
                  <a:gd name="T46" fmla="*/ 0 h 22"/>
                  <a:gd name="T47" fmla="*/ 52 w 52"/>
                  <a:gd name="T48" fmla="*/ 22 h 2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2" h="22">
                    <a:moveTo>
                      <a:pt x="51" y="18"/>
                    </a:moveTo>
                    <a:lnTo>
                      <a:pt x="52" y="12"/>
                    </a:lnTo>
                    <a:lnTo>
                      <a:pt x="36" y="21"/>
                    </a:lnTo>
                    <a:lnTo>
                      <a:pt x="26" y="0"/>
                    </a:lnTo>
                    <a:lnTo>
                      <a:pt x="16" y="21"/>
                    </a:lnTo>
                    <a:lnTo>
                      <a:pt x="0" y="12"/>
                    </a:lnTo>
                    <a:lnTo>
                      <a:pt x="1" y="19"/>
                    </a:lnTo>
                    <a:lnTo>
                      <a:pt x="4" y="19"/>
                    </a:lnTo>
                    <a:lnTo>
                      <a:pt x="2" y="14"/>
                    </a:lnTo>
                    <a:lnTo>
                      <a:pt x="17" y="22"/>
                    </a:lnTo>
                    <a:lnTo>
                      <a:pt x="26" y="4"/>
                    </a:lnTo>
                    <a:lnTo>
                      <a:pt x="35" y="22"/>
                    </a:lnTo>
                    <a:lnTo>
                      <a:pt x="49" y="14"/>
                    </a:lnTo>
                    <a:lnTo>
                      <a:pt x="48" y="18"/>
                    </a:lnTo>
                    <a:lnTo>
                      <a:pt x="51" y="18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4932" name="Rectangle 907"/>
            <p:cNvSpPr>
              <a:spLocks noChangeArrowheads="1"/>
            </p:cNvSpPr>
            <p:nvPr/>
          </p:nvSpPr>
          <p:spPr bwMode="auto">
            <a:xfrm>
              <a:off x="2794" y="2595"/>
              <a:ext cx="581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Pre-Qualification</a:t>
              </a:r>
              <a:endParaRPr lang="en-US" sz="1000" b="0">
                <a:latin typeface="Times New Roman" pitchFamily="18" charset="0"/>
              </a:endParaRPr>
            </a:p>
          </p:txBody>
        </p:sp>
        <p:grpSp>
          <p:nvGrpSpPr>
            <p:cNvPr id="24933" name="Group 908"/>
            <p:cNvGrpSpPr>
              <a:grpSpLocks/>
            </p:cNvGrpSpPr>
            <p:nvPr/>
          </p:nvGrpSpPr>
          <p:grpSpPr bwMode="auto">
            <a:xfrm>
              <a:off x="3433" y="2349"/>
              <a:ext cx="422" cy="323"/>
              <a:chOff x="2997" y="1867"/>
              <a:chExt cx="387" cy="300"/>
            </a:xfrm>
          </p:grpSpPr>
          <p:sp>
            <p:nvSpPr>
              <p:cNvPr id="25065" name="Freeform 909"/>
              <p:cNvSpPr>
                <a:spLocks/>
              </p:cNvSpPr>
              <p:nvPr/>
            </p:nvSpPr>
            <p:spPr bwMode="auto">
              <a:xfrm>
                <a:off x="2998" y="2056"/>
                <a:ext cx="252" cy="110"/>
              </a:xfrm>
              <a:custGeom>
                <a:avLst/>
                <a:gdLst>
                  <a:gd name="T0" fmla="*/ 2 w 252"/>
                  <a:gd name="T1" fmla="*/ 30 h 110"/>
                  <a:gd name="T2" fmla="*/ 1 w 252"/>
                  <a:gd name="T3" fmla="*/ 15 h 110"/>
                  <a:gd name="T4" fmla="*/ 12 w 252"/>
                  <a:gd name="T5" fmla="*/ 0 h 110"/>
                  <a:gd name="T6" fmla="*/ 18 w 252"/>
                  <a:gd name="T7" fmla="*/ 0 h 110"/>
                  <a:gd name="T8" fmla="*/ 34 w 252"/>
                  <a:gd name="T9" fmla="*/ 1 h 110"/>
                  <a:gd name="T10" fmla="*/ 58 w 252"/>
                  <a:gd name="T11" fmla="*/ 3 h 110"/>
                  <a:gd name="T12" fmla="*/ 86 w 252"/>
                  <a:gd name="T13" fmla="*/ 5 h 110"/>
                  <a:gd name="T14" fmla="*/ 118 w 252"/>
                  <a:gd name="T15" fmla="*/ 7 h 110"/>
                  <a:gd name="T16" fmla="*/ 149 w 252"/>
                  <a:gd name="T17" fmla="*/ 9 h 110"/>
                  <a:gd name="T18" fmla="*/ 180 w 252"/>
                  <a:gd name="T19" fmla="*/ 13 h 110"/>
                  <a:gd name="T20" fmla="*/ 208 w 252"/>
                  <a:gd name="T21" fmla="*/ 15 h 110"/>
                  <a:gd name="T22" fmla="*/ 228 w 252"/>
                  <a:gd name="T23" fmla="*/ 17 h 110"/>
                  <a:gd name="T24" fmla="*/ 241 w 252"/>
                  <a:gd name="T25" fmla="*/ 20 h 110"/>
                  <a:gd name="T26" fmla="*/ 245 w 252"/>
                  <a:gd name="T27" fmla="*/ 38 h 110"/>
                  <a:gd name="T28" fmla="*/ 247 w 252"/>
                  <a:gd name="T29" fmla="*/ 57 h 110"/>
                  <a:gd name="T30" fmla="*/ 251 w 252"/>
                  <a:gd name="T31" fmla="*/ 60 h 110"/>
                  <a:gd name="T32" fmla="*/ 251 w 252"/>
                  <a:gd name="T33" fmla="*/ 64 h 110"/>
                  <a:gd name="T34" fmla="*/ 247 w 252"/>
                  <a:gd name="T35" fmla="*/ 68 h 110"/>
                  <a:gd name="T36" fmla="*/ 238 w 252"/>
                  <a:gd name="T37" fmla="*/ 70 h 110"/>
                  <a:gd name="T38" fmla="*/ 230 w 252"/>
                  <a:gd name="T39" fmla="*/ 74 h 110"/>
                  <a:gd name="T40" fmla="*/ 218 w 252"/>
                  <a:gd name="T41" fmla="*/ 78 h 110"/>
                  <a:gd name="T42" fmla="*/ 205 w 252"/>
                  <a:gd name="T43" fmla="*/ 85 h 110"/>
                  <a:gd name="T44" fmla="*/ 193 w 252"/>
                  <a:gd name="T45" fmla="*/ 90 h 110"/>
                  <a:gd name="T46" fmla="*/ 180 w 252"/>
                  <a:gd name="T47" fmla="*/ 95 h 110"/>
                  <a:gd name="T48" fmla="*/ 170 w 252"/>
                  <a:gd name="T49" fmla="*/ 101 h 110"/>
                  <a:gd name="T50" fmla="*/ 159 w 252"/>
                  <a:gd name="T51" fmla="*/ 105 h 110"/>
                  <a:gd name="T52" fmla="*/ 150 w 252"/>
                  <a:gd name="T53" fmla="*/ 108 h 110"/>
                  <a:gd name="T54" fmla="*/ 145 w 252"/>
                  <a:gd name="T55" fmla="*/ 110 h 110"/>
                  <a:gd name="T56" fmla="*/ 141 w 252"/>
                  <a:gd name="T57" fmla="*/ 110 h 110"/>
                  <a:gd name="T58" fmla="*/ 134 w 252"/>
                  <a:gd name="T59" fmla="*/ 108 h 110"/>
                  <a:gd name="T60" fmla="*/ 130 w 252"/>
                  <a:gd name="T61" fmla="*/ 107 h 110"/>
                  <a:gd name="T62" fmla="*/ 124 w 252"/>
                  <a:gd name="T63" fmla="*/ 104 h 110"/>
                  <a:gd name="T64" fmla="*/ 113 w 252"/>
                  <a:gd name="T65" fmla="*/ 98 h 110"/>
                  <a:gd name="T66" fmla="*/ 101 w 252"/>
                  <a:gd name="T67" fmla="*/ 91 h 110"/>
                  <a:gd name="T68" fmla="*/ 87 w 252"/>
                  <a:gd name="T69" fmla="*/ 84 h 110"/>
                  <a:gd name="T70" fmla="*/ 72 w 252"/>
                  <a:gd name="T71" fmla="*/ 75 h 110"/>
                  <a:gd name="T72" fmla="*/ 58 w 252"/>
                  <a:gd name="T73" fmla="*/ 68 h 110"/>
                  <a:gd name="T74" fmla="*/ 44 w 252"/>
                  <a:gd name="T75" fmla="*/ 60 h 110"/>
                  <a:gd name="T76" fmla="*/ 33 w 252"/>
                  <a:gd name="T77" fmla="*/ 54 h 110"/>
                  <a:gd name="T78" fmla="*/ 23 w 252"/>
                  <a:gd name="T79" fmla="*/ 50 h 110"/>
                  <a:gd name="T80" fmla="*/ 18 w 252"/>
                  <a:gd name="T81" fmla="*/ 47 h 110"/>
                  <a:gd name="T82" fmla="*/ 15 w 252"/>
                  <a:gd name="T83" fmla="*/ 44 h 110"/>
                  <a:gd name="T84" fmla="*/ 10 w 252"/>
                  <a:gd name="T85" fmla="*/ 41 h 110"/>
                  <a:gd name="T86" fmla="*/ 5 w 252"/>
                  <a:gd name="T87" fmla="*/ 38 h 11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252"/>
                  <a:gd name="T133" fmla="*/ 0 h 110"/>
                  <a:gd name="T134" fmla="*/ 252 w 252"/>
                  <a:gd name="T135" fmla="*/ 110 h 11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252" h="110">
                    <a:moveTo>
                      <a:pt x="5" y="38"/>
                    </a:moveTo>
                    <a:lnTo>
                      <a:pt x="3" y="35"/>
                    </a:lnTo>
                    <a:lnTo>
                      <a:pt x="2" y="30"/>
                    </a:lnTo>
                    <a:lnTo>
                      <a:pt x="1" y="25"/>
                    </a:lnTo>
                    <a:lnTo>
                      <a:pt x="0" y="21"/>
                    </a:lnTo>
                    <a:lnTo>
                      <a:pt x="1" y="15"/>
                    </a:lnTo>
                    <a:lnTo>
                      <a:pt x="2" y="11"/>
                    </a:lnTo>
                    <a:lnTo>
                      <a:pt x="5" y="5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8" y="1"/>
                    </a:lnTo>
                    <a:lnTo>
                      <a:pt x="34" y="1"/>
                    </a:lnTo>
                    <a:lnTo>
                      <a:pt x="40" y="1"/>
                    </a:lnTo>
                    <a:lnTo>
                      <a:pt x="49" y="3"/>
                    </a:lnTo>
                    <a:lnTo>
                      <a:pt x="58" y="3"/>
                    </a:lnTo>
                    <a:lnTo>
                      <a:pt x="67" y="4"/>
                    </a:lnTo>
                    <a:lnTo>
                      <a:pt x="76" y="4"/>
                    </a:lnTo>
                    <a:lnTo>
                      <a:pt x="86" y="5"/>
                    </a:lnTo>
                    <a:lnTo>
                      <a:pt x="96" y="7"/>
                    </a:lnTo>
                    <a:lnTo>
                      <a:pt x="107" y="7"/>
                    </a:lnTo>
                    <a:lnTo>
                      <a:pt x="118" y="7"/>
                    </a:lnTo>
                    <a:lnTo>
                      <a:pt x="128" y="9"/>
                    </a:lnTo>
                    <a:lnTo>
                      <a:pt x="140" y="9"/>
                    </a:lnTo>
                    <a:lnTo>
                      <a:pt x="149" y="9"/>
                    </a:lnTo>
                    <a:lnTo>
                      <a:pt x="160" y="11"/>
                    </a:lnTo>
                    <a:lnTo>
                      <a:pt x="170" y="12"/>
                    </a:lnTo>
                    <a:lnTo>
                      <a:pt x="180" y="13"/>
                    </a:lnTo>
                    <a:lnTo>
                      <a:pt x="189" y="14"/>
                    </a:lnTo>
                    <a:lnTo>
                      <a:pt x="199" y="14"/>
                    </a:lnTo>
                    <a:lnTo>
                      <a:pt x="208" y="15"/>
                    </a:lnTo>
                    <a:lnTo>
                      <a:pt x="215" y="16"/>
                    </a:lnTo>
                    <a:lnTo>
                      <a:pt x="222" y="17"/>
                    </a:lnTo>
                    <a:lnTo>
                      <a:pt x="228" y="17"/>
                    </a:lnTo>
                    <a:lnTo>
                      <a:pt x="234" y="19"/>
                    </a:lnTo>
                    <a:lnTo>
                      <a:pt x="237" y="19"/>
                    </a:lnTo>
                    <a:lnTo>
                      <a:pt x="241" y="20"/>
                    </a:lnTo>
                    <a:lnTo>
                      <a:pt x="243" y="20"/>
                    </a:lnTo>
                    <a:lnTo>
                      <a:pt x="245" y="29"/>
                    </a:lnTo>
                    <a:lnTo>
                      <a:pt x="245" y="38"/>
                    </a:lnTo>
                    <a:lnTo>
                      <a:pt x="245" y="47"/>
                    </a:lnTo>
                    <a:lnTo>
                      <a:pt x="246" y="56"/>
                    </a:lnTo>
                    <a:lnTo>
                      <a:pt x="247" y="57"/>
                    </a:lnTo>
                    <a:lnTo>
                      <a:pt x="249" y="58"/>
                    </a:lnTo>
                    <a:lnTo>
                      <a:pt x="250" y="60"/>
                    </a:lnTo>
                    <a:lnTo>
                      <a:pt x="251" y="60"/>
                    </a:lnTo>
                    <a:lnTo>
                      <a:pt x="252" y="62"/>
                    </a:lnTo>
                    <a:lnTo>
                      <a:pt x="251" y="64"/>
                    </a:lnTo>
                    <a:lnTo>
                      <a:pt x="249" y="66"/>
                    </a:lnTo>
                    <a:lnTo>
                      <a:pt x="248" y="67"/>
                    </a:lnTo>
                    <a:lnTo>
                      <a:pt x="247" y="68"/>
                    </a:lnTo>
                    <a:lnTo>
                      <a:pt x="245" y="68"/>
                    </a:lnTo>
                    <a:lnTo>
                      <a:pt x="241" y="69"/>
                    </a:lnTo>
                    <a:lnTo>
                      <a:pt x="238" y="70"/>
                    </a:lnTo>
                    <a:lnTo>
                      <a:pt x="236" y="71"/>
                    </a:lnTo>
                    <a:lnTo>
                      <a:pt x="233" y="73"/>
                    </a:lnTo>
                    <a:lnTo>
                      <a:pt x="230" y="74"/>
                    </a:lnTo>
                    <a:lnTo>
                      <a:pt x="226" y="75"/>
                    </a:lnTo>
                    <a:lnTo>
                      <a:pt x="222" y="77"/>
                    </a:lnTo>
                    <a:lnTo>
                      <a:pt x="218" y="78"/>
                    </a:lnTo>
                    <a:lnTo>
                      <a:pt x="215" y="82"/>
                    </a:lnTo>
                    <a:lnTo>
                      <a:pt x="210" y="82"/>
                    </a:lnTo>
                    <a:lnTo>
                      <a:pt x="205" y="85"/>
                    </a:lnTo>
                    <a:lnTo>
                      <a:pt x="202" y="86"/>
                    </a:lnTo>
                    <a:lnTo>
                      <a:pt x="197" y="88"/>
                    </a:lnTo>
                    <a:lnTo>
                      <a:pt x="193" y="90"/>
                    </a:lnTo>
                    <a:lnTo>
                      <a:pt x="189" y="91"/>
                    </a:lnTo>
                    <a:lnTo>
                      <a:pt x="185" y="93"/>
                    </a:lnTo>
                    <a:lnTo>
                      <a:pt x="180" y="95"/>
                    </a:lnTo>
                    <a:lnTo>
                      <a:pt x="177" y="98"/>
                    </a:lnTo>
                    <a:lnTo>
                      <a:pt x="173" y="98"/>
                    </a:lnTo>
                    <a:lnTo>
                      <a:pt x="170" y="101"/>
                    </a:lnTo>
                    <a:lnTo>
                      <a:pt x="165" y="102"/>
                    </a:lnTo>
                    <a:lnTo>
                      <a:pt x="162" y="104"/>
                    </a:lnTo>
                    <a:lnTo>
                      <a:pt x="159" y="105"/>
                    </a:lnTo>
                    <a:lnTo>
                      <a:pt x="156" y="106"/>
                    </a:lnTo>
                    <a:lnTo>
                      <a:pt x="154" y="107"/>
                    </a:lnTo>
                    <a:lnTo>
                      <a:pt x="150" y="108"/>
                    </a:lnTo>
                    <a:lnTo>
                      <a:pt x="148" y="109"/>
                    </a:lnTo>
                    <a:lnTo>
                      <a:pt x="146" y="109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10"/>
                    </a:lnTo>
                    <a:lnTo>
                      <a:pt x="141" y="110"/>
                    </a:lnTo>
                    <a:lnTo>
                      <a:pt x="140" y="109"/>
                    </a:lnTo>
                    <a:lnTo>
                      <a:pt x="138" y="109"/>
                    </a:lnTo>
                    <a:lnTo>
                      <a:pt x="134" y="108"/>
                    </a:lnTo>
                    <a:lnTo>
                      <a:pt x="132" y="107"/>
                    </a:lnTo>
                    <a:lnTo>
                      <a:pt x="130" y="107"/>
                    </a:lnTo>
                    <a:lnTo>
                      <a:pt x="129" y="106"/>
                    </a:lnTo>
                    <a:lnTo>
                      <a:pt x="127" y="105"/>
                    </a:lnTo>
                    <a:lnTo>
                      <a:pt x="124" y="104"/>
                    </a:lnTo>
                    <a:lnTo>
                      <a:pt x="122" y="102"/>
                    </a:lnTo>
                    <a:lnTo>
                      <a:pt x="118" y="101"/>
                    </a:lnTo>
                    <a:lnTo>
                      <a:pt x="113" y="98"/>
                    </a:lnTo>
                    <a:lnTo>
                      <a:pt x="110" y="95"/>
                    </a:lnTo>
                    <a:lnTo>
                      <a:pt x="106" y="93"/>
                    </a:lnTo>
                    <a:lnTo>
                      <a:pt x="101" y="91"/>
                    </a:lnTo>
                    <a:lnTo>
                      <a:pt x="96" y="89"/>
                    </a:lnTo>
                    <a:lnTo>
                      <a:pt x="92" y="87"/>
                    </a:lnTo>
                    <a:lnTo>
                      <a:pt x="87" y="84"/>
                    </a:lnTo>
                    <a:lnTo>
                      <a:pt x="82" y="82"/>
                    </a:lnTo>
                    <a:lnTo>
                      <a:pt x="77" y="78"/>
                    </a:lnTo>
                    <a:lnTo>
                      <a:pt x="72" y="75"/>
                    </a:lnTo>
                    <a:lnTo>
                      <a:pt x="67" y="73"/>
                    </a:lnTo>
                    <a:lnTo>
                      <a:pt x="63" y="71"/>
                    </a:lnTo>
                    <a:lnTo>
                      <a:pt x="58" y="68"/>
                    </a:lnTo>
                    <a:lnTo>
                      <a:pt x="53" y="66"/>
                    </a:lnTo>
                    <a:lnTo>
                      <a:pt x="49" y="62"/>
                    </a:lnTo>
                    <a:lnTo>
                      <a:pt x="44" y="60"/>
                    </a:lnTo>
                    <a:lnTo>
                      <a:pt x="39" y="58"/>
                    </a:lnTo>
                    <a:lnTo>
                      <a:pt x="36" y="56"/>
                    </a:lnTo>
                    <a:lnTo>
                      <a:pt x="33" y="54"/>
                    </a:lnTo>
                    <a:lnTo>
                      <a:pt x="30" y="53"/>
                    </a:lnTo>
                    <a:lnTo>
                      <a:pt x="25" y="51"/>
                    </a:lnTo>
                    <a:lnTo>
                      <a:pt x="23" y="50"/>
                    </a:lnTo>
                    <a:lnTo>
                      <a:pt x="21" y="48"/>
                    </a:lnTo>
                    <a:lnTo>
                      <a:pt x="19" y="47"/>
                    </a:lnTo>
                    <a:lnTo>
                      <a:pt x="18" y="47"/>
                    </a:lnTo>
                    <a:lnTo>
                      <a:pt x="17" y="46"/>
                    </a:lnTo>
                    <a:lnTo>
                      <a:pt x="16" y="44"/>
                    </a:lnTo>
                    <a:lnTo>
                      <a:pt x="15" y="44"/>
                    </a:lnTo>
                    <a:lnTo>
                      <a:pt x="13" y="44"/>
                    </a:lnTo>
                    <a:lnTo>
                      <a:pt x="12" y="42"/>
                    </a:lnTo>
                    <a:lnTo>
                      <a:pt x="10" y="41"/>
                    </a:lnTo>
                    <a:lnTo>
                      <a:pt x="8" y="40"/>
                    </a:lnTo>
                    <a:lnTo>
                      <a:pt x="6" y="39"/>
                    </a:lnTo>
                    <a:lnTo>
                      <a:pt x="5" y="38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66" name="Freeform 910"/>
              <p:cNvSpPr>
                <a:spLocks/>
              </p:cNvSpPr>
              <p:nvPr/>
            </p:nvSpPr>
            <p:spPr bwMode="auto">
              <a:xfrm>
                <a:off x="2997" y="2056"/>
                <a:ext cx="14" cy="38"/>
              </a:xfrm>
              <a:custGeom>
                <a:avLst/>
                <a:gdLst>
                  <a:gd name="T0" fmla="*/ 13 w 14"/>
                  <a:gd name="T1" fmla="*/ 0 h 38"/>
                  <a:gd name="T2" fmla="*/ 13 w 14"/>
                  <a:gd name="T3" fmla="*/ 0 h 38"/>
                  <a:gd name="T4" fmla="*/ 6 w 14"/>
                  <a:gd name="T5" fmla="*/ 5 h 38"/>
                  <a:gd name="T6" fmla="*/ 2 w 14"/>
                  <a:gd name="T7" fmla="*/ 10 h 38"/>
                  <a:gd name="T8" fmla="*/ 0 w 14"/>
                  <a:gd name="T9" fmla="*/ 16 h 38"/>
                  <a:gd name="T10" fmla="*/ 0 w 14"/>
                  <a:gd name="T11" fmla="*/ 20 h 38"/>
                  <a:gd name="T12" fmla="*/ 0 w 14"/>
                  <a:gd name="T13" fmla="*/ 26 h 38"/>
                  <a:gd name="T14" fmla="*/ 2 w 14"/>
                  <a:gd name="T15" fmla="*/ 30 h 38"/>
                  <a:gd name="T16" fmla="*/ 4 w 14"/>
                  <a:gd name="T17" fmla="*/ 35 h 38"/>
                  <a:gd name="T18" fmla="*/ 6 w 14"/>
                  <a:gd name="T19" fmla="*/ 38 h 38"/>
                  <a:gd name="T20" fmla="*/ 8 w 14"/>
                  <a:gd name="T21" fmla="*/ 37 h 38"/>
                  <a:gd name="T22" fmla="*/ 6 w 14"/>
                  <a:gd name="T23" fmla="*/ 33 h 38"/>
                  <a:gd name="T24" fmla="*/ 4 w 14"/>
                  <a:gd name="T25" fmla="*/ 30 h 38"/>
                  <a:gd name="T26" fmla="*/ 2 w 14"/>
                  <a:gd name="T27" fmla="*/ 26 h 38"/>
                  <a:gd name="T28" fmla="*/ 2 w 14"/>
                  <a:gd name="T29" fmla="*/ 20 h 38"/>
                  <a:gd name="T30" fmla="*/ 2 w 14"/>
                  <a:gd name="T31" fmla="*/ 16 h 38"/>
                  <a:gd name="T32" fmla="*/ 4 w 14"/>
                  <a:gd name="T33" fmla="*/ 10 h 38"/>
                  <a:gd name="T34" fmla="*/ 8 w 14"/>
                  <a:gd name="T35" fmla="*/ 6 h 38"/>
                  <a:gd name="T36" fmla="*/ 14 w 14"/>
                  <a:gd name="T37" fmla="*/ 1 h 38"/>
                  <a:gd name="T38" fmla="*/ 13 w 14"/>
                  <a:gd name="T39" fmla="*/ 0 h 3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4"/>
                  <a:gd name="T61" fmla="*/ 0 h 38"/>
                  <a:gd name="T62" fmla="*/ 14 w 14"/>
                  <a:gd name="T63" fmla="*/ 38 h 3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4" h="38">
                    <a:moveTo>
                      <a:pt x="13" y="0"/>
                    </a:moveTo>
                    <a:lnTo>
                      <a:pt x="13" y="0"/>
                    </a:lnTo>
                    <a:lnTo>
                      <a:pt x="6" y="5"/>
                    </a:lnTo>
                    <a:lnTo>
                      <a:pt x="2" y="10"/>
                    </a:lnTo>
                    <a:lnTo>
                      <a:pt x="0" y="16"/>
                    </a:lnTo>
                    <a:lnTo>
                      <a:pt x="0" y="20"/>
                    </a:lnTo>
                    <a:lnTo>
                      <a:pt x="0" y="26"/>
                    </a:lnTo>
                    <a:lnTo>
                      <a:pt x="2" y="30"/>
                    </a:lnTo>
                    <a:lnTo>
                      <a:pt x="4" y="35"/>
                    </a:lnTo>
                    <a:lnTo>
                      <a:pt x="6" y="38"/>
                    </a:lnTo>
                    <a:lnTo>
                      <a:pt x="8" y="37"/>
                    </a:lnTo>
                    <a:lnTo>
                      <a:pt x="6" y="33"/>
                    </a:lnTo>
                    <a:lnTo>
                      <a:pt x="4" y="30"/>
                    </a:lnTo>
                    <a:lnTo>
                      <a:pt x="2" y="26"/>
                    </a:lnTo>
                    <a:lnTo>
                      <a:pt x="2" y="20"/>
                    </a:lnTo>
                    <a:lnTo>
                      <a:pt x="2" y="16"/>
                    </a:lnTo>
                    <a:lnTo>
                      <a:pt x="4" y="10"/>
                    </a:lnTo>
                    <a:lnTo>
                      <a:pt x="8" y="6"/>
                    </a:lnTo>
                    <a:lnTo>
                      <a:pt x="14" y="1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67" name="Freeform 911"/>
              <p:cNvSpPr>
                <a:spLocks/>
              </p:cNvSpPr>
              <p:nvPr/>
            </p:nvSpPr>
            <p:spPr bwMode="auto">
              <a:xfrm>
                <a:off x="3010" y="2056"/>
                <a:ext cx="231" cy="22"/>
              </a:xfrm>
              <a:custGeom>
                <a:avLst/>
                <a:gdLst>
                  <a:gd name="T0" fmla="*/ 231 w 231"/>
                  <a:gd name="T1" fmla="*/ 21 h 22"/>
                  <a:gd name="T2" fmla="*/ 228 w 231"/>
                  <a:gd name="T3" fmla="*/ 20 h 22"/>
                  <a:gd name="T4" fmla="*/ 221 w 231"/>
                  <a:gd name="T5" fmla="*/ 19 h 22"/>
                  <a:gd name="T6" fmla="*/ 210 w 231"/>
                  <a:gd name="T7" fmla="*/ 17 h 22"/>
                  <a:gd name="T8" fmla="*/ 195 w 231"/>
                  <a:gd name="T9" fmla="*/ 15 h 22"/>
                  <a:gd name="T10" fmla="*/ 178 w 231"/>
                  <a:gd name="T11" fmla="*/ 13 h 22"/>
                  <a:gd name="T12" fmla="*/ 158 w 231"/>
                  <a:gd name="T13" fmla="*/ 11 h 22"/>
                  <a:gd name="T14" fmla="*/ 137 w 231"/>
                  <a:gd name="T15" fmla="*/ 9 h 22"/>
                  <a:gd name="T16" fmla="*/ 116 w 231"/>
                  <a:gd name="T17" fmla="*/ 8 h 22"/>
                  <a:gd name="T18" fmla="*/ 96 w 231"/>
                  <a:gd name="T19" fmla="*/ 6 h 22"/>
                  <a:gd name="T20" fmla="*/ 74 w 231"/>
                  <a:gd name="T21" fmla="*/ 5 h 22"/>
                  <a:gd name="T22" fmla="*/ 55 w 231"/>
                  <a:gd name="T23" fmla="*/ 4 h 22"/>
                  <a:gd name="T24" fmla="*/ 38 w 231"/>
                  <a:gd name="T25" fmla="*/ 3 h 22"/>
                  <a:gd name="T26" fmla="*/ 22 w 231"/>
                  <a:gd name="T27" fmla="*/ 1 h 22"/>
                  <a:gd name="T28" fmla="*/ 10 w 231"/>
                  <a:gd name="T29" fmla="*/ 0 h 22"/>
                  <a:gd name="T30" fmla="*/ 3 w 231"/>
                  <a:gd name="T31" fmla="*/ 0 h 22"/>
                  <a:gd name="T32" fmla="*/ 0 w 231"/>
                  <a:gd name="T33" fmla="*/ 0 h 22"/>
                  <a:gd name="T34" fmla="*/ 3 w 231"/>
                  <a:gd name="T35" fmla="*/ 3 h 22"/>
                  <a:gd name="T36" fmla="*/ 10 w 231"/>
                  <a:gd name="T37" fmla="*/ 3 h 22"/>
                  <a:gd name="T38" fmla="*/ 22 w 231"/>
                  <a:gd name="T39" fmla="*/ 3 h 22"/>
                  <a:gd name="T40" fmla="*/ 38 w 231"/>
                  <a:gd name="T41" fmla="*/ 4 h 22"/>
                  <a:gd name="T42" fmla="*/ 55 w 231"/>
                  <a:gd name="T43" fmla="*/ 5 h 22"/>
                  <a:gd name="T44" fmla="*/ 74 w 231"/>
                  <a:gd name="T45" fmla="*/ 7 h 22"/>
                  <a:gd name="T46" fmla="*/ 96 w 231"/>
                  <a:gd name="T47" fmla="*/ 8 h 22"/>
                  <a:gd name="T48" fmla="*/ 116 w 231"/>
                  <a:gd name="T49" fmla="*/ 9 h 22"/>
                  <a:gd name="T50" fmla="*/ 137 w 231"/>
                  <a:gd name="T51" fmla="*/ 11 h 22"/>
                  <a:gd name="T52" fmla="*/ 158 w 231"/>
                  <a:gd name="T53" fmla="*/ 13 h 22"/>
                  <a:gd name="T54" fmla="*/ 178 w 231"/>
                  <a:gd name="T55" fmla="*/ 15 h 22"/>
                  <a:gd name="T56" fmla="*/ 195 w 231"/>
                  <a:gd name="T57" fmla="*/ 17 h 22"/>
                  <a:gd name="T58" fmla="*/ 210 w 231"/>
                  <a:gd name="T59" fmla="*/ 19 h 22"/>
                  <a:gd name="T60" fmla="*/ 221 w 231"/>
                  <a:gd name="T61" fmla="*/ 21 h 22"/>
                  <a:gd name="T62" fmla="*/ 228 w 231"/>
                  <a:gd name="T63" fmla="*/ 22 h 22"/>
                  <a:gd name="T64" fmla="*/ 229 w 231"/>
                  <a:gd name="T65" fmla="*/ 21 h 2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31"/>
                  <a:gd name="T100" fmla="*/ 0 h 22"/>
                  <a:gd name="T101" fmla="*/ 231 w 231"/>
                  <a:gd name="T102" fmla="*/ 22 h 2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31" h="22">
                    <a:moveTo>
                      <a:pt x="231" y="21"/>
                    </a:moveTo>
                    <a:lnTo>
                      <a:pt x="231" y="21"/>
                    </a:lnTo>
                    <a:lnTo>
                      <a:pt x="230" y="20"/>
                    </a:lnTo>
                    <a:lnTo>
                      <a:pt x="228" y="20"/>
                    </a:lnTo>
                    <a:lnTo>
                      <a:pt x="225" y="19"/>
                    </a:lnTo>
                    <a:lnTo>
                      <a:pt x="221" y="19"/>
                    </a:lnTo>
                    <a:lnTo>
                      <a:pt x="215" y="17"/>
                    </a:lnTo>
                    <a:lnTo>
                      <a:pt x="210" y="17"/>
                    </a:lnTo>
                    <a:lnTo>
                      <a:pt x="202" y="16"/>
                    </a:lnTo>
                    <a:lnTo>
                      <a:pt x="195" y="15"/>
                    </a:lnTo>
                    <a:lnTo>
                      <a:pt x="187" y="13"/>
                    </a:lnTo>
                    <a:lnTo>
                      <a:pt x="178" y="13"/>
                    </a:lnTo>
                    <a:lnTo>
                      <a:pt x="167" y="13"/>
                    </a:lnTo>
                    <a:lnTo>
                      <a:pt x="158" y="11"/>
                    </a:lnTo>
                    <a:lnTo>
                      <a:pt x="148" y="10"/>
                    </a:lnTo>
                    <a:lnTo>
                      <a:pt x="137" y="9"/>
                    </a:lnTo>
                    <a:lnTo>
                      <a:pt x="127" y="9"/>
                    </a:lnTo>
                    <a:lnTo>
                      <a:pt x="116" y="8"/>
                    </a:lnTo>
                    <a:lnTo>
                      <a:pt x="106" y="7"/>
                    </a:lnTo>
                    <a:lnTo>
                      <a:pt x="96" y="6"/>
                    </a:lnTo>
                    <a:lnTo>
                      <a:pt x="84" y="6"/>
                    </a:lnTo>
                    <a:lnTo>
                      <a:pt x="74" y="5"/>
                    </a:lnTo>
                    <a:lnTo>
                      <a:pt x="65" y="4"/>
                    </a:lnTo>
                    <a:lnTo>
                      <a:pt x="55" y="4"/>
                    </a:lnTo>
                    <a:lnTo>
                      <a:pt x="46" y="3"/>
                    </a:lnTo>
                    <a:lnTo>
                      <a:pt x="38" y="3"/>
                    </a:lnTo>
                    <a:lnTo>
                      <a:pt x="29" y="1"/>
                    </a:lnTo>
                    <a:lnTo>
                      <a:pt x="22" y="1"/>
                    </a:lnTo>
                    <a:lnTo>
                      <a:pt x="17" y="0"/>
                    </a:lnTo>
                    <a:lnTo>
                      <a:pt x="10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6" y="3"/>
                    </a:lnTo>
                    <a:lnTo>
                      <a:pt x="10" y="3"/>
                    </a:lnTo>
                    <a:lnTo>
                      <a:pt x="17" y="3"/>
                    </a:lnTo>
                    <a:lnTo>
                      <a:pt x="22" y="3"/>
                    </a:lnTo>
                    <a:lnTo>
                      <a:pt x="29" y="4"/>
                    </a:lnTo>
                    <a:lnTo>
                      <a:pt x="38" y="4"/>
                    </a:lnTo>
                    <a:lnTo>
                      <a:pt x="46" y="5"/>
                    </a:lnTo>
                    <a:lnTo>
                      <a:pt x="55" y="5"/>
                    </a:lnTo>
                    <a:lnTo>
                      <a:pt x="65" y="6"/>
                    </a:lnTo>
                    <a:lnTo>
                      <a:pt x="74" y="7"/>
                    </a:lnTo>
                    <a:lnTo>
                      <a:pt x="84" y="7"/>
                    </a:lnTo>
                    <a:lnTo>
                      <a:pt x="96" y="8"/>
                    </a:lnTo>
                    <a:lnTo>
                      <a:pt x="106" y="9"/>
                    </a:lnTo>
                    <a:lnTo>
                      <a:pt x="116" y="9"/>
                    </a:lnTo>
                    <a:lnTo>
                      <a:pt x="127" y="10"/>
                    </a:lnTo>
                    <a:lnTo>
                      <a:pt x="137" y="11"/>
                    </a:lnTo>
                    <a:lnTo>
                      <a:pt x="148" y="13"/>
                    </a:lnTo>
                    <a:lnTo>
                      <a:pt x="158" y="13"/>
                    </a:lnTo>
                    <a:lnTo>
                      <a:pt x="167" y="15"/>
                    </a:lnTo>
                    <a:lnTo>
                      <a:pt x="178" y="15"/>
                    </a:lnTo>
                    <a:lnTo>
                      <a:pt x="187" y="16"/>
                    </a:lnTo>
                    <a:lnTo>
                      <a:pt x="195" y="17"/>
                    </a:lnTo>
                    <a:lnTo>
                      <a:pt x="202" y="19"/>
                    </a:lnTo>
                    <a:lnTo>
                      <a:pt x="210" y="19"/>
                    </a:lnTo>
                    <a:lnTo>
                      <a:pt x="215" y="20"/>
                    </a:lnTo>
                    <a:lnTo>
                      <a:pt x="221" y="21"/>
                    </a:lnTo>
                    <a:lnTo>
                      <a:pt x="225" y="21"/>
                    </a:lnTo>
                    <a:lnTo>
                      <a:pt x="228" y="22"/>
                    </a:lnTo>
                    <a:lnTo>
                      <a:pt x="229" y="22"/>
                    </a:lnTo>
                    <a:lnTo>
                      <a:pt x="229" y="21"/>
                    </a:lnTo>
                    <a:lnTo>
                      <a:pt x="231" y="2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68" name="Freeform 912"/>
              <p:cNvSpPr>
                <a:spLocks/>
              </p:cNvSpPr>
              <p:nvPr/>
            </p:nvSpPr>
            <p:spPr bwMode="auto">
              <a:xfrm>
                <a:off x="3239" y="2076"/>
                <a:ext cx="5" cy="37"/>
              </a:xfrm>
              <a:custGeom>
                <a:avLst/>
                <a:gdLst>
                  <a:gd name="T0" fmla="*/ 4 w 5"/>
                  <a:gd name="T1" fmla="*/ 36 h 37"/>
                  <a:gd name="T2" fmla="*/ 5 w 5"/>
                  <a:gd name="T3" fmla="*/ 36 h 37"/>
                  <a:gd name="T4" fmla="*/ 4 w 5"/>
                  <a:gd name="T5" fmla="*/ 27 h 37"/>
                  <a:gd name="T6" fmla="*/ 4 w 5"/>
                  <a:gd name="T7" fmla="*/ 17 h 37"/>
                  <a:gd name="T8" fmla="*/ 2 w 5"/>
                  <a:gd name="T9" fmla="*/ 8 h 37"/>
                  <a:gd name="T10" fmla="*/ 2 w 5"/>
                  <a:gd name="T11" fmla="*/ 0 h 37"/>
                  <a:gd name="T12" fmla="*/ 0 w 5"/>
                  <a:gd name="T13" fmla="*/ 0 h 37"/>
                  <a:gd name="T14" fmla="*/ 0 w 5"/>
                  <a:gd name="T15" fmla="*/ 8 h 37"/>
                  <a:gd name="T16" fmla="*/ 1 w 5"/>
                  <a:gd name="T17" fmla="*/ 17 h 37"/>
                  <a:gd name="T18" fmla="*/ 1 w 5"/>
                  <a:gd name="T19" fmla="*/ 27 h 37"/>
                  <a:gd name="T20" fmla="*/ 2 w 5"/>
                  <a:gd name="T21" fmla="*/ 36 h 37"/>
                  <a:gd name="T22" fmla="*/ 4 w 5"/>
                  <a:gd name="T23" fmla="*/ 37 h 37"/>
                  <a:gd name="T24" fmla="*/ 2 w 5"/>
                  <a:gd name="T25" fmla="*/ 36 h 37"/>
                  <a:gd name="T26" fmla="*/ 2 w 5"/>
                  <a:gd name="T27" fmla="*/ 37 h 37"/>
                  <a:gd name="T28" fmla="*/ 4 w 5"/>
                  <a:gd name="T29" fmla="*/ 37 h 37"/>
                  <a:gd name="T30" fmla="*/ 4 w 5"/>
                  <a:gd name="T31" fmla="*/ 36 h 3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"/>
                  <a:gd name="T49" fmla="*/ 0 h 37"/>
                  <a:gd name="T50" fmla="*/ 5 w 5"/>
                  <a:gd name="T51" fmla="*/ 37 h 3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" h="37">
                    <a:moveTo>
                      <a:pt x="4" y="36"/>
                    </a:moveTo>
                    <a:lnTo>
                      <a:pt x="5" y="36"/>
                    </a:lnTo>
                    <a:lnTo>
                      <a:pt x="4" y="27"/>
                    </a:lnTo>
                    <a:lnTo>
                      <a:pt x="4" y="17"/>
                    </a:lnTo>
                    <a:lnTo>
                      <a:pt x="2" y="8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" y="17"/>
                    </a:lnTo>
                    <a:lnTo>
                      <a:pt x="1" y="27"/>
                    </a:lnTo>
                    <a:lnTo>
                      <a:pt x="2" y="36"/>
                    </a:lnTo>
                    <a:lnTo>
                      <a:pt x="4" y="37"/>
                    </a:lnTo>
                    <a:lnTo>
                      <a:pt x="2" y="36"/>
                    </a:lnTo>
                    <a:lnTo>
                      <a:pt x="2" y="37"/>
                    </a:lnTo>
                    <a:lnTo>
                      <a:pt x="4" y="37"/>
                    </a:lnTo>
                    <a:lnTo>
                      <a:pt x="4" y="3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69" name="Freeform 913"/>
              <p:cNvSpPr>
                <a:spLocks/>
              </p:cNvSpPr>
              <p:nvPr/>
            </p:nvSpPr>
            <p:spPr bwMode="auto">
              <a:xfrm>
                <a:off x="3241" y="2111"/>
                <a:ext cx="9" cy="12"/>
              </a:xfrm>
              <a:custGeom>
                <a:avLst/>
                <a:gdLst>
                  <a:gd name="T0" fmla="*/ 5 w 9"/>
                  <a:gd name="T1" fmla="*/ 12 h 12"/>
                  <a:gd name="T2" fmla="*/ 5 w 9"/>
                  <a:gd name="T3" fmla="*/ 12 h 12"/>
                  <a:gd name="T4" fmla="*/ 8 w 9"/>
                  <a:gd name="T5" fmla="*/ 11 h 12"/>
                  <a:gd name="T6" fmla="*/ 9 w 9"/>
                  <a:gd name="T7" fmla="*/ 8 h 12"/>
                  <a:gd name="T8" fmla="*/ 9 w 9"/>
                  <a:gd name="T9" fmla="*/ 7 h 12"/>
                  <a:gd name="T10" fmla="*/ 8 w 9"/>
                  <a:gd name="T11" fmla="*/ 5 h 12"/>
                  <a:gd name="T12" fmla="*/ 7 w 9"/>
                  <a:gd name="T13" fmla="*/ 3 h 12"/>
                  <a:gd name="T14" fmla="*/ 5 w 9"/>
                  <a:gd name="T15" fmla="*/ 2 h 12"/>
                  <a:gd name="T16" fmla="*/ 3 w 9"/>
                  <a:gd name="T17" fmla="*/ 1 h 12"/>
                  <a:gd name="T18" fmla="*/ 2 w 9"/>
                  <a:gd name="T19" fmla="*/ 0 h 12"/>
                  <a:gd name="T20" fmla="*/ 0 w 9"/>
                  <a:gd name="T21" fmla="*/ 1 h 12"/>
                  <a:gd name="T22" fmla="*/ 2 w 9"/>
                  <a:gd name="T23" fmla="*/ 2 h 12"/>
                  <a:gd name="T24" fmla="*/ 4 w 9"/>
                  <a:gd name="T25" fmla="*/ 3 h 12"/>
                  <a:gd name="T26" fmla="*/ 5 w 9"/>
                  <a:gd name="T27" fmla="*/ 5 h 12"/>
                  <a:gd name="T28" fmla="*/ 7 w 9"/>
                  <a:gd name="T29" fmla="*/ 5 h 12"/>
                  <a:gd name="T30" fmla="*/ 7 w 9"/>
                  <a:gd name="T31" fmla="*/ 7 h 12"/>
                  <a:gd name="T32" fmla="*/ 7 w 9"/>
                  <a:gd name="T33" fmla="*/ 8 h 12"/>
                  <a:gd name="T34" fmla="*/ 7 w 9"/>
                  <a:gd name="T35" fmla="*/ 9 h 12"/>
                  <a:gd name="T36" fmla="*/ 4 w 9"/>
                  <a:gd name="T37" fmla="*/ 11 h 12"/>
                  <a:gd name="T38" fmla="*/ 5 w 9"/>
                  <a:gd name="T39" fmla="*/ 12 h 1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9"/>
                  <a:gd name="T61" fmla="*/ 0 h 12"/>
                  <a:gd name="T62" fmla="*/ 9 w 9"/>
                  <a:gd name="T63" fmla="*/ 12 h 1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9" h="12">
                    <a:moveTo>
                      <a:pt x="5" y="12"/>
                    </a:moveTo>
                    <a:lnTo>
                      <a:pt x="5" y="12"/>
                    </a:lnTo>
                    <a:lnTo>
                      <a:pt x="8" y="11"/>
                    </a:lnTo>
                    <a:lnTo>
                      <a:pt x="9" y="8"/>
                    </a:lnTo>
                    <a:lnTo>
                      <a:pt x="9" y="7"/>
                    </a:lnTo>
                    <a:lnTo>
                      <a:pt x="8" y="5"/>
                    </a:lnTo>
                    <a:lnTo>
                      <a:pt x="7" y="3"/>
                    </a:lnTo>
                    <a:lnTo>
                      <a:pt x="5" y="2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5"/>
                    </a:lnTo>
                    <a:lnTo>
                      <a:pt x="7" y="5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7" y="9"/>
                    </a:lnTo>
                    <a:lnTo>
                      <a:pt x="4" y="11"/>
                    </a:ln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70" name="Freeform 914"/>
              <p:cNvSpPr>
                <a:spLocks/>
              </p:cNvSpPr>
              <p:nvPr/>
            </p:nvSpPr>
            <p:spPr bwMode="auto">
              <a:xfrm>
                <a:off x="3143" y="2122"/>
                <a:ext cx="103" cy="45"/>
              </a:xfrm>
              <a:custGeom>
                <a:avLst/>
                <a:gdLst>
                  <a:gd name="T0" fmla="*/ 1 w 103"/>
                  <a:gd name="T1" fmla="*/ 45 h 45"/>
                  <a:gd name="T2" fmla="*/ 3 w 103"/>
                  <a:gd name="T3" fmla="*/ 44 h 45"/>
                  <a:gd name="T4" fmla="*/ 9 w 103"/>
                  <a:gd name="T5" fmla="*/ 42 h 45"/>
                  <a:gd name="T6" fmla="*/ 14 w 103"/>
                  <a:gd name="T7" fmla="*/ 40 h 45"/>
                  <a:gd name="T8" fmla="*/ 20 w 103"/>
                  <a:gd name="T9" fmla="*/ 37 h 45"/>
                  <a:gd name="T10" fmla="*/ 27 w 103"/>
                  <a:gd name="T11" fmla="*/ 35 h 45"/>
                  <a:gd name="T12" fmla="*/ 35 w 103"/>
                  <a:gd name="T13" fmla="*/ 31 h 45"/>
                  <a:gd name="T14" fmla="*/ 44 w 103"/>
                  <a:gd name="T15" fmla="*/ 27 h 45"/>
                  <a:gd name="T16" fmla="*/ 52 w 103"/>
                  <a:gd name="T17" fmla="*/ 23 h 45"/>
                  <a:gd name="T18" fmla="*/ 60 w 103"/>
                  <a:gd name="T19" fmla="*/ 20 h 45"/>
                  <a:gd name="T20" fmla="*/ 70 w 103"/>
                  <a:gd name="T21" fmla="*/ 17 h 45"/>
                  <a:gd name="T22" fmla="*/ 77 w 103"/>
                  <a:gd name="T23" fmla="*/ 12 h 45"/>
                  <a:gd name="T24" fmla="*/ 83 w 103"/>
                  <a:gd name="T25" fmla="*/ 9 h 45"/>
                  <a:gd name="T26" fmla="*/ 90 w 103"/>
                  <a:gd name="T27" fmla="*/ 6 h 45"/>
                  <a:gd name="T28" fmla="*/ 96 w 103"/>
                  <a:gd name="T29" fmla="*/ 4 h 45"/>
                  <a:gd name="T30" fmla="*/ 100 w 103"/>
                  <a:gd name="T31" fmla="*/ 3 h 45"/>
                  <a:gd name="T32" fmla="*/ 103 w 103"/>
                  <a:gd name="T33" fmla="*/ 1 h 45"/>
                  <a:gd name="T34" fmla="*/ 101 w 103"/>
                  <a:gd name="T35" fmla="*/ 0 h 45"/>
                  <a:gd name="T36" fmla="*/ 97 w 103"/>
                  <a:gd name="T37" fmla="*/ 2 h 45"/>
                  <a:gd name="T38" fmla="*/ 92 w 103"/>
                  <a:gd name="T39" fmla="*/ 4 h 45"/>
                  <a:gd name="T40" fmla="*/ 86 w 103"/>
                  <a:gd name="T41" fmla="*/ 6 h 45"/>
                  <a:gd name="T42" fmla="*/ 79 w 103"/>
                  <a:gd name="T43" fmla="*/ 9 h 45"/>
                  <a:gd name="T44" fmla="*/ 73 w 103"/>
                  <a:gd name="T45" fmla="*/ 12 h 45"/>
                  <a:gd name="T46" fmla="*/ 64 w 103"/>
                  <a:gd name="T47" fmla="*/ 17 h 45"/>
                  <a:gd name="T48" fmla="*/ 56 w 103"/>
                  <a:gd name="T49" fmla="*/ 20 h 45"/>
                  <a:gd name="T50" fmla="*/ 47 w 103"/>
                  <a:gd name="T51" fmla="*/ 23 h 45"/>
                  <a:gd name="T52" fmla="*/ 39 w 103"/>
                  <a:gd name="T53" fmla="*/ 27 h 45"/>
                  <a:gd name="T54" fmla="*/ 31 w 103"/>
                  <a:gd name="T55" fmla="*/ 31 h 45"/>
                  <a:gd name="T56" fmla="*/ 23 w 103"/>
                  <a:gd name="T57" fmla="*/ 35 h 45"/>
                  <a:gd name="T58" fmla="*/ 16 w 103"/>
                  <a:gd name="T59" fmla="*/ 37 h 45"/>
                  <a:gd name="T60" fmla="*/ 11 w 103"/>
                  <a:gd name="T61" fmla="*/ 40 h 45"/>
                  <a:gd name="T62" fmla="*/ 5 w 103"/>
                  <a:gd name="T63" fmla="*/ 42 h 45"/>
                  <a:gd name="T64" fmla="*/ 1 w 103"/>
                  <a:gd name="T65" fmla="*/ 43 h 45"/>
                  <a:gd name="T66" fmla="*/ 1 w 103"/>
                  <a:gd name="T67" fmla="*/ 45 h 4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5"/>
                  <a:gd name="T104" fmla="*/ 103 w 103"/>
                  <a:gd name="T105" fmla="*/ 45 h 45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5">
                    <a:moveTo>
                      <a:pt x="1" y="45"/>
                    </a:moveTo>
                    <a:lnTo>
                      <a:pt x="1" y="45"/>
                    </a:lnTo>
                    <a:lnTo>
                      <a:pt x="2" y="44"/>
                    </a:lnTo>
                    <a:lnTo>
                      <a:pt x="3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2" y="41"/>
                    </a:lnTo>
                    <a:lnTo>
                      <a:pt x="14" y="40"/>
                    </a:lnTo>
                    <a:lnTo>
                      <a:pt x="17" y="39"/>
                    </a:lnTo>
                    <a:lnTo>
                      <a:pt x="20" y="37"/>
                    </a:lnTo>
                    <a:lnTo>
                      <a:pt x="24" y="35"/>
                    </a:lnTo>
                    <a:lnTo>
                      <a:pt x="27" y="35"/>
                    </a:lnTo>
                    <a:lnTo>
                      <a:pt x="31" y="32"/>
                    </a:lnTo>
                    <a:lnTo>
                      <a:pt x="35" y="31"/>
                    </a:lnTo>
                    <a:lnTo>
                      <a:pt x="40" y="28"/>
                    </a:lnTo>
                    <a:lnTo>
                      <a:pt x="44" y="27"/>
                    </a:lnTo>
                    <a:lnTo>
                      <a:pt x="47" y="25"/>
                    </a:lnTo>
                    <a:lnTo>
                      <a:pt x="52" y="23"/>
                    </a:lnTo>
                    <a:lnTo>
                      <a:pt x="57" y="21"/>
                    </a:lnTo>
                    <a:lnTo>
                      <a:pt x="60" y="20"/>
                    </a:lnTo>
                    <a:lnTo>
                      <a:pt x="64" y="18"/>
                    </a:lnTo>
                    <a:lnTo>
                      <a:pt x="70" y="17"/>
                    </a:lnTo>
                    <a:lnTo>
                      <a:pt x="73" y="14"/>
                    </a:lnTo>
                    <a:lnTo>
                      <a:pt x="77" y="12"/>
                    </a:lnTo>
                    <a:lnTo>
                      <a:pt x="80" y="10"/>
                    </a:lnTo>
                    <a:lnTo>
                      <a:pt x="83" y="9"/>
                    </a:lnTo>
                    <a:lnTo>
                      <a:pt x="87" y="7"/>
                    </a:lnTo>
                    <a:lnTo>
                      <a:pt x="90" y="6"/>
                    </a:lnTo>
                    <a:lnTo>
                      <a:pt x="92" y="5"/>
                    </a:lnTo>
                    <a:lnTo>
                      <a:pt x="96" y="4"/>
                    </a:lnTo>
                    <a:lnTo>
                      <a:pt x="98" y="3"/>
                    </a:lnTo>
                    <a:lnTo>
                      <a:pt x="100" y="3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100" y="1"/>
                    </a:lnTo>
                    <a:lnTo>
                      <a:pt x="97" y="2"/>
                    </a:lnTo>
                    <a:lnTo>
                      <a:pt x="95" y="3"/>
                    </a:lnTo>
                    <a:lnTo>
                      <a:pt x="92" y="4"/>
                    </a:lnTo>
                    <a:lnTo>
                      <a:pt x="89" y="5"/>
                    </a:lnTo>
                    <a:lnTo>
                      <a:pt x="86" y="6"/>
                    </a:lnTo>
                    <a:lnTo>
                      <a:pt x="82" y="7"/>
                    </a:lnTo>
                    <a:lnTo>
                      <a:pt x="79" y="9"/>
                    </a:lnTo>
                    <a:lnTo>
                      <a:pt x="76" y="10"/>
                    </a:lnTo>
                    <a:lnTo>
                      <a:pt x="73" y="12"/>
                    </a:lnTo>
                    <a:lnTo>
                      <a:pt x="67" y="14"/>
                    </a:lnTo>
                    <a:lnTo>
                      <a:pt x="64" y="17"/>
                    </a:lnTo>
                    <a:lnTo>
                      <a:pt x="60" y="18"/>
                    </a:lnTo>
                    <a:lnTo>
                      <a:pt x="56" y="20"/>
                    </a:lnTo>
                    <a:lnTo>
                      <a:pt x="50" y="22"/>
                    </a:lnTo>
                    <a:lnTo>
                      <a:pt x="47" y="23"/>
                    </a:lnTo>
                    <a:lnTo>
                      <a:pt x="43" y="25"/>
                    </a:lnTo>
                    <a:lnTo>
                      <a:pt x="39" y="27"/>
                    </a:lnTo>
                    <a:lnTo>
                      <a:pt x="35" y="28"/>
                    </a:lnTo>
                    <a:lnTo>
                      <a:pt x="31" y="31"/>
                    </a:lnTo>
                    <a:lnTo>
                      <a:pt x="27" y="32"/>
                    </a:lnTo>
                    <a:lnTo>
                      <a:pt x="23" y="35"/>
                    </a:lnTo>
                    <a:lnTo>
                      <a:pt x="19" y="35"/>
                    </a:lnTo>
                    <a:lnTo>
                      <a:pt x="16" y="37"/>
                    </a:lnTo>
                    <a:lnTo>
                      <a:pt x="14" y="37"/>
                    </a:lnTo>
                    <a:lnTo>
                      <a:pt x="11" y="40"/>
                    </a:lnTo>
                    <a:lnTo>
                      <a:pt x="9" y="41"/>
                    </a:lnTo>
                    <a:lnTo>
                      <a:pt x="5" y="42"/>
                    </a:lnTo>
                    <a:lnTo>
                      <a:pt x="3" y="42"/>
                    </a:lnTo>
                    <a:lnTo>
                      <a:pt x="1" y="43"/>
                    </a:lnTo>
                    <a:lnTo>
                      <a:pt x="0" y="43"/>
                    </a:lnTo>
                    <a:lnTo>
                      <a:pt x="1" y="45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71" name="Freeform 915"/>
              <p:cNvSpPr>
                <a:spLocks/>
              </p:cNvSpPr>
              <p:nvPr/>
            </p:nvSpPr>
            <p:spPr bwMode="auto">
              <a:xfrm>
                <a:off x="3129" y="2163"/>
                <a:ext cx="14" cy="4"/>
              </a:xfrm>
              <a:custGeom>
                <a:avLst/>
                <a:gdLst>
                  <a:gd name="T0" fmla="*/ 0 w 14"/>
                  <a:gd name="T1" fmla="*/ 1 h 4"/>
                  <a:gd name="T2" fmla="*/ 0 w 14"/>
                  <a:gd name="T3" fmla="*/ 1 h 4"/>
                  <a:gd name="T4" fmla="*/ 1 w 14"/>
                  <a:gd name="T5" fmla="*/ 2 h 4"/>
                  <a:gd name="T6" fmla="*/ 3 w 14"/>
                  <a:gd name="T7" fmla="*/ 3 h 4"/>
                  <a:gd name="T8" fmla="*/ 7 w 14"/>
                  <a:gd name="T9" fmla="*/ 3 h 4"/>
                  <a:gd name="T10" fmla="*/ 7 w 14"/>
                  <a:gd name="T11" fmla="*/ 3 h 4"/>
                  <a:gd name="T12" fmla="*/ 10 w 14"/>
                  <a:gd name="T13" fmla="*/ 4 h 4"/>
                  <a:gd name="T14" fmla="*/ 11 w 14"/>
                  <a:gd name="T15" fmla="*/ 4 h 4"/>
                  <a:gd name="T16" fmla="*/ 13 w 14"/>
                  <a:gd name="T17" fmla="*/ 4 h 4"/>
                  <a:gd name="T18" fmla="*/ 14 w 14"/>
                  <a:gd name="T19" fmla="*/ 4 h 4"/>
                  <a:gd name="T20" fmla="*/ 13 w 14"/>
                  <a:gd name="T21" fmla="*/ 2 h 4"/>
                  <a:gd name="T22" fmla="*/ 11 w 14"/>
                  <a:gd name="T23" fmla="*/ 2 h 4"/>
                  <a:gd name="T24" fmla="*/ 10 w 14"/>
                  <a:gd name="T25" fmla="*/ 2 h 4"/>
                  <a:gd name="T26" fmla="*/ 9 w 14"/>
                  <a:gd name="T27" fmla="*/ 2 h 4"/>
                  <a:gd name="T28" fmla="*/ 7 w 14"/>
                  <a:gd name="T29" fmla="*/ 1 h 4"/>
                  <a:gd name="T30" fmla="*/ 3 w 14"/>
                  <a:gd name="T31" fmla="*/ 1 h 4"/>
                  <a:gd name="T32" fmla="*/ 2 w 14"/>
                  <a:gd name="T33" fmla="*/ 1 h 4"/>
                  <a:gd name="T34" fmla="*/ 1 w 14"/>
                  <a:gd name="T35" fmla="*/ 0 h 4"/>
                  <a:gd name="T36" fmla="*/ 0 w 14"/>
                  <a:gd name="T37" fmla="*/ 1 h 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4"/>
                  <a:gd name="T59" fmla="*/ 14 w 14"/>
                  <a:gd name="T60" fmla="*/ 4 h 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4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3" y="3"/>
                    </a:lnTo>
                    <a:lnTo>
                      <a:pt x="7" y="3"/>
                    </a:lnTo>
                    <a:lnTo>
                      <a:pt x="10" y="4"/>
                    </a:lnTo>
                    <a:lnTo>
                      <a:pt x="11" y="4"/>
                    </a:lnTo>
                    <a:lnTo>
                      <a:pt x="13" y="4"/>
                    </a:lnTo>
                    <a:lnTo>
                      <a:pt x="14" y="4"/>
                    </a:lnTo>
                    <a:lnTo>
                      <a:pt x="13" y="2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2"/>
                    </a:lnTo>
                    <a:lnTo>
                      <a:pt x="7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72" name="Freeform 916"/>
              <p:cNvSpPr>
                <a:spLocks/>
              </p:cNvSpPr>
              <p:nvPr/>
            </p:nvSpPr>
            <p:spPr bwMode="auto">
              <a:xfrm>
                <a:off x="3015" y="2102"/>
                <a:ext cx="115" cy="62"/>
              </a:xfrm>
              <a:custGeom>
                <a:avLst/>
                <a:gdLst>
                  <a:gd name="T0" fmla="*/ 0 w 115"/>
                  <a:gd name="T1" fmla="*/ 1 h 62"/>
                  <a:gd name="T2" fmla="*/ 2 w 115"/>
                  <a:gd name="T3" fmla="*/ 2 h 62"/>
                  <a:gd name="T4" fmla="*/ 5 w 115"/>
                  <a:gd name="T5" fmla="*/ 5 h 62"/>
                  <a:gd name="T6" fmla="*/ 11 w 115"/>
                  <a:gd name="T7" fmla="*/ 8 h 62"/>
                  <a:gd name="T8" fmla="*/ 18 w 115"/>
                  <a:gd name="T9" fmla="*/ 11 h 62"/>
                  <a:gd name="T10" fmla="*/ 26 w 115"/>
                  <a:gd name="T11" fmla="*/ 16 h 62"/>
                  <a:gd name="T12" fmla="*/ 35 w 115"/>
                  <a:gd name="T13" fmla="*/ 21 h 62"/>
                  <a:gd name="T14" fmla="*/ 45 w 115"/>
                  <a:gd name="T15" fmla="*/ 26 h 62"/>
                  <a:gd name="T16" fmla="*/ 54 w 115"/>
                  <a:gd name="T17" fmla="*/ 30 h 62"/>
                  <a:gd name="T18" fmla="*/ 64 w 115"/>
                  <a:gd name="T19" fmla="*/ 37 h 62"/>
                  <a:gd name="T20" fmla="*/ 75 w 115"/>
                  <a:gd name="T21" fmla="*/ 41 h 62"/>
                  <a:gd name="T22" fmla="*/ 83 w 115"/>
                  <a:gd name="T23" fmla="*/ 46 h 62"/>
                  <a:gd name="T24" fmla="*/ 93 w 115"/>
                  <a:gd name="T25" fmla="*/ 52 h 62"/>
                  <a:gd name="T26" fmla="*/ 99 w 115"/>
                  <a:gd name="T27" fmla="*/ 55 h 62"/>
                  <a:gd name="T28" fmla="*/ 107 w 115"/>
                  <a:gd name="T29" fmla="*/ 58 h 62"/>
                  <a:gd name="T30" fmla="*/ 112 w 115"/>
                  <a:gd name="T31" fmla="*/ 61 h 62"/>
                  <a:gd name="T32" fmla="*/ 114 w 115"/>
                  <a:gd name="T33" fmla="*/ 62 h 62"/>
                  <a:gd name="T34" fmla="*/ 114 w 115"/>
                  <a:gd name="T35" fmla="*/ 60 h 62"/>
                  <a:gd name="T36" fmla="*/ 110 w 115"/>
                  <a:gd name="T37" fmla="*/ 58 h 62"/>
                  <a:gd name="T38" fmla="*/ 104 w 115"/>
                  <a:gd name="T39" fmla="*/ 55 h 62"/>
                  <a:gd name="T40" fmla="*/ 97 w 115"/>
                  <a:gd name="T41" fmla="*/ 52 h 62"/>
                  <a:gd name="T42" fmla="*/ 90 w 115"/>
                  <a:gd name="T43" fmla="*/ 46 h 62"/>
                  <a:gd name="T44" fmla="*/ 80 w 115"/>
                  <a:gd name="T45" fmla="*/ 42 h 62"/>
                  <a:gd name="T46" fmla="*/ 70 w 115"/>
                  <a:gd name="T47" fmla="*/ 38 h 62"/>
                  <a:gd name="T48" fmla="*/ 61 w 115"/>
                  <a:gd name="T49" fmla="*/ 32 h 62"/>
                  <a:gd name="T50" fmla="*/ 51 w 115"/>
                  <a:gd name="T51" fmla="*/ 26 h 62"/>
                  <a:gd name="T52" fmla="*/ 41 w 115"/>
                  <a:gd name="T53" fmla="*/ 22 h 62"/>
                  <a:gd name="T54" fmla="*/ 32 w 115"/>
                  <a:gd name="T55" fmla="*/ 17 h 62"/>
                  <a:gd name="T56" fmla="*/ 23 w 115"/>
                  <a:gd name="T57" fmla="*/ 13 h 62"/>
                  <a:gd name="T58" fmla="*/ 16 w 115"/>
                  <a:gd name="T59" fmla="*/ 8 h 62"/>
                  <a:gd name="T60" fmla="*/ 8 w 115"/>
                  <a:gd name="T61" fmla="*/ 5 h 62"/>
                  <a:gd name="T62" fmla="*/ 4 w 115"/>
                  <a:gd name="T63" fmla="*/ 2 h 62"/>
                  <a:gd name="T64" fmla="*/ 1 w 115"/>
                  <a:gd name="T65" fmla="*/ 0 h 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2"/>
                  <a:gd name="T101" fmla="*/ 115 w 115"/>
                  <a:gd name="T102" fmla="*/ 62 h 6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2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4"/>
                    </a:lnTo>
                    <a:lnTo>
                      <a:pt x="5" y="5"/>
                    </a:lnTo>
                    <a:lnTo>
                      <a:pt x="7" y="6"/>
                    </a:lnTo>
                    <a:lnTo>
                      <a:pt x="11" y="8"/>
                    </a:lnTo>
                    <a:lnTo>
                      <a:pt x="15" y="11"/>
                    </a:lnTo>
                    <a:lnTo>
                      <a:pt x="18" y="11"/>
                    </a:lnTo>
                    <a:lnTo>
                      <a:pt x="22" y="14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1"/>
                    </a:lnTo>
                    <a:lnTo>
                      <a:pt x="39" y="23"/>
                    </a:lnTo>
                    <a:lnTo>
                      <a:pt x="45" y="26"/>
                    </a:lnTo>
                    <a:lnTo>
                      <a:pt x="49" y="28"/>
                    </a:lnTo>
                    <a:lnTo>
                      <a:pt x="54" y="30"/>
                    </a:lnTo>
                    <a:lnTo>
                      <a:pt x="60" y="34"/>
                    </a:lnTo>
                    <a:lnTo>
                      <a:pt x="64" y="37"/>
                    </a:lnTo>
                    <a:lnTo>
                      <a:pt x="70" y="39"/>
                    </a:lnTo>
                    <a:lnTo>
                      <a:pt x="75" y="41"/>
                    </a:lnTo>
                    <a:lnTo>
                      <a:pt x="79" y="44"/>
                    </a:lnTo>
                    <a:lnTo>
                      <a:pt x="83" y="46"/>
                    </a:lnTo>
                    <a:lnTo>
                      <a:pt x="88" y="48"/>
                    </a:lnTo>
                    <a:lnTo>
                      <a:pt x="93" y="52"/>
                    </a:lnTo>
                    <a:lnTo>
                      <a:pt x="96" y="54"/>
                    </a:lnTo>
                    <a:lnTo>
                      <a:pt x="99" y="55"/>
                    </a:lnTo>
                    <a:lnTo>
                      <a:pt x="102" y="57"/>
                    </a:lnTo>
                    <a:lnTo>
                      <a:pt x="107" y="58"/>
                    </a:lnTo>
                    <a:lnTo>
                      <a:pt x="110" y="60"/>
                    </a:lnTo>
                    <a:lnTo>
                      <a:pt x="112" y="61"/>
                    </a:lnTo>
                    <a:lnTo>
                      <a:pt x="113" y="61"/>
                    </a:lnTo>
                    <a:lnTo>
                      <a:pt x="114" y="62"/>
                    </a:lnTo>
                    <a:lnTo>
                      <a:pt x="115" y="61"/>
                    </a:lnTo>
                    <a:lnTo>
                      <a:pt x="114" y="60"/>
                    </a:lnTo>
                    <a:lnTo>
                      <a:pt x="112" y="59"/>
                    </a:lnTo>
                    <a:lnTo>
                      <a:pt x="110" y="58"/>
                    </a:lnTo>
                    <a:lnTo>
                      <a:pt x="107" y="57"/>
                    </a:lnTo>
                    <a:lnTo>
                      <a:pt x="104" y="55"/>
                    </a:lnTo>
                    <a:lnTo>
                      <a:pt x="100" y="54"/>
                    </a:lnTo>
                    <a:lnTo>
                      <a:pt x="97" y="52"/>
                    </a:lnTo>
                    <a:lnTo>
                      <a:pt x="94" y="48"/>
                    </a:lnTo>
                    <a:lnTo>
                      <a:pt x="90" y="46"/>
                    </a:lnTo>
                    <a:lnTo>
                      <a:pt x="84" y="44"/>
                    </a:lnTo>
                    <a:lnTo>
                      <a:pt x="80" y="42"/>
                    </a:lnTo>
                    <a:lnTo>
                      <a:pt x="76" y="40"/>
                    </a:lnTo>
                    <a:lnTo>
                      <a:pt x="70" y="38"/>
                    </a:lnTo>
                    <a:lnTo>
                      <a:pt x="65" y="36"/>
                    </a:lnTo>
                    <a:lnTo>
                      <a:pt x="61" y="32"/>
                    </a:lnTo>
                    <a:lnTo>
                      <a:pt x="55" y="29"/>
                    </a:lnTo>
                    <a:lnTo>
                      <a:pt x="51" y="26"/>
                    </a:lnTo>
                    <a:lnTo>
                      <a:pt x="46" y="24"/>
                    </a:lnTo>
                    <a:lnTo>
                      <a:pt x="41" y="22"/>
                    </a:lnTo>
                    <a:lnTo>
                      <a:pt x="36" y="20"/>
                    </a:lnTo>
                    <a:lnTo>
                      <a:pt x="32" y="17"/>
                    </a:lnTo>
                    <a:lnTo>
                      <a:pt x="27" y="15"/>
                    </a:lnTo>
                    <a:lnTo>
                      <a:pt x="23" y="13"/>
                    </a:lnTo>
                    <a:lnTo>
                      <a:pt x="19" y="11"/>
                    </a:lnTo>
                    <a:lnTo>
                      <a:pt x="16" y="8"/>
                    </a:lnTo>
                    <a:lnTo>
                      <a:pt x="13" y="6"/>
                    </a:lnTo>
                    <a:lnTo>
                      <a:pt x="8" y="5"/>
                    </a:lnTo>
                    <a:lnTo>
                      <a:pt x="6" y="4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73" name="Freeform 917"/>
              <p:cNvSpPr>
                <a:spLocks/>
              </p:cNvSpPr>
              <p:nvPr/>
            </p:nvSpPr>
            <p:spPr bwMode="auto">
              <a:xfrm>
                <a:off x="3003" y="2093"/>
                <a:ext cx="13" cy="10"/>
              </a:xfrm>
              <a:custGeom>
                <a:avLst/>
                <a:gdLst>
                  <a:gd name="T0" fmla="*/ 0 w 13"/>
                  <a:gd name="T1" fmla="*/ 1 h 10"/>
                  <a:gd name="T2" fmla="*/ 0 w 13"/>
                  <a:gd name="T3" fmla="*/ 1 h 10"/>
                  <a:gd name="T4" fmla="*/ 1 w 13"/>
                  <a:gd name="T5" fmla="*/ 3 h 10"/>
                  <a:gd name="T6" fmla="*/ 2 w 13"/>
                  <a:gd name="T7" fmla="*/ 4 h 10"/>
                  <a:gd name="T8" fmla="*/ 5 w 13"/>
                  <a:gd name="T9" fmla="*/ 5 h 10"/>
                  <a:gd name="T10" fmla="*/ 7 w 13"/>
                  <a:gd name="T11" fmla="*/ 7 h 10"/>
                  <a:gd name="T12" fmla="*/ 8 w 13"/>
                  <a:gd name="T13" fmla="*/ 7 h 10"/>
                  <a:gd name="T14" fmla="*/ 9 w 13"/>
                  <a:gd name="T15" fmla="*/ 7 h 10"/>
                  <a:gd name="T16" fmla="*/ 11 w 13"/>
                  <a:gd name="T17" fmla="*/ 9 h 10"/>
                  <a:gd name="T18" fmla="*/ 12 w 13"/>
                  <a:gd name="T19" fmla="*/ 10 h 10"/>
                  <a:gd name="T20" fmla="*/ 13 w 13"/>
                  <a:gd name="T21" fmla="*/ 9 h 10"/>
                  <a:gd name="T22" fmla="*/ 11 w 13"/>
                  <a:gd name="T23" fmla="*/ 7 h 10"/>
                  <a:gd name="T24" fmla="*/ 10 w 13"/>
                  <a:gd name="T25" fmla="*/ 7 h 10"/>
                  <a:gd name="T26" fmla="*/ 9 w 13"/>
                  <a:gd name="T27" fmla="*/ 5 h 10"/>
                  <a:gd name="T28" fmla="*/ 8 w 13"/>
                  <a:gd name="T29" fmla="*/ 4 h 10"/>
                  <a:gd name="T30" fmla="*/ 7 w 13"/>
                  <a:gd name="T31" fmla="*/ 4 h 10"/>
                  <a:gd name="T32" fmla="*/ 5 w 13"/>
                  <a:gd name="T33" fmla="*/ 3 h 10"/>
                  <a:gd name="T34" fmla="*/ 2 w 13"/>
                  <a:gd name="T35" fmla="*/ 1 h 10"/>
                  <a:gd name="T36" fmla="*/ 1 w 13"/>
                  <a:gd name="T37" fmla="*/ 0 h 10"/>
                  <a:gd name="T38" fmla="*/ 0 w 13"/>
                  <a:gd name="T39" fmla="*/ 1 h 1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10"/>
                  <a:gd name="T62" fmla="*/ 13 w 13"/>
                  <a:gd name="T63" fmla="*/ 10 h 1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10">
                    <a:moveTo>
                      <a:pt x="0" y="1"/>
                    </a:moveTo>
                    <a:lnTo>
                      <a:pt x="0" y="1"/>
                    </a:lnTo>
                    <a:lnTo>
                      <a:pt x="1" y="3"/>
                    </a:lnTo>
                    <a:lnTo>
                      <a:pt x="2" y="4"/>
                    </a:lnTo>
                    <a:lnTo>
                      <a:pt x="5" y="5"/>
                    </a:lnTo>
                    <a:lnTo>
                      <a:pt x="7" y="7"/>
                    </a:lnTo>
                    <a:lnTo>
                      <a:pt x="8" y="7"/>
                    </a:lnTo>
                    <a:lnTo>
                      <a:pt x="9" y="7"/>
                    </a:lnTo>
                    <a:lnTo>
                      <a:pt x="11" y="9"/>
                    </a:lnTo>
                    <a:lnTo>
                      <a:pt x="12" y="10"/>
                    </a:lnTo>
                    <a:lnTo>
                      <a:pt x="13" y="9"/>
                    </a:lnTo>
                    <a:lnTo>
                      <a:pt x="11" y="7"/>
                    </a:lnTo>
                    <a:lnTo>
                      <a:pt x="10" y="7"/>
                    </a:lnTo>
                    <a:lnTo>
                      <a:pt x="9" y="5"/>
                    </a:lnTo>
                    <a:lnTo>
                      <a:pt x="8" y="4"/>
                    </a:lnTo>
                    <a:lnTo>
                      <a:pt x="7" y="4"/>
                    </a:lnTo>
                    <a:lnTo>
                      <a:pt x="5" y="3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74" name="Freeform 918"/>
              <p:cNvSpPr>
                <a:spLocks/>
              </p:cNvSpPr>
              <p:nvPr/>
            </p:nvSpPr>
            <p:spPr bwMode="auto">
              <a:xfrm>
                <a:off x="3132" y="2125"/>
                <a:ext cx="10" cy="41"/>
              </a:xfrm>
              <a:custGeom>
                <a:avLst/>
                <a:gdLst>
                  <a:gd name="T0" fmla="*/ 10 w 10"/>
                  <a:gd name="T1" fmla="*/ 41 h 41"/>
                  <a:gd name="T2" fmla="*/ 8 w 10"/>
                  <a:gd name="T3" fmla="*/ 41 h 41"/>
                  <a:gd name="T4" fmla="*/ 7 w 10"/>
                  <a:gd name="T5" fmla="*/ 40 h 41"/>
                  <a:gd name="T6" fmla="*/ 6 w 10"/>
                  <a:gd name="T7" fmla="*/ 38 h 41"/>
                  <a:gd name="T8" fmla="*/ 4 w 10"/>
                  <a:gd name="T9" fmla="*/ 36 h 41"/>
                  <a:gd name="T10" fmla="*/ 4 w 10"/>
                  <a:gd name="T11" fmla="*/ 34 h 41"/>
                  <a:gd name="T12" fmla="*/ 2 w 10"/>
                  <a:gd name="T13" fmla="*/ 31 h 41"/>
                  <a:gd name="T14" fmla="*/ 0 w 10"/>
                  <a:gd name="T15" fmla="*/ 29 h 41"/>
                  <a:gd name="T16" fmla="*/ 0 w 10"/>
                  <a:gd name="T17" fmla="*/ 25 h 41"/>
                  <a:gd name="T18" fmla="*/ 0 w 10"/>
                  <a:gd name="T19" fmla="*/ 21 h 41"/>
                  <a:gd name="T20" fmla="*/ 0 w 10"/>
                  <a:gd name="T21" fmla="*/ 17 h 41"/>
                  <a:gd name="T22" fmla="*/ 0 w 10"/>
                  <a:gd name="T23" fmla="*/ 13 h 41"/>
                  <a:gd name="T24" fmla="*/ 2 w 10"/>
                  <a:gd name="T25" fmla="*/ 8 h 41"/>
                  <a:gd name="T26" fmla="*/ 4 w 10"/>
                  <a:gd name="T27" fmla="*/ 6 h 41"/>
                  <a:gd name="T28" fmla="*/ 4 w 10"/>
                  <a:gd name="T29" fmla="*/ 3 h 41"/>
                  <a:gd name="T30" fmla="*/ 6 w 10"/>
                  <a:gd name="T31" fmla="*/ 1 h 41"/>
                  <a:gd name="T32" fmla="*/ 8 w 10"/>
                  <a:gd name="T33" fmla="*/ 0 h 41"/>
                  <a:gd name="T34" fmla="*/ 10 w 10"/>
                  <a:gd name="T35" fmla="*/ 41 h 4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"/>
                  <a:gd name="T55" fmla="*/ 0 h 41"/>
                  <a:gd name="T56" fmla="*/ 10 w 10"/>
                  <a:gd name="T57" fmla="*/ 41 h 4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" h="41">
                    <a:moveTo>
                      <a:pt x="10" y="41"/>
                    </a:moveTo>
                    <a:lnTo>
                      <a:pt x="8" y="41"/>
                    </a:lnTo>
                    <a:lnTo>
                      <a:pt x="7" y="40"/>
                    </a:lnTo>
                    <a:lnTo>
                      <a:pt x="6" y="38"/>
                    </a:lnTo>
                    <a:lnTo>
                      <a:pt x="4" y="36"/>
                    </a:lnTo>
                    <a:lnTo>
                      <a:pt x="4" y="34"/>
                    </a:lnTo>
                    <a:lnTo>
                      <a:pt x="2" y="31"/>
                    </a:lnTo>
                    <a:lnTo>
                      <a:pt x="0" y="29"/>
                    </a:lnTo>
                    <a:lnTo>
                      <a:pt x="0" y="25"/>
                    </a:lnTo>
                    <a:lnTo>
                      <a:pt x="0" y="21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2" y="8"/>
                    </a:lnTo>
                    <a:lnTo>
                      <a:pt x="4" y="6"/>
                    </a:lnTo>
                    <a:lnTo>
                      <a:pt x="4" y="3"/>
                    </a:lnTo>
                    <a:lnTo>
                      <a:pt x="6" y="1"/>
                    </a:lnTo>
                    <a:lnTo>
                      <a:pt x="8" y="0"/>
                    </a:lnTo>
                    <a:lnTo>
                      <a:pt x="1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75" name="Freeform 919"/>
              <p:cNvSpPr>
                <a:spLocks/>
              </p:cNvSpPr>
              <p:nvPr/>
            </p:nvSpPr>
            <p:spPr bwMode="auto">
              <a:xfrm>
                <a:off x="3132" y="2150"/>
                <a:ext cx="10" cy="17"/>
              </a:xfrm>
              <a:custGeom>
                <a:avLst/>
                <a:gdLst>
                  <a:gd name="T0" fmla="*/ 0 w 10"/>
                  <a:gd name="T1" fmla="*/ 0 h 17"/>
                  <a:gd name="T2" fmla="*/ 0 w 10"/>
                  <a:gd name="T3" fmla="*/ 0 h 17"/>
                  <a:gd name="T4" fmla="*/ 0 w 10"/>
                  <a:gd name="T5" fmla="*/ 3 h 17"/>
                  <a:gd name="T6" fmla="*/ 2 w 10"/>
                  <a:gd name="T7" fmla="*/ 7 h 17"/>
                  <a:gd name="T8" fmla="*/ 2 w 10"/>
                  <a:gd name="T9" fmla="*/ 9 h 17"/>
                  <a:gd name="T10" fmla="*/ 3 w 10"/>
                  <a:gd name="T11" fmla="*/ 12 h 17"/>
                  <a:gd name="T12" fmla="*/ 5 w 10"/>
                  <a:gd name="T13" fmla="*/ 14 h 17"/>
                  <a:gd name="T14" fmla="*/ 6 w 10"/>
                  <a:gd name="T15" fmla="*/ 16 h 17"/>
                  <a:gd name="T16" fmla="*/ 8 w 10"/>
                  <a:gd name="T17" fmla="*/ 17 h 17"/>
                  <a:gd name="T18" fmla="*/ 10 w 10"/>
                  <a:gd name="T19" fmla="*/ 17 h 17"/>
                  <a:gd name="T20" fmla="*/ 10 w 10"/>
                  <a:gd name="T21" fmla="*/ 15 h 17"/>
                  <a:gd name="T22" fmla="*/ 8 w 10"/>
                  <a:gd name="T23" fmla="*/ 15 h 17"/>
                  <a:gd name="T24" fmla="*/ 7 w 10"/>
                  <a:gd name="T25" fmla="*/ 15 h 17"/>
                  <a:gd name="T26" fmla="*/ 6 w 10"/>
                  <a:gd name="T27" fmla="*/ 13 h 17"/>
                  <a:gd name="T28" fmla="*/ 5 w 10"/>
                  <a:gd name="T29" fmla="*/ 11 h 17"/>
                  <a:gd name="T30" fmla="*/ 4 w 10"/>
                  <a:gd name="T31" fmla="*/ 9 h 17"/>
                  <a:gd name="T32" fmla="*/ 3 w 10"/>
                  <a:gd name="T33" fmla="*/ 7 h 17"/>
                  <a:gd name="T34" fmla="*/ 3 w 10"/>
                  <a:gd name="T35" fmla="*/ 3 h 17"/>
                  <a:gd name="T36" fmla="*/ 3 w 10"/>
                  <a:gd name="T37" fmla="*/ 0 h 17"/>
                  <a:gd name="T38" fmla="*/ 0 w 10"/>
                  <a:gd name="T39" fmla="*/ 0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"/>
                  <a:gd name="T61" fmla="*/ 0 h 17"/>
                  <a:gd name="T62" fmla="*/ 10 w 10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" h="17">
                    <a:moveTo>
                      <a:pt x="0" y="0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3" y="12"/>
                    </a:lnTo>
                    <a:lnTo>
                      <a:pt x="5" y="14"/>
                    </a:lnTo>
                    <a:lnTo>
                      <a:pt x="6" y="16"/>
                    </a:lnTo>
                    <a:lnTo>
                      <a:pt x="8" y="17"/>
                    </a:lnTo>
                    <a:lnTo>
                      <a:pt x="10" y="17"/>
                    </a:lnTo>
                    <a:lnTo>
                      <a:pt x="10" y="15"/>
                    </a:lnTo>
                    <a:lnTo>
                      <a:pt x="8" y="15"/>
                    </a:lnTo>
                    <a:lnTo>
                      <a:pt x="7" y="15"/>
                    </a:lnTo>
                    <a:lnTo>
                      <a:pt x="6" y="13"/>
                    </a:lnTo>
                    <a:lnTo>
                      <a:pt x="5" y="11"/>
                    </a:lnTo>
                    <a:lnTo>
                      <a:pt x="4" y="9"/>
                    </a:lnTo>
                    <a:lnTo>
                      <a:pt x="3" y="7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76" name="Freeform 920"/>
              <p:cNvSpPr>
                <a:spLocks/>
              </p:cNvSpPr>
              <p:nvPr/>
            </p:nvSpPr>
            <p:spPr bwMode="auto">
              <a:xfrm>
                <a:off x="3132" y="2125"/>
                <a:ext cx="9" cy="25"/>
              </a:xfrm>
              <a:custGeom>
                <a:avLst/>
                <a:gdLst>
                  <a:gd name="T0" fmla="*/ 8 w 9"/>
                  <a:gd name="T1" fmla="*/ 0 h 25"/>
                  <a:gd name="T2" fmla="*/ 6 w 9"/>
                  <a:gd name="T3" fmla="*/ 1 h 25"/>
                  <a:gd name="T4" fmla="*/ 4 w 9"/>
                  <a:gd name="T5" fmla="*/ 3 h 25"/>
                  <a:gd name="T6" fmla="*/ 3 w 9"/>
                  <a:gd name="T7" fmla="*/ 6 h 25"/>
                  <a:gd name="T8" fmla="*/ 2 w 9"/>
                  <a:gd name="T9" fmla="*/ 9 h 25"/>
                  <a:gd name="T10" fmla="*/ 0 w 9"/>
                  <a:gd name="T11" fmla="*/ 13 h 25"/>
                  <a:gd name="T12" fmla="*/ 0 w 9"/>
                  <a:gd name="T13" fmla="*/ 17 h 25"/>
                  <a:gd name="T14" fmla="*/ 0 w 9"/>
                  <a:gd name="T15" fmla="*/ 21 h 25"/>
                  <a:gd name="T16" fmla="*/ 0 w 9"/>
                  <a:gd name="T17" fmla="*/ 25 h 25"/>
                  <a:gd name="T18" fmla="*/ 3 w 9"/>
                  <a:gd name="T19" fmla="*/ 25 h 25"/>
                  <a:gd name="T20" fmla="*/ 3 w 9"/>
                  <a:gd name="T21" fmla="*/ 21 h 25"/>
                  <a:gd name="T22" fmla="*/ 3 w 9"/>
                  <a:gd name="T23" fmla="*/ 17 h 25"/>
                  <a:gd name="T24" fmla="*/ 3 w 9"/>
                  <a:gd name="T25" fmla="*/ 13 h 25"/>
                  <a:gd name="T26" fmla="*/ 4 w 9"/>
                  <a:gd name="T27" fmla="*/ 9 h 25"/>
                  <a:gd name="T28" fmla="*/ 4 w 9"/>
                  <a:gd name="T29" fmla="*/ 6 h 25"/>
                  <a:gd name="T30" fmla="*/ 6 w 9"/>
                  <a:gd name="T31" fmla="*/ 4 h 25"/>
                  <a:gd name="T32" fmla="*/ 7 w 9"/>
                  <a:gd name="T33" fmla="*/ 3 h 25"/>
                  <a:gd name="T34" fmla="*/ 9 w 9"/>
                  <a:gd name="T35" fmla="*/ 1 h 25"/>
                  <a:gd name="T36" fmla="*/ 8 w 9"/>
                  <a:gd name="T37" fmla="*/ 0 h 2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25"/>
                  <a:gd name="T59" fmla="*/ 9 w 9"/>
                  <a:gd name="T60" fmla="*/ 25 h 2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25">
                    <a:moveTo>
                      <a:pt x="8" y="0"/>
                    </a:moveTo>
                    <a:lnTo>
                      <a:pt x="6" y="1"/>
                    </a:lnTo>
                    <a:lnTo>
                      <a:pt x="4" y="3"/>
                    </a:lnTo>
                    <a:lnTo>
                      <a:pt x="3" y="6"/>
                    </a:lnTo>
                    <a:lnTo>
                      <a:pt x="2" y="9"/>
                    </a:lnTo>
                    <a:lnTo>
                      <a:pt x="0" y="13"/>
                    </a:lnTo>
                    <a:lnTo>
                      <a:pt x="0" y="17"/>
                    </a:lnTo>
                    <a:lnTo>
                      <a:pt x="0" y="21"/>
                    </a:lnTo>
                    <a:lnTo>
                      <a:pt x="0" y="25"/>
                    </a:lnTo>
                    <a:lnTo>
                      <a:pt x="3" y="25"/>
                    </a:lnTo>
                    <a:lnTo>
                      <a:pt x="3" y="21"/>
                    </a:lnTo>
                    <a:lnTo>
                      <a:pt x="3" y="17"/>
                    </a:lnTo>
                    <a:lnTo>
                      <a:pt x="3" y="13"/>
                    </a:lnTo>
                    <a:lnTo>
                      <a:pt x="4" y="9"/>
                    </a:lnTo>
                    <a:lnTo>
                      <a:pt x="4" y="6"/>
                    </a:lnTo>
                    <a:lnTo>
                      <a:pt x="6" y="4"/>
                    </a:lnTo>
                    <a:lnTo>
                      <a:pt x="7" y="3"/>
                    </a:lnTo>
                    <a:lnTo>
                      <a:pt x="9" y="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77" name="Freeform 921"/>
              <p:cNvSpPr>
                <a:spLocks/>
              </p:cNvSpPr>
              <p:nvPr/>
            </p:nvSpPr>
            <p:spPr bwMode="auto">
              <a:xfrm>
                <a:off x="3011" y="2010"/>
                <a:ext cx="239" cy="115"/>
              </a:xfrm>
              <a:custGeom>
                <a:avLst/>
                <a:gdLst>
                  <a:gd name="T0" fmla="*/ 8 w 239"/>
                  <a:gd name="T1" fmla="*/ 42 h 115"/>
                  <a:gd name="T2" fmla="*/ 24 w 239"/>
                  <a:gd name="T3" fmla="*/ 35 h 115"/>
                  <a:gd name="T4" fmla="*/ 45 w 239"/>
                  <a:gd name="T5" fmla="*/ 24 h 115"/>
                  <a:gd name="T6" fmla="*/ 67 w 239"/>
                  <a:gd name="T7" fmla="*/ 14 h 115"/>
                  <a:gd name="T8" fmla="*/ 85 w 239"/>
                  <a:gd name="T9" fmla="*/ 5 h 115"/>
                  <a:gd name="T10" fmla="*/ 94 w 239"/>
                  <a:gd name="T11" fmla="*/ 0 h 115"/>
                  <a:gd name="T12" fmla="*/ 99 w 239"/>
                  <a:gd name="T13" fmla="*/ 0 h 115"/>
                  <a:gd name="T14" fmla="*/ 104 w 239"/>
                  <a:gd name="T15" fmla="*/ 2 h 115"/>
                  <a:gd name="T16" fmla="*/ 108 w 239"/>
                  <a:gd name="T17" fmla="*/ 4 h 115"/>
                  <a:gd name="T18" fmla="*/ 114 w 239"/>
                  <a:gd name="T19" fmla="*/ 7 h 115"/>
                  <a:gd name="T20" fmla="*/ 126 w 239"/>
                  <a:gd name="T21" fmla="*/ 12 h 115"/>
                  <a:gd name="T22" fmla="*/ 140 w 239"/>
                  <a:gd name="T23" fmla="*/ 19 h 115"/>
                  <a:gd name="T24" fmla="*/ 155 w 239"/>
                  <a:gd name="T25" fmla="*/ 25 h 115"/>
                  <a:gd name="T26" fmla="*/ 172 w 239"/>
                  <a:gd name="T27" fmla="*/ 34 h 115"/>
                  <a:gd name="T28" fmla="*/ 188 w 239"/>
                  <a:gd name="T29" fmla="*/ 40 h 115"/>
                  <a:gd name="T30" fmla="*/ 204 w 239"/>
                  <a:gd name="T31" fmla="*/ 47 h 115"/>
                  <a:gd name="T32" fmla="*/ 217 w 239"/>
                  <a:gd name="T33" fmla="*/ 54 h 115"/>
                  <a:gd name="T34" fmla="*/ 226 w 239"/>
                  <a:gd name="T35" fmla="*/ 58 h 115"/>
                  <a:gd name="T36" fmla="*/ 233 w 239"/>
                  <a:gd name="T37" fmla="*/ 60 h 115"/>
                  <a:gd name="T38" fmla="*/ 237 w 239"/>
                  <a:gd name="T39" fmla="*/ 63 h 115"/>
                  <a:gd name="T40" fmla="*/ 239 w 239"/>
                  <a:gd name="T41" fmla="*/ 68 h 115"/>
                  <a:gd name="T42" fmla="*/ 235 w 239"/>
                  <a:gd name="T43" fmla="*/ 71 h 115"/>
                  <a:gd name="T44" fmla="*/ 228 w 239"/>
                  <a:gd name="T45" fmla="*/ 73 h 115"/>
                  <a:gd name="T46" fmla="*/ 220 w 239"/>
                  <a:gd name="T47" fmla="*/ 77 h 115"/>
                  <a:gd name="T48" fmla="*/ 209 w 239"/>
                  <a:gd name="T49" fmla="*/ 82 h 115"/>
                  <a:gd name="T50" fmla="*/ 197 w 239"/>
                  <a:gd name="T51" fmla="*/ 87 h 115"/>
                  <a:gd name="T52" fmla="*/ 184 w 239"/>
                  <a:gd name="T53" fmla="*/ 92 h 115"/>
                  <a:gd name="T54" fmla="*/ 172 w 239"/>
                  <a:gd name="T55" fmla="*/ 98 h 115"/>
                  <a:gd name="T56" fmla="*/ 160 w 239"/>
                  <a:gd name="T57" fmla="*/ 103 h 115"/>
                  <a:gd name="T58" fmla="*/ 149 w 239"/>
                  <a:gd name="T59" fmla="*/ 108 h 115"/>
                  <a:gd name="T60" fmla="*/ 141 w 239"/>
                  <a:gd name="T61" fmla="*/ 112 h 115"/>
                  <a:gd name="T62" fmla="*/ 134 w 239"/>
                  <a:gd name="T63" fmla="*/ 114 h 115"/>
                  <a:gd name="T64" fmla="*/ 130 w 239"/>
                  <a:gd name="T65" fmla="*/ 115 h 115"/>
                  <a:gd name="T66" fmla="*/ 125 w 239"/>
                  <a:gd name="T67" fmla="*/ 114 h 115"/>
                  <a:gd name="T68" fmla="*/ 120 w 239"/>
                  <a:gd name="T69" fmla="*/ 112 h 115"/>
                  <a:gd name="T70" fmla="*/ 114 w 239"/>
                  <a:gd name="T71" fmla="*/ 108 h 115"/>
                  <a:gd name="T72" fmla="*/ 105 w 239"/>
                  <a:gd name="T73" fmla="*/ 104 h 115"/>
                  <a:gd name="T74" fmla="*/ 94 w 239"/>
                  <a:gd name="T75" fmla="*/ 98 h 115"/>
                  <a:gd name="T76" fmla="*/ 80 w 239"/>
                  <a:gd name="T77" fmla="*/ 91 h 115"/>
                  <a:gd name="T78" fmla="*/ 66 w 239"/>
                  <a:gd name="T79" fmla="*/ 83 h 115"/>
                  <a:gd name="T80" fmla="*/ 51 w 239"/>
                  <a:gd name="T81" fmla="*/ 75 h 115"/>
                  <a:gd name="T82" fmla="*/ 36 w 239"/>
                  <a:gd name="T83" fmla="*/ 68 h 115"/>
                  <a:gd name="T84" fmla="*/ 23 w 239"/>
                  <a:gd name="T85" fmla="*/ 60 h 115"/>
                  <a:gd name="T86" fmla="*/ 14 w 239"/>
                  <a:gd name="T87" fmla="*/ 55 h 115"/>
                  <a:gd name="T88" fmla="*/ 8 w 239"/>
                  <a:gd name="T89" fmla="*/ 52 h 115"/>
                  <a:gd name="T90" fmla="*/ 3 w 239"/>
                  <a:gd name="T91" fmla="*/ 50 h 115"/>
                  <a:gd name="T92" fmla="*/ 0 w 239"/>
                  <a:gd name="T93" fmla="*/ 47 h 115"/>
                  <a:gd name="T94" fmla="*/ 4 w 239"/>
                  <a:gd name="T95" fmla="*/ 44 h 11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39"/>
                  <a:gd name="T145" fmla="*/ 0 h 115"/>
                  <a:gd name="T146" fmla="*/ 239 w 239"/>
                  <a:gd name="T147" fmla="*/ 115 h 115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39" h="115">
                    <a:moveTo>
                      <a:pt x="4" y="44"/>
                    </a:moveTo>
                    <a:lnTo>
                      <a:pt x="5" y="43"/>
                    </a:lnTo>
                    <a:lnTo>
                      <a:pt x="8" y="42"/>
                    </a:lnTo>
                    <a:lnTo>
                      <a:pt x="14" y="40"/>
                    </a:lnTo>
                    <a:lnTo>
                      <a:pt x="18" y="38"/>
                    </a:lnTo>
                    <a:lnTo>
                      <a:pt x="24" y="35"/>
                    </a:lnTo>
                    <a:lnTo>
                      <a:pt x="31" y="30"/>
                    </a:lnTo>
                    <a:lnTo>
                      <a:pt x="37" y="27"/>
                    </a:lnTo>
                    <a:lnTo>
                      <a:pt x="45" y="24"/>
                    </a:lnTo>
                    <a:lnTo>
                      <a:pt x="52" y="21"/>
                    </a:lnTo>
                    <a:lnTo>
                      <a:pt x="61" y="18"/>
                    </a:lnTo>
                    <a:lnTo>
                      <a:pt x="67" y="14"/>
                    </a:lnTo>
                    <a:lnTo>
                      <a:pt x="73" y="11"/>
                    </a:lnTo>
                    <a:lnTo>
                      <a:pt x="80" y="7"/>
                    </a:lnTo>
                    <a:lnTo>
                      <a:pt x="85" y="5"/>
                    </a:lnTo>
                    <a:lnTo>
                      <a:pt x="89" y="3"/>
                    </a:lnTo>
                    <a:lnTo>
                      <a:pt x="93" y="2"/>
                    </a:lnTo>
                    <a:lnTo>
                      <a:pt x="94" y="0"/>
                    </a:lnTo>
                    <a:lnTo>
                      <a:pt x="96" y="0"/>
                    </a:lnTo>
                    <a:lnTo>
                      <a:pt x="97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3" y="2"/>
                    </a:lnTo>
                    <a:lnTo>
                      <a:pt x="104" y="2"/>
                    </a:lnTo>
                    <a:lnTo>
                      <a:pt x="105" y="3"/>
                    </a:lnTo>
                    <a:lnTo>
                      <a:pt x="106" y="3"/>
                    </a:lnTo>
                    <a:lnTo>
                      <a:pt x="108" y="4"/>
                    </a:lnTo>
                    <a:lnTo>
                      <a:pt x="110" y="4"/>
                    </a:lnTo>
                    <a:lnTo>
                      <a:pt x="112" y="5"/>
                    </a:lnTo>
                    <a:lnTo>
                      <a:pt x="114" y="7"/>
                    </a:lnTo>
                    <a:lnTo>
                      <a:pt x="118" y="9"/>
                    </a:lnTo>
                    <a:lnTo>
                      <a:pt x="123" y="9"/>
                    </a:lnTo>
                    <a:lnTo>
                      <a:pt x="126" y="12"/>
                    </a:lnTo>
                    <a:lnTo>
                      <a:pt x="130" y="14"/>
                    </a:lnTo>
                    <a:lnTo>
                      <a:pt x="134" y="16"/>
                    </a:lnTo>
                    <a:lnTo>
                      <a:pt x="140" y="19"/>
                    </a:lnTo>
                    <a:lnTo>
                      <a:pt x="145" y="21"/>
                    </a:lnTo>
                    <a:lnTo>
                      <a:pt x="149" y="23"/>
                    </a:lnTo>
                    <a:lnTo>
                      <a:pt x="155" y="25"/>
                    </a:lnTo>
                    <a:lnTo>
                      <a:pt x="161" y="27"/>
                    </a:lnTo>
                    <a:lnTo>
                      <a:pt x="166" y="30"/>
                    </a:lnTo>
                    <a:lnTo>
                      <a:pt x="172" y="34"/>
                    </a:lnTo>
                    <a:lnTo>
                      <a:pt x="178" y="36"/>
                    </a:lnTo>
                    <a:lnTo>
                      <a:pt x="183" y="38"/>
                    </a:lnTo>
                    <a:lnTo>
                      <a:pt x="188" y="40"/>
                    </a:lnTo>
                    <a:lnTo>
                      <a:pt x="194" y="42"/>
                    </a:lnTo>
                    <a:lnTo>
                      <a:pt x="198" y="45"/>
                    </a:lnTo>
                    <a:lnTo>
                      <a:pt x="204" y="47"/>
                    </a:lnTo>
                    <a:lnTo>
                      <a:pt x="209" y="50"/>
                    </a:lnTo>
                    <a:lnTo>
                      <a:pt x="213" y="52"/>
                    </a:lnTo>
                    <a:lnTo>
                      <a:pt x="217" y="54"/>
                    </a:lnTo>
                    <a:lnTo>
                      <a:pt x="220" y="55"/>
                    </a:lnTo>
                    <a:lnTo>
                      <a:pt x="223" y="57"/>
                    </a:lnTo>
                    <a:lnTo>
                      <a:pt x="226" y="58"/>
                    </a:lnTo>
                    <a:lnTo>
                      <a:pt x="228" y="59"/>
                    </a:lnTo>
                    <a:lnTo>
                      <a:pt x="232" y="60"/>
                    </a:lnTo>
                    <a:lnTo>
                      <a:pt x="233" y="60"/>
                    </a:lnTo>
                    <a:lnTo>
                      <a:pt x="234" y="61"/>
                    </a:lnTo>
                    <a:lnTo>
                      <a:pt x="236" y="62"/>
                    </a:lnTo>
                    <a:lnTo>
                      <a:pt x="237" y="63"/>
                    </a:lnTo>
                    <a:lnTo>
                      <a:pt x="238" y="66"/>
                    </a:lnTo>
                    <a:lnTo>
                      <a:pt x="239" y="66"/>
                    </a:lnTo>
                    <a:lnTo>
                      <a:pt x="239" y="68"/>
                    </a:lnTo>
                    <a:lnTo>
                      <a:pt x="238" y="68"/>
                    </a:lnTo>
                    <a:lnTo>
                      <a:pt x="236" y="70"/>
                    </a:lnTo>
                    <a:lnTo>
                      <a:pt x="235" y="71"/>
                    </a:lnTo>
                    <a:lnTo>
                      <a:pt x="234" y="72"/>
                    </a:lnTo>
                    <a:lnTo>
                      <a:pt x="232" y="72"/>
                    </a:lnTo>
                    <a:lnTo>
                      <a:pt x="228" y="73"/>
                    </a:lnTo>
                    <a:lnTo>
                      <a:pt x="225" y="74"/>
                    </a:lnTo>
                    <a:lnTo>
                      <a:pt x="223" y="75"/>
                    </a:lnTo>
                    <a:lnTo>
                      <a:pt x="220" y="77"/>
                    </a:lnTo>
                    <a:lnTo>
                      <a:pt x="217" y="78"/>
                    </a:lnTo>
                    <a:lnTo>
                      <a:pt x="213" y="79"/>
                    </a:lnTo>
                    <a:lnTo>
                      <a:pt x="209" y="82"/>
                    </a:lnTo>
                    <a:lnTo>
                      <a:pt x="205" y="83"/>
                    </a:lnTo>
                    <a:lnTo>
                      <a:pt x="202" y="85"/>
                    </a:lnTo>
                    <a:lnTo>
                      <a:pt x="197" y="87"/>
                    </a:lnTo>
                    <a:lnTo>
                      <a:pt x="192" y="89"/>
                    </a:lnTo>
                    <a:lnTo>
                      <a:pt x="190" y="90"/>
                    </a:lnTo>
                    <a:lnTo>
                      <a:pt x="184" y="92"/>
                    </a:lnTo>
                    <a:lnTo>
                      <a:pt x="180" y="94"/>
                    </a:lnTo>
                    <a:lnTo>
                      <a:pt x="176" y="96"/>
                    </a:lnTo>
                    <a:lnTo>
                      <a:pt x="172" y="98"/>
                    </a:lnTo>
                    <a:lnTo>
                      <a:pt x="167" y="100"/>
                    </a:lnTo>
                    <a:lnTo>
                      <a:pt x="164" y="101"/>
                    </a:lnTo>
                    <a:lnTo>
                      <a:pt x="160" y="103"/>
                    </a:lnTo>
                    <a:lnTo>
                      <a:pt x="157" y="104"/>
                    </a:lnTo>
                    <a:lnTo>
                      <a:pt x="152" y="106"/>
                    </a:lnTo>
                    <a:lnTo>
                      <a:pt x="149" y="108"/>
                    </a:lnTo>
                    <a:lnTo>
                      <a:pt x="146" y="108"/>
                    </a:lnTo>
                    <a:lnTo>
                      <a:pt x="143" y="110"/>
                    </a:lnTo>
                    <a:lnTo>
                      <a:pt x="141" y="112"/>
                    </a:lnTo>
                    <a:lnTo>
                      <a:pt x="137" y="113"/>
                    </a:lnTo>
                    <a:lnTo>
                      <a:pt x="135" y="114"/>
                    </a:lnTo>
                    <a:lnTo>
                      <a:pt x="134" y="114"/>
                    </a:lnTo>
                    <a:lnTo>
                      <a:pt x="132" y="115"/>
                    </a:lnTo>
                    <a:lnTo>
                      <a:pt x="131" y="115"/>
                    </a:lnTo>
                    <a:lnTo>
                      <a:pt x="130" y="115"/>
                    </a:lnTo>
                    <a:lnTo>
                      <a:pt x="128" y="115"/>
                    </a:lnTo>
                    <a:lnTo>
                      <a:pt x="127" y="114"/>
                    </a:lnTo>
                    <a:lnTo>
                      <a:pt x="125" y="114"/>
                    </a:lnTo>
                    <a:lnTo>
                      <a:pt x="124" y="113"/>
                    </a:lnTo>
                    <a:lnTo>
                      <a:pt x="121" y="113"/>
                    </a:lnTo>
                    <a:lnTo>
                      <a:pt x="120" y="112"/>
                    </a:lnTo>
                    <a:lnTo>
                      <a:pt x="118" y="112"/>
                    </a:lnTo>
                    <a:lnTo>
                      <a:pt x="116" y="110"/>
                    </a:lnTo>
                    <a:lnTo>
                      <a:pt x="114" y="108"/>
                    </a:lnTo>
                    <a:lnTo>
                      <a:pt x="112" y="108"/>
                    </a:lnTo>
                    <a:lnTo>
                      <a:pt x="109" y="106"/>
                    </a:lnTo>
                    <a:lnTo>
                      <a:pt x="105" y="104"/>
                    </a:lnTo>
                    <a:lnTo>
                      <a:pt x="102" y="102"/>
                    </a:lnTo>
                    <a:lnTo>
                      <a:pt x="97" y="100"/>
                    </a:lnTo>
                    <a:lnTo>
                      <a:pt x="94" y="98"/>
                    </a:lnTo>
                    <a:lnTo>
                      <a:pt x="89" y="96"/>
                    </a:lnTo>
                    <a:lnTo>
                      <a:pt x="85" y="93"/>
                    </a:lnTo>
                    <a:lnTo>
                      <a:pt x="80" y="91"/>
                    </a:lnTo>
                    <a:lnTo>
                      <a:pt x="74" y="87"/>
                    </a:lnTo>
                    <a:lnTo>
                      <a:pt x="70" y="85"/>
                    </a:lnTo>
                    <a:lnTo>
                      <a:pt x="66" y="83"/>
                    </a:lnTo>
                    <a:lnTo>
                      <a:pt x="61" y="79"/>
                    </a:lnTo>
                    <a:lnTo>
                      <a:pt x="55" y="77"/>
                    </a:lnTo>
                    <a:lnTo>
                      <a:pt x="51" y="75"/>
                    </a:lnTo>
                    <a:lnTo>
                      <a:pt x="45" y="72"/>
                    </a:lnTo>
                    <a:lnTo>
                      <a:pt x="40" y="70"/>
                    </a:lnTo>
                    <a:lnTo>
                      <a:pt x="36" y="68"/>
                    </a:lnTo>
                    <a:lnTo>
                      <a:pt x="32" y="66"/>
                    </a:lnTo>
                    <a:lnTo>
                      <a:pt x="27" y="62"/>
                    </a:lnTo>
                    <a:lnTo>
                      <a:pt x="23" y="60"/>
                    </a:lnTo>
                    <a:lnTo>
                      <a:pt x="20" y="59"/>
                    </a:lnTo>
                    <a:lnTo>
                      <a:pt x="17" y="57"/>
                    </a:lnTo>
                    <a:lnTo>
                      <a:pt x="14" y="55"/>
                    </a:lnTo>
                    <a:lnTo>
                      <a:pt x="11" y="54"/>
                    </a:lnTo>
                    <a:lnTo>
                      <a:pt x="8" y="53"/>
                    </a:lnTo>
                    <a:lnTo>
                      <a:pt x="8" y="52"/>
                    </a:lnTo>
                    <a:lnTo>
                      <a:pt x="6" y="52"/>
                    </a:lnTo>
                    <a:lnTo>
                      <a:pt x="5" y="50"/>
                    </a:lnTo>
                    <a:lnTo>
                      <a:pt x="3" y="50"/>
                    </a:lnTo>
                    <a:lnTo>
                      <a:pt x="2" y="50"/>
                    </a:lnTo>
                    <a:lnTo>
                      <a:pt x="1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2" y="45"/>
                    </a:lnTo>
                    <a:lnTo>
                      <a:pt x="4" y="44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78" name="Freeform 922"/>
              <p:cNvSpPr>
                <a:spLocks/>
              </p:cNvSpPr>
              <p:nvPr/>
            </p:nvSpPr>
            <p:spPr bwMode="auto">
              <a:xfrm>
                <a:off x="3014" y="2010"/>
                <a:ext cx="90" cy="44"/>
              </a:xfrm>
              <a:custGeom>
                <a:avLst/>
                <a:gdLst>
                  <a:gd name="T0" fmla="*/ 89 w 90"/>
                  <a:gd name="T1" fmla="*/ 0 h 44"/>
                  <a:gd name="T2" fmla="*/ 89 w 90"/>
                  <a:gd name="T3" fmla="*/ 0 h 44"/>
                  <a:gd name="T4" fmla="*/ 85 w 90"/>
                  <a:gd name="T5" fmla="*/ 2 h 44"/>
                  <a:gd name="T6" fmla="*/ 81 w 90"/>
                  <a:gd name="T7" fmla="*/ 4 h 44"/>
                  <a:gd name="T8" fmla="*/ 77 w 90"/>
                  <a:gd name="T9" fmla="*/ 6 h 44"/>
                  <a:gd name="T10" fmla="*/ 69 w 90"/>
                  <a:gd name="T11" fmla="*/ 9 h 44"/>
                  <a:gd name="T12" fmla="*/ 63 w 90"/>
                  <a:gd name="T13" fmla="*/ 13 h 44"/>
                  <a:gd name="T14" fmla="*/ 55 w 90"/>
                  <a:gd name="T15" fmla="*/ 16 h 44"/>
                  <a:gd name="T16" fmla="*/ 49 w 90"/>
                  <a:gd name="T17" fmla="*/ 20 h 44"/>
                  <a:gd name="T18" fmla="*/ 42 w 90"/>
                  <a:gd name="T19" fmla="*/ 23 h 44"/>
                  <a:gd name="T20" fmla="*/ 34 w 90"/>
                  <a:gd name="T21" fmla="*/ 26 h 44"/>
                  <a:gd name="T22" fmla="*/ 28 w 90"/>
                  <a:gd name="T23" fmla="*/ 29 h 44"/>
                  <a:gd name="T24" fmla="*/ 20 w 90"/>
                  <a:gd name="T25" fmla="*/ 34 h 44"/>
                  <a:gd name="T26" fmla="*/ 15 w 90"/>
                  <a:gd name="T27" fmla="*/ 36 h 44"/>
                  <a:gd name="T28" fmla="*/ 8 w 90"/>
                  <a:gd name="T29" fmla="*/ 39 h 44"/>
                  <a:gd name="T30" fmla="*/ 4 w 90"/>
                  <a:gd name="T31" fmla="*/ 40 h 44"/>
                  <a:gd name="T32" fmla="*/ 2 w 90"/>
                  <a:gd name="T33" fmla="*/ 42 h 44"/>
                  <a:gd name="T34" fmla="*/ 0 w 90"/>
                  <a:gd name="T35" fmla="*/ 43 h 44"/>
                  <a:gd name="T36" fmla="*/ 1 w 90"/>
                  <a:gd name="T37" fmla="*/ 44 h 44"/>
                  <a:gd name="T38" fmla="*/ 2 w 90"/>
                  <a:gd name="T39" fmla="*/ 43 h 44"/>
                  <a:gd name="T40" fmla="*/ 5 w 90"/>
                  <a:gd name="T41" fmla="*/ 42 h 44"/>
                  <a:gd name="T42" fmla="*/ 11 w 90"/>
                  <a:gd name="T43" fmla="*/ 40 h 44"/>
                  <a:gd name="T44" fmla="*/ 15 w 90"/>
                  <a:gd name="T45" fmla="*/ 38 h 44"/>
                  <a:gd name="T46" fmla="*/ 21 w 90"/>
                  <a:gd name="T47" fmla="*/ 34 h 44"/>
                  <a:gd name="T48" fmla="*/ 28 w 90"/>
                  <a:gd name="T49" fmla="*/ 31 h 44"/>
                  <a:gd name="T50" fmla="*/ 35 w 90"/>
                  <a:gd name="T51" fmla="*/ 28 h 44"/>
                  <a:gd name="T52" fmla="*/ 42 w 90"/>
                  <a:gd name="T53" fmla="*/ 24 h 44"/>
                  <a:gd name="T54" fmla="*/ 50 w 90"/>
                  <a:gd name="T55" fmla="*/ 21 h 44"/>
                  <a:gd name="T56" fmla="*/ 56 w 90"/>
                  <a:gd name="T57" fmla="*/ 18 h 44"/>
                  <a:gd name="T58" fmla="*/ 63 w 90"/>
                  <a:gd name="T59" fmla="*/ 14 h 44"/>
                  <a:gd name="T60" fmla="*/ 70 w 90"/>
                  <a:gd name="T61" fmla="*/ 11 h 44"/>
                  <a:gd name="T62" fmla="*/ 77 w 90"/>
                  <a:gd name="T63" fmla="*/ 9 h 44"/>
                  <a:gd name="T64" fmla="*/ 82 w 90"/>
                  <a:gd name="T65" fmla="*/ 6 h 44"/>
                  <a:gd name="T66" fmla="*/ 86 w 90"/>
                  <a:gd name="T67" fmla="*/ 4 h 44"/>
                  <a:gd name="T68" fmla="*/ 90 w 90"/>
                  <a:gd name="T69" fmla="*/ 2 h 44"/>
                  <a:gd name="T70" fmla="*/ 89 w 90"/>
                  <a:gd name="T71" fmla="*/ 0 h 4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90"/>
                  <a:gd name="T109" fmla="*/ 0 h 44"/>
                  <a:gd name="T110" fmla="*/ 90 w 90"/>
                  <a:gd name="T111" fmla="*/ 44 h 4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90" h="44">
                    <a:moveTo>
                      <a:pt x="89" y="0"/>
                    </a:moveTo>
                    <a:lnTo>
                      <a:pt x="89" y="0"/>
                    </a:lnTo>
                    <a:lnTo>
                      <a:pt x="85" y="2"/>
                    </a:lnTo>
                    <a:lnTo>
                      <a:pt x="81" y="4"/>
                    </a:lnTo>
                    <a:lnTo>
                      <a:pt x="77" y="6"/>
                    </a:lnTo>
                    <a:lnTo>
                      <a:pt x="69" y="9"/>
                    </a:lnTo>
                    <a:lnTo>
                      <a:pt x="63" y="13"/>
                    </a:lnTo>
                    <a:lnTo>
                      <a:pt x="55" y="16"/>
                    </a:lnTo>
                    <a:lnTo>
                      <a:pt x="49" y="20"/>
                    </a:lnTo>
                    <a:lnTo>
                      <a:pt x="42" y="23"/>
                    </a:lnTo>
                    <a:lnTo>
                      <a:pt x="34" y="26"/>
                    </a:lnTo>
                    <a:lnTo>
                      <a:pt x="28" y="29"/>
                    </a:lnTo>
                    <a:lnTo>
                      <a:pt x="20" y="34"/>
                    </a:lnTo>
                    <a:lnTo>
                      <a:pt x="15" y="36"/>
                    </a:lnTo>
                    <a:lnTo>
                      <a:pt x="8" y="39"/>
                    </a:lnTo>
                    <a:lnTo>
                      <a:pt x="4" y="40"/>
                    </a:lnTo>
                    <a:lnTo>
                      <a:pt x="2" y="42"/>
                    </a:lnTo>
                    <a:lnTo>
                      <a:pt x="0" y="43"/>
                    </a:lnTo>
                    <a:lnTo>
                      <a:pt x="1" y="44"/>
                    </a:lnTo>
                    <a:lnTo>
                      <a:pt x="2" y="43"/>
                    </a:lnTo>
                    <a:lnTo>
                      <a:pt x="5" y="42"/>
                    </a:lnTo>
                    <a:lnTo>
                      <a:pt x="11" y="40"/>
                    </a:lnTo>
                    <a:lnTo>
                      <a:pt x="15" y="38"/>
                    </a:lnTo>
                    <a:lnTo>
                      <a:pt x="21" y="34"/>
                    </a:lnTo>
                    <a:lnTo>
                      <a:pt x="28" y="31"/>
                    </a:lnTo>
                    <a:lnTo>
                      <a:pt x="35" y="28"/>
                    </a:lnTo>
                    <a:lnTo>
                      <a:pt x="42" y="24"/>
                    </a:lnTo>
                    <a:lnTo>
                      <a:pt x="50" y="21"/>
                    </a:lnTo>
                    <a:lnTo>
                      <a:pt x="56" y="18"/>
                    </a:lnTo>
                    <a:lnTo>
                      <a:pt x="63" y="14"/>
                    </a:lnTo>
                    <a:lnTo>
                      <a:pt x="70" y="11"/>
                    </a:lnTo>
                    <a:lnTo>
                      <a:pt x="77" y="9"/>
                    </a:lnTo>
                    <a:lnTo>
                      <a:pt x="82" y="6"/>
                    </a:lnTo>
                    <a:lnTo>
                      <a:pt x="86" y="4"/>
                    </a:lnTo>
                    <a:lnTo>
                      <a:pt x="90" y="2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79" name="Freeform 923"/>
              <p:cNvSpPr>
                <a:spLocks/>
              </p:cNvSpPr>
              <p:nvPr/>
            </p:nvSpPr>
            <p:spPr bwMode="auto">
              <a:xfrm>
                <a:off x="3103" y="2009"/>
                <a:ext cx="13" cy="4"/>
              </a:xfrm>
              <a:custGeom>
                <a:avLst/>
                <a:gdLst>
                  <a:gd name="T0" fmla="*/ 13 w 13"/>
                  <a:gd name="T1" fmla="*/ 3 h 4"/>
                  <a:gd name="T2" fmla="*/ 13 w 13"/>
                  <a:gd name="T3" fmla="*/ 3 h 4"/>
                  <a:gd name="T4" fmla="*/ 12 w 13"/>
                  <a:gd name="T5" fmla="*/ 1 h 4"/>
                  <a:gd name="T6" fmla="*/ 10 w 13"/>
                  <a:gd name="T7" fmla="*/ 1 h 4"/>
                  <a:gd name="T8" fmla="*/ 9 w 13"/>
                  <a:gd name="T9" fmla="*/ 0 h 4"/>
                  <a:gd name="T10" fmla="*/ 6 w 13"/>
                  <a:gd name="T11" fmla="*/ 0 h 4"/>
                  <a:gd name="T12" fmla="*/ 5 w 13"/>
                  <a:gd name="T13" fmla="*/ 0 h 4"/>
                  <a:gd name="T14" fmla="*/ 3 w 13"/>
                  <a:gd name="T15" fmla="*/ 0 h 4"/>
                  <a:gd name="T16" fmla="*/ 2 w 13"/>
                  <a:gd name="T17" fmla="*/ 0 h 4"/>
                  <a:gd name="T18" fmla="*/ 0 w 13"/>
                  <a:gd name="T19" fmla="*/ 1 h 4"/>
                  <a:gd name="T20" fmla="*/ 0 w 13"/>
                  <a:gd name="T21" fmla="*/ 3 h 4"/>
                  <a:gd name="T22" fmla="*/ 2 w 13"/>
                  <a:gd name="T23" fmla="*/ 3 h 4"/>
                  <a:gd name="T24" fmla="*/ 3 w 13"/>
                  <a:gd name="T25" fmla="*/ 3 h 4"/>
                  <a:gd name="T26" fmla="*/ 5 w 13"/>
                  <a:gd name="T27" fmla="*/ 3 h 4"/>
                  <a:gd name="T28" fmla="*/ 6 w 13"/>
                  <a:gd name="T29" fmla="*/ 3 h 4"/>
                  <a:gd name="T30" fmla="*/ 9 w 13"/>
                  <a:gd name="T31" fmla="*/ 3 h 4"/>
                  <a:gd name="T32" fmla="*/ 10 w 13"/>
                  <a:gd name="T33" fmla="*/ 3 h 4"/>
                  <a:gd name="T34" fmla="*/ 11 w 13"/>
                  <a:gd name="T35" fmla="*/ 3 h 4"/>
                  <a:gd name="T36" fmla="*/ 12 w 13"/>
                  <a:gd name="T37" fmla="*/ 4 h 4"/>
                  <a:gd name="T38" fmla="*/ 13 w 13"/>
                  <a:gd name="T39" fmla="*/ 3 h 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4"/>
                  <a:gd name="T62" fmla="*/ 13 w 13"/>
                  <a:gd name="T63" fmla="*/ 4 h 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4">
                    <a:moveTo>
                      <a:pt x="13" y="3"/>
                    </a:moveTo>
                    <a:lnTo>
                      <a:pt x="13" y="3"/>
                    </a:lnTo>
                    <a:lnTo>
                      <a:pt x="12" y="1"/>
                    </a:lnTo>
                    <a:lnTo>
                      <a:pt x="10" y="1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5" y="3"/>
                    </a:lnTo>
                    <a:lnTo>
                      <a:pt x="6" y="3"/>
                    </a:lnTo>
                    <a:lnTo>
                      <a:pt x="9" y="3"/>
                    </a:lnTo>
                    <a:lnTo>
                      <a:pt x="10" y="3"/>
                    </a:lnTo>
                    <a:lnTo>
                      <a:pt x="11" y="3"/>
                    </a:lnTo>
                    <a:lnTo>
                      <a:pt x="12" y="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80" name="Freeform 924"/>
              <p:cNvSpPr>
                <a:spLocks/>
              </p:cNvSpPr>
              <p:nvPr/>
            </p:nvSpPr>
            <p:spPr bwMode="auto">
              <a:xfrm>
                <a:off x="3115" y="2012"/>
                <a:ext cx="128" cy="59"/>
              </a:xfrm>
              <a:custGeom>
                <a:avLst/>
                <a:gdLst>
                  <a:gd name="T0" fmla="*/ 128 w 128"/>
                  <a:gd name="T1" fmla="*/ 58 h 59"/>
                  <a:gd name="T2" fmla="*/ 124 w 128"/>
                  <a:gd name="T3" fmla="*/ 56 h 59"/>
                  <a:gd name="T4" fmla="*/ 119 w 128"/>
                  <a:gd name="T5" fmla="*/ 53 h 59"/>
                  <a:gd name="T6" fmla="*/ 111 w 128"/>
                  <a:gd name="T7" fmla="*/ 51 h 59"/>
                  <a:gd name="T8" fmla="*/ 104 w 128"/>
                  <a:gd name="T9" fmla="*/ 47 h 59"/>
                  <a:gd name="T10" fmla="*/ 94 w 128"/>
                  <a:gd name="T11" fmla="*/ 42 h 59"/>
                  <a:gd name="T12" fmla="*/ 84 w 128"/>
                  <a:gd name="T13" fmla="*/ 38 h 59"/>
                  <a:gd name="T14" fmla="*/ 73 w 128"/>
                  <a:gd name="T15" fmla="*/ 32 h 59"/>
                  <a:gd name="T16" fmla="*/ 62 w 128"/>
                  <a:gd name="T17" fmla="*/ 27 h 59"/>
                  <a:gd name="T18" fmla="*/ 51 w 128"/>
                  <a:gd name="T19" fmla="*/ 22 h 59"/>
                  <a:gd name="T20" fmla="*/ 41 w 128"/>
                  <a:gd name="T21" fmla="*/ 18 h 59"/>
                  <a:gd name="T22" fmla="*/ 30 w 128"/>
                  <a:gd name="T23" fmla="*/ 12 h 59"/>
                  <a:gd name="T24" fmla="*/ 22 w 128"/>
                  <a:gd name="T25" fmla="*/ 8 h 59"/>
                  <a:gd name="T26" fmla="*/ 14 w 128"/>
                  <a:gd name="T27" fmla="*/ 5 h 59"/>
                  <a:gd name="T28" fmla="*/ 8 w 128"/>
                  <a:gd name="T29" fmla="*/ 3 h 59"/>
                  <a:gd name="T30" fmla="*/ 4 w 128"/>
                  <a:gd name="T31" fmla="*/ 1 h 59"/>
                  <a:gd name="T32" fmla="*/ 0 w 128"/>
                  <a:gd name="T33" fmla="*/ 2 h 59"/>
                  <a:gd name="T34" fmla="*/ 2 w 128"/>
                  <a:gd name="T35" fmla="*/ 2 h 59"/>
                  <a:gd name="T36" fmla="*/ 7 w 128"/>
                  <a:gd name="T37" fmla="*/ 4 h 59"/>
                  <a:gd name="T38" fmla="*/ 13 w 128"/>
                  <a:gd name="T39" fmla="*/ 7 h 59"/>
                  <a:gd name="T40" fmla="*/ 21 w 128"/>
                  <a:gd name="T41" fmla="*/ 10 h 59"/>
                  <a:gd name="T42" fmla="*/ 29 w 128"/>
                  <a:gd name="T43" fmla="*/ 14 h 59"/>
                  <a:gd name="T44" fmla="*/ 40 w 128"/>
                  <a:gd name="T45" fmla="*/ 20 h 59"/>
                  <a:gd name="T46" fmla="*/ 50 w 128"/>
                  <a:gd name="T47" fmla="*/ 24 h 59"/>
                  <a:gd name="T48" fmla="*/ 61 w 128"/>
                  <a:gd name="T49" fmla="*/ 28 h 59"/>
                  <a:gd name="T50" fmla="*/ 72 w 128"/>
                  <a:gd name="T51" fmla="*/ 35 h 59"/>
                  <a:gd name="T52" fmla="*/ 83 w 128"/>
                  <a:gd name="T53" fmla="*/ 39 h 59"/>
                  <a:gd name="T54" fmla="*/ 94 w 128"/>
                  <a:gd name="T55" fmla="*/ 43 h 59"/>
                  <a:gd name="T56" fmla="*/ 103 w 128"/>
                  <a:gd name="T57" fmla="*/ 48 h 59"/>
                  <a:gd name="T58" fmla="*/ 110 w 128"/>
                  <a:gd name="T59" fmla="*/ 53 h 59"/>
                  <a:gd name="T60" fmla="*/ 119 w 128"/>
                  <a:gd name="T61" fmla="*/ 55 h 59"/>
                  <a:gd name="T62" fmla="*/ 123 w 128"/>
                  <a:gd name="T63" fmla="*/ 58 h 59"/>
                  <a:gd name="T64" fmla="*/ 126 w 128"/>
                  <a:gd name="T65" fmla="*/ 59 h 5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8"/>
                  <a:gd name="T100" fmla="*/ 0 h 59"/>
                  <a:gd name="T101" fmla="*/ 128 w 128"/>
                  <a:gd name="T102" fmla="*/ 59 h 5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8" h="59">
                    <a:moveTo>
                      <a:pt x="128" y="58"/>
                    </a:moveTo>
                    <a:lnTo>
                      <a:pt x="128" y="58"/>
                    </a:lnTo>
                    <a:lnTo>
                      <a:pt x="126" y="57"/>
                    </a:lnTo>
                    <a:lnTo>
                      <a:pt x="124" y="56"/>
                    </a:lnTo>
                    <a:lnTo>
                      <a:pt x="122" y="55"/>
                    </a:lnTo>
                    <a:lnTo>
                      <a:pt x="119" y="53"/>
                    </a:lnTo>
                    <a:lnTo>
                      <a:pt x="115" y="53"/>
                    </a:lnTo>
                    <a:lnTo>
                      <a:pt x="111" y="51"/>
                    </a:lnTo>
                    <a:lnTo>
                      <a:pt x="108" y="49"/>
                    </a:lnTo>
                    <a:lnTo>
                      <a:pt x="104" y="47"/>
                    </a:lnTo>
                    <a:lnTo>
                      <a:pt x="99" y="44"/>
                    </a:lnTo>
                    <a:lnTo>
                      <a:pt x="94" y="42"/>
                    </a:lnTo>
                    <a:lnTo>
                      <a:pt x="89" y="40"/>
                    </a:lnTo>
                    <a:lnTo>
                      <a:pt x="84" y="38"/>
                    </a:lnTo>
                    <a:lnTo>
                      <a:pt x="78" y="36"/>
                    </a:lnTo>
                    <a:lnTo>
                      <a:pt x="73" y="32"/>
                    </a:lnTo>
                    <a:lnTo>
                      <a:pt x="68" y="29"/>
                    </a:lnTo>
                    <a:lnTo>
                      <a:pt x="62" y="27"/>
                    </a:lnTo>
                    <a:lnTo>
                      <a:pt x="57" y="25"/>
                    </a:lnTo>
                    <a:lnTo>
                      <a:pt x="51" y="22"/>
                    </a:lnTo>
                    <a:lnTo>
                      <a:pt x="45" y="20"/>
                    </a:lnTo>
                    <a:lnTo>
                      <a:pt x="41" y="18"/>
                    </a:lnTo>
                    <a:lnTo>
                      <a:pt x="36" y="16"/>
                    </a:lnTo>
                    <a:lnTo>
                      <a:pt x="30" y="12"/>
                    </a:lnTo>
                    <a:lnTo>
                      <a:pt x="26" y="10"/>
                    </a:lnTo>
                    <a:lnTo>
                      <a:pt x="22" y="8"/>
                    </a:lnTo>
                    <a:lnTo>
                      <a:pt x="17" y="7"/>
                    </a:lnTo>
                    <a:lnTo>
                      <a:pt x="14" y="5"/>
                    </a:lnTo>
                    <a:lnTo>
                      <a:pt x="11" y="4"/>
                    </a:lnTo>
                    <a:lnTo>
                      <a:pt x="8" y="3"/>
                    </a:lnTo>
                    <a:lnTo>
                      <a:pt x="5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5" y="3"/>
                    </a:lnTo>
                    <a:lnTo>
                      <a:pt x="7" y="4"/>
                    </a:lnTo>
                    <a:lnTo>
                      <a:pt x="9" y="5"/>
                    </a:lnTo>
                    <a:lnTo>
                      <a:pt x="13" y="7"/>
                    </a:lnTo>
                    <a:lnTo>
                      <a:pt x="17" y="8"/>
                    </a:lnTo>
                    <a:lnTo>
                      <a:pt x="21" y="10"/>
                    </a:lnTo>
                    <a:lnTo>
                      <a:pt x="25" y="12"/>
                    </a:lnTo>
                    <a:lnTo>
                      <a:pt x="29" y="14"/>
                    </a:lnTo>
                    <a:lnTo>
                      <a:pt x="36" y="17"/>
                    </a:lnTo>
                    <a:lnTo>
                      <a:pt x="40" y="20"/>
                    </a:lnTo>
                    <a:lnTo>
                      <a:pt x="45" y="22"/>
                    </a:lnTo>
                    <a:lnTo>
                      <a:pt x="50" y="24"/>
                    </a:lnTo>
                    <a:lnTo>
                      <a:pt x="56" y="26"/>
                    </a:lnTo>
                    <a:lnTo>
                      <a:pt x="61" y="28"/>
                    </a:lnTo>
                    <a:lnTo>
                      <a:pt x="67" y="32"/>
                    </a:lnTo>
                    <a:lnTo>
                      <a:pt x="72" y="35"/>
                    </a:lnTo>
                    <a:lnTo>
                      <a:pt x="78" y="37"/>
                    </a:lnTo>
                    <a:lnTo>
                      <a:pt x="83" y="39"/>
                    </a:lnTo>
                    <a:lnTo>
                      <a:pt x="88" y="41"/>
                    </a:lnTo>
                    <a:lnTo>
                      <a:pt x="94" y="43"/>
                    </a:lnTo>
                    <a:lnTo>
                      <a:pt x="99" y="45"/>
                    </a:lnTo>
                    <a:lnTo>
                      <a:pt x="103" y="48"/>
                    </a:lnTo>
                    <a:lnTo>
                      <a:pt x="107" y="51"/>
                    </a:lnTo>
                    <a:lnTo>
                      <a:pt x="110" y="53"/>
                    </a:lnTo>
                    <a:lnTo>
                      <a:pt x="115" y="53"/>
                    </a:lnTo>
                    <a:lnTo>
                      <a:pt x="119" y="55"/>
                    </a:lnTo>
                    <a:lnTo>
                      <a:pt x="121" y="57"/>
                    </a:lnTo>
                    <a:lnTo>
                      <a:pt x="123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8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81" name="Freeform 925"/>
              <p:cNvSpPr>
                <a:spLocks/>
              </p:cNvSpPr>
              <p:nvPr/>
            </p:nvSpPr>
            <p:spPr bwMode="auto">
              <a:xfrm>
                <a:off x="3241" y="2070"/>
                <a:ext cx="9" cy="11"/>
              </a:xfrm>
              <a:custGeom>
                <a:avLst/>
                <a:gdLst>
                  <a:gd name="T0" fmla="*/ 5 w 9"/>
                  <a:gd name="T1" fmla="*/ 11 h 11"/>
                  <a:gd name="T2" fmla="*/ 5 w 9"/>
                  <a:gd name="T3" fmla="*/ 11 h 11"/>
                  <a:gd name="T4" fmla="*/ 8 w 9"/>
                  <a:gd name="T5" fmla="*/ 10 h 11"/>
                  <a:gd name="T6" fmla="*/ 9 w 9"/>
                  <a:gd name="T7" fmla="*/ 8 h 11"/>
                  <a:gd name="T8" fmla="*/ 9 w 9"/>
                  <a:gd name="T9" fmla="*/ 6 h 11"/>
                  <a:gd name="T10" fmla="*/ 8 w 9"/>
                  <a:gd name="T11" fmla="*/ 6 h 11"/>
                  <a:gd name="T12" fmla="*/ 7 w 9"/>
                  <a:gd name="T13" fmla="*/ 2 h 11"/>
                  <a:gd name="T14" fmla="*/ 5 w 9"/>
                  <a:gd name="T15" fmla="*/ 1 h 11"/>
                  <a:gd name="T16" fmla="*/ 3 w 9"/>
                  <a:gd name="T17" fmla="*/ 1 h 11"/>
                  <a:gd name="T18" fmla="*/ 2 w 9"/>
                  <a:gd name="T19" fmla="*/ 0 h 11"/>
                  <a:gd name="T20" fmla="*/ 0 w 9"/>
                  <a:gd name="T21" fmla="*/ 1 h 11"/>
                  <a:gd name="T22" fmla="*/ 2 w 9"/>
                  <a:gd name="T23" fmla="*/ 2 h 11"/>
                  <a:gd name="T24" fmla="*/ 4 w 9"/>
                  <a:gd name="T25" fmla="*/ 3 h 11"/>
                  <a:gd name="T26" fmla="*/ 5 w 9"/>
                  <a:gd name="T27" fmla="*/ 6 h 11"/>
                  <a:gd name="T28" fmla="*/ 7 w 9"/>
                  <a:gd name="T29" fmla="*/ 6 h 11"/>
                  <a:gd name="T30" fmla="*/ 7 w 9"/>
                  <a:gd name="T31" fmla="*/ 6 h 11"/>
                  <a:gd name="T32" fmla="*/ 7 w 9"/>
                  <a:gd name="T33" fmla="*/ 8 h 11"/>
                  <a:gd name="T34" fmla="*/ 7 w 9"/>
                  <a:gd name="T35" fmla="*/ 8 h 11"/>
                  <a:gd name="T36" fmla="*/ 4 w 9"/>
                  <a:gd name="T37" fmla="*/ 10 h 11"/>
                  <a:gd name="T38" fmla="*/ 5 w 9"/>
                  <a:gd name="T39" fmla="*/ 11 h 1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9"/>
                  <a:gd name="T61" fmla="*/ 0 h 11"/>
                  <a:gd name="T62" fmla="*/ 9 w 9"/>
                  <a:gd name="T63" fmla="*/ 11 h 1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9" h="11">
                    <a:moveTo>
                      <a:pt x="5" y="11"/>
                    </a:moveTo>
                    <a:lnTo>
                      <a:pt x="5" y="11"/>
                    </a:lnTo>
                    <a:lnTo>
                      <a:pt x="8" y="10"/>
                    </a:lnTo>
                    <a:lnTo>
                      <a:pt x="9" y="8"/>
                    </a:lnTo>
                    <a:lnTo>
                      <a:pt x="9" y="6"/>
                    </a:lnTo>
                    <a:lnTo>
                      <a:pt x="8" y="6"/>
                    </a:lnTo>
                    <a:lnTo>
                      <a:pt x="7" y="2"/>
                    </a:lnTo>
                    <a:lnTo>
                      <a:pt x="5" y="1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6"/>
                    </a:lnTo>
                    <a:lnTo>
                      <a:pt x="7" y="6"/>
                    </a:lnTo>
                    <a:lnTo>
                      <a:pt x="7" y="8"/>
                    </a:lnTo>
                    <a:lnTo>
                      <a:pt x="4" y="10"/>
                    </a:lnTo>
                    <a:lnTo>
                      <a:pt x="5" y="1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82" name="Freeform 926"/>
              <p:cNvSpPr>
                <a:spLocks/>
              </p:cNvSpPr>
              <p:nvPr/>
            </p:nvSpPr>
            <p:spPr bwMode="auto">
              <a:xfrm>
                <a:off x="3143" y="2080"/>
                <a:ext cx="103" cy="46"/>
              </a:xfrm>
              <a:custGeom>
                <a:avLst/>
                <a:gdLst>
                  <a:gd name="T0" fmla="*/ 1 w 103"/>
                  <a:gd name="T1" fmla="*/ 46 h 46"/>
                  <a:gd name="T2" fmla="*/ 3 w 103"/>
                  <a:gd name="T3" fmla="*/ 45 h 46"/>
                  <a:gd name="T4" fmla="*/ 9 w 103"/>
                  <a:gd name="T5" fmla="*/ 43 h 46"/>
                  <a:gd name="T6" fmla="*/ 14 w 103"/>
                  <a:gd name="T7" fmla="*/ 40 h 46"/>
                  <a:gd name="T8" fmla="*/ 20 w 103"/>
                  <a:gd name="T9" fmla="*/ 37 h 46"/>
                  <a:gd name="T10" fmla="*/ 27 w 103"/>
                  <a:gd name="T11" fmla="*/ 35 h 46"/>
                  <a:gd name="T12" fmla="*/ 35 w 103"/>
                  <a:gd name="T13" fmla="*/ 31 h 46"/>
                  <a:gd name="T14" fmla="*/ 44 w 103"/>
                  <a:gd name="T15" fmla="*/ 27 h 46"/>
                  <a:gd name="T16" fmla="*/ 52 w 103"/>
                  <a:gd name="T17" fmla="*/ 23 h 46"/>
                  <a:gd name="T18" fmla="*/ 60 w 103"/>
                  <a:gd name="T19" fmla="*/ 20 h 46"/>
                  <a:gd name="T20" fmla="*/ 70 w 103"/>
                  <a:gd name="T21" fmla="*/ 17 h 46"/>
                  <a:gd name="T22" fmla="*/ 77 w 103"/>
                  <a:gd name="T23" fmla="*/ 14 h 46"/>
                  <a:gd name="T24" fmla="*/ 83 w 103"/>
                  <a:gd name="T25" fmla="*/ 11 h 46"/>
                  <a:gd name="T26" fmla="*/ 90 w 103"/>
                  <a:gd name="T27" fmla="*/ 6 h 46"/>
                  <a:gd name="T28" fmla="*/ 95 w 103"/>
                  <a:gd name="T29" fmla="*/ 4 h 46"/>
                  <a:gd name="T30" fmla="*/ 100 w 103"/>
                  <a:gd name="T31" fmla="*/ 3 h 46"/>
                  <a:gd name="T32" fmla="*/ 103 w 103"/>
                  <a:gd name="T33" fmla="*/ 2 h 46"/>
                  <a:gd name="T34" fmla="*/ 101 w 103"/>
                  <a:gd name="T35" fmla="*/ 1 h 46"/>
                  <a:gd name="T36" fmla="*/ 97 w 103"/>
                  <a:gd name="T37" fmla="*/ 2 h 46"/>
                  <a:gd name="T38" fmla="*/ 92 w 103"/>
                  <a:gd name="T39" fmla="*/ 4 h 46"/>
                  <a:gd name="T40" fmla="*/ 86 w 103"/>
                  <a:gd name="T41" fmla="*/ 6 h 46"/>
                  <a:gd name="T42" fmla="*/ 79 w 103"/>
                  <a:gd name="T43" fmla="*/ 11 h 46"/>
                  <a:gd name="T44" fmla="*/ 72 w 103"/>
                  <a:gd name="T45" fmla="*/ 14 h 46"/>
                  <a:gd name="T46" fmla="*/ 64 w 103"/>
                  <a:gd name="T47" fmla="*/ 17 h 46"/>
                  <a:gd name="T48" fmla="*/ 56 w 103"/>
                  <a:gd name="T49" fmla="*/ 20 h 46"/>
                  <a:gd name="T50" fmla="*/ 47 w 103"/>
                  <a:gd name="T51" fmla="*/ 23 h 46"/>
                  <a:gd name="T52" fmla="*/ 39 w 103"/>
                  <a:gd name="T53" fmla="*/ 28 h 46"/>
                  <a:gd name="T54" fmla="*/ 31 w 103"/>
                  <a:gd name="T55" fmla="*/ 31 h 46"/>
                  <a:gd name="T56" fmla="*/ 23 w 103"/>
                  <a:gd name="T57" fmla="*/ 35 h 46"/>
                  <a:gd name="T58" fmla="*/ 16 w 103"/>
                  <a:gd name="T59" fmla="*/ 37 h 46"/>
                  <a:gd name="T60" fmla="*/ 11 w 103"/>
                  <a:gd name="T61" fmla="*/ 40 h 46"/>
                  <a:gd name="T62" fmla="*/ 5 w 103"/>
                  <a:gd name="T63" fmla="*/ 43 h 46"/>
                  <a:gd name="T64" fmla="*/ 1 w 103"/>
                  <a:gd name="T65" fmla="*/ 44 h 46"/>
                  <a:gd name="T66" fmla="*/ 1 w 103"/>
                  <a:gd name="T67" fmla="*/ 46 h 4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6"/>
                  <a:gd name="T104" fmla="*/ 103 w 103"/>
                  <a:gd name="T105" fmla="*/ 46 h 4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6">
                    <a:moveTo>
                      <a:pt x="1" y="46"/>
                    </a:moveTo>
                    <a:lnTo>
                      <a:pt x="1" y="46"/>
                    </a:lnTo>
                    <a:lnTo>
                      <a:pt x="2" y="45"/>
                    </a:lnTo>
                    <a:lnTo>
                      <a:pt x="3" y="45"/>
                    </a:lnTo>
                    <a:lnTo>
                      <a:pt x="5" y="44"/>
                    </a:lnTo>
                    <a:lnTo>
                      <a:pt x="9" y="43"/>
                    </a:lnTo>
                    <a:lnTo>
                      <a:pt x="12" y="42"/>
                    </a:lnTo>
                    <a:lnTo>
                      <a:pt x="14" y="40"/>
                    </a:lnTo>
                    <a:lnTo>
                      <a:pt x="17" y="39"/>
                    </a:lnTo>
                    <a:lnTo>
                      <a:pt x="20" y="37"/>
                    </a:lnTo>
                    <a:lnTo>
                      <a:pt x="24" y="36"/>
                    </a:lnTo>
                    <a:lnTo>
                      <a:pt x="27" y="35"/>
                    </a:lnTo>
                    <a:lnTo>
                      <a:pt x="31" y="33"/>
                    </a:lnTo>
                    <a:lnTo>
                      <a:pt x="35" y="31"/>
                    </a:lnTo>
                    <a:lnTo>
                      <a:pt x="40" y="29"/>
                    </a:lnTo>
                    <a:lnTo>
                      <a:pt x="44" y="27"/>
                    </a:lnTo>
                    <a:lnTo>
                      <a:pt x="47" y="26"/>
                    </a:lnTo>
                    <a:lnTo>
                      <a:pt x="52" y="23"/>
                    </a:lnTo>
                    <a:lnTo>
                      <a:pt x="57" y="22"/>
                    </a:lnTo>
                    <a:lnTo>
                      <a:pt x="60" y="20"/>
                    </a:lnTo>
                    <a:lnTo>
                      <a:pt x="64" y="18"/>
                    </a:lnTo>
                    <a:lnTo>
                      <a:pt x="70" y="17"/>
                    </a:lnTo>
                    <a:lnTo>
                      <a:pt x="73" y="15"/>
                    </a:lnTo>
                    <a:lnTo>
                      <a:pt x="77" y="14"/>
                    </a:lnTo>
                    <a:lnTo>
                      <a:pt x="80" y="11"/>
                    </a:lnTo>
                    <a:lnTo>
                      <a:pt x="83" y="11"/>
                    </a:lnTo>
                    <a:lnTo>
                      <a:pt x="87" y="8"/>
                    </a:lnTo>
                    <a:lnTo>
                      <a:pt x="90" y="6"/>
                    </a:lnTo>
                    <a:lnTo>
                      <a:pt x="92" y="5"/>
                    </a:lnTo>
                    <a:lnTo>
                      <a:pt x="95" y="4"/>
                    </a:lnTo>
                    <a:lnTo>
                      <a:pt x="98" y="3"/>
                    </a:lnTo>
                    <a:lnTo>
                      <a:pt x="100" y="3"/>
                    </a:lnTo>
                    <a:lnTo>
                      <a:pt x="102" y="2"/>
                    </a:lnTo>
                    <a:lnTo>
                      <a:pt x="103" y="2"/>
                    </a:lnTo>
                    <a:lnTo>
                      <a:pt x="103" y="0"/>
                    </a:lnTo>
                    <a:lnTo>
                      <a:pt x="101" y="1"/>
                    </a:lnTo>
                    <a:lnTo>
                      <a:pt x="100" y="1"/>
                    </a:lnTo>
                    <a:lnTo>
                      <a:pt x="97" y="2"/>
                    </a:lnTo>
                    <a:lnTo>
                      <a:pt x="95" y="3"/>
                    </a:lnTo>
                    <a:lnTo>
                      <a:pt x="92" y="4"/>
                    </a:lnTo>
                    <a:lnTo>
                      <a:pt x="89" y="5"/>
                    </a:lnTo>
                    <a:lnTo>
                      <a:pt x="86" y="6"/>
                    </a:lnTo>
                    <a:lnTo>
                      <a:pt x="82" y="8"/>
                    </a:lnTo>
                    <a:lnTo>
                      <a:pt x="79" y="11"/>
                    </a:lnTo>
                    <a:lnTo>
                      <a:pt x="76" y="11"/>
                    </a:lnTo>
                    <a:lnTo>
                      <a:pt x="72" y="14"/>
                    </a:lnTo>
                    <a:lnTo>
                      <a:pt x="67" y="15"/>
                    </a:lnTo>
                    <a:lnTo>
                      <a:pt x="64" y="17"/>
                    </a:lnTo>
                    <a:lnTo>
                      <a:pt x="60" y="19"/>
                    </a:lnTo>
                    <a:lnTo>
                      <a:pt x="56" y="20"/>
                    </a:lnTo>
                    <a:lnTo>
                      <a:pt x="50" y="22"/>
                    </a:lnTo>
                    <a:lnTo>
                      <a:pt x="47" y="23"/>
                    </a:lnTo>
                    <a:lnTo>
                      <a:pt x="43" y="26"/>
                    </a:lnTo>
                    <a:lnTo>
                      <a:pt x="39" y="28"/>
                    </a:lnTo>
                    <a:lnTo>
                      <a:pt x="35" y="29"/>
                    </a:lnTo>
                    <a:lnTo>
                      <a:pt x="31" y="31"/>
                    </a:lnTo>
                    <a:lnTo>
                      <a:pt x="27" y="33"/>
                    </a:lnTo>
                    <a:lnTo>
                      <a:pt x="23" y="35"/>
                    </a:lnTo>
                    <a:lnTo>
                      <a:pt x="19" y="36"/>
                    </a:lnTo>
                    <a:lnTo>
                      <a:pt x="16" y="37"/>
                    </a:lnTo>
                    <a:lnTo>
                      <a:pt x="14" y="38"/>
                    </a:lnTo>
                    <a:lnTo>
                      <a:pt x="11" y="40"/>
                    </a:lnTo>
                    <a:lnTo>
                      <a:pt x="9" y="42"/>
                    </a:lnTo>
                    <a:lnTo>
                      <a:pt x="5" y="43"/>
                    </a:lnTo>
                    <a:lnTo>
                      <a:pt x="3" y="43"/>
                    </a:lnTo>
                    <a:lnTo>
                      <a:pt x="1" y="44"/>
                    </a:lnTo>
                    <a:lnTo>
                      <a:pt x="0" y="44"/>
                    </a:lnTo>
                    <a:lnTo>
                      <a:pt x="1" y="4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83" name="Freeform 927"/>
              <p:cNvSpPr>
                <a:spLocks/>
              </p:cNvSpPr>
              <p:nvPr/>
            </p:nvSpPr>
            <p:spPr bwMode="auto">
              <a:xfrm>
                <a:off x="3129" y="2122"/>
                <a:ext cx="14" cy="4"/>
              </a:xfrm>
              <a:custGeom>
                <a:avLst/>
                <a:gdLst>
                  <a:gd name="T0" fmla="*/ 0 w 14"/>
                  <a:gd name="T1" fmla="*/ 1 h 4"/>
                  <a:gd name="T2" fmla="*/ 0 w 14"/>
                  <a:gd name="T3" fmla="*/ 1 h 4"/>
                  <a:gd name="T4" fmla="*/ 1 w 14"/>
                  <a:gd name="T5" fmla="*/ 2 h 4"/>
                  <a:gd name="T6" fmla="*/ 3 w 14"/>
                  <a:gd name="T7" fmla="*/ 3 h 4"/>
                  <a:gd name="T8" fmla="*/ 7 w 14"/>
                  <a:gd name="T9" fmla="*/ 3 h 4"/>
                  <a:gd name="T10" fmla="*/ 7 w 14"/>
                  <a:gd name="T11" fmla="*/ 3 h 4"/>
                  <a:gd name="T12" fmla="*/ 10 w 14"/>
                  <a:gd name="T13" fmla="*/ 4 h 4"/>
                  <a:gd name="T14" fmla="*/ 11 w 14"/>
                  <a:gd name="T15" fmla="*/ 4 h 4"/>
                  <a:gd name="T16" fmla="*/ 13 w 14"/>
                  <a:gd name="T17" fmla="*/ 4 h 4"/>
                  <a:gd name="T18" fmla="*/ 14 w 14"/>
                  <a:gd name="T19" fmla="*/ 4 h 4"/>
                  <a:gd name="T20" fmla="*/ 13 w 14"/>
                  <a:gd name="T21" fmla="*/ 2 h 4"/>
                  <a:gd name="T22" fmla="*/ 11 w 14"/>
                  <a:gd name="T23" fmla="*/ 2 h 4"/>
                  <a:gd name="T24" fmla="*/ 10 w 14"/>
                  <a:gd name="T25" fmla="*/ 2 h 4"/>
                  <a:gd name="T26" fmla="*/ 9 w 14"/>
                  <a:gd name="T27" fmla="*/ 2 h 4"/>
                  <a:gd name="T28" fmla="*/ 7 w 14"/>
                  <a:gd name="T29" fmla="*/ 1 h 4"/>
                  <a:gd name="T30" fmla="*/ 3 w 14"/>
                  <a:gd name="T31" fmla="*/ 1 h 4"/>
                  <a:gd name="T32" fmla="*/ 2 w 14"/>
                  <a:gd name="T33" fmla="*/ 1 h 4"/>
                  <a:gd name="T34" fmla="*/ 1 w 14"/>
                  <a:gd name="T35" fmla="*/ 0 h 4"/>
                  <a:gd name="T36" fmla="*/ 0 w 14"/>
                  <a:gd name="T37" fmla="*/ 1 h 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4"/>
                  <a:gd name="T59" fmla="*/ 14 w 14"/>
                  <a:gd name="T60" fmla="*/ 4 h 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4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3" y="3"/>
                    </a:lnTo>
                    <a:lnTo>
                      <a:pt x="7" y="3"/>
                    </a:lnTo>
                    <a:lnTo>
                      <a:pt x="10" y="4"/>
                    </a:lnTo>
                    <a:lnTo>
                      <a:pt x="11" y="4"/>
                    </a:lnTo>
                    <a:lnTo>
                      <a:pt x="13" y="4"/>
                    </a:lnTo>
                    <a:lnTo>
                      <a:pt x="14" y="4"/>
                    </a:lnTo>
                    <a:lnTo>
                      <a:pt x="13" y="2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2"/>
                    </a:lnTo>
                    <a:lnTo>
                      <a:pt x="7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84" name="Freeform 928"/>
              <p:cNvSpPr>
                <a:spLocks/>
              </p:cNvSpPr>
              <p:nvPr/>
            </p:nvSpPr>
            <p:spPr bwMode="auto">
              <a:xfrm>
                <a:off x="3015" y="2061"/>
                <a:ext cx="115" cy="62"/>
              </a:xfrm>
              <a:custGeom>
                <a:avLst/>
                <a:gdLst>
                  <a:gd name="T0" fmla="*/ 0 w 115"/>
                  <a:gd name="T1" fmla="*/ 1 h 62"/>
                  <a:gd name="T2" fmla="*/ 2 w 115"/>
                  <a:gd name="T3" fmla="*/ 2 h 62"/>
                  <a:gd name="T4" fmla="*/ 5 w 115"/>
                  <a:gd name="T5" fmla="*/ 4 h 62"/>
                  <a:gd name="T6" fmla="*/ 11 w 115"/>
                  <a:gd name="T7" fmla="*/ 8 h 62"/>
                  <a:gd name="T8" fmla="*/ 18 w 115"/>
                  <a:gd name="T9" fmla="*/ 11 h 62"/>
                  <a:gd name="T10" fmla="*/ 26 w 115"/>
                  <a:gd name="T11" fmla="*/ 16 h 62"/>
                  <a:gd name="T12" fmla="*/ 35 w 115"/>
                  <a:gd name="T13" fmla="*/ 20 h 62"/>
                  <a:gd name="T14" fmla="*/ 45 w 115"/>
                  <a:gd name="T15" fmla="*/ 25 h 62"/>
                  <a:gd name="T16" fmla="*/ 54 w 115"/>
                  <a:gd name="T17" fmla="*/ 30 h 62"/>
                  <a:gd name="T18" fmla="*/ 64 w 115"/>
                  <a:gd name="T19" fmla="*/ 36 h 62"/>
                  <a:gd name="T20" fmla="*/ 75 w 115"/>
                  <a:gd name="T21" fmla="*/ 40 h 62"/>
                  <a:gd name="T22" fmla="*/ 83 w 115"/>
                  <a:gd name="T23" fmla="*/ 46 h 62"/>
                  <a:gd name="T24" fmla="*/ 93 w 115"/>
                  <a:gd name="T25" fmla="*/ 51 h 62"/>
                  <a:gd name="T26" fmla="*/ 99 w 115"/>
                  <a:gd name="T27" fmla="*/ 54 h 62"/>
                  <a:gd name="T28" fmla="*/ 107 w 115"/>
                  <a:gd name="T29" fmla="*/ 57 h 62"/>
                  <a:gd name="T30" fmla="*/ 112 w 115"/>
                  <a:gd name="T31" fmla="*/ 61 h 62"/>
                  <a:gd name="T32" fmla="*/ 114 w 115"/>
                  <a:gd name="T33" fmla="*/ 62 h 62"/>
                  <a:gd name="T34" fmla="*/ 114 w 115"/>
                  <a:gd name="T35" fmla="*/ 59 h 62"/>
                  <a:gd name="T36" fmla="*/ 110 w 115"/>
                  <a:gd name="T37" fmla="*/ 57 h 62"/>
                  <a:gd name="T38" fmla="*/ 104 w 115"/>
                  <a:gd name="T39" fmla="*/ 54 h 62"/>
                  <a:gd name="T40" fmla="*/ 97 w 115"/>
                  <a:gd name="T41" fmla="*/ 51 h 62"/>
                  <a:gd name="T42" fmla="*/ 90 w 115"/>
                  <a:gd name="T43" fmla="*/ 46 h 62"/>
                  <a:gd name="T44" fmla="*/ 80 w 115"/>
                  <a:gd name="T45" fmla="*/ 41 h 62"/>
                  <a:gd name="T46" fmla="*/ 70 w 115"/>
                  <a:gd name="T47" fmla="*/ 37 h 62"/>
                  <a:gd name="T48" fmla="*/ 61 w 115"/>
                  <a:gd name="T49" fmla="*/ 32 h 62"/>
                  <a:gd name="T50" fmla="*/ 51 w 115"/>
                  <a:gd name="T51" fmla="*/ 25 h 62"/>
                  <a:gd name="T52" fmla="*/ 41 w 115"/>
                  <a:gd name="T53" fmla="*/ 21 h 62"/>
                  <a:gd name="T54" fmla="*/ 32 w 115"/>
                  <a:gd name="T55" fmla="*/ 17 h 62"/>
                  <a:gd name="T56" fmla="*/ 23 w 115"/>
                  <a:gd name="T57" fmla="*/ 12 h 62"/>
                  <a:gd name="T58" fmla="*/ 16 w 115"/>
                  <a:gd name="T59" fmla="*/ 8 h 62"/>
                  <a:gd name="T60" fmla="*/ 8 w 115"/>
                  <a:gd name="T61" fmla="*/ 4 h 62"/>
                  <a:gd name="T62" fmla="*/ 4 w 115"/>
                  <a:gd name="T63" fmla="*/ 2 h 62"/>
                  <a:gd name="T64" fmla="*/ 1 w 115"/>
                  <a:gd name="T65" fmla="*/ 0 h 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2"/>
                  <a:gd name="T101" fmla="*/ 115 w 115"/>
                  <a:gd name="T102" fmla="*/ 62 h 6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2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5" y="4"/>
                    </a:lnTo>
                    <a:lnTo>
                      <a:pt x="7" y="5"/>
                    </a:lnTo>
                    <a:lnTo>
                      <a:pt x="11" y="8"/>
                    </a:lnTo>
                    <a:lnTo>
                      <a:pt x="15" y="10"/>
                    </a:lnTo>
                    <a:lnTo>
                      <a:pt x="18" y="11"/>
                    </a:lnTo>
                    <a:lnTo>
                      <a:pt x="22" y="14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0"/>
                    </a:lnTo>
                    <a:lnTo>
                      <a:pt x="39" y="22"/>
                    </a:lnTo>
                    <a:lnTo>
                      <a:pt x="45" y="25"/>
                    </a:lnTo>
                    <a:lnTo>
                      <a:pt x="49" y="27"/>
                    </a:lnTo>
                    <a:lnTo>
                      <a:pt x="54" y="30"/>
                    </a:lnTo>
                    <a:lnTo>
                      <a:pt x="60" y="34"/>
                    </a:lnTo>
                    <a:lnTo>
                      <a:pt x="64" y="36"/>
                    </a:lnTo>
                    <a:lnTo>
                      <a:pt x="70" y="38"/>
                    </a:lnTo>
                    <a:lnTo>
                      <a:pt x="75" y="40"/>
                    </a:lnTo>
                    <a:lnTo>
                      <a:pt x="79" y="43"/>
                    </a:lnTo>
                    <a:lnTo>
                      <a:pt x="83" y="46"/>
                    </a:lnTo>
                    <a:lnTo>
                      <a:pt x="88" y="49"/>
                    </a:lnTo>
                    <a:lnTo>
                      <a:pt x="93" y="51"/>
                    </a:lnTo>
                    <a:lnTo>
                      <a:pt x="96" y="53"/>
                    </a:lnTo>
                    <a:lnTo>
                      <a:pt x="99" y="54"/>
                    </a:lnTo>
                    <a:lnTo>
                      <a:pt x="102" y="56"/>
                    </a:lnTo>
                    <a:lnTo>
                      <a:pt x="107" y="57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3" y="61"/>
                    </a:lnTo>
                    <a:lnTo>
                      <a:pt x="114" y="62"/>
                    </a:lnTo>
                    <a:lnTo>
                      <a:pt x="115" y="61"/>
                    </a:lnTo>
                    <a:lnTo>
                      <a:pt x="114" y="59"/>
                    </a:lnTo>
                    <a:lnTo>
                      <a:pt x="112" y="58"/>
                    </a:lnTo>
                    <a:lnTo>
                      <a:pt x="110" y="57"/>
                    </a:lnTo>
                    <a:lnTo>
                      <a:pt x="107" y="56"/>
                    </a:lnTo>
                    <a:lnTo>
                      <a:pt x="104" y="54"/>
                    </a:lnTo>
                    <a:lnTo>
                      <a:pt x="100" y="53"/>
                    </a:lnTo>
                    <a:lnTo>
                      <a:pt x="97" y="51"/>
                    </a:lnTo>
                    <a:lnTo>
                      <a:pt x="94" y="49"/>
                    </a:lnTo>
                    <a:lnTo>
                      <a:pt x="90" y="46"/>
                    </a:lnTo>
                    <a:lnTo>
                      <a:pt x="84" y="43"/>
                    </a:lnTo>
                    <a:lnTo>
                      <a:pt x="80" y="41"/>
                    </a:lnTo>
                    <a:lnTo>
                      <a:pt x="76" y="39"/>
                    </a:lnTo>
                    <a:lnTo>
                      <a:pt x="70" y="37"/>
                    </a:lnTo>
                    <a:lnTo>
                      <a:pt x="65" y="35"/>
                    </a:lnTo>
                    <a:lnTo>
                      <a:pt x="61" y="32"/>
                    </a:lnTo>
                    <a:lnTo>
                      <a:pt x="55" y="30"/>
                    </a:lnTo>
                    <a:lnTo>
                      <a:pt x="51" y="25"/>
                    </a:lnTo>
                    <a:lnTo>
                      <a:pt x="46" y="23"/>
                    </a:lnTo>
                    <a:lnTo>
                      <a:pt x="41" y="21"/>
                    </a:lnTo>
                    <a:lnTo>
                      <a:pt x="36" y="19"/>
                    </a:lnTo>
                    <a:lnTo>
                      <a:pt x="32" y="17"/>
                    </a:lnTo>
                    <a:lnTo>
                      <a:pt x="27" y="15"/>
                    </a:lnTo>
                    <a:lnTo>
                      <a:pt x="23" y="12"/>
                    </a:lnTo>
                    <a:lnTo>
                      <a:pt x="19" y="10"/>
                    </a:lnTo>
                    <a:lnTo>
                      <a:pt x="16" y="8"/>
                    </a:lnTo>
                    <a:lnTo>
                      <a:pt x="13" y="5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85" name="Freeform 929"/>
              <p:cNvSpPr>
                <a:spLocks/>
              </p:cNvSpPr>
              <p:nvPr/>
            </p:nvSpPr>
            <p:spPr bwMode="auto">
              <a:xfrm>
                <a:off x="3010" y="2053"/>
                <a:ext cx="6" cy="9"/>
              </a:xfrm>
              <a:custGeom>
                <a:avLst/>
                <a:gdLst>
                  <a:gd name="T0" fmla="*/ 4 w 6"/>
                  <a:gd name="T1" fmla="*/ 0 h 9"/>
                  <a:gd name="T2" fmla="*/ 4 w 6"/>
                  <a:gd name="T3" fmla="*/ 0 h 9"/>
                  <a:gd name="T4" fmla="*/ 2 w 6"/>
                  <a:gd name="T5" fmla="*/ 1 h 9"/>
                  <a:gd name="T6" fmla="*/ 1 w 6"/>
                  <a:gd name="T7" fmla="*/ 3 h 9"/>
                  <a:gd name="T8" fmla="*/ 0 w 6"/>
                  <a:gd name="T9" fmla="*/ 3 h 9"/>
                  <a:gd name="T10" fmla="*/ 0 w 6"/>
                  <a:gd name="T11" fmla="*/ 6 h 9"/>
                  <a:gd name="T12" fmla="*/ 1 w 6"/>
                  <a:gd name="T13" fmla="*/ 7 h 9"/>
                  <a:gd name="T14" fmla="*/ 2 w 6"/>
                  <a:gd name="T15" fmla="*/ 8 h 9"/>
                  <a:gd name="T16" fmla="*/ 4 w 6"/>
                  <a:gd name="T17" fmla="*/ 8 h 9"/>
                  <a:gd name="T18" fmla="*/ 5 w 6"/>
                  <a:gd name="T19" fmla="*/ 9 h 9"/>
                  <a:gd name="T20" fmla="*/ 6 w 6"/>
                  <a:gd name="T21" fmla="*/ 8 h 9"/>
                  <a:gd name="T22" fmla="*/ 4 w 6"/>
                  <a:gd name="T23" fmla="*/ 7 h 9"/>
                  <a:gd name="T24" fmla="*/ 3 w 6"/>
                  <a:gd name="T25" fmla="*/ 6 h 9"/>
                  <a:gd name="T26" fmla="*/ 2 w 6"/>
                  <a:gd name="T27" fmla="*/ 6 h 9"/>
                  <a:gd name="T28" fmla="*/ 2 w 6"/>
                  <a:gd name="T29" fmla="*/ 3 h 9"/>
                  <a:gd name="T30" fmla="*/ 3 w 6"/>
                  <a:gd name="T31" fmla="*/ 3 h 9"/>
                  <a:gd name="T32" fmla="*/ 5 w 6"/>
                  <a:gd name="T33" fmla="*/ 1 h 9"/>
                  <a:gd name="T34" fmla="*/ 4 w 6"/>
                  <a:gd name="T35" fmla="*/ 0 h 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"/>
                  <a:gd name="T55" fmla="*/ 0 h 9"/>
                  <a:gd name="T56" fmla="*/ 6 w 6"/>
                  <a:gd name="T57" fmla="*/ 9 h 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" h="9">
                    <a:moveTo>
                      <a:pt x="4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1" y="7"/>
                    </a:lnTo>
                    <a:lnTo>
                      <a:pt x="2" y="8"/>
                    </a:lnTo>
                    <a:lnTo>
                      <a:pt x="4" y="8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4" y="7"/>
                    </a:lnTo>
                    <a:lnTo>
                      <a:pt x="3" y="6"/>
                    </a:lnTo>
                    <a:lnTo>
                      <a:pt x="2" y="6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86" name="Freeform 930"/>
              <p:cNvSpPr>
                <a:spLocks/>
              </p:cNvSpPr>
              <p:nvPr/>
            </p:nvSpPr>
            <p:spPr bwMode="auto">
              <a:xfrm>
                <a:off x="3137" y="2112"/>
                <a:ext cx="106" cy="49"/>
              </a:xfrm>
              <a:custGeom>
                <a:avLst/>
                <a:gdLst>
                  <a:gd name="T0" fmla="*/ 106 w 106"/>
                  <a:gd name="T1" fmla="*/ 0 h 49"/>
                  <a:gd name="T2" fmla="*/ 104 w 106"/>
                  <a:gd name="T3" fmla="*/ 0 h 49"/>
                  <a:gd name="T4" fmla="*/ 102 w 106"/>
                  <a:gd name="T5" fmla="*/ 1 h 49"/>
                  <a:gd name="T6" fmla="*/ 100 w 106"/>
                  <a:gd name="T7" fmla="*/ 2 h 49"/>
                  <a:gd name="T8" fmla="*/ 98 w 106"/>
                  <a:gd name="T9" fmla="*/ 3 h 49"/>
                  <a:gd name="T10" fmla="*/ 95 w 106"/>
                  <a:gd name="T11" fmla="*/ 4 h 49"/>
                  <a:gd name="T12" fmla="*/ 92 w 106"/>
                  <a:gd name="T13" fmla="*/ 5 h 49"/>
                  <a:gd name="T14" fmla="*/ 88 w 106"/>
                  <a:gd name="T15" fmla="*/ 7 h 49"/>
                  <a:gd name="T16" fmla="*/ 85 w 106"/>
                  <a:gd name="T17" fmla="*/ 10 h 49"/>
                  <a:gd name="T18" fmla="*/ 82 w 106"/>
                  <a:gd name="T19" fmla="*/ 10 h 49"/>
                  <a:gd name="T20" fmla="*/ 79 w 106"/>
                  <a:gd name="T21" fmla="*/ 13 h 49"/>
                  <a:gd name="T22" fmla="*/ 75 w 106"/>
                  <a:gd name="T23" fmla="*/ 15 h 49"/>
                  <a:gd name="T24" fmla="*/ 70 w 106"/>
                  <a:gd name="T25" fmla="*/ 16 h 49"/>
                  <a:gd name="T26" fmla="*/ 66 w 106"/>
                  <a:gd name="T27" fmla="*/ 18 h 49"/>
                  <a:gd name="T28" fmla="*/ 62 w 106"/>
                  <a:gd name="T29" fmla="*/ 20 h 49"/>
                  <a:gd name="T30" fmla="*/ 57 w 106"/>
                  <a:gd name="T31" fmla="*/ 22 h 49"/>
                  <a:gd name="T32" fmla="*/ 53 w 106"/>
                  <a:gd name="T33" fmla="*/ 23 h 49"/>
                  <a:gd name="T34" fmla="*/ 50 w 106"/>
                  <a:gd name="T35" fmla="*/ 26 h 49"/>
                  <a:gd name="T36" fmla="*/ 45 w 106"/>
                  <a:gd name="T37" fmla="*/ 29 h 49"/>
                  <a:gd name="T38" fmla="*/ 40 w 106"/>
                  <a:gd name="T39" fmla="*/ 31 h 49"/>
                  <a:gd name="T40" fmla="*/ 36 w 106"/>
                  <a:gd name="T41" fmla="*/ 32 h 49"/>
                  <a:gd name="T42" fmla="*/ 31 w 106"/>
                  <a:gd name="T43" fmla="*/ 34 h 49"/>
                  <a:gd name="T44" fmla="*/ 28 w 106"/>
                  <a:gd name="T45" fmla="*/ 36 h 49"/>
                  <a:gd name="T46" fmla="*/ 23 w 106"/>
                  <a:gd name="T47" fmla="*/ 37 h 49"/>
                  <a:gd name="T48" fmla="*/ 20 w 106"/>
                  <a:gd name="T49" fmla="*/ 39 h 49"/>
                  <a:gd name="T50" fmla="*/ 17 w 106"/>
                  <a:gd name="T51" fmla="*/ 42 h 49"/>
                  <a:gd name="T52" fmla="*/ 14 w 106"/>
                  <a:gd name="T53" fmla="*/ 42 h 49"/>
                  <a:gd name="T54" fmla="*/ 10 w 106"/>
                  <a:gd name="T55" fmla="*/ 45 h 49"/>
                  <a:gd name="T56" fmla="*/ 8 w 106"/>
                  <a:gd name="T57" fmla="*/ 46 h 49"/>
                  <a:gd name="T58" fmla="*/ 5 w 106"/>
                  <a:gd name="T59" fmla="*/ 47 h 49"/>
                  <a:gd name="T60" fmla="*/ 3 w 106"/>
                  <a:gd name="T61" fmla="*/ 48 h 49"/>
                  <a:gd name="T62" fmla="*/ 1 w 106"/>
                  <a:gd name="T63" fmla="*/ 48 h 49"/>
                  <a:gd name="T64" fmla="*/ 0 w 106"/>
                  <a:gd name="T65" fmla="*/ 49 h 49"/>
                  <a:gd name="T66" fmla="*/ 106 w 106"/>
                  <a:gd name="T67" fmla="*/ 0 h 49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6"/>
                  <a:gd name="T103" fmla="*/ 0 h 49"/>
                  <a:gd name="T104" fmla="*/ 106 w 106"/>
                  <a:gd name="T105" fmla="*/ 49 h 49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6" h="49">
                    <a:moveTo>
                      <a:pt x="106" y="0"/>
                    </a:moveTo>
                    <a:lnTo>
                      <a:pt x="104" y="0"/>
                    </a:lnTo>
                    <a:lnTo>
                      <a:pt x="102" y="1"/>
                    </a:lnTo>
                    <a:lnTo>
                      <a:pt x="100" y="2"/>
                    </a:lnTo>
                    <a:lnTo>
                      <a:pt x="98" y="3"/>
                    </a:lnTo>
                    <a:lnTo>
                      <a:pt x="95" y="4"/>
                    </a:lnTo>
                    <a:lnTo>
                      <a:pt x="92" y="5"/>
                    </a:lnTo>
                    <a:lnTo>
                      <a:pt x="88" y="7"/>
                    </a:lnTo>
                    <a:lnTo>
                      <a:pt x="85" y="10"/>
                    </a:lnTo>
                    <a:lnTo>
                      <a:pt x="82" y="10"/>
                    </a:lnTo>
                    <a:lnTo>
                      <a:pt x="79" y="13"/>
                    </a:lnTo>
                    <a:lnTo>
                      <a:pt x="75" y="15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0"/>
                    </a:lnTo>
                    <a:lnTo>
                      <a:pt x="57" y="22"/>
                    </a:lnTo>
                    <a:lnTo>
                      <a:pt x="53" y="23"/>
                    </a:lnTo>
                    <a:lnTo>
                      <a:pt x="50" y="26"/>
                    </a:lnTo>
                    <a:lnTo>
                      <a:pt x="45" y="29"/>
                    </a:lnTo>
                    <a:lnTo>
                      <a:pt x="40" y="31"/>
                    </a:lnTo>
                    <a:lnTo>
                      <a:pt x="36" y="32"/>
                    </a:lnTo>
                    <a:lnTo>
                      <a:pt x="31" y="34"/>
                    </a:lnTo>
                    <a:lnTo>
                      <a:pt x="28" y="36"/>
                    </a:lnTo>
                    <a:lnTo>
                      <a:pt x="23" y="37"/>
                    </a:lnTo>
                    <a:lnTo>
                      <a:pt x="20" y="39"/>
                    </a:lnTo>
                    <a:lnTo>
                      <a:pt x="17" y="42"/>
                    </a:lnTo>
                    <a:lnTo>
                      <a:pt x="14" y="42"/>
                    </a:lnTo>
                    <a:lnTo>
                      <a:pt x="10" y="45"/>
                    </a:lnTo>
                    <a:lnTo>
                      <a:pt x="8" y="46"/>
                    </a:lnTo>
                    <a:lnTo>
                      <a:pt x="5" y="47"/>
                    </a:lnTo>
                    <a:lnTo>
                      <a:pt x="3" y="48"/>
                    </a:lnTo>
                    <a:lnTo>
                      <a:pt x="1" y="48"/>
                    </a:lnTo>
                    <a:lnTo>
                      <a:pt x="0" y="49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87" name="Freeform 931"/>
              <p:cNvSpPr>
                <a:spLocks/>
              </p:cNvSpPr>
              <p:nvPr/>
            </p:nvSpPr>
            <p:spPr bwMode="auto">
              <a:xfrm>
                <a:off x="3136" y="2112"/>
                <a:ext cx="107" cy="50"/>
              </a:xfrm>
              <a:custGeom>
                <a:avLst/>
                <a:gdLst>
                  <a:gd name="T0" fmla="*/ 2 w 107"/>
                  <a:gd name="T1" fmla="*/ 49 h 50"/>
                  <a:gd name="T2" fmla="*/ 6 w 107"/>
                  <a:gd name="T3" fmla="*/ 48 h 50"/>
                  <a:gd name="T4" fmla="*/ 10 w 107"/>
                  <a:gd name="T5" fmla="*/ 46 h 50"/>
                  <a:gd name="T6" fmla="*/ 18 w 107"/>
                  <a:gd name="T7" fmla="*/ 42 h 50"/>
                  <a:gd name="T8" fmla="*/ 24 w 107"/>
                  <a:gd name="T9" fmla="*/ 38 h 50"/>
                  <a:gd name="T10" fmla="*/ 32 w 107"/>
                  <a:gd name="T11" fmla="*/ 35 h 50"/>
                  <a:gd name="T12" fmla="*/ 41 w 107"/>
                  <a:gd name="T13" fmla="*/ 32 h 50"/>
                  <a:gd name="T14" fmla="*/ 49 w 107"/>
                  <a:gd name="T15" fmla="*/ 28 h 50"/>
                  <a:gd name="T16" fmla="*/ 58 w 107"/>
                  <a:gd name="T17" fmla="*/ 23 h 50"/>
                  <a:gd name="T18" fmla="*/ 67 w 107"/>
                  <a:gd name="T19" fmla="*/ 19 h 50"/>
                  <a:gd name="T20" fmla="*/ 76 w 107"/>
                  <a:gd name="T21" fmla="*/ 16 h 50"/>
                  <a:gd name="T22" fmla="*/ 83 w 107"/>
                  <a:gd name="T23" fmla="*/ 13 h 50"/>
                  <a:gd name="T24" fmla="*/ 89 w 107"/>
                  <a:gd name="T25" fmla="*/ 10 h 50"/>
                  <a:gd name="T26" fmla="*/ 96 w 107"/>
                  <a:gd name="T27" fmla="*/ 6 h 50"/>
                  <a:gd name="T28" fmla="*/ 101 w 107"/>
                  <a:gd name="T29" fmla="*/ 4 h 50"/>
                  <a:gd name="T30" fmla="*/ 105 w 107"/>
                  <a:gd name="T31" fmla="*/ 2 h 50"/>
                  <a:gd name="T32" fmla="*/ 105 w 107"/>
                  <a:gd name="T33" fmla="*/ 0 h 50"/>
                  <a:gd name="T34" fmla="*/ 103 w 107"/>
                  <a:gd name="T35" fmla="*/ 1 h 50"/>
                  <a:gd name="T36" fmla="*/ 99 w 107"/>
                  <a:gd name="T37" fmla="*/ 3 h 50"/>
                  <a:gd name="T38" fmla="*/ 92 w 107"/>
                  <a:gd name="T39" fmla="*/ 5 h 50"/>
                  <a:gd name="T40" fmla="*/ 86 w 107"/>
                  <a:gd name="T41" fmla="*/ 10 h 50"/>
                  <a:gd name="T42" fmla="*/ 79 w 107"/>
                  <a:gd name="T43" fmla="*/ 13 h 50"/>
                  <a:gd name="T44" fmla="*/ 70 w 107"/>
                  <a:gd name="T45" fmla="*/ 16 h 50"/>
                  <a:gd name="T46" fmla="*/ 62 w 107"/>
                  <a:gd name="T47" fmla="*/ 20 h 50"/>
                  <a:gd name="T48" fmla="*/ 52 w 107"/>
                  <a:gd name="T49" fmla="*/ 23 h 50"/>
                  <a:gd name="T50" fmla="*/ 45 w 107"/>
                  <a:gd name="T51" fmla="*/ 29 h 50"/>
                  <a:gd name="T52" fmla="*/ 35 w 107"/>
                  <a:gd name="T53" fmla="*/ 32 h 50"/>
                  <a:gd name="T54" fmla="*/ 27 w 107"/>
                  <a:gd name="T55" fmla="*/ 35 h 50"/>
                  <a:gd name="T56" fmla="*/ 20 w 107"/>
                  <a:gd name="T57" fmla="*/ 38 h 50"/>
                  <a:gd name="T58" fmla="*/ 12 w 107"/>
                  <a:gd name="T59" fmla="*/ 42 h 50"/>
                  <a:gd name="T60" fmla="*/ 7 w 107"/>
                  <a:gd name="T61" fmla="*/ 45 h 50"/>
                  <a:gd name="T62" fmla="*/ 3 w 107"/>
                  <a:gd name="T63" fmla="*/ 47 h 50"/>
                  <a:gd name="T64" fmla="*/ 0 w 107"/>
                  <a:gd name="T65" fmla="*/ 49 h 5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50"/>
                  <a:gd name="T101" fmla="*/ 107 w 107"/>
                  <a:gd name="T102" fmla="*/ 50 h 5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50">
                    <a:moveTo>
                      <a:pt x="1" y="50"/>
                    </a:moveTo>
                    <a:lnTo>
                      <a:pt x="2" y="49"/>
                    </a:lnTo>
                    <a:lnTo>
                      <a:pt x="4" y="49"/>
                    </a:lnTo>
                    <a:lnTo>
                      <a:pt x="6" y="48"/>
                    </a:lnTo>
                    <a:lnTo>
                      <a:pt x="8" y="47"/>
                    </a:lnTo>
                    <a:lnTo>
                      <a:pt x="10" y="46"/>
                    </a:lnTo>
                    <a:lnTo>
                      <a:pt x="15" y="44"/>
                    </a:lnTo>
                    <a:lnTo>
                      <a:pt x="18" y="42"/>
                    </a:lnTo>
                    <a:lnTo>
                      <a:pt x="21" y="41"/>
                    </a:lnTo>
                    <a:lnTo>
                      <a:pt x="24" y="38"/>
                    </a:lnTo>
                    <a:lnTo>
                      <a:pt x="29" y="37"/>
                    </a:lnTo>
                    <a:lnTo>
                      <a:pt x="32" y="35"/>
                    </a:lnTo>
                    <a:lnTo>
                      <a:pt x="37" y="33"/>
                    </a:lnTo>
                    <a:lnTo>
                      <a:pt x="41" y="32"/>
                    </a:lnTo>
                    <a:lnTo>
                      <a:pt x="45" y="30"/>
                    </a:lnTo>
                    <a:lnTo>
                      <a:pt x="49" y="28"/>
                    </a:lnTo>
                    <a:lnTo>
                      <a:pt x="54" y="26"/>
                    </a:lnTo>
                    <a:lnTo>
                      <a:pt x="58" y="23"/>
                    </a:lnTo>
                    <a:lnTo>
                      <a:pt x="63" y="21"/>
                    </a:lnTo>
                    <a:lnTo>
                      <a:pt x="67" y="19"/>
                    </a:lnTo>
                    <a:lnTo>
                      <a:pt x="71" y="18"/>
                    </a:lnTo>
                    <a:lnTo>
                      <a:pt x="76" y="16"/>
                    </a:lnTo>
                    <a:lnTo>
                      <a:pt x="80" y="14"/>
                    </a:lnTo>
                    <a:lnTo>
                      <a:pt x="83" y="13"/>
                    </a:lnTo>
                    <a:lnTo>
                      <a:pt x="86" y="10"/>
                    </a:lnTo>
                    <a:lnTo>
                      <a:pt x="89" y="10"/>
                    </a:lnTo>
                    <a:lnTo>
                      <a:pt x="93" y="7"/>
                    </a:lnTo>
                    <a:lnTo>
                      <a:pt x="96" y="6"/>
                    </a:lnTo>
                    <a:lnTo>
                      <a:pt x="99" y="5"/>
                    </a:lnTo>
                    <a:lnTo>
                      <a:pt x="101" y="4"/>
                    </a:lnTo>
                    <a:lnTo>
                      <a:pt x="103" y="3"/>
                    </a:lnTo>
                    <a:lnTo>
                      <a:pt x="105" y="2"/>
                    </a:lnTo>
                    <a:lnTo>
                      <a:pt x="107" y="2"/>
                    </a:lnTo>
                    <a:lnTo>
                      <a:pt x="105" y="0"/>
                    </a:lnTo>
                    <a:lnTo>
                      <a:pt x="104" y="1"/>
                    </a:lnTo>
                    <a:lnTo>
                      <a:pt x="103" y="1"/>
                    </a:lnTo>
                    <a:lnTo>
                      <a:pt x="101" y="2"/>
                    </a:lnTo>
                    <a:lnTo>
                      <a:pt x="99" y="3"/>
                    </a:lnTo>
                    <a:lnTo>
                      <a:pt x="96" y="4"/>
                    </a:lnTo>
                    <a:lnTo>
                      <a:pt x="92" y="5"/>
                    </a:lnTo>
                    <a:lnTo>
                      <a:pt x="89" y="7"/>
                    </a:lnTo>
                    <a:lnTo>
                      <a:pt x="86" y="10"/>
                    </a:lnTo>
                    <a:lnTo>
                      <a:pt x="82" y="10"/>
                    </a:lnTo>
                    <a:lnTo>
                      <a:pt x="79" y="13"/>
                    </a:lnTo>
                    <a:lnTo>
                      <a:pt x="73" y="15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0"/>
                    </a:lnTo>
                    <a:lnTo>
                      <a:pt x="57" y="21"/>
                    </a:lnTo>
                    <a:lnTo>
                      <a:pt x="52" y="23"/>
                    </a:lnTo>
                    <a:lnTo>
                      <a:pt x="49" y="26"/>
                    </a:lnTo>
                    <a:lnTo>
                      <a:pt x="45" y="29"/>
                    </a:lnTo>
                    <a:lnTo>
                      <a:pt x="40" y="30"/>
                    </a:lnTo>
                    <a:lnTo>
                      <a:pt x="35" y="32"/>
                    </a:lnTo>
                    <a:lnTo>
                      <a:pt x="31" y="34"/>
                    </a:lnTo>
                    <a:lnTo>
                      <a:pt x="27" y="35"/>
                    </a:lnTo>
                    <a:lnTo>
                      <a:pt x="24" y="37"/>
                    </a:lnTo>
                    <a:lnTo>
                      <a:pt x="20" y="38"/>
                    </a:lnTo>
                    <a:lnTo>
                      <a:pt x="17" y="41"/>
                    </a:lnTo>
                    <a:lnTo>
                      <a:pt x="12" y="42"/>
                    </a:lnTo>
                    <a:lnTo>
                      <a:pt x="10" y="44"/>
                    </a:lnTo>
                    <a:lnTo>
                      <a:pt x="7" y="45"/>
                    </a:lnTo>
                    <a:lnTo>
                      <a:pt x="5" y="46"/>
                    </a:lnTo>
                    <a:lnTo>
                      <a:pt x="3" y="47"/>
                    </a:lnTo>
                    <a:lnTo>
                      <a:pt x="1" y="48"/>
                    </a:lnTo>
                    <a:lnTo>
                      <a:pt x="0" y="49"/>
                    </a:lnTo>
                    <a:lnTo>
                      <a:pt x="1" y="5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88" name="Freeform 932"/>
              <p:cNvSpPr>
                <a:spLocks/>
              </p:cNvSpPr>
              <p:nvPr/>
            </p:nvSpPr>
            <p:spPr bwMode="auto">
              <a:xfrm>
                <a:off x="2998" y="2015"/>
                <a:ext cx="252" cy="110"/>
              </a:xfrm>
              <a:custGeom>
                <a:avLst/>
                <a:gdLst>
                  <a:gd name="T0" fmla="*/ 2 w 252"/>
                  <a:gd name="T1" fmla="*/ 29 h 110"/>
                  <a:gd name="T2" fmla="*/ 1 w 252"/>
                  <a:gd name="T3" fmla="*/ 15 h 110"/>
                  <a:gd name="T4" fmla="*/ 12 w 252"/>
                  <a:gd name="T5" fmla="*/ 0 h 110"/>
                  <a:gd name="T6" fmla="*/ 18 w 252"/>
                  <a:gd name="T7" fmla="*/ 0 h 110"/>
                  <a:gd name="T8" fmla="*/ 34 w 252"/>
                  <a:gd name="T9" fmla="*/ 1 h 110"/>
                  <a:gd name="T10" fmla="*/ 58 w 252"/>
                  <a:gd name="T11" fmla="*/ 2 h 110"/>
                  <a:gd name="T12" fmla="*/ 86 w 252"/>
                  <a:gd name="T13" fmla="*/ 4 h 110"/>
                  <a:gd name="T14" fmla="*/ 118 w 252"/>
                  <a:gd name="T15" fmla="*/ 6 h 110"/>
                  <a:gd name="T16" fmla="*/ 149 w 252"/>
                  <a:gd name="T17" fmla="*/ 8 h 110"/>
                  <a:gd name="T18" fmla="*/ 180 w 252"/>
                  <a:gd name="T19" fmla="*/ 13 h 110"/>
                  <a:gd name="T20" fmla="*/ 208 w 252"/>
                  <a:gd name="T21" fmla="*/ 15 h 110"/>
                  <a:gd name="T22" fmla="*/ 228 w 252"/>
                  <a:gd name="T23" fmla="*/ 17 h 110"/>
                  <a:gd name="T24" fmla="*/ 241 w 252"/>
                  <a:gd name="T25" fmla="*/ 19 h 110"/>
                  <a:gd name="T26" fmla="*/ 245 w 252"/>
                  <a:gd name="T27" fmla="*/ 36 h 110"/>
                  <a:gd name="T28" fmla="*/ 247 w 252"/>
                  <a:gd name="T29" fmla="*/ 56 h 110"/>
                  <a:gd name="T30" fmla="*/ 251 w 252"/>
                  <a:gd name="T31" fmla="*/ 60 h 110"/>
                  <a:gd name="T32" fmla="*/ 251 w 252"/>
                  <a:gd name="T33" fmla="*/ 63 h 110"/>
                  <a:gd name="T34" fmla="*/ 247 w 252"/>
                  <a:gd name="T35" fmla="*/ 66 h 110"/>
                  <a:gd name="T36" fmla="*/ 238 w 252"/>
                  <a:gd name="T37" fmla="*/ 69 h 110"/>
                  <a:gd name="T38" fmla="*/ 230 w 252"/>
                  <a:gd name="T39" fmla="*/ 73 h 110"/>
                  <a:gd name="T40" fmla="*/ 218 w 252"/>
                  <a:gd name="T41" fmla="*/ 78 h 110"/>
                  <a:gd name="T42" fmla="*/ 205 w 252"/>
                  <a:gd name="T43" fmla="*/ 83 h 110"/>
                  <a:gd name="T44" fmla="*/ 193 w 252"/>
                  <a:gd name="T45" fmla="*/ 89 h 110"/>
                  <a:gd name="T46" fmla="*/ 180 w 252"/>
                  <a:gd name="T47" fmla="*/ 94 h 110"/>
                  <a:gd name="T48" fmla="*/ 170 w 252"/>
                  <a:gd name="T49" fmla="*/ 99 h 110"/>
                  <a:gd name="T50" fmla="*/ 159 w 252"/>
                  <a:gd name="T51" fmla="*/ 103 h 110"/>
                  <a:gd name="T52" fmla="*/ 150 w 252"/>
                  <a:gd name="T53" fmla="*/ 108 h 110"/>
                  <a:gd name="T54" fmla="*/ 145 w 252"/>
                  <a:gd name="T55" fmla="*/ 110 h 110"/>
                  <a:gd name="T56" fmla="*/ 141 w 252"/>
                  <a:gd name="T57" fmla="*/ 110 h 110"/>
                  <a:gd name="T58" fmla="*/ 134 w 252"/>
                  <a:gd name="T59" fmla="*/ 108 h 110"/>
                  <a:gd name="T60" fmla="*/ 130 w 252"/>
                  <a:gd name="T61" fmla="*/ 107 h 110"/>
                  <a:gd name="T62" fmla="*/ 124 w 252"/>
                  <a:gd name="T63" fmla="*/ 101 h 110"/>
                  <a:gd name="T64" fmla="*/ 113 w 252"/>
                  <a:gd name="T65" fmla="*/ 97 h 110"/>
                  <a:gd name="T66" fmla="*/ 101 w 252"/>
                  <a:gd name="T67" fmla="*/ 91 h 110"/>
                  <a:gd name="T68" fmla="*/ 87 w 252"/>
                  <a:gd name="T69" fmla="*/ 82 h 110"/>
                  <a:gd name="T70" fmla="*/ 72 w 252"/>
                  <a:gd name="T71" fmla="*/ 74 h 110"/>
                  <a:gd name="T72" fmla="*/ 58 w 252"/>
                  <a:gd name="T73" fmla="*/ 66 h 110"/>
                  <a:gd name="T74" fmla="*/ 44 w 252"/>
                  <a:gd name="T75" fmla="*/ 60 h 110"/>
                  <a:gd name="T76" fmla="*/ 33 w 252"/>
                  <a:gd name="T77" fmla="*/ 53 h 110"/>
                  <a:gd name="T78" fmla="*/ 23 w 252"/>
                  <a:gd name="T79" fmla="*/ 48 h 110"/>
                  <a:gd name="T80" fmla="*/ 18 w 252"/>
                  <a:gd name="T81" fmla="*/ 46 h 110"/>
                  <a:gd name="T82" fmla="*/ 15 w 252"/>
                  <a:gd name="T83" fmla="*/ 44 h 110"/>
                  <a:gd name="T84" fmla="*/ 10 w 252"/>
                  <a:gd name="T85" fmla="*/ 40 h 110"/>
                  <a:gd name="T86" fmla="*/ 5 w 252"/>
                  <a:gd name="T87" fmla="*/ 37 h 11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252"/>
                  <a:gd name="T133" fmla="*/ 0 h 110"/>
                  <a:gd name="T134" fmla="*/ 252 w 252"/>
                  <a:gd name="T135" fmla="*/ 110 h 11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252" h="110">
                    <a:moveTo>
                      <a:pt x="5" y="37"/>
                    </a:moveTo>
                    <a:lnTo>
                      <a:pt x="3" y="34"/>
                    </a:lnTo>
                    <a:lnTo>
                      <a:pt x="2" y="29"/>
                    </a:lnTo>
                    <a:lnTo>
                      <a:pt x="1" y="24"/>
                    </a:lnTo>
                    <a:lnTo>
                      <a:pt x="0" y="20"/>
                    </a:lnTo>
                    <a:lnTo>
                      <a:pt x="1" y="15"/>
                    </a:lnTo>
                    <a:lnTo>
                      <a:pt x="2" y="8"/>
                    </a:lnTo>
                    <a:lnTo>
                      <a:pt x="5" y="4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8" y="0"/>
                    </a:lnTo>
                    <a:lnTo>
                      <a:pt x="34" y="1"/>
                    </a:lnTo>
                    <a:lnTo>
                      <a:pt x="40" y="1"/>
                    </a:lnTo>
                    <a:lnTo>
                      <a:pt x="49" y="2"/>
                    </a:lnTo>
                    <a:lnTo>
                      <a:pt x="58" y="2"/>
                    </a:lnTo>
                    <a:lnTo>
                      <a:pt x="67" y="3"/>
                    </a:lnTo>
                    <a:lnTo>
                      <a:pt x="76" y="3"/>
                    </a:lnTo>
                    <a:lnTo>
                      <a:pt x="86" y="4"/>
                    </a:lnTo>
                    <a:lnTo>
                      <a:pt x="96" y="5"/>
                    </a:lnTo>
                    <a:lnTo>
                      <a:pt x="107" y="5"/>
                    </a:lnTo>
                    <a:lnTo>
                      <a:pt x="118" y="6"/>
                    </a:lnTo>
                    <a:lnTo>
                      <a:pt x="128" y="7"/>
                    </a:lnTo>
                    <a:lnTo>
                      <a:pt x="140" y="8"/>
                    </a:lnTo>
                    <a:lnTo>
                      <a:pt x="149" y="8"/>
                    </a:lnTo>
                    <a:lnTo>
                      <a:pt x="160" y="9"/>
                    </a:lnTo>
                    <a:lnTo>
                      <a:pt x="170" y="10"/>
                    </a:lnTo>
                    <a:lnTo>
                      <a:pt x="180" y="13"/>
                    </a:lnTo>
                    <a:lnTo>
                      <a:pt x="189" y="13"/>
                    </a:lnTo>
                    <a:lnTo>
                      <a:pt x="199" y="13"/>
                    </a:lnTo>
                    <a:lnTo>
                      <a:pt x="208" y="15"/>
                    </a:lnTo>
                    <a:lnTo>
                      <a:pt x="215" y="16"/>
                    </a:lnTo>
                    <a:lnTo>
                      <a:pt x="222" y="16"/>
                    </a:lnTo>
                    <a:lnTo>
                      <a:pt x="228" y="17"/>
                    </a:lnTo>
                    <a:lnTo>
                      <a:pt x="234" y="18"/>
                    </a:lnTo>
                    <a:lnTo>
                      <a:pt x="237" y="18"/>
                    </a:lnTo>
                    <a:lnTo>
                      <a:pt x="241" y="19"/>
                    </a:lnTo>
                    <a:lnTo>
                      <a:pt x="243" y="19"/>
                    </a:lnTo>
                    <a:lnTo>
                      <a:pt x="245" y="29"/>
                    </a:lnTo>
                    <a:lnTo>
                      <a:pt x="245" y="36"/>
                    </a:lnTo>
                    <a:lnTo>
                      <a:pt x="245" y="45"/>
                    </a:lnTo>
                    <a:lnTo>
                      <a:pt x="246" y="55"/>
                    </a:lnTo>
                    <a:lnTo>
                      <a:pt x="247" y="56"/>
                    </a:lnTo>
                    <a:lnTo>
                      <a:pt x="249" y="57"/>
                    </a:lnTo>
                    <a:lnTo>
                      <a:pt x="250" y="58"/>
                    </a:lnTo>
                    <a:lnTo>
                      <a:pt x="251" y="60"/>
                    </a:lnTo>
                    <a:lnTo>
                      <a:pt x="252" y="61"/>
                    </a:lnTo>
                    <a:lnTo>
                      <a:pt x="252" y="62"/>
                    </a:lnTo>
                    <a:lnTo>
                      <a:pt x="251" y="63"/>
                    </a:lnTo>
                    <a:lnTo>
                      <a:pt x="249" y="64"/>
                    </a:lnTo>
                    <a:lnTo>
                      <a:pt x="248" y="66"/>
                    </a:lnTo>
                    <a:lnTo>
                      <a:pt x="247" y="66"/>
                    </a:lnTo>
                    <a:lnTo>
                      <a:pt x="245" y="66"/>
                    </a:lnTo>
                    <a:lnTo>
                      <a:pt x="241" y="68"/>
                    </a:lnTo>
                    <a:lnTo>
                      <a:pt x="238" y="69"/>
                    </a:lnTo>
                    <a:lnTo>
                      <a:pt x="236" y="70"/>
                    </a:lnTo>
                    <a:lnTo>
                      <a:pt x="233" y="71"/>
                    </a:lnTo>
                    <a:lnTo>
                      <a:pt x="230" y="73"/>
                    </a:lnTo>
                    <a:lnTo>
                      <a:pt x="226" y="74"/>
                    </a:lnTo>
                    <a:lnTo>
                      <a:pt x="222" y="77"/>
                    </a:lnTo>
                    <a:lnTo>
                      <a:pt x="218" y="78"/>
                    </a:lnTo>
                    <a:lnTo>
                      <a:pt x="215" y="80"/>
                    </a:lnTo>
                    <a:lnTo>
                      <a:pt x="210" y="81"/>
                    </a:lnTo>
                    <a:lnTo>
                      <a:pt x="205" y="83"/>
                    </a:lnTo>
                    <a:lnTo>
                      <a:pt x="202" y="85"/>
                    </a:lnTo>
                    <a:lnTo>
                      <a:pt x="197" y="87"/>
                    </a:lnTo>
                    <a:lnTo>
                      <a:pt x="193" y="89"/>
                    </a:lnTo>
                    <a:lnTo>
                      <a:pt x="189" y="91"/>
                    </a:lnTo>
                    <a:lnTo>
                      <a:pt x="185" y="93"/>
                    </a:lnTo>
                    <a:lnTo>
                      <a:pt x="180" y="94"/>
                    </a:lnTo>
                    <a:lnTo>
                      <a:pt x="177" y="96"/>
                    </a:lnTo>
                    <a:lnTo>
                      <a:pt x="173" y="98"/>
                    </a:lnTo>
                    <a:lnTo>
                      <a:pt x="170" y="99"/>
                    </a:lnTo>
                    <a:lnTo>
                      <a:pt x="165" y="101"/>
                    </a:lnTo>
                    <a:lnTo>
                      <a:pt x="162" y="103"/>
                    </a:lnTo>
                    <a:lnTo>
                      <a:pt x="159" y="103"/>
                    </a:lnTo>
                    <a:lnTo>
                      <a:pt x="156" y="105"/>
                    </a:lnTo>
                    <a:lnTo>
                      <a:pt x="154" y="107"/>
                    </a:lnTo>
                    <a:lnTo>
                      <a:pt x="150" y="108"/>
                    </a:lnTo>
                    <a:lnTo>
                      <a:pt x="148" y="109"/>
                    </a:lnTo>
                    <a:lnTo>
                      <a:pt x="146" y="109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10"/>
                    </a:lnTo>
                    <a:lnTo>
                      <a:pt x="141" y="110"/>
                    </a:lnTo>
                    <a:lnTo>
                      <a:pt x="140" y="109"/>
                    </a:lnTo>
                    <a:lnTo>
                      <a:pt x="138" y="109"/>
                    </a:lnTo>
                    <a:lnTo>
                      <a:pt x="134" y="108"/>
                    </a:lnTo>
                    <a:lnTo>
                      <a:pt x="132" y="107"/>
                    </a:lnTo>
                    <a:lnTo>
                      <a:pt x="130" y="107"/>
                    </a:lnTo>
                    <a:lnTo>
                      <a:pt x="129" y="105"/>
                    </a:lnTo>
                    <a:lnTo>
                      <a:pt x="127" y="103"/>
                    </a:lnTo>
                    <a:lnTo>
                      <a:pt x="124" y="101"/>
                    </a:lnTo>
                    <a:lnTo>
                      <a:pt x="122" y="101"/>
                    </a:lnTo>
                    <a:lnTo>
                      <a:pt x="118" y="99"/>
                    </a:lnTo>
                    <a:lnTo>
                      <a:pt x="113" y="97"/>
                    </a:lnTo>
                    <a:lnTo>
                      <a:pt x="110" y="95"/>
                    </a:lnTo>
                    <a:lnTo>
                      <a:pt x="106" y="93"/>
                    </a:lnTo>
                    <a:lnTo>
                      <a:pt x="101" y="91"/>
                    </a:lnTo>
                    <a:lnTo>
                      <a:pt x="96" y="88"/>
                    </a:lnTo>
                    <a:lnTo>
                      <a:pt x="92" y="85"/>
                    </a:lnTo>
                    <a:lnTo>
                      <a:pt x="87" y="82"/>
                    </a:lnTo>
                    <a:lnTo>
                      <a:pt x="82" y="80"/>
                    </a:lnTo>
                    <a:lnTo>
                      <a:pt x="77" y="78"/>
                    </a:lnTo>
                    <a:lnTo>
                      <a:pt x="72" y="74"/>
                    </a:lnTo>
                    <a:lnTo>
                      <a:pt x="67" y="72"/>
                    </a:lnTo>
                    <a:lnTo>
                      <a:pt x="63" y="70"/>
                    </a:lnTo>
                    <a:lnTo>
                      <a:pt x="58" y="66"/>
                    </a:lnTo>
                    <a:lnTo>
                      <a:pt x="53" y="64"/>
                    </a:lnTo>
                    <a:lnTo>
                      <a:pt x="49" y="62"/>
                    </a:lnTo>
                    <a:lnTo>
                      <a:pt x="44" y="60"/>
                    </a:lnTo>
                    <a:lnTo>
                      <a:pt x="39" y="57"/>
                    </a:lnTo>
                    <a:lnTo>
                      <a:pt x="36" y="55"/>
                    </a:lnTo>
                    <a:lnTo>
                      <a:pt x="33" y="53"/>
                    </a:lnTo>
                    <a:lnTo>
                      <a:pt x="30" y="52"/>
                    </a:lnTo>
                    <a:lnTo>
                      <a:pt x="25" y="50"/>
                    </a:lnTo>
                    <a:lnTo>
                      <a:pt x="23" y="48"/>
                    </a:lnTo>
                    <a:lnTo>
                      <a:pt x="21" y="48"/>
                    </a:lnTo>
                    <a:lnTo>
                      <a:pt x="19" y="46"/>
                    </a:lnTo>
                    <a:lnTo>
                      <a:pt x="18" y="46"/>
                    </a:lnTo>
                    <a:lnTo>
                      <a:pt x="17" y="45"/>
                    </a:lnTo>
                    <a:lnTo>
                      <a:pt x="16" y="44"/>
                    </a:lnTo>
                    <a:lnTo>
                      <a:pt x="15" y="44"/>
                    </a:lnTo>
                    <a:lnTo>
                      <a:pt x="13" y="42"/>
                    </a:lnTo>
                    <a:lnTo>
                      <a:pt x="12" y="41"/>
                    </a:lnTo>
                    <a:lnTo>
                      <a:pt x="10" y="40"/>
                    </a:lnTo>
                    <a:lnTo>
                      <a:pt x="8" y="39"/>
                    </a:lnTo>
                    <a:lnTo>
                      <a:pt x="6" y="38"/>
                    </a:lnTo>
                    <a:lnTo>
                      <a:pt x="5" y="37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89" name="Freeform 933"/>
              <p:cNvSpPr>
                <a:spLocks/>
              </p:cNvSpPr>
              <p:nvPr/>
            </p:nvSpPr>
            <p:spPr bwMode="auto">
              <a:xfrm>
                <a:off x="2997" y="2014"/>
                <a:ext cx="14" cy="38"/>
              </a:xfrm>
              <a:custGeom>
                <a:avLst/>
                <a:gdLst>
                  <a:gd name="T0" fmla="*/ 13 w 14"/>
                  <a:gd name="T1" fmla="*/ 0 h 38"/>
                  <a:gd name="T2" fmla="*/ 13 w 14"/>
                  <a:gd name="T3" fmla="*/ 0 h 38"/>
                  <a:gd name="T4" fmla="*/ 6 w 14"/>
                  <a:gd name="T5" fmla="*/ 4 h 38"/>
                  <a:gd name="T6" fmla="*/ 2 w 14"/>
                  <a:gd name="T7" fmla="*/ 10 h 38"/>
                  <a:gd name="T8" fmla="*/ 0 w 14"/>
                  <a:gd name="T9" fmla="*/ 16 h 38"/>
                  <a:gd name="T10" fmla="*/ 0 w 14"/>
                  <a:gd name="T11" fmla="*/ 20 h 38"/>
                  <a:gd name="T12" fmla="*/ 0 w 14"/>
                  <a:gd name="T13" fmla="*/ 25 h 38"/>
                  <a:gd name="T14" fmla="*/ 2 w 14"/>
                  <a:gd name="T15" fmla="*/ 30 h 38"/>
                  <a:gd name="T16" fmla="*/ 4 w 14"/>
                  <a:gd name="T17" fmla="*/ 35 h 38"/>
                  <a:gd name="T18" fmla="*/ 6 w 14"/>
                  <a:gd name="T19" fmla="*/ 38 h 38"/>
                  <a:gd name="T20" fmla="*/ 8 w 14"/>
                  <a:gd name="T21" fmla="*/ 37 h 38"/>
                  <a:gd name="T22" fmla="*/ 6 w 14"/>
                  <a:gd name="T23" fmla="*/ 34 h 38"/>
                  <a:gd name="T24" fmla="*/ 4 w 14"/>
                  <a:gd name="T25" fmla="*/ 30 h 38"/>
                  <a:gd name="T26" fmla="*/ 2 w 14"/>
                  <a:gd name="T27" fmla="*/ 25 h 38"/>
                  <a:gd name="T28" fmla="*/ 2 w 14"/>
                  <a:gd name="T29" fmla="*/ 20 h 38"/>
                  <a:gd name="T30" fmla="*/ 2 w 14"/>
                  <a:gd name="T31" fmla="*/ 16 h 38"/>
                  <a:gd name="T32" fmla="*/ 4 w 14"/>
                  <a:gd name="T33" fmla="*/ 10 h 38"/>
                  <a:gd name="T34" fmla="*/ 8 w 14"/>
                  <a:gd name="T35" fmla="*/ 5 h 38"/>
                  <a:gd name="T36" fmla="*/ 14 w 14"/>
                  <a:gd name="T37" fmla="*/ 2 h 38"/>
                  <a:gd name="T38" fmla="*/ 13 w 14"/>
                  <a:gd name="T39" fmla="*/ 0 h 3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4"/>
                  <a:gd name="T61" fmla="*/ 0 h 38"/>
                  <a:gd name="T62" fmla="*/ 14 w 14"/>
                  <a:gd name="T63" fmla="*/ 38 h 3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4" h="38">
                    <a:moveTo>
                      <a:pt x="13" y="0"/>
                    </a:moveTo>
                    <a:lnTo>
                      <a:pt x="13" y="0"/>
                    </a:lnTo>
                    <a:lnTo>
                      <a:pt x="6" y="4"/>
                    </a:lnTo>
                    <a:lnTo>
                      <a:pt x="2" y="10"/>
                    </a:lnTo>
                    <a:lnTo>
                      <a:pt x="0" y="16"/>
                    </a:lnTo>
                    <a:lnTo>
                      <a:pt x="0" y="20"/>
                    </a:lnTo>
                    <a:lnTo>
                      <a:pt x="0" y="25"/>
                    </a:lnTo>
                    <a:lnTo>
                      <a:pt x="2" y="30"/>
                    </a:lnTo>
                    <a:lnTo>
                      <a:pt x="4" y="35"/>
                    </a:lnTo>
                    <a:lnTo>
                      <a:pt x="6" y="38"/>
                    </a:lnTo>
                    <a:lnTo>
                      <a:pt x="8" y="37"/>
                    </a:lnTo>
                    <a:lnTo>
                      <a:pt x="6" y="34"/>
                    </a:lnTo>
                    <a:lnTo>
                      <a:pt x="4" y="30"/>
                    </a:lnTo>
                    <a:lnTo>
                      <a:pt x="2" y="25"/>
                    </a:lnTo>
                    <a:lnTo>
                      <a:pt x="2" y="20"/>
                    </a:lnTo>
                    <a:lnTo>
                      <a:pt x="2" y="16"/>
                    </a:lnTo>
                    <a:lnTo>
                      <a:pt x="4" y="10"/>
                    </a:lnTo>
                    <a:lnTo>
                      <a:pt x="8" y="5"/>
                    </a:lnTo>
                    <a:lnTo>
                      <a:pt x="14" y="2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90" name="Freeform 934"/>
              <p:cNvSpPr>
                <a:spLocks/>
              </p:cNvSpPr>
              <p:nvPr/>
            </p:nvSpPr>
            <p:spPr bwMode="auto">
              <a:xfrm>
                <a:off x="3010" y="2014"/>
                <a:ext cx="231" cy="21"/>
              </a:xfrm>
              <a:custGeom>
                <a:avLst/>
                <a:gdLst>
                  <a:gd name="T0" fmla="*/ 231 w 231"/>
                  <a:gd name="T1" fmla="*/ 20 h 21"/>
                  <a:gd name="T2" fmla="*/ 228 w 231"/>
                  <a:gd name="T3" fmla="*/ 18 h 21"/>
                  <a:gd name="T4" fmla="*/ 221 w 231"/>
                  <a:gd name="T5" fmla="*/ 18 h 21"/>
                  <a:gd name="T6" fmla="*/ 210 w 231"/>
                  <a:gd name="T7" fmla="*/ 16 h 21"/>
                  <a:gd name="T8" fmla="*/ 195 w 231"/>
                  <a:gd name="T9" fmla="*/ 15 h 21"/>
                  <a:gd name="T10" fmla="*/ 178 w 231"/>
                  <a:gd name="T11" fmla="*/ 12 h 21"/>
                  <a:gd name="T12" fmla="*/ 158 w 231"/>
                  <a:gd name="T13" fmla="*/ 11 h 21"/>
                  <a:gd name="T14" fmla="*/ 137 w 231"/>
                  <a:gd name="T15" fmla="*/ 9 h 21"/>
                  <a:gd name="T16" fmla="*/ 116 w 231"/>
                  <a:gd name="T17" fmla="*/ 8 h 21"/>
                  <a:gd name="T18" fmla="*/ 96 w 231"/>
                  <a:gd name="T19" fmla="*/ 5 h 21"/>
                  <a:gd name="T20" fmla="*/ 74 w 231"/>
                  <a:gd name="T21" fmla="*/ 5 h 21"/>
                  <a:gd name="T22" fmla="*/ 55 w 231"/>
                  <a:gd name="T23" fmla="*/ 2 h 21"/>
                  <a:gd name="T24" fmla="*/ 38 w 231"/>
                  <a:gd name="T25" fmla="*/ 2 h 21"/>
                  <a:gd name="T26" fmla="*/ 22 w 231"/>
                  <a:gd name="T27" fmla="*/ 1 h 21"/>
                  <a:gd name="T28" fmla="*/ 10 w 231"/>
                  <a:gd name="T29" fmla="*/ 0 h 21"/>
                  <a:gd name="T30" fmla="*/ 3 w 231"/>
                  <a:gd name="T31" fmla="*/ 0 h 21"/>
                  <a:gd name="T32" fmla="*/ 0 w 231"/>
                  <a:gd name="T33" fmla="*/ 0 h 21"/>
                  <a:gd name="T34" fmla="*/ 3 w 231"/>
                  <a:gd name="T35" fmla="*/ 2 h 21"/>
                  <a:gd name="T36" fmla="*/ 10 w 231"/>
                  <a:gd name="T37" fmla="*/ 2 h 21"/>
                  <a:gd name="T38" fmla="*/ 22 w 231"/>
                  <a:gd name="T39" fmla="*/ 2 h 21"/>
                  <a:gd name="T40" fmla="*/ 38 w 231"/>
                  <a:gd name="T41" fmla="*/ 3 h 21"/>
                  <a:gd name="T42" fmla="*/ 55 w 231"/>
                  <a:gd name="T43" fmla="*/ 5 h 21"/>
                  <a:gd name="T44" fmla="*/ 74 w 231"/>
                  <a:gd name="T45" fmla="*/ 5 h 21"/>
                  <a:gd name="T46" fmla="*/ 96 w 231"/>
                  <a:gd name="T47" fmla="*/ 8 h 21"/>
                  <a:gd name="T48" fmla="*/ 116 w 231"/>
                  <a:gd name="T49" fmla="*/ 9 h 21"/>
                  <a:gd name="T50" fmla="*/ 137 w 231"/>
                  <a:gd name="T51" fmla="*/ 11 h 21"/>
                  <a:gd name="T52" fmla="*/ 158 w 231"/>
                  <a:gd name="T53" fmla="*/ 12 h 21"/>
                  <a:gd name="T54" fmla="*/ 178 w 231"/>
                  <a:gd name="T55" fmla="*/ 15 h 21"/>
                  <a:gd name="T56" fmla="*/ 195 w 231"/>
                  <a:gd name="T57" fmla="*/ 16 h 21"/>
                  <a:gd name="T58" fmla="*/ 210 w 231"/>
                  <a:gd name="T59" fmla="*/ 18 h 21"/>
                  <a:gd name="T60" fmla="*/ 221 w 231"/>
                  <a:gd name="T61" fmla="*/ 20 h 21"/>
                  <a:gd name="T62" fmla="*/ 228 w 231"/>
                  <a:gd name="T63" fmla="*/ 21 h 21"/>
                  <a:gd name="T64" fmla="*/ 229 w 231"/>
                  <a:gd name="T65" fmla="*/ 20 h 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31"/>
                  <a:gd name="T100" fmla="*/ 0 h 21"/>
                  <a:gd name="T101" fmla="*/ 231 w 231"/>
                  <a:gd name="T102" fmla="*/ 21 h 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31" h="21">
                    <a:moveTo>
                      <a:pt x="231" y="20"/>
                    </a:moveTo>
                    <a:lnTo>
                      <a:pt x="231" y="20"/>
                    </a:lnTo>
                    <a:lnTo>
                      <a:pt x="230" y="18"/>
                    </a:lnTo>
                    <a:lnTo>
                      <a:pt x="228" y="18"/>
                    </a:lnTo>
                    <a:lnTo>
                      <a:pt x="225" y="18"/>
                    </a:lnTo>
                    <a:lnTo>
                      <a:pt x="221" y="18"/>
                    </a:lnTo>
                    <a:lnTo>
                      <a:pt x="215" y="16"/>
                    </a:lnTo>
                    <a:lnTo>
                      <a:pt x="210" y="16"/>
                    </a:lnTo>
                    <a:lnTo>
                      <a:pt x="202" y="15"/>
                    </a:lnTo>
                    <a:lnTo>
                      <a:pt x="195" y="15"/>
                    </a:lnTo>
                    <a:lnTo>
                      <a:pt x="187" y="14"/>
                    </a:lnTo>
                    <a:lnTo>
                      <a:pt x="178" y="12"/>
                    </a:lnTo>
                    <a:lnTo>
                      <a:pt x="167" y="11"/>
                    </a:lnTo>
                    <a:lnTo>
                      <a:pt x="158" y="11"/>
                    </a:lnTo>
                    <a:lnTo>
                      <a:pt x="148" y="10"/>
                    </a:lnTo>
                    <a:lnTo>
                      <a:pt x="137" y="9"/>
                    </a:lnTo>
                    <a:lnTo>
                      <a:pt x="127" y="8"/>
                    </a:lnTo>
                    <a:lnTo>
                      <a:pt x="116" y="8"/>
                    </a:lnTo>
                    <a:lnTo>
                      <a:pt x="106" y="7"/>
                    </a:lnTo>
                    <a:lnTo>
                      <a:pt x="96" y="5"/>
                    </a:lnTo>
                    <a:lnTo>
                      <a:pt x="84" y="5"/>
                    </a:lnTo>
                    <a:lnTo>
                      <a:pt x="74" y="5"/>
                    </a:lnTo>
                    <a:lnTo>
                      <a:pt x="65" y="3"/>
                    </a:lnTo>
                    <a:lnTo>
                      <a:pt x="55" y="2"/>
                    </a:lnTo>
                    <a:lnTo>
                      <a:pt x="46" y="2"/>
                    </a:lnTo>
                    <a:lnTo>
                      <a:pt x="38" y="2"/>
                    </a:lnTo>
                    <a:lnTo>
                      <a:pt x="29" y="1"/>
                    </a:lnTo>
                    <a:lnTo>
                      <a:pt x="22" y="1"/>
                    </a:lnTo>
                    <a:lnTo>
                      <a:pt x="17" y="1"/>
                    </a:lnTo>
                    <a:lnTo>
                      <a:pt x="10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6" y="2"/>
                    </a:lnTo>
                    <a:lnTo>
                      <a:pt x="10" y="2"/>
                    </a:lnTo>
                    <a:lnTo>
                      <a:pt x="17" y="2"/>
                    </a:lnTo>
                    <a:lnTo>
                      <a:pt x="22" y="2"/>
                    </a:lnTo>
                    <a:lnTo>
                      <a:pt x="29" y="3"/>
                    </a:lnTo>
                    <a:lnTo>
                      <a:pt x="38" y="3"/>
                    </a:lnTo>
                    <a:lnTo>
                      <a:pt x="46" y="5"/>
                    </a:lnTo>
                    <a:lnTo>
                      <a:pt x="55" y="5"/>
                    </a:lnTo>
                    <a:lnTo>
                      <a:pt x="65" y="5"/>
                    </a:lnTo>
                    <a:lnTo>
                      <a:pt x="74" y="5"/>
                    </a:lnTo>
                    <a:lnTo>
                      <a:pt x="84" y="7"/>
                    </a:lnTo>
                    <a:lnTo>
                      <a:pt x="96" y="8"/>
                    </a:lnTo>
                    <a:lnTo>
                      <a:pt x="106" y="8"/>
                    </a:lnTo>
                    <a:lnTo>
                      <a:pt x="116" y="9"/>
                    </a:lnTo>
                    <a:lnTo>
                      <a:pt x="127" y="10"/>
                    </a:lnTo>
                    <a:lnTo>
                      <a:pt x="137" y="11"/>
                    </a:lnTo>
                    <a:lnTo>
                      <a:pt x="148" y="11"/>
                    </a:lnTo>
                    <a:lnTo>
                      <a:pt x="158" y="12"/>
                    </a:lnTo>
                    <a:lnTo>
                      <a:pt x="167" y="14"/>
                    </a:lnTo>
                    <a:lnTo>
                      <a:pt x="178" y="15"/>
                    </a:lnTo>
                    <a:lnTo>
                      <a:pt x="187" y="15"/>
                    </a:lnTo>
                    <a:lnTo>
                      <a:pt x="195" y="16"/>
                    </a:lnTo>
                    <a:lnTo>
                      <a:pt x="202" y="18"/>
                    </a:lnTo>
                    <a:lnTo>
                      <a:pt x="210" y="18"/>
                    </a:lnTo>
                    <a:lnTo>
                      <a:pt x="215" y="18"/>
                    </a:lnTo>
                    <a:lnTo>
                      <a:pt x="221" y="20"/>
                    </a:lnTo>
                    <a:lnTo>
                      <a:pt x="225" y="20"/>
                    </a:lnTo>
                    <a:lnTo>
                      <a:pt x="228" y="21"/>
                    </a:lnTo>
                    <a:lnTo>
                      <a:pt x="229" y="21"/>
                    </a:lnTo>
                    <a:lnTo>
                      <a:pt x="229" y="20"/>
                    </a:lnTo>
                    <a:lnTo>
                      <a:pt x="231" y="2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91" name="Freeform 935"/>
              <p:cNvSpPr>
                <a:spLocks/>
              </p:cNvSpPr>
              <p:nvPr/>
            </p:nvSpPr>
            <p:spPr bwMode="auto">
              <a:xfrm>
                <a:off x="3239" y="2035"/>
                <a:ext cx="5" cy="35"/>
              </a:xfrm>
              <a:custGeom>
                <a:avLst/>
                <a:gdLst>
                  <a:gd name="T0" fmla="*/ 4 w 5"/>
                  <a:gd name="T1" fmla="*/ 33 h 35"/>
                  <a:gd name="T2" fmla="*/ 5 w 5"/>
                  <a:gd name="T3" fmla="*/ 34 h 35"/>
                  <a:gd name="T4" fmla="*/ 4 w 5"/>
                  <a:gd name="T5" fmla="*/ 26 h 35"/>
                  <a:gd name="T6" fmla="*/ 4 w 5"/>
                  <a:gd name="T7" fmla="*/ 16 h 35"/>
                  <a:gd name="T8" fmla="*/ 2 w 5"/>
                  <a:gd name="T9" fmla="*/ 9 h 35"/>
                  <a:gd name="T10" fmla="*/ 2 w 5"/>
                  <a:gd name="T11" fmla="*/ 0 h 35"/>
                  <a:gd name="T12" fmla="*/ 0 w 5"/>
                  <a:gd name="T13" fmla="*/ 0 h 35"/>
                  <a:gd name="T14" fmla="*/ 0 w 5"/>
                  <a:gd name="T15" fmla="*/ 9 h 35"/>
                  <a:gd name="T16" fmla="*/ 1 w 5"/>
                  <a:gd name="T17" fmla="*/ 16 h 35"/>
                  <a:gd name="T18" fmla="*/ 1 w 5"/>
                  <a:gd name="T19" fmla="*/ 26 h 35"/>
                  <a:gd name="T20" fmla="*/ 2 w 5"/>
                  <a:gd name="T21" fmla="*/ 34 h 35"/>
                  <a:gd name="T22" fmla="*/ 4 w 5"/>
                  <a:gd name="T23" fmla="*/ 35 h 35"/>
                  <a:gd name="T24" fmla="*/ 2 w 5"/>
                  <a:gd name="T25" fmla="*/ 34 h 35"/>
                  <a:gd name="T26" fmla="*/ 2 w 5"/>
                  <a:gd name="T27" fmla="*/ 35 h 35"/>
                  <a:gd name="T28" fmla="*/ 4 w 5"/>
                  <a:gd name="T29" fmla="*/ 35 h 35"/>
                  <a:gd name="T30" fmla="*/ 4 w 5"/>
                  <a:gd name="T31" fmla="*/ 33 h 3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"/>
                  <a:gd name="T49" fmla="*/ 0 h 35"/>
                  <a:gd name="T50" fmla="*/ 5 w 5"/>
                  <a:gd name="T51" fmla="*/ 35 h 3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" h="35">
                    <a:moveTo>
                      <a:pt x="4" y="33"/>
                    </a:moveTo>
                    <a:lnTo>
                      <a:pt x="5" y="34"/>
                    </a:lnTo>
                    <a:lnTo>
                      <a:pt x="4" y="26"/>
                    </a:lnTo>
                    <a:lnTo>
                      <a:pt x="4" y="16"/>
                    </a:lnTo>
                    <a:lnTo>
                      <a:pt x="2" y="9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1" y="16"/>
                    </a:lnTo>
                    <a:lnTo>
                      <a:pt x="1" y="26"/>
                    </a:lnTo>
                    <a:lnTo>
                      <a:pt x="2" y="34"/>
                    </a:lnTo>
                    <a:lnTo>
                      <a:pt x="4" y="35"/>
                    </a:lnTo>
                    <a:lnTo>
                      <a:pt x="2" y="34"/>
                    </a:lnTo>
                    <a:lnTo>
                      <a:pt x="2" y="35"/>
                    </a:lnTo>
                    <a:lnTo>
                      <a:pt x="4" y="35"/>
                    </a:lnTo>
                    <a:lnTo>
                      <a:pt x="4" y="33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92" name="Freeform 936"/>
              <p:cNvSpPr>
                <a:spLocks/>
              </p:cNvSpPr>
              <p:nvPr/>
            </p:nvSpPr>
            <p:spPr bwMode="auto">
              <a:xfrm>
                <a:off x="3241" y="2069"/>
                <a:ext cx="9" cy="12"/>
              </a:xfrm>
              <a:custGeom>
                <a:avLst/>
                <a:gdLst>
                  <a:gd name="T0" fmla="*/ 5 w 9"/>
                  <a:gd name="T1" fmla="*/ 12 h 12"/>
                  <a:gd name="T2" fmla="*/ 5 w 9"/>
                  <a:gd name="T3" fmla="*/ 12 h 12"/>
                  <a:gd name="T4" fmla="*/ 8 w 9"/>
                  <a:gd name="T5" fmla="*/ 11 h 12"/>
                  <a:gd name="T6" fmla="*/ 9 w 9"/>
                  <a:gd name="T7" fmla="*/ 9 h 12"/>
                  <a:gd name="T8" fmla="*/ 9 w 9"/>
                  <a:gd name="T9" fmla="*/ 8 h 12"/>
                  <a:gd name="T10" fmla="*/ 8 w 9"/>
                  <a:gd name="T11" fmla="*/ 4 h 12"/>
                  <a:gd name="T12" fmla="*/ 7 w 9"/>
                  <a:gd name="T13" fmla="*/ 3 h 12"/>
                  <a:gd name="T14" fmla="*/ 5 w 9"/>
                  <a:gd name="T15" fmla="*/ 2 h 12"/>
                  <a:gd name="T16" fmla="*/ 3 w 9"/>
                  <a:gd name="T17" fmla="*/ 1 h 12"/>
                  <a:gd name="T18" fmla="*/ 2 w 9"/>
                  <a:gd name="T19" fmla="*/ 0 h 12"/>
                  <a:gd name="T20" fmla="*/ 0 w 9"/>
                  <a:gd name="T21" fmla="*/ 2 h 12"/>
                  <a:gd name="T22" fmla="*/ 2 w 9"/>
                  <a:gd name="T23" fmla="*/ 2 h 12"/>
                  <a:gd name="T24" fmla="*/ 4 w 9"/>
                  <a:gd name="T25" fmla="*/ 3 h 12"/>
                  <a:gd name="T26" fmla="*/ 5 w 9"/>
                  <a:gd name="T27" fmla="*/ 4 h 12"/>
                  <a:gd name="T28" fmla="*/ 7 w 9"/>
                  <a:gd name="T29" fmla="*/ 7 h 12"/>
                  <a:gd name="T30" fmla="*/ 7 w 9"/>
                  <a:gd name="T31" fmla="*/ 8 h 12"/>
                  <a:gd name="T32" fmla="*/ 7 w 9"/>
                  <a:gd name="T33" fmla="*/ 9 h 12"/>
                  <a:gd name="T34" fmla="*/ 4 w 9"/>
                  <a:gd name="T35" fmla="*/ 11 h 12"/>
                  <a:gd name="T36" fmla="*/ 5 w 9"/>
                  <a:gd name="T37" fmla="*/ 12 h 1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12"/>
                  <a:gd name="T59" fmla="*/ 9 w 9"/>
                  <a:gd name="T60" fmla="*/ 12 h 1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12">
                    <a:moveTo>
                      <a:pt x="5" y="12"/>
                    </a:moveTo>
                    <a:lnTo>
                      <a:pt x="5" y="12"/>
                    </a:lnTo>
                    <a:lnTo>
                      <a:pt x="8" y="11"/>
                    </a:lnTo>
                    <a:lnTo>
                      <a:pt x="9" y="9"/>
                    </a:lnTo>
                    <a:lnTo>
                      <a:pt x="9" y="8"/>
                    </a:lnTo>
                    <a:lnTo>
                      <a:pt x="8" y="4"/>
                    </a:lnTo>
                    <a:lnTo>
                      <a:pt x="7" y="3"/>
                    </a:lnTo>
                    <a:lnTo>
                      <a:pt x="5" y="2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4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7" y="9"/>
                    </a:lnTo>
                    <a:lnTo>
                      <a:pt x="4" y="11"/>
                    </a:ln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93" name="Freeform 937"/>
              <p:cNvSpPr>
                <a:spLocks/>
              </p:cNvSpPr>
              <p:nvPr/>
            </p:nvSpPr>
            <p:spPr bwMode="auto">
              <a:xfrm>
                <a:off x="3143" y="2078"/>
                <a:ext cx="103" cy="47"/>
              </a:xfrm>
              <a:custGeom>
                <a:avLst/>
                <a:gdLst>
                  <a:gd name="T0" fmla="*/ 1 w 103"/>
                  <a:gd name="T1" fmla="*/ 47 h 47"/>
                  <a:gd name="T2" fmla="*/ 3 w 103"/>
                  <a:gd name="T3" fmla="*/ 46 h 47"/>
                  <a:gd name="T4" fmla="*/ 9 w 103"/>
                  <a:gd name="T5" fmla="*/ 44 h 47"/>
                  <a:gd name="T6" fmla="*/ 14 w 103"/>
                  <a:gd name="T7" fmla="*/ 40 h 47"/>
                  <a:gd name="T8" fmla="*/ 20 w 103"/>
                  <a:gd name="T9" fmla="*/ 38 h 47"/>
                  <a:gd name="T10" fmla="*/ 27 w 103"/>
                  <a:gd name="T11" fmla="*/ 35 h 47"/>
                  <a:gd name="T12" fmla="*/ 35 w 103"/>
                  <a:gd name="T13" fmla="*/ 32 h 47"/>
                  <a:gd name="T14" fmla="*/ 44 w 103"/>
                  <a:gd name="T15" fmla="*/ 28 h 47"/>
                  <a:gd name="T16" fmla="*/ 52 w 103"/>
                  <a:gd name="T17" fmla="*/ 24 h 47"/>
                  <a:gd name="T18" fmla="*/ 61 w 103"/>
                  <a:gd name="T19" fmla="*/ 20 h 47"/>
                  <a:gd name="T20" fmla="*/ 70 w 103"/>
                  <a:gd name="T21" fmla="*/ 17 h 47"/>
                  <a:gd name="T22" fmla="*/ 77 w 103"/>
                  <a:gd name="T23" fmla="*/ 14 h 47"/>
                  <a:gd name="T24" fmla="*/ 83 w 103"/>
                  <a:gd name="T25" fmla="*/ 10 h 47"/>
                  <a:gd name="T26" fmla="*/ 90 w 103"/>
                  <a:gd name="T27" fmla="*/ 6 h 47"/>
                  <a:gd name="T28" fmla="*/ 96 w 103"/>
                  <a:gd name="T29" fmla="*/ 4 h 47"/>
                  <a:gd name="T30" fmla="*/ 100 w 103"/>
                  <a:gd name="T31" fmla="*/ 3 h 47"/>
                  <a:gd name="T32" fmla="*/ 103 w 103"/>
                  <a:gd name="T33" fmla="*/ 1 h 47"/>
                  <a:gd name="T34" fmla="*/ 101 w 103"/>
                  <a:gd name="T35" fmla="*/ 0 h 47"/>
                  <a:gd name="T36" fmla="*/ 97 w 103"/>
                  <a:gd name="T37" fmla="*/ 2 h 47"/>
                  <a:gd name="T38" fmla="*/ 92 w 103"/>
                  <a:gd name="T39" fmla="*/ 4 h 47"/>
                  <a:gd name="T40" fmla="*/ 86 w 103"/>
                  <a:gd name="T41" fmla="*/ 6 h 47"/>
                  <a:gd name="T42" fmla="*/ 79 w 103"/>
                  <a:gd name="T43" fmla="*/ 10 h 47"/>
                  <a:gd name="T44" fmla="*/ 72 w 103"/>
                  <a:gd name="T45" fmla="*/ 14 h 47"/>
                  <a:gd name="T46" fmla="*/ 64 w 103"/>
                  <a:gd name="T47" fmla="*/ 17 h 47"/>
                  <a:gd name="T48" fmla="*/ 56 w 103"/>
                  <a:gd name="T49" fmla="*/ 20 h 47"/>
                  <a:gd name="T50" fmla="*/ 47 w 103"/>
                  <a:gd name="T51" fmla="*/ 24 h 47"/>
                  <a:gd name="T52" fmla="*/ 39 w 103"/>
                  <a:gd name="T53" fmla="*/ 29 h 47"/>
                  <a:gd name="T54" fmla="*/ 31 w 103"/>
                  <a:gd name="T55" fmla="*/ 32 h 47"/>
                  <a:gd name="T56" fmla="*/ 23 w 103"/>
                  <a:gd name="T57" fmla="*/ 35 h 47"/>
                  <a:gd name="T58" fmla="*/ 16 w 103"/>
                  <a:gd name="T59" fmla="*/ 38 h 47"/>
                  <a:gd name="T60" fmla="*/ 11 w 103"/>
                  <a:gd name="T61" fmla="*/ 40 h 47"/>
                  <a:gd name="T62" fmla="*/ 5 w 103"/>
                  <a:gd name="T63" fmla="*/ 44 h 47"/>
                  <a:gd name="T64" fmla="*/ 1 w 103"/>
                  <a:gd name="T65" fmla="*/ 45 h 47"/>
                  <a:gd name="T66" fmla="*/ 1 w 103"/>
                  <a:gd name="T67" fmla="*/ 47 h 4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7"/>
                  <a:gd name="T104" fmla="*/ 103 w 103"/>
                  <a:gd name="T105" fmla="*/ 47 h 4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7">
                    <a:moveTo>
                      <a:pt x="1" y="47"/>
                    </a:moveTo>
                    <a:lnTo>
                      <a:pt x="1" y="47"/>
                    </a:lnTo>
                    <a:lnTo>
                      <a:pt x="2" y="46"/>
                    </a:lnTo>
                    <a:lnTo>
                      <a:pt x="3" y="46"/>
                    </a:lnTo>
                    <a:lnTo>
                      <a:pt x="5" y="45"/>
                    </a:lnTo>
                    <a:lnTo>
                      <a:pt x="9" y="44"/>
                    </a:lnTo>
                    <a:lnTo>
                      <a:pt x="12" y="42"/>
                    </a:lnTo>
                    <a:lnTo>
                      <a:pt x="14" y="40"/>
                    </a:lnTo>
                    <a:lnTo>
                      <a:pt x="17" y="40"/>
                    </a:lnTo>
                    <a:lnTo>
                      <a:pt x="20" y="38"/>
                    </a:lnTo>
                    <a:lnTo>
                      <a:pt x="24" y="36"/>
                    </a:lnTo>
                    <a:lnTo>
                      <a:pt x="27" y="35"/>
                    </a:lnTo>
                    <a:lnTo>
                      <a:pt x="31" y="33"/>
                    </a:lnTo>
                    <a:lnTo>
                      <a:pt x="35" y="32"/>
                    </a:lnTo>
                    <a:lnTo>
                      <a:pt x="40" y="30"/>
                    </a:lnTo>
                    <a:lnTo>
                      <a:pt x="44" y="28"/>
                    </a:lnTo>
                    <a:lnTo>
                      <a:pt x="47" y="26"/>
                    </a:lnTo>
                    <a:lnTo>
                      <a:pt x="52" y="24"/>
                    </a:lnTo>
                    <a:lnTo>
                      <a:pt x="57" y="22"/>
                    </a:lnTo>
                    <a:lnTo>
                      <a:pt x="61" y="20"/>
                    </a:lnTo>
                    <a:lnTo>
                      <a:pt x="64" y="18"/>
                    </a:lnTo>
                    <a:lnTo>
                      <a:pt x="70" y="17"/>
                    </a:lnTo>
                    <a:lnTo>
                      <a:pt x="73" y="15"/>
                    </a:lnTo>
                    <a:lnTo>
                      <a:pt x="77" y="14"/>
                    </a:lnTo>
                    <a:lnTo>
                      <a:pt x="80" y="11"/>
                    </a:lnTo>
                    <a:lnTo>
                      <a:pt x="83" y="10"/>
                    </a:lnTo>
                    <a:lnTo>
                      <a:pt x="87" y="9"/>
                    </a:lnTo>
                    <a:lnTo>
                      <a:pt x="90" y="6"/>
                    </a:lnTo>
                    <a:lnTo>
                      <a:pt x="92" y="6"/>
                    </a:lnTo>
                    <a:lnTo>
                      <a:pt x="96" y="4"/>
                    </a:lnTo>
                    <a:lnTo>
                      <a:pt x="98" y="3"/>
                    </a:lnTo>
                    <a:lnTo>
                      <a:pt x="100" y="3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100" y="1"/>
                    </a:lnTo>
                    <a:lnTo>
                      <a:pt x="97" y="2"/>
                    </a:lnTo>
                    <a:lnTo>
                      <a:pt x="95" y="3"/>
                    </a:lnTo>
                    <a:lnTo>
                      <a:pt x="92" y="4"/>
                    </a:lnTo>
                    <a:lnTo>
                      <a:pt x="89" y="6"/>
                    </a:lnTo>
                    <a:lnTo>
                      <a:pt x="86" y="6"/>
                    </a:lnTo>
                    <a:lnTo>
                      <a:pt x="82" y="8"/>
                    </a:lnTo>
                    <a:lnTo>
                      <a:pt x="79" y="10"/>
                    </a:lnTo>
                    <a:lnTo>
                      <a:pt x="76" y="11"/>
                    </a:lnTo>
                    <a:lnTo>
                      <a:pt x="72" y="14"/>
                    </a:lnTo>
                    <a:lnTo>
                      <a:pt x="67" y="15"/>
                    </a:lnTo>
                    <a:lnTo>
                      <a:pt x="64" y="17"/>
                    </a:lnTo>
                    <a:lnTo>
                      <a:pt x="60" y="18"/>
                    </a:lnTo>
                    <a:lnTo>
                      <a:pt x="56" y="20"/>
                    </a:lnTo>
                    <a:lnTo>
                      <a:pt x="52" y="22"/>
                    </a:lnTo>
                    <a:lnTo>
                      <a:pt x="47" y="24"/>
                    </a:lnTo>
                    <a:lnTo>
                      <a:pt x="43" y="26"/>
                    </a:lnTo>
                    <a:lnTo>
                      <a:pt x="39" y="29"/>
                    </a:lnTo>
                    <a:lnTo>
                      <a:pt x="35" y="30"/>
                    </a:lnTo>
                    <a:lnTo>
                      <a:pt x="31" y="32"/>
                    </a:lnTo>
                    <a:lnTo>
                      <a:pt x="27" y="33"/>
                    </a:lnTo>
                    <a:lnTo>
                      <a:pt x="23" y="35"/>
                    </a:lnTo>
                    <a:lnTo>
                      <a:pt x="19" y="36"/>
                    </a:lnTo>
                    <a:lnTo>
                      <a:pt x="16" y="38"/>
                    </a:lnTo>
                    <a:lnTo>
                      <a:pt x="14" y="38"/>
                    </a:lnTo>
                    <a:lnTo>
                      <a:pt x="11" y="40"/>
                    </a:lnTo>
                    <a:lnTo>
                      <a:pt x="9" y="42"/>
                    </a:lnTo>
                    <a:lnTo>
                      <a:pt x="5" y="44"/>
                    </a:lnTo>
                    <a:lnTo>
                      <a:pt x="3" y="44"/>
                    </a:lnTo>
                    <a:lnTo>
                      <a:pt x="1" y="45"/>
                    </a:lnTo>
                    <a:lnTo>
                      <a:pt x="0" y="45"/>
                    </a:lnTo>
                    <a:lnTo>
                      <a:pt x="1" y="47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94" name="Freeform 938"/>
              <p:cNvSpPr>
                <a:spLocks/>
              </p:cNvSpPr>
              <p:nvPr/>
            </p:nvSpPr>
            <p:spPr bwMode="auto">
              <a:xfrm>
                <a:off x="3129" y="2120"/>
                <a:ext cx="14" cy="6"/>
              </a:xfrm>
              <a:custGeom>
                <a:avLst/>
                <a:gdLst>
                  <a:gd name="T0" fmla="*/ 0 w 14"/>
                  <a:gd name="T1" fmla="*/ 3 h 6"/>
                  <a:gd name="T2" fmla="*/ 0 w 14"/>
                  <a:gd name="T3" fmla="*/ 3 h 6"/>
                  <a:gd name="T4" fmla="*/ 1 w 14"/>
                  <a:gd name="T5" fmla="*/ 3 h 6"/>
                  <a:gd name="T6" fmla="*/ 3 w 14"/>
                  <a:gd name="T7" fmla="*/ 4 h 6"/>
                  <a:gd name="T8" fmla="*/ 7 w 14"/>
                  <a:gd name="T9" fmla="*/ 5 h 6"/>
                  <a:gd name="T10" fmla="*/ 7 w 14"/>
                  <a:gd name="T11" fmla="*/ 5 h 6"/>
                  <a:gd name="T12" fmla="*/ 10 w 14"/>
                  <a:gd name="T13" fmla="*/ 6 h 6"/>
                  <a:gd name="T14" fmla="*/ 11 w 14"/>
                  <a:gd name="T15" fmla="*/ 6 h 6"/>
                  <a:gd name="T16" fmla="*/ 13 w 14"/>
                  <a:gd name="T17" fmla="*/ 6 h 6"/>
                  <a:gd name="T18" fmla="*/ 14 w 14"/>
                  <a:gd name="T19" fmla="*/ 6 h 6"/>
                  <a:gd name="T20" fmla="*/ 13 w 14"/>
                  <a:gd name="T21" fmla="*/ 4 h 6"/>
                  <a:gd name="T22" fmla="*/ 11 w 14"/>
                  <a:gd name="T23" fmla="*/ 4 h 6"/>
                  <a:gd name="T24" fmla="*/ 10 w 14"/>
                  <a:gd name="T25" fmla="*/ 4 h 6"/>
                  <a:gd name="T26" fmla="*/ 9 w 14"/>
                  <a:gd name="T27" fmla="*/ 3 h 6"/>
                  <a:gd name="T28" fmla="*/ 7 w 14"/>
                  <a:gd name="T29" fmla="*/ 3 h 6"/>
                  <a:gd name="T30" fmla="*/ 3 w 14"/>
                  <a:gd name="T31" fmla="*/ 2 h 6"/>
                  <a:gd name="T32" fmla="*/ 2 w 14"/>
                  <a:gd name="T33" fmla="*/ 2 h 6"/>
                  <a:gd name="T34" fmla="*/ 1 w 14"/>
                  <a:gd name="T35" fmla="*/ 0 h 6"/>
                  <a:gd name="T36" fmla="*/ 0 w 14"/>
                  <a:gd name="T37" fmla="*/ 3 h 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6"/>
                  <a:gd name="T59" fmla="*/ 14 w 14"/>
                  <a:gd name="T60" fmla="*/ 6 h 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6">
                    <a:moveTo>
                      <a:pt x="0" y="3"/>
                    </a:moveTo>
                    <a:lnTo>
                      <a:pt x="0" y="3"/>
                    </a:lnTo>
                    <a:lnTo>
                      <a:pt x="1" y="3"/>
                    </a:lnTo>
                    <a:lnTo>
                      <a:pt x="3" y="4"/>
                    </a:lnTo>
                    <a:lnTo>
                      <a:pt x="7" y="5"/>
                    </a:lnTo>
                    <a:lnTo>
                      <a:pt x="10" y="6"/>
                    </a:lnTo>
                    <a:lnTo>
                      <a:pt x="11" y="6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3" y="4"/>
                    </a:lnTo>
                    <a:lnTo>
                      <a:pt x="11" y="4"/>
                    </a:lnTo>
                    <a:lnTo>
                      <a:pt x="10" y="4"/>
                    </a:lnTo>
                    <a:lnTo>
                      <a:pt x="9" y="3"/>
                    </a:lnTo>
                    <a:lnTo>
                      <a:pt x="7" y="3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1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95" name="Freeform 939"/>
              <p:cNvSpPr>
                <a:spLocks/>
              </p:cNvSpPr>
              <p:nvPr/>
            </p:nvSpPr>
            <p:spPr bwMode="auto">
              <a:xfrm>
                <a:off x="3015" y="2060"/>
                <a:ext cx="115" cy="63"/>
              </a:xfrm>
              <a:custGeom>
                <a:avLst/>
                <a:gdLst>
                  <a:gd name="T0" fmla="*/ 0 w 115"/>
                  <a:gd name="T1" fmla="*/ 2 h 63"/>
                  <a:gd name="T2" fmla="*/ 2 w 115"/>
                  <a:gd name="T3" fmla="*/ 3 h 63"/>
                  <a:gd name="T4" fmla="*/ 5 w 115"/>
                  <a:gd name="T5" fmla="*/ 4 h 63"/>
                  <a:gd name="T6" fmla="*/ 11 w 115"/>
                  <a:gd name="T7" fmla="*/ 7 h 63"/>
                  <a:gd name="T8" fmla="*/ 18 w 115"/>
                  <a:gd name="T9" fmla="*/ 12 h 63"/>
                  <a:gd name="T10" fmla="*/ 26 w 115"/>
                  <a:gd name="T11" fmla="*/ 16 h 63"/>
                  <a:gd name="T12" fmla="*/ 35 w 115"/>
                  <a:gd name="T13" fmla="*/ 21 h 63"/>
                  <a:gd name="T14" fmla="*/ 45 w 115"/>
                  <a:gd name="T15" fmla="*/ 25 h 63"/>
                  <a:gd name="T16" fmla="*/ 54 w 115"/>
                  <a:gd name="T17" fmla="*/ 31 h 63"/>
                  <a:gd name="T18" fmla="*/ 64 w 115"/>
                  <a:gd name="T19" fmla="*/ 37 h 63"/>
                  <a:gd name="T20" fmla="*/ 75 w 115"/>
                  <a:gd name="T21" fmla="*/ 41 h 63"/>
                  <a:gd name="T22" fmla="*/ 83 w 115"/>
                  <a:gd name="T23" fmla="*/ 47 h 63"/>
                  <a:gd name="T24" fmla="*/ 93 w 115"/>
                  <a:gd name="T25" fmla="*/ 52 h 63"/>
                  <a:gd name="T26" fmla="*/ 99 w 115"/>
                  <a:gd name="T27" fmla="*/ 55 h 63"/>
                  <a:gd name="T28" fmla="*/ 107 w 115"/>
                  <a:gd name="T29" fmla="*/ 58 h 63"/>
                  <a:gd name="T30" fmla="*/ 112 w 115"/>
                  <a:gd name="T31" fmla="*/ 62 h 63"/>
                  <a:gd name="T32" fmla="*/ 114 w 115"/>
                  <a:gd name="T33" fmla="*/ 63 h 63"/>
                  <a:gd name="T34" fmla="*/ 114 w 115"/>
                  <a:gd name="T35" fmla="*/ 60 h 63"/>
                  <a:gd name="T36" fmla="*/ 110 w 115"/>
                  <a:gd name="T37" fmla="*/ 58 h 63"/>
                  <a:gd name="T38" fmla="*/ 104 w 115"/>
                  <a:gd name="T39" fmla="*/ 55 h 63"/>
                  <a:gd name="T40" fmla="*/ 97 w 115"/>
                  <a:gd name="T41" fmla="*/ 52 h 63"/>
                  <a:gd name="T42" fmla="*/ 90 w 115"/>
                  <a:gd name="T43" fmla="*/ 47 h 63"/>
                  <a:gd name="T44" fmla="*/ 80 w 115"/>
                  <a:gd name="T45" fmla="*/ 42 h 63"/>
                  <a:gd name="T46" fmla="*/ 70 w 115"/>
                  <a:gd name="T47" fmla="*/ 37 h 63"/>
                  <a:gd name="T48" fmla="*/ 61 w 115"/>
                  <a:gd name="T49" fmla="*/ 33 h 63"/>
                  <a:gd name="T50" fmla="*/ 51 w 115"/>
                  <a:gd name="T51" fmla="*/ 26 h 63"/>
                  <a:gd name="T52" fmla="*/ 41 w 115"/>
                  <a:gd name="T53" fmla="*/ 21 h 63"/>
                  <a:gd name="T54" fmla="*/ 32 w 115"/>
                  <a:gd name="T55" fmla="*/ 17 h 63"/>
                  <a:gd name="T56" fmla="*/ 23 w 115"/>
                  <a:gd name="T57" fmla="*/ 12 h 63"/>
                  <a:gd name="T58" fmla="*/ 16 w 115"/>
                  <a:gd name="T59" fmla="*/ 7 h 63"/>
                  <a:gd name="T60" fmla="*/ 8 w 115"/>
                  <a:gd name="T61" fmla="*/ 4 h 63"/>
                  <a:gd name="T62" fmla="*/ 4 w 115"/>
                  <a:gd name="T63" fmla="*/ 2 h 63"/>
                  <a:gd name="T64" fmla="*/ 1 w 115"/>
                  <a:gd name="T65" fmla="*/ 0 h 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3"/>
                  <a:gd name="T101" fmla="*/ 115 w 115"/>
                  <a:gd name="T102" fmla="*/ 63 h 6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3">
                    <a:moveTo>
                      <a:pt x="0" y="2"/>
                    </a:moveTo>
                    <a:lnTo>
                      <a:pt x="0" y="2"/>
                    </a:lnTo>
                    <a:lnTo>
                      <a:pt x="1" y="2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5" y="4"/>
                    </a:lnTo>
                    <a:lnTo>
                      <a:pt x="7" y="6"/>
                    </a:lnTo>
                    <a:lnTo>
                      <a:pt x="11" y="7"/>
                    </a:lnTo>
                    <a:lnTo>
                      <a:pt x="15" y="9"/>
                    </a:lnTo>
                    <a:lnTo>
                      <a:pt x="18" y="12"/>
                    </a:lnTo>
                    <a:lnTo>
                      <a:pt x="22" y="12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1"/>
                    </a:lnTo>
                    <a:lnTo>
                      <a:pt x="39" y="23"/>
                    </a:lnTo>
                    <a:lnTo>
                      <a:pt x="45" y="25"/>
                    </a:lnTo>
                    <a:lnTo>
                      <a:pt x="49" y="27"/>
                    </a:lnTo>
                    <a:lnTo>
                      <a:pt x="54" y="31"/>
                    </a:lnTo>
                    <a:lnTo>
                      <a:pt x="60" y="34"/>
                    </a:lnTo>
                    <a:lnTo>
                      <a:pt x="64" y="37"/>
                    </a:lnTo>
                    <a:lnTo>
                      <a:pt x="70" y="39"/>
                    </a:lnTo>
                    <a:lnTo>
                      <a:pt x="75" y="41"/>
                    </a:lnTo>
                    <a:lnTo>
                      <a:pt x="79" y="43"/>
                    </a:lnTo>
                    <a:lnTo>
                      <a:pt x="83" y="47"/>
                    </a:lnTo>
                    <a:lnTo>
                      <a:pt x="88" y="50"/>
                    </a:lnTo>
                    <a:lnTo>
                      <a:pt x="93" y="52"/>
                    </a:lnTo>
                    <a:lnTo>
                      <a:pt x="96" y="54"/>
                    </a:lnTo>
                    <a:lnTo>
                      <a:pt x="99" y="55"/>
                    </a:lnTo>
                    <a:lnTo>
                      <a:pt x="102" y="57"/>
                    </a:lnTo>
                    <a:lnTo>
                      <a:pt x="107" y="58"/>
                    </a:lnTo>
                    <a:lnTo>
                      <a:pt x="110" y="60"/>
                    </a:lnTo>
                    <a:lnTo>
                      <a:pt x="112" y="62"/>
                    </a:lnTo>
                    <a:lnTo>
                      <a:pt x="113" y="62"/>
                    </a:lnTo>
                    <a:lnTo>
                      <a:pt x="114" y="63"/>
                    </a:lnTo>
                    <a:lnTo>
                      <a:pt x="115" y="62"/>
                    </a:lnTo>
                    <a:lnTo>
                      <a:pt x="114" y="60"/>
                    </a:lnTo>
                    <a:lnTo>
                      <a:pt x="112" y="59"/>
                    </a:lnTo>
                    <a:lnTo>
                      <a:pt x="110" y="58"/>
                    </a:lnTo>
                    <a:lnTo>
                      <a:pt x="107" y="57"/>
                    </a:lnTo>
                    <a:lnTo>
                      <a:pt x="104" y="55"/>
                    </a:lnTo>
                    <a:lnTo>
                      <a:pt x="100" y="54"/>
                    </a:lnTo>
                    <a:lnTo>
                      <a:pt x="97" y="52"/>
                    </a:lnTo>
                    <a:lnTo>
                      <a:pt x="94" y="50"/>
                    </a:lnTo>
                    <a:lnTo>
                      <a:pt x="90" y="47"/>
                    </a:lnTo>
                    <a:lnTo>
                      <a:pt x="84" y="44"/>
                    </a:lnTo>
                    <a:lnTo>
                      <a:pt x="80" y="42"/>
                    </a:lnTo>
                    <a:lnTo>
                      <a:pt x="76" y="40"/>
                    </a:lnTo>
                    <a:lnTo>
                      <a:pt x="70" y="37"/>
                    </a:lnTo>
                    <a:lnTo>
                      <a:pt x="65" y="35"/>
                    </a:lnTo>
                    <a:lnTo>
                      <a:pt x="61" y="33"/>
                    </a:lnTo>
                    <a:lnTo>
                      <a:pt x="55" y="28"/>
                    </a:lnTo>
                    <a:lnTo>
                      <a:pt x="51" y="26"/>
                    </a:lnTo>
                    <a:lnTo>
                      <a:pt x="46" y="24"/>
                    </a:lnTo>
                    <a:lnTo>
                      <a:pt x="41" y="21"/>
                    </a:lnTo>
                    <a:lnTo>
                      <a:pt x="36" y="19"/>
                    </a:lnTo>
                    <a:lnTo>
                      <a:pt x="32" y="17"/>
                    </a:lnTo>
                    <a:lnTo>
                      <a:pt x="27" y="15"/>
                    </a:lnTo>
                    <a:lnTo>
                      <a:pt x="23" y="12"/>
                    </a:lnTo>
                    <a:lnTo>
                      <a:pt x="19" y="9"/>
                    </a:lnTo>
                    <a:lnTo>
                      <a:pt x="16" y="7"/>
                    </a:lnTo>
                    <a:lnTo>
                      <a:pt x="13" y="6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96" name="Freeform 940"/>
              <p:cNvSpPr>
                <a:spLocks/>
              </p:cNvSpPr>
              <p:nvPr/>
            </p:nvSpPr>
            <p:spPr bwMode="auto">
              <a:xfrm>
                <a:off x="3003" y="2051"/>
                <a:ext cx="13" cy="11"/>
              </a:xfrm>
              <a:custGeom>
                <a:avLst/>
                <a:gdLst>
                  <a:gd name="T0" fmla="*/ 0 w 13"/>
                  <a:gd name="T1" fmla="*/ 1 h 11"/>
                  <a:gd name="T2" fmla="*/ 0 w 13"/>
                  <a:gd name="T3" fmla="*/ 1 h 11"/>
                  <a:gd name="T4" fmla="*/ 1 w 13"/>
                  <a:gd name="T5" fmla="*/ 3 h 11"/>
                  <a:gd name="T6" fmla="*/ 2 w 13"/>
                  <a:gd name="T7" fmla="*/ 5 h 11"/>
                  <a:gd name="T8" fmla="*/ 5 w 13"/>
                  <a:gd name="T9" fmla="*/ 5 h 11"/>
                  <a:gd name="T10" fmla="*/ 7 w 13"/>
                  <a:gd name="T11" fmla="*/ 8 h 11"/>
                  <a:gd name="T12" fmla="*/ 8 w 13"/>
                  <a:gd name="T13" fmla="*/ 9 h 11"/>
                  <a:gd name="T14" fmla="*/ 9 w 13"/>
                  <a:gd name="T15" fmla="*/ 9 h 11"/>
                  <a:gd name="T16" fmla="*/ 11 w 13"/>
                  <a:gd name="T17" fmla="*/ 10 h 11"/>
                  <a:gd name="T18" fmla="*/ 12 w 13"/>
                  <a:gd name="T19" fmla="*/ 11 h 11"/>
                  <a:gd name="T20" fmla="*/ 13 w 13"/>
                  <a:gd name="T21" fmla="*/ 9 h 11"/>
                  <a:gd name="T22" fmla="*/ 11 w 13"/>
                  <a:gd name="T23" fmla="*/ 9 h 11"/>
                  <a:gd name="T24" fmla="*/ 10 w 13"/>
                  <a:gd name="T25" fmla="*/ 8 h 11"/>
                  <a:gd name="T26" fmla="*/ 9 w 13"/>
                  <a:gd name="T27" fmla="*/ 5 h 11"/>
                  <a:gd name="T28" fmla="*/ 8 w 13"/>
                  <a:gd name="T29" fmla="*/ 5 h 11"/>
                  <a:gd name="T30" fmla="*/ 7 w 13"/>
                  <a:gd name="T31" fmla="*/ 5 h 11"/>
                  <a:gd name="T32" fmla="*/ 5 w 13"/>
                  <a:gd name="T33" fmla="*/ 3 h 11"/>
                  <a:gd name="T34" fmla="*/ 2 w 13"/>
                  <a:gd name="T35" fmla="*/ 1 h 11"/>
                  <a:gd name="T36" fmla="*/ 1 w 13"/>
                  <a:gd name="T37" fmla="*/ 0 h 11"/>
                  <a:gd name="T38" fmla="*/ 0 w 13"/>
                  <a:gd name="T39" fmla="*/ 1 h 1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11"/>
                  <a:gd name="T62" fmla="*/ 13 w 13"/>
                  <a:gd name="T63" fmla="*/ 11 h 1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11">
                    <a:moveTo>
                      <a:pt x="0" y="1"/>
                    </a:moveTo>
                    <a:lnTo>
                      <a:pt x="0" y="1"/>
                    </a:lnTo>
                    <a:lnTo>
                      <a:pt x="1" y="3"/>
                    </a:lnTo>
                    <a:lnTo>
                      <a:pt x="2" y="5"/>
                    </a:lnTo>
                    <a:lnTo>
                      <a:pt x="5" y="5"/>
                    </a:lnTo>
                    <a:lnTo>
                      <a:pt x="7" y="8"/>
                    </a:lnTo>
                    <a:lnTo>
                      <a:pt x="8" y="9"/>
                    </a:lnTo>
                    <a:lnTo>
                      <a:pt x="9" y="9"/>
                    </a:lnTo>
                    <a:lnTo>
                      <a:pt x="11" y="10"/>
                    </a:lnTo>
                    <a:lnTo>
                      <a:pt x="12" y="11"/>
                    </a:lnTo>
                    <a:lnTo>
                      <a:pt x="13" y="9"/>
                    </a:lnTo>
                    <a:lnTo>
                      <a:pt x="11" y="9"/>
                    </a:lnTo>
                    <a:lnTo>
                      <a:pt x="10" y="8"/>
                    </a:lnTo>
                    <a:lnTo>
                      <a:pt x="9" y="5"/>
                    </a:lnTo>
                    <a:lnTo>
                      <a:pt x="8" y="5"/>
                    </a:lnTo>
                    <a:lnTo>
                      <a:pt x="7" y="5"/>
                    </a:lnTo>
                    <a:lnTo>
                      <a:pt x="5" y="3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97" name="Freeform 941"/>
              <p:cNvSpPr>
                <a:spLocks/>
              </p:cNvSpPr>
              <p:nvPr/>
            </p:nvSpPr>
            <p:spPr bwMode="auto">
              <a:xfrm>
                <a:off x="3132" y="2083"/>
                <a:ext cx="10" cy="41"/>
              </a:xfrm>
              <a:custGeom>
                <a:avLst/>
                <a:gdLst>
                  <a:gd name="T0" fmla="*/ 10 w 10"/>
                  <a:gd name="T1" fmla="*/ 41 h 41"/>
                  <a:gd name="T2" fmla="*/ 8 w 10"/>
                  <a:gd name="T3" fmla="*/ 41 h 41"/>
                  <a:gd name="T4" fmla="*/ 7 w 10"/>
                  <a:gd name="T5" fmla="*/ 40 h 41"/>
                  <a:gd name="T6" fmla="*/ 6 w 10"/>
                  <a:gd name="T7" fmla="*/ 39 h 41"/>
                  <a:gd name="T8" fmla="*/ 4 w 10"/>
                  <a:gd name="T9" fmla="*/ 36 h 41"/>
                  <a:gd name="T10" fmla="*/ 4 w 10"/>
                  <a:gd name="T11" fmla="*/ 33 h 41"/>
                  <a:gd name="T12" fmla="*/ 2 w 10"/>
                  <a:gd name="T13" fmla="*/ 30 h 41"/>
                  <a:gd name="T14" fmla="*/ 0 w 10"/>
                  <a:gd name="T15" fmla="*/ 27 h 41"/>
                  <a:gd name="T16" fmla="*/ 0 w 10"/>
                  <a:gd name="T17" fmla="*/ 25 h 41"/>
                  <a:gd name="T18" fmla="*/ 0 w 10"/>
                  <a:gd name="T19" fmla="*/ 20 h 41"/>
                  <a:gd name="T20" fmla="*/ 0 w 10"/>
                  <a:gd name="T21" fmla="*/ 17 h 41"/>
                  <a:gd name="T22" fmla="*/ 0 w 10"/>
                  <a:gd name="T23" fmla="*/ 13 h 41"/>
                  <a:gd name="T24" fmla="*/ 2 w 10"/>
                  <a:gd name="T25" fmla="*/ 9 h 41"/>
                  <a:gd name="T26" fmla="*/ 4 w 10"/>
                  <a:gd name="T27" fmla="*/ 5 h 41"/>
                  <a:gd name="T28" fmla="*/ 4 w 10"/>
                  <a:gd name="T29" fmla="*/ 3 h 41"/>
                  <a:gd name="T30" fmla="*/ 6 w 10"/>
                  <a:gd name="T31" fmla="*/ 1 h 41"/>
                  <a:gd name="T32" fmla="*/ 8 w 10"/>
                  <a:gd name="T33" fmla="*/ 0 h 41"/>
                  <a:gd name="T34" fmla="*/ 10 w 10"/>
                  <a:gd name="T35" fmla="*/ 41 h 4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"/>
                  <a:gd name="T55" fmla="*/ 0 h 41"/>
                  <a:gd name="T56" fmla="*/ 10 w 10"/>
                  <a:gd name="T57" fmla="*/ 41 h 4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" h="41">
                    <a:moveTo>
                      <a:pt x="10" y="41"/>
                    </a:moveTo>
                    <a:lnTo>
                      <a:pt x="8" y="41"/>
                    </a:lnTo>
                    <a:lnTo>
                      <a:pt x="7" y="40"/>
                    </a:lnTo>
                    <a:lnTo>
                      <a:pt x="6" y="39"/>
                    </a:lnTo>
                    <a:lnTo>
                      <a:pt x="4" y="36"/>
                    </a:lnTo>
                    <a:lnTo>
                      <a:pt x="4" y="33"/>
                    </a:lnTo>
                    <a:lnTo>
                      <a:pt x="2" y="30"/>
                    </a:lnTo>
                    <a:lnTo>
                      <a:pt x="0" y="27"/>
                    </a:lnTo>
                    <a:lnTo>
                      <a:pt x="0" y="25"/>
                    </a:lnTo>
                    <a:lnTo>
                      <a:pt x="0" y="20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2" y="9"/>
                    </a:lnTo>
                    <a:lnTo>
                      <a:pt x="4" y="5"/>
                    </a:lnTo>
                    <a:lnTo>
                      <a:pt x="4" y="3"/>
                    </a:lnTo>
                    <a:lnTo>
                      <a:pt x="6" y="1"/>
                    </a:lnTo>
                    <a:lnTo>
                      <a:pt x="8" y="0"/>
                    </a:lnTo>
                    <a:lnTo>
                      <a:pt x="1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98" name="Freeform 942"/>
              <p:cNvSpPr>
                <a:spLocks/>
              </p:cNvSpPr>
              <p:nvPr/>
            </p:nvSpPr>
            <p:spPr bwMode="auto">
              <a:xfrm>
                <a:off x="3132" y="2108"/>
                <a:ext cx="10" cy="17"/>
              </a:xfrm>
              <a:custGeom>
                <a:avLst/>
                <a:gdLst>
                  <a:gd name="T0" fmla="*/ 0 w 10"/>
                  <a:gd name="T1" fmla="*/ 0 h 17"/>
                  <a:gd name="T2" fmla="*/ 0 w 10"/>
                  <a:gd name="T3" fmla="*/ 0 h 17"/>
                  <a:gd name="T4" fmla="*/ 0 w 10"/>
                  <a:gd name="T5" fmla="*/ 2 h 17"/>
                  <a:gd name="T6" fmla="*/ 2 w 10"/>
                  <a:gd name="T7" fmla="*/ 5 h 17"/>
                  <a:gd name="T8" fmla="*/ 2 w 10"/>
                  <a:gd name="T9" fmla="*/ 8 h 17"/>
                  <a:gd name="T10" fmla="*/ 3 w 10"/>
                  <a:gd name="T11" fmla="*/ 10 h 17"/>
                  <a:gd name="T12" fmla="*/ 5 w 10"/>
                  <a:gd name="T13" fmla="*/ 14 h 17"/>
                  <a:gd name="T14" fmla="*/ 6 w 10"/>
                  <a:gd name="T15" fmla="*/ 16 h 17"/>
                  <a:gd name="T16" fmla="*/ 8 w 10"/>
                  <a:gd name="T17" fmla="*/ 17 h 17"/>
                  <a:gd name="T18" fmla="*/ 10 w 10"/>
                  <a:gd name="T19" fmla="*/ 17 h 17"/>
                  <a:gd name="T20" fmla="*/ 10 w 10"/>
                  <a:gd name="T21" fmla="*/ 15 h 17"/>
                  <a:gd name="T22" fmla="*/ 8 w 10"/>
                  <a:gd name="T23" fmla="*/ 15 h 17"/>
                  <a:gd name="T24" fmla="*/ 7 w 10"/>
                  <a:gd name="T25" fmla="*/ 14 h 17"/>
                  <a:gd name="T26" fmla="*/ 6 w 10"/>
                  <a:gd name="T27" fmla="*/ 12 h 17"/>
                  <a:gd name="T28" fmla="*/ 5 w 10"/>
                  <a:gd name="T29" fmla="*/ 10 h 17"/>
                  <a:gd name="T30" fmla="*/ 4 w 10"/>
                  <a:gd name="T31" fmla="*/ 8 h 17"/>
                  <a:gd name="T32" fmla="*/ 3 w 10"/>
                  <a:gd name="T33" fmla="*/ 5 h 17"/>
                  <a:gd name="T34" fmla="*/ 3 w 10"/>
                  <a:gd name="T35" fmla="*/ 2 h 17"/>
                  <a:gd name="T36" fmla="*/ 3 w 10"/>
                  <a:gd name="T37" fmla="*/ 0 h 17"/>
                  <a:gd name="T38" fmla="*/ 0 w 10"/>
                  <a:gd name="T39" fmla="*/ 0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"/>
                  <a:gd name="T61" fmla="*/ 0 h 17"/>
                  <a:gd name="T62" fmla="*/ 10 w 10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" h="17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5"/>
                    </a:lnTo>
                    <a:lnTo>
                      <a:pt x="2" y="8"/>
                    </a:lnTo>
                    <a:lnTo>
                      <a:pt x="3" y="10"/>
                    </a:lnTo>
                    <a:lnTo>
                      <a:pt x="5" y="14"/>
                    </a:lnTo>
                    <a:lnTo>
                      <a:pt x="6" y="16"/>
                    </a:lnTo>
                    <a:lnTo>
                      <a:pt x="8" y="17"/>
                    </a:lnTo>
                    <a:lnTo>
                      <a:pt x="10" y="17"/>
                    </a:lnTo>
                    <a:lnTo>
                      <a:pt x="10" y="15"/>
                    </a:lnTo>
                    <a:lnTo>
                      <a:pt x="8" y="15"/>
                    </a:lnTo>
                    <a:lnTo>
                      <a:pt x="7" y="14"/>
                    </a:lnTo>
                    <a:lnTo>
                      <a:pt x="6" y="12"/>
                    </a:lnTo>
                    <a:lnTo>
                      <a:pt x="5" y="10"/>
                    </a:lnTo>
                    <a:lnTo>
                      <a:pt x="4" y="8"/>
                    </a:lnTo>
                    <a:lnTo>
                      <a:pt x="3" y="5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99" name="Freeform 943"/>
              <p:cNvSpPr>
                <a:spLocks/>
              </p:cNvSpPr>
              <p:nvPr/>
            </p:nvSpPr>
            <p:spPr bwMode="auto">
              <a:xfrm>
                <a:off x="3132" y="2082"/>
                <a:ext cx="9" cy="26"/>
              </a:xfrm>
              <a:custGeom>
                <a:avLst/>
                <a:gdLst>
                  <a:gd name="T0" fmla="*/ 8 w 9"/>
                  <a:gd name="T1" fmla="*/ 0 h 26"/>
                  <a:gd name="T2" fmla="*/ 6 w 9"/>
                  <a:gd name="T3" fmla="*/ 2 h 26"/>
                  <a:gd name="T4" fmla="*/ 4 w 9"/>
                  <a:gd name="T5" fmla="*/ 3 h 26"/>
                  <a:gd name="T6" fmla="*/ 3 w 9"/>
                  <a:gd name="T7" fmla="*/ 6 h 26"/>
                  <a:gd name="T8" fmla="*/ 2 w 9"/>
                  <a:gd name="T9" fmla="*/ 10 h 26"/>
                  <a:gd name="T10" fmla="*/ 0 w 9"/>
                  <a:gd name="T11" fmla="*/ 14 h 26"/>
                  <a:gd name="T12" fmla="*/ 0 w 9"/>
                  <a:gd name="T13" fmla="*/ 17 h 26"/>
                  <a:gd name="T14" fmla="*/ 0 w 9"/>
                  <a:gd name="T15" fmla="*/ 21 h 26"/>
                  <a:gd name="T16" fmla="*/ 0 w 9"/>
                  <a:gd name="T17" fmla="*/ 26 h 26"/>
                  <a:gd name="T18" fmla="*/ 3 w 9"/>
                  <a:gd name="T19" fmla="*/ 26 h 26"/>
                  <a:gd name="T20" fmla="*/ 3 w 9"/>
                  <a:gd name="T21" fmla="*/ 21 h 26"/>
                  <a:gd name="T22" fmla="*/ 3 w 9"/>
                  <a:gd name="T23" fmla="*/ 17 h 26"/>
                  <a:gd name="T24" fmla="*/ 3 w 9"/>
                  <a:gd name="T25" fmla="*/ 14 h 26"/>
                  <a:gd name="T26" fmla="*/ 4 w 9"/>
                  <a:gd name="T27" fmla="*/ 10 h 26"/>
                  <a:gd name="T28" fmla="*/ 4 w 9"/>
                  <a:gd name="T29" fmla="*/ 6 h 26"/>
                  <a:gd name="T30" fmla="*/ 6 w 9"/>
                  <a:gd name="T31" fmla="*/ 4 h 26"/>
                  <a:gd name="T32" fmla="*/ 7 w 9"/>
                  <a:gd name="T33" fmla="*/ 3 h 26"/>
                  <a:gd name="T34" fmla="*/ 9 w 9"/>
                  <a:gd name="T35" fmla="*/ 2 h 26"/>
                  <a:gd name="T36" fmla="*/ 8 w 9"/>
                  <a:gd name="T37" fmla="*/ 0 h 2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26"/>
                  <a:gd name="T59" fmla="*/ 9 w 9"/>
                  <a:gd name="T60" fmla="*/ 26 h 2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26">
                    <a:moveTo>
                      <a:pt x="8" y="0"/>
                    </a:moveTo>
                    <a:lnTo>
                      <a:pt x="6" y="2"/>
                    </a:lnTo>
                    <a:lnTo>
                      <a:pt x="4" y="3"/>
                    </a:lnTo>
                    <a:lnTo>
                      <a:pt x="3" y="6"/>
                    </a:lnTo>
                    <a:lnTo>
                      <a:pt x="2" y="10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0" y="21"/>
                    </a:lnTo>
                    <a:lnTo>
                      <a:pt x="0" y="26"/>
                    </a:lnTo>
                    <a:lnTo>
                      <a:pt x="3" y="26"/>
                    </a:lnTo>
                    <a:lnTo>
                      <a:pt x="3" y="21"/>
                    </a:lnTo>
                    <a:lnTo>
                      <a:pt x="3" y="17"/>
                    </a:lnTo>
                    <a:lnTo>
                      <a:pt x="3" y="14"/>
                    </a:lnTo>
                    <a:lnTo>
                      <a:pt x="4" y="10"/>
                    </a:lnTo>
                    <a:lnTo>
                      <a:pt x="4" y="6"/>
                    </a:lnTo>
                    <a:lnTo>
                      <a:pt x="6" y="4"/>
                    </a:lnTo>
                    <a:lnTo>
                      <a:pt x="7" y="3"/>
                    </a:lnTo>
                    <a:lnTo>
                      <a:pt x="9" y="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00" name="Freeform 944"/>
              <p:cNvSpPr>
                <a:spLocks/>
              </p:cNvSpPr>
              <p:nvPr/>
            </p:nvSpPr>
            <p:spPr bwMode="auto">
              <a:xfrm>
                <a:off x="3011" y="1968"/>
                <a:ext cx="239" cy="115"/>
              </a:xfrm>
              <a:custGeom>
                <a:avLst/>
                <a:gdLst>
                  <a:gd name="T0" fmla="*/ 8 w 239"/>
                  <a:gd name="T1" fmla="*/ 41 h 115"/>
                  <a:gd name="T2" fmla="*/ 24 w 239"/>
                  <a:gd name="T3" fmla="*/ 34 h 115"/>
                  <a:gd name="T4" fmla="*/ 45 w 239"/>
                  <a:gd name="T5" fmla="*/ 23 h 115"/>
                  <a:gd name="T6" fmla="*/ 67 w 239"/>
                  <a:gd name="T7" fmla="*/ 14 h 115"/>
                  <a:gd name="T8" fmla="*/ 85 w 239"/>
                  <a:gd name="T9" fmla="*/ 4 h 115"/>
                  <a:gd name="T10" fmla="*/ 94 w 239"/>
                  <a:gd name="T11" fmla="*/ 0 h 115"/>
                  <a:gd name="T12" fmla="*/ 99 w 239"/>
                  <a:gd name="T13" fmla="*/ 0 h 115"/>
                  <a:gd name="T14" fmla="*/ 104 w 239"/>
                  <a:gd name="T15" fmla="*/ 1 h 115"/>
                  <a:gd name="T16" fmla="*/ 108 w 239"/>
                  <a:gd name="T17" fmla="*/ 2 h 115"/>
                  <a:gd name="T18" fmla="*/ 114 w 239"/>
                  <a:gd name="T19" fmla="*/ 5 h 115"/>
                  <a:gd name="T20" fmla="*/ 126 w 239"/>
                  <a:gd name="T21" fmla="*/ 10 h 115"/>
                  <a:gd name="T22" fmla="*/ 140 w 239"/>
                  <a:gd name="T23" fmla="*/ 18 h 115"/>
                  <a:gd name="T24" fmla="*/ 155 w 239"/>
                  <a:gd name="T25" fmla="*/ 24 h 115"/>
                  <a:gd name="T26" fmla="*/ 172 w 239"/>
                  <a:gd name="T27" fmla="*/ 33 h 115"/>
                  <a:gd name="T28" fmla="*/ 188 w 239"/>
                  <a:gd name="T29" fmla="*/ 40 h 115"/>
                  <a:gd name="T30" fmla="*/ 204 w 239"/>
                  <a:gd name="T31" fmla="*/ 48 h 115"/>
                  <a:gd name="T32" fmla="*/ 217 w 239"/>
                  <a:gd name="T33" fmla="*/ 53 h 115"/>
                  <a:gd name="T34" fmla="*/ 226 w 239"/>
                  <a:gd name="T35" fmla="*/ 57 h 115"/>
                  <a:gd name="T36" fmla="*/ 233 w 239"/>
                  <a:gd name="T37" fmla="*/ 61 h 115"/>
                  <a:gd name="T38" fmla="*/ 237 w 239"/>
                  <a:gd name="T39" fmla="*/ 63 h 115"/>
                  <a:gd name="T40" fmla="*/ 239 w 239"/>
                  <a:gd name="T41" fmla="*/ 67 h 115"/>
                  <a:gd name="T42" fmla="*/ 235 w 239"/>
                  <a:gd name="T43" fmla="*/ 71 h 115"/>
                  <a:gd name="T44" fmla="*/ 228 w 239"/>
                  <a:gd name="T45" fmla="*/ 73 h 115"/>
                  <a:gd name="T46" fmla="*/ 220 w 239"/>
                  <a:gd name="T47" fmla="*/ 77 h 115"/>
                  <a:gd name="T48" fmla="*/ 209 w 239"/>
                  <a:gd name="T49" fmla="*/ 81 h 115"/>
                  <a:gd name="T50" fmla="*/ 197 w 239"/>
                  <a:gd name="T51" fmla="*/ 87 h 115"/>
                  <a:gd name="T52" fmla="*/ 184 w 239"/>
                  <a:gd name="T53" fmla="*/ 93 h 115"/>
                  <a:gd name="T54" fmla="*/ 172 w 239"/>
                  <a:gd name="T55" fmla="*/ 98 h 115"/>
                  <a:gd name="T56" fmla="*/ 160 w 239"/>
                  <a:gd name="T57" fmla="*/ 104 h 115"/>
                  <a:gd name="T58" fmla="*/ 149 w 239"/>
                  <a:gd name="T59" fmla="*/ 109 h 115"/>
                  <a:gd name="T60" fmla="*/ 141 w 239"/>
                  <a:gd name="T61" fmla="*/ 112 h 115"/>
                  <a:gd name="T62" fmla="*/ 134 w 239"/>
                  <a:gd name="T63" fmla="*/ 114 h 115"/>
                  <a:gd name="T64" fmla="*/ 130 w 239"/>
                  <a:gd name="T65" fmla="*/ 115 h 115"/>
                  <a:gd name="T66" fmla="*/ 125 w 239"/>
                  <a:gd name="T67" fmla="*/ 114 h 115"/>
                  <a:gd name="T68" fmla="*/ 120 w 239"/>
                  <a:gd name="T69" fmla="*/ 112 h 115"/>
                  <a:gd name="T70" fmla="*/ 114 w 239"/>
                  <a:gd name="T71" fmla="*/ 110 h 115"/>
                  <a:gd name="T72" fmla="*/ 105 w 239"/>
                  <a:gd name="T73" fmla="*/ 104 h 115"/>
                  <a:gd name="T74" fmla="*/ 94 w 239"/>
                  <a:gd name="T75" fmla="*/ 98 h 115"/>
                  <a:gd name="T76" fmla="*/ 80 w 239"/>
                  <a:gd name="T77" fmla="*/ 91 h 115"/>
                  <a:gd name="T78" fmla="*/ 66 w 239"/>
                  <a:gd name="T79" fmla="*/ 82 h 115"/>
                  <a:gd name="T80" fmla="*/ 51 w 239"/>
                  <a:gd name="T81" fmla="*/ 74 h 115"/>
                  <a:gd name="T82" fmla="*/ 36 w 239"/>
                  <a:gd name="T83" fmla="*/ 67 h 115"/>
                  <a:gd name="T84" fmla="*/ 23 w 239"/>
                  <a:gd name="T85" fmla="*/ 61 h 115"/>
                  <a:gd name="T86" fmla="*/ 14 w 239"/>
                  <a:gd name="T87" fmla="*/ 55 h 115"/>
                  <a:gd name="T88" fmla="*/ 8 w 239"/>
                  <a:gd name="T89" fmla="*/ 52 h 115"/>
                  <a:gd name="T90" fmla="*/ 3 w 239"/>
                  <a:gd name="T91" fmla="*/ 50 h 115"/>
                  <a:gd name="T92" fmla="*/ 0 w 239"/>
                  <a:gd name="T93" fmla="*/ 48 h 115"/>
                  <a:gd name="T94" fmla="*/ 4 w 239"/>
                  <a:gd name="T95" fmla="*/ 44 h 11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39"/>
                  <a:gd name="T145" fmla="*/ 0 h 115"/>
                  <a:gd name="T146" fmla="*/ 239 w 239"/>
                  <a:gd name="T147" fmla="*/ 115 h 115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39" h="115">
                    <a:moveTo>
                      <a:pt x="4" y="44"/>
                    </a:moveTo>
                    <a:lnTo>
                      <a:pt x="5" y="44"/>
                    </a:lnTo>
                    <a:lnTo>
                      <a:pt x="8" y="41"/>
                    </a:lnTo>
                    <a:lnTo>
                      <a:pt x="14" y="39"/>
                    </a:lnTo>
                    <a:lnTo>
                      <a:pt x="18" y="37"/>
                    </a:lnTo>
                    <a:lnTo>
                      <a:pt x="24" y="34"/>
                    </a:lnTo>
                    <a:lnTo>
                      <a:pt x="31" y="32"/>
                    </a:lnTo>
                    <a:lnTo>
                      <a:pt x="37" y="27"/>
                    </a:lnTo>
                    <a:lnTo>
                      <a:pt x="45" y="23"/>
                    </a:lnTo>
                    <a:lnTo>
                      <a:pt x="52" y="20"/>
                    </a:lnTo>
                    <a:lnTo>
                      <a:pt x="61" y="17"/>
                    </a:lnTo>
                    <a:lnTo>
                      <a:pt x="67" y="14"/>
                    </a:lnTo>
                    <a:lnTo>
                      <a:pt x="73" y="10"/>
                    </a:lnTo>
                    <a:lnTo>
                      <a:pt x="80" y="6"/>
                    </a:lnTo>
                    <a:lnTo>
                      <a:pt x="85" y="4"/>
                    </a:lnTo>
                    <a:lnTo>
                      <a:pt x="89" y="2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6" y="0"/>
                    </a:lnTo>
                    <a:lnTo>
                      <a:pt x="97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3" y="1"/>
                    </a:lnTo>
                    <a:lnTo>
                      <a:pt x="104" y="1"/>
                    </a:lnTo>
                    <a:lnTo>
                      <a:pt x="105" y="1"/>
                    </a:lnTo>
                    <a:lnTo>
                      <a:pt x="106" y="2"/>
                    </a:lnTo>
                    <a:lnTo>
                      <a:pt x="108" y="2"/>
                    </a:lnTo>
                    <a:lnTo>
                      <a:pt x="110" y="3"/>
                    </a:lnTo>
                    <a:lnTo>
                      <a:pt x="112" y="4"/>
                    </a:lnTo>
                    <a:lnTo>
                      <a:pt x="114" y="5"/>
                    </a:lnTo>
                    <a:lnTo>
                      <a:pt x="118" y="7"/>
                    </a:lnTo>
                    <a:lnTo>
                      <a:pt x="123" y="8"/>
                    </a:lnTo>
                    <a:lnTo>
                      <a:pt x="126" y="10"/>
                    </a:lnTo>
                    <a:lnTo>
                      <a:pt x="130" y="14"/>
                    </a:lnTo>
                    <a:lnTo>
                      <a:pt x="134" y="16"/>
                    </a:lnTo>
                    <a:lnTo>
                      <a:pt x="140" y="18"/>
                    </a:lnTo>
                    <a:lnTo>
                      <a:pt x="145" y="20"/>
                    </a:lnTo>
                    <a:lnTo>
                      <a:pt x="149" y="22"/>
                    </a:lnTo>
                    <a:lnTo>
                      <a:pt x="155" y="24"/>
                    </a:lnTo>
                    <a:lnTo>
                      <a:pt x="161" y="26"/>
                    </a:lnTo>
                    <a:lnTo>
                      <a:pt x="166" y="31"/>
                    </a:lnTo>
                    <a:lnTo>
                      <a:pt x="172" y="33"/>
                    </a:lnTo>
                    <a:lnTo>
                      <a:pt x="178" y="35"/>
                    </a:lnTo>
                    <a:lnTo>
                      <a:pt x="183" y="37"/>
                    </a:lnTo>
                    <a:lnTo>
                      <a:pt x="188" y="40"/>
                    </a:lnTo>
                    <a:lnTo>
                      <a:pt x="194" y="42"/>
                    </a:lnTo>
                    <a:lnTo>
                      <a:pt x="198" y="45"/>
                    </a:lnTo>
                    <a:lnTo>
                      <a:pt x="204" y="48"/>
                    </a:lnTo>
                    <a:lnTo>
                      <a:pt x="209" y="50"/>
                    </a:lnTo>
                    <a:lnTo>
                      <a:pt x="213" y="52"/>
                    </a:lnTo>
                    <a:lnTo>
                      <a:pt x="217" y="53"/>
                    </a:lnTo>
                    <a:lnTo>
                      <a:pt x="220" y="55"/>
                    </a:lnTo>
                    <a:lnTo>
                      <a:pt x="223" y="56"/>
                    </a:lnTo>
                    <a:lnTo>
                      <a:pt x="226" y="57"/>
                    </a:lnTo>
                    <a:lnTo>
                      <a:pt x="228" y="58"/>
                    </a:lnTo>
                    <a:lnTo>
                      <a:pt x="232" y="60"/>
                    </a:lnTo>
                    <a:lnTo>
                      <a:pt x="233" y="61"/>
                    </a:lnTo>
                    <a:lnTo>
                      <a:pt x="234" y="61"/>
                    </a:lnTo>
                    <a:lnTo>
                      <a:pt x="236" y="62"/>
                    </a:lnTo>
                    <a:lnTo>
                      <a:pt x="237" y="63"/>
                    </a:lnTo>
                    <a:lnTo>
                      <a:pt x="238" y="64"/>
                    </a:lnTo>
                    <a:lnTo>
                      <a:pt x="239" y="67"/>
                    </a:lnTo>
                    <a:lnTo>
                      <a:pt x="238" y="69"/>
                    </a:lnTo>
                    <a:lnTo>
                      <a:pt x="236" y="69"/>
                    </a:lnTo>
                    <a:lnTo>
                      <a:pt x="235" y="71"/>
                    </a:lnTo>
                    <a:lnTo>
                      <a:pt x="234" y="71"/>
                    </a:lnTo>
                    <a:lnTo>
                      <a:pt x="232" y="72"/>
                    </a:lnTo>
                    <a:lnTo>
                      <a:pt x="228" y="73"/>
                    </a:lnTo>
                    <a:lnTo>
                      <a:pt x="225" y="74"/>
                    </a:lnTo>
                    <a:lnTo>
                      <a:pt x="223" y="76"/>
                    </a:lnTo>
                    <a:lnTo>
                      <a:pt x="220" y="77"/>
                    </a:lnTo>
                    <a:lnTo>
                      <a:pt x="217" y="79"/>
                    </a:lnTo>
                    <a:lnTo>
                      <a:pt x="213" y="80"/>
                    </a:lnTo>
                    <a:lnTo>
                      <a:pt x="209" y="81"/>
                    </a:lnTo>
                    <a:lnTo>
                      <a:pt x="205" y="83"/>
                    </a:lnTo>
                    <a:lnTo>
                      <a:pt x="202" y="84"/>
                    </a:lnTo>
                    <a:lnTo>
                      <a:pt x="197" y="87"/>
                    </a:lnTo>
                    <a:lnTo>
                      <a:pt x="192" y="89"/>
                    </a:lnTo>
                    <a:lnTo>
                      <a:pt x="190" y="91"/>
                    </a:lnTo>
                    <a:lnTo>
                      <a:pt x="184" y="93"/>
                    </a:lnTo>
                    <a:lnTo>
                      <a:pt x="180" y="94"/>
                    </a:lnTo>
                    <a:lnTo>
                      <a:pt x="176" y="96"/>
                    </a:lnTo>
                    <a:lnTo>
                      <a:pt x="172" y="98"/>
                    </a:lnTo>
                    <a:lnTo>
                      <a:pt x="167" y="99"/>
                    </a:lnTo>
                    <a:lnTo>
                      <a:pt x="164" y="101"/>
                    </a:lnTo>
                    <a:lnTo>
                      <a:pt x="160" y="104"/>
                    </a:lnTo>
                    <a:lnTo>
                      <a:pt x="157" y="104"/>
                    </a:lnTo>
                    <a:lnTo>
                      <a:pt x="152" y="107"/>
                    </a:lnTo>
                    <a:lnTo>
                      <a:pt x="149" y="109"/>
                    </a:lnTo>
                    <a:lnTo>
                      <a:pt x="146" y="110"/>
                    </a:lnTo>
                    <a:lnTo>
                      <a:pt x="143" y="111"/>
                    </a:lnTo>
                    <a:lnTo>
                      <a:pt x="141" y="112"/>
                    </a:lnTo>
                    <a:lnTo>
                      <a:pt x="137" y="113"/>
                    </a:lnTo>
                    <a:lnTo>
                      <a:pt x="135" y="114"/>
                    </a:lnTo>
                    <a:lnTo>
                      <a:pt x="134" y="114"/>
                    </a:lnTo>
                    <a:lnTo>
                      <a:pt x="132" y="115"/>
                    </a:lnTo>
                    <a:lnTo>
                      <a:pt x="131" y="115"/>
                    </a:lnTo>
                    <a:lnTo>
                      <a:pt x="130" y="115"/>
                    </a:lnTo>
                    <a:lnTo>
                      <a:pt x="128" y="115"/>
                    </a:lnTo>
                    <a:lnTo>
                      <a:pt x="127" y="114"/>
                    </a:lnTo>
                    <a:lnTo>
                      <a:pt x="125" y="114"/>
                    </a:lnTo>
                    <a:lnTo>
                      <a:pt x="124" y="113"/>
                    </a:lnTo>
                    <a:lnTo>
                      <a:pt x="121" y="113"/>
                    </a:lnTo>
                    <a:lnTo>
                      <a:pt x="120" y="112"/>
                    </a:lnTo>
                    <a:lnTo>
                      <a:pt x="118" y="112"/>
                    </a:lnTo>
                    <a:lnTo>
                      <a:pt x="116" y="111"/>
                    </a:lnTo>
                    <a:lnTo>
                      <a:pt x="114" y="110"/>
                    </a:lnTo>
                    <a:lnTo>
                      <a:pt x="112" y="108"/>
                    </a:lnTo>
                    <a:lnTo>
                      <a:pt x="109" y="107"/>
                    </a:lnTo>
                    <a:lnTo>
                      <a:pt x="105" y="104"/>
                    </a:lnTo>
                    <a:lnTo>
                      <a:pt x="102" y="102"/>
                    </a:lnTo>
                    <a:lnTo>
                      <a:pt x="97" y="100"/>
                    </a:lnTo>
                    <a:lnTo>
                      <a:pt x="94" y="98"/>
                    </a:lnTo>
                    <a:lnTo>
                      <a:pt x="89" y="96"/>
                    </a:lnTo>
                    <a:lnTo>
                      <a:pt x="85" y="94"/>
                    </a:lnTo>
                    <a:lnTo>
                      <a:pt x="80" y="91"/>
                    </a:lnTo>
                    <a:lnTo>
                      <a:pt x="74" y="88"/>
                    </a:lnTo>
                    <a:lnTo>
                      <a:pt x="70" y="85"/>
                    </a:lnTo>
                    <a:lnTo>
                      <a:pt x="66" y="82"/>
                    </a:lnTo>
                    <a:lnTo>
                      <a:pt x="61" y="80"/>
                    </a:lnTo>
                    <a:lnTo>
                      <a:pt x="55" y="78"/>
                    </a:lnTo>
                    <a:lnTo>
                      <a:pt x="51" y="74"/>
                    </a:lnTo>
                    <a:lnTo>
                      <a:pt x="45" y="72"/>
                    </a:lnTo>
                    <a:lnTo>
                      <a:pt x="40" y="69"/>
                    </a:lnTo>
                    <a:lnTo>
                      <a:pt x="36" y="67"/>
                    </a:lnTo>
                    <a:lnTo>
                      <a:pt x="32" y="65"/>
                    </a:lnTo>
                    <a:lnTo>
                      <a:pt x="27" y="63"/>
                    </a:lnTo>
                    <a:lnTo>
                      <a:pt x="23" y="61"/>
                    </a:lnTo>
                    <a:lnTo>
                      <a:pt x="20" y="58"/>
                    </a:lnTo>
                    <a:lnTo>
                      <a:pt x="17" y="56"/>
                    </a:lnTo>
                    <a:lnTo>
                      <a:pt x="14" y="55"/>
                    </a:lnTo>
                    <a:lnTo>
                      <a:pt x="11" y="54"/>
                    </a:lnTo>
                    <a:lnTo>
                      <a:pt x="8" y="53"/>
                    </a:lnTo>
                    <a:lnTo>
                      <a:pt x="8" y="52"/>
                    </a:lnTo>
                    <a:lnTo>
                      <a:pt x="6" y="51"/>
                    </a:lnTo>
                    <a:lnTo>
                      <a:pt x="5" y="51"/>
                    </a:lnTo>
                    <a:lnTo>
                      <a:pt x="3" y="50"/>
                    </a:lnTo>
                    <a:lnTo>
                      <a:pt x="2" y="48"/>
                    </a:lnTo>
                    <a:lnTo>
                      <a:pt x="1" y="48"/>
                    </a:lnTo>
                    <a:lnTo>
                      <a:pt x="0" y="48"/>
                    </a:lnTo>
                    <a:lnTo>
                      <a:pt x="0" y="46"/>
                    </a:lnTo>
                    <a:lnTo>
                      <a:pt x="2" y="45"/>
                    </a:lnTo>
                    <a:lnTo>
                      <a:pt x="4" y="44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01" name="Freeform 945"/>
              <p:cNvSpPr>
                <a:spLocks/>
              </p:cNvSpPr>
              <p:nvPr/>
            </p:nvSpPr>
            <p:spPr bwMode="auto">
              <a:xfrm>
                <a:off x="3014" y="1968"/>
                <a:ext cx="90" cy="45"/>
              </a:xfrm>
              <a:custGeom>
                <a:avLst/>
                <a:gdLst>
                  <a:gd name="T0" fmla="*/ 89 w 90"/>
                  <a:gd name="T1" fmla="*/ 0 h 45"/>
                  <a:gd name="T2" fmla="*/ 89 w 90"/>
                  <a:gd name="T3" fmla="*/ 0 h 45"/>
                  <a:gd name="T4" fmla="*/ 85 w 90"/>
                  <a:gd name="T5" fmla="*/ 1 h 45"/>
                  <a:gd name="T6" fmla="*/ 81 w 90"/>
                  <a:gd name="T7" fmla="*/ 3 h 45"/>
                  <a:gd name="T8" fmla="*/ 77 w 90"/>
                  <a:gd name="T9" fmla="*/ 5 h 45"/>
                  <a:gd name="T10" fmla="*/ 69 w 90"/>
                  <a:gd name="T11" fmla="*/ 8 h 45"/>
                  <a:gd name="T12" fmla="*/ 63 w 90"/>
                  <a:gd name="T13" fmla="*/ 13 h 45"/>
                  <a:gd name="T14" fmla="*/ 55 w 90"/>
                  <a:gd name="T15" fmla="*/ 16 h 45"/>
                  <a:gd name="T16" fmla="*/ 49 w 90"/>
                  <a:gd name="T17" fmla="*/ 19 h 45"/>
                  <a:gd name="T18" fmla="*/ 42 w 90"/>
                  <a:gd name="T19" fmla="*/ 22 h 45"/>
                  <a:gd name="T20" fmla="*/ 34 w 90"/>
                  <a:gd name="T21" fmla="*/ 26 h 45"/>
                  <a:gd name="T22" fmla="*/ 28 w 90"/>
                  <a:gd name="T23" fmla="*/ 30 h 45"/>
                  <a:gd name="T24" fmla="*/ 20 w 90"/>
                  <a:gd name="T25" fmla="*/ 34 h 45"/>
                  <a:gd name="T26" fmla="*/ 15 w 90"/>
                  <a:gd name="T27" fmla="*/ 36 h 45"/>
                  <a:gd name="T28" fmla="*/ 8 w 90"/>
                  <a:gd name="T29" fmla="*/ 39 h 45"/>
                  <a:gd name="T30" fmla="*/ 4 w 90"/>
                  <a:gd name="T31" fmla="*/ 40 h 45"/>
                  <a:gd name="T32" fmla="*/ 2 w 90"/>
                  <a:gd name="T33" fmla="*/ 42 h 45"/>
                  <a:gd name="T34" fmla="*/ 0 w 90"/>
                  <a:gd name="T35" fmla="*/ 42 h 45"/>
                  <a:gd name="T36" fmla="*/ 1 w 90"/>
                  <a:gd name="T37" fmla="*/ 45 h 45"/>
                  <a:gd name="T38" fmla="*/ 2 w 90"/>
                  <a:gd name="T39" fmla="*/ 44 h 45"/>
                  <a:gd name="T40" fmla="*/ 5 w 90"/>
                  <a:gd name="T41" fmla="*/ 42 h 45"/>
                  <a:gd name="T42" fmla="*/ 11 w 90"/>
                  <a:gd name="T43" fmla="*/ 40 h 45"/>
                  <a:gd name="T44" fmla="*/ 15 w 90"/>
                  <a:gd name="T45" fmla="*/ 38 h 45"/>
                  <a:gd name="T46" fmla="*/ 21 w 90"/>
                  <a:gd name="T47" fmla="*/ 35 h 45"/>
                  <a:gd name="T48" fmla="*/ 28 w 90"/>
                  <a:gd name="T49" fmla="*/ 32 h 45"/>
                  <a:gd name="T50" fmla="*/ 35 w 90"/>
                  <a:gd name="T51" fmla="*/ 27 h 45"/>
                  <a:gd name="T52" fmla="*/ 42 w 90"/>
                  <a:gd name="T53" fmla="*/ 24 h 45"/>
                  <a:gd name="T54" fmla="*/ 50 w 90"/>
                  <a:gd name="T55" fmla="*/ 21 h 45"/>
                  <a:gd name="T56" fmla="*/ 56 w 90"/>
                  <a:gd name="T57" fmla="*/ 18 h 45"/>
                  <a:gd name="T58" fmla="*/ 63 w 90"/>
                  <a:gd name="T59" fmla="*/ 15 h 45"/>
                  <a:gd name="T60" fmla="*/ 70 w 90"/>
                  <a:gd name="T61" fmla="*/ 10 h 45"/>
                  <a:gd name="T62" fmla="*/ 77 w 90"/>
                  <a:gd name="T63" fmla="*/ 7 h 45"/>
                  <a:gd name="T64" fmla="*/ 82 w 90"/>
                  <a:gd name="T65" fmla="*/ 5 h 45"/>
                  <a:gd name="T66" fmla="*/ 86 w 90"/>
                  <a:gd name="T67" fmla="*/ 3 h 45"/>
                  <a:gd name="T68" fmla="*/ 90 w 90"/>
                  <a:gd name="T69" fmla="*/ 1 h 45"/>
                  <a:gd name="T70" fmla="*/ 89 w 90"/>
                  <a:gd name="T71" fmla="*/ 0 h 4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90"/>
                  <a:gd name="T109" fmla="*/ 0 h 45"/>
                  <a:gd name="T110" fmla="*/ 90 w 90"/>
                  <a:gd name="T111" fmla="*/ 45 h 4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90" h="45">
                    <a:moveTo>
                      <a:pt x="89" y="0"/>
                    </a:moveTo>
                    <a:lnTo>
                      <a:pt x="89" y="0"/>
                    </a:lnTo>
                    <a:lnTo>
                      <a:pt x="85" y="1"/>
                    </a:lnTo>
                    <a:lnTo>
                      <a:pt x="81" y="3"/>
                    </a:lnTo>
                    <a:lnTo>
                      <a:pt x="77" y="5"/>
                    </a:lnTo>
                    <a:lnTo>
                      <a:pt x="69" y="8"/>
                    </a:lnTo>
                    <a:lnTo>
                      <a:pt x="63" y="13"/>
                    </a:lnTo>
                    <a:lnTo>
                      <a:pt x="55" y="16"/>
                    </a:lnTo>
                    <a:lnTo>
                      <a:pt x="49" y="19"/>
                    </a:lnTo>
                    <a:lnTo>
                      <a:pt x="42" y="22"/>
                    </a:lnTo>
                    <a:lnTo>
                      <a:pt x="34" y="26"/>
                    </a:lnTo>
                    <a:lnTo>
                      <a:pt x="28" y="30"/>
                    </a:lnTo>
                    <a:lnTo>
                      <a:pt x="20" y="34"/>
                    </a:lnTo>
                    <a:lnTo>
                      <a:pt x="15" y="36"/>
                    </a:lnTo>
                    <a:lnTo>
                      <a:pt x="8" y="39"/>
                    </a:lnTo>
                    <a:lnTo>
                      <a:pt x="4" y="40"/>
                    </a:lnTo>
                    <a:lnTo>
                      <a:pt x="2" y="42"/>
                    </a:lnTo>
                    <a:lnTo>
                      <a:pt x="0" y="42"/>
                    </a:lnTo>
                    <a:lnTo>
                      <a:pt x="1" y="45"/>
                    </a:lnTo>
                    <a:lnTo>
                      <a:pt x="2" y="44"/>
                    </a:lnTo>
                    <a:lnTo>
                      <a:pt x="5" y="42"/>
                    </a:lnTo>
                    <a:lnTo>
                      <a:pt x="11" y="40"/>
                    </a:lnTo>
                    <a:lnTo>
                      <a:pt x="15" y="38"/>
                    </a:lnTo>
                    <a:lnTo>
                      <a:pt x="21" y="35"/>
                    </a:lnTo>
                    <a:lnTo>
                      <a:pt x="28" y="32"/>
                    </a:lnTo>
                    <a:lnTo>
                      <a:pt x="35" y="27"/>
                    </a:lnTo>
                    <a:lnTo>
                      <a:pt x="42" y="24"/>
                    </a:lnTo>
                    <a:lnTo>
                      <a:pt x="50" y="21"/>
                    </a:lnTo>
                    <a:lnTo>
                      <a:pt x="56" y="18"/>
                    </a:lnTo>
                    <a:lnTo>
                      <a:pt x="63" y="15"/>
                    </a:lnTo>
                    <a:lnTo>
                      <a:pt x="70" y="10"/>
                    </a:lnTo>
                    <a:lnTo>
                      <a:pt x="77" y="7"/>
                    </a:lnTo>
                    <a:lnTo>
                      <a:pt x="82" y="5"/>
                    </a:lnTo>
                    <a:lnTo>
                      <a:pt x="86" y="3"/>
                    </a:lnTo>
                    <a:lnTo>
                      <a:pt x="90" y="1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02" name="Freeform 946"/>
              <p:cNvSpPr>
                <a:spLocks/>
              </p:cNvSpPr>
              <p:nvPr/>
            </p:nvSpPr>
            <p:spPr bwMode="auto">
              <a:xfrm>
                <a:off x="3103" y="1967"/>
                <a:ext cx="13" cy="3"/>
              </a:xfrm>
              <a:custGeom>
                <a:avLst/>
                <a:gdLst>
                  <a:gd name="T0" fmla="*/ 13 w 13"/>
                  <a:gd name="T1" fmla="*/ 1 h 3"/>
                  <a:gd name="T2" fmla="*/ 13 w 13"/>
                  <a:gd name="T3" fmla="*/ 1 h 3"/>
                  <a:gd name="T4" fmla="*/ 12 w 13"/>
                  <a:gd name="T5" fmla="*/ 1 h 3"/>
                  <a:gd name="T6" fmla="*/ 10 w 13"/>
                  <a:gd name="T7" fmla="*/ 1 h 3"/>
                  <a:gd name="T8" fmla="*/ 9 w 13"/>
                  <a:gd name="T9" fmla="*/ 0 h 3"/>
                  <a:gd name="T10" fmla="*/ 6 w 13"/>
                  <a:gd name="T11" fmla="*/ 0 h 3"/>
                  <a:gd name="T12" fmla="*/ 5 w 13"/>
                  <a:gd name="T13" fmla="*/ 0 h 3"/>
                  <a:gd name="T14" fmla="*/ 3 w 13"/>
                  <a:gd name="T15" fmla="*/ 0 h 3"/>
                  <a:gd name="T16" fmla="*/ 2 w 13"/>
                  <a:gd name="T17" fmla="*/ 0 h 3"/>
                  <a:gd name="T18" fmla="*/ 0 w 13"/>
                  <a:gd name="T19" fmla="*/ 1 h 3"/>
                  <a:gd name="T20" fmla="*/ 0 w 13"/>
                  <a:gd name="T21" fmla="*/ 2 h 3"/>
                  <a:gd name="T22" fmla="*/ 2 w 13"/>
                  <a:gd name="T23" fmla="*/ 2 h 3"/>
                  <a:gd name="T24" fmla="*/ 3 w 13"/>
                  <a:gd name="T25" fmla="*/ 2 h 3"/>
                  <a:gd name="T26" fmla="*/ 5 w 13"/>
                  <a:gd name="T27" fmla="*/ 2 h 3"/>
                  <a:gd name="T28" fmla="*/ 6 w 13"/>
                  <a:gd name="T29" fmla="*/ 2 h 3"/>
                  <a:gd name="T30" fmla="*/ 9 w 13"/>
                  <a:gd name="T31" fmla="*/ 2 h 3"/>
                  <a:gd name="T32" fmla="*/ 10 w 13"/>
                  <a:gd name="T33" fmla="*/ 2 h 3"/>
                  <a:gd name="T34" fmla="*/ 11 w 13"/>
                  <a:gd name="T35" fmla="*/ 3 h 3"/>
                  <a:gd name="T36" fmla="*/ 12 w 13"/>
                  <a:gd name="T37" fmla="*/ 3 h 3"/>
                  <a:gd name="T38" fmla="*/ 13 w 13"/>
                  <a:gd name="T39" fmla="*/ 1 h 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3"/>
                  <a:gd name="T62" fmla="*/ 13 w 13"/>
                  <a:gd name="T63" fmla="*/ 3 h 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3">
                    <a:moveTo>
                      <a:pt x="13" y="1"/>
                    </a:moveTo>
                    <a:lnTo>
                      <a:pt x="13" y="1"/>
                    </a:lnTo>
                    <a:lnTo>
                      <a:pt x="12" y="1"/>
                    </a:lnTo>
                    <a:lnTo>
                      <a:pt x="10" y="1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6" y="2"/>
                    </a:lnTo>
                    <a:lnTo>
                      <a:pt x="9" y="2"/>
                    </a:lnTo>
                    <a:lnTo>
                      <a:pt x="10" y="2"/>
                    </a:lnTo>
                    <a:lnTo>
                      <a:pt x="11" y="3"/>
                    </a:lnTo>
                    <a:lnTo>
                      <a:pt x="12" y="3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03" name="Freeform 947"/>
              <p:cNvSpPr>
                <a:spLocks/>
              </p:cNvSpPr>
              <p:nvPr/>
            </p:nvSpPr>
            <p:spPr bwMode="auto">
              <a:xfrm>
                <a:off x="3115" y="1969"/>
                <a:ext cx="128" cy="60"/>
              </a:xfrm>
              <a:custGeom>
                <a:avLst/>
                <a:gdLst>
                  <a:gd name="T0" fmla="*/ 128 w 128"/>
                  <a:gd name="T1" fmla="*/ 59 h 60"/>
                  <a:gd name="T2" fmla="*/ 124 w 128"/>
                  <a:gd name="T3" fmla="*/ 56 h 60"/>
                  <a:gd name="T4" fmla="*/ 119 w 128"/>
                  <a:gd name="T5" fmla="*/ 54 h 60"/>
                  <a:gd name="T6" fmla="*/ 111 w 128"/>
                  <a:gd name="T7" fmla="*/ 51 h 60"/>
                  <a:gd name="T8" fmla="*/ 104 w 128"/>
                  <a:gd name="T9" fmla="*/ 47 h 60"/>
                  <a:gd name="T10" fmla="*/ 94 w 128"/>
                  <a:gd name="T11" fmla="*/ 43 h 60"/>
                  <a:gd name="T12" fmla="*/ 84 w 128"/>
                  <a:gd name="T13" fmla="*/ 38 h 60"/>
                  <a:gd name="T14" fmla="*/ 73 w 128"/>
                  <a:gd name="T15" fmla="*/ 33 h 60"/>
                  <a:gd name="T16" fmla="*/ 62 w 128"/>
                  <a:gd name="T17" fmla="*/ 28 h 60"/>
                  <a:gd name="T18" fmla="*/ 51 w 128"/>
                  <a:gd name="T19" fmla="*/ 22 h 60"/>
                  <a:gd name="T20" fmla="*/ 41 w 128"/>
                  <a:gd name="T21" fmla="*/ 18 h 60"/>
                  <a:gd name="T22" fmla="*/ 30 w 128"/>
                  <a:gd name="T23" fmla="*/ 13 h 60"/>
                  <a:gd name="T24" fmla="*/ 22 w 128"/>
                  <a:gd name="T25" fmla="*/ 8 h 60"/>
                  <a:gd name="T26" fmla="*/ 14 w 128"/>
                  <a:gd name="T27" fmla="*/ 5 h 60"/>
                  <a:gd name="T28" fmla="*/ 8 w 128"/>
                  <a:gd name="T29" fmla="*/ 3 h 60"/>
                  <a:gd name="T30" fmla="*/ 4 w 128"/>
                  <a:gd name="T31" fmla="*/ 1 h 60"/>
                  <a:gd name="T32" fmla="*/ 0 w 128"/>
                  <a:gd name="T33" fmla="*/ 2 h 60"/>
                  <a:gd name="T34" fmla="*/ 2 w 128"/>
                  <a:gd name="T35" fmla="*/ 3 h 60"/>
                  <a:gd name="T36" fmla="*/ 7 w 128"/>
                  <a:gd name="T37" fmla="*/ 4 h 60"/>
                  <a:gd name="T38" fmla="*/ 13 w 128"/>
                  <a:gd name="T39" fmla="*/ 7 h 60"/>
                  <a:gd name="T40" fmla="*/ 21 w 128"/>
                  <a:gd name="T41" fmla="*/ 10 h 60"/>
                  <a:gd name="T42" fmla="*/ 29 w 128"/>
                  <a:gd name="T43" fmla="*/ 16 h 60"/>
                  <a:gd name="T44" fmla="*/ 40 w 128"/>
                  <a:gd name="T45" fmla="*/ 20 h 60"/>
                  <a:gd name="T46" fmla="*/ 50 w 128"/>
                  <a:gd name="T47" fmla="*/ 24 h 60"/>
                  <a:gd name="T48" fmla="*/ 61 w 128"/>
                  <a:gd name="T49" fmla="*/ 29 h 60"/>
                  <a:gd name="T50" fmla="*/ 72 w 128"/>
                  <a:gd name="T51" fmla="*/ 35 h 60"/>
                  <a:gd name="T52" fmla="*/ 83 w 128"/>
                  <a:gd name="T53" fmla="*/ 39 h 60"/>
                  <a:gd name="T54" fmla="*/ 94 w 128"/>
                  <a:gd name="T55" fmla="*/ 44 h 60"/>
                  <a:gd name="T56" fmla="*/ 103 w 128"/>
                  <a:gd name="T57" fmla="*/ 49 h 60"/>
                  <a:gd name="T58" fmla="*/ 110 w 128"/>
                  <a:gd name="T59" fmla="*/ 53 h 60"/>
                  <a:gd name="T60" fmla="*/ 119 w 128"/>
                  <a:gd name="T61" fmla="*/ 55 h 60"/>
                  <a:gd name="T62" fmla="*/ 123 w 128"/>
                  <a:gd name="T63" fmla="*/ 59 h 60"/>
                  <a:gd name="T64" fmla="*/ 126 w 128"/>
                  <a:gd name="T65" fmla="*/ 60 h 6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8"/>
                  <a:gd name="T100" fmla="*/ 0 h 60"/>
                  <a:gd name="T101" fmla="*/ 128 w 128"/>
                  <a:gd name="T102" fmla="*/ 60 h 6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8" h="60">
                    <a:moveTo>
                      <a:pt x="128" y="59"/>
                    </a:moveTo>
                    <a:lnTo>
                      <a:pt x="128" y="59"/>
                    </a:lnTo>
                    <a:lnTo>
                      <a:pt x="126" y="57"/>
                    </a:lnTo>
                    <a:lnTo>
                      <a:pt x="124" y="56"/>
                    </a:lnTo>
                    <a:lnTo>
                      <a:pt x="122" y="55"/>
                    </a:lnTo>
                    <a:lnTo>
                      <a:pt x="119" y="54"/>
                    </a:lnTo>
                    <a:lnTo>
                      <a:pt x="115" y="53"/>
                    </a:lnTo>
                    <a:lnTo>
                      <a:pt x="111" y="51"/>
                    </a:lnTo>
                    <a:lnTo>
                      <a:pt x="108" y="50"/>
                    </a:lnTo>
                    <a:lnTo>
                      <a:pt x="104" y="47"/>
                    </a:lnTo>
                    <a:lnTo>
                      <a:pt x="99" y="45"/>
                    </a:lnTo>
                    <a:lnTo>
                      <a:pt x="94" y="43"/>
                    </a:lnTo>
                    <a:lnTo>
                      <a:pt x="89" y="40"/>
                    </a:lnTo>
                    <a:lnTo>
                      <a:pt x="84" y="38"/>
                    </a:lnTo>
                    <a:lnTo>
                      <a:pt x="78" y="36"/>
                    </a:lnTo>
                    <a:lnTo>
                      <a:pt x="73" y="33"/>
                    </a:lnTo>
                    <a:lnTo>
                      <a:pt x="68" y="31"/>
                    </a:lnTo>
                    <a:lnTo>
                      <a:pt x="62" y="28"/>
                    </a:lnTo>
                    <a:lnTo>
                      <a:pt x="57" y="25"/>
                    </a:lnTo>
                    <a:lnTo>
                      <a:pt x="51" y="22"/>
                    </a:lnTo>
                    <a:lnTo>
                      <a:pt x="45" y="20"/>
                    </a:lnTo>
                    <a:lnTo>
                      <a:pt x="41" y="18"/>
                    </a:lnTo>
                    <a:lnTo>
                      <a:pt x="36" y="16"/>
                    </a:lnTo>
                    <a:lnTo>
                      <a:pt x="30" y="13"/>
                    </a:lnTo>
                    <a:lnTo>
                      <a:pt x="26" y="10"/>
                    </a:lnTo>
                    <a:lnTo>
                      <a:pt x="22" y="8"/>
                    </a:lnTo>
                    <a:lnTo>
                      <a:pt x="17" y="7"/>
                    </a:lnTo>
                    <a:lnTo>
                      <a:pt x="14" y="5"/>
                    </a:lnTo>
                    <a:lnTo>
                      <a:pt x="11" y="4"/>
                    </a:lnTo>
                    <a:lnTo>
                      <a:pt x="8" y="3"/>
                    </a:lnTo>
                    <a:lnTo>
                      <a:pt x="5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2" y="3"/>
                    </a:lnTo>
                    <a:lnTo>
                      <a:pt x="5" y="3"/>
                    </a:lnTo>
                    <a:lnTo>
                      <a:pt x="7" y="4"/>
                    </a:lnTo>
                    <a:lnTo>
                      <a:pt x="9" y="5"/>
                    </a:lnTo>
                    <a:lnTo>
                      <a:pt x="13" y="7"/>
                    </a:lnTo>
                    <a:lnTo>
                      <a:pt x="17" y="8"/>
                    </a:lnTo>
                    <a:lnTo>
                      <a:pt x="21" y="10"/>
                    </a:lnTo>
                    <a:lnTo>
                      <a:pt x="25" y="13"/>
                    </a:lnTo>
                    <a:lnTo>
                      <a:pt x="29" y="16"/>
                    </a:lnTo>
                    <a:lnTo>
                      <a:pt x="36" y="18"/>
                    </a:lnTo>
                    <a:lnTo>
                      <a:pt x="40" y="20"/>
                    </a:lnTo>
                    <a:lnTo>
                      <a:pt x="45" y="22"/>
                    </a:lnTo>
                    <a:lnTo>
                      <a:pt x="50" y="24"/>
                    </a:lnTo>
                    <a:lnTo>
                      <a:pt x="56" y="26"/>
                    </a:lnTo>
                    <a:lnTo>
                      <a:pt x="61" y="29"/>
                    </a:lnTo>
                    <a:lnTo>
                      <a:pt x="67" y="33"/>
                    </a:lnTo>
                    <a:lnTo>
                      <a:pt x="72" y="35"/>
                    </a:lnTo>
                    <a:lnTo>
                      <a:pt x="78" y="37"/>
                    </a:lnTo>
                    <a:lnTo>
                      <a:pt x="83" y="39"/>
                    </a:lnTo>
                    <a:lnTo>
                      <a:pt x="88" y="41"/>
                    </a:lnTo>
                    <a:lnTo>
                      <a:pt x="94" y="44"/>
                    </a:lnTo>
                    <a:lnTo>
                      <a:pt x="99" y="47"/>
                    </a:lnTo>
                    <a:lnTo>
                      <a:pt x="103" y="49"/>
                    </a:lnTo>
                    <a:lnTo>
                      <a:pt x="107" y="51"/>
                    </a:lnTo>
                    <a:lnTo>
                      <a:pt x="110" y="53"/>
                    </a:lnTo>
                    <a:lnTo>
                      <a:pt x="115" y="54"/>
                    </a:lnTo>
                    <a:lnTo>
                      <a:pt x="119" y="55"/>
                    </a:lnTo>
                    <a:lnTo>
                      <a:pt x="121" y="57"/>
                    </a:lnTo>
                    <a:lnTo>
                      <a:pt x="123" y="59"/>
                    </a:lnTo>
                    <a:lnTo>
                      <a:pt x="125" y="59"/>
                    </a:lnTo>
                    <a:lnTo>
                      <a:pt x="126" y="60"/>
                    </a:lnTo>
                    <a:lnTo>
                      <a:pt x="128" y="59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04" name="Freeform 948"/>
              <p:cNvSpPr>
                <a:spLocks/>
              </p:cNvSpPr>
              <p:nvPr/>
            </p:nvSpPr>
            <p:spPr bwMode="auto">
              <a:xfrm>
                <a:off x="3241" y="2028"/>
                <a:ext cx="9" cy="11"/>
              </a:xfrm>
              <a:custGeom>
                <a:avLst/>
                <a:gdLst>
                  <a:gd name="T0" fmla="*/ 5 w 9"/>
                  <a:gd name="T1" fmla="*/ 11 h 11"/>
                  <a:gd name="T2" fmla="*/ 5 w 9"/>
                  <a:gd name="T3" fmla="*/ 11 h 11"/>
                  <a:gd name="T4" fmla="*/ 8 w 9"/>
                  <a:gd name="T5" fmla="*/ 10 h 11"/>
                  <a:gd name="T6" fmla="*/ 9 w 9"/>
                  <a:gd name="T7" fmla="*/ 8 h 11"/>
                  <a:gd name="T8" fmla="*/ 9 w 9"/>
                  <a:gd name="T9" fmla="*/ 7 h 11"/>
                  <a:gd name="T10" fmla="*/ 8 w 9"/>
                  <a:gd name="T11" fmla="*/ 4 h 11"/>
                  <a:gd name="T12" fmla="*/ 7 w 9"/>
                  <a:gd name="T13" fmla="*/ 3 h 11"/>
                  <a:gd name="T14" fmla="*/ 5 w 9"/>
                  <a:gd name="T15" fmla="*/ 2 h 11"/>
                  <a:gd name="T16" fmla="*/ 3 w 9"/>
                  <a:gd name="T17" fmla="*/ 1 h 11"/>
                  <a:gd name="T18" fmla="*/ 2 w 9"/>
                  <a:gd name="T19" fmla="*/ 0 h 11"/>
                  <a:gd name="T20" fmla="*/ 0 w 9"/>
                  <a:gd name="T21" fmla="*/ 1 h 11"/>
                  <a:gd name="T22" fmla="*/ 2 w 9"/>
                  <a:gd name="T23" fmla="*/ 2 h 11"/>
                  <a:gd name="T24" fmla="*/ 4 w 9"/>
                  <a:gd name="T25" fmla="*/ 3 h 11"/>
                  <a:gd name="T26" fmla="*/ 5 w 9"/>
                  <a:gd name="T27" fmla="*/ 4 h 11"/>
                  <a:gd name="T28" fmla="*/ 7 w 9"/>
                  <a:gd name="T29" fmla="*/ 5 h 11"/>
                  <a:gd name="T30" fmla="*/ 7 w 9"/>
                  <a:gd name="T31" fmla="*/ 7 h 11"/>
                  <a:gd name="T32" fmla="*/ 7 w 9"/>
                  <a:gd name="T33" fmla="*/ 8 h 11"/>
                  <a:gd name="T34" fmla="*/ 4 w 9"/>
                  <a:gd name="T35" fmla="*/ 10 h 11"/>
                  <a:gd name="T36" fmla="*/ 5 w 9"/>
                  <a:gd name="T37" fmla="*/ 11 h 1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11"/>
                  <a:gd name="T59" fmla="*/ 9 w 9"/>
                  <a:gd name="T60" fmla="*/ 11 h 1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11">
                    <a:moveTo>
                      <a:pt x="5" y="11"/>
                    </a:moveTo>
                    <a:lnTo>
                      <a:pt x="5" y="11"/>
                    </a:lnTo>
                    <a:lnTo>
                      <a:pt x="8" y="10"/>
                    </a:lnTo>
                    <a:lnTo>
                      <a:pt x="9" y="8"/>
                    </a:lnTo>
                    <a:lnTo>
                      <a:pt x="9" y="7"/>
                    </a:lnTo>
                    <a:lnTo>
                      <a:pt x="8" y="4"/>
                    </a:lnTo>
                    <a:lnTo>
                      <a:pt x="7" y="3"/>
                    </a:lnTo>
                    <a:lnTo>
                      <a:pt x="5" y="2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4"/>
                    </a:lnTo>
                    <a:lnTo>
                      <a:pt x="7" y="5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4" y="10"/>
                    </a:lnTo>
                    <a:lnTo>
                      <a:pt x="5" y="1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05" name="Freeform 949"/>
              <p:cNvSpPr>
                <a:spLocks/>
              </p:cNvSpPr>
              <p:nvPr/>
            </p:nvSpPr>
            <p:spPr bwMode="auto">
              <a:xfrm>
                <a:off x="3143" y="2037"/>
                <a:ext cx="103" cy="46"/>
              </a:xfrm>
              <a:custGeom>
                <a:avLst/>
                <a:gdLst>
                  <a:gd name="T0" fmla="*/ 1 w 103"/>
                  <a:gd name="T1" fmla="*/ 46 h 46"/>
                  <a:gd name="T2" fmla="*/ 3 w 103"/>
                  <a:gd name="T3" fmla="*/ 45 h 46"/>
                  <a:gd name="T4" fmla="*/ 9 w 103"/>
                  <a:gd name="T5" fmla="*/ 43 h 46"/>
                  <a:gd name="T6" fmla="*/ 14 w 103"/>
                  <a:gd name="T7" fmla="*/ 41 h 46"/>
                  <a:gd name="T8" fmla="*/ 20 w 103"/>
                  <a:gd name="T9" fmla="*/ 38 h 46"/>
                  <a:gd name="T10" fmla="*/ 27 w 103"/>
                  <a:gd name="T11" fmla="*/ 35 h 46"/>
                  <a:gd name="T12" fmla="*/ 35 w 103"/>
                  <a:gd name="T13" fmla="*/ 30 h 46"/>
                  <a:gd name="T14" fmla="*/ 44 w 103"/>
                  <a:gd name="T15" fmla="*/ 27 h 46"/>
                  <a:gd name="T16" fmla="*/ 52 w 103"/>
                  <a:gd name="T17" fmla="*/ 24 h 46"/>
                  <a:gd name="T18" fmla="*/ 61 w 103"/>
                  <a:gd name="T19" fmla="*/ 20 h 46"/>
                  <a:gd name="T20" fmla="*/ 70 w 103"/>
                  <a:gd name="T21" fmla="*/ 17 h 46"/>
                  <a:gd name="T22" fmla="*/ 77 w 103"/>
                  <a:gd name="T23" fmla="*/ 13 h 46"/>
                  <a:gd name="T24" fmla="*/ 83 w 103"/>
                  <a:gd name="T25" fmla="*/ 11 h 46"/>
                  <a:gd name="T26" fmla="*/ 90 w 103"/>
                  <a:gd name="T27" fmla="*/ 7 h 46"/>
                  <a:gd name="T28" fmla="*/ 96 w 103"/>
                  <a:gd name="T29" fmla="*/ 4 h 46"/>
                  <a:gd name="T30" fmla="*/ 100 w 103"/>
                  <a:gd name="T31" fmla="*/ 3 h 46"/>
                  <a:gd name="T32" fmla="*/ 103 w 103"/>
                  <a:gd name="T33" fmla="*/ 1 h 46"/>
                  <a:gd name="T34" fmla="*/ 101 w 103"/>
                  <a:gd name="T35" fmla="*/ 0 h 46"/>
                  <a:gd name="T36" fmla="*/ 97 w 103"/>
                  <a:gd name="T37" fmla="*/ 2 h 46"/>
                  <a:gd name="T38" fmla="*/ 92 w 103"/>
                  <a:gd name="T39" fmla="*/ 4 h 46"/>
                  <a:gd name="T40" fmla="*/ 86 w 103"/>
                  <a:gd name="T41" fmla="*/ 7 h 46"/>
                  <a:gd name="T42" fmla="*/ 79 w 103"/>
                  <a:gd name="T43" fmla="*/ 11 h 46"/>
                  <a:gd name="T44" fmla="*/ 72 w 103"/>
                  <a:gd name="T45" fmla="*/ 13 h 46"/>
                  <a:gd name="T46" fmla="*/ 64 w 103"/>
                  <a:gd name="T47" fmla="*/ 17 h 46"/>
                  <a:gd name="T48" fmla="*/ 56 w 103"/>
                  <a:gd name="T49" fmla="*/ 20 h 46"/>
                  <a:gd name="T50" fmla="*/ 47 w 103"/>
                  <a:gd name="T51" fmla="*/ 24 h 46"/>
                  <a:gd name="T52" fmla="*/ 39 w 103"/>
                  <a:gd name="T53" fmla="*/ 28 h 46"/>
                  <a:gd name="T54" fmla="*/ 31 w 103"/>
                  <a:gd name="T55" fmla="*/ 31 h 46"/>
                  <a:gd name="T56" fmla="*/ 23 w 103"/>
                  <a:gd name="T57" fmla="*/ 35 h 46"/>
                  <a:gd name="T58" fmla="*/ 16 w 103"/>
                  <a:gd name="T59" fmla="*/ 38 h 46"/>
                  <a:gd name="T60" fmla="*/ 11 w 103"/>
                  <a:gd name="T61" fmla="*/ 41 h 46"/>
                  <a:gd name="T62" fmla="*/ 5 w 103"/>
                  <a:gd name="T63" fmla="*/ 42 h 46"/>
                  <a:gd name="T64" fmla="*/ 1 w 103"/>
                  <a:gd name="T65" fmla="*/ 44 h 46"/>
                  <a:gd name="T66" fmla="*/ 1 w 103"/>
                  <a:gd name="T67" fmla="*/ 46 h 4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6"/>
                  <a:gd name="T104" fmla="*/ 103 w 103"/>
                  <a:gd name="T105" fmla="*/ 46 h 4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6">
                    <a:moveTo>
                      <a:pt x="1" y="46"/>
                    </a:moveTo>
                    <a:lnTo>
                      <a:pt x="1" y="46"/>
                    </a:lnTo>
                    <a:lnTo>
                      <a:pt x="2" y="45"/>
                    </a:lnTo>
                    <a:lnTo>
                      <a:pt x="3" y="45"/>
                    </a:lnTo>
                    <a:lnTo>
                      <a:pt x="5" y="44"/>
                    </a:lnTo>
                    <a:lnTo>
                      <a:pt x="9" y="43"/>
                    </a:lnTo>
                    <a:lnTo>
                      <a:pt x="12" y="42"/>
                    </a:lnTo>
                    <a:lnTo>
                      <a:pt x="14" y="41"/>
                    </a:lnTo>
                    <a:lnTo>
                      <a:pt x="17" y="40"/>
                    </a:lnTo>
                    <a:lnTo>
                      <a:pt x="20" y="38"/>
                    </a:lnTo>
                    <a:lnTo>
                      <a:pt x="24" y="35"/>
                    </a:lnTo>
                    <a:lnTo>
                      <a:pt x="27" y="35"/>
                    </a:lnTo>
                    <a:lnTo>
                      <a:pt x="31" y="32"/>
                    </a:lnTo>
                    <a:lnTo>
                      <a:pt x="35" y="30"/>
                    </a:lnTo>
                    <a:lnTo>
                      <a:pt x="40" y="29"/>
                    </a:lnTo>
                    <a:lnTo>
                      <a:pt x="44" y="27"/>
                    </a:lnTo>
                    <a:lnTo>
                      <a:pt x="47" y="26"/>
                    </a:lnTo>
                    <a:lnTo>
                      <a:pt x="52" y="24"/>
                    </a:lnTo>
                    <a:lnTo>
                      <a:pt x="57" y="23"/>
                    </a:lnTo>
                    <a:lnTo>
                      <a:pt x="61" y="20"/>
                    </a:lnTo>
                    <a:lnTo>
                      <a:pt x="64" y="18"/>
                    </a:lnTo>
                    <a:lnTo>
                      <a:pt x="70" y="17"/>
                    </a:lnTo>
                    <a:lnTo>
                      <a:pt x="73" y="15"/>
                    </a:lnTo>
                    <a:lnTo>
                      <a:pt x="77" y="13"/>
                    </a:lnTo>
                    <a:lnTo>
                      <a:pt x="80" y="11"/>
                    </a:lnTo>
                    <a:lnTo>
                      <a:pt x="83" y="11"/>
                    </a:lnTo>
                    <a:lnTo>
                      <a:pt x="87" y="9"/>
                    </a:lnTo>
                    <a:lnTo>
                      <a:pt x="90" y="7"/>
                    </a:lnTo>
                    <a:lnTo>
                      <a:pt x="92" y="5"/>
                    </a:lnTo>
                    <a:lnTo>
                      <a:pt x="96" y="4"/>
                    </a:lnTo>
                    <a:lnTo>
                      <a:pt x="98" y="3"/>
                    </a:lnTo>
                    <a:lnTo>
                      <a:pt x="100" y="3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100" y="1"/>
                    </a:lnTo>
                    <a:lnTo>
                      <a:pt x="97" y="2"/>
                    </a:lnTo>
                    <a:lnTo>
                      <a:pt x="95" y="3"/>
                    </a:lnTo>
                    <a:lnTo>
                      <a:pt x="92" y="4"/>
                    </a:lnTo>
                    <a:lnTo>
                      <a:pt x="89" y="5"/>
                    </a:lnTo>
                    <a:lnTo>
                      <a:pt x="86" y="7"/>
                    </a:lnTo>
                    <a:lnTo>
                      <a:pt x="82" y="8"/>
                    </a:lnTo>
                    <a:lnTo>
                      <a:pt x="79" y="11"/>
                    </a:lnTo>
                    <a:lnTo>
                      <a:pt x="76" y="11"/>
                    </a:lnTo>
                    <a:lnTo>
                      <a:pt x="72" y="13"/>
                    </a:lnTo>
                    <a:lnTo>
                      <a:pt x="67" y="15"/>
                    </a:lnTo>
                    <a:lnTo>
                      <a:pt x="64" y="17"/>
                    </a:lnTo>
                    <a:lnTo>
                      <a:pt x="60" y="18"/>
                    </a:lnTo>
                    <a:lnTo>
                      <a:pt x="56" y="20"/>
                    </a:lnTo>
                    <a:lnTo>
                      <a:pt x="52" y="23"/>
                    </a:lnTo>
                    <a:lnTo>
                      <a:pt x="47" y="24"/>
                    </a:lnTo>
                    <a:lnTo>
                      <a:pt x="43" y="26"/>
                    </a:lnTo>
                    <a:lnTo>
                      <a:pt x="39" y="28"/>
                    </a:lnTo>
                    <a:lnTo>
                      <a:pt x="35" y="29"/>
                    </a:lnTo>
                    <a:lnTo>
                      <a:pt x="31" y="31"/>
                    </a:lnTo>
                    <a:lnTo>
                      <a:pt x="27" y="32"/>
                    </a:lnTo>
                    <a:lnTo>
                      <a:pt x="23" y="35"/>
                    </a:lnTo>
                    <a:lnTo>
                      <a:pt x="19" y="35"/>
                    </a:lnTo>
                    <a:lnTo>
                      <a:pt x="16" y="38"/>
                    </a:lnTo>
                    <a:lnTo>
                      <a:pt x="14" y="39"/>
                    </a:lnTo>
                    <a:lnTo>
                      <a:pt x="11" y="41"/>
                    </a:lnTo>
                    <a:lnTo>
                      <a:pt x="9" y="42"/>
                    </a:lnTo>
                    <a:lnTo>
                      <a:pt x="5" y="42"/>
                    </a:lnTo>
                    <a:lnTo>
                      <a:pt x="3" y="43"/>
                    </a:lnTo>
                    <a:lnTo>
                      <a:pt x="1" y="44"/>
                    </a:lnTo>
                    <a:lnTo>
                      <a:pt x="0" y="44"/>
                    </a:lnTo>
                    <a:lnTo>
                      <a:pt x="1" y="4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06" name="Freeform 950"/>
              <p:cNvSpPr>
                <a:spLocks/>
              </p:cNvSpPr>
              <p:nvPr/>
            </p:nvSpPr>
            <p:spPr bwMode="auto">
              <a:xfrm>
                <a:off x="3129" y="2078"/>
                <a:ext cx="14" cy="6"/>
              </a:xfrm>
              <a:custGeom>
                <a:avLst/>
                <a:gdLst>
                  <a:gd name="T0" fmla="*/ 0 w 14"/>
                  <a:gd name="T1" fmla="*/ 3 h 6"/>
                  <a:gd name="T2" fmla="*/ 0 w 14"/>
                  <a:gd name="T3" fmla="*/ 3 h 6"/>
                  <a:gd name="T4" fmla="*/ 1 w 14"/>
                  <a:gd name="T5" fmla="*/ 3 h 6"/>
                  <a:gd name="T6" fmla="*/ 3 w 14"/>
                  <a:gd name="T7" fmla="*/ 3 h 6"/>
                  <a:gd name="T8" fmla="*/ 7 w 14"/>
                  <a:gd name="T9" fmla="*/ 5 h 6"/>
                  <a:gd name="T10" fmla="*/ 7 w 14"/>
                  <a:gd name="T11" fmla="*/ 5 h 6"/>
                  <a:gd name="T12" fmla="*/ 10 w 14"/>
                  <a:gd name="T13" fmla="*/ 6 h 6"/>
                  <a:gd name="T14" fmla="*/ 11 w 14"/>
                  <a:gd name="T15" fmla="*/ 6 h 6"/>
                  <a:gd name="T16" fmla="*/ 13 w 14"/>
                  <a:gd name="T17" fmla="*/ 6 h 6"/>
                  <a:gd name="T18" fmla="*/ 14 w 14"/>
                  <a:gd name="T19" fmla="*/ 6 h 6"/>
                  <a:gd name="T20" fmla="*/ 13 w 14"/>
                  <a:gd name="T21" fmla="*/ 3 h 6"/>
                  <a:gd name="T22" fmla="*/ 11 w 14"/>
                  <a:gd name="T23" fmla="*/ 3 h 6"/>
                  <a:gd name="T24" fmla="*/ 10 w 14"/>
                  <a:gd name="T25" fmla="*/ 3 h 6"/>
                  <a:gd name="T26" fmla="*/ 9 w 14"/>
                  <a:gd name="T27" fmla="*/ 3 h 6"/>
                  <a:gd name="T28" fmla="*/ 7 w 14"/>
                  <a:gd name="T29" fmla="*/ 3 h 6"/>
                  <a:gd name="T30" fmla="*/ 3 w 14"/>
                  <a:gd name="T31" fmla="*/ 1 h 6"/>
                  <a:gd name="T32" fmla="*/ 2 w 14"/>
                  <a:gd name="T33" fmla="*/ 1 h 6"/>
                  <a:gd name="T34" fmla="*/ 1 w 14"/>
                  <a:gd name="T35" fmla="*/ 0 h 6"/>
                  <a:gd name="T36" fmla="*/ 0 w 14"/>
                  <a:gd name="T37" fmla="*/ 3 h 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6"/>
                  <a:gd name="T59" fmla="*/ 14 w 14"/>
                  <a:gd name="T60" fmla="*/ 6 h 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6">
                    <a:moveTo>
                      <a:pt x="0" y="3"/>
                    </a:moveTo>
                    <a:lnTo>
                      <a:pt x="0" y="3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7" y="5"/>
                    </a:lnTo>
                    <a:lnTo>
                      <a:pt x="10" y="6"/>
                    </a:lnTo>
                    <a:lnTo>
                      <a:pt x="11" y="6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3" y="3"/>
                    </a:lnTo>
                    <a:lnTo>
                      <a:pt x="11" y="3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3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07" name="Freeform 951"/>
              <p:cNvSpPr>
                <a:spLocks/>
              </p:cNvSpPr>
              <p:nvPr/>
            </p:nvSpPr>
            <p:spPr bwMode="auto">
              <a:xfrm>
                <a:off x="3015" y="2018"/>
                <a:ext cx="115" cy="63"/>
              </a:xfrm>
              <a:custGeom>
                <a:avLst/>
                <a:gdLst>
                  <a:gd name="T0" fmla="*/ 0 w 115"/>
                  <a:gd name="T1" fmla="*/ 1 h 63"/>
                  <a:gd name="T2" fmla="*/ 2 w 115"/>
                  <a:gd name="T3" fmla="*/ 2 h 63"/>
                  <a:gd name="T4" fmla="*/ 5 w 115"/>
                  <a:gd name="T5" fmla="*/ 4 h 63"/>
                  <a:gd name="T6" fmla="*/ 11 w 115"/>
                  <a:gd name="T7" fmla="*/ 7 h 63"/>
                  <a:gd name="T8" fmla="*/ 18 w 115"/>
                  <a:gd name="T9" fmla="*/ 11 h 63"/>
                  <a:gd name="T10" fmla="*/ 26 w 115"/>
                  <a:gd name="T11" fmla="*/ 16 h 63"/>
                  <a:gd name="T12" fmla="*/ 35 w 115"/>
                  <a:gd name="T13" fmla="*/ 21 h 63"/>
                  <a:gd name="T14" fmla="*/ 45 w 115"/>
                  <a:gd name="T15" fmla="*/ 26 h 63"/>
                  <a:gd name="T16" fmla="*/ 54 w 115"/>
                  <a:gd name="T17" fmla="*/ 31 h 63"/>
                  <a:gd name="T18" fmla="*/ 64 w 115"/>
                  <a:gd name="T19" fmla="*/ 37 h 63"/>
                  <a:gd name="T20" fmla="*/ 75 w 115"/>
                  <a:gd name="T21" fmla="*/ 42 h 63"/>
                  <a:gd name="T22" fmla="*/ 83 w 115"/>
                  <a:gd name="T23" fmla="*/ 47 h 63"/>
                  <a:gd name="T24" fmla="*/ 93 w 115"/>
                  <a:gd name="T25" fmla="*/ 51 h 63"/>
                  <a:gd name="T26" fmla="*/ 99 w 115"/>
                  <a:gd name="T27" fmla="*/ 54 h 63"/>
                  <a:gd name="T28" fmla="*/ 107 w 115"/>
                  <a:gd name="T29" fmla="*/ 59 h 63"/>
                  <a:gd name="T30" fmla="*/ 112 w 115"/>
                  <a:gd name="T31" fmla="*/ 62 h 63"/>
                  <a:gd name="T32" fmla="*/ 114 w 115"/>
                  <a:gd name="T33" fmla="*/ 63 h 63"/>
                  <a:gd name="T34" fmla="*/ 114 w 115"/>
                  <a:gd name="T35" fmla="*/ 61 h 63"/>
                  <a:gd name="T36" fmla="*/ 110 w 115"/>
                  <a:gd name="T37" fmla="*/ 59 h 63"/>
                  <a:gd name="T38" fmla="*/ 104 w 115"/>
                  <a:gd name="T39" fmla="*/ 54 h 63"/>
                  <a:gd name="T40" fmla="*/ 97 w 115"/>
                  <a:gd name="T41" fmla="*/ 51 h 63"/>
                  <a:gd name="T42" fmla="*/ 90 w 115"/>
                  <a:gd name="T43" fmla="*/ 47 h 63"/>
                  <a:gd name="T44" fmla="*/ 80 w 115"/>
                  <a:gd name="T45" fmla="*/ 43 h 63"/>
                  <a:gd name="T46" fmla="*/ 70 w 115"/>
                  <a:gd name="T47" fmla="*/ 37 h 63"/>
                  <a:gd name="T48" fmla="*/ 61 w 115"/>
                  <a:gd name="T49" fmla="*/ 32 h 63"/>
                  <a:gd name="T50" fmla="*/ 51 w 115"/>
                  <a:gd name="T51" fmla="*/ 27 h 63"/>
                  <a:gd name="T52" fmla="*/ 41 w 115"/>
                  <a:gd name="T53" fmla="*/ 21 h 63"/>
                  <a:gd name="T54" fmla="*/ 32 w 115"/>
                  <a:gd name="T55" fmla="*/ 17 h 63"/>
                  <a:gd name="T56" fmla="*/ 23 w 115"/>
                  <a:gd name="T57" fmla="*/ 13 h 63"/>
                  <a:gd name="T58" fmla="*/ 16 w 115"/>
                  <a:gd name="T59" fmla="*/ 7 h 63"/>
                  <a:gd name="T60" fmla="*/ 8 w 115"/>
                  <a:gd name="T61" fmla="*/ 4 h 63"/>
                  <a:gd name="T62" fmla="*/ 4 w 115"/>
                  <a:gd name="T63" fmla="*/ 2 h 63"/>
                  <a:gd name="T64" fmla="*/ 1 w 115"/>
                  <a:gd name="T65" fmla="*/ 0 h 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3"/>
                  <a:gd name="T101" fmla="*/ 115 w 115"/>
                  <a:gd name="T102" fmla="*/ 63 h 6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3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5" y="4"/>
                    </a:lnTo>
                    <a:lnTo>
                      <a:pt x="7" y="6"/>
                    </a:lnTo>
                    <a:lnTo>
                      <a:pt x="11" y="7"/>
                    </a:lnTo>
                    <a:lnTo>
                      <a:pt x="15" y="11"/>
                    </a:lnTo>
                    <a:lnTo>
                      <a:pt x="18" y="11"/>
                    </a:lnTo>
                    <a:lnTo>
                      <a:pt x="22" y="14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1"/>
                    </a:lnTo>
                    <a:lnTo>
                      <a:pt x="39" y="23"/>
                    </a:lnTo>
                    <a:lnTo>
                      <a:pt x="45" y="26"/>
                    </a:lnTo>
                    <a:lnTo>
                      <a:pt x="49" y="28"/>
                    </a:lnTo>
                    <a:lnTo>
                      <a:pt x="54" y="31"/>
                    </a:lnTo>
                    <a:lnTo>
                      <a:pt x="60" y="33"/>
                    </a:lnTo>
                    <a:lnTo>
                      <a:pt x="64" y="37"/>
                    </a:lnTo>
                    <a:lnTo>
                      <a:pt x="70" y="39"/>
                    </a:lnTo>
                    <a:lnTo>
                      <a:pt x="75" y="42"/>
                    </a:lnTo>
                    <a:lnTo>
                      <a:pt x="79" y="44"/>
                    </a:lnTo>
                    <a:lnTo>
                      <a:pt x="83" y="47"/>
                    </a:lnTo>
                    <a:lnTo>
                      <a:pt x="88" y="49"/>
                    </a:lnTo>
                    <a:lnTo>
                      <a:pt x="93" y="51"/>
                    </a:lnTo>
                    <a:lnTo>
                      <a:pt x="96" y="54"/>
                    </a:lnTo>
                    <a:lnTo>
                      <a:pt x="99" y="54"/>
                    </a:lnTo>
                    <a:lnTo>
                      <a:pt x="102" y="58"/>
                    </a:lnTo>
                    <a:lnTo>
                      <a:pt x="107" y="59"/>
                    </a:lnTo>
                    <a:lnTo>
                      <a:pt x="110" y="61"/>
                    </a:lnTo>
                    <a:lnTo>
                      <a:pt x="112" y="62"/>
                    </a:lnTo>
                    <a:lnTo>
                      <a:pt x="113" y="62"/>
                    </a:lnTo>
                    <a:lnTo>
                      <a:pt x="114" y="63"/>
                    </a:lnTo>
                    <a:lnTo>
                      <a:pt x="115" y="62"/>
                    </a:lnTo>
                    <a:lnTo>
                      <a:pt x="114" y="61"/>
                    </a:lnTo>
                    <a:lnTo>
                      <a:pt x="112" y="60"/>
                    </a:lnTo>
                    <a:lnTo>
                      <a:pt x="110" y="59"/>
                    </a:lnTo>
                    <a:lnTo>
                      <a:pt x="107" y="58"/>
                    </a:lnTo>
                    <a:lnTo>
                      <a:pt x="104" y="54"/>
                    </a:lnTo>
                    <a:lnTo>
                      <a:pt x="100" y="54"/>
                    </a:lnTo>
                    <a:lnTo>
                      <a:pt x="97" y="51"/>
                    </a:lnTo>
                    <a:lnTo>
                      <a:pt x="94" y="49"/>
                    </a:lnTo>
                    <a:lnTo>
                      <a:pt x="90" y="47"/>
                    </a:lnTo>
                    <a:lnTo>
                      <a:pt x="84" y="45"/>
                    </a:lnTo>
                    <a:lnTo>
                      <a:pt x="80" y="43"/>
                    </a:lnTo>
                    <a:lnTo>
                      <a:pt x="76" y="41"/>
                    </a:lnTo>
                    <a:lnTo>
                      <a:pt x="70" y="37"/>
                    </a:lnTo>
                    <a:lnTo>
                      <a:pt x="65" y="35"/>
                    </a:lnTo>
                    <a:lnTo>
                      <a:pt x="61" y="32"/>
                    </a:lnTo>
                    <a:lnTo>
                      <a:pt x="55" y="30"/>
                    </a:lnTo>
                    <a:lnTo>
                      <a:pt x="51" y="27"/>
                    </a:lnTo>
                    <a:lnTo>
                      <a:pt x="46" y="24"/>
                    </a:lnTo>
                    <a:lnTo>
                      <a:pt x="41" y="21"/>
                    </a:lnTo>
                    <a:lnTo>
                      <a:pt x="36" y="19"/>
                    </a:lnTo>
                    <a:lnTo>
                      <a:pt x="32" y="17"/>
                    </a:lnTo>
                    <a:lnTo>
                      <a:pt x="27" y="15"/>
                    </a:lnTo>
                    <a:lnTo>
                      <a:pt x="23" y="13"/>
                    </a:lnTo>
                    <a:lnTo>
                      <a:pt x="19" y="11"/>
                    </a:lnTo>
                    <a:lnTo>
                      <a:pt x="16" y="7"/>
                    </a:lnTo>
                    <a:lnTo>
                      <a:pt x="13" y="6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08" name="Freeform 952"/>
              <p:cNvSpPr>
                <a:spLocks/>
              </p:cNvSpPr>
              <p:nvPr/>
            </p:nvSpPr>
            <p:spPr bwMode="auto">
              <a:xfrm>
                <a:off x="3010" y="2012"/>
                <a:ext cx="6" cy="8"/>
              </a:xfrm>
              <a:custGeom>
                <a:avLst/>
                <a:gdLst>
                  <a:gd name="T0" fmla="*/ 4 w 6"/>
                  <a:gd name="T1" fmla="*/ 0 h 8"/>
                  <a:gd name="T2" fmla="*/ 4 w 6"/>
                  <a:gd name="T3" fmla="*/ 0 h 8"/>
                  <a:gd name="T4" fmla="*/ 2 w 6"/>
                  <a:gd name="T5" fmla="*/ 1 h 8"/>
                  <a:gd name="T6" fmla="*/ 1 w 6"/>
                  <a:gd name="T7" fmla="*/ 2 h 8"/>
                  <a:gd name="T8" fmla="*/ 0 w 6"/>
                  <a:gd name="T9" fmla="*/ 4 h 8"/>
                  <a:gd name="T10" fmla="*/ 0 w 6"/>
                  <a:gd name="T11" fmla="*/ 4 h 8"/>
                  <a:gd name="T12" fmla="*/ 1 w 6"/>
                  <a:gd name="T13" fmla="*/ 6 h 8"/>
                  <a:gd name="T14" fmla="*/ 2 w 6"/>
                  <a:gd name="T15" fmla="*/ 7 h 8"/>
                  <a:gd name="T16" fmla="*/ 4 w 6"/>
                  <a:gd name="T17" fmla="*/ 7 h 8"/>
                  <a:gd name="T18" fmla="*/ 5 w 6"/>
                  <a:gd name="T19" fmla="*/ 8 h 8"/>
                  <a:gd name="T20" fmla="*/ 6 w 6"/>
                  <a:gd name="T21" fmla="*/ 7 h 8"/>
                  <a:gd name="T22" fmla="*/ 4 w 6"/>
                  <a:gd name="T23" fmla="*/ 6 h 8"/>
                  <a:gd name="T24" fmla="*/ 3 w 6"/>
                  <a:gd name="T25" fmla="*/ 4 h 8"/>
                  <a:gd name="T26" fmla="*/ 2 w 6"/>
                  <a:gd name="T27" fmla="*/ 4 h 8"/>
                  <a:gd name="T28" fmla="*/ 2 w 6"/>
                  <a:gd name="T29" fmla="*/ 4 h 8"/>
                  <a:gd name="T30" fmla="*/ 3 w 6"/>
                  <a:gd name="T31" fmla="*/ 2 h 8"/>
                  <a:gd name="T32" fmla="*/ 5 w 6"/>
                  <a:gd name="T33" fmla="*/ 2 h 8"/>
                  <a:gd name="T34" fmla="*/ 4 w 6"/>
                  <a:gd name="T35" fmla="*/ 0 h 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"/>
                  <a:gd name="T55" fmla="*/ 0 h 8"/>
                  <a:gd name="T56" fmla="*/ 6 w 6"/>
                  <a:gd name="T57" fmla="*/ 8 h 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" h="8">
                    <a:moveTo>
                      <a:pt x="4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6"/>
                    </a:lnTo>
                    <a:lnTo>
                      <a:pt x="2" y="7"/>
                    </a:lnTo>
                    <a:lnTo>
                      <a:pt x="4" y="7"/>
                    </a:lnTo>
                    <a:lnTo>
                      <a:pt x="5" y="8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3" y="4"/>
                    </a:lnTo>
                    <a:lnTo>
                      <a:pt x="2" y="4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09" name="Freeform 953"/>
              <p:cNvSpPr>
                <a:spLocks/>
              </p:cNvSpPr>
              <p:nvPr/>
            </p:nvSpPr>
            <p:spPr bwMode="auto">
              <a:xfrm>
                <a:off x="3137" y="2070"/>
                <a:ext cx="106" cy="48"/>
              </a:xfrm>
              <a:custGeom>
                <a:avLst/>
                <a:gdLst>
                  <a:gd name="T0" fmla="*/ 106 w 106"/>
                  <a:gd name="T1" fmla="*/ 0 h 48"/>
                  <a:gd name="T2" fmla="*/ 104 w 106"/>
                  <a:gd name="T3" fmla="*/ 1 h 48"/>
                  <a:gd name="T4" fmla="*/ 102 w 106"/>
                  <a:gd name="T5" fmla="*/ 1 h 48"/>
                  <a:gd name="T6" fmla="*/ 100 w 106"/>
                  <a:gd name="T7" fmla="*/ 2 h 48"/>
                  <a:gd name="T8" fmla="*/ 98 w 106"/>
                  <a:gd name="T9" fmla="*/ 3 h 48"/>
                  <a:gd name="T10" fmla="*/ 95 w 106"/>
                  <a:gd name="T11" fmla="*/ 5 h 48"/>
                  <a:gd name="T12" fmla="*/ 92 w 106"/>
                  <a:gd name="T13" fmla="*/ 6 h 48"/>
                  <a:gd name="T14" fmla="*/ 88 w 106"/>
                  <a:gd name="T15" fmla="*/ 8 h 48"/>
                  <a:gd name="T16" fmla="*/ 85 w 106"/>
                  <a:gd name="T17" fmla="*/ 9 h 48"/>
                  <a:gd name="T18" fmla="*/ 82 w 106"/>
                  <a:gd name="T19" fmla="*/ 11 h 48"/>
                  <a:gd name="T20" fmla="*/ 79 w 106"/>
                  <a:gd name="T21" fmla="*/ 13 h 48"/>
                  <a:gd name="T22" fmla="*/ 75 w 106"/>
                  <a:gd name="T23" fmla="*/ 15 h 48"/>
                  <a:gd name="T24" fmla="*/ 70 w 106"/>
                  <a:gd name="T25" fmla="*/ 16 h 48"/>
                  <a:gd name="T26" fmla="*/ 66 w 106"/>
                  <a:gd name="T27" fmla="*/ 18 h 48"/>
                  <a:gd name="T28" fmla="*/ 62 w 106"/>
                  <a:gd name="T29" fmla="*/ 21 h 48"/>
                  <a:gd name="T30" fmla="*/ 57 w 106"/>
                  <a:gd name="T31" fmla="*/ 23 h 48"/>
                  <a:gd name="T32" fmla="*/ 53 w 106"/>
                  <a:gd name="T33" fmla="*/ 24 h 48"/>
                  <a:gd name="T34" fmla="*/ 50 w 106"/>
                  <a:gd name="T35" fmla="*/ 26 h 48"/>
                  <a:gd name="T36" fmla="*/ 45 w 106"/>
                  <a:gd name="T37" fmla="*/ 28 h 48"/>
                  <a:gd name="T38" fmla="*/ 40 w 106"/>
                  <a:gd name="T39" fmla="*/ 30 h 48"/>
                  <a:gd name="T40" fmla="*/ 36 w 106"/>
                  <a:gd name="T41" fmla="*/ 31 h 48"/>
                  <a:gd name="T42" fmla="*/ 31 w 106"/>
                  <a:gd name="T43" fmla="*/ 33 h 48"/>
                  <a:gd name="T44" fmla="*/ 28 w 106"/>
                  <a:gd name="T45" fmla="*/ 36 h 48"/>
                  <a:gd name="T46" fmla="*/ 23 w 106"/>
                  <a:gd name="T47" fmla="*/ 38 h 48"/>
                  <a:gd name="T48" fmla="*/ 20 w 106"/>
                  <a:gd name="T49" fmla="*/ 40 h 48"/>
                  <a:gd name="T50" fmla="*/ 17 w 106"/>
                  <a:gd name="T51" fmla="*/ 41 h 48"/>
                  <a:gd name="T52" fmla="*/ 14 w 106"/>
                  <a:gd name="T53" fmla="*/ 42 h 48"/>
                  <a:gd name="T54" fmla="*/ 10 w 106"/>
                  <a:gd name="T55" fmla="*/ 44 h 48"/>
                  <a:gd name="T56" fmla="*/ 8 w 106"/>
                  <a:gd name="T57" fmla="*/ 45 h 48"/>
                  <a:gd name="T58" fmla="*/ 5 w 106"/>
                  <a:gd name="T59" fmla="*/ 46 h 48"/>
                  <a:gd name="T60" fmla="*/ 3 w 106"/>
                  <a:gd name="T61" fmla="*/ 47 h 48"/>
                  <a:gd name="T62" fmla="*/ 1 w 106"/>
                  <a:gd name="T63" fmla="*/ 47 h 48"/>
                  <a:gd name="T64" fmla="*/ 0 w 106"/>
                  <a:gd name="T65" fmla="*/ 48 h 48"/>
                  <a:gd name="T66" fmla="*/ 106 w 106"/>
                  <a:gd name="T67" fmla="*/ 0 h 4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6"/>
                  <a:gd name="T103" fmla="*/ 0 h 48"/>
                  <a:gd name="T104" fmla="*/ 106 w 106"/>
                  <a:gd name="T105" fmla="*/ 48 h 4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6" h="48">
                    <a:moveTo>
                      <a:pt x="106" y="0"/>
                    </a:moveTo>
                    <a:lnTo>
                      <a:pt x="104" y="1"/>
                    </a:lnTo>
                    <a:lnTo>
                      <a:pt x="102" y="1"/>
                    </a:lnTo>
                    <a:lnTo>
                      <a:pt x="100" y="2"/>
                    </a:lnTo>
                    <a:lnTo>
                      <a:pt x="98" y="3"/>
                    </a:lnTo>
                    <a:lnTo>
                      <a:pt x="95" y="5"/>
                    </a:lnTo>
                    <a:lnTo>
                      <a:pt x="92" y="6"/>
                    </a:lnTo>
                    <a:lnTo>
                      <a:pt x="88" y="8"/>
                    </a:lnTo>
                    <a:lnTo>
                      <a:pt x="85" y="9"/>
                    </a:lnTo>
                    <a:lnTo>
                      <a:pt x="82" y="11"/>
                    </a:lnTo>
                    <a:lnTo>
                      <a:pt x="79" y="13"/>
                    </a:lnTo>
                    <a:lnTo>
                      <a:pt x="75" y="15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1"/>
                    </a:lnTo>
                    <a:lnTo>
                      <a:pt x="57" y="23"/>
                    </a:lnTo>
                    <a:lnTo>
                      <a:pt x="53" y="24"/>
                    </a:lnTo>
                    <a:lnTo>
                      <a:pt x="50" y="26"/>
                    </a:lnTo>
                    <a:lnTo>
                      <a:pt x="45" y="28"/>
                    </a:lnTo>
                    <a:lnTo>
                      <a:pt x="40" y="30"/>
                    </a:lnTo>
                    <a:lnTo>
                      <a:pt x="36" y="31"/>
                    </a:lnTo>
                    <a:lnTo>
                      <a:pt x="31" y="33"/>
                    </a:lnTo>
                    <a:lnTo>
                      <a:pt x="28" y="36"/>
                    </a:lnTo>
                    <a:lnTo>
                      <a:pt x="23" y="38"/>
                    </a:lnTo>
                    <a:lnTo>
                      <a:pt x="20" y="40"/>
                    </a:lnTo>
                    <a:lnTo>
                      <a:pt x="17" y="41"/>
                    </a:lnTo>
                    <a:lnTo>
                      <a:pt x="14" y="42"/>
                    </a:lnTo>
                    <a:lnTo>
                      <a:pt x="10" y="44"/>
                    </a:lnTo>
                    <a:lnTo>
                      <a:pt x="8" y="45"/>
                    </a:lnTo>
                    <a:lnTo>
                      <a:pt x="5" y="46"/>
                    </a:lnTo>
                    <a:lnTo>
                      <a:pt x="3" y="47"/>
                    </a:lnTo>
                    <a:lnTo>
                      <a:pt x="1" y="47"/>
                    </a:lnTo>
                    <a:lnTo>
                      <a:pt x="0" y="48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10" name="Freeform 954"/>
              <p:cNvSpPr>
                <a:spLocks/>
              </p:cNvSpPr>
              <p:nvPr/>
            </p:nvSpPr>
            <p:spPr bwMode="auto">
              <a:xfrm>
                <a:off x="3136" y="2069"/>
                <a:ext cx="107" cy="49"/>
              </a:xfrm>
              <a:custGeom>
                <a:avLst/>
                <a:gdLst>
                  <a:gd name="T0" fmla="*/ 2 w 107"/>
                  <a:gd name="T1" fmla="*/ 48 h 49"/>
                  <a:gd name="T2" fmla="*/ 6 w 107"/>
                  <a:gd name="T3" fmla="*/ 47 h 49"/>
                  <a:gd name="T4" fmla="*/ 10 w 107"/>
                  <a:gd name="T5" fmla="*/ 45 h 49"/>
                  <a:gd name="T6" fmla="*/ 18 w 107"/>
                  <a:gd name="T7" fmla="*/ 42 h 49"/>
                  <a:gd name="T8" fmla="*/ 24 w 107"/>
                  <a:gd name="T9" fmla="*/ 39 h 49"/>
                  <a:gd name="T10" fmla="*/ 32 w 107"/>
                  <a:gd name="T11" fmla="*/ 35 h 49"/>
                  <a:gd name="T12" fmla="*/ 41 w 107"/>
                  <a:gd name="T13" fmla="*/ 31 h 49"/>
                  <a:gd name="T14" fmla="*/ 50 w 107"/>
                  <a:gd name="T15" fmla="*/ 27 h 49"/>
                  <a:gd name="T16" fmla="*/ 58 w 107"/>
                  <a:gd name="T17" fmla="*/ 24 h 49"/>
                  <a:gd name="T18" fmla="*/ 67 w 107"/>
                  <a:gd name="T19" fmla="*/ 19 h 49"/>
                  <a:gd name="T20" fmla="*/ 76 w 107"/>
                  <a:gd name="T21" fmla="*/ 16 h 49"/>
                  <a:gd name="T22" fmla="*/ 83 w 107"/>
                  <a:gd name="T23" fmla="*/ 12 h 49"/>
                  <a:gd name="T24" fmla="*/ 89 w 107"/>
                  <a:gd name="T25" fmla="*/ 9 h 49"/>
                  <a:gd name="T26" fmla="*/ 96 w 107"/>
                  <a:gd name="T27" fmla="*/ 7 h 49"/>
                  <a:gd name="T28" fmla="*/ 101 w 107"/>
                  <a:gd name="T29" fmla="*/ 4 h 49"/>
                  <a:gd name="T30" fmla="*/ 105 w 107"/>
                  <a:gd name="T31" fmla="*/ 2 h 49"/>
                  <a:gd name="T32" fmla="*/ 105 w 107"/>
                  <a:gd name="T33" fmla="*/ 0 h 49"/>
                  <a:gd name="T34" fmla="*/ 103 w 107"/>
                  <a:gd name="T35" fmla="*/ 1 h 49"/>
                  <a:gd name="T36" fmla="*/ 99 w 107"/>
                  <a:gd name="T37" fmla="*/ 3 h 49"/>
                  <a:gd name="T38" fmla="*/ 93 w 107"/>
                  <a:gd name="T39" fmla="*/ 7 h 49"/>
                  <a:gd name="T40" fmla="*/ 86 w 107"/>
                  <a:gd name="T41" fmla="*/ 9 h 49"/>
                  <a:gd name="T42" fmla="*/ 79 w 107"/>
                  <a:gd name="T43" fmla="*/ 12 h 49"/>
                  <a:gd name="T44" fmla="*/ 70 w 107"/>
                  <a:gd name="T45" fmla="*/ 16 h 49"/>
                  <a:gd name="T46" fmla="*/ 62 w 107"/>
                  <a:gd name="T47" fmla="*/ 20 h 49"/>
                  <a:gd name="T48" fmla="*/ 52 w 107"/>
                  <a:gd name="T49" fmla="*/ 24 h 49"/>
                  <a:gd name="T50" fmla="*/ 45 w 107"/>
                  <a:gd name="T51" fmla="*/ 28 h 49"/>
                  <a:gd name="T52" fmla="*/ 35 w 107"/>
                  <a:gd name="T53" fmla="*/ 31 h 49"/>
                  <a:gd name="T54" fmla="*/ 27 w 107"/>
                  <a:gd name="T55" fmla="*/ 35 h 49"/>
                  <a:gd name="T56" fmla="*/ 20 w 107"/>
                  <a:gd name="T57" fmla="*/ 39 h 49"/>
                  <a:gd name="T58" fmla="*/ 12 w 107"/>
                  <a:gd name="T59" fmla="*/ 42 h 49"/>
                  <a:gd name="T60" fmla="*/ 7 w 107"/>
                  <a:gd name="T61" fmla="*/ 44 h 49"/>
                  <a:gd name="T62" fmla="*/ 3 w 107"/>
                  <a:gd name="T63" fmla="*/ 46 h 49"/>
                  <a:gd name="T64" fmla="*/ 0 w 107"/>
                  <a:gd name="T65" fmla="*/ 48 h 4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49"/>
                  <a:gd name="T101" fmla="*/ 107 w 107"/>
                  <a:gd name="T102" fmla="*/ 49 h 4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49">
                    <a:moveTo>
                      <a:pt x="1" y="49"/>
                    </a:moveTo>
                    <a:lnTo>
                      <a:pt x="2" y="48"/>
                    </a:lnTo>
                    <a:lnTo>
                      <a:pt x="4" y="48"/>
                    </a:lnTo>
                    <a:lnTo>
                      <a:pt x="6" y="47"/>
                    </a:lnTo>
                    <a:lnTo>
                      <a:pt x="8" y="46"/>
                    </a:lnTo>
                    <a:lnTo>
                      <a:pt x="10" y="45"/>
                    </a:lnTo>
                    <a:lnTo>
                      <a:pt x="15" y="43"/>
                    </a:lnTo>
                    <a:lnTo>
                      <a:pt x="18" y="42"/>
                    </a:lnTo>
                    <a:lnTo>
                      <a:pt x="21" y="41"/>
                    </a:lnTo>
                    <a:lnTo>
                      <a:pt x="24" y="39"/>
                    </a:lnTo>
                    <a:lnTo>
                      <a:pt x="29" y="37"/>
                    </a:lnTo>
                    <a:lnTo>
                      <a:pt x="32" y="35"/>
                    </a:lnTo>
                    <a:lnTo>
                      <a:pt x="37" y="33"/>
                    </a:lnTo>
                    <a:lnTo>
                      <a:pt x="41" y="31"/>
                    </a:lnTo>
                    <a:lnTo>
                      <a:pt x="46" y="29"/>
                    </a:lnTo>
                    <a:lnTo>
                      <a:pt x="50" y="27"/>
                    </a:lnTo>
                    <a:lnTo>
                      <a:pt x="54" y="25"/>
                    </a:lnTo>
                    <a:lnTo>
                      <a:pt x="58" y="24"/>
                    </a:lnTo>
                    <a:lnTo>
                      <a:pt x="63" y="22"/>
                    </a:lnTo>
                    <a:lnTo>
                      <a:pt x="67" y="19"/>
                    </a:lnTo>
                    <a:lnTo>
                      <a:pt x="71" y="18"/>
                    </a:lnTo>
                    <a:lnTo>
                      <a:pt x="76" y="16"/>
                    </a:lnTo>
                    <a:lnTo>
                      <a:pt x="80" y="14"/>
                    </a:lnTo>
                    <a:lnTo>
                      <a:pt x="83" y="12"/>
                    </a:lnTo>
                    <a:lnTo>
                      <a:pt x="86" y="11"/>
                    </a:lnTo>
                    <a:lnTo>
                      <a:pt x="89" y="9"/>
                    </a:lnTo>
                    <a:lnTo>
                      <a:pt x="93" y="9"/>
                    </a:lnTo>
                    <a:lnTo>
                      <a:pt x="96" y="7"/>
                    </a:lnTo>
                    <a:lnTo>
                      <a:pt x="99" y="4"/>
                    </a:lnTo>
                    <a:lnTo>
                      <a:pt x="101" y="4"/>
                    </a:lnTo>
                    <a:lnTo>
                      <a:pt x="103" y="3"/>
                    </a:lnTo>
                    <a:lnTo>
                      <a:pt x="105" y="2"/>
                    </a:lnTo>
                    <a:lnTo>
                      <a:pt x="107" y="1"/>
                    </a:lnTo>
                    <a:lnTo>
                      <a:pt x="105" y="0"/>
                    </a:lnTo>
                    <a:lnTo>
                      <a:pt x="104" y="0"/>
                    </a:lnTo>
                    <a:lnTo>
                      <a:pt x="103" y="1"/>
                    </a:lnTo>
                    <a:lnTo>
                      <a:pt x="101" y="2"/>
                    </a:lnTo>
                    <a:lnTo>
                      <a:pt x="99" y="3"/>
                    </a:lnTo>
                    <a:lnTo>
                      <a:pt x="96" y="4"/>
                    </a:lnTo>
                    <a:lnTo>
                      <a:pt x="93" y="7"/>
                    </a:lnTo>
                    <a:lnTo>
                      <a:pt x="89" y="7"/>
                    </a:lnTo>
                    <a:lnTo>
                      <a:pt x="86" y="9"/>
                    </a:lnTo>
                    <a:lnTo>
                      <a:pt x="82" y="11"/>
                    </a:lnTo>
                    <a:lnTo>
                      <a:pt x="79" y="12"/>
                    </a:lnTo>
                    <a:lnTo>
                      <a:pt x="73" y="15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0"/>
                    </a:lnTo>
                    <a:lnTo>
                      <a:pt x="57" y="22"/>
                    </a:lnTo>
                    <a:lnTo>
                      <a:pt x="52" y="24"/>
                    </a:lnTo>
                    <a:lnTo>
                      <a:pt x="49" y="26"/>
                    </a:lnTo>
                    <a:lnTo>
                      <a:pt x="45" y="28"/>
                    </a:lnTo>
                    <a:lnTo>
                      <a:pt x="40" y="29"/>
                    </a:lnTo>
                    <a:lnTo>
                      <a:pt x="35" y="31"/>
                    </a:lnTo>
                    <a:lnTo>
                      <a:pt x="32" y="34"/>
                    </a:lnTo>
                    <a:lnTo>
                      <a:pt x="27" y="35"/>
                    </a:lnTo>
                    <a:lnTo>
                      <a:pt x="24" y="37"/>
                    </a:lnTo>
                    <a:lnTo>
                      <a:pt x="20" y="39"/>
                    </a:lnTo>
                    <a:lnTo>
                      <a:pt x="17" y="41"/>
                    </a:lnTo>
                    <a:lnTo>
                      <a:pt x="12" y="42"/>
                    </a:lnTo>
                    <a:lnTo>
                      <a:pt x="10" y="43"/>
                    </a:lnTo>
                    <a:lnTo>
                      <a:pt x="7" y="44"/>
                    </a:lnTo>
                    <a:lnTo>
                      <a:pt x="5" y="45"/>
                    </a:lnTo>
                    <a:lnTo>
                      <a:pt x="3" y="46"/>
                    </a:lnTo>
                    <a:lnTo>
                      <a:pt x="1" y="47"/>
                    </a:lnTo>
                    <a:lnTo>
                      <a:pt x="0" y="48"/>
                    </a:lnTo>
                    <a:lnTo>
                      <a:pt x="1" y="49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11" name="Freeform 955"/>
              <p:cNvSpPr>
                <a:spLocks/>
              </p:cNvSpPr>
              <p:nvPr/>
            </p:nvSpPr>
            <p:spPr bwMode="auto">
              <a:xfrm>
                <a:off x="2998" y="1972"/>
                <a:ext cx="252" cy="110"/>
              </a:xfrm>
              <a:custGeom>
                <a:avLst/>
                <a:gdLst>
                  <a:gd name="T0" fmla="*/ 2 w 252"/>
                  <a:gd name="T1" fmla="*/ 30 h 110"/>
                  <a:gd name="T2" fmla="*/ 1 w 252"/>
                  <a:gd name="T3" fmla="*/ 15 h 110"/>
                  <a:gd name="T4" fmla="*/ 12 w 252"/>
                  <a:gd name="T5" fmla="*/ 0 h 110"/>
                  <a:gd name="T6" fmla="*/ 18 w 252"/>
                  <a:gd name="T7" fmla="*/ 0 h 110"/>
                  <a:gd name="T8" fmla="*/ 34 w 252"/>
                  <a:gd name="T9" fmla="*/ 1 h 110"/>
                  <a:gd name="T10" fmla="*/ 58 w 252"/>
                  <a:gd name="T11" fmla="*/ 2 h 110"/>
                  <a:gd name="T12" fmla="*/ 86 w 252"/>
                  <a:gd name="T13" fmla="*/ 4 h 110"/>
                  <a:gd name="T14" fmla="*/ 118 w 252"/>
                  <a:gd name="T15" fmla="*/ 6 h 110"/>
                  <a:gd name="T16" fmla="*/ 149 w 252"/>
                  <a:gd name="T17" fmla="*/ 10 h 110"/>
                  <a:gd name="T18" fmla="*/ 180 w 252"/>
                  <a:gd name="T19" fmla="*/ 13 h 110"/>
                  <a:gd name="T20" fmla="*/ 208 w 252"/>
                  <a:gd name="T21" fmla="*/ 15 h 110"/>
                  <a:gd name="T22" fmla="*/ 228 w 252"/>
                  <a:gd name="T23" fmla="*/ 17 h 110"/>
                  <a:gd name="T24" fmla="*/ 241 w 252"/>
                  <a:gd name="T25" fmla="*/ 19 h 110"/>
                  <a:gd name="T26" fmla="*/ 245 w 252"/>
                  <a:gd name="T27" fmla="*/ 37 h 110"/>
                  <a:gd name="T28" fmla="*/ 247 w 252"/>
                  <a:gd name="T29" fmla="*/ 57 h 110"/>
                  <a:gd name="T30" fmla="*/ 251 w 252"/>
                  <a:gd name="T31" fmla="*/ 60 h 110"/>
                  <a:gd name="T32" fmla="*/ 251 w 252"/>
                  <a:gd name="T33" fmla="*/ 64 h 110"/>
                  <a:gd name="T34" fmla="*/ 247 w 252"/>
                  <a:gd name="T35" fmla="*/ 66 h 110"/>
                  <a:gd name="T36" fmla="*/ 238 w 252"/>
                  <a:gd name="T37" fmla="*/ 69 h 110"/>
                  <a:gd name="T38" fmla="*/ 230 w 252"/>
                  <a:gd name="T39" fmla="*/ 74 h 110"/>
                  <a:gd name="T40" fmla="*/ 218 w 252"/>
                  <a:gd name="T41" fmla="*/ 78 h 110"/>
                  <a:gd name="T42" fmla="*/ 205 w 252"/>
                  <a:gd name="T43" fmla="*/ 84 h 110"/>
                  <a:gd name="T44" fmla="*/ 193 w 252"/>
                  <a:gd name="T45" fmla="*/ 90 h 110"/>
                  <a:gd name="T46" fmla="*/ 180 w 252"/>
                  <a:gd name="T47" fmla="*/ 94 h 110"/>
                  <a:gd name="T48" fmla="*/ 170 w 252"/>
                  <a:gd name="T49" fmla="*/ 100 h 110"/>
                  <a:gd name="T50" fmla="*/ 159 w 252"/>
                  <a:gd name="T51" fmla="*/ 105 h 110"/>
                  <a:gd name="T52" fmla="*/ 150 w 252"/>
                  <a:gd name="T53" fmla="*/ 108 h 110"/>
                  <a:gd name="T54" fmla="*/ 145 w 252"/>
                  <a:gd name="T55" fmla="*/ 110 h 110"/>
                  <a:gd name="T56" fmla="*/ 141 w 252"/>
                  <a:gd name="T57" fmla="*/ 110 h 110"/>
                  <a:gd name="T58" fmla="*/ 134 w 252"/>
                  <a:gd name="T59" fmla="*/ 108 h 110"/>
                  <a:gd name="T60" fmla="*/ 130 w 252"/>
                  <a:gd name="T61" fmla="*/ 107 h 110"/>
                  <a:gd name="T62" fmla="*/ 124 w 252"/>
                  <a:gd name="T63" fmla="*/ 104 h 110"/>
                  <a:gd name="T64" fmla="*/ 113 w 252"/>
                  <a:gd name="T65" fmla="*/ 97 h 110"/>
                  <a:gd name="T66" fmla="*/ 101 w 252"/>
                  <a:gd name="T67" fmla="*/ 91 h 110"/>
                  <a:gd name="T68" fmla="*/ 87 w 252"/>
                  <a:gd name="T69" fmla="*/ 83 h 110"/>
                  <a:gd name="T70" fmla="*/ 72 w 252"/>
                  <a:gd name="T71" fmla="*/ 75 h 110"/>
                  <a:gd name="T72" fmla="*/ 58 w 252"/>
                  <a:gd name="T73" fmla="*/ 67 h 110"/>
                  <a:gd name="T74" fmla="*/ 44 w 252"/>
                  <a:gd name="T75" fmla="*/ 60 h 110"/>
                  <a:gd name="T76" fmla="*/ 33 w 252"/>
                  <a:gd name="T77" fmla="*/ 53 h 110"/>
                  <a:gd name="T78" fmla="*/ 23 w 252"/>
                  <a:gd name="T79" fmla="*/ 49 h 110"/>
                  <a:gd name="T80" fmla="*/ 18 w 252"/>
                  <a:gd name="T81" fmla="*/ 47 h 110"/>
                  <a:gd name="T82" fmla="*/ 15 w 252"/>
                  <a:gd name="T83" fmla="*/ 44 h 110"/>
                  <a:gd name="T84" fmla="*/ 10 w 252"/>
                  <a:gd name="T85" fmla="*/ 41 h 110"/>
                  <a:gd name="T86" fmla="*/ 5 w 252"/>
                  <a:gd name="T87" fmla="*/ 37 h 11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252"/>
                  <a:gd name="T133" fmla="*/ 0 h 110"/>
                  <a:gd name="T134" fmla="*/ 252 w 252"/>
                  <a:gd name="T135" fmla="*/ 110 h 11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252" h="110">
                    <a:moveTo>
                      <a:pt x="5" y="37"/>
                    </a:moveTo>
                    <a:lnTo>
                      <a:pt x="3" y="34"/>
                    </a:lnTo>
                    <a:lnTo>
                      <a:pt x="2" y="30"/>
                    </a:lnTo>
                    <a:lnTo>
                      <a:pt x="1" y="25"/>
                    </a:lnTo>
                    <a:lnTo>
                      <a:pt x="0" y="20"/>
                    </a:lnTo>
                    <a:lnTo>
                      <a:pt x="1" y="15"/>
                    </a:lnTo>
                    <a:lnTo>
                      <a:pt x="2" y="11"/>
                    </a:lnTo>
                    <a:lnTo>
                      <a:pt x="5" y="4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8" y="1"/>
                    </a:lnTo>
                    <a:lnTo>
                      <a:pt x="34" y="1"/>
                    </a:lnTo>
                    <a:lnTo>
                      <a:pt x="40" y="1"/>
                    </a:lnTo>
                    <a:lnTo>
                      <a:pt x="49" y="2"/>
                    </a:lnTo>
                    <a:lnTo>
                      <a:pt x="58" y="2"/>
                    </a:lnTo>
                    <a:lnTo>
                      <a:pt x="67" y="3"/>
                    </a:lnTo>
                    <a:lnTo>
                      <a:pt x="76" y="3"/>
                    </a:lnTo>
                    <a:lnTo>
                      <a:pt x="86" y="4"/>
                    </a:lnTo>
                    <a:lnTo>
                      <a:pt x="96" y="6"/>
                    </a:lnTo>
                    <a:lnTo>
                      <a:pt x="107" y="6"/>
                    </a:lnTo>
                    <a:lnTo>
                      <a:pt x="118" y="6"/>
                    </a:lnTo>
                    <a:lnTo>
                      <a:pt x="128" y="9"/>
                    </a:lnTo>
                    <a:lnTo>
                      <a:pt x="140" y="10"/>
                    </a:lnTo>
                    <a:lnTo>
                      <a:pt x="149" y="10"/>
                    </a:lnTo>
                    <a:lnTo>
                      <a:pt x="160" y="11"/>
                    </a:lnTo>
                    <a:lnTo>
                      <a:pt x="170" y="12"/>
                    </a:lnTo>
                    <a:lnTo>
                      <a:pt x="180" y="13"/>
                    </a:lnTo>
                    <a:lnTo>
                      <a:pt x="189" y="14"/>
                    </a:lnTo>
                    <a:lnTo>
                      <a:pt x="199" y="14"/>
                    </a:lnTo>
                    <a:lnTo>
                      <a:pt x="208" y="15"/>
                    </a:lnTo>
                    <a:lnTo>
                      <a:pt x="215" y="16"/>
                    </a:lnTo>
                    <a:lnTo>
                      <a:pt x="222" y="16"/>
                    </a:lnTo>
                    <a:lnTo>
                      <a:pt x="228" y="17"/>
                    </a:lnTo>
                    <a:lnTo>
                      <a:pt x="234" y="18"/>
                    </a:lnTo>
                    <a:lnTo>
                      <a:pt x="237" y="18"/>
                    </a:lnTo>
                    <a:lnTo>
                      <a:pt x="241" y="19"/>
                    </a:lnTo>
                    <a:lnTo>
                      <a:pt x="243" y="19"/>
                    </a:lnTo>
                    <a:lnTo>
                      <a:pt x="245" y="29"/>
                    </a:lnTo>
                    <a:lnTo>
                      <a:pt x="245" y="37"/>
                    </a:lnTo>
                    <a:lnTo>
                      <a:pt x="245" y="47"/>
                    </a:lnTo>
                    <a:lnTo>
                      <a:pt x="246" y="56"/>
                    </a:lnTo>
                    <a:lnTo>
                      <a:pt x="247" y="57"/>
                    </a:lnTo>
                    <a:lnTo>
                      <a:pt x="249" y="58"/>
                    </a:lnTo>
                    <a:lnTo>
                      <a:pt x="250" y="60"/>
                    </a:lnTo>
                    <a:lnTo>
                      <a:pt x="251" y="60"/>
                    </a:lnTo>
                    <a:lnTo>
                      <a:pt x="252" y="62"/>
                    </a:lnTo>
                    <a:lnTo>
                      <a:pt x="252" y="63"/>
                    </a:lnTo>
                    <a:lnTo>
                      <a:pt x="251" y="64"/>
                    </a:lnTo>
                    <a:lnTo>
                      <a:pt x="249" y="65"/>
                    </a:lnTo>
                    <a:lnTo>
                      <a:pt x="248" y="66"/>
                    </a:lnTo>
                    <a:lnTo>
                      <a:pt x="247" y="66"/>
                    </a:lnTo>
                    <a:lnTo>
                      <a:pt x="245" y="67"/>
                    </a:lnTo>
                    <a:lnTo>
                      <a:pt x="241" y="68"/>
                    </a:lnTo>
                    <a:lnTo>
                      <a:pt x="238" y="69"/>
                    </a:lnTo>
                    <a:lnTo>
                      <a:pt x="236" y="70"/>
                    </a:lnTo>
                    <a:lnTo>
                      <a:pt x="233" y="72"/>
                    </a:lnTo>
                    <a:lnTo>
                      <a:pt x="230" y="74"/>
                    </a:lnTo>
                    <a:lnTo>
                      <a:pt x="226" y="75"/>
                    </a:lnTo>
                    <a:lnTo>
                      <a:pt x="222" y="77"/>
                    </a:lnTo>
                    <a:lnTo>
                      <a:pt x="218" y="78"/>
                    </a:lnTo>
                    <a:lnTo>
                      <a:pt x="215" y="81"/>
                    </a:lnTo>
                    <a:lnTo>
                      <a:pt x="210" y="81"/>
                    </a:lnTo>
                    <a:lnTo>
                      <a:pt x="205" y="84"/>
                    </a:lnTo>
                    <a:lnTo>
                      <a:pt x="202" y="85"/>
                    </a:lnTo>
                    <a:lnTo>
                      <a:pt x="197" y="88"/>
                    </a:lnTo>
                    <a:lnTo>
                      <a:pt x="193" y="90"/>
                    </a:lnTo>
                    <a:lnTo>
                      <a:pt x="189" y="91"/>
                    </a:lnTo>
                    <a:lnTo>
                      <a:pt x="185" y="93"/>
                    </a:lnTo>
                    <a:lnTo>
                      <a:pt x="180" y="94"/>
                    </a:lnTo>
                    <a:lnTo>
                      <a:pt x="177" y="97"/>
                    </a:lnTo>
                    <a:lnTo>
                      <a:pt x="173" y="99"/>
                    </a:lnTo>
                    <a:lnTo>
                      <a:pt x="170" y="100"/>
                    </a:lnTo>
                    <a:lnTo>
                      <a:pt x="165" y="101"/>
                    </a:lnTo>
                    <a:lnTo>
                      <a:pt x="162" y="104"/>
                    </a:lnTo>
                    <a:lnTo>
                      <a:pt x="159" y="105"/>
                    </a:lnTo>
                    <a:lnTo>
                      <a:pt x="156" y="106"/>
                    </a:lnTo>
                    <a:lnTo>
                      <a:pt x="154" y="107"/>
                    </a:lnTo>
                    <a:lnTo>
                      <a:pt x="150" y="108"/>
                    </a:lnTo>
                    <a:lnTo>
                      <a:pt x="148" y="109"/>
                    </a:lnTo>
                    <a:lnTo>
                      <a:pt x="146" y="109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10"/>
                    </a:lnTo>
                    <a:lnTo>
                      <a:pt x="141" y="110"/>
                    </a:lnTo>
                    <a:lnTo>
                      <a:pt x="140" y="109"/>
                    </a:lnTo>
                    <a:lnTo>
                      <a:pt x="138" y="109"/>
                    </a:lnTo>
                    <a:lnTo>
                      <a:pt x="134" y="108"/>
                    </a:lnTo>
                    <a:lnTo>
                      <a:pt x="132" y="107"/>
                    </a:lnTo>
                    <a:lnTo>
                      <a:pt x="130" y="107"/>
                    </a:lnTo>
                    <a:lnTo>
                      <a:pt x="129" y="106"/>
                    </a:lnTo>
                    <a:lnTo>
                      <a:pt x="127" y="105"/>
                    </a:lnTo>
                    <a:lnTo>
                      <a:pt x="124" y="104"/>
                    </a:lnTo>
                    <a:lnTo>
                      <a:pt x="122" y="101"/>
                    </a:lnTo>
                    <a:lnTo>
                      <a:pt x="118" y="100"/>
                    </a:lnTo>
                    <a:lnTo>
                      <a:pt x="113" y="97"/>
                    </a:lnTo>
                    <a:lnTo>
                      <a:pt x="110" y="95"/>
                    </a:lnTo>
                    <a:lnTo>
                      <a:pt x="106" y="93"/>
                    </a:lnTo>
                    <a:lnTo>
                      <a:pt x="101" y="91"/>
                    </a:lnTo>
                    <a:lnTo>
                      <a:pt x="96" y="89"/>
                    </a:lnTo>
                    <a:lnTo>
                      <a:pt x="92" y="87"/>
                    </a:lnTo>
                    <a:lnTo>
                      <a:pt x="87" y="83"/>
                    </a:lnTo>
                    <a:lnTo>
                      <a:pt x="82" y="81"/>
                    </a:lnTo>
                    <a:lnTo>
                      <a:pt x="77" y="78"/>
                    </a:lnTo>
                    <a:lnTo>
                      <a:pt x="72" y="75"/>
                    </a:lnTo>
                    <a:lnTo>
                      <a:pt x="67" y="73"/>
                    </a:lnTo>
                    <a:lnTo>
                      <a:pt x="63" y="69"/>
                    </a:lnTo>
                    <a:lnTo>
                      <a:pt x="58" y="67"/>
                    </a:lnTo>
                    <a:lnTo>
                      <a:pt x="53" y="65"/>
                    </a:lnTo>
                    <a:lnTo>
                      <a:pt x="49" y="63"/>
                    </a:lnTo>
                    <a:lnTo>
                      <a:pt x="44" y="60"/>
                    </a:lnTo>
                    <a:lnTo>
                      <a:pt x="39" y="58"/>
                    </a:lnTo>
                    <a:lnTo>
                      <a:pt x="36" y="56"/>
                    </a:lnTo>
                    <a:lnTo>
                      <a:pt x="33" y="53"/>
                    </a:lnTo>
                    <a:lnTo>
                      <a:pt x="30" y="52"/>
                    </a:lnTo>
                    <a:lnTo>
                      <a:pt x="25" y="50"/>
                    </a:lnTo>
                    <a:lnTo>
                      <a:pt x="23" y="49"/>
                    </a:lnTo>
                    <a:lnTo>
                      <a:pt x="21" y="48"/>
                    </a:lnTo>
                    <a:lnTo>
                      <a:pt x="19" y="47"/>
                    </a:lnTo>
                    <a:lnTo>
                      <a:pt x="18" y="47"/>
                    </a:lnTo>
                    <a:lnTo>
                      <a:pt x="17" y="46"/>
                    </a:lnTo>
                    <a:lnTo>
                      <a:pt x="16" y="44"/>
                    </a:lnTo>
                    <a:lnTo>
                      <a:pt x="15" y="44"/>
                    </a:lnTo>
                    <a:lnTo>
                      <a:pt x="13" y="44"/>
                    </a:lnTo>
                    <a:lnTo>
                      <a:pt x="12" y="42"/>
                    </a:lnTo>
                    <a:lnTo>
                      <a:pt x="10" y="41"/>
                    </a:lnTo>
                    <a:lnTo>
                      <a:pt x="8" y="40"/>
                    </a:lnTo>
                    <a:lnTo>
                      <a:pt x="6" y="38"/>
                    </a:lnTo>
                    <a:lnTo>
                      <a:pt x="5" y="37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12" name="Freeform 956"/>
              <p:cNvSpPr>
                <a:spLocks/>
              </p:cNvSpPr>
              <p:nvPr/>
            </p:nvSpPr>
            <p:spPr bwMode="auto">
              <a:xfrm>
                <a:off x="2997" y="1972"/>
                <a:ext cx="14" cy="37"/>
              </a:xfrm>
              <a:custGeom>
                <a:avLst/>
                <a:gdLst>
                  <a:gd name="T0" fmla="*/ 13 w 14"/>
                  <a:gd name="T1" fmla="*/ 0 h 37"/>
                  <a:gd name="T2" fmla="*/ 13 w 14"/>
                  <a:gd name="T3" fmla="*/ 0 h 37"/>
                  <a:gd name="T4" fmla="*/ 6 w 14"/>
                  <a:gd name="T5" fmla="*/ 4 h 37"/>
                  <a:gd name="T6" fmla="*/ 2 w 14"/>
                  <a:gd name="T7" fmla="*/ 10 h 37"/>
                  <a:gd name="T8" fmla="*/ 0 w 14"/>
                  <a:gd name="T9" fmla="*/ 15 h 37"/>
                  <a:gd name="T10" fmla="*/ 0 w 14"/>
                  <a:gd name="T11" fmla="*/ 20 h 37"/>
                  <a:gd name="T12" fmla="*/ 0 w 14"/>
                  <a:gd name="T13" fmla="*/ 25 h 37"/>
                  <a:gd name="T14" fmla="*/ 2 w 14"/>
                  <a:gd name="T15" fmla="*/ 31 h 37"/>
                  <a:gd name="T16" fmla="*/ 4 w 14"/>
                  <a:gd name="T17" fmla="*/ 34 h 37"/>
                  <a:gd name="T18" fmla="*/ 6 w 14"/>
                  <a:gd name="T19" fmla="*/ 37 h 37"/>
                  <a:gd name="T20" fmla="*/ 8 w 14"/>
                  <a:gd name="T21" fmla="*/ 36 h 37"/>
                  <a:gd name="T22" fmla="*/ 6 w 14"/>
                  <a:gd name="T23" fmla="*/ 34 h 37"/>
                  <a:gd name="T24" fmla="*/ 4 w 14"/>
                  <a:gd name="T25" fmla="*/ 29 h 37"/>
                  <a:gd name="T26" fmla="*/ 2 w 14"/>
                  <a:gd name="T27" fmla="*/ 25 h 37"/>
                  <a:gd name="T28" fmla="*/ 2 w 14"/>
                  <a:gd name="T29" fmla="*/ 20 h 37"/>
                  <a:gd name="T30" fmla="*/ 2 w 14"/>
                  <a:gd name="T31" fmla="*/ 15 h 37"/>
                  <a:gd name="T32" fmla="*/ 4 w 14"/>
                  <a:gd name="T33" fmla="*/ 11 h 37"/>
                  <a:gd name="T34" fmla="*/ 8 w 14"/>
                  <a:gd name="T35" fmla="*/ 6 h 37"/>
                  <a:gd name="T36" fmla="*/ 14 w 14"/>
                  <a:gd name="T37" fmla="*/ 1 h 37"/>
                  <a:gd name="T38" fmla="*/ 13 w 14"/>
                  <a:gd name="T39" fmla="*/ 0 h 3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4"/>
                  <a:gd name="T61" fmla="*/ 0 h 37"/>
                  <a:gd name="T62" fmla="*/ 14 w 14"/>
                  <a:gd name="T63" fmla="*/ 37 h 3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4" h="37">
                    <a:moveTo>
                      <a:pt x="13" y="0"/>
                    </a:moveTo>
                    <a:lnTo>
                      <a:pt x="13" y="0"/>
                    </a:lnTo>
                    <a:lnTo>
                      <a:pt x="6" y="4"/>
                    </a:lnTo>
                    <a:lnTo>
                      <a:pt x="2" y="10"/>
                    </a:lnTo>
                    <a:lnTo>
                      <a:pt x="0" y="15"/>
                    </a:lnTo>
                    <a:lnTo>
                      <a:pt x="0" y="20"/>
                    </a:lnTo>
                    <a:lnTo>
                      <a:pt x="0" y="25"/>
                    </a:lnTo>
                    <a:lnTo>
                      <a:pt x="2" y="31"/>
                    </a:lnTo>
                    <a:lnTo>
                      <a:pt x="4" y="34"/>
                    </a:lnTo>
                    <a:lnTo>
                      <a:pt x="6" y="37"/>
                    </a:lnTo>
                    <a:lnTo>
                      <a:pt x="8" y="36"/>
                    </a:lnTo>
                    <a:lnTo>
                      <a:pt x="6" y="34"/>
                    </a:lnTo>
                    <a:lnTo>
                      <a:pt x="4" y="29"/>
                    </a:lnTo>
                    <a:lnTo>
                      <a:pt x="2" y="25"/>
                    </a:lnTo>
                    <a:lnTo>
                      <a:pt x="2" y="20"/>
                    </a:lnTo>
                    <a:lnTo>
                      <a:pt x="2" y="15"/>
                    </a:lnTo>
                    <a:lnTo>
                      <a:pt x="4" y="11"/>
                    </a:lnTo>
                    <a:lnTo>
                      <a:pt x="8" y="6"/>
                    </a:lnTo>
                    <a:lnTo>
                      <a:pt x="14" y="1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13" name="Freeform 957"/>
              <p:cNvSpPr>
                <a:spLocks/>
              </p:cNvSpPr>
              <p:nvPr/>
            </p:nvSpPr>
            <p:spPr bwMode="auto">
              <a:xfrm>
                <a:off x="3010" y="1971"/>
                <a:ext cx="231" cy="21"/>
              </a:xfrm>
              <a:custGeom>
                <a:avLst/>
                <a:gdLst>
                  <a:gd name="T0" fmla="*/ 231 w 231"/>
                  <a:gd name="T1" fmla="*/ 21 h 21"/>
                  <a:gd name="T2" fmla="*/ 228 w 231"/>
                  <a:gd name="T3" fmla="*/ 19 h 21"/>
                  <a:gd name="T4" fmla="*/ 221 w 231"/>
                  <a:gd name="T5" fmla="*/ 18 h 21"/>
                  <a:gd name="T6" fmla="*/ 210 w 231"/>
                  <a:gd name="T7" fmla="*/ 17 h 21"/>
                  <a:gd name="T8" fmla="*/ 195 w 231"/>
                  <a:gd name="T9" fmla="*/ 15 h 21"/>
                  <a:gd name="T10" fmla="*/ 178 w 231"/>
                  <a:gd name="T11" fmla="*/ 13 h 21"/>
                  <a:gd name="T12" fmla="*/ 158 w 231"/>
                  <a:gd name="T13" fmla="*/ 11 h 21"/>
                  <a:gd name="T14" fmla="*/ 137 w 231"/>
                  <a:gd name="T15" fmla="*/ 11 h 21"/>
                  <a:gd name="T16" fmla="*/ 116 w 231"/>
                  <a:gd name="T17" fmla="*/ 7 h 21"/>
                  <a:gd name="T18" fmla="*/ 96 w 231"/>
                  <a:gd name="T19" fmla="*/ 5 h 21"/>
                  <a:gd name="T20" fmla="*/ 74 w 231"/>
                  <a:gd name="T21" fmla="*/ 4 h 21"/>
                  <a:gd name="T22" fmla="*/ 55 w 231"/>
                  <a:gd name="T23" fmla="*/ 3 h 21"/>
                  <a:gd name="T24" fmla="*/ 38 w 231"/>
                  <a:gd name="T25" fmla="*/ 2 h 21"/>
                  <a:gd name="T26" fmla="*/ 22 w 231"/>
                  <a:gd name="T27" fmla="*/ 1 h 21"/>
                  <a:gd name="T28" fmla="*/ 10 w 231"/>
                  <a:gd name="T29" fmla="*/ 0 h 21"/>
                  <a:gd name="T30" fmla="*/ 3 w 231"/>
                  <a:gd name="T31" fmla="*/ 0 h 21"/>
                  <a:gd name="T32" fmla="*/ 0 w 231"/>
                  <a:gd name="T33" fmla="*/ 0 h 21"/>
                  <a:gd name="T34" fmla="*/ 3 w 231"/>
                  <a:gd name="T35" fmla="*/ 2 h 21"/>
                  <a:gd name="T36" fmla="*/ 10 w 231"/>
                  <a:gd name="T37" fmla="*/ 2 h 21"/>
                  <a:gd name="T38" fmla="*/ 22 w 231"/>
                  <a:gd name="T39" fmla="*/ 3 h 21"/>
                  <a:gd name="T40" fmla="*/ 38 w 231"/>
                  <a:gd name="T41" fmla="*/ 3 h 21"/>
                  <a:gd name="T42" fmla="*/ 55 w 231"/>
                  <a:gd name="T43" fmla="*/ 4 h 21"/>
                  <a:gd name="T44" fmla="*/ 74 w 231"/>
                  <a:gd name="T45" fmla="*/ 6 h 21"/>
                  <a:gd name="T46" fmla="*/ 96 w 231"/>
                  <a:gd name="T47" fmla="*/ 7 h 21"/>
                  <a:gd name="T48" fmla="*/ 116 w 231"/>
                  <a:gd name="T49" fmla="*/ 11 h 21"/>
                  <a:gd name="T50" fmla="*/ 137 w 231"/>
                  <a:gd name="T51" fmla="*/ 11 h 21"/>
                  <a:gd name="T52" fmla="*/ 158 w 231"/>
                  <a:gd name="T53" fmla="*/ 13 h 21"/>
                  <a:gd name="T54" fmla="*/ 178 w 231"/>
                  <a:gd name="T55" fmla="*/ 15 h 21"/>
                  <a:gd name="T56" fmla="*/ 195 w 231"/>
                  <a:gd name="T57" fmla="*/ 17 h 21"/>
                  <a:gd name="T58" fmla="*/ 210 w 231"/>
                  <a:gd name="T59" fmla="*/ 18 h 21"/>
                  <a:gd name="T60" fmla="*/ 221 w 231"/>
                  <a:gd name="T61" fmla="*/ 20 h 21"/>
                  <a:gd name="T62" fmla="*/ 228 w 231"/>
                  <a:gd name="T63" fmla="*/ 21 h 21"/>
                  <a:gd name="T64" fmla="*/ 231 w 231"/>
                  <a:gd name="T65" fmla="*/ 21 h 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31"/>
                  <a:gd name="T100" fmla="*/ 0 h 21"/>
                  <a:gd name="T101" fmla="*/ 231 w 231"/>
                  <a:gd name="T102" fmla="*/ 21 h 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31" h="21">
                    <a:moveTo>
                      <a:pt x="231" y="21"/>
                    </a:moveTo>
                    <a:lnTo>
                      <a:pt x="231" y="21"/>
                    </a:lnTo>
                    <a:lnTo>
                      <a:pt x="230" y="19"/>
                    </a:lnTo>
                    <a:lnTo>
                      <a:pt x="228" y="19"/>
                    </a:lnTo>
                    <a:lnTo>
                      <a:pt x="225" y="18"/>
                    </a:lnTo>
                    <a:lnTo>
                      <a:pt x="221" y="18"/>
                    </a:lnTo>
                    <a:lnTo>
                      <a:pt x="215" y="17"/>
                    </a:lnTo>
                    <a:lnTo>
                      <a:pt x="210" y="17"/>
                    </a:lnTo>
                    <a:lnTo>
                      <a:pt x="202" y="16"/>
                    </a:lnTo>
                    <a:lnTo>
                      <a:pt x="195" y="15"/>
                    </a:lnTo>
                    <a:lnTo>
                      <a:pt x="187" y="13"/>
                    </a:lnTo>
                    <a:lnTo>
                      <a:pt x="178" y="13"/>
                    </a:lnTo>
                    <a:lnTo>
                      <a:pt x="167" y="13"/>
                    </a:lnTo>
                    <a:lnTo>
                      <a:pt x="158" y="11"/>
                    </a:lnTo>
                    <a:lnTo>
                      <a:pt x="148" y="11"/>
                    </a:lnTo>
                    <a:lnTo>
                      <a:pt x="137" y="11"/>
                    </a:lnTo>
                    <a:lnTo>
                      <a:pt x="127" y="8"/>
                    </a:lnTo>
                    <a:lnTo>
                      <a:pt x="116" y="7"/>
                    </a:lnTo>
                    <a:lnTo>
                      <a:pt x="106" y="6"/>
                    </a:lnTo>
                    <a:lnTo>
                      <a:pt x="96" y="5"/>
                    </a:lnTo>
                    <a:lnTo>
                      <a:pt x="84" y="5"/>
                    </a:lnTo>
                    <a:lnTo>
                      <a:pt x="74" y="4"/>
                    </a:lnTo>
                    <a:lnTo>
                      <a:pt x="65" y="3"/>
                    </a:lnTo>
                    <a:lnTo>
                      <a:pt x="55" y="3"/>
                    </a:lnTo>
                    <a:lnTo>
                      <a:pt x="46" y="2"/>
                    </a:lnTo>
                    <a:lnTo>
                      <a:pt x="38" y="2"/>
                    </a:lnTo>
                    <a:lnTo>
                      <a:pt x="29" y="1"/>
                    </a:lnTo>
                    <a:lnTo>
                      <a:pt x="22" y="1"/>
                    </a:lnTo>
                    <a:lnTo>
                      <a:pt x="17" y="1"/>
                    </a:lnTo>
                    <a:lnTo>
                      <a:pt x="10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6" y="2"/>
                    </a:lnTo>
                    <a:lnTo>
                      <a:pt x="10" y="2"/>
                    </a:lnTo>
                    <a:lnTo>
                      <a:pt x="17" y="2"/>
                    </a:lnTo>
                    <a:lnTo>
                      <a:pt x="22" y="3"/>
                    </a:lnTo>
                    <a:lnTo>
                      <a:pt x="29" y="3"/>
                    </a:lnTo>
                    <a:lnTo>
                      <a:pt x="38" y="3"/>
                    </a:lnTo>
                    <a:lnTo>
                      <a:pt x="46" y="4"/>
                    </a:lnTo>
                    <a:lnTo>
                      <a:pt x="55" y="4"/>
                    </a:lnTo>
                    <a:lnTo>
                      <a:pt x="65" y="5"/>
                    </a:lnTo>
                    <a:lnTo>
                      <a:pt x="74" y="6"/>
                    </a:lnTo>
                    <a:lnTo>
                      <a:pt x="84" y="6"/>
                    </a:lnTo>
                    <a:lnTo>
                      <a:pt x="96" y="7"/>
                    </a:lnTo>
                    <a:lnTo>
                      <a:pt x="106" y="8"/>
                    </a:lnTo>
                    <a:lnTo>
                      <a:pt x="116" y="11"/>
                    </a:lnTo>
                    <a:lnTo>
                      <a:pt x="127" y="11"/>
                    </a:lnTo>
                    <a:lnTo>
                      <a:pt x="137" y="11"/>
                    </a:lnTo>
                    <a:lnTo>
                      <a:pt x="148" y="13"/>
                    </a:lnTo>
                    <a:lnTo>
                      <a:pt x="158" y="13"/>
                    </a:lnTo>
                    <a:lnTo>
                      <a:pt x="167" y="15"/>
                    </a:lnTo>
                    <a:lnTo>
                      <a:pt x="178" y="15"/>
                    </a:lnTo>
                    <a:lnTo>
                      <a:pt x="187" y="16"/>
                    </a:lnTo>
                    <a:lnTo>
                      <a:pt x="195" y="17"/>
                    </a:lnTo>
                    <a:lnTo>
                      <a:pt x="202" y="18"/>
                    </a:lnTo>
                    <a:lnTo>
                      <a:pt x="210" y="18"/>
                    </a:lnTo>
                    <a:lnTo>
                      <a:pt x="215" y="19"/>
                    </a:lnTo>
                    <a:lnTo>
                      <a:pt x="221" y="20"/>
                    </a:lnTo>
                    <a:lnTo>
                      <a:pt x="225" y="20"/>
                    </a:lnTo>
                    <a:lnTo>
                      <a:pt x="228" y="21"/>
                    </a:lnTo>
                    <a:lnTo>
                      <a:pt x="229" y="21"/>
                    </a:lnTo>
                    <a:lnTo>
                      <a:pt x="231" y="2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14" name="Freeform 958"/>
              <p:cNvSpPr>
                <a:spLocks/>
              </p:cNvSpPr>
              <p:nvPr/>
            </p:nvSpPr>
            <p:spPr bwMode="auto">
              <a:xfrm>
                <a:off x="3239" y="1991"/>
                <a:ext cx="5" cy="38"/>
              </a:xfrm>
              <a:custGeom>
                <a:avLst/>
                <a:gdLst>
                  <a:gd name="T0" fmla="*/ 4 w 5"/>
                  <a:gd name="T1" fmla="*/ 37 h 38"/>
                  <a:gd name="T2" fmla="*/ 5 w 5"/>
                  <a:gd name="T3" fmla="*/ 37 h 38"/>
                  <a:gd name="T4" fmla="*/ 4 w 5"/>
                  <a:gd name="T5" fmla="*/ 28 h 38"/>
                  <a:gd name="T6" fmla="*/ 4 w 5"/>
                  <a:gd name="T7" fmla="*/ 17 h 38"/>
                  <a:gd name="T8" fmla="*/ 2 w 5"/>
                  <a:gd name="T9" fmla="*/ 9 h 38"/>
                  <a:gd name="T10" fmla="*/ 2 w 5"/>
                  <a:gd name="T11" fmla="*/ 0 h 38"/>
                  <a:gd name="T12" fmla="*/ 0 w 5"/>
                  <a:gd name="T13" fmla="*/ 0 h 38"/>
                  <a:gd name="T14" fmla="*/ 0 w 5"/>
                  <a:gd name="T15" fmla="*/ 9 h 38"/>
                  <a:gd name="T16" fmla="*/ 1 w 5"/>
                  <a:gd name="T17" fmla="*/ 17 h 38"/>
                  <a:gd name="T18" fmla="*/ 1 w 5"/>
                  <a:gd name="T19" fmla="*/ 28 h 38"/>
                  <a:gd name="T20" fmla="*/ 2 w 5"/>
                  <a:gd name="T21" fmla="*/ 37 h 38"/>
                  <a:gd name="T22" fmla="*/ 4 w 5"/>
                  <a:gd name="T23" fmla="*/ 38 h 38"/>
                  <a:gd name="T24" fmla="*/ 2 w 5"/>
                  <a:gd name="T25" fmla="*/ 37 h 38"/>
                  <a:gd name="T26" fmla="*/ 2 w 5"/>
                  <a:gd name="T27" fmla="*/ 38 h 38"/>
                  <a:gd name="T28" fmla="*/ 4 w 5"/>
                  <a:gd name="T29" fmla="*/ 38 h 38"/>
                  <a:gd name="T30" fmla="*/ 4 w 5"/>
                  <a:gd name="T31" fmla="*/ 37 h 3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"/>
                  <a:gd name="T49" fmla="*/ 0 h 38"/>
                  <a:gd name="T50" fmla="*/ 5 w 5"/>
                  <a:gd name="T51" fmla="*/ 38 h 3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" h="38">
                    <a:moveTo>
                      <a:pt x="4" y="37"/>
                    </a:moveTo>
                    <a:lnTo>
                      <a:pt x="5" y="37"/>
                    </a:lnTo>
                    <a:lnTo>
                      <a:pt x="4" y="28"/>
                    </a:lnTo>
                    <a:lnTo>
                      <a:pt x="4" y="17"/>
                    </a:lnTo>
                    <a:lnTo>
                      <a:pt x="2" y="9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1" y="17"/>
                    </a:lnTo>
                    <a:lnTo>
                      <a:pt x="1" y="28"/>
                    </a:lnTo>
                    <a:lnTo>
                      <a:pt x="2" y="37"/>
                    </a:lnTo>
                    <a:lnTo>
                      <a:pt x="4" y="38"/>
                    </a:lnTo>
                    <a:lnTo>
                      <a:pt x="2" y="37"/>
                    </a:lnTo>
                    <a:lnTo>
                      <a:pt x="2" y="38"/>
                    </a:lnTo>
                    <a:lnTo>
                      <a:pt x="4" y="38"/>
                    </a:lnTo>
                    <a:lnTo>
                      <a:pt x="4" y="37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15" name="Freeform 959"/>
              <p:cNvSpPr>
                <a:spLocks/>
              </p:cNvSpPr>
              <p:nvPr/>
            </p:nvSpPr>
            <p:spPr bwMode="auto">
              <a:xfrm>
                <a:off x="3241" y="2026"/>
                <a:ext cx="9" cy="11"/>
              </a:xfrm>
              <a:custGeom>
                <a:avLst/>
                <a:gdLst>
                  <a:gd name="T0" fmla="*/ 5 w 9"/>
                  <a:gd name="T1" fmla="*/ 11 h 11"/>
                  <a:gd name="T2" fmla="*/ 5 w 9"/>
                  <a:gd name="T3" fmla="*/ 11 h 11"/>
                  <a:gd name="T4" fmla="*/ 8 w 9"/>
                  <a:gd name="T5" fmla="*/ 10 h 11"/>
                  <a:gd name="T6" fmla="*/ 9 w 9"/>
                  <a:gd name="T7" fmla="*/ 8 h 11"/>
                  <a:gd name="T8" fmla="*/ 9 w 9"/>
                  <a:gd name="T9" fmla="*/ 7 h 11"/>
                  <a:gd name="T10" fmla="*/ 8 w 9"/>
                  <a:gd name="T11" fmla="*/ 5 h 11"/>
                  <a:gd name="T12" fmla="*/ 7 w 9"/>
                  <a:gd name="T13" fmla="*/ 4 h 11"/>
                  <a:gd name="T14" fmla="*/ 5 w 9"/>
                  <a:gd name="T15" fmla="*/ 3 h 11"/>
                  <a:gd name="T16" fmla="*/ 3 w 9"/>
                  <a:gd name="T17" fmla="*/ 2 h 11"/>
                  <a:gd name="T18" fmla="*/ 2 w 9"/>
                  <a:gd name="T19" fmla="*/ 0 h 11"/>
                  <a:gd name="T20" fmla="*/ 0 w 9"/>
                  <a:gd name="T21" fmla="*/ 2 h 11"/>
                  <a:gd name="T22" fmla="*/ 2 w 9"/>
                  <a:gd name="T23" fmla="*/ 3 h 11"/>
                  <a:gd name="T24" fmla="*/ 4 w 9"/>
                  <a:gd name="T25" fmla="*/ 4 h 11"/>
                  <a:gd name="T26" fmla="*/ 5 w 9"/>
                  <a:gd name="T27" fmla="*/ 5 h 11"/>
                  <a:gd name="T28" fmla="*/ 7 w 9"/>
                  <a:gd name="T29" fmla="*/ 6 h 11"/>
                  <a:gd name="T30" fmla="*/ 7 w 9"/>
                  <a:gd name="T31" fmla="*/ 7 h 11"/>
                  <a:gd name="T32" fmla="*/ 7 w 9"/>
                  <a:gd name="T33" fmla="*/ 8 h 11"/>
                  <a:gd name="T34" fmla="*/ 4 w 9"/>
                  <a:gd name="T35" fmla="*/ 10 h 11"/>
                  <a:gd name="T36" fmla="*/ 5 w 9"/>
                  <a:gd name="T37" fmla="*/ 11 h 1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11"/>
                  <a:gd name="T59" fmla="*/ 9 w 9"/>
                  <a:gd name="T60" fmla="*/ 11 h 1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11">
                    <a:moveTo>
                      <a:pt x="5" y="11"/>
                    </a:moveTo>
                    <a:lnTo>
                      <a:pt x="5" y="11"/>
                    </a:lnTo>
                    <a:lnTo>
                      <a:pt x="8" y="10"/>
                    </a:lnTo>
                    <a:lnTo>
                      <a:pt x="9" y="8"/>
                    </a:lnTo>
                    <a:lnTo>
                      <a:pt x="9" y="7"/>
                    </a:lnTo>
                    <a:lnTo>
                      <a:pt x="8" y="5"/>
                    </a:lnTo>
                    <a:lnTo>
                      <a:pt x="7" y="4"/>
                    </a:lnTo>
                    <a:lnTo>
                      <a:pt x="5" y="3"/>
                    </a:lnTo>
                    <a:lnTo>
                      <a:pt x="3" y="2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2" y="3"/>
                    </a:lnTo>
                    <a:lnTo>
                      <a:pt x="4" y="4"/>
                    </a:lnTo>
                    <a:lnTo>
                      <a:pt x="5" y="5"/>
                    </a:lnTo>
                    <a:lnTo>
                      <a:pt x="7" y="6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4" y="10"/>
                    </a:lnTo>
                    <a:lnTo>
                      <a:pt x="5" y="1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16" name="Freeform 960"/>
              <p:cNvSpPr>
                <a:spLocks/>
              </p:cNvSpPr>
              <p:nvPr/>
            </p:nvSpPr>
            <p:spPr bwMode="auto">
              <a:xfrm>
                <a:off x="3143" y="2037"/>
                <a:ext cx="103" cy="46"/>
              </a:xfrm>
              <a:custGeom>
                <a:avLst/>
                <a:gdLst>
                  <a:gd name="T0" fmla="*/ 1 w 103"/>
                  <a:gd name="T1" fmla="*/ 46 h 46"/>
                  <a:gd name="T2" fmla="*/ 3 w 103"/>
                  <a:gd name="T3" fmla="*/ 45 h 46"/>
                  <a:gd name="T4" fmla="*/ 9 w 103"/>
                  <a:gd name="T5" fmla="*/ 43 h 46"/>
                  <a:gd name="T6" fmla="*/ 14 w 103"/>
                  <a:gd name="T7" fmla="*/ 41 h 46"/>
                  <a:gd name="T8" fmla="*/ 20 w 103"/>
                  <a:gd name="T9" fmla="*/ 38 h 46"/>
                  <a:gd name="T10" fmla="*/ 27 w 103"/>
                  <a:gd name="T11" fmla="*/ 35 h 46"/>
                  <a:gd name="T12" fmla="*/ 35 w 103"/>
                  <a:gd name="T13" fmla="*/ 31 h 46"/>
                  <a:gd name="T14" fmla="*/ 44 w 103"/>
                  <a:gd name="T15" fmla="*/ 27 h 46"/>
                  <a:gd name="T16" fmla="*/ 52 w 103"/>
                  <a:gd name="T17" fmla="*/ 24 h 46"/>
                  <a:gd name="T18" fmla="*/ 61 w 103"/>
                  <a:gd name="T19" fmla="*/ 20 h 46"/>
                  <a:gd name="T20" fmla="*/ 70 w 103"/>
                  <a:gd name="T21" fmla="*/ 17 h 46"/>
                  <a:gd name="T22" fmla="*/ 77 w 103"/>
                  <a:gd name="T23" fmla="*/ 13 h 46"/>
                  <a:gd name="T24" fmla="*/ 83 w 103"/>
                  <a:gd name="T25" fmla="*/ 11 h 46"/>
                  <a:gd name="T26" fmla="*/ 90 w 103"/>
                  <a:gd name="T27" fmla="*/ 7 h 46"/>
                  <a:gd name="T28" fmla="*/ 96 w 103"/>
                  <a:gd name="T29" fmla="*/ 4 h 46"/>
                  <a:gd name="T30" fmla="*/ 100 w 103"/>
                  <a:gd name="T31" fmla="*/ 3 h 46"/>
                  <a:gd name="T32" fmla="*/ 103 w 103"/>
                  <a:gd name="T33" fmla="*/ 1 h 46"/>
                  <a:gd name="T34" fmla="*/ 101 w 103"/>
                  <a:gd name="T35" fmla="*/ 0 h 46"/>
                  <a:gd name="T36" fmla="*/ 97 w 103"/>
                  <a:gd name="T37" fmla="*/ 2 h 46"/>
                  <a:gd name="T38" fmla="*/ 92 w 103"/>
                  <a:gd name="T39" fmla="*/ 4 h 46"/>
                  <a:gd name="T40" fmla="*/ 86 w 103"/>
                  <a:gd name="T41" fmla="*/ 7 h 46"/>
                  <a:gd name="T42" fmla="*/ 79 w 103"/>
                  <a:gd name="T43" fmla="*/ 11 h 46"/>
                  <a:gd name="T44" fmla="*/ 72 w 103"/>
                  <a:gd name="T45" fmla="*/ 13 h 46"/>
                  <a:gd name="T46" fmla="*/ 64 w 103"/>
                  <a:gd name="T47" fmla="*/ 17 h 46"/>
                  <a:gd name="T48" fmla="*/ 56 w 103"/>
                  <a:gd name="T49" fmla="*/ 20 h 46"/>
                  <a:gd name="T50" fmla="*/ 47 w 103"/>
                  <a:gd name="T51" fmla="*/ 24 h 46"/>
                  <a:gd name="T52" fmla="*/ 39 w 103"/>
                  <a:gd name="T53" fmla="*/ 28 h 46"/>
                  <a:gd name="T54" fmla="*/ 31 w 103"/>
                  <a:gd name="T55" fmla="*/ 31 h 46"/>
                  <a:gd name="T56" fmla="*/ 23 w 103"/>
                  <a:gd name="T57" fmla="*/ 35 h 46"/>
                  <a:gd name="T58" fmla="*/ 16 w 103"/>
                  <a:gd name="T59" fmla="*/ 38 h 46"/>
                  <a:gd name="T60" fmla="*/ 11 w 103"/>
                  <a:gd name="T61" fmla="*/ 41 h 46"/>
                  <a:gd name="T62" fmla="*/ 5 w 103"/>
                  <a:gd name="T63" fmla="*/ 43 h 46"/>
                  <a:gd name="T64" fmla="*/ 1 w 103"/>
                  <a:gd name="T65" fmla="*/ 44 h 46"/>
                  <a:gd name="T66" fmla="*/ 1 w 103"/>
                  <a:gd name="T67" fmla="*/ 46 h 4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6"/>
                  <a:gd name="T104" fmla="*/ 103 w 103"/>
                  <a:gd name="T105" fmla="*/ 46 h 4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6">
                    <a:moveTo>
                      <a:pt x="1" y="46"/>
                    </a:moveTo>
                    <a:lnTo>
                      <a:pt x="1" y="46"/>
                    </a:lnTo>
                    <a:lnTo>
                      <a:pt x="2" y="45"/>
                    </a:lnTo>
                    <a:lnTo>
                      <a:pt x="3" y="45"/>
                    </a:lnTo>
                    <a:lnTo>
                      <a:pt x="5" y="44"/>
                    </a:lnTo>
                    <a:lnTo>
                      <a:pt x="9" y="43"/>
                    </a:lnTo>
                    <a:lnTo>
                      <a:pt x="12" y="42"/>
                    </a:lnTo>
                    <a:lnTo>
                      <a:pt x="14" y="41"/>
                    </a:lnTo>
                    <a:lnTo>
                      <a:pt x="17" y="40"/>
                    </a:lnTo>
                    <a:lnTo>
                      <a:pt x="20" y="38"/>
                    </a:lnTo>
                    <a:lnTo>
                      <a:pt x="24" y="35"/>
                    </a:lnTo>
                    <a:lnTo>
                      <a:pt x="27" y="35"/>
                    </a:lnTo>
                    <a:lnTo>
                      <a:pt x="31" y="32"/>
                    </a:lnTo>
                    <a:lnTo>
                      <a:pt x="35" y="31"/>
                    </a:lnTo>
                    <a:lnTo>
                      <a:pt x="40" y="29"/>
                    </a:lnTo>
                    <a:lnTo>
                      <a:pt x="44" y="27"/>
                    </a:lnTo>
                    <a:lnTo>
                      <a:pt x="47" y="26"/>
                    </a:lnTo>
                    <a:lnTo>
                      <a:pt x="52" y="24"/>
                    </a:lnTo>
                    <a:lnTo>
                      <a:pt x="57" y="23"/>
                    </a:lnTo>
                    <a:lnTo>
                      <a:pt x="61" y="20"/>
                    </a:lnTo>
                    <a:lnTo>
                      <a:pt x="64" y="18"/>
                    </a:lnTo>
                    <a:lnTo>
                      <a:pt x="70" y="17"/>
                    </a:lnTo>
                    <a:lnTo>
                      <a:pt x="73" y="15"/>
                    </a:lnTo>
                    <a:lnTo>
                      <a:pt x="77" y="13"/>
                    </a:lnTo>
                    <a:lnTo>
                      <a:pt x="80" y="11"/>
                    </a:lnTo>
                    <a:lnTo>
                      <a:pt x="83" y="11"/>
                    </a:lnTo>
                    <a:lnTo>
                      <a:pt x="87" y="9"/>
                    </a:lnTo>
                    <a:lnTo>
                      <a:pt x="90" y="7"/>
                    </a:lnTo>
                    <a:lnTo>
                      <a:pt x="92" y="5"/>
                    </a:lnTo>
                    <a:lnTo>
                      <a:pt x="96" y="4"/>
                    </a:lnTo>
                    <a:lnTo>
                      <a:pt x="98" y="3"/>
                    </a:lnTo>
                    <a:lnTo>
                      <a:pt x="100" y="3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100" y="1"/>
                    </a:lnTo>
                    <a:lnTo>
                      <a:pt x="97" y="2"/>
                    </a:lnTo>
                    <a:lnTo>
                      <a:pt x="95" y="3"/>
                    </a:lnTo>
                    <a:lnTo>
                      <a:pt x="92" y="4"/>
                    </a:lnTo>
                    <a:lnTo>
                      <a:pt x="89" y="5"/>
                    </a:lnTo>
                    <a:lnTo>
                      <a:pt x="86" y="7"/>
                    </a:lnTo>
                    <a:lnTo>
                      <a:pt x="82" y="8"/>
                    </a:lnTo>
                    <a:lnTo>
                      <a:pt x="79" y="11"/>
                    </a:lnTo>
                    <a:lnTo>
                      <a:pt x="76" y="11"/>
                    </a:lnTo>
                    <a:lnTo>
                      <a:pt x="72" y="13"/>
                    </a:lnTo>
                    <a:lnTo>
                      <a:pt x="67" y="15"/>
                    </a:lnTo>
                    <a:lnTo>
                      <a:pt x="64" y="17"/>
                    </a:lnTo>
                    <a:lnTo>
                      <a:pt x="60" y="18"/>
                    </a:lnTo>
                    <a:lnTo>
                      <a:pt x="56" y="20"/>
                    </a:lnTo>
                    <a:lnTo>
                      <a:pt x="52" y="23"/>
                    </a:lnTo>
                    <a:lnTo>
                      <a:pt x="47" y="24"/>
                    </a:lnTo>
                    <a:lnTo>
                      <a:pt x="43" y="26"/>
                    </a:lnTo>
                    <a:lnTo>
                      <a:pt x="39" y="28"/>
                    </a:lnTo>
                    <a:lnTo>
                      <a:pt x="35" y="29"/>
                    </a:lnTo>
                    <a:lnTo>
                      <a:pt x="31" y="31"/>
                    </a:lnTo>
                    <a:lnTo>
                      <a:pt x="27" y="32"/>
                    </a:lnTo>
                    <a:lnTo>
                      <a:pt x="23" y="35"/>
                    </a:lnTo>
                    <a:lnTo>
                      <a:pt x="19" y="35"/>
                    </a:lnTo>
                    <a:lnTo>
                      <a:pt x="16" y="38"/>
                    </a:lnTo>
                    <a:lnTo>
                      <a:pt x="14" y="39"/>
                    </a:lnTo>
                    <a:lnTo>
                      <a:pt x="11" y="41"/>
                    </a:lnTo>
                    <a:lnTo>
                      <a:pt x="9" y="42"/>
                    </a:lnTo>
                    <a:lnTo>
                      <a:pt x="5" y="43"/>
                    </a:lnTo>
                    <a:lnTo>
                      <a:pt x="3" y="43"/>
                    </a:lnTo>
                    <a:lnTo>
                      <a:pt x="1" y="44"/>
                    </a:lnTo>
                    <a:lnTo>
                      <a:pt x="0" y="44"/>
                    </a:lnTo>
                    <a:lnTo>
                      <a:pt x="1" y="4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17" name="Freeform 961"/>
              <p:cNvSpPr>
                <a:spLocks/>
              </p:cNvSpPr>
              <p:nvPr/>
            </p:nvSpPr>
            <p:spPr bwMode="auto">
              <a:xfrm>
                <a:off x="3129" y="2078"/>
                <a:ext cx="14" cy="5"/>
              </a:xfrm>
              <a:custGeom>
                <a:avLst/>
                <a:gdLst>
                  <a:gd name="T0" fmla="*/ 0 w 14"/>
                  <a:gd name="T1" fmla="*/ 1 h 5"/>
                  <a:gd name="T2" fmla="*/ 0 w 14"/>
                  <a:gd name="T3" fmla="*/ 1 h 5"/>
                  <a:gd name="T4" fmla="*/ 1 w 14"/>
                  <a:gd name="T5" fmla="*/ 3 h 5"/>
                  <a:gd name="T6" fmla="*/ 3 w 14"/>
                  <a:gd name="T7" fmla="*/ 3 h 5"/>
                  <a:gd name="T8" fmla="*/ 7 w 14"/>
                  <a:gd name="T9" fmla="*/ 4 h 5"/>
                  <a:gd name="T10" fmla="*/ 7 w 14"/>
                  <a:gd name="T11" fmla="*/ 4 h 5"/>
                  <a:gd name="T12" fmla="*/ 10 w 14"/>
                  <a:gd name="T13" fmla="*/ 5 h 5"/>
                  <a:gd name="T14" fmla="*/ 11 w 14"/>
                  <a:gd name="T15" fmla="*/ 5 h 5"/>
                  <a:gd name="T16" fmla="*/ 13 w 14"/>
                  <a:gd name="T17" fmla="*/ 5 h 5"/>
                  <a:gd name="T18" fmla="*/ 14 w 14"/>
                  <a:gd name="T19" fmla="*/ 5 h 5"/>
                  <a:gd name="T20" fmla="*/ 13 w 14"/>
                  <a:gd name="T21" fmla="*/ 3 h 5"/>
                  <a:gd name="T22" fmla="*/ 11 w 14"/>
                  <a:gd name="T23" fmla="*/ 3 h 5"/>
                  <a:gd name="T24" fmla="*/ 10 w 14"/>
                  <a:gd name="T25" fmla="*/ 3 h 5"/>
                  <a:gd name="T26" fmla="*/ 9 w 14"/>
                  <a:gd name="T27" fmla="*/ 3 h 5"/>
                  <a:gd name="T28" fmla="*/ 7 w 14"/>
                  <a:gd name="T29" fmla="*/ 3 h 5"/>
                  <a:gd name="T30" fmla="*/ 3 w 14"/>
                  <a:gd name="T31" fmla="*/ 1 h 5"/>
                  <a:gd name="T32" fmla="*/ 2 w 14"/>
                  <a:gd name="T33" fmla="*/ 1 h 5"/>
                  <a:gd name="T34" fmla="*/ 1 w 14"/>
                  <a:gd name="T35" fmla="*/ 0 h 5"/>
                  <a:gd name="T36" fmla="*/ 0 w 14"/>
                  <a:gd name="T37" fmla="*/ 1 h 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5"/>
                  <a:gd name="T59" fmla="*/ 14 w 14"/>
                  <a:gd name="T60" fmla="*/ 5 h 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5">
                    <a:moveTo>
                      <a:pt x="0" y="1"/>
                    </a:moveTo>
                    <a:lnTo>
                      <a:pt x="0" y="1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7" y="4"/>
                    </a:lnTo>
                    <a:lnTo>
                      <a:pt x="10" y="5"/>
                    </a:lnTo>
                    <a:lnTo>
                      <a:pt x="11" y="5"/>
                    </a:lnTo>
                    <a:lnTo>
                      <a:pt x="13" y="5"/>
                    </a:lnTo>
                    <a:lnTo>
                      <a:pt x="14" y="5"/>
                    </a:lnTo>
                    <a:lnTo>
                      <a:pt x="13" y="3"/>
                    </a:lnTo>
                    <a:lnTo>
                      <a:pt x="11" y="3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3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18" name="Freeform 962"/>
              <p:cNvSpPr>
                <a:spLocks/>
              </p:cNvSpPr>
              <p:nvPr/>
            </p:nvSpPr>
            <p:spPr bwMode="auto">
              <a:xfrm>
                <a:off x="3015" y="2018"/>
                <a:ext cx="115" cy="62"/>
              </a:xfrm>
              <a:custGeom>
                <a:avLst/>
                <a:gdLst>
                  <a:gd name="T0" fmla="*/ 0 w 115"/>
                  <a:gd name="T1" fmla="*/ 1 h 62"/>
                  <a:gd name="T2" fmla="*/ 2 w 115"/>
                  <a:gd name="T3" fmla="*/ 2 h 62"/>
                  <a:gd name="T4" fmla="*/ 5 w 115"/>
                  <a:gd name="T5" fmla="*/ 4 h 62"/>
                  <a:gd name="T6" fmla="*/ 11 w 115"/>
                  <a:gd name="T7" fmla="*/ 7 h 62"/>
                  <a:gd name="T8" fmla="*/ 18 w 115"/>
                  <a:gd name="T9" fmla="*/ 11 h 62"/>
                  <a:gd name="T10" fmla="*/ 26 w 115"/>
                  <a:gd name="T11" fmla="*/ 16 h 62"/>
                  <a:gd name="T12" fmla="*/ 35 w 115"/>
                  <a:gd name="T13" fmla="*/ 20 h 62"/>
                  <a:gd name="T14" fmla="*/ 45 w 115"/>
                  <a:gd name="T15" fmla="*/ 26 h 62"/>
                  <a:gd name="T16" fmla="*/ 54 w 115"/>
                  <a:gd name="T17" fmla="*/ 30 h 62"/>
                  <a:gd name="T18" fmla="*/ 64 w 115"/>
                  <a:gd name="T19" fmla="*/ 36 h 62"/>
                  <a:gd name="T20" fmla="*/ 75 w 115"/>
                  <a:gd name="T21" fmla="*/ 42 h 62"/>
                  <a:gd name="T22" fmla="*/ 83 w 115"/>
                  <a:gd name="T23" fmla="*/ 46 h 62"/>
                  <a:gd name="T24" fmla="*/ 93 w 115"/>
                  <a:gd name="T25" fmla="*/ 51 h 62"/>
                  <a:gd name="T26" fmla="*/ 99 w 115"/>
                  <a:gd name="T27" fmla="*/ 54 h 62"/>
                  <a:gd name="T28" fmla="*/ 107 w 115"/>
                  <a:gd name="T29" fmla="*/ 58 h 62"/>
                  <a:gd name="T30" fmla="*/ 112 w 115"/>
                  <a:gd name="T31" fmla="*/ 61 h 62"/>
                  <a:gd name="T32" fmla="*/ 114 w 115"/>
                  <a:gd name="T33" fmla="*/ 62 h 62"/>
                  <a:gd name="T34" fmla="*/ 114 w 115"/>
                  <a:gd name="T35" fmla="*/ 60 h 62"/>
                  <a:gd name="T36" fmla="*/ 110 w 115"/>
                  <a:gd name="T37" fmla="*/ 58 h 62"/>
                  <a:gd name="T38" fmla="*/ 104 w 115"/>
                  <a:gd name="T39" fmla="*/ 55 h 62"/>
                  <a:gd name="T40" fmla="*/ 97 w 115"/>
                  <a:gd name="T41" fmla="*/ 51 h 62"/>
                  <a:gd name="T42" fmla="*/ 90 w 115"/>
                  <a:gd name="T43" fmla="*/ 46 h 62"/>
                  <a:gd name="T44" fmla="*/ 80 w 115"/>
                  <a:gd name="T45" fmla="*/ 42 h 62"/>
                  <a:gd name="T46" fmla="*/ 70 w 115"/>
                  <a:gd name="T47" fmla="*/ 37 h 62"/>
                  <a:gd name="T48" fmla="*/ 61 w 115"/>
                  <a:gd name="T49" fmla="*/ 32 h 62"/>
                  <a:gd name="T50" fmla="*/ 51 w 115"/>
                  <a:gd name="T51" fmla="*/ 26 h 62"/>
                  <a:gd name="T52" fmla="*/ 41 w 115"/>
                  <a:gd name="T53" fmla="*/ 21 h 62"/>
                  <a:gd name="T54" fmla="*/ 32 w 115"/>
                  <a:gd name="T55" fmla="*/ 17 h 62"/>
                  <a:gd name="T56" fmla="*/ 23 w 115"/>
                  <a:gd name="T57" fmla="*/ 11 h 62"/>
                  <a:gd name="T58" fmla="*/ 16 w 115"/>
                  <a:gd name="T59" fmla="*/ 7 h 62"/>
                  <a:gd name="T60" fmla="*/ 8 w 115"/>
                  <a:gd name="T61" fmla="*/ 4 h 62"/>
                  <a:gd name="T62" fmla="*/ 4 w 115"/>
                  <a:gd name="T63" fmla="*/ 2 h 62"/>
                  <a:gd name="T64" fmla="*/ 1 w 115"/>
                  <a:gd name="T65" fmla="*/ 0 h 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2"/>
                  <a:gd name="T101" fmla="*/ 115 w 115"/>
                  <a:gd name="T102" fmla="*/ 62 h 6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2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5" y="4"/>
                    </a:lnTo>
                    <a:lnTo>
                      <a:pt x="7" y="5"/>
                    </a:lnTo>
                    <a:lnTo>
                      <a:pt x="11" y="7"/>
                    </a:lnTo>
                    <a:lnTo>
                      <a:pt x="15" y="8"/>
                    </a:lnTo>
                    <a:lnTo>
                      <a:pt x="18" y="11"/>
                    </a:lnTo>
                    <a:lnTo>
                      <a:pt x="22" y="14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0"/>
                    </a:lnTo>
                    <a:lnTo>
                      <a:pt x="39" y="22"/>
                    </a:lnTo>
                    <a:lnTo>
                      <a:pt x="45" y="26"/>
                    </a:lnTo>
                    <a:lnTo>
                      <a:pt x="49" y="28"/>
                    </a:lnTo>
                    <a:lnTo>
                      <a:pt x="54" y="30"/>
                    </a:lnTo>
                    <a:lnTo>
                      <a:pt x="60" y="32"/>
                    </a:lnTo>
                    <a:lnTo>
                      <a:pt x="64" y="36"/>
                    </a:lnTo>
                    <a:lnTo>
                      <a:pt x="70" y="38"/>
                    </a:lnTo>
                    <a:lnTo>
                      <a:pt x="75" y="42"/>
                    </a:lnTo>
                    <a:lnTo>
                      <a:pt x="79" y="44"/>
                    </a:lnTo>
                    <a:lnTo>
                      <a:pt x="83" y="46"/>
                    </a:lnTo>
                    <a:lnTo>
                      <a:pt x="88" y="48"/>
                    </a:lnTo>
                    <a:lnTo>
                      <a:pt x="93" y="51"/>
                    </a:lnTo>
                    <a:lnTo>
                      <a:pt x="96" y="53"/>
                    </a:lnTo>
                    <a:lnTo>
                      <a:pt x="99" y="54"/>
                    </a:lnTo>
                    <a:lnTo>
                      <a:pt x="102" y="57"/>
                    </a:lnTo>
                    <a:lnTo>
                      <a:pt x="107" y="58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3" y="61"/>
                    </a:lnTo>
                    <a:lnTo>
                      <a:pt x="114" y="62"/>
                    </a:lnTo>
                    <a:lnTo>
                      <a:pt x="115" y="60"/>
                    </a:lnTo>
                    <a:lnTo>
                      <a:pt x="114" y="60"/>
                    </a:lnTo>
                    <a:lnTo>
                      <a:pt x="112" y="59"/>
                    </a:lnTo>
                    <a:lnTo>
                      <a:pt x="110" y="58"/>
                    </a:lnTo>
                    <a:lnTo>
                      <a:pt x="107" y="57"/>
                    </a:lnTo>
                    <a:lnTo>
                      <a:pt x="104" y="55"/>
                    </a:lnTo>
                    <a:lnTo>
                      <a:pt x="100" y="53"/>
                    </a:lnTo>
                    <a:lnTo>
                      <a:pt x="97" y="51"/>
                    </a:lnTo>
                    <a:lnTo>
                      <a:pt x="94" y="48"/>
                    </a:lnTo>
                    <a:lnTo>
                      <a:pt x="90" y="46"/>
                    </a:lnTo>
                    <a:lnTo>
                      <a:pt x="84" y="44"/>
                    </a:lnTo>
                    <a:lnTo>
                      <a:pt x="80" y="42"/>
                    </a:lnTo>
                    <a:lnTo>
                      <a:pt x="76" y="39"/>
                    </a:lnTo>
                    <a:lnTo>
                      <a:pt x="70" y="37"/>
                    </a:lnTo>
                    <a:lnTo>
                      <a:pt x="65" y="34"/>
                    </a:lnTo>
                    <a:lnTo>
                      <a:pt x="61" y="32"/>
                    </a:lnTo>
                    <a:lnTo>
                      <a:pt x="55" y="30"/>
                    </a:lnTo>
                    <a:lnTo>
                      <a:pt x="51" y="26"/>
                    </a:lnTo>
                    <a:lnTo>
                      <a:pt x="46" y="23"/>
                    </a:lnTo>
                    <a:lnTo>
                      <a:pt x="41" y="21"/>
                    </a:lnTo>
                    <a:lnTo>
                      <a:pt x="36" y="19"/>
                    </a:lnTo>
                    <a:lnTo>
                      <a:pt x="32" y="17"/>
                    </a:lnTo>
                    <a:lnTo>
                      <a:pt x="27" y="14"/>
                    </a:lnTo>
                    <a:lnTo>
                      <a:pt x="23" y="11"/>
                    </a:lnTo>
                    <a:lnTo>
                      <a:pt x="19" y="11"/>
                    </a:lnTo>
                    <a:lnTo>
                      <a:pt x="16" y="7"/>
                    </a:lnTo>
                    <a:lnTo>
                      <a:pt x="13" y="5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19" name="Freeform 963"/>
              <p:cNvSpPr>
                <a:spLocks/>
              </p:cNvSpPr>
              <p:nvPr/>
            </p:nvSpPr>
            <p:spPr bwMode="auto">
              <a:xfrm>
                <a:off x="3003" y="2008"/>
                <a:ext cx="13" cy="11"/>
              </a:xfrm>
              <a:custGeom>
                <a:avLst/>
                <a:gdLst>
                  <a:gd name="T0" fmla="*/ 0 w 13"/>
                  <a:gd name="T1" fmla="*/ 1 h 11"/>
                  <a:gd name="T2" fmla="*/ 0 w 13"/>
                  <a:gd name="T3" fmla="*/ 1 h 11"/>
                  <a:gd name="T4" fmla="*/ 1 w 13"/>
                  <a:gd name="T5" fmla="*/ 4 h 11"/>
                  <a:gd name="T6" fmla="*/ 3 w 13"/>
                  <a:gd name="T7" fmla="*/ 5 h 11"/>
                  <a:gd name="T8" fmla="*/ 5 w 13"/>
                  <a:gd name="T9" fmla="*/ 6 h 11"/>
                  <a:gd name="T10" fmla="*/ 7 w 13"/>
                  <a:gd name="T11" fmla="*/ 8 h 11"/>
                  <a:gd name="T12" fmla="*/ 8 w 13"/>
                  <a:gd name="T13" fmla="*/ 8 h 11"/>
                  <a:gd name="T14" fmla="*/ 9 w 13"/>
                  <a:gd name="T15" fmla="*/ 8 h 11"/>
                  <a:gd name="T16" fmla="*/ 11 w 13"/>
                  <a:gd name="T17" fmla="*/ 10 h 11"/>
                  <a:gd name="T18" fmla="*/ 12 w 13"/>
                  <a:gd name="T19" fmla="*/ 11 h 11"/>
                  <a:gd name="T20" fmla="*/ 13 w 13"/>
                  <a:gd name="T21" fmla="*/ 10 h 11"/>
                  <a:gd name="T22" fmla="*/ 11 w 13"/>
                  <a:gd name="T23" fmla="*/ 8 h 11"/>
                  <a:gd name="T24" fmla="*/ 10 w 13"/>
                  <a:gd name="T25" fmla="*/ 8 h 11"/>
                  <a:gd name="T26" fmla="*/ 9 w 13"/>
                  <a:gd name="T27" fmla="*/ 6 h 11"/>
                  <a:gd name="T28" fmla="*/ 8 w 13"/>
                  <a:gd name="T29" fmla="*/ 5 h 11"/>
                  <a:gd name="T30" fmla="*/ 7 w 13"/>
                  <a:gd name="T31" fmla="*/ 5 h 11"/>
                  <a:gd name="T32" fmla="*/ 5 w 13"/>
                  <a:gd name="T33" fmla="*/ 4 h 11"/>
                  <a:gd name="T34" fmla="*/ 2 w 13"/>
                  <a:gd name="T35" fmla="*/ 1 h 11"/>
                  <a:gd name="T36" fmla="*/ 1 w 13"/>
                  <a:gd name="T37" fmla="*/ 0 h 11"/>
                  <a:gd name="T38" fmla="*/ 0 w 13"/>
                  <a:gd name="T39" fmla="*/ 1 h 1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11"/>
                  <a:gd name="T62" fmla="*/ 13 w 13"/>
                  <a:gd name="T63" fmla="*/ 11 h 1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11">
                    <a:moveTo>
                      <a:pt x="0" y="1"/>
                    </a:moveTo>
                    <a:lnTo>
                      <a:pt x="0" y="1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5" y="6"/>
                    </a:lnTo>
                    <a:lnTo>
                      <a:pt x="7" y="8"/>
                    </a:lnTo>
                    <a:lnTo>
                      <a:pt x="8" y="8"/>
                    </a:lnTo>
                    <a:lnTo>
                      <a:pt x="9" y="8"/>
                    </a:lnTo>
                    <a:lnTo>
                      <a:pt x="11" y="10"/>
                    </a:lnTo>
                    <a:lnTo>
                      <a:pt x="12" y="11"/>
                    </a:lnTo>
                    <a:lnTo>
                      <a:pt x="13" y="10"/>
                    </a:lnTo>
                    <a:lnTo>
                      <a:pt x="11" y="8"/>
                    </a:lnTo>
                    <a:lnTo>
                      <a:pt x="10" y="8"/>
                    </a:lnTo>
                    <a:lnTo>
                      <a:pt x="9" y="6"/>
                    </a:lnTo>
                    <a:lnTo>
                      <a:pt x="8" y="5"/>
                    </a:lnTo>
                    <a:lnTo>
                      <a:pt x="7" y="5"/>
                    </a:lnTo>
                    <a:lnTo>
                      <a:pt x="5" y="4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20" name="Freeform 964"/>
              <p:cNvSpPr>
                <a:spLocks/>
              </p:cNvSpPr>
              <p:nvPr/>
            </p:nvSpPr>
            <p:spPr bwMode="auto">
              <a:xfrm>
                <a:off x="3132" y="2040"/>
                <a:ext cx="10" cy="42"/>
              </a:xfrm>
              <a:custGeom>
                <a:avLst/>
                <a:gdLst>
                  <a:gd name="T0" fmla="*/ 10 w 10"/>
                  <a:gd name="T1" fmla="*/ 42 h 42"/>
                  <a:gd name="T2" fmla="*/ 8 w 10"/>
                  <a:gd name="T3" fmla="*/ 42 h 42"/>
                  <a:gd name="T4" fmla="*/ 7 w 10"/>
                  <a:gd name="T5" fmla="*/ 41 h 42"/>
                  <a:gd name="T6" fmla="*/ 6 w 10"/>
                  <a:gd name="T7" fmla="*/ 40 h 42"/>
                  <a:gd name="T8" fmla="*/ 4 w 10"/>
                  <a:gd name="T9" fmla="*/ 37 h 42"/>
                  <a:gd name="T10" fmla="*/ 4 w 10"/>
                  <a:gd name="T11" fmla="*/ 35 h 42"/>
                  <a:gd name="T12" fmla="*/ 2 w 10"/>
                  <a:gd name="T13" fmla="*/ 32 h 42"/>
                  <a:gd name="T14" fmla="*/ 0 w 10"/>
                  <a:gd name="T15" fmla="*/ 29 h 42"/>
                  <a:gd name="T16" fmla="*/ 0 w 10"/>
                  <a:gd name="T17" fmla="*/ 26 h 42"/>
                  <a:gd name="T18" fmla="*/ 0 w 10"/>
                  <a:gd name="T19" fmla="*/ 22 h 42"/>
                  <a:gd name="T20" fmla="*/ 0 w 10"/>
                  <a:gd name="T21" fmla="*/ 17 h 42"/>
                  <a:gd name="T22" fmla="*/ 0 w 10"/>
                  <a:gd name="T23" fmla="*/ 13 h 42"/>
                  <a:gd name="T24" fmla="*/ 2 w 10"/>
                  <a:gd name="T25" fmla="*/ 9 h 42"/>
                  <a:gd name="T26" fmla="*/ 4 w 10"/>
                  <a:gd name="T27" fmla="*/ 7 h 42"/>
                  <a:gd name="T28" fmla="*/ 4 w 10"/>
                  <a:gd name="T29" fmla="*/ 4 h 42"/>
                  <a:gd name="T30" fmla="*/ 6 w 10"/>
                  <a:gd name="T31" fmla="*/ 1 h 42"/>
                  <a:gd name="T32" fmla="*/ 8 w 10"/>
                  <a:gd name="T33" fmla="*/ 0 h 42"/>
                  <a:gd name="T34" fmla="*/ 10 w 10"/>
                  <a:gd name="T35" fmla="*/ 42 h 4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"/>
                  <a:gd name="T55" fmla="*/ 0 h 42"/>
                  <a:gd name="T56" fmla="*/ 10 w 10"/>
                  <a:gd name="T57" fmla="*/ 42 h 4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" h="42">
                    <a:moveTo>
                      <a:pt x="10" y="42"/>
                    </a:moveTo>
                    <a:lnTo>
                      <a:pt x="8" y="42"/>
                    </a:lnTo>
                    <a:lnTo>
                      <a:pt x="7" y="41"/>
                    </a:lnTo>
                    <a:lnTo>
                      <a:pt x="6" y="40"/>
                    </a:lnTo>
                    <a:lnTo>
                      <a:pt x="4" y="37"/>
                    </a:lnTo>
                    <a:lnTo>
                      <a:pt x="4" y="35"/>
                    </a:lnTo>
                    <a:lnTo>
                      <a:pt x="2" y="32"/>
                    </a:lnTo>
                    <a:lnTo>
                      <a:pt x="0" y="29"/>
                    </a:lnTo>
                    <a:lnTo>
                      <a:pt x="0" y="26"/>
                    </a:lnTo>
                    <a:lnTo>
                      <a:pt x="0" y="22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2" y="9"/>
                    </a:lnTo>
                    <a:lnTo>
                      <a:pt x="4" y="7"/>
                    </a:lnTo>
                    <a:lnTo>
                      <a:pt x="4" y="4"/>
                    </a:lnTo>
                    <a:lnTo>
                      <a:pt x="6" y="1"/>
                    </a:lnTo>
                    <a:lnTo>
                      <a:pt x="8" y="0"/>
                    </a:lnTo>
                    <a:lnTo>
                      <a:pt x="10" y="42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21" name="Freeform 965"/>
              <p:cNvSpPr>
                <a:spLocks/>
              </p:cNvSpPr>
              <p:nvPr/>
            </p:nvSpPr>
            <p:spPr bwMode="auto">
              <a:xfrm>
                <a:off x="3132" y="2066"/>
                <a:ext cx="10" cy="17"/>
              </a:xfrm>
              <a:custGeom>
                <a:avLst/>
                <a:gdLst>
                  <a:gd name="T0" fmla="*/ 0 w 10"/>
                  <a:gd name="T1" fmla="*/ 0 h 17"/>
                  <a:gd name="T2" fmla="*/ 0 w 10"/>
                  <a:gd name="T3" fmla="*/ 0 h 17"/>
                  <a:gd name="T4" fmla="*/ 0 w 10"/>
                  <a:gd name="T5" fmla="*/ 3 h 17"/>
                  <a:gd name="T6" fmla="*/ 2 w 10"/>
                  <a:gd name="T7" fmla="*/ 6 h 17"/>
                  <a:gd name="T8" fmla="*/ 2 w 10"/>
                  <a:gd name="T9" fmla="*/ 10 h 17"/>
                  <a:gd name="T10" fmla="*/ 3 w 10"/>
                  <a:gd name="T11" fmla="*/ 12 h 17"/>
                  <a:gd name="T12" fmla="*/ 5 w 10"/>
                  <a:gd name="T13" fmla="*/ 14 h 17"/>
                  <a:gd name="T14" fmla="*/ 6 w 10"/>
                  <a:gd name="T15" fmla="*/ 16 h 17"/>
                  <a:gd name="T16" fmla="*/ 8 w 10"/>
                  <a:gd name="T17" fmla="*/ 17 h 17"/>
                  <a:gd name="T18" fmla="*/ 10 w 10"/>
                  <a:gd name="T19" fmla="*/ 17 h 17"/>
                  <a:gd name="T20" fmla="*/ 10 w 10"/>
                  <a:gd name="T21" fmla="*/ 15 h 17"/>
                  <a:gd name="T22" fmla="*/ 8 w 10"/>
                  <a:gd name="T23" fmla="*/ 15 h 17"/>
                  <a:gd name="T24" fmla="*/ 7 w 10"/>
                  <a:gd name="T25" fmla="*/ 15 h 17"/>
                  <a:gd name="T26" fmla="*/ 6 w 10"/>
                  <a:gd name="T27" fmla="*/ 13 h 17"/>
                  <a:gd name="T28" fmla="*/ 5 w 10"/>
                  <a:gd name="T29" fmla="*/ 11 h 17"/>
                  <a:gd name="T30" fmla="*/ 4 w 10"/>
                  <a:gd name="T31" fmla="*/ 9 h 17"/>
                  <a:gd name="T32" fmla="*/ 3 w 10"/>
                  <a:gd name="T33" fmla="*/ 6 h 17"/>
                  <a:gd name="T34" fmla="*/ 3 w 10"/>
                  <a:gd name="T35" fmla="*/ 2 h 17"/>
                  <a:gd name="T36" fmla="*/ 3 w 10"/>
                  <a:gd name="T37" fmla="*/ 0 h 17"/>
                  <a:gd name="T38" fmla="*/ 0 w 10"/>
                  <a:gd name="T39" fmla="*/ 0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"/>
                  <a:gd name="T61" fmla="*/ 0 h 17"/>
                  <a:gd name="T62" fmla="*/ 10 w 10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" h="17">
                    <a:moveTo>
                      <a:pt x="0" y="0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2" y="6"/>
                    </a:lnTo>
                    <a:lnTo>
                      <a:pt x="2" y="10"/>
                    </a:lnTo>
                    <a:lnTo>
                      <a:pt x="3" y="12"/>
                    </a:lnTo>
                    <a:lnTo>
                      <a:pt x="5" y="14"/>
                    </a:lnTo>
                    <a:lnTo>
                      <a:pt x="6" y="16"/>
                    </a:lnTo>
                    <a:lnTo>
                      <a:pt x="8" y="17"/>
                    </a:lnTo>
                    <a:lnTo>
                      <a:pt x="10" y="17"/>
                    </a:lnTo>
                    <a:lnTo>
                      <a:pt x="10" y="15"/>
                    </a:lnTo>
                    <a:lnTo>
                      <a:pt x="8" y="15"/>
                    </a:lnTo>
                    <a:lnTo>
                      <a:pt x="7" y="15"/>
                    </a:lnTo>
                    <a:lnTo>
                      <a:pt x="6" y="13"/>
                    </a:lnTo>
                    <a:lnTo>
                      <a:pt x="5" y="11"/>
                    </a:lnTo>
                    <a:lnTo>
                      <a:pt x="4" y="9"/>
                    </a:lnTo>
                    <a:lnTo>
                      <a:pt x="3" y="6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22" name="Freeform 966"/>
              <p:cNvSpPr>
                <a:spLocks/>
              </p:cNvSpPr>
              <p:nvPr/>
            </p:nvSpPr>
            <p:spPr bwMode="auto">
              <a:xfrm>
                <a:off x="3132" y="2040"/>
                <a:ext cx="9" cy="26"/>
              </a:xfrm>
              <a:custGeom>
                <a:avLst/>
                <a:gdLst>
                  <a:gd name="T0" fmla="*/ 8 w 9"/>
                  <a:gd name="T1" fmla="*/ 0 h 26"/>
                  <a:gd name="T2" fmla="*/ 6 w 9"/>
                  <a:gd name="T3" fmla="*/ 1 h 26"/>
                  <a:gd name="T4" fmla="*/ 4 w 9"/>
                  <a:gd name="T5" fmla="*/ 4 h 26"/>
                  <a:gd name="T6" fmla="*/ 3 w 9"/>
                  <a:gd name="T7" fmla="*/ 7 h 26"/>
                  <a:gd name="T8" fmla="*/ 2 w 9"/>
                  <a:gd name="T9" fmla="*/ 10 h 26"/>
                  <a:gd name="T10" fmla="*/ 0 w 9"/>
                  <a:gd name="T11" fmla="*/ 13 h 26"/>
                  <a:gd name="T12" fmla="*/ 0 w 9"/>
                  <a:gd name="T13" fmla="*/ 17 h 26"/>
                  <a:gd name="T14" fmla="*/ 0 w 9"/>
                  <a:gd name="T15" fmla="*/ 22 h 26"/>
                  <a:gd name="T16" fmla="*/ 0 w 9"/>
                  <a:gd name="T17" fmla="*/ 26 h 26"/>
                  <a:gd name="T18" fmla="*/ 3 w 9"/>
                  <a:gd name="T19" fmla="*/ 26 h 26"/>
                  <a:gd name="T20" fmla="*/ 3 w 9"/>
                  <a:gd name="T21" fmla="*/ 22 h 26"/>
                  <a:gd name="T22" fmla="*/ 3 w 9"/>
                  <a:gd name="T23" fmla="*/ 17 h 26"/>
                  <a:gd name="T24" fmla="*/ 3 w 9"/>
                  <a:gd name="T25" fmla="*/ 13 h 26"/>
                  <a:gd name="T26" fmla="*/ 4 w 9"/>
                  <a:gd name="T27" fmla="*/ 10 h 26"/>
                  <a:gd name="T28" fmla="*/ 4 w 9"/>
                  <a:gd name="T29" fmla="*/ 7 h 26"/>
                  <a:gd name="T30" fmla="*/ 6 w 9"/>
                  <a:gd name="T31" fmla="*/ 5 h 26"/>
                  <a:gd name="T32" fmla="*/ 7 w 9"/>
                  <a:gd name="T33" fmla="*/ 4 h 26"/>
                  <a:gd name="T34" fmla="*/ 9 w 9"/>
                  <a:gd name="T35" fmla="*/ 1 h 26"/>
                  <a:gd name="T36" fmla="*/ 8 w 9"/>
                  <a:gd name="T37" fmla="*/ 0 h 2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26"/>
                  <a:gd name="T59" fmla="*/ 9 w 9"/>
                  <a:gd name="T60" fmla="*/ 26 h 2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26">
                    <a:moveTo>
                      <a:pt x="8" y="0"/>
                    </a:moveTo>
                    <a:lnTo>
                      <a:pt x="6" y="1"/>
                    </a:lnTo>
                    <a:lnTo>
                      <a:pt x="4" y="4"/>
                    </a:lnTo>
                    <a:lnTo>
                      <a:pt x="3" y="7"/>
                    </a:lnTo>
                    <a:lnTo>
                      <a:pt x="2" y="10"/>
                    </a:lnTo>
                    <a:lnTo>
                      <a:pt x="0" y="13"/>
                    </a:lnTo>
                    <a:lnTo>
                      <a:pt x="0" y="17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3" y="26"/>
                    </a:lnTo>
                    <a:lnTo>
                      <a:pt x="3" y="22"/>
                    </a:lnTo>
                    <a:lnTo>
                      <a:pt x="3" y="17"/>
                    </a:lnTo>
                    <a:lnTo>
                      <a:pt x="3" y="13"/>
                    </a:lnTo>
                    <a:lnTo>
                      <a:pt x="4" y="10"/>
                    </a:lnTo>
                    <a:lnTo>
                      <a:pt x="4" y="7"/>
                    </a:lnTo>
                    <a:lnTo>
                      <a:pt x="6" y="5"/>
                    </a:lnTo>
                    <a:lnTo>
                      <a:pt x="7" y="4"/>
                    </a:lnTo>
                    <a:lnTo>
                      <a:pt x="9" y="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23" name="Freeform 967"/>
              <p:cNvSpPr>
                <a:spLocks/>
              </p:cNvSpPr>
              <p:nvPr/>
            </p:nvSpPr>
            <p:spPr bwMode="auto">
              <a:xfrm>
                <a:off x="3011" y="1926"/>
                <a:ext cx="239" cy="114"/>
              </a:xfrm>
              <a:custGeom>
                <a:avLst/>
                <a:gdLst>
                  <a:gd name="T0" fmla="*/ 8 w 239"/>
                  <a:gd name="T1" fmla="*/ 42 h 114"/>
                  <a:gd name="T2" fmla="*/ 24 w 239"/>
                  <a:gd name="T3" fmla="*/ 34 h 114"/>
                  <a:gd name="T4" fmla="*/ 45 w 239"/>
                  <a:gd name="T5" fmla="*/ 24 h 114"/>
                  <a:gd name="T6" fmla="*/ 67 w 239"/>
                  <a:gd name="T7" fmla="*/ 14 h 114"/>
                  <a:gd name="T8" fmla="*/ 85 w 239"/>
                  <a:gd name="T9" fmla="*/ 4 h 114"/>
                  <a:gd name="T10" fmla="*/ 94 w 239"/>
                  <a:gd name="T11" fmla="*/ 0 h 114"/>
                  <a:gd name="T12" fmla="*/ 99 w 239"/>
                  <a:gd name="T13" fmla="*/ 0 h 114"/>
                  <a:gd name="T14" fmla="*/ 104 w 239"/>
                  <a:gd name="T15" fmla="*/ 1 h 114"/>
                  <a:gd name="T16" fmla="*/ 108 w 239"/>
                  <a:gd name="T17" fmla="*/ 2 h 114"/>
                  <a:gd name="T18" fmla="*/ 114 w 239"/>
                  <a:gd name="T19" fmla="*/ 5 h 114"/>
                  <a:gd name="T20" fmla="*/ 126 w 239"/>
                  <a:gd name="T21" fmla="*/ 12 h 114"/>
                  <a:gd name="T22" fmla="*/ 140 w 239"/>
                  <a:gd name="T23" fmla="*/ 18 h 114"/>
                  <a:gd name="T24" fmla="*/ 155 w 239"/>
                  <a:gd name="T25" fmla="*/ 25 h 114"/>
                  <a:gd name="T26" fmla="*/ 172 w 239"/>
                  <a:gd name="T27" fmla="*/ 33 h 114"/>
                  <a:gd name="T28" fmla="*/ 188 w 239"/>
                  <a:gd name="T29" fmla="*/ 40 h 114"/>
                  <a:gd name="T30" fmla="*/ 204 w 239"/>
                  <a:gd name="T31" fmla="*/ 47 h 114"/>
                  <a:gd name="T32" fmla="*/ 217 w 239"/>
                  <a:gd name="T33" fmla="*/ 53 h 114"/>
                  <a:gd name="T34" fmla="*/ 226 w 239"/>
                  <a:gd name="T35" fmla="*/ 58 h 114"/>
                  <a:gd name="T36" fmla="*/ 233 w 239"/>
                  <a:gd name="T37" fmla="*/ 60 h 114"/>
                  <a:gd name="T38" fmla="*/ 237 w 239"/>
                  <a:gd name="T39" fmla="*/ 63 h 114"/>
                  <a:gd name="T40" fmla="*/ 239 w 239"/>
                  <a:gd name="T41" fmla="*/ 67 h 114"/>
                  <a:gd name="T42" fmla="*/ 235 w 239"/>
                  <a:gd name="T43" fmla="*/ 71 h 114"/>
                  <a:gd name="T44" fmla="*/ 228 w 239"/>
                  <a:gd name="T45" fmla="*/ 73 h 114"/>
                  <a:gd name="T46" fmla="*/ 220 w 239"/>
                  <a:gd name="T47" fmla="*/ 77 h 114"/>
                  <a:gd name="T48" fmla="*/ 209 w 239"/>
                  <a:gd name="T49" fmla="*/ 81 h 114"/>
                  <a:gd name="T50" fmla="*/ 197 w 239"/>
                  <a:gd name="T51" fmla="*/ 87 h 114"/>
                  <a:gd name="T52" fmla="*/ 184 w 239"/>
                  <a:gd name="T53" fmla="*/ 92 h 114"/>
                  <a:gd name="T54" fmla="*/ 172 w 239"/>
                  <a:gd name="T55" fmla="*/ 97 h 114"/>
                  <a:gd name="T56" fmla="*/ 160 w 239"/>
                  <a:gd name="T57" fmla="*/ 103 h 114"/>
                  <a:gd name="T58" fmla="*/ 149 w 239"/>
                  <a:gd name="T59" fmla="*/ 108 h 114"/>
                  <a:gd name="T60" fmla="*/ 141 w 239"/>
                  <a:gd name="T61" fmla="*/ 111 h 114"/>
                  <a:gd name="T62" fmla="*/ 134 w 239"/>
                  <a:gd name="T63" fmla="*/ 113 h 114"/>
                  <a:gd name="T64" fmla="*/ 130 w 239"/>
                  <a:gd name="T65" fmla="*/ 114 h 114"/>
                  <a:gd name="T66" fmla="*/ 125 w 239"/>
                  <a:gd name="T67" fmla="*/ 113 h 114"/>
                  <a:gd name="T68" fmla="*/ 120 w 239"/>
                  <a:gd name="T69" fmla="*/ 111 h 114"/>
                  <a:gd name="T70" fmla="*/ 114 w 239"/>
                  <a:gd name="T71" fmla="*/ 109 h 114"/>
                  <a:gd name="T72" fmla="*/ 105 w 239"/>
                  <a:gd name="T73" fmla="*/ 104 h 114"/>
                  <a:gd name="T74" fmla="*/ 94 w 239"/>
                  <a:gd name="T75" fmla="*/ 97 h 114"/>
                  <a:gd name="T76" fmla="*/ 80 w 239"/>
                  <a:gd name="T77" fmla="*/ 91 h 114"/>
                  <a:gd name="T78" fmla="*/ 66 w 239"/>
                  <a:gd name="T79" fmla="*/ 82 h 114"/>
                  <a:gd name="T80" fmla="*/ 51 w 239"/>
                  <a:gd name="T81" fmla="*/ 75 h 114"/>
                  <a:gd name="T82" fmla="*/ 36 w 239"/>
                  <a:gd name="T83" fmla="*/ 67 h 114"/>
                  <a:gd name="T84" fmla="*/ 23 w 239"/>
                  <a:gd name="T85" fmla="*/ 60 h 114"/>
                  <a:gd name="T86" fmla="*/ 14 w 239"/>
                  <a:gd name="T87" fmla="*/ 56 h 114"/>
                  <a:gd name="T88" fmla="*/ 8 w 239"/>
                  <a:gd name="T89" fmla="*/ 52 h 114"/>
                  <a:gd name="T90" fmla="*/ 3 w 239"/>
                  <a:gd name="T91" fmla="*/ 49 h 114"/>
                  <a:gd name="T92" fmla="*/ 0 w 239"/>
                  <a:gd name="T93" fmla="*/ 47 h 114"/>
                  <a:gd name="T94" fmla="*/ 4 w 239"/>
                  <a:gd name="T95" fmla="*/ 44 h 11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39"/>
                  <a:gd name="T145" fmla="*/ 0 h 114"/>
                  <a:gd name="T146" fmla="*/ 239 w 239"/>
                  <a:gd name="T147" fmla="*/ 114 h 114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39" h="114">
                    <a:moveTo>
                      <a:pt x="4" y="44"/>
                    </a:moveTo>
                    <a:lnTo>
                      <a:pt x="5" y="43"/>
                    </a:lnTo>
                    <a:lnTo>
                      <a:pt x="8" y="42"/>
                    </a:lnTo>
                    <a:lnTo>
                      <a:pt x="14" y="40"/>
                    </a:lnTo>
                    <a:lnTo>
                      <a:pt x="18" y="37"/>
                    </a:lnTo>
                    <a:lnTo>
                      <a:pt x="24" y="34"/>
                    </a:lnTo>
                    <a:lnTo>
                      <a:pt x="31" y="30"/>
                    </a:lnTo>
                    <a:lnTo>
                      <a:pt x="37" y="28"/>
                    </a:lnTo>
                    <a:lnTo>
                      <a:pt x="45" y="24"/>
                    </a:lnTo>
                    <a:lnTo>
                      <a:pt x="52" y="20"/>
                    </a:lnTo>
                    <a:lnTo>
                      <a:pt x="61" y="17"/>
                    </a:lnTo>
                    <a:lnTo>
                      <a:pt x="67" y="14"/>
                    </a:lnTo>
                    <a:lnTo>
                      <a:pt x="73" y="11"/>
                    </a:lnTo>
                    <a:lnTo>
                      <a:pt x="80" y="6"/>
                    </a:lnTo>
                    <a:lnTo>
                      <a:pt x="85" y="4"/>
                    </a:lnTo>
                    <a:lnTo>
                      <a:pt x="89" y="2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6" y="0"/>
                    </a:lnTo>
                    <a:lnTo>
                      <a:pt x="97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3" y="0"/>
                    </a:lnTo>
                    <a:lnTo>
                      <a:pt x="104" y="1"/>
                    </a:lnTo>
                    <a:lnTo>
                      <a:pt x="105" y="1"/>
                    </a:lnTo>
                    <a:lnTo>
                      <a:pt x="106" y="2"/>
                    </a:lnTo>
                    <a:lnTo>
                      <a:pt x="108" y="2"/>
                    </a:lnTo>
                    <a:lnTo>
                      <a:pt x="110" y="3"/>
                    </a:lnTo>
                    <a:lnTo>
                      <a:pt x="112" y="4"/>
                    </a:lnTo>
                    <a:lnTo>
                      <a:pt x="114" y="5"/>
                    </a:lnTo>
                    <a:lnTo>
                      <a:pt x="118" y="9"/>
                    </a:lnTo>
                    <a:lnTo>
                      <a:pt x="123" y="9"/>
                    </a:lnTo>
                    <a:lnTo>
                      <a:pt x="126" y="12"/>
                    </a:lnTo>
                    <a:lnTo>
                      <a:pt x="130" y="14"/>
                    </a:lnTo>
                    <a:lnTo>
                      <a:pt x="134" y="16"/>
                    </a:lnTo>
                    <a:lnTo>
                      <a:pt x="140" y="18"/>
                    </a:lnTo>
                    <a:lnTo>
                      <a:pt x="145" y="20"/>
                    </a:lnTo>
                    <a:lnTo>
                      <a:pt x="149" y="22"/>
                    </a:lnTo>
                    <a:lnTo>
                      <a:pt x="155" y="25"/>
                    </a:lnTo>
                    <a:lnTo>
                      <a:pt x="161" y="28"/>
                    </a:lnTo>
                    <a:lnTo>
                      <a:pt x="166" y="30"/>
                    </a:lnTo>
                    <a:lnTo>
                      <a:pt x="172" y="33"/>
                    </a:lnTo>
                    <a:lnTo>
                      <a:pt x="178" y="35"/>
                    </a:lnTo>
                    <a:lnTo>
                      <a:pt x="183" y="37"/>
                    </a:lnTo>
                    <a:lnTo>
                      <a:pt x="188" y="40"/>
                    </a:lnTo>
                    <a:lnTo>
                      <a:pt x="194" y="43"/>
                    </a:lnTo>
                    <a:lnTo>
                      <a:pt x="198" y="45"/>
                    </a:lnTo>
                    <a:lnTo>
                      <a:pt x="204" y="47"/>
                    </a:lnTo>
                    <a:lnTo>
                      <a:pt x="209" y="49"/>
                    </a:lnTo>
                    <a:lnTo>
                      <a:pt x="213" y="51"/>
                    </a:lnTo>
                    <a:lnTo>
                      <a:pt x="217" y="53"/>
                    </a:lnTo>
                    <a:lnTo>
                      <a:pt x="220" y="56"/>
                    </a:lnTo>
                    <a:lnTo>
                      <a:pt x="223" y="57"/>
                    </a:lnTo>
                    <a:lnTo>
                      <a:pt x="226" y="58"/>
                    </a:lnTo>
                    <a:lnTo>
                      <a:pt x="228" y="59"/>
                    </a:lnTo>
                    <a:lnTo>
                      <a:pt x="232" y="60"/>
                    </a:lnTo>
                    <a:lnTo>
                      <a:pt x="233" y="60"/>
                    </a:lnTo>
                    <a:lnTo>
                      <a:pt x="234" y="61"/>
                    </a:lnTo>
                    <a:lnTo>
                      <a:pt x="236" y="62"/>
                    </a:lnTo>
                    <a:lnTo>
                      <a:pt x="237" y="63"/>
                    </a:lnTo>
                    <a:lnTo>
                      <a:pt x="238" y="65"/>
                    </a:lnTo>
                    <a:lnTo>
                      <a:pt x="239" y="65"/>
                    </a:lnTo>
                    <a:lnTo>
                      <a:pt x="239" y="67"/>
                    </a:lnTo>
                    <a:lnTo>
                      <a:pt x="238" y="69"/>
                    </a:lnTo>
                    <a:lnTo>
                      <a:pt x="236" y="71"/>
                    </a:lnTo>
                    <a:lnTo>
                      <a:pt x="235" y="71"/>
                    </a:lnTo>
                    <a:lnTo>
                      <a:pt x="234" y="72"/>
                    </a:lnTo>
                    <a:lnTo>
                      <a:pt x="232" y="72"/>
                    </a:lnTo>
                    <a:lnTo>
                      <a:pt x="228" y="73"/>
                    </a:lnTo>
                    <a:lnTo>
                      <a:pt x="225" y="74"/>
                    </a:lnTo>
                    <a:lnTo>
                      <a:pt x="223" y="76"/>
                    </a:lnTo>
                    <a:lnTo>
                      <a:pt x="220" y="77"/>
                    </a:lnTo>
                    <a:lnTo>
                      <a:pt x="217" y="78"/>
                    </a:lnTo>
                    <a:lnTo>
                      <a:pt x="213" y="79"/>
                    </a:lnTo>
                    <a:lnTo>
                      <a:pt x="209" y="81"/>
                    </a:lnTo>
                    <a:lnTo>
                      <a:pt x="205" y="82"/>
                    </a:lnTo>
                    <a:lnTo>
                      <a:pt x="202" y="84"/>
                    </a:lnTo>
                    <a:lnTo>
                      <a:pt x="197" y="87"/>
                    </a:lnTo>
                    <a:lnTo>
                      <a:pt x="192" y="89"/>
                    </a:lnTo>
                    <a:lnTo>
                      <a:pt x="190" y="91"/>
                    </a:lnTo>
                    <a:lnTo>
                      <a:pt x="184" y="92"/>
                    </a:lnTo>
                    <a:lnTo>
                      <a:pt x="180" y="94"/>
                    </a:lnTo>
                    <a:lnTo>
                      <a:pt x="176" y="95"/>
                    </a:lnTo>
                    <a:lnTo>
                      <a:pt x="172" y="97"/>
                    </a:lnTo>
                    <a:lnTo>
                      <a:pt x="167" y="99"/>
                    </a:lnTo>
                    <a:lnTo>
                      <a:pt x="164" y="100"/>
                    </a:lnTo>
                    <a:lnTo>
                      <a:pt x="160" y="103"/>
                    </a:lnTo>
                    <a:lnTo>
                      <a:pt x="157" y="104"/>
                    </a:lnTo>
                    <a:lnTo>
                      <a:pt x="152" y="106"/>
                    </a:lnTo>
                    <a:lnTo>
                      <a:pt x="149" y="108"/>
                    </a:lnTo>
                    <a:lnTo>
                      <a:pt x="146" y="109"/>
                    </a:lnTo>
                    <a:lnTo>
                      <a:pt x="143" y="110"/>
                    </a:lnTo>
                    <a:lnTo>
                      <a:pt x="141" y="111"/>
                    </a:lnTo>
                    <a:lnTo>
                      <a:pt x="137" y="112"/>
                    </a:lnTo>
                    <a:lnTo>
                      <a:pt x="135" y="113"/>
                    </a:lnTo>
                    <a:lnTo>
                      <a:pt x="134" y="113"/>
                    </a:lnTo>
                    <a:lnTo>
                      <a:pt x="132" y="114"/>
                    </a:lnTo>
                    <a:lnTo>
                      <a:pt x="131" y="114"/>
                    </a:lnTo>
                    <a:lnTo>
                      <a:pt x="130" y="114"/>
                    </a:lnTo>
                    <a:lnTo>
                      <a:pt x="128" y="114"/>
                    </a:lnTo>
                    <a:lnTo>
                      <a:pt x="127" y="113"/>
                    </a:lnTo>
                    <a:lnTo>
                      <a:pt x="125" y="113"/>
                    </a:lnTo>
                    <a:lnTo>
                      <a:pt x="124" y="112"/>
                    </a:lnTo>
                    <a:lnTo>
                      <a:pt x="121" y="112"/>
                    </a:lnTo>
                    <a:lnTo>
                      <a:pt x="120" y="111"/>
                    </a:lnTo>
                    <a:lnTo>
                      <a:pt x="118" y="111"/>
                    </a:lnTo>
                    <a:lnTo>
                      <a:pt x="116" y="110"/>
                    </a:lnTo>
                    <a:lnTo>
                      <a:pt x="114" y="109"/>
                    </a:lnTo>
                    <a:lnTo>
                      <a:pt x="112" y="106"/>
                    </a:lnTo>
                    <a:lnTo>
                      <a:pt x="109" y="106"/>
                    </a:lnTo>
                    <a:lnTo>
                      <a:pt x="105" y="104"/>
                    </a:lnTo>
                    <a:lnTo>
                      <a:pt x="102" y="102"/>
                    </a:lnTo>
                    <a:lnTo>
                      <a:pt x="97" y="99"/>
                    </a:lnTo>
                    <a:lnTo>
                      <a:pt x="94" y="97"/>
                    </a:lnTo>
                    <a:lnTo>
                      <a:pt x="89" y="95"/>
                    </a:lnTo>
                    <a:lnTo>
                      <a:pt x="85" y="93"/>
                    </a:lnTo>
                    <a:lnTo>
                      <a:pt x="80" y="91"/>
                    </a:lnTo>
                    <a:lnTo>
                      <a:pt x="74" y="87"/>
                    </a:lnTo>
                    <a:lnTo>
                      <a:pt x="70" y="84"/>
                    </a:lnTo>
                    <a:lnTo>
                      <a:pt x="66" y="82"/>
                    </a:lnTo>
                    <a:lnTo>
                      <a:pt x="61" y="80"/>
                    </a:lnTo>
                    <a:lnTo>
                      <a:pt x="55" y="77"/>
                    </a:lnTo>
                    <a:lnTo>
                      <a:pt x="51" y="75"/>
                    </a:lnTo>
                    <a:lnTo>
                      <a:pt x="45" y="72"/>
                    </a:lnTo>
                    <a:lnTo>
                      <a:pt x="40" y="69"/>
                    </a:lnTo>
                    <a:lnTo>
                      <a:pt x="36" y="67"/>
                    </a:lnTo>
                    <a:lnTo>
                      <a:pt x="32" y="65"/>
                    </a:lnTo>
                    <a:lnTo>
                      <a:pt x="27" y="62"/>
                    </a:lnTo>
                    <a:lnTo>
                      <a:pt x="23" y="60"/>
                    </a:lnTo>
                    <a:lnTo>
                      <a:pt x="20" y="59"/>
                    </a:lnTo>
                    <a:lnTo>
                      <a:pt x="17" y="57"/>
                    </a:lnTo>
                    <a:lnTo>
                      <a:pt x="14" y="56"/>
                    </a:lnTo>
                    <a:lnTo>
                      <a:pt x="11" y="53"/>
                    </a:lnTo>
                    <a:lnTo>
                      <a:pt x="8" y="52"/>
                    </a:lnTo>
                    <a:lnTo>
                      <a:pt x="6" y="51"/>
                    </a:lnTo>
                    <a:lnTo>
                      <a:pt x="5" y="51"/>
                    </a:lnTo>
                    <a:lnTo>
                      <a:pt x="3" y="49"/>
                    </a:lnTo>
                    <a:lnTo>
                      <a:pt x="2" y="49"/>
                    </a:lnTo>
                    <a:lnTo>
                      <a:pt x="1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2" y="45"/>
                    </a:lnTo>
                    <a:lnTo>
                      <a:pt x="4" y="44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24" name="Freeform 968"/>
              <p:cNvSpPr>
                <a:spLocks/>
              </p:cNvSpPr>
              <p:nvPr/>
            </p:nvSpPr>
            <p:spPr bwMode="auto">
              <a:xfrm>
                <a:off x="3014" y="1926"/>
                <a:ext cx="90" cy="44"/>
              </a:xfrm>
              <a:custGeom>
                <a:avLst/>
                <a:gdLst>
                  <a:gd name="T0" fmla="*/ 89 w 90"/>
                  <a:gd name="T1" fmla="*/ 0 h 44"/>
                  <a:gd name="T2" fmla="*/ 89 w 90"/>
                  <a:gd name="T3" fmla="*/ 0 h 44"/>
                  <a:gd name="T4" fmla="*/ 85 w 90"/>
                  <a:gd name="T5" fmla="*/ 1 h 44"/>
                  <a:gd name="T6" fmla="*/ 81 w 90"/>
                  <a:gd name="T7" fmla="*/ 3 h 44"/>
                  <a:gd name="T8" fmla="*/ 77 w 90"/>
                  <a:gd name="T9" fmla="*/ 5 h 44"/>
                  <a:gd name="T10" fmla="*/ 69 w 90"/>
                  <a:gd name="T11" fmla="*/ 9 h 44"/>
                  <a:gd name="T12" fmla="*/ 63 w 90"/>
                  <a:gd name="T13" fmla="*/ 13 h 44"/>
                  <a:gd name="T14" fmla="*/ 55 w 90"/>
                  <a:gd name="T15" fmla="*/ 16 h 44"/>
                  <a:gd name="T16" fmla="*/ 49 w 90"/>
                  <a:gd name="T17" fmla="*/ 19 h 44"/>
                  <a:gd name="T18" fmla="*/ 42 w 90"/>
                  <a:gd name="T19" fmla="*/ 22 h 44"/>
                  <a:gd name="T20" fmla="*/ 34 w 90"/>
                  <a:gd name="T21" fmla="*/ 26 h 44"/>
                  <a:gd name="T22" fmla="*/ 28 w 90"/>
                  <a:gd name="T23" fmla="*/ 29 h 44"/>
                  <a:gd name="T24" fmla="*/ 20 w 90"/>
                  <a:gd name="T25" fmla="*/ 33 h 44"/>
                  <a:gd name="T26" fmla="*/ 15 w 90"/>
                  <a:gd name="T27" fmla="*/ 35 h 44"/>
                  <a:gd name="T28" fmla="*/ 8 w 90"/>
                  <a:gd name="T29" fmla="*/ 39 h 44"/>
                  <a:gd name="T30" fmla="*/ 4 w 90"/>
                  <a:gd name="T31" fmla="*/ 40 h 44"/>
                  <a:gd name="T32" fmla="*/ 2 w 90"/>
                  <a:gd name="T33" fmla="*/ 42 h 44"/>
                  <a:gd name="T34" fmla="*/ 0 w 90"/>
                  <a:gd name="T35" fmla="*/ 42 h 44"/>
                  <a:gd name="T36" fmla="*/ 1 w 90"/>
                  <a:gd name="T37" fmla="*/ 44 h 44"/>
                  <a:gd name="T38" fmla="*/ 2 w 90"/>
                  <a:gd name="T39" fmla="*/ 43 h 44"/>
                  <a:gd name="T40" fmla="*/ 5 w 90"/>
                  <a:gd name="T41" fmla="*/ 42 h 44"/>
                  <a:gd name="T42" fmla="*/ 11 w 90"/>
                  <a:gd name="T43" fmla="*/ 40 h 44"/>
                  <a:gd name="T44" fmla="*/ 15 w 90"/>
                  <a:gd name="T45" fmla="*/ 37 h 44"/>
                  <a:gd name="T46" fmla="*/ 21 w 90"/>
                  <a:gd name="T47" fmla="*/ 33 h 44"/>
                  <a:gd name="T48" fmla="*/ 28 w 90"/>
                  <a:gd name="T49" fmla="*/ 31 h 44"/>
                  <a:gd name="T50" fmla="*/ 35 w 90"/>
                  <a:gd name="T51" fmla="*/ 27 h 44"/>
                  <a:gd name="T52" fmla="*/ 42 w 90"/>
                  <a:gd name="T53" fmla="*/ 25 h 44"/>
                  <a:gd name="T54" fmla="*/ 50 w 90"/>
                  <a:gd name="T55" fmla="*/ 20 h 44"/>
                  <a:gd name="T56" fmla="*/ 56 w 90"/>
                  <a:gd name="T57" fmla="*/ 17 h 44"/>
                  <a:gd name="T58" fmla="*/ 63 w 90"/>
                  <a:gd name="T59" fmla="*/ 14 h 44"/>
                  <a:gd name="T60" fmla="*/ 70 w 90"/>
                  <a:gd name="T61" fmla="*/ 11 h 44"/>
                  <a:gd name="T62" fmla="*/ 77 w 90"/>
                  <a:gd name="T63" fmla="*/ 9 h 44"/>
                  <a:gd name="T64" fmla="*/ 82 w 90"/>
                  <a:gd name="T65" fmla="*/ 5 h 44"/>
                  <a:gd name="T66" fmla="*/ 86 w 90"/>
                  <a:gd name="T67" fmla="*/ 3 h 44"/>
                  <a:gd name="T68" fmla="*/ 90 w 90"/>
                  <a:gd name="T69" fmla="*/ 1 h 44"/>
                  <a:gd name="T70" fmla="*/ 89 w 90"/>
                  <a:gd name="T71" fmla="*/ 0 h 4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90"/>
                  <a:gd name="T109" fmla="*/ 0 h 44"/>
                  <a:gd name="T110" fmla="*/ 90 w 90"/>
                  <a:gd name="T111" fmla="*/ 44 h 4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90" h="44">
                    <a:moveTo>
                      <a:pt x="89" y="0"/>
                    </a:moveTo>
                    <a:lnTo>
                      <a:pt x="89" y="0"/>
                    </a:lnTo>
                    <a:lnTo>
                      <a:pt x="85" y="1"/>
                    </a:lnTo>
                    <a:lnTo>
                      <a:pt x="81" y="3"/>
                    </a:lnTo>
                    <a:lnTo>
                      <a:pt x="77" y="5"/>
                    </a:lnTo>
                    <a:lnTo>
                      <a:pt x="69" y="9"/>
                    </a:lnTo>
                    <a:lnTo>
                      <a:pt x="63" y="13"/>
                    </a:lnTo>
                    <a:lnTo>
                      <a:pt x="55" y="16"/>
                    </a:lnTo>
                    <a:lnTo>
                      <a:pt x="49" y="19"/>
                    </a:lnTo>
                    <a:lnTo>
                      <a:pt x="42" y="22"/>
                    </a:lnTo>
                    <a:lnTo>
                      <a:pt x="34" y="26"/>
                    </a:lnTo>
                    <a:lnTo>
                      <a:pt x="28" y="29"/>
                    </a:lnTo>
                    <a:lnTo>
                      <a:pt x="20" y="33"/>
                    </a:lnTo>
                    <a:lnTo>
                      <a:pt x="15" y="35"/>
                    </a:lnTo>
                    <a:lnTo>
                      <a:pt x="8" y="39"/>
                    </a:lnTo>
                    <a:lnTo>
                      <a:pt x="4" y="40"/>
                    </a:lnTo>
                    <a:lnTo>
                      <a:pt x="2" y="42"/>
                    </a:lnTo>
                    <a:lnTo>
                      <a:pt x="0" y="42"/>
                    </a:lnTo>
                    <a:lnTo>
                      <a:pt x="1" y="44"/>
                    </a:lnTo>
                    <a:lnTo>
                      <a:pt x="2" y="43"/>
                    </a:lnTo>
                    <a:lnTo>
                      <a:pt x="5" y="42"/>
                    </a:lnTo>
                    <a:lnTo>
                      <a:pt x="11" y="40"/>
                    </a:lnTo>
                    <a:lnTo>
                      <a:pt x="15" y="37"/>
                    </a:lnTo>
                    <a:lnTo>
                      <a:pt x="21" y="33"/>
                    </a:lnTo>
                    <a:lnTo>
                      <a:pt x="28" y="31"/>
                    </a:lnTo>
                    <a:lnTo>
                      <a:pt x="35" y="27"/>
                    </a:lnTo>
                    <a:lnTo>
                      <a:pt x="42" y="25"/>
                    </a:lnTo>
                    <a:lnTo>
                      <a:pt x="50" y="20"/>
                    </a:lnTo>
                    <a:lnTo>
                      <a:pt x="56" y="17"/>
                    </a:lnTo>
                    <a:lnTo>
                      <a:pt x="63" y="14"/>
                    </a:lnTo>
                    <a:lnTo>
                      <a:pt x="70" y="11"/>
                    </a:lnTo>
                    <a:lnTo>
                      <a:pt x="77" y="9"/>
                    </a:lnTo>
                    <a:lnTo>
                      <a:pt x="82" y="5"/>
                    </a:lnTo>
                    <a:lnTo>
                      <a:pt x="86" y="3"/>
                    </a:lnTo>
                    <a:lnTo>
                      <a:pt x="90" y="1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25" name="Freeform 969"/>
              <p:cNvSpPr>
                <a:spLocks/>
              </p:cNvSpPr>
              <p:nvPr/>
            </p:nvSpPr>
            <p:spPr bwMode="auto">
              <a:xfrm>
                <a:off x="3103" y="1925"/>
                <a:ext cx="13" cy="3"/>
              </a:xfrm>
              <a:custGeom>
                <a:avLst/>
                <a:gdLst>
                  <a:gd name="T0" fmla="*/ 13 w 13"/>
                  <a:gd name="T1" fmla="*/ 2 h 3"/>
                  <a:gd name="T2" fmla="*/ 13 w 13"/>
                  <a:gd name="T3" fmla="*/ 2 h 3"/>
                  <a:gd name="T4" fmla="*/ 12 w 13"/>
                  <a:gd name="T5" fmla="*/ 1 h 3"/>
                  <a:gd name="T6" fmla="*/ 10 w 13"/>
                  <a:gd name="T7" fmla="*/ 1 h 3"/>
                  <a:gd name="T8" fmla="*/ 9 w 13"/>
                  <a:gd name="T9" fmla="*/ 0 h 3"/>
                  <a:gd name="T10" fmla="*/ 6 w 13"/>
                  <a:gd name="T11" fmla="*/ 0 h 3"/>
                  <a:gd name="T12" fmla="*/ 5 w 13"/>
                  <a:gd name="T13" fmla="*/ 0 h 3"/>
                  <a:gd name="T14" fmla="*/ 3 w 13"/>
                  <a:gd name="T15" fmla="*/ 0 h 3"/>
                  <a:gd name="T16" fmla="*/ 2 w 13"/>
                  <a:gd name="T17" fmla="*/ 0 h 3"/>
                  <a:gd name="T18" fmla="*/ 0 w 13"/>
                  <a:gd name="T19" fmla="*/ 1 h 3"/>
                  <a:gd name="T20" fmla="*/ 0 w 13"/>
                  <a:gd name="T21" fmla="*/ 2 h 3"/>
                  <a:gd name="T22" fmla="*/ 2 w 13"/>
                  <a:gd name="T23" fmla="*/ 2 h 3"/>
                  <a:gd name="T24" fmla="*/ 3 w 13"/>
                  <a:gd name="T25" fmla="*/ 2 h 3"/>
                  <a:gd name="T26" fmla="*/ 5 w 13"/>
                  <a:gd name="T27" fmla="*/ 2 h 3"/>
                  <a:gd name="T28" fmla="*/ 6 w 13"/>
                  <a:gd name="T29" fmla="*/ 2 h 3"/>
                  <a:gd name="T30" fmla="*/ 9 w 13"/>
                  <a:gd name="T31" fmla="*/ 2 h 3"/>
                  <a:gd name="T32" fmla="*/ 10 w 13"/>
                  <a:gd name="T33" fmla="*/ 2 h 3"/>
                  <a:gd name="T34" fmla="*/ 11 w 13"/>
                  <a:gd name="T35" fmla="*/ 3 h 3"/>
                  <a:gd name="T36" fmla="*/ 12 w 13"/>
                  <a:gd name="T37" fmla="*/ 3 h 3"/>
                  <a:gd name="T38" fmla="*/ 13 w 13"/>
                  <a:gd name="T39" fmla="*/ 2 h 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"/>
                  <a:gd name="T61" fmla="*/ 0 h 3"/>
                  <a:gd name="T62" fmla="*/ 13 w 13"/>
                  <a:gd name="T63" fmla="*/ 3 h 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" h="3">
                    <a:moveTo>
                      <a:pt x="13" y="2"/>
                    </a:moveTo>
                    <a:lnTo>
                      <a:pt x="13" y="2"/>
                    </a:lnTo>
                    <a:lnTo>
                      <a:pt x="12" y="1"/>
                    </a:lnTo>
                    <a:lnTo>
                      <a:pt x="10" y="1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6" y="2"/>
                    </a:lnTo>
                    <a:lnTo>
                      <a:pt x="9" y="2"/>
                    </a:lnTo>
                    <a:lnTo>
                      <a:pt x="10" y="2"/>
                    </a:lnTo>
                    <a:lnTo>
                      <a:pt x="11" y="3"/>
                    </a:lnTo>
                    <a:lnTo>
                      <a:pt x="12" y="3"/>
                    </a:ln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26" name="Freeform 970"/>
              <p:cNvSpPr>
                <a:spLocks/>
              </p:cNvSpPr>
              <p:nvPr/>
            </p:nvSpPr>
            <p:spPr bwMode="auto">
              <a:xfrm>
                <a:off x="3115" y="1926"/>
                <a:ext cx="128" cy="61"/>
              </a:xfrm>
              <a:custGeom>
                <a:avLst/>
                <a:gdLst>
                  <a:gd name="T0" fmla="*/ 128 w 128"/>
                  <a:gd name="T1" fmla="*/ 60 h 61"/>
                  <a:gd name="T2" fmla="*/ 124 w 128"/>
                  <a:gd name="T3" fmla="*/ 58 h 61"/>
                  <a:gd name="T4" fmla="*/ 119 w 128"/>
                  <a:gd name="T5" fmla="*/ 56 h 61"/>
                  <a:gd name="T6" fmla="*/ 111 w 128"/>
                  <a:gd name="T7" fmla="*/ 52 h 61"/>
                  <a:gd name="T8" fmla="*/ 104 w 128"/>
                  <a:gd name="T9" fmla="*/ 48 h 61"/>
                  <a:gd name="T10" fmla="*/ 94 w 128"/>
                  <a:gd name="T11" fmla="*/ 44 h 61"/>
                  <a:gd name="T12" fmla="*/ 84 w 128"/>
                  <a:gd name="T13" fmla="*/ 39 h 61"/>
                  <a:gd name="T14" fmla="*/ 73 w 128"/>
                  <a:gd name="T15" fmla="*/ 33 h 61"/>
                  <a:gd name="T16" fmla="*/ 62 w 128"/>
                  <a:gd name="T17" fmla="*/ 28 h 61"/>
                  <a:gd name="T18" fmla="*/ 51 w 128"/>
                  <a:gd name="T19" fmla="*/ 24 h 61"/>
                  <a:gd name="T20" fmla="*/ 41 w 128"/>
                  <a:gd name="T21" fmla="*/ 18 h 61"/>
                  <a:gd name="T22" fmla="*/ 30 w 128"/>
                  <a:gd name="T23" fmla="*/ 14 h 61"/>
                  <a:gd name="T24" fmla="*/ 22 w 128"/>
                  <a:gd name="T25" fmla="*/ 9 h 61"/>
                  <a:gd name="T26" fmla="*/ 14 w 128"/>
                  <a:gd name="T27" fmla="*/ 5 h 61"/>
                  <a:gd name="T28" fmla="*/ 8 w 128"/>
                  <a:gd name="T29" fmla="*/ 3 h 61"/>
                  <a:gd name="T30" fmla="*/ 4 w 128"/>
                  <a:gd name="T31" fmla="*/ 1 h 61"/>
                  <a:gd name="T32" fmla="*/ 0 w 128"/>
                  <a:gd name="T33" fmla="*/ 1 h 61"/>
                  <a:gd name="T34" fmla="*/ 2 w 128"/>
                  <a:gd name="T35" fmla="*/ 2 h 61"/>
                  <a:gd name="T36" fmla="*/ 7 w 128"/>
                  <a:gd name="T37" fmla="*/ 4 h 61"/>
                  <a:gd name="T38" fmla="*/ 13 w 128"/>
                  <a:gd name="T39" fmla="*/ 9 h 61"/>
                  <a:gd name="T40" fmla="*/ 21 w 128"/>
                  <a:gd name="T41" fmla="*/ 12 h 61"/>
                  <a:gd name="T42" fmla="*/ 29 w 128"/>
                  <a:gd name="T43" fmla="*/ 16 h 61"/>
                  <a:gd name="T44" fmla="*/ 40 w 128"/>
                  <a:gd name="T45" fmla="*/ 20 h 61"/>
                  <a:gd name="T46" fmla="*/ 50 w 128"/>
                  <a:gd name="T47" fmla="*/ 25 h 61"/>
                  <a:gd name="T48" fmla="*/ 61 w 128"/>
                  <a:gd name="T49" fmla="*/ 30 h 61"/>
                  <a:gd name="T50" fmla="*/ 72 w 128"/>
                  <a:gd name="T51" fmla="*/ 35 h 61"/>
                  <a:gd name="T52" fmla="*/ 83 w 128"/>
                  <a:gd name="T53" fmla="*/ 41 h 61"/>
                  <a:gd name="T54" fmla="*/ 94 w 128"/>
                  <a:gd name="T55" fmla="*/ 45 h 61"/>
                  <a:gd name="T56" fmla="*/ 103 w 128"/>
                  <a:gd name="T57" fmla="*/ 49 h 61"/>
                  <a:gd name="T58" fmla="*/ 110 w 128"/>
                  <a:gd name="T59" fmla="*/ 55 h 61"/>
                  <a:gd name="T60" fmla="*/ 119 w 128"/>
                  <a:gd name="T61" fmla="*/ 57 h 61"/>
                  <a:gd name="T62" fmla="*/ 123 w 128"/>
                  <a:gd name="T63" fmla="*/ 60 h 61"/>
                  <a:gd name="T64" fmla="*/ 126 w 128"/>
                  <a:gd name="T65" fmla="*/ 61 h 6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8"/>
                  <a:gd name="T100" fmla="*/ 0 h 61"/>
                  <a:gd name="T101" fmla="*/ 128 w 128"/>
                  <a:gd name="T102" fmla="*/ 61 h 6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8" h="61">
                    <a:moveTo>
                      <a:pt x="128" y="60"/>
                    </a:moveTo>
                    <a:lnTo>
                      <a:pt x="128" y="60"/>
                    </a:lnTo>
                    <a:lnTo>
                      <a:pt x="126" y="59"/>
                    </a:lnTo>
                    <a:lnTo>
                      <a:pt x="124" y="58"/>
                    </a:lnTo>
                    <a:lnTo>
                      <a:pt x="122" y="57"/>
                    </a:lnTo>
                    <a:lnTo>
                      <a:pt x="119" y="56"/>
                    </a:lnTo>
                    <a:lnTo>
                      <a:pt x="115" y="55"/>
                    </a:lnTo>
                    <a:lnTo>
                      <a:pt x="111" y="52"/>
                    </a:lnTo>
                    <a:lnTo>
                      <a:pt x="108" y="49"/>
                    </a:lnTo>
                    <a:lnTo>
                      <a:pt x="104" y="48"/>
                    </a:lnTo>
                    <a:lnTo>
                      <a:pt x="99" y="46"/>
                    </a:lnTo>
                    <a:lnTo>
                      <a:pt x="94" y="44"/>
                    </a:lnTo>
                    <a:lnTo>
                      <a:pt x="89" y="41"/>
                    </a:lnTo>
                    <a:lnTo>
                      <a:pt x="84" y="39"/>
                    </a:lnTo>
                    <a:lnTo>
                      <a:pt x="78" y="36"/>
                    </a:lnTo>
                    <a:lnTo>
                      <a:pt x="73" y="33"/>
                    </a:lnTo>
                    <a:lnTo>
                      <a:pt x="68" y="31"/>
                    </a:lnTo>
                    <a:lnTo>
                      <a:pt x="62" y="28"/>
                    </a:lnTo>
                    <a:lnTo>
                      <a:pt x="57" y="26"/>
                    </a:lnTo>
                    <a:lnTo>
                      <a:pt x="51" y="24"/>
                    </a:lnTo>
                    <a:lnTo>
                      <a:pt x="45" y="21"/>
                    </a:lnTo>
                    <a:lnTo>
                      <a:pt x="41" y="18"/>
                    </a:lnTo>
                    <a:lnTo>
                      <a:pt x="36" y="16"/>
                    </a:lnTo>
                    <a:lnTo>
                      <a:pt x="30" y="14"/>
                    </a:lnTo>
                    <a:lnTo>
                      <a:pt x="26" y="12"/>
                    </a:lnTo>
                    <a:lnTo>
                      <a:pt x="22" y="9"/>
                    </a:lnTo>
                    <a:lnTo>
                      <a:pt x="17" y="9"/>
                    </a:lnTo>
                    <a:lnTo>
                      <a:pt x="14" y="5"/>
                    </a:lnTo>
                    <a:lnTo>
                      <a:pt x="11" y="4"/>
                    </a:lnTo>
                    <a:lnTo>
                      <a:pt x="8" y="3"/>
                    </a:lnTo>
                    <a:lnTo>
                      <a:pt x="5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5" y="3"/>
                    </a:lnTo>
                    <a:lnTo>
                      <a:pt x="7" y="4"/>
                    </a:lnTo>
                    <a:lnTo>
                      <a:pt x="9" y="5"/>
                    </a:lnTo>
                    <a:lnTo>
                      <a:pt x="13" y="9"/>
                    </a:lnTo>
                    <a:lnTo>
                      <a:pt x="17" y="9"/>
                    </a:lnTo>
                    <a:lnTo>
                      <a:pt x="21" y="12"/>
                    </a:lnTo>
                    <a:lnTo>
                      <a:pt x="25" y="14"/>
                    </a:lnTo>
                    <a:lnTo>
                      <a:pt x="29" y="16"/>
                    </a:lnTo>
                    <a:lnTo>
                      <a:pt x="36" y="18"/>
                    </a:lnTo>
                    <a:lnTo>
                      <a:pt x="40" y="20"/>
                    </a:lnTo>
                    <a:lnTo>
                      <a:pt x="45" y="22"/>
                    </a:lnTo>
                    <a:lnTo>
                      <a:pt x="50" y="25"/>
                    </a:lnTo>
                    <a:lnTo>
                      <a:pt x="56" y="28"/>
                    </a:lnTo>
                    <a:lnTo>
                      <a:pt x="61" y="30"/>
                    </a:lnTo>
                    <a:lnTo>
                      <a:pt x="67" y="33"/>
                    </a:lnTo>
                    <a:lnTo>
                      <a:pt x="72" y="35"/>
                    </a:lnTo>
                    <a:lnTo>
                      <a:pt x="78" y="39"/>
                    </a:lnTo>
                    <a:lnTo>
                      <a:pt x="83" y="41"/>
                    </a:lnTo>
                    <a:lnTo>
                      <a:pt x="88" y="43"/>
                    </a:lnTo>
                    <a:lnTo>
                      <a:pt x="94" y="45"/>
                    </a:lnTo>
                    <a:lnTo>
                      <a:pt x="99" y="47"/>
                    </a:lnTo>
                    <a:lnTo>
                      <a:pt x="103" y="49"/>
                    </a:lnTo>
                    <a:lnTo>
                      <a:pt x="107" y="52"/>
                    </a:lnTo>
                    <a:lnTo>
                      <a:pt x="110" y="55"/>
                    </a:lnTo>
                    <a:lnTo>
                      <a:pt x="115" y="56"/>
                    </a:lnTo>
                    <a:lnTo>
                      <a:pt x="119" y="57"/>
                    </a:lnTo>
                    <a:lnTo>
                      <a:pt x="121" y="59"/>
                    </a:lnTo>
                    <a:lnTo>
                      <a:pt x="123" y="60"/>
                    </a:lnTo>
                    <a:lnTo>
                      <a:pt x="125" y="60"/>
                    </a:lnTo>
                    <a:lnTo>
                      <a:pt x="126" y="61"/>
                    </a:lnTo>
                    <a:lnTo>
                      <a:pt x="128" y="6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27" name="Freeform 971"/>
              <p:cNvSpPr>
                <a:spLocks/>
              </p:cNvSpPr>
              <p:nvPr/>
            </p:nvSpPr>
            <p:spPr bwMode="auto">
              <a:xfrm>
                <a:off x="3241" y="1986"/>
                <a:ext cx="9" cy="9"/>
              </a:xfrm>
              <a:custGeom>
                <a:avLst/>
                <a:gdLst>
                  <a:gd name="T0" fmla="*/ 5 w 9"/>
                  <a:gd name="T1" fmla="*/ 9 h 9"/>
                  <a:gd name="T2" fmla="*/ 5 w 9"/>
                  <a:gd name="T3" fmla="*/ 9 h 9"/>
                  <a:gd name="T4" fmla="*/ 8 w 9"/>
                  <a:gd name="T5" fmla="*/ 8 h 9"/>
                  <a:gd name="T6" fmla="*/ 9 w 9"/>
                  <a:gd name="T7" fmla="*/ 7 h 9"/>
                  <a:gd name="T8" fmla="*/ 9 w 9"/>
                  <a:gd name="T9" fmla="*/ 5 h 9"/>
                  <a:gd name="T10" fmla="*/ 8 w 9"/>
                  <a:gd name="T11" fmla="*/ 4 h 9"/>
                  <a:gd name="T12" fmla="*/ 7 w 9"/>
                  <a:gd name="T13" fmla="*/ 2 h 9"/>
                  <a:gd name="T14" fmla="*/ 5 w 9"/>
                  <a:gd name="T15" fmla="*/ 1 h 9"/>
                  <a:gd name="T16" fmla="*/ 3 w 9"/>
                  <a:gd name="T17" fmla="*/ 1 h 9"/>
                  <a:gd name="T18" fmla="*/ 2 w 9"/>
                  <a:gd name="T19" fmla="*/ 0 h 9"/>
                  <a:gd name="T20" fmla="*/ 0 w 9"/>
                  <a:gd name="T21" fmla="*/ 1 h 9"/>
                  <a:gd name="T22" fmla="*/ 2 w 9"/>
                  <a:gd name="T23" fmla="*/ 2 h 9"/>
                  <a:gd name="T24" fmla="*/ 4 w 9"/>
                  <a:gd name="T25" fmla="*/ 3 h 9"/>
                  <a:gd name="T26" fmla="*/ 5 w 9"/>
                  <a:gd name="T27" fmla="*/ 4 h 9"/>
                  <a:gd name="T28" fmla="*/ 7 w 9"/>
                  <a:gd name="T29" fmla="*/ 5 h 9"/>
                  <a:gd name="T30" fmla="*/ 7 w 9"/>
                  <a:gd name="T31" fmla="*/ 6 h 9"/>
                  <a:gd name="T32" fmla="*/ 7 w 9"/>
                  <a:gd name="T33" fmla="*/ 7 h 9"/>
                  <a:gd name="T34" fmla="*/ 4 w 9"/>
                  <a:gd name="T35" fmla="*/ 8 h 9"/>
                  <a:gd name="T36" fmla="*/ 5 w 9"/>
                  <a:gd name="T37" fmla="*/ 9 h 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"/>
                  <a:gd name="T58" fmla="*/ 0 h 9"/>
                  <a:gd name="T59" fmla="*/ 9 w 9"/>
                  <a:gd name="T60" fmla="*/ 9 h 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" h="9">
                    <a:moveTo>
                      <a:pt x="5" y="9"/>
                    </a:moveTo>
                    <a:lnTo>
                      <a:pt x="5" y="9"/>
                    </a:lnTo>
                    <a:lnTo>
                      <a:pt x="8" y="8"/>
                    </a:lnTo>
                    <a:lnTo>
                      <a:pt x="9" y="7"/>
                    </a:lnTo>
                    <a:lnTo>
                      <a:pt x="9" y="5"/>
                    </a:lnTo>
                    <a:lnTo>
                      <a:pt x="8" y="4"/>
                    </a:lnTo>
                    <a:lnTo>
                      <a:pt x="7" y="2"/>
                    </a:lnTo>
                    <a:lnTo>
                      <a:pt x="5" y="1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4"/>
                    </a:lnTo>
                    <a:lnTo>
                      <a:pt x="7" y="5"/>
                    </a:lnTo>
                    <a:lnTo>
                      <a:pt x="7" y="6"/>
                    </a:lnTo>
                    <a:lnTo>
                      <a:pt x="7" y="7"/>
                    </a:lnTo>
                    <a:lnTo>
                      <a:pt x="4" y="8"/>
                    </a:lnTo>
                    <a:lnTo>
                      <a:pt x="5" y="9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28" name="Freeform 972"/>
              <p:cNvSpPr>
                <a:spLocks/>
              </p:cNvSpPr>
              <p:nvPr/>
            </p:nvSpPr>
            <p:spPr bwMode="auto">
              <a:xfrm>
                <a:off x="3143" y="1994"/>
                <a:ext cx="103" cy="47"/>
              </a:xfrm>
              <a:custGeom>
                <a:avLst/>
                <a:gdLst>
                  <a:gd name="T0" fmla="*/ 1 w 103"/>
                  <a:gd name="T1" fmla="*/ 47 h 47"/>
                  <a:gd name="T2" fmla="*/ 3 w 103"/>
                  <a:gd name="T3" fmla="*/ 46 h 47"/>
                  <a:gd name="T4" fmla="*/ 9 w 103"/>
                  <a:gd name="T5" fmla="*/ 44 h 47"/>
                  <a:gd name="T6" fmla="*/ 14 w 103"/>
                  <a:gd name="T7" fmla="*/ 42 h 47"/>
                  <a:gd name="T8" fmla="*/ 20 w 103"/>
                  <a:gd name="T9" fmla="*/ 38 h 47"/>
                  <a:gd name="T10" fmla="*/ 27 w 103"/>
                  <a:gd name="T11" fmla="*/ 36 h 47"/>
                  <a:gd name="T12" fmla="*/ 35 w 103"/>
                  <a:gd name="T13" fmla="*/ 32 h 47"/>
                  <a:gd name="T14" fmla="*/ 44 w 103"/>
                  <a:gd name="T15" fmla="*/ 28 h 47"/>
                  <a:gd name="T16" fmla="*/ 52 w 103"/>
                  <a:gd name="T17" fmla="*/ 25 h 47"/>
                  <a:gd name="T18" fmla="*/ 60 w 103"/>
                  <a:gd name="T19" fmla="*/ 22 h 47"/>
                  <a:gd name="T20" fmla="*/ 70 w 103"/>
                  <a:gd name="T21" fmla="*/ 18 h 47"/>
                  <a:gd name="T22" fmla="*/ 77 w 103"/>
                  <a:gd name="T23" fmla="*/ 14 h 47"/>
                  <a:gd name="T24" fmla="*/ 83 w 103"/>
                  <a:gd name="T25" fmla="*/ 11 h 47"/>
                  <a:gd name="T26" fmla="*/ 90 w 103"/>
                  <a:gd name="T27" fmla="*/ 8 h 47"/>
                  <a:gd name="T28" fmla="*/ 96 w 103"/>
                  <a:gd name="T29" fmla="*/ 5 h 47"/>
                  <a:gd name="T30" fmla="*/ 100 w 103"/>
                  <a:gd name="T31" fmla="*/ 4 h 47"/>
                  <a:gd name="T32" fmla="*/ 103 w 103"/>
                  <a:gd name="T33" fmla="*/ 1 h 47"/>
                  <a:gd name="T34" fmla="*/ 101 w 103"/>
                  <a:gd name="T35" fmla="*/ 0 h 47"/>
                  <a:gd name="T36" fmla="*/ 97 w 103"/>
                  <a:gd name="T37" fmla="*/ 3 h 47"/>
                  <a:gd name="T38" fmla="*/ 92 w 103"/>
                  <a:gd name="T39" fmla="*/ 5 h 47"/>
                  <a:gd name="T40" fmla="*/ 86 w 103"/>
                  <a:gd name="T41" fmla="*/ 8 h 47"/>
                  <a:gd name="T42" fmla="*/ 79 w 103"/>
                  <a:gd name="T43" fmla="*/ 11 h 47"/>
                  <a:gd name="T44" fmla="*/ 73 w 103"/>
                  <a:gd name="T45" fmla="*/ 14 h 47"/>
                  <a:gd name="T46" fmla="*/ 64 w 103"/>
                  <a:gd name="T47" fmla="*/ 18 h 47"/>
                  <a:gd name="T48" fmla="*/ 56 w 103"/>
                  <a:gd name="T49" fmla="*/ 22 h 47"/>
                  <a:gd name="T50" fmla="*/ 47 w 103"/>
                  <a:gd name="T51" fmla="*/ 25 h 47"/>
                  <a:gd name="T52" fmla="*/ 39 w 103"/>
                  <a:gd name="T53" fmla="*/ 29 h 47"/>
                  <a:gd name="T54" fmla="*/ 31 w 103"/>
                  <a:gd name="T55" fmla="*/ 32 h 47"/>
                  <a:gd name="T56" fmla="*/ 23 w 103"/>
                  <a:gd name="T57" fmla="*/ 36 h 47"/>
                  <a:gd name="T58" fmla="*/ 16 w 103"/>
                  <a:gd name="T59" fmla="*/ 38 h 47"/>
                  <a:gd name="T60" fmla="*/ 11 w 103"/>
                  <a:gd name="T61" fmla="*/ 42 h 47"/>
                  <a:gd name="T62" fmla="*/ 5 w 103"/>
                  <a:gd name="T63" fmla="*/ 44 h 47"/>
                  <a:gd name="T64" fmla="*/ 1 w 103"/>
                  <a:gd name="T65" fmla="*/ 45 h 47"/>
                  <a:gd name="T66" fmla="*/ 1 w 103"/>
                  <a:gd name="T67" fmla="*/ 47 h 4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3"/>
                  <a:gd name="T103" fmla="*/ 0 h 47"/>
                  <a:gd name="T104" fmla="*/ 103 w 103"/>
                  <a:gd name="T105" fmla="*/ 47 h 4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3" h="47">
                    <a:moveTo>
                      <a:pt x="1" y="47"/>
                    </a:moveTo>
                    <a:lnTo>
                      <a:pt x="1" y="47"/>
                    </a:lnTo>
                    <a:lnTo>
                      <a:pt x="2" y="46"/>
                    </a:lnTo>
                    <a:lnTo>
                      <a:pt x="3" y="46"/>
                    </a:lnTo>
                    <a:lnTo>
                      <a:pt x="5" y="45"/>
                    </a:lnTo>
                    <a:lnTo>
                      <a:pt x="9" y="44"/>
                    </a:lnTo>
                    <a:lnTo>
                      <a:pt x="12" y="43"/>
                    </a:lnTo>
                    <a:lnTo>
                      <a:pt x="14" y="42"/>
                    </a:lnTo>
                    <a:lnTo>
                      <a:pt x="17" y="41"/>
                    </a:lnTo>
                    <a:lnTo>
                      <a:pt x="20" y="38"/>
                    </a:lnTo>
                    <a:lnTo>
                      <a:pt x="24" y="38"/>
                    </a:lnTo>
                    <a:lnTo>
                      <a:pt x="27" y="36"/>
                    </a:lnTo>
                    <a:lnTo>
                      <a:pt x="31" y="34"/>
                    </a:lnTo>
                    <a:lnTo>
                      <a:pt x="35" y="32"/>
                    </a:lnTo>
                    <a:lnTo>
                      <a:pt x="40" y="30"/>
                    </a:lnTo>
                    <a:lnTo>
                      <a:pt x="44" y="28"/>
                    </a:lnTo>
                    <a:lnTo>
                      <a:pt x="47" y="27"/>
                    </a:lnTo>
                    <a:lnTo>
                      <a:pt x="52" y="25"/>
                    </a:lnTo>
                    <a:lnTo>
                      <a:pt x="57" y="24"/>
                    </a:lnTo>
                    <a:lnTo>
                      <a:pt x="60" y="22"/>
                    </a:lnTo>
                    <a:lnTo>
                      <a:pt x="64" y="19"/>
                    </a:lnTo>
                    <a:lnTo>
                      <a:pt x="70" y="18"/>
                    </a:lnTo>
                    <a:lnTo>
                      <a:pt x="73" y="15"/>
                    </a:lnTo>
                    <a:lnTo>
                      <a:pt x="77" y="14"/>
                    </a:lnTo>
                    <a:lnTo>
                      <a:pt x="80" y="12"/>
                    </a:lnTo>
                    <a:lnTo>
                      <a:pt x="83" y="11"/>
                    </a:lnTo>
                    <a:lnTo>
                      <a:pt x="87" y="10"/>
                    </a:lnTo>
                    <a:lnTo>
                      <a:pt x="90" y="8"/>
                    </a:lnTo>
                    <a:lnTo>
                      <a:pt x="92" y="6"/>
                    </a:lnTo>
                    <a:lnTo>
                      <a:pt x="96" y="5"/>
                    </a:lnTo>
                    <a:lnTo>
                      <a:pt x="98" y="4"/>
                    </a:lnTo>
                    <a:lnTo>
                      <a:pt x="100" y="4"/>
                    </a:lnTo>
                    <a:lnTo>
                      <a:pt x="102" y="3"/>
                    </a:lnTo>
                    <a:lnTo>
                      <a:pt x="103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100" y="1"/>
                    </a:lnTo>
                    <a:lnTo>
                      <a:pt x="97" y="3"/>
                    </a:lnTo>
                    <a:lnTo>
                      <a:pt x="95" y="4"/>
                    </a:lnTo>
                    <a:lnTo>
                      <a:pt x="92" y="5"/>
                    </a:lnTo>
                    <a:lnTo>
                      <a:pt x="89" y="6"/>
                    </a:lnTo>
                    <a:lnTo>
                      <a:pt x="86" y="8"/>
                    </a:lnTo>
                    <a:lnTo>
                      <a:pt x="82" y="9"/>
                    </a:lnTo>
                    <a:lnTo>
                      <a:pt x="79" y="11"/>
                    </a:lnTo>
                    <a:lnTo>
                      <a:pt x="76" y="12"/>
                    </a:lnTo>
                    <a:lnTo>
                      <a:pt x="73" y="14"/>
                    </a:lnTo>
                    <a:lnTo>
                      <a:pt x="67" y="15"/>
                    </a:lnTo>
                    <a:lnTo>
                      <a:pt x="64" y="18"/>
                    </a:lnTo>
                    <a:lnTo>
                      <a:pt x="60" y="19"/>
                    </a:lnTo>
                    <a:lnTo>
                      <a:pt x="56" y="22"/>
                    </a:lnTo>
                    <a:lnTo>
                      <a:pt x="50" y="24"/>
                    </a:lnTo>
                    <a:lnTo>
                      <a:pt x="47" y="25"/>
                    </a:lnTo>
                    <a:lnTo>
                      <a:pt x="43" y="27"/>
                    </a:lnTo>
                    <a:lnTo>
                      <a:pt x="39" y="29"/>
                    </a:lnTo>
                    <a:lnTo>
                      <a:pt x="35" y="30"/>
                    </a:lnTo>
                    <a:lnTo>
                      <a:pt x="31" y="32"/>
                    </a:lnTo>
                    <a:lnTo>
                      <a:pt x="27" y="34"/>
                    </a:lnTo>
                    <a:lnTo>
                      <a:pt x="23" y="36"/>
                    </a:lnTo>
                    <a:lnTo>
                      <a:pt x="19" y="38"/>
                    </a:lnTo>
                    <a:lnTo>
                      <a:pt x="16" y="38"/>
                    </a:lnTo>
                    <a:lnTo>
                      <a:pt x="14" y="40"/>
                    </a:lnTo>
                    <a:lnTo>
                      <a:pt x="11" y="42"/>
                    </a:lnTo>
                    <a:lnTo>
                      <a:pt x="9" y="43"/>
                    </a:lnTo>
                    <a:lnTo>
                      <a:pt x="5" y="44"/>
                    </a:lnTo>
                    <a:lnTo>
                      <a:pt x="3" y="44"/>
                    </a:lnTo>
                    <a:lnTo>
                      <a:pt x="1" y="45"/>
                    </a:lnTo>
                    <a:lnTo>
                      <a:pt x="0" y="45"/>
                    </a:lnTo>
                    <a:lnTo>
                      <a:pt x="1" y="47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29" name="Freeform 973"/>
              <p:cNvSpPr>
                <a:spLocks/>
              </p:cNvSpPr>
              <p:nvPr/>
            </p:nvSpPr>
            <p:spPr bwMode="auto">
              <a:xfrm>
                <a:off x="3129" y="2037"/>
                <a:ext cx="14" cy="4"/>
              </a:xfrm>
              <a:custGeom>
                <a:avLst/>
                <a:gdLst>
                  <a:gd name="T0" fmla="*/ 0 w 14"/>
                  <a:gd name="T1" fmla="*/ 1 h 4"/>
                  <a:gd name="T2" fmla="*/ 0 w 14"/>
                  <a:gd name="T3" fmla="*/ 1 h 4"/>
                  <a:gd name="T4" fmla="*/ 1 w 14"/>
                  <a:gd name="T5" fmla="*/ 2 h 4"/>
                  <a:gd name="T6" fmla="*/ 3 w 14"/>
                  <a:gd name="T7" fmla="*/ 3 h 4"/>
                  <a:gd name="T8" fmla="*/ 7 w 14"/>
                  <a:gd name="T9" fmla="*/ 3 h 4"/>
                  <a:gd name="T10" fmla="*/ 7 w 14"/>
                  <a:gd name="T11" fmla="*/ 3 h 4"/>
                  <a:gd name="T12" fmla="*/ 10 w 14"/>
                  <a:gd name="T13" fmla="*/ 4 h 4"/>
                  <a:gd name="T14" fmla="*/ 11 w 14"/>
                  <a:gd name="T15" fmla="*/ 4 h 4"/>
                  <a:gd name="T16" fmla="*/ 13 w 14"/>
                  <a:gd name="T17" fmla="*/ 4 h 4"/>
                  <a:gd name="T18" fmla="*/ 14 w 14"/>
                  <a:gd name="T19" fmla="*/ 4 h 4"/>
                  <a:gd name="T20" fmla="*/ 13 w 14"/>
                  <a:gd name="T21" fmla="*/ 2 h 4"/>
                  <a:gd name="T22" fmla="*/ 11 w 14"/>
                  <a:gd name="T23" fmla="*/ 2 h 4"/>
                  <a:gd name="T24" fmla="*/ 10 w 14"/>
                  <a:gd name="T25" fmla="*/ 2 h 4"/>
                  <a:gd name="T26" fmla="*/ 9 w 14"/>
                  <a:gd name="T27" fmla="*/ 2 h 4"/>
                  <a:gd name="T28" fmla="*/ 7 w 14"/>
                  <a:gd name="T29" fmla="*/ 1 h 4"/>
                  <a:gd name="T30" fmla="*/ 3 w 14"/>
                  <a:gd name="T31" fmla="*/ 1 h 4"/>
                  <a:gd name="T32" fmla="*/ 2 w 14"/>
                  <a:gd name="T33" fmla="*/ 1 h 4"/>
                  <a:gd name="T34" fmla="*/ 1 w 14"/>
                  <a:gd name="T35" fmla="*/ 0 h 4"/>
                  <a:gd name="T36" fmla="*/ 0 w 14"/>
                  <a:gd name="T37" fmla="*/ 1 h 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"/>
                  <a:gd name="T58" fmla="*/ 0 h 4"/>
                  <a:gd name="T59" fmla="*/ 14 w 14"/>
                  <a:gd name="T60" fmla="*/ 4 h 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" h="4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3" y="3"/>
                    </a:lnTo>
                    <a:lnTo>
                      <a:pt x="7" y="3"/>
                    </a:lnTo>
                    <a:lnTo>
                      <a:pt x="10" y="4"/>
                    </a:lnTo>
                    <a:lnTo>
                      <a:pt x="11" y="4"/>
                    </a:lnTo>
                    <a:lnTo>
                      <a:pt x="13" y="4"/>
                    </a:lnTo>
                    <a:lnTo>
                      <a:pt x="14" y="4"/>
                    </a:lnTo>
                    <a:lnTo>
                      <a:pt x="13" y="2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2"/>
                    </a:lnTo>
                    <a:lnTo>
                      <a:pt x="7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30" name="Freeform 974"/>
              <p:cNvSpPr>
                <a:spLocks/>
              </p:cNvSpPr>
              <p:nvPr/>
            </p:nvSpPr>
            <p:spPr bwMode="auto">
              <a:xfrm>
                <a:off x="3015" y="1975"/>
                <a:ext cx="115" cy="62"/>
              </a:xfrm>
              <a:custGeom>
                <a:avLst/>
                <a:gdLst>
                  <a:gd name="T0" fmla="*/ 0 w 115"/>
                  <a:gd name="T1" fmla="*/ 1 h 62"/>
                  <a:gd name="T2" fmla="*/ 2 w 115"/>
                  <a:gd name="T3" fmla="*/ 2 h 62"/>
                  <a:gd name="T4" fmla="*/ 5 w 115"/>
                  <a:gd name="T5" fmla="*/ 4 h 62"/>
                  <a:gd name="T6" fmla="*/ 11 w 115"/>
                  <a:gd name="T7" fmla="*/ 9 h 62"/>
                  <a:gd name="T8" fmla="*/ 18 w 115"/>
                  <a:gd name="T9" fmla="*/ 12 h 62"/>
                  <a:gd name="T10" fmla="*/ 26 w 115"/>
                  <a:gd name="T11" fmla="*/ 16 h 62"/>
                  <a:gd name="T12" fmla="*/ 35 w 115"/>
                  <a:gd name="T13" fmla="*/ 20 h 62"/>
                  <a:gd name="T14" fmla="*/ 45 w 115"/>
                  <a:gd name="T15" fmla="*/ 26 h 62"/>
                  <a:gd name="T16" fmla="*/ 54 w 115"/>
                  <a:gd name="T17" fmla="*/ 31 h 62"/>
                  <a:gd name="T18" fmla="*/ 64 w 115"/>
                  <a:gd name="T19" fmla="*/ 37 h 62"/>
                  <a:gd name="T20" fmla="*/ 75 w 115"/>
                  <a:gd name="T21" fmla="*/ 42 h 62"/>
                  <a:gd name="T22" fmla="*/ 83 w 115"/>
                  <a:gd name="T23" fmla="*/ 47 h 62"/>
                  <a:gd name="T24" fmla="*/ 93 w 115"/>
                  <a:gd name="T25" fmla="*/ 51 h 62"/>
                  <a:gd name="T26" fmla="*/ 99 w 115"/>
                  <a:gd name="T27" fmla="*/ 55 h 62"/>
                  <a:gd name="T28" fmla="*/ 107 w 115"/>
                  <a:gd name="T29" fmla="*/ 58 h 62"/>
                  <a:gd name="T30" fmla="*/ 112 w 115"/>
                  <a:gd name="T31" fmla="*/ 61 h 62"/>
                  <a:gd name="T32" fmla="*/ 114 w 115"/>
                  <a:gd name="T33" fmla="*/ 62 h 62"/>
                  <a:gd name="T34" fmla="*/ 114 w 115"/>
                  <a:gd name="T35" fmla="*/ 60 h 62"/>
                  <a:gd name="T36" fmla="*/ 110 w 115"/>
                  <a:gd name="T37" fmla="*/ 58 h 62"/>
                  <a:gd name="T38" fmla="*/ 104 w 115"/>
                  <a:gd name="T39" fmla="*/ 55 h 62"/>
                  <a:gd name="T40" fmla="*/ 97 w 115"/>
                  <a:gd name="T41" fmla="*/ 51 h 62"/>
                  <a:gd name="T42" fmla="*/ 90 w 115"/>
                  <a:gd name="T43" fmla="*/ 47 h 62"/>
                  <a:gd name="T44" fmla="*/ 80 w 115"/>
                  <a:gd name="T45" fmla="*/ 42 h 62"/>
                  <a:gd name="T46" fmla="*/ 70 w 115"/>
                  <a:gd name="T47" fmla="*/ 38 h 62"/>
                  <a:gd name="T48" fmla="*/ 61 w 115"/>
                  <a:gd name="T49" fmla="*/ 32 h 62"/>
                  <a:gd name="T50" fmla="*/ 51 w 115"/>
                  <a:gd name="T51" fmla="*/ 28 h 62"/>
                  <a:gd name="T52" fmla="*/ 41 w 115"/>
                  <a:gd name="T53" fmla="*/ 22 h 62"/>
                  <a:gd name="T54" fmla="*/ 32 w 115"/>
                  <a:gd name="T55" fmla="*/ 17 h 62"/>
                  <a:gd name="T56" fmla="*/ 23 w 115"/>
                  <a:gd name="T57" fmla="*/ 12 h 62"/>
                  <a:gd name="T58" fmla="*/ 16 w 115"/>
                  <a:gd name="T59" fmla="*/ 9 h 62"/>
                  <a:gd name="T60" fmla="*/ 8 w 115"/>
                  <a:gd name="T61" fmla="*/ 4 h 62"/>
                  <a:gd name="T62" fmla="*/ 4 w 115"/>
                  <a:gd name="T63" fmla="*/ 2 h 62"/>
                  <a:gd name="T64" fmla="*/ 1 w 115"/>
                  <a:gd name="T65" fmla="*/ 0 h 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"/>
                  <a:gd name="T100" fmla="*/ 0 h 62"/>
                  <a:gd name="T101" fmla="*/ 115 w 115"/>
                  <a:gd name="T102" fmla="*/ 62 h 6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" h="62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5" y="4"/>
                    </a:lnTo>
                    <a:lnTo>
                      <a:pt x="7" y="7"/>
                    </a:lnTo>
                    <a:lnTo>
                      <a:pt x="11" y="9"/>
                    </a:lnTo>
                    <a:lnTo>
                      <a:pt x="15" y="9"/>
                    </a:lnTo>
                    <a:lnTo>
                      <a:pt x="18" y="12"/>
                    </a:lnTo>
                    <a:lnTo>
                      <a:pt x="22" y="14"/>
                    </a:lnTo>
                    <a:lnTo>
                      <a:pt x="26" y="16"/>
                    </a:lnTo>
                    <a:lnTo>
                      <a:pt x="30" y="18"/>
                    </a:lnTo>
                    <a:lnTo>
                      <a:pt x="35" y="20"/>
                    </a:lnTo>
                    <a:lnTo>
                      <a:pt x="39" y="23"/>
                    </a:lnTo>
                    <a:lnTo>
                      <a:pt x="45" y="26"/>
                    </a:lnTo>
                    <a:lnTo>
                      <a:pt x="49" y="28"/>
                    </a:lnTo>
                    <a:lnTo>
                      <a:pt x="54" y="31"/>
                    </a:lnTo>
                    <a:lnTo>
                      <a:pt x="60" y="34"/>
                    </a:lnTo>
                    <a:lnTo>
                      <a:pt x="64" y="37"/>
                    </a:lnTo>
                    <a:lnTo>
                      <a:pt x="70" y="39"/>
                    </a:lnTo>
                    <a:lnTo>
                      <a:pt x="75" y="42"/>
                    </a:lnTo>
                    <a:lnTo>
                      <a:pt x="79" y="44"/>
                    </a:lnTo>
                    <a:lnTo>
                      <a:pt x="83" y="47"/>
                    </a:lnTo>
                    <a:lnTo>
                      <a:pt x="88" y="49"/>
                    </a:lnTo>
                    <a:lnTo>
                      <a:pt x="93" y="51"/>
                    </a:lnTo>
                    <a:lnTo>
                      <a:pt x="96" y="54"/>
                    </a:lnTo>
                    <a:lnTo>
                      <a:pt x="99" y="55"/>
                    </a:lnTo>
                    <a:lnTo>
                      <a:pt x="102" y="57"/>
                    </a:lnTo>
                    <a:lnTo>
                      <a:pt x="107" y="58"/>
                    </a:lnTo>
                    <a:lnTo>
                      <a:pt x="110" y="60"/>
                    </a:lnTo>
                    <a:lnTo>
                      <a:pt x="112" y="61"/>
                    </a:lnTo>
                    <a:lnTo>
                      <a:pt x="113" y="61"/>
                    </a:lnTo>
                    <a:lnTo>
                      <a:pt x="114" y="62"/>
                    </a:lnTo>
                    <a:lnTo>
                      <a:pt x="115" y="61"/>
                    </a:lnTo>
                    <a:lnTo>
                      <a:pt x="114" y="60"/>
                    </a:lnTo>
                    <a:lnTo>
                      <a:pt x="112" y="59"/>
                    </a:lnTo>
                    <a:lnTo>
                      <a:pt x="110" y="58"/>
                    </a:lnTo>
                    <a:lnTo>
                      <a:pt x="107" y="57"/>
                    </a:lnTo>
                    <a:lnTo>
                      <a:pt x="104" y="55"/>
                    </a:lnTo>
                    <a:lnTo>
                      <a:pt x="100" y="54"/>
                    </a:lnTo>
                    <a:lnTo>
                      <a:pt x="97" y="51"/>
                    </a:lnTo>
                    <a:lnTo>
                      <a:pt x="94" y="49"/>
                    </a:lnTo>
                    <a:lnTo>
                      <a:pt x="90" y="47"/>
                    </a:lnTo>
                    <a:lnTo>
                      <a:pt x="84" y="44"/>
                    </a:lnTo>
                    <a:lnTo>
                      <a:pt x="80" y="42"/>
                    </a:lnTo>
                    <a:lnTo>
                      <a:pt x="76" y="40"/>
                    </a:lnTo>
                    <a:lnTo>
                      <a:pt x="70" y="38"/>
                    </a:lnTo>
                    <a:lnTo>
                      <a:pt x="65" y="34"/>
                    </a:lnTo>
                    <a:lnTo>
                      <a:pt x="61" y="32"/>
                    </a:lnTo>
                    <a:lnTo>
                      <a:pt x="55" y="30"/>
                    </a:lnTo>
                    <a:lnTo>
                      <a:pt x="51" y="28"/>
                    </a:lnTo>
                    <a:lnTo>
                      <a:pt x="46" y="24"/>
                    </a:lnTo>
                    <a:lnTo>
                      <a:pt x="41" y="22"/>
                    </a:lnTo>
                    <a:lnTo>
                      <a:pt x="36" y="19"/>
                    </a:lnTo>
                    <a:lnTo>
                      <a:pt x="32" y="17"/>
                    </a:lnTo>
                    <a:lnTo>
                      <a:pt x="27" y="14"/>
                    </a:lnTo>
                    <a:lnTo>
                      <a:pt x="23" y="12"/>
                    </a:lnTo>
                    <a:lnTo>
                      <a:pt x="19" y="11"/>
                    </a:lnTo>
                    <a:lnTo>
                      <a:pt x="16" y="9"/>
                    </a:lnTo>
                    <a:lnTo>
                      <a:pt x="13" y="7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31" name="Freeform 975"/>
              <p:cNvSpPr>
                <a:spLocks/>
              </p:cNvSpPr>
              <p:nvPr/>
            </p:nvSpPr>
            <p:spPr bwMode="auto">
              <a:xfrm>
                <a:off x="3010" y="1969"/>
                <a:ext cx="6" cy="7"/>
              </a:xfrm>
              <a:custGeom>
                <a:avLst/>
                <a:gdLst>
                  <a:gd name="T0" fmla="*/ 4 w 6"/>
                  <a:gd name="T1" fmla="*/ 0 h 7"/>
                  <a:gd name="T2" fmla="*/ 4 w 6"/>
                  <a:gd name="T3" fmla="*/ 0 h 7"/>
                  <a:gd name="T4" fmla="*/ 2 w 6"/>
                  <a:gd name="T5" fmla="*/ 1 h 7"/>
                  <a:gd name="T6" fmla="*/ 1 w 6"/>
                  <a:gd name="T7" fmla="*/ 2 h 7"/>
                  <a:gd name="T8" fmla="*/ 0 w 6"/>
                  <a:gd name="T9" fmla="*/ 3 h 7"/>
                  <a:gd name="T10" fmla="*/ 0 w 6"/>
                  <a:gd name="T11" fmla="*/ 4 h 7"/>
                  <a:gd name="T12" fmla="*/ 1 w 6"/>
                  <a:gd name="T13" fmla="*/ 5 h 7"/>
                  <a:gd name="T14" fmla="*/ 2 w 6"/>
                  <a:gd name="T15" fmla="*/ 5 h 7"/>
                  <a:gd name="T16" fmla="*/ 4 w 6"/>
                  <a:gd name="T17" fmla="*/ 6 h 7"/>
                  <a:gd name="T18" fmla="*/ 5 w 6"/>
                  <a:gd name="T19" fmla="*/ 7 h 7"/>
                  <a:gd name="T20" fmla="*/ 6 w 6"/>
                  <a:gd name="T21" fmla="*/ 6 h 7"/>
                  <a:gd name="T22" fmla="*/ 4 w 6"/>
                  <a:gd name="T23" fmla="*/ 5 h 7"/>
                  <a:gd name="T24" fmla="*/ 3 w 6"/>
                  <a:gd name="T25" fmla="*/ 4 h 7"/>
                  <a:gd name="T26" fmla="*/ 2 w 6"/>
                  <a:gd name="T27" fmla="*/ 4 h 7"/>
                  <a:gd name="T28" fmla="*/ 2 w 6"/>
                  <a:gd name="T29" fmla="*/ 3 h 7"/>
                  <a:gd name="T30" fmla="*/ 3 w 6"/>
                  <a:gd name="T31" fmla="*/ 3 h 7"/>
                  <a:gd name="T32" fmla="*/ 5 w 6"/>
                  <a:gd name="T33" fmla="*/ 1 h 7"/>
                  <a:gd name="T34" fmla="*/ 4 w 6"/>
                  <a:gd name="T35" fmla="*/ 0 h 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"/>
                  <a:gd name="T55" fmla="*/ 0 h 7"/>
                  <a:gd name="T56" fmla="*/ 6 w 6"/>
                  <a:gd name="T57" fmla="*/ 7 h 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" h="7">
                    <a:moveTo>
                      <a:pt x="4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2" y="5"/>
                    </a:lnTo>
                    <a:lnTo>
                      <a:pt x="4" y="6"/>
                    </a:lnTo>
                    <a:lnTo>
                      <a:pt x="5" y="7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3" y="4"/>
                    </a:lnTo>
                    <a:lnTo>
                      <a:pt x="2" y="4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32" name="Freeform 976"/>
              <p:cNvSpPr>
                <a:spLocks/>
              </p:cNvSpPr>
              <p:nvPr/>
            </p:nvSpPr>
            <p:spPr bwMode="auto">
              <a:xfrm>
                <a:off x="3137" y="2028"/>
                <a:ext cx="106" cy="48"/>
              </a:xfrm>
              <a:custGeom>
                <a:avLst/>
                <a:gdLst>
                  <a:gd name="T0" fmla="*/ 106 w 106"/>
                  <a:gd name="T1" fmla="*/ 0 h 48"/>
                  <a:gd name="T2" fmla="*/ 104 w 106"/>
                  <a:gd name="T3" fmla="*/ 1 h 48"/>
                  <a:gd name="T4" fmla="*/ 102 w 106"/>
                  <a:gd name="T5" fmla="*/ 1 h 48"/>
                  <a:gd name="T6" fmla="*/ 100 w 106"/>
                  <a:gd name="T7" fmla="*/ 2 h 48"/>
                  <a:gd name="T8" fmla="*/ 98 w 106"/>
                  <a:gd name="T9" fmla="*/ 3 h 48"/>
                  <a:gd name="T10" fmla="*/ 95 w 106"/>
                  <a:gd name="T11" fmla="*/ 4 h 48"/>
                  <a:gd name="T12" fmla="*/ 92 w 106"/>
                  <a:gd name="T13" fmla="*/ 5 h 48"/>
                  <a:gd name="T14" fmla="*/ 88 w 106"/>
                  <a:gd name="T15" fmla="*/ 7 h 48"/>
                  <a:gd name="T16" fmla="*/ 85 w 106"/>
                  <a:gd name="T17" fmla="*/ 8 h 48"/>
                  <a:gd name="T18" fmla="*/ 82 w 106"/>
                  <a:gd name="T19" fmla="*/ 10 h 48"/>
                  <a:gd name="T20" fmla="*/ 79 w 106"/>
                  <a:gd name="T21" fmla="*/ 12 h 48"/>
                  <a:gd name="T22" fmla="*/ 75 w 106"/>
                  <a:gd name="T23" fmla="*/ 14 h 48"/>
                  <a:gd name="T24" fmla="*/ 70 w 106"/>
                  <a:gd name="T25" fmla="*/ 16 h 48"/>
                  <a:gd name="T26" fmla="*/ 66 w 106"/>
                  <a:gd name="T27" fmla="*/ 18 h 48"/>
                  <a:gd name="T28" fmla="*/ 62 w 106"/>
                  <a:gd name="T29" fmla="*/ 20 h 48"/>
                  <a:gd name="T30" fmla="*/ 57 w 106"/>
                  <a:gd name="T31" fmla="*/ 22 h 48"/>
                  <a:gd name="T32" fmla="*/ 53 w 106"/>
                  <a:gd name="T33" fmla="*/ 23 h 48"/>
                  <a:gd name="T34" fmla="*/ 50 w 106"/>
                  <a:gd name="T35" fmla="*/ 25 h 48"/>
                  <a:gd name="T36" fmla="*/ 45 w 106"/>
                  <a:gd name="T37" fmla="*/ 27 h 48"/>
                  <a:gd name="T38" fmla="*/ 40 w 106"/>
                  <a:gd name="T39" fmla="*/ 29 h 48"/>
                  <a:gd name="T40" fmla="*/ 36 w 106"/>
                  <a:gd name="T41" fmla="*/ 31 h 48"/>
                  <a:gd name="T42" fmla="*/ 31 w 106"/>
                  <a:gd name="T43" fmla="*/ 33 h 48"/>
                  <a:gd name="T44" fmla="*/ 28 w 106"/>
                  <a:gd name="T45" fmla="*/ 35 h 48"/>
                  <a:gd name="T46" fmla="*/ 23 w 106"/>
                  <a:gd name="T47" fmla="*/ 37 h 48"/>
                  <a:gd name="T48" fmla="*/ 20 w 106"/>
                  <a:gd name="T49" fmla="*/ 39 h 48"/>
                  <a:gd name="T50" fmla="*/ 17 w 106"/>
                  <a:gd name="T51" fmla="*/ 40 h 48"/>
                  <a:gd name="T52" fmla="*/ 14 w 106"/>
                  <a:gd name="T53" fmla="*/ 41 h 48"/>
                  <a:gd name="T54" fmla="*/ 10 w 106"/>
                  <a:gd name="T55" fmla="*/ 43 h 48"/>
                  <a:gd name="T56" fmla="*/ 8 w 106"/>
                  <a:gd name="T57" fmla="*/ 44 h 48"/>
                  <a:gd name="T58" fmla="*/ 5 w 106"/>
                  <a:gd name="T59" fmla="*/ 45 h 48"/>
                  <a:gd name="T60" fmla="*/ 3 w 106"/>
                  <a:gd name="T61" fmla="*/ 47 h 48"/>
                  <a:gd name="T62" fmla="*/ 1 w 106"/>
                  <a:gd name="T63" fmla="*/ 47 h 48"/>
                  <a:gd name="T64" fmla="*/ 0 w 106"/>
                  <a:gd name="T65" fmla="*/ 48 h 48"/>
                  <a:gd name="T66" fmla="*/ 106 w 106"/>
                  <a:gd name="T67" fmla="*/ 0 h 4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6"/>
                  <a:gd name="T103" fmla="*/ 0 h 48"/>
                  <a:gd name="T104" fmla="*/ 106 w 106"/>
                  <a:gd name="T105" fmla="*/ 48 h 4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6" h="48">
                    <a:moveTo>
                      <a:pt x="106" y="0"/>
                    </a:moveTo>
                    <a:lnTo>
                      <a:pt x="104" y="1"/>
                    </a:lnTo>
                    <a:lnTo>
                      <a:pt x="102" y="1"/>
                    </a:lnTo>
                    <a:lnTo>
                      <a:pt x="100" y="2"/>
                    </a:lnTo>
                    <a:lnTo>
                      <a:pt x="98" y="3"/>
                    </a:lnTo>
                    <a:lnTo>
                      <a:pt x="95" y="4"/>
                    </a:lnTo>
                    <a:lnTo>
                      <a:pt x="92" y="5"/>
                    </a:lnTo>
                    <a:lnTo>
                      <a:pt x="88" y="7"/>
                    </a:lnTo>
                    <a:lnTo>
                      <a:pt x="85" y="8"/>
                    </a:lnTo>
                    <a:lnTo>
                      <a:pt x="82" y="10"/>
                    </a:lnTo>
                    <a:lnTo>
                      <a:pt x="79" y="12"/>
                    </a:lnTo>
                    <a:lnTo>
                      <a:pt x="75" y="14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0"/>
                    </a:lnTo>
                    <a:lnTo>
                      <a:pt x="57" y="22"/>
                    </a:lnTo>
                    <a:lnTo>
                      <a:pt x="53" y="23"/>
                    </a:lnTo>
                    <a:lnTo>
                      <a:pt x="50" y="25"/>
                    </a:lnTo>
                    <a:lnTo>
                      <a:pt x="45" y="27"/>
                    </a:lnTo>
                    <a:lnTo>
                      <a:pt x="40" y="29"/>
                    </a:lnTo>
                    <a:lnTo>
                      <a:pt x="36" y="31"/>
                    </a:lnTo>
                    <a:lnTo>
                      <a:pt x="31" y="33"/>
                    </a:lnTo>
                    <a:lnTo>
                      <a:pt x="28" y="35"/>
                    </a:lnTo>
                    <a:lnTo>
                      <a:pt x="23" y="37"/>
                    </a:lnTo>
                    <a:lnTo>
                      <a:pt x="20" y="39"/>
                    </a:lnTo>
                    <a:lnTo>
                      <a:pt x="17" y="40"/>
                    </a:lnTo>
                    <a:lnTo>
                      <a:pt x="14" y="41"/>
                    </a:lnTo>
                    <a:lnTo>
                      <a:pt x="10" y="43"/>
                    </a:lnTo>
                    <a:lnTo>
                      <a:pt x="8" y="44"/>
                    </a:lnTo>
                    <a:lnTo>
                      <a:pt x="5" y="45"/>
                    </a:lnTo>
                    <a:lnTo>
                      <a:pt x="3" y="47"/>
                    </a:lnTo>
                    <a:lnTo>
                      <a:pt x="1" y="47"/>
                    </a:lnTo>
                    <a:lnTo>
                      <a:pt x="0" y="48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33" name="Freeform 977"/>
              <p:cNvSpPr>
                <a:spLocks/>
              </p:cNvSpPr>
              <p:nvPr/>
            </p:nvSpPr>
            <p:spPr bwMode="auto">
              <a:xfrm>
                <a:off x="3136" y="2028"/>
                <a:ext cx="107" cy="50"/>
              </a:xfrm>
              <a:custGeom>
                <a:avLst/>
                <a:gdLst>
                  <a:gd name="T0" fmla="*/ 2 w 107"/>
                  <a:gd name="T1" fmla="*/ 49 h 50"/>
                  <a:gd name="T2" fmla="*/ 6 w 107"/>
                  <a:gd name="T3" fmla="*/ 48 h 50"/>
                  <a:gd name="T4" fmla="*/ 10 w 107"/>
                  <a:gd name="T5" fmla="*/ 45 h 50"/>
                  <a:gd name="T6" fmla="*/ 18 w 107"/>
                  <a:gd name="T7" fmla="*/ 41 h 50"/>
                  <a:gd name="T8" fmla="*/ 24 w 107"/>
                  <a:gd name="T9" fmla="*/ 38 h 50"/>
                  <a:gd name="T10" fmla="*/ 32 w 107"/>
                  <a:gd name="T11" fmla="*/ 35 h 50"/>
                  <a:gd name="T12" fmla="*/ 41 w 107"/>
                  <a:gd name="T13" fmla="*/ 32 h 50"/>
                  <a:gd name="T14" fmla="*/ 49 w 107"/>
                  <a:gd name="T15" fmla="*/ 27 h 50"/>
                  <a:gd name="T16" fmla="*/ 58 w 107"/>
                  <a:gd name="T17" fmla="*/ 23 h 50"/>
                  <a:gd name="T18" fmla="*/ 67 w 107"/>
                  <a:gd name="T19" fmla="*/ 19 h 50"/>
                  <a:gd name="T20" fmla="*/ 76 w 107"/>
                  <a:gd name="T21" fmla="*/ 16 h 50"/>
                  <a:gd name="T22" fmla="*/ 83 w 107"/>
                  <a:gd name="T23" fmla="*/ 12 h 50"/>
                  <a:gd name="T24" fmla="*/ 89 w 107"/>
                  <a:gd name="T25" fmla="*/ 9 h 50"/>
                  <a:gd name="T26" fmla="*/ 96 w 107"/>
                  <a:gd name="T27" fmla="*/ 6 h 50"/>
                  <a:gd name="T28" fmla="*/ 101 w 107"/>
                  <a:gd name="T29" fmla="*/ 4 h 50"/>
                  <a:gd name="T30" fmla="*/ 105 w 107"/>
                  <a:gd name="T31" fmla="*/ 2 h 50"/>
                  <a:gd name="T32" fmla="*/ 105 w 107"/>
                  <a:gd name="T33" fmla="*/ 0 h 50"/>
                  <a:gd name="T34" fmla="*/ 103 w 107"/>
                  <a:gd name="T35" fmla="*/ 1 h 50"/>
                  <a:gd name="T36" fmla="*/ 99 w 107"/>
                  <a:gd name="T37" fmla="*/ 3 h 50"/>
                  <a:gd name="T38" fmla="*/ 92 w 107"/>
                  <a:gd name="T39" fmla="*/ 5 h 50"/>
                  <a:gd name="T40" fmla="*/ 86 w 107"/>
                  <a:gd name="T41" fmla="*/ 9 h 50"/>
                  <a:gd name="T42" fmla="*/ 79 w 107"/>
                  <a:gd name="T43" fmla="*/ 12 h 50"/>
                  <a:gd name="T44" fmla="*/ 70 w 107"/>
                  <a:gd name="T45" fmla="*/ 16 h 50"/>
                  <a:gd name="T46" fmla="*/ 62 w 107"/>
                  <a:gd name="T47" fmla="*/ 20 h 50"/>
                  <a:gd name="T48" fmla="*/ 52 w 107"/>
                  <a:gd name="T49" fmla="*/ 23 h 50"/>
                  <a:gd name="T50" fmla="*/ 45 w 107"/>
                  <a:gd name="T51" fmla="*/ 28 h 50"/>
                  <a:gd name="T52" fmla="*/ 35 w 107"/>
                  <a:gd name="T53" fmla="*/ 32 h 50"/>
                  <a:gd name="T54" fmla="*/ 27 w 107"/>
                  <a:gd name="T55" fmla="*/ 35 h 50"/>
                  <a:gd name="T56" fmla="*/ 20 w 107"/>
                  <a:gd name="T57" fmla="*/ 38 h 50"/>
                  <a:gd name="T58" fmla="*/ 12 w 107"/>
                  <a:gd name="T59" fmla="*/ 41 h 50"/>
                  <a:gd name="T60" fmla="*/ 7 w 107"/>
                  <a:gd name="T61" fmla="*/ 44 h 50"/>
                  <a:gd name="T62" fmla="*/ 3 w 107"/>
                  <a:gd name="T63" fmla="*/ 47 h 50"/>
                  <a:gd name="T64" fmla="*/ 0 w 107"/>
                  <a:gd name="T65" fmla="*/ 48 h 5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50"/>
                  <a:gd name="T101" fmla="*/ 107 w 107"/>
                  <a:gd name="T102" fmla="*/ 50 h 5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50">
                    <a:moveTo>
                      <a:pt x="1" y="50"/>
                    </a:moveTo>
                    <a:lnTo>
                      <a:pt x="2" y="49"/>
                    </a:lnTo>
                    <a:lnTo>
                      <a:pt x="4" y="49"/>
                    </a:lnTo>
                    <a:lnTo>
                      <a:pt x="6" y="48"/>
                    </a:lnTo>
                    <a:lnTo>
                      <a:pt x="8" y="47"/>
                    </a:lnTo>
                    <a:lnTo>
                      <a:pt x="10" y="45"/>
                    </a:lnTo>
                    <a:lnTo>
                      <a:pt x="15" y="43"/>
                    </a:lnTo>
                    <a:lnTo>
                      <a:pt x="18" y="41"/>
                    </a:lnTo>
                    <a:lnTo>
                      <a:pt x="21" y="40"/>
                    </a:lnTo>
                    <a:lnTo>
                      <a:pt x="24" y="38"/>
                    </a:lnTo>
                    <a:lnTo>
                      <a:pt x="29" y="37"/>
                    </a:lnTo>
                    <a:lnTo>
                      <a:pt x="32" y="35"/>
                    </a:lnTo>
                    <a:lnTo>
                      <a:pt x="37" y="33"/>
                    </a:lnTo>
                    <a:lnTo>
                      <a:pt x="41" y="32"/>
                    </a:lnTo>
                    <a:lnTo>
                      <a:pt x="45" y="29"/>
                    </a:lnTo>
                    <a:lnTo>
                      <a:pt x="49" y="27"/>
                    </a:lnTo>
                    <a:lnTo>
                      <a:pt x="54" y="24"/>
                    </a:lnTo>
                    <a:lnTo>
                      <a:pt x="58" y="23"/>
                    </a:lnTo>
                    <a:lnTo>
                      <a:pt x="63" y="21"/>
                    </a:lnTo>
                    <a:lnTo>
                      <a:pt x="67" y="19"/>
                    </a:lnTo>
                    <a:lnTo>
                      <a:pt x="71" y="18"/>
                    </a:lnTo>
                    <a:lnTo>
                      <a:pt x="76" y="16"/>
                    </a:lnTo>
                    <a:lnTo>
                      <a:pt x="80" y="13"/>
                    </a:lnTo>
                    <a:lnTo>
                      <a:pt x="83" y="12"/>
                    </a:lnTo>
                    <a:lnTo>
                      <a:pt x="86" y="9"/>
                    </a:lnTo>
                    <a:lnTo>
                      <a:pt x="89" y="9"/>
                    </a:lnTo>
                    <a:lnTo>
                      <a:pt x="93" y="7"/>
                    </a:lnTo>
                    <a:lnTo>
                      <a:pt x="96" y="6"/>
                    </a:lnTo>
                    <a:lnTo>
                      <a:pt x="99" y="5"/>
                    </a:lnTo>
                    <a:lnTo>
                      <a:pt x="101" y="4"/>
                    </a:lnTo>
                    <a:lnTo>
                      <a:pt x="103" y="3"/>
                    </a:lnTo>
                    <a:lnTo>
                      <a:pt x="105" y="2"/>
                    </a:lnTo>
                    <a:lnTo>
                      <a:pt x="107" y="1"/>
                    </a:lnTo>
                    <a:lnTo>
                      <a:pt x="105" y="0"/>
                    </a:lnTo>
                    <a:lnTo>
                      <a:pt x="104" y="0"/>
                    </a:lnTo>
                    <a:lnTo>
                      <a:pt x="103" y="1"/>
                    </a:lnTo>
                    <a:lnTo>
                      <a:pt x="101" y="2"/>
                    </a:lnTo>
                    <a:lnTo>
                      <a:pt x="99" y="3"/>
                    </a:lnTo>
                    <a:lnTo>
                      <a:pt x="96" y="4"/>
                    </a:lnTo>
                    <a:lnTo>
                      <a:pt x="92" y="5"/>
                    </a:lnTo>
                    <a:lnTo>
                      <a:pt x="89" y="7"/>
                    </a:lnTo>
                    <a:lnTo>
                      <a:pt x="86" y="9"/>
                    </a:lnTo>
                    <a:lnTo>
                      <a:pt x="82" y="9"/>
                    </a:lnTo>
                    <a:lnTo>
                      <a:pt x="79" y="12"/>
                    </a:lnTo>
                    <a:lnTo>
                      <a:pt x="73" y="13"/>
                    </a:lnTo>
                    <a:lnTo>
                      <a:pt x="70" y="16"/>
                    </a:lnTo>
                    <a:lnTo>
                      <a:pt x="66" y="18"/>
                    </a:lnTo>
                    <a:lnTo>
                      <a:pt x="62" y="20"/>
                    </a:lnTo>
                    <a:lnTo>
                      <a:pt x="57" y="21"/>
                    </a:lnTo>
                    <a:lnTo>
                      <a:pt x="52" y="23"/>
                    </a:lnTo>
                    <a:lnTo>
                      <a:pt x="49" y="25"/>
                    </a:lnTo>
                    <a:lnTo>
                      <a:pt x="45" y="28"/>
                    </a:lnTo>
                    <a:lnTo>
                      <a:pt x="40" y="29"/>
                    </a:lnTo>
                    <a:lnTo>
                      <a:pt x="35" y="32"/>
                    </a:lnTo>
                    <a:lnTo>
                      <a:pt x="31" y="34"/>
                    </a:lnTo>
                    <a:lnTo>
                      <a:pt x="27" y="35"/>
                    </a:lnTo>
                    <a:lnTo>
                      <a:pt x="24" y="37"/>
                    </a:lnTo>
                    <a:lnTo>
                      <a:pt x="20" y="38"/>
                    </a:lnTo>
                    <a:lnTo>
                      <a:pt x="17" y="40"/>
                    </a:lnTo>
                    <a:lnTo>
                      <a:pt x="12" y="41"/>
                    </a:lnTo>
                    <a:lnTo>
                      <a:pt x="10" y="43"/>
                    </a:lnTo>
                    <a:lnTo>
                      <a:pt x="7" y="44"/>
                    </a:lnTo>
                    <a:lnTo>
                      <a:pt x="5" y="45"/>
                    </a:lnTo>
                    <a:lnTo>
                      <a:pt x="3" y="47"/>
                    </a:lnTo>
                    <a:lnTo>
                      <a:pt x="1" y="48"/>
                    </a:lnTo>
                    <a:lnTo>
                      <a:pt x="0" y="48"/>
                    </a:lnTo>
                    <a:lnTo>
                      <a:pt x="1" y="5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34" name="Freeform 978"/>
              <p:cNvSpPr>
                <a:spLocks/>
              </p:cNvSpPr>
              <p:nvPr/>
            </p:nvSpPr>
            <p:spPr bwMode="auto">
              <a:xfrm>
                <a:off x="3075" y="1868"/>
                <a:ext cx="80" cy="127"/>
              </a:xfrm>
              <a:custGeom>
                <a:avLst/>
                <a:gdLst>
                  <a:gd name="T0" fmla="*/ 68 w 80"/>
                  <a:gd name="T1" fmla="*/ 105 h 127"/>
                  <a:gd name="T2" fmla="*/ 67 w 80"/>
                  <a:gd name="T3" fmla="*/ 108 h 127"/>
                  <a:gd name="T4" fmla="*/ 69 w 80"/>
                  <a:gd name="T5" fmla="*/ 109 h 127"/>
                  <a:gd name="T6" fmla="*/ 73 w 80"/>
                  <a:gd name="T7" fmla="*/ 111 h 127"/>
                  <a:gd name="T8" fmla="*/ 73 w 80"/>
                  <a:gd name="T9" fmla="*/ 114 h 127"/>
                  <a:gd name="T10" fmla="*/ 71 w 80"/>
                  <a:gd name="T11" fmla="*/ 117 h 127"/>
                  <a:gd name="T12" fmla="*/ 69 w 80"/>
                  <a:gd name="T13" fmla="*/ 119 h 127"/>
                  <a:gd name="T14" fmla="*/ 66 w 80"/>
                  <a:gd name="T15" fmla="*/ 122 h 127"/>
                  <a:gd name="T16" fmla="*/ 62 w 80"/>
                  <a:gd name="T17" fmla="*/ 124 h 127"/>
                  <a:gd name="T18" fmla="*/ 55 w 80"/>
                  <a:gd name="T19" fmla="*/ 125 h 127"/>
                  <a:gd name="T20" fmla="*/ 50 w 80"/>
                  <a:gd name="T21" fmla="*/ 126 h 127"/>
                  <a:gd name="T22" fmla="*/ 44 w 80"/>
                  <a:gd name="T23" fmla="*/ 127 h 127"/>
                  <a:gd name="T24" fmla="*/ 36 w 80"/>
                  <a:gd name="T25" fmla="*/ 127 h 127"/>
                  <a:gd name="T26" fmla="*/ 30 w 80"/>
                  <a:gd name="T27" fmla="*/ 126 h 127"/>
                  <a:gd name="T28" fmla="*/ 24 w 80"/>
                  <a:gd name="T29" fmla="*/ 125 h 127"/>
                  <a:gd name="T30" fmla="*/ 19 w 80"/>
                  <a:gd name="T31" fmla="*/ 124 h 127"/>
                  <a:gd name="T32" fmla="*/ 14 w 80"/>
                  <a:gd name="T33" fmla="*/ 122 h 127"/>
                  <a:gd name="T34" fmla="*/ 10 w 80"/>
                  <a:gd name="T35" fmla="*/ 119 h 127"/>
                  <a:gd name="T36" fmla="*/ 8 w 80"/>
                  <a:gd name="T37" fmla="*/ 117 h 127"/>
                  <a:gd name="T38" fmla="*/ 6 w 80"/>
                  <a:gd name="T39" fmla="*/ 114 h 127"/>
                  <a:gd name="T40" fmla="*/ 6 w 80"/>
                  <a:gd name="T41" fmla="*/ 110 h 127"/>
                  <a:gd name="T42" fmla="*/ 8 w 80"/>
                  <a:gd name="T43" fmla="*/ 107 h 127"/>
                  <a:gd name="T44" fmla="*/ 12 w 80"/>
                  <a:gd name="T45" fmla="*/ 105 h 127"/>
                  <a:gd name="T46" fmla="*/ 10 w 80"/>
                  <a:gd name="T47" fmla="*/ 102 h 127"/>
                  <a:gd name="T48" fmla="*/ 3 w 80"/>
                  <a:gd name="T49" fmla="*/ 94 h 127"/>
                  <a:gd name="T50" fmla="*/ 1 w 80"/>
                  <a:gd name="T51" fmla="*/ 75 h 127"/>
                  <a:gd name="T52" fmla="*/ 0 w 80"/>
                  <a:gd name="T53" fmla="*/ 51 h 127"/>
                  <a:gd name="T54" fmla="*/ 3 w 80"/>
                  <a:gd name="T55" fmla="*/ 32 h 127"/>
                  <a:gd name="T56" fmla="*/ 8 w 80"/>
                  <a:gd name="T57" fmla="*/ 25 h 127"/>
                  <a:gd name="T58" fmla="*/ 12 w 80"/>
                  <a:gd name="T59" fmla="*/ 22 h 127"/>
                  <a:gd name="T60" fmla="*/ 8 w 80"/>
                  <a:gd name="T61" fmla="*/ 20 h 127"/>
                  <a:gd name="T62" fmla="*/ 6 w 80"/>
                  <a:gd name="T63" fmla="*/ 17 h 127"/>
                  <a:gd name="T64" fmla="*/ 6 w 80"/>
                  <a:gd name="T65" fmla="*/ 13 h 127"/>
                  <a:gd name="T66" fmla="*/ 8 w 80"/>
                  <a:gd name="T67" fmla="*/ 10 h 127"/>
                  <a:gd name="T68" fmla="*/ 10 w 80"/>
                  <a:gd name="T69" fmla="*/ 8 h 127"/>
                  <a:gd name="T70" fmla="*/ 14 w 80"/>
                  <a:gd name="T71" fmla="*/ 6 h 127"/>
                  <a:gd name="T72" fmla="*/ 19 w 80"/>
                  <a:gd name="T73" fmla="*/ 4 h 127"/>
                  <a:gd name="T74" fmla="*/ 24 w 80"/>
                  <a:gd name="T75" fmla="*/ 1 h 127"/>
                  <a:gd name="T76" fmla="*/ 30 w 80"/>
                  <a:gd name="T77" fmla="*/ 1 h 127"/>
                  <a:gd name="T78" fmla="*/ 36 w 80"/>
                  <a:gd name="T79" fmla="*/ 0 h 127"/>
                  <a:gd name="T80" fmla="*/ 44 w 80"/>
                  <a:gd name="T81" fmla="*/ 0 h 127"/>
                  <a:gd name="T82" fmla="*/ 50 w 80"/>
                  <a:gd name="T83" fmla="*/ 1 h 127"/>
                  <a:gd name="T84" fmla="*/ 55 w 80"/>
                  <a:gd name="T85" fmla="*/ 1 h 127"/>
                  <a:gd name="T86" fmla="*/ 62 w 80"/>
                  <a:gd name="T87" fmla="*/ 4 h 127"/>
                  <a:gd name="T88" fmla="*/ 66 w 80"/>
                  <a:gd name="T89" fmla="*/ 6 h 127"/>
                  <a:gd name="T90" fmla="*/ 69 w 80"/>
                  <a:gd name="T91" fmla="*/ 8 h 127"/>
                  <a:gd name="T92" fmla="*/ 71 w 80"/>
                  <a:gd name="T93" fmla="*/ 10 h 127"/>
                  <a:gd name="T94" fmla="*/ 73 w 80"/>
                  <a:gd name="T95" fmla="*/ 13 h 127"/>
                  <a:gd name="T96" fmla="*/ 73 w 80"/>
                  <a:gd name="T97" fmla="*/ 17 h 127"/>
                  <a:gd name="T98" fmla="*/ 70 w 80"/>
                  <a:gd name="T99" fmla="*/ 20 h 127"/>
                  <a:gd name="T100" fmla="*/ 68 w 80"/>
                  <a:gd name="T101" fmla="*/ 21 h 127"/>
                  <a:gd name="T102" fmla="*/ 70 w 80"/>
                  <a:gd name="T103" fmla="*/ 24 h 127"/>
                  <a:gd name="T104" fmla="*/ 77 w 80"/>
                  <a:gd name="T105" fmla="*/ 32 h 127"/>
                  <a:gd name="T106" fmla="*/ 80 w 80"/>
                  <a:gd name="T107" fmla="*/ 54 h 127"/>
                  <a:gd name="T108" fmla="*/ 79 w 80"/>
                  <a:gd name="T109" fmla="*/ 80 h 127"/>
                  <a:gd name="T110" fmla="*/ 73 w 80"/>
                  <a:gd name="T111" fmla="*/ 100 h 127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80"/>
                  <a:gd name="T169" fmla="*/ 0 h 127"/>
                  <a:gd name="T170" fmla="*/ 80 w 80"/>
                  <a:gd name="T171" fmla="*/ 127 h 127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80" h="127">
                    <a:moveTo>
                      <a:pt x="70" y="103"/>
                    </a:moveTo>
                    <a:lnTo>
                      <a:pt x="68" y="105"/>
                    </a:lnTo>
                    <a:lnTo>
                      <a:pt x="67" y="107"/>
                    </a:lnTo>
                    <a:lnTo>
                      <a:pt x="67" y="108"/>
                    </a:lnTo>
                    <a:lnTo>
                      <a:pt x="68" y="109"/>
                    </a:lnTo>
                    <a:lnTo>
                      <a:pt x="69" y="109"/>
                    </a:lnTo>
                    <a:lnTo>
                      <a:pt x="71" y="110"/>
                    </a:lnTo>
                    <a:lnTo>
                      <a:pt x="73" y="111"/>
                    </a:lnTo>
                    <a:lnTo>
                      <a:pt x="73" y="113"/>
                    </a:lnTo>
                    <a:lnTo>
                      <a:pt x="73" y="114"/>
                    </a:lnTo>
                    <a:lnTo>
                      <a:pt x="73" y="116"/>
                    </a:lnTo>
                    <a:lnTo>
                      <a:pt x="71" y="117"/>
                    </a:lnTo>
                    <a:lnTo>
                      <a:pt x="70" y="119"/>
                    </a:lnTo>
                    <a:lnTo>
                      <a:pt x="69" y="119"/>
                    </a:lnTo>
                    <a:lnTo>
                      <a:pt x="68" y="121"/>
                    </a:lnTo>
                    <a:lnTo>
                      <a:pt x="66" y="122"/>
                    </a:lnTo>
                    <a:lnTo>
                      <a:pt x="64" y="123"/>
                    </a:lnTo>
                    <a:lnTo>
                      <a:pt x="62" y="124"/>
                    </a:lnTo>
                    <a:lnTo>
                      <a:pt x="60" y="125"/>
                    </a:lnTo>
                    <a:lnTo>
                      <a:pt x="55" y="125"/>
                    </a:lnTo>
                    <a:lnTo>
                      <a:pt x="53" y="126"/>
                    </a:lnTo>
                    <a:lnTo>
                      <a:pt x="50" y="126"/>
                    </a:lnTo>
                    <a:lnTo>
                      <a:pt x="47" y="127"/>
                    </a:lnTo>
                    <a:lnTo>
                      <a:pt x="44" y="127"/>
                    </a:lnTo>
                    <a:lnTo>
                      <a:pt x="39" y="127"/>
                    </a:lnTo>
                    <a:lnTo>
                      <a:pt x="36" y="127"/>
                    </a:lnTo>
                    <a:lnTo>
                      <a:pt x="33" y="127"/>
                    </a:lnTo>
                    <a:lnTo>
                      <a:pt x="30" y="126"/>
                    </a:lnTo>
                    <a:lnTo>
                      <a:pt x="28" y="126"/>
                    </a:lnTo>
                    <a:lnTo>
                      <a:pt x="24" y="125"/>
                    </a:lnTo>
                    <a:lnTo>
                      <a:pt x="22" y="125"/>
                    </a:lnTo>
                    <a:lnTo>
                      <a:pt x="19" y="124"/>
                    </a:lnTo>
                    <a:lnTo>
                      <a:pt x="16" y="123"/>
                    </a:lnTo>
                    <a:lnTo>
                      <a:pt x="14" y="122"/>
                    </a:lnTo>
                    <a:lnTo>
                      <a:pt x="13" y="121"/>
                    </a:lnTo>
                    <a:lnTo>
                      <a:pt x="10" y="119"/>
                    </a:lnTo>
                    <a:lnTo>
                      <a:pt x="8" y="119"/>
                    </a:lnTo>
                    <a:lnTo>
                      <a:pt x="8" y="117"/>
                    </a:lnTo>
                    <a:lnTo>
                      <a:pt x="6" y="116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6" y="110"/>
                    </a:lnTo>
                    <a:lnTo>
                      <a:pt x="8" y="108"/>
                    </a:lnTo>
                    <a:lnTo>
                      <a:pt x="8" y="107"/>
                    </a:lnTo>
                    <a:lnTo>
                      <a:pt x="12" y="106"/>
                    </a:lnTo>
                    <a:lnTo>
                      <a:pt x="12" y="105"/>
                    </a:lnTo>
                    <a:lnTo>
                      <a:pt x="12" y="104"/>
                    </a:lnTo>
                    <a:lnTo>
                      <a:pt x="10" y="102"/>
                    </a:lnTo>
                    <a:lnTo>
                      <a:pt x="6" y="100"/>
                    </a:lnTo>
                    <a:lnTo>
                      <a:pt x="3" y="94"/>
                    </a:lnTo>
                    <a:lnTo>
                      <a:pt x="2" y="87"/>
                    </a:lnTo>
                    <a:lnTo>
                      <a:pt x="1" y="75"/>
                    </a:lnTo>
                    <a:lnTo>
                      <a:pt x="0" y="63"/>
                    </a:lnTo>
                    <a:lnTo>
                      <a:pt x="0" y="51"/>
                    </a:lnTo>
                    <a:lnTo>
                      <a:pt x="1" y="41"/>
                    </a:lnTo>
                    <a:lnTo>
                      <a:pt x="3" y="32"/>
                    </a:lnTo>
                    <a:lnTo>
                      <a:pt x="6" y="27"/>
                    </a:lnTo>
                    <a:lnTo>
                      <a:pt x="8" y="25"/>
                    </a:lnTo>
                    <a:lnTo>
                      <a:pt x="12" y="23"/>
                    </a:lnTo>
                    <a:lnTo>
                      <a:pt x="12" y="22"/>
                    </a:lnTo>
                    <a:lnTo>
                      <a:pt x="12" y="21"/>
                    </a:lnTo>
                    <a:lnTo>
                      <a:pt x="8" y="20"/>
                    </a:lnTo>
                    <a:lnTo>
                      <a:pt x="8" y="19"/>
                    </a:lnTo>
                    <a:lnTo>
                      <a:pt x="6" y="17"/>
                    </a:lnTo>
                    <a:lnTo>
                      <a:pt x="6" y="15"/>
                    </a:lnTo>
                    <a:lnTo>
                      <a:pt x="6" y="13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3" y="7"/>
                    </a:lnTo>
                    <a:lnTo>
                      <a:pt x="14" y="6"/>
                    </a:lnTo>
                    <a:lnTo>
                      <a:pt x="16" y="5"/>
                    </a:lnTo>
                    <a:lnTo>
                      <a:pt x="19" y="4"/>
                    </a:lnTo>
                    <a:lnTo>
                      <a:pt x="22" y="2"/>
                    </a:lnTo>
                    <a:lnTo>
                      <a:pt x="24" y="1"/>
                    </a:lnTo>
                    <a:lnTo>
                      <a:pt x="28" y="1"/>
                    </a:lnTo>
                    <a:lnTo>
                      <a:pt x="30" y="1"/>
                    </a:lnTo>
                    <a:lnTo>
                      <a:pt x="33" y="0"/>
                    </a:lnTo>
                    <a:lnTo>
                      <a:pt x="36" y="0"/>
                    </a:lnTo>
                    <a:lnTo>
                      <a:pt x="39" y="0"/>
                    </a:lnTo>
                    <a:lnTo>
                      <a:pt x="44" y="0"/>
                    </a:lnTo>
                    <a:lnTo>
                      <a:pt x="47" y="0"/>
                    </a:lnTo>
                    <a:lnTo>
                      <a:pt x="50" y="1"/>
                    </a:lnTo>
                    <a:lnTo>
                      <a:pt x="53" y="1"/>
                    </a:lnTo>
                    <a:lnTo>
                      <a:pt x="55" y="1"/>
                    </a:lnTo>
                    <a:lnTo>
                      <a:pt x="60" y="2"/>
                    </a:lnTo>
                    <a:lnTo>
                      <a:pt x="62" y="4"/>
                    </a:lnTo>
                    <a:lnTo>
                      <a:pt x="64" y="5"/>
                    </a:lnTo>
                    <a:lnTo>
                      <a:pt x="66" y="6"/>
                    </a:lnTo>
                    <a:lnTo>
                      <a:pt x="68" y="7"/>
                    </a:lnTo>
                    <a:lnTo>
                      <a:pt x="69" y="8"/>
                    </a:lnTo>
                    <a:lnTo>
                      <a:pt x="70" y="9"/>
                    </a:lnTo>
                    <a:lnTo>
                      <a:pt x="71" y="10"/>
                    </a:lnTo>
                    <a:lnTo>
                      <a:pt x="73" y="11"/>
                    </a:lnTo>
                    <a:lnTo>
                      <a:pt x="73" y="13"/>
                    </a:lnTo>
                    <a:lnTo>
                      <a:pt x="73" y="15"/>
                    </a:lnTo>
                    <a:lnTo>
                      <a:pt x="73" y="17"/>
                    </a:lnTo>
                    <a:lnTo>
                      <a:pt x="71" y="19"/>
                    </a:lnTo>
                    <a:lnTo>
                      <a:pt x="70" y="20"/>
                    </a:lnTo>
                    <a:lnTo>
                      <a:pt x="69" y="20"/>
                    </a:lnTo>
                    <a:lnTo>
                      <a:pt x="68" y="21"/>
                    </a:lnTo>
                    <a:lnTo>
                      <a:pt x="68" y="22"/>
                    </a:lnTo>
                    <a:lnTo>
                      <a:pt x="70" y="24"/>
                    </a:lnTo>
                    <a:lnTo>
                      <a:pt x="73" y="26"/>
                    </a:lnTo>
                    <a:lnTo>
                      <a:pt x="77" y="32"/>
                    </a:lnTo>
                    <a:lnTo>
                      <a:pt x="79" y="42"/>
                    </a:lnTo>
                    <a:lnTo>
                      <a:pt x="80" y="54"/>
                    </a:lnTo>
                    <a:lnTo>
                      <a:pt x="80" y="67"/>
                    </a:lnTo>
                    <a:lnTo>
                      <a:pt x="79" y="80"/>
                    </a:lnTo>
                    <a:lnTo>
                      <a:pt x="77" y="90"/>
                    </a:lnTo>
                    <a:lnTo>
                      <a:pt x="73" y="100"/>
                    </a:lnTo>
                    <a:lnTo>
                      <a:pt x="70" y="103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35" name="Freeform 979"/>
              <p:cNvSpPr>
                <a:spLocks/>
              </p:cNvSpPr>
              <p:nvPr/>
            </p:nvSpPr>
            <p:spPr bwMode="auto">
              <a:xfrm>
                <a:off x="3141" y="1970"/>
                <a:ext cx="9" cy="12"/>
              </a:xfrm>
              <a:custGeom>
                <a:avLst/>
                <a:gdLst>
                  <a:gd name="T0" fmla="*/ 9 w 9"/>
                  <a:gd name="T1" fmla="*/ 12 h 12"/>
                  <a:gd name="T2" fmla="*/ 9 w 9"/>
                  <a:gd name="T3" fmla="*/ 12 h 12"/>
                  <a:gd name="T4" fmla="*/ 7 w 9"/>
                  <a:gd name="T5" fmla="*/ 9 h 12"/>
                  <a:gd name="T6" fmla="*/ 6 w 9"/>
                  <a:gd name="T7" fmla="*/ 8 h 12"/>
                  <a:gd name="T8" fmla="*/ 4 w 9"/>
                  <a:gd name="T9" fmla="*/ 7 h 12"/>
                  <a:gd name="T10" fmla="*/ 3 w 9"/>
                  <a:gd name="T11" fmla="*/ 5 h 12"/>
                  <a:gd name="T12" fmla="*/ 2 w 9"/>
                  <a:gd name="T13" fmla="*/ 5 h 12"/>
                  <a:gd name="T14" fmla="*/ 2 w 9"/>
                  <a:gd name="T15" fmla="*/ 4 h 12"/>
                  <a:gd name="T16" fmla="*/ 3 w 9"/>
                  <a:gd name="T17" fmla="*/ 3 h 12"/>
                  <a:gd name="T18" fmla="*/ 5 w 9"/>
                  <a:gd name="T19" fmla="*/ 2 h 12"/>
                  <a:gd name="T20" fmla="*/ 4 w 9"/>
                  <a:gd name="T21" fmla="*/ 0 h 12"/>
                  <a:gd name="T22" fmla="*/ 1 w 9"/>
                  <a:gd name="T23" fmla="*/ 2 h 12"/>
                  <a:gd name="T24" fmla="*/ 0 w 9"/>
                  <a:gd name="T25" fmla="*/ 4 h 12"/>
                  <a:gd name="T26" fmla="*/ 0 w 9"/>
                  <a:gd name="T27" fmla="*/ 7 h 12"/>
                  <a:gd name="T28" fmla="*/ 2 w 9"/>
                  <a:gd name="T29" fmla="*/ 8 h 12"/>
                  <a:gd name="T30" fmla="*/ 3 w 9"/>
                  <a:gd name="T31" fmla="*/ 9 h 12"/>
                  <a:gd name="T32" fmla="*/ 5 w 9"/>
                  <a:gd name="T33" fmla="*/ 11 h 12"/>
                  <a:gd name="T34" fmla="*/ 6 w 9"/>
                  <a:gd name="T35" fmla="*/ 11 h 12"/>
                  <a:gd name="T36" fmla="*/ 6 w 9"/>
                  <a:gd name="T37" fmla="*/ 12 h 12"/>
                  <a:gd name="T38" fmla="*/ 9 w 9"/>
                  <a:gd name="T39" fmla="*/ 12 h 1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9"/>
                  <a:gd name="T61" fmla="*/ 0 h 12"/>
                  <a:gd name="T62" fmla="*/ 9 w 9"/>
                  <a:gd name="T63" fmla="*/ 12 h 1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9" h="12">
                    <a:moveTo>
                      <a:pt x="9" y="12"/>
                    </a:moveTo>
                    <a:lnTo>
                      <a:pt x="9" y="12"/>
                    </a:lnTo>
                    <a:lnTo>
                      <a:pt x="7" y="9"/>
                    </a:lnTo>
                    <a:lnTo>
                      <a:pt x="6" y="8"/>
                    </a:lnTo>
                    <a:lnTo>
                      <a:pt x="4" y="7"/>
                    </a:lnTo>
                    <a:lnTo>
                      <a:pt x="3" y="5"/>
                    </a:lnTo>
                    <a:lnTo>
                      <a:pt x="2" y="5"/>
                    </a:lnTo>
                    <a:lnTo>
                      <a:pt x="2" y="4"/>
                    </a:lnTo>
                    <a:lnTo>
                      <a:pt x="3" y="3"/>
                    </a:lnTo>
                    <a:lnTo>
                      <a:pt x="5" y="2"/>
                    </a:lnTo>
                    <a:lnTo>
                      <a:pt x="4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2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6" y="11"/>
                    </a:lnTo>
                    <a:lnTo>
                      <a:pt x="6" y="12"/>
                    </a:lnTo>
                    <a:lnTo>
                      <a:pt x="9" y="12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36" name="Freeform 980"/>
              <p:cNvSpPr>
                <a:spLocks/>
              </p:cNvSpPr>
              <p:nvPr/>
            </p:nvSpPr>
            <p:spPr bwMode="auto">
              <a:xfrm>
                <a:off x="3115" y="1982"/>
                <a:ext cx="35" cy="13"/>
              </a:xfrm>
              <a:custGeom>
                <a:avLst/>
                <a:gdLst>
                  <a:gd name="T0" fmla="*/ 0 w 35"/>
                  <a:gd name="T1" fmla="*/ 13 h 13"/>
                  <a:gd name="T2" fmla="*/ 0 w 35"/>
                  <a:gd name="T3" fmla="*/ 13 h 13"/>
                  <a:gd name="T4" fmla="*/ 4 w 35"/>
                  <a:gd name="T5" fmla="*/ 13 h 13"/>
                  <a:gd name="T6" fmla="*/ 7 w 35"/>
                  <a:gd name="T7" fmla="*/ 13 h 13"/>
                  <a:gd name="T8" fmla="*/ 10 w 35"/>
                  <a:gd name="T9" fmla="*/ 12 h 13"/>
                  <a:gd name="T10" fmla="*/ 13 w 35"/>
                  <a:gd name="T11" fmla="*/ 12 h 13"/>
                  <a:gd name="T12" fmla="*/ 17 w 35"/>
                  <a:gd name="T13" fmla="*/ 12 h 13"/>
                  <a:gd name="T14" fmla="*/ 20 w 35"/>
                  <a:gd name="T15" fmla="*/ 11 h 13"/>
                  <a:gd name="T16" fmla="*/ 22 w 35"/>
                  <a:gd name="T17" fmla="*/ 10 h 13"/>
                  <a:gd name="T18" fmla="*/ 25 w 35"/>
                  <a:gd name="T19" fmla="*/ 9 h 13"/>
                  <a:gd name="T20" fmla="*/ 27 w 35"/>
                  <a:gd name="T21" fmla="*/ 8 h 13"/>
                  <a:gd name="T22" fmla="*/ 28 w 35"/>
                  <a:gd name="T23" fmla="*/ 8 h 13"/>
                  <a:gd name="T24" fmla="*/ 30 w 35"/>
                  <a:gd name="T25" fmla="*/ 6 h 13"/>
                  <a:gd name="T26" fmla="*/ 31 w 35"/>
                  <a:gd name="T27" fmla="*/ 5 h 13"/>
                  <a:gd name="T28" fmla="*/ 32 w 35"/>
                  <a:gd name="T29" fmla="*/ 4 h 13"/>
                  <a:gd name="T30" fmla="*/ 33 w 35"/>
                  <a:gd name="T31" fmla="*/ 3 h 13"/>
                  <a:gd name="T32" fmla="*/ 35 w 35"/>
                  <a:gd name="T33" fmla="*/ 1 h 13"/>
                  <a:gd name="T34" fmla="*/ 35 w 35"/>
                  <a:gd name="T35" fmla="*/ 0 h 13"/>
                  <a:gd name="T36" fmla="*/ 32 w 35"/>
                  <a:gd name="T37" fmla="*/ 0 h 13"/>
                  <a:gd name="T38" fmla="*/ 32 w 35"/>
                  <a:gd name="T39" fmla="*/ 1 h 13"/>
                  <a:gd name="T40" fmla="*/ 32 w 35"/>
                  <a:gd name="T41" fmla="*/ 2 h 13"/>
                  <a:gd name="T42" fmla="*/ 31 w 35"/>
                  <a:gd name="T43" fmla="*/ 3 h 13"/>
                  <a:gd name="T44" fmla="*/ 30 w 35"/>
                  <a:gd name="T45" fmla="*/ 4 h 13"/>
                  <a:gd name="T46" fmla="*/ 29 w 35"/>
                  <a:gd name="T47" fmla="*/ 5 h 13"/>
                  <a:gd name="T48" fmla="*/ 27 w 35"/>
                  <a:gd name="T49" fmla="*/ 6 h 13"/>
                  <a:gd name="T50" fmla="*/ 26 w 35"/>
                  <a:gd name="T51" fmla="*/ 7 h 13"/>
                  <a:gd name="T52" fmla="*/ 24 w 35"/>
                  <a:gd name="T53" fmla="*/ 8 h 13"/>
                  <a:gd name="T54" fmla="*/ 22 w 35"/>
                  <a:gd name="T55" fmla="*/ 9 h 13"/>
                  <a:gd name="T56" fmla="*/ 20 w 35"/>
                  <a:gd name="T57" fmla="*/ 9 h 13"/>
                  <a:gd name="T58" fmla="*/ 15 w 35"/>
                  <a:gd name="T59" fmla="*/ 10 h 13"/>
                  <a:gd name="T60" fmla="*/ 13 w 35"/>
                  <a:gd name="T61" fmla="*/ 10 h 13"/>
                  <a:gd name="T62" fmla="*/ 10 w 35"/>
                  <a:gd name="T63" fmla="*/ 11 h 13"/>
                  <a:gd name="T64" fmla="*/ 7 w 35"/>
                  <a:gd name="T65" fmla="*/ 11 h 13"/>
                  <a:gd name="T66" fmla="*/ 4 w 35"/>
                  <a:gd name="T67" fmla="*/ 11 h 13"/>
                  <a:gd name="T68" fmla="*/ 0 w 35"/>
                  <a:gd name="T69" fmla="*/ 11 h 13"/>
                  <a:gd name="T70" fmla="*/ 0 w 35"/>
                  <a:gd name="T71" fmla="*/ 13 h 1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5"/>
                  <a:gd name="T109" fmla="*/ 0 h 13"/>
                  <a:gd name="T110" fmla="*/ 35 w 35"/>
                  <a:gd name="T111" fmla="*/ 13 h 1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5" h="13">
                    <a:moveTo>
                      <a:pt x="0" y="13"/>
                    </a:moveTo>
                    <a:lnTo>
                      <a:pt x="0" y="13"/>
                    </a:lnTo>
                    <a:lnTo>
                      <a:pt x="4" y="13"/>
                    </a:lnTo>
                    <a:lnTo>
                      <a:pt x="7" y="13"/>
                    </a:lnTo>
                    <a:lnTo>
                      <a:pt x="10" y="12"/>
                    </a:lnTo>
                    <a:lnTo>
                      <a:pt x="13" y="12"/>
                    </a:lnTo>
                    <a:lnTo>
                      <a:pt x="17" y="12"/>
                    </a:lnTo>
                    <a:lnTo>
                      <a:pt x="20" y="11"/>
                    </a:lnTo>
                    <a:lnTo>
                      <a:pt x="22" y="10"/>
                    </a:lnTo>
                    <a:lnTo>
                      <a:pt x="25" y="9"/>
                    </a:lnTo>
                    <a:lnTo>
                      <a:pt x="27" y="8"/>
                    </a:lnTo>
                    <a:lnTo>
                      <a:pt x="28" y="8"/>
                    </a:lnTo>
                    <a:lnTo>
                      <a:pt x="30" y="6"/>
                    </a:lnTo>
                    <a:lnTo>
                      <a:pt x="31" y="5"/>
                    </a:lnTo>
                    <a:lnTo>
                      <a:pt x="32" y="4"/>
                    </a:lnTo>
                    <a:lnTo>
                      <a:pt x="33" y="3"/>
                    </a:lnTo>
                    <a:lnTo>
                      <a:pt x="35" y="1"/>
                    </a:lnTo>
                    <a:lnTo>
                      <a:pt x="35" y="0"/>
                    </a:lnTo>
                    <a:lnTo>
                      <a:pt x="32" y="0"/>
                    </a:lnTo>
                    <a:lnTo>
                      <a:pt x="32" y="1"/>
                    </a:lnTo>
                    <a:lnTo>
                      <a:pt x="32" y="2"/>
                    </a:lnTo>
                    <a:lnTo>
                      <a:pt x="31" y="3"/>
                    </a:lnTo>
                    <a:lnTo>
                      <a:pt x="30" y="4"/>
                    </a:lnTo>
                    <a:lnTo>
                      <a:pt x="29" y="5"/>
                    </a:lnTo>
                    <a:lnTo>
                      <a:pt x="27" y="6"/>
                    </a:lnTo>
                    <a:lnTo>
                      <a:pt x="26" y="7"/>
                    </a:lnTo>
                    <a:lnTo>
                      <a:pt x="24" y="8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5" y="10"/>
                    </a:lnTo>
                    <a:lnTo>
                      <a:pt x="13" y="10"/>
                    </a:lnTo>
                    <a:lnTo>
                      <a:pt x="10" y="11"/>
                    </a:lnTo>
                    <a:lnTo>
                      <a:pt x="7" y="11"/>
                    </a:lnTo>
                    <a:lnTo>
                      <a:pt x="4" y="11"/>
                    </a:lnTo>
                    <a:lnTo>
                      <a:pt x="0" y="11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37" name="Freeform 981"/>
              <p:cNvSpPr>
                <a:spLocks/>
              </p:cNvSpPr>
              <p:nvPr/>
            </p:nvSpPr>
            <p:spPr bwMode="auto">
              <a:xfrm>
                <a:off x="3080" y="1982"/>
                <a:ext cx="35" cy="13"/>
              </a:xfrm>
              <a:custGeom>
                <a:avLst/>
                <a:gdLst>
                  <a:gd name="T0" fmla="*/ 0 w 35"/>
                  <a:gd name="T1" fmla="*/ 0 h 13"/>
                  <a:gd name="T2" fmla="*/ 0 w 35"/>
                  <a:gd name="T3" fmla="*/ 0 h 13"/>
                  <a:gd name="T4" fmla="*/ 0 w 35"/>
                  <a:gd name="T5" fmla="*/ 1 h 13"/>
                  <a:gd name="T6" fmla="*/ 1 w 35"/>
                  <a:gd name="T7" fmla="*/ 3 h 13"/>
                  <a:gd name="T8" fmla="*/ 1 w 35"/>
                  <a:gd name="T9" fmla="*/ 4 h 13"/>
                  <a:gd name="T10" fmla="*/ 3 w 35"/>
                  <a:gd name="T11" fmla="*/ 5 h 13"/>
                  <a:gd name="T12" fmla="*/ 4 w 35"/>
                  <a:gd name="T13" fmla="*/ 6 h 13"/>
                  <a:gd name="T14" fmla="*/ 7 w 35"/>
                  <a:gd name="T15" fmla="*/ 8 h 13"/>
                  <a:gd name="T16" fmla="*/ 8 w 35"/>
                  <a:gd name="T17" fmla="*/ 8 h 13"/>
                  <a:gd name="T18" fmla="*/ 11 w 35"/>
                  <a:gd name="T19" fmla="*/ 9 h 13"/>
                  <a:gd name="T20" fmla="*/ 14 w 35"/>
                  <a:gd name="T21" fmla="*/ 10 h 13"/>
                  <a:gd name="T22" fmla="*/ 16 w 35"/>
                  <a:gd name="T23" fmla="*/ 11 h 13"/>
                  <a:gd name="T24" fmla="*/ 19 w 35"/>
                  <a:gd name="T25" fmla="*/ 12 h 13"/>
                  <a:gd name="T26" fmla="*/ 21 w 35"/>
                  <a:gd name="T27" fmla="*/ 12 h 13"/>
                  <a:gd name="T28" fmla="*/ 25 w 35"/>
                  <a:gd name="T29" fmla="*/ 12 h 13"/>
                  <a:gd name="T30" fmla="*/ 29 w 35"/>
                  <a:gd name="T31" fmla="*/ 13 h 13"/>
                  <a:gd name="T32" fmla="*/ 32 w 35"/>
                  <a:gd name="T33" fmla="*/ 13 h 13"/>
                  <a:gd name="T34" fmla="*/ 35 w 35"/>
                  <a:gd name="T35" fmla="*/ 13 h 13"/>
                  <a:gd name="T36" fmla="*/ 35 w 35"/>
                  <a:gd name="T37" fmla="*/ 11 h 13"/>
                  <a:gd name="T38" fmla="*/ 32 w 35"/>
                  <a:gd name="T39" fmla="*/ 11 h 13"/>
                  <a:gd name="T40" fmla="*/ 29 w 35"/>
                  <a:gd name="T41" fmla="*/ 11 h 13"/>
                  <a:gd name="T42" fmla="*/ 25 w 35"/>
                  <a:gd name="T43" fmla="*/ 11 h 13"/>
                  <a:gd name="T44" fmla="*/ 21 w 35"/>
                  <a:gd name="T45" fmla="*/ 10 h 13"/>
                  <a:gd name="T46" fmla="*/ 19 w 35"/>
                  <a:gd name="T47" fmla="*/ 10 h 13"/>
                  <a:gd name="T48" fmla="*/ 16 w 35"/>
                  <a:gd name="T49" fmla="*/ 9 h 13"/>
                  <a:gd name="T50" fmla="*/ 14 w 35"/>
                  <a:gd name="T51" fmla="*/ 9 h 13"/>
                  <a:gd name="T52" fmla="*/ 11 w 35"/>
                  <a:gd name="T53" fmla="*/ 8 h 13"/>
                  <a:gd name="T54" fmla="*/ 9 w 35"/>
                  <a:gd name="T55" fmla="*/ 7 h 13"/>
                  <a:gd name="T56" fmla="*/ 8 w 35"/>
                  <a:gd name="T57" fmla="*/ 6 h 13"/>
                  <a:gd name="T58" fmla="*/ 5 w 35"/>
                  <a:gd name="T59" fmla="*/ 5 h 13"/>
                  <a:gd name="T60" fmla="*/ 4 w 35"/>
                  <a:gd name="T61" fmla="*/ 4 h 13"/>
                  <a:gd name="T62" fmla="*/ 3 w 35"/>
                  <a:gd name="T63" fmla="*/ 3 h 13"/>
                  <a:gd name="T64" fmla="*/ 2 w 35"/>
                  <a:gd name="T65" fmla="*/ 2 h 13"/>
                  <a:gd name="T66" fmla="*/ 2 w 35"/>
                  <a:gd name="T67" fmla="*/ 1 h 13"/>
                  <a:gd name="T68" fmla="*/ 2 w 35"/>
                  <a:gd name="T69" fmla="*/ 0 h 13"/>
                  <a:gd name="T70" fmla="*/ 0 w 35"/>
                  <a:gd name="T71" fmla="*/ 0 h 1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5"/>
                  <a:gd name="T109" fmla="*/ 0 h 13"/>
                  <a:gd name="T110" fmla="*/ 35 w 35"/>
                  <a:gd name="T111" fmla="*/ 13 h 1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5" h="13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4" y="6"/>
                    </a:lnTo>
                    <a:lnTo>
                      <a:pt x="7" y="8"/>
                    </a:lnTo>
                    <a:lnTo>
                      <a:pt x="8" y="8"/>
                    </a:lnTo>
                    <a:lnTo>
                      <a:pt x="11" y="9"/>
                    </a:lnTo>
                    <a:lnTo>
                      <a:pt x="14" y="10"/>
                    </a:lnTo>
                    <a:lnTo>
                      <a:pt x="16" y="11"/>
                    </a:lnTo>
                    <a:lnTo>
                      <a:pt x="19" y="12"/>
                    </a:lnTo>
                    <a:lnTo>
                      <a:pt x="21" y="12"/>
                    </a:lnTo>
                    <a:lnTo>
                      <a:pt x="25" y="12"/>
                    </a:lnTo>
                    <a:lnTo>
                      <a:pt x="29" y="13"/>
                    </a:lnTo>
                    <a:lnTo>
                      <a:pt x="32" y="13"/>
                    </a:lnTo>
                    <a:lnTo>
                      <a:pt x="35" y="13"/>
                    </a:lnTo>
                    <a:lnTo>
                      <a:pt x="35" y="11"/>
                    </a:lnTo>
                    <a:lnTo>
                      <a:pt x="32" y="11"/>
                    </a:lnTo>
                    <a:lnTo>
                      <a:pt x="29" y="11"/>
                    </a:lnTo>
                    <a:lnTo>
                      <a:pt x="25" y="11"/>
                    </a:lnTo>
                    <a:lnTo>
                      <a:pt x="21" y="10"/>
                    </a:lnTo>
                    <a:lnTo>
                      <a:pt x="19" y="10"/>
                    </a:lnTo>
                    <a:lnTo>
                      <a:pt x="16" y="9"/>
                    </a:lnTo>
                    <a:lnTo>
                      <a:pt x="14" y="9"/>
                    </a:lnTo>
                    <a:lnTo>
                      <a:pt x="11" y="8"/>
                    </a:lnTo>
                    <a:lnTo>
                      <a:pt x="9" y="7"/>
                    </a:lnTo>
                    <a:lnTo>
                      <a:pt x="8" y="6"/>
                    </a:lnTo>
                    <a:lnTo>
                      <a:pt x="5" y="5"/>
                    </a:lnTo>
                    <a:lnTo>
                      <a:pt x="4" y="4"/>
                    </a:lnTo>
                    <a:lnTo>
                      <a:pt x="3" y="3"/>
                    </a:lnTo>
                    <a:lnTo>
                      <a:pt x="2" y="2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38" name="Freeform 982"/>
              <p:cNvSpPr>
                <a:spLocks/>
              </p:cNvSpPr>
              <p:nvPr/>
            </p:nvSpPr>
            <p:spPr bwMode="auto">
              <a:xfrm>
                <a:off x="3080" y="1967"/>
                <a:ext cx="8" cy="15"/>
              </a:xfrm>
              <a:custGeom>
                <a:avLst/>
                <a:gdLst>
                  <a:gd name="T0" fmla="*/ 0 w 8"/>
                  <a:gd name="T1" fmla="*/ 1 h 15"/>
                  <a:gd name="T2" fmla="*/ 0 w 8"/>
                  <a:gd name="T3" fmla="*/ 2 h 15"/>
                  <a:gd name="T4" fmla="*/ 3 w 8"/>
                  <a:gd name="T5" fmla="*/ 4 h 15"/>
                  <a:gd name="T6" fmla="*/ 5 w 8"/>
                  <a:gd name="T7" fmla="*/ 5 h 15"/>
                  <a:gd name="T8" fmla="*/ 5 w 8"/>
                  <a:gd name="T9" fmla="*/ 6 h 15"/>
                  <a:gd name="T10" fmla="*/ 5 w 8"/>
                  <a:gd name="T11" fmla="*/ 8 h 15"/>
                  <a:gd name="T12" fmla="*/ 3 w 8"/>
                  <a:gd name="T13" fmla="*/ 8 h 15"/>
                  <a:gd name="T14" fmla="*/ 2 w 8"/>
                  <a:gd name="T15" fmla="*/ 10 h 15"/>
                  <a:gd name="T16" fmla="*/ 1 w 8"/>
                  <a:gd name="T17" fmla="*/ 12 h 15"/>
                  <a:gd name="T18" fmla="*/ 0 w 8"/>
                  <a:gd name="T19" fmla="*/ 15 h 15"/>
                  <a:gd name="T20" fmla="*/ 2 w 8"/>
                  <a:gd name="T21" fmla="*/ 15 h 15"/>
                  <a:gd name="T22" fmla="*/ 2 w 8"/>
                  <a:gd name="T23" fmla="*/ 12 h 15"/>
                  <a:gd name="T24" fmla="*/ 3 w 8"/>
                  <a:gd name="T25" fmla="*/ 11 h 15"/>
                  <a:gd name="T26" fmla="*/ 5 w 8"/>
                  <a:gd name="T27" fmla="*/ 10 h 15"/>
                  <a:gd name="T28" fmla="*/ 7 w 8"/>
                  <a:gd name="T29" fmla="*/ 8 h 15"/>
                  <a:gd name="T30" fmla="*/ 8 w 8"/>
                  <a:gd name="T31" fmla="*/ 6 h 15"/>
                  <a:gd name="T32" fmla="*/ 8 w 8"/>
                  <a:gd name="T33" fmla="*/ 5 h 15"/>
                  <a:gd name="T34" fmla="*/ 5 w 8"/>
                  <a:gd name="T35" fmla="*/ 3 h 15"/>
                  <a:gd name="T36" fmla="*/ 1 w 8"/>
                  <a:gd name="T37" fmla="*/ 0 h 15"/>
                  <a:gd name="T38" fmla="*/ 0 w 8"/>
                  <a:gd name="T39" fmla="*/ 1 h 1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"/>
                  <a:gd name="T61" fmla="*/ 0 h 15"/>
                  <a:gd name="T62" fmla="*/ 8 w 8"/>
                  <a:gd name="T63" fmla="*/ 15 h 1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" h="15">
                    <a:moveTo>
                      <a:pt x="0" y="1"/>
                    </a:moveTo>
                    <a:lnTo>
                      <a:pt x="0" y="2"/>
                    </a:lnTo>
                    <a:lnTo>
                      <a:pt x="3" y="4"/>
                    </a:lnTo>
                    <a:lnTo>
                      <a:pt x="5" y="5"/>
                    </a:lnTo>
                    <a:lnTo>
                      <a:pt x="5" y="6"/>
                    </a:lnTo>
                    <a:lnTo>
                      <a:pt x="5" y="8"/>
                    </a:lnTo>
                    <a:lnTo>
                      <a:pt x="3" y="8"/>
                    </a:lnTo>
                    <a:lnTo>
                      <a:pt x="2" y="10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2" y="15"/>
                    </a:lnTo>
                    <a:lnTo>
                      <a:pt x="2" y="12"/>
                    </a:lnTo>
                    <a:lnTo>
                      <a:pt x="3" y="11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8" y="6"/>
                    </a:lnTo>
                    <a:lnTo>
                      <a:pt x="8" y="5"/>
                    </a:lnTo>
                    <a:lnTo>
                      <a:pt x="5" y="3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39" name="Freeform 983"/>
              <p:cNvSpPr>
                <a:spLocks/>
              </p:cNvSpPr>
              <p:nvPr/>
            </p:nvSpPr>
            <p:spPr bwMode="auto">
              <a:xfrm>
                <a:off x="3074" y="1894"/>
                <a:ext cx="8" cy="74"/>
              </a:xfrm>
              <a:custGeom>
                <a:avLst/>
                <a:gdLst>
                  <a:gd name="T0" fmla="*/ 7 w 8"/>
                  <a:gd name="T1" fmla="*/ 0 h 74"/>
                  <a:gd name="T2" fmla="*/ 7 w 8"/>
                  <a:gd name="T3" fmla="*/ 0 h 74"/>
                  <a:gd name="T4" fmla="*/ 3 w 8"/>
                  <a:gd name="T5" fmla="*/ 6 h 74"/>
                  <a:gd name="T6" fmla="*/ 1 w 8"/>
                  <a:gd name="T7" fmla="*/ 14 h 74"/>
                  <a:gd name="T8" fmla="*/ 0 w 8"/>
                  <a:gd name="T9" fmla="*/ 25 h 74"/>
                  <a:gd name="T10" fmla="*/ 0 w 8"/>
                  <a:gd name="T11" fmla="*/ 37 h 74"/>
                  <a:gd name="T12" fmla="*/ 1 w 8"/>
                  <a:gd name="T13" fmla="*/ 50 h 74"/>
                  <a:gd name="T14" fmla="*/ 2 w 8"/>
                  <a:gd name="T15" fmla="*/ 60 h 74"/>
                  <a:gd name="T16" fmla="*/ 3 w 8"/>
                  <a:gd name="T17" fmla="*/ 69 h 74"/>
                  <a:gd name="T18" fmla="*/ 7 w 8"/>
                  <a:gd name="T19" fmla="*/ 74 h 74"/>
                  <a:gd name="T20" fmla="*/ 8 w 8"/>
                  <a:gd name="T21" fmla="*/ 73 h 74"/>
                  <a:gd name="T22" fmla="*/ 6 w 8"/>
                  <a:gd name="T23" fmla="*/ 68 h 74"/>
                  <a:gd name="T24" fmla="*/ 4 w 8"/>
                  <a:gd name="T25" fmla="*/ 60 h 74"/>
                  <a:gd name="T26" fmla="*/ 2 w 8"/>
                  <a:gd name="T27" fmla="*/ 50 h 74"/>
                  <a:gd name="T28" fmla="*/ 2 w 8"/>
                  <a:gd name="T29" fmla="*/ 37 h 74"/>
                  <a:gd name="T30" fmla="*/ 2 w 8"/>
                  <a:gd name="T31" fmla="*/ 25 h 74"/>
                  <a:gd name="T32" fmla="*/ 3 w 8"/>
                  <a:gd name="T33" fmla="*/ 15 h 74"/>
                  <a:gd name="T34" fmla="*/ 4 w 8"/>
                  <a:gd name="T35" fmla="*/ 6 h 74"/>
                  <a:gd name="T36" fmla="*/ 8 w 8"/>
                  <a:gd name="T37" fmla="*/ 2 h 74"/>
                  <a:gd name="T38" fmla="*/ 7 w 8"/>
                  <a:gd name="T39" fmla="*/ 0 h 7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"/>
                  <a:gd name="T61" fmla="*/ 0 h 74"/>
                  <a:gd name="T62" fmla="*/ 8 w 8"/>
                  <a:gd name="T63" fmla="*/ 74 h 7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" h="74">
                    <a:moveTo>
                      <a:pt x="7" y="0"/>
                    </a:moveTo>
                    <a:lnTo>
                      <a:pt x="7" y="0"/>
                    </a:lnTo>
                    <a:lnTo>
                      <a:pt x="3" y="6"/>
                    </a:lnTo>
                    <a:lnTo>
                      <a:pt x="1" y="14"/>
                    </a:lnTo>
                    <a:lnTo>
                      <a:pt x="0" y="25"/>
                    </a:lnTo>
                    <a:lnTo>
                      <a:pt x="0" y="37"/>
                    </a:lnTo>
                    <a:lnTo>
                      <a:pt x="1" y="50"/>
                    </a:lnTo>
                    <a:lnTo>
                      <a:pt x="2" y="60"/>
                    </a:lnTo>
                    <a:lnTo>
                      <a:pt x="3" y="69"/>
                    </a:lnTo>
                    <a:lnTo>
                      <a:pt x="7" y="74"/>
                    </a:lnTo>
                    <a:lnTo>
                      <a:pt x="8" y="73"/>
                    </a:lnTo>
                    <a:lnTo>
                      <a:pt x="6" y="68"/>
                    </a:lnTo>
                    <a:lnTo>
                      <a:pt x="4" y="60"/>
                    </a:lnTo>
                    <a:lnTo>
                      <a:pt x="2" y="50"/>
                    </a:lnTo>
                    <a:lnTo>
                      <a:pt x="2" y="37"/>
                    </a:lnTo>
                    <a:lnTo>
                      <a:pt x="2" y="25"/>
                    </a:lnTo>
                    <a:lnTo>
                      <a:pt x="3" y="15"/>
                    </a:lnTo>
                    <a:lnTo>
                      <a:pt x="4" y="6"/>
                    </a:lnTo>
                    <a:lnTo>
                      <a:pt x="8" y="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40" name="Freeform 984"/>
              <p:cNvSpPr>
                <a:spLocks/>
              </p:cNvSpPr>
              <p:nvPr/>
            </p:nvSpPr>
            <p:spPr bwMode="auto">
              <a:xfrm>
                <a:off x="3080" y="1883"/>
                <a:ext cx="8" cy="14"/>
              </a:xfrm>
              <a:custGeom>
                <a:avLst/>
                <a:gdLst>
                  <a:gd name="T0" fmla="*/ 0 w 8"/>
                  <a:gd name="T1" fmla="*/ 0 h 14"/>
                  <a:gd name="T2" fmla="*/ 0 w 8"/>
                  <a:gd name="T3" fmla="*/ 0 h 14"/>
                  <a:gd name="T4" fmla="*/ 1 w 8"/>
                  <a:gd name="T5" fmla="*/ 2 h 14"/>
                  <a:gd name="T6" fmla="*/ 2 w 8"/>
                  <a:gd name="T7" fmla="*/ 5 h 14"/>
                  <a:gd name="T8" fmla="*/ 4 w 8"/>
                  <a:gd name="T9" fmla="*/ 6 h 14"/>
                  <a:gd name="T10" fmla="*/ 5 w 8"/>
                  <a:gd name="T11" fmla="*/ 7 h 14"/>
                  <a:gd name="T12" fmla="*/ 5 w 8"/>
                  <a:gd name="T13" fmla="*/ 8 h 14"/>
                  <a:gd name="T14" fmla="*/ 4 w 8"/>
                  <a:gd name="T15" fmla="*/ 10 h 14"/>
                  <a:gd name="T16" fmla="*/ 0 w 8"/>
                  <a:gd name="T17" fmla="*/ 12 h 14"/>
                  <a:gd name="T18" fmla="*/ 1 w 8"/>
                  <a:gd name="T19" fmla="*/ 14 h 14"/>
                  <a:gd name="T20" fmla="*/ 5 w 8"/>
                  <a:gd name="T21" fmla="*/ 12 h 14"/>
                  <a:gd name="T22" fmla="*/ 8 w 8"/>
                  <a:gd name="T23" fmla="*/ 10 h 14"/>
                  <a:gd name="T24" fmla="*/ 8 w 8"/>
                  <a:gd name="T25" fmla="*/ 7 h 14"/>
                  <a:gd name="T26" fmla="*/ 7 w 8"/>
                  <a:gd name="T27" fmla="*/ 6 h 14"/>
                  <a:gd name="T28" fmla="*/ 5 w 8"/>
                  <a:gd name="T29" fmla="*/ 5 h 14"/>
                  <a:gd name="T30" fmla="*/ 3 w 8"/>
                  <a:gd name="T31" fmla="*/ 4 h 14"/>
                  <a:gd name="T32" fmla="*/ 2 w 8"/>
                  <a:gd name="T33" fmla="*/ 2 h 14"/>
                  <a:gd name="T34" fmla="*/ 2 w 8"/>
                  <a:gd name="T35" fmla="*/ 0 h 14"/>
                  <a:gd name="T36" fmla="*/ 0 w 8"/>
                  <a:gd name="T37" fmla="*/ 0 h 1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"/>
                  <a:gd name="T58" fmla="*/ 0 h 14"/>
                  <a:gd name="T59" fmla="*/ 8 w 8"/>
                  <a:gd name="T60" fmla="*/ 14 h 1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" h="14">
                    <a:moveTo>
                      <a:pt x="0" y="0"/>
                    </a:moveTo>
                    <a:lnTo>
                      <a:pt x="0" y="0"/>
                    </a:lnTo>
                    <a:lnTo>
                      <a:pt x="1" y="2"/>
                    </a:lnTo>
                    <a:lnTo>
                      <a:pt x="2" y="5"/>
                    </a:lnTo>
                    <a:lnTo>
                      <a:pt x="4" y="6"/>
                    </a:lnTo>
                    <a:lnTo>
                      <a:pt x="5" y="7"/>
                    </a:lnTo>
                    <a:lnTo>
                      <a:pt x="5" y="8"/>
                    </a:lnTo>
                    <a:lnTo>
                      <a:pt x="4" y="10"/>
                    </a:lnTo>
                    <a:lnTo>
                      <a:pt x="0" y="12"/>
                    </a:lnTo>
                    <a:lnTo>
                      <a:pt x="1" y="14"/>
                    </a:lnTo>
                    <a:lnTo>
                      <a:pt x="5" y="12"/>
                    </a:lnTo>
                    <a:lnTo>
                      <a:pt x="8" y="10"/>
                    </a:lnTo>
                    <a:lnTo>
                      <a:pt x="8" y="7"/>
                    </a:lnTo>
                    <a:lnTo>
                      <a:pt x="7" y="6"/>
                    </a:lnTo>
                    <a:lnTo>
                      <a:pt x="5" y="5"/>
                    </a:lnTo>
                    <a:lnTo>
                      <a:pt x="3" y="4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41" name="Freeform 985"/>
              <p:cNvSpPr>
                <a:spLocks/>
              </p:cNvSpPr>
              <p:nvPr/>
            </p:nvSpPr>
            <p:spPr bwMode="auto">
              <a:xfrm>
                <a:off x="3080" y="1867"/>
                <a:ext cx="35" cy="16"/>
              </a:xfrm>
              <a:custGeom>
                <a:avLst/>
                <a:gdLst>
                  <a:gd name="T0" fmla="*/ 35 w 35"/>
                  <a:gd name="T1" fmla="*/ 0 h 16"/>
                  <a:gd name="T2" fmla="*/ 35 w 35"/>
                  <a:gd name="T3" fmla="*/ 0 h 16"/>
                  <a:gd name="T4" fmla="*/ 32 w 35"/>
                  <a:gd name="T5" fmla="*/ 0 h 16"/>
                  <a:gd name="T6" fmla="*/ 29 w 35"/>
                  <a:gd name="T7" fmla="*/ 0 h 16"/>
                  <a:gd name="T8" fmla="*/ 25 w 35"/>
                  <a:gd name="T9" fmla="*/ 1 h 16"/>
                  <a:gd name="T10" fmla="*/ 21 w 35"/>
                  <a:gd name="T11" fmla="*/ 1 h 16"/>
                  <a:gd name="T12" fmla="*/ 19 w 35"/>
                  <a:gd name="T13" fmla="*/ 2 h 16"/>
                  <a:gd name="T14" fmla="*/ 16 w 35"/>
                  <a:gd name="T15" fmla="*/ 2 h 16"/>
                  <a:gd name="T16" fmla="*/ 14 w 35"/>
                  <a:gd name="T17" fmla="*/ 3 h 16"/>
                  <a:gd name="T18" fmla="*/ 11 w 35"/>
                  <a:gd name="T19" fmla="*/ 5 h 16"/>
                  <a:gd name="T20" fmla="*/ 8 w 35"/>
                  <a:gd name="T21" fmla="*/ 6 h 16"/>
                  <a:gd name="T22" fmla="*/ 7 w 35"/>
                  <a:gd name="T23" fmla="*/ 7 h 16"/>
                  <a:gd name="T24" fmla="*/ 4 w 35"/>
                  <a:gd name="T25" fmla="*/ 9 h 16"/>
                  <a:gd name="T26" fmla="*/ 3 w 35"/>
                  <a:gd name="T27" fmla="*/ 10 h 16"/>
                  <a:gd name="T28" fmla="*/ 1 w 35"/>
                  <a:gd name="T29" fmla="*/ 12 h 16"/>
                  <a:gd name="T30" fmla="*/ 1 w 35"/>
                  <a:gd name="T31" fmla="*/ 13 h 16"/>
                  <a:gd name="T32" fmla="*/ 0 w 35"/>
                  <a:gd name="T33" fmla="*/ 15 h 16"/>
                  <a:gd name="T34" fmla="*/ 0 w 35"/>
                  <a:gd name="T35" fmla="*/ 16 h 16"/>
                  <a:gd name="T36" fmla="*/ 2 w 35"/>
                  <a:gd name="T37" fmla="*/ 16 h 16"/>
                  <a:gd name="T38" fmla="*/ 2 w 35"/>
                  <a:gd name="T39" fmla="*/ 15 h 16"/>
                  <a:gd name="T40" fmla="*/ 2 w 35"/>
                  <a:gd name="T41" fmla="*/ 14 h 16"/>
                  <a:gd name="T42" fmla="*/ 3 w 35"/>
                  <a:gd name="T43" fmla="*/ 13 h 16"/>
                  <a:gd name="T44" fmla="*/ 4 w 35"/>
                  <a:gd name="T45" fmla="*/ 11 h 16"/>
                  <a:gd name="T46" fmla="*/ 5 w 35"/>
                  <a:gd name="T47" fmla="*/ 10 h 16"/>
                  <a:gd name="T48" fmla="*/ 8 w 35"/>
                  <a:gd name="T49" fmla="*/ 9 h 16"/>
                  <a:gd name="T50" fmla="*/ 9 w 35"/>
                  <a:gd name="T51" fmla="*/ 7 h 16"/>
                  <a:gd name="T52" fmla="*/ 11 w 35"/>
                  <a:gd name="T53" fmla="*/ 7 h 16"/>
                  <a:gd name="T54" fmla="*/ 14 w 35"/>
                  <a:gd name="T55" fmla="*/ 6 h 16"/>
                  <a:gd name="T56" fmla="*/ 16 w 35"/>
                  <a:gd name="T57" fmla="*/ 5 h 16"/>
                  <a:gd name="T58" fmla="*/ 19 w 35"/>
                  <a:gd name="T59" fmla="*/ 3 h 16"/>
                  <a:gd name="T60" fmla="*/ 21 w 35"/>
                  <a:gd name="T61" fmla="*/ 3 h 16"/>
                  <a:gd name="T62" fmla="*/ 25 w 35"/>
                  <a:gd name="T63" fmla="*/ 2 h 16"/>
                  <a:gd name="T64" fmla="*/ 29 w 35"/>
                  <a:gd name="T65" fmla="*/ 2 h 16"/>
                  <a:gd name="T66" fmla="*/ 32 w 35"/>
                  <a:gd name="T67" fmla="*/ 2 h 16"/>
                  <a:gd name="T68" fmla="*/ 35 w 35"/>
                  <a:gd name="T69" fmla="*/ 2 h 16"/>
                  <a:gd name="T70" fmla="*/ 35 w 35"/>
                  <a:gd name="T71" fmla="*/ 0 h 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5"/>
                  <a:gd name="T109" fmla="*/ 0 h 16"/>
                  <a:gd name="T110" fmla="*/ 35 w 35"/>
                  <a:gd name="T111" fmla="*/ 16 h 1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5" h="16">
                    <a:moveTo>
                      <a:pt x="35" y="0"/>
                    </a:moveTo>
                    <a:lnTo>
                      <a:pt x="35" y="0"/>
                    </a:lnTo>
                    <a:lnTo>
                      <a:pt x="32" y="0"/>
                    </a:lnTo>
                    <a:lnTo>
                      <a:pt x="29" y="0"/>
                    </a:lnTo>
                    <a:lnTo>
                      <a:pt x="25" y="1"/>
                    </a:lnTo>
                    <a:lnTo>
                      <a:pt x="21" y="1"/>
                    </a:lnTo>
                    <a:lnTo>
                      <a:pt x="19" y="2"/>
                    </a:lnTo>
                    <a:lnTo>
                      <a:pt x="16" y="2"/>
                    </a:lnTo>
                    <a:lnTo>
                      <a:pt x="14" y="3"/>
                    </a:lnTo>
                    <a:lnTo>
                      <a:pt x="11" y="5"/>
                    </a:lnTo>
                    <a:lnTo>
                      <a:pt x="8" y="6"/>
                    </a:lnTo>
                    <a:lnTo>
                      <a:pt x="7" y="7"/>
                    </a:lnTo>
                    <a:lnTo>
                      <a:pt x="4" y="9"/>
                    </a:lnTo>
                    <a:lnTo>
                      <a:pt x="3" y="10"/>
                    </a:lnTo>
                    <a:lnTo>
                      <a:pt x="1" y="12"/>
                    </a:lnTo>
                    <a:lnTo>
                      <a:pt x="1" y="13"/>
                    </a:lnTo>
                    <a:lnTo>
                      <a:pt x="0" y="15"/>
                    </a:lnTo>
                    <a:lnTo>
                      <a:pt x="0" y="16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3" y="13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8" y="9"/>
                    </a:lnTo>
                    <a:lnTo>
                      <a:pt x="9" y="7"/>
                    </a:lnTo>
                    <a:lnTo>
                      <a:pt x="11" y="7"/>
                    </a:lnTo>
                    <a:lnTo>
                      <a:pt x="14" y="6"/>
                    </a:lnTo>
                    <a:lnTo>
                      <a:pt x="16" y="5"/>
                    </a:lnTo>
                    <a:lnTo>
                      <a:pt x="19" y="3"/>
                    </a:lnTo>
                    <a:lnTo>
                      <a:pt x="21" y="3"/>
                    </a:lnTo>
                    <a:lnTo>
                      <a:pt x="25" y="2"/>
                    </a:lnTo>
                    <a:lnTo>
                      <a:pt x="29" y="2"/>
                    </a:lnTo>
                    <a:lnTo>
                      <a:pt x="32" y="2"/>
                    </a:lnTo>
                    <a:lnTo>
                      <a:pt x="35" y="2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42" name="Freeform 986"/>
              <p:cNvSpPr>
                <a:spLocks/>
              </p:cNvSpPr>
              <p:nvPr/>
            </p:nvSpPr>
            <p:spPr bwMode="auto">
              <a:xfrm>
                <a:off x="3115" y="1867"/>
                <a:ext cx="35" cy="16"/>
              </a:xfrm>
              <a:custGeom>
                <a:avLst/>
                <a:gdLst>
                  <a:gd name="T0" fmla="*/ 35 w 35"/>
                  <a:gd name="T1" fmla="*/ 16 h 16"/>
                  <a:gd name="T2" fmla="*/ 35 w 35"/>
                  <a:gd name="T3" fmla="*/ 16 h 16"/>
                  <a:gd name="T4" fmla="*/ 35 w 35"/>
                  <a:gd name="T5" fmla="*/ 15 h 16"/>
                  <a:gd name="T6" fmla="*/ 33 w 35"/>
                  <a:gd name="T7" fmla="*/ 13 h 16"/>
                  <a:gd name="T8" fmla="*/ 32 w 35"/>
                  <a:gd name="T9" fmla="*/ 12 h 16"/>
                  <a:gd name="T10" fmla="*/ 31 w 35"/>
                  <a:gd name="T11" fmla="*/ 10 h 16"/>
                  <a:gd name="T12" fmla="*/ 30 w 35"/>
                  <a:gd name="T13" fmla="*/ 9 h 16"/>
                  <a:gd name="T14" fmla="*/ 28 w 35"/>
                  <a:gd name="T15" fmla="*/ 7 h 16"/>
                  <a:gd name="T16" fmla="*/ 27 w 35"/>
                  <a:gd name="T17" fmla="*/ 6 h 16"/>
                  <a:gd name="T18" fmla="*/ 25 w 35"/>
                  <a:gd name="T19" fmla="*/ 5 h 16"/>
                  <a:gd name="T20" fmla="*/ 22 w 35"/>
                  <a:gd name="T21" fmla="*/ 3 h 16"/>
                  <a:gd name="T22" fmla="*/ 20 w 35"/>
                  <a:gd name="T23" fmla="*/ 2 h 16"/>
                  <a:gd name="T24" fmla="*/ 17 w 35"/>
                  <a:gd name="T25" fmla="*/ 2 h 16"/>
                  <a:gd name="T26" fmla="*/ 13 w 35"/>
                  <a:gd name="T27" fmla="*/ 1 h 16"/>
                  <a:gd name="T28" fmla="*/ 10 w 35"/>
                  <a:gd name="T29" fmla="*/ 1 h 16"/>
                  <a:gd name="T30" fmla="*/ 7 w 35"/>
                  <a:gd name="T31" fmla="*/ 0 h 16"/>
                  <a:gd name="T32" fmla="*/ 4 w 35"/>
                  <a:gd name="T33" fmla="*/ 0 h 16"/>
                  <a:gd name="T34" fmla="*/ 0 w 35"/>
                  <a:gd name="T35" fmla="*/ 0 h 16"/>
                  <a:gd name="T36" fmla="*/ 0 w 35"/>
                  <a:gd name="T37" fmla="*/ 2 h 16"/>
                  <a:gd name="T38" fmla="*/ 4 w 35"/>
                  <a:gd name="T39" fmla="*/ 2 h 16"/>
                  <a:gd name="T40" fmla="*/ 7 w 35"/>
                  <a:gd name="T41" fmla="*/ 2 h 16"/>
                  <a:gd name="T42" fmla="*/ 10 w 35"/>
                  <a:gd name="T43" fmla="*/ 2 h 16"/>
                  <a:gd name="T44" fmla="*/ 13 w 35"/>
                  <a:gd name="T45" fmla="*/ 3 h 16"/>
                  <a:gd name="T46" fmla="*/ 15 w 35"/>
                  <a:gd name="T47" fmla="*/ 3 h 16"/>
                  <a:gd name="T48" fmla="*/ 20 w 35"/>
                  <a:gd name="T49" fmla="*/ 5 h 16"/>
                  <a:gd name="T50" fmla="*/ 22 w 35"/>
                  <a:gd name="T51" fmla="*/ 6 h 16"/>
                  <a:gd name="T52" fmla="*/ 24 w 35"/>
                  <a:gd name="T53" fmla="*/ 7 h 16"/>
                  <a:gd name="T54" fmla="*/ 26 w 35"/>
                  <a:gd name="T55" fmla="*/ 7 h 16"/>
                  <a:gd name="T56" fmla="*/ 27 w 35"/>
                  <a:gd name="T57" fmla="*/ 9 h 16"/>
                  <a:gd name="T58" fmla="*/ 29 w 35"/>
                  <a:gd name="T59" fmla="*/ 10 h 16"/>
                  <a:gd name="T60" fmla="*/ 30 w 35"/>
                  <a:gd name="T61" fmla="*/ 11 h 16"/>
                  <a:gd name="T62" fmla="*/ 31 w 35"/>
                  <a:gd name="T63" fmla="*/ 13 h 16"/>
                  <a:gd name="T64" fmla="*/ 32 w 35"/>
                  <a:gd name="T65" fmla="*/ 14 h 16"/>
                  <a:gd name="T66" fmla="*/ 32 w 35"/>
                  <a:gd name="T67" fmla="*/ 15 h 16"/>
                  <a:gd name="T68" fmla="*/ 32 w 35"/>
                  <a:gd name="T69" fmla="*/ 16 h 16"/>
                  <a:gd name="T70" fmla="*/ 35 w 35"/>
                  <a:gd name="T71" fmla="*/ 16 h 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5"/>
                  <a:gd name="T109" fmla="*/ 0 h 16"/>
                  <a:gd name="T110" fmla="*/ 35 w 35"/>
                  <a:gd name="T111" fmla="*/ 16 h 1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5" h="16">
                    <a:moveTo>
                      <a:pt x="35" y="16"/>
                    </a:moveTo>
                    <a:lnTo>
                      <a:pt x="35" y="16"/>
                    </a:lnTo>
                    <a:lnTo>
                      <a:pt x="35" y="15"/>
                    </a:lnTo>
                    <a:lnTo>
                      <a:pt x="33" y="13"/>
                    </a:lnTo>
                    <a:lnTo>
                      <a:pt x="32" y="12"/>
                    </a:lnTo>
                    <a:lnTo>
                      <a:pt x="31" y="10"/>
                    </a:lnTo>
                    <a:lnTo>
                      <a:pt x="30" y="9"/>
                    </a:lnTo>
                    <a:lnTo>
                      <a:pt x="28" y="7"/>
                    </a:lnTo>
                    <a:lnTo>
                      <a:pt x="27" y="6"/>
                    </a:lnTo>
                    <a:lnTo>
                      <a:pt x="25" y="5"/>
                    </a:lnTo>
                    <a:lnTo>
                      <a:pt x="22" y="3"/>
                    </a:lnTo>
                    <a:lnTo>
                      <a:pt x="20" y="2"/>
                    </a:lnTo>
                    <a:lnTo>
                      <a:pt x="17" y="2"/>
                    </a:lnTo>
                    <a:lnTo>
                      <a:pt x="13" y="1"/>
                    </a:lnTo>
                    <a:lnTo>
                      <a:pt x="10" y="1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4" y="2"/>
                    </a:lnTo>
                    <a:lnTo>
                      <a:pt x="7" y="2"/>
                    </a:lnTo>
                    <a:lnTo>
                      <a:pt x="10" y="2"/>
                    </a:lnTo>
                    <a:lnTo>
                      <a:pt x="13" y="3"/>
                    </a:lnTo>
                    <a:lnTo>
                      <a:pt x="15" y="3"/>
                    </a:lnTo>
                    <a:lnTo>
                      <a:pt x="20" y="5"/>
                    </a:lnTo>
                    <a:lnTo>
                      <a:pt x="22" y="6"/>
                    </a:lnTo>
                    <a:lnTo>
                      <a:pt x="24" y="7"/>
                    </a:lnTo>
                    <a:lnTo>
                      <a:pt x="26" y="7"/>
                    </a:lnTo>
                    <a:lnTo>
                      <a:pt x="27" y="9"/>
                    </a:lnTo>
                    <a:lnTo>
                      <a:pt x="29" y="10"/>
                    </a:lnTo>
                    <a:lnTo>
                      <a:pt x="30" y="11"/>
                    </a:lnTo>
                    <a:lnTo>
                      <a:pt x="31" y="13"/>
                    </a:lnTo>
                    <a:lnTo>
                      <a:pt x="32" y="14"/>
                    </a:lnTo>
                    <a:lnTo>
                      <a:pt x="32" y="15"/>
                    </a:lnTo>
                    <a:lnTo>
                      <a:pt x="32" y="16"/>
                    </a:lnTo>
                    <a:lnTo>
                      <a:pt x="35" y="1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43" name="Freeform 987"/>
              <p:cNvSpPr>
                <a:spLocks/>
              </p:cNvSpPr>
              <p:nvPr/>
            </p:nvSpPr>
            <p:spPr bwMode="auto">
              <a:xfrm>
                <a:off x="3142" y="1883"/>
                <a:ext cx="8" cy="12"/>
              </a:xfrm>
              <a:custGeom>
                <a:avLst/>
                <a:gdLst>
                  <a:gd name="T0" fmla="*/ 6 w 8"/>
                  <a:gd name="T1" fmla="*/ 11 h 12"/>
                  <a:gd name="T2" fmla="*/ 6 w 8"/>
                  <a:gd name="T3" fmla="*/ 11 h 12"/>
                  <a:gd name="T4" fmla="*/ 3 w 8"/>
                  <a:gd name="T5" fmla="*/ 8 h 12"/>
                  <a:gd name="T6" fmla="*/ 2 w 8"/>
                  <a:gd name="T7" fmla="*/ 7 h 12"/>
                  <a:gd name="T8" fmla="*/ 2 w 8"/>
                  <a:gd name="T9" fmla="*/ 6 h 12"/>
                  <a:gd name="T10" fmla="*/ 3 w 8"/>
                  <a:gd name="T11" fmla="*/ 6 h 12"/>
                  <a:gd name="T12" fmla="*/ 5 w 8"/>
                  <a:gd name="T13" fmla="*/ 5 h 12"/>
                  <a:gd name="T14" fmla="*/ 6 w 8"/>
                  <a:gd name="T15" fmla="*/ 2 h 12"/>
                  <a:gd name="T16" fmla="*/ 8 w 8"/>
                  <a:gd name="T17" fmla="*/ 0 h 12"/>
                  <a:gd name="T18" fmla="*/ 5 w 8"/>
                  <a:gd name="T19" fmla="*/ 0 h 12"/>
                  <a:gd name="T20" fmla="*/ 5 w 8"/>
                  <a:gd name="T21" fmla="*/ 2 h 12"/>
                  <a:gd name="T22" fmla="*/ 4 w 8"/>
                  <a:gd name="T23" fmla="*/ 4 h 12"/>
                  <a:gd name="T24" fmla="*/ 2 w 8"/>
                  <a:gd name="T25" fmla="*/ 4 h 12"/>
                  <a:gd name="T26" fmla="*/ 1 w 8"/>
                  <a:gd name="T27" fmla="*/ 5 h 12"/>
                  <a:gd name="T28" fmla="*/ 0 w 8"/>
                  <a:gd name="T29" fmla="*/ 6 h 12"/>
                  <a:gd name="T30" fmla="*/ 0 w 8"/>
                  <a:gd name="T31" fmla="*/ 7 h 12"/>
                  <a:gd name="T32" fmla="*/ 2 w 8"/>
                  <a:gd name="T33" fmla="*/ 9 h 12"/>
                  <a:gd name="T34" fmla="*/ 5 w 8"/>
                  <a:gd name="T35" fmla="*/ 12 h 12"/>
                  <a:gd name="T36" fmla="*/ 6 w 8"/>
                  <a:gd name="T37" fmla="*/ 11 h 1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"/>
                  <a:gd name="T58" fmla="*/ 0 h 12"/>
                  <a:gd name="T59" fmla="*/ 8 w 8"/>
                  <a:gd name="T60" fmla="*/ 12 h 1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" h="12">
                    <a:moveTo>
                      <a:pt x="6" y="11"/>
                    </a:moveTo>
                    <a:lnTo>
                      <a:pt x="6" y="11"/>
                    </a:lnTo>
                    <a:lnTo>
                      <a:pt x="3" y="8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3" y="6"/>
                    </a:lnTo>
                    <a:lnTo>
                      <a:pt x="5" y="5"/>
                    </a:lnTo>
                    <a:lnTo>
                      <a:pt x="6" y="2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5" y="2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5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2" y="9"/>
                    </a:lnTo>
                    <a:lnTo>
                      <a:pt x="5" y="12"/>
                    </a:lnTo>
                    <a:lnTo>
                      <a:pt x="6" y="11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44" name="Freeform 988"/>
              <p:cNvSpPr>
                <a:spLocks/>
              </p:cNvSpPr>
              <p:nvPr/>
            </p:nvSpPr>
            <p:spPr bwMode="auto">
              <a:xfrm>
                <a:off x="3145" y="1894"/>
                <a:ext cx="11" cy="78"/>
              </a:xfrm>
              <a:custGeom>
                <a:avLst/>
                <a:gdLst>
                  <a:gd name="T0" fmla="*/ 1 w 11"/>
                  <a:gd name="T1" fmla="*/ 78 h 78"/>
                  <a:gd name="T2" fmla="*/ 1 w 11"/>
                  <a:gd name="T3" fmla="*/ 78 h 78"/>
                  <a:gd name="T4" fmla="*/ 6 w 11"/>
                  <a:gd name="T5" fmla="*/ 74 h 78"/>
                  <a:gd name="T6" fmla="*/ 8 w 11"/>
                  <a:gd name="T7" fmla="*/ 65 h 78"/>
                  <a:gd name="T8" fmla="*/ 10 w 11"/>
                  <a:gd name="T9" fmla="*/ 53 h 78"/>
                  <a:gd name="T10" fmla="*/ 11 w 11"/>
                  <a:gd name="T11" fmla="*/ 41 h 78"/>
                  <a:gd name="T12" fmla="*/ 11 w 11"/>
                  <a:gd name="T13" fmla="*/ 28 h 78"/>
                  <a:gd name="T14" fmla="*/ 10 w 11"/>
                  <a:gd name="T15" fmla="*/ 16 h 78"/>
                  <a:gd name="T16" fmla="*/ 8 w 11"/>
                  <a:gd name="T17" fmla="*/ 6 h 78"/>
                  <a:gd name="T18" fmla="*/ 3 w 11"/>
                  <a:gd name="T19" fmla="*/ 0 h 78"/>
                  <a:gd name="T20" fmla="*/ 2 w 11"/>
                  <a:gd name="T21" fmla="*/ 1 h 78"/>
                  <a:gd name="T22" fmla="*/ 6 w 11"/>
                  <a:gd name="T23" fmla="*/ 6 h 78"/>
                  <a:gd name="T24" fmla="*/ 8 w 11"/>
                  <a:gd name="T25" fmla="*/ 17 h 78"/>
                  <a:gd name="T26" fmla="*/ 9 w 11"/>
                  <a:gd name="T27" fmla="*/ 28 h 78"/>
                  <a:gd name="T28" fmla="*/ 9 w 11"/>
                  <a:gd name="T29" fmla="*/ 41 h 78"/>
                  <a:gd name="T30" fmla="*/ 8 w 11"/>
                  <a:gd name="T31" fmla="*/ 53 h 78"/>
                  <a:gd name="T32" fmla="*/ 6 w 11"/>
                  <a:gd name="T33" fmla="*/ 65 h 78"/>
                  <a:gd name="T34" fmla="*/ 2 w 11"/>
                  <a:gd name="T35" fmla="*/ 73 h 78"/>
                  <a:gd name="T36" fmla="*/ 0 w 11"/>
                  <a:gd name="T37" fmla="*/ 77 h 78"/>
                  <a:gd name="T38" fmla="*/ 1 w 11"/>
                  <a:gd name="T39" fmla="*/ 78 h 7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"/>
                  <a:gd name="T61" fmla="*/ 0 h 78"/>
                  <a:gd name="T62" fmla="*/ 11 w 11"/>
                  <a:gd name="T63" fmla="*/ 78 h 7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" h="78">
                    <a:moveTo>
                      <a:pt x="1" y="78"/>
                    </a:moveTo>
                    <a:lnTo>
                      <a:pt x="1" y="78"/>
                    </a:lnTo>
                    <a:lnTo>
                      <a:pt x="6" y="74"/>
                    </a:lnTo>
                    <a:lnTo>
                      <a:pt x="8" y="65"/>
                    </a:lnTo>
                    <a:lnTo>
                      <a:pt x="10" y="53"/>
                    </a:lnTo>
                    <a:lnTo>
                      <a:pt x="11" y="41"/>
                    </a:lnTo>
                    <a:lnTo>
                      <a:pt x="11" y="28"/>
                    </a:lnTo>
                    <a:lnTo>
                      <a:pt x="10" y="16"/>
                    </a:lnTo>
                    <a:lnTo>
                      <a:pt x="8" y="6"/>
                    </a:lnTo>
                    <a:lnTo>
                      <a:pt x="3" y="0"/>
                    </a:lnTo>
                    <a:lnTo>
                      <a:pt x="2" y="1"/>
                    </a:lnTo>
                    <a:lnTo>
                      <a:pt x="6" y="6"/>
                    </a:lnTo>
                    <a:lnTo>
                      <a:pt x="8" y="17"/>
                    </a:lnTo>
                    <a:lnTo>
                      <a:pt x="9" y="28"/>
                    </a:lnTo>
                    <a:lnTo>
                      <a:pt x="9" y="41"/>
                    </a:lnTo>
                    <a:lnTo>
                      <a:pt x="8" y="53"/>
                    </a:lnTo>
                    <a:lnTo>
                      <a:pt x="6" y="65"/>
                    </a:lnTo>
                    <a:lnTo>
                      <a:pt x="2" y="73"/>
                    </a:lnTo>
                    <a:lnTo>
                      <a:pt x="0" y="77"/>
                    </a:lnTo>
                    <a:lnTo>
                      <a:pt x="1" y="78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45" name="Freeform 989"/>
              <p:cNvSpPr>
                <a:spLocks/>
              </p:cNvSpPr>
              <p:nvPr/>
            </p:nvSpPr>
            <p:spPr bwMode="auto">
              <a:xfrm>
                <a:off x="3348" y="1912"/>
                <a:ext cx="36" cy="34"/>
              </a:xfrm>
              <a:custGeom>
                <a:avLst/>
                <a:gdLst>
                  <a:gd name="T0" fmla="*/ 17 w 36"/>
                  <a:gd name="T1" fmla="*/ 34 h 34"/>
                  <a:gd name="T2" fmla="*/ 22 w 36"/>
                  <a:gd name="T3" fmla="*/ 34 h 34"/>
                  <a:gd name="T4" fmla="*/ 24 w 36"/>
                  <a:gd name="T5" fmla="*/ 33 h 34"/>
                  <a:gd name="T6" fmla="*/ 27 w 36"/>
                  <a:gd name="T7" fmla="*/ 31 h 34"/>
                  <a:gd name="T8" fmla="*/ 29 w 36"/>
                  <a:gd name="T9" fmla="*/ 30 h 34"/>
                  <a:gd name="T10" fmla="*/ 32 w 36"/>
                  <a:gd name="T11" fmla="*/ 26 h 34"/>
                  <a:gd name="T12" fmla="*/ 35 w 36"/>
                  <a:gd name="T13" fmla="*/ 24 h 34"/>
                  <a:gd name="T14" fmla="*/ 36 w 36"/>
                  <a:gd name="T15" fmla="*/ 20 h 34"/>
                  <a:gd name="T16" fmla="*/ 36 w 36"/>
                  <a:gd name="T17" fmla="*/ 17 h 34"/>
                  <a:gd name="T18" fmla="*/ 36 w 36"/>
                  <a:gd name="T19" fmla="*/ 14 h 34"/>
                  <a:gd name="T20" fmla="*/ 35 w 36"/>
                  <a:gd name="T21" fmla="*/ 10 h 34"/>
                  <a:gd name="T22" fmla="*/ 32 w 36"/>
                  <a:gd name="T23" fmla="*/ 8 h 34"/>
                  <a:gd name="T24" fmla="*/ 29 w 36"/>
                  <a:gd name="T25" fmla="*/ 4 h 34"/>
                  <a:gd name="T26" fmla="*/ 27 w 36"/>
                  <a:gd name="T27" fmla="*/ 3 h 34"/>
                  <a:gd name="T28" fmla="*/ 24 w 36"/>
                  <a:gd name="T29" fmla="*/ 1 h 34"/>
                  <a:gd name="T30" fmla="*/ 22 w 36"/>
                  <a:gd name="T31" fmla="*/ 0 h 34"/>
                  <a:gd name="T32" fmla="*/ 17 w 36"/>
                  <a:gd name="T33" fmla="*/ 0 h 34"/>
                  <a:gd name="T34" fmla="*/ 13 w 36"/>
                  <a:gd name="T35" fmla="*/ 0 h 34"/>
                  <a:gd name="T36" fmla="*/ 11 w 36"/>
                  <a:gd name="T37" fmla="*/ 1 h 34"/>
                  <a:gd name="T38" fmla="*/ 8 w 36"/>
                  <a:gd name="T39" fmla="*/ 3 h 34"/>
                  <a:gd name="T40" fmla="*/ 6 w 36"/>
                  <a:gd name="T41" fmla="*/ 4 h 34"/>
                  <a:gd name="T42" fmla="*/ 4 w 36"/>
                  <a:gd name="T43" fmla="*/ 8 h 34"/>
                  <a:gd name="T44" fmla="*/ 1 w 36"/>
                  <a:gd name="T45" fmla="*/ 10 h 34"/>
                  <a:gd name="T46" fmla="*/ 0 w 36"/>
                  <a:gd name="T47" fmla="*/ 14 h 34"/>
                  <a:gd name="T48" fmla="*/ 0 w 36"/>
                  <a:gd name="T49" fmla="*/ 17 h 34"/>
                  <a:gd name="T50" fmla="*/ 0 w 36"/>
                  <a:gd name="T51" fmla="*/ 20 h 34"/>
                  <a:gd name="T52" fmla="*/ 1 w 36"/>
                  <a:gd name="T53" fmla="*/ 24 h 34"/>
                  <a:gd name="T54" fmla="*/ 4 w 36"/>
                  <a:gd name="T55" fmla="*/ 26 h 34"/>
                  <a:gd name="T56" fmla="*/ 6 w 36"/>
                  <a:gd name="T57" fmla="*/ 30 h 34"/>
                  <a:gd name="T58" fmla="*/ 8 w 36"/>
                  <a:gd name="T59" fmla="*/ 31 h 34"/>
                  <a:gd name="T60" fmla="*/ 11 w 36"/>
                  <a:gd name="T61" fmla="*/ 33 h 34"/>
                  <a:gd name="T62" fmla="*/ 13 w 36"/>
                  <a:gd name="T63" fmla="*/ 34 h 34"/>
                  <a:gd name="T64" fmla="*/ 17 w 36"/>
                  <a:gd name="T65" fmla="*/ 34 h 3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6"/>
                  <a:gd name="T100" fmla="*/ 0 h 34"/>
                  <a:gd name="T101" fmla="*/ 36 w 36"/>
                  <a:gd name="T102" fmla="*/ 34 h 3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6" h="34">
                    <a:moveTo>
                      <a:pt x="17" y="34"/>
                    </a:moveTo>
                    <a:lnTo>
                      <a:pt x="22" y="34"/>
                    </a:lnTo>
                    <a:lnTo>
                      <a:pt x="24" y="33"/>
                    </a:lnTo>
                    <a:lnTo>
                      <a:pt x="27" y="31"/>
                    </a:lnTo>
                    <a:lnTo>
                      <a:pt x="29" y="30"/>
                    </a:lnTo>
                    <a:lnTo>
                      <a:pt x="32" y="26"/>
                    </a:lnTo>
                    <a:lnTo>
                      <a:pt x="35" y="24"/>
                    </a:lnTo>
                    <a:lnTo>
                      <a:pt x="36" y="20"/>
                    </a:lnTo>
                    <a:lnTo>
                      <a:pt x="36" y="17"/>
                    </a:lnTo>
                    <a:lnTo>
                      <a:pt x="36" y="14"/>
                    </a:lnTo>
                    <a:lnTo>
                      <a:pt x="35" y="10"/>
                    </a:lnTo>
                    <a:lnTo>
                      <a:pt x="32" y="8"/>
                    </a:lnTo>
                    <a:lnTo>
                      <a:pt x="29" y="4"/>
                    </a:lnTo>
                    <a:lnTo>
                      <a:pt x="27" y="3"/>
                    </a:lnTo>
                    <a:lnTo>
                      <a:pt x="24" y="1"/>
                    </a:lnTo>
                    <a:lnTo>
                      <a:pt x="22" y="0"/>
                    </a:lnTo>
                    <a:lnTo>
                      <a:pt x="17" y="0"/>
                    </a:lnTo>
                    <a:lnTo>
                      <a:pt x="13" y="0"/>
                    </a:lnTo>
                    <a:lnTo>
                      <a:pt x="11" y="1"/>
                    </a:lnTo>
                    <a:lnTo>
                      <a:pt x="8" y="3"/>
                    </a:lnTo>
                    <a:lnTo>
                      <a:pt x="6" y="4"/>
                    </a:lnTo>
                    <a:lnTo>
                      <a:pt x="4" y="8"/>
                    </a:lnTo>
                    <a:lnTo>
                      <a:pt x="1" y="10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0" y="20"/>
                    </a:lnTo>
                    <a:lnTo>
                      <a:pt x="1" y="24"/>
                    </a:lnTo>
                    <a:lnTo>
                      <a:pt x="4" y="26"/>
                    </a:lnTo>
                    <a:lnTo>
                      <a:pt x="6" y="30"/>
                    </a:lnTo>
                    <a:lnTo>
                      <a:pt x="8" y="31"/>
                    </a:lnTo>
                    <a:lnTo>
                      <a:pt x="11" y="33"/>
                    </a:lnTo>
                    <a:lnTo>
                      <a:pt x="13" y="34"/>
                    </a:lnTo>
                    <a:lnTo>
                      <a:pt x="17" y="34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146" name="Freeform 990"/>
              <p:cNvSpPr>
                <a:spLocks/>
              </p:cNvSpPr>
              <p:nvPr/>
            </p:nvSpPr>
            <p:spPr bwMode="auto">
              <a:xfrm>
                <a:off x="3156" y="1912"/>
                <a:ext cx="209" cy="34"/>
              </a:xfrm>
              <a:custGeom>
                <a:avLst/>
                <a:gdLst>
                  <a:gd name="T0" fmla="*/ 209 w 209"/>
                  <a:gd name="T1" fmla="*/ 0 h 34"/>
                  <a:gd name="T2" fmla="*/ 0 w 209"/>
                  <a:gd name="T3" fmla="*/ 10 h 34"/>
                  <a:gd name="T4" fmla="*/ 0 w 209"/>
                  <a:gd name="T5" fmla="*/ 26 h 34"/>
                  <a:gd name="T6" fmla="*/ 209 w 209"/>
                  <a:gd name="T7" fmla="*/ 34 h 34"/>
                  <a:gd name="T8" fmla="*/ 209 w 209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9"/>
                  <a:gd name="T16" fmla="*/ 0 h 34"/>
                  <a:gd name="T17" fmla="*/ 209 w 209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9" h="34">
                    <a:moveTo>
                      <a:pt x="209" y="0"/>
                    </a:moveTo>
                    <a:lnTo>
                      <a:pt x="0" y="10"/>
                    </a:lnTo>
                    <a:lnTo>
                      <a:pt x="0" y="26"/>
                    </a:lnTo>
                    <a:lnTo>
                      <a:pt x="209" y="34"/>
                    </a:lnTo>
                    <a:lnTo>
                      <a:pt x="209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4934" name="Rectangle 991"/>
            <p:cNvSpPr>
              <a:spLocks noChangeArrowheads="1"/>
            </p:cNvSpPr>
            <p:nvPr/>
          </p:nvSpPr>
          <p:spPr bwMode="auto">
            <a:xfrm>
              <a:off x="3440" y="2687"/>
              <a:ext cx="323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Selection</a:t>
              </a:r>
              <a:endParaRPr lang="en-US" sz="1000" b="0">
                <a:latin typeface="Times New Roman" pitchFamily="18" charset="0"/>
              </a:endParaRPr>
            </a:p>
          </p:txBody>
        </p:sp>
        <p:sp>
          <p:nvSpPr>
            <p:cNvPr id="24935" name="Rectangle 992"/>
            <p:cNvSpPr>
              <a:spLocks noChangeArrowheads="1"/>
            </p:cNvSpPr>
            <p:nvPr/>
          </p:nvSpPr>
          <p:spPr bwMode="auto">
            <a:xfrm>
              <a:off x="2258" y="2721"/>
              <a:ext cx="603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Risk Assessment</a:t>
              </a:r>
              <a:endParaRPr lang="en-US" sz="1000" b="0">
                <a:latin typeface="Times New Roman" pitchFamily="18" charset="0"/>
              </a:endParaRPr>
            </a:p>
          </p:txBody>
        </p:sp>
        <p:grpSp>
          <p:nvGrpSpPr>
            <p:cNvPr id="24936" name="Group 993"/>
            <p:cNvGrpSpPr>
              <a:grpSpLocks/>
            </p:cNvGrpSpPr>
            <p:nvPr/>
          </p:nvGrpSpPr>
          <p:grpSpPr bwMode="auto">
            <a:xfrm>
              <a:off x="2372" y="2391"/>
              <a:ext cx="312" cy="302"/>
              <a:chOff x="2028" y="1892"/>
              <a:chExt cx="263" cy="282"/>
            </a:xfrm>
          </p:grpSpPr>
          <p:sp>
            <p:nvSpPr>
              <p:cNvPr id="25038" name="Freeform 994"/>
              <p:cNvSpPr>
                <a:spLocks/>
              </p:cNvSpPr>
              <p:nvPr/>
            </p:nvSpPr>
            <p:spPr bwMode="auto">
              <a:xfrm>
                <a:off x="2028" y="1892"/>
                <a:ext cx="263" cy="282"/>
              </a:xfrm>
              <a:custGeom>
                <a:avLst/>
                <a:gdLst>
                  <a:gd name="T0" fmla="*/ 24 w 263"/>
                  <a:gd name="T1" fmla="*/ 282 h 282"/>
                  <a:gd name="T2" fmla="*/ 239 w 263"/>
                  <a:gd name="T3" fmla="*/ 282 h 282"/>
                  <a:gd name="T4" fmla="*/ 239 w 263"/>
                  <a:gd name="T5" fmla="*/ 255 h 282"/>
                  <a:gd name="T6" fmla="*/ 263 w 263"/>
                  <a:gd name="T7" fmla="*/ 255 h 282"/>
                  <a:gd name="T8" fmla="*/ 263 w 263"/>
                  <a:gd name="T9" fmla="*/ 27 h 282"/>
                  <a:gd name="T10" fmla="*/ 239 w 263"/>
                  <a:gd name="T11" fmla="*/ 27 h 282"/>
                  <a:gd name="T12" fmla="*/ 239 w 263"/>
                  <a:gd name="T13" fmla="*/ 0 h 282"/>
                  <a:gd name="T14" fmla="*/ 24 w 263"/>
                  <a:gd name="T15" fmla="*/ 0 h 282"/>
                  <a:gd name="T16" fmla="*/ 24 w 263"/>
                  <a:gd name="T17" fmla="*/ 27 h 282"/>
                  <a:gd name="T18" fmla="*/ 0 w 263"/>
                  <a:gd name="T19" fmla="*/ 27 h 282"/>
                  <a:gd name="T20" fmla="*/ 0 w 263"/>
                  <a:gd name="T21" fmla="*/ 255 h 282"/>
                  <a:gd name="T22" fmla="*/ 24 w 263"/>
                  <a:gd name="T23" fmla="*/ 255 h 282"/>
                  <a:gd name="T24" fmla="*/ 24 w 263"/>
                  <a:gd name="T25" fmla="*/ 282 h 282"/>
                  <a:gd name="T26" fmla="*/ 24 w 263"/>
                  <a:gd name="T27" fmla="*/ 282 h 28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63"/>
                  <a:gd name="T43" fmla="*/ 0 h 282"/>
                  <a:gd name="T44" fmla="*/ 263 w 263"/>
                  <a:gd name="T45" fmla="*/ 282 h 28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63" h="282">
                    <a:moveTo>
                      <a:pt x="24" y="282"/>
                    </a:moveTo>
                    <a:lnTo>
                      <a:pt x="239" y="282"/>
                    </a:lnTo>
                    <a:lnTo>
                      <a:pt x="239" y="255"/>
                    </a:lnTo>
                    <a:lnTo>
                      <a:pt x="263" y="255"/>
                    </a:lnTo>
                    <a:lnTo>
                      <a:pt x="263" y="27"/>
                    </a:lnTo>
                    <a:lnTo>
                      <a:pt x="239" y="27"/>
                    </a:lnTo>
                    <a:lnTo>
                      <a:pt x="239" y="0"/>
                    </a:lnTo>
                    <a:lnTo>
                      <a:pt x="24" y="0"/>
                    </a:lnTo>
                    <a:lnTo>
                      <a:pt x="24" y="27"/>
                    </a:lnTo>
                    <a:lnTo>
                      <a:pt x="0" y="27"/>
                    </a:lnTo>
                    <a:lnTo>
                      <a:pt x="0" y="255"/>
                    </a:lnTo>
                    <a:lnTo>
                      <a:pt x="24" y="255"/>
                    </a:lnTo>
                    <a:lnTo>
                      <a:pt x="24" y="28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39" name="Freeform 995"/>
              <p:cNvSpPr>
                <a:spLocks/>
              </p:cNvSpPr>
              <p:nvPr/>
            </p:nvSpPr>
            <p:spPr bwMode="auto">
              <a:xfrm>
                <a:off x="2028" y="1892"/>
                <a:ext cx="263" cy="282"/>
              </a:xfrm>
              <a:custGeom>
                <a:avLst/>
                <a:gdLst>
                  <a:gd name="T0" fmla="*/ 24 w 263"/>
                  <a:gd name="T1" fmla="*/ 282 h 282"/>
                  <a:gd name="T2" fmla="*/ 239 w 263"/>
                  <a:gd name="T3" fmla="*/ 282 h 282"/>
                  <a:gd name="T4" fmla="*/ 239 w 263"/>
                  <a:gd name="T5" fmla="*/ 255 h 282"/>
                  <a:gd name="T6" fmla="*/ 263 w 263"/>
                  <a:gd name="T7" fmla="*/ 255 h 282"/>
                  <a:gd name="T8" fmla="*/ 263 w 263"/>
                  <a:gd name="T9" fmla="*/ 27 h 282"/>
                  <a:gd name="T10" fmla="*/ 239 w 263"/>
                  <a:gd name="T11" fmla="*/ 27 h 282"/>
                  <a:gd name="T12" fmla="*/ 239 w 263"/>
                  <a:gd name="T13" fmla="*/ 0 h 282"/>
                  <a:gd name="T14" fmla="*/ 24 w 263"/>
                  <a:gd name="T15" fmla="*/ 0 h 282"/>
                  <a:gd name="T16" fmla="*/ 24 w 263"/>
                  <a:gd name="T17" fmla="*/ 27 h 282"/>
                  <a:gd name="T18" fmla="*/ 0 w 263"/>
                  <a:gd name="T19" fmla="*/ 27 h 282"/>
                  <a:gd name="T20" fmla="*/ 0 w 263"/>
                  <a:gd name="T21" fmla="*/ 255 h 282"/>
                  <a:gd name="T22" fmla="*/ 24 w 263"/>
                  <a:gd name="T23" fmla="*/ 255 h 282"/>
                  <a:gd name="T24" fmla="*/ 24 w 263"/>
                  <a:gd name="T25" fmla="*/ 282 h 28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63"/>
                  <a:gd name="T40" fmla="*/ 0 h 282"/>
                  <a:gd name="T41" fmla="*/ 263 w 263"/>
                  <a:gd name="T42" fmla="*/ 282 h 28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63" h="282">
                    <a:moveTo>
                      <a:pt x="24" y="282"/>
                    </a:moveTo>
                    <a:lnTo>
                      <a:pt x="239" y="282"/>
                    </a:lnTo>
                    <a:lnTo>
                      <a:pt x="239" y="255"/>
                    </a:lnTo>
                    <a:lnTo>
                      <a:pt x="263" y="255"/>
                    </a:lnTo>
                    <a:lnTo>
                      <a:pt x="263" y="27"/>
                    </a:lnTo>
                    <a:lnTo>
                      <a:pt x="239" y="27"/>
                    </a:lnTo>
                    <a:lnTo>
                      <a:pt x="239" y="0"/>
                    </a:lnTo>
                    <a:lnTo>
                      <a:pt x="24" y="0"/>
                    </a:lnTo>
                    <a:lnTo>
                      <a:pt x="24" y="27"/>
                    </a:lnTo>
                    <a:lnTo>
                      <a:pt x="0" y="27"/>
                    </a:lnTo>
                    <a:lnTo>
                      <a:pt x="0" y="255"/>
                    </a:lnTo>
                    <a:lnTo>
                      <a:pt x="24" y="255"/>
                    </a:lnTo>
                    <a:lnTo>
                      <a:pt x="24" y="28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40" name="Line 996"/>
              <p:cNvSpPr>
                <a:spLocks noChangeShapeType="1"/>
              </p:cNvSpPr>
              <p:nvPr/>
            </p:nvSpPr>
            <p:spPr bwMode="auto">
              <a:xfrm>
                <a:off x="2086" y="1914"/>
                <a:ext cx="17" cy="32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41" name="Line 997"/>
              <p:cNvSpPr>
                <a:spLocks noChangeShapeType="1"/>
              </p:cNvSpPr>
              <p:nvPr/>
            </p:nvSpPr>
            <p:spPr bwMode="auto">
              <a:xfrm>
                <a:off x="2053" y="1942"/>
                <a:ext cx="29" cy="25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42" name="Line 998"/>
              <p:cNvSpPr>
                <a:spLocks noChangeShapeType="1"/>
              </p:cNvSpPr>
              <p:nvPr/>
            </p:nvSpPr>
            <p:spPr bwMode="auto">
              <a:xfrm flipV="1">
                <a:off x="2041" y="2030"/>
                <a:ext cx="34" cy="3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43" name="Line 999"/>
              <p:cNvSpPr>
                <a:spLocks noChangeShapeType="1"/>
              </p:cNvSpPr>
              <p:nvPr/>
            </p:nvSpPr>
            <p:spPr bwMode="auto">
              <a:xfrm flipH="1">
                <a:off x="2054" y="2069"/>
                <a:ext cx="37" cy="37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44" name="Line 1000"/>
              <p:cNvSpPr>
                <a:spLocks noChangeShapeType="1"/>
              </p:cNvSpPr>
              <p:nvPr/>
            </p:nvSpPr>
            <p:spPr bwMode="auto">
              <a:xfrm flipH="1">
                <a:off x="2169" y="1903"/>
                <a:ext cx="2" cy="28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45" name="Line 1001"/>
              <p:cNvSpPr>
                <a:spLocks noChangeShapeType="1"/>
              </p:cNvSpPr>
              <p:nvPr/>
            </p:nvSpPr>
            <p:spPr bwMode="auto">
              <a:xfrm flipH="1">
                <a:off x="2218" y="1916"/>
                <a:ext cx="28" cy="36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46" name="Line 1002"/>
              <p:cNvSpPr>
                <a:spLocks noChangeShapeType="1"/>
              </p:cNvSpPr>
              <p:nvPr/>
            </p:nvSpPr>
            <p:spPr bwMode="auto">
              <a:xfrm flipV="1">
                <a:off x="2241" y="2006"/>
                <a:ext cx="40" cy="6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47" name="Line 1003"/>
              <p:cNvSpPr>
                <a:spLocks noChangeShapeType="1"/>
              </p:cNvSpPr>
              <p:nvPr/>
            </p:nvSpPr>
            <p:spPr bwMode="auto">
              <a:xfrm>
                <a:off x="2231" y="2061"/>
                <a:ext cx="34" cy="40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48" name="Line 1004"/>
              <p:cNvSpPr>
                <a:spLocks noChangeShapeType="1"/>
              </p:cNvSpPr>
              <p:nvPr/>
            </p:nvSpPr>
            <p:spPr bwMode="auto">
              <a:xfrm>
                <a:off x="2241" y="2037"/>
                <a:ext cx="25" cy="7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49" name="Line 1005"/>
              <p:cNvSpPr>
                <a:spLocks noChangeShapeType="1"/>
              </p:cNvSpPr>
              <p:nvPr/>
            </p:nvSpPr>
            <p:spPr bwMode="auto">
              <a:xfrm flipH="1">
                <a:off x="2060" y="2049"/>
                <a:ext cx="16" cy="7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50" name="Line 1006"/>
              <p:cNvSpPr>
                <a:spLocks noChangeShapeType="1"/>
              </p:cNvSpPr>
              <p:nvPr/>
            </p:nvSpPr>
            <p:spPr bwMode="auto">
              <a:xfrm flipV="1">
                <a:off x="2192" y="1917"/>
                <a:ext cx="6" cy="15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51" name="Freeform 1007"/>
              <p:cNvSpPr>
                <a:spLocks/>
              </p:cNvSpPr>
              <p:nvPr/>
            </p:nvSpPr>
            <p:spPr bwMode="auto">
              <a:xfrm>
                <a:off x="2096" y="2125"/>
                <a:ext cx="127" cy="39"/>
              </a:xfrm>
              <a:custGeom>
                <a:avLst/>
                <a:gdLst>
                  <a:gd name="T0" fmla="*/ 64 w 127"/>
                  <a:gd name="T1" fmla="*/ 39 h 39"/>
                  <a:gd name="T2" fmla="*/ 70 w 127"/>
                  <a:gd name="T3" fmla="*/ 39 h 39"/>
                  <a:gd name="T4" fmla="*/ 76 w 127"/>
                  <a:gd name="T5" fmla="*/ 38 h 39"/>
                  <a:gd name="T6" fmla="*/ 82 w 127"/>
                  <a:gd name="T7" fmla="*/ 38 h 39"/>
                  <a:gd name="T8" fmla="*/ 89 w 127"/>
                  <a:gd name="T9" fmla="*/ 37 h 39"/>
                  <a:gd name="T10" fmla="*/ 95 w 127"/>
                  <a:gd name="T11" fmla="*/ 36 h 39"/>
                  <a:gd name="T12" fmla="*/ 100 w 127"/>
                  <a:gd name="T13" fmla="*/ 34 h 39"/>
                  <a:gd name="T14" fmla="*/ 107 w 127"/>
                  <a:gd name="T15" fmla="*/ 33 h 39"/>
                  <a:gd name="T16" fmla="*/ 112 w 127"/>
                  <a:gd name="T17" fmla="*/ 31 h 39"/>
                  <a:gd name="T18" fmla="*/ 117 w 127"/>
                  <a:gd name="T19" fmla="*/ 28 h 39"/>
                  <a:gd name="T20" fmla="*/ 123 w 127"/>
                  <a:gd name="T21" fmla="*/ 25 h 39"/>
                  <a:gd name="T22" fmla="*/ 124 w 127"/>
                  <a:gd name="T23" fmla="*/ 24 h 39"/>
                  <a:gd name="T24" fmla="*/ 126 w 127"/>
                  <a:gd name="T25" fmla="*/ 22 h 39"/>
                  <a:gd name="T26" fmla="*/ 127 w 127"/>
                  <a:gd name="T27" fmla="*/ 19 h 39"/>
                  <a:gd name="T28" fmla="*/ 127 w 127"/>
                  <a:gd name="T29" fmla="*/ 15 h 39"/>
                  <a:gd name="T30" fmla="*/ 127 w 127"/>
                  <a:gd name="T31" fmla="*/ 11 h 39"/>
                  <a:gd name="T32" fmla="*/ 126 w 127"/>
                  <a:gd name="T33" fmla="*/ 7 h 39"/>
                  <a:gd name="T34" fmla="*/ 125 w 127"/>
                  <a:gd name="T35" fmla="*/ 4 h 39"/>
                  <a:gd name="T36" fmla="*/ 122 w 127"/>
                  <a:gd name="T37" fmla="*/ 1 h 39"/>
                  <a:gd name="T38" fmla="*/ 119 w 127"/>
                  <a:gd name="T39" fmla="*/ 0 h 39"/>
                  <a:gd name="T40" fmla="*/ 113 w 127"/>
                  <a:gd name="T41" fmla="*/ 0 h 39"/>
                  <a:gd name="T42" fmla="*/ 14 w 127"/>
                  <a:gd name="T43" fmla="*/ 0 h 39"/>
                  <a:gd name="T44" fmla="*/ 8 w 127"/>
                  <a:gd name="T45" fmla="*/ 0 h 39"/>
                  <a:gd name="T46" fmla="*/ 5 w 127"/>
                  <a:gd name="T47" fmla="*/ 1 h 39"/>
                  <a:gd name="T48" fmla="*/ 2 w 127"/>
                  <a:gd name="T49" fmla="*/ 4 h 39"/>
                  <a:gd name="T50" fmla="*/ 1 w 127"/>
                  <a:gd name="T51" fmla="*/ 7 h 39"/>
                  <a:gd name="T52" fmla="*/ 0 w 127"/>
                  <a:gd name="T53" fmla="*/ 11 h 39"/>
                  <a:gd name="T54" fmla="*/ 0 w 127"/>
                  <a:gd name="T55" fmla="*/ 15 h 39"/>
                  <a:gd name="T56" fmla="*/ 1 w 127"/>
                  <a:gd name="T57" fmla="*/ 19 h 39"/>
                  <a:gd name="T58" fmla="*/ 2 w 127"/>
                  <a:gd name="T59" fmla="*/ 22 h 39"/>
                  <a:gd name="T60" fmla="*/ 3 w 127"/>
                  <a:gd name="T61" fmla="*/ 24 h 39"/>
                  <a:gd name="T62" fmla="*/ 4 w 127"/>
                  <a:gd name="T63" fmla="*/ 25 h 39"/>
                  <a:gd name="T64" fmla="*/ 10 w 127"/>
                  <a:gd name="T65" fmla="*/ 28 h 39"/>
                  <a:gd name="T66" fmla="*/ 15 w 127"/>
                  <a:gd name="T67" fmla="*/ 31 h 39"/>
                  <a:gd name="T68" fmla="*/ 20 w 127"/>
                  <a:gd name="T69" fmla="*/ 33 h 39"/>
                  <a:gd name="T70" fmla="*/ 27 w 127"/>
                  <a:gd name="T71" fmla="*/ 34 h 39"/>
                  <a:gd name="T72" fmla="*/ 32 w 127"/>
                  <a:gd name="T73" fmla="*/ 36 h 39"/>
                  <a:gd name="T74" fmla="*/ 38 w 127"/>
                  <a:gd name="T75" fmla="*/ 37 h 39"/>
                  <a:gd name="T76" fmla="*/ 45 w 127"/>
                  <a:gd name="T77" fmla="*/ 38 h 39"/>
                  <a:gd name="T78" fmla="*/ 50 w 127"/>
                  <a:gd name="T79" fmla="*/ 38 h 39"/>
                  <a:gd name="T80" fmla="*/ 58 w 127"/>
                  <a:gd name="T81" fmla="*/ 39 h 39"/>
                  <a:gd name="T82" fmla="*/ 64 w 127"/>
                  <a:gd name="T83" fmla="*/ 39 h 3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27"/>
                  <a:gd name="T127" fmla="*/ 0 h 39"/>
                  <a:gd name="T128" fmla="*/ 127 w 127"/>
                  <a:gd name="T129" fmla="*/ 39 h 3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27" h="39">
                    <a:moveTo>
                      <a:pt x="64" y="39"/>
                    </a:moveTo>
                    <a:lnTo>
                      <a:pt x="70" y="39"/>
                    </a:lnTo>
                    <a:lnTo>
                      <a:pt x="76" y="38"/>
                    </a:lnTo>
                    <a:lnTo>
                      <a:pt x="82" y="38"/>
                    </a:lnTo>
                    <a:lnTo>
                      <a:pt x="89" y="37"/>
                    </a:lnTo>
                    <a:lnTo>
                      <a:pt x="95" y="36"/>
                    </a:lnTo>
                    <a:lnTo>
                      <a:pt x="100" y="34"/>
                    </a:lnTo>
                    <a:lnTo>
                      <a:pt x="107" y="33"/>
                    </a:lnTo>
                    <a:lnTo>
                      <a:pt x="112" y="31"/>
                    </a:lnTo>
                    <a:lnTo>
                      <a:pt x="117" y="28"/>
                    </a:lnTo>
                    <a:lnTo>
                      <a:pt x="123" y="25"/>
                    </a:lnTo>
                    <a:lnTo>
                      <a:pt x="124" y="24"/>
                    </a:lnTo>
                    <a:lnTo>
                      <a:pt x="126" y="22"/>
                    </a:lnTo>
                    <a:lnTo>
                      <a:pt x="127" y="19"/>
                    </a:lnTo>
                    <a:lnTo>
                      <a:pt x="127" y="15"/>
                    </a:lnTo>
                    <a:lnTo>
                      <a:pt x="127" y="11"/>
                    </a:lnTo>
                    <a:lnTo>
                      <a:pt x="126" y="7"/>
                    </a:lnTo>
                    <a:lnTo>
                      <a:pt x="125" y="4"/>
                    </a:lnTo>
                    <a:lnTo>
                      <a:pt x="122" y="1"/>
                    </a:lnTo>
                    <a:lnTo>
                      <a:pt x="119" y="0"/>
                    </a:lnTo>
                    <a:lnTo>
                      <a:pt x="113" y="0"/>
                    </a:lnTo>
                    <a:lnTo>
                      <a:pt x="14" y="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1" y="19"/>
                    </a:lnTo>
                    <a:lnTo>
                      <a:pt x="2" y="22"/>
                    </a:lnTo>
                    <a:lnTo>
                      <a:pt x="3" y="24"/>
                    </a:lnTo>
                    <a:lnTo>
                      <a:pt x="4" y="25"/>
                    </a:lnTo>
                    <a:lnTo>
                      <a:pt x="10" y="28"/>
                    </a:lnTo>
                    <a:lnTo>
                      <a:pt x="15" y="31"/>
                    </a:lnTo>
                    <a:lnTo>
                      <a:pt x="20" y="33"/>
                    </a:lnTo>
                    <a:lnTo>
                      <a:pt x="27" y="34"/>
                    </a:lnTo>
                    <a:lnTo>
                      <a:pt x="32" y="36"/>
                    </a:lnTo>
                    <a:lnTo>
                      <a:pt x="38" y="37"/>
                    </a:lnTo>
                    <a:lnTo>
                      <a:pt x="45" y="38"/>
                    </a:lnTo>
                    <a:lnTo>
                      <a:pt x="50" y="38"/>
                    </a:lnTo>
                    <a:lnTo>
                      <a:pt x="58" y="39"/>
                    </a:lnTo>
                    <a:lnTo>
                      <a:pt x="64" y="3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52" name="Freeform 1008"/>
              <p:cNvSpPr>
                <a:spLocks/>
              </p:cNvSpPr>
              <p:nvPr/>
            </p:nvSpPr>
            <p:spPr bwMode="auto">
              <a:xfrm>
                <a:off x="2096" y="2125"/>
                <a:ext cx="127" cy="39"/>
              </a:xfrm>
              <a:custGeom>
                <a:avLst/>
                <a:gdLst>
                  <a:gd name="T0" fmla="*/ 64 w 127"/>
                  <a:gd name="T1" fmla="*/ 39 h 39"/>
                  <a:gd name="T2" fmla="*/ 70 w 127"/>
                  <a:gd name="T3" fmla="*/ 39 h 39"/>
                  <a:gd name="T4" fmla="*/ 76 w 127"/>
                  <a:gd name="T5" fmla="*/ 38 h 39"/>
                  <a:gd name="T6" fmla="*/ 82 w 127"/>
                  <a:gd name="T7" fmla="*/ 38 h 39"/>
                  <a:gd name="T8" fmla="*/ 89 w 127"/>
                  <a:gd name="T9" fmla="*/ 37 h 39"/>
                  <a:gd name="T10" fmla="*/ 95 w 127"/>
                  <a:gd name="T11" fmla="*/ 36 h 39"/>
                  <a:gd name="T12" fmla="*/ 100 w 127"/>
                  <a:gd name="T13" fmla="*/ 34 h 39"/>
                  <a:gd name="T14" fmla="*/ 107 w 127"/>
                  <a:gd name="T15" fmla="*/ 33 h 39"/>
                  <a:gd name="T16" fmla="*/ 112 w 127"/>
                  <a:gd name="T17" fmla="*/ 31 h 39"/>
                  <a:gd name="T18" fmla="*/ 117 w 127"/>
                  <a:gd name="T19" fmla="*/ 28 h 39"/>
                  <a:gd name="T20" fmla="*/ 123 w 127"/>
                  <a:gd name="T21" fmla="*/ 25 h 39"/>
                  <a:gd name="T22" fmla="*/ 124 w 127"/>
                  <a:gd name="T23" fmla="*/ 24 h 39"/>
                  <a:gd name="T24" fmla="*/ 126 w 127"/>
                  <a:gd name="T25" fmla="*/ 22 h 39"/>
                  <a:gd name="T26" fmla="*/ 127 w 127"/>
                  <a:gd name="T27" fmla="*/ 19 h 39"/>
                  <a:gd name="T28" fmla="*/ 127 w 127"/>
                  <a:gd name="T29" fmla="*/ 15 h 39"/>
                  <a:gd name="T30" fmla="*/ 127 w 127"/>
                  <a:gd name="T31" fmla="*/ 11 h 39"/>
                  <a:gd name="T32" fmla="*/ 126 w 127"/>
                  <a:gd name="T33" fmla="*/ 7 h 39"/>
                  <a:gd name="T34" fmla="*/ 125 w 127"/>
                  <a:gd name="T35" fmla="*/ 4 h 39"/>
                  <a:gd name="T36" fmla="*/ 122 w 127"/>
                  <a:gd name="T37" fmla="*/ 1 h 39"/>
                  <a:gd name="T38" fmla="*/ 119 w 127"/>
                  <a:gd name="T39" fmla="*/ 0 h 39"/>
                  <a:gd name="T40" fmla="*/ 113 w 127"/>
                  <a:gd name="T41" fmla="*/ 0 h 39"/>
                  <a:gd name="T42" fmla="*/ 14 w 127"/>
                  <a:gd name="T43" fmla="*/ 0 h 39"/>
                  <a:gd name="T44" fmla="*/ 8 w 127"/>
                  <a:gd name="T45" fmla="*/ 0 h 39"/>
                  <a:gd name="T46" fmla="*/ 5 w 127"/>
                  <a:gd name="T47" fmla="*/ 1 h 39"/>
                  <a:gd name="T48" fmla="*/ 2 w 127"/>
                  <a:gd name="T49" fmla="*/ 4 h 39"/>
                  <a:gd name="T50" fmla="*/ 1 w 127"/>
                  <a:gd name="T51" fmla="*/ 7 h 39"/>
                  <a:gd name="T52" fmla="*/ 0 w 127"/>
                  <a:gd name="T53" fmla="*/ 11 h 39"/>
                  <a:gd name="T54" fmla="*/ 0 w 127"/>
                  <a:gd name="T55" fmla="*/ 15 h 39"/>
                  <a:gd name="T56" fmla="*/ 1 w 127"/>
                  <a:gd name="T57" fmla="*/ 19 h 39"/>
                  <a:gd name="T58" fmla="*/ 2 w 127"/>
                  <a:gd name="T59" fmla="*/ 22 h 39"/>
                  <a:gd name="T60" fmla="*/ 3 w 127"/>
                  <a:gd name="T61" fmla="*/ 24 h 39"/>
                  <a:gd name="T62" fmla="*/ 4 w 127"/>
                  <a:gd name="T63" fmla="*/ 25 h 39"/>
                  <a:gd name="T64" fmla="*/ 10 w 127"/>
                  <a:gd name="T65" fmla="*/ 28 h 39"/>
                  <a:gd name="T66" fmla="*/ 15 w 127"/>
                  <a:gd name="T67" fmla="*/ 31 h 39"/>
                  <a:gd name="T68" fmla="*/ 20 w 127"/>
                  <a:gd name="T69" fmla="*/ 33 h 39"/>
                  <a:gd name="T70" fmla="*/ 27 w 127"/>
                  <a:gd name="T71" fmla="*/ 34 h 39"/>
                  <a:gd name="T72" fmla="*/ 32 w 127"/>
                  <a:gd name="T73" fmla="*/ 36 h 39"/>
                  <a:gd name="T74" fmla="*/ 38 w 127"/>
                  <a:gd name="T75" fmla="*/ 37 h 39"/>
                  <a:gd name="T76" fmla="*/ 45 w 127"/>
                  <a:gd name="T77" fmla="*/ 38 h 39"/>
                  <a:gd name="T78" fmla="*/ 50 w 127"/>
                  <a:gd name="T79" fmla="*/ 38 h 39"/>
                  <a:gd name="T80" fmla="*/ 58 w 127"/>
                  <a:gd name="T81" fmla="*/ 39 h 39"/>
                  <a:gd name="T82" fmla="*/ 64 w 127"/>
                  <a:gd name="T83" fmla="*/ 39 h 3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27"/>
                  <a:gd name="T127" fmla="*/ 0 h 39"/>
                  <a:gd name="T128" fmla="*/ 127 w 127"/>
                  <a:gd name="T129" fmla="*/ 39 h 3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27" h="39">
                    <a:moveTo>
                      <a:pt x="64" y="39"/>
                    </a:moveTo>
                    <a:lnTo>
                      <a:pt x="70" y="39"/>
                    </a:lnTo>
                    <a:lnTo>
                      <a:pt x="76" y="38"/>
                    </a:lnTo>
                    <a:lnTo>
                      <a:pt x="82" y="38"/>
                    </a:lnTo>
                    <a:lnTo>
                      <a:pt x="89" y="37"/>
                    </a:lnTo>
                    <a:lnTo>
                      <a:pt x="95" y="36"/>
                    </a:lnTo>
                    <a:lnTo>
                      <a:pt x="100" y="34"/>
                    </a:lnTo>
                    <a:lnTo>
                      <a:pt x="107" y="33"/>
                    </a:lnTo>
                    <a:lnTo>
                      <a:pt x="112" y="31"/>
                    </a:lnTo>
                    <a:lnTo>
                      <a:pt x="117" y="28"/>
                    </a:lnTo>
                    <a:lnTo>
                      <a:pt x="123" y="25"/>
                    </a:lnTo>
                    <a:lnTo>
                      <a:pt x="124" y="24"/>
                    </a:lnTo>
                    <a:lnTo>
                      <a:pt x="126" y="22"/>
                    </a:lnTo>
                    <a:lnTo>
                      <a:pt x="127" y="19"/>
                    </a:lnTo>
                    <a:lnTo>
                      <a:pt x="127" y="15"/>
                    </a:lnTo>
                    <a:lnTo>
                      <a:pt x="127" y="11"/>
                    </a:lnTo>
                    <a:lnTo>
                      <a:pt x="126" y="7"/>
                    </a:lnTo>
                    <a:lnTo>
                      <a:pt x="125" y="4"/>
                    </a:lnTo>
                    <a:lnTo>
                      <a:pt x="122" y="1"/>
                    </a:lnTo>
                    <a:lnTo>
                      <a:pt x="119" y="0"/>
                    </a:lnTo>
                    <a:lnTo>
                      <a:pt x="113" y="0"/>
                    </a:lnTo>
                    <a:lnTo>
                      <a:pt x="14" y="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1" y="19"/>
                    </a:lnTo>
                    <a:lnTo>
                      <a:pt x="2" y="22"/>
                    </a:lnTo>
                    <a:lnTo>
                      <a:pt x="3" y="24"/>
                    </a:lnTo>
                    <a:lnTo>
                      <a:pt x="4" y="25"/>
                    </a:lnTo>
                    <a:lnTo>
                      <a:pt x="10" y="28"/>
                    </a:lnTo>
                    <a:lnTo>
                      <a:pt x="15" y="31"/>
                    </a:lnTo>
                    <a:lnTo>
                      <a:pt x="20" y="33"/>
                    </a:lnTo>
                    <a:lnTo>
                      <a:pt x="27" y="34"/>
                    </a:lnTo>
                    <a:lnTo>
                      <a:pt x="32" y="36"/>
                    </a:lnTo>
                    <a:lnTo>
                      <a:pt x="38" y="37"/>
                    </a:lnTo>
                    <a:lnTo>
                      <a:pt x="45" y="38"/>
                    </a:lnTo>
                    <a:lnTo>
                      <a:pt x="50" y="38"/>
                    </a:lnTo>
                    <a:lnTo>
                      <a:pt x="58" y="39"/>
                    </a:lnTo>
                    <a:lnTo>
                      <a:pt x="64" y="39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53" name="Freeform 1009"/>
              <p:cNvSpPr>
                <a:spLocks/>
              </p:cNvSpPr>
              <p:nvPr/>
            </p:nvSpPr>
            <p:spPr bwMode="auto">
              <a:xfrm>
                <a:off x="2103" y="2093"/>
                <a:ext cx="113" cy="49"/>
              </a:xfrm>
              <a:custGeom>
                <a:avLst/>
                <a:gdLst>
                  <a:gd name="T0" fmla="*/ 56 w 113"/>
                  <a:gd name="T1" fmla="*/ 49 h 49"/>
                  <a:gd name="T2" fmla="*/ 62 w 113"/>
                  <a:gd name="T3" fmla="*/ 49 h 49"/>
                  <a:gd name="T4" fmla="*/ 69 w 113"/>
                  <a:gd name="T5" fmla="*/ 48 h 49"/>
                  <a:gd name="T6" fmla="*/ 74 w 113"/>
                  <a:gd name="T7" fmla="*/ 48 h 49"/>
                  <a:gd name="T8" fmla="*/ 79 w 113"/>
                  <a:gd name="T9" fmla="*/ 47 h 49"/>
                  <a:gd name="T10" fmla="*/ 85 w 113"/>
                  <a:gd name="T11" fmla="*/ 46 h 49"/>
                  <a:gd name="T12" fmla="*/ 90 w 113"/>
                  <a:gd name="T13" fmla="*/ 43 h 49"/>
                  <a:gd name="T14" fmla="*/ 95 w 113"/>
                  <a:gd name="T15" fmla="*/ 41 h 49"/>
                  <a:gd name="T16" fmla="*/ 101 w 113"/>
                  <a:gd name="T17" fmla="*/ 39 h 49"/>
                  <a:gd name="T18" fmla="*/ 105 w 113"/>
                  <a:gd name="T19" fmla="*/ 37 h 49"/>
                  <a:gd name="T20" fmla="*/ 109 w 113"/>
                  <a:gd name="T21" fmla="*/ 35 h 49"/>
                  <a:gd name="T22" fmla="*/ 112 w 113"/>
                  <a:gd name="T23" fmla="*/ 33 h 49"/>
                  <a:gd name="T24" fmla="*/ 113 w 113"/>
                  <a:gd name="T25" fmla="*/ 29 h 49"/>
                  <a:gd name="T26" fmla="*/ 113 w 113"/>
                  <a:gd name="T27" fmla="*/ 24 h 49"/>
                  <a:gd name="T28" fmla="*/ 112 w 113"/>
                  <a:gd name="T29" fmla="*/ 19 h 49"/>
                  <a:gd name="T30" fmla="*/ 110 w 113"/>
                  <a:gd name="T31" fmla="*/ 14 h 49"/>
                  <a:gd name="T32" fmla="*/ 109 w 113"/>
                  <a:gd name="T33" fmla="*/ 8 h 49"/>
                  <a:gd name="T34" fmla="*/ 107 w 113"/>
                  <a:gd name="T35" fmla="*/ 4 h 49"/>
                  <a:gd name="T36" fmla="*/ 104 w 113"/>
                  <a:gd name="T37" fmla="*/ 1 h 49"/>
                  <a:gd name="T38" fmla="*/ 101 w 113"/>
                  <a:gd name="T39" fmla="*/ 0 h 49"/>
                  <a:gd name="T40" fmla="*/ 97 w 113"/>
                  <a:gd name="T41" fmla="*/ 1 h 49"/>
                  <a:gd name="T42" fmla="*/ 16 w 113"/>
                  <a:gd name="T43" fmla="*/ 1 h 49"/>
                  <a:gd name="T44" fmla="*/ 12 w 113"/>
                  <a:gd name="T45" fmla="*/ 0 h 49"/>
                  <a:gd name="T46" fmla="*/ 9 w 113"/>
                  <a:gd name="T47" fmla="*/ 1 h 49"/>
                  <a:gd name="T48" fmla="*/ 6 w 113"/>
                  <a:gd name="T49" fmla="*/ 4 h 49"/>
                  <a:gd name="T50" fmla="*/ 4 w 113"/>
                  <a:gd name="T51" fmla="*/ 8 h 49"/>
                  <a:gd name="T52" fmla="*/ 3 w 113"/>
                  <a:gd name="T53" fmla="*/ 14 h 49"/>
                  <a:gd name="T54" fmla="*/ 0 w 113"/>
                  <a:gd name="T55" fmla="*/ 19 h 49"/>
                  <a:gd name="T56" fmla="*/ 0 w 113"/>
                  <a:gd name="T57" fmla="*/ 24 h 49"/>
                  <a:gd name="T58" fmla="*/ 0 w 113"/>
                  <a:gd name="T59" fmla="*/ 29 h 49"/>
                  <a:gd name="T60" fmla="*/ 1 w 113"/>
                  <a:gd name="T61" fmla="*/ 33 h 49"/>
                  <a:gd name="T62" fmla="*/ 4 w 113"/>
                  <a:gd name="T63" fmla="*/ 35 h 49"/>
                  <a:gd name="T64" fmla="*/ 8 w 113"/>
                  <a:gd name="T65" fmla="*/ 37 h 49"/>
                  <a:gd name="T66" fmla="*/ 12 w 113"/>
                  <a:gd name="T67" fmla="*/ 39 h 49"/>
                  <a:gd name="T68" fmla="*/ 17 w 113"/>
                  <a:gd name="T69" fmla="*/ 41 h 49"/>
                  <a:gd name="T70" fmla="*/ 23 w 113"/>
                  <a:gd name="T71" fmla="*/ 43 h 49"/>
                  <a:gd name="T72" fmla="*/ 28 w 113"/>
                  <a:gd name="T73" fmla="*/ 46 h 49"/>
                  <a:gd name="T74" fmla="*/ 34 w 113"/>
                  <a:gd name="T75" fmla="*/ 47 h 49"/>
                  <a:gd name="T76" fmla="*/ 39 w 113"/>
                  <a:gd name="T77" fmla="*/ 48 h 49"/>
                  <a:gd name="T78" fmla="*/ 44 w 113"/>
                  <a:gd name="T79" fmla="*/ 48 h 49"/>
                  <a:gd name="T80" fmla="*/ 51 w 113"/>
                  <a:gd name="T81" fmla="*/ 49 h 49"/>
                  <a:gd name="T82" fmla="*/ 56 w 113"/>
                  <a:gd name="T83" fmla="*/ 49 h 4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13"/>
                  <a:gd name="T127" fmla="*/ 0 h 49"/>
                  <a:gd name="T128" fmla="*/ 113 w 113"/>
                  <a:gd name="T129" fmla="*/ 49 h 4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13" h="49">
                    <a:moveTo>
                      <a:pt x="56" y="49"/>
                    </a:moveTo>
                    <a:lnTo>
                      <a:pt x="62" y="49"/>
                    </a:lnTo>
                    <a:lnTo>
                      <a:pt x="69" y="48"/>
                    </a:lnTo>
                    <a:lnTo>
                      <a:pt x="74" y="48"/>
                    </a:lnTo>
                    <a:lnTo>
                      <a:pt x="79" y="47"/>
                    </a:lnTo>
                    <a:lnTo>
                      <a:pt x="85" y="46"/>
                    </a:lnTo>
                    <a:lnTo>
                      <a:pt x="90" y="43"/>
                    </a:lnTo>
                    <a:lnTo>
                      <a:pt x="95" y="41"/>
                    </a:lnTo>
                    <a:lnTo>
                      <a:pt x="101" y="39"/>
                    </a:lnTo>
                    <a:lnTo>
                      <a:pt x="105" y="37"/>
                    </a:lnTo>
                    <a:lnTo>
                      <a:pt x="109" y="35"/>
                    </a:lnTo>
                    <a:lnTo>
                      <a:pt x="112" y="33"/>
                    </a:lnTo>
                    <a:lnTo>
                      <a:pt x="113" y="29"/>
                    </a:lnTo>
                    <a:lnTo>
                      <a:pt x="113" y="24"/>
                    </a:lnTo>
                    <a:lnTo>
                      <a:pt x="112" y="19"/>
                    </a:lnTo>
                    <a:lnTo>
                      <a:pt x="110" y="14"/>
                    </a:lnTo>
                    <a:lnTo>
                      <a:pt x="109" y="8"/>
                    </a:lnTo>
                    <a:lnTo>
                      <a:pt x="107" y="4"/>
                    </a:lnTo>
                    <a:lnTo>
                      <a:pt x="104" y="1"/>
                    </a:lnTo>
                    <a:lnTo>
                      <a:pt x="101" y="0"/>
                    </a:lnTo>
                    <a:lnTo>
                      <a:pt x="97" y="1"/>
                    </a:lnTo>
                    <a:lnTo>
                      <a:pt x="16" y="1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4"/>
                    </a:lnTo>
                    <a:lnTo>
                      <a:pt x="4" y="8"/>
                    </a:lnTo>
                    <a:lnTo>
                      <a:pt x="3" y="14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0" y="29"/>
                    </a:lnTo>
                    <a:lnTo>
                      <a:pt x="1" y="33"/>
                    </a:lnTo>
                    <a:lnTo>
                      <a:pt x="4" y="35"/>
                    </a:lnTo>
                    <a:lnTo>
                      <a:pt x="8" y="37"/>
                    </a:lnTo>
                    <a:lnTo>
                      <a:pt x="12" y="39"/>
                    </a:lnTo>
                    <a:lnTo>
                      <a:pt x="17" y="41"/>
                    </a:lnTo>
                    <a:lnTo>
                      <a:pt x="23" y="43"/>
                    </a:lnTo>
                    <a:lnTo>
                      <a:pt x="28" y="46"/>
                    </a:lnTo>
                    <a:lnTo>
                      <a:pt x="34" y="47"/>
                    </a:lnTo>
                    <a:lnTo>
                      <a:pt x="39" y="48"/>
                    </a:lnTo>
                    <a:lnTo>
                      <a:pt x="44" y="48"/>
                    </a:lnTo>
                    <a:lnTo>
                      <a:pt x="51" y="49"/>
                    </a:lnTo>
                    <a:lnTo>
                      <a:pt x="56" y="4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54" name="Freeform 1010"/>
              <p:cNvSpPr>
                <a:spLocks/>
              </p:cNvSpPr>
              <p:nvPr/>
            </p:nvSpPr>
            <p:spPr bwMode="auto">
              <a:xfrm>
                <a:off x="2103" y="2093"/>
                <a:ext cx="113" cy="49"/>
              </a:xfrm>
              <a:custGeom>
                <a:avLst/>
                <a:gdLst>
                  <a:gd name="T0" fmla="*/ 56 w 113"/>
                  <a:gd name="T1" fmla="*/ 49 h 49"/>
                  <a:gd name="T2" fmla="*/ 62 w 113"/>
                  <a:gd name="T3" fmla="*/ 49 h 49"/>
                  <a:gd name="T4" fmla="*/ 69 w 113"/>
                  <a:gd name="T5" fmla="*/ 48 h 49"/>
                  <a:gd name="T6" fmla="*/ 74 w 113"/>
                  <a:gd name="T7" fmla="*/ 48 h 49"/>
                  <a:gd name="T8" fmla="*/ 79 w 113"/>
                  <a:gd name="T9" fmla="*/ 47 h 49"/>
                  <a:gd name="T10" fmla="*/ 85 w 113"/>
                  <a:gd name="T11" fmla="*/ 46 h 49"/>
                  <a:gd name="T12" fmla="*/ 90 w 113"/>
                  <a:gd name="T13" fmla="*/ 43 h 49"/>
                  <a:gd name="T14" fmla="*/ 95 w 113"/>
                  <a:gd name="T15" fmla="*/ 41 h 49"/>
                  <a:gd name="T16" fmla="*/ 101 w 113"/>
                  <a:gd name="T17" fmla="*/ 39 h 49"/>
                  <a:gd name="T18" fmla="*/ 105 w 113"/>
                  <a:gd name="T19" fmla="*/ 37 h 49"/>
                  <a:gd name="T20" fmla="*/ 109 w 113"/>
                  <a:gd name="T21" fmla="*/ 35 h 49"/>
                  <a:gd name="T22" fmla="*/ 112 w 113"/>
                  <a:gd name="T23" fmla="*/ 33 h 49"/>
                  <a:gd name="T24" fmla="*/ 113 w 113"/>
                  <a:gd name="T25" fmla="*/ 29 h 49"/>
                  <a:gd name="T26" fmla="*/ 113 w 113"/>
                  <a:gd name="T27" fmla="*/ 24 h 49"/>
                  <a:gd name="T28" fmla="*/ 112 w 113"/>
                  <a:gd name="T29" fmla="*/ 19 h 49"/>
                  <a:gd name="T30" fmla="*/ 110 w 113"/>
                  <a:gd name="T31" fmla="*/ 14 h 49"/>
                  <a:gd name="T32" fmla="*/ 109 w 113"/>
                  <a:gd name="T33" fmla="*/ 8 h 49"/>
                  <a:gd name="T34" fmla="*/ 107 w 113"/>
                  <a:gd name="T35" fmla="*/ 4 h 49"/>
                  <a:gd name="T36" fmla="*/ 104 w 113"/>
                  <a:gd name="T37" fmla="*/ 1 h 49"/>
                  <a:gd name="T38" fmla="*/ 101 w 113"/>
                  <a:gd name="T39" fmla="*/ 0 h 49"/>
                  <a:gd name="T40" fmla="*/ 97 w 113"/>
                  <a:gd name="T41" fmla="*/ 1 h 49"/>
                  <a:gd name="T42" fmla="*/ 16 w 113"/>
                  <a:gd name="T43" fmla="*/ 1 h 49"/>
                  <a:gd name="T44" fmla="*/ 12 w 113"/>
                  <a:gd name="T45" fmla="*/ 0 h 49"/>
                  <a:gd name="T46" fmla="*/ 9 w 113"/>
                  <a:gd name="T47" fmla="*/ 1 h 49"/>
                  <a:gd name="T48" fmla="*/ 6 w 113"/>
                  <a:gd name="T49" fmla="*/ 4 h 49"/>
                  <a:gd name="T50" fmla="*/ 4 w 113"/>
                  <a:gd name="T51" fmla="*/ 8 h 49"/>
                  <a:gd name="T52" fmla="*/ 3 w 113"/>
                  <a:gd name="T53" fmla="*/ 14 h 49"/>
                  <a:gd name="T54" fmla="*/ 0 w 113"/>
                  <a:gd name="T55" fmla="*/ 19 h 49"/>
                  <a:gd name="T56" fmla="*/ 0 w 113"/>
                  <a:gd name="T57" fmla="*/ 24 h 49"/>
                  <a:gd name="T58" fmla="*/ 0 w 113"/>
                  <a:gd name="T59" fmla="*/ 29 h 49"/>
                  <a:gd name="T60" fmla="*/ 1 w 113"/>
                  <a:gd name="T61" fmla="*/ 33 h 49"/>
                  <a:gd name="T62" fmla="*/ 4 w 113"/>
                  <a:gd name="T63" fmla="*/ 35 h 49"/>
                  <a:gd name="T64" fmla="*/ 8 w 113"/>
                  <a:gd name="T65" fmla="*/ 37 h 49"/>
                  <a:gd name="T66" fmla="*/ 12 w 113"/>
                  <a:gd name="T67" fmla="*/ 39 h 49"/>
                  <a:gd name="T68" fmla="*/ 17 w 113"/>
                  <a:gd name="T69" fmla="*/ 41 h 49"/>
                  <a:gd name="T70" fmla="*/ 23 w 113"/>
                  <a:gd name="T71" fmla="*/ 43 h 49"/>
                  <a:gd name="T72" fmla="*/ 28 w 113"/>
                  <a:gd name="T73" fmla="*/ 46 h 49"/>
                  <a:gd name="T74" fmla="*/ 34 w 113"/>
                  <a:gd name="T75" fmla="*/ 47 h 49"/>
                  <a:gd name="T76" fmla="*/ 39 w 113"/>
                  <a:gd name="T77" fmla="*/ 48 h 49"/>
                  <a:gd name="T78" fmla="*/ 44 w 113"/>
                  <a:gd name="T79" fmla="*/ 48 h 49"/>
                  <a:gd name="T80" fmla="*/ 51 w 113"/>
                  <a:gd name="T81" fmla="*/ 49 h 49"/>
                  <a:gd name="T82" fmla="*/ 56 w 113"/>
                  <a:gd name="T83" fmla="*/ 49 h 4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13"/>
                  <a:gd name="T127" fmla="*/ 0 h 49"/>
                  <a:gd name="T128" fmla="*/ 113 w 113"/>
                  <a:gd name="T129" fmla="*/ 49 h 4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13" h="49">
                    <a:moveTo>
                      <a:pt x="56" y="49"/>
                    </a:moveTo>
                    <a:lnTo>
                      <a:pt x="62" y="49"/>
                    </a:lnTo>
                    <a:lnTo>
                      <a:pt x="69" y="48"/>
                    </a:lnTo>
                    <a:lnTo>
                      <a:pt x="74" y="48"/>
                    </a:lnTo>
                    <a:lnTo>
                      <a:pt x="79" y="47"/>
                    </a:lnTo>
                    <a:lnTo>
                      <a:pt x="85" y="46"/>
                    </a:lnTo>
                    <a:lnTo>
                      <a:pt x="90" y="43"/>
                    </a:lnTo>
                    <a:lnTo>
                      <a:pt x="95" y="41"/>
                    </a:lnTo>
                    <a:lnTo>
                      <a:pt x="101" y="39"/>
                    </a:lnTo>
                    <a:lnTo>
                      <a:pt x="105" y="37"/>
                    </a:lnTo>
                    <a:lnTo>
                      <a:pt x="109" y="35"/>
                    </a:lnTo>
                    <a:lnTo>
                      <a:pt x="112" y="33"/>
                    </a:lnTo>
                    <a:lnTo>
                      <a:pt x="113" y="29"/>
                    </a:lnTo>
                    <a:lnTo>
                      <a:pt x="113" y="24"/>
                    </a:lnTo>
                    <a:lnTo>
                      <a:pt x="112" y="19"/>
                    </a:lnTo>
                    <a:lnTo>
                      <a:pt x="110" y="14"/>
                    </a:lnTo>
                    <a:lnTo>
                      <a:pt x="109" y="8"/>
                    </a:lnTo>
                    <a:lnTo>
                      <a:pt x="107" y="4"/>
                    </a:lnTo>
                    <a:lnTo>
                      <a:pt x="104" y="1"/>
                    </a:lnTo>
                    <a:lnTo>
                      <a:pt x="101" y="0"/>
                    </a:lnTo>
                    <a:lnTo>
                      <a:pt x="97" y="1"/>
                    </a:lnTo>
                    <a:lnTo>
                      <a:pt x="16" y="1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6" y="4"/>
                    </a:lnTo>
                    <a:lnTo>
                      <a:pt x="4" y="8"/>
                    </a:lnTo>
                    <a:lnTo>
                      <a:pt x="3" y="14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0" y="29"/>
                    </a:lnTo>
                    <a:lnTo>
                      <a:pt x="1" y="33"/>
                    </a:lnTo>
                    <a:lnTo>
                      <a:pt x="4" y="35"/>
                    </a:lnTo>
                    <a:lnTo>
                      <a:pt x="8" y="37"/>
                    </a:lnTo>
                    <a:lnTo>
                      <a:pt x="12" y="39"/>
                    </a:lnTo>
                    <a:lnTo>
                      <a:pt x="17" y="41"/>
                    </a:lnTo>
                    <a:lnTo>
                      <a:pt x="23" y="43"/>
                    </a:lnTo>
                    <a:lnTo>
                      <a:pt x="28" y="46"/>
                    </a:lnTo>
                    <a:lnTo>
                      <a:pt x="34" y="47"/>
                    </a:lnTo>
                    <a:lnTo>
                      <a:pt x="39" y="48"/>
                    </a:lnTo>
                    <a:lnTo>
                      <a:pt x="44" y="48"/>
                    </a:lnTo>
                    <a:lnTo>
                      <a:pt x="51" y="49"/>
                    </a:lnTo>
                    <a:lnTo>
                      <a:pt x="56" y="49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55" name="Freeform 1011"/>
              <p:cNvSpPr>
                <a:spLocks/>
              </p:cNvSpPr>
              <p:nvPr/>
            </p:nvSpPr>
            <p:spPr bwMode="auto">
              <a:xfrm>
                <a:off x="2110" y="2070"/>
                <a:ext cx="99" cy="38"/>
              </a:xfrm>
              <a:custGeom>
                <a:avLst/>
                <a:gdLst>
                  <a:gd name="T0" fmla="*/ 49 w 99"/>
                  <a:gd name="T1" fmla="*/ 38 h 38"/>
                  <a:gd name="T2" fmla="*/ 54 w 99"/>
                  <a:gd name="T3" fmla="*/ 38 h 38"/>
                  <a:gd name="T4" fmla="*/ 59 w 99"/>
                  <a:gd name="T5" fmla="*/ 38 h 38"/>
                  <a:gd name="T6" fmla="*/ 63 w 99"/>
                  <a:gd name="T7" fmla="*/ 37 h 38"/>
                  <a:gd name="T8" fmla="*/ 67 w 99"/>
                  <a:gd name="T9" fmla="*/ 36 h 38"/>
                  <a:gd name="T10" fmla="*/ 71 w 99"/>
                  <a:gd name="T11" fmla="*/ 34 h 38"/>
                  <a:gd name="T12" fmla="*/ 76 w 99"/>
                  <a:gd name="T13" fmla="*/ 33 h 38"/>
                  <a:gd name="T14" fmla="*/ 80 w 99"/>
                  <a:gd name="T15" fmla="*/ 32 h 38"/>
                  <a:gd name="T16" fmla="*/ 84 w 99"/>
                  <a:gd name="T17" fmla="*/ 30 h 38"/>
                  <a:gd name="T18" fmla="*/ 88 w 99"/>
                  <a:gd name="T19" fmla="*/ 28 h 38"/>
                  <a:gd name="T20" fmla="*/ 92 w 99"/>
                  <a:gd name="T21" fmla="*/ 26 h 38"/>
                  <a:gd name="T22" fmla="*/ 94 w 99"/>
                  <a:gd name="T23" fmla="*/ 25 h 38"/>
                  <a:gd name="T24" fmla="*/ 96 w 99"/>
                  <a:gd name="T25" fmla="*/ 23 h 38"/>
                  <a:gd name="T26" fmla="*/ 97 w 99"/>
                  <a:gd name="T27" fmla="*/ 21 h 38"/>
                  <a:gd name="T28" fmla="*/ 98 w 99"/>
                  <a:gd name="T29" fmla="*/ 17 h 38"/>
                  <a:gd name="T30" fmla="*/ 99 w 99"/>
                  <a:gd name="T31" fmla="*/ 15 h 38"/>
                  <a:gd name="T32" fmla="*/ 99 w 99"/>
                  <a:gd name="T33" fmla="*/ 12 h 38"/>
                  <a:gd name="T34" fmla="*/ 98 w 99"/>
                  <a:gd name="T35" fmla="*/ 9 h 38"/>
                  <a:gd name="T36" fmla="*/ 95 w 99"/>
                  <a:gd name="T37" fmla="*/ 6 h 38"/>
                  <a:gd name="T38" fmla="*/ 92 w 99"/>
                  <a:gd name="T39" fmla="*/ 2 h 38"/>
                  <a:gd name="T40" fmla="*/ 86 w 99"/>
                  <a:gd name="T41" fmla="*/ 0 h 38"/>
                  <a:gd name="T42" fmla="*/ 13 w 99"/>
                  <a:gd name="T43" fmla="*/ 0 h 38"/>
                  <a:gd name="T44" fmla="*/ 7 w 99"/>
                  <a:gd name="T45" fmla="*/ 2 h 38"/>
                  <a:gd name="T46" fmla="*/ 4 w 99"/>
                  <a:gd name="T47" fmla="*/ 6 h 38"/>
                  <a:gd name="T48" fmla="*/ 1 w 99"/>
                  <a:gd name="T49" fmla="*/ 9 h 38"/>
                  <a:gd name="T50" fmla="*/ 0 w 99"/>
                  <a:gd name="T51" fmla="*/ 12 h 38"/>
                  <a:gd name="T52" fmla="*/ 0 w 99"/>
                  <a:gd name="T53" fmla="*/ 15 h 38"/>
                  <a:gd name="T54" fmla="*/ 1 w 99"/>
                  <a:gd name="T55" fmla="*/ 17 h 38"/>
                  <a:gd name="T56" fmla="*/ 2 w 99"/>
                  <a:gd name="T57" fmla="*/ 21 h 38"/>
                  <a:gd name="T58" fmla="*/ 3 w 99"/>
                  <a:gd name="T59" fmla="*/ 23 h 38"/>
                  <a:gd name="T60" fmla="*/ 5 w 99"/>
                  <a:gd name="T61" fmla="*/ 25 h 38"/>
                  <a:gd name="T62" fmla="*/ 7 w 99"/>
                  <a:gd name="T63" fmla="*/ 26 h 38"/>
                  <a:gd name="T64" fmla="*/ 10 w 99"/>
                  <a:gd name="T65" fmla="*/ 28 h 38"/>
                  <a:gd name="T66" fmla="*/ 15 w 99"/>
                  <a:gd name="T67" fmla="*/ 30 h 38"/>
                  <a:gd name="T68" fmla="*/ 19 w 99"/>
                  <a:gd name="T69" fmla="*/ 32 h 38"/>
                  <a:gd name="T70" fmla="*/ 23 w 99"/>
                  <a:gd name="T71" fmla="*/ 33 h 38"/>
                  <a:gd name="T72" fmla="*/ 28 w 99"/>
                  <a:gd name="T73" fmla="*/ 34 h 38"/>
                  <a:gd name="T74" fmla="*/ 32 w 99"/>
                  <a:gd name="T75" fmla="*/ 36 h 38"/>
                  <a:gd name="T76" fmla="*/ 36 w 99"/>
                  <a:gd name="T77" fmla="*/ 37 h 38"/>
                  <a:gd name="T78" fmla="*/ 40 w 99"/>
                  <a:gd name="T79" fmla="*/ 38 h 38"/>
                  <a:gd name="T80" fmla="*/ 45 w 99"/>
                  <a:gd name="T81" fmla="*/ 38 h 38"/>
                  <a:gd name="T82" fmla="*/ 49 w 99"/>
                  <a:gd name="T83" fmla="*/ 38 h 3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9"/>
                  <a:gd name="T127" fmla="*/ 0 h 38"/>
                  <a:gd name="T128" fmla="*/ 99 w 99"/>
                  <a:gd name="T129" fmla="*/ 38 h 3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9" h="38">
                    <a:moveTo>
                      <a:pt x="49" y="38"/>
                    </a:moveTo>
                    <a:lnTo>
                      <a:pt x="54" y="38"/>
                    </a:lnTo>
                    <a:lnTo>
                      <a:pt x="59" y="38"/>
                    </a:lnTo>
                    <a:lnTo>
                      <a:pt x="63" y="37"/>
                    </a:lnTo>
                    <a:lnTo>
                      <a:pt x="67" y="36"/>
                    </a:lnTo>
                    <a:lnTo>
                      <a:pt x="71" y="34"/>
                    </a:lnTo>
                    <a:lnTo>
                      <a:pt x="76" y="33"/>
                    </a:lnTo>
                    <a:lnTo>
                      <a:pt x="80" y="32"/>
                    </a:lnTo>
                    <a:lnTo>
                      <a:pt x="84" y="30"/>
                    </a:lnTo>
                    <a:lnTo>
                      <a:pt x="88" y="28"/>
                    </a:lnTo>
                    <a:lnTo>
                      <a:pt x="92" y="26"/>
                    </a:lnTo>
                    <a:lnTo>
                      <a:pt x="94" y="25"/>
                    </a:lnTo>
                    <a:lnTo>
                      <a:pt x="96" y="23"/>
                    </a:lnTo>
                    <a:lnTo>
                      <a:pt x="97" y="21"/>
                    </a:lnTo>
                    <a:lnTo>
                      <a:pt x="98" y="17"/>
                    </a:lnTo>
                    <a:lnTo>
                      <a:pt x="99" y="15"/>
                    </a:lnTo>
                    <a:lnTo>
                      <a:pt x="99" y="12"/>
                    </a:lnTo>
                    <a:lnTo>
                      <a:pt x="98" y="9"/>
                    </a:lnTo>
                    <a:lnTo>
                      <a:pt x="95" y="6"/>
                    </a:lnTo>
                    <a:lnTo>
                      <a:pt x="92" y="2"/>
                    </a:lnTo>
                    <a:lnTo>
                      <a:pt x="86" y="0"/>
                    </a:lnTo>
                    <a:lnTo>
                      <a:pt x="13" y="0"/>
                    </a:lnTo>
                    <a:lnTo>
                      <a:pt x="7" y="2"/>
                    </a:lnTo>
                    <a:lnTo>
                      <a:pt x="4" y="6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17"/>
                    </a:lnTo>
                    <a:lnTo>
                      <a:pt x="2" y="21"/>
                    </a:lnTo>
                    <a:lnTo>
                      <a:pt x="3" y="23"/>
                    </a:lnTo>
                    <a:lnTo>
                      <a:pt x="5" y="25"/>
                    </a:lnTo>
                    <a:lnTo>
                      <a:pt x="7" y="26"/>
                    </a:lnTo>
                    <a:lnTo>
                      <a:pt x="10" y="28"/>
                    </a:lnTo>
                    <a:lnTo>
                      <a:pt x="15" y="30"/>
                    </a:lnTo>
                    <a:lnTo>
                      <a:pt x="19" y="32"/>
                    </a:lnTo>
                    <a:lnTo>
                      <a:pt x="23" y="33"/>
                    </a:lnTo>
                    <a:lnTo>
                      <a:pt x="28" y="34"/>
                    </a:lnTo>
                    <a:lnTo>
                      <a:pt x="32" y="36"/>
                    </a:lnTo>
                    <a:lnTo>
                      <a:pt x="36" y="37"/>
                    </a:lnTo>
                    <a:lnTo>
                      <a:pt x="40" y="38"/>
                    </a:lnTo>
                    <a:lnTo>
                      <a:pt x="45" y="38"/>
                    </a:lnTo>
                    <a:lnTo>
                      <a:pt x="49" y="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56" name="Freeform 1012"/>
              <p:cNvSpPr>
                <a:spLocks/>
              </p:cNvSpPr>
              <p:nvPr/>
            </p:nvSpPr>
            <p:spPr bwMode="auto">
              <a:xfrm>
                <a:off x="2110" y="2070"/>
                <a:ext cx="99" cy="38"/>
              </a:xfrm>
              <a:custGeom>
                <a:avLst/>
                <a:gdLst>
                  <a:gd name="T0" fmla="*/ 49 w 99"/>
                  <a:gd name="T1" fmla="*/ 38 h 38"/>
                  <a:gd name="T2" fmla="*/ 54 w 99"/>
                  <a:gd name="T3" fmla="*/ 38 h 38"/>
                  <a:gd name="T4" fmla="*/ 59 w 99"/>
                  <a:gd name="T5" fmla="*/ 38 h 38"/>
                  <a:gd name="T6" fmla="*/ 63 w 99"/>
                  <a:gd name="T7" fmla="*/ 37 h 38"/>
                  <a:gd name="T8" fmla="*/ 67 w 99"/>
                  <a:gd name="T9" fmla="*/ 36 h 38"/>
                  <a:gd name="T10" fmla="*/ 71 w 99"/>
                  <a:gd name="T11" fmla="*/ 34 h 38"/>
                  <a:gd name="T12" fmla="*/ 76 w 99"/>
                  <a:gd name="T13" fmla="*/ 33 h 38"/>
                  <a:gd name="T14" fmla="*/ 80 w 99"/>
                  <a:gd name="T15" fmla="*/ 32 h 38"/>
                  <a:gd name="T16" fmla="*/ 84 w 99"/>
                  <a:gd name="T17" fmla="*/ 30 h 38"/>
                  <a:gd name="T18" fmla="*/ 88 w 99"/>
                  <a:gd name="T19" fmla="*/ 28 h 38"/>
                  <a:gd name="T20" fmla="*/ 92 w 99"/>
                  <a:gd name="T21" fmla="*/ 26 h 38"/>
                  <a:gd name="T22" fmla="*/ 94 w 99"/>
                  <a:gd name="T23" fmla="*/ 25 h 38"/>
                  <a:gd name="T24" fmla="*/ 96 w 99"/>
                  <a:gd name="T25" fmla="*/ 23 h 38"/>
                  <a:gd name="T26" fmla="*/ 97 w 99"/>
                  <a:gd name="T27" fmla="*/ 21 h 38"/>
                  <a:gd name="T28" fmla="*/ 98 w 99"/>
                  <a:gd name="T29" fmla="*/ 17 h 38"/>
                  <a:gd name="T30" fmla="*/ 99 w 99"/>
                  <a:gd name="T31" fmla="*/ 15 h 38"/>
                  <a:gd name="T32" fmla="*/ 99 w 99"/>
                  <a:gd name="T33" fmla="*/ 12 h 38"/>
                  <a:gd name="T34" fmla="*/ 98 w 99"/>
                  <a:gd name="T35" fmla="*/ 9 h 38"/>
                  <a:gd name="T36" fmla="*/ 95 w 99"/>
                  <a:gd name="T37" fmla="*/ 6 h 38"/>
                  <a:gd name="T38" fmla="*/ 92 w 99"/>
                  <a:gd name="T39" fmla="*/ 2 h 38"/>
                  <a:gd name="T40" fmla="*/ 86 w 99"/>
                  <a:gd name="T41" fmla="*/ 0 h 38"/>
                  <a:gd name="T42" fmla="*/ 13 w 99"/>
                  <a:gd name="T43" fmla="*/ 0 h 38"/>
                  <a:gd name="T44" fmla="*/ 7 w 99"/>
                  <a:gd name="T45" fmla="*/ 2 h 38"/>
                  <a:gd name="T46" fmla="*/ 4 w 99"/>
                  <a:gd name="T47" fmla="*/ 6 h 38"/>
                  <a:gd name="T48" fmla="*/ 1 w 99"/>
                  <a:gd name="T49" fmla="*/ 9 h 38"/>
                  <a:gd name="T50" fmla="*/ 0 w 99"/>
                  <a:gd name="T51" fmla="*/ 12 h 38"/>
                  <a:gd name="T52" fmla="*/ 0 w 99"/>
                  <a:gd name="T53" fmla="*/ 15 h 38"/>
                  <a:gd name="T54" fmla="*/ 1 w 99"/>
                  <a:gd name="T55" fmla="*/ 17 h 38"/>
                  <a:gd name="T56" fmla="*/ 2 w 99"/>
                  <a:gd name="T57" fmla="*/ 21 h 38"/>
                  <a:gd name="T58" fmla="*/ 3 w 99"/>
                  <a:gd name="T59" fmla="*/ 23 h 38"/>
                  <a:gd name="T60" fmla="*/ 5 w 99"/>
                  <a:gd name="T61" fmla="*/ 25 h 38"/>
                  <a:gd name="T62" fmla="*/ 7 w 99"/>
                  <a:gd name="T63" fmla="*/ 26 h 38"/>
                  <a:gd name="T64" fmla="*/ 10 w 99"/>
                  <a:gd name="T65" fmla="*/ 28 h 38"/>
                  <a:gd name="T66" fmla="*/ 15 w 99"/>
                  <a:gd name="T67" fmla="*/ 30 h 38"/>
                  <a:gd name="T68" fmla="*/ 19 w 99"/>
                  <a:gd name="T69" fmla="*/ 32 h 38"/>
                  <a:gd name="T70" fmla="*/ 23 w 99"/>
                  <a:gd name="T71" fmla="*/ 33 h 38"/>
                  <a:gd name="T72" fmla="*/ 28 w 99"/>
                  <a:gd name="T73" fmla="*/ 34 h 38"/>
                  <a:gd name="T74" fmla="*/ 32 w 99"/>
                  <a:gd name="T75" fmla="*/ 36 h 38"/>
                  <a:gd name="T76" fmla="*/ 36 w 99"/>
                  <a:gd name="T77" fmla="*/ 37 h 38"/>
                  <a:gd name="T78" fmla="*/ 40 w 99"/>
                  <a:gd name="T79" fmla="*/ 38 h 38"/>
                  <a:gd name="T80" fmla="*/ 45 w 99"/>
                  <a:gd name="T81" fmla="*/ 38 h 38"/>
                  <a:gd name="T82" fmla="*/ 49 w 99"/>
                  <a:gd name="T83" fmla="*/ 38 h 3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9"/>
                  <a:gd name="T127" fmla="*/ 0 h 38"/>
                  <a:gd name="T128" fmla="*/ 99 w 99"/>
                  <a:gd name="T129" fmla="*/ 38 h 3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9" h="38">
                    <a:moveTo>
                      <a:pt x="49" y="38"/>
                    </a:moveTo>
                    <a:lnTo>
                      <a:pt x="54" y="38"/>
                    </a:lnTo>
                    <a:lnTo>
                      <a:pt x="59" y="38"/>
                    </a:lnTo>
                    <a:lnTo>
                      <a:pt x="63" y="37"/>
                    </a:lnTo>
                    <a:lnTo>
                      <a:pt x="67" y="36"/>
                    </a:lnTo>
                    <a:lnTo>
                      <a:pt x="71" y="34"/>
                    </a:lnTo>
                    <a:lnTo>
                      <a:pt x="76" y="33"/>
                    </a:lnTo>
                    <a:lnTo>
                      <a:pt x="80" y="32"/>
                    </a:lnTo>
                    <a:lnTo>
                      <a:pt x="84" y="30"/>
                    </a:lnTo>
                    <a:lnTo>
                      <a:pt x="88" y="28"/>
                    </a:lnTo>
                    <a:lnTo>
                      <a:pt x="92" y="26"/>
                    </a:lnTo>
                    <a:lnTo>
                      <a:pt x="94" y="25"/>
                    </a:lnTo>
                    <a:lnTo>
                      <a:pt x="96" y="23"/>
                    </a:lnTo>
                    <a:lnTo>
                      <a:pt x="97" y="21"/>
                    </a:lnTo>
                    <a:lnTo>
                      <a:pt x="98" y="17"/>
                    </a:lnTo>
                    <a:lnTo>
                      <a:pt x="99" y="15"/>
                    </a:lnTo>
                    <a:lnTo>
                      <a:pt x="99" y="12"/>
                    </a:lnTo>
                    <a:lnTo>
                      <a:pt x="98" y="9"/>
                    </a:lnTo>
                    <a:lnTo>
                      <a:pt x="95" y="6"/>
                    </a:lnTo>
                    <a:lnTo>
                      <a:pt x="92" y="2"/>
                    </a:lnTo>
                    <a:lnTo>
                      <a:pt x="86" y="0"/>
                    </a:lnTo>
                    <a:lnTo>
                      <a:pt x="13" y="0"/>
                    </a:lnTo>
                    <a:lnTo>
                      <a:pt x="7" y="2"/>
                    </a:lnTo>
                    <a:lnTo>
                      <a:pt x="4" y="6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17"/>
                    </a:lnTo>
                    <a:lnTo>
                      <a:pt x="2" y="21"/>
                    </a:lnTo>
                    <a:lnTo>
                      <a:pt x="3" y="23"/>
                    </a:lnTo>
                    <a:lnTo>
                      <a:pt x="5" y="25"/>
                    </a:lnTo>
                    <a:lnTo>
                      <a:pt x="7" y="26"/>
                    </a:lnTo>
                    <a:lnTo>
                      <a:pt x="10" y="28"/>
                    </a:lnTo>
                    <a:lnTo>
                      <a:pt x="15" y="30"/>
                    </a:lnTo>
                    <a:lnTo>
                      <a:pt x="19" y="32"/>
                    </a:lnTo>
                    <a:lnTo>
                      <a:pt x="23" y="33"/>
                    </a:lnTo>
                    <a:lnTo>
                      <a:pt x="28" y="34"/>
                    </a:lnTo>
                    <a:lnTo>
                      <a:pt x="32" y="36"/>
                    </a:lnTo>
                    <a:lnTo>
                      <a:pt x="36" y="37"/>
                    </a:lnTo>
                    <a:lnTo>
                      <a:pt x="40" y="38"/>
                    </a:lnTo>
                    <a:lnTo>
                      <a:pt x="45" y="38"/>
                    </a:lnTo>
                    <a:lnTo>
                      <a:pt x="49" y="38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57" name="Freeform 1013"/>
              <p:cNvSpPr>
                <a:spLocks/>
              </p:cNvSpPr>
              <p:nvPr/>
            </p:nvSpPr>
            <p:spPr bwMode="auto">
              <a:xfrm>
                <a:off x="2089" y="1941"/>
                <a:ext cx="140" cy="150"/>
              </a:xfrm>
              <a:custGeom>
                <a:avLst/>
                <a:gdLst>
                  <a:gd name="T0" fmla="*/ 71 w 140"/>
                  <a:gd name="T1" fmla="*/ 150 h 150"/>
                  <a:gd name="T2" fmla="*/ 82 w 140"/>
                  <a:gd name="T3" fmla="*/ 148 h 150"/>
                  <a:gd name="T4" fmla="*/ 92 w 140"/>
                  <a:gd name="T5" fmla="*/ 145 h 150"/>
                  <a:gd name="T6" fmla="*/ 103 w 140"/>
                  <a:gd name="T7" fmla="*/ 141 h 150"/>
                  <a:gd name="T8" fmla="*/ 112 w 140"/>
                  <a:gd name="T9" fmla="*/ 135 h 150"/>
                  <a:gd name="T10" fmla="*/ 120 w 140"/>
                  <a:gd name="T11" fmla="*/ 127 h 150"/>
                  <a:gd name="T12" fmla="*/ 127 w 140"/>
                  <a:gd name="T13" fmla="*/ 119 h 150"/>
                  <a:gd name="T14" fmla="*/ 133 w 140"/>
                  <a:gd name="T15" fmla="*/ 109 h 150"/>
                  <a:gd name="T16" fmla="*/ 137 w 140"/>
                  <a:gd name="T17" fmla="*/ 98 h 150"/>
                  <a:gd name="T18" fmla="*/ 139 w 140"/>
                  <a:gd name="T19" fmla="*/ 87 h 150"/>
                  <a:gd name="T20" fmla="*/ 140 w 140"/>
                  <a:gd name="T21" fmla="*/ 75 h 150"/>
                  <a:gd name="T22" fmla="*/ 139 w 140"/>
                  <a:gd name="T23" fmla="*/ 63 h 150"/>
                  <a:gd name="T24" fmla="*/ 137 w 140"/>
                  <a:gd name="T25" fmla="*/ 51 h 150"/>
                  <a:gd name="T26" fmla="*/ 133 w 140"/>
                  <a:gd name="T27" fmla="*/ 41 h 150"/>
                  <a:gd name="T28" fmla="*/ 127 w 140"/>
                  <a:gd name="T29" fmla="*/ 31 h 150"/>
                  <a:gd name="T30" fmla="*/ 120 w 140"/>
                  <a:gd name="T31" fmla="*/ 21 h 150"/>
                  <a:gd name="T32" fmla="*/ 112 w 140"/>
                  <a:gd name="T33" fmla="*/ 15 h 150"/>
                  <a:gd name="T34" fmla="*/ 103 w 140"/>
                  <a:gd name="T35" fmla="*/ 9 h 150"/>
                  <a:gd name="T36" fmla="*/ 92 w 140"/>
                  <a:gd name="T37" fmla="*/ 4 h 150"/>
                  <a:gd name="T38" fmla="*/ 82 w 140"/>
                  <a:gd name="T39" fmla="*/ 1 h 150"/>
                  <a:gd name="T40" fmla="*/ 71 w 140"/>
                  <a:gd name="T41" fmla="*/ 0 h 150"/>
                  <a:gd name="T42" fmla="*/ 59 w 140"/>
                  <a:gd name="T43" fmla="*/ 1 h 150"/>
                  <a:gd name="T44" fmla="*/ 49 w 140"/>
                  <a:gd name="T45" fmla="*/ 4 h 150"/>
                  <a:gd name="T46" fmla="*/ 38 w 140"/>
                  <a:gd name="T47" fmla="*/ 9 h 150"/>
                  <a:gd name="T48" fmla="*/ 29 w 140"/>
                  <a:gd name="T49" fmla="*/ 15 h 150"/>
                  <a:gd name="T50" fmla="*/ 21 w 140"/>
                  <a:gd name="T51" fmla="*/ 21 h 150"/>
                  <a:gd name="T52" fmla="*/ 14 w 140"/>
                  <a:gd name="T53" fmla="*/ 31 h 150"/>
                  <a:gd name="T54" fmla="*/ 8 w 140"/>
                  <a:gd name="T55" fmla="*/ 41 h 150"/>
                  <a:gd name="T56" fmla="*/ 4 w 140"/>
                  <a:gd name="T57" fmla="*/ 51 h 150"/>
                  <a:gd name="T58" fmla="*/ 2 w 140"/>
                  <a:gd name="T59" fmla="*/ 63 h 150"/>
                  <a:gd name="T60" fmla="*/ 0 w 140"/>
                  <a:gd name="T61" fmla="*/ 75 h 150"/>
                  <a:gd name="T62" fmla="*/ 2 w 140"/>
                  <a:gd name="T63" fmla="*/ 87 h 150"/>
                  <a:gd name="T64" fmla="*/ 4 w 140"/>
                  <a:gd name="T65" fmla="*/ 98 h 150"/>
                  <a:gd name="T66" fmla="*/ 8 w 140"/>
                  <a:gd name="T67" fmla="*/ 109 h 150"/>
                  <a:gd name="T68" fmla="*/ 14 w 140"/>
                  <a:gd name="T69" fmla="*/ 119 h 150"/>
                  <a:gd name="T70" fmla="*/ 21 w 140"/>
                  <a:gd name="T71" fmla="*/ 127 h 150"/>
                  <a:gd name="T72" fmla="*/ 29 w 140"/>
                  <a:gd name="T73" fmla="*/ 135 h 150"/>
                  <a:gd name="T74" fmla="*/ 38 w 140"/>
                  <a:gd name="T75" fmla="*/ 141 h 150"/>
                  <a:gd name="T76" fmla="*/ 49 w 140"/>
                  <a:gd name="T77" fmla="*/ 145 h 150"/>
                  <a:gd name="T78" fmla="*/ 59 w 140"/>
                  <a:gd name="T79" fmla="*/ 148 h 150"/>
                  <a:gd name="T80" fmla="*/ 71 w 140"/>
                  <a:gd name="T81" fmla="*/ 150 h 150"/>
                  <a:gd name="T82" fmla="*/ 71 w 140"/>
                  <a:gd name="T83" fmla="*/ 150 h 15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40"/>
                  <a:gd name="T127" fmla="*/ 0 h 150"/>
                  <a:gd name="T128" fmla="*/ 140 w 140"/>
                  <a:gd name="T129" fmla="*/ 150 h 15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40" h="150">
                    <a:moveTo>
                      <a:pt x="71" y="150"/>
                    </a:moveTo>
                    <a:lnTo>
                      <a:pt x="82" y="148"/>
                    </a:lnTo>
                    <a:lnTo>
                      <a:pt x="92" y="145"/>
                    </a:lnTo>
                    <a:lnTo>
                      <a:pt x="103" y="141"/>
                    </a:lnTo>
                    <a:lnTo>
                      <a:pt x="112" y="135"/>
                    </a:lnTo>
                    <a:lnTo>
                      <a:pt x="120" y="127"/>
                    </a:lnTo>
                    <a:lnTo>
                      <a:pt x="127" y="119"/>
                    </a:lnTo>
                    <a:lnTo>
                      <a:pt x="133" y="109"/>
                    </a:lnTo>
                    <a:lnTo>
                      <a:pt x="137" y="98"/>
                    </a:lnTo>
                    <a:lnTo>
                      <a:pt x="139" y="87"/>
                    </a:lnTo>
                    <a:lnTo>
                      <a:pt x="140" y="75"/>
                    </a:lnTo>
                    <a:lnTo>
                      <a:pt x="139" y="63"/>
                    </a:lnTo>
                    <a:lnTo>
                      <a:pt x="137" y="51"/>
                    </a:lnTo>
                    <a:lnTo>
                      <a:pt x="133" y="41"/>
                    </a:lnTo>
                    <a:lnTo>
                      <a:pt x="127" y="31"/>
                    </a:lnTo>
                    <a:lnTo>
                      <a:pt x="120" y="21"/>
                    </a:lnTo>
                    <a:lnTo>
                      <a:pt x="112" y="15"/>
                    </a:lnTo>
                    <a:lnTo>
                      <a:pt x="103" y="9"/>
                    </a:lnTo>
                    <a:lnTo>
                      <a:pt x="92" y="4"/>
                    </a:lnTo>
                    <a:lnTo>
                      <a:pt x="82" y="1"/>
                    </a:lnTo>
                    <a:lnTo>
                      <a:pt x="71" y="0"/>
                    </a:lnTo>
                    <a:lnTo>
                      <a:pt x="59" y="1"/>
                    </a:lnTo>
                    <a:lnTo>
                      <a:pt x="49" y="4"/>
                    </a:lnTo>
                    <a:lnTo>
                      <a:pt x="38" y="9"/>
                    </a:lnTo>
                    <a:lnTo>
                      <a:pt x="29" y="15"/>
                    </a:lnTo>
                    <a:lnTo>
                      <a:pt x="21" y="21"/>
                    </a:lnTo>
                    <a:lnTo>
                      <a:pt x="14" y="31"/>
                    </a:lnTo>
                    <a:lnTo>
                      <a:pt x="8" y="41"/>
                    </a:lnTo>
                    <a:lnTo>
                      <a:pt x="4" y="51"/>
                    </a:lnTo>
                    <a:lnTo>
                      <a:pt x="2" y="63"/>
                    </a:lnTo>
                    <a:lnTo>
                      <a:pt x="0" y="75"/>
                    </a:lnTo>
                    <a:lnTo>
                      <a:pt x="2" y="87"/>
                    </a:lnTo>
                    <a:lnTo>
                      <a:pt x="4" y="98"/>
                    </a:lnTo>
                    <a:lnTo>
                      <a:pt x="8" y="109"/>
                    </a:lnTo>
                    <a:lnTo>
                      <a:pt x="14" y="119"/>
                    </a:lnTo>
                    <a:lnTo>
                      <a:pt x="21" y="127"/>
                    </a:lnTo>
                    <a:lnTo>
                      <a:pt x="29" y="135"/>
                    </a:lnTo>
                    <a:lnTo>
                      <a:pt x="38" y="141"/>
                    </a:lnTo>
                    <a:lnTo>
                      <a:pt x="49" y="145"/>
                    </a:lnTo>
                    <a:lnTo>
                      <a:pt x="59" y="148"/>
                    </a:lnTo>
                    <a:lnTo>
                      <a:pt x="71" y="15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58" name="Freeform 1014"/>
              <p:cNvSpPr>
                <a:spLocks/>
              </p:cNvSpPr>
              <p:nvPr/>
            </p:nvSpPr>
            <p:spPr bwMode="auto">
              <a:xfrm>
                <a:off x="2089" y="1941"/>
                <a:ext cx="140" cy="150"/>
              </a:xfrm>
              <a:custGeom>
                <a:avLst/>
                <a:gdLst>
                  <a:gd name="T0" fmla="*/ 71 w 140"/>
                  <a:gd name="T1" fmla="*/ 150 h 150"/>
                  <a:gd name="T2" fmla="*/ 82 w 140"/>
                  <a:gd name="T3" fmla="*/ 148 h 150"/>
                  <a:gd name="T4" fmla="*/ 92 w 140"/>
                  <a:gd name="T5" fmla="*/ 145 h 150"/>
                  <a:gd name="T6" fmla="*/ 103 w 140"/>
                  <a:gd name="T7" fmla="*/ 141 h 150"/>
                  <a:gd name="T8" fmla="*/ 112 w 140"/>
                  <a:gd name="T9" fmla="*/ 135 h 150"/>
                  <a:gd name="T10" fmla="*/ 120 w 140"/>
                  <a:gd name="T11" fmla="*/ 127 h 150"/>
                  <a:gd name="T12" fmla="*/ 127 w 140"/>
                  <a:gd name="T13" fmla="*/ 119 h 150"/>
                  <a:gd name="T14" fmla="*/ 133 w 140"/>
                  <a:gd name="T15" fmla="*/ 109 h 150"/>
                  <a:gd name="T16" fmla="*/ 137 w 140"/>
                  <a:gd name="T17" fmla="*/ 98 h 150"/>
                  <a:gd name="T18" fmla="*/ 139 w 140"/>
                  <a:gd name="T19" fmla="*/ 87 h 150"/>
                  <a:gd name="T20" fmla="*/ 140 w 140"/>
                  <a:gd name="T21" fmla="*/ 75 h 150"/>
                  <a:gd name="T22" fmla="*/ 139 w 140"/>
                  <a:gd name="T23" fmla="*/ 63 h 150"/>
                  <a:gd name="T24" fmla="*/ 137 w 140"/>
                  <a:gd name="T25" fmla="*/ 51 h 150"/>
                  <a:gd name="T26" fmla="*/ 133 w 140"/>
                  <a:gd name="T27" fmla="*/ 41 h 150"/>
                  <a:gd name="T28" fmla="*/ 127 w 140"/>
                  <a:gd name="T29" fmla="*/ 31 h 150"/>
                  <a:gd name="T30" fmla="*/ 120 w 140"/>
                  <a:gd name="T31" fmla="*/ 21 h 150"/>
                  <a:gd name="T32" fmla="*/ 112 w 140"/>
                  <a:gd name="T33" fmla="*/ 15 h 150"/>
                  <a:gd name="T34" fmla="*/ 103 w 140"/>
                  <a:gd name="T35" fmla="*/ 9 h 150"/>
                  <a:gd name="T36" fmla="*/ 92 w 140"/>
                  <a:gd name="T37" fmla="*/ 4 h 150"/>
                  <a:gd name="T38" fmla="*/ 82 w 140"/>
                  <a:gd name="T39" fmla="*/ 1 h 150"/>
                  <a:gd name="T40" fmla="*/ 71 w 140"/>
                  <a:gd name="T41" fmla="*/ 0 h 150"/>
                  <a:gd name="T42" fmla="*/ 59 w 140"/>
                  <a:gd name="T43" fmla="*/ 1 h 150"/>
                  <a:gd name="T44" fmla="*/ 49 w 140"/>
                  <a:gd name="T45" fmla="*/ 4 h 150"/>
                  <a:gd name="T46" fmla="*/ 38 w 140"/>
                  <a:gd name="T47" fmla="*/ 9 h 150"/>
                  <a:gd name="T48" fmla="*/ 29 w 140"/>
                  <a:gd name="T49" fmla="*/ 15 h 150"/>
                  <a:gd name="T50" fmla="*/ 21 w 140"/>
                  <a:gd name="T51" fmla="*/ 21 h 150"/>
                  <a:gd name="T52" fmla="*/ 14 w 140"/>
                  <a:gd name="T53" fmla="*/ 31 h 150"/>
                  <a:gd name="T54" fmla="*/ 8 w 140"/>
                  <a:gd name="T55" fmla="*/ 41 h 150"/>
                  <a:gd name="T56" fmla="*/ 4 w 140"/>
                  <a:gd name="T57" fmla="*/ 51 h 150"/>
                  <a:gd name="T58" fmla="*/ 2 w 140"/>
                  <a:gd name="T59" fmla="*/ 63 h 150"/>
                  <a:gd name="T60" fmla="*/ 0 w 140"/>
                  <a:gd name="T61" fmla="*/ 75 h 150"/>
                  <a:gd name="T62" fmla="*/ 2 w 140"/>
                  <a:gd name="T63" fmla="*/ 87 h 150"/>
                  <a:gd name="T64" fmla="*/ 4 w 140"/>
                  <a:gd name="T65" fmla="*/ 98 h 150"/>
                  <a:gd name="T66" fmla="*/ 8 w 140"/>
                  <a:gd name="T67" fmla="*/ 109 h 150"/>
                  <a:gd name="T68" fmla="*/ 14 w 140"/>
                  <a:gd name="T69" fmla="*/ 119 h 150"/>
                  <a:gd name="T70" fmla="*/ 21 w 140"/>
                  <a:gd name="T71" fmla="*/ 127 h 150"/>
                  <a:gd name="T72" fmla="*/ 29 w 140"/>
                  <a:gd name="T73" fmla="*/ 135 h 150"/>
                  <a:gd name="T74" fmla="*/ 38 w 140"/>
                  <a:gd name="T75" fmla="*/ 141 h 150"/>
                  <a:gd name="T76" fmla="*/ 49 w 140"/>
                  <a:gd name="T77" fmla="*/ 145 h 150"/>
                  <a:gd name="T78" fmla="*/ 59 w 140"/>
                  <a:gd name="T79" fmla="*/ 148 h 150"/>
                  <a:gd name="T80" fmla="*/ 71 w 140"/>
                  <a:gd name="T81" fmla="*/ 150 h 15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0"/>
                  <a:gd name="T124" fmla="*/ 0 h 150"/>
                  <a:gd name="T125" fmla="*/ 140 w 140"/>
                  <a:gd name="T126" fmla="*/ 150 h 15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0" h="150">
                    <a:moveTo>
                      <a:pt x="71" y="150"/>
                    </a:moveTo>
                    <a:lnTo>
                      <a:pt x="82" y="148"/>
                    </a:lnTo>
                    <a:lnTo>
                      <a:pt x="92" y="145"/>
                    </a:lnTo>
                    <a:lnTo>
                      <a:pt x="103" y="141"/>
                    </a:lnTo>
                    <a:lnTo>
                      <a:pt x="112" y="135"/>
                    </a:lnTo>
                    <a:lnTo>
                      <a:pt x="120" y="127"/>
                    </a:lnTo>
                    <a:lnTo>
                      <a:pt x="127" y="119"/>
                    </a:lnTo>
                    <a:lnTo>
                      <a:pt x="133" y="109"/>
                    </a:lnTo>
                    <a:lnTo>
                      <a:pt x="137" y="98"/>
                    </a:lnTo>
                    <a:lnTo>
                      <a:pt x="139" y="87"/>
                    </a:lnTo>
                    <a:lnTo>
                      <a:pt x="140" y="75"/>
                    </a:lnTo>
                    <a:lnTo>
                      <a:pt x="139" y="63"/>
                    </a:lnTo>
                    <a:lnTo>
                      <a:pt x="137" y="51"/>
                    </a:lnTo>
                    <a:lnTo>
                      <a:pt x="133" y="41"/>
                    </a:lnTo>
                    <a:lnTo>
                      <a:pt x="127" y="31"/>
                    </a:lnTo>
                    <a:lnTo>
                      <a:pt x="120" y="21"/>
                    </a:lnTo>
                    <a:lnTo>
                      <a:pt x="112" y="15"/>
                    </a:lnTo>
                    <a:lnTo>
                      <a:pt x="103" y="9"/>
                    </a:lnTo>
                    <a:lnTo>
                      <a:pt x="92" y="4"/>
                    </a:lnTo>
                    <a:lnTo>
                      <a:pt x="82" y="1"/>
                    </a:lnTo>
                    <a:lnTo>
                      <a:pt x="71" y="0"/>
                    </a:lnTo>
                    <a:lnTo>
                      <a:pt x="59" y="1"/>
                    </a:lnTo>
                    <a:lnTo>
                      <a:pt x="49" y="4"/>
                    </a:lnTo>
                    <a:lnTo>
                      <a:pt x="38" y="9"/>
                    </a:lnTo>
                    <a:lnTo>
                      <a:pt x="29" y="15"/>
                    </a:lnTo>
                    <a:lnTo>
                      <a:pt x="21" y="21"/>
                    </a:lnTo>
                    <a:lnTo>
                      <a:pt x="14" y="31"/>
                    </a:lnTo>
                    <a:lnTo>
                      <a:pt x="8" y="41"/>
                    </a:lnTo>
                    <a:lnTo>
                      <a:pt x="4" y="51"/>
                    </a:lnTo>
                    <a:lnTo>
                      <a:pt x="2" y="63"/>
                    </a:lnTo>
                    <a:lnTo>
                      <a:pt x="0" y="75"/>
                    </a:lnTo>
                    <a:lnTo>
                      <a:pt x="2" y="87"/>
                    </a:lnTo>
                    <a:lnTo>
                      <a:pt x="4" y="98"/>
                    </a:lnTo>
                    <a:lnTo>
                      <a:pt x="8" y="109"/>
                    </a:lnTo>
                    <a:lnTo>
                      <a:pt x="14" y="119"/>
                    </a:lnTo>
                    <a:lnTo>
                      <a:pt x="21" y="127"/>
                    </a:lnTo>
                    <a:lnTo>
                      <a:pt x="29" y="135"/>
                    </a:lnTo>
                    <a:lnTo>
                      <a:pt x="38" y="141"/>
                    </a:lnTo>
                    <a:lnTo>
                      <a:pt x="49" y="145"/>
                    </a:lnTo>
                    <a:lnTo>
                      <a:pt x="59" y="148"/>
                    </a:lnTo>
                    <a:lnTo>
                      <a:pt x="71" y="15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59" name="Freeform 1015"/>
              <p:cNvSpPr>
                <a:spLocks/>
              </p:cNvSpPr>
              <p:nvPr/>
            </p:nvSpPr>
            <p:spPr bwMode="auto">
              <a:xfrm>
                <a:off x="2120" y="2023"/>
                <a:ext cx="25" cy="31"/>
              </a:xfrm>
              <a:custGeom>
                <a:avLst/>
                <a:gdLst>
                  <a:gd name="T0" fmla="*/ 0 w 25"/>
                  <a:gd name="T1" fmla="*/ 0 h 31"/>
                  <a:gd name="T2" fmla="*/ 0 w 25"/>
                  <a:gd name="T3" fmla="*/ 5 h 31"/>
                  <a:gd name="T4" fmla="*/ 2 w 25"/>
                  <a:gd name="T5" fmla="*/ 10 h 31"/>
                  <a:gd name="T6" fmla="*/ 4 w 25"/>
                  <a:gd name="T7" fmla="*/ 14 h 31"/>
                  <a:gd name="T8" fmla="*/ 6 w 25"/>
                  <a:gd name="T9" fmla="*/ 17 h 31"/>
                  <a:gd name="T10" fmla="*/ 8 w 25"/>
                  <a:gd name="T11" fmla="*/ 22 h 31"/>
                  <a:gd name="T12" fmla="*/ 11 w 25"/>
                  <a:gd name="T13" fmla="*/ 25 h 31"/>
                  <a:gd name="T14" fmla="*/ 14 w 25"/>
                  <a:gd name="T15" fmla="*/ 27 h 31"/>
                  <a:gd name="T16" fmla="*/ 18 w 25"/>
                  <a:gd name="T17" fmla="*/ 29 h 31"/>
                  <a:gd name="T18" fmla="*/ 22 w 25"/>
                  <a:gd name="T19" fmla="*/ 30 h 31"/>
                  <a:gd name="T20" fmla="*/ 25 w 25"/>
                  <a:gd name="T21" fmla="*/ 31 h 3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5"/>
                  <a:gd name="T34" fmla="*/ 0 h 31"/>
                  <a:gd name="T35" fmla="*/ 25 w 25"/>
                  <a:gd name="T36" fmla="*/ 31 h 3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5" h="31">
                    <a:moveTo>
                      <a:pt x="0" y="0"/>
                    </a:moveTo>
                    <a:lnTo>
                      <a:pt x="0" y="5"/>
                    </a:lnTo>
                    <a:lnTo>
                      <a:pt x="2" y="10"/>
                    </a:lnTo>
                    <a:lnTo>
                      <a:pt x="4" y="14"/>
                    </a:lnTo>
                    <a:lnTo>
                      <a:pt x="6" y="17"/>
                    </a:lnTo>
                    <a:lnTo>
                      <a:pt x="8" y="22"/>
                    </a:lnTo>
                    <a:lnTo>
                      <a:pt x="11" y="25"/>
                    </a:lnTo>
                    <a:lnTo>
                      <a:pt x="14" y="27"/>
                    </a:lnTo>
                    <a:lnTo>
                      <a:pt x="18" y="29"/>
                    </a:lnTo>
                    <a:lnTo>
                      <a:pt x="22" y="30"/>
                    </a:lnTo>
                    <a:lnTo>
                      <a:pt x="25" y="31"/>
                    </a:lnTo>
                  </a:path>
                </a:pathLst>
              </a:custGeom>
              <a:noFill/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60" name="Freeform 1016"/>
              <p:cNvSpPr>
                <a:spLocks/>
              </p:cNvSpPr>
              <p:nvPr/>
            </p:nvSpPr>
            <p:spPr bwMode="auto">
              <a:xfrm>
                <a:off x="2144" y="2016"/>
                <a:ext cx="45" cy="45"/>
              </a:xfrm>
              <a:custGeom>
                <a:avLst/>
                <a:gdLst>
                  <a:gd name="T0" fmla="*/ 22 w 45"/>
                  <a:gd name="T1" fmla="*/ 0 h 45"/>
                  <a:gd name="T2" fmla="*/ 28 w 45"/>
                  <a:gd name="T3" fmla="*/ 17 h 45"/>
                  <a:gd name="T4" fmla="*/ 45 w 45"/>
                  <a:gd name="T5" fmla="*/ 17 h 45"/>
                  <a:gd name="T6" fmla="*/ 31 w 45"/>
                  <a:gd name="T7" fmla="*/ 28 h 45"/>
                  <a:gd name="T8" fmla="*/ 36 w 45"/>
                  <a:gd name="T9" fmla="*/ 45 h 45"/>
                  <a:gd name="T10" fmla="*/ 22 w 45"/>
                  <a:gd name="T11" fmla="*/ 35 h 45"/>
                  <a:gd name="T12" fmla="*/ 9 w 45"/>
                  <a:gd name="T13" fmla="*/ 45 h 45"/>
                  <a:gd name="T14" fmla="*/ 14 w 45"/>
                  <a:gd name="T15" fmla="*/ 28 h 45"/>
                  <a:gd name="T16" fmla="*/ 0 w 45"/>
                  <a:gd name="T17" fmla="*/ 17 h 45"/>
                  <a:gd name="T18" fmla="*/ 17 w 45"/>
                  <a:gd name="T19" fmla="*/ 17 h 45"/>
                  <a:gd name="T20" fmla="*/ 22 w 45"/>
                  <a:gd name="T21" fmla="*/ 0 h 45"/>
                  <a:gd name="T22" fmla="*/ 22 w 45"/>
                  <a:gd name="T23" fmla="*/ 0 h 4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5"/>
                  <a:gd name="T37" fmla="*/ 0 h 45"/>
                  <a:gd name="T38" fmla="*/ 45 w 45"/>
                  <a:gd name="T39" fmla="*/ 45 h 4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5" h="45">
                    <a:moveTo>
                      <a:pt x="22" y="0"/>
                    </a:moveTo>
                    <a:lnTo>
                      <a:pt x="28" y="17"/>
                    </a:lnTo>
                    <a:lnTo>
                      <a:pt x="45" y="17"/>
                    </a:lnTo>
                    <a:lnTo>
                      <a:pt x="31" y="28"/>
                    </a:lnTo>
                    <a:lnTo>
                      <a:pt x="36" y="45"/>
                    </a:lnTo>
                    <a:lnTo>
                      <a:pt x="22" y="35"/>
                    </a:lnTo>
                    <a:lnTo>
                      <a:pt x="9" y="45"/>
                    </a:lnTo>
                    <a:lnTo>
                      <a:pt x="14" y="28"/>
                    </a:lnTo>
                    <a:lnTo>
                      <a:pt x="0" y="17"/>
                    </a:lnTo>
                    <a:lnTo>
                      <a:pt x="17" y="17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61" name="Freeform 1017"/>
              <p:cNvSpPr>
                <a:spLocks/>
              </p:cNvSpPr>
              <p:nvPr/>
            </p:nvSpPr>
            <p:spPr bwMode="auto">
              <a:xfrm>
                <a:off x="2036" y="1968"/>
                <a:ext cx="42" cy="41"/>
              </a:xfrm>
              <a:custGeom>
                <a:avLst/>
                <a:gdLst>
                  <a:gd name="T0" fmla="*/ 20 w 42"/>
                  <a:gd name="T1" fmla="*/ 0 h 41"/>
                  <a:gd name="T2" fmla="*/ 26 w 42"/>
                  <a:gd name="T3" fmla="*/ 16 h 41"/>
                  <a:gd name="T4" fmla="*/ 42 w 42"/>
                  <a:gd name="T5" fmla="*/ 16 h 41"/>
                  <a:gd name="T6" fmla="*/ 29 w 42"/>
                  <a:gd name="T7" fmla="*/ 25 h 41"/>
                  <a:gd name="T8" fmla="*/ 34 w 42"/>
                  <a:gd name="T9" fmla="*/ 41 h 41"/>
                  <a:gd name="T10" fmla="*/ 21 w 42"/>
                  <a:gd name="T11" fmla="*/ 32 h 41"/>
                  <a:gd name="T12" fmla="*/ 8 w 42"/>
                  <a:gd name="T13" fmla="*/ 41 h 41"/>
                  <a:gd name="T14" fmla="*/ 13 w 42"/>
                  <a:gd name="T15" fmla="*/ 25 h 41"/>
                  <a:gd name="T16" fmla="*/ 0 w 42"/>
                  <a:gd name="T17" fmla="*/ 16 h 41"/>
                  <a:gd name="T18" fmla="*/ 16 w 42"/>
                  <a:gd name="T19" fmla="*/ 16 h 41"/>
                  <a:gd name="T20" fmla="*/ 21 w 42"/>
                  <a:gd name="T21" fmla="*/ 0 h 41"/>
                  <a:gd name="T22" fmla="*/ 20 w 42"/>
                  <a:gd name="T23" fmla="*/ 0 h 4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2"/>
                  <a:gd name="T37" fmla="*/ 0 h 41"/>
                  <a:gd name="T38" fmla="*/ 42 w 42"/>
                  <a:gd name="T39" fmla="*/ 41 h 4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2" h="41">
                    <a:moveTo>
                      <a:pt x="20" y="0"/>
                    </a:moveTo>
                    <a:lnTo>
                      <a:pt x="26" y="16"/>
                    </a:lnTo>
                    <a:lnTo>
                      <a:pt x="42" y="16"/>
                    </a:lnTo>
                    <a:lnTo>
                      <a:pt x="29" y="25"/>
                    </a:lnTo>
                    <a:lnTo>
                      <a:pt x="34" y="41"/>
                    </a:lnTo>
                    <a:lnTo>
                      <a:pt x="21" y="32"/>
                    </a:lnTo>
                    <a:lnTo>
                      <a:pt x="8" y="41"/>
                    </a:lnTo>
                    <a:lnTo>
                      <a:pt x="13" y="25"/>
                    </a:lnTo>
                    <a:lnTo>
                      <a:pt x="0" y="16"/>
                    </a:lnTo>
                    <a:lnTo>
                      <a:pt x="16" y="16"/>
                    </a:lnTo>
                    <a:lnTo>
                      <a:pt x="21" y="0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62" name="Freeform 1018"/>
              <p:cNvSpPr>
                <a:spLocks/>
              </p:cNvSpPr>
              <p:nvPr/>
            </p:nvSpPr>
            <p:spPr bwMode="auto">
              <a:xfrm>
                <a:off x="2110" y="1897"/>
                <a:ext cx="41" cy="42"/>
              </a:xfrm>
              <a:custGeom>
                <a:avLst/>
                <a:gdLst>
                  <a:gd name="T0" fmla="*/ 20 w 41"/>
                  <a:gd name="T1" fmla="*/ 0 h 42"/>
                  <a:gd name="T2" fmla="*/ 25 w 41"/>
                  <a:gd name="T3" fmla="*/ 15 h 42"/>
                  <a:gd name="T4" fmla="*/ 41 w 41"/>
                  <a:gd name="T5" fmla="*/ 16 h 42"/>
                  <a:gd name="T6" fmla="*/ 29 w 41"/>
                  <a:gd name="T7" fmla="*/ 26 h 42"/>
                  <a:gd name="T8" fmla="*/ 34 w 41"/>
                  <a:gd name="T9" fmla="*/ 42 h 42"/>
                  <a:gd name="T10" fmla="*/ 20 w 41"/>
                  <a:gd name="T11" fmla="*/ 32 h 42"/>
                  <a:gd name="T12" fmla="*/ 7 w 41"/>
                  <a:gd name="T13" fmla="*/ 42 h 42"/>
                  <a:gd name="T14" fmla="*/ 13 w 41"/>
                  <a:gd name="T15" fmla="*/ 26 h 42"/>
                  <a:gd name="T16" fmla="*/ 0 w 41"/>
                  <a:gd name="T17" fmla="*/ 16 h 42"/>
                  <a:gd name="T18" fmla="*/ 16 w 41"/>
                  <a:gd name="T19" fmla="*/ 15 h 42"/>
                  <a:gd name="T20" fmla="*/ 20 w 41"/>
                  <a:gd name="T21" fmla="*/ 0 h 42"/>
                  <a:gd name="T22" fmla="*/ 20 w 41"/>
                  <a:gd name="T23" fmla="*/ 0 h 4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1"/>
                  <a:gd name="T37" fmla="*/ 0 h 42"/>
                  <a:gd name="T38" fmla="*/ 41 w 41"/>
                  <a:gd name="T39" fmla="*/ 42 h 4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1" h="42">
                    <a:moveTo>
                      <a:pt x="20" y="0"/>
                    </a:moveTo>
                    <a:lnTo>
                      <a:pt x="25" y="15"/>
                    </a:lnTo>
                    <a:lnTo>
                      <a:pt x="41" y="16"/>
                    </a:lnTo>
                    <a:lnTo>
                      <a:pt x="29" y="26"/>
                    </a:lnTo>
                    <a:lnTo>
                      <a:pt x="34" y="42"/>
                    </a:lnTo>
                    <a:lnTo>
                      <a:pt x="20" y="32"/>
                    </a:lnTo>
                    <a:lnTo>
                      <a:pt x="7" y="42"/>
                    </a:lnTo>
                    <a:lnTo>
                      <a:pt x="13" y="26"/>
                    </a:lnTo>
                    <a:lnTo>
                      <a:pt x="0" y="16"/>
                    </a:lnTo>
                    <a:lnTo>
                      <a:pt x="16" y="1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63" name="Freeform 1019"/>
              <p:cNvSpPr>
                <a:spLocks/>
              </p:cNvSpPr>
              <p:nvPr/>
            </p:nvSpPr>
            <p:spPr bwMode="auto">
              <a:xfrm>
                <a:off x="2240" y="1944"/>
                <a:ext cx="42" cy="42"/>
              </a:xfrm>
              <a:custGeom>
                <a:avLst/>
                <a:gdLst>
                  <a:gd name="T0" fmla="*/ 20 w 42"/>
                  <a:gd name="T1" fmla="*/ 0 h 42"/>
                  <a:gd name="T2" fmla="*/ 26 w 42"/>
                  <a:gd name="T3" fmla="*/ 16 h 42"/>
                  <a:gd name="T4" fmla="*/ 42 w 42"/>
                  <a:gd name="T5" fmla="*/ 16 h 42"/>
                  <a:gd name="T6" fmla="*/ 29 w 42"/>
                  <a:gd name="T7" fmla="*/ 26 h 42"/>
                  <a:gd name="T8" fmla="*/ 34 w 42"/>
                  <a:gd name="T9" fmla="*/ 42 h 42"/>
                  <a:gd name="T10" fmla="*/ 20 w 42"/>
                  <a:gd name="T11" fmla="*/ 32 h 42"/>
                  <a:gd name="T12" fmla="*/ 8 w 42"/>
                  <a:gd name="T13" fmla="*/ 42 h 42"/>
                  <a:gd name="T14" fmla="*/ 13 w 42"/>
                  <a:gd name="T15" fmla="*/ 26 h 42"/>
                  <a:gd name="T16" fmla="*/ 0 w 42"/>
                  <a:gd name="T17" fmla="*/ 16 h 42"/>
                  <a:gd name="T18" fmla="*/ 16 w 42"/>
                  <a:gd name="T19" fmla="*/ 16 h 42"/>
                  <a:gd name="T20" fmla="*/ 20 w 42"/>
                  <a:gd name="T21" fmla="*/ 0 h 42"/>
                  <a:gd name="T22" fmla="*/ 20 w 42"/>
                  <a:gd name="T23" fmla="*/ 0 h 4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2"/>
                  <a:gd name="T37" fmla="*/ 0 h 42"/>
                  <a:gd name="T38" fmla="*/ 42 w 42"/>
                  <a:gd name="T39" fmla="*/ 42 h 4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2" h="42">
                    <a:moveTo>
                      <a:pt x="20" y="0"/>
                    </a:moveTo>
                    <a:lnTo>
                      <a:pt x="26" y="16"/>
                    </a:lnTo>
                    <a:lnTo>
                      <a:pt x="42" y="16"/>
                    </a:lnTo>
                    <a:lnTo>
                      <a:pt x="29" y="26"/>
                    </a:lnTo>
                    <a:lnTo>
                      <a:pt x="34" y="42"/>
                    </a:lnTo>
                    <a:lnTo>
                      <a:pt x="20" y="32"/>
                    </a:lnTo>
                    <a:lnTo>
                      <a:pt x="8" y="42"/>
                    </a:lnTo>
                    <a:lnTo>
                      <a:pt x="13" y="26"/>
                    </a:lnTo>
                    <a:lnTo>
                      <a:pt x="0" y="16"/>
                    </a:lnTo>
                    <a:lnTo>
                      <a:pt x="16" y="16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064" name="Freeform 1020"/>
              <p:cNvSpPr>
                <a:spLocks/>
              </p:cNvSpPr>
              <p:nvPr/>
            </p:nvSpPr>
            <p:spPr bwMode="auto">
              <a:xfrm>
                <a:off x="2101" y="1975"/>
                <a:ext cx="44" cy="47"/>
              </a:xfrm>
              <a:custGeom>
                <a:avLst/>
                <a:gdLst>
                  <a:gd name="T0" fmla="*/ 18 w 44"/>
                  <a:gd name="T1" fmla="*/ 0 h 47"/>
                  <a:gd name="T2" fmla="*/ 28 w 44"/>
                  <a:gd name="T3" fmla="*/ 15 h 47"/>
                  <a:gd name="T4" fmla="*/ 44 w 44"/>
                  <a:gd name="T5" fmla="*/ 12 h 47"/>
                  <a:gd name="T6" fmla="*/ 33 w 44"/>
                  <a:gd name="T7" fmla="*/ 26 h 47"/>
                  <a:gd name="T8" fmla="*/ 41 w 44"/>
                  <a:gd name="T9" fmla="*/ 41 h 47"/>
                  <a:gd name="T10" fmla="*/ 26 w 44"/>
                  <a:gd name="T11" fmla="*/ 34 h 47"/>
                  <a:gd name="T12" fmla="*/ 14 w 44"/>
                  <a:gd name="T13" fmla="*/ 47 h 47"/>
                  <a:gd name="T14" fmla="*/ 15 w 44"/>
                  <a:gd name="T15" fmla="*/ 29 h 47"/>
                  <a:gd name="T16" fmla="*/ 0 w 44"/>
                  <a:gd name="T17" fmla="*/ 22 h 47"/>
                  <a:gd name="T18" fmla="*/ 16 w 44"/>
                  <a:gd name="T19" fmla="*/ 17 h 47"/>
                  <a:gd name="T20" fmla="*/ 18 w 44"/>
                  <a:gd name="T21" fmla="*/ 0 h 47"/>
                  <a:gd name="T22" fmla="*/ 18 w 44"/>
                  <a:gd name="T23" fmla="*/ 0 h 4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4"/>
                  <a:gd name="T37" fmla="*/ 0 h 47"/>
                  <a:gd name="T38" fmla="*/ 44 w 44"/>
                  <a:gd name="T39" fmla="*/ 47 h 4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4" h="47">
                    <a:moveTo>
                      <a:pt x="18" y="0"/>
                    </a:moveTo>
                    <a:lnTo>
                      <a:pt x="28" y="15"/>
                    </a:lnTo>
                    <a:lnTo>
                      <a:pt x="44" y="12"/>
                    </a:lnTo>
                    <a:lnTo>
                      <a:pt x="33" y="26"/>
                    </a:lnTo>
                    <a:lnTo>
                      <a:pt x="41" y="41"/>
                    </a:lnTo>
                    <a:lnTo>
                      <a:pt x="26" y="34"/>
                    </a:lnTo>
                    <a:lnTo>
                      <a:pt x="14" y="47"/>
                    </a:lnTo>
                    <a:lnTo>
                      <a:pt x="15" y="29"/>
                    </a:lnTo>
                    <a:lnTo>
                      <a:pt x="0" y="22"/>
                    </a:lnTo>
                    <a:lnTo>
                      <a:pt x="16" y="1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4937" name="Rectangle 1021"/>
            <p:cNvSpPr>
              <a:spLocks noChangeArrowheads="1"/>
            </p:cNvSpPr>
            <p:nvPr/>
          </p:nvSpPr>
          <p:spPr bwMode="auto">
            <a:xfrm>
              <a:off x="2998" y="2789"/>
              <a:ext cx="123" cy="57"/>
            </a:xfrm>
            <a:prstGeom prst="rect">
              <a:avLst/>
            </a:prstGeom>
            <a:solidFill>
              <a:srgbClr val="FFFF66"/>
            </a:solidFill>
            <a:ln w="444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938" name="Oval 1022"/>
            <p:cNvSpPr>
              <a:spLocks noChangeArrowheads="1"/>
            </p:cNvSpPr>
            <p:nvPr/>
          </p:nvSpPr>
          <p:spPr bwMode="auto">
            <a:xfrm>
              <a:off x="2954" y="2717"/>
              <a:ext cx="210" cy="94"/>
            </a:xfrm>
            <a:prstGeom prst="ellipse">
              <a:avLst/>
            </a:prstGeom>
            <a:solidFill>
              <a:srgbClr val="FFFF66"/>
            </a:solidFill>
            <a:ln w="44450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939" name="Rectangle 1023"/>
            <p:cNvSpPr>
              <a:spLocks noChangeArrowheads="1"/>
            </p:cNvSpPr>
            <p:nvPr/>
          </p:nvSpPr>
          <p:spPr bwMode="auto">
            <a:xfrm>
              <a:off x="3012" y="2789"/>
              <a:ext cx="95" cy="71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940" name="Rectangle 1024"/>
            <p:cNvSpPr>
              <a:spLocks noChangeArrowheads="1"/>
            </p:cNvSpPr>
            <p:nvPr/>
          </p:nvSpPr>
          <p:spPr bwMode="auto">
            <a:xfrm>
              <a:off x="2292" y="2195"/>
              <a:ext cx="682" cy="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941" name="Rectangle 1025"/>
            <p:cNvSpPr>
              <a:spLocks noChangeArrowheads="1"/>
            </p:cNvSpPr>
            <p:nvPr/>
          </p:nvSpPr>
          <p:spPr bwMode="auto">
            <a:xfrm>
              <a:off x="2261" y="2230"/>
              <a:ext cx="1703" cy="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900" u="sng">
                  <a:solidFill>
                    <a:srgbClr val="000000"/>
                  </a:solidFill>
                  <a:latin typeface="Arial Narrow" pitchFamily="34" charset="0"/>
                </a:rPr>
                <a:t>Qualification  Phase</a:t>
              </a:r>
              <a:r>
                <a:rPr lang="en-US" sz="900">
                  <a:solidFill>
                    <a:srgbClr val="000000"/>
                  </a:solidFill>
                  <a:latin typeface="Arial Narrow" pitchFamily="34" charset="0"/>
                </a:rPr>
                <a:t>: Select A Qualified Contractor</a:t>
              </a:r>
            </a:p>
          </p:txBody>
        </p:sp>
        <p:grpSp>
          <p:nvGrpSpPr>
            <p:cNvPr id="24942" name="Group 1026"/>
            <p:cNvGrpSpPr>
              <a:grpSpLocks/>
            </p:cNvGrpSpPr>
            <p:nvPr/>
          </p:nvGrpSpPr>
          <p:grpSpPr bwMode="auto">
            <a:xfrm>
              <a:off x="2800" y="2908"/>
              <a:ext cx="539" cy="468"/>
              <a:chOff x="2736" y="2379"/>
              <a:chExt cx="436" cy="399"/>
            </a:xfrm>
          </p:grpSpPr>
          <p:sp>
            <p:nvSpPr>
              <p:cNvPr id="24990" name="Rectangle 1027"/>
              <p:cNvSpPr>
                <a:spLocks noChangeArrowheads="1"/>
              </p:cNvSpPr>
              <p:nvPr/>
            </p:nvSpPr>
            <p:spPr bwMode="auto">
              <a:xfrm>
                <a:off x="2736" y="2690"/>
                <a:ext cx="436" cy="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84238" eaLnBrk="0" hangingPunct="0"/>
                <a:r>
                  <a:rPr lang="en-US" sz="1000" b="0">
                    <a:solidFill>
                      <a:srgbClr val="000000"/>
                    </a:solidFill>
                    <a:latin typeface="Arial Narrow" pitchFamily="34" charset="0"/>
                  </a:rPr>
                  <a:t>Contract Award</a:t>
                </a:r>
                <a:endParaRPr lang="en-US" sz="1000" b="0">
                  <a:latin typeface="Times New Roman" pitchFamily="18" charset="0"/>
                </a:endParaRPr>
              </a:p>
            </p:txBody>
          </p:sp>
          <p:grpSp>
            <p:nvGrpSpPr>
              <p:cNvPr id="24991" name="Group 1028"/>
              <p:cNvGrpSpPr>
                <a:grpSpLocks/>
              </p:cNvGrpSpPr>
              <p:nvPr/>
            </p:nvGrpSpPr>
            <p:grpSpPr bwMode="auto">
              <a:xfrm>
                <a:off x="2814" y="2379"/>
                <a:ext cx="252" cy="268"/>
                <a:chOff x="2509" y="2443"/>
                <a:chExt cx="286" cy="292"/>
              </a:xfrm>
            </p:grpSpPr>
            <p:sp>
              <p:nvSpPr>
                <p:cNvPr id="24992" name="Freeform 1029"/>
                <p:cNvSpPr>
                  <a:spLocks/>
                </p:cNvSpPr>
                <p:nvPr/>
              </p:nvSpPr>
              <p:spPr bwMode="auto">
                <a:xfrm>
                  <a:off x="2509" y="2443"/>
                  <a:ext cx="286" cy="292"/>
                </a:xfrm>
                <a:custGeom>
                  <a:avLst/>
                  <a:gdLst>
                    <a:gd name="T0" fmla="*/ 28 w 286"/>
                    <a:gd name="T1" fmla="*/ 0 h 292"/>
                    <a:gd name="T2" fmla="*/ 23 w 286"/>
                    <a:gd name="T3" fmla="*/ 1 h 292"/>
                    <a:gd name="T4" fmla="*/ 18 w 286"/>
                    <a:gd name="T5" fmla="*/ 2 h 292"/>
                    <a:gd name="T6" fmla="*/ 8 w 286"/>
                    <a:gd name="T7" fmla="*/ 9 h 292"/>
                    <a:gd name="T8" fmla="*/ 3 w 286"/>
                    <a:gd name="T9" fmla="*/ 17 h 292"/>
                    <a:gd name="T10" fmla="*/ 2 w 286"/>
                    <a:gd name="T11" fmla="*/ 23 h 292"/>
                    <a:gd name="T12" fmla="*/ 0 w 286"/>
                    <a:gd name="T13" fmla="*/ 28 h 292"/>
                    <a:gd name="T14" fmla="*/ 0 w 286"/>
                    <a:gd name="T15" fmla="*/ 264 h 292"/>
                    <a:gd name="T16" fmla="*/ 2 w 286"/>
                    <a:gd name="T17" fmla="*/ 269 h 292"/>
                    <a:gd name="T18" fmla="*/ 3 w 286"/>
                    <a:gd name="T19" fmla="*/ 275 h 292"/>
                    <a:gd name="T20" fmla="*/ 8 w 286"/>
                    <a:gd name="T21" fmla="*/ 284 h 292"/>
                    <a:gd name="T22" fmla="*/ 18 w 286"/>
                    <a:gd name="T23" fmla="*/ 290 h 292"/>
                    <a:gd name="T24" fmla="*/ 23 w 286"/>
                    <a:gd name="T25" fmla="*/ 292 h 292"/>
                    <a:gd name="T26" fmla="*/ 28 w 286"/>
                    <a:gd name="T27" fmla="*/ 292 h 292"/>
                    <a:gd name="T28" fmla="*/ 258 w 286"/>
                    <a:gd name="T29" fmla="*/ 292 h 292"/>
                    <a:gd name="T30" fmla="*/ 263 w 286"/>
                    <a:gd name="T31" fmla="*/ 292 h 292"/>
                    <a:gd name="T32" fmla="*/ 269 w 286"/>
                    <a:gd name="T33" fmla="*/ 290 h 292"/>
                    <a:gd name="T34" fmla="*/ 278 w 286"/>
                    <a:gd name="T35" fmla="*/ 284 h 292"/>
                    <a:gd name="T36" fmla="*/ 284 w 286"/>
                    <a:gd name="T37" fmla="*/ 275 h 292"/>
                    <a:gd name="T38" fmla="*/ 286 w 286"/>
                    <a:gd name="T39" fmla="*/ 269 h 292"/>
                    <a:gd name="T40" fmla="*/ 286 w 286"/>
                    <a:gd name="T41" fmla="*/ 264 h 292"/>
                    <a:gd name="T42" fmla="*/ 286 w 286"/>
                    <a:gd name="T43" fmla="*/ 28 h 292"/>
                    <a:gd name="T44" fmla="*/ 286 w 286"/>
                    <a:gd name="T45" fmla="*/ 23 h 292"/>
                    <a:gd name="T46" fmla="*/ 284 w 286"/>
                    <a:gd name="T47" fmla="*/ 17 h 292"/>
                    <a:gd name="T48" fmla="*/ 278 w 286"/>
                    <a:gd name="T49" fmla="*/ 9 h 292"/>
                    <a:gd name="T50" fmla="*/ 269 w 286"/>
                    <a:gd name="T51" fmla="*/ 2 h 292"/>
                    <a:gd name="T52" fmla="*/ 263 w 286"/>
                    <a:gd name="T53" fmla="*/ 1 h 292"/>
                    <a:gd name="T54" fmla="*/ 258 w 286"/>
                    <a:gd name="T55" fmla="*/ 0 h 292"/>
                    <a:gd name="T56" fmla="*/ 28 w 286"/>
                    <a:gd name="T57" fmla="*/ 0 h 29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286"/>
                    <a:gd name="T88" fmla="*/ 0 h 292"/>
                    <a:gd name="T89" fmla="*/ 286 w 286"/>
                    <a:gd name="T90" fmla="*/ 292 h 292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286" h="292">
                      <a:moveTo>
                        <a:pt x="28" y="0"/>
                      </a:moveTo>
                      <a:lnTo>
                        <a:pt x="23" y="1"/>
                      </a:lnTo>
                      <a:lnTo>
                        <a:pt x="18" y="2"/>
                      </a:lnTo>
                      <a:lnTo>
                        <a:pt x="8" y="9"/>
                      </a:lnTo>
                      <a:lnTo>
                        <a:pt x="3" y="17"/>
                      </a:lnTo>
                      <a:lnTo>
                        <a:pt x="2" y="23"/>
                      </a:lnTo>
                      <a:lnTo>
                        <a:pt x="0" y="28"/>
                      </a:lnTo>
                      <a:lnTo>
                        <a:pt x="0" y="264"/>
                      </a:lnTo>
                      <a:lnTo>
                        <a:pt x="2" y="269"/>
                      </a:lnTo>
                      <a:lnTo>
                        <a:pt x="3" y="275"/>
                      </a:lnTo>
                      <a:lnTo>
                        <a:pt x="8" y="284"/>
                      </a:lnTo>
                      <a:lnTo>
                        <a:pt x="18" y="290"/>
                      </a:lnTo>
                      <a:lnTo>
                        <a:pt x="23" y="292"/>
                      </a:lnTo>
                      <a:lnTo>
                        <a:pt x="28" y="292"/>
                      </a:lnTo>
                      <a:lnTo>
                        <a:pt x="258" y="292"/>
                      </a:lnTo>
                      <a:lnTo>
                        <a:pt x="263" y="292"/>
                      </a:lnTo>
                      <a:lnTo>
                        <a:pt x="269" y="290"/>
                      </a:lnTo>
                      <a:lnTo>
                        <a:pt x="278" y="284"/>
                      </a:lnTo>
                      <a:lnTo>
                        <a:pt x="284" y="275"/>
                      </a:lnTo>
                      <a:lnTo>
                        <a:pt x="286" y="269"/>
                      </a:lnTo>
                      <a:lnTo>
                        <a:pt x="286" y="264"/>
                      </a:lnTo>
                      <a:lnTo>
                        <a:pt x="286" y="28"/>
                      </a:lnTo>
                      <a:lnTo>
                        <a:pt x="286" y="23"/>
                      </a:lnTo>
                      <a:lnTo>
                        <a:pt x="284" y="17"/>
                      </a:lnTo>
                      <a:lnTo>
                        <a:pt x="278" y="9"/>
                      </a:lnTo>
                      <a:lnTo>
                        <a:pt x="269" y="2"/>
                      </a:lnTo>
                      <a:lnTo>
                        <a:pt x="263" y="1"/>
                      </a:lnTo>
                      <a:lnTo>
                        <a:pt x="258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317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993" name="Freeform 1030"/>
                <p:cNvSpPr>
                  <a:spLocks/>
                </p:cNvSpPr>
                <p:nvPr/>
              </p:nvSpPr>
              <p:spPr bwMode="auto">
                <a:xfrm>
                  <a:off x="2524" y="2483"/>
                  <a:ext cx="256" cy="213"/>
                </a:xfrm>
                <a:custGeom>
                  <a:avLst/>
                  <a:gdLst>
                    <a:gd name="T0" fmla="*/ 253 w 256"/>
                    <a:gd name="T1" fmla="*/ 118 h 213"/>
                    <a:gd name="T2" fmla="*/ 249 w 256"/>
                    <a:gd name="T3" fmla="*/ 120 h 213"/>
                    <a:gd name="T4" fmla="*/ 245 w 256"/>
                    <a:gd name="T5" fmla="*/ 120 h 213"/>
                    <a:gd name="T6" fmla="*/ 243 w 256"/>
                    <a:gd name="T7" fmla="*/ 117 h 213"/>
                    <a:gd name="T8" fmla="*/ 228 w 256"/>
                    <a:gd name="T9" fmla="*/ 130 h 213"/>
                    <a:gd name="T10" fmla="*/ 228 w 256"/>
                    <a:gd name="T11" fmla="*/ 137 h 213"/>
                    <a:gd name="T12" fmla="*/ 228 w 256"/>
                    <a:gd name="T13" fmla="*/ 144 h 213"/>
                    <a:gd name="T14" fmla="*/ 223 w 256"/>
                    <a:gd name="T15" fmla="*/ 151 h 213"/>
                    <a:gd name="T16" fmla="*/ 217 w 256"/>
                    <a:gd name="T17" fmla="*/ 156 h 213"/>
                    <a:gd name="T18" fmla="*/ 203 w 256"/>
                    <a:gd name="T19" fmla="*/ 159 h 213"/>
                    <a:gd name="T20" fmla="*/ 200 w 256"/>
                    <a:gd name="T21" fmla="*/ 166 h 213"/>
                    <a:gd name="T22" fmla="*/ 196 w 256"/>
                    <a:gd name="T23" fmla="*/ 172 h 213"/>
                    <a:gd name="T24" fmla="*/ 191 w 256"/>
                    <a:gd name="T25" fmla="*/ 174 h 213"/>
                    <a:gd name="T26" fmla="*/ 184 w 256"/>
                    <a:gd name="T27" fmla="*/ 175 h 213"/>
                    <a:gd name="T28" fmla="*/ 180 w 256"/>
                    <a:gd name="T29" fmla="*/ 176 h 213"/>
                    <a:gd name="T30" fmla="*/ 174 w 256"/>
                    <a:gd name="T31" fmla="*/ 184 h 213"/>
                    <a:gd name="T32" fmla="*/ 164 w 256"/>
                    <a:gd name="T33" fmla="*/ 191 h 213"/>
                    <a:gd name="T34" fmla="*/ 154 w 256"/>
                    <a:gd name="T35" fmla="*/ 194 h 213"/>
                    <a:gd name="T36" fmla="*/ 151 w 256"/>
                    <a:gd name="T37" fmla="*/ 200 h 213"/>
                    <a:gd name="T38" fmla="*/ 145 w 256"/>
                    <a:gd name="T39" fmla="*/ 206 h 213"/>
                    <a:gd name="T40" fmla="*/ 135 w 256"/>
                    <a:gd name="T41" fmla="*/ 208 h 213"/>
                    <a:gd name="T42" fmla="*/ 125 w 256"/>
                    <a:gd name="T43" fmla="*/ 207 h 213"/>
                    <a:gd name="T44" fmla="*/ 119 w 256"/>
                    <a:gd name="T45" fmla="*/ 207 h 213"/>
                    <a:gd name="T46" fmla="*/ 113 w 256"/>
                    <a:gd name="T47" fmla="*/ 211 h 213"/>
                    <a:gd name="T48" fmla="*/ 104 w 256"/>
                    <a:gd name="T49" fmla="*/ 213 h 213"/>
                    <a:gd name="T50" fmla="*/ 96 w 256"/>
                    <a:gd name="T51" fmla="*/ 212 h 213"/>
                    <a:gd name="T52" fmla="*/ 89 w 256"/>
                    <a:gd name="T53" fmla="*/ 207 h 213"/>
                    <a:gd name="T54" fmla="*/ 81 w 256"/>
                    <a:gd name="T55" fmla="*/ 195 h 213"/>
                    <a:gd name="T56" fmla="*/ 71 w 256"/>
                    <a:gd name="T57" fmla="*/ 193 h 213"/>
                    <a:gd name="T58" fmla="*/ 62 w 256"/>
                    <a:gd name="T59" fmla="*/ 187 h 213"/>
                    <a:gd name="T60" fmla="*/ 59 w 256"/>
                    <a:gd name="T61" fmla="*/ 179 h 213"/>
                    <a:gd name="T62" fmla="*/ 54 w 256"/>
                    <a:gd name="T63" fmla="*/ 178 h 213"/>
                    <a:gd name="T64" fmla="*/ 49 w 256"/>
                    <a:gd name="T65" fmla="*/ 176 h 213"/>
                    <a:gd name="T66" fmla="*/ 42 w 256"/>
                    <a:gd name="T67" fmla="*/ 171 h 213"/>
                    <a:gd name="T68" fmla="*/ 39 w 256"/>
                    <a:gd name="T69" fmla="*/ 163 h 213"/>
                    <a:gd name="T70" fmla="*/ 31 w 256"/>
                    <a:gd name="T71" fmla="*/ 160 h 213"/>
                    <a:gd name="T72" fmla="*/ 22 w 256"/>
                    <a:gd name="T73" fmla="*/ 156 h 213"/>
                    <a:gd name="T74" fmla="*/ 15 w 256"/>
                    <a:gd name="T75" fmla="*/ 147 h 213"/>
                    <a:gd name="T76" fmla="*/ 14 w 256"/>
                    <a:gd name="T77" fmla="*/ 135 h 213"/>
                    <a:gd name="T78" fmla="*/ 18 w 256"/>
                    <a:gd name="T79" fmla="*/ 126 h 213"/>
                    <a:gd name="T80" fmla="*/ 9 w 256"/>
                    <a:gd name="T81" fmla="*/ 124 h 213"/>
                    <a:gd name="T82" fmla="*/ 5 w 256"/>
                    <a:gd name="T83" fmla="*/ 121 h 213"/>
                    <a:gd name="T84" fmla="*/ 1 w 256"/>
                    <a:gd name="T85" fmla="*/ 118 h 213"/>
                    <a:gd name="T86" fmla="*/ 7 w 256"/>
                    <a:gd name="T87" fmla="*/ 77 h 213"/>
                    <a:gd name="T88" fmla="*/ 29 w 256"/>
                    <a:gd name="T89" fmla="*/ 28 h 213"/>
                    <a:gd name="T90" fmla="*/ 76 w 256"/>
                    <a:gd name="T91" fmla="*/ 12 h 213"/>
                    <a:gd name="T92" fmla="*/ 77 w 256"/>
                    <a:gd name="T93" fmla="*/ 20 h 213"/>
                    <a:gd name="T94" fmla="*/ 84 w 256"/>
                    <a:gd name="T95" fmla="*/ 21 h 213"/>
                    <a:gd name="T96" fmla="*/ 91 w 256"/>
                    <a:gd name="T97" fmla="*/ 18 h 213"/>
                    <a:gd name="T98" fmla="*/ 183 w 256"/>
                    <a:gd name="T99" fmla="*/ 18 h 213"/>
                    <a:gd name="T100" fmla="*/ 209 w 256"/>
                    <a:gd name="T101" fmla="*/ 7 h 213"/>
                    <a:gd name="T102" fmla="*/ 241 w 256"/>
                    <a:gd name="T103" fmla="*/ 50 h 213"/>
                    <a:gd name="T104" fmla="*/ 256 w 256"/>
                    <a:gd name="T105" fmla="*/ 101 h 213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256"/>
                    <a:gd name="T160" fmla="*/ 0 h 213"/>
                    <a:gd name="T161" fmla="*/ 256 w 256"/>
                    <a:gd name="T162" fmla="*/ 213 h 213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256" h="213">
                      <a:moveTo>
                        <a:pt x="256" y="116"/>
                      </a:moveTo>
                      <a:lnTo>
                        <a:pt x="255" y="116"/>
                      </a:lnTo>
                      <a:lnTo>
                        <a:pt x="254" y="117"/>
                      </a:lnTo>
                      <a:lnTo>
                        <a:pt x="253" y="118"/>
                      </a:lnTo>
                      <a:lnTo>
                        <a:pt x="252" y="118"/>
                      </a:lnTo>
                      <a:lnTo>
                        <a:pt x="252" y="119"/>
                      </a:lnTo>
                      <a:lnTo>
                        <a:pt x="250" y="119"/>
                      </a:lnTo>
                      <a:lnTo>
                        <a:pt x="249" y="120"/>
                      </a:lnTo>
                      <a:lnTo>
                        <a:pt x="247" y="121"/>
                      </a:lnTo>
                      <a:lnTo>
                        <a:pt x="245" y="121"/>
                      </a:lnTo>
                      <a:lnTo>
                        <a:pt x="245" y="120"/>
                      </a:lnTo>
                      <a:lnTo>
                        <a:pt x="244" y="120"/>
                      </a:lnTo>
                      <a:lnTo>
                        <a:pt x="244" y="119"/>
                      </a:lnTo>
                      <a:lnTo>
                        <a:pt x="243" y="118"/>
                      </a:lnTo>
                      <a:lnTo>
                        <a:pt x="243" y="117"/>
                      </a:lnTo>
                      <a:lnTo>
                        <a:pt x="242" y="116"/>
                      </a:lnTo>
                      <a:lnTo>
                        <a:pt x="228" y="126"/>
                      </a:lnTo>
                      <a:lnTo>
                        <a:pt x="228" y="128"/>
                      </a:lnTo>
                      <a:lnTo>
                        <a:pt x="228" y="130"/>
                      </a:lnTo>
                      <a:lnTo>
                        <a:pt x="228" y="131"/>
                      </a:lnTo>
                      <a:lnTo>
                        <a:pt x="228" y="133"/>
                      </a:lnTo>
                      <a:lnTo>
                        <a:pt x="228" y="135"/>
                      </a:lnTo>
                      <a:lnTo>
                        <a:pt x="228" y="137"/>
                      </a:lnTo>
                      <a:lnTo>
                        <a:pt x="228" y="139"/>
                      </a:lnTo>
                      <a:lnTo>
                        <a:pt x="228" y="142"/>
                      </a:lnTo>
                      <a:lnTo>
                        <a:pt x="228" y="144"/>
                      </a:lnTo>
                      <a:lnTo>
                        <a:pt x="226" y="147"/>
                      </a:lnTo>
                      <a:lnTo>
                        <a:pt x="225" y="148"/>
                      </a:lnTo>
                      <a:lnTo>
                        <a:pt x="224" y="150"/>
                      </a:lnTo>
                      <a:lnTo>
                        <a:pt x="223" y="151"/>
                      </a:lnTo>
                      <a:lnTo>
                        <a:pt x="222" y="152"/>
                      </a:lnTo>
                      <a:lnTo>
                        <a:pt x="219" y="153"/>
                      </a:lnTo>
                      <a:lnTo>
                        <a:pt x="218" y="156"/>
                      </a:lnTo>
                      <a:lnTo>
                        <a:pt x="217" y="156"/>
                      </a:lnTo>
                      <a:lnTo>
                        <a:pt x="215" y="157"/>
                      </a:lnTo>
                      <a:lnTo>
                        <a:pt x="213" y="158"/>
                      </a:lnTo>
                      <a:lnTo>
                        <a:pt x="206" y="158"/>
                      </a:lnTo>
                      <a:lnTo>
                        <a:pt x="203" y="159"/>
                      </a:lnTo>
                      <a:lnTo>
                        <a:pt x="203" y="161"/>
                      </a:lnTo>
                      <a:lnTo>
                        <a:pt x="202" y="163"/>
                      </a:lnTo>
                      <a:lnTo>
                        <a:pt x="201" y="165"/>
                      </a:lnTo>
                      <a:lnTo>
                        <a:pt x="200" y="166"/>
                      </a:lnTo>
                      <a:lnTo>
                        <a:pt x="199" y="167"/>
                      </a:lnTo>
                      <a:lnTo>
                        <a:pt x="198" y="169"/>
                      </a:lnTo>
                      <a:lnTo>
                        <a:pt x="197" y="171"/>
                      </a:lnTo>
                      <a:lnTo>
                        <a:pt x="196" y="172"/>
                      </a:lnTo>
                      <a:lnTo>
                        <a:pt x="194" y="173"/>
                      </a:lnTo>
                      <a:lnTo>
                        <a:pt x="193" y="173"/>
                      </a:lnTo>
                      <a:lnTo>
                        <a:pt x="192" y="174"/>
                      </a:lnTo>
                      <a:lnTo>
                        <a:pt x="191" y="174"/>
                      </a:lnTo>
                      <a:lnTo>
                        <a:pt x="190" y="174"/>
                      </a:lnTo>
                      <a:lnTo>
                        <a:pt x="188" y="174"/>
                      </a:lnTo>
                      <a:lnTo>
                        <a:pt x="186" y="175"/>
                      </a:lnTo>
                      <a:lnTo>
                        <a:pt x="184" y="175"/>
                      </a:lnTo>
                      <a:lnTo>
                        <a:pt x="183" y="175"/>
                      </a:lnTo>
                      <a:lnTo>
                        <a:pt x="182" y="174"/>
                      </a:lnTo>
                      <a:lnTo>
                        <a:pt x="181" y="174"/>
                      </a:lnTo>
                      <a:lnTo>
                        <a:pt x="180" y="176"/>
                      </a:lnTo>
                      <a:lnTo>
                        <a:pt x="179" y="179"/>
                      </a:lnTo>
                      <a:lnTo>
                        <a:pt x="177" y="182"/>
                      </a:lnTo>
                      <a:lnTo>
                        <a:pt x="176" y="184"/>
                      </a:lnTo>
                      <a:lnTo>
                        <a:pt x="174" y="184"/>
                      </a:lnTo>
                      <a:lnTo>
                        <a:pt x="171" y="188"/>
                      </a:lnTo>
                      <a:lnTo>
                        <a:pt x="170" y="189"/>
                      </a:lnTo>
                      <a:lnTo>
                        <a:pt x="167" y="190"/>
                      </a:lnTo>
                      <a:lnTo>
                        <a:pt x="164" y="191"/>
                      </a:lnTo>
                      <a:lnTo>
                        <a:pt x="162" y="191"/>
                      </a:lnTo>
                      <a:lnTo>
                        <a:pt x="155" y="191"/>
                      </a:lnTo>
                      <a:lnTo>
                        <a:pt x="155" y="192"/>
                      </a:lnTo>
                      <a:lnTo>
                        <a:pt x="154" y="194"/>
                      </a:lnTo>
                      <a:lnTo>
                        <a:pt x="154" y="195"/>
                      </a:lnTo>
                      <a:lnTo>
                        <a:pt x="153" y="197"/>
                      </a:lnTo>
                      <a:lnTo>
                        <a:pt x="152" y="198"/>
                      </a:lnTo>
                      <a:lnTo>
                        <a:pt x="151" y="200"/>
                      </a:lnTo>
                      <a:lnTo>
                        <a:pt x="150" y="203"/>
                      </a:lnTo>
                      <a:lnTo>
                        <a:pt x="148" y="204"/>
                      </a:lnTo>
                      <a:lnTo>
                        <a:pt x="146" y="205"/>
                      </a:lnTo>
                      <a:lnTo>
                        <a:pt x="145" y="206"/>
                      </a:lnTo>
                      <a:lnTo>
                        <a:pt x="143" y="207"/>
                      </a:lnTo>
                      <a:lnTo>
                        <a:pt x="140" y="208"/>
                      </a:lnTo>
                      <a:lnTo>
                        <a:pt x="137" y="208"/>
                      </a:lnTo>
                      <a:lnTo>
                        <a:pt x="135" y="208"/>
                      </a:lnTo>
                      <a:lnTo>
                        <a:pt x="133" y="208"/>
                      </a:lnTo>
                      <a:lnTo>
                        <a:pt x="131" y="208"/>
                      </a:lnTo>
                      <a:lnTo>
                        <a:pt x="129" y="207"/>
                      </a:lnTo>
                      <a:lnTo>
                        <a:pt x="125" y="207"/>
                      </a:lnTo>
                      <a:lnTo>
                        <a:pt x="123" y="205"/>
                      </a:lnTo>
                      <a:lnTo>
                        <a:pt x="121" y="204"/>
                      </a:lnTo>
                      <a:lnTo>
                        <a:pt x="120" y="206"/>
                      </a:lnTo>
                      <a:lnTo>
                        <a:pt x="119" y="207"/>
                      </a:lnTo>
                      <a:lnTo>
                        <a:pt x="117" y="208"/>
                      </a:lnTo>
                      <a:lnTo>
                        <a:pt x="116" y="210"/>
                      </a:lnTo>
                      <a:lnTo>
                        <a:pt x="115" y="210"/>
                      </a:lnTo>
                      <a:lnTo>
                        <a:pt x="113" y="211"/>
                      </a:lnTo>
                      <a:lnTo>
                        <a:pt x="110" y="212"/>
                      </a:lnTo>
                      <a:lnTo>
                        <a:pt x="109" y="213"/>
                      </a:lnTo>
                      <a:lnTo>
                        <a:pt x="106" y="213"/>
                      </a:lnTo>
                      <a:lnTo>
                        <a:pt x="104" y="213"/>
                      </a:lnTo>
                      <a:lnTo>
                        <a:pt x="102" y="213"/>
                      </a:lnTo>
                      <a:lnTo>
                        <a:pt x="100" y="213"/>
                      </a:lnTo>
                      <a:lnTo>
                        <a:pt x="98" y="213"/>
                      </a:lnTo>
                      <a:lnTo>
                        <a:pt x="96" y="212"/>
                      </a:lnTo>
                      <a:lnTo>
                        <a:pt x="93" y="211"/>
                      </a:lnTo>
                      <a:lnTo>
                        <a:pt x="92" y="210"/>
                      </a:lnTo>
                      <a:lnTo>
                        <a:pt x="90" y="209"/>
                      </a:lnTo>
                      <a:lnTo>
                        <a:pt x="89" y="207"/>
                      </a:lnTo>
                      <a:lnTo>
                        <a:pt x="87" y="206"/>
                      </a:lnTo>
                      <a:lnTo>
                        <a:pt x="85" y="204"/>
                      </a:lnTo>
                      <a:lnTo>
                        <a:pt x="83" y="196"/>
                      </a:lnTo>
                      <a:lnTo>
                        <a:pt x="81" y="195"/>
                      </a:lnTo>
                      <a:lnTo>
                        <a:pt x="77" y="195"/>
                      </a:lnTo>
                      <a:lnTo>
                        <a:pt x="75" y="195"/>
                      </a:lnTo>
                      <a:lnTo>
                        <a:pt x="73" y="194"/>
                      </a:lnTo>
                      <a:lnTo>
                        <a:pt x="71" y="193"/>
                      </a:lnTo>
                      <a:lnTo>
                        <a:pt x="68" y="192"/>
                      </a:lnTo>
                      <a:lnTo>
                        <a:pt x="66" y="190"/>
                      </a:lnTo>
                      <a:lnTo>
                        <a:pt x="63" y="189"/>
                      </a:lnTo>
                      <a:lnTo>
                        <a:pt x="62" y="187"/>
                      </a:lnTo>
                      <a:lnTo>
                        <a:pt x="61" y="182"/>
                      </a:lnTo>
                      <a:lnTo>
                        <a:pt x="60" y="180"/>
                      </a:lnTo>
                      <a:lnTo>
                        <a:pt x="59" y="179"/>
                      </a:lnTo>
                      <a:lnTo>
                        <a:pt x="58" y="178"/>
                      </a:lnTo>
                      <a:lnTo>
                        <a:pt x="57" y="178"/>
                      </a:lnTo>
                      <a:lnTo>
                        <a:pt x="55" y="178"/>
                      </a:lnTo>
                      <a:lnTo>
                        <a:pt x="54" y="178"/>
                      </a:lnTo>
                      <a:lnTo>
                        <a:pt x="52" y="178"/>
                      </a:lnTo>
                      <a:lnTo>
                        <a:pt x="51" y="177"/>
                      </a:lnTo>
                      <a:lnTo>
                        <a:pt x="49" y="177"/>
                      </a:lnTo>
                      <a:lnTo>
                        <a:pt x="49" y="176"/>
                      </a:lnTo>
                      <a:lnTo>
                        <a:pt x="45" y="175"/>
                      </a:lnTo>
                      <a:lnTo>
                        <a:pt x="44" y="174"/>
                      </a:lnTo>
                      <a:lnTo>
                        <a:pt x="43" y="173"/>
                      </a:lnTo>
                      <a:lnTo>
                        <a:pt x="42" y="171"/>
                      </a:lnTo>
                      <a:lnTo>
                        <a:pt x="41" y="169"/>
                      </a:lnTo>
                      <a:lnTo>
                        <a:pt x="40" y="167"/>
                      </a:lnTo>
                      <a:lnTo>
                        <a:pt x="40" y="166"/>
                      </a:lnTo>
                      <a:lnTo>
                        <a:pt x="39" y="163"/>
                      </a:lnTo>
                      <a:lnTo>
                        <a:pt x="38" y="161"/>
                      </a:lnTo>
                      <a:lnTo>
                        <a:pt x="36" y="161"/>
                      </a:lnTo>
                      <a:lnTo>
                        <a:pt x="34" y="161"/>
                      </a:lnTo>
                      <a:lnTo>
                        <a:pt x="31" y="160"/>
                      </a:lnTo>
                      <a:lnTo>
                        <a:pt x="28" y="159"/>
                      </a:lnTo>
                      <a:lnTo>
                        <a:pt x="26" y="159"/>
                      </a:lnTo>
                      <a:lnTo>
                        <a:pt x="23" y="158"/>
                      </a:lnTo>
                      <a:lnTo>
                        <a:pt x="22" y="156"/>
                      </a:lnTo>
                      <a:lnTo>
                        <a:pt x="20" y="153"/>
                      </a:lnTo>
                      <a:lnTo>
                        <a:pt x="18" y="152"/>
                      </a:lnTo>
                      <a:lnTo>
                        <a:pt x="16" y="149"/>
                      </a:lnTo>
                      <a:lnTo>
                        <a:pt x="15" y="147"/>
                      </a:lnTo>
                      <a:lnTo>
                        <a:pt x="15" y="144"/>
                      </a:lnTo>
                      <a:lnTo>
                        <a:pt x="14" y="142"/>
                      </a:lnTo>
                      <a:lnTo>
                        <a:pt x="14" y="139"/>
                      </a:lnTo>
                      <a:lnTo>
                        <a:pt x="14" y="135"/>
                      </a:lnTo>
                      <a:lnTo>
                        <a:pt x="15" y="133"/>
                      </a:lnTo>
                      <a:lnTo>
                        <a:pt x="15" y="130"/>
                      </a:lnTo>
                      <a:lnTo>
                        <a:pt x="16" y="128"/>
                      </a:lnTo>
                      <a:lnTo>
                        <a:pt x="18" y="126"/>
                      </a:lnTo>
                      <a:lnTo>
                        <a:pt x="19" y="122"/>
                      </a:lnTo>
                      <a:lnTo>
                        <a:pt x="13" y="118"/>
                      </a:lnTo>
                      <a:lnTo>
                        <a:pt x="10" y="124"/>
                      </a:lnTo>
                      <a:lnTo>
                        <a:pt x="9" y="124"/>
                      </a:lnTo>
                      <a:lnTo>
                        <a:pt x="7" y="122"/>
                      </a:lnTo>
                      <a:lnTo>
                        <a:pt x="7" y="121"/>
                      </a:lnTo>
                      <a:lnTo>
                        <a:pt x="5" y="121"/>
                      </a:lnTo>
                      <a:lnTo>
                        <a:pt x="4" y="120"/>
                      </a:lnTo>
                      <a:lnTo>
                        <a:pt x="3" y="119"/>
                      </a:lnTo>
                      <a:lnTo>
                        <a:pt x="1" y="119"/>
                      </a:lnTo>
                      <a:lnTo>
                        <a:pt x="1" y="118"/>
                      </a:lnTo>
                      <a:lnTo>
                        <a:pt x="0" y="117"/>
                      </a:lnTo>
                      <a:lnTo>
                        <a:pt x="0" y="103"/>
                      </a:lnTo>
                      <a:lnTo>
                        <a:pt x="3" y="90"/>
                      </a:lnTo>
                      <a:lnTo>
                        <a:pt x="7" y="77"/>
                      </a:lnTo>
                      <a:lnTo>
                        <a:pt x="10" y="63"/>
                      </a:lnTo>
                      <a:lnTo>
                        <a:pt x="15" y="52"/>
                      </a:lnTo>
                      <a:lnTo>
                        <a:pt x="22" y="39"/>
                      </a:lnTo>
                      <a:lnTo>
                        <a:pt x="29" y="28"/>
                      </a:lnTo>
                      <a:lnTo>
                        <a:pt x="38" y="19"/>
                      </a:lnTo>
                      <a:lnTo>
                        <a:pt x="49" y="8"/>
                      </a:lnTo>
                      <a:lnTo>
                        <a:pt x="58" y="1"/>
                      </a:lnTo>
                      <a:lnTo>
                        <a:pt x="76" y="12"/>
                      </a:lnTo>
                      <a:lnTo>
                        <a:pt x="73" y="18"/>
                      </a:lnTo>
                      <a:lnTo>
                        <a:pt x="74" y="18"/>
                      </a:lnTo>
                      <a:lnTo>
                        <a:pt x="76" y="19"/>
                      </a:lnTo>
                      <a:lnTo>
                        <a:pt x="77" y="20"/>
                      </a:lnTo>
                      <a:lnTo>
                        <a:pt x="79" y="20"/>
                      </a:lnTo>
                      <a:lnTo>
                        <a:pt x="81" y="21"/>
                      </a:lnTo>
                      <a:lnTo>
                        <a:pt x="82" y="21"/>
                      </a:lnTo>
                      <a:lnTo>
                        <a:pt x="84" y="21"/>
                      </a:lnTo>
                      <a:lnTo>
                        <a:pt x="85" y="22"/>
                      </a:lnTo>
                      <a:lnTo>
                        <a:pt x="87" y="22"/>
                      </a:lnTo>
                      <a:lnTo>
                        <a:pt x="89" y="23"/>
                      </a:lnTo>
                      <a:lnTo>
                        <a:pt x="91" y="18"/>
                      </a:lnTo>
                      <a:lnTo>
                        <a:pt x="128" y="6"/>
                      </a:lnTo>
                      <a:lnTo>
                        <a:pt x="181" y="18"/>
                      </a:lnTo>
                      <a:lnTo>
                        <a:pt x="182" y="18"/>
                      </a:lnTo>
                      <a:lnTo>
                        <a:pt x="183" y="18"/>
                      </a:lnTo>
                      <a:lnTo>
                        <a:pt x="183" y="17"/>
                      </a:lnTo>
                      <a:lnTo>
                        <a:pt x="180" y="10"/>
                      </a:lnTo>
                      <a:lnTo>
                        <a:pt x="197" y="0"/>
                      </a:lnTo>
                      <a:lnTo>
                        <a:pt x="209" y="7"/>
                      </a:lnTo>
                      <a:lnTo>
                        <a:pt x="218" y="17"/>
                      </a:lnTo>
                      <a:lnTo>
                        <a:pt x="226" y="26"/>
                      </a:lnTo>
                      <a:lnTo>
                        <a:pt x="234" y="38"/>
                      </a:lnTo>
                      <a:lnTo>
                        <a:pt x="241" y="50"/>
                      </a:lnTo>
                      <a:lnTo>
                        <a:pt x="247" y="62"/>
                      </a:lnTo>
                      <a:lnTo>
                        <a:pt x="250" y="74"/>
                      </a:lnTo>
                      <a:lnTo>
                        <a:pt x="254" y="88"/>
                      </a:lnTo>
                      <a:lnTo>
                        <a:pt x="256" y="101"/>
                      </a:lnTo>
                      <a:lnTo>
                        <a:pt x="256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994" name="Freeform 1031"/>
                <p:cNvSpPr>
                  <a:spLocks/>
                </p:cNvSpPr>
                <p:nvPr/>
              </p:nvSpPr>
              <p:spPr bwMode="auto">
                <a:xfrm>
                  <a:off x="2524" y="2483"/>
                  <a:ext cx="256" cy="213"/>
                </a:xfrm>
                <a:custGeom>
                  <a:avLst/>
                  <a:gdLst>
                    <a:gd name="T0" fmla="*/ 253 w 256"/>
                    <a:gd name="T1" fmla="*/ 118 h 213"/>
                    <a:gd name="T2" fmla="*/ 249 w 256"/>
                    <a:gd name="T3" fmla="*/ 120 h 213"/>
                    <a:gd name="T4" fmla="*/ 245 w 256"/>
                    <a:gd name="T5" fmla="*/ 120 h 213"/>
                    <a:gd name="T6" fmla="*/ 243 w 256"/>
                    <a:gd name="T7" fmla="*/ 117 h 213"/>
                    <a:gd name="T8" fmla="*/ 228 w 256"/>
                    <a:gd name="T9" fmla="*/ 130 h 213"/>
                    <a:gd name="T10" fmla="*/ 228 w 256"/>
                    <a:gd name="T11" fmla="*/ 137 h 213"/>
                    <a:gd name="T12" fmla="*/ 228 w 256"/>
                    <a:gd name="T13" fmla="*/ 144 h 213"/>
                    <a:gd name="T14" fmla="*/ 223 w 256"/>
                    <a:gd name="T15" fmla="*/ 151 h 213"/>
                    <a:gd name="T16" fmla="*/ 217 w 256"/>
                    <a:gd name="T17" fmla="*/ 156 h 213"/>
                    <a:gd name="T18" fmla="*/ 203 w 256"/>
                    <a:gd name="T19" fmla="*/ 159 h 213"/>
                    <a:gd name="T20" fmla="*/ 200 w 256"/>
                    <a:gd name="T21" fmla="*/ 166 h 213"/>
                    <a:gd name="T22" fmla="*/ 196 w 256"/>
                    <a:gd name="T23" fmla="*/ 172 h 213"/>
                    <a:gd name="T24" fmla="*/ 191 w 256"/>
                    <a:gd name="T25" fmla="*/ 174 h 213"/>
                    <a:gd name="T26" fmla="*/ 184 w 256"/>
                    <a:gd name="T27" fmla="*/ 175 h 213"/>
                    <a:gd name="T28" fmla="*/ 180 w 256"/>
                    <a:gd name="T29" fmla="*/ 176 h 213"/>
                    <a:gd name="T30" fmla="*/ 174 w 256"/>
                    <a:gd name="T31" fmla="*/ 184 h 213"/>
                    <a:gd name="T32" fmla="*/ 164 w 256"/>
                    <a:gd name="T33" fmla="*/ 191 h 213"/>
                    <a:gd name="T34" fmla="*/ 154 w 256"/>
                    <a:gd name="T35" fmla="*/ 194 h 213"/>
                    <a:gd name="T36" fmla="*/ 151 w 256"/>
                    <a:gd name="T37" fmla="*/ 200 h 213"/>
                    <a:gd name="T38" fmla="*/ 145 w 256"/>
                    <a:gd name="T39" fmla="*/ 206 h 213"/>
                    <a:gd name="T40" fmla="*/ 135 w 256"/>
                    <a:gd name="T41" fmla="*/ 208 h 213"/>
                    <a:gd name="T42" fmla="*/ 125 w 256"/>
                    <a:gd name="T43" fmla="*/ 207 h 213"/>
                    <a:gd name="T44" fmla="*/ 119 w 256"/>
                    <a:gd name="T45" fmla="*/ 207 h 213"/>
                    <a:gd name="T46" fmla="*/ 113 w 256"/>
                    <a:gd name="T47" fmla="*/ 211 h 213"/>
                    <a:gd name="T48" fmla="*/ 104 w 256"/>
                    <a:gd name="T49" fmla="*/ 213 h 213"/>
                    <a:gd name="T50" fmla="*/ 96 w 256"/>
                    <a:gd name="T51" fmla="*/ 212 h 213"/>
                    <a:gd name="T52" fmla="*/ 89 w 256"/>
                    <a:gd name="T53" fmla="*/ 207 h 213"/>
                    <a:gd name="T54" fmla="*/ 81 w 256"/>
                    <a:gd name="T55" fmla="*/ 195 h 213"/>
                    <a:gd name="T56" fmla="*/ 71 w 256"/>
                    <a:gd name="T57" fmla="*/ 193 h 213"/>
                    <a:gd name="T58" fmla="*/ 62 w 256"/>
                    <a:gd name="T59" fmla="*/ 187 h 213"/>
                    <a:gd name="T60" fmla="*/ 59 w 256"/>
                    <a:gd name="T61" fmla="*/ 179 h 213"/>
                    <a:gd name="T62" fmla="*/ 54 w 256"/>
                    <a:gd name="T63" fmla="*/ 178 h 213"/>
                    <a:gd name="T64" fmla="*/ 49 w 256"/>
                    <a:gd name="T65" fmla="*/ 176 h 213"/>
                    <a:gd name="T66" fmla="*/ 42 w 256"/>
                    <a:gd name="T67" fmla="*/ 171 h 213"/>
                    <a:gd name="T68" fmla="*/ 39 w 256"/>
                    <a:gd name="T69" fmla="*/ 163 h 213"/>
                    <a:gd name="T70" fmla="*/ 31 w 256"/>
                    <a:gd name="T71" fmla="*/ 160 h 213"/>
                    <a:gd name="T72" fmla="*/ 22 w 256"/>
                    <a:gd name="T73" fmla="*/ 156 h 213"/>
                    <a:gd name="T74" fmla="*/ 15 w 256"/>
                    <a:gd name="T75" fmla="*/ 147 h 213"/>
                    <a:gd name="T76" fmla="*/ 14 w 256"/>
                    <a:gd name="T77" fmla="*/ 135 h 213"/>
                    <a:gd name="T78" fmla="*/ 18 w 256"/>
                    <a:gd name="T79" fmla="*/ 126 h 213"/>
                    <a:gd name="T80" fmla="*/ 9 w 256"/>
                    <a:gd name="T81" fmla="*/ 124 h 213"/>
                    <a:gd name="T82" fmla="*/ 5 w 256"/>
                    <a:gd name="T83" fmla="*/ 121 h 213"/>
                    <a:gd name="T84" fmla="*/ 1 w 256"/>
                    <a:gd name="T85" fmla="*/ 118 h 213"/>
                    <a:gd name="T86" fmla="*/ 7 w 256"/>
                    <a:gd name="T87" fmla="*/ 77 h 213"/>
                    <a:gd name="T88" fmla="*/ 29 w 256"/>
                    <a:gd name="T89" fmla="*/ 28 h 213"/>
                    <a:gd name="T90" fmla="*/ 76 w 256"/>
                    <a:gd name="T91" fmla="*/ 12 h 213"/>
                    <a:gd name="T92" fmla="*/ 77 w 256"/>
                    <a:gd name="T93" fmla="*/ 20 h 213"/>
                    <a:gd name="T94" fmla="*/ 84 w 256"/>
                    <a:gd name="T95" fmla="*/ 21 h 213"/>
                    <a:gd name="T96" fmla="*/ 91 w 256"/>
                    <a:gd name="T97" fmla="*/ 18 h 213"/>
                    <a:gd name="T98" fmla="*/ 183 w 256"/>
                    <a:gd name="T99" fmla="*/ 18 h 213"/>
                    <a:gd name="T100" fmla="*/ 209 w 256"/>
                    <a:gd name="T101" fmla="*/ 7 h 213"/>
                    <a:gd name="T102" fmla="*/ 241 w 256"/>
                    <a:gd name="T103" fmla="*/ 50 h 213"/>
                    <a:gd name="T104" fmla="*/ 256 w 256"/>
                    <a:gd name="T105" fmla="*/ 101 h 213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256"/>
                    <a:gd name="T160" fmla="*/ 0 h 213"/>
                    <a:gd name="T161" fmla="*/ 256 w 256"/>
                    <a:gd name="T162" fmla="*/ 213 h 213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256" h="213">
                      <a:moveTo>
                        <a:pt x="256" y="116"/>
                      </a:moveTo>
                      <a:lnTo>
                        <a:pt x="255" y="116"/>
                      </a:lnTo>
                      <a:lnTo>
                        <a:pt x="254" y="117"/>
                      </a:lnTo>
                      <a:lnTo>
                        <a:pt x="253" y="118"/>
                      </a:lnTo>
                      <a:lnTo>
                        <a:pt x="252" y="118"/>
                      </a:lnTo>
                      <a:lnTo>
                        <a:pt x="252" y="119"/>
                      </a:lnTo>
                      <a:lnTo>
                        <a:pt x="250" y="119"/>
                      </a:lnTo>
                      <a:lnTo>
                        <a:pt x="249" y="120"/>
                      </a:lnTo>
                      <a:lnTo>
                        <a:pt x="247" y="121"/>
                      </a:lnTo>
                      <a:lnTo>
                        <a:pt x="245" y="121"/>
                      </a:lnTo>
                      <a:lnTo>
                        <a:pt x="245" y="120"/>
                      </a:lnTo>
                      <a:lnTo>
                        <a:pt x="244" y="120"/>
                      </a:lnTo>
                      <a:lnTo>
                        <a:pt x="244" y="119"/>
                      </a:lnTo>
                      <a:lnTo>
                        <a:pt x="243" y="118"/>
                      </a:lnTo>
                      <a:lnTo>
                        <a:pt x="243" y="117"/>
                      </a:lnTo>
                      <a:lnTo>
                        <a:pt x="242" y="116"/>
                      </a:lnTo>
                      <a:lnTo>
                        <a:pt x="228" y="126"/>
                      </a:lnTo>
                      <a:lnTo>
                        <a:pt x="228" y="128"/>
                      </a:lnTo>
                      <a:lnTo>
                        <a:pt x="228" y="130"/>
                      </a:lnTo>
                      <a:lnTo>
                        <a:pt x="228" y="131"/>
                      </a:lnTo>
                      <a:lnTo>
                        <a:pt x="228" y="133"/>
                      </a:lnTo>
                      <a:lnTo>
                        <a:pt x="228" y="135"/>
                      </a:lnTo>
                      <a:lnTo>
                        <a:pt x="228" y="137"/>
                      </a:lnTo>
                      <a:lnTo>
                        <a:pt x="228" y="139"/>
                      </a:lnTo>
                      <a:lnTo>
                        <a:pt x="228" y="142"/>
                      </a:lnTo>
                      <a:lnTo>
                        <a:pt x="228" y="144"/>
                      </a:lnTo>
                      <a:lnTo>
                        <a:pt x="226" y="147"/>
                      </a:lnTo>
                      <a:lnTo>
                        <a:pt x="225" y="148"/>
                      </a:lnTo>
                      <a:lnTo>
                        <a:pt x="224" y="150"/>
                      </a:lnTo>
                      <a:lnTo>
                        <a:pt x="223" y="151"/>
                      </a:lnTo>
                      <a:lnTo>
                        <a:pt x="222" y="152"/>
                      </a:lnTo>
                      <a:lnTo>
                        <a:pt x="219" y="153"/>
                      </a:lnTo>
                      <a:lnTo>
                        <a:pt x="218" y="156"/>
                      </a:lnTo>
                      <a:lnTo>
                        <a:pt x="217" y="156"/>
                      </a:lnTo>
                      <a:lnTo>
                        <a:pt x="215" y="157"/>
                      </a:lnTo>
                      <a:lnTo>
                        <a:pt x="213" y="158"/>
                      </a:lnTo>
                      <a:lnTo>
                        <a:pt x="206" y="158"/>
                      </a:lnTo>
                      <a:lnTo>
                        <a:pt x="203" y="159"/>
                      </a:lnTo>
                      <a:lnTo>
                        <a:pt x="203" y="161"/>
                      </a:lnTo>
                      <a:lnTo>
                        <a:pt x="202" y="163"/>
                      </a:lnTo>
                      <a:lnTo>
                        <a:pt x="201" y="165"/>
                      </a:lnTo>
                      <a:lnTo>
                        <a:pt x="200" y="166"/>
                      </a:lnTo>
                      <a:lnTo>
                        <a:pt x="199" y="167"/>
                      </a:lnTo>
                      <a:lnTo>
                        <a:pt x="198" y="169"/>
                      </a:lnTo>
                      <a:lnTo>
                        <a:pt x="197" y="171"/>
                      </a:lnTo>
                      <a:lnTo>
                        <a:pt x="196" y="172"/>
                      </a:lnTo>
                      <a:lnTo>
                        <a:pt x="194" y="173"/>
                      </a:lnTo>
                      <a:lnTo>
                        <a:pt x="193" y="173"/>
                      </a:lnTo>
                      <a:lnTo>
                        <a:pt x="192" y="174"/>
                      </a:lnTo>
                      <a:lnTo>
                        <a:pt x="191" y="174"/>
                      </a:lnTo>
                      <a:lnTo>
                        <a:pt x="190" y="174"/>
                      </a:lnTo>
                      <a:lnTo>
                        <a:pt x="188" y="174"/>
                      </a:lnTo>
                      <a:lnTo>
                        <a:pt x="186" y="175"/>
                      </a:lnTo>
                      <a:lnTo>
                        <a:pt x="184" y="175"/>
                      </a:lnTo>
                      <a:lnTo>
                        <a:pt x="183" y="175"/>
                      </a:lnTo>
                      <a:lnTo>
                        <a:pt x="182" y="174"/>
                      </a:lnTo>
                      <a:lnTo>
                        <a:pt x="181" y="174"/>
                      </a:lnTo>
                      <a:lnTo>
                        <a:pt x="180" y="176"/>
                      </a:lnTo>
                      <a:lnTo>
                        <a:pt x="179" y="179"/>
                      </a:lnTo>
                      <a:lnTo>
                        <a:pt x="177" y="182"/>
                      </a:lnTo>
                      <a:lnTo>
                        <a:pt x="176" y="184"/>
                      </a:lnTo>
                      <a:lnTo>
                        <a:pt x="174" y="184"/>
                      </a:lnTo>
                      <a:lnTo>
                        <a:pt x="171" y="188"/>
                      </a:lnTo>
                      <a:lnTo>
                        <a:pt x="170" y="189"/>
                      </a:lnTo>
                      <a:lnTo>
                        <a:pt x="167" y="190"/>
                      </a:lnTo>
                      <a:lnTo>
                        <a:pt x="164" y="191"/>
                      </a:lnTo>
                      <a:lnTo>
                        <a:pt x="162" y="191"/>
                      </a:lnTo>
                      <a:lnTo>
                        <a:pt x="155" y="191"/>
                      </a:lnTo>
                      <a:lnTo>
                        <a:pt x="155" y="192"/>
                      </a:lnTo>
                      <a:lnTo>
                        <a:pt x="154" y="194"/>
                      </a:lnTo>
                      <a:lnTo>
                        <a:pt x="154" y="195"/>
                      </a:lnTo>
                      <a:lnTo>
                        <a:pt x="153" y="197"/>
                      </a:lnTo>
                      <a:lnTo>
                        <a:pt x="152" y="198"/>
                      </a:lnTo>
                      <a:lnTo>
                        <a:pt x="151" y="200"/>
                      </a:lnTo>
                      <a:lnTo>
                        <a:pt x="150" y="203"/>
                      </a:lnTo>
                      <a:lnTo>
                        <a:pt x="148" y="204"/>
                      </a:lnTo>
                      <a:lnTo>
                        <a:pt x="146" y="205"/>
                      </a:lnTo>
                      <a:lnTo>
                        <a:pt x="145" y="206"/>
                      </a:lnTo>
                      <a:lnTo>
                        <a:pt x="143" y="207"/>
                      </a:lnTo>
                      <a:lnTo>
                        <a:pt x="140" y="208"/>
                      </a:lnTo>
                      <a:lnTo>
                        <a:pt x="137" y="208"/>
                      </a:lnTo>
                      <a:lnTo>
                        <a:pt x="135" y="208"/>
                      </a:lnTo>
                      <a:lnTo>
                        <a:pt x="133" y="208"/>
                      </a:lnTo>
                      <a:lnTo>
                        <a:pt x="131" y="208"/>
                      </a:lnTo>
                      <a:lnTo>
                        <a:pt x="129" y="207"/>
                      </a:lnTo>
                      <a:lnTo>
                        <a:pt x="125" y="207"/>
                      </a:lnTo>
                      <a:lnTo>
                        <a:pt x="123" y="205"/>
                      </a:lnTo>
                      <a:lnTo>
                        <a:pt x="121" y="204"/>
                      </a:lnTo>
                      <a:lnTo>
                        <a:pt x="120" y="206"/>
                      </a:lnTo>
                      <a:lnTo>
                        <a:pt x="119" y="207"/>
                      </a:lnTo>
                      <a:lnTo>
                        <a:pt x="117" y="208"/>
                      </a:lnTo>
                      <a:lnTo>
                        <a:pt x="116" y="210"/>
                      </a:lnTo>
                      <a:lnTo>
                        <a:pt x="115" y="210"/>
                      </a:lnTo>
                      <a:lnTo>
                        <a:pt x="113" y="211"/>
                      </a:lnTo>
                      <a:lnTo>
                        <a:pt x="110" y="212"/>
                      </a:lnTo>
                      <a:lnTo>
                        <a:pt x="109" y="213"/>
                      </a:lnTo>
                      <a:lnTo>
                        <a:pt x="106" y="213"/>
                      </a:lnTo>
                      <a:lnTo>
                        <a:pt x="104" y="213"/>
                      </a:lnTo>
                      <a:lnTo>
                        <a:pt x="102" y="213"/>
                      </a:lnTo>
                      <a:lnTo>
                        <a:pt x="100" y="213"/>
                      </a:lnTo>
                      <a:lnTo>
                        <a:pt x="98" y="213"/>
                      </a:lnTo>
                      <a:lnTo>
                        <a:pt x="96" y="212"/>
                      </a:lnTo>
                      <a:lnTo>
                        <a:pt x="93" y="211"/>
                      </a:lnTo>
                      <a:lnTo>
                        <a:pt x="92" y="210"/>
                      </a:lnTo>
                      <a:lnTo>
                        <a:pt x="90" y="209"/>
                      </a:lnTo>
                      <a:lnTo>
                        <a:pt x="89" y="207"/>
                      </a:lnTo>
                      <a:lnTo>
                        <a:pt x="87" y="206"/>
                      </a:lnTo>
                      <a:lnTo>
                        <a:pt x="85" y="204"/>
                      </a:lnTo>
                      <a:lnTo>
                        <a:pt x="83" y="196"/>
                      </a:lnTo>
                      <a:lnTo>
                        <a:pt x="81" y="195"/>
                      </a:lnTo>
                      <a:lnTo>
                        <a:pt x="77" y="195"/>
                      </a:lnTo>
                      <a:lnTo>
                        <a:pt x="75" y="195"/>
                      </a:lnTo>
                      <a:lnTo>
                        <a:pt x="73" y="194"/>
                      </a:lnTo>
                      <a:lnTo>
                        <a:pt x="71" y="193"/>
                      </a:lnTo>
                      <a:lnTo>
                        <a:pt x="68" y="192"/>
                      </a:lnTo>
                      <a:lnTo>
                        <a:pt x="66" y="190"/>
                      </a:lnTo>
                      <a:lnTo>
                        <a:pt x="63" y="189"/>
                      </a:lnTo>
                      <a:lnTo>
                        <a:pt x="62" y="187"/>
                      </a:lnTo>
                      <a:lnTo>
                        <a:pt x="61" y="182"/>
                      </a:lnTo>
                      <a:lnTo>
                        <a:pt x="60" y="180"/>
                      </a:lnTo>
                      <a:lnTo>
                        <a:pt x="59" y="179"/>
                      </a:lnTo>
                      <a:lnTo>
                        <a:pt x="58" y="178"/>
                      </a:lnTo>
                      <a:lnTo>
                        <a:pt x="57" y="178"/>
                      </a:lnTo>
                      <a:lnTo>
                        <a:pt x="55" y="178"/>
                      </a:lnTo>
                      <a:lnTo>
                        <a:pt x="54" y="178"/>
                      </a:lnTo>
                      <a:lnTo>
                        <a:pt x="52" y="178"/>
                      </a:lnTo>
                      <a:lnTo>
                        <a:pt x="51" y="177"/>
                      </a:lnTo>
                      <a:lnTo>
                        <a:pt x="49" y="177"/>
                      </a:lnTo>
                      <a:lnTo>
                        <a:pt x="49" y="176"/>
                      </a:lnTo>
                      <a:lnTo>
                        <a:pt x="45" y="175"/>
                      </a:lnTo>
                      <a:lnTo>
                        <a:pt x="44" y="174"/>
                      </a:lnTo>
                      <a:lnTo>
                        <a:pt x="43" y="173"/>
                      </a:lnTo>
                      <a:lnTo>
                        <a:pt x="42" y="171"/>
                      </a:lnTo>
                      <a:lnTo>
                        <a:pt x="41" y="169"/>
                      </a:lnTo>
                      <a:lnTo>
                        <a:pt x="40" y="167"/>
                      </a:lnTo>
                      <a:lnTo>
                        <a:pt x="40" y="166"/>
                      </a:lnTo>
                      <a:lnTo>
                        <a:pt x="39" y="163"/>
                      </a:lnTo>
                      <a:lnTo>
                        <a:pt x="38" y="161"/>
                      </a:lnTo>
                      <a:lnTo>
                        <a:pt x="36" y="161"/>
                      </a:lnTo>
                      <a:lnTo>
                        <a:pt x="34" y="161"/>
                      </a:lnTo>
                      <a:lnTo>
                        <a:pt x="31" y="160"/>
                      </a:lnTo>
                      <a:lnTo>
                        <a:pt x="28" y="159"/>
                      </a:lnTo>
                      <a:lnTo>
                        <a:pt x="26" y="159"/>
                      </a:lnTo>
                      <a:lnTo>
                        <a:pt x="23" y="158"/>
                      </a:lnTo>
                      <a:lnTo>
                        <a:pt x="22" y="156"/>
                      </a:lnTo>
                      <a:lnTo>
                        <a:pt x="20" y="153"/>
                      </a:lnTo>
                      <a:lnTo>
                        <a:pt x="18" y="152"/>
                      </a:lnTo>
                      <a:lnTo>
                        <a:pt x="16" y="149"/>
                      </a:lnTo>
                      <a:lnTo>
                        <a:pt x="15" y="147"/>
                      </a:lnTo>
                      <a:lnTo>
                        <a:pt x="15" y="144"/>
                      </a:lnTo>
                      <a:lnTo>
                        <a:pt x="14" y="142"/>
                      </a:lnTo>
                      <a:lnTo>
                        <a:pt x="14" y="139"/>
                      </a:lnTo>
                      <a:lnTo>
                        <a:pt x="14" y="135"/>
                      </a:lnTo>
                      <a:lnTo>
                        <a:pt x="15" y="133"/>
                      </a:lnTo>
                      <a:lnTo>
                        <a:pt x="15" y="130"/>
                      </a:lnTo>
                      <a:lnTo>
                        <a:pt x="16" y="128"/>
                      </a:lnTo>
                      <a:lnTo>
                        <a:pt x="18" y="126"/>
                      </a:lnTo>
                      <a:lnTo>
                        <a:pt x="19" y="122"/>
                      </a:lnTo>
                      <a:lnTo>
                        <a:pt x="13" y="118"/>
                      </a:lnTo>
                      <a:lnTo>
                        <a:pt x="10" y="124"/>
                      </a:lnTo>
                      <a:lnTo>
                        <a:pt x="9" y="124"/>
                      </a:lnTo>
                      <a:lnTo>
                        <a:pt x="7" y="122"/>
                      </a:lnTo>
                      <a:lnTo>
                        <a:pt x="7" y="121"/>
                      </a:lnTo>
                      <a:lnTo>
                        <a:pt x="5" y="121"/>
                      </a:lnTo>
                      <a:lnTo>
                        <a:pt x="4" y="120"/>
                      </a:lnTo>
                      <a:lnTo>
                        <a:pt x="3" y="119"/>
                      </a:lnTo>
                      <a:lnTo>
                        <a:pt x="1" y="119"/>
                      </a:lnTo>
                      <a:lnTo>
                        <a:pt x="1" y="118"/>
                      </a:lnTo>
                      <a:lnTo>
                        <a:pt x="0" y="117"/>
                      </a:lnTo>
                      <a:lnTo>
                        <a:pt x="0" y="103"/>
                      </a:lnTo>
                      <a:lnTo>
                        <a:pt x="3" y="90"/>
                      </a:lnTo>
                      <a:lnTo>
                        <a:pt x="7" y="77"/>
                      </a:lnTo>
                      <a:lnTo>
                        <a:pt x="10" y="63"/>
                      </a:lnTo>
                      <a:lnTo>
                        <a:pt x="15" y="52"/>
                      </a:lnTo>
                      <a:lnTo>
                        <a:pt x="22" y="39"/>
                      </a:lnTo>
                      <a:lnTo>
                        <a:pt x="29" y="28"/>
                      </a:lnTo>
                      <a:lnTo>
                        <a:pt x="38" y="19"/>
                      </a:lnTo>
                      <a:lnTo>
                        <a:pt x="49" y="8"/>
                      </a:lnTo>
                      <a:lnTo>
                        <a:pt x="58" y="1"/>
                      </a:lnTo>
                      <a:lnTo>
                        <a:pt x="76" y="12"/>
                      </a:lnTo>
                      <a:lnTo>
                        <a:pt x="73" y="18"/>
                      </a:lnTo>
                      <a:lnTo>
                        <a:pt x="74" y="18"/>
                      </a:lnTo>
                      <a:lnTo>
                        <a:pt x="76" y="19"/>
                      </a:lnTo>
                      <a:lnTo>
                        <a:pt x="77" y="20"/>
                      </a:lnTo>
                      <a:lnTo>
                        <a:pt x="79" y="20"/>
                      </a:lnTo>
                      <a:lnTo>
                        <a:pt x="81" y="21"/>
                      </a:lnTo>
                      <a:lnTo>
                        <a:pt x="82" y="21"/>
                      </a:lnTo>
                      <a:lnTo>
                        <a:pt x="84" y="21"/>
                      </a:lnTo>
                      <a:lnTo>
                        <a:pt x="85" y="22"/>
                      </a:lnTo>
                      <a:lnTo>
                        <a:pt x="87" y="22"/>
                      </a:lnTo>
                      <a:lnTo>
                        <a:pt x="89" y="23"/>
                      </a:lnTo>
                      <a:lnTo>
                        <a:pt x="91" y="18"/>
                      </a:lnTo>
                      <a:lnTo>
                        <a:pt x="128" y="6"/>
                      </a:lnTo>
                      <a:lnTo>
                        <a:pt x="181" y="18"/>
                      </a:lnTo>
                      <a:lnTo>
                        <a:pt x="182" y="18"/>
                      </a:lnTo>
                      <a:lnTo>
                        <a:pt x="183" y="18"/>
                      </a:lnTo>
                      <a:lnTo>
                        <a:pt x="183" y="17"/>
                      </a:lnTo>
                      <a:lnTo>
                        <a:pt x="180" y="10"/>
                      </a:lnTo>
                      <a:lnTo>
                        <a:pt x="197" y="0"/>
                      </a:lnTo>
                      <a:lnTo>
                        <a:pt x="209" y="7"/>
                      </a:lnTo>
                      <a:lnTo>
                        <a:pt x="218" y="17"/>
                      </a:lnTo>
                      <a:lnTo>
                        <a:pt x="226" y="26"/>
                      </a:lnTo>
                      <a:lnTo>
                        <a:pt x="234" y="38"/>
                      </a:lnTo>
                      <a:lnTo>
                        <a:pt x="241" y="50"/>
                      </a:lnTo>
                      <a:lnTo>
                        <a:pt x="247" y="62"/>
                      </a:lnTo>
                      <a:lnTo>
                        <a:pt x="250" y="74"/>
                      </a:lnTo>
                      <a:lnTo>
                        <a:pt x="254" y="88"/>
                      </a:lnTo>
                      <a:lnTo>
                        <a:pt x="256" y="101"/>
                      </a:lnTo>
                      <a:lnTo>
                        <a:pt x="256" y="116"/>
                      </a:lnTo>
                    </a:path>
                  </a:pathLst>
                </a:custGeom>
                <a:no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995" name="Freeform 1032"/>
                <p:cNvSpPr>
                  <a:spLocks/>
                </p:cNvSpPr>
                <p:nvPr/>
              </p:nvSpPr>
              <p:spPr bwMode="auto">
                <a:xfrm>
                  <a:off x="2715" y="2488"/>
                  <a:ext cx="63" cy="107"/>
                </a:xfrm>
                <a:custGeom>
                  <a:avLst/>
                  <a:gdLst>
                    <a:gd name="T0" fmla="*/ 63 w 63"/>
                    <a:gd name="T1" fmla="*/ 104 h 107"/>
                    <a:gd name="T2" fmla="*/ 56 w 63"/>
                    <a:gd name="T3" fmla="*/ 107 h 107"/>
                    <a:gd name="T4" fmla="*/ 0 w 63"/>
                    <a:gd name="T5" fmla="*/ 7 h 107"/>
                    <a:gd name="T6" fmla="*/ 11 w 63"/>
                    <a:gd name="T7" fmla="*/ 0 h 107"/>
                    <a:gd name="T8" fmla="*/ 21 w 63"/>
                    <a:gd name="T9" fmla="*/ 7 h 107"/>
                    <a:gd name="T10" fmla="*/ 28 w 63"/>
                    <a:gd name="T11" fmla="*/ 16 h 107"/>
                    <a:gd name="T12" fmla="*/ 36 w 63"/>
                    <a:gd name="T13" fmla="*/ 25 h 107"/>
                    <a:gd name="T14" fmla="*/ 42 w 63"/>
                    <a:gd name="T15" fmla="*/ 35 h 107"/>
                    <a:gd name="T16" fmla="*/ 48 w 63"/>
                    <a:gd name="T17" fmla="*/ 45 h 107"/>
                    <a:gd name="T18" fmla="*/ 53 w 63"/>
                    <a:gd name="T19" fmla="*/ 56 h 107"/>
                    <a:gd name="T20" fmla="*/ 56 w 63"/>
                    <a:gd name="T21" fmla="*/ 67 h 107"/>
                    <a:gd name="T22" fmla="*/ 61 w 63"/>
                    <a:gd name="T23" fmla="*/ 78 h 107"/>
                    <a:gd name="T24" fmla="*/ 62 w 63"/>
                    <a:gd name="T25" fmla="*/ 91 h 107"/>
                    <a:gd name="T26" fmla="*/ 63 w 63"/>
                    <a:gd name="T27" fmla="*/ 104 h 10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63"/>
                    <a:gd name="T43" fmla="*/ 0 h 107"/>
                    <a:gd name="T44" fmla="*/ 63 w 63"/>
                    <a:gd name="T45" fmla="*/ 107 h 10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63" h="107">
                      <a:moveTo>
                        <a:pt x="63" y="104"/>
                      </a:moveTo>
                      <a:lnTo>
                        <a:pt x="56" y="107"/>
                      </a:lnTo>
                      <a:lnTo>
                        <a:pt x="0" y="7"/>
                      </a:lnTo>
                      <a:lnTo>
                        <a:pt x="11" y="0"/>
                      </a:lnTo>
                      <a:lnTo>
                        <a:pt x="21" y="7"/>
                      </a:lnTo>
                      <a:lnTo>
                        <a:pt x="28" y="16"/>
                      </a:lnTo>
                      <a:lnTo>
                        <a:pt x="36" y="25"/>
                      </a:lnTo>
                      <a:lnTo>
                        <a:pt x="42" y="35"/>
                      </a:lnTo>
                      <a:lnTo>
                        <a:pt x="48" y="45"/>
                      </a:lnTo>
                      <a:lnTo>
                        <a:pt x="53" y="56"/>
                      </a:lnTo>
                      <a:lnTo>
                        <a:pt x="56" y="67"/>
                      </a:lnTo>
                      <a:lnTo>
                        <a:pt x="61" y="78"/>
                      </a:lnTo>
                      <a:lnTo>
                        <a:pt x="62" y="91"/>
                      </a:lnTo>
                      <a:lnTo>
                        <a:pt x="63" y="10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996" name="Freeform 1033"/>
                <p:cNvSpPr>
                  <a:spLocks/>
                </p:cNvSpPr>
                <p:nvPr/>
              </p:nvSpPr>
              <p:spPr bwMode="auto">
                <a:xfrm>
                  <a:off x="2715" y="2488"/>
                  <a:ext cx="63" cy="107"/>
                </a:xfrm>
                <a:custGeom>
                  <a:avLst/>
                  <a:gdLst>
                    <a:gd name="T0" fmla="*/ 63 w 63"/>
                    <a:gd name="T1" fmla="*/ 104 h 107"/>
                    <a:gd name="T2" fmla="*/ 56 w 63"/>
                    <a:gd name="T3" fmla="*/ 107 h 107"/>
                    <a:gd name="T4" fmla="*/ 0 w 63"/>
                    <a:gd name="T5" fmla="*/ 7 h 107"/>
                    <a:gd name="T6" fmla="*/ 11 w 63"/>
                    <a:gd name="T7" fmla="*/ 0 h 107"/>
                    <a:gd name="T8" fmla="*/ 21 w 63"/>
                    <a:gd name="T9" fmla="*/ 7 h 107"/>
                    <a:gd name="T10" fmla="*/ 28 w 63"/>
                    <a:gd name="T11" fmla="*/ 16 h 107"/>
                    <a:gd name="T12" fmla="*/ 36 w 63"/>
                    <a:gd name="T13" fmla="*/ 25 h 107"/>
                    <a:gd name="T14" fmla="*/ 42 w 63"/>
                    <a:gd name="T15" fmla="*/ 35 h 107"/>
                    <a:gd name="T16" fmla="*/ 48 w 63"/>
                    <a:gd name="T17" fmla="*/ 45 h 107"/>
                    <a:gd name="T18" fmla="*/ 53 w 63"/>
                    <a:gd name="T19" fmla="*/ 56 h 107"/>
                    <a:gd name="T20" fmla="*/ 56 w 63"/>
                    <a:gd name="T21" fmla="*/ 67 h 107"/>
                    <a:gd name="T22" fmla="*/ 61 w 63"/>
                    <a:gd name="T23" fmla="*/ 78 h 107"/>
                    <a:gd name="T24" fmla="*/ 62 w 63"/>
                    <a:gd name="T25" fmla="*/ 91 h 107"/>
                    <a:gd name="T26" fmla="*/ 63 w 63"/>
                    <a:gd name="T27" fmla="*/ 104 h 10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63"/>
                    <a:gd name="T43" fmla="*/ 0 h 107"/>
                    <a:gd name="T44" fmla="*/ 63 w 63"/>
                    <a:gd name="T45" fmla="*/ 107 h 10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63" h="107">
                      <a:moveTo>
                        <a:pt x="63" y="104"/>
                      </a:moveTo>
                      <a:lnTo>
                        <a:pt x="56" y="107"/>
                      </a:lnTo>
                      <a:lnTo>
                        <a:pt x="0" y="7"/>
                      </a:lnTo>
                      <a:lnTo>
                        <a:pt x="11" y="0"/>
                      </a:lnTo>
                      <a:lnTo>
                        <a:pt x="21" y="7"/>
                      </a:lnTo>
                      <a:lnTo>
                        <a:pt x="28" y="16"/>
                      </a:lnTo>
                      <a:lnTo>
                        <a:pt x="36" y="25"/>
                      </a:lnTo>
                      <a:lnTo>
                        <a:pt x="42" y="35"/>
                      </a:lnTo>
                      <a:lnTo>
                        <a:pt x="48" y="45"/>
                      </a:lnTo>
                      <a:lnTo>
                        <a:pt x="53" y="56"/>
                      </a:lnTo>
                      <a:lnTo>
                        <a:pt x="56" y="67"/>
                      </a:lnTo>
                      <a:lnTo>
                        <a:pt x="61" y="78"/>
                      </a:lnTo>
                      <a:lnTo>
                        <a:pt x="62" y="91"/>
                      </a:lnTo>
                      <a:lnTo>
                        <a:pt x="63" y="104"/>
                      </a:lnTo>
                    </a:path>
                  </a:pathLst>
                </a:custGeom>
                <a:no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997" name="Freeform 1034"/>
                <p:cNvSpPr>
                  <a:spLocks/>
                </p:cNvSpPr>
                <p:nvPr/>
              </p:nvSpPr>
              <p:spPr bwMode="auto">
                <a:xfrm>
                  <a:off x="2527" y="2490"/>
                  <a:ext cx="63" cy="107"/>
                </a:xfrm>
                <a:custGeom>
                  <a:avLst/>
                  <a:gdLst>
                    <a:gd name="T0" fmla="*/ 63 w 63"/>
                    <a:gd name="T1" fmla="*/ 9 h 107"/>
                    <a:gd name="T2" fmla="*/ 5 w 63"/>
                    <a:gd name="T3" fmla="*/ 107 h 107"/>
                    <a:gd name="T4" fmla="*/ 4 w 63"/>
                    <a:gd name="T5" fmla="*/ 107 h 107"/>
                    <a:gd name="T6" fmla="*/ 3 w 63"/>
                    <a:gd name="T7" fmla="*/ 107 h 107"/>
                    <a:gd name="T8" fmla="*/ 2 w 63"/>
                    <a:gd name="T9" fmla="*/ 106 h 107"/>
                    <a:gd name="T10" fmla="*/ 1 w 63"/>
                    <a:gd name="T11" fmla="*/ 106 h 107"/>
                    <a:gd name="T12" fmla="*/ 1 w 63"/>
                    <a:gd name="T13" fmla="*/ 105 h 107"/>
                    <a:gd name="T14" fmla="*/ 0 w 63"/>
                    <a:gd name="T15" fmla="*/ 104 h 107"/>
                    <a:gd name="T16" fmla="*/ 1 w 63"/>
                    <a:gd name="T17" fmla="*/ 92 h 107"/>
                    <a:gd name="T18" fmla="*/ 2 w 63"/>
                    <a:gd name="T19" fmla="*/ 80 h 107"/>
                    <a:gd name="T20" fmla="*/ 5 w 63"/>
                    <a:gd name="T21" fmla="*/ 68 h 107"/>
                    <a:gd name="T22" fmla="*/ 8 w 63"/>
                    <a:gd name="T23" fmla="*/ 57 h 107"/>
                    <a:gd name="T24" fmla="*/ 12 w 63"/>
                    <a:gd name="T25" fmla="*/ 46 h 107"/>
                    <a:gd name="T26" fmla="*/ 19 w 63"/>
                    <a:gd name="T27" fmla="*/ 35 h 107"/>
                    <a:gd name="T28" fmla="*/ 25 w 63"/>
                    <a:gd name="T29" fmla="*/ 27 h 107"/>
                    <a:gd name="T30" fmla="*/ 32 w 63"/>
                    <a:gd name="T31" fmla="*/ 17 h 107"/>
                    <a:gd name="T32" fmla="*/ 40 w 63"/>
                    <a:gd name="T33" fmla="*/ 9 h 107"/>
                    <a:gd name="T34" fmla="*/ 49 w 63"/>
                    <a:gd name="T35" fmla="*/ 0 h 107"/>
                    <a:gd name="T36" fmla="*/ 50 w 63"/>
                    <a:gd name="T37" fmla="*/ 0 h 107"/>
                    <a:gd name="T38" fmla="*/ 52 w 63"/>
                    <a:gd name="T39" fmla="*/ 1 h 107"/>
                    <a:gd name="T40" fmla="*/ 54 w 63"/>
                    <a:gd name="T41" fmla="*/ 2 h 107"/>
                    <a:gd name="T42" fmla="*/ 54 w 63"/>
                    <a:gd name="T43" fmla="*/ 3 h 107"/>
                    <a:gd name="T44" fmla="*/ 56 w 63"/>
                    <a:gd name="T45" fmla="*/ 3 h 107"/>
                    <a:gd name="T46" fmla="*/ 57 w 63"/>
                    <a:gd name="T47" fmla="*/ 4 h 107"/>
                    <a:gd name="T48" fmla="*/ 58 w 63"/>
                    <a:gd name="T49" fmla="*/ 5 h 107"/>
                    <a:gd name="T50" fmla="*/ 60 w 63"/>
                    <a:gd name="T51" fmla="*/ 7 h 107"/>
                    <a:gd name="T52" fmla="*/ 62 w 63"/>
                    <a:gd name="T53" fmla="*/ 9 h 107"/>
                    <a:gd name="T54" fmla="*/ 63 w 63"/>
                    <a:gd name="T55" fmla="*/ 9 h 107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w 63"/>
                    <a:gd name="T85" fmla="*/ 0 h 107"/>
                    <a:gd name="T86" fmla="*/ 63 w 63"/>
                    <a:gd name="T87" fmla="*/ 107 h 107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T84" t="T85" r="T86" b="T87"/>
                  <a:pathLst>
                    <a:path w="63" h="107">
                      <a:moveTo>
                        <a:pt x="63" y="9"/>
                      </a:moveTo>
                      <a:lnTo>
                        <a:pt x="5" y="107"/>
                      </a:lnTo>
                      <a:lnTo>
                        <a:pt x="4" y="107"/>
                      </a:lnTo>
                      <a:lnTo>
                        <a:pt x="3" y="107"/>
                      </a:lnTo>
                      <a:lnTo>
                        <a:pt x="2" y="106"/>
                      </a:lnTo>
                      <a:lnTo>
                        <a:pt x="1" y="106"/>
                      </a:lnTo>
                      <a:lnTo>
                        <a:pt x="1" y="105"/>
                      </a:lnTo>
                      <a:lnTo>
                        <a:pt x="0" y="104"/>
                      </a:lnTo>
                      <a:lnTo>
                        <a:pt x="1" y="92"/>
                      </a:lnTo>
                      <a:lnTo>
                        <a:pt x="2" y="80"/>
                      </a:lnTo>
                      <a:lnTo>
                        <a:pt x="5" y="68"/>
                      </a:lnTo>
                      <a:lnTo>
                        <a:pt x="8" y="57"/>
                      </a:lnTo>
                      <a:lnTo>
                        <a:pt x="12" y="46"/>
                      </a:lnTo>
                      <a:lnTo>
                        <a:pt x="19" y="35"/>
                      </a:lnTo>
                      <a:lnTo>
                        <a:pt x="25" y="27"/>
                      </a:lnTo>
                      <a:lnTo>
                        <a:pt x="32" y="17"/>
                      </a:lnTo>
                      <a:lnTo>
                        <a:pt x="40" y="9"/>
                      </a:lnTo>
                      <a:lnTo>
                        <a:pt x="49" y="0"/>
                      </a:lnTo>
                      <a:lnTo>
                        <a:pt x="50" y="0"/>
                      </a:lnTo>
                      <a:lnTo>
                        <a:pt x="52" y="1"/>
                      </a:lnTo>
                      <a:lnTo>
                        <a:pt x="54" y="2"/>
                      </a:lnTo>
                      <a:lnTo>
                        <a:pt x="54" y="3"/>
                      </a:lnTo>
                      <a:lnTo>
                        <a:pt x="56" y="3"/>
                      </a:lnTo>
                      <a:lnTo>
                        <a:pt x="57" y="4"/>
                      </a:lnTo>
                      <a:lnTo>
                        <a:pt x="58" y="5"/>
                      </a:lnTo>
                      <a:lnTo>
                        <a:pt x="60" y="7"/>
                      </a:lnTo>
                      <a:lnTo>
                        <a:pt x="62" y="9"/>
                      </a:lnTo>
                      <a:lnTo>
                        <a:pt x="63" y="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998" name="Freeform 1035"/>
                <p:cNvSpPr>
                  <a:spLocks/>
                </p:cNvSpPr>
                <p:nvPr/>
              </p:nvSpPr>
              <p:spPr bwMode="auto">
                <a:xfrm>
                  <a:off x="2527" y="2490"/>
                  <a:ext cx="63" cy="107"/>
                </a:xfrm>
                <a:custGeom>
                  <a:avLst/>
                  <a:gdLst>
                    <a:gd name="T0" fmla="*/ 63 w 63"/>
                    <a:gd name="T1" fmla="*/ 9 h 107"/>
                    <a:gd name="T2" fmla="*/ 5 w 63"/>
                    <a:gd name="T3" fmla="*/ 107 h 107"/>
                    <a:gd name="T4" fmla="*/ 4 w 63"/>
                    <a:gd name="T5" fmla="*/ 107 h 107"/>
                    <a:gd name="T6" fmla="*/ 3 w 63"/>
                    <a:gd name="T7" fmla="*/ 107 h 107"/>
                    <a:gd name="T8" fmla="*/ 2 w 63"/>
                    <a:gd name="T9" fmla="*/ 106 h 107"/>
                    <a:gd name="T10" fmla="*/ 1 w 63"/>
                    <a:gd name="T11" fmla="*/ 106 h 107"/>
                    <a:gd name="T12" fmla="*/ 1 w 63"/>
                    <a:gd name="T13" fmla="*/ 105 h 107"/>
                    <a:gd name="T14" fmla="*/ 0 w 63"/>
                    <a:gd name="T15" fmla="*/ 104 h 107"/>
                    <a:gd name="T16" fmla="*/ 1 w 63"/>
                    <a:gd name="T17" fmla="*/ 92 h 107"/>
                    <a:gd name="T18" fmla="*/ 2 w 63"/>
                    <a:gd name="T19" fmla="*/ 80 h 107"/>
                    <a:gd name="T20" fmla="*/ 5 w 63"/>
                    <a:gd name="T21" fmla="*/ 68 h 107"/>
                    <a:gd name="T22" fmla="*/ 8 w 63"/>
                    <a:gd name="T23" fmla="*/ 57 h 107"/>
                    <a:gd name="T24" fmla="*/ 12 w 63"/>
                    <a:gd name="T25" fmla="*/ 46 h 107"/>
                    <a:gd name="T26" fmla="*/ 19 w 63"/>
                    <a:gd name="T27" fmla="*/ 35 h 107"/>
                    <a:gd name="T28" fmla="*/ 25 w 63"/>
                    <a:gd name="T29" fmla="*/ 27 h 107"/>
                    <a:gd name="T30" fmla="*/ 32 w 63"/>
                    <a:gd name="T31" fmla="*/ 17 h 107"/>
                    <a:gd name="T32" fmla="*/ 40 w 63"/>
                    <a:gd name="T33" fmla="*/ 9 h 107"/>
                    <a:gd name="T34" fmla="*/ 49 w 63"/>
                    <a:gd name="T35" fmla="*/ 0 h 107"/>
                    <a:gd name="T36" fmla="*/ 50 w 63"/>
                    <a:gd name="T37" fmla="*/ 0 h 107"/>
                    <a:gd name="T38" fmla="*/ 52 w 63"/>
                    <a:gd name="T39" fmla="*/ 1 h 107"/>
                    <a:gd name="T40" fmla="*/ 54 w 63"/>
                    <a:gd name="T41" fmla="*/ 2 h 107"/>
                    <a:gd name="T42" fmla="*/ 54 w 63"/>
                    <a:gd name="T43" fmla="*/ 3 h 107"/>
                    <a:gd name="T44" fmla="*/ 56 w 63"/>
                    <a:gd name="T45" fmla="*/ 3 h 107"/>
                    <a:gd name="T46" fmla="*/ 57 w 63"/>
                    <a:gd name="T47" fmla="*/ 4 h 107"/>
                    <a:gd name="T48" fmla="*/ 58 w 63"/>
                    <a:gd name="T49" fmla="*/ 5 h 107"/>
                    <a:gd name="T50" fmla="*/ 60 w 63"/>
                    <a:gd name="T51" fmla="*/ 7 h 107"/>
                    <a:gd name="T52" fmla="*/ 62 w 63"/>
                    <a:gd name="T53" fmla="*/ 9 h 107"/>
                    <a:gd name="T54" fmla="*/ 63 w 63"/>
                    <a:gd name="T55" fmla="*/ 9 h 107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w 63"/>
                    <a:gd name="T85" fmla="*/ 0 h 107"/>
                    <a:gd name="T86" fmla="*/ 63 w 63"/>
                    <a:gd name="T87" fmla="*/ 107 h 107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T84" t="T85" r="T86" b="T87"/>
                  <a:pathLst>
                    <a:path w="63" h="107">
                      <a:moveTo>
                        <a:pt x="63" y="9"/>
                      </a:moveTo>
                      <a:lnTo>
                        <a:pt x="5" y="107"/>
                      </a:lnTo>
                      <a:lnTo>
                        <a:pt x="4" y="107"/>
                      </a:lnTo>
                      <a:lnTo>
                        <a:pt x="3" y="107"/>
                      </a:lnTo>
                      <a:lnTo>
                        <a:pt x="2" y="106"/>
                      </a:lnTo>
                      <a:lnTo>
                        <a:pt x="1" y="106"/>
                      </a:lnTo>
                      <a:lnTo>
                        <a:pt x="1" y="105"/>
                      </a:lnTo>
                      <a:lnTo>
                        <a:pt x="0" y="104"/>
                      </a:lnTo>
                      <a:lnTo>
                        <a:pt x="1" y="92"/>
                      </a:lnTo>
                      <a:lnTo>
                        <a:pt x="2" y="80"/>
                      </a:lnTo>
                      <a:lnTo>
                        <a:pt x="5" y="68"/>
                      </a:lnTo>
                      <a:lnTo>
                        <a:pt x="8" y="57"/>
                      </a:lnTo>
                      <a:lnTo>
                        <a:pt x="12" y="46"/>
                      </a:lnTo>
                      <a:lnTo>
                        <a:pt x="19" y="35"/>
                      </a:lnTo>
                      <a:lnTo>
                        <a:pt x="25" y="27"/>
                      </a:lnTo>
                      <a:lnTo>
                        <a:pt x="32" y="17"/>
                      </a:lnTo>
                      <a:lnTo>
                        <a:pt x="40" y="9"/>
                      </a:lnTo>
                      <a:lnTo>
                        <a:pt x="49" y="0"/>
                      </a:lnTo>
                      <a:lnTo>
                        <a:pt x="50" y="0"/>
                      </a:lnTo>
                      <a:lnTo>
                        <a:pt x="52" y="1"/>
                      </a:lnTo>
                      <a:lnTo>
                        <a:pt x="54" y="2"/>
                      </a:lnTo>
                      <a:lnTo>
                        <a:pt x="54" y="3"/>
                      </a:lnTo>
                      <a:lnTo>
                        <a:pt x="56" y="3"/>
                      </a:lnTo>
                      <a:lnTo>
                        <a:pt x="57" y="4"/>
                      </a:lnTo>
                      <a:lnTo>
                        <a:pt x="58" y="5"/>
                      </a:lnTo>
                      <a:lnTo>
                        <a:pt x="60" y="7"/>
                      </a:lnTo>
                      <a:lnTo>
                        <a:pt x="62" y="9"/>
                      </a:lnTo>
                      <a:lnTo>
                        <a:pt x="63" y="9"/>
                      </a:lnTo>
                    </a:path>
                  </a:pathLst>
                </a:custGeom>
                <a:no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999" name="Freeform 1036"/>
                <p:cNvSpPr>
                  <a:spLocks/>
                </p:cNvSpPr>
                <p:nvPr/>
              </p:nvSpPr>
              <p:spPr bwMode="auto">
                <a:xfrm>
                  <a:off x="2603" y="2498"/>
                  <a:ext cx="162" cy="107"/>
                </a:xfrm>
                <a:custGeom>
                  <a:avLst/>
                  <a:gdLst>
                    <a:gd name="T0" fmla="*/ 102 w 162"/>
                    <a:gd name="T1" fmla="*/ 12 h 107"/>
                    <a:gd name="T2" fmla="*/ 104 w 162"/>
                    <a:gd name="T3" fmla="*/ 10 h 107"/>
                    <a:gd name="T4" fmla="*/ 106 w 162"/>
                    <a:gd name="T5" fmla="*/ 8 h 107"/>
                    <a:gd name="T6" fmla="*/ 108 w 162"/>
                    <a:gd name="T7" fmla="*/ 7 h 107"/>
                    <a:gd name="T8" fmla="*/ 111 w 162"/>
                    <a:gd name="T9" fmla="*/ 6 h 107"/>
                    <a:gd name="T10" fmla="*/ 162 w 162"/>
                    <a:gd name="T11" fmla="*/ 94 h 107"/>
                    <a:gd name="T12" fmla="*/ 158 w 162"/>
                    <a:gd name="T13" fmla="*/ 96 h 107"/>
                    <a:gd name="T14" fmla="*/ 153 w 162"/>
                    <a:gd name="T15" fmla="*/ 99 h 107"/>
                    <a:gd name="T16" fmla="*/ 149 w 162"/>
                    <a:gd name="T17" fmla="*/ 103 h 107"/>
                    <a:gd name="T18" fmla="*/ 145 w 162"/>
                    <a:gd name="T19" fmla="*/ 105 h 107"/>
                    <a:gd name="T20" fmla="*/ 140 w 162"/>
                    <a:gd name="T21" fmla="*/ 107 h 107"/>
                    <a:gd name="T22" fmla="*/ 128 w 162"/>
                    <a:gd name="T23" fmla="*/ 94 h 107"/>
                    <a:gd name="T24" fmla="*/ 116 w 162"/>
                    <a:gd name="T25" fmla="*/ 80 h 107"/>
                    <a:gd name="T26" fmla="*/ 104 w 162"/>
                    <a:gd name="T27" fmla="*/ 67 h 107"/>
                    <a:gd name="T28" fmla="*/ 91 w 162"/>
                    <a:gd name="T29" fmla="*/ 53 h 107"/>
                    <a:gd name="T30" fmla="*/ 78 w 162"/>
                    <a:gd name="T31" fmla="*/ 41 h 107"/>
                    <a:gd name="T32" fmla="*/ 73 w 162"/>
                    <a:gd name="T33" fmla="*/ 38 h 107"/>
                    <a:gd name="T34" fmla="*/ 66 w 162"/>
                    <a:gd name="T35" fmla="*/ 36 h 107"/>
                    <a:gd name="T36" fmla="*/ 60 w 162"/>
                    <a:gd name="T37" fmla="*/ 33 h 107"/>
                    <a:gd name="T38" fmla="*/ 55 w 162"/>
                    <a:gd name="T39" fmla="*/ 31 h 107"/>
                    <a:gd name="T40" fmla="*/ 48 w 162"/>
                    <a:gd name="T41" fmla="*/ 28 h 107"/>
                    <a:gd name="T42" fmla="*/ 50 w 162"/>
                    <a:gd name="T43" fmla="*/ 26 h 107"/>
                    <a:gd name="T44" fmla="*/ 50 w 162"/>
                    <a:gd name="T45" fmla="*/ 23 h 107"/>
                    <a:gd name="T46" fmla="*/ 44 w 162"/>
                    <a:gd name="T47" fmla="*/ 28 h 107"/>
                    <a:gd name="T48" fmla="*/ 36 w 162"/>
                    <a:gd name="T49" fmla="*/ 37 h 107"/>
                    <a:gd name="T50" fmla="*/ 26 w 162"/>
                    <a:gd name="T51" fmla="*/ 46 h 107"/>
                    <a:gd name="T52" fmla="*/ 18 w 162"/>
                    <a:gd name="T53" fmla="*/ 51 h 107"/>
                    <a:gd name="T54" fmla="*/ 6 w 162"/>
                    <a:gd name="T55" fmla="*/ 52 h 107"/>
                    <a:gd name="T56" fmla="*/ 11 w 162"/>
                    <a:gd name="T57" fmla="*/ 24 h 107"/>
                    <a:gd name="T58" fmla="*/ 13 w 162"/>
                    <a:gd name="T59" fmla="*/ 26 h 107"/>
                    <a:gd name="T60" fmla="*/ 15 w 162"/>
                    <a:gd name="T61" fmla="*/ 26 h 107"/>
                    <a:gd name="T62" fmla="*/ 17 w 162"/>
                    <a:gd name="T63" fmla="*/ 28 h 107"/>
                    <a:gd name="T64" fmla="*/ 17 w 162"/>
                    <a:gd name="T65" fmla="*/ 31 h 107"/>
                    <a:gd name="T66" fmla="*/ 18 w 162"/>
                    <a:gd name="T67" fmla="*/ 34 h 107"/>
                    <a:gd name="T68" fmla="*/ 17 w 162"/>
                    <a:gd name="T69" fmla="*/ 37 h 107"/>
                    <a:gd name="T70" fmla="*/ 14 w 162"/>
                    <a:gd name="T71" fmla="*/ 40 h 107"/>
                    <a:gd name="T72" fmla="*/ 13 w 162"/>
                    <a:gd name="T73" fmla="*/ 42 h 107"/>
                    <a:gd name="T74" fmla="*/ 11 w 162"/>
                    <a:gd name="T75" fmla="*/ 46 h 107"/>
                    <a:gd name="T76" fmla="*/ 14 w 162"/>
                    <a:gd name="T77" fmla="*/ 46 h 107"/>
                    <a:gd name="T78" fmla="*/ 15 w 162"/>
                    <a:gd name="T79" fmla="*/ 41 h 107"/>
                    <a:gd name="T80" fmla="*/ 18 w 162"/>
                    <a:gd name="T81" fmla="*/ 38 h 107"/>
                    <a:gd name="T82" fmla="*/ 19 w 162"/>
                    <a:gd name="T83" fmla="*/ 35 h 107"/>
                    <a:gd name="T84" fmla="*/ 20 w 162"/>
                    <a:gd name="T85" fmla="*/ 32 h 107"/>
                    <a:gd name="T86" fmla="*/ 19 w 162"/>
                    <a:gd name="T87" fmla="*/ 29 h 107"/>
                    <a:gd name="T88" fmla="*/ 18 w 162"/>
                    <a:gd name="T89" fmla="*/ 26 h 107"/>
                    <a:gd name="T90" fmla="*/ 17 w 162"/>
                    <a:gd name="T91" fmla="*/ 24 h 107"/>
                    <a:gd name="T92" fmla="*/ 14 w 162"/>
                    <a:gd name="T93" fmla="*/ 23 h 107"/>
                    <a:gd name="T94" fmla="*/ 19 w 162"/>
                    <a:gd name="T95" fmla="*/ 10 h 107"/>
                    <a:gd name="T96" fmla="*/ 101 w 162"/>
                    <a:gd name="T97" fmla="*/ 12 h 107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62"/>
                    <a:gd name="T148" fmla="*/ 0 h 107"/>
                    <a:gd name="T149" fmla="*/ 162 w 162"/>
                    <a:gd name="T150" fmla="*/ 107 h 107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62" h="107">
                      <a:moveTo>
                        <a:pt x="101" y="12"/>
                      </a:moveTo>
                      <a:lnTo>
                        <a:pt x="102" y="12"/>
                      </a:lnTo>
                      <a:lnTo>
                        <a:pt x="103" y="10"/>
                      </a:lnTo>
                      <a:lnTo>
                        <a:pt x="104" y="10"/>
                      </a:lnTo>
                      <a:lnTo>
                        <a:pt x="105" y="10"/>
                      </a:lnTo>
                      <a:lnTo>
                        <a:pt x="106" y="8"/>
                      </a:lnTo>
                      <a:lnTo>
                        <a:pt x="107" y="8"/>
                      </a:lnTo>
                      <a:lnTo>
                        <a:pt x="108" y="7"/>
                      </a:lnTo>
                      <a:lnTo>
                        <a:pt x="111" y="6"/>
                      </a:lnTo>
                      <a:lnTo>
                        <a:pt x="113" y="6"/>
                      </a:lnTo>
                      <a:lnTo>
                        <a:pt x="162" y="94"/>
                      </a:lnTo>
                      <a:lnTo>
                        <a:pt x="160" y="95"/>
                      </a:lnTo>
                      <a:lnTo>
                        <a:pt x="158" y="96"/>
                      </a:lnTo>
                      <a:lnTo>
                        <a:pt x="155" y="97"/>
                      </a:lnTo>
                      <a:lnTo>
                        <a:pt x="153" y="99"/>
                      </a:lnTo>
                      <a:lnTo>
                        <a:pt x="151" y="101"/>
                      </a:lnTo>
                      <a:lnTo>
                        <a:pt x="149" y="103"/>
                      </a:lnTo>
                      <a:lnTo>
                        <a:pt x="147" y="104"/>
                      </a:lnTo>
                      <a:lnTo>
                        <a:pt x="145" y="105"/>
                      </a:lnTo>
                      <a:lnTo>
                        <a:pt x="143" y="106"/>
                      </a:lnTo>
                      <a:lnTo>
                        <a:pt x="140" y="107"/>
                      </a:lnTo>
                      <a:lnTo>
                        <a:pt x="134" y="101"/>
                      </a:lnTo>
                      <a:lnTo>
                        <a:pt x="128" y="94"/>
                      </a:lnTo>
                      <a:lnTo>
                        <a:pt x="122" y="87"/>
                      </a:lnTo>
                      <a:lnTo>
                        <a:pt x="116" y="80"/>
                      </a:lnTo>
                      <a:lnTo>
                        <a:pt x="111" y="73"/>
                      </a:lnTo>
                      <a:lnTo>
                        <a:pt x="104" y="67"/>
                      </a:lnTo>
                      <a:lnTo>
                        <a:pt x="98" y="59"/>
                      </a:lnTo>
                      <a:lnTo>
                        <a:pt x="91" y="53"/>
                      </a:lnTo>
                      <a:lnTo>
                        <a:pt x="85" y="48"/>
                      </a:lnTo>
                      <a:lnTo>
                        <a:pt x="78" y="41"/>
                      </a:lnTo>
                      <a:lnTo>
                        <a:pt x="75" y="40"/>
                      </a:lnTo>
                      <a:lnTo>
                        <a:pt x="73" y="38"/>
                      </a:lnTo>
                      <a:lnTo>
                        <a:pt x="69" y="37"/>
                      </a:lnTo>
                      <a:lnTo>
                        <a:pt x="66" y="36"/>
                      </a:lnTo>
                      <a:lnTo>
                        <a:pt x="64" y="35"/>
                      </a:lnTo>
                      <a:lnTo>
                        <a:pt x="60" y="33"/>
                      </a:lnTo>
                      <a:lnTo>
                        <a:pt x="57" y="32"/>
                      </a:lnTo>
                      <a:lnTo>
                        <a:pt x="55" y="31"/>
                      </a:lnTo>
                      <a:lnTo>
                        <a:pt x="52" y="29"/>
                      </a:lnTo>
                      <a:lnTo>
                        <a:pt x="48" y="28"/>
                      </a:lnTo>
                      <a:lnTo>
                        <a:pt x="50" y="26"/>
                      </a:lnTo>
                      <a:lnTo>
                        <a:pt x="50" y="24"/>
                      </a:lnTo>
                      <a:lnTo>
                        <a:pt x="50" y="23"/>
                      </a:lnTo>
                      <a:lnTo>
                        <a:pt x="44" y="28"/>
                      </a:lnTo>
                      <a:lnTo>
                        <a:pt x="40" y="33"/>
                      </a:lnTo>
                      <a:lnTo>
                        <a:pt x="36" y="37"/>
                      </a:lnTo>
                      <a:lnTo>
                        <a:pt x="30" y="40"/>
                      </a:lnTo>
                      <a:lnTo>
                        <a:pt x="26" y="46"/>
                      </a:lnTo>
                      <a:lnTo>
                        <a:pt x="22" y="48"/>
                      </a:lnTo>
                      <a:lnTo>
                        <a:pt x="18" y="51"/>
                      </a:lnTo>
                      <a:lnTo>
                        <a:pt x="11" y="52"/>
                      </a:lnTo>
                      <a:lnTo>
                        <a:pt x="6" y="52"/>
                      </a:lnTo>
                      <a:lnTo>
                        <a:pt x="0" y="48"/>
                      </a:lnTo>
                      <a:lnTo>
                        <a:pt x="11" y="24"/>
                      </a:lnTo>
                      <a:lnTo>
                        <a:pt x="13" y="24"/>
                      </a:lnTo>
                      <a:lnTo>
                        <a:pt x="13" y="26"/>
                      </a:lnTo>
                      <a:lnTo>
                        <a:pt x="14" y="26"/>
                      </a:lnTo>
                      <a:lnTo>
                        <a:pt x="15" y="26"/>
                      </a:lnTo>
                      <a:lnTo>
                        <a:pt x="15" y="28"/>
                      </a:lnTo>
                      <a:lnTo>
                        <a:pt x="17" y="28"/>
                      </a:lnTo>
                      <a:lnTo>
                        <a:pt x="17" y="29"/>
                      </a:lnTo>
                      <a:lnTo>
                        <a:pt x="17" y="31"/>
                      </a:lnTo>
                      <a:lnTo>
                        <a:pt x="18" y="32"/>
                      </a:lnTo>
                      <a:lnTo>
                        <a:pt x="18" y="34"/>
                      </a:lnTo>
                      <a:lnTo>
                        <a:pt x="17" y="35"/>
                      </a:lnTo>
                      <a:lnTo>
                        <a:pt x="17" y="37"/>
                      </a:lnTo>
                      <a:lnTo>
                        <a:pt x="15" y="38"/>
                      </a:lnTo>
                      <a:lnTo>
                        <a:pt x="14" y="40"/>
                      </a:lnTo>
                      <a:lnTo>
                        <a:pt x="13" y="41"/>
                      </a:lnTo>
                      <a:lnTo>
                        <a:pt x="13" y="42"/>
                      </a:lnTo>
                      <a:lnTo>
                        <a:pt x="11" y="43"/>
                      </a:lnTo>
                      <a:lnTo>
                        <a:pt x="11" y="46"/>
                      </a:lnTo>
                      <a:lnTo>
                        <a:pt x="13" y="46"/>
                      </a:lnTo>
                      <a:lnTo>
                        <a:pt x="14" y="46"/>
                      </a:lnTo>
                      <a:lnTo>
                        <a:pt x="15" y="42"/>
                      </a:lnTo>
                      <a:lnTo>
                        <a:pt x="15" y="41"/>
                      </a:lnTo>
                      <a:lnTo>
                        <a:pt x="17" y="40"/>
                      </a:lnTo>
                      <a:lnTo>
                        <a:pt x="18" y="38"/>
                      </a:lnTo>
                      <a:lnTo>
                        <a:pt x="19" y="37"/>
                      </a:lnTo>
                      <a:lnTo>
                        <a:pt x="19" y="35"/>
                      </a:lnTo>
                      <a:lnTo>
                        <a:pt x="19" y="34"/>
                      </a:lnTo>
                      <a:lnTo>
                        <a:pt x="20" y="32"/>
                      </a:lnTo>
                      <a:lnTo>
                        <a:pt x="19" y="31"/>
                      </a:lnTo>
                      <a:lnTo>
                        <a:pt x="19" y="29"/>
                      </a:lnTo>
                      <a:lnTo>
                        <a:pt x="19" y="28"/>
                      </a:lnTo>
                      <a:lnTo>
                        <a:pt x="18" y="26"/>
                      </a:lnTo>
                      <a:lnTo>
                        <a:pt x="17" y="26"/>
                      </a:lnTo>
                      <a:lnTo>
                        <a:pt x="17" y="24"/>
                      </a:lnTo>
                      <a:lnTo>
                        <a:pt x="15" y="24"/>
                      </a:lnTo>
                      <a:lnTo>
                        <a:pt x="14" y="23"/>
                      </a:lnTo>
                      <a:lnTo>
                        <a:pt x="13" y="22"/>
                      </a:lnTo>
                      <a:lnTo>
                        <a:pt x="19" y="10"/>
                      </a:lnTo>
                      <a:lnTo>
                        <a:pt x="48" y="0"/>
                      </a:lnTo>
                      <a:lnTo>
                        <a:pt x="101" y="12"/>
                      </a:lnTo>
                      <a:close/>
                    </a:path>
                  </a:pathLst>
                </a:custGeom>
                <a:solidFill>
                  <a:srgbClr val="4A29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25000" name="Group 1037"/>
                <p:cNvGrpSpPr>
                  <a:grpSpLocks/>
                </p:cNvGrpSpPr>
                <p:nvPr/>
              </p:nvGrpSpPr>
              <p:grpSpPr bwMode="auto">
                <a:xfrm>
                  <a:off x="2603" y="2498"/>
                  <a:ext cx="162" cy="107"/>
                  <a:chOff x="2603" y="2498"/>
                  <a:chExt cx="162" cy="107"/>
                </a:xfrm>
              </p:grpSpPr>
              <p:sp>
                <p:nvSpPr>
                  <p:cNvPr id="25036" name="Freeform 1038"/>
                  <p:cNvSpPr>
                    <a:spLocks/>
                  </p:cNvSpPr>
                  <p:nvPr/>
                </p:nvSpPr>
                <p:spPr bwMode="auto">
                  <a:xfrm>
                    <a:off x="2603" y="2498"/>
                    <a:ext cx="162" cy="107"/>
                  </a:xfrm>
                  <a:custGeom>
                    <a:avLst/>
                    <a:gdLst>
                      <a:gd name="T0" fmla="*/ 102 w 162"/>
                      <a:gd name="T1" fmla="*/ 12 h 107"/>
                      <a:gd name="T2" fmla="*/ 104 w 162"/>
                      <a:gd name="T3" fmla="*/ 10 h 107"/>
                      <a:gd name="T4" fmla="*/ 106 w 162"/>
                      <a:gd name="T5" fmla="*/ 8 h 107"/>
                      <a:gd name="T6" fmla="*/ 108 w 162"/>
                      <a:gd name="T7" fmla="*/ 7 h 107"/>
                      <a:gd name="T8" fmla="*/ 111 w 162"/>
                      <a:gd name="T9" fmla="*/ 6 h 107"/>
                      <a:gd name="T10" fmla="*/ 162 w 162"/>
                      <a:gd name="T11" fmla="*/ 94 h 107"/>
                      <a:gd name="T12" fmla="*/ 158 w 162"/>
                      <a:gd name="T13" fmla="*/ 96 h 107"/>
                      <a:gd name="T14" fmla="*/ 153 w 162"/>
                      <a:gd name="T15" fmla="*/ 99 h 107"/>
                      <a:gd name="T16" fmla="*/ 149 w 162"/>
                      <a:gd name="T17" fmla="*/ 103 h 107"/>
                      <a:gd name="T18" fmla="*/ 145 w 162"/>
                      <a:gd name="T19" fmla="*/ 105 h 107"/>
                      <a:gd name="T20" fmla="*/ 140 w 162"/>
                      <a:gd name="T21" fmla="*/ 107 h 107"/>
                      <a:gd name="T22" fmla="*/ 128 w 162"/>
                      <a:gd name="T23" fmla="*/ 94 h 107"/>
                      <a:gd name="T24" fmla="*/ 116 w 162"/>
                      <a:gd name="T25" fmla="*/ 80 h 107"/>
                      <a:gd name="T26" fmla="*/ 104 w 162"/>
                      <a:gd name="T27" fmla="*/ 67 h 107"/>
                      <a:gd name="T28" fmla="*/ 91 w 162"/>
                      <a:gd name="T29" fmla="*/ 53 h 107"/>
                      <a:gd name="T30" fmla="*/ 78 w 162"/>
                      <a:gd name="T31" fmla="*/ 41 h 107"/>
                      <a:gd name="T32" fmla="*/ 73 w 162"/>
                      <a:gd name="T33" fmla="*/ 38 h 107"/>
                      <a:gd name="T34" fmla="*/ 66 w 162"/>
                      <a:gd name="T35" fmla="*/ 36 h 107"/>
                      <a:gd name="T36" fmla="*/ 60 w 162"/>
                      <a:gd name="T37" fmla="*/ 33 h 107"/>
                      <a:gd name="T38" fmla="*/ 55 w 162"/>
                      <a:gd name="T39" fmla="*/ 31 h 107"/>
                      <a:gd name="T40" fmla="*/ 48 w 162"/>
                      <a:gd name="T41" fmla="*/ 28 h 107"/>
                      <a:gd name="T42" fmla="*/ 50 w 162"/>
                      <a:gd name="T43" fmla="*/ 26 h 107"/>
                      <a:gd name="T44" fmla="*/ 50 w 162"/>
                      <a:gd name="T45" fmla="*/ 23 h 107"/>
                      <a:gd name="T46" fmla="*/ 44 w 162"/>
                      <a:gd name="T47" fmla="*/ 28 h 107"/>
                      <a:gd name="T48" fmla="*/ 36 w 162"/>
                      <a:gd name="T49" fmla="*/ 37 h 107"/>
                      <a:gd name="T50" fmla="*/ 26 w 162"/>
                      <a:gd name="T51" fmla="*/ 46 h 107"/>
                      <a:gd name="T52" fmla="*/ 18 w 162"/>
                      <a:gd name="T53" fmla="*/ 51 h 107"/>
                      <a:gd name="T54" fmla="*/ 6 w 162"/>
                      <a:gd name="T55" fmla="*/ 52 h 107"/>
                      <a:gd name="T56" fmla="*/ 11 w 162"/>
                      <a:gd name="T57" fmla="*/ 24 h 107"/>
                      <a:gd name="T58" fmla="*/ 13 w 162"/>
                      <a:gd name="T59" fmla="*/ 26 h 107"/>
                      <a:gd name="T60" fmla="*/ 15 w 162"/>
                      <a:gd name="T61" fmla="*/ 26 h 107"/>
                      <a:gd name="T62" fmla="*/ 17 w 162"/>
                      <a:gd name="T63" fmla="*/ 28 h 107"/>
                      <a:gd name="T64" fmla="*/ 17 w 162"/>
                      <a:gd name="T65" fmla="*/ 31 h 107"/>
                      <a:gd name="T66" fmla="*/ 18 w 162"/>
                      <a:gd name="T67" fmla="*/ 34 h 107"/>
                      <a:gd name="T68" fmla="*/ 17 w 162"/>
                      <a:gd name="T69" fmla="*/ 37 h 107"/>
                      <a:gd name="T70" fmla="*/ 14 w 162"/>
                      <a:gd name="T71" fmla="*/ 40 h 107"/>
                      <a:gd name="T72" fmla="*/ 13 w 162"/>
                      <a:gd name="T73" fmla="*/ 42 h 107"/>
                      <a:gd name="T74" fmla="*/ 11 w 162"/>
                      <a:gd name="T75" fmla="*/ 46 h 107"/>
                      <a:gd name="T76" fmla="*/ 14 w 162"/>
                      <a:gd name="T77" fmla="*/ 46 h 107"/>
                      <a:gd name="T78" fmla="*/ 15 w 162"/>
                      <a:gd name="T79" fmla="*/ 41 h 107"/>
                      <a:gd name="T80" fmla="*/ 18 w 162"/>
                      <a:gd name="T81" fmla="*/ 38 h 107"/>
                      <a:gd name="T82" fmla="*/ 19 w 162"/>
                      <a:gd name="T83" fmla="*/ 35 h 107"/>
                      <a:gd name="T84" fmla="*/ 20 w 162"/>
                      <a:gd name="T85" fmla="*/ 32 h 107"/>
                      <a:gd name="T86" fmla="*/ 19 w 162"/>
                      <a:gd name="T87" fmla="*/ 29 h 107"/>
                      <a:gd name="T88" fmla="*/ 18 w 162"/>
                      <a:gd name="T89" fmla="*/ 26 h 107"/>
                      <a:gd name="T90" fmla="*/ 17 w 162"/>
                      <a:gd name="T91" fmla="*/ 24 h 107"/>
                      <a:gd name="T92" fmla="*/ 14 w 162"/>
                      <a:gd name="T93" fmla="*/ 23 h 107"/>
                      <a:gd name="T94" fmla="*/ 19 w 162"/>
                      <a:gd name="T95" fmla="*/ 10 h 107"/>
                      <a:gd name="T96" fmla="*/ 101 w 162"/>
                      <a:gd name="T97" fmla="*/ 12 h 107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62"/>
                      <a:gd name="T148" fmla="*/ 0 h 107"/>
                      <a:gd name="T149" fmla="*/ 162 w 162"/>
                      <a:gd name="T150" fmla="*/ 107 h 107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62" h="107">
                        <a:moveTo>
                          <a:pt x="101" y="12"/>
                        </a:moveTo>
                        <a:lnTo>
                          <a:pt x="102" y="12"/>
                        </a:lnTo>
                        <a:lnTo>
                          <a:pt x="103" y="10"/>
                        </a:lnTo>
                        <a:lnTo>
                          <a:pt x="104" y="10"/>
                        </a:lnTo>
                        <a:lnTo>
                          <a:pt x="105" y="10"/>
                        </a:lnTo>
                        <a:lnTo>
                          <a:pt x="106" y="8"/>
                        </a:lnTo>
                        <a:lnTo>
                          <a:pt x="107" y="8"/>
                        </a:lnTo>
                        <a:lnTo>
                          <a:pt x="108" y="7"/>
                        </a:lnTo>
                        <a:lnTo>
                          <a:pt x="111" y="6"/>
                        </a:lnTo>
                        <a:lnTo>
                          <a:pt x="113" y="6"/>
                        </a:lnTo>
                        <a:lnTo>
                          <a:pt x="162" y="94"/>
                        </a:lnTo>
                        <a:lnTo>
                          <a:pt x="160" y="95"/>
                        </a:lnTo>
                        <a:lnTo>
                          <a:pt x="158" y="96"/>
                        </a:lnTo>
                        <a:lnTo>
                          <a:pt x="155" y="97"/>
                        </a:lnTo>
                        <a:lnTo>
                          <a:pt x="153" y="99"/>
                        </a:lnTo>
                        <a:lnTo>
                          <a:pt x="151" y="101"/>
                        </a:lnTo>
                        <a:lnTo>
                          <a:pt x="149" y="103"/>
                        </a:lnTo>
                        <a:lnTo>
                          <a:pt x="147" y="104"/>
                        </a:lnTo>
                        <a:lnTo>
                          <a:pt x="145" y="105"/>
                        </a:lnTo>
                        <a:lnTo>
                          <a:pt x="143" y="106"/>
                        </a:lnTo>
                        <a:lnTo>
                          <a:pt x="140" y="107"/>
                        </a:lnTo>
                        <a:lnTo>
                          <a:pt x="134" y="101"/>
                        </a:lnTo>
                        <a:lnTo>
                          <a:pt x="128" y="94"/>
                        </a:lnTo>
                        <a:lnTo>
                          <a:pt x="122" y="87"/>
                        </a:lnTo>
                        <a:lnTo>
                          <a:pt x="116" y="80"/>
                        </a:lnTo>
                        <a:lnTo>
                          <a:pt x="111" y="73"/>
                        </a:lnTo>
                        <a:lnTo>
                          <a:pt x="104" y="67"/>
                        </a:lnTo>
                        <a:lnTo>
                          <a:pt x="98" y="59"/>
                        </a:lnTo>
                        <a:lnTo>
                          <a:pt x="91" y="53"/>
                        </a:lnTo>
                        <a:lnTo>
                          <a:pt x="85" y="48"/>
                        </a:lnTo>
                        <a:lnTo>
                          <a:pt x="78" y="41"/>
                        </a:lnTo>
                        <a:lnTo>
                          <a:pt x="75" y="40"/>
                        </a:lnTo>
                        <a:lnTo>
                          <a:pt x="73" y="38"/>
                        </a:lnTo>
                        <a:lnTo>
                          <a:pt x="69" y="37"/>
                        </a:lnTo>
                        <a:lnTo>
                          <a:pt x="66" y="36"/>
                        </a:lnTo>
                        <a:lnTo>
                          <a:pt x="64" y="35"/>
                        </a:lnTo>
                        <a:lnTo>
                          <a:pt x="60" y="33"/>
                        </a:lnTo>
                        <a:lnTo>
                          <a:pt x="57" y="32"/>
                        </a:lnTo>
                        <a:lnTo>
                          <a:pt x="55" y="31"/>
                        </a:lnTo>
                        <a:lnTo>
                          <a:pt x="52" y="29"/>
                        </a:lnTo>
                        <a:lnTo>
                          <a:pt x="48" y="28"/>
                        </a:lnTo>
                        <a:lnTo>
                          <a:pt x="50" y="26"/>
                        </a:lnTo>
                        <a:lnTo>
                          <a:pt x="50" y="24"/>
                        </a:lnTo>
                        <a:lnTo>
                          <a:pt x="50" y="23"/>
                        </a:lnTo>
                        <a:lnTo>
                          <a:pt x="44" y="28"/>
                        </a:lnTo>
                        <a:lnTo>
                          <a:pt x="40" y="33"/>
                        </a:lnTo>
                        <a:lnTo>
                          <a:pt x="36" y="37"/>
                        </a:lnTo>
                        <a:lnTo>
                          <a:pt x="30" y="40"/>
                        </a:lnTo>
                        <a:lnTo>
                          <a:pt x="26" y="46"/>
                        </a:lnTo>
                        <a:lnTo>
                          <a:pt x="22" y="48"/>
                        </a:lnTo>
                        <a:lnTo>
                          <a:pt x="18" y="51"/>
                        </a:lnTo>
                        <a:lnTo>
                          <a:pt x="11" y="52"/>
                        </a:lnTo>
                        <a:lnTo>
                          <a:pt x="6" y="52"/>
                        </a:lnTo>
                        <a:lnTo>
                          <a:pt x="0" y="48"/>
                        </a:lnTo>
                        <a:lnTo>
                          <a:pt x="11" y="24"/>
                        </a:lnTo>
                        <a:lnTo>
                          <a:pt x="13" y="24"/>
                        </a:lnTo>
                        <a:lnTo>
                          <a:pt x="13" y="26"/>
                        </a:lnTo>
                        <a:lnTo>
                          <a:pt x="14" y="26"/>
                        </a:lnTo>
                        <a:lnTo>
                          <a:pt x="15" y="26"/>
                        </a:lnTo>
                        <a:lnTo>
                          <a:pt x="15" y="28"/>
                        </a:lnTo>
                        <a:lnTo>
                          <a:pt x="17" y="28"/>
                        </a:lnTo>
                        <a:lnTo>
                          <a:pt x="17" y="29"/>
                        </a:lnTo>
                        <a:lnTo>
                          <a:pt x="17" y="31"/>
                        </a:lnTo>
                        <a:lnTo>
                          <a:pt x="18" y="32"/>
                        </a:lnTo>
                        <a:lnTo>
                          <a:pt x="18" y="34"/>
                        </a:lnTo>
                        <a:lnTo>
                          <a:pt x="17" y="35"/>
                        </a:lnTo>
                        <a:lnTo>
                          <a:pt x="17" y="37"/>
                        </a:lnTo>
                        <a:lnTo>
                          <a:pt x="15" y="38"/>
                        </a:lnTo>
                        <a:lnTo>
                          <a:pt x="14" y="40"/>
                        </a:lnTo>
                        <a:lnTo>
                          <a:pt x="13" y="41"/>
                        </a:lnTo>
                        <a:lnTo>
                          <a:pt x="13" y="42"/>
                        </a:lnTo>
                        <a:lnTo>
                          <a:pt x="11" y="43"/>
                        </a:lnTo>
                        <a:lnTo>
                          <a:pt x="11" y="46"/>
                        </a:lnTo>
                        <a:lnTo>
                          <a:pt x="13" y="46"/>
                        </a:lnTo>
                        <a:lnTo>
                          <a:pt x="14" y="46"/>
                        </a:lnTo>
                        <a:lnTo>
                          <a:pt x="15" y="42"/>
                        </a:lnTo>
                        <a:lnTo>
                          <a:pt x="15" y="41"/>
                        </a:lnTo>
                        <a:lnTo>
                          <a:pt x="17" y="40"/>
                        </a:lnTo>
                        <a:lnTo>
                          <a:pt x="18" y="38"/>
                        </a:lnTo>
                        <a:lnTo>
                          <a:pt x="19" y="37"/>
                        </a:lnTo>
                        <a:lnTo>
                          <a:pt x="19" y="35"/>
                        </a:lnTo>
                        <a:lnTo>
                          <a:pt x="19" y="34"/>
                        </a:lnTo>
                        <a:lnTo>
                          <a:pt x="20" y="32"/>
                        </a:lnTo>
                        <a:lnTo>
                          <a:pt x="19" y="31"/>
                        </a:lnTo>
                        <a:lnTo>
                          <a:pt x="19" y="29"/>
                        </a:lnTo>
                        <a:lnTo>
                          <a:pt x="19" y="28"/>
                        </a:lnTo>
                        <a:lnTo>
                          <a:pt x="18" y="26"/>
                        </a:lnTo>
                        <a:lnTo>
                          <a:pt x="17" y="26"/>
                        </a:lnTo>
                        <a:lnTo>
                          <a:pt x="17" y="24"/>
                        </a:lnTo>
                        <a:lnTo>
                          <a:pt x="15" y="24"/>
                        </a:lnTo>
                        <a:lnTo>
                          <a:pt x="14" y="23"/>
                        </a:lnTo>
                        <a:lnTo>
                          <a:pt x="13" y="22"/>
                        </a:lnTo>
                        <a:lnTo>
                          <a:pt x="19" y="10"/>
                        </a:lnTo>
                        <a:lnTo>
                          <a:pt x="48" y="0"/>
                        </a:lnTo>
                        <a:lnTo>
                          <a:pt x="101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037" name="Freeform 1039"/>
                  <p:cNvSpPr>
                    <a:spLocks/>
                  </p:cNvSpPr>
                  <p:nvPr/>
                </p:nvSpPr>
                <p:spPr bwMode="auto">
                  <a:xfrm>
                    <a:off x="2603" y="2498"/>
                    <a:ext cx="162" cy="107"/>
                  </a:xfrm>
                  <a:custGeom>
                    <a:avLst/>
                    <a:gdLst>
                      <a:gd name="T0" fmla="*/ 102 w 162"/>
                      <a:gd name="T1" fmla="*/ 12 h 107"/>
                      <a:gd name="T2" fmla="*/ 104 w 162"/>
                      <a:gd name="T3" fmla="*/ 10 h 107"/>
                      <a:gd name="T4" fmla="*/ 106 w 162"/>
                      <a:gd name="T5" fmla="*/ 8 h 107"/>
                      <a:gd name="T6" fmla="*/ 108 w 162"/>
                      <a:gd name="T7" fmla="*/ 7 h 107"/>
                      <a:gd name="T8" fmla="*/ 111 w 162"/>
                      <a:gd name="T9" fmla="*/ 6 h 107"/>
                      <a:gd name="T10" fmla="*/ 162 w 162"/>
                      <a:gd name="T11" fmla="*/ 94 h 107"/>
                      <a:gd name="T12" fmla="*/ 158 w 162"/>
                      <a:gd name="T13" fmla="*/ 96 h 107"/>
                      <a:gd name="T14" fmla="*/ 153 w 162"/>
                      <a:gd name="T15" fmla="*/ 99 h 107"/>
                      <a:gd name="T16" fmla="*/ 149 w 162"/>
                      <a:gd name="T17" fmla="*/ 103 h 107"/>
                      <a:gd name="T18" fmla="*/ 145 w 162"/>
                      <a:gd name="T19" fmla="*/ 105 h 107"/>
                      <a:gd name="T20" fmla="*/ 140 w 162"/>
                      <a:gd name="T21" fmla="*/ 107 h 107"/>
                      <a:gd name="T22" fmla="*/ 128 w 162"/>
                      <a:gd name="T23" fmla="*/ 94 h 107"/>
                      <a:gd name="T24" fmla="*/ 116 w 162"/>
                      <a:gd name="T25" fmla="*/ 80 h 107"/>
                      <a:gd name="T26" fmla="*/ 104 w 162"/>
                      <a:gd name="T27" fmla="*/ 67 h 107"/>
                      <a:gd name="T28" fmla="*/ 91 w 162"/>
                      <a:gd name="T29" fmla="*/ 53 h 107"/>
                      <a:gd name="T30" fmla="*/ 78 w 162"/>
                      <a:gd name="T31" fmla="*/ 41 h 107"/>
                      <a:gd name="T32" fmla="*/ 73 w 162"/>
                      <a:gd name="T33" fmla="*/ 38 h 107"/>
                      <a:gd name="T34" fmla="*/ 66 w 162"/>
                      <a:gd name="T35" fmla="*/ 36 h 107"/>
                      <a:gd name="T36" fmla="*/ 60 w 162"/>
                      <a:gd name="T37" fmla="*/ 33 h 107"/>
                      <a:gd name="T38" fmla="*/ 55 w 162"/>
                      <a:gd name="T39" fmla="*/ 31 h 107"/>
                      <a:gd name="T40" fmla="*/ 48 w 162"/>
                      <a:gd name="T41" fmla="*/ 28 h 107"/>
                      <a:gd name="T42" fmla="*/ 50 w 162"/>
                      <a:gd name="T43" fmla="*/ 26 h 107"/>
                      <a:gd name="T44" fmla="*/ 50 w 162"/>
                      <a:gd name="T45" fmla="*/ 23 h 107"/>
                      <a:gd name="T46" fmla="*/ 44 w 162"/>
                      <a:gd name="T47" fmla="*/ 28 h 107"/>
                      <a:gd name="T48" fmla="*/ 36 w 162"/>
                      <a:gd name="T49" fmla="*/ 37 h 107"/>
                      <a:gd name="T50" fmla="*/ 26 w 162"/>
                      <a:gd name="T51" fmla="*/ 46 h 107"/>
                      <a:gd name="T52" fmla="*/ 18 w 162"/>
                      <a:gd name="T53" fmla="*/ 51 h 107"/>
                      <a:gd name="T54" fmla="*/ 6 w 162"/>
                      <a:gd name="T55" fmla="*/ 52 h 107"/>
                      <a:gd name="T56" fmla="*/ 11 w 162"/>
                      <a:gd name="T57" fmla="*/ 24 h 107"/>
                      <a:gd name="T58" fmla="*/ 13 w 162"/>
                      <a:gd name="T59" fmla="*/ 26 h 107"/>
                      <a:gd name="T60" fmla="*/ 15 w 162"/>
                      <a:gd name="T61" fmla="*/ 26 h 107"/>
                      <a:gd name="T62" fmla="*/ 17 w 162"/>
                      <a:gd name="T63" fmla="*/ 28 h 107"/>
                      <a:gd name="T64" fmla="*/ 17 w 162"/>
                      <a:gd name="T65" fmla="*/ 31 h 107"/>
                      <a:gd name="T66" fmla="*/ 18 w 162"/>
                      <a:gd name="T67" fmla="*/ 34 h 107"/>
                      <a:gd name="T68" fmla="*/ 17 w 162"/>
                      <a:gd name="T69" fmla="*/ 37 h 107"/>
                      <a:gd name="T70" fmla="*/ 14 w 162"/>
                      <a:gd name="T71" fmla="*/ 40 h 107"/>
                      <a:gd name="T72" fmla="*/ 13 w 162"/>
                      <a:gd name="T73" fmla="*/ 42 h 107"/>
                      <a:gd name="T74" fmla="*/ 11 w 162"/>
                      <a:gd name="T75" fmla="*/ 46 h 107"/>
                      <a:gd name="T76" fmla="*/ 14 w 162"/>
                      <a:gd name="T77" fmla="*/ 46 h 107"/>
                      <a:gd name="T78" fmla="*/ 15 w 162"/>
                      <a:gd name="T79" fmla="*/ 41 h 107"/>
                      <a:gd name="T80" fmla="*/ 18 w 162"/>
                      <a:gd name="T81" fmla="*/ 38 h 107"/>
                      <a:gd name="T82" fmla="*/ 19 w 162"/>
                      <a:gd name="T83" fmla="*/ 35 h 107"/>
                      <a:gd name="T84" fmla="*/ 20 w 162"/>
                      <a:gd name="T85" fmla="*/ 32 h 107"/>
                      <a:gd name="T86" fmla="*/ 19 w 162"/>
                      <a:gd name="T87" fmla="*/ 29 h 107"/>
                      <a:gd name="T88" fmla="*/ 18 w 162"/>
                      <a:gd name="T89" fmla="*/ 26 h 107"/>
                      <a:gd name="T90" fmla="*/ 17 w 162"/>
                      <a:gd name="T91" fmla="*/ 24 h 107"/>
                      <a:gd name="T92" fmla="*/ 14 w 162"/>
                      <a:gd name="T93" fmla="*/ 23 h 107"/>
                      <a:gd name="T94" fmla="*/ 19 w 162"/>
                      <a:gd name="T95" fmla="*/ 10 h 107"/>
                      <a:gd name="T96" fmla="*/ 101 w 162"/>
                      <a:gd name="T97" fmla="*/ 12 h 107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62"/>
                      <a:gd name="T148" fmla="*/ 0 h 107"/>
                      <a:gd name="T149" fmla="*/ 162 w 162"/>
                      <a:gd name="T150" fmla="*/ 107 h 107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62" h="107">
                        <a:moveTo>
                          <a:pt x="101" y="12"/>
                        </a:moveTo>
                        <a:lnTo>
                          <a:pt x="102" y="12"/>
                        </a:lnTo>
                        <a:lnTo>
                          <a:pt x="103" y="10"/>
                        </a:lnTo>
                        <a:lnTo>
                          <a:pt x="104" y="10"/>
                        </a:lnTo>
                        <a:lnTo>
                          <a:pt x="105" y="10"/>
                        </a:lnTo>
                        <a:lnTo>
                          <a:pt x="106" y="8"/>
                        </a:lnTo>
                        <a:lnTo>
                          <a:pt x="107" y="8"/>
                        </a:lnTo>
                        <a:lnTo>
                          <a:pt x="108" y="7"/>
                        </a:lnTo>
                        <a:lnTo>
                          <a:pt x="111" y="6"/>
                        </a:lnTo>
                        <a:lnTo>
                          <a:pt x="113" y="6"/>
                        </a:lnTo>
                        <a:lnTo>
                          <a:pt x="162" y="94"/>
                        </a:lnTo>
                        <a:lnTo>
                          <a:pt x="160" y="95"/>
                        </a:lnTo>
                        <a:lnTo>
                          <a:pt x="158" y="96"/>
                        </a:lnTo>
                        <a:lnTo>
                          <a:pt x="155" y="97"/>
                        </a:lnTo>
                        <a:lnTo>
                          <a:pt x="153" y="99"/>
                        </a:lnTo>
                        <a:lnTo>
                          <a:pt x="151" y="101"/>
                        </a:lnTo>
                        <a:lnTo>
                          <a:pt x="149" y="103"/>
                        </a:lnTo>
                        <a:lnTo>
                          <a:pt x="147" y="104"/>
                        </a:lnTo>
                        <a:lnTo>
                          <a:pt x="145" y="105"/>
                        </a:lnTo>
                        <a:lnTo>
                          <a:pt x="143" y="106"/>
                        </a:lnTo>
                        <a:lnTo>
                          <a:pt x="140" y="107"/>
                        </a:lnTo>
                        <a:lnTo>
                          <a:pt x="134" y="101"/>
                        </a:lnTo>
                        <a:lnTo>
                          <a:pt x="128" y="94"/>
                        </a:lnTo>
                        <a:lnTo>
                          <a:pt x="122" y="87"/>
                        </a:lnTo>
                        <a:lnTo>
                          <a:pt x="116" y="80"/>
                        </a:lnTo>
                        <a:lnTo>
                          <a:pt x="111" y="73"/>
                        </a:lnTo>
                        <a:lnTo>
                          <a:pt x="104" y="67"/>
                        </a:lnTo>
                        <a:lnTo>
                          <a:pt x="98" y="59"/>
                        </a:lnTo>
                        <a:lnTo>
                          <a:pt x="91" y="53"/>
                        </a:lnTo>
                        <a:lnTo>
                          <a:pt x="85" y="48"/>
                        </a:lnTo>
                        <a:lnTo>
                          <a:pt x="78" y="41"/>
                        </a:lnTo>
                        <a:lnTo>
                          <a:pt x="75" y="40"/>
                        </a:lnTo>
                        <a:lnTo>
                          <a:pt x="73" y="38"/>
                        </a:lnTo>
                        <a:lnTo>
                          <a:pt x="69" y="37"/>
                        </a:lnTo>
                        <a:lnTo>
                          <a:pt x="66" y="36"/>
                        </a:lnTo>
                        <a:lnTo>
                          <a:pt x="64" y="35"/>
                        </a:lnTo>
                        <a:lnTo>
                          <a:pt x="60" y="33"/>
                        </a:lnTo>
                        <a:lnTo>
                          <a:pt x="57" y="32"/>
                        </a:lnTo>
                        <a:lnTo>
                          <a:pt x="55" y="31"/>
                        </a:lnTo>
                        <a:lnTo>
                          <a:pt x="52" y="29"/>
                        </a:lnTo>
                        <a:lnTo>
                          <a:pt x="48" y="28"/>
                        </a:lnTo>
                        <a:lnTo>
                          <a:pt x="50" y="26"/>
                        </a:lnTo>
                        <a:lnTo>
                          <a:pt x="50" y="24"/>
                        </a:lnTo>
                        <a:lnTo>
                          <a:pt x="50" y="23"/>
                        </a:lnTo>
                        <a:lnTo>
                          <a:pt x="44" y="28"/>
                        </a:lnTo>
                        <a:lnTo>
                          <a:pt x="40" y="33"/>
                        </a:lnTo>
                        <a:lnTo>
                          <a:pt x="36" y="37"/>
                        </a:lnTo>
                        <a:lnTo>
                          <a:pt x="30" y="40"/>
                        </a:lnTo>
                        <a:lnTo>
                          <a:pt x="26" y="46"/>
                        </a:lnTo>
                        <a:lnTo>
                          <a:pt x="22" y="48"/>
                        </a:lnTo>
                        <a:lnTo>
                          <a:pt x="18" y="51"/>
                        </a:lnTo>
                        <a:lnTo>
                          <a:pt x="11" y="52"/>
                        </a:lnTo>
                        <a:lnTo>
                          <a:pt x="6" y="52"/>
                        </a:lnTo>
                        <a:lnTo>
                          <a:pt x="0" y="48"/>
                        </a:lnTo>
                        <a:lnTo>
                          <a:pt x="11" y="24"/>
                        </a:lnTo>
                        <a:lnTo>
                          <a:pt x="13" y="24"/>
                        </a:lnTo>
                        <a:lnTo>
                          <a:pt x="13" y="26"/>
                        </a:lnTo>
                        <a:lnTo>
                          <a:pt x="14" y="26"/>
                        </a:lnTo>
                        <a:lnTo>
                          <a:pt x="15" y="26"/>
                        </a:lnTo>
                        <a:lnTo>
                          <a:pt x="15" y="28"/>
                        </a:lnTo>
                        <a:lnTo>
                          <a:pt x="17" y="28"/>
                        </a:lnTo>
                        <a:lnTo>
                          <a:pt x="17" y="29"/>
                        </a:lnTo>
                        <a:lnTo>
                          <a:pt x="17" y="31"/>
                        </a:lnTo>
                        <a:lnTo>
                          <a:pt x="18" y="32"/>
                        </a:lnTo>
                        <a:lnTo>
                          <a:pt x="18" y="34"/>
                        </a:lnTo>
                        <a:lnTo>
                          <a:pt x="17" y="35"/>
                        </a:lnTo>
                        <a:lnTo>
                          <a:pt x="17" y="37"/>
                        </a:lnTo>
                        <a:lnTo>
                          <a:pt x="15" y="38"/>
                        </a:lnTo>
                        <a:lnTo>
                          <a:pt x="14" y="40"/>
                        </a:lnTo>
                        <a:lnTo>
                          <a:pt x="13" y="41"/>
                        </a:lnTo>
                        <a:lnTo>
                          <a:pt x="13" y="42"/>
                        </a:lnTo>
                        <a:lnTo>
                          <a:pt x="11" y="43"/>
                        </a:lnTo>
                        <a:lnTo>
                          <a:pt x="11" y="46"/>
                        </a:lnTo>
                        <a:lnTo>
                          <a:pt x="13" y="46"/>
                        </a:lnTo>
                        <a:lnTo>
                          <a:pt x="14" y="46"/>
                        </a:lnTo>
                        <a:lnTo>
                          <a:pt x="15" y="42"/>
                        </a:lnTo>
                        <a:lnTo>
                          <a:pt x="15" y="41"/>
                        </a:lnTo>
                        <a:lnTo>
                          <a:pt x="17" y="40"/>
                        </a:lnTo>
                        <a:lnTo>
                          <a:pt x="18" y="38"/>
                        </a:lnTo>
                        <a:lnTo>
                          <a:pt x="19" y="37"/>
                        </a:lnTo>
                        <a:lnTo>
                          <a:pt x="19" y="35"/>
                        </a:lnTo>
                        <a:lnTo>
                          <a:pt x="19" y="34"/>
                        </a:lnTo>
                        <a:lnTo>
                          <a:pt x="20" y="32"/>
                        </a:lnTo>
                        <a:lnTo>
                          <a:pt x="19" y="31"/>
                        </a:lnTo>
                        <a:lnTo>
                          <a:pt x="19" y="29"/>
                        </a:lnTo>
                        <a:lnTo>
                          <a:pt x="19" y="28"/>
                        </a:lnTo>
                        <a:lnTo>
                          <a:pt x="18" y="26"/>
                        </a:lnTo>
                        <a:lnTo>
                          <a:pt x="17" y="26"/>
                        </a:lnTo>
                        <a:lnTo>
                          <a:pt x="17" y="24"/>
                        </a:lnTo>
                        <a:lnTo>
                          <a:pt x="15" y="24"/>
                        </a:lnTo>
                        <a:lnTo>
                          <a:pt x="14" y="23"/>
                        </a:lnTo>
                        <a:lnTo>
                          <a:pt x="13" y="22"/>
                        </a:lnTo>
                        <a:lnTo>
                          <a:pt x="19" y="10"/>
                        </a:lnTo>
                        <a:lnTo>
                          <a:pt x="48" y="0"/>
                        </a:lnTo>
                        <a:lnTo>
                          <a:pt x="101" y="12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25001" name="Freeform 1040"/>
                <p:cNvSpPr>
                  <a:spLocks/>
                </p:cNvSpPr>
                <p:nvPr/>
              </p:nvSpPr>
              <p:spPr bwMode="auto">
                <a:xfrm>
                  <a:off x="2539" y="2506"/>
                  <a:ext cx="207" cy="175"/>
                </a:xfrm>
                <a:custGeom>
                  <a:avLst/>
                  <a:gdLst>
                    <a:gd name="T0" fmla="*/ 69 w 207"/>
                    <a:gd name="T1" fmla="*/ 44 h 175"/>
                    <a:gd name="T2" fmla="*/ 76 w 207"/>
                    <a:gd name="T3" fmla="*/ 46 h 175"/>
                    <a:gd name="T4" fmla="*/ 94 w 207"/>
                    <a:gd name="T5" fmla="*/ 39 h 175"/>
                    <a:gd name="T6" fmla="*/ 112 w 207"/>
                    <a:gd name="T7" fmla="*/ 24 h 175"/>
                    <a:gd name="T8" fmla="*/ 132 w 207"/>
                    <a:gd name="T9" fmla="*/ 30 h 175"/>
                    <a:gd name="T10" fmla="*/ 151 w 207"/>
                    <a:gd name="T11" fmla="*/ 41 h 175"/>
                    <a:gd name="T12" fmla="*/ 175 w 207"/>
                    <a:gd name="T13" fmla="*/ 67 h 175"/>
                    <a:gd name="T14" fmla="*/ 201 w 207"/>
                    <a:gd name="T15" fmla="*/ 99 h 175"/>
                    <a:gd name="T16" fmla="*/ 207 w 207"/>
                    <a:gd name="T17" fmla="*/ 111 h 175"/>
                    <a:gd name="T18" fmla="*/ 206 w 207"/>
                    <a:gd name="T19" fmla="*/ 117 h 175"/>
                    <a:gd name="T20" fmla="*/ 203 w 207"/>
                    <a:gd name="T21" fmla="*/ 122 h 175"/>
                    <a:gd name="T22" fmla="*/ 198 w 207"/>
                    <a:gd name="T23" fmla="*/ 125 h 175"/>
                    <a:gd name="T24" fmla="*/ 192 w 207"/>
                    <a:gd name="T25" fmla="*/ 127 h 175"/>
                    <a:gd name="T26" fmla="*/ 186 w 207"/>
                    <a:gd name="T27" fmla="*/ 123 h 175"/>
                    <a:gd name="T28" fmla="*/ 182 w 207"/>
                    <a:gd name="T29" fmla="*/ 123 h 175"/>
                    <a:gd name="T30" fmla="*/ 182 w 207"/>
                    <a:gd name="T31" fmla="*/ 133 h 175"/>
                    <a:gd name="T32" fmla="*/ 179 w 207"/>
                    <a:gd name="T33" fmla="*/ 139 h 175"/>
                    <a:gd name="T34" fmla="*/ 171 w 207"/>
                    <a:gd name="T35" fmla="*/ 143 h 175"/>
                    <a:gd name="T36" fmla="*/ 165 w 207"/>
                    <a:gd name="T37" fmla="*/ 143 h 175"/>
                    <a:gd name="T38" fmla="*/ 148 w 207"/>
                    <a:gd name="T39" fmla="*/ 123 h 175"/>
                    <a:gd name="T40" fmla="*/ 131 w 207"/>
                    <a:gd name="T41" fmla="*/ 104 h 175"/>
                    <a:gd name="T42" fmla="*/ 157 w 207"/>
                    <a:gd name="T43" fmla="*/ 140 h 175"/>
                    <a:gd name="T44" fmla="*/ 157 w 207"/>
                    <a:gd name="T45" fmla="*/ 148 h 175"/>
                    <a:gd name="T46" fmla="*/ 155 w 207"/>
                    <a:gd name="T47" fmla="*/ 155 h 175"/>
                    <a:gd name="T48" fmla="*/ 150 w 207"/>
                    <a:gd name="T49" fmla="*/ 158 h 175"/>
                    <a:gd name="T50" fmla="*/ 142 w 207"/>
                    <a:gd name="T51" fmla="*/ 159 h 175"/>
                    <a:gd name="T52" fmla="*/ 134 w 207"/>
                    <a:gd name="T53" fmla="*/ 154 h 175"/>
                    <a:gd name="T54" fmla="*/ 126 w 207"/>
                    <a:gd name="T55" fmla="*/ 145 h 175"/>
                    <a:gd name="T56" fmla="*/ 116 w 207"/>
                    <a:gd name="T57" fmla="*/ 133 h 175"/>
                    <a:gd name="T58" fmla="*/ 107 w 207"/>
                    <a:gd name="T59" fmla="*/ 123 h 175"/>
                    <a:gd name="T60" fmla="*/ 134 w 207"/>
                    <a:gd name="T61" fmla="*/ 163 h 175"/>
                    <a:gd name="T62" fmla="*/ 132 w 207"/>
                    <a:gd name="T63" fmla="*/ 170 h 175"/>
                    <a:gd name="T64" fmla="*/ 125 w 207"/>
                    <a:gd name="T65" fmla="*/ 175 h 175"/>
                    <a:gd name="T66" fmla="*/ 116 w 207"/>
                    <a:gd name="T67" fmla="*/ 174 h 175"/>
                    <a:gd name="T68" fmla="*/ 109 w 207"/>
                    <a:gd name="T69" fmla="*/ 170 h 175"/>
                    <a:gd name="T70" fmla="*/ 104 w 207"/>
                    <a:gd name="T71" fmla="*/ 161 h 175"/>
                    <a:gd name="T72" fmla="*/ 100 w 207"/>
                    <a:gd name="T73" fmla="*/ 154 h 175"/>
                    <a:gd name="T74" fmla="*/ 92 w 207"/>
                    <a:gd name="T75" fmla="*/ 151 h 175"/>
                    <a:gd name="T76" fmla="*/ 84 w 207"/>
                    <a:gd name="T77" fmla="*/ 149 h 175"/>
                    <a:gd name="T78" fmla="*/ 84 w 207"/>
                    <a:gd name="T79" fmla="*/ 141 h 175"/>
                    <a:gd name="T80" fmla="*/ 81 w 207"/>
                    <a:gd name="T81" fmla="*/ 136 h 175"/>
                    <a:gd name="T82" fmla="*/ 75 w 207"/>
                    <a:gd name="T83" fmla="*/ 132 h 175"/>
                    <a:gd name="T84" fmla="*/ 69 w 207"/>
                    <a:gd name="T85" fmla="*/ 130 h 175"/>
                    <a:gd name="T86" fmla="*/ 63 w 207"/>
                    <a:gd name="T87" fmla="*/ 132 h 175"/>
                    <a:gd name="T88" fmla="*/ 63 w 207"/>
                    <a:gd name="T89" fmla="*/ 127 h 175"/>
                    <a:gd name="T90" fmla="*/ 61 w 207"/>
                    <a:gd name="T91" fmla="*/ 120 h 175"/>
                    <a:gd name="T92" fmla="*/ 58 w 207"/>
                    <a:gd name="T93" fmla="*/ 114 h 175"/>
                    <a:gd name="T94" fmla="*/ 53 w 207"/>
                    <a:gd name="T95" fmla="*/ 111 h 175"/>
                    <a:gd name="T96" fmla="*/ 46 w 207"/>
                    <a:gd name="T97" fmla="*/ 111 h 175"/>
                    <a:gd name="T98" fmla="*/ 41 w 207"/>
                    <a:gd name="T99" fmla="*/ 113 h 175"/>
                    <a:gd name="T100" fmla="*/ 42 w 207"/>
                    <a:gd name="T101" fmla="*/ 106 h 175"/>
                    <a:gd name="T102" fmla="*/ 41 w 207"/>
                    <a:gd name="T103" fmla="*/ 99 h 175"/>
                    <a:gd name="T104" fmla="*/ 37 w 207"/>
                    <a:gd name="T105" fmla="*/ 94 h 175"/>
                    <a:gd name="T106" fmla="*/ 30 w 207"/>
                    <a:gd name="T107" fmla="*/ 91 h 175"/>
                    <a:gd name="T108" fmla="*/ 22 w 207"/>
                    <a:gd name="T109" fmla="*/ 92 h 175"/>
                    <a:gd name="T110" fmla="*/ 15 w 207"/>
                    <a:gd name="T111" fmla="*/ 97 h 175"/>
                    <a:gd name="T112" fmla="*/ 63 w 207"/>
                    <a:gd name="T113" fmla="*/ 40 h 175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07"/>
                    <a:gd name="T172" fmla="*/ 0 h 175"/>
                    <a:gd name="T173" fmla="*/ 207 w 207"/>
                    <a:gd name="T174" fmla="*/ 175 h 175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07" h="175">
                      <a:moveTo>
                        <a:pt x="63" y="40"/>
                      </a:moveTo>
                      <a:lnTo>
                        <a:pt x="64" y="41"/>
                      </a:lnTo>
                      <a:lnTo>
                        <a:pt x="66" y="42"/>
                      </a:lnTo>
                      <a:lnTo>
                        <a:pt x="67" y="43"/>
                      </a:lnTo>
                      <a:lnTo>
                        <a:pt x="69" y="44"/>
                      </a:lnTo>
                      <a:lnTo>
                        <a:pt x="71" y="44"/>
                      </a:lnTo>
                      <a:lnTo>
                        <a:pt x="72" y="46"/>
                      </a:lnTo>
                      <a:lnTo>
                        <a:pt x="73" y="46"/>
                      </a:lnTo>
                      <a:lnTo>
                        <a:pt x="75" y="46"/>
                      </a:lnTo>
                      <a:lnTo>
                        <a:pt x="76" y="46"/>
                      </a:lnTo>
                      <a:lnTo>
                        <a:pt x="78" y="46"/>
                      </a:lnTo>
                      <a:lnTo>
                        <a:pt x="83" y="44"/>
                      </a:lnTo>
                      <a:lnTo>
                        <a:pt x="86" y="43"/>
                      </a:lnTo>
                      <a:lnTo>
                        <a:pt x="90" y="41"/>
                      </a:lnTo>
                      <a:lnTo>
                        <a:pt x="94" y="39"/>
                      </a:lnTo>
                      <a:lnTo>
                        <a:pt x="98" y="35"/>
                      </a:lnTo>
                      <a:lnTo>
                        <a:pt x="100" y="33"/>
                      </a:lnTo>
                      <a:lnTo>
                        <a:pt x="104" y="30"/>
                      </a:lnTo>
                      <a:lnTo>
                        <a:pt x="108" y="27"/>
                      </a:lnTo>
                      <a:lnTo>
                        <a:pt x="112" y="24"/>
                      </a:lnTo>
                      <a:lnTo>
                        <a:pt x="115" y="21"/>
                      </a:lnTo>
                      <a:lnTo>
                        <a:pt x="118" y="24"/>
                      </a:lnTo>
                      <a:lnTo>
                        <a:pt x="123" y="26"/>
                      </a:lnTo>
                      <a:lnTo>
                        <a:pt x="128" y="27"/>
                      </a:lnTo>
                      <a:lnTo>
                        <a:pt x="132" y="30"/>
                      </a:lnTo>
                      <a:lnTo>
                        <a:pt x="135" y="32"/>
                      </a:lnTo>
                      <a:lnTo>
                        <a:pt x="140" y="34"/>
                      </a:lnTo>
                      <a:lnTo>
                        <a:pt x="142" y="36"/>
                      </a:lnTo>
                      <a:lnTo>
                        <a:pt x="148" y="39"/>
                      </a:lnTo>
                      <a:lnTo>
                        <a:pt x="151" y="41"/>
                      </a:lnTo>
                      <a:lnTo>
                        <a:pt x="154" y="44"/>
                      </a:lnTo>
                      <a:lnTo>
                        <a:pt x="160" y="50"/>
                      </a:lnTo>
                      <a:lnTo>
                        <a:pt x="165" y="56"/>
                      </a:lnTo>
                      <a:lnTo>
                        <a:pt x="170" y="62"/>
                      </a:lnTo>
                      <a:lnTo>
                        <a:pt x="175" y="67"/>
                      </a:lnTo>
                      <a:lnTo>
                        <a:pt x="181" y="75"/>
                      </a:lnTo>
                      <a:lnTo>
                        <a:pt x="185" y="80"/>
                      </a:lnTo>
                      <a:lnTo>
                        <a:pt x="191" y="87"/>
                      </a:lnTo>
                      <a:lnTo>
                        <a:pt x="195" y="94"/>
                      </a:lnTo>
                      <a:lnTo>
                        <a:pt x="201" y="99"/>
                      </a:lnTo>
                      <a:lnTo>
                        <a:pt x="206" y="106"/>
                      </a:lnTo>
                      <a:lnTo>
                        <a:pt x="206" y="108"/>
                      </a:lnTo>
                      <a:lnTo>
                        <a:pt x="207" y="108"/>
                      </a:lnTo>
                      <a:lnTo>
                        <a:pt x="207" y="110"/>
                      </a:lnTo>
                      <a:lnTo>
                        <a:pt x="207" y="111"/>
                      </a:lnTo>
                      <a:lnTo>
                        <a:pt x="207" y="112"/>
                      </a:lnTo>
                      <a:lnTo>
                        <a:pt x="207" y="113"/>
                      </a:lnTo>
                      <a:lnTo>
                        <a:pt x="207" y="114"/>
                      </a:lnTo>
                      <a:lnTo>
                        <a:pt x="207" y="116"/>
                      </a:lnTo>
                      <a:lnTo>
                        <a:pt x="206" y="117"/>
                      </a:lnTo>
                      <a:lnTo>
                        <a:pt x="206" y="118"/>
                      </a:lnTo>
                      <a:lnTo>
                        <a:pt x="206" y="119"/>
                      </a:lnTo>
                      <a:lnTo>
                        <a:pt x="204" y="120"/>
                      </a:lnTo>
                      <a:lnTo>
                        <a:pt x="203" y="121"/>
                      </a:lnTo>
                      <a:lnTo>
                        <a:pt x="203" y="122"/>
                      </a:lnTo>
                      <a:lnTo>
                        <a:pt x="202" y="123"/>
                      </a:lnTo>
                      <a:lnTo>
                        <a:pt x="201" y="123"/>
                      </a:lnTo>
                      <a:lnTo>
                        <a:pt x="200" y="124"/>
                      </a:lnTo>
                      <a:lnTo>
                        <a:pt x="198" y="124"/>
                      </a:lnTo>
                      <a:lnTo>
                        <a:pt x="198" y="125"/>
                      </a:lnTo>
                      <a:lnTo>
                        <a:pt x="196" y="125"/>
                      </a:lnTo>
                      <a:lnTo>
                        <a:pt x="195" y="127"/>
                      </a:lnTo>
                      <a:lnTo>
                        <a:pt x="194" y="127"/>
                      </a:lnTo>
                      <a:lnTo>
                        <a:pt x="193" y="127"/>
                      </a:lnTo>
                      <a:lnTo>
                        <a:pt x="192" y="127"/>
                      </a:lnTo>
                      <a:lnTo>
                        <a:pt x="191" y="125"/>
                      </a:lnTo>
                      <a:lnTo>
                        <a:pt x="190" y="125"/>
                      </a:lnTo>
                      <a:lnTo>
                        <a:pt x="188" y="124"/>
                      </a:lnTo>
                      <a:lnTo>
                        <a:pt x="187" y="124"/>
                      </a:lnTo>
                      <a:lnTo>
                        <a:pt x="186" y="123"/>
                      </a:lnTo>
                      <a:lnTo>
                        <a:pt x="185" y="123"/>
                      </a:lnTo>
                      <a:lnTo>
                        <a:pt x="151" y="82"/>
                      </a:lnTo>
                      <a:lnTo>
                        <a:pt x="150" y="82"/>
                      </a:lnTo>
                      <a:lnTo>
                        <a:pt x="149" y="82"/>
                      </a:lnTo>
                      <a:lnTo>
                        <a:pt x="182" y="123"/>
                      </a:lnTo>
                      <a:lnTo>
                        <a:pt x="182" y="124"/>
                      </a:lnTo>
                      <a:lnTo>
                        <a:pt x="183" y="127"/>
                      </a:lnTo>
                      <a:lnTo>
                        <a:pt x="183" y="129"/>
                      </a:lnTo>
                      <a:lnTo>
                        <a:pt x="183" y="130"/>
                      </a:lnTo>
                      <a:lnTo>
                        <a:pt x="182" y="133"/>
                      </a:lnTo>
                      <a:lnTo>
                        <a:pt x="182" y="134"/>
                      </a:lnTo>
                      <a:lnTo>
                        <a:pt x="182" y="136"/>
                      </a:lnTo>
                      <a:lnTo>
                        <a:pt x="181" y="137"/>
                      </a:lnTo>
                      <a:lnTo>
                        <a:pt x="179" y="138"/>
                      </a:lnTo>
                      <a:lnTo>
                        <a:pt x="179" y="139"/>
                      </a:lnTo>
                      <a:lnTo>
                        <a:pt x="177" y="140"/>
                      </a:lnTo>
                      <a:lnTo>
                        <a:pt x="176" y="141"/>
                      </a:lnTo>
                      <a:lnTo>
                        <a:pt x="175" y="141"/>
                      </a:lnTo>
                      <a:lnTo>
                        <a:pt x="173" y="143"/>
                      </a:lnTo>
                      <a:lnTo>
                        <a:pt x="171" y="143"/>
                      </a:lnTo>
                      <a:lnTo>
                        <a:pt x="170" y="143"/>
                      </a:lnTo>
                      <a:lnTo>
                        <a:pt x="169" y="143"/>
                      </a:lnTo>
                      <a:lnTo>
                        <a:pt x="168" y="143"/>
                      </a:lnTo>
                      <a:lnTo>
                        <a:pt x="166" y="143"/>
                      </a:lnTo>
                      <a:lnTo>
                        <a:pt x="165" y="143"/>
                      </a:lnTo>
                      <a:lnTo>
                        <a:pt x="162" y="139"/>
                      </a:lnTo>
                      <a:lnTo>
                        <a:pt x="156" y="136"/>
                      </a:lnTo>
                      <a:lnTo>
                        <a:pt x="153" y="132"/>
                      </a:lnTo>
                      <a:lnTo>
                        <a:pt x="150" y="127"/>
                      </a:lnTo>
                      <a:lnTo>
                        <a:pt x="148" y="123"/>
                      </a:lnTo>
                      <a:lnTo>
                        <a:pt x="145" y="120"/>
                      </a:lnTo>
                      <a:lnTo>
                        <a:pt x="140" y="116"/>
                      </a:lnTo>
                      <a:lnTo>
                        <a:pt x="137" y="112"/>
                      </a:lnTo>
                      <a:lnTo>
                        <a:pt x="134" y="108"/>
                      </a:lnTo>
                      <a:lnTo>
                        <a:pt x="131" y="104"/>
                      </a:lnTo>
                      <a:lnTo>
                        <a:pt x="131" y="103"/>
                      </a:lnTo>
                      <a:lnTo>
                        <a:pt x="130" y="103"/>
                      </a:lnTo>
                      <a:lnTo>
                        <a:pt x="130" y="102"/>
                      </a:lnTo>
                      <a:lnTo>
                        <a:pt x="129" y="103"/>
                      </a:lnTo>
                      <a:lnTo>
                        <a:pt x="157" y="140"/>
                      </a:lnTo>
                      <a:lnTo>
                        <a:pt x="157" y="141"/>
                      </a:lnTo>
                      <a:lnTo>
                        <a:pt x="160" y="143"/>
                      </a:lnTo>
                      <a:lnTo>
                        <a:pt x="160" y="145"/>
                      </a:lnTo>
                      <a:lnTo>
                        <a:pt x="157" y="148"/>
                      </a:lnTo>
                      <a:lnTo>
                        <a:pt x="157" y="149"/>
                      </a:lnTo>
                      <a:lnTo>
                        <a:pt x="157" y="150"/>
                      </a:lnTo>
                      <a:lnTo>
                        <a:pt x="156" y="152"/>
                      </a:lnTo>
                      <a:lnTo>
                        <a:pt x="155" y="153"/>
                      </a:lnTo>
                      <a:lnTo>
                        <a:pt x="155" y="155"/>
                      </a:lnTo>
                      <a:lnTo>
                        <a:pt x="154" y="155"/>
                      </a:lnTo>
                      <a:lnTo>
                        <a:pt x="153" y="156"/>
                      </a:lnTo>
                      <a:lnTo>
                        <a:pt x="152" y="157"/>
                      </a:lnTo>
                      <a:lnTo>
                        <a:pt x="151" y="157"/>
                      </a:lnTo>
                      <a:lnTo>
                        <a:pt x="150" y="158"/>
                      </a:lnTo>
                      <a:lnTo>
                        <a:pt x="149" y="158"/>
                      </a:lnTo>
                      <a:lnTo>
                        <a:pt x="148" y="158"/>
                      </a:lnTo>
                      <a:lnTo>
                        <a:pt x="147" y="158"/>
                      </a:lnTo>
                      <a:lnTo>
                        <a:pt x="146" y="159"/>
                      </a:lnTo>
                      <a:lnTo>
                        <a:pt x="142" y="159"/>
                      </a:lnTo>
                      <a:lnTo>
                        <a:pt x="140" y="158"/>
                      </a:lnTo>
                      <a:lnTo>
                        <a:pt x="137" y="157"/>
                      </a:lnTo>
                      <a:lnTo>
                        <a:pt x="136" y="155"/>
                      </a:lnTo>
                      <a:lnTo>
                        <a:pt x="134" y="154"/>
                      </a:lnTo>
                      <a:lnTo>
                        <a:pt x="133" y="152"/>
                      </a:lnTo>
                      <a:lnTo>
                        <a:pt x="132" y="151"/>
                      </a:lnTo>
                      <a:lnTo>
                        <a:pt x="130" y="149"/>
                      </a:lnTo>
                      <a:lnTo>
                        <a:pt x="129" y="148"/>
                      </a:lnTo>
                      <a:lnTo>
                        <a:pt x="126" y="145"/>
                      </a:lnTo>
                      <a:lnTo>
                        <a:pt x="125" y="143"/>
                      </a:lnTo>
                      <a:lnTo>
                        <a:pt x="123" y="140"/>
                      </a:lnTo>
                      <a:lnTo>
                        <a:pt x="121" y="137"/>
                      </a:lnTo>
                      <a:lnTo>
                        <a:pt x="118" y="135"/>
                      </a:lnTo>
                      <a:lnTo>
                        <a:pt x="116" y="133"/>
                      </a:lnTo>
                      <a:lnTo>
                        <a:pt x="115" y="130"/>
                      </a:lnTo>
                      <a:lnTo>
                        <a:pt x="113" y="127"/>
                      </a:lnTo>
                      <a:lnTo>
                        <a:pt x="110" y="124"/>
                      </a:lnTo>
                      <a:lnTo>
                        <a:pt x="108" y="122"/>
                      </a:lnTo>
                      <a:lnTo>
                        <a:pt x="107" y="123"/>
                      </a:lnTo>
                      <a:lnTo>
                        <a:pt x="134" y="156"/>
                      </a:lnTo>
                      <a:lnTo>
                        <a:pt x="134" y="157"/>
                      </a:lnTo>
                      <a:lnTo>
                        <a:pt x="134" y="159"/>
                      </a:lnTo>
                      <a:lnTo>
                        <a:pt x="134" y="160"/>
                      </a:lnTo>
                      <a:lnTo>
                        <a:pt x="134" y="163"/>
                      </a:lnTo>
                      <a:lnTo>
                        <a:pt x="134" y="165"/>
                      </a:lnTo>
                      <a:lnTo>
                        <a:pt x="133" y="168"/>
                      </a:lnTo>
                      <a:lnTo>
                        <a:pt x="133" y="169"/>
                      </a:lnTo>
                      <a:lnTo>
                        <a:pt x="132" y="170"/>
                      </a:lnTo>
                      <a:lnTo>
                        <a:pt x="131" y="171"/>
                      </a:lnTo>
                      <a:lnTo>
                        <a:pt x="130" y="172"/>
                      </a:lnTo>
                      <a:lnTo>
                        <a:pt x="129" y="173"/>
                      </a:lnTo>
                      <a:lnTo>
                        <a:pt x="126" y="174"/>
                      </a:lnTo>
                      <a:lnTo>
                        <a:pt x="125" y="175"/>
                      </a:lnTo>
                      <a:lnTo>
                        <a:pt x="123" y="175"/>
                      </a:lnTo>
                      <a:lnTo>
                        <a:pt x="121" y="175"/>
                      </a:lnTo>
                      <a:lnTo>
                        <a:pt x="119" y="175"/>
                      </a:lnTo>
                      <a:lnTo>
                        <a:pt x="118" y="175"/>
                      </a:lnTo>
                      <a:lnTo>
                        <a:pt x="116" y="174"/>
                      </a:lnTo>
                      <a:lnTo>
                        <a:pt x="115" y="174"/>
                      </a:lnTo>
                      <a:lnTo>
                        <a:pt x="114" y="173"/>
                      </a:lnTo>
                      <a:lnTo>
                        <a:pt x="112" y="172"/>
                      </a:lnTo>
                      <a:lnTo>
                        <a:pt x="110" y="171"/>
                      </a:lnTo>
                      <a:lnTo>
                        <a:pt x="109" y="170"/>
                      </a:lnTo>
                      <a:lnTo>
                        <a:pt x="108" y="169"/>
                      </a:lnTo>
                      <a:lnTo>
                        <a:pt x="106" y="167"/>
                      </a:lnTo>
                      <a:lnTo>
                        <a:pt x="106" y="165"/>
                      </a:lnTo>
                      <a:lnTo>
                        <a:pt x="104" y="165"/>
                      </a:lnTo>
                      <a:lnTo>
                        <a:pt x="104" y="161"/>
                      </a:lnTo>
                      <a:lnTo>
                        <a:pt x="104" y="159"/>
                      </a:lnTo>
                      <a:lnTo>
                        <a:pt x="103" y="158"/>
                      </a:lnTo>
                      <a:lnTo>
                        <a:pt x="102" y="157"/>
                      </a:lnTo>
                      <a:lnTo>
                        <a:pt x="101" y="155"/>
                      </a:lnTo>
                      <a:lnTo>
                        <a:pt x="100" y="154"/>
                      </a:lnTo>
                      <a:lnTo>
                        <a:pt x="99" y="153"/>
                      </a:lnTo>
                      <a:lnTo>
                        <a:pt x="97" y="152"/>
                      </a:lnTo>
                      <a:lnTo>
                        <a:pt x="95" y="152"/>
                      </a:lnTo>
                      <a:lnTo>
                        <a:pt x="93" y="152"/>
                      </a:lnTo>
                      <a:lnTo>
                        <a:pt x="92" y="151"/>
                      </a:lnTo>
                      <a:lnTo>
                        <a:pt x="90" y="151"/>
                      </a:lnTo>
                      <a:lnTo>
                        <a:pt x="83" y="152"/>
                      </a:lnTo>
                      <a:lnTo>
                        <a:pt x="84" y="151"/>
                      </a:lnTo>
                      <a:lnTo>
                        <a:pt x="84" y="150"/>
                      </a:lnTo>
                      <a:lnTo>
                        <a:pt x="84" y="149"/>
                      </a:lnTo>
                      <a:lnTo>
                        <a:pt x="84" y="148"/>
                      </a:lnTo>
                      <a:lnTo>
                        <a:pt x="84" y="145"/>
                      </a:lnTo>
                      <a:lnTo>
                        <a:pt x="84" y="143"/>
                      </a:lnTo>
                      <a:lnTo>
                        <a:pt x="84" y="141"/>
                      </a:lnTo>
                      <a:lnTo>
                        <a:pt x="83" y="140"/>
                      </a:lnTo>
                      <a:lnTo>
                        <a:pt x="83" y="139"/>
                      </a:lnTo>
                      <a:lnTo>
                        <a:pt x="82" y="138"/>
                      </a:lnTo>
                      <a:lnTo>
                        <a:pt x="82" y="137"/>
                      </a:lnTo>
                      <a:lnTo>
                        <a:pt x="81" y="136"/>
                      </a:lnTo>
                      <a:lnTo>
                        <a:pt x="79" y="135"/>
                      </a:lnTo>
                      <a:lnTo>
                        <a:pt x="78" y="134"/>
                      </a:lnTo>
                      <a:lnTo>
                        <a:pt x="77" y="133"/>
                      </a:lnTo>
                      <a:lnTo>
                        <a:pt x="76" y="133"/>
                      </a:lnTo>
                      <a:lnTo>
                        <a:pt x="75" y="132"/>
                      </a:lnTo>
                      <a:lnTo>
                        <a:pt x="74" y="132"/>
                      </a:lnTo>
                      <a:lnTo>
                        <a:pt x="73" y="130"/>
                      </a:lnTo>
                      <a:lnTo>
                        <a:pt x="72" y="130"/>
                      </a:lnTo>
                      <a:lnTo>
                        <a:pt x="71" y="130"/>
                      </a:lnTo>
                      <a:lnTo>
                        <a:pt x="69" y="130"/>
                      </a:lnTo>
                      <a:lnTo>
                        <a:pt x="67" y="130"/>
                      </a:lnTo>
                      <a:lnTo>
                        <a:pt x="66" y="132"/>
                      </a:lnTo>
                      <a:lnTo>
                        <a:pt x="64" y="132"/>
                      </a:lnTo>
                      <a:lnTo>
                        <a:pt x="63" y="132"/>
                      </a:lnTo>
                      <a:lnTo>
                        <a:pt x="62" y="133"/>
                      </a:lnTo>
                      <a:lnTo>
                        <a:pt x="62" y="132"/>
                      </a:lnTo>
                      <a:lnTo>
                        <a:pt x="62" y="130"/>
                      </a:lnTo>
                      <a:lnTo>
                        <a:pt x="62" y="127"/>
                      </a:lnTo>
                      <a:lnTo>
                        <a:pt x="63" y="127"/>
                      </a:lnTo>
                      <a:lnTo>
                        <a:pt x="62" y="125"/>
                      </a:lnTo>
                      <a:lnTo>
                        <a:pt x="62" y="124"/>
                      </a:lnTo>
                      <a:lnTo>
                        <a:pt x="62" y="123"/>
                      </a:lnTo>
                      <a:lnTo>
                        <a:pt x="62" y="121"/>
                      </a:lnTo>
                      <a:lnTo>
                        <a:pt x="61" y="120"/>
                      </a:lnTo>
                      <a:lnTo>
                        <a:pt x="61" y="119"/>
                      </a:lnTo>
                      <a:lnTo>
                        <a:pt x="60" y="118"/>
                      </a:lnTo>
                      <a:lnTo>
                        <a:pt x="60" y="117"/>
                      </a:lnTo>
                      <a:lnTo>
                        <a:pt x="59" y="116"/>
                      </a:lnTo>
                      <a:lnTo>
                        <a:pt x="58" y="114"/>
                      </a:lnTo>
                      <a:lnTo>
                        <a:pt x="57" y="114"/>
                      </a:lnTo>
                      <a:lnTo>
                        <a:pt x="56" y="113"/>
                      </a:lnTo>
                      <a:lnTo>
                        <a:pt x="55" y="112"/>
                      </a:lnTo>
                      <a:lnTo>
                        <a:pt x="54" y="112"/>
                      </a:lnTo>
                      <a:lnTo>
                        <a:pt x="53" y="111"/>
                      </a:lnTo>
                      <a:lnTo>
                        <a:pt x="52" y="111"/>
                      </a:lnTo>
                      <a:lnTo>
                        <a:pt x="50" y="111"/>
                      </a:lnTo>
                      <a:lnTo>
                        <a:pt x="47" y="111"/>
                      </a:lnTo>
                      <a:lnTo>
                        <a:pt x="46" y="111"/>
                      </a:lnTo>
                      <a:lnTo>
                        <a:pt x="45" y="111"/>
                      </a:lnTo>
                      <a:lnTo>
                        <a:pt x="44" y="111"/>
                      </a:lnTo>
                      <a:lnTo>
                        <a:pt x="43" y="111"/>
                      </a:lnTo>
                      <a:lnTo>
                        <a:pt x="42" y="112"/>
                      </a:lnTo>
                      <a:lnTo>
                        <a:pt x="41" y="113"/>
                      </a:lnTo>
                      <a:lnTo>
                        <a:pt x="41" y="111"/>
                      </a:lnTo>
                      <a:lnTo>
                        <a:pt x="41" y="110"/>
                      </a:lnTo>
                      <a:lnTo>
                        <a:pt x="42" y="108"/>
                      </a:lnTo>
                      <a:lnTo>
                        <a:pt x="42" y="106"/>
                      </a:lnTo>
                      <a:lnTo>
                        <a:pt x="42" y="104"/>
                      </a:lnTo>
                      <a:lnTo>
                        <a:pt x="42" y="103"/>
                      </a:lnTo>
                      <a:lnTo>
                        <a:pt x="41" y="102"/>
                      </a:lnTo>
                      <a:lnTo>
                        <a:pt x="41" y="101"/>
                      </a:lnTo>
                      <a:lnTo>
                        <a:pt x="41" y="99"/>
                      </a:lnTo>
                      <a:lnTo>
                        <a:pt x="40" y="98"/>
                      </a:lnTo>
                      <a:lnTo>
                        <a:pt x="39" y="97"/>
                      </a:lnTo>
                      <a:lnTo>
                        <a:pt x="39" y="96"/>
                      </a:lnTo>
                      <a:lnTo>
                        <a:pt x="38" y="94"/>
                      </a:lnTo>
                      <a:lnTo>
                        <a:pt x="37" y="94"/>
                      </a:lnTo>
                      <a:lnTo>
                        <a:pt x="36" y="93"/>
                      </a:lnTo>
                      <a:lnTo>
                        <a:pt x="35" y="92"/>
                      </a:lnTo>
                      <a:lnTo>
                        <a:pt x="34" y="91"/>
                      </a:lnTo>
                      <a:lnTo>
                        <a:pt x="32" y="91"/>
                      </a:lnTo>
                      <a:lnTo>
                        <a:pt x="30" y="91"/>
                      </a:lnTo>
                      <a:lnTo>
                        <a:pt x="28" y="91"/>
                      </a:lnTo>
                      <a:lnTo>
                        <a:pt x="26" y="91"/>
                      </a:lnTo>
                      <a:lnTo>
                        <a:pt x="24" y="91"/>
                      </a:lnTo>
                      <a:lnTo>
                        <a:pt x="23" y="91"/>
                      </a:lnTo>
                      <a:lnTo>
                        <a:pt x="22" y="92"/>
                      </a:lnTo>
                      <a:lnTo>
                        <a:pt x="20" y="92"/>
                      </a:lnTo>
                      <a:lnTo>
                        <a:pt x="19" y="93"/>
                      </a:lnTo>
                      <a:lnTo>
                        <a:pt x="17" y="94"/>
                      </a:lnTo>
                      <a:lnTo>
                        <a:pt x="16" y="95"/>
                      </a:lnTo>
                      <a:lnTo>
                        <a:pt x="15" y="97"/>
                      </a:lnTo>
                      <a:lnTo>
                        <a:pt x="0" y="87"/>
                      </a:lnTo>
                      <a:lnTo>
                        <a:pt x="50" y="0"/>
                      </a:lnTo>
                      <a:lnTo>
                        <a:pt x="77" y="9"/>
                      </a:lnTo>
                      <a:lnTo>
                        <a:pt x="63" y="41"/>
                      </a:lnTo>
                      <a:lnTo>
                        <a:pt x="63" y="4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002" name="Freeform 1041"/>
                <p:cNvSpPr>
                  <a:spLocks/>
                </p:cNvSpPr>
                <p:nvPr/>
              </p:nvSpPr>
              <p:spPr bwMode="auto">
                <a:xfrm>
                  <a:off x="2539" y="2506"/>
                  <a:ext cx="207" cy="175"/>
                </a:xfrm>
                <a:custGeom>
                  <a:avLst/>
                  <a:gdLst>
                    <a:gd name="T0" fmla="*/ 69 w 207"/>
                    <a:gd name="T1" fmla="*/ 44 h 175"/>
                    <a:gd name="T2" fmla="*/ 76 w 207"/>
                    <a:gd name="T3" fmla="*/ 46 h 175"/>
                    <a:gd name="T4" fmla="*/ 94 w 207"/>
                    <a:gd name="T5" fmla="*/ 39 h 175"/>
                    <a:gd name="T6" fmla="*/ 112 w 207"/>
                    <a:gd name="T7" fmla="*/ 24 h 175"/>
                    <a:gd name="T8" fmla="*/ 132 w 207"/>
                    <a:gd name="T9" fmla="*/ 30 h 175"/>
                    <a:gd name="T10" fmla="*/ 151 w 207"/>
                    <a:gd name="T11" fmla="*/ 41 h 175"/>
                    <a:gd name="T12" fmla="*/ 175 w 207"/>
                    <a:gd name="T13" fmla="*/ 67 h 175"/>
                    <a:gd name="T14" fmla="*/ 201 w 207"/>
                    <a:gd name="T15" fmla="*/ 99 h 175"/>
                    <a:gd name="T16" fmla="*/ 207 w 207"/>
                    <a:gd name="T17" fmla="*/ 111 h 175"/>
                    <a:gd name="T18" fmla="*/ 206 w 207"/>
                    <a:gd name="T19" fmla="*/ 117 h 175"/>
                    <a:gd name="T20" fmla="*/ 203 w 207"/>
                    <a:gd name="T21" fmla="*/ 122 h 175"/>
                    <a:gd name="T22" fmla="*/ 198 w 207"/>
                    <a:gd name="T23" fmla="*/ 125 h 175"/>
                    <a:gd name="T24" fmla="*/ 192 w 207"/>
                    <a:gd name="T25" fmla="*/ 127 h 175"/>
                    <a:gd name="T26" fmla="*/ 186 w 207"/>
                    <a:gd name="T27" fmla="*/ 123 h 175"/>
                    <a:gd name="T28" fmla="*/ 182 w 207"/>
                    <a:gd name="T29" fmla="*/ 123 h 175"/>
                    <a:gd name="T30" fmla="*/ 182 w 207"/>
                    <a:gd name="T31" fmla="*/ 133 h 175"/>
                    <a:gd name="T32" fmla="*/ 179 w 207"/>
                    <a:gd name="T33" fmla="*/ 139 h 175"/>
                    <a:gd name="T34" fmla="*/ 171 w 207"/>
                    <a:gd name="T35" fmla="*/ 143 h 175"/>
                    <a:gd name="T36" fmla="*/ 165 w 207"/>
                    <a:gd name="T37" fmla="*/ 143 h 175"/>
                    <a:gd name="T38" fmla="*/ 148 w 207"/>
                    <a:gd name="T39" fmla="*/ 123 h 175"/>
                    <a:gd name="T40" fmla="*/ 131 w 207"/>
                    <a:gd name="T41" fmla="*/ 104 h 175"/>
                    <a:gd name="T42" fmla="*/ 157 w 207"/>
                    <a:gd name="T43" fmla="*/ 140 h 175"/>
                    <a:gd name="T44" fmla="*/ 157 w 207"/>
                    <a:gd name="T45" fmla="*/ 148 h 175"/>
                    <a:gd name="T46" fmla="*/ 155 w 207"/>
                    <a:gd name="T47" fmla="*/ 155 h 175"/>
                    <a:gd name="T48" fmla="*/ 150 w 207"/>
                    <a:gd name="T49" fmla="*/ 158 h 175"/>
                    <a:gd name="T50" fmla="*/ 142 w 207"/>
                    <a:gd name="T51" fmla="*/ 159 h 175"/>
                    <a:gd name="T52" fmla="*/ 134 w 207"/>
                    <a:gd name="T53" fmla="*/ 154 h 175"/>
                    <a:gd name="T54" fmla="*/ 126 w 207"/>
                    <a:gd name="T55" fmla="*/ 145 h 175"/>
                    <a:gd name="T56" fmla="*/ 116 w 207"/>
                    <a:gd name="T57" fmla="*/ 133 h 175"/>
                    <a:gd name="T58" fmla="*/ 107 w 207"/>
                    <a:gd name="T59" fmla="*/ 123 h 175"/>
                    <a:gd name="T60" fmla="*/ 134 w 207"/>
                    <a:gd name="T61" fmla="*/ 163 h 175"/>
                    <a:gd name="T62" fmla="*/ 132 w 207"/>
                    <a:gd name="T63" fmla="*/ 170 h 175"/>
                    <a:gd name="T64" fmla="*/ 125 w 207"/>
                    <a:gd name="T65" fmla="*/ 175 h 175"/>
                    <a:gd name="T66" fmla="*/ 116 w 207"/>
                    <a:gd name="T67" fmla="*/ 174 h 175"/>
                    <a:gd name="T68" fmla="*/ 109 w 207"/>
                    <a:gd name="T69" fmla="*/ 170 h 175"/>
                    <a:gd name="T70" fmla="*/ 104 w 207"/>
                    <a:gd name="T71" fmla="*/ 161 h 175"/>
                    <a:gd name="T72" fmla="*/ 100 w 207"/>
                    <a:gd name="T73" fmla="*/ 154 h 175"/>
                    <a:gd name="T74" fmla="*/ 92 w 207"/>
                    <a:gd name="T75" fmla="*/ 151 h 175"/>
                    <a:gd name="T76" fmla="*/ 84 w 207"/>
                    <a:gd name="T77" fmla="*/ 149 h 175"/>
                    <a:gd name="T78" fmla="*/ 84 w 207"/>
                    <a:gd name="T79" fmla="*/ 141 h 175"/>
                    <a:gd name="T80" fmla="*/ 81 w 207"/>
                    <a:gd name="T81" fmla="*/ 136 h 175"/>
                    <a:gd name="T82" fmla="*/ 75 w 207"/>
                    <a:gd name="T83" fmla="*/ 132 h 175"/>
                    <a:gd name="T84" fmla="*/ 69 w 207"/>
                    <a:gd name="T85" fmla="*/ 130 h 175"/>
                    <a:gd name="T86" fmla="*/ 63 w 207"/>
                    <a:gd name="T87" fmla="*/ 132 h 175"/>
                    <a:gd name="T88" fmla="*/ 63 w 207"/>
                    <a:gd name="T89" fmla="*/ 127 h 175"/>
                    <a:gd name="T90" fmla="*/ 61 w 207"/>
                    <a:gd name="T91" fmla="*/ 120 h 175"/>
                    <a:gd name="T92" fmla="*/ 58 w 207"/>
                    <a:gd name="T93" fmla="*/ 114 h 175"/>
                    <a:gd name="T94" fmla="*/ 53 w 207"/>
                    <a:gd name="T95" fmla="*/ 111 h 175"/>
                    <a:gd name="T96" fmla="*/ 46 w 207"/>
                    <a:gd name="T97" fmla="*/ 111 h 175"/>
                    <a:gd name="T98" fmla="*/ 41 w 207"/>
                    <a:gd name="T99" fmla="*/ 113 h 175"/>
                    <a:gd name="T100" fmla="*/ 42 w 207"/>
                    <a:gd name="T101" fmla="*/ 106 h 175"/>
                    <a:gd name="T102" fmla="*/ 41 w 207"/>
                    <a:gd name="T103" fmla="*/ 99 h 175"/>
                    <a:gd name="T104" fmla="*/ 37 w 207"/>
                    <a:gd name="T105" fmla="*/ 94 h 175"/>
                    <a:gd name="T106" fmla="*/ 30 w 207"/>
                    <a:gd name="T107" fmla="*/ 91 h 175"/>
                    <a:gd name="T108" fmla="*/ 22 w 207"/>
                    <a:gd name="T109" fmla="*/ 92 h 175"/>
                    <a:gd name="T110" fmla="*/ 15 w 207"/>
                    <a:gd name="T111" fmla="*/ 97 h 175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207"/>
                    <a:gd name="T169" fmla="*/ 0 h 175"/>
                    <a:gd name="T170" fmla="*/ 207 w 207"/>
                    <a:gd name="T171" fmla="*/ 175 h 175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207" h="175">
                      <a:moveTo>
                        <a:pt x="63" y="40"/>
                      </a:moveTo>
                      <a:lnTo>
                        <a:pt x="64" y="41"/>
                      </a:lnTo>
                      <a:lnTo>
                        <a:pt x="66" y="42"/>
                      </a:lnTo>
                      <a:lnTo>
                        <a:pt x="67" y="43"/>
                      </a:lnTo>
                      <a:lnTo>
                        <a:pt x="69" y="44"/>
                      </a:lnTo>
                      <a:lnTo>
                        <a:pt x="71" y="44"/>
                      </a:lnTo>
                      <a:lnTo>
                        <a:pt x="72" y="46"/>
                      </a:lnTo>
                      <a:lnTo>
                        <a:pt x="73" y="46"/>
                      </a:lnTo>
                      <a:lnTo>
                        <a:pt x="75" y="46"/>
                      </a:lnTo>
                      <a:lnTo>
                        <a:pt x="76" y="46"/>
                      </a:lnTo>
                      <a:lnTo>
                        <a:pt x="78" y="46"/>
                      </a:lnTo>
                      <a:lnTo>
                        <a:pt x="83" y="44"/>
                      </a:lnTo>
                      <a:lnTo>
                        <a:pt x="86" y="43"/>
                      </a:lnTo>
                      <a:lnTo>
                        <a:pt x="90" y="41"/>
                      </a:lnTo>
                      <a:lnTo>
                        <a:pt x="94" y="39"/>
                      </a:lnTo>
                      <a:lnTo>
                        <a:pt x="98" y="35"/>
                      </a:lnTo>
                      <a:lnTo>
                        <a:pt x="100" y="33"/>
                      </a:lnTo>
                      <a:lnTo>
                        <a:pt x="104" y="30"/>
                      </a:lnTo>
                      <a:lnTo>
                        <a:pt x="108" y="27"/>
                      </a:lnTo>
                      <a:lnTo>
                        <a:pt x="112" y="24"/>
                      </a:lnTo>
                      <a:lnTo>
                        <a:pt x="115" y="21"/>
                      </a:lnTo>
                      <a:lnTo>
                        <a:pt x="118" y="24"/>
                      </a:lnTo>
                      <a:lnTo>
                        <a:pt x="123" y="26"/>
                      </a:lnTo>
                      <a:lnTo>
                        <a:pt x="128" y="27"/>
                      </a:lnTo>
                      <a:lnTo>
                        <a:pt x="132" y="30"/>
                      </a:lnTo>
                      <a:lnTo>
                        <a:pt x="135" y="32"/>
                      </a:lnTo>
                      <a:lnTo>
                        <a:pt x="140" y="34"/>
                      </a:lnTo>
                      <a:lnTo>
                        <a:pt x="142" y="36"/>
                      </a:lnTo>
                      <a:lnTo>
                        <a:pt x="148" y="39"/>
                      </a:lnTo>
                      <a:lnTo>
                        <a:pt x="151" y="41"/>
                      </a:lnTo>
                      <a:lnTo>
                        <a:pt x="154" y="44"/>
                      </a:lnTo>
                      <a:lnTo>
                        <a:pt x="160" y="50"/>
                      </a:lnTo>
                      <a:lnTo>
                        <a:pt x="165" y="56"/>
                      </a:lnTo>
                      <a:lnTo>
                        <a:pt x="170" y="62"/>
                      </a:lnTo>
                      <a:lnTo>
                        <a:pt x="175" y="67"/>
                      </a:lnTo>
                      <a:lnTo>
                        <a:pt x="181" y="75"/>
                      </a:lnTo>
                      <a:lnTo>
                        <a:pt x="185" y="80"/>
                      </a:lnTo>
                      <a:lnTo>
                        <a:pt x="191" y="87"/>
                      </a:lnTo>
                      <a:lnTo>
                        <a:pt x="195" y="94"/>
                      </a:lnTo>
                      <a:lnTo>
                        <a:pt x="201" y="99"/>
                      </a:lnTo>
                      <a:lnTo>
                        <a:pt x="206" y="106"/>
                      </a:lnTo>
                      <a:lnTo>
                        <a:pt x="206" y="108"/>
                      </a:lnTo>
                      <a:lnTo>
                        <a:pt x="207" y="108"/>
                      </a:lnTo>
                      <a:lnTo>
                        <a:pt x="207" y="110"/>
                      </a:lnTo>
                      <a:lnTo>
                        <a:pt x="207" y="111"/>
                      </a:lnTo>
                      <a:lnTo>
                        <a:pt x="207" y="112"/>
                      </a:lnTo>
                      <a:lnTo>
                        <a:pt x="207" y="113"/>
                      </a:lnTo>
                      <a:lnTo>
                        <a:pt x="207" y="114"/>
                      </a:lnTo>
                      <a:lnTo>
                        <a:pt x="207" y="116"/>
                      </a:lnTo>
                      <a:lnTo>
                        <a:pt x="206" y="117"/>
                      </a:lnTo>
                      <a:lnTo>
                        <a:pt x="206" y="118"/>
                      </a:lnTo>
                      <a:lnTo>
                        <a:pt x="206" y="119"/>
                      </a:lnTo>
                      <a:lnTo>
                        <a:pt x="204" y="120"/>
                      </a:lnTo>
                      <a:lnTo>
                        <a:pt x="203" y="121"/>
                      </a:lnTo>
                      <a:lnTo>
                        <a:pt x="203" y="122"/>
                      </a:lnTo>
                      <a:lnTo>
                        <a:pt x="202" y="123"/>
                      </a:lnTo>
                      <a:lnTo>
                        <a:pt x="201" y="123"/>
                      </a:lnTo>
                      <a:lnTo>
                        <a:pt x="200" y="124"/>
                      </a:lnTo>
                      <a:lnTo>
                        <a:pt x="198" y="124"/>
                      </a:lnTo>
                      <a:lnTo>
                        <a:pt x="198" y="125"/>
                      </a:lnTo>
                      <a:lnTo>
                        <a:pt x="196" y="125"/>
                      </a:lnTo>
                      <a:lnTo>
                        <a:pt x="195" y="127"/>
                      </a:lnTo>
                      <a:lnTo>
                        <a:pt x="194" y="127"/>
                      </a:lnTo>
                      <a:lnTo>
                        <a:pt x="193" y="127"/>
                      </a:lnTo>
                      <a:lnTo>
                        <a:pt x="192" y="127"/>
                      </a:lnTo>
                      <a:lnTo>
                        <a:pt x="191" y="125"/>
                      </a:lnTo>
                      <a:lnTo>
                        <a:pt x="190" y="125"/>
                      </a:lnTo>
                      <a:lnTo>
                        <a:pt x="188" y="124"/>
                      </a:lnTo>
                      <a:lnTo>
                        <a:pt x="187" y="124"/>
                      </a:lnTo>
                      <a:lnTo>
                        <a:pt x="186" y="123"/>
                      </a:lnTo>
                      <a:lnTo>
                        <a:pt x="185" y="123"/>
                      </a:lnTo>
                      <a:lnTo>
                        <a:pt x="151" y="82"/>
                      </a:lnTo>
                      <a:lnTo>
                        <a:pt x="150" y="82"/>
                      </a:lnTo>
                      <a:lnTo>
                        <a:pt x="149" y="82"/>
                      </a:lnTo>
                      <a:lnTo>
                        <a:pt x="182" y="123"/>
                      </a:lnTo>
                      <a:lnTo>
                        <a:pt x="182" y="124"/>
                      </a:lnTo>
                      <a:lnTo>
                        <a:pt x="183" y="127"/>
                      </a:lnTo>
                      <a:lnTo>
                        <a:pt x="183" y="129"/>
                      </a:lnTo>
                      <a:lnTo>
                        <a:pt x="183" y="130"/>
                      </a:lnTo>
                      <a:lnTo>
                        <a:pt x="182" y="133"/>
                      </a:lnTo>
                      <a:lnTo>
                        <a:pt x="182" y="134"/>
                      </a:lnTo>
                      <a:lnTo>
                        <a:pt x="182" y="136"/>
                      </a:lnTo>
                      <a:lnTo>
                        <a:pt x="181" y="137"/>
                      </a:lnTo>
                      <a:lnTo>
                        <a:pt x="179" y="138"/>
                      </a:lnTo>
                      <a:lnTo>
                        <a:pt x="179" y="139"/>
                      </a:lnTo>
                      <a:lnTo>
                        <a:pt x="177" y="140"/>
                      </a:lnTo>
                      <a:lnTo>
                        <a:pt x="176" y="141"/>
                      </a:lnTo>
                      <a:lnTo>
                        <a:pt x="175" y="141"/>
                      </a:lnTo>
                      <a:lnTo>
                        <a:pt x="173" y="143"/>
                      </a:lnTo>
                      <a:lnTo>
                        <a:pt x="171" y="143"/>
                      </a:lnTo>
                      <a:lnTo>
                        <a:pt x="170" y="143"/>
                      </a:lnTo>
                      <a:lnTo>
                        <a:pt x="169" y="143"/>
                      </a:lnTo>
                      <a:lnTo>
                        <a:pt x="168" y="143"/>
                      </a:lnTo>
                      <a:lnTo>
                        <a:pt x="166" y="143"/>
                      </a:lnTo>
                      <a:lnTo>
                        <a:pt x="165" y="143"/>
                      </a:lnTo>
                      <a:lnTo>
                        <a:pt x="162" y="139"/>
                      </a:lnTo>
                      <a:lnTo>
                        <a:pt x="156" y="136"/>
                      </a:lnTo>
                      <a:lnTo>
                        <a:pt x="153" y="132"/>
                      </a:lnTo>
                      <a:lnTo>
                        <a:pt x="150" y="127"/>
                      </a:lnTo>
                      <a:lnTo>
                        <a:pt x="148" y="123"/>
                      </a:lnTo>
                      <a:lnTo>
                        <a:pt x="145" y="120"/>
                      </a:lnTo>
                      <a:lnTo>
                        <a:pt x="140" y="116"/>
                      </a:lnTo>
                      <a:lnTo>
                        <a:pt x="137" y="112"/>
                      </a:lnTo>
                      <a:lnTo>
                        <a:pt x="134" y="108"/>
                      </a:lnTo>
                      <a:lnTo>
                        <a:pt x="131" y="104"/>
                      </a:lnTo>
                      <a:lnTo>
                        <a:pt x="131" y="103"/>
                      </a:lnTo>
                      <a:lnTo>
                        <a:pt x="130" y="103"/>
                      </a:lnTo>
                      <a:lnTo>
                        <a:pt x="130" y="102"/>
                      </a:lnTo>
                      <a:lnTo>
                        <a:pt x="129" y="103"/>
                      </a:lnTo>
                      <a:lnTo>
                        <a:pt x="157" y="140"/>
                      </a:lnTo>
                      <a:lnTo>
                        <a:pt x="157" y="141"/>
                      </a:lnTo>
                      <a:lnTo>
                        <a:pt x="160" y="143"/>
                      </a:lnTo>
                      <a:lnTo>
                        <a:pt x="160" y="145"/>
                      </a:lnTo>
                      <a:lnTo>
                        <a:pt x="157" y="148"/>
                      </a:lnTo>
                      <a:lnTo>
                        <a:pt x="157" y="149"/>
                      </a:lnTo>
                      <a:lnTo>
                        <a:pt x="157" y="150"/>
                      </a:lnTo>
                      <a:lnTo>
                        <a:pt x="156" y="152"/>
                      </a:lnTo>
                      <a:lnTo>
                        <a:pt x="155" y="153"/>
                      </a:lnTo>
                      <a:lnTo>
                        <a:pt x="155" y="155"/>
                      </a:lnTo>
                      <a:lnTo>
                        <a:pt x="154" y="155"/>
                      </a:lnTo>
                      <a:lnTo>
                        <a:pt x="153" y="156"/>
                      </a:lnTo>
                      <a:lnTo>
                        <a:pt x="152" y="157"/>
                      </a:lnTo>
                      <a:lnTo>
                        <a:pt x="151" y="157"/>
                      </a:lnTo>
                      <a:lnTo>
                        <a:pt x="150" y="158"/>
                      </a:lnTo>
                      <a:lnTo>
                        <a:pt x="149" y="158"/>
                      </a:lnTo>
                      <a:lnTo>
                        <a:pt x="148" y="158"/>
                      </a:lnTo>
                      <a:lnTo>
                        <a:pt x="147" y="158"/>
                      </a:lnTo>
                      <a:lnTo>
                        <a:pt x="146" y="159"/>
                      </a:lnTo>
                      <a:lnTo>
                        <a:pt x="142" y="159"/>
                      </a:lnTo>
                      <a:lnTo>
                        <a:pt x="140" y="158"/>
                      </a:lnTo>
                      <a:lnTo>
                        <a:pt x="137" y="157"/>
                      </a:lnTo>
                      <a:lnTo>
                        <a:pt x="136" y="155"/>
                      </a:lnTo>
                      <a:lnTo>
                        <a:pt x="134" y="154"/>
                      </a:lnTo>
                      <a:lnTo>
                        <a:pt x="133" y="152"/>
                      </a:lnTo>
                      <a:lnTo>
                        <a:pt x="132" y="151"/>
                      </a:lnTo>
                      <a:lnTo>
                        <a:pt x="130" y="149"/>
                      </a:lnTo>
                      <a:lnTo>
                        <a:pt x="129" y="148"/>
                      </a:lnTo>
                      <a:lnTo>
                        <a:pt x="126" y="145"/>
                      </a:lnTo>
                      <a:lnTo>
                        <a:pt x="125" y="143"/>
                      </a:lnTo>
                      <a:lnTo>
                        <a:pt x="123" y="140"/>
                      </a:lnTo>
                      <a:lnTo>
                        <a:pt x="121" y="137"/>
                      </a:lnTo>
                      <a:lnTo>
                        <a:pt x="118" y="135"/>
                      </a:lnTo>
                      <a:lnTo>
                        <a:pt x="116" y="133"/>
                      </a:lnTo>
                      <a:lnTo>
                        <a:pt x="115" y="130"/>
                      </a:lnTo>
                      <a:lnTo>
                        <a:pt x="113" y="127"/>
                      </a:lnTo>
                      <a:lnTo>
                        <a:pt x="110" y="124"/>
                      </a:lnTo>
                      <a:lnTo>
                        <a:pt x="108" y="122"/>
                      </a:lnTo>
                      <a:lnTo>
                        <a:pt x="107" y="123"/>
                      </a:lnTo>
                      <a:lnTo>
                        <a:pt x="134" y="156"/>
                      </a:lnTo>
                      <a:lnTo>
                        <a:pt x="134" y="157"/>
                      </a:lnTo>
                      <a:lnTo>
                        <a:pt x="134" y="159"/>
                      </a:lnTo>
                      <a:lnTo>
                        <a:pt x="134" y="160"/>
                      </a:lnTo>
                      <a:lnTo>
                        <a:pt x="134" y="163"/>
                      </a:lnTo>
                      <a:lnTo>
                        <a:pt x="134" y="165"/>
                      </a:lnTo>
                      <a:lnTo>
                        <a:pt x="133" y="168"/>
                      </a:lnTo>
                      <a:lnTo>
                        <a:pt x="133" y="169"/>
                      </a:lnTo>
                      <a:lnTo>
                        <a:pt x="132" y="170"/>
                      </a:lnTo>
                      <a:lnTo>
                        <a:pt x="131" y="171"/>
                      </a:lnTo>
                      <a:lnTo>
                        <a:pt x="130" y="172"/>
                      </a:lnTo>
                      <a:lnTo>
                        <a:pt x="129" y="173"/>
                      </a:lnTo>
                      <a:lnTo>
                        <a:pt x="126" y="174"/>
                      </a:lnTo>
                      <a:lnTo>
                        <a:pt x="125" y="175"/>
                      </a:lnTo>
                      <a:lnTo>
                        <a:pt x="123" y="175"/>
                      </a:lnTo>
                      <a:lnTo>
                        <a:pt x="121" y="175"/>
                      </a:lnTo>
                      <a:lnTo>
                        <a:pt x="119" y="175"/>
                      </a:lnTo>
                      <a:lnTo>
                        <a:pt x="118" y="175"/>
                      </a:lnTo>
                      <a:lnTo>
                        <a:pt x="116" y="174"/>
                      </a:lnTo>
                      <a:lnTo>
                        <a:pt x="115" y="174"/>
                      </a:lnTo>
                      <a:lnTo>
                        <a:pt x="114" y="173"/>
                      </a:lnTo>
                      <a:lnTo>
                        <a:pt x="112" y="172"/>
                      </a:lnTo>
                      <a:lnTo>
                        <a:pt x="110" y="171"/>
                      </a:lnTo>
                      <a:lnTo>
                        <a:pt x="109" y="170"/>
                      </a:lnTo>
                      <a:lnTo>
                        <a:pt x="108" y="169"/>
                      </a:lnTo>
                      <a:lnTo>
                        <a:pt x="106" y="167"/>
                      </a:lnTo>
                      <a:lnTo>
                        <a:pt x="106" y="165"/>
                      </a:lnTo>
                      <a:lnTo>
                        <a:pt x="104" y="165"/>
                      </a:lnTo>
                      <a:lnTo>
                        <a:pt x="104" y="161"/>
                      </a:lnTo>
                      <a:lnTo>
                        <a:pt x="104" y="159"/>
                      </a:lnTo>
                      <a:lnTo>
                        <a:pt x="103" y="158"/>
                      </a:lnTo>
                      <a:lnTo>
                        <a:pt x="102" y="157"/>
                      </a:lnTo>
                      <a:lnTo>
                        <a:pt x="101" y="155"/>
                      </a:lnTo>
                      <a:lnTo>
                        <a:pt x="100" y="154"/>
                      </a:lnTo>
                      <a:lnTo>
                        <a:pt x="99" y="153"/>
                      </a:lnTo>
                      <a:lnTo>
                        <a:pt x="97" y="152"/>
                      </a:lnTo>
                      <a:lnTo>
                        <a:pt x="95" y="152"/>
                      </a:lnTo>
                      <a:lnTo>
                        <a:pt x="93" y="152"/>
                      </a:lnTo>
                      <a:lnTo>
                        <a:pt x="92" y="151"/>
                      </a:lnTo>
                      <a:lnTo>
                        <a:pt x="90" y="151"/>
                      </a:lnTo>
                      <a:lnTo>
                        <a:pt x="83" y="152"/>
                      </a:lnTo>
                      <a:lnTo>
                        <a:pt x="84" y="151"/>
                      </a:lnTo>
                      <a:lnTo>
                        <a:pt x="84" y="150"/>
                      </a:lnTo>
                      <a:lnTo>
                        <a:pt x="84" y="149"/>
                      </a:lnTo>
                      <a:lnTo>
                        <a:pt x="84" y="148"/>
                      </a:lnTo>
                      <a:lnTo>
                        <a:pt x="84" y="145"/>
                      </a:lnTo>
                      <a:lnTo>
                        <a:pt x="84" y="143"/>
                      </a:lnTo>
                      <a:lnTo>
                        <a:pt x="84" y="141"/>
                      </a:lnTo>
                      <a:lnTo>
                        <a:pt x="83" y="140"/>
                      </a:lnTo>
                      <a:lnTo>
                        <a:pt x="83" y="139"/>
                      </a:lnTo>
                      <a:lnTo>
                        <a:pt x="82" y="138"/>
                      </a:lnTo>
                      <a:lnTo>
                        <a:pt x="82" y="137"/>
                      </a:lnTo>
                      <a:lnTo>
                        <a:pt x="81" y="136"/>
                      </a:lnTo>
                      <a:lnTo>
                        <a:pt x="79" y="135"/>
                      </a:lnTo>
                      <a:lnTo>
                        <a:pt x="78" y="134"/>
                      </a:lnTo>
                      <a:lnTo>
                        <a:pt x="77" y="133"/>
                      </a:lnTo>
                      <a:lnTo>
                        <a:pt x="76" y="133"/>
                      </a:lnTo>
                      <a:lnTo>
                        <a:pt x="75" y="132"/>
                      </a:lnTo>
                      <a:lnTo>
                        <a:pt x="74" y="132"/>
                      </a:lnTo>
                      <a:lnTo>
                        <a:pt x="73" y="130"/>
                      </a:lnTo>
                      <a:lnTo>
                        <a:pt x="72" y="130"/>
                      </a:lnTo>
                      <a:lnTo>
                        <a:pt x="71" y="130"/>
                      </a:lnTo>
                      <a:lnTo>
                        <a:pt x="69" y="130"/>
                      </a:lnTo>
                      <a:lnTo>
                        <a:pt x="67" y="130"/>
                      </a:lnTo>
                      <a:lnTo>
                        <a:pt x="66" y="132"/>
                      </a:lnTo>
                      <a:lnTo>
                        <a:pt x="64" y="132"/>
                      </a:lnTo>
                      <a:lnTo>
                        <a:pt x="63" y="132"/>
                      </a:lnTo>
                      <a:lnTo>
                        <a:pt x="62" y="133"/>
                      </a:lnTo>
                      <a:lnTo>
                        <a:pt x="62" y="132"/>
                      </a:lnTo>
                      <a:lnTo>
                        <a:pt x="62" y="130"/>
                      </a:lnTo>
                      <a:lnTo>
                        <a:pt x="62" y="127"/>
                      </a:lnTo>
                      <a:lnTo>
                        <a:pt x="63" y="127"/>
                      </a:lnTo>
                      <a:lnTo>
                        <a:pt x="62" y="125"/>
                      </a:lnTo>
                      <a:lnTo>
                        <a:pt x="62" y="124"/>
                      </a:lnTo>
                      <a:lnTo>
                        <a:pt x="62" y="123"/>
                      </a:lnTo>
                      <a:lnTo>
                        <a:pt x="62" y="121"/>
                      </a:lnTo>
                      <a:lnTo>
                        <a:pt x="61" y="120"/>
                      </a:lnTo>
                      <a:lnTo>
                        <a:pt x="61" y="119"/>
                      </a:lnTo>
                      <a:lnTo>
                        <a:pt x="60" y="118"/>
                      </a:lnTo>
                      <a:lnTo>
                        <a:pt x="60" y="117"/>
                      </a:lnTo>
                      <a:lnTo>
                        <a:pt x="59" y="116"/>
                      </a:lnTo>
                      <a:lnTo>
                        <a:pt x="58" y="114"/>
                      </a:lnTo>
                      <a:lnTo>
                        <a:pt x="57" y="114"/>
                      </a:lnTo>
                      <a:lnTo>
                        <a:pt x="56" y="113"/>
                      </a:lnTo>
                      <a:lnTo>
                        <a:pt x="55" y="112"/>
                      </a:lnTo>
                      <a:lnTo>
                        <a:pt x="54" y="112"/>
                      </a:lnTo>
                      <a:lnTo>
                        <a:pt x="53" y="111"/>
                      </a:lnTo>
                      <a:lnTo>
                        <a:pt x="52" y="111"/>
                      </a:lnTo>
                      <a:lnTo>
                        <a:pt x="50" y="111"/>
                      </a:lnTo>
                      <a:lnTo>
                        <a:pt x="47" y="111"/>
                      </a:lnTo>
                      <a:lnTo>
                        <a:pt x="46" y="111"/>
                      </a:lnTo>
                      <a:lnTo>
                        <a:pt x="45" y="111"/>
                      </a:lnTo>
                      <a:lnTo>
                        <a:pt x="44" y="111"/>
                      </a:lnTo>
                      <a:lnTo>
                        <a:pt x="43" y="111"/>
                      </a:lnTo>
                      <a:lnTo>
                        <a:pt x="42" y="112"/>
                      </a:lnTo>
                      <a:lnTo>
                        <a:pt x="41" y="113"/>
                      </a:lnTo>
                      <a:lnTo>
                        <a:pt x="41" y="111"/>
                      </a:lnTo>
                      <a:lnTo>
                        <a:pt x="41" y="110"/>
                      </a:lnTo>
                      <a:lnTo>
                        <a:pt x="42" y="108"/>
                      </a:lnTo>
                      <a:lnTo>
                        <a:pt x="42" y="106"/>
                      </a:lnTo>
                      <a:lnTo>
                        <a:pt x="42" y="104"/>
                      </a:lnTo>
                      <a:lnTo>
                        <a:pt x="42" y="103"/>
                      </a:lnTo>
                      <a:lnTo>
                        <a:pt x="41" y="102"/>
                      </a:lnTo>
                      <a:lnTo>
                        <a:pt x="41" y="101"/>
                      </a:lnTo>
                      <a:lnTo>
                        <a:pt x="41" y="99"/>
                      </a:lnTo>
                      <a:lnTo>
                        <a:pt x="40" y="98"/>
                      </a:lnTo>
                      <a:lnTo>
                        <a:pt x="39" y="97"/>
                      </a:lnTo>
                      <a:lnTo>
                        <a:pt x="39" y="96"/>
                      </a:lnTo>
                      <a:lnTo>
                        <a:pt x="38" y="94"/>
                      </a:lnTo>
                      <a:lnTo>
                        <a:pt x="37" y="94"/>
                      </a:lnTo>
                      <a:lnTo>
                        <a:pt x="36" y="93"/>
                      </a:lnTo>
                      <a:lnTo>
                        <a:pt x="35" y="92"/>
                      </a:lnTo>
                      <a:lnTo>
                        <a:pt x="34" y="91"/>
                      </a:lnTo>
                      <a:lnTo>
                        <a:pt x="32" y="91"/>
                      </a:lnTo>
                      <a:lnTo>
                        <a:pt x="30" y="91"/>
                      </a:lnTo>
                      <a:lnTo>
                        <a:pt x="28" y="91"/>
                      </a:lnTo>
                      <a:lnTo>
                        <a:pt x="26" y="91"/>
                      </a:lnTo>
                      <a:lnTo>
                        <a:pt x="24" y="91"/>
                      </a:lnTo>
                      <a:lnTo>
                        <a:pt x="23" y="91"/>
                      </a:lnTo>
                      <a:lnTo>
                        <a:pt x="22" y="92"/>
                      </a:lnTo>
                      <a:lnTo>
                        <a:pt x="20" y="92"/>
                      </a:lnTo>
                      <a:lnTo>
                        <a:pt x="19" y="93"/>
                      </a:lnTo>
                      <a:lnTo>
                        <a:pt x="17" y="94"/>
                      </a:lnTo>
                      <a:lnTo>
                        <a:pt x="16" y="95"/>
                      </a:lnTo>
                      <a:lnTo>
                        <a:pt x="15" y="97"/>
                      </a:lnTo>
                      <a:lnTo>
                        <a:pt x="0" y="87"/>
                      </a:lnTo>
                      <a:lnTo>
                        <a:pt x="50" y="0"/>
                      </a:lnTo>
                      <a:lnTo>
                        <a:pt x="77" y="9"/>
                      </a:lnTo>
                      <a:lnTo>
                        <a:pt x="63" y="41"/>
                      </a:lnTo>
                    </a:path>
                  </a:pathLst>
                </a:custGeom>
                <a:no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25003" name="Group 1042"/>
                <p:cNvGrpSpPr>
                  <a:grpSpLocks/>
                </p:cNvGrpSpPr>
                <p:nvPr/>
              </p:nvGrpSpPr>
              <p:grpSpPr bwMode="auto">
                <a:xfrm>
                  <a:off x="2547" y="2599"/>
                  <a:ext cx="95" cy="88"/>
                  <a:chOff x="2547" y="2599"/>
                  <a:chExt cx="95" cy="88"/>
                </a:xfrm>
              </p:grpSpPr>
              <p:sp>
                <p:nvSpPr>
                  <p:cNvPr id="25004" name="Freeform 1043"/>
                  <p:cNvSpPr>
                    <a:spLocks/>
                  </p:cNvSpPr>
                  <p:nvPr/>
                </p:nvSpPr>
                <p:spPr bwMode="auto">
                  <a:xfrm>
                    <a:off x="2547" y="2599"/>
                    <a:ext cx="32" cy="36"/>
                  </a:xfrm>
                  <a:custGeom>
                    <a:avLst/>
                    <a:gdLst>
                      <a:gd name="T0" fmla="*/ 28 w 32"/>
                      <a:gd name="T1" fmla="*/ 3 h 36"/>
                      <a:gd name="T2" fmla="*/ 29 w 32"/>
                      <a:gd name="T3" fmla="*/ 3 h 36"/>
                      <a:gd name="T4" fmla="*/ 30 w 32"/>
                      <a:gd name="T5" fmla="*/ 6 h 36"/>
                      <a:gd name="T6" fmla="*/ 31 w 32"/>
                      <a:gd name="T7" fmla="*/ 6 h 36"/>
                      <a:gd name="T8" fmla="*/ 31 w 32"/>
                      <a:gd name="T9" fmla="*/ 9 h 36"/>
                      <a:gd name="T10" fmla="*/ 31 w 32"/>
                      <a:gd name="T11" fmla="*/ 10 h 36"/>
                      <a:gd name="T12" fmla="*/ 32 w 32"/>
                      <a:gd name="T13" fmla="*/ 12 h 36"/>
                      <a:gd name="T14" fmla="*/ 32 w 32"/>
                      <a:gd name="T15" fmla="*/ 13 h 36"/>
                      <a:gd name="T16" fmla="*/ 32 w 32"/>
                      <a:gd name="T17" fmla="*/ 15 h 36"/>
                      <a:gd name="T18" fmla="*/ 32 w 32"/>
                      <a:gd name="T19" fmla="*/ 16 h 36"/>
                      <a:gd name="T20" fmla="*/ 32 w 32"/>
                      <a:gd name="T21" fmla="*/ 17 h 36"/>
                      <a:gd name="T22" fmla="*/ 31 w 32"/>
                      <a:gd name="T23" fmla="*/ 19 h 36"/>
                      <a:gd name="T24" fmla="*/ 30 w 32"/>
                      <a:gd name="T25" fmla="*/ 21 h 36"/>
                      <a:gd name="T26" fmla="*/ 29 w 32"/>
                      <a:gd name="T27" fmla="*/ 24 h 36"/>
                      <a:gd name="T28" fmla="*/ 28 w 32"/>
                      <a:gd name="T29" fmla="*/ 26 h 36"/>
                      <a:gd name="T30" fmla="*/ 26 w 32"/>
                      <a:gd name="T31" fmla="*/ 28 h 36"/>
                      <a:gd name="T32" fmla="*/ 24 w 32"/>
                      <a:gd name="T33" fmla="*/ 31 h 36"/>
                      <a:gd name="T34" fmla="*/ 22 w 32"/>
                      <a:gd name="T35" fmla="*/ 32 h 36"/>
                      <a:gd name="T36" fmla="*/ 20 w 32"/>
                      <a:gd name="T37" fmla="*/ 34 h 36"/>
                      <a:gd name="T38" fmla="*/ 18 w 32"/>
                      <a:gd name="T39" fmla="*/ 35 h 36"/>
                      <a:gd name="T40" fmla="*/ 16 w 32"/>
                      <a:gd name="T41" fmla="*/ 35 h 36"/>
                      <a:gd name="T42" fmla="*/ 15 w 32"/>
                      <a:gd name="T43" fmla="*/ 36 h 36"/>
                      <a:gd name="T44" fmla="*/ 14 w 32"/>
                      <a:gd name="T45" fmla="*/ 36 h 36"/>
                      <a:gd name="T46" fmla="*/ 13 w 32"/>
                      <a:gd name="T47" fmla="*/ 36 h 36"/>
                      <a:gd name="T48" fmla="*/ 12 w 32"/>
                      <a:gd name="T49" fmla="*/ 36 h 36"/>
                      <a:gd name="T50" fmla="*/ 11 w 32"/>
                      <a:gd name="T51" fmla="*/ 36 h 36"/>
                      <a:gd name="T52" fmla="*/ 9 w 32"/>
                      <a:gd name="T53" fmla="*/ 35 h 36"/>
                      <a:gd name="T54" fmla="*/ 8 w 32"/>
                      <a:gd name="T55" fmla="*/ 35 h 36"/>
                      <a:gd name="T56" fmla="*/ 6 w 32"/>
                      <a:gd name="T57" fmla="*/ 34 h 36"/>
                      <a:gd name="T58" fmla="*/ 6 w 32"/>
                      <a:gd name="T59" fmla="*/ 34 h 36"/>
                      <a:gd name="T60" fmla="*/ 4 w 32"/>
                      <a:gd name="T61" fmla="*/ 33 h 36"/>
                      <a:gd name="T62" fmla="*/ 3 w 32"/>
                      <a:gd name="T63" fmla="*/ 32 h 36"/>
                      <a:gd name="T64" fmla="*/ 2 w 32"/>
                      <a:gd name="T65" fmla="*/ 31 h 36"/>
                      <a:gd name="T66" fmla="*/ 2 w 32"/>
                      <a:gd name="T67" fmla="*/ 30 h 36"/>
                      <a:gd name="T68" fmla="*/ 1 w 32"/>
                      <a:gd name="T69" fmla="*/ 28 h 36"/>
                      <a:gd name="T70" fmla="*/ 1 w 32"/>
                      <a:gd name="T71" fmla="*/ 28 h 36"/>
                      <a:gd name="T72" fmla="*/ 0 w 32"/>
                      <a:gd name="T73" fmla="*/ 26 h 36"/>
                      <a:gd name="T74" fmla="*/ 0 w 32"/>
                      <a:gd name="T75" fmla="*/ 24 h 36"/>
                      <a:gd name="T76" fmla="*/ 0 w 32"/>
                      <a:gd name="T77" fmla="*/ 23 h 36"/>
                      <a:gd name="T78" fmla="*/ 0 w 32"/>
                      <a:gd name="T79" fmla="*/ 21 h 36"/>
                      <a:gd name="T80" fmla="*/ 1 w 32"/>
                      <a:gd name="T81" fmla="*/ 18 h 36"/>
                      <a:gd name="T82" fmla="*/ 1 w 32"/>
                      <a:gd name="T83" fmla="*/ 16 h 36"/>
                      <a:gd name="T84" fmla="*/ 2 w 32"/>
                      <a:gd name="T85" fmla="*/ 14 h 36"/>
                      <a:gd name="T86" fmla="*/ 4 w 32"/>
                      <a:gd name="T87" fmla="*/ 12 h 36"/>
                      <a:gd name="T88" fmla="*/ 6 w 32"/>
                      <a:gd name="T89" fmla="*/ 10 h 36"/>
                      <a:gd name="T90" fmla="*/ 6 w 32"/>
                      <a:gd name="T91" fmla="*/ 6 h 36"/>
                      <a:gd name="T92" fmla="*/ 9 w 32"/>
                      <a:gd name="T93" fmla="*/ 4 h 36"/>
                      <a:gd name="T94" fmla="*/ 12 w 32"/>
                      <a:gd name="T95" fmla="*/ 2 h 36"/>
                      <a:gd name="T96" fmla="*/ 13 w 32"/>
                      <a:gd name="T97" fmla="*/ 1 h 36"/>
                      <a:gd name="T98" fmla="*/ 16 w 32"/>
                      <a:gd name="T99" fmla="*/ 0 h 36"/>
                      <a:gd name="T100" fmla="*/ 17 w 32"/>
                      <a:gd name="T101" fmla="*/ 0 h 36"/>
                      <a:gd name="T102" fmla="*/ 18 w 32"/>
                      <a:gd name="T103" fmla="*/ 0 h 36"/>
                      <a:gd name="T104" fmla="*/ 19 w 32"/>
                      <a:gd name="T105" fmla="*/ 0 h 36"/>
                      <a:gd name="T106" fmla="*/ 20 w 32"/>
                      <a:gd name="T107" fmla="*/ 0 h 36"/>
                      <a:gd name="T108" fmla="*/ 22 w 32"/>
                      <a:gd name="T109" fmla="*/ 0 h 36"/>
                      <a:gd name="T110" fmla="*/ 22 w 32"/>
                      <a:gd name="T111" fmla="*/ 1 h 36"/>
                      <a:gd name="T112" fmla="*/ 24 w 32"/>
                      <a:gd name="T113" fmla="*/ 1 h 36"/>
                      <a:gd name="T114" fmla="*/ 26 w 32"/>
                      <a:gd name="T115" fmla="*/ 1 h 36"/>
                      <a:gd name="T116" fmla="*/ 27 w 32"/>
                      <a:gd name="T117" fmla="*/ 2 h 36"/>
                      <a:gd name="T118" fmla="*/ 28 w 32"/>
                      <a:gd name="T119" fmla="*/ 3 h 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60000 65536"/>
                      <a:gd name="T175" fmla="*/ 0 60000 65536"/>
                      <a:gd name="T176" fmla="*/ 0 60000 65536"/>
                      <a:gd name="T177" fmla="*/ 0 60000 65536"/>
                      <a:gd name="T178" fmla="*/ 0 60000 65536"/>
                      <a:gd name="T179" fmla="*/ 0 60000 65536"/>
                      <a:gd name="T180" fmla="*/ 0 w 32"/>
                      <a:gd name="T181" fmla="*/ 0 h 36"/>
                      <a:gd name="T182" fmla="*/ 32 w 32"/>
                      <a:gd name="T183" fmla="*/ 36 h 36"/>
                    </a:gdLst>
                    <a:ahLst/>
                    <a:cxnLst>
                      <a:cxn ang="T120">
                        <a:pos x="T0" y="T1"/>
                      </a:cxn>
                      <a:cxn ang="T121">
                        <a:pos x="T2" y="T3"/>
                      </a:cxn>
                      <a:cxn ang="T122">
                        <a:pos x="T4" y="T5"/>
                      </a:cxn>
                      <a:cxn ang="T123">
                        <a:pos x="T6" y="T7"/>
                      </a:cxn>
                      <a:cxn ang="T124">
                        <a:pos x="T8" y="T9"/>
                      </a:cxn>
                      <a:cxn ang="T125">
                        <a:pos x="T10" y="T11"/>
                      </a:cxn>
                      <a:cxn ang="T126">
                        <a:pos x="T12" y="T13"/>
                      </a:cxn>
                      <a:cxn ang="T127">
                        <a:pos x="T14" y="T15"/>
                      </a:cxn>
                      <a:cxn ang="T128">
                        <a:pos x="T16" y="T17"/>
                      </a:cxn>
                      <a:cxn ang="T129">
                        <a:pos x="T18" y="T19"/>
                      </a:cxn>
                      <a:cxn ang="T130">
                        <a:pos x="T20" y="T21"/>
                      </a:cxn>
                      <a:cxn ang="T131">
                        <a:pos x="T22" y="T23"/>
                      </a:cxn>
                      <a:cxn ang="T132">
                        <a:pos x="T24" y="T25"/>
                      </a:cxn>
                      <a:cxn ang="T133">
                        <a:pos x="T26" y="T27"/>
                      </a:cxn>
                      <a:cxn ang="T134">
                        <a:pos x="T28" y="T29"/>
                      </a:cxn>
                      <a:cxn ang="T135">
                        <a:pos x="T30" y="T31"/>
                      </a:cxn>
                      <a:cxn ang="T136">
                        <a:pos x="T32" y="T33"/>
                      </a:cxn>
                      <a:cxn ang="T137">
                        <a:pos x="T34" y="T35"/>
                      </a:cxn>
                      <a:cxn ang="T138">
                        <a:pos x="T36" y="T37"/>
                      </a:cxn>
                      <a:cxn ang="T139">
                        <a:pos x="T38" y="T39"/>
                      </a:cxn>
                      <a:cxn ang="T140">
                        <a:pos x="T40" y="T41"/>
                      </a:cxn>
                      <a:cxn ang="T141">
                        <a:pos x="T42" y="T43"/>
                      </a:cxn>
                      <a:cxn ang="T142">
                        <a:pos x="T44" y="T45"/>
                      </a:cxn>
                      <a:cxn ang="T143">
                        <a:pos x="T46" y="T47"/>
                      </a:cxn>
                      <a:cxn ang="T144">
                        <a:pos x="T48" y="T49"/>
                      </a:cxn>
                      <a:cxn ang="T145">
                        <a:pos x="T50" y="T51"/>
                      </a:cxn>
                      <a:cxn ang="T146">
                        <a:pos x="T52" y="T53"/>
                      </a:cxn>
                      <a:cxn ang="T147">
                        <a:pos x="T54" y="T55"/>
                      </a:cxn>
                      <a:cxn ang="T148">
                        <a:pos x="T56" y="T57"/>
                      </a:cxn>
                      <a:cxn ang="T149">
                        <a:pos x="T58" y="T59"/>
                      </a:cxn>
                      <a:cxn ang="T150">
                        <a:pos x="T60" y="T61"/>
                      </a:cxn>
                      <a:cxn ang="T151">
                        <a:pos x="T62" y="T63"/>
                      </a:cxn>
                      <a:cxn ang="T152">
                        <a:pos x="T64" y="T65"/>
                      </a:cxn>
                      <a:cxn ang="T153">
                        <a:pos x="T66" y="T67"/>
                      </a:cxn>
                      <a:cxn ang="T154">
                        <a:pos x="T68" y="T69"/>
                      </a:cxn>
                      <a:cxn ang="T155">
                        <a:pos x="T70" y="T71"/>
                      </a:cxn>
                      <a:cxn ang="T156">
                        <a:pos x="T72" y="T73"/>
                      </a:cxn>
                      <a:cxn ang="T157">
                        <a:pos x="T74" y="T75"/>
                      </a:cxn>
                      <a:cxn ang="T158">
                        <a:pos x="T76" y="T77"/>
                      </a:cxn>
                      <a:cxn ang="T159">
                        <a:pos x="T78" y="T79"/>
                      </a:cxn>
                      <a:cxn ang="T160">
                        <a:pos x="T80" y="T81"/>
                      </a:cxn>
                      <a:cxn ang="T161">
                        <a:pos x="T82" y="T83"/>
                      </a:cxn>
                      <a:cxn ang="T162">
                        <a:pos x="T84" y="T85"/>
                      </a:cxn>
                      <a:cxn ang="T163">
                        <a:pos x="T86" y="T87"/>
                      </a:cxn>
                      <a:cxn ang="T164">
                        <a:pos x="T88" y="T89"/>
                      </a:cxn>
                      <a:cxn ang="T165">
                        <a:pos x="T90" y="T91"/>
                      </a:cxn>
                      <a:cxn ang="T166">
                        <a:pos x="T92" y="T93"/>
                      </a:cxn>
                      <a:cxn ang="T167">
                        <a:pos x="T94" y="T95"/>
                      </a:cxn>
                      <a:cxn ang="T168">
                        <a:pos x="T96" y="T97"/>
                      </a:cxn>
                      <a:cxn ang="T169">
                        <a:pos x="T98" y="T99"/>
                      </a:cxn>
                      <a:cxn ang="T170">
                        <a:pos x="T100" y="T101"/>
                      </a:cxn>
                      <a:cxn ang="T171">
                        <a:pos x="T102" y="T103"/>
                      </a:cxn>
                      <a:cxn ang="T172">
                        <a:pos x="T104" y="T105"/>
                      </a:cxn>
                      <a:cxn ang="T173">
                        <a:pos x="T106" y="T107"/>
                      </a:cxn>
                      <a:cxn ang="T174">
                        <a:pos x="T108" y="T109"/>
                      </a:cxn>
                      <a:cxn ang="T175">
                        <a:pos x="T110" y="T111"/>
                      </a:cxn>
                      <a:cxn ang="T176">
                        <a:pos x="T112" y="T113"/>
                      </a:cxn>
                      <a:cxn ang="T177">
                        <a:pos x="T114" y="T115"/>
                      </a:cxn>
                      <a:cxn ang="T178">
                        <a:pos x="T116" y="T117"/>
                      </a:cxn>
                      <a:cxn ang="T179">
                        <a:pos x="T118" y="T119"/>
                      </a:cxn>
                    </a:cxnLst>
                    <a:rect l="T180" t="T181" r="T182" b="T183"/>
                    <a:pathLst>
                      <a:path w="32" h="36">
                        <a:moveTo>
                          <a:pt x="28" y="3"/>
                        </a:moveTo>
                        <a:lnTo>
                          <a:pt x="29" y="3"/>
                        </a:lnTo>
                        <a:lnTo>
                          <a:pt x="30" y="6"/>
                        </a:lnTo>
                        <a:lnTo>
                          <a:pt x="31" y="6"/>
                        </a:lnTo>
                        <a:lnTo>
                          <a:pt x="31" y="9"/>
                        </a:lnTo>
                        <a:lnTo>
                          <a:pt x="31" y="10"/>
                        </a:lnTo>
                        <a:lnTo>
                          <a:pt x="32" y="12"/>
                        </a:lnTo>
                        <a:lnTo>
                          <a:pt x="32" y="13"/>
                        </a:lnTo>
                        <a:lnTo>
                          <a:pt x="32" y="15"/>
                        </a:lnTo>
                        <a:lnTo>
                          <a:pt x="32" y="16"/>
                        </a:lnTo>
                        <a:lnTo>
                          <a:pt x="32" y="17"/>
                        </a:lnTo>
                        <a:lnTo>
                          <a:pt x="31" y="19"/>
                        </a:lnTo>
                        <a:lnTo>
                          <a:pt x="30" y="21"/>
                        </a:lnTo>
                        <a:lnTo>
                          <a:pt x="29" y="24"/>
                        </a:lnTo>
                        <a:lnTo>
                          <a:pt x="28" y="26"/>
                        </a:lnTo>
                        <a:lnTo>
                          <a:pt x="26" y="28"/>
                        </a:lnTo>
                        <a:lnTo>
                          <a:pt x="24" y="31"/>
                        </a:lnTo>
                        <a:lnTo>
                          <a:pt x="22" y="32"/>
                        </a:lnTo>
                        <a:lnTo>
                          <a:pt x="20" y="34"/>
                        </a:lnTo>
                        <a:lnTo>
                          <a:pt x="18" y="35"/>
                        </a:lnTo>
                        <a:lnTo>
                          <a:pt x="16" y="35"/>
                        </a:lnTo>
                        <a:lnTo>
                          <a:pt x="15" y="36"/>
                        </a:lnTo>
                        <a:lnTo>
                          <a:pt x="14" y="36"/>
                        </a:lnTo>
                        <a:lnTo>
                          <a:pt x="13" y="36"/>
                        </a:lnTo>
                        <a:lnTo>
                          <a:pt x="12" y="36"/>
                        </a:lnTo>
                        <a:lnTo>
                          <a:pt x="11" y="36"/>
                        </a:lnTo>
                        <a:lnTo>
                          <a:pt x="9" y="35"/>
                        </a:lnTo>
                        <a:lnTo>
                          <a:pt x="8" y="35"/>
                        </a:lnTo>
                        <a:lnTo>
                          <a:pt x="6" y="34"/>
                        </a:lnTo>
                        <a:lnTo>
                          <a:pt x="4" y="33"/>
                        </a:lnTo>
                        <a:lnTo>
                          <a:pt x="3" y="32"/>
                        </a:lnTo>
                        <a:lnTo>
                          <a:pt x="2" y="31"/>
                        </a:lnTo>
                        <a:lnTo>
                          <a:pt x="2" y="30"/>
                        </a:lnTo>
                        <a:lnTo>
                          <a:pt x="1" y="28"/>
                        </a:lnTo>
                        <a:lnTo>
                          <a:pt x="0" y="26"/>
                        </a:lnTo>
                        <a:lnTo>
                          <a:pt x="0" y="24"/>
                        </a:lnTo>
                        <a:lnTo>
                          <a:pt x="0" y="23"/>
                        </a:lnTo>
                        <a:lnTo>
                          <a:pt x="0" y="21"/>
                        </a:lnTo>
                        <a:lnTo>
                          <a:pt x="1" y="18"/>
                        </a:lnTo>
                        <a:lnTo>
                          <a:pt x="1" y="16"/>
                        </a:lnTo>
                        <a:lnTo>
                          <a:pt x="2" y="14"/>
                        </a:lnTo>
                        <a:lnTo>
                          <a:pt x="4" y="12"/>
                        </a:lnTo>
                        <a:lnTo>
                          <a:pt x="6" y="10"/>
                        </a:lnTo>
                        <a:lnTo>
                          <a:pt x="6" y="6"/>
                        </a:lnTo>
                        <a:lnTo>
                          <a:pt x="9" y="4"/>
                        </a:lnTo>
                        <a:lnTo>
                          <a:pt x="12" y="2"/>
                        </a:lnTo>
                        <a:lnTo>
                          <a:pt x="13" y="1"/>
                        </a:lnTo>
                        <a:lnTo>
                          <a:pt x="16" y="0"/>
                        </a:lnTo>
                        <a:lnTo>
                          <a:pt x="17" y="0"/>
                        </a:lnTo>
                        <a:lnTo>
                          <a:pt x="18" y="0"/>
                        </a:lnTo>
                        <a:lnTo>
                          <a:pt x="19" y="0"/>
                        </a:lnTo>
                        <a:lnTo>
                          <a:pt x="20" y="0"/>
                        </a:lnTo>
                        <a:lnTo>
                          <a:pt x="22" y="0"/>
                        </a:lnTo>
                        <a:lnTo>
                          <a:pt x="22" y="1"/>
                        </a:lnTo>
                        <a:lnTo>
                          <a:pt x="24" y="1"/>
                        </a:lnTo>
                        <a:lnTo>
                          <a:pt x="26" y="1"/>
                        </a:lnTo>
                        <a:lnTo>
                          <a:pt x="27" y="2"/>
                        </a:lnTo>
                        <a:lnTo>
                          <a:pt x="28" y="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5005" name="Group 1044"/>
                  <p:cNvGrpSpPr>
                    <a:grpSpLocks/>
                  </p:cNvGrpSpPr>
                  <p:nvPr/>
                </p:nvGrpSpPr>
                <p:grpSpPr bwMode="auto">
                  <a:xfrm>
                    <a:off x="2547" y="2599"/>
                    <a:ext cx="32" cy="36"/>
                    <a:chOff x="2547" y="2599"/>
                    <a:chExt cx="32" cy="36"/>
                  </a:xfrm>
                </p:grpSpPr>
                <p:sp>
                  <p:nvSpPr>
                    <p:cNvPr id="25034" name="Freeform 1045"/>
                    <p:cNvSpPr>
                      <a:spLocks/>
                    </p:cNvSpPr>
                    <p:nvPr/>
                  </p:nvSpPr>
                  <p:spPr bwMode="auto">
                    <a:xfrm>
                      <a:off x="2547" y="2599"/>
                      <a:ext cx="32" cy="36"/>
                    </a:xfrm>
                    <a:custGeom>
                      <a:avLst/>
                      <a:gdLst>
                        <a:gd name="T0" fmla="*/ 28 w 32"/>
                        <a:gd name="T1" fmla="*/ 3 h 36"/>
                        <a:gd name="T2" fmla="*/ 29 w 32"/>
                        <a:gd name="T3" fmla="*/ 3 h 36"/>
                        <a:gd name="T4" fmla="*/ 30 w 32"/>
                        <a:gd name="T5" fmla="*/ 6 h 36"/>
                        <a:gd name="T6" fmla="*/ 31 w 32"/>
                        <a:gd name="T7" fmla="*/ 6 h 36"/>
                        <a:gd name="T8" fmla="*/ 31 w 32"/>
                        <a:gd name="T9" fmla="*/ 9 h 36"/>
                        <a:gd name="T10" fmla="*/ 31 w 32"/>
                        <a:gd name="T11" fmla="*/ 10 h 36"/>
                        <a:gd name="T12" fmla="*/ 32 w 32"/>
                        <a:gd name="T13" fmla="*/ 12 h 36"/>
                        <a:gd name="T14" fmla="*/ 32 w 32"/>
                        <a:gd name="T15" fmla="*/ 13 h 36"/>
                        <a:gd name="T16" fmla="*/ 32 w 32"/>
                        <a:gd name="T17" fmla="*/ 15 h 36"/>
                        <a:gd name="T18" fmla="*/ 32 w 32"/>
                        <a:gd name="T19" fmla="*/ 16 h 36"/>
                        <a:gd name="T20" fmla="*/ 32 w 32"/>
                        <a:gd name="T21" fmla="*/ 17 h 36"/>
                        <a:gd name="T22" fmla="*/ 31 w 32"/>
                        <a:gd name="T23" fmla="*/ 19 h 36"/>
                        <a:gd name="T24" fmla="*/ 30 w 32"/>
                        <a:gd name="T25" fmla="*/ 21 h 36"/>
                        <a:gd name="T26" fmla="*/ 29 w 32"/>
                        <a:gd name="T27" fmla="*/ 24 h 36"/>
                        <a:gd name="T28" fmla="*/ 28 w 32"/>
                        <a:gd name="T29" fmla="*/ 26 h 36"/>
                        <a:gd name="T30" fmla="*/ 26 w 32"/>
                        <a:gd name="T31" fmla="*/ 28 h 36"/>
                        <a:gd name="T32" fmla="*/ 24 w 32"/>
                        <a:gd name="T33" fmla="*/ 31 h 36"/>
                        <a:gd name="T34" fmla="*/ 22 w 32"/>
                        <a:gd name="T35" fmla="*/ 32 h 36"/>
                        <a:gd name="T36" fmla="*/ 20 w 32"/>
                        <a:gd name="T37" fmla="*/ 34 h 36"/>
                        <a:gd name="T38" fmla="*/ 18 w 32"/>
                        <a:gd name="T39" fmla="*/ 35 h 36"/>
                        <a:gd name="T40" fmla="*/ 16 w 32"/>
                        <a:gd name="T41" fmla="*/ 35 h 36"/>
                        <a:gd name="T42" fmla="*/ 15 w 32"/>
                        <a:gd name="T43" fmla="*/ 36 h 36"/>
                        <a:gd name="T44" fmla="*/ 14 w 32"/>
                        <a:gd name="T45" fmla="*/ 36 h 36"/>
                        <a:gd name="T46" fmla="*/ 13 w 32"/>
                        <a:gd name="T47" fmla="*/ 36 h 36"/>
                        <a:gd name="T48" fmla="*/ 12 w 32"/>
                        <a:gd name="T49" fmla="*/ 36 h 36"/>
                        <a:gd name="T50" fmla="*/ 11 w 32"/>
                        <a:gd name="T51" fmla="*/ 36 h 36"/>
                        <a:gd name="T52" fmla="*/ 9 w 32"/>
                        <a:gd name="T53" fmla="*/ 35 h 36"/>
                        <a:gd name="T54" fmla="*/ 8 w 32"/>
                        <a:gd name="T55" fmla="*/ 35 h 36"/>
                        <a:gd name="T56" fmla="*/ 6 w 32"/>
                        <a:gd name="T57" fmla="*/ 34 h 36"/>
                        <a:gd name="T58" fmla="*/ 6 w 32"/>
                        <a:gd name="T59" fmla="*/ 34 h 36"/>
                        <a:gd name="T60" fmla="*/ 4 w 32"/>
                        <a:gd name="T61" fmla="*/ 33 h 36"/>
                        <a:gd name="T62" fmla="*/ 3 w 32"/>
                        <a:gd name="T63" fmla="*/ 32 h 36"/>
                        <a:gd name="T64" fmla="*/ 2 w 32"/>
                        <a:gd name="T65" fmla="*/ 31 h 36"/>
                        <a:gd name="T66" fmla="*/ 2 w 32"/>
                        <a:gd name="T67" fmla="*/ 30 h 36"/>
                        <a:gd name="T68" fmla="*/ 1 w 32"/>
                        <a:gd name="T69" fmla="*/ 28 h 36"/>
                        <a:gd name="T70" fmla="*/ 1 w 32"/>
                        <a:gd name="T71" fmla="*/ 28 h 36"/>
                        <a:gd name="T72" fmla="*/ 0 w 32"/>
                        <a:gd name="T73" fmla="*/ 26 h 36"/>
                        <a:gd name="T74" fmla="*/ 0 w 32"/>
                        <a:gd name="T75" fmla="*/ 24 h 36"/>
                        <a:gd name="T76" fmla="*/ 0 w 32"/>
                        <a:gd name="T77" fmla="*/ 23 h 36"/>
                        <a:gd name="T78" fmla="*/ 0 w 32"/>
                        <a:gd name="T79" fmla="*/ 21 h 36"/>
                        <a:gd name="T80" fmla="*/ 1 w 32"/>
                        <a:gd name="T81" fmla="*/ 18 h 36"/>
                        <a:gd name="T82" fmla="*/ 1 w 32"/>
                        <a:gd name="T83" fmla="*/ 16 h 36"/>
                        <a:gd name="T84" fmla="*/ 2 w 32"/>
                        <a:gd name="T85" fmla="*/ 14 h 36"/>
                        <a:gd name="T86" fmla="*/ 4 w 32"/>
                        <a:gd name="T87" fmla="*/ 12 h 36"/>
                        <a:gd name="T88" fmla="*/ 6 w 32"/>
                        <a:gd name="T89" fmla="*/ 10 h 36"/>
                        <a:gd name="T90" fmla="*/ 6 w 32"/>
                        <a:gd name="T91" fmla="*/ 6 h 36"/>
                        <a:gd name="T92" fmla="*/ 9 w 32"/>
                        <a:gd name="T93" fmla="*/ 4 h 36"/>
                        <a:gd name="T94" fmla="*/ 12 w 32"/>
                        <a:gd name="T95" fmla="*/ 2 h 36"/>
                        <a:gd name="T96" fmla="*/ 13 w 32"/>
                        <a:gd name="T97" fmla="*/ 1 h 36"/>
                        <a:gd name="T98" fmla="*/ 16 w 32"/>
                        <a:gd name="T99" fmla="*/ 0 h 36"/>
                        <a:gd name="T100" fmla="*/ 17 w 32"/>
                        <a:gd name="T101" fmla="*/ 0 h 36"/>
                        <a:gd name="T102" fmla="*/ 18 w 32"/>
                        <a:gd name="T103" fmla="*/ 0 h 36"/>
                        <a:gd name="T104" fmla="*/ 19 w 32"/>
                        <a:gd name="T105" fmla="*/ 0 h 36"/>
                        <a:gd name="T106" fmla="*/ 20 w 32"/>
                        <a:gd name="T107" fmla="*/ 0 h 36"/>
                        <a:gd name="T108" fmla="*/ 22 w 32"/>
                        <a:gd name="T109" fmla="*/ 0 h 36"/>
                        <a:gd name="T110" fmla="*/ 22 w 32"/>
                        <a:gd name="T111" fmla="*/ 1 h 36"/>
                        <a:gd name="T112" fmla="*/ 24 w 32"/>
                        <a:gd name="T113" fmla="*/ 1 h 36"/>
                        <a:gd name="T114" fmla="*/ 26 w 32"/>
                        <a:gd name="T115" fmla="*/ 1 h 36"/>
                        <a:gd name="T116" fmla="*/ 27 w 32"/>
                        <a:gd name="T117" fmla="*/ 2 h 36"/>
                        <a:gd name="T118" fmla="*/ 28 w 32"/>
                        <a:gd name="T119" fmla="*/ 3 h 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w 32"/>
                        <a:gd name="T181" fmla="*/ 0 h 36"/>
                        <a:gd name="T182" fmla="*/ 32 w 32"/>
                        <a:gd name="T183" fmla="*/ 36 h 36"/>
                      </a:gdLst>
                      <a:ahLst/>
                      <a:cxnLst>
                        <a:cxn ang="T120">
                          <a:pos x="T0" y="T1"/>
                        </a:cxn>
                        <a:cxn ang="T121">
                          <a:pos x="T2" y="T3"/>
                        </a:cxn>
                        <a:cxn ang="T122">
                          <a:pos x="T4" y="T5"/>
                        </a:cxn>
                        <a:cxn ang="T123">
                          <a:pos x="T6" y="T7"/>
                        </a:cxn>
                        <a:cxn ang="T124">
                          <a:pos x="T8" y="T9"/>
                        </a:cxn>
                        <a:cxn ang="T125">
                          <a:pos x="T10" y="T11"/>
                        </a:cxn>
                        <a:cxn ang="T126">
                          <a:pos x="T12" y="T13"/>
                        </a:cxn>
                        <a:cxn ang="T127">
                          <a:pos x="T14" y="T15"/>
                        </a:cxn>
                        <a:cxn ang="T128">
                          <a:pos x="T16" y="T17"/>
                        </a:cxn>
                        <a:cxn ang="T129">
                          <a:pos x="T18" y="T19"/>
                        </a:cxn>
                        <a:cxn ang="T130">
                          <a:pos x="T20" y="T21"/>
                        </a:cxn>
                        <a:cxn ang="T131">
                          <a:pos x="T22" y="T23"/>
                        </a:cxn>
                        <a:cxn ang="T132">
                          <a:pos x="T24" y="T25"/>
                        </a:cxn>
                        <a:cxn ang="T133">
                          <a:pos x="T26" y="T27"/>
                        </a:cxn>
                        <a:cxn ang="T134">
                          <a:pos x="T28" y="T29"/>
                        </a:cxn>
                        <a:cxn ang="T135">
                          <a:pos x="T30" y="T31"/>
                        </a:cxn>
                        <a:cxn ang="T136">
                          <a:pos x="T32" y="T33"/>
                        </a:cxn>
                        <a:cxn ang="T137">
                          <a:pos x="T34" y="T35"/>
                        </a:cxn>
                        <a:cxn ang="T138">
                          <a:pos x="T36" y="T37"/>
                        </a:cxn>
                        <a:cxn ang="T139">
                          <a:pos x="T38" y="T39"/>
                        </a:cxn>
                        <a:cxn ang="T140">
                          <a:pos x="T40" y="T41"/>
                        </a:cxn>
                        <a:cxn ang="T141">
                          <a:pos x="T42" y="T43"/>
                        </a:cxn>
                        <a:cxn ang="T142">
                          <a:pos x="T44" y="T45"/>
                        </a:cxn>
                        <a:cxn ang="T143">
                          <a:pos x="T46" y="T47"/>
                        </a:cxn>
                        <a:cxn ang="T144">
                          <a:pos x="T48" y="T49"/>
                        </a:cxn>
                        <a:cxn ang="T145">
                          <a:pos x="T50" y="T51"/>
                        </a:cxn>
                        <a:cxn ang="T146">
                          <a:pos x="T52" y="T53"/>
                        </a:cxn>
                        <a:cxn ang="T147">
                          <a:pos x="T54" y="T55"/>
                        </a:cxn>
                        <a:cxn ang="T148">
                          <a:pos x="T56" y="T57"/>
                        </a:cxn>
                        <a:cxn ang="T149">
                          <a:pos x="T58" y="T59"/>
                        </a:cxn>
                        <a:cxn ang="T150">
                          <a:pos x="T60" y="T61"/>
                        </a:cxn>
                        <a:cxn ang="T151">
                          <a:pos x="T62" y="T63"/>
                        </a:cxn>
                        <a:cxn ang="T152">
                          <a:pos x="T64" y="T65"/>
                        </a:cxn>
                        <a:cxn ang="T153">
                          <a:pos x="T66" y="T67"/>
                        </a:cxn>
                        <a:cxn ang="T154">
                          <a:pos x="T68" y="T69"/>
                        </a:cxn>
                        <a:cxn ang="T155">
                          <a:pos x="T70" y="T71"/>
                        </a:cxn>
                        <a:cxn ang="T156">
                          <a:pos x="T72" y="T73"/>
                        </a:cxn>
                        <a:cxn ang="T157">
                          <a:pos x="T74" y="T75"/>
                        </a:cxn>
                        <a:cxn ang="T158">
                          <a:pos x="T76" y="T77"/>
                        </a:cxn>
                        <a:cxn ang="T159">
                          <a:pos x="T78" y="T79"/>
                        </a:cxn>
                        <a:cxn ang="T160">
                          <a:pos x="T80" y="T81"/>
                        </a:cxn>
                        <a:cxn ang="T161">
                          <a:pos x="T82" y="T83"/>
                        </a:cxn>
                        <a:cxn ang="T162">
                          <a:pos x="T84" y="T85"/>
                        </a:cxn>
                        <a:cxn ang="T163">
                          <a:pos x="T86" y="T87"/>
                        </a:cxn>
                        <a:cxn ang="T164">
                          <a:pos x="T88" y="T89"/>
                        </a:cxn>
                        <a:cxn ang="T165">
                          <a:pos x="T90" y="T91"/>
                        </a:cxn>
                        <a:cxn ang="T166">
                          <a:pos x="T92" y="T93"/>
                        </a:cxn>
                        <a:cxn ang="T167">
                          <a:pos x="T94" y="T95"/>
                        </a:cxn>
                        <a:cxn ang="T168">
                          <a:pos x="T96" y="T97"/>
                        </a:cxn>
                        <a:cxn ang="T169">
                          <a:pos x="T98" y="T99"/>
                        </a:cxn>
                        <a:cxn ang="T170">
                          <a:pos x="T100" y="T101"/>
                        </a:cxn>
                        <a:cxn ang="T171">
                          <a:pos x="T102" y="T103"/>
                        </a:cxn>
                        <a:cxn ang="T172">
                          <a:pos x="T104" y="T105"/>
                        </a:cxn>
                        <a:cxn ang="T173">
                          <a:pos x="T106" y="T107"/>
                        </a:cxn>
                        <a:cxn ang="T174">
                          <a:pos x="T108" y="T109"/>
                        </a:cxn>
                        <a:cxn ang="T175">
                          <a:pos x="T110" y="T111"/>
                        </a:cxn>
                        <a:cxn ang="T176">
                          <a:pos x="T112" y="T113"/>
                        </a:cxn>
                        <a:cxn ang="T177">
                          <a:pos x="T114" y="T115"/>
                        </a:cxn>
                        <a:cxn ang="T178">
                          <a:pos x="T116" y="T117"/>
                        </a:cxn>
                        <a:cxn ang="T179">
                          <a:pos x="T118" y="T119"/>
                        </a:cxn>
                      </a:cxnLst>
                      <a:rect l="T180" t="T181" r="T182" b="T183"/>
                      <a:pathLst>
                        <a:path w="32" h="36">
                          <a:moveTo>
                            <a:pt x="28" y="3"/>
                          </a:moveTo>
                          <a:lnTo>
                            <a:pt x="29" y="3"/>
                          </a:lnTo>
                          <a:lnTo>
                            <a:pt x="30" y="6"/>
                          </a:lnTo>
                          <a:lnTo>
                            <a:pt x="31" y="6"/>
                          </a:lnTo>
                          <a:lnTo>
                            <a:pt x="31" y="9"/>
                          </a:lnTo>
                          <a:lnTo>
                            <a:pt x="31" y="10"/>
                          </a:lnTo>
                          <a:lnTo>
                            <a:pt x="32" y="12"/>
                          </a:lnTo>
                          <a:lnTo>
                            <a:pt x="32" y="13"/>
                          </a:lnTo>
                          <a:lnTo>
                            <a:pt x="32" y="15"/>
                          </a:lnTo>
                          <a:lnTo>
                            <a:pt x="32" y="16"/>
                          </a:lnTo>
                          <a:lnTo>
                            <a:pt x="32" y="17"/>
                          </a:lnTo>
                          <a:lnTo>
                            <a:pt x="31" y="19"/>
                          </a:lnTo>
                          <a:lnTo>
                            <a:pt x="30" y="21"/>
                          </a:lnTo>
                          <a:lnTo>
                            <a:pt x="29" y="24"/>
                          </a:lnTo>
                          <a:lnTo>
                            <a:pt x="28" y="26"/>
                          </a:lnTo>
                          <a:lnTo>
                            <a:pt x="26" y="28"/>
                          </a:lnTo>
                          <a:lnTo>
                            <a:pt x="24" y="31"/>
                          </a:lnTo>
                          <a:lnTo>
                            <a:pt x="22" y="32"/>
                          </a:lnTo>
                          <a:lnTo>
                            <a:pt x="20" y="34"/>
                          </a:lnTo>
                          <a:lnTo>
                            <a:pt x="18" y="35"/>
                          </a:lnTo>
                          <a:lnTo>
                            <a:pt x="16" y="35"/>
                          </a:lnTo>
                          <a:lnTo>
                            <a:pt x="15" y="36"/>
                          </a:lnTo>
                          <a:lnTo>
                            <a:pt x="14" y="36"/>
                          </a:lnTo>
                          <a:lnTo>
                            <a:pt x="13" y="36"/>
                          </a:lnTo>
                          <a:lnTo>
                            <a:pt x="12" y="36"/>
                          </a:lnTo>
                          <a:lnTo>
                            <a:pt x="11" y="36"/>
                          </a:lnTo>
                          <a:lnTo>
                            <a:pt x="9" y="35"/>
                          </a:lnTo>
                          <a:lnTo>
                            <a:pt x="8" y="35"/>
                          </a:lnTo>
                          <a:lnTo>
                            <a:pt x="6" y="34"/>
                          </a:lnTo>
                          <a:lnTo>
                            <a:pt x="4" y="33"/>
                          </a:lnTo>
                          <a:lnTo>
                            <a:pt x="3" y="32"/>
                          </a:lnTo>
                          <a:lnTo>
                            <a:pt x="2" y="31"/>
                          </a:lnTo>
                          <a:lnTo>
                            <a:pt x="2" y="30"/>
                          </a:lnTo>
                          <a:lnTo>
                            <a:pt x="1" y="28"/>
                          </a:lnTo>
                          <a:lnTo>
                            <a:pt x="0" y="26"/>
                          </a:lnTo>
                          <a:lnTo>
                            <a:pt x="0" y="24"/>
                          </a:lnTo>
                          <a:lnTo>
                            <a:pt x="0" y="23"/>
                          </a:lnTo>
                          <a:lnTo>
                            <a:pt x="0" y="21"/>
                          </a:lnTo>
                          <a:lnTo>
                            <a:pt x="1" y="18"/>
                          </a:lnTo>
                          <a:lnTo>
                            <a:pt x="1" y="16"/>
                          </a:lnTo>
                          <a:lnTo>
                            <a:pt x="2" y="14"/>
                          </a:lnTo>
                          <a:lnTo>
                            <a:pt x="4" y="12"/>
                          </a:lnTo>
                          <a:lnTo>
                            <a:pt x="6" y="10"/>
                          </a:lnTo>
                          <a:lnTo>
                            <a:pt x="6" y="6"/>
                          </a:lnTo>
                          <a:lnTo>
                            <a:pt x="9" y="4"/>
                          </a:lnTo>
                          <a:lnTo>
                            <a:pt x="12" y="2"/>
                          </a:lnTo>
                          <a:lnTo>
                            <a:pt x="13" y="1"/>
                          </a:lnTo>
                          <a:lnTo>
                            <a:pt x="16" y="0"/>
                          </a:lnTo>
                          <a:lnTo>
                            <a:pt x="17" y="0"/>
                          </a:lnTo>
                          <a:lnTo>
                            <a:pt x="18" y="0"/>
                          </a:lnTo>
                          <a:lnTo>
                            <a:pt x="19" y="0"/>
                          </a:lnTo>
                          <a:lnTo>
                            <a:pt x="20" y="0"/>
                          </a:lnTo>
                          <a:lnTo>
                            <a:pt x="22" y="0"/>
                          </a:lnTo>
                          <a:lnTo>
                            <a:pt x="22" y="1"/>
                          </a:lnTo>
                          <a:lnTo>
                            <a:pt x="24" y="1"/>
                          </a:lnTo>
                          <a:lnTo>
                            <a:pt x="26" y="1"/>
                          </a:lnTo>
                          <a:lnTo>
                            <a:pt x="27" y="2"/>
                          </a:lnTo>
                          <a:lnTo>
                            <a:pt x="28" y="3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035" name="Freeform 1046"/>
                    <p:cNvSpPr>
                      <a:spLocks/>
                    </p:cNvSpPr>
                    <p:nvPr/>
                  </p:nvSpPr>
                  <p:spPr bwMode="auto">
                    <a:xfrm>
                      <a:off x="2547" y="2599"/>
                      <a:ext cx="32" cy="36"/>
                    </a:xfrm>
                    <a:custGeom>
                      <a:avLst/>
                      <a:gdLst>
                        <a:gd name="T0" fmla="*/ 28 w 32"/>
                        <a:gd name="T1" fmla="*/ 3 h 36"/>
                        <a:gd name="T2" fmla="*/ 29 w 32"/>
                        <a:gd name="T3" fmla="*/ 3 h 36"/>
                        <a:gd name="T4" fmla="*/ 30 w 32"/>
                        <a:gd name="T5" fmla="*/ 6 h 36"/>
                        <a:gd name="T6" fmla="*/ 31 w 32"/>
                        <a:gd name="T7" fmla="*/ 6 h 36"/>
                        <a:gd name="T8" fmla="*/ 31 w 32"/>
                        <a:gd name="T9" fmla="*/ 9 h 36"/>
                        <a:gd name="T10" fmla="*/ 31 w 32"/>
                        <a:gd name="T11" fmla="*/ 10 h 36"/>
                        <a:gd name="T12" fmla="*/ 32 w 32"/>
                        <a:gd name="T13" fmla="*/ 12 h 36"/>
                        <a:gd name="T14" fmla="*/ 32 w 32"/>
                        <a:gd name="T15" fmla="*/ 13 h 36"/>
                        <a:gd name="T16" fmla="*/ 32 w 32"/>
                        <a:gd name="T17" fmla="*/ 15 h 36"/>
                        <a:gd name="T18" fmla="*/ 32 w 32"/>
                        <a:gd name="T19" fmla="*/ 16 h 36"/>
                        <a:gd name="T20" fmla="*/ 32 w 32"/>
                        <a:gd name="T21" fmla="*/ 17 h 36"/>
                        <a:gd name="T22" fmla="*/ 31 w 32"/>
                        <a:gd name="T23" fmla="*/ 19 h 36"/>
                        <a:gd name="T24" fmla="*/ 30 w 32"/>
                        <a:gd name="T25" fmla="*/ 21 h 36"/>
                        <a:gd name="T26" fmla="*/ 29 w 32"/>
                        <a:gd name="T27" fmla="*/ 24 h 36"/>
                        <a:gd name="T28" fmla="*/ 28 w 32"/>
                        <a:gd name="T29" fmla="*/ 26 h 36"/>
                        <a:gd name="T30" fmla="*/ 26 w 32"/>
                        <a:gd name="T31" fmla="*/ 28 h 36"/>
                        <a:gd name="T32" fmla="*/ 24 w 32"/>
                        <a:gd name="T33" fmla="*/ 31 h 36"/>
                        <a:gd name="T34" fmla="*/ 22 w 32"/>
                        <a:gd name="T35" fmla="*/ 32 h 36"/>
                        <a:gd name="T36" fmla="*/ 20 w 32"/>
                        <a:gd name="T37" fmla="*/ 34 h 36"/>
                        <a:gd name="T38" fmla="*/ 18 w 32"/>
                        <a:gd name="T39" fmla="*/ 35 h 36"/>
                        <a:gd name="T40" fmla="*/ 16 w 32"/>
                        <a:gd name="T41" fmla="*/ 35 h 36"/>
                        <a:gd name="T42" fmla="*/ 15 w 32"/>
                        <a:gd name="T43" fmla="*/ 36 h 36"/>
                        <a:gd name="T44" fmla="*/ 14 w 32"/>
                        <a:gd name="T45" fmla="*/ 36 h 36"/>
                        <a:gd name="T46" fmla="*/ 13 w 32"/>
                        <a:gd name="T47" fmla="*/ 36 h 36"/>
                        <a:gd name="T48" fmla="*/ 12 w 32"/>
                        <a:gd name="T49" fmla="*/ 36 h 36"/>
                        <a:gd name="T50" fmla="*/ 11 w 32"/>
                        <a:gd name="T51" fmla="*/ 36 h 36"/>
                        <a:gd name="T52" fmla="*/ 9 w 32"/>
                        <a:gd name="T53" fmla="*/ 35 h 36"/>
                        <a:gd name="T54" fmla="*/ 8 w 32"/>
                        <a:gd name="T55" fmla="*/ 35 h 36"/>
                        <a:gd name="T56" fmla="*/ 6 w 32"/>
                        <a:gd name="T57" fmla="*/ 34 h 36"/>
                        <a:gd name="T58" fmla="*/ 6 w 32"/>
                        <a:gd name="T59" fmla="*/ 34 h 36"/>
                        <a:gd name="T60" fmla="*/ 4 w 32"/>
                        <a:gd name="T61" fmla="*/ 33 h 36"/>
                        <a:gd name="T62" fmla="*/ 3 w 32"/>
                        <a:gd name="T63" fmla="*/ 32 h 36"/>
                        <a:gd name="T64" fmla="*/ 2 w 32"/>
                        <a:gd name="T65" fmla="*/ 31 h 36"/>
                        <a:gd name="T66" fmla="*/ 2 w 32"/>
                        <a:gd name="T67" fmla="*/ 30 h 36"/>
                        <a:gd name="T68" fmla="*/ 1 w 32"/>
                        <a:gd name="T69" fmla="*/ 28 h 36"/>
                        <a:gd name="T70" fmla="*/ 1 w 32"/>
                        <a:gd name="T71" fmla="*/ 28 h 36"/>
                        <a:gd name="T72" fmla="*/ 0 w 32"/>
                        <a:gd name="T73" fmla="*/ 26 h 36"/>
                        <a:gd name="T74" fmla="*/ 0 w 32"/>
                        <a:gd name="T75" fmla="*/ 24 h 36"/>
                        <a:gd name="T76" fmla="*/ 0 w 32"/>
                        <a:gd name="T77" fmla="*/ 23 h 36"/>
                        <a:gd name="T78" fmla="*/ 0 w 32"/>
                        <a:gd name="T79" fmla="*/ 21 h 36"/>
                        <a:gd name="T80" fmla="*/ 1 w 32"/>
                        <a:gd name="T81" fmla="*/ 18 h 36"/>
                        <a:gd name="T82" fmla="*/ 1 w 32"/>
                        <a:gd name="T83" fmla="*/ 16 h 36"/>
                        <a:gd name="T84" fmla="*/ 2 w 32"/>
                        <a:gd name="T85" fmla="*/ 14 h 36"/>
                        <a:gd name="T86" fmla="*/ 4 w 32"/>
                        <a:gd name="T87" fmla="*/ 12 h 36"/>
                        <a:gd name="T88" fmla="*/ 6 w 32"/>
                        <a:gd name="T89" fmla="*/ 10 h 36"/>
                        <a:gd name="T90" fmla="*/ 6 w 32"/>
                        <a:gd name="T91" fmla="*/ 6 h 36"/>
                        <a:gd name="T92" fmla="*/ 9 w 32"/>
                        <a:gd name="T93" fmla="*/ 4 h 36"/>
                        <a:gd name="T94" fmla="*/ 12 w 32"/>
                        <a:gd name="T95" fmla="*/ 2 h 36"/>
                        <a:gd name="T96" fmla="*/ 13 w 32"/>
                        <a:gd name="T97" fmla="*/ 1 h 36"/>
                        <a:gd name="T98" fmla="*/ 16 w 32"/>
                        <a:gd name="T99" fmla="*/ 0 h 36"/>
                        <a:gd name="T100" fmla="*/ 17 w 32"/>
                        <a:gd name="T101" fmla="*/ 0 h 36"/>
                        <a:gd name="T102" fmla="*/ 18 w 32"/>
                        <a:gd name="T103" fmla="*/ 0 h 36"/>
                        <a:gd name="T104" fmla="*/ 19 w 32"/>
                        <a:gd name="T105" fmla="*/ 0 h 36"/>
                        <a:gd name="T106" fmla="*/ 20 w 32"/>
                        <a:gd name="T107" fmla="*/ 0 h 36"/>
                        <a:gd name="T108" fmla="*/ 22 w 32"/>
                        <a:gd name="T109" fmla="*/ 0 h 36"/>
                        <a:gd name="T110" fmla="*/ 22 w 32"/>
                        <a:gd name="T111" fmla="*/ 1 h 36"/>
                        <a:gd name="T112" fmla="*/ 24 w 32"/>
                        <a:gd name="T113" fmla="*/ 1 h 36"/>
                        <a:gd name="T114" fmla="*/ 26 w 32"/>
                        <a:gd name="T115" fmla="*/ 1 h 36"/>
                        <a:gd name="T116" fmla="*/ 27 w 32"/>
                        <a:gd name="T117" fmla="*/ 2 h 36"/>
                        <a:gd name="T118" fmla="*/ 28 w 32"/>
                        <a:gd name="T119" fmla="*/ 3 h 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w 32"/>
                        <a:gd name="T181" fmla="*/ 0 h 36"/>
                        <a:gd name="T182" fmla="*/ 32 w 32"/>
                        <a:gd name="T183" fmla="*/ 36 h 36"/>
                      </a:gdLst>
                      <a:ahLst/>
                      <a:cxnLst>
                        <a:cxn ang="T120">
                          <a:pos x="T0" y="T1"/>
                        </a:cxn>
                        <a:cxn ang="T121">
                          <a:pos x="T2" y="T3"/>
                        </a:cxn>
                        <a:cxn ang="T122">
                          <a:pos x="T4" y="T5"/>
                        </a:cxn>
                        <a:cxn ang="T123">
                          <a:pos x="T6" y="T7"/>
                        </a:cxn>
                        <a:cxn ang="T124">
                          <a:pos x="T8" y="T9"/>
                        </a:cxn>
                        <a:cxn ang="T125">
                          <a:pos x="T10" y="T11"/>
                        </a:cxn>
                        <a:cxn ang="T126">
                          <a:pos x="T12" y="T13"/>
                        </a:cxn>
                        <a:cxn ang="T127">
                          <a:pos x="T14" y="T15"/>
                        </a:cxn>
                        <a:cxn ang="T128">
                          <a:pos x="T16" y="T17"/>
                        </a:cxn>
                        <a:cxn ang="T129">
                          <a:pos x="T18" y="T19"/>
                        </a:cxn>
                        <a:cxn ang="T130">
                          <a:pos x="T20" y="T21"/>
                        </a:cxn>
                        <a:cxn ang="T131">
                          <a:pos x="T22" y="T23"/>
                        </a:cxn>
                        <a:cxn ang="T132">
                          <a:pos x="T24" y="T25"/>
                        </a:cxn>
                        <a:cxn ang="T133">
                          <a:pos x="T26" y="T27"/>
                        </a:cxn>
                        <a:cxn ang="T134">
                          <a:pos x="T28" y="T29"/>
                        </a:cxn>
                        <a:cxn ang="T135">
                          <a:pos x="T30" y="T31"/>
                        </a:cxn>
                        <a:cxn ang="T136">
                          <a:pos x="T32" y="T33"/>
                        </a:cxn>
                        <a:cxn ang="T137">
                          <a:pos x="T34" y="T35"/>
                        </a:cxn>
                        <a:cxn ang="T138">
                          <a:pos x="T36" y="T37"/>
                        </a:cxn>
                        <a:cxn ang="T139">
                          <a:pos x="T38" y="T39"/>
                        </a:cxn>
                        <a:cxn ang="T140">
                          <a:pos x="T40" y="T41"/>
                        </a:cxn>
                        <a:cxn ang="T141">
                          <a:pos x="T42" y="T43"/>
                        </a:cxn>
                        <a:cxn ang="T142">
                          <a:pos x="T44" y="T45"/>
                        </a:cxn>
                        <a:cxn ang="T143">
                          <a:pos x="T46" y="T47"/>
                        </a:cxn>
                        <a:cxn ang="T144">
                          <a:pos x="T48" y="T49"/>
                        </a:cxn>
                        <a:cxn ang="T145">
                          <a:pos x="T50" y="T51"/>
                        </a:cxn>
                        <a:cxn ang="T146">
                          <a:pos x="T52" y="T53"/>
                        </a:cxn>
                        <a:cxn ang="T147">
                          <a:pos x="T54" y="T55"/>
                        </a:cxn>
                        <a:cxn ang="T148">
                          <a:pos x="T56" y="T57"/>
                        </a:cxn>
                        <a:cxn ang="T149">
                          <a:pos x="T58" y="T59"/>
                        </a:cxn>
                        <a:cxn ang="T150">
                          <a:pos x="T60" y="T61"/>
                        </a:cxn>
                        <a:cxn ang="T151">
                          <a:pos x="T62" y="T63"/>
                        </a:cxn>
                        <a:cxn ang="T152">
                          <a:pos x="T64" y="T65"/>
                        </a:cxn>
                        <a:cxn ang="T153">
                          <a:pos x="T66" y="T67"/>
                        </a:cxn>
                        <a:cxn ang="T154">
                          <a:pos x="T68" y="T69"/>
                        </a:cxn>
                        <a:cxn ang="T155">
                          <a:pos x="T70" y="T71"/>
                        </a:cxn>
                        <a:cxn ang="T156">
                          <a:pos x="T72" y="T73"/>
                        </a:cxn>
                        <a:cxn ang="T157">
                          <a:pos x="T74" y="T75"/>
                        </a:cxn>
                        <a:cxn ang="T158">
                          <a:pos x="T76" y="T77"/>
                        </a:cxn>
                        <a:cxn ang="T159">
                          <a:pos x="T78" y="T79"/>
                        </a:cxn>
                        <a:cxn ang="T160">
                          <a:pos x="T80" y="T81"/>
                        </a:cxn>
                        <a:cxn ang="T161">
                          <a:pos x="T82" y="T83"/>
                        </a:cxn>
                        <a:cxn ang="T162">
                          <a:pos x="T84" y="T85"/>
                        </a:cxn>
                        <a:cxn ang="T163">
                          <a:pos x="T86" y="T87"/>
                        </a:cxn>
                        <a:cxn ang="T164">
                          <a:pos x="T88" y="T89"/>
                        </a:cxn>
                        <a:cxn ang="T165">
                          <a:pos x="T90" y="T91"/>
                        </a:cxn>
                        <a:cxn ang="T166">
                          <a:pos x="T92" y="T93"/>
                        </a:cxn>
                        <a:cxn ang="T167">
                          <a:pos x="T94" y="T95"/>
                        </a:cxn>
                        <a:cxn ang="T168">
                          <a:pos x="T96" y="T97"/>
                        </a:cxn>
                        <a:cxn ang="T169">
                          <a:pos x="T98" y="T99"/>
                        </a:cxn>
                        <a:cxn ang="T170">
                          <a:pos x="T100" y="T101"/>
                        </a:cxn>
                        <a:cxn ang="T171">
                          <a:pos x="T102" y="T103"/>
                        </a:cxn>
                        <a:cxn ang="T172">
                          <a:pos x="T104" y="T105"/>
                        </a:cxn>
                        <a:cxn ang="T173">
                          <a:pos x="T106" y="T107"/>
                        </a:cxn>
                        <a:cxn ang="T174">
                          <a:pos x="T108" y="T109"/>
                        </a:cxn>
                        <a:cxn ang="T175">
                          <a:pos x="T110" y="T111"/>
                        </a:cxn>
                        <a:cxn ang="T176">
                          <a:pos x="T112" y="T113"/>
                        </a:cxn>
                        <a:cxn ang="T177">
                          <a:pos x="T114" y="T115"/>
                        </a:cxn>
                        <a:cxn ang="T178">
                          <a:pos x="T116" y="T117"/>
                        </a:cxn>
                        <a:cxn ang="T179">
                          <a:pos x="T118" y="T119"/>
                        </a:cxn>
                      </a:cxnLst>
                      <a:rect l="T180" t="T181" r="T182" b="T183"/>
                      <a:pathLst>
                        <a:path w="32" h="36">
                          <a:moveTo>
                            <a:pt x="28" y="3"/>
                          </a:moveTo>
                          <a:lnTo>
                            <a:pt x="29" y="3"/>
                          </a:lnTo>
                          <a:lnTo>
                            <a:pt x="30" y="6"/>
                          </a:lnTo>
                          <a:lnTo>
                            <a:pt x="31" y="6"/>
                          </a:lnTo>
                          <a:lnTo>
                            <a:pt x="31" y="9"/>
                          </a:lnTo>
                          <a:lnTo>
                            <a:pt x="31" y="10"/>
                          </a:lnTo>
                          <a:lnTo>
                            <a:pt x="32" y="12"/>
                          </a:lnTo>
                          <a:lnTo>
                            <a:pt x="32" y="13"/>
                          </a:lnTo>
                          <a:lnTo>
                            <a:pt x="32" y="15"/>
                          </a:lnTo>
                          <a:lnTo>
                            <a:pt x="32" y="16"/>
                          </a:lnTo>
                          <a:lnTo>
                            <a:pt x="32" y="17"/>
                          </a:lnTo>
                          <a:lnTo>
                            <a:pt x="31" y="19"/>
                          </a:lnTo>
                          <a:lnTo>
                            <a:pt x="30" y="21"/>
                          </a:lnTo>
                          <a:lnTo>
                            <a:pt x="29" y="24"/>
                          </a:lnTo>
                          <a:lnTo>
                            <a:pt x="28" y="26"/>
                          </a:lnTo>
                          <a:lnTo>
                            <a:pt x="26" y="28"/>
                          </a:lnTo>
                          <a:lnTo>
                            <a:pt x="24" y="31"/>
                          </a:lnTo>
                          <a:lnTo>
                            <a:pt x="22" y="32"/>
                          </a:lnTo>
                          <a:lnTo>
                            <a:pt x="20" y="34"/>
                          </a:lnTo>
                          <a:lnTo>
                            <a:pt x="18" y="35"/>
                          </a:lnTo>
                          <a:lnTo>
                            <a:pt x="16" y="35"/>
                          </a:lnTo>
                          <a:lnTo>
                            <a:pt x="15" y="36"/>
                          </a:lnTo>
                          <a:lnTo>
                            <a:pt x="14" y="36"/>
                          </a:lnTo>
                          <a:lnTo>
                            <a:pt x="13" y="36"/>
                          </a:lnTo>
                          <a:lnTo>
                            <a:pt x="12" y="36"/>
                          </a:lnTo>
                          <a:lnTo>
                            <a:pt x="11" y="36"/>
                          </a:lnTo>
                          <a:lnTo>
                            <a:pt x="9" y="35"/>
                          </a:lnTo>
                          <a:lnTo>
                            <a:pt x="8" y="35"/>
                          </a:lnTo>
                          <a:lnTo>
                            <a:pt x="6" y="34"/>
                          </a:lnTo>
                          <a:lnTo>
                            <a:pt x="4" y="33"/>
                          </a:lnTo>
                          <a:lnTo>
                            <a:pt x="3" y="32"/>
                          </a:lnTo>
                          <a:lnTo>
                            <a:pt x="2" y="31"/>
                          </a:lnTo>
                          <a:lnTo>
                            <a:pt x="2" y="30"/>
                          </a:lnTo>
                          <a:lnTo>
                            <a:pt x="1" y="28"/>
                          </a:lnTo>
                          <a:lnTo>
                            <a:pt x="0" y="26"/>
                          </a:lnTo>
                          <a:lnTo>
                            <a:pt x="0" y="24"/>
                          </a:lnTo>
                          <a:lnTo>
                            <a:pt x="0" y="23"/>
                          </a:lnTo>
                          <a:lnTo>
                            <a:pt x="0" y="21"/>
                          </a:lnTo>
                          <a:lnTo>
                            <a:pt x="1" y="18"/>
                          </a:lnTo>
                          <a:lnTo>
                            <a:pt x="1" y="16"/>
                          </a:lnTo>
                          <a:lnTo>
                            <a:pt x="2" y="14"/>
                          </a:lnTo>
                          <a:lnTo>
                            <a:pt x="4" y="12"/>
                          </a:lnTo>
                          <a:lnTo>
                            <a:pt x="6" y="10"/>
                          </a:lnTo>
                          <a:lnTo>
                            <a:pt x="6" y="6"/>
                          </a:lnTo>
                          <a:lnTo>
                            <a:pt x="9" y="4"/>
                          </a:lnTo>
                          <a:lnTo>
                            <a:pt x="12" y="2"/>
                          </a:lnTo>
                          <a:lnTo>
                            <a:pt x="13" y="1"/>
                          </a:lnTo>
                          <a:lnTo>
                            <a:pt x="16" y="0"/>
                          </a:lnTo>
                          <a:lnTo>
                            <a:pt x="17" y="0"/>
                          </a:lnTo>
                          <a:lnTo>
                            <a:pt x="18" y="0"/>
                          </a:lnTo>
                          <a:lnTo>
                            <a:pt x="19" y="0"/>
                          </a:lnTo>
                          <a:lnTo>
                            <a:pt x="20" y="0"/>
                          </a:lnTo>
                          <a:lnTo>
                            <a:pt x="22" y="0"/>
                          </a:lnTo>
                          <a:lnTo>
                            <a:pt x="22" y="1"/>
                          </a:lnTo>
                          <a:lnTo>
                            <a:pt x="24" y="1"/>
                          </a:lnTo>
                          <a:lnTo>
                            <a:pt x="26" y="1"/>
                          </a:lnTo>
                          <a:lnTo>
                            <a:pt x="27" y="2"/>
                          </a:lnTo>
                          <a:lnTo>
                            <a:pt x="28" y="3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5006" name="Freeform 1047"/>
                  <p:cNvSpPr>
                    <a:spLocks/>
                  </p:cNvSpPr>
                  <p:nvPr/>
                </p:nvSpPr>
                <p:spPr bwMode="auto">
                  <a:xfrm>
                    <a:off x="2560" y="2603"/>
                    <a:ext cx="15" cy="14"/>
                  </a:xfrm>
                  <a:custGeom>
                    <a:avLst/>
                    <a:gdLst>
                      <a:gd name="T0" fmla="*/ 15 w 15"/>
                      <a:gd name="T1" fmla="*/ 14 h 14"/>
                      <a:gd name="T2" fmla="*/ 15 w 15"/>
                      <a:gd name="T3" fmla="*/ 14 h 14"/>
                      <a:gd name="T4" fmla="*/ 13 w 15"/>
                      <a:gd name="T5" fmla="*/ 13 h 14"/>
                      <a:gd name="T6" fmla="*/ 11 w 15"/>
                      <a:gd name="T7" fmla="*/ 12 h 14"/>
                      <a:gd name="T8" fmla="*/ 10 w 15"/>
                      <a:gd name="T9" fmla="*/ 11 h 14"/>
                      <a:gd name="T10" fmla="*/ 8 w 15"/>
                      <a:gd name="T11" fmla="*/ 10 h 14"/>
                      <a:gd name="T12" fmla="*/ 6 w 15"/>
                      <a:gd name="T13" fmla="*/ 7 h 14"/>
                      <a:gd name="T14" fmla="*/ 6 w 15"/>
                      <a:gd name="T15" fmla="*/ 6 h 14"/>
                      <a:gd name="T16" fmla="*/ 3 w 15"/>
                      <a:gd name="T17" fmla="*/ 5 h 14"/>
                      <a:gd name="T18" fmla="*/ 2 w 15"/>
                      <a:gd name="T19" fmla="*/ 4 h 14"/>
                      <a:gd name="T20" fmla="*/ 1 w 15"/>
                      <a:gd name="T21" fmla="*/ 1 h 14"/>
                      <a:gd name="T22" fmla="*/ 0 w 15"/>
                      <a:gd name="T23" fmla="*/ 0 h 14"/>
                      <a:gd name="T24" fmla="*/ 1 w 15"/>
                      <a:gd name="T25" fmla="*/ 1 h 14"/>
                      <a:gd name="T26" fmla="*/ 3 w 15"/>
                      <a:gd name="T27" fmla="*/ 2 h 14"/>
                      <a:gd name="T28" fmla="*/ 4 w 15"/>
                      <a:gd name="T29" fmla="*/ 4 h 14"/>
                      <a:gd name="T30" fmla="*/ 6 w 15"/>
                      <a:gd name="T31" fmla="*/ 5 h 14"/>
                      <a:gd name="T32" fmla="*/ 8 w 15"/>
                      <a:gd name="T33" fmla="*/ 7 h 14"/>
                      <a:gd name="T34" fmla="*/ 9 w 15"/>
                      <a:gd name="T35" fmla="*/ 9 h 14"/>
                      <a:gd name="T36" fmla="*/ 10 w 15"/>
                      <a:gd name="T37" fmla="*/ 10 h 14"/>
                      <a:gd name="T38" fmla="*/ 11 w 15"/>
                      <a:gd name="T39" fmla="*/ 11 h 14"/>
                      <a:gd name="T40" fmla="*/ 14 w 15"/>
                      <a:gd name="T41" fmla="*/ 13 h 14"/>
                      <a:gd name="T42" fmla="*/ 15 w 15"/>
                      <a:gd name="T43" fmla="*/ 14 h 14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5"/>
                      <a:gd name="T67" fmla="*/ 0 h 14"/>
                      <a:gd name="T68" fmla="*/ 15 w 15"/>
                      <a:gd name="T69" fmla="*/ 14 h 14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5" h="14">
                        <a:moveTo>
                          <a:pt x="15" y="14"/>
                        </a:moveTo>
                        <a:lnTo>
                          <a:pt x="15" y="14"/>
                        </a:lnTo>
                        <a:lnTo>
                          <a:pt x="13" y="13"/>
                        </a:lnTo>
                        <a:lnTo>
                          <a:pt x="11" y="12"/>
                        </a:lnTo>
                        <a:lnTo>
                          <a:pt x="10" y="11"/>
                        </a:lnTo>
                        <a:lnTo>
                          <a:pt x="8" y="10"/>
                        </a:lnTo>
                        <a:lnTo>
                          <a:pt x="6" y="7"/>
                        </a:lnTo>
                        <a:lnTo>
                          <a:pt x="6" y="6"/>
                        </a:lnTo>
                        <a:lnTo>
                          <a:pt x="3" y="5"/>
                        </a:lnTo>
                        <a:lnTo>
                          <a:pt x="2" y="4"/>
                        </a:lnTo>
                        <a:lnTo>
                          <a:pt x="1" y="1"/>
                        </a:lnTo>
                        <a:lnTo>
                          <a:pt x="0" y="0"/>
                        </a:lnTo>
                        <a:lnTo>
                          <a:pt x="1" y="1"/>
                        </a:lnTo>
                        <a:lnTo>
                          <a:pt x="3" y="2"/>
                        </a:lnTo>
                        <a:lnTo>
                          <a:pt x="4" y="4"/>
                        </a:lnTo>
                        <a:lnTo>
                          <a:pt x="6" y="5"/>
                        </a:lnTo>
                        <a:lnTo>
                          <a:pt x="8" y="7"/>
                        </a:lnTo>
                        <a:lnTo>
                          <a:pt x="9" y="9"/>
                        </a:lnTo>
                        <a:lnTo>
                          <a:pt x="10" y="10"/>
                        </a:lnTo>
                        <a:lnTo>
                          <a:pt x="11" y="11"/>
                        </a:lnTo>
                        <a:lnTo>
                          <a:pt x="14" y="13"/>
                        </a:lnTo>
                        <a:lnTo>
                          <a:pt x="15" y="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5007" name="Group 1048"/>
                  <p:cNvGrpSpPr>
                    <a:grpSpLocks/>
                  </p:cNvGrpSpPr>
                  <p:nvPr/>
                </p:nvGrpSpPr>
                <p:grpSpPr bwMode="auto">
                  <a:xfrm>
                    <a:off x="2560" y="2603"/>
                    <a:ext cx="15" cy="14"/>
                    <a:chOff x="2560" y="2603"/>
                    <a:chExt cx="15" cy="14"/>
                  </a:xfrm>
                </p:grpSpPr>
                <p:sp>
                  <p:nvSpPr>
                    <p:cNvPr id="25032" name="Freeform 1049"/>
                    <p:cNvSpPr>
                      <a:spLocks/>
                    </p:cNvSpPr>
                    <p:nvPr/>
                  </p:nvSpPr>
                  <p:spPr bwMode="auto">
                    <a:xfrm>
                      <a:off x="2560" y="2603"/>
                      <a:ext cx="15" cy="14"/>
                    </a:xfrm>
                    <a:custGeom>
                      <a:avLst/>
                      <a:gdLst>
                        <a:gd name="T0" fmla="*/ 15 w 15"/>
                        <a:gd name="T1" fmla="*/ 14 h 14"/>
                        <a:gd name="T2" fmla="*/ 15 w 15"/>
                        <a:gd name="T3" fmla="*/ 14 h 14"/>
                        <a:gd name="T4" fmla="*/ 13 w 15"/>
                        <a:gd name="T5" fmla="*/ 13 h 14"/>
                        <a:gd name="T6" fmla="*/ 11 w 15"/>
                        <a:gd name="T7" fmla="*/ 12 h 14"/>
                        <a:gd name="T8" fmla="*/ 10 w 15"/>
                        <a:gd name="T9" fmla="*/ 11 h 14"/>
                        <a:gd name="T10" fmla="*/ 8 w 15"/>
                        <a:gd name="T11" fmla="*/ 10 h 14"/>
                        <a:gd name="T12" fmla="*/ 6 w 15"/>
                        <a:gd name="T13" fmla="*/ 7 h 14"/>
                        <a:gd name="T14" fmla="*/ 6 w 15"/>
                        <a:gd name="T15" fmla="*/ 6 h 14"/>
                        <a:gd name="T16" fmla="*/ 3 w 15"/>
                        <a:gd name="T17" fmla="*/ 5 h 14"/>
                        <a:gd name="T18" fmla="*/ 2 w 15"/>
                        <a:gd name="T19" fmla="*/ 4 h 14"/>
                        <a:gd name="T20" fmla="*/ 1 w 15"/>
                        <a:gd name="T21" fmla="*/ 1 h 14"/>
                        <a:gd name="T22" fmla="*/ 0 w 15"/>
                        <a:gd name="T23" fmla="*/ 0 h 14"/>
                        <a:gd name="T24" fmla="*/ 1 w 15"/>
                        <a:gd name="T25" fmla="*/ 1 h 14"/>
                        <a:gd name="T26" fmla="*/ 3 w 15"/>
                        <a:gd name="T27" fmla="*/ 2 h 14"/>
                        <a:gd name="T28" fmla="*/ 4 w 15"/>
                        <a:gd name="T29" fmla="*/ 4 h 14"/>
                        <a:gd name="T30" fmla="*/ 6 w 15"/>
                        <a:gd name="T31" fmla="*/ 5 h 14"/>
                        <a:gd name="T32" fmla="*/ 8 w 15"/>
                        <a:gd name="T33" fmla="*/ 7 h 14"/>
                        <a:gd name="T34" fmla="*/ 9 w 15"/>
                        <a:gd name="T35" fmla="*/ 9 h 14"/>
                        <a:gd name="T36" fmla="*/ 10 w 15"/>
                        <a:gd name="T37" fmla="*/ 10 h 14"/>
                        <a:gd name="T38" fmla="*/ 11 w 15"/>
                        <a:gd name="T39" fmla="*/ 11 h 14"/>
                        <a:gd name="T40" fmla="*/ 14 w 15"/>
                        <a:gd name="T41" fmla="*/ 13 h 14"/>
                        <a:gd name="T42" fmla="*/ 15 w 15"/>
                        <a:gd name="T43" fmla="*/ 14 h 14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w 15"/>
                        <a:gd name="T67" fmla="*/ 0 h 14"/>
                        <a:gd name="T68" fmla="*/ 15 w 15"/>
                        <a:gd name="T69" fmla="*/ 14 h 14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T66" t="T67" r="T68" b="T69"/>
                      <a:pathLst>
                        <a:path w="15" h="14">
                          <a:moveTo>
                            <a:pt x="15" y="14"/>
                          </a:moveTo>
                          <a:lnTo>
                            <a:pt x="15" y="14"/>
                          </a:lnTo>
                          <a:lnTo>
                            <a:pt x="13" y="13"/>
                          </a:lnTo>
                          <a:lnTo>
                            <a:pt x="11" y="12"/>
                          </a:lnTo>
                          <a:lnTo>
                            <a:pt x="10" y="11"/>
                          </a:lnTo>
                          <a:lnTo>
                            <a:pt x="8" y="10"/>
                          </a:lnTo>
                          <a:lnTo>
                            <a:pt x="6" y="7"/>
                          </a:lnTo>
                          <a:lnTo>
                            <a:pt x="6" y="6"/>
                          </a:lnTo>
                          <a:lnTo>
                            <a:pt x="3" y="5"/>
                          </a:lnTo>
                          <a:lnTo>
                            <a:pt x="2" y="4"/>
                          </a:lnTo>
                          <a:lnTo>
                            <a:pt x="1" y="1"/>
                          </a:lnTo>
                          <a:lnTo>
                            <a:pt x="0" y="0"/>
                          </a:lnTo>
                          <a:lnTo>
                            <a:pt x="1" y="1"/>
                          </a:lnTo>
                          <a:lnTo>
                            <a:pt x="3" y="2"/>
                          </a:lnTo>
                          <a:lnTo>
                            <a:pt x="4" y="4"/>
                          </a:lnTo>
                          <a:lnTo>
                            <a:pt x="6" y="5"/>
                          </a:lnTo>
                          <a:lnTo>
                            <a:pt x="8" y="7"/>
                          </a:lnTo>
                          <a:lnTo>
                            <a:pt x="9" y="9"/>
                          </a:lnTo>
                          <a:lnTo>
                            <a:pt x="10" y="10"/>
                          </a:lnTo>
                          <a:lnTo>
                            <a:pt x="11" y="11"/>
                          </a:lnTo>
                          <a:lnTo>
                            <a:pt x="14" y="13"/>
                          </a:lnTo>
                          <a:lnTo>
                            <a:pt x="15" y="1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033" name="Freeform 1050"/>
                    <p:cNvSpPr>
                      <a:spLocks/>
                    </p:cNvSpPr>
                    <p:nvPr/>
                  </p:nvSpPr>
                  <p:spPr bwMode="auto">
                    <a:xfrm>
                      <a:off x="2560" y="2603"/>
                      <a:ext cx="15" cy="14"/>
                    </a:xfrm>
                    <a:custGeom>
                      <a:avLst/>
                      <a:gdLst>
                        <a:gd name="T0" fmla="*/ 15 w 15"/>
                        <a:gd name="T1" fmla="*/ 14 h 14"/>
                        <a:gd name="T2" fmla="*/ 15 w 15"/>
                        <a:gd name="T3" fmla="*/ 14 h 14"/>
                        <a:gd name="T4" fmla="*/ 13 w 15"/>
                        <a:gd name="T5" fmla="*/ 13 h 14"/>
                        <a:gd name="T6" fmla="*/ 11 w 15"/>
                        <a:gd name="T7" fmla="*/ 12 h 14"/>
                        <a:gd name="T8" fmla="*/ 10 w 15"/>
                        <a:gd name="T9" fmla="*/ 11 h 14"/>
                        <a:gd name="T10" fmla="*/ 8 w 15"/>
                        <a:gd name="T11" fmla="*/ 10 h 14"/>
                        <a:gd name="T12" fmla="*/ 6 w 15"/>
                        <a:gd name="T13" fmla="*/ 7 h 14"/>
                        <a:gd name="T14" fmla="*/ 6 w 15"/>
                        <a:gd name="T15" fmla="*/ 6 h 14"/>
                        <a:gd name="T16" fmla="*/ 3 w 15"/>
                        <a:gd name="T17" fmla="*/ 5 h 14"/>
                        <a:gd name="T18" fmla="*/ 2 w 15"/>
                        <a:gd name="T19" fmla="*/ 4 h 14"/>
                        <a:gd name="T20" fmla="*/ 1 w 15"/>
                        <a:gd name="T21" fmla="*/ 1 h 14"/>
                        <a:gd name="T22" fmla="*/ 0 w 15"/>
                        <a:gd name="T23" fmla="*/ 0 h 14"/>
                        <a:gd name="T24" fmla="*/ 1 w 15"/>
                        <a:gd name="T25" fmla="*/ 1 h 14"/>
                        <a:gd name="T26" fmla="*/ 3 w 15"/>
                        <a:gd name="T27" fmla="*/ 2 h 14"/>
                        <a:gd name="T28" fmla="*/ 4 w 15"/>
                        <a:gd name="T29" fmla="*/ 4 h 14"/>
                        <a:gd name="T30" fmla="*/ 6 w 15"/>
                        <a:gd name="T31" fmla="*/ 5 h 14"/>
                        <a:gd name="T32" fmla="*/ 8 w 15"/>
                        <a:gd name="T33" fmla="*/ 7 h 14"/>
                        <a:gd name="T34" fmla="*/ 9 w 15"/>
                        <a:gd name="T35" fmla="*/ 9 h 14"/>
                        <a:gd name="T36" fmla="*/ 10 w 15"/>
                        <a:gd name="T37" fmla="*/ 10 h 14"/>
                        <a:gd name="T38" fmla="*/ 11 w 15"/>
                        <a:gd name="T39" fmla="*/ 11 h 14"/>
                        <a:gd name="T40" fmla="*/ 14 w 15"/>
                        <a:gd name="T41" fmla="*/ 13 h 14"/>
                        <a:gd name="T42" fmla="*/ 15 w 15"/>
                        <a:gd name="T43" fmla="*/ 14 h 14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w 15"/>
                        <a:gd name="T67" fmla="*/ 0 h 14"/>
                        <a:gd name="T68" fmla="*/ 15 w 15"/>
                        <a:gd name="T69" fmla="*/ 14 h 14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T66" t="T67" r="T68" b="T69"/>
                      <a:pathLst>
                        <a:path w="15" h="14">
                          <a:moveTo>
                            <a:pt x="15" y="14"/>
                          </a:moveTo>
                          <a:lnTo>
                            <a:pt x="15" y="14"/>
                          </a:lnTo>
                          <a:lnTo>
                            <a:pt x="13" y="13"/>
                          </a:lnTo>
                          <a:lnTo>
                            <a:pt x="11" y="12"/>
                          </a:lnTo>
                          <a:lnTo>
                            <a:pt x="10" y="11"/>
                          </a:lnTo>
                          <a:lnTo>
                            <a:pt x="8" y="10"/>
                          </a:lnTo>
                          <a:lnTo>
                            <a:pt x="6" y="7"/>
                          </a:lnTo>
                          <a:lnTo>
                            <a:pt x="6" y="6"/>
                          </a:lnTo>
                          <a:lnTo>
                            <a:pt x="3" y="5"/>
                          </a:lnTo>
                          <a:lnTo>
                            <a:pt x="2" y="4"/>
                          </a:lnTo>
                          <a:lnTo>
                            <a:pt x="1" y="1"/>
                          </a:lnTo>
                          <a:lnTo>
                            <a:pt x="0" y="0"/>
                          </a:lnTo>
                          <a:lnTo>
                            <a:pt x="1" y="1"/>
                          </a:lnTo>
                          <a:lnTo>
                            <a:pt x="3" y="2"/>
                          </a:lnTo>
                          <a:lnTo>
                            <a:pt x="4" y="4"/>
                          </a:lnTo>
                          <a:lnTo>
                            <a:pt x="6" y="5"/>
                          </a:lnTo>
                          <a:lnTo>
                            <a:pt x="8" y="7"/>
                          </a:lnTo>
                          <a:lnTo>
                            <a:pt x="9" y="9"/>
                          </a:lnTo>
                          <a:lnTo>
                            <a:pt x="10" y="10"/>
                          </a:lnTo>
                          <a:lnTo>
                            <a:pt x="11" y="11"/>
                          </a:lnTo>
                          <a:lnTo>
                            <a:pt x="14" y="13"/>
                          </a:lnTo>
                          <a:lnTo>
                            <a:pt x="15" y="14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5008" name="Freeform 1051"/>
                  <p:cNvSpPr>
                    <a:spLocks/>
                  </p:cNvSpPr>
                  <p:nvPr/>
                </p:nvSpPr>
                <p:spPr bwMode="auto">
                  <a:xfrm>
                    <a:off x="2569" y="2619"/>
                    <a:ext cx="30" cy="33"/>
                  </a:xfrm>
                  <a:custGeom>
                    <a:avLst/>
                    <a:gdLst>
                      <a:gd name="T0" fmla="*/ 29 w 30"/>
                      <a:gd name="T1" fmla="*/ 8 h 33"/>
                      <a:gd name="T2" fmla="*/ 30 w 30"/>
                      <a:gd name="T3" fmla="*/ 11 h 33"/>
                      <a:gd name="T4" fmla="*/ 30 w 30"/>
                      <a:gd name="T5" fmla="*/ 13 h 33"/>
                      <a:gd name="T6" fmla="*/ 30 w 30"/>
                      <a:gd name="T7" fmla="*/ 16 h 33"/>
                      <a:gd name="T8" fmla="*/ 29 w 30"/>
                      <a:gd name="T9" fmla="*/ 19 h 33"/>
                      <a:gd name="T10" fmla="*/ 29 w 30"/>
                      <a:gd name="T11" fmla="*/ 21 h 33"/>
                      <a:gd name="T12" fmla="*/ 28 w 30"/>
                      <a:gd name="T13" fmla="*/ 24 h 33"/>
                      <a:gd name="T14" fmla="*/ 27 w 30"/>
                      <a:gd name="T15" fmla="*/ 24 h 33"/>
                      <a:gd name="T16" fmla="*/ 25 w 30"/>
                      <a:gd name="T17" fmla="*/ 27 h 33"/>
                      <a:gd name="T18" fmla="*/ 24 w 30"/>
                      <a:gd name="T19" fmla="*/ 29 h 33"/>
                      <a:gd name="T20" fmla="*/ 23 w 30"/>
                      <a:gd name="T21" fmla="*/ 31 h 33"/>
                      <a:gd name="T22" fmla="*/ 21 w 30"/>
                      <a:gd name="T23" fmla="*/ 31 h 33"/>
                      <a:gd name="T24" fmla="*/ 20 w 30"/>
                      <a:gd name="T25" fmla="*/ 32 h 33"/>
                      <a:gd name="T26" fmla="*/ 18 w 30"/>
                      <a:gd name="T27" fmla="*/ 32 h 33"/>
                      <a:gd name="T28" fmla="*/ 17 w 30"/>
                      <a:gd name="T29" fmla="*/ 33 h 33"/>
                      <a:gd name="T30" fmla="*/ 16 w 30"/>
                      <a:gd name="T31" fmla="*/ 33 h 33"/>
                      <a:gd name="T32" fmla="*/ 14 w 30"/>
                      <a:gd name="T33" fmla="*/ 33 h 33"/>
                      <a:gd name="T34" fmla="*/ 13 w 30"/>
                      <a:gd name="T35" fmla="*/ 33 h 33"/>
                      <a:gd name="T36" fmla="*/ 12 w 30"/>
                      <a:gd name="T37" fmla="*/ 33 h 33"/>
                      <a:gd name="T38" fmla="*/ 11 w 30"/>
                      <a:gd name="T39" fmla="*/ 33 h 33"/>
                      <a:gd name="T40" fmla="*/ 10 w 30"/>
                      <a:gd name="T41" fmla="*/ 33 h 33"/>
                      <a:gd name="T42" fmla="*/ 9 w 30"/>
                      <a:gd name="T43" fmla="*/ 32 h 33"/>
                      <a:gd name="T44" fmla="*/ 7 w 30"/>
                      <a:gd name="T45" fmla="*/ 32 h 33"/>
                      <a:gd name="T46" fmla="*/ 7 w 30"/>
                      <a:gd name="T47" fmla="*/ 31 h 33"/>
                      <a:gd name="T48" fmla="*/ 5 w 30"/>
                      <a:gd name="T49" fmla="*/ 30 h 33"/>
                      <a:gd name="T50" fmla="*/ 4 w 30"/>
                      <a:gd name="T51" fmla="*/ 29 h 33"/>
                      <a:gd name="T52" fmla="*/ 2 w 30"/>
                      <a:gd name="T53" fmla="*/ 29 h 33"/>
                      <a:gd name="T54" fmla="*/ 2 w 30"/>
                      <a:gd name="T55" fmla="*/ 28 h 33"/>
                      <a:gd name="T56" fmla="*/ 1 w 30"/>
                      <a:gd name="T57" fmla="*/ 27 h 33"/>
                      <a:gd name="T58" fmla="*/ 1 w 30"/>
                      <a:gd name="T59" fmla="*/ 26 h 33"/>
                      <a:gd name="T60" fmla="*/ 0 w 30"/>
                      <a:gd name="T61" fmla="*/ 24 h 33"/>
                      <a:gd name="T62" fmla="*/ 0 w 30"/>
                      <a:gd name="T63" fmla="*/ 20 h 33"/>
                      <a:gd name="T64" fmla="*/ 0 w 30"/>
                      <a:gd name="T65" fmla="*/ 17 h 33"/>
                      <a:gd name="T66" fmla="*/ 1 w 30"/>
                      <a:gd name="T67" fmla="*/ 16 h 33"/>
                      <a:gd name="T68" fmla="*/ 1 w 30"/>
                      <a:gd name="T69" fmla="*/ 14 h 33"/>
                      <a:gd name="T70" fmla="*/ 2 w 30"/>
                      <a:gd name="T71" fmla="*/ 12 h 33"/>
                      <a:gd name="T72" fmla="*/ 4 w 30"/>
                      <a:gd name="T73" fmla="*/ 10 h 33"/>
                      <a:gd name="T74" fmla="*/ 7 w 30"/>
                      <a:gd name="T75" fmla="*/ 8 h 33"/>
                      <a:gd name="T76" fmla="*/ 7 w 30"/>
                      <a:gd name="T77" fmla="*/ 6 h 33"/>
                      <a:gd name="T78" fmla="*/ 9 w 30"/>
                      <a:gd name="T79" fmla="*/ 4 h 33"/>
                      <a:gd name="T80" fmla="*/ 11 w 30"/>
                      <a:gd name="T81" fmla="*/ 3 h 33"/>
                      <a:gd name="T82" fmla="*/ 13 w 30"/>
                      <a:gd name="T83" fmla="*/ 1 h 33"/>
                      <a:gd name="T84" fmla="*/ 15 w 30"/>
                      <a:gd name="T85" fmla="*/ 0 h 33"/>
                      <a:gd name="T86" fmla="*/ 17 w 30"/>
                      <a:gd name="T87" fmla="*/ 0 h 33"/>
                      <a:gd name="T88" fmla="*/ 20 w 30"/>
                      <a:gd name="T89" fmla="*/ 0 h 33"/>
                      <a:gd name="T90" fmla="*/ 23 w 30"/>
                      <a:gd name="T91" fmla="*/ 1 h 33"/>
                      <a:gd name="T92" fmla="*/ 25 w 30"/>
                      <a:gd name="T93" fmla="*/ 3 h 33"/>
                      <a:gd name="T94" fmla="*/ 27 w 30"/>
                      <a:gd name="T95" fmla="*/ 4 h 33"/>
                      <a:gd name="T96" fmla="*/ 28 w 30"/>
                      <a:gd name="T97" fmla="*/ 6 h 33"/>
                      <a:gd name="T98" fmla="*/ 29 w 30"/>
                      <a:gd name="T99" fmla="*/ 8 h 33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w 30"/>
                      <a:gd name="T151" fmla="*/ 0 h 33"/>
                      <a:gd name="T152" fmla="*/ 30 w 30"/>
                      <a:gd name="T153" fmla="*/ 33 h 33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T150" t="T151" r="T152" b="T153"/>
                    <a:pathLst>
                      <a:path w="30" h="33">
                        <a:moveTo>
                          <a:pt x="29" y="8"/>
                        </a:moveTo>
                        <a:lnTo>
                          <a:pt x="30" y="11"/>
                        </a:lnTo>
                        <a:lnTo>
                          <a:pt x="30" y="13"/>
                        </a:lnTo>
                        <a:lnTo>
                          <a:pt x="30" y="16"/>
                        </a:lnTo>
                        <a:lnTo>
                          <a:pt x="29" y="19"/>
                        </a:lnTo>
                        <a:lnTo>
                          <a:pt x="29" y="21"/>
                        </a:lnTo>
                        <a:lnTo>
                          <a:pt x="28" y="24"/>
                        </a:lnTo>
                        <a:lnTo>
                          <a:pt x="27" y="24"/>
                        </a:lnTo>
                        <a:lnTo>
                          <a:pt x="25" y="27"/>
                        </a:lnTo>
                        <a:lnTo>
                          <a:pt x="24" y="29"/>
                        </a:lnTo>
                        <a:lnTo>
                          <a:pt x="23" y="31"/>
                        </a:lnTo>
                        <a:lnTo>
                          <a:pt x="21" y="31"/>
                        </a:lnTo>
                        <a:lnTo>
                          <a:pt x="20" y="32"/>
                        </a:lnTo>
                        <a:lnTo>
                          <a:pt x="18" y="32"/>
                        </a:lnTo>
                        <a:lnTo>
                          <a:pt x="17" y="33"/>
                        </a:lnTo>
                        <a:lnTo>
                          <a:pt x="16" y="33"/>
                        </a:lnTo>
                        <a:lnTo>
                          <a:pt x="14" y="33"/>
                        </a:lnTo>
                        <a:lnTo>
                          <a:pt x="13" y="33"/>
                        </a:lnTo>
                        <a:lnTo>
                          <a:pt x="12" y="33"/>
                        </a:lnTo>
                        <a:lnTo>
                          <a:pt x="11" y="33"/>
                        </a:lnTo>
                        <a:lnTo>
                          <a:pt x="10" y="33"/>
                        </a:lnTo>
                        <a:lnTo>
                          <a:pt x="9" y="32"/>
                        </a:lnTo>
                        <a:lnTo>
                          <a:pt x="7" y="32"/>
                        </a:lnTo>
                        <a:lnTo>
                          <a:pt x="7" y="31"/>
                        </a:lnTo>
                        <a:lnTo>
                          <a:pt x="5" y="30"/>
                        </a:lnTo>
                        <a:lnTo>
                          <a:pt x="4" y="29"/>
                        </a:lnTo>
                        <a:lnTo>
                          <a:pt x="2" y="29"/>
                        </a:lnTo>
                        <a:lnTo>
                          <a:pt x="2" y="28"/>
                        </a:lnTo>
                        <a:lnTo>
                          <a:pt x="1" y="27"/>
                        </a:lnTo>
                        <a:lnTo>
                          <a:pt x="1" y="26"/>
                        </a:lnTo>
                        <a:lnTo>
                          <a:pt x="0" y="24"/>
                        </a:lnTo>
                        <a:lnTo>
                          <a:pt x="0" y="20"/>
                        </a:lnTo>
                        <a:lnTo>
                          <a:pt x="0" y="17"/>
                        </a:lnTo>
                        <a:lnTo>
                          <a:pt x="1" y="16"/>
                        </a:lnTo>
                        <a:lnTo>
                          <a:pt x="1" y="14"/>
                        </a:lnTo>
                        <a:lnTo>
                          <a:pt x="2" y="12"/>
                        </a:lnTo>
                        <a:lnTo>
                          <a:pt x="4" y="10"/>
                        </a:lnTo>
                        <a:lnTo>
                          <a:pt x="7" y="8"/>
                        </a:lnTo>
                        <a:lnTo>
                          <a:pt x="7" y="6"/>
                        </a:lnTo>
                        <a:lnTo>
                          <a:pt x="9" y="4"/>
                        </a:lnTo>
                        <a:lnTo>
                          <a:pt x="11" y="3"/>
                        </a:lnTo>
                        <a:lnTo>
                          <a:pt x="13" y="1"/>
                        </a:lnTo>
                        <a:lnTo>
                          <a:pt x="15" y="0"/>
                        </a:lnTo>
                        <a:lnTo>
                          <a:pt x="17" y="0"/>
                        </a:lnTo>
                        <a:lnTo>
                          <a:pt x="20" y="0"/>
                        </a:lnTo>
                        <a:lnTo>
                          <a:pt x="23" y="1"/>
                        </a:lnTo>
                        <a:lnTo>
                          <a:pt x="25" y="3"/>
                        </a:lnTo>
                        <a:lnTo>
                          <a:pt x="27" y="4"/>
                        </a:lnTo>
                        <a:lnTo>
                          <a:pt x="28" y="6"/>
                        </a:lnTo>
                        <a:lnTo>
                          <a:pt x="29" y="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5009" name="Group 1052"/>
                  <p:cNvGrpSpPr>
                    <a:grpSpLocks/>
                  </p:cNvGrpSpPr>
                  <p:nvPr/>
                </p:nvGrpSpPr>
                <p:grpSpPr bwMode="auto">
                  <a:xfrm>
                    <a:off x="2569" y="2619"/>
                    <a:ext cx="30" cy="33"/>
                    <a:chOff x="2569" y="2619"/>
                    <a:chExt cx="30" cy="33"/>
                  </a:xfrm>
                </p:grpSpPr>
                <p:sp>
                  <p:nvSpPr>
                    <p:cNvPr id="25030" name="Freeform 1053"/>
                    <p:cNvSpPr>
                      <a:spLocks/>
                    </p:cNvSpPr>
                    <p:nvPr/>
                  </p:nvSpPr>
                  <p:spPr bwMode="auto">
                    <a:xfrm>
                      <a:off x="2569" y="2619"/>
                      <a:ext cx="30" cy="33"/>
                    </a:xfrm>
                    <a:custGeom>
                      <a:avLst/>
                      <a:gdLst>
                        <a:gd name="T0" fmla="*/ 29 w 30"/>
                        <a:gd name="T1" fmla="*/ 8 h 33"/>
                        <a:gd name="T2" fmla="*/ 30 w 30"/>
                        <a:gd name="T3" fmla="*/ 11 h 33"/>
                        <a:gd name="T4" fmla="*/ 30 w 30"/>
                        <a:gd name="T5" fmla="*/ 13 h 33"/>
                        <a:gd name="T6" fmla="*/ 30 w 30"/>
                        <a:gd name="T7" fmla="*/ 16 h 33"/>
                        <a:gd name="T8" fmla="*/ 29 w 30"/>
                        <a:gd name="T9" fmla="*/ 19 h 33"/>
                        <a:gd name="T10" fmla="*/ 29 w 30"/>
                        <a:gd name="T11" fmla="*/ 21 h 33"/>
                        <a:gd name="T12" fmla="*/ 28 w 30"/>
                        <a:gd name="T13" fmla="*/ 24 h 33"/>
                        <a:gd name="T14" fmla="*/ 27 w 30"/>
                        <a:gd name="T15" fmla="*/ 24 h 33"/>
                        <a:gd name="T16" fmla="*/ 25 w 30"/>
                        <a:gd name="T17" fmla="*/ 27 h 33"/>
                        <a:gd name="T18" fmla="*/ 24 w 30"/>
                        <a:gd name="T19" fmla="*/ 29 h 33"/>
                        <a:gd name="T20" fmla="*/ 23 w 30"/>
                        <a:gd name="T21" fmla="*/ 31 h 33"/>
                        <a:gd name="T22" fmla="*/ 21 w 30"/>
                        <a:gd name="T23" fmla="*/ 31 h 33"/>
                        <a:gd name="T24" fmla="*/ 20 w 30"/>
                        <a:gd name="T25" fmla="*/ 32 h 33"/>
                        <a:gd name="T26" fmla="*/ 18 w 30"/>
                        <a:gd name="T27" fmla="*/ 32 h 33"/>
                        <a:gd name="T28" fmla="*/ 17 w 30"/>
                        <a:gd name="T29" fmla="*/ 33 h 33"/>
                        <a:gd name="T30" fmla="*/ 16 w 30"/>
                        <a:gd name="T31" fmla="*/ 33 h 33"/>
                        <a:gd name="T32" fmla="*/ 14 w 30"/>
                        <a:gd name="T33" fmla="*/ 33 h 33"/>
                        <a:gd name="T34" fmla="*/ 13 w 30"/>
                        <a:gd name="T35" fmla="*/ 33 h 33"/>
                        <a:gd name="T36" fmla="*/ 12 w 30"/>
                        <a:gd name="T37" fmla="*/ 33 h 33"/>
                        <a:gd name="T38" fmla="*/ 11 w 30"/>
                        <a:gd name="T39" fmla="*/ 33 h 33"/>
                        <a:gd name="T40" fmla="*/ 10 w 30"/>
                        <a:gd name="T41" fmla="*/ 33 h 33"/>
                        <a:gd name="T42" fmla="*/ 9 w 30"/>
                        <a:gd name="T43" fmla="*/ 32 h 33"/>
                        <a:gd name="T44" fmla="*/ 7 w 30"/>
                        <a:gd name="T45" fmla="*/ 32 h 33"/>
                        <a:gd name="T46" fmla="*/ 7 w 30"/>
                        <a:gd name="T47" fmla="*/ 31 h 33"/>
                        <a:gd name="T48" fmla="*/ 5 w 30"/>
                        <a:gd name="T49" fmla="*/ 30 h 33"/>
                        <a:gd name="T50" fmla="*/ 4 w 30"/>
                        <a:gd name="T51" fmla="*/ 29 h 33"/>
                        <a:gd name="T52" fmla="*/ 2 w 30"/>
                        <a:gd name="T53" fmla="*/ 29 h 33"/>
                        <a:gd name="T54" fmla="*/ 2 w 30"/>
                        <a:gd name="T55" fmla="*/ 28 h 33"/>
                        <a:gd name="T56" fmla="*/ 1 w 30"/>
                        <a:gd name="T57" fmla="*/ 27 h 33"/>
                        <a:gd name="T58" fmla="*/ 1 w 30"/>
                        <a:gd name="T59" fmla="*/ 26 h 33"/>
                        <a:gd name="T60" fmla="*/ 0 w 30"/>
                        <a:gd name="T61" fmla="*/ 24 h 33"/>
                        <a:gd name="T62" fmla="*/ 0 w 30"/>
                        <a:gd name="T63" fmla="*/ 20 h 33"/>
                        <a:gd name="T64" fmla="*/ 0 w 30"/>
                        <a:gd name="T65" fmla="*/ 17 h 33"/>
                        <a:gd name="T66" fmla="*/ 1 w 30"/>
                        <a:gd name="T67" fmla="*/ 16 h 33"/>
                        <a:gd name="T68" fmla="*/ 1 w 30"/>
                        <a:gd name="T69" fmla="*/ 14 h 33"/>
                        <a:gd name="T70" fmla="*/ 2 w 30"/>
                        <a:gd name="T71" fmla="*/ 12 h 33"/>
                        <a:gd name="T72" fmla="*/ 4 w 30"/>
                        <a:gd name="T73" fmla="*/ 10 h 33"/>
                        <a:gd name="T74" fmla="*/ 7 w 30"/>
                        <a:gd name="T75" fmla="*/ 8 h 33"/>
                        <a:gd name="T76" fmla="*/ 7 w 30"/>
                        <a:gd name="T77" fmla="*/ 6 h 33"/>
                        <a:gd name="T78" fmla="*/ 9 w 30"/>
                        <a:gd name="T79" fmla="*/ 4 h 33"/>
                        <a:gd name="T80" fmla="*/ 11 w 30"/>
                        <a:gd name="T81" fmla="*/ 3 h 33"/>
                        <a:gd name="T82" fmla="*/ 13 w 30"/>
                        <a:gd name="T83" fmla="*/ 1 h 33"/>
                        <a:gd name="T84" fmla="*/ 15 w 30"/>
                        <a:gd name="T85" fmla="*/ 0 h 33"/>
                        <a:gd name="T86" fmla="*/ 17 w 30"/>
                        <a:gd name="T87" fmla="*/ 0 h 33"/>
                        <a:gd name="T88" fmla="*/ 20 w 30"/>
                        <a:gd name="T89" fmla="*/ 0 h 33"/>
                        <a:gd name="T90" fmla="*/ 23 w 30"/>
                        <a:gd name="T91" fmla="*/ 1 h 33"/>
                        <a:gd name="T92" fmla="*/ 25 w 30"/>
                        <a:gd name="T93" fmla="*/ 3 h 33"/>
                        <a:gd name="T94" fmla="*/ 27 w 30"/>
                        <a:gd name="T95" fmla="*/ 4 h 33"/>
                        <a:gd name="T96" fmla="*/ 28 w 30"/>
                        <a:gd name="T97" fmla="*/ 6 h 33"/>
                        <a:gd name="T98" fmla="*/ 29 w 30"/>
                        <a:gd name="T99" fmla="*/ 8 h 33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w 30"/>
                        <a:gd name="T151" fmla="*/ 0 h 33"/>
                        <a:gd name="T152" fmla="*/ 30 w 30"/>
                        <a:gd name="T153" fmla="*/ 33 h 33"/>
                      </a:gdLst>
                      <a:ahLst/>
                      <a:cxnLst>
                        <a:cxn ang="T100">
                          <a:pos x="T0" y="T1"/>
                        </a:cxn>
                        <a:cxn ang="T101">
                          <a:pos x="T2" y="T3"/>
                        </a:cxn>
                        <a:cxn ang="T102">
                          <a:pos x="T4" y="T5"/>
                        </a:cxn>
                        <a:cxn ang="T103">
                          <a:pos x="T6" y="T7"/>
                        </a:cxn>
                        <a:cxn ang="T104">
                          <a:pos x="T8" y="T9"/>
                        </a:cxn>
                        <a:cxn ang="T105">
                          <a:pos x="T10" y="T11"/>
                        </a:cxn>
                        <a:cxn ang="T106">
                          <a:pos x="T12" y="T13"/>
                        </a:cxn>
                        <a:cxn ang="T107">
                          <a:pos x="T14" y="T15"/>
                        </a:cxn>
                        <a:cxn ang="T108">
                          <a:pos x="T16" y="T17"/>
                        </a:cxn>
                        <a:cxn ang="T109">
                          <a:pos x="T18" y="T19"/>
                        </a:cxn>
                        <a:cxn ang="T110">
                          <a:pos x="T20" y="T21"/>
                        </a:cxn>
                        <a:cxn ang="T111">
                          <a:pos x="T22" y="T23"/>
                        </a:cxn>
                        <a:cxn ang="T112">
                          <a:pos x="T24" y="T25"/>
                        </a:cxn>
                        <a:cxn ang="T113">
                          <a:pos x="T26" y="T27"/>
                        </a:cxn>
                        <a:cxn ang="T114">
                          <a:pos x="T28" y="T29"/>
                        </a:cxn>
                        <a:cxn ang="T115">
                          <a:pos x="T30" y="T31"/>
                        </a:cxn>
                        <a:cxn ang="T116">
                          <a:pos x="T32" y="T33"/>
                        </a:cxn>
                        <a:cxn ang="T117">
                          <a:pos x="T34" y="T35"/>
                        </a:cxn>
                        <a:cxn ang="T118">
                          <a:pos x="T36" y="T37"/>
                        </a:cxn>
                        <a:cxn ang="T119">
                          <a:pos x="T38" y="T39"/>
                        </a:cxn>
                        <a:cxn ang="T120">
                          <a:pos x="T40" y="T41"/>
                        </a:cxn>
                        <a:cxn ang="T121">
                          <a:pos x="T42" y="T43"/>
                        </a:cxn>
                        <a:cxn ang="T122">
                          <a:pos x="T44" y="T45"/>
                        </a:cxn>
                        <a:cxn ang="T123">
                          <a:pos x="T46" y="T47"/>
                        </a:cxn>
                        <a:cxn ang="T124">
                          <a:pos x="T48" y="T49"/>
                        </a:cxn>
                        <a:cxn ang="T125">
                          <a:pos x="T50" y="T51"/>
                        </a:cxn>
                        <a:cxn ang="T126">
                          <a:pos x="T52" y="T53"/>
                        </a:cxn>
                        <a:cxn ang="T127">
                          <a:pos x="T54" y="T55"/>
                        </a:cxn>
                        <a:cxn ang="T128">
                          <a:pos x="T56" y="T57"/>
                        </a:cxn>
                        <a:cxn ang="T129">
                          <a:pos x="T58" y="T59"/>
                        </a:cxn>
                        <a:cxn ang="T130">
                          <a:pos x="T60" y="T61"/>
                        </a:cxn>
                        <a:cxn ang="T131">
                          <a:pos x="T62" y="T63"/>
                        </a:cxn>
                        <a:cxn ang="T132">
                          <a:pos x="T64" y="T65"/>
                        </a:cxn>
                        <a:cxn ang="T133">
                          <a:pos x="T66" y="T67"/>
                        </a:cxn>
                        <a:cxn ang="T134">
                          <a:pos x="T68" y="T69"/>
                        </a:cxn>
                        <a:cxn ang="T135">
                          <a:pos x="T70" y="T71"/>
                        </a:cxn>
                        <a:cxn ang="T136">
                          <a:pos x="T72" y="T73"/>
                        </a:cxn>
                        <a:cxn ang="T137">
                          <a:pos x="T74" y="T75"/>
                        </a:cxn>
                        <a:cxn ang="T138">
                          <a:pos x="T76" y="T77"/>
                        </a:cxn>
                        <a:cxn ang="T139">
                          <a:pos x="T78" y="T79"/>
                        </a:cxn>
                        <a:cxn ang="T140">
                          <a:pos x="T80" y="T81"/>
                        </a:cxn>
                        <a:cxn ang="T141">
                          <a:pos x="T82" y="T83"/>
                        </a:cxn>
                        <a:cxn ang="T142">
                          <a:pos x="T84" y="T85"/>
                        </a:cxn>
                        <a:cxn ang="T143">
                          <a:pos x="T86" y="T87"/>
                        </a:cxn>
                        <a:cxn ang="T144">
                          <a:pos x="T88" y="T89"/>
                        </a:cxn>
                        <a:cxn ang="T145">
                          <a:pos x="T90" y="T91"/>
                        </a:cxn>
                        <a:cxn ang="T146">
                          <a:pos x="T92" y="T93"/>
                        </a:cxn>
                        <a:cxn ang="T147">
                          <a:pos x="T94" y="T95"/>
                        </a:cxn>
                        <a:cxn ang="T148">
                          <a:pos x="T96" y="T97"/>
                        </a:cxn>
                        <a:cxn ang="T149">
                          <a:pos x="T98" y="T99"/>
                        </a:cxn>
                      </a:cxnLst>
                      <a:rect l="T150" t="T151" r="T152" b="T153"/>
                      <a:pathLst>
                        <a:path w="30" h="33">
                          <a:moveTo>
                            <a:pt x="29" y="8"/>
                          </a:moveTo>
                          <a:lnTo>
                            <a:pt x="30" y="11"/>
                          </a:lnTo>
                          <a:lnTo>
                            <a:pt x="30" y="13"/>
                          </a:lnTo>
                          <a:lnTo>
                            <a:pt x="30" y="16"/>
                          </a:lnTo>
                          <a:lnTo>
                            <a:pt x="29" y="19"/>
                          </a:lnTo>
                          <a:lnTo>
                            <a:pt x="29" y="21"/>
                          </a:lnTo>
                          <a:lnTo>
                            <a:pt x="28" y="24"/>
                          </a:lnTo>
                          <a:lnTo>
                            <a:pt x="27" y="24"/>
                          </a:lnTo>
                          <a:lnTo>
                            <a:pt x="25" y="27"/>
                          </a:lnTo>
                          <a:lnTo>
                            <a:pt x="24" y="29"/>
                          </a:lnTo>
                          <a:lnTo>
                            <a:pt x="23" y="31"/>
                          </a:lnTo>
                          <a:lnTo>
                            <a:pt x="21" y="31"/>
                          </a:lnTo>
                          <a:lnTo>
                            <a:pt x="20" y="32"/>
                          </a:lnTo>
                          <a:lnTo>
                            <a:pt x="18" y="32"/>
                          </a:lnTo>
                          <a:lnTo>
                            <a:pt x="17" y="33"/>
                          </a:lnTo>
                          <a:lnTo>
                            <a:pt x="16" y="33"/>
                          </a:lnTo>
                          <a:lnTo>
                            <a:pt x="14" y="33"/>
                          </a:lnTo>
                          <a:lnTo>
                            <a:pt x="13" y="33"/>
                          </a:lnTo>
                          <a:lnTo>
                            <a:pt x="12" y="33"/>
                          </a:lnTo>
                          <a:lnTo>
                            <a:pt x="11" y="33"/>
                          </a:lnTo>
                          <a:lnTo>
                            <a:pt x="10" y="33"/>
                          </a:lnTo>
                          <a:lnTo>
                            <a:pt x="9" y="32"/>
                          </a:lnTo>
                          <a:lnTo>
                            <a:pt x="7" y="32"/>
                          </a:lnTo>
                          <a:lnTo>
                            <a:pt x="7" y="31"/>
                          </a:lnTo>
                          <a:lnTo>
                            <a:pt x="5" y="30"/>
                          </a:lnTo>
                          <a:lnTo>
                            <a:pt x="4" y="29"/>
                          </a:lnTo>
                          <a:lnTo>
                            <a:pt x="2" y="29"/>
                          </a:lnTo>
                          <a:lnTo>
                            <a:pt x="2" y="28"/>
                          </a:lnTo>
                          <a:lnTo>
                            <a:pt x="1" y="27"/>
                          </a:lnTo>
                          <a:lnTo>
                            <a:pt x="1" y="26"/>
                          </a:lnTo>
                          <a:lnTo>
                            <a:pt x="0" y="24"/>
                          </a:lnTo>
                          <a:lnTo>
                            <a:pt x="0" y="20"/>
                          </a:lnTo>
                          <a:lnTo>
                            <a:pt x="0" y="17"/>
                          </a:lnTo>
                          <a:lnTo>
                            <a:pt x="1" y="16"/>
                          </a:lnTo>
                          <a:lnTo>
                            <a:pt x="1" y="14"/>
                          </a:lnTo>
                          <a:lnTo>
                            <a:pt x="2" y="12"/>
                          </a:lnTo>
                          <a:lnTo>
                            <a:pt x="4" y="10"/>
                          </a:lnTo>
                          <a:lnTo>
                            <a:pt x="7" y="8"/>
                          </a:lnTo>
                          <a:lnTo>
                            <a:pt x="7" y="6"/>
                          </a:lnTo>
                          <a:lnTo>
                            <a:pt x="9" y="4"/>
                          </a:lnTo>
                          <a:lnTo>
                            <a:pt x="11" y="3"/>
                          </a:lnTo>
                          <a:lnTo>
                            <a:pt x="13" y="1"/>
                          </a:lnTo>
                          <a:lnTo>
                            <a:pt x="15" y="0"/>
                          </a:lnTo>
                          <a:lnTo>
                            <a:pt x="17" y="0"/>
                          </a:lnTo>
                          <a:lnTo>
                            <a:pt x="20" y="0"/>
                          </a:lnTo>
                          <a:lnTo>
                            <a:pt x="23" y="1"/>
                          </a:lnTo>
                          <a:lnTo>
                            <a:pt x="25" y="3"/>
                          </a:lnTo>
                          <a:lnTo>
                            <a:pt x="27" y="4"/>
                          </a:lnTo>
                          <a:lnTo>
                            <a:pt x="28" y="6"/>
                          </a:lnTo>
                          <a:lnTo>
                            <a:pt x="29" y="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031" name="Freeform 1054"/>
                    <p:cNvSpPr>
                      <a:spLocks/>
                    </p:cNvSpPr>
                    <p:nvPr/>
                  </p:nvSpPr>
                  <p:spPr bwMode="auto">
                    <a:xfrm>
                      <a:off x="2569" y="2619"/>
                      <a:ext cx="30" cy="33"/>
                    </a:xfrm>
                    <a:custGeom>
                      <a:avLst/>
                      <a:gdLst>
                        <a:gd name="T0" fmla="*/ 29 w 30"/>
                        <a:gd name="T1" fmla="*/ 8 h 33"/>
                        <a:gd name="T2" fmla="*/ 30 w 30"/>
                        <a:gd name="T3" fmla="*/ 11 h 33"/>
                        <a:gd name="T4" fmla="*/ 30 w 30"/>
                        <a:gd name="T5" fmla="*/ 13 h 33"/>
                        <a:gd name="T6" fmla="*/ 30 w 30"/>
                        <a:gd name="T7" fmla="*/ 16 h 33"/>
                        <a:gd name="T8" fmla="*/ 29 w 30"/>
                        <a:gd name="T9" fmla="*/ 19 h 33"/>
                        <a:gd name="T10" fmla="*/ 29 w 30"/>
                        <a:gd name="T11" fmla="*/ 21 h 33"/>
                        <a:gd name="T12" fmla="*/ 28 w 30"/>
                        <a:gd name="T13" fmla="*/ 24 h 33"/>
                        <a:gd name="T14" fmla="*/ 27 w 30"/>
                        <a:gd name="T15" fmla="*/ 24 h 33"/>
                        <a:gd name="T16" fmla="*/ 25 w 30"/>
                        <a:gd name="T17" fmla="*/ 27 h 33"/>
                        <a:gd name="T18" fmla="*/ 24 w 30"/>
                        <a:gd name="T19" fmla="*/ 29 h 33"/>
                        <a:gd name="T20" fmla="*/ 23 w 30"/>
                        <a:gd name="T21" fmla="*/ 31 h 33"/>
                        <a:gd name="T22" fmla="*/ 21 w 30"/>
                        <a:gd name="T23" fmla="*/ 31 h 33"/>
                        <a:gd name="T24" fmla="*/ 20 w 30"/>
                        <a:gd name="T25" fmla="*/ 32 h 33"/>
                        <a:gd name="T26" fmla="*/ 18 w 30"/>
                        <a:gd name="T27" fmla="*/ 32 h 33"/>
                        <a:gd name="T28" fmla="*/ 17 w 30"/>
                        <a:gd name="T29" fmla="*/ 33 h 33"/>
                        <a:gd name="T30" fmla="*/ 16 w 30"/>
                        <a:gd name="T31" fmla="*/ 33 h 33"/>
                        <a:gd name="T32" fmla="*/ 14 w 30"/>
                        <a:gd name="T33" fmla="*/ 33 h 33"/>
                        <a:gd name="T34" fmla="*/ 13 w 30"/>
                        <a:gd name="T35" fmla="*/ 33 h 33"/>
                        <a:gd name="T36" fmla="*/ 12 w 30"/>
                        <a:gd name="T37" fmla="*/ 33 h 33"/>
                        <a:gd name="T38" fmla="*/ 11 w 30"/>
                        <a:gd name="T39" fmla="*/ 33 h 33"/>
                        <a:gd name="T40" fmla="*/ 10 w 30"/>
                        <a:gd name="T41" fmla="*/ 33 h 33"/>
                        <a:gd name="T42" fmla="*/ 9 w 30"/>
                        <a:gd name="T43" fmla="*/ 32 h 33"/>
                        <a:gd name="T44" fmla="*/ 7 w 30"/>
                        <a:gd name="T45" fmla="*/ 32 h 33"/>
                        <a:gd name="T46" fmla="*/ 7 w 30"/>
                        <a:gd name="T47" fmla="*/ 31 h 33"/>
                        <a:gd name="T48" fmla="*/ 5 w 30"/>
                        <a:gd name="T49" fmla="*/ 30 h 33"/>
                        <a:gd name="T50" fmla="*/ 4 w 30"/>
                        <a:gd name="T51" fmla="*/ 29 h 33"/>
                        <a:gd name="T52" fmla="*/ 2 w 30"/>
                        <a:gd name="T53" fmla="*/ 29 h 33"/>
                        <a:gd name="T54" fmla="*/ 2 w 30"/>
                        <a:gd name="T55" fmla="*/ 28 h 33"/>
                        <a:gd name="T56" fmla="*/ 1 w 30"/>
                        <a:gd name="T57" fmla="*/ 27 h 33"/>
                        <a:gd name="T58" fmla="*/ 1 w 30"/>
                        <a:gd name="T59" fmla="*/ 26 h 33"/>
                        <a:gd name="T60" fmla="*/ 0 w 30"/>
                        <a:gd name="T61" fmla="*/ 24 h 33"/>
                        <a:gd name="T62" fmla="*/ 0 w 30"/>
                        <a:gd name="T63" fmla="*/ 20 h 33"/>
                        <a:gd name="T64" fmla="*/ 0 w 30"/>
                        <a:gd name="T65" fmla="*/ 17 h 33"/>
                        <a:gd name="T66" fmla="*/ 1 w 30"/>
                        <a:gd name="T67" fmla="*/ 16 h 33"/>
                        <a:gd name="T68" fmla="*/ 1 w 30"/>
                        <a:gd name="T69" fmla="*/ 14 h 33"/>
                        <a:gd name="T70" fmla="*/ 2 w 30"/>
                        <a:gd name="T71" fmla="*/ 12 h 33"/>
                        <a:gd name="T72" fmla="*/ 4 w 30"/>
                        <a:gd name="T73" fmla="*/ 10 h 33"/>
                        <a:gd name="T74" fmla="*/ 7 w 30"/>
                        <a:gd name="T75" fmla="*/ 8 h 33"/>
                        <a:gd name="T76" fmla="*/ 7 w 30"/>
                        <a:gd name="T77" fmla="*/ 6 h 33"/>
                        <a:gd name="T78" fmla="*/ 9 w 30"/>
                        <a:gd name="T79" fmla="*/ 4 h 33"/>
                        <a:gd name="T80" fmla="*/ 11 w 30"/>
                        <a:gd name="T81" fmla="*/ 3 h 33"/>
                        <a:gd name="T82" fmla="*/ 13 w 30"/>
                        <a:gd name="T83" fmla="*/ 1 h 33"/>
                        <a:gd name="T84" fmla="*/ 15 w 30"/>
                        <a:gd name="T85" fmla="*/ 0 h 33"/>
                        <a:gd name="T86" fmla="*/ 17 w 30"/>
                        <a:gd name="T87" fmla="*/ 0 h 33"/>
                        <a:gd name="T88" fmla="*/ 20 w 30"/>
                        <a:gd name="T89" fmla="*/ 0 h 33"/>
                        <a:gd name="T90" fmla="*/ 23 w 30"/>
                        <a:gd name="T91" fmla="*/ 1 h 33"/>
                        <a:gd name="T92" fmla="*/ 25 w 30"/>
                        <a:gd name="T93" fmla="*/ 3 h 33"/>
                        <a:gd name="T94" fmla="*/ 27 w 30"/>
                        <a:gd name="T95" fmla="*/ 4 h 33"/>
                        <a:gd name="T96" fmla="*/ 28 w 30"/>
                        <a:gd name="T97" fmla="*/ 6 h 33"/>
                        <a:gd name="T98" fmla="*/ 29 w 30"/>
                        <a:gd name="T99" fmla="*/ 8 h 33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w 30"/>
                        <a:gd name="T151" fmla="*/ 0 h 33"/>
                        <a:gd name="T152" fmla="*/ 30 w 30"/>
                        <a:gd name="T153" fmla="*/ 33 h 33"/>
                      </a:gdLst>
                      <a:ahLst/>
                      <a:cxnLst>
                        <a:cxn ang="T100">
                          <a:pos x="T0" y="T1"/>
                        </a:cxn>
                        <a:cxn ang="T101">
                          <a:pos x="T2" y="T3"/>
                        </a:cxn>
                        <a:cxn ang="T102">
                          <a:pos x="T4" y="T5"/>
                        </a:cxn>
                        <a:cxn ang="T103">
                          <a:pos x="T6" y="T7"/>
                        </a:cxn>
                        <a:cxn ang="T104">
                          <a:pos x="T8" y="T9"/>
                        </a:cxn>
                        <a:cxn ang="T105">
                          <a:pos x="T10" y="T11"/>
                        </a:cxn>
                        <a:cxn ang="T106">
                          <a:pos x="T12" y="T13"/>
                        </a:cxn>
                        <a:cxn ang="T107">
                          <a:pos x="T14" y="T15"/>
                        </a:cxn>
                        <a:cxn ang="T108">
                          <a:pos x="T16" y="T17"/>
                        </a:cxn>
                        <a:cxn ang="T109">
                          <a:pos x="T18" y="T19"/>
                        </a:cxn>
                        <a:cxn ang="T110">
                          <a:pos x="T20" y="T21"/>
                        </a:cxn>
                        <a:cxn ang="T111">
                          <a:pos x="T22" y="T23"/>
                        </a:cxn>
                        <a:cxn ang="T112">
                          <a:pos x="T24" y="T25"/>
                        </a:cxn>
                        <a:cxn ang="T113">
                          <a:pos x="T26" y="T27"/>
                        </a:cxn>
                        <a:cxn ang="T114">
                          <a:pos x="T28" y="T29"/>
                        </a:cxn>
                        <a:cxn ang="T115">
                          <a:pos x="T30" y="T31"/>
                        </a:cxn>
                        <a:cxn ang="T116">
                          <a:pos x="T32" y="T33"/>
                        </a:cxn>
                        <a:cxn ang="T117">
                          <a:pos x="T34" y="T35"/>
                        </a:cxn>
                        <a:cxn ang="T118">
                          <a:pos x="T36" y="T37"/>
                        </a:cxn>
                        <a:cxn ang="T119">
                          <a:pos x="T38" y="T39"/>
                        </a:cxn>
                        <a:cxn ang="T120">
                          <a:pos x="T40" y="T41"/>
                        </a:cxn>
                        <a:cxn ang="T121">
                          <a:pos x="T42" y="T43"/>
                        </a:cxn>
                        <a:cxn ang="T122">
                          <a:pos x="T44" y="T45"/>
                        </a:cxn>
                        <a:cxn ang="T123">
                          <a:pos x="T46" y="T47"/>
                        </a:cxn>
                        <a:cxn ang="T124">
                          <a:pos x="T48" y="T49"/>
                        </a:cxn>
                        <a:cxn ang="T125">
                          <a:pos x="T50" y="T51"/>
                        </a:cxn>
                        <a:cxn ang="T126">
                          <a:pos x="T52" y="T53"/>
                        </a:cxn>
                        <a:cxn ang="T127">
                          <a:pos x="T54" y="T55"/>
                        </a:cxn>
                        <a:cxn ang="T128">
                          <a:pos x="T56" y="T57"/>
                        </a:cxn>
                        <a:cxn ang="T129">
                          <a:pos x="T58" y="T59"/>
                        </a:cxn>
                        <a:cxn ang="T130">
                          <a:pos x="T60" y="T61"/>
                        </a:cxn>
                        <a:cxn ang="T131">
                          <a:pos x="T62" y="T63"/>
                        </a:cxn>
                        <a:cxn ang="T132">
                          <a:pos x="T64" y="T65"/>
                        </a:cxn>
                        <a:cxn ang="T133">
                          <a:pos x="T66" y="T67"/>
                        </a:cxn>
                        <a:cxn ang="T134">
                          <a:pos x="T68" y="T69"/>
                        </a:cxn>
                        <a:cxn ang="T135">
                          <a:pos x="T70" y="T71"/>
                        </a:cxn>
                        <a:cxn ang="T136">
                          <a:pos x="T72" y="T73"/>
                        </a:cxn>
                        <a:cxn ang="T137">
                          <a:pos x="T74" y="T75"/>
                        </a:cxn>
                        <a:cxn ang="T138">
                          <a:pos x="T76" y="T77"/>
                        </a:cxn>
                        <a:cxn ang="T139">
                          <a:pos x="T78" y="T79"/>
                        </a:cxn>
                        <a:cxn ang="T140">
                          <a:pos x="T80" y="T81"/>
                        </a:cxn>
                        <a:cxn ang="T141">
                          <a:pos x="T82" y="T83"/>
                        </a:cxn>
                        <a:cxn ang="T142">
                          <a:pos x="T84" y="T85"/>
                        </a:cxn>
                        <a:cxn ang="T143">
                          <a:pos x="T86" y="T87"/>
                        </a:cxn>
                        <a:cxn ang="T144">
                          <a:pos x="T88" y="T89"/>
                        </a:cxn>
                        <a:cxn ang="T145">
                          <a:pos x="T90" y="T91"/>
                        </a:cxn>
                        <a:cxn ang="T146">
                          <a:pos x="T92" y="T93"/>
                        </a:cxn>
                        <a:cxn ang="T147">
                          <a:pos x="T94" y="T95"/>
                        </a:cxn>
                        <a:cxn ang="T148">
                          <a:pos x="T96" y="T97"/>
                        </a:cxn>
                        <a:cxn ang="T149">
                          <a:pos x="T98" y="T99"/>
                        </a:cxn>
                      </a:cxnLst>
                      <a:rect l="T150" t="T151" r="T152" b="T153"/>
                      <a:pathLst>
                        <a:path w="30" h="33">
                          <a:moveTo>
                            <a:pt x="29" y="8"/>
                          </a:moveTo>
                          <a:lnTo>
                            <a:pt x="30" y="11"/>
                          </a:lnTo>
                          <a:lnTo>
                            <a:pt x="30" y="13"/>
                          </a:lnTo>
                          <a:lnTo>
                            <a:pt x="30" y="16"/>
                          </a:lnTo>
                          <a:lnTo>
                            <a:pt x="29" y="19"/>
                          </a:lnTo>
                          <a:lnTo>
                            <a:pt x="29" y="21"/>
                          </a:lnTo>
                          <a:lnTo>
                            <a:pt x="28" y="24"/>
                          </a:lnTo>
                          <a:lnTo>
                            <a:pt x="27" y="24"/>
                          </a:lnTo>
                          <a:lnTo>
                            <a:pt x="25" y="27"/>
                          </a:lnTo>
                          <a:lnTo>
                            <a:pt x="24" y="29"/>
                          </a:lnTo>
                          <a:lnTo>
                            <a:pt x="23" y="31"/>
                          </a:lnTo>
                          <a:lnTo>
                            <a:pt x="21" y="31"/>
                          </a:lnTo>
                          <a:lnTo>
                            <a:pt x="20" y="32"/>
                          </a:lnTo>
                          <a:lnTo>
                            <a:pt x="18" y="32"/>
                          </a:lnTo>
                          <a:lnTo>
                            <a:pt x="17" y="33"/>
                          </a:lnTo>
                          <a:lnTo>
                            <a:pt x="16" y="33"/>
                          </a:lnTo>
                          <a:lnTo>
                            <a:pt x="14" y="33"/>
                          </a:lnTo>
                          <a:lnTo>
                            <a:pt x="13" y="33"/>
                          </a:lnTo>
                          <a:lnTo>
                            <a:pt x="12" y="33"/>
                          </a:lnTo>
                          <a:lnTo>
                            <a:pt x="11" y="33"/>
                          </a:lnTo>
                          <a:lnTo>
                            <a:pt x="10" y="33"/>
                          </a:lnTo>
                          <a:lnTo>
                            <a:pt x="9" y="32"/>
                          </a:lnTo>
                          <a:lnTo>
                            <a:pt x="7" y="32"/>
                          </a:lnTo>
                          <a:lnTo>
                            <a:pt x="7" y="31"/>
                          </a:lnTo>
                          <a:lnTo>
                            <a:pt x="5" y="30"/>
                          </a:lnTo>
                          <a:lnTo>
                            <a:pt x="4" y="29"/>
                          </a:lnTo>
                          <a:lnTo>
                            <a:pt x="2" y="29"/>
                          </a:lnTo>
                          <a:lnTo>
                            <a:pt x="2" y="28"/>
                          </a:lnTo>
                          <a:lnTo>
                            <a:pt x="1" y="27"/>
                          </a:lnTo>
                          <a:lnTo>
                            <a:pt x="1" y="26"/>
                          </a:lnTo>
                          <a:lnTo>
                            <a:pt x="0" y="24"/>
                          </a:lnTo>
                          <a:lnTo>
                            <a:pt x="0" y="20"/>
                          </a:lnTo>
                          <a:lnTo>
                            <a:pt x="0" y="17"/>
                          </a:lnTo>
                          <a:lnTo>
                            <a:pt x="1" y="16"/>
                          </a:lnTo>
                          <a:lnTo>
                            <a:pt x="1" y="14"/>
                          </a:lnTo>
                          <a:lnTo>
                            <a:pt x="2" y="12"/>
                          </a:lnTo>
                          <a:lnTo>
                            <a:pt x="4" y="10"/>
                          </a:lnTo>
                          <a:lnTo>
                            <a:pt x="7" y="8"/>
                          </a:lnTo>
                          <a:lnTo>
                            <a:pt x="7" y="6"/>
                          </a:lnTo>
                          <a:lnTo>
                            <a:pt x="9" y="4"/>
                          </a:lnTo>
                          <a:lnTo>
                            <a:pt x="11" y="3"/>
                          </a:lnTo>
                          <a:lnTo>
                            <a:pt x="13" y="1"/>
                          </a:lnTo>
                          <a:lnTo>
                            <a:pt x="15" y="0"/>
                          </a:lnTo>
                          <a:lnTo>
                            <a:pt x="17" y="0"/>
                          </a:lnTo>
                          <a:lnTo>
                            <a:pt x="20" y="0"/>
                          </a:lnTo>
                          <a:lnTo>
                            <a:pt x="23" y="1"/>
                          </a:lnTo>
                          <a:lnTo>
                            <a:pt x="25" y="3"/>
                          </a:lnTo>
                          <a:lnTo>
                            <a:pt x="27" y="4"/>
                          </a:lnTo>
                          <a:lnTo>
                            <a:pt x="28" y="6"/>
                          </a:lnTo>
                          <a:lnTo>
                            <a:pt x="29" y="8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5010" name="Freeform 1055"/>
                  <p:cNvSpPr>
                    <a:spLocks/>
                  </p:cNvSpPr>
                  <p:nvPr/>
                </p:nvSpPr>
                <p:spPr bwMode="auto">
                  <a:xfrm>
                    <a:off x="2582" y="2625"/>
                    <a:ext cx="13" cy="11"/>
                  </a:xfrm>
                  <a:custGeom>
                    <a:avLst/>
                    <a:gdLst>
                      <a:gd name="T0" fmla="*/ 13 w 13"/>
                      <a:gd name="T1" fmla="*/ 11 h 11"/>
                      <a:gd name="T2" fmla="*/ 13 w 13"/>
                      <a:gd name="T3" fmla="*/ 11 h 11"/>
                      <a:gd name="T4" fmla="*/ 0 w 13"/>
                      <a:gd name="T5" fmla="*/ 1 h 11"/>
                      <a:gd name="T6" fmla="*/ 1 w 13"/>
                      <a:gd name="T7" fmla="*/ 0 h 11"/>
                      <a:gd name="T8" fmla="*/ 2 w 13"/>
                      <a:gd name="T9" fmla="*/ 1 h 11"/>
                      <a:gd name="T10" fmla="*/ 3 w 13"/>
                      <a:gd name="T11" fmla="*/ 2 h 11"/>
                      <a:gd name="T12" fmla="*/ 4 w 13"/>
                      <a:gd name="T13" fmla="*/ 3 h 11"/>
                      <a:gd name="T14" fmla="*/ 5 w 13"/>
                      <a:gd name="T15" fmla="*/ 4 h 11"/>
                      <a:gd name="T16" fmla="*/ 7 w 13"/>
                      <a:gd name="T17" fmla="*/ 5 h 11"/>
                      <a:gd name="T18" fmla="*/ 9 w 13"/>
                      <a:gd name="T19" fmla="*/ 6 h 11"/>
                      <a:gd name="T20" fmla="*/ 10 w 13"/>
                      <a:gd name="T21" fmla="*/ 7 h 11"/>
                      <a:gd name="T22" fmla="*/ 11 w 13"/>
                      <a:gd name="T23" fmla="*/ 9 h 11"/>
                      <a:gd name="T24" fmla="*/ 12 w 13"/>
                      <a:gd name="T25" fmla="*/ 10 h 11"/>
                      <a:gd name="T26" fmla="*/ 13 w 13"/>
                      <a:gd name="T27" fmla="*/ 11 h 1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3"/>
                      <a:gd name="T43" fmla="*/ 0 h 11"/>
                      <a:gd name="T44" fmla="*/ 13 w 13"/>
                      <a:gd name="T45" fmla="*/ 11 h 1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3" h="11">
                        <a:moveTo>
                          <a:pt x="13" y="11"/>
                        </a:moveTo>
                        <a:lnTo>
                          <a:pt x="13" y="11"/>
                        </a:lnTo>
                        <a:lnTo>
                          <a:pt x="0" y="1"/>
                        </a:lnTo>
                        <a:lnTo>
                          <a:pt x="1" y="0"/>
                        </a:lnTo>
                        <a:lnTo>
                          <a:pt x="2" y="1"/>
                        </a:lnTo>
                        <a:lnTo>
                          <a:pt x="3" y="2"/>
                        </a:lnTo>
                        <a:lnTo>
                          <a:pt x="4" y="3"/>
                        </a:lnTo>
                        <a:lnTo>
                          <a:pt x="5" y="4"/>
                        </a:lnTo>
                        <a:lnTo>
                          <a:pt x="7" y="5"/>
                        </a:lnTo>
                        <a:lnTo>
                          <a:pt x="9" y="6"/>
                        </a:lnTo>
                        <a:lnTo>
                          <a:pt x="10" y="7"/>
                        </a:lnTo>
                        <a:lnTo>
                          <a:pt x="11" y="9"/>
                        </a:lnTo>
                        <a:lnTo>
                          <a:pt x="12" y="10"/>
                        </a:lnTo>
                        <a:lnTo>
                          <a:pt x="13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5011" name="Group 1056"/>
                  <p:cNvGrpSpPr>
                    <a:grpSpLocks/>
                  </p:cNvGrpSpPr>
                  <p:nvPr/>
                </p:nvGrpSpPr>
                <p:grpSpPr bwMode="auto">
                  <a:xfrm>
                    <a:off x="2582" y="2625"/>
                    <a:ext cx="13" cy="11"/>
                    <a:chOff x="2582" y="2625"/>
                    <a:chExt cx="13" cy="11"/>
                  </a:xfrm>
                </p:grpSpPr>
                <p:sp>
                  <p:nvSpPr>
                    <p:cNvPr id="25028" name="Freeform 1057"/>
                    <p:cNvSpPr>
                      <a:spLocks/>
                    </p:cNvSpPr>
                    <p:nvPr/>
                  </p:nvSpPr>
                  <p:spPr bwMode="auto">
                    <a:xfrm>
                      <a:off x="2582" y="2625"/>
                      <a:ext cx="13" cy="11"/>
                    </a:xfrm>
                    <a:custGeom>
                      <a:avLst/>
                      <a:gdLst>
                        <a:gd name="T0" fmla="*/ 13 w 13"/>
                        <a:gd name="T1" fmla="*/ 11 h 11"/>
                        <a:gd name="T2" fmla="*/ 13 w 13"/>
                        <a:gd name="T3" fmla="*/ 11 h 11"/>
                        <a:gd name="T4" fmla="*/ 0 w 13"/>
                        <a:gd name="T5" fmla="*/ 1 h 11"/>
                        <a:gd name="T6" fmla="*/ 1 w 13"/>
                        <a:gd name="T7" fmla="*/ 0 h 11"/>
                        <a:gd name="T8" fmla="*/ 2 w 13"/>
                        <a:gd name="T9" fmla="*/ 1 h 11"/>
                        <a:gd name="T10" fmla="*/ 3 w 13"/>
                        <a:gd name="T11" fmla="*/ 2 h 11"/>
                        <a:gd name="T12" fmla="*/ 4 w 13"/>
                        <a:gd name="T13" fmla="*/ 3 h 11"/>
                        <a:gd name="T14" fmla="*/ 5 w 13"/>
                        <a:gd name="T15" fmla="*/ 4 h 11"/>
                        <a:gd name="T16" fmla="*/ 7 w 13"/>
                        <a:gd name="T17" fmla="*/ 5 h 11"/>
                        <a:gd name="T18" fmla="*/ 9 w 13"/>
                        <a:gd name="T19" fmla="*/ 6 h 11"/>
                        <a:gd name="T20" fmla="*/ 10 w 13"/>
                        <a:gd name="T21" fmla="*/ 7 h 11"/>
                        <a:gd name="T22" fmla="*/ 11 w 13"/>
                        <a:gd name="T23" fmla="*/ 9 h 11"/>
                        <a:gd name="T24" fmla="*/ 12 w 13"/>
                        <a:gd name="T25" fmla="*/ 10 h 11"/>
                        <a:gd name="T26" fmla="*/ 13 w 13"/>
                        <a:gd name="T27" fmla="*/ 11 h 11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3"/>
                        <a:gd name="T43" fmla="*/ 0 h 11"/>
                        <a:gd name="T44" fmla="*/ 13 w 13"/>
                        <a:gd name="T45" fmla="*/ 11 h 11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3" h="11">
                          <a:moveTo>
                            <a:pt x="13" y="11"/>
                          </a:moveTo>
                          <a:lnTo>
                            <a:pt x="13" y="11"/>
                          </a:lnTo>
                          <a:lnTo>
                            <a:pt x="0" y="1"/>
                          </a:lnTo>
                          <a:lnTo>
                            <a:pt x="1" y="0"/>
                          </a:lnTo>
                          <a:lnTo>
                            <a:pt x="2" y="1"/>
                          </a:lnTo>
                          <a:lnTo>
                            <a:pt x="3" y="2"/>
                          </a:lnTo>
                          <a:lnTo>
                            <a:pt x="4" y="3"/>
                          </a:lnTo>
                          <a:lnTo>
                            <a:pt x="5" y="4"/>
                          </a:lnTo>
                          <a:lnTo>
                            <a:pt x="7" y="5"/>
                          </a:lnTo>
                          <a:lnTo>
                            <a:pt x="9" y="6"/>
                          </a:lnTo>
                          <a:lnTo>
                            <a:pt x="10" y="7"/>
                          </a:lnTo>
                          <a:lnTo>
                            <a:pt x="11" y="9"/>
                          </a:lnTo>
                          <a:lnTo>
                            <a:pt x="12" y="10"/>
                          </a:lnTo>
                          <a:lnTo>
                            <a:pt x="13" y="1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029" name="Freeform 1058"/>
                    <p:cNvSpPr>
                      <a:spLocks/>
                    </p:cNvSpPr>
                    <p:nvPr/>
                  </p:nvSpPr>
                  <p:spPr bwMode="auto">
                    <a:xfrm>
                      <a:off x="2582" y="2625"/>
                      <a:ext cx="13" cy="11"/>
                    </a:xfrm>
                    <a:custGeom>
                      <a:avLst/>
                      <a:gdLst>
                        <a:gd name="T0" fmla="*/ 13 w 13"/>
                        <a:gd name="T1" fmla="*/ 11 h 11"/>
                        <a:gd name="T2" fmla="*/ 13 w 13"/>
                        <a:gd name="T3" fmla="*/ 11 h 11"/>
                        <a:gd name="T4" fmla="*/ 0 w 13"/>
                        <a:gd name="T5" fmla="*/ 1 h 11"/>
                        <a:gd name="T6" fmla="*/ 1 w 13"/>
                        <a:gd name="T7" fmla="*/ 0 h 11"/>
                        <a:gd name="T8" fmla="*/ 2 w 13"/>
                        <a:gd name="T9" fmla="*/ 1 h 11"/>
                        <a:gd name="T10" fmla="*/ 3 w 13"/>
                        <a:gd name="T11" fmla="*/ 2 h 11"/>
                        <a:gd name="T12" fmla="*/ 4 w 13"/>
                        <a:gd name="T13" fmla="*/ 3 h 11"/>
                        <a:gd name="T14" fmla="*/ 5 w 13"/>
                        <a:gd name="T15" fmla="*/ 4 h 11"/>
                        <a:gd name="T16" fmla="*/ 7 w 13"/>
                        <a:gd name="T17" fmla="*/ 5 h 11"/>
                        <a:gd name="T18" fmla="*/ 9 w 13"/>
                        <a:gd name="T19" fmla="*/ 6 h 11"/>
                        <a:gd name="T20" fmla="*/ 10 w 13"/>
                        <a:gd name="T21" fmla="*/ 7 h 11"/>
                        <a:gd name="T22" fmla="*/ 11 w 13"/>
                        <a:gd name="T23" fmla="*/ 9 h 11"/>
                        <a:gd name="T24" fmla="*/ 12 w 13"/>
                        <a:gd name="T25" fmla="*/ 10 h 11"/>
                        <a:gd name="T26" fmla="*/ 13 w 13"/>
                        <a:gd name="T27" fmla="*/ 11 h 11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3"/>
                        <a:gd name="T43" fmla="*/ 0 h 11"/>
                        <a:gd name="T44" fmla="*/ 13 w 13"/>
                        <a:gd name="T45" fmla="*/ 11 h 11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3" h="11">
                          <a:moveTo>
                            <a:pt x="13" y="11"/>
                          </a:moveTo>
                          <a:lnTo>
                            <a:pt x="13" y="11"/>
                          </a:lnTo>
                          <a:lnTo>
                            <a:pt x="0" y="1"/>
                          </a:lnTo>
                          <a:lnTo>
                            <a:pt x="1" y="0"/>
                          </a:lnTo>
                          <a:lnTo>
                            <a:pt x="2" y="1"/>
                          </a:lnTo>
                          <a:lnTo>
                            <a:pt x="3" y="2"/>
                          </a:lnTo>
                          <a:lnTo>
                            <a:pt x="4" y="3"/>
                          </a:lnTo>
                          <a:lnTo>
                            <a:pt x="5" y="4"/>
                          </a:lnTo>
                          <a:lnTo>
                            <a:pt x="7" y="5"/>
                          </a:lnTo>
                          <a:lnTo>
                            <a:pt x="9" y="6"/>
                          </a:lnTo>
                          <a:lnTo>
                            <a:pt x="10" y="7"/>
                          </a:lnTo>
                          <a:lnTo>
                            <a:pt x="11" y="9"/>
                          </a:lnTo>
                          <a:lnTo>
                            <a:pt x="12" y="10"/>
                          </a:lnTo>
                          <a:lnTo>
                            <a:pt x="13" y="11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5012" name="Freeform 1059"/>
                  <p:cNvSpPr>
                    <a:spLocks/>
                  </p:cNvSpPr>
                  <p:nvPr/>
                </p:nvSpPr>
                <p:spPr bwMode="auto">
                  <a:xfrm>
                    <a:off x="2592" y="2639"/>
                    <a:ext cx="29" cy="31"/>
                  </a:xfrm>
                  <a:custGeom>
                    <a:avLst/>
                    <a:gdLst>
                      <a:gd name="T0" fmla="*/ 25 w 29"/>
                      <a:gd name="T1" fmla="*/ 4 h 31"/>
                      <a:gd name="T2" fmla="*/ 26 w 29"/>
                      <a:gd name="T3" fmla="*/ 5 h 31"/>
                      <a:gd name="T4" fmla="*/ 28 w 29"/>
                      <a:gd name="T5" fmla="*/ 7 h 31"/>
                      <a:gd name="T6" fmla="*/ 28 w 29"/>
                      <a:gd name="T7" fmla="*/ 7 h 31"/>
                      <a:gd name="T8" fmla="*/ 29 w 29"/>
                      <a:gd name="T9" fmla="*/ 9 h 31"/>
                      <a:gd name="T10" fmla="*/ 29 w 29"/>
                      <a:gd name="T11" fmla="*/ 10 h 31"/>
                      <a:gd name="T12" fmla="*/ 29 w 29"/>
                      <a:gd name="T13" fmla="*/ 12 h 31"/>
                      <a:gd name="T14" fmla="*/ 29 w 29"/>
                      <a:gd name="T15" fmla="*/ 13 h 31"/>
                      <a:gd name="T16" fmla="*/ 29 w 29"/>
                      <a:gd name="T17" fmla="*/ 15 h 31"/>
                      <a:gd name="T18" fmla="*/ 29 w 29"/>
                      <a:gd name="T19" fmla="*/ 17 h 31"/>
                      <a:gd name="T20" fmla="*/ 29 w 29"/>
                      <a:gd name="T21" fmla="*/ 18 h 31"/>
                      <a:gd name="T22" fmla="*/ 28 w 29"/>
                      <a:gd name="T23" fmla="*/ 19 h 31"/>
                      <a:gd name="T24" fmla="*/ 26 w 29"/>
                      <a:gd name="T25" fmla="*/ 21 h 31"/>
                      <a:gd name="T26" fmla="*/ 25 w 29"/>
                      <a:gd name="T27" fmla="*/ 23 h 31"/>
                      <a:gd name="T28" fmla="*/ 24 w 29"/>
                      <a:gd name="T29" fmla="*/ 23 h 31"/>
                      <a:gd name="T30" fmla="*/ 23 w 29"/>
                      <a:gd name="T31" fmla="*/ 25 h 31"/>
                      <a:gd name="T32" fmla="*/ 23 w 29"/>
                      <a:gd name="T33" fmla="*/ 27 h 31"/>
                      <a:gd name="T34" fmla="*/ 21 w 29"/>
                      <a:gd name="T35" fmla="*/ 28 h 31"/>
                      <a:gd name="T36" fmla="*/ 19 w 29"/>
                      <a:gd name="T37" fmla="*/ 30 h 31"/>
                      <a:gd name="T38" fmla="*/ 19 w 29"/>
                      <a:gd name="T39" fmla="*/ 30 h 31"/>
                      <a:gd name="T40" fmla="*/ 16 w 29"/>
                      <a:gd name="T41" fmla="*/ 31 h 31"/>
                      <a:gd name="T42" fmla="*/ 15 w 29"/>
                      <a:gd name="T43" fmla="*/ 31 h 31"/>
                      <a:gd name="T44" fmla="*/ 14 w 29"/>
                      <a:gd name="T45" fmla="*/ 31 h 31"/>
                      <a:gd name="T46" fmla="*/ 13 w 29"/>
                      <a:gd name="T47" fmla="*/ 31 h 31"/>
                      <a:gd name="T48" fmla="*/ 11 w 29"/>
                      <a:gd name="T49" fmla="*/ 31 h 31"/>
                      <a:gd name="T50" fmla="*/ 9 w 29"/>
                      <a:gd name="T51" fmla="*/ 30 h 31"/>
                      <a:gd name="T52" fmla="*/ 8 w 29"/>
                      <a:gd name="T53" fmla="*/ 30 h 31"/>
                      <a:gd name="T54" fmla="*/ 7 w 29"/>
                      <a:gd name="T55" fmla="*/ 28 h 31"/>
                      <a:gd name="T56" fmla="*/ 6 w 29"/>
                      <a:gd name="T57" fmla="*/ 28 h 31"/>
                      <a:gd name="T58" fmla="*/ 6 w 29"/>
                      <a:gd name="T59" fmla="*/ 27 h 31"/>
                      <a:gd name="T60" fmla="*/ 3 w 29"/>
                      <a:gd name="T61" fmla="*/ 27 h 31"/>
                      <a:gd name="T62" fmla="*/ 3 w 29"/>
                      <a:gd name="T63" fmla="*/ 26 h 31"/>
                      <a:gd name="T64" fmla="*/ 2 w 29"/>
                      <a:gd name="T65" fmla="*/ 25 h 31"/>
                      <a:gd name="T66" fmla="*/ 2 w 29"/>
                      <a:gd name="T67" fmla="*/ 23 h 31"/>
                      <a:gd name="T68" fmla="*/ 1 w 29"/>
                      <a:gd name="T69" fmla="*/ 23 h 31"/>
                      <a:gd name="T70" fmla="*/ 1 w 29"/>
                      <a:gd name="T71" fmla="*/ 21 h 31"/>
                      <a:gd name="T72" fmla="*/ 0 w 29"/>
                      <a:gd name="T73" fmla="*/ 20 h 31"/>
                      <a:gd name="T74" fmla="*/ 0 w 29"/>
                      <a:gd name="T75" fmla="*/ 19 h 31"/>
                      <a:gd name="T76" fmla="*/ 0 w 29"/>
                      <a:gd name="T77" fmla="*/ 18 h 31"/>
                      <a:gd name="T78" fmla="*/ 0 w 29"/>
                      <a:gd name="T79" fmla="*/ 17 h 31"/>
                      <a:gd name="T80" fmla="*/ 0 w 29"/>
                      <a:gd name="T81" fmla="*/ 16 h 31"/>
                      <a:gd name="T82" fmla="*/ 1 w 29"/>
                      <a:gd name="T83" fmla="*/ 13 h 31"/>
                      <a:gd name="T84" fmla="*/ 1 w 29"/>
                      <a:gd name="T85" fmla="*/ 11 h 31"/>
                      <a:gd name="T86" fmla="*/ 2 w 29"/>
                      <a:gd name="T87" fmla="*/ 9 h 31"/>
                      <a:gd name="T88" fmla="*/ 3 w 29"/>
                      <a:gd name="T89" fmla="*/ 7 h 31"/>
                      <a:gd name="T90" fmla="*/ 4 w 29"/>
                      <a:gd name="T91" fmla="*/ 5 h 31"/>
                      <a:gd name="T92" fmla="*/ 6 w 29"/>
                      <a:gd name="T93" fmla="*/ 4 h 31"/>
                      <a:gd name="T94" fmla="*/ 7 w 29"/>
                      <a:gd name="T95" fmla="*/ 2 h 31"/>
                      <a:gd name="T96" fmla="*/ 9 w 29"/>
                      <a:gd name="T97" fmla="*/ 2 h 31"/>
                      <a:gd name="T98" fmla="*/ 11 w 29"/>
                      <a:gd name="T99" fmla="*/ 1 h 31"/>
                      <a:gd name="T100" fmla="*/ 14 w 29"/>
                      <a:gd name="T101" fmla="*/ 0 h 31"/>
                      <a:gd name="T102" fmla="*/ 15 w 29"/>
                      <a:gd name="T103" fmla="*/ 0 h 31"/>
                      <a:gd name="T104" fmla="*/ 16 w 29"/>
                      <a:gd name="T105" fmla="*/ 0 h 31"/>
                      <a:gd name="T106" fmla="*/ 17 w 29"/>
                      <a:gd name="T107" fmla="*/ 0 h 31"/>
                      <a:gd name="T108" fmla="*/ 19 w 29"/>
                      <a:gd name="T109" fmla="*/ 0 h 31"/>
                      <a:gd name="T110" fmla="*/ 19 w 29"/>
                      <a:gd name="T111" fmla="*/ 1 h 31"/>
                      <a:gd name="T112" fmla="*/ 22 w 29"/>
                      <a:gd name="T113" fmla="*/ 1 h 31"/>
                      <a:gd name="T114" fmla="*/ 23 w 29"/>
                      <a:gd name="T115" fmla="*/ 2 h 31"/>
                      <a:gd name="T116" fmla="*/ 24 w 29"/>
                      <a:gd name="T117" fmla="*/ 2 h 31"/>
                      <a:gd name="T118" fmla="*/ 25 w 29"/>
                      <a:gd name="T119" fmla="*/ 3 h 31"/>
                      <a:gd name="T120" fmla="*/ 25 w 29"/>
                      <a:gd name="T121" fmla="*/ 4 h 31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60000 65536"/>
                      <a:gd name="T175" fmla="*/ 0 60000 65536"/>
                      <a:gd name="T176" fmla="*/ 0 60000 65536"/>
                      <a:gd name="T177" fmla="*/ 0 60000 65536"/>
                      <a:gd name="T178" fmla="*/ 0 60000 65536"/>
                      <a:gd name="T179" fmla="*/ 0 60000 65536"/>
                      <a:gd name="T180" fmla="*/ 0 60000 65536"/>
                      <a:gd name="T181" fmla="*/ 0 60000 65536"/>
                      <a:gd name="T182" fmla="*/ 0 60000 65536"/>
                      <a:gd name="T183" fmla="*/ 0 w 29"/>
                      <a:gd name="T184" fmla="*/ 0 h 31"/>
                      <a:gd name="T185" fmla="*/ 29 w 29"/>
                      <a:gd name="T186" fmla="*/ 31 h 31"/>
                    </a:gdLst>
                    <a:ahLst/>
                    <a:cxnLst>
                      <a:cxn ang="T122">
                        <a:pos x="T0" y="T1"/>
                      </a:cxn>
                      <a:cxn ang="T123">
                        <a:pos x="T2" y="T3"/>
                      </a:cxn>
                      <a:cxn ang="T124">
                        <a:pos x="T4" y="T5"/>
                      </a:cxn>
                      <a:cxn ang="T125">
                        <a:pos x="T6" y="T7"/>
                      </a:cxn>
                      <a:cxn ang="T126">
                        <a:pos x="T8" y="T9"/>
                      </a:cxn>
                      <a:cxn ang="T127">
                        <a:pos x="T10" y="T11"/>
                      </a:cxn>
                      <a:cxn ang="T128">
                        <a:pos x="T12" y="T13"/>
                      </a:cxn>
                      <a:cxn ang="T129">
                        <a:pos x="T14" y="T15"/>
                      </a:cxn>
                      <a:cxn ang="T130">
                        <a:pos x="T16" y="T17"/>
                      </a:cxn>
                      <a:cxn ang="T131">
                        <a:pos x="T18" y="T19"/>
                      </a:cxn>
                      <a:cxn ang="T132">
                        <a:pos x="T20" y="T21"/>
                      </a:cxn>
                      <a:cxn ang="T133">
                        <a:pos x="T22" y="T23"/>
                      </a:cxn>
                      <a:cxn ang="T134">
                        <a:pos x="T24" y="T25"/>
                      </a:cxn>
                      <a:cxn ang="T135">
                        <a:pos x="T26" y="T27"/>
                      </a:cxn>
                      <a:cxn ang="T136">
                        <a:pos x="T28" y="T29"/>
                      </a:cxn>
                      <a:cxn ang="T137">
                        <a:pos x="T30" y="T31"/>
                      </a:cxn>
                      <a:cxn ang="T138">
                        <a:pos x="T32" y="T33"/>
                      </a:cxn>
                      <a:cxn ang="T139">
                        <a:pos x="T34" y="T35"/>
                      </a:cxn>
                      <a:cxn ang="T140">
                        <a:pos x="T36" y="T37"/>
                      </a:cxn>
                      <a:cxn ang="T141">
                        <a:pos x="T38" y="T39"/>
                      </a:cxn>
                      <a:cxn ang="T142">
                        <a:pos x="T40" y="T41"/>
                      </a:cxn>
                      <a:cxn ang="T143">
                        <a:pos x="T42" y="T43"/>
                      </a:cxn>
                      <a:cxn ang="T144">
                        <a:pos x="T44" y="T45"/>
                      </a:cxn>
                      <a:cxn ang="T145">
                        <a:pos x="T46" y="T47"/>
                      </a:cxn>
                      <a:cxn ang="T146">
                        <a:pos x="T48" y="T49"/>
                      </a:cxn>
                      <a:cxn ang="T147">
                        <a:pos x="T50" y="T51"/>
                      </a:cxn>
                      <a:cxn ang="T148">
                        <a:pos x="T52" y="T53"/>
                      </a:cxn>
                      <a:cxn ang="T149">
                        <a:pos x="T54" y="T55"/>
                      </a:cxn>
                      <a:cxn ang="T150">
                        <a:pos x="T56" y="T57"/>
                      </a:cxn>
                      <a:cxn ang="T151">
                        <a:pos x="T58" y="T59"/>
                      </a:cxn>
                      <a:cxn ang="T152">
                        <a:pos x="T60" y="T61"/>
                      </a:cxn>
                      <a:cxn ang="T153">
                        <a:pos x="T62" y="T63"/>
                      </a:cxn>
                      <a:cxn ang="T154">
                        <a:pos x="T64" y="T65"/>
                      </a:cxn>
                      <a:cxn ang="T155">
                        <a:pos x="T66" y="T67"/>
                      </a:cxn>
                      <a:cxn ang="T156">
                        <a:pos x="T68" y="T69"/>
                      </a:cxn>
                      <a:cxn ang="T157">
                        <a:pos x="T70" y="T71"/>
                      </a:cxn>
                      <a:cxn ang="T158">
                        <a:pos x="T72" y="T73"/>
                      </a:cxn>
                      <a:cxn ang="T159">
                        <a:pos x="T74" y="T75"/>
                      </a:cxn>
                      <a:cxn ang="T160">
                        <a:pos x="T76" y="T77"/>
                      </a:cxn>
                      <a:cxn ang="T161">
                        <a:pos x="T78" y="T79"/>
                      </a:cxn>
                      <a:cxn ang="T162">
                        <a:pos x="T80" y="T81"/>
                      </a:cxn>
                      <a:cxn ang="T163">
                        <a:pos x="T82" y="T83"/>
                      </a:cxn>
                      <a:cxn ang="T164">
                        <a:pos x="T84" y="T85"/>
                      </a:cxn>
                      <a:cxn ang="T165">
                        <a:pos x="T86" y="T87"/>
                      </a:cxn>
                      <a:cxn ang="T166">
                        <a:pos x="T88" y="T89"/>
                      </a:cxn>
                      <a:cxn ang="T167">
                        <a:pos x="T90" y="T91"/>
                      </a:cxn>
                      <a:cxn ang="T168">
                        <a:pos x="T92" y="T93"/>
                      </a:cxn>
                      <a:cxn ang="T169">
                        <a:pos x="T94" y="T95"/>
                      </a:cxn>
                      <a:cxn ang="T170">
                        <a:pos x="T96" y="T97"/>
                      </a:cxn>
                      <a:cxn ang="T171">
                        <a:pos x="T98" y="T99"/>
                      </a:cxn>
                      <a:cxn ang="T172">
                        <a:pos x="T100" y="T101"/>
                      </a:cxn>
                      <a:cxn ang="T173">
                        <a:pos x="T102" y="T103"/>
                      </a:cxn>
                      <a:cxn ang="T174">
                        <a:pos x="T104" y="T105"/>
                      </a:cxn>
                      <a:cxn ang="T175">
                        <a:pos x="T106" y="T107"/>
                      </a:cxn>
                      <a:cxn ang="T176">
                        <a:pos x="T108" y="T109"/>
                      </a:cxn>
                      <a:cxn ang="T177">
                        <a:pos x="T110" y="T111"/>
                      </a:cxn>
                      <a:cxn ang="T178">
                        <a:pos x="T112" y="T113"/>
                      </a:cxn>
                      <a:cxn ang="T179">
                        <a:pos x="T114" y="T115"/>
                      </a:cxn>
                      <a:cxn ang="T180">
                        <a:pos x="T116" y="T117"/>
                      </a:cxn>
                      <a:cxn ang="T181">
                        <a:pos x="T118" y="T119"/>
                      </a:cxn>
                      <a:cxn ang="T182">
                        <a:pos x="T120" y="T121"/>
                      </a:cxn>
                    </a:cxnLst>
                    <a:rect l="T183" t="T184" r="T185" b="T186"/>
                    <a:pathLst>
                      <a:path w="29" h="31">
                        <a:moveTo>
                          <a:pt x="25" y="4"/>
                        </a:moveTo>
                        <a:lnTo>
                          <a:pt x="26" y="5"/>
                        </a:lnTo>
                        <a:lnTo>
                          <a:pt x="28" y="7"/>
                        </a:lnTo>
                        <a:lnTo>
                          <a:pt x="29" y="9"/>
                        </a:lnTo>
                        <a:lnTo>
                          <a:pt x="29" y="10"/>
                        </a:lnTo>
                        <a:lnTo>
                          <a:pt x="29" y="12"/>
                        </a:lnTo>
                        <a:lnTo>
                          <a:pt x="29" y="13"/>
                        </a:lnTo>
                        <a:lnTo>
                          <a:pt x="29" y="15"/>
                        </a:lnTo>
                        <a:lnTo>
                          <a:pt x="29" y="17"/>
                        </a:lnTo>
                        <a:lnTo>
                          <a:pt x="29" y="18"/>
                        </a:lnTo>
                        <a:lnTo>
                          <a:pt x="28" y="19"/>
                        </a:lnTo>
                        <a:lnTo>
                          <a:pt x="26" y="21"/>
                        </a:lnTo>
                        <a:lnTo>
                          <a:pt x="25" y="23"/>
                        </a:lnTo>
                        <a:lnTo>
                          <a:pt x="24" y="23"/>
                        </a:lnTo>
                        <a:lnTo>
                          <a:pt x="23" y="25"/>
                        </a:lnTo>
                        <a:lnTo>
                          <a:pt x="23" y="27"/>
                        </a:lnTo>
                        <a:lnTo>
                          <a:pt x="21" y="28"/>
                        </a:lnTo>
                        <a:lnTo>
                          <a:pt x="19" y="30"/>
                        </a:lnTo>
                        <a:lnTo>
                          <a:pt x="16" y="31"/>
                        </a:lnTo>
                        <a:lnTo>
                          <a:pt x="15" y="31"/>
                        </a:lnTo>
                        <a:lnTo>
                          <a:pt x="14" y="31"/>
                        </a:lnTo>
                        <a:lnTo>
                          <a:pt x="13" y="31"/>
                        </a:lnTo>
                        <a:lnTo>
                          <a:pt x="11" y="31"/>
                        </a:lnTo>
                        <a:lnTo>
                          <a:pt x="9" y="30"/>
                        </a:lnTo>
                        <a:lnTo>
                          <a:pt x="8" y="30"/>
                        </a:lnTo>
                        <a:lnTo>
                          <a:pt x="7" y="28"/>
                        </a:lnTo>
                        <a:lnTo>
                          <a:pt x="6" y="28"/>
                        </a:lnTo>
                        <a:lnTo>
                          <a:pt x="6" y="27"/>
                        </a:lnTo>
                        <a:lnTo>
                          <a:pt x="3" y="27"/>
                        </a:lnTo>
                        <a:lnTo>
                          <a:pt x="3" y="26"/>
                        </a:lnTo>
                        <a:lnTo>
                          <a:pt x="2" y="25"/>
                        </a:lnTo>
                        <a:lnTo>
                          <a:pt x="2" y="23"/>
                        </a:lnTo>
                        <a:lnTo>
                          <a:pt x="1" y="23"/>
                        </a:lnTo>
                        <a:lnTo>
                          <a:pt x="1" y="21"/>
                        </a:lnTo>
                        <a:lnTo>
                          <a:pt x="0" y="20"/>
                        </a:lnTo>
                        <a:lnTo>
                          <a:pt x="0" y="19"/>
                        </a:lnTo>
                        <a:lnTo>
                          <a:pt x="0" y="18"/>
                        </a:lnTo>
                        <a:lnTo>
                          <a:pt x="0" y="17"/>
                        </a:lnTo>
                        <a:lnTo>
                          <a:pt x="0" y="16"/>
                        </a:lnTo>
                        <a:lnTo>
                          <a:pt x="1" y="13"/>
                        </a:lnTo>
                        <a:lnTo>
                          <a:pt x="1" y="11"/>
                        </a:lnTo>
                        <a:lnTo>
                          <a:pt x="2" y="9"/>
                        </a:lnTo>
                        <a:lnTo>
                          <a:pt x="3" y="7"/>
                        </a:lnTo>
                        <a:lnTo>
                          <a:pt x="4" y="5"/>
                        </a:lnTo>
                        <a:lnTo>
                          <a:pt x="6" y="4"/>
                        </a:lnTo>
                        <a:lnTo>
                          <a:pt x="7" y="2"/>
                        </a:lnTo>
                        <a:lnTo>
                          <a:pt x="9" y="2"/>
                        </a:lnTo>
                        <a:lnTo>
                          <a:pt x="11" y="1"/>
                        </a:lnTo>
                        <a:lnTo>
                          <a:pt x="14" y="0"/>
                        </a:lnTo>
                        <a:lnTo>
                          <a:pt x="15" y="0"/>
                        </a:lnTo>
                        <a:lnTo>
                          <a:pt x="16" y="0"/>
                        </a:lnTo>
                        <a:lnTo>
                          <a:pt x="17" y="0"/>
                        </a:lnTo>
                        <a:lnTo>
                          <a:pt x="19" y="0"/>
                        </a:lnTo>
                        <a:lnTo>
                          <a:pt x="19" y="1"/>
                        </a:lnTo>
                        <a:lnTo>
                          <a:pt x="22" y="1"/>
                        </a:lnTo>
                        <a:lnTo>
                          <a:pt x="23" y="2"/>
                        </a:lnTo>
                        <a:lnTo>
                          <a:pt x="24" y="2"/>
                        </a:lnTo>
                        <a:lnTo>
                          <a:pt x="25" y="3"/>
                        </a:lnTo>
                        <a:lnTo>
                          <a:pt x="25" y="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5013" name="Group 1060"/>
                  <p:cNvGrpSpPr>
                    <a:grpSpLocks/>
                  </p:cNvGrpSpPr>
                  <p:nvPr/>
                </p:nvGrpSpPr>
                <p:grpSpPr bwMode="auto">
                  <a:xfrm>
                    <a:off x="2592" y="2639"/>
                    <a:ext cx="29" cy="31"/>
                    <a:chOff x="2592" y="2639"/>
                    <a:chExt cx="29" cy="31"/>
                  </a:xfrm>
                </p:grpSpPr>
                <p:sp>
                  <p:nvSpPr>
                    <p:cNvPr id="25026" name="Freeform 1061"/>
                    <p:cNvSpPr>
                      <a:spLocks/>
                    </p:cNvSpPr>
                    <p:nvPr/>
                  </p:nvSpPr>
                  <p:spPr bwMode="auto">
                    <a:xfrm>
                      <a:off x="2592" y="2639"/>
                      <a:ext cx="29" cy="31"/>
                    </a:xfrm>
                    <a:custGeom>
                      <a:avLst/>
                      <a:gdLst>
                        <a:gd name="T0" fmla="*/ 25 w 29"/>
                        <a:gd name="T1" fmla="*/ 4 h 31"/>
                        <a:gd name="T2" fmla="*/ 26 w 29"/>
                        <a:gd name="T3" fmla="*/ 5 h 31"/>
                        <a:gd name="T4" fmla="*/ 28 w 29"/>
                        <a:gd name="T5" fmla="*/ 7 h 31"/>
                        <a:gd name="T6" fmla="*/ 28 w 29"/>
                        <a:gd name="T7" fmla="*/ 7 h 31"/>
                        <a:gd name="T8" fmla="*/ 29 w 29"/>
                        <a:gd name="T9" fmla="*/ 9 h 31"/>
                        <a:gd name="T10" fmla="*/ 29 w 29"/>
                        <a:gd name="T11" fmla="*/ 10 h 31"/>
                        <a:gd name="T12" fmla="*/ 29 w 29"/>
                        <a:gd name="T13" fmla="*/ 12 h 31"/>
                        <a:gd name="T14" fmla="*/ 29 w 29"/>
                        <a:gd name="T15" fmla="*/ 13 h 31"/>
                        <a:gd name="T16" fmla="*/ 29 w 29"/>
                        <a:gd name="T17" fmla="*/ 15 h 31"/>
                        <a:gd name="T18" fmla="*/ 29 w 29"/>
                        <a:gd name="T19" fmla="*/ 17 h 31"/>
                        <a:gd name="T20" fmla="*/ 29 w 29"/>
                        <a:gd name="T21" fmla="*/ 18 h 31"/>
                        <a:gd name="T22" fmla="*/ 28 w 29"/>
                        <a:gd name="T23" fmla="*/ 19 h 31"/>
                        <a:gd name="T24" fmla="*/ 26 w 29"/>
                        <a:gd name="T25" fmla="*/ 21 h 31"/>
                        <a:gd name="T26" fmla="*/ 25 w 29"/>
                        <a:gd name="T27" fmla="*/ 23 h 31"/>
                        <a:gd name="T28" fmla="*/ 24 w 29"/>
                        <a:gd name="T29" fmla="*/ 23 h 31"/>
                        <a:gd name="T30" fmla="*/ 23 w 29"/>
                        <a:gd name="T31" fmla="*/ 25 h 31"/>
                        <a:gd name="T32" fmla="*/ 23 w 29"/>
                        <a:gd name="T33" fmla="*/ 27 h 31"/>
                        <a:gd name="T34" fmla="*/ 21 w 29"/>
                        <a:gd name="T35" fmla="*/ 28 h 31"/>
                        <a:gd name="T36" fmla="*/ 19 w 29"/>
                        <a:gd name="T37" fmla="*/ 30 h 31"/>
                        <a:gd name="T38" fmla="*/ 19 w 29"/>
                        <a:gd name="T39" fmla="*/ 30 h 31"/>
                        <a:gd name="T40" fmla="*/ 16 w 29"/>
                        <a:gd name="T41" fmla="*/ 31 h 31"/>
                        <a:gd name="T42" fmla="*/ 15 w 29"/>
                        <a:gd name="T43" fmla="*/ 31 h 31"/>
                        <a:gd name="T44" fmla="*/ 14 w 29"/>
                        <a:gd name="T45" fmla="*/ 31 h 31"/>
                        <a:gd name="T46" fmla="*/ 13 w 29"/>
                        <a:gd name="T47" fmla="*/ 31 h 31"/>
                        <a:gd name="T48" fmla="*/ 11 w 29"/>
                        <a:gd name="T49" fmla="*/ 31 h 31"/>
                        <a:gd name="T50" fmla="*/ 9 w 29"/>
                        <a:gd name="T51" fmla="*/ 30 h 31"/>
                        <a:gd name="T52" fmla="*/ 8 w 29"/>
                        <a:gd name="T53" fmla="*/ 30 h 31"/>
                        <a:gd name="T54" fmla="*/ 7 w 29"/>
                        <a:gd name="T55" fmla="*/ 28 h 31"/>
                        <a:gd name="T56" fmla="*/ 6 w 29"/>
                        <a:gd name="T57" fmla="*/ 28 h 31"/>
                        <a:gd name="T58" fmla="*/ 6 w 29"/>
                        <a:gd name="T59" fmla="*/ 27 h 31"/>
                        <a:gd name="T60" fmla="*/ 3 w 29"/>
                        <a:gd name="T61" fmla="*/ 27 h 31"/>
                        <a:gd name="T62" fmla="*/ 3 w 29"/>
                        <a:gd name="T63" fmla="*/ 26 h 31"/>
                        <a:gd name="T64" fmla="*/ 2 w 29"/>
                        <a:gd name="T65" fmla="*/ 25 h 31"/>
                        <a:gd name="T66" fmla="*/ 2 w 29"/>
                        <a:gd name="T67" fmla="*/ 23 h 31"/>
                        <a:gd name="T68" fmla="*/ 1 w 29"/>
                        <a:gd name="T69" fmla="*/ 23 h 31"/>
                        <a:gd name="T70" fmla="*/ 1 w 29"/>
                        <a:gd name="T71" fmla="*/ 21 h 31"/>
                        <a:gd name="T72" fmla="*/ 0 w 29"/>
                        <a:gd name="T73" fmla="*/ 20 h 31"/>
                        <a:gd name="T74" fmla="*/ 0 w 29"/>
                        <a:gd name="T75" fmla="*/ 19 h 31"/>
                        <a:gd name="T76" fmla="*/ 0 w 29"/>
                        <a:gd name="T77" fmla="*/ 18 h 31"/>
                        <a:gd name="T78" fmla="*/ 0 w 29"/>
                        <a:gd name="T79" fmla="*/ 17 h 31"/>
                        <a:gd name="T80" fmla="*/ 0 w 29"/>
                        <a:gd name="T81" fmla="*/ 16 h 31"/>
                        <a:gd name="T82" fmla="*/ 1 w 29"/>
                        <a:gd name="T83" fmla="*/ 13 h 31"/>
                        <a:gd name="T84" fmla="*/ 1 w 29"/>
                        <a:gd name="T85" fmla="*/ 11 h 31"/>
                        <a:gd name="T86" fmla="*/ 2 w 29"/>
                        <a:gd name="T87" fmla="*/ 9 h 31"/>
                        <a:gd name="T88" fmla="*/ 3 w 29"/>
                        <a:gd name="T89" fmla="*/ 7 h 31"/>
                        <a:gd name="T90" fmla="*/ 4 w 29"/>
                        <a:gd name="T91" fmla="*/ 5 h 31"/>
                        <a:gd name="T92" fmla="*/ 6 w 29"/>
                        <a:gd name="T93" fmla="*/ 4 h 31"/>
                        <a:gd name="T94" fmla="*/ 7 w 29"/>
                        <a:gd name="T95" fmla="*/ 2 h 31"/>
                        <a:gd name="T96" fmla="*/ 9 w 29"/>
                        <a:gd name="T97" fmla="*/ 2 h 31"/>
                        <a:gd name="T98" fmla="*/ 11 w 29"/>
                        <a:gd name="T99" fmla="*/ 1 h 31"/>
                        <a:gd name="T100" fmla="*/ 14 w 29"/>
                        <a:gd name="T101" fmla="*/ 0 h 31"/>
                        <a:gd name="T102" fmla="*/ 15 w 29"/>
                        <a:gd name="T103" fmla="*/ 0 h 31"/>
                        <a:gd name="T104" fmla="*/ 16 w 29"/>
                        <a:gd name="T105" fmla="*/ 0 h 31"/>
                        <a:gd name="T106" fmla="*/ 17 w 29"/>
                        <a:gd name="T107" fmla="*/ 0 h 31"/>
                        <a:gd name="T108" fmla="*/ 19 w 29"/>
                        <a:gd name="T109" fmla="*/ 0 h 31"/>
                        <a:gd name="T110" fmla="*/ 19 w 29"/>
                        <a:gd name="T111" fmla="*/ 1 h 31"/>
                        <a:gd name="T112" fmla="*/ 22 w 29"/>
                        <a:gd name="T113" fmla="*/ 1 h 31"/>
                        <a:gd name="T114" fmla="*/ 23 w 29"/>
                        <a:gd name="T115" fmla="*/ 2 h 31"/>
                        <a:gd name="T116" fmla="*/ 24 w 29"/>
                        <a:gd name="T117" fmla="*/ 2 h 31"/>
                        <a:gd name="T118" fmla="*/ 25 w 29"/>
                        <a:gd name="T119" fmla="*/ 3 h 31"/>
                        <a:gd name="T120" fmla="*/ 25 w 29"/>
                        <a:gd name="T121" fmla="*/ 4 h 31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29"/>
                        <a:gd name="T184" fmla="*/ 0 h 31"/>
                        <a:gd name="T185" fmla="*/ 29 w 29"/>
                        <a:gd name="T186" fmla="*/ 31 h 31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29" h="31">
                          <a:moveTo>
                            <a:pt x="25" y="4"/>
                          </a:moveTo>
                          <a:lnTo>
                            <a:pt x="26" y="5"/>
                          </a:lnTo>
                          <a:lnTo>
                            <a:pt x="28" y="7"/>
                          </a:lnTo>
                          <a:lnTo>
                            <a:pt x="29" y="9"/>
                          </a:lnTo>
                          <a:lnTo>
                            <a:pt x="29" y="10"/>
                          </a:lnTo>
                          <a:lnTo>
                            <a:pt x="29" y="12"/>
                          </a:lnTo>
                          <a:lnTo>
                            <a:pt x="29" y="13"/>
                          </a:lnTo>
                          <a:lnTo>
                            <a:pt x="29" y="15"/>
                          </a:lnTo>
                          <a:lnTo>
                            <a:pt x="29" y="17"/>
                          </a:lnTo>
                          <a:lnTo>
                            <a:pt x="29" y="18"/>
                          </a:lnTo>
                          <a:lnTo>
                            <a:pt x="28" y="19"/>
                          </a:lnTo>
                          <a:lnTo>
                            <a:pt x="26" y="21"/>
                          </a:lnTo>
                          <a:lnTo>
                            <a:pt x="25" y="23"/>
                          </a:lnTo>
                          <a:lnTo>
                            <a:pt x="24" y="23"/>
                          </a:lnTo>
                          <a:lnTo>
                            <a:pt x="23" y="25"/>
                          </a:lnTo>
                          <a:lnTo>
                            <a:pt x="23" y="27"/>
                          </a:lnTo>
                          <a:lnTo>
                            <a:pt x="21" y="28"/>
                          </a:lnTo>
                          <a:lnTo>
                            <a:pt x="19" y="30"/>
                          </a:lnTo>
                          <a:lnTo>
                            <a:pt x="16" y="31"/>
                          </a:lnTo>
                          <a:lnTo>
                            <a:pt x="15" y="31"/>
                          </a:lnTo>
                          <a:lnTo>
                            <a:pt x="14" y="31"/>
                          </a:lnTo>
                          <a:lnTo>
                            <a:pt x="13" y="31"/>
                          </a:lnTo>
                          <a:lnTo>
                            <a:pt x="11" y="31"/>
                          </a:lnTo>
                          <a:lnTo>
                            <a:pt x="9" y="30"/>
                          </a:lnTo>
                          <a:lnTo>
                            <a:pt x="8" y="30"/>
                          </a:lnTo>
                          <a:lnTo>
                            <a:pt x="7" y="28"/>
                          </a:lnTo>
                          <a:lnTo>
                            <a:pt x="6" y="28"/>
                          </a:lnTo>
                          <a:lnTo>
                            <a:pt x="6" y="27"/>
                          </a:lnTo>
                          <a:lnTo>
                            <a:pt x="3" y="27"/>
                          </a:lnTo>
                          <a:lnTo>
                            <a:pt x="3" y="26"/>
                          </a:lnTo>
                          <a:lnTo>
                            <a:pt x="2" y="25"/>
                          </a:lnTo>
                          <a:lnTo>
                            <a:pt x="2" y="23"/>
                          </a:lnTo>
                          <a:lnTo>
                            <a:pt x="1" y="23"/>
                          </a:lnTo>
                          <a:lnTo>
                            <a:pt x="1" y="21"/>
                          </a:lnTo>
                          <a:lnTo>
                            <a:pt x="0" y="20"/>
                          </a:lnTo>
                          <a:lnTo>
                            <a:pt x="0" y="19"/>
                          </a:lnTo>
                          <a:lnTo>
                            <a:pt x="0" y="18"/>
                          </a:lnTo>
                          <a:lnTo>
                            <a:pt x="0" y="17"/>
                          </a:lnTo>
                          <a:lnTo>
                            <a:pt x="0" y="16"/>
                          </a:lnTo>
                          <a:lnTo>
                            <a:pt x="1" y="13"/>
                          </a:lnTo>
                          <a:lnTo>
                            <a:pt x="1" y="11"/>
                          </a:lnTo>
                          <a:lnTo>
                            <a:pt x="2" y="9"/>
                          </a:lnTo>
                          <a:lnTo>
                            <a:pt x="3" y="7"/>
                          </a:lnTo>
                          <a:lnTo>
                            <a:pt x="4" y="5"/>
                          </a:lnTo>
                          <a:lnTo>
                            <a:pt x="6" y="4"/>
                          </a:lnTo>
                          <a:lnTo>
                            <a:pt x="7" y="2"/>
                          </a:lnTo>
                          <a:lnTo>
                            <a:pt x="9" y="2"/>
                          </a:lnTo>
                          <a:lnTo>
                            <a:pt x="11" y="1"/>
                          </a:lnTo>
                          <a:lnTo>
                            <a:pt x="14" y="0"/>
                          </a:lnTo>
                          <a:lnTo>
                            <a:pt x="15" y="0"/>
                          </a:lnTo>
                          <a:lnTo>
                            <a:pt x="16" y="0"/>
                          </a:lnTo>
                          <a:lnTo>
                            <a:pt x="17" y="0"/>
                          </a:lnTo>
                          <a:lnTo>
                            <a:pt x="19" y="0"/>
                          </a:lnTo>
                          <a:lnTo>
                            <a:pt x="19" y="1"/>
                          </a:lnTo>
                          <a:lnTo>
                            <a:pt x="22" y="1"/>
                          </a:lnTo>
                          <a:lnTo>
                            <a:pt x="23" y="2"/>
                          </a:lnTo>
                          <a:lnTo>
                            <a:pt x="24" y="2"/>
                          </a:lnTo>
                          <a:lnTo>
                            <a:pt x="25" y="3"/>
                          </a:lnTo>
                          <a:lnTo>
                            <a:pt x="25" y="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027" name="Freeform 1062"/>
                    <p:cNvSpPr>
                      <a:spLocks/>
                    </p:cNvSpPr>
                    <p:nvPr/>
                  </p:nvSpPr>
                  <p:spPr bwMode="auto">
                    <a:xfrm>
                      <a:off x="2592" y="2639"/>
                      <a:ext cx="29" cy="31"/>
                    </a:xfrm>
                    <a:custGeom>
                      <a:avLst/>
                      <a:gdLst>
                        <a:gd name="T0" fmla="*/ 25 w 29"/>
                        <a:gd name="T1" fmla="*/ 4 h 31"/>
                        <a:gd name="T2" fmla="*/ 26 w 29"/>
                        <a:gd name="T3" fmla="*/ 5 h 31"/>
                        <a:gd name="T4" fmla="*/ 28 w 29"/>
                        <a:gd name="T5" fmla="*/ 7 h 31"/>
                        <a:gd name="T6" fmla="*/ 28 w 29"/>
                        <a:gd name="T7" fmla="*/ 7 h 31"/>
                        <a:gd name="T8" fmla="*/ 29 w 29"/>
                        <a:gd name="T9" fmla="*/ 9 h 31"/>
                        <a:gd name="T10" fmla="*/ 29 w 29"/>
                        <a:gd name="T11" fmla="*/ 10 h 31"/>
                        <a:gd name="T12" fmla="*/ 29 w 29"/>
                        <a:gd name="T13" fmla="*/ 12 h 31"/>
                        <a:gd name="T14" fmla="*/ 29 w 29"/>
                        <a:gd name="T15" fmla="*/ 13 h 31"/>
                        <a:gd name="T16" fmla="*/ 29 w 29"/>
                        <a:gd name="T17" fmla="*/ 15 h 31"/>
                        <a:gd name="T18" fmla="*/ 29 w 29"/>
                        <a:gd name="T19" fmla="*/ 17 h 31"/>
                        <a:gd name="T20" fmla="*/ 29 w 29"/>
                        <a:gd name="T21" fmla="*/ 18 h 31"/>
                        <a:gd name="T22" fmla="*/ 28 w 29"/>
                        <a:gd name="T23" fmla="*/ 19 h 31"/>
                        <a:gd name="T24" fmla="*/ 26 w 29"/>
                        <a:gd name="T25" fmla="*/ 21 h 31"/>
                        <a:gd name="T26" fmla="*/ 25 w 29"/>
                        <a:gd name="T27" fmla="*/ 23 h 31"/>
                        <a:gd name="T28" fmla="*/ 24 w 29"/>
                        <a:gd name="T29" fmla="*/ 23 h 31"/>
                        <a:gd name="T30" fmla="*/ 23 w 29"/>
                        <a:gd name="T31" fmla="*/ 25 h 31"/>
                        <a:gd name="T32" fmla="*/ 23 w 29"/>
                        <a:gd name="T33" fmla="*/ 27 h 31"/>
                        <a:gd name="T34" fmla="*/ 21 w 29"/>
                        <a:gd name="T35" fmla="*/ 28 h 31"/>
                        <a:gd name="T36" fmla="*/ 19 w 29"/>
                        <a:gd name="T37" fmla="*/ 30 h 31"/>
                        <a:gd name="T38" fmla="*/ 19 w 29"/>
                        <a:gd name="T39" fmla="*/ 30 h 31"/>
                        <a:gd name="T40" fmla="*/ 16 w 29"/>
                        <a:gd name="T41" fmla="*/ 31 h 31"/>
                        <a:gd name="T42" fmla="*/ 15 w 29"/>
                        <a:gd name="T43" fmla="*/ 31 h 31"/>
                        <a:gd name="T44" fmla="*/ 14 w 29"/>
                        <a:gd name="T45" fmla="*/ 31 h 31"/>
                        <a:gd name="T46" fmla="*/ 13 w 29"/>
                        <a:gd name="T47" fmla="*/ 31 h 31"/>
                        <a:gd name="T48" fmla="*/ 11 w 29"/>
                        <a:gd name="T49" fmla="*/ 31 h 31"/>
                        <a:gd name="T50" fmla="*/ 9 w 29"/>
                        <a:gd name="T51" fmla="*/ 30 h 31"/>
                        <a:gd name="T52" fmla="*/ 8 w 29"/>
                        <a:gd name="T53" fmla="*/ 30 h 31"/>
                        <a:gd name="T54" fmla="*/ 7 w 29"/>
                        <a:gd name="T55" fmla="*/ 28 h 31"/>
                        <a:gd name="T56" fmla="*/ 6 w 29"/>
                        <a:gd name="T57" fmla="*/ 28 h 31"/>
                        <a:gd name="T58" fmla="*/ 6 w 29"/>
                        <a:gd name="T59" fmla="*/ 27 h 31"/>
                        <a:gd name="T60" fmla="*/ 3 w 29"/>
                        <a:gd name="T61" fmla="*/ 27 h 31"/>
                        <a:gd name="T62" fmla="*/ 3 w 29"/>
                        <a:gd name="T63" fmla="*/ 26 h 31"/>
                        <a:gd name="T64" fmla="*/ 2 w 29"/>
                        <a:gd name="T65" fmla="*/ 25 h 31"/>
                        <a:gd name="T66" fmla="*/ 2 w 29"/>
                        <a:gd name="T67" fmla="*/ 23 h 31"/>
                        <a:gd name="T68" fmla="*/ 1 w 29"/>
                        <a:gd name="T69" fmla="*/ 23 h 31"/>
                        <a:gd name="T70" fmla="*/ 1 w 29"/>
                        <a:gd name="T71" fmla="*/ 21 h 31"/>
                        <a:gd name="T72" fmla="*/ 0 w 29"/>
                        <a:gd name="T73" fmla="*/ 20 h 31"/>
                        <a:gd name="T74" fmla="*/ 0 w 29"/>
                        <a:gd name="T75" fmla="*/ 19 h 31"/>
                        <a:gd name="T76" fmla="*/ 0 w 29"/>
                        <a:gd name="T77" fmla="*/ 18 h 31"/>
                        <a:gd name="T78" fmla="*/ 0 w 29"/>
                        <a:gd name="T79" fmla="*/ 17 h 31"/>
                        <a:gd name="T80" fmla="*/ 0 w 29"/>
                        <a:gd name="T81" fmla="*/ 16 h 31"/>
                        <a:gd name="T82" fmla="*/ 1 w 29"/>
                        <a:gd name="T83" fmla="*/ 13 h 31"/>
                        <a:gd name="T84" fmla="*/ 1 w 29"/>
                        <a:gd name="T85" fmla="*/ 11 h 31"/>
                        <a:gd name="T86" fmla="*/ 2 w 29"/>
                        <a:gd name="T87" fmla="*/ 9 h 31"/>
                        <a:gd name="T88" fmla="*/ 3 w 29"/>
                        <a:gd name="T89" fmla="*/ 7 h 31"/>
                        <a:gd name="T90" fmla="*/ 4 w 29"/>
                        <a:gd name="T91" fmla="*/ 5 h 31"/>
                        <a:gd name="T92" fmla="*/ 6 w 29"/>
                        <a:gd name="T93" fmla="*/ 4 h 31"/>
                        <a:gd name="T94" fmla="*/ 7 w 29"/>
                        <a:gd name="T95" fmla="*/ 2 h 31"/>
                        <a:gd name="T96" fmla="*/ 9 w 29"/>
                        <a:gd name="T97" fmla="*/ 2 h 31"/>
                        <a:gd name="T98" fmla="*/ 11 w 29"/>
                        <a:gd name="T99" fmla="*/ 1 h 31"/>
                        <a:gd name="T100" fmla="*/ 14 w 29"/>
                        <a:gd name="T101" fmla="*/ 0 h 31"/>
                        <a:gd name="T102" fmla="*/ 15 w 29"/>
                        <a:gd name="T103" fmla="*/ 0 h 31"/>
                        <a:gd name="T104" fmla="*/ 16 w 29"/>
                        <a:gd name="T105" fmla="*/ 0 h 31"/>
                        <a:gd name="T106" fmla="*/ 17 w 29"/>
                        <a:gd name="T107" fmla="*/ 0 h 31"/>
                        <a:gd name="T108" fmla="*/ 19 w 29"/>
                        <a:gd name="T109" fmla="*/ 0 h 31"/>
                        <a:gd name="T110" fmla="*/ 19 w 29"/>
                        <a:gd name="T111" fmla="*/ 1 h 31"/>
                        <a:gd name="T112" fmla="*/ 22 w 29"/>
                        <a:gd name="T113" fmla="*/ 1 h 31"/>
                        <a:gd name="T114" fmla="*/ 23 w 29"/>
                        <a:gd name="T115" fmla="*/ 2 h 31"/>
                        <a:gd name="T116" fmla="*/ 24 w 29"/>
                        <a:gd name="T117" fmla="*/ 2 h 31"/>
                        <a:gd name="T118" fmla="*/ 25 w 29"/>
                        <a:gd name="T119" fmla="*/ 3 h 31"/>
                        <a:gd name="T120" fmla="*/ 25 w 29"/>
                        <a:gd name="T121" fmla="*/ 4 h 31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29"/>
                        <a:gd name="T184" fmla="*/ 0 h 31"/>
                        <a:gd name="T185" fmla="*/ 29 w 29"/>
                        <a:gd name="T186" fmla="*/ 31 h 31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29" h="31">
                          <a:moveTo>
                            <a:pt x="25" y="4"/>
                          </a:moveTo>
                          <a:lnTo>
                            <a:pt x="26" y="5"/>
                          </a:lnTo>
                          <a:lnTo>
                            <a:pt x="28" y="7"/>
                          </a:lnTo>
                          <a:lnTo>
                            <a:pt x="29" y="9"/>
                          </a:lnTo>
                          <a:lnTo>
                            <a:pt x="29" y="10"/>
                          </a:lnTo>
                          <a:lnTo>
                            <a:pt x="29" y="12"/>
                          </a:lnTo>
                          <a:lnTo>
                            <a:pt x="29" y="13"/>
                          </a:lnTo>
                          <a:lnTo>
                            <a:pt x="29" y="15"/>
                          </a:lnTo>
                          <a:lnTo>
                            <a:pt x="29" y="17"/>
                          </a:lnTo>
                          <a:lnTo>
                            <a:pt x="29" y="18"/>
                          </a:lnTo>
                          <a:lnTo>
                            <a:pt x="28" y="19"/>
                          </a:lnTo>
                          <a:lnTo>
                            <a:pt x="26" y="21"/>
                          </a:lnTo>
                          <a:lnTo>
                            <a:pt x="25" y="23"/>
                          </a:lnTo>
                          <a:lnTo>
                            <a:pt x="24" y="23"/>
                          </a:lnTo>
                          <a:lnTo>
                            <a:pt x="23" y="25"/>
                          </a:lnTo>
                          <a:lnTo>
                            <a:pt x="23" y="27"/>
                          </a:lnTo>
                          <a:lnTo>
                            <a:pt x="21" y="28"/>
                          </a:lnTo>
                          <a:lnTo>
                            <a:pt x="19" y="30"/>
                          </a:lnTo>
                          <a:lnTo>
                            <a:pt x="16" y="31"/>
                          </a:lnTo>
                          <a:lnTo>
                            <a:pt x="15" y="31"/>
                          </a:lnTo>
                          <a:lnTo>
                            <a:pt x="14" y="31"/>
                          </a:lnTo>
                          <a:lnTo>
                            <a:pt x="13" y="31"/>
                          </a:lnTo>
                          <a:lnTo>
                            <a:pt x="11" y="31"/>
                          </a:lnTo>
                          <a:lnTo>
                            <a:pt x="9" y="30"/>
                          </a:lnTo>
                          <a:lnTo>
                            <a:pt x="8" y="30"/>
                          </a:lnTo>
                          <a:lnTo>
                            <a:pt x="7" y="28"/>
                          </a:lnTo>
                          <a:lnTo>
                            <a:pt x="6" y="28"/>
                          </a:lnTo>
                          <a:lnTo>
                            <a:pt x="6" y="27"/>
                          </a:lnTo>
                          <a:lnTo>
                            <a:pt x="3" y="27"/>
                          </a:lnTo>
                          <a:lnTo>
                            <a:pt x="3" y="26"/>
                          </a:lnTo>
                          <a:lnTo>
                            <a:pt x="2" y="25"/>
                          </a:lnTo>
                          <a:lnTo>
                            <a:pt x="2" y="23"/>
                          </a:lnTo>
                          <a:lnTo>
                            <a:pt x="1" y="23"/>
                          </a:lnTo>
                          <a:lnTo>
                            <a:pt x="1" y="21"/>
                          </a:lnTo>
                          <a:lnTo>
                            <a:pt x="0" y="20"/>
                          </a:lnTo>
                          <a:lnTo>
                            <a:pt x="0" y="19"/>
                          </a:lnTo>
                          <a:lnTo>
                            <a:pt x="0" y="18"/>
                          </a:lnTo>
                          <a:lnTo>
                            <a:pt x="0" y="17"/>
                          </a:lnTo>
                          <a:lnTo>
                            <a:pt x="0" y="16"/>
                          </a:lnTo>
                          <a:lnTo>
                            <a:pt x="1" y="13"/>
                          </a:lnTo>
                          <a:lnTo>
                            <a:pt x="1" y="11"/>
                          </a:lnTo>
                          <a:lnTo>
                            <a:pt x="2" y="9"/>
                          </a:lnTo>
                          <a:lnTo>
                            <a:pt x="3" y="7"/>
                          </a:lnTo>
                          <a:lnTo>
                            <a:pt x="4" y="5"/>
                          </a:lnTo>
                          <a:lnTo>
                            <a:pt x="6" y="4"/>
                          </a:lnTo>
                          <a:lnTo>
                            <a:pt x="7" y="2"/>
                          </a:lnTo>
                          <a:lnTo>
                            <a:pt x="9" y="2"/>
                          </a:lnTo>
                          <a:lnTo>
                            <a:pt x="11" y="1"/>
                          </a:lnTo>
                          <a:lnTo>
                            <a:pt x="14" y="0"/>
                          </a:lnTo>
                          <a:lnTo>
                            <a:pt x="15" y="0"/>
                          </a:lnTo>
                          <a:lnTo>
                            <a:pt x="16" y="0"/>
                          </a:lnTo>
                          <a:lnTo>
                            <a:pt x="17" y="0"/>
                          </a:lnTo>
                          <a:lnTo>
                            <a:pt x="19" y="0"/>
                          </a:lnTo>
                          <a:lnTo>
                            <a:pt x="19" y="1"/>
                          </a:lnTo>
                          <a:lnTo>
                            <a:pt x="22" y="1"/>
                          </a:lnTo>
                          <a:lnTo>
                            <a:pt x="23" y="2"/>
                          </a:lnTo>
                          <a:lnTo>
                            <a:pt x="24" y="2"/>
                          </a:lnTo>
                          <a:lnTo>
                            <a:pt x="25" y="3"/>
                          </a:lnTo>
                          <a:lnTo>
                            <a:pt x="25" y="4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5014" name="Freeform 1063"/>
                  <p:cNvSpPr>
                    <a:spLocks/>
                  </p:cNvSpPr>
                  <p:nvPr/>
                </p:nvSpPr>
                <p:spPr bwMode="auto">
                  <a:xfrm>
                    <a:off x="2603" y="2643"/>
                    <a:ext cx="13" cy="12"/>
                  </a:xfrm>
                  <a:custGeom>
                    <a:avLst/>
                    <a:gdLst>
                      <a:gd name="T0" fmla="*/ 13 w 13"/>
                      <a:gd name="T1" fmla="*/ 11 h 12"/>
                      <a:gd name="T2" fmla="*/ 13 w 13"/>
                      <a:gd name="T3" fmla="*/ 12 h 12"/>
                      <a:gd name="T4" fmla="*/ 0 w 13"/>
                      <a:gd name="T5" fmla="*/ 1 h 12"/>
                      <a:gd name="T6" fmla="*/ 0 w 13"/>
                      <a:gd name="T7" fmla="*/ 0 h 12"/>
                      <a:gd name="T8" fmla="*/ 2 w 13"/>
                      <a:gd name="T9" fmla="*/ 1 h 12"/>
                      <a:gd name="T10" fmla="*/ 4 w 13"/>
                      <a:gd name="T11" fmla="*/ 2 h 12"/>
                      <a:gd name="T12" fmla="*/ 5 w 13"/>
                      <a:gd name="T13" fmla="*/ 3 h 12"/>
                      <a:gd name="T14" fmla="*/ 6 w 13"/>
                      <a:gd name="T15" fmla="*/ 3 h 12"/>
                      <a:gd name="T16" fmla="*/ 8 w 13"/>
                      <a:gd name="T17" fmla="*/ 4 h 12"/>
                      <a:gd name="T18" fmla="*/ 8 w 13"/>
                      <a:gd name="T19" fmla="*/ 6 h 12"/>
                      <a:gd name="T20" fmla="*/ 10 w 13"/>
                      <a:gd name="T21" fmla="*/ 7 h 12"/>
                      <a:gd name="T22" fmla="*/ 11 w 13"/>
                      <a:gd name="T23" fmla="*/ 8 h 12"/>
                      <a:gd name="T24" fmla="*/ 12 w 13"/>
                      <a:gd name="T25" fmla="*/ 9 h 12"/>
                      <a:gd name="T26" fmla="*/ 13 w 13"/>
                      <a:gd name="T27" fmla="*/ 12 h 12"/>
                      <a:gd name="T28" fmla="*/ 13 w 13"/>
                      <a:gd name="T29" fmla="*/ 11 h 12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3"/>
                      <a:gd name="T46" fmla="*/ 0 h 12"/>
                      <a:gd name="T47" fmla="*/ 13 w 13"/>
                      <a:gd name="T48" fmla="*/ 12 h 12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3" h="12">
                        <a:moveTo>
                          <a:pt x="13" y="11"/>
                        </a:moveTo>
                        <a:lnTo>
                          <a:pt x="13" y="12"/>
                        </a:lnTo>
                        <a:lnTo>
                          <a:pt x="0" y="1"/>
                        </a:lnTo>
                        <a:lnTo>
                          <a:pt x="0" y="0"/>
                        </a:lnTo>
                        <a:lnTo>
                          <a:pt x="2" y="1"/>
                        </a:lnTo>
                        <a:lnTo>
                          <a:pt x="4" y="2"/>
                        </a:lnTo>
                        <a:lnTo>
                          <a:pt x="5" y="3"/>
                        </a:lnTo>
                        <a:lnTo>
                          <a:pt x="6" y="3"/>
                        </a:lnTo>
                        <a:lnTo>
                          <a:pt x="8" y="4"/>
                        </a:lnTo>
                        <a:lnTo>
                          <a:pt x="8" y="6"/>
                        </a:lnTo>
                        <a:lnTo>
                          <a:pt x="10" y="7"/>
                        </a:lnTo>
                        <a:lnTo>
                          <a:pt x="11" y="8"/>
                        </a:lnTo>
                        <a:lnTo>
                          <a:pt x="12" y="9"/>
                        </a:lnTo>
                        <a:lnTo>
                          <a:pt x="13" y="12"/>
                        </a:lnTo>
                        <a:lnTo>
                          <a:pt x="13" y="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5015" name="Group 1064"/>
                  <p:cNvGrpSpPr>
                    <a:grpSpLocks/>
                  </p:cNvGrpSpPr>
                  <p:nvPr/>
                </p:nvGrpSpPr>
                <p:grpSpPr bwMode="auto">
                  <a:xfrm>
                    <a:off x="2603" y="2643"/>
                    <a:ext cx="13" cy="12"/>
                    <a:chOff x="2603" y="2643"/>
                    <a:chExt cx="13" cy="12"/>
                  </a:xfrm>
                </p:grpSpPr>
                <p:sp>
                  <p:nvSpPr>
                    <p:cNvPr id="25024" name="Freeform 1065"/>
                    <p:cNvSpPr>
                      <a:spLocks/>
                    </p:cNvSpPr>
                    <p:nvPr/>
                  </p:nvSpPr>
                  <p:spPr bwMode="auto">
                    <a:xfrm>
                      <a:off x="2603" y="2643"/>
                      <a:ext cx="13" cy="12"/>
                    </a:xfrm>
                    <a:custGeom>
                      <a:avLst/>
                      <a:gdLst>
                        <a:gd name="T0" fmla="*/ 13 w 13"/>
                        <a:gd name="T1" fmla="*/ 11 h 12"/>
                        <a:gd name="T2" fmla="*/ 13 w 13"/>
                        <a:gd name="T3" fmla="*/ 12 h 12"/>
                        <a:gd name="T4" fmla="*/ 0 w 13"/>
                        <a:gd name="T5" fmla="*/ 1 h 12"/>
                        <a:gd name="T6" fmla="*/ 0 w 13"/>
                        <a:gd name="T7" fmla="*/ 0 h 12"/>
                        <a:gd name="T8" fmla="*/ 2 w 13"/>
                        <a:gd name="T9" fmla="*/ 1 h 12"/>
                        <a:gd name="T10" fmla="*/ 4 w 13"/>
                        <a:gd name="T11" fmla="*/ 2 h 12"/>
                        <a:gd name="T12" fmla="*/ 5 w 13"/>
                        <a:gd name="T13" fmla="*/ 3 h 12"/>
                        <a:gd name="T14" fmla="*/ 6 w 13"/>
                        <a:gd name="T15" fmla="*/ 3 h 12"/>
                        <a:gd name="T16" fmla="*/ 8 w 13"/>
                        <a:gd name="T17" fmla="*/ 4 h 12"/>
                        <a:gd name="T18" fmla="*/ 8 w 13"/>
                        <a:gd name="T19" fmla="*/ 6 h 12"/>
                        <a:gd name="T20" fmla="*/ 10 w 13"/>
                        <a:gd name="T21" fmla="*/ 7 h 12"/>
                        <a:gd name="T22" fmla="*/ 11 w 13"/>
                        <a:gd name="T23" fmla="*/ 8 h 12"/>
                        <a:gd name="T24" fmla="*/ 12 w 13"/>
                        <a:gd name="T25" fmla="*/ 9 h 12"/>
                        <a:gd name="T26" fmla="*/ 13 w 13"/>
                        <a:gd name="T27" fmla="*/ 12 h 12"/>
                        <a:gd name="T28" fmla="*/ 13 w 13"/>
                        <a:gd name="T29" fmla="*/ 11 h 12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3"/>
                        <a:gd name="T46" fmla="*/ 0 h 12"/>
                        <a:gd name="T47" fmla="*/ 13 w 13"/>
                        <a:gd name="T48" fmla="*/ 12 h 12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3" h="12">
                          <a:moveTo>
                            <a:pt x="13" y="11"/>
                          </a:moveTo>
                          <a:lnTo>
                            <a:pt x="13" y="12"/>
                          </a:ln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2" y="1"/>
                          </a:lnTo>
                          <a:lnTo>
                            <a:pt x="4" y="2"/>
                          </a:lnTo>
                          <a:lnTo>
                            <a:pt x="5" y="3"/>
                          </a:lnTo>
                          <a:lnTo>
                            <a:pt x="6" y="3"/>
                          </a:lnTo>
                          <a:lnTo>
                            <a:pt x="8" y="4"/>
                          </a:lnTo>
                          <a:lnTo>
                            <a:pt x="8" y="6"/>
                          </a:lnTo>
                          <a:lnTo>
                            <a:pt x="10" y="7"/>
                          </a:lnTo>
                          <a:lnTo>
                            <a:pt x="11" y="8"/>
                          </a:lnTo>
                          <a:lnTo>
                            <a:pt x="12" y="9"/>
                          </a:lnTo>
                          <a:lnTo>
                            <a:pt x="13" y="12"/>
                          </a:lnTo>
                          <a:lnTo>
                            <a:pt x="13" y="1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025" name="Freeform 1066"/>
                    <p:cNvSpPr>
                      <a:spLocks/>
                    </p:cNvSpPr>
                    <p:nvPr/>
                  </p:nvSpPr>
                  <p:spPr bwMode="auto">
                    <a:xfrm>
                      <a:off x="2603" y="2643"/>
                      <a:ext cx="13" cy="12"/>
                    </a:xfrm>
                    <a:custGeom>
                      <a:avLst/>
                      <a:gdLst>
                        <a:gd name="T0" fmla="*/ 13 w 13"/>
                        <a:gd name="T1" fmla="*/ 11 h 12"/>
                        <a:gd name="T2" fmla="*/ 13 w 13"/>
                        <a:gd name="T3" fmla="*/ 12 h 12"/>
                        <a:gd name="T4" fmla="*/ 0 w 13"/>
                        <a:gd name="T5" fmla="*/ 1 h 12"/>
                        <a:gd name="T6" fmla="*/ 0 w 13"/>
                        <a:gd name="T7" fmla="*/ 0 h 12"/>
                        <a:gd name="T8" fmla="*/ 2 w 13"/>
                        <a:gd name="T9" fmla="*/ 1 h 12"/>
                        <a:gd name="T10" fmla="*/ 4 w 13"/>
                        <a:gd name="T11" fmla="*/ 2 h 12"/>
                        <a:gd name="T12" fmla="*/ 5 w 13"/>
                        <a:gd name="T13" fmla="*/ 3 h 12"/>
                        <a:gd name="T14" fmla="*/ 6 w 13"/>
                        <a:gd name="T15" fmla="*/ 3 h 12"/>
                        <a:gd name="T16" fmla="*/ 8 w 13"/>
                        <a:gd name="T17" fmla="*/ 4 h 12"/>
                        <a:gd name="T18" fmla="*/ 8 w 13"/>
                        <a:gd name="T19" fmla="*/ 6 h 12"/>
                        <a:gd name="T20" fmla="*/ 10 w 13"/>
                        <a:gd name="T21" fmla="*/ 7 h 12"/>
                        <a:gd name="T22" fmla="*/ 11 w 13"/>
                        <a:gd name="T23" fmla="*/ 8 h 12"/>
                        <a:gd name="T24" fmla="*/ 12 w 13"/>
                        <a:gd name="T25" fmla="*/ 9 h 12"/>
                        <a:gd name="T26" fmla="*/ 13 w 13"/>
                        <a:gd name="T27" fmla="*/ 12 h 12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3"/>
                        <a:gd name="T43" fmla="*/ 0 h 12"/>
                        <a:gd name="T44" fmla="*/ 13 w 13"/>
                        <a:gd name="T45" fmla="*/ 12 h 12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3" h="12">
                          <a:moveTo>
                            <a:pt x="13" y="11"/>
                          </a:moveTo>
                          <a:lnTo>
                            <a:pt x="13" y="12"/>
                          </a:ln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2" y="1"/>
                          </a:lnTo>
                          <a:lnTo>
                            <a:pt x="4" y="2"/>
                          </a:lnTo>
                          <a:lnTo>
                            <a:pt x="5" y="3"/>
                          </a:lnTo>
                          <a:lnTo>
                            <a:pt x="6" y="3"/>
                          </a:lnTo>
                          <a:lnTo>
                            <a:pt x="8" y="4"/>
                          </a:lnTo>
                          <a:lnTo>
                            <a:pt x="8" y="6"/>
                          </a:lnTo>
                          <a:lnTo>
                            <a:pt x="10" y="7"/>
                          </a:lnTo>
                          <a:lnTo>
                            <a:pt x="11" y="8"/>
                          </a:lnTo>
                          <a:lnTo>
                            <a:pt x="12" y="9"/>
                          </a:lnTo>
                          <a:lnTo>
                            <a:pt x="13" y="12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5016" name="Freeform 1067"/>
                  <p:cNvSpPr>
                    <a:spLocks/>
                  </p:cNvSpPr>
                  <p:nvPr/>
                </p:nvSpPr>
                <p:spPr bwMode="auto">
                  <a:xfrm>
                    <a:off x="2616" y="2658"/>
                    <a:ext cx="26" cy="29"/>
                  </a:xfrm>
                  <a:custGeom>
                    <a:avLst/>
                    <a:gdLst>
                      <a:gd name="T0" fmla="*/ 22 w 26"/>
                      <a:gd name="T1" fmla="*/ 2 h 29"/>
                      <a:gd name="T2" fmla="*/ 22 w 26"/>
                      <a:gd name="T3" fmla="*/ 3 h 29"/>
                      <a:gd name="T4" fmla="*/ 23 w 26"/>
                      <a:gd name="T5" fmla="*/ 4 h 29"/>
                      <a:gd name="T6" fmla="*/ 24 w 26"/>
                      <a:gd name="T7" fmla="*/ 5 h 29"/>
                      <a:gd name="T8" fmla="*/ 24 w 26"/>
                      <a:gd name="T9" fmla="*/ 7 h 29"/>
                      <a:gd name="T10" fmla="*/ 25 w 26"/>
                      <a:gd name="T11" fmla="*/ 7 h 29"/>
                      <a:gd name="T12" fmla="*/ 25 w 26"/>
                      <a:gd name="T13" fmla="*/ 9 h 29"/>
                      <a:gd name="T14" fmla="*/ 26 w 26"/>
                      <a:gd name="T15" fmla="*/ 9 h 29"/>
                      <a:gd name="T16" fmla="*/ 26 w 26"/>
                      <a:gd name="T17" fmla="*/ 12 h 29"/>
                      <a:gd name="T18" fmla="*/ 26 w 26"/>
                      <a:gd name="T19" fmla="*/ 13 h 29"/>
                      <a:gd name="T20" fmla="*/ 26 w 26"/>
                      <a:gd name="T21" fmla="*/ 15 h 29"/>
                      <a:gd name="T22" fmla="*/ 26 w 26"/>
                      <a:gd name="T23" fmla="*/ 16 h 29"/>
                      <a:gd name="T24" fmla="*/ 26 w 26"/>
                      <a:gd name="T25" fmla="*/ 18 h 29"/>
                      <a:gd name="T26" fmla="*/ 25 w 26"/>
                      <a:gd name="T27" fmla="*/ 19 h 29"/>
                      <a:gd name="T28" fmla="*/ 24 w 26"/>
                      <a:gd name="T29" fmla="*/ 21 h 29"/>
                      <a:gd name="T30" fmla="*/ 24 w 26"/>
                      <a:gd name="T31" fmla="*/ 22 h 29"/>
                      <a:gd name="T32" fmla="*/ 23 w 26"/>
                      <a:gd name="T33" fmla="*/ 23 h 29"/>
                      <a:gd name="T34" fmla="*/ 22 w 26"/>
                      <a:gd name="T35" fmla="*/ 25 h 29"/>
                      <a:gd name="T36" fmla="*/ 21 w 26"/>
                      <a:gd name="T37" fmla="*/ 27 h 29"/>
                      <a:gd name="T38" fmla="*/ 18 w 26"/>
                      <a:gd name="T39" fmla="*/ 28 h 29"/>
                      <a:gd name="T40" fmla="*/ 17 w 26"/>
                      <a:gd name="T41" fmla="*/ 29 h 29"/>
                      <a:gd name="T42" fmla="*/ 16 w 26"/>
                      <a:gd name="T43" fmla="*/ 29 h 29"/>
                      <a:gd name="T44" fmla="*/ 14 w 26"/>
                      <a:gd name="T45" fmla="*/ 29 h 29"/>
                      <a:gd name="T46" fmla="*/ 14 w 26"/>
                      <a:gd name="T47" fmla="*/ 29 h 29"/>
                      <a:gd name="T48" fmla="*/ 12 w 26"/>
                      <a:gd name="T49" fmla="*/ 29 h 29"/>
                      <a:gd name="T50" fmla="*/ 11 w 26"/>
                      <a:gd name="T51" fmla="*/ 29 h 29"/>
                      <a:gd name="T52" fmla="*/ 10 w 26"/>
                      <a:gd name="T53" fmla="*/ 29 h 29"/>
                      <a:gd name="T54" fmla="*/ 9 w 26"/>
                      <a:gd name="T55" fmla="*/ 29 h 29"/>
                      <a:gd name="T56" fmla="*/ 7 w 26"/>
                      <a:gd name="T57" fmla="*/ 28 h 29"/>
                      <a:gd name="T58" fmla="*/ 6 w 26"/>
                      <a:gd name="T59" fmla="*/ 28 h 29"/>
                      <a:gd name="T60" fmla="*/ 5 w 26"/>
                      <a:gd name="T61" fmla="*/ 27 h 29"/>
                      <a:gd name="T62" fmla="*/ 4 w 26"/>
                      <a:gd name="T63" fmla="*/ 25 h 29"/>
                      <a:gd name="T64" fmla="*/ 2 w 26"/>
                      <a:gd name="T65" fmla="*/ 23 h 29"/>
                      <a:gd name="T66" fmla="*/ 1 w 26"/>
                      <a:gd name="T67" fmla="*/ 21 h 29"/>
                      <a:gd name="T68" fmla="*/ 1 w 26"/>
                      <a:gd name="T69" fmla="*/ 20 h 29"/>
                      <a:gd name="T70" fmla="*/ 0 w 26"/>
                      <a:gd name="T71" fmla="*/ 18 h 29"/>
                      <a:gd name="T72" fmla="*/ 0 w 26"/>
                      <a:gd name="T73" fmla="*/ 17 h 29"/>
                      <a:gd name="T74" fmla="*/ 0 w 26"/>
                      <a:gd name="T75" fmla="*/ 15 h 29"/>
                      <a:gd name="T76" fmla="*/ 0 w 26"/>
                      <a:gd name="T77" fmla="*/ 14 h 29"/>
                      <a:gd name="T78" fmla="*/ 0 w 26"/>
                      <a:gd name="T79" fmla="*/ 12 h 29"/>
                      <a:gd name="T80" fmla="*/ 0 w 26"/>
                      <a:gd name="T81" fmla="*/ 9 h 29"/>
                      <a:gd name="T82" fmla="*/ 1 w 26"/>
                      <a:gd name="T83" fmla="*/ 7 h 29"/>
                      <a:gd name="T84" fmla="*/ 2 w 26"/>
                      <a:gd name="T85" fmla="*/ 7 h 29"/>
                      <a:gd name="T86" fmla="*/ 2 w 26"/>
                      <a:gd name="T87" fmla="*/ 5 h 29"/>
                      <a:gd name="T88" fmla="*/ 4 w 26"/>
                      <a:gd name="T89" fmla="*/ 4 h 29"/>
                      <a:gd name="T90" fmla="*/ 5 w 26"/>
                      <a:gd name="T91" fmla="*/ 3 h 29"/>
                      <a:gd name="T92" fmla="*/ 6 w 26"/>
                      <a:gd name="T93" fmla="*/ 3 h 29"/>
                      <a:gd name="T94" fmla="*/ 7 w 26"/>
                      <a:gd name="T95" fmla="*/ 2 h 29"/>
                      <a:gd name="T96" fmla="*/ 8 w 26"/>
                      <a:gd name="T97" fmla="*/ 1 h 29"/>
                      <a:gd name="T98" fmla="*/ 9 w 26"/>
                      <a:gd name="T99" fmla="*/ 1 h 29"/>
                      <a:gd name="T100" fmla="*/ 10 w 26"/>
                      <a:gd name="T101" fmla="*/ 0 h 29"/>
                      <a:gd name="T102" fmla="*/ 11 w 26"/>
                      <a:gd name="T103" fmla="*/ 0 h 29"/>
                      <a:gd name="T104" fmla="*/ 12 w 26"/>
                      <a:gd name="T105" fmla="*/ 0 h 29"/>
                      <a:gd name="T106" fmla="*/ 14 w 26"/>
                      <a:gd name="T107" fmla="*/ 0 h 29"/>
                      <a:gd name="T108" fmla="*/ 14 w 26"/>
                      <a:gd name="T109" fmla="*/ 0 h 29"/>
                      <a:gd name="T110" fmla="*/ 16 w 26"/>
                      <a:gd name="T111" fmla="*/ 0 h 29"/>
                      <a:gd name="T112" fmla="*/ 17 w 26"/>
                      <a:gd name="T113" fmla="*/ 1 h 29"/>
                      <a:gd name="T114" fmla="*/ 18 w 26"/>
                      <a:gd name="T115" fmla="*/ 1 h 29"/>
                      <a:gd name="T116" fmla="*/ 20 w 26"/>
                      <a:gd name="T117" fmla="*/ 1 h 29"/>
                      <a:gd name="T118" fmla="*/ 21 w 26"/>
                      <a:gd name="T119" fmla="*/ 2 h 29"/>
                      <a:gd name="T120" fmla="*/ 22 w 26"/>
                      <a:gd name="T121" fmla="*/ 2 h 29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60000 65536"/>
                      <a:gd name="T172" fmla="*/ 0 60000 65536"/>
                      <a:gd name="T173" fmla="*/ 0 60000 65536"/>
                      <a:gd name="T174" fmla="*/ 0 60000 65536"/>
                      <a:gd name="T175" fmla="*/ 0 60000 65536"/>
                      <a:gd name="T176" fmla="*/ 0 60000 65536"/>
                      <a:gd name="T177" fmla="*/ 0 60000 65536"/>
                      <a:gd name="T178" fmla="*/ 0 60000 65536"/>
                      <a:gd name="T179" fmla="*/ 0 60000 65536"/>
                      <a:gd name="T180" fmla="*/ 0 60000 65536"/>
                      <a:gd name="T181" fmla="*/ 0 60000 65536"/>
                      <a:gd name="T182" fmla="*/ 0 60000 65536"/>
                      <a:gd name="T183" fmla="*/ 0 w 26"/>
                      <a:gd name="T184" fmla="*/ 0 h 29"/>
                      <a:gd name="T185" fmla="*/ 26 w 26"/>
                      <a:gd name="T186" fmla="*/ 29 h 29"/>
                    </a:gdLst>
                    <a:ahLst/>
                    <a:cxnLst>
                      <a:cxn ang="T122">
                        <a:pos x="T0" y="T1"/>
                      </a:cxn>
                      <a:cxn ang="T123">
                        <a:pos x="T2" y="T3"/>
                      </a:cxn>
                      <a:cxn ang="T124">
                        <a:pos x="T4" y="T5"/>
                      </a:cxn>
                      <a:cxn ang="T125">
                        <a:pos x="T6" y="T7"/>
                      </a:cxn>
                      <a:cxn ang="T126">
                        <a:pos x="T8" y="T9"/>
                      </a:cxn>
                      <a:cxn ang="T127">
                        <a:pos x="T10" y="T11"/>
                      </a:cxn>
                      <a:cxn ang="T128">
                        <a:pos x="T12" y="T13"/>
                      </a:cxn>
                      <a:cxn ang="T129">
                        <a:pos x="T14" y="T15"/>
                      </a:cxn>
                      <a:cxn ang="T130">
                        <a:pos x="T16" y="T17"/>
                      </a:cxn>
                      <a:cxn ang="T131">
                        <a:pos x="T18" y="T19"/>
                      </a:cxn>
                      <a:cxn ang="T132">
                        <a:pos x="T20" y="T21"/>
                      </a:cxn>
                      <a:cxn ang="T133">
                        <a:pos x="T22" y="T23"/>
                      </a:cxn>
                      <a:cxn ang="T134">
                        <a:pos x="T24" y="T25"/>
                      </a:cxn>
                      <a:cxn ang="T135">
                        <a:pos x="T26" y="T27"/>
                      </a:cxn>
                      <a:cxn ang="T136">
                        <a:pos x="T28" y="T29"/>
                      </a:cxn>
                      <a:cxn ang="T137">
                        <a:pos x="T30" y="T31"/>
                      </a:cxn>
                      <a:cxn ang="T138">
                        <a:pos x="T32" y="T33"/>
                      </a:cxn>
                      <a:cxn ang="T139">
                        <a:pos x="T34" y="T35"/>
                      </a:cxn>
                      <a:cxn ang="T140">
                        <a:pos x="T36" y="T37"/>
                      </a:cxn>
                      <a:cxn ang="T141">
                        <a:pos x="T38" y="T39"/>
                      </a:cxn>
                      <a:cxn ang="T142">
                        <a:pos x="T40" y="T41"/>
                      </a:cxn>
                      <a:cxn ang="T143">
                        <a:pos x="T42" y="T43"/>
                      </a:cxn>
                      <a:cxn ang="T144">
                        <a:pos x="T44" y="T45"/>
                      </a:cxn>
                      <a:cxn ang="T145">
                        <a:pos x="T46" y="T47"/>
                      </a:cxn>
                      <a:cxn ang="T146">
                        <a:pos x="T48" y="T49"/>
                      </a:cxn>
                      <a:cxn ang="T147">
                        <a:pos x="T50" y="T51"/>
                      </a:cxn>
                      <a:cxn ang="T148">
                        <a:pos x="T52" y="T53"/>
                      </a:cxn>
                      <a:cxn ang="T149">
                        <a:pos x="T54" y="T55"/>
                      </a:cxn>
                      <a:cxn ang="T150">
                        <a:pos x="T56" y="T57"/>
                      </a:cxn>
                      <a:cxn ang="T151">
                        <a:pos x="T58" y="T59"/>
                      </a:cxn>
                      <a:cxn ang="T152">
                        <a:pos x="T60" y="T61"/>
                      </a:cxn>
                      <a:cxn ang="T153">
                        <a:pos x="T62" y="T63"/>
                      </a:cxn>
                      <a:cxn ang="T154">
                        <a:pos x="T64" y="T65"/>
                      </a:cxn>
                      <a:cxn ang="T155">
                        <a:pos x="T66" y="T67"/>
                      </a:cxn>
                      <a:cxn ang="T156">
                        <a:pos x="T68" y="T69"/>
                      </a:cxn>
                      <a:cxn ang="T157">
                        <a:pos x="T70" y="T71"/>
                      </a:cxn>
                      <a:cxn ang="T158">
                        <a:pos x="T72" y="T73"/>
                      </a:cxn>
                      <a:cxn ang="T159">
                        <a:pos x="T74" y="T75"/>
                      </a:cxn>
                      <a:cxn ang="T160">
                        <a:pos x="T76" y="T77"/>
                      </a:cxn>
                      <a:cxn ang="T161">
                        <a:pos x="T78" y="T79"/>
                      </a:cxn>
                      <a:cxn ang="T162">
                        <a:pos x="T80" y="T81"/>
                      </a:cxn>
                      <a:cxn ang="T163">
                        <a:pos x="T82" y="T83"/>
                      </a:cxn>
                      <a:cxn ang="T164">
                        <a:pos x="T84" y="T85"/>
                      </a:cxn>
                      <a:cxn ang="T165">
                        <a:pos x="T86" y="T87"/>
                      </a:cxn>
                      <a:cxn ang="T166">
                        <a:pos x="T88" y="T89"/>
                      </a:cxn>
                      <a:cxn ang="T167">
                        <a:pos x="T90" y="T91"/>
                      </a:cxn>
                      <a:cxn ang="T168">
                        <a:pos x="T92" y="T93"/>
                      </a:cxn>
                      <a:cxn ang="T169">
                        <a:pos x="T94" y="T95"/>
                      </a:cxn>
                      <a:cxn ang="T170">
                        <a:pos x="T96" y="T97"/>
                      </a:cxn>
                      <a:cxn ang="T171">
                        <a:pos x="T98" y="T99"/>
                      </a:cxn>
                      <a:cxn ang="T172">
                        <a:pos x="T100" y="T101"/>
                      </a:cxn>
                      <a:cxn ang="T173">
                        <a:pos x="T102" y="T103"/>
                      </a:cxn>
                      <a:cxn ang="T174">
                        <a:pos x="T104" y="T105"/>
                      </a:cxn>
                      <a:cxn ang="T175">
                        <a:pos x="T106" y="T107"/>
                      </a:cxn>
                      <a:cxn ang="T176">
                        <a:pos x="T108" y="T109"/>
                      </a:cxn>
                      <a:cxn ang="T177">
                        <a:pos x="T110" y="T111"/>
                      </a:cxn>
                      <a:cxn ang="T178">
                        <a:pos x="T112" y="T113"/>
                      </a:cxn>
                      <a:cxn ang="T179">
                        <a:pos x="T114" y="T115"/>
                      </a:cxn>
                      <a:cxn ang="T180">
                        <a:pos x="T116" y="T117"/>
                      </a:cxn>
                      <a:cxn ang="T181">
                        <a:pos x="T118" y="T119"/>
                      </a:cxn>
                      <a:cxn ang="T182">
                        <a:pos x="T120" y="T121"/>
                      </a:cxn>
                    </a:cxnLst>
                    <a:rect l="T183" t="T184" r="T185" b="T186"/>
                    <a:pathLst>
                      <a:path w="26" h="29">
                        <a:moveTo>
                          <a:pt x="22" y="2"/>
                        </a:moveTo>
                        <a:lnTo>
                          <a:pt x="22" y="3"/>
                        </a:lnTo>
                        <a:lnTo>
                          <a:pt x="23" y="4"/>
                        </a:lnTo>
                        <a:lnTo>
                          <a:pt x="24" y="5"/>
                        </a:lnTo>
                        <a:lnTo>
                          <a:pt x="24" y="7"/>
                        </a:lnTo>
                        <a:lnTo>
                          <a:pt x="25" y="7"/>
                        </a:lnTo>
                        <a:lnTo>
                          <a:pt x="25" y="9"/>
                        </a:lnTo>
                        <a:lnTo>
                          <a:pt x="26" y="9"/>
                        </a:lnTo>
                        <a:lnTo>
                          <a:pt x="26" y="12"/>
                        </a:lnTo>
                        <a:lnTo>
                          <a:pt x="26" y="13"/>
                        </a:lnTo>
                        <a:lnTo>
                          <a:pt x="26" y="15"/>
                        </a:lnTo>
                        <a:lnTo>
                          <a:pt x="26" y="16"/>
                        </a:lnTo>
                        <a:lnTo>
                          <a:pt x="26" y="18"/>
                        </a:lnTo>
                        <a:lnTo>
                          <a:pt x="25" y="19"/>
                        </a:lnTo>
                        <a:lnTo>
                          <a:pt x="24" y="21"/>
                        </a:lnTo>
                        <a:lnTo>
                          <a:pt x="24" y="22"/>
                        </a:lnTo>
                        <a:lnTo>
                          <a:pt x="23" y="23"/>
                        </a:lnTo>
                        <a:lnTo>
                          <a:pt x="22" y="25"/>
                        </a:lnTo>
                        <a:lnTo>
                          <a:pt x="21" y="27"/>
                        </a:lnTo>
                        <a:lnTo>
                          <a:pt x="18" y="28"/>
                        </a:lnTo>
                        <a:lnTo>
                          <a:pt x="17" y="29"/>
                        </a:lnTo>
                        <a:lnTo>
                          <a:pt x="16" y="29"/>
                        </a:lnTo>
                        <a:lnTo>
                          <a:pt x="14" y="29"/>
                        </a:lnTo>
                        <a:lnTo>
                          <a:pt x="12" y="29"/>
                        </a:lnTo>
                        <a:lnTo>
                          <a:pt x="11" y="29"/>
                        </a:lnTo>
                        <a:lnTo>
                          <a:pt x="10" y="29"/>
                        </a:lnTo>
                        <a:lnTo>
                          <a:pt x="9" y="29"/>
                        </a:lnTo>
                        <a:lnTo>
                          <a:pt x="7" y="28"/>
                        </a:lnTo>
                        <a:lnTo>
                          <a:pt x="6" y="28"/>
                        </a:lnTo>
                        <a:lnTo>
                          <a:pt x="5" y="27"/>
                        </a:lnTo>
                        <a:lnTo>
                          <a:pt x="4" y="25"/>
                        </a:lnTo>
                        <a:lnTo>
                          <a:pt x="2" y="23"/>
                        </a:lnTo>
                        <a:lnTo>
                          <a:pt x="1" y="21"/>
                        </a:lnTo>
                        <a:lnTo>
                          <a:pt x="1" y="20"/>
                        </a:lnTo>
                        <a:lnTo>
                          <a:pt x="0" y="18"/>
                        </a:lnTo>
                        <a:lnTo>
                          <a:pt x="0" y="17"/>
                        </a:lnTo>
                        <a:lnTo>
                          <a:pt x="0" y="15"/>
                        </a:lnTo>
                        <a:lnTo>
                          <a:pt x="0" y="14"/>
                        </a:lnTo>
                        <a:lnTo>
                          <a:pt x="0" y="12"/>
                        </a:lnTo>
                        <a:lnTo>
                          <a:pt x="0" y="9"/>
                        </a:lnTo>
                        <a:lnTo>
                          <a:pt x="1" y="7"/>
                        </a:lnTo>
                        <a:lnTo>
                          <a:pt x="2" y="7"/>
                        </a:lnTo>
                        <a:lnTo>
                          <a:pt x="2" y="5"/>
                        </a:lnTo>
                        <a:lnTo>
                          <a:pt x="4" y="4"/>
                        </a:lnTo>
                        <a:lnTo>
                          <a:pt x="5" y="3"/>
                        </a:lnTo>
                        <a:lnTo>
                          <a:pt x="6" y="3"/>
                        </a:lnTo>
                        <a:lnTo>
                          <a:pt x="7" y="2"/>
                        </a:lnTo>
                        <a:lnTo>
                          <a:pt x="8" y="1"/>
                        </a:lnTo>
                        <a:lnTo>
                          <a:pt x="9" y="1"/>
                        </a:lnTo>
                        <a:lnTo>
                          <a:pt x="10" y="0"/>
                        </a:lnTo>
                        <a:lnTo>
                          <a:pt x="11" y="0"/>
                        </a:lnTo>
                        <a:lnTo>
                          <a:pt x="12" y="0"/>
                        </a:lnTo>
                        <a:lnTo>
                          <a:pt x="14" y="0"/>
                        </a:lnTo>
                        <a:lnTo>
                          <a:pt x="16" y="0"/>
                        </a:lnTo>
                        <a:lnTo>
                          <a:pt x="17" y="1"/>
                        </a:lnTo>
                        <a:lnTo>
                          <a:pt x="18" y="1"/>
                        </a:lnTo>
                        <a:lnTo>
                          <a:pt x="20" y="1"/>
                        </a:lnTo>
                        <a:lnTo>
                          <a:pt x="21" y="2"/>
                        </a:lnTo>
                        <a:lnTo>
                          <a:pt x="22" y="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5017" name="Group 1068"/>
                  <p:cNvGrpSpPr>
                    <a:grpSpLocks/>
                  </p:cNvGrpSpPr>
                  <p:nvPr/>
                </p:nvGrpSpPr>
                <p:grpSpPr bwMode="auto">
                  <a:xfrm>
                    <a:off x="2616" y="2658"/>
                    <a:ext cx="26" cy="29"/>
                    <a:chOff x="2616" y="2658"/>
                    <a:chExt cx="26" cy="29"/>
                  </a:xfrm>
                </p:grpSpPr>
                <p:sp>
                  <p:nvSpPr>
                    <p:cNvPr id="25022" name="Freeform 1069"/>
                    <p:cNvSpPr>
                      <a:spLocks/>
                    </p:cNvSpPr>
                    <p:nvPr/>
                  </p:nvSpPr>
                  <p:spPr bwMode="auto">
                    <a:xfrm>
                      <a:off x="2616" y="2658"/>
                      <a:ext cx="26" cy="29"/>
                    </a:xfrm>
                    <a:custGeom>
                      <a:avLst/>
                      <a:gdLst>
                        <a:gd name="T0" fmla="*/ 22 w 26"/>
                        <a:gd name="T1" fmla="*/ 2 h 29"/>
                        <a:gd name="T2" fmla="*/ 22 w 26"/>
                        <a:gd name="T3" fmla="*/ 3 h 29"/>
                        <a:gd name="T4" fmla="*/ 23 w 26"/>
                        <a:gd name="T5" fmla="*/ 4 h 29"/>
                        <a:gd name="T6" fmla="*/ 24 w 26"/>
                        <a:gd name="T7" fmla="*/ 5 h 29"/>
                        <a:gd name="T8" fmla="*/ 24 w 26"/>
                        <a:gd name="T9" fmla="*/ 7 h 29"/>
                        <a:gd name="T10" fmla="*/ 25 w 26"/>
                        <a:gd name="T11" fmla="*/ 7 h 29"/>
                        <a:gd name="T12" fmla="*/ 25 w 26"/>
                        <a:gd name="T13" fmla="*/ 9 h 29"/>
                        <a:gd name="T14" fmla="*/ 26 w 26"/>
                        <a:gd name="T15" fmla="*/ 9 h 29"/>
                        <a:gd name="T16" fmla="*/ 26 w 26"/>
                        <a:gd name="T17" fmla="*/ 12 h 29"/>
                        <a:gd name="T18" fmla="*/ 26 w 26"/>
                        <a:gd name="T19" fmla="*/ 13 h 29"/>
                        <a:gd name="T20" fmla="*/ 26 w 26"/>
                        <a:gd name="T21" fmla="*/ 15 h 29"/>
                        <a:gd name="T22" fmla="*/ 26 w 26"/>
                        <a:gd name="T23" fmla="*/ 16 h 29"/>
                        <a:gd name="T24" fmla="*/ 26 w 26"/>
                        <a:gd name="T25" fmla="*/ 18 h 29"/>
                        <a:gd name="T26" fmla="*/ 25 w 26"/>
                        <a:gd name="T27" fmla="*/ 19 h 29"/>
                        <a:gd name="T28" fmla="*/ 24 w 26"/>
                        <a:gd name="T29" fmla="*/ 21 h 29"/>
                        <a:gd name="T30" fmla="*/ 24 w 26"/>
                        <a:gd name="T31" fmla="*/ 22 h 29"/>
                        <a:gd name="T32" fmla="*/ 23 w 26"/>
                        <a:gd name="T33" fmla="*/ 23 h 29"/>
                        <a:gd name="T34" fmla="*/ 22 w 26"/>
                        <a:gd name="T35" fmla="*/ 25 h 29"/>
                        <a:gd name="T36" fmla="*/ 21 w 26"/>
                        <a:gd name="T37" fmla="*/ 27 h 29"/>
                        <a:gd name="T38" fmla="*/ 18 w 26"/>
                        <a:gd name="T39" fmla="*/ 28 h 29"/>
                        <a:gd name="T40" fmla="*/ 17 w 26"/>
                        <a:gd name="T41" fmla="*/ 29 h 29"/>
                        <a:gd name="T42" fmla="*/ 16 w 26"/>
                        <a:gd name="T43" fmla="*/ 29 h 29"/>
                        <a:gd name="T44" fmla="*/ 14 w 26"/>
                        <a:gd name="T45" fmla="*/ 29 h 29"/>
                        <a:gd name="T46" fmla="*/ 14 w 26"/>
                        <a:gd name="T47" fmla="*/ 29 h 29"/>
                        <a:gd name="T48" fmla="*/ 12 w 26"/>
                        <a:gd name="T49" fmla="*/ 29 h 29"/>
                        <a:gd name="T50" fmla="*/ 11 w 26"/>
                        <a:gd name="T51" fmla="*/ 29 h 29"/>
                        <a:gd name="T52" fmla="*/ 10 w 26"/>
                        <a:gd name="T53" fmla="*/ 29 h 29"/>
                        <a:gd name="T54" fmla="*/ 9 w 26"/>
                        <a:gd name="T55" fmla="*/ 29 h 29"/>
                        <a:gd name="T56" fmla="*/ 7 w 26"/>
                        <a:gd name="T57" fmla="*/ 28 h 29"/>
                        <a:gd name="T58" fmla="*/ 6 w 26"/>
                        <a:gd name="T59" fmla="*/ 28 h 29"/>
                        <a:gd name="T60" fmla="*/ 5 w 26"/>
                        <a:gd name="T61" fmla="*/ 27 h 29"/>
                        <a:gd name="T62" fmla="*/ 4 w 26"/>
                        <a:gd name="T63" fmla="*/ 25 h 29"/>
                        <a:gd name="T64" fmla="*/ 2 w 26"/>
                        <a:gd name="T65" fmla="*/ 23 h 29"/>
                        <a:gd name="T66" fmla="*/ 1 w 26"/>
                        <a:gd name="T67" fmla="*/ 21 h 29"/>
                        <a:gd name="T68" fmla="*/ 1 w 26"/>
                        <a:gd name="T69" fmla="*/ 20 h 29"/>
                        <a:gd name="T70" fmla="*/ 0 w 26"/>
                        <a:gd name="T71" fmla="*/ 18 h 29"/>
                        <a:gd name="T72" fmla="*/ 0 w 26"/>
                        <a:gd name="T73" fmla="*/ 17 h 29"/>
                        <a:gd name="T74" fmla="*/ 0 w 26"/>
                        <a:gd name="T75" fmla="*/ 15 h 29"/>
                        <a:gd name="T76" fmla="*/ 0 w 26"/>
                        <a:gd name="T77" fmla="*/ 14 h 29"/>
                        <a:gd name="T78" fmla="*/ 0 w 26"/>
                        <a:gd name="T79" fmla="*/ 12 h 29"/>
                        <a:gd name="T80" fmla="*/ 0 w 26"/>
                        <a:gd name="T81" fmla="*/ 9 h 29"/>
                        <a:gd name="T82" fmla="*/ 1 w 26"/>
                        <a:gd name="T83" fmla="*/ 7 h 29"/>
                        <a:gd name="T84" fmla="*/ 2 w 26"/>
                        <a:gd name="T85" fmla="*/ 7 h 29"/>
                        <a:gd name="T86" fmla="*/ 2 w 26"/>
                        <a:gd name="T87" fmla="*/ 5 h 29"/>
                        <a:gd name="T88" fmla="*/ 4 w 26"/>
                        <a:gd name="T89" fmla="*/ 4 h 29"/>
                        <a:gd name="T90" fmla="*/ 5 w 26"/>
                        <a:gd name="T91" fmla="*/ 3 h 29"/>
                        <a:gd name="T92" fmla="*/ 6 w 26"/>
                        <a:gd name="T93" fmla="*/ 3 h 29"/>
                        <a:gd name="T94" fmla="*/ 7 w 26"/>
                        <a:gd name="T95" fmla="*/ 2 h 29"/>
                        <a:gd name="T96" fmla="*/ 8 w 26"/>
                        <a:gd name="T97" fmla="*/ 1 h 29"/>
                        <a:gd name="T98" fmla="*/ 9 w 26"/>
                        <a:gd name="T99" fmla="*/ 1 h 29"/>
                        <a:gd name="T100" fmla="*/ 10 w 26"/>
                        <a:gd name="T101" fmla="*/ 0 h 29"/>
                        <a:gd name="T102" fmla="*/ 11 w 26"/>
                        <a:gd name="T103" fmla="*/ 0 h 29"/>
                        <a:gd name="T104" fmla="*/ 12 w 26"/>
                        <a:gd name="T105" fmla="*/ 0 h 29"/>
                        <a:gd name="T106" fmla="*/ 14 w 26"/>
                        <a:gd name="T107" fmla="*/ 0 h 29"/>
                        <a:gd name="T108" fmla="*/ 14 w 26"/>
                        <a:gd name="T109" fmla="*/ 0 h 29"/>
                        <a:gd name="T110" fmla="*/ 16 w 26"/>
                        <a:gd name="T111" fmla="*/ 0 h 29"/>
                        <a:gd name="T112" fmla="*/ 17 w 26"/>
                        <a:gd name="T113" fmla="*/ 1 h 29"/>
                        <a:gd name="T114" fmla="*/ 18 w 26"/>
                        <a:gd name="T115" fmla="*/ 1 h 29"/>
                        <a:gd name="T116" fmla="*/ 20 w 26"/>
                        <a:gd name="T117" fmla="*/ 1 h 29"/>
                        <a:gd name="T118" fmla="*/ 21 w 26"/>
                        <a:gd name="T119" fmla="*/ 2 h 29"/>
                        <a:gd name="T120" fmla="*/ 22 w 26"/>
                        <a:gd name="T121" fmla="*/ 2 h 29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26"/>
                        <a:gd name="T184" fmla="*/ 0 h 29"/>
                        <a:gd name="T185" fmla="*/ 26 w 26"/>
                        <a:gd name="T186" fmla="*/ 29 h 29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26" h="29">
                          <a:moveTo>
                            <a:pt x="22" y="2"/>
                          </a:moveTo>
                          <a:lnTo>
                            <a:pt x="22" y="3"/>
                          </a:lnTo>
                          <a:lnTo>
                            <a:pt x="23" y="4"/>
                          </a:lnTo>
                          <a:lnTo>
                            <a:pt x="24" y="5"/>
                          </a:lnTo>
                          <a:lnTo>
                            <a:pt x="24" y="7"/>
                          </a:lnTo>
                          <a:lnTo>
                            <a:pt x="25" y="7"/>
                          </a:lnTo>
                          <a:lnTo>
                            <a:pt x="25" y="9"/>
                          </a:lnTo>
                          <a:lnTo>
                            <a:pt x="26" y="9"/>
                          </a:lnTo>
                          <a:lnTo>
                            <a:pt x="26" y="12"/>
                          </a:lnTo>
                          <a:lnTo>
                            <a:pt x="26" y="13"/>
                          </a:lnTo>
                          <a:lnTo>
                            <a:pt x="26" y="15"/>
                          </a:lnTo>
                          <a:lnTo>
                            <a:pt x="26" y="16"/>
                          </a:lnTo>
                          <a:lnTo>
                            <a:pt x="26" y="18"/>
                          </a:lnTo>
                          <a:lnTo>
                            <a:pt x="25" y="19"/>
                          </a:lnTo>
                          <a:lnTo>
                            <a:pt x="24" y="21"/>
                          </a:lnTo>
                          <a:lnTo>
                            <a:pt x="24" y="22"/>
                          </a:lnTo>
                          <a:lnTo>
                            <a:pt x="23" y="23"/>
                          </a:lnTo>
                          <a:lnTo>
                            <a:pt x="22" y="25"/>
                          </a:lnTo>
                          <a:lnTo>
                            <a:pt x="21" y="27"/>
                          </a:lnTo>
                          <a:lnTo>
                            <a:pt x="18" y="28"/>
                          </a:lnTo>
                          <a:lnTo>
                            <a:pt x="17" y="29"/>
                          </a:lnTo>
                          <a:lnTo>
                            <a:pt x="16" y="29"/>
                          </a:lnTo>
                          <a:lnTo>
                            <a:pt x="14" y="29"/>
                          </a:lnTo>
                          <a:lnTo>
                            <a:pt x="12" y="29"/>
                          </a:lnTo>
                          <a:lnTo>
                            <a:pt x="11" y="29"/>
                          </a:lnTo>
                          <a:lnTo>
                            <a:pt x="10" y="29"/>
                          </a:lnTo>
                          <a:lnTo>
                            <a:pt x="9" y="29"/>
                          </a:lnTo>
                          <a:lnTo>
                            <a:pt x="7" y="28"/>
                          </a:lnTo>
                          <a:lnTo>
                            <a:pt x="6" y="28"/>
                          </a:lnTo>
                          <a:lnTo>
                            <a:pt x="5" y="27"/>
                          </a:lnTo>
                          <a:lnTo>
                            <a:pt x="4" y="25"/>
                          </a:lnTo>
                          <a:lnTo>
                            <a:pt x="2" y="23"/>
                          </a:lnTo>
                          <a:lnTo>
                            <a:pt x="1" y="21"/>
                          </a:lnTo>
                          <a:lnTo>
                            <a:pt x="1" y="20"/>
                          </a:lnTo>
                          <a:lnTo>
                            <a:pt x="0" y="18"/>
                          </a:lnTo>
                          <a:lnTo>
                            <a:pt x="0" y="17"/>
                          </a:lnTo>
                          <a:lnTo>
                            <a:pt x="0" y="15"/>
                          </a:lnTo>
                          <a:lnTo>
                            <a:pt x="0" y="14"/>
                          </a:lnTo>
                          <a:lnTo>
                            <a:pt x="0" y="12"/>
                          </a:lnTo>
                          <a:lnTo>
                            <a:pt x="0" y="9"/>
                          </a:lnTo>
                          <a:lnTo>
                            <a:pt x="1" y="7"/>
                          </a:lnTo>
                          <a:lnTo>
                            <a:pt x="2" y="7"/>
                          </a:lnTo>
                          <a:lnTo>
                            <a:pt x="2" y="5"/>
                          </a:lnTo>
                          <a:lnTo>
                            <a:pt x="4" y="4"/>
                          </a:lnTo>
                          <a:lnTo>
                            <a:pt x="5" y="3"/>
                          </a:lnTo>
                          <a:lnTo>
                            <a:pt x="6" y="3"/>
                          </a:lnTo>
                          <a:lnTo>
                            <a:pt x="7" y="2"/>
                          </a:lnTo>
                          <a:lnTo>
                            <a:pt x="8" y="1"/>
                          </a:lnTo>
                          <a:lnTo>
                            <a:pt x="9" y="1"/>
                          </a:lnTo>
                          <a:lnTo>
                            <a:pt x="10" y="0"/>
                          </a:lnTo>
                          <a:lnTo>
                            <a:pt x="11" y="0"/>
                          </a:lnTo>
                          <a:lnTo>
                            <a:pt x="12" y="0"/>
                          </a:lnTo>
                          <a:lnTo>
                            <a:pt x="14" y="0"/>
                          </a:lnTo>
                          <a:lnTo>
                            <a:pt x="16" y="0"/>
                          </a:lnTo>
                          <a:lnTo>
                            <a:pt x="17" y="1"/>
                          </a:lnTo>
                          <a:lnTo>
                            <a:pt x="18" y="1"/>
                          </a:lnTo>
                          <a:lnTo>
                            <a:pt x="20" y="1"/>
                          </a:lnTo>
                          <a:lnTo>
                            <a:pt x="21" y="2"/>
                          </a:lnTo>
                          <a:lnTo>
                            <a:pt x="22" y="2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023" name="Freeform 1070"/>
                    <p:cNvSpPr>
                      <a:spLocks/>
                    </p:cNvSpPr>
                    <p:nvPr/>
                  </p:nvSpPr>
                  <p:spPr bwMode="auto">
                    <a:xfrm>
                      <a:off x="2616" y="2658"/>
                      <a:ext cx="26" cy="29"/>
                    </a:xfrm>
                    <a:custGeom>
                      <a:avLst/>
                      <a:gdLst>
                        <a:gd name="T0" fmla="*/ 22 w 26"/>
                        <a:gd name="T1" fmla="*/ 2 h 29"/>
                        <a:gd name="T2" fmla="*/ 22 w 26"/>
                        <a:gd name="T3" fmla="*/ 3 h 29"/>
                        <a:gd name="T4" fmla="*/ 23 w 26"/>
                        <a:gd name="T5" fmla="*/ 4 h 29"/>
                        <a:gd name="T6" fmla="*/ 24 w 26"/>
                        <a:gd name="T7" fmla="*/ 5 h 29"/>
                        <a:gd name="T8" fmla="*/ 24 w 26"/>
                        <a:gd name="T9" fmla="*/ 7 h 29"/>
                        <a:gd name="T10" fmla="*/ 25 w 26"/>
                        <a:gd name="T11" fmla="*/ 7 h 29"/>
                        <a:gd name="T12" fmla="*/ 25 w 26"/>
                        <a:gd name="T13" fmla="*/ 9 h 29"/>
                        <a:gd name="T14" fmla="*/ 26 w 26"/>
                        <a:gd name="T15" fmla="*/ 9 h 29"/>
                        <a:gd name="T16" fmla="*/ 26 w 26"/>
                        <a:gd name="T17" fmla="*/ 12 h 29"/>
                        <a:gd name="T18" fmla="*/ 26 w 26"/>
                        <a:gd name="T19" fmla="*/ 13 h 29"/>
                        <a:gd name="T20" fmla="*/ 26 w 26"/>
                        <a:gd name="T21" fmla="*/ 15 h 29"/>
                        <a:gd name="T22" fmla="*/ 26 w 26"/>
                        <a:gd name="T23" fmla="*/ 16 h 29"/>
                        <a:gd name="T24" fmla="*/ 26 w 26"/>
                        <a:gd name="T25" fmla="*/ 18 h 29"/>
                        <a:gd name="T26" fmla="*/ 25 w 26"/>
                        <a:gd name="T27" fmla="*/ 19 h 29"/>
                        <a:gd name="T28" fmla="*/ 24 w 26"/>
                        <a:gd name="T29" fmla="*/ 21 h 29"/>
                        <a:gd name="T30" fmla="*/ 24 w 26"/>
                        <a:gd name="T31" fmla="*/ 22 h 29"/>
                        <a:gd name="T32" fmla="*/ 23 w 26"/>
                        <a:gd name="T33" fmla="*/ 23 h 29"/>
                        <a:gd name="T34" fmla="*/ 22 w 26"/>
                        <a:gd name="T35" fmla="*/ 25 h 29"/>
                        <a:gd name="T36" fmla="*/ 21 w 26"/>
                        <a:gd name="T37" fmla="*/ 27 h 29"/>
                        <a:gd name="T38" fmla="*/ 18 w 26"/>
                        <a:gd name="T39" fmla="*/ 28 h 29"/>
                        <a:gd name="T40" fmla="*/ 17 w 26"/>
                        <a:gd name="T41" fmla="*/ 29 h 29"/>
                        <a:gd name="T42" fmla="*/ 16 w 26"/>
                        <a:gd name="T43" fmla="*/ 29 h 29"/>
                        <a:gd name="T44" fmla="*/ 14 w 26"/>
                        <a:gd name="T45" fmla="*/ 29 h 29"/>
                        <a:gd name="T46" fmla="*/ 14 w 26"/>
                        <a:gd name="T47" fmla="*/ 29 h 29"/>
                        <a:gd name="T48" fmla="*/ 12 w 26"/>
                        <a:gd name="T49" fmla="*/ 29 h 29"/>
                        <a:gd name="T50" fmla="*/ 11 w 26"/>
                        <a:gd name="T51" fmla="*/ 29 h 29"/>
                        <a:gd name="T52" fmla="*/ 10 w 26"/>
                        <a:gd name="T53" fmla="*/ 29 h 29"/>
                        <a:gd name="T54" fmla="*/ 9 w 26"/>
                        <a:gd name="T55" fmla="*/ 29 h 29"/>
                        <a:gd name="T56" fmla="*/ 7 w 26"/>
                        <a:gd name="T57" fmla="*/ 28 h 29"/>
                        <a:gd name="T58" fmla="*/ 6 w 26"/>
                        <a:gd name="T59" fmla="*/ 28 h 29"/>
                        <a:gd name="T60" fmla="*/ 5 w 26"/>
                        <a:gd name="T61" fmla="*/ 27 h 29"/>
                        <a:gd name="T62" fmla="*/ 4 w 26"/>
                        <a:gd name="T63" fmla="*/ 25 h 29"/>
                        <a:gd name="T64" fmla="*/ 2 w 26"/>
                        <a:gd name="T65" fmla="*/ 23 h 29"/>
                        <a:gd name="T66" fmla="*/ 1 w 26"/>
                        <a:gd name="T67" fmla="*/ 21 h 29"/>
                        <a:gd name="T68" fmla="*/ 1 w 26"/>
                        <a:gd name="T69" fmla="*/ 20 h 29"/>
                        <a:gd name="T70" fmla="*/ 0 w 26"/>
                        <a:gd name="T71" fmla="*/ 18 h 29"/>
                        <a:gd name="T72" fmla="*/ 0 w 26"/>
                        <a:gd name="T73" fmla="*/ 17 h 29"/>
                        <a:gd name="T74" fmla="*/ 0 w 26"/>
                        <a:gd name="T75" fmla="*/ 15 h 29"/>
                        <a:gd name="T76" fmla="*/ 0 w 26"/>
                        <a:gd name="T77" fmla="*/ 14 h 29"/>
                        <a:gd name="T78" fmla="*/ 0 w 26"/>
                        <a:gd name="T79" fmla="*/ 12 h 29"/>
                        <a:gd name="T80" fmla="*/ 0 w 26"/>
                        <a:gd name="T81" fmla="*/ 9 h 29"/>
                        <a:gd name="T82" fmla="*/ 1 w 26"/>
                        <a:gd name="T83" fmla="*/ 7 h 29"/>
                        <a:gd name="T84" fmla="*/ 2 w 26"/>
                        <a:gd name="T85" fmla="*/ 7 h 29"/>
                        <a:gd name="T86" fmla="*/ 2 w 26"/>
                        <a:gd name="T87" fmla="*/ 5 h 29"/>
                        <a:gd name="T88" fmla="*/ 4 w 26"/>
                        <a:gd name="T89" fmla="*/ 4 h 29"/>
                        <a:gd name="T90" fmla="*/ 5 w 26"/>
                        <a:gd name="T91" fmla="*/ 3 h 29"/>
                        <a:gd name="T92" fmla="*/ 6 w 26"/>
                        <a:gd name="T93" fmla="*/ 3 h 29"/>
                        <a:gd name="T94" fmla="*/ 7 w 26"/>
                        <a:gd name="T95" fmla="*/ 2 h 29"/>
                        <a:gd name="T96" fmla="*/ 8 w 26"/>
                        <a:gd name="T97" fmla="*/ 1 h 29"/>
                        <a:gd name="T98" fmla="*/ 9 w 26"/>
                        <a:gd name="T99" fmla="*/ 1 h 29"/>
                        <a:gd name="T100" fmla="*/ 10 w 26"/>
                        <a:gd name="T101" fmla="*/ 0 h 29"/>
                        <a:gd name="T102" fmla="*/ 11 w 26"/>
                        <a:gd name="T103" fmla="*/ 0 h 29"/>
                        <a:gd name="T104" fmla="*/ 12 w 26"/>
                        <a:gd name="T105" fmla="*/ 0 h 29"/>
                        <a:gd name="T106" fmla="*/ 14 w 26"/>
                        <a:gd name="T107" fmla="*/ 0 h 29"/>
                        <a:gd name="T108" fmla="*/ 14 w 26"/>
                        <a:gd name="T109" fmla="*/ 0 h 29"/>
                        <a:gd name="T110" fmla="*/ 16 w 26"/>
                        <a:gd name="T111" fmla="*/ 0 h 29"/>
                        <a:gd name="T112" fmla="*/ 17 w 26"/>
                        <a:gd name="T113" fmla="*/ 1 h 29"/>
                        <a:gd name="T114" fmla="*/ 18 w 26"/>
                        <a:gd name="T115" fmla="*/ 1 h 29"/>
                        <a:gd name="T116" fmla="*/ 20 w 26"/>
                        <a:gd name="T117" fmla="*/ 1 h 29"/>
                        <a:gd name="T118" fmla="*/ 21 w 26"/>
                        <a:gd name="T119" fmla="*/ 2 h 29"/>
                        <a:gd name="T120" fmla="*/ 22 w 26"/>
                        <a:gd name="T121" fmla="*/ 2 h 29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26"/>
                        <a:gd name="T184" fmla="*/ 0 h 29"/>
                        <a:gd name="T185" fmla="*/ 26 w 26"/>
                        <a:gd name="T186" fmla="*/ 29 h 29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26" h="29">
                          <a:moveTo>
                            <a:pt x="22" y="2"/>
                          </a:moveTo>
                          <a:lnTo>
                            <a:pt x="22" y="3"/>
                          </a:lnTo>
                          <a:lnTo>
                            <a:pt x="23" y="4"/>
                          </a:lnTo>
                          <a:lnTo>
                            <a:pt x="24" y="5"/>
                          </a:lnTo>
                          <a:lnTo>
                            <a:pt x="24" y="7"/>
                          </a:lnTo>
                          <a:lnTo>
                            <a:pt x="25" y="7"/>
                          </a:lnTo>
                          <a:lnTo>
                            <a:pt x="25" y="9"/>
                          </a:lnTo>
                          <a:lnTo>
                            <a:pt x="26" y="9"/>
                          </a:lnTo>
                          <a:lnTo>
                            <a:pt x="26" y="12"/>
                          </a:lnTo>
                          <a:lnTo>
                            <a:pt x="26" y="13"/>
                          </a:lnTo>
                          <a:lnTo>
                            <a:pt x="26" y="15"/>
                          </a:lnTo>
                          <a:lnTo>
                            <a:pt x="26" y="16"/>
                          </a:lnTo>
                          <a:lnTo>
                            <a:pt x="26" y="18"/>
                          </a:lnTo>
                          <a:lnTo>
                            <a:pt x="25" y="19"/>
                          </a:lnTo>
                          <a:lnTo>
                            <a:pt x="24" y="21"/>
                          </a:lnTo>
                          <a:lnTo>
                            <a:pt x="24" y="22"/>
                          </a:lnTo>
                          <a:lnTo>
                            <a:pt x="23" y="23"/>
                          </a:lnTo>
                          <a:lnTo>
                            <a:pt x="22" y="25"/>
                          </a:lnTo>
                          <a:lnTo>
                            <a:pt x="21" y="27"/>
                          </a:lnTo>
                          <a:lnTo>
                            <a:pt x="18" y="28"/>
                          </a:lnTo>
                          <a:lnTo>
                            <a:pt x="17" y="29"/>
                          </a:lnTo>
                          <a:lnTo>
                            <a:pt x="16" y="29"/>
                          </a:lnTo>
                          <a:lnTo>
                            <a:pt x="14" y="29"/>
                          </a:lnTo>
                          <a:lnTo>
                            <a:pt x="12" y="29"/>
                          </a:lnTo>
                          <a:lnTo>
                            <a:pt x="11" y="29"/>
                          </a:lnTo>
                          <a:lnTo>
                            <a:pt x="10" y="29"/>
                          </a:lnTo>
                          <a:lnTo>
                            <a:pt x="9" y="29"/>
                          </a:lnTo>
                          <a:lnTo>
                            <a:pt x="7" y="28"/>
                          </a:lnTo>
                          <a:lnTo>
                            <a:pt x="6" y="28"/>
                          </a:lnTo>
                          <a:lnTo>
                            <a:pt x="5" y="27"/>
                          </a:lnTo>
                          <a:lnTo>
                            <a:pt x="4" y="25"/>
                          </a:lnTo>
                          <a:lnTo>
                            <a:pt x="2" y="23"/>
                          </a:lnTo>
                          <a:lnTo>
                            <a:pt x="1" y="21"/>
                          </a:lnTo>
                          <a:lnTo>
                            <a:pt x="1" y="20"/>
                          </a:lnTo>
                          <a:lnTo>
                            <a:pt x="0" y="18"/>
                          </a:lnTo>
                          <a:lnTo>
                            <a:pt x="0" y="17"/>
                          </a:lnTo>
                          <a:lnTo>
                            <a:pt x="0" y="15"/>
                          </a:lnTo>
                          <a:lnTo>
                            <a:pt x="0" y="14"/>
                          </a:lnTo>
                          <a:lnTo>
                            <a:pt x="0" y="12"/>
                          </a:lnTo>
                          <a:lnTo>
                            <a:pt x="0" y="9"/>
                          </a:lnTo>
                          <a:lnTo>
                            <a:pt x="1" y="7"/>
                          </a:lnTo>
                          <a:lnTo>
                            <a:pt x="2" y="7"/>
                          </a:lnTo>
                          <a:lnTo>
                            <a:pt x="2" y="5"/>
                          </a:lnTo>
                          <a:lnTo>
                            <a:pt x="4" y="4"/>
                          </a:lnTo>
                          <a:lnTo>
                            <a:pt x="5" y="3"/>
                          </a:lnTo>
                          <a:lnTo>
                            <a:pt x="6" y="3"/>
                          </a:lnTo>
                          <a:lnTo>
                            <a:pt x="7" y="2"/>
                          </a:lnTo>
                          <a:lnTo>
                            <a:pt x="8" y="1"/>
                          </a:lnTo>
                          <a:lnTo>
                            <a:pt x="9" y="1"/>
                          </a:lnTo>
                          <a:lnTo>
                            <a:pt x="10" y="0"/>
                          </a:lnTo>
                          <a:lnTo>
                            <a:pt x="11" y="0"/>
                          </a:lnTo>
                          <a:lnTo>
                            <a:pt x="12" y="0"/>
                          </a:lnTo>
                          <a:lnTo>
                            <a:pt x="14" y="0"/>
                          </a:lnTo>
                          <a:lnTo>
                            <a:pt x="16" y="0"/>
                          </a:lnTo>
                          <a:lnTo>
                            <a:pt x="17" y="1"/>
                          </a:lnTo>
                          <a:lnTo>
                            <a:pt x="18" y="1"/>
                          </a:lnTo>
                          <a:lnTo>
                            <a:pt x="20" y="1"/>
                          </a:lnTo>
                          <a:lnTo>
                            <a:pt x="21" y="2"/>
                          </a:lnTo>
                          <a:lnTo>
                            <a:pt x="22" y="2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5018" name="Freeform 1071"/>
                  <p:cNvSpPr>
                    <a:spLocks/>
                  </p:cNvSpPr>
                  <p:nvPr/>
                </p:nvSpPr>
                <p:spPr bwMode="auto">
                  <a:xfrm>
                    <a:off x="2625" y="2662"/>
                    <a:ext cx="14" cy="12"/>
                  </a:xfrm>
                  <a:custGeom>
                    <a:avLst/>
                    <a:gdLst>
                      <a:gd name="T0" fmla="*/ 14 w 14"/>
                      <a:gd name="T1" fmla="*/ 12 h 12"/>
                      <a:gd name="T2" fmla="*/ 13 w 14"/>
                      <a:gd name="T3" fmla="*/ 12 h 12"/>
                      <a:gd name="T4" fmla="*/ 12 w 14"/>
                      <a:gd name="T5" fmla="*/ 11 h 12"/>
                      <a:gd name="T6" fmla="*/ 9 w 14"/>
                      <a:gd name="T7" fmla="*/ 10 h 12"/>
                      <a:gd name="T8" fmla="*/ 8 w 14"/>
                      <a:gd name="T9" fmla="*/ 9 h 12"/>
                      <a:gd name="T10" fmla="*/ 6 w 14"/>
                      <a:gd name="T11" fmla="*/ 8 h 12"/>
                      <a:gd name="T12" fmla="*/ 5 w 14"/>
                      <a:gd name="T13" fmla="*/ 5 h 12"/>
                      <a:gd name="T14" fmla="*/ 4 w 14"/>
                      <a:gd name="T15" fmla="*/ 4 h 12"/>
                      <a:gd name="T16" fmla="*/ 2 w 14"/>
                      <a:gd name="T17" fmla="*/ 3 h 12"/>
                      <a:gd name="T18" fmla="*/ 1 w 14"/>
                      <a:gd name="T19" fmla="*/ 2 h 12"/>
                      <a:gd name="T20" fmla="*/ 0 w 14"/>
                      <a:gd name="T21" fmla="*/ 1 h 12"/>
                      <a:gd name="T22" fmla="*/ 0 w 14"/>
                      <a:gd name="T23" fmla="*/ 0 h 12"/>
                      <a:gd name="T24" fmla="*/ 2 w 14"/>
                      <a:gd name="T25" fmla="*/ 1 h 12"/>
                      <a:gd name="T26" fmla="*/ 3 w 14"/>
                      <a:gd name="T27" fmla="*/ 2 h 12"/>
                      <a:gd name="T28" fmla="*/ 4 w 14"/>
                      <a:gd name="T29" fmla="*/ 3 h 12"/>
                      <a:gd name="T30" fmla="*/ 5 w 14"/>
                      <a:gd name="T31" fmla="*/ 4 h 12"/>
                      <a:gd name="T32" fmla="*/ 8 w 14"/>
                      <a:gd name="T33" fmla="*/ 5 h 12"/>
                      <a:gd name="T34" fmla="*/ 9 w 14"/>
                      <a:gd name="T35" fmla="*/ 8 h 12"/>
                      <a:gd name="T36" fmla="*/ 11 w 14"/>
                      <a:gd name="T37" fmla="*/ 9 h 12"/>
                      <a:gd name="T38" fmla="*/ 12 w 14"/>
                      <a:gd name="T39" fmla="*/ 10 h 12"/>
                      <a:gd name="T40" fmla="*/ 13 w 14"/>
                      <a:gd name="T41" fmla="*/ 11 h 12"/>
                      <a:gd name="T42" fmla="*/ 14 w 14"/>
                      <a:gd name="T43" fmla="*/ 12 h 12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4"/>
                      <a:gd name="T67" fmla="*/ 0 h 12"/>
                      <a:gd name="T68" fmla="*/ 14 w 14"/>
                      <a:gd name="T69" fmla="*/ 12 h 12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4" h="12">
                        <a:moveTo>
                          <a:pt x="14" y="12"/>
                        </a:moveTo>
                        <a:lnTo>
                          <a:pt x="13" y="12"/>
                        </a:lnTo>
                        <a:lnTo>
                          <a:pt x="12" y="11"/>
                        </a:lnTo>
                        <a:lnTo>
                          <a:pt x="9" y="10"/>
                        </a:lnTo>
                        <a:lnTo>
                          <a:pt x="8" y="9"/>
                        </a:lnTo>
                        <a:lnTo>
                          <a:pt x="6" y="8"/>
                        </a:lnTo>
                        <a:lnTo>
                          <a:pt x="5" y="5"/>
                        </a:lnTo>
                        <a:lnTo>
                          <a:pt x="4" y="4"/>
                        </a:lnTo>
                        <a:lnTo>
                          <a:pt x="2" y="3"/>
                        </a:lnTo>
                        <a:lnTo>
                          <a:pt x="1" y="2"/>
                        </a:lnTo>
                        <a:lnTo>
                          <a:pt x="0" y="1"/>
                        </a:lnTo>
                        <a:lnTo>
                          <a:pt x="0" y="0"/>
                        </a:lnTo>
                        <a:lnTo>
                          <a:pt x="2" y="1"/>
                        </a:lnTo>
                        <a:lnTo>
                          <a:pt x="3" y="2"/>
                        </a:lnTo>
                        <a:lnTo>
                          <a:pt x="4" y="3"/>
                        </a:lnTo>
                        <a:lnTo>
                          <a:pt x="5" y="4"/>
                        </a:lnTo>
                        <a:lnTo>
                          <a:pt x="8" y="5"/>
                        </a:lnTo>
                        <a:lnTo>
                          <a:pt x="9" y="8"/>
                        </a:lnTo>
                        <a:lnTo>
                          <a:pt x="11" y="9"/>
                        </a:lnTo>
                        <a:lnTo>
                          <a:pt x="12" y="10"/>
                        </a:lnTo>
                        <a:lnTo>
                          <a:pt x="13" y="11"/>
                        </a:lnTo>
                        <a:lnTo>
                          <a:pt x="14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5019" name="Group 1072"/>
                  <p:cNvGrpSpPr>
                    <a:grpSpLocks/>
                  </p:cNvGrpSpPr>
                  <p:nvPr/>
                </p:nvGrpSpPr>
                <p:grpSpPr bwMode="auto">
                  <a:xfrm>
                    <a:off x="2625" y="2662"/>
                    <a:ext cx="14" cy="12"/>
                    <a:chOff x="2625" y="2662"/>
                    <a:chExt cx="14" cy="12"/>
                  </a:xfrm>
                </p:grpSpPr>
                <p:sp>
                  <p:nvSpPr>
                    <p:cNvPr id="25020" name="Freeform 1073"/>
                    <p:cNvSpPr>
                      <a:spLocks/>
                    </p:cNvSpPr>
                    <p:nvPr/>
                  </p:nvSpPr>
                  <p:spPr bwMode="auto">
                    <a:xfrm>
                      <a:off x="2625" y="2662"/>
                      <a:ext cx="14" cy="12"/>
                    </a:xfrm>
                    <a:custGeom>
                      <a:avLst/>
                      <a:gdLst>
                        <a:gd name="T0" fmla="*/ 14 w 14"/>
                        <a:gd name="T1" fmla="*/ 12 h 12"/>
                        <a:gd name="T2" fmla="*/ 13 w 14"/>
                        <a:gd name="T3" fmla="*/ 12 h 12"/>
                        <a:gd name="T4" fmla="*/ 12 w 14"/>
                        <a:gd name="T5" fmla="*/ 11 h 12"/>
                        <a:gd name="T6" fmla="*/ 9 w 14"/>
                        <a:gd name="T7" fmla="*/ 10 h 12"/>
                        <a:gd name="T8" fmla="*/ 8 w 14"/>
                        <a:gd name="T9" fmla="*/ 9 h 12"/>
                        <a:gd name="T10" fmla="*/ 6 w 14"/>
                        <a:gd name="T11" fmla="*/ 8 h 12"/>
                        <a:gd name="T12" fmla="*/ 5 w 14"/>
                        <a:gd name="T13" fmla="*/ 5 h 12"/>
                        <a:gd name="T14" fmla="*/ 4 w 14"/>
                        <a:gd name="T15" fmla="*/ 4 h 12"/>
                        <a:gd name="T16" fmla="*/ 2 w 14"/>
                        <a:gd name="T17" fmla="*/ 3 h 12"/>
                        <a:gd name="T18" fmla="*/ 1 w 14"/>
                        <a:gd name="T19" fmla="*/ 2 h 12"/>
                        <a:gd name="T20" fmla="*/ 0 w 14"/>
                        <a:gd name="T21" fmla="*/ 1 h 12"/>
                        <a:gd name="T22" fmla="*/ 0 w 14"/>
                        <a:gd name="T23" fmla="*/ 0 h 12"/>
                        <a:gd name="T24" fmla="*/ 2 w 14"/>
                        <a:gd name="T25" fmla="*/ 1 h 12"/>
                        <a:gd name="T26" fmla="*/ 3 w 14"/>
                        <a:gd name="T27" fmla="*/ 2 h 12"/>
                        <a:gd name="T28" fmla="*/ 4 w 14"/>
                        <a:gd name="T29" fmla="*/ 3 h 12"/>
                        <a:gd name="T30" fmla="*/ 5 w 14"/>
                        <a:gd name="T31" fmla="*/ 4 h 12"/>
                        <a:gd name="T32" fmla="*/ 8 w 14"/>
                        <a:gd name="T33" fmla="*/ 5 h 12"/>
                        <a:gd name="T34" fmla="*/ 9 w 14"/>
                        <a:gd name="T35" fmla="*/ 8 h 12"/>
                        <a:gd name="T36" fmla="*/ 11 w 14"/>
                        <a:gd name="T37" fmla="*/ 9 h 12"/>
                        <a:gd name="T38" fmla="*/ 12 w 14"/>
                        <a:gd name="T39" fmla="*/ 10 h 12"/>
                        <a:gd name="T40" fmla="*/ 13 w 14"/>
                        <a:gd name="T41" fmla="*/ 11 h 12"/>
                        <a:gd name="T42" fmla="*/ 14 w 14"/>
                        <a:gd name="T43" fmla="*/ 12 h 12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w 14"/>
                        <a:gd name="T67" fmla="*/ 0 h 12"/>
                        <a:gd name="T68" fmla="*/ 14 w 14"/>
                        <a:gd name="T69" fmla="*/ 12 h 12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T66" t="T67" r="T68" b="T69"/>
                      <a:pathLst>
                        <a:path w="14" h="12">
                          <a:moveTo>
                            <a:pt x="14" y="12"/>
                          </a:moveTo>
                          <a:lnTo>
                            <a:pt x="13" y="12"/>
                          </a:lnTo>
                          <a:lnTo>
                            <a:pt x="12" y="11"/>
                          </a:lnTo>
                          <a:lnTo>
                            <a:pt x="9" y="10"/>
                          </a:lnTo>
                          <a:lnTo>
                            <a:pt x="8" y="9"/>
                          </a:lnTo>
                          <a:lnTo>
                            <a:pt x="6" y="8"/>
                          </a:lnTo>
                          <a:lnTo>
                            <a:pt x="5" y="5"/>
                          </a:lnTo>
                          <a:lnTo>
                            <a:pt x="4" y="4"/>
                          </a:lnTo>
                          <a:lnTo>
                            <a:pt x="2" y="3"/>
                          </a:lnTo>
                          <a:lnTo>
                            <a:pt x="1" y="2"/>
                          </a:ln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2" y="1"/>
                          </a:lnTo>
                          <a:lnTo>
                            <a:pt x="3" y="2"/>
                          </a:lnTo>
                          <a:lnTo>
                            <a:pt x="4" y="3"/>
                          </a:lnTo>
                          <a:lnTo>
                            <a:pt x="5" y="4"/>
                          </a:lnTo>
                          <a:lnTo>
                            <a:pt x="8" y="5"/>
                          </a:lnTo>
                          <a:lnTo>
                            <a:pt x="9" y="8"/>
                          </a:lnTo>
                          <a:lnTo>
                            <a:pt x="11" y="9"/>
                          </a:lnTo>
                          <a:lnTo>
                            <a:pt x="12" y="10"/>
                          </a:lnTo>
                          <a:lnTo>
                            <a:pt x="13" y="11"/>
                          </a:lnTo>
                          <a:lnTo>
                            <a:pt x="14" y="12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021" name="Freeform 1074"/>
                    <p:cNvSpPr>
                      <a:spLocks/>
                    </p:cNvSpPr>
                    <p:nvPr/>
                  </p:nvSpPr>
                  <p:spPr bwMode="auto">
                    <a:xfrm>
                      <a:off x="2625" y="2662"/>
                      <a:ext cx="14" cy="12"/>
                    </a:xfrm>
                    <a:custGeom>
                      <a:avLst/>
                      <a:gdLst>
                        <a:gd name="T0" fmla="*/ 14 w 14"/>
                        <a:gd name="T1" fmla="*/ 12 h 12"/>
                        <a:gd name="T2" fmla="*/ 13 w 14"/>
                        <a:gd name="T3" fmla="*/ 12 h 12"/>
                        <a:gd name="T4" fmla="*/ 12 w 14"/>
                        <a:gd name="T5" fmla="*/ 11 h 12"/>
                        <a:gd name="T6" fmla="*/ 9 w 14"/>
                        <a:gd name="T7" fmla="*/ 10 h 12"/>
                        <a:gd name="T8" fmla="*/ 8 w 14"/>
                        <a:gd name="T9" fmla="*/ 9 h 12"/>
                        <a:gd name="T10" fmla="*/ 6 w 14"/>
                        <a:gd name="T11" fmla="*/ 8 h 12"/>
                        <a:gd name="T12" fmla="*/ 5 w 14"/>
                        <a:gd name="T13" fmla="*/ 5 h 12"/>
                        <a:gd name="T14" fmla="*/ 4 w 14"/>
                        <a:gd name="T15" fmla="*/ 4 h 12"/>
                        <a:gd name="T16" fmla="*/ 2 w 14"/>
                        <a:gd name="T17" fmla="*/ 3 h 12"/>
                        <a:gd name="T18" fmla="*/ 1 w 14"/>
                        <a:gd name="T19" fmla="*/ 2 h 12"/>
                        <a:gd name="T20" fmla="*/ 0 w 14"/>
                        <a:gd name="T21" fmla="*/ 1 h 12"/>
                        <a:gd name="T22" fmla="*/ 0 w 14"/>
                        <a:gd name="T23" fmla="*/ 0 h 12"/>
                        <a:gd name="T24" fmla="*/ 2 w 14"/>
                        <a:gd name="T25" fmla="*/ 1 h 12"/>
                        <a:gd name="T26" fmla="*/ 3 w 14"/>
                        <a:gd name="T27" fmla="*/ 2 h 12"/>
                        <a:gd name="T28" fmla="*/ 4 w 14"/>
                        <a:gd name="T29" fmla="*/ 3 h 12"/>
                        <a:gd name="T30" fmla="*/ 5 w 14"/>
                        <a:gd name="T31" fmla="*/ 4 h 12"/>
                        <a:gd name="T32" fmla="*/ 8 w 14"/>
                        <a:gd name="T33" fmla="*/ 5 h 12"/>
                        <a:gd name="T34" fmla="*/ 9 w 14"/>
                        <a:gd name="T35" fmla="*/ 8 h 12"/>
                        <a:gd name="T36" fmla="*/ 11 w 14"/>
                        <a:gd name="T37" fmla="*/ 9 h 12"/>
                        <a:gd name="T38" fmla="*/ 12 w 14"/>
                        <a:gd name="T39" fmla="*/ 10 h 12"/>
                        <a:gd name="T40" fmla="*/ 13 w 14"/>
                        <a:gd name="T41" fmla="*/ 11 h 12"/>
                        <a:gd name="T42" fmla="*/ 14 w 14"/>
                        <a:gd name="T43" fmla="*/ 12 h 12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w 14"/>
                        <a:gd name="T67" fmla="*/ 0 h 12"/>
                        <a:gd name="T68" fmla="*/ 14 w 14"/>
                        <a:gd name="T69" fmla="*/ 12 h 12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T66" t="T67" r="T68" b="T69"/>
                      <a:pathLst>
                        <a:path w="14" h="12">
                          <a:moveTo>
                            <a:pt x="14" y="12"/>
                          </a:moveTo>
                          <a:lnTo>
                            <a:pt x="13" y="12"/>
                          </a:lnTo>
                          <a:lnTo>
                            <a:pt x="12" y="11"/>
                          </a:lnTo>
                          <a:lnTo>
                            <a:pt x="9" y="10"/>
                          </a:lnTo>
                          <a:lnTo>
                            <a:pt x="8" y="9"/>
                          </a:lnTo>
                          <a:lnTo>
                            <a:pt x="6" y="8"/>
                          </a:lnTo>
                          <a:lnTo>
                            <a:pt x="5" y="5"/>
                          </a:lnTo>
                          <a:lnTo>
                            <a:pt x="4" y="4"/>
                          </a:lnTo>
                          <a:lnTo>
                            <a:pt x="2" y="3"/>
                          </a:lnTo>
                          <a:lnTo>
                            <a:pt x="1" y="2"/>
                          </a:lnTo>
                          <a:lnTo>
                            <a:pt x="0" y="1"/>
                          </a:lnTo>
                          <a:lnTo>
                            <a:pt x="0" y="0"/>
                          </a:lnTo>
                          <a:lnTo>
                            <a:pt x="2" y="1"/>
                          </a:lnTo>
                          <a:lnTo>
                            <a:pt x="3" y="2"/>
                          </a:lnTo>
                          <a:lnTo>
                            <a:pt x="4" y="3"/>
                          </a:lnTo>
                          <a:lnTo>
                            <a:pt x="5" y="4"/>
                          </a:lnTo>
                          <a:lnTo>
                            <a:pt x="8" y="5"/>
                          </a:lnTo>
                          <a:lnTo>
                            <a:pt x="9" y="8"/>
                          </a:lnTo>
                          <a:lnTo>
                            <a:pt x="11" y="9"/>
                          </a:lnTo>
                          <a:lnTo>
                            <a:pt x="12" y="10"/>
                          </a:lnTo>
                          <a:lnTo>
                            <a:pt x="13" y="11"/>
                          </a:lnTo>
                          <a:lnTo>
                            <a:pt x="14" y="12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24943" name="Rectangle 1075"/>
            <p:cNvSpPr>
              <a:spLocks noChangeArrowheads="1"/>
            </p:cNvSpPr>
            <p:nvPr/>
          </p:nvSpPr>
          <p:spPr bwMode="auto">
            <a:xfrm>
              <a:off x="2199" y="3488"/>
              <a:ext cx="1720" cy="643"/>
            </a:xfrm>
            <a:prstGeom prst="rect">
              <a:avLst/>
            </a:prstGeom>
            <a:solidFill>
              <a:srgbClr val="FF0000"/>
            </a:solidFill>
            <a:ln w="444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grpSp>
          <p:nvGrpSpPr>
            <p:cNvPr id="24944" name="Group 1076"/>
            <p:cNvGrpSpPr>
              <a:grpSpLocks/>
            </p:cNvGrpSpPr>
            <p:nvPr/>
          </p:nvGrpSpPr>
          <p:grpSpPr bwMode="auto">
            <a:xfrm>
              <a:off x="2329" y="3692"/>
              <a:ext cx="301" cy="274"/>
              <a:chOff x="1983" y="3136"/>
              <a:chExt cx="306" cy="300"/>
            </a:xfrm>
          </p:grpSpPr>
          <p:sp>
            <p:nvSpPr>
              <p:cNvPr id="24970" name="Freeform 1077"/>
              <p:cNvSpPr>
                <a:spLocks/>
              </p:cNvSpPr>
              <p:nvPr/>
            </p:nvSpPr>
            <p:spPr bwMode="auto">
              <a:xfrm>
                <a:off x="1983" y="3136"/>
                <a:ext cx="300" cy="300"/>
              </a:xfrm>
              <a:custGeom>
                <a:avLst/>
                <a:gdLst>
                  <a:gd name="T0" fmla="*/ 171 w 300"/>
                  <a:gd name="T1" fmla="*/ 298 h 300"/>
                  <a:gd name="T2" fmla="*/ 199 w 300"/>
                  <a:gd name="T3" fmla="*/ 292 h 300"/>
                  <a:gd name="T4" fmla="*/ 225 w 300"/>
                  <a:gd name="T5" fmla="*/ 280 h 300"/>
                  <a:gd name="T6" fmla="*/ 249 w 300"/>
                  <a:gd name="T7" fmla="*/ 264 h 300"/>
                  <a:gd name="T8" fmla="*/ 268 w 300"/>
                  <a:gd name="T9" fmla="*/ 243 h 300"/>
                  <a:gd name="T10" fmla="*/ 283 w 300"/>
                  <a:gd name="T11" fmla="*/ 219 h 300"/>
                  <a:gd name="T12" fmla="*/ 293 w 300"/>
                  <a:gd name="T13" fmla="*/ 192 h 300"/>
                  <a:gd name="T14" fmla="*/ 299 w 300"/>
                  <a:gd name="T15" fmla="*/ 163 h 300"/>
                  <a:gd name="T16" fmla="*/ 299 w 300"/>
                  <a:gd name="T17" fmla="*/ 133 h 300"/>
                  <a:gd name="T18" fmla="*/ 293 w 300"/>
                  <a:gd name="T19" fmla="*/ 104 h 300"/>
                  <a:gd name="T20" fmla="*/ 282 w 300"/>
                  <a:gd name="T21" fmla="*/ 77 h 300"/>
                  <a:gd name="T22" fmla="*/ 266 w 300"/>
                  <a:gd name="T23" fmla="*/ 54 h 300"/>
                  <a:gd name="T24" fmla="*/ 245 w 300"/>
                  <a:gd name="T25" fmla="*/ 35 h 300"/>
                  <a:gd name="T26" fmla="*/ 222 w 300"/>
                  <a:gd name="T27" fmla="*/ 19 h 300"/>
                  <a:gd name="T28" fmla="*/ 195 w 300"/>
                  <a:gd name="T29" fmla="*/ 7 h 300"/>
                  <a:gd name="T30" fmla="*/ 166 w 300"/>
                  <a:gd name="T31" fmla="*/ 1 h 300"/>
                  <a:gd name="T32" fmla="*/ 136 w 300"/>
                  <a:gd name="T33" fmla="*/ 1 h 300"/>
                  <a:gd name="T34" fmla="*/ 108 w 300"/>
                  <a:gd name="T35" fmla="*/ 6 h 300"/>
                  <a:gd name="T36" fmla="*/ 81 w 300"/>
                  <a:gd name="T37" fmla="*/ 16 h 300"/>
                  <a:gd name="T38" fmla="*/ 56 w 300"/>
                  <a:gd name="T39" fmla="*/ 30 h 300"/>
                  <a:gd name="T40" fmla="*/ 36 w 300"/>
                  <a:gd name="T41" fmla="*/ 50 h 300"/>
                  <a:gd name="T42" fmla="*/ 19 w 300"/>
                  <a:gd name="T43" fmla="*/ 73 h 300"/>
                  <a:gd name="T44" fmla="*/ 7 w 300"/>
                  <a:gd name="T45" fmla="*/ 101 h 300"/>
                  <a:gd name="T46" fmla="*/ 1 w 300"/>
                  <a:gd name="T47" fmla="*/ 131 h 300"/>
                  <a:gd name="T48" fmla="*/ 1 w 300"/>
                  <a:gd name="T49" fmla="*/ 164 h 300"/>
                  <a:gd name="T50" fmla="*/ 7 w 300"/>
                  <a:gd name="T51" fmla="*/ 195 h 300"/>
                  <a:gd name="T52" fmla="*/ 19 w 300"/>
                  <a:gd name="T53" fmla="*/ 223 h 300"/>
                  <a:gd name="T54" fmla="*/ 36 w 300"/>
                  <a:gd name="T55" fmla="*/ 246 h 300"/>
                  <a:gd name="T56" fmla="*/ 58 w 300"/>
                  <a:gd name="T57" fmla="*/ 266 h 300"/>
                  <a:gd name="T58" fmla="*/ 83 w 300"/>
                  <a:gd name="T59" fmla="*/ 282 h 300"/>
                  <a:gd name="T60" fmla="*/ 111 w 300"/>
                  <a:gd name="T61" fmla="*/ 293 h 300"/>
                  <a:gd name="T62" fmla="*/ 141 w 300"/>
                  <a:gd name="T63" fmla="*/ 298 h 300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00"/>
                  <a:gd name="T97" fmla="*/ 0 h 300"/>
                  <a:gd name="T98" fmla="*/ 300 w 300"/>
                  <a:gd name="T99" fmla="*/ 300 h 300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00" h="300">
                    <a:moveTo>
                      <a:pt x="156" y="300"/>
                    </a:moveTo>
                    <a:lnTo>
                      <a:pt x="171" y="298"/>
                    </a:lnTo>
                    <a:lnTo>
                      <a:pt x="186" y="296"/>
                    </a:lnTo>
                    <a:lnTo>
                      <a:pt x="199" y="292"/>
                    </a:lnTo>
                    <a:lnTo>
                      <a:pt x="213" y="288"/>
                    </a:lnTo>
                    <a:lnTo>
                      <a:pt x="225" y="280"/>
                    </a:lnTo>
                    <a:lnTo>
                      <a:pt x="237" y="273"/>
                    </a:lnTo>
                    <a:lnTo>
                      <a:pt x="249" y="264"/>
                    </a:lnTo>
                    <a:lnTo>
                      <a:pt x="258" y="254"/>
                    </a:lnTo>
                    <a:lnTo>
                      <a:pt x="268" y="243"/>
                    </a:lnTo>
                    <a:lnTo>
                      <a:pt x="276" y="231"/>
                    </a:lnTo>
                    <a:lnTo>
                      <a:pt x="283" y="219"/>
                    </a:lnTo>
                    <a:lnTo>
                      <a:pt x="289" y="206"/>
                    </a:lnTo>
                    <a:lnTo>
                      <a:pt x="293" y="192"/>
                    </a:lnTo>
                    <a:lnTo>
                      <a:pt x="297" y="178"/>
                    </a:lnTo>
                    <a:lnTo>
                      <a:pt x="299" y="163"/>
                    </a:lnTo>
                    <a:lnTo>
                      <a:pt x="300" y="148"/>
                    </a:lnTo>
                    <a:lnTo>
                      <a:pt x="299" y="133"/>
                    </a:lnTo>
                    <a:lnTo>
                      <a:pt x="297" y="118"/>
                    </a:lnTo>
                    <a:lnTo>
                      <a:pt x="293" y="104"/>
                    </a:lnTo>
                    <a:lnTo>
                      <a:pt x="288" y="90"/>
                    </a:lnTo>
                    <a:lnTo>
                      <a:pt x="282" y="77"/>
                    </a:lnTo>
                    <a:lnTo>
                      <a:pt x="274" y="66"/>
                    </a:lnTo>
                    <a:lnTo>
                      <a:pt x="266" y="54"/>
                    </a:lnTo>
                    <a:lnTo>
                      <a:pt x="256" y="43"/>
                    </a:lnTo>
                    <a:lnTo>
                      <a:pt x="245" y="35"/>
                    </a:lnTo>
                    <a:lnTo>
                      <a:pt x="235" y="25"/>
                    </a:lnTo>
                    <a:lnTo>
                      <a:pt x="222" y="19"/>
                    </a:lnTo>
                    <a:lnTo>
                      <a:pt x="209" y="12"/>
                    </a:lnTo>
                    <a:lnTo>
                      <a:pt x="195" y="7"/>
                    </a:lnTo>
                    <a:lnTo>
                      <a:pt x="181" y="4"/>
                    </a:lnTo>
                    <a:lnTo>
                      <a:pt x="166" y="1"/>
                    </a:lnTo>
                    <a:lnTo>
                      <a:pt x="151" y="0"/>
                    </a:lnTo>
                    <a:lnTo>
                      <a:pt x="136" y="1"/>
                    </a:lnTo>
                    <a:lnTo>
                      <a:pt x="121" y="3"/>
                    </a:lnTo>
                    <a:lnTo>
                      <a:pt x="108" y="6"/>
                    </a:lnTo>
                    <a:lnTo>
                      <a:pt x="94" y="10"/>
                    </a:lnTo>
                    <a:lnTo>
                      <a:pt x="81" y="16"/>
                    </a:lnTo>
                    <a:lnTo>
                      <a:pt x="68" y="23"/>
                    </a:lnTo>
                    <a:lnTo>
                      <a:pt x="56" y="30"/>
                    </a:lnTo>
                    <a:lnTo>
                      <a:pt x="46" y="40"/>
                    </a:lnTo>
                    <a:lnTo>
                      <a:pt x="36" y="50"/>
                    </a:lnTo>
                    <a:lnTo>
                      <a:pt x="26" y="61"/>
                    </a:lnTo>
                    <a:lnTo>
                      <a:pt x="19" y="73"/>
                    </a:lnTo>
                    <a:lnTo>
                      <a:pt x="12" y="86"/>
                    </a:lnTo>
                    <a:lnTo>
                      <a:pt x="7" y="101"/>
                    </a:lnTo>
                    <a:lnTo>
                      <a:pt x="3" y="116"/>
                    </a:lnTo>
                    <a:lnTo>
                      <a:pt x="1" y="131"/>
                    </a:lnTo>
                    <a:lnTo>
                      <a:pt x="0" y="148"/>
                    </a:lnTo>
                    <a:lnTo>
                      <a:pt x="1" y="164"/>
                    </a:lnTo>
                    <a:lnTo>
                      <a:pt x="3" y="180"/>
                    </a:lnTo>
                    <a:lnTo>
                      <a:pt x="7" y="195"/>
                    </a:lnTo>
                    <a:lnTo>
                      <a:pt x="12" y="209"/>
                    </a:lnTo>
                    <a:lnTo>
                      <a:pt x="19" y="223"/>
                    </a:lnTo>
                    <a:lnTo>
                      <a:pt x="27" y="234"/>
                    </a:lnTo>
                    <a:lnTo>
                      <a:pt x="36" y="246"/>
                    </a:lnTo>
                    <a:lnTo>
                      <a:pt x="47" y="257"/>
                    </a:lnTo>
                    <a:lnTo>
                      <a:pt x="58" y="266"/>
                    </a:lnTo>
                    <a:lnTo>
                      <a:pt x="70" y="275"/>
                    </a:lnTo>
                    <a:lnTo>
                      <a:pt x="83" y="282"/>
                    </a:lnTo>
                    <a:lnTo>
                      <a:pt x="97" y="288"/>
                    </a:lnTo>
                    <a:lnTo>
                      <a:pt x="111" y="293"/>
                    </a:lnTo>
                    <a:lnTo>
                      <a:pt x="126" y="296"/>
                    </a:lnTo>
                    <a:lnTo>
                      <a:pt x="141" y="298"/>
                    </a:lnTo>
                    <a:lnTo>
                      <a:pt x="156" y="30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71" name="Freeform 1078"/>
              <p:cNvSpPr>
                <a:spLocks/>
              </p:cNvSpPr>
              <p:nvPr/>
            </p:nvSpPr>
            <p:spPr bwMode="auto">
              <a:xfrm>
                <a:off x="2140" y="3136"/>
                <a:ext cx="149" cy="300"/>
              </a:xfrm>
              <a:custGeom>
                <a:avLst/>
                <a:gdLst>
                  <a:gd name="T0" fmla="*/ 146 w 149"/>
                  <a:gd name="T1" fmla="*/ 116 h 300"/>
                  <a:gd name="T2" fmla="*/ 147 w 149"/>
                  <a:gd name="T3" fmla="*/ 179 h 300"/>
                  <a:gd name="T4" fmla="*/ 123 w 149"/>
                  <a:gd name="T5" fmla="*/ 235 h 300"/>
                  <a:gd name="T6" fmla="*/ 106 w 149"/>
                  <a:gd name="T7" fmla="*/ 256 h 300"/>
                  <a:gd name="T8" fmla="*/ 85 w 149"/>
                  <a:gd name="T9" fmla="*/ 273 h 300"/>
                  <a:gd name="T10" fmla="*/ 63 w 149"/>
                  <a:gd name="T11" fmla="*/ 286 h 300"/>
                  <a:gd name="T12" fmla="*/ 38 w 149"/>
                  <a:gd name="T13" fmla="*/ 294 h 300"/>
                  <a:gd name="T14" fmla="*/ 13 w 149"/>
                  <a:gd name="T15" fmla="*/ 298 h 300"/>
                  <a:gd name="T16" fmla="*/ 6 w 149"/>
                  <a:gd name="T17" fmla="*/ 292 h 300"/>
                  <a:gd name="T18" fmla="*/ 13 w 149"/>
                  <a:gd name="T19" fmla="*/ 282 h 300"/>
                  <a:gd name="T20" fmla="*/ 23 w 149"/>
                  <a:gd name="T21" fmla="*/ 277 h 300"/>
                  <a:gd name="T22" fmla="*/ 25 w 149"/>
                  <a:gd name="T23" fmla="*/ 265 h 300"/>
                  <a:gd name="T24" fmla="*/ 29 w 149"/>
                  <a:gd name="T25" fmla="*/ 254 h 300"/>
                  <a:gd name="T26" fmla="*/ 37 w 149"/>
                  <a:gd name="T27" fmla="*/ 247 h 300"/>
                  <a:gd name="T28" fmla="*/ 50 w 149"/>
                  <a:gd name="T29" fmla="*/ 246 h 300"/>
                  <a:gd name="T30" fmla="*/ 63 w 149"/>
                  <a:gd name="T31" fmla="*/ 246 h 300"/>
                  <a:gd name="T32" fmla="*/ 75 w 149"/>
                  <a:gd name="T33" fmla="*/ 245 h 300"/>
                  <a:gd name="T34" fmla="*/ 87 w 149"/>
                  <a:gd name="T35" fmla="*/ 243 h 300"/>
                  <a:gd name="T36" fmla="*/ 99 w 149"/>
                  <a:gd name="T37" fmla="*/ 240 h 300"/>
                  <a:gd name="T38" fmla="*/ 102 w 149"/>
                  <a:gd name="T39" fmla="*/ 224 h 300"/>
                  <a:gd name="T40" fmla="*/ 99 w 149"/>
                  <a:gd name="T41" fmla="*/ 213 h 300"/>
                  <a:gd name="T42" fmla="*/ 100 w 149"/>
                  <a:gd name="T43" fmla="*/ 206 h 300"/>
                  <a:gd name="T44" fmla="*/ 103 w 149"/>
                  <a:gd name="T45" fmla="*/ 198 h 300"/>
                  <a:gd name="T46" fmla="*/ 98 w 149"/>
                  <a:gd name="T47" fmla="*/ 196 h 300"/>
                  <a:gd name="T48" fmla="*/ 100 w 149"/>
                  <a:gd name="T49" fmla="*/ 193 h 300"/>
                  <a:gd name="T50" fmla="*/ 101 w 149"/>
                  <a:gd name="T51" fmla="*/ 186 h 300"/>
                  <a:gd name="T52" fmla="*/ 97 w 149"/>
                  <a:gd name="T53" fmla="*/ 172 h 300"/>
                  <a:gd name="T54" fmla="*/ 107 w 149"/>
                  <a:gd name="T55" fmla="*/ 168 h 300"/>
                  <a:gd name="T56" fmla="*/ 114 w 149"/>
                  <a:gd name="T57" fmla="*/ 162 h 300"/>
                  <a:gd name="T58" fmla="*/ 85 w 149"/>
                  <a:gd name="T59" fmla="*/ 119 h 300"/>
                  <a:gd name="T60" fmla="*/ 87 w 149"/>
                  <a:gd name="T61" fmla="*/ 96 h 300"/>
                  <a:gd name="T62" fmla="*/ 76 w 149"/>
                  <a:gd name="T63" fmla="*/ 69 h 300"/>
                  <a:gd name="T64" fmla="*/ 61 w 149"/>
                  <a:gd name="T65" fmla="*/ 44 h 300"/>
                  <a:gd name="T66" fmla="*/ 63 w 149"/>
                  <a:gd name="T67" fmla="*/ 40 h 300"/>
                  <a:gd name="T68" fmla="*/ 67 w 149"/>
                  <a:gd name="T69" fmla="*/ 37 h 300"/>
                  <a:gd name="T70" fmla="*/ 66 w 149"/>
                  <a:gd name="T71" fmla="*/ 31 h 300"/>
                  <a:gd name="T72" fmla="*/ 53 w 149"/>
                  <a:gd name="T73" fmla="*/ 27 h 300"/>
                  <a:gd name="T74" fmla="*/ 40 w 149"/>
                  <a:gd name="T75" fmla="*/ 24 h 300"/>
                  <a:gd name="T76" fmla="*/ 28 w 149"/>
                  <a:gd name="T77" fmla="*/ 21 h 300"/>
                  <a:gd name="T78" fmla="*/ 14 w 149"/>
                  <a:gd name="T79" fmla="*/ 20 h 300"/>
                  <a:gd name="T80" fmla="*/ 0 w 149"/>
                  <a:gd name="T81" fmla="*/ 19 h 300"/>
                  <a:gd name="T82" fmla="*/ 0 w 149"/>
                  <a:gd name="T83" fmla="*/ 4 h 300"/>
                  <a:gd name="T84" fmla="*/ 21 w 149"/>
                  <a:gd name="T85" fmla="*/ 3 h 300"/>
                  <a:gd name="T86" fmla="*/ 50 w 149"/>
                  <a:gd name="T87" fmla="*/ 10 h 300"/>
                  <a:gd name="T88" fmla="*/ 77 w 149"/>
                  <a:gd name="T89" fmla="*/ 23 h 300"/>
                  <a:gd name="T90" fmla="*/ 100 w 149"/>
                  <a:gd name="T91" fmla="*/ 40 h 300"/>
                  <a:gd name="T92" fmla="*/ 120 w 149"/>
                  <a:gd name="T93" fmla="*/ 61 h 300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49"/>
                  <a:gd name="T142" fmla="*/ 0 h 300"/>
                  <a:gd name="T143" fmla="*/ 149 w 149"/>
                  <a:gd name="T144" fmla="*/ 300 h 300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49" h="300">
                    <a:moveTo>
                      <a:pt x="131" y="78"/>
                    </a:moveTo>
                    <a:lnTo>
                      <a:pt x="140" y="97"/>
                    </a:lnTo>
                    <a:lnTo>
                      <a:pt x="146" y="116"/>
                    </a:lnTo>
                    <a:lnTo>
                      <a:pt x="149" y="137"/>
                    </a:lnTo>
                    <a:lnTo>
                      <a:pt x="149" y="159"/>
                    </a:lnTo>
                    <a:lnTo>
                      <a:pt x="147" y="179"/>
                    </a:lnTo>
                    <a:lnTo>
                      <a:pt x="142" y="200"/>
                    </a:lnTo>
                    <a:lnTo>
                      <a:pt x="134" y="218"/>
                    </a:lnTo>
                    <a:lnTo>
                      <a:pt x="123" y="235"/>
                    </a:lnTo>
                    <a:lnTo>
                      <a:pt x="117" y="243"/>
                    </a:lnTo>
                    <a:lnTo>
                      <a:pt x="112" y="249"/>
                    </a:lnTo>
                    <a:lnTo>
                      <a:pt x="106" y="256"/>
                    </a:lnTo>
                    <a:lnTo>
                      <a:pt x="99" y="262"/>
                    </a:lnTo>
                    <a:lnTo>
                      <a:pt x="93" y="267"/>
                    </a:lnTo>
                    <a:lnTo>
                      <a:pt x="85" y="273"/>
                    </a:lnTo>
                    <a:lnTo>
                      <a:pt x="78" y="277"/>
                    </a:lnTo>
                    <a:lnTo>
                      <a:pt x="70" y="281"/>
                    </a:lnTo>
                    <a:lnTo>
                      <a:pt x="63" y="286"/>
                    </a:lnTo>
                    <a:lnTo>
                      <a:pt x="55" y="289"/>
                    </a:lnTo>
                    <a:lnTo>
                      <a:pt x="47" y="292"/>
                    </a:lnTo>
                    <a:lnTo>
                      <a:pt x="38" y="294"/>
                    </a:lnTo>
                    <a:lnTo>
                      <a:pt x="30" y="296"/>
                    </a:lnTo>
                    <a:lnTo>
                      <a:pt x="21" y="297"/>
                    </a:lnTo>
                    <a:lnTo>
                      <a:pt x="13" y="298"/>
                    </a:lnTo>
                    <a:lnTo>
                      <a:pt x="3" y="300"/>
                    </a:lnTo>
                    <a:lnTo>
                      <a:pt x="5" y="295"/>
                    </a:lnTo>
                    <a:lnTo>
                      <a:pt x="6" y="292"/>
                    </a:lnTo>
                    <a:lnTo>
                      <a:pt x="8" y="289"/>
                    </a:lnTo>
                    <a:lnTo>
                      <a:pt x="10" y="286"/>
                    </a:lnTo>
                    <a:lnTo>
                      <a:pt x="13" y="282"/>
                    </a:lnTo>
                    <a:lnTo>
                      <a:pt x="16" y="280"/>
                    </a:lnTo>
                    <a:lnTo>
                      <a:pt x="19" y="278"/>
                    </a:lnTo>
                    <a:lnTo>
                      <a:pt x="23" y="277"/>
                    </a:lnTo>
                    <a:lnTo>
                      <a:pt x="23" y="273"/>
                    </a:lnTo>
                    <a:lnTo>
                      <a:pt x="24" y="270"/>
                    </a:lnTo>
                    <a:lnTo>
                      <a:pt x="25" y="265"/>
                    </a:lnTo>
                    <a:lnTo>
                      <a:pt x="25" y="261"/>
                    </a:lnTo>
                    <a:lnTo>
                      <a:pt x="26" y="258"/>
                    </a:lnTo>
                    <a:lnTo>
                      <a:pt x="29" y="254"/>
                    </a:lnTo>
                    <a:lnTo>
                      <a:pt x="31" y="250"/>
                    </a:lnTo>
                    <a:lnTo>
                      <a:pt x="33" y="248"/>
                    </a:lnTo>
                    <a:lnTo>
                      <a:pt x="37" y="247"/>
                    </a:lnTo>
                    <a:lnTo>
                      <a:pt x="41" y="247"/>
                    </a:lnTo>
                    <a:lnTo>
                      <a:pt x="46" y="247"/>
                    </a:lnTo>
                    <a:lnTo>
                      <a:pt x="50" y="246"/>
                    </a:lnTo>
                    <a:lnTo>
                      <a:pt x="54" y="246"/>
                    </a:lnTo>
                    <a:lnTo>
                      <a:pt x="58" y="246"/>
                    </a:lnTo>
                    <a:lnTo>
                      <a:pt x="63" y="246"/>
                    </a:lnTo>
                    <a:lnTo>
                      <a:pt x="67" y="246"/>
                    </a:lnTo>
                    <a:lnTo>
                      <a:pt x="71" y="245"/>
                    </a:lnTo>
                    <a:lnTo>
                      <a:pt x="75" y="245"/>
                    </a:lnTo>
                    <a:lnTo>
                      <a:pt x="79" y="244"/>
                    </a:lnTo>
                    <a:lnTo>
                      <a:pt x="83" y="244"/>
                    </a:lnTo>
                    <a:lnTo>
                      <a:pt x="87" y="243"/>
                    </a:lnTo>
                    <a:lnTo>
                      <a:pt x="91" y="242"/>
                    </a:lnTo>
                    <a:lnTo>
                      <a:pt x="95" y="241"/>
                    </a:lnTo>
                    <a:lnTo>
                      <a:pt x="99" y="240"/>
                    </a:lnTo>
                    <a:lnTo>
                      <a:pt x="102" y="234"/>
                    </a:lnTo>
                    <a:lnTo>
                      <a:pt x="102" y="229"/>
                    </a:lnTo>
                    <a:lnTo>
                      <a:pt x="102" y="224"/>
                    </a:lnTo>
                    <a:lnTo>
                      <a:pt x="100" y="218"/>
                    </a:lnTo>
                    <a:lnTo>
                      <a:pt x="99" y="215"/>
                    </a:lnTo>
                    <a:lnTo>
                      <a:pt x="99" y="213"/>
                    </a:lnTo>
                    <a:lnTo>
                      <a:pt x="99" y="211"/>
                    </a:lnTo>
                    <a:lnTo>
                      <a:pt x="99" y="208"/>
                    </a:lnTo>
                    <a:lnTo>
                      <a:pt x="100" y="206"/>
                    </a:lnTo>
                    <a:lnTo>
                      <a:pt x="101" y="203"/>
                    </a:lnTo>
                    <a:lnTo>
                      <a:pt x="102" y="200"/>
                    </a:lnTo>
                    <a:lnTo>
                      <a:pt x="103" y="198"/>
                    </a:lnTo>
                    <a:lnTo>
                      <a:pt x="101" y="197"/>
                    </a:lnTo>
                    <a:lnTo>
                      <a:pt x="100" y="197"/>
                    </a:lnTo>
                    <a:lnTo>
                      <a:pt x="98" y="196"/>
                    </a:lnTo>
                    <a:lnTo>
                      <a:pt x="98" y="194"/>
                    </a:lnTo>
                    <a:lnTo>
                      <a:pt x="99" y="193"/>
                    </a:lnTo>
                    <a:lnTo>
                      <a:pt x="100" y="193"/>
                    </a:lnTo>
                    <a:lnTo>
                      <a:pt x="102" y="192"/>
                    </a:lnTo>
                    <a:lnTo>
                      <a:pt x="103" y="191"/>
                    </a:lnTo>
                    <a:lnTo>
                      <a:pt x="101" y="186"/>
                    </a:lnTo>
                    <a:lnTo>
                      <a:pt x="100" y="182"/>
                    </a:lnTo>
                    <a:lnTo>
                      <a:pt x="99" y="177"/>
                    </a:lnTo>
                    <a:lnTo>
                      <a:pt x="97" y="172"/>
                    </a:lnTo>
                    <a:lnTo>
                      <a:pt x="100" y="170"/>
                    </a:lnTo>
                    <a:lnTo>
                      <a:pt x="103" y="169"/>
                    </a:lnTo>
                    <a:lnTo>
                      <a:pt x="107" y="168"/>
                    </a:lnTo>
                    <a:lnTo>
                      <a:pt x="109" y="166"/>
                    </a:lnTo>
                    <a:lnTo>
                      <a:pt x="112" y="164"/>
                    </a:lnTo>
                    <a:lnTo>
                      <a:pt x="114" y="162"/>
                    </a:lnTo>
                    <a:lnTo>
                      <a:pt x="115" y="160"/>
                    </a:lnTo>
                    <a:lnTo>
                      <a:pt x="115" y="155"/>
                    </a:lnTo>
                    <a:lnTo>
                      <a:pt x="85" y="119"/>
                    </a:lnTo>
                    <a:lnTo>
                      <a:pt x="93" y="114"/>
                    </a:lnTo>
                    <a:lnTo>
                      <a:pt x="91" y="105"/>
                    </a:lnTo>
                    <a:lnTo>
                      <a:pt x="87" y="96"/>
                    </a:lnTo>
                    <a:lnTo>
                      <a:pt x="84" y="86"/>
                    </a:lnTo>
                    <a:lnTo>
                      <a:pt x="81" y="77"/>
                    </a:lnTo>
                    <a:lnTo>
                      <a:pt x="76" y="69"/>
                    </a:lnTo>
                    <a:lnTo>
                      <a:pt x="71" y="60"/>
                    </a:lnTo>
                    <a:lnTo>
                      <a:pt x="66" y="52"/>
                    </a:lnTo>
                    <a:lnTo>
                      <a:pt x="61" y="44"/>
                    </a:lnTo>
                    <a:lnTo>
                      <a:pt x="62" y="43"/>
                    </a:lnTo>
                    <a:lnTo>
                      <a:pt x="63" y="41"/>
                    </a:lnTo>
                    <a:lnTo>
                      <a:pt x="63" y="40"/>
                    </a:lnTo>
                    <a:lnTo>
                      <a:pt x="65" y="39"/>
                    </a:lnTo>
                    <a:lnTo>
                      <a:pt x="66" y="38"/>
                    </a:lnTo>
                    <a:lnTo>
                      <a:pt x="67" y="37"/>
                    </a:lnTo>
                    <a:lnTo>
                      <a:pt x="69" y="35"/>
                    </a:lnTo>
                    <a:lnTo>
                      <a:pt x="70" y="34"/>
                    </a:lnTo>
                    <a:lnTo>
                      <a:pt x="66" y="31"/>
                    </a:lnTo>
                    <a:lnTo>
                      <a:pt x="62" y="30"/>
                    </a:lnTo>
                    <a:lnTo>
                      <a:pt x="57" y="28"/>
                    </a:lnTo>
                    <a:lnTo>
                      <a:pt x="53" y="27"/>
                    </a:lnTo>
                    <a:lnTo>
                      <a:pt x="49" y="26"/>
                    </a:lnTo>
                    <a:lnTo>
                      <a:pt x="45" y="25"/>
                    </a:lnTo>
                    <a:lnTo>
                      <a:pt x="40" y="24"/>
                    </a:lnTo>
                    <a:lnTo>
                      <a:pt x="36" y="23"/>
                    </a:lnTo>
                    <a:lnTo>
                      <a:pt x="32" y="22"/>
                    </a:lnTo>
                    <a:lnTo>
                      <a:pt x="28" y="21"/>
                    </a:lnTo>
                    <a:lnTo>
                      <a:pt x="23" y="21"/>
                    </a:lnTo>
                    <a:lnTo>
                      <a:pt x="18" y="20"/>
                    </a:lnTo>
                    <a:lnTo>
                      <a:pt x="14" y="20"/>
                    </a:lnTo>
                    <a:lnTo>
                      <a:pt x="9" y="19"/>
                    </a:lnTo>
                    <a:lnTo>
                      <a:pt x="4" y="19"/>
                    </a:lnTo>
                    <a:lnTo>
                      <a:pt x="0" y="19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11" y="1"/>
                    </a:lnTo>
                    <a:lnTo>
                      <a:pt x="21" y="3"/>
                    </a:lnTo>
                    <a:lnTo>
                      <a:pt x="31" y="5"/>
                    </a:lnTo>
                    <a:lnTo>
                      <a:pt x="40" y="7"/>
                    </a:lnTo>
                    <a:lnTo>
                      <a:pt x="50" y="10"/>
                    </a:lnTo>
                    <a:lnTo>
                      <a:pt x="58" y="14"/>
                    </a:lnTo>
                    <a:lnTo>
                      <a:pt x="68" y="18"/>
                    </a:lnTo>
                    <a:lnTo>
                      <a:pt x="77" y="23"/>
                    </a:lnTo>
                    <a:lnTo>
                      <a:pt x="85" y="28"/>
                    </a:lnTo>
                    <a:lnTo>
                      <a:pt x="93" y="34"/>
                    </a:lnTo>
                    <a:lnTo>
                      <a:pt x="100" y="40"/>
                    </a:lnTo>
                    <a:lnTo>
                      <a:pt x="108" y="46"/>
                    </a:lnTo>
                    <a:lnTo>
                      <a:pt x="114" y="54"/>
                    </a:lnTo>
                    <a:lnTo>
                      <a:pt x="120" y="61"/>
                    </a:lnTo>
                    <a:lnTo>
                      <a:pt x="126" y="70"/>
                    </a:lnTo>
                    <a:lnTo>
                      <a:pt x="131" y="7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72" name="Freeform 1079"/>
              <p:cNvSpPr>
                <a:spLocks/>
              </p:cNvSpPr>
              <p:nvPr/>
            </p:nvSpPr>
            <p:spPr bwMode="auto">
              <a:xfrm>
                <a:off x="2114" y="3137"/>
                <a:ext cx="21" cy="23"/>
              </a:xfrm>
              <a:custGeom>
                <a:avLst/>
                <a:gdLst>
                  <a:gd name="T0" fmla="*/ 20 w 21"/>
                  <a:gd name="T1" fmla="*/ 23 h 23"/>
                  <a:gd name="T2" fmla="*/ 12 w 21"/>
                  <a:gd name="T3" fmla="*/ 23 h 23"/>
                  <a:gd name="T4" fmla="*/ 13 w 21"/>
                  <a:gd name="T5" fmla="*/ 20 h 23"/>
                  <a:gd name="T6" fmla="*/ 13 w 21"/>
                  <a:gd name="T7" fmla="*/ 17 h 23"/>
                  <a:gd name="T8" fmla="*/ 12 w 21"/>
                  <a:gd name="T9" fmla="*/ 13 h 23"/>
                  <a:gd name="T10" fmla="*/ 11 w 21"/>
                  <a:gd name="T11" fmla="*/ 11 h 23"/>
                  <a:gd name="T12" fmla="*/ 9 w 21"/>
                  <a:gd name="T13" fmla="*/ 9 h 23"/>
                  <a:gd name="T14" fmla="*/ 8 w 21"/>
                  <a:gd name="T15" fmla="*/ 7 h 23"/>
                  <a:gd name="T16" fmla="*/ 4 w 21"/>
                  <a:gd name="T17" fmla="*/ 5 h 23"/>
                  <a:gd name="T18" fmla="*/ 2 w 21"/>
                  <a:gd name="T19" fmla="*/ 4 h 23"/>
                  <a:gd name="T20" fmla="*/ 0 w 21"/>
                  <a:gd name="T21" fmla="*/ 2 h 23"/>
                  <a:gd name="T22" fmla="*/ 2 w 21"/>
                  <a:gd name="T23" fmla="*/ 2 h 23"/>
                  <a:gd name="T24" fmla="*/ 4 w 21"/>
                  <a:gd name="T25" fmla="*/ 2 h 23"/>
                  <a:gd name="T26" fmla="*/ 8 w 21"/>
                  <a:gd name="T27" fmla="*/ 0 h 23"/>
                  <a:gd name="T28" fmla="*/ 10 w 21"/>
                  <a:gd name="T29" fmla="*/ 0 h 23"/>
                  <a:gd name="T30" fmla="*/ 13 w 21"/>
                  <a:gd name="T31" fmla="*/ 0 h 23"/>
                  <a:gd name="T32" fmla="*/ 16 w 21"/>
                  <a:gd name="T33" fmla="*/ 0 h 23"/>
                  <a:gd name="T34" fmla="*/ 19 w 21"/>
                  <a:gd name="T35" fmla="*/ 0 h 23"/>
                  <a:gd name="T36" fmla="*/ 21 w 21"/>
                  <a:gd name="T37" fmla="*/ 2 h 23"/>
                  <a:gd name="T38" fmla="*/ 20 w 21"/>
                  <a:gd name="T39" fmla="*/ 23 h 2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"/>
                  <a:gd name="T61" fmla="*/ 0 h 23"/>
                  <a:gd name="T62" fmla="*/ 21 w 21"/>
                  <a:gd name="T63" fmla="*/ 23 h 2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" h="23">
                    <a:moveTo>
                      <a:pt x="20" y="23"/>
                    </a:moveTo>
                    <a:lnTo>
                      <a:pt x="12" y="23"/>
                    </a:lnTo>
                    <a:lnTo>
                      <a:pt x="13" y="20"/>
                    </a:lnTo>
                    <a:lnTo>
                      <a:pt x="13" y="17"/>
                    </a:lnTo>
                    <a:lnTo>
                      <a:pt x="12" y="13"/>
                    </a:lnTo>
                    <a:lnTo>
                      <a:pt x="11" y="11"/>
                    </a:lnTo>
                    <a:lnTo>
                      <a:pt x="9" y="9"/>
                    </a:lnTo>
                    <a:lnTo>
                      <a:pt x="8" y="7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3" y="0"/>
                    </a:lnTo>
                    <a:lnTo>
                      <a:pt x="16" y="0"/>
                    </a:lnTo>
                    <a:lnTo>
                      <a:pt x="19" y="0"/>
                    </a:lnTo>
                    <a:lnTo>
                      <a:pt x="21" y="2"/>
                    </a:lnTo>
                    <a:lnTo>
                      <a:pt x="20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73" name="Freeform 1080"/>
              <p:cNvSpPr>
                <a:spLocks/>
              </p:cNvSpPr>
              <p:nvPr/>
            </p:nvSpPr>
            <p:spPr bwMode="auto">
              <a:xfrm>
                <a:off x="2018" y="3141"/>
                <a:ext cx="104" cy="270"/>
              </a:xfrm>
              <a:custGeom>
                <a:avLst/>
                <a:gdLst>
                  <a:gd name="T0" fmla="*/ 104 w 104"/>
                  <a:gd name="T1" fmla="*/ 19 h 270"/>
                  <a:gd name="T2" fmla="*/ 102 w 104"/>
                  <a:gd name="T3" fmla="*/ 33 h 270"/>
                  <a:gd name="T4" fmla="*/ 97 w 104"/>
                  <a:gd name="T5" fmla="*/ 45 h 270"/>
                  <a:gd name="T6" fmla="*/ 92 w 104"/>
                  <a:gd name="T7" fmla="*/ 48 h 270"/>
                  <a:gd name="T8" fmla="*/ 85 w 104"/>
                  <a:gd name="T9" fmla="*/ 52 h 270"/>
                  <a:gd name="T10" fmla="*/ 83 w 104"/>
                  <a:gd name="T11" fmla="*/ 57 h 270"/>
                  <a:gd name="T12" fmla="*/ 83 w 104"/>
                  <a:gd name="T13" fmla="*/ 66 h 270"/>
                  <a:gd name="T14" fmla="*/ 85 w 104"/>
                  <a:gd name="T15" fmla="*/ 71 h 270"/>
                  <a:gd name="T16" fmla="*/ 91 w 104"/>
                  <a:gd name="T17" fmla="*/ 68 h 270"/>
                  <a:gd name="T18" fmla="*/ 93 w 104"/>
                  <a:gd name="T19" fmla="*/ 62 h 270"/>
                  <a:gd name="T20" fmla="*/ 98 w 104"/>
                  <a:gd name="T21" fmla="*/ 60 h 270"/>
                  <a:gd name="T22" fmla="*/ 96 w 104"/>
                  <a:gd name="T23" fmla="*/ 80 h 270"/>
                  <a:gd name="T24" fmla="*/ 91 w 104"/>
                  <a:gd name="T25" fmla="*/ 91 h 270"/>
                  <a:gd name="T26" fmla="*/ 85 w 104"/>
                  <a:gd name="T27" fmla="*/ 101 h 270"/>
                  <a:gd name="T28" fmla="*/ 88 w 104"/>
                  <a:gd name="T29" fmla="*/ 127 h 270"/>
                  <a:gd name="T30" fmla="*/ 86 w 104"/>
                  <a:gd name="T31" fmla="*/ 120 h 270"/>
                  <a:gd name="T32" fmla="*/ 85 w 104"/>
                  <a:gd name="T33" fmla="*/ 114 h 270"/>
                  <a:gd name="T34" fmla="*/ 73 w 104"/>
                  <a:gd name="T35" fmla="*/ 103 h 270"/>
                  <a:gd name="T36" fmla="*/ 66 w 104"/>
                  <a:gd name="T37" fmla="*/ 107 h 270"/>
                  <a:gd name="T38" fmla="*/ 62 w 104"/>
                  <a:gd name="T39" fmla="*/ 112 h 270"/>
                  <a:gd name="T40" fmla="*/ 55 w 104"/>
                  <a:gd name="T41" fmla="*/ 107 h 270"/>
                  <a:gd name="T42" fmla="*/ 46 w 104"/>
                  <a:gd name="T43" fmla="*/ 105 h 270"/>
                  <a:gd name="T44" fmla="*/ 38 w 104"/>
                  <a:gd name="T45" fmla="*/ 109 h 270"/>
                  <a:gd name="T46" fmla="*/ 39 w 104"/>
                  <a:gd name="T47" fmla="*/ 121 h 270"/>
                  <a:gd name="T48" fmla="*/ 38 w 104"/>
                  <a:gd name="T49" fmla="*/ 127 h 270"/>
                  <a:gd name="T50" fmla="*/ 32 w 104"/>
                  <a:gd name="T51" fmla="*/ 134 h 270"/>
                  <a:gd name="T52" fmla="*/ 26 w 104"/>
                  <a:gd name="T53" fmla="*/ 143 h 270"/>
                  <a:gd name="T54" fmla="*/ 34 w 104"/>
                  <a:gd name="T55" fmla="*/ 166 h 270"/>
                  <a:gd name="T56" fmla="*/ 47 w 104"/>
                  <a:gd name="T57" fmla="*/ 186 h 270"/>
                  <a:gd name="T58" fmla="*/ 65 w 104"/>
                  <a:gd name="T59" fmla="*/ 194 h 270"/>
                  <a:gd name="T60" fmla="*/ 74 w 104"/>
                  <a:gd name="T61" fmla="*/ 203 h 270"/>
                  <a:gd name="T62" fmla="*/ 77 w 104"/>
                  <a:gd name="T63" fmla="*/ 213 h 270"/>
                  <a:gd name="T64" fmla="*/ 63 w 104"/>
                  <a:gd name="T65" fmla="*/ 226 h 270"/>
                  <a:gd name="T66" fmla="*/ 61 w 104"/>
                  <a:gd name="T67" fmla="*/ 248 h 270"/>
                  <a:gd name="T68" fmla="*/ 60 w 104"/>
                  <a:gd name="T69" fmla="*/ 270 h 270"/>
                  <a:gd name="T70" fmla="*/ 47 w 104"/>
                  <a:gd name="T71" fmla="*/ 261 h 270"/>
                  <a:gd name="T72" fmla="*/ 37 w 104"/>
                  <a:gd name="T73" fmla="*/ 248 h 270"/>
                  <a:gd name="T74" fmla="*/ 30 w 104"/>
                  <a:gd name="T75" fmla="*/ 234 h 270"/>
                  <a:gd name="T76" fmla="*/ 24 w 104"/>
                  <a:gd name="T77" fmla="*/ 221 h 270"/>
                  <a:gd name="T78" fmla="*/ 14 w 104"/>
                  <a:gd name="T79" fmla="*/ 213 h 270"/>
                  <a:gd name="T80" fmla="*/ 4 w 104"/>
                  <a:gd name="T81" fmla="*/ 170 h 270"/>
                  <a:gd name="T82" fmla="*/ 13 w 104"/>
                  <a:gd name="T83" fmla="*/ 162 h 270"/>
                  <a:gd name="T84" fmla="*/ 21 w 104"/>
                  <a:gd name="T85" fmla="*/ 151 h 270"/>
                  <a:gd name="T86" fmla="*/ 24 w 104"/>
                  <a:gd name="T87" fmla="*/ 112 h 270"/>
                  <a:gd name="T88" fmla="*/ 19 w 104"/>
                  <a:gd name="T89" fmla="*/ 111 h 270"/>
                  <a:gd name="T90" fmla="*/ 14 w 104"/>
                  <a:gd name="T91" fmla="*/ 110 h 270"/>
                  <a:gd name="T92" fmla="*/ 13 w 104"/>
                  <a:gd name="T93" fmla="*/ 60 h 270"/>
                  <a:gd name="T94" fmla="*/ 7 w 104"/>
                  <a:gd name="T95" fmla="*/ 56 h 270"/>
                  <a:gd name="T96" fmla="*/ 4 w 104"/>
                  <a:gd name="T97" fmla="*/ 53 h 270"/>
                  <a:gd name="T98" fmla="*/ 6 w 104"/>
                  <a:gd name="T99" fmla="*/ 45 h 270"/>
                  <a:gd name="T100" fmla="*/ 20 w 104"/>
                  <a:gd name="T101" fmla="*/ 32 h 270"/>
                  <a:gd name="T102" fmla="*/ 35 w 104"/>
                  <a:gd name="T103" fmla="*/ 21 h 270"/>
                  <a:gd name="T104" fmla="*/ 51 w 104"/>
                  <a:gd name="T105" fmla="*/ 13 h 270"/>
                  <a:gd name="T106" fmla="*/ 69 w 104"/>
                  <a:gd name="T107" fmla="*/ 5 h 270"/>
                  <a:gd name="T108" fmla="*/ 86 w 104"/>
                  <a:gd name="T109" fmla="*/ 0 h 270"/>
                  <a:gd name="T110" fmla="*/ 94 w 104"/>
                  <a:gd name="T111" fmla="*/ 2 h 270"/>
                  <a:gd name="T112" fmla="*/ 99 w 104"/>
                  <a:gd name="T113" fmla="*/ 7 h 27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104"/>
                  <a:gd name="T172" fmla="*/ 0 h 270"/>
                  <a:gd name="T173" fmla="*/ 104 w 104"/>
                  <a:gd name="T174" fmla="*/ 270 h 270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104" h="270">
                    <a:moveTo>
                      <a:pt x="104" y="10"/>
                    </a:moveTo>
                    <a:lnTo>
                      <a:pt x="104" y="15"/>
                    </a:lnTo>
                    <a:lnTo>
                      <a:pt x="104" y="19"/>
                    </a:lnTo>
                    <a:lnTo>
                      <a:pt x="104" y="24"/>
                    </a:lnTo>
                    <a:lnTo>
                      <a:pt x="102" y="29"/>
                    </a:lnTo>
                    <a:lnTo>
                      <a:pt x="102" y="33"/>
                    </a:lnTo>
                    <a:lnTo>
                      <a:pt x="101" y="37"/>
                    </a:lnTo>
                    <a:lnTo>
                      <a:pt x="99" y="40"/>
                    </a:lnTo>
                    <a:lnTo>
                      <a:pt x="97" y="45"/>
                    </a:lnTo>
                    <a:lnTo>
                      <a:pt x="95" y="46"/>
                    </a:lnTo>
                    <a:lnTo>
                      <a:pt x="94" y="47"/>
                    </a:lnTo>
                    <a:lnTo>
                      <a:pt x="92" y="48"/>
                    </a:lnTo>
                    <a:lnTo>
                      <a:pt x="90" y="49"/>
                    </a:lnTo>
                    <a:lnTo>
                      <a:pt x="88" y="50"/>
                    </a:lnTo>
                    <a:lnTo>
                      <a:pt x="85" y="52"/>
                    </a:lnTo>
                    <a:lnTo>
                      <a:pt x="84" y="53"/>
                    </a:lnTo>
                    <a:lnTo>
                      <a:pt x="82" y="55"/>
                    </a:lnTo>
                    <a:lnTo>
                      <a:pt x="83" y="57"/>
                    </a:lnTo>
                    <a:lnTo>
                      <a:pt x="83" y="60"/>
                    </a:lnTo>
                    <a:lnTo>
                      <a:pt x="83" y="63"/>
                    </a:lnTo>
                    <a:lnTo>
                      <a:pt x="83" y="66"/>
                    </a:lnTo>
                    <a:lnTo>
                      <a:pt x="83" y="68"/>
                    </a:lnTo>
                    <a:lnTo>
                      <a:pt x="84" y="70"/>
                    </a:lnTo>
                    <a:lnTo>
                      <a:pt x="85" y="71"/>
                    </a:lnTo>
                    <a:lnTo>
                      <a:pt x="89" y="72"/>
                    </a:lnTo>
                    <a:lnTo>
                      <a:pt x="90" y="70"/>
                    </a:lnTo>
                    <a:lnTo>
                      <a:pt x="91" y="68"/>
                    </a:lnTo>
                    <a:lnTo>
                      <a:pt x="91" y="66"/>
                    </a:lnTo>
                    <a:lnTo>
                      <a:pt x="92" y="64"/>
                    </a:lnTo>
                    <a:lnTo>
                      <a:pt x="93" y="62"/>
                    </a:lnTo>
                    <a:lnTo>
                      <a:pt x="95" y="60"/>
                    </a:lnTo>
                    <a:lnTo>
                      <a:pt x="96" y="60"/>
                    </a:lnTo>
                    <a:lnTo>
                      <a:pt x="98" y="60"/>
                    </a:lnTo>
                    <a:lnTo>
                      <a:pt x="102" y="73"/>
                    </a:lnTo>
                    <a:lnTo>
                      <a:pt x="99" y="77"/>
                    </a:lnTo>
                    <a:lnTo>
                      <a:pt x="96" y="80"/>
                    </a:lnTo>
                    <a:lnTo>
                      <a:pt x="94" y="83"/>
                    </a:lnTo>
                    <a:lnTo>
                      <a:pt x="92" y="87"/>
                    </a:lnTo>
                    <a:lnTo>
                      <a:pt x="91" y="91"/>
                    </a:lnTo>
                    <a:lnTo>
                      <a:pt x="89" y="95"/>
                    </a:lnTo>
                    <a:lnTo>
                      <a:pt x="88" y="98"/>
                    </a:lnTo>
                    <a:lnTo>
                      <a:pt x="85" y="101"/>
                    </a:lnTo>
                    <a:lnTo>
                      <a:pt x="92" y="126"/>
                    </a:lnTo>
                    <a:lnTo>
                      <a:pt x="90" y="127"/>
                    </a:lnTo>
                    <a:lnTo>
                      <a:pt x="88" y="127"/>
                    </a:lnTo>
                    <a:lnTo>
                      <a:pt x="86" y="126"/>
                    </a:lnTo>
                    <a:lnTo>
                      <a:pt x="86" y="124"/>
                    </a:lnTo>
                    <a:lnTo>
                      <a:pt x="86" y="120"/>
                    </a:lnTo>
                    <a:lnTo>
                      <a:pt x="86" y="118"/>
                    </a:lnTo>
                    <a:lnTo>
                      <a:pt x="86" y="115"/>
                    </a:lnTo>
                    <a:lnTo>
                      <a:pt x="85" y="114"/>
                    </a:lnTo>
                    <a:lnTo>
                      <a:pt x="78" y="101"/>
                    </a:lnTo>
                    <a:lnTo>
                      <a:pt x="76" y="102"/>
                    </a:lnTo>
                    <a:lnTo>
                      <a:pt x="73" y="103"/>
                    </a:lnTo>
                    <a:lnTo>
                      <a:pt x="70" y="103"/>
                    </a:lnTo>
                    <a:lnTo>
                      <a:pt x="68" y="104"/>
                    </a:lnTo>
                    <a:lnTo>
                      <a:pt x="66" y="107"/>
                    </a:lnTo>
                    <a:lnTo>
                      <a:pt x="64" y="108"/>
                    </a:lnTo>
                    <a:lnTo>
                      <a:pt x="63" y="110"/>
                    </a:lnTo>
                    <a:lnTo>
                      <a:pt x="62" y="112"/>
                    </a:lnTo>
                    <a:lnTo>
                      <a:pt x="61" y="109"/>
                    </a:lnTo>
                    <a:lnTo>
                      <a:pt x="59" y="108"/>
                    </a:lnTo>
                    <a:lnTo>
                      <a:pt x="55" y="107"/>
                    </a:lnTo>
                    <a:lnTo>
                      <a:pt x="52" y="107"/>
                    </a:lnTo>
                    <a:lnTo>
                      <a:pt x="49" y="107"/>
                    </a:lnTo>
                    <a:lnTo>
                      <a:pt x="46" y="105"/>
                    </a:lnTo>
                    <a:lnTo>
                      <a:pt x="43" y="105"/>
                    </a:lnTo>
                    <a:lnTo>
                      <a:pt x="41" y="105"/>
                    </a:lnTo>
                    <a:lnTo>
                      <a:pt x="38" y="109"/>
                    </a:lnTo>
                    <a:lnTo>
                      <a:pt x="38" y="113"/>
                    </a:lnTo>
                    <a:lnTo>
                      <a:pt x="38" y="117"/>
                    </a:lnTo>
                    <a:lnTo>
                      <a:pt x="39" y="121"/>
                    </a:lnTo>
                    <a:lnTo>
                      <a:pt x="46" y="126"/>
                    </a:lnTo>
                    <a:lnTo>
                      <a:pt x="42" y="126"/>
                    </a:lnTo>
                    <a:lnTo>
                      <a:pt x="38" y="127"/>
                    </a:lnTo>
                    <a:lnTo>
                      <a:pt x="36" y="129"/>
                    </a:lnTo>
                    <a:lnTo>
                      <a:pt x="34" y="131"/>
                    </a:lnTo>
                    <a:lnTo>
                      <a:pt x="32" y="134"/>
                    </a:lnTo>
                    <a:lnTo>
                      <a:pt x="30" y="136"/>
                    </a:lnTo>
                    <a:lnTo>
                      <a:pt x="28" y="141"/>
                    </a:lnTo>
                    <a:lnTo>
                      <a:pt x="26" y="143"/>
                    </a:lnTo>
                    <a:lnTo>
                      <a:pt x="29" y="150"/>
                    </a:lnTo>
                    <a:lnTo>
                      <a:pt x="32" y="158"/>
                    </a:lnTo>
                    <a:lnTo>
                      <a:pt x="34" y="166"/>
                    </a:lnTo>
                    <a:lnTo>
                      <a:pt x="37" y="174"/>
                    </a:lnTo>
                    <a:lnTo>
                      <a:pt x="42" y="180"/>
                    </a:lnTo>
                    <a:lnTo>
                      <a:pt x="47" y="186"/>
                    </a:lnTo>
                    <a:lnTo>
                      <a:pt x="54" y="189"/>
                    </a:lnTo>
                    <a:lnTo>
                      <a:pt x="64" y="191"/>
                    </a:lnTo>
                    <a:lnTo>
                      <a:pt x="65" y="194"/>
                    </a:lnTo>
                    <a:lnTo>
                      <a:pt x="68" y="197"/>
                    </a:lnTo>
                    <a:lnTo>
                      <a:pt x="71" y="199"/>
                    </a:lnTo>
                    <a:lnTo>
                      <a:pt x="74" y="203"/>
                    </a:lnTo>
                    <a:lnTo>
                      <a:pt x="76" y="206"/>
                    </a:lnTo>
                    <a:lnTo>
                      <a:pt x="77" y="210"/>
                    </a:lnTo>
                    <a:lnTo>
                      <a:pt x="77" y="213"/>
                    </a:lnTo>
                    <a:lnTo>
                      <a:pt x="74" y="217"/>
                    </a:lnTo>
                    <a:lnTo>
                      <a:pt x="67" y="221"/>
                    </a:lnTo>
                    <a:lnTo>
                      <a:pt x="63" y="226"/>
                    </a:lnTo>
                    <a:lnTo>
                      <a:pt x="61" y="233"/>
                    </a:lnTo>
                    <a:lnTo>
                      <a:pt x="61" y="240"/>
                    </a:lnTo>
                    <a:lnTo>
                      <a:pt x="61" y="248"/>
                    </a:lnTo>
                    <a:lnTo>
                      <a:pt x="61" y="255"/>
                    </a:lnTo>
                    <a:lnTo>
                      <a:pt x="61" y="262"/>
                    </a:lnTo>
                    <a:lnTo>
                      <a:pt x="60" y="270"/>
                    </a:lnTo>
                    <a:lnTo>
                      <a:pt x="55" y="268"/>
                    </a:lnTo>
                    <a:lnTo>
                      <a:pt x="51" y="265"/>
                    </a:lnTo>
                    <a:lnTo>
                      <a:pt x="47" y="261"/>
                    </a:lnTo>
                    <a:lnTo>
                      <a:pt x="44" y="257"/>
                    </a:lnTo>
                    <a:lnTo>
                      <a:pt x="41" y="252"/>
                    </a:lnTo>
                    <a:lnTo>
                      <a:pt x="37" y="248"/>
                    </a:lnTo>
                    <a:lnTo>
                      <a:pt x="34" y="242"/>
                    </a:lnTo>
                    <a:lnTo>
                      <a:pt x="32" y="238"/>
                    </a:lnTo>
                    <a:lnTo>
                      <a:pt x="30" y="234"/>
                    </a:lnTo>
                    <a:lnTo>
                      <a:pt x="29" y="229"/>
                    </a:lnTo>
                    <a:lnTo>
                      <a:pt x="27" y="225"/>
                    </a:lnTo>
                    <a:lnTo>
                      <a:pt x="24" y="221"/>
                    </a:lnTo>
                    <a:lnTo>
                      <a:pt x="21" y="218"/>
                    </a:lnTo>
                    <a:lnTo>
                      <a:pt x="18" y="215"/>
                    </a:lnTo>
                    <a:lnTo>
                      <a:pt x="14" y="213"/>
                    </a:lnTo>
                    <a:lnTo>
                      <a:pt x="10" y="212"/>
                    </a:lnTo>
                    <a:lnTo>
                      <a:pt x="0" y="172"/>
                    </a:lnTo>
                    <a:lnTo>
                      <a:pt x="4" y="170"/>
                    </a:lnTo>
                    <a:lnTo>
                      <a:pt x="7" y="167"/>
                    </a:lnTo>
                    <a:lnTo>
                      <a:pt x="11" y="165"/>
                    </a:lnTo>
                    <a:lnTo>
                      <a:pt x="13" y="162"/>
                    </a:lnTo>
                    <a:lnTo>
                      <a:pt x="16" y="159"/>
                    </a:lnTo>
                    <a:lnTo>
                      <a:pt x="18" y="155"/>
                    </a:lnTo>
                    <a:lnTo>
                      <a:pt x="21" y="151"/>
                    </a:lnTo>
                    <a:lnTo>
                      <a:pt x="23" y="148"/>
                    </a:lnTo>
                    <a:lnTo>
                      <a:pt x="27" y="113"/>
                    </a:lnTo>
                    <a:lnTo>
                      <a:pt x="24" y="112"/>
                    </a:lnTo>
                    <a:lnTo>
                      <a:pt x="23" y="112"/>
                    </a:lnTo>
                    <a:lnTo>
                      <a:pt x="21" y="111"/>
                    </a:lnTo>
                    <a:lnTo>
                      <a:pt x="19" y="111"/>
                    </a:lnTo>
                    <a:lnTo>
                      <a:pt x="17" y="111"/>
                    </a:lnTo>
                    <a:lnTo>
                      <a:pt x="16" y="110"/>
                    </a:lnTo>
                    <a:lnTo>
                      <a:pt x="14" y="110"/>
                    </a:lnTo>
                    <a:lnTo>
                      <a:pt x="12" y="110"/>
                    </a:lnTo>
                    <a:lnTo>
                      <a:pt x="4" y="81"/>
                    </a:lnTo>
                    <a:lnTo>
                      <a:pt x="13" y="60"/>
                    </a:lnTo>
                    <a:lnTo>
                      <a:pt x="11" y="58"/>
                    </a:lnTo>
                    <a:lnTo>
                      <a:pt x="10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5" y="54"/>
                    </a:lnTo>
                    <a:lnTo>
                      <a:pt x="4" y="53"/>
                    </a:lnTo>
                    <a:lnTo>
                      <a:pt x="3" y="52"/>
                    </a:lnTo>
                    <a:lnTo>
                      <a:pt x="2" y="50"/>
                    </a:lnTo>
                    <a:lnTo>
                      <a:pt x="6" y="45"/>
                    </a:lnTo>
                    <a:lnTo>
                      <a:pt x="11" y="40"/>
                    </a:lnTo>
                    <a:lnTo>
                      <a:pt x="15" y="36"/>
                    </a:lnTo>
                    <a:lnTo>
                      <a:pt x="20" y="32"/>
                    </a:lnTo>
                    <a:lnTo>
                      <a:pt x="24" y="29"/>
                    </a:lnTo>
                    <a:lnTo>
                      <a:pt x="30" y="24"/>
                    </a:lnTo>
                    <a:lnTo>
                      <a:pt x="35" y="21"/>
                    </a:lnTo>
                    <a:lnTo>
                      <a:pt x="41" y="18"/>
                    </a:lnTo>
                    <a:lnTo>
                      <a:pt x="46" y="15"/>
                    </a:lnTo>
                    <a:lnTo>
                      <a:pt x="51" y="13"/>
                    </a:lnTo>
                    <a:lnTo>
                      <a:pt x="58" y="9"/>
                    </a:lnTo>
                    <a:lnTo>
                      <a:pt x="63" y="7"/>
                    </a:lnTo>
                    <a:lnTo>
                      <a:pt x="69" y="5"/>
                    </a:lnTo>
                    <a:lnTo>
                      <a:pt x="75" y="3"/>
                    </a:lnTo>
                    <a:lnTo>
                      <a:pt x="81" y="1"/>
                    </a:lnTo>
                    <a:lnTo>
                      <a:pt x="86" y="0"/>
                    </a:lnTo>
                    <a:lnTo>
                      <a:pt x="90" y="0"/>
                    </a:lnTo>
                    <a:lnTo>
                      <a:pt x="92" y="1"/>
                    </a:lnTo>
                    <a:lnTo>
                      <a:pt x="94" y="2"/>
                    </a:lnTo>
                    <a:lnTo>
                      <a:pt x="96" y="4"/>
                    </a:lnTo>
                    <a:lnTo>
                      <a:pt x="97" y="5"/>
                    </a:lnTo>
                    <a:lnTo>
                      <a:pt x="99" y="7"/>
                    </a:lnTo>
                    <a:lnTo>
                      <a:pt x="101" y="8"/>
                    </a:lnTo>
                    <a:lnTo>
                      <a:pt x="104" y="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74" name="Freeform 1081"/>
              <p:cNvSpPr>
                <a:spLocks/>
              </p:cNvSpPr>
              <p:nvPr/>
            </p:nvSpPr>
            <p:spPr bwMode="auto">
              <a:xfrm>
                <a:off x="2107" y="3164"/>
                <a:ext cx="26" cy="38"/>
              </a:xfrm>
              <a:custGeom>
                <a:avLst/>
                <a:gdLst>
                  <a:gd name="T0" fmla="*/ 26 w 26"/>
                  <a:gd name="T1" fmla="*/ 38 h 38"/>
                  <a:gd name="T2" fmla="*/ 24 w 26"/>
                  <a:gd name="T3" fmla="*/ 37 h 38"/>
                  <a:gd name="T4" fmla="*/ 23 w 26"/>
                  <a:gd name="T5" fmla="*/ 37 h 38"/>
                  <a:gd name="T6" fmla="*/ 21 w 26"/>
                  <a:gd name="T7" fmla="*/ 38 h 38"/>
                  <a:gd name="T8" fmla="*/ 19 w 26"/>
                  <a:gd name="T9" fmla="*/ 38 h 38"/>
                  <a:gd name="T10" fmla="*/ 17 w 26"/>
                  <a:gd name="T11" fmla="*/ 38 h 38"/>
                  <a:gd name="T12" fmla="*/ 16 w 26"/>
                  <a:gd name="T13" fmla="*/ 37 h 38"/>
                  <a:gd name="T14" fmla="*/ 15 w 26"/>
                  <a:gd name="T15" fmla="*/ 35 h 38"/>
                  <a:gd name="T16" fmla="*/ 15 w 26"/>
                  <a:gd name="T17" fmla="*/ 34 h 38"/>
                  <a:gd name="T18" fmla="*/ 13 w 26"/>
                  <a:gd name="T19" fmla="*/ 32 h 38"/>
                  <a:gd name="T20" fmla="*/ 12 w 26"/>
                  <a:gd name="T21" fmla="*/ 31 h 38"/>
                  <a:gd name="T22" fmla="*/ 10 w 26"/>
                  <a:gd name="T23" fmla="*/ 30 h 38"/>
                  <a:gd name="T24" fmla="*/ 9 w 26"/>
                  <a:gd name="T25" fmla="*/ 31 h 38"/>
                  <a:gd name="T26" fmla="*/ 7 w 26"/>
                  <a:gd name="T27" fmla="*/ 31 h 38"/>
                  <a:gd name="T28" fmla="*/ 6 w 26"/>
                  <a:gd name="T29" fmla="*/ 32 h 38"/>
                  <a:gd name="T30" fmla="*/ 4 w 26"/>
                  <a:gd name="T31" fmla="*/ 32 h 38"/>
                  <a:gd name="T32" fmla="*/ 2 w 26"/>
                  <a:gd name="T33" fmla="*/ 32 h 38"/>
                  <a:gd name="T34" fmla="*/ 0 w 26"/>
                  <a:gd name="T35" fmla="*/ 35 h 38"/>
                  <a:gd name="T36" fmla="*/ 1 w 26"/>
                  <a:gd name="T37" fmla="*/ 33 h 38"/>
                  <a:gd name="T38" fmla="*/ 3 w 26"/>
                  <a:gd name="T39" fmla="*/ 30 h 38"/>
                  <a:gd name="T40" fmla="*/ 6 w 26"/>
                  <a:gd name="T41" fmla="*/ 27 h 38"/>
                  <a:gd name="T42" fmla="*/ 9 w 26"/>
                  <a:gd name="T43" fmla="*/ 25 h 38"/>
                  <a:gd name="T44" fmla="*/ 12 w 26"/>
                  <a:gd name="T45" fmla="*/ 22 h 38"/>
                  <a:gd name="T46" fmla="*/ 16 w 26"/>
                  <a:gd name="T47" fmla="*/ 18 h 38"/>
                  <a:gd name="T48" fmla="*/ 18 w 26"/>
                  <a:gd name="T49" fmla="*/ 14 h 38"/>
                  <a:gd name="T50" fmla="*/ 19 w 26"/>
                  <a:gd name="T51" fmla="*/ 10 h 38"/>
                  <a:gd name="T52" fmla="*/ 19 w 26"/>
                  <a:gd name="T53" fmla="*/ 7 h 38"/>
                  <a:gd name="T54" fmla="*/ 19 w 26"/>
                  <a:gd name="T55" fmla="*/ 4 h 38"/>
                  <a:gd name="T56" fmla="*/ 19 w 26"/>
                  <a:gd name="T57" fmla="*/ 1 h 38"/>
                  <a:gd name="T58" fmla="*/ 21 w 26"/>
                  <a:gd name="T59" fmla="*/ 0 h 38"/>
                  <a:gd name="T60" fmla="*/ 26 w 26"/>
                  <a:gd name="T61" fmla="*/ 1 h 38"/>
                  <a:gd name="T62" fmla="*/ 26 w 26"/>
                  <a:gd name="T63" fmla="*/ 38 h 3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6"/>
                  <a:gd name="T97" fmla="*/ 0 h 38"/>
                  <a:gd name="T98" fmla="*/ 26 w 26"/>
                  <a:gd name="T99" fmla="*/ 38 h 38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6" h="38">
                    <a:moveTo>
                      <a:pt x="26" y="38"/>
                    </a:moveTo>
                    <a:lnTo>
                      <a:pt x="24" y="37"/>
                    </a:lnTo>
                    <a:lnTo>
                      <a:pt x="23" y="37"/>
                    </a:lnTo>
                    <a:lnTo>
                      <a:pt x="21" y="38"/>
                    </a:lnTo>
                    <a:lnTo>
                      <a:pt x="19" y="38"/>
                    </a:lnTo>
                    <a:lnTo>
                      <a:pt x="17" y="38"/>
                    </a:lnTo>
                    <a:lnTo>
                      <a:pt x="16" y="37"/>
                    </a:lnTo>
                    <a:lnTo>
                      <a:pt x="15" y="35"/>
                    </a:lnTo>
                    <a:lnTo>
                      <a:pt x="15" y="34"/>
                    </a:lnTo>
                    <a:lnTo>
                      <a:pt x="13" y="32"/>
                    </a:lnTo>
                    <a:lnTo>
                      <a:pt x="12" y="31"/>
                    </a:lnTo>
                    <a:lnTo>
                      <a:pt x="10" y="30"/>
                    </a:lnTo>
                    <a:lnTo>
                      <a:pt x="9" y="31"/>
                    </a:lnTo>
                    <a:lnTo>
                      <a:pt x="7" y="31"/>
                    </a:lnTo>
                    <a:lnTo>
                      <a:pt x="6" y="32"/>
                    </a:lnTo>
                    <a:lnTo>
                      <a:pt x="4" y="32"/>
                    </a:lnTo>
                    <a:lnTo>
                      <a:pt x="2" y="32"/>
                    </a:lnTo>
                    <a:lnTo>
                      <a:pt x="0" y="35"/>
                    </a:lnTo>
                    <a:lnTo>
                      <a:pt x="1" y="33"/>
                    </a:lnTo>
                    <a:lnTo>
                      <a:pt x="3" y="30"/>
                    </a:lnTo>
                    <a:lnTo>
                      <a:pt x="6" y="27"/>
                    </a:lnTo>
                    <a:lnTo>
                      <a:pt x="9" y="25"/>
                    </a:lnTo>
                    <a:lnTo>
                      <a:pt x="12" y="22"/>
                    </a:lnTo>
                    <a:lnTo>
                      <a:pt x="16" y="18"/>
                    </a:lnTo>
                    <a:lnTo>
                      <a:pt x="18" y="14"/>
                    </a:lnTo>
                    <a:lnTo>
                      <a:pt x="19" y="10"/>
                    </a:lnTo>
                    <a:lnTo>
                      <a:pt x="19" y="7"/>
                    </a:lnTo>
                    <a:lnTo>
                      <a:pt x="19" y="4"/>
                    </a:lnTo>
                    <a:lnTo>
                      <a:pt x="19" y="1"/>
                    </a:lnTo>
                    <a:lnTo>
                      <a:pt x="21" y="0"/>
                    </a:lnTo>
                    <a:lnTo>
                      <a:pt x="26" y="1"/>
                    </a:lnTo>
                    <a:lnTo>
                      <a:pt x="26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75" name="Freeform 1082"/>
              <p:cNvSpPr>
                <a:spLocks/>
              </p:cNvSpPr>
              <p:nvPr/>
            </p:nvSpPr>
            <p:spPr bwMode="auto">
              <a:xfrm>
                <a:off x="2140" y="3173"/>
                <a:ext cx="37" cy="68"/>
              </a:xfrm>
              <a:custGeom>
                <a:avLst/>
                <a:gdLst>
                  <a:gd name="T0" fmla="*/ 11 w 37"/>
                  <a:gd name="T1" fmla="*/ 5 h 68"/>
                  <a:gd name="T2" fmla="*/ 16 w 37"/>
                  <a:gd name="T3" fmla="*/ 3 h 68"/>
                  <a:gd name="T4" fmla="*/ 20 w 37"/>
                  <a:gd name="T5" fmla="*/ 3 h 68"/>
                  <a:gd name="T6" fmla="*/ 22 w 37"/>
                  <a:gd name="T7" fmla="*/ 5 h 68"/>
                  <a:gd name="T8" fmla="*/ 25 w 37"/>
                  <a:gd name="T9" fmla="*/ 7 h 68"/>
                  <a:gd name="T10" fmla="*/ 28 w 37"/>
                  <a:gd name="T11" fmla="*/ 10 h 68"/>
                  <a:gd name="T12" fmla="*/ 30 w 37"/>
                  <a:gd name="T13" fmla="*/ 13 h 68"/>
                  <a:gd name="T14" fmla="*/ 33 w 37"/>
                  <a:gd name="T15" fmla="*/ 15 h 68"/>
                  <a:gd name="T16" fmla="*/ 37 w 37"/>
                  <a:gd name="T17" fmla="*/ 15 h 68"/>
                  <a:gd name="T18" fmla="*/ 37 w 37"/>
                  <a:gd name="T19" fmla="*/ 20 h 68"/>
                  <a:gd name="T20" fmla="*/ 35 w 37"/>
                  <a:gd name="T21" fmla="*/ 23 h 68"/>
                  <a:gd name="T22" fmla="*/ 32 w 37"/>
                  <a:gd name="T23" fmla="*/ 25 h 68"/>
                  <a:gd name="T24" fmla="*/ 28 w 37"/>
                  <a:gd name="T25" fmla="*/ 28 h 68"/>
                  <a:gd name="T26" fmla="*/ 23 w 37"/>
                  <a:gd name="T27" fmla="*/ 29 h 68"/>
                  <a:gd name="T28" fmla="*/ 19 w 37"/>
                  <a:gd name="T29" fmla="*/ 31 h 68"/>
                  <a:gd name="T30" fmla="*/ 16 w 37"/>
                  <a:gd name="T31" fmla="*/ 34 h 68"/>
                  <a:gd name="T32" fmla="*/ 13 w 37"/>
                  <a:gd name="T33" fmla="*/ 38 h 68"/>
                  <a:gd name="T34" fmla="*/ 11 w 37"/>
                  <a:gd name="T35" fmla="*/ 42 h 68"/>
                  <a:gd name="T36" fmla="*/ 11 w 37"/>
                  <a:gd name="T37" fmla="*/ 46 h 68"/>
                  <a:gd name="T38" fmla="*/ 10 w 37"/>
                  <a:gd name="T39" fmla="*/ 50 h 68"/>
                  <a:gd name="T40" fmla="*/ 9 w 37"/>
                  <a:gd name="T41" fmla="*/ 54 h 68"/>
                  <a:gd name="T42" fmla="*/ 8 w 37"/>
                  <a:gd name="T43" fmla="*/ 59 h 68"/>
                  <a:gd name="T44" fmla="*/ 7 w 37"/>
                  <a:gd name="T45" fmla="*/ 63 h 68"/>
                  <a:gd name="T46" fmla="*/ 4 w 37"/>
                  <a:gd name="T47" fmla="*/ 66 h 68"/>
                  <a:gd name="T48" fmla="*/ 1 w 37"/>
                  <a:gd name="T49" fmla="*/ 68 h 68"/>
                  <a:gd name="T50" fmla="*/ 0 w 37"/>
                  <a:gd name="T51" fmla="*/ 0 h 68"/>
                  <a:gd name="T52" fmla="*/ 2 w 37"/>
                  <a:gd name="T53" fmla="*/ 0 h 68"/>
                  <a:gd name="T54" fmla="*/ 4 w 37"/>
                  <a:gd name="T55" fmla="*/ 0 h 68"/>
                  <a:gd name="T56" fmla="*/ 5 w 37"/>
                  <a:gd name="T57" fmla="*/ 0 h 68"/>
                  <a:gd name="T58" fmla="*/ 6 w 37"/>
                  <a:gd name="T59" fmla="*/ 1 h 68"/>
                  <a:gd name="T60" fmla="*/ 7 w 37"/>
                  <a:gd name="T61" fmla="*/ 2 h 68"/>
                  <a:gd name="T62" fmla="*/ 9 w 37"/>
                  <a:gd name="T63" fmla="*/ 3 h 68"/>
                  <a:gd name="T64" fmla="*/ 10 w 37"/>
                  <a:gd name="T65" fmla="*/ 3 h 68"/>
                  <a:gd name="T66" fmla="*/ 11 w 37"/>
                  <a:gd name="T67" fmla="*/ 5 h 6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37"/>
                  <a:gd name="T103" fmla="*/ 0 h 68"/>
                  <a:gd name="T104" fmla="*/ 37 w 37"/>
                  <a:gd name="T105" fmla="*/ 68 h 6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37" h="68">
                    <a:moveTo>
                      <a:pt x="11" y="5"/>
                    </a:moveTo>
                    <a:lnTo>
                      <a:pt x="16" y="3"/>
                    </a:lnTo>
                    <a:lnTo>
                      <a:pt x="20" y="3"/>
                    </a:lnTo>
                    <a:lnTo>
                      <a:pt x="22" y="5"/>
                    </a:lnTo>
                    <a:lnTo>
                      <a:pt x="25" y="7"/>
                    </a:lnTo>
                    <a:lnTo>
                      <a:pt x="28" y="10"/>
                    </a:lnTo>
                    <a:lnTo>
                      <a:pt x="30" y="13"/>
                    </a:lnTo>
                    <a:lnTo>
                      <a:pt x="33" y="15"/>
                    </a:lnTo>
                    <a:lnTo>
                      <a:pt x="37" y="15"/>
                    </a:lnTo>
                    <a:lnTo>
                      <a:pt x="37" y="20"/>
                    </a:lnTo>
                    <a:lnTo>
                      <a:pt x="35" y="23"/>
                    </a:lnTo>
                    <a:lnTo>
                      <a:pt x="32" y="25"/>
                    </a:lnTo>
                    <a:lnTo>
                      <a:pt x="28" y="28"/>
                    </a:lnTo>
                    <a:lnTo>
                      <a:pt x="23" y="29"/>
                    </a:lnTo>
                    <a:lnTo>
                      <a:pt x="19" y="31"/>
                    </a:lnTo>
                    <a:lnTo>
                      <a:pt x="16" y="34"/>
                    </a:lnTo>
                    <a:lnTo>
                      <a:pt x="13" y="38"/>
                    </a:lnTo>
                    <a:lnTo>
                      <a:pt x="11" y="42"/>
                    </a:lnTo>
                    <a:lnTo>
                      <a:pt x="11" y="46"/>
                    </a:lnTo>
                    <a:lnTo>
                      <a:pt x="10" y="50"/>
                    </a:lnTo>
                    <a:lnTo>
                      <a:pt x="9" y="54"/>
                    </a:lnTo>
                    <a:lnTo>
                      <a:pt x="8" y="59"/>
                    </a:lnTo>
                    <a:lnTo>
                      <a:pt x="7" y="63"/>
                    </a:lnTo>
                    <a:lnTo>
                      <a:pt x="4" y="66"/>
                    </a:lnTo>
                    <a:lnTo>
                      <a:pt x="1" y="68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7" y="2"/>
                    </a:lnTo>
                    <a:lnTo>
                      <a:pt x="9" y="3"/>
                    </a:lnTo>
                    <a:lnTo>
                      <a:pt x="10" y="3"/>
                    </a:lnTo>
                    <a:lnTo>
                      <a:pt x="11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76" name="Freeform 1083"/>
              <p:cNvSpPr>
                <a:spLocks/>
              </p:cNvSpPr>
              <p:nvPr/>
            </p:nvSpPr>
            <p:spPr bwMode="auto">
              <a:xfrm>
                <a:off x="2013" y="3194"/>
                <a:ext cx="6" cy="8"/>
              </a:xfrm>
              <a:custGeom>
                <a:avLst/>
                <a:gdLst>
                  <a:gd name="T0" fmla="*/ 5 w 6"/>
                  <a:gd name="T1" fmla="*/ 8 h 8"/>
                  <a:gd name="T2" fmla="*/ 0 w 6"/>
                  <a:gd name="T3" fmla="*/ 7 h 8"/>
                  <a:gd name="T4" fmla="*/ 3 w 6"/>
                  <a:gd name="T5" fmla="*/ 0 h 8"/>
                  <a:gd name="T6" fmla="*/ 5 w 6"/>
                  <a:gd name="T7" fmla="*/ 2 h 8"/>
                  <a:gd name="T8" fmla="*/ 6 w 6"/>
                  <a:gd name="T9" fmla="*/ 3 h 8"/>
                  <a:gd name="T10" fmla="*/ 6 w 6"/>
                  <a:gd name="T11" fmla="*/ 7 h 8"/>
                  <a:gd name="T12" fmla="*/ 5 w 6"/>
                  <a:gd name="T13" fmla="*/ 8 h 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"/>
                  <a:gd name="T22" fmla="*/ 0 h 8"/>
                  <a:gd name="T23" fmla="*/ 6 w 6"/>
                  <a:gd name="T24" fmla="*/ 8 h 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" h="8">
                    <a:moveTo>
                      <a:pt x="5" y="8"/>
                    </a:moveTo>
                    <a:lnTo>
                      <a:pt x="0" y="7"/>
                    </a:lnTo>
                    <a:lnTo>
                      <a:pt x="3" y="0"/>
                    </a:lnTo>
                    <a:lnTo>
                      <a:pt x="5" y="2"/>
                    </a:lnTo>
                    <a:lnTo>
                      <a:pt x="6" y="3"/>
                    </a:lnTo>
                    <a:lnTo>
                      <a:pt x="6" y="7"/>
                    </a:lnTo>
                    <a:lnTo>
                      <a:pt x="5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77" name="Freeform 1084"/>
              <p:cNvSpPr>
                <a:spLocks/>
              </p:cNvSpPr>
              <p:nvPr/>
            </p:nvSpPr>
            <p:spPr bwMode="auto">
              <a:xfrm>
                <a:off x="2140" y="3203"/>
                <a:ext cx="77" cy="202"/>
              </a:xfrm>
              <a:custGeom>
                <a:avLst/>
                <a:gdLst>
                  <a:gd name="T0" fmla="*/ 44 w 77"/>
                  <a:gd name="T1" fmla="*/ 5 h 202"/>
                  <a:gd name="T2" fmla="*/ 51 w 77"/>
                  <a:gd name="T3" fmla="*/ 17 h 202"/>
                  <a:gd name="T4" fmla="*/ 56 w 77"/>
                  <a:gd name="T5" fmla="*/ 30 h 202"/>
                  <a:gd name="T6" fmla="*/ 60 w 77"/>
                  <a:gd name="T7" fmla="*/ 45 h 202"/>
                  <a:gd name="T8" fmla="*/ 55 w 77"/>
                  <a:gd name="T9" fmla="*/ 57 h 202"/>
                  <a:gd name="T10" fmla="*/ 60 w 77"/>
                  <a:gd name="T11" fmla="*/ 66 h 202"/>
                  <a:gd name="T12" fmla="*/ 65 w 77"/>
                  <a:gd name="T13" fmla="*/ 73 h 202"/>
                  <a:gd name="T14" fmla="*/ 70 w 77"/>
                  <a:gd name="T15" fmla="*/ 81 h 202"/>
                  <a:gd name="T16" fmla="*/ 77 w 77"/>
                  <a:gd name="T17" fmla="*/ 88 h 202"/>
                  <a:gd name="T18" fmla="*/ 76 w 77"/>
                  <a:gd name="T19" fmla="*/ 95 h 202"/>
                  <a:gd name="T20" fmla="*/ 70 w 77"/>
                  <a:gd name="T21" fmla="*/ 99 h 202"/>
                  <a:gd name="T22" fmla="*/ 67 w 77"/>
                  <a:gd name="T23" fmla="*/ 100 h 202"/>
                  <a:gd name="T24" fmla="*/ 64 w 77"/>
                  <a:gd name="T25" fmla="*/ 101 h 202"/>
                  <a:gd name="T26" fmla="*/ 67 w 77"/>
                  <a:gd name="T27" fmla="*/ 114 h 202"/>
                  <a:gd name="T28" fmla="*/ 64 w 77"/>
                  <a:gd name="T29" fmla="*/ 115 h 202"/>
                  <a:gd name="T30" fmla="*/ 63 w 77"/>
                  <a:gd name="T31" fmla="*/ 117 h 202"/>
                  <a:gd name="T32" fmla="*/ 65 w 77"/>
                  <a:gd name="T33" fmla="*/ 118 h 202"/>
                  <a:gd name="T34" fmla="*/ 67 w 77"/>
                  <a:gd name="T35" fmla="*/ 119 h 202"/>
                  <a:gd name="T36" fmla="*/ 67 w 77"/>
                  <a:gd name="T37" fmla="*/ 121 h 202"/>
                  <a:gd name="T38" fmla="*/ 63 w 77"/>
                  <a:gd name="T39" fmla="*/ 126 h 202"/>
                  <a:gd name="T40" fmla="*/ 63 w 77"/>
                  <a:gd name="T41" fmla="*/ 133 h 202"/>
                  <a:gd name="T42" fmla="*/ 65 w 77"/>
                  <a:gd name="T43" fmla="*/ 141 h 202"/>
                  <a:gd name="T44" fmla="*/ 64 w 77"/>
                  <a:gd name="T45" fmla="*/ 148 h 202"/>
                  <a:gd name="T46" fmla="*/ 55 w 77"/>
                  <a:gd name="T47" fmla="*/ 151 h 202"/>
                  <a:gd name="T48" fmla="*/ 46 w 77"/>
                  <a:gd name="T49" fmla="*/ 153 h 202"/>
                  <a:gd name="T50" fmla="*/ 37 w 77"/>
                  <a:gd name="T51" fmla="*/ 155 h 202"/>
                  <a:gd name="T52" fmla="*/ 29 w 77"/>
                  <a:gd name="T53" fmla="*/ 158 h 202"/>
                  <a:gd name="T54" fmla="*/ 20 w 77"/>
                  <a:gd name="T55" fmla="*/ 165 h 202"/>
                  <a:gd name="T56" fmla="*/ 14 w 77"/>
                  <a:gd name="T57" fmla="*/ 175 h 202"/>
                  <a:gd name="T58" fmla="*/ 8 w 77"/>
                  <a:gd name="T59" fmla="*/ 186 h 202"/>
                  <a:gd name="T60" fmla="*/ 3 w 77"/>
                  <a:gd name="T61" fmla="*/ 196 h 202"/>
                  <a:gd name="T62" fmla="*/ 0 w 77"/>
                  <a:gd name="T63" fmla="*/ 64 h 202"/>
                  <a:gd name="T64" fmla="*/ 5 w 77"/>
                  <a:gd name="T65" fmla="*/ 59 h 202"/>
                  <a:gd name="T66" fmla="*/ 11 w 77"/>
                  <a:gd name="T67" fmla="*/ 54 h 202"/>
                  <a:gd name="T68" fmla="*/ 16 w 77"/>
                  <a:gd name="T69" fmla="*/ 48 h 202"/>
                  <a:gd name="T70" fmla="*/ 18 w 77"/>
                  <a:gd name="T71" fmla="*/ 41 h 202"/>
                  <a:gd name="T72" fmla="*/ 16 w 77"/>
                  <a:gd name="T73" fmla="*/ 24 h 202"/>
                  <a:gd name="T74" fmla="*/ 19 w 77"/>
                  <a:gd name="T75" fmla="*/ 8 h 202"/>
                  <a:gd name="T76" fmla="*/ 23 w 77"/>
                  <a:gd name="T77" fmla="*/ 5 h 202"/>
                  <a:gd name="T78" fmla="*/ 28 w 77"/>
                  <a:gd name="T79" fmla="*/ 2 h 202"/>
                  <a:gd name="T80" fmla="*/ 33 w 77"/>
                  <a:gd name="T81" fmla="*/ 0 h 202"/>
                  <a:gd name="T82" fmla="*/ 39 w 77"/>
                  <a:gd name="T83" fmla="*/ 0 h 202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77"/>
                  <a:gd name="T127" fmla="*/ 0 h 202"/>
                  <a:gd name="T128" fmla="*/ 77 w 77"/>
                  <a:gd name="T129" fmla="*/ 202 h 202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77" h="202">
                    <a:moveTo>
                      <a:pt x="39" y="0"/>
                    </a:moveTo>
                    <a:lnTo>
                      <a:pt x="44" y="5"/>
                    </a:lnTo>
                    <a:lnTo>
                      <a:pt x="48" y="11"/>
                    </a:lnTo>
                    <a:lnTo>
                      <a:pt x="51" y="17"/>
                    </a:lnTo>
                    <a:lnTo>
                      <a:pt x="54" y="23"/>
                    </a:lnTo>
                    <a:lnTo>
                      <a:pt x="56" y="30"/>
                    </a:lnTo>
                    <a:lnTo>
                      <a:pt x="58" y="37"/>
                    </a:lnTo>
                    <a:lnTo>
                      <a:pt x="60" y="45"/>
                    </a:lnTo>
                    <a:lnTo>
                      <a:pt x="60" y="52"/>
                    </a:lnTo>
                    <a:lnTo>
                      <a:pt x="55" y="57"/>
                    </a:lnTo>
                    <a:lnTo>
                      <a:pt x="56" y="62"/>
                    </a:lnTo>
                    <a:lnTo>
                      <a:pt x="60" y="66"/>
                    </a:lnTo>
                    <a:lnTo>
                      <a:pt x="62" y="70"/>
                    </a:lnTo>
                    <a:lnTo>
                      <a:pt x="65" y="73"/>
                    </a:lnTo>
                    <a:lnTo>
                      <a:pt x="67" y="77"/>
                    </a:lnTo>
                    <a:lnTo>
                      <a:pt x="70" y="81"/>
                    </a:lnTo>
                    <a:lnTo>
                      <a:pt x="73" y="84"/>
                    </a:lnTo>
                    <a:lnTo>
                      <a:pt x="77" y="88"/>
                    </a:lnTo>
                    <a:lnTo>
                      <a:pt x="77" y="92"/>
                    </a:lnTo>
                    <a:lnTo>
                      <a:pt x="76" y="95"/>
                    </a:lnTo>
                    <a:lnTo>
                      <a:pt x="73" y="97"/>
                    </a:lnTo>
                    <a:lnTo>
                      <a:pt x="70" y="99"/>
                    </a:lnTo>
                    <a:lnTo>
                      <a:pt x="69" y="99"/>
                    </a:lnTo>
                    <a:lnTo>
                      <a:pt x="67" y="100"/>
                    </a:lnTo>
                    <a:lnTo>
                      <a:pt x="65" y="100"/>
                    </a:lnTo>
                    <a:lnTo>
                      <a:pt x="64" y="101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5" y="115"/>
                    </a:lnTo>
                    <a:lnTo>
                      <a:pt x="64" y="115"/>
                    </a:lnTo>
                    <a:lnTo>
                      <a:pt x="62" y="117"/>
                    </a:lnTo>
                    <a:lnTo>
                      <a:pt x="63" y="117"/>
                    </a:lnTo>
                    <a:lnTo>
                      <a:pt x="64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7" y="121"/>
                    </a:lnTo>
                    <a:lnTo>
                      <a:pt x="66" y="123"/>
                    </a:lnTo>
                    <a:lnTo>
                      <a:pt x="63" y="126"/>
                    </a:lnTo>
                    <a:lnTo>
                      <a:pt x="62" y="129"/>
                    </a:lnTo>
                    <a:lnTo>
                      <a:pt x="63" y="133"/>
                    </a:lnTo>
                    <a:lnTo>
                      <a:pt x="64" y="137"/>
                    </a:lnTo>
                    <a:lnTo>
                      <a:pt x="65" y="141"/>
                    </a:lnTo>
                    <a:lnTo>
                      <a:pt x="65" y="145"/>
                    </a:lnTo>
                    <a:lnTo>
                      <a:pt x="64" y="148"/>
                    </a:lnTo>
                    <a:lnTo>
                      <a:pt x="60" y="151"/>
                    </a:lnTo>
                    <a:lnTo>
                      <a:pt x="55" y="151"/>
                    </a:lnTo>
                    <a:lnTo>
                      <a:pt x="51" y="152"/>
                    </a:lnTo>
                    <a:lnTo>
                      <a:pt x="46" y="153"/>
                    </a:lnTo>
                    <a:lnTo>
                      <a:pt x="41" y="155"/>
                    </a:lnTo>
                    <a:lnTo>
                      <a:pt x="37" y="155"/>
                    </a:lnTo>
                    <a:lnTo>
                      <a:pt x="33" y="157"/>
                    </a:lnTo>
                    <a:lnTo>
                      <a:pt x="29" y="158"/>
                    </a:lnTo>
                    <a:lnTo>
                      <a:pt x="24" y="161"/>
                    </a:lnTo>
                    <a:lnTo>
                      <a:pt x="20" y="165"/>
                    </a:lnTo>
                    <a:lnTo>
                      <a:pt x="17" y="170"/>
                    </a:lnTo>
                    <a:lnTo>
                      <a:pt x="14" y="175"/>
                    </a:lnTo>
                    <a:lnTo>
                      <a:pt x="10" y="180"/>
                    </a:lnTo>
                    <a:lnTo>
                      <a:pt x="8" y="186"/>
                    </a:lnTo>
                    <a:lnTo>
                      <a:pt x="5" y="191"/>
                    </a:lnTo>
                    <a:lnTo>
                      <a:pt x="3" y="196"/>
                    </a:lnTo>
                    <a:lnTo>
                      <a:pt x="0" y="202"/>
                    </a:lnTo>
                    <a:lnTo>
                      <a:pt x="0" y="64"/>
                    </a:lnTo>
                    <a:lnTo>
                      <a:pt x="3" y="62"/>
                    </a:lnTo>
                    <a:lnTo>
                      <a:pt x="5" y="59"/>
                    </a:lnTo>
                    <a:lnTo>
                      <a:pt x="8" y="56"/>
                    </a:lnTo>
                    <a:lnTo>
                      <a:pt x="11" y="54"/>
                    </a:lnTo>
                    <a:lnTo>
                      <a:pt x="14" y="51"/>
                    </a:lnTo>
                    <a:lnTo>
                      <a:pt x="16" y="48"/>
                    </a:lnTo>
                    <a:lnTo>
                      <a:pt x="17" y="45"/>
                    </a:lnTo>
                    <a:lnTo>
                      <a:pt x="18" y="41"/>
                    </a:lnTo>
                    <a:lnTo>
                      <a:pt x="17" y="33"/>
                    </a:lnTo>
                    <a:lnTo>
                      <a:pt x="16" y="24"/>
                    </a:lnTo>
                    <a:lnTo>
                      <a:pt x="17" y="17"/>
                    </a:lnTo>
                    <a:lnTo>
                      <a:pt x="19" y="8"/>
                    </a:lnTo>
                    <a:lnTo>
                      <a:pt x="21" y="7"/>
                    </a:lnTo>
                    <a:lnTo>
                      <a:pt x="23" y="5"/>
                    </a:lnTo>
                    <a:lnTo>
                      <a:pt x="25" y="3"/>
                    </a:lnTo>
                    <a:lnTo>
                      <a:pt x="28" y="2"/>
                    </a:lnTo>
                    <a:lnTo>
                      <a:pt x="31" y="1"/>
                    </a:lnTo>
                    <a:lnTo>
                      <a:pt x="33" y="0"/>
                    </a:lnTo>
                    <a:lnTo>
                      <a:pt x="36" y="0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78" name="Freeform 1085"/>
              <p:cNvSpPr>
                <a:spLocks/>
              </p:cNvSpPr>
              <p:nvPr/>
            </p:nvSpPr>
            <p:spPr bwMode="auto">
              <a:xfrm>
                <a:off x="1991" y="3205"/>
                <a:ext cx="32" cy="37"/>
              </a:xfrm>
              <a:custGeom>
                <a:avLst/>
                <a:gdLst>
                  <a:gd name="T0" fmla="*/ 32 w 32"/>
                  <a:gd name="T1" fmla="*/ 0 h 37"/>
                  <a:gd name="T2" fmla="*/ 30 w 32"/>
                  <a:gd name="T3" fmla="*/ 5 h 37"/>
                  <a:gd name="T4" fmla="*/ 28 w 32"/>
                  <a:gd name="T5" fmla="*/ 9 h 37"/>
                  <a:gd name="T6" fmla="*/ 28 w 32"/>
                  <a:gd name="T7" fmla="*/ 14 h 37"/>
                  <a:gd name="T8" fmla="*/ 28 w 32"/>
                  <a:gd name="T9" fmla="*/ 18 h 37"/>
                  <a:gd name="T10" fmla="*/ 28 w 32"/>
                  <a:gd name="T11" fmla="*/ 23 h 37"/>
                  <a:gd name="T12" fmla="*/ 29 w 32"/>
                  <a:gd name="T13" fmla="*/ 28 h 37"/>
                  <a:gd name="T14" fmla="*/ 30 w 32"/>
                  <a:gd name="T15" fmla="*/ 33 h 37"/>
                  <a:gd name="T16" fmla="*/ 31 w 32"/>
                  <a:gd name="T17" fmla="*/ 37 h 37"/>
                  <a:gd name="T18" fmla="*/ 0 w 32"/>
                  <a:gd name="T19" fmla="*/ 37 h 37"/>
                  <a:gd name="T20" fmla="*/ 2 w 32"/>
                  <a:gd name="T21" fmla="*/ 31 h 37"/>
                  <a:gd name="T22" fmla="*/ 4 w 32"/>
                  <a:gd name="T23" fmla="*/ 24 h 37"/>
                  <a:gd name="T24" fmla="*/ 7 w 32"/>
                  <a:gd name="T25" fmla="*/ 18 h 37"/>
                  <a:gd name="T26" fmla="*/ 10 w 32"/>
                  <a:gd name="T27" fmla="*/ 12 h 37"/>
                  <a:gd name="T28" fmla="*/ 13 w 32"/>
                  <a:gd name="T29" fmla="*/ 6 h 37"/>
                  <a:gd name="T30" fmla="*/ 18 w 32"/>
                  <a:gd name="T31" fmla="*/ 2 h 37"/>
                  <a:gd name="T32" fmla="*/ 24 w 32"/>
                  <a:gd name="T33" fmla="*/ 0 h 37"/>
                  <a:gd name="T34" fmla="*/ 32 w 32"/>
                  <a:gd name="T35" fmla="*/ 0 h 3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2"/>
                  <a:gd name="T55" fmla="*/ 0 h 37"/>
                  <a:gd name="T56" fmla="*/ 32 w 32"/>
                  <a:gd name="T57" fmla="*/ 37 h 3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2" h="37">
                    <a:moveTo>
                      <a:pt x="32" y="0"/>
                    </a:moveTo>
                    <a:lnTo>
                      <a:pt x="30" y="5"/>
                    </a:lnTo>
                    <a:lnTo>
                      <a:pt x="28" y="9"/>
                    </a:lnTo>
                    <a:lnTo>
                      <a:pt x="28" y="14"/>
                    </a:lnTo>
                    <a:lnTo>
                      <a:pt x="28" y="18"/>
                    </a:lnTo>
                    <a:lnTo>
                      <a:pt x="28" y="23"/>
                    </a:lnTo>
                    <a:lnTo>
                      <a:pt x="29" y="28"/>
                    </a:lnTo>
                    <a:lnTo>
                      <a:pt x="30" y="33"/>
                    </a:lnTo>
                    <a:lnTo>
                      <a:pt x="31" y="37"/>
                    </a:lnTo>
                    <a:lnTo>
                      <a:pt x="0" y="37"/>
                    </a:lnTo>
                    <a:lnTo>
                      <a:pt x="2" y="31"/>
                    </a:lnTo>
                    <a:lnTo>
                      <a:pt x="4" y="24"/>
                    </a:lnTo>
                    <a:lnTo>
                      <a:pt x="7" y="18"/>
                    </a:lnTo>
                    <a:lnTo>
                      <a:pt x="10" y="12"/>
                    </a:lnTo>
                    <a:lnTo>
                      <a:pt x="13" y="6"/>
                    </a:lnTo>
                    <a:lnTo>
                      <a:pt x="18" y="2"/>
                    </a:lnTo>
                    <a:lnTo>
                      <a:pt x="24" y="0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79" name="Freeform 1086"/>
              <p:cNvSpPr>
                <a:spLocks/>
              </p:cNvSpPr>
              <p:nvPr/>
            </p:nvSpPr>
            <p:spPr bwMode="auto">
              <a:xfrm>
                <a:off x="2109" y="3205"/>
                <a:ext cx="24" cy="37"/>
              </a:xfrm>
              <a:custGeom>
                <a:avLst/>
                <a:gdLst>
                  <a:gd name="T0" fmla="*/ 24 w 24"/>
                  <a:gd name="T1" fmla="*/ 37 h 37"/>
                  <a:gd name="T2" fmla="*/ 0 w 24"/>
                  <a:gd name="T3" fmla="*/ 37 h 37"/>
                  <a:gd name="T4" fmla="*/ 2 w 24"/>
                  <a:gd name="T5" fmla="*/ 34 h 37"/>
                  <a:gd name="T6" fmla="*/ 3 w 24"/>
                  <a:gd name="T7" fmla="*/ 31 h 37"/>
                  <a:gd name="T8" fmla="*/ 4 w 24"/>
                  <a:gd name="T9" fmla="*/ 27 h 37"/>
                  <a:gd name="T10" fmla="*/ 6 w 24"/>
                  <a:gd name="T11" fmla="*/ 23 h 37"/>
                  <a:gd name="T12" fmla="*/ 7 w 24"/>
                  <a:gd name="T13" fmla="*/ 20 h 37"/>
                  <a:gd name="T14" fmla="*/ 9 w 24"/>
                  <a:gd name="T15" fmla="*/ 17 h 37"/>
                  <a:gd name="T16" fmla="*/ 13 w 24"/>
                  <a:gd name="T17" fmla="*/ 14 h 37"/>
                  <a:gd name="T18" fmla="*/ 16 w 24"/>
                  <a:gd name="T19" fmla="*/ 12 h 37"/>
                  <a:gd name="T20" fmla="*/ 15 w 24"/>
                  <a:gd name="T21" fmla="*/ 0 h 37"/>
                  <a:gd name="T22" fmla="*/ 24 w 24"/>
                  <a:gd name="T23" fmla="*/ 0 h 37"/>
                  <a:gd name="T24" fmla="*/ 24 w 24"/>
                  <a:gd name="T25" fmla="*/ 37 h 3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"/>
                  <a:gd name="T40" fmla="*/ 0 h 37"/>
                  <a:gd name="T41" fmla="*/ 24 w 24"/>
                  <a:gd name="T42" fmla="*/ 37 h 3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" h="37">
                    <a:moveTo>
                      <a:pt x="24" y="37"/>
                    </a:moveTo>
                    <a:lnTo>
                      <a:pt x="0" y="37"/>
                    </a:lnTo>
                    <a:lnTo>
                      <a:pt x="2" y="34"/>
                    </a:lnTo>
                    <a:lnTo>
                      <a:pt x="3" y="31"/>
                    </a:lnTo>
                    <a:lnTo>
                      <a:pt x="4" y="27"/>
                    </a:lnTo>
                    <a:lnTo>
                      <a:pt x="6" y="23"/>
                    </a:lnTo>
                    <a:lnTo>
                      <a:pt x="7" y="20"/>
                    </a:lnTo>
                    <a:lnTo>
                      <a:pt x="9" y="17"/>
                    </a:lnTo>
                    <a:lnTo>
                      <a:pt x="13" y="14"/>
                    </a:lnTo>
                    <a:lnTo>
                      <a:pt x="16" y="12"/>
                    </a:lnTo>
                    <a:lnTo>
                      <a:pt x="15" y="0"/>
                    </a:lnTo>
                    <a:lnTo>
                      <a:pt x="24" y="0"/>
                    </a:lnTo>
                    <a:lnTo>
                      <a:pt x="24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80" name="Freeform 1087"/>
              <p:cNvSpPr>
                <a:spLocks/>
              </p:cNvSpPr>
              <p:nvPr/>
            </p:nvSpPr>
            <p:spPr bwMode="auto">
              <a:xfrm>
                <a:off x="2140" y="3236"/>
                <a:ext cx="11" cy="25"/>
              </a:xfrm>
              <a:custGeom>
                <a:avLst/>
                <a:gdLst>
                  <a:gd name="T0" fmla="*/ 0 w 11"/>
                  <a:gd name="T1" fmla="*/ 25 h 25"/>
                  <a:gd name="T2" fmla="*/ 0 w 11"/>
                  <a:gd name="T3" fmla="*/ 10 h 25"/>
                  <a:gd name="T4" fmla="*/ 10 w 11"/>
                  <a:gd name="T5" fmla="*/ 0 h 25"/>
                  <a:gd name="T6" fmla="*/ 11 w 11"/>
                  <a:gd name="T7" fmla="*/ 4 h 25"/>
                  <a:gd name="T8" fmla="*/ 11 w 11"/>
                  <a:gd name="T9" fmla="*/ 8 h 25"/>
                  <a:gd name="T10" fmla="*/ 10 w 11"/>
                  <a:gd name="T11" fmla="*/ 12 h 25"/>
                  <a:gd name="T12" fmla="*/ 9 w 11"/>
                  <a:gd name="T13" fmla="*/ 15 h 25"/>
                  <a:gd name="T14" fmla="*/ 7 w 11"/>
                  <a:gd name="T15" fmla="*/ 18 h 25"/>
                  <a:gd name="T16" fmla="*/ 5 w 11"/>
                  <a:gd name="T17" fmla="*/ 20 h 25"/>
                  <a:gd name="T18" fmla="*/ 2 w 11"/>
                  <a:gd name="T19" fmla="*/ 23 h 25"/>
                  <a:gd name="T20" fmla="*/ 0 w 11"/>
                  <a:gd name="T21" fmla="*/ 25 h 2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1"/>
                  <a:gd name="T34" fmla="*/ 0 h 25"/>
                  <a:gd name="T35" fmla="*/ 11 w 11"/>
                  <a:gd name="T36" fmla="*/ 25 h 2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1" h="25">
                    <a:moveTo>
                      <a:pt x="0" y="25"/>
                    </a:moveTo>
                    <a:lnTo>
                      <a:pt x="0" y="10"/>
                    </a:lnTo>
                    <a:lnTo>
                      <a:pt x="10" y="0"/>
                    </a:lnTo>
                    <a:lnTo>
                      <a:pt x="11" y="4"/>
                    </a:lnTo>
                    <a:lnTo>
                      <a:pt x="11" y="8"/>
                    </a:lnTo>
                    <a:lnTo>
                      <a:pt x="10" y="12"/>
                    </a:lnTo>
                    <a:lnTo>
                      <a:pt x="9" y="15"/>
                    </a:lnTo>
                    <a:lnTo>
                      <a:pt x="7" y="18"/>
                    </a:lnTo>
                    <a:lnTo>
                      <a:pt x="5" y="20"/>
                    </a:lnTo>
                    <a:lnTo>
                      <a:pt x="2" y="23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81" name="Freeform 1088"/>
              <p:cNvSpPr>
                <a:spLocks/>
              </p:cNvSpPr>
              <p:nvPr/>
            </p:nvSpPr>
            <p:spPr bwMode="auto">
              <a:xfrm>
                <a:off x="1984" y="3246"/>
                <a:ext cx="54" cy="38"/>
              </a:xfrm>
              <a:custGeom>
                <a:avLst/>
                <a:gdLst>
                  <a:gd name="T0" fmla="*/ 38 w 54"/>
                  <a:gd name="T1" fmla="*/ 0 h 38"/>
                  <a:gd name="T2" fmla="*/ 38 w 54"/>
                  <a:gd name="T3" fmla="*/ 4 h 38"/>
                  <a:gd name="T4" fmla="*/ 39 w 54"/>
                  <a:gd name="T5" fmla="*/ 6 h 38"/>
                  <a:gd name="T6" fmla="*/ 41 w 54"/>
                  <a:gd name="T7" fmla="*/ 7 h 38"/>
                  <a:gd name="T8" fmla="*/ 44 w 54"/>
                  <a:gd name="T9" fmla="*/ 8 h 38"/>
                  <a:gd name="T10" fmla="*/ 47 w 54"/>
                  <a:gd name="T11" fmla="*/ 9 h 38"/>
                  <a:gd name="T12" fmla="*/ 49 w 54"/>
                  <a:gd name="T13" fmla="*/ 9 h 38"/>
                  <a:gd name="T14" fmla="*/ 52 w 54"/>
                  <a:gd name="T15" fmla="*/ 10 h 38"/>
                  <a:gd name="T16" fmla="*/ 54 w 54"/>
                  <a:gd name="T17" fmla="*/ 10 h 38"/>
                  <a:gd name="T18" fmla="*/ 53 w 54"/>
                  <a:gd name="T19" fmla="*/ 37 h 38"/>
                  <a:gd name="T20" fmla="*/ 49 w 54"/>
                  <a:gd name="T21" fmla="*/ 37 h 38"/>
                  <a:gd name="T22" fmla="*/ 46 w 54"/>
                  <a:gd name="T23" fmla="*/ 37 h 38"/>
                  <a:gd name="T24" fmla="*/ 42 w 54"/>
                  <a:gd name="T25" fmla="*/ 37 h 38"/>
                  <a:gd name="T26" fmla="*/ 39 w 54"/>
                  <a:gd name="T27" fmla="*/ 38 h 38"/>
                  <a:gd name="T28" fmla="*/ 36 w 54"/>
                  <a:gd name="T29" fmla="*/ 38 h 38"/>
                  <a:gd name="T30" fmla="*/ 32 w 54"/>
                  <a:gd name="T31" fmla="*/ 38 h 38"/>
                  <a:gd name="T32" fmla="*/ 29 w 54"/>
                  <a:gd name="T33" fmla="*/ 38 h 38"/>
                  <a:gd name="T34" fmla="*/ 25 w 54"/>
                  <a:gd name="T35" fmla="*/ 38 h 38"/>
                  <a:gd name="T36" fmla="*/ 22 w 54"/>
                  <a:gd name="T37" fmla="*/ 38 h 38"/>
                  <a:gd name="T38" fmla="*/ 18 w 54"/>
                  <a:gd name="T39" fmla="*/ 38 h 38"/>
                  <a:gd name="T40" fmla="*/ 15 w 54"/>
                  <a:gd name="T41" fmla="*/ 38 h 38"/>
                  <a:gd name="T42" fmla="*/ 11 w 54"/>
                  <a:gd name="T43" fmla="*/ 38 h 38"/>
                  <a:gd name="T44" fmla="*/ 8 w 54"/>
                  <a:gd name="T45" fmla="*/ 37 h 38"/>
                  <a:gd name="T46" fmla="*/ 5 w 54"/>
                  <a:gd name="T47" fmla="*/ 37 h 38"/>
                  <a:gd name="T48" fmla="*/ 3 w 54"/>
                  <a:gd name="T49" fmla="*/ 37 h 38"/>
                  <a:gd name="T50" fmla="*/ 0 w 54"/>
                  <a:gd name="T51" fmla="*/ 36 h 38"/>
                  <a:gd name="T52" fmla="*/ 5 w 54"/>
                  <a:gd name="T53" fmla="*/ 0 h 38"/>
                  <a:gd name="T54" fmla="*/ 38 w 54"/>
                  <a:gd name="T55" fmla="*/ 0 h 38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54"/>
                  <a:gd name="T85" fmla="*/ 0 h 38"/>
                  <a:gd name="T86" fmla="*/ 54 w 54"/>
                  <a:gd name="T87" fmla="*/ 38 h 38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54" h="38">
                    <a:moveTo>
                      <a:pt x="38" y="0"/>
                    </a:moveTo>
                    <a:lnTo>
                      <a:pt x="38" y="4"/>
                    </a:lnTo>
                    <a:lnTo>
                      <a:pt x="39" y="6"/>
                    </a:lnTo>
                    <a:lnTo>
                      <a:pt x="41" y="7"/>
                    </a:lnTo>
                    <a:lnTo>
                      <a:pt x="44" y="8"/>
                    </a:lnTo>
                    <a:lnTo>
                      <a:pt x="47" y="9"/>
                    </a:lnTo>
                    <a:lnTo>
                      <a:pt x="49" y="9"/>
                    </a:lnTo>
                    <a:lnTo>
                      <a:pt x="52" y="10"/>
                    </a:lnTo>
                    <a:lnTo>
                      <a:pt x="54" y="10"/>
                    </a:lnTo>
                    <a:lnTo>
                      <a:pt x="53" y="37"/>
                    </a:lnTo>
                    <a:lnTo>
                      <a:pt x="49" y="37"/>
                    </a:lnTo>
                    <a:lnTo>
                      <a:pt x="46" y="37"/>
                    </a:lnTo>
                    <a:lnTo>
                      <a:pt x="42" y="37"/>
                    </a:lnTo>
                    <a:lnTo>
                      <a:pt x="39" y="38"/>
                    </a:lnTo>
                    <a:lnTo>
                      <a:pt x="36" y="38"/>
                    </a:lnTo>
                    <a:lnTo>
                      <a:pt x="32" y="38"/>
                    </a:lnTo>
                    <a:lnTo>
                      <a:pt x="29" y="38"/>
                    </a:lnTo>
                    <a:lnTo>
                      <a:pt x="25" y="38"/>
                    </a:lnTo>
                    <a:lnTo>
                      <a:pt x="22" y="38"/>
                    </a:lnTo>
                    <a:lnTo>
                      <a:pt x="18" y="38"/>
                    </a:lnTo>
                    <a:lnTo>
                      <a:pt x="15" y="38"/>
                    </a:lnTo>
                    <a:lnTo>
                      <a:pt x="11" y="38"/>
                    </a:lnTo>
                    <a:lnTo>
                      <a:pt x="8" y="37"/>
                    </a:lnTo>
                    <a:lnTo>
                      <a:pt x="5" y="37"/>
                    </a:lnTo>
                    <a:lnTo>
                      <a:pt x="3" y="37"/>
                    </a:lnTo>
                    <a:lnTo>
                      <a:pt x="0" y="36"/>
                    </a:lnTo>
                    <a:lnTo>
                      <a:pt x="5" y="0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82" name="Freeform 1089"/>
              <p:cNvSpPr>
                <a:spLocks/>
              </p:cNvSpPr>
              <p:nvPr/>
            </p:nvSpPr>
            <p:spPr bwMode="auto">
              <a:xfrm>
                <a:off x="2050" y="3246"/>
                <a:ext cx="84" cy="38"/>
              </a:xfrm>
              <a:custGeom>
                <a:avLst/>
                <a:gdLst>
                  <a:gd name="T0" fmla="*/ 84 w 84"/>
                  <a:gd name="T1" fmla="*/ 2 h 38"/>
                  <a:gd name="T2" fmla="*/ 84 w 84"/>
                  <a:gd name="T3" fmla="*/ 38 h 38"/>
                  <a:gd name="T4" fmla="*/ 0 w 84"/>
                  <a:gd name="T5" fmla="*/ 38 h 38"/>
                  <a:gd name="T6" fmla="*/ 2 w 84"/>
                  <a:gd name="T7" fmla="*/ 34 h 38"/>
                  <a:gd name="T8" fmla="*/ 4 w 84"/>
                  <a:gd name="T9" fmla="*/ 30 h 38"/>
                  <a:gd name="T10" fmla="*/ 7 w 84"/>
                  <a:gd name="T11" fmla="*/ 27 h 38"/>
                  <a:gd name="T12" fmla="*/ 11 w 84"/>
                  <a:gd name="T13" fmla="*/ 26 h 38"/>
                  <a:gd name="T14" fmla="*/ 15 w 84"/>
                  <a:gd name="T15" fmla="*/ 24 h 38"/>
                  <a:gd name="T16" fmla="*/ 19 w 84"/>
                  <a:gd name="T17" fmla="*/ 23 h 38"/>
                  <a:gd name="T18" fmla="*/ 23 w 84"/>
                  <a:gd name="T19" fmla="*/ 22 h 38"/>
                  <a:gd name="T20" fmla="*/ 27 w 84"/>
                  <a:gd name="T21" fmla="*/ 21 h 38"/>
                  <a:gd name="T22" fmla="*/ 25 w 84"/>
                  <a:gd name="T23" fmla="*/ 19 h 38"/>
                  <a:gd name="T24" fmla="*/ 21 w 84"/>
                  <a:gd name="T25" fmla="*/ 18 h 38"/>
                  <a:gd name="T26" fmla="*/ 19 w 84"/>
                  <a:gd name="T27" fmla="*/ 16 h 38"/>
                  <a:gd name="T28" fmla="*/ 16 w 84"/>
                  <a:gd name="T29" fmla="*/ 15 h 38"/>
                  <a:gd name="T30" fmla="*/ 14 w 84"/>
                  <a:gd name="T31" fmla="*/ 14 h 38"/>
                  <a:gd name="T32" fmla="*/ 12 w 84"/>
                  <a:gd name="T33" fmla="*/ 12 h 38"/>
                  <a:gd name="T34" fmla="*/ 12 w 84"/>
                  <a:gd name="T35" fmla="*/ 9 h 38"/>
                  <a:gd name="T36" fmla="*/ 13 w 84"/>
                  <a:gd name="T37" fmla="*/ 5 h 38"/>
                  <a:gd name="T38" fmla="*/ 15 w 84"/>
                  <a:gd name="T39" fmla="*/ 5 h 38"/>
                  <a:gd name="T40" fmla="*/ 17 w 84"/>
                  <a:gd name="T41" fmla="*/ 5 h 38"/>
                  <a:gd name="T42" fmla="*/ 20 w 84"/>
                  <a:gd name="T43" fmla="*/ 6 h 38"/>
                  <a:gd name="T44" fmla="*/ 23 w 84"/>
                  <a:gd name="T45" fmla="*/ 7 h 38"/>
                  <a:gd name="T46" fmla="*/ 26 w 84"/>
                  <a:gd name="T47" fmla="*/ 8 h 38"/>
                  <a:gd name="T48" fmla="*/ 27 w 84"/>
                  <a:gd name="T49" fmla="*/ 10 h 38"/>
                  <a:gd name="T50" fmla="*/ 28 w 84"/>
                  <a:gd name="T51" fmla="*/ 12 h 38"/>
                  <a:gd name="T52" fmla="*/ 29 w 84"/>
                  <a:gd name="T53" fmla="*/ 15 h 38"/>
                  <a:gd name="T54" fmla="*/ 30 w 84"/>
                  <a:gd name="T55" fmla="*/ 16 h 38"/>
                  <a:gd name="T56" fmla="*/ 32 w 84"/>
                  <a:gd name="T57" fmla="*/ 14 h 38"/>
                  <a:gd name="T58" fmla="*/ 33 w 84"/>
                  <a:gd name="T59" fmla="*/ 12 h 38"/>
                  <a:gd name="T60" fmla="*/ 34 w 84"/>
                  <a:gd name="T61" fmla="*/ 10 h 38"/>
                  <a:gd name="T62" fmla="*/ 35 w 84"/>
                  <a:gd name="T63" fmla="*/ 7 h 38"/>
                  <a:gd name="T64" fmla="*/ 36 w 84"/>
                  <a:gd name="T65" fmla="*/ 5 h 38"/>
                  <a:gd name="T66" fmla="*/ 37 w 84"/>
                  <a:gd name="T67" fmla="*/ 4 h 38"/>
                  <a:gd name="T68" fmla="*/ 39 w 84"/>
                  <a:gd name="T69" fmla="*/ 2 h 38"/>
                  <a:gd name="T70" fmla="*/ 43 w 84"/>
                  <a:gd name="T71" fmla="*/ 2 h 38"/>
                  <a:gd name="T72" fmla="*/ 47 w 84"/>
                  <a:gd name="T73" fmla="*/ 7 h 38"/>
                  <a:gd name="T74" fmla="*/ 48 w 84"/>
                  <a:gd name="T75" fmla="*/ 12 h 38"/>
                  <a:gd name="T76" fmla="*/ 49 w 84"/>
                  <a:gd name="T77" fmla="*/ 19 h 38"/>
                  <a:gd name="T78" fmla="*/ 50 w 84"/>
                  <a:gd name="T79" fmla="*/ 25 h 38"/>
                  <a:gd name="T80" fmla="*/ 64 w 84"/>
                  <a:gd name="T81" fmla="*/ 25 h 38"/>
                  <a:gd name="T82" fmla="*/ 64 w 84"/>
                  <a:gd name="T83" fmla="*/ 19 h 38"/>
                  <a:gd name="T84" fmla="*/ 62 w 84"/>
                  <a:gd name="T85" fmla="*/ 13 h 38"/>
                  <a:gd name="T86" fmla="*/ 61 w 84"/>
                  <a:gd name="T87" fmla="*/ 7 h 38"/>
                  <a:gd name="T88" fmla="*/ 60 w 84"/>
                  <a:gd name="T89" fmla="*/ 0 h 38"/>
                  <a:gd name="T90" fmla="*/ 63 w 84"/>
                  <a:gd name="T91" fmla="*/ 0 h 38"/>
                  <a:gd name="T92" fmla="*/ 66 w 84"/>
                  <a:gd name="T93" fmla="*/ 2 h 38"/>
                  <a:gd name="T94" fmla="*/ 69 w 84"/>
                  <a:gd name="T95" fmla="*/ 2 h 38"/>
                  <a:gd name="T96" fmla="*/ 72 w 84"/>
                  <a:gd name="T97" fmla="*/ 2 h 38"/>
                  <a:gd name="T98" fmla="*/ 75 w 84"/>
                  <a:gd name="T99" fmla="*/ 2 h 38"/>
                  <a:gd name="T100" fmla="*/ 78 w 84"/>
                  <a:gd name="T101" fmla="*/ 2 h 38"/>
                  <a:gd name="T102" fmla="*/ 81 w 84"/>
                  <a:gd name="T103" fmla="*/ 2 h 38"/>
                  <a:gd name="T104" fmla="*/ 84 w 84"/>
                  <a:gd name="T105" fmla="*/ 2 h 38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84"/>
                  <a:gd name="T160" fmla="*/ 0 h 38"/>
                  <a:gd name="T161" fmla="*/ 84 w 84"/>
                  <a:gd name="T162" fmla="*/ 38 h 38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84" h="38">
                    <a:moveTo>
                      <a:pt x="84" y="2"/>
                    </a:moveTo>
                    <a:lnTo>
                      <a:pt x="84" y="38"/>
                    </a:lnTo>
                    <a:lnTo>
                      <a:pt x="0" y="38"/>
                    </a:lnTo>
                    <a:lnTo>
                      <a:pt x="2" y="34"/>
                    </a:lnTo>
                    <a:lnTo>
                      <a:pt x="4" y="30"/>
                    </a:lnTo>
                    <a:lnTo>
                      <a:pt x="7" y="27"/>
                    </a:lnTo>
                    <a:lnTo>
                      <a:pt x="11" y="26"/>
                    </a:lnTo>
                    <a:lnTo>
                      <a:pt x="15" y="24"/>
                    </a:lnTo>
                    <a:lnTo>
                      <a:pt x="19" y="23"/>
                    </a:lnTo>
                    <a:lnTo>
                      <a:pt x="23" y="22"/>
                    </a:lnTo>
                    <a:lnTo>
                      <a:pt x="27" y="21"/>
                    </a:lnTo>
                    <a:lnTo>
                      <a:pt x="25" y="19"/>
                    </a:lnTo>
                    <a:lnTo>
                      <a:pt x="21" y="18"/>
                    </a:lnTo>
                    <a:lnTo>
                      <a:pt x="19" y="16"/>
                    </a:lnTo>
                    <a:lnTo>
                      <a:pt x="16" y="15"/>
                    </a:lnTo>
                    <a:lnTo>
                      <a:pt x="14" y="14"/>
                    </a:lnTo>
                    <a:lnTo>
                      <a:pt x="12" y="12"/>
                    </a:lnTo>
                    <a:lnTo>
                      <a:pt x="12" y="9"/>
                    </a:lnTo>
                    <a:lnTo>
                      <a:pt x="13" y="5"/>
                    </a:lnTo>
                    <a:lnTo>
                      <a:pt x="15" y="5"/>
                    </a:lnTo>
                    <a:lnTo>
                      <a:pt x="17" y="5"/>
                    </a:lnTo>
                    <a:lnTo>
                      <a:pt x="20" y="6"/>
                    </a:lnTo>
                    <a:lnTo>
                      <a:pt x="23" y="7"/>
                    </a:lnTo>
                    <a:lnTo>
                      <a:pt x="26" y="8"/>
                    </a:lnTo>
                    <a:lnTo>
                      <a:pt x="27" y="10"/>
                    </a:lnTo>
                    <a:lnTo>
                      <a:pt x="28" y="12"/>
                    </a:lnTo>
                    <a:lnTo>
                      <a:pt x="29" y="15"/>
                    </a:lnTo>
                    <a:lnTo>
                      <a:pt x="30" y="16"/>
                    </a:lnTo>
                    <a:lnTo>
                      <a:pt x="32" y="14"/>
                    </a:lnTo>
                    <a:lnTo>
                      <a:pt x="33" y="12"/>
                    </a:lnTo>
                    <a:lnTo>
                      <a:pt x="34" y="10"/>
                    </a:lnTo>
                    <a:lnTo>
                      <a:pt x="35" y="7"/>
                    </a:lnTo>
                    <a:lnTo>
                      <a:pt x="36" y="5"/>
                    </a:lnTo>
                    <a:lnTo>
                      <a:pt x="37" y="4"/>
                    </a:lnTo>
                    <a:lnTo>
                      <a:pt x="39" y="2"/>
                    </a:lnTo>
                    <a:lnTo>
                      <a:pt x="43" y="2"/>
                    </a:lnTo>
                    <a:lnTo>
                      <a:pt x="47" y="7"/>
                    </a:lnTo>
                    <a:lnTo>
                      <a:pt x="48" y="12"/>
                    </a:lnTo>
                    <a:lnTo>
                      <a:pt x="49" y="19"/>
                    </a:lnTo>
                    <a:lnTo>
                      <a:pt x="50" y="25"/>
                    </a:lnTo>
                    <a:lnTo>
                      <a:pt x="64" y="25"/>
                    </a:lnTo>
                    <a:lnTo>
                      <a:pt x="64" y="19"/>
                    </a:lnTo>
                    <a:lnTo>
                      <a:pt x="62" y="13"/>
                    </a:lnTo>
                    <a:lnTo>
                      <a:pt x="61" y="7"/>
                    </a:lnTo>
                    <a:lnTo>
                      <a:pt x="60" y="0"/>
                    </a:lnTo>
                    <a:lnTo>
                      <a:pt x="63" y="0"/>
                    </a:lnTo>
                    <a:lnTo>
                      <a:pt x="66" y="2"/>
                    </a:lnTo>
                    <a:lnTo>
                      <a:pt x="69" y="2"/>
                    </a:lnTo>
                    <a:lnTo>
                      <a:pt x="72" y="2"/>
                    </a:lnTo>
                    <a:lnTo>
                      <a:pt x="75" y="2"/>
                    </a:lnTo>
                    <a:lnTo>
                      <a:pt x="78" y="2"/>
                    </a:lnTo>
                    <a:lnTo>
                      <a:pt x="81" y="2"/>
                    </a:lnTo>
                    <a:lnTo>
                      <a:pt x="84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83" name="Freeform 1090"/>
              <p:cNvSpPr>
                <a:spLocks/>
              </p:cNvSpPr>
              <p:nvPr/>
            </p:nvSpPr>
            <p:spPr bwMode="auto">
              <a:xfrm>
                <a:off x="1984" y="3288"/>
                <a:ext cx="51" cy="38"/>
              </a:xfrm>
              <a:custGeom>
                <a:avLst/>
                <a:gdLst>
                  <a:gd name="T0" fmla="*/ 51 w 51"/>
                  <a:gd name="T1" fmla="*/ 1 h 38"/>
                  <a:gd name="T2" fmla="*/ 49 w 51"/>
                  <a:gd name="T3" fmla="*/ 8 h 38"/>
                  <a:gd name="T4" fmla="*/ 46 w 51"/>
                  <a:gd name="T5" fmla="*/ 12 h 38"/>
                  <a:gd name="T6" fmla="*/ 40 w 51"/>
                  <a:gd name="T7" fmla="*/ 15 h 38"/>
                  <a:gd name="T8" fmla="*/ 35 w 51"/>
                  <a:gd name="T9" fmla="*/ 17 h 38"/>
                  <a:gd name="T10" fmla="*/ 30 w 51"/>
                  <a:gd name="T11" fmla="*/ 20 h 38"/>
                  <a:gd name="T12" fmla="*/ 26 w 51"/>
                  <a:gd name="T13" fmla="*/ 25 h 38"/>
                  <a:gd name="T14" fmla="*/ 26 w 51"/>
                  <a:gd name="T15" fmla="*/ 30 h 38"/>
                  <a:gd name="T16" fmla="*/ 30 w 51"/>
                  <a:gd name="T17" fmla="*/ 38 h 38"/>
                  <a:gd name="T18" fmla="*/ 5 w 51"/>
                  <a:gd name="T19" fmla="*/ 38 h 38"/>
                  <a:gd name="T20" fmla="*/ 3 w 51"/>
                  <a:gd name="T21" fmla="*/ 28 h 38"/>
                  <a:gd name="T22" fmla="*/ 1 w 51"/>
                  <a:gd name="T23" fmla="*/ 19 h 38"/>
                  <a:gd name="T24" fmla="*/ 0 w 51"/>
                  <a:gd name="T25" fmla="*/ 10 h 38"/>
                  <a:gd name="T26" fmla="*/ 1 w 51"/>
                  <a:gd name="T27" fmla="*/ 0 h 38"/>
                  <a:gd name="T28" fmla="*/ 51 w 51"/>
                  <a:gd name="T29" fmla="*/ 1 h 3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1"/>
                  <a:gd name="T46" fmla="*/ 0 h 38"/>
                  <a:gd name="T47" fmla="*/ 51 w 51"/>
                  <a:gd name="T48" fmla="*/ 38 h 3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1" h="38">
                    <a:moveTo>
                      <a:pt x="51" y="1"/>
                    </a:moveTo>
                    <a:lnTo>
                      <a:pt x="49" y="8"/>
                    </a:lnTo>
                    <a:lnTo>
                      <a:pt x="46" y="12"/>
                    </a:lnTo>
                    <a:lnTo>
                      <a:pt x="40" y="15"/>
                    </a:lnTo>
                    <a:lnTo>
                      <a:pt x="35" y="17"/>
                    </a:lnTo>
                    <a:lnTo>
                      <a:pt x="30" y="20"/>
                    </a:lnTo>
                    <a:lnTo>
                      <a:pt x="26" y="25"/>
                    </a:lnTo>
                    <a:lnTo>
                      <a:pt x="26" y="30"/>
                    </a:lnTo>
                    <a:lnTo>
                      <a:pt x="30" y="38"/>
                    </a:lnTo>
                    <a:lnTo>
                      <a:pt x="5" y="38"/>
                    </a:lnTo>
                    <a:lnTo>
                      <a:pt x="3" y="28"/>
                    </a:lnTo>
                    <a:lnTo>
                      <a:pt x="1" y="19"/>
                    </a:lnTo>
                    <a:lnTo>
                      <a:pt x="0" y="10"/>
                    </a:lnTo>
                    <a:lnTo>
                      <a:pt x="1" y="0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84" name="Freeform 1091"/>
              <p:cNvSpPr>
                <a:spLocks/>
              </p:cNvSpPr>
              <p:nvPr/>
            </p:nvSpPr>
            <p:spPr bwMode="auto">
              <a:xfrm>
                <a:off x="2052" y="3288"/>
                <a:ext cx="82" cy="38"/>
              </a:xfrm>
              <a:custGeom>
                <a:avLst/>
                <a:gdLst>
                  <a:gd name="T0" fmla="*/ 82 w 82"/>
                  <a:gd name="T1" fmla="*/ 38 h 38"/>
                  <a:gd name="T2" fmla="*/ 21 w 82"/>
                  <a:gd name="T3" fmla="*/ 38 h 38"/>
                  <a:gd name="T4" fmla="*/ 17 w 82"/>
                  <a:gd name="T5" fmla="*/ 35 h 38"/>
                  <a:gd name="T6" fmla="*/ 13 w 82"/>
                  <a:gd name="T7" fmla="*/ 32 h 38"/>
                  <a:gd name="T8" fmla="*/ 9 w 82"/>
                  <a:gd name="T9" fmla="*/ 28 h 38"/>
                  <a:gd name="T10" fmla="*/ 7 w 82"/>
                  <a:gd name="T11" fmla="*/ 23 h 38"/>
                  <a:gd name="T12" fmla="*/ 4 w 82"/>
                  <a:gd name="T13" fmla="*/ 17 h 38"/>
                  <a:gd name="T14" fmla="*/ 2 w 82"/>
                  <a:gd name="T15" fmla="*/ 11 h 38"/>
                  <a:gd name="T16" fmla="*/ 1 w 82"/>
                  <a:gd name="T17" fmla="*/ 5 h 38"/>
                  <a:gd name="T18" fmla="*/ 0 w 82"/>
                  <a:gd name="T19" fmla="*/ 0 h 38"/>
                  <a:gd name="T20" fmla="*/ 82 w 82"/>
                  <a:gd name="T21" fmla="*/ 1 h 38"/>
                  <a:gd name="T22" fmla="*/ 82 w 82"/>
                  <a:gd name="T23" fmla="*/ 38 h 3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2"/>
                  <a:gd name="T37" fmla="*/ 0 h 38"/>
                  <a:gd name="T38" fmla="*/ 82 w 82"/>
                  <a:gd name="T39" fmla="*/ 38 h 3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2" h="38">
                    <a:moveTo>
                      <a:pt x="82" y="38"/>
                    </a:moveTo>
                    <a:lnTo>
                      <a:pt x="21" y="38"/>
                    </a:lnTo>
                    <a:lnTo>
                      <a:pt x="17" y="35"/>
                    </a:lnTo>
                    <a:lnTo>
                      <a:pt x="13" y="32"/>
                    </a:lnTo>
                    <a:lnTo>
                      <a:pt x="9" y="28"/>
                    </a:lnTo>
                    <a:lnTo>
                      <a:pt x="7" y="23"/>
                    </a:lnTo>
                    <a:lnTo>
                      <a:pt x="4" y="17"/>
                    </a:lnTo>
                    <a:lnTo>
                      <a:pt x="2" y="11"/>
                    </a:lnTo>
                    <a:lnTo>
                      <a:pt x="1" y="5"/>
                    </a:lnTo>
                    <a:lnTo>
                      <a:pt x="0" y="0"/>
                    </a:lnTo>
                    <a:lnTo>
                      <a:pt x="82" y="1"/>
                    </a:lnTo>
                    <a:lnTo>
                      <a:pt x="82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85" name="Freeform 1092"/>
              <p:cNvSpPr>
                <a:spLocks/>
              </p:cNvSpPr>
              <p:nvPr/>
            </p:nvSpPr>
            <p:spPr bwMode="auto">
              <a:xfrm>
                <a:off x="1991" y="3330"/>
                <a:ext cx="47" cy="36"/>
              </a:xfrm>
              <a:custGeom>
                <a:avLst/>
                <a:gdLst>
                  <a:gd name="T0" fmla="*/ 24 w 47"/>
                  <a:gd name="T1" fmla="*/ 1 h 36"/>
                  <a:gd name="T2" fmla="*/ 26 w 47"/>
                  <a:gd name="T3" fmla="*/ 5 h 36"/>
                  <a:gd name="T4" fmla="*/ 27 w 47"/>
                  <a:gd name="T5" fmla="*/ 10 h 36"/>
                  <a:gd name="T6" fmla="*/ 28 w 47"/>
                  <a:gd name="T7" fmla="*/ 15 h 36"/>
                  <a:gd name="T8" fmla="*/ 29 w 47"/>
                  <a:gd name="T9" fmla="*/ 20 h 36"/>
                  <a:gd name="T10" fmla="*/ 30 w 47"/>
                  <a:gd name="T11" fmla="*/ 24 h 36"/>
                  <a:gd name="T12" fmla="*/ 32 w 47"/>
                  <a:gd name="T13" fmla="*/ 29 h 36"/>
                  <a:gd name="T14" fmla="*/ 37 w 47"/>
                  <a:gd name="T15" fmla="*/ 31 h 36"/>
                  <a:gd name="T16" fmla="*/ 42 w 47"/>
                  <a:gd name="T17" fmla="*/ 32 h 36"/>
                  <a:gd name="T18" fmla="*/ 44 w 47"/>
                  <a:gd name="T19" fmla="*/ 32 h 36"/>
                  <a:gd name="T20" fmla="*/ 45 w 47"/>
                  <a:gd name="T21" fmla="*/ 32 h 36"/>
                  <a:gd name="T22" fmla="*/ 46 w 47"/>
                  <a:gd name="T23" fmla="*/ 33 h 36"/>
                  <a:gd name="T24" fmla="*/ 47 w 47"/>
                  <a:gd name="T25" fmla="*/ 34 h 36"/>
                  <a:gd name="T26" fmla="*/ 47 w 47"/>
                  <a:gd name="T27" fmla="*/ 36 h 36"/>
                  <a:gd name="T28" fmla="*/ 17 w 47"/>
                  <a:gd name="T29" fmla="*/ 36 h 36"/>
                  <a:gd name="T30" fmla="*/ 14 w 47"/>
                  <a:gd name="T31" fmla="*/ 32 h 36"/>
                  <a:gd name="T32" fmla="*/ 12 w 47"/>
                  <a:gd name="T33" fmla="*/ 28 h 36"/>
                  <a:gd name="T34" fmla="*/ 9 w 47"/>
                  <a:gd name="T35" fmla="*/ 23 h 36"/>
                  <a:gd name="T36" fmla="*/ 8 w 47"/>
                  <a:gd name="T37" fmla="*/ 19 h 36"/>
                  <a:gd name="T38" fmla="*/ 4 w 47"/>
                  <a:gd name="T39" fmla="*/ 14 h 36"/>
                  <a:gd name="T40" fmla="*/ 3 w 47"/>
                  <a:gd name="T41" fmla="*/ 9 h 36"/>
                  <a:gd name="T42" fmla="*/ 1 w 47"/>
                  <a:gd name="T43" fmla="*/ 5 h 36"/>
                  <a:gd name="T44" fmla="*/ 0 w 47"/>
                  <a:gd name="T45" fmla="*/ 0 h 36"/>
                  <a:gd name="T46" fmla="*/ 24 w 47"/>
                  <a:gd name="T47" fmla="*/ 1 h 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7"/>
                  <a:gd name="T73" fmla="*/ 0 h 36"/>
                  <a:gd name="T74" fmla="*/ 47 w 47"/>
                  <a:gd name="T75" fmla="*/ 36 h 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7" h="36">
                    <a:moveTo>
                      <a:pt x="24" y="1"/>
                    </a:moveTo>
                    <a:lnTo>
                      <a:pt x="26" y="5"/>
                    </a:lnTo>
                    <a:lnTo>
                      <a:pt x="27" y="10"/>
                    </a:lnTo>
                    <a:lnTo>
                      <a:pt x="28" y="15"/>
                    </a:lnTo>
                    <a:lnTo>
                      <a:pt x="29" y="20"/>
                    </a:lnTo>
                    <a:lnTo>
                      <a:pt x="30" y="24"/>
                    </a:lnTo>
                    <a:lnTo>
                      <a:pt x="32" y="29"/>
                    </a:lnTo>
                    <a:lnTo>
                      <a:pt x="37" y="31"/>
                    </a:lnTo>
                    <a:lnTo>
                      <a:pt x="42" y="32"/>
                    </a:lnTo>
                    <a:lnTo>
                      <a:pt x="44" y="32"/>
                    </a:lnTo>
                    <a:lnTo>
                      <a:pt x="45" y="32"/>
                    </a:lnTo>
                    <a:lnTo>
                      <a:pt x="46" y="33"/>
                    </a:lnTo>
                    <a:lnTo>
                      <a:pt x="47" y="34"/>
                    </a:lnTo>
                    <a:lnTo>
                      <a:pt x="47" y="36"/>
                    </a:lnTo>
                    <a:lnTo>
                      <a:pt x="17" y="36"/>
                    </a:lnTo>
                    <a:lnTo>
                      <a:pt x="14" y="32"/>
                    </a:lnTo>
                    <a:lnTo>
                      <a:pt x="12" y="28"/>
                    </a:lnTo>
                    <a:lnTo>
                      <a:pt x="9" y="23"/>
                    </a:lnTo>
                    <a:lnTo>
                      <a:pt x="8" y="19"/>
                    </a:lnTo>
                    <a:lnTo>
                      <a:pt x="4" y="14"/>
                    </a:lnTo>
                    <a:lnTo>
                      <a:pt x="3" y="9"/>
                    </a:lnTo>
                    <a:lnTo>
                      <a:pt x="1" y="5"/>
                    </a:lnTo>
                    <a:lnTo>
                      <a:pt x="0" y="0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86" name="Freeform 1093"/>
              <p:cNvSpPr>
                <a:spLocks/>
              </p:cNvSpPr>
              <p:nvPr/>
            </p:nvSpPr>
            <p:spPr bwMode="auto">
              <a:xfrm>
                <a:off x="2086" y="3330"/>
                <a:ext cx="47" cy="37"/>
              </a:xfrm>
              <a:custGeom>
                <a:avLst/>
                <a:gdLst>
                  <a:gd name="T0" fmla="*/ 47 w 47"/>
                  <a:gd name="T1" fmla="*/ 36 h 37"/>
                  <a:gd name="T2" fmla="*/ 45 w 47"/>
                  <a:gd name="T3" fmla="*/ 36 h 37"/>
                  <a:gd name="T4" fmla="*/ 42 w 47"/>
                  <a:gd name="T5" fmla="*/ 36 h 37"/>
                  <a:gd name="T6" fmla="*/ 40 w 47"/>
                  <a:gd name="T7" fmla="*/ 37 h 37"/>
                  <a:gd name="T8" fmla="*/ 37 w 47"/>
                  <a:gd name="T9" fmla="*/ 37 h 37"/>
                  <a:gd name="T10" fmla="*/ 33 w 47"/>
                  <a:gd name="T11" fmla="*/ 37 h 37"/>
                  <a:gd name="T12" fmla="*/ 30 w 47"/>
                  <a:gd name="T13" fmla="*/ 37 h 37"/>
                  <a:gd name="T14" fmla="*/ 28 w 47"/>
                  <a:gd name="T15" fmla="*/ 37 h 37"/>
                  <a:gd name="T16" fmla="*/ 25 w 47"/>
                  <a:gd name="T17" fmla="*/ 37 h 37"/>
                  <a:gd name="T18" fmla="*/ 22 w 47"/>
                  <a:gd name="T19" fmla="*/ 37 h 37"/>
                  <a:gd name="T20" fmla="*/ 20 w 47"/>
                  <a:gd name="T21" fmla="*/ 37 h 37"/>
                  <a:gd name="T22" fmla="*/ 16 w 47"/>
                  <a:gd name="T23" fmla="*/ 37 h 37"/>
                  <a:gd name="T24" fmla="*/ 13 w 47"/>
                  <a:gd name="T25" fmla="*/ 37 h 37"/>
                  <a:gd name="T26" fmla="*/ 11 w 47"/>
                  <a:gd name="T27" fmla="*/ 37 h 37"/>
                  <a:gd name="T28" fmla="*/ 9 w 47"/>
                  <a:gd name="T29" fmla="*/ 37 h 37"/>
                  <a:gd name="T30" fmla="*/ 7 w 47"/>
                  <a:gd name="T31" fmla="*/ 37 h 37"/>
                  <a:gd name="T32" fmla="*/ 5 w 47"/>
                  <a:gd name="T33" fmla="*/ 36 h 37"/>
                  <a:gd name="T34" fmla="*/ 6 w 47"/>
                  <a:gd name="T35" fmla="*/ 35 h 37"/>
                  <a:gd name="T36" fmla="*/ 7 w 47"/>
                  <a:gd name="T37" fmla="*/ 34 h 37"/>
                  <a:gd name="T38" fmla="*/ 9 w 47"/>
                  <a:gd name="T39" fmla="*/ 31 h 37"/>
                  <a:gd name="T40" fmla="*/ 10 w 47"/>
                  <a:gd name="T41" fmla="*/ 29 h 37"/>
                  <a:gd name="T42" fmla="*/ 11 w 47"/>
                  <a:gd name="T43" fmla="*/ 26 h 37"/>
                  <a:gd name="T44" fmla="*/ 12 w 47"/>
                  <a:gd name="T45" fmla="*/ 23 h 37"/>
                  <a:gd name="T46" fmla="*/ 13 w 47"/>
                  <a:gd name="T47" fmla="*/ 20 h 37"/>
                  <a:gd name="T48" fmla="*/ 14 w 47"/>
                  <a:gd name="T49" fmla="*/ 18 h 37"/>
                  <a:gd name="T50" fmla="*/ 12 w 47"/>
                  <a:gd name="T51" fmla="*/ 16 h 37"/>
                  <a:gd name="T52" fmla="*/ 10 w 47"/>
                  <a:gd name="T53" fmla="*/ 14 h 37"/>
                  <a:gd name="T54" fmla="*/ 8 w 47"/>
                  <a:gd name="T55" fmla="*/ 12 h 37"/>
                  <a:gd name="T56" fmla="*/ 7 w 47"/>
                  <a:gd name="T57" fmla="*/ 9 h 37"/>
                  <a:gd name="T58" fmla="*/ 5 w 47"/>
                  <a:gd name="T59" fmla="*/ 7 h 37"/>
                  <a:gd name="T60" fmla="*/ 2 w 47"/>
                  <a:gd name="T61" fmla="*/ 5 h 37"/>
                  <a:gd name="T62" fmla="*/ 1 w 47"/>
                  <a:gd name="T63" fmla="*/ 2 h 37"/>
                  <a:gd name="T64" fmla="*/ 0 w 47"/>
                  <a:gd name="T65" fmla="*/ 0 h 37"/>
                  <a:gd name="T66" fmla="*/ 47 w 47"/>
                  <a:gd name="T67" fmla="*/ 1 h 37"/>
                  <a:gd name="T68" fmla="*/ 47 w 47"/>
                  <a:gd name="T69" fmla="*/ 36 h 3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7"/>
                  <a:gd name="T106" fmla="*/ 0 h 37"/>
                  <a:gd name="T107" fmla="*/ 47 w 47"/>
                  <a:gd name="T108" fmla="*/ 37 h 3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7" h="37">
                    <a:moveTo>
                      <a:pt x="47" y="36"/>
                    </a:moveTo>
                    <a:lnTo>
                      <a:pt x="45" y="36"/>
                    </a:lnTo>
                    <a:lnTo>
                      <a:pt x="42" y="36"/>
                    </a:lnTo>
                    <a:lnTo>
                      <a:pt x="40" y="37"/>
                    </a:lnTo>
                    <a:lnTo>
                      <a:pt x="37" y="37"/>
                    </a:lnTo>
                    <a:lnTo>
                      <a:pt x="33" y="37"/>
                    </a:lnTo>
                    <a:lnTo>
                      <a:pt x="30" y="37"/>
                    </a:lnTo>
                    <a:lnTo>
                      <a:pt x="28" y="37"/>
                    </a:lnTo>
                    <a:lnTo>
                      <a:pt x="25" y="37"/>
                    </a:lnTo>
                    <a:lnTo>
                      <a:pt x="22" y="37"/>
                    </a:lnTo>
                    <a:lnTo>
                      <a:pt x="20" y="37"/>
                    </a:lnTo>
                    <a:lnTo>
                      <a:pt x="16" y="37"/>
                    </a:lnTo>
                    <a:lnTo>
                      <a:pt x="13" y="37"/>
                    </a:lnTo>
                    <a:lnTo>
                      <a:pt x="11" y="37"/>
                    </a:lnTo>
                    <a:lnTo>
                      <a:pt x="9" y="37"/>
                    </a:lnTo>
                    <a:lnTo>
                      <a:pt x="7" y="37"/>
                    </a:lnTo>
                    <a:lnTo>
                      <a:pt x="5" y="36"/>
                    </a:lnTo>
                    <a:lnTo>
                      <a:pt x="6" y="35"/>
                    </a:lnTo>
                    <a:lnTo>
                      <a:pt x="7" y="34"/>
                    </a:lnTo>
                    <a:lnTo>
                      <a:pt x="9" y="31"/>
                    </a:lnTo>
                    <a:lnTo>
                      <a:pt x="10" y="29"/>
                    </a:lnTo>
                    <a:lnTo>
                      <a:pt x="11" y="26"/>
                    </a:lnTo>
                    <a:lnTo>
                      <a:pt x="12" y="23"/>
                    </a:lnTo>
                    <a:lnTo>
                      <a:pt x="13" y="20"/>
                    </a:lnTo>
                    <a:lnTo>
                      <a:pt x="14" y="18"/>
                    </a:lnTo>
                    <a:lnTo>
                      <a:pt x="12" y="16"/>
                    </a:lnTo>
                    <a:lnTo>
                      <a:pt x="10" y="14"/>
                    </a:lnTo>
                    <a:lnTo>
                      <a:pt x="8" y="12"/>
                    </a:lnTo>
                    <a:lnTo>
                      <a:pt x="7" y="9"/>
                    </a:lnTo>
                    <a:lnTo>
                      <a:pt x="5" y="7"/>
                    </a:lnTo>
                    <a:lnTo>
                      <a:pt x="2" y="5"/>
                    </a:lnTo>
                    <a:lnTo>
                      <a:pt x="1" y="2"/>
                    </a:lnTo>
                    <a:lnTo>
                      <a:pt x="0" y="0"/>
                    </a:lnTo>
                    <a:lnTo>
                      <a:pt x="47" y="1"/>
                    </a:lnTo>
                    <a:lnTo>
                      <a:pt x="47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87" name="Freeform 1094"/>
              <p:cNvSpPr>
                <a:spLocks/>
              </p:cNvSpPr>
              <p:nvPr/>
            </p:nvSpPr>
            <p:spPr bwMode="auto">
              <a:xfrm>
                <a:off x="2013" y="3370"/>
                <a:ext cx="50" cy="38"/>
              </a:xfrm>
              <a:custGeom>
                <a:avLst/>
                <a:gdLst>
                  <a:gd name="T0" fmla="*/ 28 w 50"/>
                  <a:gd name="T1" fmla="*/ 1 h 38"/>
                  <a:gd name="T2" fmla="*/ 31 w 50"/>
                  <a:gd name="T3" fmla="*/ 7 h 38"/>
                  <a:gd name="T4" fmla="*/ 33 w 50"/>
                  <a:gd name="T5" fmla="*/ 11 h 38"/>
                  <a:gd name="T6" fmla="*/ 35 w 50"/>
                  <a:gd name="T7" fmla="*/ 15 h 38"/>
                  <a:gd name="T8" fmla="*/ 38 w 50"/>
                  <a:gd name="T9" fmla="*/ 20 h 38"/>
                  <a:gd name="T10" fmla="*/ 41 w 50"/>
                  <a:gd name="T11" fmla="*/ 24 h 38"/>
                  <a:gd name="T12" fmla="*/ 44 w 50"/>
                  <a:gd name="T13" fmla="*/ 28 h 38"/>
                  <a:gd name="T14" fmla="*/ 47 w 50"/>
                  <a:gd name="T15" fmla="*/ 32 h 38"/>
                  <a:gd name="T16" fmla="*/ 50 w 50"/>
                  <a:gd name="T17" fmla="*/ 38 h 38"/>
                  <a:gd name="T18" fmla="*/ 46 w 50"/>
                  <a:gd name="T19" fmla="*/ 38 h 38"/>
                  <a:gd name="T20" fmla="*/ 41 w 50"/>
                  <a:gd name="T21" fmla="*/ 37 h 38"/>
                  <a:gd name="T22" fmla="*/ 37 w 50"/>
                  <a:gd name="T23" fmla="*/ 37 h 38"/>
                  <a:gd name="T24" fmla="*/ 33 w 50"/>
                  <a:gd name="T25" fmla="*/ 35 h 38"/>
                  <a:gd name="T26" fmla="*/ 29 w 50"/>
                  <a:gd name="T27" fmla="*/ 33 h 38"/>
                  <a:gd name="T28" fmla="*/ 26 w 50"/>
                  <a:gd name="T29" fmla="*/ 31 h 38"/>
                  <a:gd name="T30" fmla="*/ 23 w 50"/>
                  <a:gd name="T31" fmla="*/ 29 h 38"/>
                  <a:gd name="T32" fmla="*/ 20 w 50"/>
                  <a:gd name="T33" fmla="*/ 26 h 38"/>
                  <a:gd name="T34" fmla="*/ 18 w 50"/>
                  <a:gd name="T35" fmla="*/ 23 h 38"/>
                  <a:gd name="T36" fmla="*/ 15 w 50"/>
                  <a:gd name="T37" fmla="*/ 20 h 38"/>
                  <a:gd name="T38" fmla="*/ 12 w 50"/>
                  <a:gd name="T39" fmla="*/ 16 h 38"/>
                  <a:gd name="T40" fmla="*/ 9 w 50"/>
                  <a:gd name="T41" fmla="*/ 13 h 38"/>
                  <a:gd name="T42" fmla="*/ 7 w 50"/>
                  <a:gd name="T43" fmla="*/ 10 h 38"/>
                  <a:gd name="T44" fmla="*/ 5 w 50"/>
                  <a:gd name="T45" fmla="*/ 7 h 38"/>
                  <a:gd name="T46" fmla="*/ 2 w 50"/>
                  <a:gd name="T47" fmla="*/ 4 h 38"/>
                  <a:gd name="T48" fmla="*/ 0 w 50"/>
                  <a:gd name="T49" fmla="*/ 0 h 38"/>
                  <a:gd name="T50" fmla="*/ 28 w 50"/>
                  <a:gd name="T51" fmla="*/ 1 h 3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50"/>
                  <a:gd name="T79" fmla="*/ 0 h 38"/>
                  <a:gd name="T80" fmla="*/ 50 w 50"/>
                  <a:gd name="T81" fmla="*/ 38 h 38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50" h="38">
                    <a:moveTo>
                      <a:pt x="28" y="1"/>
                    </a:moveTo>
                    <a:lnTo>
                      <a:pt x="31" y="7"/>
                    </a:lnTo>
                    <a:lnTo>
                      <a:pt x="33" y="11"/>
                    </a:lnTo>
                    <a:lnTo>
                      <a:pt x="35" y="15"/>
                    </a:lnTo>
                    <a:lnTo>
                      <a:pt x="38" y="20"/>
                    </a:lnTo>
                    <a:lnTo>
                      <a:pt x="41" y="24"/>
                    </a:lnTo>
                    <a:lnTo>
                      <a:pt x="44" y="28"/>
                    </a:lnTo>
                    <a:lnTo>
                      <a:pt x="47" y="32"/>
                    </a:lnTo>
                    <a:lnTo>
                      <a:pt x="50" y="38"/>
                    </a:lnTo>
                    <a:lnTo>
                      <a:pt x="46" y="38"/>
                    </a:lnTo>
                    <a:lnTo>
                      <a:pt x="41" y="37"/>
                    </a:lnTo>
                    <a:lnTo>
                      <a:pt x="37" y="37"/>
                    </a:lnTo>
                    <a:lnTo>
                      <a:pt x="33" y="35"/>
                    </a:lnTo>
                    <a:lnTo>
                      <a:pt x="29" y="33"/>
                    </a:lnTo>
                    <a:lnTo>
                      <a:pt x="26" y="31"/>
                    </a:lnTo>
                    <a:lnTo>
                      <a:pt x="23" y="29"/>
                    </a:lnTo>
                    <a:lnTo>
                      <a:pt x="20" y="26"/>
                    </a:lnTo>
                    <a:lnTo>
                      <a:pt x="18" y="23"/>
                    </a:lnTo>
                    <a:lnTo>
                      <a:pt x="15" y="20"/>
                    </a:lnTo>
                    <a:lnTo>
                      <a:pt x="12" y="16"/>
                    </a:lnTo>
                    <a:lnTo>
                      <a:pt x="9" y="13"/>
                    </a:lnTo>
                    <a:lnTo>
                      <a:pt x="7" y="10"/>
                    </a:lnTo>
                    <a:lnTo>
                      <a:pt x="5" y="7"/>
                    </a:lnTo>
                    <a:lnTo>
                      <a:pt x="2" y="4"/>
                    </a:lnTo>
                    <a:lnTo>
                      <a:pt x="0" y="0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88" name="Freeform 1095"/>
              <p:cNvSpPr>
                <a:spLocks/>
              </p:cNvSpPr>
              <p:nvPr/>
            </p:nvSpPr>
            <p:spPr bwMode="auto">
              <a:xfrm>
                <a:off x="2083" y="3370"/>
                <a:ext cx="50" cy="38"/>
              </a:xfrm>
              <a:custGeom>
                <a:avLst/>
                <a:gdLst>
                  <a:gd name="T0" fmla="*/ 50 w 50"/>
                  <a:gd name="T1" fmla="*/ 1 h 38"/>
                  <a:gd name="T2" fmla="*/ 50 w 50"/>
                  <a:gd name="T3" fmla="*/ 10 h 38"/>
                  <a:gd name="T4" fmla="*/ 50 w 50"/>
                  <a:gd name="T5" fmla="*/ 19 h 38"/>
                  <a:gd name="T6" fmla="*/ 50 w 50"/>
                  <a:gd name="T7" fmla="*/ 29 h 38"/>
                  <a:gd name="T8" fmla="*/ 50 w 50"/>
                  <a:gd name="T9" fmla="*/ 38 h 38"/>
                  <a:gd name="T10" fmla="*/ 0 w 50"/>
                  <a:gd name="T11" fmla="*/ 38 h 38"/>
                  <a:gd name="T12" fmla="*/ 2 w 50"/>
                  <a:gd name="T13" fmla="*/ 0 h 38"/>
                  <a:gd name="T14" fmla="*/ 4 w 50"/>
                  <a:gd name="T15" fmla="*/ 0 h 38"/>
                  <a:gd name="T16" fmla="*/ 8 w 50"/>
                  <a:gd name="T17" fmla="*/ 0 h 38"/>
                  <a:gd name="T18" fmla="*/ 11 w 50"/>
                  <a:gd name="T19" fmla="*/ 1 h 38"/>
                  <a:gd name="T20" fmla="*/ 13 w 50"/>
                  <a:gd name="T21" fmla="*/ 1 h 38"/>
                  <a:gd name="T22" fmla="*/ 16 w 50"/>
                  <a:gd name="T23" fmla="*/ 1 h 38"/>
                  <a:gd name="T24" fmla="*/ 19 w 50"/>
                  <a:gd name="T25" fmla="*/ 1 h 38"/>
                  <a:gd name="T26" fmla="*/ 23 w 50"/>
                  <a:gd name="T27" fmla="*/ 1 h 38"/>
                  <a:gd name="T28" fmla="*/ 26 w 50"/>
                  <a:gd name="T29" fmla="*/ 1 h 38"/>
                  <a:gd name="T30" fmla="*/ 29 w 50"/>
                  <a:gd name="T31" fmla="*/ 1 h 38"/>
                  <a:gd name="T32" fmla="*/ 32 w 50"/>
                  <a:gd name="T33" fmla="*/ 1 h 38"/>
                  <a:gd name="T34" fmla="*/ 35 w 50"/>
                  <a:gd name="T35" fmla="*/ 1 h 38"/>
                  <a:gd name="T36" fmla="*/ 39 w 50"/>
                  <a:gd name="T37" fmla="*/ 1 h 38"/>
                  <a:gd name="T38" fmla="*/ 41 w 50"/>
                  <a:gd name="T39" fmla="*/ 1 h 38"/>
                  <a:gd name="T40" fmla="*/ 44 w 50"/>
                  <a:gd name="T41" fmla="*/ 1 h 38"/>
                  <a:gd name="T42" fmla="*/ 47 w 50"/>
                  <a:gd name="T43" fmla="*/ 1 h 38"/>
                  <a:gd name="T44" fmla="*/ 50 w 50"/>
                  <a:gd name="T45" fmla="*/ 1 h 3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50"/>
                  <a:gd name="T70" fmla="*/ 0 h 38"/>
                  <a:gd name="T71" fmla="*/ 50 w 50"/>
                  <a:gd name="T72" fmla="*/ 38 h 38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50" h="38">
                    <a:moveTo>
                      <a:pt x="50" y="1"/>
                    </a:moveTo>
                    <a:lnTo>
                      <a:pt x="50" y="10"/>
                    </a:lnTo>
                    <a:lnTo>
                      <a:pt x="50" y="19"/>
                    </a:lnTo>
                    <a:lnTo>
                      <a:pt x="50" y="29"/>
                    </a:lnTo>
                    <a:lnTo>
                      <a:pt x="50" y="38"/>
                    </a:lnTo>
                    <a:lnTo>
                      <a:pt x="0" y="38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8" y="0"/>
                    </a:lnTo>
                    <a:lnTo>
                      <a:pt x="11" y="1"/>
                    </a:lnTo>
                    <a:lnTo>
                      <a:pt x="13" y="1"/>
                    </a:lnTo>
                    <a:lnTo>
                      <a:pt x="16" y="1"/>
                    </a:lnTo>
                    <a:lnTo>
                      <a:pt x="19" y="1"/>
                    </a:lnTo>
                    <a:lnTo>
                      <a:pt x="23" y="1"/>
                    </a:lnTo>
                    <a:lnTo>
                      <a:pt x="26" y="1"/>
                    </a:lnTo>
                    <a:lnTo>
                      <a:pt x="29" y="1"/>
                    </a:lnTo>
                    <a:lnTo>
                      <a:pt x="32" y="1"/>
                    </a:lnTo>
                    <a:lnTo>
                      <a:pt x="35" y="1"/>
                    </a:lnTo>
                    <a:lnTo>
                      <a:pt x="39" y="1"/>
                    </a:lnTo>
                    <a:lnTo>
                      <a:pt x="41" y="1"/>
                    </a:lnTo>
                    <a:lnTo>
                      <a:pt x="44" y="1"/>
                    </a:lnTo>
                    <a:lnTo>
                      <a:pt x="47" y="1"/>
                    </a:lnTo>
                    <a:lnTo>
                      <a:pt x="5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89" name="Freeform 1096"/>
              <p:cNvSpPr>
                <a:spLocks/>
              </p:cNvSpPr>
              <p:nvPr/>
            </p:nvSpPr>
            <p:spPr bwMode="auto">
              <a:xfrm>
                <a:off x="2056" y="3412"/>
                <a:ext cx="77" cy="24"/>
              </a:xfrm>
              <a:custGeom>
                <a:avLst/>
                <a:gdLst>
                  <a:gd name="T0" fmla="*/ 27 w 77"/>
                  <a:gd name="T1" fmla="*/ 5 h 24"/>
                  <a:gd name="T2" fmla="*/ 28 w 77"/>
                  <a:gd name="T3" fmla="*/ 4 h 24"/>
                  <a:gd name="T4" fmla="*/ 28 w 77"/>
                  <a:gd name="T5" fmla="*/ 3 h 24"/>
                  <a:gd name="T6" fmla="*/ 28 w 77"/>
                  <a:gd name="T7" fmla="*/ 2 h 24"/>
                  <a:gd name="T8" fmla="*/ 28 w 77"/>
                  <a:gd name="T9" fmla="*/ 1 h 24"/>
                  <a:gd name="T10" fmla="*/ 77 w 77"/>
                  <a:gd name="T11" fmla="*/ 1 h 24"/>
                  <a:gd name="T12" fmla="*/ 77 w 77"/>
                  <a:gd name="T13" fmla="*/ 24 h 24"/>
                  <a:gd name="T14" fmla="*/ 72 w 77"/>
                  <a:gd name="T15" fmla="*/ 24 h 24"/>
                  <a:gd name="T16" fmla="*/ 67 w 77"/>
                  <a:gd name="T17" fmla="*/ 22 h 24"/>
                  <a:gd name="T18" fmla="*/ 62 w 77"/>
                  <a:gd name="T19" fmla="*/ 22 h 24"/>
                  <a:gd name="T20" fmla="*/ 57 w 77"/>
                  <a:gd name="T21" fmla="*/ 21 h 24"/>
                  <a:gd name="T22" fmla="*/ 52 w 77"/>
                  <a:gd name="T23" fmla="*/ 20 h 24"/>
                  <a:gd name="T24" fmla="*/ 47 w 77"/>
                  <a:gd name="T25" fmla="*/ 19 h 24"/>
                  <a:gd name="T26" fmla="*/ 42 w 77"/>
                  <a:gd name="T27" fmla="*/ 18 h 24"/>
                  <a:gd name="T28" fmla="*/ 38 w 77"/>
                  <a:gd name="T29" fmla="*/ 17 h 24"/>
                  <a:gd name="T30" fmla="*/ 32 w 77"/>
                  <a:gd name="T31" fmla="*/ 16 h 24"/>
                  <a:gd name="T32" fmla="*/ 27 w 77"/>
                  <a:gd name="T33" fmla="*/ 14 h 24"/>
                  <a:gd name="T34" fmla="*/ 23 w 77"/>
                  <a:gd name="T35" fmla="*/ 13 h 24"/>
                  <a:gd name="T36" fmla="*/ 19 w 77"/>
                  <a:gd name="T37" fmla="*/ 11 h 24"/>
                  <a:gd name="T38" fmla="*/ 13 w 77"/>
                  <a:gd name="T39" fmla="*/ 9 h 24"/>
                  <a:gd name="T40" fmla="*/ 9 w 77"/>
                  <a:gd name="T41" fmla="*/ 6 h 24"/>
                  <a:gd name="T42" fmla="*/ 5 w 77"/>
                  <a:gd name="T43" fmla="*/ 3 h 24"/>
                  <a:gd name="T44" fmla="*/ 0 w 77"/>
                  <a:gd name="T45" fmla="*/ 1 h 24"/>
                  <a:gd name="T46" fmla="*/ 4 w 77"/>
                  <a:gd name="T47" fmla="*/ 0 h 24"/>
                  <a:gd name="T48" fmla="*/ 7 w 77"/>
                  <a:gd name="T49" fmla="*/ 0 h 24"/>
                  <a:gd name="T50" fmla="*/ 10 w 77"/>
                  <a:gd name="T51" fmla="*/ 0 h 24"/>
                  <a:gd name="T52" fmla="*/ 13 w 77"/>
                  <a:gd name="T53" fmla="*/ 1 h 24"/>
                  <a:gd name="T54" fmla="*/ 16 w 77"/>
                  <a:gd name="T55" fmla="*/ 2 h 24"/>
                  <a:gd name="T56" fmla="*/ 20 w 77"/>
                  <a:gd name="T57" fmla="*/ 3 h 24"/>
                  <a:gd name="T58" fmla="*/ 24 w 77"/>
                  <a:gd name="T59" fmla="*/ 4 h 24"/>
                  <a:gd name="T60" fmla="*/ 27 w 77"/>
                  <a:gd name="T61" fmla="*/ 5 h 24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77"/>
                  <a:gd name="T94" fmla="*/ 0 h 24"/>
                  <a:gd name="T95" fmla="*/ 77 w 77"/>
                  <a:gd name="T96" fmla="*/ 24 h 24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77" h="24">
                    <a:moveTo>
                      <a:pt x="27" y="5"/>
                    </a:moveTo>
                    <a:lnTo>
                      <a:pt x="28" y="4"/>
                    </a:lnTo>
                    <a:lnTo>
                      <a:pt x="28" y="3"/>
                    </a:lnTo>
                    <a:lnTo>
                      <a:pt x="28" y="2"/>
                    </a:lnTo>
                    <a:lnTo>
                      <a:pt x="28" y="1"/>
                    </a:lnTo>
                    <a:lnTo>
                      <a:pt x="77" y="1"/>
                    </a:lnTo>
                    <a:lnTo>
                      <a:pt x="77" y="24"/>
                    </a:lnTo>
                    <a:lnTo>
                      <a:pt x="72" y="24"/>
                    </a:lnTo>
                    <a:lnTo>
                      <a:pt x="67" y="22"/>
                    </a:lnTo>
                    <a:lnTo>
                      <a:pt x="62" y="22"/>
                    </a:lnTo>
                    <a:lnTo>
                      <a:pt x="57" y="21"/>
                    </a:lnTo>
                    <a:lnTo>
                      <a:pt x="52" y="20"/>
                    </a:lnTo>
                    <a:lnTo>
                      <a:pt x="47" y="19"/>
                    </a:lnTo>
                    <a:lnTo>
                      <a:pt x="42" y="18"/>
                    </a:lnTo>
                    <a:lnTo>
                      <a:pt x="38" y="17"/>
                    </a:lnTo>
                    <a:lnTo>
                      <a:pt x="32" y="16"/>
                    </a:lnTo>
                    <a:lnTo>
                      <a:pt x="27" y="14"/>
                    </a:lnTo>
                    <a:lnTo>
                      <a:pt x="23" y="13"/>
                    </a:lnTo>
                    <a:lnTo>
                      <a:pt x="19" y="11"/>
                    </a:lnTo>
                    <a:lnTo>
                      <a:pt x="13" y="9"/>
                    </a:lnTo>
                    <a:lnTo>
                      <a:pt x="9" y="6"/>
                    </a:lnTo>
                    <a:lnTo>
                      <a:pt x="5" y="3"/>
                    </a:lnTo>
                    <a:lnTo>
                      <a:pt x="0" y="1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6" y="2"/>
                    </a:lnTo>
                    <a:lnTo>
                      <a:pt x="20" y="3"/>
                    </a:lnTo>
                    <a:lnTo>
                      <a:pt x="24" y="4"/>
                    </a:lnTo>
                    <a:lnTo>
                      <a:pt x="27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4945" name="Rectangle 1097"/>
            <p:cNvSpPr>
              <a:spLocks noChangeArrowheads="1"/>
            </p:cNvSpPr>
            <p:nvPr/>
          </p:nvSpPr>
          <p:spPr bwMode="auto">
            <a:xfrm>
              <a:off x="2258" y="4007"/>
              <a:ext cx="542" cy="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Pre Job Activity</a:t>
              </a:r>
              <a:endParaRPr lang="en-US" sz="1000" b="0">
                <a:latin typeface="Times New Roman" pitchFamily="18" charset="0"/>
              </a:endParaRPr>
            </a:p>
          </p:txBody>
        </p:sp>
        <p:sp>
          <p:nvSpPr>
            <p:cNvPr id="24946" name="Rectangle 1098"/>
            <p:cNvSpPr>
              <a:spLocks noChangeArrowheads="1"/>
            </p:cNvSpPr>
            <p:nvPr/>
          </p:nvSpPr>
          <p:spPr bwMode="auto">
            <a:xfrm>
              <a:off x="2704" y="3740"/>
              <a:ext cx="719" cy="1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grpSp>
          <p:nvGrpSpPr>
            <p:cNvPr id="24947" name="Group 1099"/>
            <p:cNvGrpSpPr>
              <a:grpSpLocks/>
            </p:cNvGrpSpPr>
            <p:nvPr/>
          </p:nvGrpSpPr>
          <p:grpSpPr bwMode="auto">
            <a:xfrm>
              <a:off x="2872" y="3695"/>
              <a:ext cx="326" cy="268"/>
              <a:chOff x="2492" y="3139"/>
              <a:chExt cx="331" cy="295"/>
            </a:xfrm>
          </p:grpSpPr>
          <p:sp>
            <p:nvSpPr>
              <p:cNvPr id="24965" name="Freeform 1100"/>
              <p:cNvSpPr>
                <a:spLocks/>
              </p:cNvSpPr>
              <p:nvPr/>
            </p:nvSpPr>
            <p:spPr bwMode="auto">
              <a:xfrm>
                <a:off x="2514" y="3139"/>
                <a:ext cx="285" cy="295"/>
              </a:xfrm>
              <a:custGeom>
                <a:avLst/>
                <a:gdLst>
                  <a:gd name="T0" fmla="*/ 227 w 285"/>
                  <a:gd name="T1" fmla="*/ 295 h 295"/>
                  <a:gd name="T2" fmla="*/ 238 w 285"/>
                  <a:gd name="T3" fmla="*/ 295 h 295"/>
                  <a:gd name="T4" fmla="*/ 247 w 285"/>
                  <a:gd name="T5" fmla="*/ 292 h 295"/>
                  <a:gd name="T6" fmla="*/ 254 w 285"/>
                  <a:gd name="T7" fmla="*/ 289 h 295"/>
                  <a:gd name="T8" fmla="*/ 262 w 285"/>
                  <a:gd name="T9" fmla="*/ 284 h 295"/>
                  <a:gd name="T10" fmla="*/ 268 w 285"/>
                  <a:gd name="T11" fmla="*/ 278 h 295"/>
                  <a:gd name="T12" fmla="*/ 274 w 285"/>
                  <a:gd name="T13" fmla="*/ 272 h 295"/>
                  <a:gd name="T14" fmla="*/ 279 w 285"/>
                  <a:gd name="T15" fmla="*/ 263 h 295"/>
                  <a:gd name="T16" fmla="*/ 282 w 285"/>
                  <a:gd name="T17" fmla="*/ 255 h 295"/>
                  <a:gd name="T18" fmla="*/ 285 w 285"/>
                  <a:gd name="T19" fmla="*/ 246 h 295"/>
                  <a:gd name="T20" fmla="*/ 285 w 285"/>
                  <a:gd name="T21" fmla="*/ 236 h 295"/>
                  <a:gd name="T22" fmla="*/ 285 w 285"/>
                  <a:gd name="T23" fmla="*/ 58 h 295"/>
                  <a:gd name="T24" fmla="*/ 285 w 285"/>
                  <a:gd name="T25" fmla="*/ 49 h 295"/>
                  <a:gd name="T26" fmla="*/ 282 w 285"/>
                  <a:gd name="T27" fmla="*/ 40 h 295"/>
                  <a:gd name="T28" fmla="*/ 279 w 285"/>
                  <a:gd name="T29" fmla="*/ 32 h 295"/>
                  <a:gd name="T30" fmla="*/ 274 w 285"/>
                  <a:gd name="T31" fmla="*/ 23 h 295"/>
                  <a:gd name="T32" fmla="*/ 268 w 285"/>
                  <a:gd name="T33" fmla="*/ 17 h 295"/>
                  <a:gd name="T34" fmla="*/ 262 w 285"/>
                  <a:gd name="T35" fmla="*/ 11 h 295"/>
                  <a:gd name="T36" fmla="*/ 254 w 285"/>
                  <a:gd name="T37" fmla="*/ 6 h 295"/>
                  <a:gd name="T38" fmla="*/ 247 w 285"/>
                  <a:gd name="T39" fmla="*/ 3 h 295"/>
                  <a:gd name="T40" fmla="*/ 238 w 285"/>
                  <a:gd name="T41" fmla="*/ 0 h 295"/>
                  <a:gd name="T42" fmla="*/ 227 w 285"/>
                  <a:gd name="T43" fmla="*/ 0 h 295"/>
                  <a:gd name="T44" fmla="*/ 57 w 285"/>
                  <a:gd name="T45" fmla="*/ 0 h 295"/>
                  <a:gd name="T46" fmla="*/ 48 w 285"/>
                  <a:gd name="T47" fmla="*/ 0 h 295"/>
                  <a:gd name="T48" fmla="*/ 39 w 285"/>
                  <a:gd name="T49" fmla="*/ 3 h 295"/>
                  <a:gd name="T50" fmla="*/ 31 w 285"/>
                  <a:gd name="T51" fmla="*/ 6 h 295"/>
                  <a:gd name="T52" fmla="*/ 23 w 285"/>
                  <a:gd name="T53" fmla="*/ 11 h 295"/>
                  <a:gd name="T54" fmla="*/ 17 w 285"/>
                  <a:gd name="T55" fmla="*/ 17 h 295"/>
                  <a:gd name="T56" fmla="*/ 11 w 285"/>
                  <a:gd name="T57" fmla="*/ 23 h 295"/>
                  <a:gd name="T58" fmla="*/ 6 w 285"/>
                  <a:gd name="T59" fmla="*/ 32 h 295"/>
                  <a:gd name="T60" fmla="*/ 3 w 285"/>
                  <a:gd name="T61" fmla="*/ 40 h 295"/>
                  <a:gd name="T62" fmla="*/ 1 w 285"/>
                  <a:gd name="T63" fmla="*/ 49 h 295"/>
                  <a:gd name="T64" fmla="*/ 0 w 285"/>
                  <a:gd name="T65" fmla="*/ 58 h 295"/>
                  <a:gd name="T66" fmla="*/ 0 w 285"/>
                  <a:gd name="T67" fmla="*/ 236 h 295"/>
                  <a:gd name="T68" fmla="*/ 1 w 285"/>
                  <a:gd name="T69" fmla="*/ 246 h 295"/>
                  <a:gd name="T70" fmla="*/ 3 w 285"/>
                  <a:gd name="T71" fmla="*/ 255 h 295"/>
                  <a:gd name="T72" fmla="*/ 6 w 285"/>
                  <a:gd name="T73" fmla="*/ 263 h 295"/>
                  <a:gd name="T74" fmla="*/ 11 w 285"/>
                  <a:gd name="T75" fmla="*/ 272 h 295"/>
                  <a:gd name="T76" fmla="*/ 17 w 285"/>
                  <a:gd name="T77" fmla="*/ 278 h 295"/>
                  <a:gd name="T78" fmla="*/ 23 w 285"/>
                  <a:gd name="T79" fmla="*/ 284 h 295"/>
                  <a:gd name="T80" fmla="*/ 31 w 285"/>
                  <a:gd name="T81" fmla="*/ 289 h 295"/>
                  <a:gd name="T82" fmla="*/ 39 w 285"/>
                  <a:gd name="T83" fmla="*/ 292 h 295"/>
                  <a:gd name="T84" fmla="*/ 48 w 285"/>
                  <a:gd name="T85" fmla="*/ 295 h 295"/>
                  <a:gd name="T86" fmla="*/ 57 w 285"/>
                  <a:gd name="T87" fmla="*/ 295 h 295"/>
                  <a:gd name="T88" fmla="*/ 227 w 285"/>
                  <a:gd name="T89" fmla="*/ 295 h 295"/>
                  <a:gd name="T90" fmla="*/ 227 w 285"/>
                  <a:gd name="T91" fmla="*/ 295 h 295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285"/>
                  <a:gd name="T139" fmla="*/ 0 h 295"/>
                  <a:gd name="T140" fmla="*/ 285 w 285"/>
                  <a:gd name="T141" fmla="*/ 295 h 295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285" h="295">
                    <a:moveTo>
                      <a:pt x="227" y="295"/>
                    </a:moveTo>
                    <a:lnTo>
                      <a:pt x="238" y="295"/>
                    </a:lnTo>
                    <a:lnTo>
                      <a:pt x="247" y="292"/>
                    </a:lnTo>
                    <a:lnTo>
                      <a:pt x="254" y="289"/>
                    </a:lnTo>
                    <a:lnTo>
                      <a:pt x="262" y="284"/>
                    </a:lnTo>
                    <a:lnTo>
                      <a:pt x="268" y="278"/>
                    </a:lnTo>
                    <a:lnTo>
                      <a:pt x="274" y="272"/>
                    </a:lnTo>
                    <a:lnTo>
                      <a:pt x="279" y="263"/>
                    </a:lnTo>
                    <a:lnTo>
                      <a:pt x="282" y="255"/>
                    </a:lnTo>
                    <a:lnTo>
                      <a:pt x="285" y="246"/>
                    </a:lnTo>
                    <a:lnTo>
                      <a:pt x="285" y="236"/>
                    </a:lnTo>
                    <a:lnTo>
                      <a:pt x="285" y="58"/>
                    </a:lnTo>
                    <a:lnTo>
                      <a:pt x="285" y="49"/>
                    </a:lnTo>
                    <a:lnTo>
                      <a:pt x="282" y="40"/>
                    </a:lnTo>
                    <a:lnTo>
                      <a:pt x="279" y="32"/>
                    </a:lnTo>
                    <a:lnTo>
                      <a:pt x="274" y="23"/>
                    </a:lnTo>
                    <a:lnTo>
                      <a:pt x="268" y="17"/>
                    </a:lnTo>
                    <a:lnTo>
                      <a:pt x="262" y="11"/>
                    </a:lnTo>
                    <a:lnTo>
                      <a:pt x="254" y="6"/>
                    </a:lnTo>
                    <a:lnTo>
                      <a:pt x="247" y="3"/>
                    </a:lnTo>
                    <a:lnTo>
                      <a:pt x="238" y="0"/>
                    </a:lnTo>
                    <a:lnTo>
                      <a:pt x="227" y="0"/>
                    </a:lnTo>
                    <a:lnTo>
                      <a:pt x="57" y="0"/>
                    </a:lnTo>
                    <a:lnTo>
                      <a:pt x="48" y="0"/>
                    </a:lnTo>
                    <a:lnTo>
                      <a:pt x="39" y="3"/>
                    </a:lnTo>
                    <a:lnTo>
                      <a:pt x="31" y="6"/>
                    </a:lnTo>
                    <a:lnTo>
                      <a:pt x="23" y="11"/>
                    </a:lnTo>
                    <a:lnTo>
                      <a:pt x="17" y="17"/>
                    </a:lnTo>
                    <a:lnTo>
                      <a:pt x="11" y="23"/>
                    </a:lnTo>
                    <a:lnTo>
                      <a:pt x="6" y="32"/>
                    </a:lnTo>
                    <a:lnTo>
                      <a:pt x="3" y="40"/>
                    </a:lnTo>
                    <a:lnTo>
                      <a:pt x="1" y="49"/>
                    </a:lnTo>
                    <a:lnTo>
                      <a:pt x="0" y="58"/>
                    </a:lnTo>
                    <a:lnTo>
                      <a:pt x="0" y="236"/>
                    </a:lnTo>
                    <a:lnTo>
                      <a:pt x="1" y="246"/>
                    </a:lnTo>
                    <a:lnTo>
                      <a:pt x="3" y="255"/>
                    </a:lnTo>
                    <a:lnTo>
                      <a:pt x="6" y="263"/>
                    </a:lnTo>
                    <a:lnTo>
                      <a:pt x="11" y="272"/>
                    </a:lnTo>
                    <a:lnTo>
                      <a:pt x="17" y="278"/>
                    </a:lnTo>
                    <a:lnTo>
                      <a:pt x="23" y="284"/>
                    </a:lnTo>
                    <a:lnTo>
                      <a:pt x="31" y="289"/>
                    </a:lnTo>
                    <a:lnTo>
                      <a:pt x="39" y="292"/>
                    </a:lnTo>
                    <a:lnTo>
                      <a:pt x="48" y="295"/>
                    </a:lnTo>
                    <a:lnTo>
                      <a:pt x="57" y="295"/>
                    </a:lnTo>
                    <a:lnTo>
                      <a:pt x="227" y="29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66" name="Freeform 1101"/>
              <p:cNvSpPr>
                <a:spLocks/>
              </p:cNvSpPr>
              <p:nvPr/>
            </p:nvSpPr>
            <p:spPr bwMode="auto">
              <a:xfrm>
                <a:off x="2492" y="3152"/>
                <a:ext cx="178" cy="185"/>
              </a:xfrm>
              <a:custGeom>
                <a:avLst/>
                <a:gdLst>
                  <a:gd name="T0" fmla="*/ 156 w 178"/>
                  <a:gd name="T1" fmla="*/ 103 h 185"/>
                  <a:gd name="T2" fmla="*/ 156 w 178"/>
                  <a:gd name="T3" fmla="*/ 100 h 185"/>
                  <a:gd name="T4" fmla="*/ 156 w 178"/>
                  <a:gd name="T5" fmla="*/ 97 h 185"/>
                  <a:gd name="T6" fmla="*/ 156 w 178"/>
                  <a:gd name="T7" fmla="*/ 94 h 185"/>
                  <a:gd name="T8" fmla="*/ 156 w 178"/>
                  <a:gd name="T9" fmla="*/ 91 h 185"/>
                  <a:gd name="T10" fmla="*/ 156 w 178"/>
                  <a:gd name="T11" fmla="*/ 88 h 185"/>
                  <a:gd name="T12" fmla="*/ 156 w 178"/>
                  <a:gd name="T13" fmla="*/ 85 h 185"/>
                  <a:gd name="T14" fmla="*/ 178 w 178"/>
                  <a:gd name="T15" fmla="*/ 76 h 185"/>
                  <a:gd name="T16" fmla="*/ 148 w 178"/>
                  <a:gd name="T17" fmla="*/ 58 h 185"/>
                  <a:gd name="T18" fmla="*/ 145 w 178"/>
                  <a:gd name="T19" fmla="*/ 54 h 185"/>
                  <a:gd name="T20" fmla="*/ 141 w 178"/>
                  <a:gd name="T21" fmla="*/ 49 h 185"/>
                  <a:gd name="T22" fmla="*/ 137 w 178"/>
                  <a:gd name="T23" fmla="*/ 44 h 185"/>
                  <a:gd name="T24" fmla="*/ 119 w 178"/>
                  <a:gd name="T25" fmla="*/ 30 h 185"/>
                  <a:gd name="T26" fmla="*/ 114 w 178"/>
                  <a:gd name="T27" fmla="*/ 28 h 185"/>
                  <a:gd name="T28" fmla="*/ 108 w 178"/>
                  <a:gd name="T29" fmla="*/ 26 h 185"/>
                  <a:gd name="T30" fmla="*/ 103 w 178"/>
                  <a:gd name="T31" fmla="*/ 24 h 185"/>
                  <a:gd name="T32" fmla="*/ 77 w 178"/>
                  <a:gd name="T33" fmla="*/ 0 h 185"/>
                  <a:gd name="T34" fmla="*/ 74 w 178"/>
                  <a:gd name="T35" fmla="*/ 25 h 185"/>
                  <a:gd name="T36" fmla="*/ 69 w 178"/>
                  <a:gd name="T37" fmla="*/ 26 h 185"/>
                  <a:gd name="T38" fmla="*/ 63 w 178"/>
                  <a:gd name="T39" fmla="*/ 28 h 185"/>
                  <a:gd name="T40" fmla="*/ 46 w 178"/>
                  <a:gd name="T41" fmla="*/ 11 h 185"/>
                  <a:gd name="T42" fmla="*/ 39 w 178"/>
                  <a:gd name="T43" fmla="*/ 46 h 185"/>
                  <a:gd name="T44" fmla="*/ 36 w 178"/>
                  <a:gd name="T45" fmla="*/ 51 h 185"/>
                  <a:gd name="T46" fmla="*/ 32 w 178"/>
                  <a:gd name="T47" fmla="*/ 55 h 185"/>
                  <a:gd name="T48" fmla="*/ 30 w 178"/>
                  <a:gd name="T49" fmla="*/ 60 h 185"/>
                  <a:gd name="T50" fmla="*/ 23 w 178"/>
                  <a:gd name="T51" fmla="*/ 83 h 185"/>
                  <a:gd name="T52" fmla="*/ 23 w 178"/>
                  <a:gd name="T53" fmla="*/ 87 h 185"/>
                  <a:gd name="T54" fmla="*/ 22 w 178"/>
                  <a:gd name="T55" fmla="*/ 89 h 185"/>
                  <a:gd name="T56" fmla="*/ 22 w 178"/>
                  <a:gd name="T57" fmla="*/ 92 h 185"/>
                  <a:gd name="T58" fmla="*/ 22 w 178"/>
                  <a:gd name="T59" fmla="*/ 94 h 185"/>
                  <a:gd name="T60" fmla="*/ 22 w 178"/>
                  <a:gd name="T61" fmla="*/ 98 h 185"/>
                  <a:gd name="T62" fmla="*/ 23 w 178"/>
                  <a:gd name="T63" fmla="*/ 101 h 185"/>
                  <a:gd name="T64" fmla="*/ 0 w 178"/>
                  <a:gd name="T65" fmla="*/ 109 h 185"/>
                  <a:gd name="T66" fmla="*/ 31 w 178"/>
                  <a:gd name="T67" fmla="*/ 128 h 185"/>
                  <a:gd name="T68" fmla="*/ 35 w 178"/>
                  <a:gd name="T69" fmla="*/ 132 h 185"/>
                  <a:gd name="T70" fmla="*/ 37 w 178"/>
                  <a:gd name="T71" fmla="*/ 137 h 185"/>
                  <a:gd name="T72" fmla="*/ 41 w 178"/>
                  <a:gd name="T73" fmla="*/ 141 h 185"/>
                  <a:gd name="T74" fmla="*/ 60 w 178"/>
                  <a:gd name="T75" fmla="*/ 155 h 185"/>
                  <a:gd name="T76" fmla="*/ 64 w 178"/>
                  <a:gd name="T77" fmla="*/ 159 h 185"/>
                  <a:gd name="T78" fmla="*/ 71 w 178"/>
                  <a:gd name="T79" fmla="*/ 160 h 185"/>
                  <a:gd name="T80" fmla="*/ 75 w 178"/>
                  <a:gd name="T81" fmla="*/ 162 h 185"/>
                  <a:gd name="T82" fmla="*/ 101 w 178"/>
                  <a:gd name="T83" fmla="*/ 185 h 185"/>
                  <a:gd name="T84" fmla="*/ 105 w 178"/>
                  <a:gd name="T85" fmla="*/ 161 h 185"/>
                  <a:gd name="T86" fmla="*/ 110 w 178"/>
                  <a:gd name="T87" fmla="*/ 160 h 185"/>
                  <a:gd name="T88" fmla="*/ 115 w 178"/>
                  <a:gd name="T89" fmla="*/ 157 h 185"/>
                  <a:gd name="T90" fmla="*/ 133 w 178"/>
                  <a:gd name="T91" fmla="*/ 175 h 185"/>
                  <a:gd name="T92" fmla="*/ 139 w 178"/>
                  <a:gd name="T93" fmla="*/ 139 h 185"/>
                  <a:gd name="T94" fmla="*/ 142 w 178"/>
                  <a:gd name="T95" fmla="*/ 135 h 185"/>
                  <a:gd name="T96" fmla="*/ 146 w 178"/>
                  <a:gd name="T97" fmla="*/ 131 h 185"/>
                  <a:gd name="T98" fmla="*/ 148 w 178"/>
                  <a:gd name="T99" fmla="*/ 127 h 185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78"/>
                  <a:gd name="T151" fmla="*/ 0 h 185"/>
                  <a:gd name="T152" fmla="*/ 178 w 178"/>
                  <a:gd name="T153" fmla="*/ 185 h 185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78" h="185">
                    <a:moveTo>
                      <a:pt x="170" y="133"/>
                    </a:moveTo>
                    <a:lnTo>
                      <a:pt x="178" y="109"/>
                    </a:lnTo>
                    <a:lnTo>
                      <a:pt x="156" y="103"/>
                    </a:lnTo>
                    <a:lnTo>
                      <a:pt x="156" y="101"/>
                    </a:lnTo>
                    <a:lnTo>
                      <a:pt x="156" y="100"/>
                    </a:lnTo>
                    <a:lnTo>
                      <a:pt x="156" y="99"/>
                    </a:lnTo>
                    <a:lnTo>
                      <a:pt x="156" y="98"/>
                    </a:lnTo>
                    <a:lnTo>
                      <a:pt x="156" y="97"/>
                    </a:lnTo>
                    <a:lnTo>
                      <a:pt x="156" y="96"/>
                    </a:lnTo>
                    <a:lnTo>
                      <a:pt x="156" y="94"/>
                    </a:lnTo>
                    <a:lnTo>
                      <a:pt x="156" y="92"/>
                    </a:lnTo>
                    <a:lnTo>
                      <a:pt x="156" y="91"/>
                    </a:lnTo>
                    <a:lnTo>
                      <a:pt x="156" y="90"/>
                    </a:lnTo>
                    <a:lnTo>
                      <a:pt x="156" y="89"/>
                    </a:lnTo>
                    <a:lnTo>
                      <a:pt x="156" y="88"/>
                    </a:lnTo>
                    <a:lnTo>
                      <a:pt x="156" y="87"/>
                    </a:lnTo>
                    <a:lnTo>
                      <a:pt x="156" y="85"/>
                    </a:lnTo>
                    <a:lnTo>
                      <a:pt x="156" y="83"/>
                    </a:lnTo>
                    <a:lnTo>
                      <a:pt x="178" y="76"/>
                    </a:lnTo>
                    <a:lnTo>
                      <a:pt x="170" y="53"/>
                    </a:lnTo>
                    <a:lnTo>
                      <a:pt x="148" y="60"/>
                    </a:lnTo>
                    <a:lnTo>
                      <a:pt x="148" y="58"/>
                    </a:lnTo>
                    <a:lnTo>
                      <a:pt x="147" y="57"/>
                    </a:lnTo>
                    <a:lnTo>
                      <a:pt x="146" y="55"/>
                    </a:lnTo>
                    <a:lnTo>
                      <a:pt x="145" y="54"/>
                    </a:lnTo>
                    <a:lnTo>
                      <a:pt x="144" y="52"/>
                    </a:lnTo>
                    <a:lnTo>
                      <a:pt x="142" y="51"/>
                    </a:lnTo>
                    <a:lnTo>
                      <a:pt x="141" y="49"/>
                    </a:lnTo>
                    <a:lnTo>
                      <a:pt x="140" y="47"/>
                    </a:lnTo>
                    <a:lnTo>
                      <a:pt x="139" y="46"/>
                    </a:lnTo>
                    <a:lnTo>
                      <a:pt x="137" y="44"/>
                    </a:lnTo>
                    <a:lnTo>
                      <a:pt x="151" y="25"/>
                    </a:lnTo>
                    <a:lnTo>
                      <a:pt x="133" y="11"/>
                    </a:lnTo>
                    <a:lnTo>
                      <a:pt x="119" y="30"/>
                    </a:lnTo>
                    <a:lnTo>
                      <a:pt x="117" y="29"/>
                    </a:lnTo>
                    <a:lnTo>
                      <a:pt x="115" y="28"/>
                    </a:lnTo>
                    <a:lnTo>
                      <a:pt x="114" y="28"/>
                    </a:lnTo>
                    <a:lnTo>
                      <a:pt x="111" y="27"/>
                    </a:lnTo>
                    <a:lnTo>
                      <a:pt x="110" y="26"/>
                    </a:lnTo>
                    <a:lnTo>
                      <a:pt x="108" y="26"/>
                    </a:lnTo>
                    <a:lnTo>
                      <a:pt x="107" y="25"/>
                    </a:lnTo>
                    <a:lnTo>
                      <a:pt x="105" y="25"/>
                    </a:lnTo>
                    <a:lnTo>
                      <a:pt x="103" y="24"/>
                    </a:lnTo>
                    <a:lnTo>
                      <a:pt x="101" y="24"/>
                    </a:lnTo>
                    <a:lnTo>
                      <a:pt x="101" y="0"/>
                    </a:lnTo>
                    <a:lnTo>
                      <a:pt x="77" y="0"/>
                    </a:lnTo>
                    <a:lnTo>
                      <a:pt x="77" y="24"/>
                    </a:lnTo>
                    <a:lnTo>
                      <a:pt x="75" y="24"/>
                    </a:lnTo>
                    <a:lnTo>
                      <a:pt x="74" y="25"/>
                    </a:lnTo>
                    <a:lnTo>
                      <a:pt x="72" y="25"/>
                    </a:lnTo>
                    <a:lnTo>
                      <a:pt x="71" y="26"/>
                    </a:lnTo>
                    <a:lnTo>
                      <a:pt x="69" y="26"/>
                    </a:lnTo>
                    <a:lnTo>
                      <a:pt x="67" y="27"/>
                    </a:lnTo>
                    <a:lnTo>
                      <a:pt x="64" y="28"/>
                    </a:lnTo>
                    <a:lnTo>
                      <a:pt x="63" y="28"/>
                    </a:lnTo>
                    <a:lnTo>
                      <a:pt x="61" y="29"/>
                    </a:lnTo>
                    <a:lnTo>
                      <a:pt x="60" y="30"/>
                    </a:lnTo>
                    <a:lnTo>
                      <a:pt x="46" y="11"/>
                    </a:lnTo>
                    <a:lnTo>
                      <a:pt x="27" y="25"/>
                    </a:lnTo>
                    <a:lnTo>
                      <a:pt x="41" y="44"/>
                    </a:lnTo>
                    <a:lnTo>
                      <a:pt x="39" y="46"/>
                    </a:lnTo>
                    <a:lnTo>
                      <a:pt x="38" y="47"/>
                    </a:lnTo>
                    <a:lnTo>
                      <a:pt x="37" y="49"/>
                    </a:lnTo>
                    <a:lnTo>
                      <a:pt x="36" y="51"/>
                    </a:lnTo>
                    <a:lnTo>
                      <a:pt x="35" y="52"/>
                    </a:lnTo>
                    <a:lnTo>
                      <a:pt x="35" y="54"/>
                    </a:lnTo>
                    <a:lnTo>
                      <a:pt x="32" y="55"/>
                    </a:lnTo>
                    <a:lnTo>
                      <a:pt x="31" y="57"/>
                    </a:lnTo>
                    <a:lnTo>
                      <a:pt x="31" y="58"/>
                    </a:lnTo>
                    <a:lnTo>
                      <a:pt x="30" y="60"/>
                    </a:lnTo>
                    <a:lnTo>
                      <a:pt x="9" y="53"/>
                    </a:lnTo>
                    <a:lnTo>
                      <a:pt x="0" y="76"/>
                    </a:lnTo>
                    <a:lnTo>
                      <a:pt x="23" y="83"/>
                    </a:lnTo>
                    <a:lnTo>
                      <a:pt x="23" y="85"/>
                    </a:lnTo>
                    <a:lnTo>
                      <a:pt x="23" y="87"/>
                    </a:lnTo>
                    <a:lnTo>
                      <a:pt x="22" y="87"/>
                    </a:lnTo>
                    <a:lnTo>
                      <a:pt x="22" y="88"/>
                    </a:lnTo>
                    <a:lnTo>
                      <a:pt x="22" y="89"/>
                    </a:lnTo>
                    <a:lnTo>
                      <a:pt x="22" y="90"/>
                    </a:lnTo>
                    <a:lnTo>
                      <a:pt x="22" y="91"/>
                    </a:lnTo>
                    <a:lnTo>
                      <a:pt x="22" y="92"/>
                    </a:lnTo>
                    <a:lnTo>
                      <a:pt x="22" y="94"/>
                    </a:lnTo>
                    <a:lnTo>
                      <a:pt x="22" y="96"/>
                    </a:lnTo>
                    <a:lnTo>
                      <a:pt x="22" y="97"/>
                    </a:lnTo>
                    <a:lnTo>
                      <a:pt x="22" y="98"/>
                    </a:lnTo>
                    <a:lnTo>
                      <a:pt x="22" y="99"/>
                    </a:lnTo>
                    <a:lnTo>
                      <a:pt x="23" y="100"/>
                    </a:lnTo>
                    <a:lnTo>
                      <a:pt x="23" y="101"/>
                    </a:lnTo>
                    <a:lnTo>
                      <a:pt x="23" y="103"/>
                    </a:lnTo>
                    <a:lnTo>
                      <a:pt x="0" y="109"/>
                    </a:lnTo>
                    <a:lnTo>
                      <a:pt x="9" y="133"/>
                    </a:lnTo>
                    <a:lnTo>
                      <a:pt x="30" y="127"/>
                    </a:lnTo>
                    <a:lnTo>
                      <a:pt x="31" y="128"/>
                    </a:lnTo>
                    <a:lnTo>
                      <a:pt x="31" y="129"/>
                    </a:lnTo>
                    <a:lnTo>
                      <a:pt x="32" y="131"/>
                    </a:lnTo>
                    <a:lnTo>
                      <a:pt x="35" y="132"/>
                    </a:lnTo>
                    <a:lnTo>
                      <a:pt x="35" y="134"/>
                    </a:lnTo>
                    <a:lnTo>
                      <a:pt x="36" y="135"/>
                    </a:lnTo>
                    <a:lnTo>
                      <a:pt x="37" y="137"/>
                    </a:lnTo>
                    <a:lnTo>
                      <a:pt x="38" y="138"/>
                    </a:lnTo>
                    <a:lnTo>
                      <a:pt x="39" y="139"/>
                    </a:lnTo>
                    <a:lnTo>
                      <a:pt x="41" y="141"/>
                    </a:lnTo>
                    <a:lnTo>
                      <a:pt x="27" y="161"/>
                    </a:lnTo>
                    <a:lnTo>
                      <a:pt x="46" y="175"/>
                    </a:lnTo>
                    <a:lnTo>
                      <a:pt x="60" y="155"/>
                    </a:lnTo>
                    <a:lnTo>
                      <a:pt x="61" y="156"/>
                    </a:lnTo>
                    <a:lnTo>
                      <a:pt x="63" y="157"/>
                    </a:lnTo>
                    <a:lnTo>
                      <a:pt x="64" y="159"/>
                    </a:lnTo>
                    <a:lnTo>
                      <a:pt x="67" y="159"/>
                    </a:lnTo>
                    <a:lnTo>
                      <a:pt x="69" y="160"/>
                    </a:lnTo>
                    <a:lnTo>
                      <a:pt x="71" y="160"/>
                    </a:lnTo>
                    <a:lnTo>
                      <a:pt x="72" y="160"/>
                    </a:lnTo>
                    <a:lnTo>
                      <a:pt x="74" y="161"/>
                    </a:lnTo>
                    <a:lnTo>
                      <a:pt x="75" y="162"/>
                    </a:lnTo>
                    <a:lnTo>
                      <a:pt x="77" y="162"/>
                    </a:lnTo>
                    <a:lnTo>
                      <a:pt x="77" y="185"/>
                    </a:lnTo>
                    <a:lnTo>
                      <a:pt x="101" y="185"/>
                    </a:lnTo>
                    <a:lnTo>
                      <a:pt x="101" y="162"/>
                    </a:lnTo>
                    <a:lnTo>
                      <a:pt x="103" y="162"/>
                    </a:lnTo>
                    <a:lnTo>
                      <a:pt x="105" y="161"/>
                    </a:lnTo>
                    <a:lnTo>
                      <a:pt x="107" y="160"/>
                    </a:lnTo>
                    <a:lnTo>
                      <a:pt x="108" y="160"/>
                    </a:lnTo>
                    <a:lnTo>
                      <a:pt x="110" y="160"/>
                    </a:lnTo>
                    <a:lnTo>
                      <a:pt x="111" y="159"/>
                    </a:lnTo>
                    <a:lnTo>
                      <a:pt x="114" y="157"/>
                    </a:lnTo>
                    <a:lnTo>
                      <a:pt x="115" y="157"/>
                    </a:lnTo>
                    <a:lnTo>
                      <a:pt x="117" y="156"/>
                    </a:lnTo>
                    <a:lnTo>
                      <a:pt x="119" y="155"/>
                    </a:lnTo>
                    <a:lnTo>
                      <a:pt x="133" y="175"/>
                    </a:lnTo>
                    <a:lnTo>
                      <a:pt x="151" y="161"/>
                    </a:lnTo>
                    <a:lnTo>
                      <a:pt x="137" y="141"/>
                    </a:lnTo>
                    <a:lnTo>
                      <a:pt x="139" y="139"/>
                    </a:lnTo>
                    <a:lnTo>
                      <a:pt x="140" y="138"/>
                    </a:lnTo>
                    <a:lnTo>
                      <a:pt x="141" y="137"/>
                    </a:lnTo>
                    <a:lnTo>
                      <a:pt x="142" y="135"/>
                    </a:lnTo>
                    <a:lnTo>
                      <a:pt x="144" y="134"/>
                    </a:lnTo>
                    <a:lnTo>
                      <a:pt x="145" y="132"/>
                    </a:lnTo>
                    <a:lnTo>
                      <a:pt x="146" y="131"/>
                    </a:lnTo>
                    <a:lnTo>
                      <a:pt x="147" y="129"/>
                    </a:lnTo>
                    <a:lnTo>
                      <a:pt x="148" y="128"/>
                    </a:lnTo>
                    <a:lnTo>
                      <a:pt x="148" y="127"/>
                    </a:lnTo>
                    <a:lnTo>
                      <a:pt x="170" y="13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67" name="Freeform 1102"/>
              <p:cNvSpPr>
                <a:spLocks/>
              </p:cNvSpPr>
              <p:nvPr/>
            </p:nvSpPr>
            <p:spPr bwMode="auto">
              <a:xfrm>
                <a:off x="2645" y="3234"/>
                <a:ext cx="178" cy="184"/>
              </a:xfrm>
              <a:custGeom>
                <a:avLst/>
                <a:gdLst>
                  <a:gd name="T0" fmla="*/ 156 w 178"/>
                  <a:gd name="T1" fmla="*/ 102 h 184"/>
                  <a:gd name="T2" fmla="*/ 156 w 178"/>
                  <a:gd name="T3" fmla="*/ 99 h 184"/>
                  <a:gd name="T4" fmla="*/ 156 w 178"/>
                  <a:gd name="T5" fmla="*/ 96 h 184"/>
                  <a:gd name="T6" fmla="*/ 156 w 178"/>
                  <a:gd name="T7" fmla="*/ 94 h 184"/>
                  <a:gd name="T8" fmla="*/ 156 w 178"/>
                  <a:gd name="T9" fmla="*/ 90 h 184"/>
                  <a:gd name="T10" fmla="*/ 156 w 178"/>
                  <a:gd name="T11" fmla="*/ 87 h 184"/>
                  <a:gd name="T12" fmla="*/ 156 w 178"/>
                  <a:gd name="T13" fmla="*/ 84 h 184"/>
                  <a:gd name="T14" fmla="*/ 178 w 178"/>
                  <a:gd name="T15" fmla="*/ 75 h 184"/>
                  <a:gd name="T16" fmla="*/ 148 w 178"/>
                  <a:gd name="T17" fmla="*/ 58 h 184"/>
                  <a:gd name="T18" fmla="*/ 144 w 178"/>
                  <a:gd name="T19" fmla="*/ 53 h 184"/>
                  <a:gd name="T20" fmla="*/ 141 w 178"/>
                  <a:gd name="T21" fmla="*/ 48 h 184"/>
                  <a:gd name="T22" fmla="*/ 137 w 178"/>
                  <a:gd name="T23" fmla="*/ 45 h 184"/>
                  <a:gd name="T24" fmla="*/ 119 w 178"/>
                  <a:gd name="T25" fmla="*/ 30 h 184"/>
                  <a:gd name="T26" fmla="*/ 113 w 178"/>
                  <a:gd name="T27" fmla="*/ 27 h 184"/>
                  <a:gd name="T28" fmla="*/ 108 w 178"/>
                  <a:gd name="T29" fmla="*/ 25 h 184"/>
                  <a:gd name="T30" fmla="*/ 103 w 178"/>
                  <a:gd name="T31" fmla="*/ 23 h 184"/>
                  <a:gd name="T32" fmla="*/ 77 w 178"/>
                  <a:gd name="T33" fmla="*/ 0 h 184"/>
                  <a:gd name="T34" fmla="*/ 74 w 178"/>
                  <a:gd name="T35" fmla="*/ 24 h 184"/>
                  <a:gd name="T36" fmla="*/ 69 w 178"/>
                  <a:gd name="T37" fmla="*/ 25 h 184"/>
                  <a:gd name="T38" fmla="*/ 63 w 178"/>
                  <a:gd name="T39" fmla="*/ 27 h 184"/>
                  <a:gd name="T40" fmla="*/ 46 w 178"/>
                  <a:gd name="T41" fmla="*/ 10 h 184"/>
                  <a:gd name="T42" fmla="*/ 39 w 178"/>
                  <a:gd name="T43" fmla="*/ 46 h 184"/>
                  <a:gd name="T44" fmla="*/ 35 w 178"/>
                  <a:gd name="T45" fmla="*/ 50 h 184"/>
                  <a:gd name="T46" fmla="*/ 32 w 178"/>
                  <a:gd name="T47" fmla="*/ 54 h 184"/>
                  <a:gd name="T48" fmla="*/ 30 w 178"/>
                  <a:gd name="T49" fmla="*/ 59 h 184"/>
                  <a:gd name="T50" fmla="*/ 23 w 178"/>
                  <a:gd name="T51" fmla="*/ 82 h 184"/>
                  <a:gd name="T52" fmla="*/ 23 w 178"/>
                  <a:gd name="T53" fmla="*/ 86 h 184"/>
                  <a:gd name="T54" fmla="*/ 22 w 178"/>
                  <a:gd name="T55" fmla="*/ 88 h 184"/>
                  <a:gd name="T56" fmla="*/ 22 w 178"/>
                  <a:gd name="T57" fmla="*/ 92 h 184"/>
                  <a:gd name="T58" fmla="*/ 22 w 178"/>
                  <a:gd name="T59" fmla="*/ 95 h 184"/>
                  <a:gd name="T60" fmla="*/ 22 w 178"/>
                  <a:gd name="T61" fmla="*/ 97 h 184"/>
                  <a:gd name="T62" fmla="*/ 23 w 178"/>
                  <a:gd name="T63" fmla="*/ 100 h 184"/>
                  <a:gd name="T64" fmla="*/ 0 w 178"/>
                  <a:gd name="T65" fmla="*/ 109 h 184"/>
                  <a:gd name="T66" fmla="*/ 31 w 178"/>
                  <a:gd name="T67" fmla="*/ 127 h 184"/>
                  <a:gd name="T68" fmla="*/ 34 w 178"/>
                  <a:gd name="T69" fmla="*/ 132 h 184"/>
                  <a:gd name="T70" fmla="*/ 36 w 178"/>
                  <a:gd name="T71" fmla="*/ 136 h 184"/>
                  <a:gd name="T72" fmla="*/ 41 w 178"/>
                  <a:gd name="T73" fmla="*/ 141 h 184"/>
                  <a:gd name="T74" fmla="*/ 60 w 178"/>
                  <a:gd name="T75" fmla="*/ 155 h 184"/>
                  <a:gd name="T76" fmla="*/ 64 w 178"/>
                  <a:gd name="T77" fmla="*/ 158 h 184"/>
                  <a:gd name="T78" fmla="*/ 71 w 178"/>
                  <a:gd name="T79" fmla="*/ 159 h 184"/>
                  <a:gd name="T80" fmla="*/ 75 w 178"/>
                  <a:gd name="T81" fmla="*/ 161 h 184"/>
                  <a:gd name="T82" fmla="*/ 101 w 178"/>
                  <a:gd name="T83" fmla="*/ 184 h 184"/>
                  <a:gd name="T84" fmla="*/ 105 w 178"/>
                  <a:gd name="T85" fmla="*/ 160 h 184"/>
                  <a:gd name="T86" fmla="*/ 110 w 178"/>
                  <a:gd name="T87" fmla="*/ 159 h 184"/>
                  <a:gd name="T88" fmla="*/ 115 w 178"/>
                  <a:gd name="T89" fmla="*/ 157 h 184"/>
                  <a:gd name="T90" fmla="*/ 133 w 178"/>
                  <a:gd name="T91" fmla="*/ 174 h 184"/>
                  <a:gd name="T92" fmla="*/ 139 w 178"/>
                  <a:gd name="T93" fmla="*/ 140 h 184"/>
                  <a:gd name="T94" fmla="*/ 142 w 178"/>
                  <a:gd name="T95" fmla="*/ 134 h 184"/>
                  <a:gd name="T96" fmla="*/ 145 w 178"/>
                  <a:gd name="T97" fmla="*/ 130 h 184"/>
                  <a:gd name="T98" fmla="*/ 148 w 178"/>
                  <a:gd name="T99" fmla="*/ 126 h 18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78"/>
                  <a:gd name="T151" fmla="*/ 0 h 184"/>
                  <a:gd name="T152" fmla="*/ 178 w 178"/>
                  <a:gd name="T153" fmla="*/ 184 h 18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78" h="184">
                    <a:moveTo>
                      <a:pt x="170" y="132"/>
                    </a:moveTo>
                    <a:lnTo>
                      <a:pt x="178" y="109"/>
                    </a:lnTo>
                    <a:lnTo>
                      <a:pt x="156" y="102"/>
                    </a:lnTo>
                    <a:lnTo>
                      <a:pt x="156" y="100"/>
                    </a:lnTo>
                    <a:lnTo>
                      <a:pt x="156" y="99"/>
                    </a:lnTo>
                    <a:lnTo>
                      <a:pt x="156" y="98"/>
                    </a:lnTo>
                    <a:lnTo>
                      <a:pt x="156" y="97"/>
                    </a:lnTo>
                    <a:lnTo>
                      <a:pt x="156" y="96"/>
                    </a:lnTo>
                    <a:lnTo>
                      <a:pt x="156" y="95"/>
                    </a:lnTo>
                    <a:lnTo>
                      <a:pt x="156" y="94"/>
                    </a:lnTo>
                    <a:lnTo>
                      <a:pt x="156" y="93"/>
                    </a:lnTo>
                    <a:lnTo>
                      <a:pt x="156" y="92"/>
                    </a:lnTo>
                    <a:lnTo>
                      <a:pt x="156" y="90"/>
                    </a:lnTo>
                    <a:lnTo>
                      <a:pt x="156" y="89"/>
                    </a:lnTo>
                    <a:lnTo>
                      <a:pt x="156" y="88"/>
                    </a:lnTo>
                    <a:lnTo>
                      <a:pt x="156" y="87"/>
                    </a:lnTo>
                    <a:lnTo>
                      <a:pt x="156" y="86"/>
                    </a:lnTo>
                    <a:lnTo>
                      <a:pt x="156" y="84"/>
                    </a:lnTo>
                    <a:lnTo>
                      <a:pt x="156" y="82"/>
                    </a:lnTo>
                    <a:lnTo>
                      <a:pt x="178" y="75"/>
                    </a:lnTo>
                    <a:lnTo>
                      <a:pt x="170" y="52"/>
                    </a:lnTo>
                    <a:lnTo>
                      <a:pt x="148" y="59"/>
                    </a:lnTo>
                    <a:lnTo>
                      <a:pt x="148" y="58"/>
                    </a:lnTo>
                    <a:lnTo>
                      <a:pt x="147" y="56"/>
                    </a:lnTo>
                    <a:lnTo>
                      <a:pt x="145" y="54"/>
                    </a:lnTo>
                    <a:lnTo>
                      <a:pt x="144" y="53"/>
                    </a:lnTo>
                    <a:lnTo>
                      <a:pt x="143" y="51"/>
                    </a:lnTo>
                    <a:lnTo>
                      <a:pt x="142" y="50"/>
                    </a:lnTo>
                    <a:lnTo>
                      <a:pt x="141" y="48"/>
                    </a:lnTo>
                    <a:lnTo>
                      <a:pt x="140" y="47"/>
                    </a:lnTo>
                    <a:lnTo>
                      <a:pt x="139" y="46"/>
                    </a:lnTo>
                    <a:lnTo>
                      <a:pt x="137" y="45"/>
                    </a:lnTo>
                    <a:lnTo>
                      <a:pt x="151" y="24"/>
                    </a:lnTo>
                    <a:lnTo>
                      <a:pt x="133" y="10"/>
                    </a:lnTo>
                    <a:lnTo>
                      <a:pt x="119" y="30"/>
                    </a:lnTo>
                    <a:lnTo>
                      <a:pt x="117" y="28"/>
                    </a:lnTo>
                    <a:lnTo>
                      <a:pt x="115" y="27"/>
                    </a:lnTo>
                    <a:lnTo>
                      <a:pt x="113" y="27"/>
                    </a:lnTo>
                    <a:lnTo>
                      <a:pt x="111" y="26"/>
                    </a:lnTo>
                    <a:lnTo>
                      <a:pt x="110" y="25"/>
                    </a:lnTo>
                    <a:lnTo>
                      <a:pt x="108" y="25"/>
                    </a:lnTo>
                    <a:lnTo>
                      <a:pt x="107" y="25"/>
                    </a:lnTo>
                    <a:lnTo>
                      <a:pt x="105" y="24"/>
                    </a:lnTo>
                    <a:lnTo>
                      <a:pt x="103" y="23"/>
                    </a:lnTo>
                    <a:lnTo>
                      <a:pt x="101" y="23"/>
                    </a:lnTo>
                    <a:lnTo>
                      <a:pt x="101" y="0"/>
                    </a:lnTo>
                    <a:lnTo>
                      <a:pt x="77" y="0"/>
                    </a:lnTo>
                    <a:lnTo>
                      <a:pt x="77" y="23"/>
                    </a:lnTo>
                    <a:lnTo>
                      <a:pt x="75" y="23"/>
                    </a:lnTo>
                    <a:lnTo>
                      <a:pt x="74" y="24"/>
                    </a:lnTo>
                    <a:lnTo>
                      <a:pt x="72" y="25"/>
                    </a:lnTo>
                    <a:lnTo>
                      <a:pt x="71" y="25"/>
                    </a:lnTo>
                    <a:lnTo>
                      <a:pt x="69" y="25"/>
                    </a:lnTo>
                    <a:lnTo>
                      <a:pt x="66" y="26"/>
                    </a:lnTo>
                    <a:lnTo>
                      <a:pt x="64" y="27"/>
                    </a:lnTo>
                    <a:lnTo>
                      <a:pt x="63" y="27"/>
                    </a:lnTo>
                    <a:lnTo>
                      <a:pt x="62" y="28"/>
                    </a:lnTo>
                    <a:lnTo>
                      <a:pt x="60" y="30"/>
                    </a:lnTo>
                    <a:lnTo>
                      <a:pt x="46" y="10"/>
                    </a:lnTo>
                    <a:lnTo>
                      <a:pt x="27" y="24"/>
                    </a:lnTo>
                    <a:lnTo>
                      <a:pt x="41" y="45"/>
                    </a:lnTo>
                    <a:lnTo>
                      <a:pt x="39" y="46"/>
                    </a:lnTo>
                    <a:lnTo>
                      <a:pt x="38" y="47"/>
                    </a:lnTo>
                    <a:lnTo>
                      <a:pt x="36" y="49"/>
                    </a:lnTo>
                    <a:lnTo>
                      <a:pt x="35" y="50"/>
                    </a:lnTo>
                    <a:lnTo>
                      <a:pt x="34" y="51"/>
                    </a:lnTo>
                    <a:lnTo>
                      <a:pt x="34" y="53"/>
                    </a:lnTo>
                    <a:lnTo>
                      <a:pt x="32" y="54"/>
                    </a:lnTo>
                    <a:lnTo>
                      <a:pt x="31" y="56"/>
                    </a:lnTo>
                    <a:lnTo>
                      <a:pt x="31" y="58"/>
                    </a:lnTo>
                    <a:lnTo>
                      <a:pt x="30" y="59"/>
                    </a:lnTo>
                    <a:lnTo>
                      <a:pt x="9" y="52"/>
                    </a:lnTo>
                    <a:lnTo>
                      <a:pt x="0" y="75"/>
                    </a:lnTo>
                    <a:lnTo>
                      <a:pt x="23" y="82"/>
                    </a:lnTo>
                    <a:lnTo>
                      <a:pt x="23" y="84"/>
                    </a:lnTo>
                    <a:lnTo>
                      <a:pt x="23" y="86"/>
                    </a:lnTo>
                    <a:lnTo>
                      <a:pt x="22" y="86"/>
                    </a:lnTo>
                    <a:lnTo>
                      <a:pt x="22" y="87"/>
                    </a:lnTo>
                    <a:lnTo>
                      <a:pt x="22" y="88"/>
                    </a:lnTo>
                    <a:lnTo>
                      <a:pt x="22" y="89"/>
                    </a:lnTo>
                    <a:lnTo>
                      <a:pt x="22" y="90"/>
                    </a:lnTo>
                    <a:lnTo>
                      <a:pt x="22" y="92"/>
                    </a:lnTo>
                    <a:lnTo>
                      <a:pt x="22" y="93"/>
                    </a:lnTo>
                    <a:lnTo>
                      <a:pt x="22" y="94"/>
                    </a:lnTo>
                    <a:lnTo>
                      <a:pt x="22" y="95"/>
                    </a:lnTo>
                    <a:lnTo>
                      <a:pt x="22" y="96"/>
                    </a:lnTo>
                    <a:lnTo>
                      <a:pt x="22" y="97"/>
                    </a:lnTo>
                    <a:lnTo>
                      <a:pt x="22" y="98"/>
                    </a:lnTo>
                    <a:lnTo>
                      <a:pt x="23" y="99"/>
                    </a:lnTo>
                    <a:lnTo>
                      <a:pt x="23" y="100"/>
                    </a:lnTo>
                    <a:lnTo>
                      <a:pt x="23" y="101"/>
                    </a:lnTo>
                    <a:lnTo>
                      <a:pt x="23" y="102"/>
                    </a:lnTo>
                    <a:lnTo>
                      <a:pt x="0" y="109"/>
                    </a:lnTo>
                    <a:lnTo>
                      <a:pt x="9" y="132"/>
                    </a:lnTo>
                    <a:lnTo>
                      <a:pt x="30" y="126"/>
                    </a:lnTo>
                    <a:lnTo>
                      <a:pt x="31" y="127"/>
                    </a:lnTo>
                    <a:lnTo>
                      <a:pt x="31" y="128"/>
                    </a:lnTo>
                    <a:lnTo>
                      <a:pt x="32" y="130"/>
                    </a:lnTo>
                    <a:lnTo>
                      <a:pt x="34" y="132"/>
                    </a:lnTo>
                    <a:lnTo>
                      <a:pt x="34" y="133"/>
                    </a:lnTo>
                    <a:lnTo>
                      <a:pt x="35" y="134"/>
                    </a:lnTo>
                    <a:lnTo>
                      <a:pt x="36" y="136"/>
                    </a:lnTo>
                    <a:lnTo>
                      <a:pt x="38" y="137"/>
                    </a:lnTo>
                    <a:lnTo>
                      <a:pt x="39" y="140"/>
                    </a:lnTo>
                    <a:lnTo>
                      <a:pt x="41" y="141"/>
                    </a:lnTo>
                    <a:lnTo>
                      <a:pt x="27" y="160"/>
                    </a:lnTo>
                    <a:lnTo>
                      <a:pt x="46" y="174"/>
                    </a:lnTo>
                    <a:lnTo>
                      <a:pt x="60" y="155"/>
                    </a:lnTo>
                    <a:lnTo>
                      <a:pt x="62" y="156"/>
                    </a:lnTo>
                    <a:lnTo>
                      <a:pt x="63" y="157"/>
                    </a:lnTo>
                    <a:lnTo>
                      <a:pt x="64" y="158"/>
                    </a:lnTo>
                    <a:lnTo>
                      <a:pt x="66" y="158"/>
                    </a:lnTo>
                    <a:lnTo>
                      <a:pt x="69" y="159"/>
                    </a:lnTo>
                    <a:lnTo>
                      <a:pt x="71" y="159"/>
                    </a:lnTo>
                    <a:lnTo>
                      <a:pt x="72" y="160"/>
                    </a:lnTo>
                    <a:lnTo>
                      <a:pt x="74" y="160"/>
                    </a:lnTo>
                    <a:lnTo>
                      <a:pt x="75" y="161"/>
                    </a:lnTo>
                    <a:lnTo>
                      <a:pt x="77" y="161"/>
                    </a:lnTo>
                    <a:lnTo>
                      <a:pt x="77" y="184"/>
                    </a:lnTo>
                    <a:lnTo>
                      <a:pt x="101" y="184"/>
                    </a:lnTo>
                    <a:lnTo>
                      <a:pt x="101" y="161"/>
                    </a:lnTo>
                    <a:lnTo>
                      <a:pt x="103" y="161"/>
                    </a:lnTo>
                    <a:lnTo>
                      <a:pt x="105" y="160"/>
                    </a:lnTo>
                    <a:lnTo>
                      <a:pt x="107" y="160"/>
                    </a:lnTo>
                    <a:lnTo>
                      <a:pt x="108" y="159"/>
                    </a:lnTo>
                    <a:lnTo>
                      <a:pt x="110" y="159"/>
                    </a:lnTo>
                    <a:lnTo>
                      <a:pt x="111" y="158"/>
                    </a:lnTo>
                    <a:lnTo>
                      <a:pt x="113" y="158"/>
                    </a:lnTo>
                    <a:lnTo>
                      <a:pt x="115" y="157"/>
                    </a:lnTo>
                    <a:lnTo>
                      <a:pt x="117" y="156"/>
                    </a:lnTo>
                    <a:lnTo>
                      <a:pt x="119" y="155"/>
                    </a:lnTo>
                    <a:lnTo>
                      <a:pt x="133" y="174"/>
                    </a:lnTo>
                    <a:lnTo>
                      <a:pt x="151" y="160"/>
                    </a:lnTo>
                    <a:lnTo>
                      <a:pt x="137" y="141"/>
                    </a:lnTo>
                    <a:lnTo>
                      <a:pt x="139" y="140"/>
                    </a:lnTo>
                    <a:lnTo>
                      <a:pt x="140" y="137"/>
                    </a:lnTo>
                    <a:lnTo>
                      <a:pt x="141" y="136"/>
                    </a:lnTo>
                    <a:lnTo>
                      <a:pt x="142" y="134"/>
                    </a:lnTo>
                    <a:lnTo>
                      <a:pt x="143" y="133"/>
                    </a:lnTo>
                    <a:lnTo>
                      <a:pt x="144" y="131"/>
                    </a:lnTo>
                    <a:lnTo>
                      <a:pt x="145" y="130"/>
                    </a:lnTo>
                    <a:lnTo>
                      <a:pt x="147" y="128"/>
                    </a:lnTo>
                    <a:lnTo>
                      <a:pt x="148" y="127"/>
                    </a:lnTo>
                    <a:lnTo>
                      <a:pt x="148" y="126"/>
                    </a:lnTo>
                    <a:lnTo>
                      <a:pt x="170" y="13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68" name="Freeform 1103"/>
              <p:cNvSpPr>
                <a:spLocks/>
              </p:cNvSpPr>
              <p:nvPr/>
            </p:nvSpPr>
            <p:spPr bwMode="auto">
              <a:xfrm>
                <a:off x="2545" y="3207"/>
                <a:ext cx="72" cy="76"/>
              </a:xfrm>
              <a:custGeom>
                <a:avLst/>
                <a:gdLst>
                  <a:gd name="T0" fmla="*/ 0 w 72"/>
                  <a:gd name="T1" fmla="*/ 37 h 76"/>
                  <a:gd name="T2" fmla="*/ 0 w 72"/>
                  <a:gd name="T3" fmla="*/ 32 h 76"/>
                  <a:gd name="T4" fmla="*/ 2 w 72"/>
                  <a:gd name="T5" fmla="*/ 27 h 76"/>
                  <a:gd name="T6" fmla="*/ 4 w 72"/>
                  <a:gd name="T7" fmla="*/ 20 h 76"/>
                  <a:gd name="T8" fmla="*/ 6 w 72"/>
                  <a:gd name="T9" fmla="*/ 16 h 76"/>
                  <a:gd name="T10" fmla="*/ 10 w 72"/>
                  <a:gd name="T11" fmla="*/ 11 h 76"/>
                  <a:gd name="T12" fmla="*/ 15 w 72"/>
                  <a:gd name="T13" fmla="*/ 7 h 76"/>
                  <a:gd name="T14" fmla="*/ 20 w 72"/>
                  <a:gd name="T15" fmla="*/ 4 h 76"/>
                  <a:gd name="T16" fmla="*/ 25 w 72"/>
                  <a:gd name="T17" fmla="*/ 2 h 76"/>
                  <a:gd name="T18" fmla="*/ 31 w 72"/>
                  <a:gd name="T19" fmla="*/ 0 h 76"/>
                  <a:gd name="T20" fmla="*/ 36 w 72"/>
                  <a:gd name="T21" fmla="*/ 0 h 76"/>
                  <a:gd name="T22" fmla="*/ 42 w 72"/>
                  <a:gd name="T23" fmla="*/ 0 h 76"/>
                  <a:gd name="T24" fmla="*/ 48 w 72"/>
                  <a:gd name="T25" fmla="*/ 2 h 76"/>
                  <a:gd name="T26" fmla="*/ 53 w 72"/>
                  <a:gd name="T27" fmla="*/ 4 h 76"/>
                  <a:gd name="T28" fmla="*/ 57 w 72"/>
                  <a:gd name="T29" fmla="*/ 7 h 76"/>
                  <a:gd name="T30" fmla="*/ 62 w 72"/>
                  <a:gd name="T31" fmla="*/ 11 h 76"/>
                  <a:gd name="T32" fmla="*/ 66 w 72"/>
                  <a:gd name="T33" fmla="*/ 16 h 76"/>
                  <a:gd name="T34" fmla="*/ 68 w 72"/>
                  <a:gd name="T35" fmla="*/ 20 h 76"/>
                  <a:gd name="T36" fmla="*/ 70 w 72"/>
                  <a:gd name="T37" fmla="*/ 27 h 76"/>
                  <a:gd name="T38" fmla="*/ 72 w 72"/>
                  <a:gd name="T39" fmla="*/ 32 h 76"/>
                  <a:gd name="T40" fmla="*/ 72 w 72"/>
                  <a:gd name="T41" fmla="*/ 37 h 76"/>
                  <a:gd name="T42" fmla="*/ 72 w 72"/>
                  <a:gd name="T43" fmla="*/ 44 h 76"/>
                  <a:gd name="T44" fmla="*/ 70 w 72"/>
                  <a:gd name="T45" fmla="*/ 50 h 76"/>
                  <a:gd name="T46" fmla="*/ 68 w 72"/>
                  <a:gd name="T47" fmla="*/ 55 h 76"/>
                  <a:gd name="T48" fmla="*/ 66 w 72"/>
                  <a:gd name="T49" fmla="*/ 60 h 76"/>
                  <a:gd name="T50" fmla="*/ 62 w 72"/>
                  <a:gd name="T51" fmla="*/ 65 h 76"/>
                  <a:gd name="T52" fmla="*/ 57 w 72"/>
                  <a:gd name="T53" fmla="*/ 69 h 76"/>
                  <a:gd name="T54" fmla="*/ 53 w 72"/>
                  <a:gd name="T55" fmla="*/ 72 h 76"/>
                  <a:gd name="T56" fmla="*/ 48 w 72"/>
                  <a:gd name="T57" fmla="*/ 74 h 76"/>
                  <a:gd name="T58" fmla="*/ 42 w 72"/>
                  <a:gd name="T59" fmla="*/ 76 h 76"/>
                  <a:gd name="T60" fmla="*/ 36 w 72"/>
                  <a:gd name="T61" fmla="*/ 76 h 76"/>
                  <a:gd name="T62" fmla="*/ 31 w 72"/>
                  <a:gd name="T63" fmla="*/ 76 h 76"/>
                  <a:gd name="T64" fmla="*/ 25 w 72"/>
                  <a:gd name="T65" fmla="*/ 74 h 76"/>
                  <a:gd name="T66" fmla="*/ 20 w 72"/>
                  <a:gd name="T67" fmla="*/ 72 h 76"/>
                  <a:gd name="T68" fmla="*/ 15 w 72"/>
                  <a:gd name="T69" fmla="*/ 69 h 76"/>
                  <a:gd name="T70" fmla="*/ 10 w 72"/>
                  <a:gd name="T71" fmla="*/ 65 h 76"/>
                  <a:gd name="T72" fmla="*/ 6 w 72"/>
                  <a:gd name="T73" fmla="*/ 60 h 76"/>
                  <a:gd name="T74" fmla="*/ 4 w 72"/>
                  <a:gd name="T75" fmla="*/ 55 h 76"/>
                  <a:gd name="T76" fmla="*/ 2 w 72"/>
                  <a:gd name="T77" fmla="*/ 50 h 76"/>
                  <a:gd name="T78" fmla="*/ 0 w 72"/>
                  <a:gd name="T79" fmla="*/ 44 h 76"/>
                  <a:gd name="T80" fmla="*/ 0 w 72"/>
                  <a:gd name="T81" fmla="*/ 37 h 76"/>
                  <a:gd name="T82" fmla="*/ 0 w 72"/>
                  <a:gd name="T83" fmla="*/ 37 h 7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72"/>
                  <a:gd name="T127" fmla="*/ 0 h 76"/>
                  <a:gd name="T128" fmla="*/ 72 w 72"/>
                  <a:gd name="T129" fmla="*/ 76 h 7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72" h="76">
                    <a:moveTo>
                      <a:pt x="0" y="37"/>
                    </a:moveTo>
                    <a:lnTo>
                      <a:pt x="0" y="32"/>
                    </a:lnTo>
                    <a:lnTo>
                      <a:pt x="2" y="27"/>
                    </a:lnTo>
                    <a:lnTo>
                      <a:pt x="4" y="20"/>
                    </a:lnTo>
                    <a:lnTo>
                      <a:pt x="6" y="16"/>
                    </a:lnTo>
                    <a:lnTo>
                      <a:pt x="10" y="11"/>
                    </a:lnTo>
                    <a:lnTo>
                      <a:pt x="15" y="7"/>
                    </a:lnTo>
                    <a:lnTo>
                      <a:pt x="20" y="4"/>
                    </a:lnTo>
                    <a:lnTo>
                      <a:pt x="25" y="2"/>
                    </a:lnTo>
                    <a:lnTo>
                      <a:pt x="31" y="0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48" y="2"/>
                    </a:lnTo>
                    <a:lnTo>
                      <a:pt x="53" y="4"/>
                    </a:lnTo>
                    <a:lnTo>
                      <a:pt x="57" y="7"/>
                    </a:lnTo>
                    <a:lnTo>
                      <a:pt x="62" y="11"/>
                    </a:lnTo>
                    <a:lnTo>
                      <a:pt x="66" y="16"/>
                    </a:lnTo>
                    <a:lnTo>
                      <a:pt x="68" y="20"/>
                    </a:lnTo>
                    <a:lnTo>
                      <a:pt x="70" y="27"/>
                    </a:lnTo>
                    <a:lnTo>
                      <a:pt x="72" y="32"/>
                    </a:lnTo>
                    <a:lnTo>
                      <a:pt x="72" y="37"/>
                    </a:lnTo>
                    <a:lnTo>
                      <a:pt x="72" y="44"/>
                    </a:lnTo>
                    <a:lnTo>
                      <a:pt x="70" y="50"/>
                    </a:lnTo>
                    <a:lnTo>
                      <a:pt x="68" y="55"/>
                    </a:lnTo>
                    <a:lnTo>
                      <a:pt x="66" y="60"/>
                    </a:lnTo>
                    <a:lnTo>
                      <a:pt x="62" y="65"/>
                    </a:lnTo>
                    <a:lnTo>
                      <a:pt x="57" y="69"/>
                    </a:lnTo>
                    <a:lnTo>
                      <a:pt x="53" y="72"/>
                    </a:lnTo>
                    <a:lnTo>
                      <a:pt x="48" y="74"/>
                    </a:lnTo>
                    <a:lnTo>
                      <a:pt x="42" y="76"/>
                    </a:lnTo>
                    <a:lnTo>
                      <a:pt x="36" y="76"/>
                    </a:lnTo>
                    <a:lnTo>
                      <a:pt x="31" y="76"/>
                    </a:lnTo>
                    <a:lnTo>
                      <a:pt x="25" y="74"/>
                    </a:lnTo>
                    <a:lnTo>
                      <a:pt x="20" y="72"/>
                    </a:lnTo>
                    <a:lnTo>
                      <a:pt x="15" y="69"/>
                    </a:lnTo>
                    <a:lnTo>
                      <a:pt x="10" y="65"/>
                    </a:lnTo>
                    <a:lnTo>
                      <a:pt x="6" y="60"/>
                    </a:lnTo>
                    <a:lnTo>
                      <a:pt x="4" y="55"/>
                    </a:lnTo>
                    <a:lnTo>
                      <a:pt x="2" y="50"/>
                    </a:lnTo>
                    <a:lnTo>
                      <a:pt x="0" y="44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69" name="Freeform 1104"/>
              <p:cNvSpPr>
                <a:spLocks/>
              </p:cNvSpPr>
              <p:nvPr/>
            </p:nvSpPr>
            <p:spPr bwMode="auto">
              <a:xfrm>
                <a:off x="2698" y="3288"/>
                <a:ext cx="72" cy="76"/>
              </a:xfrm>
              <a:custGeom>
                <a:avLst/>
                <a:gdLst>
                  <a:gd name="T0" fmla="*/ 0 w 72"/>
                  <a:gd name="T1" fmla="*/ 38 h 76"/>
                  <a:gd name="T2" fmla="*/ 1 w 72"/>
                  <a:gd name="T3" fmla="*/ 32 h 76"/>
                  <a:gd name="T4" fmla="*/ 2 w 72"/>
                  <a:gd name="T5" fmla="*/ 26 h 76"/>
                  <a:gd name="T6" fmla="*/ 4 w 72"/>
                  <a:gd name="T7" fmla="*/ 20 h 76"/>
                  <a:gd name="T8" fmla="*/ 7 w 72"/>
                  <a:gd name="T9" fmla="*/ 16 h 76"/>
                  <a:gd name="T10" fmla="*/ 10 w 72"/>
                  <a:gd name="T11" fmla="*/ 11 h 76"/>
                  <a:gd name="T12" fmla="*/ 14 w 72"/>
                  <a:gd name="T13" fmla="*/ 7 h 76"/>
                  <a:gd name="T14" fmla="*/ 20 w 72"/>
                  <a:gd name="T15" fmla="*/ 4 h 76"/>
                  <a:gd name="T16" fmla="*/ 25 w 72"/>
                  <a:gd name="T17" fmla="*/ 2 h 76"/>
                  <a:gd name="T18" fmla="*/ 31 w 72"/>
                  <a:gd name="T19" fmla="*/ 0 h 76"/>
                  <a:gd name="T20" fmla="*/ 36 w 72"/>
                  <a:gd name="T21" fmla="*/ 0 h 76"/>
                  <a:gd name="T22" fmla="*/ 42 w 72"/>
                  <a:gd name="T23" fmla="*/ 0 h 76"/>
                  <a:gd name="T24" fmla="*/ 48 w 72"/>
                  <a:gd name="T25" fmla="*/ 2 h 76"/>
                  <a:gd name="T26" fmla="*/ 53 w 72"/>
                  <a:gd name="T27" fmla="*/ 4 h 76"/>
                  <a:gd name="T28" fmla="*/ 57 w 72"/>
                  <a:gd name="T29" fmla="*/ 7 h 76"/>
                  <a:gd name="T30" fmla="*/ 62 w 72"/>
                  <a:gd name="T31" fmla="*/ 11 h 76"/>
                  <a:gd name="T32" fmla="*/ 66 w 72"/>
                  <a:gd name="T33" fmla="*/ 16 h 76"/>
                  <a:gd name="T34" fmla="*/ 68 w 72"/>
                  <a:gd name="T35" fmla="*/ 20 h 76"/>
                  <a:gd name="T36" fmla="*/ 70 w 72"/>
                  <a:gd name="T37" fmla="*/ 26 h 76"/>
                  <a:gd name="T38" fmla="*/ 72 w 72"/>
                  <a:gd name="T39" fmla="*/ 32 h 76"/>
                  <a:gd name="T40" fmla="*/ 72 w 72"/>
                  <a:gd name="T41" fmla="*/ 38 h 76"/>
                  <a:gd name="T42" fmla="*/ 72 w 72"/>
                  <a:gd name="T43" fmla="*/ 45 h 76"/>
                  <a:gd name="T44" fmla="*/ 70 w 72"/>
                  <a:gd name="T45" fmla="*/ 50 h 76"/>
                  <a:gd name="T46" fmla="*/ 68 w 72"/>
                  <a:gd name="T47" fmla="*/ 56 h 76"/>
                  <a:gd name="T48" fmla="*/ 66 w 72"/>
                  <a:gd name="T49" fmla="*/ 60 h 76"/>
                  <a:gd name="T50" fmla="*/ 62 w 72"/>
                  <a:gd name="T51" fmla="*/ 65 h 76"/>
                  <a:gd name="T52" fmla="*/ 57 w 72"/>
                  <a:gd name="T53" fmla="*/ 68 h 76"/>
                  <a:gd name="T54" fmla="*/ 53 w 72"/>
                  <a:gd name="T55" fmla="*/ 72 h 76"/>
                  <a:gd name="T56" fmla="*/ 48 w 72"/>
                  <a:gd name="T57" fmla="*/ 74 h 76"/>
                  <a:gd name="T58" fmla="*/ 42 w 72"/>
                  <a:gd name="T59" fmla="*/ 76 h 76"/>
                  <a:gd name="T60" fmla="*/ 36 w 72"/>
                  <a:gd name="T61" fmla="*/ 76 h 76"/>
                  <a:gd name="T62" fmla="*/ 31 w 72"/>
                  <a:gd name="T63" fmla="*/ 76 h 76"/>
                  <a:gd name="T64" fmla="*/ 25 w 72"/>
                  <a:gd name="T65" fmla="*/ 74 h 76"/>
                  <a:gd name="T66" fmla="*/ 20 w 72"/>
                  <a:gd name="T67" fmla="*/ 72 h 76"/>
                  <a:gd name="T68" fmla="*/ 14 w 72"/>
                  <a:gd name="T69" fmla="*/ 68 h 76"/>
                  <a:gd name="T70" fmla="*/ 10 w 72"/>
                  <a:gd name="T71" fmla="*/ 65 h 76"/>
                  <a:gd name="T72" fmla="*/ 7 w 72"/>
                  <a:gd name="T73" fmla="*/ 60 h 76"/>
                  <a:gd name="T74" fmla="*/ 4 w 72"/>
                  <a:gd name="T75" fmla="*/ 56 h 76"/>
                  <a:gd name="T76" fmla="*/ 2 w 72"/>
                  <a:gd name="T77" fmla="*/ 50 h 76"/>
                  <a:gd name="T78" fmla="*/ 1 w 72"/>
                  <a:gd name="T79" fmla="*/ 45 h 76"/>
                  <a:gd name="T80" fmla="*/ 0 w 72"/>
                  <a:gd name="T81" fmla="*/ 38 h 76"/>
                  <a:gd name="T82" fmla="*/ 0 w 72"/>
                  <a:gd name="T83" fmla="*/ 38 h 7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72"/>
                  <a:gd name="T127" fmla="*/ 0 h 76"/>
                  <a:gd name="T128" fmla="*/ 72 w 72"/>
                  <a:gd name="T129" fmla="*/ 76 h 7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72" h="76">
                    <a:moveTo>
                      <a:pt x="0" y="38"/>
                    </a:moveTo>
                    <a:lnTo>
                      <a:pt x="1" y="32"/>
                    </a:lnTo>
                    <a:lnTo>
                      <a:pt x="2" y="26"/>
                    </a:lnTo>
                    <a:lnTo>
                      <a:pt x="4" y="20"/>
                    </a:lnTo>
                    <a:lnTo>
                      <a:pt x="7" y="16"/>
                    </a:lnTo>
                    <a:lnTo>
                      <a:pt x="10" y="11"/>
                    </a:lnTo>
                    <a:lnTo>
                      <a:pt x="14" y="7"/>
                    </a:lnTo>
                    <a:lnTo>
                      <a:pt x="20" y="4"/>
                    </a:lnTo>
                    <a:lnTo>
                      <a:pt x="25" y="2"/>
                    </a:lnTo>
                    <a:lnTo>
                      <a:pt x="31" y="0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48" y="2"/>
                    </a:lnTo>
                    <a:lnTo>
                      <a:pt x="53" y="4"/>
                    </a:lnTo>
                    <a:lnTo>
                      <a:pt x="57" y="7"/>
                    </a:lnTo>
                    <a:lnTo>
                      <a:pt x="62" y="11"/>
                    </a:lnTo>
                    <a:lnTo>
                      <a:pt x="66" y="16"/>
                    </a:lnTo>
                    <a:lnTo>
                      <a:pt x="68" y="20"/>
                    </a:lnTo>
                    <a:lnTo>
                      <a:pt x="70" y="26"/>
                    </a:lnTo>
                    <a:lnTo>
                      <a:pt x="72" y="32"/>
                    </a:lnTo>
                    <a:lnTo>
                      <a:pt x="72" y="38"/>
                    </a:lnTo>
                    <a:lnTo>
                      <a:pt x="72" y="45"/>
                    </a:lnTo>
                    <a:lnTo>
                      <a:pt x="70" y="50"/>
                    </a:lnTo>
                    <a:lnTo>
                      <a:pt x="68" y="56"/>
                    </a:lnTo>
                    <a:lnTo>
                      <a:pt x="66" y="60"/>
                    </a:lnTo>
                    <a:lnTo>
                      <a:pt x="62" y="65"/>
                    </a:lnTo>
                    <a:lnTo>
                      <a:pt x="57" y="68"/>
                    </a:lnTo>
                    <a:lnTo>
                      <a:pt x="53" y="72"/>
                    </a:lnTo>
                    <a:lnTo>
                      <a:pt x="48" y="74"/>
                    </a:lnTo>
                    <a:lnTo>
                      <a:pt x="42" y="76"/>
                    </a:lnTo>
                    <a:lnTo>
                      <a:pt x="36" y="76"/>
                    </a:lnTo>
                    <a:lnTo>
                      <a:pt x="31" y="76"/>
                    </a:lnTo>
                    <a:lnTo>
                      <a:pt x="25" y="74"/>
                    </a:lnTo>
                    <a:lnTo>
                      <a:pt x="20" y="72"/>
                    </a:lnTo>
                    <a:lnTo>
                      <a:pt x="14" y="68"/>
                    </a:lnTo>
                    <a:lnTo>
                      <a:pt x="10" y="65"/>
                    </a:lnTo>
                    <a:lnTo>
                      <a:pt x="7" y="60"/>
                    </a:lnTo>
                    <a:lnTo>
                      <a:pt x="4" y="56"/>
                    </a:lnTo>
                    <a:lnTo>
                      <a:pt x="2" y="50"/>
                    </a:lnTo>
                    <a:lnTo>
                      <a:pt x="1" y="45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4948" name="Rectangle 1105"/>
            <p:cNvSpPr>
              <a:spLocks noChangeArrowheads="1"/>
            </p:cNvSpPr>
            <p:nvPr/>
          </p:nvSpPr>
          <p:spPr bwMode="auto">
            <a:xfrm>
              <a:off x="2780" y="4010"/>
              <a:ext cx="606" cy="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Work In Progress</a:t>
              </a:r>
              <a:endParaRPr lang="en-US" sz="1000" b="0">
                <a:latin typeface="Times New Roman" pitchFamily="18" charset="0"/>
              </a:endParaRPr>
            </a:p>
          </p:txBody>
        </p:sp>
        <p:grpSp>
          <p:nvGrpSpPr>
            <p:cNvPr id="24949" name="Group 1106"/>
            <p:cNvGrpSpPr>
              <a:grpSpLocks/>
            </p:cNvGrpSpPr>
            <p:nvPr/>
          </p:nvGrpSpPr>
          <p:grpSpPr bwMode="auto">
            <a:xfrm>
              <a:off x="3434" y="3698"/>
              <a:ext cx="304" cy="261"/>
              <a:chOff x="3034" y="3151"/>
              <a:chExt cx="294" cy="277"/>
            </a:xfrm>
          </p:grpSpPr>
          <p:sp>
            <p:nvSpPr>
              <p:cNvPr id="24955" name="Freeform 1107"/>
              <p:cNvSpPr>
                <a:spLocks/>
              </p:cNvSpPr>
              <p:nvPr/>
            </p:nvSpPr>
            <p:spPr bwMode="auto">
              <a:xfrm>
                <a:off x="3041" y="3155"/>
                <a:ext cx="274" cy="273"/>
              </a:xfrm>
              <a:custGeom>
                <a:avLst/>
                <a:gdLst>
                  <a:gd name="T0" fmla="*/ 219 w 274"/>
                  <a:gd name="T1" fmla="*/ 273 h 273"/>
                  <a:gd name="T2" fmla="*/ 228 w 274"/>
                  <a:gd name="T3" fmla="*/ 273 h 273"/>
                  <a:gd name="T4" fmla="*/ 237 w 274"/>
                  <a:gd name="T5" fmla="*/ 271 h 273"/>
                  <a:gd name="T6" fmla="*/ 245 w 274"/>
                  <a:gd name="T7" fmla="*/ 267 h 273"/>
                  <a:gd name="T8" fmla="*/ 252 w 274"/>
                  <a:gd name="T9" fmla="*/ 262 h 273"/>
                  <a:gd name="T10" fmla="*/ 258 w 274"/>
                  <a:gd name="T11" fmla="*/ 257 h 273"/>
                  <a:gd name="T12" fmla="*/ 263 w 274"/>
                  <a:gd name="T13" fmla="*/ 251 h 273"/>
                  <a:gd name="T14" fmla="*/ 269 w 274"/>
                  <a:gd name="T15" fmla="*/ 243 h 273"/>
                  <a:gd name="T16" fmla="*/ 271 w 274"/>
                  <a:gd name="T17" fmla="*/ 236 h 273"/>
                  <a:gd name="T18" fmla="*/ 274 w 274"/>
                  <a:gd name="T19" fmla="*/ 227 h 273"/>
                  <a:gd name="T20" fmla="*/ 274 w 274"/>
                  <a:gd name="T21" fmla="*/ 219 h 273"/>
                  <a:gd name="T22" fmla="*/ 274 w 274"/>
                  <a:gd name="T23" fmla="*/ 54 h 273"/>
                  <a:gd name="T24" fmla="*/ 274 w 274"/>
                  <a:gd name="T25" fmla="*/ 46 h 273"/>
                  <a:gd name="T26" fmla="*/ 271 w 274"/>
                  <a:gd name="T27" fmla="*/ 37 h 273"/>
                  <a:gd name="T28" fmla="*/ 269 w 274"/>
                  <a:gd name="T29" fmla="*/ 29 h 273"/>
                  <a:gd name="T30" fmla="*/ 263 w 274"/>
                  <a:gd name="T31" fmla="*/ 22 h 273"/>
                  <a:gd name="T32" fmla="*/ 258 w 274"/>
                  <a:gd name="T33" fmla="*/ 16 h 273"/>
                  <a:gd name="T34" fmla="*/ 252 w 274"/>
                  <a:gd name="T35" fmla="*/ 10 h 273"/>
                  <a:gd name="T36" fmla="*/ 245 w 274"/>
                  <a:gd name="T37" fmla="*/ 6 h 273"/>
                  <a:gd name="T38" fmla="*/ 237 w 274"/>
                  <a:gd name="T39" fmla="*/ 2 h 273"/>
                  <a:gd name="T40" fmla="*/ 228 w 274"/>
                  <a:gd name="T41" fmla="*/ 0 h 273"/>
                  <a:gd name="T42" fmla="*/ 220 w 274"/>
                  <a:gd name="T43" fmla="*/ 0 h 273"/>
                  <a:gd name="T44" fmla="*/ 55 w 274"/>
                  <a:gd name="T45" fmla="*/ 0 h 273"/>
                  <a:gd name="T46" fmla="*/ 46 w 274"/>
                  <a:gd name="T47" fmla="*/ 0 h 273"/>
                  <a:gd name="T48" fmla="*/ 37 w 274"/>
                  <a:gd name="T49" fmla="*/ 2 h 273"/>
                  <a:gd name="T50" fmla="*/ 29 w 274"/>
                  <a:gd name="T51" fmla="*/ 6 h 273"/>
                  <a:gd name="T52" fmla="*/ 22 w 274"/>
                  <a:gd name="T53" fmla="*/ 10 h 273"/>
                  <a:gd name="T54" fmla="*/ 17 w 274"/>
                  <a:gd name="T55" fmla="*/ 16 h 273"/>
                  <a:gd name="T56" fmla="*/ 10 w 274"/>
                  <a:gd name="T57" fmla="*/ 22 h 273"/>
                  <a:gd name="T58" fmla="*/ 6 w 274"/>
                  <a:gd name="T59" fmla="*/ 29 h 273"/>
                  <a:gd name="T60" fmla="*/ 2 w 274"/>
                  <a:gd name="T61" fmla="*/ 37 h 273"/>
                  <a:gd name="T62" fmla="*/ 1 w 274"/>
                  <a:gd name="T63" fmla="*/ 46 h 273"/>
                  <a:gd name="T64" fmla="*/ 0 w 274"/>
                  <a:gd name="T65" fmla="*/ 54 h 273"/>
                  <a:gd name="T66" fmla="*/ 0 w 274"/>
                  <a:gd name="T67" fmla="*/ 219 h 273"/>
                  <a:gd name="T68" fmla="*/ 1 w 274"/>
                  <a:gd name="T69" fmla="*/ 227 h 273"/>
                  <a:gd name="T70" fmla="*/ 2 w 274"/>
                  <a:gd name="T71" fmla="*/ 236 h 273"/>
                  <a:gd name="T72" fmla="*/ 6 w 274"/>
                  <a:gd name="T73" fmla="*/ 243 h 273"/>
                  <a:gd name="T74" fmla="*/ 10 w 274"/>
                  <a:gd name="T75" fmla="*/ 251 h 273"/>
                  <a:gd name="T76" fmla="*/ 17 w 274"/>
                  <a:gd name="T77" fmla="*/ 257 h 273"/>
                  <a:gd name="T78" fmla="*/ 22 w 274"/>
                  <a:gd name="T79" fmla="*/ 262 h 273"/>
                  <a:gd name="T80" fmla="*/ 29 w 274"/>
                  <a:gd name="T81" fmla="*/ 267 h 273"/>
                  <a:gd name="T82" fmla="*/ 37 w 274"/>
                  <a:gd name="T83" fmla="*/ 271 h 273"/>
                  <a:gd name="T84" fmla="*/ 46 w 274"/>
                  <a:gd name="T85" fmla="*/ 273 h 273"/>
                  <a:gd name="T86" fmla="*/ 55 w 274"/>
                  <a:gd name="T87" fmla="*/ 273 h 273"/>
                  <a:gd name="T88" fmla="*/ 220 w 274"/>
                  <a:gd name="T89" fmla="*/ 273 h 273"/>
                  <a:gd name="T90" fmla="*/ 219 w 274"/>
                  <a:gd name="T91" fmla="*/ 273 h 273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274"/>
                  <a:gd name="T139" fmla="*/ 0 h 273"/>
                  <a:gd name="T140" fmla="*/ 274 w 274"/>
                  <a:gd name="T141" fmla="*/ 273 h 273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274" h="273">
                    <a:moveTo>
                      <a:pt x="219" y="273"/>
                    </a:moveTo>
                    <a:lnTo>
                      <a:pt x="228" y="273"/>
                    </a:lnTo>
                    <a:lnTo>
                      <a:pt x="237" y="271"/>
                    </a:lnTo>
                    <a:lnTo>
                      <a:pt x="245" y="267"/>
                    </a:lnTo>
                    <a:lnTo>
                      <a:pt x="252" y="262"/>
                    </a:lnTo>
                    <a:lnTo>
                      <a:pt x="258" y="257"/>
                    </a:lnTo>
                    <a:lnTo>
                      <a:pt x="263" y="251"/>
                    </a:lnTo>
                    <a:lnTo>
                      <a:pt x="269" y="243"/>
                    </a:lnTo>
                    <a:lnTo>
                      <a:pt x="271" y="236"/>
                    </a:lnTo>
                    <a:lnTo>
                      <a:pt x="274" y="227"/>
                    </a:lnTo>
                    <a:lnTo>
                      <a:pt x="274" y="219"/>
                    </a:lnTo>
                    <a:lnTo>
                      <a:pt x="274" y="54"/>
                    </a:lnTo>
                    <a:lnTo>
                      <a:pt x="274" y="46"/>
                    </a:lnTo>
                    <a:lnTo>
                      <a:pt x="271" y="37"/>
                    </a:lnTo>
                    <a:lnTo>
                      <a:pt x="269" y="29"/>
                    </a:lnTo>
                    <a:lnTo>
                      <a:pt x="263" y="22"/>
                    </a:lnTo>
                    <a:lnTo>
                      <a:pt x="258" y="16"/>
                    </a:lnTo>
                    <a:lnTo>
                      <a:pt x="252" y="10"/>
                    </a:lnTo>
                    <a:lnTo>
                      <a:pt x="245" y="6"/>
                    </a:lnTo>
                    <a:lnTo>
                      <a:pt x="237" y="2"/>
                    </a:lnTo>
                    <a:lnTo>
                      <a:pt x="228" y="0"/>
                    </a:lnTo>
                    <a:lnTo>
                      <a:pt x="220" y="0"/>
                    </a:lnTo>
                    <a:lnTo>
                      <a:pt x="55" y="0"/>
                    </a:lnTo>
                    <a:lnTo>
                      <a:pt x="46" y="0"/>
                    </a:lnTo>
                    <a:lnTo>
                      <a:pt x="37" y="2"/>
                    </a:lnTo>
                    <a:lnTo>
                      <a:pt x="29" y="6"/>
                    </a:lnTo>
                    <a:lnTo>
                      <a:pt x="22" y="10"/>
                    </a:lnTo>
                    <a:lnTo>
                      <a:pt x="17" y="16"/>
                    </a:lnTo>
                    <a:lnTo>
                      <a:pt x="10" y="22"/>
                    </a:lnTo>
                    <a:lnTo>
                      <a:pt x="6" y="29"/>
                    </a:lnTo>
                    <a:lnTo>
                      <a:pt x="2" y="37"/>
                    </a:lnTo>
                    <a:lnTo>
                      <a:pt x="1" y="46"/>
                    </a:lnTo>
                    <a:lnTo>
                      <a:pt x="0" y="54"/>
                    </a:lnTo>
                    <a:lnTo>
                      <a:pt x="0" y="219"/>
                    </a:lnTo>
                    <a:lnTo>
                      <a:pt x="1" y="227"/>
                    </a:lnTo>
                    <a:lnTo>
                      <a:pt x="2" y="236"/>
                    </a:lnTo>
                    <a:lnTo>
                      <a:pt x="6" y="243"/>
                    </a:lnTo>
                    <a:lnTo>
                      <a:pt x="10" y="251"/>
                    </a:lnTo>
                    <a:lnTo>
                      <a:pt x="17" y="257"/>
                    </a:lnTo>
                    <a:lnTo>
                      <a:pt x="22" y="262"/>
                    </a:lnTo>
                    <a:lnTo>
                      <a:pt x="29" y="267"/>
                    </a:lnTo>
                    <a:lnTo>
                      <a:pt x="37" y="271"/>
                    </a:lnTo>
                    <a:lnTo>
                      <a:pt x="46" y="273"/>
                    </a:lnTo>
                    <a:lnTo>
                      <a:pt x="55" y="273"/>
                    </a:lnTo>
                    <a:lnTo>
                      <a:pt x="220" y="273"/>
                    </a:lnTo>
                    <a:lnTo>
                      <a:pt x="219" y="27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56" name="Line 1108"/>
              <p:cNvSpPr>
                <a:spLocks noChangeShapeType="1"/>
              </p:cNvSpPr>
              <p:nvPr/>
            </p:nvSpPr>
            <p:spPr bwMode="auto">
              <a:xfrm>
                <a:off x="3034" y="3180"/>
                <a:ext cx="294" cy="1"/>
              </a:xfrm>
              <a:prstGeom prst="line">
                <a:avLst/>
              </a:prstGeom>
              <a:noFill/>
              <a:ln w="7938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57" name="Line 1109"/>
              <p:cNvSpPr>
                <a:spLocks noChangeShapeType="1"/>
              </p:cNvSpPr>
              <p:nvPr/>
            </p:nvSpPr>
            <p:spPr bwMode="auto">
              <a:xfrm>
                <a:off x="3034" y="3254"/>
                <a:ext cx="294" cy="1"/>
              </a:xfrm>
              <a:prstGeom prst="line">
                <a:avLst/>
              </a:prstGeom>
              <a:noFill/>
              <a:ln w="7938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58" name="Line 1110"/>
              <p:cNvSpPr>
                <a:spLocks noChangeShapeType="1"/>
              </p:cNvSpPr>
              <p:nvPr/>
            </p:nvSpPr>
            <p:spPr bwMode="auto">
              <a:xfrm>
                <a:off x="3034" y="3328"/>
                <a:ext cx="294" cy="1"/>
              </a:xfrm>
              <a:prstGeom prst="line">
                <a:avLst/>
              </a:prstGeom>
              <a:noFill/>
              <a:ln w="7938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59" name="Line 1111"/>
              <p:cNvSpPr>
                <a:spLocks noChangeShapeType="1"/>
              </p:cNvSpPr>
              <p:nvPr/>
            </p:nvSpPr>
            <p:spPr bwMode="auto">
              <a:xfrm>
                <a:off x="3034" y="3401"/>
                <a:ext cx="294" cy="1"/>
              </a:xfrm>
              <a:prstGeom prst="line">
                <a:avLst/>
              </a:prstGeom>
              <a:noFill/>
              <a:ln w="7938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60" name="Freeform 1112"/>
              <p:cNvSpPr>
                <a:spLocks/>
              </p:cNvSpPr>
              <p:nvPr/>
            </p:nvSpPr>
            <p:spPr bwMode="auto">
              <a:xfrm>
                <a:off x="3136" y="3194"/>
                <a:ext cx="84" cy="218"/>
              </a:xfrm>
              <a:custGeom>
                <a:avLst/>
                <a:gdLst>
                  <a:gd name="T0" fmla="*/ 46 w 84"/>
                  <a:gd name="T1" fmla="*/ 218 h 218"/>
                  <a:gd name="T2" fmla="*/ 47 w 84"/>
                  <a:gd name="T3" fmla="*/ 201 h 218"/>
                  <a:gd name="T4" fmla="*/ 50 w 84"/>
                  <a:gd name="T5" fmla="*/ 185 h 218"/>
                  <a:gd name="T6" fmla="*/ 54 w 84"/>
                  <a:gd name="T7" fmla="*/ 169 h 218"/>
                  <a:gd name="T8" fmla="*/ 59 w 84"/>
                  <a:gd name="T9" fmla="*/ 155 h 218"/>
                  <a:gd name="T10" fmla="*/ 65 w 84"/>
                  <a:gd name="T11" fmla="*/ 142 h 218"/>
                  <a:gd name="T12" fmla="*/ 71 w 84"/>
                  <a:gd name="T13" fmla="*/ 132 h 218"/>
                  <a:gd name="T14" fmla="*/ 77 w 84"/>
                  <a:gd name="T15" fmla="*/ 123 h 218"/>
                  <a:gd name="T16" fmla="*/ 80 w 84"/>
                  <a:gd name="T17" fmla="*/ 117 h 218"/>
                  <a:gd name="T18" fmla="*/ 83 w 84"/>
                  <a:gd name="T19" fmla="*/ 112 h 218"/>
                  <a:gd name="T20" fmla="*/ 84 w 84"/>
                  <a:gd name="T21" fmla="*/ 110 h 218"/>
                  <a:gd name="T22" fmla="*/ 74 w 84"/>
                  <a:gd name="T23" fmla="*/ 0 h 218"/>
                  <a:gd name="T24" fmla="*/ 41 w 84"/>
                  <a:gd name="T25" fmla="*/ 0 h 218"/>
                  <a:gd name="T26" fmla="*/ 9 w 84"/>
                  <a:gd name="T27" fmla="*/ 0 h 218"/>
                  <a:gd name="T28" fmla="*/ 0 w 84"/>
                  <a:gd name="T29" fmla="*/ 110 h 218"/>
                  <a:gd name="T30" fmla="*/ 1 w 84"/>
                  <a:gd name="T31" fmla="*/ 112 h 218"/>
                  <a:gd name="T32" fmla="*/ 4 w 84"/>
                  <a:gd name="T33" fmla="*/ 117 h 218"/>
                  <a:gd name="T34" fmla="*/ 7 w 84"/>
                  <a:gd name="T35" fmla="*/ 123 h 218"/>
                  <a:gd name="T36" fmla="*/ 12 w 84"/>
                  <a:gd name="T37" fmla="*/ 132 h 218"/>
                  <a:gd name="T38" fmla="*/ 19 w 84"/>
                  <a:gd name="T39" fmla="*/ 142 h 218"/>
                  <a:gd name="T40" fmla="*/ 24 w 84"/>
                  <a:gd name="T41" fmla="*/ 155 h 218"/>
                  <a:gd name="T42" fmla="*/ 30 w 84"/>
                  <a:gd name="T43" fmla="*/ 169 h 218"/>
                  <a:gd name="T44" fmla="*/ 34 w 84"/>
                  <a:gd name="T45" fmla="*/ 185 h 218"/>
                  <a:gd name="T46" fmla="*/ 37 w 84"/>
                  <a:gd name="T47" fmla="*/ 201 h 218"/>
                  <a:gd name="T48" fmla="*/ 38 w 84"/>
                  <a:gd name="T49" fmla="*/ 218 h 218"/>
                  <a:gd name="T50" fmla="*/ 46 w 84"/>
                  <a:gd name="T51" fmla="*/ 218 h 218"/>
                  <a:gd name="T52" fmla="*/ 46 w 84"/>
                  <a:gd name="T53" fmla="*/ 218 h 21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84"/>
                  <a:gd name="T82" fmla="*/ 0 h 218"/>
                  <a:gd name="T83" fmla="*/ 84 w 84"/>
                  <a:gd name="T84" fmla="*/ 218 h 21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84" h="218">
                    <a:moveTo>
                      <a:pt x="46" y="218"/>
                    </a:moveTo>
                    <a:lnTo>
                      <a:pt x="47" y="201"/>
                    </a:lnTo>
                    <a:lnTo>
                      <a:pt x="50" y="185"/>
                    </a:lnTo>
                    <a:lnTo>
                      <a:pt x="54" y="169"/>
                    </a:lnTo>
                    <a:lnTo>
                      <a:pt x="59" y="155"/>
                    </a:lnTo>
                    <a:lnTo>
                      <a:pt x="65" y="142"/>
                    </a:lnTo>
                    <a:lnTo>
                      <a:pt x="71" y="132"/>
                    </a:lnTo>
                    <a:lnTo>
                      <a:pt x="77" y="123"/>
                    </a:lnTo>
                    <a:lnTo>
                      <a:pt x="80" y="117"/>
                    </a:lnTo>
                    <a:lnTo>
                      <a:pt x="83" y="112"/>
                    </a:lnTo>
                    <a:lnTo>
                      <a:pt x="84" y="110"/>
                    </a:lnTo>
                    <a:lnTo>
                      <a:pt x="74" y="0"/>
                    </a:lnTo>
                    <a:lnTo>
                      <a:pt x="41" y="0"/>
                    </a:lnTo>
                    <a:lnTo>
                      <a:pt x="9" y="0"/>
                    </a:lnTo>
                    <a:lnTo>
                      <a:pt x="0" y="110"/>
                    </a:lnTo>
                    <a:lnTo>
                      <a:pt x="1" y="112"/>
                    </a:lnTo>
                    <a:lnTo>
                      <a:pt x="4" y="117"/>
                    </a:lnTo>
                    <a:lnTo>
                      <a:pt x="7" y="123"/>
                    </a:lnTo>
                    <a:lnTo>
                      <a:pt x="12" y="132"/>
                    </a:lnTo>
                    <a:lnTo>
                      <a:pt x="19" y="142"/>
                    </a:lnTo>
                    <a:lnTo>
                      <a:pt x="24" y="155"/>
                    </a:lnTo>
                    <a:lnTo>
                      <a:pt x="30" y="169"/>
                    </a:lnTo>
                    <a:lnTo>
                      <a:pt x="34" y="185"/>
                    </a:lnTo>
                    <a:lnTo>
                      <a:pt x="37" y="201"/>
                    </a:lnTo>
                    <a:lnTo>
                      <a:pt x="38" y="218"/>
                    </a:lnTo>
                    <a:lnTo>
                      <a:pt x="46" y="2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61" name="Freeform 1113"/>
              <p:cNvSpPr>
                <a:spLocks/>
              </p:cNvSpPr>
              <p:nvPr/>
            </p:nvSpPr>
            <p:spPr bwMode="auto">
              <a:xfrm>
                <a:off x="3130" y="3189"/>
                <a:ext cx="96" cy="229"/>
              </a:xfrm>
              <a:custGeom>
                <a:avLst/>
                <a:gdLst>
                  <a:gd name="T0" fmla="*/ 59 w 96"/>
                  <a:gd name="T1" fmla="*/ 207 h 229"/>
                  <a:gd name="T2" fmla="*/ 61 w 96"/>
                  <a:gd name="T3" fmla="*/ 191 h 229"/>
                  <a:gd name="T4" fmla="*/ 65 w 96"/>
                  <a:gd name="T5" fmla="*/ 176 h 229"/>
                  <a:gd name="T6" fmla="*/ 71 w 96"/>
                  <a:gd name="T7" fmla="*/ 162 h 229"/>
                  <a:gd name="T8" fmla="*/ 76 w 96"/>
                  <a:gd name="T9" fmla="*/ 150 h 229"/>
                  <a:gd name="T10" fmla="*/ 83 w 96"/>
                  <a:gd name="T11" fmla="*/ 140 h 229"/>
                  <a:gd name="T12" fmla="*/ 91 w 96"/>
                  <a:gd name="T13" fmla="*/ 125 h 229"/>
                  <a:gd name="T14" fmla="*/ 93 w 96"/>
                  <a:gd name="T15" fmla="*/ 120 h 229"/>
                  <a:gd name="T16" fmla="*/ 95 w 96"/>
                  <a:gd name="T17" fmla="*/ 115 h 229"/>
                  <a:gd name="T18" fmla="*/ 85 w 96"/>
                  <a:gd name="T19" fmla="*/ 1 h 229"/>
                  <a:gd name="T20" fmla="*/ 15 w 96"/>
                  <a:gd name="T21" fmla="*/ 0 h 229"/>
                  <a:gd name="T22" fmla="*/ 10 w 96"/>
                  <a:gd name="T23" fmla="*/ 5 h 229"/>
                  <a:gd name="T24" fmla="*/ 1 w 96"/>
                  <a:gd name="T25" fmla="*/ 118 h 229"/>
                  <a:gd name="T26" fmla="*/ 6 w 96"/>
                  <a:gd name="T27" fmla="*/ 125 h 229"/>
                  <a:gd name="T28" fmla="*/ 9 w 96"/>
                  <a:gd name="T29" fmla="*/ 131 h 229"/>
                  <a:gd name="T30" fmla="*/ 18 w 96"/>
                  <a:gd name="T31" fmla="*/ 137 h 229"/>
                  <a:gd name="T32" fmla="*/ 25 w 96"/>
                  <a:gd name="T33" fmla="*/ 147 h 229"/>
                  <a:gd name="T34" fmla="*/ 31 w 96"/>
                  <a:gd name="T35" fmla="*/ 176 h 229"/>
                  <a:gd name="T36" fmla="*/ 35 w 96"/>
                  <a:gd name="T37" fmla="*/ 192 h 229"/>
                  <a:gd name="T38" fmla="*/ 38 w 96"/>
                  <a:gd name="T39" fmla="*/ 207 h 229"/>
                  <a:gd name="T40" fmla="*/ 39 w 96"/>
                  <a:gd name="T41" fmla="*/ 224 h 229"/>
                  <a:gd name="T42" fmla="*/ 52 w 96"/>
                  <a:gd name="T43" fmla="*/ 229 h 229"/>
                  <a:gd name="T44" fmla="*/ 48 w 96"/>
                  <a:gd name="T45" fmla="*/ 219 h 229"/>
                  <a:gd name="T46" fmla="*/ 49 w 96"/>
                  <a:gd name="T47" fmla="*/ 206 h 229"/>
                  <a:gd name="T48" fmla="*/ 45 w 96"/>
                  <a:gd name="T49" fmla="*/ 189 h 229"/>
                  <a:gd name="T50" fmla="*/ 36 w 96"/>
                  <a:gd name="T51" fmla="*/ 158 h 229"/>
                  <a:gd name="T52" fmla="*/ 24 w 96"/>
                  <a:gd name="T53" fmla="*/ 134 h 229"/>
                  <a:gd name="T54" fmla="*/ 13 w 96"/>
                  <a:gd name="T55" fmla="*/ 128 h 229"/>
                  <a:gd name="T56" fmla="*/ 14 w 96"/>
                  <a:gd name="T57" fmla="*/ 118 h 229"/>
                  <a:gd name="T58" fmla="*/ 12 w 96"/>
                  <a:gd name="T59" fmla="*/ 115 h 229"/>
                  <a:gd name="T60" fmla="*/ 12 w 96"/>
                  <a:gd name="T61" fmla="*/ 116 h 229"/>
                  <a:gd name="T62" fmla="*/ 20 w 96"/>
                  <a:gd name="T63" fmla="*/ 9 h 229"/>
                  <a:gd name="T64" fmla="*/ 15 w 96"/>
                  <a:gd name="T65" fmla="*/ 12 h 229"/>
                  <a:gd name="T66" fmla="*/ 76 w 96"/>
                  <a:gd name="T67" fmla="*/ 9 h 229"/>
                  <a:gd name="T68" fmla="*/ 85 w 96"/>
                  <a:gd name="T69" fmla="*/ 116 h 229"/>
                  <a:gd name="T70" fmla="*/ 85 w 96"/>
                  <a:gd name="T71" fmla="*/ 115 h 229"/>
                  <a:gd name="T72" fmla="*/ 82 w 96"/>
                  <a:gd name="T73" fmla="*/ 118 h 229"/>
                  <a:gd name="T74" fmla="*/ 83 w 96"/>
                  <a:gd name="T75" fmla="*/ 128 h 229"/>
                  <a:gd name="T76" fmla="*/ 73 w 96"/>
                  <a:gd name="T77" fmla="*/ 134 h 229"/>
                  <a:gd name="T78" fmla="*/ 67 w 96"/>
                  <a:gd name="T79" fmla="*/ 145 h 229"/>
                  <a:gd name="T80" fmla="*/ 55 w 96"/>
                  <a:gd name="T81" fmla="*/ 173 h 229"/>
                  <a:gd name="T82" fmla="*/ 47 w 96"/>
                  <a:gd name="T83" fmla="*/ 205 h 22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6"/>
                  <a:gd name="T127" fmla="*/ 0 h 229"/>
                  <a:gd name="T128" fmla="*/ 96 w 96"/>
                  <a:gd name="T129" fmla="*/ 229 h 22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6" h="229">
                    <a:moveTo>
                      <a:pt x="46" y="223"/>
                    </a:moveTo>
                    <a:lnTo>
                      <a:pt x="58" y="224"/>
                    </a:lnTo>
                    <a:lnTo>
                      <a:pt x="59" y="207"/>
                    </a:lnTo>
                    <a:lnTo>
                      <a:pt x="53" y="206"/>
                    </a:lnTo>
                    <a:lnTo>
                      <a:pt x="58" y="207"/>
                    </a:lnTo>
                    <a:lnTo>
                      <a:pt x="61" y="191"/>
                    </a:lnTo>
                    <a:lnTo>
                      <a:pt x="56" y="190"/>
                    </a:lnTo>
                    <a:lnTo>
                      <a:pt x="61" y="192"/>
                    </a:lnTo>
                    <a:lnTo>
                      <a:pt x="65" y="176"/>
                    </a:lnTo>
                    <a:lnTo>
                      <a:pt x="60" y="174"/>
                    </a:lnTo>
                    <a:lnTo>
                      <a:pt x="65" y="176"/>
                    </a:lnTo>
                    <a:lnTo>
                      <a:pt x="71" y="162"/>
                    </a:lnTo>
                    <a:lnTo>
                      <a:pt x="76" y="149"/>
                    </a:lnTo>
                    <a:lnTo>
                      <a:pt x="71" y="147"/>
                    </a:lnTo>
                    <a:lnTo>
                      <a:pt x="76" y="150"/>
                    </a:lnTo>
                    <a:lnTo>
                      <a:pt x="83" y="140"/>
                    </a:lnTo>
                    <a:lnTo>
                      <a:pt x="77" y="137"/>
                    </a:lnTo>
                    <a:lnTo>
                      <a:pt x="83" y="140"/>
                    </a:lnTo>
                    <a:lnTo>
                      <a:pt x="88" y="131"/>
                    </a:lnTo>
                    <a:lnTo>
                      <a:pt x="91" y="125"/>
                    </a:lnTo>
                    <a:lnTo>
                      <a:pt x="86" y="122"/>
                    </a:lnTo>
                    <a:lnTo>
                      <a:pt x="90" y="125"/>
                    </a:lnTo>
                    <a:lnTo>
                      <a:pt x="93" y="120"/>
                    </a:lnTo>
                    <a:lnTo>
                      <a:pt x="94" y="120"/>
                    </a:lnTo>
                    <a:lnTo>
                      <a:pt x="95" y="118"/>
                    </a:lnTo>
                    <a:lnTo>
                      <a:pt x="95" y="115"/>
                    </a:lnTo>
                    <a:lnTo>
                      <a:pt x="96" y="115"/>
                    </a:lnTo>
                    <a:lnTo>
                      <a:pt x="87" y="5"/>
                    </a:lnTo>
                    <a:lnTo>
                      <a:pt x="85" y="1"/>
                    </a:lnTo>
                    <a:lnTo>
                      <a:pt x="80" y="0"/>
                    </a:lnTo>
                    <a:lnTo>
                      <a:pt x="47" y="0"/>
                    </a:lnTo>
                    <a:lnTo>
                      <a:pt x="15" y="0"/>
                    </a:lnTo>
                    <a:lnTo>
                      <a:pt x="11" y="1"/>
                    </a:lnTo>
                    <a:lnTo>
                      <a:pt x="10" y="5"/>
                    </a:lnTo>
                    <a:lnTo>
                      <a:pt x="0" y="115"/>
                    </a:lnTo>
                    <a:lnTo>
                      <a:pt x="1" y="118"/>
                    </a:lnTo>
                    <a:lnTo>
                      <a:pt x="2" y="120"/>
                    </a:lnTo>
                    <a:lnTo>
                      <a:pt x="6" y="125"/>
                    </a:lnTo>
                    <a:lnTo>
                      <a:pt x="10" y="122"/>
                    </a:lnTo>
                    <a:lnTo>
                      <a:pt x="6" y="125"/>
                    </a:lnTo>
                    <a:lnTo>
                      <a:pt x="9" y="131"/>
                    </a:lnTo>
                    <a:lnTo>
                      <a:pt x="14" y="140"/>
                    </a:lnTo>
                    <a:lnTo>
                      <a:pt x="18" y="137"/>
                    </a:lnTo>
                    <a:lnTo>
                      <a:pt x="14" y="140"/>
                    </a:lnTo>
                    <a:lnTo>
                      <a:pt x="21" y="150"/>
                    </a:lnTo>
                    <a:lnTo>
                      <a:pt x="25" y="147"/>
                    </a:lnTo>
                    <a:lnTo>
                      <a:pt x="21" y="149"/>
                    </a:lnTo>
                    <a:lnTo>
                      <a:pt x="26" y="162"/>
                    </a:lnTo>
                    <a:lnTo>
                      <a:pt x="31" y="176"/>
                    </a:lnTo>
                    <a:lnTo>
                      <a:pt x="36" y="174"/>
                    </a:lnTo>
                    <a:lnTo>
                      <a:pt x="30" y="176"/>
                    </a:lnTo>
                    <a:lnTo>
                      <a:pt x="35" y="192"/>
                    </a:lnTo>
                    <a:lnTo>
                      <a:pt x="40" y="190"/>
                    </a:lnTo>
                    <a:lnTo>
                      <a:pt x="35" y="191"/>
                    </a:lnTo>
                    <a:lnTo>
                      <a:pt x="38" y="207"/>
                    </a:lnTo>
                    <a:lnTo>
                      <a:pt x="43" y="206"/>
                    </a:lnTo>
                    <a:lnTo>
                      <a:pt x="38" y="207"/>
                    </a:lnTo>
                    <a:lnTo>
                      <a:pt x="39" y="224"/>
                    </a:lnTo>
                    <a:lnTo>
                      <a:pt x="40" y="227"/>
                    </a:lnTo>
                    <a:lnTo>
                      <a:pt x="44" y="229"/>
                    </a:lnTo>
                    <a:lnTo>
                      <a:pt x="52" y="229"/>
                    </a:lnTo>
                    <a:lnTo>
                      <a:pt x="52" y="218"/>
                    </a:lnTo>
                    <a:lnTo>
                      <a:pt x="44" y="218"/>
                    </a:lnTo>
                    <a:lnTo>
                      <a:pt x="48" y="219"/>
                    </a:lnTo>
                    <a:lnTo>
                      <a:pt x="44" y="223"/>
                    </a:lnTo>
                    <a:lnTo>
                      <a:pt x="51" y="223"/>
                    </a:lnTo>
                    <a:lnTo>
                      <a:pt x="49" y="206"/>
                    </a:lnTo>
                    <a:lnTo>
                      <a:pt x="48" y="205"/>
                    </a:lnTo>
                    <a:lnTo>
                      <a:pt x="45" y="189"/>
                    </a:lnTo>
                    <a:lnTo>
                      <a:pt x="41" y="173"/>
                    </a:lnTo>
                    <a:lnTo>
                      <a:pt x="41" y="172"/>
                    </a:lnTo>
                    <a:lnTo>
                      <a:pt x="36" y="158"/>
                    </a:lnTo>
                    <a:lnTo>
                      <a:pt x="30" y="145"/>
                    </a:lnTo>
                    <a:lnTo>
                      <a:pt x="24" y="134"/>
                    </a:lnTo>
                    <a:lnTo>
                      <a:pt x="24" y="133"/>
                    </a:lnTo>
                    <a:lnTo>
                      <a:pt x="18" y="125"/>
                    </a:lnTo>
                    <a:lnTo>
                      <a:pt x="13" y="128"/>
                    </a:lnTo>
                    <a:lnTo>
                      <a:pt x="18" y="126"/>
                    </a:lnTo>
                    <a:lnTo>
                      <a:pt x="15" y="119"/>
                    </a:lnTo>
                    <a:lnTo>
                      <a:pt x="14" y="118"/>
                    </a:lnTo>
                    <a:lnTo>
                      <a:pt x="11" y="114"/>
                    </a:lnTo>
                    <a:lnTo>
                      <a:pt x="7" y="117"/>
                    </a:lnTo>
                    <a:lnTo>
                      <a:pt x="12" y="115"/>
                    </a:lnTo>
                    <a:lnTo>
                      <a:pt x="11" y="113"/>
                    </a:lnTo>
                    <a:lnTo>
                      <a:pt x="6" y="115"/>
                    </a:lnTo>
                    <a:lnTo>
                      <a:pt x="12" y="116"/>
                    </a:lnTo>
                    <a:lnTo>
                      <a:pt x="22" y="6"/>
                    </a:lnTo>
                    <a:lnTo>
                      <a:pt x="15" y="10"/>
                    </a:lnTo>
                    <a:lnTo>
                      <a:pt x="20" y="9"/>
                    </a:lnTo>
                    <a:lnTo>
                      <a:pt x="21" y="5"/>
                    </a:lnTo>
                    <a:lnTo>
                      <a:pt x="15" y="5"/>
                    </a:lnTo>
                    <a:lnTo>
                      <a:pt x="15" y="12"/>
                    </a:lnTo>
                    <a:lnTo>
                      <a:pt x="47" y="12"/>
                    </a:lnTo>
                    <a:lnTo>
                      <a:pt x="80" y="12"/>
                    </a:lnTo>
                    <a:lnTo>
                      <a:pt x="76" y="9"/>
                    </a:lnTo>
                    <a:lnTo>
                      <a:pt x="80" y="5"/>
                    </a:lnTo>
                    <a:lnTo>
                      <a:pt x="75" y="6"/>
                    </a:lnTo>
                    <a:lnTo>
                      <a:pt x="85" y="116"/>
                    </a:lnTo>
                    <a:lnTo>
                      <a:pt x="90" y="115"/>
                    </a:lnTo>
                    <a:lnTo>
                      <a:pt x="86" y="113"/>
                    </a:lnTo>
                    <a:lnTo>
                      <a:pt x="85" y="115"/>
                    </a:lnTo>
                    <a:lnTo>
                      <a:pt x="89" y="117"/>
                    </a:lnTo>
                    <a:lnTo>
                      <a:pt x="85" y="114"/>
                    </a:lnTo>
                    <a:lnTo>
                      <a:pt x="82" y="118"/>
                    </a:lnTo>
                    <a:lnTo>
                      <a:pt x="82" y="119"/>
                    </a:lnTo>
                    <a:lnTo>
                      <a:pt x="78" y="126"/>
                    </a:lnTo>
                    <a:lnTo>
                      <a:pt x="83" y="128"/>
                    </a:lnTo>
                    <a:lnTo>
                      <a:pt x="78" y="125"/>
                    </a:lnTo>
                    <a:lnTo>
                      <a:pt x="73" y="133"/>
                    </a:lnTo>
                    <a:lnTo>
                      <a:pt x="73" y="134"/>
                    </a:lnTo>
                    <a:lnTo>
                      <a:pt x="67" y="145"/>
                    </a:lnTo>
                    <a:lnTo>
                      <a:pt x="65" y="147"/>
                    </a:lnTo>
                    <a:lnTo>
                      <a:pt x="67" y="145"/>
                    </a:lnTo>
                    <a:lnTo>
                      <a:pt x="61" y="158"/>
                    </a:lnTo>
                    <a:lnTo>
                      <a:pt x="56" y="172"/>
                    </a:lnTo>
                    <a:lnTo>
                      <a:pt x="55" y="173"/>
                    </a:lnTo>
                    <a:lnTo>
                      <a:pt x="51" y="189"/>
                    </a:lnTo>
                    <a:lnTo>
                      <a:pt x="47" y="205"/>
                    </a:lnTo>
                    <a:lnTo>
                      <a:pt x="47" y="206"/>
                    </a:lnTo>
                    <a:lnTo>
                      <a:pt x="46" y="22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62" name="Line 1114"/>
              <p:cNvSpPr>
                <a:spLocks noChangeShapeType="1"/>
              </p:cNvSpPr>
              <p:nvPr/>
            </p:nvSpPr>
            <p:spPr bwMode="auto">
              <a:xfrm flipV="1">
                <a:off x="3177" y="3308"/>
                <a:ext cx="1" cy="103"/>
              </a:xfrm>
              <a:prstGeom prst="line">
                <a:avLst/>
              </a:prstGeom>
              <a:noFill/>
              <a:ln w="11113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63" name="Freeform 1115"/>
              <p:cNvSpPr>
                <a:spLocks/>
              </p:cNvSpPr>
              <p:nvPr/>
            </p:nvSpPr>
            <p:spPr bwMode="auto">
              <a:xfrm>
                <a:off x="3168" y="3298"/>
                <a:ext cx="21" cy="21"/>
              </a:xfrm>
              <a:custGeom>
                <a:avLst/>
                <a:gdLst>
                  <a:gd name="T0" fmla="*/ 9 w 21"/>
                  <a:gd name="T1" fmla="*/ 21 h 21"/>
                  <a:gd name="T2" fmla="*/ 11 w 21"/>
                  <a:gd name="T3" fmla="*/ 21 h 21"/>
                  <a:gd name="T4" fmla="*/ 14 w 21"/>
                  <a:gd name="T5" fmla="*/ 20 h 21"/>
                  <a:gd name="T6" fmla="*/ 15 w 21"/>
                  <a:gd name="T7" fmla="*/ 20 h 21"/>
                  <a:gd name="T8" fmla="*/ 17 w 21"/>
                  <a:gd name="T9" fmla="*/ 19 h 21"/>
                  <a:gd name="T10" fmla="*/ 17 w 21"/>
                  <a:gd name="T11" fmla="*/ 18 h 21"/>
                  <a:gd name="T12" fmla="*/ 19 w 21"/>
                  <a:gd name="T13" fmla="*/ 17 h 21"/>
                  <a:gd name="T14" fmla="*/ 20 w 21"/>
                  <a:gd name="T15" fmla="*/ 16 h 21"/>
                  <a:gd name="T16" fmla="*/ 20 w 21"/>
                  <a:gd name="T17" fmla="*/ 14 h 21"/>
                  <a:gd name="T18" fmla="*/ 20 w 21"/>
                  <a:gd name="T19" fmla="*/ 11 h 21"/>
                  <a:gd name="T20" fmla="*/ 21 w 21"/>
                  <a:gd name="T21" fmla="*/ 10 h 21"/>
                  <a:gd name="T22" fmla="*/ 20 w 21"/>
                  <a:gd name="T23" fmla="*/ 8 h 21"/>
                  <a:gd name="T24" fmla="*/ 20 w 21"/>
                  <a:gd name="T25" fmla="*/ 7 h 21"/>
                  <a:gd name="T26" fmla="*/ 20 w 21"/>
                  <a:gd name="T27" fmla="*/ 5 h 21"/>
                  <a:gd name="T28" fmla="*/ 19 w 21"/>
                  <a:gd name="T29" fmla="*/ 4 h 21"/>
                  <a:gd name="T30" fmla="*/ 17 w 21"/>
                  <a:gd name="T31" fmla="*/ 3 h 21"/>
                  <a:gd name="T32" fmla="*/ 17 w 21"/>
                  <a:gd name="T33" fmla="*/ 2 h 21"/>
                  <a:gd name="T34" fmla="*/ 15 w 21"/>
                  <a:gd name="T35" fmla="*/ 2 h 21"/>
                  <a:gd name="T36" fmla="*/ 14 w 21"/>
                  <a:gd name="T37" fmla="*/ 0 h 21"/>
                  <a:gd name="T38" fmla="*/ 11 w 21"/>
                  <a:gd name="T39" fmla="*/ 0 h 21"/>
                  <a:gd name="T40" fmla="*/ 10 w 21"/>
                  <a:gd name="T41" fmla="*/ 0 h 21"/>
                  <a:gd name="T42" fmla="*/ 8 w 21"/>
                  <a:gd name="T43" fmla="*/ 0 h 21"/>
                  <a:gd name="T44" fmla="*/ 7 w 21"/>
                  <a:gd name="T45" fmla="*/ 0 h 21"/>
                  <a:gd name="T46" fmla="*/ 5 w 21"/>
                  <a:gd name="T47" fmla="*/ 2 h 21"/>
                  <a:gd name="T48" fmla="*/ 4 w 21"/>
                  <a:gd name="T49" fmla="*/ 2 h 21"/>
                  <a:gd name="T50" fmla="*/ 3 w 21"/>
                  <a:gd name="T51" fmla="*/ 3 h 21"/>
                  <a:gd name="T52" fmla="*/ 2 w 21"/>
                  <a:gd name="T53" fmla="*/ 4 h 21"/>
                  <a:gd name="T54" fmla="*/ 1 w 21"/>
                  <a:gd name="T55" fmla="*/ 5 h 21"/>
                  <a:gd name="T56" fmla="*/ 0 w 21"/>
                  <a:gd name="T57" fmla="*/ 7 h 21"/>
                  <a:gd name="T58" fmla="*/ 0 w 21"/>
                  <a:gd name="T59" fmla="*/ 8 h 21"/>
                  <a:gd name="T60" fmla="*/ 0 w 21"/>
                  <a:gd name="T61" fmla="*/ 10 h 21"/>
                  <a:gd name="T62" fmla="*/ 0 w 21"/>
                  <a:gd name="T63" fmla="*/ 11 h 21"/>
                  <a:gd name="T64" fmla="*/ 0 w 21"/>
                  <a:gd name="T65" fmla="*/ 14 h 21"/>
                  <a:gd name="T66" fmla="*/ 1 w 21"/>
                  <a:gd name="T67" fmla="*/ 16 h 21"/>
                  <a:gd name="T68" fmla="*/ 2 w 21"/>
                  <a:gd name="T69" fmla="*/ 17 h 21"/>
                  <a:gd name="T70" fmla="*/ 3 w 21"/>
                  <a:gd name="T71" fmla="*/ 18 h 21"/>
                  <a:gd name="T72" fmla="*/ 4 w 21"/>
                  <a:gd name="T73" fmla="*/ 19 h 21"/>
                  <a:gd name="T74" fmla="*/ 5 w 21"/>
                  <a:gd name="T75" fmla="*/ 20 h 21"/>
                  <a:gd name="T76" fmla="*/ 7 w 21"/>
                  <a:gd name="T77" fmla="*/ 20 h 21"/>
                  <a:gd name="T78" fmla="*/ 8 w 21"/>
                  <a:gd name="T79" fmla="*/ 21 h 21"/>
                  <a:gd name="T80" fmla="*/ 10 w 21"/>
                  <a:gd name="T81" fmla="*/ 21 h 21"/>
                  <a:gd name="T82" fmla="*/ 9 w 21"/>
                  <a:gd name="T83" fmla="*/ 21 h 2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1"/>
                  <a:gd name="T127" fmla="*/ 0 h 21"/>
                  <a:gd name="T128" fmla="*/ 21 w 21"/>
                  <a:gd name="T129" fmla="*/ 21 h 2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1" h="21">
                    <a:moveTo>
                      <a:pt x="9" y="21"/>
                    </a:moveTo>
                    <a:lnTo>
                      <a:pt x="11" y="21"/>
                    </a:lnTo>
                    <a:lnTo>
                      <a:pt x="14" y="20"/>
                    </a:lnTo>
                    <a:lnTo>
                      <a:pt x="15" y="20"/>
                    </a:lnTo>
                    <a:lnTo>
                      <a:pt x="17" y="19"/>
                    </a:lnTo>
                    <a:lnTo>
                      <a:pt x="17" y="18"/>
                    </a:lnTo>
                    <a:lnTo>
                      <a:pt x="19" y="17"/>
                    </a:lnTo>
                    <a:lnTo>
                      <a:pt x="20" y="16"/>
                    </a:lnTo>
                    <a:lnTo>
                      <a:pt x="20" y="14"/>
                    </a:lnTo>
                    <a:lnTo>
                      <a:pt x="20" y="11"/>
                    </a:lnTo>
                    <a:lnTo>
                      <a:pt x="21" y="10"/>
                    </a:lnTo>
                    <a:lnTo>
                      <a:pt x="20" y="8"/>
                    </a:lnTo>
                    <a:lnTo>
                      <a:pt x="20" y="7"/>
                    </a:lnTo>
                    <a:lnTo>
                      <a:pt x="20" y="5"/>
                    </a:lnTo>
                    <a:lnTo>
                      <a:pt x="19" y="4"/>
                    </a:lnTo>
                    <a:lnTo>
                      <a:pt x="17" y="3"/>
                    </a:lnTo>
                    <a:lnTo>
                      <a:pt x="17" y="2"/>
                    </a:lnTo>
                    <a:lnTo>
                      <a:pt x="15" y="2"/>
                    </a:lnTo>
                    <a:lnTo>
                      <a:pt x="14" y="0"/>
                    </a:lnTo>
                    <a:lnTo>
                      <a:pt x="11" y="0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7" y="0"/>
                    </a:lnTo>
                    <a:lnTo>
                      <a:pt x="5" y="2"/>
                    </a:lnTo>
                    <a:lnTo>
                      <a:pt x="4" y="2"/>
                    </a:lnTo>
                    <a:lnTo>
                      <a:pt x="3" y="3"/>
                    </a:lnTo>
                    <a:lnTo>
                      <a:pt x="2" y="4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1" y="16"/>
                    </a:lnTo>
                    <a:lnTo>
                      <a:pt x="2" y="17"/>
                    </a:lnTo>
                    <a:lnTo>
                      <a:pt x="3" y="18"/>
                    </a:lnTo>
                    <a:lnTo>
                      <a:pt x="4" y="19"/>
                    </a:lnTo>
                    <a:lnTo>
                      <a:pt x="5" y="20"/>
                    </a:lnTo>
                    <a:lnTo>
                      <a:pt x="7" y="20"/>
                    </a:lnTo>
                    <a:lnTo>
                      <a:pt x="8" y="21"/>
                    </a:lnTo>
                    <a:lnTo>
                      <a:pt x="10" y="21"/>
                    </a:ln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64" name="Freeform 1116"/>
              <p:cNvSpPr>
                <a:spLocks/>
              </p:cNvSpPr>
              <p:nvPr/>
            </p:nvSpPr>
            <p:spPr bwMode="auto">
              <a:xfrm>
                <a:off x="3136" y="3151"/>
                <a:ext cx="84" cy="42"/>
              </a:xfrm>
              <a:custGeom>
                <a:avLst/>
                <a:gdLst>
                  <a:gd name="T0" fmla="*/ 0 w 84"/>
                  <a:gd name="T1" fmla="*/ 0 h 42"/>
                  <a:gd name="T2" fmla="*/ 0 w 84"/>
                  <a:gd name="T3" fmla="*/ 42 h 42"/>
                  <a:gd name="T4" fmla="*/ 84 w 84"/>
                  <a:gd name="T5" fmla="*/ 42 h 42"/>
                  <a:gd name="T6" fmla="*/ 84 w 84"/>
                  <a:gd name="T7" fmla="*/ 0 h 42"/>
                  <a:gd name="T8" fmla="*/ 0 w 84"/>
                  <a:gd name="T9" fmla="*/ 0 h 42"/>
                  <a:gd name="T10" fmla="*/ 0 w 84"/>
                  <a:gd name="T11" fmla="*/ 0 h 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4"/>
                  <a:gd name="T19" fmla="*/ 0 h 42"/>
                  <a:gd name="T20" fmla="*/ 84 w 84"/>
                  <a:gd name="T21" fmla="*/ 42 h 4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4" h="42">
                    <a:moveTo>
                      <a:pt x="0" y="0"/>
                    </a:moveTo>
                    <a:lnTo>
                      <a:pt x="0" y="42"/>
                    </a:lnTo>
                    <a:lnTo>
                      <a:pt x="84" y="42"/>
                    </a:lnTo>
                    <a:lnTo>
                      <a:pt x="8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4950" name="Rectangle 1117"/>
            <p:cNvSpPr>
              <a:spLocks noChangeArrowheads="1"/>
            </p:cNvSpPr>
            <p:nvPr/>
          </p:nvSpPr>
          <p:spPr bwMode="auto">
            <a:xfrm>
              <a:off x="3358" y="4004"/>
              <a:ext cx="558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1000" b="0">
                  <a:solidFill>
                    <a:srgbClr val="000000"/>
                  </a:solidFill>
                  <a:latin typeface="Arial Narrow" pitchFamily="34" charset="0"/>
                </a:rPr>
                <a:t>Final Evaluation</a:t>
              </a:r>
              <a:endParaRPr lang="en-US" sz="1000" b="0">
                <a:latin typeface="Times New Roman" pitchFamily="18" charset="0"/>
              </a:endParaRPr>
            </a:p>
          </p:txBody>
        </p:sp>
        <p:sp>
          <p:nvSpPr>
            <p:cNvPr id="24951" name="Rectangle 1118"/>
            <p:cNvSpPr>
              <a:spLocks noChangeArrowheads="1"/>
            </p:cNvSpPr>
            <p:nvPr/>
          </p:nvSpPr>
          <p:spPr bwMode="auto">
            <a:xfrm>
              <a:off x="2249" y="3543"/>
              <a:ext cx="1767" cy="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84238" eaLnBrk="0" hangingPunct="0"/>
              <a:r>
                <a:rPr lang="en-US" sz="900" u="sng">
                  <a:solidFill>
                    <a:srgbClr val="000000"/>
                  </a:solidFill>
                  <a:latin typeface="Arial Narrow" pitchFamily="34" charset="0"/>
                </a:rPr>
                <a:t>Field Implementation Phase</a:t>
              </a:r>
              <a:r>
                <a:rPr lang="en-US" sz="900">
                  <a:solidFill>
                    <a:srgbClr val="000000"/>
                  </a:solidFill>
                  <a:latin typeface="Arial Narrow" pitchFamily="34" charset="0"/>
                </a:rPr>
                <a:t>: Ensure Field Safe Work</a:t>
              </a:r>
            </a:p>
          </p:txBody>
        </p:sp>
        <p:sp>
          <p:nvSpPr>
            <p:cNvPr id="24952" name="Rectangle 1119"/>
            <p:cNvSpPr>
              <a:spLocks noChangeArrowheads="1"/>
            </p:cNvSpPr>
            <p:nvPr/>
          </p:nvSpPr>
          <p:spPr bwMode="auto">
            <a:xfrm>
              <a:off x="3012" y="3461"/>
              <a:ext cx="95" cy="72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953" name="Rectangle 1120"/>
            <p:cNvSpPr>
              <a:spLocks noChangeArrowheads="1"/>
            </p:cNvSpPr>
            <p:nvPr/>
          </p:nvSpPr>
          <p:spPr bwMode="auto">
            <a:xfrm>
              <a:off x="3018" y="3456"/>
              <a:ext cx="92" cy="50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954" name="Rectangle 1121"/>
            <p:cNvSpPr>
              <a:spLocks noChangeArrowheads="1"/>
            </p:cNvSpPr>
            <p:nvPr/>
          </p:nvSpPr>
          <p:spPr bwMode="auto">
            <a:xfrm>
              <a:off x="3015" y="2833"/>
              <a:ext cx="88" cy="54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FFFF66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24585" name="Group 1122"/>
          <p:cNvGrpSpPr>
            <a:grpSpLocks/>
          </p:cNvGrpSpPr>
          <p:nvPr/>
        </p:nvGrpSpPr>
        <p:grpSpPr bwMode="auto">
          <a:xfrm>
            <a:off x="2922588" y="1552575"/>
            <a:ext cx="700087" cy="755650"/>
            <a:chOff x="8574" y="8928"/>
            <a:chExt cx="764" cy="779"/>
          </a:xfrm>
        </p:grpSpPr>
        <p:grpSp>
          <p:nvGrpSpPr>
            <p:cNvPr id="24591" name="Group 1123"/>
            <p:cNvGrpSpPr>
              <a:grpSpLocks/>
            </p:cNvGrpSpPr>
            <p:nvPr/>
          </p:nvGrpSpPr>
          <p:grpSpPr bwMode="auto">
            <a:xfrm>
              <a:off x="8781" y="9130"/>
              <a:ext cx="352" cy="577"/>
              <a:chOff x="8781" y="9130"/>
              <a:chExt cx="352" cy="577"/>
            </a:xfrm>
          </p:grpSpPr>
          <p:sp>
            <p:nvSpPr>
              <p:cNvPr id="24727" name="Freeform 1124"/>
              <p:cNvSpPr>
                <a:spLocks/>
              </p:cNvSpPr>
              <p:nvPr/>
            </p:nvSpPr>
            <p:spPr bwMode="auto">
              <a:xfrm>
                <a:off x="8951" y="9664"/>
                <a:ext cx="16" cy="17"/>
              </a:xfrm>
              <a:custGeom>
                <a:avLst/>
                <a:gdLst>
                  <a:gd name="T0" fmla="*/ 17 w 34"/>
                  <a:gd name="T1" fmla="*/ 34 h 34"/>
                  <a:gd name="T2" fmla="*/ 23 w 34"/>
                  <a:gd name="T3" fmla="*/ 32 h 34"/>
                  <a:gd name="T4" fmla="*/ 29 w 34"/>
                  <a:gd name="T5" fmla="*/ 29 h 34"/>
                  <a:gd name="T6" fmla="*/ 32 w 34"/>
                  <a:gd name="T7" fmla="*/ 23 h 34"/>
                  <a:gd name="T8" fmla="*/ 34 w 34"/>
                  <a:gd name="T9" fmla="*/ 17 h 34"/>
                  <a:gd name="T10" fmla="*/ 32 w 34"/>
                  <a:gd name="T11" fmla="*/ 11 h 34"/>
                  <a:gd name="T12" fmla="*/ 29 w 34"/>
                  <a:gd name="T13" fmla="*/ 5 h 34"/>
                  <a:gd name="T14" fmla="*/ 23 w 34"/>
                  <a:gd name="T15" fmla="*/ 2 h 34"/>
                  <a:gd name="T16" fmla="*/ 17 w 34"/>
                  <a:gd name="T17" fmla="*/ 0 h 34"/>
                  <a:gd name="T18" fmla="*/ 9 w 34"/>
                  <a:gd name="T19" fmla="*/ 2 h 34"/>
                  <a:gd name="T20" fmla="*/ 5 w 34"/>
                  <a:gd name="T21" fmla="*/ 5 h 34"/>
                  <a:gd name="T22" fmla="*/ 2 w 34"/>
                  <a:gd name="T23" fmla="*/ 11 h 34"/>
                  <a:gd name="T24" fmla="*/ 0 w 34"/>
                  <a:gd name="T25" fmla="*/ 17 h 34"/>
                  <a:gd name="T26" fmla="*/ 2 w 34"/>
                  <a:gd name="T27" fmla="*/ 23 h 34"/>
                  <a:gd name="T28" fmla="*/ 5 w 34"/>
                  <a:gd name="T29" fmla="*/ 29 h 34"/>
                  <a:gd name="T30" fmla="*/ 9 w 34"/>
                  <a:gd name="T31" fmla="*/ 32 h 34"/>
                  <a:gd name="T32" fmla="*/ 17 w 34"/>
                  <a:gd name="T33" fmla="*/ 34 h 3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4"/>
                  <a:gd name="T52" fmla="*/ 0 h 34"/>
                  <a:gd name="T53" fmla="*/ 34 w 34"/>
                  <a:gd name="T54" fmla="*/ 34 h 3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4" h="34">
                    <a:moveTo>
                      <a:pt x="17" y="34"/>
                    </a:moveTo>
                    <a:lnTo>
                      <a:pt x="23" y="32"/>
                    </a:lnTo>
                    <a:lnTo>
                      <a:pt x="29" y="29"/>
                    </a:lnTo>
                    <a:lnTo>
                      <a:pt x="32" y="23"/>
                    </a:lnTo>
                    <a:lnTo>
                      <a:pt x="34" y="17"/>
                    </a:lnTo>
                    <a:lnTo>
                      <a:pt x="32" y="11"/>
                    </a:lnTo>
                    <a:lnTo>
                      <a:pt x="29" y="5"/>
                    </a:lnTo>
                    <a:lnTo>
                      <a:pt x="23" y="2"/>
                    </a:lnTo>
                    <a:lnTo>
                      <a:pt x="17" y="0"/>
                    </a:lnTo>
                    <a:lnTo>
                      <a:pt x="9" y="2"/>
                    </a:lnTo>
                    <a:lnTo>
                      <a:pt x="5" y="5"/>
                    </a:lnTo>
                    <a:lnTo>
                      <a:pt x="2" y="11"/>
                    </a:lnTo>
                    <a:lnTo>
                      <a:pt x="0" y="17"/>
                    </a:lnTo>
                    <a:lnTo>
                      <a:pt x="2" y="23"/>
                    </a:lnTo>
                    <a:lnTo>
                      <a:pt x="5" y="29"/>
                    </a:lnTo>
                    <a:lnTo>
                      <a:pt x="9" y="32"/>
                    </a:lnTo>
                    <a:lnTo>
                      <a:pt x="17" y="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28" name="Freeform 1125"/>
              <p:cNvSpPr>
                <a:spLocks/>
              </p:cNvSpPr>
              <p:nvPr/>
            </p:nvSpPr>
            <p:spPr bwMode="auto">
              <a:xfrm>
                <a:off x="8941" y="9655"/>
                <a:ext cx="52" cy="52"/>
              </a:xfrm>
              <a:custGeom>
                <a:avLst/>
                <a:gdLst>
                  <a:gd name="T0" fmla="*/ 0 w 103"/>
                  <a:gd name="T1" fmla="*/ 35 h 103"/>
                  <a:gd name="T2" fmla="*/ 0 w 103"/>
                  <a:gd name="T3" fmla="*/ 35 h 103"/>
                  <a:gd name="T4" fmla="*/ 1 w 103"/>
                  <a:gd name="T5" fmla="*/ 24 h 103"/>
                  <a:gd name="T6" fmla="*/ 10 w 103"/>
                  <a:gd name="T7" fmla="*/ 11 h 103"/>
                  <a:gd name="T8" fmla="*/ 24 w 103"/>
                  <a:gd name="T9" fmla="*/ 2 h 103"/>
                  <a:gd name="T10" fmla="*/ 35 w 103"/>
                  <a:gd name="T11" fmla="*/ 0 h 103"/>
                  <a:gd name="T12" fmla="*/ 35 w 103"/>
                  <a:gd name="T13" fmla="*/ 103 h 103"/>
                  <a:gd name="T14" fmla="*/ 58 w 103"/>
                  <a:gd name="T15" fmla="*/ 99 h 103"/>
                  <a:gd name="T16" fmla="*/ 84 w 103"/>
                  <a:gd name="T17" fmla="*/ 84 h 103"/>
                  <a:gd name="T18" fmla="*/ 99 w 103"/>
                  <a:gd name="T19" fmla="*/ 58 h 103"/>
                  <a:gd name="T20" fmla="*/ 103 w 103"/>
                  <a:gd name="T21" fmla="*/ 35 h 103"/>
                  <a:gd name="T22" fmla="*/ 103 w 103"/>
                  <a:gd name="T23" fmla="*/ 35 h 103"/>
                  <a:gd name="T24" fmla="*/ 0 w 103"/>
                  <a:gd name="T25" fmla="*/ 35 h 10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3"/>
                  <a:gd name="T40" fmla="*/ 0 h 103"/>
                  <a:gd name="T41" fmla="*/ 103 w 103"/>
                  <a:gd name="T42" fmla="*/ 103 h 10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3" h="103">
                    <a:moveTo>
                      <a:pt x="0" y="35"/>
                    </a:moveTo>
                    <a:lnTo>
                      <a:pt x="0" y="35"/>
                    </a:lnTo>
                    <a:lnTo>
                      <a:pt x="1" y="24"/>
                    </a:lnTo>
                    <a:lnTo>
                      <a:pt x="10" y="11"/>
                    </a:lnTo>
                    <a:lnTo>
                      <a:pt x="24" y="2"/>
                    </a:lnTo>
                    <a:lnTo>
                      <a:pt x="35" y="0"/>
                    </a:lnTo>
                    <a:lnTo>
                      <a:pt x="35" y="103"/>
                    </a:lnTo>
                    <a:lnTo>
                      <a:pt x="58" y="99"/>
                    </a:lnTo>
                    <a:lnTo>
                      <a:pt x="84" y="84"/>
                    </a:lnTo>
                    <a:lnTo>
                      <a:pt x="99" y="58"/>
                    </a:lnTo>
                    <a:lnTo>
                      <a:pt x="103" y="35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29" name="Freeform 1126"/>
              <p:cNvSpPr>
                <a:spLocks/>
              </p:cNvSpPr>
              <p:nvPr/>
            </p:nvSpPr>
            <p:spPr bwMode="auto">
              <a:xfrm>
                <a:off x="8941" y="9638"/>
                <a:ext cx="52" cy="52"/>
              </a:xfrm>
              <a:custGeom>
                <a:avLst/>
                <a:gdLst>
                  <a:gd name="T0" fmla="*/ 35 w 103"/>
                  <a:gd name="T1" fmla="*/ 103 h 103"/>
                  <a:gd name="T2" fmla="*/ 35 w 103"/>
                  <a:gd name="T3" fmla="*/ 103 h 103"/>
                  <a:gd name="T4" fmla="*/ 24 w 103"/>
                  <a:gd name="T5" fmla="*/ 102 h 103"/>
                  <a:gd name="T6" fmla="*/ 10 w 103"/>
                  <a:gd name="T7" fmla="*/ 92 h 103"/>
                  <a:gd name="T8" fmla="*/ 1 w 103"/>
                  <a:gd name="T9" fmla="*/ 79 h 103"/>
                  <a:gd name="T10" fmla="*/ 0 w 103"/>
                  <a:gd name="T11" fmla="*/ 68 h 103"/>
                  <a:gd name="T12" fmla="*/ 103 w 103"/>
                  <a:gd name="T13" fmla="*/ 68 h 103"/>
                  <a:gd name="T14" fmla="*/ 99 w 103"/>
                  <a:gd name="T15" fmla="*/ 45 h 103"/>
                  <a:gd name="T16" fmla="*/ 84 w 103"/>
                  <a:gd name="T17" fmla="*/ 19 h 103"/>
                  <a:gd name="T18" fmla="*/ 58 w 103"/>
                  <a:gd name="T19" fmla="*/ 4 h 103"/>
                  <a:gd name="T20" fmla="*/ 35 w 103"/>
                  <a:gd name="T21" fmla="*/ 0 h 103"/>
                  <a:gd name="T22" fmla="*/ 35 w 103"/>
                  <a:gd name="T23" fmla="*/ 0 h 103"/>
                  <a:gd name="T24" fmla="*/ 35 w 103"/>
                  <a:gd name="T25" fmla="*/ 103 h 10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3"/>
                  <a:gd name="T40" fmla="*/ 0 h 103"/>
                  <a:gd name="T41" fmla="*/ 103 w 103"/>
                  <a:gd name="T42" fmla="*/ 103 h 10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3" h="103">
                    <a:moveTo>
                      <a:pt x="35" y="103"/>
                    </a:moveTo>
                    <a:lnTo>
                      <a:pt x="35" y="103"/>
                    </a:lnTo>
                    <a:lnTo>
                      <a:pt x="24" y="102"/>
                    </a:lnTo>
                    <a:lnTo>
                      <a:pt x="10" y="92"/>
                    </a:lnTo>
                    <a:lnTo>
                      <a:pt x="1" y="79"/>
                    </a:lnTo>
                    <a:lnTo>
                      <a:pt x="0" y="68"/>
                    </a:lnTo>
                    <a:lnTo>
                      <a:pt x="103" y="68"/>
                    </a:lnTo>
                    <a:lnTo>
                      <a:pt x="99" y="45"/>
                    </a:lnTo>
                    <a:lnTo>
                      <a:pt x="84" y="19"/>
                    </a:lnTo>
                    <a:lnTo>
                      <a:pt x="58" y="4"/>
                    </a:lnTo>
                    <a:lnTo>
                      <a:pt x="35" y="0"/>
                    </a:lnTo>
                    <a:lnTo>
                      <a:pt x="35" y="10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30" name="Freeform 1127"/>
              <p:cNvSpPr>
                <a:spLocks/>
              </p:cNvSpPr>
              <p:nvPr/>
            </p:nvSpPr>
            <p:spPr bwMode="auto">
              <a:xfrm>
                <a:off x="8925" y="9638"/>
                <a:ext cx="51" cy="52"/>
              </a:xfrm>
              <a:custGeom>
                <a:avLst/>
                <a:gdLst>
                  <a:gd name="T0" fmla="*/ 104 w 104"/>
                  <a:gd name="T1" fmla="*/ 68 h 103"/>
                  <a:gd name="T2" fmla="*/ 104 w 104"/>
                  <a:gd name="T3" fmla="*/ 68 h 103"/>
                  <a:gd name="T4" fmla="*/ 102 w 104"/>
                  <a:gd name="T5" fmla="*/ 79 h 103"/>
                  <a:gd name="T6" fmla="*/ 96 w 104"/>
                  <a:gd name="T7" fmla="*/ 88 h 103"/>
                  <a:gd name="T8" fmla="*/ 78 w 104"/>
                  <a:gd name="T9" fmla="*/ 102 h 103"/>
                  <a:gd name="T10" fmla="*/ 69 w 104"/>
                  <a:gd name="T11" fmla="*/ 103 h 103"/>
                  <a:gd name="T12" fmla="*/ 69 w 104"/>
                  <a:gd name="T13" fmla="*/ 0 h 103"/>
                  <a:gd name="T14" fmla="*/ 44 w 104"/>
                  <a:gd name="T15" fmla="*/ 4 h 103"/>
                  <a:gd name="T16" fmla="*/ 17 w 104"/>
                  <a:gd name="T17" fmla="*/ 24 h 103"/>
                  <a:gd name="T18" fmla="*/ 5 w 104"/>
                  <a:gd name="T19" fmla="*/ 45 h 103"/>
                  <a:gd name="T20" fmla="*/ 0 w 104"/>
                  <a:gd name="T21" fmla="*/ 68 h 103"/>
                  <a:gd name="T22" fmla="*/ 0 w 104"/>
                  <a:gd name="T23" fmla="*/ 68 h 103"/>
                  <a:gd name="T24" fmla="*/ 104 w 104"/>
                  <a:gd name="T25" fmla="*/ 68 h 10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4"/>
                  <a:gd name="T40" fmla="*/ 0 h 103"/>
                  <a:gd name="T41" fmla="*/ 104 w 104"/>
                  <a:gd name="T42" fmla="*/ 103 h 10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4" h="103">
                    <a:moveTo>
                      <a:pt x="104" y="68"/>
                    </a:moveTo>
                    <a:lnTo>
                      <a:pt x="104" y="68"/>
                    </a:lnTo>
                    <a:lnTo>
                      <a:pt x="102" y="79"/>
                    </a:lnTo>
                    <a:lnTo>
                      <a:pt x="96" y="88"/>
                    </a:lnTo>
                    <a:lnTo>
                      <a:pt x="78" y="102"/>
                    </a:lnTo>
                    <a:lnTo>
                      <a:pt x="69" y="103"/>
                    </a:lnTo>
                    <a:lnTo>
                      <a:pt x="69" y="0"/>
                    </a:lnTo>
                    <a:lnTo>
                      <a:pt x="44" y="4"/>
                    </a:lnTo>
                    <a:lnTo>
                      <a:pt x="17" y="24"/>
                    </a:lnTo>
                    <a:lnTo>
                      <a:pt x="5" y="45"/>
                    </a:lnTo>
                    <a:lnTo>
                      <a:pt x="0" y="68"/>
                    </a:lnTo>
                    <a:lnTo>
                      <a:pt x="104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31" name="Freeform 1128"/>
              <p:cNvSpPr>
                <a:spLocks/>
              </p:cNvSpPr>
              <p:nvPr/>
            </p:nvSpPr>
            <p:spPr bwMode="auto">
              <a:xfrm>
                <a:off x="8925" y="9655"/>
                <a:ext cx="51" cy="52"/>
              </a:xfrm>
              <a:custGeom>
                <a:avLst/>
                <a:gdLst>
                  <a:gd name="T0" fmla="*/ 69 w 104"/>
                  <a:gd name="T1" fmla="*/ 0 h 103"/>
                  <a:gd name="T2" fmla="*/ 69 w 104"/>
                  <a:gd name="T3" fmla="*/ 0 h 103"/>
                  <a:gd name="T4" fmla="*/ 78 w 104"/>
                  <a:gd name="T5" fmla="*/ 2 h 103"/>
                  <a:gd name="T6" fmla="*/ 96 w 104"/>
                  <a:gd name="T7" fmla="*/ 15 h 103"/>
                  <a:gd name="T8" fmla="*/ 102 w 104"/>
                  <a:gd name="T9" fmla="*/ 24 h 103"/>
                  <a:gd name="T10" fmla="*/ 104 w 104"/>
                  <a:gd name="T11" fmla="*/ 35 h 103"/>
                  <a:gd name="T12" fmla="*/ 0 w 104"/>
                  <a:gd name="T13" fmla="*/ 35 h 103"/>
                  <a:gd name="T14" fmla="*/ 5 w 104"/>
                  <a:gd name="T15" fmla="*/ 58 h 103"/>
                  <a:gd name="T16" fmla="*/ 17 w 104"/>
                  <a:gd name="T17" fmla="*/ 79 h 103"/>
                  <a:gd name="T18" fmla="*/ 44 w 104"/>
                  <a:gd name="T19" fmla="*/ 99 h 103"/>
                  <a:gd name="T20" fmla="*/ 69 w 104"/>
                  <a:gd name="T21" fmla="*/ 103 h 103"/>
                  <a:gd name="T22" fmla="*/ 69 w 104"/>
                  <a:gd name="T23" fmla="*/ 103 h 103"/>
                  <a:gd name="T24" fmla="*/ 69 w 104"/>
                  <a:gd name="T25" fmla="*/ 0 h 10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4"/>
                  <a:gd name="T40" fmla="*/ 0 h 103"/>
                  <a:gd name="T41" fmla="*/ 104 w 104"/>
                  <a:gd name="T42" fmla="*/ 103 h 10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4" h="103">
                    <a:moveTo>
                      <a:pt x="69" y="0"/>
                    </a:moveTo>
                    <a:lnTo>
                      <a:pt x="69" y="0"/>
                    </a:lnTo>
                    <a:lnTo>
                      <a:pt x="78" y="2"/>
                    </a:lnTo>
                    <a:lnTo>
                      <a:pt x="96" y="15"/>
                    </a:lnTo>
                    <a:lnTo>
                      <a:pt x="102" y="24"/>
                    </a:lnTo>
                    <a:lnTo>
                      <a:pt x="104" y="35"/>
                    </a:lnTo>
                    <a:lnTo>
                      <a:pt x="0" y="35"/>
                    </a:lnTo>
                    <a:lnTo>
                      <a:pt x="5" y="58"/>
                    </a:lnTo>
                    <a:lnTo>
                      <a:pt x="17" y="79"/>
                    </a:lnTo>
                    <a:lnTo>
                      <a:pt x="44" y="99"/>
                    </a:lnTo>
                    <a:lnTo>
                      <a:pt x="69" y="103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32" name="Freeform 1129"/>
              <p:cNvSpPr>
                <a:spLocks/>
              </p:cNvSpPr>
              <p:nvPr/>
            </p:nvSpPr>
            <p:spPr bwMode="auto">
              <a:xfrm>
                <a:off x="8951" y="9664"/>
                <a:ext cx="16" cy="17"/>
              </a:xfrm>
              <a:custGeom>
                <a:avLst/>
                <a:gdLst>
                  <a:gd name="T0" fmla="*/ 17 w 34"/>
                  <a:gd name="T1" fmla="*/ 34 h 34"/>
                  <a:gd name="T2" fmla="*/ 23 w 34"/>
                  <a:gd name="T3" fmla="*/ 32 h 34"/>
                  <a:gd name="T4" fmla="*/ 29 w 34"/>
                  <a:gd name="T5" fmla="*/ 29 h 34"/>
                  <a:gd name="T6" fmla="*/ 32 w 34"/>
                  <a:gd name="T7" fmla="*/ 23 h 34"/>
                  <a:gd name="T8" fmla="*/ 34 w 34"/>
                  <a:gd name="T9" fmla="*/ 17 h 34"/>
                  <a:gd name="T10" fmla="*/ 32 w 34"/>
                  <a:gd name="T11" fmla="*/ 11 h 34"/>
                  <a:gd name="T12" fmla="*/ 29 w 34"/>
                  <a:gd name="T13" fmla="*/ 5 h 34"/>
                  <a:gd name="T14" fmla="*/ 23 w 34"/>
                  <a:gd name="T15" fmla="*/ 2 h 34"/>
                  <a:gd name="T16" fmla="*/ 17 w 34"/>
                  <a:gd name="T17" fmla="*/ 0 h 34"/>
                  <a:gd name="T18" fmla="*/ 9 w 34"/>
                  <a:gd name="T19" fmla="*/ 2 h 34"/>
                  <a:gd name="T20" fmla="*/ 5 w 34"/>
                  <a:gd name="T21" fmla="*/ 5 h 34"/>
                  <a:gd name="T22" fmla="*/ 2 w 34"/>
                  <a:gd name="T23" fmla="*/ 11 h 34"/>
                  <a:gd name="T24" fmla="*/ 0 w 34"/>
                  <a:gd name="T25" fmla="*/ 17 h 34"/>
                  <a:gd name="T26" fmla="*/ 2 w 34"/>
                  <a:gd name="T27" fmla="*/ 23 h 34"/>
                  <a:gd name="T28" fmla="*/ 5 w 34"/>
                  <a:gd name="T29" fmla="*/ 29 h 34"/>
                  <a:gd name="T30" fmla="*/ 9 w 34"/>
                  <a:gd name="T31" fmla="*/ 32 h 34"/>
                  <a:gd name="T32" fmla="*/ 17 w 34"/>
                  <a:gd name="T33" fmla="*/ 34 h 3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4"/>
                  <a:gd name="T52" fmla="*/ 0 h 34"/>
                  <a:gd name="T53" fmla="*/ 34 w 34"/>
                  <a:gd name="T54" fmla="*/ 34 h 3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4" h="34">
                    <a:moveTo>
                      <a:pt x="17" y="34"/>
                    </a:moveTo>
                    <a:lnTo>
                      <a:pt x="23" y="32"/>
                    </a:lnTo>
                    <a:lnTo>
                      <a:pt x="29" y="29"/>
                    </a:lnTo>
                    <a:lnTo>
                      <a:pt x="32" y="23"/>
                    </a:lnTo>
                    <a:lnTo>
                      <a:pt x="34" y="17"/>
                    </a:lnTo>
                    <a:lnTo>
                      <a:pt x="32" y="11"/>
                    </a:lnTo>
                    <a:lnTo>
                      <a:pt x="29" y="5"/>
                    </a:lnTo>
                    <a:lnTo>
                      <a:pt x="23" y="2"/>
                    </a:lnTo>
                    <a:lnTo>
                      <a:pt x="17" y="0"/>
                    </a:lnTo>
                    <a:lnTo>
                      <a:pt x="9" y="2"/>
                    </a:lnTo>
                    <a:lnTo>
                      <a:pt x="5" y="5"/>
                    </a:lnTo>
                    <a:lnTo>
                      <a:pt x="2" y="11"/>
                    </a:lnTo>
                    <a:lnTo>
                      <a:pt x="0" y="17"/>
                    </a:lnTo>
                    <a:lnTo>
                      <a:pt x="2" y="23"/>
                    </a:lnTo>
                    <a:lnTo>
                      <a:pt x="5" y="29"/>
                    </a:lnTo>
                    <a:lnTo>
                      <a:pt x="9" y="32"/>
                    </a:lnTo>
                    <a:lnTo>
                      <a:pt x="17" y="34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33" name="Freeform 1130"/>
              <p:cNvSpPr>
                <a:spLocks/>
              </p:cNvSpPr>
              <p:nvPr/>
            </p:nvSpPr>
            <p:spPr bwMode="auto">
              <a:xfrm>
                <a:off x="8958" y="9672"/>
                <a:ext cx="18" cy="18"/>
              </a:xfrm>
              <a:custGeom>
                <a:avLst/>
                <a:gdLst>
                  <a:gd name="T0" fmla="*/ 0 w 37"/>
                  <a:gd name="T1" fmla="*/ 1 h 36"/>
                  <a:gd name="T2" fmla="*/ 0 w 37"/>
                  <a:gd name="T3" fmla="*/ 1 h 36"/>
                  <a:gd name="T4" fmla="*/ 0 w 37"/>
                  <a:gd name="T5" fmla="*/ 1 h 36"/>
                  <a:gd name="T6" fmla="*/ 2 w 37"/>
                  <a:gd name="T7" fmla="*/ 1 h 36"/>
                  <a:gd name="T8" fmla="*/ 2 w 37"/>
                  <a:gd name="T9" fmla="*/ 0 h 36"/>
                  <a:gd name="T10" fmla="*/ 2 w 37"/>
                  <a:gd name="T11" fmla="*/ 0 h 36"/>
                  <a:gd name="T12" fmla="*/ 2 w 37"/>
                  <a:gd name="T13" fmla="*/ 36 h 36"/>
                  <a:gd name="T14" fmla="*/ 14 w 37"/>
                  <a:gd name="T15" fmla="*/ 33 h 36"/>
                  <a:gd name="T16" fmla="*/ 26 w 37"/>
                  <a:gd name="T17" fmla="*/ 25 h 36"/>
                  <a:gd name="T18" fmla="*/ 34 w 37"/>
                  <a:gd name="T19" fmla="*/ 13 h 36"/>
                  <a:gd name="T20" fmla="*/ 37 w 37"/>
                  <a:gd name="T21" fmla="*/ 1 h 36"/>
                  <a:gd name="T22" fmla="*/ 37 w 37"/>
                  <a:gd name="T23" fmla="*/ 1 h 36"/>
                  <a:gd name="T24" fmla="*/ 0 w 37"/>
                  <a:gd name="T25" fmla="*/ 1 h 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7"/>
                  <a:gd name="T40" fmla="*/ 0 h 36"/>
                  <a:gd name="T41" fmla="*/ 37 w 37"/>
                  <a:gd name="T42" fmla="*/ 36 h 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7" h="36">
                    <a:moveTo>
                      <a:pt x="0" y="1"/>
                    </a:moveTo>
                    <a:lnTo>
                      <a:pt x="0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36"/>
                    </a:lnTo>
                    <a:lnTo>
                      <a:pt x="14" y="33"/>
                    </a:lnTo>
                    <a:lnTo>
                      <a:pt x="26" y="25"/>
                    </a:lnTo>
                    <a:lnTo>
                      <a:pt x="34" y="13"/>
                    </a:lnTo>
                    <a:lnTo>
                      <a:pt x="3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34" name="Freeform 1131"/>
              <p:cNvSpPr>
                <a:spLocks/>
              </p:cNvSpPr>
              <p:nvPr/>
            </p:nvSpPr>
            <p:spPr bwMode="auto">
              <a:xfrm>
                <a:off x="8958" y="9655"/>
                <a:ext cx="18" cy="18"/>
              </a:xfrm>
              <a:custGeom>
                <a:avLst/>
                <a:gdLst>
                  <a:gd name="T0" fmla="*/ 2 w 37"/>
                  <a:gd name="T1" fmla="*/ 37 h 37"/>
                  <a:gd name="T2" fmla="*/ 2 w 37"/>
                  <a:gd name="T3" fmla="*/ 37 h 37"/>
                  <a:gd name="T4" fmla="*/ 2 w 37"/>
                  <a:gd name="T5" fmla="*/ 37 h 37"/>
                  <a:gd name="T6" fmla="*/ 2 w 37"/>
                  <a:gd name="T7" fmla="*/ 35 h 37"/>
                  <a:gd name="T8" fmla="*/ 0 w 37"/>
                  <a:gd name="T9" fmla="*/ 35 h 37"/>
                  <a:gd name="T10" fmla="*/ 0 w 37"/>
                  <a:gd name="T11" fmla="*/ 35 h 37"/>
                  <a:gd name="T12" fmla="*/ 37 w 37"/>
                  <a:gd name="T13" fmla="*/ 35 h 37"/>
                  <a:gd name="T14" fmla="*/ 34 w 37"/>
                  <a:gd name="T15" fmla="*/ 23 h 37"/>
                  <a:gd name="T16" fmla="*/ 26 w 37"/>
                  <a:gd name="T17" fmla="*/ 11 h 37"/>
                  <a:gd name="T18" fmla="*/ 14 w 37"/>
                  <a:gd name="T19" fmla="*/ 3 h 37"/>
                  <a:gd name="T20" fmla="*/ 2 w 37"/>
                  <a:gd name="T21" fmla="*/ 0 h 37"/>
                  <a:gd name="T22" fmla="*/ 2 w 37"/>
                  <a:gd name="T23" fmla="*/ 0 h 37"/>
                  <a:gd name="T24" fmla="*/ 2 w 37"/>
                  <a:gd name="T25" fmla="*/ 37 h 3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7"/>
                  <a:gd name="T40" fmla="*/ 0 h 37"/>
                  <a:gd name="T41" fmla="*/ 37 w 37"/>
                  <a:gd name="T42" fmla="*/ 37 h 3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7" h="37">
                    <a:moveTo>
                      <a:pt x="2" y="37"/>
                    </a:moveTo>
                    <a:lnTo>
                      <a:pt x="2" y="37"/>
                    </a:lnTo>
                    <a:lnTo>
                      <a:pt x="2" y="35"/>
                    </a:lnTo>
                    <a:lnTo>
                      <a:pt x="0" y="35"/>
                    </a:lnTo>
                    <a:lnTo>
                      <a:pt x="37" y="35"/>
                    </a:lnTo>
                    <a:lnTo>
                      <a:pt x="34" y="23"/>
                    </a:lnTo>
                    <a:lnTo>
                      <a:pt x="26" y="11"/>
                    </a:lnTo>
                    <a:lnTo>
                      <a:pt x="14" y="3"/>
                    </a:lnTo>
                    <a:lnTo>
                      <a:pt x="2" y="0"/>
                    </a:lnTo>
                    <a:lnTo>
                      <a:pt x="2" y="3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35" name="Freeform 1132"/>
              <p:cNvSpPr>
                <a:spLocks/>
              </p:cNvSpPr>
              <p:nvPr/>
            </p:nvSpPr>
            <p:spPr bwMode="auto">
              <a:xfrm>
                <a:off x="8941" y="9655"/>
                <a:ext cx="19" cy="18"/>
              </a:xfrm>
              <a:custGeom>
                <a:avLst/>
                <a:gdLst>
                  <a:gd name="T0" fmla="*/ 36 w 36"/>
                  <a:gd name="T1" fmla="*/ 35 h 37"/>
                  <a:gd name="T2" fmla="*/ 36 w 36"/>
                  <a:gd name="T3" fmla="*/ 35 h 37"/>
                  <a:gd name="T4" fmla="*/ 36 w 36"/>
                  <a:gd name="T5" fmla="*/ 35 h 37"/>
                  <a:gd name="T6" fmla="*/ 36 w 36"/>
                  <a:gd name="T7" fmla="*/ 34 h 37"/>
                  <a:gd name="T8" fmla="*/ 33 w 36"/>
                  <a:gd name="T9" fmla="*/ 37 h 37"/>
                  <a:gd name="T10" fmla="*/ 35 w 36"/>
                  <a:gd name="T11" fmla="*/ 37 h 37"/>
                  <a:gd name="T12" fmla="*/ 35 w 36"/>
                  <a:gd name="T13" fmla="*/ 0 h 37"/>
                  <a:gd name="T14" fmla="*/ 21 w 36"/>
                  <a:gd name="T15" fmla="*/ 3 h 37"/>
                  <a:gd name="T16" fmla="*/ 9 w 36"/>
                  <a:gd name="T17" fmla="*/ 12 h 37"/>
                  <a:gd name="T18" fmla="*/ 3 w 36"/>
                  <a:gd name="T19" fmla="*/ 23 h 37"/>
                  <a:gd name="T20" fmla="*/ 0 w 36"/>
                  <a:gd name="T21" fmla="*/ 35 h 37"/>
                  <a:gd name="T22" fmla="*/ 0 w 36"/>
                  <a:gd name="T23" fmla="*/ 35 h 37"/>
                  <a:gd name="T24" fmla="*/ 36 w 36"/>
                  <a:gd name="T25" fmla="*/ 35 h 3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6"/>
                  <a:gd name="T40" fmla="*/ 0 h 37"/>
                  <a:gd name="T41" fmla="*/ 36 w 36"/>
                  <a:gd name="T42" fmla="*/ 37 h 3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6" h="37">
                    <a:moveTo>
                      <a:pt x="36" y="35"/>
                    </a:moveTo>
                    <a:lnTo>
                      <a:pt x="36" y="35"/>
                    </a:lnTo>
                    <a:lnTo>
                      <a:pt x="36" y="34"/>
                    </a:lnTo>
                    <a:lnTo>
                      <a:pt x="33" y="37"/>
                    </a:lnTo>
                    <a:lnTo>
                      <a:pt x="35" y="37"/>
                    </a:lnTo>
                    <a:lnTo>
                      <a:pt x="35" y="0"/>
                    </a:lnTo>
                    <a:lnTo>
                      <a:pt x="21" y="3"/>
                    </a:lnTo>
                    <a:lnTo>
                      <a:pt x="9" y="12"/>
                    </a:lnTo>
                    <a:lnTo>
                      <a:pt x="3" y="23"/>
                    </a:lnTo>
                    <a:lnTo>
                      <a:pt x="0" y="35"/>
                    </a:lnTo>
                    <a:lnTo>
                      <a:pt x="36" y="3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36" name="Freeform 1133"/>
              <p:cNvSpPr>
                <a:spLocks/>
              </p:cNvSpPr>
              <p:nvPr/>
            </p:nvSpPr>
            <p:spPr bwMode="auto">
              <a:xfrm>
                <a:off x="8941" y="9672"/>
                <a:ext cx="19" cy="18"/>
              </a:xfrm>
              <a:custGeom>
                <a:avLst/>
                <a:gdLst>
                  <a:gd name="T0" fmla="*/ 35 w 36"/>
                  <a:gd name="T1" fmla="*/ 0 h 36"/>
                  <a:gd name="T2" fmla="*/ 35 w 36"/>
                  <a:gd name="T3" fmla="*/ 0 h 36"/>
                  <a:gd name="T4" fmla="*/ 33 w 36"/>
                  <a:gd name="T5" fmla="*/ 0 h 36"/>
                  <a:gd name="T6" fmla="*/ 36 w 36"/>
                  <a:gd name="T7" fmla="*/ 3 h 36"/>
                  <a:gd name="T8" fmla="*/ 36 w 36"/>
                  <a:gd name="T9" fmla="*/ 1 h 36"/>
                  <a:gd name="T10" fmla="*/ 36 w 36"/>
                  <a:gd name="T11" fmla="*/ 1 h 36"/>
                  <a:gd name="T12" fmla="*/ 0 w 36"/>
                  <a:gd name="T13" fmla="*/ 1 h 36"/>
                  <a:gd name="T14" fmla="*/ 3 w 36"/>
                  <a:gd name="T15" fmla="*/ 13 h 36"/>
                  <a:gd name="T16" fmla="*/ 9 w 36"/>
                  <a:gd name="T17" fmla="*/ 24 h 36"/>
                  <a:gd name="T18" fmla="*/ 21 w 36"/>
                  <a:gd name="T19" fmla="*/ 33 h 36"/>
                  <a:gd name="T20" fmla="*/ 35 w 36"/>
                  <a:gd name="T21" fmla="*/ 36 h 36"/>
                  <a:gd name="T22" fmla="*/ 35 w 36"/>
                  <a:gd name="T23" fmla="*/ 36 h 36"/>
                  <a:gd name="T24" fmla="*/ 35 w 36"/>
                  <a:gd name="T25" fmla="*/ 0 h 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6"/>
                  <a:gd name="T40" fmla="*/ 0 h 36"/>
                  <a:gd name="T41" fmla="*/ 36 w 36"/>
                  <a:gd name="T42" fmla="*/ 36 h 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6" h="36">
                    <a:moveTo>
                      <a:pt x="35" y="0"/>
                    </a:moveTo>
                    <a:lnTo>
                      <a:pt x="35" y="0"/>
                    </a:lnTo>
                    <a:lnTo>
                      <a:pt x="33" y="0"/>
                    </a:lnTo>
                    <a:lnTo>
                      <a:pt x="36" y="3"/>
                    </a:lnTo>
                    <a:lnTo>
                      <a:pt x="36" y="1"/>
                    </a:lnTo>
                    <a:lnTo>
                      <a:pt x="0" y="1"/>
                    </a:lnTo>
                    <a:lnTo>
                      <a:pt x="3" y="13"/>
                    </a:lnTo>
                    <a:lnTo>
                      <a:pt x="9" y="24"/>
                    </a:lnTo>
                    <a:lnTo>
                      <a:pt x="21" y="33"/>
                    </a:lnTo>
                    <a:lnTo>
                      <a:pt x="35" y="36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37" name="Freeform 1134"/>
              <p:cNvSpPr>
                <a:spLocks/>
              </p:cNvSpPr>
              <p:nvPr/>
            </p:nvSpPr>
            <p:spPr bwMode="auto">
              <a:xfrm>
                <a:off x="8802" y="9151"/>
                <a:ext cx="309" cy="389"/>
              </a:xfrm>
              <a:custGeom>
                <a:avLst/>
                <a:gdLst>
                  <a:gd name="T0" fmla="*/ 417 w 618"/>
                  <a:gd name="T1" fmla="*/ 722 h 779"/>
                  <a:gd name="T2" fmla="*/ 442 w 618"/>
                  <a:gd name="T3" fmla="*/ 636 h 779"/>
                  <a:gd name="T4" fmla="*/ 481 w 618"/>
                  <a:gd name="T5" fmla="*/ 575 h 779"/>
                  <a:gd name="T6" fmla="*/ 517 w 618"/>
                  <a:gd name="T7" fmla="*/ 537 h 779"/>
                  <a:gd name="T8" fmla="*/ 551 w 618"/>
                  <a:gd name="T9" fmla="*/ 502 h 779"/>
                  <a:gd name="T10" fmla="*/ 583 w 618"/>
                  <a:gd name="T11" fmla="*/ 453 h 779"/>
                  <a:gd name="T12" fmla="*/ 604 w 618"/>
                  <a:gd name="T13" fmla="*/ 398 h 779"/>
                  <a:gd name="T14" fmla="*/ 616 w 618"/>
                  <a:gd name="T15" fmla="*/ 339 h 779"/>
                  <a:gd name="T16" fmla="*/ 616 w 618"/>
                  <a:gd name="T17" fmla="*/ 277 h 779"/>
                  <a:gd name="T18" fmla="*/ 604 w 618"/>
                  <a:gd name="T19" fmla="*/ 218 h 779"/>
                  <a:gd name="T20" fmla="*/ 581 w 618"/>
                  <a:gd name="T21" fmla="*/ 161 h 779"/>
                  <a:gd name="T22" fmla="*/ 548 w 618"/>
                  <a:gd name="T23" fmla="*/ 113 h 779"/>
                  <a:gd name="T24" fmla="*/ 505 w 618"/>
                  <a:gd name="T25" fmla="*/ 70 h 779"/>
                  <a:gd name="T26" fmla="*/ 456 w 618"/>
                  <a:gd name="T27" fmla="*/ 38 h 779"/>
                  <a:gd name="T28" fmla="*/ 401 w 618"/>
                  <a:gd name="T29" fmla="*/ 14 h 779"/>
                  <a:gd name="T30" fmla="*/ 342 w 618"/>
                  <a:gd name="T31" fmla="*/ 2 h 779"/>
                  <a:gd name="T32" fmla="*/ 278 w 618"/>
                  <a:gd name="T33" fmla="*/ 2 h 779"/>
                  <a:gd name="T34" fmla="*/ 218 w 618"/>
                  <a:gd name="T35" fmla="*/ 14 h 779"/>
                  <a:gd name="T36" fmla="*/ 162 w 618"/>
                  <a:gd name="T37" fmla="*/ 38 h 779"/>
                  <a:gd name="T38" fmla="*/ 113 w 618"/>
                  <a:gd name="T39" fmla="*/ 70 h 779"/>
                  <a:gd name="T40" fmla="*/ 70 w 618"/>
                  <a:gd name="T41" fmla="*/ 113 h 779"/>
                  <a:gd name="T42" fmla="*/ 38 w 618"/>
                  <a:gd name="T43" fmla="*/ 161 h 779"/>
                  <a:gd name="T44" fmla="*/ 14 w 618"/>
                  <a:gd name="T45" fmla="*/ 218 h 779"/>
                  <a:gd name="T46" fmla="*/ 2 w 618"/>
                  <a:gd name="T47" fmla="*/ 277 h 779"/>
                  <a:gd name="T48" fmla="*/ 2 w 618"/>
                  <a:gd name="T49" fmla="*/ 339 h 779"/>
                  <a:gd name="T50" fmla="*/ 14 w 618"/>
                  <a:gd name="T51" fmla="*/ 398 h 779"/>
                  <a:gd name="T52" fmla="*/ 37 w 618"/>
                  <a:gd name="T53" fmla="*/ 453 h 779"/>
                  <a:gd name="T54" fmla="*/ 69 w 618"/>
                  <a:gd name="T55" fmla="*/ 502 h 779"/>
                  <a:gd name="T56" fmla="*/ 101 w 618"/>
                  <a:gd name="T57" fmla="*/ 537 h 779"/>
                  <a:gd name="T58" fmla="*/ 137 w 618"/>
                  <a:gd name="T59" fmla="*/ 575 h 779"/>
                  <a:gd name="T60" fmla="*/ 175 w 618"/>
                  <a:gd name="T61" fmla="*/ 636 h 779"/>
                  <a:gd name="T62" fmla="*/ 201 w 618"/>
                  <a:gd name="T63" fmla="*/ 722 h 779"/>
                  <a:gd name="T64" fmla="*/ 414 w 618"/>
                  <a:gd name="T65" fmla="*/ 779 h 77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18"/>
                  <a:gd name="T100" fmla="*/ 0 h 779"/>
                  <a:gd name="T101" fmla="*/ 618 w 618"/>
                  <a:gd name="T102" fmla="*/ 779 h 77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18" h="779">
                    <a:moveTo>
                      <a:pt x="414" y="779"/>
                    </a:moveTo>
                    <a:lnTo>
                      <a:pt x="417" y="722"/>
                    </a:lnTo>
                    <a:lnTo>
                      <a:pt x="427" y="675"/>
                    </a:lnTo>
                    <a:lnTo>
                      <a:pt x="442" y="636"/>
                    </a:lnTo>
                    <a:lnTo>
                      <a:pt x="461" y="602"/>
                    </a:lnTo>
                    <a:lnTo>
                      <a:pt x="481" y="575"/>
                    </a:lnTo>
                    <a:lnTo>
                      <a:pt x="500" y="554"/>
                    </a:lnTo>
                    <a:lnTo>
                      <a:pt x="517" y="537"/>
                    </a:lnTo>
                    <a:lnTo>
                      <a:pt x="531" y="523"/>
                    </a:lnTo>
                    <a:lnTo>
                      <a:pt x="551" y="502"/>
                    </a:lnTo>
                    <a:lnTo>
                      <a:pt x="568" y="479"/>
                    </a:lnTo>
                    <a:lnTo>
                      <a:pt x="583" y="453"/>
                    </a:lnTo>
                    <a:lnTo>
                      <a:pt x="595" y="427"/>
                    </a:lnTo>
                    <a:lnTo>
                      <a:pt x="604" y="398"/>
                    </a:lnTo>
                    <a:lnTo>
                      <a:pt x="612" y="370"/>
                    </a:lnTo>
                    <a:lnTo>
                      <a:pt x="616" y="339"/>
                    </a:lnTo>
                    <a:lnTo>
                      <a:pt x="618" y="309"/>
                    </a:lnTo>
                    <a:lnTo>
                      <a:pt x="616" y="277"/>
                    </a:lnTo>
                    <a:lnTo>
                      <a:pt x="612" y="246"/>
                    </a:lnTo>
                    <a:lnTo>
                      <a:pt x="604" y="218"/>
                    </a:lnTo>
                    <a:lnTo>
                      <a:pt x="594" y="189"/>
                    </a:lnTo>
                    <a:lnTo>
                      <a:pt x="581" y="161"/>
                    </a:lnTo>
                    <a:lnTo>
                      <a:pt x="565" y="137"/>
                    </a:lnTo>
                    <a:lnTo>
                      <a:pt x="548" y="113"/>
                    </a:lnTo>
                    <a:lnTo>
                      <a:pt x="528" y="90"/>
                    </a:lnTo>
                    <a:lnTo>
                      <a:pt x="505" y="70"/>
                    </a:lnTo>
                    <a:lnTo>
                      <a:pt x="482" y="53"/>
                    </a:lnTo>
                    <a:lnTo>
                      <a:pt x="456" y="38"/>
                    </a:lnTo>
                    <a:lnTo>
                      <a:pt x="429" y="25"/>
                    </a:lnTo>
                    <a:lnTo>
                      <a:pt x="401" y="14"/>
                    </a:lnTo>
                    <a:lnTo>
                      <a:pt x="372" y="6"/>
                    </a:lnTo>
                    <a:lnTo>
                      <a:pt x="342" y="2"/>
                    </a:lnTo>
                    <a:lnTo>
                      <a:pt x="310" y="0"/>
                    </a:lnTo>
                    <a:lnTo>
                      <a:pt x="278" y="2"/>
                    </a:lnTo>
                    <a:lnTo>
                      <a:pt x="247" y="6"/>
                    </a:lnTo>
                    <a:lnTo>
                      <a:pt x="218" y="14"/>
                    </a:lnTo>
                    <a:lnTo>
                      <a:pt x="189" y="25"/>
                    </a:lnTo>
                    <a:lnTo>
                      <a:pt x="162" y="38"/>
                    </a:lnTo>
                    <a:lnTo>
                      <a:pt x="137" y="53"/>
                    </a:lnTo>
                    <a:lnTo>
                      <a:pt x="113" y="70"/>
                    </a:lnTo>
                    <a:lnTo>
                      <a:pt x="92" y="90"/>
                    </a:lnTo>
                    <a:lnTo>
                      <a:pt x="70" y="113"/>
                    </a:lnTo>
                    <a:lnTo>
                      <a:pt x="53" y="137"/>
                    </a:lnTo>
                    <a:lnTo>
                      <a:pt x="38" y="161"/>
                    </a:lnTo>
                    <a:lnTo>
                      <a:pt x="24" y="189"/>
                    </a:lnTo>
                    <a:lnTo>
                      <a:pt x="14" y="218"/>
                    </a:lnTo>
                    <a:lnTo>
                      <a:pt x="6" y="246"/>
                    </a:lnTo>
                    <a:lnTo>
                      <a:pt x="2" y="277"/>
                    </a:lnTo>
                    <a:lnTo>
                      <a:pt x="0" y="309"/>
                    </a:lnTo>
                    <a:lnTo>
                      <a:pt x="2" y="339"/>
                    </a:lnTo>
                    <a:lnTo>
                      <a:pt x="6" y="370"/>
                    </a:lnTo>
                    <a:lnTo>
                      <a:pt x="14" y="398"/>
                    </a:lnTo>
                    <a:lnTo>
                      <a:pt x="23" y="427"/>
                    </a:lnTo>
                    <a:lnTo>
                      <a:pt x="37" y="453"/>
                    </a:lnTo>
                    <a:lnTo>
                      <a:pt x="50" y="479"/>
                    </a:lnTo>
                    <a:lnTo>
                      <a:pt x="69" y="502"/>
                    </a:lnTo>
                    <a:lnTo>
                      <a:pt x="87" y="523"/>
                    </a:lnTo>
                    <a:lnTo>
                      <a:pt x="101" y="537"/>
                    </a:lnTo>
                    <a:lnTo>
                      <a:pt x="117" y="554"/>
                    </a:lnTo>
                    <a:lnTo>
                      <a:pt x="137" y="575"/>
                    </a:lnTo>
                    <a:lnTo>
                      <a:pt x="157" y="602"/>
                    </a:lnTo>
                    <a:lnTo>
                      <a:pt x="175" y="636"/>
                    </a:lnTo>
                    <a:lnTo>
                      <a:pt x="191" y="675"/>
                    </a:lnTo>
                    <a:lnTo>
                      <a:pt x="201" y="722"/>
                    </a:lnTo>
                    <a:lnTo>
                      <a:pt x="204" y="779"/>
                    </a:lnTo>
                    <a:lnTo>
                      <a:pt x="414" y="77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38" name="Freeform 1135"/>
              <p:cNvSpPr>
                <a:spLocks/>
              </p:cNvSpPr>
              <p:nvPr/>
            </p:nvSpPr>
            <p:spPr bwMode="auto">
              <a:xfrm>
                <a:off x="8988" y="9398"/>
                <a:ext cx="94" cy="142"/>
              </a:xfrm>
              <a:custGeom>
                <a:avLst/>
                <a:gdLst>
                  <a:gd name="T0" fmla="*/ 131 w 189"/>
                  <a:gd name="T1" fmla="*/ 0 h 285"/>
                  <a:gd name="T2" fmla="*/ 131 w 189"/>
                  <a:gd name="T3" fmla="*/ 0 h 285"/>
                  <a:gd name="T4" fmla="*/ 117 w 189"/>
                  <a:gd name="T5" fmla="*/ 14 h 285"/>
                  <a:gd name="T6" fmla="*/ 99 w 189"/>
                  <a:gd name="T7" fmla="*/ 31 h 285"/>
                  <a:gd name="T8" fmla="*/ 78 w 189"/>
                  <a:gd name="T9" fmla="*/ 55 h 285"/>
                  <a:gd name="T10" fmla="*/ 55 w 189"/>
                  <a:gd name="T11" fmla="*/ 87 h 285"/>
                  <a:gd name="T12" fmla="*/ 33 w 189"/>
                  <a:gd name="T13" fmla="*/ 125 h 285"/>
                  <a:gd name="T14" fmla="*/ 17 w 189"/>
                  <a:gd name="T15" fmla="*/ 171 h 285"/>
                  <a:gd name="T16" fmla="*/ 4 w 189"/>
                  <a:gd name="T17" fmla="*/ 224 h 285"/>
                  <a:gd name="T18" fmla="*/ 0 w 189"/>
                  <a:gd name="T19" fmla="*/ 285 h 285"/>
                  <a:gd name="T20" fmla="*/ 85 w 189"/>
                  <a:gd name="T21" fmla="*/ 285 h 285"/>
                  <a:gd name="T22" fmla="*/ 87 w 189"/>
                  <a:gd name="T23" fmla="*/ 233 h 285"/>
                  <a:gd name="T24" fmla="*/ 96 w 189"/>
                  <a:gd name="T25" fmla="*/ 192 h 285"/>
                  <a:gd name="T26" fmla="*/ 110 w 189"/>
                  <a:gd name="T27" fmla="*/ 158 h 285"/>
                  <a:gd name="T28" fmla="*/ 125 w 189"/>
                  <a:gd name="T29" fmla="*/ 129 h 285"/>
                  <a:gd name="T30" fmla="*/ 142 w 189"/>
                  <a:gd name="T31" fmla="*/ 107 h 285"/>
                  <a:gd name="T32" fmla="*/ 160 w 189"/>
                  <a:gd name="T33" fmla="*/ 88 h 285"/>
                  <a:gd name="T34" fmla="*/ 175 w 189"/>
                  <a:gd name="T35" fmla="*/ 72 h 285"/>
                  <a:gd name="T36" fmla="*/ 189 w 189"/>
                  <a:gd name="T37" fmla="*/ 58 h 285"/>
                  <a:gd name="T38" fmla="*/ 189 w 189"/>
                  <a:gd name="T39" fmla="*/ 58 h 285"/>
                  <a:gd name="T40" fmla="*/ 131 w 189"/>
                  <a:gd name="T41" fmla="*/ 0 h 28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89"/>
                  <a:gd name="T64" fmla="*/ 0 h 285"/>
                  <a:gd name="T65" fmla="*/ 189 w 189"/>
                  <a:gd name="T66" fmla="*/ 285 h 28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89" h="285">
                    <a:moveTo>
                      <a:pt x="131" y="0"/>
                    </a:moveTo>
                    <a:lnTo>
                      <a:pt x="131" y="0"/>
                    </a:lnTo>
                    <a:lnTo>
                      <a:pt x="117" y="14"/>
                    </a:lnTo>
                    <a:lnTo>
                      <a:pt x="99" y="31"/>
                    </a:lnTo>
                    <a:lnTo>
                      <a:pt x="78" y="55"/>
                    </a:lnTo>
                    <a:lnTo>
                      <a:pt x="55" y="87"/>
                    </a:lnTo>
                    <a:lnTo>
                      <a:pt x="33" y="125"/>
                    </a:lnTo>
                    <a:lnTo>
                      <a:pt x="17" y="171"/>
                    </a:lnTo>
                    <a:lnTo>
                      <a:pt x="4" y="224"/>
                    </a:lnTo>
                    <a:lnTo>
                      <a:pt x="0" y="285"/>
                    </a:lnTo>
                    <a:lnTo>
                      <a:pt x="85" y="285"/>
                    </a:lnTo>
                    <a:lnTo>
                      <a:pt x="87" y="233"/>
                    </a:lnTo>
                    <a:lnTo>
                      <a:pt x="96" y="192"/>
                    </a:lnTo>
                    <a:lnTo>
                      <a:pt x="110" y="158"/>
                    </a:lnTo>
                    <a:lnTo>
                      <a:pt x="125" y="129"/>
                    </a:lnTo>
                    <a:lnTo>
                      <a:pt x="142" y="107"/>
                    </a:lnTo>
                    <a:lnTo>
                      <a:pt x="160" y="88"/>
                    </a:lnTo>
                    <a:lnTo>
                      <a:pt x="175" y="72"/>
                    </a:lnTo>
                    <a:lnTo>
                      <a:pt x="189" y="58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39" name="Freeform 1136"/>
              <p:cNvSpPr>
                <a:spLocks/>
              </p:cNvSpPr>
              <p:nvPr/>
            </p:nvSpPr>
            <p:spPr bwMode="auto">
              <a:xfrm>
                <a:off x="9054" y="9305"/>
                <a:ext cx="79" cy="122"/>
              </a:xfrm>
              <a:custGeom>
                <a:avLst/>
                <a:gdLst>
                  <a:gd name="T0" fmla="*/ 73 w 159"/>
                  <a:gd name="T1" fmla="*/ 0 h 243"/>
                  <a:gd name="T2" fmla="*/ 73 w 159"/>
                  <a:gd name="T3" fmla="*/ 0 h 243"/>
                  <a:gd name="T4" fmla="*/ 73 w 159"/>
                  <a:gd name="T5" fmla="*/ 27 h 243"/>
                  <a:gd name="T6" fmla="*/ 69 w 159"/>
                  <a:gd name="T7" fmla="*/ 53 h 243"/>
                  <a:gd name="T8" fmla="*/ 63 w 159"/>
                  <a:gd name="T9" fmla="*/ 79 h 243"/>
                  <a:gd name="T10" fmla="*/ 53 w 159"/>
                  <a:gd name="T11" fmla="*/ 103 h 243"/>
                  <a:gd name="T12" fmla="*/ 44 w 159"/>
                  <a:gd name="T13" fmla="*/ 124 h 243"/>
                  <a:gd name="T14" fmla="*/ 31 w 159"/>
                  <a:gd name="T15" fmla="*/ 147 h 243"/>
                  <a:gd name="T16" fmla="*/ 17 w 159"/>
                  <a:gd name="T17" fmla="*/ 167 h 243"/>
                  <a:gd name="T18" fmla="*/ 0 w 159"/>
                  <a:gd name="T19" fmla="*/ 185 h 243"/>
                  <a:gd name="T20" fmla="*/ 58 w 159"/>
                  <a:gd name="T21" fmla="*/ 243 h 243"/>
                  <a:gd name="T22" fmla="*/ 81 w 159"/>
                  <a:gd name="T23" fmla="*/ 219 h 243"/>
                  <a:gd name="T24" fmla="*/ 101 w 159"/>
                  <a:gd name="T25" fmla="*/ 193 h 243"/>
                  <a:gd name="T26" fmla="*/ 118 w 159"/>
                  <a:gd name="T27" fmla="*/ 164 h 243"/>
                  <a:gd name="T28" fmla="*/ 133 w 159"/>
                  <a:gd name="T29" fmla="*/ 134 h 243"/>
                  <a:gd name="T30" fmla="*/ 142 w 159"/>
                  <a:gd name="T31" fmla="*/ 100 h 243"/>
                  <a:gd name="T32" fmla="*/ 151 w 159"/>
                  <a:gd name="T33" fmla="*/ 68 h 243"/>
                  <a:gd name="T34" fmla="*/ 156 w 159"/>
                  <a:gd name="T35" fmla="*/ 33 h 243"/>
                  <a:gd name="T36" fmla="*/ 159 w 159"/>
                  <a:gd name="T37" fmla="*/ 0 h 243"/>
                  <a:gd name="T38" fmla="*/ 159 w 159"/>
                  <a:gd name="T39" fmla="*/ 0 h 243"/>
                  <a:gd name="T40" fmla="*/ 73 w 159"/>
                  <a:gd name="T41" fmla="*/ 0 h 24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59"/>
                  <a:gd name="T64" fmla="*/ 0 h 243"/>
                  <a:gd name="T65" fmla="*/ 159 w 159"/>
                  <a:gd name="T66" fmla="*/ 243 h 24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59" h="243">
                    <a:moveTo>
                      <a:pt x="73" y="0"/>
                    </a:moveTo>
                    <a:lnTo>
                      <a:pt x="73" y="0"/>
                    </a:lnTo>
                    <a:lnTo>
                      <a:pt x="73" y="27"/>
                    </a:lnTo>
                    <a:lnTo>
                      <a:pt x="69" y="53"/>
                    </a:lnTo>
                    <a:lnTo>
                      <a:pt x="63" y="79"/>
                    </a:lnTo>
                    <a:lnTo>
                      <a:pt x="53" y="103"/>
                    </a:lnTo>
                    <a:lnTo>
                      <a:pt x="44" y="124"/>
                    </a:lnTo>
                    <a:lnTo>
                      <a:pt x="31" y="147"/>
                    </a:lnTo>
                    <a:lnTo>
                      <a:pt x="17" y="167"/>
                    </a:lnTo>
                    <a:lnTo>
                      <a:pt x="0" y="185"/>
                    </a:lnTo>
                    <a:lnTo>
                      <a:pt x="58" y="243"/>
                    </a:lnTo>
                    <a:lnTo>
                      <a:pt x="81" y="219"/>
                    </a:lnTo>
                    <a:lnTo>
                      <a:pt x="101" y="193"/>
                    </a:lnTo>
                    <a:lnTo>
                      <a:pt x="118" y="164"/>
                    </a:lnTo>
                    <a:lnTo>
                      <a:pt x="133" y="134"/>
                    </a:lnTo>
                    <a:lnTo>
                      <a:pt x="142" y="100"/>
                    </a:lnTo>
                    <a:lnTo>
                      <a:pt x="151" y="68"/>
                    </a:lnTo>
                    <a:lnTo>
                      <a:pt x="156" y="33"/>
                    </a:lnTo>
                    <a:lnTo>
                      <a:pt x="159" y="0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40" name="Freeform 1137"/>
              <p:cNvSpPr>
                <a:spLocks/>
              </p:cNvSpPr>
              <p:nvPr/>
            </p:nvSpPr>
            <p:spPr bwMode="auto">
              <a:xfrm>
                <a:off x="8957" y="9130"/>
                <a:ext cx="176" cy="175"/>
              </a:xfrm>
              <a:custGeom>
                <a:avLst/>
                <a:gdLst>
                  <a:gd name="T0" fmla="*/ 0 w 351"/>
                  <a:gd name="T1" fmla="*/ 85 h 351"/>
                  <a:gd name="T2" fmla="*/ 0 w 351"/>
                  <a:gd name="T3" fmla="*/ 85 h 351"/>
                  <a:gd name="T4" fmla="*/ 29 w 351"/>
                  <a:gd name="T5" fmla="*/ 85 h 351"/>
                  <a:gd name="T6" fmla="*/ 55 w 351"/>
                  <a:gd name="T7" fmla="*/ 89 h 351"/>
                  <a:gd name="T8" fmla="*/ 79 w 351"/>
                  <a:gd name="T9" fmla="*/ 95 h 351"/>
                  <a:gd name="T10" fmla="*/ 102 w 351"/>
                  <a:gd name="T11" fmla="*/ 105 h 351"/>
                  <a:gd name="T12" fmla="*/ 126 w 351"/>
                  <a:gd name="T13" fmla="*/ 117 h 351"/>
                  <a:gd name="T14" fmla="*/ 149 w 351"/>
                  <a:gd name="T15" fmla="*/ 130 h 351"/>
                  <a:gd name="T16" fmla="*/ 169 w 351"/>
                  <a:gd name="T17" fmla="*/ 144 h 351"/>
                  <a:gd name="T18" fmla="*/ 189 w 351"/>
                  <a:gd name="T19" fmla="*/ 161 h 351"/>
                  <a:gd name="T20" fmla="*/ 204 w 351"/>
                  <a:gd name="T21" fmla="*/ 181 h 351"/>
                  <a:gd name="T22" fmla="*/ 219 w 351"/>
                  <a:gd name="T23" fmla="*/ 202 h 351"/>
                  <a:gd name="T24" fmla="*/ 235 w 351"/>
                  <a:gd name="T25" fmla="*/ 223 h 351"/>
                  <a:gd name="T26" fmla="*/ 245 w 351"/>
                  <a:gd name="T27" fmla="*/ 246 h 351"/>
                  <a:gd name="T28" fmla="*/ 255 w 351"/>
                  <a:gd name="T29" fmla="*/ 272 h 351"/>
                  <a:gd name="T30" fmla="*/ 261 w 351"/>
                  <a:gd name="T31" fmla="*/ 296 h 351"/>
                  <a:gd name="T32" fmla="*/ 265 w 351"/>
                  <a:gd name="T33" fmla="*/ 322 h 351"/>
                  <a:gd name="T34" fmla="*/ 265 w 351"/>
                  <a:gd name="T35" fmla="*/ 351 h 351"/>
                  <a:gd name="T36" fmla="*/ 351 w 351"/>
                  <a:gd name="T37" fmla="*/ 351 h 351"/>
                  <a:gd name="T38" fmla="*/ 348 w 351"/>
                  <a:gd name="T39" fmla="*/ 316 h 351"/>
                  <a:gd name="T40" fmla="*/ 343 w 351"/>
                  <a:gd name="T41" fmla="*/ 281 h 351"/>
                  <a:gd name="T42" fmla="*/ 334 w 351"/>
                  <a:gd name="T43" fmla="*/ 247 h 351"/>
                  <a:gd name="T44" fmla="*/ 322 w 351"/>
                  <a:gd name="T45" fmla="*/ 215 h 351"/>
                  <a:gd name="T46" fmla="*/ 308 w 351"/>
                  <a:gd name="T47" fmla="*/ 184 h 351"/>
                  <a:gd name="T48" fmla="*/ 290 w 351"/>
                  <a:gd name="T49" fmla="*/ 156 h 351"/>
                  <a:gd name="T50" fmla="*/ 271 w 351"/>
                  <a:gd name="T51" fmla="*/ 129 h 351"/>
                  <a:gd name="T52" fmla="*/ 247 w 351"/>
                  <a:gd name="T53" fmla="*/ 103 h 351"/>
                  <a:gd name="T54" fmla="*/ 221 w 351"/>
                  <a:gd name="T55" fmla="*/ 80 h 351"/>
                  <a:gd name="T56" fmla="*/ 195 w 351"/>
                  <a:gd name="T57" fmla="*/ 60 h 351"/>
                  <a:gd name="T58" fmla="*/ 166 w 351"/>
                  <a:gd name="T59" fmla="*/ 44 h 351"/>
                  <a:gd name="T60" fmla="*/ 136 w 351"/>
                  <a:gd name="T61" fmla="*/ 29 h 351"/>
                  <a:gd name="T62" fmla="*/ 104 w 351"/>
                  <a:gd name="T63" fmla="*/ 16 h 351"/>
                  <a:gd name="T64" fmla="*/ 70 w 351"/>
                  <a:gd name="T65" fmla="*/ 7 h 351"/>
                  <a:gd name="T66" fmla="*/ 35 w 351"/>
                  <a:gd name="T67" fmla="*/ 3 h 351"/>
                  <a:gd name="T68" fmla="*/ 0 w 351"/>
                  <a:gd name="T69" fmla="*/ 0 h 351"/>
                  <a:gd name="T70" fmla="*/ 0 w 351"/>
                  <a:gd name="T71" fmla="*/ 0 h 351"/>
                  <a:gd name="T72" fmla="*/ 0 w 351"/>
                  <a:gd name="T73" fmla="*/ 85 h 35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51"/>
                  <a:gd name="T112" fmla="*/ 0 h 351"/>
                  <a:gd name="T113" fmla="*/ 351 w 351"/>
                  <a:gd name="T114" fmla="*/ 351 h 351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51" h="351">
                    <a:moveTo>
                      <a:pt x="0" y="85"/>
                    </a:moveTo>
                    <a:lnTo>
                      <a:pt x="0" y="85"/>
                    </a:lnTo>
                    <a:lnTo>
                      <a:pt x="29" y="85"/>
                    </a:lnTo>
                    <a:lnTo>
                      <a:pt x="55" y="89"/>
                    </a:lnTo>
                    <a:lnTo>
                      <a:pt x="79" y="95"/>
                    </a:lnTo>
                    <a:lnTo>
                      <a:pt x="102" y="105"/>
                    </a:lnTo>
                    <a:lnTo>
                      <a:pt x="126" y="117"/>
                    </a:lnTo>
                    <a:lnTo>
                      <a:pt x="149" y="130"/>
                    </a:lnTo>
                    <a:lnTo>
                      <a:pt x="169" y="144"/>
                    </a:lnTo>
                    <a:lnTo>
                      <a:pt x="189" y="161"/>
                    </a:lnTo>
                    <a:lnTo>
                      <a:pt x="204" y="181"/>
                    </a:lnTo>
                    <a:lnTo>
                      <a:pt x="219" y="202"/>
                    </a:lnTo>
                    <a:lnTo>
                      <a:pt x="235" y="223"/>
                    </a:lnTo>
                    <a:lnTo>
                      <a:pt x="245" y="246"/>
                    </a:lnTo>
                    <a:lnTo>
                      <a:pt x="255" y="272"/>
                    </a:lnTo>
                    <a:lnTo>
                      <a:pt x="261" y="296"/>
                    </a:lnTo>
                    <a:lnTo>
                      <a:pt x="265" y="322"/>
                    </a:lnTo>
                    <a:lnTo>
                      <a:pt x="265" y="351"/>
                    </a:lnTo>
                    <a:lnTo>
                      <a:pt x="351" y="351"/>
                    </a:lnTo>
                    <a:lnTo>
                      <a:pt x="348" y="316"/>
                    </a:lnTo>
                    <a:lnTo>
                      <a:pt x="343" y="281"/>
                    </a:lnTo>
                    <a:lnTo>
                      <a:pt x="334" y="247"/>
                    </a:lnTo>
                    <a:lnTo>
                      <a:pt x="322" y="215"/>
                    </a:lnTo>
                    <a:lnTo>
                      <a:pt x="308" y="184"/>
                    </a:lnTo>
                    <a:lnTo>
                      <a:pt x="290" y="156"/>
                    </a:lnTo>
                    <a:lnTo>
                      <a:pt x="271" y="129"/>
                    </a:lnTo>
                    <a:lnTo>
                      <a:pt x="247" y="103"/>
                    </a:lnTo>
                    <a:lnTo>
                      <a:pt x="221" y="80"/>
                    </a:lnTo>
                    <a:lnTo>
                      <a:pt x="195" y="60"/>
                    </a:lnTo>
                    <a:lnTo>
                      <a:pt x="166" y="44"/>
                    </a:lnTo>
                    <a:lnTo>
                      <a:pt x="136" y="29"/>
                    </a:lnTo>
                    <a:lnTo>
                      <a:pt x="104" y="16"/>
                    </a:lnTo>
                    <a:lnTo>
                      <a:pt x="70" y="7"/>
                    </a:lnTo>
                    <a:lnTo>
                      <a:pt x="35" y="3"/>
                    </a:lnTo>
                    <a:lnTo>
                      <a:pt x="0" y="0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41" name="Freeform 1138"/>
              <p:cNvSpPr>
                <a:spLocks/>
              </p:cNvSpPr>
              <p:nvPr/>
            </p:nvSpPr>
            <p:spPr bwMode="auto">
              <a:xfrm>
                <a:off x="8781" y="9130"/>
                <a:ext cx="176" cy="175"/>
              </a:xfrm>
              <a:custGeom>
                <a:avLst/>
                <a:gdLst>
                  <a:gd name="T0" fmla="*/ 86 w 353"/>
                  <a:gd name="T1" fmla="*/ 351 h 351"/>
                  <a:gd name="T2" fmla="*/ 86 w 353"/>
                  <a:gd name="T3" fmla="*/ 351 h 351"/>
                  <a:gd name="T4" fmla="*/ 86 w 353"/>
                  <a:gd name="T5" fmla="*/ 322 h 351"/>
                  <a:gd name="T6" fmla="*/ 90 w 353"/>
                  <a:gd name="T7" fmla="*/ 296 h 351"/>
                  <a:gd name="T8" fmla="*/ 96 w 353"/>
                  <a:gd name="T9" fmla="*/ 272 h 351"/>
                  <a:gd name="T10" fmla="*/ 106 w 353"/>
                  <a:gd name="T11" fmla="*/ 247 h 351"/>
                  <a:gd name="T12" fmla="*/ 118 w 353"/>
                  <a:gd name="T13" fmla="*/ 223 h 351"/>
                  <a:gd name="T14" fmla="*/ 131 w 353"/>
                  <a:gd name="T15" fmla="*/ 202 h 351"/>
                  <a:gd name="T16" fmla="*/ 145 w 353"/>
                  <a:gd name="T17" fmla="*/ 181 h 351"/>
                  <a:gd name="T18" fmla="*/ 164 w 353"/>
                  <a:gd name="T19" fmla="*/ 161 h 351"/>
                  <a:gd name="T20" fmla="*/ 182 w 353"/>
                  <a:gd name="T21" fmla="*/ 144 h 351"/>
                  <a:gd name="T22" fmla="*/ 203 w 353"/>
                  <a:gd name="T23" fmla="*/ 130 h 351"/>
                  <a:gd name="T24" fmla="*/ 225 w 353"/>
                  <a:gd name="T25" fmla="*/ 117 h 351"/>
                  <a:gd name="T26" fmla="*/ 249 w 353"/>
                  <a:gd name="T27" fmla="*/ 105 h 351"/>
                  <a:gd name="T28" fmla="*/ 273 w 353"/>
                  <a:gd name="T29" fmla="*/ 95 h 351"/>
                  <a:gd name="T30" fmla="*/ 298 w 353"/>
                  <a:gd name="T31" fmla="*/ 89 h 351"/>
                  <a:gd name="T32" fmla="*/ 324 w 353"/>
                  <a:gd name="T33" fmla="*/ 85 h 351"/>
                  <a:gd name="T34" fmla="*/ 353 w 353"/>
                  <a:gd name="T35" fmla="*/ 85 h 351"/>
                  <a:gd name="T36" fmla="*/ 353 w 353"/>
                  <a:gd name="T37" fmla="*/ 0 h 351"/>
                  <a:gd name="T38" fmla="*/ 318 w 353"/>
                  <a:gd name="T39" fmla="*/ 3 h 351"/>
                  <a:gd name="T40" fmla="*/ 283 w 353"/>
                  <a:gd name="T41" fmla="*/ 7 h 351"/>
                  <a:gd name="T42" fmla="*/ 249 w 353"/>
                  <a:gd name="T43" fmla="*/ 16 h 351"/>
                  <a:gd name="T44" fmla="*/ 215 w 353"/>
                  <a:gd name="T45" fmla="*/ 29 h 351"/>
                  <a:gd name="T46" fmla="*/ 185 w 353"/>
                  <a:gd name="T47" fmla="*/ 44 h 351"/>
                  <a:gd name="T48" fmla="*/ 157 w 353"/>
                  <a:gd name="T49" fmla="*/ 60 h 351"/>
                  <a:gd name="T50" fmla="*/ 130 w 353"/>
                  <a:gd name="T51" fmla="*/ 80 h 351"/>
                  <a:gd name="T52" fmla="*/ 106 w 353"/>
                  <a:gd name="T53" fmla="*/ 103 h 351"/>
                  <a:gd name="T54" fmla="*/ 81 w 353"/>
                  <a:gd name="T55" fmla="*/ 129 h 351"/>
                  <a:gd name="T56" fmla="*/ 61 w 353"/>
                  <a:gd name="T57" fmla="*/ 156 h 351"/>
                  <a:gd name="T58" fmla="*/ 45 w 353"/>
                  <a:gd name="T59" fmla="*/ 184 h 351"/>
                  <a:gd name="T60" fmla="*/ 29 w 353"/>
                  <a:gd name="T61" fmla="*/ 214 h 351"/>
                  <a:gd name="T62" fmla="*/ 17 w 353"/>
                  <a:gd name="T63" fmla="*/ 247 h 351"/>
                  <a:gd name="T64" fmla="*/ 8 w 353"/>
                  <a:gd name="T65" fmla="*/ 281 h 351"/>
                  <a:gd name="T66" fmla="*/ 3 w 353"/>
                  <a:gd name="T67" fmla="*/ 316 h 351"/>
                  <a:gd name="T68" fmla="*/ 0 w 353"/>
                  <a:gd name="T69" fmla="*/ 351 h 351"/>
                  <a:gd name="T70" fmla="*/ 0 w 353"/>
                  <a:gd name="T71" fmla="*/ 351 h 351"/>
                  <a:gd name="T72" fmla="*/ 86 w 353"/>
                  <a:gd name="T73" fmla="*/ 351 h 35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53"/>
                  <a:gd name="T112" fmla="*/ 0 h 351"/>
                  <a:gd name="T113" fmla="*/ 353 w 353"/>
                  <a:gd name="T114" fmla="*/ 351 h 351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53" h="351">
                    <a:moveTo>
                      <a:pt x="86" y="351"/>
                    </a:moveTo>
                    <a:lnTo>
                      <a:pt x="86" y="351"/>
                    </a:lnTo>
                    <a:lnTo>
                      <a:pt x="86" y="322"/>
                    </a:lnTo>
                    <a:lnTo>
                      <a:pt x="90" y="296"/>
                    </a:lnTo>
                    <a:lnTo>
                      <a:pt x="96" y="272"/>
                    </a:lnTo>
                    <a:lnTo>
                      <a:pt x="106" y="247"/>
                    </a:lnTo>
                    <a:lnTo>
                      <a:pt x="118" y="223"/>
                    </a:lnTo>
                    <a:lnTo>
                      <a:pt x="131" y="202"/>
                    </a:lnTo>
                    <a:lnTo>
                      <a:pt x="145" y="181"/>
                    </a:lnTo>
                    <a:lnTo>
                      <a:pt x="164" y="161"/>
                    </a:lnTo>
                    <a:lnTo>
                      <a:pt x="182" y="144"/>
                    </a:lnTo>
                    <a:lnTo>
                      <a:pt x="203" y="130"/>
                    </a:lnTo>
                    <a:lnTo>
                      <a:pt x="225" y="117"/>
                    </a:lnTo>
                    <a:lnTo>
                      <a:pt x="249" y="105"/>
                    </a:lnTo>
                    <a:lnTo>
                      <a:pt x="273" y="95"/>
                    </a:lnTo>
                    <a:lnTo>
                      <a:pt x="298" y="89"/>
                    </a:lnTo>
                    <a:lnTo>
                      <a:pt x="324" y="85"/>
                    </a:lnTo>
                    <a:lnTo>
                      <a:pt x="353" y="85"/>
                    </a:lnTo>
                    <a:lnTo>
                      <a:pt x="353" y="0"/>
                    </a:lnTo>
                    <a:lnTo>
                      <a:pt x="318" y="3"/>
                    </a:lnTo>
                    <a:lnTo>
                      <a:pt x="283" y="7"/>
                    </a:lnTo>
                    <a:lnTo>
                      <a:pt x="249" y="16"/>
                    </a:lnTo>
                    <a:lnTo>
                      <a:pt x="215" y="29"/>
                    </a:lnTo>
                    <a:lnTo>
                      <a:pt x="185" y="44"/>
                    </a:lnTo>
                    <a:lnTo>
                      <a:pt x="157" y="60"/>
                    </a:lnTo>
                    <a:lnTo>
                      <a:pt x="130" y="80"/>
                    </a:lnTo>
                    <a:lnTo>
                      <a:pt x="106" y="103"/>
                    </a:lnTo>
                    <a:lnTo>
                      <a:pt x="81" y="129"/>
                    </a:lnTo>
                    <a:lnTo>
                      <a:pt x="61" y="156"/>
                    </a:lnTo>
                    <a:lnTo>
                      <a:pt x="45" y="184"/>
                    </a:lnTo>
                    <a:lnTo>
                      <a:pt x="29" y="214"/>
                    </a:lnTo>
                    <a:lnTo>
                      <a:pt x="17" y="247"/>
                    </a:lnTo>
                    <a:lnTo>
                      <a:pt x="8" y="281"/>
                    </a:lnTo>
                    <a:lnTo>
                      <a:pt x="3" y="316"/>
                    </a:lnTo>
                    <a:lnTo>
                      <a:pt x="0" y="351"/>
                    </a:lnTo>
                    <a:lnTo>
                      <a:pt x="86" y="35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42" name="Freeform 1139"/>
              <p:cNvSpPr>
                <a:spLocks/>
              </p:cNvSpPr>
              <p:nvPr/>
            </p:nvSpPr>
            <p:spPr bwMode="auto">
              <a:xfrm>
                <a:off x="8781" y="9305"/>
                <a:ext cx="80" cy="122"/>
              </a:xfrm>
              <a:custGeom>
                <a:avLst/>
                <a:gdLst>
                  <a:gd name="T0" fmla="*/ 159 w 160"/>
                  <a:gd name="T1" fmla="*/ 185 h 243"/>
                  <a:gd name="T2" fmla="*/ 160 w 160"/>
                  <a:gd name="T3" fmla="*/ 185 h 243"/>
                  <a:gd name="T4" fmla="*/ 144 w 160"/>
                  <a:gd name="T5" fmla="*/ 167 h 243"/>
                  <a:gd name="T6" fmla="*/ 128 w 160"/>
                  <a:gd name="T7" fmla="*/ 147 h 243"/>
                  <a:gd name="T8" fmla="*/ 116 w 160"/>
                  <a:gd name="T9" fmla="*/ 124 h 243"/>
                  <a:gd name="T10" fmla="*/ 104 w 160"/>
                  <a:gd name="T11" fmla="*/ 103 h 243"/>
                  <a:gd name="T12" fmla="*/ 96 w 160"/>
                  <a:gd name="T13" fmla="*/ 79 h 243"/>
                  <a:gd name="T14" fmla="*/ 90 w 160"/>
                  <a:gd name="T15" fmla="*/ 53 h 243"/>
                  <a:gd name="T16" fmla="*/ 86 w 160"/>
                  <a:gd name="T17" fmla="*/ 27 h 243"/>
                  <a:gd name="T18" fmla="*/ 86 w 160"/>
                  <a:gd name="T19" fmla="*/ 0 h 243"/>
                  <a:gd name="T20" fmla="*/ 0 w 160"/>
                  <a:gd name="T21" fmla="*/ 0 h 243"/>
                  <a:gd name="T22" fmla="*/ 3 w 160"/>
                  <a:gd name="T23" fmla="*/ 33 h 243"/>
                  <a:gd name="T24" fmla="*/ 8 w 160"/>
                  <a:gd name="T25" fmla="*/ 68 h 243"/>
                  <a:gd name="T26" fmla="*/ 17 w 160"/>
                  <a:gd name="T27" fmla="*/ 100 h 243"/>
                  <a:gd name="T28" fmla="*/ 28 w 160"/>
                  <a:gd name="T29" fmla="*/ 134 h 243"/>
                  <a:gd name="T30" fmla="*/ 43 w 160"/>
                  <a:gd name="T31" fmla="*/ 164 h 243"/>
                  <a:gd name="T32" fmla="*/ 58 w 160"/>
                  <a:gd name="T33" fmla="*/ 193 h 243"/>
                  <a:gd name="T34" fmla="*/ 80 w 160"/>
                  <a:gd name="T35" fmla="*/ 219 h 243"/>
                  <a:gd name="T36" fmla="*/ 99 w 160"/>
                  <a:gd name="T37" fmla="*/ 243 h 243"/>
                  <a:gd name="T38" fmla="*/ 101 w 160"/>
                  <a:gd name="T39" fmla="*/ 243 h 243"/>
                  <a:gd name="T40" fmla="*/ 159 w 160"/>
                  <a:gd name="T41" fmla="*/ 185 h 24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60"/>
                  <a:gd name="T64" fmla="*/ 0 h 243"/>
                  <a:gd name="T65" fmla="*/ 160 w 160"/>
                  <a:gd name="T66" fmla="*/ 243 h 24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60" h="243">
                    <a:moveTo>
                      <a:pt x="159" y="185"/>
                    </a:moveTo>
                    <a:lnTo>
                      <a:pt x="160" y="185"/>
                    </a:lnTo>
                    <a:lnTo>
                      <a:pt x="144" y="167"/>
                    </a:lnTo>
                    <a:lnTo>
                      <a:pt x="128" y="147"/>
                    </a:lnTo>
                    <a:lnTo>
                      <a:pt x="116" y="124"/>
                    </a:lnTo>
                    <a:lnTo>
                      <a:pt x="104" y="103"/>
                    </a:lnTo>
                    <a:lnTo>
                      <a:pt x="96" y="79"/>
                    </a:lnTo>
                    <a:lnTo>
                      <a:pt x="90" y="53"/>
                    </a:lnTo>
                    <a:lnTo>
                      <a:pt x="86" y="27"/>
                    </a:lnTo>
                    <a:lnTo>
                      <a:pt x="86" y="0"/>
                    </a:lnTo>
                    <a:lnTo>
                      <a:pt x="0" y="0"/>
                    </a:lnTo>
                    <a:lnTo>
                      <a:pt x="3" y="33"/>
                    </a:lnTo>
                    <a:lnTo>
                      <a:pt x="8" y="68"/>
                    </a:lnTo>
                    <a:lnTo>
                      <a:pt x="17" y="100"/>
                    </a:lnTo>
                    <a:lnTo>
                      <a:pt x="28" y="134"/>
                    </a:lnTo>
                    <a:lnTo>
                      <a:pt x="43" y="164"/>
                    </a:lnTo>
                    <a:lnTo>
                      <a:pt x="58" y="193"/>
                    </a:lnTo>
                    <a:lnTo>
                      <a:pt x="80" y="219"/>
                    </a:lnTo>
                    <a:lnTo>
                      <a:pt x="99" y="243"/>
                    </a:lnTo>
                    <a:lnTo>
                      <a:pt x="101" y="243"/>
                    </a:lnTo>
                    <a:lnTo>
                      <a:pt x="159" y="18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43" name="Freeform 1140"/>
              <p:cNvSpPr>
                <a:spLocks/>
              </p:cNvSpPr>
              <p:nvPr/>
            </p:nvSpPr>
            <p:spPr bwMode="auto">
              <a:xfrm>
                <a:off x="8831" y="9398"/>
                <a:ext cx="95" cy="164"/>
              </a:xfrm>
              <a:custGeom>
                <a:avLst/>
                <a:gdLst>
                  <a:gd name="T0" fmla="*/ 146 w 189"/>
                  <a:gd name="T1" fmla="*/ 242 h 327"/>
                  <a:gd name="T2" fmla="*/ 189 w 189"/>
                  <a:gd name="T3" fmla="*/ 285 h 327"/>
                  <a:gd name="T4" fmla="*/ 185 w 189"/>
                  <a:gd name="T5" fmla="*/ 224 h 327"/>
                  <a:gd name="T6" fmla="*/ 172 w 189"/>
                  <a:gd name="T7" fmla="*/ 171 h 327"/>
                  <a:gd name="T8" fmla="*/ 156 w 189"/>
                  <a:gd name="T9" fmla="*/ 125 h 327"/>
                  <a:gd name="T10" fmla="*/ 134 w 189"/>
                  <a:gd name="T11" fmla="*/ 87 h 327"/>
                  <a:gd name="T12" fmla="*/ 111 w 189"/>
                  <a:gd name="T13" fmla="*/ 55 h 327"/>
                  <a:gd name="T14" fmla="*/ 90 w 189"/>
                  <a:gd name="T15" fmla="*/ 31 h 327"/>
                  <a:gd name="T16" fmla="*/ 72 w 189"/>
                  <a:gd name="T17" fmla="*/ 14 h 327"/>
                  <a:gd name="T18" fmla="*/ 58 w 189"/>
                  <a:gd name="T19" fmla="*/ 0 h 327"/>
                  <a:gd name="T20" fmla="*/ 0 w 189"/>
                  <a:gd name="T21" fmla="*/ 58 h 327"/>
                  <a:gd name="T22" fmla="*/ 14 w 189"/>
                  <a:gd name="T23" fmla="*/ 72 h 327"/>
                  <a:gd name="T24" fmla="*/ 29 w 189"/>
                  <a:gd name="T25" fmla="*/ 88 h 327"/>
                  <a:gd name="T26" fmla="*/ 47 w 189"/>
                  <a:gd name="T27" fmla="*/ 107 h 327"/>
                  <a:gd name="T28" fmla="*/ 64 w 189"/>
                  <a:gd name="T29" fmla="*/ 129 h 327"/>
                  <a:gd name="T30" fmla="*/ 79 w 189"/>
                  <a:gd name="T31" fmla="*/ 158 h 327"/>
                  <a:gd name="T32" fmla="*/ 93 w 189"/>
                  <a:gd name="T33" fmla="*/ 192 h 327"/>
                  <a:gd name="T34" fmla="*/ 102 w 189"/>
                  <a:gd name="T35" fmla="*/ 233 h 327"/>
                  <a:gd name="T36" fmla="*/ 104 w 189"/>
                  <a:gd name="T37" fmla="*/ 285 h 327"/>
                  <a:gd name="T38" fmla="*/ 146 w 189"/>
                  <a:gd name="T39" fmla="*/ 327 h 327"/>
                  <a:gd name="T40" fmla="*/ 104 w 189"/>
                  <a:gd name="T41" fmla="*/ 285 h 327"/>
                  <a:gd name="T42" fmla="*/ 104 w 189"/>
                  <a:gd name="T43" fmla="*/ 327 h 327"/>
                  <a:gd name="T44" fmla="*/ 146 w 189"/>
                  <a:gd name="T45" fmla="*/ 327 h 327"/>
                  <a:gd name="T46" fmla="*/ 146 w 189"/>
                  <a:gd name="T47" fmla="*/ 242 h 327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89"/>
                  <a:gd name="T73" fmla="*/ 0 h 327"/>
                  <a:gd name="T74" fmla="*/ 189 w 189"/>
                  <a:gd name="T75" fmla="*/ 327 h 327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89" h="327">
                    <a:moveTo>
                      <a:pt x="146" y="242"/>
                    </a:moveTo>
                    <a:lnTo>
                      <a:pt x="189" y="285"/>
                    </a:lnTo>
                    <a:lnTo>
                      <a:pt x="185" y="224"/>
                    </a:lnTo>
                    <a:lnTo>
                      <a:pt x="172" y="171"/>
                    </a:lnTo>
                    <a:lnTo>
                      <a:pt x="156" y="125"/>
                    </a:lnTo>
                    <a:lnTo>
                      <a:pt x="134" y="87"/>
                    </a:lnTo>
                    <a:lnTo>
                      <a:pt x="111" y="55"/>
                    </a:lnTo>
                    <a:lnTo>
                      <a:pt x="90" y="31"/>
                    </a:lnTo>
                    <a:lnTo>
                      <a:pt x="72" y="14"/>
                    </a:lnTo>
                    <a:lnTo>
                      <a:pt x="58" y="0"/>
                    </a:lnTo>
                    <a:lnTo>
                      <a:pt x="0" y="58"/>
                    </a:lnTo>
                    <a:lnTo>
                      <a:pt x="14" y="72"/>
                    </a:lnTo>
                    <a:lnTo>
                      <a:pt x="29" y="88"/>
                    </a:lnTo>
                    <a:lnTo>
                      <a:pt x="47" y="107"/>
                    </a:lnTo>
                    <a:lnTo>
                      <a:pt x="64" y="129"/>
                    </a:lnTo>
                    <a:lnTo>
                      <a:pt x="79" y="158"/>
                    </a:lnTo>
                    <a:lnTo>
                      <a:pt x="93" y="192"/>
                    </a:lnTo>
                    <a:lnTo>
                      <a:pt x="102" y="233"/>
                    </a:lnTo>
                    <a:lnTo>
                      <a:pt x="104" y="285"/>
                    </a:lnTo>
                    <a:lnTo>
                      <a:pt x="146" y="327"/>
                    </a:lnTo>
                    <a:lnTo>
                      <a:pt x="104" y="285"/>
                    </a:lnTo>
                    <a:lnTo>
                      <a:pt x="104" y="327"/>
                    </a:lnTo>
                    <a:lnTo>
                      <a:pt x="146" y="327"/>
                    </a:lnTo>
                    <a:lnTo>
                      <a:pt x="146" y="2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44" name="Freeform 1141"/>
              <p:cNvSpPr>
                <a:spLocks/>
              </p:cNvSpPr>
              <p:nvPr/>
            </p:nvSpPr>
            <p:spPr bwMode="auto">
              <a:xfrm>
                <a:off x="8905" y="9519"/>
                <a:ext cx="126" cy="43"/>
              </a:xfrm>
              <a:custGeom>
                <a:avLst/>
                <a:gdLst>
                  <a:gd name="T0" fmla="*/ 167 w 252"/>
                  <a:gd name="T1" fmla="*/ 43 h 85"/>
                  <a:gd name="T2" fmla="*/ 210 w 252"/>
                  <a:gd name="T3" fmla="*/ 0 h 85"/>
                  <a:gd name="T4" fmla="*/ 0 w 252"/>
                  <a:gd name="T5" fmla="*/ 0 h 85"/>
                  <a:gd name="T6" fmla="*/ 0 w 252"/>
                  <a:gd name="T7" fmla="*/ 85 h 85"/>
                  <a:gd name="T8" fmla="*/ 210 w 252"/>
                  <a:gd name="T9" fmla="*/ 85 h 85"/>
                  <a:gd name="T10" fmla="*/ 252 w 252"/>
                  <a:gd name="T11" fmla="*/ 43 h 85"/>
                  <a:gd name="T12" fmla="*/ 210 w 252"/>
                  <a:gd name="T13" fmla="*/ 85 h 85"/>
                  <a:gd name="T14" fmla="*/ 252 w 252"/>
                  <a:gd name="T15" fmla="*/ 85 h 85"/>
                  <a:gd name="T16" fmla="*/ 252 w 252"/>
                  <a:gd name="T17" fmla="*/ 43 h 85"/>
                  <a:gd name="T18" fmla="*/ 167 w 252"/>
                  <a:gd name="T19" fmla="*/ 43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52"/>
                  <a:gd name="T31" fmla="*/ 0 h 85"/>
                  <a:gd name="T32" fmla="*/ 252 w 252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52" h="85">
                    <a:moveTo>
                      <a:pt x="167" y="43"/>
                    </a:moveTo>
                    <a:lnTo>
                      <a:pt x="210" y="0"/>
                    </a:lnTo>
                    <a:lnTo>
                      <a:pt x="0" y="0"/>
                    </a:lnTo>
                    <a:lnTo>
                      <a:pt x="0" y="85"/>
                    </a:lnTo>
                    <a:lnTo>
                      <a:pt x="210" y="85"/>
                    </a:lnTo>
                    <a:lnTo>
                      <a:pt x="252" y="43"/>
                    </a:lnTo>
                    <a:lnTo>
                      <a:pt x="210" y="85"/>
                    </a:lnTo>
                    <a:lnTo>
                      <a:pt x="252" y="85"/>
                    </a:lnTo>
                    <a:lnTo>
                      <a:pt x="252" y="43"/>
                    </a:lnTo>
                    <a:lnTo>
                      <a:pt x="167" y="4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45" name="Freeform 1142"/>
              <p:cNvSpPr>
                <a:spLocks/>
              </p:cNvSpPr>
              <p:nvPr/>
            </p:nvSpPr>
            <p:spPr bwMode="auto">
              <a:xfrm>
                <a:off x="8867" y="9546"/>
                <a:ext cx="24" cy="47"/>
              </a:xfrm>
              <a:custGeom>
                <a:avLst/>
                <a:gdLst>
                  <a:gd name="T0" fmla="*/ 47 w 47"/>
                  <a:gd name="T1" fmla="*/ 0 h 94"/>
                  <a:gd name="T2" fmla="*/ 27 w 47"/>
                  <a:gd name="T3" fmla="*/ 5 h 94"/>
                  <a:gd name="T4" fmla="*/ 12 w 47"/>
                  <a:gd name="T5" fmla="*/ 15 h 94"/>
                  <a:gd name="T6" fmla="*/ 3 w 47"/>
                  <a:gd name="T7" fmla="*/ 31 h 94"/>
                  <a:gd name="T8" fmla="*/ 0 w 47"/>
                  <a:gd name="T9" fmla="*/ 47 h 94"/>
                  <a:gd name="T10" fmla="*/ 3 w 47"/>
                  <a:gd name="T11" fmla="*/ 64 h 94"/>
                  <a:gd name="T12" fmla="*/ 12 w 47"/>
                  <a:gd name="T13" fmla="*/ 79 h 94"/>
                  <a:gd name="T14" fmla="*/ 27 w 47"/>
                  <a:gd name="T15" fmla="*/ 90 h 94"/>
                  <a:gd name="T16" fmla="*/ 47 w 47"/>
                  <a:gd name="T17" fmla="*/ 94 h 94"/>
                  <a:gd name="T18" fmla="*/ 47 w 47"/>
                  <a:gd name="T19" fmla="*/ 0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4"/>
                  <a:gd name="T32" fmla="*/ 47 w 47"/>
                  <a:gd name="T33" fmla="*/ 94 h 9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4">
                    <a:moveTo>
                      <a:pt x="47" y="0"/>
                    </a:moveTo>
                    <a:lnTo>
                      <a:pt x="27" y="5"/>
                    </a:lnTo>
                    <a:lnTo>
                      <a:pt x="12" y="15"/>
                    </a:lnTo>
                    <a:lnTo>
                      <a:pt x="3" y="31"/>
                    </a:lnTo>
                    <a:lnTo>
                      <a:pt x="0" y="47"/>
                    </a:lnTo>
                    <a:lnTo>
                      <a:pt x="3" y="64"/>
                    </a:lnTo>
                    <a:lnTo>
                      <a:pt x="12" y="79"/>
                    </a:lnTo>
                    <a:lnTo>
                      <a:pt x="27" y="90"/>
                    </a:lnTo>
                    <a:lnTo>
                      <a:pt x="47" y="94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46" name="Freeform 1143"/>
              <p:cNvSpPr>
                <a:spLocks/>
              </p:cNvSpPr>
              <p:nvPr/>
            </p:nvSpPr>
            <p:spPr bwMode="auto">
              <a:xfrm>
                <a:off x="8891" y="9546"/>
                <a:ext cx="134" cy="47"/>
              </a:xfrm>
              <a:custGeom>
                <a:avLst/>
                <a:gdLst>
                  <a:gd name="T0" fmla="*/ 267 w 267"/>
                  <a:gd name="T1" fmla="*/ 47 h 94"/>
                  <a:gd name="T2" fmla="*/ 267 w 267"/>
                  <a:gd name="T3" fmla="*/ 0 h 94"/>
                  <a:gd name="T4" fmla="*/ 0 w 267"/>
                  <a:gd name="T5" fmla="*/ 0 h 94"/>
                  <a:gd name="T6" fmla="*/ 0 w 267"/>
                  <a:gd name="T7" fmla="*/ 94 h 94"/>
                  <a:gd name="T8" fmla="*/ 267 w 267"/>
                  <a:gd name="T9" fmla="*/ 94 h 94"/>
                  <a:gd name="T10" fmla="*/ 267 w 267"/>
                  <a:gd name="T11" fmla="*/ 47 h 9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94"/>
                  <a:gd name="T20" fmla="*/ 267 w 267"/>
                  <a:gd name="T21" fmla="*/ 94 h 9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94">
                    <a:moveTo>
                      <a:pt x="267" y="47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94"/>
                    </a:lnTo>
                    <a:lnTo>
                      <a:pt x="267" y="94"/>
                    </a:lnTo>
                    <a:lnTo>
                      <a:pt x="267" y="4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47" name="Freeform 1144"/>
              <p:cNvSpPr>
                <a:spLocks/>
              </p:cNvSpPr>
              <p:nvPr/>
            </p:nvSpPr>
            <p:spPr bwMode="auto">
              <a:xfrm>
                <a:off x="9025" y="9546"/>
                <a:ext cx="23" cy="47"/>
              </a:xfrm>
              <a:custGeom>
                <a:avLst/>
                <a:gdLst>
                  <a:gd name="T0" fmla="*/ 0 w 47"/>
                  <a:gd name="T1" fmla="*/ 94 h 94"/>
                  <a:gd name="T2" fmla="*/ 20 w 47"/>
                  <a:gd name="T3" fmla="*/ 90 h 94"/>
                  <a:gd name="T4" fmla="*/ 35 w 47"/>
                  <a:gd name="T5" fmla="*/ 79 h 94"/>
                  <a:gd name="T6" fmla="*/ 44 w 47"/>
                  <a:gd name="T7" fmla="*/ 64 h 94"/>
                  <a:gd name="T8" fmla="*/ 47 w 47"/>
                  <a:gd name="T9" fmla="*/ 47 h 94"/>
                  <a:gd name="T10" fmla="*/ 44 w 47"/>
                  <a:gd name="T11" fmla="*/ 31 h 94"/>
                  <a:gd name="T12" fmla="*/ 35 w 47"/>
                  <a:gd name="T13" fmla="*/ 15 h 94"/>
                  <a:gd name="T14" fmla="*/ 20 w 47"/>
                  <a:gd name="T15" fmla="*/ 5 h 94"/>
                  <a:gd name="T16" fmla="*/ 0 w 47"/>
                  <a:gd name="T17" fmla="*/ 0 h 94"/>
                  <a:gd name="T18" fmla="*/ 0 w 47"/>
                  <a:gd name="T19" fmla="*/ 94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4"/>
                  <a:gd name="T32" fmla="*/ 47 w 47"/>
                  <a:gd name="T33" fmla="*/ 94 h 9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4">
                    <a:moveTo>
                      <a:pt x="0" y="94"/>
                    </a:moveTo>
                    <a:lnTo>
                      <a:pt x="20" y="90"/>
                    </a:lnTo>
                    <a:lnTo>
                      <a:pt x="35" y="79"/>
                    </a:lnTo>
                    <a:lnTo>
                      <a:pt x="44" y="64"/>
                    </a:lnTo>
                    <a:lnTo>
                      <a:pt x="47" y="47"/>
                    </a:lnTo>
                    <a:lnTo>
                      <a:pt x="44" y="31"/>
                    </a:lnTo>
                    <a:lnTo>
                      <a:pt x="35" y="15"/>
                    </a:lnTo>
                    <a:lnTo>
                      <a:pt x="20" y="5"/>
                    </a:lnTo>
                    <a:lnTo>
                      <a:pt x="0" y="0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48" name="Freeform 1145"/>
              <p:cNvSpPr>
                <a:spLocks/>
              </p:cNvSpPr>
              <p:nvPr/>
            </p:nvSpPr>
            <p:spPr bwMode="auto">
              <a:xfrm>
                <a:off x="8802" y="9151"/>
                <a:ext cx="309" cy="389"/>
              </a:xfrm>
              <a:custGeom>
                <a:avLst/>
                <a:gdLst>
                  <a:gd name="T0" fmla="*/ 417 w 618"/>
                  <a:gd name="T1" fmla="*/ 722 h 779"/>
                  <a:gd name="T2" fmla="*/ 442 w 618"/>
                  <a:gd name="T3" fmla="*/ 636 h 779"/>
                  <a:gd name="T4" fmla="*/ 481 w 618"/>
                  <a:gd name="T5" fmla="*/ 575 h 779"/>
                  <a:gd name="T6" fmla="*/ 517 w 618"/>
                  <a:gd name="T7" fmla="*/ 537 h 779"/>
                  <a:gd name="T8" fmla="*/ 551 w 618"/>
                  <a:gd name="T9" fmla="*/ 502 h 779"/>
                  <a:gd name="T10" fmla="*/ 583 w 618"/>
                  <a:gd name="T11" fmla="*/ 453 h 779"/>
                  <a:gd name="T12" fmla="*/ 604 w 618"/>
                  <a:gd name="T13" fmla="*/ 398 h 779"/>
                  <a:gd name="T14" fmla="*/ 616 w 618"/>
                  <a:gd name="T15" fmla="*/ 339 h 779"/>
                  <a:gd name="T16" fmla="*/ 616 w 618"/>
                  <a:gd name="T17" fmla="*/ 277 h 779"/>
                  <a:gd name="T18" fmla="*/ 604 w 618"/>
                  <a:gd name="T19" fmla="*/ 218 h 779"/>
                  <a:gd name="T20" fmla="*/ 581 w 618"/>
                  <a:gd name="T21" fmla="*/ 161 h 779"/>
                  <a:gd name="T22" fmla="*/ 548 w 618"/>
                  <a:gd name="T23" fmla="*/ 113 h 779"/>
                  <a:gd name="T24" fmla="*/ 505 w 618"/>
                  <a:gd name="T25" fmla="*/ 70 h 779"/>
                  <a:gd name="T26" fmla="*/ 456 w 618"/>
                  <a:gd name="T27" fmla="*/ 38 h 779"/>
                  <a:gd name="T28" fmla="*/ 401 w 618"/>
                  <a:gd name="T29" fmla="*/ 14 h 779"/>
                  <a:gd name="T30" fmla="*/ 342 w 618"/>
                  <a:gd name="T31" fmla="*/ 2 h 779"/>
                  <a:gd name="T32" fmla="*/ 278 w 618"/>
                  <a:gd name="T33" fmla="*/ 2 h 779"/>
                  <a:gd name="T34" fmla="*/ 218 w 618"/>
                  <a:gd name="T35" fmla="*/ 14 h 779"/>
                  <a:gd name="T36" fmla="*/ 162 w 618"/>
                  <a:gd name="T37" fmla="*/ 38 h 779"/>
                  <a:gd name="T38" fmla="*/ 113 w 618"/>
                  <a:gd name="T39" fmla="*/ 70 h 779"/>
                  <a:gd name="T40" fmla="*/ 70 w 618"/>
                  <a:gd name="T41" fmla="*/ 113 h 779"/>
                  <a:gd name="T42" fmla="*/ 38 w 618"/>
                  <a:gd name="T43" fmla="*/ 161 h 779"/>
                  <a:gd name="T44" fmla="*/ 14 w 618"/>
                  <a:gd name="T45" fmla="*/ 218 h 779"/>
                  <a:gd name="T46" fmla="*/ 2 w 618"/>
                  <a:gd name="T47" fmla="*/ 277 h 779"/>
                  <a:gd name="T48" fmla="*/ 2 w 618"/>
                  <a:gd name="T49" fmla="*/ 339 h 779"/>
                  <a:gd name="T50" fmla="*/ 14 w 618"/>
                  <a:gd name="T51" fmla="*/ 398 h 779"/>
                  <a:gd name="T52" fmla="*/ 37 w 618"/>
                  <a:gd name="T53" fmla="*/ 453 h 779"/>
                  <a:gd name="T54" fmla="*/ 69 w 618"/>
                  <a:gd name="T55" fmla="*/ 502 h 779"/>
                  <a:gd name="T56" fmla="*/ 101 w 618"/>
                  <a:gd name="T57" fmla="*/ 537 h 779"/>
                  <a:gd name="T58" fmla="*/ 137 w 618"/>
                  <a:gd name="T59" fmla="*/ 575 h 779"/>
                  <a:gd name="T60" fmla="*/ 175 w 618"/>
                  <a:gd name="T61" fmla="*/ 636 h 779"/>
                  <a:gd name="T62" fmla="*/ 201 w 618"/>
                  <a:gd name="T63" fmla="*/ 722 h 779"/>
                  <a:gd name="T64" fmla="*/ 414 w 618"/>
                  <a:gd name="T65" fmla="*/ 779 h 77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18"/>
                  <a:gd name="T100" fmla="*/ 0 h 779"/>
                  <a:gd name="T101" fmla="*/ 618 w 618"/>
                  <a:gd name="T102" fmla="*/ 779 h 77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18" h="779">
                    <a:moveTo>
                      <a:pt x="414" y="779"/>
                    </a:moveTo>
                    <a:lnTo>
                      <a:pt x="417" y="722"/>
                    </a:lnTo>
                    <a:lnTo>
                      <a:pt x="427" y="675"/>
                    </a:lnTo>
                    <a:lnTo>
                      <a:pt x="442" y="636"/>
                    </a:lnTo>
                    <a:lnTo>
                      <a:pt x="461" y="602"/>
                    </a:lnTo>
                    <a:lnTo>
                      <a:pt x="481" y="575"/>
                    </a:lnTo>
                    <a:lnTo>
                      <a:pt x="500" y="554"/>
                    </a:lnTo>
                    <a:lnTo>
                      <a:pt x="517" y="537"/>
                    </a:lnTo>
                    <a:lnTo>
                      <a:pt x="531" y="523"/>
                    </a:lnTo>
                    <a:lnTo>
                      <a:pt x="551" y="502"/>
                    </a:lnTo>
                    <a:lnTo>
                      <a:pt x="568" y="479"/>
                    </a:lnTo>
                    <a:lnTo>
                      <a:pt x="583" y="453"/>
                    </a:lnTo>
                    <a:lnTo>
                      <a:pt x="595" y="427"/>
                    </a:lnTo>
                    <a:lnTo>
                      <a:pt x="604" y="398"/>
                    </a:lnTo>
                    <a:lnTo>
                      <a:pt x="612" y="370"/>
                    </a:lnTo>
                    <a:lnTo>
                      <a:pt x="616" y="339"/>
                    </a:lnTo>
                    <a:lnTo>
                      <a:pt x="618" y="309"/>
                    </a:lnTo>
                    <a:lnTo>
                      <a:pt x="616" y="277"/>
                    </a:lnTo>
                    <a:lnTo>
                      <a:pt x="612" y="246"/>
                    </a:lnTo>
                    <a:lnTo>
                      <a:pt x="604" y="218"/>
                    </a:lnTo>
                    <a:lnTo>
                      <a:pt x="594" y="189"/>
                    </a:lnTo>
                    <a:lnTo>
                      <a:pt x="581" y="161"/>
                    </a:lnTo>
                    <a:lnTo>
                      <a:pt x="565" y="137"/>
                    </a:lnTo>
                    <a:lnTo>
                      <a:pt x="548" y="113"/>
                    </a:lnTo>
                    <a:lnTo>
                      <a:pt x="528" y="90"/>
                    </a:lnTo>
                    <a:lnTo>
                      <a:pt x="505" y="70"/>
                    </a:lnTo>
                    <a:lnTo>
                      <a:pt x="482" y="53"/>
                    </a:lnTo>
                    <a:lnTo>
                      <a:pt x="456" y="38"/>
                    </a:lnTo>
                    <a:lnTo>
                      <a:pt x="429" y="25"/>
                    </a:lnTo>
                    <a:lnTo>
                      <a:pt x="401" y="14"/>
                    </a:lnTo>
                    <a:lnTo>
                      <a:pt x="372" y="6"/>
                    </a:lnTo>
                    <a:lnTo>
                      <a:pt x="342" y="2"/>
                    </a:lnTo>
                    <a:lnTo>
                      <a:pt x="310" y="0"/>
                    </a:lnTo>
                    <a:lnTo>
                      <a:pt x="278" y="2"/>
                    </a:lnTo>
                    <a:lnTo>
                      <a:pt x="247" y="6"/>
                    </a:lnTo>
                    <a:lnTo>
                      <a:pt x="218" y="14"/>
                    </a:lnTo>
                    <a:lnTo>
                      <a:pt x="189" y="25"/>
                    </a:lnTo>
                    <a:lnTo>
                      <a:pt x="162" y="38"/>
                    </a:lnTo>
                    <a:lnTo>
                      <a:pt x="137" y="53"/>
                    </a:lnTo>
                    <a:lnTo>
                      <a:pt x="113" y="70"/>
                    </a:lnTo>
                    <a:lnTo>
                      <a:pt x="92" y="90"/>
                    </a:lnTo>
                    <a:lnTo>
                      <a:pt x="70" y="113"/>
                    </a:lnTo>
                    <a:lnTo>
                      <a:pt x="53" y="137"/>
                    </a:lnTo>
                    <a:lnTo>
                      <a:pt x="38" y="161"/>
                    </a:lnTo>
                    <a:lnTo>
                      <a:pt x="24" y="189"/>
                    </a:lnTo>
                    <a:lnTo>
                      <a:pt x="14" y="218"/>
                    </a:lnTo>
                    <a:lnTo>
                      <a:pt x="6" y="246"/>
                    </a:lnTo>
                    <a:lnTo>
                      <a:pt x="2" y="277"/>
                    </a:lnTo>
                    <a:lnTo>
                      <a:pt x="0" y="309"/>
                    </a:lnTo>
                    <a:lnTo>
                      <a:pt x="2" y="339"/>
                    </a:lnTo>
                    <a:lnTo>
                      <a:pt x="6" y="370"/>
                    </a:lnTo>
                    <a:lnTo>
                      <a:pt x="14" y="398"/>
                    </a:lnTo>
                    <a:lnTo>
                      <a:pt x="23" y="427"/>
                    </a:lnTo>
                    <a:lnTo>
                      <a:pt x="37" y="453"/>
                    </a:lnTo>
                    <a:lnTo>
                      <a:pt x="50" y="479"/>
                    </a:lnTo>
                    <a:lnTo>
                      <a:pt x="69" y="502"/>
                    </a:lnTo>
                    <a:lnTo>
                      <a:pt x="87" y="523"/>
                    </a:lnTo>
                    <a:lnTo>
                      <a:pt x="101" y="537"/>
                    </a:lnTo>
                    <a:lnTo>
                      <a:pt x="117" y="554"/>
                    </a:lnTo>
                    <a:lnTo>
                      <a:pt x="137" y="575"/>
                    </a:lnTo>
                    <a:lnTo>
                      <a:pt x="157" y="602"/>
                    </a:lnTo>
                    <a:lnTo>
                      <a:pt x="175" y="636"/>
                    </a:lnTo>
                    <a:lnTo>
                      <a:pt x="191" y="675"/>
                    </a:lnTo>
                    <a:lnTo>
                      <a:pt x="201" y="722"/>
                    </a:lnTo>
                    <a:lnTo>
                      <a:pt x="204" y="779"/>
                    </a:lnTo>
                    <a:lnTo>
                      <a:pt x="414" y="779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49" name="Freeform 1146"/>
              <p:cNvSpPr>
                <a:spLocks/>
              </p:cNvSpPr>
              <p:nvPr/>
            </p:nvSpPr>
            <p:spPr bwMode="auto">
              <a:xfrm>
                <a:off x="8867" y="9574"/>
                <a:ext cx="24" cy="47"/>
              </a:xfrm>
              <a:custGeom>
                <a:avLst/>
                <a:gdLst>
                  <a:gd name="T0" fmla="*/ 47 w 47"/>
                  <a:gd name="T1" fmla="*/ 0 h 95"/>
                  <a:gd name="T2" fmla="*/ 27 w 47"/>
                  <a:gd name="T3" fmla="*/ 5 h 95"/>
                  <a:gd name="T4" fmla="*/ 12 w 47"/>
                  <a:gd name="T5" fmla="*/ 16 h 95"/>
                  <a:gd name="T6" fmla="*/ 3 w 47"/>
                  <a:gd name="T7" fmla="*/ 31 h 95"/>
                  <a:gd name="T8" fmla="*/ 0 w 47"/>
                  <a:gd name="T9" fmla="*/ 48 h 95"/>
                  <a:gd name="T10" fmla="*/ 3 w 47"/>
                  <a:gd name="T11" fmla="*/ 64 h 95"/>
                  <a:gd name="T12" fmla="*/ 12 w 47"/>
                  <a:gd name="T13" fmla="*/ 79 h 95"/>
                  <a:gd name="T14" fmla="*/ 27 w 47"/>
                  <a:gd name="T15" fmla="*/ 90 h 95"/>
                  <a:gd name="T16" fmla="*/ 47 w 47"/>
                  <a:gd name="T17" fmla="*/ 95 h 95"/>
                  <a:gd name="T18" fmla="*/ 47 w 47"/>
                  <a:gd name="T19" fmla="*/ 0 h 9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5"/>
                  <a:gd name="T32" fmla="*/ 47 w 47"/>
                  <a:gd name="T33" fmla="*/ 95 h 9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5">
                    <a:moveTo>
                      <a:pt x="47" y="0"/>
                    </a:moveTo>
                    <a:lnTo>
                      <a:pt x="27" y="5"/>
                    </a:lnTo>
                    <a:lnTo>
                      <a:pt x="12" y="16"/>
                    </a:lnTo>
                    <a:lnTo>
                      <a:pt x="3" y="31"/>
                    </a:lnTo>
                    <a:lnTo>
                      <a:pt x="0" y="48"/>
                    </a:lnTo>
                    <a:lnTo>
                      <a:pt x="3" y="64"/>
                    </a:lnTo>
                    <a:lnTo>
                      <a:pt x="12" y="79"/>
                    </a:lnTo>
                    <a:lnTo>
                      <a:pt x="27" y="90"/>
                    </a:lnTo>
                    <a:lnTo>
                      <a:pt x="47" y="95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50" name="Freeform 1147"/>
              <p:cNvSpPr>
                <a:spLocks/>
              </p:cNvSpPr>
              <p:nvPr/>
            </p:nvSpPr>
            <p:spPr bwMode="auto">
              <a:xfrm>
                <a:off x="8891" y="9574"/>
                <a:ext cx="134" cy="47"/>
              </a:xfrm>
              <a:custGeom>
                <a:avLst/>
                <a:gdLst>
                  <a:gd name="T0" fmla="*/ 267 w 267"/>
                  <a:gd name="T1" fmla="*/ 48 h 95"/>
                  <a:gd name="T2" fmla="*/ 267 w 267"/>
                  <a:gd name="T3" fmla="*/ 0 h 95"/>
                  <a:gd name="T4" fmla="*/ 0 w 267"/>
                  <a:gd name="T5" fmla="*/ 0 h 95"/>
                  <a:gd name="T6" fmla="*/ 0 w 267"/>
                  <a:gd name="T7" fmla="*/ 95 h 95"/>
                  <a:gd name="T8" fmla="*/ 267 w 267"/>
                  <a:gd name="T9" fmla="*/ 95 h 95"/>
                  <a:gd name="T10" fmla="*/ 267 w 267"/>
                  <a:gd name="T11" fmla="*/ 48 h 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95"/>
                  <a:gd name="T20" fmla="*/ 267 w 267"/>
                  <a:gd name="T21" fmla="*/ 95 h 9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95">
                    <a:moveTo>
                      <a:pt x="267" y="48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267" y="95"/>
                    </a:lnTo>
                    <a:lnTo>
                      <a:pt x="267" y="4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51" name="Freeform 1148"/>
              <p:cNvSpPr>
                <a:spLocks/>
              </p:cNvSpPr>
              <p:nvPr/>
            </p:nvSpPr>
            <p:spPr bwMode="auto">
              <a:xfrm>
                <a:off x="9025" y="9574"/>
                <a:ext cx="23" cy="47"/>
              </a:xfrm>
              <a:custGeom>
                <a:avLst/>
                <a:gdLst>
                  <a:gd name="T0" fmla="*/ 0 w 47"/>
                  <a:gd name="T1" fmla="*/ 95 h 95"/>
                  <a:gd name="T2" fmla="*/ 20 w 47"/>
                  <a:gd name="T3" fmla="*/ 90 h 95"/>
                  <a:gd name="T4" fmla="*/ 35 w 47"/>
                  <a:gd name="T5" fmla="*/ 79 h 95"/>
                  <a:gd name="T6" fmla="*/ 44 w 47"/>
                  <a:gd name="T7" fmla="*/ 64 h 95"/>
                  <a:gd name="T8" fmla="*/ 47 w 47"/>
                  <a:gd name="T9" fmla="*/ 48 h 95"/>
                  <a:gd name="T10" fmla="*/ 44 w 47"/>
                  <a:gd name="T11" fmla="*/ 31 h 95"/>
                  <a:gd name="T12" fmla="*/ 35 w 47"/>
                  <a:gd name="T13" fmla="*/ 16 h 95"/>
                  <a:gd name="T14" fmla="*/ 20 w 47"/>
                  <a:gd name="T15" fmla="*/ 5 h 95"/>
                  <a:gd name="T16" fmla="*/ 0 w 47"/>
                  <a:gd name="T17" fmla="*/ 0 h 95"/>
                  <a:gd name="T18" fmla="*/ 0 w 47"/>
                  <a:gd name="T19" fmla="*/ 95 h 9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5"/>
                  <a:gd name="T32" fmla="*/ 47 w 47"/>
                  <a:gd name="T33" fmla="*/ 95 h 9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5">
                    <a:moveTo>
                      <a:pt x="0" y="95"/>
                    </a:moveTo>
                    <a:lnTo>
                      <a:pt x="20" y="90"/>
                    </a:lnTo>
                    <a:lnTo>
                      <a:pt x="35" y="79"/>
                    </a:lnTo>
                    <a:lnTo>
                      <a:pt x="44" y="64"/>
                    </a:lnTo>
                    <a:lnTo>
                      <a:pt x="47" y="48"/>
                    </a:lnTo>
                    <a:lnTo>
                      <a:pt x="44" y="31"/>
                    </a:lnTo>
                    <a:lnTo>
                      <a:pt x="35" y="16"/>
                    </a:lnTo>
                    <a:lnTo>
                      <a:pt x="20" y="5"/>
                    </a:lnTo>
                    <a:lnTo>
                      <a:pt x="0" y="0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52" name="Freeform 1149"/>
              <p:cNvSpPr>
                <a:spLocks/>
              </p:cNvSpPr>
              <p:nvPr/>
            </p:nvSpPr>
            <p:spPr bwMode="auto">
              <a:xfrm>
                <a:off x="8867" y="9602"/>
                <a:ext cx="24" cy="47"/>
              </a:xfrm>
              <a:custGeom>
                <a:avLst/>
                <a:gdLst>
                  <a:gd name="T0" fmla="*/ 47 w 47"/>
                  <a:gd name="T1" fmla="*/ 0 h 94"/>
                  <a:gd name="T2" fmla="*/ 27 w 47"/>
                  <a:gd name="T3" fmla="*/ 4 h 94"/>
                  <a:gd name="T4" fmla="*/ 12 w 47"/>
                  <a:gd name="T5" fmla="*/ 15 h 94"/>
                  <a:gd name="T6" fmla="*/ 3 w 47"/>
                  <a:gd name="T7" fmla="*/ 30 h 94"/>
                  <a:gd name="T8" fmla="*/ 0 w 47"/>
                  <a:gd name="T9" fmla="*/ 47 h 94"/>
                  <a:gd name="T10" fmla="*/ 3 w 47"/>
                  <a:gd name="T11" fmla="*/ 64 h 94"/>
                  <a:gd name="T12" fmla="*/ 12 w 47"/>
                  <a:gd name="T13" fmla="*/ 79 h 94"/>
                  <a:gd name="T14" fmla="*/ 27 w 47"/>
                  <a:gd name="T15" fmla="*/ 89 h 94"/>
                  <a:gd name="T16" fmla="*/ 47 w 47"/>
                  <a:gd name="T17" fmla="*/ 94 h 94"/>
                  <a:gd name="T18" fmla="*/ 47 w 47"/>
                  <a:gd name="T19" fmla="*/ 0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4"/>
                  <a:gd name="T32" fmla="*/ 47 w 47"/>
                  <a:gd name="T33" fmla="*/ 94 h 9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4">
                    <a:moveTo>
                      <a:pt x="47" y="0"/>
                    </a:moveTo>
                    <a:lnTo>
                      <a:pt x="27" y="4"/>
                    </a:lnTo>
                    <a:lnTo>
                      <a:pt x="12" y="15"/>
                    </a:lnTo>
                    <a:lnTo>
                      <a:pt x="3" y="30"/>
                    </a:lnTo>
                    <a:lnTo>
                      <a:pt x="0" y="47"/>
                    </a:lnTo>
                    <a:lnTo>
                      <a:pt x="3" y="64"/>
                    </a:lnTo>
                    <a:lnTo>
                      <a:pt x="12" y="79"/>
                    </a:lnTo>
                    <a:lnTo>
                      <a:pt x="27" y="89"/>
                    </a:lnTo>
                    <a:lnTo>
                      <a:pt x="47" y="94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53" name="Freeform 1150"/>
              <p:cNvSpPr>
                <a:spLocks/>
              </p:cNvSpPr>
              <p:nvPr/>
            </p:nvSpPr>
            <p:spPr bwMode="auto">
              <a:xfrm>
                <a:off x="8891" y="9602"/>
                <a:ext cx="134" cy="47"/>
              </a:xfrm>
              <a:custGeom>
                <a:avLst/>
                <a:gdLst>
                  <a:gd name="T0" fmla="*/ 267 w 267"/>
                  <a:gd name="T1" fmla="*/ 47 h 94"/>
                  <a:gd name="T2" fmla="*/ 267 w 267"/>
                  <a:gd name="T3" fmla="*/ 0 h 94"/>
                  <a:gd name="T4" fmla="*/ 0 w 267"/>
                  <a:gd name="T5" fmla="*/ 0 h 94"/>
                  <a:gd name="T6" fmla="*/ 0 w 267"/>
                  <a:gd name="T7" fmla="*/ 94 h 94"/>
                  <a:gd name="T8" fmla="*/ 267 w 267"/>
                  <a:gd name="T9" fmla="*/ 94 h 94"/>
                  <a:gd name="T10" fmla="*/ 267 w 267"/>
                  <a:gd name="T11" fmla="*/ 47 h 9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94"/>
                  <a:gd name="T20" fmla="*/ 267 w 267"/>
                  <a:gd name="T21" fmla="*/ 94 h 9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94">
                    <a:moveTo>
                      <a:pt x="267" y="47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94"/>
                    </a:lnTo>
                    <a:lnTo>
                      <a:pt x="267" y="94"/>
                    </a:lnTo>
                    <a:lnTo>
                      <a:pt x="267" y="4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54" name="Freeform 1151"/>
              <p:cNvSpPr>
                <a:spLocks/>
              </p:cNvSpPr>
              <p:nvPr/>
            </p:nvSpPr>
            <p:spPr bwMode="auto">
              <a:xfrm>
                <a:off x="9025" y="9602"/>
                <a:ext cx="23" cy="47"/>
              </a:xfrm>
              <a:custGeom>
                <a:avLst/>
                <a:gdLst>
                  <a:gd name="T0" fmla="*/ 0 w 47"/>
                  <a:gd name="T1" fmla="*/ 94 h 94"/>
                  <a:gd name="T2" fmla="*/ 20 w 47"/>
                  <a:gd name="T3" fmla="*/ 89 h 94"/>
                  <a:gd name="T4" fmla="*/ 35 w 47"/>
                  <a:gd name="T5" fmla="*/ 79 h 94"/>
                  <a:gd name="T6" fmla="*/ 44 w 47"/>
                  <a:gd name="T7" fmla="*/ 64 h 94"/>
                  <a:gd name="T8" fmla="*/ 47 w 47"/>
                  <a:gd name="T9" fmla="*/ 47 h 94"/>
                  <a:gd name="T10" fmla="*/ 44 w 47"/>
                  <a:gd name="T11" fmla="*/ 30 h 94"/>
                  <a:gd name="T12" fmla="*/ 35 w 47"/>
                  <a:gd name="T13" fmla="*/ 15 h 94"/>
                  <a:gd name="T14" fmla="*/ 20 w 47"/>
                  <a:gd name="T15" fmla="*/ 4 h 94"/>
                  <a:gd name="T16" fmla="*/ 0 w 47"/>
                  <a:gd name="T17" fmla="*/ 0 h 94"/>
                  <a:gd name="T18" fmla="*/ 0 w 47"/>
                  <a:gd name="T19" fmla="*/ 94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4"/>
                  <a:gd name="T32" fmla="*/ 47 w 47"/>
                  <a:gd name="T33" fmla="*/ 94 h 9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4">
                    <a:moveTo>
                      <a:pt x="0" y="94"/>
                    </a:moveTo>
                    <a:lnTo>
                      <a:pt x="20" y="89"/>
                    </a:lnTo>
                    <a:lnTo>
                      <a:pt x="35" y="79"/>
                    </a:lnTo>
                    <a:lnTo>
                      <a:pt x="44" y="64"/>
                    </a:lnTo>
                    <a:lnTo>
                      <a:pt x="47" y="47"/>
                    </a:lnTo>
                    <a:lnTo>
                      <a:pt x="44" y="30"/>
                    </a:lnTo>
                    <a:lnTo>
                      <a:pt x="35" y="15"/>
                    </a:lnTo>
                    <a:lnTo>
                      <a:pt x="20" y="4"/>
                    </a:lnTo>
                    <a:lnTo>
                      <a:pt x="0" y="0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55" name="Freeform 1152"/>
              <p:cNvSpPr>
                <a:spLocks/>
              </p:cNvSpPr>
              <p:nvPr/>
            </p:nvSpPr>
            <p:spPr bwMode="auto">
              <a:xfrm>
                <a:off x="8867" y="9630"/>
                <a:ext cx="24" cy="47"/>
              </a:xfrm>
              <a:custGeom>
                <a:avLst/>
                <a:gdLst>
                  <a:gd name="T0" fmla="*/ 47 w 47"/>
                  <a:gd name="T1" fmla="*/ 0 h 94"/>
                  <a:gd name="T2" fmla="*/ 27 w 47"/>
                  <a:gd name="T3" fmla="*/ 5 h 94"/>
                  <a:gd name="T4" fmla="*/ 12 w 47"/>
                  <a:gd name="T5" fmla="*/ 15 h 94"/>
                  <a:gd name="T6" fmla="*/ 3 w 47"/>
                  <a:gd name="T7" fmla="*/ 30 h 94"/>
                  <a:gd name="T8" fmla="*/ 0 w 47"/>
                  <a:gd name="T9" fmla="*/ 47 h 94"/>
                  <a:gd name="T10" fmla="*/ 3 w 47"/>
                  <a:gd name="T11" fmla="*/ 64 h 94"/>
                  <a:gd name="T12" fmla="*/ 12 w 47"/>
                  <a:gd name="T13" fmla="*/ 79 h 94"/>
                  <a:gd name="T14" fmla="*/ 27 w 47"/>
                  <a:gd name="T15" fmla="*/ 90 h 94"/>
                  <a:gd name="T16" fmla="*/ 47 w 47"/>
                  <a:gd name="T17" fmla="*/ 94 h 94"/>
                  <a:gd name="T18" fmla="*/ 47 w 47"/>
                  <a:gd name="T19" fmla="*/ 0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4"/>
                  <a:gd name="T32" fmla="*/ 47 w 47"/>
                  <a:gd name="T33" fmla="*/ 94 h 9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4">
                    <a:moveTo>
                      <a:pt x="47" y="0"/>
                    </a:moveTo>
                    <a:lnTo>
                      <a:pt x="27" y="5"/>
                    </a:lnTo>
                    <a:lnTo>
                      <a:pt x="12" y="15"/>
                    </a:lnTo>
                    <a:lnTo>
                      <a:pt x="3" y="30"/>
                    </a:lnTo>
                    <a:lnTo>
                      <a:pt x="0" y="47"/>
                    </a:lnTo>
                    <a:lnTo>
                      <a:pt x="3" y="64"/>
                    </a:lnTo>
                    <a:lnTo>
                      <a:pt x="12" y="79"/>
                    </a:lnTo>
                    <a:lnTo>
                      <a:pt x="27" y="90"/>
                    </a:lnTo>
                    <a:lnTo>
                      <a:pt x="47" y="94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56" name="Freeform 1153"/>
              <p:cNvSpPr>
                <a:spLocks/>
              </p:cNvSpPr>
              <p:nvPr/>
            </p:nvSpPr>
            <p:spPr bwMode="auto">
              <a:xfrm>
                <a:off x="8891" y="9630"/>
                <a:ext cx="134" cy="47"/>
              </a:xfrm>
              <a:custGeom>
                <a:avLst/>
                <a:gdLst>
                  <a:gd name="T0" fmla="*/ 267 w 267"/>
                  <a:gd name="T1" fmla="*/ 47 h 94"/>
                  <a:gd name="T2" fmla="*/ 267 w 267"/>
                  <a:gd name="T3" fmla="*/ 0 h 94"/>
                  <a:gd name="T4" fmla="*/ 0 w 267"/>
                  <a:gd name="T5" fmla="*/ 0 h 94"/>
                  <a:gd name="T6" fmla="*/ 0 w 267"/>
                  <a:gd name="T7" fmla="*/ 94 h 94"/>
                  <a:gd name="T8" fmla="*/ 267 w 267"/>
                  <a:gd name="T9" fmla="*/ 94 h 94"/>
                  <a:gd name="T10" fmla="*/ 267 w 267"/>
                  <a:gd name="T11" fmla="*/ 47 h 9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94"/>
                  <a:gd name="T20" fmla="*/ 267 w 267"/>
                  <a:gd name="T21" fmla="*/ 94 h 9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94">
                    <a:moveTo>
                      <a:pt x="267" y="47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94"/>
                    </a:lnTo>
                    <a:lnTo>
                      <a:pt x="267" y="94"/>
                    </a:lnTo>
                    <a:lnTo>
                      <a:pt x="267" y="4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57" name="Freeform 1154"/>
              <p:cNvSpPr>
                <a:spLocks/>
              </p:cNvSpPr>
              <p:nvPr/>
            </p:nvSpPr>
            <p:spPr bwMode="auto">
              <a:xfrm>
                <a:off x="9025" y="9630"/>
                <a:ext cx="23" cy="47"/>
              </a:xfrm>
              <a:custGeom>
                <a:avLst/>
                <a:gdLst>
                  <a:gd name="T0" fmla="*/ 0 w 47"/>
                  <a:gd name="T1" fmla="*/ 94 h 94"/>
                  <a:gd name="T2" fmla="*/ 20 w 47"/>
                  <a:gd name="T3" fmla="*/ 90 h 94"/>
                  <a:gd name="T4" fmla="*/ 35 w 47"/>
                  <a:gd name="T5" fmla="*/ 79 h 94"/>
                  <a:gd name="T6" fmla="*/ 44 w 47"/>
                  <a:gd name="T7" fmla="*/ 64 h 94"/>
                  <a:gd name="T8" fmla="*/ 47 w 47"/>
                  <a:gd name="T9" fmla="*/ 47 h 94"/>
                  <a:gd name="T10" fmla="*/ 44 w 47"/>
                  <a:gd name="T11" fmla="*/ 30 h 94"/>
                  <a:gd name="T12" fmla="*/ 35 w 47"/>
                  <a:gd name="T13" fmla="*/ 15 h 94"/>
                  <a:gd name="T14" fmla="*/ 20 w 47"/>
                  <a:gd name="T15" fmla="*/ 5 h 94"/>
                  <a:gd name="T16" fmla="*/ 0 w 47"/>
                  <a:gd name="T17" fmla="*/ 0 h 94"/>
                  <a:gd name="T18" fmla="*/ 0 w 47"/>
                  <a:gd name="T19" fmla="*/ 94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4"/>
                  <a:gd name="T32" fmla="*/ 47 w 47"/>
                  <a:gd name="T33" fmla="*/ 94 h 9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4">
                    <a:moveTo>
                      <a:pt x="0" y="94"/>
                    </a:moveTo>
                    <a:lnTo>
                      <a:pt x="20" y="90"/>
                    </a:lnTo>
                    <a:lnTo>
                      <a:pt x="35" y="79"/>
                    </a:lnTo>
                    <a:lnTo>
                      <a:pt x="44" y="64"/>
                    </a:lnTo>
                    <a:lnTo>
                      <a:pt x="47" y="47"/>
                    </a:lnTo>
                    <a:lnTo>
                      <a:pt x="44" y="30"/>
                    </a:lnTo>
                    <a:lnTo>
                      <a:pt x="35" y="15"/>
                    </a:lnTo>
                    <a:lnTo>
                      <a:pt x="20" y="5"/>
                    </a:lnTo>
                    <a:lnTo>
                      <a:pt x="0" y="0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58" name="Freeform 1155"/>
              <p:cNvSpPr>
                <a:spLocks/>
              </p:cNvSpPr>
              <p:nvPr/>
            </p:nvSpPr>
            <p:spPr bwMode="auto">
              <a:xfrm>
                <a:off x="8884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59" name="Freeform 1156"/>
              <p:cNvSpPr>
                <a:spLocks/>
              </p:cNvSpPr>
              <p:nvPr/>
            </p:nvSpPr>
            <p:spPr bwMode="auto">
              <a:xfrm>
                <a:off x="8891" y="9562"/>
                <a:ext cx="134" cy="14"/>
              </a:xfrm>
              <a:custGeom>
                <a:avLst/>
                <a:gdLst>
                  <a:gd name="T0" fmla="*/ 267 w 267"/>
                  <a:gd name="T1" fmla="*/ 13 h 27"/>
                  <a:gd name="T2" fmla="*/ 267 w 267"/>
                  <a:gd name="T3" fmla="*/ 0 h 27"/>
                  <a:gd name="T4" fmla="*/ 0 w 267"/>
                  <a:gd name="T5" fmla="*/ 0 h 27"/>
                  <a:gd name="T6" fmla="*/ 0 w 267"/>
                  <a:gd name="T7" fmla="*/ 27 h 27"/>
                  <a:gd name="T8" fmla="*/ 267 w 267"/>
                  <a:gd name="T9" fmla="*/ 27 h 27"/>
                  <a:gd name="T10" fmla="*/ 267 w 267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27"/>
                  <a:gd name="T20" fmla="*/ 267 w 267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27">
                    <a:moveTo>
                      <a:pt x="267" y="13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67" y="27"/>
                    </a:lnTo>
                    <a:lnTo>
                      <a:pt x="267" y="13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60" name="Freeform 1157"/>
              <p:cNvSpPr>
                <a:spLocks/>
              </p:cNvSpPr>
              <p:nvPr/>
            </p:nvSpPr>
            <p:spPr bwMode="auto">
              <a:xfrm>
                <a:off x="9025" y="9562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61" name="Freeform 1158"/>
              <p:cNvSpPr>
                <a:spLocks/>
              </p:cNvSpPr>
              <p:nvPr/>
            </p:nvSpPr>
            <p:spPr bwMode="auto">
              <a:xfrm>
                <a:off x="8884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62" name="Freeform 1159"/>
              <p:cNvSpPr>
                <a:spLocks/>
              </p:cNvSpPr>
              <p:nvPr/>
            </p:nvSpPr>
            <p:spPr bwMode="auto">
              <a:xfrm>
                <a:off x="8891" y="9590"/>
                <a:ext cx="134" cy="14"/>
              </a:xfrm>
              <a:custGeom>
                <a:avLst/>
                <a:gdLst>
                  <a:gd name="T0" fmla="*/ 267 w 267"/>
                  <a:gd name="T1" fmla="*/ 14 h 27"/>
                  <a:gd name="T2" fmla="*/ 267 w 267"/>
                  <a:gd name="T3" fmla="*/ 0 h 27"/>
                  <a:gd name="T4" fmla="*/ 0 w 267"/>
                  <a:gd name="T5" fmla="*/ 0 h 27"/>
                  <a:gd name="T6" fmla="*/ 0 w 267"/>
                  <a:gd name="T7" fmla="*/ 27 h 27"/>
                  <a:gd name="T8" fmla="*/ 267 w 267"/>
                  <a:gd name="T9" fmla="*/ 27 h 27"/>
                  <a:gd name="T10" fmla="*/ 267 w 267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27"/>
                  <a:gd name="T20" fmla="*/ 267 w 267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27">
                    <a:moveTo>
                      <a:pt x="267" y="14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67" y="27"/>
                    </a:lnTo>
                    <a:lnTo>
                      <a:pt x="267" y="14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63" name="Freeform 1160"/>
              <p:cNvSpPr>
                <a:spLocks/>
              </p:cNvSpPr>
              <p:nvPr/>
            </p:nvSpPr>
            <p:spPr bwMode="auto">
              <a:xfrm>
                <a:off x="9025" y="9590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64" name="Freeform 1161"/>
              <p:cNvSpPr>
                <a:spLocks/>
              </p:cNvSpPr>
              <p:nvPr/>
            </p:nvSpPr>
            <p:spPr bwMode="auto">
              <a:xfrm>
                <a:off x="8884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65" name="Freeform 1162"/>
              <p:cNvSpPr>
                <a:spLocks/>
              </p:cNvSpPr>
              <p:nvPr/>
            </p:nvSpPr>
            <p:spPr bwMode="auto">
              <a:xfrm>
                <a:off x="8891" y="9619"/>
                <a:ext cx="134" cy="13"/>
              </a:xfrm>
              <a:custGeom>
                <a:avLst/>
                <a:gdLst>
                  <a:gd name="T0" fmla="*/ 267 w 267"/>
                  <a:gd name="T1" fmla="*/ 14 h 28"/>
                  <a:gd name="T2" fmla="*/ 267 w 267"/>
                  <a:gd name="T3" fmla="*/ 0 h 28"/>
                  <a:gd name="T4" fmla="*/ 0 w 267"/>
                  <a:gd name="T5" fmla="*/ 0 h 28"/>
                  <a:gd name="T6" fmla="*/ 0 w 267"/>
                  <a:gd name="T7" fmla="*/ 28 h 28"/>
                  <a:gd name="T8" fmla="*/ 267 w 267"/>
                  <a:gd name="T9" fmla="*/ 28 h 28"/>
                  <a:gd name="T10" fmla="*/ 267 w 267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28"/>
                  <a:gd name="T20" fmla="*/ 267 w 267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28">
                    <a:moveTo>
                      <a:pt x="267" y="14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67" y="28"/>
                    </a:lnTo>
                    <a:lnTo>
                      <a:pt x="267" y="14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66" name="Freeform 1163"/>
              <p:cNvSpPr>
                <a:spLocks/>
              </p:cNvSpPr>
              <p:nvPr/>
            </p:nvSpPr>
            <p:spPr bwMode="auto">
              <a:xfrm>
                <a:off x="9025" y="9619"/>
                <a:ext cx="6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67" name="Freeform 1164"/>
              <p:cNvSpPr>
                <a:spLocks/>
              </p:cNvSpPr>
              <p:nvPr/>
            </p:nvSpPr>
            <p:spPr bwMode="auto">
              <a:xfrm>
                <a:off x="8884" y="9647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68" name="Freeform 1165"/>
              <p:cNvSpPr>
                <a:spLocks/>
              </p:cNvSpPr>
              <p:nvPr/>
            </p:nvSpPr>
            <p:spPr bwMode="auto">
              <a:xfrm>
                <a:off x="8891" y="9647"/>
                <a:ext cx="134" cy="13"/>
              </a:xfrm>
              <a:custGeom>
                <a:avLst/>
                <a:gdLst>
                  <a:gd name="T0" fmla="*/ 267 w 267"/>
                  <a:gd name="T1" fmla="*/ 14 h 28"/>
                  <a:gd name="T2" fmla="*/ 267 w 267"/>
                  <a:gd name="T3" fmla="*/ 0 h 28"/>
                  <a:gd name="T4" fmla="*/ 0 w 267"/>
                  <a:gd name="T5" fmla="*/ 0 h 28"/>
                  <a:gd name="T6" fmla="*/ 0 w 267"/>
                  <a:gd name="T7" fmla="*/ 28 h 28"/>
                  <a:gd name="T8" fmla="*/ 267 w 267"/>
                  <a:gd name="T9" fmla="*/ 28 h 28"/>
                  <a:gd name="T10" fmla="*/ 267 w 267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28"/>
                  <a:gd name="T20" fmla="*/ 267 w 267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28">
                    <a:moveTo>
                      <a:pt x="267" y="14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67" y="28"/>
                    </a:lnTo>
                    <a:lnTo>
                      <a:pt x="267" y="14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69" name="Freeform 1166"/>
              <p:cNvSpPr>
                <a:spLocks/>
              </p:cNvSpPr>
              <p:nvPr/>
            </p:nvSpPr>
            <p:spPr bwMode="auto">
              <a:xfrm>
                <a:off x="9025" y="9647"/>
                <a:ext cx="6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70" name="Freeform 1167"/>
              <p:cNvSpPr>
                <a:spLocks/>
              </p:cNvSpPr>
              <p:nvPr/>
            </p:nvSpPr>
            <p:spPr bwMode="auto">
              <a:xfrm>
                <a:off x="8887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65656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71" name="Freeform 1168"/>
              <p:cNvSpPr>
                <a:spLocks/>
              </p:cNvSpPr>
              <p:nvPr/>
            </p:nvSpPr>
            <p:spPr bwMode="auto">
              <a:xfrm>
                <a:off x="8894" y="9562"/>
                <a:ext cx="127" cy="14"/>
              </a:xfrm>
              <a:custGeom>
                <a:avLst/>
                <a:gdLst>
                  <a:gd name="T0" fmla="*/ 255 w 255"/>
                  <a:gd name="T1" fmla="*/ 13 h 27"/>
                  <a:gd name="T2" fmla="*/ 255 w 255"/>
                  <a:gd name="T3" fmla="*/ 0 h 27"/>
                  <a:gd name="T4" fmla="*/ 0 w 255"/>
                  <a:gd name="T5" fmla="*/ 0 h 27"/>
                  <a:gd name="T6" fmla="*/ 0 w 255"/>
                  <a:gd name="T7" fmla="*/ 27 h 27"/>
                  <a:gd name="T8" fmla="*/ 255 w 255"/>
                  <a:gd name="T9" fmla="*/ 27 h 27"/>
                  <a:gd name="T10" fmla="*/ 255 w 255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5"/>
                  <a:gd name="T19" fmla="*/ 0 h 27"/>
                  <a:gd name="T20" fmla="*/ 255 w 255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5" h="27">
                    <a:moveTo>
                      <a:pt x="255" y="13"/>
                    </a:moveTo>
                    <a:lnTo>
                      <a:pt x="255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55" y="27"/>
                    </a:lnTo>
                    <a:lnTo>
                      <a:pt x="255" y="13"/>
                    </a:lnTo>
                    <a:close/>
                  </a:path>
                </a:pathLst>
              </a:custGeom>
              <a:solidFill>
                <a:srgbClr val="565656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72" name="Freeform 1169"/>
              <p:cNvSpPr>
                <a:spLocks/>
              </p:cNvSpPr>
              <p:nvPr/>
            </p:nvSpPr>
            <p:spPr bwMode="auto">
              <a:xfrm>
                <a:off x="9021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565656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73" name="Freeform 1170"/>
              <p:cNvSpPr>
                <a:spLocks/>
              </p:cNvSpPr>
              <p:nvPr/>
            </p:nvSpPr>
            <p:spPr bwMode="auto">
              <a:xfrm>
                <a:off x="8891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E5E5E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74" name="Freeform 1171"/>
              <p:cNvSpPr>
                <a:spLocks/>
              </p:cNvSpPr>
              <p:nvPr/>
            </p:nvSpPr>
            <p:spPr bwMode="auto">
              <a:xfrm>
                <a:off x="8898" y="9562"/>
                <a:ext cx="120" cy="14"/>
              </a:xfrm>
              <a:custGeom>
                <a:avLst/>
                <a:gdLst>
                  <a:gd name="T0" fmla="*/ 241 w 241"/>
                  <a:gd name="T1" fmla="*/ 13 h 27"/>
                  <a:gd name="T2" fmla="*/ 241 w 241"/>
                  <a:gd name="T3" fmla="*/ 0 h 27"/>
                  <a:gd name="T4" fmla="*/ 0 w 241"/>
                  <a:gd name="T5" fmla="*/ 0 h 27"/>
                  <a:gd name="T6" fmla="*/ 0 w 241"/>
                  <a:gd name="T7" fmla="*/ 27 h 27"/>
                  <a:gd name="T8" fmla="*/ 241 w 241"/>
                  <a:gd name="T9" fmla="*/ 27 h 27"/>
                  <a:gd name="T10" fmla="*/ 241 w 241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1"/>
                  <a:gd name="T19" fmla="*/ 0 h 27"/>
                  <a:gd name="T20" fmla="*/ 241 w 241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1" h="27">
                    <a:moveTo>
                      <a:pt x="241" y="13"/>
                    </a:moveTo>
                    <a:lnTo>
                      <a:pt x="241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41" y="27"/>
                    </a:lnTo>
                    <a:lnTo>
                      <a:pt x="241" y="13"/>
                    </a:lnTo>
                    <a:close/>
                  </a:path>
                </a:pathLst>
              </a:custGeom>
              <a:solidFill>
                <a:srgbClr val="5E5E5E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75" name="Freeform 1172"/>
              <p:cNvSpPr>
                <a:spLocks/>
              </p:cNvSpPr>
              <p:nvPr/>
            </p:nvSpPr>
            <p:spPr bwMode="auto">
              <a:xfrm>
                <a:off x="9018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0 w 14"/>
                  <a:gd name="T3" fmla="*/ 22 h 27"/>
                  <a:gd name="T4" fmla="*/ 14 w 14"/>
                  <a:gd name="T5" fmla="*/ 13 h 27"/>
                  <a:gd name="T6" fmla="*/ 10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0" y="22"/>
                    </a:lnTo>
                    <a:lnTo>
                      <a:pt x="14" y="13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5E5E5E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76" name="Freeform 1173"/>
              <p:cNvSpPr>
                <a:spLocks/>
              </p:cNvSpPr>
              <p:nvPr/>
            </p:nvSpPr>
            <p:spPr bwMode="auto">
              <a:xfrm>
                <a:off x="8894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686868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77" name="Freeform 1174"/>
              <p:cNvSpPr>
                <a:spLocks/>
              </p:cNvSpPr>
              <p:nvPr/>
            </p:nvSpPr>
            <p:spPr bwMode="auto">
              <a:xfrm>
                <a:off x="8901" y="9562"/>
                <a:ext cx="114" cy="14"/>
              </a:xfrm>
              <a:custGeom>
                <a:avLst/>
                <a:gdLst>
                  <a:gd name="T0" fmla="*/ 227 w 227"/>
                  <a:gd name="T1" fmla="*/ 13 h 27"/>
                  <a:gd name="T2" fmla="*/ 227 w 227"/>
                  <a:gd name="T3" fmla="*/ 0 h 27"/>
                  <a:gd name="T4" fmla="*/ 0 w 227"/>
                  <a:gd name="T5" fmla="*/ 0 h 27"/>
                  <a:gd name="T6" fmla="*/ 0 w 227"/>
                  <a:gd name="T7" fmla="*/ 27 h 27"/>
                  <a:gd name="T8" fmla="*/ 227 w 227"/>
                  <a:gd name="T9" fmla="*/ 27 h 27"/>
                  <a:gd name="T10" fmla="*/ 227 w 227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7"/>
                  <a:gd name="T19" fmla="*/ 0 h 27"/>
                  <a:gd name="T20" fmla="*/ 227 w 227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7" h="27">
                    <a:moveTo>
                      <a:pt x="227" y="13"/>
                    </a:moveTo>
                    <a:lnTo>
                      <a:pt x="227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27" y="27"/>
                    </a:lnTo>
                    <a:lnTo>
                      <a:pt x="227" y="13"/>
                    </a:lnTo>
                    <a:close/>
                  </a:path>
                </a:pathLst>
              </a:custGeom>
              <a:solidFill>
                <a:srgbClr val="686868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78" name="Freeform 1175"/>
              <p:cNvSpPr>
                <a:spLocks/>
              </p:cNvSpPr>
              <p:nvPr/>
            </p:nvSpPr>
            <p:spPr bwMode="auto">
              <a:xfrm>
                <a:off x="9015" y="9562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686868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79" name="Freeform 1176"/>
              <p:cNvSpPr>
                <a:spLocks/>
              </p:cNvSpPr>
              <p:nvPr/>
            </p:nvSpPr>
            <p:spPr bwMode="auto">
              <a:xfrm>
                <a:off x="8898" y="9562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3 h 27"/>
                  <a:gd name="T6" fmla="*/ 3 w 13"/>
                  <a:gd name="T7" fmla="*/ 22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80" name="Freeform 1177"/>
              <p:cNvSpPr>
                <a:spLocks/>
              </p:cNvSpPr>
              <p:nvPr/>
            </p:nvSpPr>
            <p:spPr bwMode="auto">
              <a:xfrm>
                <a:off x="8905" y="9562"/>
                <a:ext cx="107" cy="14"/>
              </a:xfrm>
              <a:custGeom>
                <a:avLst/>
                <a:gdLst>
                  <a:gd name="T0" fmla="*/ 214 w 214"/>
                  <a:gd name="T1" fmla="*/ 13 h 27"/>
                  <a:gd name="T2" fmla="*/ 214 w 214"/>
                  <a:gd name="T3" fmla="*/ 0 h 27"/>
                  <a:gd name="T4" fmla="*/ 0 w 214"/>
                  <a:gd name="T5" fmla="*/ 0 h 27"/>
                  <a:gd name="T6" fmla="*/ 0 w 214"/>
                  <a:gd name="T7" fmla="*/ 27 h 27"/>
                  <a:gd name="T8" fmla="*/ 214 w 214"/>
                  <a:gd name="T9" fmla="*/ 27 h 27"/>
                  <a:gd name="T10" fmla="*/ 214 w 214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4"/>
                  <a:gd name="T19" fmla="*/ 0 h 27"/>
                  <a:gd name="T20" fmla="*/ 214 w 2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4" h="27">
                    <a:moveTo>
                      <a:pt x="214" y="13"/>
                    </a:moveTo>
                    <a:lnTo>
                      <a:pt x="214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14" y="27"/>
                    </a:lnTo>
                    <a:lnTo>
                      <a:pt x="214" y="13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81" name="Freeform 1178"/>
              <p:cNvSpPr>
                <a:spLocks/>
              </p:cNvSpPr>
              <p:nvPr/>
            </p:nvSpPr>
            <p:spPr bwMode="auto">
              <a:xfrm>
                <a:off x="9012" y="9562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82" name="Freeform 1179"/>
              <p:cNvSpPr>
                <a:spLocks/>
              </p:cNvSpPr>
              <p:nvPr/>
            </p:nvSpPr>
            <p:spPr bwMode="auto">
              <a:xfrm>
                <a:off x="8901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7A7A7A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83" name="Freeform 1180"/>
              <p:cNvSpPr>
                <a:spLocks/>
              </p:cNvSpPr>
              <p:nvPr/>
            </p:nvSpPr>
            <p:spPr bwMode="auto">
              <a:xfrm>
                <a:off x="8908" y="9562"/>
                <a:ext cx="100" cy="14"/>
              </a:xfrm>
              <a:custGeom>
                <a:avLst/>
                <a:gdLst>
                  <a:gd name="T0" fmla="*/ 201 w 201"/>
                  <a:gd name="T1" fmla="*/ 13 h 27"/>
                  <a:gd name="T2" fmla="*/ 201 w 201"/>
                  <a:gd name="T3" fmla="*/ 0 h 27"/>
                  <a:gd name="T4" fmla="*/ 0 w 201"/>
                  <a:gd name="T5" fmla="*/ 0 h 27"/>
                  <a:gd name="T6" fmla="*/ 0 w 201"/>
                  <a:gd name="T7" fmla="*/ 27 h 27"/>
                  <a:gd name="T8" fmla="*/ 201 w 201"/>
                  <a:gd name="T9" fmla="*/ 27 h 27"/>
                  <a:gd name="T10" fmla="*/ 201 w 201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1"/>
                  <a:gd name="T19" fmla="*/ 0 h 27"/>
                  <a:gd name="T20" fmla="*/ 201 w 201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1" h="27">
                    <a:moveTo>
                      <a:pt x="201" y="13"/>
                    </a:moveTo>
                    <a:lnTo>
                      <a:pt x="201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01" y="27"/>
                    </a:lnTo>
                    <a:lnTo>
                      <a:pt x="201" y="13"/>
                    </a:lnTo>
                    <a:close/>
                  </a:path>
                </a:pathLst>
              </a:custGeom>
              <a:solidFill>
                <a:srgbClr val="7A7A7A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84" name="Freeform 1181"/>
              <p:cNvSpPr>
                <a:spLocks/>
              </p:cNvSpPr>
              <p:nvPr/>
            </p:nvSpPr>
            <p:spPr bwMode="auto">
              <a:xfrm>
                <a:off x="9008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7A7A7A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85" name="Freeform 1182"/>
              <p:cNvSpPr>
                <a:spLocks/>
              </p:cNvSpPr>
              <p:nvPr/>
            </p:nvSpPr>
            <p:spPr bwMode="auto">
              <a:xfrm>
                <a:off x="8905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4 w 14"/>
                  <a:gd name="T3" fmla="*/ 4 h 27"/>
                  <a:gd name="T4" fmla="*/ 0 w 14"/>
                  <a:gd name="T5" fmla="*/ 13 h 27"/>
                  <a:gd name="T6" fmla="*/ 4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4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848484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86" name="Freeform 1183"/>
              <p:cNvSpPr>
                <a:spLocks/>
              </p:cNvSpPr>
              <p:nvPr/>
            </p:nvSpPr>
            <p:spPr bwMode="auto">
              <a:xfrm>
                <a:off x="8912" y="9562"/>
                <a:ext cx="93" cy="14"/>
              </a:xfrm>
              <a:custGeom>
                <a:avLst/>
                <a:gdLst>
                  <a:gd name="T0" fmla="*/ 188 w 188"/>
                  <a:gd name="T1" fmla="*/ 13 h 27"/>
                  <a:gd name="T2" fmla="*/ 188 w 188"/>
                  <a:gd name="T3" fmla="*/ 0 h 27"/>
                  <a:gd name="T4" fmla="*/ 0 w 188"/>
                  <a:gd name="T5" fmla="*/ 0 h 27"/>
                  <a:gd name="T6" fmla="*/ 0 w 188"/>
                  <a:gd name="T7" fmla="*/ 27 h 27"/>
                  <a:gd name="T8" fmla="*/ 188 w 188"/>
                  <a:gd name="T9" fmla="*/ 27 h 27"/>
                  <a:gd name="T10" fmla="*/ 188 w 188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8"/>
                  <a:gd name="T19" fmla="*/ 0 h 27"/>
                  <a:gd name="T20" fmla="*/ 188 w 188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8" h="27">
                    <a:moveTo>
                      <a:pt x="188" y="13"/>
                    </a:moveTo>
                    <a:lnTo>
                      <a:pt x="188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88" y="27"/>
                    </a:lnTo>
                    <a:lnTo>
                      <a:pt x="188" y="13"/>
                    </a:lnTo>
                    <a:close/>
                  </a:path>
                </a:pathLst>
              </a:custGeom>
              <a:solidFill>
                <a:srgbClr val="848484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87" name="Freeform 1184"/>
              <p:cNvSpPr>
                <a:spLocks/>
              </p:cNvSpPr>
              <p:nvPr/>
            </p:nvSpPr>
            <p:spPr bwMode="auto">
              <a:xfrm>
                <a:off x="9005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848484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88" name="Freeform 1185"/>
              <p:cNvSpPr>
                <a:spLocks/>
              </p:cNvSpPr>
              <p:nvPr/>
            </p:nvSpPr>
            <p:spPr bwMode="auto">
              <a:xfrm>
                <a:off x="8908" y="9562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3 h 27"/>
                  <a:gd name="T6" fmla="*/ 3 w 13"/>
                  <a:gd name="T7" fmla="*/ 22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8E8E8E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89" name="Freeform 1186"/>
              <p:cNvSpPr>
                <a:spLocks/>
              </p:cNvSpPr>
              <p:nvPr/>
            </p:nvSpPr>
            <p:spPr bwMode="auto">
              <a:xfrm>
                <a:off x="8915" y="9562"/>
                <a:ext cx="87" cy="14"/>
              </a:xfrm>
              <a:custGeom>
                <a:avLst/>
                <a:gdLst>
                  <a:gd name="T0" fmla="*/ 174 w 174"/>
                  <a:gd name="T1" fmla="*/ 13 h 27"/>
                  <a:gd name="T2" fmla="*/ 174 w 174"/>
                  <a:gd name="T3" fmla="*/ 0 h 27"/>
                  <a:gd name="T4" fmla="*/ 0 w 174"/>
                  <a:gd name="T5" fmla="*/ 0 h 27"/>
                  <a:gd name="T6" fmla="*/ 0 w 174"/>
                  <a:gd name="T7" fmla="*/ 27 h 27"/>
                  <a:gd name="T8" fmla="*/ 174 w 174"/>
                  <a:gd name="T9" fmla="*/ 27 h 27"/>
                  <a:gd name="T10" fmla="*/ 174 w 174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4"/>
                  <a:gd name="T19" fmla="*/ 0 h 27"/>
                  <a:gd name="T20" fmla="*/ 174 w 17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4" h="27">
                    <a:moveTo>
                      <a:pt x="174" y="13"/>
                    </a:moveTo>
                    <a:lnTo>
                      <a:pt x="174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74" y="27"/>
                    </a:lnTo>
                    <a:lnTo>
                      <a:pt x="174" y="13"/>
                    </a:lnTo>
                    <a:close/>
                  </a:path>
                </a:pathLst>
              </a:custGeom>
              <a:solidFill>
                <a:srgbClr val="8E8E8E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90" name="Freeform 1187"/>
              <p:cNvSpPr>
                <a:spLocks/>
              </p:cNvSpPr>
              <p:nvPr/>
            </p:nvSpPr>
            <p:spPr bwMode="auto">
              <a:xfrm>
                <a:off x="9002" y="9562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8E8E8E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91" name="Freeform 1188"/>
              <p:cNvSpPr>
                <a:spLocks/>
              </p:cNvSpPr>
              <p:nvPr/>
            </p:nvSpPr>
            <p:spPr bwMode="auto">
              <a:xfrm>
                <a:off x="8912" y="9562"/>
                <a:ext cx="6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92" name="Freeform 1189"/>
              <p:cNvSpPr>
                <a:spLocks/>
              </p:cNvSpPr>
              <p:nvPr/>
            </p:nvSpPr>
            <p:spPr bwMode="auto">
              <a:xfrm>
                <a:off x="8918" y="9562"/>
                <a:ext cx="81" cy="14"/>
              </a:xfrm>
              <a:custGeom>
                <a:avLst/>
                <a:gdLst>
                  <a:gd name="T0" fmla="*/ 160 w 160"/>
                  <a:gd name="T1" fmla="*/ 13 h 27"/>
                  <a:gd name="T2" fmla="*/ 160 w 160"/>
                  <a:gd name="T3" fmla="*/ 0 h 27"/>
                  <a:gd name="T4" fmla="*/ 0 w 160"/>
                  <a:gd name="T5" fmla="*/ 0 h 27"/>
                  <a:gd name="T6" fmla="*/ 0 w 160"/>
                  <a:gd name="T7" fmla="*/ 27 h 27"/>
                  <a:gd name="T8" fmla="*/ 160 w 160"/>
                  <a:gd name="T9" fmla="*/ 27 h 27"/>
                  <a:gd name="T10" fmla="*/ 160 w 160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0"/>
                  <a:gd name="T19" fmla="*/ 0 h 27"/>
                  <a:gd name="T20" fmla="*/ 160 w 160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0" h="27">
                    <a:moveTo>
                      <a:pt x="160" y="13"/>
                    </a:moveTo>
                    <a:lnTo>
                      <a:pt x="160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60" y="27"/>
                    </a:lnTo>
                    <a:lnTo>
                      <a:pt x="160" y="13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93" name="Freeform 1190"/>
              <p:cNvSpPr>
                <a:spLocks/>
              </p:cNvSpPr>
              <p:nvPr/>
            </p:nvSpPr>
            <p:spPr bwMode="auto">
              <a:xfrm>
                <a:off x="8999" y="9562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94" name="Freeform 1191"/>
              <p:cNvSpPr>
                <a:spLocks/>
              </p:cNvSpPr>
              <p:nvPr/>
            </p:nvSpPr>
            <p:spPr bwMode="auto">
              <a:xfrm>
                <a:off x="8915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A0A0A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95" name="Freeform 1192"/>
              <p:cNvSpPr>
                <a:spLocks/>
              </p:cNvSpPr>
              <p:nvPr/>
            </p:nvSpPr>
            <p:spPr bwMode="auto">
              <a:xfrm>
                <a:off x="8922" y="9562"/>
                <a:ext cx="74" cy="14"/>
              </a:xfrm>
              <a:custGeom>
                <a:avLst/>
                <a:gdLst>
                  <a:gd name="T0" fmla="*/ 150 w 150"/>
                  <a:gd name="T1" fmla="*/ 13 h 27"/>
                  <a:gd name="T2" fmla="*/ 150 w 150"/>
                  <a:gd name="T3" fmla="*/ 0 h 27"/>
                  <a:gd name="T4" fmla="*/ 0 w 150"/>
                  <a:gd name="T5" fmla="*/ 0 h 27"/>
                  <a:gd name="T6" fmla="*/ 0 w 150"/>
                  <a:gd name="T7" fmla="*/ 27 h 27"/>
                  <a:gd name="T8" fmla="*/ 150 w 150"/>
                  <a:gd name="T9" fmla="*/ 27 h 27"/>
                  <a:gd name="T10" fmla="*/ 150 w 150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0"/>
                  <a:gd name="T19" fmla="*/ 0 h 27"/>
                  <a:gd name="T20" fmla="*/ 150 w 150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0" h="27">
                    <a:moveTo>
                      <a:pt x="150" y="13"/>
                    </a:moveTo>
                    <a:lnTo>
                      <a:pt x="150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50" y="27"/>
                    </a:lnTo>
                    <a:lnTo>
                      <a:pt x="150" y="13"/>
                    </a:lnTo>
                    <a:close/>
                  </a:path>
                </a:pathLst>
              </a:custGeom>
              <a:solidFill>
                <a:srgbClr val="A0A0A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96" name="Freeform 1193"/>
              <p:cNvSpPr>
                <a:spLocks/>
              </p:cNvSpPr>
              <p:nvPr/>
            </p:nvSpPr>
            <p:spPr bwMode="auto">
              <a:xfrm>
                <a:off x="8996" y="9562"/>
                <a:ext cx="7" cy="14"/>
              </a:xfrm>
              <a:custGeom>
                <a:avLst/>
                <a:gdLst>
                  <a:gd name="T0" fmla="*/ 0 w 13"/>
                  <a:gd name="T1" fmla="*/ 27 h 27"/>
                  <a:gd name="T2" fmla="*/ 10 w 13"/>
                  <a:gd name="T3" fmla="*/ 22 h 27"/>
                  <a:gd name="T4" fmla="*/ 13 w 13"/>
                  <a:gd name="T5" fmla="*/ 13 h 27"/>
                  <a:gd name="T6" fmla="*/ 10 w 13"/>
                  <a:gd name="T7" fmla="*/ 4 h 27"/>
                  <a:gd name="T8" fmla="*/ 0 w 13"/>
                  <a:gd name="T9" fmla="*/ 0 h 27"/>
                  <a:gd name="T10" fmla="*/ 0 w 13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0" y="27"/>
                    </a:moveTo>
                    <a:lnTo>
                      <a:pt x="10" y="22"/>
                    </a:lnTo>
                    <a:lnTo>
                      <a:pt x="13" y="13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A0A0A0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97" name="Freeform 1194"/>
              <p:cNvSpPr>
                <a:spLocks/>
              </p:cNvSpPr>
              <p:nvPr/>
            </p:nvSpPr>
            <p:spPr bwMode="auto">
              <a:xfrm>
                <a:off x="8918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AAAAAA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98" name="Freeform 1195"/>
              <p:cNvSpPr>
                <a:spLocks/>
              </p:cNvSpPr>
              <p:nvPr/>
            </p:nvSpPr>
            <p:spPr bwMode="auto">
              <a:xfrm>
                <a:off x="8925" y="9562"/>
                <a:ext cx="67" cy="14"/>
              </a:xfrm>
              <a:custGeom>
                <a:avLst/>
                <a:gdLst>
                  <a:gd name="T0" fmla="*/ 134 w 134"/>
                  <a:gd name="T1" fmla="*/ 13 h 27"/>
                  <a:gd name="T2" fmla="*/ 134 w 134"/>
                  <a:gd name="T3" fmla="*/ 0 h 27"/>
                  <a:gd name="T4" fmla="*/ 0 w 134"/>
                  <a:gd name="T5" fmla="*/ 0 h 27"/>
                  <a:gd name="T6" fmla="*/ 0 w 134"/>
                  <a:gd name="T7" fmla="*/ 27 h 27"/>
                  <a:gd name="T8" fmla="*/ 134 w 134"/>
                  <a:gd name="T9" fmla="*/ 27 h 27"/>
                  <a:gd name="T10" fmla="*/ 134 w 134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4"/>
                  <a:gd name="T19" fmla="*/ 0 h 27"/>
                  <a:gd name="T20" fmla="*/ 134 w 13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4" h="27">
                    <a:moveTo>
                      <a:pt x="134" y="13"/>
                    </a:moveTo>
                    <a:lnTo>
                      <a:pt x="134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34" y="27"/>
                    </a:lnTo>
                    <a:lnTo>
                      <a:pt x="134" y="13"/>
                    </a:lnTo>
                    <a:close/>
                  </a:path>
                </a:pathLst>
              </a:custGeom>
              <a:solidFill>
                <a:srgbClr val="AAAAAA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799" name="Freeform 1196"/>
              <p:cNvSpPr>
                <a:spLocks/>
              </p:cNvSpPr>
              <p:nvPr/>
            </p:nvSpPr>
            <p:spPr bwMode="auto">
              <a:xfrm>
                <a:off x="8992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AAAAAA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00" name="Freeform 1197"/>
              <p:cNvSpPr>
                <a:spLocks/>
              </p:cNvSpPr>
              <p:nvPr/>
            </p:nvSpPr>
            <p:spPr bwMode="auto">
              <a:xfrm>
                <a:off x="8922" y="9562"/>
                <a:ext cx="6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B5B5B5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01" name="Freeform 1198"/>
              <p:cNvSpPr>
                <a:spLocks/>
              </p:cNvSpPr>
              <p:nvPr/>
            </p:nvSpPr>
            <p:spPr bwMode="auto">
              <a:xfrm>
                <a:off x="8928" y="9562"/>
                <a:ext cx="61" cy="14"/>
              </a:xfrm>
              <a:custGeom>
                <a:avLst/>
                <a:gdLst>
                  <a:gd name="T0" fmla="*/ 122 w 122"/>
                  <a:gd name="T1" fmla="*/ 13 h 27"/>
                  <a:gd name="T2" fmla="*/ 122 w 122"/>
                  <a:gd name="T3" fmla="*/ 0 h 27"/>
                  <a:gd name="T4" fmla="*/ 0 w 122"/>
                  <a:gd name="T5" fmla="*/ 0 h 27"/>
                  <a:gd name="T6" fmla="*/ 0 w 122"/>
                  <a:gd name="T7" fmla="*/ 27 h 27"/>
                  <a:gd name="T8" fmla="*/ 122 w 122"/>
                  <a:gd name="T9" fmla="*/ 27 h 27"/>
                  <a:gd name="T10" fmla="*/ 122 w 122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2"/>
                  <a:gd name="T19" fmla="*/ 0 h 27"/>
                  <a:gd name="T20" fmla="*/ 122 w 122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2" h="27">
                    <a:moveTo>
                      <a:pt x="122" y="13"/>
                    </a:moveTo>
                    <a:lnTo>
                      <a:pt x="122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22" y="27"/>
                    </a:lnTo>
                    <a:lnTo>
                      <a:pt x="122" y="13"/>
                    </a:lnTo>
                    <a:close/>
                  </a:path>
                </a:pathLst>
              </a:custGeom>
              <a:solidFill>
                <a:srgbClr val="B5B5B5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02" name="Freeform 1199"/>
              <p:cNvSpPr>
                <a:spLocks/>
              </p:cNvSpPr>
              <p:nvPr/>
            </p:nvSpPr>
            <p:spPr bwMode="auto">
              <a:xfrm>
                <a:off x="8989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B5B5B5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03" name="Freeform 1200"/>
              <p:cNvSpPr>
                <a:spLocks/>
              </p:cNvSpPr>
              <p:nvPr/>
            </p:nvSpPr>
            <p:spPr bwMode="auto">
              <a:xfrm>
                <a:off x="8925" y="9562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3 h 27"/>
                  <a:gd name="T6" fmla="*/ 3 w 13"/>
                  <a:gd name="T7" fmla="*/ 22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BCBCB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04" name="Freeform 1201"/>
              <p:cNvSpPr>
                <a:spLocks/>
              </p:cNvSpPr>
              <p:nvPr/>
            </p:nvSpPr>
            <p:spPr bwMode="auto">
              <a:xfrm>
                <a:off x="8932" y="9562"/>
                <a:ext cx="54" cy="14"/>
              </a:xfrm>
              <a:custGeom>
                <a:avLst/>
                <a:gdLst>
                  <a:gd name="T0" fmla="*/ 109 w 109"/>
                  <a:gd name="T1" fmla="*/ 13 h 27"/>
                  <a:gd name="T2" fmla="*/ 109 w 109"/>
                  <a:gd name="T3" fmla="*/ 0 h 27"/>
                  <a:gd name="T4" fmla="*/ 0 w 109"/>
                  <a:gd name="T5" fmla="*/ 0 h 27"/>
                  <a:gd name="T6" fmla="*/ 0 w 109"/>
                  <a:gd name="T7" fmla="*/ 27 h 27"/>
                  <a:gd name="T8" fmla="*/ 109 w 109"/>
                  <a:gd name="T9" fmla="*/ 27 h 27"/>
                  <a:gd name="T10" fmla="*/ 109 w 109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9"/>
                  <a:gd name="T19" fmla="*/ 0 h 27"/>
                  <a:gd name="T20" fmla="*/ 109 w 109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9" h="27">
                    <a:moveTo>
                      <a:pt x="109" y="13"/>
                    </a:moveTo>
                    <a:lnTo>
                      <a:pt x="109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09" y="27"/>
                    </a:lnTo>
                    <a:lnTo>
                      <a:pt x="109" y="13"/>
                    </a:lnTo>
                    <a:close/>
                  </a:path>
                </a:pathLst>
              </a:custGeom>
              <a:solidFill>
                <a:srgbClr val="BCBCB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05" name="Freeform 1202"/>
              <p:cNvSpPr>
                <a:spLocks/>
              </p:cNvSpPr>
              <p:nvPr/>
            </p:nvSpPr>
            <p:spPr bwMode="auto">
              <a:xfrm>
                <a:off x="8986" y="9562"/>
                <a:ext cx="7" cy="14"/>
              </a:xfrm>
              <a:custGeom>
                <a:avLst/>
                <a:gdLst>
                  <a:gd name="T0" fmla="*/ 0 w 13"/>
                  <a:gd name="T1" fmla="*/ 27 h 27"/>
                  <a:gd name="T2" fmla="*/ 10 w 13"/>
                  <a:gd name="T3" fmla="*/ 22 h 27"/>
                  <a:gd name="T4" fmla="*/ 13 w 13"/>
                  <a:gd name="T5" fmla="*/ 13 h 27"/>
                  <a:gd name="T6" fmla="*/ 10 w 13"/>
                  <a:gd name="T7" fmla="*/ 4 h 27"/>
                  <a:gd name="T8" fmla="*/ 0 w 13"/>
                  <a:gd name="T9" fmla="*/ 0 h 27"/>
                  <a:gd name="T10" fmla="*/ 0 w 13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0" y="27"/>
                    </a:moveTo>
                    <a:lnTo>
                      <a:pt x="10" y="22"/>
                    </a:lnTo>
                    <a:lnTo>
                      <a:pt x="13" y="13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BCBCB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06" name="Freeform 1203"/>
              <p:cNvSpPr>
                <a:spLocks/>
              </p:cNvSpPr>
              <p:nvPr/>
            </p:nvSpPr>
            <p:spPr bwMode="auto">
              <a:xfrm>
                <a:off x="8928" y="9562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3 h 27"/>
                  <a:gd name="T6" fmla="*/ 3 w 13"/>
                  <a:gd name="T7" fmla="*/ 22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07" name="Freeform 1204"/>
              <p:cNvSpPr>
                <a:spLocks/>
              </p:cNvSpPr>
              <p:nvPr/>
            </p:nvSpPr>
            <p:spPr bwMode="auto">
              <a:xfrm>
                <a:off x="8935" y="9562"/>
                <a:ext cx="48" cy="14"/>
              </a:xfrm>
              <a:custGeom>
                <a:avLst/>
                <a:gdLst>
                  <a:gd name="T0" fmla="*/ 97 w 97"/>
                  <a:gd name="T1" fmla="*/ 13 h 27"/>
                  <a:gd name="T2" fmla="*/ 97 w 97"/>
                  <a:gd name="T3" fmla="*/ 0 h 27"/>
                  <a:gd name="T4" fmla="*/ 0 w 97"/>
                  <a:gd name="T5" fmla="*/ 0 h 27"/>
                  <a:gd name="T6" fmla="*/ 0 w 97"/>
                  <a:gd name="T7" fmla="*/ 27 h 27"/>
                  <a:gd name="T8" fmla="*/ 97 w 97"/>
                  <a:gd name="T9" fmla="*/ 27 h 27"/>
                  <a:gd name="T10" fmla="*/ 97 w 97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7"/>
                  <a:gd name="T19" fmla="*/ 0 h 27"/>
                  <a:gd name="T20" fmla="*/ 97 w 97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7" h="27">
                    <a:moveTo>
                      <a:pt x="97" y="13"/>
                    </a:moveTo>
                    <a:lnTo>
                      <a:pt x="97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97" y="27"/>
                    </a:lnTo>
                    <a:lnTo>
                      <a:pt x="97" y="13"/>
                    </a:lnTo>
                    <a:close/>
                  </a:path>
                </a:pathLst>
              </a:cu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08" name="Freeform 1205"/>
              <p:cNvSpPr>
                <a:spLocks/>
              </p:cNvSpPr>
              <p:nvPr/>
            </p:nvSpPr>
            <p:spPr bwMode="auto">
              <a:xfrm>
                <a:off x="8983" y="9562"/>
                <a:ext cx="7" cy="14"/>
              </a:xfrm>
              <a:custGeom>
                <a:avLst/>
                <a:gdLst>
                  <a:gd name="T0" fmla="*/ 0 w 13"/>
                  <a:gd name="T1" fmla="*/ 27 h 27"/>
                  <a:gd name="T2" fmla="*/ 10 w 13"/>
                  <a:gd name="T3" fmla="*/ 22 h 27"/>
                  <a:gd name="T4" fmla="*/ 13 w 13"/>
                  <a:gd name="T5" fmla="*/ 13 h 27"/>
                  <a:gd name="T6" fmla="*/ 10 w 13"/>
                  <a:gd name="T7" fmla="*/ 4 h 27"/>
                  <a:gd name="T8" fmla="*/ 0 w 13"/>
                  <a:gd name="T9" fmla="*/ 0 h 27"/>
                  <a:gd name="T10" fmla="*/ 0 w 13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0" y="27"/>
                    </a:moveTo>
                    <a:lnTo>
                      <a:pt x="10" y="22"/>
                    </a:lnTo>
                    <a:lnTo>
                      <a:pt x="13" y="13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09" name="Freeform 1206"/>
              <p:cNvSpPr>
                <a:spLocks/>
              </p:cNvSpPr>
              <p:nvPr/>
            </p:nvSpPr>
            <p:spPr bwMode="auto">
              <a:xfrm>
                <a:off x="8932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D1D1D1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10" name="Freeform 1207"/>
              <p:cNvSpPr>
                <a:spLocks/>
              </p:cNvSpPr>
              <p:nvPr/>
            </p:nvSpPr>
            <p:spPr bwMode="auto">
              <a:xfrm>
                <a:off x="8939" y="9562"/>
                <a:ext cx="40" cy="14"/>
              </a:xfrm>
              <a:custGeom>
                <a:avLst/>
                <a:gdLst>
                  <a:gd name="T0" fmla="*/ 81 w 81"/>
                  <a:gd name="T1" fmla="*/ 13 h 27"/>
                  <a:gd name="T2" fmla="*/ 81 w 81"/>
                  <a:gd name="T3" fmla="*/ 0 h 27"/>
                  <a:gd name="T4" fmla="*/ 0 w 81"/>
                  <a:gd name="T5" fmla="*/ 0 h 27"/>
                  <a:gd name="T6" fmla="*/ 0 w 81"/>
                  <a:gd name="T7" fmla="*/ 27 h 27"/>
                  <a:gd name="T8" fmla="*/ 81 w 81"/>
                  <a:gd name="T9" fmla="*/ 27 h 27"/>
                  <a:gd name="T10" fmla="*/ 81 w 81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1"/>
                  <a:gd name="T19" fmla="*/ 0 h 27"/>
                  <a:gd name="T20" fmla="*/ 81 w 81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1" h="27">
                    <a:moveTo>
                      <a:pt x="81" y="13"/>
                    </a:moveTo>
                    <a:lnTo>
                      <a:pt x="81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81" y="27"/>
                    </a:lnTo>
                    <a:lnTo>
                      <a:pt x="81" y="13"/>
                    </a:lnTo>
                    <a:close/>
                  </a:path>
                </a:pathLst>
              </a:custGeom>
              <a:solidFill>
                <a:srgbClr val="D1D1D1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11" name="Freeform 1208"/>
              <p:cNvSpPr>
                <a:spLocks/>
              </p:cNvSpPr>
              <p:nvPr/>
            </p:nvSpPr>
            <p:spPr bwMode="auto">
              <a:xfrm>
                <a:off x="8979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D1D1D1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12" name="Freeform 1209"/>
              <p:cNvSpPr>
                <a:spLocks/>
              </p:cNvSpPr>
              <p:nvPr/>
            </p:nvSpPr>
            <p:spPr bwMode="auto">
              <a:xfrm>
                <a:off x="8935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4 w 14"/>
                  <a:gd name="T3" fmla="*/ 4 h 27"/>
                  <a:gd name="T4" fmla="*/ 0 w 14"/>
                  <a:gd name="T5" fmla="*/ 13 h 27"/>
                  <a:gd name="T6" fmla="*/ 4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4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13" name="Freeform 1210"/>
              <p:cNvSpPr>
                <a:spLocks/>
              </p:cNvSpPr>
              <p:nvPr/>
            </p:nvSpPr>
            <p:spPr bwMode="auto">
              <a:xfrm>
                <a:off x="8942" y="9562"/>
                <a:ext cx="34" cy="14"/>
              </a:xfrm>
              <a:custGeom>
                <a:avLst/>
                <a:gdLst>
                  <a:gd name="T0" fmla="*/ 69 w 69"/>
                  <a:gd name="T1" fmla="*/ 13 h 27"/>
                  <a:gd name="T2" fmla="*/ 69 w 69"/>
                  <a:gd name="T3" fmla="*/ 0 h 27"/>
                  <a:gd name="T4" fmla="*/ 0 w 69"/>
                  <a:gd name="T5" fmla="*/ 0 h 27"/>
                  <a:gd name="T6" fmla="*/ 0 w 69"/>
                  <a:gd name="T7" fmla="*/ 27 h 27"/>
                  <a:gd name="T8" fmla="*/ 69 w 69"/>
                  <a:gd name="T9" fmla="*/ 27 h 27"/>
                  <a:gd name="T10" fmla="*/ 69 w 69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9"/>
                  <a:gd name="T19" fmla="*/ 0 h 27"/>
                  <a:gd name="T20" fmla="*/ 69 w 69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9" h="27">
                    <a:moveTo>
                      <a:pt x="69" y="13"/>
                    </a:moveTo>
                    <a:lnTo>
                      <a:pt x="69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69" y="27"/>
                    </a:lnTo>
                    <a:lnTo>
                      <a:pt x="69" y="13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14" name="Freeform 1211"/>
              <p:cNvSpPr>
                <a:spLocks/>
              </p:cNvSpPr>
              <p:nvPr/>
            </p:nvSpPr>
            <p:spPr bwMode="auto">
              <a:xfrm>
                <a:off x="8976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15" name="Freeform 1212"/>
              <p:cNvSpPr>
                <a:spLocks/>
              </p:cNvSpPr>
              <p:nvPr/>
            </p:nvSpPr>
            <p:spPr bwMode="auto">
              <a:xfrm>
                <a:off x="8939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E2E2E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16" name="Freeform 1213"/>
              <p:cNvSpPr>
                <a:spLocks/>
              </p:cNvSpPr>
              <p:nvPr/>
            </p:nvSpPr>
            <p:spPr bwMode="auto">
              <a:xfrm>
                <a:off x="8946" y="9562"/>
                <a:ext cx="27" cy="14"/>
              </a:xfrm>
              <a:custGeom>
                <a:avLst/>
                <a:gdLst>
                  <a:gd name="T0" fmla="*/ 55 w 55"/>
                  <a:gd name="T1" fmla="*/ 13 h 27"/>
                  <a:gd name="T2" fmla="*/ 55 w 55"/>
                  <a:gd name="T3" fmla="*/ 0 h 27"/>
                  <a:gd name="T4" fmla="*/ 0 w 55"/>
                  <a:gd name="T5" fmla="*/ 0 h 27"/>
                  <a:gd name="T6" fmla="*/ 0 w 55"/>
                  <a:gd name="T7" fmla="*/ 27 h 27"/>
                  <a:gd name="T8" fmla="*/ 55 w 55"/>
                  <a:gd name="T9" fmla="*/ 27 h 27"/>
                  <a:gd name="T10" fmla="*/ 55 w 55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5"/>
                  <a:gd name="T19" fmla="*/ 0 h 27"/>
                  <a:gd name="T20" fmla="*/ 55 w 55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5" h="27">
                    <a:moveTo>
                      <a:pt x="55" y="13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55" y="27"/>
                    </a:lnTo>
                    <a:lnTo>
                      <a:pt x="55" y="13"/>
                    </a:lnTo>
                    <a:close/>
                  </a:path>
                </a:pathLst>
              </a:custGeom>
              <a:solidFill>
                <a:srgbClr val="E2E2E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17" name="Freeform 1214"/>
              <p:cNvSpPr>
                <a:spLocks/>
              </p:cNvSpPr>
              <p:nvPr/>
            </p:nvSpPr>
            <p:spPr bwMode="auto">
              <a:xfrm>
                <a:off x="8973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0 w 14"/>
                  <a:gd name="T3" fmla="*/ 22 h 27"/>
                  <a:gd name="T4" fmla="*/ 14 w 14"/>
                  <a:gd name="T5" fmla="*/ 13 h 27"/>
                  <a:gd name="T6" fmla="*/ 10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0" y="22"/>
                    </a:lnTo>
                    <a:lnTo>
                      <a:pt x="14" y="13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E2E2E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18" name="Freeform 1215"/>
              <p:cNvSpPr>
                <a:spLocks/>
              </p:cNvSpPr>
              <p:nvPr/>
            </p:nvSpPr>
            <p:spPr bwMode="auto">
              <a:xfrm>
                <a:off x="8942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EDEDED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19" name="Freeform 1216"/>
              <p:cNvSpPr>
                <a:spLocks/>
              </p:cNvSpPr>
              <p:nvPr/>
            </p:nvSpPr>
            <p:spPr bwMode="auto">
              <a:xfrm>
                <a:off x="8949" y="9562"/>
                <a:ext cx="21" cy="14"/>
              </a:xfrm>
              <a:custGeom>
                <a:avLst/>
                <a:gdLst>
                  <a:gd name="T0" fmla="*/ 43 w 43"/>
                  <a:gd name="T1" fmla="*/ 13 h 27"/>
                  <a:gd name="T2" fmla="*/ 43 w 43"/>
                  <a:gd name="T3" fmla="*/ 0 h 27"/>
                  <a:gd name="T4" fmla="*/ 0 w 43"/>
                  <a:gd name="T5" fmla="*/ 0 h 27"/>
                  <a:gd name="T6" fmla="*/ 0 w 43"/>
                  <a:gd name="T7" fmla="*/ 27 h 27"/>
                  <a:gd name="T8" fmla="*/ 43 w 43"/>
                  <a:gd name="T9" fmla="*/ 27 h 27"/>
                  <a:gd name="T10" fmla="*/ 43 w 43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3"/>
                  <a:gd name="T19" fmla="*/ 0 h 27"/>
                  <a:gd name="T20" fmla="*/ 43 w 4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3" h="27">
                    <a:moveTo>
                      <a:pt x="43" y="13"/>
                    </a:moveTo>
                    <a:lnTo>
                      <a:pt x="43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43" y="27"/>
                    </a:lnTo>
                    <a:lnTo>
                      <a:pt x="43" y="13"/>
                    </a:lnTo>
                    <a:close/>
                  </a:path>
                </a:pathLst>
              </a:custGeom>
              <a:solidFill>
                <a:srgbClr val="EDEDED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20" name="Freeform 1217"/>
              <p:cNvSpPr>
                <a:spLocks/>
              </p:cNvSpPr>
              <p:nvPr/>
            </p:nvSpPr>
            <p:spPr bwMode="auto">
              <a:xfrm>
                <a:off x="8970" y="9562"/>
                <a:ext cx="7" cy="14"/>
              </a:xfrm>
              <a:custGeom>
                <a:avLst/>
                <a:gdLst>
                  <a:gd name="T0" fmla="*/ 0 w 13"/>
                  <a:gd name="T1" fmla="*/ 27 h 27"/>
                  <a:gd name="T2" fmla="*/ 10 w 13"/>
                  <a:gd name="T3" fmla="*/ 22 h 27"/>
                  <a:gd name="T4" fmla="*/ 13 w 13"/>
                  <a:gd name="T5" fmla="*/ 13 h 27"/>
                  <a:gd name="T6" fmla="*/ 10 w 13"/>
                  <a:gd name="T7" fmla="*/ 4 h 27"/>
                  <a:gd name="T8" fmla="*/ 0 w 13"/>
                  <a:gd name="T9" fmla="*/ 0 h 27"/>
                  <a:gd name="T10" fmla="*/ 0 w 13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0" y="27"/>
                    </a:moveTo>
                    <a:lnTo>
                      <a:pt x="10" y="22"/>
                    </a:lnTo>
                    <a:lnTo>
                      <a:pt x="13" y="13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EDEDED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21" name="Freeform 1218"/>
              <p:cNvSpPr>
                <a:spLocks/>
              </p:cNvSpPr>
              <p:nvPr/>
            </p:nvSpPr>
            <p:spPr bwMode="auto">
              <a:xfrm>
                <a:off x="8946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4F4F4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22" name="Freeform 1219"/>
              <p:cNvSpPr>
                <a:spLocks/>
              </p:cNvSpPr>
              <p:nvPr/>
            </p:nvSpPr>
            <p:spPr bwMode="auto">
              <a:xfrm>
                <a:off x="8953" y="9562"/>
                <a:ext cx="14" cy="14"/>
              </a:xfrm>
              <a:custGeom>
                <a:avLst/>
                <a:gdLst>
                  <a:gd name="T0" fmla="*/ 27 w 27"/>
                  <a:gd name="T1" fmla="*/ 13 h 27"/>
                  <a:gd name="T2" fmla="*/ 27 w 27"/>
                  <a:gd name="T3" fmla="*/ 0 h 27"/>
                  <a:gd name="T4" fmla="*/ 0 w 27"/>
                  <a:gd name="T5" fmla="*/ 0 h 27"/>
                  <a:gd name="T6" fmla="*/ 0 w 27"/>
                  <a:gd name="T7" fmla="*/ 27 h 27"/>
                  <a:gd name="T8" fmla="*/ 27 w 27"/>
                  <a:gd name="T9" fmla="*/ 27 h 27"/>
                  <a:gd name="T10" fmla="*/ 27 w 27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7"/>
                  <a:gd name="T19" fmla="*/ 0 h 27"/>
                  <a:gd name="T20" fmla="*/ 27 w 27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7" h="27">
                    <a:moveTo>
                      <a:pt x="27" y="13"/>
                    </a:moveTo>
                    <a:lnTo>
                      <a:pt x="27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7" y="27"/>
                    </a:lnTo>
                    <a:lnTo>
                      <a:pt x="27" y="13"/>
                    </a:lnTo>
                    <a:close/>
                  </a:path>
                </a:pathLst>
              </a:custGeom>
              <a:solidFill>
                <a:srgbClr val="F4F4F4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23" name="Freeform 1220"/>
              <p:cNvSpPr>
                <a:spLocks/>
              </p:cNvSpPr>
              <p:nvPr/>
            </p:nvSpPr>
            <p:spPr bwMode="auto">
              <a:xfrm>
                <a:off x="8967" y="9562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F4F4F4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24" name="Freeform 1221"/>
              <p:cNvSpPr>
                <a:spLocks/>
              </p:cNvSpPr>
              <p:nvPr/>
            </p:nvSpPr>
            <p:spPr bwMode="auto">
              <a:xfrm>
                <a:off x="8949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25" name="Freeform 1222"/>
              <p:cNvSpPr>
                <a:spLocks/>
              </p:cNvSpPr>
              <p:nvPr/>
            </p:nvSpPr>
            <p:spPr bwMode="auto">
              <a:xfrm>
                <a:off x="8956" y="9562"/>
                <a:ext cx="7" cy="14"/>
              </a:xfrm>
              <a:custGeom>
                <a:avLst/>
                <a:gdLst>
                  <a:gd name="T0" fmla="*/ 15 w 15"/>
                  <a:gd name="T1" fmla="*/ 13 h 27"/>
                  <a:gd name="T2" fmla="*/ 15 w 15"/>
                  <a:gd name="T3" fmla="*/ 0 h 27"/>
                  <a:gd name="T4" fmla="*/ 0 w 15"/>
                  <a:gd name="T5" fmla="*/ 0 h 27"/>
                  <a:gd name="T6" fmla="*/ 0 w 15"/>
                  <a:gd name="T7" fmla="*/ 27 h 27"/>
                  <a:gd name="T8" fmla="*/ 15 w 15"/>
                  <a:gd name="T9" fmla="*/ 27 h 27"/>
                  <a:gd name="T10" fmla="*/ 15 w 15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7"/>
                  <a:gd name="T20" fmla="*/ 15 w 15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7">
                    <a:moveTo>
                      <a:pt x="15" y="13"/>
                    </a:moveTo>
                    <a:lnTo>
                      <a:pt x="15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5" y="27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26" name="Freeform 1223"/>
              <p:cNvSpPr>
                <a:spLocks/>
              </p:cNvSpPr>
              <p:nvPr/>
            </p:nvSpPr>
            <p:spPr bwMode="auto">
              <a:xfrm>
                <a:off x="8963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27" name="Freeform 1224"/>
              <p:cNvSpPr>
                <a:spLocks/>
              </p:cNvSpPr>
              <p:nvPr/>
            </p:nvSpPr>
            <p:spPr bwMode="auto">
              <a:xfrm>
                <a:off x="8889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28" name="Freeform 1225"/>
              <p:cNvSpPr>
                <a:spLocks/>
              </p:cNvSpPr>
              <p:nvPr/>
            </p:nvSpPr>
            <p:spPr bwMode="auto">
              <a:xfrm>
                <a:off x="8896" y="9590"/>
                <a:ext cx="124" cy="14"/>
              </a:xfrm>
              <a:custGeom>
                <a:avLst/>
                <a:gdLst>
                  <a:gd name="T0" fmla="*/ 249 w 249"/>
                  <a:gd name="T1" fmla="*/ 14 h 27"/>
                  <a:gd name="T2" fmla="*/ 249 w 249"/>
                  <a:gd name="T3" fmla="*/ 0 h 27"/>
                  <a:gd name="T4" fmla="*/ 0 w 249"/>
                  <a:gd name="T5" fmla="*/ 0 h 27"/>
                  <a:gd name="T6" fmla="*/ 0 w 249"/>
                  <a:gd name="T7" fmla="*/ 27 h 27"/>
                  <a:gd name="T8" fmla="*/ 249 w 249"/>
                  <a:gd name="T9" fmla="*/ 27 h 27"/>
                  <a:gd name="T10" fmla="*/ 249 w 249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9"/>
                  <a:gd name="T19" fmla="*/ 0 h 27"/>
                  <a:gd name="T20" fmla="*/ 249 w 249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9" h="27">
                    <a:moveTo>
                      <a:pt x="249" y="14"/>
                    </a:moveTo>
                    <a:lnTo>
                      <a:pt x="249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49" y="27"/>
                    </a:lnTo>
                    <a:lnTo>
                      <a:pt x="249" y="14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29" name="Freeform 1226"/>
              <p:cNvSpPr>
                <a:spLocks/>
              </p:cNvSpPr>
              <p:nvPr/>
            </p:nvSpPr>
            <p:spPr bwMode="auto">
              <a:xfrm>
                <a:off x="9020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30" name="Freeform 1227"/>
              <p:cNvSpPr>
                <a:spLocks/>
              </p:cNvSpPr>
              <p:nvPr/>
            </p:nvSpPr>
            <p:spPr bwMode="auto">
              <a:xfrm>
                <a:off x="8893" y="9590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4 h 27"/>
                  <a:gd name="T6" fmla="*/ 3 w 13"/>
                  <a:gd name="T7" fmla="*/ 23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31" name="Freeform 1228"/>
              <p:cNvSpPr>
                <a:spLocks/>
              </p:cNvSpPr>
              <p:nvPr/>
            </p:nvSpPr>
            <p:spPr bwMode="auto">
              <a:xfrm>
                <a:off x="8900" y="9590"/>
                <a:ext cx="116" cy="14"/>
              </a:xfrm>
              <a:custGeom>
                <a:avLst/>
                <a:gdLst>
                  <a:gd name="T0" fmla="*/ 232 w 232"/>
                  <a:gd name="T1" fmla="*/ 14 h 27"/>
                  <a:gd name="T2" fmla="*/ 232 w 232"/>
                  <a:gd name="T3" fmla="*/ 0 h 27"/>
                  <a:gd name="T4" fmla="*/ 0 w 232"/>
                  <a:gd name="T5" fmla="*/ 0 h 27"/>
                  <a:gd name="T6" fmla="*/ 0 w 232"/>
                  <a:gd name="T7" fmla="*/ 27 h 27"/>
                  <a:gd name="T8" fmla="*/ 232 w 232"/>
                  <a:gd name="T9" fmla="*/ 27 h 27"/>
                  <a:gd name="T10" fmla="*/ 232 w 232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2"/>
                  <a:gd name="T19" fmla="*/ 0 h 27"/>
                  <a:gd name="T20" fmla="*/ 232 w 232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2" h="27">
                    <a:moveTo>
                      <a:pt x="232" y="14"/>
                    </a:moveTo>
                    <a:lnTo>
                      <a:pt x="232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32" y="27"/>
                    </a:lnTo>
                    <a:lnTo>
                      <a:pt x="232" y="14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32" name="Freeform 1229"/>
              <p:cNvSpPr>
                <a:spLocks/>
              </p:cNvSpPr>
              <p:nvPr/>
            </p:nvSpPr>
            <p:spPr bwMode="auto">
              <a:xfrm>
                <a:off x="9016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33" name="Freeform 1230"/>
              <p:cNvSpPr>
                <a:spLocks/>
              </p:cNvSpPr>
              <p:nvPr/>
            </p:nvSpPr>
            <p:spPr bwMode="auto">
              <a:xfrm>
                <a:off x="8898" y="9590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4 h 27"/>
                  <a:gd name="T6" fmla="*/ 3 w 13"/>
                  <a:gd name="T7" fmla="*/ 23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34" name="Freeform 1231"/>
              <p:cNvSpPr>
                <a:spLocks/>
              </p:cNvSpPr>
              <p:nvPr/>
            </p:nvSpPr>
            <p:spPr bwMode="auto">
              <a:xfrm>
                <a:off x="8905" y="9590"/>
                <a:ext cx="107" cy="14"/>
              </a:xfrm>
              <a:custGeom>
                <a:avLst/>
                <a:gdLst>
                  <a:gd name="T0" fmla="*/ 214 w 214"/>
                  <a:gd name="T1" fmla="*/ 14 h 27"/>
                  <a:gd name="T2" fmla="*/ 214 w 214"/>
                  <a:gd name="T3" fmla="*/ 0 h 27"/>
                  <a:gd name="T4" fmla="*/ 0 w 214"/>
                  <a:gd name="T5" fmla="*/ 0 h 27"/>
                  <a:gd name="T6" fmla="*/ 0 w 214"/>
                  <a:gd name="T7" fmla="*/ 27 h 27"/>
                  <a:gd name="T8" fmla="*/ 214 w 214"/>
                  <a:gd name="T9" fmla="*/ 27 h 27"/>
                  <a:gd name="T10" fmla="*/ 214 w 214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4"/>
                  <a:gd name="T19" fmla="*/ 0 h 27"/>
                  <a:gd name="T20" fmla="*/ 214 w 2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4" h="27">
                    <a:moveTo>
                      <a:pt x="214" y="14"/>
                    </a:moveTo>
                    <a:lnTo>
                      <a:pt x="214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14" y="27"/>
                    </a:lnTo>
                    <a:lnTo>
                      <a:pt x="214" y="14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35" name="Freeform 1232"/>
              <p:cNvSpPr>
                <a:spLocks/>
              </p:cNvSpPr>
              <p:nvPr/>
            </p:nvSpPr>
            <p:spPr bwMode="auto">
              <a:xfrm>
                <a:off x="9012" y="9590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36" name="Freeform 1233"/>
              <p:cNvSpPr>
                <a:spLocks/>
              </p:cNvSpPr>
              <p:nvPr/>
            </p:nvSpPr>
            <p:spPr bwMode="auto">
              <a:xfrm>
                <a:off x="8902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37" name="Freeform 1234"/>
              <p:cNvSpPr>
                <a:spLocks/>
              </p:cNvSpPr>
              <p:nvPr/>
            </p:nvSpPr>
            <p:spPr bwMode="auto">
              <a:xfrm>
                <a:off x="8909" y="9590"/>
                <a:ext cx="98" cy="14"/>
              </a:xfrm>
              <a:custGeom>
                <a:avLst/>
                <a:gdLst>
                  <a:gd name="T0" fmla="*/ 195 w 195"/>
                  <a:gd name="T1" fmla="*/ 14 h 27"/>
                  <a:gd name="T2" fmla="*/ 195 w 195"/>
                  <a:gd name="T3" fmla="*/ 0 h 27"/>
                  <a:gd name="T4" fmla="*/ 0 w 195"/>
                  <a:gd name="T5" fmla="*/ 0 h 27"/>
                  <a:gd name="T6" fmla="*/ 0 w 195"/>
                  <a:gd name="T7" fmla="*/ 27 h 27"/>
                  <a:gd name="T8" fmla="*/ 195 w 195"/>
                  <a:gd name="T9" fmla="*/ 27 h 27"/>
                  <a:gd name="T10" fmla="*/ 195 w 195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5"/>
                  <a:gd name="T19" fmla="*/ 0 h 27"/>
                  <a:gd name="T20" fmla="*/ 195 w 195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5" h="27">
                    <a:moveTo>
                      <a:pt x="195" y="14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95" y="27"/>
                    </a:lnTo>
                    <a:lnTo>
                      <a:pt x="195" y="14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38" name="Freeform 1235"/>
              <p:cNvSpPr>
                <a:spLocks/>
              </p:cNvSpPr>
              <p:nvPr/>
            </p:nvSpPr>
            <p:spPr bwMode="auto">
              <a:xfrm>
                <a:off x="9007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39" name="Freeform 1236"/>
              <p:cNvSpPr>
                <a:spLocks/>
              </p:cNvSpPr>
              <p:nvPr/>
            </p:nvSpPr>
            <p:spPr bwMode="auto">
              <a:xfrm>
                <a:off x="8907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40" name="Freeform 1237"/>
              <p:cNvSpPr>
                <a:spLocks/>
              </p:cNvSpPr>
              <p:nvPr/>
            </p:nvSpPr>
            <p:spPr bwMode="auto">
              <a:xfrm>
                <a:off x="8914" y="9590"/>
                <a:ext cx="88" cy="14"/>
              </a:xfrm>
              <a:custGeom>
                <a:avLst/>
                <a:gdLst>
                  <a:gd name="T0" fmla="*/ 177 w 177"/>
                  <a:gd name="T1" fmla="*/ 14 h 27"/>
                  <a:gd name="T2" fmla="*/ 177 w 177"/>
                  <a:gd name="T3" fmla="*/ 0 h 27"/>
                  <a:gd name="T4" fmla="*/ 0 w 177"/>
                  <a:gd name="T5" fmla="*/ 0 h 27"/>
                  <a:gd name="T6" fmla="*/ 0 w 177"/>
                  <a:gd name="T7" fmla="*/ 27 h 27"/>
                  <a:gd name="T8" fmla="*/ 177 w 177"/>
                  <a:gd name="T9" fmla="*/ 27 h 27"/>
                  <a:gd name="T10" fmla="*/ 177 w 177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7"/>
                  <a:gd name="T19" fmla="*/ 0 h 27"/>
                  <a:gd name="T20" fmla="*/ 177 w 177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7" h="27">
                    <a:moveTo>
                      <a:pt x="177" y="14"/>
                    </a:moveTo>
                    <a:lnTo>
                      <a:pt x="177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77" y="27"/>
                    </a:lnTo>
                    <a:lnTo>
                      <a:pt x="177" y="14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41" name="Freeform 1238"/>
              <p:cNvSpPr>
                <a:spLocks/>
              </p:cNvSpPr>
              <p:nvPr/>
            </p:nvSpPr>
            <p:spPr bwMode="auto">
              <a:xfrm>
                <a:off x="9002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0 w 14"/>
                  <a:gd name="T3" fmla="*/ 23 h 27"/>
                  <a:gd name="T4" fmla="*/ 14 w 14"/>
                  <a:gd name="T5" fmla="*/ 14 h 27"/>
                  <a:gd name="T6" fmla="*/ 10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0" y="23"/>
                    </a:lnTo>
                    <a:lnTo>
                      <a:pt x="14" y="14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42" name="Freeform 1239"/>
              <p:cNvSpPr>
                <a:spLocks/>
              </p:cNvSpPr>
              <p:nvPr/>
            </p:nvSpPr>
            <p:spPr bwMode="auto">
              <a:xfrm>
                <a:off x="8912" y="9590"/>
                <a:ext cx="6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43" name="Freeform 1240"/>
              <p:cNvSpPr>
                <a:spLocks/>
              </p:cNvSpPr>
              <p:nvPr/>
            </p:nvSpPr>
            <p:spPr bwMode="auto">
              <a:xfrm>
                <a:off x="8918" y="9590"/>
                <a:ext cx="80" cy="14"/>
              </a:xfrm>
              <a:custGeom>
                <a:avLst/>
                <a:gdLst>
                  <a:gd name="T0" fmla="*/ 159 w 159"/>
                  <a:gd name="T1" fmla="*/ 14 h 27"/>
                  <a:gd name="T2" fmla="*/ 159 w 159"/>
                  <a:gd name="T3" fmla="*/ 0 h 27"/>
                  <a:gd name="T4" fmla="*/ 0 w 159"/>
                  <a:gd name="T5" fmla="*/ 0 h 27"/>
                  <a:gd name="T6" fmla="*/ 0 w 159"/>
                  <a:gd name="T7" fmla="*/ 27 h 27"/>
                  <a:gd name="T8" fmla="*/ 159 w 159"/>
                  <a:gd name="T9" fmla="*/ 27 h 27"/>
                  <a:gd name="T10" fmla="*/ 159 w 159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9"/>
                  <a:gd name="T19" fmla="*/ 0 h 27"/>
                  <a:gd name="T20" fmla="*/ 159 w 159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9" h="27">
                    <a:moveTo>
                      <a:pt x="159" y="14"/>
                    </a:moveTo>
                    <a:lnTo>
                      <a:pt x="159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59" y="27"/>
                    </a:lnTo>
                    <a:lnTo>
                      <a:pt x="159" y="14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44" name="Freeform 1241"/>
              <p:cNvSpPr>
                <a:spLocks/>
              </p:cNvSpPr>
              <p:nvPr/>
            </p:nvSpPr>
            <p:spPr bwMode="auto">
              <a:xfrm>
                <a:off x="8998" y="9590"/>
                <a:ext cx="7" cy="14"/>
              </a:xfrm>
              <a:custGeom>
                <a:avLst/>
                <a:gdLst>
                  <a:gd name="T0" fmla="*/ 0 w 13"/>
                  <a:gd name="T1" fmla="*/ 27 h 27"/>
                  <a:gd name="T2" fmla="*/ 10 w 13"/>
                  <a:gd name="T3" fmla="*/ 23 h 27"/>
                  <a:gd name="T4" fmla="*/ 13 w 13"/>
                  <a:gd name="T5" fmla="*/ 14 h 27"/>
                  <a:gd name="T6" fmla="*/ 10 w 13"/>
                  <a:gd name="T7" fmla="*/ 4 h 27"/>
                  <a:gd name="T8" fmla="*/ 0 w 13"/>
                  <a:gd name="T9" fmla="*/ 0 h 27"/>
                  <a:gd name="T10" fmla="*/ 0 w 13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0" y="27"/>
                    </a:moveTo>
                    <a:lnTo>
                      <a:pt x="10" y="23"/>
                    </a:lnTo>
                    <a:lnTo>
                      <a:pt x="13" y="14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45" name="Freeform 1242"/>
              <p:cNvSpPr>
                <a:spLocks/>
              </p:cNvSpPr>
              <p:nvPr/>
            </p:nvSpPr>
            <p:spPr bwMode="auto">
              <a:xfrm>
                <a:off x="8916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46" name="Freeform 1243"/>
              <p:cNvSpPr>
                <a:spLocks/>
              </p:cNvSpPr>
              <p:nvPr/>
            </p:nvSpPr>
            <p:spPr bwMode="auto">
              <a:xfrm>
                <a:off x="8923" y="9590"/>
                <a:ext cx="72" cy="14"/>
              </a:xfrm>
              <a:custGeom>
                <a:avLst/>
                <a:gdLst>
                  <a:gd name="T0" fmla="*/ 144 w 144"/>
                  <a:gd name="T1" fmla="*/ 14 h 27"/>
                  <a:gd name="T2" fmla="*/ 144 w 144"/>
                  <a:gd name="T3" fmla="*/ 0 h 27"/>
                  <a:gd name="T4" fmla="*/ 0 w 144"/>
                  <a:gd name="T5" fmla="*/ 0 h 27"/>
                  <a:gd name="T6" fmla="*/ 0 w 144"/>
                  <a:gd name="T7" fmla="*/ 27 h 27"/>
                  <a:gd name="T8" fmla="*/ 144 w 144"/>
                  <a:gd name="T9" fmla="*/ 27 h 27"/>
                  <a:gd name="T10" fmla="*/ 144 w 144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4"/>
                  <a:gd name="T19" fmla="*/ 0 h 27"/>
                  <a:gd name="T20" fmla="*/ 144 w 14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4" h="27">
                    <a:moveTo>
                      <a:pt x="144" y="14"/>
                    </a:moveTo>
                    <a:lnTo>
                      <a:pt x="144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44" y="27"/>
                    </a:lnTo>
                    <a:lnTo>
                      <a:pt x="144" y="14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47" name="Freeform 1244"/>
              <p:cNvSpPr>
                <a:spLocks/>
              </p:cNvSpPr>
              <p:nvPr/>
            </p:nvSpPr>
            <p:spPr bwMode="auto">
              <a:xfrm>
                <a:off x="8995" y="9590"/>
                <a:ext cx="7" cy="14"/>
              </a:xfrm>
              <a:custGeom>
                <a:avLst/>
                <a:gdLst>
                  <a:gd name="T0" fmla="*/ 0 w 13"/>
                  <a:gd name="T1" fmla="*/ 27 h 27"/>
                  <a:gd name="T2" fmla="*/ 10 w 13"/>
                  <a:gd name="T3" fmla="*/ 23 h 27"/>
                  <a:gd name="T4" fmla="*/ 13 w 13"/>
                  <a:gd name="T5" fmla="*/ 14 h 27"/>
                  <a:gd name="T6" fmla="*/ 10 w 13"/>
                  <a:gd name="T7" fmla="*/ 4 h 27"/>
                  <a:gd name="T8" fmla="*/ 0 w 13"/>
                  <a:gd name="T9" fmla="*/ 0 h 27"/>
                  <a:gd name="T10" fmla="*/ 0 w 13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0" y="27"/>
                    </a:moveTo>
                    <a:lnTo>
                      <a:pt x="10" y="23"/>
                    </a:lnTo>
                    <a:lnTo>
                      <a:pt x="13" y="14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48" name="Freeform 1245"/>
              <p:cNvSpPr>
                <a:spLocks/>
              </p:cNvSpPr>
              <p:nvPr/>
            </p:nvSpPr>
            <p:spPr bwMode="auto">
              <a:xfrm>
                <a:off x="8921" y="9590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4 h 27"/>
                  <a:gd name="T6" fmla="*/ 3 w 13"/>
                  <a:gd name="T7" fmla="*/ 23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49" name="Freeform 1246"/>
              <p:cNvSpPr>
                <a:spLocks/>
              </p:cNvSpPr>
              <p:nvPr/>
            </p:nvSpPr>
            <p:spPr bwMode="auto">
              <a:xfrm>
                <a:off x="8928" y="9590"/>
                <a:ext cx="62" cy="14"/>
              </a:xfrm>
              <a:custGeom>
                <a:avLst/>
                <a:gdLst>
                  <a:gd name="T0" fmla="*/ 125 w 125"/>
                  <a:gd name="T1" fmla="*/ 14 h 27"/>
                  <a:gd name="T2" fmla="*/ 125 w 125"/>
                  <a:gd name="T3" fmla="*/ 0 h 27"/>
                  <a:gd name="T4" fmla="*/ 0 w 125"/>
                  <a:gd name="T5" fmla="*/ 0 h 27"/>
                  <a:gd name="T6" fmla="*/ 0 w 125"/>
                  <a:gd name="T7" fmla="*/ 27 h 27"/>
                  <a:gd name="T8" fmla="*/ 125 w 125"/>
                  <a:gd name="T9" fmla="*/ 27 h 27"/>
                  <a:gd name="T10" fmla="*/ 125 w 125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5"/>
                  <a:gd name="T19" fmla="*/ 0 h 27"/>
                  <a:gd name="T20" fmla="*/ 125 w 125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5" h="27">
                    <a:moveTo>
                      <a:pt x="125" y="14"/>
                    </a:moveTo>
                    <a:lnTo>
                      <a:pt x="125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25" y="27"/>
                    </a:lnTo>
                    <a:lnTo>
                      <a:pt x="125" y="14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50" name="Freeform 1247"/>
              <p:cNvSpPr>
                <a:spLocks/>
              </p:cNvSpPr>
              <p:nvPr/>
            </p:nvSpPr>
            <p:spPr bwMode="auto">
              <a:xfrm>
                <a:off x="8990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51" name="Freeform 1248"/>
              <p:cNvSpPr>
                <a:spLocks/>
              </p:cNvSpPr>
              <p:nvPr/>
            </p:nvSpPr>
            <p:spPr bwMode="auto">
              <a:xfrm>
                <a:off x="8926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52" name="Freeform 1249"/>
              <p:cNvSpPr>
                <a:spLocks/>
              </p:cNvSpPr>
              <p:nvPr/>
            </p:nvSpPr>
            <p:spPr bwMode="auto">
              <a:xfrm>
                <a:off x="8933" y="9590"/>
                <a:ext cx="53" cy="14"/>
              </a:xfrm>
              <a:custGeom>
                <a:avLst/>
                <a:gdLst>
                  <a:gd name="T0" fmla="*/ 105 w 105"/>
                  <a:gd name="T1" fmla="*/ 14 h 27"/>
                  <a:gd name="T2" fmla="*/ 105 w 105"/>
                  <a:gd name="T3" fmla="*/ 0 h 27"/>
                  <a:gd name="T4" fmla="*/ 0 w 105"/>
                  <a:gd name="T5" fmla="*/ 0 h 27"/>
                  <a:gd name="T6" fmla="*/ 0 w 105"/>
                  <a:gd name="T7" fmla="*/ 27 h 27"/>
                  <a:gd name="T8" fmla="*/ 105 w 105"/>
                  <a:gd name="T9" fmla="*/ 27 h 27"/>
                  <a:gd name="T10" fmla="*/ 105 w 105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5"/>
                  <a:gd name="T19" fmla="*/ 0 h 27"/>
                  <a:gd name="T20" fmla="*/ 105 w 105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5" h="27">
                    <a:moveTo>
                      <a:pt x="105" y="14"/>
                    </a:moveTo>
                    <a:lnTo>
                      <a:pt x="105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05" y="27"/>
                    </a:lnTo>
                    <a:lnTo>
                      <a:pt x="105" y="14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53" name="Freeform 1250"/>
              <p:cNvSpPr>
                <a:spLocks/>
              </p:cNvSpPr>
              <p:nvPr/>
            </p:nvSpPr>
            <p:spPr bwMode="auto">
              <a:xfrm>
                <a:off x="8986" y="9590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54" name="Freeform 1251"/>
              <p:cNvSpPr>
                <a:spLocks/>
              </p:cNvSpPr>
              <p:nvPr/>
            </p:nvSpPr>
            <p:spPr bwMode="auto">
              <a:xfrm>
                <a:off x="8931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55" name="Freeform 1252"/>
              <p:cNvSpPr>
                <a:spLocks/>
              </p:cNvSpPr>
              <p:nvPr/>
            </p:nvSpPr>
            <p:spPr bwMode="auto">
              <a:xfrm>
                <a:off x="8938" y="9590"/>
                <a:ext cx="43" cy="14"/>
              </a:xfrm>
              <a:custGeom>
                <a:avLst/>
                <a:gdLst>
                  <a:gd name="T0" fmla="*/ 87 w 87"/>
                  <a:gd name="T1" fmla="*/ 14 h 27"/>
                  <a:gd name="T2" fmla="*/ 87 w 87"/>
                  <a:gd name="T3" fmla="*/ 0 h 27"/>
                  <a:gd name="T4" fmla="*/ 0 w 87"/>
                  <a:gd name="T5" fmla="*/ 0 h 27"/>
                  <a:gd name="T6" fmla="*/ 0 w 87"/>
                  <a:gd name="T7" fmla="*/ 27 h 27"/>
                  <a:gd name="T8" fmla="*/ 87 w 87"/>
                  <a:gd name="T9" fmla="*/ 27 h 27"/>
                  <a:gd name="T10" fmla="*/ 87 w 87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7"/>
                  <a:gd name="T19" fmla="*/ 0 h 27"/>
                  <a:gd name="T20" fmla="*/ 87 w 87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7" h="27">
                    <a:moveTo>
                      <a:pt x="87" y="14"/>
                    </a:moveTo>
                    <a:lnTo>
                      <a:pt x="87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87" y="27"/>
                    </a:lnTo>
                    <a:lnTo>
                      <a:pt x="87" y="14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56" name="Freeform 1253"/>
              <p:cNvSpPr>
                <a:spLocks/>
              </p:cNvSpPr>
              <p:nvPr/>
            </p:nvSpPr>
            <p:spPr bwMode="auto">
              <a:xfrm>
                <a:off x="8981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57" name="Freeform 1254"/>
              <p:cNvSpPr>
                <a:spLocks/>
              </p:cNvSpPr>
              <p:nvPr/>
            </p:nvSpPr>
            <p:spPr bwMode="auto">
              <a:xfrm>
                <a:off x="8935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4 w 14"/>
                  <a:gd name="T3" fmla="*/ 4 h 27"/>
                  <a:gd name="T4" fmla="*/ 0 w 14"/>
                  <a:gd name="T5" fmla="*/ 14 h 27"/>
                  <a:gd name="T6" fmla="*/ 4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4" y="4"/>
                    </a:lnTo>
                    <a:lnTo>
                      <a:pt x="0" y="14"/>
                    </a:lnTo>
                    <a:lnTo>
                      <a:pt x="4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58" name="Freeform 1255"/>
              <p:cNvSpPr>
                <a:spLocks/>
              </p:cNvSpPr>
              <p:nvPr/>
            </p:nvSpPr>
            <p:spPr bwMode="auto">
              <a:xfrm>
                <a:off x="8942" y="9590"/>
                <a:ext cx="34" cy="14"/>
              </a:xfrm>
              <a:custGeom>
                <a:avLst/>
                <a:gdLst>
                  <a:gd name="T0" fmla="*/ 69 w 69"/>
                  <a:gd name="T1" fmla="*/ 14 h 27"/>
                  <a:gd name="T2" fmla="*/ 69 w 69"/>
                  <a:gd name="T3" fmla="*/ 0 h 27"/>
                  <a:gd name="T4" fmla="*/ 0 w 69"/>
                  <a:gd name="T5" fmla="*/ 0 h 27"/>
                  <a:gd name="T6" fmla="*/ 0 w 69"/>
                  <a:gd name="T7" fmla="*/ 27 h 27"/>
                  <a:gd name="T8" fmla="*/ 69 w 69"/>
                  <a:gd name="T9" fmla="*/ 27 h 27"/>
                  <a:gd name="T10" fmla="*/ 69 w 69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9"/>
                  <a:gd name="T19" fmla="*/ 0 h 27"/>
                  <a:gd name="T20" fmla="*/ 69 w 69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9" h="27">
                    <a:moveTo>
                      <a:pt x="69" y="14"/>
                    </a:moveTo>
                    <a:lnTo>
                      <a:pt x="69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69" y="27"/>
                    </a:lnTo>
                    <a:lnTo>
                      <a:pt x="69" y="14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59" name="Freeform 1256"/>
              <p:cNvSpPr>
                <a:spLocks/>
              </p:cNvSpPr>
              <p:nvPr/>
            </p:nvSpPr>
            <p:spPr bwMode="auto">
              <a:xfrm>
                <a:off x="8976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60" name="Freeform 1257"/>
              <p:cNvSpPr>
                <a:spLocks/>
              </p:cNvSpPr>
              <p:nvPr/>
            </p:nvSpPr>
            <p:spPr bwMode="auto">
              <a:xfrm>
                <a:off x="8940" y="9590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4 h 27"/>
                  <a:gd name="T6" fmla="*/ 3 w 13"/>
                  <a:gd name="T7" fmla="*/ 23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61" name="Freeform 1258"/>
              <p:cNvSpPr>
                <a:spLocks/>
              </p:cNvSpPr>
              <p:nvPr/>
            </p:nvSpPr>
            <p:spPr bwMode="auto">
              <a:xfrm>
                <a:off x="8947" y="9590"/>
                <a:ext cx="26" cy="14"/>
              </a:xfrm>
              <a:custGeom>
                <a:avLst/>
                <a:gdLst>
                  <a:gd name="T0" fmla="*/ 52 w 52"/>
                  <a:gd name="T1" fmla="*/ 14 h 27"/>
                  <a:gd name="T2" fmla="*/ 52 w 52"/>
                  <a:gd name="T3" fmla="*/ 0 h 27"/>
                  <a:gd name="T4" fmla="*/ 0 w 52"/>
                  <a:gd name="T5" fmla="*/ 0 h 27"/>
                  <a:gd name="T6" fmla="*/ 0 w 52"/>
                  <a:gd name="T7" fmla="*/ 27 h 27"/>
                  <a:gd name="T8" fmla="*/ 52 w 52"/>
                  <a:gd name="T9" fmla="*/ 27 h 27"/>
                  <a:gd name="T10" fmla="*/ 52 w 52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2"/>
                  <a:gd name="T19" fmla="*/ 0 h 27"/>
                  <a:gd name="T20" fmla="*/ 52 w 52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2" h="27">
                    <a:moveTo>
                      <a:pt x="52" y="14"/>
                    </a:moveTo>
                    <a:lnTo>
                      <a:pt x="52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52" y="27"/>
                    </a:lnTo>
                    <a:lnTo>
                      <a:pt x="52" y="14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62" name="Freeform 1259"/>
              <p:cNvSpPr>
                <a:spLocks/>
              </p:cNvSpPr>
              <p:nvPr/>
            </p:nvSpPr>
            <p:spPr bwMode="auto">
              <a:xfrm>
                <a:off x="8973" y="9590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63" name="Freeform 1260"/>
              <p:cNvSpPr>
                <a:spLocks/>
              </p:cNvSpPr>
              <p:nvPr/>
            </p:nvSpPr>
            <p:spPr bwMode="auto">
              <a:xfrm>
                <a:off x="8944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64" name="Freeform 1261"/>
              <p:cNvSpPr>
                <a:spLocks/>
              </p:cNvSpPr>
              <p:nvPr/>
            </p:nvSpPr>
            <p:spPr bwMode="auto">
              <a:xfrm>
                <a:off x="8951" y="9590"/>
                <a:ext cx="17" cy="14"/>
              </a:xfrm>
              <a:custGeom>
                <a:avLst/>
                <a:gdLst>
                  <a:gd name="T0" fmla="*/ 33 w 33"/>
                  <a:gd name="T1" fmla="*/ 14 h 27"/>
                  <a:gd name="T2" fmla="*/ 33 w 33"/>
                  <a:gd name="T3" fmla="*/ 0 h 27"/>
                  <a:gd name="T4" fmla="*/ 0 w 33"/>
                  <a:gd name="T5" fmla="*/ 0 h 27"/>
                  <a:gd name="T6" fmla="*/ 0 w 33"/>
                  <a:gd name="T7" fmla="*/ 27 h 27"/>
                  <a:gd name="T8" fmla="*/ 33 w 33"/>
                  <a:gd name="T9" fmla="*/ 27 h 27"/>
                  <a:gd name="T10" fmla="*/ 33 w 33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3"/>
                  <a:gd name="T19" fmla="*/ 0 h 27"/>
                  <a:gd name="T20" fmla="*/ 33 w 3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3" h="27">
                    <a:moveTo>
                      <a:pt x="33" y="14"/>
                    </a:moveTo>
                    <a:lnTo>
                      <a:pt x="33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33" y="27"/>
                    </a:lnTo>
                    <a:lnTo>
                      <a:pt x="33" y="14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65" name="Freeform 1262"/>
              <p:cNvSpPr>
                <a:spLocks/>
              </p:cNvSpPr>
              <p:nvPr/>
            </p:nvSpPr>
            <p:spPr bwMode="auto">
              <a:xfrm>
                <a:off x="8968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66" name="Freeform 1263"/>
              <p:cNvSpPr>
                <a:spLocks/>
              </p:cNvSpPr>
              <p:nvPr/>
            </p:nvSpPr>
            <p:spPr bwMode="auto">
              <a:xfrm>
                <a:off x="8949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67" name="Freeform 1264"/>
              <p:cNvSpPr>
                <a:spLocks/>
              </p:cNvSpPr>
              <p:nvPr/>
            </p:nvSpPr>
            <p:spPr bwMode="auto">
              <a:xfrm>
                <a:off x="8956" y="9590"/>
                <a:ext cx="7" cy="14"/>
              </a:xfrm>
              <a:custGeom>
                <a:avLst/>
                <a:gdLst>
                  <a:gd name="T0" fmla="*/ 15 w 15"/>
                  <a:gd name="T1" fmla="*/ 14 h 27"/>
                  <a:gd name="T2" fmla="*/ 15 w 15"/>
                  <a:gd name="T3" fmla="*/ 0 h 27"/>
                  <a:gd name="T4" fmla="*/ 0 w 15"/>
                  <a:gd name="T5" fmla="*/ 0 h 27"/>
                  <a:gd name="T6" fmla="*/ 0 w 15"/>
                  <a:gd name="T7" fmla="*/ 27 h 27"/>
                  <a:gd name="T8" fmla="*/ 15 w 15"/>
                  <a:gd name="T9" fmla="*/ 27 h 27"/>
                  <a:gd name="T10" fmla="*/ 15 w 15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7"/>
                  <a:gd name="T20" fmla="*/ 15 w 15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7">
                    <a:moveTo>
                      <a:pt x="15" y="14"/>
                    </a:moveTo>
                    <a:lnTo>
                      <a:pt x="15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5" y="27"/>
                    </a:lnTo>
                    <a:lnTo>
                      <a:pt x="15" y="1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68" name="Freeform 1265"/>
              <p:cNvSpPr>
                <a:spLocks/>
              </p:cNvSpPr>
              <p:nvPr/>
            </p:nvSpPr>
            <p:spPr bwMode="auto">
              <a:xfrm>
                <a:off x="8963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69" name="Freeform 1266"/>
              <p:cNvSpPr>
                <a:spLocks/>
              </p:cNvSpPr>
              <p:nvPr/>
            </p:nvSpPr>
            <p:spPr bwMode="auto">
              <a:xfrm>
                <a:off x="8889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70" name="Freeform 1267"/>
              <p:cNvSpPr>
                <a:spLocks/>
              </p:cNvSpPr>
              <p:nvPr/>
            </p:nvSpPr>
            <p:spPr bwMode="auto">
              <a:xfrm>
                <a:off x="8896" y="9619"/>
                <a:ext cx="124" cy="13"/>
              </a:xfrm>
              <a:custGeom>
                <a:avLst/>
                <a:gdLst>
                  <a:gd name="T0" fmla="*/ 249 w 249"/>
                  <a:gd name="T1" fmla="*/ 14 h 28"/>
                  <a:gd name="T2" fmla="*/ 249 w 249"/>
                  <a:gd name="T3" fmla="*/ 0 h 28"/>
                  <a:gd name="T4" fmla="*/ 0 w 249"/>
                  <a:gd name="T5" fmla="*/ 0 h 28"/>
                  <a:gd name="T6" fmla="*/ 0 w 249"/>
                  <a:gd name="T7" fmla="*/ 28 h 28"/>
                  <a:gd name="T8" fmla="*/ 249 w 249"/>
                  <a:gd name="T9" fmla="*/ 28 h 28"/>
                  <a:gd name="T10" fmla="*/ 249 w 249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9"/>
                  <a:gd name="T19" fmla="*/ 0 h 28"/>
                  <a:gd name="T20" fmla="*/ 249 w 249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9" h="28">
                    <a:moveTo>
                      <a:pt x="249" y="14"/>
                    </a:moveTo>
                    <a:lnTo>
                      <a:pt x="249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49" y="28"/>
                    </a:lnTo>
                    <a:lnTo>
                      <a:pt x="249" y="14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71" name="Freeform 1268"/>
              <p:cNvSpPr>
                <a:spLocks/>
              </p:cNvSpPr>
              <p:nvPr/>
            </p:nvSpPr>
            <p:spPr bwMode="auto">
              <a:xfrm>
                <a:off x="9020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72" name="Freeform 1269"/>
              <p:cNvSpPr>
                <a:spLocks/>
              </p:cNvSpPr>
              <p:nvPr/>
            </p:nvSpPr>
            <p:spPr bwMode="auto">
              <a:xfrm>
                <a:off x="8893" y="9619"/>
                <a:ext cx="7" cy="13"/>
              </a:xfrm>
              <a:custGeom>
                <a:avLst/>
                <a:gdLst>
                  <a:gd name="T0" fmla="*/ 13 w 13"/>
                  <a:gd name="T1" fmla="*/ 0 h 28"/>
                  <a:gd name="T2" fmla="*/ 3 w 13"/>
                  <a:gd name="T3" fmla="*/ 5 h 28"/>
                  <a:gd name="T4" fmla="*/ 0 w 13"/>
                  <a:gd name="T5" fmla="*/ 14 h 28"/>
                  <a:gd name="T6" fmla="*/ 3 w 13"/>
                  <a:gd name="T7" fmla="*/ 23 h 28"/>
                  <a:gd name="T8" fmla="*/ 13 w 13"/>
                  <a:gd name="T9" fmla="*/ 28 h 28"/>
                  <a:gd name="T10" fmla="*/ 13 w 13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13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8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73" name="Freeform 1270"/>
              <p:cNvSpPr>
                <a:spLocks/>
              </p:cNvSpPr>
              <p:nvPr/>
            </p:nvSpPr>
            <p:spPr bwMode="auto">
              <a:xfrm>
                <a:off x="8900" y="9619"/>
                <a:ext cx="116" cy="13"/>
              </a:xfrm>
              <a:custGeom>
                <a:avLst/>
                <a:gdLst>
                  <a:gd name="T0" fmla="*/ 232 w 232"/>
                  <a:gd name="T1" fmla="*/ 14 h 28"/>
                  <a:gd name="T2" fmla="*/ 232 w 232"/>
                  <a:gd name="T3" fmla="*/ 0 h 28"/>
                  <a:gd name="T4" fmla="*/ 0 w 232"/>
                  <a:gd name="T5" fmla="*/ 0 h 28"/>
                  <a:gd name="T6" fmla="*/ 0 w 232"/>
                  <a:gd name="T7" fmla="*/ 28 h 28"/>
                  <a:gd name="T8" fmla="*/ 232 w 232"/>
                  <a:gd name="T9" fmla="*/ 28 h 28"/>
                  <a:gd name="T10" fmla="*/ 232 w 232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2"/>
                  <a:gd name="T19" fmla="*/ 0 h 28"/>
                  <a:gd name="T20" fmla="*/ 232 w 232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2" h="28">
                    <a:moveTo>
                      <a:pt x="232" y="14"/>
                    </a:moveTo>
                    <a:lnTo>
                      <a:pt x="232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32" y="28"/>
                    </a:lnTo>
                    <a:lnTo>
                      <a:pt x="232" y="14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74" name="Freeform 1271"/>
              <p:cNvSpPr>
                <a:spLocks/>
              </p:cNvSpPr>
              <p:nvPr/>
            </p:nvSpPr>
            <p:spPr bwMode="auto">
              <a:xfrm>
                <a:off x="9016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75" name="Freeform 1272"/>
              <p:cNvSpPr>
                <a:spLocks/>
              </p:cNvSpPr>
              <p:nvPr/>
            </p:nvSpPr>
            <p:spPr bwMode="auto">
              <a:xfrm>
                <a:off x="8898" y="9619"/>
                <a:ext cx="7" cy="13"/>
              </a:xfrm>
              <a:custGeom>
                <a:avLst/>
                <a:gdLst>
                  <a:gd name="T0" fmla="*/ 13 w 13"/>
                  <a:gd name="T1" fmla="*/ 0 h 28"/>
                  <a:gd name="T2" fmla="*/ 3 w 13"/>
                  <a:gd name="T3" fmla="*/ 5 h 28"/>
                  <a:gd name="T4" fmla="*/ 0 w 13"/>
                  <a:gd name="T5" fmla="*/ 14 h 28"/>
                  <a:gd name="T6" fmla="*/ 3 w 13"/>
                  <a:gd name="T7" fmla="*/ 23 h 28"/>
                  <a:gd name="T8" fmla="*/ 13 w 13"/>
                  <a:gd name="T9" fmla="*/ 28 h 28"/>
                  <a:gd name="T10" fmla="*/ 13 w 13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13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8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76" name="Freeform 1273"/>
              <p:cNvSpPr>
                <a:spLocks/>
              </p:cNvSpPr>
              <p:nvPr/>
            </p:nvSpPr>
            <p:spPr bwMode="auto">
              <a:xfrm>
                <a:off x="8905" y="9619"/>
                <a:ext cx="107" cy="13"/>
              </a:xfrm>
              <a:custGeom>
                <a:avLst/>
                <a:gdLst>
                  <a:gd name="T0" fmla="*/ 214 w 214"/>
                  <a:gd name="T1" fmla="*/ 14 h 28"/>
                  <a:gd name="T2" fmla="*/ 214 w 214"/>
                  <a:gd name="T3" fmla="*/ 0 h 28"/>
                  <a:gd name="T4" fmla="*/ 0 w 214"/>
                  <a:gd name="T5" fmla="*/ 0 h 28"/>
                  <a:gd name="T6" fmla="*/ 0 w 214"/>
                  <a:gd name="T7" fmla="*/ 28 h 28"/>
                  <a:gd name="T8" fmla="*/ 214 w 214"/>
                  <a:gd name="T9" fmla="*/ 28 h 28"/>
                  <a:gd name="T10" fmla="*/ 214 w 214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4"/>
                  <a:gd name="T19" fmla="*/ 0 h 28"/>
                  <a:gd name="T20" fmla="*/ 214 w 2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4" h="28">
                    <a:moveTo>
                      <a:pt x="214" y="14"/>
                    </a:moveTo>
                    <a:lnTo>
                      <a:pt x="214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14" y="28"/>
                    </a:lnTo>
                    <a:lnTo>
                      <a:pt x="214" y="14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77" name="Freeform 1274"/>
              <p:cNvSpPr>
                <a:spLocks/>
              </p:cNvSpPr>
              <p:nvPr/>
            </p:nvSpPr>
            <p:spPr bwMode="auto">
              <a:xfrm>
                <a:off x="9012" y="9619"/>
                <a:ext cx="6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78" name="Freeform 1275"/>
              <p:cNvSpPr>
                <a:spLocks/>
              </p:cNvSpPr>
              <p:nvPr/>
            </p:nvSpPr>
            <p:spPr bwMode="auto">
              <a:xfrm>
                <a:off x="8902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79" name="Freeform 1276"/>
              <p:cNvSpPr>
                <a:spLocks/>
              </p:cNvSpPr>
              <p:nvPr/>
            </p:nvSpPr>
            <p:spPr bwMode="auto">
              <a:xfrm>
                <a:off x="8909" y="9619"/>
                <a:ext cx="98" cy="13"/>
              </a:xfrm>
              <a:custGeom>
                <a:avLst/>
                <a:gdLst>
                  <a:gd name="T0" fmla="*/ 195 w 195"/>
                  <a:gd name="T1" fmla="*/ 14 h 28"/>
                  <a:gd name="T2" fmla="*/ 195 w 195"/>
                  <a:gd name="T3" fmla="*/ 0 h 28"/>
                  <a:gd name="T4" fmla="*/ 0 w 195"/>
                  <a:gd name="T5" fmla="*/ 0 h 28"/>
                  <a:gd name="T6" fmla="*/ 0 w 195"/>
                  <a:gd name="T7" fmla="*/ 28 h 28"/>
                  <a:gd name="T8" fmla="*/ 195 w 195"/>
                  <a:gd name="T9" fmla="*/ 28 h 28"/>
                  <a:gd name="T10" fmla="*/ 195 w 195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5"/>
                  <a:gd name="T19" fmla="*/ 0 h 28"/>
                  <a:gd name="T20" fmla="*/ 195 w 195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5" h="28">
                    <a:moveTo>
                      <a:pt x="195" y="14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95" y="28"/>
                    </a:lnTo>
                    <a:lnTo>
                      <a:pt x="195" y="14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80" name="Freeform 1277"/>
              <p:cNvSpPr>
                <a:spLocks/>
              </p:cNvSpPr>
              <p:nvPr/>
            </p:nvSpPr>
            <p:spPr bwMode="auto">
              <a:xfrm>
                <a:off x="9007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81" name="Freeform 1278"/>
              <p:cNvSpPr>
                <a:spLocks/>
              </p:cNvSpPr>
              <p:nvPr/>
            </p:nvSpPr>
            <p:spPr bwMode="auto">
              <a:xfrm>
                <a:off x="8907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82" name="Freeform 1279"/>
              <p:cNvSpPr>
                <a:spLocks/>
              </p:cNvSpPr>
              <p:nvPr/>
            </p:nvSpPr>
            <p:spPr bwMode="auto">
              <a:xfrm>
                <a:off x="8914" y="9619"/>
                <a:ext cx="88" cy="13"/>
              </a:xfrm>
              <a:custGeom>
                <a:avLst/>
                <a:gdLst>
                  <a:gd name="T0" fmla="*/ 177 w 177"/>
                  <a:gd name="T1" fmla="*/ 14 h 28"/>
                  <a:gd name="T2" fmla="*/ 177 w 177"/>
                  <a:gd name="T3" fmla="*/ 0 h 28"/>
                  <a:gd name="T4" fmla="*/ 0 w 177"/>
                  <a:gd name="T5" fmla="*/ 0 h 28"/>
                  <a:gd name="T6" fmla="*/ 0 w 177"/>
                  <a:gd name="T7" fmla="*/ 28 h 28"/>
                  <a:gd name="T8" fmla="*/ 177 w 177"/>
                  <a:gd name="T9" fmla="*/ 28 h 28"/>
                  <a:gd name="T10" fmla="*/ 177 w 177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7"/>
                  <a:gd name="T19" fmla="*/ 0 h 28"/>
                  <a:gd name="T20" fmla="*/ 177 w 177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7" h="28">
                    <a:moveTo>
                      <a:pt x="177" y="14"/>
                    </a:moveTo>
                    <a:lnTo>
                      <a:pt x="177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77" y="28"/>
                    </a:lnTo>
                    <a:lnTo>
                      <a:pt x="177" y="14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83" name="Freeform 1280"/>
              <p:cNvSpPr>
                <a:spLocks/>
              </p:cNvSpPr>
              <p:nvPr/>
            </p:nvSpPr>
            <p:spPr bwMode="auto">
              <a:xfrm>
                <a:off x="9002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0 w 14"/>
                  <a:gd name="T3" fmla="*/ 23 h 28"/>
                  <a:gd name="T4" fmla="*/ 14 w 14"/>
                  <a:gd name="T5" fmla="*/ 14 h 28"/>
                  <a:gd name="T6" fmla="*/ 10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0" y="23"/>
                    </a:lnTo>
                    <a:lnTo>
                      <a:pt x="14" y="14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84" name="Freeform 1281"/>
              <p:cNvSpPr>
                <a:spLocks/>
              </p:cNvSpPr>
              <p:nvPr/>
            </p:nvSpPr>
            <p:spPr bwMode="auto">
              <a:xfrm>
                <a:off x="8912" y="9619"/>
                <a:ext cx="6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85" name="Freeform 1282"/>
              <p:cNvSpPr>
                <a:spLocks/>
              </p:cNvSpPr>
              <p:nvPr/>
            </p:nvSpPr>
            <p:spPr bwMode="auto">
              <a:xfrm>
                <a:off x="8918" y="9619"/>
                <a:ext cx="80" cy="13"/>
              </a:xfrm>
              <a:custGeom>
                <a:avLst/>
                <a:gdLst>
                  <a:gd name="T0" fmla="*/ 159 w 159"/>
                  <a:gd name="T1" fmla="*/ 14 h 28"/>
                  <a:gd name="T2" fmla="*/ 159 w 159"/>
                  <a:gd name="T3" fmla="*/ 0 h 28"/>
                  <a:gd name="T4" fmla="*/ 0 w 159"/>
                  <a:gd name="T5" fmla="*/ 0 h 28"/>
                  <a:gd name="T6" fmla="*/ 0 w 159"/>
                  <a:gd name="T7" fmla="*/ 28 h 28"/>
                  <a:gd name="T8" fmla="*/ 159 w 159"/>
                  <a:gd name="T9" fmla="*/ 28 h 28"/>
                  <a:gd name="T10" fmla="*/ 159 w 159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9"/>
                  <a:gd name="T19" fmla="*/ 0 h 28"/>
                  <a:gd name="T20" fmla="*/ 159 w 159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9" h="28">
                    <a:moveTo>
                      <a:pt x="159" y="14"/>
                    </a:moveTo>
                    <a:lnTo>
                      <a:pt x="159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59" y="28"/>
                    </a:lnTo>
                    <a:lnTo>
                      <a:pt x="159" y="14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86" name="Freeform 1283"/>
              <p:cNvSpPr>
                <a:spLocks/>
              </p:cNvSpPr>
              <p:nvPr/>
            </p:nvSpPr>
            <p:spPr bwMode="auto">
              <a:xfrm>
                <a:off x="8998" y="9619"/>
                <a:ext cx="7" cy="13"/>
              </a:xfrm>
              <a:custGeom>
                <a:avLst/>
                <a:gdLst>
                  <a:gd name="T0" fmla="*/ 0 w 13"/>
                  <a:gd name="T1" fmla="*/ 28 h 28"/>
                  <a:gd name="T2" fmla="*/ 10 w 13"/>
                  <a:gd name="T3" fmla="*/ 23 h 28"/>
                  <a:gd name="T4" fmla="*/ 13 w 13"/>
                  <a:gd name="T5" fmla="*/ 14 h 28"/>
                  <a:gd name="T6" fmla="*/ 10 w 13"/>
                  <a:gd name="T7" fmla="*/ 5 h 28"/>
                  <a:gd name="T8" fmla="*/ 0 w 13"/>
                  <a:gd name="T9" fmla="*/ 0 h 28"/>
                  <a:gd name="T10" fmla="*/ 0 w 13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0" y="28"/>
                    </a:moveTo>
                    <a:lnTo>
                      <a:pt x="10" y="23"/>
                    </a:lnTo>
                    <a:lnTo>
                      <a:pt x="13" y="14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87" name="Freeform 1284"/>
              <p:cNvSpPr>
                <a:spLocks/>
              </p:cNvSpPr>
              <p:nvPr/>
            </p:nvSpPr>
            <p:spPr bwMode="auto">
              <a:xfrm>
                <a:off x="8916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88" name="Freeform 1285"/>
              <p:cNvSpPr>
                <a:spLocks/>
              </p:cNvSpPr>
              <p:nvPr/>
            </p:nvSpPr>
            <p:spPr bwMode="auto">
              <a:xfrm>
                <a:off x="8923" y="9619"/>
                <a:ext cx="72" cy="13"/>
              </a:xfrm>
              <a:custGeom>
                <a:avLst/>
                <a:gdLst>
                  <a:gd name="T0" fmla="*/ 144 w 144"/>
                  <a:gd name="T1" fmla="*/ 14 h 28"/>
                  <a:gd name="T2" fmla="*/ 144 w 144"/>
                  <a:gd name="T3" fmla="*/ 0 h 28"/>
                  <a:gd name="T4" fmla="*/ 0 w 144"/>
                  <a:gd name="T5" fmla="*/ 0 h 28"/>
                  <a:gd name="T6" fmla="*/ 0 w 144"/>
                  <a:gd name="T7" fmla="*/ 28 h 28"/>
                  <a:gd name="T8" fmla="*/ 144 w 144"/>
                  <a:gd name="T9" fmla="*/ 28 h 28"/>
                  <a:gd name="T10" fmla="*/ 144 w 144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4"/>
                  <a:gd name="T19" fmla="*/ 0 h 28"/>
                  <a:gd name="T20" fmla="*/ 144 w 14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4" h="28">
                    <a:moveTo>
                      <a:pt x="144" y="14"/>
                    </a:moveTo>
                    <a:lnTo>
                      <a:pt x="144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44" y="28"/>
                    </a:lnTo>
                    <a:lnTo>
                      <a:pt x="144" y="14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89" name="Freeform 1286"/>
              <p:cNvSpPr>
                <a:spLocks/>
              </p:cNvSpPr>
              <p:nvPr/>
            </p:nvSpPr>
            <p:spPr bwMode="auto">
              <a:xfrm>
                <a:off x="8995" y="9619"/>
                <a:ext cx="7" cy="13"/>
              </a:xfrm>
              <a:custGeom>
                <a:avLst/>
                <a:gdLst>
                  <a:gd name="T0" fmla="*/ 0 w 13"/>
                  <a:gd name="T1" fmla="*/ 28 h 28"/>
                  <a:gd name="T2" fmla="*/ 10 w 13"/>
                  <a:gd name="T3" fmla="*/ 23 h 28"/>
                  <a:gd name="T4" fmla="*/ 13 w 13"/>
                  <a:gd name="T5" fmla="*/ 14 h 28"/>
                  <a:gd name="T6" fmla="*/ 10 w 13"/>
                  <a:gd name="T7" fmla="*/ 5 h 28"/>
                  <a:gd name="T8" fmla="*/ 0 w 13"/>
                  <a:gd name="T9" fmla="*/ 0 h 28"/>
                  <a:gd name="T10" fmla="*/ 0 w 13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0" y="28"/>
                    </a:moveTo>
                    <a:lnTo>
                      <a:pt x="10" y="23"/>
                    </a:lnTo>
                    <a:lnTo>
                      <a:pt x="13" y="14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90" name="Freeform 1287"/>
              <p:cNvSpPr>
                <a:spLocks/>
              </p:cNvSpPr>
              <p:nvPr/>
            </p:nvSpPr>
            <p:spPr bwMode="auto">
              <a:xfrm>
                <a:off x="8921" y="9619"/>
                <a:ext cx="7" cy="13"/>
              </a:xfrm>
              <a:custGeom>
                <a:avLst/>
                <a:gdLst>
                  <a:gd name="T0" fmla="*/ 13 w 13"/>
                  <a:gd name="T1" fmla="*/ 0 h 28"/>
                  <a:gd name="T2" fmla="*/ 3 w 13"/>
                  <a:gd name="T3" fmla="*/ 5 h 28"/>
                  <a:gd name="T4" fmla="*/ 0 w 13"/>
                  <a:gd name="T5" fmla="*/ 14 h 28"/>
                  <a:gd name="T6" fmla="*/ 3 w 13"/>
                  <a:gd name="T7" fmla="*/ 23 h 28"/>
                  <a:gd name="T8" fmla="*/ 13 w 13"/>
                  <a:gd name="T9" fmla="*/ 28 h 28"/>
                  <a:gd name="T10" fmla="*/ 13 w 13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13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8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91" name="Freeform 1288"/>
              <p:cNvSpPr>
                <a:spLocks/>
              </p:cNvSpPr>
              <p:nvPr/>
            </p:nvSpPr>
            <p:spPr bwMode="auto">
              <a:xfrm>
                <a:off x="8928" y="9619"/>
                <a:ext cx="62" cy="13"/>
              </a:xfrm>
              <a:custGeom>
                <a:avLst/>
                <a:gdLst>
                  <a:gd name="T0" fmla="*/ 125 w 125"/>
                  <a:gd name="T1" fmla="*/ 14 h 28"/>
                  <a:gd name="T2" fmla="*/ 125 w 125"/>
                  <a:gd name="T3" fmla="*/ 0 h 28"/>
                  <a:gd name="T4" fmla="*/ 0 w 125"/>
                  <a:gd name="T5" fmla="*/ 0 h 28"/>
                  <a:gd name="T6" fmla="*/ 0 w 125"/>
                  <a:gd name="T7" fmla="*/ 28 h 28"/>
                  <a:gd name="T8" fmla="*/ 125 w 125"/>
                  <a:gd name="T9" fmla="*/ 28 h 28"/>
                  <a:gd name="T10" fmla="*/ 125 w 125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5"/>
                  <a:gd name="T19" fmla="*/ 0 h 28"/>
                  <a:gd name="T20" fmla="*/ 125 w 125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5" h="28">
                    <a:moveTo>
                      <a:pt x="125" y="14"/>
                    </a:moveTo>
                    <a:lnTo>
                      <a:pt x="125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25" y="28"/>
                    </a:lnTo>
                    <a:lnTo>
                      <a:pt x="125" y="14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92" name="Freeform 1289"/>
              <p:cNvSpPr>
                <a:spLocks/>
              </p:cNvSpPr>
              <p:nvPr/>
            </p:nvSpPr>
            <p:spPr bwMode="auto">
              <a:xfrm>
                <a:off x="8990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93" name="Freeform 1290"/>
              <p:cNvSpPr>
                <a:spLocks/>
              </p:cNvSpPr>
              <p:nvPr/>
            </p:nvSpPr>
            <p:spPr bwMode="auto">
              <a:xfrm>
                <a:off x="8926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94" name="Freeform 1291"/>
              <p:cNvSpPr>
                <a:spLocks/>
              </p:cNvSpPr>
              <p:nvPr/>
            </p:nvSpPr>
            <p:spPr bwMode="auto">
              <a:xfrm>
                <a:off x="8933" y="9619"/>
                <a:ext cx="53" cy="13"/>
              </a:xfrm>
              <a:custGeom>
                <a:avLst/>
                <a:gdLst>
                  <a:gd name="T0" fmla="*/ 105 w 105"/>
                  <a:gd name="T1" fmla="*/ 14 h 28"/>
                  <a:gd name="T2" fmla="*/ 105 w 105"/>
                  <a:gd name="T3" fmla="*/ 0 h 28"/>
                  <a:gd name="T4" fmla="*/ 0 w 105"/>
                  <a:gd name="T5" fmla="*/ 0 h 28"/>
                  <a:gd name="T6" fmla="*/ 0 w 105"/>
                  <a:gd name="T7" fmla="*/ 28 h 28"/>
                  <a:gd name="T8" fmla="*/ 105 w 105"/>
                  <a:gd name="T9" fmla="*/ 28 h 28"/>
                  <a:gd name="T10" fmla="*/ 105 w 105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5"/>
                  <a:gd name="T19" fmla="*/ 0 h 28"/>
                  <a:gd name="T20" fmla="*/ 105 w 105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5" h="28">
                    <a:moveTo>
                      <a:pt x="105" y="14"/>
                    </a:moveTo>
                    <a:lnTo>
                      <a:pt x="105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05" y="28"/>
                    </a:lnTo>
                    <a:lnTo>
                      <a:pt x="105" y="14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95" name="Freeform 1292"/>
              <p:cNvSpPr>
                <a:spLocks/>
              </p:cNvSpPr>
              <p:nvPr/>
            </p:nvSpPr>
            <p:spPr bwMode="auto">
              <a:xfrm>
                <a:off x="8986" y="9619"/>
                <a:ext cx="6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96" name="Freeform 1293"/>
              <p:cNvSpPr>
                <a:spLocks/>
              </p:cNvSpPr>
              <p:nvPr/>
            </p:nvSpPr>
            <p:spPr bwMode="auto">
              <a:xfrm>
                <a:off x="8931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97" name="Freeform 1294"/>
              <p:cNvSpPr>
                <a:spLocks/>
              </p:cNvSpPr>
              <p:nvPr/>
            </p:nvSpPr>
            <p:spPr bwMode="auto">
              <a:xfrm>
                <a:off x="8938" y="9619"/>
                <a:ext cx="43" cy="13"/>
              </a:xfrm>
              <a:custGeom>
                <a:avLst/>
                <a:gdLst>
                  <a:gd name="T0" fmla="*/ 87 w 87"/>
                  <a:gd name="T1" fmla="*/ 14 h 28"/>
                  <a:gd name="T2" fmla="*/ 87 w 87"/>
                  <a:gd name="T3" fmla="*/ 0 h 28"/>
                  <a:gd name="T4" fmla="*/ 0 w 87"/>
                  <a:gd name="T5" fmla="*/ 0 h 28"/>
                  <a:gd name="T6" fmla="*/ 0 w 87"/>
                  <a:gd name="T7" fmla="*/ 28 h 28"/>
                  <a:gd name="T8" fmla="*/ 87 w 87"/>
                  <a:gd name="T9" fmla="*/ 28 h 28"/>
                  <a:gd name="T10" fmla="*/ 87 w 87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7"/>
                  <a:gd name="T19" fmla="*/ 0 h 28"/>
                  <a:gd name="T20" fmla="*/ 87 w 87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7" h="28">
                    <a:moveTo>
                      <a:pt x="87" y="14"/>
                    </a:moveTo>
                    <a:lnTo>
                      <a:pt x="87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87" y="28"/>
                    </a:lnTo>
                    <a:lnTo>
                      <a:pt x="87" y="14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98" name="Freeform 1295"/>
              <p:cNvSpPr>
                <a:spLocks/>
              </p:cNvSpPr>
              <p:nvPr/>
            </p:nvSpPr>
            <p:spPr bwMode="auto">
              <a:xfrm>
                <a:off x="8981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899" name="Freeform 1296"/>
              <p:cNvSpPr>
                <a:spLocks/>
              </p:cNvSpPr>
              <p:nvPr/>
            </p:nvSpPr>
            <p:spPr bwMode="auto">
              <a:xfrm>
                <a:off x="8935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4 w 14"/>
                  <a:gd name="T3" fmla="*/ 5 h 28"/>
                  <a:gd name="T4" fmla="*/ 0 w 14"/>
                  <a:gd name="T5" fmla="*/ 14 h 28"/>
                  <a:gd name="T6" fmla="*/ 4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4" y="5"/>
                    </a:lnTo>
                    <a:lnTo>
                      <a:pt x="0" y="14"/>
                    </a:lnTo>
                    <a:lnTo>
                      <a:pt x="4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00" name="Freeform 1297"/>
              <p:cNvSpPr>
                <a:spLocks/>
              </p:cNvSpPr>
              <p:nvPr/>
            </p:nvSpPr>
            <p:spPr bwMode="auto">
              <a:xfrm>
                <a:off x="8942" y="9619"/>
                <a:ext cx="34" cy="13"/>
              </a:xfrm>
              <a:custGeom>
                <a:avLst/>
                <a:gdLst>
                  <a:gd name="T0" fmla="*/ 69 w 69"/>
                  <a:gd name="T1" fmla="*/ 14 h 28"/>
                  <a:gd name="T2" fmla="*/ 69 w 69"/>
                  <a:gd name="T3" fmla="*/ 0 h 28"/>
                  <a:gd name="T4" fmla="*/ 0 w 69"/>
                  <a:gd name="T5" fmla="*/ 0 h 28"/>
                  <a:gd name="T6" fmla="*/ 0 w 69"/>
                  <a:gd name="T7" fmla="*/ 28 h 28"/>
                  <a:gd name="T8" fmla="*/ 69 w 69"/>
                  <a:gd name="T9" fmla="*/ 28 h 28"/>
                  <a:gd name="T10" fmla="*/ 69 w 69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9"/>
                  <a:gd name="T19" fmla="*/ 0 h 28"/>
                  <a:gd name="T20" fmla="*/ 69 w 69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9" h="28">
                    <a:moveTo>
                      <a:pt x="69" y="14"/>
                    </a:moveTo>
                    <a:lnTo>
                      <a:pt x="69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69" y="28"/>
                    </a:lnTo>
                    <a:lnTo>
                      <a:pt x="69" y="14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01" name="Freeform 1298"/>
              <p:cNvSpPr>
                <a:spLocks/>
              </p:cNvSpPr>
              <p:nvPr/>
            </p:nvSpPr>
            <p:spPr bwMode="auto">
              <a:xfrm>
                <a:off x="8976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02" name="Freeform 1299"/>
              <p:cNvSpPr>
                <a:spLocks/>
              </p:cNvSpPr>
              <p:nvPr/>
            </p:nvSpPr>
            <p:spPr bwMode="auto">
              <a:xfrm>
                <a:off x="8940" y="9619"/>
                <a:ext cx="7" cy="13"/>
              </a:xfrm>
              <a:custGeom>
                <a:avLst/>
                <a:gdLst>
                  <a:gd name="T0" fmla="*/ 13 w 13"/>
                  <a:gd name="T1" fmla="*/ 0 h 28"/>
                  <a:gd name="T2" fmla="*/ 3 w 13"/>
                  <a:gd name="T3" fmla="*/ 5 h 28"/>
                  <a:gd name="T4" fmla="*/ 0 w 13"/>
                  <a:gd name="T5" fmla="*/ 14 h 28"/>
                  <a:gd name="T6" fmla="*/ 3 w 13"/>
                  <a:gd name="T7" fmla="*/ 23 h 28"/>
                  <a:gd name="T8" fmla="*/ 13 w 13"/>
                  <a:gd name="T9" fmla="*/ 28 h 28"/>
                  <a:gd name="T10" fmla="*/ 13 w 13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13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8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03" name="Freeform 1300"/>
              <p:cNvSpPr>
                <a:spLocks/>
              </p:cNvSpPr>
              <p:nvPr/>
            </p:nvSpPr>
            <p:spPr bwMode="auto">
              <a:xfrm>
                <a:off x="8947" y="9619"/>
                <a:ext cx="26" cy="13"/>
              </a:xfrm>
              <a:custGeom>
                <a:avLst/>
                <a:gdLst>
                  <a:gd name="T0" fmla="*/ 52 w 52"/>
                  <a:gd name="T1" fmla="*/ 14 h 28"/>
                  <a:gd name="T2" fmla="*/ 52 w 52"/>
                  <a:gd name="T3" fmla="*/ 0 h 28"/>
                  <a:gd name="T4" fmla="*/ 0 w 52"/>
                  <a:gd name="T5" fmla="*/ 0 h 28"/>
                  <a:gd name="T6" fmla="*/ 0 w 52"/>
                  <a:gd name="T7" fmla="*/ 28 h 28"/>
                  <a:gd name="T8" fmla="*/ 52 w 52"/>
                  <a:gd name="T9" fmla="*/ 28 h 28"/>
                  <a:gd name="T10" fmla="*/ 52 w 52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2"/>
                  <a:gd name="T19" fmla="*/ 0 h 28"/>
                  <a:gd name="T20" fmla="*/ 52 w 52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2" h="28">
                    <a:moveTo>
                      <a:pt x="52" y="14"/>
                    </a:moveTo>
                    <a:lnTo>
                      <a:pt x="52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52" y="28"/>
                    </a:lnTo>
                    <a:lnTo>
                      <a:pt x="52" y="14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04" name="Freeform 1301"/>
              <p:cNvSpPr>
                <a:spLocks/>
              </p:cNvSpPr>
              <p:nvPr/>
            </p:nvSpPr>
            <p:spPr bwMode="auto">
              <a:xfrm>
                <a:off x="8973" y="9619"/>
                <a:ext cx="6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05" name="Freeform 1302"/>
              <p:cNvSpPr>
                <a:spLocks/>
              </p:cNvSpPr>
              <p:nvPr/>
            </p:nvSpPr>
            <p:spPr bwMode="auto">
              <a:xfrm>
                <a:off x="8944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06" name="Freeform 1303"/>
              <p:cNvSpPr>
                <a:spLocks/>
              </p:cNvSpPr>
              <p:nvPr/>
            </p:nvSpPr>
            <p:spPr bwMode="auto">
              <a:xfrm>
                <a:off x="8951" y="9619"/>
                <a:ext cx="17" cy="13"/>
              </a:xfrm>
              <a:custGeom>
                <a:avLst/>
                <a:gdLst>
                  <a:gd name="T0" fmla="*/ 33 w 33"/>
                  <a:gd name="T1" fmla="*/ 14 h 28"/>
                  <a:gd name="T2" fmla="*/ 33 w 33"/>
                  <a:gd name="T3" fmla="*/ 0 h 28"/>
                  <a:gd name="T4" fmla="*/ 0 w 33"/>
                  <a:gd name="T5" fmla="*/ 0 h 28"/>
                  <a:gd name="T6" fmla="*/ 0 w 33"/>
                  <a:gd name="T7" fmla="*/ 28 h 28"/>
                  <a:gd name="T8" fmla="*/ 33 w 33"/>
                  <a:gd name="T9" fmla="*/ 28 h 28"/>
                  <a:gd name="T10" fmla="*/ 33 w 33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3"/>
                  <a:gd name="T19" fmla="*/ 0 h 28"/>
                  <a:gd name="T20" fmla="*/ 33 w 3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3" h="28">
                    <a:moveTo>
                      <a:pt x="33" y="14"/>
                    </a:moveTo>
                    <a:lnTo>
                      <a:pt x="33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33" y="28"/>
                    </a:lnTo>
                    <a:lnTo>
                      <a:pt x="33" y="14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07" name="Freeform 1304"/>
              <p:cNvSpPr>
                <a:spLocks/>
              </p:cNvSpPr>
              <p:nvPr/>
            </p:nvSpPr>
            <p:spPr bwMode="auto">
              <a:xfrm>
                <a:off x="8968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08" name="Freeform 1305"/>
              <p:cNvSpPr>
                <a:spLocks/>
              </p:cNvSpPr>
              <p:nvPr/>
            </p:nvSpPr>
            <p:spPr bwMode="auto">
              <a:xfrm>
                <a:off x="8949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09" name="Freeform 1306"/>
              <p:cNvSpPr>
                <a:spLocks/>
              </p:cNvSpPr>
              <p:nvPr/>
            </p:nvSpPr>
            <p:spPr bwMode="auto">
              <a:xfrm>
                <a:off x="8956" y="9619"/>
                <a:ext cx="7" cy="13"/>
              </a:xfrm>
              <a:custGeom>
                <a:avLst/>
                <a:gdLst>
                  <a:gd name="T0" fmla="*/ 15 w 15"/>
                  <a:gd name="T1" fmla="*/ 14 h 28"/>
                  <a:gd name="T2" fmla="*/ 15 w 15"/>
                  <a:gd name="T3" fmla="*/ 0 h 28"/>
                  <a:gd name="T4" fmla="*/ 0 w 15"/>
                  <a:gd name="T5" fmla="*/ 0 h 28"/>
                  <a:gd name="T6" fmla="*/ 0 w 15"/>
                  <a:gd name="T7" fmla="*/ 28 h 28"/>
                  <a:gd name="T8" fmla="*/ 15 w 15"/>
                  <a:gd name="T9" fmla="*/ 28 h 28"/>
                  <a:gd name="T10" fmla="*/ 15 w 15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8"/>
                  <a:gd name="T20" fmla="*/ 15 w 15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8">
                    <a:moveTo>
                      <a:pt x="15" y="14"/>
                    </a:moveTo>
                    <a:lnTo>
                      <a:pt x="15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5" y="28"/>
                    </a:lnTo>
                    <a:lnTo>
                      <a:pt x="15" y="1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10" name="Freeform 1307"/>
              <p:cNvSpPr>
                <a:spLocks/>
              </p:cNvSpPr>
              <p:nvPr/>
            </p:nvSpPr>
            <p:spPr bwMode="auto">
              <a:xfrm>
                <a:off x="8963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11" name="Freeform 1308"/>
              <p:cNvSpPr>
                <a:spLocks/>
              </p:cNvSpPr>
              <p:nvPr/>
            </p:nvSpPr>
            <p:spPr bwMode="auto">
              <a:xfrm>
                <a:off x="8889" y="9647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12" name="Freeform 1309"/>
              <p:cNvSpPr>
                <a:spLocks/>
              </p:cNvSpPr>
              <p:nvPr/>
            </p:nvSpPr>
            <p:spPr bwMode="auto">
              <a:xfrm>
                <a:off x="8896" y="9647"/>
                <a:ext cx="124" cy="13"/>
              </a:xfrm>
              <a:custGeom>
                <a:avLst/>
                <a:gdLst>
                  <a:gd name="T0" fmla="*/ 249 w 249"/>
                  <a:gd name="T1" fmla="*/ 14 h 28"/>
                  <a:gd name="T2" fmla="*/ 249 w 249"/>
                  <a:gd name="T3" fmla="*/ 0 h 28"/>
                  <a:gd name="T4" fmla="*/ 0 w 249"/>
                  <a:gd name="T5" fmla="*/ 0 h 28"/>
                  <a:gd name="T6" fmla="*/ 0 w 249"/>
                  <a:gd name="T7" fmla="*/ 28 h 28"/>
                  <a:gd name="T8" fmla="*/ 249 w 249"/>
                  <a:gd name="T9" fmla="*/ 28 h 28"/>
                  <a:gd name="T10" fmla="*/ 249 w 249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9"/>
                  <a:gd name="T19" fmla="*/ 0 h 28"/>
                  <a:gd name="T20" fmla="*/ 249 w 249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9" h="28">
                    <a:moveTo>
                      <a:pt x="249" y="14"/>
                    </a:moveTo>
                    <a:lnTo>
                      <a:pt x="249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49" y="28"/>
                    </a:lnTo>
                    <a:lnTo>
                      <a:pt x="249" y="14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13" name="Freeform 1310"/>
              <p:cNvSpPr>
                <a:spLocks/>
              </p:cNvSpPr>
              <p:nvPr/>
            </p:nvSpPr>
            <p:spPr bwMode="auto">
              <a:xfrm>
                <a:off x="9020" y="9647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14" name="Freeform 1311"/>
              <p:cNvSpPr>
                <a:spLocks/>
              </p:cNvSpPr>
              <p:nvPr/>
            </p:nvSpPr>
            <p:spPr bwMode="auto">
              <a:xfrm>
                <a:off x="8893" y="9647"/>
                <a:ext cx="7" cy="13"/>
              </a:xfrm>
              <a:custGeom>
                <a:avLst/>
                <a:gdLst>
                  <a:gd name="T0" fmla="*/ 13 w 13"/>
                  <a:gd name="T1" fmla="*/ 0 h 28"/>
                  <a:gd name="T2" fmla="*/ 3 w 13"/>
                  <a:gd name="T3" fmla="*/ 5 h 28"/>
                  <a:gd name="T4" fmla="*/ 0 w 13"/>
                  <a:gd name="T5" fmla="*/ 14 h 28"/>
                  <a:gd name="T6" fmla="*/ 3 w 13"/>
                  <a:gd name="T7" fmla="*/ 23 h 28"/>
                  <a:gd name="T8" fmla="*/ 13 w 13"/>
                  <a:gd name="T9" fmla="*/ 28 h 28"/>
                  <a:gd name="T10" fmla="*/ 13 w 13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13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8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15" name="Freeform 1312"/>
              <p:cNvSpPr>
                <a:spLocks/>
              </p:cNvSpPr>
              <p:nvPr/>
            </p:nvSpPr>
            <p:spPr bwMode="auto">
              <a:xfrm>
                <a:off x="8900" y="9647"/>
                <a:ext cx="116" cy="13"/>
              </a:xfrm>
              <a:custGeom>
                <a:avLst/>
                <a:gdLst>
                  <a:gd name="T0" fmla="*/ 232 w 232"/>
                  <a:gd name="T1" fmla="*/ 14 h 28"/>
                  <a:gd name="T2" fmla="*/ 232 w 232"/>
                  <a:gd name="T3" fmla="*/ 0 h 28"/>
                  <a:gd name="T4" fmla="*/ 0 w 232"/>
                  <a:gd name="T5" fmla="*/ 0 h 28"/>
                  <a:gd name="T6" fmla="*/ 0 w 232"/>
                  <a:gd name="T7" fmla="*/ 28 h 28"/>
                  <a:gd name="T8" fmla="*/ 232 w 232"/>
                  <a:gd name="T9" fmla="*/ 28 h 28"/>
                  <a:gd name="T10" fmla="*/ 232 w 232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2"/>
                  <a:gd name="T19" fmla="*/ 0 h 28"/>
                  <a:gd name="T20" fmla="*/ 232 w 232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2" h="28">
                    <a:moveTo>
                      <a:pt x="232" y="14"/>
                    </a:moveTo>
                    <a:lnTo>
                      <a:pt x="232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32" y="28"/>
                    </a:lnTo>
                    <a:lnTo>
                      <a:pt x="232" y="14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16" name="Freeform 1313"/>
              <p:cNvSpPr>
                <a:spLocks/>
              </p:cNvSpPr>
              <p:nvPr/>
            </p:nvSpPr>
            <p:spPr bwMode="auto">
              <a:xfrm>
                <a:off x="9016" y="9647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17" name="Freeform 1314"/>
              <p:cNvSpPr>
                <a:spLocks/>
              </p:cNvSpPr>
              <p:nvPr/>
            </p:nvSpPr>
            <p:spPr bwMode="auto">
              <a:xfrm>
                <a:off x="8898" y="9647"/>
                <a:ext cx="7" cy="13"/>
              </a:xfrm>
              <a:custGeom>
                <a:avLst/>
                <a:gdLst>
                  <a:gd name="T0" fmla="*/ 13 w 13"/>
                  <a:gd name="T1" fmla="*/ 0 h 28"/>
                  <a:gd name="T2" fmla="*/ 3 w 13"/>
                  <a:gd name="T3" fmla="*/ 5 h 28"/>
                  <a:gd name="T4" fmla="*/ 0 w 13"/>
                  <a:gd name="T5" fmla="*/ 14 h 28"/>
                  <a:gd name="T6" fmla="*/ 3 w 13"/>
                  <a:gd name="T7" fmla="*/ 23 h 28"/>
                  <a:gd name="T8" fmla="*/ 13 w 13"/>
                  <a:gd name="T9" fmla="*/ 28 h 28"/>
                  <a:gd name="T10" fmla="*/ 13 w 13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13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8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18" name="Freeform 1315"/>
              <p:cNvSpPr>
                <a:spLocks/>
              </p:cNvSpPr>
              <p:nvPr/>
            </p:nvSpPr>
            <p:spPr bwMode="auto">
              <a:xfrm>
                <a:off x="8905" y="9647"/>
                <a:ext cx="107" cy="13"/>
              </a:xfrm>
              <a:custGeom>
                <a:avLst/>
                <a:gdLst>
                  <a:gd name="T0" fmla="*/ 214 w 214"/>
                  <a:gd name="T1" fmla="*/ 14 h 28"/>
                  <a:gd name="T2" fmla="*/ 214 w 214"/>
                  <a:gd name="T3" fmla="*/ 0 h 28"/>
                  <a:gd name="T4" fmla="*/ 0 w 214"/>
                  <a:gd name="T5" fmla="*/ 0 h 28"/>
                  <a:gd name="T6" fmla="*/ 0 w 214"/>
                  <a:gd name="T7" fmla="*/ 28 h 28"/>
                  <a:gd name="T8" fmla="*/ 214 w 214"/>
                  <a:gd name="T9" fmla="*/ 28 h 28"/>
                  <a:gd name="T10" fmla="*/ 214 w 214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4"/>
                  <a:gd name="T19" fmla="*/ 0 h 28"/>
                  <a:gd name="T20" fmla="*/ 214 w 2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4" h="28">
                    <a:moveTo>
                      <a:pt x="214" y="14"/>
                    </a:moveTo>
                    <a:lnTo>
                      <a:pt x="214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14" y="28"/>
                    </a:lnTo>
                    <a:lnTo>
                      <a:pt x="214" y="14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19" name="Freeform 1316"/>
              <p:cNvSpPr>
                <a:spLocks/>
              </p:cNvSpPr>
              <p:nvPr/>
            </p:nvSpPr>
            <p:spPr bwMode="auto">
              <a:xfrm>
                <a:off x="9012" y="9647"/>
                <a:ext cx="6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20" name="Freeform 1317"/>
              <p:cNvSpPr>
                <a:spLocks/>
              </p:cNvSpPr>
              <p:nvPr/>
            </p:nvSpPr>
            <p:spPr bwMode="auto">
              <a:xfrm>
                <a:off x="8902" y="9647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21" name="Freeform 1318"/>
              <p:cNvSpPr>
                <a:spLocks/>
              </p:cNvSpPr>
              <p:nvPr/>
            </p:nvSpPr>
            <p:spPr bwMode="auto">
              <a:xfrm>
                <a:off x="8909" y="9647"/>
                <a:ext cx="98" cy="13"/>
              </a:xfrm>
              <a:custGeom>
                <a:avLst/>
                <a:gdLst>
                  <a:gd name="T0" fmla="*/ 195 w 195"/>
                  <a:gd name="T1" fmla="*/ 14 h 28"/>
                  <a:gd name="T2" fmla="*/ 195 w 195"/>
                  <a:gd name="T3" fmla="*/ 0 h 28"/>
                  <a:gd name="T4" fmla="*/ 0 w 195"/>
                  <a:gd name="T5" fmla="*/ 0 h 28"/>
                  <a:gd name="T6" fmla="*/ 0 w 195"/>
                  <a:gd name="T7" fmla="*/ 28 h 28"/>
                  <a:gd name="T8" fmla="*/ 195 w 195"/>
                  <a:gd name="T9" fmla="*/ 28 h 28"/>
                  <a:gd name="T10" fmla="*/ 195 w 195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5"/>
                  <a:gd name="T19" fmla="*/ 0 h 28"/>
                  <a:gd name="T20" fmla="*/ 195 w 195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5" h="28">
                    <a:moveTo>
                      <a:pt x="195" y="14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95" y="28"/>
                    </a:lnTo>
                    <a:lnTo>
                      <a:pt x="195" y="14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22" name="Freeform 1319"/>
              <p:cNvSpPr>
                <a:spLocks/>
              </p:cNvSpPr>
              <p:nvPr/>
            </p:nvSpPr>
            <p:spPr bwMode="auto">
              <a:xfrm>
                <a:off x="9007" y="9647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23" name="Freeform 1320"/>
              <p:cNvSpPr>
                <a:spLocks/>
              </p:cNvSpPr>
              <p:nvPr/>
            </p:nvSpPr>
            <p:spPr bwMode="auto">
              <a:xfrm>
                <a:off x="8907" y="9647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24" name="Freeform 1321"/>
              <p:cNvSpPr>
                <a:spLocks/>
              </p:cNvSpPr>
              <p:nvPr/>
            </p:nvSpPr>
            <p:spPr bwMode="auto">
              <a:xfrm>
                <a:off x="8914" y="9647"/>
                <a:ext cx="88" cy="13"/>
              </a:xfrm>
              <a:custGeom>
                <a:avLst/>
                <a:gdLst>
                  <a:gd name="T0" fmla="*/ 177 w 177"/>
                  <a:gd name="T1" fmla="*/ 14 h 28"/>
                  <a:gd name="T2" fmla="*/ 177 w 177"/>
                  <a:gd name="T3" fmla="*/ 0 h 28"/>
                  <a:gd name="T4" fmla="*/ 0 w 177"/>
                  <a:gd name="T5" fmla="*/ 0 h 28"/>
                  <a:gd name="T6" fmla="*/ 0 w 177"/>
                  <a:gd name="T7" fmla="*/ 28 h 28"/>
                  <a:gd name="T8" fmla="*/ 177 w 177"/>
                  <a:gd name="T9" fmla="*/ 28 h 28"/>
                  <a:gd name="T10" fmla="*/ 177 w 177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7"/>
                  <a:gd name="T19" fmla="*/ 0 h 28"/>
                  <a:gd name="T20" fmla="*/ 177 w 177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7" h="28">
                    <a:moveTo>
                      <a:pt x="177" y="14"/>
                    </a:moveTo>
                    <a:lnTo>
                      <a:pt x="177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77" y="28"/>
                    </a:lnTo>
                    <a:lnTo>
                      <a:pt x="177" y="14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25" name="Freeform 1322"/>
              <p:cNvSpPr>
                <a:spLocks/>
              </p:cNvSpPr>
              <p:nvPr/>
            </p:nvSpPr>
            <p:spPr bwMode="auto">
              <a:xfrm>
                <a:off x="9002" y="9647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0 w 14"/>
                  <a:gd name="T3" fmla="*/ 23 h 28"/>
                  <a:gd name="T4" fmla="*/ 14 w 14"/>
                  <a:gd name="T5" fmla="*/ 14 h 28"/>
                  <a:gd name="T6" fmla="*/ 10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0" y="23"/>
                    </a:lnTo>
                    <a:lnTo>
                      <a:pt x="14" y="14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926" name="Freeform 1323"/>
              <p:cNvSpPr>
                <a:spLocks/>
              </p:cNvSpPr>
              <p:nvPr/>
            </p:nvSpPr>
            <p:spPr bwMode="auto">
              <a:xfrm>
                <a:off x="8912" y="9647"/>
                <a:ext cx="6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4592" name="Freeform 1324"/>
            <p:cNvSpPr>
              <a:spLocks/>
            </p:cNvSpPr>
            <p:nvPr/>
          </p:nvSpPr>
          <p:spPr bwMode="auto">
            <a:xfrm>
              <a:off x="8918" y="9647"/>
              <a:ext cx="80" cy="13"/>
            </a:xfrm>
            <a:custGeom>
              <a:avLst/>
              <a:gdLst>
                <a:gd name="T0" fmla="*/ 159 w 159"/>
                <a:gd name="T1" fmla="*/ 14 h 28"/>
                <a:gd name="T2" fmla="*/ 159 w 159"/>
                <a:gd name="T3" fmla="*/ 0 h 28"/>
                <a:gd name="T4" fmla="*/ 0 w 159"/>
                <a:gd name="T5" fmla="*/ 0 h 28"/>
                <a:gd name="T6" fmla="*/ 0 w 159"/>
                <a:gd name="T7" fmla="*/ 28 h 28"/>
                <a:gd name="T8" fmla="*/ 159 w 159"/>
                <a:gd name="T9" fmla="*/ 28 h 28"/>
                <a:gd name="T10" fmla="*/ 159 w 159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28"/>
                <a:gd name="T20" fmla="*/ 159 w 159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28">
                  <a:moveTo>
                    <a:pt x="159" y="14"/>
                  </a:moveTo>
                  <a:lnTo>
                    <a:pt x="159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159" y="28"/>
                  </a:lnTo>
                  <a:lnTo>
                    <a:pt x="159" y="14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593" name="Freeform 1325"/>
            <p:cNvSpPr>
              <a:spLocks/>
            </p:cNvSpPr>
            <p:nvPr/>
          </p:nvSpPr>
          <p:spPr bwMode="auto">
            <a:xfrm>
              <a:off x="8998" y="9647"/>
              <a:ext cx="7" cy="13"/>
            </a:xfrm>
            <a:custGeom>
              <a:avLst/>
              <a:gdLst>
                <a:gd name="T0" fmla="*/ 0 w 13"/>
                <a:gd name="T1" fmla="*/ 28 h 28"/>
                <a:gd name="T2" fmla="*/ 10 w 13"/>
                <a:gd name="T3" fmla="*/ 23 h 28"/>
                <a:gd name="T4" fmla="*/ 13 w 13"/>
                <a:gd name="T5" fmla="*/ 14 h 28"/>
                <a:gd name="T6" fmla="*/ 10 w 13"/>
                <a:gd name="T7" fmla="*/ 5 h 28"/>
                <a:gd name="T8" fmla="*/ 0 w 13"/>
                <a:gd name="T9" fmla="*/ 0 h 28"/>
                <a:gd name="T10" fmla="*/ 0 w 13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28"/>
                <a:gd name="T20" fmla="*/ 13 w 13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28">
                  <a:moveTo>
                    <a:pt x="0" y="28"/>
                  </a:moveTo>
                  <a:lnTo>
                    <a:pt x="10" y="23"/>
                  </a:lnTo>
                  <a:lnTo>
                    <a:pt x="13" y="14"/>
                  </a:lnTo>
                  <a:lnTo>
                    <a:pt x="10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594" name="Freeform 1326"/>
            <p:cNvSpPr>
              <a:spLocks/>
            </p:cNvSpPr>
            <p:nvPr/>
          </p:nvSpPr>
          <p:spPr bwMode="auto">
            <a:xfrm>
              <a:off x="8916" y="9647"/>
              <a:ext cx="7" cy="13"/>
            </a:xfrm>
            <a:custGeom>
              <a:avLst/>
              <a:gdLst>
                <a:gd name="T0" fmla="*/ 14 w 14"/>
                <a:gd name="T1" fmla="*/ 0 h 28"/>
                <a:gd name="T2" fmla="*/ 3 w 14"/>
                <a:gd name="T3" fmla="*/ 5 h 28"/>
                <a:gd name="T4" fmla="*/ 0 w 14"/>
                <a:gd name="T5" fmla="*/ 14 h 28"/>
                <a:gd name="T6" fmla="*/ 3 w 14"/>
                <a:gd name="T7" fmla="*/ 23 h 28"/>
                <a:gd name="T8" fmla="*/ 14 w 14"/>
                <a:gd name="T9" fmla="*/ 28 h 28"/>
                <a:gd name="T10" fmla="*/ 14 w 14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14" y="0"/>
                  </a:moveTo>
                  <a:lnTo>
                    <a:pt x="3" y="5"/>
                  </a:lnTo>
                  <a:lnTo>
                    <a:pt x="0" y="14"/>
                  </a:lnTo>
                  <a:lnTo>
                    <a:pt x="3" y="23"/>
                  </a:lnTo>
                  <a:lnTo>
                    <a:pt x="14" y="2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595" name="Freeform 1327"/>
            <p:cNvSpPr>
              <a:spLocks/>
            </p:cNvSpPr>
            <p:nvPr/>
          </p:nvSpPr>
          <p:spPr bwMode="auto">
            <a:xfrm>
              <a:off x="8923" y="9647"/>
              <a:ext cx="72" cy="13"/>
            </a:xfrm>
            <a:custGeom>
              <a:avLst/>
              <a:gdLst>
                <a:gd name="T0" fmla="*/ 144 w 144"/>
                <a:gd name="T1" fmla="*/ 14 h 28"/>
                <a:gd name="T2" fmla="*/ 144 w 144"/>
                <a:gd name="T3" fmla="*/ 0 h 28"/>
                <a:gd name="T4" fmla="*/ 0 w 144"/>
                <a:gd name="T5" fmla="*/ 0 h 28"/>
                <a:gd name="T6" fmla="*/ 0 w 144"/>
                <a:gd name="T7" fmla="*/ 28 h 28"/>
                <a:gd name="T8" fmla="*/ 144 w 144"/>
                <a:gd name="T9" fmla="*/ 28 h 28"/>
                <a:gd name="T10" fmla="*/ 144 w 144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4"/>
                <a:gd name="T19" fmla="*/ 0 h 28"/>
                <a:gd name="T20" fmla="*/ 144 w 14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4" h="28">
                  <a:moveTo>
                    <a:pt x="144" y="14"/>
                  </a:moveTo>
                  <a:lnTo>
                    <a:pt x="144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144" y="28"/>
                  </a:lnTo>
                  <a:lnTo>
                    <a:pt x="144" y="14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596" name="Freeform 1328"/>
            <p:cNvSpPr>
              <a:spLocks/>
            </p:cNvSpPr>
            <p:nvPr/>
          </p:nvSpPr>
          <p:spPr bwMode="auto">
            <a:xfrm>
              <a:off x="8995" y="9647"/>
              <a:ext cx="7" cy="13"/>
            </a:xfrm>
            <a:custGeom>
              <a:avLst/>
              <a:gdLst>
                <a:gd name="T0" fmla="*/ 0 w 13"/>
                <a:gd name="T1" fmla="*/ 28 h 28"/>
                <a:gd name="T2" fmla="*/ 10 w 13"/>
                <a:gd name="T3" fmla="*/ 23 h 28"/>
                <a:gd name="T4" fmla="*/ 13 w 13"/>
                <a:gd name="T5" fmla="*/ 14 h 28"/>
                <a:gd name="T6" fmla="*/ 10 w 13"/>
                <a:gd name="T7" fmla="*/ 5 h 28"/>
                <a:gd name="T8" fmla="*/ 0 w 13"/>
                <a:gd name="T9" fmla="*/ 0 h 28"/>
                <a:gd name="T10" fmla="*/ 0 w 13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28"/>
                <a:gd name="T20" fmla="*/ 13 w 13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28">
                  <a:moveTo>
                    <a:pt x="0" y="28"/>
                  </a:moveTo>
                  <a:lnTo>
                    <a:pt x="10" y="23"/>
                  </a:lnTo>
                  <a:lnTo>
                    <a:pt x="13" y="14"/>
                  </a:lnTo>
                  <a:lnTo>
                    <a:pt x="10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597" name="Freeform 1329"/>
            <p:cNvSpPr>
              <a:spLocks/>
            </p:cNvSpPr>
            <p:nvPr/>
          </p:nvSpPr>
          <p:spPr bwMode="auto">
            <a:xfrm>
              <a:off x="8921" y="9647"/>
              <a:ext cx="7" cy="13"/>
            </a:xfrm>
            <a:custGeom>
              <a:avLst/>
              <a:gdLst>
                <a:gd name="T0" fmla="*/ 13 w 13"/>
                <a:gd name="T1" fmla="*/ 0 h 28"/>
                <a:gd name="T2" fmla="*/ 3 w 13"/>
                <a:gd name="T3" fmla="*/ 5 h 28"/>
                <a:gd name="T4" fmla="*/ 0 w 13"/>
                <a:gd name="T5" fmla="*/ 14 h 28"/>
                <a:gd name="T6" fmla="*/ 3 w 13"/>
                <a:gd name="T7" fmla="*/ 23 h 28"/>
                <a:gd name="T8" fmla="*/ 13 w 13"/>
                <a:gd name="T9" fmla="*/ 28 h 28"/>
                <a:gd name="T10" fmla="*/ 13 w 13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28"/>
                <a:gd name="T20" fmla="*/ 13 w 13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28">
                  <a:moveTo>
                    <a:pt x="13" y="0"/>
                  </a:moveTo>
                  <a:lnTo>
                    <a:pt x="3" y="5"/>
                  </a:lnTo>
                  <a:lnTo>
                    <a:pt x="0" y="14"/>
                  </a:lnTo>
                  <a:lnTo>
                    <a:pt x="3" y="23"/>
                  </a:lnTo>
                  <a:lnTo>
                    <a:pt x="13" y="28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598" name="Freeform 1330"/>
            <p:cNvSpPr>
              <a:spLocks/>
            </p:cNvSpPr>
            <p:nvPr/>
          </p:nvSpPr>
          <p:spPr bwMode="auto">
            <a:xfrm>
              <a:off x="8928" y="9647"/>
              <a:ext cx="62" cy="13"/>
            </a:xfrm>
            <a:custGeom>
              <a:avLst/>
              <a:gdLst>
                <a:gd name="T0" fmla="*/ 125 w 125"/>
                <a:gd name="T1" fmla="*/ 14 h 28"/>
                <a:gd name="T2" fmla="*/ 125 w 125"/>
                <a:gd name="T3" fmla="*/ 0 h 28"/>
                <a:gd name="T4" fmla="*/ 0 w 125"/>
                <a:gd name="T5" fmla="*/ 0 h 28"/>
                <a:gd name="T6" fmla="*/ 0 w 125"/>
                <a:gd name="T7" fmla="*/ 28 h 28"/>
                <a:gd name="T8" fmla="*/ 125 w 125"/>
                <a:gd name="T9" fmla="*/ 28 h 28"/>
                <a:gd name="T10" fmla="*/ 125 w 125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5"/>
                <a:gd name="T19" fmla="*/ 0 h 28"/>
                <a:gd name="T20" fmla="*/ 125 w 125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5" h="28">
                  <a:moveTo>
                    <a:pt x="125" y="14"/>
                  </a:moveTo>
                  <a:lnTo>
                    <a:pt x="125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125" y="28"/>
                  </a:lnTo>
                  <a:lnTo>
                    <a:pt x="125" y="14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599" name="Freeform 1331"/>
            <p:cNvSpPr>
              <a:spLocks/>
            </p:cNvSpPr>
            <p:nvPr/>
          </p:nvSpPr>
          <p:spPr bwMode="auto">
            <a:xfrm>
              <a:off x="8990" y="9647"/>
              <a:ext cx="7" cy="13"/>
            </a:xfrm>
            <a:custGeom>
              <a:avLst/>
              <a:gdLst>
                <a:gd name="T0" fmla="*/ 0 w 14"/>
                <a:gd name="T1" fmla="*/ 28 h 28"/>
                <a:gd name="T2" fmla="*/ 11 w 14"/>
                <a:gd name="T3" fmla="*/ 23 h 28"/>
                <a:gd name="T4" fmla="*/ 14 w 14"/>
                <a:gd name="T5" fmla="*/ 14 h 28"/>
                <a:gd name="T6" fmla="*/ 11 w 14"/>
                <a:gd name="T7" fmla="*/ 5 h 28"/>
                <a:gd name="T8" fmla="*/ 0 w 14"/>
                <a:gd name="T9" fmla="*/ 0 h 28"/>
                <a:gd name="T10" fmla="*/ 0 w 14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0" y="28"/>
                  </a:moveTo>
                  <a:lnTo>
                    <a:pt x="11" y="23"/>
                  </a:lnTo>
                  <a:lnTo>
                    <a:pt x="14" y="14"/>
                  </a:lnTo>
                  <a:lnTo>
                    <a:pt x="11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00" name="Freeform 1332"/>
            <p:cNvSpPr>
              <a:spLocks/>
            </p:cNvSpPr>
            <p:nvPr/>
          </p:nvSpPr>
          <p:spPr bwMode="auto">
            <a:xfrm>
              <a:off x="8926" y="9647"/>
              <a:ext cx="7" cy="13"/>
            </a:xfrm>
            <a:custGeom>
              <a:avLst/>
              <a:gdLst>
                <a:gd name="T0" fmla="*/ 14 w 14"/>
                <a:gd name="T1" fmla="*/ 0 h 28"/>
                <a:gd name="T2" fmla="*/ 3 w 14"/>
                <a:gd name="T3" fmla="*/ 5 h 28"/>
                <a:gd name="T4" fmla="*/ 0 w 14"/>
                <a:gd name="T5" fmla="*/ 14 h 28"/>
                <a:gd name="T6" fmla="*/ 3 w 14"/>
                <a:gd name="T7" fmla="*/ 23 h 28"/>
                <a:gd name="T8" fmla="*/ 14 w 14"/>
                <a:gd name="T9" fmla="*/ 28 h 28"/>
                <a:gd name="T10" fmla="*/ 14 w 14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14" y="0"/>
                  </a:moveTo>
                  <a:lnTo>
                    <a:pt x="3" y="5"/>
                  </a:lnTo>
                  <a:lnTo>
                    <a:pt x="0" y="14"/>
                  </a:lnTo>
                  <a:lnTo>
                    <a:pt x="3" y="23"/>
                  </a:lnTo>
                  <a:lnTo>
                    <a:pt x="14" y="2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BFBFB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01" name="Freeform 1333"/>
            <p:cNvSpPr>
              <a:spLocks/>
            </p:cNvSpPr>
            <p:nvPr/>
          </p:nvSpPr>
          <p:spPr bwMode="auto">
            <a:xfrm>
              <a:off x="8933" y="9647"/>
              <a:ext cx="53" cy="13"/>
            </a:xfrm>
            <a:custGeom>
              <a:avLst/>
              <a:gdLst>
                <a:gd name="T0" fmla="*/ 105 w 105"/>
                <a:gd name="T1" fmla="*/ 14 h 28"/>
                <a:gd name="T2" fmla="*/ 105 w 105"/>
                <a:gd name="T3" fmla="*/ 0 h 28"/>
                <a:gd name="T4" fmla="*/ 0 w 105"/>
                <a:gd name="T5" fmla="*/ 0 h 28"/>
                <a:gd name="T6" fmla="*/ 0 w 105"/>
                <a:gd name="T7" fmla="*/ 28 h 28"/>
                <a:gd name="T8" fmla="*/ 105 w 105"/>
                <a:gd name="T9" fmla="*/ 28 h 28"/>
                <a:gd name="T10" fmla="*/ 105 w 105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5"/>
                <a:gd name="T19" fmla="*/ 0 h 28"/>
                <a:gd name="T20" fmla="*/ 105 w 105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5" h="28">
                  <a:moveTo>
                    <a:pt x="105" y="14"/>
                  </a:moveTo>
                  <a:lnTo>
                    <a:pt x="105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105" y="28"/>
                  </a:lnTo>
                  <a:lnTo>
                    <a:pt x="105" y="14"/>
                  </a:lnTo>
                  <a:close/>
                </a:path>
              </a:pathLst>
            </a:custGeom>
            <a:solidFill>
              <a:srgbClr val="BFBFB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02" name="Freeform 1334"/>
            <p:cNvSpPr>
              <a:spLocks/>
            </p:cNvSpPr>
            <p:nvPr/>
          </p:nvSpPr>
          <p:spPr bwMode="auto">
            <a:xfrm>
              <a:off x="8986" y="9647"/>
              <a:ext cx="6" cy="13"/>
            </a:xfrm>
            <a:custGeom>
              <a:avLst/>
              <a:gdLst>
                <a:gd name="T0" fmla="*/ 0 w 14"/>
                <a:gd name="T1" fmla="*/ 28 h 28"/>
                <a:gd name="T2" fmla="*/ 11 w 14"/>
                <a:gd name="T3" fmla="*/ 23 h 28"/>
                <a:gd name="T4" fmla="*/ 14 w 14"/>
                <a:gd name="T5" fmla="*/ 14 h 28"/>
                <a:gd name="T6" fmla="*/ 11 w 14"/>
                <a:gd name="T7" fmla="*/ 5 h 28"/>
                <a:gd name="T8" fmla="*/ 0 w 14"/>
                <a:gd name="T9" fmla="*/ 0 h 28"/>
                <a:gd name="T10" fmla="*/ 0 w 14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0" y="28"/>
                  </a:moveTo>
                  <a:lnTo>
                    <a:pt x="11" y="23"/>
                  </a:lnTo>
                  <a:lnTo>
                    <a:pt x="14" y="14"/>
                  </a:lnTo>
                  <a:lnTo>
                    <a:pt x="11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BFBFB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03" name="Freeform 1335"/>
            <p:cNvSpPr>
              <a:spLocks/>
            </p:cNvSpPr>
            <p:nvPr/>
          </p:nvSpPr>
          <p:spPr bwMode="auto">
            <a:xfrm>
              <a:off x="8931" y="9647"/>
              <a:ext cx="7" cy="13"/>
            </a:xfrm>
            <a:custGeom>
              <a:avLst/>
              <a:gdLst>
                <a:gd name="T0" fmla="*/ 14 w 14"/>
                <a:gd name="T1" fmla="*/ 0 h 28"/>
                <a:gd name="T2" fmla="*/ 3 w 14"/>
                <a:gd name="T3" fmla="*/ 5 h 28"/>
                <a:gd name="T4" fmla="*/ 0 w 14"/>
                <a:gd name="T5" fmla="*/ 14 h 28"/>
                <a:gd name="T6" fmla="*/ 3 w 14"/>
                <a:gd name="T7" fmla="*/ 23 h 28"/>
                <a:gd name="T8" fmla="*/ 14 w 14"/>
                <a:gd name="T9" fmla="*/ 28 h 28"/>
                <a:gd name="T10" fmla="*/ 14 w 14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14" y="0"/>
                  </a:moveTo>
                  <a:lnTo>
                    <a:pt x="3" y="5"/>
                  </a:lnTo>
                  <a:lnTo>
                    <a:pt x="0" y="14"/>
                  </a:lnTo>
                  <a:lnTo>
                    <a:pt x="3" y="23"/>
                  </a:lnTo>
                  <a:lnTo>
                    <a:pt x="14" y="2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04" name="Freeform 1336"/>
            <p:cNvSpPr>
              <a:spLocks/>
            </p:cNvSpPr>
            <p:nvPr/>
          </p:nvSpPr>
          <p:spPr bwMode="auto">
            <a:xfrm>
              <a:off x="8938" y="9647"/>
              <a:ext cx="43" cy="13"/>
            </a:xfrm>
            <a:custGeom>
              <a:avLst/>
              <a:gdLst>
                <a:gd name="T0" fmla="*/ 87 w 87"/>
                <a:gd name="T1" fmla="*/ 14 h 28"/>
                <a:gd name="T2" fmla="*/ 87 w 87"/>
                <a:gd name="T3" fmla="*/ 0 h 28"/>
                <a:gd name="T4" fmla="*/ 0 w 87"/>
                <a:gd name="T5" fmla="*/ 0 h 28"/>
                <a:gd name="T6" fmla="*/ 0 w 87"/>
                <a:gd name="T7" fmla="*/ 28 h 28"/>
                <a:gd name="T8" fmla="*/ 87 w 87"/>
                <a:gd name="T9" fmla="*/ 28 h 28"/>
                <a:gd name="T10" fmla="*/ 87 w 87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7"/>
                <a:gd name="T19" fmla="*/ 0 h 28"/>
                <a:gd name="T20" fmla="*/ 87 w 87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7" h="28">
                  <a:moveTo>
                    <a:pt x="87" y="14"/>
                  </a:moveTo>
                  <a:lnTo>
                    <a:pt x="87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87" y="28"/>
                  </a:lnTo>
                  <a:lnTo>
                    <a:pt x="87" y="14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05" name="Freeform 1337"/>
            <p:cNvSpPr>
              <a:spLocks/>
            </p:cNvSpPr>
            <p:nvPr/>
          </p:nvSpPr>
          <p:spPr bwMode="auto">
            <a:xfrm>
              <a:off x="8981" y="9647"/>
              <a:ext cx="7" cy="13"/>
            </a:xfrm>
            <a:custGeom>
              <a:avLst/>
              <a:gdLst>
                <a:gd name="T0" fmla="*/ 0 w 14"/>
                <a:gd name="T1" fmla="*/ 28 h 28"/>
                <a:gd name="T2" fmla="*/ 11 w 14"/>
                <a:gd name="T3" fmla="*/ 23 h 28"/>
                <a:gd name="T4" fmla="*/ 14 w 14"/>
                <a:gd name="T5" fmla="*/ 14 h 28"/>
                <a:gd name="T6" fmla="*/ 11 w 14"/>
                <a:gd name="T7" fmla="*/ 5 h 28"/>
                <a:gd name="T8" fmla="*/ 0 w 14"/>
                <a:gd name="T9" fmla="*/ 0 h 28"/>
                <a:gd name="T10" fmla="*/ 0 w 14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0" y="28"/>
                  </a:moveTo>
                  <a:lnTo>
                    <a:pt x="11" y="23"/>
                  </a:lnTo>
                  <a:lnTo>
                    <a:pt x="14" y="14"/>
                  </a:lnTo>
                  <a:lnTo>
                    <a:pt x="11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06" name="Freeform 1338"/>
            <p:cNvSpPr>
              <a:spLocks/>
            </p:cNvSpPr>
            <p:nvPr/>
          </p:nvSpPr>
          <p:spPr bwMode="auto">
            <a:xfrm>
              <a:off x="8935" y="9647"/>
              <a:ext cx="7" cy="13"/>
            </a:xfrm>
            <a:custGeom>
              <a:avLst/>
              <a:gdLst>
                <a:gd name="T0" fmla="*/ 14 w 14"/>
                <a:gd name="T1" fmla="*/ 0 h 28"/>
                <a:gd name="T2" fmla="*/ 4 w 14"/>
                <a:gd name="T3" fmla="*/ 5 h 28"/>
                <a:gd name="T4" fmla="*/ 0 w 14"/>
                <a:gd name="T5" fmla="*/ 14 h 28"/>
                <a:gd name="T6" fmla="*/ 4 w 14"/>
                <a:gd name="T7" fmla="*/ 23 h 28"/>
                <a:gd name="T8" fmla="*/ 14 w 14"/>
                <a:gd name="T9" fmla="*/ 28 h 28"/>
                <a:gd name="T10" fmla="*/ 14 w 14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14" y="0"/>
                  </a:moveTo>
                  <a:lnTo>
                    <a:pt x="4" y="5"/>
                  </a:lnTo>
                  <a:lnTo>
                    <a:pt x="0" y="14"/>
                  </a:lnTo>
                  <a:lnTo>
                    <a:pt x="4" y="23"/>
                  </a:lnTo>
                  <a:lnTo>
                    <a:pt x="14" y="2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D8D8D8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07" name="Freeform 1339"/>
            <p:cNvSpPr>
              <a:spLocks/>
            </p:cNvSpPr>
            <p:nvPr/>
          </p:nvSpPr>
          <p:spPr bwMode="auto">
            <a:xfrm>
              <a:off x="8942" y="9647"/>
              <a:ext cx="34" cy="13"/>
            </a:xfrm>
            <a:custGeom>
              <a:avLst/>
              <a:gdLst>
                <a:gd name="T0" fmla="*/ 69 w 69"/>
                <a:gd name="T1" fmla="*/ 14 h 28"/>
                <a:gd name="T2" fmla="*/ 69 w 69"/>
                <a:gd name="T3" fmla="*/ 0 h 28"/>
                <a:gd name="T4" fmla="*/ 0 w 69"/>
                <a:gd name="T5" fmla="*/ 0 h 28"/>
                <a:gd name="T6" fmla="*/ 0 w 69"/>
                <a:gd name="T7" fmla="*/ 28 h 28"/>
                <a:gd name="T8" fmla="*/ 69 w 69"/>
                <a:gd name="T9" fmla="*/ 28 h 28"/>
                <a:gd name="T10" fmla="*/ 69 w 69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"/>
                <a:gd name="T19" fmla="*/ 0 h 28"/>
                <a:gd name="T20" fmla="*/ 69 w 69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" h="28">
                  <a:moveTo>
                    <a:pt x="69" y="14"/>
                  </a:moveTo>
                  <a:lnTo>
                    <a:pt x="69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69" y="28"/>
                  </a:lnTo>
                  <a:lnTo>
                    <a:pt x="69" y="14"/>
                  </a:lnTo>
                  <a:close/>
                </a:path>
              </a:pathLst>
            </a:custGeom>
            <a:solidFill>
              <a:srgbClr val="D8D8D8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08" name="Freeform 1340"/>
            <p:cNvSpPr>
              <a:spLocks/>
            </p:cNvSpPr>
            <p:nvPr/>
          </p:nvSpPr>
          <p:spPr bwMode="auto">
            <a:xfrm>
              <a:off x="8976" y="9647"/>
              <a:ext cx="7" cy="13"/>
            </a:xfrm>
            <a:custGeom>
              <a:avLst/>
              <a:gdLst>
                <a:gd name="T0" fmla="*/ 0 w 14"/>
                <a:gd name="T1" fmla="*/ 28 h 28"/>
                <a:gd name="T2" fmla="*/ 11 w 14"/>
                <a:gd name="T3" fmla="*/ 23 h 28"/>
                <a:gd name="T4" fmla="*/ 14 w 14"/>
                <a:gd name="T5" fmla="*/ 14 h 28"/>
                <a:gd name="T6" fmla="*/ 11 w 14"/>
                <a:gd name="T7" fmla="*/ 5 h 28"/>
                <a:gd name="T8" fmla="*/ 0 w 14"/>
                <a:gd name="T9" fmla="*/ 0 h 28"/>
                <a:gd name="T10" fmla="*/ 0 w 14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0" y="28"/>
                  </a:moveTo>
                  <a:lnTo>
                    <a:pt x="11" y="23"/>
                  </a:lnTo>
                  <a:lnTo>
                    <a:pt x="14" y="14"/>
                  </a:lnTo>
                  <a:lnTo>
                    <a:pt x="11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D8D8D8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09" name="Freeform 1341"/>
            <p:cNvSpPr>
              <a:spLocks/>
            </p:cNvSpPr>
            <p:nvPr/>
          </p:nvSpPr>
          <p:spPr bwMode="auto">
            <a:xfrm>
              <a:off x="8940" y="9647"/>
              <a:ext cx="7" cy="13"/>
            </a:xfrm>
            <a:custGeom>
              <a:avLst/>
              <a:gdLst>
                <a:gd name="T0" fmla="*/ 13 w 13"/>
                <a:gd name="T1" fmla="*/ 0 h 28"/>
                <a:gd name="T2" fmla="*/ 3 w 13"/>
                <a:gd name="T3" fmla="*/ 5 h 28"/>
                <a:gd name="T4" fmla="*/ 0 w 13"/>
                <a:gd name="T5" fmla="*/ 14 h 28"/>
                <a:gd name="T6" fmla="*/ 3 w 13"/>
                <a:gd name="T7" fmla="*/ 23 h 28"/>
                <a:gd name="T8" fmla="*/ 13 w 13"/>
                <a:gd name="T9" fmla="*/ 28 h 28"/>
                <a:gd name="T10" fmla="*/ 13 w 13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28"/>
                <a:gd name="T20" fmla="*/ 13 w 13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28">
                  <a:moveTo>
                    <a:pt x="13" y="0"/>
                  </a:moveTo>
                  <a:lnTo>
                    <a:pt x="3" y="5"/>
                  </a:lnTo>
                  <a:lnTo>
                    <a:pt x="0" y="14"/>
                  </a:lnTo>
                  <a:lnTo>
                    <a:pt x="3" y="23"/>
                  </a:lnTo>
                  <a:lnTo>
                    <a:pt x="13" y="28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10" name="Freeform 1342"/>
            <p:cNvSpPr>
              <a:spLocks/>
            </p:cNvSpPr>
            <p:nvPr/>
          </p:nvSpPr>
          <p:spPr bwMode="auto">
            <a:xfrm>
              <a:off x="8947" y="9647"/>
              <a:ext cx="26" cy="13"/>
            </a:xfrm>
            <a:custGeom>
              <a:avLst/>
              <a:gdLst>
                <a:gd name="T0" fmla="*/ 52 w 52"/>
                <a:gd name="T1" fmla="*/ 14 h 28"/>
                <a:gd name="T2" fmla="*/ 52 w 52"/>
                <a:gd name="T3" fmla="*/ 0 h 28"/>
                <a:gd name="T4" fmla="*/ 0 w 52"/>
                <a:gd name="T5" fmla="*/ 0 h 28"/>
                <a:gd name="T6" fmla="*/ 0 w 52"/>
                <a:gd name="T7" fmla="*/ 28 h 28"/>
                <a:gd name="T8" fmla="*/ 52 w 52"/>
                <a:gd name="T9" fmla="*/ 28 h 28"/>
                <a:gd name="T10" fmla="*/ 52 w 52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28"/>
                <a:gd name="T20" fmla="*/ 52 w 52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28">
                  <a:moveTo>
                    <a:pt x="52" y="14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52" y="28"/>
                  </a:lnTo>
                  <a:lnTo>
                    <a:pt x="52" y="14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11" name="Freeform 1343"/>
            <p:cNvSpPr>
              <a:spLocks/>
            </p:cNvSpPr>
            <p:nvPr/>
          </p:nvSpPr>
          <p:spPr bwMode="auto">
            <a:xfrm>
              <a:off x="8973" y="9647"/>
              <a:ext cx="6" cy="13"/>
            </a:xfrm>
            <a:custGeom>
              <a:avLst/>
              <a:gdLst>
                <a:gd name="T0" fmla="*/ 0 w 14"/>
                <a:gd name="T1" fmla="*/ 28 h 28"/>
                <a:gd name="T2" fmla="*/ 11 w 14"/>
                <a:gd name="T3" fmla="*/ 23 h 28"/>
                <a:gd name="T4" fmla="*/ 14 w 14"/>
                <a:gd name="T5" fmla="*/ 14 h 28"/>
                <a:gd name="T6" fmla="*/ 11 w 14"/>
                <a:gd name="T7" fmla="*/ 5 h 28"/>
                <a:gd name="T8" fmla="*/ 0 w 14"/>
                <a:gd name="T9" fmla="*/ 0 h 28"/>
                <a:gd name="T10" fmla="*/ 0 w 14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0" y="28"/>
                  </a:moveTo>
                  <a:lnTo>
                    <a:pt x="11" y="23"/>
                  </a:lnTo>
                  <a:lnTo>
                    <a:pt x="14" y="14"/>
                  </a:lnTo>
                  <a:lnTo>
                    <a:pt x="11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12" name="Freeform 1344"/>
            <p:cNvSpPr>
              <a:spLocks/>
            </p:cNvSpPr>
            <p:nvPr/>
          </p:nvSpPr>
          <p:spPr bwMode="auto">
            <a:xfrm>
              <a:off x="8944" y="9647"/>
              <a:ext cx="7" cy="13"/>
            </a:xfrm>
            <a:custGeom>
              <a:avLst/>
              <a:gdLst>
                <a:gd name="T0" fmla="*/ 14 w 14"/>
                <a:gd name="T1" fmla="*/ 0 h 28"/>
                <a:gd name="T2" fmla="*/ 3 w 14"/>
                <a:gd name="T3" fmla="*/ 5 h 28"/>
                <a:gd name="T4" fmla="*/ 0 w 14"/>
                <a:gd name="T5" fmla="*/ 14 h 28"/>
                <a:gd name="T6" fmla="*/ 3 w 14"/>
                <a:gd name="T7" fmla="*/ 23 h 28"/>
                <a:gd name="T8" fmla="*/ 14 w 14"/>
                <a:gd name="T9" fmla="*/ 28 h 28"/>
                <a:gd name="T10" fmla="*/ 14 w 14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14" y="0"/>
                  </a:moveTo>
                  <a:lnTo>
                    <a:pt x="3" y="5"/>
                  </a:lnTo>
                  <a:lnTo>
                    <a:pt x="0" y="14"/>
                  </a:lnTo>
                  <a:lnTo>
                    <a:pt x="3" y="23"/>
                  </a:lnTo>
                  <a:lnTo>
                    <a:pt x="14" y="2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13" name="Freeform 1345"/>
            <p:cNvSpPr>
              <a:spLocks/>
            </p:cNvSpPr>
            <p:nvPr/>
          </p:nvSpPr>
          <p:spPr bwMode="auto">
            <a:xfrm>
              <a:off x="8951" y="9647"/>
              <a:ext cx="17" cy="13"/>
            </a:xfrm>
            <a:custGeom>
              <a:avLst/>
              <a:gdLst>
                <a:gd name="T0" fmla="*/ 33 w 33"/>
                <a:gd name="T1" fmla="*/ 14 h 28"/>
                <a:gd name="T2" fmla="*/ 33 w 33"/>
                <a:gd name="T3" fmla="*/ 0 h 28"/>
                <a:gd name="T4" fmla="*/ 0 w 33"/>
                <a:gd name="T5" fmla="*/ 0 h 28"/>
                <a:gd name="T6" fmla="*/ 0 w 33"/>
                <a:gd name="T7" fmla="*/ 28 h 28"/>
                <a:gd name="T8" fmla="*/ 33 w 33"/>
                <a:gd name="T9" fmla="*/ 28 h 28"/>
                <a:gd name="T10" fmla="*/ 33 w 33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"/>
                <a:gd name="T19" fmla="*/ 0 h 28"/>
                <a:gd name="T20" fmla="*/ 33 w 33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" h="28">
                  <a:moveTo>
                    <a:pt x="33" y="14"/>
                  </a:moveTo>
                  <a:lnTo>
                    <a:pt x="33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33" y="28"/>
                  </a:lnTo>
                  <a:lnTo>
                    <a:pt x="33" y="14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14" name="Freeform 1346"/>
            <p:cNvSpPr>
              <a:spLocks/>
            </p:cNvSpPr>
            <p:nvPr/>
          </p:nvSpPr>
          <p:spPr bwMode="auto">
            <a:xfrm>
              <a:off x="8968" y="9647"/>
              <a:ext cx="7" cy="13"/>
            </a:xfrm>
            <a:custGeom>
              <a:avLst/>
              <a:gdLst>
                <a:gd name="T0" fmla="*/ 0 w 14"/>
                <a:gd name="T1" fmla="*/ 28 h 28"/>
                <a:gd name="T2" fmla="*/ 11 w 14"/>
                <a:gd name="T3" fmla="*/ 23 h 28"/>
                <a:gd name="T4" fmla="*/ 14 w 14"/>
                <a:gd name="T5" fmla="*/ 14 h 28"/>
                <a:gd name="T6" fmla="*/ 11 w 14"/>
                <a:gd name="T7" fmla="*/ 5 h 28"/>
                <a:gd name="T8" fmla="*/ 0 w 14"/>
                <a:gd name="T9" fmla="*/ 0 h 28"/>
                <a:gd name="T10" fmla="*/ 0 w 14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0" y="28"/>
                  </a:moveTo>
                  <a:lnTo>
                    <a:pt x="11" y="23"/>
                  </a:lnTo>
                  <a:lnTo>
                    <a:pt x="14" y="14"/>
                  </a:lnTo>
                  <a:lnTo>
                    <a:pt x="11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15" name="Freeform 1347"/>
            <p:cNvSpPr>
              <a:spLocks/>
            </p:cNvSpPr>
            <p:nvPr/>
          </p:nvSpPr>
          <p:spPr bwMode="auto">
            <a:xfrm>
              <a:off x="8949" y="9647"/>
              <a:ext cx="7" cy="13"/>
            </a:xfrm>
            <a:custGeom>
              <a:avLst/>
              <a:gdLst>
                <a:gd name="T0" fmla="*/ 14 w 14"/>
                <a:gd name="T1" fmla="*/ 0 h 28"/>
                <a:gd name="T2" fmla="*/ 3 w 14"/>
                <a:gd name="T3" fmla="*/ 5 h 28"/>
                <a:gd name="T4" fmla="*/ 0 w 14"/>
                <a:gd name="T5" fmla="*/ 14 h 28"/>
                <a:gd name="T6" fmla="*/ 3 w 14"/>
                <a:gd name="T7" fmla="*/ 23 h 28"/>
                <a:gd name="T8" fmla="*/ 14 w 14"/>
                <a:gd name="T9" fmla="*/ 28 h 28"/>
                <a:gd name="T10" fmla="*/ 14 w 14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14" y="0"/>
                  </a:moveTo>
                  <a:lnTo>
                    <a:pt x="3" y="5"/>
                  </a:lnTo>
                  <a:lnTo>
                    <a:pt x="0" y="14"/>
                  </a:lnTo>
                  <a:lnTo>
                    <a:pt x="3" y="23"/>
                  </a:lnTo>
                  <a:lnTo>
                    <a:pt x="14" y="2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16" name="Freeform 1348"/>
            <p:cNvSpPr>
              <a:spLocks/>
            </p:cNvSpPr>
            <p:nvPr/>
          </p:nvSpPr>
          <p:spPr bwMode="auto">
            <a:xfrm>
              <a:off x="8956" y="9647"/>
              <a:ext cx="7" cy="13"/>
            </a:xfrm>
            <a:custGeom>
              <a:avLst/>
              <a:gdLst>
                <a:gd name="T0" fmla="*/ 15 w 15"/>
                <a:gd name="T1" fmla="*/ 14 h 28"/>
                <a:gd name="T2" fmla="*/ 15 w 15"/>
                <a:gd name="T3" fmla="*/ 0 h 28"/>
                <a:gd name="T4" fmla="*/ 0 w 15"/>
                <a:gd name="T5" fmla="*/ 0 h 28"/>
                <a:gd name="T6" fmla="*/ 0 w 15"/>
                <a:gd name="T7" fmla="*/ 28 h 28"/>
                <a:gd name="T8" fmla="*/ 15 w 15"/>
                <a:gd name="T9" fmla="*/ 28 h 28"/>
                <a:gd name="T10" fmla="*/ 15 w 15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"/>
                <a:gd name="T19" fmla="*/ 0 h 28"/>
                <a:gd name="T20" fmla="*/ 15 w 15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" h="28">
                  <a:moveTo>
                    <a:pt x="15" y="14"/>
                  </a:moveTo>
                  <a:lnTo>
                    <a:pt x="15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15" y="28"/>
                  </a:lnTo>
                  <a:lnTo>
                    <a:pt x="15" y="1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17" name="Freeform 1349"/>
            <p:cNvSpPr>
              <a:spLocks/>
            </p:cNvSpPr>
            <p:nvPr/>
          </p:nvSpPr>
          <p:spPr bwMode="auto">
            <a:xfrm>
              <a:off x="8963" y="9647"/>
              <a:ext cx="7" cy="13"/>
            </a:xfrm>
            <a:custGeom>
              <a:avLst/>
              <a:gdLst>
                <a:gd name="T0" fmla="*/ 0 w 14"/>
                <a:gd name="T1" fmla="*/ 28 h 28"/>
                <a:gd name="T2" fmla="*/ 11 w 14"/>
                <a:gd name="T3" fmla="*/ 23 h 28"/>
                <a:gd name="T4" fmla="*/ 14 w 14"/>
                <a:gd name="T5" fmla="*/ 14 h 28"/>
                <a:gd name="T6" fmla="*/ 11 w 14"/>
                <a:gd name="T7" fmla="*/ 5 h 28"/>
                <a:gd name="T8" fmla="*/ 0 w 14"/>
                <a:gd name="T9" fmla="*/ 0 h 28"/>
                <a:gd name="T10" fmla="*/ 0 w 14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0" y="28"/>
                  </a:moveTo>
                  <a:lnTo>
                    <a:pt x="11" y="23"/>
                  </a:lnTo>
                  <a:lnTo>
                    <a:pt x="14" y="14"/>
                  </a:lnTo>
                  <a:lnTo>
                    <a:pt x="11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18" name="Freeform 1350"/>
            <p:cNvSpPr>
              <a:spLocks/>
            </p:cNvSpPr>
            <p:nvPr/>
          </p:nvSpPr>
          <p:spPr bwMode="auto">
            <a:xfrm>
              <a:off x="8923" y="8934"/>
              <a:ext cx="66" cy="176"/>
            </a:xfrm>
            <a:custGeom>
              <a:avLst/>
              <a:gdLst>
                <a:gd name="T0" fmla="*/ 23 w 131"/>
                <a:gd name="T1" fmla="*/ 0 h 353"/>
                <a:gd name="T2" fmla="*/ 73 w 131"/>
                <a:gd name="T3" fmla="*/ 192 h 353"/>
                <a:gd name="T4" fmla="*/ 0 w 131"/>
                <a:gd name="T5" fmla="*/ 181 h 353"/>
                <a:gd name="T6" fmla="*/ 76 w 131"/>
                <a:gd name="T7" fmla="*/ 353 h 353"/>
                <a:gd name="T8" fmla="*/ 58 w 131"/>
                <a:gd name="T9" fmla="*/ 230 h 353"/>
                <a:gd name="T10" fmla="*/ 131 w 131"/>
                <a:gd name="T11" fmla="*/ 241 h 353"/>
                <a:gd name="T12" fmla="*/ 23 w 131"/>
                <a:gd name="T13" fmla="*/ 0 h 3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"/>
                <a:gd name="T22" fmla="*/ 0 h 353"/>
                <a:gd name="T23" fmla="*/ 131 w 131"/>
                <a:gd name="T24" fmla="*/ 353 h 35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" h="353">
                  <a:moveTo>
                    <a:pt x="23" y="0"/>
                  </a:moveTo>
                  <a:lnTo>
                    <a:pt x="73" y="192"/>
                  </a:lnTo>
                  <a:lnTo>
                    <a:pt x="0" y="181"/>
                  </a:lnTo>
                  <a:lnTo>
                    <a:pt x="76" y="353"/>
                  </a:lnTo>
                  <a:lnTo>
                    <a:pt x="58" y="230"/>
                  </a:lnTo>
                  <a:lnTo>
                    <a:pt x="131" y="241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19" name="Freeform 1351"/>
            <p:cNvSpPr>
              <a:spLocks/>
            </p:cNvSpPr>
            <p:nvPr/>
          </p:nvSpPr>
          <p:spPr bwMode="auto">
            <a:xfrm>
              <a:off x="8928" y="8932"/>
              <a:ext cx="38" cy="104"/>
            </a:xfrm>
            <a:custGeom>
              <a:avLst/>
              <a:gdLst>
                <a:gd name="T0" fmla="*/ 61 w 75"/>
                <a:gd name="T1" fmla="*/ 207 h 207"/>
                <a:gd name="T2" fmla="*/ 75 w 75"/>
                <a:gd name="T3" fmla="*/ 192 h 207"/>
                <a:gd name="T4" fmla="*/ 24 w 75"/>
                <a:gd name="T5" fmla="*/ 0 h 207"/>
                <a:gd name="T6" fmla="*/ 0 w 75"/>
                <a:gd name="T7" fmla="*/ 6 h 207"/>
                <a:gd name="T8" fmla="*/ 50 w 75"/>
                <a:gd name="T9" fmla="*/ 198 h 207"/>
                <a:gd name="T10" fmla="*/ 64 w 75"/>
                <a:gd name="T11" fmla="*/ 183 h 207"/>
                <a:gd name="T12" fmla="*/ 50 w 75"/>
                <a:gd name="T13" fmla="*/ 198 h 207"/>
                <a:gd name="T14" fmla="*/ 56 w 75"/>
                <a:gd name="T15" fmla="*/ 206 h 207"/>
                <a:gd name="T16" fmla="*/ 65 w 75"/>
                <a:gd name="T17" fmla="*/ 206 h 207"/>
                <a:gd name="T18" fmla="*/ 73 w 75"/>
                <a:gd name="T19" fmla="*/ 201 h 207"/>
                <a:gd name="T20" fmla="*/ 75 w 75"/>
                <a:gd name="T21" fmla="*/ 192 h 207"/>
                <a:gd name="T22" fmla="*/ 61 w 75"/>
                <a:gd name="T23" fmla="*/ 207 h 20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5"/>
                <a:gd name="T37" fmla="*/ 0 h 207"/>
                <a:gd name="T38" fmla="*/ 75 w 75"/>
                <a:gd name="T39" fmla="*/ 207 h 20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5" h="207">
                  <a:moveTo>
                    <a:pt x="61" y="207"/>
                  </a:moveTo>
                  <a:lnTo>
                    <a:pt x="75" y="192"/>
                  </a:lnTo>
                  <a:lnTo>
                    <a:pt x="24" y="0"/>
                  </a:lnTo>
                  <a:lnTo>
                    <a:pt x="0" y="6"/>
                  </a:lnTo>
                  <a:lnTo>
                    <a:pt x="50" y="198"/>
                  </a:lnTo>
                  <a:lnTo>
                    <a:pt x="64" y="183"/>
                  </a:lnTo>
                  <a:lnTo>
                    <a:pt x="50" y="198"/>
                  </a:lnTo>
                  <a:lnTo>
                    <a:pt x="56" y="206"/>
                  </a:lnTo>
                  <a:lnTo>
                    <a:pt x="65" y="206"/>
                  </a:lnTo>
                  <a:lnTo>
                    <a:pt x="73" y="201"/>
                  </a:lnTo>
                  <a:lnTo>
                    <a:pt x="75" y="192"/>
                  </a:lnTo>
                  <a:lnTo>
                    <a:pt x="61" y="2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20" name="Freeform 1352"/>
            <p:cNvSpPr>
              <a:spLocks/>
            </p:cNvSpPr>
            <p:nvPr/>
          </p:nvSpPr>
          <p:spPr bwMode="auto">
            <a:xfrm>
              <a:off x="8918" y="9018"/>
              <a:ext cx="42" cy="18"/>
            </a:xfrm>
            <a:custGeom>
              <a:avLst/>
              <a:gdLst>
                <a:gd name="T0" fmla="*/ 22 w 86"/>
                <a:gd name="T1" fmla="*/ 8 h 35"/>
                <a:gd name="T2" fmla="*/ 10 w 86"/>
                <a:gd name="T3" fmla="*/ 24 h 35"/>
                <a:gd name="T4" fmla="*/ 83 w 86"/>
                <a:gd name="T5" fmla="*/ 35 h 35"/>
                <a:gd name="T6" fmla="*/ 86 w 86"/>
                <a:gd name="T7" fmla="*/ 11 h 35"/>
                <a:gd name="T8" fmla="*/ 13 w 86"/>
                <a:gd name="T9" fmla="*/ 0 h 35"/>
                <a:gd name="T10" fmla="*/ 0 w 86"/>
                <a:gd name="T11" fmla="*/ 17 h 35"/>
                <a:gd name="T12" fmla="*/ 13 w 86"/>
                <a:gd name="T13" fmla="*/ 0 h 35"/>
                <a:gd name="T14" fmla="*/ 3 w 86"/>
                <a:gd name="T15" fmla="*/ 3 h 35"/>
                <a:gd name="T16" fmla="*/ 0 w 86"/>
                <a:gd name="T17" fmla="*/ 11 h 35"/>
                <a:gd name="T18" fmla="*/ 2 w 86"/>
                <a:gd name="T19" fmla="*/ 20 h 35"/>
                <a:gd name="T20" fmla="*/ 10 w 86"/>
                <a:gd name="T21" fmla="*/ 24 h 35"/>
                <a:gd name="T22" fmla="*/ 22 w 86"/>
                <a:gd name="T23" fmla="*/ 8 h 3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6"/>
                <a:gd name="T37" fmla="*/ 0 h 35"/>
                <a:gd name="T38" fmla="*/ 86 w 86"/>
                <a:gd name="T39" fmla="*/ 35 h 3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6" h="35">
                  <a:moveTo>
                    <a:pt x="22" y="8"/>
                  </a:moveTo>
                  <a:lnTo>
                    <a:pt x="10" y="24"/>
                  </a:lnTo>
                  <a:lnTo>
                    <a:pt x="83" y="35"/>
                  </a:lnTo>
                  <a:lnTo>
                    <a:pt x="86" y="11"/>
                  </a:lnTo>
                  <a:lnTo>
                    <a:pt x="13" y="0"/>
                  </a:lnTo>
                  <a:lnTo>
                    <a:pt x="0" y="17"/>
                  </a:lnTo>
                  <a:lnTo>
                    <a:pt x="13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2" y="20"/>
                  </a:lnTo>
                  <a:lnTo>
                    <a:pt x="10" y="24"/>
                  </a:lnTo>
                  <a:lnTo>
                    <a:pt x="22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21" name="Freeform 1353"/>
            <p:cNvSpPr>
              <a:spLocks/>
            </p:cNvSpPr>
            <p:nvPr/>
          </p:nvSpPr>
          <p:spPr bwMode="auto">
            <a:xfrm>
              <a:off x="8918" y="9022"/>
              <a:ext cx="49" cy="93"/>
            </a:xfrm>
            <a:custGeom>
              <a:avLst/>
              <a:gdLst>
                <a:gd name="T0" fmla="*/ 75 w 100"/>
                <a:gd name="T1" fmla="*/ 178 h 187"/>
                <a:gd name="T2" fmla="*/ 98 w 100"/>
                <a:gd name="T3" fmla="*/ 172 h 187"/>
                <a:gd name="T4" fmla="*/ 22 w 100"/>
                <a:gd name="T5" fmla="*/ 0 h 187"/>
                <a:gd name="T6" fmla="*/ 0 w 100"/>
                <a:gd name="T7" fmla="*/ 9 h 187"/>
                <a:gd name="T8" fmla="*/ 77 w 100"/>
                <a:gd name="T9" fmla="*/ 181 h 187"/>
                <a:gd name="T10" fmla="*/ 100 w 100"/>
                <a:gd name="T11" fmla="*/ 175 h 187"/>
                <a:gd name="T12" fmla="*/ 77 w 100"/>
                <a:gd name="T13" fmla="*/ 181 h 187"/>
                <a:gd name="T14" fmla="*/ 83 w 100"/>
                <a:gd name="T15" fmla="*/ 187 h 187"/>
                <a:gd name="T16" fmla="*/ 92 w 100"/>
                <a:gd name="T17" fmla="*/ 187 h 187"/>
                <a:gd name="T18" fmla="*/ 98 w 100"/>
                <a:gd name="T19" fmla="*/ 181 h 187"/>
                <a:gd name="T20" fmla="*/ 98 w 100"/>
                <a:gd name="T21" fmla="*/ 172 h 187"/>
                <a:gd name="T22" fmla="*/ 75 w 100"/>
                <a:gd name="T23" fmla="*/ 178 h 18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0"/>
                <a:gd name="T37" fmla="*/ 0 h 187"/>
                <a:gd name="T38" fmla="*/ 100 w 100"/>
                <a:gd name="T39" fmla="*/ 187 h 18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0" h="187">
                  <a:moveTo>
                    <a:pt x="75" y="178"/>
                  </a:moveTo>
                  <a:lnTo>
                    <a:pt x="98" y="172"/>
                  </a:lnTo>
                  <a:lnTo>
                    <a:pt x="22" y="0"/>
                  </a:lnTo>
                  <a:lnTo>
                    <a:pt x="0" y="9"/>
                  </a:lnTo>
                  <a:lnTo>
                    <a:pt x="77" y="181"/>
                  </a:lnTo>
                  <a:lnTo>
                    <a:pt x="100" y="175"/>
                  </a:lnTo>
                  <a:lnTo>
                    <a:pt x="77" y="181"/>
                  </a:lnTo>
                  <a:lnTo>
                    <a:pt x="83" y="187"/>
                  </a:lnTo>
                  <a:lnTo>
                    <a:pt x="92" y="187"/>
                  </a:lnTo>
                  <a:lnTo>
                    <a:pt x="98" y="181"/>
                  </a:lnTo>
                  <a:lnTo>
                    <a:pt x="98" y="172"/>
                  </a:lnTo>
                  <a:lnTo>
                    <a:pt x="75" y="1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22" name="Freeform 1354"/>
            <p:cNvSpPr>
              <a:spLocks/>
            </p:cNvSpPr>
            <p:nvPr/>
          </p:nvSpPr>
          <p:spPr bwMode="auto">
            <a:xfrm>
              <a:off x="8946" y="9042"/>
              <a:ext cx="21" cy="69"/>
            </a:xfrm>
            <a:custGeom>
              <a:avLst/>
              <a:gdLst>
                <a:gd name="T0" fmla="*/ 14 w 43"/>
                <a:gd name="T1" fmla="*/ 0 h 137"/>
                <a:gd name="T2" fmla="*/ 0 w 43"/>
                <a:gd name="T3" fmla="*/ 13 h 137"/>
                <a:gd name="T4" fmla="*/ 18 w 43"/>
                <a:gd name="T5" fmla="*/ 137 h 137"/>
                <a:gd name="T6" fmla="*/ 43 w 43"/>
                <a:gd name="T7" fmla="*/ 134 h 137"/>
                <a:gd name="T8" fmla="*/ 24 w 43"/>
                <a:gd name="T9" fmla="*/ 10 h 137"/>
                <a:gd name="T10" fmla="*/ 11 w 43"/>
                <a:gd name="T11" fmla="*/ 24 h 137"/>
                <a:gd name="T12" fmla="*/ 24 w 43"/>
                <a:gd name="T13" fmla="*/ 10 h 137"/>
                <a:gd name="T14" fmla="*/ 20 w 43"/>
                <a:gd name="T15" fmla="*/ 3 h 137"/>
                <a:gd name="T16" fmla="*/ 11 w 43"/>
                <a:gd name="T17" fmla="*/ 0 h 137"/>
                <a:gd name="T18" fmla="*/ 3 w 43"/>
                <a:gd name="T19" fmla="*/ 4 h 137"/>
                <a:gd name="T20" fmla="*/ 0 w 43"/>
                <a:gd name="T21" fmla="*/ 13 h 137"/>
                <a:gd name="T22" fmla="*/ 14 w 43"/>
                <a:gd name="T23" fmla="*/ 0 h 13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3"/>
                <a:gd name="T37" fmla="*/ 0 h 137"/>
                <a:gd name="T38" fmla="*/ 43 w 43"/>
                <a:gd name="T39" fmla="*/ 137 h 13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3" h="137">
                  <a:moveTo>
                    <a:pt x="14" y="0"/>
                  </a:moveTo>
                  <a:lnTo>
                    <a:pt x="0" y="13"/>
                  </a:lnTo>
                  <a:lnTo>
                    <a:pt x="18" y="137"/>
                  </a:lnTo>
                  <a:lnTo>
                    <a:pt x="43" y="134"/>
                  </a:lnTo>
                  <a:lnTo>
                    <a:pt x="24" y="10"/>
                  </a:lnTo>
                  <a:lnTo>
                    <a:pt x="11" y="24"/>
                  </a:lnTo>
                  <a:lnTo>
                    <a:pt x="24" y="10"/>
                  </a:lnTo>
                  <a:lnTo>
                    <a:pt x="20" y="3"/>
                  </a:lnTo>
                  <a:lnTo>
                    <a:pt x="11" y="0"/>
                  </a:lnTo>
                  <a:lnTo>
                    <a:pt x="3" y="4"/>
                  </a:lnTo>
                  <a:lnTo>
                    <a:pt x="0" y="1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23" name="Freeform 1355"/>
            <p:cNvSpPr>
              <a:spLocks/>
            </p:cNvSpPr>
            <p:nvPr/>
          </p:nvSpPr>
          <p:spPr bwMode="auto">
            <a:xfrm>
              <a:off x="8951" y="9042"/>
              <a:ext cx="44" cy="18"/>
            </a:xfrm>
            <a:custGeom>
              <a:avLst/>
              <a:gdLst>
                <a:gd name="T0" fmla="*/ 64 w 87"/>
                <a:gd name="T1" fmla="*/ 27 h 35"/>
                <a:gd name="T2" fmla="*/ 76 w 87"/>
                <a:gd name="T3" fmla="*/ 10 h 35"/>
                <a:gd name="T4" fmla="*/ 3 w 87"/>
                <a:gd name="T5" fmla="*/ 0 h 35"/>
                <a:gd name="T6" fmla="*/ 0 w 87"/>
                <a:gd name="T7" fmla="*/ 24 h 35"/>
                <a:gd name="T8" fmla="*/ 73 w 87"/>
                <a:gd name="T9" fmla="*/ 35 h 35"/>
                <a:gd name="T10" fmla="*/ 85 w 87"/>
                <a:gd name="T11" fmla="*/ 18 h 35"/>
                <a:gd name="T12" fmla="*/ 73 w 87"/>
                <a:gd name="T13" fmla="*/ 35 h 35"/>
                <a:gd name="T14" fmla="*/ 82 w 87"/>
                <a:gd name="T15" fmla="*/ 32 h 35"/>
                <a:gd name="T16" fmla="*/ 87 w 87"/>
                <a:gd name="T17" fmla="*/ 24 h 35"/>
                <a:gd name="T18" fmla="*/ 83 w 87"/>
                <a:gd name="T19" fmla="*/ 15 h 35"/>
                <a:gd name="T20" fmla="*/ 76 w 87"/>
                <a:gd name="T21" fmla="*/ 10 h 35"/>
                <a:gd name="T22" fmla="*/ 64 w 87"/>
                <a:gd name="T23" fmla="*/ 27 h 3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7"/>
                <a:gd name="T37" fmla="*/ 0 h 35"/>
                <a:gd name="T38" fmla="*/ 87 w 87"/>
                <a:gd name="T39" fmla="*/ 35 h 3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7" h="35">
                  <a:moveTo>
                    <a:pt x="64" y="27"/>
                  </a:moveTo>
                  <a:lnTo>
                    <a:pt x="76" y="10"/>
                  </a:lnTo>
                  <a:lnTo>
                    <a:pt x="3" y="0"/>
                  </a:lnTo>
                  <a:lnTo>
                    <a:pt x="0" y="24"/>
                  </a:lnTo>
                  <a:lnTo>
                    <a:pt x="73" y="35"/>
                  </a:lnTo>
                  <a:lnTo>
                    <a:pt x="85" y="18"/>
                  </a:lnTo>
                  <a:lnTo>
                    <a:pt x="73" y="35"/>
                  </a:lnTo>
                  <a:lnTo>
                    <a:pt x="82" y="32"/>
                  </a:lnTo>
                  <a:lnTo>
                    <a:pt x="87" y="24"/>
                  </a:lnTo>
                  <a:lnTo>
                    <a:pt x="83" y="15"/>
                  </a:lnTo>
                  <a:lnTo>
                    <a:pt x="76" y="10"/>
                  </a:lnTo>
                  <a:lnTo>
                    <a:pt x="64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24" name="Freeform 1356"/>
            <p:cNvSpPr>
              <a:spLocks/>
            </p:cNvSpPr>
            <p:nvPr/>
          </p:nvSpPr>
          <p:spPr bwMode="auto">
            <a:xfrm>
              <a:off x="8928" y="8928"/>
              <a:ext cx="66" cy="128"/>
            </a:xfrm>
            <a:custGeom>
              <a:avLst/>
              <a:gdLst>
                <a:gd name="T0" fmla="*/ 24 w 131"/>
                <a:gd name="T1" fmla="*/ 7 h 255"/>
                <a:gd name="T2" fmla="*/ 1 w 131"/>
                <a:gd name="T3" fmla="*/ 15 h 255"/>
                <a:gd name="T4" fmla="*/ 110 w 131"/>
                <a:gd name="T5" fmla="*/ 255 h 255"/>
                <a:gd name="T6" fmla="*/ 131 w 131"/>
                <a:gd name="T7" fmla="*/ 246 h 255"/>
                <a:gd name="T8" fmla="*/ 23 w 131"/>
                <a:gd name="T9" fmla="*/ 6 h 255"/>
                <a:gd name="T10" fmla="*/ 0 w 131"/>
                <a:gd name="T11" fmla="*/ 13 h 255"/>
                <a:gd name="T12" fmla="*/ 23 w 131"/>
                <a:gd name="T13" fmla="*/ 6 h 255"/>
                <a:gd name="T14" fmla="*/ 17 w 131"/>
                <a:gd name="T15" fmla="*/ 0 h 255"/>
                <a:gd name="T16" fmla="*/ 7 w 131"/>
                <a:gd name="T17" fmla="*/ 0 h 255"/>
                <a:gd name="T18" fmla="*/ 1 w 131"/>
                <a:gd name="T19" fmla="*/ 6 h 255"/>
                <a:gd name="T20" fmla="*/ 1 w 131"/>
                <a:gd name="T21" fmla="*/ 15 h 255"/>
                <a:gd name="T22" fmla="*/ 24 w 131"/>
                <a:gd name="T23" fmla="*/ 7 h 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1"/>
                <a:gd name="T37" fmla="*/ 0 h 255"/>
                <a:gd name="T38" fmla="*/ 131 w 131"/>
                <a:gd name="T39" fmla="*/ 255 h 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1" h="255">
                  <a:moveTo>
                    <a:pt x="24" y="7"/>
                  </a:moveTo>
                  <a:lnTo>
                    <a:pt x="1" y="15"/>
                  </a:lnTo>
                  <a:lnTo>
                    <a:pt x="110" y="255"/>
                  </a:lnTo>
                  <a:lnTo>
                    <a:pt x="131" y="246"/>
                  </a:lnTo>
                  <a:lnTo>
                    <a:pt x="23" y="6"/>
                  </a:lnTo>
                  <a:lnTo>
                    <a:pt x="0" y="13"/>
                  </a:lnTo>
                  <a:lnTo>
                    <a:pt x="23" y="6"/>
                  </a:lnTo>
                  <a:lnTo>
                    <a:pt x="17" y="0"/>
                  </a:lnTo>
                  <a:lnTo>
                    <a:pt x="7" y="0"/>
                  </a:lnTo>
                  <a:lnTo>
                    <a:pt x="1" y="6"/>
                  </a:lnTo>
                  <a:lnTo>
                    <a:pt x="1" y="15"/>
                  </a:lnTo>
                  <a:lnTo>
                    <a:pt x="24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25" name="Freeform 1357"/>
            <p:cNvSpPr>
              <a:spLocks/>
            </p:cNvSpPr>
            <p:nvPr/>
          </p:nvSpPr>
          <p:spPr bwMode="auto">
            <a:xfrm>
              <a:off x="8924" y="8941"/>
              <a:ext cx="64" cy="164"/>
            </a:xfrm>
            <a:custGeom>
              <a:avLst/>
              <a:gdLst>
                <a:gd name="T0" fmla="*/ 27 w 128"/>
                <a:gd name="T1" fmla="*/ 0 h 328"/>
                <a:gd name="T2" fmla="*/ 128 w 128"/>
                <a:gd name="T3" fmla="*/ 222 h 328"/>
                <a:gd name="T4" fmla="*/ 53 w 128"/>
                <a:gd name="T5" fmla="*/ 212 h 328"/>
                <a:gd name="T6" fmla="*/ 71 w 128"/>
                <a:gd name="T7" fmla="*/ 328 h 328"/>
                <a:gd name="T8" fmla="*/ 0 w 128"/>
                <a:gd name="T9" fmla="*/ 168 h 328"/>
                <a:gd name="T10" fmla="*/ 74 w 128"/>
                <a:gd name="T11" fmla="*/ 179 h 328"/>
                <a:gd name="T12" fmla="*/ 27 w 128"/>
                <a:gd name="T13" fmla="*/ 0 h 3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8"/>
                <a:gd name="T22" fmla="*/ 0 h 328"/>
                <a:gd name="T23" fmla="*/ 128 w 128"/>
                <a:gd name="T24" fmla="*/ 328 h 3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8" h="328">
                  <a:moveTo>
                    <a:pt x="27" y="0"/>
                  </a:moveTo>
                  <a:lnTo>
                    <a:pt x="128" y="222"/>
                  </a:lnTo>
                  <a:lnTo>
                    <a:pt x="53" y="212"/>
                  </a:lnTo>
                  <a:lnTo>
                    <a:pt x="71" y="328"/>
                  </a:lnTo>
                  <a:lnTo>
                    <a:pt x="0" y="168"/>
                  </a:lnTo>
                  <a:lnTo>
                    <a:pt x="74" y="179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191919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26" name="Freeform 1358"/>
            <p:cNvSpPr>
              <a:spLocks/>
            </p:cNvSpPr>
            <p:nvPr/>
          </p:nvSpPr>
          <p:spPr bwMode="auto">
            <a:xfrm>
              <a:off x="8925" y="8949"/>
              <a:ext cx="62" cy="152"/>
            </a:xfrm>
            <a:custGeom>
              <a:avLst/>
              <a:gdLst>
                <a:gd name="T0" fmla="*/ 31 w 125"/>
                <a:gd name="T1" fmla="*/ 0 h 304"/>
                <a:gd name="T2" fmla="*/ 125 w 125"/>
                <a:gd name="T3" fmla="*/ 205 h 304"/>
                <a:gd name="T4" fmla="*/ 50 w 125"/>
                <a:gd name="T5" fmla="*/ 196 h 304"/>
                <a:gd name="T6" fmla="*/ 67 w 125"/>
                <a:gd name="T7" fmla="*/ 304 h 304"/>
                <a:gd name="T8" fmla="*/ 0 w 125"/>
                <a:gd name="T9" fmla="*/ 155 h 304"/>
                <a:gd name="T10" fmla="*/ 75 w 125"/>
                <a:gd name="T11" fmla="*/ 166 h 304"/>
                <a:gd name="T12" fmla="*/ 31 w 125"/>
                <a:gd name="T13" fmla="*/ 0 h 3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5"/>
                <a:gd name="T22" fmla="*/ 0 h 304"/>
                <a:gd name="T23" fmla="*/ 125 w 125"/>
                <a:gd name="T24" fmla="*/ 304 h 3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5" h="304">
                  <a:moveTo>
                    <a:pt x="31" y="0"/>
                  </a:moveTo>
                  <a:lnTo>
                    <a:pt x="125" y="205"/>
                  </a:lnTo>
                  <a:lnTo>
                    <a:pt x="50" y="196"/>
                  </a:lnTo>
                  <a:lnTo>
                    <a:pt x="67" y="304"/>
                  </a:lnTo>
                  <a:lnTo>
                    <a:pt x="0" y="155"/>
                  </a:lnTo>
                  <a:lnTo>
                    <a:pt x="75" y="166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27" name="Freeform 1359"/>
            <p:cNvSpPr>
              <a:spLocks/>
            </p:cNvSpPr>
            <p:nvPr/>
          </p:nvSpPr>
          <p:spPr bwMode="auto">
            <a:xfrm>
              <a:off x="8926" y="8957"/>
              <a:ext cx="60" cy="139"/>
            </a:xfrm>
            <a:custGeom>
              <a:avLst/>
              <a:gdLst>
                <a:gd name="T0" fmla="*/ 34 w 119"/>
                <a:gd name="T1" fmla="*/ 0 h 278"/>
                <a:gd name="T2" fmla="*/ 119 w 119"/>
                <a:gd name="T3" fmla="*/ 189 h 278"/>
                <a:gd name="T4" fmla="*/ 46 w 119"/>
                <a:gd name="T5" fmla="*/ 178 h 278"/>
                <a:gd name="T6" fmla="*/ 61 w 119"/>
                <a:gd name="T7" fmla="*/ 278 h 278"/>
                <a:gd name="T8" fmla="*/ 0 w 119"/>
                <a:gd name="T9" fmla="*/ 143 h 278"/>
                <a:gd name="T10" fmla="*/ 73 w 119"/>
                <a:gd name="T11" fmla="*/ 152 h 278"/>
                <a:gd name="T12" fmla="*/ 34 w 119"/>
                <a:gd name="T13" fmla="*/ 0 h 2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9"/>
                <a:gd name="T22" fmla="*/ 0 h 278"/>
                <a:gd name="T23" fmla="*/ 119 w 119"/>
                <a:gd name="T24" fmla="*/ 278 h 2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9" h="278">
                  <a:moveTo>
                    <a:pt x="34" y="0"/>
                  </a:moveTo>
                  <a:lnTo>
                    <a:pt x="119" y="189"/>
                  </a:lnTo>
                  <a:lnTo>
                    <a:pt x="46" y="178"/>
                  </a:lnTo>
                  <a:lnTo>
                    <a:pt x="61" y="278"/>
                  </a:lnTo>
                  <a:lnTo>
                    <a:pt x="0" y="143"/>
                  </a:lnTo>
                  <a:lnTo>
                    <a:pt x="73" y="152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4C4C4C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28" name="Freeform 1360"/>
            <p:cNvSpPr>
              <a:spLocks/>
            </p:cNvSpPr>
            <p:nvPr/>
          </p:nvSpPr>
          <p:spPr bwMode="auto">
            <a:xfrm>
              <a:off x="8927" y="8965"/>
              <a:ext cx="58" cy="126"/>
            </a:xfrm>
            <a:custGeom>
              <a:avLst/>
              <a:gdLst>
                <a:gd name="T0" fmla="*/ 38 w 116"/>
                <a:gd name="T1" fmla="*/ 0 h 252"/>
                <a:gd name="T2" fmla="*/ 116 w 116"/>
                <a:gd name="T3" fmla="*/ 170 h 252"/>
                <a:gd name="T4" fmla="*/ 41 w 116"/>
                <a:gd name="T5" fmla="*/ 159 h 252"/>
                <a:gd name="T6" fmla="*/ 56 w 116"/>
                <a:gd name="T7" fmla="*/ 252 h 252"/>
                <a:gd name="T8" fmla="*/ 0 w 116"/>
                <a:gd name="T9" fmla="*/ 127 h 252"/>
                <a:gd name="T10" fmla="*/ 74 w 116"/>
                <a:gd name="T11" fmla="*/ 138 h 252"/>
                <a:gd name="T12" fmla="*/ 38 w 116"/>
                <a:gd name="T13" fmla="*/ 0 h 2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6"/>
                <a:gd name="T22" fmla="*/ 0 h 252"/>
                <a:gd name="T23" fmla="*/ 116 w 116"/>
                <a:gd name="T24" fmla="*/ 252 h 2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6" h="252">
                  <a:moveTo>
                    <a:pt x="38" y="0"/>
                  </a:moveTo>
                  <a:lnTo>
                    <a:pt x="116" y="170"/>
                  </a:lnTo>
                  <a:lnTo>
                    <a:pt x="41" y="159"/>
                  </a:lnTo>
                  <a:lnTo>
                    <a:pt x="56" y="252"/>
                  </a:lnTo>
                  <a:lnTo>
                    <a:pt x="0" y="127"/>
                  </a:lnTo>
                  <a:lnTo>
                    <a:pt x="74" y="138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29" name="Freeform 1361"/>
            <p:cNvSpPr>
              <a:spLocks/>
            </p:cNvSpPr>
            <p:nvPr/>
          </p:nvSpPr>
          <p:spPr bwMode="auto">
            <a:xfrm>
              <a:off x="8928" y="8972"/>
              <a:ext cx="55" cy="114"/>
            </a:xfrm>
            <a:custGeom>
              <a:avLst/>
              <a:gdLst>
                <a:gd name="T0" fmla="*/ 41 w 112"/>
                <a:gd name="T1" fmla="*/ 0 h 228"/>
                <a:gd name="T2" fmla="*/ 112 w 112"/>
                <a:gd name="T3" fmla="*/ 153 h 228"/>
                <a:gd name="T4" fmla="*/ 38 w 112"/>
                <a:gd name="T5" fmla="*/ 143 h 228"/>
                <a:gd name="T6" fmla="*/ 52 w 112"/>
                <a:gd name="T7" fmla="*/ 228 h 228"/>
                <a:gd name="T8" fmla="*/ 0 w 112"/>
                <a:gd name="T9" fmla="*/ 114 h 228"/>
                <a:gd name="T10" fmla="*/ 75 w 112"/>
                <a:gd name="T11" fmla="*/ 125 h 228"/>
                <a:gd name="T12" fmla="*/ 41 w 112"/>
                <a:gd name="T13" fmla="*/ 0 h 2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2"/>
                <a:gd name="T22" fmla="*/ 0 h 228"/>
                <a:gd name="T23" fmla="*/ 112 w 112"/>
                <a:gd name="T24" fmla="*/ 228 h 2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2" h="228">
                  <a:moveTo>
                    <a:pt x="41" y="0"/>
                  </a:moveTo>
                  <a:lnTo>
                    <a:pt x="112" y="153"/>
                  </a:lnTo>
                  <a:lnTo>
                    <a:pt x="38" y="143"/>
                  </a:lnTo>
                  <a:lnTo>
                    <a:pt x="52" y="228"/>
                  </a:lnTo>
                  <a:lnTo>
                    <a:pt x="0" y="114"/>
                  </a:lnTo>
                  <a:lnTo>
                    <a:pt x="75" y="12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30" name="Freeform 1362"/>
            <p:cNvSpPr>
              <a:spLocks/>
            </p:cNvSpPr>
            <p:nvPr/>
          </p:nvSpPr>
          <p:spPr bwMode="auto">
            <a:xfrm>
              <a:off x="8929" y="8980"/>
              <a:ext cx="54" cy="102"/>
            </a:xfrm>
            <a:custGeom>
              <a:avLst/>
              <a:gdLst>
                <a:gd name="T0" fmla="*/ 45 w 107"/>
                <a:gd name="T1" fmla="*/ 0 h 204"/>
                <a:gd name="T2" fmla="*/ 107 w 107"/>
                <a:gd name="T3" fmla="*/ 137 h 204"/>
                <a:gd name="T4" fmla="*/ 32 w 107"/>
                <a:gd name="T5" fmla="*/ 126 h 204"/>
                <a:gd name="T6" fmla="*/ 46 w 107"/>
                <a:gd name="T7" fmla="*/ 204 h 204"/>
                <a:gd name="T8" fmla="*/ 0 w 107"/>
                <a:gd name="T9" fmla="*/ 102 h 204"/>
                <a:gd name="T10" fmla="*/ 74 w 107"/>
                <a:gd name="T11" fmla="*/ 113 h 204"/>
                <a:gd name="T12" fmla="*/ 45 w 107"/>
                <a:gd name="T13" fmla="*/ 0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4"/>
                <a:gd name="T23" fmla="*/ 107 w 107"/>
                <a:gd name="T24" fmla="*/ 204 h 2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4">
                  <a:moveTo>
                    <a:pt x="45" y="0"/>
                  </a:moveTo>
                  <a:lnTo>
                    <a:pt x="107" y="137"/>
                  </a:lnTo>
                  <a:lnTo>
                    <a:pt x="32" y="126"/>
                  </a:lnTo>
                  <a:lnTo>
                    <a:pt x="46" y="204"/>
                  </a:lnTo>
                  <a:lnTo>
                    <a:pt x="0" y="102"/>
                  </a:lnTo>
                  <a:lnTo>
                    <a:pt x="74" y="11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31" name="Freeform 1363"/>
            <p:cNvSpPr>
              <a:spLocks/>
            </p:cNvSpPr>
            <p:nvPr/>
          </p:nvSpPr>
          <p:spPr bwMode="auto">
            <a:xfrm>
              <a:off x="8930" y="8988"/>
              <a:ext cx="52" cy="89"/>
            </a:xfrm>
            <a:custGeom>
              <a:avLst/>
              <a:gdLst>
                <a:gd name="T0" fmla="*/ 49 w 104"/>
                <a:gd name="T1" fmla="*/ 0 h 178"/>
                <a:gd name="T2" fmla="*/ 104 w 104"/>
                <a:gd name="T3" fmla="*/ 120 h 178"/>
                <a:gd name="T4" fmla="*/ 29 w 104"/>
                <a:gd name="T5" fmla="*/ 110 h 178"/>
                <a:gd name="T6" fmla="*/ 43 w 104"/>
                <a:gd name="T7" fmla="*/ 178 h 178"/>
                <a:gd name="T8" fmla="*/ 0 w 104"/>
                <a:gd name="T9" fmla="*/ 89 h 178"/>
                <a:gd name="T10" fmla="*/ 75 w 104"/>
                <a:gd name="T11" fmla="*/ 99 h 178"/>
                <a:gd name="T12" fmla="*/ 49 w 104"/>
                <a:gd name="T13" fmla="*/ 0 h 1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"/>
                <a:gd name="T22" fmla="*/ 0 h 178"/>
                <a:gd name="T23" fmla="*/ 104 w 104"/>
                <a:gd name="T24" fmla="*/ 178 h 1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" h="178">
                  <a:moveTo>
                    <a:pt x="49" y="0"/>
                  </a:moveTo>
                  <a:lnTo>
                    <a:pt x="104" y="120"/>
                  </a:lnTo>
                  <a:lnTo>
                    <a:pt x="29" y="110"/>
                  </a:lnTo>
                  <a:lnTo>
                    <a:pt x="43" y="178"/>
                  </a:lnTo>
                  <a:lnTo>
                    <a:pt x="0" y="89"/>
                  </a:lnTo>
                  <a:lnTo>
                    <a:pt x="75" y="99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32" name="Freeform 1364"/>
            <p:cNvSpPr>
              <a:spLocks/>
            </p:cNvSpPr>
            <p:nvPr/>
          </p:nvSpPr>
          <p:spPr bwMode="auto">
            <a:xfrm>
              <a:off x="8931" y="8995"/>
              <a:ext cx="49" cy="77"/>
            </a:xfrm>
            <a:custGeom>
              <a:avLst/>
              <a:gdLst>
                <a:gd name="T0" fmla="*/ 50 w 98"/>
                <a:gd name="T1" fmla="*/ 0 h 153"/>
                <a:gd name="T2" fmla="*/ 98 w 98"/>
                <a:gd name="T3" fmla="*/ 103 h 153"/>
                <a:gd name="T4" fmla="*/ 24 w 98"/>
                <a:gd name="T5" fmla="*/ 92 h 153"/>
                <a:gd name="T6" fmla="*/ 36 w 98"/>
                <a:gd name="T7" fmla="*/ 153 h 153"/>
                <a:gd name="T8" fmla="*/ 0 w 98"/>
                <a:gd name="T9" fmla="*/ 74 h 153"/>
                <a:gd name="T10" fmla="*/ 73 w 98"/>
                <a:gd name="T11" fmla="*/ 85 h 153"/>
                <a:gd name="T12" fmla="*/ 50 w 98"/>
                <a:gd name="T13" fmla="*/ 0 h 1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8"/>
                <a:gd name="T22" fmla="*/ 0 h 153"/>
                <a:gd name="T23" fmla="*/ 98 w 98"/>
                <a:gd name="T24" fmla="*/ 153 h 15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8" h="153">
                  <a:moveTo>
                    <a:pt x="50" y="0"/>
                  </a:moveTo>
                  <a:lnTo>
                    <a:pt x="98" y="103"/>
                  </a:lnTo>
                  <a:lnTo>
                    <a:pt x="24" y="92"/>
                  </a:lnTo>
                  <a:lnTo>
                    <a:pt x="36" y="153"/>
                  </a:lnTo>
                  <a:lnTo>
                    <a:pt x="0" y="74"/>
                  </a:lnTo>
                  <a:lnTo>
                    <a:pt x="73" y="85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33" name="Freeform 1365"/>
            <p:cNvSpPr>
              <a:spLocks/>
            </p:cNvSpPr>
            <p:nvPr/>
          </p:nvSpPr>
          <p:spPr bwMode="auto">
            <a:xfrm>
              <a:off x="8932" y="9004"/>
              <a:ext cx="47" cy="63"/>
            </a:xfrm>
            <a:custGeom>
              <a:avLst/>
              <a:gdLst>
                <a:gd name="T0" fmla="*/ 55 w 95"/>
                <a:gd name="T1" fmla="*/ 0 h 128"/>
                <a:gd name="T2" fmla="*/ 95 w 95"/>
                <a:gd name="T3" fmla="*/ 85 h 128"/>
                <a:gd name="T4" fmla="*/ 20 w 95"/>
                <a:gd name="T5" fmla="*/ 75 h 128"/>
                <a:gd name="T6" fmla="*/ 32 w 95"/>
                <a:gd name="T7" fmla="*/ 128 h 128"/>
                <a:gd name="T8" fmla="*/ 0 w 95"/>
                <a:gd name="T9" fmla="*/ 61 h 128"/>
                <a:gd name="T10" fmla="*/ 75 w 95"/>
                <a:gd name="T11" fmla="*/ 72 h 128"/>
                <a:gd name="T12" fmla="*/ 55 w 95"/>
                <a:gd name="T13" fmla="*/ 0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5"/>
                <a:gd name="T22" fmla="*/ 0 h 128"/>
                <a:gd name="T23" fmla="*/ 95 w 95"/>
                <a:gd name="T24" fmla="*/ 128 h 1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5" h="128">
                  <a:moveTo>
                    <a:pt x="55" y="0"/>
                  </a:moveTo>
                  <a:lnTo>
                    <a:pt x="95" y="85"/>
                  </a:lnTo>
                  <a:lnTo>
                    <a:pt x="20" y="75"/>
                  </a:lnTo>
                  <a:lnTo>
                    <a:pt x="32" y="128"/>
                  </a:lnTo>
                  <a:lnTo>
                    <a:pt x="0" y="61"/>
                  </a:lnTo>
                  <a:lnTo>
                    <a:pt x="75" y="72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34" name="Freeform 1366"/>
            <p:cNvSpPr>
              <a:spLocks/>
            </p:cNvSpPr>
            <p:nvPr/>
          </p:nvSpPr>
          <p:spPr bwMode="auto">
            <a:xfrm>
              <a:off x="8933" y="9011"/>
              <a:ext cx="45" cy="52"/>
            </a:xfrm>
            <a:custGeom>
              <a:avLst/>
              <a:gdLst>
                <a:gd name="T0" fmla="*/ 59 w 90"/>
                <a:gd name="T1" fmla="*/ 0 h 104"/>
                <a:gd name="T2" fmla="*/ 75 w 90"/>
                <a:gd name="T3" fmla="*/ 58 h 104"/>
                <a:gd name="T4" fmla="*/ 0 w 90"/>
                <a:gd name="T5" fmla="*/ 48 h 104"/>
                <a:gd name="T6" fmla="*/ 27 w 90"/>
                <a:gd name="T7" fmla="*/ 104 h 104"/>
                <a:gd name="T8" fmla="*/ 17 w 90"/>
                <a:gd name="T9" fmla="*/ 58 h 104"/>
                <a:gd name="T10" fmla="*/ 90 w 90"/>
                <a:gd name="T11" fmla="*/ 69 h 104"/>
                <a:gd name="T12" fmla="*/ 59 w 90"/>
                <a:gd name="T13" fmla="*/ 0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"/>
                <a:gd name="T22" fmla="*/ 0 h 104"/>
                <a:gd name="T23" fmla="*/ 90 w 90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" h="104">
                  <a:moveTo>
                    <a:pt x="59" y="0"/>
                  </a:moveTo>
                  <a:lnTo>
                    <a:pt x="75" y="58"/>
                  </a:lnTo>
                  <a:lnTo>
                    <a:pt x="0" y="48"/>
                  </a:lnTo>
                  <a:lnTo>
                    <a:pt x="27" y="104"/>
                  </a:lnTo>
                  <a:lnTo>
                    <a:pt x="17" y="58"/>
                  </a:lnTo>
                  <a:lnTo>
                    <a:pt x="90" y="69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35" name="Freeform 1367"/>
            <p:cNvSpPr>
              <a:spLocks/>
            </p:cNvSpPr>
            <p:nvPr/>
          </p:nvSpPr>
          <p:spPr bwMode="auto">
            <a:xfrm>
              <a:off x="8674" y="9052"/>
              <a:ext cx="143" cy="107"/>
            </a:xfrm>
            <a:custGeom>
              <a:avLst/>
              <a:gdLst>
                <a:gd name="T0" fmla="*/ 0 w 287"/>
                <a:gd name="T1" fmla="*/ 0 h 216"/>
                <a:gd name="T2" fmla="*/ 173 w 287"/>
                <a:gd name="T3" fmla="*/ 103 h 216"/>
                <a:gd name="T4" fmla="*/ 112 w 287"/>
                <a:gd name="T5" fmla="*/ 148 h 216"/>
                <a:gd name="T6" fmla="*/ 287 w 287"/>
                <a:gd name="T7" fmla="*/ 216 h 216"/>
                <a:gd name="T8" fmla="*/ 186 w 287"/>
                <a:gd name="T9" fmla="*/ 141 h 216"/>
                <a:gd name="T10" fmla="*/ 247 w 287"/>
                <a:gd name="T11" fmla="*/ 96 h 216"/>
                <a:gd name="T12" fmla="*/ 0 w 287"/>
                <a:gd name="T13" fmla="*/ 0 h 2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7"/>
                <a:gd name="T22" fmla="*/ 0 h 216"/>
                <a:gd name="T23" fmla="*/ 287 w 287"/>
                <a:gd name="T24" fmla="*/ 216 h 2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7" h="216">
                  <a:moveTo>
                    <a:pt x="0" y="0"/>
                  </a:moveTo>
                  <a:lnTo>
                    <a:pt x="173" y="103"/>
                  </a:lnTo>
                  <a:lnTo>
                    <a:pt x="112" y="148"/>
                  </a:lnTo>
                  <a:lnTo>
                    <a:pt x="287" y="216"/>
                  </a:lnTo>
                  <a:lnTo>
                    <a:pt x="186" y="141"/>
                  </a:lnTo>
                  <a:lnTo>
                    <a:pt x="247" y="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36" name="Freeform 1368"/>
            <p:cNvSpPr>
              <a:spLocks/>
            </p:cNvSpPr>
            <p:nvPr/>
          </p:nvSpPr>
          <p:spPr bwMode="auto">
            <a:xfrm>
              <a:off x="8671" y="9046"/>
              <a:ext cx="95" cy="63"/>
            </a:xfrm>
            <a:custGeom>
              <a:avLst/>
              <a:gdLst>
                <a:gd name="T0" fmla="*/ 185 w 191"/>
                <a:gd name="T1" fmla="*/ 124 h 127"/>
                <a:gd name="T2" fmla="*/ 185 w 191"/>
                <a:gd name="T3" fmla="*/ 104 h 127"/>
                <a:gd name="T4" fmla="*/ 12 w 191"/>
                <a:gd name="T5" fmla="*/ 0 h 127"/>
                <a:gd name="T6" fmla="*/ 0 w 191"/>
                <a:gd name="T7" fmla="*/ 22 h 127"/>
                <a:gd name="T8" fmla="*/ 172 w 191"/>
                <a:gd name="T9" fmla="*/ 125 h 127"/>
                <a:gd name="T10" fmla="*/ 172 w 191"/>
                <a:gd name="T11" fmla="*/ 105 h 127"/>
                <a:gd name="T12" fmla="*/ 172 w 191"/>
                <a:gd name="T13" fmla="*/ 125 h 127"/>
                <a:gd name="T14" fmla="*/ 182 w 191"/>
                <a:gd name="T15" fmla="*/ 127 h 127"/>
                <a:gd name="T16" fmla="*/ 189 w 191"/>
                <a:gd name="T17" fmla="*/ 120 h 127"/>
                <a:gd name="T18" fmla="*/ 191 w 191"/>
                <a:gd name="T19" fmla="*/ 111 h 127"/>
                <a:gd name="T20" fmla="*/ 185 w 191"/>
                <a:gd name="T21" fmla="*/ 104 h 127"/>
                <a:gd name="T22" fmla="*/ 185 w 191"/>
                <a:gd name="T23" fmla="*/ 124 h 12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91"/>
                <a:gd name="T37" fmla="*/ 0 h 127"/>
                <a:gd name="T38" fmla="*/ 191 w 191"/>
                <a:gd name="T39" fmla="*/ 127 h 12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91" h="127">
                  <a:moveTo>
                    <a:pt x="185" y="124"/>
                  </a:moveTo>
                  <a:lnTo>
                    <a:pt x="185" y="104"/>
                  </a:lnTo>
                  <a:lnTo>
                    <a:pt x="12" y="0"/>
                  </a:lnTo>
                  <a:lnTo>
                    <a:pt x="0" y="22"/>
                  </a:lnTo>
                  <a:lnTo>
                    <a:pt x="172" y="125"/>
                  </a:lnTo>
                  <a:lnTo>
                    <a:pt x="172" y="105"/>
                  </a:lnTo>
                  <a:lnTo>
                    <a:pt x="172" y="125"/>
                  </a:lnTo>
                  <a:lnTo>
                    <a:pt x="182" y="127"/>
                  </a:lnTo>
                  <a:lnTo>
                    <a:pt x="189" y="120"/>
                  </a:lnTo>
                  <a:lnTo>
                    <a:pt x="191" y="111"/>
                  </a:lnTo>
                  <a:lnTo>
                    <a:pt x="185" y="104"/>
                  </a:lnTo>
                  <a:lnTo>
                    <a:pt x="185" y="1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37" name="Freeform 1369"/>
            <p:cNvSpPr>
              <a:spLocks/>
            </p:cNvSpPr>
            <p:nvPr/>
          </p:nvSpPr>
          <p:spPr bwMode="auto">
            <a:xfrm>
              <a:off x="8724" y="9099"/>
              <a:ext cx="39" cy="32"/>
            </a:xfrm>
            <a:custGeom>
              <a:avLst/>
              <a:gdLst>
                <a:gd name="T0" fmla="*/ 15 w 78"/>
                <a:gd name="T1" fmla="*/ 43 h 64"/>
                <a:gd name="T2" fmla="*/ 17 w 78"/>
                <a:gd name="T3" fmla="*/ 63 h 64"/>
                <a:gd name="T4" fmla="*/ 78 w 78"/>
                <a:gd name="T5" fmla="*/ 19 h 64"/>
                <a:gd name="T6" fmla="*/ 65 w 78"/>
                <a:gd name="T7" fmla="*/ 0 h 64"/>
                <a:gd name="T8" fmla="*/ 4 w 78"/>
                <a:gd name="T9" fmla="*/ 44 h 64"/>
                <a:gd name="T10" fmla="*/ 6 w 78"/>
                <a:gd name="T11" fmla="*/ 64 h 64"/>
                <a:gd name="T12" fmla="*/ 4 w 78"/>
                <a:gd name="T13" fmla="*/ 44 h 64"/>
                <a:gd name="T14" fmla="*/ 0 w 78"/>
                <a:gd name="T15" fmla="*/ 52 h 64"/>
                <a:gd name="T16" fmla="*/ 1 w 78"/>
                <a:gd name="T17" fmla="*/ 60 h 64"/>
                <a:gd name="T18" fmla="*/ 7 w 78"/>
                <a:gd name="T19" fmla="*/ 64 h 64"/>
                <a:gd name="T20" fmla="*/ 17 w 78"/>
                <a:gd name="T21" fmla="*/ 63 h 64"/>
                <a:gd name="T22" fmla="*/ 15 w 78"/>
                <a:gd name="T23" fmla="*/ 43 h 6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8"/>
                <a:gd name="T37" fmla="*/ 0 h 64"/>
                <a:gd name="T38" fmla="*/ 78 w 78"/>
                <a:gd name="T39" fmla="*/ 64 h 6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8" h="64">
                  <a:moveTo>
                    <a:pt x="15" y="43"/>
                  </a:moveTo>
                  <a:lnTo>
                    <a:pt x="17" y="63"/>
                  </a:lnTo>
                  <a:lnTo>
                    <a:pt x="78" y="19"/>
                  </a:lnTo>
                  <a:lnTo>
                    <a:pt x="65" y="0"/>
                  </a:lnTo>
                  <a:lnTo>
                    <a:pt x="4" y="44"/>
                  </a:lnTo>
                  <a:lnTo>
                    <a:pt x="6" y="64"/>
                  </a:lnTo>
                  <a:lnTo>
                    <a:pt x="4" y="44"/>
                  </a:lnTo>
                  <a:lnTo>
                    <a:pt x="0" y="52"/>
                  </a:lnTo>
                  <a:lnTo>
                    <a:pt x="1" y="60"/>
                  </a:lnTo>
                  <a:lnTo>
                    <a:pt x="7" y="64"/>
                  </a:lnTo>
                  <a:lnTo>
                    <a:pt x="17" y="63"/>
                  </a:lnTo>
                  <a:lnTo>
                    <a:pt x="15" y="4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38" name="Freeform 1370"/>
            <p:cNvSpPr>
              <a:spLocks/>
            </p:cNvSpPr>
            <p:nvPr/>
          </p:nvSpPr>
          <p:spPr bwMode="auto">
            <a:xfrm>
              <a:off x="8727" y="9120"/>
              <a:ext cx="95" cy="45"/>
            </a:xfrm>
            <a:custGeom>
              <a:avLst/>
              <a:gdLst>
                <a:gd name="T0" fmla="*/ 172 w 191"/>
                <a:gd name="T1" fmla="*/ 88 h 90"/>
                <a:gd name="T2" fmla="*/ 185 w 191"/>
                <a:gd name="T3" fmla="*/ 68 h 90"/>
                <a:gd name="T4" fmla="*/ 9 w 191"/>
                <a:gd name="T5" fmla="*/ 0 h 90"/>
                <a:gd name="T6" fmla="*/ 0 w 191"/>
                <a:gd name="T7" fmla="*/ 21 h 90"/>
                <a:gd name="T8" fmla="*/ 175 w 191"/>
                <a:gd name="T9" fmla="*/ 90 h 90"/>
                <a:gd name="T10" fmla="*/ 188 w 191"/>
                <a:gd name="T11" fmla="*/ 70 h 90"/>
                <a:gd name="T12" fmla="*/ 175 w 191"/>
                <a:gd name="T13" fmla="*/ 90 h 90"/>
                <a:gd name="T14" fmla="*/ 185 w 191"/>
                <a:gd name="T15" fmla="*/ 90 h 90"/>
                <a:gd name="T16" fmla="*/ 191 w 191"/>
                <a:gd name="T17" fmla="*/ 83 h 90"/>
                <a:gd name="T18" fmla="*/ 191 w 191"/>
                <a:gd name="T19" fmla="*/ 74 h 90"/>
                <a:gd name="T20" fmla="*/ 185 w 191"/>
                <a:gd name="T21" fmla="*/ 68 h 90"/>
                <a:gd name="T22" fmla="*/ 172 w 191"/>
                <a:gd name="T23" fmla="*/ 88 h 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91"/>
                <a:gd name="T37" fmla="*/ 0 h 90"/>
                <a:gd name="T38" fmla="*/ 191 w 191"/>
                <a:gd name="T39" fmla="*/ 90 h 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91" h="90">
                  <a:moveTo>
                    <a:pt x="172" y="88"/>
                  </a:moveTo>
                  <a:lnTo>
                    <a:pt x="185" y="68"/>
                  </a:lnTo>
                  <a:lnTo>
                    <a:pt x="9" y="0"/>
                  </a:lnTo>
                  <a:lnTo>
                    <a:pt x="0" y="21"/>
                  </a:lnTo>
                  <a:lnTo>
                    <a:pt x="175" y="90"/>
                  </a:lnTo>
                  <a:lnTo>
                    <a:pt x="188" y="70"/>
                  </a:lnTo>
                  <a:lnTo>
                    <a:pt x="175" y="90"/>
                  </a:lnTo>
                  <a:lnTo>
                    <a:pt x="185" y="90"/>
                  </a:lnTo>
                  <a:lnTo>
                    <a:pt x="191" y="83"/>
                  </a:lnTo>
                  <a:lnTo>
                    <a:pt x="191" y="74"/>
                  </a:lnTo>
                  <a:lnTo>
                    <a:pt x="185" y="68"/>
                  </a:lnTo>
                  <a:lnTo>
                    <a:pt x="172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39" name="Freeform 1371"/>
            <p:cNvSpPr>
              <a:spLocks/>
            </p:cNvSpPr>
            <p:nvPr/>
          </p:nvSpPr>
          <p:spPr bwMode="auto">
            <a:xfrm>
              <a:off x="8761" y="9116"/>
              <a:ext cx="60" cy="48"/>
            </a:xfrm>
            <a:custGeom>
              <a:avLst/>
              <a:gdLst>
                <a:gd name="T0" fmla="*/ 5 w 121"/>
                <a:gd name="T1" fmla="*/ 3 h 96"/>
                <a:gd name="T2" fmla="*/ 5 w 121"/>
                <a:gd name="T3" fmla="*/ 22 h 96"/>
                <a:gd name="T4" fmla="*/ 105 w 121"/>
                <a:gd name="T5" fmla="*/ 96 h 96"/>
                <a:gd name="T6" fmla="*/ 121 w 121"/>
                <a:gd name="T7" fmla="*/ 78 h 96"/>
                <a:gd name="T8" fmla="*/ 20 w 121"/>
                <a:gd name="T9" fmla="*/ 3 h 96"/>
                <a:gd name="T10" fmla="*/ 20 w 121"/>
                <a:gd name="T11" fmla="*/ 22 h 96"/>
                <a:gd name="T12" fmla="*/ 20 w 121"/>
                <a:gd name="T13" fmla="*/ 3 h 96"/>
                <a:gd name="T14" fmla="*/ 11 w 121"/>
                <a:gd name="T15" fmla="*/ 0 h 96"/>
                <a:gd name="T16" fmla="*/ 3 w 121"/>
                <a:gd name="T17" fmla="*/ 5 h 96"/>
                <a:gd name="T18" fmla="*/ 0 w 121"/>
                <a:gd name="T19" fmla="*/ 14 h 96"/>
                <a:gd name="T20" fmla="*/ 5 w 121"/>
                <a:gd name="T21" fmla="*/ 22 h 96"/>
                <a:gd name="T22" fmla="*/ 5 w 121"/>
                <a:gd name="T23" fmla="*/ 3 h 9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1"/>
                <a:gd name="T37" fmla="*/ 0 h 96"/>
                <a:gd name="T38" fmla="*/ 121 w 121"/>
                <a:gd name="T39" fmla="*/ 96 h 9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1" h="96">
                  <a:moveTo>
                    <a:pt x="5" y="3"/>
                  </a:moveTo>
                  <a:lnTo>
                    <a:pt x="5" y="22"/>
                  </a:lnTo>
                  <a:lnTo>
                    <a:pt x="105" y="96"/>
                  </a:lnTo>
                  <a:lnTo>
                    <a:pt x="121" y="78"/>
                  </a:lnTo>
                  <a:lnTo>
                    <a:pt x="20" y="3"/>
                  </a:lnTo>
                  <a:lnTo>
                    <a:pt x="20" y="22"/>
                  </a:lnTo>
                  <a:lnTo>
                    <a:pt x="20" y="3"/>
                  </a:lnTo>
                  <a:lnTo>
                    <a:pt x="11" y="0"/>
                  </a:lnTo>
                  <a:lnTo>
                    <a:pt x="3" y="5"/>
                  </a:lnTo>
                  <a:lnTo>
                    <a:pt x="0" y="14"/>
                  </a:lnTo>
                  <a:lnTo>
                    <a:pt x="5" y="22"/>
                  </a:lnTo>
                  <a:lnTo>
                    <a:pt x="5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40" name="Freeform 1372"/>
            <p:cNvSpPr>
              <a:spLocks/>
            </p:cNvSpPr>
            <p:nvPr/>
          </p:nvSpPr>
          <p:spPr bwMode="auto">
            <a:xfrm>
              <a:off x="8763" y="9093"/>
              <a:ext cx="40" cy="34"/>
            </a:xfrm>
            <a:custGeom>
              <a:avLst/>
              <a:gdLst>
                <a:gd name="T0" fmla="*/ 64 w 81"/>
                <a:gd name="T1" fmla="*/ 22 h 67"/>
                <a:gd name="T2" fmla="*/ 61 w 81"/>
                <a:gd name="T3" fmla="*/ 3 h 67"/>
                <a:gd name="T4" fmla="*/ 0 w 81"/>
                <a:gd name="T5" fmla="*/ 48 h 67"/>
                <a:gd name="T6" fmla="*/ 15 w 81"/>
                <a:gd name="T7" fmla="*/ 67 h 67"/>
                <a:gd name="T8" fmla="*/ 76 w 81"/>
                <a:gd name="T9" fmla="*/ 21 h 67"/>
                <a:gd name="T10" fmla="*/ 73 w 81"/>
                <a:gd name="T11" fmla="*/ 1 h 67"/>
                <a:gd name="T12" fmla="*/ 76 w 81"/>
                <a:gd name="T13" fmla="*/ 21 h 67"/>
                <a:gd name="T14" fmla="*/ 81 w 81"/>
                <a:gd name="T15" fmla="*/ 13 h 67"/>
                <a:gd name="T16" fmla="*/ 77 w 81"/>
                <a:gd name="T17" fmla="*/ 4 h 67"/>
                <a:gd name="T18" fmla="*/ 70 w 81"/>
                <a:gd name="T19" fmla="*/ 0 h 67"/>
                <a:gd name="T20" fmla="*/ 61 w 81"/>
                <a:gd name="T21" fmla="*/ 3 h 67"/>
                <a:gd name="T22" fmla="*/ 64 w 81"/>
                <a:gd name="T23" fmla="*/ 22 h 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1"/>
                <a:gd name="T37" fmla="*/ 0 h 67"/>
                <a:gd name="T38" fmla="*/ 81 w 81"/>
                <a:gd name="T39" fmla="*/ 67 h 6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1" h="67">
                  <a:moveTo>
                    <a:pt x="64" y="22"/>
                  </a:moveTo>
                  <a:lnTo>
                    <a:pt x="61" y="3"/>
                  </a:lnTo>
                  <a:lnTo>
                    <a:pt x="0" y="48"/>
                  </a:lnTo>
                  <a:lnTo>
                    <a:pt x="15" y="67"/>
                  </a:lnTo>
                  <a:lnTo>
                    <a:pt x="76" y="21"/>
                  </a:lnTo>
                  <a:lnTo>
                    <a:pt x="73" y="1"/>
                  </a:lnTo>
                  <a:lnTo>
                    <a:pt x="76" y="21"/>
                  </a:lnTo>
                  <a:lnTo>
                    <a:pt x="81" y="13"/>
                  </a:lnTo>
                  <a:lnTo>
                    <a:pt x="77" y="4"/>
                  </a:lnTo>
                  <a:lnTo>
                    <a:pt x="70" y="0"/>
                  </a:lnTo>
                  <a:lnTo>
                    <a:pt x="61" y="3"/>
                  </a:lnTo>
                  <a:lnTo>
                    <a:pt x="64" y="2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41" name="Freeform 1373"/>
            <p:cNvSpPr>
              <a:spLocks/>
            </p:cNvSpPr>
            <p:nvPr/>
          </p:nvSpPr>
          <p:spPr bwMode="auto">
            <a:xfrm>
              <a:off x="8668" y="9046"/>
              <a:ext cx="131" cy="59"/>
            </a:xfrm>
            <a:custGeom>
              <a:avLst/>
              <a:gdLst>
                <a:gd name="T0" fmla="*/ 17 w 263"/>
                <a:gd name="T1" fmla="*/ 0 h 117"/>
                <a:gd name="T2" fmla="*/ 7 w 263"/>
                <a:gd name="T3" fmla="*/ 22 h 117"/>
                <a:gd name="T4" fmla="*/ 254 w 263"/>
                <a:gd name="T5" fmla="*/ 117 h 117"/>
                <a:gd name="T6" fmla="*/ 263 w 263"/>
                <a:gd name="T7" fmla="*/ 96 h 117"/>
                <a:gd name="T8" fmla="*/ 16 w 263"/>
                <a:gd name="T9" fmla="*/ 0 h 117"/>
                <a:gd name="T10" fmla="*/ 5 w 263"/>
                <a:gd name="T11" fmla="*/ 22 h 117"/>
                <a:gd name="T12" fmla="*/ 16 w 263"/>
                <a:gd name="T13" fmla="*/ 0 h 117"/>
                <a:gd name="T14" fmla="*/ 7 w 263"/>
                <a:gd name="T15" fmla="*/ 0 h 117"/>
                <a:gd name="T16" fmla="*/ 0 w 263"/>
                <a:gd name="T17" fmla="*/ 6 h 117"/>
                <a:gd name="T18" fmla="*/ 0 w 263"/>
                <a:gd name="T19" fmla="*/ 16 h 117"/>
                <a:gd name="T20" fmla="*/ 7 w 263"/>
                <a:gd name="T21" fmla="*/ 22 h 117"/>
                <a:gd name="T22" fmla="*/ 17 w 263"/>
                <a:gd name="T23" fmla="*/ 0 h 1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63"/>
                <a:gd name="T37" fmla="*/ 0 h 117"/>
                <a:gd name="T38" fmla="*/ 263 w 263"/>
                <a:gd name="T39" fmla="*/ 117 h 11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63" h="117">
                  <a:moveTo>
                    <a:pt x="17" y="0"/>
                  </a:moveTo>
                  <a:lnTo>
                    <a:pt x="7" y="22"/>
                  </a:lnTo>
                  <a:lnTo>
                    <a:pt x="254" y="117"/>
                  </a:lnTo>
                  <a:lnTo>
                    <a:pt x="263" y="96"/>
                  </a:lnTo>
                  <a:lnTo>
                    <a:pt x="16" y="0"/>
                  </a:lnTo>
                  <a:lnTo>
                    <a:pt x="5" y="22"/>
                  </a:lnTo>
                  <a:lnTo>
                    <a:pt x="16" y="0"/>
                  </a:lnTo>
                  <a:lnTo>
                    <a:pt x="7" y="0"/>
                  </a:lnTo>
                  <a:lnTo>
                    <a:pt x="0" y="6"/>
                  </a:lnTo>
                  <a:lnTo>
                    <a:pt x="0" y="16"/>
                  </a:lnTo>
                  <a:lnTo>
                    <a:pt x="7" y="22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42" name="Freeform 1374"/>
            <p:cNvSpPr>
              <a:spLocks/>
            </p:cNvSpPr>
            <p:nvPr/>
          </p:nvSpPr>
          <p:spPr bwMode="auto">
            <a:xfrm>
              <a:off x="8681" y="9055"/>
              <a:ext cx="131" cy="102"/>
            </a:xfrm>
            <a:custGeom>
              <a:avLst/>
              <a:gdLst>
                <a:gd name="T0" fmla="*/ 0 w 263"/>
                <a:gd name="T1" fmla="*/ 0 h 203"/>
                <a:gd name="T2" fmla="*/ 229 w 263"/>
                <a:gd name="T3" fmla="*/ 89 h 203"/>
                <a:gd name="T4" fmla="*/ 170 w 263"/>
                <a:gd name="T5" fmla="*/ 133 h 203"/>
                <a:gd name="T6" fmla="*/ 263 w 263"/>
                <a:gd name="T7" fmla="*/ 203 h 203"/>
                <a:gd name="T8" fmla="*/ 100 w 263"/>
                <a:gd name="T9" fmla="*/ 140 h 203"/>
                <a:gd name="T10" fmla="*/ 161 w 263"/>
                <a:gd name="T11" fmla="*/ 95 h 203"/>
                <a:gd name="T12" fmla="*/ 0 w 263"/>
                <a:gd name="T13" fmla="*/ 0 h 2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63"/>
                <a:gd name="T22" fmla="*/ 0 h 203"/>
                <a:gd name="T23" fmla="*/ 263 w 263"/>
                <a:gd name="T24" fmla="*/ 203 h 20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63" h="203">
                  <a:moveTo>
                    <a:pt x="0" y="0"/>
                  </a:moveTo>
                  <a:lnTo>
                    <a:pt x="229" y="89"/>
                  </a:lnTo>
                  <a:lnTo>
                    <a:pt x="170" y="133"/>
                  </a:lnTo>
                  <a:lnTo>
                    <a:pt x="263" y="203"/>
                  </a:lnTo>
                  <a:lnTo>
                    <a:pt x="100" y="140"/>
                  </a:lnTo>
                  <a:lnTo>
                    <a:pt x="161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19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43" name="Freeform 1375"/>
            <p:cNvSpPr>
              <a:spLocks/>
            </p:cNvSpPr>
            <p:nvPr/>
          </p:nvSpPr>
          <p:spPr bwMode="auto">
            <a:xfrm>
              <a:off x="8689" y="9059"/>
              <a:ext cx="120" cy="96"/>
            </a:xfrm>
            <a:custGeom>
              <a:avLst/>
              <a:gdLst>
                <a:gd name="T0" fmla="*/ 0 w 239"/>
                <a:gd name="T1" fmla="*/ 0 h 192"/>
                <a:gd name="T2" fmla="*/ 210 w 239"/>
                <a:gd name="T3" fmla="*/ 82 h 192"/>
                <a:gd name="T4" fmla="*/ 151 w 239"/>
                <a:gd name="T5" fmla="*/ 126 h 192"/>
                <a:gd name="T6" fmla="*/ 239 w 239"/>
                <a:gd name="T7" fmla="*/ 192 h 192"/>
                <a:gd name="T8" fmla="*/ 87 w 239"/>
                <a:gd name="T9" fmla="*/ 133 h 192"/>
                <a:gd name="T10" fmla="*/ 148 w 239"/>
                <a:gd name="T11" fmla="*/ 88 h 192"/>
                <a:gd name="T12" fmla="*/ 0 w 239"/>
                <a:gd name="T13" fmla="*/ 0 h 1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9"/>
                <a:gd name="T22" fmla="*/ 0 h 192"/>
                <a:gd name="T23" fmla="*/ 239 w 239"/>
                <a:gd name="T24" fmla="*/ 192 h 1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9" h="192">
                  <a:moveTo>
                    <a:pt x="0" y="0"/>
                  </a:moveTo>
                  <a:lnTo>
                    <a:pt x="210" y="82"/>
                  </a:lnTo>
                  <a:lnTo>
                    <a:pt x="151" y="126"/>
                  </a:lnTo>
                  <a:lnTo>
                    <a:pt x="239" y="192"/>
                  </a:lnTo>
                  <a:lnTo>
                    <a:pt x="87" y="133"/>
                  </a:lnTo>
                  <a:lnTo>
                    <a:pt x="148" y="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44" name="Freeform 1376"/>
            <p:cNvSpPr>
              <a:spLocks/>
            </p:cNvSpPr>
            <p:nvPr/>
          </p:nvSpPr>
          <p:spPr bwMode="auto">
            <a:xfrm>
              <a:off x="8696" y="9063"/>
              <a:ext cx="108" cy="90"/>
            </a:xfrm>
            <a:custGeom>
              <a:avLst/>
              <a:gdLst>
                <a:gd name="T0" fmla="*/ 0 w 215"/>
                <a:gd name="T1" fmla="*/ 0 h 179"/>
                <a:gd name="T2" fmla="*/ 194 w 215"/>
                <a:gd name="T3" fmla="*/ 74 h 179"/>
                <a:gd name="T4" fmla="*/ 133 w 215"/>
                <a:gd name="T5" fmla="*/ 118 h 179"/>
                <a:gd name="T6" fmla="*/ 215 w 215"/>
                <a:gd name="T7" fmla="*/ 179 h 179"/>
                <a:gd name="T8" fmla="*/ 75 w 215"/>
                <a:gd name="T9" fmla="*/ 125 h 179"/>
                <a:gd name="T10" fmla="*/ 136 w 215"/>
                <a:gd name="T11" fmla="*/ 80 h 179"/>
                <a:gd name="T12" fmla="*/ 0 w 215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5"/>
                <a:gd name="T22" fmla="*/ 0 h 179"/>
                <a:gd name="T23" fmla="*/ 215 w 215"/>
                <a:gd name="T24" fmla="*/ 179 h 17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5" h="179">
                  <a:moveTo>
                    <a:pt x="0" y="0"/>
                  </a:moveTo>
                  <a:lnTo>
                    <a:pt x="194" y="74"/>
                  </a:lnTo>
                  <a:lnTo>
                    <a:pt x="133" y="118"/>
                  </a:lnTo>
                  <a:lnTo>
                    <a:pt x="215" y="179"/>
                  </a:lnTo>
                  <a:lnTo>
                    <a:pt x="75" y="125"/>
                  </a:lnTo>
                  <a:lnTo>
                    <a:pt x="136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4C4C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45" name="Freeform 1377"/>
            <p:cNvSpPr>
              <a:spLocks/>
            </p:cNvSpPr>
            <p:nvPr/>
          </p:nvSpPr>
          <p:spPr bwMode="auto">
            <a:xfrm>
              <a:off x="8704" y="9066"/>
              <a:ext cx="95" cy="84"/>
            </a:xfrm>
            <a:custGeom>
              <a:avLst/>
              <a:gdLst>
                <a:gd name="T0" fmla="*/ 0 w 191"/>
                <a:gd name="T1" fmla="*/ 0 h 169"/>
                <a:gd name="T2" fmla="*/ 176 w 191"/>
                <a:gd name="T3" fmla="*/ 68 h 169"/>
                <a:gd name="T4" fmla="*/ 115 w 191"/>
                <a:gd name="T5" fmla="*/ 112 h 169"/>
                <a:gd name="T6" fmla="*/ 191 w 191"/>
                <a:gd name="T7" fmla="*/ 169 h 169"/>
                <a:gd name="T8" fmla="*/ 63 w 191"/>
                <a:gd name="T9" fmla="*/ 119 h 169"/>
                <a:gd name="T10" fmla="*/ 124 w 191"/>
                <a:gd name="T11" fmla="*/ 74 h 169"/>
                <a:gd name="T12" fmla="*/ 0 w 191"/>
                <a:gd name="T13" fmla="*/ 0 h 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1"/>
                <a:gd name="T22" fmla="*/ 0 h 169"/>
                <a:gd name="T23" fmla="*/ 191 w 191"/>
                <a:gd name="T24" fmla="*/ 169 h 16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1" h="169">
                  <a:moveTo>
                    <a:pt x="0" y="0"/>
                  </a:moveTo>
                  <a:lnTo>
                    <a:pt x="176" y="68"/>
                  </a:lnTo>
                  <a:lnTo>
                    <a:pt x="115" y="112"/>
                  </a:lnTo>
                  <a:lnTo>
                    <a:pt x="191" y="169"/>
                  </a:lnTo>
                  <a:lnTo>
                    <a:pt x="63" y="119"/>
                  </a:lnTo>
                  <a:lnTo>
                    <a:pt x="124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46" name="Freeform 1378"/>
            <p:cNvSpPr>
              <a:spLocks/>
            </p:cNvSpPr>
            <p:nvPr/>
          </p:nvSpPr>
          <p:spPr bwMode="auto">
            <a:xfrm>
              <a:off x="8711" y="9070"/>
              <a:ext cx="84" cy="78"/>
            </a:xfrm>
            <a:custGeom>
              <a:avLst/>
              <a:gdLst>
                <a:gd name="T0" fmla="*/ 0 w 168"/>
                <a:gd name="T1" fmla="*/ 0 h 156"/>
                <a:gd name="T2" fmla="*/ 159 w 168"/>
                <a:gd name="T3" fmla="*/ 62 h 156"/>
                <a:gd name="T4" fmla="*/ 99 w 168"/>
                <a:gd name="T5" fmla="*/ 106 h 156"/>
                <a:gd name="T6" fmla="*/ 168 w 168"/>
                <a:gd name="T7" fmla="*/ 156 h 156"/>
                <a:gd name="T8" fmla="*/ 52 w 168"/>
                <a:gd name="T9" fmla="*/ 111 h 156"/>
                <a:gd name="T10" fmla="*/ 113 w 168"/>
                <a:gd name="T11" fmla="*/ 66 h 156"/>
                <a:gd name="T12" fmla="*/ 0 w 168"/>
                <a:gd name="T13" fmla="*/ 0 h 1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8"/>
                <a:gd name="T22" fmla="*/ 0 h 156"/>
                <a:gd name="T23" fmla="*/ 168 w 168"/>
                <a:gd name="T24" fmla="*/ 156 h 1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8" h="156">
                  <a:moveTo>
                    <a:pt x="0" y="0"/>
                  </a:moveTo>
                  <a:lnTo>
                    <a:pt x="159" y="62"/>
                  </a:lnTo>
                  <a:lnTo>
                    <a:pt x="99" y="106"/>
                  </a:lnTo>
                  <a:lnTo>
                    <a:pt x="168" y="156"/>
                  </a:lnTo>
                  <a:lnTo>
                    <a:pt x="52" y="111"/>
                  </a:lnTo>
                  <a:lnTo>
                    <a:pt x="113" y="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47" name="Freeform 1379"/>
            <p:cNvSpPr>
              <a:spLocks/>
            </p:cNvSpPr>
            <p:nvPr/>
          </p:nvSpPr>
          <p:spPr bwMode="auto">
            <a:xfrm>
              <a:off x="8719" y="9074"/>
              <a:ext cx="72" cy="72"/>
            </a:xfrm>
            <a:custGeom>
              <a:avLst/>
              <a:gdLst>
                <a:gd name="T0" fmla="*/ 0 w 145"/>
                <a:gd name="T1" fmla="*/ 0 h 145"/>
                <a:gd name="T2" fmla="*/ 142 w 145"/>
                <a:gd name="T3" fmla="*/ 55 h 145"/>
                <a:gd name="T4" fmla="*/ 81 w 145"/>
                <a:gd name="T5" fmla="*/ 99 h 145"/>
                <a:gd name="T6" fmla="*/ 145 w 145"/>
                <a:gd name="T7" fmla="*/ 145 h 145"/>
                <a:gd name="T8" fmla="*/ 40 w 145"/>
                <a:gd name="T9" fmla="*/ 104 h 145"/>
                <a:gd name="T10" fmla="*/ 101 w 145"/>
                <a:gd name="T11" fmla="*/ 59 h 145"/>
                <a:gd name="T12" fmla="*/ 0 w 145"/>
                <a:gd name="T13" fmla="*/ 0 h 1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5"/>
                <a:gd name="T22" fmla="*/ 0 h 145"/>
                <a:gd name="T23" fmla="*/ 145 w 145"/>
                <a:gd name="T24" fmla="*/ 145 h 1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5" h="145">
                  <a:moveTo>
                    <a:pt x="0" y="0"/>
                  </a:moveTo>
                  <a:lnTo>
                    <a:pt x="142" y="55"/>
                  </a:lnTo>
                  <a:lnTo>
                    <a:pt x="81" y="99"/>
                  </a:lnTo>
                  <a:lnTo>
                    <a:pt x="145" y="145"/>
                  </a:lnTo>
                  <a:lnTo>
                    <a:pt x="40" y="104"/>
                  </a:lnTo>
                  <a:lnTo>
                    <a:pt x="101" y="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48" name="Freeform 1380"/>
            <p:cNvSpPr>
              <a:spLocks/>
            </p:cNvSpPr>
            <p:nvPr/>
          </p:nvSpPr>
          <p:spPr bwMode="auto">
            <a:xfrm>
              <a:off x="8726" y="9077"/>
              <a:ext cx="62" cy="66"/>
            </a:xfrm>
            <a:custGeom>
              <a:avLst/>
              <a:gdLst>
                <a:gd name="T0" fmla="*/ 0 w 124"/>
                <a:gd name="T1" fmla="*/ 0 h 130"/>
                <a:gd name="T2" fmla="*/ 124 w 124"/>
                <a:gd name="T3" fmla="*/ 47 h 130"/>
                <a:gd name="T4" fmla="*/ 63 w 124"/>
                <a:gd name="T5" fmla="*/ 91 h 130"/>
                <a:gd name="T6" fmla="*/ 121 w 124"/>
                <a:gd name="T7" fmla="*/ 130 h 130"/>
                <a:gd name="T8" fmla="*/ 28 w 124"/>
                <a:gd name="T9" fmla="*/ 96 h 130"/>
                <a:gd name="T10" fmla="*/ 89 w 124"/>
                <a:gd name="T11" fmla="*/ 51 h 130"/>
                <a:gd name="T12" fmla="*/ 0 w 124"/>
                <a:gd name="T13" fmla="*/ 0 h 1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"/>
                <a:gd name="T22" fmla="*/ 0 h 130"/>
                <a:gd name="T23" fmla="*/ 124 w 124"/>
                <a:gd name="T24" fmla="*/ 130 h 13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" h="130">
                  <a:moveTo>
                    <a:pt x="0" y="0"/>
                  </a:moveTo>
                  <a:lnTo>
                    <a:pt x="124" y="47"/>
                  </a:lnTo>
                  <a:lnTo>
                    <a:pt x="63" y="91"/>
                  </a:lnTo>
                  <a:lnTo>
                    <a:pt x="121" y="130"/>
                  </a:lnTo>
                  <a:lnTo>
                    <a:pt x="28" y="96"/>
                  </a:lnTo>
                  <a:lnTo>
                    <a:pt x="89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49" name="Freeform 1381"/>
            <p:cNvSpPr>
              <a:spLocks/>
            </p:cNvSpPr>
            <p:nvPr/>
          </p:nvSpPr>
          <p:spPr bwMode="auto">
            <a:xfrm>
              <a:off x="8734" y="9081"/>
              <a:ext cx="52" cy="59"/>
            </a:xfrm>
            <a:custGeom>
              <a:avLst/>
              <a:gdLst>
                <a:gd name="T0" fmla="*/ 0 w 105"/>
                <a:gd name="T1" fmla="*/ 0 h 119"/>
                <a:gd name="T2" fmla="*/ 105 w 105"/>
                <a:gd name="T3" fmla="*/ 40 h 119"/>
                <a:gd name="T4" fmla="*/ 45 w 105"/>
                <a:gd name="T5" fmla="*/ 84 h 119"/>
                <a:gd name="T6" fmla="*/ 96 w 105"/>
                <a:gd name="T7" fmla="*/ 119 h 119"/>
                <a:gd name="T8" fmla="*/ 15 w 105"/>
                <a:gd name="T9" fmla="*/ 89 h 119"/>
                <a:gd name="T10" fmla="*/ 74 w 105"/>
                <a:gd name="T11" fmla="*/ 44 h 119"/>
                <a:gd name="T12" fmla="*/ 0 w 105"/>
                <a:gd name="T13" fmla="*/ 0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5"/>
                <a:gd name="T22" fmla="*/ 0 h 119"/>
                <a:gd name="T23" fmla="*/ 105 w 105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5" h="119">
                  <a:moveTo>
                    <a:pt x="0" y="0"/>
                  </a:moveTo>
                  <a:lnTo>
                    <a:pt x="105" y="40"/>
                  </a:lnTo>
                  <a:lnTo>
                    <a:pt x="45" y="84"/>
                  </a:lnTo>
                  <a:lnTo>
                    <a:pt x="96" y="119"/>
                  </a:lnTo>
                  <a:lnTo>
                    <a:pt x="15" y="89"/>
                  </a:lnTo>
                  <a:lnTo>
                    <a:pt x="74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50" name="Freeform 1382"/>
            <p:cNvSpPr>
              <a:spLocks/>
            </p:cNvSpPr>
            <p:nvPr/>
          </p:nvSpPr>
          <p:spPr bwMode="auto">
            <a:xfrm>
              <a:off x="8741" y="9084"/>
              <a:ext cx="44" cy="54"/>
            </a:xfrm>
            <a:custGeom>
              <a:avLst/>
              <a:gdLst>
                <a:gd name="T0" fmla="*/ 0 w 89"/>
                <a:gd name="T1" fmla="*/ 0 h 108"/>
                <a:gd name="T2" fmla="*/ 89 w 89"/>
                <a:gd name="T3" fmla="*/ 35 h 108"/>
                <a:gd name="T4" fmla="*/ 29 w 89"/>
                <a:gd name="T5" fmla="*/ 79 h 108"/>
                <a:gd name="T6" fmla="*/ 74 w 89"/>
                <a:gd name="T7" fmla="*/ 108 h 108"/>
                <a:gd name="T8" fmla="*/ 5 w 89"/>
                <a:gd name="T9" fmla="*/ 83 h 108"/>
                <a:gd name="T10" fmla="*/ 64 w 89"/>
                <a:gd name="T11" fmla="*/ 38 h 108"/>
                <a:gd name="T12" fmla="*/ 0 w 89"/>
                <a:gd name="T13" fmla="*/ 0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9"/>
                <a:gd name="T22" fmla="*/ 0 h 108"/>
                <a:gd name="T23" fmla="*/ 89 w 89"/>
                <a:gd name="T24" fmla="*/ 108 h 1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9" h="108">
                  <a:moveTo>
                    <a:pt x="0" y="0"/>
                  </a:moveTo>
                  <a:lnTo>
                    <a:pt x="89" y="35"/>
                  </a:lnTo>
                  <a:lnTo>
                    <a:pt x="29" y="79"/>
                  </a:lnTo>
                  <a:lnTo>
                    <a:pt x="74" y="108"/>
                  </a:lnTo>
                  <a:lnTo>
                    <a:pt x="5" y="83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51" name="Freeform 1383"/>
            <p:cNvSpPr>
              <a:spLocks/>
            </p:cNvSpPr>
            <p:nvPr/>
          </p:nvSpPr>
          <p:spPr bwMode="auto">
            <a:xfrm>
              <a:off x="8745" y="9088"/>
              <a:ext cx="39" cy="48"/>
            </a:xfrm>
            <a:custGeom>
              <a:avLst/>
              <a:gdLst>
                <a:gd name="T0" fmla="*/ 8 w 79"/>
                <a:gd name="T1" fmla="*/ 0 h 96"/>
                <a:gd name="T2" fmla="*/ 60 w 79"/>
                <a:gd name="T3" fmla="*/ 30 h 96"/>
                <a:gd name="T4" fmla="*/ 0 w 79"/>
                <a:gd name="T5" fmla="*/ 75 h 96"/>
                <a:gd name="T6" fmla="*/ 58 w 79"/>
                <a:gd name="T7" fmla="*/ 96 h 96"/>
                <a:gd name="T8" fmla="*/ 18 w 79"/>
                <a:gd name="T9" fmla="*/ 71 h 96"/>
                <a:gd name="T10" fmla="*/ 79 w 79"/>
                <a:gd name="T11" fmla="*/ 27 h 96"/>
                <a:gd name="T12" fmla="*/ 8 w 79"/>
                <a:gd name="T13" fmla="*/ 0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9"/>
                <a:gd name="T22" fmla="*/ 0 h 96"/>
                <a:gd name="T23" fmla="*/ 79 w 79"/>
                <a:gd name="T24" fmla="*/ 96 h 9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9" h="96">
                  <a:moveTo>
                    <a:pt x="8" y="0"/>
                  </a:moveTo>
                  <a:lnTo>
                    <a:pt x="60" y="30"/>
                  </a:lnTo>
                  <a:lnTo>
                    <a:pt x="0" y="75"/>
                  </a:lnTo>
                  <a:lnTo>
                    <a:pt x="58" y="96"/>
                  </a:lnTo>
                  <a:lnTo>
                    <a:pt x="18" y="71"/>
                  </a:lnTo>
                  <a:lnTo>
                    <a:pt x="79" y="27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52" name="Freeform 1384"/>
            <p:cNvSpPr>
              <a:spLocks/>
            </p:cNvSpPr>
            <p:nvPr/>
          </p:nvSpPr>
          <p:spPr bwMode="auto">
            <a:xfrm>
              <a:off x="8579" y="9273"/>
              <a:ext cx="178" cy="66"/>
            </a:xfrm>
            <a:custGeom>
              <a:avLst/>
              <a:gdLst>
                <a:gd name="T0" fmla="*/ 0 w 355"/>
                <a:gd name="T1" fmla="*/ 108 h 133"/>
                <a:gd name="T2" fmla="*/ 194 w 355"/>
                <a:gd name="T3" fmla="*/ 58 h 133"/>
                <a:gd name="T4" fmla="*/ 183 w 355"/>
                <a:gd name="T5" fmla="*/ 133 h 133"/>
                <a:gd name="T6" fmla="*/ 355 w 355"/>
                <a:gd name="T7" fmla="*/ 57 h 133"/>
                <a:gd name="T8" fmla="*/ 232 w 355"/>
                <a:gd name="T9" fmla="*/ 75 h 133"/>
                <a:gd name="T10" fmla="*/ 243 w 355"/>
                <a:gd name="T11" fmla="*/ 0 h 133"/>
                <a:gd name="T12" fmla="*/ 0 w 355"/>
                <a:gd name="T13" fmla="*/ 108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55"/>
                <a:gd name="T22" fmla="*/ 0 h 133"/>
                <a:gd name="T23" fmla="*/ 355 w 355"/>
                <a:gd name="T24" fmla="*/ 133 h 1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55" h="133">
                  <a:moveTo>
                    <a:pt x="0" y="108"/>
                  </a:moveTo>
                  <a:lnTo>
                    <a:pt x="194" y="58"/>
                  </a:lnTo>
                  <a:lnTo>
                    <a:pt x="183" y="133"/>
                  </a:lnTo>
                  <a:lnTo>
                    <a:pt x="355" y="57"/>
                  </a:lnTo>
                  <a:lnTo>
                    <a:pt x="232" y="75"/>
                  </a:lnTo>
                  <a:lnTo>
                    <a:pt x="243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53" name="Freeform 1385"/>
            <p:cNvSpPr>
              <a:spLocks/>
            </p:cNvSpPr>
            <p:nvPr/>
          </p:nvSpPr>
          <p:spPr bwMode="auto">
            <a:xfrm>
              <a:off x="8577" y="9296"/>
              <a:ext cx="105" cy="37"/>
            </a:xfrm>
            <a:custGeom>
              <a:avLst/>
              <a:gdLst>
                <a:gd name="T0" fmla="*/ 209 w 209"/>
                <a:gd name="T1" fmla="*/ 14 h 75"/>
                <a:gd name="T2" fmla="*/ 194 w 209"/>
                <a:gd name="T3" fmla="*/ 0 h 75"/>
                <a:gd name="T4" fmla="*/ 0 w 209"/>
                <a:gd name="T5" fmla="*/ 50 h 75"/>
                <a:gd name="T6" fmla="*/ 6 w 209"/>
                <a:gd name="T7" fmla="*/ 75 h 75"/>
                <a:gd name="T8" fmla="*/ 200 w 209"/>
                <a:gd name="T9" fmla="*/ 24 h 75"/>
                <a:gd name="T10" fmla="*/ 184 w 209"/>
                <a:gd name="T11" fmla="*/ 11 h 75"/>
                <a:gd name="T12" fmla="*/ 200 w 209"/>
                <a:gd name="T13" fmla="*/ 24 h 75"/>
                <a:gd name="T14" fmla="*/ 207 w 209"/>
                <a:gd name="T15" fmla="*/ 18 h 75"/>
                <a:gd name="T16" fmla="*/ 209 w 209"/>
                <a:gd name="T17" fmla="*/ 9 h 75"/>
                <a:gd name="T18" fmla="*/ 203 w 209"/>
                <a:gd name="T19" fmla="*/ 2 h 75"/>
                <a:gd name="T20" fmla="*/ 194 w 209"/>
                <a:gd name="T21" fmla="*/ 0 h 75"/>
                <a:gd name="T22" fmla="*/ 209 w 209"/>
                <a:gd name="T23" fmla="*/ 14 h 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9"/>
                <a:gd name="T37" fmla="*/ 0 h 75"/>
                <a:gd name="T38" fmla="*/ 209 w 209"/>
                <a:gd name="T39" fmla="*/ 75 h 7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9" h="75">
                  <a:moveTo>
                    <a:pt x="209" y="14"/>
                  </a:moveTo>
                  <a:lnTo>
                    <a:pt x="194" y="0"/>
                  </a:lnTo>
                  <a:lnTo>
                    <a:pt x="0" y="50"/>
                  </a:lnTo>
                  <a:lnTo>
                    <a:pt x="6" y="75"/>
                  </a:lnTo>
                  <a:lnTo>
                    <a:pt x="200" y="24"/>
                  </a:lnTo>
                  <a:lnTo>
                    <a:pt x="184" y="11"/>
                  </a:lnTo>
                  <a:lnTo>
                    <a:pt x="200" y="24"/>
                  </a:lnTo>
                  <a:lnTo>
                    <a:pt x="207" y="18"/>
                  </a:lnTo>
                  <a:lnTo>
                    <a:pt x="209" y="9"/>
                  </a:lnTo>
                  <a:lnTo>
                    <a:pt x="203" y="2"/>
                  </a:lnTo>
                  <a:lnTo>
                    <a:pt x="194" y="0"/>
                  </a:lnTo>
                  <a:lnTo>
                    <a:pt x="20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54" name="Freeform 1386"/>
            <p:cNvSpPr>
              <a:spLocks/>
            </p:cNvSpPr>
            <p:nvPr/>
          </p:nvSpPr>
          <p:spPr bwMode="auto">
            <a:xfrm>
              <a:off x="8664" y="9301"/>
              <a:ext cx="18" cy="43"/>
            </a:xfrm>
            <a:custGeom>
              <a:avLst/>
              <a:gdLst>
                <a:gd name="T0" fmla="*/ 7 w 35"/>
                <a:gd name="T1" fmla="*/ 65 h 86"/>
                <a:gd name="T2" fmla="*/ 24 w 35"/>
                <a:gd name="T3" fmla="*/ 77 h 86"/>
                <a:gd name="T4" fmla="*/ 35 w 35"/>
                <a:gd name="T5" fmla="*/ 3 h 86"/>
                <a:gd name="T6" fmla="*/ 10 w 35"/>
                <a:gd name="T7" fmla="*/ 0 h 86"/>
                <a:gd name="T8" fmla="*/ 0 w 35"/>
                <a:gd name="T9" fmla="*/ 74 h 86"/>
                <a:gd name="T10" fmla="*/ 17 w 35"/>
                <a:gd name="T11" fmla="*/ 86 h 86"/>
                <a:gd name="T12" fmla="*/ 0 w 35"/>
                <a:gd name="T13" fmla="*/ 74 h 86"/>
                <a:gd name="T14" fmla="*/ 3 w 35"/>
                <a:gd name="T15" fmla="*/ 83 h 86"/>
                <a:gd name="T16" fmla="*/ 10 w 35"/>
                <a:gd name="T17" fmla="*/ 86 h 86"/>
                <a:gd name="T18" fmla="*/ 20 w 35"/>
                <a:gd name="T19" fmla="*/ 85 h 86"/>
                <a:gd name="T20" fmla="*/ 24 w 35"/>
                <a:gd name="T21" fmla="*/ 77 h 86"/>
                <a:gd name="T22" fmla="*/ 7 w 35"/>
                <a:gd name="T23" fmla="*/ 65 h 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5"/>
                <a:gd name="T37" fmla="*/ 0 h 86"/>
                <a:gd name="T38" fmla="*/ 35 w 35"/>
                <a:gd name="T39" fmla="*/ 86 h 8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5" h="86">
                  <a:moveTo>
                    <a:pt x="7" y="65"/>
                  </a:moveTo>
                  <a:lnTo>
                    <a:pt x="24" y="77"/>
                  </a:lnTo>
                  <a:lnTo>
                    <a:pt x="35" y="3"/>
                  </a:lnTo>
                  <a:lnTo>
                    <a:pt x="10" y="0"/>
                  </a:lnTo>
                  <a:lnTo>
                    <a:pt x="0" y="74"/>
                  </a:lnTo>
                  <a:lnTo>
                    <a:pt x="17" y="86"/>
                  </a:lnTo>
                  <a:lnTo>
                    <a:pt x="0" y="74"/>
                  </a:lnTo>
                  <a:lnTo>
                    <a:pt x="3" y="83"/>
                  </a:lnTo>
                  <a:lnTo>
                    <a:pt x="10" y="86"/>
                  </a:lnTo>
                  <a:lnTo>
                    <a:pt x="20" y="85"/>
                  </a:lnTo>
                  <a:lnTo>
                    <a:pt x="24" y="77"/>
                  </a:lnTo>
                  <a:lnTo>
                    <a:pt x="7" y="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55" name="Freeform 1387"/>
            <p:cNvSpPr>
              <a:spLocks/>
            </p:cNvSpPr>
            <p:nvPr/>
          </p:nvSpPr>
          <p:spPr bwMode="auto">
            <a:xfrm>
              <a:off x="8668" y="9295"/>
              <a:ext cx="94" cy="49"/>
            </a:xfrm>
            <a:custGeom>
              <a:avLst/>
              <a:gdLst>
                <a:gd name="T0" fmla="*/ 179 w 188"/>
                <a:gd name="T1" fmla="*/ 24 h 98"/>
                <a:gd name="T2" fmla="*/ 173 w 188"/>
                <a:gd name="T3" fmla="*/ 1 h 98"/>
                <a:gd name="T4" fmla="*/ 0 w 188"/>
                <a:gd name="T5" fmla="*/ 77 h 98"/>
                <a:gd name="T6" fmla="*/ 10 w 188"/>
                <a:gd name="T7" fmla="*/ 98 h 98"/>
                <a:gd name="T8" fmla="*/ 182 w 188"/>
                <a:gd name="T9" fmla="*/ 22 h 98"/>
                <a:gd name="T10" fmla="*/ 176 w 188"/>
                <a:gd name="T11" fmla="*/ 0 h 98"/>
                <a:gd name="T12" fmla="*/ 182 w 188"/>
                <a:gd name="T13" fmla="*/ 22 h 98"/>
                <a:gd name="T14" fmla="*/ 188 w 188"/>
                <a:gd name="T15" fmla="*/ 16 h 98"/>
                <a:gd name="T16" fmla="*/ 188 w 188"/>
                <a:gd name="T17" fmla="*/ 7 h 98"/>
                <a:gd name="T18" fmla="*/ 182 w 188"/>
                <a:gd name="T19" fmla="*/ 1 h 98"/>
                <a:gd name="T20" fmla="*/ 173 w 188"/>
                <a:gd name="T21" fmla="*/ 1 h 98"/>
                <a:gd name="T22" fmla="*/ 179 w 188"/>
                <a:gd name="T23" fmla="*/ 24 h 9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88"/>
                <a:gd name="T37" fmla="*/ 0 h 98"/>
                <a:gd name="T38" fmla="*/ 188 w 188"/>
                <a:gd name="T39" fmla="*/ 98 h 9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88" h="98">
                  <a:moveTo>
                    <a:pt x="179" y="24"/>
                  </a:moveTo>
                  <a:lnTo>
                    <a:pt x="173" y="1"/>
                  </a:lnTo>
                  <a:lnTo>
                    <a:pt x="0" y="77"/>
                  </a:lnTo>
                  <a:lnTo>
                    <a:pt x="10" y="98"/>
                  </a:lnTo>
                  <a:lnTo>
                    <a:pt x="182" y="22"/>
                  </a:lnTo>
                  <a:lnTo>
                    <a:pt x="176" y="0"/>
                  </a:lnTo>
                  <a:lnTo>
                    <a:pt x="182" y="22"/>
                  </a:lnTo>
                  <a:lnTo>
                    <a:pt x="188" y="16"/>
                  </a:lnTo>
                  <a:lnTo>
                    <a:pt x="188" y="7"/>
                  </a:lnTo>
                  <a:lnTo>
                    <a:pt x="182" y="1"/>
                  </a:lnTo>
                  <a:lnTo>
                    <a:pt x="173" y="1"/>
                  </a:lnTo>
                  <a:lnTo>
                    <a:pt x="179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56" name="Freeform 1388"/>
            <p:cNvSpPr>
              <a:spLocks/>
            </p:cNvSpPr>
            <p:nvPr/>
          </p:nvSpPr>
          <p:spPr bwMode="auto">
            <a:xfrm>
              <a:off x="8689" y="9295"/>
              <a:ext cx="68" cy="21"/>
            </a:xfrm>
            <a:custGeom>
              <a:avLst/>
              <a:gdLst>
                <a:gd name="T0" fmla="*/ 0 w 137"/>
                <a:gd name="T1" fmla="*/ 28 h 42"/>
                <a:gd name="T2" fmla="*/ 13 w 137"/>
                <a:gd name="T3" fmla="*/ 42 h 42"/>
                <a:gd name="T4" fmla="*/ 137 w 137"/>
                <a:gd name="T5" fmla="*/ 24 h 42"/>
                <a:gd name="T6" fmla="*/ 134 w 137"/>
                <a:gd name="T7" fmla="*/ 0 h 42"/>
                <a:gd name="T8" fmla="*/ 10 w 137"/>
                <a:gd name="T9" fmla="*/ 18 h 42"/>
                <a:gd name="T10" fmla="*/ 24 w 137"/>
                <a:gd name="T11" fmla="*/ 31 h 42"/>
                <a:gd name="T12" fmla="*/ 10 w 137"/>
                <a:gd name="T13" fmla="*/ 18 h 42"/>
                <a:gd name="T14" fmla="*/ 3 w 137"/>
                <a:gd name="T15" fmla="*/ 22 h 42"/>
                <a:gd name="T16" fmla="*/ 1 w 137"/>
                <a:gd name="T17" fmla="*/ 31 h 42"/>
                <a:gd name="T18" fmla="*/ 4 w 137"/>
                <a:gd name="T19" fmla="*/ 39 h 42"/>
                <a:gd name="T20" fmla="*/ 13 w 137"/>
                <a:gd name="T21" fmla="*/ 42 h 42"/>
                <a:gd name="T22" fmla="*/ 0 w 137"/>
                <a:gd name="T23" fmla="*/ 28 h 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7"/>
                <a:gd name="T37" fmla="*/ 0 h 42"/>
                <a:gd name="T38" fmla="*/ 137 w 137"/>
                <a:gd name="T39" fmla="*/ 42 h 4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7" h="42">
                  <a:moveTo>
                    <a:pt x="0" y="28"/>
                  </a:moveTo>
                  <a:lnTo>
                    <a:pt x="13" y="42"/>
                  </a:lnTo>
                  <a:lnTo>
                    <a:pt x="137" y="24"/>
                  </a:lnTo>
                  <a:lnTo>
                    <a:pt x="134" y="0"/>
                  </a:lnTo>
                  <a:lnTo>
                    <a:pt x="10" y="18"/>
                  </a:lnTo>
                  <a:lnTo>
                    <a:pt x="24" y="31"/>
                  </a:lnTo>
                  <a:lnTo>
                    <a:pt x="10" y="18"/>
                  </a:lnTo>
                  <a:lnTo>
                    <a:pt x="3" y="22"/>
                  </a:lnTo>
                  <a:lnTo>
                    <a:pt x="1" y="31"/>
                  </a:lnTo>
                  <a:lnTo>
                    <a:pt x="4" y="39"/>
                  </a:lnTo>
                  <a:lnTo>
                    <a:pt x="13" y="42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57" name="Freeform 1389"/>
            <p:cNvSpPr>
              <a:spLocks/>
            </p:cNvSpPr>
            <p:nvPr/>
          </p:nvSpPr>
          <p:spPr bwMode="auto">
            <a:xfrm>
              <a:off x="8689" y="9267"/>
              <a:ext cx="17" cy="44"/>
            </a:xfrm>
            <a:custGeom>
              <a:avLst/>
              <a:gdLst>
                <a:gd name="T0" fmla="*/ 27 w 35"/>
                <a:gd name="T1" fmla="*/ 23 h 88"/>
                <a:gd name="T2" fmla="*/ 10 w 35"/>
                <a:gd name="T3" fmla="*/ 11 h 88"/>
                <a:gd name="T4" fmla="*/ 0 w 35"/>
                <a:gd name="T5" fmla="*/ 85 h 88"/>
                <a:gd name="T6" fmla="*/ 24 w 35"/>
                <a:gd name="T7" fmla="*/ 88 h 88"/>
                <a:gd name="T8" fmla="*/ 35 w 35"/>
                <a:gd name="T9" fmla="*/ 14 h 88"/>
                <a:gd name="T10" fmla="*/ 18 w 35"/>
                <a:gd name="T11" fmla="*/ 2 h 88"/>
                <a:gd name="T12" fmla="*/ 35 w 35"/>
                <a:gd name="T13" fmla="*/ 14 h 88"/>
                <a:gd name="T14" fmla="*/ 32 w 35"/>
                <a:gd name="T15" fmla="*/ 5 h 88"/>
                <a:gd name="T16" fmla="*/ 24 w 35"/>
                <a:gd name="T17" fmla="*/ 0 h 88"/>
                <a:gd name="T18" fmla="*/ 15 w 35"/>
                <a:gd name="T19" fmla="*/ 3 h 88"/>
                <a:gd name="T20" fmla="*/ 10 w 35"/>
                <a:gd name="T21" fmla="*/ 11 h 88"/>
                <a:gd name="T22" fmla="*/ 27 w 35"/>
                <a:gd name="T23" fmla="*/ 23 h 8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5"/>
                <a:gd name="T37" fmla="*/ 0 h 88"/>
                <a:gd name="T38" fmla="*/ 35 w 35"/>
                <a:gd name="T39" fmla="*/ 88 h 8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5" h="88">
                  <a:moveTo>
                    <a:pt x="27" y="23"/>
                  </a:moveTo>
                  <a:lnTo>
                    <a:pt x="10" y="11"/>
                  </a:lnTo>
                  <a:lnTo>
                    <a:pt x="0" y="85"/>
                  </a:lnTo>
                  <a:lnTo>
                    <a:pt x="24" y="88"/>
                  </a:lnTo>
                  <a:lnTo>
                    <a:pt x="35" y="14"/>
                  </a:lnTo>
                  <a:lnTo>
                    <a:pt x="18" y="2"/>
                  </a:lnTo>
                  <a:lnTo>
                    <a:pt x="35" y="14"/>
                  </a:lnTo>
                  <a:lnTo>
                    <a:pt x="32" y="5"/>
                  </a:lnTo>
                  <a:lnTo>
                    <a:pt x="24" y="0"/>
                  </a:lnTo>
                  <a:lnTo>
                    <a:pt x="15" y="3"/>
                  </a:lnTo>
                  <a:lnTo>
                    <a:pt x="10" y="11"/>
                  </a:lnTo>
                  <a:lnTo>
                    <a:pt x="27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58" name="Freeform 1390"/>
            <p:cNvSpPr>
              <a:spLocks/>
            </p:cNvSpPr>
            <p:nvPr/>
          </p:nvSpPr>
          <p:spPr bwMode="auto">
            <a:xfrm>
              <a:off x="8574" y="9267"/>
              <a:ext cx="129" cy="66"/>
            </a:xfrm>
            <a:custGeom>
              <a:avLst/>
              <a:gdLst>
                <a:gd name="T0" fmla="*/ 8 w 258"/>
                <a:gd name="T1" fmla="*/ 106 h 131"/>
                <a:gd name="T2" fmla="*/ 15 w 258"/>
                <a:gd name="T3" fmla="*/ 129 h 131"/>
                <a:gd name="T4" fmla="*/ 258 w 258"/>
                <a:gd name="T5" fmla="*/ 21 h 131"/>
                <a:gd name="T6" fmla="*/ 249 w 258"/>
                <a:gd name="T7" fmla="*/ 0 h 131"/>
                <a:gd name="T8" fmla="*/ 6 w 258"/>
                <a:gd name="T9" fmla="*/ 108 h 131"/>
                <a:gd name="T10" fmla="*/ 14 w 258"/>
                <a:gd name="T11" fmla="*/ 131 h 131"/>
                <a:gd name="T12" fmla="*/ 6 w 258"/>
                <a:gd name="T13" fmla="*/ 108 h 131"/>
                <a:gd name="T14" fmla="*/ 0 w 258"/>
                <a:gd name="T15" fmla="*/ 114 h 131"/>
                <a:gd name="T16" fmla="*/ 0 w 258"/>
                <a:gd name="T17" fmla="*/ 123 h 131"/>
                <a:gd name="T18" fmla="*/ 6 w 258"/>
                <a:gd name="T19" fmla="*/ 129 h 131"/>
                <a:gd name="T20" fmla="*/ 15 w 258"/>
                <a:gd name="T21" fmla="*/ 129 h 131"/>
                <a:gd name="T22" fmla="*/ 8 w 258"/>
                <a:gd name="T23" fmla="*/ 106 h 13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8"/>
                <a:gd name="T37" fmla="*/ 0 h 131"/>
                <a:gd name="T38" fmla="*/ 258 w 258"/>
                <a:gd name="T39" fmla="*/ 131 h 13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8" h="131">
                  <a:moveTo>
                    <a:pt x="8" y="106"/>
                  </a:moveTo>
                  <a:lnTo>
                    <a:pt x="15" y="129"/>
                  </a:lnTo>
                  <a:lnTo>
                    <a:pt x="258" y="21"/>
                  </a:lnTo>
                  <a:lnTo>
                    <a:pt x="249" y="0"/>
                  </a:lnTo>
                  <a:lnTo>
                    <a:pt x="6" y="108"/>
                  </a:lnTo>
                  <a:lnTo>
                    <a:pt x="14" y="131"/>
                  </a:lnTo>
                  <a:lnTo>
                    <a:pt x="6" y="108"/>
                  </a:lnTo>
                  <a:lnTo>
                    <a:pt x="0" y="114"/>
                  </a:lnTo>
                  <a:lnTo>
                    <a:pt x="0" y="123"/>
                  </a:lnTo>
                  <a:lnTo>
                    <a:pt x="6" y="129"/>
                  </a:lnTo>
                  <a:lnTo>
                    <a:pt x="15" y="129"/>
                  </a:lnTo>
                  <a:lnTo>
                    <a:pt x="8" y="10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59" name="Freeform 1391"/>
            <p:cNvSpPr>
              <a:spLocks/>
            </p:cNvSpPr>
            <p:nvPr/>
          </p:nvSpPr>
          <p:spPr bwMode="auto">
            <a:xfrm>
              <a:off x="8587" y="9274"/>
              <a:ext cx="165" cy="63"/>
            </a:xfrm>
            <a:custGeom>
              <a:avLst/>
              <a:gdLst>
                <a:gd name="T0" fmla="*/ 0 w 329"/>
                <a:gd name="T1" fmla="*/ 99 h 127"/>
                <a:gd name="T2" fmla="*/ 224 w 329"/>
                <a:gd name="T3" fmla="*/ 0 h 127"/>
                <a:gd name="T4" fmla="*/ 212 w 329"/>
                <a:gd name="T5" fmla="*/ 73 h 127"/>
                <a:gd name="T6" fmla="*/ 329 w 329"/>
                <a:gd name="T7" fmla="*/ 57 h 127"/>
                <a:gd name="T8" fmla="*/ 169 w 329"/>
                <a:gd name="T9" fmla="*/ 127 h 127"/>
                <a:gd name="T10" fmla="*/ 180 w 329"/>
                <a:gd name="T11" fmla="*/ 54 h 127"/>
                <a:gd name="T12" fmla="*/ 0 w 329"/>
                <a:gd name="T13" fmla="*/ 99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9"/>
                <a:gd name="T22" fmla="*/ 0 h 127"/>
                <a:gd name="T23" fmla="*/ 329 w 329"/>
                <a:gd name="T24" fmla="*/ 127 h 12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9" h="127">
                  <a:moveTo>
                    <a:pt x="0" y="99"/>
                  </a:moveTo>
                  <a:lnTo>
                    <a:pt x="224" y="0"/>
                  </a:lnTo>
                  <a:lnTo>
                    <a:pt x="212" y="73"/>
                  </a:lnTo>
                  <a:lnTo>
                    <a:pt x="329" y="57"/>
                  </a:lnTo>
                  <a:lnTo>
                    <a:pt x="169" y="127"/>
                  </a:lnTo>
                  <a:lnTo>
                    <a:pt x="180" y="54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191919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60" name="Freeform 1392"/>
            <p:cNvSpPr>
              <a:spLocks/>
            </p:cNvSpPr>
            <p:nvPr/>
          </p:nvSpPr>
          <p:spPr bwMode="auto">
            <a:xfrm>
              <a:off x="8595" y="9275"/>
              <a:ext cx="153" cy="62"/>
            </a:xfrm>
            <a:custGeom>
              <a:avLst/>
              <a:gdLst>
                <a:gd name="T0" fmla="*/ 0 w 305"/>
                <a:gd name="T1" fmla="*/ 93 h 123"/>
                <a:gd name="T2" fmla="*/ 207 w 305"/>
                <a:gd name="T3" fmla="*/ 0 h 123"/>
                <a:gd name="T4" fmla="*/ 195 w 305"/>
                <a:gd name="T5" fmla="*/ 74 h 123"/>
                <a:gd name="T6" fmla="*/ 305 w 305"/>
                <a:gd name="T7" fmla="*/ 58 h 123"/>
                <a:gd name="T8" fmla="*/ 156 w 305"/>
                <a:gd name="T9" fmla="*/ 123 h 123"/>
                <a:gd name="T10" fmla="*/ 166 w 305"/>
                <a:gd name="T11" fmla="*/ 49 h 123"/>
                <a:gd name="T12" fmla="*/ 0 w 305"/>
                <a:gd name="T13" fmla="*/ 9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5"/>
                <a:gd name="T22" fmla="*/ 0 h 123"/>
                <a:gd name="T23" fmla="*/ 305 w 305"/>
                <a:gd name="T24" fmla="*/ 123 h 1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5" h="123">
                  <a:moveTo>
                    <a:pt x="0" y="93"/>
                  </a:moveTo>
                  <a:lnTo>
                    <a:pt x="207" y="0"/>
                  </a:lnTo>
                  <a:lnTo>
                    <a:pt x="195" y="74"/>
                  </a:lnTo>
                  <a:lnTo>
                    <a:pt x="305" y="58"/>
                  </a:lnTo>
                  <a:lnTo>
                    <a:pt x="156" y="123"/>
                  </a:lnTo>
                  <a:lnTo>
                    <a:pt x="166" y="49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61" name="Freeform 1393"/>
            <p:cNvSpPr>
              <a:spLocks/>
            </p:cNvSpPr>
            <p:nvPr/>
          </p:nvSpPr>
          <p:spPr bwMode="auto">
            <a:xfrm>
              <a:off x="8603" y="9276"/>
              <a:ext cx="139" cy="60"/>
            </a:xfrm>
            <a:custGeom>
              <a:avLst/>
              <a:gdLst>
                <a:gd name="T0" fmla="*/ 0 w 279"/>
                <a:gd name="T1" fmla="*/ 85 h 120"/>
                <a:gd name="T2" fmla="*/ 189 w 279"/>
                <a:gd name="T3" fmla="*/ 0 h 120"/>
                <a:gd name="T4" fmla="*/ 179 w 279"/>
                <a:gd name="T5" fmla="*/ 74 h 120"/>
                <a:gd name="T6" fmla="*/ 279 w 279"/>
                <a:gd name="T7" fmla="*/ 59 h 120"/>
                <a:gd name="T8" fmla="*/ 142 w 279"/>
                <a:gd name="T9" fmla="*/ 120 h 120"/>
                <a:gd name="T10" fmla="*/ 153 w 279"/>
                <a:gd name="T11" fmla="*/ 45 h 120"/>
                <a:gd name="T12" fmla="*/ 0 w 279"/>
                <a:gd name="T13" fmla="*/ 85 h 1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9"/>
                <a:gd name="T22" fmla="*/ 0 h 120"/>
                <a:gd name="T23" fmla="*/ 279 w 279"/>
                <a:gd name="T24" fmla="*/ 120 h 1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9" h="120">
                  <a:moveTo>
                    <a:pt x="0" y="85"/>
                  </a:moveTo>
                  <a:lnTo>
                    <a:pt x="189" y="0"/>
                  </a:lnTo>
                  <a:lnTo>
                    <a:pt x="179" y="74"/>
                  </a:lnTo>
                  <a:lnTo>
                    <a:pt x="279" y="59"/>
                  </a:lnTo>
                  <a:lnTo>
                    <a:pt x="142" y="120"/>
                  </a:lnTo>
                  <a:lnTo>
                    <a:pt x="153" y="45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4C4C4C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62" name="Freeform 1394"/>
            <p:cNvSpPr>
              <a:spLocks/>
            </p:cNvSpPr>
            <p:nvPr/>
          </p:nvSpPr>
          <p:spPr bwMode="auto">
            <a:xfrm>
              <a:off x="8610" y="9277"/>
              <a:ext cx="128" cy="57"/>
            </a:xfrm>
            <a:custGeom>
              <a:avLst/>
              <a:gdLst>
                <a:gd name="T0" fmla="*/ 0 w 255"/>
                <a:gd name="T1" fmla="*/ 76 h 114"/>
                <a:gd name="T2" fmla="*/ 173 w 255"/>
                <a:gd name="T3" fmla="*/ 0 h 114"/>
                <a:gd name="T4" fmla="*/ 162 w 255"/>
                <a:gd name="T5" fmla="*/ 73 h 114"/>
                <a:gd name="T6" fmla="*/ 255 w 255"/>
                <a:gd name="T7" fmla="*/ 57 h 114"/>
                <a:gd name="T8" fmla="*/ 130 w 255"/>
                <a:gd name="T9" fmla="*/ 114 h 114"/>
                <a:gd name="T10" fmla="*/ 141 w 255"/>
                <a:gd name="T11" fmla="*/ 41 h 114"/>
                <a:gd name="T12" fmla="*/ 0 w 255"/>
                <a:gd name="T13" fmla="*/ 76 h 1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5"/>
                <a:gd name="T22" fmla="*/ 0 h 114"/>
                <a:gd name="T23" fmla="*/ 255 w 255"/>
                <a:gd name="T24" fmla="*/ 114 h 11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5" h="114">
                  <a:moveTo>
                    <a:pt x="0" y="76"/>
                  </a:moveTo>
                  <a:lnTo>
                    <a:pt x="173" y="0"/>
                  </a:lnTo>
                  <a:lnTo>
                    <a:pt x="162" y="73"/>
                  </a:lnTo>
                  <a:lnTo>
                    <a:pt x="255" y="57"/>
                  </a:lnTo>
                  <a:lnTo>
                    <a:pt x="130" y="114"/>
                  </a:lnTo>
                  <a:lnTo>
                    <a:pt x="141" y="41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63" name="Freeform 1395"/>
            <p:cNvSpPr>
              <a:spLocks/>
            </p:cNvSpPr>
            <p:nvPr/>
          </p:nvSpPr>
          <p:spPr bwMode="auto">
            <a:xfrm>
              <a:off x="8619" y="9278"/>
              <a:ext cx="114" cy="56"/>
            </a:xfrm>
            <a:custGeom>
              <a:avLst/>
              <a:gdLst>
                <a:gd name="T0" fmla="*/ 0 w 229"/>
                <a:gd name="T1" fmla="*/ 70 h 111"/>
                <a:gd name="T2" fmla="*/ 154 w 229"/>
                <a:gd name="T3" fmla="*/ 0 h 111"/>
                <a:gd name="T4" fmla="*/ 144 w 229"/>
                <a:gd name="T5" fmla="*/ 75 h 111"/>
                <a:gd name="T6" fmla="*/ 229 w 229"/>
                <a:gd name="T7" fmla="*/ 59 h 111"/>
                <a:gd name="T8" fmla="*/ 115 w 229"/>
                <a:gd name="T9" fmla="*/ 111 h 111"/>
                <a:gd name="T10" fmla="*/ 125 w 229"/>
                <a:gd name="T11" fmla="*/ 37 h 111"/>
                <a:gd name="T12" fmla="*/ 0 w 229"/>
                <a:gd name="T13" fmla="*/ 70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29"/>
                <a:gd name="T22" fmla="*/ 0 h 111"/>
                <a:gd name="T23" fmla="*/ 229 w 229"/>
                <a:gd name="T24" fmla="*/ 111 h 1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29" h="111">
                  <a:moveTo>
                    <a:pt x="0" y="70"/>
                  </a:moveTo>
                  <a:lnTo>
                    <a:pt x="154" y="0"/>
                  </a:lnTo>
                  <a:lnTo>
                    <a:pt x="144" y="75"/>
                  </a:lnTo>
                  <a:lnTo>
                    <a:pt x="229" y="59"/>
                  </a:lnTo>
                  <a:lnTo>
                    <a:pt x="115" y="111"/>
                  </a:lnTo>
                  <a:lnTo>
                    <a:pt x="125" y="37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64" name="Freeform 1396"/>
            <p:cNvSpPr>
              <a:spLocks/>
            </p:cNvSpPr>
            <p:nvPr/>
          </p:nvSpPr>
          <p:spPr bwMode="auto">
            <a:xfrm>
              <a:off x="8626" y="9279"/>
              <a:ext cx="102" cy="54"/>
            </a:xfrm>
            <a:custGeom>
              <a:avLst/>
              <a:gdLst>
                <a:gd name="T0" fmla="*/ 0 w 204"/>
                <a:gd name="T1" fmla="*/ 62 h 108"/>
                <a:gd name="T2" fmla="*/ 137 w 204"/>
                <a:gd name="T3" fmla="*/ 0 h 108"/>
                <a:gd name="T4" fmla="*/ 126 w 204"/>
                <a:gd name="T5" fmla="*/ 74 h 108"/>
                <a:gd name="T6" fmla="*/ 204 w 204"/>
                <a:gd name="T7" fmla="*/ 60 h 108"/>
                <a:gd name="T8" fmla="*/ 100 w 204"/>
                <a:gd name="T9" fmla="*/ 108 h 108"/>
                <a:gd name="T10" fmla="*/ 112 w 204"/>
                <a:gd name="T11" fmla="*/ 33 h 108"/>
                <a:gd name="T12" fmla="*/ 0 w 204"/>
                <a:gd name="T13" fmla="*/ 62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4"/>
                <a:gd name="T22" fmla="*/ 0 h 108"/>
                <a:gd name="T23" fmla="*/ 204 w 204"/>
                <a:gd name="T24" fmla="*/ 108 h 1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4" h="108">
                  <a:moveTo>
                    <a:pt x="0" y="62"/>
                  </a:moveTo>
                  <a:lnTo>
                    <a:pt x="137" y="0"/>
                  </a:lnTo>
                  <a:lnTo>
                    <a:pt x="126" y="74"/>
                  </a:lnTo>
                  <a:lnTo>
                    <a:pt x="204" y="60"/>
                  </a:lnTo>
                  <a:lnTo>
                    <a:pt x="100" y="108"/>
                  </a:lnTo>
                  <a:lnTo>
                    <a:pt x="112" y="33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65" name="Freeform 1397"/>
            <p:cNvSpPr>
              <a:spLocks/>
            </p:cNvSpPr>
            <p:nvPr/>
          </p:nvSpPr>
          <p:spPr bwMode="auto">
            <a:xfrm>
              <a:off x="8634" y="9280"/>
              <a:ext cx="89" cy="51"/>
            </a:xfrm>
            <a:custGeom>
              <a:avLst/>
              <a:gdLst>
                <a:gd name="T0" fmla="*/ 0 w 178"/>
                <a:gd name="T1" fmla="*/ 54 h 101"/>
                <a:gd name="T2" fmla="*/ 120 w 178"/>
                <a:gd name="T3" fmla="*/ 0 h 101"/>
                <a:gd name="T4" fmla="*/ 110 w 178"/>
                <a:gd name="T5" fmla="*/ 73 h 101"/>
                <a:gd name="T6" fmla="*/ 178 w 178"/>
                <a:gd name="T7" fmla="*/ 60 h 101"/>
                <a:gd name="T8" fmla="*/ 88 w 178"/>
                <a:gd name="T9" fmla="*/ 101 h 101"/>
                <a:gd name="T10" fmla="*/ 99 w 178"/>
                <a:gd name="T11" fmla="*/ 29 h 101"/>
                <a:gd name="T12" fmla="*/ 0 w 178"/>
                <a:gd name="T13" fmla="*/ 54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8"/>
                <a:gd name="T22" fmla="*/ 0 h 101"/>
                <a:gd name="T23" fmla="*/ 178 w 178"/>
                <a:gd name="T24" fmla="*/ 101 h 10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8" h="101">
                  <a:moveTo>
                    <a:pt x="0" y="54"/>
                  </a:moveTo>
                  <a:lnTo>
                    <a:pt x="120" y="0"/>
                  </a:lnTo>
                  <a:lnTo>
                    <a:pt x="110" y="73"/>
                  </a:lnTo>
                  <a:lnTo>
                    <a:pt x="178" y="60"/>
                  </a:lnTo>
                  <a:lnTo>
                    <a:pt x="88" y="101"/>
                  </a:lnTo>
                  <a:lnTo>
                    <a:pt x="99" y="29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66" name="Freeform 1398"/>
            <p:cNvSpPr>
              <a:spLocks/>
            </p:cNvSpPr>
            <p:nvPr/>
          </p:nvSpPr>
          <p:spPr bwMode="auto">
            <a:xfrm>
              <a:off x="8642" y="9281"/>
              <a:ext cx="77" cy="49"/>
            </a:xfrm>
            <a:custGeom>
              <a:avLst/>
              <a:gdLst>
                <a:gd name="T0" fmla="*/ 0 w 154"/>
                <a:gd name="T1" fmla="*/ 47 h 99"/>
                <a:gd name="T2" fmla="*/ 104 w 154"/>
                <a:gd name="T3" fmla="*/ 0 h 99"/>
                <a:gd name="T4" fmla="*/ 93 w 154"/>
                <a:gd name="T5" fmla="*/ 75 h 99"/>
                <a:gd name="T6" fmla="*/ 154 w 154"/>
                <a:gd name="T7" fmla="*/ 62 h 99"/>
                <a:gd name="T8" fmla="*/ 75 w 154"/>
                <a:gd name="T9" fmla="*/ 99 h 99"/>
                <a:gd name="T10" fmla="*/ 85 w 154"/>
                <a:gd name="T11" fmla="*/ 24 h 99"/>
                <a:gd name="T12" fmla="*/ 0 w 154"/>
                <a:gd name="T13" fmla="*/ 47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4"/>
                <a:gd name="T22" fmla="*/ 0 h 99"/>
                <a:gd name="T23" fmla="*/ 154 w 154"/>
                <a:gd name="T24" fmla="*/ 99 h 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4" h="99">
                  <a:moveTo>
                    <a:pt x="0" y="47"/>
                  </a:moveTo>
                  <a:lnTo>
                    <a:pt x="104" y="0"/>
                  </a:lnTo>
                  <a:lnTo>
                    <a:pt x="93" y="75"/>
                  </a:lnTo>
                  <a:lnTo>
                    <a:pt x="154" y="62"/>
                  </a:lnTo>
                  <a:lnTo>
                    <a:pt x="75" y="99"/>
                  </a:lnTo>
                  <a:lnTo>
                    <a:pt x="85" y="24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67" name="Freeform 1399"/>
            <p:cNvSpPr>
              <a:spLocks/>
            </p:cNvSpPr>
            <p:nvPr/>
          </p:nvSpPr>
          <p:spPr bwMode="auto">
            <a:xfrm>
              <a:off x="8650" y="9283"/>
              <a:ext cx="64" cy="46"/>
            </a:xfrm>
            <a:custGeom>
              <a:avLst/>
              <a:gdLst>
                <a:gd name="T0" fmla="*/ 0 w 128"/>
                <a:gd name="T1" fmla="*/ 38 h 93"/>
                <a:gd name="T2" fmla="*/ 85 w 128"/>
                <a:gd name="T3" fmla="*/ 0 h 93"/>
                <a:gd name="T4" fmla="*/ 75 w 128"/>
                <a:gd name="T5" fmla="*/ 73 h 93"/>
                <a:gd name="T6" fmla="*/ 128 w 128"/>
                <a:gd name="T7" fmla="*/ 63 h 93"/>
                <a:gd name="T8" fmla="*/ 61 w 128"/>
                <a:gd name="T9" fmla="*/ 93 h 93"/>
                <a:gd name="T10" fmla="*/ 72 w 128"/>
                <a:gd name="T11" fmla="*/ 20 h 93"/>
                <a:gd name="T12" fmla="*/ 0 w 128"/>
                <a:gd name="T13" fmla="*/ 38 h 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8"/>
                <a:gd name="T22" fmla="*/ 0 h 93"/>
                <a:gd name="T23" fmla="*/ 128 w 128"/>
                <a:gd name="T24" fmla="*/ 93 h 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8" h="93">
                  <a:moveTo>
                    <a:pt x="0" y="38"/>
                  </a:moveTo>
                  <a:lnTo>
                    <a:pt x="85" y="0"/>
                  </a:lnTo>
                  <a:lnTo>
                    <a:pt x="75" y="73"/>
                  </a:lnTo>
                  <a:lnTo>
                    <a:pt x="128" y="63"/>
                  </a:lnTo>
                  <a:lnTo>
                    <a:pt x="61" y="93"/>
                  </a:lnTo>
                  <a:lnTo>
                    <a:pt x="72" y="20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68" name="Freeform 1400"/>
            <p:cNvSpPr>
              <a:spLocks/>
            </p:cNvSpPr>
            <p:nvPr/>
          </p:nvSpPr>
          <p:spPr bwMode="auto">
            <a:xfrm>
              <a:off x="8658" y="9283"/>
              <a:ext cx="51" cy="45"/>
            </a:xfrm>
            <a:custGeom>
              <a:avLst/>
              <a:gdLst>
                <a:gd name="T0" fmla="*/ 0 w 104"/>
                <a:gd name="T1" fmla="*/ 32 h 89"/>
                <a:gd name="T2" fmla="*/ 58 w 104"/>
                <a:gd name="T3" fmla="*/ 15 h 89"/>
                <a:gd name="T4" fmla="*/ 47 w 104"/>
                <a:gd name="T5" fmla="*/ 89 h 89"/>
                <a:gd name="T6" fmla="*/ 104 w 104"/>
                <a:gd name="T7" fmla="*/ 64 h 89"/>
                <a:gd name="T8" fmla="*/ 58 w 104"/>
                <a:gd name="T9" fmla="*/ 74 h 89"/>
                <a:gd name="T10" fmla="*/ 69 w 104"/>
                <a:gd name="T11" fmla="*/ 0 h 89"/>
                <a:gd name="T12" fmla="*/ 0 w 104"/>
                <a:gd name="T13" fmla="*/ 32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"/>
                <a:gd name="T22" fmla="*/ 0 h 89"/>
                <a:gd name="T23" fmla="*/ 104 w 104"/>
                <a:gd name="T24" fmla="*/ 89 h 8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" h="89">
                  <a:moveTo>
                    <a:pt x="0" y="32"/>
                  </a:moveTo>
                  <a:lnTo>
                    <a:pt x="58" y="15"/>
                  </a:lnTo>
                  <a:lnTo>
                    <a:pt x="47" y="89"/>
                  </a:lnTo>
                  <a:lnTo>
                    <a:pt x="104" y="64"/>
                  </a:lnTo>
                  <a:lnTo>
                    <a:pt x="58" y="74"/>
                  </a:lnTo>
                  <a:lnTo>
                    <a:pt x="69" y="0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69" name="Freeform 1401"/>
            <p:cNvSpPr>
              <a:spLocks/>
            </p:cNvSpPr>
            <p:nvPr/>
          </p:nvSpPr>
          <p:spPr bwMode="auto">
            <a:xfrm>
              <a:off x="9100" y="9018"/>
              <a:ext cx="106" cy="144"/>
            </a:xfrm>
            <a:custGeom>
              <a:avLst/>
              <a:gdLst>
                <a:gd name="T0" fmla="*/ 212 w 212"/>
                <a:gd name="T1" fmla="*/ 0 h 289"/>
                <a:gd name="T2" fmla="*/ 111 w 212"/>
                <a:gd name="T3" fmla="*/ 172 h 289"/>
                <a:gd name="T4" fmla="*/ 66 w 212"/>
                <a:gd name="T5" fmla="*/ 113 h 289"/>
                <a:gd name="T6" fmla="*/ 0 w 212"/>
                <a:gd name="T7" fmla="*/ 289 h 289"/>
                <a:gd name="T8" fmla="*/ 75 w 212"/>
                <a:gd name="T9" fmla="*/ 187 h 289"/>
                <a:gd name="T10" fmla="*/ 119 w 212"/>
                <a:gd name="T11" fmla="*/ 246 h 289"/>
                <a:gd name="T12" fmla="*/ 212 w 212"/>
                <a:gd name="T13" fmla="*/ 0 h 2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2"/>
                <a:gd name="T22" fmla="*/ 0 h 289"/>
                <a:gd name="T23" fmla="*/ 212 w 212"/>
                <a:gd name="T24" fmla="*/ 289 h 28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2" h="289">
                  <a:moveTo>
                    <a:pt x="212" y="0"/>
                  </a:moveTo>
                  <a:lnTo>
                    <a:pt x="111" y="172"/>
                  </a:lnTo>
                  <a:lnTo>
                    <a:pt x="66" y="113"/>
                  </a:lnTo>
                  <a:lnTo>
                    <a:pt x="0" y="289"/>
                  </a:lnTo>
                  <a:lnTo>
                    <a:pt x="75" y="187"/>
                  </a:lnTo>
                  <a:lnTo>
                    <a:pt x="119" y="246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70" name="Freeform 1402"/>
            <p:cNvSpPr>
              <a:spLocks/>
            </p:cNvSpPr>
            <p:nvPr/>
          </p:nvSpPr>
          <p:spPr bwMode="auto">
            <a:xfrm>
              <a:off x="9150" y="9015"/>
              <a:ext cx="61" cy="95"/>
            </a:xfrm>
            <a:custGeom>
              <a:avLst/>
              <a:gdLst>
                <a:gd name="T0" fmla="*/ 3 w 124"/>
                <a:gd name="T1" fmla="*/ 186 h 190"/>
                <a:gd name="T2" fmla="*/ 23 w 124"/>
                <a:gd name="T3" fmla="*/ 184 h 190"/>
                <a:gd name="T4" fmla="*/ 124 w 124"/>
                <a:gd name="T5" fmla="*/ 12 h 190"/>
                <a:gd name="T6" fmla="*/ 103 w 124"/>
                <a:gd name="T7" fmla="*/ 0 h 190"/>
                <a:gd name="T8" fmla="*/ 2 w 124"/>
                <a:gd name="T9" fmla="*/ 172 h 190"/>
                <a:gd name="T10" fmla="*/ 22 w 124"/>
                <a:gd name="T11" fmla="*/ 170 h 190"/>
                <a:gd name="T12" fmla="*/ 2 w 124"/>
                <a:gd name="T13" fmla="*/ 172 h 190"/>
                <a:gd name="T14" fmla="*/ 0 w 124"/>
                <a:gd name="T15" fmla="*/ 181 h 190"/>
                <a:gd name="T16" fmla="*/ 6 w 124"/>
                <a:gd name="T17" fmla="*/ 189 h 190"/>
                <a:gd name="T18" fmla="*/ 16 w 124"/>
                <a:gd name="T19" fmla="*/ 190 h 190"/>
                <a:gd name="T20" fmla="*/ 23 w 124"/>
                <a:gd name="T21" fmla="*/ 184 h 190"/>
                <a:gd name="T22" fmla="*/ 3 w 124"/>
                <a:gd name="T23" fmla="*/ 186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4"/>
                <a:gd name="T37" fmla="*/ 0 h 190"/>
                <a:gd name="T38" fmla="*/ 124 w 124"/>
                <a:gd name="T39" fmla="*/ 190 h 1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4" h="190">
                  <a:moveTo>
                    <a:pt x="3" y="186"/>
                  </a:moveTo>
                  <a:lnTo>
                    <a:pt x="23" y="184"/>
                  </a:lnTo>
                  <a:lnTo>
                    <a:pt x="124" y="12"/>
                  </a:lnTo>
                  <a:lnTo>
                    <a:pt x="103" y="0"/>
                  </a:lnTo>
                  <a:lnTo>
                    <a:pt x="2" y="172"/>
                  </a:lnTo>
                  <a:lnTo>
                    <a:pt x="22" y="170"/>
                  </a:lnTo>
                  <a:lnTo>
                    <a:pt x="2" y="172"/>
                  </a:lnTo>
                  <a:lnTo>
                    <a:pt x="0" y="181"/>
                  </a:lnTo>
                  <a:lnTo>
                    <a:pt x="6" y="189"/>
                  </a:lnTo>
                  <a:lnTo>
                    <a:pt x="16" y="190"/>
                  </a:lnTo>
                  <a:lnTo>
                    <a:pt x="23" y="184"/>
                  </a:lnTo>
                  <a:lnTo>
                    <a:pt x="3" y="18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71" name="Freeform 1403"/>
            <p:cNvSpPr>
              <a:spLocks/>
            </p:cNvSpPr>
            <p:nvPr/>
          </p:nvSpPr>
          <p:spPr bwMode="auto">
            <a:xfrm>
              <a:off x="9128" y="9068"/>
              <a:ext cx="32" cy="40"/>
            </a:xfrm>
            <a:custGeom>
              <a:avLst/>
              <a:gdLst>
                <a:gd name="T0" fmla="*/ 21 w 66"/>
                <a:gd name="T1" fmla="*/ 16 h 80"/>
                <a:gd name="T2" fmla="*/ 2 w 66"/>
                <a:gd name="T3" fmla="*/ 20 h 80"/>
                <a:gd name="T4" fmla="*/ 47 w 66"/>
                <a:gd name="T5" fmla="*/ 80 h 80"/>
                <a:gd name="T6" fmla="*/ 66 w 66"/>
                <a:gd name="T7" fmla="*/ 64 h 80"/>
                <a:gd name="T8" fmla="*/ 20 w 66"/>
                <a:gd name="T9" fmla="*/ 5 h 80"/>
                <a:gd name="T10" fmla="*/ 0 w 66"/>
                <a:gd name="T11" fmla="*/ 10 h 80"/>
                <a:gd name="T12" fmla="*/ 20 w 66"/>
                <a:gd name="T13" fmla="*/ 5 h 80"/>
                <a:gd name="T14" fmla="*/ 12 w 66"/>
                <a:gd name="T15" fmla="*/ 0 h 80"/>
                <a:gd name="T16" fmla="*/ 5 w 66"/>
                <a:gd name="T17" fmla="*/ 4 h 80"/>
                <a:gd name="T18" fmla="*/ 0 w 66"/>
                <a:gd name="T19" fmla="*/ 11 h 80"/>
                <a:gd name="T20" fmla="*/ 2 w 66"/>
                <a:gd name="T21" fmla="*/ 20 h 80"/>
                <a:gd name="T22" fmla="*/ 21 w 66"/>
                <a:gd name="T23" fmla="*/ 16 h 8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6"/>
                <a:gd name="T37" fmla="*/ 0 h 80"/>
                <a:gd name="T38" fmla="*/ 66 w 66"/>
                <a:gd name="T39" fmla="*/ 80 h 8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6" h="80">
                  <a:moveTo>
                    <a:pt x="21" y="16"/>
                  </a:moveTo>
                  <a:lnTo>
                    <a:pt x="2" y="20"/>
                  </a:lnTo>
                  <a:lnTo>
                    <a:pt x="47" y="80"/>
                  </a:lnTo>
                  <a:lnTo>
                    <a:pt x="66" y="64"/>
                  </a:lnTo>
                  <a:lnTo>
                    <a:pt x="20" y="5"/>
                  </a:lnTo>
                  <a:lnTo>
                    <a:pt x="0" y="10"/>
                  </a:lnTo>
                  <a:lnTo>
                    <a:pt x="20" y="5"/>
                  </a:lnTo>
                  <a:lnTo>
                    <a:pt x="12" y="0"/>
                  </a:lnTo>
                  <a:lnTo>
                    <a:pt x="5" y="4"/>
                  </a:lnTo>
                  <a:lnTo>
                    <a:pt x="0" y="11"/>
                  </a:lnTo>
                  <a:lnTo>
                    <a:pt x="2" y="20"/>
                  </a:lnTo>
                  <a:lnTo>
                    <a:pt x="21" y="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72" name="Freeform 1404"/>
            <p:cNvSpPr>
              <a:spLocks/>
            </p:cNvSpPr>
            <p:nvPr/>
          </p:nvSpPr>
          <p:spPr bwMode="auto">
            <a:xfrm>
              <a:off x="9095" y="9073"/>
              <a:ext cx="43" cy="95"/>
            </a:xfrm>
            <a:custGeom>
              <a:avLst/>
              <a:gdLst>
                <a:gd name="T0" fmla="*/ 2 w 87"/>
                <a:gd name="T1" fmla="*/ 171 h 190"/>
                <a:gd name="T2" fmla="*/ 22 w 87"/>
                <a:gd name="T3" fmla="*/ 182 h 190"/>
                <a:gd name="T4" fmla="*/ 87 w 87"/>
                <a:gd name="T5" fmla="*/ 6 h 190"/>
                <a:gd name="T6" fmla="*/ 66 w 87"/>
                <a:gd name="T7" fmla="*/ 0 h 190"/>
                <a:gd name="T8" fmla="*/ 0 w 87"/>
                <a:gd name="T9" fmla="*/ 176 h 190"/>
                <a:gd name="T10" fmla="*/ 20 w 87"/>
                <a:gd name="T11" fmla="*/ 187 h 190"/>
                <a:gd name="T12" fmla="*/ 0 w 87"/>
                <a:gd name="T13" fmla="*/ 176 h 190"/>
                <a:gd name="T14" fmla="*/ 2 w 87"/>
                <a:gd name="T15" fmla="*/ 185 h 190"/>
                <a:gd name="T16" fmla="*/ 10 w 87"/>
                <a:gd name="T17" fmla="*/ 190 h 190"/>
                <a:gd name="T18" fmla="*/ 17 w 87"/>
                <a:gd name="T19" fmla="*/ 188 h 190"/>
                <a:gd name="T20" fmla="*/ 22 w 87"/>
                <a:gd name="T21" fmla="*/ 182 h 190"/>
                <a:gd name="T22" fmla="*/ 2 w 87"/>
                <a:gd name="T23" fmla="*/ 171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7"/>
                <a:gd name="T37" fmla="*/ 0 h 190"/>
                <a:gd name="T38" fmla="*/ 87 w 87"/>
                <a:gd name="T39" fmla="*/ 190 h 1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7" h="190">
                  <a:moveTo>
                    <a:pt x="2" y="171"/>
                  </a:moveTo>
                  <a:lnTo>
                    <a:pt x="22" y="182"/>
                  </a:lnTo>
                  <a:lnTo>
                    <a:pt x="87" y="6"/>
                  </a:lnTo>
                  <a:lnTo>
                    <a:pt x="66" y="0"/>
                  </a:lnTo>
                  <a:lnTo>
                    <a:pt x="0" y="176"/>
                  </a:lnTo>
                  <a:lnTo>
                    <a:pt x="20" y="187"/>
                  </a:lnTo>
                  <a:lnTo>
                    <a:pt x="0" y="176"/>
                  </a:lnTo>
                  <a:lnTo>
                    <a:pt x="2" y="185"/>
                  </a:lnTo>
                  <a:lnTo>
                    <a:pt x="10" y="190"/>
                  </a:lnTo>
                  <a:lnTo>
                    <a:pt x="17" y="188"/>
                  </a:lnTo>
                  <a:lnTo>
                    <a:pt x="22" y="182"/>
                  </a:lnTo>
                  <a:lnTo>
                    <a:pt x="2" y="17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73" name="Freeform 1405"/>
            <p:cNvSpPr>
              <a:spLocks/>
            </p:cNvSpPr>
            <p:nvPr/>
          </p:nvSpPr>
          <p:spPr bwMode="auto">
            <a:xfrm>
              <a:off x="9095" y="9105"/>
              <a:ext cx="49" cy="61"/>
            </a:xfrm>
            <a:custGeom>
              <a:avLst/>
              <a:gdLst>
                <a:gd name="T0" fmla="*/ 93 w 96"/>
                <a:gd name="T1" fmla="*/ 5 h 122"/>
                <a:gd name="T2" fmla="*/ 75 w 96"/>
                <a:gd name="T3" fmla="*/ 5 h 122"/>
                <a:gd name="T4" fmla="*/ 0 w 96"/>
                <a:gd name="T5" fmla="*/ 106 h 122"/>
                <a:gd name="T6" fmla="*/ 18 w 96"/>
                <a:gd name="T7" fmla="*/ 122 h 122"/>
                <a:gd name="T8" fmla="*/ 93 w 96"/>
                <a:gd name="T9" fmla="*/ 20 h 122"/>
                <a:gd name="T10" fmla="*/ 75 w 96"/>
                <a:gd name="T11" fmla="*/ 20 h 122"/>
                <a:gd name="T12" fmla="*/ 93 w 96"/>
                <a:gd name="T13" fmla="*/ 20 h 122"/>
                <a:gd name="T14" fmla="*/ 96 w 96"/>
                <a:gd name="T15" fmla="*/ 11 h 122"/>
                <a:gd name="T16" fmla="*/ 91 w 96"/>
                <a:gd name="T17" fmla="*/ 3 h 122"/>
                <a:gd name="T18" fmla="*/ 82 w 96"/>
                <a:gd name="T19" fmla="*/ 0 h 122"/>
                <a:gd name="T20" fmla="*/ 75 w 96"/>
                <a:gd name="T21" fmla="*/ 5 h 122"/>
                <a:gd name="T22" fmla="*/ 93 w 96"/>
                <a:gd name="T23" fmla="*/ 5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96"/>
                <a:gd name="T37" fmla="*/ 0 h 122"/>
                <a:gd name="T38" fmla="*/ 96 w 96"/>
                <a:gd name="T39" fmla="*/ 122 h 12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96" h="122">
                  <a:moveTo>
                    <a:pt x="93" y="5"/>
                  </a:moveTo>
                  <a:lnTo>
                    <a:pt x="75" y="5"/>
                  </a:lnTo>
                  <a:lnTo>
                    <a:pt x="0" y="106"/>
                  </a:lnTo>
                  <a:lnTo>
                    <a:pt x="18" y="122"/>
                  </a:lnTo>
                  <a:lnTo>
                    <a:pt x="93" y="20"/>
                  </a:lnTo>
                  <a:lnTo>
                    <a:pt x="75" y="20"/>
                  </a:lnTo>
                  <a:lnTo>
                    <a:pt x="93" y="20"/>
                  </a:lnTo>
                  <a:lnTo>
                    <a:pt x="96" y="11"/>
                  </a:lnTo>
                  <a:lnTo>
                    <a:pt x="91" y="3"/>
                  </a:lnTo>
                  <a:lnTo>
                    <a:pt x="82" y="0"/>
                  </a:lnTo>
                  <a:lnTo>
                    <a:pt x="75" y="5"/>
                  </a:lnTo>
                  <a:lnTo>
                    <a:pt x="93" y="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74" name="Freeform 1406"/>
            <p:cNvSpPr>
              <a:spLocks/>
            </p:cNvSpPr>
            <p:nvPr/>
          </p:nvSpPr>
          <p:spPr bwMode="auto">
            <a:xfrm>
              <a:off x="9133" y="9108"/>
              <a:ext cx="33" cy="39"/>
            </a:xfrm>
            <a:custGeom>
              <a:avLst/>
              <a:gdLst>
                <a:gd name="T0" fmla="*/ 42 w 65"/>
                <a:gd name="T1" fmla="*/ 63 h 79"/>
                <a:gd name="T2" fmla="*/ 62 w 65"/>
                <a:gd name="T3" fmla="*/ 59 h 79"/>
                <a:gd name="T4" fmla="*/ 18 w 65"/>
                <a:gd name="T5" fmla="*/ 0 h 79"/>
                <a:gd name="T6" fmla="*/ 0 w 65"/>
                <a:gd name="T7" fmla="*/ 15 h 79"/>
                <a:gd name="T8" fmla="*/ 44 w 65"/>
                <a:gd name="T9" fmla="*/ 74 h 79"/>
                <a:gd name="T10" fmla="*/ 64 w 65"/>
                <a:gd name="T11" fmla="*/ 69 h 79"/>
                <a:gd name="T12" fmla="*/ 44 w 65"/>
                <a:gd name="T13" fmla="*/ 74 h 79"/>
                <a:gd name="T14" fmla="*/ 52 w 65"/>
                <a:gd name="T15" fmla="*/ 79 h 79"/>
                <a:gd name="T16" fmla="*/ 61 w 65"/>
                <a:gd name="T17" fmla="*/ 76 h 79"/>
                <a:gd name="T18" fmla="*/ 65 w 65"/>
                <a:gd name="T19" fmla="*/ 68 h 79"/>
                <a:gd name="T20" fmla="*/ 62 w 65"/>
                <a:gd name="T21" fmla="*/ 59 h 79"/>
                <a:gd name="T22" fmla="*/ 42 w 65"/>
                <a:gd name="T23" fmla="*/ 63 h 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5"/>
                <a:gd name="T37" fmla="*/ 0 h 79"/>
                <a:gd name="T38" fmla="*/ 65 w 65"/>
                <a:gd name="T39" fmla="*/ 79 h 7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5" h="79">
                  <a:moveTo>
                    <a:pt x="42" y="63"/>
                  </a:moveTo>
                  <a:lnTo>
                    <a:pt x="62" y="59"/>
                  </a:lnTo>
                  <a:lnTo>
                    <a:pt x="18" y="0"/>
                  </a:lnTo>
                  <a:lnTo>
                    <a:pt x="0" y="15"/>
                  </a:lnTo>
                  <a:lnTo>
                    <a:pt x="44" y="74"/>
                  </a:lnTo>
                  <a:lnTo>
                    <a:pt x="64" y="69"/>
                  </a:lnTo>
                  <a:lnTo>
                    <a:pt x="44" y="74"/>
                  </a:lnTo>
                  <a:lnTo>
                    <a:pt x="52" y="79"/>
                  </a:lnTo>
                  <a:lnTo>
                    <a:pt x="61" y="76"/>
                  </a:lnTo>
                  <a:lnTo>
                    <a:pt x="65" y="68"/>
                  </a:lnTo>
                  <a:lnTo>
                    <a:pt x="62" y="59"/>
                  </a:lnTo>
                  <a:lnTo>
                    <a:pt x="42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75" name="Freeform 1407"/>
            <p:cNvSpPr>
              <a:spLocks/>
            </p:cNvSpPr>
            <p:nvPr/>
          </p:nvSpPr>
          <p:spPr bwMode="auto">
            <a:xfrm>
              <a:off x="9154" y="9013"/>
              <a:ext cx="57" cy="130"/>
            </a:xfrm>
            <a:custGeom>
              <a:avLst/>
              <a:gdLst>
                <a:gd name="T0" fmla="*/ 115 w 115"/>
                <a:gd name="T1" fmla="*/ 16 h 259"/>
                <a:gd name="T2" fmla="*/ 94 w 115"/>
                <a:gd name="T3" fmla="*/ 7 h 259"/>
                <a:gd name="T4" fmla="*/ 0 w 115"/>
                <a:gd name="T5" fmla="*/ 253 h 259"/>
                <a:gd name="T6" fmla="*/ 22 w 115"/>
                <a:gd name="T7" fmla="*/ 259 h 259"/>
                <a:gd name="T8" fmla="*/ 115 w 115"/>
                <a:gd name="T9" fmla="*/ 13 h 259"/>
                <a:gd name="T10" fmla="*/ 94 w 115"/>
                <a:gd name="T11" fmla="*/ 4 h 259"/>
                <a:gd name="T12" fmla="*/ 115 w 115"/>
                <a:gd name="T13" fmla="*/ 13 h 259"/>
                <a:gd name="T14" fmla="*/ 113 w 115"/>
                <a:gd name="T15" fmla="*/ 4 h 259"/>
                <a:gd name="T16" fmla="*/ 107 w 115"/>
                <a:gd name="T17" fmla="*/ 0 h 259"/>
                <a:gd name="T18" fmla="*/ 98 w 115"/>
                <a:gd name="T19" fmla="*/ 1 h 259"/>
                <a:gd name="T20" fmla="*/ 94 w 115"/>
                <a:gd name="T21" fmla="*/ 7 h 259"/>
                <a:gd name="T22" fmla="*/ 115 w 115"/>
                <a:gd name="T23" fmla="*/ 16 h 2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15"/>
                <a:gd name="T37" fmla="*/ 0 h 259"/>
                <a:gd name="T38" fmla="*/ 115 w 115"/>
                <a:gd name="T39" fmla="*/ 259 h 2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15" h="259">
                  <a:moveTo>
                    <a:pt x="115" y="16"/>
                  </a:moveTo>
                  <a:lnTo>
                    <a:pt x="94" y="7"/>
                  </a:lnTo>
                  <a:lnTo>
                    <a:pt x="0" y="253"/>
                  </a:lnTo>
                  <a:lnTo>
                    <a:pt x="22" y="259"/>
                  </a:lnTo>
                  <a:lnTo>
                    <a:pt x="115" y="13"/>
                  </a:lnTo>
                  <a:lnTo>
                    <a:pt x="94" y="4"/>
                  </a:lnTo>
                  <a:lnTo>
                    <a:pt x="115" y="13"/>
                  </a:lnTo>
                  <a:lnTo>
                    <a:pt x="113" y="4"/>
                  </a:lnTo>
                  <a:lnTo>
                    <a:pt x="107" y="0"/>
                  </a:lnTo>
                  <a:lnTo>
                    <a:pt x="98" y="1"/>
                  </a:lnTo>
                  <a:lnTo>
                    <a:pt x="94" y="7"/>
                  </a:lnTo>
                  <a:lnTo>
                    <a:pt x="115" y="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76" name="Freeform 1408"/>
            <p:cNvSpPr>
              <a:spLocks/>
            </p:cNvSpPr>
            <p:nvPr/>
          </p:nvSpPr>
          <p:spPr bwMode="auto">
            <a:xfrm>
              <a:off x="9102" y="9026"/>
              <a:ext cx="100" cy="132"/>
            </a:xfrm>
            <a:custGeom>
              <a:avLst/>
              <a:gdLst>
                <a:gd name="T0" fmla="*/ 200 w 200"/>
                <a:gd name="T1" fmla="*/ 0 h 265"/>
                <a:gd name="T2" fmla="*/ 114 w 200"/>
                <a:gd name="T3" fmla="*/ 230 h 265"/>
                <a:gd name="T4" fmla="*/ 68 w 200"/>
                <a:gd name="T5" fmla="*/ 171 h 265"/>
                <a:gd name="T6" fmla="*/ 0 w 200"/>
                <a:gd name="T7" fmla="*/ 265 h 265"/>
                <a:gd name="T8" fmla="*/ 61 w 200"/>
                <a:gd name="T9" fmla="*/ 101 h 265"/>
                <a:gd name="T10" fmla="*/ 106 w 200"/>
                <a:gd name="T11" fmla="*/ 160 h 265"/>
                <a:gd name="T12" fmla="*/ 200 w 200"/>
                <a:gd name="T13" fmla="*/ 0 h 2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"/>
                <a:gd name="T22" fmla="*/ 0 h 265"/>
                <a:gd name="T23" fmla="*/ 200 w 200"/>
                <a:gd name="T24" fmla="*/ 265 h 26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" h="265">
                  <a:moveTo>
                    <a:pt x="200" y="0"/>
                  </a:moveTo>
                  <a:lnTo>
                    <a:pt x="114" y="230"/>
                  </a:lnTo>
                  <a:lnTo>
                    <a:pt x="68" y="171"/>
                  </a:lnTo>
                  <a:lnTo>
                    <a:pt x="0" y="265"/>
                  </a:lnTo>
                  <a:lnTo>
                    <a:pt x="61" y="101"/>
                  </a:lnTo>
                  <a:lnTo>
                    <a:pt x="106" y="160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191919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77" name="Freeform 1409"/>
            <p:cNvSpPr>
              <a:spLocks/>
            </p:cNvSpPr>
            <p:nvPr/>
          </p:nvSpPr>
          <p:spPr bwMode="auto">
            <a:xfrm>
              <a:off x="9105" y="9033"/>
              <a:ext cx="94" cy="120"/>
            </a:xfrm>
            <a:custGeom>
              <a:avLst/>
              <a:gdLst>
                <a:gd name="T0" fmla="*/ 189 w 189"/>
                <a:gd name="T1" fmla="*/ 0 h 240"/>
                <a:gd name="T2" fmla="*/ 110 w 189"/>
                <a:gd name="T3" fmla="*/ 211 h 240"/>
                <a:gd name="T4" fmla="*/ 64 w 189"/>
                <a:gd name="T5" fmla="*/ 152 h 240"/>
                <a:gd name="T6" fmla="*/ 0 w 189"/>
                <a:gd name="T7" fmla="*/ 240 h 240"/>
                <a:gd name="T8" fmla="*/ 57 w 189"/>
                <a:gd name="T9" fmla="*/ 88 h 240"/>
                <a:gd name="T10" fmla="*/ 102 w 189"/>
                <a:gd name="T11" fmla="*/ 147 h 240"/>
                <a:gd name="T12" fmla="*/ 189 w 189"/>
                <a:gd name="T13" fmla="*/ 0 h 2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9"/>
                <a:gd name="T22" fmla="*/ 0 h 240"/>
                <a:gd name="T23" fmla="*/ 189 w 189"/>
                <a:gd name="T24" fmla="*/ 240 h 2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9" h="240">
                  <a:moveTo>
                    <a:pt x="189" y="0"/>
                  </a:moveTo>
                  <a:lnTo>
                    <a:pt x="110" y="211"/>
                  </a:lnTo>
                  <a:lnTo>
                    <a:pt x="64" y="152"/>
                  </a:lnTo>
                  <a:lnTo>
                    <a:pt x="0" y="240"/>
                  </a:lnTo>
                  <a:lnTo>
                    <a:pt x="57" y="88"/>
                  </a:lnTo>
                  <a:lnTo>
                    <a:pt x="102" y="147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78" name="Freeform 1410"/>
            <p:cNvSpPr>
              <a:spLocks/>
            </p:cNvSpPr>
            <p:nvPr/>
          </p:nvSpPr>
          <p:spPr bwMode="auto">
            <a:xfrm>
              <a:off x="9107" y="9041"/>
              <a:ext cx="88" cy="109"/>
            </a:xfrm>
            <a:custGeom>
              <a:avLst/>
              <a:gdLst>
                <a:gd name="T0" fmla="*/ 177 w 177"/>
                <a:gd name="T1" fmla="*/ 0 h 217"/>
                <a:gd name="T2" fmla="*/ 105 w 177"/>
                <a:gd name="T3" fmla="*/ 193 h 217"/>
                <a:gd name="T4" fmla="*/ 59 w 177"/>
                <a:gd name="T5" fmla="*/ 134 h 217"/>
                <a:gd name="T6" fmla="*/ 0 w 177"/>
                <a:gd name="T7" fmla="*/ 217 h 217"/>
                <a:gd name="T8" fmla="*/ 52 w 177"/>
                <a:gd name="T9" fmla="*/ 76 h 217"/>
                <a:gd name="T10" fmla="*/ 97 w 177"/>
                <a:gd name="T11" fmla="*/ 135 h 217"/>
                <a:gd name="T12" fmla="*/ 177 w 177"/>
                <a:gd name="T13" fmla="*/ 0 h 2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7"/>
                <a:gd name="T22" fmla="*/ 0 h 217"/>
                <a:gd name="T23" fmla="*/ 177 w 177"/>
                <a:gd name="T24" fmla="*/ 217 h 2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7" h="217">
                  <a:moveTo>
                    <a:pt x="177" y="0"/>
                  </a:moveTo>
                  <a:lnTo>
                    <a:pt x="105" y="193"/>
                  </a:lnTo>
                  <a:lnTo>
                    <a:pt x="59" y="134"/>
                  </a:lnTo>
                  <a:lnTo>
                    <a:pt x="0" y="217"/>
                  </a:lnTo>
                  <a:lnTo>
                    <a:pt x="52" y="76"/>
                  </a:lnTo>
                  <a:lnTo>
                    <a:pt x="97" y="135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rgbClr val="4C4C4C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79" name="Freeform 1411"/>
            <p:cNvSpPr>
              <a:spLocks/>
            </p:cNvSpPr>
            <p:nvPr/>
          </p:nvSpPr>
          <p:spPr bwMode="auto">
            <a:xfrm>
              <a:off x="9109" y="9048"/>
              <a:ext cx="83" cy="97"/>
            </a:xfrm>
            <a:custGeom>
              <a:avLst/>
              <a:gdLst>
                <a:gd name="T0" fmla="*/ 165 w 165"/>
                <a:gd name="T1" fmla="*/ 0 h 195"/>
                <a:gd name="T2" fmla="*/ 100 w 165"/>
                <a:gd name="T3" fmla="*/ 178 h 195"/>
                <a:gd name="T4" fmla="*/ 55 w 165"/>
                <a:gd name="T5" fmla="*/ 117 h 195"/>
                <a:gd name="T6" fmla="*/ 0 w 165"/>
                <a:gd name="T7" fmla="*/ 195 h 195"/>
                <a:gd name="T8" fmla="*/ 48 w 165"/>
                <a:gd name="T9" fmla="*/ 66 h 195"/>
                <a:gd name="T10" fmla="*/ 93 w 165"/>
                <a:gd name="T11" fmla="*/ 125 h 195"/>
                <a:gd name="T12" fmla="*/ 165 w 165"/>
                <a:gd name="T13" fmla="*/ 0 h 1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5"/>
                <a:gd name="T22" fmla="*/ 0 h 195"/>
                <a:gd name="T23" fmla="*/ 165 w 165"/>
                <a:gd name="T24" fmla="*/ 195 h 19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5" h="195">
                  <a:moveTo>
                    <a:pt x="165" y="0"/>
                  </a:moveTo>
                  <a:lnTo>
                    <a:pt x="100" y="178"/>
                  </a:lnTo>
                  <a:lnTo>
                    <a:pt x="55" y="117"/>
                  </a:lnTo>
                  <a:lnTo>
                    <a:pt x="0" y="195"/>
                  </a:lnTo>
                  <a:lnTo>
                    <a:pt x="48" y="66"/>
                  </a:lnTo>
                  <a:lnTo>
                    <a:pt x="93" y="125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80" name="Freeform 1412"/>
            <p:cNvSpPr>
              <a:spLocks/>
            </p:cNvSpPr>
            <p:nvPr/>
          </p:nvSpPr>
          <p:spPr bwMode="auto">
            <a:xfrm>
              <a:off x="9111" y="9055"/>
              <a:ext cx="78" cy="85"/>
            </a:xfrm>
            <a:custGeom>
              <a:avLst/>
              <a:gdLst>
                <a:gd name="T0" fmla="*/ 154 w 154"/>
                <a:gd name="T1" fmla="*/ 0 h 170"/>
                <a:gd name="T2" fmla="*/ 95 w 154"/>
                <a:gd name="T3" fmla="*/ 159 h 170"/>
                <a:gd name="T4" fmla="*/ 49 w 154"/>
                <a:gd name="T5" fmla="*/ 100 h 170"/>
                <a:gd name="T6" fmla="*/ 0 w 154"/>
                <a:gd name="T7" fmla="*/ 170 h 170"/>
                <a:gd name="T8" fmla="*/ 44 w 154"/>
                <a:gd name="T9" fmla="*/ 53 h 170"/>
                <a:gd name="T10" fmla="*/ 88 w 154"/>
                <a:gd name="T11" fmla="*/ 112 h 170"/>
                <a:gd name="T12" fmla="*/ 154 w 154"/>
                <a:gd name="T13" fmla="*/ 0 h 1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4"/>
                <a:gd name="T22" fmla="*/ 0 h 170"/>
                <a:gd name="T23" fmla="*/ 154 w 154"/>
                <a:gd name="T24" fmla="*/ 170 h 17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4" h="170">
                  <a:moveTo>
                    <a:pt x="154" y="0"/>
                  </a:moveTo>
                  <a:lnTo>
                    <a:pt x="95" y="159"/>
                  </a:lnTo>
                  <a:lnTo>
                    <a:pt x="49" y="100"/>
                  </a:lnTo>
                  <a:lnTo>
                    <a:pt x="0" y="170"/>
                  </a:lnTo>
                  <a:lnTo>
                    <a:pt x="44" y="53"/>
                  </a:lnTo>
                  <a:lnTo>
                    <a:pt x="88" y="11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81" name="Freeform 1413"/>
            <p:cNvSpPr>
              <a:spLocks/>
            </p:cNvSpPr>
            <p:nvPr/>
          </p:nvSpPr>
          <p:spPr bwMode="auto">
            <a:xfrm>
              <a:off x="9114" y="9063"/>
              <a:ext cx="71" cy="73"/>
            </a:xfrm>
            <a:custGeom>
              <a:avLst/>
              <a:gdLst>
                <a:gd name="T0" fmla="*/ 141 w 141"/>
                <a:gd name="T1" fmla="*/ 0 h 146"/>
                <a:gd name="T2" fmla="*/ 90 w 141"/>
                <a:gd name="T3" fmla="*/ 141 h 146"/>
                <a:gd name="T4" fmla="*/ 44 w 141"/>
                <a:gd name="T5" fmla="*/ 82 h 146"/>
                <a:gd name="T6" fmla="*/ 0 w 141"/>
                <a:gd name="T7" fmla="*/ 146 h 146"/>
                <a:gd name="T8" fmla="*/ 39 w 141"/>
                <a:gd name="T9" fmla="*/ 41 h 146"/>
                <a:gd name="T10" fmla="*/ 83 w 141"/>
                <a:gd name="T11" fmla="*/ 100 h 146"/>
                <a:gd name="T12" fmla="*/ 141 w 141"/>
                <a:gd name="T13" fmla="*/ 0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1"/>
                <a:gd name="T22" fmla="*/ 0 h 146"/>
                <a:gd name="T23" fmla="*/ 141 w 141"/>
                <a:gd name="T24" fmla="*/ 146 h 14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1" h="146">
                  <a:moveTo>
                    <a:pt x="141" y="0"/>
                  </a:moveTo>
                  <a:lnTo>
                    <a:pt x="90" y="141"/>
                  </a:lnTo>
                  <a:lnTo>
                    <a:pt x="44" y="82"/>
                  </a:lnTo>
                  <a:lnTo>
                    <a:pt x="0" y="146"/>
                  </a:lnTo>
                  <a:lnTo>
                    <a:pt x="39" y="41"/>
                  </a:lnTo>
                  <a:lnTo>
                    <a:pt x="83" y="100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82" name="Freeform 1414"/>
            <p:cNvSpPr>
              <a:spLocks/>
            </p:cNvSpPr>
            <p:nvPr/>
          </p:nvSpPr>
          <p:spPr bwMode="auto">
            <a:xfrm>
              <a:off x="9116" y="9071"/>
              <a:ext cx="66" cy="61"/>
            </a:xfrm>
            <a:custGeom>
              <a:avLst/>
              <a:gdLst>
                <a:gd name="T0" fmla="*/ 131 w 131"/>
                <a:gd name="T1" fmla="*/ 0 h 123"/>
                <a:gd name="T2" fmla="*/ 86 w 131"/>
                <a:gd name="T3" fmla="*/ 123 h 123"/>
                <a:gd name="T4" fmla="*/ 40 w 131"/>
                <a:gd name="T5" fmla="*/ 64 h 123"/>
                <a:gd name="T6" fmla="*/ 0 w 131"/>
                <a:gd name="T7" fmla="*/ 122 h 123"/>
                <a:gd name="T8" fmla="*/ 35 w 131"/>
                <a:gd name="T9" fmla="*/ 29 h 123"/>
                <a:gd name="T10" fmla="*/ 79 w 131"/>
                <a:gd name="T11" fmla="*/ 88 h 123"/>
                <a:gd name="T12" fmla="*/ 131 w 131"/>
                <a:gd name="T13" fmla="*/ 0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"/>
                <a:gd name="T22" fmla="*/ 0 h 123"/>
                <a:gd name="T23" fmla="*/ 131 w 131"/>
                <a:gd name="T24" fmla="*/ 123 h 1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" h="123">
                  <a:moveTo>
                    <a:pt x="131" y="0"/>
                  </a:moveTo>
                  <a:lnTo>
                    <a:pt x="86" y="123"/>
                  </a:lnTo>
                  <a:lnTo>
                    <a:pt x="40" y="64"/>
                  </a:lnTo>
                  <a:lnTo>
                    <a:pt x="0" y="122"/>
                  </a:lnTo>
                  <a:lnTo>
                    <a:pt x="35" y="29"/>
                  </a:lnTo>
                  <a:lnTo>
                    <a:pt x="79" y="88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83" name="Freeform 1415"/>
            <p:cNvSpPr>
              <a:spLocks/>
            </p:cNvSpPr>
            <p:nvPr/>
          </p:nvSpPr>
          <p:spPr bwMode="auto">
            <a:xfrm>
              <a:off x="9118" y="9078"/>
              <a:ext cx="60" cy="53"/>
            </a:xfrm>
            <a:custGeom>
              <a:avLst/>
              <a:gdLst>
                <a:gd name="T0" fmla="*/ 119 w 119"/>
                <a:gd name="T1" fmla="*/ 0 h 107"/>
                <a:gd name="T2" fmla="*/ 79 w 119"/>
                <a:gd name="T3" fmla="*/ 107 h 107"/>
                <a:gd name="T4" fmla="*/ 35 w 119"/>
                <a:gd name="T5" fmla="*/ 47 h 107"/>
                <a:gd name="T6" fmla="*/ 0 w 119"/>
                <a:gd name="T7" fmla="*/ 99 h 107"/>
                <a:gd name="T8" fmla="*/ 30 w 119"/>
                <a:gd name="T9" fmla="*/ 17 h 107"/>
                <a:gd name="T10" fmla="*/ 74 w 119"/>
                <a:gd name="T11" fmla="*/ 76 h 107"/>
                <a:gd name="T12" fmla="*/ 119 w 11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9"/>
                <a:gd name="T22" fmla="*/ 0 h 107"/>
                <a:gd name="T23" fmla="*/ 119 w 11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9" h="107">
                  <a:moveTo>
                    <a:pt x="119" y="0"/>
                  </a:moveTo>
                  <a:lnTo>
                    <a:pt x="79" y="107"/>
                  </a:lnTo>
                  <a:lnTo>
                    <a:pt x="35" y="47"/>
                  </a:lnTo>
                  <a:lnTo>
                    <a:pt x="0" y="99"/>
                  </a:lnTo>
                  <a:lnTo>
                    <a:pt x="30" y="17"/>
                  </a:lnTo>
                  <a:lnTo>
                    <a:pt x="74" y="76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84" name="Freeform 1416"/>
            <p:cNvSpPr>
              <a:spLocks/>
            </p:cNvSpPr>
            <p:nvPr/>
          </p:nvSpPr>
          <p:spPr bwMode="auto">
            <a:xfrm>
              <a:off x="9121" y="9086"/>
              <a:ext cx="53" cy="44"/>
            </a:xfrm>
            <a:custGeom>
              <a:avLst/>
              <a:gdLst>
                <a:gd name="T0" fmla="*/ 107 w 107"/>
                <a:gd name="T1" fmla="*/ 0 h 89"/>
                <a:gd name="T2" fmla="*/ 75 w 107"/>
                <a:gd name="T3" fmla="*/ 89 h 89"/>
                <a:gd name="T4" fmla="*/ 29 w 107"/>
                <a:gd name="T5" fmla="*/ 29 h 89"/>
                <a:gd name="T6" fmla="*/ 0 w 107"/>
                <a:gd name="T7" fmla="*/ 75 h 89"/>
                <a:gd name="T8" fmla="*/ 26 w 107"/>
                <a:gd name="T9" fmla="*/ 5 h 89"/>
                <a:gd name="T10" fmla="*/ 70 w 107"/>
                <a:gd name="T11" fmla="*/ 64 h 89"/>
                <a:gd name="T12" fmla="*/ 107 w 107"/>
                <a:gd name="T13" fmla="*/ 0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89"/>
                <a:gd name="T23" fmla="*/ 107 w 107"/>
                <a:gd name="T24" fmla="*/ 89 h 8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89">
                  <a:moveTo>
                    <a:pt x="107" y="0"/>
                  </a:moveTo>
                  <a:lnTo>
                    <a:pt x="75" y="89"/>
                  </a:lnTo>
                  <a:lnTo>
                    <a:pt x="29" y="29"/>
                  </a:lnTo>
                  <a:lnTo>
                    <a:pt x="0" y="75"/>
                  </a:lnTo>
                  <a:lnTo>
                    <a:pt x="26" y="5"/>
                  </a:lnTo>
                  <a:lnTo>
                    <a:pt x="70" y="6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85" name="Freeform 1417"/>
            <p:cNvSpPr>
              <a:spLocks/>
            </p:cNvSpPr>
            <p:nvPr/>
          </p:nvSpPr>
          <p:spPr bwMode="auto">
            <a:xfrm>
              <a:off x="9123" y="9090"/>
              <a:ext cx="48" cy="38"/>
            </a:xfrm>
            <a:custGeom>
              <a:avLst/>
              <a:gdLst>
                <a:gd name="T0" fmla="*/ 96 w 96"/>
                <a:gd name="T1" fmla="*/ 8 h 78"/>
                <a:gd name="T2" fmla="*/ 65 w 96"/>
                <a:gd name="T3" fmla="*/ 59 h 78"/>
                <a:gd name="T4" fmla="*/ 21 w 96"/>
                <a:gd name="T5" fmla="*/ 0 h 78"/>
                <a:gd name="T6" fmla="*/ 0 w 96"/>
                <a:gd name="T7" fmla="*/ 58 h 78"/>
                <a:gd name="T8" fmla="*/ 24 w 96"/>
                <a:gd name="T9" fmla="*/ 18 h 78"/>
                <a:gd name="T10" fmla="*/ 70 w 96"/>
                <a:gd name="T11" fmla="*/ 78 h 78"/>
                <a:gd name="T12" fmla="*/ 96 w 96"/>
                <a:gd name="T13" fmla="*/ 8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78"/>
                <a:gd name="T23" fmla="*/ 96 w 96"/>
                <a:gd name="T24" fmla="*/ 78 h 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78">
                  <a:moveTo>
                    <a:pt x="96" y="8"/>
                  </a:moveTo>
                  <a:lnTo>
                    <a:pt x="65" y="59"/>
                  </a:lnTo>
                  <a:lnTo>
                    <a:pt x="21" y="0"/>
                  </a:lnTo>
                  <a:lnTo>
                    <a:pt x="0" y="58"/>
                  </a:lnTo>
                  <a:lnTo>
                    <a:pt x="24" y="18"/>
                  </a:lnTo>
                  <a:lnTo>
                    <a:pt x="70" y="78"/>
                  </a:lnTo>
                  <a:lnTo>
                    <a:pt x="96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86" name="Freeform 1418"/>
            <p:cNvSpPr>
              <a:spLocks/>
            </p:cNvSpPr>
            <p:nvPr/>
          </p:nvSpPr>
          <p:spPr bwMode="auto">
            <a:xfrm>
              <a:off x="9155" y="9271"/>
              <a:ext cx="178" cy="66"/>
            </a:xfrm>
            <a:custGeom>
              <a:avLst/>
              <a:gdLst>
                <a:gd name="T0" fmla="*/ 355 w 355"/>
                <a:gd name="T1" fmla="*/ 25 h 133"/>
                <a:gd name="T2" fmla="*/ 162 w 355"/>
                <a:gd name="T3" fmla="*/ 75 h 133"/>
                <a:gd name="T4" fmla="*/ 172 w 355"/>
                <a:gd name="T5" fmla="*/ 0 h 133"/>
                <a:gd name="T6" fmla="*/ 0 w 355"/>
                <a:gd name="T7" fmla="*/ 76 h 133"/>
                <a:gd name="T8" fmla="*/ 125 w 355"/>
                <a:gd name="T9" fmla="*/ 58 h 133"/>
                <a:gd name="T10" fmla="*/ 114 w 355"/>
                <a:gd name="T11" fmla="*/ 133 h 133"/>
                <a:gd name="T12" fmla="*/ 355 w 355"/>
                <a:gd name="T13" fmla="*/ 25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55"/>
                <a:gd name="T22" fmla="*/ 0 h 133"/>
                <a:gd name="T23" fmla="*/ 355 w 355"/>
                <a:gd name="T24" fmla="*/ 133 h 1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55" h="133">
                  <a:moveTo>
                    <a:pt x="355" y="25"/>
                  </a:moveTo>
                  <a:lnTo>
                    <a:pt x="162" y="75"/>
                  </a:lnTo>
                  <a:lnTo>
                    <a:pt x="172" y="0"/>
                  </a:lnTo>
                  <a:lnTo>
                    <a:pt x="0" y="76"/>
                  </a:lnTo>
                  <a:lnTo>
                    <a:pt x="125" y="58"/>
                  </a:lnTo>
                  <a:lnTo>
                    <a:pt x="114" y="133"/>
                  </a:lnTo>
                  <a:lnTo>
                    <a:pt x="355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87" name="Freeform 1419"/>
            <p:cNvSpPr>
              <a:spLocks/>
            </p:cNvSpPr>
            <p:nvPr/>
          </p:nvSpPr>
          <p:spPr bwMode="auto">
            <a:xfrm>
              <a:off x="9230" y="9277"/>
              <a:ext cx="104" cy="38"/>
            </a:xfrm>
            <a:custGeom>
              <a:avLst/>
              <a:gdLst>
                <a:gd name="T0" fmla="*/ 0 w 210"/>
                <a:gd name="T1" fmla="*/ 60 h 74"/>
                <a:gd name="T2" fmla="*/ 16 w 210"/>
                <a:gd name="T3" fmla="*/ 74 h 74"/>
                <a:gd name="T4" fmla="*/ 210 w 210"/>
                <a:gd name="T5" fmla="*/ 24 h 74"/>
                <a:gd name="T6" fmla="*/ 203 w 210"/>
                <a:gd name="T7" fmla="*/ 0 h 74"/>
                <a:gd name="T8" fmla="*/ 10 w 210"/>
                <a:gd name="T9" fmla="*/ 50 h 74"/>
                <a:gd name="T10" fmla="*/ 25 w 210"/>
                <a:gd name="T11" fmla="*/ 63 h 74"/>
                <a:gd name="T12" fmla="*/ 10 w 210"/>
                <a:gd name="T13" fmla="*/ 50 h 74"/>
                <a:gd name="T14" fmla="*/ 2 w 210"/>
                <a:gd name="T15" fmla="*/ 56 h 74"/>
                <a:gd name="T16" fmla="*/ 2 w 210"/>
                <a:gd name="T17" fmla="*/ 63 h 74"/>
                <a:gd name="T18" fmla="*/ 7 w 210"/>
                <a:gd name="T19" fmla="*/ 73 h 74"/>
                <a:gd name="T20" fmla="*/ 16 w 210"/>
                <a:gd name="T21" fmla="*/ 74 h 74"/>
                <a:gd name="T22" fmla="*/ 0 w 210"/>
                <a:gd name="T23" fmla="*/ 60 h 7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0"/>
                <a:gd name="T37" fmla="*/ 0 h 74"/>
                <a:gd name="T38" fmla="*/ 210 w 210"/>
                <a:gd name="T39" fmla="*/ 74 h 7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0" h="74">
                  <a:moveTo>
                    <a:pt x="0" y="60"/>
                  </a:moveTo>
                  <a:lnTo>
                    <a:pt x="16" y="74"/>
                  </a:lnTo>
                  <a:lnTo>
                    <a:pt x="210" y="24"/>
                  </a:lnTo>
                  <a:lnTo>
                    <a:pt x="203" y="0"/>
                  </a:lnTo>
                  <a:lnTo>
                    <a:pt x="10" y="50"/>
                  </a:lnTo>
                  <a:lnTo>
                    <a:pt x="25" y="63"/>
                  </a:lnTo>
                  <a:lnTo>
                    <a:pt x="10" y="50"/>
                  </a:lnTo>
                  <a:lnTo>
                    <a:pt x="2" y="56"/>
                  </a:lnTo>
                  <a:lnTo>
                    <a:pt x="2" y="63"/>
                  </a:lnTo>
                  <a:lnTo>
                    <a:pt x="7" y="73"/>
                  </a:lnTo>
                  <a:lnTo>
                    <a:pt x="16" y="7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88" name="Freeform 1420"/>
            <p:cNvSpPr>
              <a:spLocks/>
            </p:cNvSpPr>
            <p:nvPr/>
          </p:nvSpPr>
          <p:spPr bwMode="auto">
            <a:xfrm>
              <a:off x="9230" y="9265"/>
              <a:ext cx="17" cy="44"/>
            </a:xfrm>
            <a:custGeom>
              <a:avLst/>
              <a:gdLst>
                <a:gd name="T0" fmla="*/ 28 w 36"/>
                <a:gd name="T1" fmla="*/ 23 h 88"/>
                <a:gd name="T2" fmla="*/ 11 w 36"/>
                <a:gd name="T3" fmla="*/ 11 h 88"/>
                <a:gd name="T4" fmla="*/ 0 w 36"/>
                <a:gd name="T5" fmla="*/ 85 h 88"/>
                <a:gd name="T6" fmla="*/ 25 w 36"/>
                <a:gd name="T7" fmla="*/ 88 h 88"/>
                <a:gd name="T8" fmla="*/ 36 w 36"/>
                <a:gd name="T9" fmla="*/ 14 h 88"/>
                <a:gd name="T10" fmla="*/ 19 w 36"/>
                <a:gd name="T11" fmla="*/ 2 h 88"/>
                <a:gd name="T12" fmla="*/ 36 w 36"/>
                <a:gd name="T13" fmla="*/ 14 h 88"/>
                <a:gd name="T14" fmla="*/ 33 w 36"/>
                <a:gd name="T15" fmla="*/ 5 h 88"/>
                <a:gd name="T16" fmla="*/ 25 w 36"/>
                <a:gd name="T17" fmla="*/ 0 h 88"/>
                <a:gd name="T18" fmla="*/ 16 w 36"/>
                <a:gd name="T19" fmla="*/ 3 h 88"/>
                <a:gd name="T20" fmla="*/ 11 w 36"/>
                <a:gd name="T21" fmla="*/ 11 h 88"/>
                <a:gd name="T22" fmla="*/ 28 w 36"/>
                <a:gd name="T23" fmla="*/ 23 h 8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6"/>
                <a:gd name="T37" fmla="*/ 0 h 88"/>
                <a:gd name="T38" fmla="*/ 36 w 36"/>
                <a:gd name="T39" fmla="*/ 88 h 8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6" h="88">
                  <a:moveTo>
                    <a:pt x="28" y="23"/>
                  </a:moveTo>
                  <a:lnTo>
                    <a:pt x="11" y="11"/>
                  </a:lnTo>
                  <a:lnTo>
                    <a:pt x="0" y="85"/>
                  </a:lnTo>
                  <a:lnTo>
                    <a:pt x="25" y="88"/>
                  </a:lnTo>
                  <a:lnTo>
                    <a:pt x="36" y="14"/>
                  </a:lnTo>
                  <a:lnTo>
                    <a:pt x="19" y="2"/>
                  </a:lnTo>
                  <a:lnTo>
                    <a:pt x="36" y="14"/>
                  </a:lnTo>
                  <a:lnTo>
                    <a:pt x="33" y="5"/>
                  </a:lnTo>
                  <a:lnTo>
                    <a:pt x="25" y="0"/>
                  </a:lnTo>
                  <a:lnTo>
                    <a:pt x="16" y="3"/>
                  </a:lnTo>
                  <a:lnTo>
                    <a:pt x="11" y="11"/>
                  </a:lnTo>
                  <a:lnTo>
                    <a:pt x="28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89" name="Freeform 1421"/>
            <p:cNvSpPr>
              <a:spLocks/>
            </p:cNvSpPr>
            <p:nvPr/>
          </p:nvSpPr>
          <p:spPr bwMode="auto">
            <a:xfrm>
              <a:off x="9150" y="9266"/>
              <a:ext cx="93" cy="49"/>
            </a:xfrm>
            <a:custGeom>
              <a:avLst/>
              <a:gdLst>
                <a:gd name="T0" fmla="*/ 9 w 188"/>
                <a:gd name="T1" fmla="*/ 74 h 99"/>
                <a:gd name="T2" fmla="*/ 16 w 188"/>
                <a:gd name="T3" fmla="*/ 97 h 99"/>
                <a:gd name="T4" fmla="*/ 188 w 188"/>
                <a:gd name="T5" fmla="*/ 21 h 99"/>
                <a:gd name="T6" fmla="*/ 179 w 188"/>
                <a:gd name="T7" fmla="*/ 0 h 99"/>
                <a:gd name="T8" fmla="*/ 6 w 188"/>
                <a:gd name="T9" fmla="*/ 76 h 99"/>
                <a:gd name="T10" fmla="*/ 12 w 188"/>
                <a:gd name="T11" fmla="*/ 99 h 99"/>
                <a:gd name="T12" fmla="*/ 6 w 188"/>
                <a:gd name="T13" fmla="*/ 76 h 99"/>
                <a:gd name="T14" fmla="*/ 0 w 188"/>
                <a:gd name="T15" fmla="*/ 82 h 99"/>
                <a:gd name="T16" fmla="*/ 0 w 188"/>
                <a:gd name="T17" fmla="*/ 91 h 99"/>
                <a:gd name="T18" fmla="*/ 6 w 188"/>
                <a:gd name="T19" fmla="*/ 97 h 99"/>
                <a:gd name="T20" fmla="*/ 16 w 188"/>
                <a:gd name="T21" fmla="*/ 97 h 99"/>
                <a:gd name="T22" fmla="*/ 9 w 188"/>
                <a:gd name="T23" fmla="*/ 74 h 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88"/>
                <a:gd name="T37" fmla="*/ 0 h 99"/>
                <a:gd name="T38" fmla="*/ 188 w 188"/>
                <a:gd name="T39" fmla="*/ 99 h 9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88" h="99">
                  <a:moveTo>
                    <a:pt x="9" y="74"/>
                  </a:moveTo>
                  <a:lnTo>
                    <a:pt x="16" y="97"/>
                  </a:lnTo>
                  <a:lnTo>
                    <a:pt x="188" y="21"/>
                  </a:lnTo>
                  <a:lnTo>
                    <a:pt x="179" y="0"/>
                  </a:lnTo>
                  <a:lnTo>
                    <a:pt x="6" y="76"/>
                  </a:lnTo>
                  <a:lnTo>
                    <a:pt x="12" y="99"/>
                  </a:lnTo>
                  <a:lnTo>
                    <a:pt x="6" y="76"/>
                  </a:lnTo>
                  <a:lnTo>
                    <a:pt x="0" y="82"/>
                  </a:lnTo>
                  <a:lnTo>
                    <a:pt x="0" y="91"/>
                  </a:lnTo>
                  <a:lnTo>
                    <a:pt x="6" y="97"/>
                  </a:lnTo>
                  <a:lnTo>
                    <a:pt x="16" y="97"/>
                  </a:lnTo>
                  <a:lnTo>
                    <a:pt x="9" y="7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90" name="Freeform 1422"/>
            <p:cNvSpPr>
              <a:spLocks/>
            </p:cNvSpPr>
            <p:nvPr/>
          </p:nvSpPr>
          <p:spPr bwMode="auto">
            <a:xfrm>
              <a:off x="9154" y="9294"/>
              <a:ext cx="70" cy="21"/>
            </a:xfrm>
            <a:custGeom>
              <a:avLst/>
              <a:gdLst>
                <a:gd name="T0" fmla="*/ 139 w 139"/>
                <a:gd name="T1" fmla="*/ 14 h 43"/>
                <a:gd name="T2" fmla="*/ 126 w 139"/>
                <a:gd name="T3" fmla="*/ 0 h 43"/>
                <a:gd name="T4" fmla="*/ 0 w 139"/>
                <a:gd name="T5" fmla="*/ 18 h 43"/>
                <a:gd name="T6" fmla="*/ 3 w 139"/>
                <a:gd name="T7" fmla="*/ 43 h 43"/>
                <a:gd name="T8" fmla="*/ 129 w 139"/>
                <a:gd name="T9" fmla="*/ 24 h 43"/>
                <a:gd name="T10" fmla="*/ 115 w 139"/>
                <a:gd name="T11" fmla="*/ 11 h 43"/>
                <a:gd name="T12" fmla="*/ 129 w 139"/>
                <a:gd name="T13" fmla="*/ 24 h 43"/>
                <a:gd name="T14" fmla="*/ 136 w 139"/>
                <a:gd name="T15" fmla="*/ 20 h 43"/>
                <a:gd name="T16" fmla="*/ 139 w 139"/>
                <a:gd name="T17" fmla="*/ 11 h 43"/>
                <a:gd name="T18" fmla="*/ 135 w 139"/>
                <a:gd name="T19" fmla="*/ 3 h 43"/>
                <a:gd name="T20" fmla="*/ 126 w 139"/>
                <a:gd name="T21" fmla="*/ 0 h 43"/>
                <a:gd name="T22" fmla="*/ 139 w 139"/>
                <a:gd name="T23" fmla="*/ 14 h 4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9"/>
                <a:gd name="T37" fmla="*/ 0 h 43"/>
                <a:gd name="T38" fmla="*/ 139 w 139"/>
                <a:gd name="T39" fmla="*/ 43 h 4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9" h="43">
                  <a:moveTo>
                    <a:pt x="139" y="14"/>
                  </a:moveTo>
                  <a:lnTo>
                    <a:pt x="126" y="0"/>
                  </a:lnTo>
                  <a:lnTo>
                    <a:pt x="0" y="18"/>
                  </a:lnTo>
                  <a:lnTo>
                    <a:pt x="3" y="43"/>
                  </a:lnTo>
                  <a:lnTo>
                    <a:pt x="129" y="24"/>
                  </a:lnTo>
                  <a:lnTo>
                    <a:pt x="115" y="11"/>
                  </a:lnTo>
                  <a:lnTo>
                    <a:pt x="129" y="24"/>
                  </a:lnTo>
                  <a:lnTo>
                    <a:pt x="136" y="20"/>
                  </a:lnTo>
                  <a:lnTo>
                    <a:pt x="139" y="11"/>
                  </a:lnTo>
                  <a:lnTo>
                    <a:pt x="135" y="3"/>
                  </a:lnTo>
                  <a:lnTo>
                    <a:pt x="126" y="0"/>
                  </a:lnTo>
                  <a:lnTo>
                    <a:pt x="13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91" name="Freeform 1423"/>
            <p:cNvSpPr>
              <a:spLocks/>
            </p:cNvSpPr>
            <p:nvPr/>
          </p:nvSpPr>
          <p:spPr bwMode="auto">
            <a:xfrm>
              <a:off x="9206" y="9299"/>
              <a:ext cx="18" cy="44"/>
            </a:xfrm>
            <a:custGeom>
              <a:avLst/>
              <a:gdLst>
                <a:gd name="T0" fmla="*/ 8 w 35"/>
                <a:gd name="T1" fmla="*/ 65 h 86"/>
                <a:gd name="T2" fmla="*/ 25 w 35"/>
                <a:gd name="T3" fmla="*/ 77 h 86"/>
                <a:gd name="T4" fmla="*/ 35 w 35"/>
                <a:gd name="T5" fmla="*/ 3 h 86"/>
                <a:gd name="T6" fmla="*/ 11 w 35"/>
                <a:gd name="T7" fmla="*/ 0 h 86"/>
                <a:gd name="T8" fmla="*/ 0 w 35"/>
                <a:gd name="T9" fmla="*/ 74 h 86"/>
                <a:gd name="T10" fmla="*/ 17 w 35"/>
                <a:gd name="T11" fmla="*/ 86 h 86"/>
                <a:gd name="T12" fmla="*/ 0 w 35"/>
                <a:gd name="T13" fmla="*/ 74 h 86"/>
                <a:gd name="T14" fmla="*/ 3 w 35"/>
                <a:gd name="T15" fmla="*/ 83 h 86"/>
                <a:gd name="T16" fmla="*/ 11 w 35"/>
                <a:gd name="T17" fmla="*/ 86 h 86"/>
                <a:gd name="T18" fmla="*/ 20 w 35"/>
                <a:gd name="T19" fmla="*/ 85 h 86"/>
                <a:gd name="T20" fmla="*/ 25 w 35"/>
                <a:gd name="T21" fmla="*/ 77 h 86"/>
                <a:gd name="T22" fmla="*/ 8 w 35"/>
                <a:gd name="T23" fmla="*/ 65 h 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5"/>
                <a:gd name="T37" fmla="*/ 0 h 86"/>
                <a:gd name="T38" fmla="*/ 35 w 35"/>
                <a:gd name="T39" fmla="*/ 86 h 8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5" h="86">
                  <a:moveTo>
                    <a:pt x="8" y="65"/>
                  </a:moveTo>
                  <a:lnTo>
                    <a:pt x="25" y="77"/>
                  </a:lnTo>
                  <a:lnTo>
                    <a:pt x="35" y="3"/>
                  </a:lnTo>
                  <a:lnTo>
                    <a:pt x="11" y="0"/>
                  </a:lnTo>
                  <a:lnTo>
                    <a:pt x="0" y="74"/>
                  </a:lnTo>
                  <a:lnTo>
                    <a:pt x="17" y="86"/>
                  </a:lnTo>
                  <a:lnTo>
                    <a:pt x="0" y="74"/>
                  </a:lnTo>
                  <a:lnTo>
                    <a:pt x="3" y="83"/>
                  </a:lnTo>
                  <a:lnTo>
                    <a:pt x="11" y="86"/>
                  </a:lnTo>
                  <a:lnTo>
                    <a:pt x="20" y="85"/>
                  </a:lnTo>
                  <a:lnTo>
                    <a:pt x="25" y="77"/>
                  </a:lnTo>
                  <a:lnTo>
                    <a:pt x="8" y="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92" name="Freeform 1424"/>
            <p:cNvSpPr>
              <a:spLocks/>
            </p:cNvSpPr>
            <p:nvPr/>
          </p:nvSpPr>
          <p:spPr bwMode="auto">
            <a:xfrm>
              <a:off x="9210" y="9277"/>
              <a:ext cx="128" cy="66"/>
            </a:xfrm>
            <a:custGeom>
              <a:avLst/>
              <a:gdLst>
                <a:gd name="T0" fmla="*/ 249 w 256"/>
                <a:gd name="T1" fmla="*/ 24 h 130"/>
                <a:gd name="T2" fmla="*/ 241 w 256"/>
                <a:gd name="T3" fmla="*/ 1 h 130"/>
                <a:gd name="T4" fmla="*/ 0 w 256"/>
                <a:gd name="T5" fmla="*/ 109 h 130"/>
                <a:gd name="T6" fmla="*/ 9 w 256"/>
                <a:gd name="T7" fmla="*/ 130 h 130"/>
                <a:gd name="T8" fmla="*/ 250 w 256"/>
                <a:gd name="T9" fmla="*/ 22 h 130"/>
                <a:gd name="T10" fmla="*/ 242 w 256"/>
                <a:gd name="T11" fmla="*/ 0 h 130"/>
                <a:gd name="T12" fmla="*/ 250 w 256"/>
                <a:gd name="T13" fmla="*/ 22 h 130"/>
                <a:gd name="T14" fmla="*/ 256 w 256"/>
                <a:gd name="T15" fmla="*/ 16 h 130"/>
                <a:gd name="T16" fmla="*/ 256 w 256"/>
                <a:gd name="T17" fmla="*/ 7 h 130"/>
                <a:gd name="T18" fmla="*/ 250 w 256"/>
                <a:gd name="T19" fmla="*/ 1 h 130"/>
                <a:gd name="T20" fmla="*/ 241 w 256"/>
                <a:gd name="T21" fmla="*/ 1 h 130"/>
                <a:gd name="T22" fmla="*/ 249 w 256"/>
                <a:gd name="T23" fmla="*/ 24 h 1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6"/>
                <a:gd name="T37" fmla="*/ 0 h 130"/>
                <a:gd name="T38" fmla="*/ 256 w 256"/>
                <a:gd name="T39" fmla="*/ 130 h 13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6" h="130">
                  <a:moveTo>
                    <a:pt x="249" y="24"/>
                  </a:moveTo>
                  <a:lnTo>
                    <a:pt x="241" y="1"/>
                  </a:lnTo>
                  <a:lnTo>
                    <a:pt x="0" y="109"/>
                  </a:lnTo>
                  <a:lnTo>
                    <a:pt x="9" y="130"/>
                  </a:lnTo>
                  <a:lnTo>
                    <a:pt x="250" y="22"/>
                  </a:lnTo>
                  <a:lnTo>
                    <a:pt x="242" y="0"/>
                  </a:lnTo>
                  <a:lnTo>
                    <a:pt x="250" y="22"/>
                  </a:lnTo>
                  <a:lnTo>
                    <a:pt x="256" y="16"/>
                  </a:lnTo>
                  <a:lnTo>
                    <a:pt x="256" y="7"/>
                  </a:lnTo>
                  <a:lnTo>
                    <a:pt x="250" y="1"/>
                  </a:lnTo>
                  <a:lnTo>
                    <a:pt x="241" y="1"/>
                  </a:lnTo>
                  <a:lnTo>
                    <a:pt x="249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93" name="Freeform 1425"/>
            <p:cNvSpPr>
              <a:spLocks/>
            </p:cNvSpPr>
            <p:nvPr/>
          </p:nvSpPr>
          <p:spPr bwMode="auto">
            <a:xfrm>
              <a:off x="9160" y="9272"/>
              <a:ext cx="165" cy="64"/>
            </a:xfrm>
            <a:custGeom>
              <a:avLst/>
              <a:gdLst>
                <a:gd name="T0" fmla="*/ 331 w 331"/>
                <a:gd name="T1" fmla="*/ 29 h 128"/>
                <a:gd name="T2" fmla="*/ 107 w 331"/>
                <a:gd name="T3" fmla="*/ 128 h 128"/>
                <a:gd name="T4" fmla="*/ 118 w 331"/>
                <a:gd name="T5" fmla="*/ 55 h 128"/>
                <a:gd name="T6" fmla="*/ 0 w 331"/>
                <a:gd name="T7" fmla="*/ 71 h 128"/>
                <a:gd name="T8" fmla="*/ 162 w 331"/>
                <a:gd name="T9" fmla="*/ 0 h 128"/>
                <a:gd name="T10" fmla="*/ 151 w 331"/>
                <a:gd name="T11" fmla="*/ 74 h 128"/>
                <a:gd name="T12" fmla="*/ 331 w 331"/>
                <a:gd name="T13" fmla="*/ 29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1"/>
                <a:gd name="T22" fmla="*/ 0 h 128"/>
                <a:gd name="T23" fmla="*/ 331 w 331"/>
                <a:gd name="T24" fmla="*/ 128 h 1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1" h="128">
                  <a:moveTo>
                    <a:pt x="331" y="29"/>
                  </a:moveTo>
                  <a:lnTo>
                    <a:pt x="107" y="128"/>
                  </a:lnTo>
                  <a:lnTo>
                    <a:pt x="118" y="55"/>
                  </a:lnTo>
                  <a:lnTo>
                    <a:pt x="0" y="71"/>
                  </a:lnTo>
                  <a:lnTo>
                    <a:pt x="162" y="0"/>
                  </a:lnTo>
                  <a:lnTo>
                    <a:pt x="151" y="74"/>
                  </a:lnTo>
                  <a:lnTo>
                    <a:pt x="331" y="29"/>
                  </a:lnTo>
                  <a:close/>
                </a:path>
              </a:pathLst>
            </a:custGeom>
            <a:solidFill>
              <a:srgbClr val="191919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94" name="Freeform 1426"/>
            <p:cNvSpPr>
              <a:spLocks/>
            </p:cNvSpPr>
            <p:nvPr/>
          </p:nvSpPr>
          <p:spPr bwMode="auto">
            <a:xfrm>
              <a:off x="9165" y="9273"/>
              <a:ext cx="152" cy="62"/>
            </a:xfrm>
            <a:custGeom>
              <a:avLst/>
              <a:gdLst>
                <a:gd name="T0" fmla="*/ 303 w 303"/>
                <a:gd name="T1" fmla="*/ 32 h 123"/>
                <a:gd name="T2" fmla="*/ 97 w 303"/>
                <a:gd name="T3" fmla="*/ 123 h 123"/>
                <a:gd name="T4" fmla="*/ 108 w 303"/>
                <a:gd name="T5" fmla="*/ 49 h 123"/>
                <a:gd name="T6" fmla="*/ 0 w 303"/>
                <a:gd name="T7" fmla="*/ 65 h 123"/>
                <a:gd name="T8" fmla="*/ 148 w 303"/>
                <a:gd name="T9" fmla="*/ 0 h 123"/>
                <a:gd name="T10" fmla="*/ 137 w 303"/>
                <a:gd name="T11" fmla="*/ 73 h 123"/>
                <a:gd name="T12" fmla="*/ 303 w 303"/>
                <a:gd name="T13" fmla="*/ 32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3"/>
                <a:gd name="T22" fmla="*/ 0 h 123"/>
                <a:gd name="T23" fmla="*/ 303 w 303"/>
                <a:gd name="T24" fmla="*/ 123 h 1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3" h="123">
                  <a:moveTo>
                    <a:pt x="303" y="32"/>
                  </a:moveTo>
                  <a:lnTo>
                    <a:pt x="97" y="123"/>
                  </a:lnTo>
                  <a:lnTo>
                    <a:pt x="108" y="49"/>
                  </a:lnTo>
                  <a:lnTo>
                    <a:pt x="0" y="65"/>
                  </a:lnTo>
                  <a:lnTo>
                    <a:pt x="148" y="0"/>
                  </a:lnTo>
                  <a:lnTo>
                    <a:pt x="137" y="73"/>
                  </a:lnTo>
                  <a:lnTo>
                    <a:pt x="303" y="32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95" name="Freeform 1427"/>
            <p:cNvSpPr>
              <a:spLocks/>
            </p:cNvSpPr>
            <p:nvPr/>
          </p:nvSpPr>
          <p:spPr bwMode="auto">
            <a:xfrm>
              <a:off x="9169" y="9274"/>
              <a:ext cx="140" cy="60"/>
            </a:xfrm>
            <a:custGeom>
              <a:avLst/>
              <a:gdLst>
                <a:gd name="T0" fmla="*/ 279 w 279"/>
                <a:gd name="T1" fmla="*/ 35 h 119"/>
                <a:gd name="T2" fmla="*/ 90 w 279"/>
                <a:gd name="T3" fmla="*/ 119 h 119"/>
                <a:gd name="T4" fmla="*/ 101 w 279"/>
                <a:gd name="T5" fmla="*/ 46 h 119"/>
                <a:gd name="T6" fmla="*/ 0 w 279"/>
                <a:gd name="T7" fmla="*/ 61 h 119"/>
                <a:gd name="T8" fmla="*/ 137 w 279"/>
                <a:gd name="T9" fmla="*/ 0 h 119"/>
                <a:gd name="T10" fmla="*/ 127 w 279"/>
                <a:gd name="T11" fmla="*/ 75 h 119"/>
                <a:gd name="T12" fmla="*/ 279 w 279"/>
                <a:gd name="T13" fmla="*/ 35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9"/>
                <a:gd name="T22" fmla="*/ 0 h 119"/>
                <a:gd name="T23" fmla="*/ 279 w 279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9" h="119">
                  <a:moveTo>
                    <a:pt x="279" y="35"/>
                  </a:moveTo>
                  <a:lnTo>
                    <a:pt x="90" y="119"/>
                  </a:lnTo>
                  <a:lnTo>
                    <a:pt x="101" y="46"/>
                  </a:lnTo>
                  <a:lnTo>
                    <a:pt x="0" y="61"/>
                  </a:lnTo>
                  <a:lnTo>
                    <a:pt x="137" y="0"/>
                  </a:lnTo>
                  <a:lnTo>
                    <a:pt x="127" y="75"/>
                  </a:lnTo>
                  <a:lnTo>
                    <a:pt x="279" y="35"/>
                  </a:lnTo>
                  <a:close/>
                </a:path>
              </a:pathLst>
            </a:custGeom>
            <a:solidFill>
              <a:srgbClr val="4C4C4C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96" name="Freeform 1428"/>
            <p:cNvSpPr>
              <a:spLocks/>
            </p:cNvSpPr>
            <p:nvPr/>
          </p:nvSpPr>
          <p:spPr bwMode="auto">
            <a:xfrm>
              <a:off x="9174" y="9276"/>
              <a:ext cx="127" cy="57"/>
            </a:xfrm>
            <a:custGeom>
              <a:avLst/>
              <a:gdLst>
                <a:gd name="T0" fmla="*/ 255 w 255"/>
                <a:gd name="T1" fmla="*/ 38 h 114"/>
                <a:gd name="T2" fmla="*/ 82 w 255"/>
                <a:gd name="T3" fmla="*/ 114 h 114"/>
                <a:gd name="T4" fmla="*/ 93 w 255"/>
                <a:gd name="T5" fmla="*/ 41 h 114"/>
                <a:gd name="T6" fmla="*/ 0 w 255"/>
                <a:gd name="T7" fmla="*/ 54 h 114"/>
                <a:gd name="T8" fmla="*/ 127 w 255"/>
                <a:gd name="T9" fmla="*/ 0 h 114"/>
                <a:gd name="T10" fmla="*/ 115 w 255"/>
                <a:gd name="T11" fmla="*/ 72 h 114"/>
                <a:gd name="T12" fmla="*/ 255 w 255"/>
                <a:gd name="T13" fmla="*/ 38 h 1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5"/>
                <a:gd name="T22" fmla="*/ 0 h 114"/>
                <a:gd name="T23" fmla="*/ 255 w 255"/>
                <a:gd name="T24" fmla="*/ 114 h 11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5" h="114">
                  <a:moveTo>
                    <a:pt x="255" y="38"/>
                  </a:moveTo>
                  <a:lnTo>
                    <a:pt x="82" y="114"/>
                  </a:lnTo>
                  <a:lnTo>
                    <a:pt x="93" y="41"/>
                  </a:lnTo>
                  <a:lnTo>
                    <a:pt x="0" y="54"/>
                  </a:lnTo>
                  <a:lnTo>
                    <a:pt x="127" y="0"/>
                  </a:lnTo>
                  <a:lnTo>
                    <a:pt x="115" y="72"/>
                  </a:lnTo>
                  <a:lnTo>
                    <a:pt x="255" y="38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97" name="Freeform 1429"/>
            <p:cNvSpPr>
              <a:spLocks/>
            </p:cNvSpPr>
            <p:nvPr/>
          </p:nvSpPr>
          <p:spPr bwMode="auto">
            <a:xfrm>
              <a:off x="9179" y="9277"/>
              <a:ext cx="115" cy="55"/>
            </a:xfrm>
            <a:custGeom>
              <a:avLst/>
              <a:gdLst>
                <a:gd name="T0" fmla="*/ 231 w 231"/>
                <a:gd name="T1" fmla="*/ 41 h 111"/>
                <a:gd name="T2" fmla="*/ 75 w 231"/>
                <a:gd name="T3" fmla="*/ 111 h 111"/>
                <a:gd name="T4" fmla="*/ 86 w 231"/>
                <a:gd name="T5" fmla="*/ 37 h 111"/>
                <a:gd name="T6" fmla="*/ 0 w 231"/>
                <a:gd name="T7" fmla="*/ 50 h 111"/>
                <a:gd name="T8" fmla="*/ 115 w 231"/>
                <a:gd name="T9" fmla="*/ 0 h 111"/>
                <a:gd name="T10" fmla="*/ 104 w 231"/>
                <a:gd name="T11" fmla="*/ 75 h 111"/>
                <a:gd name="T12" fmla="*/ 231 w 231"/>
                <a:gd name="T13" fmla="*/ 41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1"/>
                <a:gd name="T22" fmla="*/ 0 h 111"/>
                <a:gd name="T23" fmla="*/ 231 w 231"/>
                <a:gd name="T24" fmla="*/ 111 h 1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1" h="111">
                  <a:moveTo>
                    <a:pt x="231" y="41"/>
                  </a:moveTo>
                  <a:lnTo>
                    <a:pt x="75" y="111"/>
                  </a:lnTo>
                  <a:lnTo>
                    <a:pt x="86" y="37"/>
                  </a:lnTo>
                  <a:lnTo>
                    <a:pt x="0" y="50"/>
                  </a:lnTo>
                  <a:lnTo>
                    <a:pt x="115" y="0"/>
                  </a:lnTo>
                  <a:lnTo>
                    <a:pt x="104" y="75"/>
                  </a:lnTo>
                  <a:lnTo>
                    <a:pt x="231" y="41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98" name="Freeform 1430"/>
            <p:cNvSpPr>
              <a:spLocks/>
            </p:cNvSpPr>
            <p:nvPr/>
          </p:nvSpPr>
          <p:spPr bwMode="auto">
            <a:xfrm>
              <a:off x="9184" y="9277"/>
              <a:ext cx="101" cy="53"/>
            </a:xfrm>
            <a:custGeom>
              <a:avLst/>
              <a:gdLst>
                <a:gd name="T0" fmla="*/ 203 w 203"/>
                <a:gd name="T1" fmla="*/ 45 h 106"/>
                <a:gd name="T2" fmla="*/ 66 w 203"/>
                <a:gd name="T3" fmla="*/ 106 h 106"/>
                <a:gd name="T4" fmla="*/ 76 w 203"/>
                <a:gd name="T5" fmla="*/ 33 h 106"/>
                <a:gd name="T6" fmla="*/ 0 w 203"/>
                <a:gd name="T7" fmla="*/ 45 h 106"/>
                <a:gd name="T8" fmla="*/ 102 w 203"/>
                <a:gd name="T9" fmla="*/ 0 h 106"/>
                <a:gd name="T10" fmla="*/ 91 w 203"/>
                <a:gd name="T11" fmla="*/ 74 h 106"/>
                <a:gd name="T12" fmla="*/ 203 w 203"/>
                <a:gd name="T13" fmla="*/ 45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3"/>
                <a:gd name="T22" fmla="*/ 0 h 106"/>
                <a:gd name="T23" fmla="*/ 203 w 203"/>
                <a:gd name="T24" fmla="*/ 106 h 10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3" h="106">
                  <a:moveTo>
                    <a:pt x="203" y="45"/>
                  </a:moveTo>
                  <a:lnTo>
                    <a:pt x="66" y="106"/>
                  </a:lnTo>
                  <a:lnTo>
                    <a:pt x="76" y="33"/>
                  </a:lnTo>
                  <a:lnTo>
                    <a:pt x="0" y="45"/>
                  </a:lnTo>
                  <a:lnTo>
                    <a:pt x="102" y="0"/>
                  </a:lnTo>
                  <a:lnTo>
                    <a:pt x="91" y="74"/>
                  </a:lnTo>
                  <a:lnTo>
                    <a:pt x="203" y="45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699" name="Freeform 1431"/>
            <p:cNvSpPr>
              <a:spLocks/>
            </p:cNvSpPr>
            <p:nvPr/>
          </p:nvSpPr>
          <p:spPr bwMode="auto">
            <a:xfrm>
              <a:off x="9189" y="9279"/>
              <a:ext cx="89" cy="51"/>
            </a:xfrm>
            <a:custGeom>
              <a:avLst/>
              <a:gdLst>
                <a:gd name="T0" fmla="*/ 179 w 179"/>
                <a:gd name="T1" fmla="*/ 48 h 101"/>
                <a:gd name="T2" fmla="*/ 58 w 179"/>
                <a:gd name="T3" fmla="*/ 101 h 101"/>
                <a:gd name="T4" fmla="*/ 69 w 179"/>
                <a:gd name="T5" fmla="*/ 27 h 101"/>
                <a:gd name="T6" fmla="*/ 0 w 179"/>
                <a:gd name="T7" fmla="*/ 41 h 101"/>
                <a:gd name="T8" fmla="*/ 92 w 179"/>
                <a:gd name="T9" fmla="*/ 0 h 101"/>
                <a:gd name="T10" fmla="*/ 79 w 179"/>
                <a:gd name="T11" fmla="*/ 73 h 101"/>
                <a:gd name="T12" fmla="*/ 179 w 179"/>
                <a:gd name="T13" fmla="*/ 48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9"/>
                <a:gd name="T22" fmla="*/ 0 h 101"/>
                <a:gd name="T23" fmla="*/ 179 w 179"/>
                <a:gd name="T24" fmla="*/ 101 h 10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9" h="101">
                  <a:moveTo>
                    <a:pt x="179" y="48"/>
                  </a:moveTo>
                  <a:lnTo>
                    <a:pt x="58" y="101"/>
                  </a:lnTo>
                  <a:lnTo>
                    <a:pt x="69" y="27"/>
                  </a:lnTo>
                  <a:lnTo>
                    <a:pt x="0" y="41"/>
                  </a:lnTo>
                  <a:lnTo>
                    <a:pt x="92" y="0"/>
                  </a:lnTo>
                  <a:lnTo>
                    <a:pt x="79" y="73"/>
                  </a:lnTo>
                  <a:lnTo>
                    <a:pt x="179" y="48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00" name="Freeform 1432"/>
            <p:cNvSpPr>
              <a:spLocks/>
            </p:cNvSpPr>
            <p:nvPr/>
          </p:nvSpPr>
          <p:spPr bwMode="auto">
            <a:xfrm>
              <a:off x="9193" y="9280"/>
              <a:ext cx="77" cy="49"/>
            </a:xfrm>
            <a:custGeom>
              <a:avLst/>
              <a:gdLst>
                <a:gd name="T0" fmla="*/ 154 w 154"/>
                <a:gd name="T1" fmla="*/ 52 h 99"/>
                <a:gd name="T2" fmla="*/ 51 w 154"/>
                <a:gd name="T3" fmla="*/ 99 h 99"/>
                <a:gd name="T4" fmla="*/ 61 w 154"/>
                <a:gd name="T5" fmla="*/ 24 h 99"/>
                <a:gd name="T6" fmla="*/ 0 w 154"/>
                <a:gd name="T7" fmla="*/ 37 h 99"/>
                <a:gd name="T8" fmla="*/ 80 w 154"/>
                <a:gd name="T9" fmla="*/ 0 h 99"/>
                <a:gd name="T10" fmla="*/ 69 w 154"/>
                <a:gd name="T11" fmla="*/ 75 h 99"/>
                <a:gd name="T12" fmla="*/ 154 w 154"/>
                <a:gd name="T13" fmla="*/ 52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4"/>
                <a:gd name="T22" fmla="*/ 0 h 99"/>
                <a:gd name="T23" fmla="*/ 154 w 154"/>
                <a:gd name="T24" fmla="*/ 99 h 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4" h="99">
                  <a:moveTo>
                    <a:pt x="154" y="52"/>
                  </a:moveTo>
                  <a:lnTo>
                    <a:pt x="51" y="99"/>
                  </a:lnTo>
                  <a:lnTo>
                    <a:pt x="61" y="24"/>
                  </a:lnTo>
                  <a:lnTo>
                    <a:pt x="0" y="37"/>
                  </a:lnTo>
                  <a:lnTo>
                    <a:pt x="80" y="0"/>
                  </a:lnTo>
                  <a:lnTo>
                    <a:pt x="69" y="75"/>
                  </a:lnTo>
                  <a:lnTo>
                    <a:pt x="154" y="52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01" name="Freeform 1433"/>
            <p:cNvSpPr>
              <a:spLocks/>
            </p:cNvSpPr>
            <p:nvPr/>
          </p:nvSpPr>
          <p:spPr bwMode="auto">
            <a:xfrm>
              <a:off x="9198" y="9280"/>
              <a:ext cx="65" cy="47"/>
            </a:xfrm>
            <a:custGeom>
              <a:avLst/>
              <a:gdLst>
                <a:gd name="T0" fmla="*/ 130 w 130"/>
                <a:gd name="T1" fmla="*/ 56 h 94"/>
                <a:gd name="T2" fmla="*/ 43 w 130"/>
                <a:gd name="T3" fmla="*/ 94 h 94"/>
                <a:gd name="T4" fmla="*/ 54 w 130"/>
                <a:gd name="T5" fmla="*/ 21 h 94"/>
                <a:gd name="T6" fmla="*/ 0 w 130"/>
                <a:gd name="T7" fmla="*/ 32 h 94"/>
                <a:gd name="T8" fmla="*/ 69 w 130"/>
                <a:gd name="T9" fmla="*/ 0 h 94"/>
                <a:gd name="T10" fmla="*/ 57 w 130"/>
                <a:gd name="T11" fmla="*/ 74 h 94"/>
                <a:gd name="T12" fmla="*/ 130 w 130"/>
                <a:gd name="T13" fmla="*/ 56 h 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0"/>
                <a:gd name="T22" fmla="*/ 0 h 94"/>
                <a:gd name="T23" fmla="*/ 130 w 130"/>
                <a:gd name="T24" fmla="*/ 94 h 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0" h="94">
                  <a:moveTo>
                    <a:pt x="130" y="56"/>
                  </a:moveTo>
                  <a:lnTo>
                    <a:pt x="43" y="94"/>
                  </a:lnTo>
                  <a:lnTo>
                    <a:pt x="54" y="21"/>
                  </a:lnTo>
                  <a:lnTo>
                    <a:pt x="0" y="32"/>
                  </a:lnTo>
                  <a:lnTo>
                    <a:pt x="69" y="0"/>
                  </a:lnTo>
                  <a:lnTo>
                    <a:pt x="57" y="74"/>
                  </a:lnTo>
                  <a:lnTo>
                    <a:pt x="130" y="56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02" name="Freeform 1434"/>
            <p:cNvSpPr>
              <a:spLocks/>
            </p:cNvSpPr>
            <p:nvPr/>
          </p:nvSpPr>
          <p:spPr bwMode="auto">
            <a:xfrm>
              <a:off x="9203" y="9282"/>
              <a:ext cx="51" cy="45"/>
            </a:xfrm>
            <a:custGeom>
              <a:avLst/>
              <a:gdLst>
                <a:gd name="T0" fmla="*/ 102 w 102"/>
                <a:gd name="T1" fmla="*/ 57 h 89"/>
                <a:gd name="T2" fmla="*/ 44 w 102"/>
                <a:gd name="T3" fmla="*/ 73 h 89"/>
                <a:gd name="T4" fmla="*/ 55 w 102"/>
                <a:gd name="T5" fmla="*/ 0 h 89"/>
                <a:gd name="T6" fmla="*/ 0 w 102"/>
                <a:gd name="T7" fmla="*/ 26 h 89"/>
                <a:gd name="T8" fmla="*/ 44 w 102"/>
                <a:gd name="T9" fmla="*/ 15 h 89"/>
                <a:gd name="T10" fmla="*/ 34 w 102"/>
                <a:gd name="T11" fmla="*/ 89 h 89"/>
                <a:gd name="T12" fmla="*/ 102 w 102"/>
                <a:gd name="T13" fmla="*/ 57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2"/>
                <a:gd name="T22" fmla="*/ 0 h 89"/>
                <a:gd name="T23" fmla="*/ 102 w 102"/>
                <a:gd name="T24" fmla="*/ 89 h 8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2" h="89">
                  <a:moveTo>
                    <a:pt x="102" y="57"/>
                  </a:moveTo>
                  <a:lnTo>
                    <a:pt x="44" y="73"/>
                  </a:lnTo>
                  <a:lnTo>
                    <a:pt x="55" y="0"/>
                  </a:lnTo>
                  <a:lnTo>
                    <a:pt x="0" y="26"/>
                  </a:lnTo>
                  <a:lnTo>
                    <a:pt x="44" y="15"/>
                  </a:lnTo>
                  <a:lnTo>
                    <a:pt x="34" y="89"/>
                  </a:lnTo>
                  <a:lnTo>
                    <a:pt x="102" y="5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03" name="Freeform 1435"/>
            <p:cNvSpPr>
              <a:spLocks/>
            </p:cNvSpPr>
            <p:nvPr/>
          </p:nvSpPr>
          <p:spPr bwMode="auto">
            <a:xfrm>
              <a:off x="8806" y="9153"/>
              <a:ext cx="302" cy="387"/>
            </a:xfrm>
            <a:custGeom>
              <a:avLst/>
              <a:gdLst>
                <a:gd name="T0" fmla="*/ 334 w 606"/>
                <a:gd name="T1" fmla="*/ 1 h 774"/>
                <a:gd name="T2" fmla="*/ 394 w 606"/>
                <a:gd name="T3" fmla="*/ 13 h 774"/>
                <a:gd name="T4" fmla="*/ 447 w 606"/>
                <a:gd name="T5" fmla="*/ 36 h 774"/>
                <a:gd name="T6" fmla="*/ 496 w 606"/>
                <a:gd name="T7" fmla="*/ 70 h 774"/>
                <a:gd name="T8" fmla="*/ 537 w 606"/>
                <a:gd name="T9" fmla="*/ 112 h 774"/>
                <a:gd name="T10" fmla="*/ 569 w 606"/>
                <a:gd name="T11" fmla="*/ 161 h 774"/>
                <a:gd name="T12" fmla="*/ 592 w 606"/>
                <a:gd name="T13" fmla="*/ 216 h 774"/>
                <a:gd name="T14" fmla="*/ 604 w 606"/>
                <a:gd name="T15" fmla="*/ 275 h 774"/>
                <a:gd name="T16" fmla="*/ 604 w 606"/>
                <a:gd name="T17" fmla="*/ 337 h 774"/>
                <a:gd name="T18" fmla="*/ 592 w 606"/>
                <a:gd name="T19" fmla="*/ 397 h 774"/>
                <a:gd name="T20" fmla="*/ 569 w 606"/>
                <a:gd name="T21" fmla="*/ 451 h 774"/>
                <a:gd name="T22" fmla="*/ 537 w 606"/>
                <a:gd name="T23" fmla="*/ 500 h 774"/>
                <a:gd name="T24" fmla="*/ 505 w 606"/>
                <a:gd name="T25" fmla="*/ 535 h 774"/>
                <a:gd name="T26" fmla="*/ 469 w 606"/>
                <a:gd name="T27" fmla="*/ 573 h 774"/>
                <a:gd name="T28" fmla="*/ 432 w 606"/>
                <a:gd name="T29" fmla="*/ 632 h 774"/>
                <a:gd name="T30" fmla="*/ 408 w 606"/>
                <a:gd name="T31" fmla="*/ 719 h 774"/>
                <a:gd name="T32" fmla="*/ 202 w 606"/>
                <a:gd name="T33" fmla="*/ 774 h 774"/>
                <a:gd name="T34" fmla="*/ 188 w 606"/>
                <a:gd name="T35" fmla="*/ 672 h 774"/>
                <a:gd name="T36" fmla="*/ 156 w 606"/>
                <a:gd name="T37" fmla="*/ 599 h 774"/>
                <a:gd name="T38" fmla="*/ 118 w 606"/>
                <a:gd name="T39" fmla="*/ 552 h 774"/>
                <a:gd name="T40" fmla="*/ 87 w 606"/>
                <a:gd name="T41" fmla="*/ 521 h 774"/>
                <a:gd name="T42" fmla="*/ 52 w 606"/>
                <a:gd name="T43" fmla="*/ 476 h 774"/>
                <a:gd name="T44" fmla="*/ 25 w 606"/>
                <a:gd name="T45" fmla="*/ 424 h 774"/>
                <a:gd name="T46" fmla="*/ 6 w 606"/>
                <a:gd name="T47" fmla="*/ 368 h 774"/>
                <a:gd name="T48" fmla="*/ 0 w 606"/>
                <a:gd name="T49" fmla="*/ 307 h 774"/>
                <a:gd name="T50" fmla="*/ 6 w 606"/>
                <a:gd name="T51" fmla="*/ 245 h 774"/>
                <a:gd name="T52" fmla="*/ 23 w 606"/>
                <a:gd name="T53" fmla="*/ 188 h 774"/>
                <a:gd name="T54" fmla="*/ 52 w 606"/>
                <a:gd name="T55" fmla="*/ 135 h 774"/>
                <a:gd name="T56" fmla="*/ 89 w 606"/>
                <a:gd name="T57" fmla="*/ 89 h 774"/>
                <a:gd name="T58" fmla="*/ 133 w 606"/>
                <a:gd name="T59" fmla="*/ 53 h 774"/>
                <a:gd name="T60" fmla="*/ 185 w 606"/>
                <a:gd name="T61" fmla="*/ 24 h 774"/>
                <a:gd name="T62" fmla="*/ 243 w 606"/>
                <a:gd name="T63" fmla="*/ 6 h 774"/>
                <a:gd name="T64" fmla="*/ 304 w 606"/>
                <a:gd name="T65" fmla="*/ 0 h 77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06"/>
                <a:gd name="T100" fmla="*/ 0 h 774"/>
                <a:gd name="T101" fmla="*/ 606 w 606"/>
                <a:gd name="T102" fmla="*/ 774 h 77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06" h="774">
                  <a:moveTo>
                    <a:pt x="304" y="0"/>
                  </a:moveTo>
                  <a:lnTo>
                    <a:pt x="334" y="1"/>
                  </a:lnTo>
                  <a:lnTo>
                    <a:pt x="365" y="6"/>
                  </a:lnTo>
                  <a:lnTo>
                    <a:pt x="394" y="13"/>
                  </a:lnTo>
                  <a:lnTo>
                    <a:pt x="421" y="24"/>
                  </a:lnTo>
                  <a:lnTo>
                    <a:pt x="447" y="36"/>
                  </a:lnTo>
                  <a:lnTo>
                    <a:pt x="473" y="53"/>
                  </a:lnTo>
                  <a:lnTo>
                    <a:pt x="496" y="70"/>
                  </a:lnTo>
                  <a:lnTo>
                    <a:pt x="517" y="89"/>
                  </a:lnTo>
                  <a:lnTo>
                    <a:pt x="537" y="112"/>
                  </a:lnTo>
                  <a:lnTo>
                    <a:pt x="554" y="135"/>
                  </a:lnTo>
                  <a:lnTo>
                    <a:pt x="569" y="161"/>
                  </a:lnTo>
                  <a:lnTo>
                    <a:pt x="581" y="188"/>
                  </a:lnTo>
                  <a:lnTo>
                    <a:pt x="592" y="216"/>
                  </a:lnTo>
                  <a:lnTo>
                    <a:pt x="600" y="245"/>
                  </a:lnTo>
                  <a:lnTo>
                    <a:pt x="604" y="275"/>
                  </a:lnTo>
                  <a:lnTo>
                    <a:pt x="606" y="307"/>
                  </a:lnTo>
                  <a:lnTo>
                    <a:pt x="604" y="337"/>
                  </a:lnTo>
                  <a:lnTo>
                    <a:pt x="600" y="368"/>
                  </a:lnTo>
                  <a:lnTo>
                    <a:pt x="592" y="397"/>
                  </a:lnTo>
                  <a:lnTo>
                    <a:pt x="581" y="424"/>
                  </a:lnTo>
                  <a:lnTo>
                    <a:pt x="569" y="451"/>
                  </a:lnTo>
                  <a:lnTo>
                    <a:pt x="554" y="476"/>
                  </a:lnTo>
                  <a:lnTo>
                    <a:pt x="537" y="500"/>
                  </a:lnTo>
                  <a:lnTo>
                    <a:pt x="519" y="521"/>
                  </a:lnTo>
                  <a:lnTo>
                    <a:pt x="505" y="535"/>
                  </a:lnTo>
                  <a:lnTo>
                    <a:pt x="488" y="552"/>
                  </a:lnTo>
                  <a:lnTo>
                    <a:pt x="469" y="573"/>
                  </a:lnTo>
                  <a:lnTo>
                    <a:pt x="450" y="599"/>
                  </a:lnTo>
                  <a:lnTo>
                    <a:pt x="432" y="632"/>
                  </a:lnTo>
                  <a:lnTo>
                    <a:pt x="418" y="672"/>
                  </a:lnTo>
                  <a:lnTo>
                    <a:pt x="408" y="719"/>
                  </a:lnTo>
                  <a:lnTo>
                    <a:pt x="404" y="774"/>
                  </a:lnTo>
                  <a:lnTo>
                    <a:pt x="202" y="774"/>
                  </a:lnTo>
                  <a:lnTo>
                    <a:pt x="198" y="719"/>
                  </a:lnTo>
                  <a:lnTo>
                    <a:pt x="188" y="672"/>
                  </a:lnTo>
                  <a:lnTo>
                    <a:pt x="174" y="632"/>
                  </a:lnTo>
                  <a:lnTo>
                    <a:pt x="156" y="599"/>
                  </a:lnTo>
                  <a:lnTo>
                    <a:pt x="137" y="573"/>
                  </a:lnTo>
                  <a:lnTo>
                    <a:pt x="118" y="552"/>
                  </a:lnTo>
                  <a:lnTo>
                    <a:pt x="101" y="535"/>
                  </a:lnTo>
                  <a:lnTo>
                    <a:pt x="87" y="521"/>
                  </a:lnTo>
                  <a:lnTo>
                    <a:pt x="69" y="500"/>
                  </a:lnTo>
                  <a:lnTo>
                    <a:pt x="52" y="476"/>
                  </a:lnTo>
                  <a:lnTo>
                    <a:pt x="37" y="451"/>
                  </a:lnTo>
                  <a:lnTo>
                    <a:pt x="25" y="424"/>
                  </a:lnTo>
                  <a:lnTo>
                    <a:pt x="14" y="397"/>
                  </a:lnTo>
                  <a:lnTo>
                    <a:pt x="6" y="368"/>
                  </a:lnTo>
                  <a:lnTo>
                    <a:pt x="2" y="337"/>
                  </a:lnTo>
                  <a:lnTo>
                    <a:pt x="0" y="307"/>
                  </a:lnTo>
                  <a:lnTo>
                    <a:pt x="2" y="275"/>
                  </a:lnTo>
                  <a:lnTo>
                    <a:pt x="6" y="245"/>
                  </a:lnTo>
                  <a:lnTo>
                    <a:pt x="14" y="216"/>
                  </a:lnTo>
                  <a:lnTo>
                    <a:pt x="23" y="188"/>
                  </a:lnTo>
                  <a:lnTo>
                    <a:pt x="37" y="161"/>
                  </a:lnTo>
                  <a:lnTo>
                    <a:pt x="52" y="135"/>
                  </a:lnTo>
                  <a:lnTo>
                    <a:pt x="69" y="112"/>
                  </a:lnTo>
                  <a:lnTo>
                    <a:pt x="89" y="89"/>
                  </a:lnTo>
                  <a:lnTo>
                    <a:pt x="110" y="70"/>
                  </a:lnTo>
                  <a:lnTo>
                    <a:pt x="133" y="53"/>
                  </a:lnTo>
                  <a:lnTo>
                    <a:pt x="159" y="36"/>
                  </a:lnTo>
                  <a:lnTo>
                    <a:pt x="185" y="24"/>
                  </a:lnTo>
                  <a:lnTo>
                    <a:pt x="212" y="13"/>
                  </a:lnTo>
                  <a:lnTo>
                    <a:pt x="243" y="6"/>
                  </a:lnTo>
                  <a:lnTo>
                    <a:pt x="272" y="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04" name="Freeform 1436"/>
            <p:cNvSpPr>
              <a:spLocks/>
            </p:cNvSpPr>
            <p:nvPr/>
          </p:nvSpPr>
          <p:spPr bwMode="auto">
            <a:xfrm>
              <a:off x="8809" y="9156"/>
              <a:ext cx="296" cy="384"/>
            </a:xfrm>
            <a:custGeom>
              <a:avLst/>
              <a:gdLst>
                <a:gd name="T0" fmla="*/ 328 w 594"/>
                <a:gd name="T1" fmla="*/ 2 h 770"/>
                <a:gd name="T2" fmla="*/ 386 w 594"/>
                <a:gd name="T3" fmla="*/ 14 h 770"/>
                <a:gd name="T4" fmla="*/ 438 w 594"/>
                <a:gd name="T5" fmla="*/ 38 h 770"/>
                <a:gd name="T6" fmla="*/ 485 w 594"/>
                <a:gd name="T7" fmla="*/ 72 h 770"/>
                <a:gd name="T8" fmla="*/ 527 w 594"/>
                <a:gd name="T9" fmla="*/ 113 h 770"/>
                <a:gd name="T10" fmla="*/ 559 w 594"/>
                <a:gd name="T11" fmla="*/ 161 h 770"/>
                <a:gd name="T12" fmla="*/ 580 w 594"/>
                <a:gd name="T13" fmla="*/ 218 h 770"/>
                <a:gd name="T14" fmla="*/ 592 w 594"/>
                <a:gd name="T15" fmla="*/ 277 h 770"/>
                <a:gd name="T16" fmla="*/ 592 w 594"/>
                <a:gd name="T17" fmla="*/ 338 h 770"/>
                <a:gd name="T18" fmla="*/ 580 w 594"/>
                <a:gd name="T19" fmla="*/ 396 h 770"/>
                <a:gd name="T20" fmla="*/ 557 w 594"/>
                <a:gd name="T21" fmla="*/ 449 h 770"/>
                <a:gd name="T22" fmla="*/ 525 w 594"/>
                <a:gd name="T23" fmla="*/ 497 h 770"/>
                <a:gd name="T24" fmla="*/ 493 w 594"/>
                <a:gd name="T25" fmla="*/ 532 h 770"/>
                <a:gd name="T26" fmla="*/ 459 w 594"/>
                <a:gd name="T27" fmla="*/ 570 h 770"/>
                <a:gd name="T28" fmla="*/ 423 w 594"/>
                <a:gd name="T29" fmla="*/ 628 h 770"/>
                <a:gd name="T30" fmla="*/ 398 w 594"/>
                <a:gd name="T31" fmla="*/ 715 h 770"/>
                <a:gd name="T32" fmla="*/ 199 w 594"/>
                <a:gd name="T33" fmla="*/ 770 h 770"/>
                <a:gd name="T34" fmla="*/ 185 w 594"/>
                <a:gd name="T35" fmla="*/ 668 h 770"/>
                <a:gd name="T36" fmla="*/ 154 w 594"/>
                <a:gd name="T37" fmla="*/ 596 h 770"/>
                <a:gd name="T38" fmla="*/ 116 w 594"/>
                <a:gd name="T39" fmla="*/ 549 h 770"/>
                <a:gd name="T40" fmla="*/ 87 w 594"/>
                <a:gd name="T41" fmla="*/ 519 h 770"/>
                <a:gd name="T42" fmla="*/ 52 w 594"/>
                <a:gd name="T43" fmla="*/ 475 h 770"/>
                <a:gd name="T44" fmla="*/ 25 w 594"/>
                <a:gd name="T45" fmla="*/ 423 h 770"/>
                <a:gd name="T46" fmla="*/ 6 w 594"/>
                <a:gd name="T47" fmla="*/ 367 h 770"/>
                <a:gd name="T48" fmla="*/ 0 w 594"/>
                <a:gd name="T49" fmla="*/ 307 h 770"/>
                <a:gd name="T50" fmla="*/ 6 w 594"/>
                <a:gd name="T51" fmla="*/ 247 h 770"/>
                <a:gd name="T52" fmla="*/ 23 w 594"/>
                <a:gd name="T53" fmla="*/ 189 h 770"/>
                <a:gd name="T54" fmla="*/ 51 w 594"/>
                <a:gd name="T55" fmla="*/ 137 h 770"/>
                <a:gd name="T56" fmla="*/ 86 w 594"/>
                <a:gd name="T57" fmla="*/ 92 h 770"/>
                <a:gd name="T58" fmla="*/ 130 w 594"/>
                <a:gd name="T59" fmla="*/ 54 h 770"/>
                <a:gd name="T60" fmla="*/ 180 w 594"/>
                <a:gd name="T61" fmla="*/ 25 h 770"/>
                <a:gd name="T62" fmla="*/ 237 w 594"/>
                <a:gd name="T63" fmla="*/ 6 h 770"/>
                <a:gd name="T64" fmla="*/ 298 w 594"/>
                <a:gd name="T65" fmla="*/ 0 h 77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94"/>
                <a:gd name="T100" fmla="*/ 0 h 770"/>
                <a:gd name="T101" fmla="*/ 594 w 594"/>
                <a:gd name="T102" fmla="*/ 770 h 77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94" h="770">
                  <a:moveTo>
                    <a:pt x="298" y="0"/>
                  </a:moveTo>
                  <a:lnTo>
                    <a:pt x="328" y="2"/>
                  </a:lnTo>
                  <a:lnTo>
                    <a:pt x="357" y="6"/>
                  </a:lnTo>
                  <a:lnTo>
                    <a:pt x="386" y="14"/>
                  </a:lnTo>
                  <a:lnTo>
                    <a:pt x="412" y="25"/>
                  </a:lnTo>
                  <a:lnTo>
                    <a:pt x="438" y="38"/>
                  </a:lnTo>
                  <a:lnTo>
                    <a:pt x="463" y="54"/>
                  </a:lnTo>
                  <a:lnTo>
                    <a:pt x="485" y="72"/>
                  </a:lnTo>
                  <a:lnTo>
                    <a:pt x="507" y="92"/>
                  </a:lnTo>
                  <a:lnTo>
                    <a:pt x="527" y="113"/>
                  </a:lnTo>
                  <a:lnTo>
                    <a:pt x="543" y="137"/>
                  </a:lnTo>
                  <a:lnTo>
                    <a:pt x="559" y="161"/>
                  </a:lnTo>
                  <a:lnTo>
                    <a:pt x="571" y="189"/>
                  </a:lnTo>
                  <a:lnTo>
                    <a:pt x="580" y="218"/>
                  </a:lnTo>
                  <a:lnTo>
                    <a:pt x="588" y="247"/>
                  </a:lnTo>
                  <a:lnTo>
                    <a:pt x="592" y="277"/>
                  </a:lnTo>
                  <a:lnTo>
                    <a:pt x="594" y="307"/>
                  </a:lnTo>
                  <a:lnTo>
                    <a:pt x="592" y="338"/>
                  </a:lnTo>
                  <a:lnTo>
                    <a:pt x="588" y="367"/>
                  </a:lnTo>
                  <a:lnTo>
                    <a:pt x="580" y="396"/>
                  </a:lnTo>
                  <a:lnTo>
                    <a:pt x="569" y="423"/>
                  </a:lnTo>
                  <a:lnTo>
                    <a:pt x="557" y="449"/>
                  </a:lnTo>
                  <a:lnTo>
                    <a:pt x="542" y="475"/>
                  </a:lnTo>
                  <a:lnTo>
                    <a:pt x="525" y="497"/>
                  </a:lnTo>
                  <a:lnTo>
                    <a:pt x="507" y="519"/>
                  </a:lnTo>
                  <a:lnTo>
                    <a:pt x="493" y="532"/>
                  </a:lnTo>
                  <a:lnTo>
                    <a:pt x="478" y="549"/>
                  </a:lnTo>
                  <a:lnTo>
                    <a:pt x="459" y="570"/>
                  </a:lnTo>
                  <a:lnTo>
                    <a:pt x="440" y="596"/>
                  </a:lnTo>
                  <a:lnTo>
                    <a:pt x="423" y="628"/>
                  </a:lnTo>
                  <a:lnTo>
                    <a:pt x="409" y="668"/>
                  </a:lnTo>
                  <a:lnTo>
                    <a:pt x="398" y="715"/>
                  </a:lnTo>
                  <a:lnTo>
                    <a:pt x="395" y="770"/>
                  </a:lnTo>
                  <a:lnTo>
                    <a:pt x="199" y="770"/>
                  </a:lnTo>
                  <a:lnTo>
                    <a:pt x="196" y="715"/>
                  </a:lnTo>
                  <a:lnTo>
                    <a:pt x="185" y="668"/>
                  </a:lnTo>
                  <a:lnTo>
                    <a:pt x="171" y="628"/>
                  </a:lnTo>
                  <a:lnTo>
                    <a:pt x="154" y="596"/>
                  </a:lnTo>
                  <a:lnTo>
                    <a:pt x="134" y="570"/>
                  </a:lnTo>
                  <a:lnTo>
                    <a:pt x="116" y="549"/>
                  </a:lnTo>
                  <a:lnTo>
                    <a:pt x="101" y="532"/>
                  </a:lnTo>
                  <a:lnTo>
                    <a:pt x="87" y="519"/>
                  </a:lnTo>
                  <a:lnTo>
                    <a:pt x="69" y="497"/>
                  </a:lnTo>
                  <a:lnTo>
                    <a:pt x="52" y="475"/>
                  </a:lnTo>
                  <a:lnTo>
                    <a:pt x="37" y="449"/>
                  </a:lnTo>
                  <a:lnTo>
                    <a:pt x="25" y="423"/>
                  </a:lnTo>
                  <a:lnTo>
                    <a:pt x="14" y="396"/>
                  </a:lnTo>
                  <a:lnTo>
                    <a:pt x="6" y="367"/>
                  </a:lnTo>
                  <a:lnTo>
                    <a:pt x="2" y="338"/>
                  </a:lnTo>
                  <a:lnTo>
                    <a:pt x="0" y="307"/>
                  </a:lnTo>
                  <a:lnTo>
                    <a:pt x="2" y="277"/>
                  </a:lnTo>
                  <a:lnTo>
                    <a:pt x="6" y="247"/>
                  </a:lnTo>
                  <a:lnTo>
                    <a:pt x="14" y="218"/>
                  </a:lnTo>
                  <a:lnTo>
                    <a:pt x="23" y="189"/>
                  </a:lnTo>
                  <a:lnTo>
                    <a:pt x="35" y="161"/>
                  </a:lnTo>
                  <a:lnTo>
                    <a:pt x="51" y="137"/>
                  </a:lnTo>
                  <a:lnTo>
                    <a:pt x="67" y="113"/>
                  </a:lnTo>
                  <a:lnTo>
                    <a:pt x="86" y="92"/>
                  </a:lnTo>
                  <a:lnTo>
                    <a:pt x="107" y="72"/>
                  </a:lnTo>
                  <a:lnTo>
                    <a:pt x="130" y="54"/>
                  </a:lnTo>
                  <a:lnTo>
                    <a:pt x="154" y="38"/>
                  </a:lnTo>
                  <a:lnTo>
                    <a:pt x="180" y="25"/>
                  </a:lnTo>
                  <a:lnTo>
                    <a:pt x="208" y="14"/>
                  </a:lnTo>
                  <a:lnTo>
                    <a:pt x="237" y="6"/>
                  </a:lnTo>
                  <a:lnTo>
                    <a:pt x="267" y="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05" name="Freeform 1437"/>
            <p:cNvSpPr>
              <a:spLocks/>
            </p:cNvSpPr>
            <p:nvPr/>
          </p:nvSpPr>
          <p:spPr bwMode="auto">
            <a:xfrm>
              <a:off x="8812" y="9158"/>
              <a:ext cx="290" cy="382"/>
            </a:xfrm>
            <a:custGeom>
              <a:avLst/>
              <a:gdLst>
                <a:gd name="T0" fmla="*/ 321 w 582"/>
                <a:gd name="T1" fmla="*/ 1 h 765"/>
                <a:gd name="T2" fmla="*/ 379 w 582"/>
                <a:gd name="T3" fmla="*/ 14 h 765"/>
                <a:gd name="T4" fmla="*/ 431 w 582"/>
                <a:gd name="T5" fmla="*/ 38 h 765"/>
                <a:gd name="T6" fmla="*/ 476 w 582"/>
                <a:gd name="T7" fmla="*/ 71 h 765"/>
                <a:gd name="T8" fmla="*/ 516 w 582"/>
                <a:gd name="T9" fmla="*/ 112 h 765"/>
                <a:gd name="T10" fmla="*/ 547 w 582"/>
                <a:gd name="T11" fmla="*/ 161 h 765"/>
                <a:gd name="T12" fmla="*/ 568 w 582"/>
                <a:gd name="T13" fmla="*/ 217 h 765"/>
                <a:gd name="T14" fmla="*/ 580 w 582"/>
                <a:gd name="T15" fmla="*/ 277 h 765"/>
                <a:gd name="T16" fmla="*/ 580 w 582"/>
                <a:gd name="T17" fmla="*/ 337 h 765"/>
                <a:gd name="T18" fmla="*/ 566 w 582"/>
                <a:gd name="T19" fmla="*/ 394 h 765"/>
                <a:gd name="T20" fmla="*/ 544 w 582"/>
                <a:gd name="T21" fmla="*/ 447 h 765"/>
                <a:gd name="T22" fmla="*/ 513 w 582"/>
                <a:gd name="T23" fmla="*/ 494 h 765"/>
                <a:gd name="T24" fmla="*/ 481 w 582"/>
                <a:gd name="T25" fmla="*/ 529 h 765"/>
                <a:gd name="T26" fmla="*/ 447 w 582"/>
                <a:gd name="T27" fmla="*/ 567 h 765"/>
                <a:gd name="T28" fmla="*/ 412 w 582"/>
                <a:gd name="T29" fmla="*/ 625 h 765"/>
                <a:gd name="T30" fmla="*/ 389 w 582"/>
                <a:gd name="T31" fmla="*/ 710 h 765"/>
                <a:gd name="T32" fmla="*/ 196 w 582"/>
                <a:gd name="T33" fmla="*/ 765 h 765"/>
                <a:gd name="T34" fmla="*/ 183 w 582"/>
                <a:gd name="T35" fmla="*/ 664 h 765"/>
                <a:gd name="T36" fmla="*/ 153 w 582"/>
                <a:gd name="T37" fmla="*/ 593 h 765"/>
                <a:gd name="T38" fmla="*/ 116 w 582"/>
                <a:gd name="T39" fmla="*/ 546 h 765"/>
                <a:gd name="T40" fmla="*/ 87 w 582"/>
                <a:gd name="T41" fmla="*/ 515 h 765"/>
                <a:gd name="T42" fmla="*/ 54 w 582"/>
                <a:gd name="T43" fmla="*/ 471 h 765"/>
                <a:gd name="T44" fmla="*/ 26 w 582"/>
                <a:gd name="T45" fmla="*/ 421 h 765"/>
                <a:gd name="T46" fmla="*/ 6 w 582"/>
                <a:gd name="T47" fmla="*/ 366 h 765"/>
                <a:gd name="T48" fmla="*/ 0 w 582"/>
                <a:gd name="T49" fmla="*/ 307 h 765"/>
                <a:gd name="T50" fmla="*/ 6 w 582"/>
                <a:gd name="T51" fmla="*/ 246 h 765"/>
                <a:gd name="T52" fmla="*/ 23 w 582"/>
                <a:gd name="T53" fmla="*/ 188 h 765"/>
                <a:gd name="T54" fmla="*/ 49 w 582"/>
                <a:gd name="T55" fmla="*/ 137 h 765"/>
                <a:gd name="T56" fmla="*/ 84 w 582"/>
                <a:gd name="T57" fmla="*/ 91 h 765"/>
                <a:gd name="T58" fmla="*/ 127 w 582"/>
                <a:gd name="T59" fmla="*/ 53 h 765"/>
                <a:gd name="T60" fmla="*/ 176 w 582"/>
                <a:gd name="T61" fmla="*/ 24 h 765"/>
                <a:gd name="T62" fmla="*/ 231 w 582"/>
                <a:gd name="T63" fmla="*/ 6 h 765"/>
                <a:gd name="T64" fmla="*/ 292 w 582"/>
                <a:gd name="T65" fmla="*/ 0 h 76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82"/>
                <a:gd name="T100" fmla="*/ 0 h 765"/>
                <a:gd name="T101" fmla="*/ 582 w 582"/>
                <a:gd name="T102" fmla="*/ 765 h 76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82" h="765">
                  <a:moveTo>
                    <a:pt x="292" y="0"/>
                  </a:moveTo>
                  <a:lnTo>
                    <a:pt x="321" y="1"/>
                  </a:lnTo>
                  <a:lnTo>
                    <a:pt x="350" y="6"/>
                  </a:lnTo>
                  <a:lnTo>
                    <a:pt x="379" y="14"/>
                  </a:lnTo>
                  <a:lnTo>
                    <a:pt x="405" y="24"/>
                  </a:lnTo>
                  <a:lnTo>
                    <a:pt x="431" y="38"/>
                  </a:lnTo>
                  <a:lnTo>
                    <a:pt x="453" y="53"/>
                  </a:lnTo>
                  <a:lnTo>
                    <a:pt x="476" y="71"/>
                  </a:lnTo>
                  <a:lnTo>
                    <a:pt x="496" y="91"/>
                  </a:lnTo>
                  <a:lnTo>
                    <a:pt x="516" y="112"/>
                  </a:lnTo>
                  <a:lnTo>
                    <a:pt x="533" y="137"/>
                  </a:lnTo>
                  <a:lnTo>
                    <a:pt x="547" y="161"/>
                  </a:lnTo>
                  <a:lnTo>
                    <a:pt x="559" y="188"/>
                  </a:lnTo>
                  <a:lnTo>
                    <a:pt x="568" y="217"/>
                  </a:lnTo>
                  <a:lnTo>
                    <a:pt x="576" y="246"/>
                  </a:lnTo>
                  <a:lnTo>
                    <a:pt x="580" y="277"/>
                  </a:lnTo>
                  <a:lnTo>
                    <a:pt x="582" y="307"/>
                  </a:lnTo>
                  <a:lnTo>
                    <a:pt x="580" y="337"/>
                  </a:lnTo>
                  <a:lnTo>
                    <a:pt x="576" y="366"/>
                  </a:lnTo>
                  <a:lnTo>
                    <a:pt x="566" y="394"/>
                  </a:lnTo>
                  <a:lnTo>
                    <a:pt x="557" y="421"/>
                  </a:lnTo>
                  <a:lnTo>
                    <a:pt x="544" y="447"/>
                  </a:lnTo>
                  <a:lnTo>
                    <a:pt x="528" y="471"/>
                  </a:lnTo>
                  <a:lnTo>
                    <a:pt x="513" y="494"/>
                  </a:lnTo>
                  <a:lnTo>
                    <a:pt x="495" y="515"/>
                  </a:lnTo>
                  <a:lnTo>
                    <a:pt x="481" y="529"/>
                  </a:lnTo>
                  <a:lnTo>
                    <a:pt x="466" y="546"/>
                  </a:lnTo>
                  <a:lnTo>
                    <a:pt x="447" y="567"/>
                  </a:lnTo>
                  <a:lnTo>
                    <a:pt x="429" y="593"/>
                  </a:lnTo>
                  <a:lnTo>
                    <a:pt x="412" y="625"/>
                  </a:lnTo>
                  <a:lnTo>
                    <a:pt x="399" y="664"/>
                  </a:lnTo>
                  <a:lnTo>
                    <a:pt x="389" y="710"/>
                  </a:lnTo>
                  <a:lnTo>
                    <a:pt x="386" y="765"/>
                  </a:lnTo>
                  <a:lnTo>
                    <a:pt x="196" y="765"/>
                  </a:lnTo>
                  <a:lnTo>
                    <a:pt x="193" y="710"/>
                  </a:lnTo>
                  <a:lnTo>
                    <a:pt x="183" y="664"/>
                  </a:lnTo>
                  <a:lnTo>
                    <a:pt x="170" y="625"/>
                  </a:lnTo>
                  <a:lnTo>
                    <a:pt x="153" y="593"/>
                  </a:lnTo>
                  <a:lnTo>
                    <a:pt x="135" y="567"/>
                  </a:lnTo>
                  <a:lnTo>
                    <a:pt x="116" y="546"/>
                  </a:lnTo>
                  <a:lnTo>
                    <a:pt x="101" y="529"/>
                  </a:lnTo>
                  <a:lnTo>
                    <a:pt x="87" y="515"/>
                  </a:lnTo>
                  <a:lnTo>
                    <a:pt x="69" y="494"/>
                  </a:lnTo>
                  <a:lnTo>
                    <a:pt x="54" y="471"/>
                  </a:lnTo>
                  <a:lnTo>
                    <a:pt x="38" y="447"/>
                  </a:lnTo>
                  <a:lnTo>
                    <a:pt x="26" y="421"/>
                  </a:lnTo>
                  <a:lnTo>
                    <a:pt x="16" y="394"/>
                  </a:lnTo>
                  <a:lnTo>
                    <a:pt x="6" y="366"/>
                  </a:lnTo>
                  <a:lnTo>
                    <a:pt x="2" y="337"/>
                  </a:lnTo>
                  <a:lnTo>
                    <a:pt x="0" y="307"/>
                  </a:lnTo>
                  <a:lnTo>
                    <a:pt x="2" y="277"/>
                  </a:lnTo>
                  <a:lnTo>
                    <a:pt x="6" y="246"/>
                  </a:lnTo>
                  <a:lnTo>
                    <a:pt x="13" y="217"/>
                  </a:lnTo>
                  <a:lnTo>
                    <a:pt x="23" y="188"/>
                  </a:lnTo>
                  <a:lnTo>
                    <a:pt x="34" y="161"/>
                  </a:lnTo>
                  <a:lnTo>
                    <a:pt x="49" y="137"/>
                  </a:lnTo>
                  <a:lnTo>
                    <a:pt x="64" y="112"/>
                  </a:lnTo>
                  <a:lnTo>
                    <a:pt x="84" y="91"/>
                  </a:lnTo>
                  <a:lnTo>
                    <a:pt x="104" y="71"/>
                  </a:lnTo>
                  <a:lnTo>
                    <a:pt x="127" y="53"/>
                  </a:lnTo>
                  <a:lnTo>
                    <a:pt x="150" y="38"/>
                  </a:lnTo>
                  <a:lnTo>
                    <a:pt x="176" y="24"/>
                  </a:lnTo>
                  <a:lnTo>
                    <a:pt x="203" y="14"/>
                  </a:lnTo>
                  <a:lnTo>
                    <a:pt x="231" y="6"/>
                  </a:lnTo>
                  <a:lnTo>
                    <a:pt x="261" y="1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06" name="Freeform 1438"/>
            <p:cNvSpPr>
              <a:spLocks/>
            </p:cNvSpPr>
            <p:nvPr/>
          </p:nvSpPr>
          <p:spPr bwMode="auto">
            <a:xfrm>
              <a:off x="8815" y="9161"/>
              <a:ext cx="284" cy="379"/>
            </a:xfrm>
            <a:custGeom>
              <a:avLst/>
              <a:gdLst>
                <a:gd name="T0" fmla="*/ 315 w 570"/>
                <a:gd name="T1" fmla="*/ 1 h 759"/>
                <a:gd name="T2" fmla="*/ 370 w 570"/>
                <a:gd name="T3" fmla="*/ 14 h 759"/>
                <a:gd name="T4" fmla="*/ 422 w 570"/>
                <a:gd name="T5" fmla="*/ 38 h 759"/>
                <a:gd name="T6" fmla="*/ 466 w 570"/>
                <a:gd name="T7" fmla="*/ 70 h 759"/>
                <a:gd name="T8" fmla="*/ 505 w 570"/>
                <a:gd name="T9" fmla="*/ 112 h 759"/>
                <a:gd name="T10" fmla="*/ 536 w 570"/>
                <a:gd name="T11" fmla="*/ 161 h 759"/>
                <a:gd name="T12" fmla="*/ 557 w 570"/>
                <a:gd name="T13" fmla="*/ 214 h 759"/>
                <a:gd name="T14" fmla="*/ 568 w 570"/>
                <a:gd name="T15" fmla="*/ 274 h 759"/>
                <a:gd name="T16" fmla="*/ 568 w 570"/>
                <a:gd name="T17" fmla="*/ 334 h 759"/>
                <a:gd name="T18" fmla="*/ 554 w 570"/>
                <a:gd name="T19" fmla="*/ 391 h 759"/>
                <a:gd name="T20" fmla="*/ 531 w 570"/>
                <a:gd name="T21" fmla="*/ 444 h 759"/>
                <a:gd name="T22" fmla="*/ 499 w 570"/>
                <a:gd name="T23" fmla="*/ 491 h 759"/>
                <a:gd name="T24" fmla="*/ 470 w 570"/>
                <a:gd name="T25" fmla="*/ 526 h 759"/>
                <a:gd name="T26" fmla="*/ 437 w 570"/>
                <a:gd name="T27" fmla="*/ 562 h 759"/>
                <a:gd name="T28" fmla="*/ 403 w 570"/>
                <a:gd name="T29" fmla="*/ 620 h 759"/>
                <a:gd name="T30" fmla="*/ 380 w 570"/>
                <a:gd name="T31" fmla="*/ 705 h 759"/>
                <a:gd name="T32" fmla="*/ 193 w 570"/>
                <a:gd name="T33" fmla="*/ 759 h 759"/>
                <a:gd name="T34" fmla="*/ 180 w 570"/>
                <a:gd name="T35" fmla="*/ 658 h 759"/>
                <a:gd name="T36" fmla="*/ 150 w 570"/>
                <a:gd name="T37" fmla="*/ 588 h 759"/>
                <a:gd name="T38" fmla="*/ 115 w 570"/>
                <a:gd name="T39" fmla="*/ 541 h 759"/>
                <a:gd name="T40" fmla="*/ 87 w 570"/>
                <a:gd name="T41" fmla="*/ 512 h 759"/>
                <a:gd name="T42" fmla="*/ 54 w 570"/>
                <a:gd name="T43" fmla="*/ 468 h 759"/>
                <a:gd name="T44" fmla="*/ 26 w 570"/>
                <a:gd name="T45" fmla="*/ 418 h 759"/>
                <a:gd name="T46" fmla="*/ 8 w 570"/>
                <a:gd name="T47" fmla="*/ 363 h 759"/>
                <a:gd name="T48" fmla="*/ 0 w 570"/>
                <a:gd name="T49" fmla="*/ 304 h 759"/>
                <a:gd name="T50" fmla="*/ 7 w 570"/>
                <a:gd name="T51" fmla="*/ 243 h 759"/>
                <a:gd name="T52" fmla="*/ 22 w 570"/>
                <a:gd name="T53" fmla="*/ 187 h 759"/>
                <a:gd name="T54" fmla="*/ 48 w 570"/>
                <a:gd name="T55" fmla="*/ 135 h 759"/>
                <a:gd name="T56" fmla="*/ 81 w 570"/>
                <a:gd name="T57" fmla="*/ 90 h 759"/>
                <a:gd name="T58" fmla="*/ 122 w 570"/>
                <a:gd name="T59" fmla="*/ 53 h 759"/>
                <a:gd name="T60" fmla="*/ 171 w 570"/>
                <a:gd name="T61" fmla="*/ 24 h 759"/>
                <a:gd name="T62" fmla="*/ 226 w 570"/>
                <a:gd name="T63" fmla="*/ 6 h 759"/>
                <a:gd name="T64" fmla="*/ 286 w 570"/>
                <a:gd name="T65" fmla="*/ 0 h 75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70"/>
                <a:gd name="T100" fmla="*/ 0 h 759"/>
                <a:gd name="T101" fmla="*/ 570 w 570"/>
                <a:gd name="T102" fmla="*/ 759 h 75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70" h="759">
                  <a:moveTo>
                    <a:pt x="286" y="0"/>
                  </a:moveTo>
                  <a:lnTo>
                    <a:pt x="315" y="1"/>
                  </a:lnTo>
                  <a:lnTo>
                    <a:pt x="344" y="6"/>
                  </a:lnTo>
                  <a:lnTo>
                    <a:pt x="370" y="14"/>
                  </a:lnTo>
                  <a:lnTo>
                    <a:pt x="397" y="24"/>
                  </a:lnTo>
                  <a:lnTo>
                    <a:pt x="422" y="38"/>
                  </a:lnTo>
                  <a:lnTo>
                    <a:pt x="444" y="53"/>
                  </a:lnTo>
                  <a:lnTo>
                    <a:pt x="466" y="70"/>
                  </a:lnTo>
                  <a:lnTo>
                    <a:pt x="487" y="90"/>
                  </a:lnTo>
                  <a:lnTo>
                    <a:pt x="505" y="112"/>
                  </a:lnTo>
                  <a:lnTo>
                    <a:pt x="521" y="135"/>
                  </a:lnTo>
                  <a:lnTo>
                    <a:pt x="536" y="161"/>
                  </a:lnTo>
                  <a:lnTo>
                    <a:pt x="547" y="187"/>
                  </a:lnTo>
                  <a:lnTo>
                    <a:pt x="557" y="214"/>
                  </a:lnTo>
                  <a:lnTo>
                    <a:pt x="563" y="243"/>
                  </a:lnTo>
                  <a:lnTo>
                    <a:pt x="568" y="274"/>
                  </a:lnTo>
                  <a:lnTo>
                    <a:pt x="570" y="304"/>
                  </a:lnTo>
                  <a:lnTo>
                    <a:pt x="568" y="334"/>
                  </a:lnTo>
                  <a:lnTo>
                    <a:pt x="562" y="363"/>
                  </a:lnTo>
                  <a:lnTo>
                    <a:pt x="554" y="391"/>
                  </a:lnTo>
                  <a:lnTo>
                    <a:pt x="544" y="418"/>
                  </a:lnTo>
                  <a:lnTo>
                    <a:pt x="531" y="444"/>
                  </a:lnTo>
                  <a:lnTo>
                    <a:pt x="516" y="468"/>
                  </a:lnTo>
                  <a:lnTo>
                    <a:pt x="499" y="491"/>
                  </a:lnTo>
                  <a:lnTo>
                    <a:pt x="483" y="512"/>
                  </a:lnTo>
                  <a:lnTo>
                    <a:pt x="470" y="526"/>
                  </a:lnTo>
                  <a:lnTo>
                    <a:pt x="455" y="541"/>
                  </a:lnTo>
                  <a:lnTo>
                    <a:pt x="437" y="562"/>
                  </a:lnTo>
                  <a:lnTo>
                    <a:pt x="420" y="588"/>
                  </a:lnTo>
                  <a:lnTo>
                    <a:pt x="403" y="620"/>
                  </a:lnTo>
                  <a:lnTo>
                    <a:pt x="390" y="658"/>
                  </a:lnTo>
                  <a:lnTo>
                    <a:pt x="380" y="705"/>
                  </a:lnTo>
                  <a:lnTo>
                    <a:pt x="377" y="759"/>
                  </a:lnTo>
                  <a:lnTo>
                    <a:pt x="193" y="759"/>
                  </a:lnTo>
                  <a:lnTo>
                    <a:pt x="190" y="705"/>
                  </a:lnTo>
                  <a:lnTo>
                    <a:pt x="180" y="658"/>
                  </a:lnTo>
                  <a:lnTo>
                    <a:pt x="167" y="620"/>
                  </a:lnTo>
                  <a:lnTo>
                    <a:pt x="150" y="588"/>
                  </a:lnTo>
                  <a:lnTo>
                    <a:pt x="133" y="562"/>
                  </a:lnTo>
                  <a:lnTo>
                    <a:pt x="115" y="541"/>
                  </a:lnTo>
                  <a:lnTo>
                    <a:pt x="100" y="526"/>
                  </a:lnTo>
                  <a:lnTo>
                    <a:pt x="87" y="512"/>
                  </a:lnTo>
                  <a:lnTo>
                    <a:pt x="71" y="491"/>
                  </a:lnTo>
                  <a:lnTo>
                    <a:pt x="54" y="468"/>
                  </a:lnTo>
                  <a:lnTo>
                    <a:pt x="39" y="444"/>
                  </a:lnTo>
                  <a:lnTo>
                    <a:pt x="26" y="418"/>
                  </a:lnTo>
                  <a:lnTo>
                    <a:pt x="16" y="391"/>
                  </a:lnTo>
                  <a:lnTo>
                    <a:pt x="8" y="363"/>
                  </a:lnTo>
                  <a:lnTo>
                    <a:pt x="2" y="334"/>
                  </a:lnTo>
                  <a:lnTo>
                    <a:pt x="0" y="304"/>
                  </a:lnTo>
                  <a:lnTo>
                    <a:pt x="2" y="274"/>
                  </a:lnTo>
                  <a:lnTo>
                    <a:pt x="7" y="243"/>
                  </a:lnTo>
                  <a:lnTo>
                    <a:pt x="13" y="214"/>
                  </a:lnTo>
                  <a:lnTo>
                    <a:pt x="22" y="187"/>
                  </a:lnTo>
                  <a:lnTo>
                    <a:pt x="34" y="161"/>
                  </a:lnTo>
                  <a:lnTo>
                    <a:pt x="48" y="135"/>
                  </a:lnTo>
                  <a:lnTo>
                    <a:pt x="63" y="112"/>
                  </a:lnTo>
                  <a:lnTo>
                    <a:pt x="81" y="90"/>
                  </a:lnTo>
                  <a:lnTo>
                    <a:pt x="101" y="70"/>
                  </a:lnTo>
                  <a:lnTo>
                    <a:pt x="122" y="53"/>
                  </a:lnTo>
                  <a:lnTo>
                    <a:pt x="147" y="38"/>
                  </a:lnTo>
                  <a:lnTo>
                    <a:pt x="171" y="24"/>
                  </a:lnTo>
                  <a:lnTo>
                    <a:pt x="199" y="14"/>
                  </a:lnTo>
                  <a:lnTo>
                    <a:pt x="226" y="6"/>
                  </a:lnTo>
                  <a:lnTo>
                    <a:pt x="255" y="1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BFBFB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07" name="Freeform 1439"/>
            <p:cNvSpPr>
              <a:spLocks/>
            </p:cNvSpPr>
            <p:nvPr/>
          </p:nvSpPr>
          <p:spPr bwMode="auto">
            <a:xfrm>
              <a:off x="8818" y="9163"/>
              <a:ext cx="278" cy="377"/>
            </a:xfrm>
            <a:custGeom>
              <a:avLst/>
              <a:gdLst>
                <a:gd name="T0" fmla="*/ 308 w 556"/>
                <a:gd name="T1" fmla="*/ 1 h 754"/>
                <a:gd name="T2" fmla="*/ 361 w 556"/>
                <a:gd name="T3" fmla="*/ 13 h 754"/>
                <a:gd name="T4" fmla="*/ 411 w 556"/>
                <a:gd name="T5" fmla="*/ 38 h 754"/>
                <a:gd name="T6" fmla="*/ 456 w 556"/>
                <a:gd name="T7" fmla="*/ 71 h 754"/>
                <a:gd name="T8" fmla="*/ 494 w 556"/>
                <a:gd name="T9" fmla="*/ 112 h 754"/>
                <a:gd name="T10" fmla="*/ 523 w 556"/>
                <a:gd name="T11" fmla="*/ 161 h 754"/>
                <a:gd name="T12" fmla="*/ 544 w 556"/>
                <a:gd name="T13" fmla="*/ 215 h 754"/>
                <a:gd name="T14" fmla="*/ 555 w 556"/>
                <a:gd name="T15" fmla="*/ 273 h 754"/>
                <a:gd name="T16" fmla="*/ 555 w 556"/>
                <a:gd name="T17" fmla="*/ 334 h 754"/>
                <a:gd name="T18" fmla="*/ 541 w 556"/>
                <a:gd name="T19" fmla="*/ 390 h 754"/>
                <a:gd name="T20" fmla="*/ 517 w 556"/>
                <a:gd name="T21" fmla="*/ 442 h 754"/>
                <a:gd name="T22" fmla="*/ 486 w 556"/>
                <a:gd name="T23" fmla="*/ 488 h 754"/>
                <a:gd name="T24" fmla="*/ 457 w 556"/>
                <a:gd name="T25" fmla="*/ 521 h 754"/>
                <a:gd name="T26" fmla="*/ 425 w 556"/>
                <a:gd name="T27" fmla="*/ 559 h 754"/>
                <a:gd name="T28" fmla="*/ 392 w 556"/>
                <a:gd name="T29" fmla="*/ 617 h 754"/>
                <a:gd name="T30" fmla="*/ 370 w 556"/>
                <a:gd name="T31" fmla="*/ 700 h 754"/>
                <a:gd name="T32" fmla="*/ 189 w 556"/>
                <a:gd name="T33" fmla="*/ 754 h 754"/>
                <a:gd name="T34" fmla="*/ 177 w 556"/>
                <a:gd name="T35" fmla="*/ 655 h 754"/>
                <a:gd name="T36" fmla="*/ 148 w 556"/>
                <a:gd name="T37" fmla="*/ 585 h 754"/>
                <a:gd name="T38" fmla="*/ 114 w 556"/>
                <a:gd name="T39" fmla="*/ 538 h 754"/>
                <a:gd name="T40" fmla="*/ 86 w 556"/>
                <a:gd name="T41" fmla="*/ 509 h 754"/>
                <a:gd name="T42" fmla="*/ 53 w 556"/>
                <a:gd name="T43" fmla="*/ 466 h 754"/>
                <a:gd name="T44" fmla="*/ 25 w 556"/>
                <a:gd name="T45" fmla="*/ 416 h 754"/>
                <a:gd name="T46" fmla="*/ 7 w 556"/>
                <a:gd name="T47" fmla="*/ 363 h 754"/>
                <a:gd name="T48" fmla="*/ 0 w 556"/>
                <a:gd name="T49" fmla="*/ 304 h 754"/>
                <a:gd name="T50" fmla="*/ 4 w 556"/>
                <a:gd name="T51" fmla="*/ 244 h 754"/>
                <a:gd name="T52" fmla="*/ 21 w 556"/>
                <a:gd name="T53" fmla="*/ 188 h 754"/>
                <a:gd name="T54" fmla="*/ 45 w 556"/>
                <a:gd name="T55" fmla="*/ 136 h 754"/>
                <a:gd name="T56" fmla="*/ 77 w 556"/>
                <a:gd name="T57" fmla="*/ 91 h 754"/>
                <a:gd name="T58" fmla="*/ 119 w 556"/>
                <a:gd name="T59" fmla="*/ 53 h 754"/>
                <a:gd name="T60" fmla="*/ 166 w 556"/>
                <a:gd name="T61" fmla="*/ 24 h 754"/>
                <a:gd name="T62" fmla="*/ 219 w 556"/>
                <a:gd name="T63" fmla="*/ 6 h 754"/>
                <a:gd name="T64" fmla="*/ 279 w 556"/>
                <a:gd name="T65" fmla="*/ 0 h 75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56"/>
                <a:gd name="T100" fmla="*/ 0 h 754"/>
                <a:gd name="T101" fmla="*/ 556 w 556"/>
                <a:gd name="T102" fmla="*/ 754 h 75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56" h="754">
                  <a:moveTo>
                    <a:pt x="279" y="0"/>
                  </a:moveTo>
                  <a:lnTo>
                    <a:pt x="308" y="1"/>
                  </a:lnTo>
                  <a:lnTo>
                    <a:pt x="335" y="6"/>
                  </a:lnTo>
                  <a:lnTo>
                    <a:pt x="361" y="13"/>
                  </a:lnTo>
                  <a:lnTo>
                    <a:pt x="387" y="24"/>
                  </a:lnTo>
                  <a:lnTo>
                    <a:pt x="411" y="38"/>
                  </a:lnTo>
                  <a:lnTo>
                    <a:pt x="434" y="53"/>
                  </a:lnTo>
                  <a:lnTo>
                    <a:pt x="456" y="71"/>
                  </a:lnTo>
                  <a:lnTo>
                    <a:pt x="476" y="91"/>
                  </a:lnTo>
                  <a:lnTo>
                    <a:pt x="494" y="112"/>
                  </a:lnTo>
                  <a:lnTo>
                    <a:pt x="509" y="136"/>
                  </a:lnTo>
                  <a:lnTo>
                    <a:pt x="523" y="161"/>
                  </a:lnTo>
                  <a:lnTo>
                    <a:pt x="535" y="188"/>
                  </a:lnTo>
                  <a:lnTo>
                    <a:pt x="544" y="215"/>
                  </a:lnTo>
                  <a:lnTo>
                    <a:pt x="550" y="244"/>
                  </a:lnTo>
                  <a:lnTo>
                    <a:pt x="555" y="273"/>
                  </a:lnTo>
                  <a:lnTo>
                    <a:pt x="556" y="304"/>
                  </a:lnTo>
                  <a:lnTo>
                    <a:pt x="555" y="334"/>
                  </a:lnTo>
                  <a:lnTo>
                    <a:pt x="549" y="363"/>
                  </a:lnTo>
                  <a:lnTo>
                    <a:pt x="541" y="390"/>
                  </a:lnTo>
                  <a:lnTo>
                    <a:pt x="531" y="416"/>
                  </a:lnTo>
                  <a:lnTo>
                    <a:pt x="517" y="442"/>
                  </a:lnTo>
                  <a:lnTo>
                    <a:pt x="503" y="466"/>
                  </a:lnTo>
                  <a:lnTo>
                    <a:pt x="486" y="488"/>
                  </a:lnTo>
                  <a:lnTo>
                    <a:pt x="469" y="509"/>
                  </a:lnTo>
                  <a:lnTo>
                    <a:pt x="457" y="521"/>
                  </a:lnTo>
                  <a:lnTo>
                    <a:pt x="442" y="538"/>
                  </a:lnTo>
                  <a:lnTo>
                    <a:pt x="425" y="559"/>
                  </a:lnTo>
                  <a:lnTo>
                    <a:pt x="408" y="585"/>
                  </a:lnTo>
                  <a:lnTo>
                    <a:pt x="392" y="617"/>
                  </a:lnTo>
                  <a:lnTo>
                    <a:pt x="379" y="655"/>
                  </a:lnTo>
                  <a:lnTo>
                    <a:pt x="370" y="700"/>
                  </a:lnTo>
                  <a:lnTo>
                    <a:pt x="367" y="754"/>
                  </a:lnTo>
                  <a:lnTo>
                    <a:pt x="189" y="754"/>
                  </a:lnTo>
                  <a:lnTo>
                    <a:pt x="186" y="700"/>
                  </a:lnTo>
                  <a:lnTo>
                    <a:pt x="177" y="655"/>
                  </a:lnTo>
                  <a:lnTo>
                    <a:pt x="164" y="617"/>
                  </a:lnTo>
                  <a:lnTo>
                    <a:pt x="148" y="585"/>
                  </a:lnTo>
                  <a:lnTo>
                    <a:pt x="131" y="559"/>
                  </a:lnTo>
                  <a:lnTo>
                    <a:pt x="114" y="538"/>
                  </a:lnTo>
                  <a:lnTo>
                    <a:pt x="99" y="521"/>
                  </a:lnTo>
                  <a:lnTo>
                    <a:pt x="86" y="509"/>
                  </a:lnTo>
                  <a:lnTo>
                    <a:pt x="70" y="488"/>
                  </a:lnTo>
                  <a:lnTo>
                    <a:pt x="53" y="466"/>
                  </a:lnTo>
                  <a:lnTo>
                    <a:pt x="39" y="442"/>
                  </a:lnTo>
                  <a:lnTo>
                    <a:pt x="25" y="416"/>
                  </a:lnTo>
                  <a:lnTo>
                    <a:pt x="15" y="390"/>
                  </a:lnTo>
                  <a:lnTo>
                    <a:pt x="7" y="363"/>
                  </a:lnTo>
                  <a:lnTo>
                    <a:pt x="1" y="334"/>
                  </a:lnTo>
                  <a:lnTo>
                    <a:pt x="0" y="304"/>
                  </a:lnTo>
                  <a:lnTo>
                    <a:pt x="1" y="273"/>
                  </a:lnTo>
                  <a:lnTo>
                    <a:pt x="4" y="244"/>
                  </a:lnTo>
                  <a:lnTo>
                    <a:pt x="12" y="215"/>
                  </a:lnTo>
                  <a:lnTo>
                    <a:pt x="21" y="188"/>
                  </a:lnTo>
                  <a:lnTo>
                    <a:pt x="32" y="161"/>
                  </a:lnTo>
                  <a:lnTo>
                    <a:pt x="45" y="136"/>
                  </a:lnTo>
                  <a:lnTo>
                    <a:pt x="61" y="112"/>
                  </a:lnTo>
                  <a:lnTo>
                    <a:pt x="77" y="91"/>
                  </a:lnTo>
                  <a:lnTo>
                    <a:pt x="97" y="71"/>
                  </a:lnTo>
                  <a:lnTo>
                    <a:pt x="119" y="53"/>
                  </a:lnTo>
                  <a:lnTo>
                    <a:pt x="141" y="38"/>
                  </a:lnTo>
                  <a:lnTo>
                    <a:pt x="166" y="24"/>
                  </a:lnTo>
                  <a:lnTo>
                    <a:pt x="192" y="13"/>
                  </a:lnTo>
                  <a:lnTo>
                    <a:pt x="219" y="6"/>
                  </a:lnTo>
                  <a:lnTo>
                    <a:pt x="248" y="1"/>
                  </a:lnTo>
                  <a:lnTo>
                    <a:pt x="279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08" name="Freeform 1440"/>
            <p:cNvSpPr>
              <a:spLocks/>
            </p:cNvSpPr>
            <p:nvPr/>
          </p:nvSpPr>
          <p:spPr bwMode="auto">
            <a:xfrm>
              <a:off x="8821" y="9166"/>
              <a:ext cx="272" cy="374"/>
            </a:xfrm>
            <a:custGeom>
              <a:avLst/>
              <a:gdLst>
                <a:gd name="T0" fmla="*/ 300 w 544"/>
                <a:gd name="T1" fmla="*/ 2 h 750"/>
                <a:gd name="T2" fmla="*/ 354 w 544"/>
                <a:gd name="T3" fmla="*/ 14 h 750"/>
                <a:gd name="T4" fmla="*/ 402 w 544"/>
                <a:gd name="T5" fmla="*/ 38 h 750"/>
                <a:gd name="T6" fmla="*/ 447 w 544"/>
                <a:gd name="T7" fmla="*/ 72 h 750"/>
                <a:gd name="T8" fmla="*/ 483 w 544"/>
                <a:gd name="T9" fmla="*/ 113 h 750"/>
                <a:gd name="T10" fmla="*/ 512 w 544"/>
                <a:gd name="T11" fmla="*/ 161 h 750"/>
                <a:gd name="T12" fmla="*/ 532 w 544"/>
                <a:gd name="T13" fmla="*/ 216 h 750"/>
                <a:gd name="T14" fmla="*/ 543 w 544"/>
                <a:gd name="T15" fmla="*/ 274 h 750"/>
                <a:gd name="T16" fmla="*/ 543 w 544"/>
                <a:gd name="T17" fmla="*/ 333 h 750"/>
                <a:gd name="T18" fmla="*/ 529 w 544"/>
                <a:gd name="T19" fmla="*/ 389 h 750"/>
                <a:gd name="T20" fmla="*/ 505 w 544"/>
                <a:gd name="T21" fmla="*/ 441 h 750"/>
                <a:gd name="T22" fmla="*/ 474 w 544"/>
                <a:gd name="T23" fmla="*/ 487 h 750"/>
                <a:gd name="T24" fmla="*/ 445 w 544"/>
                <a:gd name="T25" fmla="*/ 520 h 750"/>
                <a:gd name="T26" fmla="*/ 415 w 544"/>
                <a:gd name="T27" fmla="*/ 556 h 750"/>
                <a:gd name="T28" fmla="*/ 383 w 544"/>
                <a:gd name="T29" fmla="*/ 613 h 750"/>
                <a:gd name="T30" fmla="*/ 361 w 544"/>
                <a:gd name="T31" fmla="*/ 696 h 750"/>
                <a:gd name="T32" fmla="*/ 186 w 544"/>
                <a:gd name="T33" fmla="*/ 750 h 750"/>
                <a:gd name="T34" fmla="*/ 174 w 544"/>
                <a:gd name="T35" fmla="*/ 651 h 750"/>
                <a:gd name="T36" fmla="*/ 146 w 544"/>
                <a:gd name="T37" fmla="*/ 582 h 750"/>
                <a:gd name="T38" fmla="*/ 113 w 544"/>
                <a:gd name="T39" fmla="*/ 537 h 750"/>
                <a:gd name="T40" fmla="*/ 87 w 544"/>
                <a:gd name="T41" fmla="*/ 508 h 750"/>
                <a:gd name="T42" fmla="*/ 55 w 544"/>
                <a:gd name="T43" fmla="*/ 465 h 750"/>
                <a:gd name="T44" fmla="*/ 27 w 544"/>
                <a:gd name="T45" fmla="*/ 415 h 750"/>
                <a:gd name="T46" fmla="*/ 7 w 544"/>
                <a:gd name="T47" fmla="*/ 362 h 750"/>
                <a:gd name="T48" fmla="*/ 0 w 544"/>
                <a:gd name="T49" fmla="*/ 304 h 750"/>
                <a:gd name="T50" fmla="*/ 4 w 544"/>
                <a:gd name="T51" fmla="*/ 245 h 750"/>
                <a:gd name="T52" fmla="*/ 19 w 544"/>
                <a:gd name="T53" fmla="*/ 189 h 750"/>
                <a:gd name="T54" fmla="*/ 44 w 544"/>
                <a:gd name="T55" fmla="*/ 137 h 750"/>
                <a:gd name="T56" fmla="*/ 76 w 544"/>
                <a:gd name="T57" fmla="*/ 91 h 750"/>
                <a:gd name="T58" fmla="*/ 116 w 544"/>
                <a:gd name="T59" fmla="*/ 53 h 750"/>
                <a:gd name="T60" fmla="*/ 161 w 544"/>
                <a:gd name="T61" fmla="*/ 24 h 750"/>
                <a:gd name="T62" fmla="*/ 215 w 544"/>
                <a:gd name="T63" fmla="*/ 6 h 750"/>
                <a:gd name="T64" fmla="*/ 273 w 544"/>
                <a:gd name="T65" fmla="*/ 0 h 75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44"/>
                <a:gd name="T100" fmla="*/ 0 h 750"/>
                <a:gd name="T101" fmla="*/ 544 w 544"/>
                <a:gd name="T102" fmla="*/ 750 h 75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44" h="750">
                  <a:moveTo>
                    <a:pt x="273" y="0"/>
                  </a:moveTo>
                  <a:lnTo>
                    <a:pt x="300" y="2"/>
                  </a:lnTo>
                  <a:lnTo>
                    <a:pt x="328" y="6"/>
                  </a:lnTo>
                  <a:lnTo>
                    <a:pt x="354" y="14"/>
                  </a:lnTo>
                  <a:lnTo>
                    <a:pt x="380" y="24"/>
                  </a:lnTo>
                  <a:lnTo>
                    <a:pt x="402" y="38"/>
                  </a:lnTo>
                  <a:lnTo>
                    <a:pt x="425" y="53"/>
                  </a:lnTo>
                  <a:lnTo>
                    <a:pt x="447" y="72"/>
                  </a:lnTo>
                  <a:lnTo>
                    <a:pt x="465" y="91"/>
                  </a:lnTo>
                  <a:lnTo>
                    <a:pt x="483" y="113"/>
                  </a:lnTo>
                  <a:lnTo>
                    <a:pt x="499" y="137"/>
                  </a:lnTo>
                  <a:lnTo>
                    <a:pt x="512" y="161"/>
                  </a:lnTo>
                  <a:lnTo>
                    <a:pt x="523" y="189"/>
                  </a:lnTo>
                  <a:lnTo>
                    <a:pt x="532" y="216"/>
                  </a:lnTo>
                  <a:lnTo>
                    <a:pt x="538" y="245"/>
                  </a:lnTo>
                  <a:lnTo>
                    <a:pt x="543" y="274"/>
                  </a:lnTo>
                  <a:lnTo>
                    <a:pt x="544" y="304"/>
                  </a:lnTo>
                  <a:lnTo>
                    <a:pt x="543" y="333"/>
                  </a:lnTo>
                  <a:lnTo>
                    <a:pt x="537" y="362"/>
                  </a:lnTo>
                  <a:lnTo>
                    <a:pt x="529" y="389"/>
                  </a:lnTo>
                  <a:lnTo>
                    <a:pt x="517" y="415"/>
                  </a:lnTo>
                  <a:lnTo>
                    <a:pt x="505" y="441"/>
                  </a:lnTo>
                  <a:lnTo>
                    <a:pt x="489" y="465"/>
                  </a:lnTo>
                  <a:lnTo>
                    <a:pt x="474" y="487"/>
                  </a:lnTo>
                  <a:lnTo>
                    <a:pt x="457" y="508"/>
                  </a:lnTo>
                  <a:lnTo>
                    <a:pt x="445" y="520"/>
                  </a:lnTo>
                  <a:lnTo>
                    <a:pt x="431" y="537"/>
                  </a:lnTo>
                  <a:lnTo>
                    <a:pt x="415" y="556"/>
                  </a:lnTo>
                  <a:lnTo>
                    <a:pt x="398" y="582"/>
                  </a:lnTo>
                  <a:lnTo>
                    <a:pt x="383" y="613"/>
                  </a:lnTo>
                  <a:lnTo>
                    <a:pt x="370" y="651"/>
                  </a:lnTo>
                  <a:lnTo>
                    <a:pt x="361" y="696"/>
                  </a:lnTo>
                  <a:lnTo>
                    <a:pt x="358" y="750"/>
                  </a:lnTo>
                  <a:lnTo>
                    <a:pt x="186" y="750"/>
                  </a:lnTo>
                  <a:lnTo>
                    <a:pt x="183" y="696"/>
                  </a:lnTo>
                  <a:lnTo>
                    <a:pt x="174" y="651"/>
                  </a:lnTo>
                  <a:lnTo>
                    <a:pt x="161" y="613"/>
                  </a:lnTo>
                  <a:lnTo>
                    <a:pt x="146" y="582"/>
                  </a:lnTo>
                  <a:lnTo>
                    <a:pt x="129" y="556"/>
                  </a:lnTo>
                  <a:lnTo>
                    <a:pt x="113" y="537"/>
                  </a:lnTo>
                  <a:lnTo>
                    <a:pt x="99" y="520"/>
                  </a:lnTo>
                  <a:lnTo>
                    <a:pt x="87" y="508"/>
                  </a:lnTo>
                  <a:lnTo>
                    <a:pt x="70" y="487"/>
                  </a:lnTo>
                  <a:lnTo>
                    <a:pt x="55" y="465"/>
                  </a:lnTo>
                  <a:lnTo>
                    <a:pt x="39" y="441"/>
                  </a:lnTo>
                  <a:lnTo>
                    <a:pt x="27" y="415"/>
                  </a:lnTo>
                  <a:lnTo>
                    <a:pt x="15" y="389"/>
                  </a:lnTo>
                  <a:lnTo>
                    <a:pt x="7" y="362"/>
                  </a:lnTo>
                  <a:lnTo>
                    <a:pt x="1" y="333"/>
                  </a:lnTo>
                  <a:lnTo>
                    <a:pt x="0" y="304"/>
                  </a:lnTo>
                  <a:lnTo>
                    <a:pt x="1" y="274"/>
                  </a:lnTo>
                  <a:lnTo>
                    <a:pt x="4" y="245"/>
                  </a:lnTo>
                  <a:lnTo>
                    <a:pt x="10" y="216"/>
                  </a:lnTo>
                  <a:lnTo>
                    <a:pt x="19" y="189"/>
                  </a:lnTo>
                  <a:lnTo>
                    <a:pt x="30" y="161"/>
                  </a:lnTo>
                  <a:lnTo>
                    <a:pt x="44" y="137"/>
                  </a:lnTo>
                  <a:lnTo>
                    <a:pt x="59" y="113"/>
                  </a:lnTo>
                  <a:lnTo>
                    <a:pt x="76" y="91"/>
                  </a:lnTo>
                  <a:lnTo>
                    <a:pt x="94" y="72"/>
                  </a:lnTo>
                  <a:lnTo>
                    <a:pt x="116" y="53"/>
                  </a:lnTo>
                  <a:lnTo>
                    <a:pt x="138" y="38"/>
                  </a:lnTo>
                  <a:lnTo>
                    <a:pt x="161" y="24"/>
                  </a:lnTo>
                  <a:lnTo>
                    <a:pt x="187" y="14"/>
                  </a:lnTo>
                  <a:lnTo>
                    <a:pt x="215" y="6"/>
                  </a:lnTo>
                  <a:lnTo>
                    <a:pt x="244" y="2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D8D8D8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09" name="Freeform 1441"/>
            <p:cNvSpPr>
              <a:spLocks/>
            </p:cNvSpPr>
            <p:nvPr/>
          </p:nvSpPr>
          <p:spPr bwMode="auto">
            <a:xfrm>
              <a:off x="8824" y="9168"/>
              <a:ext cx="266" cy="372"/>
            </a:xfrm>
            <a:custGeom>
              <a:avLst/>
              <a:gdLst>
                <a:gd name="T0" fmla="*/ 294 w 532"/>
                <a:gd name="T1" fmla="*/ 1 h 745"/>
                <a:gd name="T2" fmla="*/ 346 w 532"/>
                <a:gd name="T3" fmla="*/ 13 h 745"/>
                <a:gd name="T4" fmla="*/ 393 w 532"/>
                <a:gd name="T5" fmla="*/ 38 h 745"/>
                <a:gd name="T6" fmla="*/ 436 w 532"/>
                <a:gd name="T7" fmla="*/ 71 h 745"/>
                <a:gd name="T8" fmla="*/ 473 w 532"/>
                <a:gd name="T9" fmla="*/ 112 h 745"/>
                <a:gd name="T10" fmla="*/ 500 w 532"/>
                <a:gd name="T11" fmla="*/ 161 h 745"/>
                <a:gd name="T12" fmla="*/ 520 w 532"/>
                <a:gd name="T13" fmla="*/ 216 h 745"/>
                <a:gd name="T14" fmla="*/ 531 w 532"/>
                <a:gd name="T15" fmla="*/ 272 h 745"/>
                <a:gd name="T16" fmla="*/ 531 w 532"/>
                <a:gd name="T17" fmla="*/ 331 h 745"/>
                <a:gd name="T18" fmla="*/ 515 w 532"/>
                <a:gd name="T19" fmla="*/ 387 h 745"/>
                <a:gd name="T20" fmla="*/ 491 w 532"/>
                <a:gd name="T21" fmla="*/ 439 h 745"/>
                <a:gd name="T22" fmla="*/ 461 w 532"/>
                <a:gd name="T23" fmla="*/ 485 h 745"/>
                <a:gd name="T24" fmla="*/ 433 w 532"/>
                <a:gd name="T25" fmla="*/ 517 h 745"/>
                <a:gd name="T26" fmla="*/ 404 w 532"/>
                <a:gd name="T27" fmla="*/ 553 h 745"/>
                <a:gd name="T28" fmla="*/ 372 w 532"/>
                <a:gd name="T29" fmla="*/ 609 h 745"/>
                <a:gd name="T30" fmla="*/ 352 w 532"/>
                <a:gd name="T31" fmla="*/ 691 h 745"/>
                <a:gd name="T32" fmla="*/ 183 w 532"/>
                <a:gd name="T33" fmla="*/ 745 h 745"/>
                <a:gd name="T34" fmla="*/ 172 w 532"/>
                <a:gd name="T35" fmla="*/ 647 h 745"/>
                <a:gd name="T36" fmla="*/ 145 w 532"/>
                <a:gd name="T37" fmla="*/ 579 h 745"/>
                <a:gd name="T38" fmla="*/ 113 w 532"/>
                <a:gd name="T39" fmla="*/ 533 h 745"/>
                <a:gd name="T40" fmla="*/ 87 w 532"/>
                <a:gd name="T41" fmla="*/ 504 h 745"/>
                <a:gd name="T42" fmla="*/ 55 w 532"/>
                <a:gd name="T43" fmla="*/ 462 h 745"/>
                <a:gd name="T44" fmla="*/ 27 w 532"/>
                <a:gd name="T45" fmla="*/ 413 h 745"/>
                <a:gd name="T46" fmla="*/ 7 w 532"/>
                <a:gd name="T47" fmla="*/ 360 h 745"/>
                <a:gd name="T48" fmla="*/ 0 w 532"/>
                <a:gd name="T49" fmla="*/ 302 h 745"/>
                <a:gd name="T50" fmla="*/ 4 w 532"/>
                <a:gd name="T51" fmla="*/ 243 h 745"/>
                <a:gd name="T52" fmla="*/ 20 w 532"/>
                <a:gd name="T53" fmla="*/ 188 h 745"/>
                <a:gd name="T54" fmla="*/ 42 w 532"/>
                <a:gd name="T55" fmla="*/ 136 h 745"/>
                <a:gd name="T56" fmla="*/ 73 w 532"/>
                <a:gd name="T57" fmla="*/ 91 h 745"/>
                <a:gd name="T58" fmla="*/ 111 w 532"/>
                <a:gd name="T59" fmla="*/ 53 h 745"/>
                <a:gd name="T60" fmla="*/ 157 w 532"/>
                <a:gd name="T61" fmla="*/ 24 h 745"/>
                <a:gd name="T62" fmla="*/ 209 w 532"/>
                <a:gd name="T63" fmla="*/ 6 h 745"/>
                <a:gd name="T64" fmla="*/ 267 w 532"/>
                <a:gd name="T65" fmla="*/ 0 h 74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32"/>
                <a:gd name="T100" fmla="*/ 0 h 745"/>
                <a:gd name="T101" fmla="*/ 532 w 532"/>
                <a:gd name="T102" fmla="*/ 745 h 74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32" h="745">
                  <a:moveTo>
                    <a:pt x="267" y="0"/>
                  </a:moveTo>
                  <a:lnTo>
                    <a:pt x="294" y="1"/>
                  </a:lnTo>
                  <a:lnTo>
                    <a:pt x="320" y="6"/>
                  </a:lnTo>
                  <a:lnTo>
                    <a:pt x="346" y="13"/>
                  </a:lnTo>
                  <a:lnTo>
                    <a:pt x="371" y="24"/>
                  </a:lnTo>
                  <a:lnTo>
                    <a:pt x="393" y="38"/>
                  </a:lnTo>
                  <a:lnTo>
                    <a:pt x="416" y="53"/>
                  </a:lnTo>
                  <a:lnTo>
                    <a:pt x="436" y="71"/>
                  </a:lnTo>
                  <a:lnTo>
                    <a:pt x="454" y="91"/>
                  </a:lnTo>
                  <a:lnTo>
                    <a:pt x="473" y="112"/>
                  </a:lnTo>
                  <a:lnTo>
                    <a:pt x="488" y="136"/>
                  </a:lnTo>
                  <a:lnTo>
                    <a:pt x="500" y="161"/>
                  </a:lnTo>
                  <a:lnTo>
                    <a:pt x="511" y="188"/>
                  </a:lnTo>
                  <a:lnTo>
                    <a:pt x="520" y="216"/>
                  </a:lnTo>
                  <a:lnTo>
                    <a:pt x="528" y="243"/>
                  </a:lnTo>
                  <a:lnTo>
                    <a:pt x="531" y="272"/>
                  </a:lnTo>
                  <a:lnTo>
                    <a:pt x="532" y="302"/>
                  </a:lnTo>
                  <a:lnTo>
                    <a:pt x="531" y="331"/>
                  </a:lnTo>
                  <a:lnTo>
                    <a:pt x="525" y="360"/>
                  </a:lnTo>
                  <a:lnTo>
                    <a:pt x="515" y="387"/>
                  </a:lnTo>
                  <a:lnTo>
                    <a:pt x="505" y="413"/>
                  </a:lnTo>
                  <a:lnTo>
                    <a:pt x="491" y="439"/>
                  </a:lnTo>
                  <a:lnTo>
                    <a:pt x="477" y="462"/>
                  </a:lnTo>
                  <a:lnTo>
                    <a:pt x="461" y="485"/>
                  </a:lnTo>
                  <a:lnTo>
                    <a:pt x="445" y="504"/>
                  </a:lnTo>
                  <a:lnTo>
                    <a:pt x="433" y="517"/>
                  </a:lnTo>
                  <a:lnTo>
                    <a:pt x="419" y="533"/>
                  </a:lnTo>
                  <a:lnTo>
                    <a:pt x="404" y="553"/>
                  </a:lnTo>
                  <a:lnTo>
                    <a:pt x="387" y="579"/>
                  </a:lnTo>
                  <a:lnTo>
                    <a:pt x="372" y="609"/>
                  </a:lnTo>
                  <a:lnTo>
                    <a:pt x="360" y="647"/>
                  </a:lnTo>
                  <a:lnTo>
                    <a:pt x="352" y="691"/>
                  </a:lnTo>
                  <a:lnTo>
                    <a:pt x="349" y="745"/>
                  </a:lnTo>
                  <a:lnTo>
                    <a:pt x="183" y="745"/>
                  </a:lnTo>
                  <a:lnTo>
                    <a:pt x="180" y="691"/>
                  </a:lnTo>
                  <a:lnTo>
                    <a:pt x="172" y="647"/>
                  </a:lnTo>
                  <a:lnTo>
                    <a:pt x="160" y="609"/>
                  </a:lnTo>
                  <a:lnTo>
                    <a:pt x="145" y="579"/>
                  </a:lnTo>
                  <a:lnTo>
                    <a:pt x="128" y="553"/>
                  </a:lnTo>
                  <a:lnTo>
                    <a:pt x="113" y="533"/>
                  </a:lnTo>
                  <a:lnTo>
                    <a:pt x="99" y="517"/>
                  </a:lnTo>
                  <a:lnTo>
                    <a:pt x="87" y="504"/>
                  </a:lnTo>
                  <a:lnTo>
                    <a:pt x="71" y="485"/>
                  </a:lnTo>
                  <a:lnTo>
                    <a:pt x="55" y="462"/>
                  </a:lnTo>
                  <a:lnTo>
                    <a:pt x="41" y="439"/>
                  </a:lnTo>
                  <a:lnTo>
                    <a:pt x="27" y="413"/>
                  </a:lnTo>
                  <a:lnTo>
                    <a:pt x="16" y="387"/>
                  </a:lnTo>
                  <a:lnTo>
                    <a:pt x="7" y="360"/>
                  </a:lnTo>
                  <a:lnTo>
                    <a:pt x="1" y="331"/>
                  </a:lnTo>
                  <a:lnTo>
                    <a:pt x="0" y="302"/>
                  </a:lnTo>
                  <a:lnTo>
                    <a:pt x="1" y="272"/>
                  </a:lnTo>
                  <a:lnTo>
                    <a:pt x="4" y="243"/>
                  </a:lnTo>
                  <a:lnTo>
                    <a:pt x="10" y="216"/>
                  </a:lnTo>
                  <a:lnTo>
                    <a:pt x="20" y="188"/>
                  </a:lnTo>
                  <a:lnTo>
                    <a:pt x="29" y="161"/>
                  </a:lnTo>
                  <a:lnTo>
                    <a:pt x="42" y="136"/>
                  </a:lnTo>
                  <a:lnTo>
                    <a:pt x="56" y="112"/>
                  </a:lnTo>
                  <a:lnTo>
                    <a:pt x="73" y="91"/>
                  </a:lnTo>
                  <a:lnTo>
                    <a:pt x="91" y="71"/>
                  </a:lnTo>
                  <a:lnTo>
                    <a:pt x="111" y="53"/>
                  </a:lnTo>
                  <a:lnTo>
                    <a:pt x="134" y="38"/>
                  </a:lnTo>
                  <a:lnTo>
                    <a:pt x="157" y="24"/>
                  </a:lnTo>
                  <a:lnTo>
                    <a:pt x="183" y="13"/>
                  </a:lnTo>
                  <a:lnTo>
                    <a:pt x="209" y="6"/>
                  </a:lnTo>
                  <a:lnTo>
                    <a:pt x="238" y="1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10" name="Freeform 1442"/>
            <p:cNvSpPr>
              <a:spLocks/>
            </p:cNvSpPr>
            <p:nvPr/>
          </p:nvSpPr>
          <p:spPr bwMode="auto">
            <a:xfrm>
              <a:off x="8827" y="9171"/>
              <a:ext cx="259" cy="369"/>
            </a:xfrm>
            <a:custGeom>
              <a:avLst/>
              <a:gdLst>
                <a:gd name="T0" fmla="*/ 288 w 519"/>
                <a:gd name="T1" fmla="*/ 1 h 739"/>
                <a:gd name="T2" fmla="*/ 339 w 519"/>
                <a:gd name="T3" fmla="*/ 13 h 739"/>
                <a:gd name="T4" fmla="*/ 384 w 519"/>
                <a:gd name="T5" fmla="*/ 38 h 739"/>
                <a:gd name="T6" fmla="*/ 426 w 519"/>
                <a:gd name="T7" fmla="*/ 71 h 739"/>
                <a:gd name="T8" fmla="*/ 461 w 519"/>
                <a:gd name="T9" fmla="*/ 112 h 739"/>
                <a:gd name="T10" fmla="*/ 488 w 519"/>
                <a:gd name="T11" fmla="*/ 161 h 739"/>
                <a:gd name="T12" fmla="*/ 508 w 519"/>
                <a:gd name="T13" fmla="*/ 214 h 739"/>
                <a:gd name="T14" fmla="*/ 517 w 519"/>
                <a:gd name="T15" fmla="*/ 272 h 739"/>
                <a:gd name="T16" fmla="*/ 517 w 519"/>
                <a:gd name="T17" fmla="*/ 330 h 739"/>
                <a:gd name="T18" fmla="*/ 502 w 519"/>
                <a:gd name="T19" fmla="*/ 384 h 739"/>
                <a:gd name="T20" fmla="*/ 479 w 519"/>
                <a:gd name="T21" fmla="*/ 436 h 739"/>
                <a:gd name="T22" fmla="*/ 448 w 519"/>
                <a:gd name="T23" fmla="*/ 482 h 739"/>
                <a:gd name="T24" fmla="*/ 422 w 519"/>
                <a:gd name="T25" fmla="*/ 514 h 739"/>
                <a:gd name="T26" fmla="*/ 393 w 519"/>
                <a:gd name="T27" fmla="*/ 550 h 739"/>
                <a:gd name="T28" fmla="*/ 363 w 519"/>
                <a:gd name="T29" fmla="*/ 605 h 739"/>
                <a:gd name="T30" fmla="*/ 343 w 519"/>
                <a:gd name="T31" fmla="*/ 687 h 739"/>
                <a:gd name="T32" fmla="*/ 178 w 519"/>
                <a:gd name="T33" fmla="*/ 739 h 739"/>
                <a:gd name="T34" fmla="*/ 168 w 519"/>
                <a:gd name="T35" fmla="*/ 643 h 739"/>
                <a:gd name="T36" fmla="*/ 142 w 519"/>
                <a:gd name="T37" fmla="*/ 574 h 739"/>
                <a:gd name="T38" fmla="*/ 111 w 519"/>
                <a:gd name="T39" fmla="*/ 529 h 739"/>
                <a:gd name="T40" fmla="*/ 87 w 519"/>
                <a:gd name="T41" fmla="*/ 501 h 739"/>
                <a:gd name="T42" fmla="*/ 56 w 519"/>
                <a:gd name="T43" fmla="*/ 459 h 739"/>
                <a:gd name="T44" fmla="*/ 27 w 519"/>
                <a:gd name="T45" fmla="*/ 410 h 739"/>
                <a:gd name="T46" fmla="*/ 7 w 519"/>
                <a:gd name="T47" fmla="*/ 357 h 739"/>
                <a:gd name="T48" fmla="*/ 0 w 519"/>
                <a:gd name="T49" fmla="*/ 301 h 739"/>
                <a:gd name="T50" fmla="*/ 4 w 519"/>
                <a:gd name="T51" fmla="*/ 243 h 739"/>
                <a:gd name="T52" fmla="*/ 18 w 519"/>
                <a:gd name="T53" fmla="*/ 187 h 739"/>
                <a:gd name="T54" fmla="*/ 41 w 519"/>
                <a:gd name="T55" fmla="*/ 137 h 739"/>
                <a:gd name="T56" fmla="*/ 72 w 519"/>
                <a:gd name="T57" fmla="*/ 91 h 739"/>
                <a:gd name="T58" fmla="*/ 108 w 519"/>
                <a:gd name="T59" fmla="*/ 53 h 739"/>
                <a:gd name="T60" fmla="*/ 152 w 519"/>
                <a:gd name="T61" fmla="*/ 24 h 739"/>
                <a:gd name="T62" fmla="*/ 204 w 519"/>
                <a:gd name="T63" fmla="*/ 6 h 739"/>
                <a:gd name="T64" fmla="*/ 261 w 519"/>
                <a:gd name="T65" fmla="*/ 0 h 73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19"/>
                <a:gd name="T100" fmla="*/ 0 h 739"/>
                <a:gd name="T101" fmla="*/ 519 w 519"/>
                <a:gd name="T102" fmla="*/ 739 h 73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19" h="739">
                  <a:moveTo>
                    <a:pt x="261" y="0"/>
                  </a:moveTo>
                  <a:lnTo>
                    <a:pt x="288" y="1"/>
                  </a:lnTo>
                  <a:lnTo>
                    <a:pt x="314" y="6"/>
                  </a:lnTo>
                  <a:lnTo>
                    <a:pt x="339" y="13"/>
                  </a:lnTo>
                  <a:lnTo>
                    <a:pt x="361" y="24"/>
                  </a:lnTo>
                  <a:lnTo>
                    <a:pt x="384" y="38"/>
                  </a:lnTo>
                  <a:lnTo>
                    <a:pt x="406" y="53"/>
                  </a:lnTo>
                  <a:lnTo>
                    <a:pt x="426" y="71"/>
                  </a:lnTo>
                  <a:lnTo>
                    <a:pt x="444" y="91"/>
                  </a:lnTo>
                  <a:lnTo>
                    <a:pt x="461" y="112"/>
                  </a:lnTo>
                  <a:lnTo>
                    <a:pt x="476" y="137"/>
                  </a:lnTo>
                  <a:lnTo>
                    <a:pt x="488" y="161"/>
                  </a:lnTo>
                  <a:lnTo>
                    <a:pt x="499" y="187"/>
                  </a:lnTo>
                  <a:lnTo>
                    <a:pt x="508" y="214"/>
                  </a:lnTo>
                  <a:lnTo>
                    <a:pt x="514" y="243"/>
                  </a:lnTo>
                  <a:lnTo>
                    <a:pt x="517" y="272"/>
                  </a:lnTo>
                  <a:lnTo>
                    <a:pt x="519" y="301"/>
                  </a:lnTo>
                  <a:lnTo>
                    <a:pt x="517" y="330"/>
                  </a:lnTo>
                  <a:lnTo>
                    <a:pt x="511" y="357"/>
                  </a:lnTo>
                  <a:lnTo>
                    <a:pt x="502" y="384"/>
                  </a:lnTo>
                  <a:lnTo>
                    <a:pt x="491" y="410"/>
                  </a:lnTo>
                  <a:lnTo>
                    <a:pt x="479" y="436"/>
                  </a:lnTo>
                  <a:lnTo>
                    <a:pt x="464" y="459"/>
                  </a:lnTo>
                  <a:lnTo>
                    <a:pt x="448" y="482"/>
                  </a:lnTo>
                  <a:lnTo>
                    <a:pt x="433" y="501"/>
                  </a:lnTo>
                  <a:lnTo>
                    <a:pt x="422" y="514"/>
                  </a:lnTo>
                  <a:lnTo>
                    <a:pt x="409" y="529"/>
                  </a:lnTo>
                  <a:lnTo>
                    <a:pt x="393" y="550"/>
                  </a:lnTo>
                  <a:lnTo>
                    <a:pt x="378" y="574"/>
                  </a:lnTo>
                  <a:lnTo>
                    <a:pt x="363" y="605"/>
                  </a:lnTo>
                  <a:lnTo>
                    <a:pt x="351" y="643"/>
                  </a:lnTo>
                  <a:lnTo>
                    <a:pt x="343" y="687"/>
                  </a:lnTo>
                  <a:lnTo>
                    <a:pt x="340" y="739"/>
                  </a:lnTo>
                  <a:lnTo>
                    <a:pt x="178" y="739"/>
                  </a:lnTo>
                  <a:lnTo>
                    <a:pt x="175" y="687"/>
                  </a:lnTo>
                  <a:lnTo>
                    <a:pt x="168" y="643"/>
                  </a:lnTo>
                  <a:lnTo>
                    <a:pt x="155" y="605"/>
                  </a:lnTo>
                  <a:lnTo>
                    <a:pt x="142" y="574"/>
                  </a:lnTo>
                  <a:lnTo>
                    <a:pt x="126" y="550"/>
                  </a:lnTo>
                  <a:lnTo>
                    <a:pt x="111" y="529"/>
                  </a:lnTo>
                  <a:lnTo>
                    <a:pt x="97" y="514"/>
                  </a:lnTo>
                  <a:lnTo>
                    <a:pt x="87" y="501"/>
                  </a:lnTo>
                  <a:lnTo>
                    <a:pt x="72" y="482"/>
                  </a:lnTo>
                  <a:lnTo>
                    <a:pt x="56" y="459"/>
                  </a:lnTo>
                  <a:lnTo>
                    <a:pt x="41" y="436"/>
                  </a:lnTo>
                  <a:lnTo>
                    <a:pt x="27" y="410"/>
                  </a:lnTo>
                  <a:lnTo>
                    <a:pt x="17" y="384"/>
                  </a:lnTo>
                  <a:lnTo>
                    <a:pt x="7" y="357"/>
                  </a:lnTo>
                  <a:lnTo>
                    <a:pt x="1" y="330"/>
                  </a:lnTo>
                  <a:lnTo>
                    <a:pt x="0" y="301"/>
                  </a:lnTo>
                  <a:lnTo>
                    <a:pt x="1" y="272"/>
                  </a:lnTo>
                  <a:lnTo>
                    <a:pt x="4" y="243"/>
                  </a:lnTo>
                  <a:lnTo>
                    <a:pt x="10" y="214"/>
                  </a:lnTo>
                  <a:lnTo>
                    <a:pt x="18" y="187"/>
                  </a:lnTo>
                  <a:lnTo>
                    <a:pt x="29" y="161"/>
                  </a:lnTo>
                  <a:lnTo>
                    <a:pt x="41" y="137"/>
                  </a:lnTo>
                  <a:lnTo>
                    <a:pt x="55" y="112"/>
                  </a:lnTo>
                  <a:lnTo>
                    <a:pt x="72" y="91"/>
                  </a:lnTo>
                  <a:lnTo>
                    <a:pt x="88" y="71"/>
                  </a:lnTo>
                  <a:lnTo>
                    <a:pt x="108" y="53"/>
                  </a:lnTo>
                  <a:lnTo>
                    <a:pt x="130" y="38"/>
                  </a:lnTo>
                  <a:lnTo>
                    <a:pt x="152" y="24"/>
                  </a:lnTo>
                  <a:lnTo>
                    <a:pt x="178" y="13"/>
                  </a:lnTo>
                  <a:lnTo>
                    <a:pt x="204" y="6"/>
                  </a:lnTo>
                  <a:lnTo>
                    <a:pt x="232" y="1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11" name="Freeform 1443"/>
            <p:cNvSpPr>
              <a:spLocks/>
            </p:cNvSpPr>
            <p:nvPr/>
          </p:nvSpPr>
          <p:spPr bwMode="auto">
            <a:xfrm>
              <a:off x="8831" y="9173"/>
              <a:ext cx="252" cy="367"/>
            </a:xfrm>
            <a:custGeom>
              <a:avLst/>
              <a:gdLst>
                <a:gd name="T0" fmla="*/ 335 w 506"/>
                <a:gd name="T1" fmla="*/ 683 h 735"/>
                <a:gd name="T2" fmla="*/ 353 w 506"/>
                <a:gd name="T3" fmla="*/ 602 h 735"/>
                <a:gd name="T4" fmla="*/ 382 w 506"/>
                <a:gd name="T5" fmla="*/ 548 h 735"/>
                <a:gd name="T6" fmla="*/ 409 w 506"/>
                <a:gd name="T7" fmla="*/ 511 h 735"/>
                <a:gd name="T8" fmla="*/ 435 w 506"/>
                <a:gd name="T9" fmla="*/ 479 h 735"/>
                <a:gd name="T10" fmla="*/ 464 w 506"/>
                <a:gd name="T11" fmla="*/ 434 h 735"/>
                <a:gd name="T12" fmla="*/ 489 w 506"/>
                <a:gd name="T13" fmla="*/ 383 h 735"/>
                <a:gd name="T14" fmla="*/ 504 w 506"/>
                <a:gd name="T15" fmla="*/ 330 h 735"/>
                <a:gd name="T16" fmla="*/ 504 w 506"/>
                <a:gd name="T17" fmla="*/ 272 h 735"/>
                <a:gd name="T18" fmla="*/ 495 w 506"/>
                <a:gd name="T19" fmla="*/ 215 h 735"/>
                <a:gd name="T20" fmla="*/ 475 w 506"/>
                <a:gd name="T21" fmla="*/ 161 h 735"/>
                <a:gd name="T22" fmla="*/ 449 w 506"/>
                <a:gd name="T23" fmla="*/ 113 h 735"/>
                <a:gd name="T24" fmla="*/ 414 w 506"/>
                <a:gd name="T25" fmla="*/ 72 h 735"/>
                <a:gd name="T26" fmla="*/ 374 w 506"/>
                <a:gd name="T27" fmla="*/ 38 h 735"/>
                <a:gd name="T28" fmla="*/ 329 w 506"/>
                <a:gd name="T29" fmla="*/ 14 h 735"/>
                <a:gd name="T30" fmla="*/ 280 w 506"/>
                <a:gd name="T31" fmla="*/ 2 h 735"/>
                <a:gd name="T32" fmla="*/ 225 w 506"/>
                <a:gd name="T33" fmla="*/ 2 h 735"/>
                <a:gd name="T34" fmla="*/ 171 w 506"/>
                <a:gd name="T35" fmla="*/ 14 h 735"/>
                <a:gd name="T36" fmla="*/ 126 w 506"/>
                <a:gd name="T37" fmla="*/ 38 h 735"/>
                <a:gd name="T38" fmla="*/ 86 w 506"/>
                <a:gd name="T39" fmla="*/ 72 h 735"/>
                <a:gd name="T40" fmla="*/ 52 w 506"/>
                <a:gd name="T41" fmla="*/ 113 h 735"/>
                <a:gd name="T42" fmla="*/ 28 w 506"/>
                <a:gd name="T43" fmla="*/ 161 h 735"/>
                <a:gd name="T44" fmla="*/ 10 w 506"/>
                <a:gd name="T45" fmla="*/ 215 h 735"/>
                <a:gd name="T46" fmla="*/ 2 w 506"/>
                <a:gd name="T47" fmla="*/ 272 h 735"/>
                <a:gd name="T48" fmla="*/ 2 w 506"/>
                <a:gd name="T49" fmla="*/ 330 h 735"/>
                <a:gd name="T50" fmla="*/ 17 w 506"/>
                <a:gd name="T51" fmla="*/ 383 h 735"/>
                <a:gd name="T52" fmla="*/ 42 w 506"/>
                <a:gd name="T53" fmla="*/ 434 h 735"/>
                <a:gd name="T54" fmla="*/ 71 w 506"/>
                <a:gd name="T55" fmla="*/ 479 h 735"/>
                <a:gd name="T56" fmla="*/ 97 w 506"/>
                <a:gd name="T57" fmla="*/ 511 h 735"/>
                <a:gd name="T58" fmla="*/ 124 w 506"/>
                <a:gd name="T59" fmla="*/ 548 h 735"/>
                <a:gd name="T60" fmla="*/ 153 w 506"/>
                <a:gd name="T61" fmla="*/ 602 h 735"/>
                <a:gd name="T62" fmla="*/ 171 w 506"/>
                <a:gd name="T63" fmla="*/ 683 h 735"/>
                <a:gd name="T64" fmla="*/ 332 w 506"/>
                <a:gd name="T65" fmla="*/ 735 h 73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06"/>
                <a:gd name="T100" fmla="*/ 0 h 735"/>
                <a:gd name="T101" fmla="*/ 506 w 506"/>
                <a:gd name="T102" fmla="*/ 735 h 73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06" h="735">
                  <a:moveTo>
                    <a:pt x="332" y="735"/>
                  </a:moveTo>
                  <a:lnTo>
                    <a:pt x="335" y="683"/>
                  </a:lnTo>
                  <a:lnTo>
                    <a:pt x="342" y="639"/>
                  </a:lnTo>
                  <a:lnTo>
                    <a:pt x="353" y="602"/>
                  </a:lnTo>
                  <a:lnTo>
                    <a:pt x="367" y="572"/>
                  </a:lnTo>
                  <a:lnTo>
                    <a:pt x="382" y="548"/>
                  </a:lnTo>
                  <a:lnTo>
                    <a:pt x="396" y="526"/>
                  </a:lnTo>
                  <a:lnTo>
                    <a:pt x="409" y="511"/>
                  </a:lnTo>
                  <a:lnTo>
                    <a:pt x="420" y="499"/>
                  </a:lnTo>
                  <a:lnTo>
                    <a:pt x="435" y="479"/>
                  </a:lnTo>
                  <a:lnTo>
                    <a:pt x="451" y="456"/>
                  </a:lnTo>
                  <a:lnTo>
                    <a:pt x="464" y="434"/>
                  </a:lnTo>
                  <a:lnTo>
                    <a:pt x="478" y="409"/>
                  </a:lnTo>
                  <a:lnTo>
                    <a:pt x="489" y="383"/>
                  </a:lnTo>
                  <a:lnTo>
                    <a:pt x="498" y="358"/>
                  </a:lnTo>
                  <a:lnTo>
                    <a:pt x="504" y="330"/>
                  </a:lnTo>
                  <a:lnTo>
                    <a:pt x="506" y="301"/>
                  </a:lnTo>
                  <a:lnTo>
                    <a:pt x="504" y="272"/>
                  </a:lnTo>
                  <a:lnTo>
                    <a:pt x="501" y="244"/>
                  </a:lnTo>
                  <a:lnTo>
                    <a:pt x="495" y="215"/>
                  </a:lnTo>
                  <a:lnTo>
                    <a:pt x="486" y="187"/>
                  </a:lnTo>
                  <a:lnTo>
                    <a:pt x="475" y="161"/>
                  </a:lnTo>
                  <a:lnTo>
                    <a:pt x="463" y="137"/>
                  </a:lnTo>
                  <a:lnTo>
                    <a:pt x="449" y="113"/>
                  </a:lnTo>
                  <a:lnTo>
                    <a:pt x="432" y="91"/>
                  </a:lnTo>
                  <a:lnTo>
                    <a:pt x="414" y="72"/>
                  </a:lnTo>
                  <a:lnTo>
                    <a:pt x="396" y="53"/>
                  </a:lnTo>
                  <a:lnTo>
                    <a:pt x="374" y="38"/>
                  </a:lnTo>
                  <a:lnTo>
                    <a:pt x="353" y="25"/>
                  </a:lnTo>
                  <a:lnTo>
                    <a:pt x="329" y="14"/>
                  </a:lnTo>
                  <a:lnTo>
                    <a:pt x="306" y="6"/>
                  </a:lnTo>
                  <a:lnTo>
                    <a:pt x="280" y="2"/>
                  </a:lnTo>
                  <a:lnTo>
                    <a:pt x="254" y="0"/>
                  </a:lnTo>
                  <a:lnTo>
                    <a:pt x="225" y="2"/>
                  </a:lnTo>
                  <a:lnTo>
                    <a:pt x="197" y="6"/>
                  </a:lnTo>
                  <a:lnTo>
                    <a:pt x="171" y="14"/>
                  </a:lnTo>
                  <a:lnTo>
                    <a:pt x="148" y="25"/>
                  </a:lnTo>
                  <a:lnTo>
                    <a:pt x="126" y="38"/>
                  </a:lnTo>
                  <a:lnTo>
                    <a:pt x="104" y="53"/>
                  </a:lnTo>
                  <a:lnTo>
                    <a:pt x="86" y="72"/>
                  </a:lnTo>
                  <a:lnTo>
                    <a:pt x="68" y="91"/>
                  </a:lnTo>
                  <a:lnTo>
                    <a:pt x="52" y="113"/>
                  </a:lnTo>
                  <a:lnTo>
                    <a:pt x="39" y="137"/>
                  </a:lnTo>
                  <a:lnTo>
                    <a:pt x="28" y="161"/>
                  </a:lnTo>
                  <a:lnTo>
                    <a:pt x="17" y="187"/>
                  </a:lnTo>
                  <a:lnTo>
                    <a:pt x="10" y="215"/>
                  </a:lnTo>
                  <a:lnTo>
                    <a:pt x="5" y="244"/>
                  </a:lnTo>
                  <a:lnTo>
                    <a:pt x="2" y="272"/>
                  </a:lnTo>
                  <a:lnTo>
                    <a:pt x="0" y="301"/>
                  </a:lnTo>
                  <a:lnTo>
                    <a:pt x="2" y="330"/>
                  </a:lnTo>
                  <a:lnTo>
                    <a:pt x="8" y="358"/>
                  </a:lnTo>
                  <a:lnTo>
                    <a:pt x="17" y="383"/>
                  </a:lnTo>
                  <a:lnTo>
                    <a:pt x="28" y="409"/>
                  </a:lnTo>
                  <a:lnTo>
                    <a:pt x="42" y="434"/>
                  </a:lnTo>
                  <a:lnTo>
                    <a:pt x="55" y="456"/>
                  </a:lnTo>
                  <a:lnTo>
                    <a:pt x="71" y="479"/>
                  </a:lnTo>
                  <a:lnTo>
                    <a:pt x="86" y="499"/>
                  </a:lnTo>
                  <a:lnTo>
                    <a:pt x="97" y="511"/>
                  </a:lnTo>
                  <a:lnTo>
                    <a:pt x="110" y="526"/>
                  </a:lnTo>
                  <a:lnTo>
                    <a:pt x="124" y="548"/>
                  </a:lnTo>
                  <a:lnTo>
                    <a:pt x="139" y="572"/>
                  </a:lnTo>
                  <a:lnTo>
                    <a:pt x="153" y="602"/>
                  </a:lnTo>
                  <a:lnTo>
                    <a:pt x="164" y="639"/>
                  </a:lnTo>
                  <a:lnTo>
                    <a:pt x="171" y="683"/>
                  </a:lnTo>
                  <a:lnTo>
                    <a:pt x="174" y="735"/>
                  </a:lnTo>
                  <a:lnTo>
                    <a:pt x="332" y="73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12" name="Freeform 1444"/>
            <p:cNvSpPr>
              <a:spLocks/>
            </p:cNvSpPr>
            <p:nvPr/>
          </p:nvSpPr>
          <p:spPr bwMode="auto">
            <a:xfrm>
              <a:off x="8870" y="9213"/>
              <a:ext cx="171" cy="120"/>
            </a:xfrm>
            <a:custGeom>
              <a:avLst/>
              <a:gdLst>
                <a:gd name="T0" fmla="*/ 289 w 342"/>
                <a:gd name="T1" fmla="*/ 239 h 239"/>
                <a:gd name="T2" fmla="*/ 342 w 342"/>
                <a:gd name="T3" fmla="*/ 88 h 239"/>
                <a:gd name="T4" fmla="*/ 214 w 342"/>
                <a:gd name="T5" fmla="*/ 166 h 239"/>
                <a:gd name="T6" fmla="*/ 168 w 342"/>
                <a:gd name="T7" fmla="*/ 0 h 239"/>
                <a:gd name="T8" fmla="*/ 124 w 342"/>
                <a:gd name="T9" fmla="*/ 166 h 239"/>
                <a:gd name="T10" fmla="*/ 0 w 342"/>
                <a:gd name="T11" fmla="*/ 96 h 239"/>
                <a:gd name="T12" fmla="*/ 49 w 342"/>
                <a:gd name="T13" fmla="*/ 239 h 239"/>
                <a:gd name="T14" fmla="*/ 90 w 342"/>
                <a:gd name="T15" fmla="*/ 239 h 239"/>
                <a:gd name="T16" fmla="*/ 58 w 342"/>
                <a:gd name="T17" fmla="*/ 153 h 239"/>
                <a:gd name="T18" fmla="*/ 130 w 342"/>
                <a:gd name="T19" fmla="*/ 188 h 239"/>
                <a:gd name="T20" fmla="*/ 168 w 342"/>
                <a:gd name="T21" fmla="*/ 103 h 239"/>
                <a:gd name="T22" fmla="*/ 208 w 342"/>
                <a:gd name="T23" fmla="*/ 188 h 239"/>
                <a:gd name="T24" fmla="*/ 278 w 342"/>
                <a:gd name="T25" fmla="*/ 153 h 239"/>
                <a:gd name="T26" fmla="*/ 249 w 342"/>
                <a:gd name="T27" fmla="*/ 239 h 239"/>
                <a:gd name="T28" fmla="*/ 289 w 342"/>
                <a:gd name="T29" fmla="*/ 239 h 2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2"/>
                <a:gd name="T46" fmla="*/ 0 h 239"/>
                <a:gd name="T47" fmla="*/ 342 w 342"/>
                <a:gd name="T48" fmla="*/ 239 h 23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2" h="239">
                  <a:moveTo>
                    <a:pt x="289" y="239"/>
                  </a:moveTo>
                  <a:lnTo>
                    <a:pt x="342" y="88"/>
                  </a:lnTo>
                  <a:lnTo>
                    <a:pt x="214" y="166"/>
                  </a:lnTo>
                  <a:lnTo>
                    <a:pt x="168" y="0"/>
                  </a:lnTo>
                  <a:lnTo>
                    <a:pt x="124" y="166"/>
                  </a:lnTo>
                  <a:lnTo>
                    <a:pt x="0" y="96"/>
                  </a:lnTo>
                  <a:lnTo>
                    <a:pt x="49" y="239"/>
                  </a:lnTo>
                  <a:lnTo>
                    <a:pt x="90" y="239"/>
                  </a:lnTo>
                  <a:lnTo>
                    <a:pt x="58" y="153"/>
                  </a:lnTo>
                  <a:lnTo>
                    <a:pt x="130" y="188"/>
                  </a:lnTo>
                  <a:lnTo>
                    <a:pt x="168" y="103"/>
                  </a:lnTo>
                  <a:lnTo>
                    <a:pt x="208" y="188"/>
                  </a:lnTo>
                  <a:lnTo>
                    <a:pt x="278" y="153"/>
                  </a:lnTo>
                  <a:lnTo>
                    <a:pt x="249" y="239"/>
                  </a:lnTo>
                  <a:lnTo>
                    <a:pt x="289" y="23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13" name="Freeform 1445"/>
            <p:cNvSpPr>
              <a:spLocks/>
            </p:cNvSpPr>
            <p:nvPr/>
          </p:nvSpPr>
          <p:spPr bwMode="auto">
            <a:xfrm>
              <a:off x="8871" y="9216"/>
              <a:ext cx="168" cy="114"/>
            </a:xfrm>
            <a:custGeom>
              <a:avLst/>
              <a:gdLst>
                <a:gd name="T0" fmla="*/ 165 w 336"/>
                <a:gd name="T1" fmla="*/ 0 h 228"/>
                <a:gd name="T2" fmla="*/ 211 w 336"/>
                <a:gd name="T3" fmla="*/ 161 h 228"/>
                <a:gd name="T4" fmla="*/ 336 w 336"/>
                <a:gd name="T5" fmla="*/ 87 h 228"/>
                <a:gd name="T6" fmla="*/ 286 w 336"/>
                <a:gd name="T7" fmla="*/ 228 h 228"/>
                <a:gd name="T8" fmla="*/ 248 w 336"/>
                <a:gd name="T9" fmla="*/ 228 h 228"/>
                <a:gd name="T10" fmla="*/ 275 w 336"/>
                <a:gd name="T11" fmla="*/ 147 h 228"/>
                <a:gd name="T12" fmla="*/ 205 w 336"/>
                <a:gd name="T13" fmla="*/ 182 h 228"/>
                <a:gd name="T14" fmla="*/ 165 w 336"/>
                <a:gd name="T15" fmla="*/ 97 h 228"/>
                <a:gd name="T16" fmla="*/ 127 w 336"/>
                <a:gd name="T17" fmla="*/ 182 h 228"/>
                <a:gd name="T18" fmla="*/ 55 w 336"/>
                <a:gd name="T19" fmla="*/ 147 h 228"/>
                <a:gd name="T20" fmla="*/ 86 w 336"/>
                <a:gd name="T21" fmla="*/ 228 h 228"/>
                <a:gd name="T22" fmla="*/ 46 w 336"/>
                <a:gd name="T23" fmla="*/ 228 h 228"/>
                <a:gd name="T24" fmla="*/ 0 w 336"/>
                <a:gd name="T25" fmla="*/ 93 h 228"/>
                <a:gd name="T26" fmla="*/ 121 w 336"/>
                <a:gd name="T27" fmla="*/ 161 h 228"/>
                <a:gd name="T28" fmla="*/ 165 w 336"/>
                <a:gd name="T29" fmla="*/ 0 h 22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36"/>
                <a:gd name="T46" fmla="*/ 0 h 228"/>
                <a:gd name="T47" fmla="*/ 336 w 336"/>
                <a:gd name="T48" fmla="*/ 228 h 22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36" h="228">
                  <a:moveTo>
                    <a:pt x="165" y="0"/>
                  </a:moveTo>
                  <a:lnTo>
                    <a:pt x="211" y="161"/>
                  </a:lnTo>
                  <a:lnTo>
                    <a:pt x="336" y="87"/>
                  </a:lnTo>
                  <a:lnTo>
                    <a:pt x="286" y="228"/>
                  </a:lnTo>
                  <a:lnTo>
                    <a:pt x="248" y="228"/>
                  </a:lnTo>
                  <a:lnTo>
                    <a:pt x="275" y="147"/>
                  </a:lnTo>
                  <a:lnTo>
                    <a:pt x="205" y="182"/>
                  </a:lnTo>
                  <a:lnTo>
                    <a:pt x="165" y="97"/>
                  </a:lnTo>
                  <a:lnTo>
                    <a:pt x="127" y="182"/>
                  </a:lnTo>
                  <a:lnTo>
                    <a:pt x="55" y="147"/>
                  </a:lnTo>
                  <a:lnTo>
                    <a:pt x="86" y="228"/>
                  </a:lnTo>
                  <a:lnTo>
                    <a:pt x="46" y="228"/>
                  </a:lnTo>
                  <a:lnTo>
                    <a:pt x="0" y="93"/>
                  </a:lnTo>
                  <a:lnTo>
                    <a:pt x="121" y="161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14" name="Freeform 1446"/>
            <p:cNvSpPr>
              <a:spLocks/>
            </p:cNvSpPr>
            <p:nvPr/>
          </p:nvSpPr>
          <p:spPr bwMode="auto">
            <a:xfrm>
              <a:off x="8873" y="9220"/>
              <a:ext cx="164" cy="108"/>
            </a:xfrm>
            <a:custGeom>
              <a:avLst/>
              <a:gdLst>
                <a:gd name="T0" fmla="*/ 162 w 328"/>
                <a:gd name="T1" fmla="*/ 0 h 215"/>
                <a:gd name="T2" fmla="*/ 208 w 328"/>
                <a:gd name="T3" fmla="*/ 153 h 215"/>
                <a:gd name="T4" fmla="*/ 328 w 328"/>
                <a:gd name="T5" fmla="*/ 82 h 215"/>
                <a:gd name="T6" fmla="*/ 283 w 328"/>
                <a:gd name="T7" fmla="*/ 215 h 215"/>
                <a:gd name="T8" fmla="*/ 246 w 328"/>
                <a:gd name="T9" fmla="*/ 215 h 215"/>
                <a:gd name="T10" fmla="*/ 272 w 328"/>
                <a:gd name="T11" fmla="*/ 139 h 215"/>
                <a:gd name="T12" fmla="*/ 202 w 328"/>
                <a:gd name="T13" fmla="*/ 174 h 215"/>
                <a:gd name="T14" fmla="*/ 162 w 328"/>
                <a:gd name="T15" fmla="*/ 89 h 215"/>
                <a:gd name="T16" fmla="*/ 124 w 328"/>
                <a:gd name="T17" fmla="*/ 174 h 215"/>
                <a:gd name="T18" fmla="*/ 52 w 328"/>
                <a:gd name="T19" fmla="*/ 139 h 215"/>
                <a:gd name="T20" fmla="*/ 80 w 328"/>
                <a:gd name="T21" fmla="*/ 215 h 215"/>
                <a:gd name="T22" fmla="*/ 43 w 328"/>
                <a:gd name="T23" fmla="*/ 215 h 215"/>
                <a:gd name="T24" fmla="*/ 0 w 328"/>
                <a:gd name="T25" fmla="*/ 88 h 215"/>
                <a:gd name="T26" fmla="*/ 118 w 328"/>
                <a:gd name="T27" fmla="*/ 155 h 215"/>
                <a:gd name="T28" fmla="*/ 162 w 328"/>
                <a:gd name="T29" fmla="*/ 0 h 21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8"/>
                <a:gd name="T46" fmla="*/ 0 h 215"/>
                <a:gd name="T47" fmla="*/ 328 w 328"/>
                <a:gd name="T48" fmla="*/ 215 h 21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8" h="215">
                  <a:moveTo>
                    <a:pt x="162" y="0"/>
                  </a:moveTo>
                  <a:lnTo>
                    <a:pt x="208" y="153"/>
                  </a:lnTo>
                  <a:lnTo>
                    <a:pt x="328" y="82"/>
                  </a:lnTo>
                  <a:lnTo>
                    <a:pt x="283" y="215"/>
                  </a:lnTo>
                  <a:lnTo>
                    <a:pt x="246" y="215"/>
                  </a:lnTo>
                  <a:lnTo>
                    <a:pt x="272" y="139"/>
                  </a:lnTo>
                  <a:lnTo>
                    <a:pt x="202" y="174"/>
                  </a:lnTo>
                  <a:lnTo>
                    <a:pt x="162" y="89"/>
                  </a:lnTo>
                  <a:lnTo>
                    <a:pt x="124" y="174"/>
                  </a:lnTo>
                  <a:lnTo>
                    <a:pt x="52" y="139"/>
                  </a:lnTo>
                  <a:lnTo>
                    <a:pt x="80" y="215"/>
                  </a:lnTo>
                  <a:lnTo>
                    <a:pt x="43" y="215"/>
                  </a:lnTo>
                  <a:lnTo>
                    <a:pt x="0" y="88"/>
                  </a:lnTo>
                  <a:lnTo>
                    <a:pt x="118" y="155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E8E8E8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15" name="Freeform 1447"/>
            <p:cNvSpPr>
              <a:spLocks/>
            </p:cNvSpPr>
            <p:nvPr/>
          </p:nvSpPr>
          <p:spPr bwMode="auto">
            <a:xfrm>
              <a:off x="8875" y="9223"/>
              <a:ext cx="160" cy="103"/>
            </a:xfrm>
            <a:custGeom>
              <a:avLst/>
              <a:gdLst>
                <a:gd name="T0" fmla="*/ 157 w 320"/>
                <a:gd name="T1" fmla="*/ 0 h 205"/>
                <a:gd name="T2" fmla="*/ 203 w 320"/>
                <a:gd name="T3" fmla="*/ 149 h 205"/>
                <a:gd name="T4" fmla="*/ 320 w 320"/>
                <a:gd name="T5" fmla="*/ 80 h 205"/>
                <a:gd name="T6" fmla="*/ 276 w 320"/>
                <a:gd name="T7" fmla="*/ 203 h 205"/>
                <a:gd name="T8" fmla="*/ 243 w 320"/>
                <a:gd name="T9" fmla="*/ 203 h 205"/>
                <a:gd name="T10" fmla="*/ 267 w 320"/>
                <a:gd name="T11" fmla="*/ 133 h 205"/>
                <a:gd name="T12" fmla="*/ 197 w 320"/>
                <a:gd name="T13" fmla="*/ 168 h 205"/>
                <a:gd name="T14" fmla="*/ 157 w 320"/>
                <a:gd name="T15" fmla="*/ 83 h 205"/>
                <a:gd name="T16" fmla="*/ 119 w 320"/>
                <a:gd name="T17" fmla="*/ 168 h 205"/>
                <a:gd name="T18" fmla="*/ 47 w 320"/>
                <a:gd name="T19" fmla="*/ 133 h 205"/>
                <a:gd name="T20" fmla="*/ 73 w 320"/>
                <a:gd name="T21" fmla="*/ 205 h 205"/>
                <a:gd name="T22" fmla="*/ 38 w 320"/>
                <a:gd name="T23" fmla="*/ 205 h 205"/>
                <a:gd name="T24" fmla="*/ 0 w 320"/>
                <a:gd name="T25" fmla="*/ 86 h 205"/>
                <a:gd name="T26" fmla="*/ 113 w 320"/>
                <a:gd name="T27" fmla="*/ 149 h 205"/>
                <a:gd name="T28" fmla="*/ 157 w 320"/>
                <a:gd name="T29" fmla="*/ 0 h 20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0"/>
                <a:gd name="T46" fmla="*/ 0 h 205"/>
                <a:gd name="T47" fmla="*/ 320 w 320"/>
                <a:gd name="T48" fmla="*/ 205 h 20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0" h="205">
                  <a:moveTo>
                    <a:pt x="157" y="0"/>
                  </a:moveTo>
                  <a:lnTo>
                    <a:pt x="203" y="149"/>
                  </a:lnTo>
                  <a:lnTo>
                    <a:pt x="320" y="80"/>
                  </a:lnTo>
                  <a:lnTo>
                    <a:pt x="276" y="203"/>
                  </a:lnTo>
                  <a:lnTo>
                    <a:pt x="243" y="203"/>
                  </a:lnTo>
                  <a:lnTo>
                    <a:pt x="267" y="133"/>
                  </a:lnTo>
                  <a:lnTo>
                    <a:pt x="197" y="168"/>
                  </a:lnTo>
                  <a:lnTo>
                    <a:pt x="157" y="83"/>
                  </a:lnTo>
                  <a:lnTo>
                    <a:pt x="119" y="168"/>
                  </a:lnTo>
                  <a:lnTo>
                    <a:pt x="47" y="133"/>
                  </a:lnTo>
                  <a:lnTo>
                    <a:pt x="73" y="205"/>
                  </a:lnTo>
                  <a:lnTo>
                    <a:pt x="38" y="205"/>
                  </a:lnTo>
                  <a:lnTo>
                    <a:pt x="0" y="86"/>
                  </a:lnTo>
                  <a:lnTo>
                    <a:pt x="113" y="149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DBDBDB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16" name="Freeform 1448"/>
            <p:cNvSpPr>
              <a:spLocks/>
            </p:cNvSpPr>
            <p:nvPr/>
          </p:nvSpPr>
          <p:spPr bwMode="auto">
            <a:xfrm>
              <a:off x="8877" y="9226"/>
              <a:ext cx="156" cy="97"/>
            </a:xfrm>
            <a:custGeom>
              <a:avLst/>
              <a:gdLst>
                <a:gd name="T0" fmla="*/ 154 w 313"/>
                <a:gd name="T1" fmla="*/ 0 h 193"/>
                <a:gd name="T2" fmla="*/ 200 w 313"/>
                <a:gd name="T3" fmla="*/ 144 h 193"/>
                <a:gd name="T4" fmla="*/ 313 w 313"/>
                <a:gd name="T5" fmla="*/ 79 h 193"/>
                <a:gd name="T6" fmla="*/ 273 w 313"/>
                <a:gd name="T7" fmla="*/ 193 h 193"/>
                <a:gd name="T8" fmla="*/ 241 w 313"/>
                <a:gd name="T9" fmla="*/ 193 h 193"/>
                <a:gd name="T10" fmla="*/ 264 w 313"/>
                <a:gd name="T11" fmla="*/ 127 h 193"/>
                <a:gd name="T12" fmla="*/ 194 w 313"/>
                <a:gd name="T13" fmla="*/ 162 h 193"/>
                <a:gd name="T14" fmla="*/ 154 w 313"/>
                <a:gd name="T15" fmla="*/ 77 h 193"/>
                <a:gd name="T16" fmla="*/ 116 w 313"/>
                <a:gd name="T17" fmla="*/ 162 h 193"/>
                <a:gd name="T18" fmla="*/ 44 w 313"/>
                <a:gd name="T19" fmla="*/ 127 h 193"/>
                <a:gd name="T20" fmla="*/ 69 w 313"/>
                <a:gd name="T21" fmla="*/ 193 h 193"/>
                <a:gd name="T22" fmla="*/ 35 w 313"/>
                <a:gd name="T23" fmla="*/ 193 h 193"/>
                <a:gd name="T24" fmla="*/ 0 w 313"/>
                <a:gd name="T25" fmla="*/ 83 h 193"/>
                <a:gd name="T26" fmla="*/ 110 w 313"/>
                <a:gd name="T27" fmla="*/ 144 h 193"/>
                <a:gd name="T28" fmla="*/ 154 w 313"/>
                <a:gd name="T29" fmla="*/ 0 h 19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13"/>
                <a:gd name="T46" fmla="*/ 0 h 193"/>
                <a:gd name="T47" fmla="*/ 313 w 313"/>
                <a:gd name="T48" fmla="*/ 193 h 19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13" h="193">
                  <a:moveTo>
                    <a:pt x="154" y="0"/>
                  </a:moveTo>
                  <a:lnTo>
                    <a:pt x="200" y="144"/>
                  </a:lnTo>
                  <a:lnTo>
                    <a:pt x="313" y="79"/>
                  </a:lnTo>
                  <a:lnTo>
                    <a:pt x="273" y="193"/>
                  </a:lnTo>
                  <a:lnTo>
                    <a:pt x="241" y="193"/>
                  </a:lnTo>
                  <a:lnTo>
                    <a:pt x="264" y="127"/>
                  </a:lnTo>
                  <a:lnTo>
                    <a:pt x="194" y="162"/>
                  </a:lnTo>
                  <a:lnTo>
                    <a:pt x="154" y="77"/>
                  </a:lnTo>
                  <a:lnTo>
                    <a:pt x="116" y="162"/>
                  </a:lnTo>
                  <a:lnTo>
                    <a:pt x="44" y="127"/>
                  </a:lnTo>
                  <a:lnTo>
                    <a:pt x="69" y="193"/>
                  </a:lnTo>
                  <a:lnTo>
                    <a:pt x="35" y="193"/>
                  </a:lnTo>
                  <a:lnTo>
                    <a:pt x="0" y="83"/>
                  </a:lnTo>
                  <a:lnTo>
                    <a:pt x="110" y="144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D1D1D1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17" name="Freeform 1449"/>
            <p:cNvSpPr>
              <a:spLocks/>
            </p:cNvSpPr>
            <p:nvPr/>
          </p:nvSpPr>
          <p:spPr bwMode="auto">
            <a:xfrm>
              <a:off x="8878" y="9229"/>
              <a:ext cx="153" cy="92"/>
            </a:xfrm>
            <a:custGeom>
              <a:avLst/>
              <a:gdLst>
                <a:gd name="T0" fmla="*/ 151 w 305"/>
                <a:gd name="T1" fmla="*/ 0 h 182"/>
                <a:gd name="T2" fmla="*/ 197 w 305"/>
                <a:gd name="T3" fmla="*/ 138 h 182"/>
                <a:gd name="T4" fmla="*/ 305 w 305"/>
                <a:gd name="T5" fmla="*/ 76 h 182"/>
                <a:gd name="T6" fmla="*/ 270 w 305"/>
                <a:gd name="T7" fmla="*/ 182 h 182"/>
                <a:gd name="T8" fmla="*/ 240 w 305"/>
                <a:gd name="T9" fmla="*/ 182 h 182"/>
                <a:gd name="T10" fmla="*/ 261 w 305"/>
                <a:gd name="T11" fmla="*/ 121 h 182"/>
                <a:gd name="T12" fmla="*/ 191 w 305"/>
                <a:gd name="T13" fmla="*/ 156 h 182"/>
                <a:gd name="T14" fmla="*/ 151 w 305"/>
                <a:gd name="T15" fmla="*/ 71 h 182"/>
                <a:gd name="T16" fmla="*/ 113 w 305"/>
                <a:gd name="T17" fmla="*/ 156 h 182"/>
                <a:gd name="T18" fmla="*/ 41 w 305"/>
                <a:gd name="T19" fmla="*/ 121 h 182"/>
                <a:gd name="T20" fmla="*/ 64 w 305"/>
                <a:gd name="T21" fmla="*/ 182 h 182"/>
                <a:gd name="T22" fmla="*/ 32 w 305"/>
                <a:gd name="T23" fmla="*/ 182 h 182"/>
                <a:gd name="T24" fmla="*/ 0 w 305"/>
                <a:gd name="T25" fmla="*/ 80 h 182"/>
                <a:gd name="T26" fmla="*/ 107 w 305"/>
                <a:gd name="T27" fmla="*/ 140 h 182"/>
                <a:gd name="T28" fmla="*/ 151 w 305"/>
                <a:gd name="T29" fmla="*/ 0 h 18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05"/>
                <a:gd name="T46" fmla="*/ 0 h 182"/>
                <a:gd name="T47" fmla="*/ 305 w 305"/>
                <a:gd name="T48" fmla="*/ 182 h 18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05" h="182">
                  <a:moveTo>
                    <a:pt x="151" y="0"/>
                  </a:moveTo>
                  <a:lnTo>
                    <a:pt x="197" y="138"/>
                  </a:lnTo>
                  <a:lnTo>
                    <a:pt x="305" y="76"/>
                  </a:lnTo>
                  <a:lnTo>
                    <a:pt x="270" y="182"/>
                  </a:lnTo>
                  <a:lnTo>
                    <a:pt x="240" y="182"/>
                  </a:lnTo>
                  <a:lnTo>
                    <a:pt x="261" y="121"/>
                  </a:lnTo>
                  <a:lnTo>
                    <a:pt x="191" y="156"/>
                  </a:lnTo>
                  <a:lnTo>
                    <a:pt x="151" y="71"/>
                  </a:lnTo>
                  <a:lnTo>
                    <a:pt x="113" y="156"/>
                  </a:lnTo>
                  <a:lnTo>
                    <a:pt x="41" y="121"/>
                  </a:lnTo>
                  <a:lnTo>
                    <a:pt x="64" y="182"/>
                  </a:lnTo>
                  <a:lnTo>
                    <a:pt x="32" y="182"/>
                  </a:lnTo>
                  <a:lnTo>
                    <a:pt x="0" y="80"/>
                  </a:lnTo>
                  <a:lnTo>
                    <a:pt x="107" y="14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C4C4C4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18" name="Freeform 1450"/>
            <p:cNvSpPr>
              <a:spLocks/>
            </p:cNvSpPr>
            <p:nvPr/>
          </p:nvSpPr>
          <p:spPr bwMode="auto">
            <a:xfrm>
              <a:off x="8880" y="9232"/>
              <a:ext cx="149" cy="86"/>
            </a:xfrm>
            <a:custGeom>
              <a:avLst/>
              <a:gdLst>
                <a:gd name="T0" fmla="*/ 148 w 299"/>
                <a:gd name="T1" fmla="*/ 0 h 172"/>
                <a:gd name="T2" fmla="*/ 194 w 299"/>
                <a:gd name="T3" fmla="*/ 134 h 172"/>
                <a:gd name="T4" fmla="*/ 299 w 299"/>
                <a:gd name="T5" fmla="*/ 74 h 172"/>
                <a:gd name="T6" fmla="*/ 267 w 299"/>
                <a:gd name="T7" fmla="*/ 172 h 172"/>
                <a:gd name="T8" fmla="*/ 238 w 299"/>
                <a:gd name="T9" fmla="*/ 172 h 172"/>
                <a:gd name="T10" fmla="*/ 258 w 299"/>
                <a:gd name="T11" fmla="*/ 115 h 172"/>
                <a:gd name="T12" fmla="*/ 188 w 299"/>
                <a:gd name="T13" fmla="*/ 150 h 172"/>
                <a:gd name="T14" fmla="*/ 148 w 299"/>
                <a:gd name="T15" fmla="*/ 65 h 172"/>
                <a:gd name="T16" fmla="*/ 110 w 299"/>
                <a:gd name="T17" fmla="*/ 150 h 172"/>
                <a:gd name="T18" fmla="*/ 38 w 299"/>
                <a:gd name="T19" fmla="*/ 115 h 172"/>
                <a:gd name="T20" fmla="*/ 60 w 299"/>
                <a:gd name="T21" fmla="*/ 172 h 172"/>
                <a:gd name="T22" fmla="*/ 31 w 299"/>
                <a:gd name="T23" fmla="*/ 172 h 172"/>
                <a:gd name="T24" fmla="*/ 0 w 299"/>
                <a:gd name="T25" fmla="*/ 77 h 172"/>
                <a:gd name="T26" fmla="*/ 104 w 299"/>
                <a:gd name="T27" fmla="*/ 135 h 172"/>
                <a:gd name="T28" fmla="*/ 148 w 299"/>
                <a:gd name="T29" fmla="*/ 0 h 17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99"/>
                <a:gd name="T46" fmla="*/ 0 h 172"/>
                <a:gd name="T47" fmla="*/ 299 w 299"/>
                <a:gd name="T48" fmla="*/ 172 h 17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99" h="172">
                  <a:moveTo>
                    <a:pt x="148" y="0"/>
                  </a:moveTo>
                  <a:lnTo>
                    <a:pt x="194" y="134"/>
                  </a:lnTo>
                  <a:lnTo>
                    <a:pt x="299" y="74"/>
                  </a:lnTo>
                  <a:lnTo>
                    <a:pt x="267" y="172"/>
                  </a:lnTo>
                  <a:lnTo>
                    <a:pt x="238" y="172"/>
                  </a:lnTo>
                  <a:lnTo>
                    <a:pt x="258" y="115"/>
                  </a:lnTo>
                  <a:lnTo>
                    <a:pt x="188" y="150"/>
                  </a:lnTo>
                  <a:lnTo>
                    <a:pt x="148" y="65"/>
                  </a:lnTo>
                  <a:lnTo>
                    <a:pt x="110" y="150"/>
                  </a:lnTo>
                  <a:lnTo>
                    <a:pt x="38" y="115"/>
                  </a:lnTo>
                  <a:lnTo>
                    <a:pt x="60" y="172"/>
                  </a:lnTo>
                  <a:lnTo>
                    <a:pt x="31" y="172"/>
                  </a:lnTo>
                  <a:lnTo>
                    <a:pt x="0" y="77"/>
                  </a:lnTo>
                  <a:lnTo>
                    <a:pt x="104" y="135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B7B7B7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19" name="Freeform 1451"/>
            <p:cNvSpPr>
              <a:spLocks/>
            </p:cNvSpPr>
            <p:nvPr/>
          </p:nvSpPr>
          <p:spPr bwMode="auto">
            <a:xfrm>
              <a:off x="8881" y="9235"/>
              <a:ext cx="146" cy="81"/>
            </a:xfrm>
            <a:custGeom>
              <a:avLst/>
              <a:gdLst>
                <a:gd name="T0" fmla="*/ 145 w 292"/>
                <a:gd name="T1" fmla="*/ 0 h 161"/>
                <a:gd name="T2" fmla="*/ 191 w 292"/>
                <a:gd name="T3" fmla="*/ 129 h 161"/>
                <a:gd name="T4" fmla="*/ 292 w 292"/>
                <a:gd name="T5" fmla="*/ 71 h 161"/>
                <a:gd name="T6" fmla="*/ 263 w 292"/>
                <a:gd name="T7" fmla="*/ 161 h 161"/>
                <a:gd name="T8" fmla="*/ 237 w 292"/>
                <a:gd name="T9" fmla="*/ 161 h 161"/>
                <a:gd name="T10" fmla="*/ 255 w 292"/>
                <a:gd name="T11" fmla="*/ 109 h 161"/>
                <a:gd name="T12" fmla="*/ 185 w 292"/>
                <a:gd name="T13" fmla="*/ 144 h 161"/>
                <a:gd name="T14" fmla="*/ 145 w 292"/>
                <a:gd name="T15" fmla="*/ 59 h 161"/>
                <a:gd name="T16" fmla="*/ 107 w 292"/>
                <a:gd name="T17" fmla="*/ 144 h 161"/>
                <a:gd name="T18" fmla="*/ 35 w 292"/>
                <a:gd name="T19" fmla="*/ 109 h 161"/>
                <a:gd name="T20" fmla="*/ 55 w 292"/>
                <a:gd name="T21" fmla="*/ 161 h 161"/>
                <a:gd name="T22" fmla="*/ 28 w 292"/>
                <a:gd name="T23" fmla="*/ 161 h 161"/>
                <a:gd name="T24" fmla="*/ 0 w 292"/>
                <a:gd name="T25" fmla="*/ 74 h 161"/>
                <a:gd name="T26" fmla="*/ 101 w 292"/>
                <a:gd name="T27" fmla="*/ 129 h 161"/>
                <a:gd name="T28" fmla="*/ 145 w 292"/>
                <a:gd name="T29" fmla="*/ 0 h 16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92"/>
                <a:gd name="T46" fmla="*/ 0 h 161"/>
                <a:gd name="T47" fmla="*/ 292 w 292"/>
                <a:gd name="T48" fmla="*/ 161 h 16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92" h="161">
                  <a:moveTo>
                    <a:pt x="145" y="0"/>
                  </a:moveTo>
                  <a:lnTo>
                    <a:pt x="191" y="129"/>
                  </a:lnTo>
                  <a:lnTo>
                    <a:pt x="292" y="71"/>
                  </a:lnTo>
                  <a:lnTo>
                    <a:pt x="263" y="161"/>
                  </a:lnTo>
                  <a:lnTo>
                    <a:pt x="237" y="161"/>
                  </a:lnTo>
                  <a:lnTo>
                    <a:pt x="255" y="109"/>
                  </a:lnTo>
                  <a:lnTo>
                    <a:pt x="185" y="144"/>
                  </a:lnTo>
                  <a:lnTo>
                    <a:pt x="145" y="59"/>
                  </a:lnTo>
                  <a:lnTo>
                    <a:pt x="107" y="144"/>
                  </a:lnTo>
                  <a:lnTo>
                    <a:pt x="35" y="109"/>
                  </a:lnTo>
                  <a:lnTo>
                    <a:pt x="55" y="161"/>
                  </a:lnTo>
                  <a:lnTo>
                    <a:pt x="28" y="161"/>
                  </a:lnTo>
                  <a:lnTo>
                    <a:pt x="0" y="74"/>
                  </a:lnTo>
                  <a:lnTo>
                    <a:pt x="101" y="129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AAAAAA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20" name="Freeform 1452"/>
            <p:cNvSpPr>
              <a:spLocks/>
            </p:cNvSpPr>
            <p:nvPr/>
          </p:nvSpPr>
          <p:spPr bwMode="auto">
            <a:xfrm>
              <a:off x="8883" y="9239"/>
              <a:ext cx="142" cy="75"/>
            </a:xfrm>
            <a:custGeom>
              <a:avLst/>
              <a:gdLst>
                <a:gd name="T0" fmla="*/ 140 w 284"/>
                <a:gd name="T1" fmla="*/ 0 h 151"/>
                <a:gd name="T2" fmla="*/ 186 w 284"/>
                <a:gd name="T3" fmla="*/ 125 h 151"/>
                <a:gd name="T4" fmla="*/ 284 w 284"/>
                <a:gd name="T5" fmla="*/ 70 h 151"/>
                <a:gd name="T6" fmla="*/ 258 w 284"/>
                <a:gd name="T7" fmla="*/ 149 h 151"/>
                <a:gd name="T8" fmla="*/ 233 w 284"/>
                <a:gd name="T9" fmla="*/ 149 h 151"/>
                <a:gd name="T10" fmla="*/ 250 w 284"/>
                <a:gd name="T11" fmla="*/ 103 h 151"/>
                <a:gd name="T12" fmla="*/ 180 w 284"/>
                <a:gd name="T13" fmla="*/ 138 h 151"/>
                <a:gd name="T14" fmla="*/ 140 w 284"/>
                <a:gd name="T15" fmla="*/ 53 h 151"/>
                <a:gd name="T16" fmla="*/ 102 w 284"/>
                <a:gd name="T17" fmla="*/ 138 h 151"/>
                <a:gd name="T18" fmla="*/ 30 w 284"/>
                <a:gd name="T19" fmla="*/ 103 h 151"/>
                <a:gd name="T20" fmla="*/ 47 w 284"/>
                <a:gd name="T21" fmla="*/ 151 h 151"/>
                <a:gd name="T22" fmla="*/ 23 w 284"/>
                <a:gd name="T23" fmla="*/ 151 h 151"/>
                <a:gd name="T24" fmla="*/ 0 w 284"/>
                <a:gd name="T25" fmla="*/ 71 h 151"/>
                <a:gd name="T26" fmla="*/ 97 w 284"/>
                <a:gd name="T27" fmla="*/ 125 h 151"/>
                <a:gd name="T28" fmla="*/ 140 w 284"/>
                <a:gd name="T29" fmla="*/ 0 h 15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84"/>
                <a:gd name="T46" fmla="*/ 0 h 151"/>
                <a:gd name="T47" fmla="*/ 284 w 284"/>
                <a:gd name="T48" fmla="*/ 151 h 15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84" h="151">
                  <a:moveTo>
                    <a:pt x="140" y="0"/>
                  </a:moveTo>
                  <a:lnTo>
                    <a:pt x="186" y="125"/>
                  </a:lnTo>
                  <a:lnTo>
                    <a:pt x="284" y="70"/>
                  </a:lnTo>
                  <a:lnTo>
                    <a:pt x="258" y="149"/>
                  </a:lnTo>
                  <a:lnTo>
                    <a:pt x="233" y="149"/>
                  </a:lnTo>
                  <a:lnTo>
                    <a:pt x="250" y="103"/>
                  </a:lnTo>
                  <a:lnTo>
                    <a:pt x="180" y="138"/>
                  </a:lnTo>
                  <a:lnTo>
                    <a:pt x="140" y="53"/>
                  </a:lnTo>
                  <a:lnTo>
                    <a:pt x="102" y="138"/>
                  </a:lnTo>
                  <a:lnTo>
                    <a:pt x="30" y="103"/>
                  </a:lnTo>
                  <a:lnTo>
                    <a:pt x="47" y="151"/>
                  </a:lnTo>
                  <a:lnTo>
                    <a:pt x="23" y="151"/>
                  </a:lnTo>
                  <a:lnTo>
                    <a:pt x="0" y="71"/>
                  </a:lnTo>
                  <a:lnTo>
                    <a:pt x="97" y="12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A0A0A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21" name="Freeform 1453"/>
            <p:cNvSpPr>
              <a:spLocks/>
            </p:cNvSpPr>
            <p:nvPr/>
          </p:nvSpPr>
          <p:spPr bwMode="auto">
            <a:xfrm>
              <a:off x="8885" y="9242"/>
              <a:ext cx="138" cy="69"/>
            </a:xfrm>
            <a:custGeom>
              <a:avLst/>
              <a:gdLst>
                <a:gd name="T0" fmla="*/ 137 w 276"/>
                <a:gd name="T1" fmla="*/ 0 h 138"/>
                <a:gd name="T2" fmla="*/ 183 w 276"/>
                <a:gd name="T3" fmla="*/ 117 h 138"/>
                <a:gd name="T4" fmla="*/ 276 w 276"/>
                <a:gd name="T5" fmla="*/ 65 h 138"/>
                <a:gd name="T6" fmla="*/ 255 w 276"/>
                <a:gd name="T7" fmla="*/ 136 h 138"/>
                <a:gd name="T8" fmla="*/ 233 w 276"/>
                <a:gd name="T9" fmla="*/ 136 h 138"/>
                <a:gd name="T10" fmla="*/ 247 w 276"/>
                <a:gd name="T11" fmla="*/ 95 h 138"/>
                <a:gd name="T12" fmla="*/ 177 w 276"/>
                <a:gd name="T13" fmla="*/ 130 h 138"/>
                <a:gd name="T14" fmla="*/ 137 w 276"/>
                <a:gd name="T15" fmla="*/ 45 h 138"/>
                <a:gd name="T16" fmla="*/ 99 w 276"/>
                <a:gd name="T17" fmla="*/ 130 h 138"/>
                <a:gd name="T18" fmla="*/ 27 w 276"/>
                <a:gd name="T19" fmla="*/ 95 h 138"/>
                <a:gd name="T20" fmla="*/ 43 w 276"/>
                <a:gd name="T21" fmla="*/ 138 h 138"/>
                <a:gd name="T22" fmla="*/ 20 w 276"/>
                <a:gd name="T23" fmla="*/ 138 h 138"/>
                <a:gd name="T24" fmla="*/ 0 w 276"/>
                <a:gd name="T25" fmla="*/ 67 h 138"/>
                <a:gd name="T26" fmla="*/ 94 w 276"/>
                <a:gd name="T27" fmla="*/ 118 h 138"/>
                <a:gd name="T28" fmla="*/ 137 w 276"/>
                <a:gd name="T29" fmla="*/ 0 h 1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76"/>
                <a:gd name="T46" fmla="*/ 0 h 138"/>
                <a:gd name="T47" fmla="*/ 276 w 276"/>
                <a:gd name="T48" fmla="*/ 138 h 1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76" h="138">
                  <a:moveTo>
                    <a:pt x="137" y="0"/>
                  </a:moveTo>
                  <a:lnTo>
                    <a:pt x="183" y="117"/>
                  </a:lnTo>
                  <a:lnTo>
                    <a:pt x="276" y="65"/>
                  </a:lnTo>
                  <a:lnTo>
                    <a:pt x="255" y="136"/>
                  </a:lnTo>
                  <a:lnTo>
                    <a:pt x="233" y="136"/>
                  </a:lnTo>
                  <a:lnTo>
                    <a:pt x="247" y="95"/>
                  </a:lnTo>
                  <a:lnTo>
                    <a:pt x="177" y="130"/>
                  </a:lnTo>
                  <a:lnTo>
                    <a:pt x="137" y="45"/>
                  </a:lnTo>
                  <a:lnTo>
                    <a:pt x="99" y="130"/>
                  </a:lnTo>
                  <a:lnTo>
                    <a:pt x="27" y="95"/>
                  </a:lnTo>
                  <a:lnTo>
                    <a:pt x="43" y="138"/>
                  </a:lnTo>
                  <a:lnTo>
                    <a:pt x="20" y="138"/>
                  </a:lnTo>
                  <a:lnTo>
                    <a:pt x="0" y="67"/>
                  </a:lnTo>
                  <a:lnTo>
                    <a:pt x="94" y="118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939393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22" name="Freeform 1454"/>
            <p:cNvSpPr>
              <a:spLocks/>
            </p:cNvSpPr>
            <p:nvPr/>
          </p:nvSpPr>
          <p:spPr bwMode="auto">
            <a:xfrm>
              <a:off x="8886" y="9245"/>
              <a:ext cx="135" cy="64"/>
            </a:xfrm>
            <a:custGeom>
              <a:avLst/>
              <a:gdLst>
                <a:gd name="T0" fmla="*/ 134 w 268"/>
                <a:gd name="T1" fmla="*/ 0 h 127"/>
                <a:gd name="T2" fmla="*/ 180 w 268"/>
                <a:gd name="T3" fmla="*/ 112 h 127"/>
                <a:gd name="T4" fmla="*/ 268 w 268"/>
                <a:gd name="T5" fmla="*/ 64 h 127"/>
                <a:gd name="T6" fmla="*/ 252 w 268"/>
                <a:gd name="T7" fmla="*/ 126 h 127"/>
                <a:gd name="T8" fmla="*/ 232 w 268"/>
                <a:gd name="T9" fmla="*/ 126 h 127"/>
                <a:gd name="T10" fmla="*/ 244 w 268"/>
                <a:gd name="T11" fmla="*/ 89 h 127"/>
                <a:gd name="T12" fmla="*/ 174 w 268"/>
                <a:gd name="T13" fmla="*/ 124 h 127"/>
                <a:gd name="T14" fmla="*/ 134 w 268"/>
                <a:gd name="T15" fmla="*/ 39 h 127"/>
                <a:gd name="T16" fmla="*/ 96 w 268"/>
                <a:gd name="T17" fmla="*/ 124 h 127"/>
                <a:gd name="T18" fmla="*/ 24 w 268"/>
                <a:gd name="T19" fmla="*/ 89 h 127"/>
                <a:gd name="T20" fmla="*/ 38 w 268"/>
                <a:gd name="T21" fmla="*/ 127 h 127"/>
                <a:gd name="T22" fmla="*/ 17 w 268"/>
                <a:gd name="T23" fmla="*/ 127 h 127"/>
                <a:gd name="T24" fmla="*/ 0 w 268"/>
                <a:gd name="T25" fmla="*/ 65 h 127"/>
                <a:gd name="T26" fmla="*/ 91 w 268"/>
                <a:gd name="T27" fmla="*/ 114 h 127"/>
                <a:gd name="T28" fmla="*/ 134 w 268"/>
                <a:gd name="T29" fmla="*/ 0 h 12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8"/>
                <a:gd name="T46" fmla="*/ 0 h 127"/>
                <a:gd name="T47" fmla="*/ 268 w 268"/>
                <a:gd name="T48" fmla="*/ 127 h 12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8" h="127">
                  <a:moveTo>
                    <a:pt x="134" y="0"/>
                  </a:moveTo>
                  <a:lnTo>
                    <a:pt x="180" y="112"/>
                  </a:lnTo>
                  <a:lnTo>
                    <a:pt x="268" y="64"/>
                  </a:lnTo>
                  <a:lnTo>
                    <a:pt x="252" y="126"/>
                  </a:lnTo>
                  <a:lnTo>
                    <a:pt x="232" y="126"/>
                  </a:lnTo>
                  <a:lnTo>
                    <a:pt x="244" y="89"/>
                  </a:lnTo>
                  <a:lnTo>
                    <a:pt x="174" y="124"/>
                  </a:lnTo>
                  <a:lnTo>
                    <a:pt x="134" y="39"/>
                  </a:lnTo>
                  <a:lnTo>
                    <a:pt x="96" y="124"/>
                  </a:lnTo>
                  <a:lnTo>
                    <a:pt x="24" y="89"/>
                  </a:lnTo>
                  <a:lnTo>
                    <a:pt x="38" y="127"/>
                  </a:lnTo>
                  <a:lnTo>
                    <a:pt x="17" y="127"/>
                  </a:lnTo>
                  <a:lnTo>
                    <a:pt x="0" y="65"/>
                  </a:lnTo>
                  <a:lnTo>
                    <a:pt x="91" y="114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898989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23" name="Freeform 1455"/>
            <p:cNvSpPr>
              <a:spLocks/>
            </p:cNvSpPr>
            <p:nvPr/>
          </p:nvSpPr>
          <p:spPr bwMode="auto">
            <a:xfrm>
              <a:off x="8888" y="9248"/>
              <a:ext cx="131" cy="60"/>
            </a:xfrm>
            <a:custGeom>
              <a:avLst/>
              <a:gdLst>
                <a:gd name="T0" fmla="*/ 131 w 262"/>
                <a:gd name="T1" fmla="*/ 0 h 118"/>
                <a:gd name="T2" fmla="*/ 177 w 262"/>
                <a:gd name="T3" fmla="*/ 108 h 118"/>
                <a:gd name="T4" fmla="*/ 262 w 262"/>
                <a:gd name="T5" fmla="*/ 61 h 118"/>
                <a:gd name="T6" fmla="*/ 247 w 262"/>
                <a:gd name="T7" fmla="*/ 115 h 118"/>
                <a:gd name="T8" fmla="*/ 230 w 262"/>
                <a:gd name="T9" fmla="*/ 115 h 118"/>
                <a:gd name="T10" fmla="*/ 241 w 262"/>
                <a:gd name="T11" fmla="*/ 83 h 118"/>
                <a:gd name="T12" fmla="*/ 171 w 262"/>
                <a:gd name="T13" fmla="*/ 118 h 118"/>
                <a:gd name="T14" fmla="*/ 131 w 262"/>
                <a:gd name="T15" fmla="*/ 33 h 118"/>
                <a:gd name="T16" fmla="*/ 93 w 262"/>
                <a:gd name="T17" fmla="*/ 118 h 118"/>
                <a:gd name="T18" fmla="*/ 21 w 262"/>
                <a:gd name="T19" fmla="*/ 83 h 118"/>
                <a:gd name="T20" fmla="*/ 33 w 262"/>
                <a:gd name="T21" fmla="*/ 115 h 118"/>
                <a:gd name="T22" fmla="*/ 14 w 262"/>
                <a:gd name="T23" fmla="*/ 115 h 118"/>
                <a:gd name="T24" fmla="*/ 0 w 262"/>
                <a:gd name="T25" fmla="*/ 62 h 118"/>
                <a:gd name="T26" fmla="*/ 88 w 262"/>
                <a:gd name="T27" fmla="*/ 108 h 118"/>
                <a:gd name="T28" fmla="*/ 131 w 262"/>
                <a:gd name="T29" fmla="*/ 0 h 11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2"/>
                <a:gd name="T46" fmla="*/ 0 h 118"/>
                <a:gd name="T47" fmla="*/ 262 w 262"/>
                <a:gd name="T48" fmla="*/ 118 h 11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2" h="118">
                  <a:moveTo>
                    <a:pt x="131" y="0"/>
                  </a:moveTo>
                  <a:lnTo>
                    <a:pt x="177" y="108"/>
                  </a:lnTo>
                  <a:lnTo>
                    <a:pt x="262" y="61"/>
                  </a:lnTo>
                  <a:lnTo>
                    <a:pt x="247" y="115"/>
                  </a:lnTo>
                  <a:lnTo>
                    <a:pt x="230" y="115"/>
                  </a:lnTo>
                  <a:lnTo>
                    <a:pt x="241" y="83"/>
                  </a:lnTo>
                  <a:lnTo>
                    <a:pt x="171" y="118"/>
                  </a:lnTo>
                  <a:lnTo>
                    <a:pt x="131" y="33"/>
                  </a:lnTo>
                  <a:lnTo>
                    <a:pt x="93" y="118"/>
                  </a:lnTo>
                  <a:lnTo>
                    <a:pt x="21" y="83"/>
                  </a:lnTo>
                  <a:lnTo>
                    <a:pt x="33" y="115"/>
                  </a:lnTo>
                  <a:lnTo>
                    <a:pt x="14" y="115"/>
                  </a:lnTo>
                  <a:lnTo>
                    <a:pt x="0" y="62"/>
                  </a:lnTo>
                  <a:lnTo>
                    <a:pt x="88" y="108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7C7C7C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24" name="Freeform 1456"/>
            <p:cNvSpPr>
              <a:spLocks/>
            </p:cNvSpPr>
            <p:nvPr/>
          </p:nvSpPr>
          <p:spPr bwMode="auto">
            <a:xfrm>
              <a:off x="8889" y="9251"/>
              <a:ext cx="128" cy="57"/>
            </a:xfrm>
            <a:custGeom>
              <a:avLst/>
              <a:gdLst>
                <a:gd name="T0" fmla="*/ 128 w 255"/>
                <a:gd name="T1" fmla="*/ 0 h 112"/>
                <a:gd name="T2" fmla="*/ 174 w 255"/>
                <a:gd name="T3" fmla="*/ 102 h 112"/>
                <a:gd name="T4" fmla="*/ 255 w 255"/>
                <a:gd name="T5" fmla="*/ 59 h 112"/>
                <a:gd name="T6" fmla="*/ 244 w 255"/>
                <a:gd name="T7" fmla="*/ 103 h 112"/>
                <a:gd name="T8" fmla="*/ 229 w 255"/>
                <a:gd name="T9" fmla="*/ 103 h 112"/>
                <a:gd name="T10" fmla="*/ 238 w 255"/>
                <a:gd name="T11" fmla="*/ 77 h 112"/>
                <a:gd name="T12" fmla="*/ 168 w 255"/>
                <a:gd name="T13" fmla="*/ 112 h 112"/>
                <a:gd name="T14" fmla="*/ 128 w 255"/>
                <a:gd name="T15" fmla="*/ 27 h 112"/>
                <a:gd name="T16" fmla="*/ 90 w 255"/>
                <a:gd name="T17" fmla="*/ 112 h 112"/>
                <a:gd name="T18" fmla="*/ 18 w 255"/>
                <a:gd name="T19" fmla="*/ 77 h 112"/>
                <a:gd name="T20" fmla="*/ 29 w 255"/>
                <a:gd name="T21" fmla="*/ 105 h 112"/>
                <a:gd name="T22" fmla="*/ 11 w 255"/>
                <a:gd name="T23" fmla="*/ 105 h 112"/>
                <a:gd name="T24" fmla="*/ 0 w 255"/>
                <a:gd name="T25" fmla="*/ 59 h 112"/>
                <a:gd name="T26" fmla="*/ 85 w 255"/>
                <a:gd name="T27" fmla="*/ 103 h 112"/>
                <a:gd name="T28" fmla="*/ 128 w 255"/>
                <a:gd name="T29" fmla="*/ 0 h 11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55"/>
                <a:gd name="T46" fmla="*/ 0 h 112"/>
                <a:gd name="T47" fmla="*/ 255 w 255"/>
                <a:gd name="T48" fmla="*/ 112 h 11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55" h="112">
                  <a:moveTo>
                    <a:pt x="128" y="0"/>
                  </a:moveTo>
                  <a:lnTo>
                    <a:pt x="174" y="102"/>
                  </a:lnTo>
                  <a:lnTo>
                    <a:pt x="255" y="59"/>
                  </a:lnTo>
                  <a:lnTo>
                    <a:pt x="244" y="103"/>
                  </a:lnTo>
                  <a:lnTo>
                    <a:pt x="229" y="103"/>
                  </a:lnTo>
                  <a:lnTo>
                    <a:pt x="238" y="77"/>
                  </a:lnTo>
                  <a:lnTo>
                    <a:pt x="168" y="112"/>
                  </a:lnTo>
                  <a:lnTo>
                    <a:pt x="128" y="27"/>
                  </a:lnTo>
                  <a:lnTo>
                    <a:pt x="90" y="112"/>
                  </a:lnTo>
                  <a:lnTo>
                    <a:pt x="18" y="77"/>
                  </a:lnTo>
                  <a:lnTo>
                    <a:pt x="29" y="105"/>
                  </a:lnTo>
                  <a:lnTo>
                    <a:pt x="11" y="105"/>
                  </a:lnTo>
                  <a:lnTo>
                    <a:pt x="0" y="59"/>
                  </a:lnTo>
                  <a:lnTo>
                    <a:pt x="85" y="103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70707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25" name="Freeform 1457"/>
            <p:cNvSpPr>
              <a:spLocks/>
            </p:cNvSpPr>
            <p:nvPr/>
          </p:nvSpPr>
          <p:spPr bwMode="auto">
            <a:xfrm>
              <a:off x="8892" y="9254"/>
              <a:ext cx="123" cy="54"/>
            </a:xfrm>
            <a:custGeom>
              <a:avLst/>
              <a:gdLst>
                <a:gd name="T0" fmla="*/ 123 w 247"/>
                <a:gd name="T1" fmla="*/ 0 h 106"/>
                <a:gd name="T2" fmla="*/ 169 w 247"/>
                <a:gd name="T3" fmla="*/ 97 h 106"/>
                <a:gd name="T4" fmla="*/ 247 w 247"/>
                <a:gd name="T5" fmla="*/ 56 h 106"/>
                <a:gd name="T6" fmla="*/ 239 w 247"/>
                <a:gd name="T7" fmla="*/ 93 h 106"/>
                <a:gd name="T8" fmla="*/ 225 w 247"/>
                <a:gd name="T9" fmla="*/ 93 h 106"/>
                <a:gd name="T10" fmla="*/ 233 w 247"/>
                <a:gd name="T11" fmla="*/ 71 h 106"/>
                <a:gd name="T12" fmla="*/ 163 w 247"/>
                <a:gd name="T13" fmla="*/ 106 h 106"/>
                <a:gd name="T14" fmla="*/ 123 w 247"/>
                <a:gd name="T15" fmla="*/ 21 h 106"/>
                <a:gd name="T16" fmla="*/ 85 w 247"/>
                <a:gd name="T17" fmla="*/ 106 h 106"/>
                <a:gd name="T18" fmla="*/ 13 w 247"/>
                <a:gd name="T19" fmla="*/ 71 h 106"/>
                <a:gd name="T20" fmla="*/ 21 w 247"/>
                <a:gd name="T21" fmla="*/ 94 h 106"/>
                <a:gd name="T22" fmla="*/ 6 w 247"/>
                <a:gd name="T23" fmla="*/ 94 h 106"/>
                <a:gd name="T24" fmla="*/ 0 w 247"/>
                <a:gd name="T25" fmla="*/ 56 h 106"/>
                <a:gd name="T26" fmla="*/ 80 w 247"/>
                <a:gd name="T27" fmla="*/ 99 h 106"/>
                <a:gd name="T28" fmla="*/ 123 w 247"/>
                <a:gd name="T29" fmla="*/ 0 h 1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47"/>
                <a:gd name="T46" fmla="*/ 0 h 106"/>
                <a:gd name="T47" fmla="*/ 247 w 247"/>
                <a:gd name="T48" fmla="*/ 106 h 10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47" h="106">
                  <a:moveTo>
                    <a:pt x="123" y="0"/>
                  </a:moveTo>
                  <a:lnTo>
                    <a:pt x="169" y="97"/>
                  </a:lnTo>
                  <a:lnTo>
                    <a:pt x="247" y="56"/>
                  </a:lnTo>
                  <a:lnTo>
                    <a:pt x="239" y="93"/>
                  </a:lnTo>
                  <a:lnTo>
                    <a:pt x="225" y="93"/>
                  </a:lnTo>
                  <a:lnTo>
                    <a:pt x="233" y="71"/>
                  </a:lnTo>
                  <a:lnTo>
                    <a:pt x="163" y="106"/>
                  </a:lnTo>
                  <a:lnTo>
                    <a:pt x="123" y="21"/>
                  </a:lnTo>
                  <a:lnTo>
                    <a:pt x="85" y="106"/>
                  </a:lnTo>
                  <a:lnTo>
                    <a:pt x="13" y="71"/>
                  </a:lnTo>
                  <a:lnTo>
                    <a:pt x="21" y="94"/>
                  </a:lnTo>
                  <a:lnTo>
                    <a:pt x="6" y="94"/>
                  </a:lnTo>
                  <a:lnTo>
                    <a:pt x="0" y="56"/>
                  </a:lnTo>
                  <a:lnTo>
                    <a:pt x="80" y="99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726" name="Freeform 1458"/>
            <p:cNvSpPr>
              <a:spLocks/>
            </p:cNvSpPr>
            <p:nvPr/>
          </p:nvSpPr>
          <p:spPr bwMode="auto">
            <a:xfrm>
              <a:off x="8893" y="9258"/>
              <a:ext cx="120" cy="50"/>
            </a:xfrm>
            <a:custGeom>
              <a:avLst/>
              <a:gdLst>
                <a:gd name="T0" fmla="*/ 236 w 239"/>
                <a:gd name="T1" fmla="*/ 82 h 100"/>
                <a:gd name="T2" fmla="*/ 239 w 239"/>
                <a:gd name="T3" fmla="*/ 55 h 100"/>
                <a:gd name="T4" fmla="*/ 166 w 239"/>
                <a:gd name="T5" fmla="*/ 93 h 100"/>
                <a:gd name="T6" fmla="*/ 120 w 239"/>
                <a:gd name="T7" fmla="*/ 0 h 100"/>
                <a:gd name="T8" fmla="*/ 77 w 239"/>
                <a:gd name="T9" fmla="*/ 93 h 100"/>
                <a:gd name="T10" fmla="*/ 0 w 239"/>
                <a:gd name="T11" fmla="*/ 53 h 100"/>
                <a:gd name="T12" fmla="*/ 4 w 239"/>
                <a:gd name="T13" fmla="*/ 84 h 100"/>
                <a:gd name="T14" fmla="*/ 16 w 239"/>
                <a:gd name="T15" fmla="*/ 84 h 100"/>
                <a:gd name="T16" fmla="*/ 10 w 239"/>
                <a:gd name="T17" fmla="*/ 65 h 100"/>
                <a:gd name="T18" fmla="*/ 82 w 239"/>
                <a:gd name="T19" fmla="*/ 100 h 100"/>
                <a:gd name="T20" fmla="*/ 120 w 239"/>
                <a:gd name="T21" fmla="*/ 15 h 100"/>
                <a:gd name="T22" fmla="*/ 160 w 239"/>
                <a:gd name="T23" fmla="*/ 100 h 100"/>
                <a:gd name="T24" fmla="*/ 230 w 239"/>
                <a:gd name="T25" fmla="*/ 65 h 100"/>
                <a:gd name="T26" fmla="*/ 225 w 239"/>
                <a:gd name="T27" fmla="*/ 82 h 100"/>
                <a:gd name="T28" fmla="*/ 236 w 239"/>
                <a:gd name="T29" fmla="*/ 82 h 10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39"/>
                <a:gd name="T46" fmla="*/ 0 h 100"/>
                <a:gd name="T47" fmla="*/ 239 w 239"/>
                <a:gd name="T48" fmla="*/ 100 h 10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39" h="100">
                  <a:moveTo>
                    <a:pt x="236" y="82"/>
                  </a:moveTo>
                  <a:lnTo>
                    <a:pt x="239" y="55"/>
                  </a:lnTo>
                  <a:lnTo>
                    <a:pt x="166" y="93"/>
                  </a:lnTo>
                  <a:lnTo>
                    <a:pt x="120" y="0"/>
                  </a:lnTo>
                  <a:lnTo>
                    <a:pt x="77" y="93"/>
                  </a:lnTo>
                  <a:lnTo>
                    <a:pt x="0" y="53"/>
                  </a:lnTo>
                  <a:lnTo>
                    <a:pt x="4" y="84"/>
                  </a:lnTo>
                  <a:lnTo>
                    <a:pt x="16" y="84"/>
                  </a:lnTo>
                  <a:lnTo>
                    <a:pt x="10" y="65"/>
                  </a:lnTo>
                  <a:lnTo>
                    <a:pt x="82" y="100"/>
                  </a:lnTo>
                  <a:lnTo>
                    <a:pt x="120" y="15"/>
                  </a:lnTo>
                  <a:lnTo>
                    <a:pt x="160" y="100"/>
                  </a:lnTo>
                  <a:lnTo>
                    <a:pt x="230" y="65"/>
                  </a:lnTo>
                  <a:lnTo>
                    <a:pt x="225" y="82"/>
                  </a:lnTo>
                  <a:lnTo>
                    <a:pt x="236" y="82"/>
                  </a:lnTo>
                  <a:close/>
                </a:path>
              </a:pathLst>
            </a:custGeom>
            <a:solidFill>
              <a:srgbClr val="595959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sp>
        <p:nvSpPr>
          <p:cNvPr id="24586" name="Rectangle 1459"/>
          <p:cNvSpPr>
            <a:spLocks noChangeArrowheads="1"/>
          </p:cNvSpPr>
          <p:nvPr/>
        </p:nvSpPr>
        <p:spPr bwMode="auto">
          <a:xfrm>
            <a:off x="2684463" y="2359025"/>
            <a:ext cx="12588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19150" eaLnBrk="0" hangingPunct="0"/>
            <a:r>
              <a:rPr lang="en-US" sz="1500">
                <a:solidFill>
                  <a:srgbClr val="000000"/>
                </a:solidFill>
                <a:latin typeface="Arial Narrow" pitchFamily="34" charset="0"/>
              </a:rPr>
              <a:t>Administration</a:t>
            </a:r>
            <a:endParaRPr lang="en-US" sz="1500">
              <a:latin typeface="Times New Roman" pitchFamily="18" charset="0"/>
            </a:endParaRPr>
          </a:p>
        </p:txBody>
      </p:sp>
      <p:sp>
        <p:nvSpPr>
          <p:cNvPr id="24587" name="Line 1460"/>
          <p:cNvSpPr>
            <a:spLocks noChangeShapeType="1"/>
          </p:cNvSpPr>
          <p:nvPr/>
        </p:nvSpPr>
        <p:spPr bwMode="auto">
          <a:xfrm flipH="1" flipV="1">
            <a:off x="3679825" y="1873250"/>
            <a:ext cx="768350" cy="14859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24588" name="Line 1461"/>
          <p:cNvSpPr>
            <a:spLocks noChangeShapeType="1"/>
          </p:cNvSpPr>
          <p:nvPr/>
        </p:nvSpPr>
        <p:spPr bwMode="auto">
          <a:xfrm>
            <a:off x="3870325" y="2538413"/>
            <a:ext cx="641350" cy="1106487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24589" name="Line 1462"/>
          <p:cNvSpPr>
            <a:spLocks noChangeShapeType="1"/>
          </p:cNvSpPr>
          <p:nvPr/>
        </p:nvSpPr>
        <p:spPr bwMode="auto">
          <a:xfrm flipH="1" flipV="1">
            <a:off x="2686050" y="2511425"/>
            <a:ext cx="1190625" cy="1062038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Line 1463"/>
          <p:cNvSpPr>
            <a:spLocks noChangeShapeType="1"/>
          </p:cNvSpPr>
          <p:nvPr/>
        </p:nvSpPr>
        <p:spPr bwMode="auto">
          <a:xfrm flipH="1" flipV="1">
            <a:off x="2921000" y="1927225"/>
            <a:ext cx="1082675" cy="1431925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ChangeArrowheads="1"/>
          </p:cNvSpPr>
          <p:nvPr/>
        </p:nvSpPr>
        <p:spPr bwMode="auto">
          <a:xfrm>
            <a:off x="1190625" y="401638"/>
            <a:ext cx="7291388" cy="557688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lIns="93670" tIns="46834" rIns="93670" bIns="46834" anchor="ctr"/>
          <a:lstStyle/>
          <a:p>
            <a:pPr defTabSz="819150" eaLnBrk="0" hangingPunct="0"/>
            <a:endParaRPr lang="en-US" sz="4600">
              <a:latin typeface="Arial Narrow" pitchFamily="34" charset="0"/>
            </a:endParaRPr>
          </a:p>
        </p:txBody>
      </p:sp>
      <p:sp>
        <p:nvSpPr>
          <p:cNvPr id="26627" name="Rectangle 5"/>
          <p:cNvSpPr>
            <a:spLocks noChangeArrowheads="1"/>
          </p:cNvSpPr>
          <p:nvPr/>
        </p:nvSpPr>
        <p:spPr bwMode="auto">
          <a:xfrm>
            <a:off x="1190625" y="5289550"/>
            <a:ext cx="7291388" cy="731838"/>
          </a:xfrm>
          <a:prstGeom prst="rect">
            <a:avLst/>
          </a:prstGeom>
          <a:solidFill>
            <a:srgbClr val="0099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8902" name="Text Box 6"/>
          <p:cNvSpPr txBox="1">
            <a:spLocks noChangeArrowheads="1"/>
          </p:cNvSpPr>
          <p:nvPr/>
        </p:nvSpPr>
        <p:spPr bwMode="auto">
          <a:xfrm>
            <a:off x="1354138" y="2470150"/>
            <a:ext cx="3582987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2"/>
            </a:outerShdw>
          </a:effectLst>
        </p:spPr>
        <p:txBody>
          <a:bodyPr lIns="81981" tIns="40989" rIns="81981" bIns="40989">
            <a:spAutoFit/>
          </a:bodyPr>
          <a:lstStyle/>
          <a:p>
            <a:pPr defTabSz="819150" eaLnBrk="0" hangingPunct="0">
              <a:defRPr/>
            </a:pPr>
            <a:r>
              <a:rPr lang="en-US" sz="3900">
                <a:solidFill>
                  <a:srgbClr val="FF0000"/>
                </a:solidFill>
                <a:latin typeface="Arial Narrow" pitchFamily="34" charset="0"/>
              </a:rPr>
              <a:t>First Screen to allow only safe candidates follow tender</a:t>
            </a:r>
          </a:p>
        </p:txBody>
      </p:sp>
      <p:sp>
        <p:nvSpPr>
          <p:cNvPr id="26629" name="Rectangle 7"/>
          <p:cNvSpPr>
            <a:spLocks noChangeArrowheads="1"/>
          </p:cNvSpPr>
          <p:nvPr/>
        </p:nvSpPr>
        <p:spPr bwMode="auto">
          <a:xfrm>
            <a:off x="1190625" y="401638"/>
            <a:ext cx="7291388" cy="1651000"/>
          </a:xfrm>
          <a:prstGeom prst="rect">
            <a:avLst/>
          </a:prstGeom>
          <a:solidFill>
            <a:srgbClr val="009900"/>
          </a:solidFill>
          <a:ln w="9525">
            <a:noFill/>
            <a:miter lim="800000"/>
            <a:headEnd/>
            <a:tailEnd/>
          </a:ln>
        </p:spPr>
        <p:txBody>
          <a:bodyPr wrap="none" lIns="93670" tIns="46834" rIns="93670" bIns="46834" anchor="ctr"/>
          <a:lstStyle/>
          <a:p>
            <a:pPr defTabSz="819150" eaLnBrk="0" hangingPunct="0"/>
            <a:endParaRPr lang="en-US" sz="4600">
              <a:latin typeface="Arial Narrow" pitchFamily="34" charset="0"/>
            </a:endParaRPr>
          </a:p>
        </p:txBody>
      </p:sp>
      <p:grpSp>
        <p:nvGrpSpPr>
          <p:cNvPr id="26630" name="Group 8"/>
          <p:cNvGrpSpPr>
            <a:grpSpLocks/>
          </p:cNvGrpSpPr>
          <p:nvPr/>
        </p:nvGrpSpPr>
        <p:grpSpPr bwMode="auto">
          <a:xfrm>
            <a:off x="1255713" y="642938"/>
            <a:ext cx="1173162" cy="1169987"/>
            <a:chOff x="8574" y="8928"/>
            <a:chExt cx="764" cy="779"/>
          </a:xfrm>
        </p:grpSpPr>
        <p:grpSp>
          <p:nvGrpSpPr>
            <p:cNvPr id="26767" name="Group 9"/>
            <p:cNvGrpSpPr>
              <a:grpSpLocks/>
            </p:cNvGrpSpPr>
            <p:nvPr/>
          </p:nvGrpSpPr>
          <p:grpSpPr bwMode="auto">
            <a:xfrm>
              <a:off x="8781" y="9130"/>
              <a:ext cx="352" cy="577"/>
              <a:chOff x="8781" y="9130"/>
              <a:chExt cx="352" cy="577"/>
            </a:xfrm>
          </p:grpSpPr>
          <p:sp>
            <p:nvSpPr>
              <p:cNvPr id="26903" name="Freeform 10"/>
              <p:cNvSpPr>
                <a:spLocks/>
              </p:cNvSpPr>
              <p:nvPr/>
            </p:nvSpPr>
            <p:spPr bwMode="auto">
              <a:xfrm>
                <a:off x="8951" y="9664"/>
                <a:ext cx="16" cy="17"/>
              </a:xfrm>
              <a:custGeom>
                <a:avLst/>
                <a:gdLst>
                  <a:gd name="T0" fmla="*/ 17 w 34"/>
                  <a:gd name="T1" fmla="*/ 34 h 34"/>
                  <a:gd name="T2" fmla="*/ 23 w 34"/>
                  <a:gd name="T3" fmla="*/ 32 h 34"/>
                  <a:gd name="T4" fmla="*/ 29 w 34"/>
                  <a:gd name="T5" fmla="*/ 29 h 34"/>
                  <a:gd name="T6" fmla="*/ 32 w 34"/>
                  <a:gd name="T7" fmla="*/ 23 h 34"/>
                  <a:gd name="T8" fmla="*/ 34 w 34"/>
                  <a:gd name="T9" fmla="*/ 17 h 34"/>
                  <a:gd name="T10" fmla="*/ 32 w 34"/>
                  <a:gd name="T11" fmla="*/ 11 h 34"/>
                  <a:gd name="T12" fmla="*/ 29 w 34"/>
                  <a:gd name="T13" fmla="*/ 5 h 34"/>
                  <a:gd name="T14" fmla="*/ 23 w 34"/>
                  <a:gd name="T15" fmla="*/ 2 h 34"/>
                  <a:gd name="T16" fmla="*/ 17 w 34"/>
                  <a:gd name="T17" fmla="*/ 0 h 34"/>
                  <a:gd name="T18" fmla="*/ 9 w 34"/>
                  <a:gd name="T19" fmla="*/ 2 h 34"/>
                  <a:gd name="T20" fmla="*/ 5 w 34"/>
                  <a:gd name="T21" fmla="*/ 5 h 34"/>
                  <a:gd name="T22" fmla="*/ 2 w 34"/>
                  <a:gd name="T23" fmla="*/ 11 h 34"/>
                  <a:gd name="T24" fmla="*/ 0 w 34"/>
                  <a:gd name="T25" fmla="*/ 17 h 34"/>
                  <a:gd name="T26" fmla="*/ 2 w 34"/>
                  <a:gd name="T27" fmla="*/ 23 h 34"/>
                  <a:gd name="T28" fmla="*/ 5 w 34"/>
                  <a:gd name="T29" fmla="*/ 29 h 34"/>
                  <a:gd name="T30" fmla="*/ 9 w 34"/>
                  <a:gd name="T31" fmla="*/ 32 h 34"/>
                  <a:gd name="T32" fmla="*/ 17 w 34"/>
                  <a:gd name="T33" fmla="*/ 34 h 3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4"/>
                  <a:gd name="T52" fmla="*/ 0 h 34"/>
                  <a:gd name="T53" fmla="*/ 34 w 34"/>
                  <a:gd name="T54" fmla="*/ 34 h 3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4" h="34">
                    <a:moveTo>
                      <a:pt x="17" y="34"/>
                    </a:moveTo>
                    <a:lnTo>
                      <a:pt x="23" y="32"/>
                    </a:lnTo>
                    <a:lnTo>
                      <a:pt x="29" y="29"/>
                    </a:lnTo>
                    <a:lnTo>
                      <a:pt x="32" y="23"/>
                    </a:lnTo>
                    <a:lnTo>
                      <a:pt x="34" y="17"/>
                    </a:lnTo>
                    <a:lnTo>
                      <a:pt x="32" y="11"/>
                    </a:lnTo>
                    <a:lnTo>
                      <a:pt x="29" y="5"/>
                    </a:lnTo>
                    <a:lnTo>
                      <a:pt x="23" y="2"/>
                    </a:lnTo>
                    <a:lnTo>
                      <a:pt x="17" y="0"/>
                    </a:lnTo>
                    <a:lnTo>
                      <a:pt x="9" y="2"/>
                    </a:lnTo>
                    <a:lnTo>
                      <a:pt x="5" y="5"/>
                    </a:lnTo>
                    <a:lnTo>
                      <a:pt x="2" y="11"/>
                    </a:lnTo>
                    <a:lnTo>
                      <a:pt x="0" y="17"/>
                    </a:lnTo>
                    <a:lnTo>
                      <a:pt x="2" y="23"/>
                    </a:lnTo>
                    <a:lnTo>
                      <a:pt x="5" y="29"/>
                    </a:lnTo>
                    <a:lnTo>
                      <a:pt x="9" y="32"/>
                    </a:lnTo>
                    <a:lnTo>
                      <a:pt x="17" y="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04" name="Freeform 11"/>
              <p:cNvSpPr>
                <a:spLocks/>
              </p:cNvSpPr>
              <p:nvPr/>
            </p:nvSpPr>
            <p:spPr bwMode="auto">
              <a:xfrm>
                <a:off x="8941" y="9655"/>
                <a:ext cx="52" cy="52"/>
              </a:xfrm>
              <a:custGeom>
                <a:avLst/>
                <a:gdLst>
                  <a:gd name="T0" fmla="*/ 0 w 103"/>
                  <a:gd name="T1" fmla="*/ 35 h 103"/>
                  <a:gd name="T2" fmla="*/ 0 w 103"/>
                  <a:gd name="T3" fmla="*/ 35 h 103"/>
                  <a:gd name="T4" fmla="*/ 1 w 103"/>
                  <a:gd name="T5" fmla="*/ 24 h 103"/>
                  <a:gd name="T6" fmla="*/ 10 w 103"/>
                  <a:gd name="T7" fmla="*/ 11 h 103"/>
                  <a:gd name="T8" fmla="*/ 24 w 103"/>
                  <a:gd name="T9" fmla="*/ 2 h 103"/>
                  <a:gd name="T10" fmla="*/ 35 w 103"/>
                  <a:gd name="T11" fmla="*/ 0 h 103"/>
                  <a:gd name="T12" fmla="*/ 35 w 103"/>
                  <a:gd name="T13" fmla="*/ 103 h 103"/>
                  <a:gd name="T14" fmla="*/ 58 w 103"/>
                  <a:gd name="T15" fmla="*/ 99 h 103"/>
                  <a:gd name="T16" fmla="*/ 84 w 103"/>
                  <a:gd name="T17" fmla="*/ 84 h 103"/>
                  <a:gd name="T18" fmla="*/ 99 w 103"/>
                  <a:gd name="T19" fmla="*/ 58 h 103"/>
                  <a:gd name="T20" fmla="*/ 103 w 103"/>
                  <a:gd name="T21" fmla="*/ 35 h 103"/>
                  <a:gd name="T22" fmla="*/ 103 w 103"/>
                  <a:gd name="T23" fmla="*/ 35 h 103"/>
                  <a:gd name="T24" fmla="*/ 0 w 103"/>
                  <a:gd name="T25" fmla="*/ 35 h 10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3"/>
                  <a:gd name="T40" fmla="*/ 0 h 103"/>
                  <a:gd name="T41" fmla="*/ 103 w 103"/>
                  <a:gd name="T42" fmla="*/ 103 h 10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3" h="103">
                    <a:moveTo>
                      <a:pt x="0" y="35"/>
                    </a:moveTo>
                    <a:lnTo>
                      <a:pt x="0" y="35"/>
                    </a:lnTo>
                    <a:lnTo>
                      <a:pt x="1" y="24"/>
                    </a:lnTo>
                    <a:lnTo>
                      <a:pt x="10" y="11"/>
                    </a:lnTo>
                    <a:lnTo>
                      <a:pt x="24" y="2"/>
                    </a:lnTo>
                    <a:lnTo>
                      <a:pt x="35" y="0"/>
                    </a:lnTo>
                    <a:lnTo>
                      <a:pt x="35" y="103"/>
                    </a:lnTo>
                    <a:lnTo>
                      <a:pt x="58" y="99"/>
                    </a:lnTo>
                    <a:lnTo>
                      <a:pt x="84" y="84"/>
                    </a:lnTo>
                    <a:lnTo>
                      <a:pt x="99" y="58"/>
                    </a:lnTo>
                    <a:lnTo>
                      <a:pt x="103" y="35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05" name="Freeform 12"/>
              <p:cNvSpPr>
                <a:spLocks/>
              </p:cNvSpPr>
              <p:nvPr/>
            </p:nvSpPr>
            <p:spPr bwMode="auto">
              <a:xfrm>
                <a:off x="8941" y="9638"/>
                <a:ext cx="52" cy="52"/>
              </a:xfrm>
              <a:custGeom>
                <a:avLst/>
                <a:gdLst>
                  <a:gd name="T0" fmla="*/ 35 w 103"/>
                  <a:gd name="T1" fmla="*/ 103 h 103"/>
                  <a:gd name="T2" fmla="*/ 35 w 103"/>
                  <a:gd name="T3" fmla="*/ 103 h 103"/>
                  <a:gd name="T4" fmla="*/ 24 w 103"/>
                  <a:gd name="T5" fmla="*/ 102 h 103"/>
                  <a:gd name="T6" fmla="*/ 10 w 103"/>
                  <a:gd name="T7" fmla="*/ 92 h 103"/>
                  <a:gd name="T8" fmla="*/ 1 w 103"/>
                  <a:gd name="T9" fmla="*/ 79 h 103"/>
                  <a:gd name="T10" fmla="*/ 0 w 103"/>
                  <a:gd name="T11" fmla="*/ 68 h 103"/>
                  <a:gd name="T12" fmla="*/ 103 w 103"/>
                  <a:gd name="T13" fmla="*/ 68 h 103"/>
                  <a:gd name="T14" fmla="*/ 99 w 103"/>
                  <a:gd name="T15" fmla="*/ 45 h 103"/>
                  <a:gd name="T16" fmla="*/ 84 w 103"/>
                  <a:gd name="T17" fmla="*/ 19 h 103"/>
                  <a:gd name="T18" fmla="*/ 58 w 103"/>
                  <a:gd name="T19" fmla="*/ 4 h 103"/>
                  <a:gd name="T20" fmla="*/ 35 w 103"/>
                  <a:gd name="T21" fmla="*/ 0 h 103"/>
                  <a:gd name="T22" fmla="*/ 35 w 103"/>
                  <a:gd name="T23" fmla="*/ 0 h 103"/>
                  <a:gd name="T24" fmla="*/ 35 w 103"/>
                  <a:gd name="T25" fmla="*/ 103 h 10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3"/>
                  <a:gd name="T40" fmla="*/ 0 h 103"/>
                  <a:gd name="T41" fmla="*/ 103 w 103"/>
                  <a:gd name="T42" fmla="*/ 103 h 10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3" h="103">
                    <a:moveTo>
                      <a:pt x="35" y="103"/>
                    </a:moveTo>
                    <a:lnTo>
                      <a:pt x="35" y="103"/>
                    </a:lnTo>
                    <a:lnTo>
                      <a:pt x="24" y="102"/>
                    </a:lnTo>
                    <a:lnTo>
                      <a:pt x="10" y="92"/>
                    </a:lnTo>
                    <a:lnTo>
                      <a:pt x="1" y="79"/>
                    </a:lnTo>
                    <a:lnTo>
                      <a:pt x="0" y="68"/>
                    </a:lnTo>
                    <a:lnTo>
                      <a:pt x="103" y="68"/>
                    </a:lnTo>
                    <a:lnTo>
                      <a:pt x="99" y="45"/>
                    </a:lnTo>
                    <a:lnTo>
                      <a:pt x="84" y="19"/>
                    </a:lnTo>
                    <a:lnTo>
                      <a:pt x="58" y="4"/>
                    </a:lnTo>
                    <a:lnTo>
                      <a:pt x="35" y="0"/>
                    </a:lnTo>
                    <a:lnTo>
                      <a:pt x="35" y="10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06" name="Freeform 13"/>
              <p:cNvSpPr>
                <a:spLocks/>
              </p:cNvSpPr>
              <p:nvPr/>
            </p:nvSpPr>
            <p:spPr bwMode="auto">
              <a:xfrm>
                <a:off x="8925" y="9638"/>
                <a:ext cx="51" cy="52"/>
              </a:xfrm>
              <a:custGeom>
                <a:avLst/>
                <a:gdLst>
                  <a:gd name="T0" fmla="*/ 104 w 104"/>
                  <a:gd name="T1" fmla="*/ 68 h 103"/>
                  <a:gd name="T2" fmla="*/ 104 w 104"/>
                  <a:gd name="T3" fmla="*/ 68 h 103"/>
                  <a:gd name="T4" fmla="*/ 102 w 104"/>
                  <a:gd name="T5" fmla="*/ 79 h 103"/>
                  <a:gd name="T6" fmla="*/ 96 w 104"/>
                  <a:gd name="T7" fmla="*/ 88 h 103"/>
                  <a:gd name="T8" fmla="*/ 78 w 104"/>
                  <a:gd name="T9" fmla="*/ 102 h 103"/>
                  <a:gd name="T10" fmla="*/ 69 w 104"/>
                  <a:gd name="T11" fmla="*/ 103 h 103"/>
                  <a:gd name="T12" fmla="*/ 69 w 104"/>
                  <a:gd name="T13" fmla="*/ 0 h 103"/>
                  <a:gd name="T14" fmla="*/ 44 w 104"/>
                  <a:gd name="T15" fmla="*/ 4 h 103"/>
                  <a:gd name="T16" fmla="*/ 17 w 104"/>
                  <a:gd name="T17" fmla="*/ 24 h 103"/>
                  <a:gd name="T18" fmla="*/ 5 w 104"/>
                  <a:gd name="T19" fmla="*/ 45 h 103"/>
                  <a:gd name="T20" fmla="*/ 0 w 104"/>
                  <a:gd name="T21" fmla="*/ 68 h 103"/>
                  <a:gd name="T22" fmla="*/ 0 w 104"/>
                  <a:gd name="T23" fmla="*/ 68 h 103"/>
                  <a:gd name="T24" fmla="*/ 104 w 104"/>
                  <a:gd name="T25" fmla="*/ 68 h 10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4"/>
                  <a:gd name="T40" fmla="*/ 0 h 103"/>
                  <a:gd name="T41" fmla="*/ 104 w 104"/>
                  <a:gd name="T42" fmla="*/ 103 h 10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4" h="103">
                    <a:moveTo>
                      <a:pt x="104" y="68"/>
                    </a:moveTo>
                    <a:lnTo>
                      <a:pt x="104" y="68"/>
                    </a:lnTo>
                    <a:lnTo>
                      <a:pt x="102" y="79"/>
                    </a:lnTo>
                    <a:lnTo>
                      <a:pt x="96" y="88"/>
                    </a:lnTo>
                    <a:lnTo>
                      <a:pt x="78" y="102"/>
                    </a:lnTo>
                    <a:lnTo>
                      <a:pt x="69" y="103"/>
                    </a:lnTo>
                    <a:lnTo>
                      <a:pt x="69" y="0"/>
                    </a:lnTo>
                    <a:lnTo>
                      <a:pt x="44" y="4"/>
                    </a:lnTo>
                    <a:lnTo>
                      <a:pt x="17" y="24"/>
                    </a:lnTo>
                    <a:lnTo>
                      <a:pt x="5" y="45"/>
                    </a:lnTo>
                    <a:lnTo>
                      <a:pt x="0" y="68"/>
                    </a:lnTo>
                    <a:lnTo>
                      <a:pt x="104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07" name="Freeform 14"/>
              <p:cNvSpPr>
                <a:spLocks/>
              </p:cNvSpPr>
              <p:nvPr/>
            </p:nvSpPr>
            <p:spPr bwMode="auto">
              <a:xfrm>
                <a:off x="8925" y="9655"/>
                <a:ext cx="51" cy="52"/>
              </a:xfrm>
              <a:custGeom>
                <a:avLst/>
                <a:gdLst>
                  <a:gd name="T0" fmla="*/ 69 w 104"/>
                  <a:gd name="T1" fmla="*/ 0 h 103"/>
                  <a:gd name="T2" fmla="*/ 69 w 104"/>
                  <a:gd name="T3" fmla="*/ 0 h 103"/>
                  <a:gd name="T4" fmla="*/ 78 w 104"/>
                  <a:gd name="T5" fmla="*/ 2 h 103"/>
                  <a:gd name="T6" fmla="*/ 96 w 104"/>
                  <a:gd name="T7" fmla="*/ 15 h 103"/>
                  <a:gd name="T8" fmla="*/ 102 w 104"/>
                  <a:gd name="T9" fmla="*/ 24 h 103"/>
                  <a:gd name="T10" fmla="*/ 104 w 104"/>
                  <a:gd name="T11" fmla="*/ 35 h 103"/>
                  <a:gd name="T12" fmla="*/ 0 w 104"/>
                  <a:gd name="T13" fmla="*/ 35 h 103"/>
                  <a:gd name="T14" fmla="*/ 5 w 104"/>
                  <a:gd name="T15" fmla="*/ 58 h 103"/>
                  <a:gd name="T16" fmla="*/ 17 w 104"/>
                  <a:gd name="T17" fmla="*/ 79 h 103"/>
                  <a:gd name="T18" fmla="*/ 44 w 104"/>
                  <a:gd name="T19" fmla="*/ 99 h 103"/>
                  <a:gd name="T20" fmla="*/ 69 w 104"/>
                  <a:gd name="T21" fmla="*/ 103 h 103"/>
                  <a:gd name="T22" fmla="*/ 69 w 104"/>
                  <a:gd name="T23" fmla="*/ 103 h 103"/>
                  <a:gd name="T24" fmla="*/ 69 w 104"/>
                  <a:gd name="T25" fmla="*/ 0 h 10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4"/>
                  <a:gd name="T40" fmla="*/ 0 h 103"/>
                  <a:gd name="T41" fmla="*/ 104 w 104"/>
                  <a:gd name="T42" fmla="*/ 103 h 10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4" h="103">
                    <a:moveTo>
                      <a:pt x="69" y="0"/>
                    </a:moveTo>
                    <a:lnTo>
                      <a:pt x="69" y="0"/>
                    </a:lnTo>
                    <a:lnTo>
                      <a:pt x="78" y="2"/>
                    </a:lnTo>
                    <a:lnTo>
                      <a:pt x="96" y="15"/>
                    </a:lnTo>
                    <a:lnTo>
                      <a:pt x="102" y="24"/>
                    </a:lnTo>
                    <a:lnTo>
                      <a:pt x="104" y="35"/>
                    </a:lnTo>
                    <a:lnTo>
                      <a:pt x="0" y="35"/>
                    </a:lnTo>
                    <a:lnTo>
                      <a:pt x="5" y="58"/>
                    </a:lnTo>
                    <a:lnTo>
                      <a:pt x="17" y="79"/>
                    </a:lnTo>
                    <a:lnTo>
                      <a:pt x="44" y="99"/>
                    </a:lnTo>
                    <a:lnTo>
                      <a:pt x="69" y="103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08" name="Freeform 15"/>
              <p:cNvSpPr>
                <a:spLocks/>
              </p:cNvSpPr>
              <p:nvPr/>
            </p:nvSpPr>
            <p:spPr bwMode="auto">
              <a:xfrm>
                <a:off x="8951" y="9664"/>
                <a:ext cx="16" cy="17"/>
              </a:xfrm>
              <a:custGeom>
                <a:avLst/>
                <a:gdLst>
                  <a:gd name="T0" fmla="*/ 17 w 34"/>
                  <a:gd name="T1" fmla="*/ 34 h 34"/>
                  <a:gd name="T2" fmla="*/ 23 w 34"/>
                  <a:gd name="T3" fmla="*/ 32 h 34"/>
                  <a:gd name="T4" fmla="*/ 29 w 34"/>
                  <a:gd name="T5" fmla="*/ 29 h 34"/>
                  <a:gd name="T6" fmla="*/ 32 w 34"/>
                  <a:gd name="T7" fmla="*/ 23 h 34"/>
                  <a:gd name="T8" fmla="*/ 34 w 34"/>
                  <a:gd name="T9" fmla="*/ 17 h 34"/>
                  <a:gd name="T10" fmla="*/ 32 w 34"/>
                  <a:gd name="T11" fmla="*/ 11 h 34"/>
                  <a:gd name="T12" fmla="*/ 29 w 34"/>
                  <a:gd name="T13" fmla="*/ 5 h 34"/>
                  <a:gd name="T14" fmla="*/ 23 w 34"/>
                  <a:gd name="T15" fmla="*/ 2 h 34"/>
                  <a:gd name="T16" fmla="*/ 17 w 34"/>
                  <a:gd name="T17" fmla="*/ 0 h 34"/>
                  <a:gd name="T18" fmla="*/ 9 w 34"/>
                  <a:gd name="T19" fmla="*/ 2 h 34"/>
                  <a:gd name="T20" fmla="*/ 5 w 34"/>
                  <a:gd name="T21" fmla="*/ 5 h 34"/>
                  <a:gd name="T22" fmla="*/ 2 w 34"/>
                  <a:gd name="T23" fmla="*/ 11 h 34"/>
                  <a:gd name="T24" fmla="*/ 0 w 34"/>
                  <a:gd name="T25" fmla="*/ 17 h 34"/>
                  <a:gd name="T26" fmla="*/ 2 w 34"/>
                  <a:gd name="T27" fmla="*/ 23 h 34"/>
                  <a:gd name="T28" fmla="*/ 5 w 34"/>
                  <a:gd name="T29" fmla="*/ 29 h 34"/>
                  <a:gd name="T30" fmla="*/ 9 w 34"/>
                  <a:gd name="T31" fmla="*/ 32 h 34"/>
                  <a:gd name="T32" fmla="*/ 17 w 34"/>
                  <a:gd name="T33" fmla="*/ 34 h 3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4"/>
                  <a:gd name="T52" fmla="*/ 0 h 34"/>
                  <a:gd name="T53" fmla="*/ 34 w 34"/>
                  <a:gd name="T54" fmla="*/ 34 h 3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4" h="34">
                    <a:moveTo>
                      <a:pt x="17" y="34"/>
                    </a:moveTo>
                    <a:lnTo>
                      <a:pt x="23" y="32"/>
                    </a:lnTo>
                    <a:lnTo>
                      <a:pt x="29" y="29"/>
                    </a:lnTo>
                    <a:lnTo>
                      <a:pt x="32" y="23"/>
                    </a:lnTo>
                    <a:lnTo>
                      <a:pt x="34" y="17"/>
                    </a:lnTo>
                    <a:lnTo>
                      <a:pt x="32" y="11"/>
                    </a:lnTo>
                    <a:lnTo>
                      <a:pt x="29" y="5"/>
                    </a:lnTo>
                    <a:lnTo>
                      <a:pt x="23" y="2"/>
                    </a:lnTo>
                    <a:lnTo>
                      <a:pt x="17" y="0"/>
                    </a:lnTo>
                    <a:lnTo>
                      <a:pt x="9" y="2"/>
                    </a:lnTo>
                    <a:lnTo>
                      <a:pt x="5" y="5"/>
                    </a:lnTo>
                    <a:lnTo>
                      <a:pt x="2" y="11"/>
                    </a:lnTo>
                    <a:lnTo>
                      <a:pt x="0" y="17"/>
                    </a:lnTo>
                    <a:lnTo>
                      <a:pt x="2" y="23"/>
                    </a:lnTo>
                    <a:lnTo>
                      <a:pt x="5" y="29"/>
                    </a:lnTo>
                    <a:lnTo>
                      <a:pt x="9" y="32"/>
                    </a:lnTo>
                    <a:lnTo>
                      <a:pt x="17" y="34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09" name="Freeform 16"/>
              <p:cNvSpPr>
                <a:spLocks/>
              </p:cNvSpPr>
              <p:nvPr/>
            </p:nvSpPr>
            <p:spPr bwMode="auto">
              <a:xfrm>
                <a:off x="8958" y="9672"/>
                <a:ext cx="18" cy="18"/>
              </a:xfrm>
              <a:custGeom>
                <a:avLst/>
                <a:gdLst>
                  <a:gd name="T0" fmla="*/ 0 w 37"/>
                  <a:gd name="T1" fmla="*/ 1 h 36"/>
                  <a:gd name="T2" fmla="*/ 0 w 37"/>
                  <a:gd name="T3" fmla="*/ 1 h 36"/>
                  <a:gd name="T4" fmla="*/ 0 w 37"/>
                  <a:gd name="T5" fmla="*/ 1 h 36"/>
                  <a:gd name="T6" fmla="*/ 2 w 37"/>
                  <a:gd name="T7" fmla="*/ 1 h 36"/>
                  <a:gd name="T8" fmla="*/ 2 w 37"/>
                  <a:gd name="T9" fmla="*/ 0 h 36"/>
                  <a:gd name="T10" fmla="*/ 2 w 37"/>
                  <a:gd name="T11" fmla="*/ 0 h 36"/>
                  <a:gd name="T12" fmla="*/ 2 w 37"/>
                  <a:gd name="T13" fmla="*/ 36 h 36"/>
                  <a:gd name="T14" fmla="*/ 14 w 37"/>
                  <a:gd name="T15" fmla="*/ 33 h 36"/>
                  <a:gd name="T16" fmla="*/ 26 w 37"/>
                  <a:gd name="T17" fmla="*/ 25 h 36"/>
                  <a:gd name="T18" fmla="*/ 34 w 37"/>
                  <a:gd name="T19" fmla="*/ 13 h 36"/>
                  <a:gd name="T20" fmla="*/ 37 w 37"/>
                  <a:gd name="T21" fmla="*/ 1 h 36"/>
                  <a:gd name="T22" fmla="*/ 37 w 37"/>
                  <a:gd name="T23" fmla="*/ 1 h 36"/>
                  <a:gd name="T24" fmla="*/ 0 w 37"/>
                  <a:gd name="T25" fmla="*/ 1 h 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7"/>
                  <a:gd name="T40" fmla="*/ 0 h 36"/>
                  <a:gd name="T41" fmla="*/ 37 w 37"/>
                  <a:gd name="T42" fmla="*/ 36 h 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7" h="36">
                    <a:moveTo>
                      <a:pt x="0" y="1"/>
                    </a:moveTo>
                    <a:lnTo>
                      <a:pt x="0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36"/>
                    </a:lnTo>
                    <a:lnTo>
                      <a:pt x="14" y="33"/>
                    </a:lnTo>
                    <a:lnTo>
                      <a:pt x="26" y="25"/>
                    </a:lnTo>
                    <a:lnTo>
                      <a:pt x="34" y="13"/>
                    </a:lnTo>
                    <a:lnTo>
                      <a:pt x="3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10" name="Freeform 17"/>
              <p:cNvSpPr>
                <a:spLocks/>
              </p:cNvSpPr>
              <p:nvPr/>
            </p:nvSpPr>
            <p:spPr bwMode="auto">
              <a:xfrm>
                <a:off x="8958" y="9655"/>
                <a:ext cx="18" cy="18"/>
              </a:xfrm>
              <a:custGeom>
                <a:avLst/>
                <a:gdLst>
                  <a:gd name="T0" fmla="*/ 2 w 37"/>
                  <a:gd name="T1" fmla="*/ 37 h 37"/>
                  <a:gd name="T2" fmla="*/ 2 w 37"/>
                  <a:gd name="T3" fmla="*/ 37 h 37"/>
                  <a:gd name="T4" fmla="*/ 2 w 37"/>
                  <a:gd name="T5" fmla="*/ 37 h 37"/>
                  <a:gd name="T6" fmla="*/ 2 w 37"/>
                  <a:gd name="T7" fmla="*/ 35 h 37"/>
                  <a:gd name="T8" fmla="*/ 0 w 37"/>
                  <a:gd name="T9" fmla="*/ 35 h 37"/>
                  <a:gd name="T10" fmla="*/ 0 w 37"/>
                  <a:gd name="T11" fmla="*/ 35 h 37"/>
                  <a:gd name="T12" fmla="*/ 37 w 37"/>
                  <a:gd name="T13" fmla="*/ 35 h 37"/>
                  <a:gd name="T14" fmla="*/ 34 w 37"/>
                  <a:gd name="T15" fmla="*/ 23 h 37"/>
                  <a:gd name="T16" fmla="*/ 26 w 37"/>
                  <a:gd name="T17" fmla="*/ 11 h 37"/>
                  <a:gd name="T18" fmla="*/ 14 w 37"/>
                  <a:gd name="T19" fmla="*/ 3 h 37"/>
                  <a:gd name="T20" fmla="*/ 2 w 37"/>
                  <a:gd name="T21" fmla="*/ 0 h 37"/>
                  <a:gd name="T22" fmla="*/ 2 w 37"/>
                  <a:gd name="T23" fmla="*/ 0 h 37"/>
                  <a:gd name="T24" fmla="*/ 2 w 37"/>
                  <a:gd name="T25" fmla="*/ 37 h 3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7"/>
                  <a:gd name="T40" fmla="*/ 0 h 37"/>
                  <a:gd name="T41" fmla="*/ 37 w 37"/>
                  <a:gd name="T42" fmla="*/ 37 h 3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7" h="37">
                    <a:moveTo>
                      <a:pt x="2" y="37"/>
                    </a:moveTo>
                    <a:lnTo>
                      <a:pt x="2" y="37"/>
                    </a:lnTo>
                    <a:lnTo>
                      <a:pt x="2" y="35"/>
                    </a:lnTo>
                    <a:lnTo>
                      <a:pt x="0" y="35"/>
                    </a:lnTo>
                    <a:lnTo>
                      <a:pt x="37" y="35"/>
                    </a:lnTo>
                    <a:lnTo>
                      <a:pt x="34" y="23"/>
                    </a:lnTo>
                    <a:lnTo>
                      <a:pt x="26" y="11"/>
                    </a:lnTo>
                    <a:lnTo>
                      <a:pt x="14" y="3"/>
                    </a:lnTo>
                    <a:lnTo>
                      <a:pt x="2" y="0"/>
                    </a:lnTo>
                    <a:lnTo>
                      <a:pt x="2" y="3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11" name="Freeform 18"/>
              <p:cNvSpPr>
                <a:spLocks/>
              </p:cNvSpPr>
              <p:nvPr/>
            </p:nvSpPr>
            <p:spPr bwMode="auto">
              <a:xfrm>
                <a:off x="8941" y="9655"/>
                <a:ext cx="19" cy="18"/>
              </a:xfrm>
              <a:custGeom>
                <a:avLst/>
                <a:gdLst>
                  <a:gd name="T0" fmla="*/ 36 w 36"/>
                  <a:gd name="T1" fmla="*/ 35 h 37"/>
                  <a:gd name="T2" fmla="*/ 36 w 36"/>
                  <a:gd name="T3" fmla="*/ 35 h 37"/>
                  <a:gd name="T4" fmla="*/ 36 w 36"/>
                  <a:gd name="T5" fmla="*/ 35 h 37"/>
                  <a:gd name="T6" fmla="*/ 36 w 36"/>
                  <a:gd name="T7" fmla="*/ 34 h 37"/>
                  <a:gd name="T8" fmla="*/ 33 w 36"/>
                  <a:gd name="T9" fmla="*/ 37 h 37"/>
                  <a:gd name="T10" fmla="*/ 35 w 36"/>
                  <a:gd name="T11" fmla="*/ 37 h 37"/>
                  <a:gd name="T12" fmla="*/ 35 w 36"/>
                  <a:gd name="T13" fmla="*/ 0 h 37"/>
                  <a:gd name="T14" fmla="*/ 21 w 36"/>
                  <a:gd name="T15" fmla="*/ 3 h 37"/>
                  <a:gd name="T16" fmla="*/ 9 w 36"/>
                  <a:gd name="T17" fmla="*/ 12 h 37"/>
                  <a:gd name="T18" fmla="*/ 3 w 36"/>
                  <a:gd name="T19" fmla="*/ 23 h 37"/>
                  <a:gd name="T20" fmla="*/ 0 w 36"/>
                  <a:gd name="T21" fmla="*/ 35 h 37"/>
                  <a:gd name="T22" fmla="*/ 0 w 36"/>
                  <a:gd name="T23" fmla="*/ 35 h 37"/>
                  <a:gd name="T24" fmla="*/ 36 w 36"/>
                  <a:gd name="T25" fmla="*/ 35 h 3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6"/>
                  <a:gd name="T40" fmla="*/ 0 h 37"/>
                  <a:gd name="T41" fmla="*/ 36 w 36"/>
                  <a:gd name="T42" fmla="*/ 37 h 3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6" h="37">
                    <a:moveTo>
                      <a:pt x="36" y="35"/>
                    </a:moveTo>
                    <a:lnTo>
                      <a:pt x="36" y="35"/>
                    </a:lnTo>
                    <a:lnTo>
                      <a:pt x="36" y="34"/>
                    </a:lnTo>
                    <a:lnTo>
                      <a:pt x="33" y="37"/>
                    </a:lnTo>
                    <a:lnTo>
                      <a:pt x="35" y="37"/>
                    </a:lnTo>
                    <a:lnTo>
                      <a:pt x="35" y="0"/>
                    </a:lnTo>
                    <a:lnTo>
                      <a:pt x="21" y="3"/>
                    </a:lnTo>
                    <a:lnTo>
                      <a:pt x="9" y="12"/>
                    </a:lnTo>
                    <a:lnTo>
                      <a:pt x="3" y="23"/>
                    </a:lnTo>
                    <a:lnTo>
                      <a:pt x="0" y="35"/>
                    </a:lnTo>
                    <a:lnTo>
                      <a:pt x="36" y="3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12" name="Freeform 19"/>
              <p:cNvSpPr>
                <a:spLocks/>
              </p:cNvSpPr>
              <p:nvPr/>
            </p:nvSpPr>
            <p:spPr bwMode="auto">
              <a:xfrm>
                <a:off x="8941" y="9672"/>
                <a:ext cx="19" cy="18"/>
              </a:xfrm>
              <a:custGeom>
                <a:avLst/>
                <a:gdLst>
                  <a:gd name="T0" fmla="*/ 35 w 36"/>
                  <a:gd name="T1" fmla="*/ 0 h 36"/>
                  <a:gd name="T2" fmla="*/ 35 w 36"/>
                  <a:gd name="T3" fmla="*/ 0 h 36"/>
                  <a:gd name="T4" fmla="*/ 33 w 36"/>
                  <a:gd name="T5" fmla="*/ 0 h 36"/>
                  <a:gd name="T6" fmla="*/ 36 w 36"/>
                  <a:gd name="T7" fmla="*/ 3 h 36"/>
                  <a:gd name="T8" fmla="*/ 36 w 36"/>
                  <a:gd name="T9" fmla="*/ 1 h 36"/>
                  <a:gd name="T10" fmla="*/ 36 w 36"/>
                  <a:gd name="T11" fmla="*/ 1 h 36"/>
                  <a:gd name="T12" fmla="*/ 0 w 36"/>
                  <a:gd name="T13" fmla="*/ 1 h 36"/>
                  <a:gd name="T14" fmla="*/ 3 w 36"/>
                  <a:gd name="T15" fmla="*/ 13 h 36"/>
                  <a:gd name="T16" fmla="*/ 9 w 36"/>
                  <a:gd name="T17" fmla="*/ 24 h 36"/>
                  <a:gd name="T18" fmla="*/ 21 w 36"/>
                  <a:gd name="T19" fmla="*/ 33 h 36"/>
                  <a:gd name="T20" fmla="*/ 35 w 36"/>
                  <a:gd name="T21" fmla="*/ 36 h 36"/>
                  <a:gd name="T22" fmla="*/ 35 w 36"/>
                  <a:gd name="T23" fmla="*/ 36 h 36"/>
                  <a:gd name="T24" fmla="*/ 35 w 36"/>
                  <a:gd name="T25" fmla="*/ 0 h 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6"/>
                  <a:gd name="T40" fmla="*/ 0 h 36"/>
                  <a:gd name="T41" fmla="*/ 36 w 36"/>
                  <a:gd name="T42" fmla="*/ 36 h 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6" h="36">
                    <a:moveTo>
                      <a:pt x="35" y="0"/>
                    </a:moveTo>
                    <a:lnTo>
                      <a:pt x="35" y="0"/>
                    </a:lnTo>
                    <a:lnTo>
                      <a:pt x="33" y="0"/>
                    </a:lnTo>
                    <a:lnTo>
                      <a:pt x="36" y="3"/>
                    </a:lnTo>
                    <a:lnTo>
                      <a:pt x="36" y="1"/>
                    </a:lnTo>
                    <a:lnTo>
                      <a:pt x="0" y="1"/>
                    </a:lnTo>
                    <a:lnTo>
                      <a:pt x="3" y="13"/>
                    </a:lnTo>
                    <a:lnTo>
                      <a:pt x="9" y="24"/>
                    </a:lnTo>
                    <a:lnTo>
                      <a:pt x="21" y="33"/>
                    </a:lnTo>
                    <a:lnTo>
                      <a:pt x="35" y="36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13" name="Freeform 20"/>
              <p:cNvSpPr>
                <a:spLocks/>
              </p:cNvSpPr>
              <p:nvPr/>
            </p:nvSpPr>
            <p:spPr bwMode="auto">
              <a:xfrm>
                <a:off x="8802" y="9151"/>
                <a:ext cx="309" cy="389"/>
              </a:xfrm>
              <a:custGeom>
                <a:avLst/>
                <a:gdLst>
                  <a:gd name="T0" fmla="*/ 417 w 618"/>
                  <a:gd name="T1" fmla="*/ 722 h 779"/>
                  <a:gd name="T2" fmla="*/ 442 w 618"/>
                  <a:gd name="T3" fmla="*/ 636 h 779"/>
                  <a:gd name="T4" fmla="*/ 481 w 618"/>
                  <a:gd name="T5" fmla="*/ 575 h 779"/>
                  <a:gd name="T6" fmla="*/ 517 w 618"/>
                  <a:gd name="T7" fmla="*/ 537 h 779"/>
                  <a:gd name="T8" fmla="*/ 551 w 618"/>
                  <a:gd name="T9" fmla="*/ 502 h 779"/>
                  <a:gd name="T10" fmla="*/ 583 w 618"/>
                  <a:gd name="T11" fmla="*/ 453 h 779"/>
                  <a:gd name="T12" fmla="*/ 604 w 618"/>
                  <a:gd name="T13" fmla="*/ 398 h 779"/>
                  <a:gd name="T14" fmla="*/ 616 w 618"/>
                  <a:gd name="T15" fmla="*/ 339 h 779"/>
                  <a:gd name="T16" fmla="*/ 616 w 618"/>
                  <a:gd name="T17" fmla="*/ 277 h 779"/>
                  <a:gd name="T18" fmla="*/ 604 w 618"/>
                  <a:gd name="T19" fmla="*/ 218 h 779"/>
                  <a:gd name="T20" fmla="*/ 581 w 618"/>
                  <a:gd name="T21" fmla="*/ 161 h 779"/>
                  <a:gd name="T22" fmla="*/ 548 w 618"/>
                  <a:gd name="T23" fmla="*/ 113 h 779"/>
                  <a:gd name="T24" fmla="*/ 505 w 618"/>
                  <a:gd name="T25" fmla="*/ 70 h 779"/>
                  <a:gd name="T26" fmla="*/ 456 w 618"/>
                  <a:gd name="T27" fmla="*/ 38 h 779"/>
                  <a:gd name="T28" fmla="*/ 401 w 618"/>
                  <a:gd name="T29" fmla="*/ 14 h 779"/>
                  <a:gd name="T30" fmla="*/ 342 w 618"/>
                  <a:gd name="T31" fmla="*/ 2 h 779"/>
                  <a:gd name="T32" fmla="*/ 278 w 618"/>
                  <a:gd name="T33" fmla="*/ 2 h 779"/>
                  <a:gd name="T34" fmla="*/ 218 w 618"/>
                  <a:gd name="T35" fmla="*/ 14 h 779"/>
                  <a:gd name="T36" fmla="*/ 162 w 618"/>
                  <a:gd name="T37" fmla="*/ 38 h 779"/>
                  <a:gd name="T38" fmla="*/ 113 w 618"/>
                  <a:gd name="T39" fmla="*/ 70 h 779"/>
                  <a:gd name="T40" fmla="*/ 70 w 618"/>
                  <a:gd name="T41" fmla="*/ 113 h 779"/>
                  <a:gd name="T42" fmla="*/ 38 w 618"/>
                  <a:gd name="T43" fmla="*/ 161 h 779"/>
                  <a:gd name="T44" fmla="*/ 14 w 618"/>
                  <a:gd name="T45" fmla="*/ 218 h 779"/>
                  <a:gd name="T46" fmla="*/ 2 w 618"/>
                  <a:gd name="T47" fmla="*/ 277 h 779"/>
                  <a:gd name="T48" fmla="*/ 2 w 618"/>
                  <a:gd name="T49" fmla="*/ 339 h 779"/>
                  <a:gd name="T50" fmla="*/ 14 w 618"/>
                  <a:gd name="T51" fmla="*/ 398 h 779"/>
                  <a:gd name="T52" fmla="*/ 37 w 618"/>
                  <a:gd name="T53" fmla="*/ 453 h 779"/>
                  <a:gd name="T54" fmla="*/ 69 w 618"/>
                  <a:gd name="T55" fmla="*/ 502 h 779"/>
                  <a:gd name="T56" fmla="*/ 101 w 618"/>
                  <a:gd name="T57" fmla="*/ 537 h 779"/>
                  <a:gd name="T58" fmla="*/ 137 w 618"/>
                  <a:gd name="T59" fmla="*/ 575 h 779"/>
                  <a:gd name="T60" fmla="*/ 175 w 618"/>
                  <a:gd name="T61" fmla="*/ 636 h 779"/>
                  <a:gd name="T62" fmla="*/ 201 w 618"/>
                  <a:gd name="T63" fmla="*/ 722 h 779"/>
                  <a:gd name="T64" fmla="*/ 414 w 618"/>
                  <a:gd name="T65" fmla="*/ 779 h 77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18"/>
                  <a:gd name="T100" fmla="*/ 0 h 779"/>
                  <a:gd name="T101" fmla="*/ 618 w 618"/>
                  <a:gd name="T102" fmla="*/ 779 h 77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18" h="779">
                    <a:moveTo>
                      <a:pt x="414" y="779"/>
                    </a:moveTo>
                    <a:lnTo>
                      <a:pt x="417" y="722"/>
                    </a:lnTo>
                    <a:lnTo>
                      <a:pt x="427" y="675"/>
                    </a:lnTo>
                    <a:lnTo>
                      <a:pt x="442" y="636"/>
                    </a:lnTo>
                    <a:lnTo>
                      <a:pt x="461" y="602"/>
                    </a:lnTo>
                    <a:lnTo>
                      <a:pt x="481" y="575"/>
                    </a:lnTo>
                    <a:lnTo>
                      <a:pt x="500" y="554"/>
                    </a:lnTo>
                    <a:lnTo>
                      <a:pt x="517" y="537"/>
                    </a:lnTo>
                    <a:lnTo>
                      <a:pt x="531" y="523"/>
                    </a:lnTo>
                    <a:lnTo>
                      <a:pt x="551" y="502"/>
                    </a:lnTo>
                    <a:lnTo>
                      <a:pt x="568" y="479"/>
                    </a:lnTo>
                    <a:lnTo>
                      <a:pt x="583" y="453"/>
                    </a:lnTo>
                    <a:lnTo>
                      <a:pt x="595" y="427"/>
                    </a:lnTo>
                    <a:lnTo>
                      <a:pt x="604" y="398"/>
                    </a:lnTo>
                    <a:lnTo>
                      <a:pt x="612" y="370"/>
                    </a:lnTo>
                    <a:lnTo>
                      <a:pt x="616" y="339"/>
                    </a:lnTo>
                    <a:lnTo>
                      <a:pt x="618" y="309"/>
                    </a:lnTo>
                    <a:lnTo>
                      <a:pt x="616" y="277"/>
                    </a:lnTo>
                    <a:lnTo>
                      <a:pt x="612" y="246"/>
                    </a:lnTo>
                    <a:lnTo>
                      <a:pt x="604" y="218"/>
                    </a:lnTo>
                    <a:lnTo>
                      <a:pt x="594" y="189"/>
                    </a:lnTo>
                    <a:lnTo>
                      <a:pt x="581" y="161"/>
                    </a:lnTo>
                    <a:lnTo>
                      <a:pt x="565" y="137"/>
                    </a:lnTo>
                    <a:lnTo>
                      <a:pt x="548" y="113"/>
                    </a:lnTo>
                    <a:lnTo>
                      <a:pt x="528" y="90"/>
                    </a:lnTo>
                    <a:lnTo>
                      <a:pt x="505" y="70"/>
                    </a:lnTo>
                    <a:lnTo>
                      <a:pt x="482" y="53"/>
                    </a:lnTo>
                    <a:lnTo>
                      <a:pt x="456" y="38"/>
                    </a:lnTo>
                    <a:lnTo>
                      <a:pt x="429" y="25"/>
                    </a:lnTo>
                    <a:lnTo>
                      <a:pt x="401" y="14"/>
                    </a:lnTo>
                    <a:lnTo>
                      <a:pt x="372" y="6"/>
                    </a:lnTo>
                    <a:lnTo>
                      <a:pt x="342" y="2"/>
                    </a:lnTo>
                    <a:lnTo>
                      <a:pt x="310" y="0"/>
                    </a:lnTo>
                    <a:lnTo>
                      <a:pt x="278" y="2"/>
                    </a:lnTo>
                    <a:lnTo>
                      <a:pt x="247" y="6"/>
                    </a:lnTo>
                    <a:lnTo>
                      <a:pt x="218" y="14"/>
                    </a:lnTo>
                    <a:lnTo>
                      <a:pt x="189" y="25"/>
                    </a:lnTo>
                    <a:lnTo>
                      <a:pt x="162" y="38"/>
                    </a:lnTo>
                    <a:lnTo>
                      <a:pt x="137" y="53"/>
                    </a:lnTo>
                    <a:lnTo>
                      <a:pt x="113" y="70"/>
                    </a:lnTo>
                    <a:lnTo>
                      <a:pt x="92" y="90"/>
                    </a:lnTo>
                    <a:lnTo>
                      <a:pt x="70" y="113"/>
                    </a:lnTo>
                    <a:lnTo>
                      <a:pt x="53" y="137"/>
                    </a:lnTo>
                    <a:lnTo>
                      <a:pt x="38" y="161"/>
                    </a:lnTo>
                    <a:lnTo>
                      <a:pt x="24" y="189"/>
                    </a:lnTo>
                    <a:lnTo>
                      <a:pt x="14" y="218"/>
                    </a:lnTo>
                    <a:lnTo>
                      <a:pt x="6" y="246"/>
                    </a:lnTo>
                    <a:lnTo>
                      <a:pt x="2" y="277"/>
                    </a:lnTo>
                    <a:lnTo>
                      <a:pt x="0" y="309"/>
                    </a:lnTo>
                    <a:lnTo>
                      <a:pt x="2" y="339"/>
                    </a:lnTo>
                    <a:lnTo>
                      <a:pt x="6" y="370"/>
                    </a:lnTo>
                    <a:lnTo>
                      <a:pt x="14" y="398"/>
                    </a:lnTo>
                    <a:lnTo>
                      <a:pt x="23" y="427"/>
                    </a:lnTo>
                    <a:lnTo>
                      <a:pt x="37" y="453"/>
                    </a:lnTo>
                    <a:lnTo>
                      <a:pt x="50" y="479"/>
                    </a:lnTo>
                    <a:lnTo>
                      <a:pt x="69" y="502"/>
                    </a:lnTo>
                    <a:lnTo>
                      <a:pt x="87" y="523"/>
                    </a:lnTo>
                    <a:lnTo>
                      <a:pt x="101" y="537"/>
                    </a:lnTo>
                    <a:lnTo>
                      <a:pt x="117" y="554"/>
                    </a:lnTo>
                    <a:lnTo>
                      <a:pt x="137" y="575"/>
                    </a:lnTo>
                    <a:lnTo>
                      <a:pt x="157" y="602"/>
                    </a:lnTo>
                    <a:lnTo>
                      <a:pt x="175" y="636"/>
                    </a:lnTo>
                    <a:lnTo>
                      <a:pt x="191" y="675"/>
                    </a:lnTo>
                    <a:lnTo>
                      <a:pt x="201" y="722"/>
                    </a:lnTo>
                    <a:lnTo>
                      <a:pt x="204" y="779"/>
                    </a:lnTo>
                    <a:lnTo>
                      <a:pt x="414" y="77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14" name="Freeform 21"/>
              <p:cNvSpPr>
                <a:spLocks/>
              </p:cNvSpPr>
              <p:nvPr/>
            </p:nvSpPr>
            <p:spPr bwMode="auto">
              <a:xfrm>
                <a:off x="8988" y="9398"/>
                <a:ext cx="94" cy="142"/>
              </a:xfrm>
              <a:custGeom>
                <a:avLst/>
                <a:gdLst>
                  <a:gd name="T0" fmla="*/ 131 w 189"/>
                  <a:gd name="T1" fmla="*/ 0 h 285"/>
                  <a:gd name="T2" fmla="*/ 131 w 189"/>
                  <a:gd name="T3" fmla="*/ 0 h 285"/>
                  <a:gd name="T4" fmla="*/ 117 w 189"/>
                  <a:gd name="T5" fmla="*/ 14 h 285"/>
                  <a:gd name="T6" fmla="*/ 99 w 189"/>
                  <a:gd name="T7" fmla="*/ 31 h 285"/>
                  <a:gd name="T8" fmla="*/ 78 w 189"/>
                  <a:gd name="T9" fmla="*/ 55 h 285"/>
                  <a:gd name="T10" fmla="*/ 55 w 189"/>
                  <a:gd name="T11" fmla="*/ 87 h 285"/>
                  <a:gd name="T12" fmla="*/ 33 w 189"/>
                  <a:gd name="T13" fmla="*/ 125 h 285"/>
                  <a:gd name="T14" fmla="*/ 17 w 189"/>
                  <a:gd name="T15" fmla="*/ 171 h 285"/>
                  <a:gd name="T16" fmla="*/ 4 w 189"/>
                  <a:gd name="T17" fmla="*/ 224 h 285"/>
                  <a:gd name="T18" fmla="*/ 0 w 189"/>
                  <a:gd name="T19" fmla="*/ 285 h 285"/>
                  <a:gd name="T20" fmla="*/ 85 w 189"/>
                  <a:gd name="T21" fmla="*/ 285 h 285"/>
                  <a:gd name="T22" fmla="*/ 87 w 189"/>
                  <a:gd name="T23" fmla="*/ 233 h 285"/>
                  <a:gd name="T24" fmla="*/ 96 w 189"/>
                  <a:gd name="T25" fmla="*/ 192 h 285"/>
                  <a:gd name="T26" fmla="*/ 110 w 189"/>
                  <a:gd name="T27" fmla="*/ 158 h 285"/>
                  <a:gd name="T28" fmla="*/ 125 w 189"/>
                  <a:gd name="T29" fmla="*/ 129 h 285"/>
                  <a:gd name="T30" fmla="*/ 142 w 189"/>
                  <a:gd name="T31" fmla="*/ 107 h 285"/>
                  <a:gd name="T32" fmla="*/ 160 w 189"/>
                  <a:gd name="T33" fmla="*/ 88 h 285"/>
                  <a:gd name="T34" fmla="*/ 175 w 189"/>
                  <a:gd name="T35" fmla="*/ 72 h 285"/>
                  <a:gd name="T36" fmla="*/ 189 w 189"/>
                  <a:gd name="T37" fmla="*/ 58 h 285"/>
                  <a:gd name="T38" fmla="*/ 189 w 189"/>
                  <a:gd name="T39" fmla="*/ 58 h 285"/>
                  <a:gd name="T40" fmla="*/ 131 w 189"/>
                  <a:gd name="T41" fmla="*/ 0 h 28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89"/>
                  <a:gd name="T64" fmla="*/ 0 h 285"/>
                  <a:gd name="T65" fmla="*/ 189 w 189"/>
                  <a:gd name="T66" fmla="*/ 285 h 28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89" h="285">
                    <a:moveTo>
                      <a:pt x="131" y="0"/>
                    </a:moveTo>
                    <a:lnTo>
                      <a:pt x="131" y="0"/>
                    </a:lnTo>
                    <a:lnTo>
                      <a:pt x="117" y="14"/>
                    </a:lnTo>
                    <a:lnTo>
                      <a:pt x="99" y="31"/>
                    </a:lnTo>
                    <a:lnTo>
                      <a:pt x="78" y="55"/>
                    </a:lnTo>
                    <a:lnTo>
                      <a:pt x="55" y="87"/>
                    </a:lnTo>
                    <a:lnTo>
                      <a:pt x="33" y="125"/>
                    </a:lnTo>
                    <a:lnTo>
                      <a:pt x="17" y="171"/>
                    </a:lnTo>
                    <a:lnTo>
                      <a:pt x="4" y="224"/>
                    </a:lnTo>
                    <a:lnTo>
                      <a:pt x="0" y="285"/>
                    </a:lnTo>
                    <a:lnTo>
                      <a:pt x="85" y="285"/>
                    </a:lnTo>
                    <a:lnTo>
                      <a:pt x="87" y="233"/>
                    </a:lnTo>
                    <a:lnTo>
                      <a:pt x="96" y="192"/>
                    </a:lnTo>
                    <a:lnTo>
                      <a:pt x="110" y="158"/>
                    </a:lnTo>
                    <a:lnTo>
                      <a:pt x="125" y="129"/>
                    </a:lnTo>
                    <a:lnTo>
                      <a:pt x="142" y="107"/>
                    </a:lnTo>
                    <a:lnTo>
                      <a:pt x="160" y="88"/>
                    </a:lnTo>
                    <a:lnTo>
                      <a:pt x="175" y="72"/>
                    </a:lnTo>
                    <a:lnTo>
                      <a:pt x="189" y="58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15" name="Freeform 22"/>
              <p:cNvSpPr>
                <a:spLocks/>
              </p:cNvSpPr>
              <p:nvPr/>
            </p:nvSpPr>
            <p:spPr bwMode="auto">
              <a:xfrm>
                <a:off x="9054" y="9305"/>
                <a:ext cx="79" cy="122"/>
              </a:xfrm>
              <a:custGeom>
                <a:avLst/>
                <a:gdLst>
                  <a:gd name="T0" fmla="*/ 73 w 159"/>
                  <a:gd name="T1" fmla="*/ 0 h 243"/>
                  <a:gd name="T2" fmla="*/ 73 w 159"/>
                  <a:gd name="T3" fmla="*/ 0 h 243"/>
                  <a:gd name="T4" fmla="*/ 73 w 159"/>
                  <a:gd name="T5" fmla="*/ 27 h 243"/>
                  <a:gd name="T6" fmla="*/ 69 w 159"/>
                  <a:gd name="T7" fmla="*/ 53 h 243"/>
                  <a:gd name="T8" fmla="*/ 63 w 159"/>
                  <a:gd name="T9" fmla="*/ 79 h 243"/>
                  <a:gd name="T10" fmla="*/ 53 w 159"/>
                  <a:gd name="T11" fmla="*/ 103 h 243"/>
                  <a:gd name="T12" fmla="*/ 44 w 159"/>
                  <a:gd name="T13" fmla="*/ 124 h 243"/>
                  <a:gd name="T14" fmla="*/ 31 w 159"/>
                  <a:gd name="T15" fmla="*/ 147 h 243"/>
                  <a:gd name="T16" fmla="*/ 17 w 159"/>
                  <a:gd name="T17" fmla="*/ 167 h 243"/>
                  <a:gd name="T18" fmla="*/ 0 w 159"/>
                  <a:gd name="T19" fmla="*/ 185 h 243"/>
                  <a:gd name="T20" fmla="*/ 58 w 159"/>
                  <a:gd name="T21" fmla="*/ 243 h 243"/>
                  <a:gd name="T22" fmla="*/ 81 w 159"/>
                  <a:gd name="T23" fmla="*/ 219 h 243"/>
                  <a:gd name="T24" fmla="*/ 101 w 159"/>
                  <a:gd name="T25" fmla="*/ 193 h 243"/>
                  <a:gd name="T26" fmla="*/ 118 w 159"/>
                  <a:gd name="T27" fmla="*/ 164 h 243"/>
                  <a:gd name="T28" fmla="*/ 133 w 159"/>
                  <a:gd name="T29" fmla="*/ 134 h 243"/>
                  <a:gd name="T30" fmla="*/ 142 w 159"/>
                  <a:gd name="T31" fmla="*/ 100 h 243"/>
                  <a:gd name="T32" fmla="*/ 151 w 159"/>
                  <a:gd name="T33" fmla="*/ 68 h 243"/>
                  <a:gd name="T34" fmla="*/ 156 w 159"/>
                  <a:gd name="T35" fmla="*/ 33 h 243"/>
                  <a:gd name="T36" fmla="*/ 159 w 159"/>
                  <a:gd name="T37" fmla="*/ 0 h 243"/>
                  <a:gd name="T38" fmla="*/ 159 w 159"/>
                  <a:gd name="T39" fmla="*/ 0 h 243"/>
                  <a:gd name="T40" fmla="*/ 73 w 159"/>
                  <a:gd name="T41" fmla="*/ 0 h 24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59"/>
                  <a:gd name="T64" fmla="*/ 0 h 243"/>
                  <a:gd name="T65" fmla="*/ 159 w 159"/>
                  <a:gd name="T66" fmla="*/ 243 h 24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59" h="243">
                    <a:moveTo>
                      <a:pt x="73" y="0"/>
                    </a:moveTo>
                    <a:lnTo>
                      <a:pt x="73" y="0"/>
                    </a:lnTo>
                    <a:lnTo>
                      <a:pt x="73" y="27"/>
                    </a:lnTo>
                    <a:lnTo>
                      <a:pt x="69" y="53"/>
                    </a:lnTo>
                    <a:lnTo>
                      <a:pt x="63" y="79"/>
                    </a:lnTo>
                    <a:lnTo>
                      <a:pt x="53" y="103"/>
                    </a:lnTo>
                    <a:lnTo>
                      <a:pt x="44" y="124"/>
                    </a:lnTo>
                    <a:lnTo>
                      <a:pt x="31" y="147"/>
                    </a:lnTo>
                    <a:lnTo>
                      <a:pt x="17" y="167"/>
                    </a:lnTo>
                    <a:lnTo>
                      <a:pt x="0" y="185"/>
                    </a:lnTo>
                    <a:lnTo>
                      <a:pt x="58" y="243"/>
                    </a:lnTo>
                    <a:lnTo>
                      <a:pt x="81" y="219"/>
                    </a:lnTo>
                    <a:lnTo>
                      <a:pt x="101" y="193"/>
                    </a:lnTo>
                    <a:lnTo>
                      <a:pt x="118" y="164"/>
                    </a:lnTo>
                    <a:lnTo>
                      <a:pt x="133" y="134"/>
                    </a:lnTo>
                    <a:lnTo>
                      <a:pt x="142" y="100"/>
                    </a:lnTo>
                    <a:lnTo>
                      <a:pt x="151" y="68"/>
                    </a:lnTo>
                    <a:lnTo>
                      <a:pt x="156" y="33"/>
                    </a:lnTo>
                    <a:lnTo>
                      <a:pt x="159" y="0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16" name="Freeform 23"/>
              <p:cNvSpPr>
                <a:spLocks/>
              </p:cNvSpPr>
              <p:nvPr/>
            </p:nvSpPr>
            <p:spPr bwMode="auto">
              <a:xfrm>
                <a:off x="8957" y="9130"/>
                <a:ext cx="176" cy="175"/>
              </a:xfrm>
              <a:custGeom>
                <a:avLst/>
                <a:gdLst>
                  <a:gd name="T0" fmla="*/ 0 w 351"/>
                  <a:gd name="T1" fmla="*/ 85 h 351"/>
                  <a:gd name="T2" fmla="*/ 0 w 351"/>
                  <a:gd name="T3" fmla="*/ 85 h 351"/>
                  <a:gd name="T4" fmla="*/ 29 w 351"/>
                  <a:gd name="T5" fmla="*/ 85 h 351"/>
                  <a:gd name="T6" fmla="*/ 55 w 351"/>
                  <a:gd name="T7" fmla="*/ 89 h 351"/>
                  <a:gd name="T8" fmla="*/ 79 w 351"/>
                  <a:gd name="T9" fmla="*/ 95 h 351"/>
                  <a:gd name="T10" fmla="*/ 102 w 351"/>
                  <a:gd name="T11" fmla="*/ 105 h 351"/>
                  <a:gd name="T12" fmla="*/ 126 w 351"/>
                  <a:gd name="T13" fmla="*/ 117 h 351"/>
                  <a:gd name="T14" fmla="*/ 149 w 351"/>
                  <a:gd name="T15" fmla="*/ 130 h 351"/>
                  <a:gd name="T16" fmla="*/ 169 w 351"/>
                  <a:gd name="T17" fmla="*/ 144 h 351"/>
                  <a:gd name="T18" fmla="*/ 189 w 351"/>
                  <a:gd name="T19" fmla="*/ 161 h 351"/>
                  <a:gd name="T20" fmla="*/ 204 w 351"/>
                  <a:gd name="T21" fmla="*/ 181 h 351"/>
                  <a:gd name="T22" fmla="*/ 219 w 351"/>
                  <a:gd name="T23" fmla="*/ 202 h 351"/>
                  <a:gd name="T24" fmla="*/ 235 w 351"/>
                  <a:gd name="T25" fmla="*/ 223 h 351"/>
                  <a:gd name="T26" fmla="*/ 245 w 351"/>
                  <a:gd name="T27" fmla="*/ 246 h 351"/>
                  <a:gd name="T28" fmla="*/ 255 w 351"/>
                  <a:gd name="T29" fmla="*/ 272 h 351"/>
                  <a:gd name="T30" fmla="*/ 261 w 351"/>
                  <a:gd name="T31" fmla="*/ 296 h 351"/>
                  <a:gd name="T32" fmla="*/ 265 w 351"/>
                  <a:gd name="T33" fmla="*/ 322 h 351"/>
                  <a:gd name="T34" fmla="*/ 265 w 351"/>
                  <a:gd name="T35" fmla="*/ 351 h 351"/>
                  <a:gd name="T36" fmla="*/ 351 w 351"/>
                  <a:gd name="T37" fmla="*/ 351 h 351"/>
                  <a:gd name="T38" fmla="*/ 348 w 351"/>
                  <a:gd name="T39" fmla="*/ 316 h 351"/>
                  <a:gd name="T40" fmla="*/ 343 w 351"/>
                  <a:gd name="T41" fmla="*/ 281 h 351"/>
                  <a:gd name="T42" fmla="*/ 334 w 351"/>
                  <a:gd name="T43" fmla="*/ 247 h 351"/>
                  <a:gd name="T44" fmla="*/ 322 w 351"/>
                  <a:gd name="T45" fmla="*/ 215 h 351"/>
                  <a:gd name="T46" fmla="*/ 308 w 351"/>
                  <a:gd name="T47" fmla="*/ 184 h 351"/>
                  <a:gd name="T48" fmla="*/ 290 w 351"/>
                  <a:gd name="T49" fmla="*/ 156 h 351"/>
                  <a:gd name="T50" fmla="*/ 271 w 351"/>
                  <a:gd name="T51" fmla="*/ 129 h 351"/>
                  <a:gd name="T52" fmla="*/ 247 w 351"/>
                  <a:gd name="T53" fmla="*/ 103 h 351"/>
                  <a:gd name="T54" fmla="*/ 221 w 351"/>
                  <a:gd name="T55" fmla="*/ 80 h 351"/>
                  <a:gd name="T56" fmla="*/ 195 w 351"/>
                  <a:gd name="T57" fmla="*/ 60 h 351"/>
                  <a:gd name="T58" fmla="*/ 166 w 351"/>
                  <a:gd name="T59" fmla="*/ 44 h 351"/>
                  <a:gd name="T60" fmla="*/ 136 w 351"/>
                  <a:gd name="T61" fmla="*/ 29 h 351"/>
                  <a:gd name="T62" fmla="*/ 104 w 351"/>
                  <a:gd name="T63" fmla="*/ 16 h 351"/>
                  <a:gd name="T64" fmla="*/ 70 w 351"/>
                  <a:gd name="T65" fmla="*/ 7 h 351"/>
                  <a:gd name="T66" fmla="*/ 35 w 351"/>
                  <a:gd name="T67" fmla="*/ 3 h 351"/>
                  <a:gd name="T68" fmla="*/ 0 w 351"/>
                  <a:gd name="T69" fmla="*/ 0 h 351"/>
                  <a:gd name="T70" fmla="*/ 0 w 351"/>
                  <a:gd name="T71" fmla="*/ 0 h 351"/>
                  <a:gd name="T72" fmla="*/ 0 w 351"/>
                  <a:gd name="T73" fmla="*/ 85 h 35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51"/>
                  <a:gd name="T112" fmla="*/ 0 h 351"/>
                  <a:gd name="T113" fmla="*/ 351 w 351"/>
                  <a:gd name="T114" fmla="*/ 351 h 351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51" h="351">
                    <a:moveTo>
                      <a:pt x="0" y="85"/>
                    </a:moveTo>
                    <a:lnTo>
                      <a:pt x="0" y="85"/>
                    </a:lnTo>
                    <a:lnTo>
                      <a:pt x="29" y="85"/>
                    </a:lnTo>
                    <a:lnTo>
                      <a:pt x="55" y="89"/>
                    </a:lnTo>
                    <a:lnTo>
                      <a:pt x="79" y="95"/>
                    </a:lnTo>
                    <a:lnTo>
                      <a:pt x="102" y="105"/>
                    </a:lnTo>
                    <a:lnTo>
                      <a:pt x="126" y="117"/>
                    </a:lnTo>
                    <a:lnTo>
                      <a:pt x="149" y="130"/>
                    </a:lnTo>
                    <a:lnTo>
                      <a:pt x="169" y="144"/>
                    </a:lnTo>
                    <a:lnTo>
                      <a:pt x="189" y="161"/>
                    </a:lnTo>
                    <a:lnTo>
                      <a:pt x="204" y="181"/>
                    </a:lnTo>
                    <a:lnTo>
                      <a:pt x="219" y="202"/>
                    </a:lnTo>
                    <a:lnTo>
                      <a:pt x="235" y="223"/>
                    </a:lnTo>
                    <a:lnTo>
                      <a:pt x="245" y="246"/>
                    </a:lnTo>
                    <a:lnTo>
                      <a:pt x="255" y="272"/>
                    </a:lnTo>
                    <a:lnTo>
                      <a:pt x="261" y="296"/>
                    </a:lnTo>
                    <a:lnTo>
                      <a:pt x="265" y="322"/>
                    </a:lnTo>
                    <a:lnTo>
                      <a:pt x="265" y="351"/>
                    </a:lnTo>
                    <a:lnTo>
                      <a:pt x="351" y="351"/>
                    </a:lnTo>
                    <a:lnTo>
                      <a:pt x="348" y="316"/>
                    </a:lnTo>
                    <a:lnTo>
                      <a:pt x="343" y="281"/>
                    </a:lnTo>
                    <a:lnTo>
                      <a:pt x="334" y="247"/>
                    </a:lnTo>
                    <a:lnTo>
                      <a:pt x="322" y="215"/>
                    </a:lnTo>
                    <a:lnTo>
                      <a:pt x="308" y="184"/>
                    </a:lnTo>
                    <a:lnTo>
                      <a:pt x="290" y="156"/>
                    </a:lnTo>
                    <a:lnTo>
                      <a:pt x="271" y="129"/>
                    </a:lnTo>
                    <a:lnTo>
                      <a:pt x="247" y="103"/>
                    </a:lnTo>
                    <a:lnTo>
                      <a:pt x="221" y="80"/>
                    </a:lnTo>
                    <a:lnTo>
                      <a:pt x="195" y="60"/>
                    </a:lnTo>
                    <a:lnTo>
                      <a:pt x="166" y="44"/>
                    </a:lnTo>
                    <a:lnTo>
                      <a:pt x="136" y="29"/>
                    </a:lnTo>
                    <a:lnTo>
                      <a:pt x="104" y="16"/>
                    </a:lnTo>
                    <a:lnTo>
                      <a:pt x="70" y="7"/>
                    </a:lnTo>
                    <a:lnTo>
                      <a:pt x="35" y="3"/>
                    </a:lnTo>
                    <a:lnTo>
                      <a:pt x="0" y="0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17" name="Freeform 24"/>
              <p:cNvSpPr>
                <a:spLocks/>
              </p:cNvSpPr>
              <p:nvPr/>
            </p:nvSpPr>
            <p:spPr bwMode="auto">
              <a:xfrm>
                <a:off x="8781" y="9130"/>
                <a:ext cx="176" cy="175"/>
              </a:xfrm>
              <a:custGeom>
                <a:avLst/>
                <a:gdLst>
                  <a:gd name="T0" fmla="*/ 86 w 353"/>
                  <a:gd name="T1" fmla="*/ 351 h 351"/>
                  <a:gd name="T2" fmla="*/ 86 w 353"/>
                  <a:gd name="T3" fmla="*/ 351 h 351"/>
                  <a:gd name="T4" fmla="*/ 86 w 353"/>
                  <a:gd name="T5" fmla="*/ 322 h 351"/>
                  <a:gd name="T6" fmla="*/ 90 w 353"/>
                  <a:gd name="T7" fmla="*/ 296 h 351"/>
                  <a:gd name="T8" fmla="*/ 96 w 353"/>
                  <a:gd name="T9" fmla="*/ 272 h 351"/>
                  <a:gd name="T10" fmla="*/ 106 w 353"/>
                  <a:gd name="T11" fmla="*/ 247 h 351"/>
                  <a:gd name="T12" fmla="*/ 118 w 353"/>
                  <a:gd name="T13" fmla="*/ 223 h 351"/>
                  <a:gd name="T14" fmla="*/ 131 w 353"/>
                  <a:gd name="T15" fmla="*/ 202 h 351"/>
                  <a:gd name="T16" fmla="*/ 145 w 353"/>
                  <a:gd name="T17" fmla="*/ 181 h 351"/>
                  <a:gd name="T18" fmla="*/ 164 w 353"/>
                  <a:gd name="T19" fmla="*/ 161 h 351"/>
                  <a:gd name="T20" fmla="*/ 182 w 353"/>
                  <a:gd name="T21" fmla="*/ 144 h 351"/>
                  <a:gd name="T22" fmla="*/ 203 w 353"/>
                  <a:gd name="T23" fmla="*/ 130 h 351"/>
                  <a:gd name="T24" fmla="*/ 225 w 353"/>
                  <a:gd name="T25" fmla="*/ 117 h 351"/>
                  <a:gd name="T26" fmla="*/ 249 w 353"/>
                  <a:gd name="T27" fmla="*/ 105 h 351"/>
                  <a:gd name="T28" fmla="*/ 273 w 353"/>
                  <a:gd name="T29" fmla="*/ 95 h 351"/>
                  <a:gd name="T30" fmla="*/ 298 w 353"/>
                  <a:gd name="T31" fmla="*/ 89 h 351"/>
                  <a:gd name="T32" fmla="*/ 324 w 353"/>
                  <a:gd name="T33" fmla="*/ 85 h 351"/>
                  <a:gd name="T34" fmla="*/ 353 w 353"/>
                  <a:gd name="T35" fmla="*/ 85 h 351"/>
                  <a:gd name="T36" fmla="*/ 353 w 353"/>
                  <a:gd name="T37" fmla="*/ 0 h 351"/>
                  <a:gd name="T38" fmla="*/ 318 w 353"/>
                  <a:gd name="T39" fmla="*/ 3 h 351"/>
                  <a:gd name="T40" fmla="*/ 283 w 353"/>
                  <a:gd name="T41" fmla="*/ 7 h 351"/>
                  <a:gd name="T42" fmla="*/ 249 w 353"/>
                  <a:gd name="T43" fmla="*/ 16 h 351"/>
                  <a:gd name="T44" fmla="*/ 215 w 353"/>
                  <a:gd name="T45" fmla="*/ 29 h 351"/>
                  <a:gd name="T46" fmla="*/ 185 w 353"/>
                  <a:gd name="T47" fmla="*/ 44 h 351"/>
                  <a:gd name="T48" fmla="*/ 157 w 353"/>
                  <a:gd name="T49" fmla="*/ 60 h 351"/>
                  <a:gd name="T50" fmla="*/ 130 w 353"/>
                  <a:gd name="T51" fmla="*/ 80 h 351"/>
                  <a:gd name="T52" fmla="*/ 106 w 353"/>
                  <a:gd name="T53" fmla="*/ 103 h 351"/>
                  <a:gd name="T54" fmla="*/ 81 w 353"/>
                  <a:gd name="T55" fmla="*/ 129 h 351"/>
                  <a:gd name="T56" fmla="*/ 61 w 353"/>
                  <a:gd name="T57" fmla="*/ 156 h 351"/>
                  <a:gd name="T58" fmla="*/ 45 w 353"/>
                  <a:gd name="T59" fmla="*/ 184 h 351"/>
                  <a:gd name="T60" fmla="*/ 29 w 353"/>
                  <a:gd name="T61" fmla="*/ 214 h 351"/>
                  <a:gd name="T62" fmla="*/ 17 w 353"/>
                  <a:gd name="T63" fmla="*/ 247 h 351"/>
                  <a:gd name="T64" fmla="*/ 8 w 353"/>
                  <a:gd name="T65" fmla="*/ 281 h 351"/>
                  <a:gd name="T66" fmla="*/ 3 w 353"/>
                  <a:gd name="T67" fmla="*/ 316 h 351"/>
                  <a:gd name="T68" fmla="*/ 0 w 353"/>
                  <a:gd name="T69" fmla="*/ 351 h 351"/>
                  <a:gd name="T70" fmla="*/ 0 w 353"/>
                  <a:gd name="T71" fmla="*/ 351 h 351"/>
                  <a:gd name="T72" fmla="*/ 86 w 353"/>
                  <a:gd name="T73" fmla="*/ 351 h 35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53"/>
                  <a:gd name="T112" fmla="*/ 0 h 351"/>
                  <a:gd name="T113" fmla="*/ 353 w 353"/>
                  <a:gd name="T114" fmla="*/ 351 h 351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53" h="351">
                    <a:moveTo>
                      <a:pt x="86" y="351"/>
                    </a:moveTo>
                    <a:lnTo>
                      <a:pt x="86" y="351"/>
                    </a:lnTo>
                    <a:lnTo>
                      <a:pt x="86" y="322"/>
                    </a:lnTo>
                    <a:lnTo>
                      <a:pt x="90" y="296"/>
                    </a:lnTo>
                    <a:lnTo>
                      <a:pt x="96" y="272"/>
                    </a:lnTo>
                    <a:lnTo>
                      <a:pt x="106" y="247"/>
                    </a:lnTo>
                    <a:lnTo>
                      <a:pt x="118" y="223"/>
                    </a:lnTo>
                    <a:lnTo>
                      <a:pt x="131" y="202"/>
                    </a:lnTo>
                    <a:lnTo>
                      <a:pt x="145" y="181"/>
                    </a:lnTo>
                    <a:lnTo>
                      <a:pt x="164" y="161"/>
                    </a:lnTo>
                    <a:lnTo>
                      <a:pt x="182" y="144"/>
                    </a:lnTo>
                    <a:lnTo>
                      <a:pt x="203" y="130"/>
                    </a:lnTo>
                    <a:lnTo>
                      <a:pt x="225" y="117"/>
                    </a:lnTo>
                    <a:lnTo>
                      <a:pt x="249" y="105"/>
                    </a:lnTo>
                    <a:lnTo>
                      <a:pt x="273" y="95"/>
                    </a:lnTo>
                    <a:lnTo>
                      <a:pt x="298" y="89"/>
                    </a:lnTo>
                    <a:lnTo>
                      <a:pt x="324" y="85"/>
                    </a:lnTo>
                    <a:lnTo>
                      <a:pt x="353" y="85"/>
                    </a:lnTo>
                    <a:lnTo>
                      <a:pt x="353" y="0"/>
                    </a:lnTo>
                    <a:lnTo>
                      <a:pt x="318" y="3"/>
                    </a:lnTo>
                    <a:lnTo>
                      <a:pt x="283" y="7"/>
                    </a:lnTo>
                    <a:lnTo>
                      <a:pt x="249" y="16"/>
                    </a:lnTo>
                    <a:lnTo>
                      <a:pt x="215" y="29"/>
                    </a:lnTo>
                    <a:lnTo>
                      <a:pt x="185" y="44"/>
                    </a:lnTo>
                    <a:lnTo>
                      <a:pt x="157" y="60"/>
                    </a:lnTo>
                    <a:lnTo>
                      <a:pt x="130" y="80"/>
                    </a:lnTo>
                    <a:lnTo>
                      <a:pt x="106" y="103"/>
                    </a:lnTo>
                    <a:lnTo>
                      <a:pt x="81" y="129"/>
                    </a:lnTo>
                    <a:lnTo>
                      <a:pt x="61" y="156"/>
                    </a:lnTo>
                    <a:lnTo>
                      <a:pt x="45" y="184"/>
                    </a:lnTo>
                    <a:lnTo>
                      <a:pt x="29" y="214"/>
                    </a:lnTo>
                    <a:lnTo>
                      <a:pt x="17" y="247"/>
                    </a:lnTo>
                    <a:lnTo>
                      <a:pt x="8" y="281"/>
                    </a:lnTo>
                    <a:lnTo>
                      <a:pt x="3" y="316"/>
                    </a:lnTo>
                    <a:lnTo>
                      <a:pt x="0" y="351"/>
                    </a:lnTo>
                    <a:lnTo>
                      <a:pt x="86" y="35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18" name="Freeform 25"/>
              <p:cNvSpPr>
                <a:spLocks/>
              </p:cNvSpPr>
              <p:nvPr/>
            </p:nvSpPr>
            <p:spPr bwMode="auto">
              <a:xfrm>
                <a:off x="8781" y="9305"/>
                <a:ext cx="80" cy="122"/>
              </a:xfrm>
              <a:custGeom>
                <a:avLst/>
                <a:gdLst>
                  <a:gd name="T0" fmla="*/ 159 w 160"/>
                  <a:gd name="T1" fmla="*/ 185 h 243"/>
                  <a:gd name="T2" fmla="*/ 160 w 160"/>
                  <a:gd name="T3" fmla="*/ 185 h 243"/>
                  <a:gd name="T4" fmla="*/ 144 w 160"/>
                  <a:gd name="T5" fmla="*/ 167 h 243"/>
                  <a:gd name="T6" fmla="*/ 128 w 160"/>
                  <a:gd name="T7" fmla="*/ 147 h 243"/>
                  <a:gd name="T8" fmla="*/ 116 w 160"/>
                  <a:gd name="T9" fmla="*/ 124 h 243"/>
                  <a:gd name="T10" fmla="*/ 104 w 160"/>
                  <a:gd name="T11" fmla="*/ 103 h 243"/>
                  <a:gd name="T12" fmla="*/ 96 w 160"/>
                  <a:gd name="T13" fmla="*/ 79 h 243"/>
                  <a:gd name="T14" fmla="*/ 90 w 160"/>
                  <a:gd name="T15" fmla="*/ 53 h 243"/>
                  <a:gd name="T16" fmla="*/ 86 w 160"/>
                  <a:gd name="T17" fmla="*/ 27 h 243"/>
                  <a:gd name="T18" fmla="*/ 86 w 160"/>
                  <a:gd name="T19" fmla="*/ 0 h 243"/>
                  <a:gd name="T20" fmla="*/ 0 w 160"/>
                  <a:gd name="T21" fmla="*/ 0 h 243"/>
                  <a:gd name="T22" fmla="*/ 3 w 160"/>
                  <a:gd name="T23" fmla="*/ 33 h 243"/>
                  <a:gd name="T24" fmla="*/ 8 w 160"/>
                  <a:gd name="T25" fmla="*/ 68 h 243"/>
                  <a:gd name="T26" fmla="*/ 17 w 160"/>
                  <a:gd name="T27" fmla="*/ 100 h 243"/>
                  <a:gd name="T28" fmla="*/ 28 w 160"/>
                  <a:gd name="T29" fmla="*/ 134 h 243"/>
                  <a:gd name="T30" fmla="*/ 43 w 160"/>
                  <a:gd name="T31" fmla="*/ 164 h 243"/>
                  <a:gd name="T32" fmla="*/ 58 w 160"/>
                  <a:gd name="T33" fmla="*/ 193 h 243"/>
                  <a:gd name="T34" fmla="*/ 80 w 160"/>
                  <a:gd name="T35" fmla="*/ 219 h 243"/>
                  <a:gd name="T36" fmla="*/ 99 w 160"/>
                  <a:gd name="T37" fmla="*/ 243 h 243"/>
                  <a:gd name="T38" fmla="*/ 101 w 160"/>
                  <a:gd name="T39" fmla="*/ 243 h 243"/>
                  <a:gd name="T40" fmla="*/ 159 w 160"/>
                  <a:gd name="T41" fmla="*/ 185 h 24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60"/>
                  <a:gd name="T64" fmla="*/ 0 h 243"/>
                  <a:gd name="T65" fmla="*/ 160 w 160"/>
                  <a:gd name="T66" fmla="*/ 243 h 24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60" h="243">
                    <a:moveTo>
                      <a:pt x="159" y="185"/>
                    </a:moveTo>
                    <a:lnTo>
                      <a:pt x="160" y="185"/>
                    </a:lnTo>
                    <a:lnTo>
                      <a:pt x="144" y="167"/>
                    </a:lnTo>
                    <a:lnTo>
                      <a:pt x="128" y="147"/>
                    </a:lnTo>
                    <a:lnTo>
                      <a:pt x="116" y="124"/>
                    </a:lnTo>
                    <a:lnTo>
                      <a:pt x="104" y="103"/>
                    </a:lnTo>
                    <a:lnTo>
                      <a:pt x="96" y="79"/>
                    </a:lnTo>
                    <a:lnTo>
                      <a:pt x="90" y="53"/>
                    </a:lnTo>
                    <a:lnTo>
                      <a:pt x="86" y="27"/>
                    </a:lnTo>
                    <a:lnTo>
                      <a:pt x="86" y="0"/>
                    </a:lnTo>
                    <a:lnTo>
                      <a:pt x="0" y="0"/>
                    </a:lnTo>
                    <a:lnTo>
                      <a:pt x="3" y="33"/>
                    </a:lnTo>
                    <a:lnTo>
                      <a:pt x="8" y="68"/>
                    </a:lnTo>
                    <a:lnTo>
                      <a:pt x="17" y="100"/>
                    </a:lnTo>
                    <a:lnTo>
                      <a:pt x="28" y="134"/>
                    </a:lnTo>
                    <a:lnTo>
                      <a:pt x="43" y="164"/>
                    </a:lnTo>
                    <a:lnTo>
                      <a:pt x="58" y="193"/>
                    </a:lnTo>
                    <a:lnTo>
                      <a:pt x="80" y="219"/>
                    </a:lnTo>
                    <a:lnTo>
                      <a:pt x="99" y="243"/>
                    </a:lnTo>
                    <a:lnTo>
                      <a:pt x="101" y="243"/>
                    </a:lnTo>
                    <a:lnTo>
                      <a:pt x="159" y="18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19" name="Freeform 26"/>
              <p:cNvSpPr>
                <a:spLocks/>
              </p:cNvSpPr>
              <p:nvPr/>
            </p:nvSpPr>
            <p:spPr bwMode="auto">
              <a:xfrm>
                <a:off x="8831" y="9398"/>
                <a:ext cx="95" cy="164"/>
              </a:xfrm>
              <a:custGeom>
                <a:avLst/>
                <a:gdLst>
                  <a:gd name="T0" fmla="*/ 146 w 189"/>
                  <a:gd name="T1" fmla="*/ 242 h 327"/>
                  <a:gd name="T2" fmla="*/ 189 w 189"/>
                  <a:gd name="T3" fmla="*/ 285 h 327"/>
                  <a:gd name="T4" fmla="*/ 185 w 189"/>
                  <a:gd name="T5" fmla="*/ 224 h 327"/>
                  <a:gd name="T6" fmla="*/ 172 w 189"/>
                  <a:gd name="T7" fmla="*/ 171 h 327"/>
                  <a:gd name="T8" fmla="*/ 156 w 189"/>
                  <a:gd name="T9" fmla="*/ 125 h 327"/>
                  <a:gd name="T10" fmla="*/ 134 w 189"/>
                  <a:gd name="T11" fmla="*/ 87 h 327"/>
                  <a:gd name="T12" fmla="*/ 111 w 189"/>
                  <a:gd name="T13" fmla="*/ 55 h 327"/>
                  <a:gd name="T14" fmla="*/ 90 w 189"/>
                  <a:gd name="T15" fmla="*/ 31 h 327"/>
                  <a:gd name="T16" fmla="*/ 72 w 189"/>
                  <a:gd name="T17" fmla="*/ 14 h 327"/>
                  <a:gd name="T18" fmla="*/ 58 w 189"/>
                  <a:gd name="T19" fmla="*/ 0 h 327"/>
                  <a:gd name="T20" fmla="*/ 0 w 189"/>
                  <a:gd name="T21" fmla="*/ 58 h 327"/>
                  <a:gd name="T22" fmla="*/ 14 w 189"/>
                  <a:gd name="T23" fmla="*/ 72 h 327"/>
                  <a:gd name="T24" fmla="*/ 29 w 189"/>
                  <a:gd name="T25" fmla="*/ 88 h 327"/>
                  <a:gd name="T26" fmla="*/ 47 w 189"/>
                  <a:gd name="T27" fmla="*/ 107 h 327"/>
                  <a:gd name="T28" fmla="*/ 64 w 189"/>
                  <a:gd name="T29" fmla="*/ 129 h 327"/>
                  <a:gd name="T30" fmla="*/ 79 w 189"/>
                  <a:gd name="T31" fmla="*/ 158 h 327"/>
                  <a:gd name="T32" fmla="*/ 93 w 189"/>
                  <a:gd name="T33" fmla="*/ 192 h 327"/>
                  <a:gd name="T34" fmla="*/ 102 w 189"/>
                  <a:gd name="T35" fmla="*/ 233 h 327"/>
                  <a:gd name="T36" fmla="*/ 104 w 189"/>
                  <a:gd name="T37" fmla="*/ 285 h 327"/>
                  <a:gd name="T38" fmla="*/ 146 w 189"/>
                  <a:gd name="T39" fmla="*/ 327 h 327"/>
                  <a:gd name="T40" fmla="*/ 104 w 189"/>
                  <a:gd name="T41" fmla="*/ 285 h 327"/>
                  <a:gd name="T42" fmla="*/ 104 w 189"/>
                  <a:gd name="T43" fmla="*/ 327 h 327"/>
                  <a:gd name="T44" fmla="*/ 146 w 189"/>
                  <a:gd name="T45" fmla="*/ 327 h 327"/>
                  <a:gd name="T46" fmla="*/ 146 w 189"/>
                  <a:gd name="T47" fmla="*/ 242 h 327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89"/>
                  <a:gd name="T73" fmla="*/ 0 h 327"/>
                  <a:gd name="T74" fmla="*/ 189 w 189"/>
                  <a:gd name="T75" fmla="*/ 327 h 327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89" h="327">
                    <a:moveTo>
                      <a:pt x="146" y="242"/>
                    </a:moveTo>
                    <a:lnTo>
                      <a:pt x="189" y="285"/>
                    </a:lnTo>
                    <a:lnTo>
                      <a:pt x="185" y="224"/>
                    </a:lnTo>
                    <a:lnTo>
                      <a:pt x="172" y="171"/>
                    </a:lnTo>
                    <a:lnTo>
                      <a:pt x="156" y="125"/>
                    </a:lnTo>
                    <a:lnTo>
                      <a:pt x="134" y="87"/>
                    </a:lnTo>
                    <a:lnTo>
                      <a:pt x="111" y="55"/>
                    </a:lnTo>
                    <a:lnTo>
                      <a:pt x="90" y="31"/>
                    </a:lnTo>
                    <a:lnTo>
                      <a:pt x="72" y="14"/>
                    </a:lnTo>
                    <a:lnTo>
                      <a:pt x="58" y="0"/>
                    </a:lnTo>
                    <a:lnTo>
                      <a:pt x="0" y="58"/>
                    </a:lnTo>
                    <a:lnTo>
                      <a:pt x="14" y="72"/>
                    </a:lnTo>
                    <a:lnTo>
                      <a:pt x="29" y="88"/>
                    </a:lnTo>
                    <a:lnTo>
                      <a:pt x="47" y="107"/>
                    </a:lnTo>
                    <a:lnTo>
                      <a:pt x="64" y="129"/>
                    </a:lnTo>
                    <a:lnTo>
                      <a:pt x="79" y="158"/>
                    </a:lnTo>
                    <a:lnTo>
                      <a:pt x="93" y="192"/>
                    </a:lnTo>
                    <a:lnTo>
                      <a:pt x="102" y="233"/>
                    </a:lnTo>
                    <a:lnTo>
                      <a:pt x="104" y="285"/>
                    </a:lnTo>
                    <a:lnTo>
                      <a:pt x="146" y="327"/>
                    </a:lnTo>
                    <a:lnTo>
                      <a:pt x="104" y="285"/>
                    </a:lnTo>
                    <a:lnTo>
                      <a:pt x="104" y="327"/>
                    </a:lnTo>
                    <a:lnTo>
                      <a:pt x="146" y="327"/>
                    </a:lnTo>
                    <a:lnTo>
                      <a:pt x="146" y="2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20" name="Freeform 27"/>
              <p:cNvSpPr>
                <a:spLocks/>
              </p:cNvSpPr>
              <p:nvPr/>
            </p:nvSpPr>
            <p:spPr bwMode="auto">
              <a:xfrm>
                <a:off x="8905" y="9519"/>
                <a:ext cx="126" cy="43"/>
              </a:xfrm>
              <a:custGeom>
                <a:avLst/>
                <a:gdLst>
                  <a:gd name="T0" fmla="*/ 167 w 252"/>
                  <a:gd name="T1" fmla="*/ 43 h 85"/>
                  <a:gd name="T2" fmla="*/ 210 w 252"/>
                  <a:gd name="T3" fmla="*/ 0 h 85"/>
                  <a:gd name="T4" fmla="*/ 0 w 252"/>
                  <a:gd name="T5" fmla="*/ 0 h 85"/>
                  <a:gd name="T6" fmla="*/ 0 w 252"/>
                  <a:gd name="T7" fmla="*/ 85 h 85"/>
                  <a:gd name="T8" fmla="*/ 210 w 252"/>
                  <a:gd name="T9" fmla="*/ 85 h 85"/>
                  <a:gd name="T10" fmla="*/ 252 w 252"/>
                  <a:gd name="T11" fmla="*/ 43 h 85"/>
                  <a:gd name="T12" fmla="*/ 210 w 252"/>
                  <a:gd name="T13" fmla="*/ 85 h 85"/>
                  <a:gd name="T14" fmla="*/ 252 w 252"/>
                  <a:gd name="T15" fmla="*/ 85 h 85"/>
                  <a:gd name="T16" fmla="*/ 252 w 252"/>
                  <a:gd name="T17" fmla="*/ 43 h 85"/>
                  <a:gd name="T18" fmla="*/ 167 w 252"/>
                  <a:gd name="T19" fmla="*/ 43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52"/>
                  <a:gd name="T31" fmla="*/ 0 h 85"/>
                  <a:gd name="T32" fmla="*/ 252 w 252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52" h="85">
                    <a:moveTo>
                      <a:pt x="167" y="43"/>
                    </a:moveTo>
                    <a:lnTo>
                      <a:pt x="210" y="0"/>
                    </a:lnTo>
                    <a:lnTo>
                      <a:pt x="0" y="0"/>
                    </a:lnTo>
                    <a:lnTo>
                      <a:pt x="0" y="85"/>
                    </a:lnTo>
                    <a:lnTo>
                      <a:pt x="210" y="85"/>
                    </a:lnTo>
                    <a:lnTo>
                      <a:pt x="252" y="43"/>
                    </a:lnTo>
                    <a:lnTo>
                      <a:pt x="210" y="85"/>
                    </a:lnTo>
                    <a:lnTo>
                      <a:pt x="252" y="85"/>
                    </a:lnTo>
                    <a:lnTo>
                      <a:pt x="252" y="43"/>
                    </a:lnTo>
                    <a:lnTo>
                      <a:pt x="167" y="4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21" name="Freeform 28"/>
              <p:cNvSpPr>
                <a:spLocks/>
              </p:cNvSpPr>
              <p:nvPr/>
            </p:nvSpPr>
            <p:spPr bwMode="auto">
              <a:xfrm>
                <a:off x="8867" y="9546"/>
                <a:ext cx="24" cy="47"/>
              </a:xfrm>
              <a:custGeom>
                <a:avLst/>
                <a:gdLst>
                  <a:gd name="T0" fmla="*/ 47 w 47"/>
                  <a:gd name="T1" fmla="*/ 0 h 94"/>
                  <a:gd name="T2" fmla="*/ 27 w 47"/>
                  <a:gd name="T3" fmla="*/ 5 h 94"/>
                  <a:gd name="T4" fmla="*/ 12 w 47"/>
                  <a:gd name="T5" fmla="*/ 15 h 94"/>
                  <a:gd name="T6" fmla="*/ 3 w 47"/>
                  <a:gd name="T7" fmla="*/ 31 h 94"/>
                  <a:gd name="T8" fmla="*/ 0 w 47"/>
                  <a:gd name="T9" fmla="*/ 47 h 94"/>
                  <a:gd name="T10" fmla="*/ 3 w 47"/>
                  <a:gd name="T11" fmla="*/ 64 h 94"/>
                  <a:gd name="T12" fmla="*/ 12 w 47"/>
                  <a:gd name="T13" fmla="*/ 79 h 94"/>
                  <a:gd name="T14" fmla="*/ 27 w 47"/>
                  <a:gd name="T15" fmla="*/ 90 h 94"/>
                  <a:gd name="T16" fmla="*/ 47 w 47"/>
                  <a:gd name="T17" fmla="*/ 94 h 94"/>
                  <a:gd name="T18" fmla="*/ 47 w 47"/>
                  <a:gd name="T19" fmla="*/ 0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4"/>
                  <a:gd name="T32" fmla="*/ 47 w 47"/>
                  <a:gd name="T33" fmla="*/ 94 h 9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4">
                    <a:moveTo>
                      <a:pt x="47" y="0"/>
                    </a:moveTo>
                    <a:lnTo>
                      <a:pt x="27" y="5"/>
                    </a:lnTo>
                    <a:lnTo>
                      <a:pt x="12" y="15"/>
                    </a:lnTo>
                    <a:lnTo>
                      <a:pt x="3" y="31"/>
                    </a:lnTo>
                    <a:lnTo>
                      <a:pt x="0" y="47"/>
                    </a:lnTo>
                    <a:lnTo>
                      <a:pt x="3" y="64"/>
                    </a:lnTo>
                    <a:lnTo>
                      <a:pt x="12" y="79"/>
                    </a:lnTo>
                    <a:lnTo>
                      <a:pt x="27" y="90"/>
                    </a:lnTo>
                    <a:lnTo>
                      <a:pt x="47" y="94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22" name="Freeform 29"/>
              <p:cNvSpPr>
                <a:spLocks/>
              </p:cNvSpPr>
              <p:nvPr/>
            </p:nvSpPr>
            <p:spPr bwMode="auto">
              <a:xfrm>
                <a:off x="8891" y="9546"/>
                <a:ext cx="134" cy="47"/>
              </a:xfrm>
              <a:custGeom>
                <a:avLst/>
                <a:gdLst>
                  <a:gd name="T0" fmla="*/ 267 w 267"/>
                  <a:gd name="T1" fmla="*/ 47 h 94"/>
                  <a:gd name="T2" fmla="*/ 267 w 267"/>
                  <a:gd name="T3" fmla="*/ 0 h 94"/>
                  <a:gd name="T4" fmla="*/ 0 w 267"/>
                  <a:gd name="T5" fmla="*/ 0 h 94"/>
                  <a:gd name="T6" fmla="*/ 0 w 267"/>
                  <a:gd name="T7" fmla="*/ 94 h 94"/>
                  <a:gd name="T8" fmla="*/ 267 w 267"/>
                  <a:gd name="T9" fmla="*/ 94 h 94"/>
                  <a:gd name="T10" fmla="*/ 267 w 267"/>
                  <a:gd name="T11" fmla="*/ 47 h 9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94"/>
                  <a:gd name="T20" fmla="*/ 267 w 267"/>
                  <a:gd name="T21" fmla="*/ 94 h 9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94">
                    <a:moveTo>
                      <a:pt x="267" y="47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94"/>
                    </a:lnTo>
                    <a:lnTo>
                      <a:pt x="267" y="94"/>
                    </a:lnTo>
                    <a:lnTo>
                      <a:pt x="267" y="4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23" name="Freeform 30"/>
              <p:cNvSpPr>
                <a:spLocks/>
              </p:cNvSpPr>
              <p:nvPr/>
            </p:nvSpPr>
            <p:spPr bwMode="auto">
              <a:xfrm>
                <a:off x="9025" y="9546"/>
                <a:ext cx="23" cy="47"/>
              </a:xfrm>
              <a:custGeom>
                <a:avLst/>
                <a:gdLst>
                  <a:gd name="T0" fmla="*/ 0 w 47"/>
                  <a:gd name="T1" fmla="*/ 94 h 94"/>
                  <a:gd name="T2" fmla="*/ 20 w 47"/>
                  <a:gd name="T3" fmla="*/ 90 h 94"/>
                  <a:gd name="T4" fmla="*/ 35 w 47"/>
                  <a:gd name="T5" fmla="*/ 79 h 94"/>
                  <a:gd name="T6" fmla="*/ 44 w 47"/>
                  <a:gd name="T7" fmla="*/ 64 h 94"/>
                  <a:gd name="T8" fmla="*/ 47 w 47"/>
                  <a:gd name="T9" fmla="*/ 47 h 94"/>
                  <a:gd name="T10" fmla="*/ 44 w 47"/>
                  <a:gd name="T11" fmla="*/ 31 h 94"/>
                  <a:gd name="T12" fmla="*/ 35 w 47"/>
                  <a:gd name="T13" fmla="*/ 15 h 94"/>
                  <a:gd name="T14" fmla="*/ 20 w 47"/>
                  <a:gd name="T15" fmla="*/ 5 h 94"/>
                  <a:gd name="T16" fmla="*/ 0 w 47"/>
                  <a:gd name="T17" fmla="*/ 0 h 94"/>
                  <a:gd name="T18" fmla="*/ 0 w 47"/>
                  <a:gd name="T19" fmla="*/ 94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4"/>
                  <a:gd name="T32" fmla="*/ 47 w 47"/>
                  <a:gd name="T33" fmla="*/ 94 h 9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4">
                    <a:moveTo>
                      <a:pt x="0" y="94"/>
                    </a:moveTo>
                    <a:lnTo>
                      <a:pt x="20" y="90"/>
                    </a:lnTo>
                    <a:lnTo>
                      <a:pt x="35" y="79"/>
                    </a:lnTo>
                    <a:lnTo>
                      <a:pt x="44" y="64"/>
                    </a:lnTo>
                    <a:lnTo>
                      <a:pt x="47" y="47"/>
                    </a:lnTo>
                    <a:lnTo>
                      <a:pt x="44" y="31"/>
                    </a:lnTo>
                    <a:lnTo>
                      <a:pt x="35" y="15"/>
                    </a:lnTo>
                    <a:lnTo>
                      <a:pt x="20" y="5"/>
                    </a:lnTo>
                    <a:lnTo>
                      <a:pt x="0" y="0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24" name="Freeform 31"/>
              <p:cNvSpPr>
                <a:spLocks/>
              </p:cNvSpPr>
              <p:nvPr/>
            </p:nvSpPr>
            <p:spPr bwMode="auto">
              <a:xfrm>
                <a:off x="8802" y="9151"/>
                <a:ext cx="309" cy="389"/>
              </a:xfrm>
              <a:custGeom>
                <a:avLst/>
                <a:gdLst>
                  <a:gd name="T0" fmla="*/ 417 w 618"/>
                  <a:gd name="T1" fmla="*/ 722 h 779"/>
                  <a:gd name="T2" fmla="*/ 442 w 618"/>
                  <a:gd name="T3" fmla="*/ 636 h 779"/>
                  <a:gd name="T4" fmla="*/ 481 w 618"/>
                  <a:gd name="T5" fmla="*/ 575 h 779"/>
                  <a:gd name="T6" fmla="*/ 517 w 618"/>
                  <a:gd name="T7" fmla="*/ 537 h 779"/>
                  <a:gd name="T8" fmla="*/ 551 w 618"/>
                  <a:gd name="T9" fmla="*/ 502 h 779"/>
                  <a:gd name="T10" fmla="*/ 583 w 618"/>
                  <a:gd name="T11" fmla="*/ 453 h 779"/>
                  <a:gd name="T12" fmla="*/ 604 w 618"/>
                  <a:gd name="T13" fmla="*/ 398 h 779"/>
                  <a:gd name="T14" fmla="*/ 616 w 618"/>
                  <a:gd name="T15" fmla="*/ 339 h 779"/>
                  <a:gd name="T16" fmla="*/ 616 w 618"/>
                  <a:gd name="T17" fmla="*/ 277 h 779"/>
                  <a:gd name="T18" fmla="*/ 604 w 618"/>
                  <a:gd name="T19" fmla="*/ 218 h 779"/>
                  <a:gd name="T20" fmla="*/ 581 w 618"/>
                  <a:gd name="T21" fmla="*/ 161 h 779"/>
                  <a:gd name="T22" fmla="*/ 548 w 618"/>
                  <a:gd name="T23" fmla="*/ 113 h 779"/>
                  <a:gd name="T24" fmla="*/ 505 w 618"/>
                  <a:gd name="T25" fmla="*/ 70 h 779"/>
                  <a:gd name="T26" fmla="*/ 456 w 618"/>
                  <a:gd name="T27" fmla="*/ 38 h 779"/>
                  <a:gd name="T28" fmla="*/ 401 w 618"/>
                  <a:gd name="T29" fmla="*/ 14 h 779"/>
                  <a:gd name="T30" fmla="*/ 342 w 618"/>
                  <a:gd name="T31" fmla="*/ 2 h 779"/>
                  <a:gd name="T32" fmla="*/ 278 w 618"/>
                  <a:gd name="T33" fmla="*/ 2 h 779"/>
                  <a:gd name="T34" fmla="*/ 218 w 618"/>
                  <a:gd name="T35" fmla="*/ 14 h 779"/>
                  <a:gd name="T36" fmla="*/ 162 w 618"/>
                  <a:gd name="T37" fmla="*/ 38 h 779"/>
                  <a:gd name="T38" fmla="*/ 113 w 618"/>
                  <a:gd name="T39" fmla="*/ 70 h 779"/>
                  <a:gd name="T40" fmla="*/ 70 w 618"/>
                  <a:gd name="T41" fmla="*/ 113 h 779"/>
                  <a:gd name="T42" fmla="*/ 38 w 618"/>
                  <a:gd name="T43" fmla="*/ 161 h 779"/>
                  <a:gd name="T44" fmla="*/ 14 w 618"/>
                  <a:gd name="T45" fmla="*/ 218 h 779"/>
                  <a:gd name="T46" fmla="*/ 2 w 618"/>
                  <a:gd name="T47" fmla="*/ 277 h 779"/>
                  <a:gd name="T48" fmla="*/ 2 w 618"/>
                  <a:gd name="T49" fmla="*/ 339 h 779"/>
                  <a:gd name="T50" fmla="*/ 14 w 618"/>
                  <a:gd name="T51" fmla="*/ 398 h 779"/>
                  <a:gd name="T52" fmla="*/ 37 w 618"/>
                  <a:gd name="T53" fmla="*/ 453 h 779"/>
                  <a:gd name="T54" fmla="*/ 69 w 618"/>
                  <a:gd name="T55" fmla="*/ 502 h 779"/>
                  <a:gd name="T56" fmla="*/ 101 w 618"/>
                  <a:gd name="T57" fmla="*/ 537 h 779"/>
                  <a:gd name="T58" fmla="*/ 137 w 618"/>
                  <a:gd name="T59" fmla="*/ 575 h 779"/>
                  <a:gd name="T60" fmla="*/ 175 w 618"/>
                  <a:gd name="T61" fmla="*/ 636 h 779"/>
                  <a:gd name="T62" fmla="*/ 201 w 618"/>
                  <a:gd name="T63" fmla="*/ 722 h 779"/>
                  <a:gd name="T64" fmla="*/ 414 w 618"/>
                  <a:gd name="T65" fmla="*/ 779 h 77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18"/>
                  <a:gd name="T100" fmla="*/ 0 h 779"/>
                  <a:gd name="T101" fmla="*/ 618 w 618"/>
                  <a:gd name="T102" fmla="*/ 779 h 77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18" h="779">
                    <a:moveTo>
                      <a:pt x="414" y="779"/>
                    </a:moveTo>
                    <a:lnTo>
                      <a:pt x="417" y="722"/>
                    </a:lnTo>
                    <a:lnTo>
                      <a:pt x="427" y="675"/>
                    </a:lnTo>
                    <a:lnTo>
                      <a:pt x="442" y="636"/>
                    </a:lnTo>
                    <a:lnTo>
                      <a:pt x="461" y="602"/>
                    </a:lnTo>
                    <a:lnTo>
                      <a:pt x="481" y="575"/>
                    </a:lnTo>
                    <a:lnTo>
                      <a:pt x="500" y="554"/>
                    </a:lnTo>
                    <a:lnTo>
                      <a:pt x="517" y="537"/>
                    </a:lnTo>
                    <a:lnTo>
                      <a:pt x="531" y="523"/>
                    </a:lnTo>
                    <a:lnTo>
                      <a:pt x="551" y="502"/>
                    </a:lnTo>
                    <a:lnTo>
                      <a:pt x="568" y="479"/>
                    </a:lnTo>
                    <a:lnTo>
                      <a:pt x="583" y="453"/>
                    </a:lnTo>
                    <a:lnTo>
                      <a:pt x="595" y="427"/>
                    </a:lnTo>
                    <a:lnTo>
                      <a:pt x="604" y="398"/>
                    </a:lnTo>
                    <a:lnTo>
                      <a:pt x="612" y="370"/>
                    </a:lnTo>
                    <a:lnTo>
                      <a:pt x="616" y="339"/>
                    </a:lnTo>
                    <a:lnTo>
                      <a:pt x="618" y="309"/>
                    </a:lnTo>
                    <a:lnTo>
                      <a:pt x="616" y="277"/>
                    </a:lnTo>
                    <a:lnTo>
                      <a:pt x="612" y="246"/>
                    </a:lnTo>
                    <a:lnTo>
                      <a:pt x="604" y="218"/>
                    </a:lnTo>
                    <a:lnTo>
                      <a:pt x="594" y="189"/>
                    </a:lnTo>
                    <a:lnTo>
                      <a:pt x="581" y="161"/>
                    </a:lnTo>
                    <a:lnTo>
                      <a:pt x="565" y="137"/>
                    </a:lnTo>
                    <a:lnTo>
                      <a:pt x="548" y="113"/>
                    </a:lnTo>
                    <a:lnTo>
                      <a:pt x="528" y="90"/>
                    </a:lnTo>
                    <a:lnTo>
                      <a:pt x="505" y="70"/>
                    </a:lnTo>
                    <a:lnTo>
                      <a:pt x="482" y="53"/>
                    </a:lnTo>
                    <a:lnTo>
                      <a:pt x="456" y="38"/>
                    </a:lnTo>
                    <a:lnTo>
                      <a:pt x="429" y="25"/>
                    </a:lnTo>
                    <a:lnTo>
                      <a:pt x="401" y="14"/>
                    </a:lnTo>
                    <a:lnTo>
                      <a:pt x="372" y="6"/>
                    </a:lnTo>
                    <a:lnTo>
                      <a:pt x="342" y="2"/>
                    </a:lnTo>
                    <a:lnTo>
                      <a:pt x="310" y="0"/>
                    </a:lnTo>
                    <a:lnTo>
                      <a:pt x="278" y="2"/>
                    </a:lnTo>
                    <a:lnTo>
                      <a:pt x="247" y="6"/>
                    </a:lnTo>
                    <a:lnTo>
                      <a:pt x="218" y="14"/>
                    </a:lnTo>
                    <a:lnTo>
                      <a:pt x="189" y="25"/>
                    </a:lnTo>
                    <a:lnTo>
                      <a:pt x="162" y="38"/>
                    </a:lnTo>
                    <a:lnTo>
                      <a:pt x="137" y="53"/>
                    </a:lnTo>
                    <a:lnTo>
                      <a:pt x="113" y="70"/>
                    </a:lnTo>
                    <a:lnTo>
                      <a:pt x="92" y="90"/>
                    </a:lnTo>
                    <a:lnTo>
                      <a:pt x="70" y="113"/>
                    </a:lnTo>
                    <a:lnTo>
                      <a:pt x="53" y="137"/>
                    </a:lnTo>
                    <a:lnTo>
                      <a:pt x="38" y="161"/>
                    </a:lnTo>
                    <a:lnTo>
                      <a:pt x="24" y="189"/>
                    </a:lnTo>
                    <a:lnTo>
                      <a:pt x="14" y="218"/>
                    </a:lnTo>
                    <a:lnTo>
                      <a:pt x="6" y="246"/>
                    </a:lnTo>
                    <a:lnTo>
                      <a:pt x="2" y="277"/>
                    </a:lnTo>
                    <a:lnTo>
                      <a:pt x="0" y="309"/>
                    </a:lnTo>
                    <a:lnTo>
                      <a:pt x="2" y="339"/>
                    </a:lnTo>
                    <a:lnTo>
                      <a:pt x="6" y="370"/>
                    </a:lnTo>
                    <a:lnTo>
                      <a:pt x="14" y="398"/>
                    </a:lnTo>
                    <a:lnTo>
                      <a:pt x="23" y="427"/>
                    </a:lnTo>
                    <a:lnTo>
                      <a:pt x="37" y="453"/>
                    </a:lnTo>
                    <a:lnTo>
                      <a:pt x="50" y="479"/>
                    </a:lnTo>
                    <a:lnTo>
                      <a:pt x="69" y="502"/>
                    </a:lnTo>
                    <a:lnTo>
                      <a:pt x="87" y="523"/>
                    </a:lnTo>
                    <a:lnTo>
                      <a:pt x="101" y="537"/>
                    </a:lnTo>
                    <a:lnTo>
                      <a:pt x="117" y="554"/>
                    </a:lnTo>
                    <a:lnTo>
                      <a:pt x="137" y="575"/>
                    </a:lnTo>
                    <a:lnTo>
                      <a:pt x="157" y="602"/>
                    </a:lnTo>
                    <a:lnTo>
                      <a:pt x="175" y="636"/>
                    </a:lnTo>
                    <a:lnTo>
                      <a:pt x="191" y="675"/>
                    </a:lnTo>
                    <a:lnTo>
                      <a:pt x="201" y="722"/>
                    </a:lnTo>
                    <a:lnTo>
                      <a:pt x="204" y="779"/>
                    </a:lnTo>
                    <a:lnTo>
                      <a:pt x="414" y="779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25" name="Freeform 32"/>
              <p:cNvSpPr>
                <a:spLocks/>
              </p:cNvSpPr>
              <p:nvPr/>
            </p:nvSpPr>
            <p:spPr bwMode="auto">
              <a:xfrm>
                <a:off x="8867" y="9574"/>
                <a:ext cx="24" cy="47"/>
              </a:xfrm>
              <a:custGeom>
                <a:avLst/>
                <a:gdLst>
                  <a:gd name="T0" fmla="*/ 47 w 47"/>
                  <a:gd name="T1" fmla="*/ 0 h 95"/>
                  <a:gd name="T2" fmla="*/ 27 w 47"/>
                  <a:gd name="T3" fmla="*/ 5 h 95"/>
                  <a:gd name="T4" fmla="*/ 12 w 47"/>
                  <a:gd name="T5" fmla="*/ 16 h 95"/>
                  <a:gd name="T6" fmla="*/ 3 w 47"/>
                  <a:gd name="T7" fmla="*/ 31 h 95"/>
                  <a:gd name="T8" fmla="*/ 0 w 47"/>
                  <a:gd name="T9" fmla="*/ 48 h 95"/>
                  <a:gd name="T10" fmla="*/ 3 w 47"/>
                  <a:gd name="T11" fmla="*/ 64 h 95"/>
                  <a:gd name="T12" fmla="*/ 12 w 47"/>
                  <a:gd name="T13" fmla="*/ 79 h 95"/>
                  <a:gd name="T14" fmla="*/ 27 w 47"/>
                  <a:gd name="T15" fmla="*/ 90 h 95"/>
                  <a:gd name="T16" fmla="*/ 47 w 47"/>
                  <a:gd name="T17" fmla="*/ 95 h 95"/>
                  <a:gd name="T18" fmla="*/ 47 w 47"/>
                  <a:gd name="T19" fmla="*/ 0 h 9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5"/>
                  <a:gd name="T32" fmla="*/ 47 w 47"/>
                  <a:gd name="T33" fmla="*/ 95 h 9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5">
                    <a:moveTo>
                      <a:pt x="47" y="0"/>
                    </a:moveTo>
                    <a:lnTo>
                      <a:pt x="27" y="5"/>
                    </a:lnTo>
                    <a:lnTo>
                      <a:pt x="12" y="16"/>
                    </a:lnTo>
                    <a:lnTo>
                      <a:pt x="3" y="31"/>
                    </a:lnTo>
                    <a:lnTo>
                      <a:pt x="0" y="48"/>
                    </a:lnTo>
                    <a:lnTo>
                      <a:pt x="3" y="64"/>
                    </a:lnTo>
                    <a:lnTo>
                      <a:pt x="12" y="79"/>
                    </a:lnTo>
                    <a:lnTo>
                      <a:pt x="27" y="90"/>
                    </a:lnTo>
                    <a:lnTo>
                      <a:pt x="47" y="95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26" name="Freeform 33"/>
              <p:cNvSpPr>
                <a:spLocks/>
              </p:cNvSpPr>
              <p:nvPr/>
            </p:nvSpPr>
            <p:spPr bwMode="auto">
              <a:xfrm>
                <a:off x="8891" y="9574"/>
                <a:ext cx="134" cy="47"/>
              </a:xfrm>
              <a:custGeom>
                <a:avLst/>
                <a:gdLst>
                  <a:gd name="T0" fmla="*/ 267 w 267"/>
                  <a:gd name="T1" fmla="*/ 48 h 95"/>
                  <a:gd name="T2" fmla="*/ 267 w 267"/>
                  <a:gd name="T3" fmla="*/ 0 h 95"/>
                  <a:gd name="T4" fmla="*/ 0 w 267"/>
                  <a:gd name="T5" fmla="*/ 0 h 95"/>
                  <a:gd name="T6" fmla="*/ 0 w 267"/>
                  <a:gd name="T7" fmla="*/ 95 h 95"/>
                  <a:gd name="T8" fmla="*/ 267 w 267"/>
                  <a:gd name="T9" fmla="*/ 95 h 95"/>
                  <a:gd name="T10" fmla="*/ 267 w 267"/>
                  <a:gd name="T11" fmla="*/ 48 h 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95"/>
                  <a:gd name="T20" fmla="*/ 267 w 267"/>
                  <a:gd name="T21" fmla="*/ 95 h 9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95">
                    <a:moveTo>
                      <a:pt x="267" y="48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267" y="95"/>
                    </a:lnTo>
                    <a:lnTo>
                      <a:pt x="267" y="4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27" name="Freeform 34"/>
              <p:cNvSpPr>
                <a:spLocks/>
              </p:cNvSpPr>
              <p:nvPr/>
            </p:nvSpPr>
            <p:spPr bwMode="auto">
              <a:xfrm>
                <a:off x="9025" y="9574"/>
                <a:ext cx="23" cy="47"/>
              </a:xfrm>
              <a:custGeom>
                <a:avLst/>
                <a:gdLst>
                  <a:gd name="T0" fmla="*/ 0 w 47"/>
                  <a:gd name="T1" fmla="*/ 95 h 95"/>
                  <a:gd name="T2" fmla="*/ 20 w 47"/>
                  <a:gd name="T3" fmla="*/ 90 h 95"/>
                  <a:gd name="T4" fmla="*/ 35 w 47"/>
                  <a:gd name="T5" fmla="*/ 79 h 95"/>
                  <a:gd name="T6" fmla="*/ 44 w 47"/>
                  <a:gd name="T7" fmla="*/ 64 h 95"/>
                  <a:gd name="T8" fmla="*/ 47 w 47"/>
                  <a:gd name="T9" fmla="*/ 48 h 95"/>
                  <a:gd name="T10" fmla="*/ 44 w 47"/>
                  <a:gd name="T11" fmla="*/ 31 h 95"/>
                  <a:gd name="T12" fmla="*/ 35 w 47"/>
                  <a:gd name="T13" fmla="*/ 16 h 95"/>
                  <a:gd name="T14" fmla="*/ 20 w 47"/>
                  <a:gd name="T15" fmla="*/ 5 h 95"/>
                  <a:gd name="T16" fmla="*/ 0 w 47"/>
                  <a:gd name="T17" fmla="*/ 0 h 95"/>
                  <a:gd name="T18" fmla="*/ 0 w 47"/>
                  <a:gd name="T19" fmla="*/ 95 h 9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5"/>
                  <a:gd name="T32" fmla="*/ 47 w 47"/>
                  <a:gd name="T33" fmla="*/ 95 h 9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5">
                    <a:moveTo>
                      <a:pt x="0" y="95"/>
                    </a:moveTo>
                    <a:lnTo>
                      <a:pt x="20" y="90"/>
                    </a:lnTo>
                    <a:lnTo>
                      <a:pt x="35" y="79"/>
                    </a:lnTo>
                    <a:lnTo>
                      <a:pt x="44" y="64"/>
                    </a:lnTo>
                    <a:lnTo>
                      <a:pt x="47" y="48"/>
                    </a:lnTo>
                    <a:lnTo>
                      <a:pt x="44" y="31"/>
                    </a:lnTo>
                    <a:lnTo>
                      <a:pt x="35" y="16"/>
                    </a:lnTo>
                    <a:lnTo>
                      <a:pt x="20" y="5"/>
                    </a:lnTo>
                    <a:lnTo>
                      <a:pt x="0" y="0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28" name="Freeform 35"/>
              <p:cNvSpPr>
                <a:spLocks/>
              </p:cNvSpPr>
              <p:nvPr/>
            </p:nvSpPr>
            <p:spPr bwMode="auto">
              <a:xfrm>
                <a:off x="8867" y="9602"/>
                <a:ext cx="24" cy="47"/>
              </a:xfrm>
              <a:custGeom>
                <a:avLst/>
                <a:gdLst>
                  <a:gd name="T0" fmla="*/ 47 w 47"/>
                  <a:gd name="T1" fmla="*/ 0 h 94"/>
                  <a:gd name="T2" fmla="*/ 27 w 47"/>
                  <a:gd name="T3" fmla="*/ 4 h 94"/>
                  <a:gd name="T4" fmla="*/ 12 w 47"/>
                  <a:gd name="T5" fmla="*/ 15 h 94"/>
                  <a:gd name="T6" fmla="*/ 3 w 47"/>
                  <a:gd name="T7" fmla="*/ 30 h 94"/>
                  <a:gd name="T8" fmla="*/ 0 w 47"/>
                  <a:gd name="T9" fmla="*/ 47 h 94"/>
                  <a:gd name="T10" fmla="*/ 3 w 47"/>
                  <a:gd name="T11" fmla="*/ 64 h 94"/>
                  <a:gd name="T12" fmla="*/ 12 w 47"/>
                  <a:gd name="T13" fmla="*/ 79 h 94"/>
                  <a:gd name="T14" fmla="*/ 27 w 47"/>
                  <a:gd name="T15" fmla="*/ 89 h 94"/>
                  <a:gd name="T16" fmla="*/ 47 w 47"/>
                  <a:gd name="T17" fmla="*/ 94 h 94"/>
                  <a:gd name="T18" fmla="*/ 47 w 47"/>
                  <a:gd name="T19" fmla="*/ 0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4"/>
                  <a:gd name="T32" fmla="*/ 47 w 47"/>
                  <a:gd name="T33" fmla="*/ 94 h 9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4">
                    <a:moveTo>
                      <a:pt x="47" y="0"/>
                    </a:moveTo>
                    <a:lnTo>
                      <a:pt x="27" y="4"/>
                    </a:lnTo>
                    <a:lnTo>
                      <a:pt x="12" y="15"/>
                    </a:lnTo>
                    <a:lnTo>
                      <a:pt x="3" y="30"/>
                    </a:lnTo>
                    <a:lnTo>
                      <a:pt x="0" y="47"/>
                    </a:lnTo>
                    <a:lnTo>
                      <a:pt x="3" y="64"/>
                    </a:lnTo>
                    <a:lnTo>
                      <a:pt x="12" y="79"/>
                    </a:lnTo>
                    <a:lnTo>
                      <a:pt x="27" y="89"/>
                    </a:lnTo>
                    <a:lnTo>
                      <a:pt x="47" y="94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29" name="Freeform 36"/>
              <p:cNvSpPr>
                <a:spLocks/>
              </p:cNvSpPr>
              <p:nvPr/>
            </p:nvSpPr>
            <p:spPr bwMode="auto">
              <a:xfrm>
                <a:off x="8891" y="9602"/>
                <a:ext cx="134" cy="47"/>
              </a:xfrm>
              <a:custGeom>
                <a:avLst/>
                <a:gdLst>
                  <a:gd name="T0" fmla="*/ 267 w 267"/>
                  <a:gd name="T1" fmla="*/ 47 h 94"/>
                  <a:gd name="T2" fmla="*/ 267 w 267"/>
                  <a:gd name="T3" fmla="*/ 0 h 94"/>
                  <a:gd name="T4" fmla="*/ 0 w 267"/>
                  <a:gd name="T5" fmla="*/ 0 h 94"/>
                  <a:gd name="T6" fmla="*/ 0 w 267"/>
                  <a:gd name="T7" fmla="*/ 94 h 94"/>
                  <a:gd name="T8" fmla="*/ 267 w 267"/>
                  <a:gd name="T9" fmla="*/ 94 h 94"/>
                  <a:gd name="T10" fmla="*/ 267 w 267"/>
                  <a:gd name="T11" fmla="*/ 47 h 9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94"/>
                  <a:gd name="T20" fmla="*/ 267 w 267"/>
                  <a:gd name="T21" fmla="*/ 94 h 9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94">
                    <a:moveTo>
                      <a:pt x="267" y="47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94"/>
                    </a:lnTo>
                    <a:lnTo>
                      <a:pt x="267" y="94"/>
                    </a:lnTo>
                    <a:lnTo>
                      <a:pt x="267" y="4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0" name="Freeform 37"/>
              <p:cNvSpPr>
                <a:spLocks/>
              </p:cNvSpPr>
              <p:nvPr/>
            </p:nvSpPr>
            <p:spPr bwMode="auto">
              <a:xfrm>
                <a:off x="9025" y="9602"/>
                <a:ext cx="23" cy="47"/>
              </a:xfrm>
              <a:custGeom>
                <a:avLst/>
                <a:gdLst>
                  <a:gd name="T0" fmla="*/ 0 w 47"/>
                  <a:gd name="T1" fmla="*/ 94 h 94"/>
                  <a:gd name="T2" fmla="*/ 20 w 47"/>
                  <a:gd name="T3" fmla="*/ 89 h 94"/>
                  <a:gd name="T4" fmla="*/ 35 w 47"/>
                  <a:gd name="T5" fmla="*/ 79 h 94"/>
                  <a:gd name="T6" fmla="*/ 44 w 47"/>
                  <a:gd name="T7" fmla="*/ 64 h 94"/>
                  <a:gd name="T8" fmla="*/ 47 w 47"/>
                  <a:gd name="T9" fmla="*/ 47 h 94"/>
                  <a:gd name="T10" fmla="*/ 44 w 47"/>
                  <a:gd name="T11" fmla="*/ 30 h 94"/>
                  <a:gd name="T12" fmla="*/ 35 w 47"/>
                  <a:gd name="T13" fmla="*/ 15 h 94"/>
                  <a:gd name="T14" fmla="*/ 20 w 47"/>
                  <a:gd name="T15" fmla="*/ 4 h 94"/>
                  <a:gd name="T16" fmla="*/ 0 w 47"/>
                  <a:gd name="T17" fmla="*/ 0 h 94"/>
                  <a:gd name="T18" fmla="*/ 0 w 47"/>
                  <a:gd name="T19" fmla="*/ 94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4"/>
                  <a:gd name="T32" fmla="*/ 47 w 47"/>
                  <a:gd name="T33" fmla="*/ 94 h 9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4">
                    <a:moveTo>
                      <a:pt x="0" y="94"/>
                    </a:moveTo>
                    <a:lnTo>
                      <a:pt x="20" y="89"/>
                    </a:lnTo>
                    <a:lnTo>
                      <a:pt x="35" y="79"/>
                    </a:lnTo>
                    <a:lnTo>
                      <a:pt x="44" y="64"/>
                    </a:lnTo>
                    <a:lnTo>
                      <a:pt x="47" y="47"/>
                    </a:lnTo>
                    <a:lnTo>
                      <a:pt x="44" y="30"/>
                    </a:lnTo>
                    <a:lnTo>
                      <a:pt x="35" y="15"/>
                    </a:lnTo>
                    <a:lnTo>
                      <a:pt x="20" y="4"/>
                    </a:lnTo>
                    <a:lnTo>
                      <a:pt x="0" y="0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1" name="Freeform 38"/>
              <p:cNvSpPr>
                <a:spLocks/>
              </p:cNvSpPr>
              <p:nvPr/>
            </p:nvSpPr>
            <p:spPr bwMode="auto">
              <a:xfrm>
                <a:off x="8867" y="9630"/>
                <a:ext cx="24" cy="47"/>
              </a:xfrm>
              <a:custGeom>
                <a:avLst/>
                <a:gdLst>
                  <a:gd name="T0" fmla="*/ 47 w 47"/>
                  <a:gd name="T1" fmla="*/ 0 h 94"/>
                  <a:gd name="T2" fmla="*/ 27 w 47"/>
                  <a:gd name="T3" fmla="*/ 5 h 94"/>
                  <a:gd name="T4" fmla="*/ 12 w 47"/>
                  <a:gd name="T5" fmla="*/ 15 h 94"/>
                  <a:gd name="T6" fmla="*/ 3 w 47"/>
                  <a:gd name="T7" fmla="*/ 30 h 94"/>
                  <a:gd name="T8" fmla="*/ 0 w 47"/>
                  <a:gd name="T9" fmla="*/ 47 h 94"/>
                  <a:gd name="T10" fmla="*/ 3 w 47"/>
                  <a:gd name="T11" fmla="*/ 64 h 94"/>
                  <a:gd name="T12" fmla="*/ 12 w 47"/>
                  <a:gd name="T13" fmla="*/ 79 h 94"/>
                  <a:gd name="T14" fmla="*/ 27 w 47"/>
                  <a:gd name="T15" fmla="*/ 90 h 94"/>
                  <a:gd name="T16" fmla="*/ 47 w 47"/>
                  <a:gd name="T17" fmla="*/ 94 h 94"/>
                  <a:gd name="T18" fmla="*/ 47 w 47"/>
                  <a:gd name="T19" fmla="*/ 0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4"/>
                  <a:gd name="T32" fmla="*/ 47 w 47"/>
                  <a:gd name="T33" fmla="*/ 94 h 9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4">
                    <a:moveTo>
                      <a:pt x="47" y="0"/>
                    </a:moveTo>
                    <a:lnTo>
                      <a:pt x="27" y="5"/>
                    </a:lnTo>
                    <a:lnTo>
                      <a:pt x="12" y="15"/>
                    </a:lnTo>
                    <a:lnTo>
                      <a:pt x="3" y="30"/>
                    </a:lnTo>
                    <a:lnTo>
                      <a:pt x="0" y="47"/>
                    </a:lnTo>
                    <a:lnTo>
                      <a:pt x="3" y="64"/>
                    </a:lnTo>
                    <a:lnTo>
                      <a:pt x="12" y="79"/>
                    </a:lnTo>
                    <a:lnTo>
                      <a:pt x="27" y="90"/>
                    </a:lnTo>
                    <a:lnTo>
                      <a:pt x="47" y="94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2" name="Freeform 39"/>
              <p:cNvSpPr>
                <a:spLocks/>
              </p:cNvSpPr>
              <p:nvPr/>
            </p:nvSpPr>
            <p:spPr bwMode="auto">
              <a:xfrm>
                <a:off x="8891" y="9630"/>
                <a:ext cx="134" cy="47"/>
              </a:xfrm>
              <a:custGeom>
                <a:avLst/>
                <a:gdLst>
                  <a:gd name="T0" fmla="*/ 267 w 267"/>
                  <a:gd name="T1" fmla="*/ 47 h 94"/>
                  <a:gd name="T2" fmla="*/ 267 w 267"/>
                  <a:gd name="T3" fmla="*/ 0 h 94"/>
                  <a:gd name="T4" fmla="*/ 0 w 267"/>
                  <a:gd name="T5" fmla="*/ 0 h 94"/>
                  <a:gd name="T6" fmla="*/ 0 w 267"/>
                  <a:gd name="T7" fmla="*/ 94 h 94"/>
                  <a:gd name="T8" fmla="*/ 267 w 267"/>
                  <a:gd name="T9" fmla="*/ 94 h 94"/>
                  <a:gd name="T10" fmla="*/ 267 w 267"/>
                  <a:gd name="T11" fmla="*/ 47 h 9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94"/>
                  <a:gd name="T20" fmla="*/ 267 w 267"/>
                  <a:gd name="T21" fmla="*/ 94 h 9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94">
                    <a:moveTo>
                      <a:pt x="267" y="47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94"/>
                    </a:lnTo>
                    <a:lnTo>
                      <a:pt x="267" y="94"/>
                    </a:lnTo>
                    <a:lnTo>
                      <a:pt x="267" y="4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3" name="Freeform 40"/>
              <p:cNvSpPr>
                <a:spLocks/>
              </p:cNvSpPr>
              <p:nvPr/>
            </p:nvSpPr>
            <p:spPr bwMode="auto">
              <a:xfrm>
                <a:off x="9025" y="9630"/>
                <a:ext cx="23" cy="47"/>
              </a:xfrm>
              <a:custGeom>
                <a:avLst/>
                <a:gdLst>
                  <a:gd name="T0" fmla="*/ 0 w 47"/>
                  <a:gd name="T1" fmla="*/ 94 h 94"/>
                  <a:gd name="T2" fmla="*/ 20 w 47"/>
                  <a:gd name="T3" fmla="*/ 90 h 94"/>
                  <a:gd name="T4" fmla="*/ 35 w 47"/>
                  <a:gd name="T5" fmla="*/ 79 h 94"/>
                  <a:gd name="T6" fmla="*/ 44 w 47"/>
                  <a:gd name="T7" fmla="*/ 64 h 94"/>
                  <a:gd name="T8" fmla="*/ 47 w 47"/>
                  <a:gd name="T9" fmla="*/ 47 h 94"/>
                  <a:gd name="T10" fmla="*/ 44 w 47"/>
                  <a:gd name="T11" fmla="*/ 30 h 94"/>
                  <a:gd name="T12" fmla="*/ 35 w 47"/>
                  <a:gd name="T13" fmla="*/ 15 h 94"/>
                  <a:gd name="T14" fmla="*/ 20 w 47"/>
                  <a:gd name="T15" fmla="*/ 5 h 94"/>
                  <a:gd name="T16" fmla="*/ 0 w 47"/>
                  <a:gd name="T17" fmla="*/ 0 h 94"/>
                  <a:gd name="T18" fmla="*/ 0 w 47"/>
                  <a:gd name="T19" fmla="*/ 94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7"/>
                  <a:gd name="T31" fmla="*/ 0 h 94"/>
                  <a:gd name="T32" fmla="*/ 47 w 47"/>
                  <a:gd name="T33" fmla="*/ 94 h 9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7" h="94">
                    <a:moveTo>
                      <a:pt x="0" y="94"/>
                    </a:moveTo>
                    <a:lnTo>
                      <a:pt x="20" y="90"/>
                    </a:lnTo>
                    <a:lnTo>
                      <a:pt x="35" y="79"/>
                    </a:lnTo>
                    <a:lnTo>
                      <a:pt x="44" y="64"/>
                    </a:lnTo>
                    <a:lnTo>
                      <a:pt x="47" y="47"/>
                    </a:lnTo>
                    <a:lnTo>
                      <a:pt x="44" y="30"/>
                    </a:lnTo>
                    <a:lnTo>
                      <a:pt x="35" y="15"/>
                    </a:lnTo>
                    <a:lnTo>
                      <a:pt x="20" y="5"/>
                    </a:lnTo>
                    <a:lnTo>
                      <a:pt x="0" y="0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4" name="Freeform 41"/>
              <p:cNvSpPr>
                <a:spLocks/>
              </p:cNvSpPr>
              <p:nvPr/>
            </p:nvSpPr>
            <p:spPr bwMode="auto">
              <a:xfrm>
                <a:off x="8884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5" name="Freeform 42"/>
              <p:cNvSpPr>
                <a:spLocks/>
              </p:cNvSpPr>
              <p:nvPr/>
            </p:nvSpPr>
            <p:spPr bwMode="auto">
              <a:xfrm>
                <a:off x="8891" y="9562"/>
                <a:ext cx="134" cy="14"/>
              </a:xfrm>
              <a:custGeom>
                <a:avLst/>
                <a:gdLst>
                  <a:gd name="T0" fmla="*/ 267 w 267"/>
                  <a:gd name="T1" fmla="*/ 13 h 27"/>
                  <a:gd name="T2" fmla="*/ 267 w 267"/>
                  <a:gd name="T3" fmla="*/ 0 h 27"/>
                  <a:gd name="T4" fmla="*/ 0 w 267"/>
                  <a:gd name="T5" fmla="*/ 0 h 27"/>
                  <a:gd name="T6" fmla="*/ 0 w 267"/>
                  <a:gd name="T7" fmla="*/ 27 h 27"/>
                  <a:gd name="T8" fmla="*/ 267 w 267"/>
                  <a:gd name="T9" fmla="*/ 27 h 27"/>
                  <a:gd name="T10" fmla="*/ 267 w 267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27"/>
                  <a:gd name="T20" fmla="*/ 267 w 267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27">
                    <a:moveTo>
                      <a:pt x="267" y="13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67" y="27"/>
                    </a:lnTo>
                    <a:lnTo>
                      <a:pt x="267" y="13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6" name="Freeform 43"/>
              <p:cNvSpPr>
                <a:spLocks/>
              </p:cNvSpPr>
              <p:nvPr/>
            </p:nvSpPr>
            <p:spPr bwMode="auto">
              <a:xfrm>
                <a:off x="9025" y="9562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7" name="Freeform 44"/>
              <p:cNvSpPr>
                <a:spLocks/>
              </p:cNvSpPr>
              <p:nvPr/>
            </p:nvSpPr>
            <p:spPr bwMode="auto">
              <a:xfrm>
                <a:off x="8884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8" name="Freeform 45"/>
              <p:cNvSpPr>
                <a:spLocks/>
              </p:cNvSpPr>
              <p:nvPr/>
            </p:nvSpPr>
            <p:spPr bwMode="auto">
              <a:xfrm>
                <a:off x="8891" y="9590"/>
                <a:ext cx="134" cy="14"/>
              </a:xfrm>
              <a:custGeom>
                <a:avLst/>
                <a:gdLst>
                  <a:gd name="T0" fmla="*/ 267 w 267"/>
                  <a:gd name="T1" fmla="*/ 14 h 27"/>
                  <a:gd name="T2" fmla="*/ 267 w 267"/>
                  <a:gd name="T3" fmla="*/ 0 h 27"/>
                  <a:gd name="T4" fmla="*/ 0 w 267"/>
                  <a:gd name="T5" fmla="*/ 0 h 27"/>
                  <a:gd name="T6" fmla="*/ 0 w 267"/>
                  <a:gd name="T7" fmla="*/ 27 h 27"/>
                  <a:gd name="T8" fmla="*/ 267 w 267"/>
                  <a:gd name="T9" fmla="*/ 27 h 27"/>
                  <a:gd name="T10" fmla="*/ 267 w 267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27"/>
                  <a:gd name="T20" fmla="*/ 267 w 267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27">
                    <a:moveTo>
                      <a:pt x="267" y="14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67" y="27"/>
                    </a:lnTo>
                    <a:lnTo>
                      <a:pt x="267" y="14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9" name="Freeform 46"/>
              <p:cNvSpPr>
                <a:spLocks/>
              </p:cNvSpPr>
              <p:nvPr/>
            </p:nvSpPr>
            <p:spPr bwMode="auto">
              <a:xfrm>
                <a:off x="9025" y="9590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40" name="Freeform 47"/>
              <p:cNvSpPr>
                <a:spLocks/>
              </p:cNvSpPr>
              <p:nvPr/>
            </p:nvSpPr>
            <p:spPr bwMode="auto">
              <a:xfrm>
                <a:off x="8884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41" name="Freeform 48"/>
              <p:cNvSpPr>
                <a:spLocks/>
              </p:cNvSpPr>
              <p:nvPr/>
            </p:nvSpPr>
            <p:spPr bwMode="auto">
              <a:xfrm>
                <a:off x="8891" y="9619"/>
                <a:ext cx="134" cy="13"/>
              </a:xfrm>
              <a:custGeom>
                <a:avLst/>
                <a:gdLst>
                  <a:gd name="T0" fmla="*/ 267 w 267"/>
                  <a:gd name="T1" fmla="*/ 14 h 28"/>
                  <a:gd name="T2" fmla="*/ 267 w 267"/>
                  <a:gd name="T3" fmla="*/ 0 h 28"/>
                  <a:gd name="T4" fmla="*/ 0 w 267"/>
                  <a:gd name="T5" fmla="*/ 0 h 28"/>
                  <a:gd name="T6" fmla="*/ 0 w 267"/>
                  <a:gd name="T7" fmla="*/ 28 h 28"/>
                  <a:gd name="T8" fmla="*/ 267 w 267"/>
                  <a:gd name="T9" fmla="*/ 28 h 28"/>
                  <a:gd name="T10" fmla="*/ 267 w 267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28"/>
                  <a:gd name="T20" fmla="*/ 267 w 267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28">
                    <a:moveTo>
                      <a:pt x="267" y="14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67" y="28"/>
                    </a:lnTo>
                    <a:lnTo>
                      <a:pt x="267" y="14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42" name="Freeform 49"/>
              <p:cNvSpPr>
                <a:spLocks/>
              </p:cNvSpPr>
              <p:nvPr/>
            </p:nvSpPr>
            <p:spPr bwMode="auto">
              <a:xfrm>
                <a:off x="9025" y="9619"/>
                <a:ext cx="6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43" name="Freeform 50"/>
              <p:cNvSpPr>
                <a:spLocks/>
              </p:cNvSpPr>
              <p:nvPr/>
            </p:nvSpPr>
            <p:spPr bwMode="auto">
              <a:xfrm>
                <a:off x="8884" y="9647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44" name="Freeform 51"/>
              <p:cNvSpPr>
                <a:spLocks/>
              </p:cNvSpPr>
              <p:nvPr/>
            </p:nvSpPr>
            <p:spPr bwMode="auto">
              <a:xfrm>
                <a:off x="8891" y="9647"/>
                <a:ext cx="134" cy="13"/>
              </a:xfrm>
              <a:custGeom>
                <a:avLst/>
                <a:gdLst>
                  <a:gd name="T0" fmla="*/ 267 w 267"/>
                  <a:gd name="T1" fmla="*/ 14 h 28"/>
                  <a:gd name="T2" fmla="*/ 267 w 267"/>
                  <a:gd name="T3" fmla="*/ 0 h 28"/>
                  <a:gd name="T4" fmla="*/ 0 w 267"/>
                  <a:gd name="T5" fmla="*/ 0 h 28"/>
                  <a:gd name="T6" fmla="*/ 0 w 267"/>
                  <a:gd name="T7" fmla="*/ 28 h 28"/>
                  <a:gd name="T8" fmla="*/ 267 w 267"/>
                  <a:gd name="T9" fmla="*/ 28 h 28"/>
                  <a:gd name="T10" fmla="*/ 267 w 267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7"/>
                  <a:gd name="T19" fmla="*/ 0 h 28"/>
                  <a:gd name="T20" fmla="*/ 267 w 267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7" h="28">
                    <a:moveTo>
                      <a:pt x="267" y="14"/>
                    </a:moveTo>
                    <a:lnTo>
                      <a:pt x="267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67" y="28"/>
                    </a:lnTo>
                    <a:lnTo>
                      <a:pt x="267" y="14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45" name="Freeform 52"/>
              <p:cNvSpPr>
                <a:spLocks/>
              </p:cNvSpPr>
              <p:nvPr/>
            </p:nvSpPr>
            <p:spPr bwMode="auto">
              <a:xfrm>
                <a:off x="9025" y="9647"/>
                <a:ext cx="6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4C4C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46" name="Freeform 53"/>
              <p:cNvSpPr>
                <a:spLocks/>
              </p:cNvSpPr>
              <p:nvPr/>
            </p:nvSpPr>
            <p:spPr bwMode="auto">
              <a:xfrm>
                <a:off x="8887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6565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47" name="Freeform 54"/>
              <p:cNvSpPr>
                <a:spLocks/>
              </p:cNvSpPr>
              <p:nvPr/>
            </p:nvSpPr>
            <p:spPr bwMode="auto">
              <a:xfrm>
                <a:off x="8894" y="9562"/>
                <a:ext cx="127" cy="14"/>
              </a:xfrm>
              <a:custGeom>
                <a:avLst/>
                <a:gdLst>
                  <a:gd name="T0" fmla="*/ 255 w 255"/>
                  <a:gd name="T1" fmla="*/ 13 h 27"/>
                  <a:gd name="T2" fmla="*/ 255 w 255"/>
                  <a:gd name="T3" fmla="*/ 0 h 27"/>
                  <a:gd name="T4" fmla="*/ 0 w 255"/>
                  <a:gd name="T5" fmla="*/ 0 h 27"/>
                  <a:gd name="T6" fmla="*/ 0 w 255"/>
                  <a:gd name="T7" fmla="*/ 27 h 27"/>
                  <a:gd name="T8" fmla="*/ 255 w 255"/>
                  <a:gd name="T9" fmla="*/ 27 h 27"/>
                  <a:gd name="T10" fmla="*/ 255 w 255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5"/>
                  <a:gd name="T19" fmla="*/ 0 h 27"/>
                  <a:gd name="T20" fmla="*/ 255 w 255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5" h="27">
                    <a:moveTo>
                      <a:pt x="255" y="13"/>
                    </a:moveTo>
                    <a:lnTo>
                      <a:pt x="255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55" y="27"/>
                    </a:lnTo>
                    <a:lnTo>
                      <a:pt x="255" y="13"/>
                    </a:lnTo>
                    <a:close/>
                  </a:path>
                </a:pathLst>
              </a:custGeom>
              <a:solidFill>
                <a:srgbClr val="56565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48" name="Freeform 55"/>
              <p:cNvSpPr>
                <a:spLocks/>
              </p:cNvSpPr>
              <p:nvPr/>
            </p:nvSpPr>
            <p:spPr bwMode="auto">
              <a:xfrm>
                <a:off x="9021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56565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49" name="Freeform 56"/>
              <p:cNvSpPr>
                <a:spLocks/>
              </p:cNvSpPr>
              <p:nvPr/>
            </p:nvSpPr>
            <p:spPr bwMode="auto">
              <a:xfrm>
                <a:off x="8891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E5E5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50" name="Freeform 57"/>
              <p:cNvSpPr>
                <a:spLocks/>
              </p:cNvSpPr>
              <p:nvPr/>
            </p:nvSpPr>
            <p:spPr bwMode="auto">
              <a:xfrm>
                <a:off x="8898" y="9562"/>
                <a:ext cx="120" cy="14"/>
              </a:xfrm>
              <a:custGeom>
                <a:avLst/>
                <a:gdLst>
                  <a:gd name="T0" fmla="*/ 241 w 241"/>
                  <a:gd name="T1" fmla="*/ 13 h 27"/>
                  <a:gd name="T2" fmla="*/ 241 w 241"/>
                  <a:gd name="T3" fmla="*/ 0 h 27"/>
                  <a:gd name="T4" fmla="*/ 0 w 241"/>
                  <a:gd name="T5" fmla="*/ 0 h 27"/>
                  <a:gd name="T6" fmla="*/ 0 w 241"/>
                  <a:gd name="T7" fmla="*/ 27 h 27"/>
                  <a:gd name="T8" fmla="*/ 241 w 241"/>
                  <a:gd name="T9" fmla="*/ 27 h 27"/>
                  <a:gd name="T10" fmla="*/ 241 w 241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1"/>
                  <a:gd name="T19" fmla="*/ 0 h 27"/>
                  <a:gd name="T20" fmla="*/ 241 w 241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1" h="27">
                    <a:moveTo>
                      <a:pt x="241" y="13"/>
                    </a:moveTo>
                    <a:lnTo>
                      <a:pt x="241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41" y="27"/>
                    </a:lnTo>
                    <a:lnTo>
                      <a:pt x="241" y="13"/>
                    </a:lnTo>
                    <a:close/>
                  </a:path>
                </a:pathLst>
              </a:custGeom>
              <a:solidFill>
                <a:srgbClr val="5E5E5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51" name="Freeform 58"/>
              <p:cNvSpPr>
                <a:spLocks/>
              </p:cNvSpPr>
              <p:nvPr/>
            </p:nvSpPr>
            <p:spPr bwMode="auto">
              <a:xfrm>
                <a:off x="9018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0 w 14"/>
                  <a:gd name="T3" fmla="*/ 22 h 27"/>
                  <a:gd name="T4" fmla="*/ 14 w 14"/>
                  <a:gd name="T5" fmla="*/ 13 h 27"/>
                  <a:gd name="T6" fmla="*/ 10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0" y="22"/>
                    </a:lnTo>
                    <a:lnTo>
                      <a:pt x="14" y="13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5E5E5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52" name="Freeform 59"/>
              <p:cNvSpPr>
                <a:spLocks/>
              </p:cNvSpPr>
              <p:nvPr/>
            </p:nvSpPr>
            <p:spPr bwMode="auto">
              <a:xfrm>
                <a:off x="8894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68686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53" name="Freeform 60"/>
              <p:cNvSpPr>
                <a:spLocks/>
              </p:cNvSpPr>
              <p:nvPr/>
            </p:nvSpPr>
            <p:spPr bwMode="auto">
              <a:xfrm>
                <a:off x="8901" y="9562"/>
                <a:ext cx="114" cy="14"/>
              </a:xfrm>
              <a:custGeom>
                <a:avLst/>
                <a:gdLst>
                  <a:gd name="T0" fmla="*/ 227 w 227"/>
                  <a:gd name="T1" fmla="*/ 13 h 27"/>
                  <a:gd name="T2" fmla="*/ 227 w 227"/>
                  <a:gd name="T3" fmla="*/ 0 h 27"/>
                  <a:gd name="T4" fmla="*/ 0 w 227"/>
                  <a:gd name="T5" fmla="*/ 0 h 27"/>
                  <a:gd name="T6" fmla="*/ 0 w 227"/>
                  <a:gd name="T7" fmla="*/ 27 h 27"/>
                  <a:gd name="T8" fmla="*/ 227 w 227"/>
                  <a:gd name="T9" fmla="*/ 27 h 27"/>
                  <a:gd name="T10" fmla="*/ 227 w 227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7"/>
                  <a:gd name="T19" fmla="*/ 0 h 27"/>
                  <a:gd name="T20" fmla="*/ 227 w 227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7" h="27">
                    <a:moveTo>
                      <a:pt x="227" y="13"/>
                    </a:moveTo>
                    <a:lnTo>
                      <a:pt x="227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27" y="27"/>
                    </a:lnTo>
                    <a:lnTo>
                      <a:pt x="227" y="13"/>
                    </a:lnTo>
                    <a:close/>
                  </a:path>
                </a:pathLst>
              </a:custGeom>
              <a:solidFill>
                <a:srgbClr val="68686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54" name="Freeform 61"/>
              <p:cNvSpPr>
                <a:spLocks/>
              </p:cNvSpPr>
              <p:nvPr/>
            </p:nvSpPr>
            <p:spPr bwMode="auto">
              <a:xfrm>
                <a:off x="9015" y="9562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68686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55" name="Freeform 62"/>
              <p:cNvSpPr>
                <a:spLocks/>
              </p:cNvSpPr>
              <p:nvPr/>
            </p:nvSpPr>
            <p:spPr bwMode="auto">
              <a:xfrm>
                <a:off x="8898" y="9562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3 h 27"/>
                  <a:gd name="T6" fmla="*/ 3 w 13"/>
                  <a:gd name="T7" fmla="*/ 22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56" name="Freeform 63"/>
              <p:cNvSpPr>
                <a:spLocks/>
              </p:cNvSpPr>
              <p:nvPr/>
            </p:nvSpPr>
            <p:spPr bwMode="auto">
              <a:xfrm>
                <a:off x="8905" y="9562"/>
                <a:ext cx="107" cy="14"/>
              </a:xfrm>
              <a:custGeom>
                <a:avLst/>
                <a:gdLst>
                  <a:gd name="T0" fmla="*/ 214 w 214"/>
                  <a:gd name="T1" fmla="*/ 13 h 27"/>
                  <a:gd name="T2" fmla="*/ 214 w 214"/>
                  <a:gd name="T3" fmla="*/ 0 h 27"/>
                  <a:gd name="T4" fmla="*/ 0 w 214"/>
                  <a:gd name="T5" fmla="*/ 0 h 27"/>
                  <a:gd name="T6" fmla="*/ 0 w 214"/>
                  <a:gd name="T7" fmla="*/ 27 h 27"/>
                  <a:gd name="T8" fmla="*/ 214 w 214"/>
                  <a:gd name="T9" fmla="*/ 27 h 27"/>
                  <a:gd name="T10" fmla="*/ 214 w 214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4"/>
                  <a:gd name="T19" fmla="*/ 0 h 27"/>
                  <a:gd name="T20" fmla="*/ 214 w 2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4" h="27">
                    <a:moveTo>
                      <a:pt x="214" y="13"/>
                    </a:moveTo>
                    <a:lnTo>
                      <a:pt x="214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14" y="27"/>
                    </a:lnTo>
                    <a:lnTo>
                      <a:pt x="214" y="13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57" name="Freeform 64"/>
              <p:cNvSpPr>
                <a:spLocks/>
              </p:cNvSpPr>
              <p:nvPr/>
            </p:nvSpPr>
            <p:spPr bwMode="auto">
              <a:xfrm>
                <a:off x="9012" y="9562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58" name="Freeform 65"/>
              <p:cNvSpPr>
                <a:spLocks/>
              </p:cNvSpPr>
              <p:nvPr/>
            </p:nvSpPr>
            <p:spPr bwMode="auto">
              <a:xfrm>
                <a:off x="8901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7A7A7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59" name="Freeform 66"/>
              <p:cNvSpPr>
                <a:spLocks/>
              </p:cNvSpPr>
              <p:nvPr/>
            </p:nvSpPr>
            <p:spPr bwMode="auto">
              <a:xfrm>
                <a:off x="8908" y="9562"/>
                <a:ext cx="100" cy="14"/>
              </a:xfrm>
              <a:custGeom>
                <a:avLst/>
                <a:gdLst>
                  <a:gd name="T0" fmla="*/ 201 w 201"/>
                  <a:gd name="T1" fmla="*/ 13 h 27"/>
                  <a:gd name="T2" fmla="*/ 201 w 201"/>
                  <a:gd name="T3" fmla="*/ 0 h 27"/>
                  <a:gd name="T4" fmla="*/ 0 w 201"/>
                  <a:gd name="T5" fmla="*/ 0 h 27"/>
                  <a:gd name="T6" fmla="*/ 0 w 201"/>
                  <a:gd name="T7" fmla="*/ 27 h 27"/>
                  <a:gd name="T8" fmla="*/ 201 w 201"/>
                  <a:gd name="T9" fmla="*/ 27 h 27"/>
                  <a:gd name="T10" fmla="*/ 201 w 201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1"/>
                  <a:gd name="T19" fmla="*/ 0 h 27"/>
                  <a:gd name="T20" fmla="*/ 201 w 201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1" h="27">
                    <a:moveTo>
                      <a:pt x="201" y="13"/>
                    </a:moveTo>
                    <a:lnTo>
                      <a:pt x="201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01" y="27"/>
                    </a:lnTo>
                    <a:lnTo>
                      <a:pt x="201" y="13"/>
                    </a:lnTo>
                    <a:close/>
                  </a:path>
                </a:pathLst>
              </a:custGeom>
              <a:solidFill>
                <a:srgbClr val="7A7A7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60" name="Freeform 67"/>
              <p:cNvSpPr>
                <a:spLocks/>
              </p:cNvSpPr>
              <p:nvPr/>
            </p:nvSpPr>
            <p:spPr bwMode="auto">
              <a:xfrm>
                <a:off x="9008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7A7A7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61" name="Freeform 68"/>
              <p:cNvSpPr>
                <a:spLocks/>
              </p:cNvSpPr>
              <p:nvPr/>
            </p:nvSpPr>
            <p:spPr bwMode="auto">
              <a:xfrm>
                <a:off x="8905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4 w 14"/>
                  <a:gd name="T3" fmla="*/ 4 h 27"/>
                  <a:gd name="T4" fmla="*/ 0 w 14"/>
                  <a:gd name="T5" fmla="*/ 13 h 27"/>
                  <a:gd name="T6" fmla="*/ 4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4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84848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62" name="Freeform 69"/>
              <p:cNvSpPr>
                <a:spLocks/>
              </p:cNvSpPr>
              <p:nvPr/>
            </p:nvSpPr>
            <p:spPr bwMode="auto">
              <a:xfrm>
                <a:off x="8912" y="9562"/>
                <a:ext cx="93" cy="14"/>
              </a:xfrm>
              <a:custGeom>
                <a:avLst/>
                <a:gdLst>
                  <a:gd name="T0" fmla="*/ 188 w 188"/>
                  <a:gd name="T1" fmla="*/ 13 h 27"/>
                  <a:gd name="T2" fmla="*/ 188 w 188"/>
                  <a:gd name="T3" fmla="*/ 0 h 27"/>
                  <a:gd name="T4" fmla="*/ 0 w 188"/>
                  <a:gd name="T5" fmla="*/ 0 h 27"/>
                  <a:gd name="T6" fmla="*/ 0 w 188"/>
                  <a:gd name="T7" fmla="*/ 27 h 27"/>
                  <a:gd name="T8" fmla="*/ 188 w 188"/>
                  <a:gd name="T9" fmla="*/ 27 h 27"/>
                  <a:gd name="T10" fmla="*/ 188 w 188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8"/>
                  <a:gd name="T19" fmla="*/ 0 h 27"/>
                  <a:gd name="T20" fmla="*/ 188 w 188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8" h="27">
                    <a:moveTo>
                      <a:pt x="188" y="13"/>
                    </a:moveTo>
                    <a:lnTo>
                      <a:pt x="188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88" y="27"/>
                    </a:lnTo>
                    <a:lnTo>
                      <a:pt x="188" y="13"/>
                    </a:lnTo>
                    <a:close/>
                  </a:path>
                </a:pathLst>
              </a:custGeom>
              <a:solidFill>
                <a:srgbClr val="84848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63" name="Freeform 70"/>
              <p:cNvSpPr>
                <a:spLocks/>
              </p:cNvSpPr>
              <p:nvPr/>
            </p:nvSpPr>
            <p:spPr bwMode="auto">
              <a:xfrm>
                <a:off x="9005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84848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64" name="Freeform 71"/>
              <p:cNvSpPr>
                <a:spLocks/>
              </p:cNvSpPr>
              <p:nvPr/>
            </p:nvSpPr>
            <p:spPr bwMode="auto">
              <a:xfrm>
                <a:off x="8908" y="9562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3 h 27"/>
                  <a:gd name="T6" fmla="*/ 3 w 13"/>
                  <a:gd name="T7" fmla="*/ 22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8E8E8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65" name="Freeform 72"/>
              <p:cNvSpPr>
                <a:spLocks/>
              </p:cNvSpPr>
              <p:nvPr/>
            </p:nvSpPr>
            <p:spPr bwMode="auto">
              <a:xfrm>
                <a:off x="8915" y="9562"/>
                <a:ext cx="87" cy="14"/>
              </a:xfrm>
              <a:custGeom>
                <a:avLst/>
                <a:gdLst>
                  <a:gd name="T0" fmla="*/ 174 w 174"/>
                  <a:gd name="T1" fmla="*/ 13 h 27"/>
                  <a:gd name="T2" fmla="*/ 174 w 174"/>
                  <a:gd name="T3" fmla="*/ 0 h 27"/>
                  <a:gd name="T4" fmla="*/ 0 w 174"/>
                  <a:gd name="T5" fmla="*/ 0 h 27"/>
                  <a:gd name="T6" fmla="*/ 0 w 174"/>
                  <a:gd name="T7" fmla="*/ 27 h 27"/>
                  <a:gd name="T8" fmla="*/ 174 w 174"/>
                  <a:gd name="T9" fmla="*/ 27 h 27"/>
                  <a:gd name="T10" fmla="*/ 174 w 174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4"/>
                  <a:gd name="T19" fmla="*/ 0 h 27"/>
                  <a:gd name="T20" fmla="*/ 174 w 17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4" h="27">
                    <a:moveTo>
                      <a:pt x="174" y="13"/>
                    </a:moveTo>
                    <a:lnTo>
                      <a:pt x="174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74" y="27"/>
                    </a:lnTo>
                    <a:lnTo>
                      <a:pt x="174" y="13"/>
                    </a:lnTo>
                    <a:close/>
                  </a:path>
                </a:pathLst>
              </a:custGeom>
              <a:solidFill>
                <a:srgbClr val="8E8E8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66" name="Freeform 73"/>
              <p:cNvSpPr>
                <a:spLocks/>
              </p:cNvSpPr>
              <p:nvPr/>
            </p:nvSpPr>
            <p:spPr bwMode="auto">
              <a:xfrm>
                <a:off x="9002" y="9562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8E8E8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67" name="Freeform 74"/>
              <p:cNvSpPr>
                <a:spLocks/>
              </p:cNvSpPr>
              <p:nvPr/>
            </p:nvSpPr>
            <p:spPr bwMode="auto">
              <a:xfrm>
                <a:off x="8912" y="9562"/>
                <a:ext cx="6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68" name="Freeform 75"/>
              <p:cNvSpPr>
                <a:spLocks/>
              </p:cNvSpPr>
              <p:nvPr/>
            </p:nvSpPr>
            <p:spPr bwMode="auto">
              <a:xfrm>
                <a:off x="8918" y="9562"/>
                <a:ext cx="81" cy="14"/>
              </a:xfrm>
              <a:custGeom>
                <a:avLst/>
                <a:gdLst>
                  <a:gd name="T0" fmla="*/ 160 w 160"/>
                  <a:gd name="T1" fmla="*/ 13 h 27"/>
                  <a:gd name="T2" fmla="*/ 160 w 160"/>
                  <a:gd name="T3" fmla="*/ 0 h 27"/>
                  <a:gd name="T4" fmla="*/ 0 w 160"/>
                  <a:gd name="T5" fmla="*/ 0 h 27"/>
                  <a:gd name="T6" fmla="*/ 0 w 160"/>
                  <a:gd name="T7" fmla="*/ 27 h 27"/>
                  <a:gd name="T8" fmla="*/ 160 w 160"/>
                  <a:gd name="T9" fmla="*/ 27 h 27"/>
                  <a:gd name="T10" fmla="*/ 160 w 160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0"/>
                  <a:gd name="T19" fmla="*/ 0 h 27"/>
                  <a:gd name="T20" fmla="*/ 160 w 160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0" h="27">
                    <a:moveTo>
                      <a:pt x="160" y="13"/>
                    </a:moveTo>
                    <a:lnTo>
                      <a:pt x="160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60" y="27"/>
                    </a:lnTo>
                    <a:lnTo>
                      <a:pt x="160" y="13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69" name="Freeform 76"/>
              <p:cNvSpPr>
                <a:spLocks/>
              </p:cNvSpPr>
              <p:nvPr/>
            </p:nvSpPr>
            <p:spPr bwMode="auto">
              <a:xfrm>
                <a:off x="8999" y="9562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70" name="Freeform 77"/>
              <p:cNvSpPr>
                <a:spLocks/>
              </p:cNvSpPr>
              <p:nvPr/>
            </p:nvSpPr>
            <p:spPr bwMode="auto">
              <a:xfrm>
                <a:off x="8915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A0A0A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71" name="Freeform 78"/>
              <p:cNvSpPr>
                <a:spLocks/>
              </p:cNvSpPr>
              <p:nvPr/>
            </p:nvSpPr>
            <p:spPr bwMode="auto">
              <a:xfrm>
                <a:off x="8922" y="9562"/>
                <a:ext cx="74" cy="14"/>
              </a:xfrm>
              <a:custGeom>
                <a:avLst/>
                <a:gdLst>
                  <a:gd name="T0" fmla="*/ 150 w 150"/>
                  <a:gd name="T1" fmla="*/ 13 h 27"/>
                  <a:gd name="T2" fmla="*/ 150 w 150"/>
                  <a:gd name="T3" fmla="*/ 0 h 27"/>
                  <a:gd name="T4" fmla="*/ 0 w 150"/>
                  <a:gd name="T5" fmla="*/ 0 h 27"/>
                  <a:gd name="T6" fmla="*/ 0 w 150"/>
                  <a:gd name="T7" fmla="*/ 27 h 27"/>
                  <a:gd name="T8" fmla="*/ 150 w 150"/>
                  <a:gd name="T9" fmla="*/ 27 h 27"/>
                  <a:gd name="T10" fmla="*/ 150 w 150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0"/>
                  <a:gd name="T19" fmla="*/ 0 h 27"/>
                  <a:gd name="T20" fmla="*/ 150 w 150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0" h="27">
                    <a:moveTo>
                      <a:pt x="150" y="13"/>
                    </a:moveTo>
                    <a:lnTo>
                      <a:pt x="150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50" y="27"/>
                    </a:lnTo>
                    <a:lnTo>
                      <a:pt x="150" y="13"/>
                    </a:lnTo>
                    <a:close/>
                  </a:path>
                </a:pathLst>
              </a:custGeom>
              <a:solidFill>
                <a:srgbClr val="A0A0A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72" name="Freeform 79"/>
              <p:cNvSpPr>
                <a:spLocks/>
              </p:cNvSpPr>
              <p:nvPr/>
            </p:nvSpPr>
            <p:spPr bwMode="auto">
              <a:xfrm>
                <a:off x="8996" y="9562"/>
                <a:ext cx="7" cy="14"/>
              </a:xfrm>
              <a:custGeom>
                <a:avLst/>
                <a:gdLst>
                  <a:gd name="T0" fmla="*/ 0 w 13"/>
                  <a:gd name="T1" fmla="*/ 27 h 27"/>
                  <a:gd name="T2" fmla="*/ 10 w 13"/>
                  <a:gd name="T3" fmla="*/ 22 h 27"/>
                  <a:gd name="T4" fmla="*/ 13 w 13"/>
                  <a:gd name="T5" fmla="*/ 13 h 27"/>
                  <a:gd name="T6" fmla="*/ 10 w 13"/>
                  <a:gd name="T7" fmla="*/ 4 h 27"/>
                  <a:gd name="T8" fmla="*/ 0 w 13"/>
                  <a:gd name="T9" fmla="*/ 0 h 27"/>
                  <a:gd name="T10" fmla="*/ 0 w 13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0" y="27"/>
                    </a:moveTo>
                    <a:lnTo>
                      <a:pt x="10" y="22"/>
                    </a:lnTo>
                    <a:lnTo>
                      <a:pt x="13" y="13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A0A0A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73" name="Freeform 80"/>
              <p:cNvSpPr>
                <a:spLocks/>
              </p:cNvSpPr>
              <p:nvPr/>
            </p:nvSpPr>
            <p:spPr bwMode="auto">
              <a:xfrm>
                <a:off x="8918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AAAAA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74" name="Freeform 81"/>
              <p:cNvSpPr>
                <a:spLocks/>
              </p:cNvSpPr>
              <p:nvPr/>
            </p:nvSpPr>
            <p:spPr bwMode="auto">
              <a:xfrm>
                <a:off x="8925" y="9562"/>
                <a:ext cx="67" cy="14"/>
              </a:xfrm>
              <a:custGeom>
                <a:avLst/>
                <a:gdLst>
                  <a:gd name="T0" fmla="*/ 134 w 134"/>
                  <a:gd name="T1" fmla="*/ 13 h 27"/>
                  <a:gd name="T2" fmla="*/ 134 w 134"/>
                  <a:gd name="T3" fmla="*/ 0 h 27"/>
                  <a:gd name="T4" fmla="*/ 0 w 134"/>
                  <a:gd name="T5" fmla="*/ 0 h 27"/>
                  <a:gd name="T6" fmla="*/ 0 w 134"/>
                  <a:gd name="T7" fmla="*/ 27 h 27"/>
                  <a:gd name="T8" fmla="*/ 134 w 134"/>
                  <a:gd name="T9" fmla="*/ 27 h 27"/>
                  <a:gd name="T10" fmla="*/ 134 w 134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4"/>
                  <a:gd name="T19" fmla="*/ 0 h 27"/>
                  <a:gd name="T20" fmla="*/ 134 w 13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4" h="27">
                    <a:moveTo>
                      <a:pt x="134" y="13"/>
                    </a:moveTo>
                    <a:lnTo>
                      <a:pt x="134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34" y="27"/>
                    </a:lnTo>
                    <a:lnTo>
                      <a:pt x="134" y="13"/>
                    </a:lnTo>
                    <a:close/>
                  </a:path>
                </a:pathLst>
              </a:custGeom>
              <a:solidFill>
                <a:srgbClr val="AAAAA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75" name="Freeform 82"/>
              <p:cNvSpPr>
                <a:spLocks/>
              </p:cNvSpPr>
              <p:nvPr/>
            </p:nvSpPr>
            <p:spPr bwMode="auto">
              <a:xfrm>
                <a:off x="8992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AAAAA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76" name="Freeform 83"/>
              <p:cNvSpPr>
                <a:spLocks/>
              </p:cNvSpPr>
              <p:nvPr/>
            </p:nvSpPr>
            <p:spPr bwMode="auto">
              <a:xfrm>
                <a:off x="8922" y="9562"/>
                <a:ext cx="6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B5B5B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77" name="Freeform 84"/>
              <p:cNvSpPr>
                <a:spLocks/>
              </p:cNvSpPr>
              <p:nvPr/>
            </p:nvSpPr>
            <p:spPr bwMode="auto">
              <a:xfrm>
                <a:off x="8928" y="9562"/>
                <a:ext cx="61" cy="14"/>
              </a:xfrm>
              <a:custGeom>
                <a:avLst/>
                <a:gdLst>
                  <a:gd name="T0" fmla="*/ 122 w 122"/>
                  <a:gd name="T1" fmla="*/ 13 h 27"/>
                  <a:gd name="T2" fmla="*/ 122 w 122"/>
                  <a:gd name="T3" fmla="*/ 0 h 27"/>
                  <a:gd name="T4" fmla="*/ 0 w 122"/>
                  <a:gd name="T5" fmla="*/ 0 h 27"/>
                  <a:gd name="T6" fmla="*/ 0 w 122"/>
                  <a:gd name="T7" fmla="*/ 27 h 27"/>
                  <a:gd name="T8" fmla="*/ 122 w 122"/>
                  <a:gd name="T9" fmla="*/ 27 h 27"/>
                  <a:gd name="T10" fmla="*/ 122 w 122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2"/>
                  <a:gd name="T19" fmla="*/ 0 h 27"/>
                  <a:gd name="T20" fmla="*/ 122 w 122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2" h="27">
                    <a:moveTo>
                      <a:pt x="122" y="13"/>
                    </a:moveTo>
                    <a:lnTo>
                      <a:pt x="122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22" y="27"/>
                    </a:lnTo>
                    <a:lnTo>
                      <a:pt x="122" y="13"/>
                    </a:lnTo>
                    <a:close/>
                  </a:path>
                </a:pathLst>
              </a:custGeom>
              <a:solidFill>
                <a:srgbClr val="B5B5B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78" name="Freeform 85"/>
              <p:cNvSpPr>
                <a:spLocks/>
              </p:cNvSpPr>
              <p:nvPr/>
            </p:nvSpPr>
            <p:spPr bwMode="auto">
              <a:xfrm>
                <a:off x="8989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B5B5B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79" name="Freeform 86"/>
              <p:cNvSpPr>
                <a:spLocks/>
              </p:cNvSpPr>
              <p:nvPr/>
            </p:nvSpPr>
            <p:spPr bwMode="auto">
              <a:xfrm>
                <a:off x="8925" y="9562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3 h 27"/>
                  <a:gd name="T6" fmla="*/ 3 w 13"/>
                  <a:gd name="T7" fmla="*/ 22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BCBCB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80" name="Freeform 87"/>
              <p:cNvSpPr>
                <a:spLocks/>
              </p:cNvSpPr>
              <p:nvPr/>
            </p:nvSpPr>
            <p:spPr bwMode="auto">
              <a:xfrm>
                <a:off x="8932" y="9562"/>
                <a:ext cx="54" cy="14"/>
              </a:xfrm>
              <a:custGeom>
                <a:avLst/>
                <a:gdLst>
                  <a:gd name="T0" fmla="*/ 109 w 109"/>
                  <a:gd name="T1" fmla="*/ 13 h 27"/>
                  <a:gd name="T2" fmla="*/ 109 w 109"/>
                  <a:gd name="T3" fmla="*/ 0 h 27"/>
                  <a:gd name="T4" fmla="*/ 0 w 109"/>
                  <a:gd name="T5" fmla="*/ 0 h 27"/>
                  <a:gd name="T6" fmla="*/ 0 w 109"/>
                  <a:gd name="T7" fmla="*/ 27 h 27"/>
                  <a:gd name="T8" fmla="*/ 109 w 109"/>
                  <a:gd name="T9" fmla="*/ 27 h 27"/>
                  <a:gd name="T10" fmla="*/ 109 w 109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9"/>
                  <a:gd name="T19" fmla="*/ 0 h 27"/>
                  <a:gd name="T20" fmla="*/ 109 w 109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9" h="27">
                    <a:moveTo>
                      <a:pt x="109" y="13"/>
                    </a:moveTo>
                    <a:lnTo>
                      <a:pt x="109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09" y="27"/>
                    </a:lnTo>
                    <a:lnTo>
                      <a:pt x="109" y="13"/>
                    </a:lnTo>
                    <a:close/>
                  </a:path>
                </a:pathLst>
              </a:custGeom>
              <a:solidFill>
                <a:srgbClr val="BCBCB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81" name="Freeform 88"/>
              <p:cNvSpPr>
                <a:spLocks/>
              </p:cNvSpPr>
              <p:nvPr/>
            </p:nvSpPr>
            <p:spPr bwMode="auto">
              <a:xfrm>
                <a:off x="8986" y="9562"/>
                <a:ext cx="7" cy="14"/>
              </a:xfrm>
              <a:custGeom>
                <a:avLst/>
                <a:gdLst>
                  <a:gd name="T0" fmla="*/ 0 w 13"/>
                  <a:gd name="T1" fmla="*/ 27 h 27"/>
                  <a:gd name="T2" fmla="*/ 10 w 13"/>
                  <a:gd name="T3" fmla="*/ 22 h 27"/>
                  <a:gd name="T4" fmla="*/ 13 w 13"/>
                  <a:gd name="T5" fmla="*/ 13 h 27"/>
                  <a:gd name="T6" fmla="*/ 10 w 13"/>
                  <a:gd name="T7" fmla="*/ 4 h 27"/>
                  <a:gd name="T8" fmla="*/ 0 w 13"/>
                  <a:gd name="T9" fmla="*/ 0 h 27"/>
                  <a:gd name="T10" fmla="*/ 0 w 13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0" y="27"/>
                    </a:moveTo>
                    <a:lnTo>
                      <a:pt x="10" y="22"/>
                    </a:lnTo>
                    <a:lnTo>
                      <a:pt x="13" y="13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BCBCB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82" name="Freeform 89"/>
              <p:cNvSpPr>
                <a:spLocks/>
              </p:cNvSpPr>
              <p:nvPr/>
            </p:nvSpPr>
            <p:spPr bwMode="auto">
              <a:xfrm>
                <a:off x="8928" y="9562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3 h 27"/>
                  <a:gd name="T6" fmla="*/ 3 w 13"/>
                  <a:gd name="T7" fmla="*/ 22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83" name="Freeform 90"/>
              <p:cNvSpPr>
                <a:spLocks/>
              </p:cNvSpPr>
              <p:nvPr/>
            </p:nvSpPr>
            <p:spPr bwMode="auto">
              <a:xfrm>
                <a:off x="8935" y="9562"/>
                <a:ext cx="48" cy="14"/>
              </a:xfrm>
              <a:custGeom>
                <a:avLst/>
                <a:gdLst>
                  <a:gd name="T0" fmla="*/ 97 w 97"/>
                  <a:gd name="T1" fmla="*/ 13 h 27"/>
                  <a:gd name="T2" fmla="*/ 97 w 97"/>
                  <a:gd name="T3" fmla="*/ 0 h 27"/>
                  <a:gd name="T4" fmla="*/ 0 w 97"/>
                  <a:gd name="T5" fmla="*/ 0 h 27"/>
                  <a:gd name="T6" fmla="*/ 0 w 97"/>
                  <a:gd name="T7" fmla="*/ 27 h 27"/>
                  <a:gd name="T8" fmla="*/ 97 w 97"/>
                  <a:gd name="T9" fmla="*/ 27 h 27"/>
                  <a:gd name="T10" fmla="*/ 97 w 97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7"/>
                  <a:gd name="T19" fmla="*/ 0 h 27"/>
                  <a:gd name="T20" fmla="*/ 97 w 97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7" h="27">
                    <a:moveTo>
                      <a:pt x="97" y="13"/>
                    </a:moveTo>
                    <a:lnTo>
                      <a:pt x="97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97" y="27"/>
                    </a:lnTo>
                    <a:lnTo>
                      <a:pt x="97" y="13"/>
                    </a:lnTo>
                    <a:close/>
                  </a:path>
                </a:pathLst>
              </a:cu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84" name="Freeform 91"/>
              <p:cNvSpPr>
                <a:spLocks/>
              </p:cNvSpPr>
              <p:nvPr/>
            </p:nvSpPr>
            <p:spPr bwMode="auto">
              <a:xfrm>
                <a:off x="8983" y="9562"/>
                <a:ext cx="7" cy="14"/>
              </a:xfrm>
              <a:custGeom>
                <a:avLst/>
                <a:gdLst>
                  <a:gd name="T0" fmla="*/ 0 w 13"/>
                  <a:gd name="T1" fmla="*/ 27 h 27"/>
                  <a:gd name="T2" fmla="*/ 10 w 13"/>
                  <a:gd name="T3" fmla="*/ 22 h 27"/>
                  <a:gd name="T4" fmla="*/ 13 w 13"/>
                  <a:gd name="T5" fmla="*/ 13 h 27"/>
                  <a:gd name="T6" fmla="*/ 10 w 13"/>
                  <a:gd name="T7" fmla="*/ 4 h 27"/>
                  <a:gd name="T8" fmla="*/ 0 w 13"/>
                  <a:gd name="T9" fmla="*/ 0 h 27"/>
                  <a:gd name="T10" fmla="*/ 0 w 13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0" y="27"/>
                    </a:moveTo>
                    <a:lnTo>
                      <a:pt x="10" y="22"/>
                    </a:lnTo>
                    <a:lnTo>
                      <a:pt x="13" y="13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85" name="Freeform 92"/>
              <p:cNvSpPr>
                <a:spLocks/>
              </p:cNvSpPr>
              <p:nvPr/>
            </p:nvSpPr>
            <p:spPr bwMode="auto">
              <a:xfrm>
                <a:off x="8932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D1D1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86" name="Freeform 93"/>
              <p:cNvSpPr>
                <a:spLocks/>
              </p:cNvSpPr>
              <p:nvPr/>
            </p:nvSpPr>
            <p:spPr bwMode="auto">
              <a:xfrm>
                <a:off x="8939" y="9562"/>
                <a:ext cx="40" cy="14"/>
              </a:xfrm>
              <a:custGeom>
                <a:avLst/>
                <a:gdLst>
                  <a:gd name="T0" fmla="*/ 81 w 81"/>
                  <a:gd name="T1" fmla="*/ 13 h 27"/>
                  <a:gd name="T2" fmla="*/ 81 w 81"/>
                  <a:gd name="T3" fmla="*/ 0 h 27"/>
                  <a:gd name="T4" fmla="*/ 0 w 81"/>
                  <a:gd name="T5" fmla="*/ 0 h 27"/>
                  <a:gd name="T6" fmla="*/ 0 w 81"/>
                  <a:gd name="T7" fmla="*/ 27 h 27"/>
                  <a:gd name="T8" fmla="*/ 81 w 81"/>
                  <a:gd name="T9" fmla="*/ 27 h 27"/>
                  <a:gd name="T10" fmla="*/ 81 w 81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1"/>
                  <a:gd name="T19" fmla="*/ 0 h 27"/>
                  <a:gd name="T20" fmla="*/ 81 w 81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1" h="27">
                    <a:moveTo>
                      <a:pt x="81" y="13"/>
                    </a:moveTo>
                    <a:lnTo>
                      <a:pt x="81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81" y="27"/>
                    </a:lnTo>
                    <a:lnTo>
                      <a:pt x="81" y="13"/>
                    </a:lnTo>
                    <a:close/>
                  </a:path>
                </a:pathLst>
              </a:custGeom>
              <a:solidFill>
                <a:srgbClr val="D1D1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87" name="Freeform 94"/>
              <p:cNvSpPr>
                <a:spLocks/>
              </p:cNvSpPr>
              <p:nvPr/>
            </p:nvSpPr>
            <p:spPr bwMode="auto">
              <a:xfrm>
                <a:off x="8979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D1D1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88" name="Freeform 95"/>
              <p:cNvSpPr>
                <a:spLocks/>
              </p:cNvSpPr>
              <p:nvPr/>
            </p:nvSpPr>
            <p:spPr bwMode="auto">
              <a:xfrm>
                <a:off x="8935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4 w 14"/>
                  <a:gd name="T3" fmla="*/ 4 h 27"/>
                  <a:gd name="T4" fmla="*/ 0 w 14"/>
                  <a:gd name="T5" fmla="*/ 13 h 27"/>
                  <a:gd name="T6" fmla="*/ 4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4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89" name="Freeform 96"/>
              <p:cNvSpPr>
                <a:spLocks/>
              </p:cNvSpPr>
              <p:nvPr/>
            </p:nvSpPr>
            <p:spPr bwMode="auto">
              <a:xfrm>
                <a:off x="8942" y="9562"/>
                <a:ext cx="34" cy="14"/>
              </a:xfrm>
              <a:custGeom>
                <a:avLst/>
                <a:gdLst>
                  <a:gd name="T0" fmla="*/ 69 w 69"/>
                  <a:gd name="T1" fmla="*/ 13 h 27"/>
                  <a:gd name="T2" fmla="*/ 69 w 69"/>
                  <a:gd name="T3" fmla="*/ 0 h 27"/>
                  <a:gd name="T4" fmla="*/ 0 w 69"/>
                  <a:gd name="T5" fmla="*/ 0 h 27"/>
                  <a:gd name="T6" fmla="*/ 0 w 69"/>
                  <a:gd name="T7" fmla="*/ 27 h 27"/>
                  <a:gd name="T8" fmla="*/ 69 w 69"/>
                  <a:gd name="T9" fmla="*/ 27 h 27"/>
                  <a:gd name="T10" fmla="*/ 69 w 69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9"/>
                  <a:gd name="T19" fmla="*/ 0 h 27"/>
                  <a:gd name="T20" fmla="*/ 69 w 69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9" h="27">
                    <a:moveTo>
                      <a:pt x="69" y="13"/>
                    </a:moveTo>
                    <a:lnTo>
                      <a:pt x="69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69" y="27"/>
                    </a:lnTo>
                    <a:lnTo>
                      <a:pt x="69" y="13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0" name="Freeform 97"/>
              <p:cNvSpPr>
                <a:spLocks/>
              </p:cNvSpPr>
              <p:nvPr/>
            </p:nvSpPr>
            <p:spPr bwMode="auto">
              <a:xfrm>
                <a:off x="8976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1" name="Freeform 98"/>
              <p:cNvSpPr>
                <a:spLocks/>
              </p:cNvSpPr>
              <p:nvPr/>
            </p:nvSpPr>
            <p:spPr bwMode="auto">
              <a:xfrm>
                <a:off x="8939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E2E2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2" name="Freeform 99"/>
              <p:cNvSpPr>
                <a:spLocks/>
              </p:cNvSpPr>
              <p:nvPr/>
            </p:nvSpPr>
            <p:spPr bwMode="auto">
              <a:xfrm>
                <a:off x="8946" y="9562"/>
                <a:ext cx="27" cy="14"/>
              </a:xfrm>
              <a:custGeom>
                <a:avLst/>
                <a:gdLst>
                  <a:gd name="T0" fmla="*/ 55 w 55"/>
                  <a:gd name="T1" fmla="*/ 13 h 27"/>
                  <a:gd name="T2" fmla="*/ 55 w 55"/>
                  <a:gd name="T3" fmla="*/ 0 h 27"/>
                  <a:gd name="T4" fmla="*/ 0 w 55"/>
                  <a:gd name="T5" fmla="*/ 0 h 27"/>
                  <a:gd name="T6" fmla="*/ 0 w 55"/>
                  <a:gd name="T7" fmla="*/ 27 h 27"/>
                  <a:gd name="T8" fmla="*/ 55 w 55"/>
                  <a:gd name="T9" fmla="*/ 27 h 27"/>
                  <a:gd name="T10" fmla="*/ 55 w 55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5"/>
                  <a:gd name="T19" fmla="*/ 0 h 27"/>
                  <a:gd name="T20" fmla="*/ 55 w 55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5" h="27">
                    <a:moveTo>
                      <a:pt x="55" y="13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55" y="27"/>
                    </a:lnTo>
                    <a:lnTo>
                      <a:pt x="55" y="13"/>
                    </a:lnTo>
                    <a:close/>
                  </a:path>
                </a:pathLst>
              </a:custGeom>
              <a:solidFill>
                <a:srgbClr val="E2E2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3" name="Freeform 100"/>
              <p:cNvSpPr>
                <a:spLocks/>
              </p:cNvSpPr>
              <p:nvPr/>
            </p:nvSpPr>
            <p:spPr bwMode="auto">
              <a:xfrm>
                <a:off x="8973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0 w 14"/>
                  <a:gd name="T3" fmla="*/ 22 h 27"/>
                  <a:gd name="T4" fmla="*/ 14 w 14"/>
                  <a:gd name="T5" fmla="*/ 13 h 27"/>
                  <a:gd name="T6" fmla="*/ 10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0" y="22"/>
                    </a:lnTo>
                    <a:lnTo>
                      <a:pt x="14" y="13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E2E2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4" name="Freeform 101"/>
              <p:cNvSpPr>
                <a:spLocks/>
              </p:cNvSpPr>
              <p:nvPr/>
            </p:nvSpPr>
            <p:spPr bwMode="auto">
              <a:xfrm>
                <a:off x="8942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EDED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5" name="Freeform 102"/>
              <p:cNvSpPr>
                <a:spLocks/>
              </p:cNvSpPr>
              <p:nvPr/>
            </p:nvSpPr>
            <p:spPr bwMode="auto">
              <a:xfrm>
                <a:off x="8949" y="9562"/>
                <a:ext cx="21" cy="14"/>
              </a:xfrm>
              <a:custGeom>
                <a:avLst/>
                <a:gdLst>
                  <a:gd name="T0" fmla="*/ 43 w 43"/>
                  <a:gd name="T1" fmla="*/ 13 h 27"/>
                  <a:gd name="T2" fmla="*/ 43 w 43"/>
                  <a:gd name="T3" fmla="*/ 0 h 27"/>
                  <a:gd name="T4" fmla="*/ 0 w 43"/>
                  <a:gd name="T5" fmla="*/ 0 h 27"/>
                  <a:gd name="T6" fmla="*/ 0 w 43"/>
                  <a:gd name="T7" fmla="*/ 27 h 27"/>
                  <a:gd name="T8" fmla="*/ 43 w 43"/>
                  <a:gd name="T9" fmla="*/ 27 h 27"/>
                  <a:gd name="T10" fmla="*/ 43 w 43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3"/>
                  <a:gd name="T19" fmla="*/ 0 h 27"/>
                  <a:gd name="T20" fmla="*/ 43 w 4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3" h="27">
                    <a:moveTo>
                      <a:pt x="43" y="13"/>
                    </a:moveTo>
                    <a:lnTo>
                      <a:pt x="43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43" y="27"/>
                    </a:lnTo>
                    <a:lnTo>
                      <a:pt x="43" y="13"/>
                    </a:lnTo>
                    <a:close/>
                  </a:path>
                </a:pathLst>
              </a:custGeom>
              <a:solidFill>
                <a:srgbClr val="EDED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6" name="Freeform 103"/>
              <p:cNvSpPr>
                <a:spLocks/>
              </p:cNvSpPr>
              <p:nvPr/>
            </p:nvSpPr>
            <p:spPr bwMode="auto">
              <a:xfrm>
                <a:off x="8970" y="9562"/>
                <a:ext cx="7" cy="14"/>
              </a:xfrm>
              <a:custGeom>
                <a:avLst/>
                <a:gdLst>
                  <a:gd name="T0" fmla="*/ 0 w 13"/>
                  <a:gd name="T1" fmla="*/ 27 h 27"/>
                  <a:gd name="T2" fmla="*/ 10 w 13"/>
                  <a:gd name="T3" fmla="*/ 22 h 27"/>
                  <a:gd name="T4" fmla="*/ 13 w 13"/>
                  <a:gd name="T5" fmla="*/ 13 h 27"/>
                  <a:gd name="T6" fmla="*/ 10 w 13"/>
                  <a:gd name="T7" fmla="*/ 4 h 27"/>
                  <a:gd name="T8" fmla="*/ 0 w 13"/>
                  <a:gd name="T9" fmla="*/ 0 h 27"/>
                  <a:gd name="T10" fmla="*/ 0 w 13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0" y="27"/>
                    </a:moveTo>
                    <a:lnTo>
                      <a:pt x="10" y="22"/>
                    </a:lnTo>
                    <a:lnTo>
                      <a:pt x="13" y="13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EDED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7" name="Freeform 104"/>
              <p:cNvSpPr>
                <a:spLocks/>
              </p:cNvSpPr>
              <p:nvPr/>
            </p:nvSpPr>
            <p:spPr bwMode="auto">
              <a:xfrm>
                <a:off x="8946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4F4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8" name="Freeform 105"/>
              <p:cNvSpPr>
                <a:spLocks/>
              </p:cNvSpPr>
              <p:nvPr/>
            </p:nvSpPr>
            <p:spPr bwMode="auto">
              <a:xfrm>
                <a:off x="8953" y="9562"/>
                <a:ext cx="14" cy="14"/>
              </a:xfrm>
              <a:custGeom>
                <a:avLst/>
                <a:gdLst>
                  <a:gd name="T0" fmla="*/ 27 w 27"/>
                  <a:gd name="T1" fmla="*/ 13 h 27"/>
                  <a:gd name="T2" fmla="*/ 27 w 27"/>
                  <a:gd name="T3" fmla="*/ 0 h 27"/>
                  <a:gd name="T4" fmla="*/ 0 w 27"/>
                  <a:gd name="T5" fmla="*/ 0 h 27"/>
                  <a:gd name="T6" fmla="*/ 0 w 27"/>
                  <a:gd name="T7" fmla="*/ 27 h 27"/>
                  <a:gd name="T8" fmla="*/ 27 w 27"/>
                  <a:gd name="T9" fmla="*/ 27 h 27"/>
                  <a:gd name="T10" fmla="*/ 27 w 27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7"/>
                  <a:gd name="T19" fmla="*/ 0 h 27"/>
                  <a:gd name="T20" fmla="*/ 27 w 27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7" h="27">
                    <a:moveTo>
                      <a:pt x="27" y="13"/>
                    </a:moveTo>
                    <a:lnTo>
                      <a:pt x="27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7" y="27"/>
                    </a:lnTo>
                    <a:lnTo>
                      <a:pt x="27" y="13"/>
                    </a:lnTo>
                    <a:close/>
                  </a:path>
                </a:pathLst>
              </a:custGeom>
              <a:solidFill>
                <a:srgbClr val="F4F4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9" name="Freeform 106"/>
              <p:cNvSpPr>
                <a:spLocks/>
              </p:cNvSpPr>
              <p:nvPr/>
            </p:nvSpPr>
            <p:spPr bwMode="auto">
              <a:xfrm>
                <a:off x="8967" y="9562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F4F4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00" name="Freeform 107"/>
              <p:cNvSpPr>
                <a:spLocks/>
              </p:cNvSpPr>
              <p:nvPr/>
            </p:nvSpPr>
            <p:spPr bwMode="auto">
              <a:xfrm>
                <a:off x="8949" y="9562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3 h 27"/>
                  <a:gd name="T6" fmla="*/ 3 w 14"/>
                  <a:gd name="T7" fmla="*/ 22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3"/>
                    </a:lnTo>
                    <a:lnTo>
                      <a:pt x="3" y="22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01" name="Freeform 108"/>
              <p:cNvSpPr>
                <a:spLocks/>
              </p:cNvSpPr>
              <p:nvPr/>
            </p:nvSpPr>
            <p:spPr bwMode="auto">
              <a:xfrm>
                <a:off x="8956" y="9562"/>
                <a:ext cx="7" cy="14"/>
              </a:xfrm>
              <a:custGeom>
                <a:avLst/>
                <a:gdLst>
                  <a:gd name="T0" fmla="*/ 15 w 15"/>
                  <a:gd name="T1" fmla="*/ 13 h 27"/>
                  <a:gd name="T2" fmla="*/ 15 w 15"/>
                  <a:gd name="T3" fmla="*/ 0 h 27"/>
                  <a:gd name="T4" fmla="*/ 0 w 15"/>
                  <a:gd name="T5" fmla="*/ 0 h 27"/>
                  <a:gd name="T6" fmla="*/ 0 w 15"/>
                  <a:gd name="T7" fmla="*/ 27 h 27"/>
                  <a:gd name="T8" fmla="*/ 15 w 15"/>
                  <a:gd name="T9" fmla="*/ 27 h 27"/>
                  <a:gd name="T10" fmla="*/ 15 w 15"/>
                  <a:gd name="T11" fmla="*/ 13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7"/>
                  <a:gd name="T20" fmla="*/ 15 w 15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7">
                    <a:moveTo>
                      <a:pt x="15" y="13"/>
                    </a:moveTo>
                    <a:lnTo>
                      <a:pt x="15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5" y="27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02" name="Freeform 109"/>
              <p:cNvSpPr>
                <a:spLocks/>
              </p:cNvSpPr>
              <p:nvPr/>
            </p:nvSpPr>
            <p:spPr bwMode="auto">
              <a:xfrm>
                <a:off x="8963" y="9562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2 h 27"/>
                  <a:gd name="T4" fmla="*/ 14 w 14"/>
                  <a:gd name="T5" fmla="*/ 13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2"/>
                    </a:lnTo>
                    <a:lnTo>
                      <a:pt x="14" y="13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03" name="Freeform 110"/>
              <p:cNvSpPr>
                <a:spLocks/>
              </p:cNvSpPr>
              <p:nvPr/>
            </p:nvSpPr>
            <p:spPr bwMode="auto">
              <a:xfrm>
                <a:off x="8889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04" name="Freeform 111"/>
              <p:cNvSpPr>
                <a:spLocks/>
              </p:cNvSpPr>
              <p:nvPr/>
            </p:nvSpPr>
            <p:spPr bwMode="auto">
              <a:xfrm>
                <a:off x="8896" y="9590"/>
                <a:ext cx="124" cy="14"/>
              </a:xfrm>
              <a:custGeom>
                <a:avLst/>
                <a:gdLst>
                  <a:gd name="T0" fmla="*/ 249 w 249"/>
                  <a:gd name="T1" fmla="*/ 14 h 27"/>
                  <a:gd name="T2" fmla="*/ 249 w 249"/>
                  <a:gd name="T3" fmla="*/ 0 h 27"/>
                  <a:gd name="T4" fmla="*/ 0 w 249"/>
                  <a:gd name="T5" fmla="*/ 0 h 27"/>
                  <a:gd name="T6" fmla="*/ 0 w 249"/>
                  <a:gd name="T7" fmla="*/ 27 h 27"/>
                  <a:gd name="T8" fmla="*/ 249 w 249"/>
                  <a:gd name="T9" fmla="*/ 27 h 27"/>
                  <a:gd name="T10" fmla="*/ 249 w 249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9"/>
                  <a:gd name="T19" fmla="*/ 0 h 27"/>
                  <a:gd name="T20" fmla="*/ 249 w 249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9" h="27">
                    <a:moveTo>
                      <a:pt x="249" y="14"/>
                    </a:moveTo>
                    <a:lnTo>
                      <a:pt x="249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49" y="27"/>
                    </a:lnTo>
                    <a:lnTo>
                      <a:pt x="249" y="14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05" name="Freeform 112"/>
              <p:cNvSpPr>
                <a:spLocks/>
              </p:cNvSpPr>
              <p:nvPr/>
            </p:nvSpPr>
            <p:spPr bwMode="auto">
              <a:xfrm>
                <a:off x="9020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06" name="Freeform 113"/>
              <p:cNvSpPr>
                <a:spLocks/>
              </p:cNvSpPr>
              <p:nvPr/>
            </p:nvSpPr>
            <p:spPr bwMode="auto">
              <a:xfrm>
                <a:off x="8893" y="9590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4 h 27"/>
                  <a:gd name="T6" fmla="*/ 3 w 13"/>
                  <a:gd name="T7" fmla="*/ 23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07" name="Freeform 114"/>
              <p:cNvSpPr>
                <a:spLocks/>
              </p:cNvSpPr>
              <p:nvPr/>
            </p:nvSpPr>
            <p:spPr bwMode="auto">
              <a:xfrm>
                <a:off x="8900" y="9590"/>
                <a:ext cx="116" cy="14"/>
              </a:xfrm>
              <a:custGeom>
                <a:avLst/>
                <a:gdLst>
                  <a:gd name="T0" fmla="*/ 232 w 232"/>
                  <a:gd name="T1" fmla="*/ 14 h 27"/>
                  <a:gd name="T2" fmla="*/ 232 w 232"/>
                  <a:gd name="T3" fmla="*/ 0 h 27"/>
                  <a:gd name="T4" fmla="*/ 0 w 232"/>
                  <a:gd name="T5" fmla="*/ 0 h 27"/>
                  <a:gd name="T6" fmla="*/ 0 w 232"/>
                  <a:gd name="T7" fmla="*/ 27 h 27"/>
                  <a:gd name="T8" fmla="*/ 232 w 232"/>
                  <a:gd name="T9" fmla="*/ 27 h 27"/>
                  <a:gd name="T10" fmla="*/ 232 w 232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2"/>
                  <a:gd name="T19" fmla="*/ 0 h 27"/>
                  <a:gd name="T20" fmla="*/ 232 w 232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2" h="27">
                    <a:moveTo>
                      <a:pt x="232" y="14"/>
                    </a:moveTo>
                    <a:lnTo>
                      <a:pt x="232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32" y="27"/>
                    </a:lnTo>
                    <a:lnTo>
                      <a:pt x="232" y="14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08" name="Freeform 115"/>
              <p:cNvSpPr>
                <a:spLocks/>
              </p:cNvSpPr>
              <p:nvPr/>
            </p:nvSpPr>
            <p:spPr bwMode="auto">
              <a:xfrm>
                <a:off x="9016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09" name="Freeform 116"/>
              <p:cNvSpPr>
                <a:spLocks/>
              </p:cNvSpPr>
              <p:nvPr/>
            </p:nvSpPr>
            <p:spPr bwMode="auto">
              <a:xfrm>
                <a:off x="8898" y="9590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4 h 27"/>
                  <a:gd name="T6" fmla="*/ 3 w 13"/>
                  <a:gd name="T7" fmla="*/ 23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10" name="Freeform 117"/>
              <p:cNvSpPr>
                <a:spLocks/>
              </p:cNvSpPr>
              <p:nvPr/>
            </p:nvSpPr>
            <p:spPr bwMode="auto">
              <a:xfrm>
                <a:off x="8905" y="9590"/>
                <a:ext cx="107" cy="14"/>
              </a:xfrm>
              <a:custGeom>
                <a:avLst/>
                <a:gdLst>
                  <a:gd name="T0" fmla="*/ 214 w 214"/>
                  <a:gd name="T1" fmla="*/ 14 h 27"/>
                  <a:gd name="T2" fmla="*/ 214 w 214"/>
                  <a:gd name="T3" fmla="*/ 0 h 27"/>
                  <a:gd name="T4" fmla="*/ 0 w 214"/>
                  <a:gd name="T5" fmla="*/ 0 h 27"/>
                  <a:gd name="T6" fmla="*/ 0 w 214"/>
                  <a:gd name="T7" fmla="*/ 27 h 27"/>
                  <a:gd name="T8" fmla="*/ 214 w 214"/>
                  <a:gd name="T9" fmla="*/ 27 h 27"/>
                  <a:gd name="T10" fmla="*/ 214 w 214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4"/>
                  <a:gd name="T19" fmla="*/ 0 h 27"/>
                  <a:gd name="T20" fmla="*/ 214 w 2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4" h="27">
                    <a:moveTo>
                      <a:pt x="214" y="14"/>
                    </a:moveTo>
                    <a:lnTo>
                      <a:pt x="214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214" y="27"/>
                    </a:lnTo>
                    <a:lnTo>
                      <a:pt x="214" y="14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11" name="Freeform 118"/>
              <p:cNvSpPr>
                <a:spLocks/>
              </p:cNvSpPr>
              <p:nvPr/>
            </p:nvSpPr>
            <p:spPr bwMode="auto">
              <a:xfrm>
                <a:off x="9012" y="9590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12" name="Freeform 119"/>
              <p:cNvSpPr>
                <a:spLocks/>
              </p:cNvSpPr>
              <p:nvPr/>
            </p:nvSpPr>
            <p:spPr bwMode="auto">
              <a:xfrm>
                <a:off x="8902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13" name="Freeform 120"/>
              <p:cNvSpPr>
                <a:spLocks/>
              </p:cNvSpPr>
              <p:nvPr/>
            </p:nvSpPr>
            <p:spPr bwMode="auto">
              <a:xfrm>
                <a:off x="8909" y="9590"/>
                <a:ext cx="98" cy="14"/>
              </a:xfrm>
              <a:custGeom>
                <a:avLst/>
                <a:gdLst>
                  <a:gd name="T0" fmla="*/ 195 w 195"/>
                  <a:gd name="T1" fmla="*/ 14 h 27"/>
                  <a:gd name="T2" fmla="*/ 195 w 195"/>
                  <a:gd name="T3" fmla="*/ 0 h 27"/>
                  <a:gd name="T4" fmla="*/ 0 w 195"/>
                  <a:gd name="T5" fmla="*/ 0 h 27"/>
                  <a:gd name="T6" fmla="*/ 0 w 195"/>
                  <a:gd name="T7" fmla="*/ 27 h 27"/>
                  <a:gd name="T8" fmla="*/ 195 w 195"/>
                  <a:gd name="T9" fmla="*/ 27 h 27"/>
                  <a:gd name="T10" fmla="*/ 195 w 195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5"/>
                  <a:gd name="T19" fmla="*/ 0 h 27"/>
                  <a:gd name="T20" fmla="*/ 195 w 195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5" h="27">
                    <a:moveTo>
                      <a:pt x="195" y="14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95" y="27"/>
                    </a:lnTo>
                    <a:lnTo>
                      <a:pt x="195" y="14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14" name="Freeform 121"/>
              <p:cNvSpPr>
                <a:spLocks/>
              </p:cNvSpPr>
              <p:nvPr/>
            </p:nvSpPr>
            <p:spPr bwMode="auto">
              <a:xfrm>
                <a:off x="9007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15" name="Freeform 122"/>
              <p:cNvSpPr>
                <a:spLocks/>
              </p:cNvSpPr>
              <p:nvPr/>
            </p:nvSpPr>
            <p:spPr bwMode="auto">
              <a:xfrm>
                <a:off x="8907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16" name="Freeform 123"/>
              <p:cNvSpPr>
                <a:spLocks/>
              </p:cNvSpPr>
              <p:nvPr/>
            </p:nvSpPr>
            <p:spPr bwMode="auto">
              <a:xfrm>
                <a:off x="8914" y="9590"/>
                <a:ext cx="88" cy="14"/>
              </a:xfrm>
              <a:custGeom>
                <a:avLst/>
                <a:gdLst>
                  <a:gd name="T0" fmla="*/ 177 w 177"/>
                  <a:gd name="T1" fmla="*/ 14 h 27"/>
                  <a:gd name="T2" fmla="*/ 177 w 177"/>
                  <a:gd name="T3" fmla="*/ 0 h 27"/>
                  <a:gd name="T4" fmla="*/ 0 w 177"/>
                  <a:gd name="T5" fmla="*/ 0 h 27"/>
                  <a:gd name="T6" fmla="*/ 0 w 177"/>
                  <a:gd name="T7" fmla="*/ 27 h 27"/>
                  <a:gd name="T8" fmla="*/ 177 w 177"/>
                  <a:gd name="T9" fmla="*/ 27 h 27"/>
                  <a:gd name="T10" fmla="*/ 177 w 177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7"/>
                  <a:gd name="T19" fmla="*/ 0 h 27"/>
                  <a:gd name="T20" fmla="*/ 177 w 177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7" h="27">
                    <a:moveTo>
                      <a:pt x="177" y="14"/>
                    </a:moveTo>
                    <a:lnTo>
                      <a:pt x="177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77" y="27"/>
                    </a:lnTo>
                    <a:lnTo>
                      <a:pt x="177" y="14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17" name="Freeform 124"/>
              <p:cNvSpPr>
                <a:spLocks/>
              </p:cNvSpPr>
              <p:nvPr/>
            </p:nvSpPr>
            <p:spPr bwMode="auto">
              <a:xfrm>
                <a:off x="9002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0 w 14"/>
                  <a:gd name="T3" fmla="*/ 23 h 27"/>
                  <a:gd name="T4" fmla="*/ 14 w 14"/>
                  <a:gd name="T5" fmla="*/ 14 h 27"/>
                  <a:gd name="T6" fmla="*/ 10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0" y="23"/>
                    </a:lnTo>
                    <a:lnTo>
                      <a:pt x="14" y="14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18" name="Freeform 125"/>
              <p:cNvSpPr>
                <a:spLocks/>
              </p:cNvSpPr>
              <p:nvPr/>
            </p:nvSpPr>
            <p:spPr bwMode="auto">
              <a:xfrm>
                <a:off x="8912" y="9590"/>
                <a:ext cx="6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19" name="Freeform 126"/>
              <p:cNvSpPr>
                <a:spLocks/>
              </p:cNvSpPr>
              <p:nvPr/>
            </p:nvSpPr>
            <p:spPr bwMode="auto">
              <a:xfrm>
                <a:off x="8918" y="9590"/>
                <a:ext cx="80" cy="14"/>
              </a:xfrm>
              <a:custGeom>
                <a:avLst/>
                <a:gdLst>
                  <a:gd name="T0" fmla="*/ 159 w 159"/>
                  <a:gd name="T1" fmla="*/ 14 h 27"/>
                  <a:gd name="T2" fmla="*/ 159 w 159"/>
                  <a:gd name="T3" fmla="*/ 0 h 27"/>
                  <a:gd name="T4" fmla="*/ 0 w 159"/>
                  <a:gd name="T5" fmla="*/ 0 h 27"/>
                  <a:gd name="T6" fmla="*/ 0 w 159"/>
                  <a:gd name="T7" fmla="*/ 27 h 27"/>
                  <a:gd name="T8" fmla="*/ 159 w 159"/>
                  <a:gd name="T9" fmla="*/ 27 h 27"/>
                  <a:gd name="T10" fmla="*/ 159 w 159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9"/>
                  <a:gd name="T19" fmla="*/ 0 h 27"/>
                  <a:gd name="T20" fmla="*/ 159 w 159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9" h="27">
                    <a:moveTo>
                      <a:pt x="159" y="14"/>
                    </a:moveTo>
                    <a:lnTo>
                      <a:pt x="159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59" y="27"/>
                    </a:lnTo>
                    <a:lnTo>
                      <a:pt x="159" y="14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20" name="Freeform 127"/>
              <p:cNvSpPr>
                <a:spLocks/>
              </p:cNvSpPr>
              <p:nvPr/>
            </p:nvSpPr>
            <p:spPr bwMode="auto">
              <a:xfrm>
                <a:off x="8998" y="9590"/>
                <a:ext cx="7" cy="14"/>
              </a:xfrm>
              <a:custGeom>
                <a:avLst/>
                <a:gdLst>
                  <a:gd name="T0" fmla="*/ 0 w 13"/>
                  <a:gd name="T1" fmla="*/ 27 h 27"/>
                  <a:gd name="T2" fmla="*/ 10 w 13"/>
                  <a:gd name="T3" fmla="*/ 23 h 27"/>
                  <a:gd name="T4" fmla="*/ 13 w 13"/>
                  <a:gd name="T5" fmla="*/ 14 h 27"/>
                  <a:gd name="T6" fmla="*/ 10 w 13"/>
                  <a:gd name="T7" fmla="*/ 4 h 27"/>
                  <a:gd name="T8" fmla="*/ 0 w 13"/>
                  <a:gd name="T9" fmla="*/ 0 h 27"/>
                  <a:gd name="T10" fmla="*/ 0 w 13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0" y="27"/>
                    </a:moveTo>
                    <a:lnTo>
                      <a:pt x="10" y="23"/>
                    </a:lnTo>
                    <a:lnTo>
                      <a:pt x="13" y="14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21" name="Freeform 128"/>
              <p:cNvSpPr>
                <a:spLocks/>
              </p:cNvSpPr>
              <p:nvPr/>
            </p:nvSpPr>
            <p:spPr bwMode="auto">
              <a:xfrm>
                <a:off x="8916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22" name="Freeform 129"/>
              <p:cNvSpPr>
                <a:spLocks/>
              </p:cNvSpPr>
              <p:nvPr/>
            </p:nvSpPr>
            <p:spPr bwMode="auto">
              <a:xfrm>
                <a:off x="8923" y="9590"/>
                <a:ext cx="72" cy="14"/>
              </a:xfrm>
              <a:custGeom>
                <a:avLst/>
                <a:gdLst>
                  <a:gd name="T0" fmla="*/ 144 w 144"/>
                  <a:gd name="T1" fmla="*/ 14 h 27"/>
                  <a:gd name="T2" fmla="*/ 144 w 144"/>
                  <a:gd name="T3" fmla="*/ 0 h 27"/>
                  <a:gd name="T4" fmla="*/ 0 w 144"/>
                  <a:gd name="T5" fmla="*/ 0 h 27"/>
                  <a:gd name="T6" fmla="*/ 0 w 144"/>
                  <a:gd name="T7" fmla="*/ 27 h 27"/>
                  <a:gd name="T8" fmla="*/ 144 w 144"/>
                  <a:gd name="T9" fmla="*/ 27 h 27"/>
                  <a:gd name="T10" fmla="*/ 144 w 144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4"/>
                  <a:gd name="T19" fmla="*/ 0 h 27"/>
                  <a:gd name="T20" fmla="*/ 144 w 14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4" h="27">
                    <a:moveTo>
                      <a:pt x="144" y="14"/>
                    </a:moveTo>
                    <a:lnTo>
                      <a:pt x="144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44" y="27"/>
                    </a:lnTo>
                    <a:lnTo>
                      <a:pt x="144" y="14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23" name="Freeform 130"/>
              <p:cNvSpPr>
                <a:spLocks/>
              </p:cNvSpPr>
              <p:nvPr/>
            </p:nvSpPr>
            <p:spPr bwMode="auto">
              <a:xfrm>
                <a:off x="8995" y="9590"/>
                <a:ext cx="7" cy="14"/>
              </a:xfrm>
              <a:custGeom>
                <a:avLst/>
                <a:gdLst>
                  <a:gd name="T0" fmla="*/ 0 w 13"/>
                  <a:gd name="T1" fmla="*/ 27 h 27"/>
                  <a:gd name="T2" fmla="*/ 10 w 13"/>
                  <a:gd name="T3" fmla="*/ 23 h 27"/>
                  <a:gd name="T4" fmla="*/ 13 w 13"/>
                  <a:gd name="T5" fmla="*/ 14 h 27"/>
                  <a:gd name="T6" fmla="*/ 10 w 13"/>
                  <a:gd name="T7" fmla="*/ 4 h 27"/>
                  <a:gd name="T8" fmla="*/ 0 w 13"/>
                  <a:gd name="T9" fmla="*/ 0 h 27"/>
                  <a:gd name="T10" fmla="*/ 0 w 13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0" y="27"/>
                    </a:moveTo>
                    <a:lnTo>
                      <a:pt x="10" y="23"/>
                    </a:lnTo>
                    <a:lnTo>
                      <a:pt x="13" y="14"/>
                    </a:lnTo>
                    <a:lnTo>
                      <a:pt x="10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24" name="Freeform 131"/>
              <p:cNvSpPr>
                <a:spLocks/>
              </p:cNvSpPr>
              <p:nvPr/>
            </p:nvSpPr>
            <p:spPr bwMode="auto">
              <a:xfrm>
                <a:off x="8921" y="9590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4 h 27"/>
                  <a:gd name="T6" fmla="*/ 3 w 13"/>
                  <a:gd name="T7" fmla="*/ 23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25" name="Freeform 132"/>
              <p:cNvSpPr>
                <a:spLocks/>
              </p:cNvSpPr>
              <p:nvPr/>
            </p:nvSpPr>
            <p:spPr bwMode="auto">
              <a:xfrm>
                <a:off x="8928" y="9590"/>
                <a:ext cx="62" cy="14"/>
              </a:xfrm>
              <a:custGeom>
                <a:avLst/>
                <a:gdLst>
                  <a:gd name="T0" fmla="*/ 125 w 125"/>
                  <a:gd name="T1" fmla="*/ 14 h 27"/>
                  <a:gd name="T2" fmla="*/ 125 w 125"/>
                  <a:gd name="T3" fmla="*/ 0 h 27"/>
                  <a:gd name="T4" fmla="*/ 0 w 125"/>
                  <a:gd name="T5" fmla="*/ 0 h 27"/>
                  <a:gd name="T6" fmla="*/ 0 w 125"/>
                  <a:gd name="T7" fmla="*/ 27 h 27"/>
                  <a:gd name="T8" fmla="*/ 125 w 125"/>
                  <a:gd name="T9" fmla="*/ 27 h 27"/>
                  <a:gd name="T10" fmla="*/ 125 w 125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5"/>
                  <a:gd name="T19" fmla="*/ 0 h 27"/>
                  <a:gd name="T20" fmla="*/ 125 w 125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5" h="27">
                    <a:moveTo>
                      <a:pt x="125" y="14"/>
                    </a:moveTo>
                    <a:lnTo>
                      <a:pt x="125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25" y="27"/>
                    </a:lnTo>
                    <a:lnTo>
                      <a:pt x="125" y="14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26" name="Freeform 133"/>
              <p:cNvSpPr>
                <a:spLocks/>
              </p:cNvSpPr>
              <p:nvPr/>
            </p:nvSpPr>
            <p:spPr bwMode="auto">
              <a:xfrm>
                <a:off x="8990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27" name="Freeform 134"/>
              <p:cNvSpPr>
                <a:spLocks/>
              </p:cNvSpPr>
              <p:nvPr/>
            </p:nvSpPr>
            <p:spPr bwMode="auto">
              <a:xfrm>
                <a:off x="8926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28" name="Freeform 135"/>
              <p:cNvSpPr>
                <a:spLocks/>
              </p:cNvSpPr>
              <p:nvPr/>
            </p:nvSpPr>
            <p:spPr bwMode="auto">
              <a:xfrm>
                <a:off x="8933" y="9590"/>
                <a:ext cx="53" cy="14"/>
              </a:xfrm>
              <a:custGeom>
                <a:avLst/>
                <a:gdLst>
                  <a:gd name="T0" fmla="*/ 105 w 105"/>
                  <a:gd name="T1" fmla="*/ 14 h 27"/>
                  <a:gd name="T2" fmla="*/ 105 w 105"/>
                  <a:gd name="T3" fmla="*/ 0 h 27"/>
                  <a:gd name="T4" fmla="*/ 0 w 105"/>
                  <a:gd name="T5" fmla="*/ 0 h 27"/>
                  <a:gd name="T6" fmla="*/ 0 w 105"/>
                  <a:gd name="T7" fmla="*/ 27 h 27"/>
                  <a:gd name="T8" fmla="*/ 105 w 105"/>
                  <a:gd name="T9" fmla="*/ 27 h 27"/>
                  <a:gd name="T10" fmla="*/ 105 w 105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5"/>
                  <a:gd name="T19" fmla="*/ 0 h 27"/>
                  <a:gd name="T20" fmla="*/ 105 w 105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5" h="27">
                    <a:moveTo>
                      <a:pt x="105" y="14"/>
                    </a:moveTo>
                    <a:lnTo>
                      <a:pt x="105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05" y="27"/>
                    </a:lnTo>
                    <a:lnTo>
                      <a:pt x="105" y="14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29" name="Freeform 136"/>
              <p:cNvSpPr>
                <a:spLocks/>
              </p:cNvSpPr>
              <p:nvPr/>
            </p:nvSpPr>
            <p:spPr bwMode="auto">
              <a:xfrm>
                <a:off x="8986" y="9590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30" name="Freeform 137"/>
              <p:cNvSpPr>
                <a:spLocks/>
              </p:cNvSpPr>
              <p:nvPr/>
            </p:nvSpPr>
            <p:spPr bwMode="auto">
              <a:xfrm>
                <a:off x="8931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31" name="Freeform 138"/>
              <p:cNvSpPr>
                <a:spLocks/>
              </p:cNvSpPr>
              <p:nvPr/>
            </p:nvSpPr>
            <p:spPr bwMode="auto">
              <a:xfrm>
                <a:off x="8938" y="9590"/>
                <a:ext cx="43" cy="14"/>
              </a:xfrm>
              <a:custGeom>
                <a:avLst/>
                <a:gdLst>
                  <a:gd name="T0" fmla="*/ 87 w 87"/>
                  <a:gd name="T1" fmla="*/ 14 h 27"/>
                  <a:gd name="T2" fmla="*/ 87 w 87"/>
                  <a:gd name="T3" fmla="*/ 0 h 27"/>
                  <a:gd name="T4" fmla="*/ 0 w 87"/>
                  <a:gd name="T5" fmla="*/ 0 h 27"/>
                  <a:gd name="T6" fmla="*/ 0 w 87"/>
                  <a:gd name="T7" fmla="*/ 27 h 27"/>
                  <a:gd name="T8" fmla="*/ 87 w 87"/>
                  <a:gd name="T9" fmla="*/ 27 h 27"/>
                  <a:gd name="T10" fmla="*/ 87 w 87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7"/>
                  <a:gd name="T19" fmla="*/ 0 h 27"/>
                  <a:gd name="T20" fmla="*/ 87 w 87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7" h="27">
                    <a:moveTo>
                      <a:pt x="87" y="14"/>
                    </a:moveTo>
                    <a:lnTo>
                      <a:pt x="87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87" y="27"/>
                    </a:lnTo>
                    <a:lnTo>
                      <a:pt x="87" y="14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32" name="Freeform 139"/>
              <p:cNvSpPr>
                <a:spLocks/>
              </p:cNvSpPr>
              <p:nvPr/>
            </p:nvSpPr>
            <p:spPr bwMode="auto">
              <a:xfrm>
                <a:off x="8981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33" name="Freeform 140"/>
              <p:cNvSpPr>
                <a:spLocks/>
              </p:cNvSpPr>
              <p:nvPr/>
            </p:nvSpPr>
            <p:spPr bwMode="auto">
              <a:xfrm>
                <a:off x="8935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4 w 14"/>
                  <a:gd name="T3" fmla="*/ 4 h 27"/>
                  <a:gd name="T4" fmla="*/ 0 w 14"/>
                  <a:gd name="T5" fmla="*/ 14 h 27"/>
                  <a:gd name="T6" fmla="*/ 4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4" y="4"/>
                    </a:lnTo>
                    <a:lnTo>
                      <a:pt x="0" y="14"/>
                    </a:lnTo>
                    <a:lnTo>
                      <a:pt x="4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34" name="Freeform 141"/>
              <p:cNvSpPr>
                <a:spLocks/>
              </p:cNvSpPr>
              <p:nvPr/>
            </p:nvSpPr>
            <p:spPr bwMode="auto">
              <a:xfrm>
                <a:off x="8942" y="9590"/>
                <a:ext cx="34" cy="14"/>
              </a:xfrm>
              <a:custGeom>
                <a:avLst/>
                <a:gdLst>
                  <a:gd name="T0" fmla="*/ 69 w 69"/>
                  <a:gd name="T1" fmla="*/ 14 h 27"/>
                  <a:gd name="T2" fmla="*/ 69 w 69"/>
                  <a:gd name="T3" fmla="*/ 0 h 27"/>
                  <a:gd name="T4" fmla="*/ 0 w 69"/>
                  <a:gd name="T5" fmla="*/ 0 h 27"/>
                  <a:gd name="T6" fmla="*/ 0 w 69"/>
                  <a:gd name="T7" fmla="*/ 27 h 27"/>
                  <a:gd name="T8" fmla="*/ 69 w 69"/>
                  <a:gd name="T9" fmla="*/ 27 h 27"/>
                  <a:gd name="T10" fmla="*/ 69 w 69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9"/>
                  <a:gd name="T19" fmla="*/ 0 h 27"/>
                  <a:gd name="T20" fmla="*/ 69 w 69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9" h="27">
                    <a:moveTo>
                      <a:pt x="69" y="14"/>
                    </a:moveTo>
                    <a:lnTo>
                      <a:pt x="69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69" y="27"/>
                    </a:lnTo>
                    <a:lnTo>
                      <a:pt x="69" y="14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35" name="Freeform 142"/>
              <p:cNvSpPr>
                <a:spLocks/>
              </p:cNvSpPr>
              <p:nvPr/>
            </p:nvSpPr>
            <p:spPr bwMode="auto">
              <a:xfrm>
                <a:off x="8976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36" name="Freeform 143"/>
              <p:cNvSpPr>
                <a:spLocks/>
              </p:cNvSpPr>
              <p:nvPr/>
            </p:nvSpPr>
            <p:spPr bwMode="auto">
              <a:xfrm>
                <a:off x="8940" y="9590"/>
                <a:ext cx="7" cy="14"/>
              </a:xfrm>
              <a:custGeom>
                <a:avLst/>
                <a:gdLst>
                  <a:gd name="T0" fmla="*/ 13 w 13"/>
                  <a:gd name="T1" fmla="*/ 0 h 27"/>
                  <a:gd name="T2" fmla="*/ 3 w 13"/>
                  <a:gd name="T3" fmla="*/ 4 h 27"/>
                  <a:gd name="T4" fmla="*/ 0 w 13"/>
                  <a:gd name="T5" fmla="*/ 14 h 27"/>
                  <a:gd name="T6" fmla="*/ 3 w 13"/>
                  <a:gd name="T7" fmla="*/ 23 h 27"/>
                  <a:gd name="T8" fmla="*/ 13 w 13"/>
                  <a:gd name="T9" fmla="*/ 27 h 27"/>
                  <a:gd name="T10" fmla="*/ 13 w 13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7"/>
                  <a:gd name="T20" fmla="*/ 13 w 1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7">
                    <a:moveTo>
                      <a:pt x="13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37" name="Freeform 144"/>
              <p:cNvSpPr>
                <a:spLocks/>
              </p:cNvSpPr>
              <p:nvPr/>
            </p:nvSpPr>
            <p:spPr bwMode="auto">
              <a:xfrm>
                <a:off x="8947" y="9590"/>
                <a:ext cx="26" cy="14"/>
              </a:xfrm>
              <a:custGeom>
                <a:avLst/>
                <a:gdLst>
                  <a:gd name="T0" fmla="*/ 52 w 52"/>
                  <a:gd name="T1" fmla="*/ 14 h 27"/>
                  <a:gd name="T2" fmla="*/ 52 w 52"/>
                  <a:gd name="T3" fmla="*/ 0 h 27"/>
                  <a:gd name="T4" fmla="*/ 0 w 52"/>
                  <a:gd name="T5" fmla="*/ 0 h 27"/>
                  <a:gd name="T6" fmla="*/ 0 w 52"/>
                  <a:gd name="T7" fmla="*/ 27 h 27"/>
                  <a:gd name="T8" fmla="*/ 52 w 52"/>
                  <a:gd name="T9" fmla="*/ 27 h 27"/>
                  <a:gd name="T10" fmla="*/ 52 w 52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2"/>
                  <a:gd name="T19" fmla="*/ 0 h 27"/>
                  <a:gd name="T20" fmla="*/ 52 w 52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2" h="27">
                    <a:moveTo>
                      <a:pt x="52" y="14"/>
                    </a:moveTo>
                    <a:lnTo>
                      <a:pt x="52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52" y="27"/>
                    </a:lnTo>
                    <a:lnTo>
                      <a:pt x="52" y="14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38" name="Freeform 145"/>
              <p:cNvSpPr>
                <a:spLocks/>
              </p:cNvSpPr>
              <p:nvPr/>
            </p:nvSpPr>
            <p:spPr bwMode="auto">
              <a:xfrm>
                <a:off x="8973" y="9590"/>
                <a:ext cx="6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39" name="Freeform 146"/>
              <p:cNvSpPr>
                <a:spLocks/>
              </p:cNvSpPr>
              <p:nvPr/>
            </p:nvSpPr>
            <p:spPr bwMode="auto">
              <a:xfrm>
                <a:off x="8944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40" name="Freeform 147"/>
              <p:cNvSpPr>
                <a:spLocks/>
              </p:cNvSpPr>
              <p:nvPr/>
            </p:nvSpPr>
            <p:spPr bwMode="auto">
              <a:xfrm>
                <a:off x="8951" y="9590"/>
                <a:ext cx="17" cy="14"/>
              </a:xfrm>
              <a:custGeom>
                <a:avLst/>
                <a:gdLst>
                  <a:gd name="T0" fmla="*/ 33 w 33"/>
                  <a:gd name="T1" fmla="*/ 14 h 27"/>
                  <a:gd name="T2" fmla="*/ 33 w 33"/>
                  <a:gd name="T3" fmla="*/ 0 h 27"/>
                  <a:gd name="T4" fmla="*/ 0 w 33"/>
                  <a:gd name="T5" fmla="*/ 0 h 27"/>
                  <a:gd name="T6" fmla="*/ 0 w 33"/>
                  <a:gd name="T7" fmla="*/ 27 h 27"/>
                  <a:gd name="T8" fmla="*/ 33 w 33"/>
                  <a:gd name="T9" fmla="*/ 27 h 27"/>
                  <a:gd name="T10" fmla="*/ 33 w 33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3"/>
                  <a:gd name="T19" fmla="*/ 0 h 27"/>
                  <a:gd name="T20" fmla="*/ 33 w 33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3" h="27">
                    <a:moveTo>
                      <a:pt x="33" y="14"/>
                    </a:moveTo>
                    <a:lnTo>
                      <a:pt x="33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33" y="27"/>
                    </a:lnTo>
                    <a:lnTo>
                      <a:pt x="33" y="14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41" name="Freeform 148"/>
              <p:cNvSpPr>
                <a:spLocks/>
              </p:cNvSpPr>
              <p:nvPr/>
            </p:nvSpPr>
            <p:spPr bwMode="auto">
              <a:xfrm>
                <a:off x="8968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42" name="Freeform 149"/>
              <p:cNvSpPr>
                <a:spLocks/>
              </p:cNvSpPr>
              <p:nvPr/>
            </p:nvSpPr>
            <p:spPr bwMode="auto">
              <a:xfrm>
                <a:off x="8949" y="9590"/>
                <a:ext cx="7" cy="14"/>
              </a:xfrm>
              <a:custGeom>
                <a:avLst/>
                <a:gdLst>
                  <a:gd name="T0" fmla="*/ 14 w 14"/>
                  <a:gd name="T1" fmla="*/ 0 h 27"/>
                  <a:gd name="T2" fmla="*/ 3 w 14"/>
                  <a:gd name="T3" fmla="*/ 4 h 27"/>
                  <a:gd name="T4" fmla="*/ 0 w 14"/>
                  <a:gd name="T5" fmla="*/ 14 h 27"/>
                  <a:gd name="T6" fmla="*/ 3 w 14"/>
                  <a:gd name="T7" fmla="*/ 23 h 27"/>
                  <a:gd name="T8" fmla="*/ 14 w 14"/>
                  <a:gd name="T9" fmla="*/ 27 h 27"/>
                  <a:gd name="T10" fmla="*/ 14 w 1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14" y="0"/>
                    </a:moveTo>
                    <a:lnTo>
                      <a:pt x="3" y="4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43" name="Freeform 150"/>
              <p:cNvSpPr>
                <a:spLocks/>
              </p:cNvSpPr>
              <p:nvPr/>
            </p:nvSpPr>
            <p:spPr bwMode="auto">
              <a:xfrm>
                <a:off x="8956" y="9590"/>
                <a:ext cx="7" cy="14"/>
              </a:xfrm>
              <a:custGeom>
                <a:avLst/>
                <a:gdLst>
                  <a:gd name="T0" fmla="*/ 15 w 15"/>
                  <a:gd name="T1" fmla="*/ 14 h 27"/>
                  <a:gd name="T2" fmla="*/ 15 w 15"/>
                  <a:gd name="T3" fmla="*/ 0 h 27"/>
                  <a:gd name="T4" fmla="*/ 0 w 15"/>
                  <a:gd name="T5" fmla="*/ 0 h 27"/>
                  <a:gd name="T6" fmla="*/ 0 w 15"/>
                  <a:gd name="T7" fmla="*/ 27 h 27"/>
                  <a:gd name="T8" fmla="*/ 15 w 15"/>
                  <a:gd name="T9" fmla="*/ 27 h 27"/>
                  <a:gd name="T10" fmla="*/ 15 w 15"/>
                  <a:gd name="T11" fmla="*/ 1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7"/>
                  <a:gd name="T20" fmla="*/ 15 w 15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7">
                    <a:moveTo>
                      <a:pt x="15" y="14"/>
                    </a:moveTo>
                    <a:lnTo>
                      <a:pt x="15" y="0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15" y="27"/>
                    </a:lnTo>
                    <a:lnTo>
                      <a:pt x="15" y="1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44" name="Freeform 151"/>
              <p:cNvSpPr>
                <a:spLocks/>
              </p:cNvSpPr>
              <p:nvPr/>
            </p:nvSpPr>
            <p:spPr bwMode="auto">
              <a:xfrm>
                <a:off x="8963" y="9590"/>
                <a:ext cx="7" cy="14"/>
              </a:xfrm>
              <a:custGeom>
                <a:avLst/>
                <a:gdLst>
                  <a:gd name="T0" fmla="*/ 0 w 14"/>
                  <a:gd name="T1" fmla="*/ 27 h 27"/>
                  <a:gd name="T2" fmla="*/ 11 w 14"/>
                  <a:gd name="T3" fmla="*/ 23 h 27"/>
                  <a:gd name="T4" fmla="*/ 14 w 14"/>
                  <a:gd name="T5" fmla="*/ 14 h 27"/>
                  <a:gd name="T6" fmla="*/ 11 w 14"/>
                  <a:gd name="T7" fmla="*/ 4 h 27"/>
                  <a:gd name="T8" fmla="*/ 0 w 14"/>
                  <a:gd name="T9" fmla="*/ 0 h 27"/>
                  <a:gd name="T10" fmla="*/ 0 w 14"/>
                  <a:gd name="T11" fmla="*/ 27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7"/>
                  <a:gd name="T20" fmla="*/ 14 w 1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7">
                    <a:moveTo>
                      <a:pt x="0" y="27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4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45" name="Freeform 152"/>
              <p:cNvSpPr>
                <a:spLocks/>
              </p:cNvSpPr>
              <p:nvPr/>
            </p:nvSpPr>
            <p:spPr bwMode="auto">
              <a:xfrm>
                <a:off x="8889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46" name="Freeform 153"/>
              <p:cNvSpPr>
                <a:spLocks/>
              </p:cNvSpPr>
              <p:nvPr/>
            </p:nvSpPr>
            <p:spPr bwMode="auto">
              <a:xfrm>
                <a:off x="8896" y="9619"/>
                <a:ext cx="124" cy="13"/>
              </a:xfrm>
              <a:custGeom>
                <a:avLst/>
                <a:gdLst>
                  <a:gd name="T0" fmla="*/ 249 w 249"/>
                  <a:gd name="T1" fmla="*/ 14 h 28"/>
                  <a:gd name="T2" fmla="*/ 249 w 249"/>
                  <a:gd name="T3" fmla="*/ 0 h 28"/>
                  <a:gd name="T4" fmla="*/ 0 w 249"/>
                  <a:gd name="T5" fmla="*/ 0 h 28"/>
                  <a:gd name="T6" fmla="*/ 0 w 249"/>
                  <a:gd name="T7" fmla="*/ 28 h 28"/>
                  <a:gd name="T8" fmla="*/ 249 w 249"/>
                  <a:gd name="T9" fmla="*/ 28 h 28"/>
                  <a:gd name="T10" fmla="*/ 249 w 249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9"/>
                  <a:gd name="T19" fmla="*/ 0 h 28"/>
                  <a:gd name="T20" fmla="*/ 249 w 249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9" h="28">
                    <a:moveTo>
                      <a:pt x="249" y="14"/>
                    </a:moveTo>
                    <a:lnTo>
                      <a:pt x="249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49" y="28"/>
                    </a:lnTo>
                    <a:lnTo>
                      <a:pt x="249" y="14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47" name="Freeform 154"/>
              <p:cNvSpPr>
                <a:spLocks/>
              </p:cNvSpPr>
              <p:nvPr/>
            </p:nvSpPr>
            <p:spPr bwMode="auto">
              <a:xfrm>
                <a:off x="9020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48" name="Freeform 155"/>
              <p:cNvSpPr>
                <a:spLocks/>
              </p:cNvSpPr>
              <p:nvPr/>
            </p:nvSpPr>
            <p:spPr bwMode="auto">
              <a:xfrm>
                <a:off x="8893" y="9619"/>
                <a:ext cx="7" cy="13"/>
              </a:xfrm>
              <a:custGeom>
                <a:avLst/>
                <a:gdLst>
                  <a:gd name="T0" fmla="*/ 13 w 13"/>
                  <a:gd name="T1" fmla="*/ 0 h 28"/>
                  <a:gd name="T2" fmla="*/ 3 w 13"/>
                  <a:gd name="T3" fmla="*/ 5 h 28"/>
                  <a:gd name="T4" fmla="*/ 0 w 13"/>
                  <a:gd name="T5" fmla="*/ 14 h 28"/>
                  <a:gd name="T6" fmla="*/ 3 w 13"/>
                  <a:gd name="T7" fmla="*/ 23 h 28"/>
                  <a:gd name="T8" fmla="*/ 13 w 13"/>
                  <a:gd name="T9" fmla="*/ 28 h 28"/>
                  <a:gd name="T10" fmla="*/ 13 w 13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13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8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49" name="Freeform 156"/>
              <p:cNvSpPr>
                <a:spLocks/>
              </p:cNvSpPr>
              <p:nvPr/>
            </p:nvSpPr>
            <p:spPr bwMode="auto">
              <a:xfrm>
                <a:off x="8900" y="9619"/>
                <a:ext cx="116" cy="13"/>
              </a:xfrm>
              <a:custGeom>
                <a:avLst/>
                <a:gdLst>
                  <a:gd name="T0" fmla="*/ 232 w 232"/>
                  <a:gd name="T1" fmla="*/ 14 h 28"/>
                  <a:gd name="T2" fmla="*/ 232 w 232"/>
                  <a:gd name="T3" fmla="*/ 0 h 28"/>
                  <a:gd name="T4" fmla="*/ 0 w 232"/>
                  <a:gd name="T5" fmla="*/ 0 h 28"/>
                  <a:gd name="T6" fmla="*/ 0 w 232"/>
                  <a:gd name="T7" fmla="*/ 28 h 28"/>
                  <a:gd name="T8" fmla="*/ 232 w 232"/>
                  <a:gd name="T9" fmla="*/ 28 h 28"/>
                  <a:gd name="T10" fmla="*/ 232 w 232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2"/>
                  <a:gd name="T19" fmla="*/ 0 h 28"/>
                  <a:gd name="T20" fmla="*/ 232 w 232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2" h="28">
                    <a:moveTo>
                      <a:pt x="232" y="14"/>
                    </a:moveTo>
                    <a:lnTo>
                      <a:pt x="232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32" y="28"/>
                    </a:lnTo>
                    <a:lnTo>
                      <a:pt x="232" y="14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0" name="Freeform 157"/>
              <p:cNvSpPr>
                <a:spLocks/>
              </p:cNvSpPr>
              <p:nvPr/>
            </p:nvSpPr>
            <p:spPr bwMode="auto">
              <a:xfrm>
                <a:off x="9016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1" name="Freeform 158"/>
              <p:cNvSpPr>
                <a:spLocks/>
              </p:cNvSpPr>
              <p:nvPr/>
            </p:nvSpPr>
            <p:spPr bwMode="auto">
              <a:xfrm>
                <a:off x="8898" y="9619"/>
                <a:ext cx="7" cy="13"/>
              </a:xfrm>
              <a:custGeom>
                <a:avLst/>
                <a:gdLst>
                  <a:gd name="T0" fmla="*/ 13 w 13"/>
                  <a:gd name="T1" fmla="*/ 0 h 28"/>
                  <a:gd name="T2" fmla="*/ 3 w 13"/>
                  <a:gd name="T3" fmla="*/ 5 h 28"/>
                  <a:gd name="T4" fmla="*/ 0 w 13"/>
                  <a:gd name="T5" fmla="*/ 14 h 28"/>
                  <a:gd name="T6" fmla="*/ 3 w 13"/>
                  <a:gd name="T7" fmla="*/ 23 h 28"/>
                  <a:gd name="T8" fmla="*/ 13 w 13"/>
                  <a:gd name="T9" fmla="*/ 28 h 28"/>
                  <a:gd name="T10" fmla="*/ 13 w 13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13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8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2" name="Freeform 159"/>
              <p:cNvSpPr>
                <a:spLocks/>
              </p:cNvSpPr>
              <p:nvPr/>
            </p:nvSpPr>
            <p:spPr bwMode="auto">
              <a:xfrm>
                <a:off x="8905" y="9619"/>
                <a:ext cx="107" cy="13"/>
              </a:xfrm>
              <a:custGeom>
                <a:avLst/>
                <a:gdLst>
                  <a:gd name="T0" fmla="*/ 214 w 214"/>
                  <a:gd name="T1" fmla="*/ 14 h 28"/>
                  <a:gd name="T2" fmla="*/ 214 w 214"/>
                  <a:gd name="T3" fmla="*/ 0 h 28"/>
                  <a:gd name="T4" fmla="*/ 0 w 214"/>
                  <a:gd name="T5" fmla="*/ 0 h 28"/>
                  <a:gd name="T6" fmla="*/ 0 w 214"/>
                  <a:gd name="T7" fmla="*/ 28 h 28"/>
                  <a:gd name="T8" fmla="*/ 214 w 214"/>
                  <a:gd name="T9" fmla="*/ 28 h 28"/>
                  <a:gd name="T10" fmla="*/ 214 w 214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4"/>
                  <a:gd name="T19" fmla="*/ 0 h 28"/>
                  <a:gd name="T20" fmla="*/ 214 w 2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4" h="28">
                    <a:moveTo>
                      <a:pt x="214" y="14"/>
                    </a:moveTo>
                    <a:lnTo>
                      <a:pt x="214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14" y="28"/>
                    </a:lnTo>
                    <a:lnTo>
                      <a:pt x="214" y="14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3" name="Freeform 160"/>
              <p:cNvSpPr>
                <a:spLocks/>
              </p:cNvSpPr>
              <p:nvPr/>
            </p:nvSpPr>
            <p:spPr bwMode="auto">
              <a:xfrm>
                <a:off x="9012" y="9619"/>
                <a:ext cx="6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4" name="Freeform 161"/>
              <p:cNvSpPr>
                <a:spLocks/>
              </p:cNvSpPr>
              <p:nvPr/>
            </p:nvSpPr>
            <p:spPr bwMode="auto">
              <a:xfrm>
                <a:off x="8902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5" name="Freeform 162"/>
              <p:cNvSpPr>
                <a:spLocks/>
              </p:cNvSpPr>
              <p:nvPr/>
            </p:nvSpPr>
            <p:spPr bwMode="auto">
              <a:xfrm>
                <a:off x="8909" y="9619"/>
                <a:ext cx="98" cy="13"/>
              </a:xfrm>
              <a:custGeom>
                <a:avLst/>
                <a:gdLst>
                  <a:gd name="T0" fmla="*/ 195 w 195"/>
                  <a:gd name="T1" fmla="*/ 14 h 28"/>
                  <a:gd name="T2" fmla="*/ 195 w 195"/>
                  <a:gd name="T3" fmla="*/ 0 h 28"/>
                  <a:gd name="T4" fmla="*/ 0 w 195"/>
                  <a:gd name="T5" fmla="*/ 0 h 28"/>
                  <a:gd name="T6" fmla="*/ 0 w 195"/>
                  <a:gd name="T7" fmla="*/ 28 h 28"/>
                  <a:gd name="T8" fmla="*/ 195 w 195"/>
                  <a:gd name="T9" fmla="*/ 28 h 28"/>
                  <a:gd name="T10" fmla="*/ 195 w 195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5"/>
                  <a:gd name="T19" fmla="*/ 0 h 28"/>
                  <a:gd name="T20" fmla="*/ 195 w 195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5" h="28">
                    <a:moveTo>
                      <a:pt x="195" y="14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95" y="28"/>
                    </a:lnTo>
                    <a:lnTo>
                      <a:pt x="195" y="14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6" name="Freeform 163"/>
              <p:cNvSpPr>
                <a:spLocks/>
              </p:cNvSpPr>
              <p:nvPr/>
            </p:nvSpPr>
            <p:spPr bwMode="auto">
              <a:xfrm>
                <a:off x="9007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7" name="Freeform 164"/>
              <p:cNvSpPr>
                <a:spLocks/>
              </p:cNvSpPr>
              <p:nvPr/>
            </p:nvSpPr>
            <p:spPr bwMode="auto">
              <a:xfrm>
                <a:off x="8907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8" name="Freeform 165"/>
              <p:cNvSpPr>
                <a:spLocks/>
              </p:cNvSpPr>
              <p:nvPr/>
            </p:nvSpPr>
            <p:spPr bwMode="auto">
              <a:xfrm>
                <a:off x="8914" y="9619"/>
                <a:ext cx="88" cy="13"/>
              </a:xfrm>
              <a:custGeom>
                <a:avLst/>
                <a:gdLst>
                  <a:gd name="T0" fmla="*/ 177 w 177"/>
                  <a:gd name="T1" fmla="*/ 14 h 28"/>
                  <a:gd name="T2" fmla="*/ 177 w 177"/>
                  <a:gd name="T3" fmla="*/ 0 h 28"/>
                  <a:gd name="T4" fmla="*/ 0 w 177"/>
                  <a:gd name="T5" fmla="*/ 0 h 28"/>
                  <a:gd name="T6" fmla="*/ 0 w 177"/>
                  <a:gd name="T7" fmla="*/ 28 h 28"/>
                  <a:gd name="T8" fmla="*/ 177 w 177"/>
                  <a:gd name="T9" fmla="*/ 28 h 28"/>
                  <a:gd name="T10" fmla="*/ 177 w 177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7"/>
                  <a:gd name="T19" fmla="*/ 0 h 28"/>
                  <a:gd name="T20" fmla="*/ 177 w 177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7" h="28">
                    <a:moveTo>
                      <a:pt x="177" y="14"/>
                    </a:moveTo>
                    <a:lnTo>
                      <a:pt x="177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77" y="28"/>
                    </a:lnTo>
                    <a:lnTo>
                      <a:pt x="177" y="14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9" name="Freeform 166"/>
              <p:cNvSpPr>
                <a:spLocks/>
              </p:cNvSpPr>
              <p:nvPr/>
            </p:nvSpPr>
            <p:spPr bwMode="auto">
              <a:xfrm>
                <a:off x="9002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0 w 14"/>
                  <a:gd name="T3" fmla="*/ 23 h 28"/>
                  <a:gd name="T4" fmla="*/ 14 w 14"/>
                  <a:gd name="T5" fmla="*/ 14 h 28"/>
                  <a:gd name="T6" fmla="*/ 10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0" y="23"/>
                    </a:lnTo>
                    <a:lnTo>
                      <a:pt x="14" y="14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60" name="Freeform 167"/>
              <p:cNvSpPr>
                <a:spLocks/>
              </p:cNvSpPr>
              <p:nvPr/>
            </p:nvSpPr>
            <p:spPr bwMode="auto">
              <a:xfrm>
                <a:off x="8912" y="9619"/>
                <a:ext cx="6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61" name="Freeform 168"/>
              <p:cNvSpPr>
                <a:spLocks/>
              </p:cNvSpPr>
              <p:nvPr/>
            </p:nvSpPr>
            <p:spPr bwMode="auto">
              <a:xfrm>
                <a:off x="8918" y="9619"/>
                <a:ext cx="80" cy="13"/>
              </a:xfrm>
              <a:custGeom>
                <a:avLst/>
                <a:gdLst>
                  <a:gd name="T0" fmla="*/ 159 w 159"/>
                  <a:gd name="T1" fmla="*/ 14 h 28"/>
                  <a:gd name="T2" fmla="*/ 159 w 159"/>
                  <a:gd name="T3" fmla="*/ 0 h 28"/>
                  <a:gd name="T4" fmla="*/ 0 w 159"/>
                  <a:gd name="T5" fmla="*/ 0 h 28"/>
                  <a:gd name="T6" fmla="*/ 0 w 159"/>
                  <a:gd name="T7" fmla="*/ 28 h 28"/>
                  <a:gd name="T8" fmla="*/ 159 w 159"/>
                  <a:gd name="T9" fmla="*/ 28 h 28"/>
                  <a:gd name="T10" fmla="*/ 159 w 159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9"/>
                  <a:gd name="T19" fmla="*/ 0 h 28"/>
                  <a:gd name="T20" fmla="*/ 159 w 159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9" h="28">
                    <a:moveTo>
                      <a:pt x="159" y="14"/>
                    </a:moveTo>
                    <a:lnTo>
                      <a:pt x="159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59" y="28"/>
                    </a:lnTo>
                    <a:lnTo>
                      <a:pt x="159" y="14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62" name="Freeform 169"/>
              <p:cNvSpPr>
                <a:spLocks/>
              </p:cNvSpPr>
              <p:nvPr/>
            </p:nvSpPr>
            <p:spPr bwMode="auto">
              <a:xfrm>
                <a:off x="8998" y="9619"/>
                <a:ext cx="7" cy="13"/>
              </a:xfrm>
              <a:custGeom>
                <a:avLst/>
                <a:gdLst>
                  <a:gd name="T0" fmla="*/ 0 w 13"/>
                  <a:gd name="T1" fmla="*/ 28 h 28"/>
                  <a:gd name="T2" fmla="*/ 10 w 13"/>
                  <a:gd name="T3" fmla="*/ 23 h 28"/>
                  <a:gd name="T4" fmla="*/ 13 w 13"/>
                  <a:gd name="T5" fmla="*/ 14 h 28"/>
                  <a:gd name="T6" fmla="*/ 10 w 13"/>
                  <a:gd name="T7" fmla="*/ 5 h 28"/>
                  <a:gd name="T8" fmla="*/ 0 w 13"/>
                  <a:gd name="T9" fmla="*/ 0 h 28"/>
                  <a:gd name="T10" fmla="*/ 0 w 13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0" y="28"/>
                    </a:moveTo>
                    <a:lnTo>
                      <a:pt x="10" y="23"/>
                    </a:lnTo>
                    <a:lnTo>
                      <a:pt x="13" y="14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63" name="Freeform 170"/>
              <p:cNvSpPr>
                <a:spLocks/>
              </p:cNvSpPr>
              <p:nvPr/>
            </p:nvSpPr>
            <p:spPr bwMode="auto">
              <a:xfrm>
                <a:off x="8916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64" name="Freeform 171"/>
              <p:cNvSpPr>
                <a:spLocks/>
              </p:cNvSpPr>
              <p:nvPr/>
            </p:nvSpPr>
            <p:spPr bwMode="auto">
              <a:xfrm>
                <a:off x="8923" y="9619"/>
                <a:ext cx="72" cy="13"/>
              </a:xfrm>
              <a:custGeom>
                <a:avLst/>
                <a:gdLst>
                  <a:gd name="T0" fmla="*/ 144 w 144"/>
                  <a:gd name="T1" fmla="*/ 14 h 28"/>
                  <a:gd name="T2" fmla="*/ 144 w 144"/>
                  <a:gd name="T3" fmla="*/ 0 h 28"/>
                  <a:gd name="T4" fmla="*/ 0 w 144"/>
                  <a:gd name="T5" fmla="*/ 0 h 28"/>
                  <a:gd name="T6" fmla="*/ 0 w 144"/>
                  <a:gd name="T7" fmla="*/ 28 h 28"/>
                  <a:gd name="T8" fmla="*/ 144 w 144"/>
                  <a:gd name="T9" fmla="*/ 28 h 28"/>
                  <a:gd name="T10" fmla="*/ 144 w 144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4"/>
                  <a:gd name="T19" fmla="*/ 0 h 28"/>
                  <a:gd name="T20" fmla="*/ 144 w 14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4" h="28">
                    <a:moveTo>
                      <a:pt x="144" y="14"/>
                    </a:moveTo>
                    <a:lnTo>
                      <a:pt x="144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44" y="28"/>
                    </a:lnTo>
                    <a:lnTo>
                      <a:pt x="144" y="14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65" name="Freeform 172"/>
              <p:cNvSpPr>
                <a:spLocks/>
              </p:cNvSpPr>
              <p:nvPr/>
            </p:nvSpPr>
            <p:spPr bwMode="auto">
              <a:xfrm>
                <a:off x="8995" y="9619"/>
                <a:ext cx="7" cy="13"/>
              </a:xfrm>
              <a:custGeom>
                <a:avLst/>
                <a:gdLst>
                  <a:gd name="T0" fmla="*/ 0 w 13"/>
                  <a:gd name="T1" fmla="*/ 28 h 28"/>
                  <a:gd name="T2" fmla="*/ 10 w 13"/>
                  <a:gd name="T3" fmla="*/ 23 h 28"/>
                  <a:gd name="T4" fmla="*/ 13 w 13"/>
                  <a:gd name="T5" fmla="*/ 14 h 28"/>
                  <a:gd name="T6" fmla="*/ 10 w 13"/>
                  <a:gd name="T7" fmla="*/ 5 h 28"/>
                  <a:gd name="T8" fmla="*/ 0 w 13"/>
                  <a:gd name="T9" fmla="*/ 0 h 28"/>
                  <a:gd name="T10" fmla="*/ 0 w 13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0" y="28"/>
                    </a:moveTo>
                    <a:lnTo>
                      <a:pt x="10" y="23"/>
                    </a:lnTo>
                    <a:lnTo>
                      <a:pt x="13" y="14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66" name="Freeform 173"/>
              <p:cNvSpPr>
                <a:spLocks/>
              </p:cNvSpPr>
              <p:nvPr/>
            </p:nvSpPr>
            <p:spPr bwMode="auto">
              <a:xfrm>
                <a:off x="8921" y="9619"/>
                <a:ext cx="7" cy="13"/>
              </a:xfrm>
              <a:custGeom>
                <a:avLst/>
                <a:gdLst>
                  <a:gd name="T0" fmla="*/ 13 w 13"/>
                  <a:gd name="T1" fmla="*/ 0 h 28"/>
                  <a:gd name="T2" fmla="*/ 3 w 13"/>
                  <a:gd name="T3" fmla="*/ 5 h 28"/>
                  <a:gd name="T4" fmla="*/ 0 w 13"/>
                  <a:gd name="T5" fmla="*/ 14 h 28"/>
                  <a:gd name="T6" fmla="*/ 3 w 13"/>
                  <a:gd name="T7" fmla="*/ 23 h 28"/>
                  <a:gd name="T8" fmla="*/ 13 w 13"/>
                  <a:gd name="T9" fmla="*/ 28 h 28"/>
                  <a:gd name="T10" fmla="*/ 13 w 13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13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8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67" name="Freeform 174"/>
              <p:cNvSpPr>
                <a:spLocks/>
              </p:cNvSpPr>
              <p:nvPr/>
            </p:nvSpPr>
            <p:spPr bwMode="auto">
              <a:xfrm>
                <a:off x="8928" y="9619"/>
                <a:ext cx="62" cy="13"/>
              </a:xfrm>
              <a:custGeom>
                <a:avLst/>
                <a:gdLst>
                  <a:gd name="T0" fmla="*/ 125 w 125"/>
                  <a:gd name="T1" fmla="*/ 14 h 28"/>
                  <a:gd name="T2" fmla="*/ 125 w 125"/>
                  <a:gd name="T3" fmla="*/ 0 h 28"/>
                  <a:gd name="T4" fmla="*/ 0 w 125"/>
                  <a:gd name="T5" fmla="*/ 0 h 28"/>
                  <a:gd name="T6" fmla="*/ 0 w 125"/>
                  <a:gd name="T7" fmla="*/ 28 h 28"/>
                  <a:gd name="T8" fmla="*/ 125 w 125"/>
                  <a:gd name="T9" fmla="*/ 28 h 28"/>
                  <a:gd name="T10" fmla="*/ 125 w 125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5"/>
                  <a:gd name="T19" fmla="*/ 0 h 28"/>
                  <a:gd name="T20" fmla="*/ 125 w 125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5" h="28">
                    <a:moveTo>
                      <a:pt x="125" y="14"/>
                    </a:moveTo>
                    <a:lnTo>
                      <a:pt x="125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25" y="28"/>
                    </a:lnTo>
                    <a:lnTo>
                      <a:pt x="125" y="14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68" name="Freeform 175"/>
              <p:cNvSpPr>
                <a:spLocks/>
              </p:cNvSpPr>
              <p:nvPr/>
            </p:nvSpPr>
            <p:spPr bwMode="auto">
              <a:xfrm>
                <a:off x="8990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B2B2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69" name="Freeform 176"/>
              <p:cNvSpPr>
                <a:spLocks/>
              </p:cNvSpPr>
              <p:nvPr/>
            </p:nvSpPr>
            <p:spPr bwMode="auto">
              <a:xfrm>
                <a:off x="8926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70" name="Freeform 177"/>
              <p:cNvSpPr>
                <a:spLocks/>
              </p:cNvSpPr>
              <p:nvPr/>
            </p:nvSpPr>
            <p:spPr bwMode="auto">
              <a:xfrm>
                <a:off x="8933" y="9619"/>
                <a:ext cx="53" cy="13"/>
              </a:xfrm>
              <a:custGeom>
                <a:avLst/>
                <a:gdLst>
                  <a:gd name="T0" fmla="*/ 105 w 105"/>
                  <a:gd name="T1" fmla="*/ 14 h 28"/>
                  <a:gd name="T2" fmla="*/ 105 w 105"/>
                  <a:gd name="T3" fmla="*/ 0 h 28"/>
                  <a:gd name="T4" fmla="*/ 0 w 105"/>
                  <a:gd name="T5" fmla="*/ 0 h 28"/>
                  <a:gd name="T6" fmla="*/ 0 w 105"/>
                  <a:gd name="T7" fmla="*/ 28 h 28"/>
                  <a:gd name="T8" fmla="*/ 105 w 105"/>
                  <a:gd name="T9" fmla="*/ 28 h 28"/>
                  <a:gd name="T10" fmla="*/ 105 w 105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5"/>
                  <a:gd name="T19" fmla="*/ 0 h 28"/>
                  <a:gd name="T20" fmla="*/ 105 w 105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5" h="28">
                    <a:moveTo>
                      <a:pt x="105" y="14"/>
                    </a:moveTo>
                    <a:lnTo>
                      <a:pt x="105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05" y="28"/>
                    </a:lnTo>
                    <a:lnTo>
                      <a:pt x="105" y="14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71" name="Freeform 178"/>
              <p:cNvSpPr>
                <a:spLocks/>
              </p:cNvSpPr>
              <p:nvPr/>
            </p:nvSpPr>
            <p:spPr bwMode="auto">
              <a:xfrm>
                <a:off x="8986" y="9619"/>
                <a:ext cx="6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72" name="Freeform 179"/>
              <p:cNvSpPr>
                <a:spLocks/>
              </p:cNvSpPr>
              <p:nvPr/>
            </p:nvSpPr>
            <p:spPr bwMode="auto">
              <a:xfrm>
                <a:off x="8931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73" name="Freeform 180"/>
              <p:cNvSpPr>
                <a:spLocks/>
              </p:cNvSpPr>
              <p:nvPr/>
            </p:nvSpPr>
            <p:spPr bwMode="auto">
              <a:xfrm>
                <a:off x="8938" y="9619"/>
                <a:ext cx="43" cy="13"/>
              </a:xfrm>
              <a:custGeom>
                <a:avLst/>
                <a:gdLst>
                  <a:gd name="T0" fmla="*/ 87 w 87"/>
                  <a:gd name="T1" fmla="*/ 14 h 28"/>
                  <a:gd name="T2" fmla="*/ 87 w 87"/>
                  <a:gd name="T3" fmla="*/ 0 h 28"/>
                  <a:gd name="T4" fmla="*/ 0 w 87"/>
                  <a:gd name="T5" fmla="*/ 0 h 28"/>
                  <a:gd name="T6" fmla="*/ 0 w 87"/>
                  <a:gd name="T7" fmla="*/ 28 h 28"/>
                  <a:gd name="T8" fmla="*/ 87 w 87"/>
                  <a:gd name="T9" fmla="*/ 28 h 28"/>
                  <a:gd name="T10" fmla="*/ 87 w 87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7"/>
                  <a:gd name="T19" fmla="*/ 0 h 28"/>
                  <a:gd name="T20" fmla="*/ 87 w 87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7" h="28">
                    <a:moveTo>
                      <a:pt x="87" y="14"/>
                    </a:moveTo>
                    <a:lnTo>
                      <a:pt x="87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87" y="28"/>
                    </a:lnTo>
                    <a:lnTo>
                      <a:pt x="87" y="14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74" name="Freeform 181"/>
              <p:cNvSpPr>
                <a:spLocks/>
              </p:cNvSpPr>
              <p:nvPr/>
            </p:nvSpPr>
            <p:spPr bwMode="auto">
              <a:xfrm>
                <a:off x="8981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75" name="Freeform 182"/>
              <p:cNvSpPr>
                <a:spLocks/>
              </p:cNvSpPr>
              <p:nvPr/>
            </p:nvSpPr>
            <p:spPr bwMode="auto">
              <a:xfrm>
                <a:off x="8935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4 w 14"/>
                  <a:gd name="T3" fmla="*/ 5 h 28"/>
                  <a:gd name="T4" fmla="*/ 0 w 14"/>
                  <a:gd name="T5" fmla="*/ 14 h 28"/>
                  <a:gd name="T6" fmla="*/ 4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4" y="5"/>
                    </a:lnTo>
                    <a:lnTo>
                      <a:pt x="0" y="14"/>
                    </a:lnTo>
                    <a:lnTo>
                      <a:pt x="4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76" name="Freeform 183"/>
              <p:cNvSpPr>
                <a:spLocks/>
              </p:cNvSpPr>
              <p:nvPr/>
            </p:nvSpPr>
            <p:spPr bwMode="auto">
              <a:xfrm>
                <a:off x="8942" y="9619"/>
                <a:ext cx="34" cy="13"/>
              </a:xfrm>
              <a:custGeom>
                <a:avLst/>
                <a:gdLst>
                  <a:gd name="T0" fmla="*/ 69 w 69"/>
                  <a:gd name="T1" fmla="*/ 14 h 28"/>
                  <a:gd name="T2" fmla="*/ 69 w 69"/>
                  <a:gd name="T3" fmla="*/ 0 h 28"/>
                  <a:gd name="T4" fmla="*/ 0 w 69"/>
                  <a:gd name="T5" fmla="*/ 0 h 28"/>
                  <a:gd name="T6" fmla="*/ 0 w 69"/>
                  <a:gd name="T7" fmla="*/ 28 h 28"/>
                  <a:gd name="T8" fmla="*/ 69 w 69"/>
                  <a:gd name="T9" fmla="*/ 28 h 28"/>
                  <a:gd name="T10" fmla="*/ 69 w 69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9"/>
                  <a:gd name="T19" fmla="*/ 0 h 28"/>
                  <a:gd name="T20" fmla="*/ 69 w 69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9" h="28">
                    <a:moveTo>
                      <a:pt x="69" y="14"/>
                    </a:moveTo>
                    <a:lnTo>
                      <a:pt x="69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69" y="28"/>
                    </a:lnTo>
                    <a:lnTo>
                      <a:pt x="69" y="14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77" name="Freeform 184"/>
              <p:cNvSpPr>
                <a:spLocks/>
              </p:cNvSpPr>
              <p:nvPr/>
            </p:nvSpPr>
            <p:spPr bwMode="auto">
              <a:xfrm>
                <a:off x="8976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78" name="Freeform 185"/>
              <p:cNvSpPr>
                <a:spLocks/>
              </p:cNvSpPr>
              <p:nvPr/>
            </p:nvSpPr>
            <p:spPr bwMode="auto">
              <a:xfrm>
                <a:off x="8940" y="9619"/>
                <a:ext cx="7" cy="13"/>
              </a:xfrm>
              <a:custGeom>
                <a:avLst/>
                <a:gdLst>
                  <a:gd name="T0" fmla="*/ 13 w 13"/>
                  <a:gd name="T1" fmla="*/ 0 h 28"/>
                  <a:gd name="T2" fmla="*/ 3 w 13"/>
                  <a:gd name="T3" fmla="*/ 5 h 28"/>
                  <a:gd name="T4" fmla="*/ 0 w 13"/>
                  <a:gd name="T5" fmla="*/ 14 h 28"/>
                  <a:gd name="T6" fmla="*/ 3 w 13"/>
                  <a:gd name="T7" fmla="*/ 23 h 28"/>
                  <a:gd name="T8" fmla="*/ 13 w 13"/>
                  <a:gd name="T9" fmla="*/ 28 h 28"/>
                  <a:gd name="T10" fmla="*/ 13 w 13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13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8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79" name="Freeform 186"/>
              <p:cNvSpPr>
                <a:spLocks/>
              </p:cNvSpPr>
              <p:nvPr/>
            </p:nvSpPr>
            <p:spPr bwMode="auto">
              <a:xfrm>
                <a:off x="8947" y="9619"/>
                <a:ext cx="26" cy="13"/>
              </a:xfrm>
              <a:custGeom>
                <a:avLst/>
                <a:gdLst>
                  <a:gd name="T0" fmla="*/ 52 w 52"/>
                  <a:gd name="T1" fmla="*/ 14 h 28"/>
                  <a:gd name="T2" fmla="*/ 52 w 52"/>
                  <a:gd name="T3" fmla="*/ 0 h 28"/>
                  <a:gd name="T4" fmla="*/ 0 w 52"/>
                  <a:gd name="T5" fmla="*/ 0 h 28"/>
                  <a:gd name="T6" fmla="*/ 0 w 52"/>
                  <a:gd name="T7" fmla="*/ 28 h 28"/>
                  <a:gd name="T8" fmla="*/ 52 w 52"/>
                  <a:gd name="T9" fmla="*/ 28 h 28"/>
                  <a:gd name="T10" fmla="*/ 52 w 52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2"/>
                  <a:gd name="T19" fmla="*/ 0 h 28"/>
                  <a:gd name="T20" fmla="*/ 52 w 52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2" h="28">
                    <a:moveTo>
                      <a:pt x="52" y="14"/>
                    </a:moveTo>
                    <a:lnTo>
                      <a:pt x="52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52" y="28"/>
                    </a:lnTo>
                    <a:lnTo>
                      <a:pt x="52" y="14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80" name="Freeform 187"/>
              <p:cNvSpPr>
                <a:spLocks/>
              </p:cNvSpPr>
              <p:nvPr/>
            </p:nvSpPr>
            <p:spPr bwMode="auto">
              <a:xfrm>
                <a:off x="8973" y="9619"/>
                <a:ext cx="6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E5E5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81" name="Freeform 188"/>
              <p:cNvSpPr>
                <a:spLocks/>
              </p:cNvSpPr>
              <p:nvPr/>
            </p:nvSpPr>
            <p:spPr bwMode="auto">
              <a:xfrm>
                <a:off x="8944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82" name="Freeform 189"/>
              <p:cNvSpPr>
                <a:spLocks/>
              </p:cNvSpPr>
              <p:nvPr/>
            </p:nvSpPr>
            <p:spPr bwMode="auto">
              <a:xfrm>
                <a:off x="8951" y="9619"/>
                <a:ext cx="17" cy="13"/>
              </a:xfrm>
              <a:custGeom>
                <a:avLst/>
                <a:gdLst>
                  <a:gd name="T0" fmla="*/ 33 w 33"/>
                  <a:gd name="T1" fmla="*/ 14 h 28"/>
                  <a:gd name="T2" fmla="*/ 33 w 33"/>
                  <a:gd name="T3" fmla="*/ 0 h 28"/>
                  <a:gd name="T4" fmla="*/ 0 w 33"/>
                  <a:gd name="T5" fmla="*/ 0 h 28"/>
                  <a:gd name="T6" fmla="*/ 0 w 33"/>
                  <a:gd name="T7" fmla="*/ 28 h 28"/>
                  <a:gd name="T8" fmla="*/ 33 w 33"/>
                  <a:gd name="T9" fmla="*/ 28 h 28"/>
                  <a:gd name="T10" fmla="*/ 33 w 33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3"/>
                  <a:gd name="T19" fmla="*/ 0 h 28"/>
                  <a:gd name="T20" fmla="*/ 33 w 3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3" h="28">
                    <a:moveTo>
                      <a:pt x="33" y="14"/>
                    </a:moveTo>
                    <a:lnTo>
                      <a:pt x="33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33" y="28"/>
                    </a:lnTo>
                    <a:lnTo>
                      <a:pt x="33" y="14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83" name="Freeform 190"/>
              <p:cNvSpPr>
                <a:spLocks/>
              </p:cNvSpPr>
              <p:nvPr/>
            </p:nvSpPr>
            <p:spPr bwMode="auto">
              <a:xfrm>
                <a:off x="8968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84" name="Freeform 191"/>
              <p:cNvSpPr>
                <a:spLocks/>
              </p:cNvSpPr>
              <p:nvPr/>
            </p:nvSpPr>
            <p:spPr bwMode="auto">
              <a:xfrm>
                <a:off x="8949" y="9619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85" name="Freeform 192"/>
              <p:cNvSpPr>
                <a:spLocks/>
              </p:cNvSpPr>
              <p:nvPr/>
            </p:nvSpPr>
            <p:spPr bwMode="auto">
              <a:xfrm>
                <a:off x="8956" y="9619"/>
                <a:ext cx="7" cy="13"/>
              </a:xfrm>
              <a:custGeom>
                <a:avLst/>
                <a:gdLst>
                  <a:gd name="T0" fmla="*/ 15 w 15"/>
                  <a:gd name="T1" fmla="*/ 14 h 28"/>
                  <a:gd name="T2" fmla="*/ 15 w 15"/>
                  <a:gd name="T3" fmla="*/ 0 h 28"/>
                  <a:gd name="T4" fmla="*/ 0 w 15"/>
                  <a:gd name="T5" fmla="*/ 0 h 28"/>
                  <a:gd name="T6" fmla="*/ 0 w 15"/>
                  <a:gd name="T7" fmla="*/ 28 h 28"/>
                  <a:gd name="T8" fmla="*/ 15 w 15"/>
                  <a:gd name="T9" fmla="*/ 28 h 28"/>
                  <a:gd name="T10" fmla="*/ 15 w 15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8"/>
                  <a:gd name="T20" fmla="*/ 15 w 15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8">
                    <a:moveTo>
                      <a:pt x="15" y="14"/>
                    </a:moveTo>
                    <a:lnTo>
                      <a:pt x="15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5" y="28"/>
                    </a:lnTo>
                    <a:lnTo>
                      <a:pt x="15" y="1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86" name="Freeform 193"/>
              <p:cNvSpPr>
                <a:spLocks/>
              </p:cNvSpPr>
              <p:nvPr/>
            </p:nvSpPr>
            <p:spPr bwMode="auto">
              <a:xfrm>
                <a:off x="8963" y="9619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87" name="Freeform 194"/>
              <p:cNvSpPr>
                <a:spLocks/>
              </p:cNvSpPr>
              <p:nvPr/>
            </p:nvSpPr>
            <p:spPr bwMode="auto">
              <a:xfrm>
                <a:off x="8889" y="9647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88" name="Freeform 195"/>
              <p:cNvSpPr>
                <a:spLocks/>
              </p:cNvSpPr>
              <p:nvPr/>
            </p:nvSpPr>
            <p:spPr bwMode="auto">
              <a:xfrm>
                <a:off x="8896" y="9647"/>
                <a:ext cx="124" cy="13"/>
              </a:xfrm>
              <a:custGeom>
                <a:avLst/>
                <a:gdLst>
                  <a:gd name="T0" fmla="*/ 249 w 249"/>
                  <a:gd name="T1" fmla="*/ 14 h 28"/>
                  <a:gd name="T2" fmla="*/ 249 w 249"/>
                  <a:gd name="T3" fmla="*/ 0 h 28"/>
                  <a:gd name="T4" fmla="*/ 0 w 249"/>
                  <a:gd name="T5" fmla="*/ 0 h 28"/>
                  <a:gd name="T6" fmla="*/ 0 w 249"/>
                  <a:gd name="T7" fmla="*/ 28 h 28"/>
                  <a:gd name="T8" fmla="*/ 249 w 249"/>
                  <a:gd name="T9" fmla="*/ 28 h 28"/>
                  <a:gd name="T10" fmla="*/ 249 w 249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9"/>
                  <a:gd name="T19" fmla="*/ 0 h 28"/>
                  <a:gd name="T20" fmla="*/ 249 w 249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9" h="28">
                    <a:moveTo>
                      <a:pt x="249" y="14"/>
                    </a:moveTo>
                    <a:lnTo>
                      <a:pt x="249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49" y="28"/>
                    </a:lnTo>
                    <a:lnTo>
                      <a:pt x="249" y="14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89" name="Freeform 196"/>
              <p:cNvSpPr>
                <a:spLocks/>
              </p:cNvSpPr>
              <p:nvPr/>
            </p:nvSpPr>
            <p:spPr bwMode="auto">
              <a:xfrm>
                <a:off x="9020" y="9647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5959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90" name="Freeform 197"/>
              <p:cNvSpPr>
                <a:spLocks/>
              </p:cNvSpPr>
              <p:nvPr/>
            </p:nvSpPr>
            <p:spPr bwMode="auto">
              <a:xfrm>
                <a:off x="8893" y="9647"/>
                <a:ext cx="7" cy="13"/>
              </a:xfrm>
              <a:custGeom>
                <a:avLst/>
                <a:gdLst>
                  <a:gd name="T0" fmla="*/ 13 w 13"/>
                  <a:gd name="T1" fmla="*/ 0 h 28"/>
                  <a:gd name="T2" fmla="*/ 3 w 13"/>
                  <a:gd name="T3" fmla="*/ 5 h 28"/>
                  <a:gd name="T4" fmla="*/ 0 w 13"/>
                  <a:gd name="T5" fmla="*/ 14 h 28"/>
                  <a:gd name="T6" fmla="*/ 3 w 13"/>
                  <a:gd name="T7" fmla="*/ 23 h 28"/>
                  <a:gd name="T8" fmla="*/ 13 w 13"/>
                  <a:gd name="T9" fmla="*/ 28 h 28"/>
                  <a:gd name="T10" fmla="*/ 13 w 13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13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8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91" name="Freeform 198"/>
              <p:cNvSpPr>
                <a:spLocks/>
              </p:cNvSpPr>
              <p:nvPr/>
            </p:nvSpPr>
            <p:spPr bwMode="auto">
              <a:xfrm>
                <a:off x="8900" y="9647"/>
                <a:ext cx="116" cy="13"/>
              </a:xfrm>
              <a:custGeom>
                <a:avLst/>
                <a:gdLst>
                  <a:gd name="T0" fmla="*/ 232 w 232"/>
                  <a:gd name="T1" fmla="*/ 14 h 28"/>
                  <a:gd name="T2" fmla="*/ 232 w 232"/>
                  <a:gd name="T3" fmla="*/ 0 h 28"/>
                  <a:gd name="T4" fmla="*/ 0 w 232"/>
                  <a:gd name="T5" fmla="*/ 0 h 28"/>
                  <a:gd name="T6" fmla="*/ 0 w 232"/>
                  <a:gd name="T7" fmla="*/ 28 h 28"/>
                  <a:gd name="T8" fmla="*/ 232 w 232"/>
                  <a:gd name="T9" fmla="*/ 28 h 28"/>
                  <a:gd name="T10" fmla="*/ 232 w 232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2"/>
                  <a:gd name="T19" fmla="*/ 0 h 28"/>
                  <a:gd name="T20" fmla="*/ 232 w 232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2" h="28">
                    <a:moveTo>
                      <a:pt x="232" y="14"/>
                    </a:moveTo>
                    <a:lnTo>
                      <a:pt x="232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32" y="28"/>
                    </a:lnTo>
                    <a:lnTo>
                      <a:pt x="232" y="14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92" name="Freeform 199"/>
              <p:cNvSpPr>
                <a:spLocks/>
              </p:cNvSpPr>
              <p:nvPr/>
            </p:nvSpPr>
            <p:spPr bwMode="auto">
              <a:xfrm>
                <a:off x="9016" y="9647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93" name="Freeform 200"/>
              <p:cNvSpPr>
                <a:spLocks/>
              </p:cNvSpPr>
              <p:nvPr/>
            </p:nvSpPr>
            <p:spPr bwMode="auto">
              <a:xfrm>
                <a:off x="8898" y="9647"/>
                <a:ext cx="7" cy="13"/>
              </a:xfrm>
              <a:custGeom>
                <a:avLst/>
                <a:gdLst>
                  <a:gd name="T0" fmla="*/ 13 w 13"/>
                  <a:gd name="T1" fmla="*/ 0 h 28"/>
                  <a:gd name="T2" fmla="*/ 3 w 13"/>
                  <a:gd name="T3" fmla="*/ 5 h 28"/>
                  <a:gd name="T4" fmla="*/ 0 w 13"/>
                  <a:gd name="T5" fmla="*/ 14 h 28"/>
                  <a:gd name="T6" fmla="*/ 3 w 13"/>
                  <a:gd name="T7" fmla="*/ 23 h 28"/>
                  <a:gd name="T8" fmla="*/ 13 w 13"/>
                  <a:gd name="T9" fmla="*/ 28 h 28"/>
                  <a:gd name="T10" fmla="*/ 13 w 13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8"/>
                  <a:gd name="T20" fmla="*/ 13 w 13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8">
                    <a:moveTo>
                      <a:pt x="13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3" y="28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94" name="Freeform 201"/>
              <p:cNvSpPr>
                <a:spLocks/>
              </p:cNvSpPr>
              <p:nvPr/>
            </p:nvSpPr>
            <p:spPr bwMode="auto">
              <a:xfrm>
                <a:off x="8905" y="9647"/>
                <a:ext cx="107" cy="13"/>
              </a:xfrm>
              <a:custGeom>
                <a:avLst/>
                <a:gdLst>
                  <a:gd name="T0" fmla="*/ 214 w 214"/>
                  <a:gd name="T1" fmla="*/ 14 h 28"/>
                  <a:gd name="T2" fmla="*/ 214 w 214"/>
                  <a:gd name="T3" fmla="*/ 0 h 28"/>
                  <a:gd name="T4" fmla="*/ 0 w 214"/>
                  <a:gd name="T5" fmla="*/ 0 h 28"/>
                  <a:gd name="T6" fmla="*/ 0 w 214"/>
                  <a:gd name="T7" fmla="*/ 28 h 28"/>
                  <a:gd name="T8" fmla="*/ 214 w 214"/>
                  <a:gd name="T9" fmla="*/ 28 h 28"/>
                  <a:gd name="T10" fmla="*/ 214 w 214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4"/>
                  <a:gd name="T19" fmla="*/ 0 h 28"/>
                  <a:gd name="T20" fmla="*/ 214 w 2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4" h="28">
                    <a:moveTo>
                      <a:pt x="214" y="14"/>
                    </a:moveTo>
                    <a:lnTo>
                      <a:pt x="214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214" y="28"/>
                    </a:lnTo>
                    <a:lnTo>
                      <a:pt x="214" y="14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95" name="Freeform 202"/>
              <p:cNvSpPr>
                <a:spLocks/>
              </p:cNvSpPr>
              <p:nvPr/>
            </p:nvSpPr>
            <p:spPr bwMode="auto">
              <a:xfrm>
                <a:off x="9012" y="9647"/>
                <a:ext cx="6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72727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96" name="Freeform 203"/>
              <p:cNvSpPr>
                <a:spLocks/>
              </p:cNvSpPr>
              <p:nvPr/>
            </p:nvSpPr>
            <p:spPr bwMode="auto">
              <a:xfrm>
                <a:off x="8902" y="9647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97" name="Freeform 204"/>
              <p:cNvSpPr>
                <a:spLocks/>
              </p:cNvSpPr>
              <p:nvPr/>
            </p:nvSpPr>
            <p:spPr bwMode="auto">
              <a:xfrm>
                <a:off x="8909" y="9647"/>
                <a:ext cx="98" cy="13"/>
              </a:xfrm>
              <a:custGeom>
                <a:avLst/>
                <a:gdLst>
                  <a:gd name="T0" fmla="*/ 195 w 195"/>
                  <a:gd name="T1" fmla="*/ 14 h 28"/>
                  <a:gd name="T2" fmla="*/ 195 w 195"/>
                  <a:gd name="T3" fmla="*/ 0 h 28"/>
                  <a:gd name="T4" fmla="*/ 0 w 195"/>
                  <a:gd name="T5" fmla="*/ 0 h 28"/>
                  <a:gd name="T6" fmla="*/ 0 w 195"/>
                  <a:gd name="T7" fmla="*/ 28 h 28"/>
                  <a:gd name="T8" fmla="*/ 195 w 195"/>
                  <a:gd name="T9" fmla="*/ 28 h 28"/>
                  <a:gd name="T10" fmla="*/ 195 w 195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5"/>
                  <a:gd name="T19" fmla="*/ 0 h 28"/>
                  <a:gd name="T20" fmla="*/ 195 w 195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5" h="28">
                    <a:moveTo>
                      <a:pt x="195" y="14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95" y="28"/>
                    </a:lnTo>
                    <a:lnTo>
                      <a:pt x="195" y="14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98" name="Freeform 205"/>
              <p:cNvSpPr>
                <a:spLocks/>
              </p:cNvSpPr>
              <p:nvPr/>
            </p:nvSpPr>
            <p:spPr bwMode="auto">
              <a:xfrm>
                <a:off x="9007" y="9647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1 w 14"/>
                  <a:gd name="T3" fmla="*/ 23 h 28"/>
                  <a:gd name="T4" fmla="*/ 14 w 14"/>
                  <a:gd name="T5" fmla="*/ 14 h 28"/>
                  <a:gd name="T6" fmla="*/ 11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1" y="23"/>
                    </a:lnTo>
                    <a:lnTo>
                      <a:pt x="14" y="14"/>
                    </a:lnTo>
                    <a:lnTo>
                      <a:pt x="11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99" name="Freeform 206"/>
              <p:cNvSpPr>
                <a:spLocks/>
              </p:cNvSpPr>
              <p:nvPr/>
            </p:nvSpPr>
            <p:spPr bwMode="auto">
              <a:xfrm>
                <a:off x="8907" y="9647"/>
                <a:ext cx="7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00" name="Freeform 207"/>
              <p:cNvSpPr>
                <a:spLocks/>
              </p:cNvSpPr>
              <p:nvPr/>
            </p:nvSpPr>
            <p:spPr bwMode="auto">
              <a:xfrm>
                <a:off x="8914" y="9647"/>
                <a:ext cx="88" cy="13"/>
              </a:xfrm>
              <a:custGeom>
                <a:avLst/>
                <a:gdLst>
                  <a:gd name="T0" fmla="*/ 177 w 177"/>
                  <a:gd name="T1" fmla="*/ 14 h 28"/>
                  <a:gd name="T2" fmla="*/ 177 w 177"/>
                  <a:gd name="T3" fmla="*/ 0 h 28"/>
                  <a:gd name="T4" fmla="*/ 0 w 177"/>
                  <a:gd name="T5" fmla="*/ 0 h 28"/>
                  <a:gd name="T6" fmla="*/ 0 w 177"/>
                  <a:gd name="T7" fmla="*/ 28 h 28"/>
                  <a:gd name="T8" fmla="*/ 177 w 177"/>
                  <a:gd name="T9" fmla="*/ 28 h 28"/>
                  <a:gd name="T10" fmla="*/ 177 w 177"/>
                  <a:gd name="T11" fmla="*/ 1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7"/>
                  <a:gd name="T19" fmla="*/ 0 h 28"/>
                  <a:gd name="T20" fmla="*/ 177 w 177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7" h="28">
                    <a:moveTo>
                      <a:pt x="177" y="14"/>
                    </a:moveTo>
                    <a:lnTo>
                      <a:pt x="177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77" y="28"/>
                    </a:lnTo>
                    <a:lnTo>
                      <a:pt x="177" y="14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01" name="Freeform 208"/>
              <p:cNvSpPr>
                <a:spLocks/>
              </p:cNvSpPr>
              <p:nvPr/>
            </p:nvSpPr>
            <p:spPr bwMode="auto">
              <a:xfrm>
                <a:off x="9002" y="9647"/>
                <a:ext cx="7" cy="13"/>
              </a:xfrm>
              <a:custGeom>
                <a:avLst/>
                <a:gdLst>
                  <a:gd name="T0" fmla="*/ 0 w 14"/>
                  <a:gd name="T1" fmla="*/ 28 h 28"/>
                  <a:gd name="T2" fmla="*/ 10 w 14"/>
                  <a:gd name="T3" fmla="*/ 23 h 28"/>
                  <a:gd name="T4" fmla="*/ 14 w 14"/>
                  <a:gd name="T5" fmla="*/ 14 h 28"/>
                  <a:gd name="T6" fmla="*/ 10 w 14"/>
                  <a:gd name="T7" fmla="*/ 5 h 28"/>
                  <a:gd name="T8" fmla="*/ 0 w 14"/>
                  <a:gd name="T9" fmla="*/ 0 h 28"/>
                  <a:gd name="T10" fmla="*/ 0 w 14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0" y="28"/>
                    </a:moveTo>
                    <a:lnTo>
                      <a:pt x="10" y="23"/>
                    </a:lnTo>
                    <a:lnTo>
                      <a:pt x="14" y="14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8C8C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02" name="Freeform 209"/>
              <p:cNvSpPr>
                <a:spLocks/>
              </p:cNvSpPr>
              <p:nvPr/>
            </p:nvSpPr>
            <p:spPr bwMode="auto">
              <a:xfrm>
                <a:off x="8912" y="9647"/>
                <a:ext cx="6" cy="13"/>
              </a:xfrm>
              <a:custGeom>
                <a:avLst/>
                <a:gdLst>
                  <a:gd name="T0" fmla="*/ 14 w 14"/>
                  <a:gd name="T1" fmla="*/ 0 h 28"/>
                  <a:gd name="T2" fmla="*/ 3 w 14"/>
                  <a:gd name="T3" fmla="*/ 5 h 28"/>
                  <a:gd name="T4" fmla="*/ 0 w 14"/>
                  <a:gd name="T5" fmla="*/ 14 h 28"/>
                  <a:gd name="T6" fmla="*/ 3 w 14"/>
                  <a:gd name="T7" fmla="*/ 23 h 28"/>
                  <a:gd name="T8" fmla="*/ 14 w 14"/>
                  <a:gd name="T9" fmla="*/ 28 h 28"/>
                  <a:gd name="T10" fmla="*/ 14 w 14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8"/>
                  <a:gd name="T20" fmla="*/ 14 w 14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8">
                    <a:moveTo>
                      <a:pt x="14" y="0"/>
                    </a:moveTo>
                    <a:lnTo>
                      <a:pt x="3" y="5"/>
                    </a:lnTo>
                    <a:lnTo>
                      <a:pt x="0" y="14"/>
                    </a:lnTo>
                    <a:lnTo>
                      <a:pt x="3" y="23"/>
                    </a:lnTo>
                    <a:lnTo>
                      <a:pt x="14" y="28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768" name="Freeform 210"/>
            <p:cNvSpPr>
              <a:spLocks/>
            </p:cNvSpPr>
            <p:nvPr/>
          </p:nvSpPr>
          <p:spPr bwMode="auto">
            <a:xfrm>
              <a:off x="8918" y="9647"/>
              <a:ext cx="80" cy="13"/>
            </a:xfrm>
            <a:custGeom>
              <a:avLst/>
              <a:gdLst>
                <a:gd name="T0" fmla="*/ 159 w 159"/>
                <a:gd name="T1" fmla="*/ 14 h 28"/>
                <a:gd name="T2" fmla="*/ 159 w 159"/>
                <a:gd name="T3" fmla="*/ 0 h 28"/>
                <a:gd name="T4" fmla="*/ 0 w 159"/>
                <a:gd name="T5" fmla="*/ 0 h 28"/>
                <a:gd name="T6" fmla="*/ 0 w 159"/>
                <a:gd name="T7" fmla="*/ 28 h 28"/>
                <a:gd name="T8" fmla="*/ 159 w 159"/>
                <a:gd name="T9" fmla="*/ 28 h 28"/>
                <a:gd name="T10" fmla="*/ 159 w 159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28"/>
                <a:gd name="T20" fmla="*/ 159 w 159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28">
                  <a:moveTo>
                    <a:pt x="159" y="14"/>
                  </a:moveTo>
                  <a:lnTo>
                    <a:pt x="159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159" y="28"/>
                  </a:lnTo>
                  <a:lnTo>
                    <a:pt x="159" y="14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69" name="Freeform 211"/>
            <p:cNvSpPr>
              <a:spLocks/>
            </p:cNvSpPr>
            <p:nvPr/>
          </p:nvSpPr>
          <p:spPr bwMode="auto">
            <a:xfrm>
              <a:off x="8998" y="9647"/>
              <a:ext cx="7" cy="13"/>
            </a:xfrm>
            <a:custGeom>
              <a:avLst/>
              <a:gdLst>
                <a:gd name="T0" fmla="*/ 0 w 13"/>
                <a:gd name="T1" fmla="*/ 28 h 28"/>
                <a:gd name="T2" fmla="*/ 10 w 13"/>
                <a:gd name="T3" fmla="*/ 23 h 28"/>
                <a:gd name="T4" fmla="*/ 13 w 13"/>
                <a:gd name="T5" fmla="*/ 14 h 28"/>
                <a:gd name="T6" fmla="*/ 10 w 13"/>
                <a:gd name="T7" fmla="*/ 5 h 28"/>
                <a:gd name="T8" fmla="*/ 0 w 13"/>
                <a:gd name="T9" fmla="*/ 0 h 28"/>
                <a:gd name="T10" fmla="*/ 0 w 13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28"/>
                <a:gd name="T20" fmla="*/ 13 w 13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28">
                  <a:moveTo>
                    <a:pt x="0" y="28"/>
                  </a:moveTo>
                  <a:lnTo>
                    <a:pt x="10" y="23"/>
                  </a:lnTo>
                  <a:lnTo>
                    <a:pt x="13" y="14"/>
                  </a:lnTo>
                  <a:lnTo>
                    <a:pt x="10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70" name="Freeform 212"/>
            <p:cNvSpPr>
              <a:spLocks/>
            </p:cNvSpPr>
            <p:nvPr/>
          </p:nvSpPr>
          <p:spPr bwMode="auto">
            <a:xfrm>
              <a:off x="8916" y="9647"/>
              <a:ext cx="7" cy="13"/>
            </a:xfrm>
            <a:custGeom>
              <a:avLst/>
              <a:gdLst>
                <a:gd name="T0" fmla="*/ 14 w 14"/>
                <a:gd name="T1" fmla="*/ 0 h 28"/>
                <a:gd name="T2" fmla="*/ 3 w 14"/>
                <a:gd name="T3" fmla="*/ 5 h 28"/>
                <a:gd name="T4" fmla="*/ 0 w 14"/>
                <a:gd name="T5" fmla="*/ 14 h 28"/>
                <a:gd name="T6" fmla="*/ 3 w 14"/>
                <a:gd name="T7" fmla="*/ 23 h 28"/>
                <a:gd name="T8" fmla="*/ 14 w 14"/>
                <a:gd name="T9" fmla="*/ 28 h 28"/>
                <a:gd name="T10" fmla="*/ 14 w 14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14" y="0"/>
                  </a:moveTo>
                  <a:lnTo>
                    <a:pt x="3" y="5"/>
                  </a:lnTo>
                  <a:lnTo>
                    <a:pt x="0" y="14"/>
                  </a:lnTo>
                  <a:lnTo>
                    <a:pt x="3" y="23"/>
                  </a:lnTo>
                  <a:lnTo>
                    <a:pt x="14" y="2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71" name="Freeform 213"/>
            <p:cNvSpPr>
              <a:spLocks/>
            </p:cNvSpPr>
            <p:nvPr/>
          </p:nvSpPr>
          <p:spPr bwMode="auto">
            <a:xfrm>
              <a:off x="8923" y="9647"/>
              <a:ext cx="72" cy="13"/>
            </a:xfrm>
            <a:custGeom>
              <a:avLst/>
              <a:gdLst>
                <a:gd name="T0" fmla="*/ 144 w 144"/>
                <a:gd name="T1" fmla="*/ 14 h 28"/>
                <a:gd name="T2" fmla="*/ 144 w 144"/>
                <a:gd name="T3" fmla="*/ 0 h 28"/>
                <a:gd name="T4" fmla="*/ 0 w 144"/>
                <a:gd name="T5" fmla="*/ 0 h 28"/>
                <a:gd name="T6" fmla="*/ 0 w 144"/>
                <a:gd name="T7" fmla="*/ 28 h 28"/>
                <a:gd name="T8" fmla="*/ 144 w 144"/>
                <a:gd name="T9" fmla="*/ 28 h 28"/>
                <a:gd name="T10" fmla="*/ 144 w 144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4"/>
                <a:gd name="T19" fmla="*/ 0 h 28"/>
                <a:gd name="T20" fmla="*/ 144 w 14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4" h="28">
                  <a:moveTo>
                    <a:pt x="144" y="14"/>
                  </a:moveTo>
                  <a:lnTo>
                    <a:pt x="144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144" y="28"/>
                  </a:lnTo>
                  <a:lnTo>
                    <a:pt x="144" y="14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72" name="Freeform 214"/>
            <p:cNvSpPr>
              <a:spLocks/>
            </p:cNvSpPr>
            <p:nvPr/>
          </p:nvSpPr>
          <p:spPr bwMode="auto">
            <a:xfrm>
              <a:off x="8995" y="9647"/>
              <a:ext cx="7" cy="13"/>
            </a:xfrm>
            <a:custGeom>
              <a:avLst/>
              <a:gdLst>
                <a:gd name="T0" fmla="*/ 0 w 13"/>
                <a:gd name="T1" fmla="*/ 28 h 28"/>
                <a:gd name="T2" fmla="*/ 10 w 13"/>
                <a:gd name="T3" fmla="*/ 23 h 28"/>
                <a:gd name="T4" fmla="*/ 13 w 13"/>
                <a:gd name="T5" fmla="*/ 14 h 28"/>
                <a:gd name="T6" fmla="*/ 10 w 13"/>
                <a:gd name="T7" fmla="*/ 5 h 28"/>
                <a:gd name="T8" fmla="*/ 0 w 13"/>
                <a:gd name="T9" fmla="*/ 0 h 28"/>
                <a:gd name="T10" fmla="*/ 0 w 13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28"/>
                <a:gd name="T20" fmla="*/ 13 w 13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28">
                  <a:moveTo>
                    <a:pt x="0" y="28"/>
                  </a:moveTo>
                  <a:lnTo>
                    <a:pt x="10" y="23"/>
                  </a:lnTo>
                  <a:lnTo>
                    <a:pt x="13" y="14"/>
                  </a:lnTo>
                  <a:lnTo>
                    <a:pt x="10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73" name="Freeform 215"/>
            <p:cNvSpPr>
              <a:spLocks/>
            </p:cNvSpPr>
            <p:nvPr/>
          </p:nvSpPr>
          <p:spPr bwMode="auto">
            <a:xfrm>
              <a:off x="8921" y="9647"/>
              <a:ext cx="7" cy="13"/>
            </a:xfrm>
            <a:custGeom>
              <a:avLst/>
              <a:gdLst>
                <a:gd name="T0" fmla="*/ 13 w 13"/>
                <a:gd name="T1" fmla="*/ 0 h 28"/>
                <a:gd name="T2" fmla="*/ 3 w 13"/>
                <a:gd name="T3" fmla="*/ 5 h 28"/>
                <a:gd name="T4" fmla="*/ 0 w 13"/>
                <a:gd name="T5" fmla="*/ 14 h 28"/>
                <a:gd name="T6" fmla="*/ 3 w 13"/>
                <a:gd name="T7" fmla="*/ 23 h 28"/>
                <a:gd name="T8" fmla="*/ 13 w 13"/>
                <a:gd name="T9" fmla="*/ 28 h 28"/>
                <a:gd name="T10" fmla="*/ 13 w 13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28"/>
                <a:gd name="T20" fmla="*/ 13 w 13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28">
                  <a:moveTo>
                    <a:pt x="13" y="0"/>
                  </a:moveTo>
                  <a:lnTo>
                    <a:pt x="3" y="5"/>
                  </a:lnTo>
                  <a:lnTo>
                    <a:pt x="0" y="14"/>
                  </a:lnTo>
                  <a:lnTo>
                    <a:pt x="3" y="23"/>
                  </a:lnTo>
                  <a:lnTo>
                    <a:pt x="13" y="28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74" name="Freeform 216"/>
            <p:cNvSpPr>
              <a:spLocks/>
            </p:cNvSpPr>
            <p:nvPr/>
          </p:nvSpPr>
          <p:spPr bwMode="auto">
            <a:xfrm>
              <a:off x="8928" y="9647"/>
              <a:ext cx="62" cy="13"/>
            </a:xfrm>
            <a:custGeom>
              <a:avLst/>
              <a:gdLst>
                <a:gd name="T0" fmla="*/ 125 w 125"/>
                <a:gd name="T1" fmla="*/ 14 h 28"/>
                <a:gd name="T2" fmla="*/ 125 w 125"/>
                <a:gd name="T3" fmla="*/ 0 h 28"/>
                <a:gd name="T4" fmla="*/ 0 w 125"/>
                <a:gd name="T5" fmla="*/ 0 h 28"/>
                <a:gd name="T6" fmla="*/ 0 w 125"/>
                <a:gd name="T7" fmla="*/ 28 h 28"/>
                <a:gd name="T8" fmla="*/ 125 w 125"/>
                <a:gd name="T9" fmla="*/ 28 h 28"/>
                <a:gd name="T10" fmla="*/ 125 w 125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5"/>
                <a:gd name="T19" fmla="*/ 0 h 28"/>
                <a:gd name="T20" fmla="*/ 125 w 125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5" h="28">
                  <a:moveTo>
                    <a:pt x="125" y="14"/>
                  </a:moveTo>
                  <a:lnTo>
                    <a:pt x="125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125" y="28"/>
                  </a:lnTo>
                  <a:lnTo>
                    <a:pt x="125" y="14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75" name="Freeform 217"/>
            <p:cNvSpPr>
              <a:spLocks/>
            </p:cNvSpPr>
            <p:nvPr/>
          </p:nvSpPr>
          <p:spPr bwMode="auto">
            <a:xfrm>
              <a:off x="8990" y="9647"/>
              <a:ext cx="7" cy="13"/>
            </a:xfrm>
            <a:custGeom>
              <a:avLst/>
              <a:gdLst>
                <a:gd name="T0" fmla="*/ 0 w 14"/>
                <a:gd name="T1" fmla="*/ 28 h 28"/>
                <a:gd name="T2" fmla="*/ 11 w 14"/>
                <a:gd name="T3" fmla="*/ 23 h 28"/>
                <a:gd name="T4" fmla="*/ 14 w 14"/>
                <a:gd name="T5" fmla="*/ 14 h 28"/>
                <a:gd name="T6" fmla="*/ 11 w 14"/>
                <a:gd name="T7" fmla="*/ 5 h 28"/>
                <a:gd name="T8" fmla="*/ 0 w 14"/>
                <a:gd name="T9" fmla="*/ 0 h 28"/>
                <a:gd name="T10" fmla="*/ 0 w 14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0" y="28"/>
                  </a:moveTo>
                  <a:lnTo>
                    <a:pt x="11" y="23"/>
                  </a:lnTo>
                  <a:lnTo>
                    <a:pt x="14" y="14"/>
                  </a:lnTo>
                  <a:lnTo>
                    <a:pt x="11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76" name="Freeform 218"/>
            <p:cNvSpPr>
              <a:spLocks/>
            </p:cNvSpPr>
            <p:nvPr/>
          </p:nvSpPr>
          <p:spPr bwMode="auto">
            <a:xfrm>
              <a:off x="8926" y="9647"/>
              <a:ext cx="7" cy="13"/>
            </a:xfrm>
            <a:custGeom>
              <a:avLst/>
              <a:gdLst>
                <a:gd name="T0" fmla="*/ 14 w 14"/>
                <a:gd name="T1" fmla="*/ 0 h 28"/>
                <a:gd name="T2" fmla="*/ 3 w 14"/>
                <a:gd name="T3" fmla="*/ 5 h 28"/>
                <a:gd name="T4" fmla="*/ 0 w 14"/>
                <a:gd name="T5" fmla="*/ 14 h 28"/>
                <a:gd name="T6" fmla="*/ 3 w 14"/>
                <a:gd name="T7" fmla="*/ 23 h 28"/>
                <a:gd name="T8" fmla="*/ 14 w 14"/>
                <a:gd name="T9" fmla="*/ 28 h 28"/>
                <a:gd name="T10" fmla="*/ 14 w 14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14" y="0"/>
                  </a:moveTo>
                  <a:lnTo>
                    <a:pt x="3" y="5"/>
                  </a:lnTo>
                  <a:lnTo>
                    <a:pt x="0" y="14"/>
                  </a:lnTo>
                  <a:lnTo>
                    <a:pt x="3" y="23"/>
                  </a:lnTo>
                  <a:lnTo>
                    <a:pt x="14" y="2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BFB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77" name="Freeform 219"/>
            <p:cNvSpPr>
              <a:spLocks/>
            </p:cNvSpPr>
            <p:nvPr/>
          </p:nvSpPr>
          <p:spPr bwMode="auto">
            <a:xfrm>
              <a:off x="8933" y="9647"/>
              <a:ext cx="53" cy="13"/>
            </a:xfrm>
            <a:custGeom>
              <a:avLst/>
              <a:gdLst>
                <a:gd name="T0" fmla="*/ 105 w 105"/>
                <a:gd name="T1" fmla="*/ 14 h 28"/>
                <a:gd name="T2" fmla="*/ 105 w 105"/>
                <a:gd name="T3" fmla="*/ 0 h 28"/>
                <a:gd name="T4" fmla="*/ 0 w 105"/>
                <a:gd name="T5" fmla="*/ 0 h 28"/>
                <a:gd name="T6" fmla="*/ 0 w 105"/>
                <a:gd name="T7" fmla="*/ 28 h 28"/>
                <a:gd name="T8" fmla="*/ 105 w 105"/>
                <a:gd name="T9" fmla="*/ 28 h 28"/>
                <a:gd name="T10" fmla="*/ 105 w 105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5"/>
                <a:gd name="T19" fmla="*/ 0 h 28"/>
                <a:gd name="T20" fmla="*/ 105 w 105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5" h="28">
                  <a:moveTo>
                    <a:pt x="105" y="14"/>
                  </a:moveTo>
                  <a:lnTo>
                    <a:pt x="105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105" y="28"/>
                  </a:lnTo>
                  <a:lnTo>
                    <a:pt x="105" y="14"/>
                  </a:lnTo>
                  <a:close/>
                </a:path>
              </a:pathLst>
            </a:custGeom>
            <a:solidFill>
              <a:srgbClr val="BFB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78" name="Freeform 220"/>
            <p:cNvSpPr>
              <a:spLocks/>
            </p:cNvSpPr>
            <p:nvPr/>
          </p:nvSpPr>
          <p:spPr bwMode="auto">
            <a:xfrm>
              <a:off x="8986" y="9647"/>
              <a:ext cx="6" cy="13"/>
            </a:xfrm>
            <a:custGeom>
              <a:avLst/>
              <a:gdLst>
                <a:gd name="T0" fmla="*/ 0 w 14"/>
                <a:gd name="T1" fmla="*/ 28 h 28"/>
                <a:gd name="T2" fmla="*/ 11 w 14"/>
                <a:gd name="T3" fmla="*/ 23 h 28"/>
                <a:gd name="T4" fmla="*/ 14 w 14"/>
                <a:gd name="T5" fmla="*/ 14 h 28"/>
                <a:gd name="T6" fmla="*/ 11 w 14"/>
                <a:gd name="T7" fmla="*/ 5 h 28"/>
                <a:gd name="T8" fmla="*/ 0 w 14"/>
                <a:gd name="T9" fmla="*/ 0 h 28"/>
                <a:gd name="T10" fmla="*/ 0 w 14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0" y="28"/>
                  </a:moveTo>
                  <a:lnTo>
                    <a:pt x="11" y="23"/>
                  </a:lnTo>
                  <a:lnTo>
                    <a:pt x="14" y="14"/>
                  </a:lnTo>
                  <a:lnTo>
                    <a:pt x="11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BFB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79" name="Freeform 221"/>
            <p:cNvSpPr>
              <a:spLocks/>
            </p:cNvSpPr>
            <p:nvPr/>
          </p:nvSpPr>
          <p:spPr bwMode="auto">
            <a:xfrm>
              <a:off x="8931" y="9647"/>
              <a:ext cx="7" cy="13"/>
            </a:xfrm>
            <a:custGeom>
              <a:avLst/>
              <a:gdLst>
                <a:gd name="T0" fmla="*/ 14 w 14"/>
                <a:gd name="T1" fmla="*/ 0 h 28"/>
                <a:gd name="T2" fmla="*/ 3 w 14"/>
                <a:gd name="T3" fmla="*/ 5 h 28"/>
                <a:gd name="T4" fmla="*/ 0 w 14"/>
                <a:gd name="T5" fmla="*/ 14 h 28"/>
                <a:gd name="T6" fmla="*/ 3 w 14"/>
                <a:gd name="T7" fmla="*/ 23 h 28"/>
                <a:gd name="T8" fmla="*/ 14 w 14"/>
                <a:gd name="T9" fmla="*/ 28 h 28"/>
                <a:gd name="T10" fmla="*/ 14 w 14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14" y="0"/>
                  </a:moveTo>
                  <a:lnTo>
                    <a:pt x="3" y="5"/>
                  </a:lnTo>
                  <a:lnTo>
                    <a:pt x="0" y="14"/>
                  </a:lnTo>
                  <a:lnTo>
                    <a:pt x="3" y="23"/>
                  </a:lnTo>
                  <a:lnTo>
                    <a:pt x="14" y="2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80" name="Freeform 222"/>
            <p:cNvSpPr>
              <a:spLocks/>
            </p:cNvSpPr>
            <p:nvPr/>
          </p:nvSpPr>
          <p:spPr bwMode="auto">
            <a:xfrm>
              <a:off x="8938" y="9647"/>
              <a:ext cx="43" cy="13"/>
            </a:xfrm>
            <a:custGeom>
              <a:avLst/>
              <a:gdLst>
                <a:gd name="T0" fmla="*/ 87 w 87"/>
                <a:gd name="T1" fmla="*/ 14 h 28"/>
                <a:gd name="T2" fmla="*/ 87 w 87"/>
                <a:gd name="T3" fmla="*/ 0 h 28"/>
                <a:gd name="T4" fmla="*/ 0 w 87"/>
                <a:gd name="T5" fmla="*/ 0 h 28"/>
                <a:gd name="T6" fmla="*/ 0 w 87"/>
                <a:gd name="T7" fmla="*/ 28 h 28"/>
                <a:gd name="T8" fmla="*/ 87 w 87"/>
                <a:gd name="T9" fmla="*/ 28 h 28"/>
                <a:gd name="T10" fmla="*/ 87 w 87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7"/>
                <a:gd name="T19" fmla="*/ 0 h 28"/>
                <a:gd name="T20" fmla="*/ 87 w 87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7" h="28">
                  <a:moveTo>
                    <a:pt x="87" y="14"/>
                  </a:moveTo>
                  <a:lnTo>
                    <a:pt x="87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87" y="28"/>
                  </a:lnTo>
                  <a:lnTo>
                    <a:pt x="87" y="14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81" name="Freeform 223"/>
            <p:cNvSpPr>
              <a:spLocks/>
            </p:cNvSpPr>
            <p:nvPr/>
          </p:nvSpPr>
          <p:spPr bwMode="auto">
            <a:xfrm>
              <a:off x="8981" y="9647"/>
              <a:ext cx="7" cy="13"/>
            </a:xfrm>
            <a:custGeom>
              <a:avLst/>
              <a:gdLst>
                <a:gd name="T0" fmla="*/ 0 w 14"/>
                <a:gd name="T1" fmla="*/ 28 h 28"/>
                <a:gd name="T2" fmla="*/ 11 w 14"/>
                <a:gd name="T3" fmla="*/ 23 h 28"/>
                <a:gd name="T4" fmla="*/ 14 w 14"/>
                <a:gd name="T5" fmla="*/ 14 h 28"/>
                <a:gd name="T6" fmla="*/ 11 w 14"/>
                <a:gd name="T7" fmla="*/ 5 h 28"/>
                <a:gd name="T8" fmla="*/ 0 w 14"/>
                <a:gd name="T9" fmla="*/ 0 h 28"/>
                <a:gd name="T10" fmla="*/ 0 w 14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0" y="28"/>
                  </a:moveTo>
                  <a:lnTo>
                    <a:pt x="11" y="23"/>
                  </a:lnTo>
                  <a:lnTo>
                    <a:pt x="14" y="14"/>
                  </a:lnTo>
                  <a:lnTo>
                    <a:pt x="11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82" name="Freeform 224"/>
            <p:cNvSpPr>
              <a:spLocks/>
            </p:cNvSpPr>
            <p:nvPr/>
          </p:nvSpPr>
          <p:spPr bwMode="auto">
            <a:xfrm>
              <a:off x="8935" y="9647"/>
              <a:ext cx="7" cy="13"/>
            </a:xfrm>
            <a:custGeom>
              <a:avLst/>
              <a:gdLst>
                <a:gd name="T0" fmla="*/ 14 w 14"/>
                <a:gd name="T1" fmla="*/ 0 h 28"/>
                <a:gd name="T2" fmla="*/ 4 w 14"/>
                <a:gd name="T3" fmla="*/ 5 h 28"/>
                <a:gd name="T4" fmla="*/ 0 w 14"/>
                <a:gd name="T5" fmla="*/ 14 h 28"/>
                <a:gd name="T6" fmla="*/ 4 w 14"/>
                <a:gd name="T7" fmla="*/ 23 h 28"/>
                <a:gd name="T8" fmla="*/ 14 w 14"/>
                <a:gd name="T9" fmla="*/ 28 h 28"/>
                <a:gd name="T10" fmla="*/ 14 w 14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14" y="0"/>
                  </a:moveTo>
                  <a:lnTo>
                    <a:pt x="4" y="5"/>
                  </a:lnTo>
                  <a:lnTo>
                    <a:pt x="0" y="14"/>
                  </a:lnTo>
                  <a:lnTo>
                    <a:pt x="4" y="23"/>
                  </a:lnTo>
                  <a:lnTo>
                    <a:pt x="14" y="2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D8D8D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83" name="Freeform 225"/>
            <p:cNvSpPr>
              <a:spLocks/>
            </p:cNvSpPr>
            <p:nvPr/>
          </p:nvSpPr>
          <p:spPr bwMode="auto">
            <a:xfrm>
              <a:off x="8942" y="9647"/>
              <a:ext cx="34" cy="13"/>
            </a:xfrm>
            <a:custGeom>
              <a:avLst/>
              <a:gdLst>
                <a:gd name="T0" fmla="*/ 69 w 69"/>
                <a:gd name="T1" fmla="*/ 14 h 28"/>
                <a:gd name="T2" fmla="*/ 69 w 69"/>
                <a:gd name="T3" fmla="*/ 0 h 28"/>
                <a:gd name="T4" fmla="*/ 0 w 69"/>
                <a:gd name="T5" fmla="*/ 0 h 28"/>
                <a:gd name="T6" fmla="*/ 0 w 69"/>
                <a:gd name="T7" fmla="*/ 28 h 28"/>
                <a:gd name="T8" fmla="*/ 69 w 69"/>
                <a:gd name="T9" fmla="*/ 28 h 28"/>
                <a:gd name="T10" fmla="*/ 69 w 69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"/>
                <a:gd name="T19" fmla="*/ 0 h 28"/>
                <a:gd name="T20" fmla="*/ 69 w 69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" h="28">
                  <a:moveTo>
                    <a:pt x="69" y="14"/>
                  </a:moveTo>
                  <a:lnTo>
                    <a:pt x="69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69" y="28"/>
                  </a:lnTo>
                  <a:lnTo>
                    <a:pt x="69" y="14"/>
                  </a:lnTo>
                  <a:close/>
                </a:path>
              </a:pathLst>
            </a:custGeom>
            <a:solidFill>
              <a:srgbClr val="D8D8D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84" name="Freeform 226"/>
            <p:cNvSpPr>
              <a:spLocks/>
            </p:cNvSpPr>
            <p:nvPr/>
          </p:nvSpPr>
          <p:spPr bwMode="auto">
            <a:xfrm>
              <a:off x="8976" y="9647"/>
              <a:ext cx="7" cy="13"/>
            </a:xfrm>
            <a:custGeom>
              <a:avLst/>
              <a:gdLst>
                <a:gd name="T0" fmla="*/ 0 w 14"/>
                <a:gd name="T1" fmla="*/ 28 h 28"/>
                <a:gd name="T2" fmla="*/ 11 w 14"/>
                <a:gd name="T3" fmla="*/ 23 h 28"/>
                <a:gd name="T4" fmla="*/ 14 w 14"/>
                <a:gd name="T5" fmla="*/ 14 h 28"/>
                <a:gd name="T6" fmla="*/ 11 w 14"/>
                <a:gd name="T7" fmla="*/ 5 h 28"/>
                <a:gd name="T8" fmla="*/ 0 w 14"/>
                <a:gd name="T9" fmla="*/ 0 h 28"/>
                <a:gd name="T10" fmla="*/ 0 w 14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0" y="28"/>
                  </a:moveTo>
                  <a:lnTo>
                    <a:pt x="11" y="23"/>
                  </a:lnTo>
                  <a:lnTo>
                    <a:pt x="14" y="14"/>
                  </a:lnTo>
                  <a:lnTo>
                    <a:pt x="11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D8D8D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85" name="Freeform 227"/>
            <p:cNvSpPr>
              <a:spLocks/>
            </p:cNvSpPr>
            <p:nvPr/>
          </p:nvSpPr>
          <p:spPr bwMode="auto">
            <a:xfrm>
              <a:off x="8940" y="9647"/>
              <a:ext cx="7" cy="13"/>
            </a:xfrm>
            <a:custGeom>
              <a:avLst/>
              <a:gdLst>
                <a:gd name="T0" fmla="*/ 13 w 13"/>
                <a:gd name="T1" fmla="*/ 0 h 28"/>
                <a:gd name="T2" fmla="*/ 3 w 13"/>
                <a:gd name="T3" fmla="*/ 5 h 28"/>
                <a:gd name="T4" fmla="*/ 0 w 13"/>
                <a:gd name="T5" fmla="*/ 14 h 28"/>
                <a:gd name="T6" fmla="*/ 3 w 13"/>
                <a:gd name="T7" fmla="*/ 23 h 28"/>
                <a:gd name="T8" fmla="*/ 13 w 13"/>
                <a:gd name="T9" fmla="*/ 28 h 28"/>
                <a:gd name="T10" fmla="*/ 13 w 13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28"/>
                <a:gd name="T20" fmla="*/ 13 w 13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28">
                  <a:moveTo>
                    <a:pt x="13" y="0"/>
                  </a:moveTo>
                  <a:lnTo>
                    <a:pt x="3" y="5"/>
                  </a:lnTo>
                  <a:lnTo>
                    <a:pt x="0" y="14"/>
                  </a:lnTo>
                  <a:lnTo>
                    <a:pt x="3" y="23"/>
                  </a:lnTo>
                  <a:lnTo>
                    <a:pt x="13" y="28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86" name="Freeform 228"/>
            <p:cNvSpPr>
              <a:spLocks/>
            </p:cNvSpPr>
            <p:nvPr/>
          </p:nvSpPr>
          <p:spPr bwMode="auto">
            <a:xfrm>
              <a:off x="8947" y="9647"/>
              <a:ext cx="26" cy="13"/>
            </a:xfrm>
            <a:custGeom>
              <a:avLst/>
              <a:gdLst>
                <a:gd name="T0" fmla="*/ 52 w 52"/>
                <a:gd name="T1" fmla="*/ 14 h 28"/>
                <a:gd name="T2" fmla="*/ 52 w 52"/>
                <a:gd name="T3" fmla="*/ 0 h 28"/>
                <a:gd name="T4" fmla="*/ 0 w 52"/>
                <a:gd name="T5" fmla="*/ 0 h 28"/>
                <a:gd name="T6" fmla="*/ 0 w 52"/>
                <a:gd name="T7" fmla="*/ 28 h 28"/>
                <a:gd name="T8" fmla="*/ 52 w 52"/>
                <a:gd name="T9" fmla="*/ 28 h 28"/>
                <a:gd name="T10" fmla="*/ 52 w 52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28"/>
                <a:gd name="T20" fmla="*/ 52 w 52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28">
                  <a:moveTo>
                    <a:pt x="52" y="14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52" y="28"/>
                  </a:lnTo>
                  <a:lnTo>
                    <a:pt x="52" y="14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87" name="Freeform 229"/>
            <p:cNvSpPr>
              <a:spLocks/>
            </p:cNvSpPr>
            <p:nvPr/>
          </p:nvSpPr>
          <p:spPr bwMode="auto">
            <a:xfrm>
              <a:off x="8973" y="9647"/>
              <a:ext cx="6" cy="13"/>
            </a:xfrm>
            <a:custGeom>
              <a:avLst/>
              <a:gdLst>
                <a:gd name="T0" fmla="*/ 0 w 14"/>
                <a:gd name="T1" fmla="*/ 28 h 28"/>
                <a:gd name="T2" fmla="*/ 11 w 14"/>
                <a:gd name="T3" fmla="*/ 23 h 28"/>
                <a:gd name="T4" fmla="*/ 14 w 14"/>
                <a:gd name="T5" fmla="*/ 14 h 28"/>
                <a:gd name="T6" fmla="*/ 11 w 14"/>
                <a:gd name="T7" fmla="*/ 5 h 28"/>
                <a:gd name="T8" fmla="*/ 0 w 14"/>
                <a:gd name="T9" fmla="*/ 0 h 28"/>
                <a:gd name="T10" fmla="*/ 0 w 14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0" y="28"/>
                  </a:moveTo>
                  <a:lnTo>
                    <a:pt x="11" y="23"/>
                  </a:lnTo>
                  <a:lnTo>
                    <a:pt x="14" y="14"/>
                  </a:lnTo>
                  <a:lnTo>
                    <a:pt x="11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88" name="Freeform 230"/>
            <p:cNvSpPr>
              <a:spLocks/>
            </p:cNvSpPr>
            <p:nvPr/>
          </p:nvSpPr>
          <p:spPr bwMode="auto">
            <a:xfrm>
              <a:off x="8944" y="9647"/>
              <a:ext cx="7" cy="13"/>
            </a:xfrm>
            <a:custGeom>
              <a:avLst/>
              <a:gdLst>
                <a:gd name="T0" fmla="*/ 14 w 14"/>
                <a:gd name="T1" fmla="*/ 0 h 28"/>
                <a:gd name="T2" fmla="*/ 3 w 14"/>
                <a:gd name="T3" fmla="*/ 5 h 28"/>
                <a:gd name="T4" fmla="*/ 0 w 14"/>
                <a:gd name="T5" fmla="*/ 14 h 28"/>
                <a:gd name="T6" fmla="*/ 3 w 14"/>
                <a:gd name="T7" fmla="*/ 23 h 28"/>
                <a:gd name="T8" fmla="*/ 14 w 14"/>
                <a:gd name="T9" fmla="*/ 28 h 28"/>
                <a:gd name="T10" fmla="*/ 14 w 14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14" y="0"/>
                  </a:moveTo>
                  <a:lnTo>
                    <a:pt x="3" y="5"/>
                  </a:lnTo>
                  <a:lnTo>
                    <a:pt x="0" y="14"/>
                  </a:lnTo>
                  <a:lnTo>
                    <a:pt x="3" y="23"/>
                  </a:lnTo>
                  <a:lnTo>
                    <a:pt x="14" y="2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89" name="Freeform 231"/>
            <p:cNvSpPr>
              <a:spLocks/>
            </p:cNvSpPr>
            <p:nvPr/>
          </p:nvSpPr>
          <p:spPr bwMode="auto">
            <a:xfrm>
              <a:off x="8951" y="9647"/>
              <a:ext cx="17" cy="13"/>
            </a:xfrm>
            <a:custGeom>
              <a:avLst/>
              <a:gdLst>
                <a:gd name="T0" fmla="*/ 33 w 33"/>
                <a:gd name="T1" fmla="*/ 14 h 28"/>
                <a:gd name="T2" fmla="*/ 33 w 33"/>
                <a:gd name="T3" fmla="*/ 0 h 28"/>
                <a:gd name="T4" fmla="*/ 0 w 33"/>
                <a:gd name="T5" fmla="*/ 0 h 28"/>
                <a:gd name="T6" fmla="*/ 0 w 33"/>
                <a:gd name="T7" fmla="*/ 28 h 28"/>
                <a:gd name="T8" fmla="*/ 33 w 33"/>
                <a:gd name="T9" fmla="*/ 28 h 28"/>
                <a:gd name="T10" fmla="*/ 33 w 33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"/>
                <a:gd name="T19" fmla="*/ 0 h 28"/>
                <a:gd name="T20" fmla="*/ 33 w 33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" h="28">
                  <a:moveTo>
                    <a:pt x="33" y="14"/>
                  </a:moveTo>
                  <a:lnTo>
                    <a:pt x="33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33" y="28"/>
                  </a:lnTo>
                  <a:lnTo>
                    <a:pt x="33" y="14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90" name="Freeform 232"/>
            <p:cNvSpPr>
              <a:spLocks/>
            </p:cNvSpPr>
            <p:nvPr/>
          </p:nvSpPr>
          <p:spPr bwMode="auto">
            <a:xfrm>
              <a:off x="8968" y="9647"/>
              <a:ext cx="7" cy="13"/>
            </a:xfrm>
            <a:custGeom>
              <a:avLst/>
              <a:gdLst>
                <a:gd name="T0" fmla="*/ 0 w 14"/>
                <a:gd name="T1" fmla="*/ 28 h 28"/>
                <a:gd name="T2" fmla="*/ 11 w 14"/>
                <a:gd name="T3" fmla="*/ 23 h 28"/>
                <a:gd name="T4" fmla="*/ 14 w 14"/>
                <a:gd name="T5" fmla="*/ 14 h 28"/>
                <a:gd name="T6" fmla="*/ 11 w 14"/>
                <a:gd name="T7" fmla="*/ 5 h 28"/>
                <a:gd name="T8" fmla="*/ 0 w 14"/>
                <a:gd name="T9" fmla="*/ 0 h 28"/>
                <a:gd name="T10" fmla="*/ 0 w 14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0" y="28"/>
                  </a:moveTo>
                  <a:lnTo>
                    <a:pt x="11" y="23"/>
                  </a:lnTo>
                  <a:lnTo>
                    <a:pt x="14" y="14"/>
                  </a:lnTo>
                  <a:lnTo>
                    <a:pt x="11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91" name="Freeform 233"/>
            <p:cNvSpPr>
              <a:spLocks/>
            </p:cNvSpPr>
            <p:nvPr/>
          </p:nvSpPr>
          <p:spPr bwMode="auto">
            <a:xfrm>
              <a:off x="8949" y="9647"/>
              <a:ext cx="7" cy="13"/>
            </a:xfrm>
            <a:custGeom>
              <a:avLst/>
              <a:gdLst>
                <a:gd name="T0" fmla="*/ 14 w 14"/>
                <a:gd name="T1" fmla="*/ 0 h 28"/>
                <a:gd name="T2" fmla="*/ 3 w 14"/>
                <a:gd name="T3" fmla="*/ 5 h 28"/>
                <a:gd name="T4" fmla="*/ 0 w 14"/>
                <a:gd name="T5" fmla="*/ 14 h 28"/>
                <a:gd name="T6" fmla="*/ 3 w 14"/>
                <a:gd name="T7" fmla="*/ 23 h 28"/>
                <a:gd name="T8" fmla="*/ 14 w 14"/>
                <a:gd name="T9" fmla="*/ 28 h 28"/>
                <a:gd name="T10" fmla="*/ 14 w 14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14" y="0"/>
                  </a:moveTo>
                  <a:lnTo>
                    <a:pt x="3" y="5"/>
                  </a:lnTo>
                  <a:lnTo>
                    <a:pt x="0" y="14"/>
                  </a:lnTo>
                  <a:lnTo>
                    <a:pt x="3" y="23"/>
                  </a:lnTo>
                  <a:lnTo>
                    <a:pt x="14" y="2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92" name="Freeform 234"/>
            <p:cNvSpPr>
              <a:spLocks/>
            </p:cNvSpPr>
            <p:nvPr/>
          </p:nvSpPr>
          <p:spPr bwMode="auto">
            <a:xfrm>
              <a:off x="8956" y="9647"/>
              <a:ext cx="7" cy="13"/>
            </a:xfrm>
            <a:custGeom>
              <a:avLst/>
              <a:gdLst>
                <a:gd name="T0" fmla="*/ 15 w 15"/>
                <a:gd name="T1" fmla="*/ 14 h 28"/>
                <a:gd name="T2" fmla="*/ 15 w 15"/>
                <a:gd name="T3" fmla="*/ 0 h 28"/>
                <a:gd name="T4" fmla="*/ 0 w 15"/>
                <a:gd name="T5" fmla="*/ 0 h 28"/>
                <a:gd name="T6" fmla="*/ 0 w 15"/>
                <a:gd name="T7" fmla="*/ 28 h 28"/>
                <a:gd name="T8" fmla="*/ 15 w 15"/>
                <a:gd name="T9" fmla="*/ 28 h 28"/>
                <a:gd name="T10" fmla="*/ 15 w 15"/>
                <a:gd name="T11" fmla="*/ 1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"/>
                <a:gd name="T19" fmla="*/ 0 h 28"/>
                <a:gd name="T20" fmla="*/ 15 w 15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" h="28">
                  <a:moveTo>
                    <a:pt x="15" y="14"/>
                  </a:moveTo>
                  <a:lnTo>
                    <a:pt x="15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15" y="28"/>
                  </a:lnTo>
                  <a:lnTo>
                    <a:pt x="15" y="1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93" name="Freeform 235"/>
            <p:cNvSpPr>
              <a:spLocks/>
            </p:cNvSpPr>
            <p:nvPr/>
          </p:nvSpPr>
          <p:spPr bwMode="auto">
            <a:xfrm>
              <a:off x="8963" y="9647"/>
              <a:ext cx="7" cy="13"/>
            </a:xfrm>
            <a:custGeom>
              <a:avLst/>
              <a:gdLst>
                <a:gd name="T0" fmla="*/ 0 w 14"/>
                <a:gd name="T1" fmla="*/ 28 h 28"/>
                <a:gd name="T2" fmla="*/ 11 w 14"/>
                <a:gd name="T3" fmla="*/ 23 h 28"/>
                <a:gd name="T4" fmla="*/ 14 w 14"/>
                <a:gd name="T5" fmla="*/ 14 h 28"/>
                <a:gd name="T6" fmla="*/ 11 w 14"/>
                <a:gd name="T7" fmla="*/ 5 h 28"/>
                <a:gd name="T8" fmla="*/ 0 w 14"/>
                <a:gd name="T9" fmla="*/ 0 h 28"/>
                <a:gd name="T10" fmla="*/ 0 w 14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8"/>
                <a:gd name="T20" fmla="*/ 14 w 14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8">
                  <a:moveTo>
                    <a:pt x="0" y="28"/>
                  </a:moveTo>
                  <a:lnTo>
                    <a:pt x="11" y="23"/>
                  </a:lnTo>
                  <a:lnTo>
                    <a:pt x="14" y="14"/>
                  </a:lnTo>
                  <a:lnTo>
                    <a:pt x="11" y="5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94" name="Freeform 236"/>
            <p:cNvSpPr>
              <a:spLocks/>
            </p:cNvSpPr>
            <p:nvPr/>
          </p:nvSpPr>
          <p:spPr bwMode="auto">
            <a:xfrm>
              <a:off x="8923" y="8934"/>
              <a:ext cx="66" cy="176"/>
            </a:xfrm>
            <a:custGeom>
              <a:avLst/>
              <a:gdLst>
                <a:gd name="T0" fmla="*/ 23 w 131"/>
                <a:gd name="T1" fmla="*/ 0 h 353"/>
                <a:gd name="T2" fmla="*/ 73 w 131"/>
                <a:gd name="T3" fmla="*/ 192 h 353"/>
                <a:gd name="T4" fmla="*/ 0 w 131"/>
                <a:gd name="T5" fmla="*/ 181 h 353"/>
                <a:gd name="T6" fmla="*/ 76 w 131"/>
                <a:gd name="T7" fmla="*/ 353 h 353"/>
                <a:gd name="T8" fmla="*/ 58 w 131"/>
                <a:gd name="T9" fmla="*/ 230 h 353"/>
                <a:gd name="T10" fmla="*/ 131 w 131"/>
                <a:gd name="T11" fmla="*/ 241 h 353"/>
                <a:gd name="T12" fmla="*/ 23 w 131"/>
                <a:gd name="T13" fmla="*/ 0 h 3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"/>
                <a:gd name="T22" fmla="*/ 0 h 353"/>
                <a:gd name="T23" fmla="*/ 131 w 131"/>
                <a:gd name="T24" fmla="*/ 353 h 35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" h="353">
                  <a:moveTo>
                    <a:pt x="23" y="0"/>
                  </a:moveTo>
                  <a:lnTo>
                    <a:pt x="73" y="192"/>
                  </a:lnTo>
                  <a:lnTo>
                    <a:pt x="0" y="181"/>
                  </a:lnTo>
                  <a:lnTo>
                    <a:pt x="76" y="353"/>
                  </a:lnTo>
                  <a:lnTo>
                    <a:pt x="58" y="230"/>
                  </a:lnTo>
                  <a:lnTo>
                    <a:pt x="131" y="241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95" name="Freeform 237"/>
            <p:cNvSpPr>
              <a:spLocks/>
            </p:cNvSpPr>
            <p:nvPr/>
          </p:nvSpPr>
          <p:spPr bwMode="auto">
            <a:xfrm>
              <a:off x="8928" y="8932"/>
              <a:ext cx="38" cy="104"/>
            </a:xfrm>
            <a:custGeom>
              <a:avLst/>
              <a:gdLst>
                <a:gd name="T0" fmla="*/ 61 w 75"/>
                <a:gd name="T1" fmla="*/ 207 h 207"/>
                <a:gd name="T2" fmla="*/ 75 w 75"/>
                <a:gd name="T3" fmla="*/ 192 h 207"/>
                <a:gd name="T4" fmla="*/ 24 w 75"/>
                <a:gd name="T5" fmla="*/ 0 h 207"/>
                <a:gd name="T6" fmla="*/ 0 w 75"/>
                <a:gd name="T7" fmla="*/ 6 h 207"/>
                <a:gd name="T8" fmla="*/ 50 w 75"/>
                <a:gd name="T9" fmla="*/ 198 h 207"/>
                <a:gd name="T10" fmla="*/ 64 w 75"/>
                <a:gd name="T11" fmla="*/ 183 h 207"/>
                <a:gd name="T12" fmla="*/ 50 w 75"/>
                <a:gd name="T13" fmla="*/ 198 h 207"/>
                <a:gd name="T14" fmla="*/ 56 w 75"/>
                <a:gd name="T15" fmla="*/ 206 h 207"/>
                <a:gd name="T16" fmla="*/ 65 w 75"/>
                <a:gd name="T17" fmla="*/ 206 h 207"/>
                <a:gd name="T18" fmla="*/ 73 w 75"/>
                <a:gd name="T19" fmla="*/ 201 h 207"/>
                <a:gd name="T20" fmla="*/ 75 w 75"/>
                <a:gd name="T21" fmla="*/ 192 h 207"/>
                <a:gd name="T22" fmla="*/ 61 w 75"/>
                <a:gd name="T23" fmla="*/ 207 h 20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5"/>
                <a:gd name="T37" fmla="*/ 0 h 207"/>
                <a:gd name="T38" fmla="*/ 75 w 75"/>
                <a:gd name="T39" fmla="*/ 207 h 20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5" h="207">
                  <a:moveTo>
                    <a:pt x="61" y="207"/>
                  </a:moveTo>
                  <a:lnTo>
                    <a:pt x="75" y="192"/>
                  </a:lnTo>
                  <a:lnTo>
                    <a:pt x="24" y="0"/>
                  </a:lnTo>
                  <a:lnTo>
                    <a:pt x="0" y="6"/>
                  </a:lnTo>
                  <a:lnTo>
                    <a:pt x="50" y="198"/>
                  </a:lnTo>
                  <a:lnTo>
                    <a:pt x="64" y="183"/>
                  </a:lnTo>
                  <a:lnTo>
                    <a:pt x="50" y="198"/>
                  </a:lnTo>
                  <a:lnTo>
                    <a:pt x="56" y="206"/>
                  </a:lnTo>
                  <a:lnTo>
                    <a:pt x="65" y="206"/>
                  </a:lnTo>
                  <a:lnTo>
                    <a:pt x="73" y="201"/>
                  </a:lnTo>
                  <a:lnTo>
                    <a:pt x="75" y="192"/>
                  </a:lnTo>
                  <a:lnTo>
                    <a:pt x="61" y="2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96" name="Freeform 238"/>
            <p:cNvSpPr>
              <a:spLocks/>
            </p:cNvSpPr>
            <p:nvPr/>
          </p:nvSpPr>
          <p:spPr bwMode="auto">
            <a:xfrm>
              <a:off x="8918" y="9018"/>
              <a:ext cx="42" cy="18"/>
            </a:xfrm>
            <a:custGeom>
              <a:avLst/>
              <a:gdLst>
                <a:gd name="T0" fmla="*/ 22 w 86"/>
                <a:gd name="T1" fmla="*/ 8 h 35"/>
                <a:gd name="T2" fmla="*/ 10 w 86"/>
                <a:gd name="T3" fmla="*/ 24 h 35"/>
                <a:gd name="T4" fmla="*/ 83 w 86"/>
                <a:gd name="T5" fmla="*/ 35 h 35"/>
                <a:gd name="T6" fmla="*/ 86 w 86"/>
                <a:gd name="T7" fmla="*/ 11 h 35"/>
                <a:gd name="T8" fmla="*/ 13 w 86"/>
                <a:gd name="T9" fmla="*/ 0 h 35"/>
                <a:gd name="T10" fmla="*/ 0 w 86"/>
                <a:gd name="T11" fmla="*/ 17 h 35"/>
                <a:gd name="T12" fmla="*/ 13 w 86"/>
                <a:gd name="T13" fmla="*/ 0 h 35"/>
                <a:gd name="T14" fmla="*/ 3 w 86"/>
                <a:gd name="T15" fmla="*/ 3 h 35"/>
                <a:gd name="T16" fmla="*/ 0 w 86"/>
                <a:gd name="T17" fmla="*/ 11 h 35"/>
                <a:gd name="T18" fmla="*/ 2 w 86"/>
                <a:gd name="T19" fmla="*/ 20 h 35"/>
                <a:gd name="T20" fmla="*/ 10 w 86"/>
                <a:gd name="T21" fmla="*/ 24 h 35"/>
                <a:gd name="T22" fmla="*/ 22 w 86"/>
                <a:gd name="T23" fmla="*/ 8 h 3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6"/>
                <a:gd name="T37" fmla="*/ 0 h 35"/>
                <a:gd name="T38" fmla="*/ 86 w 86"/>
                <a:gd name="T39" fmla="*/ 35 h 3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6" h="35">
                  <a:moveTo>
                    <a:pt x="22" y="8"/>
                  </a:moveTo>
                  <a:lnTo>
                    <a:pt x="10" y="24"/>
                  </a:lnTo>
                  <a:lnTo>
                    <a:pt x="83" y="35"/>
                  </a:lnTo>
                  <a:lnTo>
                    <a:pt x="86" y="11"/>
                  </a:lnTo>
                  <a:lnTo>
                    <a:pt x="13" y="0"/>
                  </a:lnTo>
                  <a:lnTo>
                    <a:pt x="0" y="17"/>
                  </a:lnTo>
                  <a:lnTo>
                    <a:pt x="13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2" y="20"/>
                  </a:lnTo>
                  <a:lnTo>
                    <a:pt x="10" y="24"/>
                  </a:lnTo>
                  <a:lnTo>
                    <a:pt x="22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97" name="Freeform 239"/>
            <p:cNvSpPr>
              <a:spLocks/>
            </p:cNvSpPr>
            <p:nvPr/>
          </p:nvSpPr>
          <p:spPr bwMode="auto">
            <a:xfrm>
              <a:off x="8918" y="9022"/>
              <a:ext cx="49" cy="93"/>
            </a:xfrm>
            <a:custGeom>
              <a:avLst/>
              <a:gdLst>
                <a:gd name="T0" fmla="*/ 75 w 100"/>
                <a:gd name="T1" fmla="*/ 178 h 187"/>
                <a:gd name="T2" fmla="*/ 98 w 100"/>
                <a:gd name="T3" fmla="*/ 172 h 187"/>
                <a:gd name="T4" fmla="*/ 22 w 100"/>
                <a:gd name="T5" fmla="*/ 0 h 187"/>
                <a:gd name="T6" fmla="*/ 0 w 100"/>
                <a:gd name="T7" fmla="*/ 9 h 187"/>
                <a:gd name="T8" fmla="*/ 77 w 100"/>
                <a:gd name="T9" fmla="*/ 181 h 187"/>
                <a:gd name="T10" fmla="*/ 100 w 100"/>
                <a:gd name="T11" fmla="*/ 175 h 187"/>
                <a:gd name="T12" fmla="*/ 77 w 100"/>
                <a:gd name="T13" fmla="*/ 181 h 187"/>
                <a:gd name="T14" fmla="*/ 83 w 100"/>
                <a:gd name="T15" fmla="*/ 187 h 187"/>
                <a:gd name="T16" fmla="*/ 92 w 100"/>
                <a:gd name="T17" fmla="*/ 187 h 187"/>
                <a:gd name="T18" fmla="*/ 98 w 100"/>
                <a:gd name="T19" fmla="*/ 181 h 187"/>
                <a:gd name="T20" fmla="*/ 98 w 100"/>
                <a:gd name="T21" fmla="*/ 172 h 187"/>
                <a:gd name="T22" fmla="*/ 75 w 100"/>
                <a:gd name="T23" fmla="*/ 178 h 18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0"/>
                <a:gd name="T37" fmla="*/ 0 h 187"/>
                <a:gd name="T38" fmla="*/ 100 w 100"/>
                <a:gd name="T39" fmla="*/ 187 h 18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0" h="187">
                  <a:moveTo>
                    <a:pt x="75" y="178"/>
                  </a:moveTo>
                  <a:lnTo>
                    <a:pt x="98" y="172"/>
                  </a:lnTo>
                  <a:lnTo>
                    <a:pt x="22" y="0"/>
                  </a:lnTo>
                  <a:lnTo>
                    <a:pt x="0" y="9"/>
                  </a:lnTo>
                  <a:lnTo>
                    <a:pt x="77" y="181"/>
                  </a:lnTo>
                  <a:lnTo>
                    <a:pt x="100" y="175"/>
                  </a:lnTo>
                  <a:lnTo>
                    <a:pt x="77" y="181"/>
                  </a:lnTo>
                  <a:lnTo>
                    <a:pt x="83" y="187"/>
                  </a:lnTo>
                  <a:lnTo>
                    <a:pt x="92" y="187"/>
                  </a:lnTo>
                  <a:lnTo>
                    <a:pt x="98" y="181"/>
                  </a:lnTo>
                  <a:lnTo>
                    <a:pt x="98" y="172"/>
                  </a:lnTo>
                  <a:lnTo>
                    <a:pt x="75" y="1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98" name="Freeform 240"/>
            <p:cNvSpPr>
              <a:spLocks/>
            </p:cNvSpPr>
            <p:nvPr/>
          </p:nvSpPr>
          <p:spPr bwMode="auto">
            <a:xfrm>
              <a:off x="8946" y="9042"/>
              <a:ext cx="21" cy="69"/>
            </a:xfrm>
            <a:custGeom>
              <a:avLst/>
              <a:gdLst>
                <a:gd name="T0" fmla="*/ 14 w 43"/>
                <a:gd name="T1" fmla="*/ 0 h 137"/>
                <a:gd name="T2" fmla="*/ 0 w 43"/>
                <a:gd name="T3" fmla="*/ 13 h 137"/>
                <a:gd name="T4" fmla="*/ 18 w 43"/>
                <a:gd name="T5" fmla="*/ 137 h 137"/>
                <a:gd name="T6" fmla="*/ 43 w 43"/>
                <a:gd name="T7" fmla="*/ 134 h 137"/>
                <a:gd name="T8" fmla="*/ 24 w 43"/>
                <a:gd name="T9" fmla="*/ 10 h 137"/>
                <a:gd name="T10" fmla="*/ 11 w 43"/>
                <a:gd name="T11" fmla="*/ 24 h 137"/>
                <a:gd name="T12" fmla="*/ 24 w 43"/>
                <a:gd name="T13" fmla="*/ 10 h 137"/>
                <a:gd name="T14" fmla="*/ 20 w 43"/>
                <a:gd name="T15" fmla="*/ 3 h 137"/>
                <a:gd name="T16" fmla="*/ 11 w 43"/>
                <a:gd name="T17" fmla="*/ 0 h 137"/>
                <a:gd name="T18" fmla="*/ 3 w 43"/>
                <a:gd name="T19" fmla="*/ 4 h 137"/>
                <a:gd name="T20" fmla="*/ 0 w 43"/>
                <a:gd name="T21" fmla="*/ 13 h 137"/>
                <a:gd name="T22" fmla="*/ 14 w 43"/>
                <a:gd name="T23" fmla="*/ 0 h 13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3"/>
                <a:gd name="T37" fmla="*/ 0 h 137"/>
                <a:gd name="T38" fmla="*/ 43 w 43"/>
                <a:gd name="T39" fmla="*/ 137 h 13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3" h="137">
                  <a:moveTo>
                    <a:pt x="14" y="0"/>
                  </a:moveTo>
                  <a:lnTo>
                    <a:pt x="0" y="13"/>
                  </a:lnTo>
                  <a:lnTo>
                    <a:pt x="18" y="137"/>
                  </a:lnTo>
                  <a:lnTo>
                    <a:pt x="43" y="134"/>
                  </a:lnTo>
                  <a:lnTo>
                    <a:pt x="24" y="10"/>
                  </a:lnTo>
                  <a:lnTo>
                    <a:pt x="11" y="24"/>
                  </a:lnTo>
                  <a:lnTo>
                    <a:pt x="24" y="10"/>
                  </a:lnTo>
                  <a:lnTo>
                    <a:pt x="20" y="3"/>
                  </a:lnTo>
                  <a:lnTo>
                    <a:pt x="11" y="0"/>
                  </a:lnTo>
                  <a:lnTo>
                    <a:pt x="3" y="4"/>
                  </a:lnTo>
                  <a:lnTo>
                    <a:pt x="0" y="1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99" name="Freeform 241"/>
            <p:cNvSpPr>
              <a:spLocks/>
            </p:cNvSpPr>
            <p:nvPr/>
          </p:nvSpPr>
          <p:spPr bwMode="auto">
            <a:xfrm>
              <a:off x="8951" y="9042"/>
              <a:ext cx="44" cy="18"/>
            </a:xfrm>
            <a:custGeom>
              <a:avLst/>
              <a:gdLst>
                <a:gd name="T0" fmla="*/ 64 w 87"/>
                <a:gd name="T1" fmla="*/ 27 h 35"/>
                <a:gd name="T2" fmla="*/ 76 w 87"/>
                <a:gd name="T3" fmla="*/ 10 h 35"/>
                <a:gd name="T4" fmla="*/ 3 w 87"/>
                <a:gd name="T5" fmla="*/ 0 h 35"/>
                <a:gd name="T6" fmla="*/ 0 w 87"/>
                <a:gd name="T7" fmla="*/ 24 h 35"/>
                <a:gd name="T8" fmla="*/ 73 w 87"/>
                <a:gd name="T9" fmla="*/ 35 h 35"/>
                <a:gd name="T10" fmla="*/ 85 w 87"/>
                <a:gd name="T11" fmla="*/ 18 h 35"/>
                <a:gd name="T12" fmla="*/ 73 w 87"/>
                <a:gd name="T13" fmla="*/ 35 h 35"/>
                <a:gd name="T14" fmla="*/ 82 w 87"/>
                <a:gd name="T15" fmla="*/ 32 h 35"/>
                <a:gd name="T16" fmla="*/ 87 w 87"/>
                <a:gd name="T17" fmla="*/ 24 h 35"/>
                <a:gd name="T18" fmla="*/ 83 w 87"/>
                <a:gd name="T19" fmla="*/ 15 h 35"/>
                <a:gd name="T20" fmla="*/ 76 w 87"/>
                <a:gd name="T21" fmla="*/ 10 h 35"/>
                <a:gd name="T22" fmla="*/ 64 w 87"/>
                <a:gd name="T23" fmla="*/ 27 h 3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7"/>
                <a:gd name="T37" fmla="*/ 0 h 35"/>
                <a:gd name="T38" fmla="*/ 87 w 87"/>
                <a:gd name="T39" fmla="*/ 35 h 3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7" h="35">
                  <a:moveTo>
                    <a:pt x="64" y="27"/>
                  </a:moveTo>
                  <a:lnTo>
                    <a:pt x="76" y="10"/>
                  </a:lnTo>
                  <a:lnTo>
                    <a:pt x="3" y="0"/>
                  </a:lnTo>
                  <a:lnTo>
                    <a:pt x="0" y="24"/>
                  </a:lnTo>
                  <a:lnTo>
                    <a:pt x="73" y="35"/>
                  </a:lnTo>
                  <a:lnTo>
                    <a:pt x="85" y="18"/>
                  </a:lnTo>
                  <a:lnTo>
                    <a:pt x="73" y="35"/>
                  </a:lnTo>
                  <a:lnTo>
                    <a:pt x="82" y="32"/>
                  </a:lnTo>
                  <a:lnTo>
                    <a:pt x="87" y="24"/>
                  </a:lnTo>
                  <a:lnTo>
                    <a:pt x="83" y="15"/>
                  </a:lnTo>
                  <a:lnTo>
                    <a:pt x="76" y="10"/>
                  </a:lnTo>
                  <a:lnTo>
                    <a:pt x="64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00" name="Freeform 242"/>
            <p:cNvSpPr>
              <a:spLocks/>
            </p:cNvSpPr>
            <p:nvPr/>
          </p:nvSpPr>
          <p:spPr bwMode="auto">
            <a:xfrm>
              <a:off x="8928" y="8928"/>
              <a:ext cx="66" cy="128"/>
            </a:xfrm>
            <a:custGeom>
              <a:avLst/>
              <a:gdLst>
                <a:gd name="T0" fmla="*/ 24 w 131"/>
                <a:gd name="T1" fmla="*/ 7 h 255"/>
                <a:gd name="T2" fmla="*/ 1 w 131"/>
                <a:gd name="T3" fmla="*/ 15 h 255"/>
                <a:gd name="T4" fmla="*/ 110 w 131"/>
                <a:gd name="T5" fmla="*/ 255 h 255"/>
                <a:gd name="T6" fmla="*/ 131 w 131"/>
                <a:gd name="T7" fmla="*/ 246 h 255"/>
                <a:gd name="T8" fmla="*/ 23 w 131"/>
                <a:gd name="T9" fmla="*/ 6 h 255"/>
                <a:gd name="T10" fmla="*/ 0 w 131"/>
                <a:gd name="T11" fmla="*/ 13 h 255"/>
                <a:gd name="T12" fmla="*/ 23 w 131"/>
                <a:gd name="T13" fmla="*/ 6 h 255"/>
                <a:gd name="T14" fmla="*/ 17 w 131"/>
                <a:gd name="T15" fmla="*/ 0 h 255"/>
                <a:gd name="T16" fmla="*/ 7 w 131"/>
                <a:gd name="T17" fmla="*/ 0 h 255"/>
                <a:gd name="T18" fmla="*/ 1 w 131"/>
                <a:gd name="T19" fmla="*/ 6 h 255"/>
                <a:gd name="T20" fmla="*/ 1 w 131"/>
                <a:gd name="T21" fmla="*/ 15 h 255"/>
                <a:gd name="T22" fmla="*/ 24 w 131"/>
                <a:gd name="T23" fmla="*/ 7 h 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1"/>
                <a:gd name="T37" fmla="*/ 0 h 255"/>
                <a:gd name="T38" fmla="*/ 131 w 131"/>
                <a:gd name="T39" fmla="*/ 255 h 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1" h="255">
                  <a:moveTo>
                    <a:pt x="24" y="7"/>
                  </a:moveTo>
                  <a:lnTo>
                    <a:pt x="1" y="15"/>
                  </a:lnTo>
                  <a:lnTo>
                    <a:pt x="110" y="255"/>
                  </a:lnTo>
                  <a:lnTo>
                    <a:pt x="131" y="246"/>
                  </a:lnTo>
                  <a:lnTo>
                    <a:pt x="23" y="6"/>
                  </a:lnTo>
                  <a:lnTo>
                    <a:pt x="0" y="13"/>
                  </a:lnTo>
                  <a:lnTo>
                    <a:pt x="23" y="6"/>
                  </a:lnTo>
                  <a:lnTo>
                    <a:pt x="17" y="0"/>
                  </a:lnTo>
                  <a:lnTo>
                    <a:pt x="7" y="0"/>
                  </a:lnTo>
                  <a:lnTo>
                    <a:pt x="1" y="6"/>
                  </a:lnTo>
                  <a:lnTo>
                    <a:pt x="1" y="15"/>
                  </a:lnTo>
                  <a:lnTo>
                    <a:pt x="24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01" name="Freeform 243"/>
            <p:cNvSpPr>
              <a:spLocks/>
            </p:cNvSpPr>
            <p:nvPr/>
          </p:nvSpPr>
          <p:spPr bwMode="auto">
            <a:xfrm>
              <a:off x="8924" y="8941"/>
              <a:ext cx="64" cy="164"/>
            </a:xfrm>
            <a:custGeom>
              <a:avLst/>
              <a:gdLst>
                <a:gd name="T0" fmla="*/ 27 w 128"/>
                <a:gd name="T1" fmla="*/ 0 h 328"/>
                <a:gd name="T2" fmla="*/ 128 w 128"/>
                <a:gd name="T3" fmla="*/ 222 h 328"/>
                <a:gd name="T4" fmla="*/ 53 w 128"/>
                <a:gd name="T5" fmla="*/ 212 h 328"/>
                <a:gd name="T6" fmla="*/ 71 w 128"/>
                <a:gd name="T7" fmla="*/ 328 h 328"/>
                <a:gd name="T8" fmla="*/ 0 w 128"/>
                <a:gd name="T9" fmla="*/ 168 h 328"/>
                <a:gd name="T10" fmla="*/ 74 w 128"/>
                <a:gd name="T11" fmla="*/ 179 h 328"/>
                <a:gd name="T12" fmla="*/ 27 w 128"/>
                <a:gd name="T13" fmla="*/ 0 h 3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8"/>
                <a:gd name="T22" fmla="*/ 0 h 328"/>
                <a:gd name="T23" fmla="*/ 128 w 128"/>
                <a:gd name="T24" fmla="*/ 328 h 3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8" h="328">
                  <a:moveTo>
                    <a:pt x="27" y="0"/>
                  </a:moveTo>
                  <a:lnTo>
                    <a:pt x="128" y="222"/>
                  </a:lnTo>
                  <a:lnTo>
                    <a:pt x="53" y="212"/>
                  </a:lnTo>
                  <a:lnTo>
                    <a:pt x="71" y="328"/>
                  </a:lnTo>
                  <a:lnTo>
                    <a:pt x="0" y="168"/>
                  </a:lnTo>
                  <a:lnTo>
                    <a:pt x="74" y="179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19191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02" name="Freeform 244"/>
            <p:cNvSpPr>
              <a:spLocks/>
            </p:cNvSpPr>
            <p:nvPr/>
          </p:nvSpPr>
          <p:spPr bwMode="auto">
            <a:xfrm>
              <a:off x="8925" y="8949"/>
              <a:ext cx="62" cy="152"/>
            </a:xfrm>
            <a:custGeom>
              <a:avLst/>
              <a:gdLst>
                <a:gd name="T0" fmla="*/ 31 w 125"/>
                <a:gd name="T1" fmla="*/ 0 h 304"/>
                <a:gd name="T2" fmla="*/ 125 w 125"/>
                <a:gd name="T3" fmla="*/ 205 h 304"/>
                <a:gd name="T4" fmla="*/ 50 w 125"/>
                <a:gd name="T5" fmla="*/ 196 h 304"/>
                <a:gd name="T6" fmla="*/ 67 w 125"/>
                <a:gd name="T7" fmla="*/ 304 h 304"/>
                <a:gd name="T8" fmla="*/ 0 w 125"/>
                <a:gd name="T9" fmla="*/ 155 h 304"/>
                <a:gd name="T10" fmla="*/ 75 w 125"/>
                <a:gd name="T11" fmla="*/ 166 h 304"/>
                <a:gd name="T12" fmla="*/ 31 w 125"/>
                <a:gd name="T13" fmla="*/ 0 h 3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5"/>
                <a:gd name="T22" fmla="*/ 0 h 304"/>
                <a:gd name="T23" fmla="*/ 125 w 125"/>
                <a:gd name="T24" fmla="*/ 304 h 3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5" h="304">
                  <a:moveTo>
                    <a:pt x="31" y="0"/>
                  </a:moveTo>
                  <a:lnTo>
                    <a:pt x="125" y="205"/>
                  </a:lnTo>
                  <a:lnTo>
                    <a:pt x="50" y="196"/>
                  </a:lnTo>
                  <a:lnTo>
                    <a:pt x="67" y="304"/>
                  </a:lnTo>
                  <a:lnTo>
                    <a:pt x="0" y="155"/>
                  </a:lnTo>
                  <a:lnTo>
                    <a:pt x="75" y="166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03" name="Freeform 245"/>
            <p:cNvSpPr>
              <a:spLocks/>
            </p:cNvSpPr>
            <p:nvPr/>
          </p:nvSpPr>
          <p:spPr bwMode="auto">
            <a:xfrm>
              <a:off x="8926" y="8957"/>
              <a:ext cx="60" cy="139"/>
            </a:xfrm>
            <a:custGeom>
              <a:avLst/>
              <a:gdLst>
                <a:gd name="T0" fmla="*/ 34 w 119"/>
                <a:gd name="T1" fmla="*/ 0 h 278"/>
                <a:gd name="T2" fmla="*/ 119 w 119"/>
                <a:gd name="T3" fmla="*/ 189 h 278"/>
                <a:gd name="T4" fmla="*/ 46 w 119"/>
                <a:gd name="T5" fmla="*/ 178 h 278"/>
                <a:gd name="T6" fmla="*/ 61 w 119"/>
                <a:gd name="T7" fmla="*/ 278 h 278"/>
                <a:gd name="T8" fmla="*/ 0 w 119"/>
                <a:gd name="T9" fmla="*/ 143 h 278"/>
                <a:gd name="T10" fmla="*/ 73 w 119"/>
                <a:gd name="T11" fmla="*/ 152 h 278"/>
                <a:gd name="T12" fmla="*/ 34 w 119"/>
                <a:gd name="T13" fmla="*/ 0 h 2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9"/>
                <a:gd name="T22" fmla="*/ 0 h 278"/>
                <a:gd name="T23" fmla="*/ 119 w 119"/>
                <a:gd name="T24" fmla="*/ 278 h 2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9" h="278">
                  <a:moveTo>
                    <a:pt x="34" y="0"/>
                  </a:moveTo>
                  <a:lnTo>
                    <a:pt x="119" y="189"/>
                  </a:lnTo>
                  <a:lnTo>
                    <a:pt x="46" y="178"/>
                  </a:lnTo>
                  <a:lnTo>
                    <a:pt x="61" y="278"/>
                  </a:lnTo>
                  <a:lnTo>
                    <a:pt x="0" y="143"/>
                  </a:lnTo>
                  <a:lnTo>
                    <a:pt x="73" y="152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4C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04" name="Freeform 246"/>
            <p:cNvSpPr>
              <a:spLocks/>
            </p:cNvSpPr>
            <p:nvPr/>
          </p:nvSpPr>
          <p:spPr bwMode="auto">
            <a:xfrm>
              <a:off x="8927" y="8965"/>
              <a:ext cx="58" cy="126"/>
            </a:xfrm>
            <a:custGeom>
              <a:avLst/>
              <a:gdLst>
                <a:gd name="T0" fmla="*/ 38 w 116"/>
                <a:gd name="T1" fmla="*/ 0 h 252"/>
                <a:gd name="T2" fmla="*/ 116 w 116"/>
                <a:gd name="T3" fmla="*/ 170 h 252"/>
                <a:gd name="T4" fmla="*/ 41 w 116"/>
                <a:gd name="T5" fmla="*/ 159 h 252"/>
                <a:gd name="T6" fmla="*/ 56 w 116"/>
                <a:gd name="T7" fmla="*/ 252 h 252"/>
                <a:gd name="T8" fmla="*/ 0 w 116"/>
                <a:gd name="T9" fmla="*/ 127 h 252"/>
                <a:gd name="T10" fmla="*/ 74 w 116"/>
                <a:gd name="T11" fmla="*/ 138 h 252"/>
                <a:gd name="T12" fmla="*/ 38 w 116"/>
                <a:gd name="T13" fmla="*/ 0 h 2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6"/>
                <a:gd name="T22" fmla="*/ 0 h 252"/>
                <a:gd name="T23" fmla="*/ 116 w 116"/>
                <a:gd name="T24" fmla="*/ 252 h 2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6" h="252">
                  <a:moveTo>
                    <a:pt x="38" y="0"/>
                  </a:moveTo>
                  <a:lnTo>
                    <a:pt x="116" y="170"/>
                  </a:lnTo>
                  <a:lnTo>
                    <a:pt x="41" y="159"/>
                  </a:lnTo>
                  <a:lnTo>
                    <a:pt x="56" y="252"/>
                  </a:lnTo>
                  <a:lnTo>
                    <a:pt x="0" y="127"/>
                  </a:lnTo>
                  <a:lnTo>
                    <a:pt x="74" y="138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05" name="Freeform 247"/>
            <p:cNvSpPr>
              <a:spLocks/>
            </p:cNvSpPr>
            <p:nvPr/>
          </p:nvSpPr>
          <p:spPr bwMode="auto">
            <a:xfrm>
              <a:off x="8928" y="8972"/>
              <a:ext cx="55" cy="114"/>
            </a:xfrm>
            <a:custGeom>
              <a:avLst/>
              <a:gdLst>
                <a:gd name="T0" fmla="*/ 41 w 112"/>
                <a:gd name="T1" fmla="*/ 0 h 228"/>
                <a:gd name="T2" fmla="*/ 112 w 112"/>
                <a:gd name="T3" fmla="*/ 153 h 228"/>
                <a:gd name="T4" fmla="*/ 38 w 112"/>
                <a:gd name="T5" fmla="*/ 143 h 228"/>
                <a:gd name="T6" fmla="*/ 52 w 112"/>
                <a:gd name="T7" fmla="*/ 228 h 228"/>
                <a:gd name="T8" fmla="*/ 0 w 112"/>
                <a:gd name="T9" fmla="*/ 114 h 228"/>
                <a:gd name="T10" fmla="*/ 75 w 112"/>
                <a:gd name="T11" fmla="*/ 125 h 228"/>
                <a:gd name="T12" fmla="*/ 41 w 112"/>
                <a:gd name="T13" fmla="*/ 0 h 2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2"/>
                <a:gd name="T22" fmla="*/ 0 h 228"/>
                <a:gd name="T23" fmla="*/ 112 w 112"/>
                <a:gd name="T24" fmla="*/ 228 h 2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2" h="228">
                  <a:moveTo>
                    <a:pt x="41" y="0"/>
                  </a:moveTo>
                  <a:lnTo>
                    <a:pt x="112" y="153"/>
                  </a:lnTo>
                  <a:lnTo>
                    <a:pt x="38" y="143"/>
                  </a:lnTo>
                  <a:lnTo>
                    <a:pt x="52" y="228"/>
                  </a:lnTo>
                  <a:lnTo>
                    <a:pt x="0" y="114"/>
                  </a:lnTo>
                  <a:lnTo>
                    <a:pt x="75" y="12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06" name="Freeform 248"/>
            <p:cNvSpPr>
              <a:spLocks/>
            </p:cNvSpPr>
            <p:nvPr/>
          </p:nvSpPr>
          <p:spPr bwMode="auto">
            <a:xfrm>
              <a:off x="8929" y="8980"/>
              <a:ext cx="54" cy="102"/>
            </a:xfrm>
            <a:custGeom>
              <a:avLst/>
              <a:gdLst>
                <a:gd name="T0" fmla="*/ 45 w 107"/>
                <a:gd name="T1" fmla="*/ 0 h 204"/>
                <a:gd name="T2" fmla="*/ 107 w 107"/>
                <a:gd name="T3" fmla="*/ 137 h 204"/>
                <a:gd name="T4" fmla="*/ 32 w 107"/>
                <a:gd name="T5" fmla="*/ 126 h 204"/>
                <a:gd name="T6" fmla="*/ 46 w 107"/>
                <a:gd name="T7" fmla="*/ 204 h 204"/>
                <a:gd name="T8" fmla="*/ 0 w 107"/>
                <a:gd name="T9" fmla="*/ 102 h 204"/>
                <a:gd name="T10" fmla="*/ 74 w 107"/>
                <a:gd name="T11" fmla="*/ 113 h 204"/>
                <a:gd name="T12" fmla="*/ 45 w 107"/>
                <a:gd name="T13" fmla="*/ 0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4"/>
                <a:gd name="T23" fmla="*/ 107 w 107"/>
                <a:gd name="T24" fmla="*/ 204 h 2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4">
                  <a:moveTo>
                    <a:pt x="45" y="0"/>
                  </a:moveTo>
                  <a:lnTo>
                    <a:pt x="107" y="137"/>
                  </a:lnTo>
                  <a:lnTo>
                    <a:pt x="32" y="126"/>
                  </a:lnTo>
                  <a:lnTo>
                    <a:pt x="46" y="204"/>
                  </a:lnTo>
                  <a:lnTo>
                    <a:pt x="0" y="102"/>
                  </a:lnTo>
                  <a:lnTo>
                    <a:pt x="74" y="11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07" name="Freeform 249"/>
            <p:cNvSpPr>
              <a:spLocks/>
            </p:cNvSpPr>
            <p:nvPr/>
          </p:nvSpPr>
          <p:spPr bwMode="auto">
            <a:xfrm>
              <a:off x="8930" y="8988"/>
              <a:ext cx="52" cy="89"/>
            </a:xfrm>
            <a:custGeom>
              <a:avLst/>
              <a:gdLst>
                <a:gd name="T0" fmla="*/ 49 w 104"/>
                <a:gd name="T1" fmla="*/ 0 h 178"/>
                <a:gd name="T2" fmla="*/ 104 w 104"/>
                <a:gd name="T3" fmla="*/ 120 h 178"/>
                <a:gd name="T4" fmla="*/ 29 w 104"/>
                <a:gd name="T5" fmla="*/ 110 h 178"/>
                <a:gd name="T6" fmla="*/ 43 w 104"/>
                <a:gd name="T7" fmla="*/ 178 h 178"/>
                <a:gd name="T8" fmla="*/ 0 w 104"/>
                <a:gd name="T9" fmla="*/ 89 h 178"/>
                <a:gd name="T10" fmla="*/ 75 w 104"/>
                <a:gd name="T11" fmla="*/ 99 h 178"/>
                <a:gd name="T12" fmla="*/ 49 w 104"/>
                <a:gd name="T13" fmla="*/ 0 h 1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"/>
                <a:gd name="T22" fmla="*/ 0 h 178"/>
                <a:gd name="T23" fmla="*/ 104 w 104"/>
                <a:gd name="T24" fmla="*/ 178 h 1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" h="178">
                  <a:moveTo>
                    <a:pt x="49" y="0"/>
                  </a:moveTo>
                  <a:lnTo>
                    <a:pt x="104" y="120"/>
                  </a:lnTo>
                  <a:lnTo>
                    <a:pt x="29" y="110"/>
                  </a:lnTo>
                  <a:lnTo>
                    <a:pt x="43" y="178"/>
                  </a:lnTo>
                  <a:lnTo>
                    <a:pt x="0" y="89"/>
                  </a:lnTo>
                  <a:lnTo>
                    <a:pt x="75" y="99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08" name="Freeform 250"/>
            <p:cNvSpPr>
              <a:spLocks/>
            </p:cNvSpPr>
            <p:nvPr/>
          </p:nvSpPr>
          <p:spPr bwMode="auto">
            <a:xfrm>
              <a:off x="8931" y="8995"/>
              <a:ext cx="49" cy="77"/>
            </a:xfrm>
            <a:custGeom>
              <a:avLst/>
              <a:gdLst>
                <a:gd name="T0" fmla="*/ 50 w 98"/>
                <a:gd name="T1" fmla="*/ 0 h 153"/>
                <a:gd name="T2" fmla="*/ 98 w 98"/>
                <a:gd name="T3" fmla="*/ 103 h 153"/>
                <a:gd name="T4" fmla="*/ 24 w 98"/>
                <a:gd name="T5" fmla="*/ 92 h 153"/>
                <a:gd name="T6" fmla="*/ 36 w 98"/>
                <a:gd name="T7" fmla="*/ 153 h 153"/>
                <a:gd name="T8" fmla="*/ 0 w 98"/>
                <a:gd name="T9" fmla="*/ 74 h 153"/>
                <a:gd name="T10" fmla="*/ 73 w 98"/>
                <a:gd name="T11" fmla="*/ 85 h 153"/>
                <a:gd name="T12" fmla="*/ 50 w 98"/>
                <a:gd name="T13" fmla="*/ 0 h 1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8"/>
                <a:gd name="T22" fmla="*/ 0 h 153"/>
                <a:gd name="T23" fmla="*/ 98 w 98"/>
                <a:gd name="T24" fmla="*/ 153 h 15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8" h="153">
                  <a:moveTo>
                    <a:pt x="50" y="0"/>
                  </a:moveTo>
                  <a:lnTo>
                    <a:pt x="98" y="103"/>
                  </a:lnTo>
                  <a:lnTo>
                    <a:pt x="24" y="92"/>
                  </a:lnTo>
                  <a:lnTo>
                    <a:pt x="36" y="153"/>
                  </a:lnTo>
                  <a:lnTo>
                    <a:pt x="0" y="74"/>
                  </a:lnTo>
                  <a:lnTo>
                    <a:pt x="73" y="85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09" name="Freeform 251"/>
            <p:cNvSpPr>
              <a:spLocks/>
            </p:cNvSpPr>
            <p:nvPr/>
          </p:nvSpPr>
          <p:spPr bwMode="auto">
            <a:xfrm>
              <a:off x="8932" y="9004"/>
              <a:ext cx="47" cy="63"/>
            </a:xfrm>
            <a:custGeom>
              <a:avLst/>
              <a:gdLst>
                <a:gd name="T0" fmla="*/ 55 w 95"/>
                <a:gd name="T1" fmla="*/ 0 h 128"/>
                <a:gd name="T2" fmla="*/ 95 w 95"/>
                <a:gd name="T3" fmla="*/ 85 h 128"/>
                <a:gd name="T4" fmla="*/ 20 w 95"/>
                <a:gd name="T5" fmla="*/ 75 h 128"/>
                <a:gd name="T6" fmla="*/ 32 w 95"/>
                <a:gd name="T7" fmla="*/ 128 h 128"/>
                <a:gd name="T8" fmla="*/ 0 w 95"/>
                <a:gd name="T9" fmla="*/ 61 h 128"/>
                <a:gd name="T10" fmla="*/ 75 w 95"/>
                <a:gd name="T11" fmla="*/ 72 h 128"/>
                <a:gd name="T12" fmla="*/ 55 w 95"/>
                <a:gd name="T13" fmla="*/ 0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5"/>
                <a:gd name="T22" fmla="*/ 0 h 128"/>
                <a:gd name="T23" fmla="*/ 95 w 95"/>
                <a:gd name="T24" fmla="*/ 128 h 1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5" h="128">
                  <a:moveTo>
                    <a:pt x="55" y="0"/>
                  </a:moveTo>
                  <a:lnTo>
                    <a:pt x="95" y="85"/>
                  </a:lnTo>
                  <a:lnTo>
                    <a:pt x="20" y="75"/>
                  </a:lnTo>
                  <a:lnTo>
                    <a:pt x="32" y="128"/>
                  </a:lnTo>
                  <a:lnTo>
                    <a:pt x="0" y="61"/>
                  </a:lnTo>
                  <a:lnTo>
                    <a:pt x="75" y="72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10" name="Freeform 252"/>
            <p:cNvSpPr>
              <a:spLocks/>
            </p:cNvSpPr>
            <p:nvPr/>
          </p:nvSpPr>
          <p:spPr bwMode="auto">
            <a:xfrm>
              <a:off x="8933" y="9011"/>
              <a:ext cx="45" cy="52"/>
            </a:xfrm>
            <a:custGeom>
              <a:avLst/>
              <a:gdLst>
                <a:gd name="T0" fmla="*/ 59 w 90"/>
                <a:gd name="T1" fmla="*/ 0 h 104"/>
                <a:gd name="T2" fmla="*/ 75 w 90"/>
                <a:gd name="T3" fmla="*/ 58 h 104"/>
                <a:gd name="T4" fmla="*/ 0 w 90"/>
                <a:gd name="T5" fmla="*/ 48 h 104"/>
                <a:gd name="T6" fmla="*/ 27 w 90"/>
                <a:gd name="T7" fmla="*/ 104 h 104"/>
                <a:gd name="T8" fmla="*/ 17 w 90"/>
                <a:gd name="T9" fmla="*/ 58 h 104"/>
                <a:gd name="T10" fmla="*/ 90 w 90"/>
                <a:gd name="T11" fmla="*/ 69 h 104"/>
                <a:gd name="T12" fmla="*/ 59 w 90"/>
                <a:gd name="T13" fmla="*/ 0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"/>
                <a:gd name="T22" fmla="*/ 0 h 104"/>
                <a:gd name="T23" fmla="*/ 90 w 90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" h="104">
                  <a:moveTo>
                    <a:pt x="59" y="0"/>
                  </a:moveTo>
                  <a:lnTo>
                    <a:pt x="75" y="58"/>
                  </a:lnTo>
                  <a:lnTo>
                    <a:pt x="0" y="48"/>
                  </a:lnTo>
                  <a:lnTo>
                    <a:pt x="27" y="104"/>
                  </a:lnTo>
                  <a:lnTo>
                    <a:pt x="17" y="58"/>
                  </a:lnTo>
                  <a:lnTo>
                    <a:pt x="90" y="69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11" name="Freeform 253"/>
            <p:cNvSpPr>
              <a:spLocks/>
            </p:cNvSpPr>
            <p:nvPr/>
          </p:nvSpPr>
          <p:spPr bwMode="auto">
            <a:xfrm>
              <a:off x="8674" y="9052"/>
              <a:ext cx="143" cy="107"/>
            </a:xfrm>
            <a:custGeom>
              <a:avLst/>
              <a:gdLst>
                <a:gd name="T0" fmla="*/ 0 w 287"/>
                <a:gd name="T1" fmla="*/ 0 h 216"/>
                <a:gd name="T2" fmla="*/ 173 w 287"/>
                <a:gd name="T3" fmla="*/ 103 h 216"/>
                <a:gd name="T4" fmla="*/ 112 w 287"/>
                <a:gd name="T5" fmla="*/ 148 h 216"/>
                <a:gd name="T6" fmla="*/ 287 w 287"/>
                <a:gd name="T7" fmla="*/ 216 h 216"/>
                <a:gd name="T8" fmla="*/ 186 w 287"/>
                <a:gd name="T9" fmla="*/ 141 h 216"/>
                <a:gd name="T10" fmla="*/ 247 w 287"/>
                <a:gd name="T11" fmla="*/ 96 h 216"/>
                <a:gd name="T12" fmla="*/ 0 w 287"/>
                <a:gd name="T13" fmla="*/ 0 h 2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7"/>
                <a:gd name="T22" fmla="*/ 0 h 216"/>
                <a:gd name="T23" fmla="*/ 287 w 287"/>
                <a:gd name="T24" fmla="*/ 216 h 2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7" h="216">
                  <a:moveTo>
                    <a:pt x="0" y="0"/>
                  </a:moveTo>
                  <a:lnTo>
                    <a:pt x="173" y="103"/>
                  </a:lnTo>
                  <a:lnTo>
                    <a:pt x="112" y="148"/>
                  </a:lnTo>
                  <a:lnTo>
                    <a:pt x="287" y="216"/>
                  </a:lnTo>
                  <a:lnTo>
                    <a:pt x="186" y="141"/>
                  </a:lnTo>
                  <a:lnTo>
                    <a:pt x="247" y="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12" name="Freeform 254"/>
            <p:cNvSpPr>
              <a:spLocks/>
            </p:cNvSpPr>
            <p:nvPr/>
          </p:nvSpPr>
          <p:spPr bwMode="auto">
            <a:xfrm>
              <a:off x="8671" y="9046"/>
              <a:ext cx="95" cy="63"/>
            </a:xfrm>
            <a:custGeom>
              <a:avLst/>
              <a:gdLst>
                <a:gd name="T0" fmla="*/ 185 w 191"/>
                <a:gd name="T1" fmla="*/ 124 h 127"/>
                <a:gd name="T2" fmla="*/ 185 w 191"/>
                <a:gd name="T3" fmla="*/ 104 h 127"/>
                <a:gd name="T4" fmla="*/ 12 w 191"/>
                <a:gd name="T5" fmla="*/ 0 h 127"/>
                <a:gd name="T6" fmla="*/ 0 w 191"/>
                <a:gd name="T7" fmla="*/ 22 h 127"/>
                <a:gd name="T8" fmla="*/ 172 w 191"/>
                <a:gd name="T9" fmla="*/ 125 h 127"/>
                <a:gd name="T10" fmla="*/ 172 w 191"/>
                <a:gd name="T11" fmla="*/ 105 h 127"/>
                <a:gd name="T12" fmla="*/ 172 w 191"/>
                <a:gd name="T13" fmla="*/ 125 h 127"/>
                <a:gd name="T14" fmla="*/ 182 w 191"/>
                <a:gd name="T15" fmla="*/ 127 h 127"/>
                <a:gd name="T16" fmla="*/ 189 w 191"/>
                <a:gd name="T17" fmla="*/ 120 h 127"/>
                <a:gd name="T18" fmla="*/ 191 w 191"/>
                <a:gd name="T19" fmla="*/ 111 h 127"/>
                <a:gd name="T20" fmla="*/ 185 w 191"/>
                <a:gd name="T21" fmla="*/ 104 h 127"/>
                <a:gd name="T22" fmla="*/ 185 w 191"/>
                <a:gd name="T23" fmla="*/ 124 h 12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91"/>
                <a:gd name="T37" fmla="*/ 0 h 127"/>
                <a:gd name="T38" fmla="*/ 191 w 191"/>
                <a:gd name="T39" fmla="*/ 127 h 12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91" h="127">
                  <a:moveTo>
                    <a:pt x="185" y="124"/>
                  </a:moveTo>
                  <a:lnTo>
                    <a:pt x="185" y="104"/>
                  </a:lnTo>
                  <a:lnTo>
                    <a:pt x="12" y="0"/>
                  </a:lnTo>
                  <a:lnTo>
                    <a:pt x="0" y="22"/>
                  </a:lnTo>
                  <a:lnTo>
                    <a:pt x="172" y="125"/>
                  </a:lnTo>
                  <a:lnTo>
                    <a:pt x="172" y="105"/>
                  </a:lnTo>
                  <a:lnTo>
                    <a:pt x="172" y="125"/>
                  </a:lnTo>
                  <a:lnTo>
                    <a:pt x="182" y="127"/>
                  </a:lnTo>
                  <a:lnTo>
                    <a:pt x="189" y="120"/>
                  </a:lnTo>
                  <a:lnTo>
                    <a:pt x="191" y="111"/>
                  </a:lnTo>
                  <a:lnTo>
                    <a:pt x="185" y="104"/>
                  </a:lnTo>
                  <a:lnTo>
                    <a:pt x="185" y="1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13" name="Freeform 255"/>
            <p:cNvSpPr>
              <a:spLocks/>
            </p:cNvSpPr>
            <p:nvPr/>
          </p:nvSpPr>
          <p:spPr bwMode="auto">
            <a:xfrm>
              <a:off x="8724" y="9099"/>
              <a:ext cx="39" cy="32"/>
            </a:xfrm>
            <a:custGeom>
              <a:avLst/>
              <a:gdLst>
                <a:gd name="T0" fmla="*/ 15 w 78"/>
                <a:gd name="T1" fmla="*/ 43 h 64"/>
                <a:gd name="T2" fmla="*/ 17 w 78"/>
                <a:gd name="T3" fmla="*/ 63 h 64"/>
                <a:gd name="T4" fmla="*/ 78 w 78"/>
                <a:gd name="T5" fmla="*/ 19 h 64"/>
                <a:gd name="T6" fmla="*/ 65 w 78"/>
                <a:gd name="T7" fmla="*/ 0 h 64"/>
                <a:gd name="T8" fmla="*/ 4 w 78"/>
                <a:gd name="T9" fmla="*/ 44 h 64"/>
                <a:gd name="T10" fmla="*/ 6 w 78"/>
                <a:gd name="T11" fmla="*/ 64 h 64"/>
                <a:gd name="T12" fmla="*/ 4 w 78"/>
                <a:gd name="T13" fmla="*/ 44 h 64"/>
                <a:gd name="T14" fmla="*/ 0 w 78"/>
                <a:gd name="T15" fmla="*/ 52 h 64"/>
                <a:gd name="T16" fmla="*/ 1 w 78"/>
                <a:gd name="T17" fmla="*/ 60 h 64"/>
                <a:gd name="T18" fmla="*/ 7 w 78"/>
                <a:gd name="T19" fmla="*/ 64 h 64"/>
                <a:gd name="T20" fmla="*/ 17 w 78"/>
                <a:gd name="T21" fmla="*/ 63 h 64"/>
                <a:gd name="T22" fmla="*/ 15 w 78"/>
                <a:gd name="T23" fmla="*/ 43 h 6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8"/>
                <a:gd name="T37" fmla="*/ 0 h 64"/>
                <a:gd name="T38" fmla="*/ 78 w 78"/>
                <a:gd name="T39" fmla="*/ 64 h 6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8" h="64">
                  <a:moveTo>
                    <a:pt x="15" y="43"/>
                  </a:moveTo>
                  <a:lnTo>
                    <a:pt x="17" y="63"/>
                  </a:lnTo>
                  <a:lnTo>
                    <a:pt x="78" y="19"/>
                  </a:lnTo>
                  <a:lnTo>
                    <a:pt x="65" y="0"/>
                  </a:lnTo>
                  <a:lnTo>
                    <a:pt x="4" y="44"/>
                  </a:lnTo>
                  <a:lnTo>
                    <a:pt x="6" y="64"/>
                  </a:lnTo>
                  <a:lnTo>
                    <a:pt x="4" y="44"/>
                  </a:lnTo>
                  <a:lnTo>
                    <a:pt x="0" y="52"/>
                  </a:lnTo>
                  <a:lnTo>
                    <a:pt x="1" y="60"/>
                  </a:lnTo>
                  <a:lnTo>
                    <a:pt x="7" y="64"/>
                  </a:lnTo>
                  <a:lnTo>
                    <a:pt x="17" y="63"/>
                  </a:lnTo>
                  <a:lnTo>
                    <a:pt x="15" y="4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14" name="Freeform 256"/>
            <p:cNvSpPr>
              <a:spLocks/>
            </p:cNvSpPr>
            <p:nvPr/>
          </p:nvSpPr>
          <p:spPr bwMode="auto">
            <a:xfrm>
              <a:off x="8727" y="9120"/>
              <a:ext cx="95" cy="45"/>
            </a:xfrm>
            <a:custGeom>
              <a:avLst/>
              <a:gdLst>
                <a:gd name="T0" fmla="*/ 172 w 191"/>
                <a:gd name="T1" fmla="*/ 88 h 90"/>
                <a:gd name="T2" fmla="*/ 185 w 191"/>
                <a:gd name="T3" fmla="*/ 68 h 90"/>
                <a:gd name="T4" fmla="*/ 9 w 191"/>
                <a:gd name="T5" fmla="*/ 0 h 90"/>
                <a:gd name="T6" fmla="*/ 0 w 191"/>
                <a:gd name="T7" fmla="*/ 21 h 90"/>
                <a:gd name="T8" fmla="*/ 175 w 191"/>
                <a:gd name="T9" fmla="*/ 90 h 90"/>
                <a:gd name="T10" fmla="*/ 188 w 191"/>
                <a:gd name="T11" fmla="*/ 70 h 90"/>
                <a:gd name="T12" fmla="*/ 175 w 191"/>
                <a:gd name="T13" fmla="*/ 90 h 90"/>
                <a:gd name="T14" fmla="*/ 185 w 191"/>
                <a:gd name="T15" fmla="*/ 90 h 90"/>
                <a:gd name="T16" fmla="*/ 191 w 191"/>
                <a:gd name="T17" fmla="*/ 83 h 90"/>
                <a:gd name="T18" fmla="*/ 191 w 191"/>
                <a:gd name="T19" fmla="*/ 74 h 90"/>
                <a:gd name="T20" fmla="*/ 185 w 191"/>
                <a:gd name="T21" fmla="*/ 68 h 90"/>
                <a:gd name="T22" fmla="*/ 172 w 191"/>
                <a:gd name="T23" fmla="*/ 88 h 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91"/>
                <a:gd name="T37" fmla="*/ 0 h 90"/>
                <a:gd name="T38" fmla="*/ 191 w 191"/>
                <a:gd name="T39" fmla="*/ 90 h 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91" h="90">
                  <a:moveTo>
                    <a:pt x="172" y="88"/>
                  </a:moveTo>
                  <a:lnTo>
                    <a:pt x="185" y="68"/>
                  </a:lnTo>
                  <a:lnTo>
                    <a:pt x="9" y="0"/>
                  </a:lnTo>
                  <a:lnTo>
                    <a:pt x="0" y="21"/>
                  </a:lnTo>
                  <a:lnTo>
                    <a:pt x="175" y="90"/>
                  </a:lnTo>
                  <a:lnTo>
                    <a:pt x="188" y="70"/>
                  </a:lnTo>
                  <a:lnTo>
                    <a:pt x="175" y="90"/>
                  </a:lnTo>
                  <a:lnTo>
                    <a:pt x="185" y="90"/>
                  </a:lnTo>
                  <a:lnTo>
                    <a:pt x="191" y="83"/>
                  </a:lnTo>
                  <a:lnTo>
                    <a:pt x="191" y="74"/>
                  </a:lnTo>
                  <a:lnTo>
                    <a:pt x="185" y="68"/>
                  </a:lnTo>
                  <a:lnTo>
                    <a:pt x="172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15" name="Freeform 257"/>
            <p:cNvSpPr>
              <a:spLocks/>
            </p:cNvSpPr>
            <p:nvPr/>
          </p:nvSpPr>
          <p:spPr bwMode="auto">
            <a:xfrm>
              <a:off x="8761" y="9116"/>
              <a:ext cx="60" cy="48"/>
            </a:xfrm>
            <a:custGeom>
              <a:avLst/>
              <a:gdLst>
                <a:gd name="T0" fmla="*/ 5 w 121"/>
                <a:gd name="T1" fmla="*/ 3 h 96"/>
                <a:gd name="T2" fmla="*/ 5 w 121"/>
                <a:gd name="T3" fmla="*/ 22 h 96"/>
                <a:gd name="T4" fmla="*/ 105 w 121"/>
                <a:gd name="T5" fmla="*/ 96 h 96"/>
                <a:gd name="T6" fmla="*/ 121 w 121"/>
                <a:gd name="T7" fmla="*/ 78 h 96"/>
                <a:gd name="T8" fmla="*/ 20 w 121"/>
                <a:gd name="T9" fmla="*/ 3 h 96"/>
                <a:gd name="T10" fmla="*/ 20 w 121"/>
                <a:gd name="T11" fmla="*/ 22 h 96"/>
                <a:gd name="T12" fmla="*/ 20 w 121"/>
                <a:gd name="T13" fmla="*/ 3 h 96"/>
                <a:gd name="T14" fmla="*/ 11 w 121"/>
                <a:gd name="T15" fmla="*/ 0 h 96"/>
                <a:gd name="T16" fmla="*/ 3 w 121"/>
                <a:gd name="T17" fmla="*/ 5 h 96"/>
                <a:gd name="T18" fmla="*/ 0 w 121"/>
                <a:gd name="T19" fmla="*/ 14 h 96"/>
                <a:gd name="T20" fmla="*/ 5 w 121"/>
                <a:gd name="T21" fmla="*/ 22 h 96"/>
                <a:gd name="T22" fmla="*/ 5 w 121"/>
                <a:gd name="T23" fmla="*/ 3 h 9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1"/>
                <a:gd name="T37" fmla="*/ 0 h 96"/>
                <a:gd name="T38" fmla="*/ 121 w 121"/>
                <a:gd name="T39" fmla="*/ 96 h 9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1" h="96">
                  <a:moveTo>
                    <a:pt x="5" y="3"/>
                  </a:moveTo>
                  <a:lnTo>
                    <a:pt x="5" y="22"/>
                  </a:lnTo>
                  <a:lnTo>
                    <a:pt x="105" y="96"/>
                  </a:lnTo>
                  <a:lnTo>
                    <a:pt x="121" y="78"/>
                  </a:lnTo>
                  <a:lnTo>
                    <a:pt x="20" y="3"/>
                  </a:lnTo>
                  <a:lnTo>
                    <a:pt x="20" y="22"/>
                  </a:lnTo>
                  <a:lnTo>
                    <a:pt x="20" y="3"/>
                  </a:lnTo>
                  <a:lnTo>
                    <a:pt x="11" y="0"/>
                  </a:lnTo>
                  <a:lnTo>
                    <a:pt x="3" y="5"/>
                  </a:lnTo>
                  <a:lnTo>
                    <a:pt x="0" y="14"/>
                  </a:lnTo>
                  <a:lnTo>
                    <a:pt x="5" y="22"/>
                  </a:lnTo>
                  <a:lnTo>
                    <a:pt x="5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16" name="Freeform 258"/>
            <p:cNvSpPr>
              <a:spLocks/>
            </p:cNvSpPr>
            <p:nvPr/>
          </p:nvSpPr>
          <p:spPr bwMode="auto">
            <a:xfrm>
              <a:off x="8763" y="9093"/>
              <a:ext cx="40" cy="34"/>
            </a:xfrm>
            <a:custGeom>
              <a:avLst/>
              <a:gdLst>
                <a:gd name="T0" fmla="*/ 64 w 81"/>
                <a:gd name="T1" fmla="*/ 22 h 67"/>
                <a:gd name="T2" fmla="*/ 61 w 81"/>
                <a:gd name="T3" fmla="*/ 3 h 67"/>
                <a:gd name="T4" fmla="*/ 0 w 81"/>
                <a:gd name="T5" fmla="*/ 48 h 67"/>
                <a:gd name="T6" fmla="*/ 15 w 81"/>
                <a:gd name="T7" fmla="*/ 67 h 67"/>
                <a:gd name="T8" fmla="*/ 76 w 81"/>
                <a:gd name="T9" fmla="*/ 21 h 67"/>
                <a:gd name="T10" fmla="*/ 73 w 81"/>
                <a:gd name="T11" fmla="*/ 1 h 67"/>
                <a:gd name="T12" fmla="*/ 76 w 81"/>
                <a:gd name="T13" fmla="*/ 21 h 67"/>
                <a:gd name="T14" fmla="*/ 81 w 81"/>
                <a:gd name="T15" fmla="*/ 13 h 67"/>
                <a:gd name="T16" fmla="*/ 77 w 81"/>
                <a:gd name="T17" fmla="*/ 4 h 67"/>
                <a:gd name="T18" fmla="*/ 70 w 81"/>
                <a:gd name="T19" fmla="*/ 0 h 67"/>
                <a:gd name="T20" fmla="*/ 61 w 81"/>
                <a:gd name="T21" fmla="*/ 3 h 67"/>
                <a:gd name="T22" fmla="*/ 64 w 81"/>
                <a:gd name="T23" fmla="*/ 22 h 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1"/>
                <a:gd name="T37" fmla="*/ 0 h 67"/>
                <a:gd name="T38" fmla="*/ 81 w 81"/>
                <a:gd name="T39" fmla="*/ 67 h 6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1" h="67">
                  <a:moveTo>
                    <a:pt x="64" y="22"/>
                  </a:moveTo>
                  <a:lnTo>
                    <a:pt x="61" y="3"/>
                  </a:lnTo>
                  <a:lnTo>
                    <a:pt x="0" y="48"/>
                  </a:lnTo>
                  <a:lnTo>
                    <a:pt x="15" y="67"/>
                  </a:lnTo>
                  <a:lnTo>
                    <a:pt x="76" y="21"/>
                  </a:lnTo>
                  <a:lnTo>
                    <a:pt x="73" y="1"/>
                  </a:lnTo>
                  <a:lnTo>
                    <a:pt x="76" y="21"/>
                  </a:lnTo>
                  <a:lnTo>
                    <a:pt x="81" y="13"/>
                  </a:lnTo>
                  <a:lnTo>
                    <a:pt x="77" y="4"/>
                  </a:lnTo>
                  <a:lnTo>
                    <a:pt x="70" y="0"/>
                  </a:lnTo>
                  <a:lnTo>
                    <a:pt x="61" y="3"/>
                  </a:lnTo>
                  <a:lnTo>
                    <a:pt x="64" y="2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17" name="Freeform 259"/>
            <p:cNvSpPr>
              <a:spLocks/>
            </p:cNvSpPr>
            <p:nvPr/>
          </p:nvSpPr>
          <p:spPr bwMode="auto">
            <a:xfrm>
              <a:off x="8668" y="9046"/>
              <a:ext cx="131" cy="59"/>
            </a:xfrm>
            <a:custGeom>
              <a:avLst/>
              <a:gdLst>
                <a:gd name="T0" fmla="*/ 17 w 263"/>
                <a:gd name="T1" fmla="*/ 0 h 117"/>
                <a:gd name="T2" fmla="*/ 7 w 263"/>
                <a:gd name="T3" fmla="*/ 22 h 117"/>
                <a:gd name="T4" fmla="*/ 254 w 263"/>
                <a:gd name="T5" fmla="*/ 117 h 117"/>
                <a:gd name="T6" fmla="*/ 263 w 263"/>
                <a:gd name="T7" fmla="*/ 96 h 117"/>
                <a:gd name="T8" fmla="*/ 16 w 263"/>
                <a:gd name="T9" fmla="*/ 0 h 117"/>
                <a:gd name="T10" fmla="*/ 5 w 263"/>
                <a:gd name="T11" fmla="*/ 22 h 117"/>
                <a:gd name="T12" fmla="*/ 16 w 263"/>
                <a:gd name="T13" fmla="*/ 0 h 117"/>
                <a:gd name="T14" fmla="*/ 7 w 263"/>
                <a:gd name="T15" fmla="*/ 0 h 117"/>
                <a:gd name="T16" fmla="*/ 0 w 263"/>
                <a:gd name="T17" fmla="*/ 6 h 117"/>
                <a:gd name="T18" fmla="*/ 0 w 263"/>
                <a:gd name="T19" fmla="*/ 16 h 117"/>
                <a:gd name="T20" fmla="*/ 7 w 263"/>
                <a:gd name="T21" fmla="*/ 22 h 117"/>
                <a:gd name="T22" fmla="*/ 17 w 263"/>
                <a:gd name="T23" fmla="*/ 0 h 1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63"/>
                <a:gd name="T37" fmla="*/ 0 h 117"/>
                <a:gd name="T38" fmla="*/ 263 w 263"/>
                <a:gd name="T39" fmla="*/ 117 h 11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63" h="117">
                  <a:moveTo>
                    <a:pt x="17" y="0"/>
                  </a:moveTo>
                  <a:lnTo>
                    <a:pt x="7" y="22"/>
                  </a:lnTo>
                  <a:lnTo>
                    <a:pt x="254" y="117"/>
                  </a:lnTo>
                  <a:lnTo>
                    <a:pt x="263" y="96"/>
                  </a:lnTo>
                  <a:lnTo>
                    <a:pt x="16" y="0"/>
                  </a:lnTo>
                  <a:lnTo>
                    <a:pt x="5" y="22"/>
                  </a:lnTo>
                  <a:lnTo>
                    <a:pt x="16" y="0"/>
                  </a:lnTo>
                  <a:lnTo>
                    <a:pt x="7" y="0"/>
                  </a:lnTo>
                  <a:lnTo>
                    <a:pt x="0" y="6"/>
                  </a:lnTo>
                  <a:lnTo>
                    <a:pt x="0" y="16"/>
                  </a:lnTo>
                  <a:lnTo>
                    <a:pt x="7" y="22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18" name="Freeform 260"/>
            <p:cNvSpPr>
              <a:spLocks/>
            </p:cNvSpPr>
            <p:nvPr/>
          </p:nvSpPr>
          <p:spPr bwMode="auto">
            <a:xfrm>
              <a:off x="8681" y="9055"/>
              <a:ext cx="131" cy="102"/>
            </a:xfrm>
            <a:custGeom>
              <a:avLst/>
              <a:gdLst>
                <a:gd name="T0" fmla="*/ 0 w 263"/>
                <a:gd name="T1" fmla="*/ 0 h 203"/>
                <a:gd name="T2" fmla="*/ 229 w 263"/>
                <a:gd name="T3" fmla="*/ 89 h 203"/>
                <a:gd name="T4" fmla="*/ 170 w 263"/>
                <a:gd name="T5" fmla="*/ 133 h 203"/>
                <a:gd name="T6" fmla="*/ 263 w 263"/>
                <a:gd name="T7" fmla="*/ 203 h 203"/>
                <a:gd name="T8" fmla="*/ 100 w 263"/>
                <a:gd name="T9" fmla="*/ 140 h 203"/>
                <a:gd name="T10" fmla="*/ 161 w 263"/>
                <a:gd name="T11" fmla="*/ 95 h 203"/>
                <a:gd name="T12" fmla="*/ 0 w 263"/>
                <a:gd name="T13" fmla="*/ 0 h 2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63"/>
                <a:gd name="T22" fmla="*/ 0 h 203"/>
                <a:gd name="T23" fmla="*/ 263 w 263"/>
                <a:gd name="T24" fmla="*/ 203 h 20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63" h="203">
                  <a:moveTo>
                    <a:pt x="0" y="0"/>
                  </a:moveTo>
                  <a:lnTo>
                    <a:pt x="229" y="89"/>
                  </a:lnTo>
                  <a:lnTo>
                    <a:pt x="170" y="133"/>
                  </a:lnTo>
                  <a:lnTo>
                    <a:pt x="263" y="203"/>
                  </a:lnTo>
                  <a:lnTo>
                    <a:pt x="100" y="140"/>
                  </a:lnTo>
                  <a:lnTo>
                    <a:pt x="161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1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19" name="Freeform 261"/>
            <p:cNvSpPr>
              <a:spLocks/>
            </p:cNvSpPr>
            <p:nvPr/>
          </p:nvSpPr>
          <p:spPr bwMode="auto">
            <a:xfrm>
              <a:off x="8689" y="9059"/>
              <a:ext cx="120" cy="96"/>
            </a:xfrm>
            <a:custGeom>
              <a:avLst/>
              <a:gdLst>
                <a:gd name="T0" fmla="*/ 0 w 239"/>
                <a:gd name="T1" fmla="*/ 0 h 192"/>
                <a:gd name="T2" fmla="*/ 210 w 239"/>
                <a:gd name="T3" fmla="*/ 82 h 192"/>
                <a:gd name="T4" fmla="*/ 151 w 239"/>
                <a:gd name="T5" fmla="*/ 126 h 192"/>
                <a:gd name="T6" fmla="*/ 239 w 239"/>
                <a:gd name="T7" fmla="*/ 192 h 192"/>
                <a:gd name="T8" fmla="*/ 87 w 239"/>
                <a:gd name="T9" fmla="*/ 133 h 192"/>
                <a:gd name="T10" fmla="*/ 148 w 239"/>
                <a:gd name="T11" fmla="*/ 88 h 192"/>
                <a:gd name="T12" fmla="*/ 0 w 239"/>
                <a:gd name="T13" fmla="*/ 0 h 1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9"/>
                <a:gd name="T22" fmla="*/ 0 h 192"/>
                <a:gd name="T23" fmla="*/ 239 w 239"/>
                <a:gd name="T24" fmla="*/ 192 h 1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9" h="192">
                  <a:moveTo>
                    <a:pt x="0" y="0"/>
                  </a:moveTo>
                  <a:lnTo>
                    <a:pt x="210" y="82"/>
                  </a:lnTo>
                  <a:lnTo>
                    <a:pt x="151" y="126"/>
                  </a:lnTo>
                  <a:lnTo>
                    <a:pt x="239" y="192"/>
                  </a:lnTo>
                  <a:lnTo>
                    <a:pt x="87" y="133"/>
                  </a:lnTo>
                  <a:lnTo>
                    <a:pt x="148" y="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20" name="Freeform 262"/>
            <p:cNvSpPr>
              <a:spLocks/>
            </p:cNvSpPr>
            <p:nvPr/>
          </p:nvSpPr>
          <p:spPr bwMode="auto">
            <a:xfrm>
              <a:off x="8696" y="9063"/>
              <a:ext cx="108" cy="90"/>
            </a:xfrm>
            <a:custGeom>
              <a:avLst/>
              <a:gdLst>
                <a:gd name="T0" fmla="*/ 0 w 215"/>
                <a:gd name="T1" fmla="*/ 0 h 179"/>
                <a:gd name="T2" fmla="*/ 194 w 215"/>
                <a:gd name="T3" fmla="*/ 74 h 179"/>
                <a:gd name="T4" fmla="*/ 133 w 215"/>
                <a:gd name="T5" fmla="*/ 118 h 179"/>
                <a:gd name="T6" fmla="*/ 215 w 215"/>
                <a:gd name="T7" fmla="*/ 179 h 179"/>
                <a:gd name="T8" fmla="*/ 75 w 215"/>
                <a:gd name="T9" fmla="*/ 125 h 179"/>
                <a:gd name="T10" fmla="*/ 136 w 215"/>
                <a:gd name="T11" fmla="*/ 80 h 179"/>
                <a:gd name="T12" fmla="*/ 0 w 215"/>
                <a:gd name="T13" fmla="*/ 0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5"/>
                <a:gd name="T22" fmla="*/ 0 h 179"/>
                <a:gd name="T23" fmla="*/ 215 w 215"/>
                <a:gd name="T24" fmla="*/ 179 h 17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5" h="179">
                  <a:moveTo>
                    <a:pt x="0" y="0"/>
                  </a:moveTo>
                  <a:lnTo>
                    <a:pt x="194" y="74"/>
                  </a:lnTo>
                  <a:lnTo>
                    <a:pt x="133" y="118"/>
                  </a:lnTo>
                  <a:lnTo>
                    <a:pt x="215" y="179"/>
                  </a:lnTo>
                  <a:lnTo>
                    <a:pt x="75" y="125"/>
                  </a:lnTo>
                  <a:lnTo>
                    <a:pt x="136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21" name="Freeform 263"/>
            <p:cNvSpPr>
              <a:spLocks/>
            </p:cNvSpPr>
            <p:nvPr/>
          </p:nvSpPr>
          <p:spPr bwMode="auto">
            <a:xfrm>
              <a:off x="8704" y="9066"/>
              <a:ext cx="95" cy="84"/>
            </a:xfrm>
            <a:custGeom>
              <a:avLst/>
              <a:gdLst>
                <a:gd name="T0" fmla="*/ 0 w 191"/>
                <a:gd name="T1" fmla="*/ 0 h 169"/>
                <a:gd name="T2" fmla="*/ 176 w 191"/>
                <a:gd name="T3" fmla="*/ 68 h 169"/>
                <a:gd name="T4" fmla="*/ 115 w 191"/>
                <a:gd name="T5" fmla="*/ 112 h 169"/>
                <a:gd name="T6" fmla="*/ 191 w 191"/>
                <a:gd name="T7" fmla="*/ 169 h 169"/>
                <a:gd name="T8" fmla="*/ 63 w 191"/>
                <a:gd name="T9" fmla="*/ 119 h 169"/>
                <a:gd name="T10" fmla="*/ 124 w 191"/>
                <a:gd name="T11" fmla="*/ 74 h 169"/>
                <a:gd name="T12" fmla="*/ 0 w 191"/>
                <a:gd name="T13" fmla="*/ 0 h 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1"/>
                <a:gd name="T22" fmla="*/ 0 h 169"/>
                <a:gd name="T23" fmla="*/ 191 w 191"/>
                <a:gd name="T24" fmla="*/ 169 h 16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1" h="169">
                  <a:moveTo>
                    <a:pt x="0" y="0"/>
                  </a:moveTo>
                  <a:lnTo>
                    <a:pt x="176" y="68"/>
                  </a:lnTo>
                  <a:lnTo>
                    <a:pt x="115" y="112"/>
                  </a:lnTo>
                  <a:lnTo>
                    <a:pt x="191" y="169"/>
                  </a:lnTo>
                  <a:lnTo>
                    <a:pt x="63" y="119"/>
                  </a:lnTo>
                  <a:lnTo>
                    <a:pt x="124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22" name="Freeform 264"/>
            <p:cNvSpPr>
              <a:spLocks/>
            </p:cNvSpPr>
            <p:nvPr/>
          </p:nvSpPr>
          <p:spPr bwMode="auto">
            <a:xfrm>
              <a:off x="8711" y="9070"/>
              <a:ext cx="84" cy="78"/>
            </a:xfrm>
            <a:custGeom>
              <a:avLst/>
              <a:gdLst>
                <a:gd name="T0" fmla="*/ 0 w 168"/>
                <a:gd name="T1" fmla="*/ 0 h 156"/>
                <a:gd name="T2" fmla="*/ 159 w 168"/>
                <a:gd name="T3" fmla="*/ 62 h 156"/>
                <a:gd name="T4" fmla="*/ 99 w 168"/>
                <a:gd name="T5" fmla="*/ 106 h 156"/>
                <a:gd name="T6" fmla="*/ 168 w 168"/>
                <a:gd name="T7" fmla="*/ 156 h 156"/>
                <a:gd name="T8" fmla="*/ 52 w 168"/>
                <a:gd name="T9" fmla="*/ 111 h 156"/>
                <a:gd name="T10" fmla="*/ 113 w 168"/>
                <a:gd name="T11" fmla="*/ 66 h 156"/>
                <a:gd name="T12" fmla="*/ 0 w 168"/>
                <a:gd name="T13" fmla="*/ 0 h 1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8"/>
                <a:gd name="T22" fmla="*/ 0 h 156"/>
                <a:gd name="T23" fmla="*/ 168 w 168"/>
                <a:gd name="T24" fmla="*/ 156 h 1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8" h="156">
                  <a:moveTo>
                    <a:pt x="0" y="0"/>
                  </a:moveTo>
                  <a:lnTo>
                    <a:pt x="159" y="62"/>
                  </a:lnTo>
                  <a:lnTo>
                    <a:pt x="99" y="106"/>
                  </a:lnTo>
                  <a:lnTo>
                    <a:pt x="168" y="156"/>
                  </a:lnTo>
                  <a:lnTo>
                    <a:pt x="52" y="111"/>
                  </a:lnTo>
                  <a:lnTo>
                    <a:pt x="113" y="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23" name="Freeform 265"/>
            <p:cNvSpPr>
              <a:spLocks/>
            </p:cNvSpPr>
            <p:nvPr/>
          </p:nvSpPr>
          <p:spPr bwMode="auto">
            <a:xfrm>
              <a:off x="8719" y="9074"/>
              <a:ext cx="72" cy="72"/>
            </a:xfrm>
            <a:custGeom>
              <a:avLst/>
              <a:gdLst>
                <a:gd name="T0" fmla="*/ 0 w 145"/>
                <a:gd name="T1" fmla="*/ 0 h 145"/>
                <a:gd name="T2" fmla="*/ 142 w 145"/>
                <a:gd name="T3" fmla="*/ 55 h 145"/>
                <a:gd name="T4" fmla="*/ 81 w 145"/>
                <a:gd name="T5" fmla="*/ 99 h 145"/>
                <a:gd name="T6" fmla="*/ 145 w 145"/>
                <a:gd name="T7" fmla="*/ 145 h 145"/>
                <a:gd name="T8" fmla="*/ 40 w 145"/>
                <a:gd name="T9" fmla="*/ 104 h 145"/>
                <a:gd name="T10" fmla="*/ 101 w 145"/>
                <a:gd name="T11" fmla="*/ 59 h 145"/>
                <a:gd name="T12" fmla="*/ 0 w 145"/>
                <a:gd name="T13" fmla="*/ 0 h 1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5"/>
                <a:gd name="T22" fmla="*/ 0 h 145"/>
                <a:gd name="T23" fmla="*/ 145 w 145"/>
                <a:gd name="T24" fmla="*/ 145 h 1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5" h="145">
                  <a:moveTo>
                    <a:pt x="0" y="0"/>
                  </a:moveTo>
                  <a:lnTo>
                    <a:pt x="142" y="55"/>
                  </a:lnTo>
                  <a:lnTo>
                    <a:pt x="81" y="99"/>
                  </a:lnTo>
                  <a:lnTo>
                    <a:pt x="145" y="145"/>
                  </a:lnTo>
                  <a:lnTo>
                    <a:pt x="40" y="104"/>
                  </a:lnTo>
                  <a:lnTo>
                    <a:pt x="101" y="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24" name="Freeform 266"/>
            <p:cNvSpPr>
              <a:spLocks/>
            </p:cNvSpPr>
            <p:nvPr/>
          </p:nvSpPr>
          <p:spPr bwMode="auto">
            <a:xfrm>
              <a:off x="8726" y="9077"/>
              <a:ext cx="62" cy="66"/>
            </a:xfrm>
            <a:custGeom>
              <a:avLst/>
              <a:gdLst>
                <a:gd name="T0" fmla="*/ 0 w 124"/>
                <a:gd name="T1" fmla="*/ 0 h 130"/>
                <a:gd name="T2" fmla="*/ 124 w 124"/>
                <a:gd name="T3" fmla="*/ 47 h 130"/>
                <a:gd name="T4" fmla="*/ 63 w 124"/>
                <a:gd name="T5" fmla="*/ 91 h 130"/>
                <a:gd name="T6" fmla="*/ 121 w 124"/>
                <a:gd name="T7" fmla="*/ 130 h 130"/>
                <a:gd name="T8" fmla="*/ 28 w 124"/>
                <a:gd name="T9" fmla="*/ 96 h 130"/>
                <a:gd name="T10" fmla="*/ 89 w 124"/>
                <a:gd name="T11" fmla="*/ 51 h 130"/>
                <a:gd name="T12" fmla="*/ 0 w 124"/>
                <a:gd name="T13" fmla="*/ 0 h 1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"/>
                <a:gd name="T22" fmla="*/ 0 h 130"/>
                <a:gd name="T23" fmla="*/ 124 w 124"/>
                <a:gd name="T24" fmla="*/ 130 h 13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" h="130">
                  <a:moveTo>
                    <a:pt x="0" y="0"/>
                  </a:moveTo>
                  <a:lnTo>
                    <a:pt x="124" y="47"/>
                  </a:lnTo>
                  <a:lnTo>
                    <a:pt x="63" y="91"/>
                  </a:lnTo>
                  <a:lnTo>
                    <a:pt x="121" y="130"/>
                  </a:lnTo>
                  <a:lnTo>
                    <a:pt x="28" y="96"/>
                  </a:lnTo>
                  <a:lnTo>
                    <a:pt x="89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25" name="Freeform 267"/>
            <p:cNvSpPr>
              <a:spLocks/>
            </p:cNvSpPr>
            <p:nvPr/>
          </p:nvSpPr>
          <p:spPr bwMode="auto">
            <a:xfrm>
              <a:off x="8734" y="9081"/>
              <a:ext cx="52" cy="59"/>
            </a:xfrm>
            <a:custGeom>
              <a:avLst/>
              <a:gdLst>
                <a:gd name="T0" fmla="*/ 0 w 105"/>
                <a:gd name="T1" fmla="*/ 0 h 119"/>
                <a:gd name="T2" fmla="*/ 105 w 105"/>
                <a:gd name="T3" fmla="*/ 40 h 119"/>
                <a:gd name="T4" fmla="*/ 45 w 105"/>
                <a:gd name="T5" fmla="*/ 84 h 119"/>
                <a:gd name="T6" fmla="*/ 96 w 105"/>
                <a:gd name="T7" fmla="*/ 119 h 119"/>
                <a:gd name="T8" fmla="*/ 15 w 105"/>
                <a:gd name="T9" fmla="*/ 89 h 119"/>
                <a:gd name="T10" fmla="*/ 74 w 105"/>
                <a:gd name="T11" fmla="*/ 44 h 119"/>
                <a:gd name="T12" fmla="*/ 0 w 105"/>
                <a:gd name="T13" fmla="*/ 0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5"/>
                <a:gd name="T22" fmla="*/ 0 h 119"/>
                <a:gd name="T23" fmla="*/ 105 w 105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5" h="119">
                  <a:moveTo>
                    <a:pt x="0" y="0"/>
                  </a:moveTo>
                  <a:lnTo>
                    <a:pt x="105" y="40"/>
                  </a:lnTo>
                  <a:lnTo>
                    <a:pt x="45" y="84"/>
                  </a:lnTo>
                  <a:lnTo>
                    <a:pt x="96" y="119"/>
                  </a:lnTo>
                  <a:lnTo>
                    <a:pt x="15" y="89"/>
                  </a:lnTo>
                  <a:lnTo>
                    <a:pt x="74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26" name="Freeform 268"/>
            <p:cNvSpPr>
              <a:spLocks/>
            </p:cNvSpPr>
            <p:nvPr/>
          </p:nvSpPr>
          <p:spPr bwMode="auto">
            <a:xfrm>
              <a:off x="8741" y="9084"/>
              <a:ext cx="44" cy="54"/>
            </a:xfrm>
            <a:custGeom>
              <a:avLst/>
              <a:gdLst>
                <a:gd name="T0" fmla="*/ 0 w 89"/>
                <a:gd name="T1" fmla="*/ 0 h 108"/>
                <a:gd name="T2" fmla="*/ 89 w 89"/>
                <a:gd name="T3" fmla="*/ 35 h 108"/>
                <a:gd name="T4" fmla="*/ 29 w 89"/>
                <a:gd name="T5" fmla="*/ 79 h 108"/>
                <a:gd name="T6" fmla="*/ 74 w 89"/>
                <a:gd name="T7" fmla="*/ 108 h 108"/>
                <a:gd name="T8" fmla="*/ 5 w 89"/>
                <a:gd name="T9" fmla="*/ 83 h 108"/>
                <a:gd name="T10" fmla="*/ 64 w 89"/>
                <a:gd name="T11" fmla="*/ 38 h 108"/>
                <a:gd name="T12" fmla="*/ 0 w 89"/>
                <a:gd name="T13" fmla="*/ 0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9"/>
                <a:gd name="T22" fmla="*/ 0 h 108"/>
                <a:gd name="T23" fmla="*/ 89 w 89"/>
                <a:gd name="T24" fmla="*/ 108 h 1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9" h="108">
                  <a:moveTo>
                    <a:pt x="0" y="0"/>
                  </a:moveTo>
                  <a:lnTo>
                    <a:pt x="89" y="35"/>
                  </a:lnTo>
                  <a:lnTo>
                    <a:pt x="29" y="79"/>
                  </a:lnTo>
                  <a:lnTo>
                    <a:pt x="74" y="108"/>
                  </a:lnTo>
                  <a:lnTo>
                    <a:pt x="5" y="83"/>
                  </a:lnTo>
                  <a:lnTo>
                    <a:pt x="64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27" name="Freeform 269"/>
            <p:cNvSpPr>
              <a:spLocks/>
            </p:cNvSpPr>
            <p:nvPr/>
          </p:nvSpPr>
          <p:spPr bwMode="auto">
            <a:xfrm>
              <a:off x="8745" y="9088"/>
              <a:ext cx="39" cy="48"/>
            </a:xfrm>
            <a:custGeom>
              <a:avLst/>
              <a:gdLst>
                <a:gd name="T0" fmla="*/ 8 w 79"/>
                <a:gd name="T1" fmla="*/ 0 h 96"/>
                <a:gd name="T2" fmla="*/ 60 w 79"/>
                <a:gd name="T3" fmla="*/ 30 h 96"/>
                <a:gd name="T4" fmla="*/ 0 w 79"/>
                <a:gd name="T5" fmla="*/ 75 h 96"/>
                <a:gd name="T6" fmla="*/ 58 w 79"/>
                <a:gd name="T7" fmla="*/ 96 h 96"/>
                <a:gd name="T8" fmla="*/ 18 w 79"/>
                <a:gd name="T9" fmla="*/ 71 h 96"/>
                <a:gd name="T10" fmla="*/ 79 w 79"/>
                <a:gd name="T11" fmla="*/ 27 h 96"/>
                <a:gd name="T12" fmla="*/ 8 w 79"/>
                <a:gd name="T13" fmla="*/ 0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9"/>
                <a:gd name="T22" fmla="*/ 0 h 96"/>
                <a:gd name="T23" fmla="*/ 79 w 79"/>
                <a:gd name="T24" fmla="*/ 96 h 9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9" h="96">
                  <a:moveTo>
                    <a:pt x="8" y="0"/>
                  </a:moveTo>
                  <a:lnTo>
                    <a:pt x="60" y="30"/>
                  </a:lnTo>
                  <a:lnTo>
                    <a:pt x="0" y="75"/>
                  </a:lnTo>
                  <a:lnTo>
                    <a:pt x="58" y="96"/>
                  </a:lnTo>
                  <a:lnTo>
                    <a:pt x="18" y="71"/>
                  </a:lnTo>
                  <a:lnTo>
                    <a:pt x="79" y="27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28" name="Freeform 270"/>
            <p:cNvSpPr>
              <a:spLocks/>
            </p:cNvSpPr>
            <p:nvPr/>
          </p:nvSpPr>
          <p:spPr bwMode="auto">
            <a:xfrm>
              <a:off x="8579" y="9273"/>
              <a:ext cx="178" cy="66"/>
            </a:xfrm>
            <a:custGeom>
              <a:avLst/>
              <a:gdLst>
                <a:gd name="T0" fmla="*/ 0 w 355"/>
                <a:gd name="T1" fmla="*/ 108 h 133"/>
                <a:gd name="T2" fmla="*/ 194 w 355"/>
                <a:gd name="T3" fmla="*/ 58 h 133"/>
                <a:gd name="T4" fmla="*/ 183 w 355"/>
                <a:gd name="T5" fmla="*/ 133 h 133"/>
                <a:gd name="T6" fmla="*/ 355 w 355"/>
                <a:gd name="T7" fmla="*/ 57 h 133"/>
                <a:gd name="T8" fmla="*/ 232 w 355"/>
                <a:gd name="T9" fmla="*/ 75 h 133"/>
                <a:gd name="T10" fmla="*/ 243 w 355"/>
                <a:gd name="T11" fmla="*/ 0 h 133"/>
                <a:gd name="T12" fmla="*/ 0 w 355"/>
                <a:gd name="T13" fmla="*/ 108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55"/>
                <a:gd name="T22" fmla="*/ 0 h 133"/>
                <a:gd name="T23" fmla="*/ 355 w 355"/>
                <a:gd name="T24" fmla="*/ 133 h 1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55" h="133">
                  <a:moveTo>
                    <a:pt x="0" y="108"/>
                  </a:moveTo>
                  <a:lnTo>
                    <a:pt x="194" y="58"/>
                  </a:lnTo>
                  <a:lnTo>
                    <a:pt x="183" y="133"/>
                  </a:lnTo>
                  <a:lnTo>
                    <a:pt x="355" y="57"/>
                  </a:lnTo>
                  <a:lnTo>
                    <a:pt x="232" y="75"/>
                  </a:lnTo>
                  <a:lnTo>
                    <a:pt x="243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29" name="Freeform 271"/>
            <p:cNvSpPr>
              <a:spLocks/>
            </p:cNvSpPr>
            <p:nvPr/>
          </p:nvSpPr>
          <p:spPr bwMode="auto">
            <a:xfrm>
              <a:off x="8577" y="9296"/>
              <a:ext cx="105" cy="37"/>
            </a:xfrm>
            <a:custGeom>
              <a:avLst/>
              <a:gdLst>
                <a:gd name="T0" fmla="*/ 209 w 209"/>
                <a:gd name="T1" fmla="*/ 14 h 75"/>
                <a:gd name="T2" fmla="*/ 194 w 209"/>
                <a:gd name="T3" fmla="*/ 0 h 75"/>
                <a:gd name="T4" fmla="*/ 0 w 209"/>
                <a:gd name="T5" fmla="*/ 50 h 75"/>
                <a:gd name="T6" fmla="*/ 6 w 209"/>
                <a:gd name="T7" fmla="*/ 75 h 75"/>
                <a:gd name="T8" fmla="*/ 200 w 209"/>
                <a:gd name="T9" fmla="*/ 24 h 75"/>
                <a:gd name="T10" fmla="*/ 184 w 209"/>
                <a:gd name="T11" fmla="*/ 11 h 75"/>
                <a:gd name="T12" fmla="*/ 200 w 209"/>
                <a:gd name="T13" fmla="*/ 24 h 75"/>
                <a:gd name="T14" fmla="*/ 207 w 209"/>
                <a:gd name="T15" fmla="*/ 18 h 75"/>
                <a:gd name="T16" fmla="*/ 209 w 209"/>
                <a:gd name="T17" fmla="*/ 9 h 75"/>
                <a:gd name="T18" fmla="*/ 203 w 209"/>
                <a:gd name="T19" fmla="*/ 2 h 75"/>
                <a:gd name="T20" fmla="*/ 194 w 209"/>
                <a:gd name="T21" fmla="*/ 0 h 75"/>
                <a:gd name="T22" fmla="*/ 209 w 209"/>
                <a:gd name="T23" fmla="*/ 14 h 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9"/>
                <a:gd name="T37" fmla="*/ 0 h 75"/>
                <a:gd name="T38" fmla="*/ 209 w 209"/>
                <a:gd name="T39" fmla="*/ 75 h 7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9" h="75">
                  <a:moveTo>
                    <a:pt x="209" y="14"/>
                  </a:moveTo>
                  <a:lnTo>
                    <a:pt x="194" y="0"/>
                  </a:lnTo>
                  <a:lnTo>
                    <a:pt x="0" y="50"/>
                  </a:lnTo>
                  <a:lnTo>
                    <a:pt x="6" y="75"/>
                  </a:lnTo>
                  <a:lnTo>
                    <a:pt x="200" y="24"/>
                  </a:lnTo>
                  <a:lnTo>
                    <a:pt x="184" y="11"/>
                  </a:lnTo>
                  <a:lnTo>
                    <a:pt x="200" y="24"/>
                  </a:lnTo>
                  <a:lnTo>
                    <a:pt x="207" y="18"/>
                  </a:lnTo>
                  <a:lnTo>
                    <a:pt x="209" y="9"/>
                  </a:lnTo>
                  <a:lnTo>
                    <a:pt x="203" y="2"/>
                  </a:lnTo>
                  <a:lnTo>
                    <a:pt x="194" y="0"/>
                  </a:lnTo>
                  <a:lnTo>
                    <a:pt x="20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30" name="Freeform 272"/>
            <p:cNvSpPr>
              <a:spLocks/>
            </p:cNvSpPr>
            <p:nvPr/>
          </p:nvSpPr>
          <p:spPr bwMode="auto">
            <a:xfrm>
              <a:off x="8664" y="9301"/>
              <a:ext cx="18" cy="43"/>
            </a:xfrm>
            <a:custGeom>
              <a:avLst/>
              <a:gdLst>
                <a:gd name="T0" fmla="*/ 7 w 35"/>
                <a:gd name="T1" fmla="*/ 65 h 86"/>
                <a:gd name="T2" fmla="*/ 24 w 35"/>
                <a:gd name="T3" fmla="*/ 77 h 86"/>
                <a:gd name="T4" fmla="*/ 35 w 35"/>
                <a:gd name="T5" fmla="*/ 3 h 86"/>
                <a:gd name="T6" fmla="*/ 10 w 35"/>
                <a:gd name="T7" fmla="*/ 0 h 86"/>
                <a:gd name="T8" fmla="*/ 0 w 35"/>
                <a:gd name="T9" fmla="*/ 74 h 86"/>
                <a:gd name="T10" fmla="*/ 17 w 35"/>
                <a:gd name="T11" fmla="*/ 86 h 86"/>
                <a:gd name="T12" fmla="*/ 0 w 35"/>
                <a:gd name="T13" fmla="*/ 74 h 86"/>
                <a:gd name="T14" fmla="*/ 3 w 35"/>
                <a:gd name="T15" fmla="*/ 83 h 86"/>
                <a:gd name="T16" fmla="*/ 10 w 35"/>
                <a:gd name="T17" fmla="*/ 86 h 86"/>
                <a:gd name="T18" fmla="*/ 20 w 35"/>
                <a:gd name="T19" fmla="*/ 85 h 86"/>
                <a:gd name="T20" fmla="*/ 24 w 35"/>
                <a:gd name="T21" fmla="*/ 77 h 86"/>
                <a:gd name="T22" fmla="*/ 7 w 35"/>
                <a:gd name="T23" fmla="*/ 65 h 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5"/>
                <a:gd name="T37" fmla="*/ 0 h 86"/>
                <a:gd name="T38" fmla="*/ 35 w 35"/>
                <a:gd name="T39" fmla="*/ 86 h 8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5" h="86">
                  <a:moveTo>
                    <a:pt x="7" y="65"/>
                  </a:moveTo>
                  <a:lnTo>
                    <a:pt x="24" y="77"/>
                  </a:lnTo>
                  <a:lnTo>
                    <a:pt x="35" y="3"/>
                  </a:lnTo>
                  <a:lnTo>
                    <a:pt x="10" y="0"/>
                  </a:lnTo>
                  <a:lnTo>
                    <a:pt x="0" y="74"/>
                  </a:lnTo>
                  <a:lnTo>
                    <a:pt x="17" y="86"/>
                  </a:lnTo>
                  <a:lnTo>
                    <a:pt x="0" y="74"/>
                  </a:lnTo>
                  <a:lnTo>
                    <a:pt x="3" y="83"/>
                  </a:lnTo>
                  <a:lnTo>
                    <a:pt x="10" y="86"/>
                  </a:lnTo>
                  <a:lnTo>
                    <a:pt x="20" y="85"/>
                  </a:lnTo>
                  <a:lnTo>
                    <a:pt x="24" y="77"/>
                  </a:lnTo>
                  <a:lnTo>
                    <a:pt x="7" y="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31" name="Freeform 273"/>
            <p:cNvSpPr>
              <a:spLocks/>
            </p:cNvSpPr>
            <p:nvPr/>
          </p:nvSpPr>
          <p:spPr bwMode="auto">
            <a:xfrm>
              <a:off x="8668" y="9295"/>
              <a:ext cx="94" cy="49"/>
            </a:xfrm>
            <a:custGeom>
              <a:avLst/>
              <a:gdLst>
                <a:gd name="T0" fmla="*/ 179 w 188"/>
                <a:gd name="T1" fmla="*/ 24 h 98"/>
                <a:gd name="T2" fmla="*/ 173 w 188"/>
                <a:gd name="T3" fmla="*/ 1 h 98"/>
                <a:gd name="T4" fmla="*/ 0 w 188"/>
                <a:gd name="T5" fmla="*/ 77 h 98"/>
                <a:gd name="T6" fmla="*/ 10 w 188"/>
                <a:gd name="T7" fmla="*/ 98 h 98"/>
                <a:gd name="T8" fmla="*/ 182 w 188"/>
                <a:gd name="T9" fmla="*/ 22 h 98"/>
                <a:gd name="T10" fmla="*/ 176 w 188"/>
                <a:gd name="T11" fmla="*/ 0 h 98"/>
                <a:gd name="T12" fmla="*/ 182 w 188"/>
                <a:gd name="T13" fmla="*/ 22 h 98"/>
                <a:gd name="T14" fmla="*/ 188 w 188"/>
                <a:gd name="T15" fmla="*/ 16 h 98"/>
                <a:gd name="T16" fmla="*/ 188 w 188"/>
                <a:gd name="T17" fmla="*/ 7 h 98"/>
                <a:gd name="T18" fmla="*/ 182 w 188"/>
                <a:gd name="T19" fmla="*/ 1 h 98"/>
                <a:gd name="T20" fmla="*/ 173 w 188"/>
                <a:gd name="T21" fmla="*/ 1 h 98"/>
                <a:gd name="T22" fmla="*/ 179 w 188"/>
                <a:gd name="T23" fmla="*/ 24 h 9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88"/>
                <a:gd name="T37" fmla="*/ 0 h 98"/>
                <a:gd name="T38" fmla="*/ 188 w 188"/>
                <a:gd name="T39" fmla="*/ 98 h 9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88" h="98">
                  <a:moveTo>
                    <a:pt x="179" y="24"/>
                  </a:moveTo>
                  <a:lnTo>
                    <a:pt x="173" y="1"/>
                  </a:lnTo>
                  <a:lnTo>
                    <a:pt x="0" y="77"/>
                  </a:lnTo>
                  <a:lnTo>
                    <a:pt x="10" y="98"/>
                  </a:lnTo>
                  <a:lnTo>
                    <a:pt x="182" y="22"/>
                  </a:lnTo>
                  <a:lnTo>
                    <a:pt x="176" y="0"/>
                  </a:lnTo>
                  <a:lnTo>
                    <a:pt x="182" y="22"/>
                  </a:lnTo>
                  <a:lnTo>
                    <a:pt x="188" y="16"/>
                  </a:lnTo>
                  <a:lnTo>
                    <a:pt x="188" y="7"/>
                  </a:lnTo>
                  <a:lnTo>
                    <a:pt x="182" y="1"/>
                  </a:lnTo>
                  <a:lnTo>
                    <a:pt x="173" y="1"/>
                  </a:lnTo>
                  <a:lnTo>
                    <a:pt x="179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32" name="Freeform 274"/>
            <p:cNvSpPr>
              <a:spLocks/>
            </p:cNvSpPr>
            <p:nvPr/>
          </p:nvSpPr>
          <p:spPr bwMode="auto">
            <a:xfrm>
              <a:off x="8689" y="9295"/>
              <a:ext cx="68" cy="21"/>
            </a:xfrm>
            <a:custGeom>
              <a:avLst/>
              <a:gdLst>
                <a:gd name="T0" fmla="*/ 0 w 137"/>
                <a:gd name="T1" fmla="*/ 28 h 42"/>
                <a:gd name="T2" fmla="*/ 13 w 137"/>
                <a:gd name="T3" fmla="*/ 42 h 42"/>
                <a:gd name="T4" fmla="*/ 137 w 137"/>
                <a:gd name="T5" fmla="*/ 24 h 42"/>
                <a:gd name="T6" fmla="*/ 134 w 137"/>
                <a:gd name="T7" fmla="*/ 0 h 42"/>
                <a:gd name="T8" fmla="*/ 10 w 137"/>
                <a:gd name="T9" fmla="*/ 18 h 42"/>
                <a:gd name="T10" fmla="*/ 24 w 137"/>
                <a:gd name="T11" fmla="*/ 31 h 42"/>
                <a:gd name="T12" fmla="*/ 10 w 137"/>
                <a:gd name="T13" fmla="*/ 18 h 42"/>
                <a:gd name="T14" fmla="*/ 3 w 137"/>
                <a:gd name="T15" fmla="*/ 22 h 42"/>
                <a:gd name="T16" fmla="*/ 1 w 137"/>
                <a:gd name="T17" fmla="*/ 31 h 42"/>
                <a:gd name="T18" fmla="*/ 4 w 137"/>
                <a:gd name="T19" fmla="*/ 39 h 42"/>
                <a:gd name="T20" fmla="*/ 13 w 137"/>
                <a:gd name="T21" fmla="*/ 42 h 42"/>
                <a:gd name="T22" fmla="*/ 0 w 137"/>
                <a:gd name="T23" fmla="*/ 28 h 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7"/>
                <a:gd name="T37" fmla="*/ 0 h 42"/>
                <a:gd name="T38" fmla="*/ 137 w 137"/>
                <a:gd name="T39" fmla="*/ 42 h 4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7" h="42">
                  <a:moveTo>
                    <a:pt x="0" y="28"/>
                  </a:moveTo>
                  <a:lnTo>
                    <a:pt x="13" y="42"/>
                  </a:lnTo>
                  <a:lnTo>
                    <a:pt x="137" y="24"/>
                  </a:lnTo>
                  <a:lnTo>
                    <a:pt x="134" y="0"/>
                  </a:lnTo>
                  <a:lnTo>
                    <a:pt x="10" y="18"/>
                  </a:lnTo>
                  <a:lnTo>
                    <a:pt x="24" y="31"/>
                  </a:lnTo>
                  <a:lnTo>
                    <a:pt x="10" y="18"/>
                  </a:lnTo>
                  <a:lnTo>
                    <a:pt x="3" y="22"/>
                  </a:lnTo>
                  <a:lnTo>
                    <a:pt x="1" y="31"/>
                  </a:lnTo>
                  <a:lnTo>
                    <a:pt x="4" y="39"/>
                  </a:lnTo>
                  <a:lnTo>
                    <a:pt x="13" y="42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33" name="Freeform 275"/>
            <p:cNvSpPr>
              <a:spLocks/>
            </p:cNvSpPr>
            <p:nvPr/>
          </p:nvSpPr>
          <p:spPr bwMode="auto">
            <a:xfrm>
              <a:off x="8689" y="9267"/>
              <a:ext cx="17" cy="44"/>
            </a:xfrm>
            <a:custGeom>
              <a:avLst/>
              <a:gdLst>
                <a:gd name="T0" fmla="*/ 27 w 35"/>
                <a:gd name="T1" fmla="*/ 23 h 88"/>
                <a:gd name="T2" fmla="*/ 10 w 35"/>
                <a:gd name="T3" fmla="*/ 11 h 88"/>
                <a:gd name="T4" fmla="*/ 0 w 35"/>
                <a:gd name="T5" fmla="*/ 85 h 88"/>
                <a:gd name="T6" fmla="*/ 24 w 35"/>
                <a:gd name="T7" fmla="*/ 88 h 88"/>
                <a:gd name="T8" fmla="*/ 35 w 35"/>
                <a:gd name="T9" fmla="*/ 14 h 88"/>
                <a:gd name="T10" fmla="*/ 18 w 35"/>
                <a:gd name="T11" fmla="*/ 2 h 88"/>
                <a:gd name="T12" fmla="*/ 35 w 35"/>
                <a:gd name="T13" fmla="*/ 14 h 88"/>
                <a:gd name="T14" fmla="*/ 32 w 35"/>
                <a:gd name="T15" fmla="*/ 5 h 88"/>
                <a:gd name="T16" fmla="*/ 24 w 35"/>
                <a:gd name="T17" fmla="*/ 0 h 88"/>
                <a:gd name="T18" fmla="*/ 15 w 35"/>
                <a:gd name="T19" fmla="*/ 3 h 88"/>
                <a:gd name="T20" fmla="*/ 10 w 35"/>
                <a:gd name="T21" fmla="*/ 11 h 88"/>
                <a:gd name="T22" fmla="*/ 27 w 35"/>
                <a:gd name="T23" fmla="*/ 23 h 8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5"/>
                <a:gd name="T37" fmla="*/ 0 h 88"/>
                <a:gd name="T38" fmla="*/ 35 w 35"/>
                <a:gd name="T39" fmla="*/ 88 h 8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5" h="88">
                  <a:moveTo>
                    <a:pt x="27" y="23"/>
                  </a:moveTo>
                  <a:lnTo>
                    <a:pt x="10" y="11"/>
                  </a:lnTo>
                  <a:lnTo>
                    <a:pt x="0" y="85"/>
                  </a:lnTo>
                  <a:lnTo>
                    <a:pt x="24" y="88"/>
                  </a:lnTo>
                  <a:lnTo>
                    <a:pt x="35" y="14"/>
                  </a:lnTo>
                  <a:lnTo>
                    <a:pt x="18" y="2"/>
                  </a:lnTo>
                  <a:lnTo>
                    <a:pt x="35" y="14"/>
                  </a:lnTo>
                  <a:lnTo>
                    <a:pt x="32" y="5"/>
                  </a:lnTo>
                  <a:lnTo>
                    <a:pt x="24" y="0"/>
                  </a:lnTo>
                  <a:lnTo>
                    <a:pt x="15" y="3"/>
                  </a:lnTo>
                  <a:lnTo>
                    <a:pt x="10" y="11"/>
                  </a:lnTo>
                  <a:lnTo>
                    <a:pt x="27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34" name="Freeform 276"/>
            <p:cNvSpPr>
              <a:spLocks/>
            </p:cNvSpPr>
            <p:nvPr/>
          </p:nvSpPr>
          <p:spPr bwMode="auto">
            <a:xfrm>
              <a:off x="8574" y="9267"/>
              <a:ext cx="129" cy="66"/>
            </a:xfrm>
            <a:custGeom>
              <a:avLst/>
              <a:gdLst>
                <a:gd name="T0" fmla="*/ 8 w 258"/>
                <a:gd name="T1" fmla="*/ 106 h 131"/>
                <a:gd name="T2" fmla="*/ 15 w 258"/>
                <a:gd name="T3" fmla="*/ 129 h 131"/>
                <a:gd name="T4" fmla="*/ 258 w 258"/>
                <a:gd name="T5" fmla="*/ 21 h 131"/>
                <a:gd name="T6" fmla="*/ 249 w 258"/>
                <a:gd name="T7" fmla="*/ 0 h 131"/>
                <a:gd name="T8" fmla="*/ 6 w 258"/>
                <a:gd name="T9" fmla="*/ 108 h 131"/>
                <a:gd name="T10" fmla="*/ 14 w 258"/>
                <a:gd name="T11" fmla="*/ 131 h 131"/>
                <a:gd name="T12" fmla="*/ 6 w 258"/>
                <a:gd name="T13" fmla="*/ 108 h 131"/>
                <a:gd name="T14" fmla="*/ 0 w 258"/>
                <a:gd name="T15" fmla="*/ 114 h 131"/>
                <a:gd name="T16" fmla="*/ 0 w 258"/>
                <a:gd name="T17" fmla="*/ 123 h 131"/>
                <a:gd name="T18" fmla="*/ 6 w 258"/>
                <a:gd name="T19" fmla="*/ 129 h 131"/>
                <a:gd name="T20" fmla="*/ 15 w 258"/>
                <a:gd name="T21" fmla="*/ 129 h 131"/>
                <a:gd name="T22" fmla="*/ 8 w 258"/>
                <a:gd name="T23" fmla="*/ 106 h 13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8"/>
                <a:gd name="T37" fmla="*/ 0 h 131"/>
                <a:gd name="T38" fmla="*/ 258 w 258"/>
                <a:gd name="T39" fmla="*/ 131 h 13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8" h="131">
                  <a:moveTo>
                    <a:pt x="8" y="106"/>
                  </a:moveTo>
                  <a:lnTo>
                    <a:pt x="15" y="129"/>
                  </a:lnTo>
                  <a:lnTo>
                    <a:pt x="258" y="21"/>
                  </a:lnTo>
                  <a:lnTo>
                    <a:pt x="249" y="0"/>
                  </a:lnTo>
                  <a:lnTo>
                    <a:pt x="6" y="108"/>
                  </a:lnTo>
                  <a:lnTo>
                    <a:pt x="14" y="131"/>
                  </a:lnTo>
                  <a:lnTo>
                    <a:pt x="6" y="108"/>
                  </a:lnTo>
                  <a:lnTo>
                    <a:pt x="0" y="114"/>
                  </a:lnTo>
                  <a:lnTo>
                    <a:pt x="0" y="123"/>
                  </a:lnTo>
                  <a:lnTo>
                    <a:pt x="6" y="129"/>
                  </a:lnTo>
                  <a:lnTo>
                    <a:pt x="15" y="129"/>
                  </a:lnTo>
                  <a:lnTo>
                    <a:pt x="8" y="10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35" name="Freeform 277"/>
            <p:cNvSpPr>
              <a:spLocks/>
            </p:cNvSpPr>
            <p:nvPr/>
          </p:nvSpPr>
          <p:spPr bwMode="auto">
            <a:xfrm>
              <a:off x="8587" y="9274"/>
              <a:ext cx="165" cy="63"/>
            </a:xfrm>
            <a:custGeom>
              <a:avLst/>
              <a:gdLst>
                <a:gd name="T0" fmla="*/ 0 w 329"/>
                <a:gd name="T1" fmla="*/ 99 h 127"/>
                <a:gd name="T2" fmla="*/ 224 w 329"/>
                <a:gd name="T3" fmla="*/ 0 h 127"/>
                <a:gd name="T4" fmla="*/ 212 w 329"/>
                <a:gd name="T5" fmla="*/ 73 h 127"/>
                <a:gd name="T6" fmla="*/ 329 w 329"/>
                <a:gd name="T7" fmla="*/ 57 h 127"/>
                <a:gd name="T8" fmla="*/ 169 w 329"/>
                <a:gd name="T9" fmla="*/ 127 h 127"/>
                <a:gd name="T10" fmla="*/ 180 w 329"/>
                <a:gd name="T11" fmla="*/ 54 h 127"/>
                <a:gd name="T12" fmla="*/ 0 w 329"/>
                <a:gd name="T13" fmla="*/ 99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9"/>
                <a:gd name="T22" fmla="*/ 0 h 127"/>
                <a:gd name="T23" fmla="*/ 329 w 329"/>
                <a:gd name="T24" fmla="*/ 127 h 12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9" h="127">
                  <a:moveTo>
                    <a:pt x="0" y="99"/>
                  </a:moveTo>
                  <a:lnTo>
                    <a:pt x="224" y="0"/>
                  </a:lnTo>
                  <a:lnTo>
                    <a:pt x="212" y="73"/>
                  </a:lnTo>
                  <a:lnTo>
                    <a:pt x="329" y="57"/>
                  </a:lnTo>
                  <a:lnTo>
                    <a:pt x="169" y="127"/>
                  </a:lnTo>
                  <a:lnTo>
                    <a:pt x="180" y="54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19191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36" name="Freeform 278"/>
            <p:cNvSpPr>
              <a:spLocks/>
            </p:cNvSpPr>
            <p:nvPr/>
          </p:nvSpPr>
          <p:spPr bwMode="auto">
            <a:xfrm>
              <a:off x="8595" y="9275"/>
              <a:ext cx="153" cy="62"/>
            </a:xfrm>
            <a:custGeom>
              <a:avLst/>
              <a:gdLst>
                <a:gd name="T0" fmla="*/ 0 w 305"/>
                <a:gd name="T1" fmla="*/ 93 h 123"/>
                <a:gd name="T2" fmla="*/ 207 w 305"/>
                <a:gd name="T3" fmla="*/ 0 h 123"/>
                <a:gd name="T4" fmla="*/ 195 w 305"/>
                <a:gd name="T5" fmla="*/ 74 h 123"/>
                <a:gd name="T6" fmla="*/ 305 w 305"/>
                <a:gd name="T7" fmla="*/ 58 h 123"/>
                <a:gd name="T8" fmla="*/ 156 w 305"/>
                <a:gd name="T9" fmla="*/ 123 h 123"/>
                <a:gd name="T10" fmla="*/ 166 w 305"/>
                <a:gd name="T11" fmla="*/ 49 h 123"/>
                <a:gd name="T12" fmla="*/ 0 w 305"/>
                <a:gd name="T13" fmla="*/ 9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5"/>
                <a:gd name="T22" fmla="*/ 0 h 123"/>
                <a:gd name="T23" fmla="*/ 305 w 305"/>
                <a:gd name="T24" fmla="*/ 123 h 1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5" h="123">
                  <a:moveTo>
                    <a:pt x="0" y="93"/>
                  </a:moveTo>
                  <a:lnTo>
                    <a:pt x="207" y="0"/>
                  </a:lnTo>
                  <a:lnTo>
                    <a:pt x="195" y="74"/>
                  </a:lnTo>
                  <a:lnTo>
                    <a:pt x="305" y="58"/>
                  </a:lnTo>
                  <a:lnTo>
                    <a:pt x="156" y="123"/>
                  </a:lnTo>
                  <a:lnTo>
                    <a:pt x="166" y="49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37" name="Freeform 279"/>
            <p:cNvSpPr>
              <a:spLocks/>
            </p:cNvSpPr>
            <p:nvPr/>
          </p:nvSpPr>
          <p:spPr bwMode="auto">
            <a:xfrm>
              <a:off x="8603" y="9276"/>
              <a:ext cx="139" cy="60"/>
            </a:xfrm>
            <a:custGeom>
              <a:avLst/>
              <a:gdLst>
                <a:gd name="T0" fmla="*/ 0 w 279"/>
                <a:gd name="T1" fmla="*/ 85 h 120"/>
                <a:gd name="T2" fmla="*/ 189 w 279"/>
                <a:gd name="T3" fmla="*/ 0 h 120"/>
                <a:gd name="T4" fmla="*/ 179 w 279"/>
                <a:gd name="T5" fmla="*/ 74 h 120"/>
                <a:gd name="T6" fmla="*/ 279 w 279"/>
                <a:gd name="T7" fmla="*/ 59 h 120"/>
                <a:gd name="T8" fmla="*/ 142 w 279"/>
                <a:gd name="T9" fmla="*/ 120 h 120"/>
                <a:gd name="T10" fmla="*/ 153 w 279"/>
                <a:gd name="T11" fmla="*/ 45 h 120"/>
                <a:gd name="T12" fmla="*/ 0 w 279"/>
                <a:gd name="T13" fmla="*/ 85 h 1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9"/>
                <a:gd name="T22" fmla="*/ 0 h 120"/>
                <a:gd name="T23" fmla="*/ 279 w 279"/>
                <a:gd name="T24" fmla="*/ 120 h 1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9" h="120">
                  <a:moveTo>
                    <a:pt x="0" y="85"/>
                  </a:moveTo>
                  <a:lnTo>
                    <a:pt x="189" y="0"/>
                  </a:lnTo>
                  <a:lnTo>
                    <a:pt x="179" y="74"/>
                  </a:lnTo>
                  <a:lnTo>
                    <a:pt x="279" y="59"/>
                  </a:lnTo>
                  <a:lnTo>
                    <a:pt x="142" y="120"/>
                  </a:lnTo>
                  <a:lnTo>
                    <a:pt x="153" y="45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4C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38" name="Freeform 280"/>
            <p:cNvSpPr>
              <a:spLocks/>
            </p:cNvSpPr>
            <p:nvPr/>
          </p:nvSpPr>
          <p:spPr bwMode="auto">
            <a:xfrm>
              <a:off x="8610" y="9277"/>
              <a:ext cx="128" cy="57"/>
            </a:xfrm>
            <a:custGeom>
              <a:avLst/>
              <a:gdLst>
                <a:gd name="T0" fmla="*/ 0 w 255"/>
                <a:gd name="T1" fmla="*/ 76 h 114"/>
                <a:gd name="T2" fmla="*/ 173 w 255"/>
                <a:gd name="T3" fmla="*/ 0 h 114"/>
                <a:gd name="T4" fmla="*/ 162 w 255"/>
                <a:gd name="T5" fmla="*/ 73 h 114"/>
                <a:gd name="T6" fmla="*/ 255 w 255"/>
                <a:gd name="T7" fmla="*/ 57 h 114"/>
                <a:gd name="T8" fmla="*/ 130 w 255"/>
                <a:gd name="T9" fmla="*/ 114 h 114"/>
                <a:gd name="T10" fmla="*/ 141 w 255"/>
                <a:gd name="T11" fmla="*/ 41 h 114"/>
                <a:gd name="T12" fmla="*/ 0 w 255"/>
                <a:gd name="T13" fmla="*/ 76 h 1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5"/>
                <a:gd name="T22" fmla="*/ 0 h 114"/>
                <a:gd name="T23" fmla="*/ 255 w 255"/>
                <a:gd name="T24" fmla="*/ 114 h 11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5" h="114">
                  <a:moveTo>
                    <a:pt x="0" y="76"/>
                  </a:moveTo>
                  <a:lnTo>
                    <a:pt x="173" y="0"/>
                  </a:lnTo>
                  <a:lnTo>
                    <a:pt x="162" y="73"/>
                  </a:lnTo>
                  <a:lnTo>
                    <a:pt x="255" y="57"/>
                  </a:lnTo>
                  <a:lnTo>
                    <a:pt x="130" y="114"/>
                  </a:lnTo>
                  <a:lnTo>
                    <a:pt x="141" y="41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39" name="Freeform 281"/>
            <p:cNvSpPr>
              <a:spLocks/>
            </p:cNvSpPr>
            <p:nvPr/>
          </p:nvSpPr>
          <p:spPr bwMode="auto">
            <a:xfrm>
              <a:off x="8619" y="9278"/>
              <a:ext cx="114" cy="56"/>
            </a:xfrm>
            <a:custGeom>
              <a:avLst/>
              <a:gdLst>
                <a:gd name="T0" fmla="*/ 0 w 229"/>
                <a:gd name="T1" fmla="*/ 70 h 111"/>
                <a:gd name="T2" fmla="*/ 154 w 229"/>
                <a:gd name="T3" fmla="*/ 0 h 111"/>
                <a:gd name="T4" fmla="*/ 144 w 229"/>
                <a:gd name="T5" fmla="*/ 75 h 111"/>
                <a:gd name="T6" fmla="*/ 229 w 229"/>
                <a:gd name="T7" fmla="*/ 59 h 111"/>
                <a:gd name="T8" fmla="*/ 115 w 229"/>
                <a:gd name="T9" fmla="*/ 111 h 111"/>
                <a:gd name="T10" fmla="*/ 125 w 229"/>
                <a:gd name="T11" fmla="*/ 37 h 111"/>
                <a:gd name="T12" fmla="*/ 0 w 229"/>
                <a:gd name="T13" fmla="*/ 70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29"/>
                <a:gd name="T22" fmla="*/ 0 h 111"/>
                <a:gd name="T23" fmla="*/ 229 w 229"/>
                <a:gd name="T24" fmla="*/ 111 h 1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29" h="111">
                  <a:moveTo>
                    <a:pt x="0" y="70"/>
                  </a:moveTo>
                  <a:lnTo>
                    <a:pt x="154" y="0"/>
                  </a:lnTo>
                  <a:lnTo>
                    <a:pt x="144" y="75"/>
                  </a:lnTo>
                  <a:lnTo>
                    <a:pt x="229" y="59"/>
                  </a:lnTo>
                  <a:lnTo>
                    <a:pt x="115" y="111"/>
                  </a:lnTo>
                  <a:lnTo>
                    <a:pt x="125" y="37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0" name="Freeform 282"/>
            <p:cNvSpPr>
              <a:spLocks/>
            </p:cNvSpPr>
            <p:nvPr/>
          </p:nvSpPr>
          <p:spPr bwMode="auto">
            <a:xfrm>
              <a:off x="8626" y="9279"/>
              <a:ext cx="102" cy="54"/>
            </a:xfrm>
            <a:custGeom>
              <a:avLst/>
              <a:gdLst>
                <a:gd name="T0" fmla="*/ 0 w 204"/>
                <a:gd name="T1" fmla="*/ 62 h 108"/>
                <a:gd name="T2" fmla="*/ 137 w 204"/>
                <a:gd name="T3" fmla="*/ 0 h 108"/>
                <a:gd name="T4" fmla="*/ 126 w 204"/>
                <a:gd name="T5" fmla="*/ 74 h 108"/>
                <a:gd name="T6" fmla="*/ 204 w 204"/>
                <a:gd name="T7" fmla="*/ 60 h 108"/>
                <a:gd name="T8" fmla="*/ 100 w 204"/>
                <a:gd name="T9" fmla="*/ 108 h 108"/>
                <a:gd name="T10" fmla="*/ 112 w 204"/>
                <a:gd name="T11" fmla="*/ 33 h 108"/>
                <a:gd name="T12" fmla="*/ 0 w 204"/>
                <a:gd name="T13" fmla="*/ 62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4"/>
                <a:gd name="T22" fmla="*/ 0 h 108"/>
                <a:gd name="T23" fmla="*/ 204 w 204"/>
                <a:gd name="T24" fmla="*/ 108 h 1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4" h="108">
                  <a:moveTo>
                    <a:pt x="0" y="62"/>
                  </a:moveTo>
                  <a:lnTo>
                    <a:pt x="137" y="0"/>
                  </a:lnTo>
                  <a:lnTo>
                    <a:pt x="126" y="74"/>
                  </a:lnTo>
                  <a:lnTo>
                    <a:pt x="204" y="60"/>
                  </a:lnTo>
                  <a:lnTo>
                    <a:pt x="100" y="108"/>
                  </a:lnTo>
                  <a:lnTo>
                    <a:pt x="112" y="33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1" name="Freeform 283"/>
            <p:cNvSpPr>
              <a:spLocks/>
            </p:cNvSpPr>
            <p:nvPr/>
          </p:nvSpPr>
          <p:spPr bwMode="auto">
            <a:xfrm>
              <a:off x="8634" y="9280"/>
              <a:ext cx="89" cy="51"/>
            </a:xfrm>
            <a:custGeom>
              <a:avLst/>
              <a:gdLst>
                <a:gd name="T0" fmla="*/ 0 w 178"/>
                <a:gd name="T1" fmla="*/ 54 h 101"/>
                <a:gd name="T2" fmla="*/ 120 w 178"/>
                <a:gd name="T3" fmla="*/ 0 h 101"/>
                <a:gd name="T4" fmla="*/ 110 w 178"/>
                <a:gd name="T5" fmla="*/ 73 h 101"/>
                <a:gd name="T6" fmla="*/ 178 w 178"/>
                <a:gd name="T7" fmla="*/ 60 h 101"/>
                <a:gd name="T8" fmla="*/ 88 w 178"/>
                <a:gd name="T9" fmla="*/ 101 h 101"/>
                <a:gd name="T10" fmla="*/ 99 w 178"/>
                <a:gd name="T11" fmla="*/ 29 h 101"/>
                <a:gd name="T12" fmla="*/ 0 w 178"/>
                <a:gd name="T13" fmla="*/ 54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8"/>
                <a:gd name="T22" fmla="*/ 0 h 101"/>
                <a:gd name="T23" fmla="*/ 178 w 178"/>
                <a:gd name="T24" fmla="*/ 101 h 10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8" h="101">
                  <a:moveTo>
                    <a:pt x="0" y="54"/>
                  </a:moveTo>
                  <a:lnTo>
                    <a:pt x="120" y="0"/>
                  </a:lnTo>
                  <a:lnTo>
                    <a:pt x="110" y="73"/>
                  </a:lnTo>
                  <a:lnTo>
                    <a:pt x="178" y="60"/>
                  </a:lnTo>
                  <a:lnTo>
                    <a:pt x="88" y="101"/>
                  </a:lnTo>
                  <a:lnTo>
                    <a:pt x="99" y="29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2" name="Freeform 284"/>
            <p:cNvSpPr>
              <a:spLocks/>
            </p:cNvSpPr>
            <p:nvPr/>
          </p:nvSpPr>
          <p:spPr bwMode="auto">
            <a:xfrm>
              <a:off x="8642" y="9281"/>
              <a:ext cx="77" cy="49"/>
            </a:xfrm>
            <a:custGeom>
              <a:avLst/>
              <a:gdLst>
                <a:gd name="T0" fmla="*/ 0 w 154"/>
                <a:gd name="T1" fmla="*/ 47 h 99"/>
                <a:gd name="T2" fmla="*/ 104 w 154"/>
                <a:gd name="T3" fmla="*/ 0 h 99"/>
                <a:gd name="T4" fmla="*/ 93 w 154"/>
                <a:gd name="T5" fmla="*/ 75 h 99"/>
                <a:gd name="T6" fmla="*/ 154 w 154"/>
                <a:gd name="T7" fmla="*/ 62 h 99"/>
                <a:gd name="T8" fmla="*/ 75 w 154"/>
                <a:gd name="T9" fmla="*/ 99 h 99"/>
                <a:gd name="T10" fmla="*/ 85 w 154"/>
                <a:gd name="T11" fmla="*/ 24 h 99"/>
                <a:gd name="T12" fmla="*/ 0 w 154"/>
                <a:gd name="T13" fmla="*/ 47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4"/>
                <a:gd name="T22" fmla="*/ 0 h 99"/>
                <a:gd name="T23" fmla="*/ 154 w 154"/>
                <a:gd name="T24" fmla="*/ 99 h 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4" h="99">
                  <a:moveTo>
                    <a:pt x="0" y="47"/>
                  </a:moveTo>
                  <a:lnTo>
                    <a:pt x="104" y="0"/>
                  </a:lnTo>
                  <a:lnTo>
                    <a:pt x="93" y="75"/>
                  </a:lnTo>
                  <a:lnTo>
                    <a:pt x="154" y="62"/>
                  </a:lnTo>
                  <a:lnTo>
                    <a:pt x="75" y="99"/>
                  </a:lnTo>
                  <a:lnTo>
                    <a:pt x="85" y="24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3" name="Freeform 285"/>
            <p:cNvSpPr>
              <a:spLocks/>
            </p:cNvSpPr>
            <p:nvPr/>
          </p:nvSpPr>
          <p:spPr bwMode="auto">
            <a:xfrm>
              <a:off x="8650" y="9283"/>
              <a:ext cx="64" cy="46"/>
            </a:xfrm>
            <a:custGeom>
              <a:avLst/>
              <a:gdLst>
                <a:gd name="T0" fmla="*/ 0 w 128"/>
                <a:gd name="T1" fmla="*/ 38 h 93"/>
                <a:gd name="T2" fmla="*/ 85 w 128"/>
                <a:gd name="T3" fmla="*/ 0 h 93"/>
                <a:gd name="T4" fmla="*/ 75 w 128"/>
                <a:gd name="T5" fmla="*/ 73 h 93"/>
                <a:gd name="T6" fmla="*/ 128 w 128"/>
                <a:gd name="T7" fmla="*/ 63 h 93"/>
                <a:gd name="T8" fmla="*/ 61 w 128"/>
                <a:gd name="T9" fmla="*/ 93 h 93"/>
                <a:gd name="T10" fmla="*/ 72 w 128"/>
                <a:gd name="T11" fmla="*/ 20 h 93"/>
                <a:gd name="T12" fmla="*/ 0 w 128"/>
                <a:gd name="T13" fmla="*/ 38 h 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8"/>
                <a:gd name="T22" fmla="*/ 0 h 93"/>
                <a:gd name="T23" fmla="*/ 128 w 128"/>
                <a:gd name="T24" fmla="*/ 93 h 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8" h="93">
                  <a:moveTo>
                    <a:pt x="0" y="38"/>
                  </a:moveTo>
                  <a:lnTo>
                    <a:pt x="85" y="0"/>
                  </a:lnTo>
                  <a:lnTo>
                    <a:pt x="75" y="73"/>
                  </a:lnTo>
                  <a:lnTo>
                    <a:pt x="128" y="63"/>
                  </a:lnTo>
                  <a:lnTo>
                    <a:pt x="61" y="93"/>
                  </a:lnTo>
                  <a:lnTo>
                    <a:pt x="72" y="20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4" name="Freeform 286"/>
            <p:cNvSpPr>
              <a:spLocks/>
            </p:cNvSpPr>
            <p:nvPr/>
          </p:nvSpPr>
          <p:spPr bwMode="auto">
            <a:xfrm>
              <a:off x="8658" y="9283"/>
              <a:ext cx="51" cy="45"/>
            </a:xfrm>
            <a:custGeom>
              <a:avLst/>
              <a:gdLst>
                <a:gd name="T0" fmla="*/ 0 w 104"/>
                <a:gd name="T1" fmla="*/ 32 h 89"/>
                <a:gd name="T2" fmla="*/ 58 w 104"/>
                <a:gd name="T3" fmla="*/ 15 h 89"/>
                <a:gd name="T4" fmla="*/ 47 w 104"/>
                <a:gd name="T5" fmla="*/ 89 h 89"/>
                <a:gd name="T6" fmla="*/ 104 w 104"/>
                <a:gd name="T7" fmla="*/ 64 h 89"/>
                <a:gd name="T8" fmla="*/ 58 w 104"/>
                <a:gd name="T9" fmla="*/ 74 h 89"/>
                <a:gd name="T10" fmla="*/ 69 w 104"/>
                <a:gd name="T11" fmla="*/ 0 h 89"/>
                <a:gd name="T12" fmla="*/ 0 w 104"/>
                <a:gd name="T13" fmla="*/ 32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"/>
                <a:gd name="T22" fmla="*/ 0 h 89"/>
                <a:gd name="T23" fmla="*/ 104 w 104"/>
                <a:gd name="T24" fmla="*/ 89 h 8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" h="89">
                  <a:moveTo>
                    <a:pt x="0" y="32"/>
                  </a:moveTo>
                  <a:lnTo>
                    <a:pt x="58" y="15"/>
                  </a:lnTo>
                  <a:lnTo>
                    <a:pt x="47" y="89"/>
                  </a:lnTo>
                  <a:lnTo>
                    <a:pt x="104" y="64"/>
                  </a:lnTo>
                  <a:lnTo>
                    <a:pt x="58" y="74"/>
                  </a:lnTo>
                  <a:lnTo>
                    <a:pt x="69" y="0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5" name="Freeform 287"/>
            <p:cNvSpPr>
              <a:spLocks/>
            </p:cNvSpPr>
            <p:nvPr/>
          </p:nvSpPr>
          <p:spPr bwMode="auto">
            <a:xfrm>
              <a:off x="9100" y="9018"/>
              <a:ext cx="106" cy="144"/>
            </a:xfrm>
            <a:custGeom>
              <a:avLst/>
              <a:gdLst>
                <a:gd name="T0" fmla="*/ 212 w 212"/>
                <a:gd name="T1" fmla="*/ 0 h 289"/>
                <a:gd name="T2" fmla="*/ 111 w 212"/>
                <a:gd name="T3" fmla="*/ 172 h 289"/>
                <a:gd name="T4" fmla="*/ 66 w 212"/>
                <a:gd name="T5" fmla="*/ 113 h 289"/>
                <a:gd name="T6" fmla="*/ 0 w 212"/>
                <a:gd name="T7" fmla="*/ 289 h 289"/>
                <a:gd name="T8" fmla="*/ 75 w 212"/>
                <a:gd name="T9" fmla="*/ 187 h 289"/>
                <a:gd name="T10" fmla="*/ 119 w 212"/>
                <a:gd name="T11" fmla="*/ 246 h 289"/>
                <a:gd name="T12" fmla="*/ 212 w 212"/>
                <a:gd name="T13" fmla="*/ 0 h 2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2"/>
                <a:gd name="T22" fmla="*/ 0 h 289"/>
                <a:gd name="T23" fmla="*/ 212 w 212"/>
                <a:gd name="T24" fmla="*/ 289 h 28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2" h="289">
                  <a:moveTo>
                    <a:pt x="212" y="0"/>
                  </a:moveTo>
                  <a:lnTo>
                    <a:pt x="111" y="172"/>
                  </a:lnTo>
                  <a:lnTo>
                    <a:pt x="66" y="113"/>
                  </a:lnTo>
                  <a:lnTo>
                    <a:pt x="0" y="289"/>
                  </a:lnTo>
                  <a:lnTo>
                    <a:pt x="75" y="187"/>
                  </a:lnTo>
                  <a:lnTo>
                    <a:pt x="119" y="246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6" name="Freeform 288"/>
            <p:cNvSpPr>
              <a:spLocks/>
            </p:cNvSpPr>
            <p:nvPr/>
          </p:nvSpPr>
          <p:spPr bwMode="auto">
            <a:xfrm>
              <a:off x="9150" y="9015"/>
              <a:ext cx="61" cy="95"/>
            </a:xfrm>
            <a:custGeom>
              <a:avLst/>
              <a:gdLst>
                <a:gd name="T0" fmla="*/ 3 w 124"/>
                <a:gd name="T1" fmla="*/ 186 h 190"/>
                <a:gd name="T2" fmla="*/ 23 w 124"/>
                <a:gd name="T3" fmla="*/ 184 h 190"/>
                <a:gd name="T4" fmla="*/ 124 w 124"/>
                <a:gd name="T5" fmla="*/ 12 h 190"/>
                <a:gd name="T6" fmla="*/ 103 w 124"/>
                <a:gd name="T7" fmla="*/ 0 h 190"/>
                <a:gd name="T8" fmla="*/ 2 w 124"/>
                <a:gd name="T9" fmla="*/ 172 h 190"/>
                <a:gd name="T10" fmla="*/ 22 w 124"/>
                <a:gd name="T11" fmla="*/ 170 h 190"/>
                <a:gd name="T12" fmla="*/ 2 w 124"/>
                <a:gd name="T13" fmla="*/ 172 h 190"/>
                <a:gd name="T14" fmla="*/ 0 w 124"/>
                <a:gd name="T15" fmla="*/ 181 h 190"/>
                <a:gd name="T16" fmla="*/ 6 w 124"/>
                <a:gd name="T17" fmla="*/ 189 h 190"/>
                <a:gd name="T18" fmla="*/ 16 w 124"/>
                <a:gd name="T19" fmla="*/ 190 h 190"/>
                <a:gd name="T20" fmla="*/ 23 w 124"/>
                <a:gd name="T21" fmla="*/ 184 h 190"/>
                <a:gd name="T22" fmla="*/ 3 w 124"/>
                <a:gd name="T23" fmla="*/ 186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4"/>
                <a:gd name="T37" fmla="*/ 0 h 190"/>
                <a:gd name="T38" fmla="*/ 124 w 124"/>
                <a:gd name="T39" fmla="*/ 190 h 1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4" h="190">
                  <a:moveTo>
                    <a:pt x="3" y="186"/>
                  </a:moveTo>
                  <a:lnTo>
                    <a:pt x="23" y="184"/>
                  </a:lnTo>
                  <a:lnTo>
                    <a:pt x="124" y="12"/>
                  </a:lnTo>
                  <a:lnTo>
                    <a:pt x="103" y="0"/>
                  </a:lnTo>
                  <a:lnTo>
                    <a:pt x="2" y="172"/>
                  </a:lnTo>
                  <a:lnTo>
                    <a:pt x="22" y="170"/>
                  </a:lnTo>
                  <a:lnTo>
                    <a:pt x="2" y="172"/>
                  </a:lnTo>
                  <a:lnTo>
                    <a:pt x="0" y="181"/>
                  </a:lnTo>
                  <a:lnTo>
                    <a:pt x="6" y="189"/>
                  </a:lnTo>
                  <a:lnTo>
                    <a:pt x="16" y="190"/>
                  </a:lnTo>
                  <a:lnTo>
                    <a:pt x="23" y="184"/>
                  </a:lnTo>
                  <a:lnTo>
                    <a:pt x="3" y="18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7" name="Freeform 289"/>
            <p:cNvSpPr>
              <a:spLocks/>
            </p:cNvSpPr>
            <p:nvPr/>
          </p:nvSpPr>
          <p:spPr bwMode="auto">
            <a:xfrm>
              <a:off x="9128" y="9068"/>
              <a:ext cx="32" cy="40"/>
            </a:xfrm>
            <a:custGeom>
              <a:avLst/>
              <a:gdLst>
                <a:gd name="T0" fmla="*/ 21 w 66"/>
                <a:gd name="T1" fmla="*/ 16 h 80"/>
                <a:gd name="T2" fmla="*/ 2 w 66"/>
                <a:gd name="T3" fmla="*/ 20 h 80"/>
                <a:gd name="T4" fmla="*/ 47 w 66"/>
                <a:gd name="T5" fmla="*/ 80 h 80"/>
                <a:gd name="T6" fmla="*/ 66 w 66"/>
                <a:gd name="T7" fmla="*/ 64 h 80"/>
                <a:gd name="T8" fmla="*/ 20 w 66"/>
                <a:gd name="T9" fmla="*/ 5 h 80"/>
                <a:gd name="T10" fmla="*/ 0 w 66"/>
                <a:gd name="T11" fmla="*/ 10 h 80"/>
                <a:gd name="T12" fmla="*/ 20 w 66"/>
                <a:gd name="T13" fmla="*/ 5 h 80"/>
                <a:gd name="T14" fmla="*/ 12 w 66"/>
                <a:gd name="T15" fmla="*/ 0 h 80"/>
                <a:gd name="T16" fmla="*/ 5 w 66"/>
                <a:gd name="T17" fmla="*/ 4 h 80"/>
                <a:gd name="T18" fmla="*/ 0 w 66"/>
                <a:gd name="T19" fmla="*/ 11 h 80"/>
                <a:gd name="T20" fmla="*/ 2 w 66"/>
                <a:gd name="T21" fmla="*/ 20 h 80"/>
                <a:gd name="T22" fmla="*/ 21 w 66"/>
                <a:gd name="T23" fmla="*/ 16 h 8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6"/>
                <a:gd name="T37" fmla="*/ 0 h 80"/>
                <a:gd name="T38" fmla="*/ 66 w 66"/>
                <a:gd name="T39" fmla="*/ 80 h 8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6" h="80">
                  <a:moveTo>
                    <a:pt x="21" y="16"/>
                  </a:moveTo>
                  <a:lnTo>
                    <a:pt x="2" y="20"/>
                  </a:lnTo>
                  <a:lnTo>
                    <a:pt x="47" y="80"/>
                  </a:lnTo>
                  <a:lnTo>
                    <a:pt x="66" y="64"/>
                  </a:lnTo>
                  <a:lnTo>
                    <a:pt x="20" y="5"/>
                  </a:lnTo>
                  <a:lnTo>
                    <a:pt x="0" y="10"/>
                  </a:lnTo>
                  <a:lnTo>
                    <a:pt x="20" y="5"/>
                  </a:lnTo>
                  <a:lnTo>
                    <a:pt x="12" y="0"/>
                  </a:lnTo>
                  <a:lnTo>
                    <a:pt x="5" y="4"/>
                  </a:lnTo>
                  <a:lnTo>
                    <a:pt x="0" y="11"/>
                  </a:lnTo>
                  <a:lnTo>
                    <a:pt x="2" y="20"/>
                  </a:lnTo>
                  <a:lnTo>
                    <a:pt x="21" y="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8" name="Freeform 290"/>
            <p:cNvSpPr>
              <a:spLocks/>
            </p:cNvSpPr>
            <p:nvPr/>
          </p:nvSpPr>
          <p:spPr bwMode="auto">
            <a:xfrm>
              <a:off x="9095" y="9073"/>
              <a:ext cx="43" cy="95"/>
            </a:xfrm>
            <a:custGeom>
              <a:avLst/>
              <a:gdLst>
                <a:gd name="T0" fmla="*/ 2 w 87"/>
                <a:gd name="T1" fmla="*/ 171 h 190"/>
                <a:gd name="T2" fmla="*/ 22 w 87"/>
                <a:gd name="T3" fmla="*/ 182 h 190"/>
                <a:gd name="T4" fmla="*/ 87 w 87"/>
                <a:gd name="T5" fmla="*/ 6 h 190"/>
                <a:gd name="T6" fmla="*/ 66 w 87"/>
                <a:gd name="T7" fmla="*/ 0 h 190"/>
                <a:gd name="T8" fmla="*/ 0 w 87"/>
                <a:gd name="T9" fmla="*/ 176 h 190"/>
                <a:gd name="T10" fmla="*/ 20 w 87"/>
                <a:gd name="T11" fmla="*/ 187 h 190"/>
                <a:gd name="T12" fmla="*/ 0 w 87"/>
                <a:gd name="T13" fmla="*/ 176 h 190"/>
                <a:gd name="T14" fmla="*/ 2 w 87"/>
                <a:gd name="T15" fmla="*/ 185 h 190"/>
                <a:gd name="T16" fmla="*/ 10 w 87"/>
                <a:gd name="T17" fmla="*/ 190 h 190"/>
                <a:gd name="T18" fmla="*/ 17 w 87"/>
                <a:gd name="T19" fmla="*/ 188 h 190"/>
                <a:gd name="T20" fmla="*/ 22 w 87"/>
                <a:gd name="T21" fmla="*/ 182 h 190"/>
                <a:gd name="T22" fmla="*/ 2 w 87"/>
                <a:gd name="T23" fmla="*/ 171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7"/>
                <a:gd name="T37" fmla="*/ 0 h 190"/>
                <a:gd name="T38" fmla="*/ 87 w 87"/>
                <a:gd name="T39" fmla="*/ 190 h 19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7" h="190">
                  <a:moveTo>
                    <a:pt x="2" y="171"/>
                  </a:moveTo>
                  <a:lnTo>
                    <a:pt x="22" y="182"/>
                  </a:lnTo>
                  <a:lnTo>
                    <a:pt x="87" y="6"/>
                  </a:lnTo>
                  <a:lnTo>
                    <a:pt x="66" y="0"/>
                  </a:lnTo>
                  <a:lnTo>
                    <a:pt x="0" y="176"/>
                  </a:lnTo>
                  <a:lnTo>
                    <a:pt x="20" y="187"/>
                  </a:lnTo>
                  <a:lnTo>
                    <a:pt x="0" y="176"/>
                  </a:lnTo>
                  <a:lnTo>
                    <a:pt x="2" y="185"/>
                  </a:lnTo>
                  <a:lnTo>
                    <a:pt x="10" y="190"/>
                  </a:lnTo>
                  <a:lnTo>
                    <a:pt x="17" y="188"/>
                  </a:lnTo>
                  <a:lnTo>
                    <a:pt x="22" y="182"/>
                  </a:lnTo>
                  <a:lnTo>
                    <a:pt x="2" y="17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9" name="Freeform 291"/>
            <p:cNvSpPr>
              <a:spLocks/>
            </p:cNvSpPr>
            <p:nvPr/>
          </p:nvSpPr>
          <p:spPr bwMode="auto">
            <a:xfrm>
              <a:off x="9095" y="9105"/>
              <a:ext cx="49" cy="61"/>
            </a:xfrm>
            <a:custGeom>
              <a:avLst/>
              <a:gdLst>
                <a:gd name="T0" fmla="*/ 93 w 96"/>
                <a:gd name="T1" fmla="*/ 5 h 122"/>
                <a:gd name="T2" fmla="*/ 75 w 96"/>
                <a:gd name="T3" fmla="*/ 5 h 122"/>
                <a:gd name="T4" fmla="*/ 0 w 96"/>
                <a:gd name="T5" fmla="*/ 106 h 122"/>
                <a:gd name="T6" fmla="*/ 18 w 96"/>
                <a:gd name="T7" fmla="*/ 122 h 122"/>
                <a:gd name="T8" fmla="*/ 93 w 96"/>
                <a:gd name="T9" fmla="*/ 20 h 122"/>
                <a:gd name="T10" fmla="*/ 75 w 96"/>
                <a:gd name="T11" fmla="*/ 20 h 122"/>
                <a:gd name="T12" fmla="*/ 93 w 96"/>
                <a:gd name="T13" fmla="*/ 20 h 122"/>
                <a:gd name="T14" fmla="*/ 96 w 96"/>
                <a:gd name="T15" fmla="*/ 11 h 122"/>
                <a:gd name="T16" fmla="*/ 91 w 96"/>
                <a:gd name="T17" fmla="*/ 3 h 122"/>
                <a:gd name="T18" fmla="*/ 82 w 96"/>
                <a:gd name="T19" fmla="*/ 0 h 122"/>
                <a:gd name="T20" fmla="*/ 75 w 96"/>
                <a:gd name="T21" fmla="*/ 5 h 122"/>
                <a:gd name="T22" fmla="*/ 93 w 96"/>
                <a:gd name="T23" fmla="*/ 5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96"/>
                <a:gd name="T37" fmla="*/ 0 h 122"/>
                <a:gd name="T38" fmla="*/ 96 w 96"/>
                <a:gd name="T39" fmla="*/ 122 h 12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96" h="122">
                  <a:moveTo>
                    <a:pt x="93" y="5"/>
                  </a:moveTo>
                  <a:lnTo>
                    <a:pt x="75" y="5"/>
                  </a:lnTo>
                  <a:lnTo>
                    <a:pt x="0" y="106"/>
                  </a:lnTo>
                  <a:lnTo>
                    <a:pt x="18" y="122"/>
                  </a:lnTo>
                  <a:lnTo>
                    <a:pt x="93" y="20"/>
                  </a:lnTo>
                  <a:lnTo>
                    <a:pt x="75" y="20"/>
                  </a:lnTo>
                  <a:lnTo>
                    <a:pt x="93" y="20"/>
                  </a:lnTo>
                  <a:lnTo>
                    <a:pt x="96" y="11"/>
                  </a:lnTo>
                  <a:lnTo>
                    <a:pt x="91" y="3"/>
                  </a:lnTo>
                  <a:lnTo>
                    <a:pt x="82" y="0"/>
                  </a:lnTo>
                  <a:lnTo>
                    <a:pt x="75" y="5"/>
                  </a:lnTo>
                  <a:lnTo>
                    <a:pt x="93" y="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50" name="Freeform 292"/>
            <p:cNvSpPr>
              <a:spLocks/>
            </p:cNvSpPr>
            <p:nvPr/>
          </p:nvSpPr>
          <p:spPr bwMode="auto">
            <a:xfrm>
              <a:off x="9133" y="9108"/>
              <a:ext cx="33" cy="39"/>
            </a:xfrm>
            <a:custGeom>
              <a:avLst/>
              <a:gdLst>
                <a:gd name="T0" fmla="*/ 42 w 65"/>
                <a:gd name="T1" fmla="*/ 63 h 79"/>
                <a:gd name="T2" fmla="*/ 62 w 65"/>
                <a:gd name="T3" fmla="*/ 59 h 79"/>
                <a:gd name="T4" fmla="*/ 18 w 65"/>
                <a:gd name="T5" fmla="*/ 0 h 79"/>
                <a:gd name="T6" fmla="*/ 0 w 65"/>
                <a:gd name="T7" fmla="*/ 15 h 79"/>
                <a:gd name="T8" fmla="*/ 44 w 65"/>
                <a:gd name="T9" fmla="*/ 74 h 79"/>
                <a:gd name="T10" fmla="*/ 64 w 65"/>
                <a:gd name="T11" fmla="*/ 69 h 79"/>
                <a:gd name="T12" fmla="*/ 44 w 65"/>
                <a:gd name="T13" fmla="*/ 74 h 79"/>
                <a:gd name="T14" fmla="*/ 52 w 65"/>
                <a:gd name="T15" fmla="*/ 79 h 79"/>
                <a:gd name="T16" fmla="*/ 61 w 65"/>
                <a:gd name="T17" fmla="*/ 76 h 79"/>
                <a:gd name="T18" fmla="*/ 65 w 65"/>
                <a:gd name="T19" fmla="*/ 68 h 79"/>
                <a:gd name="T20" fmla="*/ 62 w 65"/>
                <a:gd name="T21" fmla="*/ 59 h 79"/>
                <a:gd name="T22" fmla="*/ 42 w 65"/>
                <a:gd name="T23" fmla="*/ 63 h 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5"/>
                <a:gd name="T37" fmla="*/ 0 h 79"/>
                <a:gd name="T38" fmla="*/ 65 w 65"/>
                <a:gd name="T39" fmla="*/ 79 h 7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5" h="79">
                  <a:moveTo>
                    <a:pt x="42" y="63"/>
                  </a:moveTo>
                  <a:lnTo>
                    <a:pt x="62" y="59"/>
                  </a:lnTo>
                  <a:lnTo>
                    <a:pt x="18" y="0"/>
                  </a:lnTo>
                  <a:lnTo>
                    <a:pt x="0" y="15"/>
                  </a:lnTo>
                  <a:lnTo>
                    <a:pt x="44" y="74"/>
                  </a:lnTo>
                  <a:lnTo>
                    <a:pt x="64" y="69"/>
                  </a:lnTo>
                  <a:lnTo>
                    <a:pt x="44" y="74"/>
                  </a:lnTo>
                  <a:lnTo>
                    <a:pt x="52" y="79"/>
                  </a:lnTo>
                  <a:lnTo>
                    <a:pt x="61" y="76"/>
                  </a:lnTo>
                  <a:lnTo>
                    <a:pt x="65" y="68"/>
                  </a:lnTo>
                  <a:lnTo>
                    <a:pt x="62" y="59"/>
                  </a:lnTo>
                  <a:lnTo>
                    <a:pt x="42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51" name="Freeform 293"/>
            <p:cNvSpPr>
              <a:spLocks/>
            </p:cNvSpPr>
            <p:nvPr/>
          </p:nvSpPr>
          <p:spPr bwMode="auto">
            <a:xfrm>
              <a:off x="9154" y="9013"/>
              <a:ext cx="57" cy="130"/>
            </a:xfrm>
            <a:custGeom>
              <a:avLst/>
              <a:gdLst>
                <a:gd name="T0" fmla="*/ 115 w 115"/>
                <a:gd name="T1" fmla="*/ 16 h 259"/>
                <a:gd name="T2" fmla="*/ 94 w 115"/>
                <a:gd name="T3" fmla="*/ 7 h 259"/>
                <a:gd name="T4" fmla="*/ 0 w 115"/>
                <a:gd name="T5" fmla="*/ 253 h 259"/>
                <a:gd name="T6" fmla="*/ 22 w 115"/>
                <a:gd name="T7" fmla="*/ 259 h 259"/>
                <a:gd name="T8" fmla="*/ 115 w 115"/>
                <a:gd name="T9" fmla="*/ 13 h 259"/>
                <a:gd name="T10" fmla="*/ 94 w 115"/>
                <a:gd name="T11" fmla="*/ 4 h 259"/>
                <a:gd name="T12" fmla="*/ 115 w 115"/>
                <a:gd name="T13" fmla="*/ 13 h 259"/>
                <a:gd name="T14" fmla="*/ 113 w 115"/>
                <a:gd name="T15" fmla="*/ 4 h 259"/>
                <a:gd name="T16" fmla="*/ 107 w 115"/>
                <a:gd name="T17" fmla="*/ 0 h 259"/>
                <a:gd name="T18" fmla="*/ 98 w 115"/>
                <a:gd name="T19" fmla="*/ 1 h 259"/>
                <a:gd name="T20" fmla="*/ 94 w 115"/>
                <a:gd name="T21" fmla="*/ 7 h 259"/>
                <a:gd name="T22" fmla="*/ 115 w 115"/>
                <a:gd name="T23" fmla="*/ 16 h 2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15"/>
                <a:gd name="T37" fmla="*/ 0 h 259"/>
                <a:gd name="T38" fmla="*/ 115 w 115"/>
                <a:gd name="T39" fmla="*/ 259 h 2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15" h="259">
                  <a:moveTo>
                    <a:pt x="115" y="16"/>
                  </a:moveTo>
                  <a:lnTo>
                    <a:pt x="94" y="7"/>
                  </a:lnTo>
                  <a:lnTo>
                    <a:pt x="0" y="253"/>
                  </a:lnTo>
                  <a:lnTo>
                    <a:pt x="22" y="259"/>
                  </a:lnTo>
                  <a:lnTo>
                    <a:pt x="115" y="13"/>
                  </a:lnTo>
                  <a:lnTo>
                    <a:pt x="94" y="4"/>
                  </a:lnTo>
                  <a:lnTo>
                    <a:pt x="115" y="13"/>
                  </a:lnTo>
                  <a:lnTo>
                    <a:pt x="113" y="4"/>
                  </a:lnTo>
                  <a:lnTo>
                    <a:pt x="107" y="0"/>
                  </a:lnTo>
                  <a:lnTo>
                    <a:pt x="98" y="1"/>
                  </a:lnTo>
                  <a:lnTo>
                    <a:pt x="94" y="7"/>
                  </a:lnTo>
                  <a:lnTo>
                    <a:pt x="115" y="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52" name="Freeform 294"/>
            <p:cNvSpPr>
              <a:spLocks/>
            </p:cNvSpPr>
            <p:nvPr/>
          </p:nvSpPr>
          <p:spPr bwMode="auto">
            <a:xfrm>
              <a:off x="9102" y="9026"/>
              <a:ext cx="100" cy="132"/>
            </a:xfrm>
            <a:custGeom>
              <a:avLst/>
              <a:gdLst>
                <a:gd name="T0" fmla="*/ 200 w 200"/>
                <a:gd name="T1" fmla="*/ 0 h 265"/>
                <a:gd name="T2" fmla="*/ 114 w 200"/>
                <a:gd name="T3" fmla="*/ 230 h 265"/>
                <a:gd name="T4" fmla="*/ 68 w 200"/>
                <a:gd name="T5" fmla="*/ 171 h 265"/>
                <a:gd name="T6" fmla="*/ 0 w 200"/>
                <a:gd name="T7" fmla="*/ 265 h 265"/>
                <a:gd name="T8" fmla="*/ 61 w 200"/>
                <a:gd name="T9" fmla="*/ 101 h 265"/>
                <a:gd name="T10" fmla="*/ 106 w 200"/>
                <a:gd name="T11" fmla="*/ 160 h 265"/>
                <a:gd name="T12" fmla="*/ 200 w 200"/>
                <a:gd name="T13" fmla="*/ 0 h 2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"/>
                <a:gd name="T22" fmla="*/ 0 h 265"/>
                <a:gd name="T23" fmla="*/ 200 w 200"/>
                <a:gd name="T24" fmla="*/ 265 h 26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" h="265">
                  <a:moveTo>
                    <a:pt x="200" y="0"/>
                  </a:moveTo>
                  <a:lnTo>
                    <a:pt x="114" y="230"/>
                  </a:lnTo>
                  <a:lnTo>
                    <a:pt x="68" y="171"/>
                  </a:lnTo>
                  <a:lnTo>
                    <a:pt x="0" y="265"/>
                  </a:lnTo>
                  <a:lnTo>
                    <a:pt x="61" y="101"/>
                  </a:lnTo>
                  <a:lnTo>
                    <a:pt x="106" y="160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19191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53" name="Freeform 295"/>
            <p:cNvSpPr>
              <a:spLocks/>
            </p:cNvSpPr>
            <p:nvPr/>
          </p:nvSpPr>
          <p:spPr bwMode="auto">
            <a:xfrm>
              <a:off x="9105" y="9033"/>
              <a:ext cx="94" cy="120"/>
            </a:xfrm>
            <a:custGeom>
              <a:avLst/>
              <a:gdLst>
                <a:gd name="T0" fmla="*/ 189 w 189"/>
                <a:gd name="T1" fmla="*/ 0 h 240"/>
                <a:gd name="T2" fmla="*/ 110 w 189"/>
                <a:gd name="T3" fmla="*/ 211 h 240"/>
                <a:gd name="T4" fmla="*/ 64 w 189"/>
                <a:gd name="T5" fmla="*/ 152 h 240"/>
                <a:gd name="T6" fmla="*/ 0 w 189"/>
                <a:gd name="T7" fmla="*/ 240 h 240"/>
                <a:gd name="T8" fmla="*/ 57 w 189"/>
                <a:gd name="T9" fmla="*/ 88 h 240"/>
                <a:gd name="T10" fmla="*/ 102 w 189"/>
                <a:gd name="T11" fmla="*/ 147 h 240"/>
                <a:gd name="T12" fmla="*/ 189 w 189"/>
                <a:gd name="T13" fmla="*/ 0 h 2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9"/>
                <a:gd name="T22" fmla="*/ 0 h 240"/>
                <a:gd name="T23" fmla="*/ 189 w 189"/>
                <a:gd name="T24" fmla="*/ 240 h 2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9" h="240">
                  <a:moveTo>
                    <a:pt x="189" y="0"/>
                  </a:moveTo>
                  <a:lnTo>
                    <a:pt x="110" y="211"/>
                  </a:lnTo>
                  <a:lnTo>
                    <a:pt x="64" y="152"/>
                  </a:lnTo>
                  <a:lnTo>
                    <a:pt x="0" y="240"/>
                  </a:lnTo>
                  <a:lnTo>
                    <a:pt x="57" y="88"/>
                  </a:lnTo>
                  <a:lnTo>
                    <a:pt x="102" y="147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54" name="Freeform 296"/>
            <p:cNvSpPr>
              <a:spLocks/>
            </p:cNvSpPr>
            <p:nvPr/>
          </p:nvSpPr>
          <p:spPr bwMode="auto">
            <a:xfrm>
              <a:off x="9107" y="9041"/>
              <a:ext cx="88" cy="109"/>
            </a:xfrm>
            <a:custGeom>
              <a:avLst/>
              <a:gdLst>
                <a:gd name="T0" fmla="*/ 177 w 177"/>
                <a:gd name="T1" fmla="*/ 0 h 217"/>
                <a:gd name="T2" fmla="*/ 105 w 177"/>
                <a:gd name="T3" fmla="*/ 193 h 217"/>
                <a:gd name="T4" fmla="*/ 59 w 177"/>
                <a:gd name="T5" fmla="*/ 134 h 217"/>
                <a:gd name="T6" fmla="*/ 0 w 177"/>
                <a:gd name="T7" fmla="*/ 217 h 217"/>
                <a:gd name="T8" fmla="*/ 52 w 177"/>
                <a:gd name="T9" fmla="*/ 76 h 217"/>
                <a:gd name="T10" fmla="*/ 97 w 177"/>
                <a:gd name="T11" fmla="*/ 135 h 217"/>
                <a:gd name="T12" fmla="*/ 177 w 177"/>
                <a:gd name="T13" fmla="*/ 0 h 2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7"/>
                <a:gd name="T22" fmla="*/ 0 h 217"/>
                <a:gd name="T23" fmla="*/ 177 w 177"/>
                <a:gd name="T24" fmla="*/ 217 h 2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7" h="217">
                  <a:moveTo>
                    <a:pt x="177" y="0"/>
                  </a:moveTo>
                  <a:lnTo>
                    <a:pt x="105" y="193"/>
                  </a:lnTo>
                  <a:lnTo>
                    <a:pt x="59" y="134"/>
                  </a:lnTo>
                  <a:lnTo>
                    <a:pt x="0" y="217"/>
                  </a:lnTo>
                  <a:lnTo>
                    <a:pt x="52" y="76"/>
                  </a:lnTo>
                  <a:lnTo>
                    <a:pt x="97" y="135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rgbClr val="4C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55" name="Freeform 297"/>
            <p:cNvSpPr>
              <a:spLocks/>
            </p:cNvSpPr>
            <p:nvPr/>
          </p:nvSpPr>
          <p:spPr bwMode="auto">
            <a:xfrm>
              <a:off x="9109" y="9048"/>
              <a:ext cx="83" cy="97"/>
            </a:xfrm>
            <a:custGeom>
              <a:avLst/>
              <a:gdLst>
                <a:gd name="T0" fmla="*/ 165 w 165"/>
                <a:gd name="T1" fmla="*/ 0 h 195"/>
                <a:gd name="T2" fmla="*/ 100 w 165"/>
                <a:gd name="T3" fmla="*/ 178 h 195"/>
                <a:gd name="T4" fmla="*/ 55 w 165"/>
                <a:gd name="T5" fmla="*/ 117 h 195"/>
                <a:gd name="T6" fmla="*/ 0 w 165"/>
                <a:gd name="T7" fmla="*/ 195 h 195"/>
                <a:gd name="T8" fmla="*/ 48 w 165"/>
                <a:gd name="T9" fmla="*/ 66 h 195"/>
                <a:gd name="T10" fmla="*/ 93 w 165"/>
                <a:gd name="T11" fmla="*/ 125 h 195"/>
                <a:gd name="T12" fmla="*/ 165 w 165"/>
                <a:gd name="T13" fmla="*/ 0 h 1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5"/>
                <a:gd name="T22" fmla="*/ 0 h 195"/>
                <a:gd name="T23" fmla="*/ 165 w 165"/>
                <a:gd name="T24" fmla="*/ 195 h 19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5" h="195">
                  <a:moveTo>
                    <a:pt x="165" y="0"/>
                  </a:moveTo>
                  <a:lnTo>
                    <a:pt x="100" y="178"/>
                  </a:lnTo>
                  <a:lnTo>
                    <a:pt x="55" y="117"/>
                  </a:lnTo>
                  <a:lnTo>
                    <a:pt x="0" y="195"/>
                  </a:lnTo>
                  <a:lnTo>
                    <a:pt x="48" y="66"/>
                  </a:lnTo>
                  <a:lnTo>
                    <a:pt x="93" y="125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56" name="Freeform 298"/>
            <p:cNvSpPr>
              <a:spLocks/>
            </p:cNvSpPr>
            <p:nvPr/>
          </p:nvSpPr>
          <p:spPr bwMode="auto">
            <a:xfrm>
              <a:off x="9111" y="9055"/>
              <a:ext cx="78" cy="85"/>
            </a:xfrm>
            <a:custGeom>
              <a:avLst/>
              <a:gdLst>
                <a:gd name="T0" fmla="*/ 154 w 154"/>
                <a:gd name="T1" fmla="*/ 0 h 170"/>
                <a:gd name="T2" fmla="*/ 95 w 154"/>
                <a:gd name="T3" fmla="*/ 159 h 170"/>
                <a:gd name="T4" fmla="*/ 49 w 154"/>
                <a:gd name="T5" fmla="*/ 100 h 170"/>
                <a:gd name="T6" fmla="*/ 0 w 154"/>
                <a:gd name="T7" fmla="*/ 170 h 170"/>
                <a:gd name="T8" fmla="*/ 44 w 154"/>
                <a:gd name="T9" fmla="*/ 53 h 170"/>
                <a:gd name="T10" fmla="*/ 88 w 154"/>
                <a:gd name="T11" fmla="*/ 112 h 170"/>
                <a:gd name="T12" fmla="*/ 154 w 154"/>
                <a:gd name="T13" fmla="*/ 0 h 1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4"/>
                <a:gd name="T22" fmla="*/ 0 h 170"/>
                <a:gd name="T23" fmla="*/ 154 w 154"/>
                <a:gd name="T24" fmla="*/ 170 h 17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4" h="170">
                  <a:moveTo>
                    <a:pt x="154" y="0"/>
                  </a:moveTo>
                  <a:lnTo>
                    <a:pt x="95" y="159"/>
                  </a:lnTo>
                  <a:lnTo>
                    <a:pt x="49" y="100"/>
                  </a:lnTo>
                  <a:lnTo>
                    <a:pt x="0" y="170"/>
                  </a:lnTo>
                  <a:lnTo>
                    <a:pt x="44" y="53"/>
                  </a:lnTo>
                  <a:lnTo>
                    <a:pt x="88" y="11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57" name="Freeform 299"/>
            <p:cNvSpPr>
              <a:spLocks/>
            </p:cNvSpPr>
            <p:nvPr/>
          </p:nvSpPr>
          <p:spPr bwMode="auto">
            <a:xfrm>
              <a:off x="9114" y="9063"/>
              <a:ext cx="71" cy="73"/>
            </a:xfrm>
            <a:custGeom>
              <a:avLst/>
              <a:gdLst>
                <a:gd name="T0" fmla="*/ 141 w 141"/>
                <a:gd name="T1" fmla="*/ 0 h 146"/>
                <a:gd name="T2" fmla="*/ 90 w 141"/>
                <a:gd name="T3" fmla="*/ 141 h 146"/>
                <a:gd name="T4" fmla="*/ 44 w 141"/>
                <a:gd name="T5" fmla="*/ 82 h 146"/>
                <a:gd name="T6" fmla="*/ 0 w 141"/>
                <a:gd name="T7" fmla="*/ 146 h 146"/>
                <a:gd name="T8" fmla="*/ 39 w 141"/>
                <a:gd name="T9" fmla="*/ 41 h 146"/>
                <a:gd name="T10" fmla="*/ 83 w 141"/>
                <a:gd name="T11" fmla="*/ 100 h 146"/>
                <a:gd name="T12" fmla="*/ 141 w 141"/>
                <a:gd name="T13" fmla="*/ 0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1"/>
                <a:gd name="T22" fmla="*/ 0 h 146"/>
                <a:gd name="T23" fmla="*/ 141 w 141"/>
                <a:gd name="T24" fmla="*/ 146 h 14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1" h="146">
                  <a:moveTo>
                    <a:pt x="141" y="0"/>
                  </a:moveTo>
                  <a:lnTo>
                    <a:pt x="90" y="141"/>
                  </a:lnTo>
                  <a:lnTo>
                    <a:pt x="44" y="82"/>
                  </a:lnTo>
                  <a:lnTo>
                    <a:pt x="0" y="146"/>
                  </a:lnTo>
                  <a:lnTo>
                    <a:pt x="39" y="41"/>
                  </a:lnTo>
                  <a:lnTo>
                    <a:pt x="83" y="100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58" name="Freeform 300"/>
            <p:cNvSpPr>
              <a:spLocks/>
            </p:cNvSpPr>
            <p:nvPr/>
          </p:nvSpPr>
          <p:spPr bwMode="auto">
            <a:xfrm>
              <a:off x="9116" y="9071"/>
              <a:ext cx="66" cy="61"/>
            </a:xfrm>
            <a:custGeom>
              <a:avLst/>
              <a:gdLst>
                <a:gd name="T0" fmla="*/ 131 w 131"/>
                <a:gd name="T1" fmla="*/ 0 h 123"/>
                <a:gd name="T2" fmla="*/ 86 w 131"/>
                <a:gd name="T3" fmla="*/ 123 h 123"/>
                <a:gd name="T4" fmla="*/ 40 w 131"/>
                <a:gd name="T5" fmla="*/ 64 h 123"/>
                <a:gd name="T6" fmla="*/ 0 w 131"/>
                <a:gd name="T7" fmla="*/ 122 h 123"/>
                <a:gd name="T8" fmla="*/ 35 w 131"/>
                <a:gd name="T9" fmla="*/ 29 h 123"/>
                <a:gd name="T10" fmla="*/ 79 w 131"/>
                <a:gd name="T11" fmla="*/ 88 h 123"/>
                <a:gd name="T12" fmla="*/ 131 w 131"/>
                <a:gd name="T13" fmla="*/ 0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"/>
                <a:gd name="T22" fmla="*/ 0 h 123"/>
                <a:gd name="T23" fmla="*/ 131 w 131"/>
                <a:gd name="T24" fmla="*/ 123 h 1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" h="123">
                  <a:moveTo>
                    <a:pt x="131" y="0"/>
                  </a:moveTo>
                  <a:lnTo>
                    <a:pt x="86" y="123"/>
                  </a:lnTo>
                  <a:lnTo>
                    <a:pt x="40" y="64"/>
                  </a:lnTo>
                  <a:lnTo>
                    <a:pt x="0" y="122"/>
                  </a:lnTo>
                  <a:lnTo>
                    <a:pt x="35" y="29"/>
                  </a:lnTo>
                  <a:lnTo>
                    <a:pt x="79" y="88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59" name="Freeform 301"/>
            <p:cNvSpPr>
              <a:spLocks/>
            </p:cNvSpPr>
            <p:nvPr/>
          </p:nvSpPr>
          <p:spPr bwMode="auto">
            <a:xfrm>
              <a:off x="9118" y="9078"/>
              <a:ext cx="60" cy="53"/>
            </a:xfrm>
            <a:custGeom>
              <a:avLst/>
              <a:gdLst>
                <a:gd name="T0" fmla="*/ 119 w 119"/>
                <a:gd name="T1" fmla="*/ 0 h 107"/>
                <a:gd name="T2" fmla="*/ 79 w 119"/>
                <a:gd name="T3" fmla="*/ 107 h 107"/>
                <a:gd name="T4" fmla="*/ 35 w 119"/>
                <a:gd name="T5" fmla="*/ 47 h 107"/>
                <a:gd name="T6" fmla="*/ 0 w 119"/>
                <a:gd name="T7" fmla="*/ 99 h 107"/>
                <a:gd name="T8" fmla="*/ 30 w 119"/>
                <a:gd name="T9" fmla="*/ 17 h 107"/>
                <a:gd name="T10" fmla="*/ 74 w 119"/>
                <a:gd name="T11" fmla="*/ 76 h 107"/>
                <a:gd name="T12" fmla="*/ 119 w 11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9"/>
                <a:gd name="T22" fmla="*/ 0 h 107"/>
                <a:gd name="T23" fmla="*/ 119 w 11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9" h="107">
                  <a:moveTo>
                    <a:pt x="119" y="0"/>
                  </a:moveTo>
                  <a:lnTo>
                    <a:pt x="79" y="107"/>
                  </a:lnTo>
                  <a:lnTo>
                    <a:pt x="35" y="47"/>
                  </a:lnTo>
                  <a:lnTo>
                    <a:pt x="0" y="99"/>
                  </a:lnTo>
                  <a:lnTo>
                    <a:pt x="30" y="17"/>
                  </a:lnTo>
                  <a:lnTo>
                    <a:pt x="74" y="76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60" name="Freeform 302"/>
            <p:cNvSpPr>
              <a:spLocks/>
            </p:cNvSpPr>
            <p:nvPr/>
          </p:nvSpPr>
          <p:spPr bwMode="auto">
            <a:xfrm>
              <a:off x="9121" y="9086"/>
              <a:ext cx="53" cy="44"/>
            </a:xfrm>
            <a:custGeom>
              <a:avLst/>
              <a:gdLst>
                <a:gd name="T0" fmla="*/ 107 w 107"/>
                <a:gd name="T1" fmla="*/ 0 h 89"/>
                <a:gd name="T2" fmla="*/ 75 w 107"/>
                <a:gd name="T3" fmla="*/ 89 h 89"/>
                <a:gd name="T4" fmla="*/ 29 w 107"/>
                <a:gd name="T5" fmla="*/ 29 h 89"/>
                <a:gd name="T6" fmla="*/ 0 w 107"/>
                <a:gd name="T7" fmla="*/ 75 h 89"/>
                <a:gd name="T8" fmla="*/ 26 w 107"/>
                <a:gd name="T9" fmla="*/ 5 h 89"/>
                <a:gd name="T10" fmla="*/ 70 w 107"/>
                <a:gd name="T11" fmla="*/ 64 h 89"/>
                <a:gd name="T12" fmla="*/ 107 w 107"/>
                <a:gd name="T13" fmla="*/ 0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89"/>
                <a:gd name="T23" fmla="*/ 107 w 107"/>
                <a:gd name="T24" fmla="*/ 89 h 8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89">
                  <a:moveTo>
                    <a:pt x="107" y="0"/>
                  </a:moveTo>
                  <a:lnTo>
                    <a:pt x="75" y="89"/>
                  </a:lnTo>
                  <a:lnTo>
                    <a:pt x="29" y="29"/>
                  </a:lnTo>
                  <a:lnTo>
                    <a:pt x="0" y="75"/>
                  </a:lnTo>
                  <a:lnTo>
                    <a:pt x="26" y="5"/>
                  </a:lnTo>
                  <a:lnTo>
                    <a:pt x="70" y="6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61" name="Freeform 303"/>
            <p:cNvSpPr>
              <a:spLocks/>
            </p:cNvSpPr>
            <p:nvPr/>
          </p:nvSpPr>
          <p:spPr bwMode="auto">
            <a:xfrm>
              <a:off x="9123" y="9090"/>
              <a:ext cx="48" cy="38"/>
            </a:xfrm>
            <a:custGeom>
              <a:avLst/>
              <a:gdLst>
                <a:gd name="T0" fmla="*/ 96 w 96"/>
                <a:gd name="T1" fmla="*/ 8 h 78"/>
                <a:gd name="T2" fmla="*/ 65 w 96"/>
                <a:gd name="T3" fmla="*/ 59 h 78"/>
                <a:gd name="T4" fmla="*/ 21 w 96"/>
                <a:gd name="T5" fmla="*/ 0 h 78"/>
                <a:gd name="T6" fmla="*/ 0 w 96"/>
                <a:gd name="T7" fmla="*/ 58 h 78"/>
                <a:gd name="T8" fmla="*/ 24 w 96"/>
                <a:gd name="T9" fmla="*/ 18 h 78"/>
                <a:gd name="T10" fmla="*/ 70 w 96"/>
                <a:gd name="T11" fmla="*/ 78 h 78"/>
                <a:gd name="T12" fmla="*/ 96 w 96"/>
                <a:gd name="T13" fmla="*/ 8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78"/>
                <a:gd name="T23" fmla="*/ 96 w 96"/>
                <a:gd name="T24" fmla="*/ 78 h 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78">
                  <a:moveTo>
                    <a:pt x="96" y="8"/>
                  </a:moveTo>
                  <a:lnTo>
                    <a:pt x="65" y="59"/>
                  </a:lnTo>
                  <a:lnTo>
                    <a:pt x="21" y="0"/>
                  </a:lnTo>
                  <a:lnTo>
                    <a:pt x="0" y="58"/>
                  </a:lnTo>
                  <a:lnTo>
                    <a:pt x="24" y="18"/>
                  </a:lnTo>
                  <a:lnTo>
                    <a:pt x="70" y="78"/>
                  </a:lnTo>
                  <a:lnTo>
                    <a:pt x="96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62" name="Freeform 304"/>
            <p:cNvSpPr>
              <a:spLocks/>
            </p:cNvSpPr>
            <p:nvPr/>
          </p:nvSpPr>
          <p:spPr bwMode="auto">
            <a:xfrm>
              <a:off x="9155" y="9271"/>
              <a:ext cx="178" cy="66"/>
            </a:xfrm>
            <a:custGeom>
              <a:avLst/>
              <a:gdLst>
                <a:gd name="T0" fmla="*/ 355 w 355"/>
                <a:gd name="T1" fmla="*/ 25 h 133"/>
                <a:gd name="T2" fmla="*/ 162 w 355"/>
                <a:gd name="T3" fmla="*/ 75 h 133"/>
                <a:gd name="T4" fmla="*/ 172 w 355"/>
                <a:gd name="T5" fmla="*/ 0 h 133"/>
                <a:gd name="T6" fmla="*/ 0 w 355"/>
                <a:gd name="T7" fmla="*/ 76 h 133"/>
                <a:gd name="T8" fmla="*/ 125 w 355"/>
                <a:gd name="T9" fmla="*/ 58 h 133"/>
                <a:gd name="T10" fmla="*/ 114 w 355"/>
                <a:gd name="T11" fmla="*/ 133 h 133"/>
                <a:gd name="T12" fmla="*/ 355 w 355"/>
                <a:gd name="T13" fmla="*/ 25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55"/>
                <a:gd name="T22" fmla="*/ 0 h 133"/>
                <a:gd name="T23" fmla="*/ 355 w 355"/>
                <a:gd name="T24" fmla="*/ 133 h 1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55" h="133">
                  <a:moveTo>
                    <a:pt x="355" y="25"/>
                  </a:moveTo>
                  <a:lnTo>
                    <a:pt x="162" y="75"/>
                  </a:lnTo>
                  <a:lnTo>
                    <a:pt x="172" y="0"/>
                  </a:lnTo>
                  <a:lnTo>
                    <a:pt x="0" y="76"/>
                  </a:lnTo>
                  <a:lnTo>
                    <a:pt x="125" y="58"/>
                  </a:lnTo>
                  <a:lnTo>
                    <a:pt x="114" y="133"/>
                  </a:lnTo>
                  <a:lnTo>
                    <a:pt x="355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63" name="Freeform 305"/>
            <p:cNvSpPr>
              <a:spLocks/>
            </p:cNvSpPr>
            <p:nvPr/>
          </p:nvSpPr>
          <p:spPr bwMode="auto">
            <a:xfrm>
              <a:off x="9230" y="9277"/>
              <a:ext cx="104" cy="38"/>
            </a:xfrm>
            <a:custGeom>
              <a:avLst/>
              <a:gdLst>
                <a:gd name="T0" fmla="*/ 0 w 210"/>
                <a:gd name="T1" fmla="*/ 60 h 74"/>
                <a:gd name="T2" fmla="*/ 16 w 210"/>
                <a:gd name="T3" fmla="*/ 74 h 74"/>
                <a:gd name="T4" fmla="*/ 210 w 210"/>
                <a:gd name="T5" fmla="*/ 24 h 74"/>
                <a:gd name="T6" fmla="*/ 203 w 210"/>
                <a:gd name="T7" fmla="*/ 0 h 74"/>
                <a:gd name="T8" fmla="*/ 10 w 210"/>
                <a:gd name="T9" fmla="*/ 50 h 74"/>
                <a:gd name="T10" fmla="*/ 25 w 210"/>
                <a:gd name="T11" fmla="*/ 63 h 74"/>
                <a:gd name="T12" fmla="*/ 10 w 210"/>
                <a:gd name="T13" fmla="*/ 50 h 74"/>
                <a:gd name="T14" fmla="*/ 2 w 210"/>
                <a:gd name="T15" fmla="*/ 56 h 74"/>
                <a:gd name="T16" fmla="*/ 2 w 210"/>
                <a:gd name="T17" fmla="*/ 63 h 74"/>
                <a:gd name="T18" fmla="*/ 7 w 210"/>
                <a:gd name="T19" fmla="*/ 73 h 74"/>
                <a:gd name="T20" fmla="*/ 16 w 210"/>
                <a:gd name="T21" fmla="*/ 74 h 74"/>
                <a:gd name="T22" fmla="*/ 0 w 210"/>
                <a:gd name="T23" fmla="*/ 60 h 7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0"/>
                <a:gd name="T37" fmla="*/ 0 h 74"/>
                <a:gd name="T38" fmla="*/ 210 w 210"/>
                <a:gd name="T39" fmla="*/ 74 h 7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0" h="74">
                  <a:moveTo>
                    <a:pt x="0" y="60"/>
                  </a:moveTo>
                  <a:lnTo>
                    <a:pt x="16" y="74"/>
                  </a:lnTo>
                  <a:lnTo>
                    <a:pt x="210" y="24"/>
                  </a:lnTo>
                  <a:lnTo>
                    <a:pt x="203" y="0"/>
                  </a:lnTo>
                  <a:lnTo>
                    <a:pt x="10" y="50"/>
                  </a:lnTo>
                  <a:lnTo>
                    <a:pt x="25" y="63"/>
                  </a:lnTo>
                  <a:lnTo>
                    <a:pt x="10" y="50"/>
                  </a:lnTo>
                  <a:lnTo>
                    <a:pt x="2" y="56"/>
                  </a:lnTo>
                  <a:lnTo>
                    <a:pt x="2" y="63"/>
                  </a:lnTo>
                  <a:lnTo>
                    <a:pt x="7" y="73"/>
                  </a:lnTo>
                  <a:lnTo>
                    <a:pt x="16" y="7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64" name="Freeform 306"/>
            <p:cNvSpPr>
              <a:spLocks/>
            </p:cNvSpPr>
            <p:nvPr/>
          </p:nvSpPr>
          <p:spPr bwMode="auto">
            <a:xfrm>
              <a:off x="9230" y="9265"/>
              <a:ext cx="17" cy="44"/>
            </a:xfrm>
            <a:custGeom>
              <a:avLst/>
              <a:gdLst>
                <a:gd name="T0" fmla="*/ 28 w 36"/>
                <a:gd name="T1" fmla="*/ 23 h 88"/>
                <a:gd name="T2" fmla="*/ 11 w 36"/>
                <a:gd name="T3" fmla="*/ 11 h 88"/>
                <a:gd name="T4" fmla="*/ 0 w 36"/>
                <a:gd name="T5" fmla="*/ 85 h 88"/>
                <a:gd name="T6" fmla="*/ 25 w 36"/>
                <a:gd name="T7" fmla="*/ 88 h 88"/>
                <a:gd name="T8" fmla="*/ 36 w 36"/>
                <a:gd name="T9" fmla="*/ 14 h 88"/>
                <a:gd name="T10" fmla="*/ 19 w 36"/>
                <a:gd name="T11" fmla="*/ 2 h 88"/>
                <a:gd name="T12" fmla="*/ 36 w 36"/>
                <a:gd name="T13" fmla="*/ 14 h 88"/>
                <a:gd name="T14" fmla="*/ 33 w 36"/>
                <a:gd name="T15" fmla="*/ 5 h 88"/>
                <a:gd name="T16" fmla="*/ 25 w 36"/>
                <a:gd name="T17" fmla="*/ 0 h 88"/>
                <a:gd name="T18" fmla="*/ 16 w 36"/>
                <a:gd name="T19" fmla="*/ 3 h 88"/>
                <a:gd name="T20" fmla="*/ 11 w 36"/>
                <a:gd name="T21" fmla="*/ 11 h 88"/>
                <a:gd name="T22" fmla="*/ 28 w 36"/>
                <a:gd name="T23" fmla="*/ 23 h 8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6"/>
                <a:gd name="T37" fmla="*/ 0 h 88"/>
                <a:gd name="T38" fmla="*/ 36 w 36"/>
                <a:gd name="T39" fmla="*/ 88 h 8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6" h="88">
                  <a:moveTo>
                    <a:pt x="28" y="23"/>
                  </a:moveTo>
                  <a:lnTo>
                    <a:pt x="11" y="11"/>
                  </a:lnTo>
                  <a:lnTo>
                    <a:pt x="0" y="85"/>
                  </a:lnTo>
                  <a:lnTo>
                    <a:pt x="25" y="88"/>
                  </a:lnTo>
                  <a:lnTo>
                    <a:pt x="36" y="14"/>
                  </a:lnTo>
                  <a:lnTo>
                    <a:pt x="19" y="2"/>
                  </a:lnTo>
                  <a:lnTo>
                    <a:pt x="36" y="14"/>
                  </a:lnTo>
                  <a:lnTo>
                    <a:pt x="33" y="5"/>
                  </a:lnTo>
                  <a:lnTo>
                    <a:pt x="25" y="0"/>
                  </a:lnTo>
                  <a:lnTo>
                    <a:pt x="16" y="3"/>
                  </a:lnTo>
                  <a:lnTo>
                    <a:pt x="11" y="11"/>
                  </a:lnTo>
                  <a:lnTo>
                    <a:pt x="28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65" name="Freeform 307"/>
            <p:cNvSpPr>
              <a:spLocks/>
            </p:cNvSpPr>
            <p:nvPr/>
          </p:nvSpPr>
          <p:spPr bwMode="auto">
            <a:xfrm>
              <a:off x="9150" y="9266"/>
              <a:ext cx="93" cy="49"/>
            </a:xfrm>
            <a:custGeom>
              <a:avLst/>
              <a:gdLst>
                <a:gd name="T0" fmla="*/ 9 w 188"/>
                <a:gd name="T1" fmla="*/ 74 h 99"/>
                <a:gd name="T2" fmla="*/ 16 w 188"/>
                <a:gd name="T3" fmla="*/ 97 h 99"/>
                <a:gd name="T4" fmla="*/ 188 w 188"/>
                <a:gd name="T5" fmla="*/ 21 h 99"/>
                <a:gd name="T6" fmla="*/ 179 w 188"/>
                <a:gd name="T7" fmla="*/ 0 h 99"/>
                <a:gd name="T8" fmla="*/ 6 w 188"/>
                <a:gd name="T9" fmla="*/ 76 h 99"/>
                <a:gd name="T10" fmla="*/ 12 w 188"/>
                <a:gd name="T11" fmla="*/ 99 h 99"/>
                <a:gd name="T12" fmla="*/ 6 w 188"/>
                <a:gd name="T13" fmla="*/ 76 h 99"/>
                <a:gd name="T14" fmla="*/ 0 w 188"/>
                <a:gd name="T15" fmla="*/ 82 h 99"/>
                <a:gd name="T16" fmla="*/ 0 w 188"/>
                <a:gd name="T17" fmla="*/ 91 h 99"/>
                <a:gd name="T18" fmla="*/ 6 w 188"/>
                <a:gd name="T19" fmla="*/ 97 h 99"/>
                <a:gd name="T20" fmla="*/ 16 w 188"/>
                <a:gd name="T21" fmla="*/ 97 h 99"/>
                <a:gd name="T22" fmla="*/ 9 w 188"/>
                <a:gd name="T23" fmla="*/ 74 h 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88"/>
                <a:gd name="T37" fmla="*/ 0 h 99"/>
                <a:gd name="T38" fmla="*/ 188 w 188"/>
                <a:gd name="T39" fmla="*/ 99 h 9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88" h="99">
                  <a:moveTo>
                    <a:pt x="9" y="74"/>
                  </a:moveTo>
                  <a:lnTo>
                    <a:pt x="16" y="97"/>
                  </a:lnTo>
                  <a:lnTo>
                    <a:pt x="188" y="21"/>
                  </a:lnTo>
                  <a:lnTo>
                    <a:pt x="179" y="0"/>
                  </a:lnTo>
                  <a:lnTo>
                    <a:pt x="6" y="76"/>
                  </a:lnTo>
                  <a:lnTo>
                    <a:pt x="12" y="99"/>
                  </a:lnTo>
                  <a:lnTo>
                    <a:pt x="6" y="76"/>
                  </a:lnTo>
                  <a:lnTo>
                    <a:pt x="0" y="82"/>
                  </a:lnTo>
                  <a:lnTo>
                    <a:pt x="0" y="91"/>
                  </a:lnTo>
                  <a:lnTo>
                    <a:pt x="6" y="97"/>
                  </a:lnTo>
                  <a:lnTo>
                    <a:pt x="16" y="97"/>
                  </a:lnTo>
                  <a:lnTo>
                    <a:pt x="9" y="7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66" name="Freeform 308"/>
            <p:cNvSpPr>
              <a:spLocks/>
            </p:cNvSpPr>
            <p:nvPr/>
          </p:nvSpPr>
          <p:spPr bwMode="auto">
            <a:xfrm>
              <a:off x="9154" y="9294"/>
              <a:ext cx="70" cy="21"/>
            </a:xfrm>
            <a:custGeom>
              <a:avLst/>
              <a:gdLst>
                <a:gd name="T0" fmla="*/ 139 w 139"/>
                <a:gd name="T1" fmla="*/ 14 h 43"/>
                <a:gd name="T2" fmla="*/ 126 w 139"/>
                <a:gd name="T3" fmla="*/ 0 h 43"/>
                <a:gd name="T4" fmla="*/ 0 w 139"/>
                <a:gd name="T5" fmla="*/ 18 h 43"/>
                <a:gd name="T6" fmla="*/ 3 w 139"/>
                <a:gd name="T7" fmla="*/ 43 h 43"/>
                <a:gd name="T8" fmla="*/ 129 w 139"/>
                <a:gd name="T9" fmla="*/ 24 h 43"/>
                <a:gd name="T10" fmla="*/ 115 w 139"/>
                <a:gd name="T11" fmla="*/ 11 h 43"/>
                <a:gd name="T12" fmla="*/ 129 w 139"/>
                <a:gd name="T13" fmla="*/ 24 h 43"/>
                <a:gd name="T14" fmla="*/ 136 w 139"/>
                <a:gd name="T15" fmla="*/ 20 h 43"/>
                <a:gd name="T16" fmla="*/ 139 w 139"/>
                <a:gd name="T17" fmla="*/ 11 h 43"/>
                <a:gd name="T18" fmla="*/ 135 w 139"/>
                <a:gd name="T19" fmla="*/ 3 h 43"/>
                <a:gd name="T20" fmla="*/ 126 w 139"/>
                <a:gd name="T21" fmla="*/ 0 h 43"/>
                <a:gd name="T22" fmla="*/ 139 w 139"/>
                <a:gd name="T23" fmla="*/ 14 h 4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9"/>
                <a:gd name="T37" fmla="*/ 0 h 43"/>
                <a:gd name="T38" fmla="*/ 139 w 139"/>
                <a:gd name="T39" fmla="*/ 43 h 4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9" h="43">
                  <a:moveTo>
                    <a:pt x="139" y="14"/>
                  </a:moveTo>
                  <a:lnTo>
                    <a:pt x="126" y="0"/>
                  </a:lnTo>
                  <a:lnTo>
                    <a:pt x="0" y="18"/>
                  </a:lnTo>
                  <a:lnTo>
                    <a:pt x="3" y="43"/>
                  </a:lnTo>
                  <a:lnTo>
                    <a:pt x="129" y="24"/>
                  </a:lnTo>
                  <a:lnTo>
                    <a:pt x="115" y="11"/>
                  </a:lnTo>
                  <a:lnTo>
                    <a:pt x="129" y="24"/>
                  </a:lnTo>
                  <a:lnTo>
                    <a:pt x="136" y="20"/>
                  </a:lnTo>
                  <a:lnTo>
                    <a:pt x="139" y="11"/>
                  </a:lnTo>
                  <a:lnTo>
                    <a:pt x="135" y="3"/>
                  </a:lnTo>
                  <a:lnTo>
                    <a:pt x="126" y="0"/>
                  </a:lnTo>
                  <a:lnTo>
                    <a:pt x="13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67" name="Freeform 309"/>
            <p:cNvSpPr>
              <a:spLocks/>
            </p:cNvSpPr>
            <p:nvPr/>
          </p:nvSpPr>
          <p:spPr bwMode="auto">
            <a:xfrm>
              <a:off x="9206" y="9299"/>
              <a:ext cx="18" cy="44"/>
            </a:xfrm>
            <a:custGeom>
              <a:avLst/>
              <a:gdLst>
                <a:gd name="T0" fmla="*/ 8 w 35"/>
                <a:gd name="T1" fmla="*/ 65 h 86"/>
                <a:gd name="T2" fmla="*/ 25 w 35"/>
                <a:gd name="T3" fmla="*/ 77 h 86"/>
                <a:gd name="T4" fmla="*/ 35 w 35"/>
                <a:gd name="T5" fmla="*/ 3 h 86"/>
                <a:gd name="T6" fmla="*/ 11 w 35"/>
                <a:gd name="T7" fmla="*/ 0 h 86"/>
                <a:gd name="T8" fmla="*/ 0 w 35"/>
                <a:gd name="T9" fmla="*/ 74 h 86"/>
                <a:gd name="T10" fmla="*/ 17 w 35"/>
                <a:gd name="T11" fmla="*/ 86 h 86"/>
                <a:gd name="T12" fmla="*/ 0 w 35"/>
                <a:gd name="T13" fmla="*/ 74 h 86"/>
                <a:gd name="T14" fmla="*/ 3 w 35"/>
                <a:gd name="T15" fmla="*/ 83 h 86"/>
                <a:gd name="T16" fmla="*/ 11 w 35"/>
                <a:gd name="T17" fmla="*/ 86 h 86"/>
                <a:gd name="T18" fmla="*/ 20 w 35"/>
                <a:gd name="T19" fmla="*/ 85 h 86"/>
                <a:gd name="T20" fmla="*/ 25 w 35"/>
                <a:gd name="T21" fmla="*/ 77 h 86"/>
                <a:gd name="T22" fmla="*/ 8 w 35"/>
                <a:gd name="T23" fmla="*/ 65 h 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5"/>
                <a:gd name="T37" fmla="*/ 0 h 86"/>
                <a:gd name="T38" fmla="*/ 35 w 35"/>
                <a:gd name="T39" fmla="*/ 86 h 8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5" h="86">
                  <a:moveTo>
                    <a:pt x="8" y="65"/>
                  </a:moveTo>
                  <a:lnTo>
                    <a:pt x="25" y="77"/>
                  </a:lnTo>
                  <a:lnTo>
                    <a:pt x="35" y="3"/>
                  </a:lnTo>
                  <a:lnTo>
                    <a:pt x="11" y="0"/>
                  </a:lnTo>
                  <a:lnTo>
                    <a:pt x="0" y="74"/>
                  </a:lnTo>
                  <a:lnTo>
                    <a:pt x="17" y="86"/>
                  </a:lnTo>
                  <a:lnTo>
                    <a:pt x="0" y="74"/>
                  </a:lnTo>
                  <a:lnTo>
                    <a:pt x="3" y="83"/>
                  </a:lnTo>
                  <a:lnTo>
                    <a:pt x="11" y="86"/>
                  </a:lnTo>
                  <a:lnTo>
                    <a:pt x="20" y="85"/>
                  </a:lnTo>
                  <a:lnTo>
                    <a:pt x="25" y="77"/>
                  </a:lnTo>
                  <a:lnTo>
                    <a:pt x="8" y="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68" name="Freeform 310"/>
            <p:cNvSpPr>
              <a:spLocks/>
            </p:cNvSpPr>
            <p:nvPr/>
          </p:nvSpPr>
          <p:spPr bwMode="auto">
            <a:xfrm>
              <a:off x="9210" y="9277"/>
              <a:ext cx="128" cy="66"/>
            </a:xfrm>
            <a:custGeom>
              <a:avLst/>
              <a:gdLst>
                <a:gd name="T0" fmla="*/ 249 w 256"/>
                <a:gd name="T1" fmla="*/ 24 h 130"/>
                <a:gd name="T2" fmla="*/ 241 w 256"/>
                <a:gd name="T3" fmla="*/ 1 h 130"/>
                <a:gd name="T4" fmla="*/ 0 w 256"/>
                <a:gd name="T5" fmla="*/ 109 h 130"/>
                <a:gd name="T6" fmla="*/ 9 w 256"/>
                <a:gd name="T7" fmla="*/ 130 h 130"/>
                <a:gd name="T8" fmla="*/ 250 w 256"/>
                <a:gd name="T9" fmla="*/ 22 h 130"/>
                <a:gd name="T10" fmla="*/ 242 w 256"/>
                <a:gd name="T11" fmla="*/ 0 h 130"/>
                <a:gd name="T12" fmla="*/ 250 w 256"/>
                <a:gd name="T13" fmla="*/ 22 h 130"/>
                <a:gd name="T14" fmla="*/ 256 w 256"/>
                <a:gd name="T15" fmla="*/ 16 h 130"/>
                <a:gd name="T16" fmla="*/ 256 w 256"/>
                <a:gd name="T17" fmla="*/ 7 h 130"/>
                <a:gd name="T18" fmla="*/ 250 w 256"/>
                <a:gd name="T19" fmla="*/ 1 h 130"/>
                <a:gd name="T20" fmla="*/ 241 w 256"/>
                <a:gd name="T21" fmla="*/ 1 h 130"/>
                <a:gd name="T22" fmla="*/ 249 w 256"/>
                <a:gd name="T23" fmla="*/ 24 h 1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6"/>
                <a:gd name="T37" fmla="*/ 0 h 130"/>
                <a:gd name="T38" fmla="*/ 256 w 256"/>
                <a:gd name="T39" fmla="*/ 130 h 13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6" h="130">
                  <a:moveTo>
                    <a:pt x="249" y="24"/>
                  </a:moveTo>
                  <a:lnTo>
                    <a:pt x="241" y="1"/>
                  </a:lnTo>
                  <a:lnTo>
                    <a:pt x="0" y="109"/>
                  </a:lnTo>
                  <a:lnTo>
                    <a:pt x="9" y="130"/>
                  </a:lnTo>
                  <a:lnTo>
                    <a:pt x="250" y="22"/>
                  </a:lnTo>
                  <a:lnTo>
                    <a:pt x="242" y="0"/>
                  </a:lnTo>
                  <a:lnTo>
                    <a:pt x="250" y="22"/>
                  </a:lnTo>
                  <a:lnTo>
                    <a:pt x="256" y="16"/>
                  </a:lnTo>
                  <a:lnTo>
                    <a:pt x="256" y="7"/>
                  </a:lnTo>
                  <a:lnTo>
                    <a:pt x="250" y="1"/>
                  </a:lnTo>
                  <a:lnTo>
                    <a:pt x="241" y="1"/>
                  </a:lnTo>
                  <a:lnTo>
                    <a:pt x="249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69" name="Freeform 311"/>
            <p:cNvSpPr>
              <a:spLocks/>
            </p:cNvSpPr>
            <p:nvPr/>
          </p:nvSpPr>
          <p:spPr bwMode="auto">
            <a:xfrm>
              <a:off x="9160" y="9272"/>
              <a:ext cx="165" cy="64"/>
            </a:xfrm>
            <a:custGeom>
              <a:avLst/>
              <a:gdLst>
                <a:gd name="T0" fmla="*/ 331 w 331"/>
                <a:gd name="T1" fmla="*/ 29 h 128"/>
                <a:gd name="T2" fmla="*/ 107 w 331"/>
                <a:gd name="T3" fmla="*/ 128 h 128"/>
                <a:gd name="T4" fmla="*/ 118 w 331"/>
                <a:gd name="T5" fmla="*/ 55 h 128"/>
                <a:gd name="T6" fmla="*/ 0 w 331"/>
                <a:gd name="T7" fmla="*/ 71 h 128"/>
                <a:gd name="T8" fmla="*/ 162 w 331"/>
                <a:gd name="T9" fmla="*/ 0 h 128"/>
                <a:gd name="T10" fmla="*/ 151 w 331"/>
                <a:gd name="T11" fmla="*/ 74 h 128"/>
                <a:gd name="T12" fmla="*/ 331 w 331"/>
                <a:gd name="T13" fmla="*/ 29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1"/>
                <a:gd name="T22" fmla="*/ 0 h 128"/>
                <a:gd name="T23" fmla="*/ 331 w 331"/>
                <a:gd name="T24" fmla="*/ 128 h 1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1" h="128">
                  <a:moveTo>
                    <a:pt x="331" y="29"/>
                  </a:moveTo>
                  <a:lnTo>
                    <a:pt x="107" y="128"/>
                  </a:lnTo>
                  <a:lnTo>
                    <a:pt x="118" y="55"/>
                  </a:lnTo>
                  <a:lnTo>
                    <a:pt x="0" y="71"/>
                  </a:lnTo>
                  <a:lnTo>
                    <a:pt x="162" y="0"/>
                  </a:lnTo>
                  <a:lnTo>
                    <a:pt x="151" y="74"/>
                  </a:lnTo>
                  <a:lnTo>
                    <a:pt x="331" y="29"/>
                  </a:lnTo>
                  <a:close/>
                </a:path>
              </a:pathLst>
            </a:custGeom>
            <a:solidFill>
              <a:srgbClr val="19191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70" name="Freeform 312"/>
            <p:cNvSpPr>
              <a:spLocks/>
            </p:cNvSpPr>
            <p:nvPr/>
          </p:nvSpPr>
          <p:spPr bwMode="auto">
            <a:xfrm>
              <a:off x="9165" y="9273"/>
              <a:ext cx="152" cy="62"/>
            </a:xfrm>
            <a:custGeom>
              <a:avLst/>
              <a:gdLst>
                <a:gd name="T0" fmla="*/ 303 w 303"/>
                <a:gd name="T1" fmla="*/ 32 h 123"/>
                <a:gd name="T2" fmla="*/ 97 w 303"/>
                <a:gd name="T3" fmla="*/ 123 h 123"/>
                <a:gd name="T4" fmla="*/ 108 w 303"/>
                <a:gd name="T5" fmla="*/ 49 h 123"/>
                <a:gd name="T6" fmla="*/ 0 w 303"/>
                <a:gd name="T7" fmla="*/ 65 h 123"/>
                <a:gd name="T8" fmla="*/ 148 w 303"/>
                <a:gd name="T9" fmla="*/ 0 h 123"/>
                <a:gd name="T10" fmla="*/ 137 w 303"/>
                <a:gd name="T11" fmla="*/ 73 h 123"/>
                <a:gd name="T12" fmla="*/ 303 w 303"/>
                <a:gd name="T13" fmla="*/ 32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3"/>
                <a:gd name="T22" fmla="*/ 0 h 123"/>
                <a:gd name="T23" fmla="*/ 303 w 303"/>
                <a:gd name="T24" fmla="*/ 123 h 1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3" h="123">
                  <a:moveTo>
                    <a:pt x="303" y="32"/>
                  </a:moveTo>
                  <a:lnTo>
                    <a:pt x="97" y="123"/>
                  </a:lnTo>
                  <a:lnTo>
                    <a:pt x="108" y="49"/>
                  </a:lnTo>
                  <a:lnTo>
                    <a:pt x="0" y="65"/>
                  </a:lnTo>
                  <a:lnTo>
                    <a:pt x="148" y="0"/>
                  </a:lnTo>
                  <a:lnTo>
                    <a:pt x="137" y="73"/>
                  </a:lnTo>
                  <a:lnTo>
                    <a:pt x="303" y="32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71" name="Freeform 313"/>
            <p:cNvSpPr>
              <a:spLocks/>
            </p:cNvSpPr>
            <p:nvPr/>
          </p:nvSpPr>
          <p:spPr bwMode="auto">
            <a:xfrm>
              <a:off x="9169" y="9274"/>
              <a:ext cx="140" cy="60"/>
            </a:xfrm>
            <a:custGeom>
              <a:avLst/>
              <a:gdLst>
                <a:gd name="T0" fmla="*/ 279 w 279"/>
                <a:gd name="T1" fmla="*/ 35 h 119"/>
                <a:gd name="T2" fmla="*/ 90 w 279"/>
                <a:gd name="T3" fmla="*/ 119 h 119"/>
                <a:gd name="T4" fmla="*/ 101 w 279"/>
                <a:gd name="T5" fmla="*/ 46 h 119"/>
                <a:gd name="T6" fmla="*/ 0 w 279"/>
                <a:gd name="T7" fmla="*/ 61 h 119"/>
                <a:gd name="T8" fmla="*/ 137 w 279"/>
                <a:gd name="T9" fmla="*/ 0 h 119"/>
                <a:gd name="T10" fmla="*/ 127 w 279"/>
                <a:gd name="T11" fmla="*/ 75 h 119"/>
                <a:gd name="T12" fmla="*/ 279 w 279"/>
                <a:gd name="T13" fmla="*/ 35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9"/>
                <a:gd name="T22" fmla="*/ 0 h 119"/>
                <a:gd name="T23" fmla="*/ 279 w 279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9" h="119">
                  <a:moveTo>
                    <a:pt x="279" y="35"/>
                  </a:moveTo>
                  <a:lnTo>
                    <a:pt x="90" y="119"/>
                  </a:lnTo>
                  <a:lnTo>
                    <a:pt x="101" y="46"/>
                  </a:lnTo>
                  <a:lnTo>
                    <a:pt x="0" y="61"/>
                  </a:lnTo>
                  <a:lnTo>
                    <a:pt x="137" y="0"/>
                  </a:lnTo>
                  <a:lnTo>
                    <a:pt x="127" y="75"/>
                  </a:lnTo>
                  <a:lnTo>
                    <a:pt x="279" y="35"/>
                  </a:lnTo>
                  <a:close/>
                </a:path>
              </a:pathLst>
            </a:custGeom>
            <a:solidFill>
              <a:srgbClr val="4C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72" name="Freeform 314"/>
            <p:cNvSpPr>
              <a:spLocks/>
            </p:cNvSpPr>
            <p:nvPr/>
          </p:nvSpPr>
          <p:spPr bwMode="auto">
            <a:xfrm>
              <a:off x="9174" y="9276"/>
              <a:ext cx="127" cy="57"/>
            </a:xfrm>
            <a:custGeom>
              <a:avLst/>
              <a:gdLst>
                <a:gd name="T0" fmla="*/ 255 w 255"/>
                <a:gd name="T1" fmla="*/ 38 h 114"/>
                <a:gd name="T2" fmla="*/ 82 w 255"/>
                <a:gd name="T3" fmla="*/ 114 h 114"/>
                <a:gd name="T4" fmla="*/ 93 w 255"/>
                <a:gd name="T5" fmla="*/ 41 h 114"/>
                <a:gd name="T6" fmla="*/ 0 w 255"/>
                <a:gd name="T7" fmla="*/ 54 h 114"/>
                <a:gd name="T8" fmla="*/ 127 w 255"/>
                <a:gd name="T9" fmla="*/ 0 h 114"/>
                <a:gd name="T10" fmla="*/ 115 w 255"/>
                <a:gd name="T11" fmla="*/ 72 h 114"/>
                <a:gd name="T12" fmla="*/ 255 w 255"/>
                <a:gd name="T13" fmla="*/ 38 h 1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5"/>
                <a:gd name="T22" fmla="*/ 0 h 114"/>
                <a:gd name="T23" fmla="*/ 255 w 255"/>
                <a:gd name="T24" fmla="*/ 114 h 11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5" h="114">
                  <a:moveTo>
                    <a:pt x="255" y="38"/>
                  </a:moveTo>
                  <a:lnTo>
                    <a:pt x="82" y="114"/>
                  </a:lnTo>
                  <a:lnTo>
                    <a:pt x="93" y="41"/>
                  </a:lnTo>
                  <a:lnTo>
                    <a:pt x="0" y="54"/>
                  </a:lnTo>
                  <a:lnTo>
                    <a:pt x="127" y="0"/>
                  </a:lnTo>
                  <a:lnTo>
                    <a:pt x="115" y="72"/>
                  </a:lnTo>
                  <a:lnTo>
                    <a:pt x="255" y="38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73" name="Freeform 315"/>
            <p:cNvSpPr>
              <a:spLocks/>
            </p:cNvSpPr>
            <p:nvPr/>
          </p:nvSpPr>
          <p:spPr bwMode="auto">
            <a:xfrm>
              <a:off x="9179" y="9277"/>
              <a:ext cx="115" cy="55"/>
            </a:xfrm>
            <a:custGeom>
              <a:avLst/>
              <a:gdLst>
                <a:gd name="T0" fmla="*/ 231 w 231"/>
                <a:gd name="T1" fmla="*/ 41 h 111"/>
                <a:gd name="T2" fmla="*/ 75 w 231"/>
                <a:gd name="T3" fmla="*/ 111 h 111"/>
                <a:gd name="T4" fmla="*/ 86 w 231"/>
                <a:gd name="T5" fmla="*/ 37 h 111"/>
                <a:gd name="T6" fmla="*/ 0 w 231"/>
                <a:gd name="T7" fmla="*/ 50 h 111"/>
                <a:gd name="T8" fmla="*/ 115 w 231"/>
                <a:gd name="T9" fmla="*/ 0 h 111"/>
                <a:gd name="T10" fmla="*/ 104 w 231"/>
                <a:gd name="T11" fmla="*/ 75 h 111"/>
                <a:gd name="T12" fmla="*/ 231 w 231"/>
                <a:gd name="T13" fmla="*/ 41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1"/>
                <a:gd name="T22" fmla="*/ 0 h 111"/>
                <a:gd name="T23" fmla="*/ 231 w 231"/>
                <a:gd name="T24" fmla="*/ 111 h 1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1" h="111">
                  <a:moveTo>
                    <a:pt x="231" y="41"/>
                  </a:moveTo>
                  <a:lnTo>
                    <a:pt x="75" y="111"/>
                  </a:lnTo>
                  <a:lnTo>
                    <a:pt x="86" y="37"/>
                  </a:lnTo>
                  <a:lnTo>
                    <a:pt x="0" y="50"/>
                  </a:lnTo>
                  <a:lnTo>
                    <a:pt x="115" y="0"/>
                  </a:lnTo>
                  <a:lnTo>
                    <a:pt x="104" y="75"/>
                  </a:lnTo>
                  <a:lnTo>
                    <a:pt x="231" y="41"/>
                  </a:ln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74" name="Freeform 316"/>
            <p:cNvSpPr>
              <a:spLocks/>
            </p:cNvSpPr>
            <p:nvPr/>
          </p:nvSpPr>
          <p:spPr bwMode="auto">
            <a:xfrm>
              <a:off x="9184" y="9277"/>
              <a:ext cx="101" cy="53"/>
            </a:xfrm>
            <a:custGeom>
              <a:avLst/>
              <a:gdLst>
                <a:gd name="T0" fmla="*/ 203 w 203"/>
                <a:gd name="T1" fmla="*/ 45 h 106"/>
                <a:gd name="T2" fmla="*/ 66 w 203"/>
                <a:gd name="T3" fmla="*/ 106 h 106"/>
                <a:gd name="T4" fmla="*/ 76 w 203"/>
                <a:gd name="T5" fmla="*/ 33 h 106"/>
                <a:gd name="T6" fmla="*/ 0 w 203"/>
                <a:gd name="T7" fmla="*/ 45 h 106"/>
                <a:gd name="T8" fmla="*/ 102 w 203"/>
                <a:gd name="T9" fmla="*/ 0 h 106"/>
                <a:gd name="T10" fmla="*/ 91 w 203"/>
                <a:gd name="T11" fmla="*/ 74 h 106"/>
                <a:gd name="T12" fmla="*/ 203 w 203"/>
                <a:gd name="T13" fmla="*/ 45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3"/>
                <a:gd name="T22" fmla="*/ 0 h 106"/>
                <a:gd name="T23" fmla="*/ 203 w 203"/>
                <a:gd name="T24" fmla="*/ 106 h 10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3" h="106">
                  <a:moveTo>
                    <a:pt x="203" y="45"/>
                  </a:moveTo>
                  <a:lnTo>
                    <a:pt x="66" y="106"/>
                  </a:lnTo>
                  <a:lnTo>
                    <a:pt x="76" y="33"/>
                  </a:lnTo>
                  <a:lnTo>
                    <a:pt x="0" y="45"/>
                  </a:lnTo>
                  <a:lnTo>
                    <a:pt x="102" y="0"/>
                  </a:lnTo>
                  <a:lnTo>
                    <a:pt x="91" y="74"/>
                  </a:lnTo>
                  <a:lnTo>
                    <a:pt x="203" y="45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75" name="Freeform 317"/>
            <p:cNvSpPr>
              <a:spLocks/>
            </p:cNvSpPr>
            <p:nvPr/>
          </p:nvSpPr>
          <p:spPr bwMode="auto">
            <a:xfrm>
              <a:off x="9189" y="9279"/>
              <a:ext cx="89" cy="51"/>
            </a:xfrm>
            <a:custGeom>
              <a:avLst/>
              <a:gdLst>
                <a:gd name="T0" fmla="*/ 179 w 179"/>
                <a:gd name="T1" fmla="*/ 48 h 101"/>
                <a:gd name="T2" fmla="*/ 58 w 179"/>
                <a:gd name="T3" fmla="*/ 101 h 101"/>
                <a:gd name="T4" fmla="*/ 69 w 179"/>
                <a:gd name="T5" fmla="*/ 27 h 101"/>
                <a:gd name="T6" fmla="*/ 0 w 179"/>
                <a:gd name="T7" fmla="*/ 41 h 101"/>
                <a:gd name="T8" fmla="*/ 92 w 179"/>
                <a:gd name="T9" fmla="*/ 0 h 101"/>
                <a:gd name="T10" fmla="*/ 79 w 179"/>
                <a:gd name="T11" fmla="*/ 73 h 101"/>
                <a:gd name="T12" fmla="*/ 179 w 179"/>
                <a:gd name="T13" fmla="*/ 48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9"/>
                <a:gd name="T22" fmla="*/ 0 h 101"/>
                <a:gd name="T23" fmla="*/ 179 w 179"/>
                <a:gd name="T24" fmla="*/ 101 h 10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9" h="101">
                  <a:moveTo>
                    <a:pt x="179" y="48"/>
                  </a:moveTo>
                  <a:lnTo>
                    <a:pt x="58" y="101"/>
                  </a:lnTo>
                  <a:lnTo>
                    <a:pt x="69" y="27"/>
                  </a:lnTo>
                  <a:lnTo>
                    <a:pt x="0" y="41"/>
                  </a:lnTo>
                  <a:lnTo>
                    <a:pt x="92" y="0"/>
                  </a:lnTo>
                  <a:lnTo>
                    <a:pt x="79" y="73"/>
                  </a:lnTo>
                  <a:lnTo>
                    <a:pt x="179" y="48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76" name="Freeform 318"/>
            <p:cNvSpPr>
              <a:spLocks/>
            </p:cNvSpPr>
            <p:nvPr/>
          </p:nvSpPr>
          <p:spPr bwMode="auto">
            <a:xfrm>
              <a:off x="9193" y="9280"/>
              <a:ext cx="77" cy="49"/>
            </a:xfrm>
            <a:custGeom>
              <a:avLst/>
              <a:gdLst>
                <a:gd name="T0" fmla="*/ 154 w 154"/>
                <a:gd name="T1" fmla="*/ 52 h 99"/>
                <a:gd name="T2" fmla="*/ 51 w 154"/>
                <a:gd name="T3" fmla="*/ 99 h 99"/>
                <a:gd name="T4" fmla="*/ 61 w 154"/>
                <a:gd name="T5" fmla="*/ 24 h 99"/>
                <a:gd name="T6" fmla="*/ 0 w 154"/>
                <a:gd name="T7" fmla="*/ 37 h 99"/>
                <a:gd name="T8" fmla="*/ 80 w 154"/>
                <a:gd name="T9" fmla="*/ 0 h 99"/>
                <a:gd name="T10" fmla="*/ 69 w 154"/>
                <a:gd name="T11" fmla="*/ 75 h 99"/>
                <a:gd name="T12" fmla="*/ 154 w 154"/>
                <a:gd name="T13" fmla="*/ 52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4"/>
                <a:gd name="T22" fmla="*/ 0 h 99"/>
                <a:gd name="T23" fmla="*/ 154 w 154"/>
                <a:gd name="T24" fmla="*/ 99 h 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4" h="99">
                  <a:moveTo>
                    <a:pt x="154" y="52"/>
                  </a:moveTo>
                  <a:lnTo>
                    <a:pt x="51" y="99"/>
                  </a:lnTo>
                  <a:lnTo>
                    <a:pt x="61" y="24"/>
                  </a:lnTo>
                  <a:lnTo>
                    <a:pt x="0" y="37"/>
                  </a:lnTo>
                  <a:lnTo>
                    <a:pt x="80" y="0"/>
                  </a:lnTo>
                  <a:lnTo>
                    <a:pt x="69" y="75"/>
                  </a:lnTo>
                  <a:lnTo>
                    <a:pt x="154" y="52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77" name="Freeform 319"/>
            <p:cNvSpPr>
              <a:spLocks/>
            </p:cNvSpPr>
            <p:nvPr/>
          </p:nvSpPr>
          <p:spPr bwMode="auto">
            <a:xfrm>
              <a:off x="9198" y="9280"/>
              <a:ext cx="65" cy="47"/>
            </a:xfrm>
            <a:custGeom>
              <a:avLst/>
              <a:gdLst>
                <a:gd name="T0" fmla="*/ 130 w 130"/>
                <a:gd name="T1" fmla="*/ 56 h 94"/>
                <a:gd name="T2" fmla="*/ 43 w 130"/>
                <a:gd name="T3" fmla="*/ 94 h 94"/>
                <a:gd name="T4" fmla="*/ 54 w 130"/>
                <a:gd name="T5" fmla="*/ 21 h 94"/>
                <a:gd name="T6" fmla="*/ 0 w 130"/>
                <a:gd name="T7" fmla="*/ 32 h 94"/>
                <a:gd name="T8" fmla="*/ 69 w 130"/>
                <a:gd name="T9" fmla="*/ 0 h 94"/>
                <a:gd name="T10" fmla="*/ 57 w 130"/>
                <a:gd name="T11" fmla="*/ 74 h 94"/>
                <a:gd name="T12" fmla="*/ 130 w 130"/>
                <a:gd name="T13" fmla="*/ 56 h 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0"/>
                <a:gd name="T22" fmla="*/ 0 h 94"/>
                <a:gd name="T23" fmla="*/ 130 w 130"/>
                <a:gd name="T24" fmla="*/ 94 h 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0" h="94">
                  <a:moveTo>
                    <a:pt x="130" y="56"/>
                  </a:moveTo>
                  <a:lnTo>
                    <a:pt x="43" y="94"/>
                  </a:lnTo>
                  <a:lnTo>
                    <a:pt x="54" y="21"/>
                  </a:lnTo>
                  <a:lnTo>
                    <a:pt x="0" y="32"/>
                  </a:lnTo>
                  <a:lnTo>
                    <a:pt x="69" y="0"/>
                  </a:lnTo>
                  <a:lnTo>
                    <a:pt x="57" y="74"/>
                  </a:lnTo>
                  <a:lnTo>
                    <a:pt x="130" y="56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78" name="Freeform 320"/>
            <p:cNvSpPr>
              <a:spLocks/>
            </p:cNvSpPr>
            <p:nvPr/>
          </p:nvSpPr>
          <p:spPr bwMode="auto">
            <a:xfrm>
              <a:off x="9203" y="9282"/>
              <a:ext cx="51" cy="45"/>
            </a:xfrm>
            <a:custGeom>
              <a:avLst/>
              <a:gdLst>
                <a:gd name="T0" fmla="*/ 102 w 102"/>
                <a:gd name="T1" fmla="*/ 57 h 89"/>
                <a:gd name="T2" fmla="*/ 44 w 102"/>
                <a:gd name="T3" fmla="*/ 73 h 89"/>
                <a:gd name="T4" fmla="*/ 55 w 102"/>
                <a:gd name="T5" fmla="*/ 0 h 89"/>
                <a:gd name="T6" fmla="*/ 0 w 102"/>
                <a:gd name="T7" fmla="*/ 26 h 89"/>
                <a:gd name="T8" fmla="*/ 44 w 102"/>
                <a:gd name="T9" fmla="*/ 15 h 89"/>
                <a:gd name="T10" fmla="*/ 34 w 102"/>
                <a:gd name="T11" fmla="*/ 89 h 89"/>
                <a:gd name="T12" fmla="*/ 102 w 102"/>
                <a:gd name="T13" fmla="*/ 57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2"/>
                <a:gd name="T22" fmla="*/ 0 h 89"/>
                <a:gd name="T23" fmla="*/ 102 w 102"/>
                <a:gd name="T24" fmla="*/ 89 h 8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2" h="89">
                  <a:moveTo>
                    <a:pt x="102" y="57"/>
                  </a:moveTo>
                  <a:lnTo>
                    <a:pt x="44" y="73"/>
                  </a:lnTo>
                  <a:lnTo>
                    <a:pt x="55" y="0"/>
                  </a:lnTo>
                  <a:lnTo>
                    <a:pt x="0" y="26"/>
                  </a:lnTo>
                  <a:lnTo>
                    <a:pt x="44" y="15"/>
                  </a:lnTo>
                  <a:lnTo>
                    <a:pt x="34" y="89"/>
                  </a:lnTo>
                  <a:lnTo>
                    <a:pt x="102" y="5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79" name="Freeform 321"/>
            <p:cNvSpPr>
              <a:spLocks/>
            </p:cNvSpPr>
            <p:nvPr/>
          </p:nvSpPr>
          <p:spPr bwMode="auto">
            <a:xfrm>
              <a:off x="8806" y="9153"/>
              <a:ext cx="302" cy="387"/>
            </a:xfrm>
            <a:custGeom>
              <a:avLst/>
              <a:gdLst>
                <a:gd name="T0" fmla="*/ 334 w 606"/>
                <a:gd name="T1" fmla="*/ 1 h 774"/>
                <a:gd name="T2" fmla="*/ 394 w 606"/>
                <a:gd name="T3" fmla="*/ 13 h 774"/>
                <a:gd name="T4" fmla="*/ 447 w 606"/>
                <a:gd name="T5" fmla="*/ 36 h 774"/>
                <a:gd name="T6" fmla="*/ 496 w 606"/>
                <a:gd name="T7" fmla="*/ 70 h 774"/>
                <a:gd name="T8" fmla="*/ 537 w 606"/>
                <a:gd name="T9" fmla="*/ 112 h 774"/>
                <a:gd name="T10" fmla="*/ 569 w 606"/>
                <a:gd name="T11" fmla="*/ 161 h 774"/>
                <a:gd name="T12" fmla="*/ 592 w 606"/>
                <a:gd name="T13" fmla="*/ 216 h 774"/>
                <a:gd name="T14" fmla="*/ 604 w 606"/>
                <a:gd name="T15" fmla="*/ 275 h 774"/>
                <a:gd name="T16" fmla="*/ 604 w 606"/>
                <a:gd name="T17" fmla="*/ 337 h 774"/>
                <a:gd name="T18" fmla="*/ 592 w 606"/>
                <a:gd name="T19" fmla="*/ 397 h 774"/>
                <a:gd name="T20" fmla="*/ 569 w 606"/>
                <a:gd name="T21" fmla="*/ 451 h 774"/>
                <a:gd name="T22" fmla="*/ 537 w 606"/>
                <a:gd name="T23" fmla="*/ 500 h 774"/>
                <a:gd name="T24" fmla="*/ 505 w 606"/>
                <a:gd name="T25" fmla="*/ 535 h 774"/>
                <a:gd name="T26" fmla="*/ 469 w 606"/>
                <a:gd name="T27" fmla="*/ 573 h 774"/>
                <a:gd name="T28" fmla="*/ 432 w 606"/>
                <a:gd name="T29" fmla="*/ 632 h 774"/>
                <a:gd name="T30" fmla="*/ 408 w 606"/>
                <a:gd name="T31" fmla="*/ 719 h 774"/>
                <a:gd name="T32" fmla="*/ 202 w 606"/>
                <a:gd name="T33" fmla="*/ 774 h 774"/>
                <a:gd name="T34" fmla="*/ 188 w 606"/>
                <a:gd name="T35" fmla="*/ 672 h 774"/>
                <a:gd name="T36" fmla="*/ 156 w 606"/>
                <a:gd name="T37" fmla="*/ 599 h 774"/>
                <a:gd name="T38" fmla="*/ 118 w 606"/>
                <a:gd name="T39" fmla="*/ 552 h 774"/>
                <a:gd name="T40" fmla="*/ 87 w 606"/>
                <a:gd name="T41" fmla="*/ 521 h 774"/>
                <a:gd name="T42" fmla="*/ 52 w 606"/>
                <a:gd name="T43" fmla="*/ 476 h 774"/>
                <a:gd name="T44" fmla="*/ 25 w 606"/>
                <a:gd name="T45" fmla="*/ 424 h 774"/>
                <a:gd name="T46" fmla="*/ 6 w 606"/>
                <a:gd name="T47" fmla="*/ 368 h 774"/>
                <a:gd name="T48" fmla="*/ 0 w 606"/>
                <a:gd name="T49" fmla="*/ 307 h 774"/>
                <a:gd name="T50" fmla="*/ 6 w 606"/>
                <a:gd name="T51" fmla="*/ 245 h 774"/>
                <a:gd name="T52" fmla="*/ 23 w 606"/>
                <a:gd name="T53" fmla="*/ 188 h 774"/>
                <a:gd name="T54" fmla="*/ 52 w 606"/>
                <a:gd name="T55" fmla="*/ 135 h 774"/>
                <a:gd name="T56" fmla="*/ 89 w 606"/>
                <a:gd name="T57" fmla="*/ 89 h 774"/>
                <a:gd name="T58" fmla="*/ 133 w 606"/>
                <a:gd name="T59" fmla="*/ 53 h 774"/>
                <a:gd name="T60" fmla="*/ 185 w 606"/>
                <a:gd name="T61" fmla="*/ 24 h 774"/>
                <a:gd name="T62" fmla="*/ 243 w 606"/>
                <a:gd name="T63" fmla="*/ 6 h 774"/>
                <a:gd name="T64" fmla="*/ 304 w 606"/>
                <a:gd name="T65" fmla="*/ 0 h 77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06"/>
                <a:gd name="T100" fmla="*/ 0 h 774"/>
                <a:gd name="T101" fmla="*/ 606 w 606"/>
                <a:gd name="T102" fmla="*/ 774 h 77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06" h="774">
                  <a:moveTo>
                    <a:pt x="304" y="0"/>
                  </a:moveTo>
                  <a:lnTo>
                    <a:pt x="334" y="1"/>
                  </a:lnTo>
                  <a:lnTo>
                    <a:pt x="365" y="6"/>
                  </a:lnTo>
                  <a:lnTo>
                    <a:pt x="394" y="13"/>
                  </a:lnTo>
                  <a:lnTo>
                    <a:pt x="421" y="24"/>
                  </a:lnTo>
                  <a:lnTo>
                    <a:pt x="447" y="36"/>
                  </a:lnTo>
                  <a:lnTo>
                    <a:pt x="473" y="53"/>
                  </a:lnTo>
                  <a:lnTo>
                    <a:pt x="496" y="70"/>
                  </a:lnTo>
                  <a:lnTo>
                    <a:pt x="517" y="89"/>
                  </a:lnTo>
                  <a:lnTo>
                    <a:pt x="537" y="112"/>
                  </a:lnTo>
                  <a:lnTo>
                    <a:pt x="554" y="135"/>
                  </a:lnTo>
                  <a:lnTo>
                    <a:pt x="569" y="161"/>
                  </a:lnTo>
                  <a:lnTo>
                    <a:pt x="581" y="188"/>
                  </a:lnTo>
                  <a:lnTo>
                    <a:pt x="592" y="216"/>
                  </a:lnTo>
                  <a:lnTo>
                    <a:pt x="600" y="245"/>
                  </a:lnTo>
                  <a:lnTo>
                    <a:pt x="604" y="275"/>
                  </a:lnTo>
                  <a:lnTo>
                    <a:pt x="606" y="307"/>
                  </a:lnTo>
                  <a:lnTo>
                    <a:pt x="604" y="337"/>
                  </a:lnTo>
                  <a:lnTo>
                    <a:pt x="600" y="368"/>
                  </a:lnTo>
                  <a:lnTo>
                    <a:pt x="592" y="397"/>
                  </a:lnTo>
                  <a:lnTo>
                    <a:pt x="581" y="424"/>
                  </a:lnTo>
                  <a:lnTo>
                    <a:pt x="569" y="451"/>
                  </a:lnTo>
                  <a:lnTo>
                    <a:pt x="554" y="476"/>
                  </a:lnTo>
                  <a:lnTo>
                    <a:pt x="537" y="500"/>
                  </a:lnTo>
                  <a:lnTo>
                    <a:pt x="519" y="521"/>
                  </a:lnTo>
                  <a:lnTo>
                    <a:pt x="505" y="535"/>
                  </a:lnTo>
                  <a:lnTo>
                    <a:pt x="488" y="552"/>
                  </a:lnTo>
                  <a:lnTo>
                    <a:pt x="469" y="573"/>
                  </a:lnTo>
                  <a:lnTo>
                    <a:pt x="450" y="599"/>
                  </a:lnTo>
                  <a:lnTo>
                    <a:pt x="432" y="632"/>
                  </a:lnTo>
                  <a:lnTo>
                    <a:pt x="418" y="672"/>
                  </a:lnTo>
                  <a:lnTo>
                    <a:pt x="408" y="719"/>
                  </a:lnTo>
                  <a:lnTo>
                    <a:pt x="404" y="774"/>
                  </a:lnTo>
                  <a:lnTo>
                    <a:pt x="202" y="774"/>
                  </a:lnTo>
                  <a:lnTo>
                    <a:pt x="198" y="719"/>
                  </a:lnTo>
                  <a:lnTo>
                    <a:pt x="188" y="672"/>
                  </a:lnTo>
                  <a:lnTo>
                    <a:pt x="174" y="632"/>
                  </a:lnTo>
                  <a:lnTo>
                    <a:pt x="156" y="599"/>
                  </a:lnTo>
                  <a:lnTo>
                    <a:pt x="137" y="573"/>
                  </a:lnTo>
                  <a:lnTo>
                    <a:pt x="118" y="552"/>
                  </a:lnTo>
                  <a:lnTo>
                    <a:pt x="101" y="535"/>
                  </a:lnTo>
                  <a:lnTo>
                    <a:pt x="87" y="521"/>
                  </a:lnTo>
                  <a:lnTo>
                    <a:pt x="69" y="500"/>
                  </a:lnTo>
                  <a:lnTo>
                    <a:pt x="52" y="476"/>
                  </a:lnTo>
                  <a:lnTo>
                    <a:pt x="37" y="451"/>
                  </a:lnTo>
                  <a:lnTo>
                    <a:pt x="25" y="424"/>
                  </a:lnTo>
                  <a:lnTo>
                    <a:pt x="14" y="397"/>
                  </a:lnTo>
                  <a:lnTo>
                    <a:pt x="6" y="368"/>
                  </a:lnTo>
                  <a:lnTo>
                    <a:pt x="2" y="337"/>
                  </a:lnTo>
                  <a:lnTo>
                    <a:pt x="0" y="307"/>
                  </a:lnTo>
                  <a:lnTo>
                    <a:pt x="2" y="275"/>
                  </a:lnTo>
                  <a:lnTo>
                    <a:pt x="6" y="245"/>
                  </a:lnTo>
                  <a:lnTo>
                    <a:pt x="14" y="216"/>
                  </a:lnTo>
                  <a:lnTo>
                    <a:pt x="23" y="188"/>
                  </a:lnTo>
                  <a:lnTo>
                    <a:pt x="37" y="161"/>
                  </a:lnTo>
                  <a:lnTo>
                    <a:pt x="52" y="135"/>
                  </a:lnTo>
                  <a:lnTo>
                    <a:pt x="69" y="112"/>
                  </a:lnTo>
                  <a:lnTo>
                    <a:pt x="89" y="89"/>
                  </a:lnTo>
                  <a:lnTo>
                    <a:pt x="110" y="70"/>
                  </a:lnTo>
                  <a:lnTo>
                    <a:pt x="133" y="53"/>
                  </a:lnTo>
                  <a:lnTo>
                    <a:pt x="159" y="36"/>
                  </a:lnTo>
                  <a:lnTo>
                    <a:pt x="185" y="24"/>
                  </a:lnTo>
                  <a:lnTo>
                    <a:pt x="212" y="13"/>
                  </a:lnTo>
                  <a:lnTo>
                    <a:pt x="243" y="6"/>
                  </a:lnTo>
                  <a:lnTo>
                    <a:pt x="272" y="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80" name="Freeform 322"/>
            <p:cNvSpPr>
              <a:spLocks/>
            </p:cNvSpPr>
            <p:nvPr/>
          </p:nvSpPr>
          <p:spPr bwMode="auto">
            <a:xfrm>
              <a:off x="8809" y="9156"/>
              <a:ext cx="296" cy="384"/>
            </a:xfrm>
            <a:custGeom>
              <a:avLst/>
              <a:gdLst>
                <a:gd name="T0" fmla="*/ 328 w 594"/>
                <a:gd name="T1" fmla="*/ 2 h 770"/>
                <a:gd name="T2" fmla="*/ 386 w 594"/>
                <a:gd name="T3" fmla="*/ 14 h 770"/>
                <a:gd name="T4" fmla="*/ 438 w 594"/>
                <a:gd name="T5" fmla="*/ 38 h 770"/>
                <a:gd name="T6" fmla="*/ 485 w 594"/>
                <a:gd name="T7" fmla="*/ 72 h 770"/>
                <a:gd name="T8" fmla="*/ 527 w 594"/>
                <a:gd name="T9" fmla="*/ 113 h 770"/>
                <a:gd name="T10" fmla="*/ 559 w 594"/>
                <a:gd name="T11" fmla="*/ 161 h 770"/>
                <a:gd name="T12" fmla="*/ 580 w 594"/>
                <a:gd name="T13" fmla="*/ 218 h 770"/>
                <a:gd name="T14" fmla="*/ 592 w 594"/>
                <a:gd name="T15" fmla="*/ 277 h 770"/>
                <a:gd name="T16" fmla="*/ 592 w 594"/>
                <a:gd name="T17" fmla="*/ 338 h 770"/>
                <a:gd name="T18" fmla="*/ 580 w 594"/>
                <a:gd name="T19" fmla="*/ 396 h 770"/>
                <a:gd name="T20" fmla="*/ 557 w 594"/>
                <a:gd name="T21" fmla="*/ 449 h 770"/>
                <a:gd name="T22" fmla="*/ 525 w 594"/>
                <a:gd name="T23" fmla="*/ 497 h 770"/>
                <a:gd name="T24" fmla="*/ 493 w 594"/>
                <a:gd name="T25" fmla="*/ 532 h 770"/>
                <a:gd name="T26" fmla="*/ 459 w 594"/>
                <a:gd name="T27" fmla="*/ 570 h 770"/>
                <a:gd name="T28" fmla="*/ 423 w 594"/>
                <a:gd name="T29" fmla="*/ 628 h 770"/>
                <a:gd name="T30" fmla="*/ 398 w 594"/>
                <a:gd name="T31" fmla="*/ 715 h 770"/>
                <a:gd name="T32" fmla="*/ 199 w 594"/>
                <a:gd name="T33" fmla="*/ 770 h 770"/>
                <a:gd name="T34" fmla="*/ 185 w 594"/>
                <a:gd name="T35" fmla="*/ 668 h 770"/>
                <a:gd name="T36" fmla="*/ 154 w 594"/>
                <a:gd name="T37" fmla="*/ 596 h 770"/>
                <a:gd name="T38" fmla="*/ 116 w 594"/>
                <a:gd name="T39" fmla="*/ 549 h 770"/>
                <a:gd name="T40" fmla="*/ 87 w 594"/>
                <a:gd name="T41" fmla="*/ 519 h 770"/>
                <a:gd name="T42" fmla="*/ 52 w 594"/>
                <a:gd name="T43" fmla="*/ 475 h 770"/>
                <a:gd name="T44" fmla="*/ 25 w 594"/>
                <a:gd name="T45" fmla="*/ 423 h 770"/>
                <a:gd name="T46" fmla="*/ 6 w 594"/>
                <a:gd name="T47" fmla="*/ 367 h 770"/>
                <a:gd name="T48" fmla="*/ 0 w 594"/>
                <a:gd name="T49" fmla="*/ 307 h 770"/>
                <a:gd name="T50" fmla="*/ 6 w 594"/>
                <a:gd name="T51" fmla="*/ 247 h 770"/>
                <a:gd name="T52" fmla="*/ 23 w 594"/>
                <a:gd name="T53" fmla="*/ 189 h 770"/>
                <a:gd name="T54" fmla="*/ 51 w 594"/>
                <a:gd name="T55" fmla="*/ 137 h 770"/>
                <a:gd name="T56" fmla="*/ 86 w 594"/>
                <a:gd name="T57" fmla="*/ 92 h 770"/>
                <a:gd name="T58" fmla="*/ 130 w 594"/>
                <a:gd name="T59" fmla="*/ 54 h 770"/>
                <a:gd name="T60" fmla="*/ 180 w 594"/>
                <a:gd name="T61" fmla="*/ 25 h 770"/>
                <a:gd name="T62" fmla="*/ 237 w 594"/>
                <a:gd name="T63" fmla="*/ 6 h 770"/>
                <a:gd name="T64" fmla="*/ 298 w 594"/>
                <a:gd name="T65" fmla="*/ 0 h 77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94"/>
                <a:gd name="T100" fmla="*/ 0 h 770"/>
                <a:gd name="T101" fmla="*/ 594 w 594"/>
                <a:gd name="T102" fmla="*/ 770 h 77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94" h="770">
                  <a:moveTo>
                    <a:pt x="298" y="0"/>
                  </a:moveTo>
                  <a:lnTo>
                    <a:pt x="328" y="2"/>
                  </a:lnTo>
                  <a:lnTo>
                    <a:pt x="357" y="6"/>
                  </a:lnTo>
                  <a:lnTo>
                    <a:pt x="386" y="14"/>
                  </a:lnTo>
                  <a:lnTo>
                    <a:pt x="412" y="25"/>
                  </a:lnTo>
                  <a:lnTo>
                    <a:pt x="438" y="38"/>
                  </a:lnTo>
                  <a:lnTo>
                    <a:pt x="463" y="54"/>
                  </a:lnTo>
                  <a:lnTo>
                    <a:pt x="485" y="72"/>
                  </a:lnTo>
                  <a:lnTo>
                    <a:pt x="507" y="92"/>
                  </a:lnTo>
                  <a:lnTo>
                    <a:pt x="527" y="113"/>
                  </a:lnTo>
                  <a:lnTo>
                    <a:pt x="543" y="137"/>
                  </a:lnTo>
                  <a:lnTo>
                    <a:pt x="559" y="161"/>
                  </a:lnTo>
                  <a:lnTo>
                    <a:pt x="571" y="189"/>
                  </a:lnTo>
                  <a:lnTo>
                    <a:pt x="580" y="218"/>
                  </a:lnTo>
                  <a:lnTo>
                    <a:pt x="588" y="247"/>
                  </a:lnTo>
                  <a:lnTo>
                    <a:pt x="592" y="277"/>
                  </a:lnTo>
                  <a:lnTo>
                    <a:pt x="594" y="307"/>
                  </a:lnTo>
                  <a:lnTo>
                    <a:pt x="592" y="338"/>
                  </a:lnTo>
                  <a:lnTo>
                    <a:pt x="588" y="367"/>
                  </a:lnTo>
                  <a:lnTo>
                    <a:pt x="580" y="396"/>
                  </a:lnTo>
                  <a:lnTo>
                    <a:pt x="569" y="423"/>
                  </a:lnTo>
                  <a:lnTo>
                    <a:pt x="557" y="449"/>
                  </a:lnTo>
                  <a:lnTo>
                    <a:pt x="542" y="475"/>
                  </a:lnTo>
                  <a:lnTo>
                    <a:pt x="525" y="497"/>
                  </a:lnTo>
                  <a:lnTo>
                    <a:pt x="507" y="519"/>
                  </a:lnTo>
                  <a:lnTo>
                    <a:pt x="493" y="532"/>
                  </a:lnTo>
                  <a:lnTo>
                    <a:pt x="478" y="549"/>
                  </a:lnTo>
                  <a:lnTo>
                    <a:pt x="459" y="570"/>
                  </a:lnTo>
                  <a:lnTo>
                    <a:pt x="440" y="596"/>
                  </a:lnTo>
                  <a:lnTo>
                    <a:pt x="423" y="628"/>
                  </a:lnTo>
                  <a:lnTo>
                    <a:pt x="409" y="668"/>
                  </a:lnTo>
                  <a:lnTo>
                    <a:pt x="398" y="715"/>
                  </a:lnTo>
                  <a:lnTo>
                    <a:pt x="395" y="770"/>
                  </a:lnTo>
                  <a:lnTo>
                    <a:pt x="199" y="770"/>
                  </a:lnTo>
                  <a:lnTo>
                    <a:pt x="196" y="715"/>
                  </a:lnTo>
                  <a:lnTo>
                    <a:pt x="185" y="668"/>
                  </a:lnTo>
                  <a:lnTo>
                    <a:pt x="171" y="628"/>
                  </a:lnTo>
                  <a:lnTo>
                    <a:pt x="154" y="596"/>
                  </a:lnTo>
                  <a:lnTo>
                    <a:pt x="134" y="570"/>
                  </a:lnTo>
                  <a:lnTo>
                    <a:pt x="116" y="549"/>
                  </a:lnTo>
                  <a:lnTo>
                    <a:pt x="101" y="532"/>
                  </a:lnTo>
                  <a:lnTo>
                    <a:pt x="87" y="519"/>
                  </a:lnTo>
                  <a:lnTo>
                    <a:pt x="69" y="497"/>
                  </a:lnTo>
                  <a:lnTo>
                    <a:pt x="52" y="475"/>
                  </a:lnTo>
                  <a:lnTo>
                    <a:pt x="37" y="449"/>
                  </a:lnTo>
                  <a:lnTo>
                    <a:pt x="25" y="423"/>
                  </a:lnTo>
                  <a:lnTo>
                    <a:pt x="14" y="396"/>
                  </a:lnTo>
                  <a:lnTo>
                    <a:pt x="6" y="367"/>
                  </a:lnTo>
                  <a:lnTo>
                    <a:pt x="2" y="338"/>
                  </a:lnTo>
                  <a:lnTo>
                    <a:pt x="0" y="307"/>
                  </a:lnTo>
                  <a:lnTo>
                    <a:pt x="2" y="277"/>
                  </a:lnTo>
                  <a:lnTo>
                    <a:pt x="6" y="247"/>
                  </a:lnTo>
                  <a:lnTo>
                    <a:pt x="14" y="218"/>
                  </a:lnTo>
                  <a:lnTo>
                    <a:pt x="23" y="189"/>
                  </a:lnTo>
                  <a:lnTo>
                    <a:pt x="35" y="161"/>
                  </a:lnTo>
                  <a:lnTo>
                    <a:pt x="51" y="137"/>
                  </a:lnTo>
                  <a:lnTo>
                    <a:pt x="67" y="113"/>
                  </a:lnTo>
                  <a:lnTo>
                    <a:pt x="86" y="92"/>
                  </a:lnTo>
                  <a:lnTo>
                    <a:pt x="107" y="72"/>
                  </a:lnTo>
                  <a:lnTo>
                    <a:pt x="130" y="54"/>
                  </a:lnTo>
                  <a:lnTo>
                    <a:pt x="154" y="38"/>
                  </a:lnTo>
                  <a:lnTo>
                    <a:pt x="180" y="25"/>
                  </a:lnTo>
                  <a:lnTo>
                    <a:pt x="208" y="14"/>
                  </a:lnTo>
                  <a:lnTo>
                    <a:pt x="237" y="6"/>
                  </a:lnTo>
                  <a:lnTo>
                    <a:pt x="267" y="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81" name="Freeform 323"/>
            <p:cNvSpPr>
              <a:spLocks/>
            </p:cNvSpPr>
            <p:nvPr/>
          </p:nvSpPr>
          <p:spPr bwMode="auto">
            <a:xfrm>
              <a:off x="8812" y="9158"/>
              <a:ext cx="290" cy="382"/>
            </a:xfrm>
            <a:custGeom>
              <a:avLst/>
              <a:gdLst>
                <a:gd name="T0" fmla="*/ 321 w 582"/>
                <a:gd name="T1" fmla="*/ 1 h 765"/>
                <a:gd name="T2" fmla="*/ 379 w 582"/>
                <a:gd name="T3" fmla="*/ 14 h 765"/>
                <a:gd name="T4" fmla="*/ 431 w 582"/>
                <a:gd name="T5" fmla="*/ 38 h 765"/>
                <a:gd name="T6" fmla="*/ 476 w 582"/>
                <a:gd name="T7" fmla="*/ 71 h 765"/>
                <a:gd name="T8" fmla="*/ 516 w 582"/>
                <a:gd name="T9" fmla="*/ 112 h 765"/>
                <a:gd name="T10" fmla="*/ 547 w 582"/>
                <a:gd name="T11" fmla="*/ 161 h 765"/>
                <a:gd name="T12" fmla="*/ 568 w 582"/>
                <a:gd name="T13" fmla="*/ 217 h 765"/>
                <a:gd name="T14" fmla="*/ 580 w 582"/>
                <a:gd name="T15" fmla="*/ 277 h 765"/>
                <a:gd name="T16" fmla="*/ 580 w 582"/>
                <a:gd name="T17" fmla="*/ 337 h 765"/>
                <a:gd name="T18" fmla="*/ 566 w 582"/>
                <a:gd name="T19" fmla="*/ 394 h 765"/>
                <a:gd name="T20" fmla="*/ 544 w 582"/>
                <a:gd name="T21" fmla="*/ 447 h 765"/>
                <a:gd name="T22" fmla="*/ 513 w 582"/>
                <a:gd name="T23" fmla="*/ 494 h 765"/>
                <a:gd name="T24" fmla="*/ 481 w 582"/>
                <a:gd name="T25" fmla="*/ 529 h 765"/>
                <a:gd name="T26" fmla="*/ 447 w 582"/>
                <a:gd name="T27" fmla="*/ 567 h 765"/>
                <a:gd name="T28" fmla="*/ 412 w 582"/>
                <a:gd name="T29" fmla="*/ 625 h 765"/>
                <a:gd name="T30" fmla="*/ 389 w 582"/>
                <a:gd name="T31" fmla="*/ 710 h 765"/>
                <a:gd name="T32" fmla="*/ 196 w 582"/>
                <a:gd name="T33" fmla="*/ 765 h 765"/>
                <a:gd name="T34" fmla="*/ 183 w 582"/>
                <a:gd name="T35" fmla="*/ 664 h 765"/>
                <a:gd name="T36" fmla="*/ 153 w 582"/>
                <a:gd name="T37" fmla="*/ 593 h 765"/>
                <a:gd name="T38" fmla="*/ 116 w 582"/>
                <a:gd name="T39" fmla="*/ 546 h 765"/>
                <a:gd name="T40" fmla="*/ 87 w 582"/>
                <a:gd name="T41" fmla="*/ 515 h 765"/>
                <a:gd name="T42" fmla="*/ 54 w 582"/>
                <a:gd name="T43" fmla="*/ 471 h 765"/>
                <a:gd name="T44" fmla="*/ 26 w 582"/>
                <a:gd name="T45" fmla="*/ 421 h 765"/>
                <a:gd name="T46" fmla="*/ 6 w 582"/>
                <a:gd name="T47" fmla="*/ 366 h 765"/>
                <a:gd name="T48" fmla="*/ 0 w 582"/>
                <a:gd name="T49" fmla="*/ 307 h 765"/>
                <a:gd name="T50" fmla="*/ 6 w 582"/>
                <a:gd name="T51" fmla="*/ 246 h 765"/>
                <a:gd name="T52" fmla="*/ 23 w 582"/>
                <a:gd name="T53" fmla="*/ 188 h 765"/>
                <a:gd name="T54" fmla="*/ 49 w 582"/>
                <a:gd name="T55" fmla="*/ 137 h 765"/>
                <a:gd name="T56" fmla="*/ 84 w 582"/>
                <a:gd name="T57" fmla="*/ 91 h 765"/>
                <a:gd name="T58" fmla="*/ 127 w 582"/>
                <a:gd name="T59" fmla="*/ 53 h 765"/>
                <a:gd name="T60" fmla="*/ 176 w 582"/>
                <a:gd name="T61" fmla="*/ 24 h 765"/>
                <a:gd name="T62" fmla="*/ 231 w 582"/>
                <a:gd name="T63" fmla="*/ 6 h 765"/>
                <a:gd name="T64" fmla="*/ 292 w 582"/>
                <a:gd name="T65" fmla="*/ 0 h 76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82"/>
                <a:gd name="T100" fmla="*/ 0 h 765"/>
                <a:gd name="T101" fmla="*/ 582 w 582"/>
                <a:gd name="T102" fmla="*/ 765 h 76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82" h="765">
                  <a:moveTo>
                    <a:pt x="292" y="0"/>
                  </a:moveTo>
                  <a:lnTo>
                    <a:pt x="321" y="1"/>
                  </a:lnTo>
                  <a:lnTo>
                    <a:pt x="350" y="6"/>
                  </a:lnTo>
                  <a:lnTo>
                    <a:pt x="379" y="14"/>
                  </a:lnTo>
                  <a:lnTo>
                    <a:pt x="405" y="24"/>
                  </a:lnTo>
                  <a:lnTo>
                    <a:pt x="431" y="38"/>
                  </a:lnTo>
                  <a:lnTo>
                    <a:pt x="453" y="53"/>
                  </a:lnTo>
                  <a:lnTo>
                    <a:pt x="476" y="71"/>
                  </a:lnTo>
                  <a:lnTo>
                    <a:pt x="496" y="91"/>
                  </a:lnTo>
                  <a:lnTo>
                    <a:pt x="516" y="112"/>
                  </a:lnTo>
                  <a:lnTo>
                    <a:pt x="533" y="137"/>
                  </a:lnTo>
                  <a:lnTo>
                    <a:pt x="547" y="161"/>
                  </a:lnTo>
                  <a:lnTo>
                    <a:pt x="559" y="188"/>
                  </a:lnTo>
                  <a:lnTo>
                    <a:pt x="568" y="217"/>
                  </a:lnTo>
                  <a:lnTo>
                    <a:pt x="576" y="246"/>
                  </a:lnTo>
                  <a:lnTo>
                    <a:pt x="580" y="277"/>
                  </a:lnTo>
                  <a:lnTo>
                    <a:pt x="582" y="307"/>
                  </a:lnTo>
                  <a:lnTo>
                    <a:pt x="580" y="337"/>
                  </a:lnTo>
                  <a:lnTo>
                    <a:pt x="576" y="366"/>
                  </a:lnTo>
                  <a:lnTo>
                    <a:pt x="566" y="394"/>
                  </a:lnTo>
                  <a:lnTo>
                    <a:pt x="557" y="421"/>
                  </a:lnTo>
                  <a:lnTo>
                    <a:pt x="544" y="447"/>
                  </a:lnTo>
                  <a:lnTo>
                    <a:pt x="528" y="471"/>
                  </a:lnTo>
                  <a:lnTo>
                    <a:pt x="513" y="494"/>
                  </a:lnTo>
                  <a:lnTo>
                    <a:pt x="495" y="515"/>
                  </a:lnTo>
                  <a:lnTo>
                    <a:pt x="481" y="529"/>
                  </a:lnTo>
                  <a:lnTo>
                    <a:pt x="466" y="546"/>
                  </a:lnTo>
                  <a:lnTo>
                    <a:pt x="447" y="567"/>
                  </a:lnTo>
                  <a:lnTo>
                    <a:pt x="429" y="593"/>
                  </a:lnTo>
                  <a:lnTo>
                    <a:pt x="412" y="625"/>
                  </a:lnTo>
                  <a:lnTo>
                    <a:pt x="399" y="664"/>
                  </a:lnTo>
                  <a:lnTo>
                    <a:pt x="389" y="710"/>
                  </a:lnTo>
                  <a:lnTo>
                    <a:pt x="386" y="765"/>
                  </a:lnTo>
                  <a:lnTo>
                    <a:pt x="196" y="765"/>
                  </a:lnTo>
                  <a:lnTo>
                    <a:pt x="193" y="710"/>
                  </a:lnTo>
                  <a:lnTo>
                    <a:pt x="183" y="664"/>
                  </a:lnTo>
                  <a:lnTo>
                    <a:pt x="170" y="625"/>
                  </a:lnTo>
                  <a:lnTo>
                    <a:pt x="153" y="593"/>
                  </a:lnTo>
                  <a:lnTo>
                    <a:pt x="135" y="567"/>
                  </a:lnTo>
                  <a:lnTo>
                    <a:pt x="116" y="546"/>
                  </a:lnTo>
                  <a:lnTo>
                    <a:pt x="101" y="529"/>
                  </a:lnTo>
                  <a:lnTo>
                    <a:pt x="87" y="515"/>
                  </a:lnTo>
                  <a:lnTo>
                    <a:pt x="69" y="494"/>
                  </a:lnTo>
                  <a:lnTo>
                    <a:pt x="54" y="471"/>
                  </a:lnTo>
                  <a:lnTo>
                    <a:pt x="38" y="447"/>
                  </a:lnTo>
                  <a:lnTo>
                    <a:pt x="26" y="421"/>
                  </a:lnTo>
                  <a:lnTo>
                    <a:pt x="16" y="394"/>
                  </a:lnTo>
                  <a:lnTo>
                    <a:pt x="6" y="366"/>
                  </a:lnTo>
                  <a:lnTo>
                    <a:pt x="2" y="337"/>
                  </a:lnTo>
                  <a:lnTo>
                    <a:pt x="0" y="307"/>
                  </a:lnTo>
                  <a:lnTo>
                    <a:pt x="2" y="277"/>
                  </a:lnTo>
                  <a:lnTo>
                    <a:pt x="6" y="246"/>
                  </a:lnTo>
                  <a:lnTo>
                    <a:pt x="13" y="217"/>
                  </a:lnTo>
                  <a:lnTo>
                    <a:pt x="23" y="188"/>
                  </a:lnTo>
                  <a:lnTo>
                    <a:pt x="34" y="161"/>
                  </a:lnTo>
                  <a:lnTo>
                    <a:pt x="49" y="137"/>
                  </a:lnTo>
                  <a:lnTo>
                    <a:pt x="64" y="112"/>
                  </a:lnTo>
                  <a:lnTo>
                    <a:pt x="84" y="91"/>
                  </a:lnTo>
                  <a:lnTo>
                    <a:pt x="104" y="71"/>
                  </a:lnTo>
                  <a:lnTo>
                    <a:pt x="127" y="53"/>
                  </a:lnTo>
                  <a:lnTo>
                    <a:pt x="150" y="38"/>
                  </a:lnTo>
                  <a:lnTo>
                    <a:pt x="176" y="24"/>
                  </a:lnTo>
                  <a:lnTo>
                    <a:pt x="203" y="14"/>
                  </a:lnTo>
                  <a:lnTo>
                    <a:pt x="231" y="6"/>
                  </a:lnTo>
                  <a:lnTo>
                    <a:pt x="261" y="1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B2B2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82" name="Freeform 324"/>
            <p:cNvSpPr>
              <a:spLocks/>
            </p:cNvSpPr>
            <p:nvPr/>
          </p:nvSpPr>
          <p:spPr bwMode="auto">
            <a:xfrm>
              <a:off x="8815" y="9161"/>
              <a:ext cx="284" cy="379"/>
            </a:xfrm>
            <a:custGeom>
              <a:avLst/>
              <a:gdLst>
                <a:gd name="T0" fmla="*/ 315 w 570"/>
                <a:gd name="T1" fmla="*/ 1 h 759"/>
                <a:gd name="T2" fmla="*/ 370 w 570"/>
                <a:gd name="T3" fmla="*/ 14 h 759"/>
                <a:gd name="T4" fmla="*/ 422 w 570"/>
                <a:gd name="T5" fmla="*/ 38 h 759"/>
                <a:gd name="T6" fmla="*/ 466 w 570"/>
                <a:gd name="T7" fmla="*/ 70 h 759"/>
                <a:gd name="T8" fmla="*/ 505 w 570"/>
                <a:gd name="T9" fmla="*/ 112 h 759"/>
                <a:gd name="T10" fmla="*/ 536 w 570"/>
                <a:gd name="T11" fmla="*/ 161 h 759"/>
                <a:gd name="T12" fmla="*/ 557 w 570"/>
                <a:gd name="T13" fmla="*/ 214 h 759"/>
                <a:gd name="T14" fmla="*/ 568 w 570"/>
                <a:gd name="T15" fmla="*/ 274 h 759"/>
                <a:gd name="T16" fmla="*/ 568 w 570"/>
                <a:gd name="T17" fmla="*/ 334 h 759"/>
                <a:gd name="T18" fmla="*/ 554 w 570"/>
                <a:gd name="T19" fmla="*/ 391 h 759"/>
                <a:gd name="T20" fmla="*/ 531 w 570"/>
                <a:gd name="T21" fmla="*/ 444 h 759"/>
                <a:gd name="T22" fmla="*/ 499 w 570"/>
                <a:gd name="T23" fmla="*/ 491 h 759"/>
                <a:gd name="T24" fmla="*/ 470 w 570"/>
                <a:gd name="T25" fmla="*/ 526 h 759"/>
                <a:gd name="T26" fmla="*/ 437 w 570"/>
                <a:gd name="T27" fmla="*/ 562 h 759"/>
                <a:gd name="T28" fmla="*/ 403 w 570"/>
                <a:gd name="T29" fmla="*/ 620 h 759"/>
                <a:gd name="T30" fmla="*/ 380 w 570"/>
                <a:gd name="T31" fmla="*/ 705 h 759"/>
                <a:gd name="T32" fmla="*/ 193 w 570"/>
                <a:gd name="T33" fmla="*/ 759 h 759"/>
                <a:gd name="T34" fmla="*/ 180 w 570"/>
                <a:gd name="T35" fmla="*/ 658 h 759"/>
                <a:gd name="T36" fmla="*/ 150 w 570"/>
                <a:gd name="T37" fmla="*/ 588 h 759"/>
                <a:gd name="T38" fmla="*/ 115 w 570"/>
                <a:gd name="T39" fmla="*/ 541 h 759"/>
                <a:gd name="T40" fmla="*/ 87 w 570"/>
                <a:gd name="T41" fmla="*/ 512 h 759"/>
                <a:gd name="T42" fmla="*/ 54 w 570"/>
                <a:gd name="T43" fmla="*/ 468 h 759"/>
                <a:gd name="T44" fmla="*/ 26 w 570"/>
                <a:gd name="T45" fmla="*/ 418 h 759"/>
                <a:gd name="T46" fmla="*/ 8 w 570"/>
                <a:gd name="T47" fmla="*/ 363 h 759"/>
                <a:gd name="T48" fmla="*/ 0 w 570"/>
                <a:gd name="T49" fmla="*/ 304 h 759"/>
                <a:gd name="T50" fmla="*/ 7 w 570"/>
                <a:gd name="T51" fmla="*/ 243 h 759"/>
                <a:gd name="T52" fmla="*/ 22 w 570"/>
                <a:gd name="T53" fmla="*/ 187 h 759"/>
                <a:gd name="T54" fmla="*/ 48 w 570"/>
                <a:gd name="T55" fmla="*/ 135 h 759"/>
                <a:gd name="T56" fmla="*/ 81 w 570"/>
                <a:gd name="T57" fmla="*/ 90 h 759"/>
                <a:gd name="T58" fmla="*/ 122 w 570"/>
                <a:gd name="T59" fmla="*/ 53 h 759"/>
                <a:gd name="T60" fmla="*/ 171 w 570"/>
                <a:gd name="T61" fmla="*/ 24 h 759"/>
                <a:gd name="T62" fmla="*/ 226 w 570"/>
                <a:gd name="T63" fmla="*/ 6 h 759"/>
                <a:gd name="T64" fmla="*/ 286 w 570"/>
                <a:gd name="T65" fmla="*/ 0 h 75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70"/>
                <a:gd name="T100" fmla="*/ 0 h 759"/>
                <a:gd name="T101" fmla="*/ 570 w 570"/>
                <a:gd name="T102" fmla="*/ 759 h 75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70" h="759">
                  <a:moveTo>
                    <a:pt x="286" y="0"/>
                  </a:moveTo>
                  <a:lnTo>
                    <a:pt x="315" y="1"/>
                  </a:lnTo>
                  <a:lnTo>
                    <a:pt x="344" y="6"/>
                  </a:lnTo>
                  <a:lnTo>
                    <a:pt x="370" y="14"/>
                  </a:lnTo>
                  <a:lnTo>
                    <a:pt x="397" y="24"/>
                  </a:lnTo>
                  <a:lnTo>
                    <a:pt x="422" y="38"/>
                  </a:lnTo>
                  <a:lnTo>
                    <a:pt x="444" y="53"/>
                  </a:lnTo>
                  <a:lnTo>
                    <a:pt x="466" y="70"/>
                  </a:lnTo>
                  <a:lnTo>
                    <a:pt x="487" y="90"/>
                  </a:lnTo>
                  <a:lnTo>
                    <a:pt x="505" y="112"/>
                  </a:lnTo>
                  <a:lnTo>
                    <a:pt x="521" y="135"/>
                  </a:lnTo>
                  <a:lnTo>
                    <a:pt x="536" y="161"/>
                  </a:lnTo>
                  <a:lnTo>
                    <a:pt x="547" y="187"/>
                  </a:lnTo>
                  <a:lnTo>
                    <a:pt x="557" y="214"/>
                  </a:lnTo>
                  <a:lnTo>
                    <a:pt x="563" y="243"/>
                  </a:lnTo>
                  <a:lnTo>
                    <a:pt x="568" y="274"/>
                  </a:lnTo>
                  <a:lnTo>
                    <a:pt x="570" y="304"/>
                  </a:lnTo>
                  <a:lnTo>
                    <a:pt x="568" y="334"/>
                  </a:lnTo>
                  <a:lnTo>
                    <a:pt x="562" y="363"/>
                  </a:lnTo>
                  <a:lnTo>
                    <a:pt x="554" y="391"/>
                  </a:lnTo>
                  <a:lnTo>
                    <a:pt x="544" y="418"/>
                  </a:lnTo>
                  <a:lnTo>
                    <a:pt x="531" y="444"/>
                  </a:lnTo>
                  <a:lnTo>
                    <a:pt x="516" y="468"/>
                  </a:lnTo>
                  <a:lnTo>
                    <a:pt x="499" y="491"/>
                  </a:lnTo>
                  <a:lnTo>
                    <a:pt x="483" y="512"/>
                  </a:lnTo>
                  <a:lnTo>
                    <a:pt x="470" y="526"/>
                  </a:lnTo>
                  <a:lnTo>
                    <a:pt x="455" y="541"/>
                  </a:lnTo>
                  <a:lnTo>
                    <a:pt x="437" y="562"/>
                  </a:lnTo>
                  <a:lnTo>
                    <a:pt x="420" y="588"/>
                  </a:lnTo>
                  <a:lnTo>
                    <a:pt x="403" y="620"/>
                  </a:lnTo>
                  <a:lnTo>
                    <a:pt x="390" y="658"/>
                  </a:lnTo>
                  <a:lnTo>
                    <a:pt x="380" y="705"/>
                  </a:lnTo>
                  <a:lnTo>
                    <a:pt x="377" y="759"/>
                  </a:lnTo>
                  <a:lnTo>
                    <a:pt x="193" y="759"/>
                  </a:lnTo>
                  <a:lnTo>
                    <a:pt x="190" y="705"/>
                  </a:lnTo>
                  <a:lnTo>
                    <a:pt x="180" y="658"/>
                  </a:lnTo>
                  <a:lnTo>
                    <a:pt x="167" y="620"/>
                  </a:lnTo>
                  <a:lnTo>
                    <a:pt x="150" y="588"/>
                  </a:lnTo>
                  <a:lnTo>
                    <a:pt x="133" y="562"/>
                  </a:lnTo>
                  <a:lnTo>
                    <a:pt x="115" y="541"/>
                  </a:lnTo>
                  <a:lnTo>
                    <a:pt x="100" y="526"/>
                  </a:lnTo>
                  <a:lnTo>
                    <a:pt x="87" y="512"/>
                  </a:lnTo>
                  <a:lnTo>
                    <a:pt x="71" y="491"/>
                  </a:lnTo>
                  <a:lnTo>
                    <a:pt x="54" y="468"/>
                  </a:lnTo>
                  <a:lnTo>
                    <a:pt x="39" y="444"/>
                  </a:lnTo>
                  <a:lnTo>
                    <a:pt x="26" y="418"/>
                  </a:lnTo>
                  <a:lnTo>
                    <a:pt x="16" y="391"/>
                  </a:lnTo>
                  <a:lnTo>
                    <a:pt x="8" y="363"/>
                  </a:lnTo>
                  <a:lnTo>
                    <a:pt x="2" y="334"/>
                  </a:lnTo>
                  <a:lnTo>
                    <a:pt x="0" y="304"/>
                  </a:lnTo>
                  <a:lnTo>
                    <a:pt x="2" y="274"/>
                  </a:lnTo>
                  <a:lnTo>
                    <a:pt x="7" y="243"/>
                  </a:lnTo>
                  <a:lnTo>
                    <a:pt x="13" y="214"/>
                  </a:lnTo>
                  <a:lnTo>
                    <a:pt x="22" y="187"/>
                  </a:lnTo>
                  <a:lnTo>
                    <a:pt x="34" y="161"/>
                  </a:lnTo>
                  <a:lnTo>
                    <a:pt x="48" y="135"/>
                  </a:lnTo>
                  <a:lnTo>
                    <a:pt x="63" y="112"/>
                  </a:lnTo>
                  <a:lnTo>
                    <a:pt x="81" y="90"/>
                  </a:lnTo>
                  <a:lnTo>
                    <a:pt x="101" y="70"/>
                  </a:lnTo>
                  <a:lnTo>
                    <a:pt x="122" y="53"/>
                  </a:lnTo>
                  <a:lnTo>
                    <a:pt x="147" y="38"/>
                  </a:lnTo>
                  <a:lnTo>
                    <a:pt x="171" y="24"/>
                  </a:lnTo>
                  <a:lnTo>
                    <a:pt x="199" y="14"/>
                  </a:lnTo>
                  <a:lnTo>
                    <a:pt x="226" y="6"/>
                  </a:lnTo>
                  <a:lnTo>
                    <a:pt x="255" y="1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BFB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83" name="Freeform 325"/>
            <p:cNvSpPr>
              <a:spLocks/>
            </p:cNvSpPr>
            <p:nvPr/>
          </p:nvSpPr>
          <p:spPr bwMode="auto">
            <a:xfrm>
              <a:off x="8818" y="9163"/>
              <a:ext cx="278" cy="377"/>
            </a:xfrm>
            <a:custGeom>
              <a:avLst/>
              <a:gdLst>
                <a:gd name="T0" fmla="*/ 308 w 556"/>
                <a:gd name="T1" fmla="*/ 1 h 754"/>
                <a:gd name="T2" fmla="*/ 361 w 556"/>
                <a:gd name="T3" fmla="*/ 13 h 754"/>
                <a:gd name="T4" fmla="*/ 411 w 556"/>
                <a:gd name="T5" fmla="*/ 38 h 754"/>
                <a:gd name="T6" fmla="*/ 456 w 556"/>
                <a:gd name="T7" fmla="*/ 71 h 754"/>
                <a:gd name="T8" fmla="*/ 494 w 556"/>
                <a:gd name="T9" fmla="*/ 112 h 754"/>
                <a:gd name="T10" fmla="*/ 523 w 556"/>
                <a:gd name="T11" fmla="*/ 161 h 754"/>
                <a:gd name="T12" fmla="*/ 544 w 556"/>
                <a:gd name="T13" fmla="*/ 215 h 754"/>
                <a:gd name="T14" fmla="*/ 555 w 556"/>
                <a:gd name="T15" fmla="*/ 273 h 754"/>
                <a:gd name="T16" fmla="*/ 555 w 556"/>
                <a:gd name="T17" fmla="*/ 334 h 754"/>
                <a:gd name="T18" fmla="*/ 541 w 556"/>
                <a:gd name="T19" fmla="*/ 390 h 754"/>
                <a:gd name="T20" fmla="*/ 517 w 556"/>
                <a:gd name="T21" fmla="*/ 442 h 754"/>
                <a:gd name="T22" fmla="*/ 486 w 556"/>
                <a:gd name="T23" fmla="*/ 488 h 754"/>
                <a:gd name="T24" fmla="*/ 457 w 556"/>
                <a:gd name="T25" fmla="*/ 521 h 754"/>
                <a:gd name="T26" fmla="*/ 425 w 556"/>
                <a:gd name="T27" fmla="*/ 559 h 754"/>
                <a:gd name="T28" fmla="*/ 392 w 556"/>
                <a:gd name="T29" fmla="*/ 617 h 754"/>
                <a:gd name="T30" fmla="*/ 370 w 556"/>
                <a:gd name="T31" fmla="*/ 700 h 754"/>
                <a:gd name="T32" fmla="*/ 189 w 556"/>
                <a:gd name="T33" fmla="*/ 754 h 754"/>
                <a:gd name="T34" fmla="*/ 177 w 556"/>
                <a:gd name="T35" fmla="*/ 655 h 754"/>
                <a:gd name="T36" fmla="*/ 148 w 556"/>
                <a:gd name="T37" fmla="*/ 585 h 754"/>
                <a:gd name="T38" fmla="*/ 114 w 556"/>
                <a:gd name="T39" fmla="*/ 538 h 754"/>
                <a:gd name="T40" fmla="*/ 86 w 556"/>
                <a:gd name="T41" fmla="*/ 509 h 754"/>
                <a:gd name="T42" fmla="*/ 53 w 556"/>
                <a:gd name="T43" fmla="*/ 466 h 754"/>
                <a:gd name="T44" fmla="*/ 25 w 556"/>
                <a:gd name="T45" fmla="*/ 416 h 754"/>
                <a:gd name="T46" fmla="*/ 7 w 556"/>
                <a:gd name="T47" fmla="*/ 363 h 754"/>
                <a:gd name="T48" fmla="*/ 0 w 556"/>
                <a:gd name="T49" fmla="*/ 304 h 754"/>
                <a:gd name="T50" fmla="*/ 4 w 556"/>
                <a:gd name="T51" fmla="*/ 244 h 754"/>
                <a:gd name="T52" fmla="*/ 21 w 556"/>
                <a:gd name="T53" fmla="*/ 188 h 754"/>
                <a:gd name="T54" fmla="*/ 45 w 556"/>
                <a:gd name="T55" fmla="*/ 136 h 754"/>
                <a:gd name="T56" fmla="*/ 77 w 556"/>
                <a:gd name="T57" fmla="*/ 91 h 754"/>
                <a:gd name="T58" fmla="*/ 119 w 556"/>
                <a:gd name="T59" fmla="*/ 53 h 754"/>
                <a:gd name="T60" fmla="*/ 166 w 556"/>
                <a:gd name="T61" fmla="*/ 24 h 754"/>
                <a:gd name="T62" fmla="*/ 219 w 556"/>
                <a:gd name="T63" fmla="*/ 6 h 754"/>
                <a:gd name="T64" fmla="*/ 279 w 556"/>
                <a:gd name="T65" fmla="*/ 0 h 75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56"/>
                <a:gd name="T100" fmla="*/ 0 h 754"/>
                <a:gd name="T101" fmla="*/ 556 w 556"/>
                <a:gd name="T102" fmla="*/ 754 h 75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56" h="754">
                  <a:moveTo>
                    <a:pt x="279" y="0"/>
                  </a:moveTo>
                  <a:lnTo>
                    <a:pt x="308" y="1"/>
                  </a:lnTo>
                  <a:lnTo>
                    <a:pt x="335" y="6"/>
                  </a:lnTo>
                  <a:lnTo>
                    <a:pt x="361" y="13"/>
                  </a:lnTo>
                  <a:lnTo>
                    <a:pt x="387" y="24"/>
                  </a:lnTo>
                  <a:lnTo>
                    <a:pt x="411" y="38"/>
                  </a:lnTo>
                  <a:lnTo>
                    <a:pt x="434" y="53"/>
                  </a:lnTo>
                  <a:lnTo>
                    <a:pt x="456" y="71"/>
                  </a:lnTo>
                  <a:lnTo>
                    <a:pt x="476" y="91"/>
                  </a:lnTo>
                  <a:lnTo>
                    <a:pt x="494" y="112"/>
                  </a:lnTo>
                  <a:lnTo>
                    <a:pt x="509" y="136"/>
                  </a:lnTo>
                  <a:lnTo>
                    <a:pt x="523" y="161"/>
                  </a:lnTo>
                  <a:lnTo>
                    <a:pt x="535" y="188"/>
                  </a:lnTo>
                  <a:lnTo>
                    <a:pt x="544" y="215"/>
                  </a:lnTo>
                  <a:lnTo>
                    <a:pt x="550" y="244"/>
                  </a:lnTo>
                  <a:lnTo>
                    <a:pt x="555" y="273"/>
                  </a:lnTo>
                  <a:lnTo>
                    <a:pt x="556" y="304"/>
                  </a:lnTo>
                  <a:lnTo>
                    <a:pt x="555" y="334"/>
                  </a:lnTo>
                  <a:lnTo>
                    <a:pt x="549" y="363"/>
                  </a:lnTo>
                  <a:lnTo>
                    <a:pt x="541" y="390"/>
                  </a:lnTo>
                  <a:lnTo>
                    <a:pt x="531" y="416"/>
                  </a:lnTo>
                  <a:lnTo>
                    <a:pt x="517" y="442"/>
                  </a:lnTo>
                  <a:lnTo>
                    <a:pt x="503" y="466"/>
                  </a:lnTo>
                  <a:lnTo>
                    <a:pt x="486" y="488"/>
                  </a:lnTo>
                  <a:lnTo>
                    <a:pt x="469" y="509"/>
                  </a:lnTo>
                  <a:lnTo>
                    <a:pt x="457" y="521"/>
                  </a:lnTo>
                  <a:lnTo>
                    <a:pt x="442" y="538"/>
                  </a:lnTo>
                  <a:lnTo>
                    <a:pt x="425" y="559"/>
                  </a:lnTo>
                  <a:lnTo>
                    <a:pt x="408" y="585"/>
                  </a:lnTo>
                  <a:lnTo>
                    <a:pt x="392" y="617"/>
                  </a:lnTo>
                  <a:lnTo>
                    <a:pt x="379" y="655"/>
                  </a:lnTo>
                  <a:lnTo>
                    <a:pt x="370" y="700"/>
                  </a:lnTo>
                  <a:lnTo>
                    <a:pt x="367" y="754"/>
                  </a:lnTo>
                  <a:lnTo>
                    <a:pt x="189" y="754"/>
                  </a:lnTo>
                  <a:lnTo>
                    <a:pt x="186" y="700"/>
                  </a:lnTo>
                  <a:lnTo>
                    <a:pt x="177" y="655"/>
                  </a:lnTo>
                  <a:lnTo>
                    <a:pt x="164" y="617"/>
                  </a:lnTo>
                  <a:lnTo>
                    <a:pt x="148" y="585"/>
                  </a:lnTo>
                  <a:lnTo>
                    <a:pt x="131" y="559"/>
                  </a:lnTo>
                  <a:lnTo>
                    <a:pt x="114" y="538"/>
                  </a:lnTo>
                  <a:lnTo>
                    <a:pt x="99" y="521"/>
                  </a:lnTo>
                  <a:lnTo>
                    <a:pt x="86" y="509"/>
                  </a:lnTo>
                  <a:lnTo>
                    <a:pt x="70" y="488"/>
                  </a:lnTo>
                  <a:lnTo>
                    <a:pt x="53" y="466"/>
                  </a:lnTo>
                  <a:lnTo>
                    <a:pt x="39" y="442"/>
                  </a:lnTo>
                  <a:lnTo>
                    <a:pt x="25" y="416"/>
                  </a:lnTo>
                  <a:lnTo>
                    <a:pt x="15" y="390"/>
                  </a:lnTo>
                  <a:lnTo>
                    <a:pt x="7" y="363"/>
                  </a:lnTo>
                  <a:lnTo>
                    <a:pt x="1" y="334"/>
                  </a:lnTo>
                  <a:lnTo>
                    <a:pt x="0" y="304"/>
                  </a:lnTo>
                  <a:lnTo>
                    <a:pt x="1" y="273"/>
                  </a:lnTo>
                  <a:lnTo>
                    <a:pt x="4" y="244"/>
                  </a:lnTo>
                  <a:lnTo>
                    <a:pt x="12" y="215"/>
                  </a:lnTo>
                  <a:lnTo>
                    <a:pt x="21" y="188"/>
                  </a:lnTo>
                  <a:lnTo>
                    <a:pt x="32" y="161"/>
                  </a:lnTo>
                  <a:lnTo>
                    <a:pt x="45" y="136"/>
                  </a:lnTo>
                  <a:lnTo>
                    <a:pt x="61" y="112"/>
                  </a:lnTo>
                  <a:lnTo>
                    <a:pt x="77" y="91"/>
                  </a:lnTo>
                  <a:lnTo>
                    <a:pt x="97" y="71"/>
                  </a:lnTo>
                  <a:lnTo>
                    <a:pt x="119" y="53"/>
                  </a:lnTo>
                  <a:lnTo>
                    <a:pt x="141" y="38"/>
                  </a:lnTo>
                  <a:lnTo>
                    <a:pt x="166" y="24"/>
                  </a:lnTo>
                  <a:lnTo>
                    <a:pt x="192" y="13"/>
                  </a:lnTo>
                  <a:lnTo>
                    <a:pt x="219" y="6"/>
                  </a:lnTo>
                  <a:lnTo>
                    <a:pt x="248" y="1"/>
                  </a:lnTo>
                  <a:lnTo>
                    <a:pt x="279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84" name="Freeform 326"/>
            <p:cNvSpPr>
              <a:spLocks/>
            </p:cNvSpPr>
            <p:nvPr/>
          </p:nvSpPr>
          <p:spPr bwMode="auto">
            <a:xfrm>
              <a:off x="8821" y="9166"/>
              <a:ext cx="272" cy="374"/>
            </a:xfrm>
            <a:custGeom>
              <a:avLst/>
              <a:gdLst>
                <a:gd name="T0" fmla="*/ 300 w 544"/>
                <a:gd name="T1" fmla="*/ 2 h 750"/>
                <a:gd name="T2" fmla="*/ 354 w 544"/>
                <a:gd name="T3" fmla="*/ 14 h 750"/>
                <a:gd name="T4" fmla="*/ 402 w 544"/>
                <a:gd name="T5" fmla="*/ 38 h 750"/>
                <a:gd name="T6" fmla="*/ 447 w 544"/>
                <a:gd name="T7" fmla="*/ 72 h 750"/>
                <a:gd name="T8" fmla="*/ 483 w 544"/>
                <a:gd name="T9" fmla="*/ 113 h 750"/>
                <a:gd name="T10" fmla="*/ 512 w 544"/>
                <a:gd name="T11" fmla="*/ 161 h 750"/>
                <a:gd name="T12" fmla="*/ 532 w 544"/>
                <a:gd name="T13" fmla="*/ 216 h 750"/>
                <a:gd name="T14" fmla="*/ 543 w 544"/>
                <a:gd name="T15" fmla="*/ 274 h 750"/>
                <a:gd name="T16" fmla="*/ 543 w 544"/>
                <a:gd name="T17" fmla="*/ 333 h 750"/>
                <a:gd name="T18" fmla="*/ 529 w 544"/>
                <a:gd name="T19" fmla="*/ 389 h 750"/>
                <a:gd name="T20" fmla="*/ 505 w 544"/>
                <a:gd name="T21" fmla="*/ 441 h 750"/>
                <a:gd name="T22" fmla="*/ 474 w 544"/>
                <a:gd name="T23" fmla="*/ 487 h 750"/>
                <a:gd name="T24" fmla="*/ 445 w 544"/>
                <a:gd name="T25" fmla="*/ 520 h 750"/>
                <a:gd name="T26" fmla="*/ 415 w 544"/>
                <a:gd name="T27" fmla="*/ 556 h 750"/>
                <a:gd name="T28" fmla="*/ 383 w 544"/>
                <a:gd name="T29" fmla="*/ 613 h 750"/>
                <a:gd name="T30" fmla="*/ 361 w 544"/>
                <a:gd name="T31" fmla="*/ 696 h 750"/>
                <a:gd name="T32" fmla="*/ 186 w 544"/>
                <a:gd name="T33" fmla="*/ 750 h 750"/>
                <a:gd name="T34" fmla="*/ 174 w 544"/>
                <a:gd name="T35" fmla="*/ 651 h 750"/>
                <a:gd name="T36" fmla="*/ 146 w 544"/>
                <a:gd name="T37" fmla="*/ 582 h 750"/>
                <a:gd name="T38" fmla="*/ 113 w 544"/>
                <a:gd name="T39" fmla="*/ 537 h 750"/>
                <a:gd name="T40" fmla="*/ 87 w 544"/>
                <a:gd name="T41" fmla="*/ 508 h 750"/>
                <a:gd name="T42" fmla="*/ 55 w 544"/>
                <a:gd name="T43" fmla="*/ 465 h 750"/>
                <a:gd name="T44" fmla="*/ 27 w 544"/>
                <a:gd name="T45" fmla="*/ 415 h 750"/>
                <a:gd name="T46" fmla="*/ 7 w 544"/>
                <a:gd name="T47" fmla="*/ 362 h 750"/>
                <a:gd name="T48" fmla="*/ 0 w 544"/>
                <a:gd name="T49" fmla="*/ 304 h 750"/>
                <a:gd name="T50" fmla="*/ 4 w 544"/>
                <a:gd name="T51" fmla="*/ 245 h 750"/>
                <a:gd name="T52" fmla="*/ 19 w 544"/>
                <a:gd name="T53" fmla="*/ 189 h 750"/>
                <a:gd name="T54" fmla="*/ 44 w 544"/>
                <a:gd name="T55" fmla="*/ 137 h 750"/>
                <a:gd name="T56" fmla="*/ 76 w 544"/>
                <a:gd name="T57" fmla="*/ 91 h 750"/>
                <a:gd name="T58" fmla="*/ 116 w 544"/>
                <a:gd name="T59" fmla="*/ 53 h 750"/>
                <a:gd name="T60" fmla="*/ 161 w 544"/>
                <a:gd name="T61" fmla="*/ 24 h 750"/>
                <a:gd name="T62" fmla="*/ 215 w 544"/>
                <a:gd name="T63" fmla="*/ 6 h 750"/>
                <a:gd name="T64" fmla="*/ 273 w 544"/>
                <a:gd name="T65" fmla="*/ 0 h 75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44"/>
                <a:gd name="T100" fmla="*/ 0 h 750"/>
                <a:gd name="T101" fmla="*/ 544 w 544"/>
                <a:gd name="T102" fmla="*/ 750 h 75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44" h="750">
                  <a:moveTo>
                    <a:pt x="273" y="0"/>
                  </a:moveTo>
                  <a:lnTo>
                    <a:pt x="300" y="2"/>
                  </a:lnTo>
                  <a:lnTo>
                    <a:pt x="328" y="6"/>
                  </a:lnTo>
                  <a:lnTo>
                    <a:pt x="354" y="14"/>
                  </a:lnTo>
                  <a:lnTo>
                    <a:pt x="380" y="24"/>
                  </a:lnTo>
                  <a:lnTo>
                    <a:pt x="402" y="38"/>
                  </a:lnTo>
                  <a:lnTo>
                    <a:pt x="425" y="53"/>
                  </a:lnTo>
                  <a:lnTo>
                    <a:pt x="447" y="72"/>
                  </a:lnTo>
                  <a:lnTo>
                    <a:pt x="465" y="91"/>
                  </a:lnTo>
                  <a:lnTo>
                    <a:pt x="483" y="113"/>
                  </a:lnTo>
                  <a:lnTo>
                    <a:pt x="499" y="137"/>
                  </a:lnTo>
                  <a:lnTo>
                    <a:pt x="512" y="161"/>
                  </a:lnTo>
                  <a:lnTo>
                    <a:pt x="523" y="189"/>
                  </a:lnTo>
                  <a:lnTo>
                    <a:pt x="532" y="216"/>
                  </a:lnTo>
                  <a:lnTo>
                    <a:pt x="538" y="245"/>
                  </a:lnTo>
                  <a:lnTo>
                    <a:pt x="543" y="274"/>
                  </a:lnTo>
                  <a:lnTo>
                    <a:pt x="544" y="304"/>
                  </a:lnTo>
                  <a:lnTo>
                    <a:pt x="543" y="333"/>
                  </a:lnTo>
                  <a:lnTo>
                    <a:pt x="537" y="362"/>
                  </a:lnTo>
                  <a:lnTo>
                    <a:pt x="529" y="389"/>
                  </a:lnTo>
                  <a:lnTo>
                    <a:pt x="517" y="415"/>
                  </a:lnTo>
                  <a:lnTo>
                    <a:pt x="505" y="441"/>
                  </a:lnTo>
                  <a:lnTo>
                    <a:pt x="489" y="465"/>
                  </a:lnTo>
                  <a:lnTo>
                    <a:pt x="474" y="487"/>
                  </a:lnTo>
                  <a:lnTo>
                    <a:pt x="457" y="508"/>
                  </a:lnTo>
                  <a:lnTo>
                    <a:pt x="445" y="520"/>
                  </a:lnTo>
                  <a:lnTo>
                    <a:pt x="431" y="537"/>
                  </a:lnTo>
                  <a:lnTo>
                    <a:pt x="415" y="556"/>
                  </a:lnTo>
                  <a:lnTo>
                    <a:pt x="398" y="582"/>
                  </a:lnTo>
                  <a:lnTo>
                    <a:pt x="383" y="613"/>
                  </a:lnTo>
                  <a:lnTo>
                    <a:pt x="370" y="651"/>
                  </a:lnTo>
                  <a:lnTo>
                    <a:pt x="361" y="696"/>
                  </a:lnTo>
                  <a:lnTo>
                    <a:pt x="358" y="750"/>
                  </a:lnTo>
                  <a:lnTo>
                    <a:pt x="186" y="750"/>
                  </a:lnTo>
                  <a:lnTo>
                    <a:pt x="183" y="696"/>
                  </a:lnTo>
                  <a:lnTo>
                    <a:pt x="174" y="651"/>
                  </a:lnTo>
                  <a:lnTo>
                    <a:pt x="161" y="613"/>
                  </a:lnTo>
                  <a:lnTo>
                    <a:pt x="146" y="582"/>
                  </a:lnTo>
                  <a:lnTo>
                    <a:pt x="129" y="556"/>
                  </a:lnTo>
                  <a:lnTo>
                    <a:pt x="113" y="537"/>
                  </a:lnTo>
                  <a:lnTo>
                    <a:pt x="99" y="520"/>
                  </a:lnTo>
                  <a:lnTo>
                    <a:pt x="87" y="508"/>
                  </a:lnTo>
                  <a:lnTo>
                    <a:pt x="70" y="487"/>
                  </a:lnTo>
                  <a:lnTo>
                    <a:pt x="55" y="465"/>
                  </a:lnTo>
                  <a:lnTo>
                    <a:pt x="39" y="441"/>
                  </a:lnTo>
                  <a:lnTo>
                    <a:pt x="27" y="415"/>
                  </a:lnTo>
                  <a:lnTo>
                    <a:pt x="15" y="389"/>
                  </a:lnTo>
                  <a:lnTo>
                    <a:pt x="7" y="362"/>
                  </a:lnTo>
                  <a:lnTo>
                    <a:pt x="1" y="333"/>
                  </a:lnTo>
                  <a:lnTo>
                    <a:pt x="0" y="304"/>
                  </a:lnTo>
                  <a:lnTo>
                    <a:pt x="1" y="274"/>
                  </a:lnTo>
                  <a:lnTo>
                    <a:pt x="4" y="245"/>
                  </a:lnTo>
                  <a:lnTo>
                    <a:pt x="10" y="216"/>
                  </a:lnTo>
                  <a:lnTo>
                    <a:pt x="19" y="189"/>
                  </a:lnTo>
                  <a:lnTo>
                    <a:pt x="30" y="161"/>
                  </a:lnTo>
                  <a:lnTo>
                    <a:pt x="44" y="137"/>
                  </a:lnTo>
                  <a:lnTo>
                    <a:pt x="59" y="113"/>
                  </a:lnTo>
                  <a:lnTo>
                    <a:pt x="76" y="91"/>
                  </a:lnTo>
                  <a:lnTo>
                    <a:pt x="94" y="72"/>
                  </a:lnTo>
                  <a:lnTo>
                    <a:pt x="116" y="53"/>
                  </a:lnTo>
                  <a:lnTo>
                    <a:pt x="138" y="38"/>
                  </a:lnTo>
                  <a:lnTo>
                    <a:pt x="161" y="24"/>
                  </a:lnTo>
                  <a:lnTo>
                    <a:pt x="187" y="14"/>
                  </a:lnTo>
                  <a:lnTo>
                    <a:pt x="215" y="6"/>
                  </a:lnTo>
                  <a:lnTo>
                    <a:pt x="244" y="2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D8D8D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85" name="Freeform 327"/>
            <p:cNvSpPr>
              <a:spLocks/>
            </p:cNvSpPr>
            <p:nvPr/>
          </p:nvSpPr>
          <p:spPr bwMode="auto">
            <a:xfrm>
              <a:off x="8824" y="9168"/>
              <a:ext cx="266" cy="372"/>
            </a:xfrm>
            <a:custGeom>
              <a:avLst/>
              <a:gdLst>
                <a:gd name="T0" fmla="*/ 294 w 532"/>
                <a:gd name="T1" fmla="*/ 1 h 745"/>
                <a:gd name="T2" fmla="*/ 346 w 532"/>
                <a:gd name="T3" fmla="*/ 13 h 745"/>
                <a:gd name="T4" fmla="*/ 393 w 532"/>
                <a:gd name="T5" fmla="*/ 38 h 745"/>
                <a:gd name="T6" fmla="*/ 436 w 532"/>
                <a:gd name="T7" fmla="*/ 71 h 745"/>
                <a:gd name="T8" fmla="*/ 473 w 532"/>
                <a:gd name="T9" fmla="*/ 112 h 745"/>
                <a:gd name="T10" fmla="*/ 500 w 532"/>
                <a:gd name="T11" fmla="*/ 161 h 745"/>
                <a:gd name="T12" fmla="*/ 520 w 532"/>
                <a:gd name="T13" fmla="*/ 216 h 745"/>
                <a:gd name="T14" fmla="*/ 531 w 532"/>
                <a:gd name="T15" fmla="*/ 272 h 745"/>
                <a:gd name="T16" fmla="*/ 531 w 532"/>
                <a:gd name="T17" fmla="*/ 331 h 745"/>
                <a:gd name="T18" fmla="*/ 515 w 532"/>
                <a:gd name="T19" fmla="*/ 387 h 745"/>
                <a:gd name="T20" fmla="*/ 491 w 532"/>
                <a:gd name="T21" fmla="*/ 439 h 745"/>
                <a:gd name="T22" fmla="*/ 461 w 532"/>
                <a:gd name="T23" fmla="*/ 485 h 745"/>
                <a:gd name="T24" fmla="*/ 433 w 532"/>
                <a:gd name="T25" fmla="*/ 517 h 745"/>
                <a:gd name="T26" fmla="*/ 404 w 532"/>
                <a:gd name="T27" fmla="*/ 553 h 745"/>
                <a:gd name="T28" fmla="*/ 372 w 532"/>
                <a:gd name="T29" fmla="*/ 609 h 745"/>
                <a:gd name="T30" fmla="*/ 352 w 532"/>
                <a:gd name="T31" fmla="*/ 691 h 745"/>
                <a:gd name="T32" fmla="*/ 183 w 532"/>
                <a:gd name="T33" fmla="*/ 745 h 745"/>
                <a:gd name="T34" fmla="*/ 172 w 532"/>
                <a:gd name="T35" fmla="*/ 647 h 745"/>
                <a:gd name="T36" fmla="*/ 145 w 532"/>
                <a:gd name="T37" fmla="*/ 579 h 745"/>
                <a:gd name="T38" fmla="*/ 113 w 532"/>
                <a:gd name="T39" fmla="*/ 533 h 745"/>
                <a:gd name="T40" fmla="*/ 87 w 532"/>
                <a:gd name="T41" fmla="*/ 504 h 745"/>
                <a:gd name="T42" fmla="*/ 55 w 532"/>
                <a:gd name="T43" fmla="*/ 462 h 745"/>
                <a:gd name="T44" fmla="*/ 27 w 532"/>
                <a:gd name="T45" fmla="*/ 413 h 745"/>
                <a:gd name="T46" fmla="*/ 7 w 532"/>
                <a:gd name="T47" fmla="*/ 360 h 745"/>
                <a:gd name="T48" fmla="*/ 0 w 532"/>
                <a:gd name="T49" fmla="*/ 302 h 745"/>
                <a:gd name="T50" fmla="*/ 4 w 532"/>
                <a:gd name="T51" fmla="*/ 243 h 745"/>
                <a:gd name="T52" fmla="*/ 20 w 532"/>
                <a:gd name="T53" fmla="*/ 188 h 745"/>
                <a:gd name="T54" fmla="*/ 42 w 532"/>
                <a:gd name="T55" fmla="*/ 136 h 745"/>
                <a:gd name="T56" fmla="*/ 73 w 532"/>
                <a:gd name="T57" fmla="*/ 91 h 745"/>
                <a:gd name="T58" fmla="*/ 111 w 532"/>
                <a:gd name="T59" fmla="*/ 53 h 745"/>
                <a:gd name="T60" fmla="*/ 157 w 532"/>
                <a:gd name="T61" fmla="*/ 24 h 745"/>
                <a:gd name="T62" fmla="*/ 209 w 532"/>
                <a:gd name="T63" fmla="*/ 6 h 745"/>
                <a:gd name="T64" fmla="*/ 267 w 532"/>
                <a:gd name="T65" fmla="*/ 0 h 74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32"/>
                <a:gd name="T100" fmla="*/ 0 h 745"/>
                <a:gd name="T101" fmla="*/ 532 w 532"/>
                <a:gd name="T102" fmla="*/ 745 h 74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32" h="745">
                  <a:moveTo>
                    <a:pt x="267" y="0"/>
                  </a:moveTo>
                  <a:lnTo>
                    <a:pt x="294" y="1"/>
                  </a:lnTo>
                  <a:lnTo>
                    <a:pt x="320" y="6"/>
                  </a:lnTo>
                  <a:lnTo>
                    <a:pt x="346" y="13"/>
                  </a:lnTo>
                  <a:lnTo>
                    <a:pt x="371" y="24"/>
                  </a:lnTo>
                  <a:lnTo>
                    <a:pt x="393" y="38"/>
                  </a:lnTo>
                  <a:lnTo>
                    <a:pt x="416" y="53"/>
                  </a:lnTo>
                  <a:lnTo>
                    <a:pt x="436" y="71"/>
                  </a:lnTo>
                  <a:lnTo>
                    <a:pt x="454" y="91"/>
                  </a:lnTo>
                  <a:lnTo>
                    <a:pt x="473" y="112"/>
                  </a:lnTo>
                  <a:lnTo>
                    <a:pt x="488" y="136"/>
                  </a:lnTo>
                  <a:lnTo>
                    <a:pt x="500" y="161"/>
                  </a:lnTo>
                  <a:lnTo>
                    <a:pt x="511" y="188"/>
                  </a:lnTo>
                  <a:lnTo>
                    <a:pt x="520" y="216"/>
                  </a:lnTo>
                  <a:lnTo>
                    <a:pt x="528" y="243"/>
                  </a:lnTo>
                  <a:lnTo>
                    <a:pt x="531" y="272"/>
                  </a:lnTo>
                  <a:lnTo>
                    <a:pt x="532" y="302"/>
                  </a:lnTo>
                  <a:lnTo>
                    <a:pt x="531" y="331"/>
                  </a:lnTo>
                  <a:lnTo>
                    <a:pt x="525" y="360"/>
                  </a:lnTo>
                  <a:lnTo>
                    <a:pt x="515" y="387"/>
                  </a:lnTo>
                  <a:lnTo>
                    <a:pt x="505" y="413"/>
                  </a:lnTo>
                  <a:lnTo>
                    <a:pt x="491" y="439"/>
                  </a:lnTo>
                  <a:lnTo>
                    <a:pt x="477" y="462"/>
                  </a:lnTo>
                  <a:lnTo>
                    <a:pt x="461" y="485"/>
                  </a:lnTo>
                  <a:lnTo>
                    <a:pt x="445" y="504"/>
                  </a:lnTo>
                  <a:lnTo>
                    <a:pt x="433" y="517"/>
                  </a:lnTo>
                  <a:lnTo>
                    <a:pt x="419" y="533"/>
                  </a:lnTo>
                  <a:lnTo>
                    <a:pt x="404" y="553"/>
                  </a:lnTo>
                  <a:lnTo>
                    <a:pt x="387" y="579"/>
                  </a:lnTo>
                  <a:lnTo>
                    <a:pt x="372" y="609"/>
                  </a:lnTo>
                  <a:lnTo>
                    <a:pt x="360" y="647"/>
                  </a:lnTo>
                  <a:lnTo>
                    <a:pt x="352" y="691"/>
                  </a:lnTo>
                  <a:lnTo>
                    <a:pt x="349" y="745"/>
                  </a:lnTo>
                  <a:lnTo>
                    <a:pt x="183" y="745"/>
                  </a:lnTo>
                  <a:lnTo>
                    <a:pt x="180" y="691"/>
                  </a:lnTo>
                  <a:lnTo>
                    <a:pt x="172" y="647"/>
                  </a:lnTo>
                  <a:lnTo>
                    <a:pt x="160" y="609"/>
                  </a:lnTo>
                  <a:lnTo>
                    <a:pt x="145" y="579"/>
                  </a:lnTo>
                  <a:lnTo>
                    <a:pt x="128" y="553"/>
                  </a:lnTo>
                  <a:lnTo>
                    <a:pt x="113" y="533"/>
                  </a:lnTo>
                  <a:lnTo>
                    <a:pt x="99" y="517"/>
                  </a:lnTo>
                  <a:lnTo>
                    <a:pt x="87" y="504"/>
                  </a:lnTo>
                  <a:lnTo>
                    <a:pt x="71" y="485"/>
                  </a:lnTo>
                  <a:lnTo>
                    <a:pt x="55" y="462"/>
                  </a:lnTo>
                  <a:lnTo>
                    <a:pt x="41" y="439"/>
                  </a:lnTo>
                  <a:lnTo>
                    <a:pt x="27" y="413"/>
                  </a:lnTo>
                  <a:lnTo>
                    <a:pt x="16" y="387"/>
                  </a:lnTo>
                  <a:lnTo>
                    <a:pt x="7" y="360"/>
                  </a:lnTo>
                  <a:lnTo>
                    <a:pt x="1" y="331"/>
                  </a:lnTo>
                  <a:lnTo>
                    <a:pt x="0" y="302"/>
                  </a:lnTo>
                  <a:lnTo>
                    <a:pt x="1" y="272"/>
                  </a:lnTo>
                  <a:lnTo>
                    <a:pt x="4" y="243"/>
                  </a:lnTo>
                  <a:lnTo>
                    <a:pt x="10" y="216"/>
                  </a:lnTo>
                  <a:lnTo>
                    <a:pt x="20" y="188"/>
                  </a:lnTo>
                  <a:lnTo>
                    <a:pt x="29" y="161"/>
                  </a:lnTo>
                  <a:lnTo>
                    <a:pt x="42" y="136"/>
                  </a:lnTo>
                  <a:lnTo>
                    <a:pt x="56" y="112"/>
                  </a:lnTo>
                  <a:lnTo>
                    <a:pt x="73" y="91"/>
                  </a:lnTo>
                  <a:lnTo>
                    <a:pt x="91" y="71"/>
                  </a:lnTo>
                  <a:lnTo>
                    <a:pt x="111" y="53"/>
                  </a:lnTo>
                  <a:lnTo>
                    <a:pt x="134" y="38"/>
                  </a:lnTo>
                  <a:lnTo>
                    <a:pt x="157" y="24"/>
                  </a:lnTo>
                  <a:lnTo>
                    <a:pt x="183" y="13"/>
                  </a:lnTo>
                  <a:lnTo>
                    <a:pt x="209" y="6"/>
                  </a:lnTo>
                  <a:lnTo>
                    <a:pt x="238" y="1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rgbClr val="E5E5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86" name="Freeform 328"/>
            <p:cNvSpPr>
              <a:spLocks/>
            </p:cNvSpPr>
            <p:nvPr/>
          </p:nvSpPr>
          <p:spPr bwMode="auto">
            <a:xfrm>
              <a:off x="8827" y="9171"/>
              <a:ext cx="259" cy="369"/>
            </a:xfrm>
            <a:custGeom>
              <a:avLst/>
              <a:gdLst>
                <a:gd name="T0" fmla="*/ 288 w 519"/>
                <a:gd name="T1" fmla="*/ 1 h 739"/>
                <a:gd name="T2" fmla="*/ 339 w 519"/>
                <a:gd name="T3" fmla="*/ 13 h 739"/>
                <a:gd name="T4" fmla="*/ 384 w 519"/>
                <a:gd name="T5" fmla="*/ 38 h 739"/>
                <a:gd name="T6" fmla="*/ 426 w 519"/>
                <a:gd name="T7" fmla="*/ 71 h 739"/>
                <a:gd name="T8" fmla="*/ 461 w 519"/>
                <a:gd name="T9" fmla="*/ 112 h 739"/>
                <a:gd name="T10" fmla="*/ 488 w 519"/>
                <a:gd name="T11" fmla="*/ 161 h 739"/>
                <a:gd name="T12" fmla="*/ 508 w 519"/>
                <a:gd name="T13" fmla="*/ 214 h 739"/>
                <a:gd name="T14" fmla="*/ 517 w 519"/>
                <a:gd name="T15" fmla="*/ 272 h 739"/>
                <a:gd name="T16" fmla="*/ 517 w 519"/>
                <a:gd name="T17" fmla="*/ 330 h 739"/>
                <a:gd name="T18" fmla="*/ 502 w 519"/>
                <a:gd name="T19" fmla="*/ 384 h 739"/>
                <a:gd name="T20" fmla="*/ 479 w 519"/>
                <a:gd name="T21" fmla="*/ 436 h 739"/>
                <a:gd name="T22" fmla="*/ 448 w 519"/>
                <a:gd name="T23" fmla="*/ 482 h 739"/>
                <a:gd name="T24" fmla="*/ 422 w 519"/>
                <a:gd name="T25" fmla="*/ 514 h 739"/>
                <a:gd name="T26" fmla="*/ 393 w 519"/>
                <a:gd name="T27" fmla="*/ 550 h 739"/>
                <a:gd name="T28" fmla="*/ 363 w 519"/>
                <a:gd name="T29" fmla="*/ 605 h 739"/>
                <a:gd name="T30" fmla="*/ 343 w 519"/>
                <a:gd name="T31" fmla="*/ 687 h 739"/>
                <a:gd name="T32" fmla="*/ 178 w 519"/>
                <a:gd name="T33" fmla="*/ 739 h 739"/>
                <a:gd name="T34" fmla="*/ 168 w 519"/>
                <a:gd name="T35" fmla="*/ 643 h 739"/>
                <a:gd name="T36" fmla="*/ 142 w 519"/>
                <a:gd name="T37" fmla="*/ 574 h 739"/>
                <a:gd name="T38" fmla="*/ 111 w 519"/>
                <a:gd name="T39" fmla="*/ 529 h 739"/>
                <a:gd name="T40" fmla="*/ 87 w 519"/>
                <a:gd name="T41" fmla="*/ 501 h 739"/>
                <a:gd name="T42" fmla="*/ 56 w 519"/>
                <a:gd name="T43" fmla="*/ 459 h 739"/>
                <a:gd name="T44" fmla="*/ 27 w 519"/>
                <a:gd name="T45" fmla="*/ 410 h 739"/>
                <a:gd name="T46" fmla="*/ 7 w 519"/>
                <a:gd name="T47" fmla="*/ 357 h 739"/>
                <a:gd name="T48" fmla="*/ 0 w 519"/>
                <a:gd name="T49" fmla="*/ 301 h 739"/>
                <a:gd name="T50" fmla="*/ 4 w 519"/>
                <a:gd name="T51" fmla="*/ 243 h 739"/>
                <a:gd name="T52" fmla="*/ 18 w 519"/>
                <a:gd name="T53" fmla="*/ 187 h 739"/>
                <a:gd name="T54" fmla="*/ 41 w 519"/>
                <a:gd name="T55" fmla="*/ 137 h 739"/>
                <a:gd name="T56" fmla="*/ 72 w 519"/>
                <a:gd name="T57" fmla="*/ 91 h 739"/>
                <a:gd name="T58" fmla="*/ 108 w 519"/>
                <a:gd name="T59" fmla="*/ 53 h 739"/>
                <a:gd name="T60" fmla="*/ 152 w 519"/>
                <a:gd name="T61" fmla="*/ 24 h 739"/>
                <a:gd name="T62" fmla="*/ 204 w 519"/>
                <a:gd name="T63" fmla="*/ 6 h 739"/>
                <a:gd name="T64" fmla="*/ 261 w 519"/>
                <a:gd name="T65" fmla="*/ 0 h 73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19"/>
                <a:gd name="T100" fmla="*/ 0 h 739"/>
                <a:gd name="T101" fmla="*/ 519 w 519"/>
                <a:gd name="T102" fmla="*/ 739 h 73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19" h="739">
                  <a:moveTo>
                    <a:pt x="261" y="0"/>
                  </a:moveTo>
                  <a:lnTo>
                    <a:pt x="288" y="1"/>
                  </a:lnTo>
                  <a:lnTo>
                    <a:pt x="314" y="6"/>
                  </a:lnTo>
                  <a:lnTo>
                    <a:pt x="339" y="13"/>
                  </a:lnTo>
                  <a:lnTo>
                    <a:pt x="361" y="24"/>
                  </a:lnTo>
                  <a:lnTo>
                    <a:pt x="384" y="38"/>
                  </a:lnTo>
                  <a:lnTo>
                    <a:pt x="406" y="53"/>
                  </a:lnTo>
                  <a:lnTo>
                    <a:pt x="426" y="71"/>
                  </a:lnTo>
                  <a:lnTo>
                    <a:pt x="444" y="91"/>
                  </a:lnTo>
                  <a:lnTo>
                    <a:pt x="461" y="112"/>
                  </a:lnTo>
                  <a:lnTo>
                    <a:pt x="476" y="137"/>
                  </a:lnTo>
                  <a:lnTo>
                    <a:pt x="488" y="161"/>
                  </a:lnTo>
                  <a:lnTo>
                    <a:pt x="499" y="187"/>
                  </a:lnTo>
                  <a:lnTo>
                    <a:pt x="508" y="214"/>
                  </a:lnTo>
                  <a:lnTo>
                    <a:pt x="514" y="243"/>
                  </a:lnTo>
                  <a:lnTo>
                    <a:pt x="517" y="272"/>
                  </a:lnTo>
                  <a:lnTo>
                    <a:pt x="519" y="301"/>
                  </a:lnTo>
                  <a:lnTo>
                    <a:pt x="517" y="330"/>
                  </a:lnTo>
                  <a:lnTo>
                    <a:pt x="511" y="357"/>
                  </a:lnTo>
                  <a:lnTo>
                    <a:pt x="502" y="384"/>
                  </a:lnTo>
                  <a:lnTo>
                    <a:pt x="491" y="410"/>
                  </a:lnTo>
                  <a:lnTo>
                    <a:pt x="479" y="436"/>
                  </a:lnTo>
                  <a:lnTo>
                    <a:pt x="464" y="459"/>
                  </a:lnTo>
                  <a:lnTo>
                    <a:pt x="448" y="482"/>
                  </a:lnTo>
                  <a:lnTo>
                    <a:pt x="433" y="501"/>
                  </a:lnTo>
                  <a:lnTo>
                    <a:pt x="422" y="514"/>
                  </a:lnTo>
                  <a:lnTo>
                    <a:pt x="409" y="529"/>
                  </a:lnTo>
                  <a:lnTo>
                    <a:pt x="393" y="550"/>
                  </a:lnTo>
                  <a:lnTo>
                    <a:pt x="378" y="574"/>
                  </a:lnTo>
                  <a:lnTo>
                    <a:pt x="363" y="605"/>
                  </a:lnTo>
                  <a:lnTo>
                    <a:pt x="351" y="643"/>
                  </a:lnTo>
                  <a:lnTo>
                    <a:pt x="343" y="687"/>
                  </a:lnTo>
                  <a:lnTo>
                    <a:pt x="340" y="739"/>
                  </a:lnTo>
                  <a:lnTo>
                    <a:pt x="178" y="739"/>
                  </a:lnTo>
                  <a:lnTo>
                    <a:pt x="175" y="687"/>
                  </a:lnTo>
                  <a:lnTo>
                    <a:pt x="168" y="643"/>
                  </a:lnTo>
                  <a:lnTo>
                    <a:pt x="155" y="605"/>
                  </a:lnTo>
                  <a:lnTo>
                    <a:pt x="142" y="574"/>
                  </a:lnTo>
                  <a:lnTo>
                    <a:pt x="126" y="550"/>
                  </a:lnTo>
                  <a:lnTo>
                    <a:pt x="111" y="529"/>
                  </a:lnTo>
                  <a:lnTo>
                    <a:pt x="97" y="514"/>
                  </a:lnTo>
                  <a:lnTo>
                    <a:pt x="87" y="501"/>
                  </a:lnTo>
                  <a:lnTo>
                    <a:pt x="72" y="482"/>
                  </a:lnTo>
                  <a:lnTo>
                    <a:pt x="56" y="459"/>
                  </a:lnTo>
                  <a:lnTo>
                    <a:pt x="41" y="436"/>
                  </a:lnTo>
                  <a:lnTo>
                    <a:pt x="27" y="410"/>
                  </a:lnTo>
                  <a:lnTo>
                    <a:pt x="17" y="384"/>
                  </a:lnTo>
                  <a:lnTo>
                    <a:pt x="7" y="357"/>
                  </a:lnTo>
                  <a:lnTo>
                    <a:pt x="1" y="330"/>
                  </a:lnTo>
                  <a:lnTo>
                    <a:pt x="0" y="301"/>
                  </a:lnTo>
                  <a:lnTo>
                    <a:pt x="1" y="272"/>
                  </a:lnTo>
                  <a:lnTo>
                    <a:pt x="4" y="243"/>
                  </a:lnTo>
                  <a:lnTo>
                    <a:pt x="10" y="214"/>
                  </a:lnTo>
                  <a:lnTo>
                    <a:pt x="18" y="187"/>
                  </a:lnTo>
                  <a:lnTo>
                    <a:pt x="29" y="161"/>
                  </a:lnTo>
                  <a:lnTo>
                    <a:pt x="41" y="137"/>
                  </a:lnTo>
                  <a:lnTo>
                    <a:pt x="55" y="112"/>
                  </a:lnTo>
                  <a:lnTo>
                    <a:pt x="72" y="91"/>
                  </a:lnTo>
                  <a:lnTo>
                    <a:pt x="88" y="71"/>
                  </a:lnTo>
                  <a:lnTo>
                    <a:pt x="108" y="53"/>
                  </a:lnTo>
                  <a:lnTo>
                    <a:pt x="130" y="38"/>
                  </a:lnTo>
                  <a:lnTo>
                    <a:pt x="152" y="24"/>
                  </a:lnTo>
                  <a:lnTo>
                    <a:pt x="178" y="13"/>
                  </a:lnTo>
                  <a:lnTo>
                    <a:pt x="204" y="6"/>
                  </a:lnTo>
                  <a:lnTo>
                    <a:pt x="232" y="1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87" name="Freeform 329"/>
            <p:cNvSpPr>
              <a:spLocks/>
            </p:cNvSpPr>
            <p:nvPr/>
          </p:nvSpPr>
          <p:spPr bwMode="auto">
            <a:xfrm>
              <a:off x="8831" y="9173"/>
              <a:ext cx="252" cy="367"/>
            </a:xfrm>
            <a:custGeom>
              <a:avLst/>
              <a:gdLst>
                <a:gd name="T0" fmla="*/ 335 w 506"/>
                <a:gd name="T1" fmla="*/ 683 h 735"/>
                <a:gd name="T2" fmla="*/ 353 w 506"/>
                <a:gd name="T3" fmla="*/ 602 h 735"/>
                <a:gd name="T4" fmla="*/ 382 w 506"/>
                <a:gd name="T5" fmla="*/ 548 h 735"/>
                <a:gd name="T6" fmla="*/ 409 w 506"/>
                <a:gd name="T7" fmla="*/ 511 h 735"/>
                <a:gd name="T8" fmla="*/ 435 w 506"/>
                <a:gd name="T9" fmla="*/ 479 h 735"/>
                <a:gd name="T10" fmla="*/ 464 w 506"/>
                <a:gd name="T11" fmla="*/ 434 h 735"/>
                <a:gd name="T12" fmla="*/ 489 w 506"/>
                <a:gd name="T13" fmla="*/ 383 h 735"/>
                <a:gd name="T14" fmla="*/ 504 w 506"/>
                <a:gd name="T15" fmla="*/ 330 h 735"/>
                <a:gd name="T16" fmla="*/ 504 w 506"/>
                <a:gd name="T17" fmla="*/ 272 h 735"/>
                <a:gd name="T18" fmla="*/ 495 w 506"/>
                <a:gd name="T19" fmla="*/ 215 h 735"/>
                <a:gd name="T20" fmla="*/ 475 w 506"/>
                <a:gd name="T21" fmla="*/ 161 h 735"/>
                <a:gd name="T22" fmla="*/ 449 w 506"/>
                <a:gd name="T23" fmla="*/ 113 h 735"/>
                <a:gd name="T24" fmla="*/ 414 w 506"/>
                <a:gd name="T25" fmla="*/ 72 h 735"/>
                <a:gd name="T26" fmla="*/ 374 w 506"/>
                <a:gd name="T27" fmla="*/ 38 h 735"/>
                <a:gd name="T28" fmla="*/ 329 w 506"/>
                <a:gd name="T29" fmla="*/ 14 h 735"/>
                <a:gd name="T30" fmla="*/ 280 w 506"/>
                <a:gd name="T31" fmla="*/ 2 h 735"/>
                <a:gd name="T32" fmla="*/ 225 w 506"/>
                <a:gd name="T33" fmla="*/ 2 h 735"/>
                <a:gd name="T34" fmla="*/ 171 w 506"/>
                <a:gd name="T35" fmla="*/ 14 h 735"/>
                <a:gd name="T36" fmla="*/ 126 w 506"/>
                <a:gd name="T37" fmla="*/ 38 h 735"/>
                <a:gd name="T38" fmla="*/ 86 w 506"/>
                <a:gd name="T39" fmla="*/ 72 h 735"/>
                <a:gd name="T40" fmla="*/ 52 w 506"/>
                <a:gd name="T41" fmla="*/ 113 h 735"/>
                <a:gd name="T42" fmla="*/ 28 w 506"/>
                <a:gd name="T43" fmla="*/ 161 h 735"/>
                <a:gd name="T44" fmla="*/ 10 w 506"/>
                <a:gd name="T45" fmla="*/ 215 h 735"/>
                <a:gd name="T46" fmla="*/ 2 w 506"/>
                <a:gd name="T47" fmla="*/ 272 h 735"/>
                <a:gd name="T48" fmla="*/ 2 w 506"/>
                <a:gd name="T49" fmla="*/ 330 h 735"/>
                <a:gd name="T50" fmla="*/ 17 w 506"/>
                <a:gd name="T51" fmla="*/ 383 h 735"/>
                <a:gd name="T52" fmla="*/ 42 w 506"/>
                <a:gd name="T53" fmla="*/ 434 h 735"/>
                <a:gd name="T54" fmla="*/ 71 w 506"/>
                <a:gd name="T55" fmla="*/ 479 h 735"/>
                <a:gd name="T56" fmla="*/ 97 w 506"/>
                <a:gd name="T57" fmla="*/ 511 h 735"/>
                <a:gd name="T58" fmla="*/ 124 w 506"/>
                <a:gd name="T59" fmla="*/ 548 h 735"/>
                <a:gd name="T60" fmla="*/ 153 w 506"/>
                <a:gd name="T61" fmla="*/ 602 h 735"/>
                <a:gd name="T62" fmla="*/ 171 w 506"/>
                <a:gd name="T63" fmla="*/ 683 h 735"/>
                <a:gd name="T64" fmla="*/ 332 w 506"/>
                <a:gd name="T65" fmla="*/ 735 h 73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06"/>
                <a:gd name="T100" fmla="*/ 0 h 735"/>
                <a:gd name="T101" fmla="*/ 506 w 506"/>
                <a:gd name="T102" fmla="*/ 735 h 73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06" h="735">
                  <a:moveTo>
                    <a:pt x="332" y="735"/>
                  </a:moveTo>
                  <a:lnTo>
                    <a:pt x="335" y="683"/>
                  </a:lnTo>
                  <a:lnTo>
                    <a:pt x="342" y="639"/>
                  </a:lnTo>
                  <a:lnTo>
                    <a:pt x="353" y="602"/>
                  </a:lnTo>
                  <a:lnTo>
                    <a:pt x="367" y="572"/>
                  </a:lnTo>
                  <a:lnTo>
                    <a:pt x="382" y="548"/>
                  </a:lnTo>
                  <a:lnTo>
                    <a:pt x="396" y="526"/>
                  </a:lnTo>
                  <a:lnTo>
                    <a:pt x="409" y="511"/>
                  </a:lnTo>
                  <a:lnTo>
                    <a:pt x="420" y="499"/>
                  </a:lnTo>
                  <a:lnTo>
                    <a:pt x="435" y="479"/>
                  </a:lnTo>
                  <a:lnTo>
                    <a:pt x="451" y="456"/>
                  </a:lnTo>
                  <a:lnTo>
                    <a:pt x="464" y="434"/>
                  </a:lnTo>
                  <a:lnTo>
                    <a:pt x="478" y="409"/>
                  </a:lnTo>
                  <a:lnTo>
                    <a:pt x="489" y="383"/>
                  </a:lnTo>
                  <a:lnTo>
                    <a:pt x="498" y="358"/>
                  </a:lnTo>
                  <a:lnTo>
                    <a:pt x="504" y="330"/>
                  </a:lnTo>
                  <a:lnTo>
                    <a:pt x="506" y="301"/>
                  </a:lnTo>
                  <a:lnTo>
                    <a:pt x="504" y="272"/>
                  </a:lnTo>
                  <a:lnTo>
                    <a:pt x="501" y="244"/>
                  </a:lnTo>
                  <a:lnTo>
                    <a:pt x="495" y="215"/>
                  </a:lnTo>
                  <a:lnTo>
                    <a:pt x="486" y="187"/>
                  </a:lnTo>
                  <a:lnTo>
                    <a:pt x="475" y="161"/>
                  </a:lnTo>
                  <a:lnTo>
                    <a:pt x="463" y="137"/>
                  </a:lnTo>
                  <a:lnTo>
                    <a:pt x="449" y="113"/>
                  </a:lnTo>
                  <a:lnTo>
                    <a:pt x="432" y="91"/>
                  </a:lnTo>
                  <a:lnTo>
                    <a:pt x="414" y="72"/>
                  </a:lnTo>
                  <a:lnTo>
                    <a:pt x="396" y="53"/>
                  </a:lnTo>
                  <a:lnTo>
                    <a:pt x="374" y="38"/>
                  </a:lnTo>
                  <a:lnTo>
                    <a:pt x="353" y="25"/>
                  </a:lnTo>
                  <a:lnTo>
                    <a:pt x="329" y="14"/>
                  </a:lnTo>
                  <a:lnTo>
                    <a:pt x="306" y="6"/>
                  </a:lnTo>
                  <a:lnTo>
                    <a:pt x="280" y="2"/>
                  </a:lnTo>
                  <a:lnTo>
                    <a:pt x="254" y="0"/>
                  </a:lnTo>
                  <a:lnTo>
                    <a:pt x="225" y="2"/>
                  </a:lnTo>
                  <a:lnTo>
                    <a:pt x="197" y="6"/>
                  </a:lnTo>
                  <a:lnTo>
                    <a:pt x="171" y="14"/>
                  </a:lnTo>
                  <a:lnTo>
                    <a:pt x="148" y="25"/>
                  </a:lnTo>
                  <a:lnTo>
                    <a:pt x="126" y="38"/>
                  </a:lnTo>
                  <a:lnTo>
                    <a:pt x="104" y="53"/>
                  </a:lnTo>
                  <a:lnTo>
                    <a:pt x="86" y="72"/>
                  </a:lnTo>
                  <a:lnTo>
                    <a:pt x="68" y="91"/>
                  </a:lnTo>
                  <a:lnTo>
                    <a:pt x="52" y="113"/>
                  </a:lnTo>
                  <a:lnTo>
                    <a:pt x="39" y="137"/>
                  </a:lnTo>
                  <a:lnTo>
                    <a:pt x="28" y="161"/>
                  </a:lnTo>
                  <a:lnTo>
                    <a:pt x="17" y="187"/>
                  </a:lnTo>
                  <a:lnTo>
                    <a:pt x="10" y="215"/>
                  </a:lnTo>
                  <a:lnTo>
                    <a:pt x="5" y="244"/>
                  </a:lnTo>
                  <a:lnTo>
                    <a:pt x="2" y="272"/>
                  </a:lnTo>
                  <a:lnTo>
                    <a:pt x="0" y="301"/>
                  </a:lnTo>
                  <a:lnTo>
                    <a:pt x="2" y="330"/>
                  </a:lnTo>
                  <a:lnTo>
                    <a:pt x="8" y="358"/>
                  </a:lnTo>
                  <a:lnTo>
                    <a:pt x="17" y="383"/>
                  </a:lnTo>
                  <a:lnTo>
                    <a:pt x="28" y="409"/>
                  </a:lnTo>
                  <a:lnTo>
                    <a:pt x="42" y="434"/>
                  </a:lnTo>
                  <a:lnTo>
                    <a:pt x="55" y="456"/>
                  </a:lnTo>
                  <a:lnTo>
                    <a:pt x="71" y="479"/>
                  </a:lnTo>
                  <a:lnTo>
                    <a:pt x="86" y="499"/>
                  </a:lnTo>
                  <a:lnTo>
                    <a:pt x="97" y="511"/>
                  </a:lnTo>
                  <a:lnTo>
                    <a:pt x="110" y="526"/>
                  </a:lnTo>
                  <a:lnTo>
                    <a:pt x="124" y="548"/>
                  </a:lnTo>
                  <a:lnTo>
                    <a:pt x="139" y="572"/>
                  </a:lnTo>
                  <a:lnTo>
                    <a:pt x="153" y="602"/>
                  </a:lnTo>
                  <a:lnTo>
                    <a:pt x="164" y="639"/>
                  </a:lnTo>
                  <a:lnTo>
                    <a:pt x="171" y="683"/>
                  </a:lnTo>
                  <a:lnTo>
                    <a:pt x="174" y="735"/>
                  </a:lnTo>
                  <a:lnTo>
                    <a:pt x="332" y="73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88" name="Freeform 330"/>
            <p:cNvSpPr>
              <a:spLocks/>
            </p:cNvSpPr>
            <p:nvPr/>
          </p:nvSpPr>
          <p:spPr bwMode="auto">
            <a:xfrm>
              <a:off x="8870" y="9213"/>
              <a:ext cx="171" cy="120"/>
            </a:xfrm>
            <a:custGeom>
              <a:avLst/>
              <a:gdLst>
                <a:gd name="T0" fmla="*/ 289 w 342"/>
                <a:gd name="T1" fmla="*/ 239 h 239"/>
                <a:gd name="T2" fmla="*/ 342 w 342"/>
                <a:gd name="T3" fmla="*/ 88 h 239"/>
                <a:gd name="T4" fmla="*/ 214 w 342"/>
                <a:gd name="T5" fmla="*/ 166 h 239"/>
                <a:gd name="T6" fmla="*/ 168 w 342"/>
                <a:gd name="T7" fmla="*/ 0 h 239"/>
                <a:gd name="T8" fmla="*/ 124 w 342"/>
                <a:gd name="T9" fmla="*/ 166 h 239"/>
                <a:gd name="T10" fmla="*/ 0 w 342"/>
                <a:gd name="T11" fmla="*/ 96 h 239"/>
                <a:gd name="T12" fmla="*/ 49 w 342"/>
                <a:gd name="T13" fmla="*/ 239 h 239"/>
                <a:gd name="T14" fmla="*/ 90 w 342"/>
                <a:gd name="T15" fmla="*/ 239 h 239"/>
                <a:gd name="T16" fmla="*/ 58 w 342"/>
                <a:gd name="T17" fmla="*/ 153 h 239"/>
                <a:gd name="T18" fmla="*/ 130 w 342"/>
                <a:gd name="T19" fmla="*/ 188 h 239"/>
                <a:gd name="T20" fmla="*/ 168 w 342"/>
                <a:gd name="T21" fmla="*/ 103 h 239"/>
                <a:gd name="T22" fmla="*/ 208 w 342"/>
                <a:gd name="T23" fmla="*/ 188 h 239"/>
                <a:gd name="T24" fmla="*/ 278 w 342"/>
                <a:gd name="T25" fmla="*/ 153 h 239"/>
                <a:gd name="T26" fmla="*/ 249 w 342"/>
                <a:gd name="T27" fmla="*/ 239 h 239"/>
                <a:gd name="T28" fmla="*/ 289 w 342"/>
                <a:gd name="T29" fmla="*/ 239 h 2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2"/>
                <a:gd name="T46" fmla="*/ 0 h 239"/>
                <a:gd name="T47" fmla="*/ 342 w 342"/>
                <a:gd name="T48" fmla="*/ 239 h 23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2" h="239">
                  <a:moveTo>
                    <a:pt x="289" y="239"/>
                  </a:moveTo>
                  <a:lnTo>
                    <a:pt x="342" y="88"/>
                  </a:lnTo>
                  <a:lnTo>
                    <a:pt x="214" y="166"/>
                  </a:lnTo>
                  <a:lnTo>
                    <a:pt x="168" y="0"/>
                  </a:lnTo>
                  <a:lnTo>
                    <a:pt x="124" y="166"/>
                  </a:lnTo>
                  <a:lnTo>
                    <a:pt x="0" y="96"/>
                  </a:lnTo>
                  <a:lnTo>
                    <a:pt x="49" y="239"/>
                  </a:lnTo>
                  <a:lnTo>
                    <a:pt x="90" y="239"/>
                  </a:lnTo>
                  <a:lnTo>
                    <a:pt x="58" y="153"/>
                  </a:lnTo>
                  <a:lnTo>
                    <a:pt x="130" y="188"/>
                  </a:lnTo>
                  <a:lnTo>
                    <a:pt x="168" y="103"/>
                  </a:lnTo>
                  <a:lnTo>
                    <a:pt x="208" y="188"/>
                  </a:lnTo>
                  <a:lnTo>
                    <a:pt x="278" y="153"/>
                  </a:lnTo>
                  <a:lnTo>
                    <a:pt x="249" y="239"/>
                  </a:lnTo>
                  <a:lnTo>
                    <a:pt x="289" y="23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89" name="Freeform 331"/>
            <p:cNvSpPr>
              <a:spLocks/>
            </p:cNvSpPr>
            <p:nvPr/>
          </p:nvSpPr>
          <p:spPr bwMode="auto">
            <a:xfrm>
              <a:off x="8871" y="9216"/>
              <a:ext cx="168" cy="114"/>
            </a:xfrm>
            <a:custGeom>
              <a:avLst/>
              <a:gdLst>
                <a:gd name="T0" fmla="*/ 165 w 336"/>
                <a:gd name="T1" fmla="*/ 0 h 228"/>
                <a:gd name="T2" fmla="*/ 211 w 336"/>
                <a:gd name="T3" fmla="*/ 161 h 228"/>
                <a:gd name="T4" fmla="*/ 336 w 336"/>
                <a:gd name="T5" fmla="*/ 87 h 228"/>
                <a:gd name="T6" fmla="*/ 286 w 336"/>
                <a:gd name="T7" fmla="*/ 228 h 228"/>
                <a:gd name="T8" fmla="*/ 248 w 336"/>
                <a:gd name="T9" fmla="*/ 228 h 228"/>
                <a:gd name="T10" fmla="*/ 275 w 336"/>
                <a:gd name="T11" fmla="*/ 147 h 228"/>
                <a:gd name="T12" fmla="*/ 205 w 336"/>
                <a:gd name="T13" fmla="*/ 182 h 228"/>
                <a:gd name="T14" fmla="*/ 165 w 336"/>
                <a:gd name="T15" fmla="*/ 97 h 228"/>
                <a:gd name="T16" fmla="*/ 127 w 336"/>
                <a:gd name="T17" fmla="*/ 182 h 228"/>
                <a:gd name="T18" fmla="*/ 55 w 336"/>
                <a:gd name="T19" fmla="*/ 147 h 228"/>
                <a:gd name="T20" fmla="*/ 86 w 336"/>
                <a:gd name="T21" fmla="*/ 228 h 228"/>
                <a:gd name="T22" fmla="*/ 46 w 336"/>
                <a:gd name="T23" fmla="*/ 228 h 228"/>
                <a:gd name="T24" fmla="*/ 0 w 336"/>
                <a:gd name="T25" fmla="*/ 93 h 228"/>
                <a:gd name="T26" fmla="*/ 121 w 336"/>
                <a:gd name="T27" fmla="*/ 161 h 228"/>
                <a:gd name="T28" fmla="*/ 165 w 336"/>
                <a:gd name="T29" fmla="*/ 0 h 22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36"/>
                <a:gd name="T46" fmla="*/ 0 h 228"/>
                <a:gd name="T47" fmla="*/ 336 w 336"/>
                <a:gd name="T48" fmla="*/ 228 h 22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36" h="228">
                  <a:moveTo>
                    <a:pt x="165" y="0"/>
                  </a:moveTo>
                  <a:lnTo>
                    <a:pt x="211" y="161"/>
                  </a:lnTo>
                  <a:lnTo>
                    <a:pt x="336" y="87"/>
                  </a:lnTo>
                  <a:lnTo>
                    <a:pt x="286" y="228"/>
                  </a:lnTo>
                  <a:lnTo>
                    <a:pt x="248" y="228"/>
                  </a:lnTo>
                  <a:lnTo>
                    <a:pt x="275" y="147"/>
                  </a:lnTo>
                  <a:lnTo>
                    <a:pt x="205" y="182"/>
                  </a:lnTo>
                  <a:lnTo>
                    <a:pt x="165" y="97"/>
                  </a:lnTo>
                  <a:lnTo>
                    <a:pt x="127" y="182"/>
                  </a:lnTo>
                  <a:lnTo>
                    <a:pt x="55" y="147"/>
                  </a:lnTo>
                  <a:lnTo>
                    <a:pt x="86" y="228"/>
                  </a:lnTo>
                  <a:lnTo>
                    <a:pt x="46" y="228"/>
                  </a:lnTo>
                  <a:lnTo>
                    <a:pt x="0" y="93"/>
                  </a:lnTo>
                  <a:lnTo>
                    <a:pt x="121" y="161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90" name="Freeform 332"/>
            <p:cNvSpPr>
              <a:spLocks/>
            </p:cNvSpPr>
            <p:nvPr/>
          </p:nvSpPr>
          <p:spPr bwMode="auto">
            <a:xfrm>
              <a:off x="8873" y="9220"/>
              <a:ext cx="164" cy="108"/>
            </a:xfrm>
            <a:custGeom>
              <a:avLst/>
              <a:gdLst>
                <a:gd name="T0" fmla="*/ 162 w 328"/>
                <a:gd name="T1" fmla="*/ 0 h 215"/>
                <a:gd name="T2" fmla="*/ 208 w 328"/>
                <a:gd name="T3" fmla="*/ 153 h 215"/>
                <a:gd name="T4" fmla="*/ 328 w 328"/>
                <a:gd name="T5" fmla="*/ 82 h 215"/>
                <a:gd name="T6" fmla="*/ 283 w 328"/>
                <a:gd name="T7" fmla="*/ 215 h 215"/>
                <a:gd name="T8" fmla="*/ 246 w 328"/>
                <a:gd name="T9" fmla="*/ 215 h 215"/>
                <a:gd name="T10" fmla="*/ 272 w 328"/>
                <a:gd name="T11" fmla="*/ 139 h 215"/>
                <a:gd name="T12" fmla="*/ 202 w 328"/>
                <a:gd name="T13" fmla="*/ 174 h 215"/>
                <a:gd name="T14" fmla="*/ 162 w 328"/>
                <a:gd name="T15" fmla="*/ 89 h 215"/>
                <a:gd name="T16" fmla="*/ 124 w 328"/>
                <a:gd name="T17" fmla="*/ 174 h 215"/>
                <a:gd name="T18" fmla="*/ 52 w 328"/>
                <a:gd name="T19" fmla="*/ 139 h 215"/>
                <a:gd name="T20" fmla="*/ 80 w 328"/>
                <a:gd name="T21" fmla="*/ 215 h 215"/>
                <a:gd name="T22" fmla="*/ 43 w 328"/>
                <a:gd name="T23" fmla="*/ 215 h 215"/>
                <a:gd name="T24" fmla="*/ 0 w 328"/>
                <a:gd name="T25" fmla="*/ 88 h 215"/>
                <a:gd name="T26" fmla="*/ 118 w 328"/>
                <a:gd name="T27" fmla="*/ 155 h 215"/>
                <a:gd name="T28" fmla="*/ 162 w 328"/>
                <a:gd name="T29" fmla="*/ 0 h 21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8"/>
                <a:gd name="T46" fmla="*/ 0 h 215"/>
                <a:gd name="T47" fmla="*/ 328 w 328"/>
                <a:gd name="T48" fmla="*/ 215 h 21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8" h="215">
                  <a:moveTo>
                    <a:pt x="162" y="0"/>
                  </a:moveTo>
                  <a:lnTo>
                    <a:pt x="208" y="153"/>
                  </a:lnTo>
                  <a:lnTo>
                    <a:pt x="328" y="82"/>
                  </a:lnTo>
                  <a:lnTo>
                    <a:pt x="283" y="215"/>
                  </a:lnTo>
                  <a:lnTo>
                    <a:pt x="246" y="215"/>
                  </a:lnTo>
                  <a:lnTo>
                    <a:pt x="272" y="139"/>
                  </a:lnTo>
                  <a:lnTo>
                    <a:pt x="202" y="174"/>
                  </a:lnTo>
                  <a:lnTo>
                    <a:pt x="162" y="89"/>
                  </a:lnTo>
                  <a:lnTo>
                    <a:pt x="124" y="174"/>
                  </a:lnTo>
                  <a:lnTo>
                    <a:pt x="52" y="139"/>
                  </a:lnTo>
                  <a:lnTo>
                    <a:pt x="80" y="215"/>
                  </a:lnTo>
                  <a:lnTo>
                    <a:pt x="43" y="215"/>
                  </a:lnTo>
                  <a:lnTo>
                    <a:pt x="0" y="88"/>
                  </a:lnTo>
                  <a:lnTo>
                    <a:pt x="118" y="155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E8E8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91" name="Freeform 333"/>
            <p:cNvSpPr>
              <a:spLocks/>
            </p:cNvSpPr>
            <p:nvPr/>
          </p:nvSpPr>
          <p:spPr bwMode="auto">
            <a:xfrm>
              <a:off x="8875" y="9223"/>
              <a:ext cx="160" cy="103"/>
            </a:xfrm>
            <a:custGeom>
              <a:avLst/>
              <a:gdLst>
                <a:gd name="T0" fmla="*/ 157 w 320"/>
                <a:gd name="T1" fmla="*/ 0 h 205"/>
                <a:gd name="T2" fmla="*/ 203 w 320"/>
                <a:gd name="T3" fmla="*/ 149 h 205"/>
                <a:gd name="T4" fmla="*/ 320 w 320"/>
                <a:gd name="T5" fmla="*/ 80 h 205"/>
                <a:gd name="T6" fmla="*/ 276 w 320"/>
                <a:gd name="T7" fmla="*/ 203 h 205"/>
                <a:gd name="T8" fmla="*/ 243 w 320"/>
                <a:gd name="T9" fmla="*/ 203 h 205"/>
                <a:gd name="T10" fmla="*/ 267 w 320"/>
                <a:gd name="T11" fmla="*/ 133 h 205"/>
                <a:gd name="T12" fmla="*/ 197 w 320"/>
                <a:gd name="T13" fmla="*/ 168 h 205"/>
                <a:gd name="T14" fmla="*/ 157 w 320"/>
                <a:gd name="T15" fmla="*/ 83 h 205"/>
                <a:gd name="T16" fmla="*/ 119 w 320"/>
                <a:gd name="T17" fmla="*/ 168 h 205"/>
                <a:gd name="T18" fmla="*/ 47 w 320"/>
                <a:gd name="T19" fmla="*/ 133 h 205"/>
                <a:gd name="T20" fmla="*/ 73 w 320"/>
                <a:gd name="T21" fmla="*/ 205 h 205"/>
                <a:gd name="T22" fmla="*/ 38 w 320"/>
                <a:gd name="T23" fmla="*/ 205 h 205"/>
                <a:gd name="T24" fmla="*/ 0 w 320"/>
                <a:gd name="T25" fmla="*/ 86 h 205"/>
                <a:gd name="T26" fmla="*/ 113 w 320"/>
                <a:gd name="T27" fmla="*/ 149 h 205"/>
                <a:gd name="T28" fmla="*/ 157 w 320"/>
                <a:gd name="T29" fmla="*/ 0 h 20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0"/>
                <a:gd name="T46" fmla="*/ 0 h 205"/>
                <a:gd name="T47" fmla="*/ 320 w 320"/>
                <a:gd name="T48" fmla="*/ 205 h 20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0" h="205">
                  <a:moveTo>
                    <a:pt x="157" y="0"/>
                  </a:moveTo>
                  <a:lnTo>
                    <a:pt x="203" y="149"/>
                  </a:lnTo>
                  <a:lnTo>
                    <a:pt x="320" y="80"/>
                  </a:lnTo>
                  <a:lnTo>
                    <a:pt x="276" y="203"/>
                  </a:lnTo>
                  <a:lnTo>
                    <a:pt x="243" y="203"/>
                  </a:lnTo>
                  <a:lnTo>
                    <a:pt x="267" y="133"/>
                  </a:lnTo>
                  <a:lnTo>
                    <a:pt x="197" y="168"/>
                  </a:lnTo>
                  <a:lnTo>
                    <a:pt x="157" y="83"/>
                  </a:lnTo>
                  <a:lnTo>
                    <a:pt x="119" y="168"/>
                  </a:lnTo>
                  <a:lnTo>
                    <a:pt x="47" y="133"/>
                  </a:lnTo>
                  <a:lnTo>
                    <a:pt x="73" y="205"/>
                  </a:lnTo>
                  <a:lnTo>
                    <a:pt x="38" y="205"/>
                  </a:lnTo>
                  <a:lnTo>
                    <a:pt x="0" y="86"/>
                  </a:lnTo>
                  <a:lnTo>
                    <a:pt x="113" y="149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DBDB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92" name="Freeform 334"/>
            <p:cNvSpPr>
              <a:spLocks/>
            </p:cNvSpPr>
            <p:nvPr/>
          </p:nvSpPr>
          <p:spPr bwMode="auto">
            <a:xfrm>
              <a:off x="8877" y="9226"/>
              <a:ext cx="156" cy="97"/>
            </a:xfrm>
            <a:custGeom>
              <a:avLst/>
              <a:gdLst>
                <a:gd name="T0" fmla="*/ 154 w 313"/>
                <a:gd name="T1" fmla="*/ 0 h 193"/>
                <a:gd name="T2" fmla="*/ 200 w 313"/>
                <a:gd name="T3" fmla="*/ 144 h 193"/>
                <a:gd name="T4" fmla="*/ 313 w 313"/>
                <a:gd name="T5" fmla="*/ 79 h 193"/>
                <a:gd name="T6" fmla="*/ 273 w 313"/>
                <a:gd name="T7" fmla="*/ 193 h 193"/>
                <a:gd name="T8" fmla="*/ 241 w 313"/>
                <a:gd name="T9" fmla="*/ 193 h 193"/>
                <a:gd name="T10" fmla="*/ 264 w 313"/>
                <a:gd name="T11" fmla="*/ 127 h 193"/>
                <a:gd name="T12" fmla="*/ 194 w 313"/>
                <a:gd name="T13" fmla="*/ 162 h 193"/>
                <a:gd name="T14" fmla="*/ 154 w 313"/>
                <a:gd name="T15" fmla="*/ 77 h 193"/>
                <a:gd name="T16" fmla="*/ 116 w 313"/>
                <a:gd name="T17" fmla="*/ 162 h 193"/>
                <a:gd name="T18" fmla="*/ 44 w 313"/>
                <a:gd name="T19" fmla="*/ 127 h 193"/>
                <a:gd name="T20" fmla="*/ 69 w 313"/>
                <a:gd name="T21" fmla="*/ 193 h 193"/>
                <a:gd name="T22" fmla="*/ 35 w 313"/>
                <a:gd name="T23" fmla="*/ 193 h 193"/>
                <a:gd name="T24" fmla="*/ 0 w 313"/>
                <a:gd name="T25" fmla="*/ 83 h 193"/>
                <a:gd name="T26" fmla="*/ 110 w 313"/>
                <a:gd name="T27" fmla="*/ 144 h 193"/>
                <a:gd name="T28" fmla="*/ 154 w 313"/>
                <a:gd name="T29" fmla="*/ 0 h 19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13"/>
                <a:gd name="T46" fmla="*/ 0 h 193"/>
                <a:gd name="T47" fmla="*/ 313 w 313"/>
                <a:gd name="T48" fmla="*/ 193 h 19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13" h="193">
                  <a:moveTo>
                    <a:pt x="154" y="0"/>
                  </a:moveTo>
                  <a:lnTo>
                    <a:pt x="200" y="144"/>
                  </a:lnTo>
                  <a:lnTo>
                    <a:pt x="313" y="79"/>
                  </a:lnTo>
                  <a:lnTo>
                    <a:pt x="273" y="193"/>
                  </a:lnTo>
                  <a:lnTo>
                    <a:pt x="241" y="193"/>
                  </a:lnTo>
                  <a:lnTo>
                    <a:pt x="264" y="127"/>
                  </a:lnTo>
                  <a:lnTo>
                    <a:pt x="194" y="162"/>
                  </a:lnTo>
                  <a:lnTo>
                    <a:pt x="154" y="77"/>
                  </a:lnTo>
                  <a:lnTo>
                    <a:pt x="116" y="162"/>
                  </a:lnTo>
                  <a:lnTo>
                    <a:pt x="44" y="127"/>
                  </a:lnTo>
                  <a:lnTo>
                    <a:pt x="69" y="193"/>
                  </a:lnTo>
                  <a:lnTo>
                    <a:pt x="35" y="193"/>
                  </a:lnTo>
                  <a:lnTo>
                    <a:pt x="0" y="83"/>
                  </a:lnTo>
                  <a:lnTo>
                    <a:pt x="110" y="144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D1D1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93" name="Freeform 335"/>
            <p:cNvSpPr>
              <a:spLocks/>
            </p:cNvSpPr>
            <p:nvPr/>
          </p:nvSpPr>
          <p:spPr bwMode="auto">
            <a:xfrm>
              <a:off x="8878" y="9229"/>
              <a:ext cx="153" cy="92"/>
            </a:xfrm>
            <a:custGeom>
              <a:avLst/>
              <a:gdLst>
                <a:gd name="T0" fmla="*/ 151 w 305"/>
                <a:gd name="T1" fmla="*/ 0 h 182"/>
                <a:gd name="T2" fmla="*/ 197 w 305"/>
                <a:gd name="T3" fmla="*/ 138 h 182"/>
                <a:gd name="T4" fmla="*/ 305 w 305"/>
                <a:gd name="T5" fmla="*/ 76 h 182"/>
                <a:gd name="T6" fmla="*/ 270 w 305"/>
                <a:gd name="T7" fmla="*/ 182 h 182"/>
                <a:gd name="T8" fmla="*/ 240 w 305"/>
                <a:gd name="T9" fmla="*/ 182 h 182"/>
                <a:gd name="T10" fmla="*/ 261 w 305"/>
                <a:gd name="T11" fmla="*/ 121 h 182"/>
                <a:gd name="T12" fmla="*/ 191 w 305"/>
                <a:gd name="T13" fmla="*/ 156 h 182"/>
                <a:gd name="T14" fmla="*/ 151 w 305"/>
                <a:gd name="T15" fmla="*/ 71 h 182"/>
                <a:gd name="T16" fmla="*/ 113 w 305"/>
                <a:gd name="T17" fmla="*/ 156 h 182"/>
                <a:gd name="T18" fmla="*/ 41 w 305"/>
                <a:gd name="T19" fmla="*/ 121 h 182"/>
                <a:gd name="T20" fmla="*/ 64 w 305"/>
                <a:gd name="T21" fmla="*/ 182 h 182"/>
                <a:gd name="T22" fmla="*/ 32 w 305"/>
                <a:gd name="T23" fmla="*/ 182 h 182"/>
                <a:gd name="T24" fmla="*/ 0 w 305"/>
                <a:gd name="T25" fmla="*/ 80 h 182"/>
                <a:gd name="T26" fmla="*/ 107 w 305"/>
                <a:gd name="T27" fmla="*/ 140 h 182"/>
                <a:gd name="T28" fmla="*/ 151 w 305"/>
                <a:gd name="T29" fmla="*/ 0 h 18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05"/>
                <a:gd name="T46" fmla="*/ 0 h 182"/>
                <a:gd name="T47" fmla="*/ 305 w 305"/>
                <a:gd name="T48" fmla="*/ 182 h 18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05" h="182">
                  <a:moveTo>
                    <a:pt x="151" y="0"/>
                  </a:moveTo>
                  <a:lnTo>
                    <a:pt x="197" y="138"/>
                  </a:lnTo>
                  <a:lnTo>
                    <a:pt x="305" y="76"/>
                  </a:lnTo>
                  <a:lnTo>
                    <a:pt x="270" y="182"/>
                  </a:lnTo>
                  <a:lnTo>
                    <a:pt x="240" y="182"/>
                  </a:lnTo>
                  <a:lnTo>
                    <a:pt x="261" y="121"/>
                  </a:lnTo>
                  <a:lnTo>
                    <a:pt x="191" y="156"/>
                  </a:lnTo>
                  <a:lnTo>
                    <a:pt x="151" y="71"/>
                  </a:lnTo>
                  <a:lnTo>
                    <a:pt x="113" y="156"/>
                  </a:lnTo>
                  <a:lnTo>
                    <a:pt x="41" y="121"/>
                  </a:lnTo>
                  <a:lnTo>
                    <a:pt x="64" y="182"/>
                  </a:lnTo>
                  <a:lnTo>
                    <a:pt x="32" y="182"/>
                  </a:lnTo>
                  <a:lnTo>
                    <a:pt x="0" y="80"/>
                  </a:lnTo>
                  <a:lnTo>
                    <a:pt x="107" y="14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C4C4C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94" name="Freeform 336"/>
            <p:cNvSpPr>
              <a:spLocks/>
            </p:cNvSpPr>
            <p:nvPr/>
          </p:nvSpPr>
          <p:spPr bwMode="auto">
            <a:xfrm>
              <a:off x="8880" y="9232"/>
              <a:ext cx="149" cy="86"/>
            </a:xfrm>
            <a:custGeom>
              <a:avLst/>
              <a:gdLst>
                <a:gd name="T0" fmla="*/ 148 w 299"/>
                <a:gd name="T1" fmla="*/ 0 h 172"/>
                <a:gd name="T2" fmla="*/ 194 w 299"/>
                <a:gd name="T3" fmla="*/ 134 h 172"/>
                <a:gd name="T4" fmla="*/ 299 w 299"/>
                <a:gd name="T5" fmla="*/ 74 h 172"/>
                <a:gd name="T6" fmla="*/ 267 w 299"/>
                <a:gd name="T7" fmla="*/ 172 h 172"/>
                <a:gd name="T8" fmla="*/ 238 w 299"/>
                <a:gd name="T9" fmla="*/ 172 h 172"/>
                <a:gd name="T10" fmla="*/ 258 w 299"/>
                <a:gd name="T11" fmla="*/ 115 h 172"/>
                <a:gd name="T12" fmla="*/ 188 w 299"/>
                <a:gd name="T13" fmla="*/ 150 h 172"/>
                <a:gd name="T14" fmla="*/ 148 w 299"/>
                <a:gd name="T15" fmla="*/ 65 h 172"/>
                <a:gd name="T16" fmla="*/ 110 w 299"/>
                <a:gd name="T17" fmla="*/ 150 h 172"/>
                <a:gd name="T18" fmla="*/ 38 w 299"/>
                <a:gd name="T19" fmla="*/ 115 h 172"/>
                <a:gd name="T20" fmla="*/ 60 w 299"/>
                <a:gd name="T21" fmla="*/ 172 h 172"/>
                <a:gd name="T22" fmla="*/ 31 w 299"/>
                <a:gd name="T23" fmla="*/ 172 h 172"/>
                <a:gd name="T24" fmla="*/ 0 w 299"/>
                <a:gd name="T25" fmla="*/ 77 h 172"/>
                <a:gd name="T26" fmla="*/ 104 w 299"/>
                <a:gd name="T27" fmla="*/ 135 h 172"/>
                <a:gd name="T28" fmla="*/ 148 w 299"/>
                <a:gd name="T29" fmla="*/ 0 h 17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99"/>
                <a:gd name="T46" fmla="*/ 0 h 172"/>
                <a:gd name="T47" fmla="*/ 299 w 299"/>
                <a:gd name="T48" fmla="*/ 172 h 17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99" h="172">
                  <a:moveTo>
                    <a:pt x="148" y="0"/>
                  </a:moveTo>
                  <a:lnTo>
                    <a:pt x="194" y="134"/>
                  </a:lnTo>
                  <a:lnTo>
                    <a:pt x="299" y="74"/>
                  </a:lnTo>
                  <a:lnTo>
                    <a:pt x="267" y="172"/>
                  </a:lnTo>
                  <a:lnTo>
                    <a:pt x="238" y="172"/>
                  </a:lnTo>
                  <a:lnTo>
                    <a:pt x="258" y="115"/>
                  </a:lnTo>
                  <a:lnTo>
                    <a:pt x="188" y="150"/>
                  </a:lnTo>
                  <a:lnTo>
                    <a:pt x="148" y="65"/>
                  </a:lnTo>
                  <a:lnTo>
                    <a:pt x="110" y="150"/>
                  </a:lnTo>
                  <a:lnTo>
                    <a:pt x="38" y="115"/>
                  </a:lnTo>
                  <a:lnTo>
                    <a:pt x="60" y="172"/>
                  </a:lnTo>
                  <a:lnTo>
                    <a:pt x="31" y="172"/>
                  </a:lnTo>
                  <a:lnTo>
                    <a:pt x="0" y="77"/>
                  </a:lnTo>
                  <a:lnTo>
                    <a:pt x="104" y="135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B7B7B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95" name="Freeform 337"/>
            <p:cNvSpPr>
              <a:spLocks/>
            </p:cNvSpPr>
            <p:nvPr/>
          </p:nvSpPr>
          <p:spPr bwMode="auto">
            <a:xfrm>
              <a:off x="8881" y="9235"/>
              <a:ext cx="146" cy="81"/>
            </a:xfrm>
            <a:custGeom>
              <a:avLst/>
              <a:gdLst>
                <a:gd name="T0" fmla="*/ 145 w 292"/>
                <a:gd name="T1" fmla="*/ 0 h 161"/>
                <a:gd name="T2" fmla="*/ 191 w 292"/>
                <a:gd name="T3" fmla="*/ 129 h 161"/>
                <a:gd name="T4" fmla="*/ 292 w 292"/>
                <a:gd name="T5" fmla="*/ 71 h 161"/>
                <a:gd name="T6" fmla="*/ 263 w 292"/>
                <a:gd name="T7" fmla="*/ 161 h 161"/>
                <a:gd name="T8" fmla="*/ 237 w 292"/>
                <a:gd name="T9" fmla="*/ 161 h 161"/>
                <a:gd name="T10" fmla="*/ 255 w 292"/>
                <a:gd name="T11" fmla="*/ 109 h 161"/>
                <a:gd name="T12" fmla="*/ 185 w 292"/>
                <a:gd name="T13" fmla="*/ 144 h 161"/>
                <a:gd name="T14" fmla="*/ 145 w 292"/>
                <a:gd name="T15" fmla="*/ 59 h 161"/>
                <a:gd name="T16" fmla="*/ 107 w 292"/>
                <a:gd name="T17" fmla="*/ 144 h 161"/>
                <a:gd name="T18" fmla="*/ 35 w 292"/>
                <a:gd name="T19" fmla="*/ 109 h 161"/>
                <a:gd name="T20" fmla="*/ 55 w 292"/>
                <a:gd name="T21" fmla="*/ 161 h 161"/>
                <a:gd name="T22" fmla="*/ 28 w 292"/>
                <a:gd name="T23" fmla="*/ 161 h 161"/>
                <a:gd name="T24" fmla="*/ 0 w 292"/>
                <a:gd name="T25" fmla="*/ 74 h 161"/>
                <a:gd name="T26" fmla="*/ 101 w 292"/>
                <a:gd name="T27" fmla="*/ 129 h 161"/>
                <a:gd name="T28" fmla="*/ 145 w 292"/>
                <a:gd name="T29" fmla="*/ 0 h 16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92"/>
                <a:gd name="T46" fmla="*/ 0 h 161"/>
                <a:gd name="T47" fmla="*/ 292 w 292"/>
                <a:gd name="T48" fmla="*/ 161 h 16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92" h="161">
                  <a:moveTo>
                    <a:pt x="145" y="0"/>
                  </a:moveTo>
                  <a:lnTo>
                    <a:pt x="191" y="129"/>
                  </a:lnTo>
                  <a:lnTo>
                    <a:pt x="292" y="71"/>
                  </a:lnTo>
                  <a:lnTo>
                    <a:pt x="263" y="161"/>
                  </a:lnTo>
                  <a:lnTo>
                    <a:pt x="237" y="161"/>
                  </a:lnTo>
                  <a:lnTo>
                    <a:pt x="255" y="109"/>
                  </a:lnTo>
                  <a:lnTo>
                    <a:pt x="185" y="144"/>
                  </a:lnTo>
                  <a:lnTo>
                    <a:pt x="145" y="59"/>
                  </a:lnTo>
                  <a:lnTo>
                    <a:pt x="107" y="144"/>
                  </a:lnTo>
                  <a:lnTo>
                    <a:pt x="35" y="109"/>
                  </a:lnTo>
                  <a:lnTo>
                    <a:pt x="55" y="161"/>
                  </a:lnTo>
                  <a:lnTo>
                    <a:pt x="28" y="161"/>
                  </a:lnTo>
                  <a:lnTo>
                    <a:pt x="0" y="74"/>
                  </a:lnTo>
                  <a:lnTo>
                    <a:pt x="101" y="129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AAAAA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96" name="Freeform 338"/>
            <p:cNvSpPr>
              <a:spLocks/>
            </p:cNvSpPr>
            <p:nvPr/>
          </p:nvSpPr>
          <p:spPr bwMode="auto">
            <a:xfrm>
              <a:off x="8883" y="9239"/>
              <a:ext cx="142" cy="75"/>
            </a:xfrm>
            <a:custGeom>
              <a:avLst/>
              <a:gdLst>
                <a:gd name="T0" fmla="*/ 140 w 284"/>
                <a:gd name="T1" fmla="*/ 0 h 151"/>
                <a:gd name="T2" fmla="*/ 186 w 284"/>
                <a:gd name="T3" fmla="*/ 125 h 151"/>
                <a:gd name="T4" fmla="*/ 284 w 284"/>
                <a:gd name="T5" fmla="*/ 70 h 151"/>
                <a:gd name="T6" fmla="*/ 258 w 284"/>
                <a:gd name="T7" fmla="*/ 149 h 151"/>
                <a:gd name="T8" fmla="*/ 233 w 284"/>
                <a:gd name="T9" fmla="*/ 149 h 151"/>
                <a:gd name="T10" fmla="*/ 250 w 284"/>
                <a:gd name="T11" fmla="*/ 103 h 151"/>
                <a:gd name="T12" fmla="*/ 180 w 284"/>
                <a:gd name="T13" fmla="*/ 138 h 151"/>
                <a:gd name="T14" fmla="*/ 140 w 284"/>
                <a:gd name="T15" fmla="*/ 53 h 151"/>
                <a:gd name="T16" fmla="*/ 102 w 284"/>
                <a:gd name="T17" fmla="*/ 138 h 151"/>
                <a:gd name="T18" fmla="*/ 30 w 284"/>
                <a:gd name="T19" fmla="*/ 103 h 151"/>
                <a:gd name="T20" fmla="*/ 47 w 284"/>
                <a:gd name="T21" fmla="*/ 151 h 151"/>
                <a:gd name="T22" fmla="*/ 23 w 284"/>
                <a:gd name="T23" fmla="*/ 151 h 151"/>
                <a:gd name="T24" fmla="*/ 0 w 284"/>
                <a:gd name="T25" fmla="*/ 71 h 151"/>
                <a:gd name="T26" fmla="*/ 97 w 284"/>
                <a:gd name="T27" fmla="*/ 125 h 151"/>
                <a:gd name="T28" fmla="*/ 140 w 284"/>
                <a:gd name="T29" fmla="*/ 0 h 15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84"/>
                <a:gd name="T46" fmla="*/ 0 h 151"/>
                <a:gd name="T47" fmla="*/ 284 w 284"/>
                <a:gd name="T48" fmla="*/ 151 h 15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84" h="151">
                  <a:moveTo>
                    <a:pt x="140" y="0"/>
                  </a:moveTo>
                  <a:lnTo>
                    <a:pt x="186" y="125"/>
                  </a:lnTo>
                  <a:lnTo>
                    <a:pt x="284" y="70"/>
                  </a:lnTo>
                  <a:lnTo>
                    <a:pt x="258" y="149"/>
                  </a:lnTo>
                  <a:lnTo>
                    <a:pt x="233" y="149"/>
                  </a:lnTo>
                  <a:lnTo>
                    <a:pt x="250" y="103"/>
                  </a:lnTo>
                  <a:lnTo>
                    <a:pt x="180" y="138"/>
                  </a:lnTo>
                  <a:lnTo>
                    <a:pt x="140" y="53"/>
                  </a:lnTo>
                  <a:lnTo>
                    <a:pt x="102" y="138"/>
                  </a:lnTo>
                  <a:lnTo>
                    <a:pt x="30" y="103"/>
                  </a:lnTo>
                  <a:lnTo>
                    <a:pt x="47" y="151"/>
                  </a:lnTo>
                  <a:lnTo>
                    <a:pt x="23" y="151"/>
                  </a:lnTo>
                  <a:lnTo>
                    <a:pt x="0" y="71"/>
                  </a:lnTo>
                  <a:lnTo>
                    <a:pt x="97" y="12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A0A0A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97" name="Freeform 339"/>
            <p:cNvSpPr>
              <a:spLocks/>
            </p:cNvSpPr>
            <p:nvPr/>
          </p:nvSpPr>
          <p:spPr bwMode="auto">
            <a:xfrm>
              <a:off x="8885" y="9242"/>
              <a:ext cx="138" cy="69"/>
            </a:xfrm>
            <a:custGeom>
              <a:avLst/>
              <a:gdLst>
                <a:gd name="T0" fmla="*/ 137 w 276"/>
                <a:gd name="T1" fmla="*/ 0 h 138"/>
                <a:gd name="T2" fmla="*/ 183 w 276"/>
                <a:gd name="T3" fmla="*/ 117 h 138"/>
                <a:gd name="T4" fmla="*/ 276 w 276"/>
                <a:gd name="T5" fmla="*/ 65 h 138"/>
                <a:gd name="T6" fmla="*/ 255 w 276"/>
                <a:gd name="T7" fmla="*/ 136 h 138"/>
                <a:gd name="T8" fmla="*/ 233 w 276"/>
                <a:gd name="T9" fmla="*/ 136 h 138"/>
                <a:gd name="T10" fmla="*/ 247 w 276"/>
                <a:gd name="T11" fmla="*/ 95 h 138"/>
                <a:gd name="T12" fmla="*/ 177 w 276"/>
                <a:gd name="T13" fmla="*/ 130 h 138"/>
                <a:gd name="T14" fmla="*/ 137 w 276"/>
                <a:gd name="T15" fmla="*/ 45 h 138"/>
                <a:gd name="T16" fmla="*/ 99 w 276"/>
                <a:gd name="T17" fmla="*/ 130 h 138"/>
                <a:gd name="T18" fmla="*/ 27 w 276"/>
                <a:gd name="T19" fmla="*/ 95 h 138"/>
                <a:gd name="T20" fmla="*/ 43 w 276"/>
                <a:gd name="T21" fmla="*/ 138 h 138"/>
                <a:gd name="T22" fmla="*/ 20 w 276"/>
                <a:gd name="T23" fmla="*/ 138 h 138"/>
                <a:gd name="T24" fmla="*/ 0 w 276"/>
                <a:gd name="T25" fmla="*/ 67 h 138"/>
                <a:gd name="T26" fmla="*/ 94 w 276"/>
                <a:gd name="T27" fmla="*/ 118 h 138"/>
                <a:gd name="T28" fmla="*/ 137 w 276"/>
                <a:gd name="T29" fmla="*/ 0 h 1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76"/>
                <a:gd name="T46" fmla="*/ 0 h 138"/>
                <a:gd name="T47" fmla="*/ 276 w 276"/>
                <a:gd name="T48" fmla="*/ 138 h 1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76" h="138">
                  <a:moveTo>
                    <a:pt x="137" y="0"/>
                  </a:moveTo>
                  <a:lnTo>
                    <a:pt x="183" y="117"/>
                  </a:lnTo>
                  <a:lnTo>
                    <a:pt x="276" y="65"/>
                  </a:lnTo>
                  <a:lnTo>
                    <a:pt x="255" y="136"/>
                  </a:lnTo>
                  <a:lnTo>
                    <a:pt x="233" y="136"/>
                  </a:lnTo>
                  <a:lnTo>
                    <a:pt x="247" y="95"/>
                  </a:lnTo>
                  <a:lnTo>
                    <a:pt x="177" y="130"/>
                  </a:lnTo>
                  <a:lnTo>
                    <a:pt x="137" y="45"/>
                  </a:lnTo>
                  <a:lnTo>
                    <a:pt x="99" y="130"/>
                  </a:lnTo>
                  <a:lnTo>
                    <a:pt x="27" y="95"/>
                  </a:lnTo>
                  <a:lnTo>
                    <a:pt x="43" y="138"/>
                  </a:lnTo>
                  <a:lnTo>
                    <a:pt x="20" y="138"/>
                  </a:lnTo>
                  <a:lnTo>
                    <a:pt x="0" y="67"/>
                  </a:lnTo>
                  <a:lnTo>
                    <a:pt x="94" y="118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93939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98" name="Freeform 340"/>
            <p:cNvSpPr>
              <a:spLocks/>
            </p:cNvSpPr>
            <p:nvPr/>
          </p:nvSpPr>
          <p:spPr bwMode="auto">
            <a:xfrm>
              <a:off x="8886" y="9245"/>
              <a:ext cx="135" cy="64"/>
            </a:xfrm>
            <a:custGeom>
              <a:avLst/>
              <a:gdLst>
                <a:gd name="T0" fmla="*/ 134 w 268"/>
                <a:gd name="T1" fmla="*/ 0 h 127"/>
                <a:gd name="T2" fmla="*/ 180 w 268"/>
                <a:gd name="T3" fmla="*/ 112 h 127"/>
                <a:gd name="T4" fmla="*/ 268 w 268"/>
                <a:gd name="T5" fmla="*/ 64 h 127"/>
                <a:gd name="T6" fmla="*/ 252 w 268"/>
                <a:gd name="T7" fmla="*/ 126 h 127"/>
                <a:gd name="T8" fmla="*/ 232 w 268"/>
                <a:gd name="T9" fmla="*/ 126 h 127"/>
                <a:gd name="T10" fmla="*/ 244 w 268"/>
                <a:gd name="T11" fmla="*/ 89 h 127"/>
                <a:gd name="T12" fmla="*/ 174 w 268"/>
                <a:gd name="T13" fmla="*/ 124 h 127"/>
                <a:gd name="T14" fmla="*/ 134 w 268"/>
                <a:gd name="T15" fmla="*/ 39 h 127"/>
                <a:gd name="T16" fmla="*/ 96 w 268"/>
                <a:gd name="T17" fmla="*/ 124 h 127"/>
                <a:gd name="T18" fmla="*/ 24 w 268"/>
                <a:gd name="T19" fmla="*/ 89 h 127"/>
                <a:gd name="T20" fmla="*/ 38 w 268"/>
                <a:gd name="T21" fmla="*/ 127 h 127"/>
                <a:gd name="T22" fmla="*/ 17 w 268"/>
                <a:gd name="T23" fmla="*/ 127 h 127"/>
                <a:gd name="T24" fmla="*/ 0 w 268"/>
                <a:gd name="T25" fmla="*/ 65 h 127"/>
                <a:gd name="T26" fmla="*/ 91 w 268"/>
                <a:gd name="T27" fmla="*/ 114 h 127"/>
                <a:gd name="T28" fmla="*/ 134 w 268"/>
                <a:gd name="T29" fmla="*/ 0 h 12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8"/>
                <a:gd name="T46" fmla="*/ 0 h 127"/>
                <a:gd name="T47" fmla="*/ 268 w 268"/>
                <a:gd name="T48" fmla="*/ 127 h 12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8" h="127">
                  <a:moveTo>
                    <a:pt x="134" y="0"/>
                  </a:moveTo>
                  <a:lnTo>
                    <a:pt x="180" y="112"/>
                  </a:lnTo>
                  <a:lnTo>
                    <a:pt x="268" y="64"/>
                  </a:lnTo>
                  <a:lnTo>
                    <a:pt x="252" y="126"/>
                  </a:lnTo>
                  <a:lnTo>
                    <a:pt x="232" y="126"/>
                  </a:lnTo>
                  <a:lnTo>
                    <a:pt x="244" y="89"/>
                  </a:lnTo>
                  <a:lnTo>
                    <a:pt x="174" y="124"/>
                  </a:lnTo>
                  <a:lnTo>
                    <a:pt x="134" y="39"/>
                  </a:lnTo>
                  <a:lnTo>
                    <a:pt x="96" y="124"/>
                  </a:lnTo>
                  <a:lnTo>
                    <a:pt x="24" y="89"/>
                  </a:lnTo>
                  <a:lnTo>
                    <a:pt x="38" y="127"/>
                  </a:lnTo>
                  <a:lnTo>
                    <a:pt x="17" y="127"/>
                  </a:lnTo>
                  <a:lnTo>
                    <a:pt x="0" y="65"/>
                  </a:lnTo>
                  <a:lnTo>
                    <a:pt x="91" y="114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89898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99" name="Freeform 341"/>
            <p:cNvSpPr>
              <a:spLocks/>
            </p:cNvSpPr>
            <p:nvPr/>
          </p:nvSpPr>
          <p:spPr bwMode="auto">
            <a:xfrm>
              <a:off x="8888" y="9248"/>
              <a:ext cx="131" cy="60"/>
            </a:xfrm>
            <a:custGeom>
              <a:avLst/>
              <a:gdLst>
                <a:gd name="T0" fmla="*/ 131 w 262"/>
                <a:gd name="T1" fmla="*/ 0 h 118"/>
                <a:gd name="T2" fmla="*/ 177 w 262"/>
                <a:gd name="T3" fmla="*/ 108 h 118"/>
                <a:gd name="T4" fmla="*/ 262 w 262"/>
                <a:gd name="T5" fmla="*/ 61 h 118"/>
                <a:gd name="T6" fmla="*/ 247 w 262"/>
                <a:gd name="T7" fmla="*/ 115 h 118"/>
                <a:gd name="T8" fmla="*/ 230 w 262"/>
                <a:gd name="T9" fmla="*/ 115 h 118"/>
                <a:gd name="T10" fmla="*/ 241 w 262"/>
                <a:gd name="T11" fmla="*/ 83 h 118"/>
                <a:gd name="T12" fmla="*/ 171 w 262"/>
                <a:gd name="T13" fmla="*/ 118 h 118"/>
                <a:gd name="T14" fmla="*/ 131 w 262"/>
                <a:gd name="T15" fmla="*/ 33 h 118"/>
                <a:gd name="T16" fmla="*/ 93 w 262"/>
                <a:gd name="T17" fmla="*/ 118 h 118"/>
                <a:gd name="T18" fmla="*/ 21 w 262"/>
                <a:gd name="T19" fmla="*/ 83 h 118"/>
                <a:gd name="T20" fmla="*/ 33 w 262"/>
                <a:gd name="T21" fmla="*/ 115 h 118"/>
                <a:gd name="T22" fmla="*/ 14 w 262"/>
                <a:gd name="T23" fmla="*/ 115 h 118"/>
                <a:gd name="T24" fmla="*/ 0 w 262"/>
                <a:gd name="T25" fmla="*/ 62 h 118"/>
                <a:gd name="T26" fmla="*/ 88 w 262"/>
                <a:gd name="T27" fmla="*/ 108 h 118"/>
                <a:gd name="T28" fmla="*/ 131 w 262"/>
                <a:gd name="T29" fmla="*/ 0 h 11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2"/>
                <a:gd name="T46" fmla="*/ 0 h 118"/>
                <a:gd name="T47" fmla="*/ 262 w 262"/>
                <a:gd name="T48" fmla="*/ 118 h 11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2" h="118">
                  <a:moveTo>
                    <a:pt x="131" y="0"/>
                  </a:moveTo>
                  <a:lnTo>
                    <a:pt x="177" y="108"/>
                  </a:lnTo>
                  <a:lnTo>
                    <a:pt x="262" y="61"/>
                  </a:lnTo>
                  <a:lnTo>
                    <a:pt x="247" y="115"/>
                  </a:lnTo>
                  <a:lnTo>
                    <a:pt x="230" y="115"/>
                  </a:lnTo>
                  <a:lnTo>
                    <a:pt x="241" y="83"/>
                  </a:lnTo>
                  <a:lnTo>
                    <a:pt x="171" y="118"/>
                  </a:lnTo>
                  <a:lnTo>
                    <a:pt x="131" y="33"/>
                  </a:lnTo>
                  <a:lnTo>
                    <a:pt x="93" y="118"/>
                  </a:lnTo>
                  <a:lnTo>
                    <a:pt x="21" y="83"/>
                  </a:lnTo>
                  <a:lnTo>
                    <a:pt x="33" y="115"/>
                  </a:lnTo>
                  <a:lnTo>
                    <a:pt x="14" y="115"/>
                  </a:lnTo>
                  <a:lnTo>
                    <a:pt x="0" y="62"/>
                  </a:lnTo>
                  <a:lnTo>
                    <a:pt x="88" y="108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7C7C7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00" name="Freeform 342"/>
            <p:cNvSpPr>
              <a:spLocks/>
            </p:cNvSpPr>
            <p:nvPr/>
          </p:nvSpPr>
          <p:spPr bwMode="auto">
            <a:xfrm>
              <a:off x="8889" y="9251"/>
              <a:ext cx="128" cy="57"/>
            </a:xfrm>
            <a:custGeom>
              <a:avLst/>
              <a:gdLst>
                <a:gd name="T0" fmla="*/ 128 w 255"/>
                <a:gd name="T1" fmla="*/ 0 h 112"/>
                <a:gd name="T2" fmla="*/ 174 w 255"/>
                <a:gd name="T3" fmla="*/ 102 h 112"/>
                <a:gd name="T4" fmla="*/ 255 w 255"/>
                <a:gd name="T5" fmla="*/ 59 h 112"/>
                <a:gd name="T6" fmla="*/ 244 w 255"/>
                <a:gd name="T7" fmla="*/ 103 h 112"/>
                <a:gd name="T8" fmla="*/ 229 w 255"/>
                <a:gd name="T9" fmla="*/ 103 h 112"/>
                <a:gd name="T10" fmla="*/ 238 w 255"/>
                <a:gd name="T11" fmla="*/ 77 h 112"/>
                <a:gd name="T12" fmla="*/ 168 w 255"/>
                <a:gd name="T13" fmla="*/ 112 h 112"/>
                <a:gd name="T14" fmla="*/ 128 w 255"/>
                <a:gd name="T15" fmla="*/ 27 h 112"/>
                <a:gd name="T16" fmla="*/ 90 w 255"/>
                <a:gd name="T17" fmla="*/ 112 h 112"/>
                <a:gd name="T18" fmla="*/ 18 w 255"/>
                <a:gd name="T19" fmla="*/ 77 h 112"/>
                <a:gd name="T20" fmla="*/ 29 w 255"/>
                <a:gd name="T21" fmla="*/ 105 h 112"/>
                <a:gd name="T22" fmla="*/ 11 w 255"/>
                <a:gd name="T23" fmla="*/ 105 h 112"/>
                <a:gd name="T24" fmla="*/ 0 w 255"/>
                <a:gd name="T25" fmla="*/ 59 h 112"/>
                <a:gd name="T26" fmla="*/ 85 w 255"/>
                <a:gd name="T27" fmla="*/ 103 h 112"/>
                <a:gd name="T28" fmla="*/ 128 w 255"/>
                <a:gd name="T29" fmla="*/ 0 h 11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55"/>
                <a:gd name="T46" fmla="*/ 0 h 112"/>
                <a:gd name="T47" fmla="*/ 255 w 255"/>
                <a:gd name="T48" fmla="*/ 112 h 11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55" h="112">
                  <a:moveTo>
                    <a:pt x="128" y="0"/>
                  </a:moveTo>
                  <a:lnTo>
                    <a:pt x="174" y="102"/>
                  </a:lnTo>
                  <a:lnTo>
                    <a:pt x="255" y="59"/>
                  </a:lnTo>
                  <a:lnTo>
                    <a:pt x="244" y="103"/>
                  </a:lnTo>
                  <a:lnTo>
                    <a:pt x="229" y="103"/>
                  </a:lnTo>
                  <a:lnTo>
                    <a:pt x="238" y="77"/>
                  </a:lnTo>
                  <a:lnTo>
                    <a:pt x="168" y="112"/>
                  </a:lnTo>
                  <a:lnTo>
                    <a:pt x="128" y="27"/>
                  </a:lnTo>
                  <a:lnTo>
                    <a:pt x="90" y="112"/>
                  </a:lnTo>
                  <a:lnTo>
                    <a:pt x="18" y="77"/>
                  </a:lnTo>
                  <a:lnTo>
                    <a:pt x="29" y="105"/>
                  </a:lnTo>
                  <a:lnTo>
                    <a:pt x="11" y="105"/>
                  </a:lnTo>
                  <a:lnTo>
                    <a:pt x="0" y="59"/>
                  </a:lnTo>
                  <a:lnTo>
                    <a:pt x="85" y="103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70707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01" name="Freeform 343"/>
            <p:cNvSpPr>
              <a:spLocks/>
            </p:cNvSpPr>
            <p:nvPr/>
          </p:nvSpPr>
          <p:spPr bwMode="auto">
            <a:xfrm>
              <a:off x="8892" y="9254"/>
              <a:ext cx="123" cy="54"/>
            </a:xfrm>
            <a:custGeom>
              <a:avLst/>
              <a:gdLst>
                <a:gd name="T0" fmla="*/ 123 w 247"/>
                <a:gd name="T1" fmla="*/ 0 h 106"/>
                <a:gd name="T2" fmla="*/ 169 w 247"/>
                <a:gd name="T3" fmla="*/ 97 h 106"/>
                <a:gd name="T4" fmla="*/ 247 w 247"/>
                <a:gd name="T5" fmla="*/ 56 h 106"/>
                <a:gd name="T6" fmla="*/ 239 w 247"/>
                <a:gd name="T7" fmla="*/ 93 h 106"/>
                <a:gd name="T8" fmla="*/ 225 w 247"/>
                <a:gd name="T9" fmla="*/ 93 h 106"/>
                <a:gd name="T10" fmla="*/ 233 w 247"/>
                <a:gd name="T11" fmla="*/ 71 h 106"/>
                <a:gd name="T12" fmla="*/ 163 w 247"/>
                <a:gd name="T13" fmla="*/ 106 h 106"/>
                <a:gd name="T14" fmla="*/ 123 w 247"/>
                <a:gd name="T15" fmla="*/ 21 h 106"/>
                <a:gd name="T16" fmla="*/ 85 w 247"/>
                <a:gd name="T17" fmla="*/ 106 h 106"/>
                <a:gd name="T18" fmla="*/ 13 w 247"/>
                <a:gd name="T19" fmla="*/ 71 h 106"/>
                <a:gd name="T20" fmla="*/ 21 w 247"/>
                <a:gd name="T21" fmla="*/ 94 h 106"/>
                <a:gd name="T22" fmla="*/ 6 w 247"/>
                <a:gd name="T23" fmla="*/ 94 h 106"/>
                <a:gd name="T24" fmla="*/ 0 w 247"/>
                <a:gd name="T25" fmla="*/ 56 h 106"/>
                <a:gd name="T26" fmla="*/ 80 w 247"/>
                <a:gd name="T27" fmla="*/ 99 h 106"/>
                <a:gd name="T28" fmla="*/ 123 w 247"/>
                <a:gd name="T29" fmla="*/ 0 h 1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47"/>
                <a:gd name="T46" fmla="*/ 0 h 106"/>
                <a:gd name="T47" fmla="*/ 247 w 247"/>
                <a:gd name="T48" fmla="*/ 106 h 10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47" h="106">
                  <a:moveTo>
                    <a:pt x="123" y="0"/>
                  </a:moveTo>
                  <a:lnTo>
                    <a:pt x="169" y="97"/>
                  </a:lnTo>
                  <a:lnTo>
                    <a:pt x="247" y="56"/>
                  </a:lnTo>
                  <a:lnTo>
                    <a:pt x="239" y="93"/>
                  </a:lnTo>
                  <a:lnTo>
                    <a:pt x="225" y="93"/>
                  </a:lnTo>
                  <a:lnTo>
                    <a:pt x="233" y="71"/>
                  </a:lnTo>
                  <a:lnTo>
                    <a:pt x="163" y="106"/>
                  </a:lnTo>
                  <a:lnTo>
                    <a:pt x="123" y="21"/>
                  </a:lnTo>
                  <a:lnTo>
                    <a:pt x="85" y="106"/>
                  </a:lnTo>
                  <a:lnTo>
                    <a:pt x="13" y="71"/>
                  </a:lnTo>
                  <a:lnTo>
                    <a:pt x="21" y="94"/>
                  </a:lnTo>
                  <a:lnTo>
                    <a:pt x="6" y="94"/>
                  </a:lnTo>
                  <a:lnTo>
                    <a:pt x="0" y="56"/>
                  </a:lnTo>
                  <a:lnTo>
                    <a:pt x="80" y="99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02" name="Freeform 344"/>
            <p:cNvSpPr>
              <a:spLocks/>
            </p:cNvSpPr>
            <p:nvPr/>
          </p:nvSpPr>
          <p:spPr bwMode="auto">
            <a:xfrm>
              <a:off x="8893" y="9258"/>
              <a:ext cx="120" cy="50"/>
            </a:xfrm>
            <a:custGeom>
              <a:avLst/>
              <a:gdLst>
                <a:gd name="T0" fmla="*/ 236 w 239"/>
                <a:gd name="T1" fmla="*/ 82 h 100"/>
                <a:gd name="T2" fmla="*/ 239 w 239"/>
                <a:gd name="T3" fmla="*/ 55 h 100"/>
                <a:gd name="T4" fmla="*/ 166 w 239"/>
                <a:gd name="T5" fmla="*/ 93 h 100"/>
                <a:gd name="T6" fmla="*/ 120 w 239"/>
                <a:gd name="T7" fmla="*/ 0 h 100"/>
                <a:gd name="T8" fmla="*/ 77 w 239"/>
                <a:gd name="T9" fmla="*/ 93 h 100"/>
                <a:gd name="T10" fmla="*/ 0 w 239"/>
                <a:gd name="T11" fmla="*/ 53 h 100"/>
                <a:gd name="T12" fmla="*/ 4 w 239"/>
                <a:gd name="T13" fmla="*/ 84 h 100"/>
                <a:gd name="T14" fmla="*/ 16 w 239"/>
                <a:gd name="T15" fmla="*/ 84 h 100"/>
                <a:gd name="T16" fmla="*/ 10 w 239"/>
                <a:gd name="T17" fmla="*/ 65 h 100"/>
                <a:gd name="T18" fmla="*/ 82 w 239"/>
                <a:gd name="T19" fmla="*/ 100 h 100"/>
                <a:gd name="T20" fmla="*/ 120 w 239"/>
                <a:gd name="T21" fmla="*/ 15 h 100"/>
                <a:gd name="T22" fmla="*/ 160 w 239"/>
                <a:gd name="T23" fmla="*/ 100 h 100"/>
                <a:gd name="T24" fmla="*/ 230 w 239"/>
                <a:gd name="T25" fmla="*/ 65 h 100"/>
                <a:gd name="T26" fmla="*/ 225 w 239"/>
                <a:gd name="T27" fmla="*/ 82 h 100"/>
                <a:gd name="T28" fmla="*/ 236 w 239"/>
                <a:gd name="T29" fmla="*/ 82 h 10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39"/>
                <a:gd name="T46" fmla="*/ 0 h 100"/>
                <a:gd name="T47" fmla="*/ 239 w 239"/>
                <a:gd name="T48" fmla="*/ 100 h 10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39" h="100">
                  <a:moveTo>
                    <a:pt x="236" y="82"/>
                  </a:moveTo>
                  <a:lnTo>
                    <a:pt x="239" y="55"/>
                  </a:lnTo>
                  <a:lnTo>
                    <a:pt x="166" y="93"/>
                  </a:lnTo>
                  <a:lnTo>
                    <a:pt x="120" y="0"/>
                  </a:lnTo>
                  <a:lnTo>
                    <a:pt x="77" y="93"/>
                  </a:lnTo>
                  <a:lnTo>
                    <a:pt x="0" y="53"/>
                  </a:lnTo>
                  <a:lnTo>
                    <a:pt x="4" y="84"/>
                  </a:lnTo>
                  <a:lnTo>
                    <a:pt x="16" y="84"/>
                  </a:lnTo>
                  <a:lnTo>
                    <a:pt x="10" y="65"/>
                  </a:lnTo>
                  <a:lnTo>
                    <a:pt x="82" y="100"/>
                  </a:lnTo>
                  <a:lnTo>
                    <a:pt x="120" y="15"/>
                  </a:lnTo>
                  <a:lnTo>
                    <a:pt x="160" y="100"/>
                  </a:lnTo>
                  <a:lnTo>
                    <a:pt x="230" y="65"/>
                  </a:lnTo>
                  <a:lnTo>
                    <a:pt x="225" y="82"/>
                  </a:lnTo>
                  <a:lnTo>
                    <a:pt x="236" y="82"/>
                  </a:lnTo>
                  <a:close/>
                </a:path>
              </a:pathLst>
            </a:custGeom>
            <a:solidFill>
              <a:srgbClr val="59595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31" name="Rectangle 345"/>
          <p:cNvSpPr>
            <a:spLocks noChangeArrowheads="1"/>
          </p:cNvSpPr>
          <p:nvPr/>
        </p:nvSpPr>
        <p:spPr bwMode="auto">
          <a:xfrm>
            <a:off x="4967288" y="1919288"/>
            <a:ext cx="2865437" cy="17891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1981" tIns="40989" rIns="81981" bIns="40989" anchor="ctr"/>
          <a:lstStyle/>
          <a:p>
            <a:pPr algn="ctr" defTabSz="819150" eaLnBrk="0" hangingPunct="0"/>
            <a:endParaRPr lang="en-US" sz="2300" b="0">
              <a:latin typeface="Arial Narrow" pitchFamily="34" charset="0"/>
            </a:endParaRPr>
          </a:p>
        </p:txBody>
      </p:sp>
      <p:sp>
        <p:nvSpPr>
          <p:cNvPr id="26632" name="Freeform 346"/>
          <p:cNvSpPr>
            <a:spLocks/>
          </p:cNvSpPr>
          <p:nvPr/>
        </p:nvSpPr>
        <p:spPr bwMode="auto">
          <a:xfrm>
            <a:off x="7043738" y="3371850"/>
            <a:ext cx="598487" cy="884238"/>
          </a:xfrm>
          <a:custGeom>
            <a:avLst/>
            <a:gdLst>
              <a:gd name="T0" fmla="*/ 783 w 882"/>
              <a:gd name="T1" fmla="*/ 940 h 1235"/>
              <a:gd name="T2" fmla="*/ 593 w 882"/>
              <a:gd name="T3" fmla="*/ 1150 h 1235"/>
              <a:gd name="T4" fmla="*/ 526 w 882"/>
              <a:gd name="T5" fmla="*/ 1232 h 1235"/>
              <a:gd name="T6" fmla="*/ 282 w 882"/>
              <a:gd name="T7" fmla="*/ 1226 h 1235"/>
              <a:gd name="T8" fmla="*/ 210 w 882"/>
              <a:gd name="T9" fmla="*/ 1188 h 1235"/>
              <a:gd name="T10" fmla="*/ 166 w 882"/>
              <a:gd name="T11" fmla="*/ 1053 h 1235"/>
              <a:gd name="T12" fmla="*/ 67 w 882"/>
              <a:gd name="T13" fmla="*/ 958 h 1235"/>
              <a:gd name="T14" fmla="*/ 0 w 882"/>
              <a:gd name="T15" fmla="*/ 675 h 1235"/>
              <a:gd name="T16" fmla="*/ 25 w 882"/>
              <a:gd name="T17" fmla="*/ 533 h 1235"/>
              <a:gd name="T18" fmla="*/ 116 w 882"/>
              <a:gd name="T19" fmla="*/ 366 h 1235"/>
              <a:gd name="T20" fmla="*/ 36 w 882"/>
              <a:gd name="T21" fmla="*/ 310 h 1235"/>
              <a:gd name="T22" fmla="*/ 21 w 882"/>
              <a:gd name="T23" fmla="*/ 224 h 1235"/>
              <a:gd name="T24" fmla="*/ 59 w 882"/>
              <a:gd name="T25" fmla="*/ 189 h 1235"/>
              <a:gd name="T26" fmla="*/ 183 w 882"/>
              <a:gd name="T27" fmla="*/ 166 h 1235"/>
              <a:gd name="T28" fmla="*/ 269 w 882"/>
              <a:gd name="T29" fmla="*/ 189 h 1235"/>
              <a:gd name="T30" fmla="*/ 402 w 882"/>
              <a:gd name="T31" fmla="*/ 243 h 1235"/>
              <a:gd name="T32" fmla="*/ 416 w 882"/>
              <a:gd name="T33" fmla="*/ 200 h 1235"/>
              <a:gd name="T34" fmla="*/ 401 w 882"/>
              <a:gd name="T35" fmla="*/ 152 h 1235"/>
              <a:gd name="T36" fmla="*/ 366 w 882"/>
              <a:gd name="T37" fmla="*/ 65 h 1235"/>
              <a:gd name="T38" fmla="*/ 321 w 882"/>
              <a:gd name="T39" fmla="*/ 10 h 1235"/>
              <a:gd name="T40" fmla="*/ 333 w 882"/>
              <a:gd name="T41" fmla="*/ 1 h 1235"/>
              <a:gd name="T42" fmla="*/ 418 w 882"/>
              <a:gd name="T43" fmla="*/ 14 h 1235"/>
              <a:gd name="T44" fmla="*/ 528 w 882"/>
              <a:gd name="T45" fmla="*/ 65 h 1235"/>
              <a:gd name="T46" fmla="*/ 656 w 882"/>
              <a:gd name="T47" fmla="*/ 163 h 1235"/>
              <a:gd name="T48" fmla="*/ 733 w 882"/>
              <a:gd name="T49" fmla="*/ 272 h 1235"/>
              <a:gd name="T50" fmla="*/ 778 w 882"/>
              <a:gd name="T51" fmla="*/ 398 h 1235"/>
              <a:gd name="T52" fmla="*/ 807 w 882"/>
              <a:gd name="T53" fmla="*/ 517 h 1235"/>
              <a:gd name="T54" fmla="*/ 799 w 882"/>
              <a:gd name="T55" fmla="*/ 534 h 1235"/>
              <a:gd name="T56" fmla="*/ 874 w 882"/>
              <a:gd name="T57" fmla="*/ 569 h 1235"/>
              <a:gd name="T58" fmla="*/ 882 w 882"/>
              <a:gd name="T59" fmla="*/ 600 h 1235"/>
              <a:gd name="T60" fmla="*/ 836 w 882"/>
              <a:gd name="T61" fmla="*/ 658 h 1235"/>
              <a:gd name="T62" fmla="*/ 814 w 882"/>
              <a:gd name="T63" fmla="*/ 777 h 123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882"/>
              <a:gd name="T97" fmla="*/ 0 h 1235"/>
              <a:gd name="T98" fmla="*/ 882 w 882"/>
              <a:gd name="T99" fmla="*/ 1235 h 1235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882" h="1235">
                <a:moveTo>
                  <a:pt x="814" y="777"/>
                </a:moveTo>
                <a:lnTo>
                  <a:pt x="783" y="940"/>
                </a:lnTo>
                <a:lnTo>
                  <a:pt x="756" y="1019"/>
                </a:lnTo>
                <a:lnTo>
                  <a:pt x="593" y="1150"/>
                </a:lnTo>
                <a:lnTo>
                  <a:pt x="579" y="1229"/>
                </a:lnTo>
                <a:lnTo>
                  <a:pt x="526" y="1232"/>
                </a:lnTo>
                <a:lnTo>
                  <a:pt x="407" y="1235"/>
                </a:lnTo>
                <a:lnTo>
                  <a:pt x="282" y="1226"/>
                </a:lnTo>
                <a:lnTo>
                  <a:pt x="236" y="1210"/>
                </a:lnTo>
                <a:lnTo>
                  <a:pt x="210" y="1188"/>
                </a:lnTo>
                <a:lnTo>
                  <a:pt x="175" y="1094"/>
                </a:lnTo>
                <a:lnTo>
                  <a:pt x="166" y="1053"/>
                </a:lnTo>
                <a:lnTo>
                  <a:pt x="112" y="983"/>
                </a:lnTo>
                <a:lnTo>
                  <a:pt x="67" y="958"/>
                </a:lnTo>
                <a:lnTo>
                  <a:pt x="7" y="774"/>
                </a:lnTo>
                <a:lnTo>
                  <a:pt x="0" y="675"/>
                </a:lnTo>
                <a:lnTo>
                  <a:pt x="11" y="583"/>
                </a:lnTo>
                <a:lnTo>
                  <a:pt x="25" y="533"/>
                </a:lnTo>
                <a:lnTo>
                  <a:pt x="45" y="487"/>
                </a:lnTo>
                <a:lnTo>
                  <a:pt x="116" y="366"/>
                </a:lnTo>
                <a:lnTo>
                  <a:pt x="79" y="344"/>
                </a:lnTo>
                <a:lnTo>
                  <a:pt x="36" y="310"/>
                </a:lnTo>
                <a:lnTo>
                  <a:pt x="21" y="257"/>
                </a:lnTo>
                <a:lnTo>
                  <a:pt x="21" y="224"/>
                </a:lnTo>
                <a:lnTo>
                  <a:pt x="31" y="205"/>
                </a:lnTo>
                <a:lnTo>
                  <a:pt x="59" y="189"/>
                </a:lnTo>
                <a:lnTo>
                  <a:pt x="112" y="170"/>
                </a:lnTo>
                <a:lnTo>
                  <a:pt x="183" y="166"/>
                </a:lnTo>
                <a:lnTo>
                  <a:pt x="225" y="172"/>
                </a:lnTo>
                <a:lnTo>
                  <a:pt x="269" y="189"/>
                </a:lnTo>
                <a:lnTo>
                  <a:pt x="394" y="247"/>
                </a:lnTo>
                <a:lnTo>
                  <a:pt x="402" y="243"/>
                </a:lnTo>
                <a:lnTo>
                  <a:pt x="413" y="228"/>
                </a:lnTo>
                <a:lnTo>
                  <a:pt x="416" y="200"/>
                </a:lnTo>
                <a:lnTo>
                  <a:pt x="413" y="177"/>
                </a:lnTo>
                <a:lnTo>
                  <a:pt x="401" y="152"/>
                </a:lnTo>
                <a:lnTo>
                  <a:pt x="374" y="86"/>
                </a:lnTo>
                <a:lnTo>
                  <a:pt x="366" y="65"/>
                </a:lnTo>
                <a:lnTo>
                  <a:pt x="344" y="31"/>
                </a:lnTo>
                <a:lnTo>
                  <a:pt x="321" y="10"/>
                </a:lnTo>
                <a:lnTo>
                  <a:pt x="324" y="4"/>
                </a:lnTo>
                <a:lnTo>
                  <a:pt x="333" y="1"/>
                </a:lnTo>
                <a:lnTo>
                  <a:pt x="371" y="0"/>
                </a:lnTo>
                <a:lnTo>
                  <a:pt x="418" y="14"/>
                </a:lnTo>
                <a:lnTo>
                  <a:pt x="468" y="36"/>
                </a:lnTo>
                <a:lnTo>
                  <a:pt x="528" y="65"/>
                </a:lnTo>
                <a:lnTo>
                  <a:pt x="593" y="109"/>
                </a:lnTo>
                <a:lnTo>
                  <a:pt x="656" y="163"/>
                </a:lnTo>
                <a:lnTo>
                  <a:pt x="709" y="232"/>
                </a:lnTo>
                <a:lnTo>
                  <a:pt x="733" y="272"/>
                </a:lnTo>
                <a:lnTo>
                  <a:pt x="750" y="316"/>
                </a:lnTo>
                <a:lnTo>
                  <a:pt x="778" y="398"/>
                </a:lnTo>
                <a:lnTo>
                  <a:pt x="796" y="454"/>
                </a:lnTo>
                <a:lnTo>
                  <a:pt x="807" y="517"/>
                </a:lnTo>
                <a:lnTo>
                  <a:pt x="802" y="534"/>
                </a:lnTo>
                <a:lnTo>
                  <a:pt x="799" y="534"/>
                </a:lnTo>
                <a:lnTo>
                  <a:pt x="855" y="547"/>
                </a:lnTo>
                <a:lnTo>
                  <a:pt x="874" y="569"/>
                </a:lnTo>
                <a:lnTo>
                  <a:pt x="882" y="589"/>
                </a:lnTo>
                <a:lnTo>
                  <a:pt x="882" y="600"/>
                </a:lnTo>
                <a:lnTo>
                  <a:pt x="876" y="613"/>
                </a:lnTo>
                <a:lnTo>
                  <a:pt x="836" y="658"/>
                </a:lnTo>
                <a:lnTo>
                  <a:pt x="814" y="680"/>
                </a:lnTo>
                <a:lnTo>
                  <a:pt x="814" y="777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3" name="Freeform 347"/>
          <p:cNvSpPr>
            <a:spLocks/>
          </p:cNvSpPr>
          <p:nvPr/>
        </p:nvSpPr>
        <p:spPr bwMode="auto">
          <a:xfrm>
            <a:off x="5051425" y="3346450"/>
            <a:ext cx="411163" cy="960438"/>
          </a:xfrm>
          <a:custGeom>
            <a:avLst/>
            <a:gdLst>
              <a:gd name="T0" fmla="*/ 502 w 603"/>
              <a:gd name="T1" fmla="*/ 1013 h 1343"/>
              <a:gd name="T2" fmla="*/ 353 w 603"/>
              <a:gd name="T3" fmla="*/ 1314 h 1343"/>
              <a:gd name="T4" fmla="*/ 301 w 603"/>
              <a:gd name="T5" fmla="*/ 1343 h 1343"/>
              <a:gd name="T6" fmla="*/ 254 w 603"/>
              <a:gd name="T7" fmla="*/ 1201 h 1343"/>
              <a:gd name="T8" fmla="*/ 212 w 603"/>
              <a:gd name="T9" fmla="*/ 1103 h 1343"/>
              <a:gd name="T10" fmla="*/ 193 w 603"/>
              <a:gd name="T11" fmla="*/ 1068 h 1343"/>
              <a:gd name="T12" fmla="*/ 173 w 603"/>
              <a:gd name="T13" fmla="*/ 1054 h 1343"/>
              <a:gd name="T14" fmla="*/ 111 w 603"/>
              <a:gd name="T15" fmla="*/ 1046 h 1343"/>
              <a:gd name="T16" fmla="*/ 133 w 603"/>
              <a:gd name="T17" fmla="*/ 995 h 1343"/>
              <a:gd name="T18" fmla="*/ 141 w 603"/>
              <a:gd name="T19" fmla="*/ 944 h 1343"/>
              <a:gd name="T20" fmla="*/ 138 w 603"/>
              <a:gd name="T21" fmla="*/ 919 h 1343"/>
              <a:gd name="T22" fmla="*/ 127 w 603"/>
              <a:gd name="T23" fmla="*/ 894 h 1343"/>
              <a:gd name="T24" fmla="*/ 50 w 603"/>
              <a:gd name="T25" fmla="*/ 791 h 1343"/>
              <a:gd name="T26" fmla="*/ 3 w 603"/>
              <a:gd name="T27" fmla="*/ 736 h 1343"/>
              <a:gd name="T28" fmla="*/ 0 w 603"/>
              <a:gd name="T29" fmla="*/ 595 h 1343"/>
              <a:gd name="T30" fmla="*/ 3 w 603"/>
              <a:gd name="T31" fmla="*/ 312 h 1343"/>
              <a:gd name="T32" fmla="*/ 6 w 603"/>
              <a:gd name="T33" fmla="*/ 295 h 1343"/>
              <a:gd name="T34" fmla="*/ 24 w 603"/>
              <a:gd name="T35" fmla="*/ 278 h 1343"/>
              <a:gd name="T36" fmla="*/ 63 w 603"/>
              <a:gd name="T37" fmla="*/ 259 h 1343"/>
              <a:gd name="T38" fmla="*/ 127 w 603"/>
              <a:gd name="T39" fmla="*/ 239 h 1343"/>
              <a:gd name="T40" fmla="*/ 204 w 603"/>
              <a:gd name="T41" fmla="*/ 218 h 1343"/>
              <a:gd name="T42" fmla="*/ 270 w 603"/>
              <a:gd name="T43" fmla="*/ 195 h 1343"/>
              <a:gd name="T44" fmla="*/ 306 w 603"/>
              <a:gd name="T45" fmla="*/ 168 h 1343"/>
              <a:gd name="T46" fmla="*/ 395 w 603"/>
              <a:gd name="T47" fmla="*/ 0 h 1343"/>
              <a:gd name="T48" fmla="*/ 462 w 603"/>
              <a:gd name="T49" fmla="*/ 88 h 1343"/>
              <a:gd name="T50" fmla="*/ 542 w 603"/>
              <a:gd name="T51" fmla="*/ 203 h 1343"/>
              <a:gd name="T52" fmla="*/ 578 w 603"/>
              <a:gd name="T53" fmla="*/ 397 h 1343"/>
              <a:gd name="T54" fmla="*/ 603 w 603"/>
              <a:gd name="T55" fmla="*/ 566 h 1343"/>
              <a:gd name="T56" fmla="*/ 600 w 603"/>
              <a:gd name="T57" fmla="*/ 643 h 1343"/>
              <a:gd name="T58" fmla="*/ 586 w 603"/>
              <a:gd name="T59" fmla="*/ 708 h 1343"/>
              <a:gd name="T60" fmla="*/ 550 w 603"/>
              <a:gd name="T61" fmla="*/ 759 h 1343"/>
              <a:gd name="T62" fmla="*/ 508 w 603"/>
              <a:gd name="T63" fmla="*/ 811 h 1343"/>
              <a:gd name="T64" fmla="*/ 489 w 603"/>
              <a:gd name="T65" fmla="*/ 842 h 1343"/>
              <a:gd name="T66" fmla="*/ 473 w 603"/>
              <a:gd name="T67" fmla="*/ 877 h 1343"/>
              <a:gd name="T68" fmla="*/ 466 w 603"/>
              <a:gd name="T69" fmla="*/ 915 h 1343"/>
              <a:gd name="T70" fmla="*/ 467 w 603"/>
              <a:gd name="T71" fmla="*/ 951 h 1343"/>
              <a:gd name="T72" fmla="*/ 478 w 603"/>
              <a:gd name="T73" fmla="*/ 984 h 1343"/>
              <a:gd name="T74" fmla="*/ 502 w 603"/>
              <a:gd name="T75" fmla="*/ 1015 h 1343"/>
              <a:gd name="T76" fmla="*/ 502 w 603"/>
              <a:gd name="T77" fmla="*/ 1015 h 1343"/>
              <a:gd name="T78" fmla="*/ 502 w 603"/>
              <a:gd name="T79" fmla="*/ 1013 h 1343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603"/>
              <a:gd name="T121" fmla="*/ 0 h 1343"/>
              <a:gd name="T122" fmla="*/ 603 w 603"/>
              <a:gd name="T123" fmla="*/ 1343 h 1343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603" h="1343">
                <a:moveTo>
                  <a:pt x="502" y="1013"/>
                </a:moveTo>
                <a:lnTo>
                  <a:pt x="353" y="1314"/>
                </a:lnTo>
                <a:lnTo>
                  <a:pt x="301" y="1343"/>
                </a:lnTo>
                <a:lnTo>
                  <a:pt x="254" y="1201"/>
                </a:lnTo>
                <a:lnTo>
                  <a:pt x="212" y="1103"/>
                </a:lnTo>
                <a:lnTo>
                  <a:pt x="193" y="1068"/>
                </a:lnTo>
                <a:lnTo>
                  <a:pt x="173" y="1054"/>
                </a:lnTo>
                <a:lnTo>
                  <a:pt x="111" y="1046"/>
                </a:lnTo>
                <a:lnTo>
                  <a:pt x="133" y="995"/>
                </a:lnTo>
                <a:lnTo>
                  <a:pt x="141" y="944"/>
                </a:lnTo>
                <a:lnTo>
                  <a:pt x="138" y="919"/>
                </a:lnTo>
                <a:lnTo>
                  <a:pt x="127" y="894"/>
                </a:lnTo>
                <a:lnTo>
                  <a:pt x="50" y="791"/>
                </a:lnTo>
                <a:lnTo>
                  <a:pt x="3" y="736"/>
                </a:lnTo>
                <a:lnTo>
                  <a:pt x="0" y="595"/>
                </a:lnTo>
                <a:lnTo>
                  <a:pt x="3" y="312"/>
                </a:lnTo>
                <a:lnTo>
                  <a:pt x="6" y="295"/>
                </a:lnTo>
                <a:lnTo>
                  <a:pt x="24" y="278"/>
                </a:lnTo>
                <a:lnTo>
                  <a:pt x="63" y="259"/>
                </a:lnTo>
                <a:lnTo>
                  <a:pt x="127" y="239"/>
                </a:lnTo>
                <a:lnTo>
                  <a:pt x="204" y="218"/>
                </a:lnTo>
                <a:lnTo>
                  <a:pt x="270" y="195"/>
                </a:lnTo>
                <a:lnTo>
                  <a:pt x="306" y="168"/>
                </a:lnTo>
                <a:lnTo>
                  <a:pt x="395" y="0"/>
                </a:lnTo>
                <a:lnTo>
                  <a:pt x="462" y="88"/>
                </a:lnTo>
                <a:lnTo>
                  <a:pt x="542" y="203"/>
                </a:lnTo>
                <a:lnTo>
                  <a:pt x="578" y="397"/>
                </a:lnTo>
                <a:lnTo>
                  <a:pt x="603" y="566"/>
                </a:lnTo>
                <a:lnTo>
                  <a:pt x="600" y="643"/>
                </a:lnTo>
                <a:lnTo>
                  <a:pt x="586" y="708"/>
                </a:lnTo>
                <a:lnTo>
                  <a:pt x="550" y="759"/>
                </a:lnTo>
                <a:lnTo>
                  <a:pt x="508" y="811"/>
                </a:lnTo>
                <a:lnTo>
                  <a:pt x="489" y="842"/>
                </a:lnTo>
                <a:lnTo>
                  <a:pt x="473" y="877"/>
                </a:lnTo>
                <a:lnTo>
                  <a:pt x="466" y="915"/>
                </a:lnTo>
                <a:lnTo>
                  <a:pt x="467" y="951"/>
                </a:lnTo>
                <a:lnTo>
                  <a:pt x="478" y="984"/>
                </a:lnTo>
                <a:lnTo>
                  <a:pt x="502" y="1015"/>
                </a:lnTo>
                <a:lnTo>
                  <a:pt x="502" y="1013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4" name="Freeform 348"/>
          <p:cNvSpPr>
            <a:spLocks/>
          </p:cNvSpPr>
          <p:nvPr/>
        </p:nvSpPr>
        <p:spPr bwMode="auto">
          <a:xfrm>
            <a:off x="4978400" y="4065588"/>
            <a:ext cx="715963" cy="1036637"/>
          </a:xfrm>
          <a:custGeom>
            <a:avLst/>
            <a:gdLst>
              <a:gd name="T0" fmla="*/ 622 w 1059"/>
              <a:gd name="T1" fmla="*/ 0 h 1449"/>
              <a:gd name="T2" fmla="*/ 812 w 1059"/>
              <a:gd name="T3" fmla="*/ 68 h 1449"/>
              <a:gd name="T4" fmla="*/ 818 w 1059"/>
              <a:gd name="T5" fmla="*/ 69 h 1449"/>
              <a:gd name="T6" fmla="*/ 835 w 1059"/>
              <a:gd name="T7" fmla="*/ 88 h 1449"/>
              <a:gd name="T8" fmla="*/ 859 w 1059"/>
              <a:gd name="T9" fmla="*/ 145 h 1449"/>
              <a:gd name="T10" fmla="*/ 891 w 1059"/>
              <a:gd name="T11" fmla="*/ 264 h 1449"/>
              <a:gd name="T12" fmla="*/ 937 w 1059"/>
              <a:gd name="T13" fmla="*/ 427 h 1449"/>
              <a:gd name="T14" fmla="*/ 993 w 1059"/>
              <a:gd name="T15" fmla="*/ 588 h 1449"/>
              <a:gd name="T16" fmla="*/ 1059 w 1059"/>
              <a:gd name="T17" fmla="*/ 759 h 1449"/>
              <a:gd name="T18" fmla="*/ 904 w 1059"/>
              <a:gd name="T19" fmla="*/ 844 h 1449"/>
              <a:gd name="T20" fmla="*/ 979 w 1059"/>
              <a:gd name="T21" fmla="*/ 1132 h 1449"/>
              <a:gd name="T22" fmla="*/ 1037 w 1059"/>
              <a:gd name="T23" fmla="*/ 1411 h 1449"/>
              <a:gd name="T24" fmla="*/ 843 w 1059"/>
              <a:gd name="T25" fmla="*/ 1435 h 1449"/>
              <a:gd name="T26" fmla="*/ 699 w 1059"/>
              <a:gd name="T27" fmla="*/ 1449 h 1449"/>
              <a:gd name="T28" fmla="*/ 614 w 1059"/>
              <a:gd name="T29" fmla="*/ 1449 h 1449"/>
              <a:gd name="T30" fmla="*/ 555 w 1059"/>
              <a:gd name="T31" fmla="*/ 1441 h 1449"/>
              <a:gd name="T32" fmla="*/ 467 w 1059"/>
              <a:gd name="T33" fmla="*/ 1440 h 1449"/>
              <a:gd name="T34" fmla="*/ 355 w 1059"/>
              <a:gd name="T35" fmla="*/ 1443 h 1449"/>
              <a:gd name="T36" fmla="*/ 202 w 1059"/>
              <a:gd name="T37" fmla="*/ 1449 h 1449"/>
              <a:gd name="T38" fmla="*/ 180 w 1059"/>
              <a:gd name="T39" fmla="*/ 1372 h 1449"/>
              <a:gd name="T40" fmla="*/ 189 w 1059"/>
              <a:gd name="T41" fmla="*/ 1250 h 1449"/>
              <a:gd name="T42" fmla="*/ 199 w 1059"/>
              <a:gd name="T43" fmla="*/ 999 h 1449"/>
              <a:gd name="T44" fmla="*/ 189 w 1059"/>
              <a:gd name="T45" fmla="*/ 720 h 1449"/>
              <a:gd name="T46" fmla="*/ 153 w 1059"/>
              <a:gd name="T47" fmla="*/ 733 h 1449"/>
              <a:gd name="T48" fmla="*/ 127 w 1059"/>
              <a:gd name="T49" fmla="*/ 748 h 1449"/>
              <a:gd name="T50" fmla="*/ 0 w 1059"/>
              <a:gd name="T51" fmla="*/ 521 h 1449"/>
              <a:gd name="T52" fmla="*/ 124 w 1059"/>
              <a:gd name="T53" fmla="*/ 94 h 1449"/>
              <a:gd name="T54" fmla="*/ 196 w 1059"/>
              <a:gd name="T55" fmla="*/ 61 h 1449"/>
              <a:gd name="T56" fmla="*/ 225 w 1059"/>
              <a:gd name="T57" fmla="*/ 43 h 1449"/>
              <a:gd name="T58" fmla="*/ 250 w 1059"/>
              <a:gd name="T59" fmla="*/ 36 h 1449"/>
              <a:gd name="T60" fmla="*/ 272 w 1059"/>
              <a:gd name="T61" fmla="*/ 44 h 1449"/>
              <a:gd name="T62" fmla="*/ 312 w 1059"/>
              <a:gd name="T63" fmla="*/ 93 h 1449"/>
              <a:gd name="T64" fmla="*/ 366 w 1059"/>
              <a:gd name="T65" fmla="*/ 181 h 1449"/>
              <a:gd name="T66" fmla="*/ 415 w 1059"/>
              <a:gd name="T67" fmla="*/ 270 h 1449"/>
              <a:gd name="T68" fmla="*/ 426 w 1059"/>
              <a:gd name="T69" fmla="*/ 306 h 1449"/>
              <a:gd name="T70" fmla="*/ 426 w 1059"/>
              <a:gd name="T71" fmla="*/ 326 h 1449"/>
              <a:gd name="T72" fmla="*/ 424 w 1059"/>
              <a:gd name="T73" fmla="*/ 339 h 1449"/>
              <a:gd name="T74" fmla="*/ 442 w 1059"/>
              <a:gd name="T75" fmla="*/ 328 h 1449"/>
              <a:gd name="T76" fmla="*/ 470 w 1059"/>
              <a:gd name="T77" fmla="*/ 305 h 1449"/>
              <a:gd name="T78" fmla="*/ 561 w 1059"/>
              <a:gd name="T79" fmla="*/ 123 h 1449"/>
              <a:gd name="T80" fmla="*/ 622 w 1059"/>
              <a:gd name="T81" fmla="*/ 0 h 1449"/>
              <a:gd name="T82" fmla="*/ 622 w 1059"/>
              <a:gd name="T83" fmla="*/ 0 h 1449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059"/>
              <a:gd name="T127" fmla="*/ 0 h 1449"/>
              <a:gd name="T128" fmla="*/ 1059 w 1059"/>
              <a:gd name="T129" fmla="*/ 1449 h 1449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059" h="1449">
                <a:moveTo>
                  <a:pt x="622" y="0"/>
                </a:moveTo>
                <a:lnTo>
                  <a:pt x="812" y="68"/>
                </a:lnTo>
                <a:lnTo>
                  <a:pt x="818" y="69"/>
                </a:lnTo>
                <a:lnTo>
                  <a:pt x="835" y="88"/>
                </a:lnTo>
                <a:lnTo>
                  <a:pt x="859" y="145"/>
                </a:lnTo>
                <a:lnTo>
                  <a:pt x="891" y="264"/>
                </a:lnTo>
                <a:lnTo>
                  <a:pt x="937" y="427"/>
                </a:lnTo>
                <a:lnTo>
                  <a:pt x="993" y="588"/>
                </a:lnTo>
                <a:lnTo>
                  <a:pt x="1059" y="759"/>
                </a:lnTo>
                <a:lnTo>
                  <a:pt x="904" y="844"/>
                </a:lnTo>
                <a:lnTo>
                  <a:pt x="979" y="1132"/>
                </a:lnTo>
                <a:lnTo>
                  <a:pt x="1037" y="1411"/>
                </a:lnTo>
                <a:lnTo>
                  <a:pt x="843" y="1435"/>
                </a:lnTo>
                <a:lnTo>
                  <a:pt x="699" y="1449"/>
                </a:lnTo>
                <a:lnTo>
                  <a:pt x="614" y="1449"/>
                </a:lnTo>
                <a:lnTo>
                  <a:pt x="555" y="1441"/>
                </a:lnTo>
                <a:lnTo>
                  <a:pt x="467" y="1440"/>
                </a:lnTo>
                <a:lnTo>
                  <a:pt x="355" y="1443"/>
                </a:lnTo>
                <a:lnTo>
                  <a:pt x="202" y="1449"/>
                </a:lnTo>
                <a:lnTo>
                  <a:pt x="180" y="1372"/>
                </a:lnTo>
                <a:lnTo>
                  <a:pt x="189" y="1250"/>
                </a:lnTo>
                <a:lnTo>
                  <a:pt x="199" y="999"/>
                </a:lnTo>
                <a:lnTo>
                  <a:pt x="189" y="720"/>
                </a:lnTo>
                <a:lnTo>
                  <a:pt x="153" y="733"/>
                </a:lnTo>
                <a:lnTo>
                  <a:pt x="127" y="748"/>
                </a:lnTo>
                <a:lnTo>
                  <a:pt x="0" y="521"/>
                </a:lnTo>
                <a:lnTo>
                  <a:pt x="124" y="94"/>
                </a:lnTo>
                <a:lnTo>
                  <a:pt x="196" y="61"/>
                </a:lnTo>
                <a:lnTo>
                  <a:pt x="225" y="43"/>
                </a:lnTo>
                <a:lnTo>
                  <a:pt x="250" y="36"/>
                </a:lnTo>
                <a:lnTo>
                  <a:pt x="272" y="44"/>
                </a:lnTo>
                <a:lnTo>
                  <a:pt x="312" y="93"/>
                </a:lnTo>
                <a:lnTo>
                  <a:pt x="366" y="181"/>
                </a:lnTo>
                <a:lnTo>
                  <a:pt x="415" y="270"/>
                </a:lnTo>
                <a:lnTo>
                  <a:pt x="426" y="306"/>
                </a:lnTo>
                <a:lnTo>
                  <a:pt x="426" y="326"/>
                </a:lnTo>
                <a:lnTo>
                  <a:pt x="424" y="339"/>
                </a:lnTo>
                <a:lnTo>
                  <a:pt x="442" y="328"/>
                </a:lnTo>
                <a:lnTo>
                  <a:pt x="470" y="305"/>
                </a:lnTo>
                <a:lnTo>
                  <a:pt x="561" y="123"/>
                </a:lnTo>
                <a:lnTo>
                  <a:pt x="622" y="0"/>
                </a:lnTo>
                <a:close/>
              </a:path>
            </a:pathLst>
          </a:custGeom>
          <a:solidFill>
            <a:srgbClr val="FF1A33"/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5" name="Freeform 349"/>
          <p:cNvSpPr>
            <a:spLocks/>
          </p:cNvSpPr>
          <p:nvPr/>
        </p:nvSpPr>
        <p:spPr bwMode="auto">
          <a:xfrm>
            <a:off x="4910138" y="3730625"/>
            <a:ext cx="76200" cy="1408113"/>
          </a:xfrm>
          <a:custGeom>
            <a:avLst/>
            <a:gdLst>
              <a:gd name="T0" fmla="*/ 14 w 113"/>
              <a:gd name="T1" fmla="*/ 0 h 1966"/>
              <a:gd name="T2" fmla="*/ 30 w 113"/>
              <a:gd name="T3" fmla="*/ 545 h 1966"/>
              <a:gd name="T4" fmla="*/ 20 w 113"/>
              <a:gd name="T5" fmla="*/ 1246 h 1966"/>
              <a:gd name="T6" fmla="*/ 14 w 113"/>
              <a:gd name="T7" fmla="*/ 1602 h 1966"/>
              <a:gd name="T8" fmla="*/ 0 w 113"/>
              <a:gd name="T9" fmla="*/ 1956 h 1966"/>
              <a:gd name="T10" fmla="*/ 78 w 113"/>
              <a:gd name="T11" fmla="*/ 1966 h 1966"/>
              <a:gd name="T12" fmla="*/ 103 w 113"/>
              <a:gd name="T13" fmla="*/ 1528 h 1966"/>
              <a:gd name="T14" fmla="*/ 99 w 113"/>
              <a:gd name="T15" fmla="*/ 973 h 1966"/>
              <a:gd name="T16" fmla="*/ 88 w 113"/>
              <a:gd name="T17" fmla="*/ 516 h 1966"/>
              <a:gd name="T18" fmla="*/ 108 w 113"/>
              <a:gd name="T19" fmla="*/ 283 h 1966"/>
              <a:gd name="T20" fmla="*/ 113 w 113"/>
              <a:gd name="T21" fmla="*/ 164 h 1966"/>
              <a:gd name="T22" fmla="*/ 14 w 113"/>
              <a:gd name="T23" fmla="*/ 0 h 1966"/>
              <a:gd name="T24" fmla="*/ 14 w 113"/>
              <a:gd name="T25" fmla="*/ 0 h 196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13"/>
              <a:gd name="T40" fmla="*/ 0 h 1966"/>
              <a:gd name="T41" fmla="*/ 113 w 113"/>
              <a:gd name="T42" fmla="*/ 1966 h 196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13" h="1966">
                <a:moveTo>
                  <a:pt x="14" y="0"/>
                </a:moveTo>
                <a:lnTo>
                  <a:pt x="30" y="545"/>
                </a:lnTo>
                <a:lnTo>
                  <a:pt x="20" y="1246"/>
                </a:lnTo>
                <a:lnTo>
                  <a:pt x="14" y="1602"/>
                </a:lnTo>
                <a:lnTo>
                  <a:pt x="0" y="1956"/>
                </a:lnTo>
                <a:lnTo>
                  <a:pt x="78" y="1966"/>
                </a:lnTo>
                <a:lnTo>
                  <a:pt x="103" y="1528"/>
                </a:lnTo>
                <a:lnTo>
                  <a:pt x="99" y="973"/>
                </a:lnTo>
                <a:lnTo>
                  <a:pt x="88" y="516"/>
                </a:lnTo>
                <a:lnTo>
                  <a:pt x="108" y="283"/>
                </a:lnTo>
                <a:lnTo>
                  <a:pt x="113" y="164"/>
                </a:lnTo>
                <a:lnTo>
                  <a:pt x="14" y="0"/>
                </a:lnTo>
                <a:close/>
              </a:path>
            </a:pathLst>
          </a:custGeom>
          <a:solidFill>
            <a:srgbClr val="80FF4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6" name="Freeform 350"/>
          <p:cNvSpPr>
            <a:spLocks/>
          </p:cNvSpPr>
          <p:nvPr/>
        </p:nvSpPr>
        <p:spPr bwMode="auto">
          <a:xfrm>
            <a:off x="4913313" y="1870075"/>
            <a:ext cx="130175" cy="1647825"/>
          </a:xfrm>
          <a:custGeom>
            <a:avLst/>
            <a:gdLst>
              <a:gd name="T0" fmla="*/ 138 w 186"/>
              <a:gd name="T1" fmla="*/ 3 h 2300"/>
              <a:gd name="T2" fmla="*/ 89 w 186"/>
              <a:gd name="T3" fmla="*/ 3 h 2300"/>
              <a:gd name="T4" fmla="*/ 61 w 186"/>
              <a:gd name="T5" fmla="*/ 11 h 2300"/>
              <a:gd name="T6" fmla="*/ 53 w 186"/>
              <a:gd name="T7" fmla="*/ 17 h 2300"/>
              <a:gd name="T8" fmla="*/ 53 w 186"/>
              <a:gd name="T9" fmla="*/ 28 h 2300"/>
              <a:gd name="T10" fmla="*/ 73 w 186"/>
              <a:gd name="T11" fmla="*/ 113 h 2300"/>
              <a:gd name="T12" fmla="*/ 84 w 186"/>
              <a:gd name="T13" fmla="*/ 172 h 2300"/>
              <a:gd name="T14" fmla="*/ 37 w 186"/>
              <a:gd name="T15" fmla="*/ 766 h 2300"/>
              <a:gd name="T16" fmla="*/ 20 w 186"/>
              <a:gd name="T17" fmla="*/ 1467 h 2300"/>
              <a:gd name="T18" fmla="*/ 0 w 186"/>
              <a:gd name="T19" fmla="*/ 2300 h 2300"/>
              <a:gd name="T20" fmla="*/ 77 w 186"/>
              <a:gd name="T21" fmla="*/ 2223 h 2300"/>
              <a:gd name="T22" fmla="*/ 89 w 186"/>
              <a:gd name="T23" fmla="*/ 2101 h 2300"/>
              <a:gd name="T24" fmla="*/ 180 w 186"/>
              <a:gd name="T25" fmla="*/ 470 h 2300"/>
              <a:gd name="T26" fmla="*/ 186 w 186"/>
              <a:gd name="T27" fmla="*/ 218 h 2300"/>
              <a:gd name="T28" fmla="*/ 183 w 186"/>
              <a:gd name="T29" fmla="*/ 128 h 2300"/>
              <a:gd name="T30" fmla="*/ 175 w 186"/>
              <a:gd name="T31" fmla="*/ 55 h 2300"/>
              <a:gd name="T32" fmla="*/ 161 w 186"/>
              <a:gd name="T33" fmla="*/ 9 h 2300"/>
              <a:gd name="T34" fmla="*/ 150 w 186"/>
              <a:gd name="T35" fmla="*/ 0 h 2300"/>
              <a:gd name="T36" fmla="*/ 138 w 186"/>
              <a:gd name="T37" fmla="*/ 3 h 2300"/>
              <a:gd name="T38" fmla="*/ 138 w 186"/>
              <a:gd name="T39" fmla="*/ 3 h 2300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86"/>
              <a:gd name="T61" fmla="*/ 0 h 2300"/>
              <a:gd name="T62" fmla="*/ 186 w 186"/>
              <a:gd name="T63" fmla="*/ 2300 h 2300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86" h="2300">
                <a:moveTo>
                  <a:pt x="138" y="3"/>
                </a:moveTo>
                <a:lnTo>
                  <a:pt x="89" y="3"/>
                </a:lnTo>
                <a:lnTo>
                  <a:pt x="61" y="11"/>
                </a:lnTo>
                <a:lnTo>
                  <a:pt x="53" y="17"/>
                </a:lnTo>
                <a:lnTo>
                  <a:pt x="53" y="28"/>
                </a:lnTo>
                <a:lnTo>
                  <a:pt x="73" y="113"/>
                </a:lnTo>
                <a:lnTo>
                  <a:pt x="84" y="172"/>
                </a:lnTo>
                <a:lnTo>
                  <a:pt x="37" y="766"/>
                </a:lnTo>
                <a:lnTo>
                  <a:pt x="20" y="1467"/>
                </a:lnTo>
                <a:lnTo>
                  <a:pt x="0" y="2300"/>
                </a:lnTo>
                <a:lnTo>
                  <a:pt x="77" y="2223"/>
                </a:lnTo>
                <a:lnTo>
                  <a:pt x="89" y="2101"/>
                </a:lnTo>
                <a:lnTo>
                  <a:pt x="180" y="470"/>
                </a:lnTo>
                <a:lnTo>
                  <a:pt x="186" y="218"/>
                </a:lnTo>
                <a:lnTo>
                  <a:pt x="183" y="128"/>
                </a:lnTo>
                <a:lnTo>
                  <a:pt x="175" y="55"/>
                </a:lnTo>
                <a:lnTo>
                  <a:pt x="161" y="9"/>
                </a:lnTo>
                <a:lnTo>
                  <a:pt x="150" y="0"/>
                </a:lnTo>
                <a:lnTo>
                  <a:pt x="138" y="3"/>
                </a:lnTo>
                <a:close/>
              </a:path>
            </a:pathLst>
          </a:custGeom>
          <a:solidFill>
            <a:srgbClr val="80FF4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7" name="Freeform 351"/>
          <p:cNvSpPr>
            <a:spLocks/>
          </p:cNvSpPr>
          <p:nvPr/>
        </p:nvSpPr>
        <p:spPr bwMode="auto">
          <a:xfrm>
            <a:off x="7796213" y="1858963"/>
            <a:ext cx="100012" cy="2098675"/>
          </a:xfrm>
          <a:custGeom>
            <a:avLst/>
            <a:gdLst>
              <a:gd name="T0" fmla="*/ 23 w 145"/>
              <a:gd name="T1" fmla="*/ 14 h 2929"/>
              <a:gd name="T2" fmla="*/ 83 w 145"/>
              <a:gd name="T3" fmla="*/ 0 h 2929"/>
              <a:gd name="T4" fmla="*/ 145 w 145"/>
              <a:gd name="T5" fmla="*/ 124 h 2929"/>
              <a:gd name="T6" fmla="*/ 125 w 145"/>
              <a:gd name="T7" fmla="*/ 552 h 2929"/>
              <a:gd name="T8" fmla="*/ 111 w 145"/>
              <a:gd name="T9" fmla="*/ 655 h 2929"/>
              <a:gd name="T10" fmla="*/ 106 w 145"/>
              <a:gd name="T11" fmla="*/ 1268 h 2929"/>
              <a:gd name="T12" fmla="*/ 86 w 145"/>
              <a:gd name="T13" fmla="*/ 1844 h 2929"/>
              <a:gd name="T14" fmla="*/ 86 w 145"/>
              <a:gd name="T15" fmla="*/ 2334 h 2929"/>
              <a:gd name="T16" fmla="*/ 103 w 145"/>
              <a:gd name="T17" fmla="*/ 2925 h 2929"/>
              <a:gd name="T18" fmla="*/ 36 w 145"/>
              <a:gd name="T19" fmla="*/ 2929 h 2929"/>
              <a:gd name="T20" fmla="*/ 11 w 145"/>
              <a:gd name="T21" fmla="*/ 2805 h 2929"/>
              <a:gd name="T22" fmla="*/ 0 w 145"/>
              <a:gd name="T23" fmla="*/ 2138 h 2929"/>
              <a:gd name="T24" fmla="*/ 11 w 145"/>
              <a:gd name="T25" fmla="*/ 1814 h 2929"/>
              <a:gd name="T26" fmla="*/ 28 w 145"/>
              <a:gd name="T27" fmla="*/ 1439 h 2929"/>
              <a:gd name="T28" fmla="*/ 20 w 145"/>
              <a:gd name="T29" fmla="*/ 1238 h 2929"/>
              <a:gd name="T30" fmla="*/ 11 w 145"/>
              <a:gd name="T31" fmla="*/ 1091 h 2929"/>
              <a:gd name="T32" fmla="*/ 20 w 145"/>
              <a:gd name="T33" fmla="*/ 751 h 2929"/>
              <a:gd name="T34" fmla="*/ 23 w 145"/>
              <a:gd name="T35" fmla="*/ 14 h 2929"/>
              <a:gd name="T36" fmla="*/ 23 w 145"/>
              <a:gd name="T37" fmla="*/ 14 h 292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45"/>
              <a:gd name="T58" fmla="*/ 0 h 2929"/>
              <a:gd name="T59" fmla="*/ 145 w 145"/>
              <a:gd name="T60" fmla="*/ 2929 h 2929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45" h="2929">
                <a:moveTo>
                  <a:pt x="23" y="14"/>
                </a:moveTo>
                <a:lnTo>
                  <a:pt x="83" y="0"/>
                </a:lnTo>
                <a:lnTo>
                  <a:pt x="145" y="124"/>
                </a:lnTo>
                <a:lnTo>
                  <a:pt x="125" y="552"/>
                </a:lnTo>
                <a:lnTo>
                  <a:pt x="111" y="655"/>
                </a:lnTo>
                <a:lnTo>
                  <a:pt x="106" y="1268"/>
                </a:lnTo>
                <a:lnTo>
                  <a:pt x="86" y="1844"/>
                </a:lnTo>
                <a:lnTo>
                  <a:pt x="86" y="2334"/>
                </a:lnTo>
                <a:lnTo>
                  <a:pt x="103" y="2925"/>
                </a:lnTo>
                <a:lnTo>
                  <a:pt x="36" y="2929"/>
                </a:lnTo>
                <a:lnTo>
                  <a:pt x="11" y="2805"/>
                </a:lnTo>
                <a:lnTo>
                  <a:pt x="0" y="2138"/>
                </a:lnTo>
                <a:lnTo>
                  <a:pt x="11" y="1814"/>
                </a:lnTo>
                <a:lnTo>
                  <a:pt x="28" y="1439"/>
                </a:lnTo>
                <a:lnTo>
                  <a:pt x="20" y="1238"/>
                </a:lnTo>
                <a:lnTo>
                  <a:pt x="11" y="1091"/>
                </a:lnTo>
                <a:lnTo>
                  <a:pt x="20" y="751"/>
                </a:lnTo>
                <a:lnTo>
                  <a:pt x="23" y="14"/>
                </a:lnTo>
                <a:close/>
              </a:path>
            </a:pathLst>
          </a:custGeom>
          <a:solidFill>
            <a:srgbClr val="80FF4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8" name="Freeform 352"/>
          <p:cNvSpPr>
            <a:spLocks/>
          </p:cNvSpPr>
          <p:nvPr/>
        </p:nvSpPr>
        <p:spPr bwMode="auto">
          <a:xfrm>
            <a:off x="7816850" y="4179888"/>
            <a:ext cx="61913" cy="627062"/>
          </a:xfrm>
          <a:custGeom>
            <a:avLst/>
            <a:gdLst>
              <a:gd name="T0" fmla="*/ 85 w 90"/>
              <a:gd name="T1" fmla="*/ 0 h 878"/>
              <a:gd name="T2" fmla="*/ 79 w 90"/>
              <a:gd name="T3" fmla="*/ 174 h 878"/>
              <a:gd name="T4" fmla="*/ 90 w 90"/>
              <a:gd name="T5" fmla="*/ 577 h 878"/>
              <a:gd name="T6" fmla="*/ 76 w 90"/>
              <a:gd name="T7" fmla="*/ 859 h 878"/>
              <a:gd name="T8" fmla="*/ 27 w 90"/>
              <a:gd name="T9" fmla="*/ 878 h 878"/>
              <a:gd name="T10" fmla="*/ 16 w 90"/>
              <a:gd name="T11" fmla="*/ 422 h 878"/>
              <a:gd name="T12" fmla="*/ 0 w 90"/>
              <a:gd name="T13" fmla="*/ 10 h 878"/>
              <a:gd name="T14" fmla="*/ 85 w 90"/>
              <a:gd name="T15" fmla="*/ 0 h 878"/>
              <a:gd name="T16" fmla="*/ 85 w 90"/>
              <a:gd name="T17" fmla="*/ 0 h 8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90"/>
              <a:gd name="T28" fmla="*/ 0 h 878"/>
              <a:gd name="T29" fmla="*/ 90 w 90"/>
              <a:gd name="T30" fmla="*/ 878 h 8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90" h="878">
                <a:moveTo>
                  <a:pt x="85" y="0"/>
                </a:moveTo>
                <a:lnTo>
                  <a:pt x="79" y="174"/>
                </a:lnTo>
                <a:lnTo>
                  <a:pt x="90" y="577"/>
                </a:lnTo>
                <a:lnTo>
                  <a:pt x="76" y="859"/>
                </a:lnTo>
                <a:lnTo>
                  <a:pt x="27" y="878"/>
                </a:lnTo>
                <a:lnTo>
                  <a:pt x="16" y="422"/>
                </a:lnTo>
                <a:lnTo>
                  <a:pt x="0" y="10"/>
                </a:lnTo>
                <a:lnTo>
                  <a:pt x="85" y="0"/>
                </a:lnTo>
                <a:close/>
              </a:path>
            </a:pathLst>
          </a:custGeom>
          <a:solidFill>
            <a:srgbClr val="80FF4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9" name="Freeform 353"/>
          <p:cNvSpPr>
            <a:spLocks/>
          </p:cNvSpPr>
          <p:nvPr/>
        </p:nvSpPr>
        <p:spPr bwMode="auto">
          <a:xfrm>
            <a:off x="6329363" y="4468813"/>
            <a:ext cx="147637" cy="131762"/>
          </a:xfrm>
          <a:custGeom>
            <a:avLst/>
            <a:gdLst>
              <a:gd name="T0" fmla="*/ 69 w 216"/>
              <a:gd name="T1" fmla="*/ 4 h 183"/>
              <a:gd name="T2" fmla="*/ 94 w 216"/>
              <a:gd name="T3" fmla="*/ 0 h 183"/>
              <a:gd name="T4" fmla="*/ 118 w 216"/>
              <a:gd name="T5" fmla="*/ 0 h 183"/>
              <a:gd name="T6" fmla="*/ 138 w 216"/>
              <a:gd name="T7" fmla="*/ 4 h 183"/>
              <a:gd name="T8" fmla="*/ 190 w 216"/>
              <a:gd name="T9" fmla="*/ 47 h 183"/>
              <a:gd name="T10" fmla="*/ 212 w 216"/>
              <a:gd name="T11" fmla="*/ 73 h 183"/>
              <a:gd name="T12" fmla="*/ 216 w 216"/>
              <a:gd name="T13" fmla="*/ 84 h 183"/>
              <a:gd name="T14" fmla="*/ 213 w 216"/>
              <a:gd name="T15" fmla="*/ 97 h 183"/>
              <a:gd name="T16" fmla="*/ 166 w 216"/>
              <a:gd name="T17" fmla="*/ 164 h 183"/>
              <a:gd name="T18" fmla="*/ 60 w 216"/>
              <a:gd name="T19" fmla="*/ 183 h 183"/>
              <a:gd name="T20" fmla="*/ 35 w 216"/>
              <a:gd name="T21" fmla="*/ 169 h 183"/>
              <a:gd name="T22" fmla="*/ 14 w 216"/>
              <a:gd name="T23" fmla="*/ 149 h 183"/>
              <a:gd name="T24" fmla="*/ 0 w 216"/>
              <a:gd name="T25" fmla="*/ 122 h 183"/>
              <a:gd name="T26" fmla="*/ 8 w 216"/>
              <a:gd name="T27" fmla="*/ 84 h 183"/>
              <a:gd name="T28" fmla="*/ 35 w 216"/>
              <a:gd name="T29" fmla="*/ 50 h 183"/>
              <a:gd name="T30" fmla="*/ 60 w 216"/>
              <a:gd name="T31" fmla="*/ 20 h 183"/>
              <a:gd name="T32" fmla="*/ 69 w 216"/>
              <a:gd name="T33" fmla="*/ 4 h 183"/>
              <a:gd name="T34" fmla="*/ 69 w 216"/>
              <a:gd name="T35" fmla="*/ 4 h 183"/>
              <a:gd name="T36" fmla="*/ 69 w 216"/>
              <a:gd name="T37" fmla="*/ 4 h 183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16"/>
              <a:gd name="T58" fmla="*/ 0 h 183"/>
              <a:gd name="T59" fmla="*/ 216 w 216"/>
              <a:gd name="T60" fmla="*/ 183 h 183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16" h="183">
                <a:moveTo>
                  <a:pt x="69" y="4"/>
                </a:moveTo>
                <a:lnTo>
                  <a:pt x="94" y="0"/>
                </a:lnTo>
                <a:lnTo>
                  <a:pt x="118" y="0"/>
                </a:lnTo>
                <a:lnTo>
                  <a:pt x="138" y="4"/>
                </a:lnTo>
                <a:lnTo>
                  <a:pt x="190" y="47"/>
                </a:lnTo>
                <a:lnTo>
                  <a:pt x="212" y="73"/>
                </a:lnTo>
                <a:lnTo>
                  <a:pt x="216" y="84"/>
                </a:lnTo>
                <a:lnTo>
                  <a:pt x="213" y="97"/>
                </a:lnTo>
                <a:lnTo>
                  <a:pt x="166" y="164"/>
                </a:lnTo>
                <a:lnTo>
                  <a:pt x="60" y="183"/>
                </a:lnTo>
                <a:lnTo>
                  <a:pt x="35" y="169"/>
                </a:lnTo>
                <a:lnTo>
                  <a:pt x="14" y="149"/>
                </a:lnTo>
                <a:lnTo>
                  <a:pt x="0" y="122"/>
                </a:lnTo>
                <a:lnTo>
                  <a:pt x="8" y="84"/>
                </a:lnTo>
                <a:lnTo>
                  <a:pt x="35" y="50"/>
                </a:lnTo>
                <a:lnTo>
                  <a:pt x="60" y="20"/>
                </a:lnTo>
                <a:lnTo>
                  <a:pt x="69" y="4"/>
                </a:lnTo>
                <a:close/>
              </a:path>
            </a:pathLst>
          </a:custGeom>
          <a:solidFill>
            <a:srgbClr val="CC66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0" name="Freeform 354"/>
          <p:cNvSpPr>
            <a:spLocks/>
          </p:cNvSpPr>
          <p:nvPr/>
        </p:nvSpPr>
        <p:spPr bwMode="auto">
          <a:xfrm>
            <a:off x="6332538" y="4600575"/>
            <a:ext cx="171450" cy="238125"/>
          </a:xfrm>
          <a:custGeom>
            <a:avLst/>
            <a:gdLst>
              <a:gd name="T0" fmla="*/ 0 w 252"/>
              <a:gd name="T1" fmla="*/ 315 h 333"/>
              <a:gd name="T2" fmla="*/ 35 w 252"/>
              <a:gd name="T3" fmla="*/ 209 h 333"/>
              <a:gd name="T4" fmla="*/ 50 w 252"/>
              <a:gd name="T5" fmla="*/ 17 h 333"/>
              <a:gd name="T6" fmla="*/ 138 w 252"/>
              <a:gd name="T7" fmla="*/ 0 h 333"/>
              <a:gd name="T8" fmla="*/ 180 w 252"/>
              <a:gd name="T9" fmla="*/ 124 h 333"/>
              <a:gd name="T10" fmla="*/ 252 w 252"/>
              <a:gd name="T11" fmla="*/ 303 h 333"/>
              <a:gd name="T12" fmla="*/ 162 w 252"/>
              <a:gd name="T13" fmla="*/ 333 h 333"/>
              <a:gd name="T14" fmla="*/ 82 w 252"/>
              <a:gd name="T15" fmla="*/ 303 h 333"/>
              <a:gd name="T16" fmla="*/ 0 w 252"/>
              <a:gd name="T17" fmla="*/ 315 h 333"/>
              <a:gd name="T18" fmla="*/ 0 w 252"/>
              <a:gd name="T19" fmla="*/ 315 h 33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52"/>
              <a:gd name="T31" fmla="*/ 0 h 333"/>
              <a:gd name="T32" fmla="*/ 252 w 252"/>
              <a:gd name="T33" fmla="*/ 333 h 333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52" h="333">
                <a:moveTo>
                  <a:pt x="0" y="315"/>
                </a:moveTo>
                <a:lnTo>
                  <a:pt x="35" y="209"/>
                </a:lnTo>
                <a:lnTo>
                  <a:pt x="50" y="17"/>
                </a:lnTo>
                <a:lnTo>
                  <a:pt x="138" y="0"/>
                </a:lnTo>
                <a:lnTo>
                  <a:pt x="180" y="124"/>
                </a:lnTo>
                <a:lnTo>
                  <a:pt x="252" y="303"/>
                </a:lnTo>
                <a:lnTo>
                  <a:pt x="162" y="333"/>
                </a:lnTo>
                <a:lnTo>
                  <a:pt x="82" y="303"/>
                </a:lnTo>
                <a:lnTo>
                  <a:pt x="0" y="315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1" name="Freeform 355"/>
          <p:cNvSpPr>
            <a:spLocks/>
          </p:cNvSpPr>
          <p:nvPr/>
        </p:nvSpPr>
        <p:spPr bwMode="auto">
          <a:xfrm>
            <a:off x="6164263" y="4946650"/>
            <a:ext cx="481012" cy="376238"/>
          </a:xfrm>
          <a:custGeom>
            <a:avLst/>
            <a:gdLst>
              <a:gd name="T0" fmla="*/ 508 w 708"/>
              <a:gd name="T1" fmla="*/ 15 h 522"/>
              <a:gd name="T2" fmla="*/ 525 w 708"/>
              <a:gd name="T3" fmla="*/ 67 h 522"/>
              <a:gd name="T4" fmla="*/ 589 w 708"/>
              <a:gd name="T5" fmla="*/ 86 h 522"/>
              <a:gd name="T6" fmla="*/ 636 w 708"/>
              <a:gd name="T7" fmla="*/ 109 h 522"/>
              <a:gd name="T8" fmla="*/ 655 w 708"/>
              <a:gd name="T9" fmla="*/ 125 h 522"/>
              <a:gd name="T10" fmla="*/ 663 w 708"/>
              <a:gd name="T11" fmla="*/ 142 h 522"/>
              <a:gd name="T12" fmla="*/ 694 w 708"/>
              <a:gd name="T13" fmla="*/ 247 h 522"/>
              <a:gd name="T14" fmla="*/ 661 w 708"/>
              <a:gd name="T15" fmla="*/ 288 h 522"/>
              <a:gd name="T16" fmla="*/ 707 w 708"/>
              <a:gd name="T17" fmla="*/ 370 h 522"/>
              <a:gd name="T18" fmla="*/ 708 w 708"/>
              <a:gd name="T19" fmla="*/ 415 h 522"/>
              <a:gd name="T20" fmla="*/ 707 w 708"/>
              <a:gd name="T21" fmla="*/ 451 h 522"/>
              <a:gd name="T22" fmla="*/ 694 w 708"/>
              <a:gd name="T23" fmla="*/ 476 h 522"/>
              <a:gd name="T24" fmla="*/ 674 w 708"/>
              <a:gd name="T25" fmla="*/ 494 h 522"/>
              <a:gd name="T26" fmla="*/ 644 w 708"/>
              <a:gd name="T27" fmla="*/ 508 h 522"/>
              <a:gd name="T28" fmla="*/ 630 w 708"/>
              <a:gd name="T29" fmla="*/ 511 h 522"/>
              <a:gd name="T30" fmla="*/ 618 w 708"/>
              <a:gd name="T31" fmla="*/ 509 h 522"/>
              <a:gd name="T32" fmla="*/ 596 w 708"/>
              <a:gd name="T33" fmla="*/ 490 h 522"/>
              <a:gd name="T34" fmla="*/ 481 w 708"/>
              <a:gd name="T35" fmla="*/ 269 h 522"/>
              <a:gd name="T36" fmla="*/ 411 w 708"/>
              <a:gd name="T37" fmla="*/ 334 h 522"/>
              <a:gd name="T38" fmla="*/ 281 w 708"/>
              <a:gd name="T39" fmla="*/ 334 h 522"/>
              <a:gd name="T40" fmla="*/ 251 w 708"/>
              <a:gd name="T41" fmla="*/ 343 h 522"/>
              <a:gd name="T42" fmla="*/ 185 w 708"/>
              <a:gd name="T43" fmla="*/ 467 h 522"/>
              <a:gd name="T44" fmla="*/ 140 w 708"/>
              <a:gd name="T45" fmla="*/ 498 h 522"/>
              <a:gd name="T46" fmla="*/ 102 w 708"/>
              <a:gd name="T47" fmla="*/ 519 h 522"/>
              <a:gd name="T48" fmla="*/ 74 w 708"/>
              <a:gd name="T49" fmla="*/ 522 h 522"/>
              <a:gd name="T50" fmla="*/ 50 w 708"/>
              <a:gd name="T51" fmla="*/ 516 h 522"/>
              <a:gd name="T52" fmla="*/ 24 w 708"/>
              <a:gd name="T53" fmla="*/ 505 h 522"/>
              <a:gd name="T54" fmla="*/ 13 w 708"/>
              <a:gd name="T55" fmla="*/ 494 h 522"/>
              <a:gd name="T56" fmla="*/ 3 w 708"/>
              <a:gd name="T57" fmla="*/ 476 h 522"/>
              <a:gd name="T58" fmla="*/ 0 w 708"/>
              <a:gd name="T59" fmla="*/ 451 h 522"/>
              <a:gd name="T60" fmla="*/ 0 w 708"/>
              <a:gd name="T61" fmla="*/ 415 h 522"/>
              <a:gd name="T62" fmla="*/ 6 w 708"/>
              <a:gd name="T63" fmla="*/ 376 h 522"/>
              <a:gd name="T64" fmla="*/ 21 w 708"/>
              <a:gd name="T65" fmla="*/ 342 h 522"/>
              <a:gd name="T66" fmla="*/ 57 w 708"/>
              <a:gd name="T67" fmla="*/ 290 h 522"/>
              <a:gd name="T68" fmla="*/ 91 w 708"/>
              <a:gd name="T69" fmla="*/ 257 h 522"/>
              <a:gd name="T70" fmla="*/ 107 w 708"/>
              <a:gd name="T71" fmla="*/ 247 h 522"/>
              <a:gd name="T72" fmla="*/ 64 w 708"/>
              <a:gd name="T73" fmla="*/ 233 h 522"/>
              <a:gd name="T74" fmla="*/ 46 w 708"/>
              <a:gd name="T75" fmla="*/ 221 h 522"/>
              <a:gd name="T76" fmla="*/ 35 w 708"/>
              <a:gd name="T77" fmla="*/ 197 h 522"/>
              <a:gd name="T78" fmla="*/ 35 w 708"/>
              <a:gd name="T79" fmla="*/ 160 h 522"/>
              <a:gd name="T80" fmla="*/ 41 w 708"/>
              <a:gd name="T81" fmla="*/ 109 h 522"/>
              <a:gd name="T82" fmla="*/ 49 w 708"/>
              <a:gd name="T83" fmla="*/ 70 h 522"/>
              <a:gd name="T84" fmla="*/ 57 w 708"/>
              <a:gd name="T85" fmla="*/ 53 h 522"/>
              <a:gd name="T86" fmla="*/ 68 w 708"/>
              <a:gd name="T87" fmla="*/ 42 h 522"/>
              <a:gd name="T88" fmla="*/ 80 w 708"/>
              <a:gd name="T89" fmla="*/ 34 h 522"/>
              <a:gd name="T90" fmla="*/ 99 w 708"/>
              <a:gd name="T91" fmla="*/ 31 h 522"/>
              <a:gd name="T92" fmla="*/ 227 w 708"/>
              <a:gd name="T93" fmla="*/ 39 h 522"/>
              <a:gd name="T94" fmla="*/ 260 w 708"/>
              <a:gd name="T95" fmla="*/ 0 h 522"/>
              <a:gd name="T96" fmla="*/ 508 w 708"/>
              <a:gd name="T97" fmla="*/ 17 h 522"/>
              <a:gd name="T98" fmla="*/ 508 w 708"/>
              <a:gd name="T99" fmla="*/ 17 h 522"/>
              <a:gd name="T100" fmla="*/ 508 w 708"/>
              <a:gd name="T101" fmla="*/ 15 h 522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708"/>
              <a:gd name="T154" fmla="*/ 0 h 522"/>
              <a:gd name="T155" fmla="*/ 708 w 708"/>
              <a:gd name="T156" fmla="*/ 522 h 522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708" h="522">
                <a:moveTo>
                  <a:pt x="508" y="15"/>
                </a:moveTo>
                <a:lnTo>
                  <a:pt x="525" y="67"/>
                </a:lnTo>
                <a:lnTo>
                  <a:pt x="589" y="86"/>
                </a:lnTo>
                <a:lnTo>
                  <a:pt x="636" y="109"/>
                </a:lnTo>
                <a:lnTo>
                  <a:pt x="655" y="125"/>
                </a:lnTo>
                <a:lnTo>
                  <a:pt x="663" y="142"/>
                </a:lnTo>
                <a:lnTo>
                  <a:pt x="694" y="247"/>
                </a:lnTo>
                <a:lnTo>
                  <a:pt x="661" y="288"/>
                </a:lnTo>
                <a:lnTo>
                  <a:pt x="707" y="370"/>
                </a:lnTo>
                <a:lnTo>
                  <a:pt x="708" y="415"/>
                </a:lnTo>
                <a:lnTo>
                  <a:pt x="707" y="451"/>
                </a:lnTo>
                <a:lnTo>
                  <a:pt x="694" y="476"/>
                </a:lnTo>
                <a:lnTo>
                  <a:pt x="674" y="494"/>
                </a:lnTo>
                <a:lnTo>
                  <a:pt x="644" y="508"/>
                </a:lnTo>
                <a:lnTo>
                  <a:pt x="630" y="511"/>
                </a:lnTo>
                <a:lnTo>
                  <a:pt x="618" y="509"/>
                </a:lnTo>
                <a:lnTo>
                  <a:pt x="596" y="490"/>
                </a:lnTo>
                <a:lnTo>
                  <a:pt x="481" y="269"/>
                </a:lnTo>
                <a:lnTo>
                  <a:pt x="411" y="334"/>
                </a:lnTo>
                <a:lnTo>
                  <a:pt x="281" y="334"/>
                </a:lnTo>
                <a:lnTo>
                  <a:pt x="251" y="343"/>
                </a:lnTo>
                <a:lnTo>
                  <a:pt x="185" y="467"/>
                </a:lnTo>
                <a:lnTo>
                  <a:pt x="140" y="498"/>
                </a:lnTo>
                <a:lnTo>
                  <a:pt x="102" y="519"/>
                </a:lnTo>
                <a:lnTo>
                  <a:pt x="74" y="522"/>
                </a:lnTo>
                <a:lnTo>
                  <a:pt x="50" y="516"/>
                </a:lnTo>
                <a:lnTo>
                  <a:pt x="24" y="505"/>
                </a:lnTo>
                <a:lnTo>
                  <a:pt x="13" y="494"/>
                </a:lnTo>
                <a:lnTo>
                  <a:pt x="3" y="476"/>
                </a:lnTo>
                <a:lnTo>
                  <a:pt x="0" y="451"/>
                </a:lnTo>
                <a:lnTo>
                  <a:pt x="0" y="415"/>
                </a:lnTo>
                <a:lnTo>
                  <a:pt x="6" y="376"/>
                </a:lnTo>
                <a:lnTo>
                  <a:pt x="21" y="342"/>
                </a:lnTo>
                <a:lnTo>
                  <a:pt x="57" y="290"/>
                </a:lnTo>
                <a:lnTo>
                  <a:pt x="91" y="257"/>
                </a:lnTo>
                <a:lnTo>
                  <a:pt x="107" y="247"/>
                </a:lnTo>
                <a:lnTo>
                  <a:pt x="64" y="233"/>
                </a:lnTo>
                <a:lnTo>
                  <a:pt x="46" y="221"/>
                </a:lnTo>
                <a:lnTo>
                  <a:pt x="35" y="197"/>
                </a:lnTo>
                <a:lnTo>
                  <a:pt x="35" y="160"/>
                </a:lnTo>
                <a:lnTo>
                  <a:pt x="41" y="109"/>
                </a:lnTo>
                <a:lnTo>
                  <a:pt x="49" y="70"/>
                </a:lnTo>
                <a:lnTo>
                  <a:pt x="57" y="53"/>
                </a:lnTo>
                <a:lnTo>
                  <a:pt x="68" y="42"/>
                </a:lnTo>
                <a:lnTo>
                  <a:pt x="80" y="34"/>
                </a:lnTo>
                <a:lnTo>
                  <a:pt x="99" y="31"/>
                </a:lnTo>
                <a:lnTo>
                  <a:pt x="227" y="39"/>
                </a:lnTo>
                <a:lnTo>
                  <a:pt x="260" y="0"/>
                </a:lnTo>
                <a:lnTo>
                  <a:pt x="508" y="17"/>
                </a:lnTo>
                <a:lnTo>
                  <a:pt x="508" y="15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2" name="Freeform 356"/>
          <p:cNvSpPr>
            <a:spLocks/>
          </p:cNvSpPr>
          <p:nvPr/>
        </p:nvSpPr>
        <p:spPr bwMode="auto">
          <a:xfrm>
            <a:off x="6327775" y="5175250"/>
            <a:ext cx="142875" cy="144463"/>
          </a:xfrm>
          <a:custGeom>
            <a:avLst/>
            <a:gdLst>
              <a:gd name="T0" fmla="*/ 75 w 210"/>
              <a:gd name="T1" fmla="*/ 25 h 201"/>
              <a:gd name="T2" fmla="*/ 208 w 210"/>
              <a:gd name="T3" fmla="*/ 0 h 201"/>
              <a:gd name="T4" fmla="*/ 210 w 210"/>
              <a:gd name="T5" fmla="*/ 110 h 201"/>
              <a:gd name="T6" fmla="*/ 199 w 210"/>
              <a:gd name="T7" fmla="*/ 162 h 201"/>
              <a:gd name="T8" fmla="*/ 180 w 210"/>
              <a:gd name="T9" fmla="*/ 185 h 201"/>
              <a:gd name="T10" fmla="*/ 155 w 210"/>
              <a:gd name="T11" fmla="*/ 199 h 201"/>
              <a:gd name="T12" fmla="*/ 125 w 210"/>
              <a:gd name="T13" fmla="*/ 201 h 201"/>
              <a:gd name="T14" fmla="*/ 86 w 210"/>
              <a:gd name="T15" fmla="*/ 185 h 201"/>
              <a:gd name="T16" fmla="*/ 45 w 210"/>
              <a:gd name="T17" fmla="*/ 163 h 201"/>
              <a:gd name="T18" fmla="*/ 0 w 210"/>
              <a:gd name="T19" fmla="*/ 133 h 201"/>
              <a:gd name="T20" fmla="*/ 23 w 210"/>
              <a:gd name="T21" fmla="*/ 24 h 201"/>
              <a:gd name="T22" fmla="*/ 75 w 210"/>
              <a:gd name="T23" fmla="*/ 25 h 201"/>
              <a:gd name="T24" fmla="*/ 75 w 210"/>
              <a:gd name="T25" fmla="*/ 25 h 201"/>
              <a:gd name="T26" fmla="*/ 75 w 210"/>
              <a:gd name="T27" fmla="*/ 25 h 20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10"/>
              <a:gd name="T43" fmla="*/ 0 h 201"/>
              <a:gd name="T44" fmla="*/ 210 w 210"/>
              <a:gd name="T45" fmla="*/ 201 h 20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10" h="201">
                <a:moveTo>
                  <a:pt x="75" y="25"/>
                </a:moveTo>
                <a:lnTo>
                  <a:pt x="208" y="0"/>
                </a:lnTo>
                <a:lnTo>
                  <a:pt x="210" y="110"/>
                </a:lnTo>
                <a:lnTo>
                  <a:pt x="199" y="162"/>
                </a:lnTo>
                <a:lnTo>
                  <a:pt x="180" y="185"/>
                </a:lnTo>
                <a:lnTo>
                  <a:pt x="155" y="199"/>
                </a:lnTo>
                <a:lnTo>
                  <a:pt x="125" y="201"/>
                </a:lnTo>
                <a:lnTo>
                  <a:pt x="86" y="185"/>
                </a:lnTo>
                <a:lnTo>
                  <a:pt x="45" y="163"/>
                </a:lnTo>
                <a:lnTo>
                  <a:pt x="0" y="133"/>
                </a:lnTo>
                <a:lnTo>
                  <a:pt x="23" y="24"/>
                </a:lnTo>
                <a:lnTo>
                  <a:pt x="75" y="25"/>
                </a:lnTo>
                <a:close/>
              </a:path>
            </a:pathLst>
          </a:custGeom>
          <a:solidFill>
            <a:srgbClr val="FF1A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3" name="Freeform 357"/>
          <p:cNvSpPr>
            <a:spLocks/>
          </p:cNvSpPr>
          <p:nvPr/>
        </p:nvSpPr>
        <p:spPr bwMode="auto">
          <a:xfrm>
            <a:off x="6083300" y="5303838"/>
            <a:ext cx="557213" cy="428625"/>
          </a:xfrm>
          <a:custGeom>
            <a:avLst/>
            <a:gdLst>
              <a:gd name="T0" fmla="*/ 540 w 821"/>
              <a:gd name="T1" fmla="*/ 21 h 598"/>
              <a:gd name="T2" fmla="*/ 615 w 821"/>
              <a:gd name="T3" fmla="*/ 295 h 598"/>
              <a:gd name="T4" fmla="*/ 691 w 821"/>
              <a:gd name="T5" fmla="*/ 264 h 598"/>
              <a:gd name="T6" fmla="*/ 739 w 821"/>
              <a:gd name="T7" fmla="*/ 246 h 598"/>
              <a:gd name="T8" fmla="*/ 777 w 821"/>
              <a:gd name="T9" fmla="*/ 246 h 598"/>
              <a:gd name="T10" fmla="*/ 794 w 821"/>
              <a:gd name="T11" fmla="*/ 254 h 598"/>
              <a:gd name="T12" fmla="*/ 803 w 821"/>
              <a:gd name="T13" fmla="*/ 270 h 598"/>
              <a:gd name="T14" fmla="*/ 816 w 821"/>
              <a:gd name="T15" fmla="*/ 314 h 598"/>
              <a:gd name="T16" fmla="*/ 821 w 821"/>
              <a:gd name="T17" fmla="*/ 363 h 598"/>
              <a:gd name="T18" fmla="*/ 821 w 821"/>
              <a:gd name="T19" fmla="*/ 416 h 598"/>
              <a:gd name="T20" fmla="*/ 720 w 821"/>
              <a:gd name="T21" fmla="*/ 515 h 598"/>
              <a:gd name="T22" fmla="*/ 692 w 821"/>
              <a:gd name="T23" fmla="*/ 576 h 598"/>
              <a:gd name="T24" fmla="*/ 363 w 821"/>
              <a:gd name="T25" fmla="*/ 598 h 598"/>
              <a:gd name="T26" fmla="*/ 142 w 821"/>
              <a:gd name="T27" fmla="*/ 595 h 598"/>
              <a:gd name="T28" fmla="*/ 17 w 821"/>
              <a:gd name="T29" fmla="*/ 569 h 598"/>
              <a:gd name="T30" fmla="*/ 3 w 821"/>
              <a:gd name="T31" fmla="*/ 546 h 598"/>
              <a:gd name="T32" fmla="*/ 0 w 821"/>
              <a:gd name="T33" fmla="*/ 529 h 598"/>
              <a:gd name="T34" fmla="*/ 14 w 821"/>
              <a:gd name="T35" fmla="*/ 513 h 598"/>
              <a:gd name="T36" fmla="*/ 109 w 821"/>
              <a:gd name="T37" fmla="*/ 490 h 598"/>
              <a:gd name="T38" fmla="*/ 199 w 821"/>
              <a:gd name="T39" fmla="*/ 477 h 598"/>
              <a:gd name="T40" fmla="*/ 253 w 821"/>
              <a:gd name="T41" fmla="*/ 477 h 598"/>
              <a:gd name="T42" fmla="*/ 188 w 821"/>
              <a:gd name="T43" fmla="*/ 326 h 598"/>
              <a:gd name="T44" fmla="*/ 184 w 821"/>
              <a:gd name="T45" fmla="*/ 311 h 598"/>
              <a:gd name="T46" fmla="*/ 180 w 821"/>
              <a:gd name="T47" fmla="*/ 279 h 598"/>
              <a:gd name="T48" fmla="*/ 184 w 821"/>
              <a:gd name="T49" fmla="*/ 245 h 598"/>
              <a:gd name="T50" fmla="*/ 195 w 821"/>
              <a:gd name="T51" fmla="*/ 232 h 598"/>
              <a:gd name="T52" fmla="*/ 209 w 821"/>
              <a:gd name="T53" fmla="*/ 229 h 598"/>
              <a:gd name="T54" fmla="*/ 250 w 821"/>
              <a:gd name="T55" fmla="*/ 236 h 598"/>
              <a:gd name="T56" fmla="*/ 283 w 821"/>
              <a:gd name="T57" fmla="*/ 253 h 598"/>
              <a:gd name="T58" fmla="*/ 318 w 821"/>
              <a:gd name="T59" fmla="*/ 281 h 598"/>
              <a:gd name="T60" fmla="*/ 352 w 821"/>
              <a:gd name="T61" fmla="*/ 157 h 598"/>
              <a:gd name="T62" fmla="*/ 374 w 821"/>
              <a:gd name="T63" fmla="*/ 66 h 598"/>
              <a:gd name="T64" fmla="*/ 383 w 821"/>
              <a:gd name="T65" fmla="*/ 14 h 598"/>
              <a:gd name="T66" fmla="*/ 388 w 821"/>
              <a:gd name="T67" fmla="*/ 2 h 598"/>
              <a:gd name="T68" fmla="*/ 402 w 821"/>
              <a:gd name="T69" fmla="*/ 0 h 598"/>
              <a:gd name="T70" fmla="*/ 423 w 821"/>
              <a:gd name="T71" fmla="*/ 7 h 598"/>
              <a:gd name="T72" fmla="*/ 487 w 821"/>
              <a:gd name="T73" fmla="*/ 22 h 598"/>
              <a:gd name="T74" fmla="*/ 528 w 821"/>
              <a:gd name="T75" fmla="*/ 29 h 598"/>
              <a:gd name="T76" fmla="*/ 539 w 821"/>
              <a:gd name="T77" fmla="*/ 27 h 598"/>
              <a:gd name="T78" fmla="*/ 540 w 821"/>
              <a:gd name="T79" fmla="*/ 21 h 598"/>
              <a:gd name="T80" fmla="*/ 540 w 821"/>
              <a:gd name="T81" fmla="*/ 21 h 598"/>
              <a:gd name="T82" fmla="*/ 540 w 821"/>
              <a:gd name="T83" fmla="*/ 21 h 59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821"/>
              <a:gd name="T127" fmla="*/ 0 h 598"/>
              <a:gd name="T128" fmla="*/ 821 w 821"/>
              <a:gd name="T129" fmla="*/ 598 h 59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821" h="598">
                <a:moveTo>
                  <a:pt x="540" y="21"/>
                </a:moveTo>
                <a:lnTo>
                  <a:pt x="615" y="295"/>
                </a:lnTo>
                <a:lnTo>
                  <a:pt x="691" y="264"/>
                </a:lnTo>
                <a:lnTo>
                  <a:pt x="739" y="246"/>
                </a:lnTo>
                <a:lnTo>
                  <a:pt x="777" y="246"/>
                </a:lnTo>
                <a:lnTo>
                  <a:pt x="794" y="254"/>
                </a:lnTo>
                <a:lnTo>
                  <a:pt x="803" y="270"/>
                </a:lnTo>
                <a:lnTo>
                  <a:pt x="816" y="314"/>
                </a:lnTo>
                <a:lnTo>
                  <a:pt x="821" y="363"/>
                </a:lnTo>
                <a:lnTo>
                  <a:pt x="821" y="416"/>
                </a:lnTo>
                <a:lnTo>
                  <a:pt x="720" y="515"/>
                </a:lnTo>
                <a:lnTo>
                  <a:pt x="692" y="576"/>
                </a:lnTo>
                <a:lnTo>
                  <a:pt x="363" y="598"/>
                </a:lnTo>
                <a:lnTo>
                  <a:pt x="142" y="595"/>
                </a:lnTo>
                <a:lnTo>
                  <a:pt x="17" y="569"/>
                </a:lnTo>
                <a:lnTo>
                  <a:pt x="3" y="546"/>
                </a:lnTo>
                <a:lnTo>
                  <a:pt x="0" y="529"/>
                </a:lnTo>
                <a:lnTo>
                  <a:pt x="14" y="513"/>
                </a:lnTo>
                <a:lnTo>
                  <a:pt x="109" y="490"/>
                </a:lnTo>
                <a:lnTo>
                  <a:pt x="199" y="477"/>
                </a:lnTo>
                <a:lnTo>
                  <a:pt x="253" y="477"/>
                </a:lnTo>
                <a:lnTo>
                  <a:pt x="188" y="326"/>
                </a:lnTo>
                <a:lnTo>
                  <a:pt x="184" y="311"/>
                </a:lnTo>
                <a:lnTo>
                  <a:pt x="180" y="279"/>
                </a:lnTo>
                <a:lnTo>
                  <a:pt x="184" y="245"/>
                </a:lnTo>
                <a:lnTo>
                  <a:pt x="195" y="232"/>
                </a:lnTo>
                <a:lnTo>
                  <a:pt x="209" y="229"/>
                </a:lnTo>
                <a:lnTo>
                  <a:pt x="250" y="236"/>
                </a:lnTo>
                <a:lnTo>
                  <a:pt x="283" y="253"/>
                </a:lnTo>
                <a:lnTo>
                  <a:pt x="318" y="281"/>
                </a:lnTo>
                <a:lnTo>
                  <a:pt x="352" y="157"/>
                </a:lnTo>
                <a:lnTo>
                  <a:pt x="374" y="66"/>
                </a:lnTo>
                <a:lnTo>
                  <a:pt x="383" y="14"/>
                </a:lnTo>
                <a:lnTo>
                  <a:pt x="388" y="2"/>
                </a:lnTo>
                <a:lnTo>
                  <a:pt x="402" y="0"/>
                </a:lnTo>
                <a:lnTo>
                  <a:pt x="423" y="7"/>
                </a:lnTo>
                <a:lnTo>
                  <a:pt x="487" y="22"/>
                </a:lnTo>
                <a:lnTo>
                  <a:pt x="528" y="29"/>
                </a:lnTo>
                <a:lnTo>
                  <a:pt x="539" y="27"/>
                </a:lnTo>
                <a:lnTo>
                  <a:pt x="540" y="21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4" name="Freeform 358"/>
          <p:cNvSpPr>
            <a:spLocks/>
          </p:cNvSpPr>
          <p:nvPr/>
        </p:nvSpPr>
        <p:spPr bwMode="auto">
          <a:xfrm>
            <a:off x="4972050" y="5608638"/>
            <a:ext cx="415925" cy="147637"/>
          </a:xfrm>
          <a:custGeom>
            <a:avLst/>
            <a:gdLst>
              <a:gd name="T0" fmla="*/ 500 w 613"/>
              <a:gd name="T1" fmla="*/ 0 h 207"/>
              <a:gd name="T2" fmla="*/ 263 w 613"/>
              <a:gd name="T3" fmla="*/ 42 h 207"/>
              <a:gd name="T4" fmla="*/ 135 w 613"/>
              <a:gd name="T5" fmla="*/ 39 h 207"/>
              <a:gd name="T6" fmla="*/ 75 w 613"/>
              <a:gd name="T7" fmla="*/ 72 h 207"/>
              <a:gd name="T8" fmla="*/ 8 w 613"/>
              <a:gd name="T9" fmla="*/ 118 h 207"/>
              <a:gd name="T10" fmla="*/ 2 w 613"/>
              <a:gd name="T11" fmla="*/ 154 h 207"/>
              <a:gd name="T12" fmla="*/ 0 w 613"/>
              <a:gd name="T13" fmla="*/ 176 h 207"/>
              <a:gd name="T14" fmla="*/ 332 w 613"/>
              <a:gd name="T15" fmla="*/ 207 h 207"/>
              <a:gd name="T16" fmla="*/ 613 w 613"/>
              <a:gd name="T17" fmla="*/ 207 h 207"/>
              <a:gd name="T18" fmla="*/ 595 w 613"/>
              <a:gd name="T19" fmla="*/ 118 h 207"/>
              <a:gd name="T20" fmla="*/ 500 w 613"/>
              <a:gd name="T21" fmla="*/ 2 h 207"/>
              <a:gd name="T22" fmla="*/ 500 w 613"/>
              <a:gd name="T23" fmla="*/ 2 h 207"/>
              <a:gd name="T24" fmla="*/ 500 w 613"/>
              <a:gd name="T25" fmla="*/ 0 h 20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613"/>
              <a:gd name="T40" fmla="*/ 0 h 207"/>
              <a:gd name="T41" fmla="*/ 613 w 613"/>
              <a:gd name="T42" fmla="*/ 207 h 207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613" h="207">
                <a:moveTo>
                  <a:pt x="500" y="0"/>
                </a:moveTo>
                <a:lnTo>
                  <a:pt x="263" y="42"/>
                </a:lnTo>
                <a:lnTo>
                  <a:pt x="135" y="39"/>
                </a:lnTo>
                <a:lnTo>
                  <a:pt x="75" y="72"/>
                </a:lnTo>
                <a:lnTo>
                  <a:pt x="8" y="118"/>
                </a:lnTo>
                <a:lnTo>
                  <a:pt x="2" y="154"/>
                </a:lnTo>
                <a:lnTo>
                  <a:pt x="0" y="176"/>
                </a:lnTo>
                <a:lnTo>
                  <a:pt x="332" y="207"/>
                </a:lnTo>
                <a:lnTo>
                  <a:pt x="613" y="207"/>
                </a:lnTo>
                <a:lnTo>
                  <a:pt x="595" y="118"/>
                </a:lnTo>
                <a:lnTo>
                  <a:pt x="500" y="2"/>
                </a:lnTo>
                <a:lnTo>
                  <a:pt x="500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5" name="Freeform 359"/>
          <p:cNvSpPr>
            <a:spLocks/>
          </p:cNvSpPr>
          <p:nvPr/>
        </p:nvSpPr>
        <p:spPr bwMode="auto">
          <a:xfrm>
            <a:off x="5367338" y="5627688"/>
            <a:ext cx="473075" cy="120650"/>
          </a:xfrm>
          <a:custGeom>
            <a:avLst/>
            <a:gdLst>
              <a:gd name="T0" fmla="*/ 53 w 697"/>
              <a:gd name="T1" fmla="*/ 3 h 166"/>
              <a:gd name="T2" fmla="*/ 315 w 697"/>
              <a:gd name="T3" fmla="*/ 0 h 166"/>
              <a:gd name="T4" fmla="*/ 396 w 697"/>
              <a:gd name="T5" fmla="*/ 28 h 166"/>
              <a:gd name="T6" fmla="*/ 487 w 697"/>
              <a:gd name="T7" fmla="*/ 69 h 166"/>
              <a:gd name="T8" fmla="*/ 529 w 697"/>
              <a:gd name="T9" fmla="*/ 63 h 166"/>
              <a:gd name="T10" fmla="*/ 589 w 697"/>
              <a:gd name="T11" fmla="*/ 63 h 166"/>
              <a:gd name="T12" fmla="*/ 653 w 697"/>
              <a:gd name="T13" fmla="*/ 103 h 166"/>
              <a:gd name="T14" fmla="*/ 686 w 697"/>
              <a:gd name="T15" fmla="*/ 132 h 166"/>
              <a:gd name="T16" fmla="*/ 697 w 697"/>
              <a:gd name="T17" fmla="*/ 155 h 166"/>
              <a:gd name="T18" fmla="*/ 661 w 697"/>
              <a:gd name="T19" fmla="*/ 163 h 166"/>
              <a:gd name="T20" fmla="*/ 581 w 697"/>
              <a:gd name="T21" fmla="*/ 166 h 166"/>
              <a:gd name="T22" fmla="*/ 465 w 697"/>
              <a:gd name="T23" fmla="*/ 166 h 166"/>
              <a:gd name="T24" fmla="*/ 113 w 697"/>
              <a:gd name="T25" fmla="*/ 149 h 166"/>
              <a:gd name="T26" fmla="*/ 31 w 697"/>
              <a:gd name="T27" fmla="*/ 152 h 166"/>
              <a:gd name="T28" fmla="*/ 0 w 697"/>
              <a:gd name="T29" fmla="*/ 55 h 166"/>
              <a:gd name="T30" fmla="*/ 28 w 697"/>
              <a:gd name="T31" fmla="*/ 25 h 166"/>
              <a:gd name="T32" fmla="*/ 53 w 697"/>
              <a:gd name="T33" fmla="*/ 3 h 166"/>
              <a:gd name="T34" fmla="*/ 53 w 697"/>
              <a:gd name="T35" fmla="*/ 3 h 16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697"/>
              <a:gd name="T55" fmla="*/ 0 h 166"/>
              <a:gd name="T56" fmla="*/ 697 w 697"/>
              <a:gd name="T57" fmla="*/ 166 h 16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697" h="166">
                <a:moveTo>
                  <a:pt x="53" y="3"/>
                </a:moveTo>
                <a:lnTo>
                  <a:pt x="315" y="0"/>
                </a:lnTo>
                <a:lnTo>
                  <a:pt x="396" y="28"/>
                </a:lnTo>
                <a:lnTo>
                  <a:pt x="487" y="69"/>
                </a:lnTo>
                <a:lnTo>
                  <a:pt x="529" y="63"/>
                </a:lnTo>
                <a:lnTo>
                  <a:pt x="589" y="63"/>
                </a:lnTo>
                <a:lnTo>
                  <a:pt x="653" y="103"/>
                </a:lnTo>
                <a:lnTo>
                  <a:pt x="686" y="132"/>
                </a:lnTo>
                <a:lnTo>
                  <a:pt x="697" y="155"/>
                </a:lnTo>
                <a:lnTo>
                  <a:pt x="661" y="163"/>
                </a:lnTo>
                <a:lnTo>
                  <a:pt x="581" y="166"/>
                </a:lnTo>
                <a:lnTo>
                  <a:pt x="465" y="166"/>
                </a:lnTo>
                <a:lnTo>
                  <a:pt x="113" y="149"/>
                </a:lnTo>
                <a:lnTo>
                  <a:pt x="31" y="152"/>
                </a:lnTo>
                <a:lnTo>
                  <a:pt x="0" y="55"/>
                </a:lnTo>
                <a:lnTo>
                  <a:pt x="28" y="25"/>
                </a:lnTo>
                <a:lnTo>
                  <a:pt x="53" y="3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6" name="Freeform 360"/>
          <p:cNvSpPr>
            <a:spLocks/>
          </p:cNvSpPr>
          <p:nvPr/>
        </p:nvSpPr>
        <p:spPr bwMode="auto">
          <a:xfrm>
            <a:off x="5399088" y="5086350"/>
            <a:ext cx="179387" cy="550863"/>
          </a:xfrm>
          <a:custGeom>
            <a:avLst/>
            <a:gdLst>
              <a:gd name="T0" fmla="*/ 124 w 262"/>
              <a:gd name="T1" fmla="*/ 28 h 771"/>
              <a:gd name="T2" fmla="*/ 135 w 262"/>
              <a:gd name="T3" fmla="*/ 168 h 771"/>
              <a:gd name="T4" fmla="*/ 122 w 262"/>
              <a:gd name="T5" fmla="*/ 315 h 771"/>
              <a:gd name="T6" fmla="*/ 103 w 262"/>
              <a:gd name="T7" fmla="*/ 480 h 771"/>
              <a:gd name="T8" fmla="*/ 0 w 262"/>
              <a:gd name="T9" fmla="*/ 765 h 771"/>
              <a:gd name="T10" fmla="*/ 247 w 262"/>
              <a:gd name="T11" fmla="*/ 771 h 771"/>
              <a:gd name="T12" fmla="*/ 213 w 262"/>
              <a:gd name="T13" fmla="*/ 668 h 771"/>
              <a:gd name="T14" fmla="*/ 237 w 262"/>
              <a:gd name="T15" fmla="*/ 411 h 771"/>
              <a:gd name="T16" fmla="*/ 262 w 262"/>
              <a:gd name="T17" fmla="*/ 0 h 771"/>
              <a:gd name="T18" fmla="*/ 124 w 262"/>
              <a:gd name="T19" fmla="*/ 28 h 771"/>
              <a:gd name="T20" fmla="*/ 124 w 262"/>
              <a:gd name="T21" fmla="*/ 28 h 77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2"/>
              <a:gd name="T34" fmla="*/ 0 h 771"/>
              <a:gd name="T35" fmla="*/ 262 w 262"/>
              <a:gd name="T36" fmla="*/ 771 h 771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2" h="771">
                <a:moveTo>
                  <a:pt x="124" y="28"/>
                </a:moveTo>
                <a:lnTo>
                  <a:pt x="135" y="168"/>
                </a:lnTo>
                <a:lnTo>
                  <a:pt x="122" y="315"/>
                </a:lnTo>
                <a:lnTo>
                  <a:pt x="103" y="480"/>
                </a:lnTo>
                <a:lnTo>
                  <a:pt x="0" y="765"/>
                </a:lnTo>
                <a:lnTo>
                  <a:pt x="247" y="771"/>
                </a:lnTo>
                <a:lnTo>
                  <a:pt x="213" y="668"/>
                </a:lnTo>
                <a:lnTo>
                  <a:pt x="237" y="411"/>
                </a:lnTo>
                <a:lnTo>
                  <a:pt x="262" y="0"/>
                </a:lnTo>
                <a:lnTo>
                  <a:pt x="124" y="28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7" name="Freeform 361"/>
          <p:cNvSpPr>
            <a:spLocks/>
          </p:cNvSpPr>
          <p:nvPr/>
        </p:nvSpPr>
        <p:spPr bwMode="auto">
          <a:xfrm>
            <a:off x="5164138" y="5089525"/>
            <a:ext cx="195262" cy="534988"/>
          </a:xfrm>
          <a:custGeom>
            <a:avLst/>
            <a:gdLst>
              <a:gd name="T0" fmla="*/ 285 w 285"/>
              <a:gd name="T1" fmla="*/ 13 h 747"/>
              <a:gd name="T2" fmla="*/ 197 w 285"/>
              <a:gd name="T3" fmla="*/ 370 h 747"/>
              <a:gd name="T4" fmla="*/ 191 w 285"/>
              <a:gd name="T5" fmla="*/ 649 h 747"/>
              <a:gd name="T6" fmla="*/ 216 w 285"/>
              <a:gd name="T7" fmla="*/ 725 h 747"/>
              <a:gd name="T8" fmla="*/ 0 w 285"/>
              <a:gd name="T9" fmla="*/ 747 h 747"/>
              <a:gd name="T10" fmla="*/ 79 w 285"/>
              <a:gd name="T11" fmla="*/ 283 h 747"/>
              <a:gd name="T12" fmla="*/ 108 w 285"/>
              <a:gd name="T13" fmla="*/ 0 h 747"/>
              <a:gd name="T14" fmla="*/ 285 w 285"/>
              <a:gd name="T15" fmla="*/ 13 h 747"/>
              <a:gd name="T16" fmla="*/ 285 w 285"/>
              <a:gd name="T17" fmla="*/ 13 h 747"/>
              <a:gd name="T18" fmla="*/ 285 w 285"/>
              <a:gd name="T19" fmla="*/ 13 h 74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85"/>
              <a:gd name="T31" fmla="*/ 0 h 747"/>
              <a:gd name="T32" fmla="*/ 285 w 285"/>
              <a:gd name="T33" fmla="*/ 747 h 74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85" h="747">
                <a:moveTo>
                  <a:pt x="285" y="13"/>
                </a:moveTo>
                <a:lnTo>
                  <a:pt x="197" y="370"/>
                </a:lnTo>
                <a:lnTo>
                  <a:pt x="191" y="649"/>
                </a:lnTo>
                <a:lnTo>
                  <a:pt x="216" y="725"/>
                </a:lnTo>
                <a:lnTo>
                  <a:pt x="0" y="747"/>
                </a:lnTo>
                <a:lnTo>
                  <a:pt x="79" y="283"/>
                </a:lnTo>
                <a:lnTo>
                  <a:pt x="108" y="0"/>
                </a:lnTo>
                <a:lnTo>
                  <a:pt x="285" y="13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8" name="Freeform 362"/>
          <p:cNvSpPr>
            <a:spLocks/>
          </p:cNvSpPr>
          <p:nvPr/>
        </p:nvSpPr>
        <p:spPr bwMode="auto">
          <a:xfrm>
            <a:off x="5592763" y="4624388"/>
            <a:ext cx="147637" cy="250825"/>
          </a:xfrm>
          <a:custGeom>
            <a:avLst/>
            <a:gdLst>
              <a:gd name="T0" fmla="*/ 6 w 216"/>
              <a:gd name="T1" fmla="*/ 61 h 345"/>
              <a:gd name="T2" fmla="*/ 111 w 216"/>
              <a:gd name="T3" fmla="*/ 0 h 345"/>
              <a:gd name="T4" fmla="*/ 216 w 216"/>
              <a:gd name="T5" fmla="*/ 145 h 345"/>
              <a:gd name="T6" fmla="*/ 204 w 216"/>
              <a:gd name="T7" fmla="*/ 212 h 345"/>
              <a:gd name="T8" fmla="*/ 191 w 216"/>
              <a:gd name="T9" fmla="*/ 262 h 345"/>
              <a:gd name="T10" fmla="*/ 169 w 216"/>
              <a:gd name="T11" fmla="*/ 297 h 345"/>
              <a:gd name="T12" fmla="*/ 124 w 216"/>
              <a:gd name="T13" fmla="*/ 337 h 345"/>
              <a:gd name="T14" fmla="*/ 100 w 216"/>
              <a:gd name="T15" fmla="*/ 345 h 345"/>
              <a:gd name="T16" fmla="*/ 78 w 216"/>
              <a:gd name="T17" fmla="*/ 331 h 345"/>
              <a:gd name="T18" fmla="*/ 50 w 216"/>
              <a:gd name="T19" fmla="*/ 273 h 345"/>
              <a:gd name="T20" fmla="*/ 19 w 216"/>
              <a:gd name="T21" fmla="*/ 185 h 345"/>
              <a:gd name="T22" fmla="*/ 0 w 216"/>
              <a:gd name="T23" fmla="*/ 102 h 345"/>
              <a:gd name="T24" fmla="*/ 0 w 216"/>
              <a:gd name="T25" fmla="*/ 77 h 345"/>
              <a:gd name="T26" fmla="*/ 6 w 216"/>
              <a:gd name="T27" fmla="*/ 63 h 345"/>
              <a:gd name="T28" fmla="*/ 6 w 216"/>
              <a:gd name="T29" fmla="*/ 63 h 345"/>
              <a:gd name="T30" fmla="*/ 6 w 216"/>
              <a:gd name="T31" fmla="*/ 61 h 34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16"/>
              <a:gd name="T49" fmla="*/ 0 h 345"/>
              <a:gd name="T50" fmla="*/ 216 w 216"/>
              <a:gd name="T51" fmla="*/ 345 h 34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16" h="345">
                <a:moveTo>
                  <a:pt x="6" y="61"/>
                </a:moveTo>
                <a:lnTo>
                  <a:pt x="111" y="0"/>
                </a:lnTo>
                <a:lnTo>
                  <a:pt x="216" y="145"/>
                </a:lnTo>
                <a:lnTo>
                  <a:pt x="204" y="212"/>
                </a:lnTo>
                <a:lnTo>
                  <a:pt x="191" y="262"/>
                </a:lnTo>
                <a:lnTo>
                  <a:pt x="169" y="297"/>
                </a:lnTo>
                <a:lnTo>
                  <a:pt x="124" y="337"/>
                </a:lnTo>
                <a:lnTo>
                  <a:pt x="100" y="345"/>
                </a:lnTo>
                <a:lnTo>
                  <a:pt x="78" y="331"/>
                </a:lnTo>
                <a:lnTo>
                  <a:pt x="50" y="273"/>
                </a:lnTo>
                <a:lnTo>
                  <a:pt x="19" y="185"/>
                </a:lnTo>
                <a:lnTo>
                  <a:pt x="0" y="102"/>
                </a:lnTo>
                <a:lnTo>
                  <a:pt x="0" y="77"/>
                </a:lnTo>
                <a:lnTo>
                  <a:pt x="6" y="63"/>
                </a:lnTo>
                <a:lnTo>
                  <a:pt x="6" y="61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9" name="Freeform 363"/>
          <p:cNvSpPr>
            <a:spLocks/>
          </p:cNvSpPr>
          <p:nvPr/>
        </p:nvSpPr>
        <p:spPr bwMode="auto">
          <a:xfrm>
            <a:off x="4837113" y="4029075"/>
            <a:ext cx="247650" cy="422275"/>
          </a:xfrm>
          <a:custGeom>
            <a:avLst/>
            <a:gdLst>
              <a:gd name="T0" fmla="*/ 312 w 363"/>
              <a:gd name="T1" fmla="*/ 254 h 586"/>
              <a:gd name="T2" fmla="*/ 346 w 363"/>
              <a:gd name="T3" fmla="*/ 229 h 586"/>
              <a:gd name="T4" fmla="*/ 363 w 363"/>
              <a:gd name="T5" fmla="*/ 97 h 586"/>
              <a:gd name="T6" fmla="*/ 340 w 363"/>
              <a:gd name="T7" fmla="*/ 36 h 586"/>
              <a:gd name="T8" fmla="*/ 313 w 363"/>
              <a:gd name="T9" fmla="*/ 5 h 586"/>
              <a:gd name="T10" fmla="*/ 296 w 363"/>
              <a:gd name="T11" fmla="*/ 0 h 586"/>
              <a:gd name="T12" fmla="*/ 276 w 363"/>
              <a:gd name="T13" fmla="*/ 9 h 586"/>
              <a:gd name="T14" fmla="*/ 258 w 363"/>
              <a:gd name="T15" fmla="*/ 27 h 586"/>
              <a:gd name="T16" fmla="*/ 248 w 363"/>
              <a:gd name="T17" fmla="*/ 48 h 586"/>
              <a:gd name="T18" fmla="*/ 238 w 363"/>
              <a:gd name="T19" fmla="*/ 96 h 586"/>
              <a:gd name="T20" fmla="*/ 241 w 363"/>
              <a:gd name="T21" fmla="*/ 135 h 586"/>
              <a:gd name="T22" fmla="*/ 244 w 363"/>
              <a:gd name="T23" fmla="*/ 152 h 586"/>
              <a:gd name="T24" fmla="*/ 208 w 363"/>
              <a:gd name="T25" fmla="*/ 139 h 586"/>
              <a:gd name="T26" fmla="*/ 150 w 363"/>
              <a:gd name="T27" fmla="*/ 130 h 586"/>
              <a:gd name="T28" fmla="*/ 124 w 363"/>
              <a:gd name="T29" fmla="*/ 136 h 586"/>
              <a:gd name="T30" fmla="*/ 89 w 363"/>
              <a:gd name="T31" fmla="*/ 154 h 586"/>
              <a:gd name="T32" fmla="*/ 69 w 363"/>
              <a:gd name="T33" fmla="*/ 177 h 586"/>
              <a:gd name="T34" fmla="*/ 66 w 363"/>
              <a:gd name="T35" fmla="*/ 193 h 586"/>
              <a:gd name="T36" fmla="*/ 70 w 363"/>
              <a:gd name="T37" fmla="*/ 210 h 586"/>
              <a:gd name="T38" fmla="*/ 86 w 363"/>
              <a:gd name="T39" fmla="*/ 241 h 586"/>
              <a:gd name="T40" fmla="*/ 89 w 363"/>
              <a:gd name="T41" fmla="*/ 268 h 586"/>
              <a:gd name="T42" fmla="*/ 91 w 363"/>
              <a:gd name="T43" fmla="*/ 292 h 586"/>
              <a:gd name="T44" fmla="*/ 38 w 363"/>
              <a:gd name="T45" fmla="*/ 282 h 586"/>
              <a:gd name="T46" fmla="*/ 14 w 363"/>
              <a:gd name="T47" fmla="*/ 317 h 586"/>
              <a:gd name="T48" fmla="*/ 1 w 363"/>
              <a:gd name="T49" fmla="*/ 346 h 586"/>
              <a:gd name="T50" fmla="*/ 0 w 363"/>
              <a:gd name="T51" fmla="*/ 371 h 586"/>
              <a:gd name="T52" fmla="*/ 28 w 363"/>
              <a:gd name="T53" fmla="*/ 395 h 586"/>
              <a:gd name="T54" fmla="*/ 75 w 363"/>
              <a:gd name="T55" fmla="*/ 420 h 586"/>
              <a:gd name="T56" fmla="*/ 141 w 363"/>
              <a:gd name="T57" fmla="*/ 447 h 586"/>
              <a:gd name="T58" fmla="*/ 91 w 363"/>
              <a:gd name="T59" fmla="*/ 500 h 586"/>
              <a:gd name="T60" fmla="*/ 88 w 363"/>
              <a:gd name="T61" fmla="*/ 539 h 586"/>
              <a:gd name="T62" fmla="*/ 96 w 363"/>
              <a:gd name="T63" fmla="*/ 569 h 586"/>
              <a:gd name="T64" fmla="*/ 106 w 363"/>
              <a:gd name="T65" fmla="*/ 580 h 586"/>
              <a:gd name="T66" fmla="*/ 122 w 363"/>
              <a:gd name="T67" fmla="*/ 586 h 586"/>
              <a:gd name="T68" fmla="*/ 160 w 363"/>
              <a:gd name="T69" fmla="*/ 580 h 586"/>
              <a:gd name="T70" fmla="*/ 194 w 363"/>
              <a:gd name="T71" fmla="*/ 566 h 586"/>
              <a:gd name="T72" fmla="*/ 230 w 363"/>
              <a:gd name="T73" fmla="*/ 542 h 586"/>
              <a:gd name="T74" fmla="*/ 241 w 363"/>
              <a:gd name="T75" fmla="*/ 473 h 586"/>
              <a:gd name="T76" fmla="*/ 276 w 363"/>
              <a:gd name="T77" fmla="*/ 447 h 586"/>
              <a:gd name="T78" fmla="*/ 299 w 363"/>
              <a:gd name="T79" fmla="*/ 382 h 586"/>
              <a:gd name="T80" fmla="*/ 276 w 363"/>
              <a:gd name="T81" fmla="*/ 337 h 586"/>
              <a:gd name="T82" fmla="*/ 299 w 363"/>
              <a:gd name="T83" fmla="*/ 306 h 586"/>
              <a:gd name="T84" fmla="*/ 312 w 363"/>
              <a:gd name="T85" fmla="*/ 277 h 586"/>
              <a:gd name="T86" fmla="*/ 312 w 363"/>
              <a:gd name="T87" fmla="*/ 255 h 586"/>
              <a:gd name="T88" fmla="*/ 312 w 363"/>
              <a:gd name="T89" fmla="*/ 255 h 586"/>
              <a:gd name="T90" fmla="*/ 312 w 363"/>
              <a:gd name="T91" fmla="*/ 254 h 58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w 363"/>
              <a:gd name="T139" fmla="*/ 0 h 586"/>
              <a:gd name="T140" fmla="*/ 363 w 363"/>
              <a:gd name="T141" fmla="*/ 586 h 58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T138" t="T139" r="T140" b="T141"/>
            <a:pathLst>
              <a:path w="363" h="586">
                <a:moveTo>
                  <a:pt x="312" y="254"/>
                </a:moveTo>
                <a:lnTo>
                  <a:pt x="346" y="229"/>
                </a:lnTo>
                <a:lnTo>
                  <a:pt x="363" y="97"/>
                </a:lnTo>
                <a:lnTo>
                  <a:pt x="340" y="36"/>
                </a:lnTo>
                <a:lnTo>
                  <a:pt x="313" y="5"/>
                </a:lnTo>
                <a:lnTo>
                  <a:pt x="296" y="0"/>
                </a:lnTo>
                <a:lnTo>
                  <a:pt x="276" y="9"/>
                </a:lnTo>
                <a:lnTo>
                  <a:pt x="258" y="27"/>
                </a:lnTo>
                <a:lnTo>
                  <a:pt x="248" y="48"/>
                </a:lnTo>
                <a:lnTo>
                  <a:pt x="238" y="96"/>
                </a:lnTo>
                <a:lnTo>
                  <a:pt x="241" y="135"/>
                </a:lnTo>
                <a:lnTo>
                  <a:pt x="244" y="152"/>
                </a:lnTo>
                <a:lnTo>
                  <a:pt x="208" y="139"/>
                </a:lnTo>
                <a:lnTo>
                  <a:pt x="150" y="130"/>
                </a:lnTo>
                <a:lnTo>
                  <a:pt x="124" y="136"/>
                </a:lnTo>
                <a:lnTo>
                  <a:pt x="89" y="154"/>
                </a:lnTo>
                <a:lnTo>
                  <a:pt x="69" y="177"/>
                </a:lnTo>
                <a:lnTo>
                  <a:pt x="66" y="193"/>
                </a:lnTo>
                <a:lnTo>
                  <a:pt x="70" y="210"/>
                </a:lnTo>
                <a:lnTo>
                  <a:pt x="86" y="241"/>
                </a:lnTo>
                <a:lnTo>
                  <a:pt x="89" y="268"/>
                </a:lnTo>
                <a:lnTo>
                  <a:pt x="91" y="292"/>
                </a:lnTo>
                <a:lnTo>
                  <a:pt x="38" y="282"/>
                </a:lnTo>
                <a:lnTo>
                  <a:pt x="14" y="317"/>
                </a:lnTo>
                <a:lnTo>
                  <a:pt x="1" y="346"/>
                </a:lnTo>
                <a:lnTo>
                  <a:pt x="0" y="371"/>
                </a:lnTo>
                <a:lnTo>
                  <a:pt x="28" y="395"/>
                </a:lnTo>
                <a:lnTo>
                  <a:pt x="75" y="420"/>
                </a:lnTo>
                <a:lnTo>
                  <a:pt x="141" y="447"/>
                </a:lnTo>
                <a:lnTo>
                  <a:pt x="91" y="500"/>
                </a:lnTo>
                <a:lnTo>
                  <a:pt x="88" y="539"/>
                </a:lnTo>
                <a:lnTo>
                  <a:pt x="96" y="569"/>
                </a:lnTo>
                <a:lnTo>
                  <a:pt x="106" y="580"/>
                </a:lnTo>
                <a:lnTo>
                  <a:pt x="122" y="586"/>
                </a:lnTo>
                <a:lnTo>
                  <a:pt x="160" y="580"/>
                </a:lnTo>
                <a:lnTo>
                  <a:pt x="194" y="566"/>
                </a:lnTo>
                <a:lnTo>
                  <a:pt x="230" y="542"/>
                </a:lnTo>
                <a:lnTo>
                  <a:pt x="241" y="473"/>
                </a:lnTo>
                <a:lnTo>
                  <a:pt x="276" y="447"/>
                </a:lnTo>
                <a:lnTo>
                  <a:pt x="299" y="382"/>
                </a:lnTo>
                <a:lnTo>
                  <a:pt x="276" y="337"/>
                </a:lnTo>
                <a:lnTo>
                  <a:pt x="299" y="306"/>
                </a:lnTo>
                <a:lnTo>
                  <a:pt x="312" y="277"/>
                </a:lnTo>
                <a:lnTo>
                  <a:pt x="312" y="255"/>
                </a:lnTo>
                <a:lnTo>
                  <a:pt x="312" y="254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0" name="Freeform 364"/>
          <p:cNvSpPr>
            <a:spLocks/>
          </p:cNvSpPr>
          <p:nvPr/>
        </p:nvSpPr>
        <p:spPr bwMode="auto">
          <a:xfrm>
            <a:off x="5264150" y="4430713"/>
            <a:ext cx="61913" cy="68262"/>
          </a:xfrm>
          <a:custGeom>
            <a:avLst/>
            <a:gdLst>
              <a:gd name="T0" fmla="*/ 30 w 89"/>
              <a:gd name="T1" fmla="*/ 4 h 96"/>
              <a:gd name="T2" fmla="*/ 55 w 89"/>
              <a:gd name="T3" fmla="*/ 0 h 96"/>
              <a:gd name="T4" fmla="*/ 72 w 89"/>
              <a:gd name="T5" fmla="*/ 4 h 96"/>
              <a:gd name="T6" fmla="*/ 86 w 89"/>
              <a:gd name="T7" fmla="*/ 21 h 96"/>
              <a:gd name="T8" fmla="*/ 89 w 89"/>
              <a:gd name="T9" fmla="*/ 71 h 96"/>
              <a:gd name="T10" fmla="*/ 83 w 89"/>
              <a:gd name="T11" fmla="*/ 96 h 96"/>
              <a:gd name="T12" fmla="*/ 41 w 89"/>
              <a:gd name="T13" fmla="*/ 96 h 96"/>
              <a:gd name="T14" fmla="*/ 0 w 89"/>
              <a:gd name="T15" fmla="*/ 46 h 96"/>
              <a:gd name="T16" fmla="*/ 17 w 89"/>
              <a:gd name="T17" fmla="*/ 26 h 96"/>
              <a:gd name="T18" fmla="*/ 30 w 89"/>
              <a:gd name="T19" fmla="*/ 4 h 96"/>
              <a:gd name="T20" fmla="*/ 30 w 89"/>
              <a:gd name="T21" fmla="*/ 4 h 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9"/>
              <a:gd name="T34" fmla="*/ 0 h 96"/>
              <a:gd name="T35" fmla="*/ 89 w 89"/>
              <a:gd name="T36" fmla="*/ 96 h 9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9" h="96">
                <a:moveTo>
                  <a:pt x="30" y="4"/>
                </a:moveTo>
                <a:lnTo>
                  <a:pt x="55" y="0"/>
                </a:lnTo>
                <a:lnTo>
                  <a:pt x="72" y="4"/>
                </a:lnTo>
                <a:lnTo>
                  <a:pt x="86" y="21"/>
                </a:lnTo>
                <a:lnTo>
                  <a:pt x="89" y="71"/>
                </a:lnTo>
                <a:lnTo>
                  <a:pt x="83" y="96"/>
                </a:lnTo>
                <a:lnTo>
                  <a:pt x="41" y="96"/>
                </a:lnTo>
                <a:lnTo>
                  <a:pt x="0" y="46"/>
                </a:lnTo>
                <a:lnTo>
                  <a:pt x="17" y="26"/>
                </a:lnTo>
                <a:lnTo>
                  <a:pt x="30" y="4"/>
                </a:lnTo>
                <a:close/>
              </a:path>
            </a:pathLst>
          </a:custGeom>
          <a:solidFill>
            <a:srgbClr val="FFFFFF"/>
          </a:solidFill>
          <a:ln w="6350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1" name="Freeform 365"/>
          <p:cNvSpPr>
            <a:spLocks/>
          </p:cNvSpPr>
          <p:nvPr/>
        </p:nvSpPr>
        <p:spPr bwMode="auto">
          <a:xfrm>
            <a:off x="5295900" y="4732338"/>
            <a:ext cx="55563" cy="87312"/>
          </a:xfrm>
          <a:custGeom>
            <a:avLst/>
            <a:gdLst>
              <a:gd name="T0" fmla="*/ 1 w 78"/>
              <a:gd name="T1" fmla="*/ 28 h 124"/>
              <a:gd name="T2" fmla="*/ 25 w 78"/>
              <a:gd name="T3" fmla="*/ 8 h 124"/>
              <a:gd name="T4" fmla="*/ 45 w 78"/>
              <a:gd name="T5" fmla="*/ 0 h 124"/>
              <a:gd name="T6" fmla="*/ 58 w 78"/>
              <a:gd name="T7" fmla="*/ 9 h 124"/>
              <a:gd name="T8" fmla="*/ 77 w 78"/>
              <a:gd name="T9" fmla="*/ 48 h 124"/>
              <a:gd name="T10" fmla="*/ 78 w 78"/>
              <a:gd name="T11" fmla="*/ 81 h 124"/>
              <a:gd name="T12" fmla="*/ 55 w 78"/>
              <a:gd name="T13" fmla="*/ 109 h 124"/>
              <a:gd name="T14" fmla="*/ 39 w 78"/>
              <a:gd name="T15" fmla="*/ 122 h 124"/>
              <a:gd name="T16" fmla="*/ 19 w 78"/>
              <a:gd name="T17" fmla="*/ 124 h 124"/>
              <a:gd name="T18" fmla="*/ 5 w 78"/>
              <a:gd name="T19" fmla="*/ 120 h 124"/>
              <a:gd name="T20" fmla="*/ 0 w 78"/>
              <a:gd name="T21" fmla="*/ 113 h 124"/>
              <a:gd name="T22" fmla="*/ 3 w 78"/>
              <a:gd name="T23" fmla="*/ 28 h 124"/>
              <a:gd name="T24" fmla="*/ 3 w 78"/>
              <a:gd name="T25" fmla="*/ 28 h 124"/>
              <a:gd name="T26" fmla="*/ 1 w 78"/>
              <a:gd name="T27" fmla="*/ 28 h 12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78"/>
              <a:gd name="T43" fmla="*/ 0 h 124"/>
              <a:gd name="T44" fmla="*/ 78 w 78"/>
              <a:gd name="T45" fmla="*/ 124 h 12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78" h="124">
                <a:moveTo>
                  <a:pt x="1" y="28"/>
                </a:moveTo>
                <a:lnTo>
                  <a:pt x="25" y="8"/>
                </a:lnTo>
                <a:lnTo>
                  <a:pt x="45" y="0"/>
                </a:lnTo>
                <a:lnTo>
                  <a:pt x="58" y="9"/>
                </a:lnTo>
                <a:lnTo>
                  <a:pt x="77" y="48"/>
                </a:lnTo>
                <a:lnTo>
                  <a:pt x="78" y="81"/>
                </a:lnTo>
                <a:lnTo>
                  <a:pt x="55" y="109"/>
                </a:lnTo>
                <a:lnTo>
                  <a:pt x="39" y="122"/>
                </a:lnTo>
                <a:lnTo>
                  <a:pt x="19" y="124"/>
                </a:lnTo>
                <a:lnTo>
                  <a:pt x="5" y="120"/>
                </a:lnTo>
                <a:lnTo>
                  <a:pt x="0" y="113"/>
                </a:lnTo>
                <a:lnTo>
                  <a:pt x="3" y="28"/>
                </a:lnTo>
                <a:lnTo>
                  <a:pt x="1" y="28"/>
                </a:lnTo>
                <a:close/>
              </a:path>
            </a:pathLst>
          </a:custGeom>
          <a:solidFill>
            <a:srgbClr val="FFFFFF"/>
          </a:solidFill>
          <a:ln w="6350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2" name="Freeform 366"/>
          <p:cNvSpPr>
            <a:spLocks/>
          </p:cNvSpPr>
          <p:nvPr/>
        </p:nvSpPr>
        <p:spPr bwMode="auto">
          <a:xfrm>
            <a:off x="4906963" y="3278188"/>
            <a:ext cx="642937" cy="673100"/>
          </a:xfrm>
          <a:custGeom>
            <a:avLst/>
            <a:gdLst>
              <a:gd name="T0" fmla="*/ 713 w 946"/>
              <a:gd name="T1" fmla="*/ 108 h 943"/>
              <a:gd name="T2" fmla="*/ 870 w 946"/>
              <a:gd name="T3" fmla="*/ 289 h 943"/>
              <a:gd name="T4" fmla="*/ 946 w 946"/>
              <a:gd name="T5" fmla="*/ 547 h 943"/>
              <a:gd name="T6" fmla="*/ 935 w 946"/>
              <a:gd name="T7" fmla="*/ 681 h 943"/>
              <a:gd name="T8" fmla="*/ 887 w 946"/>
              <a:gd name="T9" fmla="*/ 819 h 943"/>
              <a:gd name="T10" fmla="*/ 893 w 946"/>
              <a:gd name="T11" fmla="*/ 852 h 943"/>
              <a:gd name="T12" fmla="*/ 935 w 946"/>
              <a:gd name="T13" fmla="*/ 855 h 943"/>
              <a:gd name="T14" fmla="*/ 819 w 946"/>
              <a:gd name="T15" fmla="*/ 919 h 943"/>
              <a:gd name="T16" fmla="*/ 743 w 946"/>
              <a:gd name="T17" fmla="*/ 943 h 943"/>
              <a:gd name="T18" fmla="*/ 713 w 946"/>
              <a:gd name="T19" fmla="*/ 925 h 943"/>
              <a:gd name="T20" fmla="*/ 725 w 946"/>
              <a:gd name="T21" fmla="*/ 885 h 943"/>
              <a:gd name="T22" fmla="*/ 755 w 946"/>
              <a:gd name="T23" fmla="*/ 872 h 943"/>
              <a:gd name="T24" fmla="*/ 815 w 946"/>
              <a:gd name="T25" fmla="*/ 751 h 943"/>
              <a:gd name="T26" fmla="*/ 801 w 946"/>
              <a:gd name="T27" fmla="*/ 593 h 943"/>
              <a:gd name="T28" fmla="*/ 758 w 946"/>
              <a:gd name="T29" fmla="*/ 389 h 943"/>
              <a:gd name="T30" fmla="*/ 716 w 946"/>
              <a:gd name="T31" fmla="*/ 237 h 943"/>
              <a:gd name="T32" fmla="*/ 622 w 946"/>
              <a:gd name="T33" fmla="*/ 137 h 943"/>
              <a:gd name="T34" fmla="*/ 588 w 946"/>
              <a:gd name="T35" fmla="*/ 144 h 943"/>
              <a:gd name="T36" fmla="*/ 558 w 946"/>
              <a:gd name="T37" fmla="*/ 213 h 943"/>
              <a:gd name="T38" fmla="*/ 392 w 946"/>
              <a:gd name="T39" fmla="*/ 320 h 943"/>
              <a:gd name="T40" fmla="*/ 265 w 946"/>
              <a:gd name="T41" fmla="*/ 355 h 943"/>
              <a:gd name="T42" fmla="*/ 208 w 946"/>
              <a:gd name="T43" fmla="*/ 392 h 943"/>
              <a:gd name="T44" fmla="*/ 205 w 946"/>
              <a:gd name="T45" fmla="*/ 420 h 943"/>
              <a:gd name="T46" fmla="*/ 215 w 946"/>
              <a:gd name="T47" fmla="*/ 792 h 943"/>
              <a:gd name="T48" fmla="*/ 211 w 946"/>
              <a:gd name="T49" fmla="*/ 880 h 943"/>
              <a:gd name="T50" fmla="*/ 191 w 946"/>
              <a:gd name="T51" fmla="*/ 917 h 943"/>
              <a:gd name="T52" fmla="*/ 86 w 946"/>
              <a:gd name="T53" fmla="*/ 906 h 943"/>
              <a:gd name="T54" fmla="*/ 28 w 946"/>
              <a:gd name="T55" fmla="*/ 847 h 943"/>
              <a:gd name="T56" fmla="*/ 45 w 946"/>
              <a:gd name="T57" fmla="*/ 845 h 943"/>
              <a:gd name="T58" fmla="*/ 110 w 946"/>
              <a:gd name="T59" fmla="*/ 811 h 943"/>
              <a:gd name="T60" fmla="*/ 108 w 946"/>
              <a:gd name="T61" fmla="*/ 784 h 943"/>
              <a:gd name="T62" fmla="*/ 0 w 946"/>
              <a:gd name="T63" fmla="*/ 375 h 943"/>
              <a:gd name="T64" fmla="*/ 97 w 946"/>
              <a:gd name="T65" fmla="*/ 265 h 943"/>
              <a:gd name="T66" fmla="*/ 161 w 946"/>
              <a:gd name="T67" fmla="*/ 209 h 943"/>
              <a:gd name="T68" fmla="*/ 191 w 946"/>
              <a:gd name="T69" fmla="*/ 152 h 943"/>
              <a:gd name="T70" fmla="*/ 265 w 946"/>
              <a:gd name="T71" fmla="*/ 32 h 943"/>
              <a:gd name="T72" fmla="*/ 304 w 946"/>
              <a:gd name="T73" fmla="*/ 7 h 943"/>
              <a:gd name="T74" fmla="*/ 514 w 946"/>
              <a:gd name="T75" fmla="*/ 0 h 943"/>
              <a:gd name="T76" fmla="*/ 514 w 946"/>
              <a:gd name="T77" fmla="*/ 0 h 943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w 946"/>
              <a:gd name="T118" fmla="*/ 0 h 943"/>
              <a:gd name="T119" fmla="*/ 946 w 946"/>
              <a:gd name="T120" fmla="*/ 943 h 943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T117" t="T118" r="T119" b="T120"/>
            <a:pathLst>
              <a:path w="946" h="943">
                <a:moveTo>
                  <a:pt x="514" y="0"/>
                </a:moveTo>
                <a:lnTo>
                  <a:pt x="713" y="108"/>
                </a:lnTo>
                <a:lnTo>
                  <a:pt x="787" y="187"/>
                </a:lnTo>
                <a:lnTo>
                  <a:pt x="870" y="289"/>
                </a:lnTo>
                <a:lnTo>
                  <a:pt x="913" y="430"/>
                </a:lnTo>
                <a:lnTo>
                  <a:pt x="946" y="547"/>
                </a:lnTo>
                <a:lnTo>
                  <a:pt x="943" y="618"/>
                </a:lnTo>
                <a:lnTo>
                  <a:pt x="935" y="681"/>
                </a:lnTo>
                <a:lnTo>
                  <a:pt x="917" y="739"/>
                </a:lnTo>
                <a:lnTo>
                  <a:pt x="887" y="819"/>
                </a:lnTo>
                <a:lnTo>
                  <a:pt x="885" y="841"/>
                </a:lnTo>
                <a:lnTo>
                  <a:pt x="893" y="852"/>
                </a:lnTo>
                <a:lnTo>
                  <a:pt x="920" y="855"/>
                </a:lnTo>
                <a:lnTo>
                  <a:pt x="935" y="855"/>
                </a:lnTo>
                <a:lnTo>
                  <a:pt x="899" y="877"/>
                </a:lnTo>
                <a:lnTo>
                  <a:pt x="819" y="919"/>
                </a:lnTo>
                <a:lnTo>
                  <a:pt x="777" y="933"/>
                </a:lnTo>
                <a:lnTo>
                  <a:pt x="743" y="943"/>
                </a:lnTo>
                <a:lnTo>
                  <a:pt x="718" y="936"/>
                </a:lnTo>
                <a:lnTo>
                  <a:pt x="713" y="925"/>
                </a:lnTo>
                <a:lnTo>
                  <a:pt x="710" y="911"/>
                </a:lnTo>
                <a:lnTo>
                  <a:pt x="725" y="885"/>
                </a:lnTo>
                <a:lnTo>
                  <a:pt x="740" y="874"/>
                </a:lnTo>
                <a:lnTo>
                  <a:pt x="755" y="872"/>
                </a:lnTo>
                <a:lnTo>
                  <a:pt x="791" y="808"/>
                </a:lnTo>
                <a:lnTo>
                  <a:pt x="815" y="751"/>
                </a:lnTo>
                <a:lnTo>
                  <a:pt x="823" y="700"/>
                </a:lnTo>
                <a:lnTo>
                  <a:pt x="801" y="593"/>
                </a:lnTo>
                <a:lnTo>
                  <a:pt x="782" y="532"/>
                </a:lnTo>
                <a:lnTo>
                  <a:pt x="758" y="389"/>
                </a:lnTo>
                <a:lnTo>
                  <a:pt x="732" y="281"/>
                </a:lnTo>
                <a:lnTo>
                  <a:pt x="716" y="237"/>
                </a:lnTo>
                <a:lnTo>
                  <a:pt x="694" y="209"/>
                </a:lnTo>
                <a:lnTo>
                  <a:pt x="622" y="137"/>
                </a:lnTo>
                <a:lnTo>
                  <a:pt x="594" y="101"/>
                </a:lnTo>
                <a:lnTo>
                  <a:pt x="588" y="144"/>
                </a:lnTo>
                <a:lnTo>
                  <a:pt x="577" y="182"/>
                </a:lnTo>
                <a:lnTo>
                  <a:pt x="558" y="213"/>
                </a:lnTo>
                <a:lnTo>
                  <a:pt x="465" y="284"/>
                </a:lnTo>
                <a:lnTo>
                  <a:pt x="392" y="320"/>
                </a:lnTo>
                <a:lnTo>
                  <a:pt x="304" y="345"/>
                </a:lnTo>
                <a:lnTo>
                  <a:pt x="265" y="355"/>
                </a:lnTo>
                <a:lnTo>
                  <a:pt x="235" y="367"/>
                </a:lnTo>
                <a:lnTo>
                  <a:pt x="208" y="392"/>
                </a:lnTo>
                <a:lnTo>
                  <a:pt x="204" y="411"/>
                </a:lnTo>
                <a:lnTo>
                  <a:pt x="205" y="420"/>
                </a:lnTo>
                <a:lnTo>
                  <a:pt x="205" y="762"/>
                </a:lnTo>
                <a:lnTo>
                  <a:pt x="215" y="792"/>
                </a:lnTo>
                <a:lnTo>
                  <a:pt x="221" y="833"/>
                </a:lnTo>
                <a:lnTo>
                  <a:pt x="211" y="880"/>
                </a:lnTo>
                <a:lnTo>
                  <a:pt x="202" y="906"/>
                </a:lnTo>
                <a:lnTo>
                  <a:pt x="191" y="917"/>
                </a:lnTo>
                <a:lnTo>
                  <a:pt x="127" y="914"/>
                </a:lnTo>
                <a:lnTo>
                  <a:pt x="86" y="906"/>
                </a:lnTo>
                <a:lnTo>
                  <a:pt x="58" y="894"/>
                </a:lnTo>
                <a:lnTo>
                  <a:pt x="28" y="847"/>
                </a:lnTo>
                <a:lnTo>
                  <a:pt x="16" y="817"/>
                </a:lnTo>
                <a:lnTo>
                  <a:pt x="45" y="845"/>
                </a:lnTo>
                <a:lnTo>
                  <a:pt x="86" y="830"/>
                </a:lnTo>
                <a:lnTo>
                  <a:pt x="110" y="811"/>
                </a:lnTo>
                <a:lnTo>
                  <a:pt x="114" y="798"/>
                </a:lnTo>
                <a:lnTo>
                  <a:pt x="108" y="784"/>
                </a:lnTo>
                <a:lnTo>
                  <a:pt x="25" y="660"/>
                </a:lnTo>
                <a:lnTo>
                  <a:pt x="0" y="375"/>
                </a:lnTo>
                <a:lnTo>
                  <a:pt x="55" y="311"/>
                </a:lnTo>
                <a:lnTo>
                  <a:pt x="97" y="265"/>
                </a:lnTo>
                <a:lnTo>
                  <a:pt x="125" y="243"/>
                </a:lnTo>
                <a:lnTo>
                  <a:pt x="161" y="209"/>
                </a:lnTo>
                <a:lnTo>
                  <a:pt x="180" y="179"/>
                </a:lnTo>
                <a:lnTo>
                  <a:pt x="191" y="152"/>
                </a:lnTo>
                <a:lnTo>
                  <a:pt x="219" y="93"/>
                </a:lnTo>
                <a:lnTo>
                  <a:pt x="265" y="32"/>
                </a:lnTo>
                <a:lnTo>
                  <a:pt x="290" y="13"/>
                </a:lnTo>
                <a:lnTo>
                  <a:pt x="304" y="7"/>
                </a:lnTo>
                <a:lnTo>
                  <a:pt x="316" y="7"/>
                </a:lnTo>
                <a:lnTo>
                  <a:pt x="514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3" name="Freeform 367"/>
          <p:cNvSpPr>
            <a:spLocks/>
          </p:cNvSpPr>
          <p:nvPr/>
        </p:nvSpPr>
        <p:spPr bwMode="auto">
          <a:xfrm>
            <a:off x="5148263" y="3482975"/>
            <a:ext cx="157162" cy="95250"/>
          </a:xfrm>
          <a:custGeom>
            <a:avLst/>
            <a:gdLst>
              <a:gd name="T0" fmla="*/ 64 w 229"/>
              <a:gd name="T1" fmla="*/ 132 h 132"/>
              <a:gd name="T2" fmla="*/ 19 w 229"/>
              <a:gd name="T3" fmla="*/ 106 h 132"/>
              <a:gd name="T4" fmla="*/ 6 w 229"/>
              <a:gd name="T5" fmla="*/ 96 h 132"/>
              <a:gd name="T6" fmla="*/ 0 w 229"/>
              <a:gd name="T7" fmla="*/ 81 h 132"/>
              <a:gd name="T8" fmla="*/ 1 w 229"/>
              <a:gd name="T9" fmla="*/ 66 h 132"/>
              <a:gd name="T10" fmla="*/ 16 w 229"/>
              <a:gd name="T11" fmla="*/ 50 h 132"/>
              <a:gd name="T12" fmla="*/ 56 w 229"/>
              <a:gd name="T13" fmla="*/ 23 h 132"/>
              <a:gd name="T14" fmla="*/ 94 w 229"/>
              <a:gd name="T15" fmla="*/ 5 h 132"/>
              <a:gd name="T16" fmla="*/ 130 w 229"/>
              <a:gd name="T17" fmla="*/ 0 h 132"/>
              <a:gd name="T18" fmla="*/ 166 w 229"/>
              <a:gd name="T19" fmla="*/ 11 h 132"/>
              <a:gd name="T20" fmla="*/ 199 w 229"/>
              <a:gd name="T21" fmla="*/ 34 h 132"/>
              <a:gd name="T22" fmla="*/ 221 w 229"/>
              <a:gd name="T23" fmla="*/ 59 h 132"/>
              <a:gd name="T24" fmla="*/ 229 w 229"/>
              <a:gd name="T25" fmla="*/ 85 h 132"/>
              <a:gd name="T26" fmla="*/ 215 w 229"/>
              <a:gd name="T27" fmla="*/ 106 h 132"/>
              <a:gd name="T28" fmla="*/ 152 w 229"/>
              <a:gd name="T29" fmla="*/ 121 h 132"/>
              <a:gd name="T30" fmla="*/ 119 w 229"/>
              <a:gd name="T31" fmla="*/ 119 h 132"/>
              <a:gd name="T32" fmla="*/ 64 w 229"/>
              <a:gd name="T33" fmla="*/ 132 h 132"/>
              <a:gd name="T34" fmla="*/ 64 w 229"/>
              <a:gd name="T35" fmla="*/ 132 h 132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229"/>
              <a:gd name="T55" fmla="*/ 0 h 132"/>
              <a:gd name="T56" fmla="*/ 229 w 229"/>
              <a:gd name="T57" fmla="*/ 132 h 132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229" h="132">
                <a:moveTo>
                  <a:pt x="64" y="132"/>
                </a:moveTo>
                <a:lnTo>
                  <a:pt x="19" y="106"/>
                </a:lnTo>
                <a:lnTo>
                  <a:pt x="6" y="96"/>
                </a:lnTo>
                <a:lnTo>
                  <a:pt x="0" y="81"/>
                </a:lnTo>
                <a:lnTo>
                  <a:pt x="1" y="66"/>
                </a:lnTo>
                <a:lnTo>
                  <a:pt x="16" y="50"/>
                </a:lnTo>
                <a:lnTo>
                  <a:pt x="56" y="23"/>
                </a:lnTo>
                <a:lnTo>
                  <a:pt x="94" y="5"/>
                </a:lnTo>
                <a:lnTo>
                  <a:pt x="130" y="0"/>
                </a:lnTo>
                <a:lnTo>
                  <a:pt x="166" y="11"/>
                </a:lnTo>
                <a:lnTo>
                  <a:pt x="199" y="34"/>
                </a:lnTo>
                <a:lnTo>
                  <a:pt x="221" y="59"/>
                </a:lnTo>
                <a:lnTo>
                  <a:pt x="229" y="85"/>
                </a:lnTo>
                <a:lnTo>
                  <a:pt x="215" y="106"/>
                </a:lnTo>
                <a:lnTo>
                  <a:pt x="152" y="121"/>
                </a:lnTo>
                <a:lnTo>
                  <a:pt x="119" y="119"/>
                </a:lnTo>
                <a:lnTo>
                  <a:pt x="64" y="132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4" name="Freeform 368"/>
          <p:cNvSpPr>
            <a:spLocks/>
          </p:cNvSpPr>
          <p:nvPr/>
        </p:nvSpPr>
        <p:spPr bwMode="auto">
          <a:xfrm>
            <a:off x="7069138" y="4708525"/>
            <a:ext cx="606425" cy="923925"/>
          </a:xfrm>
          <a:custGeom>
            <a:avLst/>
            <a:gdLst>
              <a:gd name="T0" fmla="*/ 91 w 891"/>
              <a:gd name="T1" fmla="*/ 0 h 1286"/>
              <a:gd name="T2" fmla="*/ 509 w 891"/>
              <a:gd name="T3" fmla="*/ 14 h 1286"/>
              <a:gd name="T4" fmla="*/ 766 w 891"/>
              <a:gd name="T5" fmla="*/ 234 h 1286"/>
              <a:gd name="T6" fmla="*/ 760 w 891"/>
              <a:gd name="T7" fmla="*/ 402 h 1286"/>
              <a:gd name="T8" fmla="*/ 763 w 891"/>
              <a:gd name="T9" fmla="*/ 568 h 1286"/>
              <a:gd name="T10" fmla="*/ 786 w 891"/>
              <a:gd name="T11" fmla="*/ 750 h 1286"/>
              <a:gd name="T12" fmla="*/ 855 w 891"/>
              <a:gd name="T13" fmla="*/ 1056 h 1286"/>
              <a:gd name="T14" fmla="*/ 891 w 891"/>
              <a:gd name="T15" fmla="*/ 1183 h 1286"/>
              <a:gd name="T16" fmla="*/ 785 w 891"/>
              <a:gd name="T17" fmla="*/ 1181 h 1286"/>
              <a:gd name="T18" fmla="*/ 699 w 891"/>
              <a:gd name="T19" fmla="*/ 1187 h 1286"/>
              <a:gd name="T20" fmla="*/ 633 w 891"/>
              <a:gd name="T21" fmla="*/ 1206 h 1286"/>
              <a:gd name="T22" fmla="*/ 515 w 891"/>
              <a:gd name="T23" fmla="*/ 1286 h 1286"/>
              <a:gd name="T24" fmla="*/ 456 w 891"/>
              <a:gd name="T25" fmla="*/ 511 h 1286"/>
              <a:gd name="T26" fmla="*/ 457 w 891"/>
              <a:gd name="T27" fmla="*/ 427 h 1286"/>
              <a:gd name="T28" fmla="*/ 451 w 891"/>
              <a:gd name="T29" fmla="*/ 358 h 1286"/>
              <a:gd name="T30" fmla="*/ 435 w 891"/>
              <a:gd name="T31" fmla="*/ 308 h 1286"/>
              <a:gd name="T32" fmla="*/ 410 w 891"/>
              <a:gd name="T33" fmla="*/ 279 h 1286"/>
              <a:gd name="T34" fmla="*/ 382 w 891"/>
              <a:gd name="T35" fmla="*/ 268 h 1286"/>
              <a:gd name="T36" fmla="*/ 360 w 891"/>
              <a:gd name="T37" fmla="*/ 276 h 1286"/>
              <a:gd name="T38" fmla="*/ 348 w 891"/>
              <a:gd name="T39" fmla="*/ 308 h 1286"/>
              <a:gd name="T40" fmla="*/ 319 w 891"/>
              <a:gd name="T41" fmla="*/ 504 h 1286"/>
              <a:gd name="T42" fmla="*/ 297 w 891"/>
              <a:gd name="T43" fmla="*/ 656 h 1286"/>
              <a:gd name="T44" fmla="*/ 327 w 891"/>
              <a:gd name="T45" fmla="*/ 1237 h 1286"/>
              <a:gd name="T46" fmla="*/ 279 w 891"/>
              <a:gd name="T47" fmla="*/ 1212 h 1286"/>
              <a:gd name="T48" fmla="*/ 235 w 891"/>
              <a:gd name="T49" fmla="*/ 1194 h 1286"/>
              <a:gd name="T50" fmla="*/ 189 w 891"/>
              <a:gd name="T51" fmla="*/ 1183 h 1286"/>
              <a:gd name="T52" fmla="*/ 97 w 891"/>
              <a:gd name="T53" fmla="*/ 1187 h 1286"/>
              <a:gd name="T54" fmla="*/ 45 w 891"/>
              <a:gd name="T55" fmla="*/ 1198 h 1286"/>
              <a:gd name="T56" fmla="*/ 17 w 891"/>
              <a:gd name="T57" fmla="*/ 1164 h 1286"/>
              <a:gd name="T58" fmla="*/ 0 w 891"/>
              <a:gd name="T59" fmla="*/ 1131 h 1286"/>
              <a:gd name="T60" fmla="*/ 1 w 891"/>
              <a:gd name="T61" fmla="*/ 1098 h 1286"/>
              <a:gd name="T62" fmla="*/ 9 w 891"/>
              <a:gd name="T63" fmla="*/ 1063 h 1286"/>
              <a:gd name="T64" fmla="*/ 14 w 891"/>
              <a:gd name="T65" fmla="*/ 999 h 1286"/>
              <a:gd name="T66" fmla="*/ 25 w 891"/>
              <a:gd name="T67" fmla="*/ 827 h 1286"/>
              <a:gd name="T68" fmla="*/ 36 w 891"/>
              <a:gd name="T69" fmla="*/ 585 h 1286"/>
              <a:gd name="T70" fmla="*/ 1 w 891"/>
              <a:gd name="T71" fmla="*/ 248 h 1286"/>
              <a:gd name="T72" fmla="*/ 17 w 891"/>
              <a:gd name="T73" fmla="*/ 130 h 1286"/>
              <a:gd name="T74" fmla="*/ 91 w 891"/>
              <a:gd name="T75" fmla="*/ 0 h 1286"/>
              <a:gd name="T76" fmla="*/ 91 w 891"/>
              <a:gd name="T77" fmla="*/ 0 h 1286"/>
              <a:gd name="T78" fmla="*/ 91 w 891"/>
              <a:gd name="T79" fmla="*/ 0 h 128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891"/>
              <a:gd name="T121" fmla="*/ 0 h 1286"/>
              <a:gd name="T122" fmla="*/ 891 w 891"/>
              <a:gd name="T123" fmla="*/ 1286 h 128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891" h="1286">
                <a:moveTo>
                  <a:pt x="91" y="0"/>
                </a:moveTo>
                <a:lnTo>
                  <a:pt x="509" y="14"/>
                </a:lnTo>
                <a:lnTo>
                  <a:pt x="766" y="234"/>
                </a:lnTo>
                <a:lnTo>
                  <a:pt x="760" y="402"/>
                </a:lnTo>
                <a:lnTo>
                  <a:pt x="763" y="568"/>
                </a:lnTo>
                <a:lnTo>
                  <a:pt x="786" y="750"/>
                </a:lnTo>
                <a:lnTo>
                  <a:pt x="855" y="1056"/>
                </a:lnTo>
                <a:lnTo>
                  <a:pt x="891" y="1183"/>
                </a:lnTo>
                <a:lnTo>
                  <a:pt x="785" y="1181"/>
                </a:lnTo>
                <a:lnTo>
                  <a:pt x="699" y="1187"/>
                </a:lnTo>
                <a:lnTo>
                  <a:pt x="633" y="1206"/>
                </a:lnTo>
                <a:lnTo>
                  <a:pt x="515" y="1286"/>
                </a:lnTo>
                <a:lnTo>
                  <a:pt x="456" y="511"/>
                </a:lnTo>
                <a:lnTo>
                  <a:pt x="457" y="427"/>
                </a:lnTo>
                <a:lnTo>
                  <a:pt x="451" y="358"/>
                </a:lnTo>
                <a:lnTo>
                  <a:pt x="435" y="308"/>
                </a:lnTo>
                <a:lnTo>
                  <a:pt x="410" y="279"/>
                </a:lnTo>
                <a:lnTo>
                  <a:pt x="382" y="268"/>
                </a:lnTo>
                <a:lnTo>
                  <a:pt x="360" y="276"/>
                </a:lnTo>
                <a:lnTo>
                  <a:pt x="348" y="308"/>
                </a:lnTo>
                <a:lnTo>
                  <a:pt x="319" y="504"/>
                </a:lnTo>
                <a:lnTo>
                  <a:pt x="297" y="656"/>
                </a:lnTo>
                <a:lnTo>
                  <a:pt x="327" y="1237"/>
                </a:lnTo>
                <a:lnTo>
                  <a:pt x="279" y="1212"/>
                </a:lnTo>
                <a:lnTo>
                  <a:pt x="235" y="1194"/>
                </a:lnTo>
                <a:lnTo>
                  <a:pt x="189" y="1183"/>
                </a:lnTo>
                <a:lnTo>
                  <a:pt x="97" y="1187"/>
                </a:lnTo>
                <a:lnTo>
                  <a:pt x="45" y="1198"/>
                </a:lnTo>
                <a:lnTo>
                  <a:pt x="17" y="1164"/>
                </a:lnTo>
                <a:lnTo>
                  <a:pt x="0" y="1131"/>
                </a:lnTo>
                <a:lnTo>
                  <a:pt x="1" y="1098"/>
                </a:lnTo>
                <a:lnTo>
                  <a:pt x="9" y="1063"/>
                </a:lnTo>
                <a:lnTo>
                  <a:pt x="14" y="999"/>
                </a:lnTo>
                <a:lnTo>
                  <a:pt x="25" y="827"/>
                </a:lnTo>
                <a:lnTo>
                  <a:pt x="36" y="585"/>
                </a:lnTo>
                <a:lnTo>
                  <a:pt x="1" y="248"/>
                </a:lnTo>
                <a:lnTo>
                  <a:pt x="17" y="130"/>
                </a:lnTo>
                <a:lnTo>
                  <a:pt x="91" y="0"/>
                </a:lnTo>
                <a:close/>
              </a:path>
            </a:pathLst>
          </a:custGeom>
          <a:solidFill>
            <a:srgbClr val="59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5" name="Freeform 369"/>
          <p:cNvSpPr>
            <a:spLocks/>
          </p:cNvSpPr>
          <p:nvPr/>
        </p:nvSpPr>
        <p:spPr bwMode="auto">
          <a:xfrm>
            <a:off x="6872288" y="5564188"/>
            <a:ext cx="449262" cy="190500"/>
          </a:xfrm>
          <a:custGeom>
            <a:avLst/>
            <a:gdLst>
              <a:gd name="T0" fmla="*/ 645 w 661"/>
              <a:gd name="T1" fmla="*/ 247 h 265"/>
              <a:gd name="T2" fmla="*/ 280 w 661"/>
              <a:gd name="T3" fmla="*/ 231 h 265"/>
              <a:gd name="T4" fmla="*/ 202 w 661"/>
              <a:gd name="T5" fmla="*/ 256 h 265"/>
              <a:gd name="T6" fmla="*/ 142 w 661"/>
              <a:gd name="T7" fmla="*/ 247 h 265"/>
              <a:gd name="T8" fmla="*/ 33 w 661"/>
              <a:gd name="T9" fmla="*/ 265 h 265"/>
              <a:gd name="T10" fmla="*/ 9 w 661"/>
              <a:gd name="T11" fmla="*/ 225 h 265"/>
              <a:gd name="T12" fmla="*/ 0 w 661"/>
              <a:gd name="T13" fmla="*/ 193 h 265"/>
              <a:gd name="T14" fmla="*/ 3 w 661"/>
              <a:gd name="T15" fmla="*/ 179 h 265"/>
              <a:gd name="T16" fmla="*/ 14 w 661"/>
              <a:gd name="T17" fmla="*/ 170 h 265"/>
              <a:gd name="T18" fmla="*/ 108 w 661"/>
              <a:gd name="T19" fmla="*/ 107 h 265"/>
              <a:gd name="T20" fmla="*/ 163 w 661"/>
              <a:gd name="T21" fmla="*/ 72 h 265"/>
              <a:gd name="T22" fmla="*/ 207 w 661"/>
              <a:gd name="T23" fmla="*/ 57 h 265"/>
              <a:gd name="T24" fmla="*/ 233 w 661"/>
              <a:gd name="T25" fmla="*/ 52 h 265"/>
              <a:gd name="T26" fmla="*/ 247 w 661"/>
              <a:gd name="T27" fmla="*/ 41 h 265"/>
              <a:gd name="T28" fmla="*/ 257 w 661"/>
              <a:gd name="T29" fmla="*/ 27 h 265"/>
              <a:gd name="T30" fmla="*/ 329 w 661"/>
              <a:gd name="T31" fmla="*/ 13 h 265"/>
              <a:gd name="T32" fmla="*/ 435 w 661"/>
              <a:gd name="T33" fmla="*/ 0 h 265"/>
              <a:gd name="T34" fmla="*/ 517 w 661"/>
              <a:gd name="T35" fmla="*/ 4 h 265"/>
              <a:gd name="T36" fmla="*/ 551 w 661"/>
              <a:gd name="T37" fmla="*/ 14 h 265"/>
              <a:gd name="T38" fmla="*/ 572 w 661"/>
              <a:gd name="T39" fmla="*/ 32 h 265"/>
              <a:gd name="T40" fmla="*/ 608 w 661"/>
              <a:gd name="T41" fmla="*/ 87 h 265"/>
              <a:gd name="T42" fmla="*/ 644 w 661"/>
              <a:gd name="T43" fmla="*/ 154 h 265"/>
              <a:gd name="T44" fmla="*/ 661 w 661"/>
              <a:gd name="T45" fmla="*/ 214 h 265"/>
              <a:gd name="T46" fmla="*/ 661 w 661"/>
              <a:gd name="T47" fmla="*/ 234 h 265"/>
              <a:gd name="T48" fmla="*/ 647 w 661"/>
              <a:gd name="T49" fmla="*/ 247 h 265"/>
              <a:gd name="T50" fmla="*/ 647 w 661"/>
              <a:gd name="T51" fmla="*/ 247 h 265"/>
              <a:gd name="T52" fmla="*/ 645 w 661"/>
              <a:gd name="T53" fmla="*/ 247 h 265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661"/>
              <a:gd name="T82" fmla="*/ 0 h 265"/>
              <a:gd name="T83" fmla="*/ 661 w 661"/>
              <a:gd name="T84" fmla="*/ 265 h 265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661" h="265">
                <a:moveTo>
                  <a:pt x="645" y="247"/>
                </a:moveTo>
                <a:lnTo>
                  <a:pt x="280" y="231"/>
                </a:lnTo>
                <a:lnTo>
                  <a:pt x="202" y="256"/>
                </a:lnTo>
                <a:lnTo>
                  <a:pt x="142" y="247"/>
                </a:lnTo>
                <a:lnTo>
                  <a:pt x="33" y="265"/>
                </a:lnTo>
                <a:lnTo>
                  <a:pt x="9" y="225"/>
                </a:lnTo>
                <a:lnTo>
                  <a:pt x="0" y="193"/>
                </a:lnTo>
                <a:lnTo>
                  <a:pt x="3" y="179"/>
                </a:lnTo>
                <a:lnTo>
                  <a:pt x="14" y="170"/>
                </a:lnTo>
                <a:lnTo>
                  <a:pt x="108" y="107"/>
                </a:lnTo>
                <a:lnTo>
                  <a:pt x="163" y="72"/>
                </a:lnTo>
                <a:lnTo>
                  <a:pt x="207" y="57"/>
                </a:lnTo>
                <a:lnTo>
                  <a:pt x="233" y="52"/>
                </a:lnTo>
                <a:lnTo>
                  <a:pt x="247" y="41"/>
                </a:lnTo>
                <a:lnTo>
                  <a:pt x="257" y="27"/>
                </a:lnTo>
                <a:lnTo>
                  <a:pt x="329" y="13"/>
                </a:lnTo>
                <a:lnTo>
                  <a:pt x="435" y="0"/>
                </a:lnTo>
                <a:lnTo>
                  <a:pt x="517" y="4"/>
                </a:lnTo>
                <a:lnTo>
                  <a:pt x="551" y="14"/>
                </a:lnTo>
                <a:lnTo>
                  <a:pt x="572" y="32"/>
                </a:lnTo>
                <a:lnTo>
                  <a:pt x="608" y="87"/>
                </a:lnTo>
                <a:lnTo>
                  <a:pt x="644" y="154"/>
                </a:lnTo>
                <a:lnTo>
                  <a:pt x="661" y="214"/>
                </a:lnTo>
                <a:lnTo>
                  <a:pt x="661" y="234"/>
                </a:lnTo>
                <a:lnTo>
                  <a:pt x="647" y="247"/>
                </a:lnTo>
                <a:lnTo>
                  <a:pt x="645" y="247"/>
                </a:lnTo>
                <a:close/>
              </a:path>
            </a:pathLst>
          </a:custGeom>
          <a:solidFill>
            <a:srgbClr val="CC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6" name="Freeform 370"/>
          <p:cNvSpPr>
            <a:spLocks/>
          </p:cNvSpPr>
          <p:nvPr/>
        </p:nvSpPr>
        <p:spPr bwMode="auto">
          <a:xfrm>
            <a:off x="7423150" y="5553075"/>
            <a:ext cx="442913" cy="182563"/>
          </a:xfrm>
          <a:custGeom>
            <a:avLst/>
            <a:gdLst>
              <a:gd name="T0" fmla="*/ 0 w 653"/>
              <a:gd name="T1" fmla="*/ 102 h 256"/>
              <a:gd name="T2" fmla="*/ 30 w 653"/>
              <a:gd name="T3" fmla="*/ 228 h 256"/>
              <a:gd name="T4" fmla="*/ 299 w 653"/>
              <a:gd name="T5" fmla="*/ 247 h 256"/>
              <a:gd name="T6" fmla="*/ 494 w 653"/>
              <a:gd name="T7" fmla="*/ 256 h 256"/>
              <a:gd name="T8" fmla="*/ 564 w 653"/>
              <a:gd name="T9" fmla="*/ 256 h 256"/>
              <a:gd name="T10" fmla="*/ 597 w 653"/>
              <a:gd name="T11" fmla="*/ 251 h 256"/>
              <a:gd name="T12" fmla="*/ 625 w 653"/>
              <a:gd name="T13" fmla="*/ 234 h 256"/>
              <a:gd name="T14" fmla="*/ 647 w 653"/>
              <a:gd name="T15" fmla="*/ 212 h 256"/>
              <a:gd name="T16" fmla="*/ 653 w 653"/>
              <a:gd name="T17" fmla="*/ 196 h 256"/>
              <a:gd name="T18" fmla="*/ 653 w 653"/>
              <a:gd name="T19" fmla="*/ 181 h 256"/>
              <a:gd name="T20" fmla="*/ 646 w 653"/>
              <a:gd name="T21" fmla="*/ 162 h 256"/>
              <a:gd name="T22" fmla="*/ 628 w 653"/>
              <a:gd name="T23" fmla="*/ 142 h 256"/>
              <a:gd name="T24" fmla="*/ 570 w 653"/>
              <a:gd name="T25" fmla="*/ 102 h 256"/>
              <a:gd name="T26" fmla="*/ 498 w 653"/>
              <a:gd name="T27" fmla="*/ 76 h 256"/>
              <a:gd name="T28" fmla="*/ 415 w 653"/>
              <a:gd name="T29" fmla="*/ 52 h 256"/>
              <a:gd name="T30" fmla="*/ 356 w 653"/>
              <a:gd name="T31" fmla="*/ 24 h 256"/>
              <a:gd name="T32" fmla="*/ 307 w 653"/>
              <a:gd name="T33" fmla="*/ 8 h 256"/>
              <a:gd name="T34" fmla="*/ 263 w 653"/>
              <a:gd name="T35" fmla="*/ 0 h 256"/>
              <a:gd name="T36" fmla="*/ 223 w 653"/>
              <a:gd name="T37" fmla="*/ 4 h 256"/>
              <a:gd name="T38" fmla="*/ 94 w 653"/>
              <a:gd name="T39" fmla="*/ 58 h 256"/>
              <a:gd name="T40" fmla="*/ 0 w 653"/>
              <a:gd name="T41" fmla="*/ 102 h 256"/>
              <a:gd name="T42" fmla="*/ 0 w 653"/>
              <a:gd name="T43" fmla="*/ 102 h 256"/>
              <a:gd name="T44" fmla="*/ 0 w 653"/>
              <a:gd name="T45" fmla="*/ 102 h 25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653"/>
              <a:gd name="T70" fmla="*/ 0 h 256"/>
              <a:gd name="T71" fmla="*/ 653 w 653"/>
              <a:gd name="T72" fmla="*/ 256 h 25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653" h="256">
                <a:moveTo>
                  <a:pt x="0" y="102"/>
                </a:moveTo>
                <a:lnTo>
                  <a:pt x="30" y="228"/>
                </a:lnTo>
                <a:lnTo>
                  <a:pt x="299" y="247"/>
                </a:lnTo>
                <a:lnTo>
                  <a:pt x="494" y="256"/>
                </a:lnTo>
                <a:lnTo>
                  <a:pt x="564" y="256"/>
                </a:lnTo>
                <a:lnTo>
                  <a:pt x="597" y="251"/>
                </a:lnTo>
                <a:lnTo>
                  <a:pt x="625" y="234"/>
                </a:lnTo>
                <a:lnTo>
                  <a:pt x="647" y="212"/>
                </a:lnTo>
                <a:lnTo>
                  <a:pt x="653" y="196"/>
                </a:lnTo>
                <a:lnTo>
                  <a:pt x="653" y="181"/>
                </a:lnTo>
                <a:lnTo>
                  <a:pt x="646" y="162"/>
                </a:lnTo>
                <a:lnTo>
                  <a:pt x="628" y="142"/>
                </a:lnTo>
                <a:lnTo>
                  <a:pt x="570" y="102"/>
                </a:lnTo>
                <a:lnTo>
                  <a:pt x="498" y="76"/>
                </a:lnTo>
                <a:lnTo>
                  <a:pt x="415" y="52"/>
                </a:lnTo>
                <a:lnTo>
                  <a:pt x="356" y="24"/>
                </a:lnTo>
                <a:lnTo>
                  <a:pt x="307" y="8"/>
                </a:lnTo>
                <a:lnTo>
                  <a:pt x="263" y="0"/>
                </a:lnTo>
                <a:lnTo>
                  <a:pt x="223" y="4"/>
                </a:lnTo>
                <a:lnTo>
                  <a:pt x="94" y="58"/>
                </a:lnTo>
                <a:lnTo>
                  <a:pt x="0" y="102"/>
                </a:lnTo>
                <a:close/>
              </a:path>
            </a:pathLst>
          </a:custGeom>
          <a:solidFill>
            <a:srgbClr val="CC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7" name="Freeform 371"/>
          <p:cNvSpPr>
            <a:spLocks/>
          </p:cNvSpPr>
          <p:nvPr/>
        </p:nvSpPr>
        <p:spPr bwMode="auto">
          <a:xfrm>
            <a:off x="7413625" y="4095750"/>
            <a:ext cx="395288" cy="814388"/>
          </a:xfrm>
          <a:custGeom>
            <a:avLst/>
            <a:gdLst>
              <a:gd name="T0" fmla="*/ 47 w 583"/>
              <a:gd name="T1" fmla="*/ 139 h 1133"/>
              <a:gd name="T2" fmla="*/ 232 w 583"/>
              <a:gd name="T3" fmla="*/ 0 h 1133"/>
              <a:gd name="T4" fmla="*/ 285 w 583"/>
              <a:gd name="T5" fmla="*/ 254 h 1133"/>
              <a:gd name="T6" fmla="*/ 370 w 583"/>
              <a:gd name="T7" fmla="*/ 31 h 1133"/>
              <a:gd name="T8" fmla="*/ 401 w 583"/>
              <a:gd name="T9" fmla="*/ 114 h 1133"/>
              <a:gd name="T10" fmla="*/ 434 w 583"/>
              <a:gd name="T11" fmla="*/ 177 h 1133"/>
              <a:gd name="T12" fmla="*/ 464 w 583"/>
              <a:gd name="T13" fmla="*/ 222 h 1133"/>
              <a:gd name="T14" fmla="*/ 539 w 583"/>
              <a:gd name="T15" fmla="*/ 299 h 1133"/>
              <a:gd name="T16" fmla="*/ 583 w 583"/>
              <a:gd name="T17" fmla="*/ 348 h 1133"/>
              <a:gd name="T18" fmla="*/ 583 w 583"/>
              <a:gd name="T19" fmla="*/ 407 h 1133"/>
              <a:gd name="T20" fmla="*/ 494 w 583"/>
              <a:gd name="T21" fmla="*/ 561 h 1133"/>
              <a:gd name="T22" fmla="*/ 315 w 583"/>
              <a:gd name="T23" fmla="*/ 751 h 1133"/>
              <a:gd name="T24" fmla="*/ 390 w 583"/>
              <a:gd name="T25" fmla="*/ 1039 h 1133"/>
              <a:gd name="T26" fmla="*/ 63 w 583"/>
              <a:gd name="T27" fmla="*/ 1133 h 1133"/>
              <a:gd name="T28" fmla="*/ 0 w 583"/>
              <a:gd name="T29" fmla="*/ 859 h 1133"/>
              <a:gd name="T30" fmla="*/ 23 w 583"/>
              <a:gd name="T31" fmla="*/ 497 h 1133"/>
              <a:gd name="T32" fmla="*/ 48 w 583"/>
              <a:gd name="T33" fmla="*/ 139 h 1133"/>
              <a:gd name="T34" fmla="*/ 48 w 583"/>
              <a:gd name="T35" fmla="*/ 139 h 1133"/>
              <a:gd name="T36" fmla="*/ 47 w 583"/>
              <a:gd name="T37" fmla="*/ 139 h 1133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83"/>
              <a:gd name="T58" fmla="*/ 0 h 1133"/>
              <a:gd name="T59" fmla="*/ 583 w 583"/>
              <a:gd name="T60" fmla="*/ 1133 h 1133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83" h="1133">
                <a:moveTo>
                  <a:pt x="47" y="139"/>
                </a:moveTo>
                <a:lnTo>
                  <a:pt x="232" y="0"/>
                </a:lnTo>
                <a:lnTo>
                  <a:pt x="285" y="254"/>
                </a:lnTo>
                <a:lnTo>
                  <a:pt x="370" y="31"/>
                </a:lnTo>
                <a:lnTo>
                  <a:pt x="401" y="114"/>
                </a:lnTo>
                <a:lnTo>
                  <a:pt x="434" y="177"/>
                </a:lnTo>
                <a:lnTo>
                  <a:pt x="464" y="222"/>
                </a:lnTo>
                <a:lnTo>
                  <a:pt x="539" y="299"/>
                </a:lnTo>
                <a:lnTo>
                  <a:pt x="583" y="348"/>
                </a:lnTo>
                <a:lnTo>
                  <a:pt x="583" y="407"/>
                </a:lnTo>
                <a:lnTo>
                  <a:pt x="494" y="561"/>
                </a:lnTo>
                <a:lnTo>
                  <a:pt x="315" y="751"/>
                </a:lnTo>
                <a:lnTo>
                  <a:pt x="390" y="1039"/>
                </a:lnTo>
                <a:lnTo>
                  <a:pt x="63" y="1133"/>
                </a:lnTo>
                <a:lnTo>
                  <a:pt x="0" y="859"/>
                </a:lnTo>
                <a:lnTo>
                  <a:pt x="23" y="497"/>
                </a:lnTo>
                <a:lnTo>
                  <a:pt x="48" y="139"/>
                </a:lnTo>
                <a:lnTo>
                  <a:pt x="47" y="139"/>
                </a:lnTo>
                <a:close/>
              </a:path>
            </a:pathLst>
          </a:custGeom>
          <a:solidFill>
            <a:srgbClr val="59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8" name="Freeform 372"/>
          <p:cNvSpPr>
            <a:spLocks/>
          </p:cNvSpPr>
          <p:nvPr/>
        </p:nvSpPr>
        <p:spPr bwMode="auto">
          <a:xfrm>
            <a:off x="6750050" y="3830638"/>
            <a:ext cx="428625" cy="1027112"/>
          </a:xfrm>
          <a:custGeom>
            <a:avLst/>
            <a:gdLst>
              <a:gd name="T0" fmla="*/ 0 w 633"/>
              <a:gd name="T1" fmla="*/ 285 h 1433"/>
              <a:gd name="T2" fmla="*/ 89 w 633"/>
              <a:gd name="T3" fmla="*/ 285 h 1433"/>
              <a:gd name="T4" fmla="*/ 152 w 633"/>
              <a:gd name="T5" fmla="*/ 274 h 1433"/>
              <a:gd name="T6" fmla="*/ 172 w 633"/>
              <a:gd name="T7" fmla="*/ 266 h 1433"/>
              <a:gd name="T8" fmla="*/ 182 w 633"/>
              <a:gd name="T9" fmla="*/ 257 h 1433"/>
              <a:gd name="T10" fmla="*/ 210 w 633"/>
              <a:gd name="T11" fmla="*/ 127 h 1433"/>
              <a:gd name="T12" fmla="*/ 216 w 633"/>
              <a:gd name="T13" fmla="*/ 84 h 1433"/>
              <a:gd name="T14" fmla="*/ 216 w 633"/>
              <a:gd name="T15" fmla="*/ 48 h 1433"/>
              <a:gd name="T16" fmla="*/ 210 w 633"/>
              <a:gd name="T17" fmla="*/ 20 h 1433"/>
              <a:gd name="T18" fmla="*/ 197 w 633"/>
              <a:gd name="T19" fmla="*/ 3 h 1433"/>
              <a:gd name="T20" fmla="*/ 193 w 633"/>
              <a:gd name="T21" fmla="*/ 0 h 1433"/>
              <a:gd name="T22" fmla="*/ 194 w 633"/>
              <a:gd name="T23" fmla="*/ 4 h 1433"/>
              <a:gd name="T24" fmla="*/ 213 w 633"/>
              <a:gd name="T25" fmla="*/ 25 h 1433"/>
              <a:gd name="T26" fmla="*/ 298 w 633"/>
              <a:gd name="T27" fmla="*/ 111 h 1433"/>
              <a:gd name="T28" fmla="*/ 398 w 633"/>
              <a:gd name="T29" fmla="*/ 215 h 1433"/>
              <a:gd name="T30" fmla="*/ 464 w 633"/>
              <a:gd name="T31" fmla="*/ 291 h 1433"/>
              <a:gd name="T32" fmla="*/ 489 w 633"/>
              <a:gd name="T33" fmla="*/ 326 h 1433"/>
              <a:gd name="T34" fmla="*/ 508 w 633"/>
              <a:gd name="T35" fmla="*/ 340 h 1433"/>
              <a:gd name="T36" fmla="*/ 523 w 633"/>
              <a:gd name="T37" fmla="*/ 340 h 1433"/>
              <a:gd name="T38" fmla="*/ 567 w 633"/>
              <a:gd name="T39" fmla="*/ 375 h 1433"/>
              <a:gd name="T40" fmla="*/ 600 w 633"/>
              <a:gd name="T41" fmla="*/ 422 h 1433"/>
              <a:gd name="T42" fmla="*/ 614 w 633"/>
              <a:gd name="T43" fmla="*/ 454 h 1433"/>
              <a:gd name="T44" fmla="*/ 622 w 633"/>
              <a:gd name="T45" fmla="*/ 494 h 1433"/>
              <a:gd name="T46" fmla="*/ 633 w 633"/>
              <a:gd name="T47" fmla="*/ 625 h 1433"/>
              <a:gd name="T48" fmla="*/ 632 w 633"/>
              <a:gd name="T49" fmla="*/ 770 h 1433"/>
              <a:gd name="T50" fmla="*/ 619 w 633"/>
              <a:gd name="T51" fmla="*/ 917 h 1433"/>
              <a:gd name="T52" fmla="*/ 599 w 633"/>
              <a:gd name="T53" fmla="*/ 1063 h 1433"/>
              <a:gd name="T54" fmla="*/ 577 w 633"/>
              <a:gd name="T55" fmla="*/ 1193 h 1433"/>
              <a:gd name="T56" fmla="*/ 552 w 633"/>
              <a:gd name="T57" fmla="*/ 1303 h 1433"/>
              <a:gd name="T58" fmla="*/ 531 w 633"/>
              <a:gd name="T59" fmla="*/ 1380 h 1433"/>
              <a:gd name="T60" fmla="*/ 512 w 633"/>
              <a:gd name="T61" fmla="*/ 1419 h 1433"/>
              <a:gd name="T62" fmla="*/ 500 w 633"/>
              <a:gd name="T63" fmla="*/ 1428 h 1433"/>
              <a:gd name="T64" fmla="*/ 486 w 633"/>
              <a:gd name="T65" fmla="*/ 1433 h 1433"/>
              <a:gd name="T66" fmla="*/ 465 w 633"/>
              <a:gd name="T67" fmla="*/ 1430 h 1433"/>
              <a:gd name="T68" fmla="*/ 445 w 633"/>
              <a:gd name="T69" fmla="*/ 1414 h 1433"/>
              <a:gd name="T70" fmla="*/ 227 w 633"/>
              <a:gd name="T71" fmla="*/ 1238 h 1433"/>
              <a:gd name="T72" fmla="*/ 292 w 633"/>
              <a:gd name="T73" fmla="*/ 986 h 1433"/>
              <a:gd name="T74" fmla="*/ 359 w 633"/>
              <a:gd name="T75" fmla="*/ 683 h 1433"/>
              <a:gd name="T76" fmla="*/ 379 w 633"/>
              <a:gd name="T77" fmla="*/ 652 h 1433"/>
              <a:gd name="T78" fmla="*/ 334 w 633"/>
              <a:gd name="T79" fmla="*/ 581 h 1433"/>
              <a:gd name="T80" fmla="*/ 277 w 633"/>
              <a:gd name="T81" fmla="*/ 512 h 1433"/>
              <a:gd name="T82" fmla="*/ 197 w 633"/>
              <a:gd name="T83" fmla="*/ 440 h 1433"/>
              <a:gd name="T84" fmla="*/ 0 w 633"/>
              <a:gd name="T85" fmla="*/ 287 h 1433"/>
              <a:gd name="T86" fmla="*/ 0 w 633"/>
              <a:gd name="T87" fmla="*/ 287 h 1433"/>
              <a:gd name="T88" fmla="*/ 0 w 633"/>
              <a:gd name="T89" fmla="*/ 285 h 143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633"/>
              <a:gd name="T136" fmla="*/ 0 h 1433"/>
              <a:gd name="T137" fmla="*/ 633 w 633"/>
              <a:gd name="T138" fmla="*/ 1433 h 1433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633" h="1433">
                <a:moveTo>
                  <a:pt x="0" y="285"/>
                </a:moveTo>
                <a:lnTo>
                  <a:pt x="89" y="285"/>
                </a:lnTo>
                <a:lnTo>
                  <a:pt x="152" y="274"/>
                </a:lnTo>
                <a:lnTo>
                  <a:pt x="172" y="266"/>
                </a:lnTo>
                <a:lnTo>
                  <a:pt x="182" y="257"/>
                </a:lnTo>
                <a:lnTo>
                  <a:pt x="210" y="127"/>
                </a:lnTo>
                <a:lnTo>
                  <a:pt x="216" y="84"/>
                </a:lnTo>
                <a:lnTo>
                  <a:pt x="216" y="48"/>
                </a:lnTo>
                <a:lnTo>
                  <a:pt x="210" y="20"/>
                </a:lnTo>
                <a:lnTo>
                  <a:pt x="197" y="3"/>
                </a:lnTo>
                <a:lnTo>
                  <a:pt x="193" y="0"/>
                </a:lnTo>
                <a:lnTo>
                  <a:pt x="194" y="4"/>
                </a:lnTo>
                <a:lnTo>
                  <a:pt x="213" y="25"/>
                </a:lnTo>
                <a:lnTo>
                  <a:pt x="298" y="111"/>
                </a:lnTo>
                <a:lnTo>
                  <a:pt x="398" y="215"/>
                </a:lnTo>
                <a:lnTo>
                  <a:pt x="464" y="291"/>
                </a:lnTo>
                <a:lnTo>
                  <a:pt x="489" y="326"/>
                </a:lnTo>
                <a:lnTo>
                  <a:pt x="508" y="340"/>
                </a:lnTo>
                <a:lnTo>
                  <a:pt x="523" y="340"/>
                </a:lnTo>
                <a:lnTo>
                  <a:pt x="567" y="375"/>
                </a:lnTo>
                <a:lnTo>
                  <a:pt x="600" y="422"/>
                </a:lnTo>
                <a:lnTo>
                  <a:pt x="614" y="454"/>
                </a:lnTo>
                <a:lnTo>
                  <a:pt x="622" y="494"/>
                </a:lnTo>
                <a:lnTo>
                  <a:pt x="633" y="625"/>
                </a:lnTo>
                <a:lnTo>
                  <a:pt x="632" y="770"/>
                </a:lnTo>
                <a:lnTo>
                  <a:pt x="619" y="917"/>
                </a:lnTo>
                <a:lnTo>
                  <a:pt x="599" y="1063"/>
                </a:lnTo>
                <a:lnTo>
                  <a:pt x="577" y="1193"/>
                </a:lnTo>
                <a:lnTo>
                  <a:pt x="552" y="1303"/>
                </a:lnTo>
                <a:lnTo>
                  <a:pt x="531" y="1380"/>
                </a:lnTo>
                <a:lnTo>
                  <a:pt x="512" y="1419"/>
                </a:lnTo>
                <a:lnTo>
                  <a:pt x="500" y="1428"/>
                </a:lnTo>
                <a:lnTo>
                  <a:pt x="486" y="1433"/>
                </a:lnTo>
                <a:lnTo>
                  <a:pt x="465" y="1430"/>
                </a:lnTo>
                <a:lnTo>
                  <a:pt x="445" y="1414"/>
                </a:lnTo>
                <a:lnTo>
                  <a:pt x="227" y="1238"/>
                </a:lnTo>
                <a:lnTo>
                  <a:pt x="292" y="986"/>
                </a:lnTo>
                <a:lnTo>
                  <a:pt x="359" y="683"/>
                </a:lnTo>
                <a:lnTo>
                  <a:pt x="379" y="652"/>
                </a:lnTo>
                <a:lnTo>
                  <a:pt x="334" y="581"/>
                </a:lnTo>
                <a:lnTo>
                  <a:pt x="277" y="512"/>
                </a:lnTo>
                <a:lnTo>
                  <a:pt x="197" y="440"/>
                </a:lnTo>
                <a:lnTo>
                  <a:pt x="0" y="287"/>
                </a:lnTo>
                <a:lnTo>
                  <a:pt x="0" y="285"/>
                </a:lnTo>
                <a:close/>
              </a:path>
            </a:pathLst>
          </a:custGeom>
          <a:solidFill>
            <a:srgbClr val="59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9" name="Freeform 373"/>
          <p:cNvSpPr>
            <a:spLocks/>
          </p:cNvSpPr>
          <p:nvPr/>
        </p:nvSpPr>
        <p:spPr bwMode="auto">
          <a:xfrm>
            <a:off x="6499225" y="3592513"/>
            <a:ext cx="354013" cy="404812"/>
          </a:xfrm>
          <a:custGeom>
            <a:avLst/>
            <a:gdLst>
              <a:gd name="T0" fmla="*/ 511 w 524"/>
              <a:gd name="T1" fmla="*/ 357 h 563"/>
              <a:gd name="T2" fmla="*/ 524 w 524"/>
              <a:gd name="T3" fmla="*/ 469 h 563"/>
              <a:gd name="T4" fmla="*/ 441 w 524"/>
              <a:gd name="T5" fmla="*/ 563 h 563"/>
              <a:gd name="T6" fmla="*/ 364 w 524"/>
              <a:gd name="T7" fmla="*/ 527 h 563"/>
              <a:gd name="T8" fmla="*/ 259 w 524"/>
              <a:gd name="T9" fmla="*/ 502 h 563"/>
              <a:gd name="T10" fmla="*/ 160 w 524"/>
              <a:gd name="T11" fmla="*/ 527 h 563"/>
              <a:gd name="T12" fmla="*/ 80 w 524"/>
              <a:gd name="T13" fmla="*/ 510 h 563"/>
              <a:gd name="T14" fmla="*/ 72 w 524"/>
              <a:gd name="T15" fmla="*/ 506 h 563"/>
              <a:gd name="T16" fmla="*/ 57 w 524"/>
              <a:gd name="T17" fmla="*/ 499 h 563"/>
              <a:gd name="T18" fmla="*/ 55 w 524"/>
              <a:gd name="T19" fmla="*/ 478 h 563"/>
              <a:gd name="T20" fmla="*/ 86 w 524"/>
              <a:gd name="T21" fmla="*/ 445 h 563"/>
              <a:gd name="T22" fmla="*/ 135 w 524"/>
              <a:gd name="T23" fmla="*/ 406 h 563"/>
              <a:gd name="T24" fmla="*/ 163 w 524"/>
              <a:gd name="T25" fmla="*/ 373 h 563"/>
              <a:gd name="T26" fmla="*/ 176 w 524"/>
              <a:gd name="T27" fmla="*/ 346 h 563"/>
              <a:gd name="T28" fmla="*/ 169 w 524"/>
              <a:gd name="T29" fmla="*/ 332 h 563"/>
              <a:gd name="T30" fmla="*/ 96 w 524"/>
              <a:gd name="T31" fmla="*/ 309 h 563"/>
              <a:gd name="T32" fmla="*/ 36 w 524"/>
              <a:gd name="T33" fmla="*/ 296 h 563"/>
              <a:gd name="T34" fmla="*/ 0 w 524"/>
              <a:gd name="T35" fmla="*/ 234 h 563"/>
              <a:gd name="T36" fmla="*/ 3 w 524"/>
              <a:gd name="T37" fmla="*/ 215 h 563"/>
              <a:gd name="T38" fmla="*/ 17 w 524"/>
              <a:gd name="T39" fmla="*/ 202 h 563"/>
              <a:gd name="T40" fmla="*/ 49 w 524"/>
              <a:gd name="T41" fmla="*/ 198 h 563"/>
              <a:gd name="T42" fmla="*/ 101 w 524"/>
              <a:gd name="T43" fmla="*/ 199 h 563"/>
              <a:gd name="T44" fmla="*/ 158 w 524"/>
              <a:gd name="T45" fmla="*/ 207 h 563"/>
              <a:gd name="T46" fmla="*/ 223 w 524"/>
              <a:gd name="T47" fmla="*/ 218 h 563"/>
              <a:gd name="T48" fmla="*/ 137 w 524"/>
              <a:gd name="T49" fmla="*/ 141 h 563"/>
              <a:gd name="T50" fmla="*/ 93 w 524"/>
              <a:gd name="T51" fmla="*/ 60 h 563"/>
              <a:gd name="T52" fmla="*/ 94 w 524"/>
              <a:gd name="T53" fmla="*/ 27 h 563"/>
              <a:gd name="T54" fmla="*/ 107 w 524"/>
              <a:gd name="T55" fmla="*/ 5 h 563"/>
              <a:gd name="T56" fmla="*/ 119 w 524"/>
              <a:gd name="T57" fmla="*/ 0 h 563"/>
              <a:gd name="T58" fmla="*/ 137 w 524"/>
              <a:gd name="T59" fmla="*/ 2 h 563"/>
              <a:gd name="T60" fmla="*/ 180 w 524"/>
              <a:gd name="T61" fmla="*/ 23 h 563"/>
              <a:gd name="T62" fmla="*/ 223 w 524"/>
              <a:gd name="T63" fmla="*/ 58 h 563"/>
              <a:gd name="T64" fmla="*/ 263 w 524"/>
              <a:gd name="T65" fmla="*/ 96 h 563"/>
              <a:gd name="T66" fmla="*/ 289 w 524"/>
              <a:gd name="T67" fmla="*/ 130 h 563"/>
              <a:gd name="T68" fmla="*/ 312 w 524"/>
              <a:gd name="T69" fmla="*/ 155 h 563"/>
              <a:gd name="T70" fmla="*/ 323 w 524"/>
              <a:gd name="T71" fmla="*/ 154 h 563"/>
              <a:gd name="T72" fmla="*/ 375 w 524"/>
              <a:gd name="T73" fmla="*/ 63 h 563"/>
              <a:gd name="T74" fmla="*/ 395 w 524"/>
              <a:gd name="T75" fmla="*/ 45 h 563"/>
              <a:gd name="T76" fmla="*/ 420 w 524"/>
              <a:gd name="T77" fmla="*/ 39 h 563"/>
              <a:gd name="T78" fmla="*/ 436 w 524"/>
              <a:gd name="T79" fmla="*/ 42 h 563"/>
              <a:gd name="T80" fmla="*/ 450 w 524"/>
              <a:gd name="T81" fmla="*/ 50 h 563"/>
              <a:gd name="T82" fmla="*/ 475 w 524"/>
              <a:gd name="T83" fmla="*/ 74 h 563"/>
              <a:gd name="T84" fmla="*/ 486 w 524"/>
              <a:gd name="T85" fmla="*/ 92 h 563"/>
              <a:gd name="T86" fmla="*/ 491 w 524"/>
              <a:gd name="T87" fmla="*/ 107 h 563"/>
              <a:gd name="T88" fmla="*/ 491 w 524"/>
              <a:gd name="T89" fmla="*/ 113 h 563"/>
              <a:gd name="T90" fmla="*/ 447 w 524"/>
              <a:gd name="T91" fmla="*/ 177 h 563"/>
              <a:gd name="T92" fmla="*/ 420 w 524"/>
              <a:gd name="T93" fmla="*/ 227 h 563"/>
              <a:gd name="T94" fmla="*/ 412 w 524"/>
              <a:gd name="T95" fmla="*/ 265 h 563"/>
              <a:gd name="T96" fmla="*/ 422 w 524"/>
              <a:gd name="T97" fmla="*/ 293 h 563"/>
              <a:gd name="T98" fmla="*/ 433 w 524"/>
              <a:gd name="T99" fmla="*/ 326 h 563"/>
              <a:gd name="T100" fmla="*/ 461 w 524"/>
              <a:gd name="T101" fmla="*/ 351 h 563"/>
              <a:gd name="T102" fmla="*/ 481 w 524"/>
              <a:gd name="T103" fmla="*/ 356 h 563"/>
              <a:gd name="T104" fmla="*/ 511 w 524"/>
              <a:gd name="T105" fmla="*/ 357 h 563"/>
              <a:gd name="T106" fmla="*/ 511 w 524"/>
              <a:gd name="T107" fmla="*/ 357 h 563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524"/>
              <a:gd name="T163" fmla="*/ 0 h 563"/>
              <a:gd name="T164" fmla="*/ 524 w 524"/>
              <a:gd name="T165" fmla="*/ 563 h 563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524" h="563">
                <a:moveTo>
                  <a:pt x="511" y="357"/>
                </a:moveTo>
                <a:lnTo>
                  <a:pt x="524" y="469"/>
                </a:lnTo>
                <a:lnTo>
                  <a:pt x="441" y="563"/>
                </a:lnTo>
                <a:lnTo>
                  <a:pt x="364" y="527"/>
                </a:lnTo>
                <a:lnTo>
                  <a:pt x="259" y="502"/>
                </a:lnTo>
                <a:lnTo>
                  <a:pt x="160" y="527"/>
                </a:lnTo>
                <a:lnTo>
                  <a:pt x="80" y="510"/>
                </a:lnTo>
                <a:lnTo>
                  <a:pt x="72" y="506"/>
                </a:lnTo>
                <a:lnTo>
                  <a:pt x="57" y="499"/>
                </a:lnTo>
                <a:lnTo>
                  <a:pt x="55" y="478"/>
                </a:lnTo>
                <a:lnTo>
                  <a:pt x="86" y="445"/>
                </a:lnTo>
                <a:lnTo>
                  <a:pt x="135" y="406"/>
                </a:lnTo>
                <a:lnTo>
                  <a:pt x="163" y="373"/>
                </a:lnTo>
                <a:lnTo>
                  <a:pt x="176" y="346"/>
                </a:lnTo>
                <a:lnTo>
                  <a:pt x="169" y="332"/>
                </a:lnTo>
                <a:lnTo>
                  <a:pt x="96" y="309"/>
                </a:lnTo>
                <a:lnTo>
                  <a:pt x="36" y="296"/>
                </a:lnTo>
                <a:lnTo>
                  <a:pt x="0" y="234"/>
                </a:lnTo>
                <a:lnTo>
                  <a:pt x="3" y="215"/>
                </a:lnTo>
                <a:lnTo>
                  <a:pt x="17" y="202"/>
                </a:lnTo>
                <a:lnTo>
                  <a:pt x="49" y="198"/>
                </a:lnTo>
                <a:lnTo>
                  <a:pt x="101" y="199"/>
                </a:lnTo>
                <a:lnTo>
                  <a:pt x="158" y="207"/>
                </a:lnTo>
                <a:lnTo>
                  <a:pt x="223" y="218"/>
                </a:lnTo>
                <a:lnTo>
                  <a:pt x="137" y="141"/>
                </a:lnTo>
                <a:lnTo>
                  <a:pt x="93" y="60"/>
                </a:lnTo>
                <a:lnTo>
                  <a:pt x="94" y="27"/>
                </a:lnTo>
                <a:lnTo>
                  <a:pt x="107" y="5"/>
                </a:lnTo>
                <a:lnTo>
                  <a:pt x="119" y="0"/>
                </a:lnTo>
                <a:lnTo>
                  <a:pt x="137" y="2"/>
                </a:lnTo>
                <a:lnTo>
                  <a:pt x="180" y="23"/>
                </a:lnTo>
                <a:lnTo>
                  <a:pt x="223" y="58"/>
                </a:lnTo>
                <a:lnTo>
                  <a:pt x="263" y="96"/>
                </a:lnTo>
                <a:lnTo>
                  <a:pt x="289" y="130"/>
                </a:lnTo>
                <a:lnTo>
                  <a:pt x="312" y="155"/>
                </a:lnTo>
                <a:lnTo>
                  <a:pt x="323" y="154"/>
                </a:lnTo>
                <a:lnTo>
                  <a:pt x="375" y="63"/>
                </a:lnTo>
                <a:lnTo>
                  <a:pt x="395" y="45"/>
                </a:lnTo>
                <a:lnTo>
                  <a:pt x="420" y="39"/>
                </a:lnTo>
                <a:lnTo>
                  <a:pt x="436" y="42"/>
                </a:lnTo>
                <a:lnTo>
                  <a:pt x="450" y="50"/>
                </a:lnTo>
                <a:lnTo>
                  <a:pt x="475" y="74"/>
                </a:lnTo>
                <a:lnTo>
                  <a:pt x="486" y="92"/>
                </a:lnTo>
                <a:lnTo>
                  <a:pt x="491" y="107"/>
                </a:lnTo>
                <a:lnTo>
                  <a:pt x="491" y="113"/>
                </a:lnTo>
                <a:lnTo>
                  <a:pt x="447" y="177"/>
                </a:lnTo>
                <a:lnTo>
                  <a:pt x="420" y="227"/>
                </a:lnTo>
                <a:lnTo>
                  <a:pt x="412" y="265"/>
                </a:lnTo>
                <a:lnTo>
                  <a:pt x="422" y="293"/>
                </a:lnTo>
                <a:lnTo>
                  <a:pt x="433" y="326"/>
                </a:lnTo>
                <a:lnTo>
                  <a:pt x="461" y="351"/>
                </a:lnTo>
                <a:lnTo>
                  <a:pt x="481" y="356"/>
                </a:lnTo>
                <a:lnTo>
                  <a:pt x="511" y="357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0" name="Freeform 374"/>
          <p:cNvSpPr>
            <a:spLocks/>
          </p:cNvSpPr>
          <p:nvPr/>
        </p:nvSpPr>
        <p:spPr bwMode="auto">
          <a:xfrm>
            <a:off x="7677150" y="3859213"/>
            <a:ext cx="320675" cy="477837"/>
          </a:xfrm>
          <a:custGeom>
            <a:avLst/>
            <a:gdLst>
              <a:gd name="T0" fmla="*/ 0 w 471"/>
              <a:gd name="T1" fmla="*/ 326 h 664"/>
              <a:gd name="T2" fmla="*/ 9 w 471"/>
              <a:gd name="T3" fmla="*/ 323 h 664"/>
              <a:gd name="T4" fmla="*/ 29 w 471"/>
              <a:gd name="T5" fmla="*/ 308 h 664"/>
              <a:gd name="T6" fmla="*/ 40 w 471"/>
              <a:gd name="T7" fmla="*/ 296 h 664"/>
              <a:gd name="T8" fmla="*/ 48 w 471"/>
              <a:gd name="T9" fmla="*/ 274 h 664"/>
              <a:gd name="T10" fmla="*/ 51 w 471"/>
              <a:gd name="T11" fmla="*/ 246 h 664"/>
              <a:gd name="T12" fmla="*/ 48 w 471"/>
              <a:gd name="T13" fmla="*/ 210 h 664"/>
              <a:gd name="T14" fmla="*/ 28 w 471"/>
              <a:gd name="T15" fmla="*/ 89 h 664"/>
              <a:gd name="T16" fmla="*/ 25 w 471"/>
              <a:gd name="T17" fmla="*/ 56 h 664"/>
              <a:gd name="T18" fmla="*/ 36 w 471"/>
              <a:gd name="T19" fmla="*/ 36 h 664"/>
              <a:gd name="T20" fmla="*/ 68 w 471"/>
              <a:gd name="T21" fmla="*/ 17 h 664"/>
              <a:gd name="T22" fmla="*/ 115 w 471"/>
              <a:gd name="T23" fmla="*/ 0 h 664"/>
              <a:gd name="T24" fmla="*/ 164 w 471"/>
              <a:gd name="T25" fmla="*/ 0 h 664"/>
              <a:gd name="T26" fmla="*/ 184 w 471"/>
              <a:gd name="T27" fmla="*/ 11 h 664"/>
              <a:gd name="T28" fmla="*/ 199 w 471"/>
              <a:gd name="T29" fmla="*/ 29 h 664"/>
              <a:gd name="T30" fmla="*/ 211 w 471"/>
              <a:gd name="T31" fmla="*/ 73 h 664"/>
              <a:gd name="T32" fmla="*/ 213 w 471"/>
              <a:gd name="T33" fmla="*/ 109 h 664"/>
              <a:gd name="T34" fmla="*/ 206 w 471"/>
              <a:gd name="T35" fmla="*/ 141 h 664"/>
              <a:gd name="T36" fmla="*/ 239 w 471"/>
              <a:gd name="T37" fmla="*/ 139 h 664"/>
              <a:gd name="T38" fmla="*/ 263 w 471"/>
              <a:gd name="T39" fmla="*/ 141 h 664"/>
              <a:gd name="T40" fmla="*/ 282 w 471"/>
              <a:gd name="T41" fmla="*/ 149 h 664"/>
              <a:gd name="T42" fmla="*/ 291 w 471"/>
              <a:gd name="T43" fmla="*/ 170 h 664"/>
              <a:gd name="T44" fmla="*/ 299 w 471"/>
              <a:gd name="T45" fmla="*/ 203 h 664"/>
              <a:gd name="T46" fmla="*/ 302 w 471"/>
              <a:gd name="T47" fmla="*/ 261 h 664"/>
              <a:gd name="T48" fmla="*/ 304 w 471"/>
              <a:gd name="T49" fmla="*/ 271 h 664"/>
              <a:gd name="T50" fmla="*/ 313 w 471"/>
              <a:gd name="T51" fmla="*/ 277 h 664"/>
              <a:gd name="T52" fmla="*/ 325 w 471"/>
              <a:gd name="T53" fmla="*/ 283 h 664"/>
              <a:gd name="T54" fmla="*/ 338 w 471"/>
              <a:gd name="T55" fmla="*/ 299 h 664"/>
              <a:gd name="T56" fmla="*/ 346 w 471"/>
              <a:gd name="T57" fmla="*/ 323 h 664"/>
              <a:gd name="T58" fmla="*/ 349 w 471"/>
              <a:gd name="T59" fmla="*/ 351 h 664"/>
              <a:gd name="T60" fmla="*/ 349 w 471"/>
              <a:gd name="T61" fmla="*/ 381 h 664"/>
              <a:gd name="T62" fmla="*/ 424 w 471"/>
              <a:gd name="T63" fmla="*/ 406 h 664"/>
              <a:gd name="T64" fmla="*/ 452 w 471"/>
              <a:gd name="T65" fmla="*/ 418 h 664"/>
              <a:gd name="T66" fmla="*/ 470 w 471"/>
              <a:gd name="T67" fmla="*/ 432 h 664"/>
              <a:gd name="T68" fmla="*/ 471 w 471"/>
              <a:gd name="T69" fmla="*/ 446 h 664"/>
              <a:gd name="T70" fmla="*/ 454 w 471"/>
              <a:gd name="T71" fmla="*/ 456 h 664"/>
              <a:gd name="T72" fmla="*/ 429 w 471"/>
              <a:gd name="T73" fmla="*/ 467 h 664"/>
              <a:gd name="T74" fmla="*/ 394 w 471"/>
              <a:gd name="T75" fmla="*/ 475 h 664"/>
              <a:gd name="T76" fmla="*/ 275 w 471"/>
              <a:gd name="T77" fmla="*/ 443 h 664"/>
              <a:gd name="T78" fmla="*/ 169 w 471"/>
              <a:gd name="T79" fmla="*/ 440 h 664"/>
              <a:gd name="T80" fmla="*/ 192 w 471"/>
              <a:gd name="T81" fmla="*/ 462 h 664"/>
              <a:gd name="T82" fmla="*/ 199 w 471"/>
              <a:gd name="T83" fmla="*/ 664 h 664"/>
              <a:gd name="T84" fmla="*/ 136 w 471"/>
              <a:gd name="T85" fmla="*/ 602 h 664"/>
              <a:gd name="T86" fmla="*/ 89 w 471"/>
              <a:gd name="T87" fmla="*/ 544 h 664"/>
              <a:gd name="T88" fmla="*/ 57 w 471"/>
              <a:gd name="T89" fmla="*/ 498 h 664"/>
              <a:gd name="T90" fmla="*/ 1 w 471"/>
              <a:gd name="T91" fmla="*/ 326 h 664"/>
              <a:gd name="T92" fmla="*/ 1 w 471"/>
              <a:gd name="T93" fmla="*/ 326 h 664"/>
              <a:gd name="T94" fmla="*/ 0 w 471"/>
              <a:gd name="T95" fmla="*/ 326 h 6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471"/>
              <a:gd name="T145" fmla="*/ 0 h 664"/>
              <a:gd name="T146" fmla="*/ 471 w 471"/>
              <a:gd name="T147" fmla="*/ 664 h 664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471" h="664">
                <a:moveTo>
                  <a:pt x="0" y="326"/>
                </a:moveTo>
                <a:lnTo>
                  <a:pt x="9" y="323"/>
                </a:lnTo>
                <a:lnTo>
                  <a:pt x="29" y="308"/>
                </a:lnTo>
                <a:lnTo>
                  <a:pt x="40" y="296"/>
                </a:lnTo>
                <a:lnTo>
                  <a:pt x="48" y="274"/>
                </a:lnTo>
                <a:lnTo>
                  <a:pt x="51" y="246"/>
                </a:lnTo>
                <a:lnTo>
                  <a:pt x="48" y="210"/>
                </a:lnTo>
                <a:lnTo>
                  <a:pt x="28" y="89"/>
                </a:lnTo>
                <a:lnTo>
                  <a:pt x="25" y="56"/>
                </a:lnTo>
                <a:lnTo>
                  <a:pt x="36" y="36"/>
                </a:lnTo>
                <a:lnTo>
                  <a:pt x="68" y="17"/>
                </a:lnTo>
                <a:lnTo>
                  <a:pt x="115" y="0"/>
                </a:lnTo>
                <a:lnTo>
                  <a:pt x="164" y="0"/>
                </a:lnTo>
                <a:lnTo>
                  <a:pt x="184" y="11"/>
                </a:lnTo>
                <a:lnTo>
                  <a:pt x="199" y="29"/>
                </a:lnTo>
                <a:lnTo>
                  <a:pt x="211" y="73"/>
                </a:lnTo>
                <a:lnTo>
                  <a:pt x="213" y="109"/>
                </a:lnTo>
                <a:lnTo>
                  <a:pt x="206" y="141"/>
                </a:lnTo>
                <a:lnTo>
                  <a:pt x="239" y="139"/>
                </a:lnTo>
                <a:lnTo>
                  <a:pt x="263" y="141"/>
                </a:lnTo>
                <a:lnTo>
                  <a:pt x="282" y="149"/>
                </a:lnTo>
                <a:lnTo>
                  <a:pt x="291" y="170"/>
                </a:lnTo>
                <a:lnTo>
                  <a:pt x="299" y="203"/>
                </a:lnTo>
                <a:lnTo>
                  <a:pt x="302" y="261"/>
                </a:lnTo>
                <a:lnTo>
                  <a:pt x="304" y="271"/>
                </a:lnTo>
                <a:lnTo>
                  <a:pt x="313" y="277"/>
                </a:lnTo>
                <a:lnTo>
                  <a:pt x="325" y="283"/>
                </a:lnTo>
                <a:lnTo>
                  <a:pt x="338" y="299"/>
                </a:lnTo>
                <a:lnTo>
                  <a:pt x="346" y="323"/>
                </a:lnTo>
                <a:lnTo>
                  <a:pt x="349" y="351"/>
                </a:lnTo>
                <a:lnTo>
                  <a:pt x="349" y="381"/>
                </a:lnTo>
                <a:lnTo>
                  <a:pt x="424" y="406"/>
                </a:lnTo>
                <a:lnTo>
                  <a:pt x="452" y="418"/>
                </a:lnTo>
                <a:lnTo>
                  <a:pt x="470" y="432"/>
                </a:lnTo>
                <a:lnTo>
                  <a:pt x="471" y="446"/>
                </a:lnTo>
                <a:lnTo>
                  <a:pt x="454" y="456"/>
                </a:lnTo>
                <a:lnTo>
                  <a:pt x="429" y="467"/>
                </a:lnTo>
                <a:lnTo>
                  <a:pt x="394" y="475"/>
                </a:lnTo>
                <a:lnTo>
                  <a:pt x="275" y="443"/>
                </a:lnTo>
                <a:lnTo>
                  <a:pt x="169" y="440"/>
                </a:lnTo>
                <a:lnTo>
                  <a:pt x="192" y="462"/>
                </a:lnTo>
                <a:lnTo>
                  <a:pt x="199" y="664"/>
                </a:lnTo>
                <a:lnTo>
                  <a:pt x="136" y="602"/>
                </a:lnTo>
                <a:lnTo>
                  <a:pt x="89" y="544"/>
                </a:lnTo>
                <a:lnTo>
                  <a:pt x="57" y="498"/>
                </a:lnTo>
                <a:lnTo>
                  <a:pt x="1" y="326"/>
                </a:lnTo>
                <a:lnTo>
                  <a:pt x="0" y="326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1" name="Freeform 375"/>
          <p:cNvSpPr>
            <a:spLocks/>
          </p:cNvSpPr>
          <p:nvPr/>
        </p:nvSpPr>
        <p:spPr bwMode="auto">
          <a:xfrm>
            <a:off x="5157788" y="4084638"/>
            <a:ext cx="19050" cy="17462"/>
          </a:xfrm>
          <a:custGeom>
            <a:avLst/>
            <a:gdLst>
              <a:gd name="T0" fmla="*/ 29 w 29"/>
              <a:gd name="T1" fmla="*/ 4 h 26"/>
              <a:gd name="T2" fmla="*/ 17 w 29"/>
              <a:gd name="T3" fmla="*/ 0 h 26"/>
              <a:gd name="T4" fmla="*/ 6 w 29"/>
              <a:gd name="T5" fmla="*/ 3 h 26"/>
              <a:gd name="T6" fmla="*/ 0 w 29"/>
              <a:gd name="T7" fmla="*/ 14 h 26"/>
              <a:gd name="T8" fmla="*/ 4 w 29"/>
              <a:gd name="T9" fmla="*/ 26 h 26"/>
              <a:gd name="T10" fmla="*/ 29 w 29"/>
              <a:gd name="T11" fmla="*/ 4 h 26"/>
              <a:gd name="T12" fmla="*/ 29 w 29"/>
              <a:gd name="T13" fmla="*/ 4 h 26"/>
              <a:gd name="T14" fmla="*/ 29 w 29"/>
              <a:gd name="T15" fmla="*/ 4 h 2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9"/>
              <a:gd name="T25" fmla="*/ 0 h 26"/>
              <a:gd name="T26" fmla="*/ 29 w 29"/>
              <a:gd name="T27" fmla="*/ 26 h 2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9" h="26">
                <a:moveTo>
                  <a:pt x="29" y="4"/>
                </a:moveTo>
                <a:lnTo>
                  <a:pt x="17" y="0"/>
                </a:lnTo>
                <a:lnTo>
                  <a:pt x="6" y="3"/>
                </a:lnTo>
                <a:lnTo>
                  <a:pt x="0" y="14"/>
                </a:lnTo>
                <a:lnTo>
                  <a:pt x="4" y="26"/>
                </a:lnTo>
                <a:lnTo>
                  <a:pt x="29" y="4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2" name="Freeform 376"/>
          <p:cNvSpPr>
            <a:spLocks/>
          </p:cNvSpPr>
          <p:nvPr/>
        </p:nvSpPr>
        <p:spPr bwMode="auto">
          <a:xfrm>
            <a:off x="5253038" y="4292600"/>
            <a:ext cx="20637" cy="12700"/>
          </a:xfrm>
          <a:custGeom>
            <a:avLst/>
            <a:gdLst>
              <a:gd name="T0" fmla="*/ 0 w 33"/>
              <a:gd name="T1" fmla="*/ 3 h 17"/>
              <a:gd name="T2" fmla="*/ 6 w 33"/>
              <a:gd name="T3" fmla="*/ 16 h 17"/>
              <a:gd name="T4" fmla="*/ 17 w 33"/>
              <a:gd name="T5" fmla="*/ 17 h 17"/>
              <a:gd name="T6" fmla="*/ 28 w 33"/>
              <a:gd name="T7" fmla="*/ 13 h 17"/>
              <a:gd name="T8" fmla="*/ 33 w 33"/>
              <a:gd name="T9" fmla="*/ 0 h 17"/>
              <a:gd name="T10" fmla="*/ 0 w 33"/>
              <a:gd name="T11" fmla="*/ 3 h 17"/>
              <a:gd name="T12" fmla="*/ 0 w 33"/>
              <a:gd name="T13" fmla="*/ 3 h 17"/>
              <a:gd name="T14" fmla="*/ 0 w 33"/>
              <a:gd name="T15" fmla="*/ 3 h 1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3"/>
              <a:gd name="T25" fmla="*/ 0 h 17"/>
              <a:gd name="T26" fmla="*/ 33 w 33"/>
              <a:gd name="T27" fmla="*/ 17 h 1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3" h="17">
                <a:moveTo>
                  <a:pt x="0" y="3"/>
                </a:moveTo>
                <a:lnTo>
                  <a:pt x="6" y="16"/>
                </a:lnTo>
                <a:lnTo>
                  <a:pt x="17" y="17"/>
                </a:lnTo>
                <a:lnTo>
                  <a:pt x="28" y="13"/>
                </a:lnTo>
                <a:lnTo>
                  <a:pt x="33" y="0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3" name="Line 377"/>
          <p:cNvSpPr>
            <a:spLocks noChangeShapeType="1"/>
          </p:cNvSpPr>
          <p:nvPr/>
        </p:nvSpPr>
        <p:spPr bwMode="auto">
          <a:xfrm flipH="1">
            <a:off x="5299075" y="4097338"/>
            <a:ext cx="82550" cy="18097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4" name="Freeform 378"/>
          <p:cNvSpPr>
            <a:spLocks/>
          </p:cNvSpPr>
          <p:nvPr/>
        </p:nvSpPr>
        <p:spPr bwMode="auto">
          <a:xfrm>
            <a:off x="5454650" y="3729038"/>
            <a:ext cx="23813" cy="11112"/>
          </a:xfrm>
          <a:custGeom>
            <a:avLst/>
            <a:gdLst>
              <a:gd name="T0" fmla="*/ 33 w 33"/>
              <a:gd name="T1" fmla="*/ 12 h 18"/>
              <a:gd name="T2" fmla="*/ 25 w 33"/>
              <a:gd name="T3" fmla="*/ 3 h 18"/>
              <a:gd name="T4" fmla="*/ 14 w 33"/>
              <a:gd name="T5" fmla="*/ 0 h 18"/>
              <a:gd name="T6" fmla="*/ 4 w 33"/>
              <a:gd name="T7" fmla="*/ 6 h 18"/>
              <a:gd name="T8" fmla="*/ 0 w 33"/>
              <a:gd name="T9" fmla="*/ 18 h 18"/>
              <a:gd name="T10" fmla="*/ 33 w 33"/>
              <a:gd name="T11" fmla="*/ 12 h 18"/>
              <a:gd name="T12" fmla="*/ 33 w 33"/>
              <a:gd name="T13" fmla="*/ 12 h 1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"/>
              <a:gd name="T22" fmla="*/ 0 h 18"/>
              <a:gd name="T23" fmla="*/ 33 w 33"/>
              <a:gd name="T24" fmla="*/ 18 h 1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" h="18">
                <a:moveTo>
                  <a:pt x="33" y="12"/>
                </a:moveTo>
                <a:lnTo>
                  <a:pt x="25" y="3"/>
                </a:lnTo>
                <a:lnTo>
                  <a:pt x="14" y="0"/>
                </a:lnTo>
                <a:lnTo>
                  <a:pt x="4" y="6"/>
                </a:lnTo>
                <a:lnTo>
                  <a:pt x="0" y="18"/>
                </a:lnTo>
                <a:lnTo>
                  <a:pt x="33" y="12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5" name="Line 379"/>
          <p:cNvSpPr>
            <a:spLocks noChangeShapeType="1"/>
          </p:cNvSpPr>
          <p:nvPr/>
        </p:nvSpPr>
        <p:spPr bwMode="auto">
          <a:xfrm>
            <a:off x="5260975" y="3525838"/>
            <a:ext cx="6350" cy="3016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6" name="Line 380"/>
          <p:cNvSpPr>
            <a:spLocks noChangeShapeType="1"/>
          </p:cNvSpPr>
          <p:nvPr/>
        </p:nvSpPr>
        <p:spPr bwMode="auto">
          <a:xfrm>
            <a:off x="5207000" y="3533775"/>
            <a:ext cx="1588" cy="23813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7" name="Freeform 381"/>
          <p:cNvSpPr>
            <a:spLocks/>
          </p:cNvSpPr>
          <p:nvPr/>
        </p:nvSpPr>
        <p:spPr bwMode="auto">
          <a:xfrm>
            <a:off x="5168900" y="3565525"/>
            <a:ext cx="177800" cy="119063"/>
          </a:xfrm>
          <a:custGeom>
            <a:avLst/>
            <a:gdLst>
              <a:gd name="T0" fmla="*/ 94 w 261"/>
              <a:gd name="T1" fmla="*/ 6 h 168"/>
              <a:gd name="T2" fmla="*/ 132 w 261"/>
              <a:gd name="T3" fmla="*/ 3 h 168"/>
              <a:gd name="T4" fmla="*/ 163 w 261"/>
              <a:gd name="T5" fmla="*/ 0 h 168"/>
              <a:gd name="T6" fmla="*/ 192 w 261"/>
              <a:gd name="T7" fmla="*/ 6 h 168"/>
              <a:gd name="T8" fmla="*/ 223 w 261"/>
              <a:gd name="T9" fmla="*/ 24 h 168"/>
              <a:gd name="T10" fmla="*/ 251 w 261"/>
              <a:gd name="T11" fmla="*/ 54 h 168"/>
              <a:gd name="T12" fmla="*/ 261 w 261"/>
              <a:gd name="T13" fmla="*/ 71 h 168"/>
              <a:gd name="T14" fmla="*/ 261 w 261"/>
              <a:gd name="T15" fmla="*/ 90 h 168"/>
              <a:gd name="T16" fmla="*/ 253 w 261"/>
              <a:gd name="T17" fmla="*/ 108 h 168"/>
              <a:gd name="T18" fmla="*/ 232 w 261"/>
              <a:gd name="T19" fmla="*/ 127 h 168"/>
              <a:gd name="T20" fmla="*/ 176 w 261"/>
              <a:gd name="T21" fmla="*/ 154 h 168"/>
              <a:gd name="T22" fmla="*/ 113 w 261"/>
              <a:gd name="T23" fmla="*/ 168 h 168"/>
              <a:gd name="T24" fmla="*/ 60 w 261"/>
              <a:gd name="T25" fmla="*/ 165 h 168"/>
              <a:gd name="T26" fmla="*/ 25 w 261"/>
              <a:gd name="T27" fmla="*/ 152 h 168"/>
              <a:gd name="T28" fmla="*/ 8 w 261"/>
              <a:gd name="T29" fmla="*/ 127 h 168"/>
              <a:gd name="T30" fmla="*/ 0 w 261"/>
              <a:gd name="T31" fmla="*/ 97 h 168"/>
              <a:gd name="T32" fmla="*/ 4 w 261"/>
              <a:gd name="T33" fmla="*/ 69 h 168"/>
              <a:gd name="T34" fmla="*/ 15 w 261"/>
              <a:gd name="T35" fmla="*/ 46 h 168"/>
              <a:gd name="T36" fmla="*/ 38 w 261"/>
              <a:gd name="T37" fmla="*/ 30 h 168"/>
              <a:gd name="T38" fmla="*/ 66 w 261"/>
              <a:gd name="T39" fmla="*/ 19 h 168"/>
              <a:gd name="T40" fmla="*/ 88 w 261"/>
              <a:gd name="T41" fmla="*/ 11 h 168"/>
              <a:gd name="T42" fmla="*/ 94 w 261"/>
              <a:gd name="T43" fmla="*/ 6 h 16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261"/>
              <a:gd name="T67" fmla="*/ 0 h 168"/>
              <a:gd name="T68" fmla="*/ 261 w 261"/>
              <a:gd name="T69" fmla="*/ 168 h 16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261" h="168">
                <a:moveTo>
                  <a:pt x="94" y="6"/>
                </a:moveTo>
                <a:lnTo>
                  <a:pt x="132" y="3"/>
                </a:lnTo>
                <a:lnTo>
                  <a:pt x="163" y="0"/>
                </a:lnTo>
                <a:lnTo>
                  <a:pt x="192" y="6"/>
                </a:lnTo>
                <a:lnTo>
                  <a:pt x="223" y="24"/>
                </a:lnTo>
                <a:lnTo>
                  <a:pt x="251" y="54"/>
                </a:lnTo>
                <a:lnTo>
                  <a:pt x="261" y="71"/>
                </a:lnTo>
                <a:lnTo>
                  <a:pt x="261" y="90"/>
                </a:lnTo>
                <a:lnTo>
                  <a:pt x="253" y="108"/>
                </a:lnTo>
                <a:lnTo>
                  <a:pt x="232" y="127"/>
                </a:lnTo>
                <a:lnTo>
                  <a:pt x="176" y="154"/>
                </a:lnTo>
                <a:lnTo>
                  <a:pt x="113" y="168"/>
                </a:lnTo>
                <a:lnTo>
                  <a:pt x="60" y="165"/>
                </a:lnTo>
                <a:lnTo>
                  <a:pt x="25" y="152"/>
                </a:lnTo>
                <a:lnTo>
                  <a:pt x="8" y="127"/>
                </a:lnTo>
                <a:lnTo>
                  <a:pt x="0" y="97"/>
                </a:lnTo>
                <a:lnTo>
                  <a:pt x="4" y="69"/>
                </a:lnTo>
                <a:lnTo>
                  <a:pt x="15" y="46"/>
                </a:lnTo>
                <a:lnTo>
                  <a:pt x="38" y="30"/>
                </a:lnTo>
                <a:lnTo>
                  <a:pt x="66" y="19"/>
                </a:lnTo>
                <a:lnTo>
                  <a:pt x="88" y="11"/>
                </a:lnTo>
                <a:lnTo>
                  <a:pt x="94" y="6"/>
                </a:lnTo>
              </a:path>
            </a:pathLst>
          </a:custGeom>
          <a:noFill/>
          <a:ln w="6350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8" name="Freeform 382"/>
          <p:cNvSpPr>
            <a:spLocks/>
          </p:cNvSpPr>
          <p:nvPr/>
        </p:nvSpPr>
        <p:spPr bwMode="auto">
          <a:xfrm>
            <a:off x="5307013" y="3338513"/>
            <a:ext cx="20637" cy="12700"/>
          </a:xfrm>
          <a:custGeom>
            <a:avLst/>
            <a:gdLst>
              <a:gd name="T0" fmla="*/ 33 w 33"/>
              <a:gd name="T1" fmla="*/ 15 h 15"/>
              <a:gd name="T2" fmla="*/ 28 w 33"/>
              <a:gd name="T3" fmla="*/ 4 h 15"/>
              <a:gd name="T4" fmla="*/ 17 w 33"/>
              <a:gd name="T5" fmla="*/ 0 h 15"/>
              <a:gd name="T6" fmla="*/ 5 w 33"/>
              <a:gd name="T7" fmla="*/ 4 h 15"/>
              <a:gd name="T8" fmla="*/ 0 w 33"/>
              <a:gd name="T9" fmla="*/ 15 h 15"/>
              <a:gd name="T10" fmla="*/ 33 w 33"/>
              <a:gd name="T11" fmla="*/ 15 h 15"/>
              <a:gd name="T12" fmla="*/ 33 w 33"/>
              <a:gd name="T13" fmla="*/ 15 h 1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"/>
              <a:gd name="T22" fmla="*/ 0 h 15"/>
              <a:gd name="T23" fmla="*/ 33 w 33"/>
              <a:gd name="T24" fmla="*/ 15 h 1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" h="15">
                <a:moveTo>
                  <a:pt x="33" y="15"/>
                </a:moveTo>
                <a:lnTo>
                  <a:pt x="28" y="4"/>
                </a:lnTo>
                <a:lnTo>
                  <a:pt x="17" y="0"/>
                </a:lnTo>
                <a:lnTo>
                  <a:pt x="5" y="4"/>
                </a:lnTo>
                <a:lnTo>
                  <a:pt x="0" y="15"/>
                </a:lnTo>
                <a:lnTo>
                  <a:pt x="33" y="1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9" name="Freeform 383"/>
          <p:cNvSpPr>
            <a:spLocks/>
          </p:cNvSpPr>
          <p:nvPr/>
        </p:nvSpPr>
        <p:spPr bwMode="auto">
          <a:xfrm>
            <a:off x="5065713" y="3533775"/>
            <a:ext cx="20637" cy="20638"/>
          </a:xfrm>
          <a:custGeom>
            <a:avLst/>
            <a:gdLst>
              <a:gd name="T0" fmla="*/ 5 w 30"/>
              <a:gd name="T1" fmla="*/ 0 h 30"/>
              <a:gd name="T2" fmla="*/ 0 w 30"/>
              <a:gd name="T3" fmla="*/ 12 h 30"/>
              <a:gd name="T4" fmla="*/ 7 w 30"/>
              <a:gd name="T5" fmla="*/ 23 h 30"/>
              <a:gd name="T6" fmla="*/ 18 w 30"/>
              <a:gd name="T7" fmla="*/ 30 h 30"/>
              <a:gd name="T8" fmla="*/ 30 w 30"/>
              <a:gd name="T9" fmla="*/ 25 h 30"/>
              <a:gd name="T10" fmla="*/ 5 w 30"/>
              <a:gd name="T11" fmla="*/ 0 h 30"/>
              <a:gd name="T12" fmla="*/ 5 w 30"/>
              <a:gd name="T13" fmla="*/ 0 h 30"/>
              <a:gd name="T14" fmla="*/ 5 w 30"/>
              <a:gd name="T15" fmla="*/ 0 h 3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0"/>
              <a:gd name="T25" fmla="*/ 0 h 30"/>
              <a:gd name="T26" fmla="*/ 30 w 30"/>
              <a:gd name="T27" fmla="*/ 30 h 3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0" h="30">
                <a:moveTo>
                  <a:pt x="5" y="0"/>
                </a:moveTo>
                <a:lnTo>
                  <a:pt x="0" y="12"/>
                </a:lnTo>
                <a:lnTo>
                  <a:pt x="7" y="23"/>
                </a:lnTo>
                <a:lnTo>
                  <a:pt x="18" y="30"/>
                </a:lnTo>
                <a:lnTo>
                  <a:pt x="30" y="25"/>
                </a:lnTo>
                <a:lnTo>
                  <a:pt x="5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0" name="Freeform 384"/>
          <p:cNvSpPr>
            <a:spLocks/>
          </p:cNvSpPr>
          <p:nvPr/>
        </p:nvSpPr>
        <p:spPr bwMode="auto">
          <a:xfrm>
            <a:off x="4883150" y="4033838"/>
            <a:ext cx="201613" cy="217487"/>
          </a:xfrm>
          <a:custGeom>
            <a:avLst/>
            <a:gdLst>
              <a:gd name="T0" fmla="*/ 281 w 296"/>
              <a:gd name="T1" fmla="*/ 227 h 301"/>
              <a:gd name="T2" fmla="*/ 282 w 296"/>
              <a:gd name="T3" fmla="*/ 202 h 301"/>
              <a:gd name="T4" fmla="*/ 292 w 296"/>
              <a:gd name="T5" fmla="*/ 144 h 301"/>
              <a:gd name="T6" fmla="*/ 296 w 296"/>
              <a:gd name="T7" fmla="*/ 106 h 301"/>
              <a:gd name="T8" fmla="*/ 292 w 296"/>
              <a:gd name="T9" fmla="*/ 61 h 301"/>
              <a:gd name="T10" fmla="*/ 278 w 296"/>
              <a:gd name="T11" fmla="*/ 25 h 301"/>
              <a:gd name="T12" fmla="*/ 256 w 296"/>
              <a:gd name="T13" fmla="*/ 4 h 301"/>
              <a:gd name="T14" fmla="*/ 226 w 296"/>
              <a:gd name="T15" fmla="*/ 0 h 301"/>
              <a:gd name="T16" fmla="*/ 198 w 296"/>
              <a:gd name="T17" fmla="*/ 4 h 301"/>
              <a:gd name="T18" fmla="*/ 176 w 296"/>
              <a:gd name="T19" fmla="*/ 18 h 301"/>
              <a:gd name="T20" fmla="*/ 168 w 296"/>
              <a:gd name="T21" fmla="*/ 48 h 301"/>
              <a:gd name="T22" fmla="*/ 182 w 296"/>
              <a:gd name="T23" fmla="*/ 169 h 301"/>
              <a:gd name="T24" fmla="*/ 154 w 296"/>
              <a:gd name="T25" fmla="*/ 149 h 301"/>
              <a:gd name="T26" fmla="*/ 104 w 296"/>
              <a:gd name="T27" fmla="*/ 125 h 301"/>
              <a:gd name="T28" fmla="*/ 74 w 296"/>
              <a:gd name="T29" fmla="*/ 125 h 301"/>
              <a:gd name="T30" fmla="*/ 35 w 296"/>
              <a:gd name="T31" fmla="*/ 134 h 301"/>
              <a:gd name="T32" fmla="*/ 7 w 296"/>
              <a:gd name="T33" fmla="*/ 155 h 301"/>
              <a:gd name="T34" fmla="*/ 0 w 296"/>
              <a:gd name="T35" fmla="*/ 166 h 301"/>
              <a:gd name="T36" fmla="*/ 2 w 296"/>
              <a:gd name="T37" fmla="*/ 180 h 301"/>
              <a:gd name="T38" fmla="*/ 21 w 296"/>
              <a:gd name="T39" fmla="*/ 250 h 301"/>
              <a:gd name="T40" fmla="*/ 35 w 296"/>
              <a:gd name="T41" fmla="*/ 282 h 301"/>
              <a:gd name="T42" fmla="*/ 46 w 296"/>
              <a:gd name="T43" fmla="*/ 293 h 301"/>
              <a:gd name="T44" fmla="*/ 60 w 296"/>
              <a:gd name="T45" fmla="*/ 301 h 301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296"/>
              <a:gd name="T70" fmla="*/ 0 h 301"/>
              <a:gd name="T71" fmla="*/ 296 w 296"/>
              <a:gd name="T72" fmla="*/ 301 h 301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296" h="301">
                <a:moveTo>
                  <a:pt x="281" y="227"/>
                </a:moveTo>
                <a:lnTo>
                  <a:pt x="282" y="202"/>
                </a:lnTo>
                <a:lnTo>
                  <a:pt x="292" y="144"/>
                </a:lnTo>
                <a:lnTo>
                  <a:pt x="296" y="106"/>
                </a:lnTo>
                <a:lnTo>
                  <a:pt x="292" y="61"/>
                </a:lnTo>
                <a:lnTo>
                  <a:pt x="278" y="25"/>
                </a:lnTo>
                <a:lnTo>
                  <a:pt x="256" y="4"/>
                </a:lnTo>
                <a:lnTo>
                  <a:pt x="226" y="0"/>
                </a:lnTo>
                <a:lnTo>
                  <a:pt x="198" y="4"/>
                </a:lnTo>
                <a:lnTo>
                  <a:pt x="176" y="18"/>
                </a:lnTo>
                <a:lnTo>
                  <a:pt x="168" y="48"/>
                </a:lnTo>
                <a:lnTo>
                  <a:pt x="182" y="169"/>
                </a:lnTo>
                <a:lnTo>
                  <a:pt x="154" y="149"/>
                </a:lnTo>
                <a:lnTo>
                  <a:pt x="104" y="125"/>
                </a:lnTo>
                <a:lnTo>
                  <a:pt x="74" y="125"/>
                </a:lnTo>
                <a:lnTo>
                  <a:pt x="35" y="134"/>
                </a:lnTo>
                <a:lnTo>
                  <a:pt x="7" y="155"/>
                </a:lnTo>
                <a:lnTo>
                  <a:pt x="0" y="166"/>
                </a:lnTo>
                <a:lnTo>
                  <a:pt x="2" y="180"/>
                </a:lnTo>
                <a:lnTo>
                  <a:pt x="21" y="250"/>
                </a:lnTo>
                <a:lnTo>
                  <a:pt x="35" y="282"/>
                </a:lnTo>
                <a:lnTo>
                  <a:pt x="46" y="293"/>
                </a:lnTo>
                <a:lnTo>
                  <a:pt x="60" y="301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1" name="Freeform 385"/>
          <p:cNvSpPr>
            <a:spLocks/>
          </p:cNvSpPr>
          <p:nvPr/>
        </p:nvSpPr>
        <p:spPr bwMode="auto">
          <a:xfrm>
            <a:off x="4883150" y="4033838"/>
            <a:ext cx="201613" cy="217487"/>
          </a:xfrm>
          <a:custGeom>
            <a:avLst/>
            <a:gdLst>
              <a:gd name="T0" fmla="*/ 281 w 296"/>
              <a:gd name="T1" fmla="*/ 227 h 301"/>
              <a:gd name="T2" fmla="*/ 282 w 296"/>
              <a:gd name="T3" fmla="*/ 202 h 301"/>
              <a:gd name="T4" fmla="*/ 292 w 296"/>
              <a:gd name="T5" fmla="*/ 144 h 301"/>
              <a:gd name="T6" fmla="*/ 296 w 296"/>
              <a:gd name="T7" fmla="*/ 106 h 301"/>
              <a:gd name="T8" fmla="*/ 292 w 296"/>
              <a:gd name="T9" fmla="*/ 61 h 301"/>
              <a:gd name="T10" fmla="*/ 278 w 296"/>
              <a:gd name="T11" fmla="*/ 25 h 301"/>
              <a:gd name="T12" fmla="*/ 256 w 296"/>
              <a:gd name="T13" fmla="*/ 4 h 301"/>
              <a:gd name="T14" fmla="*/ 226 w 296"/>
              <a:gd name="T15" fmla="*/ 0 h 301"/>
              <a:gd name="T16" fmla="*/ 198 w 296"/>
              <a:gd name="T17" fmla="*/ 4 h 301"/>
              <a:gd name="T18" fmla="*/ 176 w 296"/>
              <a:gd name="T19" fmla="*/ 18 h 301"/>
              <a:gd name="T20" fmla="*/ 168 w 296"/>
              <a:gd name="T21" fmla="*/ 48 h 301"/>
              <a:gd name="T22" fmla="*/ 182 w 296"/>
              <a:gd name="T23" fmla="*/ 169 h 301"/>
              <a:gd name="T24" fmla="*/ 154 w 296"/>
              <a:gd name="T25" fmla="*/ 149 h 301"/>
              <a:gd name="T26" fmla="*/ 104 w 296"/>
              <a:gd name="T27" fmla="*/ 125 h 301"/>
              <a:gd name="T28" fmla="*/ 74 w 296"/>
              <a:gd name="T29" fmla="*/ 125 h 301"/>
              <a:gd name="T30" fmla="*/ 35 w 296"/>
              <a:gd name="T31" fmla="*/ 134 h 301"/>
              <a:gd name="T32" fmla="*/ 7 w 296"/>
              <a:gd name="T33" fmla="*/ 155 h 301"/>
              <a:gd name="T34" fmla="*/ 0 w 296"/>
              <a:gd name="T35" fmla="*/ 166 h 301"/>
              <a:gd name="T36" fmla="*/ 2 w 296"/>
              <a:gd name="T37" fmla="*/ 180 h 301"/>
              <a:gd name="T38" fmla="*/ 21 w 296"/>
              <a:gd name="T39" fmla="*/ 250 h 301"/>
              <a:gd name="T40" fmla="*/ 35 w 296"/>
              <a:gd name="T41" fmla="*/ 282 h 301"/>
              <a:gd name="T42" fmla="*/ 46 w 296"/>
              <a:gd name="T43" fmla="*/ 293 h 301"/>
              <a:gd name="T44" fmla="*/ 60 w 296"/>
              <a:gd name="T45" fmla="*/ 301 h 301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296"/>
              <a:gd name="T70" fmla="*/ 0 h 301"/>
              <a:gd name="T71" fmla="*/ 296 w 296"/>
              <a:gd name="T72" fmla="*/ 301 h 301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296" h="301">
                <a:moveTo>
                  <a:pt x="281" y="227"/>
                </a:moveTo>
                <a:lnTo>
                  <a:pt x="282" y="202"/>
                </a:lnTo>
                <a:lnTo>
                  <a:pt x="292" y="144"/>
                </a:lnTo>
                <a:lnTo>
                  <a:pt x="296" y="106"/>
                </a:lnTo>
                <a:lnTo>
                  <a:pt x="292" y="61"/>
                </a:lnTo>
                <a:lnTo>
                  <a:pt x="278" y="25"/>
                </a:lnTo>
                <a:lnTo>
                  <a:pt x="256" y="4"/>
                </a:lnTo>
                <a:lnTo>
                  <a:pt x="226" y="0"/>
                </a:lnTo>
                <a:lnTo>
                  <a:pt x="198" y="4"/>
                </a:lnTo>
                <a:lnTo>
                  <a:pt x="176" y="18"/>
                </a:lnTo>
                <a:lnTo>
                  <a:pt x="168" y="48"/>
                </a:lnTo>
                <a:lnTo>
                  <a:pt x="182" y="169"/>
                </a:lnTo>
                <a:lnTo>
                  <a:pt x="154" y="149"/>
                </a:lnTo>
                <a:lnTo>
                  <a:pt x="104" y="125"/>
                </a:lnTo>
                <a:lnTo>
                  <a:pt x="74" y="125"/>
                </a:lnTo>
                <a:lnTo>
                  <a:pt x="35" y="134"/>
                </a:lnTo>
                <a:lnTo>
                  <a:pt x="7" y="155"/>
                </a:lnTo>
                <a:lnTo>
                  <a:pt x="0" y="166"/>
                </a:lnTo>
                <a:lnTo>
                  <a:pt x="2" y="180"/>
                </a:lnTo>
                <a:lnTo>
                  <a:pt x="21" y="250"/>
                </a:lnTo>
                <a:lnTo>
                  <a:pt x="35" y="282"/>
                </a:lnTo>
                <a:lnTo>
                  <a:pt x="46" y="293"/>
                </a:lnTo>
                <a:lnTo>
                  <a:pt x="60" y="301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2" name="Freeform 386"/>
          <p:cNvSpPr>
            <a:spLocks/>
          </p:cNvSpPr>
          <p:nvPr/>
        </p:nvSpPr>
        <p:spPr bwMode="auto">
          <a:xfrm>
            <a:off x="4840288" y="4183063"/>
            <a:ext cx="206375" cy="177800"/>
          </a:xfrm>
          <a:custGeom>
            <a:avLst/>
            <a:gdLst>
              <a:gd name="T0" fmla="*/ 282 w 304"/>
              <a:gd name="T1" fmla="*/ 0 h 249"/>
              <a:gd name="T2" fmla="*/ 293 w 304"/>
              <a:gd name="T3" fmla="*/ 22 h 249"/>
              <a:gd name="T4" fmla="*/ 302 w 304"/>
              <a:gd name="T5" fmla="*/ 69 h 249"/>
              <a:gd name="T6" fmla="*/ 304 w 304"/>
              <a:gd name="T7" fmla="*/ 92 h 249"/>
              <a:gd name="T8" fmla="*/ 296 w 304"/>
              <a:gd name="T9" fmla="*/ 114 h 249"/>
              <a:gd name="T10" fmla="*/ 279 w 304"/>
              <a:gd name="T11" fmla="*/ 129 h 249"/>
              <a:gd name="T12" fmla="*/ 246 w 304"/>
              <a:gd name="T13" fmla="*/ 133 h 249"/>
              <a:gd name="T14" fmla="*/ 187 w 304"/>
              <a:gd name="T15" fmla="*/ 125 h 249"/>
              <a:gd name="T16" fmla="*/ 152 w 304"/>
              <a:gd name="T17" fmla="*/ 118 h 249"/>
              <a:gd name="T18" fmla="*/ 132 w 304"/>
              <a:gd name="T19" fmla="*/ 107 h 249"/>
              <a:gd name="T20" fmla="*/ 77 w 304"/>
              <a:gd name="T21" fmla="*/ 83 h 249"/>
              <a:gd name="T22" fmla="*/ 38 w 304"/>
              <a:gd name="T23" fmla="*/ 72 h 249"/>
              <a:gd name="T24" fmla="*/ 24 w 304"/>
              <a:gd name="T25" fmla="*/ 74 h 249"/>
              <a:gd name="T26" fmla="*/ 14 w 304"/>
              <a:gd name="T27" fmla="*/ 82 h 249"/>
              <a:gd name="T28" fmla="*/ 5 w 304"/>
              <a:gd name="T29" fmla="*/ 111 h 249"/>
              <a:gd name="T30" fmla="*/ 0 w 304"/>
              <a:gd name="T31" fmla="*/ 154 h 249"/>
              <a:gd name="T32" fmla="*/ 5 w 304"/>
              <a:gd name="T33" fmla="*/ 172 h 249"/>
              <a:gd name="T34" fmla="*/ 13 w 304"/>
              <a:gd name="T35" fmla="*/ 191 h 249"/>
              <a:gd name="T36" fmla="*/ 28 w 304"/>
              <a:gd name="T37" fmla="*/ 205 h 249"/>
              <a:gd name="T38" fmla="*/ 50 w 304"/>
              <a:gd name="T39" fmla="*/ 216 h 249"/>
              <a:gd name="T40" fmla="*/ 161 w 304"/>
              <a:gd name="T41" fmla="*/ 240 h 249"/>
              <a:gd name="T42" fmla="*/ 218 w 304"/>
              <a:gd name="T43" fmla="*/ 249 h 249"/>
              <a:gd name="T44" fmla="*/ 251 w 304"/>
              <a:gd name="T45" fmla="*/ 249 h 249"/>
              <a:gd name="T46" fmla="*/ 276 w 304"/>
              <a:gd name="T47" fmla="*/ 240 h 249"/>
              <a:gd name="T48" fmla="*/ 288 w 304"/>
              <a:gd name="T49" fmla="*/ 219 h 249"/>
              <a:gd name="T50" fmla="*/ 296 w 304"/>
              <a:gd name="T51" fmla="*/ 172 h 249"/>
              <a:gd name="T52" fmla="*/ 293 w 304"/>
              <a:gd name="T53" fmla="*/ 157 h 249"/>
              <a:gd name="T54" fmla="*/ 279 w 304"/>
              <a:gd name="T55" fmla="*/ 152 h 249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304"/>
              <a:gd name="T85" fmla="*/ 0 h 249"/>
              <a:gd name="T86" fmla="*/ 304 w 304"/>
              <a:gd name="T87" fmla="*/ 249 h 249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304" h="249">
                <a:moveTo>
                  <a:pt x="282" y="0"/>
                </a:moveTo>
                <a:lnTo>
                  <a:pt x="293" y="22"/>
                </a:lnTo>
                <a:lnTo>
                  <a:pt x="302" y="69"/>
                </a:lnTo>
                <a:lnTo>
                  <a:pt x="304" y="92"/>
                </a:lnTo>
                <a:lnTo>
                  <a:pt x="296" y="114"/>
                </a:lnTo>
                <a:lnTo>
                  <a:pt x="279" y="129"/>
                </a:lnTo>
                <a:lnTo>
                  <a:pt x="246" y="133"/>
                </a:lnTo>
                <a:lnTo>
                  <a:pt x="187" y="125"/>
                </a:lnTo>
                <a:lnTo>
                  <a:pt x="152" y="118"/>
                </a:lnTo>
                <a:lnTo>
                  <a:pt x="132" y="107"/>
                </a:lnTo>
                <a:lnTo>
                  <a:pt x="77" y="83"/>
                </a:lnTo>
                <a:lnTo>
                  <a:pt x="38" y="72"/>
                </a:lnTo>
                <a:lnTo>
                  <a:pt x="24" y="74"/>
                </a:lnTo>
                <a:lnTo>
                  <a:pt x="14" y="82"/>
                </a:lnTo>
                <a:lnTo>
                  <a:pt x="5" y="111"/>
                </a:lnTo>
                <a:lnTo>
                  <a:pt x="0" y="154"/>
                </a:lnTo>
                <a:lnTo>
                  <a:pt x="5" y="172"/>
                </a:lnTo>
                <a:lnTo>
                  <a:pt x="13" y="191"/>
                </a:lnTo>
                <a:lnTo>
                  <a:pt x="28" y="205"/>
                </a:lnTo>
                <a:lnTo>
                  <a:pt x="50" y="216"/>
                </a:lnTo>
                <a:lnTo>
                  <a:pt x="161" y="240"/>
                </a:lnTo>
                <a:lnTo>
                  <a:pt x="218" y="249"/>
                </a:lnTo>
                <a:lnTo>
                  <a:pt x="251" y="249"/>
                </a:lnTo>
                <a:lnTo>
                  <a:pt x="276" y="240"/>
                </a:lnTo>
                <a:lnTo>
                  <a:pt x="288" y="219"/>
                </a:lnTo>
                <a:lnTo>
                  <a:pt x="296" y="172"/>
                </a:lnTo>
                <a:lnTo>
                  <a:pt x="293" y="157"/>
                </a:lnTo>
                <a:lnTo>
                  <a:pt x="279" y="152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3" name="Freeform 387"/>
          <p:cNvSpPr>
            <a:spLocks/>
          </p:cNvSpPr>
          <p:nvPr/>
        </p:nvSpPr>
        <p:spPr bwMode="auto">
          <a:xfrm>
            <a:off x="4840288" y="4183063"/>
            <a:ext cx="206375" cy="177800"/>
          </a:xfrm>
          <a:custGeom>
            <a:avLst/>
            <a:gdLst>
              <a:gd name="T0" fmla="*/ 282 w 304"/>
              <a:gd name="T1" fmla="*/ 0 h 249"/>
              <a:gd name="T2" fmla="*/ 293 w 304"/>
              <a:gd name="T3" fmla="*/ 22 h 249"/>
              <a:gd name="T4" fmla="*/ 302 w 304"/>
              <a:gd name="T5" fmla="*/ 69 h 249"/>
              <a:gd name="T6" fmla="*/ 304 w 304"/>
              <a:gd name="T7" fmla="*/ 92 h 249"/>
              <a:gd name="T8" fmla="*/ 296 w 304"/>
              <a:gd name="T9" fmla="*/ 114 h 249"/>
              <a:gd name="T10" fmla="*/ 279 w 304"/>
              <a:gd name="T11" fmla="*/ 129 h 249"/>
              <a:gd name="T12" fmla="*/ 246 w 304"/>
              <a:gd name="T13" fmla="*/ 133 h 249"/>
              <a:gd name="T14" fmla="*/ 187 w 304"/>
              <a:gd name="T15" fmla="*/ 125 h 249"/>
              <a:gd name="T16" fmla="*/ 152 w 304"/>
              <a:gd name="T17" fmla="*/ 118 h 249"/>
              <a:gd name="T18" fmla="*/ 132 w 304"/>
              <a:gd name="T19" fmla="*/ 107 h 249"/>
              <a:gd name="T20" fmla="*/ 77 w 304"/>
              <a:gd name="T21" fmla="*/ 83 h 249"/>
              <a:gd name="T22" fmla="*/ 38 w 304"/>
              <a:gd name="T23" fmla="*/ 72 h 249"/>
              <a:gd name="T24" fmla="*/ 24 w 304"/>
              <a:gd name="T25" fmla="*/ 74 h 249"/>
              <a:gd name="T26" fmla="*/ 14 w 304"/>
              <a:gd name="T27" fmla="*/ 82 h 249"/>
              <a:gd name="T28" fmla="*/ 5 w 304"/>
              <a:gd name="T29" fmla="*/ 111 h 249"/>
              <a:gd name="T30" fmla="*/ 0 w 304"/>
              <a:gd name="T31" fmla="*/ 154 h 249"/>
              <a:gd name="T32" fmla="*/ 5 w 304"/>
              <a:gd name="T33" fmla="*/ 172 h 249"/>
              <a:gd name="T34" fmla="*/ 13 w 304"/>
              <a:gd name="T35" fmla="*/ 191 h 249"/>
              <a:gd name="T36" fmla="*/ 28 w 304"/>
              <a:gd name="T37" fmla="*/ 205 h 249"/>
              <a:gd name="T38" fmla="*/ 50 w 304"/>
              <a:gd name="T39" fmla="*/ 216 h 249"/>
              <a:gd name="T40" fmla="*/ 161 w 304"/>
              <a:gd name="T41" fmla="*/ 240 h 249"/>
              <a:gd name="T42" fmla="*/ 218 w 304"/>
              <a:gd name="T43" fmla="*/ 249 h 249"/>
              <a:gd name="T44" fmla="*/ 251 w 304"/>
              <a:gd name="T45" fmla="*/ 249 h 249"/>
              <a:gd name="T46" fmla="*/ 276 w 304"/>
              <a:gd name="T47" fmla="*/ 240 h 249"/>
              <a:gd name="T48" fmla="*/ 288 w 304"/>
              <a:gd name="T49" fmla="*/ 219 h 249"/>
              <a:gd name="T50" fmla="*/ 296 w 304"/>
              <a:gd name="T51" fmla="*/ 172 h 249"/>
              <a:gd name="T52" fmla="*/ 293 w 304"/>
              <a:gd name="T53" fmla="*/ 157 h 249"/>
              <a:gd name="T54" fmla="*/ 279 w 304"/>
              <a:gd name="T55" fmla="*/ 152 h 249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304"/>
              <a:gd name="T85" fmla="*/ 0 h 249"/>
              <a:gd name="T86" fmla="*/ 304 w 304"/>
              <a:gd name="T87" fmla="*/ 249 h 249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304" h="249">
                <a:moveTo>
                  <a:pt x="282" y="0"/>
                </a:moveTo>
                <a:lnTo>
                  <a:pt x="293" y="22"/>
                </a:lnTo>
                <a:lnTo>
                  <a:pt x="302" y="69"/>
                </a:lnTo>
                <a:lnTo>
                  <a:pt x="304" y="92"/>
                </a:lnTo>
                <a:lnTo>
                  <a:pt x="296" y="114"/>
                </a:lnTo>
                <a:lnTo>
                  <a:pt x="279" y="129"/>
                </a:lnTo>
                <a:lnTo>
                  <a:pt x="246" y="133"/>
                </a:lnTo>
                <a:lnTo>
                  <a:pt x="187" y="125"/>
                </a:lnTo>
                <a:lnTo>
                  <a:pt x="152" y="118"/>
                </a:lnTo>
                <a:lnTo>
                  <a:pt x="132" y="107"/>
                </a:lnTo>
                <a:lnTo>
                  <a:pt x="77" y="83"/>
                </a:lnTo>
                <a:lnTo>
                  <a:pt x="38" y="72"/>
                </a:lnTo>
                <a:lnTo>
                  <a:pt x="24" y="74"/>
                </a:lnTo>
                <a:lnTo>
                  <a:pt x="14" y="82"/>
                </a:lnTo>
                <a:lnTo>
                  <a:pt x="5" y="111"/>
                </a:lnTo>
                <a:lnTo>
                  <a:pt x="0" y="154"/>
                </a:lnTo>
                <a:lnTo>
                  <a:pt x="5" y="172"/>
                </a:lnTo>
                <a:lnTo>
                  <a:pt x="13" y="191"/>
                </a:lnTo>
                <a:lnTo>
                  <a:pt x="28" y="205"/>
                </a:lnTo>
                <a:lnTo>
                  <a:pt x="50" y="216"/>
                </a:lnTo>
                <a:lnTo>
                  <a:pt x="161" y="240"/>
                </a:lnTo>
                <a:lnTo>
                  <a:pt x="218" y="249"/>
                </a:lnTo>
                <a:lnTo>
                  <a:pt x="251" y="249"/>
                </a:lnTo>
                <a:lnTo>
                  <a:pt x="276" y="240"/>
                </a:lnTo>
                <a:lnTo>
                  <a:pt x="288" y="219"/>
                </a:lnTo>
                <a:lnTo>
                  <a:pt x="296" y="172"/>
                </a:lnTo>
                <a:lnTo>
                  <a:pt x="293" y="157"/>
                </a:lnTo>
                <a:lnTo>
                  <a:pt x="279" y="152"/>
                </a:lnTo>
              </a:path>
            </a:pathLst>
          </a:custGeom>
          <a:noFill/>
          <a:ln w="4763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4" name="Freeform 388"/>
          <p:cNvSpPr>
            <a:spLocks/>
          </p:cNvSpPr>
          <p:nvPr/>
        </p:nvSpPr>
        <p:spPr bwMode="auto">
          <a:xfrm>
            <a:off x="4891088" y="4357688"/>
            <a:ext cx="111125" cy="96837"/>
          </a:xfrm>
          <a:custGeom>
            <a:avLst/>
            <a:gdLst>
              <a:gd name="T0" fmla="*/ 58 w 163"/>
              <a:gd name="T1" fmla="*/ 0 h 136"/>
              <a:gd name="T2" fmla="*/ 23 w 163"/>
              <a:gd name="T3" fmla="*/ 25 h 136"/>
              <a:gd name="T4" fmla="*/ 3 w 163"/>
              <a:gd name="T5" fmla="*/ 50 h 136"/>
              <a:gd name="T6" fmla="*/ 0 w 163"/>
              <a:gd name="T7" fmla="*/ 73 h 136"/>
              <a:gd name="T8" fmla="*/ 12 w 163"/>
              <a:gd name="T9" fmla="*/ 98 h 136"/>
              <a:gd name="T10" fmla="*/ 34 w 163"/>
              <a:gd name="T11" fmla="*/ 125 h 136"/>
              <a:gd name="T12" fmla="*/ 48 w 163"/>
              <a:gd name="T13" fmla="*/ 133 h 136"/>
              <a:gd name="T14" fmla="*/ 64 w 163"/>
              <a:gd name="T15" fmla="*/ 136 h 136"/>
              <a:gd name="T16" fmla="*/ 103 w 163"/>
              <a:gd name="T17" fmla="*/ 122 h 136"/>
              <a:gd name="T18" fmla="*/ 141 w 163"/>
              <a:gd name="T19" fmla="*/ 91 h 136"/>
              <a:gd name="T20" fmla="*/ 158 w 163"/>
              <a:gd name="T21" fmla="*/ 62 h 136"/>
              <a:gd name="T22" fmla="*/ 163 w 163"/>
              <a:gd name="T23" fmla="*/ 37 h 136"/>
              <a:gd name="T24" fmla="*/ 155 w 163"/>
              <a:gd name="T25" fmla="*/ 23 h 1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63"/>
              <a:gd name="T40" fmla="*/ 0 h 136"/>
              <a:gd name="T41" fmla="*/ 163 w 163"/>
              <a:gd name="T42" fmla="*/ 136 h 1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63" h="136">
                <a:moveTo>
                  <a:pt x="58" y="0"/>
                </a:moveTo>
                <a:lnTo>
                  <a:pt x="23" y="25"/>
                </a:lnTo>
                <a:lnTo>
                  <a:pt x="3" y="50"/>
                </a:lnTo>
                <a:lnTo>
                  <a:pt x="0" y="73"/>
                </a:lnTo>
                <a:lnTo>
                  <a:pt x="12" y="98"/>
                </a:lnTo>
                <a:lnTo>
                  <a:pt x="34" y="125"/>
                </a:lnTo>
                <a:lnTo>
                  <a:pt x="48" y="133"/>
                </a:lnTo>
                <a:lnTo>
                  <a:pt x="64" y="136"/>
                </a:lnTo>
                <a:lnTo>
                  <a:pt x="103" y="122"/>
                </a:lnTo>
                <a:lnTo>
                  <a:pt x="141" y="91"/>
                </a:lnTo>
                <a:lnTo>
                  <a:pt x="158" y="62"/>
                </a:lnTo>
                <a:lnTo>
                  <a:pt x="163" y="37"/>
                </a:lnTo>
                <a:lnTo>
                  <a:pt x="155" y="23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5" name="Freeform 389"/>
          <p:cNvSpPr>
            <a:spLocks/>
          </p:cNvSpPr>
          <p:nvPr/>
        </p:nvSpPr>
        <p:spPr bwMode="auto">
          <a:xfrm>
            <a:off x="4891088" y="4357688"/>
            <a:ext cx="111125" cy="96837"/>
          </a:xfrm>
          <a:custGeom>
            <a:avLst/>
            <a:gdLst>
              <a:gd name="T0" fmla="*/ 58 w 163"/>
              <a:gd name="T1" fmla="*/ 0 h 136"/>
              <a:gd name="T2" fmla="*/ 23 w 163"/>
              <a:gd name="T3" fmla="*/ 25 h 136"/>
              <a:gd name="T4" fmla="*/ 3 w 163"/>
              <a:gd name="T5" fmla="*/ 50 h 136"/>
              <a:gd name="T6" fmla="*/ 0 w 163"/>
              <a:gd name="T7" fmla="*/ 73 h 136"/>
              <a:gd name="T8" fmla="*/ 12 w 163"/>
              <a:gd name="T9" fmla="*/ 98 h 136"/>
              <a:gd name="T10" fmla="*/ 34 w 163"/>
              <a:gd name="T11" fmla="*/ 125 h 136"/>
              <a:gd name="T12" fmla="*/ 48 w 163"/>
              <a:gd name="T13" fmla="*/ 133 h 136"/>
              <a:gd name="T14" fmla="*/ 64 w 163"/>
              <a:gd name="T15" fmla="*/ 136 h 136"/>
              <a:gd name="T16" fmla="*/ 103 w 163"/>
              <a:gd name="T17" fmla="*/ 122 h 136"/>
              <a:gd name="T18" fmla="*/ 141 w 163"/>
              <a:gd name="T19" fmla="*/ 91 h 136"/>
              <a:gd name="T20" fmla="*/ 158 w 163"/>
              <a:gd name="T21" fmla="*/ 62 h 136"/>
              <a:gd name="T22" fmla="*/ 163 w 163"/>
              <a:gd name="T23" fmla="*/ 37 h 136"/>
              <a:gd name="T24" fmla="*/ 155 w 163"/>
              <a:gd name="T25" fmla="*/ 23 h 1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63"/>
              <a:gd name="T40" fmla="*/ 0 h 136"/>
              <a:gd name="T41" fmla="*/ 163 w 163"/>
              <a:gd name="T42" fmla="*/ 136 h 1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63" h="136">
                <a:moveTo>
                  <a:pt x="58" y="0"/>
                </a:moveTo>
                <a:lnTo>
                  <a:pt x="23" y="25"/>
                </a:lnTo>
                <a:lnTo>
                  <a:pt x="3" y="50"/>
                </a:lnTo>
                <a:lnTo>
                  <a:pt x="0" y="73"/>
                </a:lnTo>
                <a:lnTo>
                  <a:pt x="12" y="98"/>
                </a:lnTo>
                <a:lnTo>
                  <a:pt x="34" y="125"/>
                </a:lnTo>
                <a:lnTo>
                  <a:pt x="48" y="133"/>
                </a:lnTo>
                <a:lnTo>
                  <a:pt x="64" y="136"/>
                </a:lnTo>
                <a:lnTo>
                  <a:pt x="103" y="122"/>
                </a:lnTo>
                <a:lnTo>
                  <a:pt x="141" y="91"/>
                </a:lnTo>
                <a:lnTo>
                  <a:pt x="158" y="62"/>
                </a:lnTo>
                <a:lnTo>
                  <a:pt x="163" y="37"/>
                </a:lnTo>
                <a:lnTo>
                  <a:pt x="155" y="23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6" name="Freeform 390"/>
          <p:cNvSpPr>
            <a:spLocks/>
          </p:cNvSpPr>
          <p:nvPr/>
        </p:nvSpPr>
        <p:spPr bwMode="auto">
          <a:xfrm>
            <a:off x="4983163" y="4338638"/>
            <a:ext cx="146050" cy="263525"/>
          </a:xfrm>
          <a:custGeom>
            <a:avLst/>
            <a:gdLst>
              <a:gd name="T0" fmla="*/ 0 w 214"/>
              <a:gd name="T1" fmla="*/ 148 h 369"/>
              <a:gd name="T2" fmla="*/ 87 w 214"/>
              <a:gd name="T3" fmla="*/ 323 h 369"/>
              <a:gd name="T4" fmla="*/ 95 w 214"/>
              <a:gd name="T5" fmla="*/ 338 h 369"/>
              <a:gd name="T6" fmla="*/ 116 w 214"/>
              <a:gd name="T7" fmla="*/ 363 h 369"/>
              <a:gd name="T8" fmla="*/ 128 w 214"/>
              <a:gd name="T9" fmla="*/ 369 h 369"/>
              <a:gd name="T10" fmla="*/ 141 w 214"/>
              <a:gd name="T11" fmla="*/ 364 h 369"/>
              <a:gd name="T12" fmla="*/ 152 w 214"/>
              <a:gd name="T13" fmla="*/ 349 h 369"/>
              <a:gd name="T14" fmla="*/ 159 w 214"/>
              <a:gd name="T15" fmla="*/ 316 h 369"/>
              <a:gd name="T16" fmla="*/ 214 w 214"/>
              <a:gd name="T17" fmla="*/ 0 h 3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14"/>
              <a:gd name="T28" fmla="*/ 0 h 369"/>
              <a:gd name="T29" fmla="*/ 214 w 214"/>
              <a:gd name="T30" fmla="*/ 369 h 36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14" h="369">
                <a:moveTo>
                  <a:pt x="0" y="148"/>
                </a:moveTo>
                <a:lnTo>
                  <a:pt x="87" y="323"/>
                </a:lnTo>
                <a:lnTo>
                  <a:pt x="95" y="338"/>
                </a:lnTo>
                <a:lnTo>
                  <a:pt x="116" y="363"/>
                </a:lnTo>
                <a:lnTo>
                  <a:pt x="128" y="369"/>
                </a:lnTo>
                <a:lnTo>
                  <a:pt x="141" y="364"/>
                </a:lnTo>
                <a:lnTo>
                  <a:pt x="152" y="349"/>
                </a:lnTo>
                <a:lnTo>
                  <a:pt x="159" y="316"/>
                </a:lnTo>
                <a:lnTo>
                  <a:pt x="214" y="0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7" name="Freeform 391"/>
          <p:cNvSpPr>
            <a:spLocks/>
          </p:cNvSpPr>
          <p:nvPr/>
        </p:nvSpPr>
        <p:spPr bwMode="auto">
          <a:xfrm>
            <a:off x="5395913" y="4057650"/>
            <a:ext cx="12700" cy="20638"/>
          </a:xfrm>
          <a:custGeom>
            <a:avLst/>
            <a:gdLst>
              <a:gd name="T0" fmla="*/ 20 w 20"/>
              <a:gd name="T1" fmla="*/ 0 h 29"/>
              <a:gd name="T2" fmla="*/ 9 w 20"/>
              <a:gd name="T3" fmla="*/ 1 h 29"/>
              <a:gd name="T4" fmla="*/ 0 w 20"/>
              <a:gd name="T5" fmla="*/ 10 h 29"/>
              <a:gd name="T6" fmla="*/ 3 w 20"/>
              <a:gd name="T7" fmla="*/ 23 h 29"/>
              <a:gd name="T8" fmla="*/ 11 w 20"/>
              <a:gd name="T9" fmla="*/ 29 h 29"/>
              <a:gd name="T10" fmla="*/ 20 w 20"/>
              <a:gd name="T11" fmla="*/ 0 h 29"/>
              <a:gd name="T12" fmla="*/ 20 w 20"/>
              <a:gd name="T13" fmla="*/ 0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"/>
              <a:gd name="T22" fmla="*/ 0 h 29"/>
              <a:gd name="T23" fmla="*/ 20 w 20"/>
              <a:gd name="T24" fmla="*/ 29 h 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" h="29">
                <a:moveTo>
                  <a:pt x="20" y="0"/>
                </a:moveTo>
                <a:lnTo>
                  <a:pt x="9" y="1"/>
                </a:lnTo>
                <a:lnTo>
                  <a:pt x="0" y="10"/>
                </a:lnTo>
                <a:lnTo>
                  <a:pt x="3" y="23"/>
                </a:lnTo>
                <a:lnTo>
                  <a:pt x="11" y="29"/>
                </a:lnTo>
                <a:lnTo>
                  <a:pt x="2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8" name="Freeform 392"/>
          <p:cNvSpPr>
            <a:spLocks/>
          </p:cNvSpPr>
          <p:nvPr/>
        </p:nvSpPr>
        <p:spPr bwMode="auto">
          <a:xfrm>
            <a:off x="5584825" y="4660900"/>
            <a:ext cx="15875" cy="22225"/>
          </a:xfrm>
          <a:custGeom>
            <a:avLst/>
            <a:gdLst>
              <a:gd name="T0" fmla="*/ 7 w 23"/>
              <a:gd name="T1" fmla="*/ 0 h 32"/>
              <a:gd name="T2" fmla="*/ 0 w 23"/>
              <a:gd name="T3" fmla="*/ 10 h 32"/>
              <a:gd name="T4" fmla="*/ 1 w 23"/>
              <a:gd name="T5" fmla="*/ 21 h 32"/>
              <a:gd name="T6" fmla="*/ 9 w 23"/>
              <a:gd name="T7" fmla="*/ 32 h 32"/>
              <a:gd name="T8" fmla="*/ 23 w 23"/>
              <a:gd name="T9" fmla="*/ 32 h 32"/>
              <a:gd name="T10" fmla="*/ 9 w 23"/>
              <a:gd name="T11" fmla="*/ 0 h 32"/>
              <a:gd name="T12" fmla="*/ 9 w 23"/>
              <a:gd name="T13" fmla="*/ 0 h 32"/>
              <a:gd name="T14" fmla="*/ 7 w 23"/>
              <a:gd name="T15" fmla="*/ 0 h 3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3"/>
              <a:gd name="T25" fmla="*/ 0 h 32"/>
              <a:gd name="T26" fmla="*/ 23 w 23"/>
              <a:gd name="T27" fmla="*/ 32 h 3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3" h="32">
                <a:moveTo>
                  <a:pt x="7" y="0"/>
                </a:moveTo>
                <a:lnTo>
                  <a:pt x="0" y="10"/>
                </a:lnTo>
                <a:lnTo>
                  <a:pt x="1" y="21"/>
                </a:lnTo>
                <a:lnTo>
                  <a:pt x="9" y="32"/>
                </a:lnTo>
                <a:lnTo>
                  <a:pt x="23" y="32"/>
                </a:lnTo>
                <a:lnTo>
                  <a:pt x="9" y="0"/>
                </a:lnTo>
                <a:lnTo>
                  <a:pt x="7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9" name="Freeform 393"/>
          <p:cNvSpPr>
            <a:spLocks/>
          </p:cNvSpPr>
          <p:nvPr/>
        </p:nvSpPr>
        <p:spPr bwMode="auto">
          <a:xfrm>
            <a:off x="5549900" y="4387850"/>
            <a:ext cx="139700" cy="701675"/>
          </a:xfrm>
          <a:custGeom>
            <a:avLst/>
            <a:gdLst>
              <a:gd name="T0" fmla="*/ 0 w 202"/>
              <a:gd name="T1" fmla="*/ 0 h 974"/>
              <a:gd name="T2" fmla="*/ 39 w 202"/>
              <a:gd name="T3" fmla="*/ 283 h 974"/>
              <a:gd name="T4" fmla="*/ 72 w 202"/>
              <a:gd name="T5" fmla="*/ 482 h 974"/>
              <a:gd name="T6" fmla="*/ 88 w 202"/>
              <a:gd name="T7" fmla="*/ 551 h 974"/>
              <a:gd name="T8" fmla="*/ 99 w 202"/>
              <a:gd name="T9" fmla="*/ 582 h 974"/>
              <a:gd name="T10" fmla="*/ 122 w 202"/>
              <a:gd name="T11" fmla="*/ 639 h 974"/>
              <a:gd name="T12" fmla="*/ 150 w 202"/>
              <a:gd name="T13" fmla="*/ 736 h 974"/>
              <a:gd name="T14" fmla="*/ 182 w 202"/>
              <a:gd name="T15" fmla="*/ 886 h 974"/>
              <a:gd name="T16" fmla="*/ 193 w 202"/>
              <a:gd name="T17" fmla="*/ 940 h 974"/>
              <a:gd name="T18" fmla="*/ 202 w 202"/>
              <a:gd name="T19" fmla="*/ 974 h 97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02"/>
              <a:gd name="T31" fmla="*/ 0 h 974"/>
              <a:gd name="T32" fmla="*/ 202 w 202"/>
              <a:gd name="T33" fmla="*/ 974 h 97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02" h="974">
                <a:moveTo>
                  <a:pt x="0" y="0"/>
                </a:moveTo>
                <a:lnTo>
                  <a:pt x="39" y="283"/>
                </a:lnTo>
                <a:lnTo>
                  <a:pt x="72" y="482"/>
                </a:lnTo>
                <a:lnTo>
                  <a:pt x="88" y="551"/>
                </a:lnTo>
                <a:lnTo>
                  <a:pt x="99" y="582"/>
                </a:lnTo>
                <a:lnTo>
                  <a:pt x="122" y="639"/>
                </a:lnTo>
                <a:lnTo>
                  <a:pt x="150" y="736"/>
                </a:lnTo>
                <a:lnTo>
                  <a:pt x="182" y="886"/>
                </a:lnTo>
                <a:lnTo>
                  <a:pt x="193" y="940"/>
                </a:lnTo>
                <a:lnTo>
                  <a:pt x="202" y="974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0" name="Freeform 394"/>
          <p:cNvSpPr>
            <a:spLocks/>
          </p:cNvSpPr>
          <p:nvPr/>
        </p:nvSpPr>
        <p:spPr bwMode="auto">
          <a:xfrm>
            <a:off x="5643563" y="5065713"/>
            <a:ext cx="12700" cy="23812"/>
          </a:xfrm>
          <a:custGeom>
            <a:avLst/>
            <a:gdLst>
              <a:gd name="T0" fmla="*/ 6 w 20"/>
              <a:gd name="T1" fmla="*/ 33 h 34"/>
              <a:gd name="T2" fmla="*/ 15 w 20"/>
              <a:gd name="T3" fmla="*/ 26 h 34"/>
              <a:gd name="T4" fmla="*/ 20 w 20"/>
              <a:gd name="T5" fmla="*/ 14 h 34"/>
              <a:gd name="T6" fmla="*/ 14 w 20"/>
              <a:gd name="T7" fmla="*/ 3 h 34"/>
              <a:gd name="T8" fmla="*/ 0 w 20"/>
              <a:gd name="T9" fmla="*/ 0 h 34"/>
              <a:gd name="T10" fmla="*/ 6 w 20"/>
              <a:gd name="T11" fmla="*/ 34 h 34"/>
              <a:gd name="T12" fmla="*/ 6 w 20"/>
              <a:gd name="T13" fmla="*/ 34 h 34"/>
              <a:gd name="T14" fmla="*/ 6 w 20"/>
              <a:gd name="T15" fmla="*/ 33 h 3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0"/>
              <a:gd name="T25" fmla="*/ 0 h 34"/>
              <a:gd name="T26" fmla="*/ 20 w 20"/>
              <a:gd name="T27" fmla="*/ 34 h 3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0" h="34">
                <a:moveTo>
                  <a:pt x="6" y="33"/>
                </a:moveTo>
                <a:lnTo>
                  <a:pt x="15" y="26"/>
                </a:lnTo>
                <a:lnTo>
                  <a:pt x="20" y="14"/>
                </a:lnTo>
                <a:lnTo>
                  <a:pt x="14" y="3"/>
                </a:lnTo>
                <a:lnTo>
                  <a:pt x="0" y="0"/>
                </a:lnTo>
                <a:lnTo>
                  <a:pt x="6" y="34"/>
                </a:lnTo>
                <a:lnTo>
                  <a:pt x="6" y="3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1" name="Freeform 395"/>
          <p:cNvSpPr>
            <a:spLocks/>
          </p:cNvSpPr>
          <p:nvPr/>
        </p:nvSpPr>
        <p:spPr bwMode="auto">
          <a:xfrm>
            <a:off x="5111750" y="5089525"/>
            <a:ext cx="11113" cy="23813"/>
          </a:xfrm>
          <a:custGeom>
            <a:avLst/>
            <a:gdLst>
              <a:gd name="T0" fmla="*/ 11 w 20"/>
              <a:gd name="T1" fmla="*/ 0 h 35"/>
              <a:gd name="T2" fmla="*/ 0 w 20"/>
              <a:gd name="T3" fmla="*/ 10 h 35"/>
              <a:gd name="T4" fmla="*/ 0 w 20"/>
              <a:gd name="T5" fmla="*/ 22 h 35"/>
              <a:gd name="T6" fmla="*/ 6 w 20"/>
              <a:gd name="T7" fmla="*/ 33 h 35"/>
              <a:gd name="T8" fmla="*/ 20 w 20"/>
              <a:gd name="T9" fmla="*/ 35 h 35"/>
              <a:gd name="T10" fmla="*/ 11 w 20"/>
              <a:gd name="T11" fmla="*/ 0 h 35"/>
              <a:gd name="T12" fmla="*/ 11 w 20"/>
              <a:gd name="T13" fmla="*/ 0 h 3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"/>
              <a:gd name="T22" fmla="*/ 0 h 35"/>
              <a:gd name="T23" fmla="*/ 20 w 20"/>
              <a:gd name="T24" fmla="*/ 35 h 3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" h="35">
                <a:moveTo>
                  <a:pt x="11" y="0"/>
                </a:moveTo>
                <a:lnTo>
                  <a:pt x="0" y="10"/>
                </a:lnTo>
                <a:lnTo>
                  <a:pt x="0" y="22"/>
                </a:lnTo>
                <a:lnTo>
                  <a:pt x="6" y="33"/>
                </a:lnTo>
                <a:lnTo>
                  <a:pt x="20" y="35"/>
                </a:lnTo>
                <a:lnTo>
                  <a:pt x="11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2" name="Freeform 396"/>
          <p:cNvSpPr>
            <a:spLocks/>
          </p:cNvSpPr>
          <p:nvPr/>
        </p:nvSpPr>
        <p:spPr bwMode="auto">
          <a:xfrm>
            <a:off x="5621338" y="4629150"/>
            <a:ext cx="117475" cy="246063"/>
          </a:xfrm>
          <a:custGeom>
            <a:avLst/>
            <a:gdLst>
              <a:gd name="T0" fmla="*/ 45 w 172"/>
              <a:gd name="T1" fmla="*/ 334 h 341"/>
              <a:gd name="T2" fmla="*/ 58 w 172"/>
              <a:gd name="T3" fmla="*/ 341 h 341"/>
              <a:gd name="T4" fmla="*/ 67 w 172"/>
              <a:gd name="T5" fmla="*/ 341 h 341"/>
              <a:gd name="T6" fmla="*/ 94 w 172"/>
              <a:gd name="T7" fmla="*/ 323 h 341"/>
              <a:gd name="T8" fmla="*/ 153 w 172"/>
              <a:gd name="T9" fmla="*/ 254 h 341"/>
              <a:gd name="T10" fmla="*/ 172 w 172"/>
              <a:gd name="T11" fmla="*/ 211 h 341"/>
              <a:gd name="T12" fmla="*/ 172 w 172"/>
              <a:gd name="T13" fmla="*/ 167 h 341"/>
              <a:gd name="T14" fmla="*/ 161 w 172"/>
              <a:gd name="T15" fmla="*/ 120 h 341"/>
              <a:gd name="T16" fmla="*/ 83 w 172"/>
              <a:gd name="T17" fmla="*/ 0 h 341"/>
              <a:gd name="T18" fmla="*/ 83 w 172"/>
              <a:gd name="T19" fmla="*/ 128 h 341"/>
              <a:gd name="T20" fmla="*/ 80 w 172"/>
              <a:gd name="T21" fmla="*/ 155 h 341"/>
              <a:gd name="T22" fmla="*/ 70 w 172"/>
              <a:gd name="T23" fmla="*/ 191 h 341"/>
              <a:gd name="T24" fmla="*/ 63 w 172"/>
              <a:gd name="T25" fmla="*/ 205 h 341"/>
              <a:gd name="T26" fmla="*/ 48 w 172"/>
              <a:gd name="T27" fmla="*/ 213 h 341"/>
              <a:gd name="T28" fmla="*/ 26 w 172"/>
              <a:gd name="T29" fmla="*/ 213 h 341"/>
              <a:gd name="T30" fmla="*/ 0 w 172"/>
              <a:gd name="T31" fmla="*/ 202 h 34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72"/>
              <a:gd name="T49" fmla="*/ 0 h 341"/>
              <a:gd name="T50" fmla="*/ 172 w 172"/>
              <a:gd name="T51" fmla="*/ 341 h 34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72" h="341">
                <a:moveTo>
                  <a:pt x="45" y="334"/>
                </a:moveTo>
                <a:lnTo>
                  <a:pt x="58" y="341"/>
                </a:lnTo>
                <a:lnTo>
                  <a:pt x="67" y="341"/>
                </a:lnTo>
                <a:lnTo>
                  <a:pt x="94" y="323"/>
                </a:lnTo>
                <a:lnTo>
                  <a:pt x="153" y="254"/>
                </a:lnTo>
                <a:lnTo>
                  <a:pt x="172" y="211"/>
                </a:lnTo>
                <a:lnTo>
                  <a:pt x="172" y="167"/>
                </a:lnTo>
                <a:lnTo>
                  <a:pt x="161" y="120"/>
                </a:lnTo>
                <a:lnTo>
                  <a:pt x="83" y="0"/>
                </a:lnTo>
                <a:lnTo>
                  <a:pt x="83" y="128"/>
                </a:lnTo>
                <a:lnTo>
                  <a:pt x="80" y="155"/>
                </a:lnTo>
                <a:lnTo>
                  <a:pt x="70" y="191"/>
                </a:lnTo>
                <a:lnTo>
                  <a:pt x="63" y="205"/>
                </a:lnTo>
                <a:lnTo>
                  <a:pt x="48" y="213"/>
                </a:lnTo>
                <a:lnTo>
                  <a:pt x="26" y="213"/>
                </a:lnTo>
                <a:lnTo>
                  <a:pt x="0" y="202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3" name="Freeform 397"/>
          <p:cNvSpPr>
            <a:spLocks/>
          </p:cNvSpPr>
          <p:nvPr/>
        </p:nvSpPr>
        <p:spPr bwMode="auto">
          <a:xfrm>
            <a:off x="5621338" y="4629150"/>
            <a:ext cx="117475" cy="246063"/>
          </a:xfrm>
          <a:custGeom>
            <a:avLst/>
            <a:gdLst>
              <a:gd name="T0" fmla="*/ 45 w 172"/>
              <a:gd name="T1" fmla="*/ 334 h 341"/>
              <a:gd name="T2" fmla="*/ 58 w 172"/>
              <a:gd name="T3" fmla="*/ 341 h 341"/>
              <a:gd name="T4" fmla="*/ 67 w 172"/>
              <a:gd name="T5" fmla="*/ 341 h 341"/>
              <a:gd name="T6" fmla="*/ 94 w 172"/>
              <a:gd name="T7" fmla="*/ 323 h 341"/>
              <a:gd name="T8" fmla="*/ 153 w 172"/>
              <a:gd name="T9" fmla="*/ 254 h 341"/>
              <a:gd name="T10" fmla="*/ 172 w 172"/>
              <a:gd name="T11" fmla="*/ 211 h 341"/>
              <a:gd name="T12" fmla="*/ 172 w 172"/>
              <a:gd name="T13" fmla="*/ 167 h 341"/>
              <a:gd name="T14" fmla="*/ 161 w 172"/>
              <a:gd name="T15" fmla="*/ 120 h 341"/>
              <a:gd name="T16" fmla="*/ 83 w 172"/>
              <a:gd name="T17" fmla="*/ 0 h 341"/>
              <a:gd name="T18" fmla="*/ 83 w 172"/>
              <a:gd name="T19" fmla="*/ 128 h 341"/>
              <a:gd name="T20" fmla="*/ 80 w 172"/>
              <a:gd name="T21" fmla="*/ 155 h 341"/>
              <a:gd name="T22" fmla="*/ 70 w 172"/>
              <a:gd name="T23" fmla="*/ 191 h 341"/>
              <a:gd name="T24" fmla="*/ 63 w 172"/>
              <a:gd name="T25" fmla="*/ 205 h 341"/>
              <a:gd name="T26" fmla="*/ 48 w 172"/>
              <a:gd name="T27" fmla="*/ 213 h 341"/>
              <a:gd name="T28" fmla="*/ 26 w 172"/>
              <a:gd name="T29" fmla="*/ 213 h 341"/>
              <a:gd name="T30" fmla="*/ 0 w 172"/>
              <a:gd name="T31" fmla="*/ 202 h 34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72"/>
              <a:gd name="T49" fmla="*/ 0 h 341"/>
              <a:gd name="T50" fmla="*/ 172 w 172"/>
              <a:gd name="T51" fmla="*/ 341 h 34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72" h="341">
                <a:moveTo>
                  <a:pt x="45" y="334"/>
                </a:moveTo>
                <a:lnTo>
                  <a:pt x="58" y="341"/>
                </a:lnTo>
                <a:lnTo>
                  <a:pt x="67" y="341"/>
                </a:lnTo>
                <a:lnTo>
                  <a:pt x="94" y="323"/>
                </a:lnTo>
                <a:lnTo>
                  <a:pt x="153" y="254"/>
                </a:lnTo>
                <a:lnTo>
                  <a:pt x="172" y="211"/>
                </a:lnTo>
                <a:lnTo>
                  <a:pt x="172" y="167"/>
                </a:lnTo>
                <a:lnTo>
                  <a:pt x="161" y="120"/>
                </a:lnTo>
                <a:lnTo>
                  <a:pt x="83" y="0"/>
                </a:lnTo>
                <a:lnTo>
                  <a:pt x="83" y="128"/>
                </a:lnTo>
                <a:lnTo>
                  <a:pt x="80" y="155"/>
                </a:lnTo>
                <a:lnTo>
                  <a:pt x="70" y="191"/>
                </a:lnTo>
                <a:lnTo>
                  <a:pt x="63" y="205"/>
                </a:lnTo>
                <a:lnTo>
                  <a:pt x="48" y="213"/>
                </a:lnTo>
                <a:lnTo>
                  <a:pt x="26" y="213"/>
                </a:lnTo>
                <a:lnTo>
                  <a:pt x="0" y="202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4" name="Freeform 398"/>
          <p:cNvSpPr>
            <a:spLocks/>
          </p:cNvSpPr>
          <p:nvPr/>
        </p:nvSpPr>
        <p:spPr bwMode="auto">
          <a:xfrm>
            <a:off x="7177088" y="3305175"/>
            <a:ext cx="333375" cy="219075"/>
          </a:xfrm>
          <a:custGeom>
            <a:avLst/>
            <a:gdLst>
              <a:gd name="T0" fmla="*/ 0 w 491"/>
              <a:gd name="T1" fmla="*/ 0 h 304"/>
              <a:gd name="T2" fmla="*/ 68 w 491"/>
              <a:gd name="T3" fmla="*/ 23 h 304"/>
              <a:gd name="T4" fmla="*/ 137 w 491"/>
              <a:gd name="T5" fmla="*/ 51 h 304"/>
              <a:gd name="T6" fmla="*/ 218 w 491"/>
              <a:gd name="T7" fmla="*/ 87 h 304"/>
              <a:gd name="T8" fmla="*/ 306 w 491"/>
              <a:gd name="T9" fmla="*/ 131 h 304"/>
              <a:gd name="T10" fmla="*/ 384 w 491"/>
              <a:gd name="T11" fmla="*/ 183 h 304"/>
              <a:gd name="T12" fmla="*/ 450 w 491"/>
              <a:gd name="T13" fmla="*/ 241 h 304"/>
              <a:gd name="T14" fmla="*/ 474 w 491"/>
              <a:gd name="T15" fmla="*/ 271 h 304"/>
              <a:gd name="T16" fmla="*/ 491 w 491"/>
              <a:gd name="T17" fmla="*/ 304 h 30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91"/>
              <a:gd name="T28" fmla="*/ 0 h 304"/>
              <a:gd name="T29" fmla="*/ 491 w 491"/>
              <a:gd name="T30" fmla="*/ 304 h 30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91" h="304">
                <a:moveTo>
                  <a:pt x="0" y="0"/>
                </a:moveTo>
                <a:lnTo>
                  <a:pt x="68" y="23"/>
                </a:lnTo>
                <a:lnTo>
                  <a:pt x="137" y="51"/>
                </a:lnTo>
                <a:lnTo>
                  <a:pt x="218" y="87"/>
                </a:lnTo>
                <a:lnTo>
                  <a:pt x="306" y="131"/>
                </a:lnTo>
                <a:lnTo>
                  <a:pt x="384" y="183"/>
                </a:lnTo>
                <a:lnTo>
                  <a:pt x="450" y="241"/>
                </a:lnTo>
                <a:lnTo>
                  <a:pt x="474" y="271"/>
                </a:lnTo>
                <a:lnTo>
                  <a:pt x="491" y="304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5" name="Freeform 399"/>
          <p:cNvSpPr>
            <a:spLocks/>
          </p:cNvSpPr>
          <p:nvPr/>
        </p:nvSpPr>
        <p:spPr bwMode="auto">
          <a:xfrm>
            <a:off x="7177088" y="3305175"/>
            <a:ext cx="333375" cy="219075"/>
          </a:xfrm>
          <a:custGeom>
            <a:avLst/>
            <a:gdLst>
              <a:gd name="T0" fmla="*/ 0 w 491"/>
              <a:gd name="T1" fmla="*/ 0 h 304"/>
              <a:gd name="T2" fmla="*/ 68 w 491"/>
              <a:gd name="T3" fmla="*/ 23 h 304"/>
              <a:gd name="T4" fmla="*/ 137 w 491"/>
              <a:gd name="T5" fmla="*/ 51 h 304"/>
              <a:gd name="T6" fmla="*/ 218 w 491"/>
              <a:gd name="T7" fmla="*/ 87 h 304"/>
              <a:gd name="T8" fmla="*/ 306 w 491"/>
              <a:gd name="T9" fmla="*/ 131 h 304"/>
              <a:gd name="T10" fmla="*/ 384 w 491"/>
              <a:gd name="T11" fmla="*/ 183 h 304"/>
              <a:gd name="T12" fmla="*/ 450 w 491"/>
              <a:gd name="T13" fmla="*/ 241 h 304"/>
              <a:gd name="T14" fmla="*/ 474 w 491"/>
              <a:gd name="T15" fmla="*/ 271 h 304"/>
              <a:gd name="T16" fmla="*/ 491 w 491"/>
              <a:gd name="T17" fmla="*/ 304 h 30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91"/>
              <a:gd name="T28" fmla="*/ 0 h 304"/>
              <a:gd name="T29" fmla="*/ 491 w 491"/>
              <a:gd name="T30" fmla="*/ 304 h 30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91" h="304">
                <a:moveTo>
                  <a:pt x="0" y="0"/>
                </a:moveTo>
                <a:lnTo>
                  <a:pt x="68" y="23"/>
                </a:lnTo>
                <a:lnTo>
                  <a:pt x="137" y="51"/>
                </a:lnTo>
                <a:lnTo>
                  <a:pt x="218" y="87"/>
                </a:lnTo>
                <a:lnTo>
                  <a:pt x="306" y="131"/>
                </a:lnTo>
                <a:lnTo>
                  <a:pt x="384" y="183"/>
                </a:lnTo>
                <a:lnTo>
                  <a:pt x="450" y="241"/>
                </a:lnTo>
                <a:lnTo>
                  <a:pt x="474" y="271"/>
                </a:lnTo>
                <a:lnTo>
                  <a:pt x="491" y="304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6" name="Freeform 400"/>
          <p:cNvSpPr>
            <a:spLocks/>
          </p:cNvSpPr>
          <p:nvPr/>
        </p:nvSpPr>
        <p:spPr bwMode="auto">
          <a:xfrm>
            <a:off x="7331075" y="3302000"/>
            <a:ext cx="234950" cy="261938"/>
          </a:xfrm>
          <a:custGeom>
            <a:avLst/>
            <a:gdLst>
              <a:gd name="T0" fmla="*/ 0 w 345"/>
              <a:gd name="T1" fmla="*/ 0 h 367"/>
              <a:gd name="T2" fmla="*/ 47 w 345"/>
              <a:gd name="T3" fmla="*/ 36 h 367"/>
              <a:gd name="T4" fmla="*/ 152 w 345"/>
              <a:gd name="T5" fmla="*/ 127 h 367"/>
              <a:gd name="T6" fmla="*/ 212 w 345"/>
              <a:gd name="T7" fmla="*/ 182 h 367"/>
              <a:gd name="T8" fmla="*/ 268 w 345"/>
              <a:gd name="T9" fmla="*/ 244 h 367"/>
              <a:gd name="T10" fmla="*/ 315 w 345"/>
              <a:gd name="T11" fmla="*/ 305 h 367"/>
              <a:gd name="T12" fmla="*/ 345 w 345"/>
              <a:gd name="T13" fmla="*/ 367 h 3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45"/>
              <a:gd name="T22" fmla="*/ 0 h 367"/>
              <a:gd name="T23" fmla="*/ 345 w 345"/>
              <a:gd name="T24" fmla="*/ 367 h 36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45" h="367">
                <a:moveTo>
                  <a:pt x="0" y="0"/>
                </a:moveTo>
                <a:lnTo>
                  <a:pt x="47" y="36"/>
                </a:lnTo>
                <a:lnTo>
                  <a:pt x="152" y="127"/>
                </a:lnTo>
                <a:lnTo>
                  <a:pt x="212" y="182"/>
                </a:lnTo>
                <a:lnTo>
                  <a:pt x="268" y="244"/>
                </a:lnTo>
                <a:lnTo>
                  <a:pt x="315" y="305"/>
                </a:lnTo>
                <a:lnTo>
                  <a:pt x="345" y="367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7" name="Freeform 401"/>
          <p:cNvSpPr>
            <a:spLocks/>
          </p:cNvSpPr>
          <p:nvPr/>
        </p:nvSpPr>
        <p:spPr bwMode="auto">
          <a:xfrm>
            <a:off x="7331075" y="3302000"/>
            <a:ext cx="234950" cy="261938"/>
          </a:xfrm>
          <a:custGeom>
            <a:avLst/>
            <a:gdLst>
              <a:gd name="T0" fmla="*/ 0 w 345"/>
              <a:gd name="T1" fmla="*/ 0 h 367"/>
              <a:gd name="T2" fmla="*/ 47 w 345"/>
              <a:gd name="T3" fmla="*/ 36 h 367"/>
              <a:gd name="T4" fmla="*/ 152 w 345"/>
              <a:gd name="T5" fmla="*/ 127 h 367"/>
              <a:gd name="T6" fmla="*/ 212 w 345"/>
              <a:gd name="T7" fmla="*/ 182 h 367"/>
              <a:gd name="T8" fmla="*/ 268 w 345"/>
              <a:gd name="T9" fmla="*/ 244 h 367"/>
              <a:gd name="T10" fmla="*/ 315 w 345"/>
              <a:gd name="T11" fmla="*/ 305 h 367"/>
              <a:gd name="T12" fmla="*/ 345 w 345"/>
              <a:gd name="T13" fmla="*/ 367 h 3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45"/>
              <a:gd name="T22" fmla="*/ 0 h 367"/>
              <a:gd name="T23" fmla="*/ 345 w 345"/>
              <a:gd name="T24" fmla="*/ 367 h 36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45" h="367">
                <a:moveTo>
                  <a:pt x="0" y="0"/>
                </a:moveTo>
                <a:lnTo>
                  <a:pt x="47" y="36"/>
                </a:lnTo>
                <a:lnTo>
                  <a:pt x="152" y="127"/>
                </a:lnTo>
                <a:lnTo>
                  <a:pt x="212" y="182"/>
                </a:lnTo>
                <a:lnTo>
                  <a:pt x="268" y="244"/>
                </a:lnTo>
                <a:lnTo>
                  <a:pt x="315" y="305"/>
                </a:lnTo>
                <a:lnTo>
                  <a:pt x="345" y="367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8" name="Freeform 402"/>
          <p:cNvSpPr>
            <a:spLocks/>
          </p:cNvSpPr>
          <p:nvPr/>
        </p:nvSpPr>
        <p:spPr bwMode="auto">
          <a:xfrm>
            <a:off x="7550150" y="3617913"/>
            <a:ext cx="93663" cy="249237"/>
          </a:xfrm>
          <a:custGeom>
            <a:avLst/>
            <a:gdLst>
              <a:gd name="T0" fmla="*/ 0 w 138"/>
              <a:gd name="T1" fmla="*/ 0 h 349"/>
              <a:gd name="T2" fmla="*/ 14 w 138"/>
              <a:gd name="T3" fmla="*/ 18 h 349"/>
              <a:gd name="T4" fmla="*/ 42 w 138"/>
              <a:gd name="T5" fmla="*/ 66 h 349"/>
              <a:gd name="T6" fmla="*/ 55 w 138"/>
              <a:gd name="T7" fmla="*/ 98 h 349"/>
              <a:gd name="T8" fmla="*/ 58 w 138"/>
              <a:gd name="T9" fmla="*/ 134 h 349"/>
              <a:gd name="T10" fmla="*/ 55 w 138"/>
              <a:gd name="T11" fmla="*/ 173 h 349"/>
              <a:gd name="T12" fmla="*/ 41 w 138"/>
              <a:gd name="T13" fmla="*/ 215 h 349"/>
              <a:gd name="T14" fmla="*/ 41 w 138"/>
              <a:gd name="T15" fmla="*/ 225 h 349"/>
              <a:gd name="T16" fmla="*/ 52 w 138"/>
              <a:gd name="T17" fmla="*/ 214 h 349"/>
              <a:gd name="T18" fmla="*/ 77 w 138"/>
              <a:gd name="T19" fmla="*/ 192 h 349"/>
              <a:gd name="T20" fmla="*/ 89 w 138"/>
              <a:gd name="T21" fmla="*/ 198 h 349"/>
              <a:gd name="T22" fmla="*/ 116 w 138"/>
              <a:gd name="T23" fmla="*/ 214 h 349"/>
              <a:gd name="T24" fmla="*/ 129 w 138"/>
              <a:gd name="T25" fmla="*/ 223 h 349"/>
              <a:gd name="T26" fmla="*/ 136 w 138"/>
              <a:gd name="T27" fmla="*/ 239 h 349"/>
              <a:gd name="T28" fmla="*/ 138 w 138"/>
              <a:gd name="T29" fmla="*/ 254 h 349"/>
              <a:gd name="T30" fmla="*/ 129 w 138"/>
              <a:gd name="T31" fmla="*/ 275 h 349"/>
              <a:gd name="T32" fmla="*/ 102 w 138"/>
              <a:gd name="T33" fmla="*/ 306 h 349"/>
              <a:gd name="T34" fmla="*/ 80 w 138"/>
              <a:gd name="T35" fmla="*/ 323 h 349"/>
              <a:gd name="T36" fmla="*/ 60 w 138"/>
              <a:gd name="T37" fmla="*/ 328 h 349"/>
              <a:gd name="T38" fmla="*/ 45 w 138"/>
              <a:gd name="T39" fmla="*/ 327 h 349"/>
              <a:gd name="T40" fmla="*/ 35 w 138"/>
              <a:gd name="T41" fmla="*/ 328 h 349"/>
              <a:gd name="T42" fmla="*/ 30 w 138"/>
              <a:gd name="T43" fmla="*/ 336 h 349"/>
              <a:gd name="T44" fmla="*/ 27 w 138"/>
              <a:gd name="T45" fmla="*/ 349 h 34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138"/>
              <a:gd name="T70" fmla="*/ 0 h 349"/>
              <a:gd name="T71" fmla="*/ 138 w 138"/>
              <a:gd name="T72" fmla="*/ 349 h 349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138" h="349">
                <a:moveTo>
                  <a:pt x="0" y="0"/>
                </a:moveTo>
                <a:lnTo>
                  <a:pt x="14" y="18"/>
                </a:lnTo>
                <a:lnTo>
                  <a:pt x="42" y="66"/>
                </a:lnTo>
                <a:lnTo>
                  <a:pt x="55" y="98"/>
                </a:lnTo>
                <a:lnTo>
                  <a:pt x="58" y="134"/>
                </a:lnTo>
                <a:lnTo>
                  <a:pt x="55" y="173"/>
                </a:lnTo>
                <a:lnTo>
                  <a:pt x="41" y="215"/>
                </a:lnTo>
                <a:lnTo>
                  <a:pt x="41" y="225"/>
                </a:lnTo>
                <a:lnTo>
                  <a:pt x="52" y="214"/>
                </a:lnTo>
                <a:lnTo>
                  <a:pt x="77" y="192"/>
                </a:lnTo>
                <a:lnTo>
                  <a:pt x="89" y="198"/>
                </a:lnTo>
                <a:lnTo>
                  <a:pt x="116" y="214"/>
                </a:lnTo>
                <a:lnTo>
                  <a:pt x="129" y="223"/>
                </a:lnTo>
                <a:lnTo>
                  <a:pt x="136" y="239"/>
                </a:lnTo>
                <a:lnTo>
                  <a:pt x="138" y="254"/>
                </a:lnTo>
                <a:lnTo>
                  <a:pt x="129" y="275"/>
                </a:lnTo>
                <a:lnTo>
                  <a:pt x="102" y="306"/>
                </a:lnTo>
                <a:lnTo>
                  <a:pt x="80" y="323"/>
                </a:lnTo>
                <a:lnTo>
                  <a:pt x="60" y="328"/>
                </a:lnTo>
                <a:lnTo>
                  <a:pt x="45" y="327"/>
                </a:lnTo>
                <a:lnTo>
                  <a:pt x="35" y="328"/>
                </a:lnTo>
                <a:lnTo>
                  <a:pt x="30" y="336"/>
                </a:lnTo>
                <a:lnTo>
                  <a:pt x="27" y="349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9" name="Freeform 403"/>
          <p:cNvSpPr>
            <a:spLocks/>
          </p:cNvSpPr>
          <p:nvPr/>
        </p:nvSpPr>
        <p:spPr bwMode="auto">
          <a:xfrm>
            <a:off x="7550150" y="3617913"/>
            <a:ext cx="93663" cy="249237"/>
          </a:xfrm>
          <a:custGeom>
            <a:avLst/>
            <a:gdLst>
              <a:gd name="T0" fmla="*/ 0 w 138"/>
              <a:gd name="T1" fmla="*/ 0 h 349"/>
              <a:gd name="T2" fmla="*/ 14 w 138"/>
              <a:gd name="T3" fmla="*/ 18 h 349"/>
              <a:gd name="T4" fmla="*/ 42 w 138"/>
              <a:gd name="T5" fmla="*/ 66 h 349"/>
              <a:gd name="T6" fmla="*/ 55 w 138"/>
              <a:gd name="T7" fmla="*/ 98 h 349"/>
              <a:gd name="T8" fmla="*/ 58 w 138"/>
              <a:gd name="T9" fmla="*/ 134 h 349"/>
              <a:gd name="T10" fmla="*/ 55 w 138"/>
              <a:gd name="T11" fmla="*/ 173 h 349"/>
              <a:gd name="T12" fmla="*/ 41 w 138"/>
              <a:gd name="T13" fmla="*/ 215 h 349"/>
              <a:gd name="T14" fmla="*/ 41 w 138"/>
              <a:gd name="T15" fmla="*/ 225 h 349"/>
              <a:gd name="T16" fmla="*/ 52 w 138"/>
              <a:gd name="T17" fmla="*/ 214 h 349"/>
              <a:gd name="T18" fmla="*/ 77 w 138"/>
              <a:gd name="T19" fmla="*/ 192 h 349"/>
              <a:gd name="T20" fmla="*/ 89 w 138"/>
              <a:gd name="T21" fmla="*/ 198 h 349"/>
              <a:gd name="T22" fmla="*/ 116 w 138"/>
              <a:gd name="T23" fmla="*/ 214 h 349"/>
              <a:gd name="T24" fmla="*/ 129 w 138"/>
              <a:gd name="T25" fmla="*/ 223 h 349"/>
              <a:gd name="T26" fmla="*/ 136 w 138"/>
              <a:gd name="T27" fmla="*/ 239 h 349"/>
              <a:gd name="T28" fmla="*/ 138 w 138"/>
              <a:gd name="T29" fmla="*/ 254 h 349"/>
              <a:gd name="T30" fmla="*/ 129 w 138"/>
              <a:gd name="T31" fmla="*/ 275 h 349"/>
              <a:gd name="T32" fmla="*/ 102 w 138"/>
              <a:gd name="T33" fmla="*/ 306 h 349"/>
              <a:gd name="T34" fmla="*/ 80 w 138"/>
              <a:gd name="T35" fmla="*/ 323 h 349"/>
              <a:gd name="T36" fmla="*/ 60 w 138"/>
              <a:gd name="T37" fmla="*/ 328 h 349"/>
              <a:gd name="T38" fmla="*/ 45 w 138"/>
              <a:gd name="T39" fmla="*/ 327 h 349"/>
              <a:gd name="T40" fmla="*/ 35 w 138"/>
              <a:gd name="T41" fmla="*/ 328 h 349"/>
              <a:gd name="T42" fmla="*/ 30 w 138"/>
              <a:gd name="T43" fmla="*/ 336 h 349"/>
              <a:gd name="T44" fmla="*/ 27 w 138"/>
              <a:gd name="T45" fmla="*/ 349 h 34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138"/>
              <a:gd name="T70" fmla="*/ 0 h 349"/>
              <a:gd name="T71" fmla="*/ 138 w 138"/>
              <a:gd name="T72" fmla="*/ 349 h 349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138" h="349">
                <a:moveTo>
                  <a:pt x="0" y="0"/>
                </a:moveTo>
                <a:lnTo>
                  <a:pt x="14" y="18"/>
                </a:lnTo>
                <a:lnTo>
                  <a:pt x="42" y="66"/>
                </a:lnTo>
                <a:lnTo>
                  <a:pt x="55" y="98"/>
                </a:lnTo>
                <a:lnTo>
                  <a:pt x="58" y="134"/>
                </a:lnTo>
                <a:lnTo>
                  <a:pt x="55" y="173"/>
                </a:lnTo>
                <a:lnTo>
                  <a:pt x="41" y="215"/>
                </a:lnTo>
                <a:lnTo>
                  <a:pt x="41" y="225"/>
                </a:lnTo>
                <a:lnTo>
                  <a:pt x="52" y="214"/>
                </a:lnTo>
                <a:lnTo>
                  <a:pt x="77" y="192"/>
                </a:lnTo>
                <a:lnTo>
                  <a:pt x="89" y="198"/>
                </a:lnTo>
                <a:lnTo>
                  <a:pt x="116" y="214"/>
                </a:lnTo>
                <a:lnTo>
                  <a:pt x="129" y="223"/>
                </a:lnTo>
                <a:lnTo>
                  <a:pt x="136" y="239"/>
                </a:lnTo>
                <a:lnTo>
                  <a:pt x="138" y="254"/>
                </a:lnTo>
                <a:lnTo>
                  <a:pt x="129" y="275"/>
                </a:lnTo>
                <a:lnTo>
                  <a:pt x="102" y="306"/>
                </a:lnTo>
                <a:lnTo>
                  <a:pt x="80" y="323"/>
                </a:lnTo>
                <a:lnTo>
                  <a:pt x="60" y="328"/>
                </a:lnTo>
                <a:lnTo>
                  <a:pt x="45" y="327"/>
                </a:lnTo>
                <a:lnTo>
                  <a:pt x="35" y="328"/>
                </a:lnTo>
                <a:lnTo>
                  <a:pt x="30" y="336"/>
                </a:lnTo>
                <a:lnTo>
                  <a:pt x="27" y="349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90" name="Freeform 404"/>
          <p:cNvSpPr>
            <a:spLocks/>
          </p:cNvSpPr>
          <p:nvPr/>
        </p:nvSpPr>
        <p:spPr bwMode="auto">
          <a:xfrm>
            <a:off x="7280275" y="3838575"/>
            <a:ext cx="20638" cy="15875"/>
          </a:xfrm>
          <a:custGeom>
            <a:avLst/>
            <a:gdLst>
              <a:gd name="T0" fmla="*/ 0 w 30"/>
              <a:gd name="T1" fmla="*/ 0 h 25"/>
              <a:gd name="T2" fmla="*/ 0 w 30"/>
              <a:gd name="T3" fmla="*/ 14 h 25"/>
              <a:gd name="T4" fmla="*/ 8 w 30"/>
              <a:gd name="T5" fmla="*/ 24 h 25"/>
              <a:gd name="T6" fmla="*/ 21 w 30"/>
              <a:gd name="T7" fmla="*/ 25 h 25"/>
              <a:gd name="T8" fmla="*/ 30 w 30"/>
              <a:gd name="T9" fmla="*/ 16 h 25"/>
              <a:gd name="T10" fmla="*/ 0 w 30"/>
              <a:gd name="T11" fmla="*/ 0 h 25"/>
              <a:gd name="T12" fmla="*/ 0 w 30"/>
              <a:gd name="T13" fmla="*/ 0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"/>
              <a:gd name="T22" fmla="*/ 0 h 25"/>
              <a:gd name="T23" fmla="*/ 30 w 30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" h="25">
                <a:moveTo>
                  <a:pt x="0" y="0"/>
                </a:moveTo>
                <a:lnTo>
                  <a:pt x="0" y="14"/>
                </a:lnTo>
                <a:lnTo>
                  <a:pt x="8" y="24"/>
                </a:lnTo>
                <a:lnTo>
                  <a:pt x="21" y="25"/>
                </a:lnTo>
                <a:lnTo>
                  <a:pt x="30" y="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91" name="Line 405"/>
          <p:cNvSpPr>
            <a:spLocks noChangeShapeType="1"/>
          </p:cNvSpPr>
          <p:nvPr/>
        </p:nvSpPr>
        <p:spPr bwMode="auto">
          <a:xfrm flipH="1">
            <a:off x="7192963" y="3457575"/>
            <a:ext cx="7937" cy="3333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92" name="Line 406"/>
          <p:cNvSpPr>
            <a:spLocks noChangeShapeType="1"/>
          </p:cNvSpPr>
          <p:nvPr/>
        </p:nvSpPr>
        <p:spPr bwMode="auto">
          <a:xfrm flipH="1">
            <a:off x="7261225" y="3486150"/>
            <a:ext cx="14288" cy="3175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93" name="Freeform 407"/>
          <p:cNvSpPr>
            <a:spLocks/>
          </p:cNvSpPr>
          <p:nvPr/>
        </p:nvSpPr>
        <p:spPr bwMode="auto">
          <a:xfrm>
            <a:off x="7261225" y="3517900"/>
            <a:ext cx="19050" cy="23813"/>
          </a:xfrm>
          <a:custGeom>
            <a:avLst/>
            <a:gdLst>
              <a:gd name="T0" fmla="*/ 0 w 26"/>
              <a:gd name="T1" fmla="*/ 28 h 31"/>
              <a:gd name="T2" fmla="*/ 14 w 26"/>
              <a:gd name="T3" fmla="*/ 31 h 31"/>
              <a:gd name="T4" fmla="*/ 23 w 26"/>
              <a:gd name="T5" fmla="*/ 23 h 31"/>
              <a:gd name="T6" fmla="*/ 26 w 26"/>
              <a:gd name="T7" fmla="*/ 11 h 31"/>
              <a:gd name="T8" fmla="*/ 19 w 26"/>
              <a:gd name="T9" fmla="*/ 0 h 31"/>
              <a:gd name="T10" fmla="*/ 0 w 26"/>
              <a:gd name="T11" fmla="*/ 28 h 31"/>
              <a:gd name="T12" fmla="*/ 0 w 26"/>
              <a:gd name="T13" fmla="*/ 28 h 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"/>
              <a:gd name="T22" fmla="*/ 0 h 31"/>
              <a:gd name="T23" fmla="*/ 26 w 26"/>
              <a:gd name="T24" fmla="*/ 31 h 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" h="31">
                <a:moveTo>
                  <a:pt x="0" y="28"/>
                </a:moveTo>
                <a:lnTo>
                  <a:pt x="14" y="31"/>
                </a:lnTo>
                <a:lnTo>
                  <a:pt x="23" y="23"/>
                </a:lnTo>
                <a:lnTo>
                  <a:pt x="26" y="11"/>
                </a:lnTo>
                <a:lnTo>
                  <a:pt x="19" y="0"/>
                </a:lnTo>
                <a:lnTo>
                  <a:pt x="0" y="2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94" name="Freeform 408"/>
          <p:cNvSpPr>
            <a:spLocks/>
          </p:cNvSpPr>
          <p:nvPr/>
        </p:nvSpPr>
        <p:spPr bwMode="auto">
          <a:xfrm>
            <a:off x="7543800" y="3924300"/>
            <a:ext cx="50800" cy="201613"/>
          </a:xfrm>
          <a:custGeom>
            <a:avLst/>
            <a:gdLst>
              <a:gd name="T0" fmla="*/ 75 w 75"/>
              <a:gd name="T1" fmla="*/ 0 h 281"/>
              <a:gd name="T2" fmla="*/ 72 w 75"/>
              <a:gd name="T3" fmla="*/ 37 h 281"/>
              <a:gd name="T4" fmla="*/ 61 w 75"/>
              <a:gd name="T5" fmla="*/ 123 h 281"/>
              <a:gd name="T6" fmla="*/ 51 w 75"/>
              <a:gd name="T7" fmla="*/ 171 h 281"/>
              <a:gd name="T8" fmla="*/ 37 w 75"/>
              <a:gd name="T9" fmla="*/ 215 h 281"/>
              <a:gd name="T10" fmla="*/ 20 w 75"/>
              <a:gd name="T11" fmla="*/ 254 h 281"/>
              <a:gd name="T12" fmla="*/ 0 w 75"/>
              <a:gd name="T13" fmla="*/ 281 h 2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5"/>
              <a:gd name="T22" fmla="*/ 0 h 281"/>
              <a:gd name="T23" fmla="*/ 75 w 75"/>
              <a:gd name="T24" fmla="*/ 281 h 2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5" h="281">
                <a:moveTo>
                  <a:pt x="75" y="0"/>
                </a:moveTo>
                <a:lnTo>
                  <a:pt x="72" y="37"/>
                </a:lnTo>
                <a:lnTo>
                  <a:pt x="61" y="123"/>
                </a:lnTo>
                <a:lnTo>
                  <a:pt x="51" y="171"/>
                </a:lnTo>
                <a:lnTo>
                  <a:pt x="37" y="215"/>
                </a:lnTo>
                <a:lnTo>
                  <a:pt x="20" y="254"/>
                </a:lnTo>
                <a:lnTo>
                  <a:pt x="0" y="281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95" name="Freeform 409"/>
          <p:cNvSpPr>
            <a:spLocks/>
          </p:cNvSpPr>
          <p:nvPr/>
        </p:nvSpPr>
        <p:spPr bwMode="auto">
          <a:xfrm>
            <a:off x="7543800" y="3924300"/>
            <a:ext cx="50800" cy="201613"/>
          </a:xfrm>
          <a:custGeom>
            <a:avLst/>
            <a:gdLst>
              <a:gd name="T0" fmla="*/ 75 w 75"/>
              <a:gd name="T1" fmla="*/ 0 h 281"/>
              <a:gd name="T2" fmla="*/ 72 w 75"/>
              <a:gd name="T3" fmla="*/ 37 h 281"/>
              <a:gd name="T4" fmla="*/ 61 w 75"/>
              <a:gd name="T5" fmla="*/ 123 h 281"/>
              <a:gd name="T6" fmla="*/ 51 w 75"/>
              <a:gd name="T7" fmla="*/ 171 h 281"/>
              <a:gd name="T8" fmla="*/ 37 w 75"/>
              <a:gd name="T9" fmla="*/ 215 h 281"/>
              <a:gd name="T10" fmla="*/ 20 w 75"/>
              <a:gd name="T11" fmla="*/ 254 h 281"/>
              <a:gd name="T12" fmla="*/ 0 w 75"/>
              <a:gd name="T13" fmla="*/ 281 h 2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5"/>
              <a:gd name="T22" fmla="*/ 0 h 281"/>
              <a:gd name="T23" fmla="*/ 75 w 75"/>
              <a:gd name="T24" fmla="*/ 281 h 2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5" h="281">
                <a:moveTo>
                  <a:pt x="75" y="0"/>
                </a:moveTo>
                <a:lnTo>
                  <a:pt x="72" y="37"/>
                </a:lnTo>
                <a:lnTo>
                  <a:pt x="61" y="123"/>
                </a:lnTo>
                <a:lnTo>
                  <a:pt x="51" y="171"/>
                </a:lnTo>
                <a:lnTo>
                  <a:pt x="37" y="215"/>
                </a:lnTo>
                <a:lnTo>
                  <a:pt x="20" y="254"/>
                </a:lnTo>
                <a:lnTo>
                  <a:pt x="0" y="281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96" name="Freeform 410"/>
          <p:cNvSpPr>
            <a:spLocks/>
          </p:cNvSpPr>
          <p:nvPr/>
        </p:nvSpPr>
        <p:spPr bwMode="auto">
          <a:xfrm>
            <a:off x="7042150" y="3670300"/>
            <a:ext cx="57150" cy="371475"/>
          </a:xfrm>
          <a:custGeom>
            <a:avLst/>
            <a:gdLst>
              <a:gd name="T0" fmla="*/ 87 w 87"/>
              <a:gd name="T1" fmla="*/ 0 h 515"/>
              <a:gd name="T2" fmla="*/ 60 w 87"/>
              <a:gd name="T3" fmla="*/ 43 h 515"/>
              <a:gd name="T4" fmla="*/ 15 w 87"/>
              <a:gd name="T5" fmla="*/ 163 h 515"/>
              <a:gd name="T6" fmla="*/ 0 w 87"/>
              <a:gd name="T7" fmla="*/ 239 h 515"/>
              <a:gd name="T8" fmla="*/ 0 w 87"/>
              <a:gd name="T9" fmla="*/ 327 h 515"/>
              <a:gd name="T10" fmla="*/ 22 w 87"/>
              <a:gd name="T11" fmla="*/ 420 h 515"/>
              <a:gd name="T12" fmla="*/ 71 w 87"/>
              <a:gd name="T13" fmla="*/ 515 h 51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7"/>
              <a:gd name="T22" fmla="*/ 0 h 515"/>
              <a:gd name="T23" fmla="*/ 87 w 87"/>
              <a:gd name="T24" fmla="*/ 515 h 51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7" h="515">
                <a:moveTo>
                  <a:pt x="87" y="0"/>
                </a:moveTo>
                <a:lnTo>
                  <a:pt x="60" y="43"/>
                </a:lnTo>
                <a:lnTo>
                  <a:pt x="15" y="163"/>
                </a:lnTo>
                <a:lnTo>
                  <a:pt x="0" y="239"/>
                </a:lnTo>
                <a:lnTo>
                  <a:pt x="0" y="327"/>
                </a:lnTo>
                <a:lnTo>
                  <a:pt x="22" y="420"/>
                </a:lnTo>
                <a:lnTo>
                  <a:pt x="71" y="515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97" name="Freeform 411"/>
          <p:cNvSpPr>
            <a:spLocks/>
          </p:cNvSpPr>
          <p:nvPr/>
        </p:nvSpPr>
        <p:spPr bwMode="auto">
          <a:xfrm>
            <a:off x="7042150" y="3670300"/>
            <a:ext cx="57150" cy="371475"/>
          </a:xfrm>
          <a:custGeom>
            <a:avLst/>
            <a:gdLst>
              <a:gd name="T0" fmla="*/ 87 w 87"/>
              <a:gd name="T1" fmla="*/ 0 h 515"/>
              <a:gd name="T2" fmla="*/ 60 w 87"/>
              <a:gd name="T3" fmla="*/ 43 h 515"/>
              <a:gd name="T4" fmla="*/ 15 w 87"/>
              <a:gd name="T5" fmla="*/ 163 h 515"/>
              <a:gd name="T6" fmla="*/ 0 w 87"/>
              <a:gd name="T7" fmla="*/ 239 h 515"/>
              <a:gd name="T8" fmla="*/ 0 w 87"/>
              <a:gd name="T9" fmla="*/ 327 h 515"/>
              <a:gd name="T10" fmla="*/ 22 w 87"/>
              <a:gd name="T11" fmla="*/ 420 h 515"/>
              <a:gd name="T12" fmla="*/ 71 w 87"/>
              <a:gd name="T13" fmla="*/ 515 h 51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7"/>
              <a:gd name="T22" fmla="*/ 0 h 515"/>
              <a:gd name="T23" fmla="*/ 87 w 87"/>
              <a:gd name="T24" fmla="*/ 515 h 51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7" h="515">
                <a:moveTo>
                  <a:pt x="87" y="0"/>
                </a:moveTo>
                <a:lnTo>
                  <a:pt x="60" y="43"/>
                </a:lnTo>
                <a:lnTo>
                  <a:pt x="15" y="163"/>
                </a:lnTo>
                <a:lnTo>
                  <a:pt x="0" y="239"/>
                </a:lnTo>
                <a:lnTo>
                  <a:pt x="0" y="327"/>
                </a:lnTo>
                <a:lnTo>
                  <a:pt x="22" y="420"/>
                </a:lnTo>
                <a:lnTo>
                  <a:pt x="71" y="515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98" name="Freeform 412"/>
          <p:cNvSpPr>
            <a:spLocks/>
          </p:cNvSpPr>
          <p:nvPr/>
        </p:nvSpPr>
        <p:spPr bwMode="auto">
          <a:xfrm>
            <a:off x="7232650" y="4240213"/>
            <a:ext cx="214313" cy="28575"/>
          </a:xfrm>
          <a:custGeom>
            <a:avLst/>
            <a:gdLst>
              <a:gd name="T0" fmla="*/ 0 w 315"/>
              <a:gd name="T1" fmla="*/ 0 h 42"/>
              <a:gd name="T2" fmla="*/ 38 w 315"/>
              <a:gd name="T3" fmla="*/ 10 h 42"/>
              <a:gd name="T4" fmla="*/ 129 w 315"/>
              <a:gd name="T5" fmla="*/ 32 h 42"/>
              <a:gd name="T6" fmla="*/ 234 w 315"/>
              <a:gd name="T7" fmla="*/ 42 h 42"/>
              <a:gd name="T8" fmla="*/ 279 w 315"/>
              <a:gd name="T9" fmla="*/ 34 h 42"/>
              <a:gd name="T10" fmla="*/ 301 w 315"/>
              <a:gd name="T11" fmla="*/ 28 h 42"/>
              <a:gd name="T12" fmla="*/ 315 w 315"/>
              <a:gd name="T13" fmla="*/ 17 h 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2"/>
              <a:gd name="T23" fmla="*/ 315 w 315"/>
              <a:gd name="T24" fmla="*/ 42 h 4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2">
                <a:moveTo>
                  <a:pt x="0" y="0"/>
                </a:moveTo>
                <a:lnTo>
                  <a:pt x="38" y="10"/>
                </a:lnTo>
                <a:lnTo>
                  <a:pt x="129" y="32"/>
                </a:lnTo>
                <a:lnTo>
                  <a:pt x="234" y="42"/>
                </a:lnTo>
                <a:lnTo>
                  <a:pt x="279" y="34"/>
                </a:lnTo>
                <a:lnTo>
                  <a:pt x="301" y="28"/>
                </a:lnTo>
                <a:lnTo>
                  <a:pt x="315" y="17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99" name="Freeform 413"/>
          <p:cNvSpPr>
            <a:spLocks/>
          </p:cNvSpPr>
          <p:nvPr/>
        </p:nvSpPr>
        <p:spPr bwMode="auto">
          <a:xfrm>
            <a:off x="7232650" y="4240213"/>
            <a:ext cx="214313" cy="28575"/>
          </a:xfrm>
          <a:custGeom>
            <a:avLst/>
            <a:gdLst>
              <a:gd name="T0" fmla="*/ 0 w 315"/>
              <a:gd name="T1" fmla="*/ 0 h 42"/>
              <a:gd name="T2" fmla="*/ 38 w 315"/>
              <a:gd name="T3" fmla="*/ 10 h 42"/>
              <a:gd name="T4" fmla="*/ 129 w 315"/>
              <a:gd name="T5" fmla="*/ 32 h 42"/>
              <a:gd name="T6" fmla="*/ 234 w 315"/>
              <a:gd name="T7" fmla="*/ 42 h 42"/>
              <a:gd name="T8" fmla="*/ 279 w 315"/>
              <a:gd name="T9" fmla="*/ 34 h 42"/>
              <a:gd name="T10" fmla="*/ 301 w 315"/>
              <a:gd name="T11" fmla="*/ 28 h 42"/>
              <a:gd name="T12" fmla="*/ 315 w 315"/>
              <a:gd name="T13" fmla="*/ 17 h 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2"/>
              <a:gd name="T23" fmla="*/ 315 w 315"/>
              <a:gd name="T24" fmla="*/ 42 h 4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2">
                <a:moveTo>
                  <a:pt x="0" y="0"/>
                </a:moveTo>
                <a:lnTo>
                  <a:pt x="38" y="10"/>
                </a:lnTo>
                <a:lnTo>
                  <a:pt x="129" y="32"/>
                </a:lnTo>
                <a:lnTo>
                  <a:pt x="234" y="42"/>
                </a:lnTo>
                <a:lnTo>
                  <a:pt x="279" y="34"/>
                </a:lnTo>
                <a:lnTo>
                  <a:pt x="301" y="28"/>
                </a:lnTo>
                <a:lnTo>
                  <a:pt x="315" y="17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00" name="Freeform 414"/>
          <p:cNvSpPr>
            <a:spLocks/>
          </p:cNvSpPr>
          <p:nvPr/>
        </p:nvSpPr>
        <p:spPr bwMode="auto">
          <a:xfrm>
            <a:off x="7185025" y="4259263"/>
            <a:ext cx="252413" cy="65087"/>
          </a:xfrm>
          <a:custGeom>
            <a:avLst/>
            <a:gdLst>
              <a:gd name="T0" fmla="*/ 0 w 371"/>
              <a:gd name="T1" fmla="*/ 0 h 88"/>
              <a:gd name="T2" fmla="*/ 26 w 371"/>
              <a:gd name="T3" fmla="*/ 22 h 88"/>
              <a:gd name="T4" fmla="*/ 56 w 371"/>
              <a:gd name="T5" fmla="*/ 42 h 88"/>
              <a:gd name="T6" fmla="*/ 98 w 371"/>
              <a:gd name="T7" fmla="*/ 62 h 88"/>
              <a:gd name="T8" fmla="*/ 153 w 371"/>
              <a:gd name="T9" fmla="*/ 80 h 88"/>
              <a:gd name="T10" fmla="*/ 217 w 371"/>
              <a:gd name="T11" fmla="*/ 88 h 88"/>
              <a:gd name="T12" fmla="*/ 291 w 371"/>
              <a:gd name="T13" fmla="*/ 81 h 88"/>
              <a:gd name="T14" fmla="*/ 371 w 371"/>
              <a:gd name="T15" fmla="*/ 59 h 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71"/>
              <a:gd name="T25" fmla="*/ 0 h 88"/>
              <a:gd name="T26" fmla="*/ 371 w 371"/>
              <a:gd name="T27" fmla="*/ 88 h 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71" h="88">
                <a:moveTo>
                  <a:pt x="0" y="0"/>
                </a:moveTo>
                <a:lnTo>
                  <a:pt x="26" y="22"/>
                </a:lnTo>
                <a:lnTo>
                  <a:pt x="56" y="42"/>
                </a:lnTo>
                <a:lnTo>
                  <a:pt x="98" y="62"/>
                </a:lnTo>
                <a:lnTo>
                  <a:pt x="153" y="80"/>
                </a:lnTo>
                <a:lnTo>
                  <a:pt x="217" y="88"/>
                </a:lnTo>
                <a:lnTo>
                  <a:pt x="291" y="81"/>
                </a:lnTo>
                <a:lnTo>
                  <a:pt x="371" y="59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01" name="Freeform 415"/>
          <p:cNvSpPr>
            <a:spLocks/>
          </p:cNvSpPr>
          <p:nvPr/>
        </p:nvSpPr>
        <p:spPr bwMode="auto">
          <a:xfrm>
            <a:off x="7185025" y="4259263"/>
            <a:ext cx="252413" cy="65087"/>
          </a:xfrm>
          <a:custGeom>
            <a:avLst/>
            <a:gdLst>
              <a:gd name="T0" fmla="*/ 0 w 371"/>
              <a:gd name="T1" fmla="*/ 0 h 88"/>
              <a:gd name="T2" fmla="*/ 26 w 371"/>
              <a:gd name="T3" fmla="*/ 22 h 88"/>
              <a:gd name="T4" fmla="*/ 56 w 371"/>
              <a:gd name="T5" fmla="*/ 42 h 88"/>
              <a:gd name="T6" fmla="*/ 98 w 371"/>
              <a:gd name="T7" fmla="*/ 62 h 88"/>
              <a:gd name="T8" fmla="*/ 153 w 371"/>
              <a:gd name="T9" fmla="*/ 80 h 88"/>
              <a:gd name="T10" fmla="*/ 217 w 371"/>
              <a:gd name="T11" fmla="*/ 88 h 88"/>
              <a:gd name="T12" fmla="*/ 291 w 371"/>
              <a:gd name="T13" fmla="*/ 81 h 88"/>
              <a:gd name="T14" fmla="*/ 371 w 371"/>
              <a:gd name="T15" fmla="*/ 59 h 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71"/>
              <a:gd name="T25" fmla="*/ 0 h 88"/>
              <a:gd name="T26" fmla="*/ 371 w 371"/>
              <a:gd name="T27" fmla="*/ 88 h 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71" h="88">
                <a:moveTo>
                  <a:pt x="0" y="0"/>
                </a:moveTo>
                <a:lnTo>
                  <a:pt x="26" y="22"/>
                </a:lnTo>
                <a:lnTo>
                  <a:pt x="56" y="42"/>
                </a:lnTo>
                <a:lnTo>
                  <a:pt x="98" y="62"/>
                </a:lnTo>
                <a:lnTo>
                  <a:pt x="153" y="80"/>
                </a:lnTo>
                <a:lnTo>
                  <a:pt x="217" y="88"/>
                </a:lnTo>
                <a:lnTo>
                  <a:pt x="291" y="81"/>
                </a:lnTo>
                <a:lnTo>
                  <a:pt x="371" y="59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02" name="Freeform 416"/>
          <p:cNvSpPr>
            <a:spLocks/>
          </p:cNvSpPr>
          <p:nvPr/>
        </p:nvSpPr>
        <p:spPr bwMode="auto">
          <a:xfrm>
            <a:off x="6911975" y="4732338"/>
            <a:ext cx="161925" cy="120650"/>
          </a:xfrm>
          <a:custGeom>
            <a:avLst/>
            <a:gdLst>
              <a:gd name="T0" fmla="*/ 0 w 242"/>
              <a:gd name="T1" fmla="*/ 0 h 171"/>
              <a:gd name="T2" fmla="*/ 101 w 242"/>
              <a:gd name="T3" fmla="*/ 89 h 171"/>
              <a:gd name="T4" fmla="*/ 180 w 242"/>
              <a:gd name="T5" fmla="*/ 149 h 171"/>
              <a:gd name="T6" fmla="*/ 216 w 242"/>
              <a:gd name="T7" fmla="*/ 166 h 171"/>
              <a:gd name="T8" fmla="*/ 242 w 242"/>
              <a:gd name="T9" fmla="*/ 171 h 1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"/>
              <a:gd name="T16" fmla="*/ 0 h 171"/>
              <a:gd name="T17" fmla="*/ 242 w 242"/>
              <a:gd name="T18" fmla="*/ 171 h 17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" h="171">
                <a:moveTo>
                  <a:pt x="0" y="0"/>
                </a:moveTo>
                <a:lnTo>
                  <a:pt x="101" y="89"/>
                </a:lnTo>
                <a:lnTo>
                  <a:pt x="180" y="149"/>
                </a:lnTo>
                <a:lnTo>
                  <a:pt x="216" y="166"/>
                </a:lnTo>
                <a:lnTo>
                  <a:pt x="242" y="171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03" name="Freeform 417"/>
          <p:cNvSpPr>
            <a:spLocks/>
          </p:cNvSpPr>
          <p:nvPr/>
        </p:nvSpPr>
        <p:spPr bwMode="auto">
          <a:xfrm>
            <a:off x="6911975" y="4732338"/>
            <a:ext cx="161925" cy="120650"/>
          </a:xfrm>
          <a:custGeom>
            <a:avLst/>
            <a:gdLst>
              <a:gd name="T0" fmla="*/ 0 w 242"/>
              <a:gd name="T1" fmla="*/ 0 h 171"/>
              <a:gd name="T2" fmla="*/ 101 w 242"/>
              <a:gd name="T3" fmla="*/ 89 h 171"/>
              <a:gd name="T4" fmla="*/ 180 w 242"/>
              <a:gd name="T5" fmla="*/ 149 h 171"/>
              <a:gd name="T6" fmla="*/ 216 w 242"/>
              <a:gd name="T7" fmla="*/ 166 h 171"/>
              <a:gd name="T8" fmla="*/ 242 w 242"/>
              <a:gd name="T9" fmla="*/ 171 h 1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"/>
              <a:gd name="T16" fmla="*/ 0 h 171"/>
              <a:gd name="T17" fmla="*/ 242 w 242"/>
              <a:gd name="T18" fmla="*/ 171 h 17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" h="171">
                <a:moveTo>
                  <a:pt x="0" y="0"/>
                </a:moveTo>
                <a:lnTo>
                  <a:pt x="101" y="89"/>
                </a:lnTo>
                <a:lnTo>
                  <a:pt x="180" y="149"/>
                </a:lnTo>
                <a:lnTo>
                  <a:pt x="216" y="166"/>
                </a:lnTo>
                <a:lnTo>
                  <a:pt x="242" y="171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04" name="Freeform 418"/>
          <p:cNvSpPr>
            <a:spLocks/>
          </p:cNvSpPr>
          <p:nvPr/>
        </p:nvSpPr>
        <p:spPr bwMode="auto">
          <a:xfrm>
            <a:off x="6745288" y="3795713"/>
            <a:ext cx="115887" cy="228600"/>
          </a:xfrm>
          <a:custGeom>
            <a:avLst/>
            <a:gdLst>
              <a:gd name="T0" fmla="*/ 151 w 171"/>
              <a:gd name="T1" fmla="*/ 0 h 318"/>
              <a:gd name="T2" fmla="*/ 165 w 171"/>
              <a:gd name="T3" fmla="*/ 44 h 318"/>
              <a:gd name="T4" fmla="*/ 171 w 171"/>
              <a:gd name="T5" fmla="*/ 88 h 318"/>
              <a:gd name="T6" fmla="*/ 171 w 171"/>
              <a:gd name="T7" fmla="*/ 141 h 318"/>
              <a:gd name="T8" fmla="*/ 162 w 171"/>
              <a:gd name="T9" fmla="*/ 196 h 318"/>
              <a:gd name="T10" fmla="*/ 149 w 171"/>
              <a:gd name="T11" fmla="*/ 223 h 318"/>
              <a:gd name="T12" fmla="*/ 132 w 171"/>
              <a:gd name="T13" fmla="*/ 248 h 318"/>
              <a:gd name="T14" fmla="*/ 110 w 171"/>
              <a:gd name="T15" fmla="*/ 271 h 318"/>
              <a:gd name="T16" fmla="*/ 80 w 171"/>
              <a:gd name="T17" fmla="*/ 292 h 318"/>
              <a:gd name="T18" fmla="*/ 46 w 171"/>
              <a:gd name="T19" fmla="*/ 306 h 318"/>
              <a:gd name="T20" fmla="*/ 0 w 171"/>
              <a:gd name="T21" fmla="*/ 318 h 31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1"/>
              <a:gd name="T34" fmla="*/ 0 h 318"/>
              <a:gd name="T35" fmla="*/ 171 w 171"/>
              <a:gd name="T36" fmla="*/ 318 h 31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1" h="318">
                <a:moveTo>
                  <a:pt x="151" y="0"/>
                </a:moveTo>
                <a:lnTo>
                  <a:pt x="165" y="44"/>
                </a:lnTo>
                <a:lnTo>
                  <a:pt x="171" y="88"/>
                </a:lnTo>
                <a:lnTo>
                  <a:pt x="171" y="141"/>
                </a:lnTo>
                <a:lnTo>
                  <a:pt x="162" y="196"/>
                </a:lnTo>
                <a:lnTo>
                  <a:pt x="149" y="223"/>
                </a:lnTo>
                <a:lnTo>
                  <a:pt x="132" y="248"/>
                </a:lnTo>
                <a:lnTo>
                  <a:pt x="110" y="271"/>
                </a:lnTo>
                <a:lnTo>
                  <a:pt x="80" y="292"/>
                </a:lnTo>
                <a:lnTo>
                  <a:pt x="46" y="306"/>
                </a:lnTo>
                <a:lnTo>
                  <a:pt x="0" y="318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05" name="Freeform 419"/>
          <p:cNvSpPr>
            <a:spLocks/>
          </p:cNvSpPr>
          <p:nvPr/>
        </p:nvSpPr>
        <p:spPr bwMode="auto">
          <a:xfrm>
            <a:off x="6745288" y="3795713"/>
            <a:ext cx="115887" cy="228600"/>
          </a:xfrm>
          <a:custGeom>
            <a:avLst/>
            <a:gdLst>
              <a:gd name="T0" fmla="*/ 151 w 171"/>
              <a:gd name="T1" fmla="*/ 0 h 318"/>
              <a:gd name="T2" fmla="*/ 165 w 171"/>
              <a:gd name="T3" fmla="*/ 44 h 318"/>
              <a:gd name="T4" fmla="*/ 171 w 171"/>
              <a:gd name="T5" fmla="*/ 88 h 318"/>
              <a:gd name="T6" fmla="*/ 171 w 171"/>
              <a:gd name="T7" fmla="*/ 141 h 318"/>
              <a:gd name="T8" fmla="*/ 162 w 171"/>
              <a:gd name="T9" fmla="*/ 196 h 318"/>
              <a:gd name="T10" fmla="*/ 149 w 171"/>
              <a:gd name="T11" fmla="*/ 223 h 318"/>
              <a:gd name="T12" fmla="*/ 132 w 171"/>
              <a:gd name="T13" fmla="*/ 248 h 318"/>
              <a:gd name="T14" fmla="*/ 110 w 171"/>
              <a:gd name="T15" fmla="*/ 271 h 318"/>
              <a:gd name="T16" fmla="*/ 80 w 171"/>
              <a:gd name="T17" fmla="*/ 292 h 318"/>
              <a:gd name="T18" fmla="*/ 46 w 171"/>
              <a:gd name="T19" fmla="*/ 306 h 318"/>
              <a:gd name="T20" fmla="*/ 0 w 171"/>
              <a:gd name="T21" fmla="*/ 318 h 31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1"/>
              <a:gd name="T34" fmla="*/ 0 h 318"/>
              <a:gd name="T35" fmla="*/ 171 w 171"/>
              <a:gd name="T36" fmla="*/ 318 h 31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1" h="318">
                <a:moveTo>
                  <a:pt x="151" y="0"/>
                </a:moveTo>
                <a:lnTo>
                  <a:pt x="165" y="44"/>
                </a:lnTo>
                <a:lnTo>
                  <a:pt x="171" y="88"/>
                </a:lnTo>
                <a:lnTo>
                  <a:pt x="171" y="141"/>
                </a:lnTo>
                <a:lnTo>
                  <a:pt x="162" y="196"/>
                </a:lnTo>
                <a:lnTo>
                  <a:pt x="149" y="223"/>
                </a:lnTo>
                <a:lnTo>
                  <a:pt x="132" y="248"/>
                </a:lnTo>
                <a:lnTo>
                  <a:pt x="110" y="271"/>
                </a:lnTo>
                <a:lnTo>
                  <a:pt x="80" y="292"/>
                </a:lnTo>
                <a:lnTo>
                  <a:pt x="46" y="306"/>
                </a:lnTo>
                <a:lnTo>
                  <a:pt x="0" y="318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06" name="Line 420"/>
          <p:cNvSpPr>
            <a:spLocks noChangeShapeType="1"/>
          </p:cNvSpPr>
          <p:nvPr/>
        </p:nvSpPr>
        <p:spPr bwMode="auto">
          <a:xfrm flipH="1">
            <a:off x="7472363" y="4092575"/>
            <a:ext cx="112712" cy="9207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07" name="Freeform 421"/>
          <p:cNvSpPr>
            <a:spLocks/>
          </p:cNvSpPr>
          <p:nvPr/>
        </p:nvSpPr>
        <p:spPr bwMode="auto">
          <a:xfrm>
            <a:off x="7566025" y="4098925"/>
            <a:ext cx="25400" cy="14288"/>
          </a:xfrm>
          <a:custGeom>
            <a:avLst/>
            <a:gdLst>
              <a:gd name="T0" fmla="*/ 33 w 35"/>
              <a:gd name="T1" fmla="*/ 14 h 20"/>
              <a:gd name="T2" fmla="*/ 27 w 35"/>
              <a:gd name="T3" fmla="*/ 3 h 20"/>
              <a:gd name="T4" fmla="*/ 16 w 35"/>
              <a:gd name="T5" fmla="*/ 0 h 20"/>
              <a:gd name="T6" fmla="*/ 4 w 35"/>
              <a:gd name="T7" fmla="*/ 6 h 20"/>
              <a:gd name="T8" fmla="*/ 0 w 35"/>
              <a:gd name="T9" fmla="*/ 20 h 20"/>
              <a:gd name="T10" fmla="*/ 35 w 35"/>
              <a:gd name="T11" fmla="*/ 14 h 20"/>
              <a:gd name="T12" fmla="*/ 35 w 35"/>
              <a:gd name="T13" fmla="*/ 14 h 20"/>
              <a:gd name="T14" fmla="*/ 33 w 35"/>
              <a:gd name="T15" fmla="*/ 14 h 2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5"/>
              <a:gd name="T25" fmla="*/ 0 h 20"/>
              <a:gd name="T26" fmla="*/ 35 w 35"/>
              <a:gd name="T27" fmla="*/ 20 h 2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5" h="20">
                <a:moveTo>
                  <a:pt x="33" y="14"/>
                </a:moveTo>
                <a:lnTo>
                  <a:pt x="27" y="3"/>
                </a:lnTo>
                <a:lnTo>
                  <a:pt x="16" y="0"/>
                </a:lnTo>
                <a:lnTo>
                  <a:pt x="4" y="6"/>
                </a:lnTo>
                <a:lnTo>
                  <a:pt x="0" y="20"/>
                </a:lnTo>
                <a:lnTo>
                  <a:pt x="35" y="14"/>
                </a:lnTo>
                <a:lnTo>
                  <a:pt x="33" y="14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08" name="Freeform 422"/>
          <p:cNvSpPr>
            <a:spLocks/>
          </p:cNvSpPr>
          <p:nvPr/>
        </p:nvSpPr>
        <p:spPr bwMode="auto">
          <a:xfrm>
            <a:off x="7658100" y="4103688"/>
            <a:ext cx="19050" cy="22225"/>
          </a:xfrm>
          <a:custGeom>
            <a:avLst/>
            <a:gdLst>
              <a:gd name="T0" fmla="*/ 18 w 27"/>
              <a:gd name="T1" fmla="*/ 30 h 30"/>
              <a:gd name="T2" fmla="*/ 27 w 27"/>
              <a:gd name="T3" fmla="*/ 19 h 30"/>
              <a:gd name="T4" fmla="*/ 24 w 27"/>
              <a:gd name="T5" fmla="*/ 8 h 30"/>
              <a:gd name="T6" fmla="*/ 14 w 27"/>
              <a:gd name="T7" fmla="*/ 0 h 30"/>
              <a:gd name="T8" fmla="*/ 0 w 27"/>
              <a:gd name="T9" fmla="*/ 3 h 30"/>
              <a:gd name="T10" fmla="*/ 19 w 27"/>
              <a:gd name="T11" fmla="*/ 30 h 30"/>
              <a:gd name="T12" fmla="*/ 19 w 27"/>
              <a:gd name="T13" fmla="*/ 30 h 30"/>
              <a:gd name="T14" fmla="*/ 18 w 27"/>
              <a:gd name="T15" fmla="*/ 30 h 3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7"/>
              <a:gd name="T25" fmla="*/ 0 h 30"/>
              <a:gd name="T26" fmla="*/ 27 w 27"/>
              <a:gd name="T27" fmla="*/ 30 h 3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7" h="30">
                <a:moveTo>
                  <a:pt x="18" y="30"/>
                </a:moveTo>
                <a:lnTo>
                  <a:pt x="27" y="19"/>
                </a:lnTo>
                <a:lnTo>
                  <a:pt x="24" y="8"/>
                </a:lnTo>
                <a:lnTo>
                  <a:pt x="14" y="0"/>
                </a:lnTo>
                <a:lnTo>
                  <a:pt x="0" y="3"/>
                </a:lnTo>
                <a:lnTo>
                  <a:pt x="19" y="30"/>
                </a:lnTo>
                <a:lnTo>
                  <a:pt x="18" y="3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09" name="Freeform 423"/>
          <p:cNvSpPr>
            <a:spLocks/>
          </p:cNvSpPr>
          <p:nvPr/>
        </p:nvSpPr>
        <p:spPr bwMode="auto">
          <a:xfrm>
            <a:off x="7631113" y="4387850"/>
            <a:ext cx="184150" cy="241300"/>
          </a:xfrm>
          <a:custGeom>
            <a:avLst/>
            <a:gdLst>
              <a:gd name="T0" fmla="*/ 271 w 271"/>
              <a:gd name="T1" fmla="*/ 0 h 338"/>
              <a:gd name="T2" fmla="*/ 250 w 271"/>
              <a:gd name="T3" fmla="*/ 40 h 338"/>
              <a:gd name="T4" fmla="*/ 192 w 271"/>
              <a:gd name="T5" fmla="*/ 134 h 338"/>
              <a:gd name="T6" fmla="*/ 106 w 271"/>
              <a:gd name="T7" fmla="*/ 245 h 338"/>
              <a:gd name="T8" fmla="*/ 56 w 271"/>
              <a:gd name="T9" fmla="*/ 295 h 338"/>
              <a:gd name="T10" fmla="*/ 0 w 271"/>
              <a:gd name="T11" fmla="*/ 338 h 33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338"/>
              <a:gd name="T20" fmla="*/ 271 w 271"/>
              <a:gd name="T21" fmla="*/ 338 h 33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338">
                <a:moveTo>
                  <a:pt x="271" y="0"/>
                </a:moveTo>
                <a:lnTo>
                  <a:pt x="250" y="40"/>
                </a:lnTo>
                <a:lnTo>
                  <a:pt x="192" y="134"/>
                </a:lnTo>
                <a:lnTo>
                  <a:pt x="106" y="245"/>
                </a:lnTo>
                <a:lnTo>
                  <a:pt x="56" y="295"/>
                </a:lnTo>
                <a:lnTo>
                  <a:pt x="0" y="338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10" name="Freeform 424"/>
          <p:cNvSpPr>
            <a:spLocks/>
          </p:cNvSpPr>
          <p:nvPr/>
        </p:nvSpPr>
        <p:spPr bwMode="auto">
          <a:xfrm>
            <a:off x="7631113" y="4387850"/>
            <a:ext cx="184150" cy="241300"/>
          </a:xfrm>
          <a:custGeom>
            <a:avLst/>
            <a:gdLst>
              <a:gd name="T0" fmla="*/ 271 w 271"/>
              <a:gd name="T1" fmla="*/ 0 h 338"/>
              <a:gd name="T2" fmla="*/ 250 w 271"/>
              <a:gd name="T3" fmla="*/ 40 h 338"/>
              <a:gd name="T4" fmla="*/ 192 w 271"/>
              <a:gd name="T5" fmla="*/ 134 h 338"/>
              <a:gd name="T6" fmla="*/ 106 w 271"/>
              <a:gd name="T7" fmla="*/ 245 h 338"/>
              <a:gd name="T8" fmla="*/ 56 w 271"/>
              <a:gd name="T9" fmla="*/ 295 h 338"/>
              <a:gd name="T10" fmla="*/ 0 w 271"/>
              <a:gd name="T11" fmla="*/ 338 h 33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338"/>
              <a:gd name="T20" fmla="*/ 271 w 271"/>
              <a:gd name="T21" fmla="*/ 338 h 33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338">
                <a:moveTo>
                  <a:pt x="271" y="0"/>
                </a:moveTo>
                <a:lnTo>
                  <a:pt x="250" y="40"/>
                </a:lnTo>
                <a:lnTo>
                  <a:pt x="192" y="134"/>
                </a:lnTo>
                <a:lnTo>
                  <a:pt x="106" y="245"/>
                </a:lnTo>
                <a:lnTo>
                  <a:pt x="56" y="295"/>
                </a:lnTo>
                <a:lnTo>
                  <a:pt x="0" y="338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11" name="Freeform 425"/>
          <p:cNvSpPr>
            <a:spLocks/>
          </p:cNvSpPr>
          <p:nvPr/>
        </p:nvSpPr>
        <p:spPr bwMode="auto">
          <a:xfrm>
            <a:off x="7677150" y="4076700"/>
            <a:ext cx="17463" cy="22225"/>
          </a:xfrm>
          <a:custGeom>
            <a:avLst/>
            <a:gdLst>
              <a:gd name="T0" fmla="*/ 3 w 25"/>
              <a:gd name="T1" fmla="*/ 0 h 30"/>
              <a:gd name="T2" fmla="*/ 0 w 25"/>
              <a:gd name="T3" fmla="*/ 12 h 30"/>
              <a:gd name="T4" fmla="*/ 3 w 25"/>
              <a:gd name="T5" fmla="*/ 23 h 30"/>
              <a:gd name="T6" fmla="*/ 12 w 25"/>
              <a:gd name="T7" fmla="*/ 30 h 30"/>
              <a:gd name="T8" fmla="*/ 25 w 25"/>
              <a:gd name="T9" fmla="*/ 25 h 30"/>
              <a:gd name="T10" fmla="*/ 3 w 25"/>
              <a:gd name="T11" fmla="*/ 0 h 30"/>
              <a:gd name="T12" fmla="*/ 3 w 25"/>
              <a:gd name="T13" fmla="*/ 0 h 3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"/>
              <a:gd name="T22" fmla="*/ 0 h 30"/>
              <a:gd name="T23" fmla="*/ 25 w 25"/>
              <a:gd name="T24" fmla="*/ 30 h 3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" h="30">
                <a:moveTo>
                  <a:pt x="3" y="0"/>
                </a:moveTo>
                <a:lnTo>
                  <a:pt x="0" y="12"/>
                </a:lnTo>
                <a:lnTo>
                  <a:pt x="3" y="23"/>
                </a:lnTo>
                <a:lnTo>
                  <a:pt x="12" y="30"/>
                </a:lnTo>
                <a:lnTo>
                  <a:pt x="25" y="25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12" name="Freeform 426"/>
          <p:cNvSpPr>
            <a:spLocks/>
          </p:cNvSpPr>
          <p:nvPr/>
        </p:nvSpPr>
        <p:spPr bwMode="auto">
          <a:xfrm>
            <a:off x="7796213" y="3967163"/>
            <a:ext cx="19050" cy="15875"/>
          </a:xfrm>
          <a:custGeom>
            <a:avLst/>
            <a:gdLst>
              <a:gd name="T0" fmla="*/ 30 w 30"/>
              <a:gd name="T1" fmla="*/ 6 h 25"/>
              <a:gd name="T2" fmla="*/ 20 w 30"/>
              <a:gd name="T3" fmla="*/ 0 h 25"/>
              <a:gd name="T4" fmla="*/ 8 w 30"/>
              <a:gd name="T5" fmla="*/ 2 h 25"/>
              <a:gd name="T6" fmla="*/ 0 w 30"/>
              <a:gd name="T7" fmla="*/ 11 h 25"/>
              <a:gd name="T8" fmla="*/ 3 w 30"/>
              <a:gd name="T9" fmla="*/ 25 h 25"/>
              <a:gd name="T10" fmla="*/ 30 w 30"/>
              <a:gd name="T11" fmla="*/ 8 h 25"/>
              <a:gd name="T12" fmla="*/ 30 w 30"/>
              <a:gd name="T13" fmla="*/ 8 h 25"/>
              <a:gd name="T14" fmla="*/ 30 w 30"/>
              <a:gd name="T15" fmla="*/ 6 h 2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0"/>
              <a:gd name="T25" fmla="*/ 0 h 25"/>
              <a:gd name="T26" fmla="*/ 30 w 30"/>
              <a:gd name="T27" fmla="*/ 25 h 2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0" h="25">
                <a:moveTo>
                  <a:pt x="30" y="6"/>
                </a:moveTo>
                <a:lnTo>
                  <a:pt x="20" y="0"/>
                </a:lnTo>
                <a:lnTo>
                  <a:pt x="8" y="2"/>
                </a:lnTo>
                <a:lnTo>
                  <a:pt x="0" y="11"/>
                </a:lnTo>
                <a:lnTo>
                  <a:pt x="3" y="25"/>
                </a:lnTo>
                <a:lnTo>
                  <a:pt x="30" y="8"/>
                </a:lnTo>
                <a:lnTo>
                  <a:pt x="30" y="6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13" name="Freeform 427"/>
          <p:cNvSpPr>
            <a:spLocks/>
          </p:cNvSpPr>
          <p:nvPr/>
        </p:nvSpPr>
        <p:spPr bwMode="auto">
          <a:xfrm>
            <a:off x="7770813" y="3960813"/>
            <a:ext cx="119062" cy="125412"/>
          </a:xfrm>
          <a:custGeom>
            <a:avLst/>
            <a:gdLst>
              <a:gd name="T0" fmla="*/ 100 w 175"/>
              <a:gd name="T1" fmla="*/ 0 h 172"/>
              <a:gd name="T2" fmla="*/ 114 w 175"/>
              <a:gd name="T3" fmla="*/ 0 h 172"/>
              <a:gd name="T4" fmla="*/ 141 w 175"/>
              <a:gd name="T5" fmla="*/ 8 h 172"/>
              <a:gd name="T6" fmla="*/ 155 w 175"/>
              <a:gd name="T7" fmla="*/ 17 h 172"/>
              <a:gd name="T8" fmla="*/ 168 w 175"/>
              <a:gd name="T9" fmla="*/ 34 h 172"/>
              <a:gd name="T10" fmla="*/ 175 w 175"/>
              <a:gd name="T11" fmla="*/ 62 h 172"/>
              <a:gd name="T12" fmla="*/ 175 w 175"/>
              <a:gd name="T13" fmla="*/ 100 h 172"/>
              <a:gd name="T14" fmla="*/ 163 w 175"/>
              <a:gd name="T15" fmla="*/ 124 h 172"/>
              <a:gd name="T16" fmla="*/ 144 w 175"/>
              <a:gd name="T17" fmla="*/ 142 h 172"/>
              <a:gd name="T18" fmla="*/ 108 w 175"/>
              <a:gd name="T19" fmla="*/ 163 h 172"/>
              <a:gd name="T20" fmla="*/ 77 w 175"/>
              <a:gd name="T21" fmla="*/ 171 h 172"/>
              <a:gd name="T22" fmla="*/ 64 w 175"/>
              <a:gd name="T23" fmla="*/ 172 h 172"/>
              <a:gd name="T24" fmla="*/ 45 w 175"/>
              <a:gd name="T25" fmla="*/ 166 h 172"/>
              <a:gd name="T26" fmla="*/ 11 w 175"/>
              <a:gd name="T27" fmla="*/ 145 h 172"/>
              <a:gd name="T28" fmla="*/ 1 w 175"/>
              <a:gd name="T29" fmla="*/ 127 h 172"/>
              <a:gd name="T30" fmla="*/ 0 w 175"/>
              <a:gd name="T31" fmla="*/ 103 h 172"/>
              <a:gd name="T32" fmla="*/ 14 w 175"/>
              <a:gd name="T33" fmla="*/ 75 h 172"/>
              <a:gd name="T34" fmla="*/ 45 w 175"/>
              <a:gd name="T35" fmla="*/ 37 h 172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75"/>
              <a:gd name="T55" fmla="*/ 0 h 172"/>
              <a:gd name="T56" fmla="*/ 175 w 175"/>
              <a:gd name="T57" fmla="*/ 172 h 172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75" h="172">
                <a:moveTo>
                  <a:pt x="100" y="0"/>
                </a:moveTo>
                <a:lnTo>
                  <a:pt x="114" y="0"/>
                </a:lnTo>
                <a:lnTo>
                  <a:pt x="141" y="8"/>
                </a:lnTo>
                <a:lnTo>
                  <a:pt x="155" y="17"/>
                </a:lnTo>
                <a:lnTo>
                  <a:pt x="168" y="34"/>
                </a:lnTo>
                <a:lnTo>
                  <a:pt x="175" y="62"/>
                </a:lnTo>
                <a:lnTo>
                  <a:pt x="175" y="100"/>
                </a:lnTo>
                <a:lnTo>
                  <a:pt x="163" y="124"/>
                </a:lnTo>
                <a:lnTo>
                  <a:pt x="144" y="142"/>
                </a:lnTo>
                <a:lnTo>
                  <a:pt x="108" y="163"/>
                </a:lnTo>
                <a:lnTo>
                  <a:pt x="77" y="171"/>
                </a:lnTo>
                <a:lnTo>
                  <a:pt x="64" y="172"/>
                </a:lnTo>
                <a:lnTo>
                  <a:pt x="45" y="166"/>
                </a:lnTo>
                <a:lnTo>
                  <a:pt x="11" y="145"/>
                </a:lnTo>
                <a:lnTo>
                  <a:pt x="1" y="127"/>
                </a:lnTo>
                <a:lnTo>
                  <a:pt x="0" y="103"/>
                </a:lnTo>
                <a:lnTo>
                  <a:pt x="14" y="75"/>
                </a:lnTo>
                <a:lnTo>
                  <a:pt x="45" y="37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14" name="Freeform 428"/>
          <p:cNvSpPr>
            <a:spLocks/>
          </p:cNvSpPr>
          <p:nvPr/>
        </p:nvSpPr>
        <p:spPr bwMode="auto">
          <a:xfrm>
            <a:off x="7781925" y="4064000"/>
            <a:ext cx="134938" cy="115888"/>
          </a:xfrm>
          <a:custGeom>
            <a:avLst/>
            <a:gdLst>
              <a:gd name="T0" fmla="*/ 6 w 202"/>
              <a:gd name="T1" fmla="*/ 36 h 163"/>
              <a:gd name="T2" fmla="*/ 0 w 202"/>
              <a:gd name="T3" fmla="*/ 101 h 163"/>
              <a:gd name="T4" fmla="*/ 4 w 202"/>
              <a:gd name="T5" fmla="*/ 143 h 163"/>
              <a:gd name="T6" fmla="*/ 10 w 202"/>
              <a:gd name="T7" fmla="*/ 157 h 163"/>
              <a:gd name="T8" fmla="*/ 21 w 202"/>
              <a:gd name="T9" fmla="*/ 163 h 163"/>
              <a:gd name="T10" fmla="*/ 114 w 202"/>
              <a:gd name="T11" fmla="*/ 157 h 163"/>
              <a:gd name="T12" fmla="*/ 161 w 202"/>
              <a:gd name="T13" fmla="*/ 146 h 163"/>
              <a:gd name="T14" fmla="*/ 178 w 202"/>
              <a:gd name="T15" fmla="*/ 138 h 163"/>
              <a:gd name="T16" fmla="*/ 186 w 202"/>
              <a:gd name="T17" fmla="*/ 129 h 163"/>
              <a:gd name="T18" fmla="*/ 195 w 202"/>
              <a:gd name="T19" fmla="*/ 96 h 163"/>
              <a:gd name="T20" fmla="*/ 202 w 202"/>
              <a:gd name="T21" fmla="*/ 58 h 163"/>
              <a:gd name="T22" fmla="*/ 195 w 202"/>
              <a:gd name="T23" fmla="*/ 22 h 163"/>
              <a:gd name="T24" fmla="*/ 183 w 202"/>
              <a:gd name="T25" fmla="*/ 10 h 163"/>
              <a:gd name="T26" fmla="*/ 162 w 202"/>
              <a:gd name="T27" fmla="*/ 0 h 16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02"/>
              <a:gd name="T43" fmla="*/ 0 h 163"/>
              <a:gd name="T44" fmla="*/ 202 w 202"/>
              <a:gd name="T45" fmla="*/ 163 h 163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02" h="163">
                <a:moveTo>
                  <a:pt x="6" y="36"/>
                </a:moveTo>
                <a:lnTo>
                  <a:pt x="0" y="101"/>
                </a:lnTo>
                <a:lnTo>
                  <a:pt x="4" y="143"/>
                </a:lnTo>
                <a:lnTo>
                  <a:pt x="10" y="157"/>
                </a:lnTo>
                <a:lnTo>
                  <a:pt x="21" y="163"/>
                </a:lnTo>
                <a:lnTo>
                  <a:pt x="114" y="157"/>
                </a:lnTo>
                <a:lnTo>
                  <a:pt x="161" y="146"/>
                </a:lnTo>
                <a:lnTo>
                  <a:pt x="178" y="138"/>
                </a:lnTo>
                <a:lnTo>
                  <a:pt x="186" y="129"/>
                </a:lnTo>
                <a:lnTo>
                  <a:pt x="195" y="96"/>
                </a:lnTo>
                <a:lnTo>
                  <a:pt x="202" y="58"/>
                </a:lnTo>
                <a:lnTo>
                  <a:pt x="195" y="22"/>
                </a:lnTo>
                <a:lnTo>
                  <a:pt x="183" y="10"/>
                </a:lnTo>
                <a:lnTo>
                  <a:pt x="162" y="0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15" name="Freeform 429"/>
          <p:cNvSpPr>
            <a:spLocks/>
          </p:cNvSpPr>
          <p:nvPr/>
        </p:nvSpPr>
        <p:spPr bwMode="auto">
          <a:xfrm>
            <a:off x="7781925" y="4064000"/>
            <a:ext cx="134938" cy="115888"/>
          </a:xfrm>
          <a:custGeom>
            <a:avLst/>
            <a:gdLst>
              <a:gd name="T0" fmla="*/ 6 w 202"/>
              <a:gd name="T1" fmla="*/ 36 h 163"/>
              <a:gd name="T2" fmla="*/ 0 w 202"/>
              <a:gd name="T3" fmla="*/ 101 h 163"/>
              <a:gd name="T4" fmla="*/ 4 w 202"/>
              <a:gd name="T5" fmla="*/ 143 h 163"/>
              <a:gd name="T6" fmla="*/ 10 w 202"/>
              <a:gd name="T7" fmla="*/ 157 h 163"/>
              <a:gd name="T8" fmla="*/ 21 w 202"/>
              <a:gd name="T9" fmla="*/ 163 h 163"/>
              <a:gd name="T10" fmla="*/ 114 w 202"/>
              <a:gd name="T11" fmla="*/ 157 h 163"/>
              <a:gd name="T12" fmla="*/ 161 w 202"/>
              <a:gd name="T13" fmla="*/ 146 h 163"/>
              <a:gd name="T14" fmla="*/ 178 w 202"/>
              <a:gd name="T15" fmla="*/ 138 h 163"/>
              <a:gd name="T16" fmla="*/ 186 w 202"/>
              <a:gd name="T17" fmla="*/ 129 h 163"/>
              <a:gd name="T18" fmla="*/ 195 w 202"/>
              <a:gd name="T19" fmla="*/ 96 h 163"/>
              <a:gd name="T20" fmla="*/ 202 w 202"/>
              <a:gd name="T21" fmla="*/ 58 h 163"/>
              <a:gd name="T22" fmla="*/ 195 w 202"/>
              <a:gd name="T23" fmla="*/ 22 h 163"/>
              <a:gd name="T24" fmla="*/ 183 w 202"/>
              <a:gd name="T25" fmla="*/ 10 h 163"/>
              <a:gd name="T26" fmla="*/ 162 w 202"/>
              <a:gd name="T27" fmla="*/ 0 h 16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02"/>
              <a:gd name="T43" fmla="*/ 0 h 163"/>
              <a:gd name="T44" fmla="*/ 202 w 202"/>
              <a:gd name="T45" fmla="*/ 163 h 163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02" h="163">
                <a:moveTo>
                  <a:pt x="6" y="36"/>
                </a:moveTo>
                <a:lnTo>
                  <a:pt x="0" y="101"/>
                </a:lnTo>
                <a:lnTo>
                  <a:pt x="4" y="143"/>
                </a:lnTo>
                <a:lnTo>
                  <a:pt x="10" y="157"/>
                </a:lnTo>
                <a:lnTo>
                  <a:pt x="21" y="163"/>
                </a:lnTo>
                <a:lnTo>
                  <a:pt x="114" y="157"/>
                </a:lnTo>
                <a:lnTo>
                  <a:pt x="161" y="146"/>
                </a:lnTo>
                <a:lnTo>
                  <a:pt x="178" y="138"/>
                </a:lnTo>
                <a:lnTo>
                  <a:pt x="186" y="129"/>
                </a:lnTo>
                <a:lnTo>
                  <a:pt x="195" y="96"/>
                </a:lnTo>
                <a:lnTo>
                  <a:pt x="202" y="58"/>
                </a:lnTo>
                <a:lnTo>
                  <a:pt x="195" y="22"/>
                </a:lnTo>
                <a:lnTo>
                  <a:pt x="183" y="10"/>
                </a:lnTo>
                <a:lnTo>
                  <a:pt x="162" y="0"/>
                </a:lnTo>
              </a:path>
            </a:pathLst>
          </a:custGeom>
          <a:noFill/>
          <a:ln w="4763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16" name="Freeform 430"/>
          <p:cNvSpPr>
            <a:spLocks/>
          </p:cNvSpPr>
          <p:nvPr/>
        </p:nvSpPr>
        <p:spPr bwMode="auto">
          <a:xfrm>
            <a:off x="7904163" y="4127500"/>
            <a:ext cx="11112" cy="22225"/>
          </a:xfrm>
          <a:custGeom>
            <a:avLst/>
            <a:gdLst>
              <a:gd name="T0" fmla="*/ 18 w 19"/>
              <a:gd name="T1" fmla="*/ 0 h 33"/>
              <a:gd name="T2" fmla="*/ 7 w 19"/>
              <a:gd name="T3" fmla="*/ 3 h 33"/>
              <a:gd name="T4" fmla="*/ 0 w 19"/>
              <a:gd name="T5" fmla="*/ 14 h 33"/>
              <a:gd name="T6" fmla="*/ 2 w 19"/>
              <a:gd name="T7" fmla="*/ 26 h 33"/>
              <a:gd name="T8" fmla="*/ 13 w 19"/>
              <a:gd name="T9" fmla="*/ 33 h 33"/>
              <a:gd name="T10" fmla="*/ 19 w 19"/>
              <a:gd name="T11" fmla="*/ 0 h 33"/>
              <a:gd name="T12" fmla="*/ 19 w 19"/>
              <a:gd name="T13" fmla="*/ 0 h 33"/>
              <a:gd name="T14" fmla="*/ 18 w 19"/>
              <a:gd name="T15" fmla="*/ 0 h 3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9"/>
              <a:gd name="T25" fmla="*/ 0 h 33"/>
              <a:gd name="T26" fmla="*/ 19 w 19"/>
              <a:gd name="T27" fmla="*/ 33 h 3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9" h="33">
                <a:moveTo>
                  <a:pt x="18" y="0"/>
                </a:moveTo>
                <a:lnTo>
                  <a:pt x="7" y="3"/>
                </a:lnTo>
                <a:lnTo>
                  <a:pt x="0" y="14"/>
                </a:lnTo>
                <a:lnTo>
                  <a:pt x="2" y="26"/>
                </a:lnTo>
                <a:lnTo>
                  <a:pt x="13" y="33"/>
                </a:lnTo>
                <a:lnTo>
                  <a:pt x="19" y="0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17" name="Freeform 431"/>
          <p:cNvSpPr>
            <a:spLocks/>
          </p:cNvSpPr>
          <p:nvPr/>
        </p:nvSpPr>
        <p:spPr bwMode="auto">
          <a:xfrm>
            <a:off x="7804150" y="4184650"/>
            <a:ext cx="20638" cy="11113"/>
          </a:xfrm>
          <a:custGeom>
            <a:avLst/>
            <a:gdLst>
              <a:gd name="T0" fmla="*/ 33 w 33"/>
              <a:gd name="T1" fmla="*/ 14 h 17"/>
              <a:gd name="T2" fmla="*/ 27 w 33"/>
              <a:gd name="T3" fmla="*/ 2 h 17"/>
              <a:gd name="T4" fmla="*/ 16 w 33"/>
              <a:gd name="T5" fmla="*/ 0 h 17"/>
              <a:gd name="T6" fmla="*/ 5 w 33"/>
              <a:gd name="T7" fmla="*/ 5 h 17"/>
              <a:gd name="T8" fmla="*/ 0 w 33"/>
              <a:gd name="T9" fmla="*/ 17 h 17"/>
              <a:gd name="T10" fmla="*/ 33 w 33"/>
              <a:gd name="T11" fmla="*/ 14 h 17"/>
              <a:gd name="T12" fmla="*/ 33 w 33"/>
              <a:gd name="T13" fmla="*/ 14 h 17"/>
              <a:gd name="T14" fmla="*/ 33 w 33"/>
              <a:gd name="T15" fmla="*/ 14 h 1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3"/>
              <a:gd name="T25" fmla="*/ 0 h 17"/>
              <a:gd name="T26" fmla="*/ 33 w 33"/>
              <a:gd name="T27" fmla="*/ 17 h 1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3" h="17">
                <a:moveTo>
                  <a:pt x="33" y="14"/>
                </a:moveTo>
                <a:lnTo>
                  <a:pt x="27" y="2"/>
                </a:lnTo>
                <a:lnTo>
                  <a:pt x="16" y="0"/>
                </a:lnTo>
                <a:lnTo>
                  <a:pt x="5" y="5"/>
                </a:lnTo>
                <a:lnTo>
                  <a:pt x="0" y="17"/>
                </a:lnTo>
                <a:lnTo>
                  <a:pt x="33" y="14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18" name="Freeform 432"/>
          <p:cNvSpPr>
            <a:spLocks/>
          </p:cNvSpPr>
          <p:nvPr/>
        </p:nvSpPr>
        <p:spPr bwMode="auto">
          <a:xfrm>
            <a:off x="6843713" y="3838575"/>
            <a:ext cx="11112" cy="23813"/>
          </a:xfrm>
          <a:custGeom>
            <a:avLst/>
            <a:gdLst>
              <a:gd name="T0" fmla="*/ 0 w 17"/>
              <a:gd name="T1" fmla="*/ 33 h 35"/>
              <a:gd name="T2" fmla="*/ 12 w 17"/>
              <a:gd name="T3" fmla="*/ 30 h 35"/>
              <a:gd name="T4" fmla="*/ 17 w 17"/>
              <a:gd name="T5" fmla="*/ 18 h 35"/>
              <a:gd name="T6" fmla="*/ 12 w 17"/>
              <a:gd name="T7" fmla="*/ 5 h 35"/>
              <a:gd name="T8" fmla="*/ 0 w 17"/>
              <a:gd name="T9" fmla="*/ 0 h 35"/>
              <a:gd name="T10" fmla="*/ 0 w 17"/>
              <a:gd name="T11" fmla="*/ 35 h 35"/>
              <a:gd name="T12" fmla="*/ 0 w 17"/>
              <a:gd name="T13" fmla="*/ 35 h 35"/>
              <a:gd name="T14" fmla="*/ 0 w 17"/>
              <a:gd name="T15" fmla="*/ 33 h 3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7"/>
              <a:gd name="T25" fmla="*/ 0 h 35"/>
              <a:gd name="T26" fmla="*/ 17 w 17"/>
              <a:gd name="T27" fmla="*/ 35 h 3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7" h="35">
                <a:moveTo>
                  <a:pt x="0" y="33"/>
                </a:moveTo>
                <a:lnTo>
                  <a:pt x="12" y="30"/>
                </a:lnTo>
                <a:lnTo>
                  <a:pt x="17" y="18"/>
                </a:lnTo>
                <a:lnTo>
                  <a:pt x="12" y="5"/>
                </a:lnTo>
                <a:lnTo>
                  <a:pt x="0" y="0"/>
                </a:lnTo>
                <a:lnTo>
                  <a:pt x="0" y="35"/>
                </a:lnTo>
                <a:lnTo>
                  <a:pt x="0" y="3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19" name="Freeform 433"/>
          <p:cNvSpPr>
            <a:spLocks/>
          </p:cNvSpPr>
          <p:nvPr/>
        </p:nvSpPr>
        <p:spPr bwMode="auto">
          <a:xfrm>
            <a:off x="6678613" y="3759200"/>
            <a:ext cx="39687" cy="103188"/>
          </a:xfrm>
          <a:custGeom>
            <a:avLst/>
            <a:gdLst>
              <a:gd name="T0" fmla="*/ 58 w 58"/>
              <a:gd name="T1" fmla="*/ 0 h 145"/>
              <a:gd name="T2" fmla="*/ 20 w 58"/>
              <a:gd name="T3" fmla="*/ 44 h 145"/>
              <a:gd name="T4" fmla="*/ 0 w 58"/>
              <a:gd name="T5" fmla="*/ 90 h 145"/>
              <a:gd name="T6" fmla="*/ 0 w 58"/>
              <a:gd name="T7" fmla="*/ 116 h 145"/>
              <a:gd name="T8" fmla="*/ 8 w 58"/>
              <a:gd name="T9" fmla="*/ 145 h 1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"/>
              <a:gd name="T16" fmla="*/ 0 h 145"/>
              <a:gd name="T17" fmla="*/ 58 w 58"/>
              <a:gd name="T18" fmla="*/ 145 h 14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" h="145">
                <a:moveTo>
                  <a:pt x="58" y="0"/>
                </a:moveTo>
                <a:lnTo>
                  <a:pt x="20" y="44"/>
                </a:lnTo>
                <a:lnTo>
                  <a:pt x="0" y="90"/>
                </a:lnTo>
                <a:lnTo>
                  <a:pt x="0" y="116"/>
                </a:lnTo>
                <a:lnTo>
                  <a:pt x="8" y="145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20" name="Freeform 434"/>
          <p:cNvSpPr>
            <a:spLocks/>
          </p:cNvSpPr>
          <p:nvPr/>
        </p:nvSpPr>
        <p:spPr bwMode="auto">
          <a:xfrm>
            <a:off x="6678613" y="3759200"/>
            <a:ext cx="39687" cy="103188"/>
          </a:xfrm>
          <a:custGeom>
            <a:avLst/>
            <a:gdLst>
              <a:gd name="T0" fmla="*/ 58 w 58"/>
              <a:gd name="T1" fmla="*/ 0 h 145"/>
              <a:gd name="T2" fmla="*/ 20 w 58"/>
              <a:gd name="T3" fmla="*/ 44 h 145"/>
              <a:gd name="T4" fmla="*/ 0 w 58"/>
              <a:gd name="T5" fmla="*/ 90 h 145"/>
              <a:gd name="T6" fmla="*/ 0 w 58"/>
              <a:gd name="T7" fmla="*/ 116 h 145"/>
              <a:gd name="T8" fmla="*/ 8 w 58"/>
              <a:gd name="T9" fmla="*/ 145 h 1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"/>
              <a:gd name="T16" fmla="*/ 0 h 145"/>
              <a:gd name="T17" fmla="*/ 58 w 58"/>
              <a:gd name="T18" fmla="*/ 145 h 14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" h="145">
                <a:moveTo>
                  <a:pt x="58" y="0"/>
                </a:moveTo>
                <a:lnTo>
                  <a:pt x="20" y="44"/>
                </a:lnTo>
                <a:lnTo>
                  <a:pt x="0" y="90"/>
                </a:lnTo>
                <a:lnTo>
                  <a:pt x="0" y="116"/>
                </a:lnTo>
                <a:lnTo>
                  <a:pt x="8" y="145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21" name="Freeform 435"/>
          <p:cNvSpPr>
            <a:spLocks/>
          </p:cNvSpPr>
          <p:nvPr/>
        </p:nvSpPr>
        <p:spPr bwMode="auto">
          <a:xfrm>
            <a:off x="6681788" y="3676650"/>
            <a:ext cx="19050" cy="19050"/>
          </a:xfrm>
          <a:custGeom>
            <a:avLst/>
            <a:gdLst>
              <a:gd name="T0" fmla="*/ 0 w 30"/>
              <a:gd name="T1" fmla="*/ 17 h 25"/>
              <a:gd name="T2" fmla="*/ 11 w 30"/>
              <a:gd name="T3" fmla="*/ 25 h 25"/>
              <a:gd name="T4" fmla="*/ 22 w 30"/>
              <a:gd name="T5" fmla="*/ 23 h 25"/>
              <a:gd name="T6" fmla="*/ 30 w 30"/>
              <a:gd name="T7" fmla="*/ 14 h 25"/>
              <a:gd name="T8" fmla="*/ 26 w 30"/>
              <a:gd name="T9" fmla="*/ 0 h 25"/>
              <a:gd name="T10" fmla="*/ 0 w 30"/>
              <a:gd name="T11" fmla="*/ 17 h 25"/>
              <a:gd name="T12" fmla="*/ 0 w 30"/>
              <a:gd name="T13" fmla="*/ 17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"/>
              <a:gd name="T22" fmla="*/ 0 h 25"/>
              <a:gd name="T23" fmla="*/ 30 w 30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" h="25">
                <a:moveTo>
                  <a:pt x="0" y="17"/>
                </a:moveTo>
                <a:lnTo>
                  <a:pt x="11" y="25"/>
                </a:lnTo>
                <a:lnTo>
                  <a:pt x="22" y="23"/>
                </a:lnTo>
                <a:lnTo>
                  <a:pt x="30" y="14"/>
                </a:lnTo>
                <a:lnTo>
                  <a:pt x="26" y="0"/>
                </a:lnTo>
                <a:lnTo>
                  <a:pt x="0" y="1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22" name="Freeform 436"/>
          <p:cNvSpPr>
            <a:spLocks/>
          </p:cNvSpPr>
          <p:nvPr/>
        </p:nvSpPr>
        <p:spPr bwMode="auto">
          <a:xfrm>
            <a:off x="6494463" y="4810125"/>
            <a:ext cx="20637" cy="17463"/>
          </a:xfrm>
          <a:custGeom>
            <a:avLst/>
            <a:gdLst>
              <a:gd name="T0" fmla="*/ 0 w 32"/>
              <a:gd name="T1" fmla="*/ 15 h 24"/>
              <a:gd name="T2" fmla="*/ 11 w 32"/>
              <a:gd name="T3" fmla="*/ 24 h 24"/>
              <a:gd name="T4" fmla="*/ 24 w 32"/>
              <a:gd name="T5" fmla="*/ 22 h 24"/>
              <a:gd name="T6" fmla="*/ 32 w 32"/>
              <a:gd name="T7" fmla="*/ 13 h 24"/>
              <a:gd name="T8" fmla="*/ 32 w 32"/>
              <a:gd name="T9" fmla="*/ 0 h 24"/>
              <a:gd name="T10" fmla="*/ 0 w 32"/>
              <a:gd name="T11" fmla="*/ 15 h 24"/>
              <a:gd name="T12" fmla="*/ 0 w 32"/>
              <a:gd name="T13" fmla="*/ 15 h 24"/>
              <a:gd name="T14" fmla="*/ 0 w 32"/>
              <a:gd name="T15" fmla="*/ 15 h 2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2"/>
              <a:gd name="T25" fmla="*/ 0 h 24"/>
              <a:gd name="T26" fmla="*/ 32 w 32"/>
              <a:gd name="T27" fmla="*/ 24 h 2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2" h="24">
                <a:moveTo>
                  <a:pt x="0" y="15"/>
                </a:moveTo>
                <a:lnTo>
                  <a:pt x="11" y="24"/>
                </a:lnTo>
                <a:lnTo>
                  <a:pt x="24" y="22"/>
                </a:lnTo>
                <a:lnTo>
                  <a:pt x="32" y="13"/>
                </a:lnTo>
                <a:lnTo>
                  <a:pt x="32" y="0"/>
                </a:lnTo>
                <a:lnTo>
                  <a:pt x="0" y="1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23" name="Freeform 437"/>
          <p:cNvSpPr>
            <a:spLocks/>
          </p:cNvSpPr>
          <p:nvPr/>
        </p:nvSpPr>
        <p:spPr bwMode="auto">
          <a:xfrm>
            <a:off x="6316663" y="4814888"/>
            <a:ext cx="114300" cy="142875"/>
          </a:xfrm>
          <a:custGeom>
            <a:avLst/>
            <a:gdLst>
              <a:gd name="T0" fmla="*/ 170 w 170"/>
              <a:gd name="T1" fmla="*/ 41 h 196"/>
              <a:gd name="T2" fmla="*/ 160 w 170"/>
              <a:gd name="T3" fmla="*/ 28 h 196"/>
              <a:gd name="T4" fmla="*/ 127 w 170"/>
              <a:gd name="T5" fmla="*/ 6 h 196"/>
              <a:gd name="T6" fmla="*/ 106 w 170"/>
              <a:gd name="T7" fmla="*/ 0 h 196"/>
              <a:gd name="T8" fmla="*/ 83 w 170"/>
              <a:gd name="T9" fmla="*/ 0 h 196"/>
              <a:gd name="T10" fmla="*/ 58 w 170"/>
              <a:gd name="T11" fmla="*/ 8 h 196"/>
              <a:gd name="T12" fmla="*/ 31 w 170"/>
              <a:gd name="T13" fmla="*/ 30 h 196"/>
              <a:gd name="T14" fmla="*/ 0 w 170"/>
              <a:gd name="T15" fmla="*/ 83 h 196"/>
              <a:gd name="T16" fmla="*/ 0 w 170"/>
              <a:gd name="T17" fmla="*/ 132 h 196"/>
              <a:gd name="T18" fmla="*/ 20 w 170"/>
              <a:gd name="T19" fmla="*/ 168 h 196"/>
              <a:gd name="T20" fmla="*/ 51 w 170"/>
              <a:gd name="T21" fmla="*/ 186 h 196"/>
              <a:gd name="T22" fmla="*/ 114 w 170"/>
              <a:gd name="T23" fmla="*/ 196 h 196"/>
              <a:gd name="T24" fmla="*/ 145 w 170"/>
              <a:gd name="T25" fmla="*/ 196 h 1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70"/>
              <a:gd name="T40" fmla="*/ 0 h 196"/>
              <a:gd name="T41" fmla="*/ 170 w 170"/>
              <a:gd name="T42" fmla="*/ 196 h 19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70" h="196">
                <a:moveTo>
                  <a:pt x="170" y="41"/>
                </a:moveTo>
                <a:lnTo>
                  <a:pt x="160" y="28"/>
                </a:lnTo>
                <a:lnTo>
                  <a:pt x="127" y="6"/>
                </a:lnTo>
                <a:lnTo>
                  <a:pt x="106" y="0"/>
                </a:lnTo>
                <a:lnTo>
                  <a:pt x="83" y="0"/>
                </a:lnTo>
                <a:lnTo>
                  <a:pt x="58" y="8"/>
                </a:lnTo>
                <a:lnTo>
                  <a:pt x="31" y="30"/>
                </a:lnTo>
                <a:lnTo>
                  <a:pt x="0" y="83"/>
                </a:lnTo>
                <a:lnTo>
                  <a:pt x="0" y="132"/>
                </a:lnTo>
                <a:lnTo>
                  <a:pt x="20" y="168"/>
                </a:lnTo>
                <a:lnTo>
                  <a:pt x="51" y="186"/>
                </a:lnTo>
                <a:lnTo>
                  <a:pt x="114" y="196"/>
                </a:lnTo>
                <a:lnTo>
                  <a:pt x="145" y="196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24" name="Freeform 438"/>
          <p:cNvSpPr>
            <a:spLocks/>
          </p:cNvSpPr>
          <p:nvPr/>
        </p:nvSpPr>
        <p:spPr bwMode="auto">
          <a:xfrm>
            <a:off x="6316663" y="4814888"/>
            <a:ext cx="114300" cy="142875"/>
          </a:xfrm>
          <a:custGeom>
            <a:avLst/>
            <a:gdLst>
              <a:gd name="T0" fmla="*/ 170 w 170"/>
              <a:gd name="T1" fmla="*/ 41 h 196"/>
              <a:gd name="T2" fmla="*/ 160 w 170"/>
              <a:gd name="T3" fmla="*/ 28 h 196"/>
              <a:gd name="T4" fmla="*/ 127 w 170"/>
              <a:gd name="T5" fmla="*/ 6 h 196"/>
              <a:gd name="T6" fmla="*/ 106 w 170"/>
              <a:gd name="T7" fmla="*/ 0 h 196"/>
              <a:gd name="T8" fmla="*/ 83 w 170"/>
              <a:gd name="T9" fmla="*/ 0 h 196"/>
              <a:gd name="T10" fmla="*/ 58 w 170"/>
              <a:gd name="T11" fmla="*/ 8 h 196"/>
              <a:gd name="T12" fmla="*/ 31 w 170"/>
              <a:gd name="T13" fmla="*/ 30 h 196"/>
              <a:gd name="T14" fmla="*/ 0 w 170"/>
              <a:gd name="T15" fmla="*/ 83 h 196"/>
              <a:gd name="T16" fmla="*/ 0 w 170"/>
              <a:gd name="T17" fmla="*/ 132 h 196"/>
              <a:gd name="T18" fmla="*/ 20 w 170"/>
              <a:gd name="T19" fmla="*/ 168 h 196"/>
              <a:gd name="T20" fmla="*/ 51 w 170"/>
              <a:gd name="T21" fmla="*/ 186 h 196"/>
              <a:gd name="T22" fmla="*/ 114 w 170"/>
              <a:gd name="T23" fmla="*/ 196 h 196"/>
              <a:gd name="T24" fmla="*/ 145 w 170"/>
              <a:gd name="T25" fmla="*/ 196 h 1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70"/>
              <a:gd name="T40" fmla="*/ 0 h 196"/>
              <a:gd name="T41" fmla="*/ 170 w 170"/>
              <a:gd name="T42" fmla="*/ 196 h 19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70" h="196">
                <a:moveTo>
                  <a:pt x="170" y="41"/>
                </a:moveTo>
                <a:lnTo>
                  <a:pt x="160" y="28"/>
                </a:lnTo>
                <a:lnTo>
                  <a:pt x="127" y="6"/>
                </a:lnTo>
                <a:lnTo>
                  <a:pt x="106" y="0"/>
                </a:lnTo>
                <a:lnTo>
                  <a:pt x="83" y="0"/>
                </a:lnTo>
                <a:lnTo>
                  <a:pt x="58" y="8"/>
                </a:lnTo>
                <a:lnTo>
                  <a:pt x="31" y="30"/>
                </a:lnTo>
                <a:lnTo>
                  <a:pt x="0" y="83"/>
                </a:lnTo>
                <a:lnTo>
                  <a:pt x="0" y="132"/>
                </a:lnTo>
                <a:lnTo>
                  <a:pt x="20" y="168"/>
                </a:lnTo>
                <a:lnTo>
                  <a:pt x="51" y="186"/>
                </a:lnTo>
                <a:lnTo>
                  <a:pt x="114" y="196"/>
                </a:lnTo>
                <a:lnTo>
                  <a:pt x="145" y="196"/>
                </a:lnTo>
              </a:path>
            </a:pathLst>
          </a:custGeom>
          <a:solidFill>
            <a:schemeClr val="bg1"/>
          </a:solidFill>
          <a:ln w="9525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25" name="Freeform 439"/>
          <p:cNvSpPr>
            <a:spLocks/>
          </p:cNvSpPr>
          <p:nvPr/>
        </p:nvSpPr>
        <p:spPr bwMode="auto">
          <a:xfrm>
            <a:off x="6442075" y="4822825"/>
            <a:ext cx="93663" cy="123825"/>
          </a:xfrm>
          <a:custGeom>
            <a:avLst/>
            <a:gdLst>
              <a:gd name="T0" fmla="*/ 25 w 138"/>
              <a:gd name="T1" fmla="*/ 17 h 174"/>
              <a:gd name="T2" fmla="*/ 39 w 138"/>
              <a:gd name="T3" fmla="*/ 9 h 174"/>
              <a:gd name="T4" fmla="*/ 69 w 138"/>
              <a:gd name="T5" fmla="*/ 0 h 174"/>
              <a:gd name="T6" fmla="*/ 88 w 138"/>
              <a:gd name="T7" fmla="*/ 0 h 174"/>
              <a:gd name="T8" fmla="*/ 105 w 138"/>
              <a:gd name="T9" fmla="*/ 8 h 174"/>
              <a:gd name="T10" fmla="*/ 121 w 138"/>
              <a:gd name="T11" fmla="*/ 23 h 174"/>
              <a:gd name="T12" fmla="*/ 130 w 138"/>
              <a:gd name="T13" fmla="*/ 48 h 174"/>
              <a:gd name="T14" fmla="*/ 138 w 138"/>
              <a:gd name="T15" fmla="*/ 103 h 174"/>
              <a:gd name="T16" fmla="*/ 132 w 138"/>
              <a:gd name="T17" fmla="*/ 141 h 174"/>
              <a:gd name="T18" fmla="*/ 116 w 138"/>
              <a:gd name="T19" fmla="*/ 164 h 174"/>
              <a:gd name="T20" fmla="*/ 102 w 138"/>
              <a:gd name="T21" fmla="*/ 174 h 174"/>
              <a:gd name="T22" fmla="*/ 49 w 138"/>
              <a:gd name="T23" fmla="*/ 174 h 174"/>
              <a:gd name="T24" fmla="*/ 17 w 138"/>
              <a:gd name="T25" fmla="*/ 164 h 174"/>
              <a:gd name="T26" fmla="*/ 0 w 138"/>
              <a:gd name="T27" fmla="*/ 146 h 1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38"/>
              <a:gd name="T43" fmla="*/ 0 h 174"/>
              <a:gd name="T44" fmla="*/ 138 w 138"/>
              <a:gd name="T45" fmla="*/ 174 h 17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38" h="174">
                <a:moveTo>
                  <a:pt x="25" y="17"/>
                </a:moveTo>
                <a:lnTo>
                  <a:pt x="39" y="9"/>
                </a:lnTo>
                <a:lnTo>
                  <a:pt x="69" y="0"/>
                </a:lnTo>
                <a:lnTo>
                  <a:pt x="88" y="0"/>
                </a:lnTo>
                <a:lnTo>
                  <a:pt x="105" y="8"/>
                </a:lnTo>
                <a:lnTo>
                  <a:pt x="121" y="23"/>
                </a:lnTo>
                <a:lnTo>
                  <a:pt x="130" y="48"/>
                </a:lnTo>
                <a:lnTo>
                  <a:pt x="138" y="103"/>
                </a:lnTo>
                <a:lnTo>
                  <a:pt x="132" y="141"/>
                </a:lnTo>
                <a:lnTo>
                  <a:pt x="116" y="164"/>
                </a:lnTo>
                <a:lnTo>
                  <a:pt x="102" y="174"/>
                </a:lnTo>
                <a:lnTo>
                  <a:pt x="49" y="174"/>
                </a:lnTo>
                <a:lnTo>
                  <a:pt x="17" y="164"/>
                </a:lnTo>
                <a:lnTo>
                  <a:pt x="0" y="146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26" name="Freeform 440"/>
          <p:cNvSpPr>
            <a:spLocks/>
          </p:cNvSpPr>
          <p:nvPr/>
        </p:nvSpPr>
        <p:spPr bwMode="auto">
          <a:xfrm>
            <a:off x="6442075" y="4822825"/>
            <a:ext cx="93663" cy="123825"/>
          </a:xfrm>
          <a:custGeom>
            <a:avLst/>
            <a:gdLst>
              <a:gd name="T0" fmla="*/ 25 w 138"/>
              <a:gd name="T1" fmla="*/ 17 h 174"/>
              <a:gd name="T2" fmla="*/ 39 w 138"/>
              <a:gd name="T3" fmla="*/ 9 h 174"/>
              <a:gd name="T4" fmla="*/ 69 w 138"/>
              <a:gd name="T5" fmla="*/ 0 h 174"/>
              <a:gd name="T6" fmla="*/ 88 w 138"/>
              <a:gd name="T7" fmla="*/ 0 h 174"/>
              <a:gd name="T8" fmla="*/ 105 w 138"/>
              <a:gd name="T9" fmla="*/ 8 h 174"/>
              <a:gd name="T10" fmla="*/ 121 w 138"/>
              <a:gd name="T11" fmla="*/ 23 h 174"/>
              <a:gd name="T12" fmla="*/ 130 w 138"/>
              <a:gd name="T13" fmla="*/ 48 h 174"/>
              <a:gd name="T14" fmla="*/ 138 w 138"/>
              <a:gd name="T15" fmla="*/ 103 h 174"/>
              <a:gd name="T16" fmla="*/ 132 w 138"/>
              <a:gd name="T17" fmla="*/ 141 h 174"/>
              <a:gd name="T18" fmla="*/ 116 w 138"/>
              <a:gd name="T19" fmla="*/ 164 h 174"/>
              <a:gd name="T20" fmla="*/ 102 w 138"/>
              <a:gd name="T21" fmla="*/ 174 h 174"/>
              <a:gd name="T22" fmla="*/ 49 w 138"/>
              <a:gd name="T23" fmla="*/ 174 h 174"/>
              <a:gd name="T24" fmla="*/ 17 w 138"/>
              <a:gd name="T25" fmla="*/ 164 h 174"/>
              <a:gd name="T26" fmla="*/ 0 w 138"/>
              <a:gd name="T27" fmla="*/ 146 h 1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38"/>
              <a:gd name="T43" fmla="*/ 0 h 174"/>
              <a:gd name="T44" fmla="*/ 138 w 138"/>
              <a:gd name="T45" fmla="*/ 174 h 17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38" h="174">
                <a:moveTo>
                  <a:pt x="25" y="17"/>
                </a:moveTo>
                <a:lnTo>
                  <a:pt x="39" y="9"/>
                </a:lnTo>
                <a:lnTo>
                  <a:pt x="69" y="0"/>
                </a:lnTo>
                <a:lnTo>
                  <a:pt x="88" y="0"/>
                </a:lnTo>
                <a:lnTo>
                  <a:pt x="105" y="8"/>
                </a:lnTo>
                <a:lnTo>
                  <a:pt x="121" y="23"/>
                </a:lnTo>
                <a:lnTo>
                  <a:pt x="130" y="48"/>
                </a:lnTo>
                <a:lnTo>
                  <a:pt x="138" y="103"/>
                </a:lnTo>
                <a:lnTo>
                  <a:pt x="132" y="141"/>
                </a:lnTo>
                <a:lnTo>
                  <a:pt x="116" y="164"/>
                </a:lnTo>
                <a:lnTo>
                  <a:pt x="102" y="174"/>
                </a:lnTo>
                <a:lnTo>
                  <a:pt x="49" y="174"/>
                </a:lnTo>
                <a:lnTo>
                  <a:pt x="17" y="164"/>
                </a:lnTo>
                <a:lnTo>
                  <a:pt x="0" y="146"/>
                </a:lnTo>
              </a:path>
            </a:pathLst>
          </a:custGeom>
          <a:solidFill>
            <a:schemeClr val="bg1"/>
          </a:solidFill>
          <a:ln w="9525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27" name="Line 441"/>
          <p:cNvSpPr>
            <a:spLocks noChangeShapeType="1"/>
          </p:cNvSpPr>
          <p:nvPr/>
        </p:nvSpPr>
        <p:spPr bwMode="auto">
          <a:xfrm>
            <a:off x="6384925" y="4849813"/>
            <a:ext cx="1588" cy="142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28" name="Line 442"/>
          <p:cNvSpPr>
            <a:spLocks noChangeShapeType="1"/>
          </p:cNvSpPr>
          <p:nvPr/>
        </p:nvSpPr>
        <p:spPr bwMode="auto">
          <a:xfrm>
            <a:off x="6470650" y="4852988"/>
            <a:ext cx="1588" cy="2222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29" name="Freeform 443"/>
          <p:cNvSpPr>
            <a:spLocks/>
          </p:cNvSpPr>
          <p:nvPr/>
        </p:nvSpPr>
        <p:spPr bwMode="auto">
          <a:xfrm>
            <a:off x="6510338" y="4968875"/>
            <a:ext cx="22225" cy="9525"/>
          </a:xfrm>
          <a:custGeom>
            <a:avLst/>
            <a:gdLst>
              <a:gd name="T0" fmla="*/ 33 w 33"/>
              <a:gd name="T1" fmla="*/ 16 h 16"/>
              <a:gd name="T2" fmla="*/ 28 w 33"/>
              <a:gd name="T3" fmla="*/ 5 h 16"/>
              <a:gd name="T4" fmla="*/ 17 w 33"/>
              <a:gd name="T5" fmla="*/ 0 h 16"/>
              <a:gd name="T6" fmla="*/ 5 w 33"/>
              <a:gd name="T7" fmla="*/ 5 h 16"/>
              <a:gd name="T8" fmla="*/ 0 w 33"/>
              <a:gd name="T9" fmla="*/ 16 h 16"/>
              <a:gd name="T10" fmla="*/ 33 w 33"/>
              <a:gd name="T11" fmla="*/ 16 h 16"/>
              <a:gd name="T12" fmla="*/ 33 w 33"/>
              <a:gd name="T13" fmla="*/ 1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"/>
              <a:gd name="T22" fmla="*/ 0 h 16"/>
              <a:gd name="T23" fmla="*/ 33 w 33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" h="16">
                <a:moveTo>
                  <a:pt x="33" y="16"/>
                </a:moveTo>
                <a:lnTo>
                  <a:pt x="28" y="5"/>
                </a:lnTo>
                <a:lnTo>
                  <a:pt x="17" y="0"/>
                </a:lnTo>
                <a:lnTo>
                  <a:pt x="5" y="5"/>
                </a:lnTo>
                <a:lnTo>
                  <a:pt x="0" y="16"/>
                </a:lnTo>
                <a:lnTo>
                  <a:pt x="33" y="16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30" name="Freeform 444"/>
          <p:cNvSpPr>
            <a:spLocks/>
          </p:cNvSpPr>
          <p:nvPr/>
        </p:nvSpPr>
        <p:spPr bwMode="auto">
          <a:xfrm>
            <a:off x="6345238" y="5170488"/>
            <a:ext cx="15875" cy="20637"/>
          </a:xfrm>
          <a:custGeom>
            <a:avLst/>
            <a:gdLst>
              <a:gd name="T0" fmla="*/ 24 w 24"/>
              <a:gd name="T1" fmla="*/ 0 h 30"/>
              <a:gd name="T2" fmla="*/ 9 w 24"/>
              <a:gd name="T3" fmla="*/ 0 h 30"/>
              <a:gd name="T4" fmla="*/ 2 w 24"/>
              <a:gd name="T5" fmla="*/ 8 h 30"/>
              <a:gd name="T6" fmla="*/ 0 w 24"/>
              <a:gd name="T7" fmla="*/ 20 h 30"/>
              <a:gd name="T8" fmla="*/ 9 w 24"/>
              <a:gd name="T9" fmla="*/ 30 h 30"/>
              <a:gd name="T10" fmla="*/ 24 w 24"/>
              <a:gd name="T11" fmla="*/ 0 h 30"/>
              <a:gd name="T12" fmla="*/ 24 w 24"/>
              <a:gd name="T13" fmla="*/ 0 h 3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30"/>
              <a:gd name="T23" fmla="*/ 24 w 24"/>
              <a:gd name="T24" fmla="*/ 30 h 3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30">
                <a:moveTo>
                  <a:pt x="24" y="0"/>
                </a:moveTo>
                <a:lnTo>
                  <a:pt x="9" y="0"/>
                </a:lnTo>
                <a:lnTo>
                  <a:pt x="2" y="8"/>
                </a:lnTo>
                <a:lnTo>
                  <a:pt x="0" y="20"/>
                </a:lnTo>
                <a:lnTo>
                  <a:pt x="9" y="30"/>
                </a:lnTo>
                <a:lnTo>
                  <a:pt x="2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31" name="Freeform 445"/>
          <p:cNvSpPr>
            <a:spLocks/>
          </p:cNvSpPr>
          <p:nvPr/>
        </p:nvSpPr>
        <p:spPr bwMode="auto">
          <a:xfrm>
            <a:off x="6516688" y="4983163"/>
            <a:ext cx="14287" cy="23812"/>
          </a:xfrm>
          <a:custGeom>
            <a:avLst/>
            <a:gdLst>
              <a:gd name="T0" fmla="*/ 18 w 19"/>
              <a:gd name="T1" fmla="*/ 0 h 35"/>
              <a:gd name="T2" fmla="*/ 5 w 19"/>
              <a:gd name="T3" fmla="*/ 5 h 35"/>
              <a:gd name="T4" fmla="*/ 0 w 19"/>
              <a:gd name="T5" fmla="*/ 15 h 35"/>
              <a:gd name="T6" fmla="*/ 2 w 19"/>
              <a:gd name="T7" fmla="*/ 27 h 35"/>
              <a:gd name="T8" fmla="*/ 13 w 19"/>
              <a:gd name="T9" fmla="*/ 35 h 35"/>
              <a:gd name="T10" fmla="*/ 19 w 19"/>
              <a:gd name="T11" fmla="*/ 2 h 35"/>
              <a:gd name="T12" fmla="*/ 19 w 19"/>
              <a:gd name="T13" fmla="*/ 2 h 35"/>
              <a:gd name="T14" fmla="*/ 18 w 19"/>
              <a:gd name="T15" fmla="*/ 0 h 3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9"/>
              <a:gd name="T25" fmla="*/ 0 h 35"/>
              <a:gd name="T26" fmla="*/ 19 w 19"/>
              <a:gd name="T27" fmla="*/ 35 h 3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9" h="35">
                <a:moveTo>
                  <a:pt x="18" y="0"/>
                </a:moveTo>
                <a:lnTo>
                  <a:pt x="5" y="5"/>
                </a:lnTo>
                <a:lnTo>
                  <a:pt x="0" y="15"/>
                </a:lnTo>
                <a:lnTo>
                  <a:pt x="2" y="27"/>
                </a:lnTo>
                <a:lnTo>
                  <a:pt x="13" y="35"/>
                </a:lnTo>
                <a:lnTo>
                  <a:pt x="19" y="2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32" name="Freeform 446"/>
          <p:cNvSpPr>
            <a:spLocks/>
          </p:cNvSpPr>
          <p:nvPr/>
        </p:nvSpPr>
        <p:spPr bwMode="auto">
          <a:xfrm>
            <a:off x="6613525" y="5122863"/>
            <a:ext cx="31750" cy="44450"/>
          </a:xfrm>
          <a:custGeom>
            <a:avLst/>
            <a:gdLst>
              <a:gd name="T0" fmla="*/ 10 w 50"/>
              <a:gd name="T1" fmla="*/ 63 h 63"/>
              <a:gd name="T2" fmla="*/ 27 w 50"/>
              <a:gd name="T3" fmla="*/ 49 h 63"/>
              <a:gd name="T4" fmla="*/ 38 w 50"/>
              <a:gd name="T5" fmla="*/ 35 h 63"/>
              <a:gd name="T6" fmla="*/ 46 w 50"/>
              <a:gd name="T7" fmla="*/ 22 h 63"/>
              <a:gd name="T8" fmla="*/ 50 w 50"/>
              <a:gd name="T9" fmla="*/ 14 h 63"/>
              <a:gd name="T10" fmla="*/ 19 w 50"/>
              <a:gd name="T11" fmla="*/ 0 h 63"/>
              <a:gd name="T12" fmla="*/ 19 w 50"/>
              <a:gd name="T13" fmla="*/ 5 h 63"/>
              <a:gd name="T14" fmla="*/ 11 w 50"/>
              <a:gd name="T15" fmla="*/ 16 h 63"/>
              <a:gd name="T16" fmla="*/ 3 w 50"/>
              <a:gd name="T17" fmla="*/ 29 h 63"/>
              <a:gd name="T18" fmla="*/ 0 w 50"/>
              <a:gd name="T19" fmla="*/ 30 h 63"/>
              <a:gd name="T20" fmla="*/ 10 w 50"/>
              <a:gd name="T21" fmla="*/ 63 h 63"/>
              <a:gd name="T22" fmla="*/ 10 w 50"/>
              <a:gd name="T23" fmla="*/ 63 h 6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50"/>
              <a:gd name="T37" fmla="*/ 0 h 63"/>
              <a:gd name="T38" fmla="*/ 50 w 50"/>
              <a:gd name="T39" fmla="*/ 63 h 6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50" h="63">
                <a:moveTo>
                  <a:pt x="10" y="63"/>
                </a:moveTo>
                <a:lnTo>
                  <a:pt x="27" y="49"/>
                </a:lnTo>
                <a:lnTo>
                  <a:pt x="38" y="35"/>
                </a:lnTo>
                <a:lnTo>
                  <a:pt x="46" y="22"/>
                </a:lnTo>
                <a:lnTo>
                  <a:pt x="50" y="14"/>
                </a:lnTo>
                <a:lnTo>
                  <a:pt x="19" y="0"/>
                </a:lnTo>
                <a:lnTo>
                  <a:pt x="19" y="5"/>
                </a:lnTo>
                <a:lnTo>
                  <a:pt x="11" y="16"/>
                </a:lnTo>
                <a:lnTo>
                  <a:pt x="3" y="29"/>
                </a:lnTo>
                <a:lnTo>
                  <a:pt x="0" y="30"/>
                </a:lnTo>
                <a:lnTo>
                  <a:pt x="10" y="6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33" name="Freeform 447"/>
          <p:cNvSpPr>
            <a:spLocks/>
          </p:cNvSpPr>
          <p:nvPr/>
        </p:nvSpPr>
        <p:spPr bwMode="auto">
          <a:xfrm>
            <a:off x="6496050" y="5148263"/>
            <a:ext cx="22225" cy="12700"/>
          </a:xfrm>
          <a:custGeom>
            <a:avLst/>
            <a:gdLst>
              <a:gd name="T0" fmla="*/ 33 w 33"/>
              <a:gd name="T1" fmla="*/ 16 h 17"/>
              <a:gd name="T2" fmla="*/ 30 w 33"/>
              <a:gd name="T3" fmla="*/ 5 h 17"/>
              <a:gd name="T4" fmla="*/ 17 w 33"/>
              <a:gd name="T5" fmla="*/ 0 h 17"/>
              <a:gd name="T6" fmla="*/ 5 w 33"/>
              <a:gd name="T7" fmla="*/ 5 h 17"/>
              <a:gd name="T8" fmla="*/ 0 w 33"/>
              <a:gd name="T9" fmla="*/ 17 h 17"/>
              <a:gd name="T10" fmla="*/ 33 w 33"/>
              <a:gd name="T11" fmla="*/ 17 h 17"/>
              <a:gd name="T12" fmla="*/ 33 w 33"/>
              <a:gd name="T13" fmla="*/ 17 h 17"/>
              <a:gd name="T14" fmla="*/ 33 w 33"/>
              <a:gd name="T15" fmla="*/ 16 h 1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3"/>
              <a:gd name="T25" fmla="*/ 0 h 17"/>
              <a:gd name="T26" fmla="*/ 33 w 33"/>
              <a:gd name="T27" fmla="*/ 17 h 1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3" h="17">
                <a:moveTo>
                  <a:pt x="33" y="16"/>
                </a:moveTo>
                <a:lnTo>
                  <a:pt x="30" y="5"/>
                </a:lnTo>
                <a:lnTo>
                  <a:pt x="17" y="0"/>
                </a:lnTo>
                <a:lnTo>
                  <a:pt x="5" y="5"/>
                </a:lnTo>
                <a:lnTo>
                  <a:pt x="0" y="17"/>
                </a:lnTo>
                <a:lnTo>
                  <a:pt x="33" y="17"/>
                </a:lnTo>
                <a:lnTo>
                  <a:pt x="33" y="16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34" name="Freeform 448"/>
          <p:cNvSpPr>
            <a:spLocks/>
          </p:cNvSpPr>
          <p:nvPr/>
        </p:nvSpPr>
        <p:spPr bwMode="auto">
          <a:xfrm>
            <a:off x="6337300" y="5170488"/>
            <a:ext cx="133350" cy="146050"/>
          </a:xfrm>
          <a:custGeom>
            <a:avLst/>
            <a:gdLst>
              <a:gd name="T0" fmla="*/ 183 w 197"/>
              <a:gd name="T1" fmla="*/ 0 h 204"/>
              <a:gd name="T2" fmla="*/ 193 w 197"/>
              <a:gd name="T3" fmla="*/ 20 h 204"/>
              <a:gd name="T4" fmla="*/ 197 w 197"/>
              <a:gd name="T5" fmla="*/ 45 h 204"/>
              <a:gd name="T6" fmla="*/ 197 w 197"/>
              <a:gd name="T7" fmla="*/ 86 h 204"/>
              <a:gd name="T8" fmla="*/ 187 w 197"/>
              <a:gd name="T9" fmla="*/ 171 h 204"/>
              <a:gd name="T10" fmla="*/ 172 w 197"/>
              <a:gd name="T11" fmla="*/ 183 h 204"/>
              <a:gd name="T12" fmla="*/ 130 w 197"/>
              <a:gd name="T13" fmla="*/ 202 h 204"/>
              <a:gd name="T14" fmla="*/ 103 w 197"/>
              <a:gd name="T15" fmla="*/ 204 h 204"/>
              <a:gd name="T16" fmla="*/ 72 w 197"/>
              <a:gd name="T17" fmla="*/ 197 h 204"/>
              <a:gd name="T18" fmla="*/ 38 w 197"/>
              <a:gd name="T19" fmla="*/ 175 h 204"/>
              <a:gd name="T20" fmla="*/ 0 w 197"/>
              <a:gd name="T21" fmla="*/ 139 h 20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97"/>
              <a:gd name="T34" fmla="*/ 0 h 204"/>
              <a:gd name="T35" fmla="*/ 197 w 197"/>
              <a:gd name="T36" fmla="*/ 204 h 20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97" h="204">
                <a:moveTo>
                  <a:pt x="183" y="0"/>
                </a:moveTo>
                <a:lnTo>
                  <a:pt x="193" y="20"/>
                </a:lnTo>
                <a:lnTo>
                  <a:pt x="197" y="45"/>
                </a:lnTo>
                <a:lnTo>
                  <a:pt x="197" y="86"/>
                </a:lnTo>
                <a:lnTo>
                  <a:pt x="187" y="171"/>
                </a:lnTo>
                <a:lnTo>
                  <a:pt x="172" y="183"/>
                </a:lnTo>
                <a:lnTo>
                  <a:pt x="130" y="202"/>
                </a:lnTo>
                <a:lnTo>
                  <a:pt x="103" y="204"/>
                </a:lnTo>
                <a:lnTo>
                  <a:pt x="72" y="197"/>
                </a:lnTo>
                <a:lnTo>
                  <a:pt x="38" y="175"/>
                </a:lnTo>
                <a:lnTo>
                  <a:pt x="0" y="139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35" name="Freeform 449"/>
          <p:cNvSpPr>
            <a:spLocks/>
          </p:cNvSpPr>
          <p:nvPr/>
        </p:nvSpPr>
        <p:spPr bwMode="auto">
          <a:xfrm>
            <a:off x="6337300" y="5170488"/>
            <a:ext cx="133350" cy="146050"/>
          </a:xfrm>
          <a:custGeom>
            <a:avLst/>
            <a:gdLst>
              <a:gd name="T0" fmla="*/ 183 w 197"/>
              <a:gd name="T1" fmla="*/ 0 h 204"/>
              <a:gd name="T2" fmla="*/ 193 w 197"/>
              <a:gd name="T3" fmla="*/ 20 h 204"/>
              <a:gd name="T4" fmla="*/ 197 w 197"/>
              <a:gd name="T5" fmla="*/ 45 h 204"/>
              <a:gd name="T6" fmla="*/ 197 w 197"/>
              <a:gd name="T7" fmla="*/ 86 h 204"/>
              <a:gd name="T8" fmla="*/ 187 w 197"/>
              <a:gd name="T9" fmla="*/ 171 h 204"/>
              <a:gd name="T10" fmla="*/ 172 w 197"/>
              <a:gd name="T11" fmla="*/ 183 h 204"/>
              <a:gd name="T12" fmla="*/ 130 w 197"/>
              <a:gd name="T13" fmla="*/ 202 h 204"/>
              <a:gd name="T14" fmla="*/ 103 w 197"/>
              <a:gd name="T15" fmla="*/ 204 h 204"/>
              <a:gd name="T16" fmla="*/ 72 w 197"/>
              <a:gd name="T17" fmla="*/ 197 h 204"/>
              <a:gd name="T18" fmla="*/ 38 w 197"/>
              <a:gd name="T19" fmla="*/ 175 h 204"/>
              <a:gd name="T20" fmla="*/ 0 w 197"/>
              <a:gd name="T21" fmla="*/ 139 h 20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97"/>
              <a:gd name="T34" fmla="*/ 0 h 204"/>
              <a:gd name="T35" fmla="*/ 197 w 197"/>
              <a:gd name="T36" fmla="*/ 204 h 20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97" h="204">
                <a:moveTo>
                  <a:pt x="183" y="0"/>
                </a:moveTo>
                <a:lnTo>
                  <a:pt x="193" y="20"/>
                </a:lnTo>
                <a:lnTo>
                  <a:pt x="197" y="45"/>
                </a:lnTo>
                <a:lnTo>
                  <a:pt x="197" y="86"/>
                </a:lnTo>
                <a:lnTo>
                  <a:pt x="187" y="171"/>
                </a:lnTo>
                <a:lnTo>
                  <a:pt x="172" y="183"/>
                </a:lnTo>
                <a:lnTo>
                  <a:pt x="130" y="202"/>
                </a:lnTo>
                <a:lnTo>
                  <a:pt x="103" y="204"/>
                </a:lnTo>
                <a:lnTo>
                  <a:pt x="72" y="197"/>
                </a:lnTo>
                <a:lnTo>
                  <a:pt x="38" y="175"/>
                </a:lnTo>
                <a:lnTo>
                  <a:pt x="0" y="139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36" name="Freeform 450"/>
          <p:cNvSpPr>
            <a:spLocks/>
          </p:cNvSpPr>
          <p:nvPr/>
        </p:nvSpPr>
        <p:spPr bwMode="auto">
          <a:xfrm>
            <a:off x="6462713" y="5338763"/>
            <a:ext cx="180975" cy="374650"/>
          </a:xfrm>
          <a:custGeom>
            <a:avLst/>
            <a:gdLst>
              <a:gd name="T0" fmla="*/ 0 w 268"/>
              <a:gd name="T1" fmla="*/ 0 h 524"/>
              <a:gd name="T2" fmla="*/ 58 w 268"/>
              <a:gd name="T3" fmla="*/ 259 h 524"/>
              <a:gd name="T4" fmla="*/ 152 w 268"/>
              <a:gd name="T5" fmla="*/ 207 h 524"/>
              <a:gd name="T6" fmla="*/ 190 w 268"/>
              <a:gd name="T7" fmla="*/ 189 h 524"/>
              <a:gd name="T8" fmla="*/ 221 w 268"/>
              <a:gd name="T9" fmla="*/ 193 h 524"/>
              <a:gd name="T10" fmla="*/ 237 w 268"/>
              <a:gd name="T11" fmla="*/ 206 h 524"/>
              <a:gd name="T12" fmla="*/ 250 w 268"/>
              <a:gd name="T13" fmla="*/ 228 h 524"/>
              <a:gd name="T14" fmla="*/ 267 w 268"/>
              <a:gd name="T15" fmla="*/ 283 h 524"/>
              <a:gd name="T16" fmla="*/ 268 w 268"/>
              <a:gd name="T17" fmla="*/ 336 h 524"/>
              <a:gd name="T18" fmla="*/ 264 w 268"/>
              <a:gd name="T19" fmla="*/ 361 h 524"/>
              <a:gd name="T20" fmla="*/ 254 w 268"/>
              <a:gd name="T21" fmla="*/ 384 h 524"/>
              <a:gd name="T22" fmla="*/ 243 w 268"/>
              <a:gd name="T23" fmla="*/ 403 h 524"/>
              <a:gd name="T24" fmla="*/ 224 w 268"/>
              <a:gd name="T25" fmla="*/ 419 h 524"/>
              <a:gd name="T26" fmla="*/ 163 w 268"/>
              <a:gd name="T27" fmla="*/ 471 h 524"/>
              <a:gd name="T28" fmla="*/ 146 w 268"/>
              <a:gd name="T29" fmla="*/ 496 h 524"/>
              <a:gd name="T30" fmla="*/ 140 w 268"/>
              <a:gd name="T31" fmla="*/ 524 h 52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68"/>
              <a:gd name="T49" fmla="*/ 0 h 524"/>
              <a:gd name="T50" fmla="*/ 268 w 268"/>
              <a:gd name="T51" fmla="*/ 524 h 52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68" h="524">
                <a:moveTo>
                  <a:pt x="0" y="0"/>
                </a:moveTo>
                <a:lnTo>
                  <a:pt x="58" y="259"/>
                </a:lnTo>
                <a:lnTo>
                  <a:pt x="152" y="207"/>
                </a:lnTo>
                <a:lnTo>
                  <a:pt x="190" y="189"/>
                </a:lnTo>
                <a:lnTo>
                  <a:pt x="221" y="193"/>
                </a:lnTo>
                <a:lnTo>
                  <a:pt x="237" y="206"/>
                </a:lnTo>
                <a:lnTo>
                  <a:pt x="250" y="228"/>
                </a:lnTo>
                <a:lnTo>
                  <a:pt x="267" y="283"/>
                </a:lnTo>
                <a:lnTo>
                  <a:pt x="268" y="336"/>
                </a:lnTo>
                <a:lnTo>
                  <a:pt x="264" y="361"/>
                </a:lnTo>
                <a:lnTo>
                  <a:pt x="254" y="384"/>
                </a:lnTo>
                <a:lnTo>
                  <a:pt x="243" y="403"/>
                </a:lnTo>
                <a:lnTo>
                  <a:pt x="224" y="419"/>
                </a:lnTo>
                <a:lnTo>
                  <a:pt x="163" y="471"/>
                </a:lnTo>
                <a:lnTo>
                  <a:pt x="146" y="496"/>
                </a:lnTo>
                <a:lnTo>
                  <a:pt x="140" y="524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37" name="Freeform 451"/>
          <p:cNvSpPr>
            <a:spLocks/>
          </p:cNvSpPr>
          <p:nvPr/>
        </p:nvSpPr>
        <p:spPr bwMode="auto">
          <a:xfrm>
            <a:off x="6462713" y="5338763"/>
            <a:ext cx="180975" cy="374650"/>
          </a:xfrm>
          <a:custGeom>
            <a:avLst/>
            <a:gdLst>
              <a:gd name="T0" fmla="*/ 0 w 268"/>
              <a:gd name="T1" fmla="*/ 0 h 524"/>
              <a:gd name="T2" fmla="*/ 58 w 268"/>
              <a:gd name="T3" fmla="*/ 259 h 524"/>
              <a:gd name="T4" fmla="*/ 152 w 268"/>
              <a:gd name="T5" fmla="*/ 207 h 524"/>
              <a:gd name="T6" fmla="*/ 190 w 268"/>
              <a:gd name="T7" fmla="*/ 189 h 524"/>
              <a:gd name="T8" fmla="*/ 221 w 268"/>
              <a:gd name="T9" fmla="*/ 193 h 524"/>
              <a:gd name="T10" fmla="*/ 237 w 268"/>
              <a:gd name="T11" fmla="*/ 206 h 524"/>
              <a:gd name="T12" fmla="*/ 250 w 268"/>
              <a:gd name="T13" fmla="*/ 228 h 524"/>
              <a:gd name="T14" fmla="*/ 267 w 268"/>
              <a:gd name="T15" fmla="*/ 283 h 524"/>
              <a:gd name="T16" fmla="*/ 268 w 268"/>
              <a:gd name="T17" fmla="*/ 336 h 524"/>
              <a:gd name="T18" fmla="*/ 264 w 268"/>
              <a:gd name="T19" fmla="*/ 361 h 524"/>
              <a:gd name="T20" fmla="*/ 254 w 268"/>
              <a:gd name="T21" fmla="*/ 384 h 524"/>
              <a:gd name="T22" fmla="*/ 243 w 268"/>
              <a:gd name="T23" fmla="*/ 403 h 524"/>
              <a:gd name="T24" fmla="*/ 224 w 268"/>
              <a:gd name="T25" fmla="*/ 419 h 524"/>
              <a:gd name="T26" fmla="*/ 163 w 268"/>
              <a:gd name="T27" fmla="*/ 471 h 524"/>
              <a:gd name="T28" fmla="*/ 146 w 268"/>
              <a:gd name="T29" fmla="*/ 496 h 524"/>
              <a:gd name="T30" fmla="*/ 140 w 268"/>
              <a:gd name="T31" fmla="*/ 524 h 52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68"/>
              <a:gd name="T49" fmla="*/ 0 h 524"/>
              <a:gd name="T50" fmla="*/ 268 w 268"/>
              <a:gd name="T51" fmla="*/ 524 h 52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68" h="524">
                <a:moveTo>
                  <a:pt x="0" y="0"/>
                </a:moveTo>
                <a:lnTo>
                  <a:pt x="58" y="259"/>
                </a:lnTo>
                <a:lnTo>
                  <a:pt x="152" y="207"/>
                </a:lnTo>
                <a:lnTo>
                  <a:pt x="190" y="189"/>
                </a:lnTo>
                <a:lnTo>
                  <a:pt x="221" y="193"/>
                </a:lnTo>
                <a:lnTo>
                  <a:pt x="237" y="206"/>
                </a:lnTo>
                <a:lnTo>
                  <a:pt x="250" y="228"/>
                </a:lnTo>
                <a:lnTo>
                  <a:pt x="267" y="283"/>
                </a:lnTo>
                <a:lnTo>
                  <a:pt x="268" y="336"/>
                </a:lnTo>
                <a:lnTo>
                  <a:pt x="264" y="361"/>
                </a:lnTo>
                <a:lnTo>
                  <a:pt x="254" y="384"/>
                </a:lnTo>
                <a:lnTo>
                  <a:pt x="243" y="403"/>
                </a:lnTo>
                <a:lnTo>
                  <a:pt x="224" y="419"/>
                </a:lnTo>
                <a:lnTo>
                  <a:pt x="163" y="471"/>
                </a:lnTo>
                <a:lnTo>
                  <a:pt x="146" y="496"/>
                </a:lnTo>
                <a:lnTo>
                  <a:pt x="140" y="524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38" name="Freeform 452"/>
          <p:cNvSpPr>
            <a:spLocks/>
          </p:cNvSpPr>
          <p:nvPr/>
        </p:nvSpPr>
        <p:spPr bwMode="auto">
          <a:xfrm>
            <a:off x="6335713" y="5303838"/>
            <a:ext cx="25400" cy="11112"/>
          </a:xfrm>
          <a:custGeom>
            <a:avLst/>
            <a:gdLst>
              <a:gd name="T0" fmla="*/ 33 w 34"/>
              <a:gd name="T1" fmla="*/ 17 h 17"/>
              <a:gd name="T2" fmla="*/ 30 w 34"/>
              <a:gd name="T3" fmla="*/ 4 h 17"/>
              <a:gd name="T4" fmla="*/ 17 w 34"/>
              <a:gd name="T5" fmla="*/ 0 h 17"/>
              <a:gd name="T6" fmla="*/ 5 w 34"/>
              <a:gd name="T7" fmla="*/ 4 h 17"/>
              <a:gd name="T8" fmla="*/ 0 w 34"/>
              <a:gd name="T9" fmla="*/ 17 h 17"/>
              <a:gd name="T10" fmla="*/ 34 w 34"/>
              <a:gd name="T11" fmla="*/ 17 h 17"/>
              <a:gd name="T12" fmla="*/ 34 w 34"/>
              <a:gd name="T13" fmla="*/ 17 h 17"/>
              <a:gd name="T14" fmla="*/ 33 w 34"/>
              <a:gd name="T15" fmla="*/ 17 h 1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4"/>
              <a:gd name="T25" fmla="*/ 0 h 17"/>
              <a:gd name="T26" fmla="*/ 34 w 34"/>
              <a:gd name="T27" fmla="*/ 17 h 1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4" h="17">
                <a:moveTo>
                  <a:pt x="33" y="17"/>
                </a:moveTo>
                <a:lnTo>
                  <a:pt x="30" y="4"/>
                </a:lnTo>
                <a:lnTo>
                  <a:pt x="17" y="0"/>
                </a:lnTo>
                <a:lnTo>
                  <a:pt x="5" y="4"/>
                </a:lnTo>
                <a:lnTo>
                  <a:pt x="0" y="17"/>
                </a:lnTo>
                <a:lnTo>
                  <a:pt x="34" y="17"/>
                </a:lnTo>
                <a:lnTo>
                  <a:pt x="33" y="1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39" name="Freeform 453"/>
          <p:cNvSpPr>
            <a:spLocks/>
          </p:cNvSpPr>
          <p:nvPr/>
        </p:nvSpPr>
        <p:spPr bwMode="auto">
          <a:xfrm>
            <a:off x="6091238" y="5695950"/>
            <a:ext cx="15875" cy="20638"/>
          </a:xfrm>
          <a:custGeom>
            <a:avLst/>
            <a:gdLst>
              <a:gd name="T0" fmla="*/ 0 w 24"/>
              <a:gd name="T1" fmla="*/ 30 h 32"/>
              <a:gd name="T2" fmla="*/ 13 w 24"/>
              <a:gd name="T3" fmla="*/ 32 h 32"/>
              <a:gd name="T4" fmla="*/ 22 w 24"/>
              <a:gd name="T5" fmla="*/ 22 h 32"/>
              <a:gd name="T6" fmla="*/ 24 w 24"/>
              <a:gd name="T7" fmla="*/ 10 h 32"/>
              <a:gd name="T8" fmla="*/ 15 w 24"/>
              <a:gd name="T9" fmla="*/ 0 h 32"/>
              <a:gd name="T10" fmla="*/ 0 w 24"/>
              <a:gd name="T11" fmla="*/ 32 h 32"/>
              <a:gd name="T12" fmla="*/ 0 w 24"/>
              <a:gd name="T13" fmla="*/ 32 h 32"/>
              <a:gd name="T14" fmla="*/ 0 w 24"/>
              <a:gd name="T15" fmla="*/ 30 h 3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"/>
              <a:gd name="T25" fmla="*/ 0 h 32"/>
              <a:gd name="T26" fmla="*/ 24 w 24"/>
              <a:gd name="T27" fmla="*/ 32 h 3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" h="32">
                <a:moveTo>
                  <a:pt x="0" y="30"/>
                </a:moveTo>
                <a:lnTo>
                  <a:pt x="13" y="32"/>
                </a:lnTo>
                <a:lnTo>
                  <a:pt x="22" y="22"/>
                </a:lnTo>
                <a:lnTo>
                  <a:pt x="24" y="10"/>
                </a:lnTo>
                <a:lnTo>
                  <a:pt x="15" y="0"/>
                </a:lnTo>
                <a:lnTo>
                  <a:pt x="0" y="32"/>
                </a:lnTo>
                <a:lnTo>
                  <a:pt x="0" y="3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40" name="Freeform 454"/>
          <p:cNvSpPr>
            <a:spLocks/>
          </p:cNvSpPr>
          <p:nvPr/>
        </p:nvSpPr>
        <p:spPr bwMode="auto">
          <a:xfrm>
            <a:off x="7429500" y="5595938"/>
            <a:ext cx="428625" cy="142875"/>
          </a:xfrm>
          <a:custGeom>
            <a:avLst/>
            <a:gdLst>
              <a:gd name="T0" fmla="*/ 0 w 632"/>
              <a:gd name="T1" fmla="*/ 88 h 198"/>
              <a:gd name="T2" fmla="*/ 13 w 632"/>
              <a:gd name="T3" fmla="*/ 185 h 198"/>
              <a:gd name="T4" fmla="*/ 102 w 632"/>
              <a:gd name="T5" fmla="*/ 190 h 198"/>
              <a:gd name="T6" fmla="*/ 251 w 632"/>
              <a:gd name="T7" fmla="*/ 198 h 198"/>
              <a:gd name="T8" fmla="*/ 591 w 632"/>
              <a:gd name="T9" fmla="*/ 194 h 198"/>
              <a:gd name="T10" fmla="*/ 602 w 632"/>
              <a:gd name="T11" fmla="*/ 188 h 198"/>
              <a:gd name="T12" fmla="*/ 619 w 632"/>
              <a:gd name="T13" fmla="*/ 171 h 198"/>
              <a:gd name="T14" fmla="*/ 627 w 632"/>
              <a:gd name="T15" fmla="*/ 155 h 198"/>
              <a:gd name="T16" fmla="*/ 632 w 632"/>
              <a:gd name="T17" fmla="*/ 136 h 198"/>
              <a:gd name="T18" fmla="*/ 630 w 632"/>
              <a:gd name="T19" fmla="*/ 114 h 198"/>
              <a:gd name="T20" fmla="*/ 623 w 632"/>
              <a:gd name="T21" fmla="*/ 88 h 198"/>
              <a:gd name="T22" fmla="*/ 604 w 632"/>
              <a:gd name="T23" fmla="*/ 61 h 198"/>
              <a:gd name="T24" fmla="*/ 577 w 632"/>
              <a:gd name="T25" fmla="*/ 41 h 198"/>
              <a:gd name="T26" fmla="*/ 513 w 632"/>
              <a:gd name="T27" fmla="*/ 13 h 198"/>
              <a:gd name="T28" fmla="*/ 453 w 632"/>
              <a:gd name="T29" fmla="*/ 0 h 198"/>
              <a:gd name="T30" fmla="*/ 417 w 632"/>
              <a:gd name="T31" fmla="*/ 2 h 19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632"/>
              <a:gd name="T49" fmla="*/ 0 h 198"/>
              <a:gd name="T50" fmla="*/ 632 w 632"/>
              <a:gd name="T51" fmla="*/ 198 h 19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632" h="198">
                <a:moveTo>
                  <a:pt x="0" y="88"/>
                </a:moveTo>
                <a:lnTo>
                  <a:pt x="13" y="185"/>
                </a:lnTo>
                <a:lnTo>
                  <a:pt x="102" y="190"/>
                </a:lnTo>
                <a:lnTo>
                  <a:pt x="251" y="198"/>
                </a:lnTo>
                <a:lnTo>
                  <a:pt x="591" y="194"/>
                </a:lnTo>
                <a:lnTo>
                  <a:pt x="602" y="188"/>
                </a:lnTo>
                <a:lnTo>
                  <a:pt x="619" y="171"/>
                </a:lnTo>
                <a:lnTo>
                  <a:pt x="627" y="155"/>
                </a:lnTo>
                <a:lnTo>
                  <a:pt x="632" y="136"/>
                </a:lnTo>
                <a:lnTo>
                  <a:pt x="630" y="114"/>
                </a:lnTo>
                <a:lnTo>
                  <a:pt x="623" y="88"/>
                </a:lnTo>
                <a:lnTo>
                  <a:pt x="604" y="61"/>
                </a:lnTo>
                <a:lnTo>
                  <a:pt x="577" y="41"/>
                </a:lnTo>
                <a:lnTo>
                  <a:pt x="513" y="13"/>
                </a:lnTo>
                <a:lnTo>
                  <a:pt x="453" y="0"/>
                </a:lnTo>
                <a:lnTo>
                  <a:pt x="417" y="2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41" name="Freeform 455"/>
          <p:cNvSpPr>
            <a:spLocks/>
          </p:cNvSpPr>
          <p:nvPr/>
        </p:nvSpPr>
        <p:spPr bwMode="auto">
          <a:xfrm>
            <a:off x="7554913" y="5578475"/>
            <a:ext cx="147637" cy="60325"/>
          </a:xfrm>
          <a:custGeom>
            <a:avLst/>
            <a:gdLst>
              <a:gd name="T0" fmla="*/ 219 w 219"/>
              <a:gd name="T1" fmla="*/ 0 h 85"/>
              <a:gd name="T2" fmla="*/ 122 w 219"/>
              <a:gd name="T3" fmla="*/ 12 h 85"/>
              <a:gd name="T4" fmla="*/ 47 w 219"/>
              <a:gd name="T5" fmla="*/ 39 h 85"/>
              <a:gd name="T6" fmla="*/ 19 w 219"/>
              <a:gd name="T7" fmla="*/ 59 h 85"/>
              <a:gd name="T8" fmla="*/ 0 w 219"/>
              <a:gd name="T9" fmla="*/ 85 h 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9"/>
              <a:gd name="T16" fmla="*/ 0 h 85"/>
              <a:gd name="T17" fmla="*/ 219 w 219"/>
              <a:gd name="T18" fmla="*/ 85 h 8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9" h="85">
                <a:moveTo>
                  <a:pt x="219" y="0"/>
                </a:moveTo>
                <a:lnTo>
                  <a:pt x="122" y="12"/>
                </a:lnTo>
                <a:lnTo>
                  <a:pt x="47" y="39"/>
                </a:lnTo>
                <a:lnTo>
                  <a:pt x="19" y="59"/>
                </a:lnTo>
                <a:lnTo>
                  <a:pt x="0" y="85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42" name="Freeform 456"/>
          <p:cNvSpPr>
            <a:spLocks/>
          </p:cNvSpPr>
          <p:nvPr/>
        </p:nvSpPr>
        <p:spPr bwMode="auto">
          <a:xfrm>
            <a:off x="7554913" y="5578475"/>
            <a:ext cx="147637" cy="60325"/>
          </a:xfrm>
          <a:custGeom>
            <a:avLst/>
            <a:gdLst>
              <a:gd name="T0" fmla="*/ 219 w 219"/>
              <a:gd name="T1" fmla="*/ 0 h 85"/>
              <a:gd name="T2" fmla="*/ 122 w 219"/>
              <a:gd name="T3" fmla="*/ 12 h 85"/>
              <a:gd name="T4" fmla="*/ 47 w 219"/>
              <a:gd name="T5" fmla="*/ 39 h 85"/>
              <a:gd name="T6" fmla="*/ 19 w 219"/>
              <a:gd name="T7" fmla="*/ 59 h 85"/>
              <a:gd name="T8" fmla="*/ 0 w 219"/>
              <a:gd name="T9" fmla="*/ 85 h 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9"/>
              <a:gd name="T16" fmla="*/ 0 h 85"/>
              <a:gd name="T17" fmla="*/ 219 w 219"/>
              <a:gd name="T18" fmla="*/ 85 h 8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9" h="85">
                <a:moveTo>
                  <a:pt x="219" y="0"/>
                </a:moveTo>
                <a:lnTo>
                  <a:pt x="122" y="12"/>
                </a:lnTo>
                <a:lnTo>
                  <a:pt x="47" y="39"/>
                </a:lnTo>
                <a:lnTo>
                  <a:pt x="19" y="59"/>
                </a:lnTo>
                <a:lnTo>
                  <a:pt x="0" y="85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43" name="Freeform 457"/>
          <p:cNvSpPr>
            <a:spLocks/>
          </p:cNvSpPr>
          <p:nvPr/>
        </p:nvSpPr>
        <p:spPr bwMode="auto">
          <a:xfrm>
            <a:off x="7092950" y="5561013"/>
            <a:ext cx="14288" cy="19050"/>
          </a:xfrm>
          <a:custGeom>
            <a:avLst/>
            <a:gdLst>
              <a:gd name="T0" fmla="*/ 9 w 22"/>
              <a:gd name="T1" fmla="*/ 0 h 29"/>
              <a:gd name="T2" fmla="*/ 0 w 22"/>
              <a:gd name="T3" fmla="*/ 9 h 29"/>
              <a:gd name="T4" fmla="*/ 0 w 22"/>
              <a:gd name="T5" fmla="*/ 20 h 29"/>
              <a:gd name="T6" fmla="*/ 7 w 22"/>
              <a:gd name="T7" fmla="*/ 29 h 29"/>
              <a:gd name="T8" fmla="*/ 22 w 22"/>
              <a:gd name="T9" fmla="*/ 29 h 29"/>
              <a:gd name="T10" fmla="*/ 9 w 22"/>
              <a:gd name="T11" fmla="*/ 0 h 29"/>
              <a:gd name="T12" fmla="*/ 9 w 22"/>
              <a:gd name="T13" fmla="*/ 0 h 29"/>
              <a:gd name="T14" fmla="*/ 9 w 22"/>
              <a:gd name="T15" fmla="*/ 0 h 2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2"/>
              <a:gd name="T25" fmla="*/ 0 h 29"/>
              <a:gd name="T26" fmla="*/ 22 w 22"/>
              <a:gd name="T27" fmla="*/ 29 h 2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2" h="29">
                <a:moveTo>
                  <a:pt x="9" y="0"/>
                </a:moveTo>
                <a:lnTo>
                  <a:pt x="0" y="9"/>
                </a:lnTo>
                <a:lnTo>
                  <a:pt x="0" y="20"/>
                </a:lnTo>
                <a:lnTo>
                  <a:pt x="7" y="29"/>
                </a:lnTo>
                <a:lnTo>
                  <a:pt x="22" y="29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44" name="Freeform 458"/>
          <p:cNvSpPr>
            <a:spLocks/>
          </p:cNvSpPr>
          <p:nvPr/>
        </p:nvSpPr>
        <p:spPr bwMode="auto">
          <a:xfrm>
            <a:off x="6878638" y="5600700"/>
            <a:ext cx="255587" cy="131763"/>
          </a:xfrm>
          <a:custGeom>
            <a:avLst/>
            <a:gdLst>
              <a:gd name="T0" fmla="*/ 377 w 377"/>
              <a:gd name="T1" fmla="*/ 113 h 180"/>
              <a:gd name="T2" fmla="*/ 373 w 377"/>
              <a:gd name="T3" fmla="*/ 92 h 180"/>
              <a:gd name="T4" fmla="*/ 354 w 377"/>
              <a:gd name="T5" fmla="*/ 48 h 180"/>
              <a:gd name="T6" fmla="*/ 337 w 377"/>
              <a:gd name="T7" fmla="*/ 26 h 180"/>
              <a:gd name="T8" fmla="*/ 313 w 377"/>
              <a:gd name="T9" fmla="*/ 9 h 180"/>
              <a:gd name="T10" fmla="*/ 282 w 377"/>
              <a:gd name="T11" fmla="*/ 0 h 180"/>
              <a:gd name="T12" fmla="*/ 241 w 377"/>
              <a:gd name="T13" fmla="*/ 3 h 180"/>
              <a:gd name="T14" fmla="*/ 109 w 377"/>
              <a:gd name="T15" fmla="*/ 39 h 180"/>
              <a:gd name="T16" fmla="*/ 51 w 377"/>
              <a:gd name="T17" fmla="*/ 70 h 180"/>
              <a:gd name="T18" fmla="*/ 11 w 377"/>
              <a:gd name="T19" fmla="*/ 111 h 180"/>
              <a:gd name="T20" fmla="*/ 0 w 377"/>
              <a:gd name="T21" fmla="*/ 141 h 180"/>
              <a:gd name="T22" fmla="*/ 7 w 377"/>
              <a:gd name="T23" fmla="*/ 180 h 1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77"/>
              <a:gd name="T37" fmla="*/ 0 h 180"/>
              <a:gd name="T38" fmla="*/ 377 w 377"/>
              <a:gd name="T39" fmla="*/ 180 h 18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77" h="180">
                <a:moveTo>
                  <a:pt x="377" y="113"/>
                </a:moveTo>
                <a:lnTo>
                  <a:pt x="373" y="92"/>
                </a:lnTo>
                <a:lnTo>
                  <a:pt x="354" y="48"/>
                </a:lnTo>
                <a:lnTo>
                  <a:pt x="337" y="26"/>
                </a:lnTo>
                <a:lnTo>
                  <a:pt x="313" y="9"/>
                </a:lnTo>
                <a:lnTo>
                  <a:pt x="282" y="0"/>
                </a:lnTo>
                <a:lnTo>
                  <a:pt x="241" y="3"/>
                </a:lnTo>
                <a:lnTo>
                  <a:pt x="109" y="39"/>
                </a:lnTo>
                <a:lnTo>
                  <a:pt x="51" y="70"/>
                </a:lnTo>
                <a:lnTo>
                  <a:pt x="11" y="111"/>
                </a:lnTo>
                <a:lnTo>
                  <a:pt x="0" y="141"/>
                </a:lnTo>
                <a:lnTo>
                  <a:pt x="7" y="180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45" name="Freeform 459"/>
          <p:cNvSpPr>
            <a:spLocks/>
          </p:cNvSpPr>
          <p:nvPr/>
        </p:nvSpPr>
        <p:spPr bwMode="auto">
          <a:xfrm>
            <a:off x="6878638" y="5600700"/>
            <a:ext cx="255587" cy="131763"/>
          </a:xfrm>
          <a:custGeom>
            <a:avLst/>
            <a:gdLst>
              <a:gd name="T0" fmla="*/ 377 w 377"/>
              <a:gd name="T1" fmla="*/ 113 h 180"/>
              <a:gd name="T2" fmla="*/ 373 w 377"/>
              <a:gd name="T3" fmla="*/ 92 h 180"/>
              <a:gd name="T4" fmla="*/ 354 w 377"/>
              <a:gd name="T5" fmla="*/ 48 h 180"/>
              <a:gd name="T6" fmla="*/ 337 w 377"/>
              <a:gd name="T7" fmla="*/ 26 h 180"/>
              <a:gd name="T8" fmla="*/ 313 w 377"/>
              <a:gd name="T9" fmla="*/ 9 h 180"/>
              <a:gd name="T10" fmla="*/ 282 w 377"/>
              <a:gd name="T11" fmla="*/ 0 h 180"/>
              <a:gd name="T12" fmla="*/ 241 w 377"/>
              <a:gd name="T13" fmla="*/ 3 h 180"/>
              <a:gd name="T14" fmla="*/ 109 w 377"/>
              <a:gd name="T15" fmla="*/ 39 h 180"/>
              <a:gd name="T16" fmla="*/ 51 w 377"/>
              <a:gd name="T17" fmla="*/ 70 h 180"/>
              <a:gd name="T18" fmla="*/ 11 w 377"/>
              <a:gd name="T19" fmla="*/ 111 h 180"/>
              <a:gd name="T20" fmla="*/ 0 w 377"/>
              <a:gd name="T21" fmla="*/ 141 h 180"/>
              <a:gd name="T22" fmla="*/ 7 w 377"/>
              <a:gd name="T23" fmla="*/ 180 h 1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77"/>
              <a:gd name="T37" fmla="*/ 0 h 180"/>
              <a:gd name="T38" fmla="*/ 377 w 377"/>
              <a:gd name="T39" fmla="*/ 180 h 18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77" h="180">
                <a:moveTo>
                  <a:pt x="377" y="113"/>
                </a:moveTo>
                <a:lnTo>
                  <a:pt x="373" y="92"/>
                </a:lnTo>
                <a:lnTo>
                  <a:pt x="354" y="48"/>
                </a:lnTo>
                <a:lnTo>
                  <a:pt x="337" y="26"/>
                </a:lnTo>
                <a:lnTo>
                  <a:pt x="313" y="9"/>
                </a:lnTo>
                <a:lnTo>
                  <a:pt x="282" y="0"/>
                </a:lnTo>
                <a:lnTo>
                  <a:pt x="241" y="3"/>
                </a:lnTo>
                <a:lnTo>
                  <a:pt x="109" y="39"/>
                </a:lnTo>
                <a:lnTo>
                  <a:pt x="51" y="70"/>
                </a:lnTo>
                <a:lnTo>
                  <a:pt x="11" y="111"/>
                </a:lnTo>
                <a:lnTo>
                  <a:pt x="0" y="141"/>
                </a:lnTo>
                <a:lnTo>
                  <a:pt x="7" y="180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46" name="Line 460"/>
          <p:cNvSpPr>
            <a:spLocks noChangeShapeType="1"/>
          </p:cNvSpPr>
          <p:nvPr/>
        </p:nvSpPr>
        <p:spPr bwMode="auto">
          <a:xfrm flipH="1">
            <a:off x="7034213" y="5572125"/>
            <a:ext cx="36512" cy="1905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47" name="Freeform 461"/>
          <p:cNvSpPr>
            <a:spLocks/>
          </p:cNvSpPr>
          <p:nvPr/>
        </p:nvSpPr>
        <p:spPr bwMode="auto">
          <a:xfrm>
            <a:off x="7591425" y="4905375"/>
            <a:ext cx="90488" cy="647700"/>
          </a:xfrm>
          <a:custGeom>
            <a:avLst/>
            <a:gdLst>
              <a:gd name="T0" fmla="*/ 8 w 138"/>
              <a:gd name="T1" fmla="*/ 0 h 906"/>
              <a:gd name="T2" fmla="*/ 1 w 138"/>
              <a:gd name="T3" fmla="*/ 44 h 906"/>
              <a:gd name="T4" fmla="*/ 0 w 138"/>
              <a:gd name="T5" fmla="*/ 187 h 906"/>
              <a:gd name="T6" fmla="*/ 25 w 138"/>
              <a:gd name="T7" fmla="*/ 494 h 906"/>
              <a:gd name="T8" fmla="*/ 50 w 138"/>
              <a:gd name="T9" fmla="*/ 646 h 906"/>
              <a:gd name="T10" fmla="*/ 64 w 138"/>
              <a:gd name="T11" fmla="*/ 701 h 906"/>
              <a:gd name="T12" fmla="*/ 80 w 138"/>
              <a:gd name="T13" fmla="*/ 734 h 906"/>
              <a:gd name="T14" fmla="*/ 116 w 138"/>
              <a:gd name="T15" fmla="*/ 856 h 906"/>
              <a:gd name="T16" fmla="*/ 138 w 138"/>
              <a:gd name="T17" fmla="*/ 906 h 90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38"/>
              <a:gd name="T28" fmla="*/ 0 h 906"/>
              <a:gd name="T29" fmla="*/ 138 w 138"/>
              <a:gd name="T30" fmla="*/ 906 h 90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38" h="906">
                <a:moveTo>
                  <a:pt x="8" y="0"/>
                </a:moveTo>
                <a:lnTo>
                  <a:pt x="1" y="44"/>
                </a:lnTo>
                <a:lnTo>
                  <a:pt x="0" y="187"/>
                </a:lnTo>
                <a:lnTo>
                  <a:pt x="25" y="494"/>
                </a:lnTo>
                <a:lnTo>
                  <a:pt x="50" y="646"/>
                </a:lnTo>
                <a:lnTo>
                  <a:pt x="64" y="701"/>
                </a:lnTo>
                <a:lnTo>
                  <a:pt x="80" y="734"/>
                </a:lnTo>
                <a:lnTo>
                  <a:pt x="116" y="856"/>
                </a:lnTo>
                <a:lnTo>
                  <a:pt x="138" y="906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48" name="Freeform 462"/>
          <p:cNvSpPr>
            <a:spLocks/>
          </p:cNvSpPr>
          <p:nvPr/>
        </p:nvSpPr>
        <p:spPr bwMode="auto">
          <a:xfrm>
            <a:off x="7591425" y="4905375"/>
            <a:ext cx="90488" cy="647700"/>
          </a:xfrm>
          <a:custGeom>
            <a:avLst/>
            <a:gdLst>
              <a:gd name="T0" fmla="*/ 8 w 138"/>
              <a:gd name="T1" fmla="*/ 0 h 906"/>
              <a:gd name="T2" fmla="*/ 1 w 138"/>
              <a:gd name="T3" fmla="*/ 44 h 906"/>
              <a:gd name="T4" fmla="*/ 0 w 138"/>
              <a:gd name="T5" fmla="*/ 187 h 906"/>
              <a:gd name="T6" fmla="*/ 25 w 138"/>
              <a:gd name="T7" fmla="*/ 494 h 906"/>
              <a:gd name="T8" fmla="*/ 50 w 138"/>
              <a:gd name="T9" fmla="*/ 646 h 906"/>
              <a:gd name="T10" fmla="*/ 64 w 138"/>
              <a:gd name="T11" fmla="*/ 701 h 906"/>
              <a:gd name="T12" fmla="*/ 80 w 138"/>
              <a:gd name="T13" fmla="*/ 734 h 906"/>
              <a:gd name="T14" fmla="*/ 116 w 138"/>
              <a:gd name="T15" fmla="*/ 856 h 906"/>
              <a:gd name="T16" fmla="*/ 138 w 138"/>
              <a:gd name="T17" fmla="*/ 906 h 90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38"/>
              <a:gd name="T28" fmla="*/ 0 h 906"/>
              <a:gd name="T29" fmla="*/ 138 w 138"/>
              <a:gd name="T30" fmla="*/ 906 h 90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38" h="906">
                <a:moveTo>
                  <a:pt x="8" y="0"/>
                </a:moveTo>
                <a:lnTo>
                  <a:pt x="1" y="44"/>
                </a:lnTo>
                <a:lnTo>
                  <a:pt x="0" y="187"/>
                </a:lnTo>
                <a:lnTo>
                  <a:pt x="25" y="494"/>
                </a:lnTo>
                <a:lnTo>
                  <a:pt x="50" y="646"/>
                </a:lnTo>
                <a:lnTo>
                  <a:pt x="64" y="701"/>
                </a:lnTo>
                <a:lnTo>
                  <a:pt x="80" y="734"/>
                </a:lnTo>
                <a:lnTo>
                  <a:pt x="116" y="856"/>
                </a:lnTo>
                <a:lnTo>
                  <a:pt x="138" y="906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49" name="Freeform 463"/>
          <p:cNvSpPr>
            <a:spLocks/>
          </p:cNvSpPr>
          <p:nvPr/>
        </p:nvSpPr>
        <p:spPr bwMode="auto">
          <a:xfrm>
            <a:off x="5233988" y="5089525"/>
            <a:ext cx="20637" cy="9525"/>
          </a:xfrm>
          <a:custGeom>
            <a:avLst/>
            <a:gdLst>
              <a:gd name="T0" fmla="*/ 33 w 33"/>
              <a:gd name="T1" fmla="*/ 17 h 17"/>
              <a:gd name="T2" fmla="*/ 29 w 33"/>
              <a:gd name="T3" fmla="*/ 6 h 17"/>
              <a:gd name="T4" fmla="*/ 18 w 33"/>
              <a:gd name="T5" fmla="*/ 0 h 17"/>
              <a:gd name="T6" fmla="*/ 5 w 33"/>
              <a:gd name="T7" fmla="*/ 3 h 17"/>
              <a:gd name="T8" fmla="*/ 0 w 33"/>
              <a:gd name="T9" fmla="*/ 14 h 17"/>
              <a:gd name="T10" fmla="*/ 33 w 33"/>
              <a:gd name="T11" fmla="*/ 17 h 17"/>
              <a:gd name="T12" fmla="*/ 33 w 33"/>
              <a:gd name="T13" fmla="*/ 17 h 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"/>
              <a:gd name="T22" fmla="*/ 0 h 17"/>
              <a:gd name="T23" fmla="*/ 33 w 33"/>
              <a:gd name="T24" fmla="*/ 17 h 1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" h="17">
                <a:moveTo>
                  <a:pt x="33" y="17"/>
                </a:moveTo>
                <a:lnTo>
                  <a:pt x="29" y="6"/>
                </a:lnTo>
                <a:lnTo>
                  <a:pt x="18" y="0"/>
                </a:lnTo>
                <a:lnTo>
                  <a:pt x="5" y="3"/>
                </a:lnTo>
                <a:lnTo>
                  <a:pt x="0" y="14"/>
                </a:lnTo>
                <a:lnTo>
                  <a:pt x="33" y="1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50" name="Freeform 464"/>
          <p:cNvSpPr>
            <a:spLocks/>
          </p:cNvSpPr>
          <p:nvPr/>
        </p:nvSpPr>
        <p:spPr bwMode="auto">
          <a:xfrm>
            <a:off x="5160963" y="5608638"/>
            <a:ext cx="101600" cy="65087"/>
          </a:xfrm>
          <a:custGeom>
            <a:avLst/>
            <a:gdLst>
              <a:gd name="T0" fmla="*/ 0 w 151"/>
              <a:gd name="T1" fmla="*/ 0 h 96"/>
              <a:gd name="T2" fmla="*/ 68 w 151"/>
              <a:gd name="T3" fmla="*/ 16 h 96"/>
              <a:gd name="T4" fmla="*/ 118 w 151"/>
              <a:gd name="T5" fmla="*/ 44 h 96"/>
              <a:gd name="T6" fmla="*/ 138 w 151"/>
              <a:gd name="T7" fmla="*/ 64 h 96"/>
              <a:gd name="T8" fmla="*/ 151 w 151"/>
              <a:gd name="T9" fmla="*/ 96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1"/>
              <a:gd name="T16" fmla="*/ 0 h 96"/>
              <a:gd name="T17" fmla="*/ 151 w 151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1" h="96">
                <a:moveTo>
                  <a:pt x="0" y="0"/>
                </a:moveTo>
                <a:lnTo>
                  <a:pt x="68" y="16"/>
                </a:lnTo>
                <a:lnTo>
                  <a:pt x="118" y="44"/>
                </a:lnTo>
                <a:lnTo>
                  <a:pt x="138" y="64"/>
                </a:lnTo>
                <a:lnTo>
                  <a:pt x="151" y="96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51" name="Freeform 465"/>
          <p:cNvSpPr>
            <a:spLocks/>
          </p:cNvSpPr>
          <p:nvPr/>
        </p:nvSpPr>
        <p:spPr bwMode="auto">
          <a:xfrm>
            <a:off x="5160963" y="5608638"/>
            <a:ext cx="101600" cy="65087"/>
          </a:xfrm>
          <a:custGeom>
            <a:avLst/>
            <a:gdLst>
              <a:gd name="T0" fmla="*/ 0 w 151"/>
              <a:gd name="T1" fmla="*/ 0 h 96"/>
              <a:gd name="T2" fmla="*/ 68 w 151"/>
              <a:gd name="T3" fmla="*/ 16 h 96"/>
              <a:gd name="T4" fmla="*/ 118 w 151"/>
              <a:gd name="T5" fmla="*/ 44 h 96"/>
              <a:gd name="T6" fmla="*/ 138 w 151"/>
              <a:gd name="T7" fmla="*/ 64 h 96"/>
              <a:gd name="T8" fmla="*/ 151 w 151"/>
              <a:gd name="T9" fmla="*/ 96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1"/>
              <a:gd name="T16" fmla="*/ 0 h 96"/>
              <a:gd name="T17" fmla="*/ 151 w 151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1" h="96">
                <a:moveTo>
                  <a:pt x="0" y="0"/>
                </a:moveTo>
                <a:lnTo>
                  <a:pt x="68" y="16"/>
                </a:lnTo>
                <a:lnTo>
                  <a:pt x="118" y="44"/>
                </a:lnTo>
                <a:lnTo>
                  <a:pt x="138" y="64"/>
                </a:lnTo>
                <a:lnTo>
                  <a:pt x="151" y="96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52" name="Freeform 466"/>
          <p:cNvSpPr>
            <a:spLocks/>
          </p:cNvSpPr>
          <p:nvPr/>
        </p:nvSpPr>
        <p:spPr bwMode="auto">
          <a:xfrm>
            <a:off x="5834063" y="5735638"/>
            <a:ext cx="11112" cy="25400"/>
          </a:xfrm>
          <a:custGeom>
            <a:avLst/>
            <a:gdLst>
              <a:gd name="T0" fmla="*/ 0 w 17"/>
              <a:gd name="T1" fmla="*/ 33 h 33"/>
              <a:gd name="T2" fmla="*/ 13 w 17"/>
              <a:gd name="T3" fmla="*/ 28 h 33"/>
              <a:gd name="T4" fmla="*/ 17 w 17"/>
              <a:gd name="T5" fmla="*/ 17 h 33"/>
              <a:gd name="T6" fmla="*/ 13 w 17"/>
              <a:gd name="T7" fmla="*/ 5 h 33"/>
              <a:gd name="T8" fmla="*/ 0 w 17"/>
              <a:gd name="T9" fmla="*/ 0 h 33"/>
              <a:gd name="T10" fmla="*/ 0 w 17"/>
              <a:gd name="T11" fmla="*/ 33 h 33"/>
              <a:gd name="T12" fmla="*/ 0 w 17"/>
              <a:gd name="T13" fmla="*/ 33 h 3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"/>
              <a:gd name="T22" fmla="*/ 0 h 33"/>
              <a:gd name="T23" fmla="*/ 17 w 17"/>
              <a:gd name="T24" fmla="*/ 33 h 3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" h="33">
                <a:moveTo>
                  <a:pt x="0" y="33"/>
                </a:moveTo>
                <a:lnTo>
                  <a:pt x="13" y="28"/>
                </a:lnTo>
                <a:lnTo>
                  <a:pt x="17" y="17"/>
                </a:lnTo>
                <a:lnTo>
                  <a:pt x="13" y="5"/>
                </a:lnTo>
                <a:lnTo>
                  <a:pt x="0" y="0"/>
                </a:lnTo>
                <a:lnTo>
                  <a:pt x="0" y="3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53" name="Freeform 467"/>
          <p:cNvSpPr>
            <a:spLocks/>
          </p:cNvSpPr>
          <p:nvPr/>
        </p:nvSpPr>
        <p:spPr bwMode="auto">
          <a:xfrm>
            <a:off x="5502275" y="5624513"/>
            <a:ext cx="103188" cy="103187"/>
          </a:xfrm>
          <a:custGeom>
            <a:avLst/>
            <a:gdLst>
              <a:gd name="T0" fmla="*/ 0 w 155"/>
              <a:gd name="T1" fmla="*/ 142 h 142"/>
              <a:gd name="T2" fmla="*/ 9 w 155"/>
              <a:gd name="T3" fmla="*/ 122 h 142"/>
              <a:gd name="T4" fmla="*/ 39 w 155"/>
              <a:gd name="T5" fmla="*/ 73 h 142"/>
              <a:gd name="T6" fmla="*/ 88 w 155"/>
              <a:gd name="T7" fmla="*/ 25 h 142"/>
              <a:gd name="T8" fmla="*/ 119 w 155"/>
              <a:gd name="T9" fmla="*/ 6 h 142"/>
              <a:gd name="T10" fmla="*/ 155 w 155"/>
              <a:gd name="T11" fmla="*/ 0 h 14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55"/>
              <a:gd name="T19" fmla="*/ 0 h 142"/>
              <a:gd name="T20" fmla="*/ 155 w 155"/>
              <a:gd name="T21" fmla="*/ 142 h 14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55" h="142">
                <a:moveTo>
                  <a:pt x="0" y="142"/>
                </a:moveTo>
                <a:lnTo>
                  <a:pt x="9" y="122"/>
                </a:lnTo>
                <a:lnTo>
                  <a:pt x="39" y="73"/>
                </a:lnTo>
                <a:lnTo>
                  <a:pt x="88" y="25"/>
                </a:lnTo>
                <a:lnTo>
                  <a:pt x="119" y="6"/>
                </a:lnTo>
                <a:lnTo>
                  <a:pt x="155" y="0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54" name="Freeform 468"/>
          <p:cNvSpPr>
            <a:spLocks/>
          </p:cNvSpPr>
          <p:nvPr/>
        </p:nvSpPr>
        <p:spPr bwMode="auto">
          <a:xfrm>
            <a:off x="5502275" y="5624513"/>
            <a:ext cx="103188" cy="103187"/>
          </a:xfrm>
          <a:custGeom>
            <a:avLst/>
            <a:gdLst>
              <a:gd name="T0" fmla="*/ 0 w 155"/>
              <a:gd name="T1" fmla="*/ 142 h 142"/>
              <a:gd name="T2" fmla="*/ 9 w 155"/>
              <a:gd name="T3" fmla="*/ 122 h 142"/>
              <a:gd name="T4" fmla="*/ 39 w 155"/>
              <a:gd name="T5" fmla="*/ 73 h 142"/>
              <a:gd name="T6" fmla="*/ 88 w 155"/>
              <a:gd name="T7" fmla="*/ 25 h 142"/>
              <a:gd name="T8" fmla="*/ 119 w 155"/>
              <a:gd name="T9" fmla="*/ 6 h 142"/>
              <a:gd name="T10" fmla="*/ 155 w 155"/>
              <a:gd name="T11" fmla="*/ 0 h 14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55"/>
              <a:gd name="T19" fmla="*/ 0 h 142"/>
              <a:gd name="T20" fmla="*/ 155 w 155"/>
              <a:gd name="T21" fmla="*/ 142 h 14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55" h="142">
                <a:moveTo>
                  <a:pt x="0" y="142"/>
                </a:moveTo>
                <a:lnTo>
                  <a:pt x="9" y="122"/>
                </a:lnTo>
                <a:lnTo>
                  <a:pt x="39" y="73"/>
                </a:lnTo>
                <a:lnTo>
                  <a:pt x="88" y="25"/>
                </a:lnTo>
                <a:lnTo>
                  <a:pt x="119" y="6"/>
                </a:lnTo>
                <a:lnTo>
                  <a:pt x="155" y="0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55" name="Freeform 469"/>
          <p:cNvSpPr>
            <a:spLocks/>
          </p:cNvSpPr>
          <p:nvPr/>
        </p:nvSpPr>
        <p:spPr bwMode="auto">
          <a:xfrm>
            <a:off x="5387975" y="5743575"/>
            <a:ext cx="11113" cy="22225"/>
          </a:xfrm>
          <a:custGeom>
            <a:avLst/>
            <a:gdLst>
              <a:gd name="T0" fmla="*/ 0 w 19"/>
              <a:gd name="T1" fmla="*/ 33 h 33"/>
              <a:gd name="T2" fmla="*/ 13 w 19"/>
              <a:gd name="T3" fmla="*/ 28 h 33"/>
              <a:gd name="T4" fmla="*/ 19 w 19"/>
              <a:gd name="T5" fmla="*/ 17 h 33"/>
              <a:gd name="T6" fmla="*/ 16 w 19"/>
              <a:gd name="T7" fmla="*/ 5 h 33"/>
              <a:gd name="T8" fmla="*/ 5 w 19"/>
              <a:gd name="T9" fmla="*/ 0 h 33"/>
              <a:gd name="T10" fmla="*/ 2 w 19"/>
              <a:gd name="T11" fmla="*/ 33 h 33"/>
              <a:gd name="T12" fmla="*/ 2 w 19"/>
              <a:gd name="T13" fmla="*/ 33 h 33"/>
              <a:gd name="T14" fmla="*/ 0 w 19"/>
              <a:gd name="T15" fmla="*/ 33 h 3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9"/>
              <a:gd name="T25" fmla="*/ 0 h 33"/>
              <a:gd name="T26" fmla="*/ 19 w 19"/>
              <a:gd name="T27" fmla="*/ 33 h 3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9" h="33">
                <a:moveTo>
                  <a:pt x="0" y="33"/>
                </a:moveTo>
                <a:lnTo>
                  <a:pt x="13" y="28"/>
                </a:lnTo>
                <a:lnTo>
                  <a:pt x="19" y="17"/>
                </a:lnTo>
                <a:lnTo>
                  <a:pt x="16" y="5"/>
                </a:lnTo>
                <a:lnTo>
                  <a:pt x="5" y="0"/>
                </a:lnTo>
                <a:lnTo>
                  <a:pt x="2" y="33"/>
                </a:lnTo>
                <a:lnTo>
                  <a:pt x="0" y="3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56" name="Freeform 470"/>
          <p:cNvSpPr>
            <a:spLocks/>
          </p:cNvSpPr>
          <p:nvPr/>
        </p:nvSpPr>
        <p:spPr bwMode="auto">
          <a:xfrm>
            <a:off x="7280275" y="4413250"/>
            <a:ext cx="49213" cy="55563"/>
          </a:xfrm>
          <a:custGeom>
            <a:avLst/>
            <a:gdLst>
              <a:gd name="T0" fmla="*/ 1 w 70"/>
              <a:gd name="T1" fmla="*/ 19 h 77"/>
              <a:gd name="T2" fmla="*/ 28 w 70"/>
              <a:gd name="T3" fmla="*/ 6 h 77"/>
              <a:gd name="T4" fmla="*/ 48 w 70"/>
              <a:gd name="T5" fmla="*/ 0 h 77"/>
              <a:gd name="T6" fmla="*/ 62 w 70"/>
              <a:gd name="T7" fmla="*/ 9 h 77"/>
              <a:gd name="T8" fmla="*/ 70 w 70"/>
              <a:gd name="T9" fmla="*/ 47 h 77"/>
              <a:gd name="T10" fmla="*/ 67 w 70"/>
              <a:gd name="T11" fmla="*/ 66 h 77"/>
              <a:gd name="T12" fmla="*/ 53 w 70"/>
              <a:gd name="T13" fmla="*/ 75 h 77"/>
              <a:gd name="T14" fmla="*/ 31 w 70"/>
              <a:gd name="T15" fmla="*/ 77 h 77"/>
              <a:gd name="T16" fmla="*/ 9 w 70"/>
              <a:gd name="T17" fmla="*/ 69 h 77"/>
              <a:gd name="T18" fmla="*/ 0 w 70"/>
              <a:gd name="T19" fmla="*/ 52 h 77"/>
              <a:gd name="T20" fmla="*/ 1 w 70"/>
              <a:gd name="T21" fmla="*/ 20 h 7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0"/>
              <a:gd name="T34" fmla="*/ 0 h 77"/>
              <a:gd name="T35" fmla="*/ 70 w 70"/>
              <a:gd name="T36" fmla="*/ 77 h 7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0" h="77">
                <a:moveTo>
                  <a:pt x="1" y="19"/>
                </a:moveTo>
                <a:lnTo>
                  <a:pt x="28" y="6"/>
                </a:lnTo>
                <a:lnTo>
                  <a:pt x="48" y="0"/>
                </a:lnTo>
                <a:lnTo>
                  <a:pt x="62" y="9"/>
                </a:lnTo>
                <a:lnTo>
                  <a:pt x="70" y="47"/>
                </a:lnTo>
                <a:lnTo>
                  <a:pt x="67" y="66"/>
                </a:lnTo>
                <a:lnTo>
                  <a:pt x="53" y="75"/>
                </a:lnTo>
                <a:lnTo>
                  <a:pt x="31" y="77"/>
                </a:lnTo>
                <a:lnTo>
                  <a:pt x="9" y="69"/>
                </a:lnTo>
                <a:lnTo>
                  <a:pt x="0" y="52"/>
                </a:lnTo>
                <a:lnTo>
                  <a:pt x="1" y="20"/>
                </a:lnTo>
              </a:path>
            </a:pathLst>
          </a:custGeom>
          <a:solidFill>
            <a:schemeClr val="bg1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57" name="Freeform 471"/>
          <p:cNvSpPr>
            <a:spLocks/>
          </p:cNvSpPr>
          <p:nvPr/>
        </p:nvSpPr>
        <p:spPr bwMode="auto">
          <a:xfrm>
            <a:off x="7258050" y="4546600"/>
            <a:ext cx="57150" cy="63500"/>
          </a:xfrm>
          <a:custGeom>
            <a:avLst/>
            <a:gdLst>
              <a:gd name="T0" fmla="*/ 0 w 85"/>
              <a:gd name="T1" fmla="*/ 25 h 84"/>
              <a:gd name="T2" fmla="*/ 27 w 85"/>
              <a:gd name="T3" fmla="*/ 7 h 84"/>
              <a:gd name="T4" fmla="*/ 46 w 85"/>
              <a:gd name="T5" fmla="*/ 0 h 84"/>
              <a:gd name="T6" fmla="*/ 61 w 85"/>
              <a:gd name="T7" fmla="*/ 9 h 84"/>
              <a:gd name="T8" fmla="*/ 83 w 85"/>
              <a:gd name="T9" fmla="*/ 34 h 84"/>
              <a:gd name="T10" fmla="*/ 85 w 85"/>
              <a:gd name="T11" fmla="*/ 47 h 84"/>
              <a:gd name="T12" fmla="*/ 71 w 85"/>
              <a:gd name="T13" fmla="*/ 69 h 84"/>
              <a:gd name="T14" fmla="*/ 44 w 85"/>
              <a:gd name="T15" fmla="*/ 84 h 84"/>
              <a:gd name="T16" fmla="*/ 17 w 85"/>
              <a:gd name="T17" fmla="*/ 84 h 84"/>
              <a:gd name="T18" fmla="*/ 0 w 85"/>
              <a:gd name="T19" fmla="*/ 64 h 84"/>
              <a:gd name="T20" fmla="*/ 0 w 85"/>
              <a:gd name="T21" fmla="*/ 25 h 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5"/>
              <a:gd name="T34" fmla="*/ 0 h 84"/>
              <a:gd name="T35" fmla="*/ 85 w 85"/>
              <a:gd name="T36" fmla="*/ 84 h 8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5" h="84">
                <a:moveTo>
                  <a:pt x="0" y="25"/>
                </a:moveTo>
                <a:lnTo>
                  <a:pt x="27" y="7"/>
                </a:lnTo>
                <a:lnTo>
                  <a:pt x="46" y="0"/>
                </a:lnTo>
                <a:lnTo>
                  <a:pt x="61" y="9"/>
                </a:lnTo>
                <a:lnTo>
                  <a:pt x="83" y="34"/>
                </a:lnTo>
                <a:lnTo>
                  <a:pt x="85" y="47"/>
                </a:lnTo>
                <a:lnTo>
                  <a:pt x="71" y="69"/>
                </a:lnTo>
                <a:lnTo>
                  <a:pt x="44" y="84"/>
                </a:lnTo>
                <a:lnTo>
                  <a:pt x="17" y="84"/>
                </a:lnTo>
                <a:lnTo>
                  <a:pt x="0" y="64"/>
                </a:lnTo>
                <a:lnTo>
                  <a:pt x="0" y="25"/>
                </a:lnTo>
              </a:path>
            </a:pathLst>
          </a:custGeom>
          <a:solidFill>
            <a:schemeClr val="bg1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58" name="Freeform 472"/>
          <p:cNvSpPr>
            <a:spLocks/>
          </p:cNvSpPr>
          <p:nvPr/>
        </p:nvSpPr>
        <p:spPr bwMode="auto">
          <a:xfrm>
            <a:off x="7800975" y="1870075"/>
            <a:ext cx="15875" cy="2000250"/>
          </a:xfrm>
          <a:custGeom>
            <a:avLst/>
            <a:gdLst>
              <a:gd name="T0" fmla="*/ 21 w 25"/>
              <a:gd name="T1" fmla="*/ 0 h 2791"/>
              <a:gd name="T2" fmla="*/ 25 w 25"/>
              <a:gd name="T3" fmla="*/ 100 h 2791"/>
              <a:gd name="T4" fmla="*/ 25 w 25"/>
              <a:gd name="T5" fmla="*/ 271 h 2791"/>
              <a:gd name="T6" fmla="*/ 21 w 25"/>
              <a:gd name="T7" fmla="*/ 434 h 2791"/>
              <a:gd name="T8" fmla="*/ 21 w 25"/>
              <a:gd name="T9" fmla="*/ 555 h 2791"/>
              <a:gd name="T10" fmla="*/ 21 w 25"/>
              <a:gd name="T11" fmla="*/ 820 h 2791"/>
              <a:gd name="T12" fmla="*/ 11 w 25"/>
              <a:gd name="T13" fmla="*/ 975 h 2791"/>
              <a:gd name="T14" fmla="*/ 10 w 25"/>
              <a:gd name="T15" fmla="*/ 1077 h 2791"/>
              <a:gd name="T16" fmla="*/ 18 w 25"/>
              <a:gd name="T17" fmla="*/ 1204 h 2791"/>
              <a:gd name="T18" fmla="*/ 24 w 25"/>
              <a:gd name="T19" fmla="*/ 1268 h 2791"/>
              <a:gd name="T20" fmla="*/ 24 w 25"/>
              <a:gd name="T21" fmla="*/ 1325 h 2791"/>
              <a:gd name="T22" fmla="*/ 22 w 25"/>
              <a:gd name="T23" fmla="*/ 1420 h 2791"/>
              <a:gd name="T24" fmla="*/ 14 w 25"/>
              <a:gd name="T25" fmla="*/ 1502 h 2791"/>
              <a:gd name="T26" fmla="*/ 11 w 25"/>
              <a:gd name="T27" fmla="*/ 1583 h 2791"/>
              <a:gd name="T28" fmla="*/ 8 w 25"/>
              <a:gd name="T29" fmla="*/ 1911 h 2791"/>
              <a:gd name="T30" fmla="*/ 2 w 25"/>
              <a:gd name="T31" fmla="*/ 1971 h 2791"/>
              <a:gd name="T32" fmla="*/ 0 w 25"/>
              <a:gd name="T33" fmla="*/ 2126 h 2791"/>
              <a:gd name="T34" fmla="*/ 5 w 25"/>
              <a:gd name="T35" fmla="*/ 2394 h 2791"/>
              <a:gd name="T36" fmla="*/ 8 w 25"/>
              <a:gd name="T37" fmla="*/ 2791 h 279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5"/>
              <a:gd name="T58" fmla="*/ 0 h 2791"/>
              <a:gd name="T59" fmla="*/ 25 w 25"/>
              <a:gd name="T60" fmla="*/ 2791 h 2791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5" h="2791">
                <a:moveTo>
                  <a:pt x="21" y="0"/>
                </a:moveTo>
                <a:lnTo>
                  <a:pt x="25" y="100"/>
                </a:lnTo>
                <a:lnTo>
                  <a:pt x="25" y="271"/>
                </a:lnTo>
                <a:lnTo>
                  <a:pt x="21" y="434"/>
                </a:lnTo>
                <a:lnTo>
                  <a:pt x="21" y="555"/>
                </a:lnTo>
                <a:lnTo>
                  <a:pt x="21" y="820"/>
                </a:lnTo>
                <a:lnTo>
                  <a:pt x="11" y="975"/>
                </a:lnTo>
                <a:lnTo>
                  <a:pt x="10" y="1077"/>
                </a:lnTo>
                <a:lnTo>
                  <a:pt x="18" y="1204"/>
                </a:lnTo>
                <a:lnTo>
                  <a:pt x="24" y="1268"/>
                </a:lnTo>
                <a:lnTo>
                  <a:pt x="24" y="1325"/>
                </a:lnTo>
                <a:lnTo>
                  <a:pt x="22" y="1420"/>
                </a:lnTo>
                <a:lnTo>
                  <a:pt x="14" y="1502"/>
                </a:lnTo>
                <a:lnTo>
                  <a:pt x="11" y="1583"/>
                </a:lnTo>
                <a:lnTo>
                  <a:pt x="8" y="1911"/>
                </a:lnTo>
                <a:lnTo>
                  <a:pt x="2" y="1971"/>
                </a:lnTo>
                <a:lnTo>
                  <a:pt x="0" y="2126"/>
                </a:lnTo>
                <a:lnTo>
                  <a:pt x="5" y="2394"/>
                </a:lnTo>
                <a:lnTo>
                  <a:pt x="8" y="2791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59" name="Freeform 473"/>
          <p:cNvSpPr>
            <a:spLocks/>
          </p:cNvSpPr>
          <p:nvPr/>
        </p:nvSpPr>
        <p:spPr bwMode="auto">
          <a:xfrm>
            <a:off x="7800975" y="1870075"/>
            <a:ext cx="15875" cy="2000250"/>
          </a:xfrm>
          <a:custGeom>
            <a:avLst/>
            <a:gdLst>
              <a:gd name="T0" fmla="*/ 21 w 25"/>
              <a:gd name="T1" fmla="*/ 0 h 2791"/>
              <a:gd name="T2" fmla="*/ 25 w 25"/>
              <a:gd name="T3" fmla="*/ 100 h 2791"/>
              <a:gd name="T4" fmla="*/ 25 w 25"/>
              <a:gd name="T5" fmla="*/ 271 h 2791"/>
              <a:gd name="T6" fmla="*/ 21 w 25"/>
              <a:gd name="T7" fmla="*/ 434 h 2791"/>
              <a:gd name="T8" fmla="*/ 21 w 25"/>
              <a:gd name="T9" fmla="*/ 555 h 2791"/>
              <a:gd name="T10" fmla="*/ 21 w 25"/>
              <a:gd name="T11" fmla="*/ 820 h 2791"/>
              <a:gd name="T12" fmla="*/ 11 w 25"/>
              <a:gd name="T13" fmla="*/ 975 h 2791"/>
              <a:gd name="T14" fmla="*/ 10 w 25"/>
              <a:gd name="T15" fmla="*/ 1077 h 2791"/>
              <a:gd name="T16" fmla="*/ 18 w 25"/>
              <a:gd name="T17" fmla="*/ 1204 h 2791"/>
              <a:gd name="T18" fmla="*/ 24 w 25"/>
              <a:gd name="T19" fmla="*/ 1268 h 2791"/>
              <a:gd name="T20" fmla="*/ 24 w 25"/>
              <a:gd name="T21" fmla="*/ 1325 h 2791"/>
              <a:gd name="T22" fmla="*/ 22 w 25"/>
              <a:gd name="T23" fmla="*/ 1420 h 2791"/>
              <a:gd name="T24" fmla="*/ 14 w 25"/>
              <a:gd name="T25" fmla="*/ 1502 h 2791"/>
              <a:gd name="T26" fmla="*/ 11 w 25"/>
              <a:gd name="T27" fmla="*/ 1583 h 2791"/>
              <a:gd name="T28" fmla="*/ 8 w 25"/>
              <a:gd name="T29" fmla="*/ 1911 h 2791"/>
              <a:gd name="T30" fmla="*/ 2 w 25"/>
              <a:gd name="T31" fmla="*/ 1971 h 2791"/>
              <a:gd name="T32" fmla="*/ 0 w 25"/>
              <a:gd name="T33" fmla="*/ 2126 h 2791"/>
              <a:gd name="T34" fmla="*/ 5 w 25"/>
              <a:gd name="T35" fmla="*/ 2394 h 2791"/>
              <a:gd name="T36" fmla="*/ 8 w 25"/>
              <a:gd name="T37" fmla="*/ 2791 h 279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5"/>
              <a:gd name="T58" fmla="*/ 0 h 2791"/>
              <a:gd name="T59" fmla="*/ 25 w 25"/>
              <a:gd name="T60" fmla="*/ 2791 h 2791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5" h="2791">
                <a:moveTo>
                  <a:pt x="21" y="0"/>
                </a:moveTo>
                <a:lnTo>
                  <a:pt x="25" y="100"/>
                </a:lnTo>
                <a:lnTo>
                  <a:pt x="25" y="271"/>
                </a:lnTo>
                <a:lnTo>
                  <a:pt x="21" y="434"/>
                </a:lnTo>
                <a:lnTo>
                  <a:pt x="21" y="555"/>
                </a:lnTo>
                <a:lnTo>
                  <a:pt x="21" y="820"/>
                </a:lnTo>
                <a:lnTo>
                  <a:pt x="11" y="975"/>
                </a:lnTo>
                <a:lnTo>
                  <a:pt x="10" y="1077"/>
                </a:lnTo>
                <a:lnTo>
                  <a:pt x="18" y="1204"/>
                </a:lnTo>
                <a:lnTo>
                  <a:pt x="24" y="1268"/>
                </a:lnTo>
                <a:lnTo>
                  <a:pt x="24" y="1325"/>
                </a:lnTo>
                <a:lnTo>
                  <a:pt x="22" y="1420"/>
                </a:lnTo>
                <a:lnTo>
                  <a:pt x="14" y="1502"/>
                </a:lnTo>
                <a:lnTo>
                  <a:pt x="11" y="1583"/>
                </a:lnTo>
                <a:lnTo>
                  <a:pt x="8" y="1911"/>
                </a:lnTo>
                <a:lnTo>
                  <a:pt x="2" y="1971"/>
                </a:lnTo>
                <a:lnTo>
                  <a:pt x="0" y="2126"/>
                </a:lnTo>
                <a:lnTo>
                  <a:pt x="5" y="2394"/>
                </a:lnTo>
                <a:lnTo>
                  <a:pt x="8" y="2791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60" name="Freeform 474"/>
          <p:cNvSpPr>
            <a:spLocks/>
          </p:cNvSpPr>
          <p:nvPr/>
        </p:nvSpPr>
        <p:spPr bwMode="auto">
          <a:xfrm>
            <a:off x="7813675" y="1854200"/>
            <a:ext cx="50800" cy="7938"/>
          </a:xfrm>
          <a:custGeom>
            <a:avLst/>
            <a:gdLst>
              <a:gd name="T0" fmla="*/ 0 w 78"/>
              <a:gd name="T1" fmla="*/ 8 h 11"/>
              <a:gd name="T2" fmla="*/ 29 w 78"/>
              <a:gd name="T3" fmla="*/ 0 h 11"/>
              <a:gd name="T4" fmla="*/ 54 w 78"/>
              <a:gd name="T5" fmla="*/ 0 h 11"/>
              <a:gd name="T6" fmla="*/ 78 w 78"/>
              <a:gd name="T7" fmla="*/ 11 h 11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11"/>
              <a:gd name="T14" fmla="*/ 78 w 78"/>
              <a:gd name="T15" fmla="*/ 11 h 1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11">
                <a:moveTo>
                  <a:pt x="0" y="8"/>
                </a:moveTo>
                <a:lnTo>
                  <a:pt x="29" y="0"/>
                </a:lnTo>
                <a:lnTo>
                  <a:pt x="54" y="0"/>
                </a:lnTo>
                <a:lnTo>
                  <a:pt x="78" y="11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61" name="Freeform 475"/>
          <p:cNvSpPr>
            <a:spLocks/>
          </p:cNvSpPr>
          <p:nvPr/>
        </p:nvSpPr>
        <p:spPr bwMode="auto">
          <a:xfrm>
            <a:off x="7813675" y="1854200"/>
            <a:ext cx="50800" cy="7938"/>
          </a:xfrm>
          <a:custGeom>
            <a:avLst/>
            <a:gdLst>
              <a:gd name="T0" fmla="*/ 0 w 78"/>
              <a:gd name="T1" fmla="*/ 8 h 11"/>
              <a:gd name="T2" fmla="*/ 29 w 78"/>
              <a:gd name="T3" fmla="*/ 0 h 11"/>
              <a:gd name="T4" fmla="*/ 54 w 78"/>
              <a:gd name="T5" fmla="*/ 0 h 11"/>
              <a:gd name="T6" fmla="*/ 78 w 78"/>
              <a:gd name="T7" fmla="*/ 11 h 11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11"/>
              <a:gd name="T14" fmla="*/ 78 w 78"/>
              <a:gd name="T15" fmla="*/ 11 h 1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11">
                <a:moveTo>
                  <a:pt x="0" y="8"/>
                </a:moveTo>
                <a:lnTo>
                  <a:pt x="29" y="0"/>
                </a:lnTo>
                <a:lnTo>
                  <a:pt x="54" y="0"/>
                </a:lnTo>
                <a:lnTo>
                  <a:pt x="78" y="11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762" name="Text Box 476"/>
          <p:cNvSpPr txBox="1">
            <a:spLocks noChangeArrowheads="1"/>
          </p:cNvSpPr>
          <p:nvPr/>
        </p:nvSpPr>
        <p:spPr bwMode="auto">
          <a:xfrm>
            <a:off x="4965700" y="2414588"/>
            <a:ext cx="2944813" cy="966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1981" tIns="40989" rIns="81981" bIns="40989">
            <a:spAutoFit/>
          </a:bodyPr>
          <a:lstStyle/>
          <a:p>
            <a:pPr algn="ctr" defTabSz="819150" eaLnBrk="0" hangingPunct="0"/>
            <a:r>
              <a:rPr lang="en-US" sz="2300" b="0" u="sng">
                <a:latin typeface="Comic Sans MS" pitchFamily="66" charset="0"/>
              </a:rPr>
              <a:t>Unsafe Contractors</a:t>
            </a:r>
            <a:r>
              <a:rPr lang="en-US" sz="2300" b="0">
                <a:latin typeface="Comic Sans MS" pitchFamily="66" charset="0"/>
              </a:rPr>
              <a:t>:</a:t>
            </a:r>
          </a:p>
          <a:p>
            <a:pPr algn="ctr" defTabSz="819150" eaLnBrk="0" hangingPunct="0"/>
            <a:r>
              <a:rPr lang="en-US" sz="3500" b="0">
                <a:solidFill>
                  <a:srgbClr val="FF0000"/>
                </a:solidFill>
                <a:latin typeface="Comic Sans MS" pitchFamily="66" charset="0"/>
              </a:rPr>
              <a:t>No !</a:t>
            </a:r>
            <a:endParaRPr lang="en-US" sz="3500" b="0">
              <a:latin typeface="Comic Sans MS" pitchFamily="66" charset="0"/>
            </a:endParaRPr>
          </a:p>
        </p:txBody>
      </p:sp>
      <p:sp>
        <p:nvSpPr>
          <p:cNvPr id="26763" name="Arc 477"/>
          <p:cNvSpPr>
            <a:spLocks/>
          </p:cNvSpPr>
          <p:nvPr/>
        </p:nvSpPr>
        <p:spPr bwMode="auto">
          <a:xfrm flipV="1">
            <a:off x="7162800" y="3683000"/>
            <a:ext cx="223838" cy="63500"/>
          </a:xfrm>
          <a:custGeom>
            <a:avLst/>
            <a:gdLst>
              <a:gd name="T0" fmla="*/ 0 w 22564"/>
              <a:gd name="T1" fmla="*/ 65 h 21600"/>
              <a:gd name="T2" fmla="*/ 223838 w 22564"/>
              <a:gd name="T3" fmla="*/ 63500 h 21600"/>
              <a:gd name="T4" fmla="*/ 9563 w 22564"/>
              <a:gd name="T5" fmla="*/ 63500 h 21600"/>
              <a:gd name="T6" fmla="*/ 0 60000 65536"/>
              <a:gd name="T7" fmla="*/ 0 60000 65536"/>
              <a:gd name="T8" fmla="*/ 0 60000 65536"/>
              <a:gd name="T9" fmla="*/ 0 w 22564"/>
              <a:gd name="T10" fmla="*/ 0 h 21600"/>
              <a:gd name="T11" fmla="*/ 22564 w 2256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564" h="21600" fill="none" extrusionOk="0">
                <a:moveTo>
                  <a:pt x="-1" y="21"/>
                </a:moveTo>
                <a:cubicBezTo>
                  <a:pt x="321" y="7"/>
                  <a:pt x="642" y="-1"/>
                  <a:pt x="964" y="0"/>
                </a:cubicBezTo>
                <a:cubicBezTo>
                  <a:pt x="12893" y="0"/>
                  <a:pt x="22564" y="9670"/>
                  <a:pt x="22564" y="21600"/>
                </a:cubicBezTo>
              </a:path>
              <a:path w="22564" h="21600" stroke="0" extrusionOk="0">
                <a:moveTo>
                  <a:pt x="-1" y="21"/>
                </a:moveTo>
                <a:cubicBezTo>
                  <a:pt x="321" y="7"/>
                  <a:pt x="642" y="-1"/>
                  <a:pt x="964" y="0"/>
                </a:cubicBezTo>
                <a:cubicBezTo>
                  <a:pt x="12893" y="0"/>
                  <a:pt x="22564" y="9670"/>
                  <a:pt x="22564" y="21600"/>
                </a:cubicBezTo>
                <a:lnTo>
                  <a:pt x="964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764" name="Arc 478"/>
          <p:cNvSpPr>
            <a:spLocks/>
          </p:cNvSpPr>
          <p:nvPr/>
        </p:nvSpPr>
        <p:spPr bwMode="auto">
          <a:xfrm flipH="1">
            <a:off x="7283450" y="3700463"/>
            <a:ext cx="92075" cy="163512"/>
          </a:xfrm>
          <a:custGeom>
            <a:avLst/>
            <a:gdLst>
              <a:gd name="T0" fmla="*/ 0 w 21600"/>
              <a:gd name="T1" fmla="*/ 0 h 21600"/>
              <a:gd name="T2" fmla="*/ 92075 w 21600"/>
              <a:gd name="T3" fmla="*/ 163512 h 21600"/>
              <a:gd name="T4" fmla="*/ 0 w 21600"/>
              <a:gd name="T5" fmla="*/ 163512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765" name="AutoShape 479"/>
          <p:cNvSpPr>
            <a:spLocks noChangeArrowheads="1"/>
          </p:cNvSpPr>
          <p:nvPr/>
        </p:nvSpPr>
        <p:spPr bwMode="auto">
          <a:xfrm rot="-5798923">
            <a:off x="5237163" y="3717925"/>
            <a:ext cx="76200" cy="190500"/>
          </a:xfrm>
          <a:prstGeom prst="moon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9376" name="Text Box 480"/>
          <p:cNvSpPr txBox="1">
            <a:spLocks noChangeArrowheads="1"/>
          </p:cNvSpPr>
          <p:nvPr/>
        </p:nvSpPr>
        <p:spPr bwMode="auto">
          <a:xfrm>
            <a:off x="2497138" y="788988"/>
            <a:ext cx="4511675" cy="9191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lIns="103368" tIns="51687" rIns="103368" bIns="51687" anchor="ctr"/>
          <a:lstStyle/>
          <a:p>
            <a:pPr defTabSz="935038" eaLnBrk="0" hangingPunct="0">
              <a:defRPr/>
            </a:pPr>
            <a:r>
              <a:rPr lang="en-US" sz="5600">
                <a:solidFill>
                  <a:schemeClr val="bg1"/>
                </a:solidFill>
                <a:latin typeface="Arial Narrow" pitchFamily="34" charset="0"/>
              </a:rPr>
              <a:t>Pre-Qualification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C:\WINNT\Profiles\erik_wd\Application Data\Microsoft\Templates\Blank.pot</Template>
  <TotalTime>4256</TotalTime>
  <Words>767</Words>
  <Application>Microsoft Office PowerPoint</Application>
  <PresentationFormat>A4 Paper (210x297 mm)</PresentationFormat>
  <Paragraphs>324</Paragraphs>
  <Slides>21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blank</vt:lpstr>
      <vt:lpstr>Chart</vt:lpstr>
      <vt:lpstr>CSMS </vt:lpstr>
      <vt:lpstr>Contractor Safety Management System</vt:lpstr>
      <vt:lpstr>CSMS Objectives:</vt:lpstr>
      <vt:lpstr>CSMS Purposes</vt:lpstr>
      <vt:lpstr>CSMS Background</vt:lpstr>
      <vt:lpstr>CSMS Background Continue…..</vt:lpstr>
      <vt:lpstr>CSMS Background Continue…..</vt:lpstr>
      <vt:lpstr>CSMS Background Continue…..</vt:lpstr>
      <vt:lpstr>PowerPoint Presentation</vt:lpstr>
      <vt:lpstr>PowerPoint Presentation</vt:lpstr>
      <vt:lpstr>PowerPoint Presentation</vt:lpstr>
      <vt:lpstr>PowerPoint Presentation</vt:lpstr>
      <vt:lpstr>Tahap Administrasi</vt:lpstr>
      <vt:lpstr>PowerPoint Presentation</vt:lpstr>
      <vt:lpstr>Risk Assessment</vt:lpstr>
      <vt:lpstr>PowerPoint Presentation</vt:lpstr>
      <vt:lpstr>Risk Assessment Matrix</vt:lpstr>
      <vt:lpstr>PowerPoint Presentation</vt:lpstr>
      <vt:lpstr>PowerPoint Presentation</vt:lpstr>
      <vt:lpstr>PowerPoint Presentation</vt:lpstr>
      <vt:lpstr>PowerPoint Presentation</vt:lpstr>
    </vt:vector>
  </TitlesOfParts>
  <Company>Eni Lasmo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Erika</dc:creator>
  <cp:lastModifiedBy>inside</cp:lastModifiedBy>
  <cp:revision>138</cp:revision>
  <dcterms:created xsi:type="dcterms:W3CDTF">2003-05-26T06:27:55Z</dcterms:created>
  <dcterms:modified xsi:type="dcterms:W3CDTF">2020-01-02T12:44:05Z</dcterms:modified>
</cp:coreProperties>
</file>